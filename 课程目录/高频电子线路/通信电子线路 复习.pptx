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wmf" ContentType="image/x-wmf"/>
  <Default Extension="jpeg" ContentType="image/jpeg"/>
  <Default Extension="rels" ContentType="application/vnd.openxmlformats-package.relationships+xml"/>
  <Default Extension="xml" ContentType="application/xml"/>
  <Default Extension="wdp" ContentType="image/vnd.ms-photo"/>
  <Default Extension="vml" ContentType="application/vnd.openxmlformats-officedocument.vmlDrawing"/>
  <Default Extension="doc" ContentType="application/msword"/>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09"/>
  </p:notesMasterIdLst>
  <p:handoutMasterIdLst>
    <p:handoutMasterId r:id="rId310"/>
  </p:handoutMasterIdLst>
  <p:sldIdLst>
    <p:sldId id="256" r:id="rId2"/>
    <p:sldId id="257" r:id="rId3"/>
    <p:sldId id="258" r:id="rId4"/>
    <p:sldId id="259" r:id="rId5"/>
    <p:sldId id="260" r:id="rId6"/>
    <p:sldId id="261" r:id="rId7"/>
    <p:sldId id="262" r:id="rId8"/>
    <p:sldId id="268" r:id="rId9"/>
    <p:sldId id="263" r:id="rId10"/>
    <p:sldId id="264" r:id="rId11"/>
    <p:sldId id="265" r:id="rId12"/>
    <p:sldId id="266" r:id="rId13"/>
    <p:sldId id="267"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301" r:id="rId27"/>
    <p:sldId id="282" r:id="rId28"/>
    <p:sldId id="302" r:id="rId29"/>
    <p:sldId id="303" r:id="rId30"/>
    <p:sldId id="304" r:id="rId31"/>
    <p:sldId id="305" r:id="rId32"/>
    <p:sldId id="306" r:id="rId33"/>
    <p:sldId id="307" r:id="rId34"/>
    <p:sldId id="308" r:id="rId35"/>
    <p:sldId id="309" r:id="rId36"/>
    <p:sldId id="310" r:id="rId37"/>
    <p:sldId id="311" r:id="rId38"/>
    <p:sldId id="312" r:id="rId39"/>
    <p:sldId id="313" r:id="rId40"/>
    <p:sldId id="314" r:id="rId41"/>
    <p:sldId id="315" r:id="rId42"/>
    <p:sldId id="316" r:id="rId43"/>
    <p:sldId id="317" r:id="rId44"/>
    <p:sldId id="341" r:id="rId45"/>
    <p:sldId id="318" r:id="rId46"/>
    <p:sldId id="319" r:id="rId47"/>
    <p:sldId id="320" r:id="rId48"/>
    <p:sldId id="321" r:id="rId49"/>
    <p:sldId id="322" r:id="rId50"/>
    <p:sldId id="323" r:id="rId51"/>
    <p:sldId id="324" r:id="rId52"/>
    <p:sldId id="325" r:id="rId53"/>
    <p:sldId id="326" r:id="rId54"/>
    <p:sldId id="287" r:id="rId55"/>
    <p:sldId id="327" r:id="rId56"/>
    <p:sldId id="328" r:id="rId57"/>
    <p:sldId id="329" r:id="rId58"/>
    <p:sldId id="330" r:id="rId59"/>
    <p:sldId id="331" r:id="rId60"/>
    <p:sldId id="332" r:id="rId61"/>
    <p:sldId id="333" r:id="rId62"/>
    <p:sldId id="334" r:id="rId63"/>
    <p:sldId id="335" r:id="rId64"/>
    <p:sldId id="336" r:id="rId65"/>
    <p:sldId id="288" r:id="rId66"/>
    <p:sldId id="289" r:id="rId67"/>
    <p:sldId id="290" r:id="rId68"/>
    <p:sldId id="291" r:id="rId69"/>
    <p:sldId id="292" r:id="rId70"/>
    <p:sldId id="337" r:id="rId71"/>
    <p:sldId id="338" r:id="rId72"/>
    <p:sldId id="339" r:id="rId73"/>
    <p:sldId id="340" r:id="rId74"/>
    <p:sldId id="293" r:id="rId75"/>
    <p:sldId id="294" r:id="rId76"/>
    <p:sldId id="342" r:id="rId77"/>
    <p:sldId id="295" r:id="rId78"/>
    <p:sldId id="343" r:id="rId79"/>
    <p:sldId id="344" r:id="rId80"/>
    <p:sldId id="345" r:id="rId81"/>
    <p:sldId id="346" r:id="rId82"/>
    <p:sldId id="347" r:id="rId83"/>
    <p:sldId id="348" r:id="rId84"/>
    <p:sldId id="349" r:id="rId85"/>
    <p:sldId id="350" r:id="rId86"/>
    <p:sldId id="351" r:id="rId87"/>
    <p:sldId id="352" r:id="rId88"/>
    <p:sldId id="353" r:id="rId89"/>
    <p:sldId id="354" r:id="rId90"/>
    <p:sldId id="355" r:id="rId91"/>
    <p:sldId id="356" r:id="rId92"/>
    <p:sldId id="357" r:id="rId93"/>
    <p:sldId id="358" r:id="rId94"/>
    <p:sldId id="359" r:id="rId95"/>
    <p:sldId id="360" r:id="rId96"/>
    <p:sldId id="296" r:id="rId97"/>
    <p:sldId id="297" r:id="rId98"/>
    <p:sldId id="369" r:id="rId99"/>
    <p:sldId id="361" r:id="rId100"/>
    <p:sldId id="362" r:id="rId101"/>
    <p:sldId id="363" r:id="rId102"/>
    <p:sldId id="364" r:id="rId103"/>
    <p:sldId id="365" r:id="rId104"/>
    <p:sldId id="366" r:id="rId105"/>
    <p:sldId id="367" r:id="rId106"/>
    <p:sldId id="368" r:id="rId107"/>
    <p:sldId id="370" r:id="rId108"/>
    <p:sldId id="298" r:id="rId109"/>
    <p:sldId id="371" r:id="rId110"/>
    <p:sldId id="372" r:id="rId111"/>
    <p:sldId id="373" r:id="rId112"/>
    <p:sldId id="374" r:id="rId113"/>
    <p:sldId id="375" r:id="rId114"/>
    <p:sldId id="376" r:id="rId115"/>
    <p:sldId id="377" r:id="rId116"/>
    <p:sldId id="378" r:id="rId117"/>
    <p:sldId id="379" r:id="rId118"/>
    <p:sldId id="380" r:id="rId119"/>
    <p:sldId id="381" r:id="rId120"/>
    <p:sldId id="382" r:id="rId121"/>
    <p:sldId id="383" r:id="rId122"/>
    <p:sldId id="384" r:id="rId123"/>
    <p:sldId id="385" r:id="rId124"/>
    <p:sldId id="386" r:id="rId125"/>
    <p:sldId id="387" r:id="rId126"/>
    <p:sldId id="388" r:id="rId127"/>
    <p:sldId id="389" r:id="rId128"/>
    <p:sldId id="390" r:id="rId129"/>
    <p:sldId id="391" r:id="rId130"/>
    <p:sldId id="299" r:id="rId131"/>
    <p:sldId id="300" r:id="rId132"/>
    <p:sldId id="392" r:id="rId133"/>
    <p:sldId id="393" r:id="rId134"/>
    <p:sldId id="394" r:id="rId135"/>
    <p:sldId id="395" r:id="rId136"/>
    <p:sldId id="396" r:id="rId137"/>
    <p:sldId id="397" r:id="rId138"/>
    <p:sldId id="398" r:id="rId139"/>
    <p:sldId id="399" r:id="rId140"/>
    <p:sldId id="400" r:id="rId141"/>
    <p:sldId id="401" r:id="rId142"/>
    <p:sldId id="402" r:id="rId143"/>
    <p:sldId id="403" r:id="rId144"/>
    <p:sldId id="404" r:id="rId145"/>
    <p:sldId id="405" r:id="rId146"/>
    <p:sldId id="406" r:id="rId147"/>
    <p:sldId id="407" r:id="rId148"/>
    <p:sldId id="408" r:id="rId149"/>
    <p:sldId id="409" r:id="rId150"/>
    <p:sldId id="410" r:id="rId151"/>
    <p:sldId id="415" r:id="rId152"/>
    <p:sldId id="413" r:id="rId153"/>
    <p:sldId id="414" r:id="rId154"/>
    <p:sldId id="416" r:id="rId155"/>
    <p:sldId id="417" r:id="rId156"/>
    <p:sldId id="419" r:id="rId157"/>
    <p:sldId id="418" r:id="rId158"/>
    <p:sldId id="425" r:id="rId159"/>
    <p:sldId id="420" r:id="rId160"/>
    <p:sldId id="421" r:id="rId161"/>
    <p:sldId id="422" r:id="rId162"/>
    <p:sldId id="426" r:id="rId163"/>
    <p:sldId id="427" r:id="rId164"/>
    <p:sldId id="428" r:id="rId165"/>
    <p:sldId id="429" r:id="rId166"/>
    <p:sldId id="430" r:id="rId167"/>
    <p:sldId id="445" r:id="rId168"/>
    <p:sldId id="431" r:id="rId169"/>
    <p:sldId id="432" r:id="rId170"/>
    <p:sldId id="433" r:id="rId171"/>
    <p:sldId id="434" r:id="rId172"/>
    <p:sldId id="435" r:id="rId173"/>
    <p:sldId id="436" r:id="rId174"/>
    <p:sldId id="437" r:id="rId175"/>
    <p:sldId id="438" r:id="rId176"/>
    <p:sldId id="439" r:id="rId177"/>
    <p:sldId id="440" r:id="rId178"/>
    <p:sldId id="441" r:id="rId179"/>
    <p:sldId id="446" r:id="rId180"/>
    <p:sldId id="447" r:id="rId181"/>
    <p:sldId id="448" r:id="rId182"/>
    <p:sldId id="449" r:id="rId183"/>
    <p:sldId id="450" r:id="rId184"/>
    <p:sldId id="442" r:id="rId185"/>
    <p:sldId id="443" r:id="rId186"/>
    <p:sldId id="444" r:id="rId187"/>
    <p:sldId id="423" r:id="rId188"/>
    <p:sldId id="451" r:id="rId189"/>
    <p:sldId id="452" r:id="rId190"/>
    <p:sldId id="453" r:id="rId191"/>
    <p:sldId id="454" r:id="rId192"/>
    <p:sldId id="455" r:id="rId193"/>
    <p:sldId id="456" r:id="rId194"/>
    <p:sldId id="457" r:id="rId195"/>
    <p:sldId id="458" r:id="rId196"/>
    <p:sldId id="424" r:id="rId197"/>
    <p:sldId id="459" r:id="rId198"/>
    <p:sldId id="460" r:id="rId199"/>
    <p:sldId id="461" r:id="rId200"/>
    <p:sldId id="462" r:id="rId201"/>
    <p:sldId id="463" r:id="rId202"/>
    <p:sldId id="464" r:id="rId203"/>
    <p:sldId id="465" r:id="rId204"/>
    <p:sldId id="466" r:id="rId205"/>
    <p:sldId id="467" r:id="rId206"/>
    <p:sldId id="468" r:id="rId207"/>
    <p:sldId id="471" r:id="rId208"/>
    <p:sldId id="469" r:id="rId209"/>
    <p:sldId id="472" r:id="rId210"/>
    <p:sldId id="473" r:id="rId211"/>
    <p:sldId id="474" r:id="rId212"/>
    <p:sldId id="475" r:id="rId213"/>
    <p:sldId id="476" r:id="rId214"/>
    <p:sldId id="489" r:id="rId215"/>
    <p:sldId id="477" r:id="rId216"/>
    <p:sldId id="478" r:id="rId217"/>
    <p:sldId id="479" r:id="rId218"/>
    <p:sldId id="480" r:id="rId219"/>
    <p:sldId id="481" r:id="rId220"/>
    <p:sldId id="482" r:id="rId221"/>
    <p:sldId id="483" r:id="rId222"/>
    <p:sldId id="484" r:id="rId223"/>
    <p:sldId id="485" r:id="rId224"/>
    <p:sldId id="486" r:id="rId225"/>
    <p:sldId id="487" r:id="rId226"/>
    <p:sldId id="488" r:id="rId227"/>
    <p:sldId id="470" r:id="rId228"/>
    <p:sldId id="491" r:id="rId229"/>
    <p:sldId id="492" r:id="rId230"/>
    <p:sldId id="493" r:id="rId231"/>
    <p:sldId id="494" r:id="rId232"/>
    <p:sldId id="495" r:id="rId233"/>
    <p:sldId id="496" r:id="rId234"/>
    <p:sldId id="497" r:id="rId235"/>
    <p:sldId id="498" r:id="rId236"/>
    <p:sldId id="499" r:id="rId237"/>
    <p:sldId id="500" r:id="rId238"/>
    <p:sldId id="501" r:id="rId239"/>
    <p:sldId id="502" r:id="rId240"/>
    <p:sldId id="503" r:id="rId241"/>
    <p:sldId id="504" r:id="rId242"/>
    <p:sldId id="505" r:id="rId243"/>
    <p:sldId id="506" r:id="rId244"/>
    <p:sldId id="507" r:id="rId245"/>
    <p:sldId id="508" r:id="rId246"/>
    <p:sldId id="509" r:id="rId247"/>
    <p:sldId id="510" r:id="rId248"/>
    <p:sldId id="511" r:id="rId249"/>
    <p:sldId id="512" r:id="rId250"/>
    <p:sldId id="514" r:id="rId251"/>
    <p:sldId id="515" r:id="rId252"/>
    <p:sldId id="516" r:id="rId253"/>
    <p:sldId id="517" r:id="rId254"/>
    <p:sldId id="518" r:id="rId255"/>
    <p:sldId id="519" r:id="rId256"/>
    <p:sldId id="520" r:id="rId257"/>
    <p:sldId id="521" r:id="rId258"/>
    <p:sldId id="522" r:id="rId259"/>
    <p:sldId id="523" r:id="rId260"/>
    <p:sldId id="524" r:id="rId261"/>
    <p:sldId id="525" r:id="rId262"/>
    <p:sldId id="526" r:id="rId263"/>
    <p:sldId id="527" r:id="rId264"/>
    <p:sldId id="528" r:id="rId265"/>
    <p:sldId id="529" r:id="rId266"/>
    <p:sldId id="530" r:id="rId267"/>
    <p:sldId id="531" r:id="rId268"/>
    <p:sldId id="532" r:id="rId269"/>
    <p:sldId id="533" r:id="rId270"/>
    <p:sldId id="534" r:id="rId271"/>
    <p:sldId id="535" r:id="rId272"/>
    <p:sldId id="540" r:id="rId273"/>
    <p:sldId id="541" r:id="rId274"/>
    <p:sldId id="542" r:id="rId275"/>
    <p:sldId id="543" r:id="rId276"/>
    <p:sldId id="544" r:id="rId277"/>
    <p:sldId id="545" r:id="rId278"/>
    <p:sldId id="546" r:id="rId279"/>
    <p:sldId id="547" r:id="rId280"/>
    <p:sldId id="549" r:id="rId281"/>
    <p:sldId id="548" r:id="rId282"/>
    <p:sldId id="550" r:id="rId283"/>
    <p:sldId id="551" r:id="rId284"/>
    <p:sldId id="553" r:id="rId285"/>
    <p:sldId id="552" r:id="rId286"/>
    <p:sldId id="554" r:id="rId287"/>
    <p:sldId id="536" r:id="rId288"/>
    <p:sldId id="537" r:id="rId289"/>
    <p:sldId id="538" r:id="rId290"/>
    <p:sldId id="539" r:id="rId291"/>
    <p:sldId id="555" r:id="rId292"/>
    <p:sldId id="556" r:id="rId293"/>
    <p:sldId id="557" r:id="rId294"/>
    <p:sldId id="558" r:id="rId295"/>
    <p:sldId id="559" r:id="rId296"/>
    <p:sldId id="560" r:id="rId297"/>
    <p:sldId id="561" r:id="rId298"/>
    <p:sldId id="562" r:id="rId299"/>
    <p:sldId id="563" r:id="rId300"/>
    <p:sldId id="564" r:id="rId301"/>
    <p:sldId id="566" r:id="rId302"/>
    <p:sldId id="572" r:id="rId303"/>
    <p:sldId id="573" r:id="rId304"/>
    <p:sldId id="574" r:id="rId305"/>
    <p:sldId id="575" r:id="rId306"/>
    <p:sldId id="567" r:id="rId307"/>
    <p:sldId id="576" r:id="rId308"/>
  </p:sldIdLst>
  <p:sldSz cx="9144000" cy="6858000" type="screen4x3"/>
  <p:notesSz cx="9144000" cy="6858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帐户" initials="M帐" lastIdx="1" clrIdx="0">
    <p:extLst>
      <p:ext uri="{19B8F6BF-5375-455C-9EA6-DF929625EA0E}">
        <p15:presenceInfo xmlns:p15="http://schemas.microsoft.com/office/powerpoint/2012/main" userId="b16609d33cd0e2c9"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9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5" d="100"/>
          <a:sy n="115" d="100"/>
        </p:scale>
        <p:origin x="1817" y="-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99" Type="http://schemas.openxmlformats.org/officeDocument/2006/relationships/slide" Target="slides/slide298.xml"/><Relationship Id="rId21" Type="http://schemas.openxmlformats.org/officeDocument/2006/relationships/slide" Target="slides/slide20.xml"/><Relationship Id="rId63" Type="http://schemas.openxmlformats.org/officeDocument/2006/relationships/slide" Target="slides/slide62.xml"/><Relationship Id="rId159" Type="http://schemas.openxmlformats.org/officeDocument/2006/relationships/slide" Target="slides/slide158.xml"/><Relationship Id="rId170" Type="http://schemas.openxmlformats.org/officeDocument/2006/relationships/slide" Target="slides/slide169.xml"/><Relationship Id="rId226" Type="http://schemas.openxmlformats.org/officeDocument/2006/relationships/slide" Target="slides/slide225.xml"/><Relationship Id="rId268" Type="http://schemas.openxmlformats.org/officeDocument/2006/relationships/slide" Target="slides/slide267.xml"/><Relationship Id="rId32" Type="http://schemas.openxmlformats.org/officeDocument/2006/relationships/slide" Target="slides/slide31.xml"/><Relationship Id="rId74" Type="http://schemas.openxmlformats.org/officeDocument/2006/relationships/slide" Target="slides/slide73.xml"/><Relationship Id="rId128" Type="http://schemas.openxmlformats.org/officeDocument/2006/relationships/slide" Target="slides/slide127.xml"/><Relationship Id="rId5" Type="http://schemas.openxmlformats.org/officeDocument/2006/relationships/slide" Target="slides/slide4.xml"/><Relationship Id="rId181" Type="http://schemas.openxmlformats.org/officeDocument/2006/relationships/slide" Target="slides/slide180.xml"/><Relationship Id="rId237" Type="http://schemas.openxmlformats.org/officeDocument/2006/relationships/slide" Target="slides/slide236.xml"/><Relationship Id="rId279" Type="http://schemas.openxmlformats.org/officeDocument/2006/relationships/slide" Target="slides/slide278.xml"/><Relationship Id="rId43" Type="http://schemas.openxmlformats.org/officeDocument/2006/relationships/slide" Target="slides/slide42.xml"/><Relationship Id="rId139" Type="http://schemas.openxmlformats.org/officeDocument/2006/relationships/slide" Target="slides/slide138.xml"/><Relationship Id="rId290" Type="http://schemas.openxmlformats.org/officeDocument/2006/relationships/slide" Target="slides/slide289.xml"/><Relationship Id="rId304" Type="http://schemas.openxmlformats.org/officeDocument/2006/relationships/slide" Target="slides/slide303.xml"/><Relationship Id="rId85" Type="http://schemas.openxmlformats.org/officeDocument/2006/relationships/slide" Target="slides/slide84.xml"/><Relationship Id="rId150" Type="http://schemas.openxmlformats.org/officeDocument/2006/relationships/slide" Target="slides/slide149.xml"/><Relationship Id="rId192" Type="http://schemas.openxmlformats.org/officeDocument/2006/relationships/slide" Target="slides/slide191.xml"/><Relationship Id="rId206" Type="http://schemas.openxmlformats.org/officeDocument/2006/relationships/slide" Target="slides/slide205.xml"/><Relationship Id="rId248" Type="http://schemas.openxmlformats.org/officeDocument/2006/relationships/slide" Target="slides/slide247.xml"/><Relationship Id="rId12" Type="http://schemas.openxmlformats.org/officeDocument/2006/relationships/slide" Target="slides/slide11.xml"/><Relationship Id="rId108" Type="http://schemas.openxmlformats.org/officeDocument/2006/relationships/slide" Target="slides/slide107.xml"/><Relationship Id="rId315" Type="http://schemas.openxmlformats.org/officeDocument/2006/relationships/tableStyles" Target="tableStyles.xml"/><Relationship Id="rId54" Type="http://schemas.openxmlformats.org/officeDocument/2006/relationships/slide" Target="slides/slide53.xml"/><Relationship Id="rId96" Type="http://schemas.openxmlformats.org/officeDocument/2006/relationships/slide" Target="slides/slide95.xml"/><Relationship Id="rId161" Type="http://schemas.openxmlformats.org/officeDocument/2006/relationships/slide" Target="slides/slide160.xml"/><Relationship Id="rId217" Type="http://schemas.openxmlformats.org/officeDocument/2006/relationships/slide" Target="slides/slide216.xml"/><Relationship Id="rId259" Type="http://schemas.openxmlformats.org/officeDocument/2006/relationships/slide" Target="slides/slide258.xml"/><Relationship Id="rId23" Type="http://schemas.openxmlformats.org/officeDocument/2006/relationships/slide" Target="slides/slide22.xml"/><Relationship Id="rId119" Type="http://schemas.openxmlformats.org/officeDocument/2006/relationships/slide" Target="slides/slide118.xml"/><Relationship Id="rId270" Type="http://schemas.openxmlformats.org/officeDocument/2006/relationships/slide" Target="slides/slide269.xml"/><Relationship Id="rId65" Type="http://schemas.openxmlformats.org/officeDocument/2006/relationships/slide" Target="slides/slide64.xml"/><Relationship Id="rId130" Type="http://schemas.openxmlformats.org/officeDocument/2006/relationships/slide" Target="slides/slide129.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228" Type="http://schemas.openxmlformats.org/officeDocument/2006/relationships/slide" Target="slides/slide227.xml"/><Relationship Id="rId249" Type="http://schemas.openxmlformats.org/officeDocument/2006/relationships/slide" Target="slides/slide248.xml"/><Relationship Id="rId13" Type="http://schemas.openxmlformats.org/officeDocument/2006/relationships/slide" Target="slides/slide12.xml"/><Relationship Id="rId109" Type="http://schemas.openxmlformats.org/officeDocument/2006/relationships/slide" Target="slides/slide108.xml"/><Relationship Id="rId260" Type="http://schemas.openxmlformats.org/officeDocument/2006/relationships/slide" Target="slides/slide259.xml"/><Relationship Id="rId281" Type="http://schemas.openxmlformats.org/officeDocument/2006/relationships/slide" Target="slides/slide280.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39" Type="http://schemas.openxmlformats.org/officeDocument/2006/relationships/slide" Target="slides/slide238.xml"/><Relationship Id="rId250" Type="http://schemas.openxmlformats.org/officeDocument/2006/relationships/slide" Target="slides/slide249.xml"/><Relationship Id="rId271" Type="http://schemas.openxmlformats.org/officeDocument/2006/relationships/slide" Target="slides/slide270.xml"/><Relationship Id="rId292" Type="http://schemas.openxmlformats.org/officeDocument/2006/relationships/slide" Target="slides/slide291.xml"/><Relationship Id="rId306" Type="http://schemas.openxmlformats.org/officeDocument/2006/relationships/slide" Target="slides/slide305.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slide" Target="slides/slide228.xml"/><Relationship Id="rId240" Type="http://schemas.openxmlformats.org/officeDocument/2006/relationships/slide" Target="slides/slide239.xml"/><Relationship Id="rId261" Type="http://schemas.openxmlformats.org/officeDocument/2006/relationships/slide" Target="slides/slide260.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282" Type="http://schemas.openxmlformats.org/officeDocument/2006/relationships/slide" Target="slides/slide281.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230" Type="http://schemas.openxmlformats.org/officeDocument/2006/relationships/slide" Target="slides/slide229.xml"/><Relationship Id="rId251" Type="http://schemas.openxmlformats.org/officeDocument/2006/relationships/slide" Target="slides/slide250.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72" Type="http://schemas.openxmlformats.org/officeDocument/2006/relationships/slide" Target="slides/slide271.xml"/><Relationship Id="rId293" Type="http://schemas.openxmlformats.org/officeDocument/2006/relationships/slide" Target="slides/slide292.xml"/><Relationship Id="rId307" Type="http://schemas.openxmlformats.org/officeDocument/2006/relationships/slide" Target="slides/slide306.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95" Type="http://schemas.openxmlformats.org/officeDocument/2006/relationships/slide" Target="slides/slide194.xml"/><Relationship Id="rId209" Type="http://schemas.openxmlformats.org/officeDocument/2006/relationships/slide" Target="slides/slide208.xml"/><Relationship Id="rId220" Type="http://schemas.openxmlformats.org/officeDocument/2006/relationships/slide" Target="slides/slide219.xml"/><Relationship Id="rId241" Type="http://schemas.openxmlformats.org/officeDocument/2006/relationships/slide" Target="slides/slide24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262" Type="http://schemas.openxmlformats.org/officeDocument/2006/relationships/slide" Target="slides/slide261.xml"/><Relationship Id="rId283" Type="http://schemas.openxmlformats.org/officeDocument/2006/relationships/slide" Target="slides/slide282.xml"/><Relationship Id="rId78" Type="http://schemas.openxmlformats.org/officeDocument/2006/relationships/slide" Target="slides/slide77.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64" Type="http://schemas.openxmlformats.org/officeDocument/2006/relationships/slide" Target="slides/slide163.xml"/><Relationship Id="rId185" Type="http://schemas.openxmlformats.org/officeDocument/2006/relationships/slide" Target="slides/slide184.xml"/><Relationship Id="rId9" Type="http://schemas.openxmlformats.org/officeDocument/2006/relationships/slide" Target="slides/slide8.xml"/><Relationship Id="rId210" Type="http://schemas.openxmlformats.org/officeDocument/2006/relationships/slide" Target="slides/slide209.xml"/><Relationship Id="rId26" Type="http://schemas.openxmlformats.org/officeDocument/2006/relationships/slide" Target="slides/slide25.xml"/><Relationship Id="rId231" Type="http://schemas.openxmlformats.org/officeDocument/2006/relationships/slide" Target="slides/slide230.xml"/><Relationship Id="rId252" Type="http://schemas.openxmlformats.org/officeDocument/2006/relationships/slide" Target="slides/slide251.xml"/><Relationship Id="rId273" Type="http://schemas.openxmlformats.org/officeDocument/2006/relationships/slide" Target="slides/slide272.xml"/><Relationship Id="rId294" Type="http://schemas.openxmlformats.org/officeDocument/2006/relationships/slide" Target="slides/slide293.xml"/><Relationship Id="rId308" Type="http://schemas.openxmlformats.org/officeDocument/2006/relationships/slide" Target="slides/slide307.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263" Type="http://schemas.openxmlformats.org/officeDocument/2006/relationships/slide" Target="slides/slide262.xml"/><Relationship Id="rId284" Type="http://schemas.openxmlformats.org/officeDocument/2006/relationships/slide" Target="slides/slide283.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slide" Target="slides/slide252.xml"/><Relationship Id="rId274" Type="http://schemas.openxmlformats.org/officeDocument/2006/relationships/slide" Target="slides/slide273.xml"/><Relationship Id="rId295" Type="http://schemas.openxmlformats.org/officeDocument/2006/relationships/slide" Target="slides/slide294.xml"/><Relationship Id="rId309" Type="http://schemas.openxmlformats.org/officeDocument/2006/relationships/notesMaster" Target="notesMasters/notesMaster1.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264" Type="http://schemas.openxmlformats.org/officeDocument/2006/relationships/slide" Target="slides/slide263.xml"/><Relationship Id="rId285" Type="http://schemas.openxmlformats.org/officeDocument/2006/relationships/slide" Target="slides/slide284.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310" Type="http://schemas.openxmlformats.org/officeDocument/2006/relationships/handoutMaster" Target="handoutMasters/handoutMaster1.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54" Type="http://schemas.openxmlformats.org/officeDocument/2006/relationships/slide" Target="slides/slide253.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275" Type="http://schemas.openxmlformats.org/officeDocument/2006/relationships/slide" Target="slides/slide274.xml"/><Relationship Id="rId296" Type="http://schemas.openxmlformats.org/officeDocument/2006/relationships/slide" Target="slides/slide295.xml"/><Relationship Id="rId300" Type="http://schemas.openxmlformats.org/officeDocument/2006/relationships/slide" Target="slides/slide299.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slide" Target="slides/slide222.xml"/><Relationship Id="rId244" Type="http://schemas.openxmlformats.org/officeDocument/2006/relationships/slide" Target="slides/slide243.xml"/><Relationship Id="rId18" Type="http://schemas.openxmlformats.org/officeDocument/2006/relationships/slide" Target="slides/slide17.xml"/><Relationship Id="rId39" Type="http://schemas.openxmlformats.org/officeDocument/2006/relationships/slide" Target="slides/slide38.xml"/><Relationship Id="rId265" Type="http://schemas.openxmlformats.org/officeDocument/2006/relationships/slide" Target="slides/slide264.xml"/><Relationship Id="rId286" Type="http://schemas.openxmlformats.org/officeDocument/2006/relationships/slide" Target="slides/slide285.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311" Type="http://schemas.openxmlformats.org/officeDocument/2006/relationships/commentAuthors" Target="commentAuthors.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2" Type="http://schemas.openxmlformats.org/officeDocument/2006/relationships/slide" Target="slides/slide1.xml"/><Relationship Id="rId29" Type="http://schemas.openxmlformats.org/officeDocument/2006/relationships/slide" Target="slides/slide28.xml"/><Relationship Id="rId255" Type="http://schemas.openxmlformats.org/officeDocument/2006/relationships/slide" Target="slides/slide254.xml"/><Relationship Id="rId276" Type="http://schemas.openxmlformats.org/officeDocument/2006/relationships/slide" Target="slides/slide275.xml"/><Relationship Id="rId297" Type="http://schemas.openxmlformats.org/officeDocument/2006/relationships/slide" Target="slides/slide296.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301" Type="http://schemas.openxmlformats.org/officeDocument/2006/relationships/slide" Target="slides/slide300.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245" Type="http://schemas.openxmlformats.org/officeDocument/2006/relationships/slide" Target="slides/slide244.xml"/><Relationship Id="rId266" Type="http://schemas.openxmlformats.org/officeDocument/2006/relationships/slide" Target="slides/slide265.xml"/><Relationship Id="rId287" Type="http://schemas.openxmlformats.org/officeDocument/2006/relationships/slide" Target="slides/slide286.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312" Type="http://schemas.openxmlformats.org/officeDocument/2006/relationships/presProps" Target="presProps.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slide" Target="slides/slide234.xml"/><Relationship Id="rId256" Type="http://schemas.openxmlformats.org/officeDocument/2006/relationships/slide" Target="slides/slide255.xml"/><Relationship Id="rId277" Type="http://schemas.openxmlformats.org/officeDocument/2006/relationships/slide" Target="slides/slide276.xml"/><Relationship Id="rId298" Type="http://schemas.openxmlformats.org/officeDocument/2006/relationships/slide" Target="slides/slide297.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302" Type="http://schemas.openxmlformats.org/officeDocument/2006/relationships/slide" Target="slides/slide30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 Id="rId246" Type="http://schemas.openxmlformats.org/officeDocument/2006/relationships/slide" Target="slides/slide245.xml"/><Relationship Id="rId267" Type="http://schemas.openxmlformats.org/officeDocument/2006/relationships/slide" Target="slides/slide266.xml"/><Relationship Id="rId288" Type="http://schemas.openxmlformats.org/officeDocument/2006/relationships/slide" Target="slides/slide287.xml"/><Relationship Id="rId106" Type="http://schemas.openxmlformats.org/officeDocument/2006/relationships/slide" Target="slides/slide105.xml"/><Relationship Id="rId127" Type="http://schemas.openxmlformats.org/officeDocument/2006/relationships/slide" Target="slides/slide126.xml"/><Relationship Id="rId313"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94" Type="http://schemas.openxmlformats.org/officeDocument/2006/relationships/slide" Target="slides/slide93.xml"/><Relationship Id="rId148" Type="http://schemas.openxmlformats.org/officeDocument/2006/relationships/slide" Target="slides/slide147.xml"/><Relationship Id="rId169" Type="http://schemas.openxmlformats.org/officeDocument/2006/relationships/slide" Target="slides/slide168.xml"/><Relationship Id="rId4" Type="http://schemas.openxmlformats.org/officeDocument/2006/relationships/slide" Target="slides/slide3.xml"/><Relationship Id="rId180" Type="http://schemas.openxmlformats.org/officeDocument/2006/relationships/slide" Target="slides/slide179.xml"/><Relationship Id="rId215" Type="http://schemas.openxmlformats.org/officeDocument/2006/relationships/slide" Target="slides/slide214.xml"/><Relationship Id="rId236" Type="http://schemas.openxmlformats.org/officeDocument/2006/relationships/slide" Target="slides/slide235.xml"/><Relationship Id="rId257" Type="http://schemas.openxmlformats.org/officeDocument/2006/relationships/slide" Target="slides/slide256.xml"/><Relationship Id="rId278" Type="http://schemas.openxmlformats.org/officeDocument/2006/relationships/slide" Target="slides/slide277.xml"/><Relationship Id="rId303" Type="http://schemas.openxmlformats.org/officeDocument/2006/relationships/slide" Target="slides/slide302.xml"/><Relationship Id="rId42" Type="http://schemas.openxmlformats.org/officeDocument/2006/relationships/slide" Target="slides/slide41.xml"/><Relationship Id="rId84" Type="http://schemas.openxmlformats.org/officeDocument/2006/relationships/slide" Target="slides/slide83.xml"/><Relationship Id="rId138" Type="http://schemas.openxmlformats.org/officeDocument/2006/relationships/slide" Target="slides/slide137.xml"/><Relationship Id="rId191" Type="http://schemas.openxmlformats.org/officeDocument/2006/relationships/slide" Target="slides/slide190.xml"/><Relationship Id="rId205" Type="http://schemas.openxmlformats.org/officeDocument/2006/relationships/slide" Target="slides/slide204.xml"/><Relationship Id="rId247" Type="http://schemas.openxmlformats.org/officeDocument/2006/relationships/slide" Target="slides/slide246.xml"/><Relationship Id="rId107" Type="http://schemas.openxmlformats.org/officeDocument/2006/relationships/slide" Target="slides/slide106.xml"/><Relationship Id="rId289" Type="http://schemas.openxmlformats.org/officeDocument/2006/relationships/slide" Target="slides/slide288.xml"/><Relationship Id="rId11" Type="http://schemas.openxmlformats.org/officeDocument/2006/relationships/slide" Target="slides/slide10.xml"/><Relationship Id="rId53" Type="http://schemas.openxmlformats.org/officeDocument/2006/relationships/slide" Target="slides/slide52.xml"/><Relationship Id="rId149" Type="http://schemas.openxmlformats.org/officeDocument/2006/relationships/slide" Target="slides/slide148.xml"/><Relationship Id="rId314" Type="http://schemas.openxmlformats.org/officeDocument/2006/relationships/theme" Target="theme/theme1.xml"/><Relationship Id="rId95" Type="http://schemas.openxmlformats.org/officeDocument/2006/relationships/slide" Target="slides/slide94.xml"/><Relationship Id="rId160" Type="http://schemas.openxmlformats.org/officeDocument/2006/relationships/slide" Target="slides/slide159.xml"/><Relationship Id="rId216" Type="http://schemas.openxmlformats.org/officeDocument/2006/relationships/slide" Target="slides/slide215.xml"/><Relationship Id="rId258" Type="http://schemas.openxmlformats.org/officeDocument/2006/relationships/slide" Target="slides/slide257.xml"/><Relationship Id="rId22" Type="http://schemas.openxmlformats.org/officeDocument/2006/relationships/slide" Target="slides/slide21.xml"/><Relationship Id="rId64" Type="http://schemas.openxmlformats.org/officeDocument/2006/relationships/slide" Target="slides/slide63.xml"/><Relationship Id="rId118" Type="http://schemas.openxmlformats.org/officeDocument/2006/relationships/slide" Target="slides/slide117.xml"/><Relationship Id="rId171" Type="http://schemas.openxmlformats.org/officeDocument/2006/relationships/slide" Target="slides/slide170.xml"/><Relationship Id="rId227" Type="http://schemas.openxmlformats.org/officeDocument/2006/relationships/slide" Target="slides/slide226.xml"/><Relationship Id="rId269" Type="http://schemas.openxmlformats.org/officeDocument/2006/relationships/slide" Target="slides/slide268.xml"/><Relationship Id="rId33" Type="http://schemas.openxmlformats.org/officeDocument/2006/relationships/slide" Target="slides/slide32.xml"/><Relationship Id="rId129" Type="http://schemas.openxmlformats.org/officeDocument/2006/relationships/slide" Target="slides/slide128.xml"/><Relationship Id="rId280" Type="http://schemas.openxmlformats.org/officeDocument/2006/relationships/slide" Target="slides/slide279.xml"/><Relationship Id="rId75" Type="http://schemas.openxmlformats.org/officeDocument/2006/relationships/slide" Target="slides/slide74.xml"/><Relationship Id="rId140" Type="http://schemas.openxmlformats.org/officeDocument/2006/relationships/slide" Target="slides/slide139.xml"/><Relationship Id="rId182" Type="http://schemas.openxmlformats.org/officeDocument/2006/relationships/slide" Target="slides/slide181.xml"/><Relationship Id="rId6" Type="http://schemas.openxmlformats.org/officeDocument/2006/relationships/slide" Target="slides/slide5.xml"/><Relationship Id="rId238" Type="http://schemas.openxmlformats.org/officeDocument/2006/relationships/slide" Target="slides/slide237.xml"/><Relationship Id="rId291" Type="http://schemas.openxmlformats.org/officeDocument/2006/relationships/slide" Target="slides/slide290.xml"/><Relationship Id="rId305" Type="http://schemas.openxmlformats.org/officeDocument/2006/relationships/slide" Target="slides/slide304.xml"/><Relationship Id="rId44" Type="http://schemas.openxmlformats.org/officeDocument/2006/relationships/slide" Target="slides/slide43.xml"/><Relationship Id="rId86" Type="http://schemas.openxmlformats.org/officeDocument/2006/relationships/slide" Target="slides/slide85.xml"/><Relationship Id="rId151" Type="http://schemas.openxmlformats.org/officeDocument/2006/relationships/slide" Target="slides/slide150.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image" Target="../media/image8.wmf"/><Relationship Id="rId1" Type="http://schemas.openxmlformats.org/officeDocument/2006/relationships/image" Target="../media/image7.emf"/><Relationship Id="rId4" Type="http://schemas.openxmlformats.org/officeDocument/2006/relationships/image" Target="../media/image10.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image" Target="../media/image13.wmf"/><Relationship Id="rId1" Type="http://schemas.openxmlformats.org/officeDocument/2006/relationships/image" Target="../media/image12.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image" Target="../media/image17.emf"/><Relationship Id="rId1" Type="http://schemas.openxmlformats.org/officeDocument/2006/relationships/image" Target="../media/image16.e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image" Target="../media/image20.wmf"/><Relationship Id="rId1" Type="http://schemas.openxmlformats.org/officeDocument/2006/relationships/image" Target="../media/image19.e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image" Target="../media/image23.wmf"/><Relationship Id="rId1" Type="http://schemas.openxmlformats.org/officeDocument/2006/relationships/image" Target="../media/image22.emf"/><Relationship Id="rId4" Type="http://schemas.openxmlformats.org/officeDocument/2006/relationships/image" Target="../media/image25.emf"/></Relationships>
</file>

<file path=ppt/drawings/_rels/vmlDrawing9.vml.rels><?xml version="1.0" encoding="UTF-8" standalone="yes"?>
<Relationships xmlns="http://schemas.openxmlformats.org/package/2006/relationships"><Relationship Id="rId8" Type="http://schemas.openxmlformats.org/officeDocument/2006/relationships/image" Target="../media/image36.wmf"/><Relationship Id="rId3" Type="http://schemas.openxmlformats.org/officeDocument/2006/relationships/image" Target="../media/image31.wmf"/><Relationship Id="rId7" Type="http://schemas.openxmlformats.org/officeDocument/2006/relationships/image" Target="../media/image35.wmf"/><Relationship Id="rId2" Type="http://schemas.openxmlformats.org/officeDocument/2006/relationships/image" Target="../media/image30.wmf"/><Relationship Id="rId1" Type="http://schemas.openxmlformats.org/officeDocument/2006/relationships/image" Target="../media/image29.emf"/><Relationship Id="rId6" Type="http://schemas.openxmlformats.org/officeDocument/2006/relationships/image" Target="../media/image34.wmf"/><Relationship Id="rId11" Type="http://schemas.openxmlformats.org/officeDocument/2006/relationships/image" Target="../media/image39.emf"/><Relationship Id="rId5" Type="http://schemas.openxmlformats.org/officeDocument/2006/relationships/image" Target="../media/image33.wmf"/><Relationship Id="rId10" Type="http://schemas.openxmlformats.org/officeDocument/2006/relationships/image" Target="../media/image38.wmf"/><Relationship Id="rId4" Type="http://schemas.openxmlformats.org/officeDocument/2006/relationships/image" Target="../media/image32.wmf"/><Relationship Id="rId9" Type="http://schemas.openxmlformats.org/officeDocument/2006/relationships/image" Target="../media/image37.wmf"/></Relationships>
</file>

<file path=ppt/drawings/_rels/vmlDrawing10.vml.rels><?xml version="1.0" encoding="UTF-8" standalone="yes"?>
<Relationships xmlns="http://schemas.openxmlformats.org/package/2006/relationships"><Relationship Id="rId8" Type="http://schemas.openxmlformats.org/officeDocument/2006/relationships/image" Target="../media/image47.wmf"/><Relationship Id="rId13" Type="http://schemas.openxmlformats.org/officeDocument/2006/relationships/image" Target="../media/image52.wmf"/><Relationship Id="rId18" Type="http://schemas.openxmlformats.org/officeDocument/2006/relationships/image" Target="../media/image57.wmf"/><Relationship Id="rId3" Type="http://schemas.openxmlformats.org/officeDocument/2006/relationships/image" Target="../media/image42.wmf"/><Relationship Id="rId21" Type="http://schemas.openxmlformats.org/officeDocument/2006/relationships/image" Target="../media/image60.wmf"/><Relationship Id="rId7" Type="http://schemas.openxmlformats.org/officeDocument/2006/relationships/image" Target="../media/image46.wmf"/><Relationship Id="rId12" Type="http://schemas.openxmlformats.org/officeDocument/2006/relationships/image" Target="../media/image51.emf"/><Relationship Id="rId17" Type="http://schemas.openxmlformats.org/officeDocument/2006/relationships/image" Target="../media/image56.wmf"/><Relationship Id="rId2" Type="http://schemas.openxmlformats.org/officeDocument/2006/relationships/image" Target="../media/image41.wmf"/><Relationship Id="rId16" Type="http://schemas.openxmlformats.org/officeDocument/2006/relationships/image" Target="../media/image55.wmf"/><Relationship Id="rId20" Type="http://schemas.openxmlformats.org/officeDocument/2006/relationships/image" Target="../media/image59.wmf"/><Relationship Id="rId1" Type="http://schemas.openxmlformats.org/officeDocument/2006/relationships/image" Target="../media/image40.wmf"/><Relationship Id="rId6" Type="http://schemas.openxmlformats.org/officeDocument/2006/relationships/image" Target="../media/image45.wmf"/><Relationship Id="rId11" Type="http://schemas.openxmlformats.org/officeDocument/2006/relationships/image" Target="../media/image50.emf"/><Relationship Id="rId5" Type="http://schemas.openxmlformats.org/officeDocument/2006/relationships/image" Target="../media/image44.wmf"/><Relationship Id="rId15" Type="http://schemas.openxmlformats.org/officeDocument/2006/relationships/image" Target="../media/image54.wmf"/><Relationship Id="rId23" Type="http://schemas.openxmlformats.org/officeDocument/2006/relationships/image" Target="../media/image62.wmf"/><Relationship Id="rId10" Type="http://schemas.openxmlformats.org/officeDocument/2006/relationships/image" Target="../media/image49.emf"/><Relationship Id="rId19" Type="http://schemas.openxmlformats.org/officeDocument/2006/relationships/image" Target="../media/image58.wmf"/><Relationship Id="rId4" Type="http://schemas.openxmlformats.org/officeDocument/2006/relationships/image" Target="../media/image43.wmf"/><Relationship Id="rId9" Type="http://schemas.openxmlformats.org/officeDocument/2006/relationships/image" Target="../media/image48.emf"/><Relationship Id="rId14" Type="http://schemas.openxmlformats.org/officeDocument/2006/relationships/image" Target="../media/image53.wmf"/><Relationship Id="rId22" Type="http://schemas.openxmlformats.org/officeDocument/2006/relationships/image" Target="../media/image61.wmf"/></Relationships>
</file>

<file path=ppt/drawings/_rels/vmlDrawing11.vml.rels><?xml version="1.0" encoding="UTF-8" standalone="yes"?>
<Relationships xmlns="http://schemas.openxmlformats.org/package/2006/relationships"><Relationship Id="rId8" Type="http://schemas.openxmlformats.org/officeDocument/2006/relationships/image" Target="../media/image72.emf"/><Relationship Id="rId13" Type="http://schemas.openxmlformats.org/officeDocument/2006/relationships/image" Target="../media/image77.wmf"/><Relationship Id="rId18" Type="http://schemas.openxmlformats.org/officeDocument/2006/relationships/image" Target="../media/image82.wmf"/><Relationship Id="rId3" Type="http://schemas.openxmlformats.org/officeDocument/2006/relationships/image" Target="../media/image67.emf"/><Relationship Id="rId7" Type="http://schemas.openxmlformats.org/officeDocument/2006/relationships/image" Target="../media/image71.emf"/><Relationship Id="rId12" Type="http://schemas.openxmlformats.org/officeDocument/2006/relationships/image" Target="../media/image76.wmf"/><Relationship Id="rId17" Type="http://schemas.openxmlformats.org/officeDocument/2006/relationships/image" Target="../media/image81.wmf"/><Relationship Id="rId2" Type="http://schemas.openxmlformats.org/officeDocument/2006/relationships/image" Target="../media/image66.emf"/><Relationship Id="rId16" Type="http://schemas.openxmlformats.org/officeDocument/2006/relationships/image" Target="../media/image80.emf"/><Relationship Id="rId20" Type="http://schemas.openxmlformats.org/officeDocument/2006/relationships/image" Target="../media/image84.emf"/><Relationship Id="rId1" Type="http://schemas.openxmlformats.org/officeDocument/2006/relationships/image" Target="../media/image65.emf"/><Relationship Id="rId6" Type="http://schemas.openxmlformats.org/officeDocument/2006/relationships/image" Target="../media/image70.emf"/><Relationship Id="rId11" Type="http://schemas.openxmlformats.org/officeDocument/2006/relationships/image" Target="../media/image75.emf"/><Relationship Id="rId5" Type="http://schemas.openxmlformats.org/officeDocument/2006/relationships/image" Target="../media/image69.emf"/><Relationship Id="rId15" Type="http://schemas.openxmlformats.org/officeDocument/2006/relationships/image" Target="../media/image79.emf"/><Relationship Id="rId10" Type="http://schemas.openxmlformats.org/officeDocument/2006/relationships/image" Target="../media/image74.emf"/><Relationship Id="rId19" Type="http://schemas.openxmlformats.org/officeDocument/2006/relationships/image" Target="../media/image83.emf"/><Relationship Id="rId4" Type="http://schemas.openxmlformats.org/officeDocument/2006/relationships/image" Target="../media/image68.emf"/><Relationship Id="rId9" Type="http://schemas.openxmlformats.org/officeDocument/2006/relationships/image" Target="../media/image73.emf"/><Relationship Id="rId14" Type="http://schemas.openxmlformats.org/officeDocument/2006/relationships/image" Target="../media/image78.e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87.emf"/><Relationship Id="rId2" Type="http://schemas.openxmlformats.org/officeDocument/2006/relationships/image" Target="../media/image86.emf"/><Relationship Id="rId1" Type="http://schemas.openxmlformats.org/officeDocument/2006/relationships/image" Target="../media/image85.emf"/><Relationship Id="rId4" Type="http://schemas.openxmlformats.org/officeDocument/2006/relationships/image" Target="../media/image88.e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91.emf"/><Relationship Id="rId2" Type="http://schemas.openxmlformats.org/officeDocument/2006/relationships/image" Target="../media/image90.emf"/><Relationship Id="rId1" Type="http://schemas.openxmlformats.org/officeDocument/2006/relationships/image" Target="../media/image88.emf"/><Relationship Id="rId4" Type="http://schemas.openxmlformats.org/officeDocument/2006/relationships/image" Target="../media/image92.e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96.emf"/><Relationship Id="rId2" Type="http://schemas.openxmlformats.org/officeDocument/2006/relationships/image" Target="../media/image95.emf"/><Relationship Id="rId1" Type="http://schemas.openxmlformats.org/officeDocument/2006/relationships/image" Target="../media/image94.e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101.wmf"/><Relationship Id="rId7" Type="http://schemas.openxmlformats.org/officeDocument/2006/relationships/image" Target="../media/image105.emf"/><Relationship Id="rId2" Type="http://schemas.openxmlformats.org/officeDocument/2006/relationships/image" Target="../media/image100.wmf"/><Relationship Id="rId1" Type="http://schemas.openxmlformats.org/officeDocument/2006/relationships/image" Target="../media/image99.wmf"/><Relationship Id="rId6" Type="http://schemas.openxmlformats.org/officeDocument/2006/relationships/image" Target="../media/image104.emf"/><Relationship Id="rId5" Type="http://schemas.openxmlformats.org/officeDocument/2006/relationships/image" Target="../media/image103.wmf"/><Relationship Id="rId4" Type="http://schemas.openxmlformats.org/officeDocument/2006/relationships/image" Target="../media/image102.wmf"/></Relationships>
</file>

<file path=ppt/drawings/_rels/vmlDrawing16.vml.rels><?xml version="1.0" encoding="UTF-8" standalone="yes"?>
<Relationships xmlns="http://schemas.openxmlformats.org/package/2006/relationships"><Relationship Id="rId8" Type="http://schemas.openxmlformats.org/officeDocument/2006/relationships/image" Target="../media/image114.wmf"/><Relationship Id="rId3" Type="http://schemas.openxmlformats.org/officeDocument/2006/relationships/image" Target="../media/image109.emf"/><Relationship Id="rId7" Type="http://schemas.openxmlformats.org/officeDocument/2006/relationships/image" Target="../media/image113.wmf"/><Relationship Id="rId2" Type="http://schemas.openxmlformats.org/officeDocument/2006/relationships/image" Target="../media/image108.emf"/><Relationship Id="rId1" Type="http://schemas.openxmlformats.org/officeDocument/2006/relationships/image" Target="../media/image107.emf"/><Relationship Id="rId6" Type="http://schemas.openxmlformats.org/officeDocument/2006/relationships/image" Target="../media/image112.emf"/><Relationship Id="rId5" Type="http://schemas.openxmlformats.org/officeDocument/2006/relationships/image" Target="../media/image111.emf"/><Relationship Id="rId10" Type="http://schemas.openxmlformats.org/officeDocument/2006/relationships/image" Target="../media/image116.wmf"/><Relationship Id="rId4" Type="http://schemas.openxmlformats.org/officeDocument/2006/relationships/image" Target="../media/image110.emf"/><Relationship Id="rId9" Type="http://schemas.openxmlformats.org/officeDocument/2006/relationships/image" Target="../media/image115.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120.wmf"/><Relationship Id="rId2" Type="http://schemas.openxmlformats.org/officeDocument/2006/relationships/image" Target="../media/image119.wmf"/><Relationship Id="rId1" Type="http://schemas.openxmlformats.org/officeDocument/2006/relationships/image" Target="../media/image118.wmf"/><Relationship Id="rId6" Type="http://schemas.openxmlformats.org/officeDocument/2006/relationships/image" Target="../media/image123.emf"/><Relationship Id="rId5" Type="http://schemas.openxmlformats.org/officeDocument/2006/relationships/image" Target="../media/image122.emf"/><Relationship Id="rId4" Type="http://schemas.openxmlformats.org/officeDocument/2006/relationships/image" Target="../media/image121.e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128.emf"/><Relationship Id="rId2" Type="http://schemas.openxmlformats.org/officeDocument/2006/relationships/image" Target="../media/image127.emf"/><Relationship Id="rId1" Type="http://schemas.openxmlformats.org/officeDocument/2006/relationships/image" Target="../media/image126.emf"/><Relationship Id="rId6" Type="http://schemas.openxmlformats.org/officeDocument/2006/relationships/image" Target="../media/image131.emf"/><Relationship Id="rId5" Type="http://schemas.openxmlformats.org/officeDocument/2006/relationships/image" Target="../media/image130.emf"/><Relationship Id="rId4" Type="http://schemas.openxmlformats.org/officeDocument/2006/relationships/image" Target="../media/image129.e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135.wmf"/><Relationship Id="rId2" Type="http://schemas.openxmlformats.org/officeDocument/2006/relationships/image" Target="../media/image134.emf"/><Relationship Id="rId1" Type="http://schemas.openxmlformats.org/officeDocument/2006/relationships/image" Target="../media/image133.emf"/><Relationship Id="rId6" Type="http://schemas.openxmlformats.org/officeDocument/2006/relationships/image" Target="../media/image138.wmf"/><Relationship Id="rId5" Type="http://schemas.openxmlformats.org/officeDocument/2006/relationships/image" Target="../media/image137.wmf"/><Relationship Id="rId4" Type="http://schemas.openxmlformats.org/officeDocument/2006/relationships/image" Target="../media/image136.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143.emf"/><Relationship Id="rId2" Type="http://schemas.openxmlformats.org/officeDocument/2006/relationships/image" Target="../media/image142.emf"/><Relationship Id="rId1" Type="http://schemas.openxmlformats.org/officeDocument/2006/relationships/image" Target="../media/image141.emf"/><Relationship Id="rId6" Type="http://schemas.openxmlformats.org/officeDocument/2006/relationships/image" Target="../media/image146.emf"/><Relationship Id="rId5" Type="http://schemas.openxmlformats.org/officeDocument/2006/relationships/image" Target="../media/image145.emf"/><Relationship Id="rId4" Type="http://schemas.openxmlformats.org/officeDocument/2006/relationships/image" Target="../media/image144.emf"/></Relationships>
</file>

<file path=ppt/drawings/_rels/vmlDrawing21.vml.rels><?xml version="1.0" encoding="UTF-8" standalone="yes"?>
<Relationships xmlns="http://schemas.openxmlformats.org/package/2006/relationships"><Relationship Id="rId8" Type="http://schemas.openxmlformats.org/officeDocument/2006/relationships/image" Target="../media/image155.emf"/><Relationship Id="rId3" Type="http://schemas.openxmlformats.org/officeDocument/2006/relationships/image" Target="../media/image150.emf"/><Relationship Id="rId7" Type="http://schemas.openxmlformats.org/officeDocument/2006/relationships/image" Target="../media/image154.emf"/><Relationship Id="rId2" Type="http://schemas.openxmlformats.org/officeDocument/2006/relationships/image" Target="../media/image149.emf"/><Relationship Id="rId1" Type="http://schemas.openxmlformats.org/officeDocument/2006/relationships/image" Target="../media/image148.emf"/><Relationship Id="rId6" Type="http://schemas.openxmlformats.org/officeDocument/2006/relationships/image" Target="../media/image153.emf"/><Relationship Id="rId11" Type="http://schemas.openxmlformats.org/officeDocument/2006/relationships/image" Target="../media/image158.emf"/><Relationship Id="rId5" Type="http://schemas.openxmlformats.org/officeDocument/2006/relationships/image" Target="../media/image152.emf"/><Relationship Id="rId10" Type="http://schemas.openxmlformats.org/officeDocument/2006/relationships/image" Target="../media/image157.emf"/><Relationship Id="rId4" Type="http://schemas.openxmlformats.org/officeDocument/2006/relationships/image" Target="../media/image151.emf"/><Relationship Id="rId9" Type="http://schemas.openxmlformats.org/officeDocument/2006/relationships/image" Target="../media/image156.emf"/></Relationships>
</file>

<file path=ppt/drawings/_rels/vmlDrawing22.vml.rels><?xml version="1.0" encoding="UTF-8" standalone="yes"?>
<Relationships xmlns="http://schemas.openxmlformats.org/package/2006/relationships"><Relationship Id="rId8" Type="http://schemas.openxmlformats.org/officeDocument/2006/relationships/image" Target="../media/image167.emf"/><Relationship Id="rId3" Type="http://schemas.openxmlformats.org/officeDocument/2006/relationships/image" Target="../media/image162.emf"/><Relationship Id="rId7" Type="http://schemas.openxmlformats.org/officeDocument/2006/relationships/image" Target="../media/image166.emf"/><Relationship Id="rId2" Type="http://schemas.openxmlformats.org/officeDocument/2006/relationships/image" Target="../media/image161.emf"/><Relationship Id="rId1" Type="http://schemas.openxmlformats.org/officeDocument/2006/relationships/image" Target="../media/image160.emf"/><Relationship Id="rId6" Type="http://schemas.openxmlformats.org/officeDocument/2006/relationships/image" Target="../media/image165.emf"/><Relationship Id="rId5" Type="http://schemas.openxmlformats.org/officeDocument/2006/relationships/image" Target="../media/image164.emf"/><Relationship Id="rId4" Type="http://schemas.openxmlformats.org/officeDocument/2006/relationships/image" Target="../media/image163.emf"/></Relationships>
</file>

<file path=ppt/drawings/_rels/vmlDrawing23.vml.rels><?xml version="1.0" encoding="UTF-8" standalone="yes"?>
<Relationships xmlns="http://schemas.openxmlformats.org/package/2006/relationships"><Relationship Id="rId8" Type="http://schemas.openxmlformats.org/officeDocument/2006/relationships/image" Target="../media/image176.emf"/><Relationship Id="rId3" Type="http://schemas.openxmlformats.org/officeDocument/2006/relationships/image" Target="../media/image171.emf"/><Relationship Id="rId7" Type="http://schemas.openxmlformats.org/officeDocument/2006/relationships/image" Target="../media/image175.emf"/><Relationship Id="rId2" Type="http://schemas.openxmlformats.org/officeDocument/2006/relationships/image" Target="../media/image170.emf"/><Relationship Id="rId1" Type="http://schemas.openxmlformats.org/officeDocument/2006/relationships/image" Target="../media/image169.emf"/><Relationship Id="rId6" Type="http://schemas.openxmlformats.org/officeDocument/2006/relationships/image" Target="../media/image174.emf"/><Relationship Id="rId5" Type="http://schemas.openxmlformats.org/officeDocument/2006/relationships/image" Target="../media/image173.emf"/><Relationship Id="rId4" Type="http://schemas.openxmlformats.org/officeDocument/2006/relationships/image" Target="../media/image172.emf"/></Relationships>
</file>

<file path=ppt/drawings/_rels/vmlDrawing24.vml.rels><?xml version="1.0" encoding="UTF-8" standalone="yes"?>
<Relationships xmlns="http://schemas.openxmlformats.org/package/2006/relationships"><Relationship Id="rId2" Type="http://schemas.openxmlformats.org/officeDocument/2006/relationships/image" Target="../media/image178.emf"/><Relationship Id="rId1" Type="http://schemas.openxmlformats.org/officeDocument/2006/relationships/image" Target="../media/image177.emf"/></Relationships>
</file>

<file path=ppt/drawings/_rels/vmlDrawing25.vml.rels><?xml version="1.0" encoding="UTF-8" standalone="yes"?>
<Relationships xmlns="http://schemas.openxmlformats.org/package/2006/relationships"><Relationship Id="rId3" Type="http://schemas.openxmlformats.org/officeDocument/2006/relationships/image" Target="../media/image181.emf"/><Relationship Id="rId7" Type="http://schemas.openxmlformats.org/officeDocument/2006/relationships/image" Target="../media/image185.emf"/><Relationship Id="rId2" Type="http://schemas.openxmlformats.org/officeDocument/2006/relationships/image" Target="../media/image180.emf"/><Relationship Id="rId1" Type="http://schemas.openxmlformats.org/officeDocument/2006/relationships/image" Target="../media/image179.emf"/><Relationship Id="rId6" Type="http://schemas.openxmlformats.org/officeDocument/2006/relationships/image" Target="../media/image184.emf"/><Relationship Id="rId5" Type="http://schemas.openxmlformats.org/officeDocument/2006/relationships/image" Target="../media/image183.emf"/><Relationship Id="rId4" Type="http://schemas.openxmlformats.org/officeDocument/2006/relationships/image" Target="../media/image182.emf"/></Relationships>
</file>

<file path=ppt/drawings/_rels/vmlDrawing26.vml.rels><?xml version="1.0" encoding="UTF-8" standalone="yes"?>
<Relationships xmlns="http://schemas.openxmlformats.org/package/2006/relationships"><Relationship Id="rId8" Type="http://schemas.openxmlformats.org/officeDocument/2006/relationships/image" Target="../media/image194.emf"/><Relationship Id="rId3" Type="http://schemas.openxmlformats.org/officeDocument/2006/relationships/image" Target="../media/image189.emf"/><Relationship Id="rId7" Type="http://schemas.openxmlformats.org/officeDocument/2006/relationships/image" Target="../media/image193.emf"/><Relationship Id="rId12" Type="http://schemas.openxmlformats.org/officeDocument/2006/relationships/image" Target="../media/image198.emf"/><Relationship Id="rId2" Type="http://schemas.openxmlformats.org/officeDocument/2006/relationships/image" Target="../media/image188.emf"/><Relationship Id="rId1" Type="http://schemas.openxmlformats.org/officeDocument/2006/relationships/image" Target="../media/image187.emf"/><Relationship Id="rId6" Type="http://schemas.openxmlformats.org/officeDocument/2006/relationships/image" Target="../media/image192.emf"/><Relationship Id="rId11" Type="http://schemas.openxmlformats.org/officeDocument/2006/relationships/image" Target="../media/image197.emf"/><Relationship Id="rId5" Type="http://schemas.openxmlformats.org/officeDocument/2006/relationships/image" Target="../media/image191.emf"/><Relationship Id="rId10" Type="http://schemas.openxmlformats.org/officeDocument/2006/relationships/image" Target="../media/image196.emf"/><Relationship Id="rId4" Type="http://schemas.openxmlformats.org/officeDocument/2006/relationships/image" Target="../media/image190.emf"/><Relationship Id="rId9" Type="http://schemas.openxmlformats.org/officeDocument/2006/relationships/image" Target="../media/image195.emf"/></Relationships>
</file>

<file path=ppt/drawings/_rels/vmlDrawing27.vml.rels><?xml version="1.0" encoding="UTF-8" standalone="yes"?>
<Relationships xmlns="http://schemas.openxmlformats.org/package/2006/relationships"><Relationship Id="rId3" Type="http://schemas.openxmlformats.org/officeDocument/2006/relationships/image" Target="../media/image181.emf"/><Relationship Id="rId7" Type="http://schemas.openxmlformats.org/officeDocument/2006/relationships/image" Target="../media/image201.emf"/><Relationship Id="rId2" Type="http://schemas.openxmlformats.org/officeDocument/2006/relationships/image" Target="../media/image180.emf"/><Relationship Id="rId1" Type="http://schemas.openxmlformats.org/officeDocument/2006/relationships/image" Target="../media/image179.emf"/><Relationship Id="rId6" Type="http://schemas.openxmlformats.org/officeDocument/2006/relationships/image" Target="../media/image200.emf"/><Relationship Id="rId5" Type="http://schemas.openxmlformats.org/officeDocument/2006/relationships/image" Target="../media/image199.emf"/><Relationship Id="rId4" Type="http://schemas.openxmlformats.org/officeDocument/2006/relationships/image" Target="../media/image182.emf"/></Relationships>
</file>

<file path=ppt/drawings/_rels/vmlDrawing28.vml.rels><?xml version="1.0" encoding="UTF-8" standalone="yes"?>
<Relationships xmlns="http://schemas.openxmlformats.org/package/2006/relationships"><Relationship Id="rId8" Type="http://schemas.openxmlformats.org/officeDocument/2006/relationships/image" Target="../media/image210.emf"/><Relationship Id="rId3" Type="http://schemas.openxmlformats.org/officeDocument/2006/relationships/image" Target="../media/image205.emf"/><Relationship Id="rId7" Type="http://schemas.openxmlformats.org/officeDocument/2006/relationships/image" Target="../media/image209.emf"/><Relationship Id="rId12" Type="http://schemas.openxmlformats.org/officeDocument/2006/relationships/image" Target="../media/image214.emf"/><Relationship Id="rId2" Type="http://schemas.openxmlformats.org/officeDocument/2006/relationships/image" Target="../media/image204.emf"/><Relationship Id="rId1" Type="http://schemas.openxmlformats.org/officeDocument/2006/relationships/image" Target="../media/image203.emf"/><Relationship Id="rId6" Type="http://schemas.openxmlformats.org/officeDocument/2006/relationships/image" Target="../media/image208.emf"/><Relationship Id="rId11" Type="http://schemas.openxmlformats.org/officeDocument/2006/relationships/image" Target="../media/image213.emf"/><Relationship Id="rId5" Type="http://schemas.openxmlformats.org/officeDocument/2006/relationships/image" Target="../media/image207.emf"/><Relationship Id="rId10" Type="http://schemas.openxmlformats.org/officeDocument/2006/relationships/image" Target="../media/image212.emf"/><Relationship Id="rId4" Type="http://schemas.openxmlformats.org/officeDocument/2006/relationships/image" Target="../media/image206.emf"/><Relationship Id="rId9" Type="http://schemas.openxmlformats.org/officeDocument/2006/relationships/image" Target="../media/image211.emf"/></Relationships>
</file>

<file path=ppt/drawings/_rels/vmlDrawing29.vml.rels><?xml version="1.0" encoding="UTF-8" standalone="yes"?>
<Relationships xmlns="http://schemas.openxmlformats.org/package/2006/relationships"><Relationship Id="rId8" Type="http://schemas.openxmlformats.org/officeDocument/2006/relationships/image" Target="../media/image223.emf"/><Relationship Id="rId3" Type="http://schemas.openxmlformats.org/officeDocument/2006/relationships/image" Target="../media/image218.wmf"/><Relationship Id="rId7" Type="http://schemas.openxmlformats.org/officeDocument/2006/relationships/image" Target="../media/image222.emf"/><Relationship Id="rId2" Type="http://schemas.openxmlformats.org/officeDocument/2006/relationships/image" Target="../media/image217.emf"/><Relationship Id="rId1" Type="http://schemas.openxmlformats.org/officeDocument/2006/relationships/image" Target="../media/image216.emf"/><Relationship Id="rId6" Type="http://schemas.openxmlformats.org/officeDocument/2006/relationships/image" Target="../media/image221.wmf"/><Relationship Id="rId5" Type="http://schemas.openxmlformats.org/officeDocument/2006/relationships/image" Target="../media/image220.emf"/><Relationship Id="rId4" Type="http://schemas.openxmlformats.org/officeDocument/2006/relationships/image" Target="../media/image219.emf"/><Relationship Id="rId9" Type="http://schemas.openxmlformats.org/officeDocument/2006/relationships/image" Target="../media/image224.emf"/></Relationships>
</file>

<file path=ppt/drawings/_rels/vmlDrawing30.vml.rels><?xml version="1.0" encoding="UTF-8" standalone="yes"?>
<Relationships xmlns="http://schemas.openxmlformats.org/package/2006/relationships"><Relationship Id="rId8" Type="http://schemas.openxmlformats.org/officeDocument/2006/relationships/image" Target="../media/image233.emf"/><Relationship Id="rId3" Type="http://schemas.openxmlformats.org/officeDocument/2006/relationships/image" Target="../media/image228.emf"/><Relationship Id="rId7" Type="http://schemas.openxmlformats.org/officeDocument/2006/relationships/image" Target="../media/image232.emf"/><Relationship Id="rId2" Type="http://schemas.openxmlformats.org/officeDocument/2006/relationships/image" Target="../media/image227.emf"/><Relationship Id="rId1" Type="http://schemas.openxmlformats.org/officeDocument/2006/relationships/image" Target="../media/image226.emf"/><Relationship Id="rId6" Type="http://schemas.openxmlformats.org/officeDocument/2006/relationships/image" Target="../media/image231.emf"/><Relationship Id="rId5" Type="http://schemas.openxmlformats.org/officeDocument/2006/relationships/image" Target="../media/image230.emf"/><Relationship Id="rId4" Type="http://schemas.openxmlformats.org/officeDocument/2006/relationships/image" Target="../media/image229.emf"/><Relationship Id="rId9" Type="http://schemas.openxmlformats.org/officeDocument/2006/relationships/image" Target="../media/image234.wmf"/></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236.emf"/></Relationships>
</file>

<file path=ppt/drawings/_rels/vmlDrawing32.vml.rels><?xml version="1.0" encoding="UTF-8" standalone="yes"?>
<Relationships xmlns="http://schemas.openxmlformats.org/package/2006/relationships"><Relationship Id="rId2" Type="http://schemas.openxmlformats.org/officeDocument/2006/relationships/image" Target="../media/image239.emf"/><Relationship Id="rId1" Type="http://schemas.openxmlformats.org/officeDocument/2006/relationships/image" Target="../media/image238.wmf"/></Relationships>
</file>

<file path=ppt/drawings/_rels/vmlDrawing33.vml.rels><?xml version="1.0" encoding="UTF-8" standalone="yes"?>
<Relationships xmlns="http://schemas.openxmlformats.org/package/2006/relationships"><Relationship Id="rId2" Type="http://schemas.openxmlformats.org/officeDocument/2006/relationships/image" Target="../media/image241.wmf"/><Relationship Id="rId1" Type="http://schemas.openxmlformats.org/officeDocument/2006/relationships/image" Target="../media/image240.wmf"/></Relationships>
</file>

<file path=ppt/drawings/_rels/vmlDrawing34.vml.rels><?xml version="1.0" encoding="UTF-8" standalone="yes"?>
<Relationships xmlns="http://schemas.openxmlformats.org/package/2006/relationships"><Relationship Id="rId3" Type="http://schemas.openxmlformats.org/officeDocument/2006/relationships/image" Target="../media/image244.wmf"/><Relationship Id="rId2" Type="http://schemas.openxmlformats.org/officeDocument/2006/relationships/image" Target="../media/image243.wmf"/><Relationship Id="rId1" Type="http://schemas.openxmlformats.org/officeDocument/2006/relationships/image" Target="../media/image242.wmf"/><Relationship Id="rId4" Type="http://schemas.openxmlformats.org/officeDocument/2006/relationships/image" Target="../media/image245.wmf"/></Relationships>
</file>

<file path=ppt/drawings/_rels/vmlDrawing35.vml.rels><?xml version="1.0" encoding="UTF-8" standalone="yes"?>
<Relationships xmlns="http://schemas.openxmlformats.org/package/2006/relationships"><Relationship Id="rId3" Type="http://schemas.openxmlformats.org/officeDocument/2006/relationships/image" Target="../media/image249.emf"/><Relationship Id="rId2" Type="http://schemas.openxmlformats.org/officeDocument/2006/relationships/image" Target="../media/image248.wmf"/><Relationship Id="rId1" Type="http://schemas.openxmlformats.org/officeDocument/2006/relationships/image" Target="../media/image247.wmf"/><Relationship Id="rId5" Type="http://schemas.openxmlformats.org/officeDocument/2006/relationships/image" Target="../media/image251.wmf"/><Relationship Id="rId4" Type="http://schemas.openxmlformats.org/officeDocument/2006/relationships/image" Target="../media/image250.emf"/></Relationships>
</file>

<file path=ppt/drawings/_rels/vmlDrawing36.vml.rels><?xml version="1.0" encoding="UTF-8" standalone="yes"?>
<Relationships xmlns="http://schemas.openxmlformats.org/package/2006/relationships"><Relationship Id="rId3" Type="http://schemas.openxmlformats.org/officeDocument/2006/relationships/image" Target="../media/image254.wmf"/><Relationship Id="rId2" Type="http://schemas.openxmlformats.org/officeDocument/2006/relationships/image" Target="../media/image253.wmf"/><Relationship Id="rId1" Type="http://schemas.openxmlformats.org/officeDocument/2006/relationships/image" Target="../media/image252.wmf"/><Relationship Id="rId5" Type="http://schemas.openxmlformats.org/officeDocument/2006/relationships/image" Target="../media/image256.wmf"/><Relationship Id="rId4" Type="http://schemas.openxmlformats.org/officeDocument/2006/relationships/image" Target="../media/image255.wmf"/></Relationships>
</file>

<file path=ppt/drawings/_rels/vmlDrawing37.vml.rels><?xml version="1.0" encoding="UTF-8" standalone="yes"?>
<Relationships xmlns="http://schemas.openxmlformats.org/package/2006/relationships"><Relationship Id="rId3" Type="http://schemas.openxmlformats.org/officeDocument/2006/relationships/image" Target="../media/image259.wmf"/><Relationship Id="rId2" Type="http://schemas.openxmlformats.org/officeDocument/2006/relationships/image" Target="../media/image258.wmf"/><Relationship Id="rId1" Type="http://schemas.openxmlformats.org/officeDocument/2006/relationships/image" Target="../media/image257.wmf"/><Relationship Id="rId5" Type="http://schemas.openxmlformats.org/officeDocument/2006/relationships/image" Target="../media/image261.wmf"/><Relationship Id="rId4" Type="http://schemas.openxmlformats.org/officeDocument/2006/relationships/image" Target="../media/image260.wmf"/></Relationships>
</file>

<file path=ppt/drawings/_rels/vmlDrawing38.vml.rels><?xml version="1.0" encoding="UTF-8" standalone="yes"?>
<Relationships xmlns="http://schemas.openxmlformats.org/package/2006/relationships"><Relationship Id="rId8" Type="http://schemas.openxmlformats.org/officeDocument/2006/relationships/image" Target="../media/image270.wmf"/><Relationship Id="rId3" Type="http://schemas.openxmlformats.org/officeDocument/2006/relationships/image" Target="../media/image265.wmf"/><Relationship Id="rId7" Type="http://schemas.openxmlformats.org/officeDocument/2006/relationships/image" Target="../media/image269.wmf"/><Relationship Id="rId2" Type="http://schemas.openxmlformats.org/officeDocument/2006/relationships/image" Target="../media/image264.wmf"/><Relationship Id="rId1" Type="http://schemas.openxmlformats.org/officeDocument/2006/relationships/image" Target="../media/image263.wmf"/><Relationship Id="rId6" Type="http://schemas.openxmlformats.org/officeDocument/2006/relationships/image" Target="../media/image268.wmf"/><Relationship Id="rId5" Type="http://schemas.openxmlformats.org/officeDocument/2006/relationships/image" Target="../media/image267.wmf"/><Relationship Id="rId4" Type="http://schemas.openxmlformats.org/officeDocument/2006/relationships/image" Target="../media/image266.wmf"/></Relationships>
</file>

<file path=ppt/drawings/_rels/vmlDrawing39.vml.rels><?xml version="1.0" encoding="UTF-8" standalone="yes"?>
<Relationships xmlns="http://schemas.openxmlformats.org/package/2006/relationships"><Relationship Id="rId8" Type="http://schemas.openxmlformats.org/officeDocument/2006/relationships/image" Target="../media/image278.wmf"/><Relationship Id="rId3" Type="http://schemas.openxmlformats.org/officeDocument/2006/relationships/image" Target="../media/image273.wmf"/><Relationship Id="rId7" Type="http://schemas.openxmlformats.org/officeDocument/2006/relationships/image" Target="../media/image277.wmf"/><Relationship Id="rId2" Type="http://schemas.openxmlformats.org/officeDocument/2006/relationships/image" Target="../media/image272.wmf"/><Relationship Id="rId1" Type="http://schemas.openxmlformats.org/officeDocument/2006/relationships/image" Target="../media/image271.wmf"/><Relationship Id="rId6" Type="http://schemas.openxmlformats.org/officeDocument/2006/relationships/image" Target="../media/image276.wmf"/><Relationship Id="rId5" Type="http://schemas.openxmlformats.org/officeDocument/2006/relationships/image" Target="../media/image275.wmf"/><Relationship Id="rId4" Type="http://schemas.openxmlformats.org/officeDocument/2006/relationships/image" Target="../media/image274.wmf"/></Relationships>
</file>

<file path=ppt/drawings/_rels/vmlDrawing40.vml.rels><?xml version="1.0" encoding="UTF-8" standalone="yes"?>
<Relationships xmlns="http://schemas.openxmlformats.org/package/2006/relationships"><Relationship Id="rId3" Type="http://schemas.openxmlformats.org/officeDocument/2006/relationships/image" Target="../media/image281.emf"/><Relationship Id="rId2" Type="http://schemas.openxmlformats.org/officeDocument/2006/relationships/image" Target="../media/image280.emf"/><Relationship Id="rId1" Type="http://schemas.openxmlformats.org/officeDocument/2006/relationships/image" Target="../media/image279.emf"/></Relationships>
</file>

<file path=ppt/drawings/_rels/vmlDrawing41.vml.rels><?xml version="1.0" encoding="UTF-8" standalone="yes"?>
<Relationships xmlns="http://schemas.openxmlformats.org/package/2006/relationships"><Relationship Id="rId3" Type="http://schemas.openxmlformats.org/officeDocument/2006/relationships/image" Target="../media/image285.emf"/><Relationship Id="rId2" Type="http://schemas.openxmlformats.org/officeDocument/2006/relationships/image" Target="../media/image284.emf"/><Relationship Id="rId1" Type="http://schemas.openxmlformats.org/officeDocument/2006/relationships/image" Target="../media/image283.emf"/><Relationship Id="rId6" Type="http://schemas.openxmlformats.org/officeDocument/2006/relationships/image" Target="../media/image288.wmf"/><Relationship Id="rId5" Type="http://schemas.openxmlformats.org/officeDocument/2006/relationships/image" Target="../media/image287.wmf"/><Relationship Id="rId4" Type="http://schemas.openxmlformats.org/officeDocument/2006/relationships/image" Target="../media/image286.emf"/></Relationships>
</file>

<file path=ppt/drawings/_rels/vmlDrawing42.vml.rels><?xml version="1.0" encoding="UTF-8" standalone="yes"?>
<Relationships xmlns="http://schemas.openxmlformats.org/package/2006/relationships"><Relationship Id="rId3" Type="http://schemas.openxmlformats.org/officeDocument/2006/relationships/image" Target="../media/image291.wmf"/><Relationship Id="rId2" Type="http://schemas.openxmlformats.org/officeDocument/2006/relationships/image" Target="../media/image290.wmf"/><Relationship Id="rId1" Type="http://schemas.openxmlformats.org/officeDocument/2006/relationships/image" Target="../media/image289.emf"/><Relationship Id="rId4" Type="http://schemas.openxmlformats.org/officeDocument/2006/relationships/image" Target="../media/image292.wmf"/></Relationships>
</file>

<file path=ppt/drawings/_rels/vmlDrawing43.vml.rels><?xml version="1.0" encoding="UTF-8" standalone="yes"?>
<Relationships xmlns="http://schemas.openxmlformats.org/package/2006/relationships"><Relationship Id="rId2" Type="http://schemas.openxmlformats.org/officeDocument/2006/relationships/image" Target="../media/image294.wmf"/><Relationship Id="rId1" Type="http://schemas.openxmlformats.org/officeDocument/2006/relationships/image" Target="../media/image293.wmf"/></Relationships>
</file>

<file path=ppt/drawings/_rels/vmlDrawing44.vml.rels><?xml version="1.0" encoding="UTF-8" standalone="yes"?>
<Relationships xmlns="http://schemas.openxmlformats.org/package/2006/relationships"><Relationship Id="rId8" Type="http://schemas.openxmlformats.org/officeDocument/2006/relationships/image" Target="../media/image302.wmf"/><Relationship Id="rId3" Type="http://schemas.openxmlformats.org/officeDocument/2006/relationships/image" Target="../media/image297.wmf"/><Relationship Id="rId7" Type="http://schemas.openxmlformats.org/officeDocument/2006/relationships/image" Target="../media/image301.wmf"/><Relationship Id="rId2" Type="http://schemas.openxmlformats.org/officeDocument/2006/relationships/image" Target="../media/image296.wmf"/><Relationship Id="rId1" Type="http://schemas.openxmlformats.org/officeDocument/2006/relationships/image" Target="../media/image295.emf"/><Relationship Id="rId6" Type="http://schemas.openxmlformats.org/officeDocument/2006/relationships/image" Target="../media/image300.wmf"/><Relationship Id="rId5" Type="http://schemas.openxmlformats.org/officeDocument/2006/relationships/image" Target="../media/image299.wmf"/><Relationship Id="rId4" Type="http://schemas.openxmlformats.org/officeDocument/2006/relationships/image" Target="../media/image298.wmf"/><Relationship Id="rId9" Type="http://schemas.openxmlformats.org/officeDocument/2006/relationships/image" Target="../media/image303.wmf"/></Relationships>
</file>

<file path=ppt/drawings/_rels/vmlDrawing45.vml.rels><?xml version="1.0" encoding="UTF-8" standalone="yes"?>
<Relationships xmlns="http://schemas.openxmlformats.org/package/2006/relationships"><Relationship Id="rId3" Type="http://schemas.openxmlformats.org/officeDocument/2006/relationships/image" Target="../media/image305.wmf"/><Relationship Id="rId2" Type="http://schemas.openxmlformats.org/officeDocument/2006/relationships/image" Target="../media/image304.wmf"/><Relationship Id="rId1" Type="http://schemas.openxmlformats.org/officeDocument/2006/relationships/image" Target="../media/image295.emf"/><Relationship Id="rId6" Type="http://schemas.openxmlformats.org/officeDocument/2006/relationships/image" Target="../media/image308.wmf"/><Relationship Id="rId5" Type="http://schemas.openxmlformats.org/officeDocument/2006/relationships/image" Target="../media/image307.wmf"/><Relationship Id="rId4" Type="http://schemas.openxmlformats.org/officeDocument/2006/relationships/image" Target="../media/image306.wmf"/></Relationships>
</file>

<file path=ppt/drawings/_rels/vmlDrawing46.vml.rels><?xml version="1.0" encoding="UTF-8" standalone="yes"?>
<Relationships xmlns="http://schemas.openxmlformats.org/package/2006/relationships"><Relationship Id="rId3" Type="http://schemas.openxmlformats.org/officeDocument/2006/relationships/image" Target="../media/image312.emf"/><Relationship Id="rId2" Type="http://schemas.openxmlformats.org/officeDocument/2006/relationships/image" Target="../media/image311.emf"/><Relationship Id="rId1" Type="http://schemas.openxmlformats.org/officeDocument/2006/relationships/image" Target="../media/image310.emf"/><Relationship Id="rId4" Type="http://schemas.openxmlformats.org/officeDocument/2006/relationships/image" Target="../media/image313.emf"/></Relationships>
</file>

<file path=ppt/drawings/_rels/vmlDrawing47.vml.rels><?xml version="1.0" encoding="UTF-8" standalone="yes"?>
<Relationships xmlns="http://schemas.openxmlformats.org/package/2006/relationships"><Relationship Id="rId3" Type="http://schemas.openxmlformats.org/officeDocument/2006/relationships/image" Target="../media/image316.emf"/><Relationship Id="rId2" Type="http://schemas.openxmlformats.org/officeDocument/2006/relationships/image" Target="../media/image315.emf"/><Relationship Id="rId1" Type="http://schemas.openxmlformats.org/officeDocument/2006/relationships/image" Target="../media/image314.emf"/><Relationship Id="rId4" Type="http://schemas.openxmlformats.org/officeDocument/2006/relationships/image" Target="../media/image317.emf"/></Relationships>
</file>

<file path=ppt/drawings/_rels/vmlDrawing48.vml.rels><?xml version="1.0" encoding="UTF-8" standalone="yes"?>
<Relationships xmlns="http://schemas.openxmlformats.org/package/2006/relationships"><Relationship Id="rId3" Type="http://schemas.openxmlformats.org/officeDocument/2006/relationships/image" Target="../media/image320.emf"/><Relationship Id="rId2" Type="http://schemas.openxmlformats.org/officeDocument/2006/relationships/image" Target="../media/image319.emf"/><Relationship Id="rId1" Type="http://schemas.openxmlformats.org/officeDocument/2006/relationships/image" Target="../media/image318.emf"/><Relationship Id="rId4" Type="http://schemas.openxmlformats.org/officeDocument/2006/relationships/image" Target="../media/image321.emf"/></Relationships>
</file>

<file path=ppt/drawings/_rels/vmlDrawing49.vml.rels><?xml version="1.0" encoding="UTF-8" standalone="yes"?>
<Relationships xmlns="http://schemas.openxmlformats.org/package/2006/relationships"><Relationship Id="rId3" Type="http://schemas.openxmlformats.org/officeDocument/2006/relationships/image" Target="../media/image324.emf"/><Relationship Id="rId2" Type="http://schemas.openxmlformats.org/officeDocument/2006/relationships/image" Target="../media/image323.emf"/><Relationship Id="rId1" Type="http://schemas.openxmlformats.org/officeDocument/2006/relationships/image" Target="../media/image322.emf"/><Relationship Id="rId4" Type="http://schemas.openxmlformats.org/officeDocument/2006/relationships/image" Target="../media/image325.emf"/></Relationships>
</file>

<file path=ppt/drawings/_rels/vmlDrawing50.vml.rels><?xml version="1.0" encoding="UTF-8" standalone="yes"?>
<Relationships xmlns="http://schemas.openxmlformats.org/package/2006/relationships"><Relationship Id="rId1" Type="http://schemas.openxmlformats.org/officeDocument/2006/relationships/image" Target="../media/image327.emf"/></Relationships>
</file>

<file path=ppt/drawings/_rels/vmlDrawing51.vml.rels><?xml version="1.0" encoding="UTF-8" standalone="yes"?>
<Relationships xmlns="http://schemas.openxmlformats.org/package/2006/relationships"><Relationship Id="rId3" Type="http://schemas.openxmlformats.org/officeDocument/2006/relationships/image" Target="../media/image330.emf"/><Relationship Id="rId2" Type="http://schemas.openxmlformats.org/officeDocument/2006/relationships/image" Target="../media/image329.emf"/><Relationship Id="rId1" Type="http://schemas.openxmlformats.org/officeDocument/2006/relationships/image" Target="../media/image328.emf"/><Relationship Id="rId6" Type="http://schemas.openxmlformats.org/officeDocument/2006/relationships/image" Target="../media/image333.emf"/><Relationship Id="rId5" Type="http://schemas.openxmlformats.org/officeDocument/2006/relationships/image" Target="../media/image332.emf"/><Relationship Id="rId4" Type="http://schemas.openxmlformats.org/officeDocument/2006/relationships/image" Target="../media/image331.emf"/></Relationships>
</file>

<file path=ppt/drawings/_rels/vmlDrawing52.vml.rels><?xml version="1.0" encoding="UTF-8" standalone="yes"?>
<Relationships xmlns="http://schemas.openxmlformats.org/package/2006/relationships"><Relationship Id="rId3" Type="http://schemas.openxmlformats.org/officeDocument/2006/relationships/image" Target="../media/image337.wmf"/><Relationship Id="rId2" Type="http://schemas.openxmlformats.org/officeDocument/2006/relationships/image" Target="../media/image336.wmf"/><Relationship Id="rId1" Type="http://schemas.openxmlformats.org/officeDocument/2006/relationships/image" Target="../media/image335.wmf"/></Relationships>
</file>

<file path=ppt/drawings/_rels/vmlDrawing53.vml.rels><?xml version="1.0" encoding="UTF-8" standalone="yes"?>
<Relationships xmlns="http://schemas.openxmlformats.org/package/2006/relationships"><Relationship Id="rId3" Type="http://schemas.openxmlformats.org/officeDocument/2006/relationships/image" Target="../media/image341.wmf"/><Relationship Id="rId2" Type="http://schemas.openxmlformats.org/officeDocument/2006/relationships/image" Target="../media/image340.wmf"/><Relationship Id="rId1" Type="http://schemas.openxmlformats.org/officeDocument/2006/relationships/image" Target="../media/image339.emf"/><Relationship Id="rId5" Type="http://schemas.openxmlformats.org/officeDocument/2006/relationships/image" Target="../media/image343.wmf"/><Relationship Id="rId4" Type="http://schemas.openxmlformats.org/officeDocument/2006/relationships/image" Target="../media/image342.wmf"/></Relationships>
</file>

<file path=ppt/drawings/_rels/vmlDrawing54.vml.rels><?xml version="1.0" encoding="UTF-8" standalone="yes"?>
<Relationships xmlns="http://schemas.openxmlformats.org/package/2006/relationships"><Relationship Id="rId2" Type="http://schemas.openxmlformats.org/officeDocument/2006/relationships/image" Target="../media/image346.wmf"/><Relationship Id="rId1" Type="http://schemas.openxmlformats.org/officeDocument/2006/relationships/image" Target="../media/image345.wmf"/></Relationships>
</file>

<file path=ppt/drawings/_rels/vmlDrawing55.vml.rels><?xml version="1.0" encoding="UTF-8" standalone="yes"?>
<Relationships xmlns="http://schemas.openxmlformats.org/package/2006/relationships"><Relationship Id="rId3" Type="http://schemas.openxmlformats.org/officeDocument/2006/relationships/image" Target="../media/image349.wmf"/><Relationship Id="rId2" Type="http://schemas.openxmlformats.org/officeDocument/2006/relationships/image" Target="../media/image348.emf"/><Relationship Id="rId1" Type="http://schemas.openxmlformats.org/officeDocument/2006/relationships/image" Target="../media/image347.emf"/><Relationship Id="rId5" Type="http://schemas.openxmlformats.org/officeDocument/2006/relationships/image" Target="../media/image351.wmf"/><Relationship Id="rId4" Type="http://schemas.openxmlformats.org/officeDocument/2006/relationships/image" Target="../media/image350.wmf"/></Relationships>
</file>

<file path=ppt/drawings/_rels/vmlDrawing56.vml.rels><?xml version="1.0" encoding="UTF-8" standalone="yes"?>
<Relationships xmlns="http://schemas.openxmlformats.org/package/2006/relationships"><Relationship Id="rId2" Type="http://schemas.openxmlformats.org/officeDocument/2006/relationships/image" Target="../media/image355.emf"/><Relationship Id="rId1" Type="http://schemas.openxmlformats.org/officeDocument/2006/relationships/image" Target="../media/image354.emf"/></Relationships>
</file>

<file path=ppt/drawings/_rels/vmlDrawing57.vml.rels><?xml version="1.0" encoding="UTF-8" standalone="yes"?>
<Relationships xmlns="http://schemas.openxmlformats.org/package/2006/relationships"><Relationship Id="rId8" Type="http://schemas.openxmlformats.org/officeDocument/2006/relationships/image" Target="../media/image363.wmf"/><Relationship Id="rId3" Type="http://schemas.openxmlformats.org/officeDocument/2006/relationships/image" Target="../media/image358.wmf"/><Relationship Id="rId7" Type="http://schemas.openxmlformats.org/officeDocument/2006/relationships/image" Target="../media/image362.wmf"/><Relationship Id="rId2" Type="http://schemas.openxmlformats.org/officeDocument/2006/relationships/image" Target="../media/image357.emf"/><Relationship Id="rId1" Type="http://schemas.openxmlformats.org/officeDocument/2006/relationships/image" Target="../media/image356.png"/><Relationship Id="rId6" Type="http://schemas.openxmlformats.org/officeDocument/2006/relationships/image" Target="../media/image361.wmf"/><Relationship Id="rId11" Type="http://schemas.openxmlformats.org/officeDocument/2006/relationships/image" Target="../media/image366.wmf"/><Relationship Id="rId5" Type="http://schemas.openxmlformats.org/officeDocument/2006/relationships/image" Target="../media/image360.wmf"/><Relationship Id="rId10" Type="http://schemas.openxmlformats.org/officeDocument/2006/relationships/image" Target="../media/image365.wmf"/><Relationship Id="rId4" Type="http://schemas.openxmlformats.org/officeDocument/2006/relationships/image" Target="../media/image359.wmf"/><Relationship Id="rId9" Type="http://schemas.openxmlformats.org/officeDocument/2006/relationships/image" Target="../media/image364.wmf"/></Relationships>
</file>

<file path=ppt/drawings/_rels/vmlDrawing58.vml.rels><?xml version="1.0" encoding="UTF-8" standalone="yes"?>
<Relationships xmlns="http://schemas.openxmlformats.org/package/2006/relationships"><Relationship Id="rId3" Type="http://schemas.openxmlformats.org/officeDocument/2006/relationships/image" Target="../media/image369.png"/><Relationship Id="rId2" Type="http://schemas.openxmlformats.org/officeDocument/2006/relationships/image" Target="../media/image368.wmf"/><Relationship Id="rId1" Type="http://schemas.openxmlformats.org/officeDocument/2006/relationships/image" Target="../media/image367.wmf"/></Relationships>
</file>

<file path=ppt/drawings/_rels/vmlDrawing59.vml.rels><?xml version="1.0" encoding="UTF-8" standalone="yes"?>
<Relationships xmlns="http://schemas.openxmlformats.org/package/2006/relationships"><Relationship Id="rId3" Type="http://schemas.openxmlformats.org/officeDocument/2006/relationships/image" Target="../media/image372.wmf"/><Relationship Id="rId2" Type="http://schemas.openxmlformats.org/officeDocument/2006/relationships/image" Target="../media/image371.wmf"/><Relationship Id="rId1" Type="http://schemas.openxmlformats.org/officeDocument/2006/relationships/image" Target="../media/image370.wmf"/><Relationship Id="rId4" Type="http://schemas.openxmlformats.org/officeDocument/2006/relationships/image" Target="../media/image373.wmf"/></Relationships>
</file>

<file path=ppt/drawings/_rels/vmlDrawing60.vml.rels><?xml version="1.0" encoding="UTF-8" standalone="yes"?>
<Relationships xmlns="http://schemas.openxmlformats.org/package/2006/relationships"><Relationship Id="rId3" Type="http://schemas.openxmlformats.org/officeDocument/2006/relationships/image" Target="../media/image377.wmf"/><Relationship Id="rId2" Type="http://schemas.openxmlformats.org/officeDocument/2006/relationships/image" Target="../media/image376.wmf"/><Relationship Id="rId1" Type="http://schemas.openxmlformats.org/officeDocument/2006/relationships/image" Target="../media/image375.wmf"/></Relationships>
</file>

<file path=ppt/drawings/_rels/vmlDrawing61.vml.rels><?xml version="1.0" encoding="UTF-8" standalone="yes"?>
<Relationships xmlns="http://schemas.openxmlformats.org/package/2006/relationships"><Relationship Id="rId3" Type="http://schemas.openxmlformats.org/officeDocument/2006/relationships/image" Target="../media/image380.wmf"/><Relationship Id="rId2" Type="http://schemas.openxmlformats.org/officeDocument/2006/relationships/image" Target="../media/image379.wmf"/><Relationship Id="rId1" Type="http://schemas.openxmlformats.org/officeDocument/2006/relationships/image" Target="../media/image378.wmf"/><Relationship Id="rId5" Type="http://schemas.openxmlformats.org/officeDocument/2006/relationships/image" Target="../media/image382.wmf"/><Relationship Id="rId4" Type="http://schemas.openxmlformats.org/officeDocument/2006/relationships/image" Target="../media/image381.wmf"/></Relationships>
</file>

<file path=ppt/drawings/_rels/vmlDrawing62.vml.rels><?xml version="1.0" encoding="UTF-8" standalone="yes"?>
<Relationships xmlns="http://schemas.openxmlformats.org/package/2006/relationships"><Relationship Id="rId3" Type="http://schemas.openxmlformats.org/officeDocument/2006/relationships/image" Target="../media/image386.wmf"/><Relationship Id="rId2" Type="http://schemas.openxmlformats.org/officeDocument/2006/relationships/image" Target="../media/image385.wmf"/><Relationship Id="rId1" Type="http://schemas.openxmlformats.org/officeDocument/2006/relationships/image" Target="../media/image384.wmf"/><Relationship Id="rId4" Type="http://schemas.openxmlformats.org/officeDocument/2006/relationships/image" Target="../media/image387.wmf"/></Relationships>
</file>

<file path=ppt/drawings/_rels/vmlDrawing63.vml.rels><?xml version="1.0" encoding="UTF-8" standalone="yes"?>
<Relationships xmlns="http://schemas.openxmlformats.org/package/2006/relationships"><Relationship Id="rId3" Type="http://schemas.openxmlformats.org/officeDocument/2006/relationships/image" Target="../media/image393.wmf"/><Relationship Id="rId2" Type="http://schemas.openxmlformats.org/officeDocument/2006/relationships/image" Target="../media/image392.wmf"/><Relationship Id="rId1" Type="http://schemas.openxmlformats.org/officeDocument/2006/relationships/image" Target="../media/image391.emf"/><Relationship Id="rId6" Type="http://schemas.openxmlformats.org/officeDocument/2006/relationships/image" Target="../media/image396.wmf"/><Relationship Id="rId5" Type="http://schemas.openxmlformats.org/officeDocument/2006/relationships/image" Target="../media/image395.wmf"/><Relationship Id="rId4" Type="http://schemas.openxmlformats.org/officeDocument/2006/relationships/image" Target="../media/image394.wmf"/></Relationships>
</file>

<file path=ppt/drawings/_rels/vmlDrawing64.vml.rels><?xml version="1.0" encoding="UTF-8" standalone="yes"?>
<Relationships xmlns="http://schemas.openxmlformats.org/package/2006/relationships"><Relationship Id="rId3" Type="http://schemas.openxmlformats.org/officeDocument/2006/relationships/image" Target="../media/image406.emf"/><Relationship Id="rId2" Type="http://schemas.openxmlformats.org/officeDocument/2006/relationships/image" Target="../media/image405.wmf"/><Relationship Id="rId1" Type="http://schemas.openxmlformats.org/officeDocument/2006/relationships/image" Target="../media/image404.wmf"/><Relationship Id="rId4" Type="http://schemas.openxmlformats.org/officeDocument/2006/relationships/image" Target="../media/image407.wmf"/></Relationships>
</file>

<file path=ppt/drawings/_rels/vmlDrawing65.vml.rels><?xml version="1.0" encoding="UTF-8" standalone="yes"?>
<Relationships xmlns="http://schemas.openxmlformats.org/package/2006/relationships"><Relationship Id="rId3" Type="http://schemas.openxmlformats.org/officeDocument/2006/relationships/image" Target="../media/image414.emf"/><Relationship Id="rId2" Type="http://schemas.openxmlformats.org/officeDocument/2006/relationships/image" Target="../media/image413.emf"/><Relationship Id="rId1" Type="http://schemas.openxmlformats.org/officeDocument/2006/relationships/image" Target="../media/image412.wmf"/></Relationships>
</file>

<file path=ppt/drawings/_rels/vmlDrawing66.vml.rels><?xml version="1.0" encoding="UTF-8" standalone="yes"?>
<Relationships xmlns="http://schemas.openxmlformats.org/package/2006/relationships"><Relationship Id="rId3" Type="http://schemas.openxmlformats.org/officeDocument/2006/relationships/image" Target="../media/image418.wmf"/><Relationship Id="rId7" Type="http://schemas.openxmlformats.org/officeDocument/2006/relationships/image" Target="../media/image422.wmf"/><Relationship Id="rId2" Type="http://schemas.openxmlformats.org/officeDocument/2006/relationships/image" Target="../media/image417.wmf"/><Relationship Id="rId1" Type="http://schemas.openxmlformats.org/officeDocument/2006/relationships/image" Target="../media/image416.wmf"/><Relationship Id="rId6" Type="http://schemas.openxmlformats.org/officeDocument/2006/relationships/image" Target="../media/image421.wmf"/><Relationship Id="rId5" Type="http://schemas.openxmlformats.org/officeDocument/2006/relationships/image" Target="../media/image420.wmf"/><Relationship Id="rId4" Type="http://schemas.openxmlformats.org/officeDocument/2006/relationships/image" Target="../media/image419.wmf"/></Relationships>
</file>

<file path=ppt/drawings/_rels/vmlDrawing67.vml.rels><?xml version="1.0" encoding="UTF-8" standalone="yes"?>
<Relationships xmlns="http://schemas.openxmlformats.org/package/2006/relationships"><Relationship Id="rId3" Type="http://schemas.openxmlformats.org/officeDocument/2006/relationships/image" Target="../media/image426.wmf"/><Relationship Id="rId2" Type="http://schemas.openxmlformats.org/officeDocument/2006/relationships/image" Target="../media/image425.wmf"/><Relationship Id="rId1" Type="http://schemas.openxmlformats.org/officeDocument/2006/relationships/image" Target="../media/image424.wmf"/><Relationship Id="rId5" Type="http://schemas.openxmlformats.org/officeDocument/2006/relationships/image" Target="../media/image428.wmf"/><Relationship Id="rId4" Type="http://schemas.openxmlformats.org/officeDocument/2006/relationships/image" Target="../media/image427.wmf"/></Relationships>
</file>

<file path=ppt/drawings/_rels/vmlDrawing68.vml.rels><?xml version="1.0" encoding="UTF-8" standalone="yes"?>
<Relationships xmlns="http://schemas.openxmlformats.org/package/2006/relationships"><Relationship Id="rId3" Type="http://schemas.openxmlformats.org/officeDocument/2006/relationships/image" Target="../media/image435.wmf"/><Relationship Id="rId2" Type="http://schemas.openxmlformats.org/officeDocument/2006/relationships/image" Target="../media/image434.wmf"/><Relationship Id="rId1" Type="http://schemas.openxmlformats.org/officeDocument/2006/relationships/image" Target="../media/image433.wmf"/></Relationships>
</file>

<file path=ppt/drawings/_rels/vmlDrawing69.vml.rels><?xml version="1.0" encoding="UTF-8" standalone="yes"?>
<Relationships xmlns="http://schemas.openxmlformats.org/package/2006/relationships"><Relationship Id="rId1" Type="http://schemas.openxmlformats.org/officeDocument/2006/relationships/image" Target="../media/image437.wmf"/></Relationships>
</file>

<file path=ppt/drawings/_rels/vmlDrawing70.vml.rels><?xml version="1.0" encoding="UTF-8" standalone="yes"?>
<Relationships xmlns="http://schemas.openxmlformats.org/package/2006/relationships"><Relationship Id="rId1" Type="http://schemas.openxmlformats.org/officeDocument/2006/relationships/image" Target="../media/image444.wmf"/></Relationships>
</file>

<file path=ppt/drawings/_rels/vmlDrawing71.vml.rels><?xml version="1.0" encoding="UTF-8" standalone="yes"?>
<Relationships xmlns="http://schemas.openxmlformats.org/package/2006/relationships"><Relationship Id="rId2" Type="http://schemas.openxmlformats.org/officeDocument/2006/relationships/image" Target="../media/image446.wmf"/><Relationship Id="rId1" Type="http://schemas.openxmlformats.org/officeDocument/2006/relationships/image" Target="../media/image445.emf"/></Relationships>
</file>

<file path=ppt/drawings/_rels/vmlDrawing72.vml.rels><?xml version="1.0" encoding="UTF-8" standalone="yes"?>
<Relationships xmlns="http://schemas.openxmlformats.org/package/2006/relationships"><Relationship Id="rId2" Type="http://schemas.openxmlformats.org/officeDocument/2006/relationships/image" Target="../media/image449.emf"/><Relationship Id="rId1" Type="http://schemas.openxmlformats.org/officeDocument/2006/relationships/image" Target="../media/image448.emf"/></Relationships>
</file>

<file path=ppt/drawings/_rels/vmlDrawing73.vml.rels><?xml version="1.0" encoding="UTF-8" standalone="yes"?>
<Relationships xmlns="http://schemas.openxmlformats.org/package/2006/relationships"><Relationship Id="rId3" Type="http://schemas.openxmlformats.org/officeDocument/2006/relationships/image" Target="../media/image452.wmf"/><Relationship Id="rId2" Type="http://schemas.openxmlformats.org/officeDocument/2006/relationships/image" Target="../media/image451.wmf"/><Relationship Id="rId1" Type="http://schemas.openxmlformats.org/officeDocument/2006/relationships/image" Target="../media/image450.wmf"/><Relationship Id="rId5" Type="http://schemas.openxmlformats.org/officeDocument/2006/relationships/image" Target="../media/image454.emf"/><Relationship Id="rId4" Type="http://schemas.openxmlformats.org/officeDocument/2006/relationships/image" Target="../media/image453.emf"/></Relationships>
</file>

<file path=ppt/drawings/_rels/vmlDrawing74.vml.rels><?xml version="1.0" encoding="UTF-8" standalone="yes"?>
<Relationships xmlns="http://schemas.openxmlformats.org/package/2006/relationships"><Relationship Id="rId8" Type="http://schemas.openxmlformats.org/officeDocument/2006/relationships/image" Target="../media/image462.emf"/><Relationship Id="rId3" Type="http://schemas.openxmlformats.org/officeDocument/2006/relationships/image" Target="../media/image457.wmf"/><Relationship Id="rId7" Type="http://schemas.openxmlformats.org/officeDocument/2006/relationships/image" Target="../media/image461.wmf"/><Relationship Id="rId2" Type="http://schemas.openxmlformats.org/officeDocument/2006/relationships/image" Target="../media/image456.wmf"/><Relationship Id="rId1" Type="http://schemas.openxmlformats.org/officeDocument/2006/relationships/image" Target="../media/image455.wmf"/><Relationship Id="rId6" Type="http://schemas.openxmlformats.org/officeDocument/2006/relationships/image" Target="../media/image460.wmf"/><Relationship Id="rId5" Type="http://schemas.openxmlformats.org/officeDocument/2006/relationships/image" Target="../media/image459.wmf"/><Relationship Id="rId4" Type="http://schemas.openxmlformats.org/officeDocument/2006/relationships/image" Target="../media/image458.wmf"/><Relationship Id="rId9" Type="http://schemas.openxmlformats.org/officeDocument/2006/relationships/image" Target="../media/image463.wmf"/></Relationships>
</file>

<file path=ppt/drawings/_rels/vmlDrawing75.vml.rels><?xml version="1.0" encoding="UTF-8" standalone="yes"?>
<Relationships xmlns="http://schemas.openxmlformats.org/package/2006/relationships"><Relationship Id="rId1" Type="http://schemas.openxmlformats.org/officeDocument/2006/relationships/image" Target="../media/image464.emf"/></Relationships>
</file>

<file path=ppt/drawings/_rels/vmlDrawing76.vml.rels><?xml version="1.0" encoding="UTF-8" standalone="yes"?>
<Relationships xmlns="http://schemas.openxmlformats.org/package/2006/relationships"><Relationship Id="rId8" Type="http://schemas.openxmlformats.org/officeDocument/2006/relationships/image" Target="../media/image472.emf"/><Relationship Id="rId3" Type="http://schemas.openxmlformats.org/officeDocument/2006/relationships/image" Target="../media/image467.wmf"/><Relationship Id="rId7" Type="http://schemas.openxmlformats.org/officeDocument/2006/relationships/image" Target="../media/image471.wmf"/><Relationship Id="rId2" Type="http://schemas.openxmlformats.org/officeDocument/2006/relationships/image" Target="../media/image466.wmf"/><Relationship Id="rId1" Type="http://schemas.openxmlformats.org/officeDocument/2006/relationships/image" Target="../media/image465.wmf"/><Relationship Id="rId6" Type="http://schemas.openxmlformats.org/officeDocument/2006/relationships/image" Target="../media/image470.wmf"/><Relationship Id="rId5" Type="http://schemas.openxmlformats.org/officeDocument/2006/relationships/image" Target="../media/image469.wmf"/><Relationship Id="rId4" Type="http://schemas.openxmlformats.org/officeDocument/2006/relationships/image" Target="../media/image468.wmf"/></Relationships>
</file>

<file path=ppt/drawings/_rels/vmlDrawing77.vml.rels><?xml version="1.0" encoding="UTF-8" standalone="yes"?>
<Relationships xmlns="http://schemas.openxmlformats.org/package/2006/relationships"><Relationship Id="rId8" Type="http://schemas.openxmlformats.org/officeDocument/2006/relationships/image" Target="../media/image480.wmf"/><Relationship Id="rId3" Type="http://schemas.openxmlformats.org/officeDocument/2006/relationships/image" Target="../media/image475.wmf"/><Relationship Id="rId7" Type="http://schemas.openxmlformats.org/officeDocument/2006/relationships/image" Target="../media/image479.wmf"/><Relationship Id="rId2" Type="http://schemas.openxmlformats.org/officeDocument/2006/relationships/image" Target="../media/image474.wmf"/><Relationship Id="rId1" Type="http://schemas.openxmlformats.org/officeDocument/2006/relationships/image" Target="../media/image473.wmf"/><Relationship Id="rId6" Type="http://schemas.openxmlformats.org/officeDocument/2006/relationships/image" Target="../media/image478.wmf"/><Relationship Id="rId11" Type="http://schemas.openxmlformats.org/officeDocument/2006/relationships/image" Target="../media/image483.emf"/><Relationship Id="rId5" Type="http://schemas.openxmlformats.org/officeDocument/2006/relationships/image" Target="../media/image477.wmf"/><Relationship Id="rId10" Type="http://schemas.openxmlformats.org/officeDocument/2006/relationships/image" Target="../media/image482.emf"/><Relationship Id="rId4" Type="http://schemas.openxmlformats.org/officeDocument/2006/relationships/image" Target="../media/image476.wmf"/><Relationship Id="rId9" Type="http://schemas.openxmlformats.org/officeDocument/2006/relationships/image" Target="../media/image481.wmf"/></Relationships>
</file>

<file path=ppt/drawings/_rels/vmlDrawing78.vml.rels><?xml version="1.0" encoding="UTF-8" standalone="yes"?>
<Relationships xmlns="http://schemas.openxmlformats.org/package/2006/relationships"><Relationship Id="rId3" Type="http://schemas.openxmlformats.org/officeDocument/2006/relationships/image" Target="../media/image500.emf"/><Relationship Id="rId2" Type="http://schemas.openxmlformats.org/officeDocument/2006/relationships/image" Target="../media/image499.emf"/><Relationship Id="rId1" Type="http://schemas.openxmlformats.org/officeDocument/2006/relationships/image" Target="../media/image498.emf"/></Relationships>
</file>

<file path=ppt/drawings/_rels/vmlDrawing79.vml.rels><?xml version="1.0" encoding="UTF-8" standalone="yes"?>
<Relationships xmlns="http://schemas.openxmlformats.org/package/2006/relationships"><Relationship Id="rId3" Type="http://schemas.openxmlformats.org/officeDocument/2006/relationships/image" Target="../media/image503.emf"/><Relationship Id="rId2" Type="http://schemas.openxmlformats.org/officeDocument/2006/relationships/image" Target="../media/image502.emf"/><Relationship Id="rId1" Type="http://schemas.openxmlformats.org/officeDocument/2006/relationships/image" Target="../media/image501.emf"/><Relationship Id="rId6" Type="http://schemas.openxmlformats.org/officeDocument/2006/relationships/image" Target="../media/image506.emf"/><Relationship Id="rId5" Type="http://schemas.openxmlformats.org/officeDocument/2006/relationships/image" Target="../media/image505.emf"/><Relationship Id="rId4" Type="http://schemas.openxmlformats.org/officeDocument/2006/relationships/image" Target="../media/image504.emf"/></Relationships>
</file>

<file path=ppt/drawings/_rels/vmlDrawing80.vml.rels><?xml version="1.0" encoding="UTF-8" standalone="yes"?>
<Relationships xmlns="http://schemas.openxmlformats.org/package/2006/relationships"><Relationship Id="rId3" Type="http://schemas.openxmlformats.org/officeDocument/2006/relationships/image" Target="../media/image509.wmf"/><Relationship Id="rId2" Type="http://schemas.openxmlformats.org/officeDocument/2006/relationships/image" Target="../media/image508.wmf"/><Relationship Id="rId1" Type="http://schemas.openxmlformats.org/officeDocument/2006/relationships/image" Target="../media/image507.wmf"/><Relationship Id="rId5" Type="http://schemas.openxmlformats.org/officeDocument/2006/relationships/image" Target="../media/image511.wmf"/><Relationship Id="rId4" Type="http://schemas.openxmlformats.org/officeDocument/2006/relationships/image" Target="../media/image510.wmf"/></Relationships>
</file>

<file path=ppt/drawings/_rels/vmlDrawing81.vml.rels><?xml version="1.0" encoding="UTF-8" standalone="yes"?>
<Relationships xmlns="http://schemas.openxmlformats.org/package/2006/relationships"><Relationship Id="rId3" Type="http://schemas.openxmlformats.org/officeDocument/2006/relationships/image" Target="../media/image515.wmf"/><Relationship Id="rId2" Type="http://schemas.openxmlformats.org/officeDocument/2006/relationships/image" Target="../media/image514.wmf"/><Relationship Id="rId1" Type="http://schemas.openxmlformats.org/officeDocument/2006/relationships/image" Target="../media/image513.png"/></Relationships>
</file>

<file path=ppt/drawings/_rels/vmlDrawing82.vml.rels><?xml version="1.0" encoding="UTF-8" standalone="yes"?>
<Relationships xmlns="http://schemas.openxmlformats.org/package/2006/relationships"><Relationship Id="rId8" Type="http://schemas.openxmlformats.org/officeDocument/2006/relationships/image" Target="../media/image523.wmf"/><Relationship Id="rId3" Type="http://schemas.openxmlformats.org/officeDocument/2006/relationships/image" Target="../media/image518.wmf"/><Relationship Id="rId7" Type="http://schemas.openxmlformats.org/officeDocument/2006/relationships/image" Target="../media/image522.wmf"/><Relationship Id="rId12" Type="http://schemas.openxmlformats.org/officeDocument/2006/relationships/image" Target="../media/image527.wmf"/><Relationship Id="rId2" Type="http://schemas.openxmlformats.org/officeDocument/2006/relationships/image" Target="../media/image517.wmf"/><Relationship Id="rId1" Type="http://schemas.openxmlformats.org/officeDocument/2006/relationships/image" Target="../media/image516.wmf"/><Relationship Id="rId6" Type="http://schemas.openxmlformats.org/officeDocument/2006/relationships/image" Target="../media/image521.wmf"/><Relationship Id="rId11" Type="http://schemas.openxmlformats.org/officeDocument/2006/relationships/image" Target="../media/image526.wmf"/><Relationship Id="rId5" Type="http://schemas.openxmlformats.org/officeDocument/2006/relationships/image" Target="../media/image520.wmf"/><Relationship Id="rId10" Type="http://schemas.openxmlformats.org/officeDocument/2006/relationships/image" Target="../media/image525.wmf"/><Relationship Id="rId4" Type="http://schemas.openxmlformats.org/officeDocument/2006/relationships/image" Target="../media/image519.wmf"/><Relationship Id="rId9" Type="http://schemas.openxmlformats.org/officeDocument/2006/relationships/image" Target="../media/image524.wmf"/></Relationships>
</file>

<file path=ppt/drawings/_rels/vmlDrawing83.vml.rels><?xml version="1.0" encoding="UTF-8" standalone="yes"?>
<Relationships xmlns="http://schemas.openxmlformats.org/package/2006/relationships"><Relationship Id="rId8" Type="http://schemas.openxmlformats.org/officeDocument/2006/relationships/image" Target="../media/image536.wmf"/><Relationship Id="rId3" Type="http://schemas.openxmlformats.org/officeDocument/2006/relationships/image" Target="../media/image531.wmf"/><Relationship Id="rId7" Type="http://schemas.openxmlformats.org/officeDocument/2006/relationships/image" Target="../media/image535.wmf"/><Relationship Id="rId2" Type="http://schemas.openxmlformats.org/officeDocument/2006/relationships/image" Target="../media/image530.wmf"/><Relationship Id="rId1" Type="http://schemas.openxmlformats.org/officeDocument/2006/relationships/image" Target="../media/image529.wmf"/><Relationship Id="rId6" Type="http://schemas.openxmlformats.org/officeDocument/2006/relationships/image" Target="../media/image534.wmf"/><Relationship Id="rId5" Type="http://schemas.openxmlformats.org/officeDocument/2006/relationships/image" Target="../media/image533.wmf"/><Relationship Id="rId10" Type="http://schemas.openxmlformats.org/officeDocument/2006/relationships/image" Target="../media/image538.wmf"/><Relationship Id="rId4" Type="http://schemas.openxmlformats.org/officeDocument/2006/relationships/image" Target="../media/image532.wmf"/><Relationship Id="rId9" Type="http://schemas.openxmlformats.org/officeDocument/2006/relationships/image" Target="../media/image537.wmf"/></Relationships>
</file>

<file path=ppt/drawings/_rels/vmlDrawing84.vml.rels><?xml version="1.0" encoding="UTF-8" standalone="yes"?>
<Relationships xmlns="http://schemas.openxmlformats.org/package/2006/relationships"><Relationship Id="rId8" Type="http://schemas.openxmlformats.org/officeDocument/2006/relationships/image" Target="../media/image546.wmf"/><Relationship Id="rId13" Type="http://schemas.openxmlformats.org/officeDocument/2006/relationships/image" Target="../media/image551.wmf"/><Relationship Id="rId18" Type="http://schemas.openxmlformats.org/officeDocument/2006/relationships/image" Target="../media/image556.wmf"/><Relationship Id="rId3" Type="http://schemas.openxmlformats.org/officeDocument/2006/relationships/image" Target="../media/image541.emf"/><Relationship Id="rId7" Type="http://schemas.openxmlformats.org/officeDocument/2006/relationships/image" Target="../media/image545.wmf"/><Relationship Id="rId12" Type="http://schemas.openxmlformats.org/officeDocument/2006/relationships/image" Target="../media/image550.wmf"/><Relationship Id="rId17" Type="http://schemas.openxmlformats.org/officeDocument/2006/relationships/image" Target="../media/image555.wmf"/><Relationship Id="rId2" Type="http://schemas.openxmlformats.org/officeDocument/2006/relationships/image" Target="../media/image540.emf"/><Relationship Id="rId16" Type="http://schemas.openxmlformats.org/officeDocument/2006/relationships/image" Target="../media/image554.wmf"/><Relationship Id="rId1" Type="http://schemas.openxmlformats.org/officeDocument/2006/relationships/image" Target="../media/image539.wmf"/><Relationship Id="rId6" Type="http://schemas.openxmlformats.org/officeDocument/2006/relationships/image" Target="../media/image544.wmf"/><Relationship Id="rId11" Type="http://schemas.openxmlformats.org/officeDocument/2006/relationships/image" Target="../media/image549.wmf"/><Relationship Id="rId5" Type="http://schemas.openxmlformats.org/officeDocument/2006/relationships/image" Target="../media/image543.emf"/><Relationship Id="rId15" Type="http://schemas.openxmlformats.org/officeDocument/2006/relationships/image" Target="../media/image553.wmf"/><Relationship Id="rId10" Type="http://schemas.openxmlformats.org/officeDocument/2006/relationships/image" Target="../media/image548.wmf"/><Relationship Id="rId4" Type="http://schemas.openxmlformats.org/officeDocument/2006/relationships/image" Target="../media/image542.wmf"/><Relationship Id="rId9" Type="http://schemas.openxmlformats.org/officeDocument/2006/relationships/image" Target="../media/image547.emf"/><Relationship Id="rId14" Type="http://schemas.openxmlformats.org/officeDocument/2006/relationships/image" Target="../media/image552.wmf"/></Relationships>
</file>

<file path=ppt/drawings/_rels/vmlDrawing85.vml.rels><?xml version="1.0" encoding="UTF-8" standalone="yes"?>
<Relationships xmlns="http://schemas.openxmlformats.org/package/2006/relationships"><Relationship Id="rId2" Type="http://schemas.openxmlformats.org/officeDocument/2006/relationships/image" Target="../media/image559.png"/><Relationship Id="rId1" Type="http://schemas.openxmlformats.org/officeDocument/2006/relationships/image" Target="../media/image558.wmf"/></Relationships>
</file>

<file path=ppt/drawings/_rels/vmlDrawing86.vml.rels><?xml version="1.0" encoding="UTF-8" standalone="yes"?>
<Relationships xmlns="http://schemas.openxmlformats.org/package/2006/relationships"><Relationship Id="rId3" Type="http://schemas.openxmlformats.org/officeDocument/2006/relationships/image" Target="../media/image562.wmf"/><Relationship Id="rId7" Type="http://schemas.openxmlformats.org/officeDocument/2006/relationships/image" Target="../media/image566.wmf"/><Relationship Id="rId2" Type="http://schemas.openxmlformats.org/officeDocument/2006/relationships/image" Target="../media/image561.wmf"/><Relationship Id="rId1" Type="http://schemas.openxmlformats.org/officeDocument/2006/relationships/image" Target="../media/image560.wmf"/><Relationship Id="rId6" Type="http://schemas.openxmlformats.org/officeDocument/2006/relationships/image" Target="../media/image565.wmf"/><Relationship Id="rId5" Type="http://schemas.openxmlformats.org/officeDocument/2006/relationships/image" Target="../media/image564.wmf"/><Relationship Id="rId4" Type="http://schemas.openxmlformats.org/officeDocument/2006/relationships/image" Target="../media/image563.wmf"/></Relationships>
</file>

<file path=ppt/drawings/_rels/vmlDrawing87.vml.rels><?xml version="1.0" encoding="UTF-8" standalone="yes"?>
<Relationships xmlns="http://schemas.openxmlformats.org/package/2006/relationships"><Relationship Id="rId3" Type="http://schemas.openxmlformats.org/officeDocument/2006/relationships/image" Target="../media/image570.wmf"/><Relationship Id="rId2" Type="http://schemas.openxmlformats.org/officeDocument/2006/relationships/image" Target="../media/image569.wmf"/><Relationship Id="rId1" Type="http://schemas.openxmlformats.org/officeDocument/2006/relationships/image" Target="../media/image568.wmf"/><Relationship Id="rId6" Type="http://schemas.openxmlformats.org/officeDocument/2006/relationships/image" Target="../media/image573.wmf"/><Relationship Id="rId5" Type="http://schemas.openxmlformats.org/officeDocument/2006/relationships/image" Target="../media/image572.wmf"/><Relationship Id="rId4" Type="http://schemas.openxmlformats.org/officeDocument/2006/relationships/image" Target="../media/image571.wmf"/></Relationships>
</file>

<file path=ppt/drawings/_rels/vmlDrawing88.vml.rels><?xml version="1.0" encoding="UTF-8" standalone="yes"?>
<Relationships xmlns="http://schemas.openxmlformats.org/package/2006/relationships"><Relationship Id="rId3" Type="http://schemas.openxmlformats.org/officeDocument/2006/relationships/image" Target="../media/image576.wmf"/><Relationship Id="rId2" Type="http://schemas.openxmlformats.org/officeDocument/2006/relationships/image" Target="../media/image575.wmf"/><Relationship Id="rId1" Type="http://schemas.openxmlformats.org/officeDocument/2006/relationships/image" Target="../media/image574.wmf"/></Relationships>
</file>

<file path=ppt/drawings/_rels/vmlDrawing89.vml.rels><?xml version="1.0" encoding="UTF-8" standalone="yes"?>
<Relationships xmlns="http://schemas.openxmlformats.org/package/2006/relationships"><Relationship Id="rId3" Type="http://schemas.openxmlformats.org/officeDocument/2006/relationships/image" Target="../media/image580.emf"/><Relationship Id="rId2" Type="http://schemas.openxmlformats.org/officeDocument/2006/relationships/image" Target="../media/image579.emf"/><Relationship Id="rId1" Type="http://schemas.openxmlformats.org/officeDocument/2006/relationships/image" Target="../media/image578.emf"/><Relationship Id="rId4" Type="http://schemas.openxmlformats.org/officeDocument/2006/relationships/image" Target="../media/image581.emf"/></Relationships>
</file>

<file path=ppt/drawings/_rels/vmlDrawing90.vml.rels><?xml version="1.0" encoding="UTF-8" standalone="yes"?>
<Relationships xmlns="http://schemas.openxmlformats.org/package/2006/relationships"><Relationship Id="rId3" Type="http://schemas.openxmlformats.org/officeDocument/2006/relationships/image" Target="../media/image585.emf"/><Relationship Id="rId7" Type="http://schemas.openxmlformats.org/officeDocument/2006/relationships/image" Target="../media/image589.wmf"/><Relationship Id="rId2" Type="http://schemas.openxmlformats.org/officeDocument/2006/relationships/image" Target="../media/image584.emf"/><Relationship Id="rId1" Type="http://schemas.openxmlformats.org/officeDocument/2006/relationships/image" Target="../media/image583.emf"/><Relationship Id="rId6" Type="http://schemas.openxmlformats.org/officeDocument/2006/relationships/image" Target="../media/image588.wmf"/><Relationship Id="rId5" Type="http://schemas.openxmlformats.org/officeDocument/2006/relationships/image" Target="../media/image587.wmf"/><Relationship Id="rId4" Type="http://schemas.openxmlformats.org/officeDocument/2006/relationships/image" Target="../media/image586.emf"/></Relationships>
</file>

<file path=ppt/drawings/_rels/vmlDrawing91.vml.rels><?xml version="1.0" encoding="UTF-8" standalone="yes"?>
<Relationships xmlns="http://schemas.openxmlformats.org/package/2006/relationships"><Relationship Id="rId2" Type="http://schemas.openxmlformats.org/officeDocument/2006/relationships/image" Target="../media/image591.emf"/><Relationship Id="rId1" Type="http://schemas.openxmlformats.org/officeDocument/2006/relationships/image" Target="../media/image590.wmf"/></Relationships>
</file>

<file path=ppt/drawings/_rels/vmlDrawing92.vml.rels><?xml version="1.0" encoding="UTF-8" standalone="yes"?>
<Relationships xmlns="http://schemas.openxmlformats.org/package/2006/relationships"><Relationship Id="rId8" Type="http://schemas.openxmlformats.org/officeDocument/2006/relationships/image" Target="../media/image599.wmf"/><Relationship Id="rId3" Type="http://schemas.openxmlformats.org/officeDocument/2006/relationships/image" Target="../media/image594.wmf"/><Relationship Id="rId7" Type="http://schemas.openxmlformats.org/officeDocument/2006/relationships/image" Target="../media/image598.wmf"/><Relationship Id="rId2" Type="http://schemas.openxmlformats.org/officeDocument/2006/relationships/image" Target="../media/image593.wmf"/><Relationship Id="rId1" Type="http://schemas.openxmlformats.org/officeDocument/2006/relationships/image" Target="../media/image590.wmf"/><Relationship Id="rId6" Type="http://schemas.openxmlformats.org/officeDocument/2006/relationships/image" Target="../media/image597.wmf"/><Relationship Id="rId5" Type="http://schemas.openxmlformats.org/officeDocument/2006/relationships/image" Target="../media/image596.wmf"/><Relationship Id="rId4" Type="http://schemas.openxmlformats.org/officeDocument/2006/relationships/image" Target="../media/image595.wmf"/><Relationship Id="rId9" Type="http://schemas.openxmlformats.org/officeDocument/2006/relationships/image" Target="../media/image600.emf"/></Relationships>
</file>

<file path=ppt/drawings/_rels/vmlDrawing93.vml.rels><?xml version="1.0" encoding="UTF-8" standalone="yes"?>
<Relationships xmlns="http://schemas.openxmlformats.org/package/2006/relationships"><Relationship Id="rId2" Type="http://schemas.openxmlformats.org/officeDocument/2006/relationships/image" Target="../media/image602.emf"/><Relationship Id="rId1" Type="http://schemas.openxmlformats.org/officeDocument/2006/relationships/image" Target="../media/image601.emf"/></Relationships>
</file>

<file path=ppt/drawings/_rels/vmlDrawing94.vml.rels><?xml version="1.0" encoding="UTF-8" standalone="yes"?>
<Relationships xmlns="http://schemas.openxmlformats.org/package/2006/relationships"><Relationship Id="rId1" Type="http://schemas.openxmlformats.org/officeDocument/2006/relationships/image" Target="../media/image604.wmf"/></Relationships>
</file>

<file path=ppt/drawings/_rels/vmlDrawing95.vml.rels><?xml version="1.0" encoding="UTF-8" standalone="yes"?>
<Relationships xmlns="http://schemas.openxmlformats.org/package/2006/relationships"><Relationship Id="rId3" Type="http://schemas.openxmlformats.org/officeDocument/2006/relationships/image" Target="../media/image607.emf"/><Relationship Id="rId2" Type="http://schemas.openxmlformats.org/officeDocument/2006/relationships/image" Target="../media/image606.emf"/><Relationship Id="rId1" Type="http://schemas.openxmlformats.org/officeDocument/2006/relationships/image" Target="../media/image605.wmf"/><Relationship Id="rId4" Type="http://schemas.openxmlformats.org/officeDocument/2006/relationships/image" Target="../media/image608.emf"/></Relationships>
</file>

<file path=ppt/drawings/_rels/vmlDrawing96.vml.rels><?xml version="1.0" encoding="UTF-8" standalone="yes"?>
<Relationships xmlns="http://schemas.openxmlformats.org/package/2006/relationships"><Relationship Id="rId3" Type="http://schemas.openxmlformats.org/officeDocument/2006/relationships/image" Target="../media/image611.wmf"/><Relationship Id="rId2" Type="http://schemas.openxmlformats.org/officeDocument/2006/relationships/image" Target="../media/image610.wmf"/><Relationship Id="rId1" Type="http://schemas.openxmlformats.org/officeDocument/2006/relationships/image" Target="../media/image609.wmf"/><Relationship Id="rId4" Type="http://schemas.openxmlformats.org/officeDocument/2006/relationships/image" Target="../media/image612.wmf"/></Relationships>
</file>

<file path=ppt/drawings/_rels/vmlDrawing97.vml.rels><?xml version="1.0" encoding="UTF-8" standalone="yes"?>
<Relationships xmlns="http://schemas.openxmlformats.org/package/2006/relationships"><Relationship Id="rId1" Type="http://schemas.openxmlformats.org/officeDocument/2006/relationships/image" Target="../media/image613.emf"/></Relationships>
</file>

<file path=ppt/drawings/_rels/vmlDrawing98.vml.rels><?xml version="1.0" encoding="UTF-8" standalone="yes"?>
<Relationships xmlns="http://schemas.openxmlformats.org/package/2006/relationships"><Relationship Id="rId1" Type="http://schemas.openxmlformats.org/officeDocument/2006/relationships/image" Target="../media/image614.emf"/></Relationships>
</file>

<file path=ppt/drawings/_rels/vmlDrawing99.vml.rels><?xml version="1.0" encoding="UTF-8" standalone="yes"?>
<Relationships xmlns="http://schemas.openxmlformats.org/package/2006/relationships"><Relationship Id="rId1" Type="http://schemas.openxmlformats.org/officeDocument/2006/relationships/image" Target="../media/image615.emf"/></Relationships>
</file>

<file path=ppt/drawings/_rels/vmlDrawing100.vml.rels><?xml version="1.0" encoding="UTF-8" standalone="yes"?>
<Relationships xmlns="http://schemas.openxmlformats.org/package/2006/relationships"><Relationship Id="rId1" Type="http://schemas.openxmlformats.org/officeDocument/2006/relationships/image" Target="../media/image616.emf"/></Relationships>
</file>

<file path=ppt/drawings/_rels/vmlDrawing101.vml.rels><?xml version="1.0" encoding="UTF-8" standalone="yes"?>
<Relationships xmlns="http://schemas.openxmlformats.org/package/2006/relationships"><Relationship Id="rId2" Type="http://schemas.openxmlformats.org/officeDocument/2006/relationships/image" Target="../media/image620.wmf"/><Relationship Id="rId1" Type="http://schemas.openxmlformats.org/officeDocument/2006/relationships/image" Target="../media/image619.emf"/></Relationships>
</file>

<file path=ppt/drawings/_rels/vmlDrawing102.vml.rels><?xml version="1.0" encoding="UTF-8" standalone="yes"?>
<Relationships xmlns="http://schemas.openxmlformats.org/package/2006/relationships"><Relationship Id="rId2" Type="http://schemas.openxmlformats.org/officeDocument/2006/relationships/image" Target="../media/image622.wmf"/><Relationship Id="rId1" Type="http://schemas.openxmlformats.org/officeDocument/2006/relationships/image" Target="../media/image621.emf"/></Relationships>
</file>

<file path=ppt/drawings/_rels/vmlDrawing103.vml.rels><?xml version="1.0" encoding="UTF-8" standalone="yes"?>
<Relationships xmlns="http://schemas.openxmlformats.org/package/2006/relationships"><Relationship Id="rId1" Type="http://schemas.openxmlformats.org/officeDocument/2006/relationships/image" Target="../media/image623.emf"/></Relationships>
</file>

<file path=ppt/drawings/_rels/vmlDrawing104.vml.rels><?xml version="1.0" encoding="UTF-8" standalone="yes"?>
<Relationships xmlns="http://schemas.openxmlformats.org/package/2006/relationships"><Relationship Id="rId3" Type="http://schemas.openxmlformats.org/officeDocument/2006/relationships/image" Target="../media/image626.wmf"/><Relationship Id="rId2" Type="http://schemas.openxmlformats.org/officeDocument/2006/relationships/image" Target="../media/image625.wmf"/><Relationship Id="rId1" Type="http://schemas.openxmlformats.org/officeDocument/2006/relationships/image" Target="../media/image624.emf"/><Relationship Id="rId4" Type="http://schemas.openxmlformats.org/officeDocument/2006/relationships/image" Target="../media/image627.emf"/></Relationships>
</file>

<file path=ppt/drawings/_rels/vmlDrawing105.vml.rels><?xml version="1.0" encoding="UTF-8" standalone="yes"?>
<Relationships xmlns="http://schemas.openxmlformats.org/package/2006/relationships"><Relationship Id="rId2" Type="http://schemas.openxmlformats.org/officeDocument/2006/relationships/image" Target="../media/image629.emf"/><Relationship Id="rId1" Type="http://schemas.openxmlformats.org/officeDocument/2006/relationships/image" Target="../media/image628.wmf"/></Relationships>
</file>

<file path=ppt/drawings/_rels/vmlDrawing106.vml.rels><?xml version="1.0" encoding="UTF-8" standalone="yes"?>
<Relationships xmlns="http://schemas.openxmlformats.org/package/2006/relationships"><Relationship Id="rId3" Type="http://schemas.openxmlformats.org/officeDocument/2006/relationships/image" Target="../media/image632.emf"/><Relationship Id="rId2" Type="http://schemas.openxmlformats.org/officeDocument/2006/relationships/image" Target="../media/image631.wmf"/><Relationship Id="rId1" Type="http://schemas.openxmlformats.org/officeDocument/2006/relationships/image" Target="../media/image630.wmf"/></Relationships>
</file>

<file path=ppt/drawings/_rels/vmlDrawing107.vml.rels><?xml version="1.0" encoding="UTF-8" standalone="yes"?>
<Relationships xmlns="http://schemas.openxmlformats.org/package/2006/relationships"><Relationship Id="rId3" Type="http://schemas.openxmlformats.org/officeDocument/2006/relationships/image" Target="../media/image633.wmf"/><Relationship Id="rId2" Type="http://schemas.openxmlformats.org/officeDocument/2006/relationships/image" Target="../media/image625.wmf"/><Relationship Id="rId1" Type="http://schemas.openxmlformats.org/officeDocument/2006/relationships/image" Target="../media/image626.wmf"/></Relationships>
</file>

<file path=ppt/drawings/_rels/vmlDrawing108.vml.rels><?xml version="1.0" encoding="UTF-8" standalone="yes"?>
<Relationships xmlns="http://schemas.openxmlformats.org/package/2006/relationships"><Relationship Id="rId3" Type="http://schemas.openxmlformats.org/officeDocument/2006/relationships/image" Target="../media/image636.wmf"/><Relationship Id="rId7" Type="http://schemas.openxmlformats.org/officeDocument/2006/relationships/image" Target="../media/image640.emf"/><Relationship Id="rId2" Type="http://schemas.openxmlformats.org/officeDocument/2006/relationships/image" Target="../media/image635.wmf"/><Relationship Id="rId1" Type="http://schemas.openxmlformats.org/officeDocument/2006/relationships/image" Target="../media/image634.wmf"/><Relationship Id="rId6" Type="http://schemas.openxmlformats.org/officeDocument/2006/relationships/image" Target="../media/image639.wmf"/><Relationship Id="rId5" Type="http://schemas.openxmlformats.org/officeDocument/2006/relationships/image" Target="../media/image638.wmf"/><Relationship Id="rId4" Type="http://schemas.openxmlformats.org/officeDocument/2006/relationships/image" Target="../media/image637.wmf"/></Relationships>
</file>

<file path=ppt/drawings/_rels/vmlDrawing109.vml.rels><?xml version="1.0" encoding="UTF-8" standalone="yes"?>
<Relationships xmlns="http://schemas.openxmlformats.org/package/2006/relationships"><Relationship Id="rId3" Type="http://schemas.openxmlformats.org/officeDocument/2006/relationships/image" Target="../media/image643.wmf"/><Relationship Id="rId2" Type="http://schemas.openxmlformats.org/officeDocument/2006/relationships/image" Target="../media/image642.wmf"/><Relationship Id="rId1" Type="http://schemas.openxmlformats.org/officeDocument/2006/relationships/image" Target="../media/image641.wmf"/><Relationship Id="rId5" Type="http://schemas.openxmlformats.org/officeDocument/2006/relationships/image" Target="../media/image645.wmf"/><Relationship Id="rId4" Type="http://schemas.openxmlformats.org/officeDocument/2006/relationships/image" Target="../media/image644.emf"/></Relationships>
</file>

<file path=ppt/drawings/_rels/vmlDrawing110.vml.rels><?xml version="1.0" encoding="UTF-8" standalone="yes"?>
<Relationships xmlns="http://schemas.openxmlformats.org/package/2006/relationships"><Relationship Id="rId1" Type="http://schemas.openxmlformats.org/officeDocument/2006/relationships/image" Target="../media/image646.wmf"/></Relationships>
</file>

<file path=ppt/drawings/_rels/vmlDrawing111.vml.rels><?xml version="1.0" encoding="UTF-8" standalone="yes"?>
<Relationships xmlns="http://schemas.openxmlformats.org/package/2006/relationships"><Relationship Id="rId8" Type="http://schemas.openxmlformats.org/officeDocument/2006/relationships/image" Target="../media/image654.wmf"/><Relationship Id="rId13" Type="http://schemas.openxmlformats.org/officeDocument/2006/relationships/image" Target="../media/image659.wmf"/><Relationship Id="rId3" Type="http://schemas.openxmlformats.org/officeDocument/2006/relationships/image" Target="../media/image649.wmf"/><Relationship Id="rId7" Type="http://schemas.openxmlformats.org/officeDocument/2006/relationships/image" Target="../media/image653.wmf"/><Relationship Id="rId12" Type="http://schemas.openxmlformats.org/officeDocument/2006/relationships/image" Target="../media/image658.wmf"/><Relationship Id="rId2" Type="http://schemas.openxmlformats.org/officeDocument/2006/relationships/image" Target="../media/image648.wmf"/><Relationship Id="rId1" Type="http://schemas.openxmlformats.org/officeDocument/2006/relationships/image" Target="../media/image647.wmf"/><Relationship Id="rId6" Type="http://schemas.openxmlformats.org/officeDocument/2006/relationships/image" Target="../media/image652.wmf"/><Relationship Id="rId11" Type="http://schemas.openxmlformats.org/officeDocument/2006/relationships/image" Target="../media/image657.wmf"/><Relationship Id="rId5" Type="http://schemas.openxmlformats.org/officeDocument/2006/relationships/image" Target="../media/image651.wmf"/><Relationship Id="rId10" Type="http://schemas.openxmlformats.org/officeDocument/2006/relationships/image" Target="../media/image656.wmf"/><Relationship Id="rId4" Type="http://schemas.openxmlformats.org/officeDocument/2006/relationships/image" Target="../media/image650.wmf"/><Relationship Id="rId9" Type="http://schemas.openxmlformats.org/officeDocument/2006/relationships/image" Target="../media/image655.wmf"/><Relationship Id="rId14" Type="http://schemas.openxmlformats.org/officeDocument/2006/relationships/image" Target="../media/image660.wmf"/></Relationships>
</file>

<file path=ppt/drawings/_rels/vmlDrawing112.vml.rels><?xml version="1.0" encoding="UTF-8" standalone="yes"?>
<Relationships xmlns="http://schemas.openxmlformats.org/package/2006/relationships"><Relationship Id="rId8" Type="http://schemas.openxmlformats.org/officeDocument/2006/relationships/image" Target="../media/image665.wmf"/><Relationship Id="rId3" Type="http://schemas.openxmlformats.org/officeDocument/2006/relationships/image" Target="../media/image649.wmf"/><Relationship Id="rId7" Type="http://schemas.openxmlformats.org/officeDocument/2006/relationships/image" Target="../media/image664.wmf"/><Relationship Id="rId2" Type="http://schemas.openxmlformats.org/officeDocument/2006/relationships/image" Target="../media/image648.wmf"/><Relationship Id="rId1" Type="http://schemas.openxmlformats.org/officeDocument/2006/relationships/image" Target="../media/image647.wmf"/><Relationship Id="rId6" Type="http://schemas.openxmlformats.org/officeDocument/2006/relationships/image" Target="../media/image663.wmf"/><Relationship Id="rId5" Type="http://schemas.openxmlformats.org/officeDocument/2006/relationships/image" Target="../media/image662.wmf"/><Relationship Id="rId4" Type="http://schemas.openxmlformats.org/officeDocument/2006/relationships/image" Target="../media/image650.wmf"/><Relationship Id="rId9" Type="http://schemas.openxmlformats.org/officeDocument/2006/relationships/image" Target="../media/image666.wmf"/></Relationships>
</file>

<file path=ppt/drawings/_rels/vmlDrawing113.vml.rels><?xml version="1.0" encoding="UTF-8" standalone="yes"?>
<Relationships xmlns="http://schemas.openxmlformats.org/package/2006/relationships"><Relationship Id="rId3" Type="http://schemas.openxmlformats.org/officeDocument/2006/relationships/image" Target="../media/image648.wmf"/><Relationship Id="rId7" Type="http://schemas.openxmlformats.org/officeDocument/2006/relationships/image" Target="../media/image669.wmf"/><Relationship Id="rId2" Type="http://schemas.openxmlformats.org/officeDocument/2006/relationships/image" Target="../media/image647.wmf"/><Relationship Id="rId1" Type="http://schemas.openxmlformats.org/officeDocument/2006/relationships/image" Target="../media/image650.wmf"/><Relationship Id="rId6" Type="http://schemas.openxmlformats.org/officeDocument/2006/relationships/image" Target="../media/image668.wmf"/><Relationship Id="rId5" Type="http://schemas.openxmlformats.org/officeDocument/2006/relationships/image" Target="../media/image667.wmf"/><Relationship Id="rId4" Type="http://schemas.openxmlformats.org/officeDocument/2006/relationships/image" Target="../media/image649.wmf"/></Relationships>
</file>

<file path=ppt/drawings/_rels/vmlDrawing114.vml.rels><?xml version="1.0" encoding="UTF-8" standalone="yes"?>
<Relationships xmlns="http://schemas.openxmlformats.org/package/2006/relationships"><Relationship Id="rId8" Type="http://schemas.openxmlformats.org/officeDocument/2006/relationships/image" Target="../media/image658.wmf"/><Relationship Id="rId13" Type="http://schemas.openxmlformats.org/officeDocument/2006/relationships/image" Target="../media/image672.wmf"/><Relationship Id="rId18" Type="http://schemas.openxmlformats.org/officeDocument/2006/relationships/image" Target="../media/image677.wmf"/><Relationship Id="rId3" Type="http://schemas.openxmlformats.org/officeDocument/2006/relationships/image" Target="../media/image653.wmf"/><Relationship Id="rId7" Type="http://schemas.openxmlformats.org/officeDocument/2006/relationships/image" Target="../media/image657.wmf"/><Relationship Id="rId12" Type="http://schemas.openxmlformats.org/officeDocument/2006/relationships/image" Target="../media/image671.wmf"/><Relationship Id="rId17" Type="http://schemas.openxmlformats.org/officeDocument/2006/relationships/image" Target="../media/image676.wmf"/><Relationship Id="rId2" Type="http://schemas.openxmlformats.org/officeDocument/2006/relationships/image" Target="../media/image652.wmf"/><Relationship Id="rId16" Type="http://schemas.openxmlformats.org/officeDocument/2006/relationships/image" Target="../media/image675.wmf"/><Relationship Id="rId1" Type="http://schemas.openxmlformats.org/officeDocument/2006/relationships/image" Target="../media/image651.wmf"/><Relationship Id="rId6" Type="http://schemas.openxmlformats.org/officeDocument/2006/relationships/image" Target="../media/image656.wmf"/><Relationship Id="rId11" Type="http://schemas.openxmlformats.org/officeDocument/2006/relationships/image" Target="../media/image670.wmf"/><Relationship Id="rId5" Type="http://schemas.openxmlformats.org/officeDocument/2006/relationships/image" Target="../media/image655.wmf"/><Relationship Id="rId15" Type="http://schemas.openxmlformats.org/officeDocument/2006/relationships/image" Target="../media/image674.wmf"/><Relationship Id="rId10" Type="http://schemas.openxmlformats.org/officeDocument/2006/relationships/image" Target="../media/image660.wmf"/><Relationship Id="rId19" Type="http://schemas.openxmlformats.org/officeDocument/2006/relationships/image" Target="../media/image678.wmf"/><Relationship Id="rId4" Type="http://schemas.openxmlformats.org/officeDocument/2006/relationships/image" Target="../media/image654.wmf"/><Relationship Id="rId9" Type="http://schemas.openxmlformats.org/officeDocument/2006/relationships/image" Target="../media/image659.wmf"/><Relationship Id="rId14" Type="http://schemas.openxmlformats.org/officeDocument/2006/relationships/image" Target="../media/image673.wmf"/></Relationships>
</file>

<file path=ppt/drawings/_rels/vmlDrawing115.vml.rels><?xml version="1.0" encoding="UTF-8" standalone="yes"?>
<Relationships xmlns="http://schemas.openxmlformats.org/package/2006/relationships"><Relationship Id="rId1" Type="http://schemas.openxmlformats.org/officeDocument/2006/relationships/image" Target="../media/image679.wmf"/></Relationships>
</file>

<file path=ppt/drawings/_rels/vmlDrawing116.vml.rels><?xml version="1.0" encoding="UTF-8" standalone="yes"?>
<Relationships xmlns="http://schemas.openxmlformats.org/package/2006/relationships"><Relationship Id="rId1" Type="http://schemas.openxmlformats.org/officeDocument/2006/relationships/image" Target="../media/image680.emf"/></Relationships>
</file>

<file path=ppt/drawings/_rels/vmlDrawing117.vml.rels><?xml version="1.0" encoding="UTF-8" standalone="yes"?>
<Relationships xmlns="http://schemas.openxmlformats.org/package/2006/relationships"><Relationship Id="rId3" Type="http://schemas.openxmlformats.org/officeDocument/2006/relationships/image" Target="../media/image683.wmf"/><Relationship Id="rId2" Type="http://schemas.openxmlformats.org/officeDocument/2006/relationships/image" Target="../media/image682.emf"/><Relationship Id="rId1" Type="http://schemas.openxmlformats.org/officeDocument/2006/relationships/image" Target="../media/image681.emf"/><Relationship Id="rId4" Type="http://schemas.openxmlformats.org/officeDocument/2006/relationships/image" Target="../media/image684.emf"/></Relationships>
</file>

<file path=ppt/drawings/_rels/vmlDrawing118.vml.rels><?xml version="1.0" encoding="UTF-8" standalone="yes"?>
<Relationships xmlns="http://schemas.openxmlformats.org/package/2006/relationships"><Relationship Id="rId3" Type="http://schemas.openxmlformats.org/officeDocument/2006/relationships/image" Target="../media/image687.wmf"/><Relationship Id="rId2" Type="http://schemas.openxmlformats.org/officeDocument/2006/relationships/image" Target="../media/image686.wmf"/><Relationship Id="rId1" Type="http://schemas.openxmlformats.org/officeDocument/2006/relationships/image" Target="../media/image685.wmf"/><Relationship Id="rId6" Type="http://schemas.openxmlformats.org/officeDocument/2006/relationships/image" Target="../media/image690.emf"/><Relationship Id="rId5" Type="http://schemas.openxmlformats.org/officeDocument/2006/relationships/image" Target="../media/image689.wmf"/><Relationship Id="rId4" Type="http://schemas.openxmlformats.org/officeDocument/2006/relationships/image" Target="../media/image688.wmf"/></Relationships>
</file>

<file path=ppt/drawings/_rels/vmlDrawing119.vml.rels><?xml version="1.0" encoding="UTF-8" standalone="yes"?>
<Relationships xmlns="http://schemas.openxmlformats.org/package/2006/relationships"><Relationship Id="rId3" Type="http://schemas.openxmlformats.org/officeDocument/2006/relationships/image" Target="../media/image693.wmf"/><Relationship Id="rId2" Type="http://schemas.openxmlformats.org/officeDocument/2006/relationships/image" Target="../media/image692.wmf"/><Relationship Id="rId1" Type="http://schemas.openxmlformats.org/officeDocument/2006/relationships/image" Target="../media/image691.wmf"/></Relationships>
</file>

<file path=ppt/drawings/_rels/vmlDrawing120.vml.rels><?xml version="1.0" encoding="UTF-8" standalone="yes"?>
<Relationships xmlns="http://schemas.openxmlformats.org/package/2006/relationships"><Relationship Id="rId3" Type="http://schemas.openxmlformats.org/officeDocument/2006/relationships/image" Target="../media/image696.wmf"/><Relationship Id="rId2" Type="http://schemas.openxmlformats.org/officeDocument/2006/relationships/image" Target="../media/image695.wmf"/><Relationship Id="rId1" Type="http://schemas.openxmlformats.org/officeDocument/2006/relationships/image" Target="../media/image694.wmf"/><Relationship Id="rId6" Type="http://schemas.openxmlformats.org/officeDocument/2006/relationships/image" Target="../media/image699.wmf"/><Relationship Id="rId5" Type="http://schemas.openxmlformats.org/officeDocument/2006/relationships/image" Target="../media/image698.wmf"/><Relationship Id="rId4" Type="http://schemas.openxmlformats.org/officeDocument/2006/relationships/image" Target="../media/image697.wmf"/></Relationships>
</file>

<file path=ppt/drawings/_rels/vmlDrawing121.vml.rels><?xml version="1.0" encoding="UTF-8" standalone="yes"?>
<Relationships xmlns="http://schemas.openxmlformats.org/package/2006/relationships"><Relationship Id="rId8" Type="http://schemas.openxmlformats.org/officeDocument/2006/relationships/image" Target="../media/image708.wmf"/><Relationship Id="rId3" Type="http://schemas.openxmlformats.org/officeDocument/2006/relationships/image" Target="../media/image703.emf"/><Relationship Id="rId7" Type="http://schemas.openxmlformats.org/officeDocument/2006/relationships/image" Target="../media/image707.emf"/><Relationship Id="rId2" Type="http://schemas.openxmlformats.org/officeDocument/2006/relationships/image" Target="../media/image702.wmf"/><Relationship Id="rId1" Type="http://schemas.openxmlformats.org/officeDocument/2006/relationships/image" Target="../media/image701.emf"/><Relationship Id="rId6" Type="http://schemas.openxmlformats.org/officeDocument/2006/relationships/image" Target="../media/image706.emf"/><Relationship Id="rId5" Type="http://schemas.openxmlformats.org/officeDocument/2006/relationships/image" Target="../media/image705.wmf"/><Relationship Id="rId4" Type="http://schemas.openxmlformats.org/officeDocument/2006/relationships/image" Target="../media/image704.wmf"/></Relationships>
</file>

<file path=ppt/drawings/_rels/vmlDrawing122.vml.rels><?xml version="1.0" encoding="UTF-8" standalone="yes"?>
<Relationships xmlns="http://schemas.openxmlformats.org/package/2006/relationships"><Relationship Id="rId3" Type="http://schemas.openxmlformats.org/officeDocument/2006/relationships/image" Target="../media/image715.emf"/><Relationship Id="rId2" Type="http://schemas.openxmlformats.org/officeDocument/2006/relationships/image" Target="../media/image714.emf"/><Relationship Id="rId1" Type="http://schemas.openxmlformats.org/officeDocument/2006/relationships/image" Target="../media/image713.emf"/></Relationships>
</file>

<file path=ppt/drawings/_rels/vmlDrawing123.vml.rels><?xml version="1.0" encoding="UTF-8" standalone="yes"?>
<Relationships xmlns="http://schemas.openxmlformats.org/package/2006/relationships"><Relationship Id="rId8" Type="http://schemas.openxmlformats.org/officeDocument/2006/relationships/image" Target="../media/image723.wmf"/><Relationship Id="rId13" Type="http://schemas.openxmlformats.org/officeDocument/2006/relationships/image" Target="../media/image728.wmf"/><Relationship Id="rId3" Type="http://schemas.openxmlformats.org/officeDocument/2006/relationships/image" Target="../media/image718.wmf"/><Relationship Id="rId7" Type="http://schemas.openxmlformats.org/officeDocument/2006/relationships/image" Target="../media/image722.wmf"/><Relationship Id="rId12" Type="http://schemas.openxmlformats.org/officeDocument/2006/relationships/image" Target="../media/image727.wmf"/><Relationship Id="rId2" Type="http://schemas.openxmlformats.org/officeDocument/2006/relationships/image" Target="../media/image717.wmf"/><Relationship Id="rId1" Type="http://schemas.openxmlformats.org/officeDocument/2006/relationships/image" Target="../media/image716.wmf"/><Relationship Id="rId6" Type="http://schemas.openxmlformats.org/officeDocument/2006/relationships/image" Target="../media/image721.wmf"/><Relationship Id="rId11" Type="http://schemas.openxmlformats.org/officeDocument/2006/relationships/image" Target="../media/image726.wmf"/><Relationship Id="rId5" Type="http://schemas.openxmlformats.org/officeDocument/2006/relationships/image" Target="../media/image720.wmf"/><Relationship Id="rId10" Type="http://schemas.openxmlformats.org/officeDocument/2006/relationships/image" Target="../media/image725.wmf"/><Relationship Id="rId4" Type="http://schemas.openxmlformats.org/officeDocument/2006/relationships/image" Target="../media/image719.wmf"/><Relationship Id="rId9" Type="http://schemas.openxmlformats.org/officeDocument/2006/relationships/image" Target="../media/image724.wmf"/></Relationships>
</file>

<file path=ppt/drawings/_rels/vmlDrawing124.vml.rels><?xml version="1.0" encoding="UTF-8" standalone="yes"?>
<Relationships xmlns="http://schemas.openxmlformats.org/package/2006/relationships"><Relationship Id="rId1" Type="http://schemas.openxmlformats.org/officeDocument/2006/relationships/image" Target="../media/image729.wmf"/></Relationships>
</file>

<file path=ppt/drawings/_rels/vmlDrawing125.vml.rels><?xml version="1.0" encoding="UTF-8" standalone="yes"?>
<Relationships xmlns="http://schemas.openxmlformats.org/package/2006/relationships"><Relationship Id="rId8" Type="http://schemas.openxmlformats.org/officeDocument/2006/relationships/image" Target="../media/image738.wmf"/><Relationship Id="rId3" Type="http://schemas.openxmlformats.org/officeDocument/2006/relationships/image" Target="../media/image733.wmf"/><Relationship Id="rId7" Type="http://schemas.openxmlformats.org/officeDocument/2006/relationships/image" Target="../media/image737.wmf"/><Relationship Id="rId2" Type="http://schemas.openxmlformats.org/officeDocument/2006/relationships/image" Target="../media/image732.wmf"/><Relationship Id="rId1" Type="http://schemas.openxmlformats.org/officeDocument/2006/relationships/image" Target="../media/image731.wmf"/><Relationship Id="rId6" Type="http://schemas.openxmlformats.org/officeDocument/2006/relationships/image" Target="../media/image736.wmf"/><Relationship Id="rId5" Type="http://schemas.openxmlformats.org/officeDocument/2006/relationships/image" Target="../media/image735.wmf"/><Relationship Id="rId10" Type="http://schemas.openxmlformats.org/officeDocument/2006/relationships/image" Target="../media/image740.wmf"/><Relationship Id="rId4" Type="http://schemas.openxmlformats.org/officeDocument/2006/relationships/image" Target="../media/image734.wmf"/><Relationship Id="rId9" Type="http://schemas.openxmlformats.org/officeDocument/2006/relationships/image" Target="../media/image739.wmf"/></Relationships>
</file>

<file path=ppt/drawings/_rels/vmlDrawing126.vml.rels><?xml version="1.0" encoding="UTF-8" standalone="yes"?>
<Relationships xmlns="http://schemas.openxmlformats.org/package/2006/relationships"><Relationship Id="rId3" Type="http://schemas.openxmlformats.org/officeDocument/2006/relationships/image" Target="../media/image744.wmf"/><Relationship Id="rId2" Type="http://schemas.openxmlformats.org/officeDocument/2006/relationships/image" Target="../media/image743.emf"/><Relationship Id="rId1" Type="http://schemas.openxmlformats.org/officeDocument/2006/relationships/image" Target="../media/image742.emf"/><Relationship Id="rId4" Type="http://schemas.openxmlformats.org/officeDocument/2006/relationships/image" Target="../media/image745.wmf"/></Relationships>
</file>

<file path=ppt/drawings/_rels/vmlDrawing127.vml.rels><?xml version="1.0" encoding="UTF-8" standalone="yes"?>
<Relationships xmlns="http://schemas.openxmlformats.org/package/2006/relationships"><Relationship Id="rId2" Type="http://schemas.openxmlformats.org/officeDocument/2006/relationships/image" Target="../media/image747.wmf"/><Relationship Id="rId1" Type="http://schemas.openxmlformats.org/officeDocument/2006/relationships/image" Target="../media/image746.wmf"/></Relationships>
</file>

<file path=ppt/drawings/_rels/vmlDrawing128.vml.rels><?xml version="1.0" encoding="UTF-8" standalone="yes"?>
<Relationships xmlns="http://schemas.openxmlformats.org/package/2006/relationships"><Relationship Id="rId3" Type="http://schemas.openxmlformats.org/officeDocument/2006/relationships/image" Target="../media/image752.wmf"/><Relationship Id="rId2" Type="http://schemas.openxmlformats.org/officeDocument/2006/relationships/image" Target="../media/image751.wmf"/><Relationship Id="rId1" Type="http://schemas.openxmlformats.org/officeDocument/2006/relationships/image" Target="../media/image750.wmf"/><Relationship Id="rId5" Type="http://schemas.openxmlformats.org/officeDocument/2006/relationships/image" Target="../media/image754.wmf"/><Relationship Id="rId4" Type="http://schemas.openxmlformats.org/officeDocument/2006/relationships/image" Target="../media/image753.wmf"/></Relationships>
</file>

<file path=ppt/drawings/_rels/vmlDrawing129.vml.rels><?xml version="1.0" encoding="UTF-8" standalone="yes"?>
<Relationships xmlns="http://schemas.openxmlformats.org/package/2006/relationships"><Relationship Id="rId2" Type="http://schemas.openxmlformats.org/officeDocument/2006/relationships/image" Target="../media/image759.wmf"/><Relationship Id="rId1" Type="http://schemas.openxmlformats.org/officeDocument/2006/relationships/image" Target="../media/image758.wmf"/></Relationships>
</file>

<file path=ppt/drawings/_rels/vmlDrawing130.vml.rels><?xml version="1.0" encoding="UTF-8" standalone="yes"?>
<Relationships xmlns="http://schemas.openxmlformats.org/package/2006/relationships"><Relationship Id="rId3" Type="http://schemas.openxmlformats.org/officeDocument/2006/relationships/image" Target="../media/image764.wmf"/><Relationship Id="rId7" Type="http://schemas.openxmlformats.org/officeDocument/2006/relationships/image" Target="../media/image768.wmf"/><Relationship Id="rId2" Type="http://schemas.openxmlformats.org/officeDocument/2006/relationships/image" Target="../media/image763.wmf"/><Relationship Id="rId1" Type="http://schemas.openxmlformats.org/officeDocument/2006/relationships/image" Target="../media/image762.wmf"/><Relationship Id="rId6" Type="http://schemas.openxmlformats.org/officeDocument/2006/relationships/image" Target="../media/image767.wmf"/><Relationship Id="rId5" Type="http://schemas.openxmlformats.org/officeDocument/2006/relationships/image" Target="../media/image766.wmf"/><Relationship Id="rId4" Type="http://schemas.openxmlformats.org/officeDocument/2006/relationships/image" Target="../media/image765.wmf"/></Relationships>
</file>

<file path=ppt/drawings/_rels/vmlDrawing131.vml.rels><?xml version="1.0" encoding="UTF-8" standalone="yes"?>
<Relationships xmlns="http://schemas.openxmlformats.org/package/2006/relationships"><Relationship Id="rId3" Type="http://schemas.openxmlformats.org/officeDocument/2006/relationships/image" Target="../media/image773.wmf"/><Relationship Id="rId2" Type="http://schemas.openxmlformats.org/officeDocument/2006/relationships/image" Target="../media/image772.wmf"/><Relationship Id="rId1" Type="http://schemas.openxmlformats.org/officeDocument/2006/relationships/image" Target="../media/image771.wmf"/><Relationship Id="rId4" Type="http://schemas.openxmlformats.org/officeDocument/2006/relationships/image" Target="../media/image774.wmf"/></Relationships>
</file>

<file path=ppt/drawings/_rels/vmlDrawing132.vml.rels><?xml version="1.0" encoding="UTF-8" standalone="yes"?>
<Relationships xmlns="http://schemas.openxmlformats.org/package/2006/relationships"><Relationship Id="rId3" Type="http://schemas.openxmlformats.org/officeDocument/2006/relationships/image" Target="../media/image778.wmf"/><Relationship Id="rId7" Type="http://schemas.openxmlformats.org/officeDocument/2006/relationships/image" Target="../media/image782.wmf"/><Relationship Id="rId2" Type="http://schemas.openxmlformats.org/officeDocument/2006/relationships/image" Target="../media/image777.wmf"/><Relationship Id="rId1" Type="http://schemas.openxmlformats.org/officeDocument/2006/relationships/image" Target="../media/image776.wmf"/><Relationship Id="rId6" Type="http://schemas.openxmlformats.org/officeDocument/2006/relationships/image" Target="../media/image781.wmf"/><Relationship Id="rId5" Type="http://schemas.openxmlformats.org/officeDocument/2006/relationships/image" Target="../media/image780.wmf"/><Relationship Id="rId4" Type="http://schemas.openxmlformats.org/officeDocument/2006/relationships/image" Target="../media/image779.wmf"/></Relationships>
</file>

<file path=ppt/drawings/_rels/vmlDrawing133.vml.rels><?xml version="1.0" encoding="UTF-8" standalone="yes"?>
<Relationships xmlns="http://schemas.openxmlformats.org/package/2006/relationships"><Relationship Id="rId3" Type="http://schemas.openxmlformats.org/officeDocument/2006/relationships/image" Target="../media/image785.wmf"/><Relationship Id="rId2" Type="http://schemas.openxmlformats.org/officeDocument/2006/relationships/image" Target="../media/image774.wmf"/><Relationship Id="rId1" Type="http://schemas.openxmlformats.org/officeDocument/2006/relationships/image" Target="../media/image784.wmf"/><Relationship Id="rId6" Type="http://schemas.openxmlformats.org/officeDocument/2006/relationships/image" Target="../media/image788.wmf"/><Relationship Id="rId5" Type="http://schemas.openxmlformats.org/officeDocument/2006/relationships/image" Target="../media/image787.wmf"/><Relationship Id="rId4" Type="http://schemas.openxmlformats.org/officeDocument/2006/relationships/image" Target="../media/image786.wmf"/></Relationships>
</file>

<file path=ppt/drawings/_rels/vmlDrawing134.vml.rels><?xml version="1.0" encoding="UTF-8" standalone="yes"?>
<Relationships xmlns="http://schemas.openxmlformats.org/package/2006/relationships"><Relationship Id="rId2" Type="http://schemas.openxmlformats.org/officeDocument/2006/relationships/image" Target="../media/image795.wmf"/><Relationship Id="rId1" Type="http://schemas.openxmlformats.org/officeDocument/2006/relationships/image" Target="../media/image794.png"/></Relationships>
</file>

<file path=ppt/drawings/_rels/vmlDrawing135.vml.rels><?xml version="1.0" encoding="UTF-8" standalone="yes"?>
<Relationships xmlns="http://schemas.openxmlformats.org/package/2006/relationships"><Relationship Id="rId1" Type="http://schemas.openxmlformats.org/officeDocument/2006/relationships/image" Target="../media/image796.png"/></Relationships>
</file>

<file path=ppt/drawings/_rels/vmlDrawing136.vml.rels><?xml version="1.0" encoding="UTF-8" standalone="yes"?>
<Relationships xmlns="http://schemas.openxmlformats.org/package/2006/relationships"><Relationship Id="rId8" Type="http://schemas.openxmlformats.org/officeDocument/2006/relationships/image" Target="../media/image804.wmf"/><Relationship Id="rId3" Type="http://schemas.openxmlformats.org/officeDocument/2006/relationships/image" Target="../media/image799.wmf"/><Relationship Id="rId7" Type="http://schemas.openxmlformats.org/officeDocument/2006/relationships/image" Target="../media/image803.wmf"/><Relationship Id="rId2" Type="http://schemas.openxmlformats.org/officeDocument/2006/relationships/image" Target="../media/image798.png"/><Relationship Id="rId1" Type="http://schemas.openxmlformats.org/officeDocument/2006/relationships/image" Target="../media/image797.png"/><Relationship Id="rId6" Type="http://schemas.openxmlformats.org/officeDocument/2006/relationships/image" Target="../media/image802.wmf"/><Relationship Id="rId5" Type="http://schemas.openxmlformats.org/officeDocument/2006/relationships/image" Target="../media/image801.wmf"/><Relationship Id="rId4" Type="http://schemas.openxmlformats.org/officeDocument/2006/relationships/image" Target="../media/image800.wmf"/></Relationships>
</file>

<file path=ppt/drawings/_rels/vmlDrawing137.vml.rels><?xml version="1.0" encoding="UTF-8" standalone="yes"?>
<Relationships xmlns="http://schemas.openxmlformats.org/package/2006/relationships"><Relationship Id="rId3" Type="http://schemas.openxmlformats.org/officeDocument/2006/relationships/image" Target="../media/image807.wmf"/><Relationship Id="rId2" Type="http://schemas.openxmlformats.org/officeDocument/2006/relationships/image" Target="../media/image806.wmf"/><Relationship Id="rId1" Type="http://schemas.openxmlformats.org/officeDocument/2006/relationships/image" Target="../media/image805.wmf"/><Relationship Id="rId6" Type="http://schemas.openxmlformats.org/officeDocument/2006/relationships/image" Target="../media/image810.wmf"/><Relationship Id="rId5" Type="http://schemas.openxmlformats.org/officeDocument/2006/relationships/image" Target="../media/image809.wmf"/><Relationship Id="rId4" Type="http://schemas.openxmlformats.org/officeDocument/2006/relationships/image" Target="../media/image808.wmf"/></Relationships>
</file>

<file path=ppt/drawings/_rels/vmlDrawing138.vml.rels><?xml version="1.0" encoding="UTF-8" standalone="yes"?>
<Relationships xmlns="http://schemas.openxmlformats.org/package/2006/relationships"><Relationship Id="rId2" Type="http://schemas.openxmlformats.org/officeDocument/2006/relationships/image" Target="../media/image814.png"/><Relationship Id="rId1" Type="http://schemas.openxmlformats.org/officeDocument/2006/relationships/image" Target="../media/image813.wmf"/></Relationships>
</file>

<file path=ppt/drawings/_rels/vmlDrawing139.vml.rels><?xml version="1.0" encoding="UTF-8" standalone="yes"?>
<Relationships xmlns="http://schemas.openxmlformats.org/package/2006/relationships"><Relationship Id="rId3" Type="http://schemas.openxmlformats.org/officeDocument/2006/relationships/image" Target="../media/image816.wmf"/><Relationship Id="rId2" Type="http://schemas.openxmlformats.org/officeDocument/2006/relationships/image" Target="../media/image815.wmf"/><Relationship Id="rId1" Type="http://schemas.openxmlformats.org/officeDocument/2006/relationships/image" Target="../media/image813.wmf"/><Relationship Id="rId5" Type="http://schemas.openxmlformats.org/officeDocument/2006/relationships/image" Target="../media/image814.png"/><Relationship Id="rId4" Type="http://schemas.openxmlformats.org/officeDocument/2006/relationships/image" Target="../media/image817.wmf"/></Relationships>
</file>

<file path=ppt/drawings/_rels/vmlDrawing140.vml.rels><?xml version="1.0" encoding="UTF-8" standalone="yes"?>
<Relationships xmlns="http://schemas.openxmlformats.org/package/2006/relationships"><Relationship Id="rId2" Type="http://schemas.openxmlformats.org/officeDocument/2006/relationships/image" Target="../media/image819.emf"/><Relationship Id="rId1" Type="http://schemas.openxmlformats.org/officeDocument/2006/relationships/image" Target="../media/image818.wmf"/></Relationships>
</file>

<file path=ppt/drawings/_rels/vmlDrawing141.vml.rels><?xml version="1.0" encoding="UTF-8" standalone="yes"?>
<Relationships xmlns="http://schemas.openxmlformats.org/package/2006/relationships"><Relationship Id="rId3" Type="http://schemas.openxmlformats.org/officeDocument/2006/relationships/image" Target="../media/image824.wmf"/><Relationship Id="rId2" Type="http://schemas.openxmlformats.org/officeDocument/2006/relationships/image" Target="../media/image823.wmf"/><Relationship Id="rId1" Type="http://schemas.openxmlformats.org/officeDocument/2006/relationships/image" Target="../media/image822.wmf"/><Relationship Id="rId4" Type="http://schemas.openxmlformats.org/officeDocument/2006/relationships/image" Target="../media/image825.png"/></Relationships>
</file>

<file path=ppt/drawings/_rels/vmlDrawing142.vml.rels><?xml version="1.0" encoding="UTF-8" standalone="yes"?>
<Relationships xmlns="http://schemas.openxmlformats.org/package/2006/relationships"><Relationship Id="rId3" Type="http://schemas.openxmlformats.org/officeDocument/2006/relationships/image" Target="../media/image828.emf"/><Relationship Id="rId2" Type="http://schemas.openxmlformats.org/officeDocument/2006/relationships/image" Target="../media/image827.emf"/><Relationship Id="rId1" Type="http://schemas.openxmlformats.org/officeDocument/2006/relationships/image" Target="../media/image826.emf"/><Relationship Id="rId6" Type="http://schemas.openxmlformats.org/officeDocument/2006/relationships/image" Target="../media/image831.emf"/><Relationship Id="rId5" Type="http://schemas.openxmlformats.org/officeDocument/2006/relationships/image" Target="../media/image830.emf"/><Relationship Id="rId4" Type="http://schemas.openxmlformats.org/officeDocument/2006/relationships/image" Target="../media/image829.emf"/></Relationships>
</file>

<file path=ppt/drawings/_rels/vmlDrawing143.vml.rels><?xml version="1.0" encoding="UTF-8" standalone="yes"?>
<Relationships xmlns="http://schemas.openxmlformats.org/package/2006/relationships"><Relationship Id="rId1" Type="http://schemas.openxmlformats.org/officeDocument/2006/relationships/image" Target="../media/image832.emf"/></Relationships>
</file>

<file path=ppt/drawings/_rels/vmlDrawing144.vml.rels><?xml version="1.0" encoding="UTF-8" standalone="yes"?>
<Relationships xmlns="http://schemas.openxmlformats.org/package/2006/relationships"><Relationship Id="rId1" Type="http://schemas.openxmlformats.org/officeDocument/2006/relationships/image" Target="../media/image834.wmf"/></Relationships>
</file>

<file path=ppt/drawings/_rels/vmlDrawing145.vml.rels><?xml version="1.0" encoding="UTF-8" standalone="yes"?>
<Relationships xmlns="http://schemas.openxmlformats.org/package/2006/relationships"><Relationship Id="rId8" Type="http://schemas.openxmlformats.org/officeDocument/2006/relationships/image" Target="../media/image843.wmf"/><Relationship Id="rId3" Type="http://schemas.openxmlformats.org/officeDocument/2006/relationships/image" Target="../media/image838.wmf"/><Relationship Id="rId7" Type="http://schemas.openxmlformats.org/officeDocument/2006/relationships/image" Target="../media/image842.emf"/><Relationship Id="rId2" Type="http://schemas.openxmlformats.org/officeDocument/2006/relationships/image" Target="../media/image837.wmf"/><Relationship Id="rId1" Type="http://schemas.openxmlformats.org/officeDocument/2006/relationships/image" Target="../media/image836.png"/><Relationship Id="rId6" Type="http://schemas.openxmlformats.org/officeDocument/2006/relationships/image" Target="../media/image841.emf"/><Relationship Id="rId5" Type="http://schemas.openxmlformats.org/officeDocument/2006/relationships/image" Target="../media/image840.wmf"/><Relationship Id="rId4" Type="http://schemas.openxmlformats.org/officeDocument/2006/relationships/image" Target="../media/image839.wmf"/><Relationship Id="rId9" Type="http://schemas.openxmlformats.org/officeDocument/2006/relationships/image" Target="../media/image844.wmf"/></Relationships>
</file>

<file path=ppt/drawings/_rels/vmlDrawing146.vml.rels><?xml version="1.0" encoding="UTF-8" standalone="yes"?>
<Relationships xmlns="http://schemas.openxmlformats.org/package/2006/relationships"><Relationship Id="rId3" Type="http://schemas.openxmlformats.org/officeDocument/2006/relationships/image" Target="../media/image849.wmf"/><Relationship Id="rId2" Type="http://schemas.openxmlformats.org/officeDocument/2006/relationships/image" Target="../media/image848.wmf"/><Relationship Id="rId1" Type="http://schemas.openxmlformats.org/officeDocument/2006/relationships/image" Target="../media/image847.wmf"/><Relationship Id="rId5" Type="http://schemas.openxmlformats.org/officeDocument/2006/relationships/image" Target="../media/image851.wmf"/><Relationship Id="rId4" Type="http://schemas.openxmlformats.org/officeDocument/2006/relationships/image" Target="../media/image850.wmf"/></Relationships>
</file>

<file path=ppt/drawings/_rels/vmlDrawing147.vml.rels><?xml version="1.0" encoding="UTF-8" standalone="yes"?>
<Relationships xmlns="http://schemas.openxmlformats.org/package/2006/relationships"><Relationship Id="rId3" Type="http://schemas.openxmlformats.org/officeDocument/2006/relationships/image" Target="../media/image856.wmf"/><Relationship Id="rId2" Type="http://schemas.openxmlformats.org/officeDocument/2006/relationships/image" Target="../media/image855.png"/><Relationship Id="rId1" Type="http://schemas.openxmlformats.org/officeDocument/2006/relationships/image" Target="../media/image854.wmf"/><Relationship Id="rId6" Type="http://schemas.openxmlformats.org/officeDocument/2006/relationships/image" Target="../media/image859.wmf"/><Relationship Id="rId5" Type="http://schemas.openxmlformats.org/officeDocument/2006/relationships/image" Target="../media/image858.wmf"/><Relationship Id="rId4" Type="http://schemas.openxmlformats.org/officeDocument/2006/relationships/image" Target="../media/image857.wmf"/></Relationships>
</file>

<file path=ppt/drawings/_rels/vmlDrawing148.vml.rels><?xml version="1.0" encoding="UTF-8" standalone="yes"?>
<Relationships xmlns="http://schemas.openxmlformats.org/package/2006/relationships"><Relationship Id="rId3" Type="http://schemas.openxmlformats.org/officeDocument/2006/relationships/image" Target="../media/image862.emf"/><Relationship Id="rId2" Type="http://schemas.openxmlformats.org/officeDocument/2006/relationships/image" Target="../media/image861.png"/><Relationship Id="rId1" Type="http://schemas.openxmlformats.org/officeDocument/2006/relationships/image" Target="../media/image860.wmf"/><Relationship Id="rId4" Type="http://schemas.openxmlformats.org/officeDocument/2006/relationships/image" Target="../media/image863.emf"/></Relationships>
</file>

<file path=ppt/drawings/_rels/vmlDrawing149.vml.rels><?xml version="1.0" encoding="UTF-8" standalone="yes"?>
<Relationships xmlns="http://schemas.openxmlformats.org/package/2006/relationships"><Relationship Id="rId3" Type="http://schemas.openxmlformats.org/officeDocument/2006/relationships/image" Target="../media/image866.emf"/><Relationship Id="rId2" Type="http://schemas.openxmlformats.org/officeDocument/2006/relationships/image" Target="../media/image865.wmf"/><Relationship Id="rId1" Type="http://schemas.openxmlformats.org/officeDocument/2006/relationships/image" Target="../media/image864.wmf"/><Relationship Id="rId4" Type="http://schemas.openxmlformats.org/officeDocument/2006/relationships/image" Target="../media/image861.png"/></Relationships>
</file>

<file path=ppt/drawings/_rels/vmlDrawing150.vml.rels><?xml version="1.0" encoding="UTF-8" standalone="yes"?>
<Relationships xmlns="http://schemas.openxmlformats.org/package/2006/relationships"><Relationship Id="rId2" Type="http://schemas.openxmlformats.org/officeDocument/2006/relationships/image" Target="../media/image868.wmf"/><Relationship Id="rId1" Type="http://schemas.openxmlformats.org/officeDocument/2006/relationships/image" Target="../media/image867.wmf"/></Relationships>
</file>

<file path=ppt/drawings/_rels/vmlDrawing151.vml.rels><?xml version="1.0" encoding="UTF-8" standalone="yes"?>
<Relationships xmlns="http://schemas.openxmlformats.org/package/2006/relationships"><Relationship Id="rId3" Type="http://schemas.openxmlformats.org/officeDocument/2006/relationships/image" Target="../media/image873.emf"/><Relationship Id="rId2" Type="http://schemas.openxmlformats.org/officeDocument/2006/relationships/image" Target="../media/image872.emf"/><Relationship Id="rId1" Type="http://schemas.openxmlformats.org/officeDocument/2006/relationships/image" Target="../media/image871.emf"/><Relationship Id="rId4" Type="http://schemas.openxmlformats.org/officeDocument/2006/relationships/image" Target="../media/image874.wmf"/></Relationships>
</file>

<file path=ppt/drawings/_rels/vmlDrawing152.vml.rels><?xml version="1.0" encoding="UTF-8" standalone="yes"?>
<Relationships xmlns="http://schemas.openxmlformats.org/package/2006/relationships"><Relationship Id="rId8" Type="http://schemas.openxmlformats.org/officeDocument/2006/relationships/image" Target="../media/image882.wmf"/><Relationship Id="rId3" Type="http://schemas.openxmlformats.org/officeDocument/2006/relationships/image" Target="../media/image877.wmf"/><Relationship Id="rId7" Type="http://schemas.openxmlformats.org/officeDocument/2006/relationships/image" Target="../media/image881.wmf"/><Relationship Id="rId2" Type="http://schemas.openxmlformats.org/officeDocument/2006/relationships/image" Target="../media/image876.wmf"/><Relationship Id="rId1" Type="http://schemas.openxmlformats.org/officeDocument/2006/relationships/image" Target="../media/image875.wmf"/><Relationship Id="rId6" Type="http://schemas.openxmlformats.org/officeDocument/2006/relationships/image" Target="../media/image880.wmf"/><Relationship Id="rId5" Type="http://schemas.openxmlformats.org/officeDocument/2006/relationships/image" Target="../media/image879.wmf"/><Relationship Id="rId4" Type="http://schemas.openxmlformats.org/officeDocument/2006/relationships/image" Target="../media/image878.wmf"/></Relationships>
</file>

<file path=ppt/drawings/_rels/vmlDrawing153.vml.rels><?xml version="1.0" encoding="UTF-8" standalone="yes"?>
<Relationships xmlns="http://schemas.openxmlformats.org/package/2006/relationships"><Relationship Id="rId8" Type="http://schemas.openxmlformats.org/officeDocument/2006/relationships/image" Target="../media/image892.emf"/><Relationship Id="rId3" Type="http://schemas.openxmlformats.org/officeDocument/2006/relationships/image" Target="../media/image887.wmf"/><Relationship Id="rId7" Type="http://schemas.openxmlformats.org/officeDocument/2006/relationships/image" Target="../media/image891.wmf"/><Relationship Id="rId2" Type="http://schemas.openxmlformats.org/officeDocument/2006/relationships/image" Target="../media/image886.wmf"/><Relationship Id="rId1" Type="http://schemas.openxmlformats.org/officeDocument/2006/relationships/image" Target="../media/image885.emf"/><Relationship Id="rId6" Type="http://schemas.openxmlformats.org/officeDocument/2006/relationships/image" Target="../media/image890.wmf"/><Relationship Id="rId5" Type="http://schemas.openxmlformats.org/officeDocument/2006/relationships/image" Target="../media/image889.wmf"/><Relationship Id="rId4" Type="http://schemas.openxmlformats.org/officeDocument/2006/relationships/image" Target="../media/image888.wmf"/></Relationships>
</file>

<file path=ppt/drawings/_rels/vmlDrawing154.vml.rels><?xml version="1.0" encoding="UTF-8" standalone="yes"?>
<Relationships xmlns="http://schemas.openxmlformats.org/package/2006/relationships"><Relationship Id="rId3" Type="http://schemas.openxmlformats.org/officeDocument/2006/relationships/image" Target="../media/image897.emf"/><Relationship Id="rId2" Type="http://schemas.openxmlformats.org/officeDocument/2006/relationships/image" Target="../media/image896.emf"/><Relationship Id="rId1" Type="http://schemas.openxmlformats.org/officeDocument/2006/relationships/image" Target="../media/image895.emf"/></Relationships>
</file>

<file path=ppt/drawings/_rels/vmlDrawing155.vml.rels><?xml version="1.0" encoding="UTF-8" standalone="yes"?>
<Relationships xmlns="http://schemas.openxmlformats.org/package/2006/relationships"><Relationship Id="rId3" Type="http://schemas.openxmlformats.org/officeDocument/2006/relationships/image" Target="../media/image901.wmf"/><Relationship Id="rId2" Type="http://schemas.openxmlformats.org/officeDocument/2006/relationships/image" Target="../media/image900.wmf"/><Relationship Id="rId1" Type="http://schemas.openxmlformats.org/officeDocument/2006/relationships/image" Target="../media/image899.emf"/><Relationship Id="rId6" Type="http://schemas.openxmlformats.org/officeDocument/2006/relationships/image" Target="../media/image904.wmf"/><Relationship Id="rId5" Type="http://schemas.openxmlformats.org/officeDocument/2006/relationships/image" Target="../media/image903.wmf"/><Relationship Id="rId4" Type="http://schemas.openxmlformats.org/officeDocument/2006/relationships/image" Target="../media/image902.wmf"/></Relationships>
</file>

<file path=ppt/drawings/_rels/vmlDrawing156.vml.rels><?xml version="1.0" encoding="UTF-8" standalone="yes"?>
<Relationships xmlns="http://schemas.openxmlformats.org/package/2006/relationships"><Relationship Id="rId3" Type="http://schemas.openxmlformats.org/officeDocument/2006/relationships/image" Target="../media/image907.wmf"/><Relationship Id="rId2" Type="http://schemas.openxmlformats.org/officeDocument/2006/relationships/image" Target="../media/image906.emf"/><Relationship Id="rId1" Type="http://schemas.openxmlformats.org/officeDocument/2006/relationships/image" Target="../media/image905.emf"/><Relationship Id="rId5" Type="http://schemas.openxmlformats.org/officeDocument/2006/relationships/image" Target="../media/image909.wmf"/><Relationship Id="rId4" Type="http://schemas.openxmlformats.org/officeDocument/2006/relationships/image" Target="../media/image908.wmf"/></Relationships>
</file>

<file path=ppt/drawings/_rels/vmlDrawing157.vml.rels><?xml version="1.0" encoding="UTF-8" standalone="yes"?>
<Relationships xmlns="http://schemas.openxmlformats.org/package/2006/relationships"><Relationship Id="rId8" Type="http://schemas.openxmlformats.org/officeDocument/2006/relationships/image" Target="../media/image920.wmf"/><Relationship Id="rId3" Type="http://schemas.openxmlformats.org/officeDocument/2006/relationships/image" Target="../media/image915.wmf"/><Relationship Id="rId7" Type="http://schemas.openxmlformats.org/officeDocument/2006/relationships/image" Target="../media/image919.wmf"/><Relationship Id="rId2" Type="http://schemas.openxmlformats.org/officeDocument/2006/relationships/image" Target="../media/image914.wmf"/><Relationship Id="rId1" Type="http://schemas.openxmlformats.org/officeDocument/2006/relationships/image" Target="../media/image913.emf"/><Relationship Id="rId6" Type="http://schemas.openxmlformats.org/officeDocument/2006/relationships/image" Target="../media/image918.wmf"/><Relationship Id="rId5" Type="http://schemas.openxmlformats.org/officeDocument/2006/relationships/image" Target="../media/image917.wmf"/><Relationship Id="rId4" Type="http://schemas.openxmlformats.org/officeDocument/2006/relationships/image" Target="../media/image916.wmf"/></Relationships>
</file>

<file path=ppt/drawings/_rels/vmlDrawing158.vml.rels><?xml version="1.0" encoding="UTF-8" standalone="yes"?>
<Relationships xmlns="http://schemas.openxmlformats.org/package/2006/relationships"><Relationship Id="rId8" Type="http://schemas.openxmlformats.org/officeDocument/2006/relationships/image" Target="../media/image924.wmf"/><Relationship Id="rId3" Type="http://schemas.openxmlformats.org/officeDocument/2006/relationships/image" Target="../media/image918.wmf"/><Relationship Id="rId7" Type="http://schemas.openxmlformats.org/officeDocument/2006/relationships/image" Target="../media/image923.wmf"/><Relationship Id="rId2" Type="http://schemas.openxmlformats.org/officeDocument/2006/relationships/image" Target="../media/image917.wmf"/><Relationship Id="rId1" Type="http://schemas.openxmlformats.org/officeDocument/2006/relationships/image" Target="../media/image916.wmf"/><Relationship Id="rId6" Type="http://schemas.openxmlformats.org/officeDocument/2006/relationships/image" Target="../media/image922.wmf"/><Relationship Id="rId5" Type="http://schemas.openxmlformats.org/officeDocument/2006/relationships/image" Target="../media/image920.wmf"/><Relationship Id="rId4" Type="http://schemas.openxmlformats.org/officeDocument/2006/relationships/image" Target="../media/image919.wmf"/></Relationships>
</file>

<file path=ppt/drawings/_rels/vmlDrawing159.vml.rels><?xml version="1.0" encoding="UTF-8" standalone="yes"?>
<Relationships xmlns="http://schemas.openxmlformats.org/package/2006/relationships"><Relationship Id="rId8" Type="http://schemas.openxmlformats.org/officeDocument/2006/relationships/image" Target="../media/image933.wmf"/><Relationship Id="rId3" Type="http://schemas.openxmlformats.org/officeDocument/2006/relationships/image" Target="../media/image928.wmf"/><Relationship Id="rId7" Type="http://schemas.openxmlformats.org/officeDocument/2006/relationships/image" Target="../media/image932.wmf"/><Relationship Id="rId2" Type="http://schemas.openxmlformats.org/officeDocument/2006/relationships/image" Target="../media/image927.wmf"/><Relationship Id="rId1" Type="http://schemas.openxmlformats.org/officeDocument/2006/relationships/image" Target="../media/image926.wmf"/><Relationship Id="rId6" Type="http://schemas.openxmlformats.org/officeDocument/2006/relationships/image" Target="../media/image931.wmf"/><Relationship Id="rId5" Type="http://schemas.openxmlformats.org/officeDocument/2006/relationships/image" Target="../media/image930.wmf"/><Relationship Id="rId4" Type="http://schemas.openxmlformats.org/officeDocument/2006/relationships/image" Target="../media/image929.wmf"/></Relationships>
</file>

<file path=ppt/drawings/_rels/vmlDrawing160.vml.rels><?xml version="1.0" encoding="UTF-8" standalone="yes"?>
<Relationships xmlns="http://schemas.openxmlformats.org/package/2006/relationships"><Relationship Id="rId3" Type="http://schemas.openxmlformats.org/officeDocument/2006/relationships/image" Target="../media/image935.wmf"/><Relationship Id="rId2" Type="http://schemas.openxmlformats.org/officeDocument/2006/relationships/image" Target="../media/image934.wmf"/><Relationship Id="rId1" Type="http://schemas.openxmlformats.org/officeDocument/2006/relationships/image" Target="../media/image932.wmf"/></Relationships>
</file>

<file path=ppt/drawings/_rels/vmlDrawing161.vml.rels><?xml version="1.0" encoding="UTF-8" standalone="yes"?>
<Relationships xmlns="http://schemas.openxmlformats.org/package/2006/relationships"><Relationship Id="rId3" Type="http://schemas.openxmlformats.org/officeDocument/2006/relationships/image" Target="../media/image941.wmf"/><Relationship Id="rId2" Type="http://schemas.openxmlformats.org/officeDocument/2006/relationships/image" Target="../media/image940.wmf"/><Relationship Id="rId1" Type="http://schemas.openxmlformats.org/officeDocument/2006/relationships/image" Target="../media/image939.wmf"/></Relationships>
</file>

<file path=ppt/drawings/_rels/vmlDrawing162.vml.rels><?xml version="1.0" encoding="UTF-8" standalone="yes"?>
<Relationships xmlns="http://schemas.openxmlformats.org/package/2006/relationships"><Relationship Id="rId8" Type="http://schemas.openxmlformats.org/officeDocument/2006/relationships/image" Target="../media/image950.wmf"/><Relationship Id="rId3" Type="http://schemas.openxmlformats.org/officeDocument/2006/relationships/image" Target="../media/image945.wmf"/><Relationship Id="rId7" Type="http://schemas.openxmlformats.org/officeDocument/2006/relationships/image" Target="../media/image949.wmf"/><Relationship Id="rId2" Type="http://schemas.openxmlformats.org/officeDocument/2006/relationships/image" Target="../media/image944.wmf"/><Relationship Id="rId1" Type="http://schemas.openxmlformats.org/officeDocument/2006/relationships/image" Target="../media/image943.wmf"/><Relationship Id="rId6" Type="http://schemas.openxmlformats.org/officeDocument/2006/relationships/image" Target="../media/image948.wmf"/><Relationship Id="rId5" Type="http://schemas.openxmlformats.org/officeDocument/2006/relationships/image" Target="../media/image947.wmf"/><Relationship Id="rId4" Type="http://schemas.openxmlformats.org/officeDocument/2006/relationships/image" Target="../media/image946.wmf"/><Relationship Id="rId9" Type="http://schemas.openxmlformats.org/officeDocument/2006/relationships/image" Target="../media/image951.wmf"/></Relationships>
</file>

<file path=ppt/drawings/_rels/vmlDrawing163.vml.rels><?xml version="1.0" encoding="UTF-8" standalone="yes"?>
<Relationships xmlns="http://schemas.openxmlformats.org/package/2006/relationships"><Relationship Id="rId1" Type="http://schemas.openxmlformats.org/officeDocument/2006/relationships/image" Target="../media/image953.wmf"/></Relationships>
</file>

<file path=ppt/drawings/_rels/vmlDrawing164.vml.rels><?xml version="1.0" encoding="UTF-8" standalone="yes"?>
<Relationships xmlns="http://schemas.openxmlformats.org/package/2006/relationships"><Relationship Id="rId8" Type="http://schemas.openxmlformats.org/officeDocument/2006/relationships/image" Target="../media/image960.emf"/><Relationship Id="rId3" Type="http://schemas.openxmlformats.org/officeDocument/2006/relationships/image" Target="../media/image955.wmf"/><Relationship Id="rId7" Type="http://schemas.openxmlformats.org/officeDocument/2006/relationships/image" Target="../media/image959.wmf"/><Relationship Id="rId2" Type="http://schemas.openxmlformats.org/officeDocument/2006/relationships/image" Target="../media/image954.wmf"/><Relationship Id="rId1" Type="http://schemas.openxmlformats.org/officeDocument/2006/relationships/image" Target="../media/image953.wmf"/><Relationship Id="rId6" Type="http://schemas.openxmlformats.org/officeDocument/2006/relationships/image" Target="../media/image958.wmf"/><Relationship Id="rId5" Type="http://schemas.openxmlformats.org/officeDocument/2006/relationships/image" Target="../media/image957.wmf"/><Relationship Id="rId4" Type="http://schemas.openxmlformats.org/officeDocument/2006/relationships/image" Target="../media/image956.wmf"/></Relationships>
</file>

<file path=ppt/drawings/_rels/vmlDrawing165.vml.rels><?xml version="1.0" encoding="UTF-8" standalone="yes"?>
<Relationships xmlns="http://schemas.openxmlformats.org/package/2006/relationships"><Relationship Id="rId3" Type="http://schemas.openxmlformats.org/officeDocument/2006/relationships/image" Target="../media/image963.wmf"/><Relationship Id="rId2" Type="http://schemas.openxmlformats.org/officeDocument/2006/relationships/image" Target="../media/image962.wmf"/><Relationship Id="rId1" Type="http://schemas.openxmlformats.org/officeDocument/2006/relationships/image" Target="../media/image961.wmf"/><Relationship Id="rId5" Type="http://schemas.openxmlformats.org/officeDocument/2006/relationships/image" Target="../media/image965.wmf"/><Relationship Id="rId4" Type="http://schemas.openxmlformats.org/officeDocument/2006/relationships/image" Target="../media/image964.emf"/></Relationships>
</file>

<file path=ppt/drawings/_rels/vmlDrawing166.vml.rels><?xml version="1.0" encoding="UTF-8" standalone="yes"?>
<Relationships xmlns="http://schemas.openxmlformats.org/package/2006/relationships"><Relationship Id="rId3" Type="http://schemas.openxmlformats.org/officeDocument/2006/relationships/image" Target="../media/image970.wmf"/><Relationship Id="rId2" Type="http://schemas.openxmlformats.org/officeDocument/2006/relationships/image" Target="../media/image969.emf"/><Relationship Id="rId1" Type="http://schemas.openxmlformats.org/officeDocument/2006/relationships/image" Target="../media/image968.emf"/><Relationship Id="rId6" Type="http://schemas.openxmlformats.org/officeDocument/2006/relationships/image" Target="../media/image972.wmf"/><Relationship Id="rId5" Type="http://schemas.openxmlformats.org/officeDocument/2006/relationships/image" Target="../media/image971.wmf"/><Relationship Id="rId4" Type="http://schemas.openxmlformats.org/officeDocument/2006/relationships/image" Target="../media/image926.wmf"/></Relationships>
</file>

<file path=ppt/drawings/_rels/vmlDrawing167.vml.rels><?xml version="1.0" encoding="UTF-8" standalone="yes"?>
<Relationships xmlns="http://schemas.openxmlformats.org/package/2006/relationships"><Relationship Id="rId3" Type="http://schemas.openxmlformats.org/officeDocument/2006/relationships/image" Target="../media/image978.emf"/><Relationship Id="rId2" Type="http://schemas.openxmlformats.org/officeDocument/2006/relationships/image" Target="../media/image977.emf"/><Relationship Id="rId1" Type="http://schemas.openxmlformats.org/officeDocument/2006/relationships/image" Target="../media/image976.emf"/></Relationships>
</file>

<file path=ppt/drawings/_rels/vmlDrawing168.vml.rels><?xml version="1.0" encoding="UTF-8" standalone="yes"?>
<Relationships xmlns="http://schemas.openxmlformats.org/package/2006/relationships"><Relationship Id="rId2" Type="http://schemas.openxmlformats.org/officeDocument/2006/relationships/image" Target="../media/image980.emf"/><Relationship Id="rId1" Type="http://schemas.openxmlformats.org/officeDocument/2006/relationships/image" Target="../media/image979.emf"/></Relationships>
</file>

<file path=ppt/drawings/_rels/vmlDrawing169.vml.rels><?xml version="1.0" encoding="UTF-8" standalone="yes"?>
<Relationships xmlns="http://schemas.openxmlformats.org/package/2006/relationships"><Relationship Id="rId3" Type="http://schemas.openxmlformats.org/officeDocument/2006/relationships/image" Target="../media/image983.wmf"/><Relationship Id="rId2" Type="http://schemas.openxmlformats.org/officeDocument/2006/relationships/image" Target="../media/image982.wmf"/><Relationship Id="rId1" Type="http://schemas.openxmlformats.org/officeDocument/2006/relationships/image" Target="../media/image981.emf"/></Relationships>
</file>

<file path=ppt/drawings/_rels/vmlDrawing170.vml.rels><?xml version="1.0" encoding="UTF-8" standalone="yes"?>
<Relationships xmlns="http://schemas.openxmlformats.org/package/2006/relationships"><Relationship Id="rId3" Type="http://schemas.openxmlformats.org/officeDocument/2006/relationships/image" Target="../media/image986.wmf"/><Relationship Id="rId2" Type="http://schemas.openxmlformats.org/officeDocument/2006/relationships/image" Target="../media/image985.emf"/><Relationship Id="rId1" Type="http://schemas.openxmlformats.org/officeDocument/2006/relationships/image" Target="../media/image984.emf"/><Relationship Id="rId4" Type="http://schemas.openxmlformats.org/officeDocument/2006/relationships/image" Target="../media/image987.wmf"/></Relationships>
</file>

<file path=ppt/drawings/_rels/vmlDrawing171.vml.rels><?xml version="1.0" encoding="UTF-8" standalone="yes"?>
<Relationships xmlns="http://schemas.openxmlformats.org/package/2006/relationships"><Relationship Id="rId1" Type="http://schemas.openxmlformats.org/officeDocument/2006/relationships/image" Target="../media/image988.emf"/></Relationships>
</file>

<file path=ppt/drawings/_rels/vmlDrawing172.vml.rels><?xml version="1.0" encoding="UTF-8" standalone="yes"?>
<Relationships xmlns="http://schemas.openxmlformats.org/package/2006/relationships"><Relationship Id="rId3" Type="http://schemas.openxmlformats.org/officeDocument/2006/relationships/image" Target="../media/image991.wmf"/><Relationship Id="rId2" Type="http://schemas.openxmlformats.org/officeDocument/2006/relationships/image" Target="../media/image990.wmf"/><Relationship Id="rId1" Type="http://schemas.openxmlformats.org/officeDocument/2006/relationships/image" Target="../media/image989.emf"/><Relationship Id="rId4" Type="http://schemas.openxmlformats.org/officeDocument/2006/relationships/image" Target="../media/image992.wmf"/></Relationships>
</file>

<file path=ppt/drawings/_rels/vmlDrawing173.vml.rels><?xml version="1.0" encoding="UTF-8" standalone="yes"?>
<Relationships xmlns="http://schemas.openxmlformats.org/package/2006/relationships"><Relationship Id="rId2" Type="http://schemas.openxmlformats.org/officeDocument/2006/relationships/image" Target="../media/image994.emf"/><Relationship Id="rId1" Type="http://schemas.openxmlformats.org/officeDocument/2006/relationships/image" Target="../media/image993.emf"/></Relationships>
</file>

<file path=ppt/drawings/_rels/vmlDrawing174.vml.rels><?xml version="1.0" encoding="UTF-8" standalone="yes"?>
<Relationships xmlns="http://schemas.openxmlformats.org/package/2006/relationships"><Relationship Id="rId1" Type="http://schemas.openxmlformats.org/officeDocument/2006/relationships/image" Target="../media/image995.wmf"/></Relationships>
</file>

<file path=ppt/drawings/_rels/vmlDrawing175.vml.rels><?xml version="1.0" encoding="UTF-8" standalone="yes"?>
<Relationships xmlns="http://schemas.openxmlformats.org/package/2006/relationships"><Relationship Id="rId3" Type="http://schemas.openxmlformats.org/officeDocument/2006/relationships/image" Target="../media/image999.wmf"/><Relationship Id="rId2" Type="http://schemas.openxmlformats.org/officeDocument/2006/relationships/image" Target="../media/image998.wmf"/><Relationship Id="rId1" Type="http://schemas.openxmlformats.org/officeDocument/2006/relationships/image" Target="../media/image997.emf"/></Relationships>
</file>

<file path=ppt/drawings/_rels/vmlDrawing176.vml.rels><?xml version="1.0" encoding="UTF-8" standalone="yes"?>
<Relationships xmlns="http://schemas.openxmlformats.org/package/2006/relationships"><Relationship Id="rId3" Type="http://schemas.openxmlformats.org/officeDocument/2006/relationships/image" Target="../media/image1003.wmf"/><Relationship Id="rId2" Type="http://schemas.openxmlformats.org/officeDocument/2006/relationships/image" Target="../media/image1002.wmf"/><Relationship Id="rId1" Type="http://schemas.openxmlformats.org/officeDocument/2006/relationships/image" Target="../media/image1001.wmf"/><Relationship Id="rId6" Type="http://schemas.openxmlformats.org/officeDocument/2006/relationships/image" Target="../media/image1006.wmf"/><Relationship Id="rId5" Type="http://schemas.openxmlformats.org/officeDocument/2006/relationships/image" Target="../media/image1005.wmf"/><Relationship Id="rId4" Type="http://schemas.openxmlformats.org/officeDocument/2006/relationships/image" Target="../media/image1004.wmf"/></Relationships>
</file>

<file path=ppt/drawings/_rels/vmlDrawing177.vml.rels><?xml version="1.0" encoding="UTF-8" standalone="yes"?>
<Relationships xmlns="http://schemas.openxmlformats.org/package/2006/relationships"><Relationship Id="rId2" Type="http://schemas.openxmlformats.org/officeDocument/2006/relationships/image" Target="../media/image1008.wmf"/><Relationship Id="rId1" Type="http://schemas.openxmlformats.org/officeDocument/2006/relationships/image" Target="../media/image1007.wmf"/></Relationships>
</file>

<file path=ppt/drawings/_rels/vmlDrawing178.vml.rels><?xml version="1.0" encoding="UTF-8" standalone="yes"?>
<Relationships xmlns="http://schemas.openxmlformats.org/package/2006/relationships"><Relationship Id="rId1" Type="http://schemas.openxmlformats.org/officeDocument/2006/relationships/image" Target="../media/image1009.emf"/></Relationships>
</file>

<file path=ppt/drawings/_rels/vmlDrawing179.vml.rels><?xml version="1.0" encoding="UTF-8" standalone="yes"?>
<Relationships xmlns="http://schemas.openxmlformats.org/package/2006/relationships"><Relationship Id="rId1" Type="http://schemas.openxmlformats.org/officeDocument/2006/relationships/image" Target="../media/image1011.emf"/></Relationships>
</file>

<file path=ppt/drawings/_rels/vmlDrawing180.vml.rels><?xml version="1.0" encoding="UTF-8" standalone="yes"?>
<Relationships xmlns="http://schemas.openxmlformats.org/package/2006/relationships"><Relationship Id="rId3" Type="http://schemas.openxmlformats.org/officeDocument/2006/relationships/image" Target="../media/image1014.wmf"/><Relationship Id="rId2" Type="http://schemas.openxmlformats.org/officeDocument/2006/relationships/image" Target="../media/image1013.wmf"/><Relationship Id="rId1" Type="http://schemas.openxmlformats.org/officeDocument/2006/relationships/image" Target="../media/image1012.emf"/></Relationships>
</file>

<file path=ppt/drawings/_rels/vmlDrawing181.vml.rels><?xml version="1.0" encoding="UTF-8" standalone="yes"?>
<Relationships xmlns="http://schemas.openxmlformats.org/package/2006/relationships"><Relationship Id="rId3" Type="http://schemas.openxmlformats.org/officeDocument/2006/relationships/image" Target="../media/image1018.wmf"/><Relationship Id="rId2" Type="http://schemas.openxmlformats.org/officeDocument/2006/relationships/image" Target="../media/image1017.wmf"/><Relationship Id="rId1" Type="http://schemas.openxmlformats.org/officeDocument/2006/relationships/image" Target="../media/image1016.wmf"/><Relationship Id="rId4" Type="http://schemas.openxmlformats.org/officeDocument/2006/relationships/image" Target="../media/image1019.wmf"/></Relationships>
</file>

<file path=ppt/drawings/_rels/vmlDrawing182.vml.rels><?xml version="1.0" encoding="UTF-8" standalone="yes"?>
<Relationships xmlns="http://schemas.openxmlformats.org/package/2006/relationships"><Relationship Id="rId3" Type="http://schemas.openxmlformats.org/officeDocument/2006/relationships/image" Target="../media/image1022.wmf"/><Relationship Id="rId2" Type="http://schemas.openxmlformats.org/officeDocument/2006/relationships/image" Target="../media/image1021.wmf"/><Relationship Id="rId1" Type="http://schemas.openxmlformats.org/officeDocument/2006/relationships/image" Target="../media/image1020.wmf"/><Relationship Id="rId6" Type="http://schemas.openxmlformats.org/officeDocument/2006/relationships/image" Target="../media/image1025.emf"/><Relationship Id="rId5" Type="http://schemas.openxmlformats.org/officeDocument/2006/relationships/image" Target="../media/image1024.wmf"/><Relationship Id="rId4" Type="http://schemas.openxmlformats.org/officeDocument/2006/relationships/image" Target="../media/image1023.wmf"/></Relationships>
</file>

<file path=ppt/drawings/_rels/vmlDrawing183.vml.rels><?xml version="1.0" encoding="UTF-8" standalone="yes"?>
<Relationships xmlns="http://schemas.openxmlformats.org/package/2006/relationships"><Relationship Id="rId1" Type="http://schemas.openxmlformats.org/officeDocument/2006/relationships/image" Target="../media/image1026.emf"/></Relationships>
</file>

<file path=ppt/drawings/_rels/vmlDrawing184.vml.rels><?xml version="1.0" encoding="UTF-8" standalone="yes"?>
<Relationships xmlns="http://schemas.openxmlformats.org/package/2006/relationships"><Relationship Id="rId3" Type="http://schemas.openxmlformats.org/officeDocument/2006/relationships/image" Target="../media/image1030.wmf"/><Relationship Id="rId2" Type="http://schemas.openxmlformats.org/officeDocument/2006/relationships/image" Target="../media/image1029.wmf"/><Relationship Id="rId1" Type="http://schemas.openxmlformats.org/officeDocument/2006/relationships/image" Target="../media/image1028.emf"/><Relationship Id="rId4" Type="http://schemas.openxmlformats.org/officeDocument/2006/relationships/image" Target="../media/image1031.emf"/></Relationships>
</file>

<file path=ppt/drawings/_rels/vmlDrawing185.vml.rels><?xml version="1.0" encoding="UTF-8" standalone="yes"?>
<Relationships xmlns="http://schemas.openxmlformats.org/package/2006/relationships"><Relationship Id="rId3" Type="http://schemas.openxmlformats.org/officeDocument/2006/relationships/image" Target="../media/image1034.emf"/><Relationship Id="rId2" Type="http://schemas.openxmlformats.org/officeDocument/2006/relationships/image" Target="../media/image1033.emf"/><Relationship Id="rId1" Type="http://schemas.openxmlformats.org/officeDocument/2006/relationships/image" Target="../media/image1032.wmf"/><Relationship Id="rId5" Type="http://schemas.openxmlformats.org/officeDocument/2006/relationships/image" Target="../media/image1036.wmf"/><Relationship Id="rId4" Type="http://schemas.openxmlformats.org/officeDocument/2006/relationships/image" Target="../media/image1035.emf"/></Relationships>
</file>

<file path=ppt/drawings/_rels/vmlDrawing186.vml.rels><?xml version="1.0" encoding="UTF-8" standalone="yes"?>
<Relationships xmlns="http://schemas.openxmlformats.org/package/2006/relationships"><Relationship Id="rId1" Type="http://schemas.openxmlformats.org/officeDocument/2006/relationships/image" Target="../media/image1037.wmf"/></Relationships>
</file>

<file path=ppt/drawings/_rels/vmlDrawing187.vml.rels><?xml version="1.0" encoding="UTF-8" standalone="yes"?>
<Relationships xmlns="http://schemas.openxmlformats.org/package/2006/relationships"><Relationship Id="rId8" Type="http://schemas.openxmlformats.org/officeDocument/2006/relationships/image" Target="../media/image1045.wmf"/><Relationship Id="rId3" Type="http://schemas.openxmlformats.org/officeDocument/2006/relationships/image" Target="../media/image1040.wmf"/><Relationship Id="rId7" Type="http://schemas.openxmlformats.org/officeDocument/2006/relationships/image" Target="../media/image1044.wmf"/><Relationship Id="rId12" Type="http://schemas.openxmlformats.org/officeDocument/2006/relationships/image" Target="../media/image1049.wmf"/><Relationship Id="rId2" Type="http://schemas.openxmlformats.org/officeDocument/2006/relationships/image" Target="../media/image1039.wmf"/><Relationship Id="rId1" Type="http://schemas.openxmlformats.org/officeDocument/2006/relationships/image" Target="../media/image1038.emf"/><Relationship Id="rId6" Type="http://schemas.openxmlformats.org/officeDocument/2006/relationships/image" Target="../media/image1043.wmf"/><Relationship Id="rId11" Type="http://schemas.openxmlformats.org/officeDocument/2006/relationships/image" Target="../media/image1048.wmf"/><Relationship Id="rId5" Type="http://schemas.openxmlformats.org/officeDocument/2006/relationships/image" Target="../media/image1042.wmf"/><Relationship Id="rId10" Type="http://schemas.openxmlformats.org/officeDocument/2006/relationships/image" Target="../media/image1047.wmf"/><Relationship Id="rId4" Type="http://schemas.openxmlformats.org/officeDocument/2006/relationships/image" Target="../media/image1041.wmf"/><Relationship Id="rId9" Type="http://schemas.openxmlformats.org/officeDocument/2006/relationships/image" Target="../media/image1046.wmf"/></Relationships>
</file>

<file path=ppt/drawings/_rels/vmlDrawing188.vml.rels><?xml version="1.0" encoding="UTF-8" standalone="yes"?>
<Relationships xmlns="http://schemas.openxmlformats.org/package/2006/relationships"><Relationship Id="rId3" Type="http://schemas.openxmlformats.org/officeDocument/2006/relationships/image" Target="../media/image1052.emf"/><Relationship Id="rId2" Type="http://schemas.openxmlformats.org/officeDocument/2006/relationships/image" Target="../media/image1051.wmf"/><Relationship Id="rId1" Type="http://schemas.openxmlformats.org/officeDocument/2006/relationships/image" Target="../media/image1050.wmf"/></Relationships>
</file>

<file path=ppt/drawings/_rels/vmlDrawing189.vml.rels><?xml version="1.0" encoding="UTF-8" standalone="yes"?>
<Relationships xmlns="http://schemas.openxmlformats.org/package/2006/relationships"><Relationship Id="rId8" Type="http://schemas.openxmlformats.org/officeDocument/2006/relationships/image" Target="../media/image1060.wmf"/><Relationship Id="rId3" Type="http://schemas.openxmlformats.org/officeDocument/2006/relationships/image" Target="../media/image1055.wmf"/><Relationship Id="rId7" Type="http://schemas.openxmlformats.org/officeDocument/2006/relationships/image" Target="../media/image1059.wmf"/><Relationship Id="rId12" Type="http://schemas.openxmlformats.org/officeDocument/2006/relationships/image" Target="../media/image1064.wmf"/><Relationship Id="rId2" Type="http://schemas.openxmlformats.org/officeDocument/2006/relationships/image" Target="../media/image1054.wmf"/><Relationship Id="rId1" Type="http://schemas.openxmlformats.org/officeDocument/2006/relationships/image" Target="../media/image1053.wmf"/><Relationship Id="rId6" Type="http://schemas.openxmlformats.org/officeDocument/2006/relationships/image" Target="../media/image1058.wmf"/><Relationship Id="rId11" Type="http://schemas.openxmlformats.org/officeDocument/2006/relationships/image" Target="../media/image1063.wmf"/><Relationship Id="rId5" Type="http://schemas.openxmlformats.org/officeDocument/2006/relationships/image" Target="../media/image1057.wmf"/><Relationship Id="rId10" Type="http://schemas.openxmlformats.org/officeDocument/2006/relationships/image" Target="../media/image1062.wmf"/><Relationship Id="rId4" Type="http://schemas.openxmlformats.org/officeDocument/2006/relationships/image" Target="../media/image1056.wmf"/><Relationship Id="rId9" Type="http://schemas.openxmlformats.org/officeDocument/2006/relationships/image" Target="../media/image1061.wmf"/></Relationships>
</file>

<file path=ppt/drawings/_rels/vmlDrawing190.vml.rels><?xml version="1.0" encoding="UTF-8" standalone="yes"?>
<Relationships xmlns="http://schemas.openxmlformats.org/package/2006/relationships"><Relationship Id="rId3" Type="http://schemas.openxmlformats.org/officeDocument/2006/relationships/image" Target="../media/image1065.wmf"/><Relationship Id="rId2" Type="http://schemas.openxmlformats.org/officeDocument/2006/relationships/image" Target="../media/image1051.wmf"/><Relationship Id="rId1" Type="http://schemas.openxmlformats.org/officeDocument/2006/relationships/image" Target="../media/image1050.wmf"/><Relationship Id="rId4" Type="http://schemas.openxmlformats.org/officeDocument/2006/relationships/image" Target="../media/image1066.wmf"/></Relationships>
</file>

<file path=ppt/drawings/_rels/vmlDrawing191.vml.rels><?xml version="1.0" encoding="UTF-8" standalone="yes"?>
<Relationships xmlns="http://schemas.openxmlformats.org/package/2006/relationships"><Relationship Id="rId3" Type="http://schemas.openxmlformats.org/officeDocument/2006/relationships/image" Target="../media/image1069.wmf"/><Relationship Id="rId7" Type="http://schemas.openxmlformats.org/officeDocument/2006/relationships/image" Target="../media/image1073.wmf"/><Relationship Id="rId2" Type="http://schemas.openxmlformats.org/officeDocument/2006/relationships/image" Target="../media/image1068.emf"/><Relationship Id="rId1" Type="http://schemas.openxmlformats.org/officeDocument/2006/relationships/image" Target="../media/image1067.emf"/><Relationship Id="rId6" Type="http://schemas.openxmlformats.org/officeDocument/2006/relationships/image" Target="../media/image1072.wmf"/><Relationship Id="rId5" Type="http://schemas.openxmlformats.org/officeDocument/2006/relationships/image" Target="../media/image1071.wmf"/><Relationship Id="rId4" Type="http://schemas.openxmlformats.org/officeDocument/2006/relationships/image" Target="../media/image1070.wmf"/></Relationships>
</file>

<file path=ppt/drawings/_rels/vmlDrawing192.vml.rels><?xml version="1.0" encoding="UTF-8" standalone="yes"?>
<Relationships xmlns="http://schemas.openxmlformats.org/package/2006/relationships"><Relationship Id="rId1" Type="http://schemas.openxmlformats.org/officeDocument/2006/relationships/image" Target="../media/image1074.emf"/></Relationships>
</file>

<file path=ppt/drawings/_rels/vmlDrawing193.vml.rels><?xml version="1.0" encoding="UTF-8" standalone="yes"?>
<Relationships xmlns="http://schemas.openxmlformats.org/package/2006/relationships"><Relationship Id="rId1" Type="http://schemas.openxmlformats.org/officeDocument/2006/relationships/image" Target="../media/image1075.emf"/></Relationships>
</file>

<file path=ppt/drawings/_rels/vmlDrawing194.vml.rels><?xml version="1.0" encoding="UTF-8" standalone="yes"?>
<Relationships xmlns="http://schemas.openxmlformats.org/package/2006/relationships"><Relationship Id="rId3" Type="http://schemas.openxmlformats.org/officeDocument/2006/relationships/image" Target="../media/image1078.emf"/><Relationship Id="rId2" Type="http://schemas.openxmlformats.org/officeDocument/2006/relationships/image" Target="../media/image1077.emf"/><Relationship Id="rId1" Type="http://schemas.openxmlformats.org/officeDocument/2006/relationships/image" Target="../media/image1076.wmf"/></Relationships>
</file>

<file path=ppt/drawings/_rels/vmlDrawing195.vml.rels><?xml version="1.0" encoding="UTF-8" standalone="yes"?>
<Relationships xmlns="http://schemas.openxmlformats.org/package/2006/relationships"><Relationship Id="rId3" Type="http://schemas.openxmlformats.org/officeDocument/2006/relationships/image" Target="../media/image1081.wmf"/><Relationship Id="rId2" Type="http://schemas.openxmlformats.org/officeDocument/2006/relationships/image" Target="../media/image1080.wmf"/><Relationship Id="rId1" Type="http://schemas.openxmlformats.org/officeDocument/2006/relationships/image" Target="../media/image1079.emf"/></Relationships>
</file>

<file path=ppt/drawings/_rels/vmlDrawing196.vml.rels><?xml version="1.0" encoding="UTF-8" standalone="yes"?>
<Relationships xmlns="http://schemas.openxmlformats.org/package/2006/relationships"><Relationship Id="rId2" Type="http://schemas.openxmlformats.org/officeDocument/2006/relationships/image" Target="../media/image1083.wmf"/><Relationship Id="rId1" Type="http://schemas.openxmlformats.org/officeDocument/2006/relationships/image" Target="../media/image1082.wmf"/></Relationships>
</file>

<file path=ppt/drawings/_rels/vmlDrawing197.vml.rels><?xml version="1.0" encoding="UTF-8" standalone="yes"?>
<Relationships xmlns="http://schemas.openxmlformats.org/package/2006/relationships"><Relationship Id="rId2" Type="http://schemas.openxmlformats.org/officeDocument/2006/relationships/image" Target="../media/image1085.emf"/><Relationship Id="rId1" Type="http://schemas.openxmlformats.org/officeDocument/2006/relationships/image" Target="../media/image1084.wmf"/></Relationships>
</file>

<file path=ppt/drawings/_rels/vmlDrawing198.vml.rels><?xml version="1.0" encoding="UTF-8" standalone="yes"?>
<Relationships xmlns="http://schemas.openxmlformats.org/package/2006/relationships"><Relationship Id="rId3" Type="http://schemas.openxmlformats.org/officeDocument/2006/relationships/image" Target="../media/image1088.wmf"/><Relationship Id="rId2" Type="http://schemas.openxmlformats.org/officeDocument/2006/relationships/image" Target="../media/image1087.wmf"/><Relationship Id="rId1" Type="http://schemas.openxmlformats.org/officeDocument/2006/relationships/image" Target="../media/image1086.wmf"/></Relationships>
</file>

<file path=ppt/drawings/_rels/vmlDrawing199.vml.rels><?xml version="1.0" encoding="UTF-8" standalone="yes"?>
<Relationships xmlns="http://schemas.openxmlformats.org/package/2006/relationships"><Relationship Id="rId3" Type="http://schemas.openxmlformats.org/officeDocument/2006/relationships/image" Target="../media/image1091.wmf"/><Relationship Id="rId2" Type="http://schemas.openxmlformats.org/officeDocument/2006/relationships/image" Target="../media/image1090.wmf"/><Relationship Id="rId1" Type="http://schemas.openxmlformats.org/officeDocument/2006/relationships/image" Target="../media/image1089.emf"/><Relationship Id="rId4" Type="http://schemas.openxmlformats.org/officeDocument/2006/relationships/image" Target="../media/image1092.wmf"/></Relationships>
</file>

<file path=ppt/drawings/_rels/vmlDrawing200.vml.rels><?xml version="1.0" encoding="UTF-8" standalone="yes"?>
<Relationships xmlns="http://schemas.openxmlformats.org/package/2006/relationships"><Relationship Id="rId3" Type="http://schemas.openxmlformats.org/officeDocument/2006/relationships/image" Target="../media/image1095.wmf"/><Relationship Id="rId2" Type="http://schemas.openxmlformats.org/officeDocument/2006/relationships/image" Target="../media/image1094.wmf"/><Relationship Id="rId1" Type="http://schemas.openxmlformats.org/officeDocument/2006/relationships/image" Target="../media/image1093.emf"/><Relationship Id="rId4" Type="http://schemas.openxmlformats.org/officeDocument/2006/relationships/image" Target="../media/image1096.wmf"/></Relationships>
</file>

<file path=ppt/drawings/_rels/vmlDrawing201.vml.rels><?xml version="1.0" encoding="UTF-8" standalone="yes"?>
<Relationships xmlns="http://schemas.openxmlformats.org/package/2006/relationships"><Relationship Id="rId1" Type="http://schemas.openxmlformats.org/officeDocument/2006/relationships/image" Target="../media/image1097.emf"/></Relationships>
</file>

<file path=ppt/drawings/_rels/vmlDrawing202.vml.rels><?xml version="1.0" encoding="UTF-8" standalone="yes"?>
<Relationships xmlns="http://schemas.openxmlformats.org/package/2006/relationships"><Relationship Id="rId3" Type="http://schemas.openxmlformats.org/officeDocument/2006/relationships/image" Target="../media/image1100.wmf"/><Relationship Id="rId2" Type="http://schemas.openxmlformats.org/officeDocument/2006/relationships/image" Target="../media/image1099.emf"/><Relationship Id="rId1" Type="http://schemas.openxmlformats.org/officeDocument/2006/relationships/image" Target="../media/image1098.wmf"/><Relationship Id="rId6" Type="http://schemas.openxmlformats.org/officeDocument/2006/relationships/image" Target="../media/image1103.emf"/><Relationship Id="rId5" Type="http://schemas.openxmlformats.org/officeDocument/2006/relationships/image" Target="../media/image1102.emf"/><Relationship Id="rId4" Type="http://schemas.openxmlformats.org/officeDocument/2006/relationships/image" Target="../media/image1101.emf"/></Relationships>
</file>

<file path=ppt/drawings/_rels/vmlDrawing203.vml.rels><?xml version="1.0" encoding="UTF-8" standalone="yes"?>
<Relationships xmlns="http://schemas.openxmlformats.org/package/2006/relationships"><Relationship Id="rId3" Type="http://schemas.openxmlformats.org/officeDocument/2006/relationships/image" Target="../media/image1106.wmf"/><Relationship Id="rId2" Type="http://schemas.openxmlformats.org/officeDocument/2006/relationships/image" Target="../media/image1105.wmf"/><Relationship Id="rId1" Type="http://schemas.openxmlformats.org/officeDocument/2006/relationships/image" Target="../media/image1104.emf"/><Relationship Id="rId4" Type="http://schemas.openxmlformats.org/officeDocument/2006/relationships/image" Target="../media/image1107.wmf"/></Relationships>
</file>

<file path=ppt/drawings/_rels/vmlDrawing204.vml.rels><?xml version="1.0" encoding="UTF-8" standalone="yes"?>
<Relationships xmlns="http://schemas.openxmlformats.org/package/2006/relationships"><Relationship Id="rId2" Type="http://schemas.openxmlformats.org/officeDocument/2006/relationships/image" Target="../media/image1109.emf"/><Relationship Id="rId1" Type="http://schemas.openxmlformats.org/officeDocument/2006/relationships/image" Target="../media/image1108.emf"/></Relationships>
</file>

<file path=ppt/drawings/_rels/vmlDrawing205.vml.rels><?xml version="1.0" encoding="UTF-8" standalone="yes"?>
<Relationships xmlns="http://schemas.openxmlformats.org/package/2006/relationships"><Relationship Id="rId8" Type="http://schemas.openxmlformats.org/officeDocument/2006/relationships/image" Target="../media/image1134.wmf"/><Relationship Id="rId13" Type="http://schemas.openxmlformats.org/officeDocument/2006/relationships/image" Target="../media/image1139.wmf"/><Relationship Id="rId18" Type="http://schemas.openxmlformats.org/officeDocument/2006/relationships/image" Target="../media/image1144.wmf"/><Relationship Id="rId3" Type="http://schemas.openxmlformats.org/officeDocument/2006/relationships/image" Target="../media/image1129.wmf"/><Relationship Id="rId7" Type="http://schemas.openxmlformats.org/officeDocument/2006/relationships/image" Target="../media/image1133.wmf"/><Relationship Id="rId12" Type="http://schemas.openxmlformats.org/officeDocument/2006/relationships/image" Target="../media/image1138.wmf"/><Relationship Id="rId17" Type="http://schemas.openxmlformats.org/officeDocument/2006/relationships/image" Target="../media/image1143.wmf"/><Relationship Id="rId2" Type="http://schemas.openxmlformats.org/officeDocument/2006/relationships/image" Target="../media/image1128.emf"/><Relationship Id="rId16" Type="http://schemas.openxmlformats.org/officeDocument/2006/relationships/image" Target="../media/image1142.wmf"/><Relationship Id="rId1" Type="http://schemas.openxmlformats.org/officeDocument/2006/relationships/image" Target="../media/image1127.emf"/><Relationship Id="rId6" Type="http://schemas.openxmlformats.org/officeDocument/2006/relationships/image" Target="../media/image1132.wmf"/><Relationship Id="rId11" Type="http://schemas.openxmlformats.org/officeDocument/2006/relationships/image" Target="../media/image1137.wmf"/><Relationship Id="rId5" Type="http://schemas.openxmlformats.org/officeDocument/2006/relationships/image" Target="../media/image1131.wmf"/><Relationship Id="rId15" Type="http://schemas.openxmlformats.org/officeDocument/2006/relationships/image" Target="../media/image1141.wmf"/><Relationship Id="rId10" Type="http://schemas.openxmlformats.org/officeDocument/2006/relationships/image" Target="../media/image1136.wmf"/><Relationship Id="rId19" Type="http://schemas.openxmlformats.org/officeDocument/2006/relationships/image" Target="../media/image1145.wmf"/><Relationship Id="rId4" Type="http://schemas.openxmlformats.org/officeDocument/2006/relationships/image" Target="../media/image1130.wmf"/><Relationship Id="rId9" Type="http://schemas.openxmlformats.org/officeDocument/2006/relationships/image" Target="../media/image1135.wmf"/><Relationship Id="rId14" Type="http://schemas.openxmlformats.org/officeDocument/2006/relationships/image" Target="../media/image1140.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5179484" y="0"/>
            <a:ext cx="3962400" cy="344091"/>
          </a:xfrm>
          <a:prstGeom prst="rect">
            <a:avLst/>
          </a:prstGeom>
        </p:spPr>
        <p:txBody>
          <a:bodyPr vert="horz" lIns="91440" tIns="45720" rIns="91440" bIns="45720" rtlCol="0"/>
          <a:lstStyle>
            <a:lvl1pPr algn="r">
              <a:defRPr sz="1200"/>
            </a:lvl1pPr>
          </a:lstStyle>
          <a:p>
            <a:fld id="{5B54F0EF-A0E0-467C-BB77-A32E60F45159}" type="datetimeFigureOut">
              <a:rPr lang="zh-CN" altLang="en-US" smtClean="0"/>
              <a:t>2025/6/26</a:t>
            </a:fld>
            <a:endParaRPr lang="zh-CN" altLang="en-US"/>
          </a:p>
        </p:txBody>
      </p:sp>
      <p:sp>
        <p:nvSpPr>
          <p:cNvPr id="4" name="页脚占位符 3"/>
          <p:cNvSpPr>
            <a:spLocks noGrp="1"/>
          </p:cNvSpPr>
          <p:nvPr>
            <p:ph type="ftr" sz="quarter" idx="2"/>
          </p:nvPr>
        </p:nvSpPr>
        <p:spPr>
          <a:xfrm>
            <a:off x="0" y="6513910"/>
            <a:ext cx="3962400" cy="34409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5179484" y="6513910"/>
            <a:ext cx="3962400" cy="344090"/>
          </a:xfrm>
          <a:prstGeom prst="rect">
            <a:avLst/>
          </a:prstGeom>
        </p:spPr>
        <p:txBody>
          <a:bodyPr vert="horz" lIns="91440" tIns="45720" rIns="91440" bIns="45720" rtlCol="0" anchor="b"/>
          <a:lstStyle>
            <a:lvl1pPr algn="r">
              <a:defRPr sz="1200"/>
            </a:lvl1pPr>
          </a:lstStyle>
          <a:p>
            <a:fld id="{7B0D553A-75B6-45C0-9CFB-259E3752ED50}" type="slidenum">
              <a:rPr lang="zh-CN" altLang="en-US" smtClean="0"/>
              <a:t>‹#›</a:t>
            </a:fld>
            <a:endParaRPr lang="zh-CN" altLang="en-US"/>
          </a:p>
        </p:txBody>
      </p:sp>
    </p:spTree>
    <p:extLst>
      <p:ext uri="{BB962C8B-B14F-4D97-AF65-F5344CB8AC3E}">
        <p14:creationId xmlns:p14="http://schemas.microsoft.com/office/powerpoint/2010/main" val="1971383945"/>
      </p:ext>
    </p:extLst>
  </p:cSld>
  <p:clrMap bg1="lt1" tx1="dk1" bg2="lt2" tx2="dk2" accent1="accent1" accent2="accent2" accent3="accent3" accent4="accent4" accent5="accent5" accent6="accent6" hlink="hlink" folHlink="folHlink"/>
  <p:hf hdr="0" ftr="0" dt="0"/>
</p:handoutMaster>
</file>

<file path=ppt/ink/ink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5-06-24T20:56:03.748"/>
    </inkml:context>
    <inkml:brush xml:id="br0">
      <inkml:brushProperty name="width" value="0.09701" units="cm"/>
      <inkml:brushProperty name="height" value="0.09701" units="cm"/>
      <inkml:brushProperty name="color" value="#FF0000"/>
      <inkml:brushProperty name="fitToCurve" value="1"/>
    </inkml:brush>
  </inkml:definitions>
  <inkml:trace contextRef="#ctx0" brushRef="#br0">15915 6112,'0'0,"20"-21,-20 21,19 0,1 0,0 0,0 0,-20 0,19 0,-19 0,20 0,-20 0,0 0,0 0,19 0,-19 0,20 0,-20 0,0 0,0 0,20 0,-20 0,0 0</inkml:trace>
  <inkml:trace contextRef="#ctx0" brushRef="#br0" timeOffset="8.7169">15994 5913,'0'0,"0"0,0 20,0-20,0 20,0-20,0 20,0-20,0 20,0-20,0 19,0-19,0 0,0 0,0 0,0 0,0 19,0-19,0 20,0-20,0 0,0 0,0 0,0 0,0 20,0-20,0 20,0-20,0 21,0-21,0 20,0-20,0 20,0-20,0 0,0 0,0 0,0 0,0 19,0-19,0 19,0-19,0 20,0-20,0 0,0 0,0 0,0 20,0-20,0 20,0-20,0 20</inkml:trace>
</inkml:ink>
</file>

<file path=ppt/ink/ink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5-06-24T20:56:03.761"/>
    </inkml:context>
    <inkml:brush xml:id="br0">
      <inkml:brushProperty name="width" value="0.09701" units="cm"/>
      <inkml:brushProperty name="height" value="0.09701" units="cm"/>
      <inkml:brushProperty name="color" value="#FF0000"/>
      <inkml:brushProperty name="fitToCurve" value="1"/>
    </inkml:brush>
  </inkml:definitions>
  <inkml:trace contextRef="#ctx0" brushRef="#br0">18236 4565,'0'0,"20"0,1 0,-21 0,20 0,-20 0,20 0,-20 0,20 21,-20-21,19 0,2 0,-21 0,20 0,-20 0,0 20,20-20,-20 0,20 0,-20 0,21 0,-21 0,20 0</inkml:trace>
  <inkml:trace contextRef="#ctx0" brushRef="#br0" timeOffset="1">18337 4385,'0'0,"0"0,0 20,0-20,0 20,0-20,0 21,0-21,0 20,0-20,0 20,0-20,0 0,0 20,0-20,0 19,0-19,0 20,0-20,0 20,0-20,0 21,0-21,0 0,0 20,0-20,0 20,0-20,0 19,0-19,0 20,0-20,0 20,0-20,0 0,0 0,0 0,0 0,0 21,0-21,0 20,0-20,0 20,0-20</inkml:trace>
</inkml:ink>
</file>

<file path=ppt/ink/ink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5-06-24T20:56:03.762"/>
    </inkml:context>
    <inkml:brush xml:id="br0">
      <inkml:brushProperty name="width" value="0.09701" units="cm"/>
      <inkml:brushProperty name="height" value="0.09701" units="cm"/>
      <inkml:brushProperty name="color" value="#FF0000"/>
      <inkml:brushProperty name="fitToCurve" value="1"/>
    </inkml:brush>
  </inkml:definitions>
  <inkml:trace contextRef="#ctx0" brushRef="#br0">18236 7004,'0'0,"20"0,-20 0,21 0,-1 0,-20 0,20 0,-20 0,0-19,0 19,0 0,20 0,-20 0,19 0,-19 0,21 0,-21 0,20 0,-20 0,20 0,-20 0,20 0,-20 0,21 0,-21 0,20 0,-20 0</inkml:trace>
</inkml:ink>
</file>

<file path=ppt/ink/ink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5-06-24T20:56:03.763"/>
    </inkml:context>
    <inkml:brush xml:id="br0">
      <inkml:brushProperty name="width" value="0.09701" units="cm"/>
      <inkml:brushProperty name="height" value="0.09701" units="cm"/>
      <inkml:brushProperty name="color" value="#FF0000"/>
      <inkml:brushProperty name="fitToCurve" value="1"/>
    </inkml:brush>
  </inkml:definitions>
  <inkml:trace contextRef="#ctx0" brushRef="#br0">20578 6967,'0'-21,"0"21,20 0,0 0,-20 0,19 0,-19 0,20 0,-20 0,20 0,-20 0,0 0,20 0,-20 0,20 0,-20 0,19 0,1 0,-20 0,19 0,-19 0,20 0,-20 0,0 0,20 0,-20 0,20 0,-20 0,20 0,-20 0</inkml:trace>
  <inkml:trace contextRef="#ctx0" brushRef="#br0" timeOffset="1">20697 6727,'0'0,"0"0,0 20,0-20,0 0,0 0,0 20,0-20,-20 21,20-21,0 19,0-19,0 0,0 0,0 0,0 20,0-20,0 0,0 0,0 20,0-20,0 0,0 0,0 0,0 0,0 0,0 21,0-21,0 20,0-20,0 0,0 0,0 0,0 20,0-20,0 18,0-18,0 20,0-20,0 0,0 0,0 21,0-21,0 20,0-20,0 20,0-20,0 20,0-20,0 21,0-21,0 0,0 19,0-19,0 20,0-20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vl1pPr>
          </a:lstStyle>
          <a:p>
            <a:fld id="{F0356CCB-E847-4CF2-8AF3-98052CF95811}" type="datetimeFigureOut">
              <a:rPr lang="zh-CN" altLang="en-US" smtClean="0"/>
              <a:t>2025/6/26</a:t>
            </a:fld>
            <a:endParaRPr lang="zh-CN" altLang="en-US"/>
          </a:p>
        </p:txBody>
      </p:sp>
      <p:sp>
        <p:nvSpPr>
          <p:cNvPr id="4" name="幻灯片图像占位符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E6FBB4DA-D440-48C6-8D61-9017FAB18EF6}" type="slidenum">
              <a:rPr lang="zh-CN" altLang="en-US" smtClean="0"/>
              <a:t>‹#›</a:t>
            </a:fld>
            <a:endParaRPr lang="zh-CN" altLang="en-US"/>
          </a:p>
        </p:txBody>
      </p:sp>
    </p:spTree>
    <p:extLst>
      <p:ext uri="{BB962C8B-B14F-4D97-AF65-F5344CB8AC3E}">
        <p14:creationId xmlns:p14="http://schemas.microsoft.com/office/powerpoint/2010/main" val="236831380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6FBB4DA-D440-48C6-8D61-9017FAB18EF6}" type="slidenum">
              <a:rPr lang="zh-CN" altLang="en-US" smtClean="0"/>
              <a:t>1</a:t>
            </a:fld>
            <a:endParaRPr lang="zh-CN" altLang="en-US"/>
          </a:p>
        </p:txBody>
      </p:sp>
    </p:spTree>
    <p:extLst>
      <p:ext uri="{BB962C8B-B14F-4D97-AF65-F5344CB8AC3E}">
        <p14:creationId xmlns:p14="http://schemas.microsoft.com/office/powerpoint/2010/main" val="22313686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6FBB4DA-D440-48C6-8D61-9017FAB18EF6}" type="slidenum">
              <a:rPr lang="zh-CN" altLang="en-US" smtClean="0"/>
              <a:t>119</a:t>
            </a:fld>
            <a:endParaRPr lang="zh-CN" altLang="en-US"/>
          </a:p>
        </p:txBody>
      </p:sp>
    </p:spTree>
    <p:extLst>
      <p:ext uri="{BB962C8B-B14F-4D97-AF65-F5344CB8AC3E}">
        <p14:creationId xmlns:p14="http://schemas.microsoft.com/office/powerpoint/2010/main" val="39785597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en-US" dirty="0"/>
          </a:p>
        </p:txBody>
      </p:sp>
      <p:sp>
        <p:nvSpPr>
          <p:cNvPr id="4" name="Date Placeholder 3"/>
          <p:cNvSpPr>
            <a:spLocks noGrp="1"/>
          </p:cNvSpPr>
          <p:nvPr>
            <p:ph type="dt" sz="half" idx="10"/>
          </p:nvPr>
        </p:nvSpPr>
        <p:spPr/>
        <p:txBody>
          <a:bodyPr/>
          <a:lstStyle/>
          <a:p>
            <a:fld id="{A606C503-22B1-42EB-98FE-6BC5B9D927CC}" type="datetime1">
              <a:rPr lang="zh-CN" altLang="en-US" smtClean="0"/>
              <a:t>2025/6/26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FD50A08-568C-4405-95A9-55134B8D7E96}" type="slidenum">
              <a:rPr lang="zh-CN" altLang="en-US" smtClean="0"/>
              <a:t>‹#›</a:t>
            </a:fld>
            <a:endParaRPr lang="zh-CN" altLang="en-US"/>
          </a:p>
        </p:txBody>
      </p:sp>
    </p:spTree>
    <p:extLst>
      <p:ext uri="{BB962C8B-B14F-4D97-AF65-F5344CB8AC3E}">
        <p14:creationId xmlns:p14="http://schemas.microsoft.com/office/powerpoint/2010/main" val="1558512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E99EA72F-6696-4234-B320-8D460891497B}" type="datetime1">
              <a:rPr lang="zh-CN" altLang="en-US" smtClean="0"/>
              <a:t>2025/6/26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FD50A08-568C-4405-95A9-55134B8D7E96}" type="slidenum">
              <a:rPr lang="zh-CN" altLang="en-US" smtClean="0"/>
              <a:t>‹#›</a:t>
            </a:fld>
            <a:endParaRPr lang="zh-CN" altLang="en-US"/>
          </a:p>
        </p:txBody>
      </p:sp>
    </p:spTree>
    <p:extLst>
      <p:ext uri="{BB962C8B-B14F-4D97-AF65-F5344CB8AC3E}">
        <p14:creationId xmlns:p14="http://schemas.microsoft.com/office/powerpoint/2010/main" val="13741743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Date Placeholder 3"/>
          <p:cNvSpPr>
            <a:spLocks noGrp="1"/>
          </p:cNvSpPr>
          <p:nvPr>
            <p:ph type="dt" sz="half" idx="10"/>
          </p:nvPr>
        </p:nvSpPr>
        <p:spPr/>
        <p:txBody>
          <a:bodyPr/>
          <a:lstStyle/>
          <a:p>
            <a:fld id="{211B4796-4843-4781-8D90-DDD0FAC75527}" type="datetime1">
              <a:rPr lang="zh-CN" altLang="en-US" smtClean="0"/>
              <a:t>2025/6/26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FD50A08-568C-4405-95A9-55134B8D7E96}" type="slidenum">
              <a:rPr lang="zh-CN" altLang="en-US" smtClean="0"/>
              <a:t>‹#›</a:t>
            </a:fld>
            <a:endParaRPr lang="zh-CN" altLang="en-US"/>
          </a:p>
        </p:txBody>
      </p:sp>
    </p:spTree>
    <p:extLst>
      <p:ext uri="{BB962C8B-B14F-4D97-AF65-F5344CB8AC3E}">
        <p14:creationId xmlns:p14="http://schemas.microsoft.com/office/powerpoint/2010/main" val="1996071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CD476CD7-33A2-49B8-BDC3-314F13857EF8}" type="datetime1">
              <a:rPr lang="zh-CN" altLang="en-US" smtClean="0"/>
              <a:t>2025/6/26</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FD50A08-568C-4405-95A9-55134B8D7E96}" type="slidenum">
              <a:rPr lang="zh-CN" altLang="en-US" smtClean="0"/>
              <a:t>‹#›</a:t>
            </a:fld>
            <a:endParaRPr lang="zh-CN" altLang="en-US"/>
          </a:p>
        </p:txBody>
      </p:sp>
    </p:spTree>
    <p:extLst>
      <p:ext uri="{BB962C8B-B14F-4D97-AF65-F5344CB8AC3E}">
        <p14:creationId xmlns:p14="http://schemas.microsoft.com/office/powerpoint/2010/main" val="39975904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517E90C0-C084-49DA-A51F-8BDB9F32F11C}" type="datetime1">
              <a:rPr lang="zh-CN" altLang="en-US" smtClean="0"/>
              <a:t>2025/6/26</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0FD50A08-568C-4405-95A9-55134B8D7E96}" type="slidenum">
              <a:rPr lang="zh-CN" altLang="en-US" smtClean="0"/>
              <a:t>‹#›</a:t>
            </a:fld>
            <a:endParaRPr lang="zh-CN" altLang="en-US"/>
          </a:p>
        </p:txBody>
      </p:sp>
    </p:spTree>
    <p:extLst>
      <p:ext uri="{BB962C8B-B14F-4D97-AF65-F5344CB8AC3E}">
        <p14:creationId xmlns:p14="http://schemas.microsoft.com/office/powerpoint/2010/main" val="33990380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Date Placeholder 2"/>
          <p:cNvSpPr>
            <a:spLocks noGrp="1"/>
          </p:cNvSpPr>
          <p:nvPr>
            <p:ph type="dt" sz="half" idx="10"/>
          </p:nvPr>
        </p:nvSpPr>
        <p:spPr/>
        <p:txBody>
          <a:bodyPr/>
          <a:lstStyle/>
          <a:p>
            <a:fld id="{891ACF30-04F8-41CD-9D2F-040DA12AB48C}" type="datetime1">
              <a:rPr lang="zh-CN" altLang="en-US" smtClean="0"/>
              <a:t>2025/6/26</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0FD50A08-568C-4405-95A9-55134B8D7E96}" type="slidenum">
              <a:rPr lang="zh-CN" altLang="en-US" smtClean="0"/>
              <a:t>‹#›</a:t>
            </a:fld>
            <a:endParaRPr lang="zh-CN" altLang="en-US"/>
          </a:p>
        </p:txBody>
      </p:sp>
    </p:spTree>
    <p:extLst>
      <p:ext uri="{BB962C8B-B14F-4D97-AF65-F5344CB8AC3E}">
        <p14:creationId xmlns:p14="http://schemas.microsoft.com/office/powerpoint/2010/main" val="4378765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F289F66-8020-4753-9271-1F269025EE3F}" type="datetime1">
              <a:rPr lang="zh-CN" altLang="en-US" smtClean="0"/>
              <a:t>2025/6/26</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0FD50A08-568C-4405-95A9-55134B8D7E96}" type="slidenum">
              <a:rPr lang="zh-CN" altLang="en-US" smtClean="0"/>
              <a:t>‹#›</a:t>
            </a:fld>
            <a:endParaRPr lang="zh-CN" altLang="en-US"/>
          </a:p>
        </p:txBody>
      </p:sp>
    </p:spTree>
    <p:extLst>
      <p:ext uri="{BB962C8B-B14F-4D97-AF65-F5344CB8AC3E}">
        <p14:creationId xmlns:p14="http://schemas.microsoft.com/office/powerpoint/2010/main" val="22031317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smtClean="0"/>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Date Placeholder 4"/>
          <p:cNvSpPr>
            <a:spLocks noGrp="1"/>
          </p:cNvSpPr>
          <p:nvPr>
            <p:ph type="dt" sz="half" idx="10"/>
          </p:nvPr>
        </p:nvSpPr>
        <p:spPr/>
        <p:txBody>
          <a:bodyPr/>
          <a:lstStyle/>
          <a:p>
            <a:fld id="{FE57946E-DE8F-46C4-A82C-619795F27D24}" type="datetime1">
              <a:rPr lang="zh-CN" altLang="en-US" smtClean="0"/>
              <a:t>2025/6/26</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FD50A08-568C-4405-95A9-55134B8D7E96}" type="slidenum">
              <a:rPr lang="zh-CN" altLang="en-US" smtClean="0"/>
              <a:t>‹#›</a:t>
            </a:fld>
            <a:endParaRPr lang="zh-CN" altLang="en-US"/>
          </a:p>
        </p:txBody>
      </p:sp>
    </p:spTree>
    <p:extLst>
      <p:ext uri="{BB962C8B-B14F-4D97-AF65-F5344CB8AC3E}">
        <p14:creationId xmlns:p14="http://schemas.microsoft.com/office/powerpoint/2010/main" val="19428418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Date Placeholder 4"/>
          <p:cNvSpPr>
            <a:spLocks noGrp="1"/>
          </p:cNvSpPr>
          <p:nvPr>
            <p:ph type="dt" sz="half" idx="10"/>
          </p:nvPr>
        </p:nvSpPr>
        <p:spPr/>
        <p:txBody>
          <a:bodyPr/>
          <a:lstStyle/>
          <a:p>
            <a:fld id="{46CE7ED2-E1CF-42DA-9867-1F03B09B1135}" type="datetime1">
              <a:rPr lang="zh-CN" altLang="en-US" smtClean="0"/>
              <a:t>2025/6/26</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FD50A08-568C-4405-95A9-55134B8D7E96}" type="slidenum">
              <a:rPr lang="zh-CN" altLang="en-US" smtClean="0"/>
              <a:t>‹#›</a:t>
            </a:fld>
            <a:endParaRPr lang="zh-CN" altLang="en-US"/>
          </a:p>
        </p:txBody>
      </p:sp>
    </p:spTree>
    <p:extLst>
      <p:ext uri="{BB962C8B-B14F-4D97-AF65-F5344CB8AC3E}">
        <p14:creationId xmlns:p14="http://schemas.microsoft.com/office/powerpoint/2010/main" val="29254695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241DF3ED-5550-4928-BCB4-9886811EB887}" type="datetime1">
              <a:rPr lang="zh-CN" altLang="en-US" smtClean="0"/>
              <a:t>2025/6/26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FD50A08-568C-4405-95A9-55134B8D7E96}" type="slidenum">
              <a:rPr lang="zh-CN" altLang="en-US" smtClean="0"/>
              <a:t>‹#›</a:t>
            </a:fld>
            <a:endParaRPr lang="zh-CN" altLang="en-US"/>
          </a:p>
        </p:txBody>
      </p:sp>
    </p:spTree>
    <p:extLst>
      <p:ext uri="{BB962C8B-B14F-4D97-AF65-F5344CB8AC3E}">
        <p14:creationId xmlns:p14="http://schemas.microsoft.com/office/powerpoint/2010/main" val="3044354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E755A4B4-6719-4A7F-93CD-58BEC86156C7}" type="datetime1">
              <a:rPr lang="zh-CN" altLang="en-US" smtClean="0"/>
              <a:t>2025/6/26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FD50A08-568C-4405-95A9-55134B8D7E96}" type="slidenum">
              <a:rPr lang="zh-CN" altLang="en-US" smtClean="0"/>
              <a:t>‹#›</a:t>
            </a:fld>
            <a:endParaRPr lang="zh-CN" altLang="en-US"/>
          </a:p>
        </p:txBody>
      </p:sp>
    </p:spTree>
    <p:extLst>
      <p:ext uri="{BB962C8B-B14F-4D97-AF65-F5344CB8AC3E}">
        <p14:creationId xmlns:p14="http://schemas.microsoft.com/office/powerpoint/2010/main" val="30152108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AA5FE17-4393-44DB-B160-75F790027B69}" type="datetime1">
              <a:rPr lang="zh-CN" altLang="en-US" smtClean="0"/>
              <a:t>2025/6/26</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FD50A08-568C-4405-95A9-55134B8D7E96}" type="slidenum">
              <a:rPr lang="zh-CN" altLang="en-US" smtClean="0"/>
              <a:t>‹#›</a:t>
            </a:fld>
            <a:endParaRPr lang="zh-CN" altLang="en-US"/>
          </a:p>
        </p:txBody>
      </p:sp>
    </p:spTree>
    <p:extLst>
      <p:ext uri="{BB962C8B-B14F-4D97-AF65-F5344CB8AC3E}">
        <p14:creationId xmlns:p14="http://schemas.microsoft.com/office/powerpoint/2010/main" val="89607797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4" Type="http://schemas.openxmlformats.org/officeDocument/2006/relationships/image" Target="../media/image6.emf"/></Relationships>
</file>

<file path=ppt/slides/_rels/slide14.xml.rels><?xml version="1.0" encoding="UTF-8" standalone="yes"?>
<Relationships xmlns="http://schemas.openxmlformats.org/package/2006/relationships"><Relationship Id="rId8" Type="http://schemas.openxmlformats.org/officeDocument/2006/relationships/image" Target="../media/image9.wmf"/><Relationship Id="rId3" Type="http://schemas.openxmlformats.org/officeDocument/2006/relationships/oleObject" Target="../embeddings/oleObject2.bin"/><Relationship Id="rId7" Type="http://schemas.openxmlformats.org/officeDocument/2006/relationships/oleObject" Target="../embeddings/oleObject4.bin"/><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image" Target="../media/image8.wmf"/><Relationship Id="rId5" Type="http://schemas.openxmlformats.org/officeDocument/2006/relationships/oleObject" Target="../embeddings/oleObject3.bin"/><Relationship Id="rId10" Type="http://schemas.openxmlformats.org/officeDocument/2006/relationships/image" Target="../media/image10.wmf"/><Relationship Id="rId4" Type="http://schemas.openxmlformats.org/officeDocument/2006/relationships/image" Target="../media/image7.emf"/><Relationship Id="rId9" Type="http://schemas.openxmlformats.org/officeDocument/2006/relationships/oleObject" Target="../embeddings/oleObject5.bin"/></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7.xml"/><Relationship Id="rId1" Type="http://schemas.openxmlformats.org/officeDocument/2006/relationships/vmlDrawing" Target="../drawings/vmlDrawing3.vml"/><Relationship Id="rId4" Type="http://schemas.openxmlformats.org/officeDocument/2006/relationships/image" Target="../media/image7.emf"/></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7.xml"/><Relationship Id="rId1" Type="http://schemas.openxmlformats.org/officeDocument/2006/relationships/vmlDrawing" Target="../drawings/vmlDrawing4.vml"/><Relationship Id="rId4" Type="http://schemas.openxmlformats.org/officeDocument/2006/relationships/image" Target="../media/image11.emf"/></Relationships>
</file>

<file path=ppt/slides/_rels/slide17.xml.rels><?xml version="1.0" encoding="UTF-8" standalone="yes"?>
<Relationships xmlns="http://schemas.openxmlformats.org/package/2006/relationships"><Relationship Id="rId8" Type="http://schemas.openxmlformats.org/officeDocument/2006/relationships/image" Target="../media/image14.wmf"/><Relationship Id="rId3" Type="http://schemas.openxmlformats.org/officeDocument/2006/relationships/oleObject" Target="../embeddings/oleObject8.bin"/><Relationship Id="rId7" Type="http://schemas.openxmlformats.org/officeDocument/2006/relationships/oleObject" Target="../embeddings/oleObject10.bin"/><Relationship Id="rId2" Type="http://schemas.openxmlformats.org/officeDocument/2006/relationships/slideLayout" Target="../slideLayouts/slideLayout7.xml"/><Relationship Id="rId1" Type="http://schemas.openxmlformats.org/officeDocument/2006/relationships/vmlDrawing" Target="../drawings/vmlDrawing5.vml"/><Relationship Id="rId6" Type="http://schemas.openxmlformats.org/officeDocument/2006/relationships/image" Target="../media/image13.wmf"/><Relationship Id="rId5" Type="http://schemas.openxmlformats.org/officeDocument/2006/relationships/oleObject" Target="../embeddings/oleObject9.bin"/><Relationship Id="rId4" Type="http://schemas.openxmlformats.org/officeDocument/2006/relationships/image" Target="../media/image12.wmf"/></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8" Type="http://schemas.openxmlformats.org/officeDocument/2006/relationships/image" Target="../media/image18.emf"/><Relationship Id="rId3" Type="http://schemas.openxmlformats.org/officeDocument/2006/relationships/oleObject" Target="../embeddings/oleObject11.bin"/><Relationship Id="rId7" Type="http://schemas.openxmlformats.org/officeDocument/2006/relationships/oleObject" Target="../embeddings/oleObject13.bin"/><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image" Target="../media/image17.emf"/><Relationship Id="rId5" Type="http://schemas.openxmlformats.org/officeDocument/2006/relationships/oleObject" Target="../embeddings/oleObject12.bin"/><Relationship Id="rId4" Type="http://schemas.openxmlformats.org/officeDocument/2006/relationships/image" Target="../media/image16.emf"/></Relationships>
</file>

<file path=ppt/slides/_rels/slide21.xml.rels><?xml version="1.0" encoding="UTF-8" standalone="yes"?>
<Relationships xmlns="http://schemas.openxmlformats.org/package/2006/relationships"><Relationship Id="rId8" Type="http://schemas.openxmlformats.org/officeDocument/2006/relationships/image" Target="../media/image21.wmf"/><Relationship Id="rId3" Type="http://schemas.openxmlformats.org/officeDocument/2006/relationships/oleObject" Target="../embeddings/oleObject14.bin"/><Relationship Id="rId7" Type="http://schemas.openxmlformats.org/officeDocument/2006/relationships/oleObject" Target="../embeddings/oleObject16.bin"/><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image" Target="../media/image20.wmf"/><Relationship Id="rId5" Type="http://schemas.openxmlformats.org/officeDocument/2006/relationships/oleObject" Target="../embeddings/oleObject15.bin"/><Relationship Id="rId4" Type="http://schemas.openxmlformats.org/officeDocument/2006/relationships/image" Target="../media/image19.emf"/></Relationships>
</file>

<file path=ppt/slides/_rels/slide22.xml.rels><?xml version="1.0" encoding="UTF-8" standalone="yes"?>
<Relationships xmlns="http://schemas.openxmlformats.org/package/2006/relationships"><Relationship Id="rId8" Type="http://schemas.openxmlformats.org/officeDocument/2006/relationships/image" Target="../media/image24.wmf"/><Relationship Id="rId3" Type="http://schemas.openxmlformats.org/officeDocument/2006/relationships/oleObject" Target="../embeddings/oleObject17.bin"/><Relationship Id="rId7" Type="http://schemas.openxmlformats.org/officeDocument/2006/relationships/oleObject" Target="../embeddings/oleObject19.bin"/><Relationship Id="rId2" Type="http://schemas.openxmlformats.org/officeDocument/2006/relationships/slideLayout" Target="../slideLayouts/slideLayout7.xml"/><Relationship Id="rId1" Type="http://schemas.openxmlformats.org/officeDocument/2006/relationships/vmlDrawing" Target="../drawings/vmlDrawing8.vml"/><Relationship Id="rId6" Type="http://schemas.openxmlformats.org/officeDocument/2006/relationships/image" Target="../media/image23.wmf"/><Relationship Id="rId5" Type="http://schemas.openxmlformats.org/officeDocument/2006/relationships/oleObject" Target="../embeddings/oleObject18.bin"/><Relationship Id="rId10" Type="http://schemas.openxmlformats.org/officeDocument/2006/relationships/image" Target="../media/image25.emf"/><Relationship Id="rId4" Type="http://schemas.openxmlformats.org/officeDocument/2006/relationships/image" Target="../media/image22.emf"/><Relationship Id="rId9" Type="http://schemas.openxmlformats.org/officeDocument/2006/relationships/oleObject" Target="../embeddings/oleObject20.bin"/></Relationships>
</file>

<file path=ppt/slides/_rels/slide2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8" Type="http://schemas.openxmlformats.org/officeDocument/2006/relationships/image" Target="../media/image31.wmf"/><Relationship Id="rId13" Type="http://schemas.openxmlformats.org/officeDocument/2006/relationships/oleObject" Target="../embeddings/oleObject26.bin"/><Relationship Id="rId18" Type="http://schemas.openxmlformats.org/officeDocument/2006/relationships/image" Target="../media/image36.wmf"/><Relationship Id="rId3" Type="http://schemas.openxmlformats.org/officeDocument/2006/relationships/oleObject" Target="../embeddings/oleObject21.bin"/><Relationship Id="rId21" Type="http://schemas.openxmlformats.org/officeDocument/2006/relationships/oleObject" Target="../embeddings/oleObject30.bin"/><Relationship Id="rId7" Type="http://schemas.openxmlformats.org/officeDocument/2006/relationships/oleObject" Target="../embeddings/oleObject23.bin"/><Relationship Id="rId12" Type="http://schemas.openxmlformats.org/officeDocument/2006/relationships/image" Target="../media/image33.wmf"/><Relationship Id="rId17" Type="http://schemas.openxmlformats.org/officeDocument/2006/relationships/oleObject" Target="../embeddings/oleObject28.bin"/><Relationship Id="rId2" Type="http://schemas.openxmlformats.org/officeDocument/2006/relationships/slideLayout" Target="../slideLayouts/slideLayout7.xml"/><Relationship Id="rId16" Type="http://schemas.openxmlformats.org/officeDocument/2006/relationships/image" Target="../media/image35.wmf"/><Relationship Id="rId20" Type="http://schemas.openxmlformats.org/officeDocument/2006/relationships/image" Target="../media/image37.wmf"/><Relationship Id="rId1" Type="http://schemas.openxmlformats.org/officeDocument/2006/relationships/vmlDrawing" Target="../drawings/vmlDrawing9.vml"/><Relationship Id="rId6" Type="http://schemas.openxmlformats.org/officeDocument/2006/relationships/image" Target="../media/image30.wmf"/><Relationship Id="rId11" Type="http://schemas.openxmlformats.org/officeDocument/2006/relationships/oleObject" Target="../embeddings/oleObject25.bin"/><Relationship Id="rId24" Type="http://schemas.openxmlformats.org/officeDocument/2006/relationships/image" Target="../media/image39.emf"/><Relationship Id="rId5" Type="http://schemas.openxmlformats.org/officeDocument/2006/relationships/oleObject" Target="../embeddings/oleObject22.bin"/><Relationship Id="rId15" Type="http://schemas.openxmlformats.org/officeDocument/2006/relationships/oleObject" Target="../embeddings/oleObject27.bin"/><Relationship Id="rId23" Type="http://schemas.openxmlformats.org/officeDocument/2006/relationships/oleObject" Target="../embeddings/oleObject31.bin"/><Relationship Id="rId10" Type="http://schemas.openxmlformats.org/officeDocument/2006/relationships/image" Target="../media/image32.wmf"/><Relationship Id="rId19" Type="http://schemas.openxmlformats.org/officeDocument/2006/relationships/oleObject" Target="../embeddings/oleObject29.bin"/><Relationship Id="rId4" Type="http://schemas.openxmlformats.org/officeDocument/2006/relationships/image" Target="../media/image29.emf"/><Relationship Id="rId9" Type="http://schemas.openxmlformats.org/officeDocument/2006/relationships/oleObject" Target="../embeddings/oleObject24.bin"/><Relationship Id="rId14" Type="http://schemas.openxmlformats.org/officeDocument/2006/relationships/image" Target="../media/image34.wmf"/><Relationship Id="rId22" Type="http://schemas.openxmlformats.org/officeDocument/2006/relationships/image" Target="../media/image38.wmf"/></Relationships>
</file>

<file path=ppt/slides/_rels/slide28.xml.rels><?xml version="1.0" encoding="UTF-8" standalone="yes"?>
<Relationships xmlns="http://schemas.openxmlformats.org/package/2006/relationships"><Relationship Id="rId13" Type="http://schemas.openxmlformats.org/officeDocument/2006/relationships/oleObject" Target="../embeddings/oleObject37.bin"/><Relationship Id="rId18" Type="http://schemas.openxmlformats.org/officeDocument/2006/relationships/image" Target="../media/image47.wmf"/><Relationship Id="rId26" Type="http://schemas.openxmlformats.org/officeDocument/2006/relationships/image" Target="../media/image51.emf"/><Relationship Id="rId39" Type="http://schemas.openxmlformats.org/officeDocument/2006/relationships/oleObject" Target="../embeddings/oleObject50.bin"/><Relationship Id="rId21" Type="http://schemas.openxmlformats.org/officeDocument/2006/relationships/oleObject" Target="../embeddings/oleObject41.bin"/><Relationship Id="rId34" Type="http://schemas.openxmlformats.org/officeDocument/2006/relationships/image" Target="../media/image55.wmf"/><Relationship Id="rId42" Type="http://schemas.openxmlformats.org/officeDocument/2006/relationships/image" Target="../media/image59.wmf"/><Relationship Id="rId47" Type="http://schemas.openxmlformats.org/officeDocument/2006/relationships/oleObject" Target="../embeddings/oleObject54.bin"/><Relationship Id="rId7" Type="http://schemas.openxmlformats.org/officeDocument/2006/relationships/oleObject" Target="../embeddings/oleObject34.bin"/><Relationship Id="rId2" Type="http://schemas.openxmlformats.org/officeDocument/2006/relationships/slideLayout" Target="../slideLayouts/slideLayout7.xml"/><Relationship Id="rId16" Type="http://schemas.openxmlformats.org/officeDocument/2006/relationships/image" Target="../media/image46.wmf"/><Relationship Id="rId29" Type="http://schemas.openxmlformats.org/officeDocument/2006/relationships/oleObject" Target="../embeddings/oleObject45.bin"/><Relationship Id="rId11" Type="http://schemas.openxmlformats.org/officeDocument/2006/relationships/oleObject" Target="../embeddings/oleObject36.bin"/><Relationship Id="rId24" Type="http://schemas.openxmlformats.org/officeDocument/2006/relationships/image" Target="../media/image50.emf"/><Relationship Id="rId32" Type="http://schemas.openxmlformats.org/officeDocument/2006/relationships/image" Target="../media/image54.wmf"/><Relationship Id="rId37" Type="http://schemas.openxmlformats.org/officeDocument/2006/relationships/oleObject" Target="../embeddings/oleObject49.bin"/><Relationship Id="rId40" Type="http://schemas.openxmlformats.org/officeDocument/2006/relationships/image" Target="../media/image58.wmf"/><Relationship Id="rId45" Type="http://schemas.openxmlformats.org/officeDocument/2006/relationships/oleObject" Target="../embeddings/oleObject53.bin"/><Relationship Id="rId5" Type="http://schemas.openxmlformats.org/officeDocument/2006/relationships/oleObject" Target="../embeddings/oleObject33.bin"/><Relationship Id="rId15" Type="http://schemas.openxmlformats.org/officeDocument/2006/relationships/oleObject" Target="../embeddings/oleObject38.bin"/><Relationship Id="rId23" Type="http://schemas.openxmlformats.org/officeDocument/2006/relationships/oleObject" Target="../embeddings/oleObject42.bin"/><Relationship Id="rId28" Type="http://schemas.openxmlformats.org/officeDocument/2006/relationships/image" Target="../media/image52.wmf"/><Relationship Id="rId36" Type="http://schemas.openxmlformats.org/officeDocument/2006/relationships/image" Target="../media/image56.wmf"/><Relationship Id="rId49" Type="http://schemas.openxmlformats.org/officeDocument/2006/relationships/image" Target="../media/image62.wmf"/><Relationship Id="rId10" Type="http://schemas.openxmlformats.org/officeDocument/2006/relationships/image" Target="../media/image43.wmf"/><Relationship Id="rId19" Type="http://schemas.openxmlformats.org/officeDocument/2006/relationships/oleObject" Target="../embeddings/oleObject40.bin"/><Relationship Id="rId31" Type="http://schemas.openxmlformats.org/officeDocument/2006/relationships/oleObject" Target="../embeddings/oleObject46.bin"/><Relationship Id="rId44" Type="http://schemas.openxmlformats.org/officeDocument/2006/relationships/image" Target="../media/image60.wmf"/><Relationship Id="rId4" Type="http://schemas.openxmlformats.org/officeDocument/2006/relationships/image" Target="../media/image40.wmf"/><Relationship Id="rId9" Type="http://schemas.openxmlformats.org/officeDocument/2006/relationships/oleObject" Target="../embeddings/oleObject35.bin"/><Relationship Id="rId14" Type="http://schemas.openxmlformats.org/officeDocument/2006/relationships/image" Target="../media/image45.wmf"/><Relationship Id="rId22" Type="http://schemas.openxmlformats.org/officeDocument/2006/relationships/image" Target="../media/image49.emf"/><Relationship Id="rId27" Type="http://schemas.openxmlformats.org/officeDocument/2006/relationships/oleObject" Target="../embeddings/oleObject44.bin"/><Relationship Id="rId30" Type="http://schemas.openxmlformats.org/officeDocument/2006/relationships/image" Target="../media/image53.wmf"/><Relationship Id="rId35" Type="http://schemas.openxmlformats.org/officeDocument/2006/relationships/oleObject" Target="../embeddings/oleObject48.bin"/><Relationship Id="rId43" Type="http://schemas.openxmlformats.org/officeDocument/2006/relationships/oleObject" Target="../embeddings/oleObject52.bin"/><Relationship Id="rId48" Type="http://schemas.openxmlformats.org/officeDocument/2006/relationships/oleObject" Target="../embeddings/oleObject55.bin"/><Relationship Id="rId8" Type="http://schemas.openxmlformats.org/officeDocument/2006/relationships/image" Target="../media/image42.wmf"/><Relationship Id="rId3" Type="http://schemas.openxmlformats.org/officeDocument/2006/relationships/oleObject" Target="../embeddings/oleObject32.bin"/><Relationship Id="rId12" Type="http://schemas.openxmlformats.org/officeDocument/2006/relationships/image" Target="../media/image44.wmf"/><Relationship Id="rId17" Type="http://schemas.openxmlformats.org/officeDocument/2006/relationships/oleObject" Target="../embeddings/oleObject39.bin"/><Relationship Id="rId25" Type="http://schemas.openxmlformats.org/officeDocument/2006/relationships/oleObject" Target="../embeddings/oleObject43.bin"/><Relationship Id="rId33" Type="http://schemas.openxmlformats.org/officeDocument/2006/relationships/oleObject" Target="../embeddings/oleObject47.bin"/><Relationship Id="rId38" Type="http://schemas.openxmlformats.org/officeDocument/2006/relationships/image" Target="../media/image57.wmf"/><Relationship Id="rId46" Type="http://schemas.openxmlformats.org/officeDocument/2006/relationships/image" Target="../media/image61.wmf"/><Relationship Id="rId20" Type="http://schemas.openxmlformats.org/officeDocument/2006/relationships/image" Target="../media/image48.emf"/><Relationship Id="rId41" Type="http://schemas.openxmlformats.org/officeDocument/2006/relationships/oleObject" Target="../embeddings/oleObject51.bin"/><Relationship Id="rId1" Type="http://schemas.openxmlformats.org/officeDocument/2006/relationships/vmlDrawing" Target="../drawings/vmlDrawing10.vml"/><Relationship Id="rId6" Type="http://schemas.openxmlformats.org/officeDocument/2006/relationships/image" Target="../media/image41.wmf"/></Relationships>
</file>

<file path=ppt/slides/_rels/slide29.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3" Type="http://schemas.openxmlformats.org/officeDocument/2006/relationships/oleObject" Target="../embeddings/oleObject61.bin"/><Relationship Id="rId18" Type="http://schemas.openxmlformats.org/officeDocument/2006/relationships/image" Target="../media/image72.emf"/><Relationship Id="rId26" Type="http://schemas.openxmlformats.org/officeDocument/2006/relationships/image" Target="../media/image76.wmf"/><Relationship Id="rId39" Type="http://schemas.openxmlformats.org/officeDocument/2006/relationships/oleObject" Target="../embeddings/oleObject74.bin"/><Relationship Id="rId21" Type="http://schemas.openxmlformats.org/officeDocument/2006/relationships/oleObject" Target="../embeddings/oleObject65.bin"/><Relationship Id="rId34" Type="http://schemas.openxmlformats.org/officeDocument/2006/relationships/image" Target="../media/image80.emf"/><Relationship Id="rId42" Type="http://schemas.openxmlformats.org/officeDocument/2006/relationships/image" Target="../media/image84.emf"/><Relationship Id="rId7" Type="http://schemas.openxmlformats.org/officeDocument/2006/relationships/oleObject" Target="../embeddings/oleObject58.bin"/><Relationship Id="rId2" Type="http://schemas.openxmlformats.org/officeDocument/2006/relationships/slideLayout" Target="../slideLayouts/slideLayout7.xml"/><Relationship Id="rId16" Type="http://schemas.openxmlformats.org/officeDocument/2006/relationships/image" Target="../media/image71.emf"/><Relationship Id="rId20" Type="http://schemas.openxmlformats.org/officeDocument/2006/relationships/image" Target="../media/image73.emf"/><Relationship Id="rId29" Type="http://schemas.openxmlformats.org/officeDocument/2006/relationships/oleObject" Target="../embeddings/oleObject69.bin"/><Relationship Id="rId41" Type="http://schemas.openxmlformats.org/officeDocument/2006/relationships/oleObject" Target="../embeddings/oleObject75.bin"/><Relationship Id="rId1" Type="http://schemas.openxmlformats.org/officeDocument/2006/relationships/vmlDrawing" Target="../drawings/vmlDrawing11.vml"/><Relationship Id="rId6" Type="http://schemas.openxmlformats.org/officeDocument/2006/relationships/image" Target="../media/image66.emf"/><Relationship Id="rId11" Type="http://schemas.openxmlformats.org/officeDocument/2006/relationships/oleObject" Target="../embeddings/oleObject60.bin"/><Relationship Id="rId24" Type="http://schemas.openxmlformats.org/officeDocument/2006/relationships/image" Target="../media/image75.emf"/><Relationship Id="rId32" Type="http://schemas.openxmlformats.org/officeDocument/2006/relationships/image" Target="../media/image79.emf"/><Relationship Id="rId37" Type="http://schemas.openxmlformats.org/officeDocument/2006/relationships/oleObject" Target="../embeddings/oleObject73.bin"/><Relationship Id="rId40" Type="http://schemas.openxmlformats.org/officeDocument/2006/relationships/image" Target="../media/image83.emf"/><Relationship Id="rId5" Type="http://schemas.openxmlformats.org/officeDocument/2006/relationships/oleObject" Target="../embeddings/oleObject57.bin"/><Relationship Id="rId15" Type="http://schemas.openxmlformats.org/officeDocument/2006/relationships/oleObject" Target="../embeddings/oleObject62.bin"/><Relationship Id="rId23" Type="http://schemas.openxmlformats.org/officeDocument/2006/relationships/oleObject" Target="../embeddings/oleObject66.bin"/><Relationship Id="rId28" Type="http://schemas.openxmlformats.org/officeDocument/2006/relationships/image" Target="../media/image77.wmf"/><Relationship Id="rId36" Type="http://schemas.openxmlformats.org/officeDocument/2006/relationships/image" Target="../media/image81.wmf"/><Relationship Id="rId10" Type="http://schemas.openxmlformats.org/officeDocument/2006/relationships/image" Target="../media/image68.emf"/><Relationship Id="rId19" Type="http://schemas.openxmlformats.org/officeDocument/2006/relationships/oleObject" Target="../embeddings/oleObject64.bin"/><Relationship Id="rId31" Type="http://schemas.openxmlformats.org/officeDocument/2006/relationships/oleObject" Target="../embeddings/oleObject70.bin"/><Relationship Id="rId4" Type="http://schemas.openxmlformats.org/officeDocument/2006/relationships/image" Target="../media/image65.emf"/><Relationship Id="rId9" Type="http://schemas.openxmlformats.org/officeDocument/2006/relationships/oleObject" Target="../embeddings/oleObject59.bin"/><Relationship Id="rId14" Type="http://schemas.openxmlformats.org/officeDocument/2006/relationships/image" Target="../media/image70.emf"/><Relationship Id="rId22" Type="http://schemas.openxmlformats.org/officeDocument/2006/relationships/image" Target="../media/image74.emf"/><Relationship Id="rId27" Type="http://schemas.openxmlformats.org/officeDocument/2006/relationships/oleObject" Target="../embeddings/oleObject68.bin"/><Relationship Id="rId30" Type="http://schemas.openxmlformats.org/officeDocument/2006/relationships/image" Target="../media/image78.emf"/><Relationship Id="rId35" Type="http://schemas.openxmlformats.org/officeDocument/2006/relationships/oleObject" Target="../embeddings/oleObject72.bin"/><Relationship Id="rId8" Type="http://schemas.openxmlformats.org/officeDocument/2006/relationships/image" Target="../media/image67.emf"/><Relationship Id="rId3" Type="http://schemas.openxmlformats.org/officeDocument/2006/relationships/oleObject" Target="../embeddings/oleObject56.bin"/><Relationship Id="rId12" Type="http://schemas.openxmlformats.org/officeDocument/2006/relationships/image" Target="../media/image69.emf"/><Relationship Id="rId17" Type="http://schemas.openxmlformats.org/officeDocument/2006/relationships/oleObject" Target="../embeddings/oleObject63.bin"/><Relationship Id="rId25" Type="http://schemas.openxmlformats.org/officeDocument/2006/relationships/oleObject" Target="../embeddings/oleObject67.bin"/><Relationship Id="rId33" Type="http://schemas.openxmlformats.org/officeDocument/2006/relationships/oleObject" Target="../embeddings/oleObject71.bin"/><Relationship Id="rId38" Type="http://schemas.openxmlformats.org/officeDocument/2006/relationships/image" Target="../media/image82.wmf"/></Relationships>
</file>

<file path=ppt/slides/_rels/slide31.xml.rels><?xml version="1.0" encoding="UTF-8" standalone="yes"?>
<Relationships xmlns="http://schemas.openxmlformats.org/package/2006/relationships"><Relationship Id="rId8" Type="http://schemas.openxmlformats.org/officeDocument/2006/relationships/image" Target="../media/image87.emf"/><Relationship Id="rId3" Type="http://schemas.openxmlformats.org/officeDocument/2006/relationships/oleObject" Target="../embeddings/oleObject76.bin"/><Relationship Id="rId7" Type="http://schemas.openxmlformats.org/officeDocument/2006/relationships/oleObject" Target="../embeddings/oleObject78.bin"/><Relationship Id="rId2" Type="http://schemas.openxmlformats.org/officeDocument/2006/relationships/slideLayout" Target="../slideLayouts/slideLayout7.xml"/><Relationship Id="rId1" Type="http://schemas.openxmlformats.org/officeDocument/2006/relationships/vmlDrawing" Target="../drawings/vmlDrawing12.vml"/><Relationship Id="rId6" Type="http://schemas.openxmlformats.org/officeDocument/2006/relationships/image" Target="../media/image86.emf"/><Relationship Id="rId11" Type="http://schemas.openxmlformats.org/officeDocument/2006/relationships/image" Target="../media/image89.png"/><Relationship Id="rId5" Type="http://schemas.openxmlformats.org/officeDocument/2006/relationships/oleObject" Target="../embeddings/oleObject77.bin"/><Relationship Id="rId10" Type="http://schemas.openxmlformats.org/officeDocument/2006/relationships/image" Target="../media/image88.emf"/><Relationship Id="rId4" Type="http://schemas.openxmlformats.org/officeDocument/2006/relationships/image" Target="../media/image85.emf"/><Relationship Id="rId9" Type="http://schemas.openxmlformats.org/officeDocument/2006/relationships/oleObject" Target="../embeddings/oleObject79.bin"/></Relationships>
</file>

<file path=ppt/slides/_rels/slide32.xml.rels><?xml version="1.0" encoding="UTF-8" standalone="yes"?>
<Relationships xmlns="http://schemas.openxmlformats.org/package/2006/relationships"><Relationship Id="rId8" Type="http://schemas.openxmlformats.org/officeDocument/2006/relationships/oleObject" Target="../embeddings/oleObject82.bin"/><Relationship Id="rId3" Type="http://schemas.openxmlformats.org/officeDocument/2006/relationships/oleObject" Target="../embeddings/oleObject80.bin"/><Relationship Id="rId7" Type="http://schemas.openxmlformats.org/officeDocument/2006/relationships/image" Target="../media/image90.emf"/><Relationship Id="rId2" Type="http://schemas.openxmlformats.org/officeDocument/2006/relationships/slideLayout" Target="../slideLayouts/slideLayout7.xml"/><Relationship Id="rId1" Type="http://schemas.openxmlformats.org/officeDocument/2006/relationships/vmlDrawing" Target="../drawings/vmlDrawing13.vml"/><Relationship Id="rId6" Type="http://schemas.openxmlformats.org/officeDocument/2006/relationships/oleObject" Target="../embeddings/oleObject81.bin"/><Relationship Id="rId11" Type="http://schemas.openxmlformats.org/officeDocument/2006/relationships/image" Target="../media/image92.emf"/><Relationship Id="rId5" Type="http://schemas.openxmlformats.org/officeDocument/2006/relationships/image" Target="../media/image93.png"/><Relationship Id="rId10" Type="http://schemas.openxmlformats.org/officeDocument/2006/relationships/oleObject" Target="../embeddings/oleObject83.bin"/><Relationship Id="rId4" Type="http://schemas.openxmlformats.org/officeDocument/2006/relationships/image" Target="../media/image88.emf"/><Relationship Id="rId9" Type="http://schemas.openxmlformats.org/officeDocument/2006/relationships/image" Target="../media/image91.emf"/></Relationships>
</file>

<file path=ppt/slides/_rels/slide33.xml.rels><?xml version="1.0" encoding="UTF-8" standalone="yes"?>
<Relationships xmlns="http://schemas.openxmlformats.org/package/2006/relationships"><Relationship Id="rId8" Type="http://schemas.openxmlformats.org/officeDocument/2006/relationships/oleObject" Target="../embeddings/oleObject86.bin"/><Relationship Id="rId3" Type="http://schemas.openxmlformats.org/officeDocument/2006/relationships/image" Target="../media/image97.png"/><Relationship Id="rId7" Type="http://schemas.openxmlformats.org/officeDocument/2006/relationships/image" Target="../media/image95.emf"/><Relationship Id="rId2" Type="http://schemas.openxmlformats.org/officeDocument/2006/relationships/slideLayout" Target="../slideLayouts/slideLayout7.xml"/><Relationship Id="rId1" Type="http://schemas.openxmlformats.org/officeDocument/2006/relationships/vmlDrawing" Target="../drawings/vmlDrawing14.vml"/><Relationship Id="rId6" Type="http://schemas.openxmlformats.org/officeDocument/2006/relationships/oleObject" Target="../embeddings/oleObject85.bin"/><Relationship Id="rId5" Type="http://schemas.openxmlformats.org/officeDocument/2006/relationships/image" Target="../media/image94.emf"/><Relationship Id="rId10" Type="http://schemas.openxmlformats.org/officeDocument/2006/relationships/image" Target="../media/image98.png"/><Relationship Id="rId4" Type="http://schemas.openxmlformats.org/officeDocument/2006/relationships/oleObject" Target="../embeddings/oleObject84.bin"/><Relationship Id="rId9" Type="http://schemas.openxmlformats.org/officeDocument/2006/relationships/image" Target="../media/image96.emf"/></Relationships>
</file>

<file path=ppt/slides/_rels/slide34.xml.rels><?xml version="1.0" encoding="UTF-8" standalone="yes"?>
<Relationships xmlns="http://schemas.openxmlformats.org/package/2006/relationships"><Relationship Id="rId8" Type="http://schemas.openxmlformats.org/officeDocument/2006/relationships/oleObject" Target="../embeddings/oleObject89.bin"/><Relationship Id="rId13" Type="http://schemas.openxmlformats.org/officeDocument/2006/relationships/image" Target="../media/image103.wmf"/><Relationship Id="rId3" Type="http://schemas.openxmlformats.org/officeDocument/2006/relationships/image" Target="../media/image106.png"/><Relationship Id="rId7" Type="http://schemas.openxmlformats.org/officeDocument/2006/relationships/image" Target="../media/image100.wmf"/><Relationship Id="rId12" Type="http://schemas.openxmlformats.org/officeDocument/2006/relationships/oleObject" Target="../embeddings/oleObject91.bin"/><Relationship Id="rId17" Type="http://schemas.openxmlformats.org/officeDocument/2006/relationships/image" Target="../media/image105.emf"/><Relationship Id="rId2" Type="http://schemas.openxmlformats.org/officeDocument/2006/relationships/slideLayout" Target="../slideLayouts/slideLayout7.xml"/><Relationship Id="rId16" Type="http://schemas.openxmlformats.org/officeDocument/2006/relationships/oleObject" Target="../embeddings/oleObject93.bin"/><Relationship Id="rId1" Type="http://schemas.openxmlformats.org/officeDocument/2006/relationships/vmlDrawing" Target="../drawings/vmlDrawing15.vml"/><Relationship Id="rId6" Type="http://schemas.openxmlformats.org/officeDocument/2006/relationships/oleObject" Target="../embeddings/oleObject88.bin"/><Relationship Id="rId11" Type="http://schemas.openxmlformats.org/officeDocument/2006/relationships/image" Target="../media/image102.wmf"/><Relationship Id="rId5" Type="http://schemas.openxmlformats.org/officeDocument/2006/relationships/image" Target="../media/image99.wmf"/><Relationship Id="rId15" Type="http://schemas.openxmlformats.org/officeDocument/2006/relationships/image" Target="../media/image104.emf"/><Relationship Id="rId10" Type="http://schemas.openxmlformats.org/officeDocument/2006/relationships/oleObject" Target="../embeddings/oleObject90.bin"/><Relationship Id="rId4" Type="http://schemas.openxmlformats.org/officeDocument/2006/relationships/oleObject" Target="../embeddings/oleObject87.bin"/><Relationship Id="rId9" Type="http://schemas.openxmlformats.org/officeDocument/2006/relationships/image" Target="../media/image101.wmf"/><Relationship Id="rId14" Type="http://schemas.openxmlformats.org/officeDocument/2006/relationships/oleObject" Target="../embeddings/oleObject92.bin"/></Relationships>
</file>

<file path=ppt/slides/_rels/slide35.xml.rels><?xml version="1.0" encoding="UTF-8" standalone="yes"?>
<Relationships xmlns="http://schemas.openxmlformats.org/package/2006/relationships"><Relationship Id="rId8" Type="http://schemas.openxmlformats.org/officeDocument/2006/relationships/oleObject" Target="../embeddings/oleObject96.bin"/><Relationship Id="rId13" Type="http://schemas.openxmlformats.org/officeDocument/2006/relationships/image" Target="../media/image111.emf"/><Relationship Id="rId18" Type="http://schemas.openxmlformats.org/officeDocument/2006/relationships/oleObject" Target="../embeddings/oleObject101.bin"/><Relationship Id="rId3" Type="http://schemas.openxmlformats.org/officeDocument/2006/relationships/oleObject" Target="../embeddings/oleObject94.bin"/><Relationship Id="rId21" Type="http://schemas.openxmlformats.org/officeDocument/2006/relationships/image" Target="../media/image115.wmf"/><Relationship Id="rId7" Type="http://schemas.openxmlformats.org/officeDocument/2006/relationships/image" Target="../media/image108.emf"/><Relationship Id="rId12" Type="http://schemas.openxmlformats.org/officeDocument/2006/relationships/oleObject" Target="../embeddings/oleObject98.bin"/><Relationship Id="rId17" Type="http://schemas.openxmlformats.org/officeDocument/2006/relationships/image" Target="../media/image113.wmf"/><Relationship Id="rId2" Type="http://schemas.openxmlformats.org/officeDocument/2006/relationships/slideLayout" Target="../slideLayouts/slideLayout7.xml"/><Relationship Id="rId16" Type="http://schemas.openxmlformats.org/officeDocument/2006/relationships/oleObject" Target="../embeddings/oleObject100.bin"/><Relationship Id="rId20" Type="http://schemas.openxmlformats.org/officeDocument/2006/relationships/oleObject" Target="../embeddings/oleObject102.bin"/><Relationship Id="rId1" Type="http://schemas.openxmlformats.org/officeDocument/2006/relationships/vmlDrawing" Target="../drawings/vmlDrawing16.vml"/><Relationship Id="rId6" Type="http://schemas.openxmlformats.org/officeDocument/2006/relationships/oleObject" Target="../embeddings/oleObject95.bin"/><Relationship Id="rId11" Type="http://schemas.openxmlformats.org/officeDocument/2006/relationships/image" Target="../media/image110.emf"/><Relationship Id="rId5" Type="http://schemas.openxmlformats.org/officeDocument/2006/relationships/image" Target="../media/image117.png"/><Relationship Id="rId15" Type="http://schemas.openxmlformats.org/officeDocument/2006/relationships/image" Target="../media/image112.emf"/><Relationship Id="rId23" Type="http://schemas.openxmlformats.org/officeDocument/2006/relationships/image" Target="../media/image116.wmf"/><Relationship Id="rId10" Type="http://schemas.openxmlformats.org/officeDocument/2006/relationships/oleObject" Target="../embeddings/oleObject97.bin"/><Relationship Id="rId19" Type="http://schemas.openxmlformats.org/officeDocument/2006/relationships/image" Target="../media/image114.wmf"/><Relationship Id="rId4" Type="http://schemas.openxmlformats.org/officeDocument/2006/relationships/image" Target="../media/image107.emf"/><Relationship Id="rId9" Type="http://schemas.openxmlformats.org/officeDocument/2006/relationships/image" Target="../media/image109.emf"/><Relationship Id="rId14" Type="http://schemas.openxmlformats.org/officeDocument/2006/relationships/oleObject" Target="../embeddings/oleObject99.bin"/><Relationship Id="rId22" Type="http://schemas.openxmlformats.org/officeDocument/2006/relationships/oleObject" Target="../embeddings/oleObject103.bin"/></Relationships>
</file>

<file path=ppt/slides/_rels/slide36.xml.rels><?xml version="1.0" encoding="UTF-8" standalone="yes"?>
<Relationships xmlns="http://schemas.openxmlformats.org/package/2006/relationships"><Relationship Id="rId8" Type="http://schemas.openxmlformats.org/officeDocument/2006/relationships/image" Target="../media/image120.wmf"/><Relationship Id="rId13" Type="http://schemas.openxmlformats.org/officeDocument/2006/relationships/oleObject" Target="../embeddings/oleObject109.bin"/><Relationship Id="rId3" Type="http://schemas.openxmlformats.org/officeDocument/2006/relationships/oleObject" Target="../embeddings/oleObject104.bin"/><Relationship Id="rId7" Type="http://schemas.openxmlformats.org/officeDocument/2006/relationships/oleObject" Target="../embeddings/oleObject106.bin"/><Relationship Id="rId12" Type="http://schemas.openxmlformats.org/officeDocument/2006/relationships/image" Target="../media/image122.emf"/><Relationship Id="rId2" Type="http://schemas.openxmlformats.org/officeDocument/2006/relationships/slideLayout" Target="../slideLayouts/slideLayout7.xml"/><Relationship Id="rId16" Type="http://schemas.openxmlformats.org/officeDocument/2006/relationships/image" Target="../media/image125.png"/><Relationship Id="rId1" Type="http://schemas.openxmlformats.org/officeDocument/2006/relationships/vmlDrawing" Target="../drawings/vmlDrawing17.vml"/><Relationship Id="rId6" Type="http://schemas.openxmlformats.org/officeDocument/2006/relationships/image" Target="../media/image119.wmf"/><Relationship Id="rId11" Type="http://schemas.openxmlformats.org/officeDocument/2006/relationships/oleObject" Target="../embeddings/oleObject108.bin"/><Relationship Id="rId5" Type="http://schemas.openxmlformats.org/officeDocument/2006/relationships/oleObject" Target="../embeddings/oleObject105.bin"/><Relationship Id="rId15" Type="http://schemas.openxmlformats.org/officeDocument/2006/relationships/image" Target="../media/image124.png"/><Relationship Id="rId10" Type="http://schemas.openxmlformats.org/officeDocument/2006/relationships/image" Target="../media/image121.emf"/><Relationship Id="rId4" Type="http://schemas.openxmlformats.org/officeDocument/2006/relationships/image" Target="../media/image118.wmf"/><Relationship Id="rId9" Type="http://schemas.openxmlformats.org/officeDocument/2006/relationships/oleObject" Target="../embeddings/oleObject107.bin"/><Relationship Id="rId14" Type="http://schemas.openxmlformats.org/officeDocument/2006/relationships/image" Target="../media/image123.emf"/></Relationships>
</file>

<file path=ppt/slides/_rels/slide37.xml.rels><?xml version="1.0" encoding="UTF-8" standalone="yes"?>
<Relationships xmlns="http://schemas.openxmlformats.org/package/2006/relationships"><Relationship Id="rId8" Type="http://schemas.openxmlformats.org/officeDocument/2006/relationships/image" Target="../media/image128.emf"/><Relationship Id="rId13" Type="http://schemas.openxmlformats.org/officeDocument/2006/relationships/oleObject" Target="../embeddings/oleObject115.bin"/><Relationship Id="rId3" Type="http://schemas.openxmlformats.org/officeDocument/2006/relationships/oleObject" Target="../embeddings/oleObject110.bin"/><Relationship Id="rId7" Type="http://schemas.openxmlformats.org/officeDocument/2006/relationships/oleObject" Target="../embeddings/oleObject112.bin"/><Relationship Id="rId12" Type="http://schemas.openxmlformats.org/officeDocument/2006/relationships/image" Target="../media/image130.emf"/><Relationship Id="rId2" Type="http://schemas.openxmlformats.org/officeDocument/2006/relationships/slideLayout" Target="../slideLayouts/slideLayout7.xml"/><Relationship Id="rId1" Type="http://schemas.openxmlformats.org/officeDocument/2006/relationships/vmlDrawing" Target="../drawings/vmlDrawing18.vml"/><Relationship Id="rId6" Type="http://schemas.openxmlformats.org/officeDocument/2006/relationships/image" Target="../media/image127.emf"/><Relationship Id="rId11" Type="http://schemas.openxmlformats.org/officeDocument/2006/relationships/oleObject" Target="../embeddings/oleObject114.bin"/><Relationship Id="rId5" Type="http://schemas.openxmlformats.org/officeDocument/2006/relationships/oleObject" Target="../embeddings/oleObject111.bin"/><Relationship Id="rId15" Type="http://schemas.openxmlformats.org/officeDocument/2006/relationships/image" Target="../media/image132.png"/><Relationship Id="rId10" Type="http://schemas.openxmlformats.org/officeDocument/2006/relationships/image" Target="../media/image129.emf"/><Relationship Id="rId4" Type="http://schemas.openxmlformats.org/officeDocument/2006/relationships/image" Target="../media/image126.emf"/><Relationship Id="rId9" Type="http://schemas.openxmlformats.org/officeDocument/2006/relationships/oleObject" Target="../embeddings/oleObject113.bin"/><Relationship Id="rId14" Type="http://schemas.openxmlformats.org/officeDocument/2006/relationships/image" Target="../media/image131.emf"/></Relationships>
</file>

<file path=ppt/slides/_rels/slide38.xml.rels><?xml version="1.0" encoding="UTF-8" standalone="yes"?>
<Relationships xmlns="http://schemas.openxmlformats.org/package/2006/relationships"><Relationship Id="rId8" Type="http://schemas.openxmlformats.org/officeDocument/2006/relationships/image" Target="../media/image135.wmf"/><Relationship Id="rId13" Type="http://schemas.openxmlformats.org/officeDocument/2006/relationships/oleObject" Target="../embeddings/oleObject121.bin"/><Relationship Id="rId3" Type="http://schemas.openxmlformats.org/officeDocument/2006/relationships/oleObject" Target="../embeddings/oleObject116.bin"/><Relationship Id="rId7" Type="http://schemas.openxmlformats.org/officeDocument/2006/relationships/oleObject" Target="../embeddings/oleObject118.bin"/><Relationship Id="rId12" Type="http://schemas.openxmlformats.org/officeDocument/2006/relationships/image" Target="../media/image137.wmf"/><Relationship Id="rId2" Type="http://schemas.openxmlformats.org/officeDocument/2006/relationships/slideLayout" Target="../slideLayouts/slideLayout7.xml"/><Relationship Id="rId16" Type="http://schemas.openxmlformats.org/officeDocument/2006/relationships/image" Target="../media/image140.png"/><Relationship Id="rId1" Type="http://schemas.openxmlformats.org/officeDocument/2006/relationships/vmlDrawing" Target="../drawings/vmlDrawing19.vml"/><Relationship Id="rId6" Type="http://schemas.openxmlformats.org/officeDocument/2006/relationships/image" Target="../media/image134.emf"/><Relationship Id="rId11" Type="http://schemas.openxmlformats.org/officeDocument/2006/relationships/oleObject" Target="../embeddings/oleObject120.bin"/><Relationship Id="rId5" Type="http://schemas.openxmlformats.org/officeDocument/2006/relationships/oleObject" Target="../embeddings/oleObject117.bin"/><Relationship Id="rId15" Type="http://schemas.openxmlformats.org/officeDocument/2006/relationships/image" Target="../media/image139.png"/><Relationship Id="rId10" Type="http://schemas.openxmlformats.org/officeDocument/2006/relationships/image" Target="../media/image136.wmf"/><Relationship Id="rId4" Type="http://schemas.openxmlformats.org/officeDocument/2006/relationships/image" Target="../media/image133.emf"/><Relationship Id="rId9" Type="http://schemas.openxmlformats.org/officeDocument/2006/relationships/oleObject" Target="../embeddings/oleObject119.bin"/><Relationship Id="rId14" Type="http://schemas.openxmlformats.org/officeDocument/2006/relationships/image" Target="../media/image138.wmf"/></Relationships>
</file>

<file path=ppt/slides/_rels/slide39.xml.rels><?xml version="1.0" encoding="UTF-8" standalone="yes"?>
<Relationships xmlns="http://schemas.openxmlformats.org/package/2006/relationships"><Relationship Id="rId8" Type="http://schemas.openxmlformats.org/officeDocument/2006/relationships/image" Target="../media/image143.emf"/><Relationship Id="rId13" Type="http://schemas.openxmlformats.org/officeDocument/2006/relationships/image" Target="../media/image145.emf"/><Relationship Id="rId3" Type="http://schemas.openxmlformats.org/officeDocument/2006/relationships/oleObject" Target="../embeddings/oleObject122.bin"/><Relationship Id="rId7" Type="http://schemas.openxmlformats.org/officeDocument/2006/relationships/oleObject" Target="../embeddings/oleObject124.bin"/><Relationship Id="rId12" Type="http://schemas.openxmlformats.org/officeDocument/2006/relationships/oleObject" Target="../embeddings/oleObject126.bin"/><Relationship Id="rId2" Type="http://schemas.openxmlformats.org/officeDocument/2006/relationships/slideLayout" Target="../slideLayouts/slideLayout7.xml"/><Relationship Id="rId1" Type="http://schemas.openxmlformats.org/officeDocument/2006/relationships/vmlDrawing" Target="../drawings/vmlDrawing20.vml"/><Relationship Id="rId6" Type="http://schemas.openxmlformats.org/officeDocument/2006/relationships/image" Target="../media/image142.emf"/><Relationship Id="rId11" Type="http://schemas.openxmlformats.org/officeDocument/2006/relationships/image" Target="../media/image144.emf"/><Relationship Id="rId5" Type="http://schemas.openxmlformats.org/officeDocument/2006/relationships/oleObject" Target="../embeddings/oleObject123.bin"/><Relationship Id="rId15" Type="http://schemas.openxmlformats.org/officeDocument/2006/relationships/image" Target="../media/image146.emf"/><Relationship Id="rId10" Type="http://schemas.openxmlformats.org/officeDocument/2006/relationships/oleObject" Target="../embeddings/oleObject125.bin"/><Relationship Id="rId4" Type="http://schemas.openxmlformats.org/officeDocument/2006/relationships/image" Target="../media/image141.emf"/><Relationship Id="rId9" Type="http://schemas.openxmlformats.org/officeDocument/2006/relationships/image" Target="../media/image147.png"/><Relationship Id="rId14" Type="http://schemas.openxmlformats.org/officeDocument/2006/relationships/oleObject" Target="../embeddings/oleObject127.bin"/></Relationships>
</file>

<file path=ppt/slides/_rels/slide40.xml.rels><?xml version="1.0" encoding="UTF-8" standalone="yes"?>
<Relationships xmlns="http://schemas.openxmlformats.org/package/2006/relationships"><Relationship Id="rId8" Type="http://schemas.openxmlformats.org/officeDocument/2006/relationships/oleObject" Target="../embeddings/oleObject130.bin"/><Relationship Id="rId13" Type="http://schemas.openxmlformats.org/officeDocument/2006/relationships/image" Target="../media/image152.emf"/><Relationship Id="rId18" Type="http://schemas.openxmlformats.org/officeDocument/2006/relationships/oleObject" Target="../embeddings/oleObject135.bin"/><Relationship Id="rId3" Type="http://schemas.openxmlformats.org/officeDocument/2006/relationships/image" Target="../media/image159.wmf"/><Relationship Id="rId21" Type="http://schemas.openxmlformats.org/officeDocument/2006/relationships/image" Target="../media/image156.emf"/><Relationship Id="rId7" Type="http://schemas.openxmlformats.org/officeDocument/2006/relationships/image" Target="../media/image149.emf"/><Relationship Id="rId12" Type="http://schemas.openxmlformats.org/officeDocument/2006/relationships/oleObject" Target="../embeddings/oleObject132.bin"/><Relationship Id="rId17" Type="http://schemas.openxmlformats.org/officeDocument/2006/relationships/image" Target="../media/image154.emf"/><Relationship Id="rId25" Type="http://schemas.openxmlformats.org/officeDocument/2006/relationships/image" Target="../media/image158.emf"/><Relationship Id="rId2" Type="http://schemas.openxmlformats.org/officeDocument/2006/relationships/slideLayout" Target="../slideLayouts/slideLayout7.xml"/><Relationship Id="rId16" Type="http://schemas.openxmlformats.org/officeDocument/2006/relationships/oleObject" Target="../embeddings/oleObject134.bin"/><Relationship Id="rId20" Type="http://schemas.openxmlformats.org/officeDocument/2006/relationships/oleObject" Target="../embeddings/oleObject136.bin"/><Relationship Id="rId1" Type="http://schemas.openxmlformats.org/officeDocument/2006/relationships/vmlDrawing" Target="../drawings/vmlDrawing21.vml"/><Relationship Id="rId6" Type="http://schemas.openxmlformats.org/officeDocument/2006/relationships/oleObject" Target="../embeddings/oleObject129.bin"/><Relationship Id="rId11" Type="http://schemas.openxmlformats.org/officeDocument/2006/relationships/image" Target="../media/image151.emf"/><Relationship Id="rId24" Type="http://schemas.openxmlformats.org/officeDocument/2006/relationships/oleObject" Target="../embeddings/oleObject138.bin"/><Relationship Id="rId5" Type="http://schemas.openxmlformats.org/officeDocument/2006/relationships/image" Target="../media/image148.emf"/><Relationship Id="rId15" Type="http://schemas.openxmlformats.org/officeDocument/2006/relationships/image" Target="../media/image153.emf"/><Relationship Id="rId23" Type="http://schemas.openxmlformats.org/officeDocument/2006/relationships/image" Target="../media/image157.emf"/><Relationship Id="rId10" Type="http://schemas.openxmlformats.org/officeDocument/2006/relationships/oleObject" Target="../embeddings/oleObject131.bin"/><Relationship Id="rId19" Type="http://schemas.openxmlformats.org/officeDocument/2006/relationships/image" Target="../media/image155.emf"/><Relationship Id="rId4" Type="http://schemas.openxmlformats.org/officeDocument/2006/relationships/oleObject" Target="../embeddings/oleObject128.bin"/><Relationship Id="rId9" Type="http://schemas.openxmlformats.org/officeDocument/2006/relationships/image" Target="../media/image150.emf"/><Relationship Id="rId14" Type="http://schemas.openxmlformats.org/officeDocument/2006/relationships/oleObject" Target="../embeddings/oleObject133.bin"/><Relationship Id="rId22" Type="http://schemas.openxmlformats.org/officeDocument/2006/relationships/oleObject" Target="../embeddings/oleObject137.bin"/></Relationships>
</file>

<file path=ppt/slides/_rels/slide41.xml.rels><?xml version="1.0" encoding="UTF-8" standalone="yes"?>
<Relationships xmlns="http://schemas.openxmlformats.org/package/2006/relationships"><Relationship Id="rId8" Type="http://schemas.openxmlformats.org/officeDocument/2006/relationships/oleObject" Target="../embeddings/oleObject141.bin"/><Relationship Id="rId13" Type="http://schemas.openxmlformats.org/officeDocument/2006/relationships/image" Target="../media/image164.emf"/><Relationship Id="rId18" Type="http://schemas.openxmlformats.org/officeDocument/2006/relationships/oleObject" Target="../embeddings/oleObject146.bin"/><Relationship Id="rId3" Type="http://schemas.openxmlformats.org/officeDocument/2006/relationships/oleObject" Target="../embeddings/oleObject139.bin"/><Relationship Id="rId7" Type="http://schemas.openxmlformats.org/officeDocument/2006/relationships/image" Target="../media/image168.png"/><Relationship Id="rId12" Type="http://schemas.openxmlformats.org/officeDocument/2006/relationships/oleObject" Target="../embeddings/oleObject143.bin"/><Relationship Id="rId17" Type="http://schemas.openxmlformats.org/officeDocument/2006/relationships/image" Target="../media/image166.emf"/><Relationship Id="rId2" Type="http://schemas.openxmlformats.org/officeDocument/2006/relationships/slideLayout" Target="../slideLayouts/slideLayout7.xml"/><Relationship Id="rId16" Type="http://schemas.openxmlformats.org/officeDocument/2006/relationships/oleObject" Target="../embeddings/oleObject145.bin"/><Relationship Id="rId1" Type="http://schemas.openxmlformats.org/officeDocument/2006/relationships/vmlDrawing" Target="../drawings/vmlDrawing22.vml"/><Relationship Id="rId6" Type="http://schemas.openxmlformats.org/officeDocument/2006/relationships/image" Target="../media/image161.emf"/><Relationship Id="rId11" Type="http://schemas.openxmlformats.org/officeDocument/2006/relationships/image" Target="../media/image163.emf"/><Relationship Id="rId5" Type="http://schemas.openxmlformats.org/officeDocument/2006/relationships/oleObject" Target="../embeddings/oleObject140.bin"/><Relationship Id="rId15" Type="http://schemas.openxmlformats.org/officeDocument/2006/relationships/image" Target="../media/image165.emf"/><Relationship Id="rId10" Type="http://schemas.openxmlformats.org/officeDocument/2006/relationships/oleObject" Target="../embeddings/oleObject142.bin"/><Relationship Id="rId19" Type="http://schemas.openxmlformats.org/officeDocument/2006/relationships/image" Target="../media/image167.emf"/><Relationship Id="rId4" Type="http://schemas.openxmlformats.org/officeDocument/2006/relationships/image" Target="../media/image160.emf"/><Relationship Id="rId9" Type="http://schemas.openxmlformats.org/officeDocument/2006/relationships/image" Target="../media/image162.emf"/><Relationship Id="rId14" Type="http://schemas.openxmlformats.org/officeDocument/2006/relationships/oleObject" Target="../embeddings/oleObject144.bin"/></Relationships>
</file>

<file path=ppt/slides/_rels/slide42.xml.rels><?xml version="1.0" encoding="UTF-8" standalone="yes"?>
<Relationships xmlns="http://schemas.openxmlformats.org/package/2006/relationships"><Relationship Id="rId8" Type="http://schemas.openxmlformats.org/officeDocument/2006/relationships/image" Target="../media/image171.emf"/><Relationship Id="rId13" Type="http://schemas.openxmlformats.org/officeDocument/2006/relationships/oleObject" Target="../embeddings/oleObject152.bin"/><Relationship Id="rId18" Type="http://schemas.openxmlformats.org/officeDocument/2006/relationships/image" Target="../media/image176.emf"/><Relationship Id="rId3" Type="http://schemas.openxmlformats.org/officeDocument/2006/relationships/oleObject" Target="../embeddings/oleObject147.bin"/><Relationship Id="rId7" Type="http://schemas.openxmlformats.org/officeDocument/2006/relationships/oleObject" Target="../embeddings/oleObject149.bin"/><Relationship Id="rId12" Type="http://schemas.openxmlformats.org/officeDocument/2006/relationships/image" Target="../media/image173.emf"/><Relationship Id="rId17" Type="http://schemas.openxmlformats.org/officeDocument/2006/relationships/oleObject" Target="../embeddings/oleObject154.bin"/><Relationship Id="rId2" Type="http://schemas.openxmlformats.org/officeDocument/2006/relationships/slideLayout" Target="../slideLayouts/slideLayout7.xml"/><Relationship Id="rId16" Type="http://schemas.openxmlformats.org/officeDocument/2006/relationships/image" Target="../media/image175.emf"/><Relationship Id="rId1" Type="http://schemas.openxmlformats.org/officeDocument/2006/relationships/vmlDrawing" Target="../drawings/vmlDrawing23.vml"/><Relationship Id="rId6" Type="http://schemas.openxmlformats.org/officeDocument/2006/relationships/image" Target="../media/image170.emf"/><Relationship Id="rId11" Type="http://schemas.openxmlformats.org/officeDocument/2006/relationships/oleObject" Target="../embeddings/oleObject151.bin"/><Relationship Id="rId5" Type="http://schemas.openxmlformats.org/officeDocument/2006/relationships/oleObject" Target="../embeddings/oleObject148.bin"/><Relationship Id="rId15" Type="http://schemas.openxmlformats.org/officeDocument/2006/relationships/oleObject" Target="../embeddings/oleObject153.bin"/><Relationship Id="rId10" Type="http://schemas.openxmlformats.org/officeDocument/2006/relationships/image" Target="../media/image172.emf"/><Relationship Id="rId4" Type="http://schemas.openxmlformats.org/officeDocument/2006/relationships/image" Target="../media/image169.emf"/><Relationship Id="rId9" Type="http://schemas.openxmlformats.org/officeDocument/2006/relationships/oleObject" Target="../embeddings/oleObject150.bin"/><Relationship Id="rId14" Type="http://schemas.openxmlformats.org/officeDocument/2006/relationships/image" Target="../media/image174.emf"/></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155.bin"/><Relationship Id="rId2" Type="http://schemas.openxmlformats.org/officeDocument/2006/relationships/slideLayout" Target="../slideLayouts/slideLayout7.xml"/><Relationship Id="rId1" Type="http://schemas.openxmlformats.org/officeDocument/2006/relationships/vmlDrawing" Target="../drawings/vmlDrawing24.vml"/><Relationship Id="rId6" Type="http://schemas.openxmlformats.org/officeDocument/2006/relationships/image" Target="../media/image178.emf"/><Relationship Id="rId5" Type="http://schemas.openxmlformats.org/officeDocument/2006/relationships/oleObject" Target="../embeddings/oleObject156.bin"/><Relationship Id="rId4" Type="http://schemas.openxmlformats.org/officeDocument/2006/relationships/image" Target="../media/image177.emf"/></Relationships>
</file>

<file path=ppt/slides/_rels/slide45.xml.rels><?xml version="1.0" encoding="UTF-8" standalone="yes"?>
<Relationships xmlns="http://schemas.openxmlformats.org/package/2006/relationships"><Relationship Id="rId8" Type="http://schemas.openxmlformats.org/officeDocument/2006/relationships/image" Target="../media/image181.emf"/><Relationship Id="rId13" Type="http://schemas.openxmlformats.org/officeDocument/2006/relationships/oleObject" Target="../embeddings/oleObject162.bin"/><Relationship Id="rId3" Type="http://schemas.openxmlformats.org/officeDocument/2006/relationships/oleObject" Target="../embeddings/oleObject157.bin"/><Relationship Id="rId7" Type="http://schemas.openxmlformats.org/officeDocument/2006/relationships/oleObject" Target="../embeddings/oleObject159.bin"/><Relationship Id="rId12" Type="http://schemas.openxmlformats.org/officeDocument/2006/relationships/image" Target="../media/image183.emf"/><Relationship Id="rId17" Type="http://schemas.openxmlformats.org/officeDocument/2006/relationships/image" Target="../media/image186.png"/><Relationship Id="rId2" Type="http://schemas.openxmlformats.org/officeDocument/2006/relationships/slideLayout" Target="../slideLayouts/slideLayout7.xml"/><Relationship Id="rId16" Type="http://schemas.openxmlformats.org/officeDocument/2006/relationships/image" Target="../media/image185.emf"/><Relationship Id="rId1" Type="http://schemas.openxmlformats.org/officeDocument/2006/relationships/vmlDrawing" Target="../drawings/vmlDrawing25.vml"/><Relationship Id="rId6" Type="http://schemas.openxmlformats.org/officeDocument/2006/relationships/image" Target="../media/image180.emf"/><Relationship Id="rId11" Type="http://schemas.openxmlformats.org/officeDocument/2006/relationships/oleObject" Target="../embeddings/oleObject161.bin"/><Relationship Id="rId5" Type="http://schemas.openxmlformats.org/officeDocument/2006/relationships/oleObject" Target="../embeddings/oleObject158.bin"/><Relationship Id="rId15" Type="http://schemas.openxmlformats.org/officeDocument/2006/relationships/oleObject" Target="../embeddings/oleObject163.bin"/><Relationship Id="rId10" Type="http://schemas.openxmlformats.org/officeDocument/2006/relationships/image" Target="../media/image182.emf"/><Relationship Id="rId4" Type="http://schemas.openxmlformats.org/officeDocument/2006/relationships/image" Target="../media/image179.emf"/><Relationship Id="rId9" Type="http://schemas.openxmlformats.org/officeDocument/2006/relationships/oleObject" Target="../embeddings/oleObject160.bin"/><Relationship Id="rId14" Type="http://schemas.openxmlformats.org/officeDocument/2006/relationships/image" Target="../media/image184.emf"/></Relationships>
</file>

<file path=ppt/slides/_rels/slide46.xml.rels><?xml version="1.0" encoding="UTF-8" standalone="yes"?>
<Relationships xmlns="http://schemas.openxmlformats.org/package/2006/relationships"><Relationship Id="rId8" Type="http://schemas.openxmlformats.org/officeDocument/2006/relationships/image" Target="../media/image189.emf"/><Relationship Id="rId13" Type="http://schemas.openxmlformats.org/officeDocument/2006/relationships/oleObject" Target="../embeddings/oleObject169.bin"/><Relationship Id="rId18" Type="http://schemas.openxmlformats.org/officeDocument/2006/relationships/image" Target="../media/image194.emf"/><Relationship Id="rId26" Type="http://schemas.openxmlformats.org/officeDocument/2006/relationships/image" Target="../media/image198.emf"/><Relationship Id="rId3" Type="http://schemas.openxmlformats.org/officeDocument/2006/relationships/oleObject" Target="../embeddings/oleObject164.bin"/><Relationship Id="rId21" Type="http://schemas.openxmlformats.org/officeDocument/2006/relationships/oleObject" Target="../embeddings/oleObject173.bin"/><Relationship Id="rId7" Type="http://schemas.openxmlformats.org/officeDocument/2006/relationships/oleObject" Target="../embeddings/oleObject166.bin"/><Relationship Id="rId12" Type="http://schemas.openxmlformats.org/officeDocument/2006/relationships/image" Target="../media/image191.emf"/><Relationship Id="rId17" Type="http://schemas.openxmlformats.org/officeDocument/2006/relationships/oleObject" Target="../embeddings/oleObject171.bin"/><Relationship Id="rId25" Type="http://schemas.openxmlformats.org/officeDocument/2006/relationships/oleObject" Target="../embeddings/oleObject175.bin"/><Relationship Id="rId2" Type="http://schemas.openxmlformats.org/officeDocument/2006/relationships/slideLayout" Target="../slideLayouts/slideLayout7.xml"/><Relationship Id="rId16" Type="http://schemas.openxmlformats.org/officeDocument/2006/relationships/image" Target="../media/image193.emf"/><Relationship Id="rId20" Type="http://schemas.openxmlformats.org/officeDocument/2006/relationships/image" Target="../media/image195.emf"/><Relationship Id="rId1" Type="http://schemas.openxmlformats.org/officeDocument/2006/relationships/vmlDrawing" Target="../drawings/vmlDrawing26.vml"/><Relationship Id="rId6" Type="http://schemas.openxmlformats.org/officeDocument/2006/relationships/image" Target="../media/image188.emf"/><Relationship Id="rId11" Type="http://schemas.openxmlformats.org/officeDocument/2006/relationships/oleObject" Target="../embeddings/oleObject168.bin"/><Relationship Id="rId24" Type="http://schemas.openxmlformats.org/officeDocument/2006/relationships/image" Target="../media/image197.emf"/><Relationship Id="rId5" Type="http://schemas.openxmlformats.org/officeDocument/2006/relationships/oleObject" Target="../embeddings/oleObject165.bin"/><Relationship Id="rId15" Type="http://schemas.openxmlformats.org/officeDocument/2006/relationships/oleObject" Target="../embeddings/oleObject170.bin"/><Relationship Id="rId23" Type="http://schemas.openxmlformats.org/officeDocument/2006/relationships/oleObject" Target="../embeddings/oleObject174.bin"/><Relationship Id="rId10" Type="http://schemas.openxmlformats.org/officeDocument/2006/relationships/image" Target="../media/image190.emf"/><Relationship Id="rId19" Type="http://schemas.openxmlformats.org/officeDocument/2006/relationships/oleObject" Target="../embeddings/oleObject172.bin"/><Relationship Id="rId4" Type="http://schemas.openxmlformats.org/officeDocument/2006/relationships/image" Target="../media/image187.emf"/><Relationship Id="rId9" Type="http://schemas.openxmlformats.org/officeDocument/2006/relationships/oleObject" Target="../embeddings/oleObject167.bin"/><Relationship Id="rId14" Type="http://schemas.openxmlformats.org/officeDocument/2006/relationships/image" Target="../media/image192.emf"/><Relationship Id="rId22" Type="http://schemas.openxmlformats.org/officeDocument/2006/relationships/image" Target="../media/image196.emf"/></Relationships>
</file>

<file path=ppt/slides/_rels/slide47.xml.rels><?xml version="1.0" encoding="UTF-8" standalone="yes"?>
<Relationships xmlns="http://schemas.openxmlformats.org/package/2006/relationships"><Relationship Id="rId8" Type="http://schemas.openxmlformats.org/officeDocument/2006/relationships/image" Target="../media/image181.emf"/><Relationship Id="rId13" Type="http://schemas.openxmlformats.org/officeDocument/2006/relationships/image" Target="../media/image199.emf"/><Relationship Id="rId3" Type="http://schemas.openxmlformats.org/officeDocument/2006/relationships/oleObject" Target="../embeddings/oleObject176.bin"/><Relationship Id="rId7" Type="http://schemas.openxmlformats.org/officeDocument/2006/relationships/oleObject" Target="../embeddings/oleObject178.bin"/><Relationship Id="rId12" Type="http://schemas.openxmlformats.org/officeDocument/2006/relationships/oleObject" Target="../embeddings/oleObject180.bin"/><Relationship Id="rId17" Type="http://schemas.openxmlformats.org/officeDocument/2006/relationships/image" Target="../media/image201.emf"/><Relationship Id="rId2" Type="http://schemas.openxmlformats.org/officeDocument/2006/relationships/slideLayout" Target="../slideLayouts/slideLayout7.xml"/><Relationship Id="rId16" Type="http://schemas.openxmlformats.org/officeDocument/2006/relationships/oleObject" Target="../embeddings/oleObject182.bin"/><Relationship Id="rId1" Type="http://schemas.openxmlformats.org/officeDocument/2006/relationships/vmlDrawing" Target="../drawings/vmlDrawing27.vml"/><Relationship Id="rId6" Type="http://schemas.openxmlformats.org/officeDocument/2006/relationships/image" Target="../media/image180.emf"/><Relationship Id="rId11" Type="http://schemas.openxmlformats.org/officeDocument/2006/relationships/image" Target="../media/image202.png"/><Relationship Id="rId5" Type="http://schemas.openxmlformats.org/officeDocument/2006/relationships/oleObject" Target="../embeddings/oleObject177.bin"/><Relationship Id="rId15" Type="http://schemas.openxmlformats.org/officeDocument/2006/relationships/image" Target="../media/image200.emf"/><Relationship Id="rId10" Type="http://schemas.openxmlformats.org/officeDocument/2006/relationships/image" Target="../media/image182.emf"/><Relationship Id="rId4" Type="http://schemas.openxmlformats.org/officeDocument/2006/relationships/image" Target="../media/image179.emf"/><Relationship Id="rId9" Type="http://schemas.openxmlformats.org/officeDocument/2006/relationships/oleObject" Target="../embeddings/oleObject179.bin"/><Relationship Id="rId14" Type="http://schemas.openxmlformats.org/officeDocument/2006/relationships/oleObject" Target="../embeddings/oleObject181.bin"/></Relationships>
</file>

<file path=ppt/slides/_rels/slide48.xml.rels><?xml version="1.0" encoding="UTF-8" standalone="yes"?>
<Relationships xmlns="http://schemas.openxmlformats.org/package/2006/relationships"><Relationship Id="rId8" Type="http://schemas.openxmlformats.org/officeDocument/2006/relationships/image" Target="../media/image205.emf"/><Relationship Id="rId13" Type="http://schemas.openxmlformats.org/officeDocument/2006/relationships/oleObject" Target="../embeddings/oleObject188.bin"/><Relationship Id="rId18" Type="http://schemas.openxmlformats.org/officeDocument/2006/relationships/image" Target="../media/image210.emf"/><Relationship Id="rId26" Type="http://schemas.openxmlformats.org/officeDocument/2006/relationships/image" Target="../media/image214.emf"/><Relationship Id="rId3" Type="http://schemas.openxmlformats.org/officeDocument/2006/relationships/oleObject" Target="../embeddings/oleObject183.bin"/><Relationship Id="rId21" Type="http://schemas.openxmlformats.org/officeDocument/2006/relationships/oleObject" Target="../embeddings/oleObject192.bin"/><Relationship Id="rId7" Type="http://schemas.openxmlformats.org/officeDocument/2006/relationships/oleObject" Target="../embeddings/oleObject185.bin"/><Relationship Id="rId12" Type="http://schemas.openxmlformats.org/officeDocument/2006/relationships/image" Target="../media/image207.emf"/><Relationship Id="rId17" Type="http://schemas.openxmlformats.org/officeDocument/2006/relationships/oleObject" Target="../embeddings/oleObject190.bin"/><Relationship Id="rId25" Type="http://schemas.openxmlformats.org/officeDocument/2006/relationships/oleObject" Target="../embeddings/oleObject194.bin"/><Relationship Id="rId2" Type="http://schemas.openxmlformats.org/officeDocument/2006/relationships/slideLayout" Target="../slideLayouts/slideLayout7.xml"/><Relationship Id="rId16" Type="http://schemas.openxmlformats.org/officeDocument/2006/relationships/image" Target="../media/image209.emf"/><Relationship Id="rId20" Type="http://schemas.openxmlformats.org/officeDocument/2006/relationships/image" Target="../media/image211.emf"/><Relationship Id="rId1" Type="http://schemas.openxmlformats.org/officeDocument/2006/relationships/vmlDrawing" Target="../drawings/vmlDrawing28.vml"/><Relationship Id="rId6" Type="http://schemas.openxmlformats.org/officeDocument/2006/relationships/image" Target="../media/image204.emf"/><Relationship Id="rId11" Type="http://schemas.openxmlformats.org/officeDocument/2006/relationships/oleObject" Target="../embeddings/oleObject187.bin"/><Relationship Id="rId24" Type="http://schemas.openxmlformats.org/officeDocument/2006/relationships/image" Target="../media/image213.emf"/><Relationship Id="rId5" Type="http://schemas.openxmlformats.org/officeDocument/2006/relationships/oleObject" Target="../embeddings/oleObject184.bin"/><Relationship Id="rId15" Type="http://schemas.openxmlformats.org/officeDocument/2006/relationships/oleObject" Target="../embeddings/oleObject189.bin"/><Relationship Id="rId23" Type="http://schemas.openxmlformats.org/officeDocument/2006/relationships/oleObject" Target="../embeddings/oleObject193.bin"/><Relationship Id="rId10" Type="http://schemas.openxmlformats.org/officeDocument/2006/relationships/image" Target="../media/image206.emf"/><Relationship Id="rId19" Type="http://schemas.openxmlformats.org/officeDocument/2006/relationships/oleObject" Target="../embeddings/oleObject191.bin"/><Relationship Id="rId4" Type="http://schemas.openxmlformats.org/officeDocument/2006/relationships/image" Target="../media/image203.emf"/><Relationship Id="rId9" Type="http://schemas.openxmlformats.org/officeDocument/2006/relationships/oleObject" Target="../embeddings/oleObject186.bin"/><Relationship Id="rId14" Type="http://schemas.openxmlformats.org/officeDocument/2006/relationships/image" Target="../media/image208.emf"/><Relationship Id="rId22" Type="http://schemas.openxmlformats.org/officeDocument/2006/relationships/image" Target="../media/image212.emf"/></Relationships>
</file>

<file path=ppt/slides/_rels/slide49.xml.rels><?xml version="1.0" encoding="UTF-8" standalone="yes"?>
<Relationships xmlns="http://schemas.openxmlformats.org/package/2006/relationships"><Relationship Id="rId2" Type="http://schemas.openxmlformats.org/officeDocument/2006/relationships/image" Target="../media/image215.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8" Type="http://schemas.openxmlformats.org/officeDocument/2006/relationships/oleObject" Target="../embeddings/oleObject197.bin"/><Relationship Id="rId13" Type="http://schemas.openxmlformats.org/officeDocument/2006/relationships/image" Target="../media/image220.emf"/><Relationship Id="rId18" Type="http://schemas.openxmlformats.org/officeDocument/2006/relationships/oleObject" Target="../embeddings/oleObject202.bin"/><Relationship Id="rId3" Type="http://schemas.openxmlformats.org/officeDocument/2006/relationships/oleObject" Target="../embeddings/oleObject195.bin"/><Relationship Id="rId21" Type="http://schemas.openxmlformats.org/officeDocument/2006/relationships/image" Target="../media/image224.emf"/><Relationship Id="rId7" Type="http://schemas.openxmlformats.org/officeDocument/2006/relationships/image" Target="../media/image225.png"/><Relationship Id="rId12" Type="http://schemas.openxmlformats.org/officeDocument/2006/relationships/oleObject" Target="../embeddings/oleObject199.bin"/><Relationship Id="rId17" Type="http://schemas.openxmlformats.org/officeDocument/2006/relationships/image" Target="../media/image222.emf"/><Relationship Id="rId2" Type="http://schemas.openxmlformats.org/officeDocument/2006/relationships/slideLayout" Target="../slideLayouts/slideLayout7.xml"/><Relationship Id="rId16" Type="http://schemas.openxmlformats.org/officeDocument/2006/relationships/oleObject" Target="../embeddings/oleObject201.bin"/><Relationship Id="rId20" Type="http://schemas.openxmlformats.org/officeDocument/2006/relationships/oleObject" Target="../embeddings/oleObject203.bin"/><Relationship Id="rId1" Type="http://schemas.openxmlformats.org/officeDocument/2006/relationships/vmlDrawing" Target="../drawings/vmlDrawing29.vml"/><Relationship Id="rId6" Type="http://schemas.openxmlformats.org/officeDocument/2006/relationships/image" Target="../media/image217.emf"/><Relationship Id="rId11" Type="http://schemas.openxmlformats.org/officeDocument/2006/relationships/image" Target="../media/image219.emf"/><Relationship Id="rId5" Type="http://schemas.openxmlformats.org/officeDocument/2006/relationships/oleObject" Target="../embeddings/oleObject196.bin"/><Relationship Id="rId15" Type="http://schemas.openxmlformats.org/officeDocument/2006/relationships/image" Target="../media/image221.wmf"/><Relationship Id="rId10" Type="http://schemas.openxmlformats.org/officeDocument/2006/relationships/oleObject" Target="../embeddings/oleObject198.bin"/><Relationship Id="rId19" Type="http://schemas.openxmlformats.org/officeDocument/2006/relationships/image" Target="../media/image223.emf"/><Relationship Id="rId4" Type="http://schemas.openxmlformats.org/officeDocument/2006/relationships/image" Target="../media/image216.emf"/><Relationship Id="rId9" Type="http://schemas.openxmlformats.org/officeDocument/2006/relationships/image" Target="../media/image218.wmf"/><Relationship Id="rId14" Type="http://schemas.openxmlformats.org/officeDocument/2006/relationships/oleObject" Target="../embeddings/oleObject200.bin"/></Relationships>
</file>

<file path=ppt/slides/_rels/slide51.xml.rels><?xml version="1.0" encoding="UTF-8" standalone="yes"?>
<Relationships xmlns="http://schemas.openxmlformats.org/package/2006/relationships"><Relationship Id="rId8" Type="http://schemas.openxmlformats.org/officeDocument/2006/relationships/image" Target="../media/image228.emf"/><Relationship Id="rId13" Type="http://schemas.openxmlformats.org/officeDocument/2006/relationships/oleObject" Target="../embeddings/oleObject209.bin"/><Relationship Id="rId18" Type="http://schemas.openxmlformats.org/officeDocument/2006/relationships/image" Target="../media/image233.emf"/><Relationship Id="rId3" Type="http://schemas.openxmlformats.org/officeDocument/2006/relationships/oleObject" Target="../embeddings/oleObject204.bin"/><Relationship Id="rId21" Type="http://schemas.openxmlformats.org/officeDocument/2006/relationships/image" Target="../media/image235.png"/><Relationship Id="rId7" Type="http://schemas.openxmlformats.org/officeDocument/2006/relationships/oleObject" Target="../embeddings/oleObject206.bin"/><Relationship Id="rId12" Type="http://schemas.openxmlformats.org/officeDocument/2006/relationships/image" Target="../media/image230.emf"/><Relationship Id="rId17" Type="http://schemas.openxmlformats.org/officeDocument/2006/relationships/oleObject" Target="../embeddings/oleObject211.bin"/><Relationship Id="rId2" Type="http://schemas.openxmlformats.org/officeDocument/2006/relationships/slideLayout" Target="../slideLayouts/slideLayout7.xml"/><Relationship Id="rId16" Type="http://schemas.openxmlformats.org/officeDocument/2006/relationships/image" Target="../media/image232.emf"/><Relationship Id="rId20" Type="http://schemas.openxmlformats.org/officeDocument/2006/relationships/image" Target="../media/image234.wmf"/><Relationship Id="rId1" Type="http://schemas.openxmlformats.org/officeDocument/2006/relationships/vmlDrawing" Target="../drawings/vmlDrawing30.vml"/><Relationship Id="rId6" Type="http://schemas.openxmlformats.org/officeDocument/2006/relationships/image" Target="../media/image227.emf"/><Relationship Id="rId11" Type="http://schemas.openxmlformats.org/officeDocument/2006/relationships/oleObject" Target="../embeddings/oleObject208.bin"/><Relationship Id="rId5" Type="http://schemas.openxmlformats.org/officeDocument/2006/relationships/oleObject" Target="../embeddings/oleObject205.bin"/><Relationship Id="rId15" Type="http://schemas.openxmlformats.org/officeDocument/2006/relationships/oleObject" Target="../embeddings/oleObject210.bin"/><Relationship Id="rId10" Type="http://schemas.openxmlformats.org/officeDocument/2006/relationships/image" Target="../media/image229.emf"/><Relationship Id="rId19" Type="http://schemas.openxmlformats.org/officeDocument/2006/relationships/oleObject" Target="../embeddings/oleObject212.bin"/><Relationship Id="rId4" Type="http://schemas.openxmlformats.org/officeDocument/2006/relationships/image" Target="../media/image226.emf"/><Relationship Id="rId9" Type="http://schemas.openxmlformats.org/officeDocument/2006/relationships/oleObject" Target="../embeddings/oleObject207.bin"/><Relationship Id="rId14" Type="http://schemas.openxmlformats.org/officeDocument/2006/relationships/image" Target="../media/image231.emf"/></Relationships>
</file>

<file path=ppt/slides/_rels/slide52.xml.rels><?xml version="1.0" encoding="UTF-8" standalone="yes"?>
<Relationships xmlns="http://schemas.openxmlformats.org/package/2006/relationships"><Relationship Id="rId3" Type="http://schemas.openxmlformats.org/officeDocument/2006/relationships/image" Target="../media/image237.png"/><Relationship Id="rId2" Type="http://schemas.openxmlformats.org/officeDocument/2006/relationships/slideLayout" Target="../slideLayouts/slideLayout7.xml"/><Relationship Id="rId1" Type="http://schemas.openxmlformats.org/officeDocument/2006/relationships/vmlDrawing" Target="../drawings/vmlDrawing31.vml"/><Relationship Id="rId5" Type="http://schemas.openxmlformats.org/officeDocument/2006/relationships/image" Target="../media/image236.emf"/><Relationship Id="rId4" Type="http://schemas.openxmlformats.org/officeDocument/2006/relationships/oleObject" Target="../embeddings/oleObject213.bin"/></Relationships>
</file>

<file path=ppt/slides/_rels/slide53.xml.rels><?xml version="1.0" encoding="UTF-8" standalone="yes"?>
<Relationships xmlns="http://schemas.openxmlformats.org/package/2006/relationships"><Relationship Id="rId3" Type="http://schemas.openxmlformats.org/officeDocument/2006/relationships/oleObject" Target="../embeddings/oleObject214.bin"/><Relationship Id="rId2" Type="http://schemas.openxmlformats.org/officeDocument/2006/relationships/slideLayout" Target="../slideLayouts/slideLayout7.xml"/><Relationship Id="rId1" Type="http://schemas.openxmlformats.org/officeDocument/2006/relationships/vmlDrawing" Target="../drawings/vmlDrawing32.vml"/><Relationship Id="rId6" Type="http://schemas.openxmlformats.org/officeDocument/2006/relationships/image" Target="../media/image239.emf"/><Relationship Id="rId5" Type="http://schemas.openxmlformats.org/officeDocument/2006/relationships/oleObject" Target="../embeddings/oleObject215.bin"/><Relationship Id="rId4" Type="http://schemas.openxmlformats.org/officeDocument/2006/relationships/image" Target="../media/image238.wmf"/></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216.bin"/><Relationship Id="rId2" Type="http://schemas.openxmlformats.org/officeDocument/2006/relationships/slideLayout" Target="../slideLayouts/slideLayout7.xml"/><Relationship Id="rId1" Type="http://schemas.openxmlformats.org/officeDocument/2006/relationships/vmlDrawing" Target="../drawings/vmlDrawing33.vml"/><Relationship Id="rId6" Type="http://schemas.openxmlformats.org/officeDocument/2006/relationships/image" Target="../media/image241.wmf"/><Relationship Id="rId5" Type="http://schemas.openxmlformats.org/officeDocument/2006/relationships/oleObject" Target="../embeddings/oleObject217.bin"/><Relationship Id="rId4" Type="http://schemas.openxmlformats.org/officeDocument/2006/relationships/image" Target="../media/image240.wmf"/></Relationships>
</file>

<file path=ppt/slides/_rels/slide55.xml.rels><?xml version="1.0" encoding="UTF-8" standalone="yes"?>
<Relationships xmlns="http://schemas.openxmlformats.org/package/2006/relationships"><Relationship Id="rId8" Type="http://schemas.openxmlformats.org/officeDocument/2006/relationships/oleObject" Target="../embeddings/oleObject220.bin"/><Relationship Id="rId3" Type="http://schemas.openxmlformats.org/officeDocument/2006/relationships/image" Target="../media/image246.png"/><Relationship Id="rId7" Type="http://schemas.openxmlformats.org/officeDocument/2006/relationships/image" Target="../media/image243.wmf"/><Relationship Id="rId2" Type="http://schemas.openxmlformats.org/officeDocument/2006/relationships/slideLayout" Target="../slideLayouts/slideLayout7.xml"/><Relationship Id="rId1" Type="http://schemas.openxmlformats.org/officeDocument/2006/relationships/vmlDrawing" Target="../drawings/vmlDrawing34.vml"/><Relationship Id="rId6" Type="http://schemas.openxmlformats.org/officeDocument/2006/relationships/oleObject" Target="../embeddings/oleObject219.bin"/><Relationship Id="rId11" Type="http://schemas.openxmlformats.org/officeDocument/2006/relationships/image" Target="../media/image245.wmf"/><Relationship Id="rId5" Type="http://schemas.openxmlformats.org/officeDocument/2006/relationships/image" Target="../media/image242.wmf"/><Relationship Id="rId10" Type="http://schemas.openxmlformats.org/officeDocument/2006/relationships/oleObject" Target="../embeddings/oleObject221.bin"/><Relationship Id="rId4" Type="http://schemas.openxmlformats.org/officeDocument/2006/relationships/oleObject" Target="../embeddings/oleObject218.bin"/><Relationship Id="rId9" Type="http://schemas.openxmlformats.org/officeDocument/2006/relationships/image" Target="../media/image244.wmf"/></Relationships>
</file>

<file path=ppt/slides/_rels/slide56.xml.rels><?xml version="1.0" encoding="UTF-8" standalone="yes"?>
<Relationships xmlns="http://schemas.openxmlformats.org/package/2006/relationships"><Relationship Id="rId8" Type="http://schemas.openxmlformats.org/officeDocument/2006/relationships/image" Target="../media/image249.emf"/><Relationship Id="rId3" Type="http://schemas.openxmlformats.org/officeDocument/2006/relationships/oleObject" Target="../embeddings/oleObject222.bin"/><Relationship Id="rId7" Type="http://schemas.openxmlformats.org/officeDocument/2006/relationships/oleObject" Target="../embeddings/oleObject224.bin"/><Relationship Id="rId12" Type="http://schemas.openxmlformats.org/officeDocument/2006/relationships/image" Target="../media/image251.wmf"/><Relationship Id="rId2" Type="http://schemas.openxmlformats.org/officeDocument/2006/relationships/slideLayout" Target="../slideLayouts/slideLayout7.xml"/><Relationship Id="rId1" Type="http://schemas.openxmlformats.org/officeDocument/2006/relationships/vmlDrawing" Target="../drawings/vmlDrawing35.vml"/><Relationship Id="rId6" Type="http://schemas.openxmlformats.org/officeDocument/2006/relationships/image" Target="../media/image248.wmf"/><Relationship Id="rId11" Type="http://schemas.openxmlformats.org/officeDocument/2006/relationships/oleObject" Target="../embeddings/oleObject226.bin"/><Relationship Id="rId5" Type="http://schemas.openxmlformats.org/officeDocument/2006/relationships/oleObject" Target="../embeddings/oleObject223.bin"/><Relationship Id="rId10" Type="http://schemas.openxmlformats.org/officeDocument/2006/relationships/image" Target="../media/image250.emf"/><Relationship Id="rId4" Type="http://schemas.openxmlformats.org/officeDocument/2006/relationships/image" Target="../media/image247.wmf"/><Relationship Id="rId9" Type="http://schemas.openxmlformats.org/officeDocument/2006/relationships/oleObject" Target="../embeddings/oleObject225.bin"/></Relationships>
</file>

<file path=ppt/slides/_rels/slide57.xml.rels><?xml version="1.0" encoding="UTF-8" standalone="yes"?>
<Relationships xmlns="http://schemas.openxmlformats.org/package/2006/relationships"><Relationship Id="rId8" Type="http://schemas.openxmlformats.org/officeDocument/2006/relationships/image" Target="../media/image254.wmf"/><Relationship Id="rId3" Type="http://schemas.openxmlformats.org/officeDocument/2006/relationships/oleObject" Target="../embeddings/oleObject227.bin"/><Relationship Id="rId7" Type="http://schemas.openxmlformats.org/officeDocument/2006/relationships/oleObject" Target="../embeddings/oleObject229.bin"/><Relationship Id="rId12" Type="http://schemas.openxmlformats.org/officeDocument/2006/relationships/image" Target="../media/image256.wmf"/><Relationship Id="rId2" Type="http://schemas.openxmlformats.org/officeDocument/2006/relationships/slideLayout" Target="../slideLayouts/slideLayout7.xml"/><Relationship Id="rId1" Type="http://schemas.openxmlformats.org/officeDocument/2006/relationships/vmlDrawing" Target="../drawings/vmlDrawing36.vml"/><Relationship Id="rId6" Type="http://schemas.openxmlformats.org/officeDocument/2006/relationships/image" Target="../media/image253.wmf"/><Relationship Id="rId11" Type="http://schemas.openxmlformats.org/officeDocument/2006/relationships/oleObject" Target="../embeddings/oleObject231.bin"/><Relationship Id="rId5" Type="http://schemas.openxmlformats.org/officeDocument/2006/relationships/oleObject" Target="../embeddings/oleObject228.bin"/><Relationship Id="rId10" Type="http://schemas.openxmlformats.org/officeDocument/2006/relationships/image" Target="../media/image255.wmf"/><Relationship Id="rId4" Type="http://schemas.openxmlformats.org/officeDocument/2006/relationships/image" Target="../media/image252.wmf"/><Relationship Id="rId9" Type="http://schemas.openxmlformats.org/officeDocument/2006/relationships/oleObject" Target="../embeddings/oleObject230.bin"/></Relationships>
</file>

<file path=ppt/slides/_rels/slide58.xml.rels><?xml version="1.0" encoding="UTF-8" standalone="yes"?>
<Relationships xmlns="http://schemas.openxmlformats.org/package/2006/relationships"><Relationship Id="rId8" Type="http://schemas.openxmlformats.org/officeDocument/2006/relationships/image" Target="../media/image259.wmf"/><Relationship Id="rId3" Type="http://schemas.openxmlformats.org/officeDocument/2006/relationships/oleObject" Target="../embeddings/oleObject232.bin"/><Relationship Id="rId7" Type="http://schemas.openxmlformats.org/officeDocument/2006/relationships/oleObject" Target="../embeddings/oleObject234.bin"/><Relationship Id="rId12" Type="http://schemas.openxmlformats.org/officeDocument/2006/relationships/image" Target="../media/image261.wmf"/><Relationship Id="rId2" Type="http://schemas.openxmlformats.org/officeDocument/2006/relationships/slideLayout" Target="../slideLayouts/slideLayout7.xml"/><Relationship Id="rId1" Type="http://schemas.openxmlformats.org/officeDocument/2006/relationships/vmlDrawing" Target="../drawings/vmlDrawing37.vml"/><Relationship Id="rId6" Type="http://schemas.openxmlformats.org/officeDocument/2006/relationships/image" Target="../media/image258.wmf"/><Relationship Id="rId11" Type="http://schemas.openxmlformats.org/officeDocument/2006/relationships/oleObject" Target="../embeddings/oleObject236.bin"/><Relationship Id="rId5" Type="http://schemas.openxmlformats.org/officeDocument/2006/relationships/oleObject" Target="../embeddings/oleObject233.bin"/><Relationship Id="rId10" Type="http://schemas.openxmlformats.org/officeDocument/2006/relationships/image" Target="../media/image260.wmf"/><Relationship Id="rId4" Type="http://schemas.openxmlformats.org/officeDocument/2006/relationships/image" Target="../media/image257.wmf"/><Relationship Id="rId9" Type="http://schemas.openxmlformats.org/officeDocument/2006/relationships/oleObject" Target="../embeddings/oleObject235.bin"/></Relationships>
</file>

<file path=ppt/slides/_rels/slide59.xml.rels><?xml version="1.0" encoding="UTF-8" standalone="yes"?>
<Relationships xmlns="http://schemas.openxmlformats.org/package/2006/relationships"><Relationship Id="rId2" Type="http://schemas.openxmlformats.org/officeDocument/2006/relationships/image" Target="../media/image262.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8" Type="http://schemas.openxmlformats.org/officeDocument/2006/relationships/image" Target="../media/image265.wmf"/><Relationship Id="rId13" Type="http://schemas.openxmlformats.org/officeDocument/2006/relationships/oleObject" Target="../embeddings/oleObject242.bin"/><Relationship Id="rId18" Type="http://schemas.openxmlformats.org/officeDocument/2006/relationships/image" Target="../media/image270.wmf"/><Relationship Id="rId3" Type="http://schemas.openxmlformats.org/officeDocument/2006/relationships/oleObject" Target="../embeddings/oleObject237.bin"/><Relationship Id="rId7" Type="http://schemas.openxmlformats.org/officeDocument/2006/relationships/oleObject" Target="../embeddings/oleObject239.bin"/><Relationship Id="rId12" Type="http://schemas.openxmlformats.org/officeDocument/2006/relationships/image" Target="../media/image267.wmf"/><Relationship Id="rId17" Type="http://schemas.openxmlformats.org/officeDocument/2006/relationships/oleObject" Target="../embeddings/oleObject244.bin"/><Relationship Id="rId2" Type="http://schemas.openxmlformats.org/officeDocument/2006/relationships/slideLayout" Target="../slideLayouts/slideLayout7.xml"/><Relationship Id="rId16" Type="http://schemas.openxmlformats.org/officeDocument/2006/relationships/image" Target="../media/image269.wmf"/><Relationship Id="rId1" Type="http://schemas.openxmlformats.org/officeDocument/2006/relationships/vmlDrawing" Target="../drawings/vmlDrawing38.vml"/><Relationship Id="rId6" Type="http://schemas.openxmlformats.org/officeDocument/2006/relationships/image" Target="../media/image264.wmf"/><Relationship Id="rId11" Type="http://schemas.openxmlformats.org/officeDocument/2006/relationships/oleObject" Target="../embeddings/oleObject241.bin"/><Relationship Id="rId5" Type="http://schemas.openxmlformats.org/officeDocument/2006/relationships/oleObject" Target="../embeddings/oleObject238.bin"/><Relationship Id="rId15" Type="http://schemas.openxmlformats.org/officeDocument/2006/relationships/oleObject" Target="../embeddings/oleObject243.bin"/><Relationship Id="rId10" Type="http://schemas.openxmlformats.org/officeDocument/2006/relationships/image" Target="../media/image266.wmf"/><Relationship Id="rId4" Type="http://schemas.openxmlformats.org/officeDocument/2006/relationships/image" Target="../media/image263.wmf"/><Relationship Id="rId9" Type="http://schemas.openxmlformats.org/officeDocument/2006/relationships/oleObject" Target="../embeddings/oleObject240.bin"/><Relationship Id="rId14" Type="http://schemas.openxmlformats.org/officeDocument/2006/relationships/image" Target="../media/image268.wmf"/></Relationships>
</file>

<file path=ppt/slides/_rels/slide61.xml.rels><?xml version="1.0" encoding="UTF-8" standalone="yes"?>
<Relationships xmlns="http://schemas.openxmlformats.org/package/2006/relationships"><Relationship Id="rId8" Type="http://schemas.openxmlformats.org/officeDocument/2006/relationships/image" Target="../media/image273.wmf"/><Relationship Id="rId13" Type="http://schemas.openxmlformats.org/officeDocument/2006/relationships/oleObject" Target="../embeddings/oleObject250.bin"/><Relationship Id="rId18" Type="http://schemas.openxmlformats.org/officeDocument/2006/relationships/image" Target="../media/image278.wmf"/><Relationship Id="rId3" Type="http://schemas.openxmlformats.org/officeDocument/2006/relationships/oleObject" Target="../embeddings/oleObject245.bin"/><Relationship Id="rId7" Type="http://schemas.openxmlformats.org/officeDocument/2006/relationships/oleObject" Target="../embeddings/oleObject247.bin"/><Relationship Id="rId12" Type="http://schemas.openxmlformats.org/officeDocument/2006/relationships/image" Target="../media/image275.wmf"/><Relationship Id="rId17" Type="http://schemas.openxmlformats.org/officeDocument/2006/relationships/oleObject" Target="../embeddings/oleObject252.bin"/><Relationship Id="rId2" Type="http://schemas.openxmlformats.org/officeDocument/2006/relationships/slideLayout" Target="../slideLayouts/slideLayout7.xml"/><Relationship Id="rId16" Type="http://schemas.openxmlformats.org/officeDocument/2006/relationships/image" Target="../media/image277.wmf"/><Relationship Id="rId1" Type="http://schemas.openxmlformats.org/officeDocument/2006/relationships/vmlDrawing" Target="../drawings/vmlDrawing39.vml"/><Relationship Id="rId6" Type="http://schemas.openxmlformats.org/officeDocument/2006/relationships/image" Target="../media/image272.wmf"/><Relationship Id="rId11" Type="http://schemas.openxmlformats.org/officeDocument/2006/relationships/oleObject" Target="../embeddings/oleObject249.bin"/><Relationship Id="rId5" Type="http://schemas.openxmlformats.org/officeDocument/2006/relationships/oleObject" Target="../embeddings/oleObject246.bin"/><Relationship Id="rId15" Type="http://schemas.openxmlformats.org/officeDocument/2006/relationships/oleObject" Target="../embeddings/oleObject251.bin"/><Relationship Id="rId10" Type="http://schemas.openxmlformats.org/officeDocument/2006/relationships/image" Target="../media/image274.wmf"/><Relationship Id="rId4" Type="http://schemas.openxmlformats.org/officeDocument/2006/relationships/image" Target="../media/image271.wmf"/><Relationship Id="rId9" Type="http://schemas.openxmlformats.org/officeDocument/2006/relationships/oleObject" Target="../embeddings/oleObject248.bin"/><Relationship Id="rId14" Type="http://schemas.openxmlformats.org/officeDocument/2006/relationships/image" Target="../media/image276.wmf"/></Relationships>
</file>

<file path=ppt/slides/_rels/slide62.xml.rels><?xml version="1.0" encoding="UTF-8" standalone="yes"?>
<Relationships xmlns="http://schemas.openxmlformats.org/package/2006/relationships"><Relationship Id="rId8" Type="http://schemas.openxmlformats.org/officeDocument/2006/relationships/oleObject" Target="../embeddings/oleObject255.bin"/><Relationship Id="rId3" Type="http://schemas.openxmlformats.org/officeDocument/2006/relationships/image" Target="../media/image282.png"/><Relationship Id="rId7" Type="http://schemas.openxmlformats.org/officeDocument/2006/relationships/image" Target="../media/image280.emf"/><Relationship Id="rId2" Type="http://schemas.openxmlformats.org/officeDocument/2006/relationships/slideLayout" Target="../slideLayouts/slideLayout7.xml"/><Relationship Id="rId1" Type="http://schemas.openxmlformats.org/officeDocument/2006/relationships/vmlDrawing" Target="../drawings/vmlDrawing40.vml"/><Relationship Id="rId6" Type="http://schemas.openxmlformats.org/officeDocument/2006/relationships/oleObject" Target="../embeddings/oleObject254.bin"/><Relationship Id="rId5" Type="http://schemas.openxmlformats.org/officeDocument/2006/relationships/image" Target="../media/image279.emf"/><Relationship Id="rId4" Type="http://schemas.openxmlformats.org/officeDocument/2006/relationships/oleObject" Target="../embeddings/oleObject253.bin"/><Relationship Id="rId9" Type="http://schemas.openxmlformats.org/officeDocument/2006/relationships/image" Target="../media/image281.emf"/></Relationships>
</file>

<file path=ppt/slides/_rels/slide63.xml.rels><?xml version="1.0" encoding="UTF-8" standalone="yes"?>
<Relationships xmlns="http://schemas.openxmlformats.org/package/2006/relationships"><Relationship Id="rId8" Type="http://schemas.openxmlformats.org/officeDocument/2006/relationships/image" Target="../media/image285.emf"/><Relationship Id="rId13" Type="http://schemas.openxmlformats.org/officeDocument/2006/relationships/oleObject" Target="../embeddings/oleObject261.bin"/><Relationship Id="rId3" Type="http://schemas.openxmlformats.org/officeDocument/2006/relationships/oleObject" Target="../embeddings/oleObject256.bin"/><Relationship Id="rId7" Type="http://schemas.openxmlformats.org/officeDocument/2006/relationships/oleObject" Target="../embeddings/oleObject258.bin"/><Relationship Id="rId12" Type="http://schemas.openxmlformats.org/officeDocument/2006/relationships/image" Target="../media/image287.wmf"/><Relationship Id="rId2" Type="http://schemas.openxmlformats.org/officeDocument/2006/relationships/slideLayout" Target="../slideLayouts/slideLayout7.xml"/><Relationship Id="rId1" Type="http://schemas.openxmlformats.org/officeDocument/2006/relationships/vmlDrawing" Target="../drawings/vmlDrawing41.vml"/><Relationship Id="rId6" Type="http://schemas.openxmlformats.org/officeDocument/2006/relationships/image" Target="../media/image284.emf"/><Relationship Id="rId11" Type="http://schemas.openxmlformats.org/officeDocument/2006/relationships/oleObject" Target="../embeddings/oleObject260.bin"/><Relationship Id="rId5" Type="http://schemas.openxmlformats.org/officeDocument/2006/relationships/oleObject" Target="../embeddings/oleObject257.bin"/><Relationship Id="rId10" Type="http://schemas.openxmlformats.org/officeDocument/2006/relationships/image" Target="../media/image286.emf"/><Relationship Id="rId4" Type="http://schemas.openxmlformats.org/officeDocument/2006/relationships/image" Target="../media/image283.emf"/><Relationship Id="rId9" Type="http://schemas.openxmlformats.org/officeDocument/2006/relationships/oleObject" Target="../embeddings/oleObject259.bin"/><Relationship Id="rId14" Type="http://schemas.openxmlformats.org/officeDocument/2006/relationships/image" Target="../media/image288.wmf"/></Relationships>
</file>

<file path=ppt/slides/_rels/slide64.xml.rels><?xml version="1.0" encoding="UTF-8" standalone="yes"?>
<Relationships xmlns="http://schemas.openxmlformats.org/package/2006/relationships"><Relationship Id="rId8" Type="http://schemas.openxmlformats.org/officeDocument/2006/relationships/image" Target="../media/image291.wmf"/><Relationship Id="rId3" Type="http://schemas.openxmlformats.org/officeDocument/2006/relationships/oleObject" Target="../embeddings/oleObject262.bin"/><Relationship Id="rId7" Type="http://schemas.openxmlformats.org/officeDocument/2006/relationships/oleObject" Target="../embeddings/oleObject264.bin"/><Relationship Id="rId2" Type="http://schemas.openxmlformats.org/officeDocument/2006/relationships/slideLayout" Target="../slideLayouts/slideLayout7.xml"/><Relationship Id="rId1" Type="http://schemas.openxmlformats.org/officeDocument/2006/relationships/vmlDrawing" Target="../drawings/vmlDrawing42.vml"/><Relationship Id="rId6" Type="http://schemas.openxmlformats.org/officeDocument/2006/relationships/image" Target="../media/image290.wmf"/><Relationship Id="rId5" Type="http://schemas.openxmlformats.org/officeDocument/2006/relationships/oleObject" Target="../embeddings/oleObject263.bin"/><Relationship Id="rId10" Type="http://schemas.openxmlformats.org/officeDocument/2006/relationships/image" Target="../media/image292.wmf"/><Relationship Id="rId4" Type="http://schemas.openxmlformats.org/officeDocument/2006/relationships/image" Target="../media/image289.emf"/><Relationship Id="rId9" Type="http://schemas.openxmlformats.org/officeDocument/2006/relationships/oleObject" Target="../embeddings/oleObject265.bin"/></Relationships>
</file>

<file path=ppt/slides/_rels/slide65.xml.rels><?xml version="1.0" encoding="UTF-8" standalone="yes"?>
<Relationships xmlns="http://schemas.openxmlformats.org/package/2006/relationships"><Relationship Id="rId3" Type="http://schemas.openxmlformats.org/officeDocument/2006/relationships/oleObject" Target="../embeddings/oleObject266.bin"/><Relationship Id="rId2" Type="http://schemas.openxmlformats.org/officeDocument/2006/relationships/slideLayout" Target="../slideLayouts/slideLayout7.xml"/><Relationship Id="rId1" Type="http://schemas.openxmlformats.org/officeDocument/2006/relationships/vmlDrawing" Target="../drawings/vmlDrawing43.vml"/><Relationship Id="rId6" Type="http://schemas.openxmlformats.org/officeDocument/2006/relationships/image" Target="../media/image294.wmf"/><Relationship Id="rId5" Type="http://schemas.openxmlformats.org/officeDocument/2006/relationships/oleObject" Target="../embeddings/oleObject267.bin"/><Relationship Id="rId4" Type="http://schemas.openxmlformats.org/officeDocument/2006/relationships/image" Target="../media/image293.wmf"/></Relationships>
</file>

<file path=ppt/slides/_rels/slide66.xml.rels><?xml version="1.0" encoding="UTF-8" standalone="yes"?>
<Relationships xmlns="http://schemas.openxmlformats.org/package/2006/relationships"><Relationship Id="rId8" Type="http://schemas.openxmlformats.org/officeDocument/2006/relationships/image" Target="../media/image297.wmf"/><Relationship Id="rId13" Type="http://schemas.openxmlformats.org/officeDocument/2006/relationships/oleObject" Target="../embeddings/oleObject273.bin"/><Relationship Id="rId18" Type="http://schemas.openxmlformats.org/officeDocument/2006/relationships/image" Target="../media/image302.wmf"/><Relationship Id="rId3" Type="http://schemas.openxmlformats.org/officeDocument/2006/relationships/oleObject" Target="../embeddings/oleObject268.bin"/><Relationship Id="rId7" Type="http://schemas.openxmlformats.org/officeDocument/2006/relationships/oleObject" Target="../embeddings/oleObject270.bin"/><Relationship Id="rId12" Type="http://schemas.openxmlformats.org/officeDocument/2006/relationships/image" Target="../media/image299.wmf"/><Relationship Id="rId17" Type="http://schemas.openxmlformats.org/officeDocument/2006/relationships/oleObject" Target="../embeddings/oleObject275.bin"/><Relationship Id="rId2" Type="http://schemas.openxmlformats.org/officeDocument/2006/relationships/slideLayout" Target="../slideLayouts/slideLayout7.xml"/><Relationship Id="rId16" Type="http://schemas.openxmlformats.org/officeDocument/2006/relationships/image" Target="../media/image301.wmf"/><Relationship Id="rId20" Type="http://schemas.openxmlformats.org/officeDocument/2006/relationships/image" Target="../media/image303.wmf"/><Relationship Id="rId1" Type="http://schemas.openxmlformats.org/officeDocument/2006/relationships/vmlDrawing" Target="../drawings/vmlDrawing44.vml"/><Relationship Id="rId6" Type="http://schemas.openxmlformats.org/officeDocument/2006/relationships/image" Target="../media/image296.wmf"/><Relationship Id="rId11" Type="http://schemas.openxmlformats.org/officeDocument/2006/relationships/oleObject" Target="../embeddings/oleObject272.bin"/><Relationship Id="rId5" Type="http://schemas.openxmlformats.org/officeDocument/2006/relationships/oleObject" Target="../embeddings/oleObject269.bin"/><Relationship Id="rId15" Type="http://schemas.openxmlformats.org/officeDocument/2006/relationships/oleObject" Target="../embeddings/oleObject274.bin"/><Relationship Id="rId10" Type="http://schemas.openxmlformats.org/officeDocument/2006/relationships/image" Target="../media/image298.wmf"/><Relationship Id="rId19" Type="http://schemas.openxmlformats.org/officeDocument/2006/relationships/oleObject" Target="../embeddings/oleObject276.bin"/><Relationship Id="rId4" Type="http://schemas.openxmlformats.org/officeDocument/2006/relationships/image" Target="../media/image295.emf"/><Relationship Id="rId9" Type="http://schemas.openxmlformats.org/officeDocument/2006/relationships/oleObject" Target="../embeddings/oleObject271.bin"/><Relationship Id="rId14" Type="http://schemas.openxmlformats.org/officeDocument/2006/relationships/image" Target="../media/image300.wmf"/></Relationships>
</file>

<file path=ppt/slides/_rels/slide67.xml.rels><?xml version="1.0" encoding="UTF-8" standalone="yes"?>
<Relationships xmlns="http://schemas.openxmlformats.org/package/2006/relationships"><Relationship Id="rId8" Type="http://schemas.openxmlformats.org/officeDocument/2006/relationships/image" Target="../media/image305.wmf"/><Relationship Id="rId13" Type="http://schemas.openxmlformats.org/officeDocument/2006/relationships/oleObject" Target="../embeddings/oleObject282.bin"/><Relationship Id="rId3" Type="http://schemas.openxmlformats.org/officeDocument/2006/relationships/oleObject" Target="../embeddings/oleObject277.bin"/><Relationship Id="rId7" Type="http://schemas.openxmlformats.org/officeDocument/2006/relationships/oleObject" Target="../embeddings/oleObject279.bin"/><Relationship Id="rId12" Type="http://schemas.openxmlformats.org/officeDocument/2006/relationships/image" Target="../media/image307.wmf"/><Relationship Id="rId2" Type="http://schemas.openxmlformats.org/officeDocument/2006/relationships/slideLayout" Target="../slideLayouts/slideLayout7.xml"/><Relationship Id="rId1" Type="http://schemas.openxmlformats.org/officeDocument/2006/relationships/vmlDrawing" Target="../drawings/vmlDrawing45.vml"/><Relationship Id="rId6" Type="http://schemas.openxmlformats.org/officeDocument/2006/relationships/image" Target="../media/image304.wmf"/><Relationship Id="rId11" Type="http://schemas.openxmlformats.org/officeDocument/2006/relationships/oleObject" Target="../embeddings/oleObject281.bin"/><Relationship Id="rId5" Type="http://schemas.openxmlformats.org/officeDocument/2006/relationships/oleObject" Target="../embeddings/oleObject278.bin"/><Relationship Id="rId10" Type="http://schemas.openxmlformats.org/officeDocument/2006/relationships/image" Target="../media/image306.wmf"/><Relationship Id="rId4" Type="http://schemas.openxmlformats.org/officeDocument/2006/relationships/image" Target="../media/image295.emf"/><Relationship Id="rId9" Type="http://schemas.openxmlformats.org/officeDocument/2006/relationships/oleObject" Target="../embeddings/oleObject280.bin"/><Relationship Id="rId14" Type="http://schemas.openxmlformats.org/officeDocument/2006/relationships/image" Target="../media/image308.wmf"/></Relationships>
</file>

<file path=ppt/slides/_rels/slide68.xml.rels><?xml version="1.0" encoding="UTF-8" standalone="yes"?>
<Relationships xmlns="http://schemas.openxmlformats.org/package/2006/relationships"><Relationship Id="rId2" Type="http://schemas.openxmlformats.org/officeDocument/2006/relationships/image" Target="../media/image309.pn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8" Type="http://schemas.openxmlformats.org/officeDocument/2006/relationships/image" Target="../media/image312.emf"/><Relationship Id="rId3" Type="http://schemas.openxmlformats.org/officeDocument/2006/relationships/oleObject" Target="../embeddings/oleObject283.bin"/><Relationship Id="rId7" Type="http://schemas.openxmlformats.org/officeDocument/2006/relationships/oleObject" Target="../embeddings/oleObject285.bin"/><Relationship Id="rId2" Type="http://schemas.openxmlformats.org/officeDocument/2006/relationships/slideLayout" Target="../slideLayouts/slideLayout7.xml"/><Relationship Id="rId1" Type="http://schemas.openxmlformats.org/officeDocument/2006/relationships/vmlDrawing" Target="../drawings/vmlDrawing46.vml"/><Relationship Id="rId6" Type="http://schemas.openxmlformats.org/officeDocument/2006/relationships/image" Target="../media/image311.emf"/><Relationship Id="rId5" Type="http://schemas.openxmlformats.org/officeDocument/2006/relationships/oleObject" Target="../embeddings/oleObject284.bin"/><Relationship Id="rId10" Type="http://schemas.openxmlformats.org/officeDocument/2006/relationships/image" Target="../media/image313.emf"/><Relationship Id="rId4" Type="http://schemas.openxmlformats.org/officeDocument/2006/relationships/image" Target="../media/image310.emf"/><Relationship Id="rId9" Type="http://schemas.openxmlformats.org/officeDocument/2006/relationships/oleObject" Target="../embeddings/oleObject286.bin"/></Relationships>
</file>

<file path=ppt/slides/_rels/slide70.xml.rels><?xml version="1.0" encoding="UTF-8" standalone="yes"?>
<Relationships xmlns="http://schemas.openxmlformats.org/package/2006/relationships"><Relationship Id="rId8" Type="http://schemas.openxmlformats.org/officeDocument/2006/relationships/image" Target="../media/image316.emf"/><Relationship Id="rId3" Type="http://schemas.openxmlformats.org/officeDocument/2006/relationships/oleObject" Target="../embeddings/oleObject287.bin"/><Relationship Id="rId7" Type="http://schemas.openxmlformats.org/officeDocument/2006/relationships/oleObject" Target="../embeddings/oleObject289.bin"/><Relationship Id="rId2" Type="http://schemas.openxmlformats.org/officeDocument/2006/relationships/slideLayout" Target="../slideLayouts/slideLayout7.xml"/><Relationship Id="rId1" Type="http://schemas.openxmlformats.org/officeDocument/2006/relationships/vmlDrawing" Target="../drawings/vmlDrawing47.vml"/><Relationship Id="rId6" Type="http://schemas.openxmlformats.org/officeDocument/2006/relationships/image" Target="../media/image315.emf"/><Relationship Id="rId5" Type="http://schemas.openxmlformats.org/officeDocument/2006/relationships/oleObject" Target="../embeddings/oleObject288.bin"/><Relationship Id="rId10" Type="http://schemas.openxmlformats.org/officeDocument/2006/relationships/image" Target="../media/image317.emf"/><Relationship Id="rId4" Type="http://schemas.openxmlformats.org/officeDocument/2006/relationships/image" Target="../media/image314.emf"/><Relationship Id="rId9" Type="http://schemas.openxmlformats.org/officeDocument/2006/relationships/oleObject" Target="../embeddings/oleObject290.bin"/></Relationships>
</file>

<file path=ppt/slides/_rels/slide71.xml.rels><?xml version="1.0" encoding="UTF-8" standalone="yes"?>
<Relationships xmlns="http://schemas.openxmlformats.org/package/2006/relationships"><Relationship Id="rId8" Type="http://schemas.openxmlformats.org/officeDocument/2006/relationships/image" Target="../media/image320.emf"/><Relationship Id="rId3" Type="http://schemas.openxmlformats.org/officeDocument/2006/relationships/oleObject" Target="../embeddings/oleObject291.bin"/><Relationship Id="rId7" Type="http://schemas.openxmlformats.org/officeDocument/2006/relationships/oleObject" Target="../embeddings/oleObject293.bin"/><Relationship Id="rId2" Type="http://schemas.openxmlformats.org/officeDocument/2006/relationships/slideLayout" Target="../slideLayouts/slideLayout7.xml"/><Relationship Id="rId1" Type="http://schemas.openxmlformats.org/officeDocument/2006/relationships/vmlDrawing" Target="../drawings/vmlDrawing48.vml"/><Relationship Id="rId6" Type="http://schemas.openxmlformats.org/officeDocument/2006/relationships/image" Target="../media/image319.emf"/><Relationship Id="rId5" Type="http://schemas.openxmlformats.org/officeDocument/2006/relationships/oleObject" Target="../embeddings/oleObject292.bin"/><Relationship Id="rId10" Type="http://schemas.openxmlformats.org/officeDocument/2006/relationships/image" Target="../media/image321.emf"/><Relationship Id="rId4" Type="http://schemas.openxmlformats.org/officeDocument/2006/relationships/image" Target="../media/image318.emf"/><Relationship Id="rId9" Type="http://schemas.openxmlformats.org/officeDocument/2006/relationships/oleObject" Target="../embeddings/oleObject294.bin"/></Relationships>
</file>

<file path=ppt/slides/_rels/slide72.xml.rels><?xml version="1.0" encoding="UTF-8" standalone="yes"?>
<Relationships xmlns="http://schemas.openxmlformats.org/package/2006/relationships"><Relationship Id="rId8" Type="http://schemas.openxmlformats.org/officeDocument/2006/relationships/image" Target="../media/image324.emf"/><Relationship Id="rId3" Type="http://schemas.openxmlformats.org/officeDocument/2006/relationships/oleObject" Target="../embeddings/oleObject295.bin"/><Relationship Id="rId7" Type="http://schemas.openxmlformats.org/officeDocument/2006/relationships/oleObject" Target="../embeddings/oleObject297.bin"/><Relationship Id="rId2" Type="http://schemas.openxmlformats.org/officeDocument/2006/relationships/slideLayout" Target="../slideLayouts/slideLayout7.xml"/><Relationship Id="rId1" Type="http://schemas.openxmlformats.org/officeDocument/2006/relationships/vmlDrawing" Target="../drawings/vmlDrawing49.vml"/><Relationship Id="rId6" Type="http://schemas.openxmlformats.org/officeDocument/2006/relationships/image" Target="../media/image323.emf"/><Relationship Id="rId5" Type="http://schemas.openxmlformats.org/officeDocument/2006/relationships/oleObject" Target="../embeddings/oleObject296.bin"/><Relationship Id="rId10" Type="http://schemas.openxmlformats.org/officeDocument/2006/relationships/image" Target="../media/image325.emf"/><Relationship Id="rId4" Type="http://schemas.openxmlformats.org/officeDocument/2006/relationships/image" Target="../media/image322.emf"/><Relationship Id="rId9" Type="http://schemas.openxmlformats.org/officeDocument/2006/relationships/oleObject" Target="../embeddings/oleObject298.bin"/></Relationships>
</file>

<file path=ppt/slides/_rels/slide73.xml.rels><?xml version="1.0" encoding="UTF-8" standalone="yes"?>
<Relationships xmlns="http://schemas.openxmlformats.org/package/2006/relationships"><Relationship Id="rId2" Type="http://schemas.openxmlformats.org/officeDocument/2006/relationships/image" Target="../media/image326.pn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3" Type="http://schemas.openxmlformats.org/officeDocument/2006/relationships/oleObject" Target="../embeddings/oleObject299.bin"/><Relationship Id="rId2" Type="http://schemas.openxmlformats.org/officeDocument/2006/relationships/slideLayout" Target="../slideLayouts/slideLayout7.xml"/><Relationship Id="rId1" Type="http://schemas.openxmlformats.org/officeDocument/2006/relationships/vmlDrawing" Target="../drawings/vmlDrawing50.vml"/><Relationship Id="rId4" Type="http://schemas.openxmlformats.org/officeDocument/2006/relationships/image" Target="../media/image327.emf"/></Relationships>
</file>

<file path=ppt/slides/_rels/slide75.xml.rels><?xml version="1.0" encoding="UTF-8" standalone="yes"?>
<Relationships xmlns="http://schemas.openxmlformats.org/package/2006/relationships"><Relationship Id="rId8" Type="http://schemas.openxmlformats.org/officeDocument/2006/relationships/image" Target="../media/image330.emf"/><Relationship Id="rId13" Type="http://schemas.openxmlformats.org/officeDocument/2006/relationships/oleObject" Target="../embeddings/oleObject305.bin"/><Relationship Id="rId3" Type="http://schemas.openxmlformats.org/officeDocument/2006/relationships/oleObject" Target="../embeddings/oleObject300.bin"/><Relationship Id="rId7" Type="http://schemas.openxmlformats.org/officeDocument/2006/relationships/oleObject" Target="../embeddings/oleObject302.bin"/><Relationship Id="rId12" Type="http://schemas.openxmlformats.org/officeDocument/2006/relationships/image" Target="../media/image332.emf"/><Relationship Id="rId2" Type="http://schemas.openxmlformats.org/officeDocument/2006/relationships/slideLayout" Target="../slideLayouts/slideLayout7.xml"/><Relationship Id="rId1" Type="http://schemas.openxmlformats.org/officeDocument/2006/relationships/vmlDrawing" Target="../drawings/vmlDrawing51.vml"/><Relationship Id="rId6" Type="http://schemas.openxmlformats.org/officeDocument/2006/relationships/image" Target="../media/image329.emf"/><Relationship Id="rId11" Type="http://schemas.openxmlformats.org/officeDocument/2006/relationships/oleObject" Target="../embeddings/oleObject304.bin"/><Relationship Id="rId5" Type="http://schemas.openxmlformats.org/officeDocument/2006/relationships/oleObject" Target="../embeddings/oleObject301.bin"/><Relationship Id="rId10" Type="http://schemas.openxmlformats.org/officeDocument/2006/relationships/image" Target="../media/image331.emf"/><Relationship Id="rId4" Type="http://schemas.openxmlformats.org/officeDocument/2006/relationships/image" Target="../media/image328.emf"/><Relationship Id="rId9" Type="http://schemas.openxmlformats.org/officeDocument/2006/relationships/oleObject" Target="../embeddings/oleObject303.bin"/><Relationship Id="rId14" Type="http://schemas.openxmlformats.org/officeDocument/2006/relationships/image" Target="../media/image333.emf"/></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image" Target="../media/image334.png"/><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8" Type="http://schemas.openxmlformats.org/officeDocument/2006/relationships/oleObject" Target="../embeddings/oleObject308.bin"/><Relationship Id="rId3" Type="http://schemas.openxmlformats.org/officeDocument/2006/relationships/image" Target="../media/image338.png"/><Relationship Id="rId7" Type="http://schemas.openxmlformats.org/officeDocument/2006/relationships/image" Target="../media/image336.wmf"/><Relationship Id="rId2" Type="http://schemas.openxmlformats.org/officeDocument/2006/relationships/slideLayout" Target="../slideLayouts/slideLayout7.xml"/><Relationship Id="rId1" Type="http://schemas.openxmlformats.org/officeDocument/2006/relationships/vmlDrawing" Target="../drawings/vmlDrawing52.vml"/><Relationship Id="rId6" Type="http://schemas.openxmlformats.org/officeDocument/2006/relationships/oleObject" Target="../embeddings/oleObject307.bin"/><Relationship Id="rId5" Type="http://schemas.openxmlformats.org/officeDocument/2006/relationships/image" Target="../media/image335.wmf"/><Relationship Id="rId4" Type="http://schemas.openxmlformats.org/officeDocument/2006/relationships/oleObject" Target="../embeddings/oleObject306.bin"/><Relationship Id="rId9" Type="http://schemas.openxmlformats.org/officeDocument/2006/relationships/image" Target="../media/image337.wmf"/></Relationships>
</file>

<file path=ppt/slides/_rels/slide79.xml.rels><?xml version="1.0" encoding="UTF-8" standalone="yes"?>
<Relationships xmlns="http://schemas.openxmlformats.org/package/2006/relationships"><Relationship Id="rId8" Type="http://schemas.openxmlformats.org/officeDocument/2006/relationships/oleObject" Target="../embeddings/oleObject311.bin"/><Relationship Id="rId13" Type="http://schemas.openxmlformats.org/officeDocument/2006/relationships/image" Target="../media/image343.wmf"/><Relationship Id="rId3" Type="http://schemas.openxmlformats.org/officeDocument/2006/relationships/image" Target="../media/image344.png"/><Relationship Id="rId7" Type="http://schemas.openxmlformats.org/officeDocument/2006/relationships/image" Target="../media/image340.wmf"/><Relationship Id="rId12" Type="http://schemas.openxmlformats.org/officeDocument/2006/relationships/oleObject" Target="../embeddings/oleObject313.bin"/><Relationship Id="rId2" Type="http://schemas.openxmlformats.org/officeDocument/2006/relationships/slideLayout" Target="../slideLayouts/slideLayout7.xml"/><Relationship Id="rId1" Type="http://schemas.openxmlformats.org/officeDocument/2006/relationships/vmlDrawing" Target="../drawings/vmlDrawing53.vml"/><Relationship Id="rId6" Type="http://schemas.openxmlformats.org/officeDocument/2006/relationships/oleObject" Target="../embeddings/oleObject310.bin"/><Relationship Id="rId11" Type="http://schemas.openxmlformats.org/officeDocument/2006/relationships/image" Target="../media/image342.wmf"/><Relationship Id="rId5" Type="http://schemas.openxmlformats.org/officeDocument/2006/relationships/image" Target="../media/image339.emf"/><Relationship Id="rId10" Type="http://schemas.openxmlformats.org/officeDocument/2006/relationships/oleObject" Target="../embeddings/oleObject312.bin"/><Relationship Id="rId4" Type="http://schemas.openxmlformats.org/officeDocument/2006/relationships/oleObject" Target="../embeddings/oleObject309.bin"/><Relationship Id="rId9" Type="http://schemas.openxmlformats.org/officeDocument/2006/relationships/image" Target="../media/image341.wmf"/></Relationships>
</file>

<file path=ppt/slides/_rels/slide80.xml.rels><?xml version="1.0" encoding="UTF-8" standalone="yes"?>
<Relationships xmlns="http://schemas.openxmlformats.org/package/2006/relationships"><Relationship Id="rId3" Type="http://schemas.openxmlformats.org/officeDocument/2006/relationships/oleObject" Target="../embeddings/oleObject314.bin"/><Relationship Id="rId2" Type="http://schemas.openxmlformats.org/officeDocument/2006/relationships/slideLayout" Target="../slideLayouts/slideLayout7.xml"/><Relationship Id="rId1" Type="http://schemas.openxmlformats.org/officeDocument/2006/relationships/vmlDrawing" Target="../drawings/vmlDrawing54.vml"/><Relationship Id="rId6" Type="http://schemas.openxmlformats.org/officeDocument/2006/relationships/image" Target="../media/image346.wmf"/><Relationship Id="rId5" Type="http://schemas.openxmlformats.org/officeDocument/2006/relationships/oleObject" Target="../embeddings/oleObject315.bin"/><Relationship Id="rId4" Type="http://schemas.openxmlformats.org/officeDocument/2006/relationships/image" Target="../media/image345.wmf"/></Relationships>
</file>

<file path=ppt/slides/_rels/slide81.xml.rels><?xml version="1.0" encoding="UTF-8" standalone="yes"?>
<Relationships xmlns="http://schemas.openxmlformats.org/package/2006/relationships"><Relationship Id="rId8" Type="http://schemas.openxmlformats.org/officeDocument/2006/relationships/image" Target="../media/image348.emf"/><Relationship Id="rId13" Type="http://schemas.openxmlformats.org/officeDocument/2006/relationships/oleObject" Target="../embeddings/oleObject320.bin"/><Relationship Id="rId3" Type="http://schemas.openxmlformats.org/officeDocument/2006/relationships/image" Target="../media/image352.png"/><Relationship Id="rId7" Type="http://schemas.openxmlformats.org/officeDocument/2006/relationships/oleObject" Target="../embeddings/oleObject317.bin"/><Relationship Id="rId12" Type="http://schemas.openxmlformats.org/officeDocument/2006/relationships/image" Target="../media/image350.wmf"/><Relationship Id="rId2" Type="http://schemas.openxmlformats.org/officeDocument/2006/relationships/slideLayout" Target="../slideLayouts/slideLayout7.xml"/><Relationship Id="rId1" Type="http://schemas.openxmlformats.org/officeDocument/2006/relationships/vmlDrawing" Target="../drawings/vmlDrawing55.vml"/><Relationship Id="rId6" Type="http://schemas.openxmlformats.org/officeDocument/2006/relationships/image" Target="../media/image347.emf"/><Relationship Id="rId11" Type="http://schemas.openxmlformats.org/officeDocument/2006/relationships/oleObject" Target="../embeddings/oleObject319.bin"/><Relationship Id="rId5" Type="http://schemas.openxmlformats.org/officeDocument/2006/relationships/oleObject" Target="../embeddings/oleObject316.bin"/><Relationship Id="rId10" Type="http://schemas.openxmlformats.org/officeDocument/2006/relationships/image" Target="../media/image349.wmf"/><Relationship Id="rId4" Type="http://schemas.openxmlformats.org/officeDocument/2006/relationships/image" Target="../media/image353.png"/><Relationship Id="rId9" Type="http://schemas.openxmlformats.org/officeDocument/2006/relationships/oleObject" Target="../embeddings/oleObject318.bin"/><Relationship Id="rId14" Type="http://schemas.openxmlformats.org/officeDocument/2006/relationships/image" Target="../media/image351.wmf"/></Relationships>
</file>

<file path=ppt/slides/_rels/slide82.xml.rels><?xml version="1.0" encoding="UTF-8" standalone="yes"?>
<Relationships xmlns="http://schemas.openxmlformats.org/package/2006/relationships"><Relationship Id="rId3" Type="http://schemas.openxmlformats.org/officeDocument/2006/relationships/oleObject" Target="../embeddings/oleObject321.bin"/><Relationship Id="rId2" Type="http://schemas.openxmlformats.org/officeDocument/2006/relationships/slideLayout" Target="../slideLayouts/slideLayout7.xml"/><Relationship Id="rId1" Type="http://schemas.openxmlformats.org/officeDocument/2006/relationships/vmlDrawing" Target="../drawings/vmlDrawing56.vml"/><Relationship Id="rId6" Type="http://schemas.openxmlformats.org/officeDocument/2006/relationships/image" Target="../media/image355.emf"/><Relationship Id="rId5" Type="http://schemas.openxmlformats.org/officeDocument/2006/relationships/oleObject" Target="../embeddings/oleObject322.bin"/><Relationship Id="rId4" Type="http://schemas.openxmlformats.org/officeDocument/2006/relationships/image" Target="../media/image354.emf"/></Relationships>
</file>

<file path=ppt/slides/_rels/slide83.xml.rels><?xml version="1.0" encoding="UTF-8" standalone="yes"?>
<Relationships xmlns="http://schemas.openxmlformats.org/package/2006/relationships"><Relationship Id="rId8" Type="http://schemas.openxmlformats.org/officeDocument/2006/relationships/image" Target="../media/image358.wmf"/><Relationship Id="rId13" Type="http://schemas.openxmlformats.org/officeDocument/2006/relationships/oleObject" Target="../embeddings/oleObject328.bin"/><Relationship Id="rId18" Type="http://schemas.openxmlformats.org/officeDocument/2006/relationships/image" Target="../media/image363.wmf"/><Relationship Id="rId3" Type="http://schemas.openxmlformats.org/officeDocument/2006/relationships/oleObject" Target="../embeddings/oleObject323.bin"/><Relationship Id="rId21" Type="http://schemas.openxmlformats.org/officeDocument/2006/relationships/oleObject" Target="../embeddings/oleObject332.bin"/><Relationship Id="rId7" Type="http://schemas.openxmlformats.org/officeDocument/2006/relationships/oleObject" Target="../embeddings/oleObject325.bin"/><Relationship Id="rId12" Type="http://schemas.openxmlformats.org/officeDocument/2006/relationships/image" Target="../media/image360.wmf"/><Relationship Id="rId17" Type="http://schemas.openxmlformats.org/officeDocument/2006/relationships/oleObject" Target="../embeddings/oleObject330.bin"/><Relationship Id="rId2" Type="http://schemas.openxmlformats.org/officeDocument/2006/relationships/slideLayout" Target="../slideLayouts/slideLayout7.xml"/><Relationship Id="rId16" Type="http://schemas.openxmlformats.org/officeDocument/2006/relationships/image" Target="../media/image362.wmf"/><Relationship Id="rId20" Type="http://schemas.openxmlformats.org/officeDocument/2006/relationships/image" Target="../media/image364.wmf"/><Relationship Id="rId1" Type="http://schemas.openxmlformats.org/officeDocument/2006/relationships/vmlDrawing" Target="../drawings/vmlDrawing57.vml"/><Relationship Id="rId6" Type="http://schemas.openxmlformats.org/officeDocument/2006/relationships/image" Target="../media/image357.emf"/><Relationship Id="rId11" Type="http://schemas.openxmlformats.org/officeDocument/2006/relationships/oleObject" Target="../embeddings/oleObject327.bin"/><Relationship Id="rId24" Type="http://schemas.openxmlformats.org/officeDocument/2006/relationships/image" Target="../media/image366.wmf"/><Relationship Id="rId5" Type="http://schemas.openxmlformats.org/officeDocument/2006/relationships/oleObject" Target="../embeddings/oleObject324.bin"/><Relationship Id="rId15" Type="http://schemas.openxmlformats.org/officeDocument/2006/relationships/oleObject" Target="../embeddings/oleObject329.bin"/><Relationship Id="rId23" Type="http://schemas.openxmlformats.org/officeDocument/2006/relationships/oleObject" Target="../embeddings/oleObject333.bin"/><Relationship Id="rId10" Type="http://schemas.openxmlformats.org/officeDocument/2006/relationships/image" Target="../media/image359.wmf"/><Relationship Id="rId19" Type="http://schemas.openxmlformats.org/officeDocument/2006/relationships/oleObject" Target="../embeddings/oleObject331.bin"/><Relationship Id="rId4" Type="http://schemas.openxmlformats.org/officeDocument/2006/relationships/image" Target="../media/image356.png"/><Relationship Id="rId9" Type="http://schemas.openxmlformats.org/officeDocument/2006/relationships/oleObject" Target="../embeddings/oleObject326.bin"/><Relationship Id="rId14" Type="http://schemas.openxmlformats.org/officeDocument/2006/relationships/image" Target="../media/image361.wmf"/><Relationship Id="rId22" Type="http://schemas.openxmlformats.org/officeDocument/2006/relationships/image" Target="../media/image365.wmf"/></Relationships>
</file>

<file path=ppt/slides/_rels/slide84.xml.rels><?xml version="1.0" encoding="UTF-8" standalone="yes"?>
<Relationships xmlns="http://schemas.openxmlformats.org/package/2006/relationships"><Relationship Id="rId8" Type="http://schemas.openxmlformats.org/officeDocument/2006/relationships/image" Target="../media/image369.png"/><Relationship Id="rId3" Type="http://schemas.openxmlformats.org/officeDocument/2006/relationships/oleObject" Target="../embeddings/oleObject334.bin"/><Relationship Id="rId7" Type="http://schemas.openxmlformats.org/officeDocument/2006/relationships/oleObject" Target="../embeddings/oleObject336.bin"/><Relationship Id="rId2" Type="http://schemas.openxmlformats.org/officeDocument/2006/relationships/slideLayout" Target="../slideLayouts/slideLayout7.xml"/><Relationship Id="rId1" Type="http://schemas.openxmlformats.org/officeDocument/2006/relationships/vmlDrawing" Target="../drawings/vmlDrawing58.vml"/><Relationship Id="rId6" Type="http://schemas.openxmlformats.org/officeDocument/2006/relationships/image" Target="../media/image368.wmf"/><Relationship Id="rId5" Type="http://schemas.openxmlformats.org/officeDocument/2006/relationships/oleObject" Target="../embeddings/oleObject335.bin"/><Relationship Id="rId4" Type="http://schemas.openxmlformats.org/officeDocument/2006/relationships/image" Target="../media/image367.wmf"/></Relationships>
</file>

<file path=ppt/slides/_rels/slide85.xml.rels><?xml version="1.0" encoding="UTF-8" standalone="yes"?>
<Relationships xmlns="http://schemas.openxmlformats.org/package/2006/relationships"><Relationship Id="rId8" Type="http://schemas.openxmlformats.org/officeDocument/2006/relationships/image" Target="../media/image372.wmf"/><Relationship Id="rId3" Type="http://schemas.openxmlformats.org/officeDocument/2006/relationships/oleObject" Target="../embeddings/oleObject337.bin"/><Relationship Id="rId7" Type="http://schemas.openxmlformats.org/officeDocument/2006/relationships/oleObject" Target="../embeddings/oleObject339.bin"/><Relationship Id="rId2" Type="http://schemas.openxmlformats.org/officeDocument/2006/relationships/slideLayout" Target="../slideLayouts/slideLayout7.xml"/><Relationship Id="rId1" Type="http://schemas.openxmlformats.org/officeDocument/2006/relationships/vmlDrawing" Target="../drawings/vmlDrawing59.vml"/><Relationship Id="rId6" Type="http://schemas.openxmlformats.org/officeDocument/2006/relationships/image" Target="../media/image371.wmf"/><Relationship Id="rId11" Type="http://schemas.openxmlformats.org/officeDocument/2006/relationships/image" Target="../media/image374.png"/><Relationship Id="rId5" Type="http://schemas.openxmlformats.org/officeDocument/2006/relationships/oleObject" Target="../embeddings/oleObject338.bin"/><Relationship Id="rId10" Type="http://schemas.openxmlformats.org/officeDocument/2006/relationships/image" Target="../media/image373.wmf"/><Relationship Id="rId4" Type="http://schemas.openxmlformats.org/officeDocument/2006/relationships/image" Target="../media/image370.wmf"/><Relationship Id="rId9" Type="http://schemas.openxmlformats.org/officeDocument/2006/relationships/oleObject" Target="../embeddings/oleObject340.bin"/></Relationships>
</file>

<file path=ppt/slides/_rels/slide86.xml.rels><?xml version="1.0" encoding="UTF-8" standalone="yes"?>
<Relationships xmlns="http://schemas.openxmlformats.org/package/2006/relationships"><Relationship Id="rId8" Type="http://schemas.openxmlformats.org/officeDocument/2006/relationships/image" Target="../media/image377.wmf"/><Relationship Id="rId3" Type="http://schemas.openxmlformats.org/officeDocument/2006/relationships/oleObject" Target="../embeddings/oleObject341.bin"/><Relationship Id="rId7" Type="http://schemas.openxmlformats.org/officeDocument/2006/relationships/oleObject" Target="../embeddings/oleObject343.bin"/><Relationship Id="rId2" Type="http://schemas.openxmlformats.org/officeDocument/2006/relationships/slideLayout" Target="../slideLayouts/slideLayout7.xml"/><Relationship Id="rId1" Type="http://schemas.openxmlformats.org/officeDocument/2006/relationships/vmlDrawing" Target="../drawings/vmlDrawing60.vml"/><Relationship Id="rId6" Type="http://schemas.openxmlformats.org/officeDocument/2006/relationships/image" Target="../media/image376.wmf"/><Relationship Id="rId5" Type="http://schemas.openxmlformats.org/officeDocument/2006/relationships/oleObject" Target="../embeddings/oleObject342.bin"/><Relationship Id="rId4" Type="http://schemas.openxmlformats.org/officeDocument/2006/relationships/image" Target="../media/image375.wmf"/></Relationships>
</file>

<file path=ppt/slides/_rels/slide87.xml.rels><?xml version="1.0" encoding="UTF-8" standalone="yes"?>
<Relationships xmlns="http://schemas.openxmlformats.org/package/2006/relationships"><Relationship Id="rId8" Type="http://schemas.openxmlformats.org/officeDocument/2006/relationships/oleObject" Target="../embeddings/oleObject346.bin"/><Relationship Id="rId13" Type="http://schemas.openxmlformats.org/officeDocument/2006/relationships/image" Target="../media/image382.wmf"/><Relationship Id="rId3" Type="http://schemas.openxmlformats.org/officeDocument/2006/relationships/image" Target="../media/image383.png"/><Relationship Id="rId7" Type="http://schemas.openxmlformats.org/officeDocument/2006/relationships/image" Target="../media/image379.wmf"/><Relationship Id="rId12" Type="http://schemas.openxmlformats.org/officeDocument/2006/relationships/oleObject" Target="../embeddings/oleObject348.bin"/><Relationship Id="rId2" Type="http://schemas.openxmlformats.org/officeDocument/2006/relationships/slideLayout" Target="../slideLayouts/slideLayout7.xml"/><Relationship Id="rId1" Type="http://schemas.openxmlformats.org/officeDocument/2006/relationships/vmlDrawing" Target="../drawings/vmlDrawing61.vml"/><Relationship Id="rId6" Type="http://schemas.openxmlformats.org/officeDocument/2006/relationships/oleObject" Target="../embeddings/oleObject345.bin"/><Relationship Id="rId11" Type="http://schemas.openxmlformats.org/officeDocument/2006/relationships/image" Target="../media/image381.wmf"/><Relationship Id="rId5" Type="http://schemas.openxmlformats.org/officeDocument/2006/relationships/image" Target="../media/image378.wmf"/><Relationship Id="rId10" Type="http://schemas.openxmlformats.org/officeDocument/2006/relationships/oleObject" Target="../embeddings/oleObject347.bin"/><Relationship Id="rId4" Type="http://schemas.openxmlformats.org/officeDocument/2006/relationships/oleObject" Target="../embeddings/oleObject344.bin"/><Relationship Id="rId9" Type="http://schemas.openxmlformats.org/officeDocument/2006/relationships/image" Target="../media/image380.wmf"/></Relationships>
</file>

<file path=ppt/slides/_rels/slide88.xml.rels><?xml version="1.0" encoding="UTF-8" standalone="yes"?>
<Relationships xmlns="http://schemas.openxmlformats.org/package/2006/relationships"><Relationship Id="rId8" Type="http://schemas.openxmlformats.org/officeDocument/2006/relationships/oleObject" Target="../embeddings/oleObject350.bin"/><Relationship Id="rId13" Type="http://schemas.openxmlformats.org/officeDocument/2006/relationships/image" Target="../media/image387.wmf"/><Relationship Id="rId3" Type="http://schemas.openxmlformats.org/officeDocument/2006/relationships/image" Target="../media/image388.png"/><Relationship Id="rId7" Type="http://schemas.openxmlformats.org/officeDocument/2006/relationships/image" Target="../media/image384.wmf"/><Relationship Id="rId12" Type="http://schemas.openxmlformats.org/officeDocument/2006/relationships/oleObject" Target="../embeddings/oleObject352.bin"/><Relationship Id="rId2" Type="http://schemas.openxmlformats.org/officeDocument/2006/relationships/slideLayout" Target="../slideLayouts/slideLayout7.xml"/><Relationship Id="rId1" Type="http://schemas.openxmlformats.org/officeDocument/2006/relationships/vmlDrawing" Target="../drawings/vmlDrawing62.vml"/><Relationship Id="rId6" Type="http://schemas.openxmlformats.org/officeDocument/2006/relationships/oleObject" Target="../embeddings/oleObject349.bin"/><Relationship Id="rId11" Type="http://schemas.openxmlformats.org/officeDocument/2006/relationships/image" Target="../media/image386.wmf"/><Relationship Id="rId5" Type="http://schemas.openxmlformats.org/officeDocument/2006/relationships/image" Target="../media/image390.png"/><Relationship Id="rId10" Type="http://schemas.openxmlformats.org/officeDocument/2006/relationships/oleObject" Target="../embeddings/oleObject351.bin"/><Relationship Id="rId4" Type="http://schemas.openxmlformats.org/officeDocument/2006/relationships/image" Target="../media/image389.png"/><Relationship Id="rId9" Type="http://schemas.openxmlformats.org/officeDocument/2006/relationships/image" Target="../media/image385.wmf"/></Relationships>
</file>

<file path=ppt/slides/_rels/slide89.xml.rels><?xml version="1.0" encoding="UTF-8" standalone="yes"?>
<Relationships xmlns="http://schemas.openxmlformats.org/package/2006/relationships"><Relationship Id="rId8" Type="http://schemas.openxmlformats.org/officeDocument/2006/relationships/image" Target="../media/image401.png"/><Relationship Id="rId13" Type="http://schemas.openxmlformats.org/officeDocument/2006/relationships/image" Target="../media/image392.wmf"/><Relationship Id="rId18" Type="http://schemas.openxmlformats.org/officeDocument/2006/relationships/oleObject" Target="../embeddings/oleObject356.bin"/><Relationship Id="rId3" Type="http://schemas.openxmlformats.org/officeDocument/2006/relationships/image" Target="../media/image397.png"/><Relationship Id="rId21" Type="http://schemas.openxmlformats.org/officeDocument/2006/relationships/image" Target="../media/image395.wmf"/><Relationship Id="rId7" Type="http://schemas.openxmlformats.org/officeDocument/2006/relationships/image" Target="../media/image400.png"/><Relationship Id="rId12" Type="http://schemas.openxmlformats.org/officeDocument/2006/relationships/oleObject" Target="../embeddings/oleObject354.bin"/><Relationship Id="rId17" Type="http://schemas.openxmlformats.org/officeDocument/2006/relationships/image" Target="../media/image393.wmf"/><Relationship Id="rId2" Type="http://schemas.openxmlformats.org/officeDocument/2006/relationships/slideLayout" Target="../slideLayouts/slideLayout7.xml"/><Relationship Id="rId16" Type="http://schemas.openxmlformats.org/officeDocument/2006/relationships/oleObject" Target="../embeddings/oleObject355.bin"/><Relationship Id="rId20" Type="http://schemas.openxmlformats.org/officeDocument/2006/relationships/oleObject" Target="../embeddings/oleObject357.bin"/><Relationship Id="rId1" Type="http://schemas.openxmlformats.org/officeDocument/2006/relationships/vmlDrawing" Target="../drawings/vmlDrawing63.vml"/><Relationship Id="rId6" Type="http://schemas.openxmlformats.org/officeDocument/2006/relationships/image" Target="../media/image399.png"/><Relationship Id="rId11" Type="http://schemas.openxmlformats.org/officeDocument/2006/relationships/image" Target="../media/image388.png"/><Relationship Id="rId5" Type="http://schemas.openxmlformats.org/officeDocument/2006/relationships/image" Target="../media/image398.png"/><Relationship Id="rId15" Type="http://schemas.openxmlformats.org/officeDocument/2006/relationships/image" Target="../media/image403.png"/><Relationship Id="rId23" Type="http://schemas.openxmlformats.org/officeDocument/2006/relationships/image" Target="../media/image396.wmf"/><Relationship Id="rId10" Type="http://schemas.openxmlformats.org/officeDocument/2006/relationships/image" Target="../media/image391.emf"/><Relationship Id="rId19" Type="http://schemas.openxmlformats.org/officeDocument/2006/relationships/image" Target="../media/image394.wmf"/><Relationship Id="rId4" Type="http://schemas.openxmlformats.org/officeDocument/2006/relationships/image" Target="NULL" TargetMode="External"/><Relationship Id="rId9" Type="http://schemas.openxmlformats.org/officeDocument/2006/relationships/oleObject" Target="../embeddings/oleObject353.bin"/><Relationship Id="rId14" Type="http://schemas.openxmlformats.org/officeDocument/2006/relationships/image" Target="../media/image402.png"/><Relationship Id="rId22" Type="http://schemas.openxmlformats.org/officeDocument/2006/relationships/oleObject" Target="../embeddings/oleObject358.bin"/></Relationships>
</file>

<file path=ppt/slides/_rels/slide90.xml.rels><?xml version="1.0" encoding="UTF-8" standalone="yes"?>
<Relationships xmlns="http://schemas.openxmlformats.org/package/2006/relationships"><Relationship Id="rId8" Type="http://schemas.openxmlformats.org/officeDocument/2006/relationships/oleObject" Target="../embeddings/oleObject360.bin"/><Relationship Id="rId13" Type="http://schemas.openxmlformats.org/officeDocument/2006/relationships/oleObject" Target="../embeddings/oleObject362.bin"/><Relationship Id="rId3" Type="http://schemas.openxmlformats.org/officeDocument/2006/relationships/image" Target="../media/image408.png"/><Relationship Id="rId7" Type="http://schemas.openxmlformats.org/officeDocument/2006/relationships/image" Target="../media/image410.png"/><Relationship Id="rId12" Type="http://schemas.openxmlformats.org/officeDocument/2006/relationships/image" Target="../media/image406.emf"/><Relationship Id="rId2" Type="http://schemas.openxmlformats.org/officeDocument/2006/relationships/slideLayout" Target="../slideLayouts/slideLayout7.xml"/><Relationship Id="rId1" Type="http://schemas.openxmlformats.org/officeDocument/2006/relationships/vmlDrawing" Target="../drawings/vmlDrawing64.vml"/><Relationship Id="rId6" Type="http://schemas.openxmlformats.org/officeDocument/2006/relationships/image" Target="../media/image404.wmf"/><Relationship Id="rId11" Type="http://schemas.openxmlformats.org/officeDocument/2006/relationships/oleObject" Target="../embeddings/oleObject361.bin"/><Relationship Id="rId5" Type="http://schemas.openxmlformats.org/officeDocument/2006/relationships/oleObject" Target="../embeddings/oleObject359.bin"/><Relationship Id="rId10" Type="http://schemas.openxmlformats.org/officeDocument/2006/relationships/image" Target="../media/image411.png"/><Relationship Id="rId4" Type="http://schemas.openxmlformats.org/officeDocument/2006/relationships/image" Target="../media/image409.png"/><Relationship Id="rId9" Type="http://schemas.openxmlformats.org/officeDocument/2006/relationships/image" Target="../media/image405.wmf"/><Relationship Id="rId14" Type="http://schemas.openxmlformats.org/officeDocument/2006/relationships/image" Target="../media/image407.wmf"/></Relationships>
</file>

<file path=ppt/slides/_rels/slide91.xml.rels><?xml version="1.0" encoding="UTF-8" standalone="yes"?>
<Relationships xmlns="http://schemas.openxmlformats.org/package/2006/relationships"><Relationship Id="rId8" Type="http://schemas.openxmlformats.org/officeDocument/2006/relationships/oleObject" Target="../embeddings/oleObject365.bin"/><Relationship Id="rId3" Type="http://schemas.openxmlformats.org/officeDocument/2006/relationships/oleObject" Target="../embeddings/oleObject363.bin"/><Relationship Id="rId7" Type="http://schemas.openxmlformats.org/officeDocument/2006/relationships/image" Target="../media/image415.png"/><Relationship Id="rId2" Type="http://schemas.openxmlformats.org/officeDocument/2006/relationships/slideLayout" Target="../slideLayouts/slideLayout7.xml"/><Relationship Id="rId1" Type="http://schemas.openxmlformats.org/officeDocument/2006/relationships/vmlDrawing" Target="../drawings/vmlDrawing65.vml"/><Relationship Id="rId6" Type="http://schemas.openxmlformats.org/officeDocument/2006/relationships/image" Target="../media/image413.emf"/><Relationship Id="rId5" Type="http://schemas.openxmlformats.org/officeDocument/2006/relationships/oleObject" Target="../embeddings/oleObject364.bin"/><Relationship Id="rId4" Type="http://schemas.openxmlformats.org/officeDocument/2006/relationships/image" Target="../media/image412.wmf"/><Relationship Id="rId9" Type="http://schemas.openxmlformats.org/officeDocument/2006/relationships/image" Target="../media/image414.emf"/></Relationships>
</file>

<file path=ppt/slides/_rels/slide92.xml.rels><?xml version="1.0" encoding="UTF-8" standalone="yes"?>
<Relationships xmlns="http://schemas.openxmlformats.org/package/2006/relationships"><Relationship Id="rId8" Type="http://schemas.openxmlformats.org/officeDocument/2006/relationships/image" Target="../media/image418.wmf"/><Relationship Id="rId13" Type="http://schemas.openxmlformats.org/officeDocument/2006/relationships/oleObject" Target="../embeddings/oleObject371.bin"/><Relationship Id="rId3" Type="http://schemas.openxmlformats.org/officeDocument/2006/relationships/oleObject" Target="../embeddings/oleObject366.bin"/><Relationship Id="rId7" Type="http://schemas.openxmlformats.org/officeDocument/2006/relationships/oleObject" Target="../embeddings/oleObject368.bin"/><Relationship Id="rId12" Type="http://schemas.openxmlformats.org/officeDocument/2006/relationships/image" Target="../media/image420.wmf"/><Relationship Id="rId2" Type="http://schemas.openxmlformats.org/officeDocument/2006/relationships/slideLayout" Target="../slideLayouts/slideLayout7.xml"/><Relationship Id="rId16" Type="http://schemas.openxmlformats.org/officeDocument/2006/relationships/image" Target="../media/image422.wmf"/><Relationship Id="rId1" Type="http://schemas.openxmlformats.org/officeDocument/2006/relationships/vmlDrawing" Target="../drawings/vmlDrawing66.vml"/><Relationship Id="rId6" Type="http://schemas.openxmlformats.org/officeDocument/2006/relationships/image" Target="../media/image417.wmf"/><Relationship Id="rId11" Type="http://schemas.openxmlformats.org/officeDocument/2006/relationships/oleObject" Target="../embeddings/oleObject370.bin"/><Relationship Id="rId5" Type="http://schemas.openxmlformats.org/officeDocument/2006/relationships/oleObject" Target="../embeddings/oleObject367.bin"/><Relationship Id="rId15" Type="http://schemas.openxmlformats.org/officeDocument/2006/relationships/oleObject" Target="../embeddings/oleObject372.bin"/><Relationship Id="rId10" Type="http://schemas.openxmlformats.org/officeDocument/2006/relationships/image" Target="../media/image419.wmf"/><Relationship Id="rId4" Type="http://schemas.openxmlformats.org/officeDocument/2006/relationships/image" Target="../media/image416.wmf"/><Relationship Id="rId9" Type="http://schemas.openxmlformats.org/officeDocument/2006/relationships/oleObject" Target="../embeddings/oleObject369.bin"/><Relationship Id="rId14" Type="http://schemas.openxmlformats.org/officeDocument/2006/relationships/image" Target="../media/image421.wmf"/></Relationships>
</file>

<file path=ppt/slides/_rels/slide93.xml.rels><?xml version="1.0" encoding="UTF-8" standalone="yes"?>
<Relationships xmlns="http://schemas.openxmlformats.org/package/2006/relationships"><Relationship Id="rId2" Type="http://schemas.openxmlformats.org/officeDocument/2006/relationships/image" Target="../media/image423.png"/><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8" Type="http://schemas.openxmlformats.org/officeDocument/2006/relationships/image" Target="../media/image425.wmf"/><Relationship Id="rId13" Type="http://schemas.openxmlformats.org/officeDocument/2006/relationships/image" Target="../media/image430.png"/><Relationship Id="rId3" Type="http://schemas.openxmlformats.org/officeDocument/2006/relationships/image" Target="../media/image429.png"/><Relationship Id="rId7" Type="http://schemas.openxmlformats.org/officeDocument/2006/relationships/oleObject" Target="../embeddings/oleObject374.bin"/><Relationship Id="rId12" Type="http://schemas.openxmlformats.org/officeDocument/2006/relationships/image" Target="../media/image427.wmf"/><Relationship Id="rId17" Type="http://schemas.openxmlformats.org/officeDocument/2006/relationships/image" Target="../media/image432.png"/><Relationship Id="rId2" Type="http://schemas.openxmlformats.org/officeDocument/2006/relationships/slideLayout" Target="../slideLayouts/slideLayout7.xml"/><Relationship Id="rId16" Type="http://schemas.openxmlformats.org/officeDocument/2006/relationships/image" Target="../media/image428.wmf"/><Relationship Id="rId1" Type="http://schemas.openxmlformats.org/officeDocument/2006/relationships/vmlDrawing" Target="../drawings/vmlDrawing67.vml"/><Relationship Id="rId6" Type="http://schemas.openxmlformats.org/officeDocument/2006/relationships/image" Target="../media/image424.wmf"/><Relationship Id="rId11" Type="http://schemas.openxmlformats.org/officeDocument/2006/relationships/oleObject" Target="../embeddings/oleObject376.bin"/><Relationship Id="rId5" Type="http://schemas.openxmlformats.org/officeDocument/2006/relationships/oleObject" Target="../embeddings/oleObject373.bin"/><Relationship Id="rId15" Type="http://schemas.openxmlformats.org/officeDocument/2006/relationships/oleObject" Target="../embeddings/oleObject377.bin"/><Relationship Id="rId10" Type="http://schemas.openxmlformats.org/officeDocument/2006/relationships/image" Target="../media/image426.wmf"/><Relationship Id="rId4" Type="http://schemas.microsoft.com/office/2007/relationships/hdphoto" Target="../media/hdphoto1.wdp"/><Relationship Id="rId9" Type="http://schemas.openxmlformats.org/officeDocument/2006/relationships/oleObject" Target="../embeddings/oleObject375.bin"/><Relationship Id="rId14" Type="http://schemas.openxmlformats.org/officeDocument/2006/relationships/image" Target="../media/image431.png"/></Relationships>
</file>

<file path=ppt/slides/_rels/slide95.xml.rels><?xml version="1.0" encoding="UTF-8" standalone="yes"?>
<Relationships xmlns="http://schemas.openxmlformats.org/package/2006/relationships"><Relationship Id="rId8" Type="http://schemas.openxmlformats.org/officeDocument/2006/relationships/oleObject" Target="../embeddings/oleObject380.bin"/><Relationship Id="rId3" Type="http://schemas.openxmlformats.org/officeDocument/2006/relationships/oleObject" Target="../embeddings/oleObject378.bin"/><Relationship Id="rId7" Type="http://schemas.openxmlformats.org/officeDocument/2006/relationships/image" Target="../media/image436.png"/><Relationship Id="rId2" Type="http://schemas.openxmlformats.org/officeDocument/2006/relationships/slideLayout" Target="../slideLayouts/slideLayout7.xml"/><Relationship Id="rId1" Type="http://schemas.openxmlformats.org/officeDocument/2006/relationships/vmlDrawing" Target="../drawings/vmlDrawing68.vml"/><Relationship Id="rId6" Type="http://schemas.openxmlformats.org/officeDocument/2006/relationships/image" Target="../media/image434.wmf"/><Relationship Id="rId5" Type="http://schemas.openxmlformats.org/officeDocument/2006/relationships/oleObject" Target="../embeddings/oleObject379.bin"/><Relationship Id="rId4" Type="http://schemas.openxmlformats.org/officeDocument/2006/relationships/image" Target="../media/image433.wmf"/><Relationship Id="rId9" Type="http://schemas.openxmlformats.org/officeDocument/2006/relationships/image" Target="../media/image435.wmf"/></Relationships>
</file>

<file path=ppt/slides/_rels/slide96.xml.rels><?xml version="1.0" encoding="UTF-8" standalone="yes"?>
<Relationships xmlns="http://schemas.openxmlformats.org/package/2006/relationships"><Relationship Id="rId8" Type="http://schemas.openxmlformats.org/officeDocument/2006/relationships/image" Target="../media/image441.png"/><Relationship Id="rId3" Type="http://schemas.openxmlformats.org/officeDocument/2006/relationships/image" Target="../media/image438.png"/><Relationship Id="rId7" Type="http://schemas.openxmlformats.org/officeDocument/2006/relationships/image" Target="../media/image440.png"/><Relationship Id="rId2" Type="http://schemas.openxmlformats.org/officeDocument/2006/relationships/slideLayout" Target="../slideLayouts/slideLayout7.xml"/><Relationship Id="rId1" Type="http://schemas.openxmlformats.org/officeDocument/2006/relationships/vmlDrawing" Target="../drawings/vmlDrawing69.vml"/><Relationship Id="rId6" Type="http://schemas.openxmlformats.org/officeDocument/2006/relationships/image" Target="../media/image437.wmf"/><Relationship Id="rId5" Type="http://schemas.openxmlformats.org/officeDocument/2006/relationships/oleObject" Target="../embeddings/oleObject381.bin"/><Relationship Id="rId10" Type="http://schemas.openxmlformats.org/officeDocument/2006/relationships/image" Target="../media/image443.png"/><Relationship Id="rId4" Type="http://schemas.openxmlformats.org/officeDocument/2006/relationships/image" Target="../media/image439.png"/><Relationship Id="rId9" Type="http://schemas.openxmlformats.org/officeDocument/2006/relationships/image" Target="../media/image442.png"/></Relationships>
</file>

<file path=ppt/slides/_rels/slide97.xml.rels><?xml version="1.0" encoding="UTF-8" standalone="yes"?>
<Relationships xmlns="http://schemas.openxmlformats.org/package/2006/relationships"><Relationship Id="rId3" Type="http://schemas.openxmlformats.org/officeDocument/2006/relationships/oleObject" Target="../embeddings/oleObject382.bin"/><Relationship Id="rId2" Type="http://schemas.openxmlformats.org/officeDocument/2006/relationships/slideLayout" Target="../slideLayouts/slideLayout7.xml"/><Relationship Id="rId1" Type="http://schemas.openxmlformats.org/officeDocument/2006/relationships/vmlDrawing" Target="../drawings/vmlDrawing70.vml"/><Relationship Id="rId4" Type="http://schemas.openxmlformats.org/officeDocument/2006/relationships/image" Target="../media/image444.wmf"/></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3" Type="http://schemas.openxmlformats.org/officeDocument/2006/relationships/oleObject" Target="../embeddings/oleObject383.bin"/><Relationship Id="rId7" Type="http://schemas.openxmlformats.org/officeDocument/2006/relationships/image" Target="../media/image447.png"/><Relationship Id="rId2" Type="http://schemas.openxmlformats.org/officeDocument/2006/relationships/slideLayout" Target="../slideLayouts/slideLayout7.xml"/><Relationship Id="rId1" Type="http://schemas.openxmlformats.org/officeDocument/2006/relationships/vmlDrawing" Target="../drawings/vmlDrawing71.vml"/><Relationship Id="rId6" Type="http://schemas.openxmlformats.org/officeDocument/2006/relationships/image" Target="../media/image446.wmf"/><Relationship Id="rId5" Type="http://schemas.openxmlformats.org/officeDocument/2006/relationships/oleObject" Target="../embeddings/oleObject384.bin"/><Relationship Id="rId4" Type="http://schemas.openxmlformats.org/officeDocument/2006/relationships/image" Target="../media/image445.emf"/></Relationships>
</file>

<file path=ppt/slides/_rels/slide100.xml.rels><?xml version="1.0" encoding="UTF-8" standalone="yes"?>
<Relationships xmlns="http://schemas.openxmlformats.org/package/2006/relationships"><Relationship Id="rId3" Type="http://schemas.openxmlformats.org/officeDocument/2006/relationships/oleObject" Target="../embeddings/oleObject385.bin"/><Relationship Id="rId2" Type="http://schemas.openxmlformats.org/officeDocument/2006/relationships/slideLayout" Target="../slideLayouts/slideLayout7.xml"/><Relationship Id="rId1" Type="http://schemas.openxmlformats.org/officeDocument/2006/relationships/vmlDrawing" Target="../drawings/vmlDrawing72.vml"/><Relationship Id="rId6" Type="http://schemas.openxmlformats.org/officeDocument/2006/relationships/image" Target="../media/image449.emf"/><Relationship Id="rId5" Type="http://schemas.openxmlformats.org/officeDocument/2006/relationships/oleObject" Target="../embeddings/oleObject386.bin"/><Relationship Id="rId4" Type="http://schemas.openxmlformats.org/officeDocument/2006/relationships/image" Target="../media/image448.emf"/></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8" Type="http://schemas.openxmlformats.org/officeDocument/2006/relationships/image" Target="../media/image452.wmf"/><Relationship Id="rId3" Type="http://schemas.openxmlformats.org/officeDocument/2006/relationships/oleObject" Target="../embeddings/oleObject387.bin"/><Relationship Id="rId7" Type="http://schemas.openxmlformats.org/officeDocument/2006/relationships/oleObject" Target="../embeddings/oleObject389.bin"/><Relationship Id="rId12" Type="http://schemas.openxmlformats.org/officeDocument/2006/relationships/image" Target="../media/image454.emf"/><Relationship Id="rId2" Type="http://schemas.openxmlformats.org/officeDocument/2006/relationships/slideLayout" Target="../slideLayouts/slideLayout7.xml"/><Relationship Id="rId1" Type="http://schemas.openxmlformats.org/officeDocument/2006/relationships/vmlDrawing" Target="../drawings/vmlDrawing73.vml"/><Relationship Id="rId6" Type="http://schemas.openxmlformats.org/officeDocument/2006/relationships/image" Target="../media/image451.wmf"/><Relationship Id="rId11" Type="http://schemas.openxmlformats.org/officeDocument/2006/relationships/oleObject" Target="../embeddings/oleObject391.bin"/><Relationship Id="rId5" Type="http://schemas.openxmlformats.org/officeDocument/2006/relationships/oleObject" Target="../embeddings/oleObject388.bin"/><Relationship Id="rId10" Type="http://schemas.openxmlformats.org/officeDocument/2006/relationships/image" Target="../media/image453.emf"/><Relationship Id="rId4" Type="http://schemas.openxmlformats.org/officeDocument/2006/relationships/image" Target="../media/image450.wmf"/><Relationship Id="rId9" Type="http://schemas.openxmlformats.org/officeDocument/2006/relationships/oleObject" Target="../embeddings/oleObject390.bin"/></Relationships>
</file>

<file path=ppt/slides/_rels/slide103.xml.rels><?xml version="1.0" encoding="UTF-8" standalone="yes"?>
<Relationships xmlns="http://schemas.openxmlformats.org/package/2006/relationships"><Relationship Id="rId8" Type="http://schemas.openxmlformats.org/officeDocument/2006/relationships/image" Target="../media/image457.wmf"/><Relationship Id="rId13" Type="http://schemas.openxmlformats.org/officeDocument/2006/relationships/oleObject" Target="../embeddings/oleObject397.bin"/><Relationship Id="rId18" Type="http://schemas.openxmlformats.org/officeDocument/2006/relationships/image" Target="../media/image462.emf"/><Relationship Id="rId3" Type="http://schemas.openxmlformats.org/officeDocument/2006/relationships/oleObject" Target="../embeddings/oleObject392.bin"/><Relationship Id="rId7" Type="http://schemas.openxmlformats.org/officeDocument/2006/relationships/oleObject" Target="../embeddings/oleObject394.bin"/><Relationship Id="rId12" Type="http://schemas.openxmlformats.org/officeDocument/2006/relationships/image" Target="../media/image459.wmf"/><Relationship Id="rId17" Type="http://schemas.openxmlformats.org/officeDocument/2006/relationships/oleObject" Target="../embeddings/oleObject399.bin"/><Relationship Id="rId2" Type="http://schemas.openxmlformats.org/officeDocument/2006/relationships/slideLayout" Target="../slideLayouts/slideLayout7.xml"/><Relationship Id="rId16" Type="http://schemas.openxmlformats.org/officeDocument/2006/relationships/image" Target="../media/image461.wmf"/><Relationship Id="rId20" Type="http://schemas.openxmlformats.org/officeDocument/2006/relationships/image" Target="../media/image463.wmf"/><Relationship Id="rId1" Type="http://schemas.openxmlformats.org/officeDocument/2006/relationships/vmlDrawing" Target="../drawings/vmlDrawing74.vml"/><Relationship Id="rId6" Type="http://schemas.openxmlformats.org/officeDocument/2006/relationships/image" Target="../media/image456.wmf"/><Relationship Id="rId11" Type="http://schemas.openxmlformats.org/officeDocument/2006/relationships/oleObject" Target="../embeddings/oleObject396.bin"/><Relationship Id="rId5" Type="http://schemas.openxmlformats.org/officeDocument/2006/relationships/oleObject" Target="../embeddings/oleObject393.bin"/><Relationship Id="rId15" Type="http://schemas.openxmlformats.org/officeDocument/2006/relationships/oleObject" Target="../embeddings/oleObject398.bin"/><Relationship Id="rId10" Type="http://schemas.openxmlformats.org/officeDocument/2006/relationships/image" Target="../media/image458.wmf"/><Relationship Id="rId19" Type="http://schemas.openxmlformats.org/officeDocument/2006/relationships/oleObject" Target="../embeddings/oleObject400.bin"/><Relationship Id="rId4" Type="http://schemas.openxmlformats.org/officeDocument/2006/relationships/image" Target="../media/image455.wmf"/><Relationship Id="rId9" Type="http://schemas.openxmlformats.org/officeDocument/2006/relationships/oleObject" Target="../embeddings/oleObject395.bin"/><Relationship Id="rId14" Type="http://schemas.openxmlformats.org/officeDocument/2006/relationships/image" Target="../media/image460.wmf"/></Relationships>
</file>

<file path=ppt/slides/_rels/slide104.xml.rels><?xml version="1.0" encoding="UTF-8" standalone="yes"?>
<Relationships xmlns="http://schemas.openxmlformats.org/package/2006/relationships"><Relationship Id="rId3" Type="http://schemas.openxmlformats.org/officeDocument/2006/relationships/oleObject" Target="../embeddings/oleObject401.bin"/><Relationship Id="rId2" Type="http://schemas.openxmlformats.org/officeDocument/2006/relationships/slideLayout" Target="../slideLayouts/slideLayout7.xml"/><Relationship Id="rId1" Type="http://schemas.openxmlformats.org/officeDocument/2006/relationships/vmlDrawing" Target="../drawings/vmlDrawing75.vml"/><Relationship Id="rId4" Type="http://schemas.openxmlformats.org/officeDocument/2006/relationships/image" Target="../media/image464.emf"/></Relationships>
</file>

<file path=ppt/slides/_rels/slide105.xml.rels><?xml version="1.0" encoding="UTF-8" standalone="yes"?>
<Relationships xmlns="http://schemas.openxmlformats.org/package/2006/relationships"><Relationship Id="rId8" Type="http://schemas.openxmlformats.org/officeDocument/2006/relationships/image" Target="../media/image467.wmf"/><Relationship Id="rId13" Type="http://schemas.openxmlformats.org/officeDocument/2006/relationships/oleObject" Target="../embeddings/oleObject407.bin"/><Relationship Id="rId18" Type="http://schemas.openxmlformats.org/officeDocument/2006/relationships/image" Target="../media/image472.emf"/><Relationship Id="rId3" Type="http://schemas.openxmlformats.org/officeDocument/2006/relationships/oleObject" Target="../embeddings/oleObject402.bin"/><Relationship Id="rId7" Type="http://schemas.openxmlformats.org/officeDocument/2006/relationships/oleObject" Target="../embeddings/oleObject404.bin"/><Relationship Id="rId12" Type="http://schemas.openxmlformats.org/officeDocument/2006/relationships/image" Target="../media/image469.wmf"/><Relationship Id="rId17" Type="http://schemas.openxmlformats.org/officeDocument/2006/relationships/oleObject" Target="../embeddings/oleObject409.bin"/><Relationship Id="rId2" Type="http://schemas.openxmlformats.org/officeDocument/2006/relationships/slideLayout" Target="../slideLayouts/slideLayout7.xml"/><Relationship Id="rId16" Type="http://schemas.openxmlformats.org/officeDocument/2006/relationships/image" Target="../media/image471.wmf"/><Relationship Id="rId1" Type="http://schemas.openxmlformats.org/officeDocument/2006/relationships/vmlDrawing" Target="../drawings/vmlDrawing76.vml"/><Relationship Id="rId6" Type="http://schemas.openxmlformats.org/officeDocument/2006/relationships/image" Target="../media/image466.wmf"/><Relationship Id="rId11" Type="http://schemas.openxmlformats.org/officeDocument/2006/relationships/oleObject" Target="../embeddings/oleObject406.bin"/><Relationship Id="rId5" Type="http://schemas.openxmlformats.org/officeDocument/2006/relationships/oleObject" Target="../embeddings/oleObject403.bin"/><Relationship Id="rId15" Type="http://schemas.openxmlformats.org/officeDocument/2006/relationships/oleObject" Target="../embeddings/oleObject408.bin"/><Relationship Id="rId10" Type="http://schemas.openxmlformats.org/officeDocument/2006/relationships/image" Target="../media/image468.wmf"/><Relationship Id="rId4" Type="http://schemas.openxmlformats.org/officeDocument/2006/relationships/image" Target="../media/image465.wmf"/><Relationship Id="rId9" Type="http://schemas.openxmlformats.org/officeDocument/2006/relationships/oleObject" Target="../embeddings/oleObject405.bin"/><Relationship Id="rId14" Type="http://schemas.openxmlformats.org/officeDocument/2006/relationships/image" Target="../media/image470.wmf"/></Relationships>
</file>

<file path=ppt/slides/_rels/slide106.xml.rels><?xml version="1.0" encoding="UTF-8" standalone="yes"?>
<Relationships xmlns="http://schemas.openxmlformats.org/package/2006/relationships"><Relationship Id="rId8" Type="http://schemas.openxmlformats.org/officeDocument/2006/relationships/image" Target="../media/image475.wmf"/><Relationship Id="rId13" Type="http://schemas.openxmlformats.org/officeDocument/2006/relationships/oleObject" Target="../embeddings/oleObject415.bin"/><Relationship Id="rId18" Type="http://schemas.openxmlformats.org/officeDocument/2006/relationships/image" Target="../media/image480.wmf"/><Relationship Id="rId3" Type="http://schemas.openxmlformats.org/officeDocument/2006/relationships/oleObject" Target="../embeddings/oleObject410.bin"/><Relationship Id="rId21" Type="http://schemas.openxmlformats.org/officeDocument/2006/relationships/oleObject" Target="../embeddings/oleObject419.bin"/><Relationship Id="rId7" Type="http://schemas.openxmlformats.org/officeDocument/2006/relationships/oleObject" Target="../embeddings/oleObject412.bin"/><Relationship Id="rId12" Type="http://schemas.openxmlformats.org/officeDocument/2006/relationships/image" Target="../media/image477.wmf"/><Relationship Id="rId17" Type="http://schemas.openxmlformats.org/officeDocument/2006/relationships/oleObject" Target="../embeddings/oleObject417.bin"/><Relationship Id="rId2" Type="http://schemas.openxmlformats.org/officeDocument/2006/relationships/slideLayout" Target="../slideLayouts/slideLayout7.xml"/><Relationship Id="rId16" Type="http://schemas.openxmlformats.org/officeDocument/2006/relationships/image" Target="../media/image479.wmf"/><Relationship Id="rId20" Type="http://schemas.openxmlformats.org/officeDocument/2006/relationships/image" Target="../media/image481.wmf"/><Relationship Id="rId1" Type="http://schemas.openxmlformats.org/officeDocument/2006/relationships/vmlDrawing" Target="../drawings/vmlDrawing77.vml"/><Relationship Id="rId6" Type="http://schemas.openxmlformats.org/officeDocument/2006/relationships/image" Target="../media/image474.wmf"/><Relationship Id="rId11" Type="http://schemas.openxmlformats.org/officeDocument/2006/relationships/oleObject" Target="../embeddings/oleObject414.bin"/><Relationship Id="rId24" Type="http://schemas.openxmlformats.org/officeDocument/2006/relationships/image" Target="../media/image483.emf"/><Relationship Id="rId5" Type="http://schemas.openxmlformats.org/officeDocument/2006/relationships/oleObject" Target="../embeddings/oleObject411.bin"/><Relationship Id="rId15" Type="http://schemas.openxmlformats.org/officeDocument/2006/relationships/oleObject" Target="../embeddings/oleObject416.bin"/><Relationship Id="rId23" Type="http://schemas.openxmlformats.org/officeDocument/2006/relationships/oleObject" Target="../embeddings/oleObject420.bin"/><Relationship Id="rId10" Type="http://schemas.openxmlformats.org/officeDocument/2006/relationships/image" Target="../media/image476.wmf"/><Relationship Id="rId19" Type="http://schemas.openxmlformats.org/officeDocument/2006/relationships/oleObject" Target="../embeddings/oleObject418.bin"/><Relationship Id="rId4" Type="http://schemas.openxmlformats.org/officeDocument/2006/relationships/image" Target="../media/image473.wmf"/><Relationship Id="rId9" Type="http://schemas.openxmlformats.org/officeDocument/2006/relationships/oleObject" Target="../embeddings/oleObject413.bin"/><Relationship Id="rId14" Type="http://schemas.openxmlformats.org/officeDocument/2006/relationships/image" Target="../media/image478.wmf"/><Relationship Id="rId22" Type="http://schemas.openxmlformats.org/officeDocument/2006/relationships/image" Target="../media/image482.emf"/></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3" Type="http://schemas.openxmlformats.org/officeDocument/2006/relationships/image" Target="../media/image485.emf"/><Relationship Id="rId2" Type="http://schemas.openxmlformats.org/officeDocument/2006/relationships/image" Target="../media/image484.emf"/><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2" Type="http://schemas.openxmlformats.org/officeDocument/2006/relationships/image" Target="../media/image486.jpeg"/><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2" Type="http://schemas.openxmlformats.org/officeDocument/2006/relationships/image" Target="../media/image487.emf"/><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8" Type="http://schemas.openxmlformats.org/officeDocument/2006/relationships/image" Target="../media/image492.emf"/><Relationship Id="rId3" Type="http://schemas.openxmlformats.org/officeDocument/2006/relationships/image" Target="../media/image489.emf"/><Relationship Id="rId7" Type="http://schemas.openxmlformats.org/officeDocument/2006/relationships/customXml" Target="../ink/ink2.xml"/><Relationship Id="rId12" Type="http://schemas.openxmlformats.org/officeDocument/2006/relationships/image" Target="../media/image494.emf"/><Relationship Id="rId2" Type="http://schemas.openxmlformats.org/officeDocument/2006/relationships/image" Target="../media/image488.emf"/><Relationship Id="rId1" Type="http://schemas.openxmlformats.org/officeDocument/2006/relationships/slideLayout" Target="../slideLayouts/slideLayout7.xml"/><Relationship Id="rId6" Type="http://schemas.openxmlformats.org/officeDocument/2006/relationships/image" Target="../media/image491.emf"/><Relationship Id="rId11" Type="http://schemas.openxmlformats.org/officeDocument/2006/relationships/customXml" Target="../ink/ink4.xml"/><Relationship Id="rId5" Type="http://schemas.openxmlformats.org/officeDocument/2006/relationships/customXml" Target="../ink/ink1.xml"/><Relationship Id="rId10" Type="http://schemas.openxmlformats.org/officeDocument/2006/relationships/image" Target="../media/image493.emf"/><Relationship Id="rId4" Type="http://schemas.openxmlformats.org/officeDocument/2006/relationships/image" Target="../media/image490.emf"/><Relationship Id="rId9" Type="http://schemas.openxmlformats.org/officeDocument/2006/relationships/customXml" Target="../ink/ink3.xml"/></Relationships>
</file>

<file path=ppt/slides/_rels/slide112.xml.rels><?xml version="1.0" encoding="UTF-8" standalone="yes"?>
<Relationships xmlns="http://schemas.openxmlformats.org/package/2006/relationships"><Relationship Id="rId3" Type="http://schemas.openxmlformats.org/officeDocument/2006/relationships/image" Target="../media/image496.emf"/><Relationship Id="rId2" Type="http://schemas.openxmlformats.org/officeDocument/2006/relationships/image" Target="../media/image495.emf"/><Relationship Id="rId1" Type="http://schemas.openxmlformats.org/officeDocument/2006/relationships/slideLayout" Target="../slideLayouts/slideLayout7.xml"/><Relationship Id="rId4" Type="http://schemas.openxmlformats.org/officeDocument/2006/relationships/image" Target="../media/image497.emf"/></Relationships>
</file>

<file path=ppt/slides/_rels/slide113.xml.rels><?xml version="1.0" encoding="UTF-8" standalone="yes"?>
<Relationships xmlns="http://schemas.openxmlformats.org/package/2006/relationships"><Relationship Id="rId8" Type="http://schemas.openxmlformats.org/officeDocument/2006/relationships/image" Target="../media/image500.emf"/><Relationship Id="rId3" Type="http://schemas.openxmlformats.org/officeDocument/2006/relationships/oleObject" Target="../embeddings/oleObject421.bin"/><Relationship Id="rId7" Type="http://schemas.openxmlformats.org/officeDocument/2006/relationships/oleObject" Target="../embeddings/oleObject423.bin"/><Relationship Id="rId2" Type="http://schemas.openxmlformats.org/officeDocument/2006/relationships/slideLayout" Target="../slideLayouts/slideLayout7.xml"/><Relationship Id="rId1" Type="http://schemas.openxmlformats.org/officeDocument/2006/relationships/vmlDrawing" Target="../drawings/vmlDrawing78.vml"/><Relationship Id="rId6" Type="http://schemas.openxmlformats.org/officeDocument/2006/relationships/image" Target="../media/image499.emf"/><Relationship Id="rId5" Type="http://schemas.openxmlformats.org/officeDocument/2006/relationships/oleObject" Target="../embeddings/oleObject422.bin"/><Relationship Id="rId4" Type="http://schemas.openxmlformats.org/officeDocument/2006/relationships/image" Target="../media/image498.emf"/></Relationships>
</file>

<file path=ppt/slides/_rels/slide114.xml.rels><?xml version="1.0" encoding="UTF-8" standalone="yes"?>
<Relationships xmlns="http://schemas.openxmlformats.org/package/2006/relationships"><Relationship Id="rId8" Type="http://schemas.openxmlformats.org/officeDocument/2006/relationships/image" Target="../media/image503.emf"/><Relationship Id="rId13" Type="http://schemas.openxmlformats.org/officeDocument/2006/relationships/oleObject" Target="../embeddings/oleObject429.bin"/><Relationship Id="rId3" Type="http://schemas.openxmlformats.org/officeDocument/2006/relationships/oleObject" Target="../embeddings/oleObject424.bin"/><Relationship Id="rId7" Type="http://schemas.openxmlformats.org/officeDocument/2006/relationships/oleObject" Target="../embeddings/oleObject426.bin"/><Relationship Id="rId12" Type="http://schemas.openxmlformats.org/officeDocument/2006/relationships/image" Target="../media/image505.emf"/><Relationship Id="rId2" Type="http://schemas.openxmlformats.org/officeDocument/2006/relationships/slideLayout" Target="../slideLayouts/slideLayout7.xml"/><Relationship Id="rId1" Type="http://schemas.openxmlformats.org/officeDocument/2006/relationships/vmlDrawing" Target="../drawings/vmlDrawing79.vml"/><Relationship Id="rId6" Type="http://schemas.openxmlformats.org/officeDocument/2006/relationships/image" Target="../media/image502.emf"/><Relationship Id="rId11" Type="http://schemas.openxmlformats.org/officeDocument/2006/relationships/oleObject" Target="../embeddings/oleObject428.bin"/><Relationship Id="rId5" Type="http://schemas.openxmlformats.org/officeDocument/2006/relationships/oleObject" Target="../embeddings/oleObject425.bin"/><Relationship Id="rId10" Type="http://schemas.openxmlformats.org/officeDocument/2006/relationships/image" Target="../media/image504.emf"/><Relationship Id="rId4" Type="http://schemas.openxmlformats.org/officeDocument/2006/relationships/image" Target="../media/image501.emf"/><Relationship Id="rId9" Type="http://schemas.openxmlformats.org/officeDocument/2006/relationships/oleObject" Target="../embeddings/oleObject427.bin"/><Relationship Id="rId14" Type="http://schemas.openxmlformats.org/officeDocument/2006/relationships/image" Target="../media/image506.emf"/></Relationships>
</file>

<file path=ppt/slides/_rels/slide115.xml.rels><?xml version="1.0" encoding="UTF-8" standalone="yes"?>
<Relationships xmlns="http://schemas.openxmlformats.org/package/2006/relationships"><Relationship Id="rId8" Type="http://schemas.openxmlformats.org/officeDocument/2006/relationships/oleObject" Target="../embeddings/oleObject432.bin"/><Relationship Id="rId13" Type="http://schemas.openxmlformats.org/officeDocument/2006/relationships/image" Target="../media/image511.wmf"/><Relationship Id="rId3" Type="http://schemas.openxmlformats.org/officeDocument/2006/relationships/image" Target="../media/image512.png"/><Relationship Id="rId7" Type="http://schemas.openxmlformats.org/officeDocument/2006/relationships/image" Target="../media/image508.wmf"/><Relationship Id="rId12" Type="http://schemas.openxmlformats.org/officeDocument/2006/relationships/oleObject" Target="../embeddings/oleObject434.bin"/><Relationship Id="rId2" Type="http://schemas.openxmlformats.org/officeDocument/2006/relationships/slideLayout" Target="../slideLayouts/slideLayout7.xml"/><Relationship Id="rId1" Type="http://schemas.openxmlformats.org/officeDocument/2006/relationships/vmlDrawing" Target="../drawings/vmlDrawing80.vml"/><Relationship Id="rId6" Type="http://schemas.openxmlformats.org/officeDocument/2006/relationships/oleObject" Target="../embeddings/oleObject431.bin"/><Relationship Id="rId11" Type="http://schemas.openxmlformats.org/officeDocument/2006/relationships/image" Target="../media/image510.wmf"/><Relationship Id="rId5" Type="http://schemas.openxmlformats.org/officeDocument/2006/relationships/image" Target="../media/image507.wmf"/><Relationship Id="rId10" Type="http://schemas.openxmlformats.org/officeDocument/2006/relationships/oleObject" Target="../embeddings/oleObject433.bin"/><Relationship Id="rId4" Type="http://schemas.openxmlformats.org/officeDocument/2006/relationships/oleObject" Target="../embeddings/oleObject430.bin"/><Relationship Id="rId9" Type="http://schemas.openxmlformats.org/officeDocument/2006/relationships/image" Target="../media/image509.wmf"/></Relationships>
</file>

<file path=ppt/slides/_rels/slide116.xml.rels><?xml version="1.0" encoding="UTF-8" standalone="yes"?>
<Relationships xmlns="http://schemas.openxmlformats.org/package/2006/relationships"><Relationship Id="rId8" Type="http://schemas.openxmlformats.org/officeDocument/2006/relationships/image" Target="../media/image515.wmf"/><Relationship Id="rId3" Type="http://schemas.openxmlformats.org/officeDocument/2006/relationships/oleObject" Target="../embeddings/oleObject435.bin"/><Relationship Id="rId7" Type="http://schemas.openxmlformats.org/officeDocument/2006/relationships/oleObject" Target="../embeddings/oleObject437.bin"/><Relationship Id="rId2" Type="http://schemas.openxmlformats.org/officeDocument/2006/relationships/slideLayout" Target="../slideLayouts/slideLayout7.xml"/><Relationship Id="rId1" Type="http://schemas.openxmlformats.org/officeDocument/2006/relationships/vmlDrawing" Target="../drawings/vmlDrawing81.vml"/><Relationship Id="rId6" Type="http://schemas.openxmlformats.org/officeDocument/2006/relationships/image" Target="../media/image514.wmf"/><Relationship Id="rId5" Type="http://schemas.openxmlformats.org/officeDocument/2006/relationships/oleObject" Target="../embeddings/oleObject436.bin"/><Relationship Id="rId4" Type="http://schemas.openxmlformats.org/officeDocument/2006/relationships/image" Target="../media/image513.png"/></Relationships>
</file>

<file path=ppt/slides/_rels/slide117.xml.rels><?xml version="1.0" encoding="UTF-8" standalone="yes"?>
<Relationships xmlns="http://schemas.openxmlformats.org/package/2006/relationships"><Relationship Id="rId8" Type="http://schemas.openxmlformats.org/officeDocument/2006/relationships/oleObject" Target="../embeddings/oleObject440.bin"/><Relationship Id="rId13" Type="http://schemas.openxmlformats.org/officeDocument/2006/relationships/image" Target="../media/image520.wmf"/><Relationship Id="rId18" Type="http://schemas.openxmlformats.org/officeDocument/2006/relationships/oleObject" Target="../embeddings/oleObject445.bin"/><Relationship Id="rId26" Type="http://schemas.openxmlformats.org/officeDocument/2006/relationships/oleObject" Target="../embeddings/oleObject449.bin"/><Relationship Id="rId3" Type="http://schemas.openxmlformats.org/officeDocument/2006/relationships/image" Target="../media/image528.png"/><Relationship Id="rId21" Type="http://schemas.openxmlformats.org/officeDocument/2006/relationships/image" Target="../media/image524.wmf"/><Relationship Id="rId7" Type="http://schemas.openxmlformats.org/officeDocument/2006/relationships/image" Target="../media/image517.wmf"/><Relationship Id="rId12" Type="http://schemas.openxmlformats.org/officeDocument/2006/relationships/oleObject" Target="../embeddings/oleObject442.bin"/><Relationship Id="rId17" Type="http://schemas.openxmlformats.org/officeDocument/2006/relationships/image" Target="../media/image522.wmf"/><Relationship Id="rId25" Type="http://schemas.openxmlformats.org/officeDocument/2006/relationships/image" Target="../media/image526.wmf"/><Relationship Id="rId2" Type="http://schemas.openxmlformats.org/officeDocument/2006/relationships/slideLayout" Target="../slideLayouts/slideLayout7.xml"/><Relationship Id="rId16" Type="http://schemas.openxmlformats.org/officeDocument/2006/relationships/oleObject" Target="../embeddings/oleObject444.bin"/><Relationship Id="rId20" Type="http://schemas.openxmlformats.org/officeDocument/2006/relationships/oleObject" Target="../embeddings/oleObject446.bin"/><Relationship Id="rId1" Type="http://schemas.openxmlformats.org/officeDocument/2006/relationships/vmlDrawing" Target="../drawings/vmlDrawing82.vml"/><Relationship Id="rId6" Type="http://schemas.openxmlformats.org/officeDocument/2006/relationships/oleObject" Target="../embeddings/oleObject439.bin"/><Relationship Id="rId11" Type="http://schemas.openxmlformats.org/officeDocument/2006/relationships/image" Target="../media/image519.wmf"/><Relationship Id="rId24" Type="http://schemas.openxmlformats.org/officeDocument/2006/relationships/oleObject" Target="../embeddings/oleObject448.bin"/><Relationship Id="rId5" Type="http://schemas.openxmlformats.org/officeDocument/2006/relationships/image" Target="../media/image516.wmf"/><Relationship Id="rId15" Type="http://schemas.openxmlformats.org/officeDocument/2006/relationships/image" Target="../media/image521.wmf"/><Relationship Id="rId23" Type="http://schemas.openxmlformats.org/officeDocument/2006/relationships/image" Target="../media/image525.wmf"/><Relationship Id="rId10" Type="http://schemas.openxmlformats.org/officeDocument/2006/relationships/oleObject" Target="../embeddings/oleObject441.bin"/><Relationship Id="rId19" Type="http://schemas.openxmlformats.org/officeDocument/2006/relationships/image" Target="../media/image523.wmf"/><Relationship Id="rId4" Type="http://schemas.openxmlformats.org/officeDocument/2006/relationships/oleObject" Target="../embeddings/oleObject438.bin"/><Relationship Id="rId9" Type="http://schemas.openxmlformats.org/officeDocument/2006/relationships/image" Target="../media/image518.wmf"/><Relationship Id="rId14" Type="http://schemas.openxmlformats.org/officeDocument/2006/relationships/oleObject" Target="../embeddings/oleObject443.bin"/><Relationship Id="rId22" Type="http://schemas.openxmlformats.org/officeDocument/2006/relationships/oleObject" Target="../embeddings/oleObject447.bin"/><Relationship Id="rId27" Type="http://schemas.openxmlformats.org/officeDocument/2006/relationships/image" Target="../media/image527.wmf"/></Relationships>
</file>

<file path=ppt/slides/_rels/slide118.xml.rels><?xml version="1.0" encoding="UTF-8" standalone="yes"?>
<Relationships xmlns="http://schemas.openxmlformats.org/package/2006/relationships"><Relationship Id="rId8" Type="http://schemas.openxmlformats.org/officeDocument/2006/relationships/image" Target="../media/image531.wmf"/><Relationship Id="rId13" Type="http://schemas.openxmlformats.org/officeDocument/2006/relationships/oleObject" Target="../embeddings/oleObject455.bin"/><Relationship Id="rId18" Type="http://schemas.openxmlformats.org/officeDocument/2006/relationships/image" Target="../media/image536.wmf"/><Relationship Id="rId3" Type="http://schemas.openxmlformats.org/officeDocument/2006/relationships/oleObject" Target="../embeddings/oleObject450.bin"/><Relationship Id="rId21" Type="http://schemas.openxmlformats.org/officeDocument/2006/relationships/oleObject" Target="../embeddings/oleObject459.bin"/><Relationship Id="rId7" Type="http://schemas.openxmlformats.org/officeDocument/2006/relationships/oleObject" Target="../embeddings/oleObject452.bin"/><Relationship Id="rId12" Type="http://schemas.openxmlformats.org/officeDocument/2006/relationships/image" Target="../media/image533.wmf"/><Relationship Id="rId17" Type="http://schemas.openxmlformats.org/officeDocument/2006/relationships/oleObject" Target="../embeddings/oleObject457.bin"/><Relationship Id="rId2" Type="http://schemas.openxmlformats.org/officeDocument/2006/relationships/slideLayout" Target="../slideLayouts/slideLayout7.xml"/><Relationship Id="rId16" Type="http://schemas.openxmlformats.org/officeDocument/2006/relationships/image" Target="../media/image535.wmf"/><Relationship Id="rId20" Type="http://schemas.openxmlformats.org/officeDocument/2006/relationships/image" Target="../media/image537.wmf"/><Relationship Id="rId1" Type="http://schemas.openxmlformats.org/officeDocument/2006/relationships/vmlDrawing" Target="../drawings/vmlDrawing83.vml"/><Relationship Id="rId6" Type="http://schemas.openxmlformats.org/officeDocument/2006/relationships/image" Target="../media/image530.wmf"/><Relationship Id="rId11" Type="http://schemas.openxmlformats.org/officeDocument/2006/relationships/oleObject" Target="../embeddings/oleObject454.bin"/><Relationship Id="rId5" Type="http://schemas.openxmlformats.org/officeDocument/2006/relationships/oleObject" Target="../embeddings/oleObject451.bin"/><Relationship Id="rId15" Type="http://schemas.openxmlformats.org/officeDocument/2006/relationships/oleObject" Target="../embeddings/oleObject456.bin"/><Relationship Id="rId10" Type="http://schemas.openxmlformats.org/officeDocument/2006/relationships/image" Target="../media/image532.wmf"/><Relationship Id="rId19" Type="http://schemas.openxmlformats.org/officeDocument/2006/relationships/oleObject" Target="../embeddings/oleObject458.bin"/><Relationship Id="rId4" Type="http://schemas.openxmlformats.org/officeDocument/2006/relationships/image" Target="../media/image529.wmf"/><Relationship Id="rId9" Type="http://schemas.openxmlformats.org/officeDocument/2006/relationships/oleObject" Target="../embeddings/oleObject453.bin"/><Relationship Id="rId14" Type="http://schemas.openxmlformats.org/officeDocument/2006/relationships/image" Target="../media/image534.wmf"/><Relationship Id="rId22" Type="http://schemas.openxmlformats.org/officeDocument/2006/relationships/image" Target="../media/image538.wmf"/></Relationships>
</file>

<file path=ppt/slides/_rels/slide119.xml.rels><?xml version="1.0" encoding="UTF-8" standalone="yes"?>
<Relationships xmlns="http://schemas.openxmlformats.org/package/2006/relationships"><Relationship Id="rId13" Type="http://schemas.openxmlformats.org/officeDocument/2006/relationships/image" Target="../media/image543.emf"/><Relationship Id="rId18" Type="http://schemas.openxmlformats.org/officeDocument/2006/relationships/oleObject" Target="../embeddings/oleObject467.bin"/><Relationship Id="rId26" Type="http://schemas.openxmlformats.org/officeDocument/2006/relationships/image" Target="../media/image549.wmf"/><Relationship Id="rId39" Type="http://schemas.openxmlformats.org/officeDocument/2006/relationships/oleObject" Target="../embeddings/oleObject477.bin"/><Relationship Id="rId21" Type="http://schemas.openxmlformats.org/officeDocument/2006/relationships/image" Target="../media/image547.emf"/><Relationship Id="rId34" Type="http://schemas.openxmlformats.org/officeDocument/2006/relationships/image" Target="../media/image553.wmf"/><Relationship Id="rId7" Type="http://schemas.openxmlformats.org/officeDocument/2006/relationships/image" Target="../media/image540.emf"/><Relationship Id="rId12" Type="http://schemas.openxmlformats.org/officeDocument/2006/relationships/oleObject" Target="../embeddings/oleObject464.bin"/><Relationship Id="rId17" Type="http://schemas.openxmlformats.org/officeDocument/2006/relationships/image" Target="../media/image545.wmf"/><Relationship Id="rId25" Type="http://schemas.openxmlformats.org/officeDocument/2006/relationships/oleObject" Target="../embeddings/oleObject470.bin"/><Relationship Id="rId33" Type="http://schemas.openxmlformats.org/officeDocument/2006/relationships/oleObject" Target="../embeddings/oleObject474.bin"/><Relationship Id="rId38" Type="http://schemas.openxmlformats.org/officeDocument/2006/relationships/image" Target="../media/image555.wmf"/><Relationship Id="rId2" Type="http://schemas.openxmlformats.org/officeDocument/2006/relationships/slideLayout" Target="../slideLayouts/slideLayout7.xml"/><Relationship Id="rId16" Type="http://schemas.openxmlformats.org/officeDocument/2006/relationships/oleObject" Target="../embeddings/oleObject466.bin"/><Relationship Id="rId20" Type="http://schemas.openxmlformats.org/officeDocument/2006/relationships/oleObject" Target="../embeddings/oleObject468.bin"/><Relationship Id="rId29" Type="http://schemas.openxmlformats.org/officeDocument/2006/relationships/oleObject" Target="../embeddings/oleObject472.bin"/><Relationship Id="rId1" Type="http://schemas.openxmlformats.org/officeDocument/2006/relationships/vmlDrawing" Target="../drawings/vmlDrawing84.vml"/><Relationship Id="rId6" Type="http://schemas.openxmlformats.org/officeDocument/2006/relationships/oleObject" Target="../embeddings/oleObject461.bin"/><Relationship Id="rId11" Type="http://schemas.openxmlformats.org/officeDocument/2006/relationships/image" Target="../media/image542.wmf"/><Relationship Id="rId24" Type="http://schemas.openxmlformats.org/officeDocument/2006/relationships/image" Target="../media/image548.wmf"/><Relationship Id="rId32" Type="http://schemas.openxmlformats.org/officeDocument/2006/relationships/image" Target="../media/image552.wmf"/><Relationship Id="rId37" Type="http://schemas.openxmlformats.org/officeDocument/2006/relationships/oleObject" Target="../embeddings/oleObject476.bin"/><Relationship Id="rId40" Type="http://schemas.openxmlformats.org/officeDocument/2006/relationships/image" Target="../media/image556.wmf"/><Relationship Id="rId5" Type="http://schemas.openxmlformats.org/officeDocument/2006/relationships/image" Target="../media/image539.wmf"/><Relationship Id="rId15" Type="http://schemas.openxmlformats.org/officeDocument/2006/relationships/image" Target="../media/image544.wmf"/><Relationship Id="rId23" Type="http://schemas.openxmlformats.org/officeDocument/2006/relationships/oleObject" Target="../embeddings/oleObject469.bin"/><Relationship Id="rId28" Type="http://schemas.openxmlformats.org/officeDocument/2006/relationships/image" Target="../media/image550.wmf"/><Relationship Id="rId36" Type="http://schemas.openxmlformats.org/officeDocument/2006/relationships/image" Target="../media/image554.wmf"/><Relationship Id="rId10" Type="http://schemas.openxmlformats.org/officeDocument/2006/relationships/oleObject" Target="../embeddings/oleObject463.bin"/><Relationship Id="rId19" Type="http://schemas.openxmlformats.org/officeDocument/2006/relationships/image" Target="../media/image546.wmf"/><Relationship Id="rId31" Type="http://schemas.openxmlformats.org/officeDocument/2006/relationships/oleObject" Target="../embeddings/oleObject473.bin"/><Relationship Id="rId4" Type="http://schemas.openxmlformats.org/officeDocument/2006/relationships/oleObject" Target="../embeddings/oleObject460.bin"/><Relationship Id="rId9" Type="http://schemas.openxmlformats.org/officeDocument/2006/relationships/image" Target="../media/image541.emf"/><Relationship Id="rId14" Type="http://schemas.openxmlformats.org/officeDocument/2006/relationships/oleObject" Target="../embeddings/oleObject465.bin"/><Relationship Id="rId22" Type="http://schemas.openxmlformats.org/officeDocument/2006/relationships/image" Target="../media/image557.png"/><Relationship Id="rId27" Type="http://schemas.openxmlformats.org/officeDocument/2006/relationships/oleObject" Target="../embeddings/oleObject471.bin"/><Relationship Id="rId30" Type="http://schemas.openxmlformats.org/officeDocument/2006/relationships/image" Target="../media/image551.wmf"/><Relationship Id="rId35" Type="http://schemas.openxmlformats.org/officeDocument/2006/relationships/oleObject" Target="../embeddings/oleObject475.bin"/><Relationship Id="rId8" Type="http://schemas.openxmlformats.org/officeDocument/2006/relationships/oleObject" Target="../embeddings/oleObject462.bin"/><Relationship Id="rId3" Type="http://schemas.openxmlformats.org/officeDocument/2006/relationships/notesSlide" Target="../notesSlides/notesSlide2.xml"/></Relationships>
</file>

<file path=ppt/slides/_rels/slide120.xml.rels><?xml version="1.0" encoding="UTF-8" standalone="yes"?>
<Relationships xmlns="http://schemas.openxmlformats.org/package/2006/relationships"><Relationship Id="rId3" Type="http://schemas.openxmlformats.org/officeDocument/2006/relationships/oleObject" Target="../embeddings/oleObject478.bin"/><Relationship Id="rId2" Type="http://schemas.openxmlformats.org/officeDocument/2006/relationships/slideLayout" Target="../slideLayouts/slideLayout7.xml"/><Relationship Id="rId1" Type="http://schemas.openxmlformats.org/officeDocument/2006/relationships/vmlDrawing" Target="../drawings/vmlDrawing85.vml"/><Relationship Id="rId6" Type="http://schemas.openxmlformats.org/officeDocument/2006/relationships/image" Target="../media/image559.png"/><Relationship Id="rId5" Type="http://schemas.openxmlformats.org/officeDocument/2006/relationships/oleObject" Target="../embeddings/oleObject479.bin"/><Relationship Id="rId4" Type="http://schemas.openxmlformats.org/officeDocument/2006/relationships/image" Target="../media/image558.wmf"/></Relationships>
</file>

<file path=ppt/slides/_rels/slide121.xml.rels><?xml version="1.0" encoding="UTF-8" standalone="yes"?>
<Relationships xmlns="http://schemas.openxmlformats.org/package/2006/relationships"><Relationship Id="rId8" Type="http://schemas.openxmlformats.org/officeDocument/2006/relationships/image" Target="../media/image562.wmf"/><Relationship Id="rId13" Type="http://schemas.openxmlformats.org/officeDocument/2006/relationships/oleObject" Target="../embeddings/oleObject485.bin"/><Relationship Id="rId3" Type="http://schemas.openxmlformats.org/officeDocument/2006/relationships/oleObject" Target="../embeddings/oleObject480.bin"/><Relationship Id="rId7" Type="http://schemas.openxmlformats.org/officeDocument/2006/relationships/oleObject" Target="../embeddings/oleObject482.bin"/><Relationship Id="rId12" Type="http://schemas.openxmlformats.org/officeDocument/2006/relationships/image" Target="../media/image564.wmf"/><Relationship Id="rId17" Type="http://schemas.openxmlformats.org/officeDocument/2006/relationships/image" Target="../media/image567.png"/><Relationship Id="rId2" Type="http://schemas.openxmlformats.org/officeDocument/2006/relationships/slideLayout" Target="../slideLayouts/slideLayout7.xml"/><Relationship Id="rId16" Type="http://schemas.openxmlformats.org/officeDocument/2006/relationships/image" Target="../media/image566.wmf"/><Relationship Id="rId1" Type="http://schemas.openxmlformats.org/officeDocument/2006/relationships/vmlDrawing" Target="../drawings/vmlDrawing86.vml"/><Relationship Id="rId6" Type="http://schemas.openxmlformats.org/officeDocument/2006/relationships/image" Target="../media/image561.wmf"/><Relationship Id="rId11" Type="http://schemas.openxmlformats.org/officeDocument/2006/relationships/oleObject" Target="../embeddings/oleObject484.bin"/><Relationship Id="rId5" Type="http://schemas.openxmlformats.org/officeDocument/2006/relationships/oleObject" Target="../embeddings/oleObject481.bin"/><Relationship Id="rId15" Type="http://schemas.openxmlformats.org/officeDocument/2006/relationships/oleObject" Target="../embeddings/oleObject486.bin"/><Relationship Id="rId10" Type="http://schemas.openxmlformats.org/officeDocument/2006/relationships/image" Target="../media/image563.wmf"/><Relationship Id="rId4" Type="http://schemas.openxmlformats.org/officeDocument/2006/relationships/image" Target="../media/image560.wmf"/><Relationship Id="rId9" Type="http://schemas.openxmlformats.org/officeDocument/2006/relationships/oleObject" Target="../embeddings/oleObject483.bin"/><Relationship Id="rId14" Type="http://schemas.openxmlformats.org/officeDocument/2006/relationships/image" Target="../media/image565.wmf"/></Relationships>
</file>

<file path=ppt/slides/_rels/slide122.xml.rels><?xml version="1.0" encoding="UTF-8" standalone="yes"?>
<Relationships xmlns="http://schemas.openxmlformats.org/package/2006/relationships"><Relationship Id="rId8" Type="http://schemas.openxmlformats.org/officeDocument/2006/relationships/image" Target="../media/image570.wmf"/><Relationship Id="rId13" Type="http://schemas.openxmlformats.org/officeDocument/2006/relationships/oleObject" Target="../embeddings/oleObject492.bin"/><Relationship Id="rId3" Type="http://schemas.openxmlformats.org/officeDocument/2006/relationships/oleObject" Target="../embeddings/oleObject487.bin"/><Relationship Id="rId7" Type="http://schemas.openxmlformats.org/officeDocument/2006/relationships/oleObject" Target="../embeddings/oleObject489.bin"/><Relationship Id="rId12" Type="http://schemas.openxmlformats.org/officeDocument/2006/relationships/image" Target="../media/image572.wmf"/><Relationship Id="rId2" Type="http://schemas.openxmlformats.org/officeDocument/2006/relationships/slideLayout" Target="../slideLayouts/slideLayout7.xml"/><Relationship Id="rId1" Type="http://schemas.openxmlformats.org/officeDocument/2006/relationships/vmlDrawing" Target="../drawings/vmlDrawing87.vml"/><Relationship Id="rId6" Type="http://schemas.openxmlformats.org/officeDocument/2006/relationships/image" Target="../media/image569.wmf"/><Relationship Id="rId11" Type="http://schemas.openxmlformats.org/officeDocument/2006/relationships/oleObject" Target="../embeddings/oleObject491.bin"/><Relationship Id="rId5" Type="http://schemas.openxmlformats.org/officeDocument/2006/relationships/oleObject" Target="../embeddings/oleObject488.bin"/><Relationship Id="rId10" Type="http://schemas.openxmlformats.org/officeDocument/2006/relationships/image" Target="../media/image571.wmf"/><Relationship Id="rId4" Type="http://schemas.openxmlformats.org/officeDocument/2006/relationships/image" Target="../media/image568.wmf"/><Relationship Id="rId9" Type="http://schemas.openxmlformats.org/officeDocument/2006/relationships/oleObject" Target="../embeddings/oleObject490.bin"/><Relationship Id="rId14" Type="http://schemas.openxmlformats.org/officeDocument/2006/relationships/image" Target="../media/image573.wmf"/></Relationships>
</file>

<file path=ppt/slides/_rels/slide123.xml.rels><?xml version="1.0" encoding="UTF-8" standalone="yes"?>
<Relationships xmlns="http://schemas.openxmlformats.org/package/2006/relationships"><Relationship Id="rId8" Type="http://schemas.openxmlformats.org/officeDocument/2006/relationships/image" Target="../media/image576.wmf"/><Relationship Id="rId3" Type="http://schemas.openxmlformats.org/officeDocument/2006/relationships/oleObject" Target="../embeddings/oleObject493.bin"/><Relationship Id="rId7" Type="http://schemas.openxmlformats.org/officeDocument/2006/relationships/oleObject" Target="../embeddings/oleObject495.bin"/><Relationship Id="rId2" Type="http://schemas.openxmlformats.org/officeDocument/2006/relationships/slideLayout" Target="../slideLayouts/slideLayout7.xml"/><Relationship Id="rId1" Type="http://schemas.openxmlformats.org/officeDocument/2006/relationships/vmlDrawing" Target="../drawings/vmlDrawing88.vml"/><Relationship Id="rId6" Type="http://schemas.openxmlformats.org/officeDocument/2006/relationships/image" Target="../media/image575.wmf"/><Relationship Id="rId5" Type="http://schemas.openxmlformats.org/officeDocument/2006/relationships/oleObject" Target="../embeddings/oleObject494.bin"/><Relationship Id="rId4" Type="http://schemas.openxmlformats.org/officeDocument/2006/relationships/image" Target="../media/image574.wmf"/><Relationship Id="rId9" Type="http://schemas.openxmlformats.org/officeDocument/2006/relationships/image" Target="../media/image577.png"/></Relationships>
</file>

<file path=ppt/slides/_rels/slide124.xml.rels><?xml version="1.0" encoding="UTF-8" standalone="yes"?>
<Relationships xmlns="http://schemas.openxmlformats.org/package/2006/relationships"><Relationship Id="rId8" Type="http://schemas.openxmlformats.org/officeDocument/2006/relationships/oleObject" Target="../embeddings/oleObject498.bin"/><Relationship Id="rId3" Type="http://schemas.openxmlformats.org/officeDocument/2006/relationships/image" Target="../media/image582.png"/><Relationship Id="rId7" Type="http://schemas.openxmlformats.org/officeDocument/2006/relationships/image" Target="../media/image579.emf"/><Relationship Id="rId2" Type="http://schemas.openxmlformats.org/officeDocument/2006/relationships/slideLayout" Target="../slideLayouts/slideLayout7.xml"/><Relationship Id="rId1" Type="http://schemas.openxmlformats.org/officeDocument/2006/relationships/vmlDrawing" Target="../drawings/vmlDrawing89.vml"/><Relationship Id="rId6" Type="http://schemas.openxmlformats.org/officeDocument/2006/relationships/oleObject" Target="../embeddings/oleObject497.bin"/><Relationship Id="rId11" Type="http://schemas.openxmlformats.org/officeDocument/2006/relationships/image" Target="../media/image581.emf"/><Relationship Id="rId5" Type="http://schemas.openxmlformats.org/officeDocument/2006/relationships/image" Target="../media/image578.emf"/><Relationship Id="rId10" Type="http://schemas.openxmlformats.org/officeDocument/2006/relationships/oleObject" Target="../embeddings/oleObject499.bin"/><Relationship Id="rId4" Type="http://schemas.openxmlformats.org/officeDocument/2006/relationships/oleObject" Target="../embeddings/oleObject496.bin"/><Relationship Id="rId9" Type="http://schemas.openxmlformats.org/officeDocument/2006/relationships/image" Target="../media/image580.emf"/></Relationships>
</file>

<file path=ppt/slides/_rels/slide125.xml.rels><?xml version="1.0" encoding="UTF-8" standalone="yes"?>
<Relationships xmlns="http://schemas.openxmlformats.org/package/2006/relationships"><Relationship Id="rId8" Type="http://schemas.openxmlformats.org/officeDocument/2006/relationships/image" Target="../media/image585.emf"/><Relationship Id="rId13" Type="http://schemas.openxmlformats.org/officeDocument/2006/relationships/oleObject" Target="../embeddings/oleObject505.bin"/><Relationship Id="rId3" Type="http://schemas.openxmlformats.org/officeDocument/2006/relationships/oleObject" Target="../embeddings/oleObject500.bin"/><Relationship Id="rId7" Type="http://schemas.openxmlformats.org/officeDocument/2006/relationships/oleObject" Target="../embeddings/oleObject502.bin"/><Relationship Id="rId12" Type="http://schemas.openxmlformats.org/officeDocument/2006/relationships/image" Target="../media/image587.wmf"/><Relationship Id="rId2" Type="http://schemas.openxmlformats.org/officeDocument/2006/relationships/slideLayout" Target="../slideLayouts/slideLayout7.xml"/><Relationship Id="rId16" Type="http://schemas.openxmlformats.org/officeDocument/2006/relationships/image" Target="../media/image589.wmf"/><Relationship Id="rId1" Type="http://schemas.openxmlformats.org/officeDocument/2006/relationships/vmlDrawing" Target="../drawings/vmlDrawing90.vml"/><Relationship Id="rId6" Type="http://schemas.openxmlformats.org/officeDocument/2006/relationships/image" Target="../media/image584.emf"/><Relationship Id="rId11" Type="http://schemas.openxmlformats.org/officeDocument/2006/relationships/oleObject" Target="../embeddings/oleObject504.bin"/><Relationship Id="rId5" Type="http://schemas.openxmlformats.org/officeDocument/2006/relationships/oleObject" Target="../embeddings/oleObject501.bin"/><Relationship Id="rId15" Type="http://schemas.openxmlformats.org/officeDocument/2006/relationships/oleObject" Target="../embeddings/oleObject506.bin"/><Relationship Id="rId10" Type="http://schemas.openxmlformats.org/officeDocument/2006/relationships/image" Target="../media/image586.emf"/><Relationship Id="rId4" Type="http://schemas.openxmlformats.org/officeDocument/2006/relationships/image" Target="../media/image583.emf"/><Relationship Id="rId9" Type="http://schemas.openxmlformats.org/officeDocument/2006/relationships/oleObject" Target="../embeddings/oleObject503.bin"/><Relationship Id="rId14" Type="http://schemas.openxmlformats.org/officeDocument/2006/relationships/image" Target="../media/image588.wmf"/></Relationships>
</file>

<file path=ppt/slides/_rels/slide126.xml.rels><?xml version="1.0" encoding="UTF-8" standalone="yes"?>
<Relationships xmlns="http://schemas.openxmlformats.org/package/2006/relationships"><Relationship Id="rId3" Type="http://schemas.openxmlformats.org/officeDocument/2006/relationships/oleObject" Target="../embeddings/oleObject507.bin"/><Relationship Id="rId7" Type="http://schemas.openxmlformats.org/officeDocument/2006/relationships/image" Target="../media/image592.png"/><Relationship Id="rId2" Type="http://schemas.openxmlformats.org/officeDocument/2006/relationships/slideLayout" Target="../slideLayouts/slideLayout7.xml"/><Relationship Id="rId1" Type="http://schemas.openxmlformats.org/officeDocument/2006/relationships/vmlDrawing" Target="../drawings/vmlDrawing91.vml"/><Relationship Id="rId6" Type="http://schemas.openxmlformats.org/officeDocument/2006/relationships/image" Target="../media/image591.emf"/><Relationship Id="rId5" Type="http://schemas.openxmlformats.org/officeDocument/2006/relationships/oleObject" Target="../embeddings/oleObject508.bin"/><Relationship Id="rId4" Type="http://schemas.openxmlformats.org/officeDocument/2006/relationships/image" Target="../media/image590.wmf"/></Relationships>
</file>

<file path=ppt/slides/_rels/slide127.xml.rels><?xml version="1.0" encoding="UTF-8" standalone="yes"?>
<Relationships xmlns="http://schemas.openxmlformats.org/package/2006/relationships"><Relationship Id="rId8" Type="http://schemas.openxmlformats.org/officeDocument/2006/relationships/image" Target="../media/image594.wmf"/><Relationship Id="rId13" Type="http://schemas.openxmlformats.org/officeDocument/2006/relationships/oleObject" Target="../embeddings/oleObject514.bin"/><Relationship Id="rId18" Type="http://schemas.openxmlformats.org/officeDocument/2006/relationships/image" Target="../media/image599.wmf"/><Relationship Id="rId3" Type="http://schemas.openxmlformats.org/officeDocument/2006/relationships/oleObject" Target="../embeddings/oleObject509.bin"/><Relationship Id="rId7" Type="http://schemas.openxmlformats.org/officeDocument/2006/relationships/oleObject" Target="../embeddings/oleObject511.bin"/><Relationship Id="rId12" Type="http://schemas.openxmlformats.org/officeDocument/2006/relationships/image" Target="../media/image596.wmf"/><Relationship Id="rId17" Type="http://schemas.openxmlformats.org/officeDocument/2006/relationships/oleObject" Target="../embeddings/oleObject516.bin"/><Relationship Id="rId2" Type="http://schemas.openxmlformats.org/officeDocument/2006/relationships/slideLayout" Target="../slideLayouts/slideLayout7.xml"/><Relationship Id="rId16" Type="http://schemas.openxmlformats.org/officeDocument/2006/relationships/image" Target="../media/image598.wmf"/><Relationship Id="rId20" Type="http://schemas.openxmlformats.org/officeDocument/2006/relationships/image" Target="../media/image600.emf"/><Relationship Id="rId1" Type="http://schemas.openxmlformats.org/officeDocument/2006/relationships/vmlDrawing" Target="../drawings/vmlDrawing92.vml"/><Relationship Id="rId6" Type="http://schemas.openxmlformats.org/officeDocument/2006/relationships/image" Target="../media/image593.wmf"/><Relationship Id="rId11" Type="http://schemas.openxmlformats.org/officeDocument/2006/relationships/oleObject" Target="../embeddings/oleObject513.bin"/><Relationship Id="rId5" Type="http://schemas.openxmlformats.org/officeDocument/2006/relationships/oleObject" Target="../embeddings/oleObject510.bin"/><Relationship Id="rId15" Type="http://schemas.openxmlformats.org/officeDocument/2006/relationships/oleObject" Target="../embeddings/oleObject515.bin"/><Relationship Id="rId10" Type="http://schemas.openxmlformats.org/officeDocument/2006/relationships/image" Target="../media/image595.wmf"/><Relationship Id="rId19" Type="http://schemas.openxmlformats.org/officeDocument/2006/relationships/oleObject" Target="../embeddings/oleObject517.bin"/><Relationship Id="rId4" Type="http://schemas.openxmlformats.org/officeDocument/2006/relationships/image" Target="../media/image590.wmf"/><Relationship Id="rId9" Type="http://schemas.openxmlformats.org/officeDocument/2006/relationships/oleObject" Target="../embeddings/oleObject512.bin"/><Relationship Id="rId14" Type="http://schemas.openxmlformats.org/officeDocument/2006/relationships/image" Target="../media/image597.wmf"/></Relationships>
</file>

<file path=ppt/slides/_rels/slide128.xml.rels><?xml version="1.0" encoding="UTF-8" standalone="yes"?>
<Relationships xmlns="http://schemas.openxmlformats.org/package/2006/relationships"><Relationship Id="rId3" Type="http://schemas.openxmlformats.org/officeDocument/2006/relationships/oleObject" Target="../embeddings/oleObject518.bin"/><Relationship Id="rId7" Type="http://schemas.openxmlformats.org/officeDocument/2006/relationships/image" Target="../media/image603.png"/><Relationship Id="rId2" Type="http://schemas.openxmlformats.org/officeDocument/2006/relationships/slideLayout" Target="../slideLayouts/slideLayout7.xml"/><Relationship Id="rId1" Type="http://schemas.openxmlformats.org/officeDocument/2006/relationships/vmlDrawing" Target="../drawings/vmlDrawing93.vml"/><Relationship Id="rId6" Type="http://schemas.openxmlformats.org/officeDocument/2006/relationships/image" Target="../media/image602.emf"/><Relationship Id="rId5" Type="http://schemas.openxmlformats.org/officeDocument/2006/relationships/oleObject" Target="../embeddings/oleObject519.bin"/><Relationship Id="rId4" Type="http://schemas.openxmlformats.org/officeDocument/2006/relationships/image" Target="../media/image601.emf"/></Relationships>
</file>

<file path=ppt/slides/_rels/slide129.xml.rels><?xml version="1.0" encoding="UTF-8" standalone="yes"?>
<Relationships xmlns="http://schemas.openxmlformats.org/package/2006/relationships"><Relationship Id="rId3" Type="http://schemas.openxmlformats.org/officeDocument/2006/relationships/oleObject" Target="../embeddings/oleObject520.bin"/><Relationship Id="rId2" Type="http://schemas.openxmlformats.org/officeDocument/2006/relationships/slideLayout" Target="../slideLayouts/slideLayout7.xml"/><Relationship Id="rId1" Type="http://schemas.openxmlformats.org/officeDocument/2006/relationships/vmlDrawing" Target="../drawings/vmlDrawing94.vml"/><Relationship Id="rId4" Type="http://schemas.openxmlformats.org/officeDocument/2006/relationships/image" Target="../media/image604.wmf"/></Relationships>
</file>

<file path=ppt/slides/_rels/slide130.xml.rels><?xml version="1.0" encoding="UTF-8" standalone="yes"?>
<Relationships xmlns="http://schemas.openxmlformats.org/package/2006/relationships"><Relationship Id="rId8" Type="http://schemas.openxmlformats.org/officeDocument/2006/relationships/image" Target="../media/image607.emf"/><Relationship Id="rId3" Type="http://schemas.openxmlformats.org/officeDocument/2006/relationships/oleObject" Target="../embeddings/oleObject521.bin"/><Relationship Id="rId7" Type="http://schemas.openxmlformats.org/officeDocument/2006/relationships/oleObject" Target="../embeddings/oleObject523.bin"/><Relationship Id="rId2" Type="http://schemas.openxmlformats.org/officeDocument/2006/relationships/slideLayout" Target="../slideLayouts/slideLayout7.xml"/><Relationship Id="rId1" Type="http://schemas.openxmlformats.org/officeDocument/2006/relationships/vmlDrawing" Target="../drawings/vmlDrawing95.vml"/><Relationship Id="rId6" Type="http://schemas.openxmlformats.org/officeDocument/2006/relationships/image" Target="../media/image606.emf"/><Relationship Id="rId5" Type="http://schemas.openxmlformats.org/officeDocument/2006/relationships/oleObject" Target="../embeddings/oleObject522.bin"/><Relationship Id="rId10" Type="http://schemas.openxmlformats.org/officeDocument/2006/relationships/image" Target="../media/image608.emf"/><Relationship Id="rId4" Type="http://schemas.openxmlformats.org/officeDocument/2006/relationships/image" Target="../media/image605.wmf"/><Relationship Id="rId9" Type="http://schemas.openxmlformats.org/officeDocument/2006/relationships/oleObject" Target="../embeddings/oleObject524.bin"/></Relationships>
</file>

<file path=ppt/slides/_rels/slide131.xml.rels><?xml version="1.0" encoding="UTF-8" standalone="yes"?>
<Relationships xmlns="http://schemas.openxmlformats.org/package/2006/relationships"><Relationship Id="rId8" Type="http://schemas.openxmlformats.org/officeDocument/2006/relationships/image" Target="../media/image611.wmf"/><Relationship Id="rId3" Type="http://schemas.openxmlformats.org/officeDocument/2006/relationships/oleObject" Target="../embeddings/oleObject525.bin"/><Relationship Id="rId7" Type="http://schemas.openxmlformats.org/officeDocument/2006/relationships/oleObject" Target="../embeddings/oleObject527.bin"/><Relationship Id="rId2" Type="http://schemas.openxmlformats.org/officeDocument/2006/relationships/slideLayout" Target="../slideLayouts/slideLayout7.xml"/><Relationship Id="rId1" Type="http://schemas.openxmlformats.org/officeDocument/2006/relationships/vmlDrawing" Target="../drawings/vmlDrawing96.vml"/><Relationship Id="rId6" Type="http://schemas.openxmlformats.org/officeDocument/2006/relationships/image" Target="../media/image610.wmf"/><Relationship Id="rId5" Type="http://schemas.openxmlformats.org/officeDocument/2006/relationships/oleObject" Target="../embeddings/oleObject526.bin"/><Relationship Id="rId10" Type="http://schemas.openxmlformats.org/officeDocument/2006/relationships/image" Target="../media/image612.wmf"/><Relationship Id="rId4" Type="http://schemas.openxmlformats.org/officeDocument/2006/relationships/image" Target="../media/image609.wmf"/><Relationship Id="rId9" Type="http://schemas.openxmlformats.org/officeDocument/2006/relationships/oleObject" Target="../embeddings/oleObject528.bin"/></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3" Type="http://schemas.openxmlformats.org/officeDocument/2006/relationships/oleObject" Target="../embeddings/oleObject529.bin"/><Relationship Id="rId2" Type="http://schemas.openxmlformats.org/officeDocument/2006/relationships/slideLayout" Target="../slideLayouts/slideLayout7.xml"/><Relationship Id="rId1" Type="http://schemas.openxmlformats.org/officeDocument/2006/relationships/vmlDrawing" Target="../drawings/vmlDrawing97.vml"/><Relationship Id="rId4" Type="http://schemas.openxmlformats.org/officeDocument/2006/relationships/image" Target="../media/image613.emf"/></Relationships>
</file>

<file path=ppt/slides/_rels/slide134.xml.rels><?xml version="1.0" encoding="UTF-8" standalone="yes"?>
<Relationships xmlns="http://schemas.openxmlformats.org/package/2006/relationships"><Relationship Id="rId3" Type="http://schemas.openxmlformats.org/officeDocument/2006/relationships/oleObject" Target="../embeddings/oleObject530.bin"/><Relationship Id="rId2" Type="http://schemas.openxmlformats.org/officeDocument/2006/relationships/slideLayout" Target="../slideLayouts/slideLayout7.xml"/><Relationship Id="rId1" Type="http://schemas.openxmlformats.org/officeDocument/2006/relationships/vmlDrawing" Target="../drawings/vmlDrawing98.vml"/><Relationship Id="rId4" Type="http://schemas.openxmlformats.org/officeDocument/2006/relationships/image" Target="../media/image614.emf"/></Relationships>
</file>

<file path=ppt/slides/_rels/slide135.xml.rels><?xml version="1.0" encoding="UTF-8" standalone="yes"?>
<Relationships xmlns="http://schemas.openxmlformats.org/package/2006/relationships"><Relationship Id="rId3" Type="http://schemas.openxmlformats.org/officeDocument/2006/relationships/oleObject" Target="../embeddings/oleObject531.bin"/><Relationship Id="rId2" Type="http://schemas.openxmlformats.org/officeDocument/2006/relationships/slideLayout" Target="../slideLayouts/slideLayout7.xml"/><Relationship Id="rId1" Type="http://schemas.openxmlformats.org/officeDocument/2006/relationships/vmlDrawing" Target="../drawings/vmlDrawing99.vml"/><Relationship Id="rId4" Type="http://schemas.openxmlformats.org/officeDocument/2006/relationships/image" Target="../media/image615.emf"/></Relationships>
</file>

<file path=ppt/slides/_rels/slide136.xml.rels><?xml version="1.0" encoding="UTF-8" standalone="yes"?>
<Relationships xmlns="http://schemas.openxmlformats.org/package/2006/relationships"><Relationship Id="rId3" Type="http://schemas.openxmlformats.org/officeDocument/2006/relationships/oleObject" Target="../embeddings/oleObject532.bin"/><Relationship Id="rId2" Type="http://schemas.openxmlformats.org/officeDocument/2006/relationships/slideLayout" Target="../slideLayouts/slideLayout7.xml"/><Relationship Id="rId1" Type="http://schemas.openxmlformats.org/officeDocument/2006/relationships/vmlDrawing" Target="../drawings/vmlDrawing100.vml"/><Relationship Id="rId4" Type="http://schemas.openxmlformats.org/officeDocument/2006/relationships/image" Target="../media/image616.emf"/></Relationships>
</file>

<file path=ppt/slides/_rels/slide137.xml.rels><?xml version="1.0" encoding="UTF-8" standalone="yes"?>
<Relationships xmlns="http://schemas.openxmlformats.org/package/2006/relationships"><Relationship Id="rId2" Type="http://schemas.openxmlformats.org/officeDocument/2006/relationships/image" Target="../media/image617.png"/><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2" Type="http://schemas.openxmlformats.org/officeDocument/2006/relationships/image" Target="../media/image618.png"/><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3" Type="http://schemas.openxmlformats.org/officeDocument/2006/relationships/oleObject" Target="../embeddings/oleObject533.bin"/><Relationship Id="rId2" Type="http://schemas.openxmlformats.org/officeDocument/2006/relationships/slideLayout" Target="../slideLayouts/slideLayout7.xml"/><Relationship Id="rId1" Type="http://schemas.openxmlformats.org/officeDocument/2006/relationships/vmlDrawing" Target="../drawings/vmlDrawing101.vml"/><Relationship Id="rId6" Type="http://schemas.openxmlformats.org/officeDocument/2006/relationships/image" Target="../media/image620.wmf"/><Relationship Id="rId5" Type="http://schemas.openxmlformats.org/officeDocument/2006/relationships/oleObject" Target="../embeddings/oleObject534.bin"/><Relationship Id="rId4" Type="http://schemas.openxmlformats.org/officeDocument/2006/relationships/image" Target="../media/image619.emf"/></Relationships>
</file>

<file path=ppt/slides/_rels/slide141.xml.rels><?xml version="1.0" encoding="UTF-8" standalone="yes"?>
<Relationships xmlns="http://schemas.openxmlformats.org/package/2006/relationships"><Relationship Id="rId3" Type="http://schemas.openxmlformats.org/officeDocument/2006/relationships/oleObject" Target="../embeddings/oleObject535.bin"/><Relationship Id="rId2" Type="http://schemas.openxmlformats.org/officeDocument/2006/relationships/slideLayout" Target="../slideLayouts/slideLayout7.xml"/><Relationship Id="rId1" Type="http://schemas.openxmlformats.org/officeDocument/2006/relationships/vmlDrawing" Target="../drawings/vmlDrawing102.vml"/><Relationship Id="rId6" Type="http://schemas.openxmlformats.org/officeDocument/2006/relationships/image" Target="../media/image622.wmf"/><Relationship Id="rId5" Type="http://schemas.openxmlformats.org/officeDocument/2006/relationships/oleObject" Target="../embeddings/oleObject536.bin"/><Relationship Id="rId4" Type="http://schemas.openxmlformats.org/officeDocument/2006/relationships/image" Target="../media/image621.emf"/></Relationships>
</file>

<file path=ppt/slides/_rels/slide142.xml.rels><?xml version="1.0" encoding="UTF-8" standalone="yes"?>
<Relationships xmlns="http://schemas.openxmlformats.org/package/2006/relationships"><Relationship Id="rId3" Type="http://schemas.openxmlformats.org/officeDocument/2006/relationships/oleObject" Target="../embeddings/oleObject537.bin"/><Relationship Id="rId2" Type="http://schemas.openxmlformats.org/officeDocument/2006/relationships/slideLayout" Target="../slideLayouts/slideLayout7.xml"/><Relationship Id="rId1" Type="http://schemas.openxmlformats.org/officeDocument/2006/relationships/vmlDrawing" Target="../drawings/vmlDrawing103.vml"/><Relationship Id="rId4" Type="http://schemas.openxmlformats.org/officeDocument/2006/relationships/image" Target="../media/image623.emf"/></Relationships>
</file>

<file path=ppt/slides/_rels/slide143.xml.rels><?xml version="1.0" encoding="UTF-8" standalone="yes"?>
<Relationships xmlns="http://schemas.openxmlformats.org/package/2006/relationships"><Relationship Id="rId8" Type="http://schemas.openxmlformats.org/officeDocument/2006/relationships/image" Target="../media/image626.wmf"/><Relationship Id="rId3" Type="http://schemas.openxmlformats.org/officeDocument/2006/relationships/oleObject" Target="../embeddings/oleObject538.bin"/><Relationship Id="rId7" Type="http://schemas.openxmlformats.org/officeDocument/2006/relationships/oleObject" Target="../embeddings/oleObject540.bin"/><Relationship Id="rId2" Type="http://schemas.openxmlformats.org/officeDocument/2006/relationships/slideLayout" Target="../slideLayouts/slideLayout7.xml"/><Relationship Id="rId1" Type="http://schemas.openxmlformats.org/officeDocument/2006/relationships/vmlDrawing" Target="../drawings/vmlDrawing104.vml"/><Relationship Id="rId6" Type="http://schemas.openxmlformats.org/officeDocument/2006/relationships/image" Target="../media/image625.wmf"/><Relationship Id="rId5" Type="http://schemas.openxmlformats.org/officeDocument/2006/relationships/oleObject" Target="../embeddings/oleObject539.bin"/><Relationship Id="rId10" Type="http://schemas.openxmlformats.org/officeDocument/2006/relationships/image" Target="../media/image627.emf"/><Relationship Id="rId4" Type="http://schemas.openxmlformats.org/officeDocument/2006/relationships/image" Target="../media/image624.emf"/><Relationship Id="rId9" Type="http://schemas.openxmlformats.org/officeDocument/2006/relationships/oleObject" Target="../embeddings/oleObject541.bin"/></Relationships>
</file>

<file path=ppt/slides/_rels/slide144.xml.rels><?xml version="1.0" encoding="UTF-8" standalone="yes"?>
<Relationships xmlns="http://schemas.openxmlformats.org/package/2006/relationships"><Relationship Id="rId3" Type="http://schemas.openxmlformats.org/officeDocument/2006/relationships/oleObject" Target="../embeddings/oleObject542.bin"/><Relationship Id="rId2" Type="http://schemas.openxmlformats.org/officeDocument/2006/relationships/slideLayout" Target="../slideLayouts/slideLayout7.xml"/><Relationship Id="rId1" Type="http://schemas.openxmlformats.org/officeDocument/2006/relationships/vmlDrawing" Target="../drawings/vmlDrawing105.vml"/><Relationship Id="rId6" Type="http://schemas.openxmlformats.org/officeDocument/2006/relationships/image" Target="../media/image629.emf"/><Relationship Id="rId5" Type="http://schemas.openxmlformats.org/officeDocument/2006/relationships/oleObject" Target="../embeddings/oleObject543.bin"/><Relationship Id="rId4" Type="http://schemas.openxmlformats.org/officeDocument/2006/relationships/image" Target="../media/image628.wmf"/></Relationships>
</file>

<file path=ppt/slides/_rels/slide145.xml.rels><?xml version="1.0" encoding="UTF-8" standalone="yes"?>
<Relationships xmlns="http://schemas.openxmlformats.org/package/2006/relationships"><Relationship Id="rId8" Type="http://schemas.openxmlformats.org/officeDocument/2006/relationships/image" Target="../media/image632.emf"/><Relationship Id="rId3" Type="http://schemas.openxmlformats.org/officeDocument/2006/relationships/oleObject" Target="../embeddings/oleObject544.bin"/><Relationship Id="rId7" Type="http://schemas.openxmlformats.org/officeDocument/2006/relationships/oleObject" Target="../embeddings/oleObject546.bin"/><Relationship Id="rId2" Type="http://schemas.openxmlformats.org/officeDocument/2006/relationships/slideLayout" Target="../slideLayouts/slideLayout7.xml"/><Relationship Id="rId1" Type="http://schemas.openxmlformats.org/officeDocument/2006/relationships/vmlDrawing" Target="../drawings/vmlDrawing106.vml"/><Relationship Id="rId6" Type="http://schemas.openxmlformats.org/officeDocument/2006/relationships/image" Target="../media/image631.wmf"/><Relationship Id="rId5" Type="http://schemas.openxmlformats.org/officeDocument/2006/relationships/oleObject" Target="../embeddings/oleObject545.bin"/><Relationship Id="rId4" Type="http://schemas.openxmlformats.org/officeDocument/2006/relationships/image" Target="../media/image630.wmf"/></Relationships>
</file>

<file path=ppt/slides/_rels/slide146.xml.rels><?xml version="1.0" encoding="UTF-8" standalone="yes"?>
<Relationships xmlns="http://schemas.openxmlformats.org/package/2006/relationships"><Relationship Id="rId8" Type="http://schemas.openxmlformats.org/officeDocument/2006/relationships/image" Target="../media/image633.wmf"/><Relationship Id="rId3" Type="http://schemas.openxmlformats.org/officeDocument/2006/relationships/oleObject" Target="../embeddings/oleObject547.bin"/><Relationship Id="rId7" Type="http://schemas.openxmlformats.org/officeDocument/2006/relationships/oleObject" Target="../embeddings/oleObject549.bin"/><Relationship Id="rId2" Type="http://schemas.openxmlformats.org/officeDocument/2006/relationships/slideLayout" Target="../slideLayouts/slideLayout7.xml"/><Relationship Id="rId1" Type="http://schemas.openxmlformats.org/officeDocument/2006/relationships/vmlDrawing" Target="../drawings/vmlDrawing107.vml"/><Relationship Id="rId6" Type="http://schemas.openxmlformats.org/officeDocument/2006/relationships/image" Target="../media/image625.wmf"/><Relationship Id="rId5" Type="http://schemas.openxmlformats.org/officeDocument/2006/relationships/oleObject" Target="../embeddings/oleObject548.bin"/><Relationship Id="rId4" Type="http://schemas.openxmlformats.org/officeDocument/2006/relationships/image" Target="../media/image626.wmf"/></Relationships>
</file>

<file path=ppt/slides/_rels/slide147.xml.rels><?xml version="1.0" encoding="UTF-8" standalone="yes"?>
<Relationships xmlns="http://schemas.openxmlformats.org/package/2006/relationships"><Relationship Id="rId8" Type="http://schemas.openxmlformats.org/officeDocument/2006/relationships/image" Target="../media/image636.wmf"/><Relationship Id="rId13" Type="http://schemas.openxmlformats.org/officeDocument/2006/relationships/oleObject" Target="../embeddings/oleObject555.bin"/><Relationship Id="rId3" Type="http://schemas.openxmlformats.org/officeDocument/2006/relationships/oleObject" Target="../embeddings/oleObject550.bin"/><Relationship Id="rId7" Type="http://schemas.openxmlformats.org/officeDocument/2006/relationships/oleObject" Target="../embeddings/oleObject552.bin"/><Relationship Id="rId12" Type="http://schemas.openxmlformats.org/officeDocument/2006/relationships/image" Target="../media/image638.wmf"/><Relationship Id="rId2" Type="http://schemas.openxmlformats.org/officeDocument/2006/relationships/slideLayout" Target="../slideLayouts/slideLayout7.xml"/><Relationship Id="rId16" Type="http://schemas.openxmlformats.org/officeDocument/2006/relationships/image" Target="../media/image640.emf"/><Relationship Id="rId1" Type="http://schemas.openxmlformats.org/officeDocument/2006/relationships/vmlDrawing" Target="../drawings/vmlDrawing108.vml"/><Relationship Id="rId6" Type="http://schemas.openxmlformats.org/officeDocument/2006/relationships/image" Target="../media/image635.wmf"/><Relationship Id="rId11" Type="http://schemas.openxmlformats.org/officeDocument/2006/relationships/oleObject" Target="../embeddings/oleObject554.bin"/><Relationship Id="rId5" Type="http://schemas.openxmlformats.org/officeDocument/2006/relationships/oleObject" Target="../embeddings/oleObject551.bin"/><Relationship Id="rId15" Type="http://schemas.openxmlformats.org/officeDocument/2006/relationships/oleObject" Target="../embeddings/oleObject556.bin"/><Relationship Id="rId10" Type="http://schemas.openxmlformats.org/officeDocument/2006/relationships/image" Target="../media/image637.wmf"/><Relationship Id="rId4" Type="http://schemas.openxmlformats.org/officeDocument/2006/relationships/image" Target="../media/image634.wmf"/><Relationship Id="rId9" Type="http://schemas.openxmlformats.org/officeDocument/2006/relationships/oleObject" Target="../embeddings/oleObject553.bin"/><Relationship Id="rId14" Type="http://schemas.openxmlformats.org/officeDocument/2006/relationships/image" Target="../media/image639.wmf"/></Relationships>
</file>

<file path=ppt/slides/_rels/slide148.xml.rels><?xml version="1.0" encoding="UTF-8" standalone="yes"?>
<Relationships xmlns="http://schemas.openxmlformats.org/package/2006/relationships"><Relationship Id="rId8" Type="http://schemas.openxmlformats.org/officeDocument/2006/relationships/image" Target="../media/image643.wmf"/><Relationship Id="rId13" Type="http://schemas.openxmlformats.org/officeDocument/2006/relationships/oleObject" Target="../embeddings/oleObject562.bin"/><Relationship Id="rId3" Type="http://schemas.openxmlformats.org/officeDocument/2006/relationships/oleObject" Target="../embeddings/oleObject557.bin"/><Relationship Id="rId7" Type="http://schemas.openxmlformats.org/officeDocument/2006/relationships/oleObject" Target="../embeddings/oleObject559.bin"/><Relationship Id="rId12" Type="http://schemas.openxmlformats.org/officeDocument/2006/relationships/image" Target="../media/image645.wmf"/><Relationship Id="rId2" Type="http://schemas.openxmlformats.org/officeDocument/2006/relationships/slideLayout" Target="../slideLayouts/slideLayout7.xml"/><Relationship Id="rId1" Type="http://schemas.openxmlformats.org/officeDocument/2006/relationships/vmlDrawing" Target="../drawings/vmlDrawing109.vml"/><Relationship Id="rId6" Type="http://schemas.openxmlformats.org/officeDocument/2006/relationships/image" Target="../media/image642.wmf"/><Relationship Id="rId11" Type="http://schemas.openxmlformats.org/officeDocument/2006/relationships/oleObject" Target="../embeddings/oleObject561.bin"/><Relationship Id="rId5" Type="http://schemas.openxmlformats.org/officeDocument/2006/relationships/oleObject" Target="../embeddings/oleObject558.bin"/><Relationship Id="rId10" Type="http://schemas.openxmlformats.org/officeDocument/2006/relationships/image" Target="../media/image644.emf"/><Relationship Id="rId4" Type="http://schemas.openxmlformats.org/officeDocument/2006/relationships/image" Target="../media/image641.wmf"/><Relationship Id="rId9" Type="http://schemas.openxmlformats.org/officeDocument/2006/relationships/oleObject" Target="../embeddings/oleObject560.bin"/></Relationships>
</file>

<file path=ppt/slides/_rels/slide149.xml.rels><?xml version="1.0" encoding="UTF-8" standalone="yes"?>
<Relationships xmlns="http://schemas.openxmlformats.org/package/2006/relationships"><Relationship Id="rId3" Type="http://schemas.openxmlformats.org/officeDocument/2006/relationships/oleObject" Target="../embeddings/oleObject563.bin"/><Relationship Id="rId2" Type="http://schemas.openxmlformats.org/officeDocument/2006/relationships/slideLayout" Target="../slideLayouts/slideLayout7.xml"/><Relationship Id="rId1" Type="http://schemas.openxmlformats.org/officeDocument/2006/relationships/vmlDrawing" Target="../drawings/vmlDrawing110.vml"/><Relationship Id="rId4" Type="http://schemas.openxmlformats.org/officeDocument/2006/relationships/image" Target="../media/image646.wmf"/></Relationships>
</file>

<file path=ppt/slides/_rels/slide150.xml.rels><?xml version="1.0" encoding="UTF-8" standalone="yes"?>
<Relationships xmlns="http://schemas.openxmlformats.org/package/2006/relationships"><Relationship Id="rId13" Type="http://schemas.openxmlformats.org/officeDocument/2006/relationships/oleObject" Target="../embeddings/oleObject569.bin"/><Relationship Id="rId18" Type="http://schemas.openxmlformats.org/officeDocument/2006/relationships/oleObject" Target="../embeddings/oleObject573.bin"/><Relationship Id="rId26" Type="http://schemas.openxmlformats.org/officeDocument/2006/relationships/oleObject" Target="../embeddings/oleObject577.bin"/><Relationship Id="rId3" Type="http://schemas.openxmlformats.org/officeDocument/2006/relationships/image" Target="../media/image661.png"/><Relationship Id="rId21" Type="http://schemas.openxmlformats.org/officeDocument/2006/relationships/image" Target="../media/image653.wmf"/><Relationship Id="rId34" Type="http://schemas.openxmlformats.org/officeDocument/2006/relationships/oleObject" Target="../embeddings/oleObject581.bin"/><Relationship Id="rId7" Type="http://schemas.openxmlformats.org/officeDocument/2006/relationships/image" Target="../media/image648.wmf"/><Relationship Id="rId12" Type="http://schemas.openxmlformats.org/officeDocument/2006/relationships/oleObject" Target="../embeddings/oleObject568.bin"/><Relationship Id="rId17" Type="http://schemas.openxmlformats.org/officeDocument/2006/relationships/image" Target="../media/image651.wmf"/><Relationship Id="rId25" Type="http://schemas.openxmlformats.org/officeDocument/2006/relationships/image" Target="../media/image655.wmf"/><Relationship Id="rId33" Type="http://schemas.openxmlformats.org/officeDocument/2006/relationships/image" Target="../media/image659.wmf"/><Relationship Id="rId2" Type="http://schemas.openxmlformats.org/officeDocument/2006/relationships/slideLayout" Target="../slideLayouts/slideLayout7.xml"/><Relationship Id="rId16" Type="http://schemas.openxmlformats.org/officeDocument/2006/relationships/oleObject" Target="../embeddings/oleObject572.bin"/><Relationship Id="rId20" Type="http://schemas.openxmlformats.org/officeDocument/2006/relationships/oleObject" Target="../embeddings/oleObject574.bin"/><Relationship Id="rId29" Type="http://schemas.openxmlformats.org/officeDocument/2006/relationships/image" Target="../media/image657.wmf"/><Relationship Id="rId1" Type="http://schemas.openxmlformats.org/officeDocument/2006/relationships/vmlDrawing" Target="../drawings/vmlDrawing111.vml"/><Relationship Id="rId6" Type="http://schemas.openxmlformats.org/officeDocument/2006/relationships/oleObject" Target="../embeddings/oleObject565.bin"/><Relationship Id="rId11" Type="http://schemas.openxmlformats.org/officeDocument/2006/relationships/image" Target="../media/image650.wmf"/><Relationship Id="rId24" Type="http://schemas.openxmlformats.org/officeDocument/2006/relationships/oleObject" Target="../embeddings/oleObject576.bin"/><Relationship Id="rId32" Type="http://schemas.openxmlformats.org/officeDocument/2006/relationships/oleObject" Target="../embeddings/oleObject580.bin"/><Relationship Id="rId5" Type="http://schemas.openxmlformats.org/officeDocument/2006/relationships/image" Target="../media/image647.wmf"/><Relationship Id="rId15" Type="http://schemas.openxmlformats.org/officeDocument/2006/relationships/oleObject" Target="../embeddings/oleObject571.bin"/><Relationship Id="rId23" Type="http://schemas.openxmlformats.org/officeDocument/2006/relationships/image" Target="../media/image654.wmf"/><Relationship Id="rId28" Type="http://schemas.openxmlformats.org/officeDocument/2006/relationships/oleObject" Target="../embeddings/oleObject578.bin"/><Relationship Id="rId10" Type="http://schemas.openxmlformats.org/officeDocument/2006/relationships/oleObject" Target="../embeddings/oleObject567.bin"/><Relationship Id="rId19" Type="http://schemas.openxmlformats.org/officeDocument/2006/relationships/image" Target="../media/image652.wmf"/><Relationship Id="rId31" Type="http://schemas.openxmlformats.org/officeDocument/2006/relationships/image" Target="../media/image658.wmf"/><Relationship Id="rId4" Type="http://schemas.openxmlformats.org/officeDocument/2006/relationships/oleObject" Target="../embeddings/oleObject564.bin"/><Relationship Id="rId9" Type="http://schemas.openxmlformats.org/officeDocument/2006/relationships/image" Target="../media/image649.wmf"/><Relationship Id="rId14" Type="http://schemas.openxmlformats.org/officeDocument/2006/relationships/oleObject" Target="../embeddings/oleObject570.bin"/><Relationship Id="rId22" Type="http://schemas.openxmlformats.org/officeDocument/2006/relationships/oleObject" Target="../embeddings/oleObject575.bin"/><Relationship Id="rId27" Type="http://schemas.openxmlformats.org/officeDocument/2006/relationships/image" Target="../media/image656.wmf"/><Relationship Id="rId30" Type="http://schemas.openxmlformats.org/officeDocument/2006/relationships/oleObject" Target="../embeddings/oleObject579.bin"/><Relationship Id="rId35" Type="http://schemas.openxmlformats.org/officeDocument/2006/relationships/image" Target="../media/image660.wmf"/><Relationship Id="rId8" Type="http://schemas.openxmlformats.org/officeDocument/2006/relationships/oleObject" Target="../embeddings/oleObject566.bin"/></Relationships>
</file>

<file path=ppt/slides/_rels/slide151.xml.rels><?xml version="1.0" encoding="UTF-8" standalone="yes"?>
<Relationships xmlns="http://schemas.openxmlformats.org/package/2006/relationships"><Relationship Id="rId8" Type="http://schemas.openxmlformats.org/officeDocument/2006/relationships/image" Target="../media/image649.wmf"/><Relationship Id="rId13" Type="http://schemas.openxmlformats.org/officeDocument/2006/relationships/oleObject" Target="../embeddings/oleObject587.bin"/><Relationship Id="rId18" Type="http://schemas.openxmlformats.org/officeDocument/2006/relationships/oleObject" Target="../embeddings/oleObject590.bin"/><Relationship Id="rId3" Type="http://schemas.openxmlformats.org/officeDocument/2006/relationships/oleObject" Target="../embeddings/oleObject582.bin"/><Relationship Id="rId21" Type="http://schemas.openxmlformats.org/officeDocument/2006/relationships/oleObject" Target="../embeddings/oleObject592.bin"/><Relationship Id="rId7" Type="http://schemas.openxmlformats.org/officeDocument/2006/relationships/oleObject" Target="../embeddings/oleObject584.bin"/><Relationship Id="rId12" Type="http://schemas.openxmlformats.org/officeDocument/2006/relationships/image" Target="../media/image662.wmf"/><Relationship Id="rId17" Type="http://schemas.openxmlformats.org/officeDocument/2006/relationships/image" Target="../media/image664.wmf"/><Relationship Id="rId2" Type="http://schemas.openxmlformats.org/officeDocument/2006/relationships/slideLayout" Target="../slideLayouts/slideLayout7.xml"/><Relationship Id="rId16" Type="http://schemas.openxmlformats.org/officeDocument/2006/relationships/oleObject" Target="../embeddings/oleObject589.bin"/><Relationship Id="rId20" Type="http://schemas.openxmlformats.org/officeDocument/2006/relationships/oleObject" Target="../embeddings/oleObject591.bin"/><Relationship Id="rId1" Type="http://schemas.openxmlformats.org/officeDocument/2006/relationships/vmlDrawing" Target="../drawings/vmlDrawing112.vml"/><Relationship Id="rId6" Type="http://schemas.openxmlformats.org/officeDocument/2006/relationships/image" Target="../media/image648.wmf"/><Relationship Id="rId11" Type="http://schemas.openxmlformats.org/officeDocument/2006/relationships/oleObject" Target="../embeddings/oleObject586.bin"/><Relationship Id="rId5" Type="http://schemas.openxmlformats.org/officeDocument/2006/relationships/oleObject" Target="../embeddings/oleObject583.bin"/><Relationship Id="rId15" Type="http://schemas.openxmlformats.org/officeDocument/2006/relationships/oleObject" Target="../embeddings/oleObject588.bin"/><Relationship Id="rId10" Type="http://schemas.openxmlformats.org/officeDocument/2006/relationships/image" Target="../media/image650.wmf"/><Relationship Id="rId19" Type="http://schemas.openxmlformats.org/officeDocument/2006/relationships/image" Target="../media/image665.wmf"/><Relationship Id="rId4" Type="http://schemas.openxmlformats.org/officeDocument/2006/relationships/image" Target="../media/image647.wmf"/><Relationship Id="rId9" Type="http://schemas.openxmlformats.org/officeDocument/2006/relationships/oleObject" Target="../embeddings/oleObject585.bin"/><Relationship Id="rId14" Type="http://schemas.openxmlformats.org/officeDocument/2006/relationships/image" Target="../media/image663.wmf"/><Relationship Id="rId22" Type="http://schemas.openxmlformats.org/officeDocument/2006/relationships/image" Target="../media/image666.wmf"/></Relationships>
</file>

<file path=ppt/slides/_rels/slide152.xml.rels><?xml version="1.0" encoding="UTF-8" standalone="yes"?>
<Relationships xmlns="http://schemas.openxmlformats.org/package/2006/relationships"><Relationship Id="rId8" Type="http://schemas.openxmlformats.org/officeDocument/2006/relationships/image" Target="../media/image648.wmf"/><Relationship Id="rId13" Type="http://schemas.openxmlformats.org/officeDocument/2006/relationships/oleObject" Target="../embeddings/oleObject599.bin"/><Relationship Id="rId18" Type="http://schemas.openxmlformats.org/officeDocument/2006/relationships/oleObject" Target="../embeddings/oleObject603.bin"/><Relationship Id="rId3" Type="http://schemas.openxmlformats.org/officeDocument/2006/relationships/oleObject" Target="../embeddings/oleObject593.bin"/><Relationship Id="rId21" Type="http://schemas.openxmlformats.org/officeDocument/2006/relationships/image" Target="../media/image669.wmf"/><Relationship Id="rId7" Type="http://schemas.openxmlformats.org/officeDocument/2006/relationships/oleObject" Target="../embeddings/oleObject595.bin"/><Relationship Id="rId12" Type="http://schemas.openxmlformats.org/officeDocument/2006/relationships/oleObject" Target="../embeddings/oleObject598.bin"/><Relationship Id="rId17" Type="http://schemas.openxmlformats.org/officeDocument/2006/relationships/image" Target="../media/image667.wmf"/><Relationship Id="rId2" Type="http://schemas.openxmlformats.org/officeDocument/2006/relationships/slideLayout" Target="../slideLayouts/slideLayout7.xml"/><Relationship Id="rId16" Type="http://schemas.openxmlformats.org/officeDocument/2006/relationships/oleObject" Target="../embeddings/oleObject602.bin"/><Relationship Id="rId20" Type="http://schemas.openxmlformats.org/officeDocument/2006/relationships/oleObject" Target="../embeddings/oleObject604.bin"/><Relationship Id="rId1" Type="http://schemas.openxmlformats.org/officeDocument/2006/relationships/vmlDrawing" Target="../drawings/vmlDrawing113.vml"/><Relationship Id="rId6" Type="http://schemas.openxmlformats.org/officeDocument/2006/relationships/image" Target="../media/image647.wmf"/><Relationship Id="rId11" Type="http://schemas.openxmlformats.org/officeDocument/2006/relationships/oleObject" Target="../embeddings/oleObject597.bin"/><Relationship Id="rId5" Type="http://schemas.openxmlformats.org/officeDocument/2006/relationships/oleObject" Target="../embeddings/oleObject594.bin"/><Relationship Id="rId15" Type="http://schemas.openxmlformats.org/officeDocument/2006/relationships/oleObject" Target="../embeddings/oleObject601.bin"/><Relationship Id="rId10" Type="http://schemas.openxmlformats.org/officeDocument/2006/relationships/image" Target="../media/image649.wmf"/><Relationship Id="rId19" Type="http://schemas.openxmlformats.org/officeDocument/2006/relationships/image" Target="../media/image668.wmf"/><Relationship Id="rId4" Type="http://schemas.openxmlformats.org/officeDocument/2006/relationships/image" Target="../media/image650.wmf"/><Relationship Id="rId9" Type="http://schemas.openxmlformats.org/officeDocument/2006/relationships/oleObject" Target="../embeddings/oleObject596.bin"/><Relationship Id="rId14" Type="http://schemas.openxmlformats.org/officeDocument/2006/relationships/oleObject" Target="../embeddings/oleObject600.bin"/><Relationship Id="rId22" Type="http://schemas.openxmlformats.org/officeDocument/2006/relationships/image" Target="../media/image661.png"/></Relationships>
</file>

<file path=ppt/slides/_rels/slide153.xml.rels><?xml version="1.0" encoding="UTF-8" standalone="yes"?>
<Relationships xmlns="http://schemas.openxmlformats.org/package/2006/relationships"><Relationship Id="rId13" Type="http://schemas.openxmlformats.org/officeDocument/2006/relationships/oleObject" Target="../embeddings/oleObject610.bin"/><Relationship Id="rId18" Type="http://schemas.openxmlformats.org/officeDocument/2006/relationships/image" Target="../media/image658.wmf"/><Relationship Id="rId26" Type="http://schemas.openxmlformats.org/officeDocument/2006/relationships/image" Target="../media/image671.wmf"/><Relationship Id="rId39" Type="http://schemas.openxmlformats.org/officeDocument/2006/relationships/oleObject" Target="../embeddings/oleObject623.bin"/><Relationship Id="rId21" Type="http://schemas.openxmlformats.org/officeDocument/2006/relationships/oleObject" Target="../embeddings/oleObject614.bin"/><Relationship Id="rId34" Type="http://schemas.openxmlformats.org/officeDocument/2006/relationships/image" Target="../media/image675.wmf"/><Relationship Id="rId7" Type="http://schemas.openxmlformats.org/officeDocument/2006/relationships/oleObject" Target="../embeddings/oleObject607.bin"/><Relationship Id="rId12" Type="http://schemas.openxmlformats.org/officeDocument/2006/relationships/image" Target="../media/image655.wmf"/><Relationship Id="rId17" Type="http://schemas.openxmlformats.org/officeDocument/2006/relationships/oleObject" Target="../embeddings/oleObject612.bin"/><Relationship Id="rId25" Type="http://schemas.openxmlformats.org/officeDocument/2006/relationships/oleObject" Target="../embeddings/oleObject616.bin"/><Relationship Id="rId33" Type="http://schemas.openxmlformats.org/officeDocument/2006/relationships/oleObject" Target="../embeddings/oleObject620.bin"/><Relationship Id="rId38" Type="http://schemas.openxmlformats.org/officeDocument/2006/relationships/image" Target="../media/image677.wmf"/><Relationship Id="rId2" Type="http://schemas.openxmlformats.org/officeDocument/2006/relationships/slideLayout" Target="../slideLayouts/slideLayout7.xml"/><Relationship Id="rId16" Type="http://schemas.openxmlformats.org/officeDocument/2006/relationships/image" Target="../media/image657.wmf"/><Relationship Id="rId20" Type="http://schemas.openxmlformats.org/officeDocument/2006/relationships/image" Target="../media/image659.wmf"/><Relationship Id="rId29" Type="http://schemas.openxmlformats.org/officeDocument/2006/relationships/oleObject" Target="../embeddings/oleObject618.bin"/><Relationship Id="rId1" Type="http://schemas.openxmlformats.org/officeDocument/2006/relationships/vmlDrawing" Target="../drawings/vmlDrawing114.vml"/><Relationship Id="rId6" Type="http://schemas.openxmlformats.org/officeDocument/2006/relationships/image" Target="../media/image652.wmf"/><Relationship Id="rId11" Type="http://schemas.openxmlformats.org/officeDocument/2006/relationships/oleObject" Target="../embeddings/oleObject609.bin"/><Relationship Id="rId24" Type="http://schemas.openxmlformats.org/officeDocument/2006/relationships/image" Target="../media/image670.wmf"/><Relationship Id="rId32" Type="http://schemas.openxmlformats.org/officeDocument/2006/relationships/image" Target="../media/image674.wmf"/><Relationship Id="rId37" Type="http://schemas.openxmlformats.org/officeDocument/2006/relationships/oleObject" Target="../embeddings/oleObject622.bin"/><Relationship Id="rId40" Type="http://schemas.openxmlformats.org/officeDocument/2006/relationships/image" Target="../media/image678.wmf"/><Relationship Id="rId5" Type="http://schemas.openxmlformats.org/officeDocument/2006/relationships/oleObject" Target="../embeddings/oleObject606.bin"/><Relationship Id="rId15" Type="http://schemas.openxmlformats.org/officeDocument/2006/relationships/oleObject" Target="../embeddings/oleObject611.bin"/><Relationship Id="rId23" Type="http://schemas.openxmlformats.org/officeDocument/2006/relationships/oleObject" Target="../embeddings/oleObject615.bin"/><Relationship Id="rId28" Type="http://schemas.openxmlformats.org/officeDocument/2006/relationships/image" Target="../media/image672.wmf"/><Relationship Id="rId36" Type="http://schemas.openxmlformats.org/officeDocument/2006/relationships/image" Target="../media/image676.wmf"/><Relationship Id="rId10" Type="http://schemas.openxmlformats.org/officeDocument/2006/relationships/image" Target="../media/image654.wmf"/><Relationship Id="rId19" Type="http://schemas.openxmlformats.org/officeDocument/2006/relationships/oleObject" Target="../embeddings/oleObject613.bin"/><Relationship Id="rId31" Type="http://schemas.openxmlformats.org/officeDocument/2006/relationships/oleObject" Target="../embeddings/oleObject619.bin"/><Relationship Id="rId4" Type="http://schemas.openxmlformats.org/officeDocument/2006/relationships/image" Target="../media/image651.wmf"/><Relationship Id="rId9" Type="http://schemas.openxmlformats.org/officeDocument/2006/relationships/oleObject" Target="../embeddings/oleObject608.bin"/><Relationship Id="rId14" Type="http://schemas.openxmlformats.org/officeDocument/2006/relationships/image" Target="../media/image656.wmf"/><Relationship Id="rId22" Type="http://schemas.openxmlformats.org/officeDocument/2006/relationships/image" Target="../media/image660.wmf"/><Relationship Id="rId27" Type="http://schemas.openxmlformats.org/officeDocument/2006/relationships/oleObject" Target="../embeddings/oleObject617.bin"/><Relationship Id="rId30" Type="http://schemas.openxmlformats.org/officeDocument/2006/relationships/image" Target="../media/image673.wmf"/><Relationship Id="rId35" Type="http://schemas.openxmlformats.org/officeDocument/2006/relationships/oleObject" Target="../embeddings/oleObject621.bin"/><Relationship Id="rId8" Type="http://schemas.openxmlformats.org/officeDocument/2006/relationships/image" Target="../media/image653.wmf"/><Relationship Id="rId3" Type="http://schemas.openxmlformats.org/officeDocument/2006/relationships/oleObject" Target="../embeddings/oleObject605.bin"/></Relationships>
</file>

<file path=ppt/slides/_rels/slide154.xml.rels><?xml version="1.0" encoding="UTF-8" standalone="yes"?>
<Relationships xmlns="http://schemas.openxmlformats.org/package/2006/relationships"><Relationship Id="rId3" Type="http://schemas.openxmlformats.org/officeDocument/2006/relationships/oleObject" Target="../embeddings/oleObject624.bin"/><Relationship Id="rId2" Type="http://schemas.openxmlformats.org/officeDocument/2006/relationships/slideLayout" Target="../slideLayouts/slideLayout7.xml"/><Relationship Id="rId1" Type="http://schemas.openxmlformats.org/officeDocument/2006/relationships/vmlDrawing" Target="../drawings/vmlDrawing115.vml"/><Relationship Id="rId4" Type="http://schemas.openxmlformats.org/officeDocument/2006/relationships/image" Target="../media/image679.wmf"/></Relationships>
</file>

<file path=ppt/slides/_rels/slide155.xml.rels><?xml version="1.0" encoding="UTF-8" standalone="yes"?>
<Relationships xmlns="http://schemas.openxmlformats.org/package/2006/relationships"><Relationship Id="rId3" Type="http://schemas.openxmlformats.org/officeDocument/2006/relationships/oleObject" Target="../embeddings/oleObject625.bin"/><Relationship Id="rId2" Type="http://schemas.openxmlformats.org/officeDocument/2006/relationships/slideLayout" Target="../slideLayouts/slideLayout7.xml"/><Relationship Id="rId1" Type="http://schemas.openxmlformats.org/officeDocument/2006/relationships/vmlDrawing" Target="../drawings/vmlDrawing116.vml"/><Relationship Id="rId4" Type="http://schemas.openxmlformats.org/officeDocument/2006/relationships/image" Target="../media/image680.emf"/></Relationships>
</file>

<file path=ppt/slides/_rels/slide156.xml.rels><?xml version="1.0" encoding="UTF-8" standalone="yes"?>
<Relationships xmlns="http://schemas.openxmlformats.org/package/2006/relationships"><Relationship Id="rId8" Type="http://schemas.openxmlformats.org/officeDocument/2006/relationships/image" Target="../media/image683.wmf"/><Relationship Id="rId3" Type="http://schemas.openxmlformats.org/officeDocument/2006/relationships/oleObject" Target="../embeddings/oleObject626.bin"/><Relationship Id="rId7" Type="http://schemas.openxmlformats.org/officeDocument/2006/relationships/oleObject" Target="../embeddings/oleObject628.bin"/><Relationship Id="rId2" Type="http://schemas.openxmlformats.org/officeDocument/2006/relationships/slideLayout" Target="../slideLayouts/slideLayout7.xml"/><Relationship Id="rId1" Type="http://schemas.openxmlformats.org/officeDocument/2006/relationships/vmlDrawing" Target="../drawings/vmlDrawing117.vml"/><Relationship Id="rId6" Type="http://schemas.openxmlformats.org/officeDocument/2006/relationships/image" Target="../media/image682.emf"/><Relationship Id="rId5" Type="http://schemas.openxmlformats.org/officeDocument/2006/relationships/oleObject" Target="../embeddings/oleObject627.bin"/><Relationship Id="rId10" Type="http://schemas.openxmlformats.org/officeDocument/2006/relationships/image" Target="../media/image684.emf"/><Relationship Id="rId4" Type="http://schemas.openxmlformats.org/officeDocument/2006/relationships/image" Target="../media/image681.emf"/><Relationship Id="rId9" Type="http://schemas.openxmlformats.org/officeDocument/2006/relationships/oleObject" Target="../embeddings/oleObject629.bin"/></Relationships>
</file>

<file path=ppt/slides/_rels/slide157.xml.rels><?xml version="1.0" encoding="UTF-8" standalone="yes"?>
<Relationships xmlns="http://schemas.openxmlformats.org/package/2006/relationships"><Relationship Id="rId8" Type="http://schemas.openxmlformats.org/officeDocument/2006/relationships/image" Target="../media/image687.wmf"/><Relationship Id="rId13" Type="http://schemas.openxmlformats.org/officeDocument/2006/relationships/oleObject" Target="../embeddings/oleObject635.bin"/><Relationship Id="rId3" Type="http://schemas.openxmlformats.org/officeDocument/2006/relationships/oleObject" Target="../embeddings/oleObject630.bin"/><Relationship Id="rId7" Type="http://schemas.openxmlformats.org/officeDocument/2006/relationships/oleObject" Target="../embeddings/oleObject632.bin"/><Relationship Id="rId12" Type="http://schemas.openxmlformats.org/officeDocument/2006/relationships/image" Target="../media/image689.wmf"/><Relationship Id="rId2" Type="http://schemas.openxmlformats.org/officeDocument/2006/relationships/slideLayout" Target="../slideLayouts/slideLayout7.xml"/><Relationship Id="rId1" Type="http://schemas.openxmlformats.org/officeDocument/2006/relationships/vmlDrawing" Target="../drawings/vmlDrawing118.vml"/><Relationship Id="rId6" Type="http://schemas.openxmlformats.org/officeDocument/2006/relationships/image" Target="../media/image686.wmf"/><Relationship Id="rId11" Type="http://schemas.openxmlformats.org/officeDocument/2006/relationships/oleObject" Target="../embeddings/oleObject634.bin"/><Relationship Id="rId5" Type="http://schemas.openxmlformats.org/officeDocument/2006/relationships/oleObject" Target="../embeddings/oleObject631.bin"/><Relationship Id="rId10" Type="http://schemas.openxmlformats.org/officeDocument/2006/relationships/image" Target="../media/image688.wmf"/><Relationship Id="rId4" Type="http://schemas.openxmlformats.org/officeDocument/2006/relationships/image" Target="../media/image685.wmf"/><Relationship Id="rId9" Type="http://schemas.openxmlformats.org/officeDocument/2006/relationships/oleObject" Target="../embeddings/oleObject633.bin"/><Relationship Id="rId14" Type="http://schemas.openxmlformats.org/officeDocument/2006/relationships/image" Target="../media/image690.emf"/></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8" Type="http://schemas.openxmlformats.org/officeDocument/2006/relationships/image" Target="../media/image693.wmf"/><Relationship Id="rId3" Type="http://schemas.openxmlformats.org/officeDocument/2006/relationships/oleObject" Target="../embeddings/oleObject636.bin"/><Relationship Id="rId7" Type="http://schemas.openxmlformats.org/officeDocument/2006/relationships/oleObject" Target="../embeddings/oleObject638.bin"/><Relationship Id="rId2" Type="http://schemas.openxmlformats.org/officeDocument/2006/relationships/slideLayout" Target="../slideLayouts/slideLayout7.xml"/><Relationship Id="rId1" Type="http://schemas.openxmlformats.org/officeDocument/2006/relationships/vmlDrawing" Target="../drawings/vmlDrawing119.vml"/><Relationship Id="rId6" Type="http://schemas.openxmlformats.org/officeDocument/2006/relationships/image" Target="../media/image692.wmf"/><Relationship Id="rId5" Type="http://schemas.openxmlformats.org/officeDocument/2006/relationships/oleObject" Target="../embeddings/oleObject637.bin"/><Relationship Id="rId4" Type="http://schemas.openxmlformats.org/officeDocument/2006/relationships/image" Target="../media/image691.wmf"/></Relationships>
</file>

<file path=ppt/slides/_rels/slide161.xml.rels><?xml version="1.0" encoding="UTF-8" standalone="yes"?>
<Relationships xmlns="http://schemas.openxmlformats.org/package/2006/relationships"><Relationship Id="rId8" Type="http://schemas.openxmlformats.org/officeDocument/2006/relationships/image" Target="../media/image696.wmf"/><Relationship Id="rId13" Type="http://schemas.openxmlformats.org/officeDocument/2006/relationships/image" Target="../media/image700.png"/><Relationship Id="rId3" Type="http://schemas.openxmlformats.org/officeDocument/2006/relationships/oleObject" Target="../embeddings/oleObject639.bin"/><Relationship Id="rId7" Type="http://schemas.openxmlformats.org/officeDocument/2006/relationships/oleObject" Target="../embeddings/oleObject641.bin"/><Relationship Id="rId12" Type="http://schemas.openxmlformats.org/officeDocument/2006/relationships/image" Target="../media/image698.wmf"/><Relationship Id="rId2" Type="http://schemas.openxmlformats.org/officeDocument/2006/relationships/slideLayout" Target="../slideLayouts/slideLayout7.xml"/><Relationship Id="rId1" Type="http://schemas.openxmlformats.org/officeDocument/2006/relationships/vmlDrawing" Target="../drawings/vmlDrawing120.vml"/><Relationship Id="rId6" Type="http://schemas.openxmlformats.org/officeDocument/2006/relationships/image" Target="../media/image695.wmf"/><Relationship Id="rId11" Type="http://schemas.openxmlformats.org/officeDocument/2006/relationships/oleObject" Target="../embeddings/oleObject643.bin"/><Relationship Id="rId5" Type="http://schemas.openxmlformats.org/officeDocument/2006/relationships/oleObject" Target="../embeddings/oleObject640.bin"/><Relationship Id="rId15" Type="http://schemas.openxmlformats.org/officeDocument/2006/relationships/image" Target="../media/image699.wmf"/><Relationship Id="rId10" Type="http://schemas.openxmlformats.org/officeDocument/2006/relationships/image" Target="../media/image697.wmf"/><Relationship Id="rId4" Type="http://schemas.openxmlformats.org/officeDocument/2006/relationships/image" Target="../media/image694.wmf"/><Relationship Id="rId9" Type="http://schemas.openxmlformats.org/officeDocument/2006/relationships/oleObject" Target="../embeddings/oleObject642.bin"/><Relationship Id="rId14" Type="http://schemas.openxmlformats.org/officeDocument/2006/relationships/oleObject" Target="../embeddings/oleObject644.bin"/></Relationships>
</file>

<file path=ppt/slides/_rels/slide162.xml.rels><?xml version="1.0" encoding="UTF-8" standalone="yes"?>
<Relationships xmlns="http://schemas.openxmlformats.org/package/2006/relationships"><Relationship Id="rId8" Type="http://schemas.openxmlformats.org/officeDocument/2006/relationships/image" Target="../media/image703.emf"/><Relationship Id="rId13" Type="http://schemas.openxmlformats.org/officeDocument/2006/relationships/oleObject" Target="../embeddings/oleObject650.bin"/><Relationship Id="rId18" Type="http://schemas.openxmlformats.org/officeDocument/2006/relationships/oleObject" Target="../embeddings/oleObject652.bin"/><Relationship Id="rId3" Type="http://schemas.openxmlformats.org/officeDocument/2006/relationships/oleObject" Target="../embeddings/oleObject645.bin"/><Relationship Id="rId7" Type="http://schemas.openxmlformats.org/officeDocument/2006/relationships/oleObject" Target="../embeddings/oleObject647.bin"/><Relationship Id="rId12" Type="http://schemas.openxmlformats.org/officeDocument/2006/relationships/image" Target="../media/image705.wmf"/><Relationship Id="rId17" Type="http://schemas.openxmlformats.org/officeDocument/2006/relationships/image" Target="../media/image709.png"/><Relationship Id="rId2" Type="http://schemas.openxmlformats.org/officeDocument/2006/relationships/slideLayout" Target="../slideLayouts/slideLayout7.xml"/><Relationship Id="rId16" Type="http://schemas.openxmlformats.org/officeDocument/2006/relationships/image" Target="../media/image707.emf"/><Relationship Id="rId20" Type="http://schemas.openxmlformats.org/officeDocument/2006/relationships/image" Target="../media/image710.png"/><Relationship Id="rId1" Type="http://schemas.openxmlformats.org/officeDocument/2006/relationships/vmlDrawing" Target="../drawings/vmlDrawing121.vml"/><Relationship Id="rId6" Type="http://schemas.openxmlformats.org/officeDocument/2006/relationships/image" Target="../media/image702.wmf"/><Relationship Id="rId11" Type="http://schemas.openxmlformats.org/officeDocument/2006/relationships/oleObject" Target="../embeddings/oleObject649.bin"/><Relationship Id="rId5" Type="http://schemas.openxmlformats.org/officeDocument/2006/relationships/oleObject" Target="../embeddings/oleObject646.bin"/><Relationship Id="rId15" Type="http://schemas.openxmlformats.org/officeDocument/2006/relationships/oleObject" Target="../embeddings/oleObject651.bin"/><Relationship Id="rId10" Type="http://schemas.openxmlformats.org/officeDocument/2006/relationships/image" Target="../media/image704.wmf"/><Relationship Id="rId19" Type="http://schemas.openxmlformats.org/officeDocument/2006/relationships/image" Target="../media/image708.wmf"/><Relationship Id="rId4" Type="http://schemas.openxmlformats.org/officeDocument/2006/relationships/image" Target="../media/image701.emf"/><Relationship Id="rId9" Type="http://schemas.openxmlformats.org/officeDocument/2006/relationships/oleObject" Target="../embeddings/oleObject648.bin"/><Relationship Id="rId14" Type="http://schemas.openxmlformats.org/officeDocument/2006/relationships/image" Target="../media/image706.emf"/></Relationships>
</file>

<file path=ppt/slides/_rels/slide163.xml.rels><?xml version="1.0" encoding="UTF-8" standalone="yes"?>
<Relationships xmlns="http://schemas.openxmlformats.org/package/2006/relationships"><Relationship Id="rId3" Type="http://schemas.openxmlformats.org/officeDocument/2006/relationships/image" Target="../media/image712.png"/><Relationship Id="rId2" Type="http://schemas.openxmlformats.org/officeDocument/2006/relationships/image" Target="../media/image711.png"/><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8" Type="http://schemas.openxmlformats.org/officeDocument/2006/relationships/image" Target="../media/image715.emf"/><Relationship Id="rId3" Type="http://schemas.openxmlformats.org/officeDocument/2006/relationships/oleObject" Target="../embeddings/oleObject653.bin"/><Relationship Id="rId7" Type="http://schemas.openxmlformats.org/officeDocument/2006/relationships/oleObject" Target="../embeddings/oleObject655.bin"/><Relationship Id="rId2" Type="http://schemas.openxmlformats.org/officeDocument/2006/relationships/slideLayout" Target="../slideLayouts/slideLayout7.xml"/><Relationship Id="rId1" Type="http://schemas.openxmlformats.org/officeDocument/2006/relationships/vmlDrawing" Target="../drawings/vmlDrawing122.vml"/><Relationship Id="rId6" Type="http://schemas.openxmlformats.org/officeDocument/2006/relationships/image" Target="../media/image714.emf"/><Relationship Id="rId5" Type="http://schemas.openxmlformats.org/officeDocument/2006/relationships/oleObject" Target="../embeddings/oleObject654.bin"/><Relationship Id="rId4" Type="http://schemas.openxmlformats.org/officeDocument/2006/relationships/image" Target="../media/image713.emf"/></Relationships>
</file>

<file path=ppt/slides/_rels/slide165.xml.rels><?xml version="1.0" encoding="UTF-8" standalone="yes"?>
<Relationships xmlns="http://schemas.openxmlformats.org/package/2006/relationships"><Relationship Id="rId8" Type="http://schemas.openxmlformats.org/officeDocument/2006/relationships/image" Target="../media/image718.wmf"/><Relationship Id="rId13" Type="http://schemas.openxmlformats.org/officeDocument/2006/relationships/oleObject" Target="../embeddings/oleObject661.bin"/><Relationship Id="rId18" Type="http://schemas.openxmlformats.org/officeDocument/2006/relationships/image" Target="../media/image723.wmf"/><Relationship Id="rId26" Type="http://schemas.openxmlformats.org/officeDocument/2006/relationships/image" Target="../media/image727.wmf"/><Relationship Id="rId3" Type="http://schemas.openxmlformats.org/officeDocument/2006/relationships/oleObject" Target="../embeddings/oleObject656.bin"/><Relationship Id="rId21" Type="http://schemas.openxmlformats.org/officeDocument/2006/relationships/oleObject" Target="../embeddings/oleObject665.bin"/><Relationship Id="rId7" Type="http://schemas.openxmlformats.org/officeDocument/2006/relationships/oleObject" Target="../embeddings/oleObject658.bin"/><Relationship Id="rId12" Type="http://schemas.openxmlformats.org/officeDocument/2006/relationships/image" Target="../media/image720.wmf"/><Relationship Id="rId17" Type="http://schemas.openxmlformats.org/officeDocument/2006/relationships/oleObject" Target="../embeddings/oleObject663.bin"/><Relationship Id="rId25" Type="http://schemas.openxmlformats.org/officeDocument/2006/relationships/oleObject" Target="../embeddings/oleObject667.bin"/><Relationship Id="rId2" Type="http://schemas.openxmlformats.org/officeDocument/2006/relationships/slideLayout" Target="../slideLayouts/slideLayout7.xml"/><Relationship Id="rId16" Type="http://schemas.openxmlformats.org/officeDocument/2006/relationships/image" Target="../media/image722.wmf"/><Relationship Id="rId20" Type="http://schemas.openxmlformats.org/officeDocument/2006/relationships/image" Target="../media/image724.wmf"/><Relationship Id="rId1" Type="http://schemas.openxmlformats.org/officeDocument/2006/relationships/vmlDrawing" Target="../drawings/vmlDrawing123.vml"/><Relationship Id="rId6" Type="http://schemas.openxmlformats.org/officeDocument/2006/relationships/image" Target="../media/image717.wmf"/><Relationship Id="rId11" Type="http://schemas.openxmlformats.org/officeDocument/2006/relationships/oleObject" Target="../embeddings/oleObject660.bin"/><Relationship Id="rId24" Type="http://schemas.openxmlformats.org/officeDocument/2006/relationships/image" Target="../media/image726.wmf"/><Relationship Id="rId5" Type="http://schemas.openxmlformats.org/officeDocument/2006/relationships/oleObject" Target="../embeddings/oleObject657.bin"/><Relationship Id="rId15" Type="http://schemas.openxmlformats.org/officeDocument/2006/relationships/oleObject" Target="../embeddings/oleObject662.bin"/><Relationship Id="rId23" Type="http://schemas.openxmlformats.org/officeDocument/2006/relationships/oleObject" Target="../embeddings/oleObject666.bin"/><Relationship Id="rId28" Type="http://schemas.openxmlformats.org/officeDocument/2006/relationships/image" Target="../media/image728.wmf"/><Relationship Id="rId10" Type="http://schemas.openxmlformats.org/officeDocument/2006/relationships/image" Target="../media/image719.wmf"/><Relationship Id="rId19" Type="http://schemas.openxmlformats.org/officeDocument/2006/relationships/oleObject" Target="../embeddings/oleObject664.bin"/><Relationship Id="rId4" Type="http://schemas.openxmlformats.org/officeDocument/2006/relationships/image" Target="../media/image716.wmf"/><Relationship Id="rId9" Type="http://schemas.openxmlformats.org/officeDocument/2006/relationships/oleObject" Target="../embeddings/oleObject659.bin"/><Relationship Id="rId14" Type="http://schemas.openxmlformats.org/officeDocument/2006/relationships/image" Target="../media/image721.wmf"/><Relationship Id="rId22" Type="http://schemas.openxmlformats.org/officeDocument/2006/relationships/image" Target="../media/image725.wmf"/><Relationship Id="rId27" Type="http://schemas.openxmlformats.org/officeDocument/2006/relationships/oleObject" Target="../embeddings/oleObject668.bin"/></Relationships>
</file>

<file path=ppt/slides/_rels/slide166.xml.rels><?xml version="1.0" encoding="UTF-8" standalone="yes"?>
<Relationships xmlns="http://schemas.openxmlformats.org/package/2006/relationships"><Relationship Id="rId3" Type="http://schemas.openxmlformats.org/officeDocument/2006/relationships/image" Target="../media/image730.png"/><Relationship Id="rId2" Type="http://schemas.openxmlformats.org/officeDocument/2006/relationships/slideLayout" Target="../slideLayouts/slideLayout7.xml"/><Relationship Id="rId1" Type="http://schemas.openxmlformats.org/officeDocument/2006/relationships/vmlDrawing" Target="../drawings/vmlDrawing124.vml"/><Relationship Id="rId5" Type="http://schemas.openxmlformats.org/officeDocument/2006/relationships/image" Target="../media/image729.wmf"/><Relationship Id="rId4" Type="http://schemas.openxmlformats.org/officeDocument/2006/relationships/oleObject" Target="../embeddings/oleObject669.bin"/></Relationships>
</file>

<file path=ppt/slides/_rels/slide167.xml.rels><?xml version="1.0" encoding="UTF-8" standalone="yes"?>
<Relationships xmlns="http://schemas.openxmlformats.org/package/2006/relationships"><Relationship Id="rId8" Type="http://schemas.openxmlformats.org/officeDocument/2006/relationships/image" Target="../media/image733.wmf"/><Relationship Id="rId13" Type="http://schemas.openxmlformats.org/officeDocument/2006/relationships/image" Target="../media/image735.wmf"/><Relationship Id="rId18" Type="http://schemas.openxmlformats.org/officeDocument/2006/relationships/oleObject" Target="../embeddings/oleObject677.bin"/><Relationship Id="rId3" Type="http://schemas.openxmlformats.org/officeDocument/2006/relationships/oleObject" Target="../embeddings/oleObject670.bin"/><Relationship Id="rId21" Type="http://schemas.openxmlformats.org/officeDocument/2006/relationships/image" Target="../media/image739.wmf"/><Relationship Id="rId7" Type="http://schemas.openxmlformats.org/officeDocument/2006/relationships/oleObject" Target="../embeddings/oleObject672.bin"/><Relationship Id="rId12" Type="http://schemas.openxmlformats.org/officeDocument/2006/relationships/oleObject" Target="../embeddings/oleObject674.bin"/><Relationship Id="rId17" Type="http://schemas.openxmlformats.org/officeDocument/2006/relationships/image" Target="../media/image737.wmf"/><Relationship Id="rId2" Type="http://schemas.openxmlformats.org/officeDocument/2006/relationships/slideLayout" Target="../slideLayouts/slideLayout7.xml"/><Relationship Id="rId16" Type="http://schemas.openxmlformats.org/officeDocument/2006/relationships/oleObject" Target="../embeddings/oleObject676.bin"/><Relationship Id="rId20" Type="http://schemas.openxmlformats.org/officeDocument/2006/relationships/oleObject" Target="../embeddings/oleObject678.bin"/><Relationship Id="rId1" Type="http://schemas.openxmlformats.org/officeDocument/2006/relationships/vmlDrawing" Target="../drawings/vmlDrawing125.vml"/><Relationship Id="rId6" Type="http://schemas.openxmlformats.org/officeDocument/2006/relationships/image" Target="../media/image732.wmf"/><Relationship Id="rId11" Type="http://schemas.openxmlformats.org/officeDocument/2006/relationships/image" Target="../media/image734.wmf"/><Relationship Id="rId5" Type="http://schemas.openxmlformats.org/officeDocument/2006/relationships/oleObject" Target="../embeddings/oleObject671.bin"/><Relationship Id="rId15" Type="http://schemas.openxmlformats.org/officeDocument/2006/relationships/image" Target="../media/image736.wmf"/><Relationship Id="rId23" Type="http://schemas.openxmlformats.org/officeDocument/2006/relationships/image" Target="../media/image740.wmf"/><Relationship Id="rId10" Type="http://schemas.openxmlformats.org/officeDocument/2006/relationships/oleObject" Target="../embeddings/oleObject673.bin"/><Relationship Id="rId19" Type="http://schemas.openxmlformats.org/officeDocument/2006/relationships/image" Target="../media/image738.wmf"/><Relationship Id="rId4" Type="http://schemas.openxmlformats.org/officeDocument/2006/relationships/image" Target="../media/image731.wmf"/><Relationship Id="rId9" Type="http://schemas.openxmlformats.org/officeDocument/2006/relationships/image" Target="../media/image741.png"/><Relationship Id="rId14" Type="http://schemas.openxmlformats.org/officeDocument/2006/relationships/oleObject" Target="../embeddings/oleObject675.bin"/><Relationship Id="rId22" Type="http://schemas.openxmlformats.org/officeDocument/2006/relationships/oleObject" Target="../embeddings/oleObject679.bin"/></Relationships>
</file>

<file path=ppt/slides/_rels/slide168.xml.rels><?xml version="1.0" encoding="UTF-8" standalone="yes"?>
<Relationships xmlns="http://schemas.openxmlformats.org/package/2006/relationships"><Relationship Id="rId8" Type="http://schemas.openxmlformats.org/officeDocument/2006/relationships/image" Target="../media/image744.wmf"/><Relationship Id="rId3" Type="http://schemas.openxmlformats.org/officeDocument/2006/relationships/oleObject" Target="../embeddings/oleObject680.bin"/><Relationship Id="rId7" Type="http://schemas.openxmlformats.org/officeDocument/2006/relationships/oleObject" Target="../embeddings/oleObject682.bin"/><Relationship Id="rId2" Type="http://schemas.openxmlformats.org/officeDocument/2006/relationships/slideLayout" Target="../slideLayouts/slideLayout7.xml"/><Relationship Id="rId1" Type="http://schemas.openxmlformats.org/officeDocument/2006/relationships/vmlDrawing" Target="../drawings/vmlDrawing126.vml"/><Relationship Id="rId6" Type="http://schemas.openxmlformats.org/officeDocument/2006/relationships/image" Target="../media/image743.emf"/><Relationship Id="rId5" Type="http://schemas.openxmlformats.org/officeDocument/2006/relationships/oleObject" Target="../embeddings/oleObject681.bin"/><Relationship Id="rId10" Type="http://schemas.openxmlformats.org/officeDocument/2006/relationships/image" Target="../media/image745.wmf"/><Relationship Id="rId4" Type="http://schemas.openxmlformats.org/officeDocument/2006/relationships/image" Target="../media/image742.emf"/><Relationship Id="rId9" Type="http://schemas.openxmlformats.org/officeDocument/2006/relationships/oleObject" Target="../embeddings/oleObject683.bin"/></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3" Type="http://schemas.openxmlformats.org/officeDocument/2006/relationships/image" Target="../media/image748.png"/><Relationship Id="rId7" Type="http://schemas.openxmlformats.org/officeDocument/2006/relationships/image" Target="../media/image747.wmf"/><Relationship Id="rId2" Type="http://schemas.openxmlformats.org/officeDocument/2006/relationships/slideLayout" Target="../slideLayouts/slideLayout7.xml"/><Relationship Id="rId1" Type="http://schemas.openxmlformats.org/officeDocument/2006/relationships/vmlDrawing" Target="../drawings/vmlDrawing127.vml"/><Relationship Id="rId6" Type="http://schemas.openxmlformats.org/officeDocument/2006/relationships/oleObject" Target="../embeddings/oleObject685.bin"/><Relationship Id="rId5" Type="http://schemas.openxmlformats.org/officeDocument/2006/relationships/image" Target="../media/image746.wmf"/><Relationship Id="rId4" Type="http://schemas.openxmlformats.org/officeDocument/2006/relationships/oleObject" Target="../embeddings/oleObject684.bin"/></Relationships>
</file>

<file path=ppt/slides/_rels/slide171.xml.rels><?xml version="1.0" encoding="UTF-8" standalone="yes"?>
<Relationships xmlns="http://schemas.openxmlformats.org/package/2006/relationships"><Relationship Id="rId2" Type="http://schemas.openxmlformats.org/officeDocument/2006/relationships/image" Target="../media/image749.png"/><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8" Type="http://schemas.openxmlformats.org/officeDocument/2006/relationships/image" Target="../media/image752.wmf"/><Relationship Id="rId13" Type="http://schemas.openxmlformats.org/officeDocument/2006/relationships/image" Target="../media/image755.png"/><Relationship Id="rId3" Type="http://schemas.openxmlformats.org/officeDocument/2006/relationships/oleObject" Target="../embeddings/oleObject686.bin"/><Relationship Id="rId7" Type="http://schemas.openxmlformats.org/officeDocument/2006/relationships/oleObject" Target="../embeddings/oleObject688.bin"/><Relationship Id="rId12" Type="http://schemas.openxmlformats.org/officeDocument/2006/relationships/image" Target="../media/image754.wmf"/><Relationship Id="rId2" Type="http://schemas.openxmlformats.org/officeDocument/2006/relationships/slideLayout" Target="../slideLayouts/slideLayout7.xml"/><Relationship Id="rId1" Type="http://schemas.openxmlformats.org/officeDocument/2006/relationships/vmlDrawing" Target="../drawings/vmlDrawing128.vml"/><Relationship Id="rId6" Type="http://schemas.openxmlformats.org/officeDocument/2006/relationships/image" Target="../media/image751.wmf"/><Relationship Id="rId11" Type="http://schemas.openxmlformats.org/officeDocument/2006/relationships/oleObject" Target="../embeddings/oleObject690.bin"/><Relationship Id="rId5" Type="http://schemas.openxmlformats.org/officeDocument/2006/relationships/oleObject" Target="../embeddings/oleObject687.bin"/><Relationship Id="rId15" Type="http://schemas.openxmlformats.org/officeDocument/2006/relationships/image" Target="../media/image757.png"/><Relationship Id="rId10" Type="http://schemas.openxmlformats.org/officeDocument/2006/relationships/image" Target="../media/image753.wmf"/><Relationship Id="rId4" Type="http://schemas.openxmlformats.org/officeDocument/2006/relationships/image" Target="../media/image750.wmf"/><Relationship Id="rId9" Type="http://schemas.openxmlformats.org/officeDocument/2006/relationships/oleObject" Target="../embeddings/oleObject689.bin"/><Relationship Id="rId14" Type="http://schemas.openxmlformats.org/officeDocument/2006/relationships/image" Target="../media/image756.png"/></Relationships>
</file>

<file path=ppt/slides/_rels/slide173.xml.rels><?xml version="1.0" encoding="UTF-8" standalone="yes"?>
<Relationships xmlns="http://schemas.openxmlformats.org/package/2006/relationships"><Relationship Id="rId8" Type="http://schemas.openxmlformats.org/officeDocument/2006/relationships/image" Target="../media/image761.png"/><Relationship Id="rId3" Type="http://schemas.openxmlformats.org/officeDocument/2006/relationships/oleObject" Target="../embeddings/oleObject691.bin"/><Relationship Id="rId7" Type="http://schemas.openxmlformats.org/officeDocument/2006/relationships/image" Target="../media/image760.png"/><Relationship Id="rId2" Type="http://schemas.openxmlformats.org/officeDocument/2006/relationships/slideLayout" Target="../slideLayouts/slideLayout7.xml"/><Relationship Id="rId1" Type="http://schemas.openxmlformats.org/officeDocument/2006/relationships/vmlDrawing" Target="../drawings/vmlDrawing129.vml"/><Relationship Id="rId6" Type="http://schemas.openxmlformats.org/officeDocument/2006/relationships/image" Target="../media/image759.wmf"/><Relationship Id="rId5" Type="http://schemas.openxmlformats.org/officeDocument/2006/relationships/oleObject" Target="../embeddings/oleObject692.bin"/><Relationship Id="rId4" Type="http://schemas.openxmlformats.org/officeDocument/2006/relationships/image" Target="../media/image758.wmf"/></Relationships>
</file>

<file path=ppt/slides/_rels/slide174.xml.rels><?xml version="1.0" encoding="UTF-8" standalone="yes"?>
<Relationships xmlns="http://schemas.openxmlformats.org/package/2006/relationships"><Relationship Id="rId8" Type="http://schemas.openxmlformats.org/officeDocument/2006/relationships/image" Target="../media/image763.wmf"/><Relationship Id="rId13" Type="http://schemas.openxmlformats.org/officeDocument/2006/relationships/oleObject" Target="../embeddings/oleObject697.bin"/><Relationship Id="rId18" Type="http://schemas.openxmlformats.org/officeDocument/2006/relationships/image" Target="../media/image768.wmf"/><Relationship Id="rId3" Type="http://schemas.openxmlformats.org/officeDocument/2006/relationships/oleObject" Target="../embeddings/oleObject693.bin"/><Relationship Id="rId7" Type="http://schemas.openxmlformats.org/officeDocument/2006/relationships/oleObject" Target="../embeddings/oleObject694.bin"/><Relationship Id="rId12" Type="http://schemas.openxmlformats.org/officeDocument/2006/relationships/image" Target="../media/image765.wmf"/><Relationship Id="rId17" Type="http://schemas.openxmlformats.org/officeDocument/2006/relationships/oleObject" Target="../embeddings/oleObject699.bin"/><Relationship Id="rId2" Type="http://schemas.openxmlformats.org/officeDocument/2006/relationships/slideLayout" Target="../slideLayouts/slideLayout7.xml"/><Relationship Id="rId16" Type="http://schemas.openxmlformats.org/officeDocument/2006/relationships/image" Target="../media/image767.wmf"/><Relationship Id="rId1" Type="http://schemas.openxmlformats.org/officeDocument/2006/relationships/vmlDrawing" Target="../drawings/vmlDrawing130.vml"/><Relationship Id="rId6" Type="http://schemas.openxmlformats.org/officeDocument/2006/relationships/image" Target="../media/image770.png"/><Relationship Id="rId11" Type="http://schemas.openxmlformats.org/officeDocument/2006/relationships/oleObject" Target="../embeddings/oleObject696.bin"/><Relationship Id="rId5" Type="http://schemas.openxmlformats.org/officeDocument/2006/relationships/image" Target="../media/image769.png"/><Relationship Id="rId15" Type="http://schemas.openxmlformats.org/officeDocument/2006/relationships/oleObject" Target="../embeddings/oleObject698.bin"/><Relationship Id="rId10" Type="http://schemas.openxmlformats.org/officeDocument/2006/relationships/image" Target="../media/image764.wmf"/><Relationship Id="rId4" Type="http://schemas.openxmlformats.org/officeDocument/2006/relationships/image" Target="../media/image762.wmf"/><Relationship Id="rId9" Type="http://schemas.openxmlformats.org/officeDocument/2006/relationships/oleObject" Target="../embeddings/oleObject695.bin"/><Relationship Id="rId14" Type="http://schemas.openxmlformats.org/officeDocument/2006/relationships/image" Target="../media/image766.wmf"/></Relationships>
</file>

<file path=ppt/slides/_rels/slide175.xml.rels><?xml version="1.0" encoding="UTF-8" standalone="yes"?>
<Relationships xmlns="http://schemas.openxmlformats.org/package/2006/relationships"><Relationship Id="rId8" Type="http://schemas.openxmlformats.org/officeDocument/2006/relationships/oleObject" Target="../embeddings/oleObject702.bin"/><Relationship Id="rId3" Type="http://schemas.openxmlformats.org/officeDocument/2006/relationships/oleObject" Target="../embeddings/oleObject700.bin"/><Relationship Id="rId7" Type="http://schemas.openxmlformats.org/officeDocument/2006/relationships/image" Target="../media/image772.wmf"/><Relationship Id="rId2" Type="http://schemas.openxmlformats.org/officeDocument/2006/relationships/slideLayout" Target="../slideLayouts/slideLayout7.xml"/><Relationship Id="rId1" Type="http://schemas.openxmlformats.org/officeDocument/2006/relationships/vmlDrawing" Target="../drawings/vmlDrawing131.vml"/><Relationship Id="rId6" Type="http://schemas.openxmlformats.org/officeDocument/2006/relationships/oleObject" Target="../embeddings/oleObject701.bin"/><Relationship Id="rId11" Type="http://schemas.openxmlformats.org/officeDocument/2006/relationships/image" Target="../media/image774.wmf"/><Relationship Id="rId5" Type="http://schemas.openxmlformats.org/officeDocument/2006/relationships/image" Target="../media/image775.png"/><Relationship Id="rId10" Type="http://schemas.openxmlformats.org/officeDocument/2006/relationships/oleObject" Target="../embeddings/oleObject703.bin"/><Relationship Id="rId4" Type="http://schemas.openxmlformats.org/officeDocument/2006/relationships/image" Target="../media/image771.wmf"/><Relationship Id="rId9" Type="http://schemas.openxmlformats.org/officeDocument/2006/relationships/image" Target="../media/image773.wmf"/></Relationships>
</file>

<file path=ppt/slides/_rels/slide176.xml.rels><?xml version="1.0" encoding="UTF-8" standalone="yes"?>
<Relationships xmlns="http://schemas.openxmlformats.org/package/2006/relationships"><Relationship Id="rId8" Type="http://schemas.openxmlformats.org/officeDocument/2006/relationships/image" Target="../media/image778.wmf"/><Relationship Id="rId13" Type="http://schemas.openxmlformats.org/officeDocument/2006/relationships/oleObject" Target="../embeddings/oleObject709.bin"/><Relationship Id="rId3" Type="http://schemas.openxmlformats.org/officeDocument/2006/relationships/oleObject" Target="../embeddings/oleObject704.bin"/><Relationship Id="rId7" Type="http://schemas.openxmlformats.org/officeDocument/2006/relationships/oleObject" Target="../embeddings/oleObject706.bin"/><Relationship Id="rId12" Type="http://schemas.openxmlformats.org/officeDocument/2006/relationships/image" Target="../media/image780.wmf"/><Relationship Id="rId17" Type="http://schemas.openxmlformats.org/officeDocument/2006/relationships/image" Target="../media/image783.png"/><Relationship Id="rId2" Type="http://schemas.openxmlformats.org/officeDocument/2006/relationships/slideLayout" Target="../slideLayouts/slideLayout7.xml"/><Relationship Id="rId16" Type="http://schemas.openxmlformats.org/officeDocument/2006/relationships/image" Target="../media/image782.wmf"/><Relationship Id="rId1" Type="http://schemas.openxmlformats.org/officeDocument/2006/relationships/vmlDrawing" Target="../drawings/vmlDrawing132.vml"/><Relationship Id="rId6" Type="http://schemas.openxmlformats.org/officeDocument/2006/relationships/image" Target="../media/image777.wmf"/><Relationship Id="rId11" Type="http://schemas.openxmlformats.org/officeDocument/2006/relationships/oleObject" Target="../embeddings/oleObject708.bin"/><Relationship Id="rId5" Type="http://schemas.openxmlformats.org/officeDocument/2006/relationships/oleObject" Target="../embeddings/oleObject705.bin"/><Relationship Id="rId15" Type="http://schemas.openxmlformats.org/officeDocument/2006/relationships/oleObject" Target="../embeddings/oleObject710.bin"/><Relationship Id="rId10" Type="http://schemas.openxmlformats.org/officeDocument/2006/relationships/image" Target="../media/image779.wmf"/><Relationship Id="rId4" Type="http://schemas.openxmlformats.org/officeDocument/2006/relationships/image" Target="../media/image776.wmf"/><Relationship Id="rId9" Type="http://schemas.openxmlformats.org/officeDocument/2006/relationships/oleObject" Target="../embeddings/oleObject707.bin"/><Relationship Id="rId14" Type="http://schemas.openxmlformats.org/officeDocument/2006/relationships/image" Target="../media/image781.wmf"/></Relationships>
</file>

<file path=ppt/slides/_rels/slide177.xml.rels><?xml version="1.0" encoding="UTF-8" standalone="yes"?>
<Relationships xmlns="http://schemas.openxmlformats.org/package/2006/relationships"><Relationship Id="rId8" Type="http://schemas.openxmlformats.org/officeDocument/2006/relationships/image" Target="../media/image790.png"/><Relationship Id="rId13" Type="http://schemas.openxmlformats.org/officeDocument/2006/relationships/image" Target="../media/image786.wmf"/><Relationship Id="rId3" Type="http://schemas.openxmlformats.org/officeDocument/2006/relationships/image" Target="../media/image789.png"/><Relationship Id="rId7" Type="http://schemas.openxmlformats.org/officeDocument/2006/relationships/image" Target="../media/image774.wmf"/><Relationship Id="rId12" Type="http://schemas.openxmlformats.org/officeDocument/2006/relationships/oleObject" Target="../embeddings/oleObject714.bin"/><Relationship Id="rId17" Type="http://schemas.openxmlformats.org/officeDocument/2006/relationships/image" Target="../media/image788.wmf"/><Relationship Id="rId2" Type="http://schemas.openxmlformats.org/officeDocument/2006/relationships/slideLayout" Target="../slideLayouts/slideLayout7.xml"/><Relationship Id="rId16" Type="http://schemas.openxmlformats.org/officeDocument/2006/relationships/oleObject" Target="../embeddings/oleObject716.bin"/><Relationship Id="rId1" Type="http://schemas.openxmlformats.org/officeDocument/2006/relationships/vmlDrawing" Target="../drawings/vmlDrawing133.vml"/><Relationship Id="rId6" Type="http://schemas.openxmlformats.org/officeDocument/2006/relationships/oleObject" Target="../embeddings/oleObject712.bin"/><Relationship Id="rId11" Type="http://schemas.openxmlformats.org/officeDocument/2006/relationships/image" Target="../media/image785.wmf"/><Relationship Id="rId5" Type="http://schemas.openxmlformats.org/officeDocument/2006/relationships/image" Target="../media/image784.wmf"/><Relationship Id="rId15" Type="http://schemas.openxmlformats.org/officeDocument/2006/relationships/image" Target="../media/image787.wmf"/><Relationship Id="rId10" Type="http://schemas.openxmlformats.org/officeDocument/2006/relationships/oleObject" Target="../embeddings/oleObject713.bin"/><Relationship Id="rId4" Type="http://schemas.openxmlformats.org/officeDocument/2006/relationships/oleObject" Target="../embeddings/oleObject711.bin"/><Relationship Id="rId9" Type="http://schemas.openxmlformats.org/officeDocument/2006/relationships/image" Target="../media/image791.png"/><Relationship Id="rId14" Type="http://schemas.openxmlformats.org/officeDocument/2006/relationships/oleObject" Target="../embeddings/oleObject715.bin"/></Relationships>
</file>

<file path=ppt/slides/_rels/slide178.xml.rels><?xml version="1.0" encoding="UTF-8" standalone="yes"?>
<Relationships xmlns="http://schemas.openxmlformats.org/package/2006/relationships"><Relationship Id="rId3" Type="http://schemas.openxmlformats.org/officeDocument/2006/relationships/image" Target="../media/image793.png"/><Relationship Id="rId2" Type="http://schemas.openxmlformats.org/officeDocument/2006/relationships/image" Target="../media/image792.png"/><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3" Type="http://schemas.openxmlformats.org/officeDocument/2006/relationships/oleObject" Target="../embeddings/oleObject717.bin"/><Relationship Id="rId2" Type="http://schemas.openxmlformats.org/officeDocument/2006/relationships/slideLayout" Target="../slideLayouts/slideLayout7.xml"/><Relationship Id="rId1" Type="http://schemas.openxmlformats.org/officeDocument/2006/relationships/vmlDrawing" Target="../drawings/vmlDrawing134.vml"/><Relationship Id="rId6" Type="http://schemas.openxmlformats.org/officeDocument/2006/relationships/image" Target="../media/image795.wmf"/><Relationship Id="rId5" Type="http://schemas.openxmlformats.org/officeDocument/2006/relationships/oleObject" Target="../embeddings/oleObject718.bin"/><Relationship Id="rId4" Type="http://schemas.openxmlformats.org/officeDocument/2006/relationships/image" Target="../media/image794.png"/></Relationships>
</file>

<file path=ppt/slides/_rels/slide180.xml.rels><?xml version="1.0" encoding="UTF-8" standalone="yes"?>
<Relationships xmlns="http://schemas.openxmlformats.org/package/2006/relationships"><Relationship Id="rId3" Type="http://schemas.openxmlformats.org/officeDocument/2006/relationships/oleObject" Target="../embeddings/oleObject719.bin"/><Relationship Id="rId2" Type="http://schemas.openxmlformats.org/officeDocument/2006/relationships/slideLayout" Target="../slideLayouts/slideLayout7.xml"/><Relationship Id="rId1" Type="http://schemas.openxmlformats.org/officeDocument/2006/relationships/vmlDrawing" Target="../drawings/vmlDrawing135.vml"/><Relationship Id="rId4" Type="http://schemas.openxmlformats.org/officeDocument/2006/relationships/image" Target="../media/image796.png"/></Relationships>
</file>

<file path=ppt/slides/_rels/slide181.xml.rels><?xml version="1.0" encoding="UTF-8" standalone="yes"?>
<Relationships xmlns="http://schemas.openxmlformats.org/package/2006/relationships"><Relationship Id="rId8" Type="http://schemas.openxmlformats.org/officeDocument/2006/relationships/image" Target="../media/image799.wmf"/><Relationship Id="rId13" Type="http://schemas.openxmlformats.org/officeDocument/2006/relationships/oleObject" Target="../embeddings/oleObject725.bin"/><Relationship Id="rId18" Type="http://schemas.openxmlformats.org/officeDocument/2006/relationships/image" Target="../media/image804.wmf"/><Relationship Id="rId3" Type="http://schemas.openxmlformats.org/officeDocument/2006/relationships/oleObject" Target="../embeddings/oleObject720.bin"/><Relationship Id="rId7" Type="http://schemas.openxmlformats.org/officeDocument/2006/relationships/oleObject" Target="../embeddings/oleObject722.bin"/><Relationship Id="rId12" Type="http://schemas.openxmlformats.org/officeDocument/2006/relationships/image" Target="../media/image801.wmf"/><Relationship Id="rId17" Type="http://schemas.openxmlformats.org/officeDocument/2006/relationships/oleObject" Target="../embeddings/oleObject727.bin"/><Relationship Id="rId2" Type="http://schemas.openxmlformats.org/officeDocument/2006/relationships/slideLayout" Target="../slideLayouts/slideLayout7.xml"/><Relationship Id="rId16" Type="http://schemas.openxmlformats.org/officeDocument/2006/relationships/image" Target="../media/image803.wmf"/><Relationship Id="rId1" Type="http://schemas.openxmlformats.org/officeDocument/2006/relationships/vmlDrawing" Target="../drawings/vmlDrawing136.vml"/><Relationship Id="rId6" Type="http://schemas.openxmlformats.org/officeDocument/2006/relationships/image" Target="../media/image798.png"/><Relationship Id="rId11" Type="http://schemas.openxmlformats.org/officeDocument/2006/relationships/oleObject" Target="../embeddings/oleObject724.bin"/><Relationship Id="rId5" Type="http://schemas.openxmlformats.org/officeDocument/2006/relationships/oleObject" Target="../embeddings/oleObject721.bin"/><Relationship Id="rId15" Type="http://schemas.openxmlformats.org/officeDocument/2006/relationships/oleObject" Target="../embeddings/oleObject726.bin"/><Relationship Id="rId10" Type="http://schemas.openxmlformats.org/officeDocument/2006/relationships/image" Target="../media/image800.wmf"/><Relationship Id="rId4" Type="http://schemas.openxmlformats.org/officeDocument/2006/relationships/image" Target="../media/image797.png"/><Relationship Id="rId9" Type="http://schemas.openxmlformats.org/officeDocument/2006/relationships/oleObject" Target="../embeddings/oleObject723.bin"/><Relationship Id="rId14" Type="http://schemas.openxmlformats.org/officeDocument/2006/relationships/image" Target="../media/image802.wmf"/></Relationships>
</file>

<file path=ppt/slides/_rels/slide182.xml.rels><?xml version="1.0" encoding="UTF-8" standalone="yes"?>
<Relationships xmlns="http://schemas.openxmlformats.org/package/2006/relationships"><Relationship Id="rId8" Type="http://schemas.openxmlformats.org/officeDocument/2006/relationships/oleObject" Target="../embeddings/oleObject730.bin"/><Relationship Id="rId13" Type="http://schemas.openxmlformats.org/officeDocument/2006/relationships/image" Target="../media/image809.wmf"/><Relationship Id="rId3" Type="http://schemas.openxmlformats.org/officeDocument/2006/relationships/image" Target="../media/image811.png"/><Relationship Id="rId7" Type="http://schemas.openxmlformats.org/officeDocument/2006/relationships/image" Target="../media/image806.wmf"/><Relationship Id="rId12" Type="http://schemas.openxmlformats.org/officeDocument/2006/relationships/oleObject" Target="../embeddings/oleObject732.bin"/><Relationship Id="rId2" Type="http://schemas.openxmlformats.org/officeDocument/2006/relationships/slideLayout" Target="../slideLayouts/slideLayout7.xml"/><Relationship Id="rId1" Type="http://schemas.openxmlformats.org/officeDocument/2006/relationships/vmlDrawing" Target="../drawings/vmlDrawing137.vml"/><Relationship Id="rId6" Type="http://schemas.openxmlformats.org/officeDocument/2006/relationships/oleObject" Target="../embeddings/oleObject729.bin"/><Relationship Id="rId11" Type="http://schemas.openxmlformats.org/officeDocument/2006/relationships/image" Target="../media/image808.wmf"/><Relationship Id="rId5" Type="http://schemas.openxmlformats.org/officeDocument/2006/relationships/image" Target="../media/image805.wmf"/><Relationship Id="rId15" Type="http://schemas.openxmlformats.org/officeDocument/2006/relationships/image" Target="../media/image810.wmf"/><Relationship Id="rId10" Type="http://schemas.openxmlformats.org/officeDocument/2006/relationships/oleObject" Target="../embeddings/oleObject731.bin"/><Relationship Id="rId4" Type="http://schemas.openxmlformats.org/officeDocument/2006/relationships/oleObject" Target="../embeddings/oleObject728.bin"/><Relationship Id="rId9" Type="http://schemas.openxmlformats.org/officeDocument/2006/relationships/image" Target="../media/image807.wmf"/><Relationship Id="rId14" Type="http://schemas.openxmlformats.org/officeDocument/2006/relationships/oleObject" Target="../embeddings/oleObject733.bin"/></Relationships>
</file>

<file path=ppt/slides/_rels/slide183.xml.rels><?xml version="1.0" encoding="UTF-8" standalone="yes"?>
<Relationships xmlns="http://schemas.openxmlformats.org/package/2006/relationships"><Relationship Id="rId2" Type="http://schemas.openxmlformats.org/officeDocument/2006/relationships/image" Target="../media/image812.png"/><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3" Type="http://schemas.openxmlformats.org/officeDocument/2006/relationships/oleObject" Target="../embeddings/oleObject734.bin"/><Relationship Id="rId2" Type="http://schemas.openxmlformats.org/officeDocument/2006/relationships/slideLayout" Target="../slideLayouts/slideLayout7.xml"/><Relationship Id="rId1" Type="http://schemas.openxmlformats.org/officeDocument/2006/relationships/vmlDrawing" Target="../drawings/vmlDrawing138.vml"/><Relationship Id="rId6" Type="http://schemas.openxmlformats.org/officeDocument/2006/relationships/image" Target="../media/image814.png"/><Relationship Id="rId5" Type="http://schemas.openxmlformats.org/officeDocument/2006/relationships/oleObject" Target="../embeddings/oleObject735.bin"/><Relationship Id="rId4" Type="http://schemas.openxmlformats.org/officeDocument/2006/relationships/image" Target="../media/image813.wmf"/></Relationships>
</file>

<file path=ppt/slides/_rels/slide185.xml.rels><?xml version="1.0" encoding="UTF-8" standalone="yes"?>
<Relationships xmlns="http://schemas.openxmlformats.org/package/2006/relationships"><Relationship Id="rId8" Type="http://schemas.openxmlformats.org/officeDocument/2006/relationships/image" Target="../media/image816.wmf"/><Relationship Id="rId3" Type="http://schemas.openxmlformats.org/officeDocument/2006/relationships/oleObject" Target="../embeddings/oleObject736.bin"/><Relationship Id="rId7" Type="http://schemas.openxmlformats.org/officeDocument/2006/relationships/oleObject" Target="../embeddings/oleObject738.bin"/><Relationship Id="rId12" Type="http://schemas.openxmlformats.org/officeDocument/2006/relationships/image" Target="../media/image814.png"/><Relationship Id="rId2" Type="http://schemas.openxmlformats.org/officeDocument/2006/relationships/slideLayout" Target="../slideLayouts/slideLayout7.xml"/><Relationship Id="rId1" Type="http://schemas.openxmlformats.org/officeDocument/2006/relationships/vmlDrawing" Target="../drawings/vmlDrawing139.vml"/><Relationship Id="rId6" Type="http://schemas.openxmlformats.org/officeDocument/2006/relationships/image" Target="../media/image815.wmf"/><Relationship Id="rId11" Type="http://schemas.openxmlformats.org/officeDocument/2006/relationships/oleObject" Target="../embeddings/oleObject740.bin"/><Relationship Id="rId5" Type="http://schemas.openxmlformats.org/officeDocument/2006/relationships/oleObject" Target="../embeddings/oleObject737.bin"/><Relationship Id="rId10" Type="http://schemas.openxmlformats.org/officeDocument/2006/relationships/image" Target="../media/image817.wmf"/><Relationship Id="rId4" Type="http://schemas.openxmlformats.org/officeDocument/2006/relationships/image" Target="../media/image813.wmf"/><Relationship Id="rId9" Type="http://schemas.openxmlformats.org/officeDocument/2006/relationships/oleObject" Target="../embeddings/oleObject739.bin"/></Relationships>
</file>

<file path=ppt/slides/_rels/slide186.xml.rels><?xml version="1.0" encoding="UTF-8" standalone="yes"?>
<Relationships xmlns="http://schemas.openxmlformats.org/package/2006/relationships"><Relationship Id="rId8" Type="http://schemas.openxmlformats.org/officeDocument/2006/relationships/image" Target="../media/image821.png"/><Relationship Id="rId3" Type="http://schemas.openxmlformats.org/officeDocument/2006/relationships/oleObject" Target="../embeddings/oleObject741.bin"/><Relationship Id="rId7" Type="http://schemas.openxmlformats.org/officeDocument/2006/relationships/image" Target="../media/image819.emf"/><Relationship Id="rId2" Type="http://schemas.openxmlformats.org/officeDocument/2006/relationships/slideLayout" Target="../slideLayouts/slideLayout7.xml"/><Relationship Id="rId1" Type="http://schemas.openxmlformats.org/officeDocument/2006/relationships/vmlDrawing" Target="../drawings/vmlDrawing140.vml"/><Relationship Id="rId6" Type="http://schemas.openxmlformats.org/officeDocument/2006/relationships/oleObject" Target="../embeddings/oleObject742.bin"/><Relationship Id="rId5" Type="http://schemas.openxmlformats.org/officeDocument/2006/relationships/image" Target="../media/image820.emf"/><Relationship Id="rId4" Type="http://schemas.openxmlformats.org/officeDocument/2006/relationships/image" Target="../media/image818.wmf"/></Relationships>
</file>

<file path=ppt/slides/_rels/slide187.xml.rels><?xml version="1.0" encoding="UTF-8" standalone="yes"?>
<Relationships xmlns="http://schemas.openxmlformats.org/package/2006/relationships"><Relationship Id="rId8" Type="http://schemas.openxmlformats.org/officeDocument/2006/relationships/image" Target="../media/image824.wmf"/><Relationship Id="rId3" Type="http://schemas.openxmlformats.org/officeDocument/2006/relationships/oleObject" Target="../embeddings/oleObject743.bin"/><Relationship Id="rId7" Type="http://schemas.openxmlformats.org/officeDocument/2006/relationships/oleObject" Target="../embeddings/oleObject745.bin"/><Relationship Id="rId2" Type="http://schemas.openxmlformats.org/officeDocument/2006/relationships/slideLayout" Target="../slideLayouts/slideLayout7.xml"/><Relationship Id="rId1" Type="http://schemas.openxmlformats.org/officeDocument/2006/relationships/vmlDrawing" Target="../drawings/vmlDrawing141.vml"/><Relationship Id="rId6" Type="http://schemas.openxmlformats.org/officeDocument/2006/relationships/image" Target="../media/image823.wmf"/><Relationship Id="rId5" Type="http://schemas.openxmlformats.org/officeDocument/2006/relationships/oleObject" Target="../embeddings/oleObject744.bin"/><Relationship Id="rId10" Type="http://schemas.openxmlformats.org/officeDocument/2006/relationships/image" Target="../media/image825.png"/><Relationship Id="rId4" Type="http://schemas.openxmlformats.org/officeDocument/2006/relationships/image" Target="../media/image822.wmf"/><Relationship Id="rId9" Type="http://schemas.openxmlformats.org/officeDocument/2006/relationships/oleObject" Target="../embeddings/oleObject746.bin"/></Relationships>
</file>

<file path=ppt/slides/_rels/slide188.xml.rels><?xml version="1.0" encoding="UTF-8" standalone="yes"?>
<Relationships xmlns="http://schemas.openxmlformats.org/package/2006/relationships"><Relationship Id="rId8" Type="http://schemas.openxmlformats.org/officeDocument/2006/relationships/image" Target="../media/image828.emf"/><Relationship Id="rId13" Type="http://schemas.openxmlformats.org/officeDocument/2006/relationships/oleObject" Target="../embeddings/Microsoft_Word_97_-_2003___1.doc"/><Relationship Id="rId3" Type="http://schemas.openxmlformats.org/officeDocument/2006/relationships/oleObject" Target="../embeddings/oleObject747.bin"/><Relationship Id="rId7" Type="http://schemas.openxmlformats.org/officeDocument/2006/relationships/oleObject" Target="../embeddings/oleObject749.bin"/><Relationship Id="rId12" Type="http://schemas.openxmlformats.org/officeDocument/2006/relationships/image" Target="../media/image830.emf"/><Relationship Id="rId2" Type="http://schemas.openxmlformats.org/officeDocument/2006/relationships/slideLayout" Target="../slideLayouts/slideLayout7.xml"/><Relationship Id="rId1" Type="http://schemas.openxmlformats.org/officeDocument/2006/relationships/vmlDrawing" Target="../drawings/vmlDrawing142.vml"/><Relationship Id="rId6" Type="http://schemas.openxmlformats.org/officeDocument/2006/relationships/image" Target="../media/image827.emf"/><Relationship Id="rId11" Type="http://schemas.openxmlformats.org/officeDocument/2006/relationships/oleObject" Target="../embeddings/oleObject751.bin"/><Relationship Id="rId5" Type="http://schemas.openxmlformats.org/officeDocument/2006/relationships/oleObject" Target="../embeddings/oleObject748.bin"/><Relationship Id="rId10" Type="http://schemas.openxmlformats.org/officeDocument/2006/relationships/image" Target="../media/image829.emf"/><Relationship Id="rId4" Type="http://schemas.openxmlformats.org/officeDocument/2006/relationships/image" Target="../media/image826.emf"/><Relationship Id="rId9" Type="http://schemas.openxmlformats.org/officeDocument/2006/relationships/oleObject" Target="../embeddings/oleObject750.bin"/><Relationship Id="rId14" Type="http://schemas.openxmlformats.org/officeDocument/2006/relationships/image" Target="../media/image831.emf"/></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3" Type="http://schemas.openxmlformats.org/officeDocument/2006/relationships/oleObject" Target="../embeddings/oleObject752.bin"/><Relationship Id="rId2" Type="http://schemas.openxmlformats.org/officeDocument/2006/relationships/slideLayout" Target="../slideLayouts/slideLayout7.xml"/><Relationship Id="rId1" Type="http://schemas.openxmlformats.org/officeDocument/2006/relationships/vmlDrawing" Target="../drawings/vmlDrawing143.vml"/><Relationship Id="rId5" Type="http://schemas.openxmlformats.org/officeDocument/2006/relationships/image" Target="../media/image833.png"/><Relationship Id="rId4" Type="http://schemas.openxmlformats.org/officeDocument/2006/relationships/image" Target="../media/image832.emf"/></Relationships>
</file>

<file path=ppt/slides/_rels/slide191.xml.rels><?xml version="1.0" encoding="UTF-8" standalone="yes"?>
<Relationships xmlns="http://schemas.openxmlformats.org/package/2006/relationships"><Relationship Id="rId3" Type="http://schemas.openxmlformats.org/officeDocument/2006/relationships/oleObject" Target="../embeddings/oleObject753.bin"/><Relationship Id="rId2" Type="http://schemas.openxmlformats.org/officeDocument/2006/relationships/slideLayout" Target="../slideLayouts/slideLayout7.xml"/><Relationship Id="rId1" Type="http://schemas.openxmlformats.org/officeDocument/2006/relationships/vmlDrawing" Target="../drawings/vmlDrawing144.vml"/><Relationship Id="rId5" Type="http://schemas.openxmlformats.org/officeDocument/2006/relationships/image" Target="../media/image835.png"/><Relationship Id="rId4" Type="http://schemas.openxmlformats.org/officeDocument/2006/relationships/image" Target="../media/image834.wmf"/></Relationships>
</file>

<file path=ppt/slides/_rels/slide192.xml.rels><?xml version="1.0" encoding="UTF-8" standalone="yes"?>
<Relationships xmlns="http://schemas.openxmlformats.org/package/2006/relationships"><Relationship Id="rId8" Type="http://schemas.openxmlformats.org/officeDocument/2006/relationships/oleObject" Target="../embeddings/oleObject756.bin"/><Relationship Id="rId13" Type="http://schemas.openxmlformats.org/officeDocument/2006/relationships/image" Target="../media/image840.wmf"/><Relationship Id="rId18" Type="http://schemas.openxmlformats.org/officeDocument/2006/relationships/oleObject" Target="../embeddings/oleObject761.bin"/><Relationship Id="rId3" Type="http://schemas.openxmlformats.org/officeDocument/2006/relationships/image" Target="../media/image845.png"/><Relationship Id="rId21" Type="http://schemas.openxmlformats.org/officeDocument/2006/relationships/image" Target="../media/image844.wmf"/><Relationship Id="rId7" Type="http://schemas.openxmlformats.org/officeDocument/2006/relationships/image" Target="../media/image837.wmf"/><Relationship Id="rId12" Type="http://schemas.openxmlformats.org/officeDocument/2006/relationships/oleObject" Target="../embeddings/oleObject758.bin"/><Relationship Id="rId17" Type="http://schemas.openxmlformats.org/officeDocument/2006/relationships/image" Target="../media/image842.emf"/><Relationship Id="rId2" Type="http://schemas.openxmlformats.org/officeDocument/2006/relationships/slideLayout" Target="../slideLayouts/slideLayout7.xml"/><Relationship Id="rId16" Type="http://schemas.openxmlformats.org/officeDocument/2006/relationships/oleObject" Target="../embeddings/oleObject760.bin"/><Relationship Id="rId20" Type="http://schemas.openxmlformats.org/officeDocument/2006/relationships/oleObject" Target="../embeddings/oleObject762.bin"/><Relationship Id="rId1" Type="http://schemas.openxmlformats.org/officeDocument/2006/relationships/vmlDrawing" Target="../drawings/vmlDrawing145.vml"/><Relationship Id="rId6" Type="http://schemas.openxmlformats.org/officeDocument/2006/relationships/oleObject" Target="../embeddings/oleObject755.bin"/><Relationship Id="rId11" Type="http://schemas.openxmlformats.org/officeDocument/2006/relationships/image" Target="../media/image839.wmf"/><Relationship Id="rId5" Type="http://schemas.openxmlformats.org/officeDocument/2006/relationships/image" Target="../media/image836.png"/><Relationship Id="rId15" Type="http://schemas.openxmlformats.org/officeDocument/2006/relationships/image" Target="../media/image841.emf"/><Relationship Id="rId10" Type="http://schemas.openxmlformats.org/officeDocument/2006/relationships/oleObject" Target="../embeddings/oleObject757.bin"/><Relationship Id="rId19" Type="http://schemas.openxmlformats.org/officeDocument/2006/relationships/image" Target="../media/image843.wmf"/><Relationship Id="rId4" Type="http://schemas.openxmlformats.org/officeDocument/2006/relationships/oleObject" Target="../embeddings/oleObject754.bin"/><Relationship Id="rId9" Type="http://schemas.openxmlformats.org/officeDocument/2006/relationships/image" Target="../media/image838.wmf"/><Relationship Id="rId14" Type="http://schemas.openxmlformats.org/officeDocument/2006/relationships/oleObject" Target="../embeddings/oleObject759.bin"/><Relationship Id="rId22" Type="http://schemas.openxmlformats.org/officeDocument/2006/relationships/image" Target="../media/image846.png"/></Relationships>
</file>

<file path=ppt/slides/_rels/slide193.xml.rels><?xml version="1.0" encoding="UTF-8" standalone="yes"?>
<Relationships xmlns="http://schemas.openxmlformats.org/package/2006/relationships"><Relationship Id="rId8" Type="http://schemas.openxmlformats.org/officeDocument/2006/relationships/image" Target="../media/image848.wmf"/><Relationship Id="rId13" Type="http://schemas.openxmlformats.org/officeDocument/2006/relationships/oleObject" Target="../embeddings/oleObject767.bin"/><Relationship Id="rId3" Type="http://schemas.openxmlformats.org/officeDocument/2006/relationships/image" Target="../media/image852.png"/><Relationship Id="rId7" Type="http://schemas.openxmlformats.org/officeDocument/2006/relationships/oleObject" Target="../embeddings/oleObject764.bin"/><Relationship Id="rId12" Type="http://schemas.openxmlformats.org/officeDocument/2006/relationships/image" Target="../media/image850.wmf"/><Relationship Id="rId2" Type="http://schemas.openxmlformats.org/officeDocument/2006/relationships/slideLayout" Target="../slideLayouts/slideLayout7.xml"/><Relationship Id="rId1" Type="http://schemas.openxmlformats.org/officeDocument/2006/relationships/vmlDrawing" Target="../drawings/vmlDrawing146.vml"/><Relationship Id="rId6" Type="http://schemas.openxmlformats.org/officeDocument/2006/relationships/image" Target="../media/image847.wmf"/><Relationship Id="rId11" Type="http://schemas.openxmlformats.org/officeDocument/2006/relationships/oleObject" Target="../embeddings/oleObject766.bin"/><Relationship Id="rId5" Type="http://schemas.openxmlformats.org/officeDocument/2006/relationships/oleObject" Target="../embeddings/oleObject763.bin"/><Relationship Id="rId10" Type="http://schemas.openxmlformats.org/officeDocument/2006/relationships/image" Target="../media/image849.wmf"/><Relationship Id="rId4" Type="http://schemas.openxmlformats.org/officeDocument/2006/relationships/image" Target="../media/image853.png"/><Relationship Id="rId9" Type="http://schemas.openxmlformats.org/officeDocument/2006/relationships/oleObject" Target="../embeddings/oleObject765.bin"/><Relationship Id="rId14" Type="http://schemas.openxmlformats.org/officeDocument/2006/relationships/image" Target="../media/image851.wmf"/></Relationships>
</file>

<file path=ppt/slides/_rels/slide194.xml.rels><?xml version="1.0" encoding="UTF-8" standalone="yes"?>
<Relationships xmlns="http://schemas.openxmlformats.org/package/2006/relationships"><Relationship Id="rId8" Type="http://schemas.openxmlformats.org/officeDocument/2006/relationships/image" Target="../media/image856.wmf"/><Relationship Id="rId13" Type="http://schemas.openxmlformats.org/officeDocument/2006/relationships/oleObject" Target="../embeddings/oleObject773.bin"/><Relationship Id="rId3" Type="http://schemas.openxmlformats.org/officeDocument/2006/relationships/oleObject" Target="../embeddings/oleObject768.bin"/><Relationship Id="rId7" Type="http://schemas.openxmlformats.org/officeDocument/2006/relationships/oleObject" Target="../embeddings/oleObject770.bin"/><Relationship Id="rId12" Type="http://schemas.openxmlformats.org/officeDocument/2006/relationships/image" Target="../media/image858.wmf"/><Relationship Id="rId2" Type="http://schemas.openxmlformats.org/officeDocument/2006/relationships/slideLayout" Target="../slideLayouts/slideLayout7.xml"/><Relationship Id="rId1" Type="http://schemas.openxmlformats.org/officeDocument/2006/relationships/vmlDrawing" Target="../drawings/vmlDrawing147.vml"/><Relationship Id="rId6" Type="http://schemas.openxmlformats.org/officeDocument/2006/relationships/image" Target="../media/image855.png"/><Relationship Id="rId11" Type="http://schemas.openxmlformats.org/officeDocument/2006/relationships/oleObject" Target="../embeddings/oleObject772.bin"/><Relationship Id="rId5" Type="http://schemas.openxmlformats.org/officeDocument/2006/relationships/oleObject" Target="../embeddings/oleObject769.bin"/><Relationship Id="rId10" Type="http://schemas.openxmlformats.org/officeDocument/2006/relationships/image" Target="../media/image857.wmf"/><Relationship Id="rId4" Type="http://schemas.openxmlformats.org/officeDocument/2006/relationships/image" Target="../media/image854.wmf"/><Relationship Id="rId9" Type="http://schemas.openxmlformats.org/officeDocument/2006/relationships/oleObject" Target="../embeddings/oleObject771.bin"/><Relationship Id="rId14" Type="http://schemas.openxmlformats.org/officeDocument/2006/relationships/image" Target="../media/image859.wmf"/></Relationships>
</file>

<file path=ppt/slides/_rels/slide195.xml.rels><?xml version="1.0" encoding="UTF-8" standalone="yes"?>
<Relationships xmlns="http://schemas.openxmlformats.org/package/2006/relationships"><Relationship Id="rId8" Type="http://schemas.openxmlformats.org/officeDocument/2006/relationships/image" Target="../media/image862.emf"/><Relationship Id="rId3" Type="http://schemas.openxmlformats.org/officeDocument/2006/relationships/oleObject" Target="../embeddings/oleObject774.bin"/><Relationship Id="rId7" Type="http://schemas.openxmlformats.org/officeDocument/2006/relationships/oleObject" Target="../embeddings/oleObject776.bin"/><Relationship Id="rId2" Type="http://schemas.openxmlformats.org/officeDocument/2006/relationships/slideLayout" Target="../slideLayouts/slideLayout7.xml"/><Relationship Id="rId1" Type="http://schemas.openxmlformats.org/officeDocument/2006/relationships/vmlDrawing" Target="../drawings/vmlDrawing148.vml"/><Relationship Id="rId6" Type="http://schemas.openxmlformats.org/officeDocument/2006/relationships/image" Target="../media/image861.png"/><Relationship Id="rId5" Type="http://schemas.openxmlformats.org/officeDocument/2006/relationships/oleObject" Target="../embeddings/oleObject775.bin"/><Relationship Id="rId10" Type="http://schemas.openxmlformats.org/officeDocument/2006/relationships/image" Target="../media/image863.emf"/><Relationship Id="rId4" Type="http://schemas.openxmlformats.org/officeDocument/2006/relationships/image" Target="../media/image860.wmf"/><Relationship Id="rId9" Type="http://schemas.openxmlformats.org/officeDocument/2006/relationships/oleObject" Target="../embeddings/oleObject777.bin"/></Relationships>
</file>

<file path=ppt/slides/_rels/slide196.xml.rels><?xml version="1.0" encoding="UTF-8" standalone="yes"?>
<Relationships xmlns="http://schemas.openxmlformats.org/package/2006/relationships"><Relationship Id="rId8" Type="http://schemas.openxmlformats.org/officeDocument/2006/relationships/image" Target="../media/image866.emf"/><Relationship Id="rId3" Type="http://schemas.openxmlformats.org/officeDocument/2006/relationships/oleObject" Target="../embeddings/oleObject778.bin"/><Relationship Id="rId7" Type="http://schemas.openxmlformats.org/officeDocument/2006/relationships/oleObject" Target="../embeddings/oleObject780.bin"/><Relationship Id="rId2" Type="http://schemas.openxmlformats.org/officeDocument/2006/relationships/slideLayout" Target="../slideLayouts/slideLayout7.xml"/><Relationship Id="rId1" Type="http://schemas.openxmlformats.org/officeDocument/2006/relationships/vmlDrawing" Target="../drawings/vmlDrawing149.vml"/><Relationship Id="rId6" Type="http://schemas.openxmlformats.org/officeDocument/2006/relationships/image" Target="../media/image865.wmf"/><Relationship Id="rId5" Type="http://schemas.openxmlformats.org/officeDocument/2006/relationships/oleObject" Target="../embeddings/oleObject779.bin"/><Relationship Id="rId10" Type="http://schemas.openxmlformats.org/officeDocument/2006/relationships/image" Target="../media/image861.png"/><Relationship Id="rId4" Type="http://schemas.openxmlformats.org/officeDocument/2006/relationships/image" Target="../media/image864.wmf"/><Relationship Id="rId9" Type="http://schemas.openxmlformats.org/officeDocument/2006/relationships/oleObject" Target="../embeddings/oleObject781.bin"/></Relationships>
</file>

<file path=ppt/slides/_rels/slide197.xml.rels><?xml version="1.0" encoding="UTF-8" standalone="yes"?>
<Relationships xmlns="http://schemas.openxmlformats.org/package/2006/relationships"><Relationship Id="rId8" Type="http://schemas.openxmlformats.org/officeDocument/2006/relationships/image" Target="../media/image868.wmf"/><Relationship Id="rId3" Type="http://schemas.openxmlformats.org/officeDocument/2006/relationships/image" Target="../media/image869.png"/><Relationship Id="rId7" Type="http://schemas.openxmlformats.org/officeDocument/2006/relationships/oleObject" Target="../embeddings/oleObject783.bin"/><Relationship Id="rId2" Type="http://schemas.openxmlformats.org/officeDocument/2006/relationships/slideLayout" Target="../slideLayouts/slideLayout7.xml"/><Relationship Id="rId1" Type="http://schemas.openxmlformats.org/officeDocument/2006/relationships/vmlDrawing" Target="../drawings/vmlDrawing150.vml"/><Relationship Id="rId6" Type="http://schemas.openxmlformats.org/officeDocument/2006/relationships/image" Target="../media/image867.wmf"/><Relationship Id="rId5" Type="http://schemas.openxmlformats.org/officeDocument/2006/relationships/oleObject" Target="../embeddings/oleObject782.bin"/><Relationship Id="rId4" Type="http://schemas.openxmlformats.org/officeDocument/2006/relationships/image" Target="../media/image870.png"/></Relationships>
</file>

<file path=ppt/slides/_rels/slide198.xml.rels><?xml version="1.0" encoding="UTF-8" standalone="yes"?>
<Relationships xmlns="http://schemas.openxmlformats.org/package/2006/relationships"><Relationship Id="rId8" Type="http://schemas.openxmlformats.org/officeDocument/2006/relationships/image" Target="../media/image872.emf"/><Relationship Id="rId3" Type="http://schemas.openxmlformats.org/officeDocument/2006/relationships/image" Target="../media/image869.png"/><Relationship Id="rId7" Type="http://schemas.openxmlformats.org/officeDocument/2006/relationships/oleObject" Target="../embeddings/oleObject785.bin"/><Relationship Id="rId12" Type="http://schemas.openxmlformats.org/officeDocument/2006/relationships/image" Target="../media/image874.wmf"/><Relationship Id="rId2" Type="http://schemas.openxmlformats.org/officeDocument/2006/relationships/slideLayout" Target="../slideLayouts/slideLayout7.xml"/><Relationship Id="rId1" Type="http://schemas.openxmlformats.org/officeDocument/2006/relationships/vmlDrawing" Target="../drawings/vmlDrawing151.vml"/><Relationship Id="rId6" Type="http://schemas.openxmlformats.org/officeDocument/2006/relationships/image" Target="../media/image871.emf"/><Relationship Id="rId11" Type="http://schemas.openxmlformats.org/officeDocument/2006/relationships/oleObject" Target="../embeddings/oleObject787.bin"/><Relationship Id="rId5" Type="http://schemas.openxmlformats.org/officeDocument/2006/relationships/oleObject" Target="../embeddings/oleObject784.bin"/><Relationship Id="rId10" Type="http://schemas.openxmlformats.org/officeDocument/2006/relationships/image" Target="../media/image873.emf"/><Relationship Id="rId4" Type="http://schemas.openxmlformats.org/officeDocument/2006/relationships/image" Target="../media/image870.png"/><Relationship Id="rId9" Type="http://schemas.openxmlformats.org/officeDocument/2006/relationships/oleObject" Target="../embeddings/oleObject786.bin"/></Relationships>
</file>

<file path=ppt/slides/_rels/slide199.xml.rels><?xml version="1.0" encoding="UTF-8" standalone="yes"?>
<Relationships xmlns="http://schemas.openxmlformats.org/package/2006/relationships"><Relationship Id="rId8" Type="http://schemas.openxmlformats.org/officeDocument/2006/relationships/oleObject" Target="../embeddings/oleObject790.bin"/><Relationship Id="rId13" Type="http://schemas.openxmlformats.org/officeDocument/2006/relationships/image" Target="../media/image879.wmf"/><Relationship Id="rId18" Type="http://schemas.openxmlformats.org/officeDocument/2006/relationships/image" Target="../media/image881.wmf"/><Relationship Id="rId3" Type="http://schemas.openxmlformats.org/officeDocument/2006/relationships/image" Target="../media/image883.wmf"/><Relationship Id="rId21" Type="http://schemas.openxmlformats.org/officeDocument/2006/relationships/image" Target="../media/image882.wmf"/><Relationship Id="rId7" Type="http://schemas.openxmlformats.org/officeDocument/2006/relationships/image" Target="../media/image876.wmf"/><Relationship Id="rId12" Type="http://schemas.openxmlformats.org/officeDocument/2006/relationships/oleObject" Target="../embeddings/oleObject792.bin"/><Relationship Id="rId17" Type="http://schemas.openxmlformats.org/officeDocument/2006/relationships/oleObject" Target="../embeddings/oleObject795.bin"/><Relationship Id="rId2" Type="http://schemas.openxmlformats.org/officeDocument/2006/relationships/slideLayout" Target="../slideLayouts/slideLayout7.xml"/><Relationship Id="rId16" Type="http://schemas.openxmlformats.org/officeDocument/2006/relationships/oleObject" Target="../embeddings/oleObject794.bin"/><Relationship Id="rId20" Type="http://schemas.openxmlformats.org/officeDocument/2006/relationships/oleObject" Target="../embeddings/oleObject797.bin"/><Relationship Id="rId1" Type="http://schemas.openxmlformats.org/officeDocument/2006/relationships/vmlDrawing" Target="../drawings/vmlDrawing152.vml"/><Relationship Id="rId6" Type="http://schemas.openxmlformats.org/officeDocument/2006/relationships/oleObject" Target="../embeddings/oleObject789.bin"/><Relationship Id="rId11" Type="http://schemas.openxmlformats.org/officeDocument/2006/relationships/image" Target="../media/image878.wmf"/><Relationship Id="rId5" Type="http://schemas.openxmlformats.org/officeDocument/2006/relationships/image" Target="../media/image875.wmf"/><Relationship Id="rId15" Type="http://schemas.openxmlformats.org/officeDocument/2006/relationships/image" Target="../media/image880.wmf"/><Relationship Id="rId10" Type="http://schemas.openxmlformats.org/officeDocument/2006/relationships/oleObject" Target="../embeddings/oleObject791.bin"/><Relationship Id="rId19" Type="http://schemas.openxmlformats.org/officeDocument/2006/relationships/oleObject" Target="../embeddings/oleObject796.bin"/><Relationship Id="rId4" Type="http://schemas.openxmlformats.org/officeDocument/2006/relationships/oleObject" Target="../embeddings/oleObject788.bin"/><Relationship Id="rId9" Type="http://schemas.openxmlformats.org/officeDocument/2006/relationships/image" Target="../media/image877.wmf"/><Relationship Id="rId14" Type="http://schemas.openxmlformats.org/officeDocument/2006/relationships/oleObject" Target="../embeddings/oleObject793.bin"/></Relationships>
</file>

<file path=ppt/slides/_rels/slide200.xml.rels><?xml version="1.0" encoding="UTF-8" standalone="yes"?>
<Relationships xmlns="http://schemas.openxmlformats.org/package/2006/relationships"><Relationship Id="rId2" Type="http://schemas.openxmlformats.org/officeDocument/2006/relationships/image" Target="../media/image884.png"/><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8" Type="http://schemas.openxmlformats.org/officeDocument/2006/relationships/image" Target="../media/image886.wmf"/><Relationship Id="rId13" Type="http://schemas.openxmlformats.org/officeDocument/2006/relationships/oleObject" Target="../embeddings/oleObject802.bin"/><Relationship Id="rId18" Type="http://schemas.openxmlformats.org/officeDocument/2006/relationships/image" Target="../media/image891.wmf"/><Relationship Id="rId3" Type="http://schemas.openxmlformats.org/officeDocument/2006/relationships/image" Target="../media/image893.png"/><Relationship Id="rId7" Type="http://schemas.openxmlformats.org/officeDocument/2006/relationships/oleObject" Target="../embeddings/oleObject799.bin"/><Relationship Id="rId12" Type="http://schemas.openxmlformats.org/officeDocument/2006/relationships/image" Target="../media/image888.wmf"/><Relationship Id="rId17" Type="http://schemas.openxmlformats.org/officeDocument/2006/relationships/oleObject" Target="../embeddings/oleObject804.bin"/><Relationship Id="rId2" Type="http://schemas.openxmlformats.org/officeDocument/2006/relationships/slideLayout" Target="../slideLayouts/slideLayout7.xml"/><Relationship Id="rId16" Type="http://schemas.openxmlformats.org/officeDocument/2006/relationships/image" Target="../media/image890.wmf"/><Relationship Id="rId20" Type="http://schemas.openxmlformats.org/officeDocument/2006/relationships/image" Target="../media/image892.emf"/><Relationship Id="rId1" Type="http://schemas.openxmlformats.org/officeDocument/2006/relationships/vmlDrawing" Target="../drawings/vmlDrawing153.vml"/><Relationship Id="rId6" Type="http://schemas.openxmlformats.org/officeDocument/2006/relationships/image" Target="../media/image885.emf"/><Relationship Id="rId11" Type="http://schemas.openxmlformats.org/officeDocument/2006/relationships/oleObject" Target="../embeddings/oleObject801.bin"/><Relationship Id="rId5" Type="http://schemas.openxmlformats.org/officeDocument/2006/relationships/oleObject" Target="../embeddings/oleObject798.bin"/><Relationship Id="rId15" Type="http://schemas.openxmlformats.org/officeDocument/2006/relationships/oleObject" Target="../embeddings/oleObject803.bin"/><Relationship Id="rId10" Type="http://schemas.openxmlformats.org/officeDocument/2006/relationships/image" Target="../media/image887.wmf"/><Relationship Id="rId19" Type="http://schemas.openxmlformats.org/officeDocument/2006/relationships/oleObject" Target="../embeddings/oleObject805.bin"/><Relationship Id="rId4" Type="http://schemas.openxmlformats.org/officeDocument/2006/relationships/image" Target="../media/image894.png"/><Relationship Id="rId9" Type="http://schemas.openxmlformats.org/officeDocument/2006/relationships/oleObject" Target="../embeddings/oleObject800.bin"/><Relationship Id="rId14" Type="http://schemas.openxmlformats.org/officeDocument/2006/relationships/image" Target="../media/image889.wmf"/></Relationships>
</file>

<file path=ppt/slides/_rels/slide202.xml.rels><?xml version="1.0" encoding="UTF-8" standalone="yes"?>
<Relationships xmlns="http://schemas.openxmlformats.org/package/2006/relationships"><Relationship Id="rId8" Type="http://schemas.openxmlformats.org/officeDocument/2006/relationships/oleObject" Target="../embeddings/oleObject808.bin"/><Relationship Id="rId3" Type="http://schemas.openxmlformats.org/officeDocument/2006/relationships/oleObject" Target="../embeddings/oleObject806.bin"/><Relationship Id="rId7" Type="http://schemas.openxmlformats.org/officeDocument/2006/relationships/image" Target="../media/image898.png"/><Relationship Id="rId2" Type="http://schemas.openxmlformats.org/officeDocument/2006/relationships/slideLayout" Target="../slideLayouts/slideLayout7.xml"/><Relationship Id="rId1" Type="http://schemas.openxmlformats.org/officeDocument/2006/relationships/vmlDrawing" Target="../drawings/vmlDrawing154.vml"/><Relationship Id="rId6" Type="http://schemas.openxmlformats.org/officeDocument/2006/relationships/image" Target="../media/image896.emf"/><Relationship Id="rId5" Type="http://schemas.openxmlformats.org/officeDocument/2006/relationships/oleObject" Target="../embeddings/oleObject807.bin"/><Relationship Id="rId4" Type="http://schemas.openxmlformats.org/officeDocument/2006/relationships/image" Target="../media/image895.emf"/><Relationship Id="rId9" Type="http://schemas.openxmlformats.org/officeDocument/2006/relationships/image" Target="../media/image897.emf"/></Relationships>
</file>

<file path=ppt/slides/_rels/slide203.xml.rels><?xml version="1.0" encoding="UTF-8" standalone="yes"?>
<Relationships xmlns="http://schemas.openxmlformats.org/package/2006/relationships"><Relationship Id="rId8" Type="http://schemas.openxmlformats.org/officeDocument/2006/relationships/image" Target="../media/image901.wmf"/><Relationship Id="rId13" Type="http://schemas.openxmlformats.org/officeDocument/2006/relationships/oleObject" Target="../embeddings/oleObject814.bin"/><Relationship Id="rId3" Type="http://schemas.openxmlformats.org/officeDocument/2006/relationships/oleObject" Target="../embeddings/oleObject809.bin"/><Relationship Id="rId7" Type="http://schemas.openxmlformats.org/officeDocument/2006/relationships/oleObject" Target="../embeddings/oleObject811.bin"/><Relationship Id="rId12" Type="http://schemas.openxmlformats.org/officeDocument/2006/relationships/image" Target="../media/image903.wmf"/><Relationship Id="rId2" Type="http://schemas.openxmlformats.org/officeDocument/2006/relationships/slideLayout" Target="../slideLayouts/slideLayout7.xml"/><Relationship Id="rId1" Type="http://schemas.openxmlformats.org/officeDocument/2006/relationships/vmlDrawing" Target="../drawings/vmlDrawing155.vml"/><Relationship Id="rId6" Type="http://schemas.openxmlformats.org/officeDocument/2006/relationships/image" Target="../media/image900.wmf"/><Relationship Id="rId11" Type="http://schemas.openxmlformats.org/officeDocument/2006/relationships/oleObject" Target="../embeddings/oleObject813.bin"/><Relationship Id="rId5" Type="http://schemas.openxmlformats.org/officeDocument/2006/relationships/oleObject" Target="../embeddings/oleObject810.bin"/><Relationship Id="rId10" Type="http://schemas.openxmlformats.org/officeDocument/2006/relationships/image" Target="../media/image902.wmf"/><Relationship Id="rId4" Type="http://schemas.openxmlformats.org/officeDocument/2006/relationships/image" Target="../media/image899.emf"/><Relationship Id="rId9" Type="http://schemas.openxmlformats.org/officeDocument/2006/relationships/oleObject" Target="../embeddings/oleObject812.bin"/><Relationship Id="rId14" Type="http://schemas.openxmlformats.org/officeDocument/2006/relationships/image" Target="../media/image904.wmf"/></Relationships>
</file>

<file path=ppt/slides/_rels/slide204.xml.rels><?xml version="1.0" encoding="UTF-8" standalone="yes"?>
<Relationships xmlns="http://schemas.openxmlformats.org/package/2006/relationships"><Relationship Id="rId8" Type="http://schemas.openxmlformats.org/officeDocument/2006/relationships/image" Target="../media/image907.wmf"/><Relationship Id="rId13" Type="http://schemas.openxmlformats.org/officeDocument/2006/relationships/image" Target="../media/image910.png"/><Relationship Id="rId3" Type="http://schemas.openxmlformats.org/officeDocument/2006/relationships/oleObject" Target="../embeddings/oleObject815.bin"/><Relationship Id="rId7" Type="http://schemas.openxmlformats.org/officeDocument/2006/relationships/oleObject" Target="../embeddings/oleObject817.bin"/><Relationship Id="rId12" Type="http://schemas.openxmlformats.org/officeDocument/2006/relationships/image" Target="../media/image909.wmf"/><Relationship Id="rId2" Type="http://schemas.openxmlformats.org/officeDocument/2006/relationships/slideLayout" Target="../slideLayouts/slideLayout7.xml"/><Relationship Id="rId1" Type="http://schemas.openxmlformats.org/officeDocument/2006/relationships/vmlDrawing" Target="../drawings/vmlDrawing156.vml"/><Relationship Id="rId6" Type="http://schemas.openxmlformats.org/officeDocument/2006/relationships/image" Target="../media/image906.emf"/><Relationship Id="rId11" Type="http://schemas.openxmlformats.org/officeDocument/2006/relationships/oleObject" Target="../embeddings/oleObject819.bin"/><Relationship Id="rId5" Type="http://schemas.openxmlformats.org/officeDocument/2006/relationships/oleObject" Target="../embeddings/oleObject816.bin"/><Relationship Id="rId15" Type="http://schemas.openxmlformats.org/officeDocument/2006/relationships/image" Target="../media/image912.png"/><Relationship Id="rId10" Type="http://schemas.openxmlformats.org/officeDocument/2006/relationships/image" Target="../media/image908.wmf"/><Relationship Id="rId4" Type="http://schemas.openxmlformats.org/officeDocument/2006/relationships/image" Target="../media/image905.emf"/><Relationship Id="rId9" Type="http://schemas.openxmlformats.org/officeDocument/2006/relationships/oleObject" Target="../embeddings/oleObject818.bin"/><Relationship Id="rId14" Type="http://schemas.openxmlformats.org/officeDocument/2006/relationships/image" Target="../media/image911.png"/></Relationships>
</file>

<file path=ppt/slides/_rels/slide205.xml.rels><?xml version="1.0" encoding="UTF-8" standalone="yes"?>
<Relationships xmlns="http://schemas.openxmlformats.org/package/2006/relationships"><Relationship Id="rId8" Type="http://schemas.openxmlformats.org/officeDocument/2006/relationships/image" Target="../media/image915.wmf"/><Relationship Id="rId13" Type="http://schemas.openxmlformats.org/officeDocument/2006/relationships/image" Target="../media/image917.wmf"/><Relationship Id="rId18" Type="http://schemas.openxmlformats.org/officeDocument/2006/relationships/image" Target="../media/image919.wmf"/><Relationship Id="rId3" Type="http://schemas.openxmlformats.org/officeDocument/2006/relationships/oleObject" Target="../embeddings/oleObject820.bin"/><Relationship Id="rId7" Type="http://schemas.openxmlformats.org/officeDocument/2006/relationships/oleObject" Target="../embeddings/oleObject822.bin"/><Relationship Id="rId12" Type="http://schemas.openxmlformats.org/officeDocument/2006/relationships/oleObject" Target="../embeddings/oleObject824.bin"/><Relationship Id="rId17" Type="http://schemas.openxmlformats.org/officeDocument/2006/relationships/oleObject" Target="../embeddings/oleObject826.bin"/><Relationship Id="rId2" Type="http://schemas.openxmlformats.org/officeDocument/2006/relationships/slideLayout" Target="../slideLayouts/slideLayout7.xml"/><Relationship Id="rId16" Type="http://schemas.openxmlformats.org/officeDocument/2006/relationships/slide" Target="slide2.xml"/><Relationship Id="rId20" Type="http://schemas.openxmlformats.org/officeDocument/2006/relationships/image" Target="../media/image920.wmf"/><Relationship Id="rId1" Type="http://schemas.openxmlformats.org/officeDocument/2006/relationships/vmlDrawing" Target="../drawings/vmlDrawing157.vml"/><Relationship Id="rId6" Type="http://schemas.openxmlformats.org/officeDocument/2006/relationships/image" Target="../media/image914.wmf"/><Relationship Id="rId11" Type="http://schemas.openxmlformats.org/officeDocument/2006/relationships/image" Target="../media/image916.wmf"/><Relationship Id="rId5" Type="http://schemas.openxmlformats.org/officeDocument/2006/relationships/oleObject" Target="../embeddings/oleObject821.bin"/><Relationship Id="rId15" Type="http://schemas.openxmlformats.org/officeDocument/2006/relationships/image" Target="../media/image918.wmf"/><Relationship Id="rId10" Type="http://schemas.openxmlformats.org/officeDocument/2006/relationships/oleObject" Target="../embeddings/oleObject823.bin"/><Relationship Id="rId19" Type="http://schemas.openxmlformats.org/officeDocument/2006/relationships/oleObject" Target="../embeddings/oleObject827.bin"/><Relationship Id="rId4" Type="http://schemas.openxmlformats.org/officeDocument/2006/relationships/image" Target="../media/image913.emf"/><Relationship Id="rId9" Type="http://schemas.openxmlformats.org/officeDocument/2006/relationships/image" Target="../media/image921.png"/><Relationship Id="rId14" Type="http://schemas.openxmlformats.org/officeDocument/2006/relationships/oleObject" Target="../embeddings/oleObject825.bin"/></Relationships>
</file>

<file path=ppt/slides/_rels/slide206.xml.rels><?xml version="1.0" encoding="UTF-8" standalone="yes"?>
<Relationships xmlns="http://schemas.openxmlformats.org/package/2006/relationships"><Relationship Id="rId8" Type="http://schemas.openxmlformats.org/officeDocument/2006/relationships/oleObject" Target="../embeddings/oleObject830.bin"/><Relationship Id="rId13" Type="http://schemas.openxmlformats.org/officeDocument/2006/relationships/image" Target="../media/image920.wmf"/><Relationship Id="rId18" Type="http://schemas.openxmlformats.org/officeDocument/2006/relationships/oleObject" Target="../embeddings/oleObject835.bin"/><Relationship Id="rId3" Type="http://schemas.openxmlformats.org/officeDocument/2006/relationships/slide" Target="slide2.xml"/><Relationship Id="rId7" Type="http://schemas.openxmlformats.org/officeDocument/2006/relationships/image" Target="../media/image917.wmf"/><Relationship Id="rId12" Type="http://schemas.openxmlformats.org/officeDocument/2006/relationships/oleObject" Target="../embeddings/oleObject832.bin"/><Relationship Id="rId17" Type="http://schemas.openxmlformats.org/officeDocument/2006/relationships/image" Target="../media/image923.wmf"/><Relationship Id="rId2" Type="http://schemas.openxmlformats.org/officeDocument/2006/relationships/slideLayout" Target="../slideLayouts/slideLayout7.xml"/><Relationship Id="rId16" Type="http://schemas.openxmlformats.org/officeDocument/2006/relationships/oleObject" Target="../embeddings/oleObject834.bin"/><Relationship Id="rId1" Type="http://schemas.openxmlformats.org/officeDocument/2006/relationships/vmlDrawing" Target="../drawings/vmlDrawing158.vml"/><Relationship Id="rId6" Type="http://schemas.openxmlformats.org/officeDocument/2006/relationships/oleObject" Target="../embeddings/oleObject829.bin"/><Relationship Id="rId11" Type="http://schemas.openxmlformats.org/officeDocument/2006/relationships/image" Target="../media/image919.wmf"/><Relationship Id="rId5" Type="http://schemas.openxmlformats.org/officeDocument/2006/relationships/image" Target="../media/image916.wmf"/><Relationship Id="rId15" Type="http://schemas.openxmlformats.org/officeDocument/2006/relationships/image" Target="../media/image922.wmf"/><Relationship Id="rId10" Type="http://schemas.openxmlformats.org/officeDocument/2006/relationships/oleObject" Target="../embeddings/oleObject831.bin"/><Relationship Id="rId19" Type="http://schemas.openxmlformats.org/officeDocument/2006/relationships/image" Target="../media/image924.wmf"/><Relationship Id="rId4" Type="http://schemas.openxmlformats.org/officeDocument/2006/relationships/oleObject" Target="../embeddings/oleObject828.bin"/><Relationship Id="rId9" Type="http://schemas.openxmlformats.org/officeDocument/2006/relationships/image" Target="../media/image918.wmf"/><Relationship Id="rId14" Type="http://schemas.openxmlformats.org/officeDocument/2006/relationships/oleObject" Target="../embeddings/oleObject833.bin"/></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2" Type="http://schemas.openxmlformats.org/officeDocument/2006/relationships/image" Target="../media/image925.png"/><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8" Type="http://schemas.openxmlformats.org/officeDocument/2006/relationships/image" Target="../media/image928.wmf"/><Relationship Id="rId13" Type="http://schemas.openxmlformats.org/officeDocument/2006/relationships/oleObject" Target="../embeddings/oleObject841.bin"/><Relationship Id="rId18" Type="http://schemas.openxmlformats.org/officeDocument/2006/relationships/image" Target="../media/image933.wmf"/><Relationship Id="rId3" Type="http://schemas.openxmlformats.org/officeDocument/2006/relationships/oleObject" Target="../embeddings/oleObject836.bin"/><Relationship Id="rId7" Type="http://schemas.openxmlformats.org/officeDocument/2006/relationships/oleObject" Target="../embeddings/oleObject838.bin"/><Relationship Id="rId12" Type="http://schemas.openxmlformats.org/officeDocument/2006/relationships/image" Target="../media/image930.wmf"/><Relationship Id="rId17" Type="http://schemas.openxmlformats.org/officeDocument/2006/relationships/oleObject" Target="../embeddings/oleObject843.bin"/><Relationship Id="rId2" Type="http://schemas.openxmlformats.org/officeDocument/2006/relationships/slideLayout" Target="../slideLayouts/slideLayout7.xml"/><Relationship Id="rId16" Type="http://schemas.openxmlformats.org/officeDocument/2006/relationships/image" Target="../media/image932.wmf"/><Relationship Id="rId1" Type="http://schemas.openxmlformats.org/officeDocument/2006/relationships/vmlDrawing" Target="../drawings/vmlDrawing159.vml"/><Relationship Id="rId6" Type="http://schemas.openxmlformats.org/officeDocument/2006/relationships/image" Target="../media/image927.wmf"/><Relationship Id="rId11" Type="http://schemas.openxmlformats.org/officeDocument/2006/relationships/oleObject" Target="../embeddings/oleObject840.bin"/><Relationship Id="rId5" Type="http://schemas.openxmlformats.org/officeDocument/2006/relationships/oleObject" Target="../embeddings/oleObject837.bin"/><Relationship Id="rId15" Type="http://schemas.openxmlformats.org/officeDocument/2006/relationships/oleObject" Target="../embeddings/oleObject842.bin"/><Relationship Id="rId10" Type="http://schemas.openxmlformats.org/officeDocument/2006/relationships/image" Target="../media/image929.wmf"/><Relationship Id="rId4" Type="http://schemas.openxmlformats.org/officeDocument/2006/relationships/image" Target="../media/image926.wmf"/><Relationship Id="rId9" Type="http://schemas.openxmlformats.org/officeDocument/2006/relationships/oleObject" Target="../embeddings/oleObject839.bin"/><Relationship Id="rId14" Type="http://schemas.openxmlformats.org/officeDocument/2006/relationships/image" Target="../media/image931.wmf"/></Relationships>
</file>

<file path=ppt/slides/_rels/slide210.xml.rels><?xml version="1.0" encoding="UTF-8" standalone="yes"?>
<Relationships xmlns="http://schemas.openxmlformats.org/package/2006/relationships"><Relationship Id="rId8" Type="http://schemas.openxmlformats.org/officeDocument/2006/relationships/image" Target="../media/image935.wmf"/><Relationship Id="rId3" Type="http://schemas.openxmlformats.org/officeDocument/2006/relationships/oleObject" Target="../embeddings/oleObject844.bin"/><Relationship Id="rId7" Type="http://schemas.openxmlformats.org/officeDocument/2006/relationships/oleObject" Target="../embeddings/oleObject846.bin"/><Relationship Id="rId2" Type="http://schemas.openxmlformats.org/officeDocument/2006/relationships/slideLayout" Target="../slideLayouts/slideLayout7.xml"/><Relationship Id="rId1" Type="http://schemas.openxmlformats.org/officeDocument/2006/relationships/vmlDrawing" Target="../drawings/vmlDrawing160.vml"/><Relationship Id="rId6" Type="http://schemas.openxmlformats.org/officeDocument/2006/relationships/image" Target="../media/image934.wmf"/><Relationship Id="rId11" Type="http://schemas.openxmlformats.org/officeDocument/2006/relationships/image" Target="../media/image938.png"/><Relationship Id="rId5" Type="http://schemas.openxmlformats.org/officeDocument/2006/relationships/oleObject" Target="../embeddings/oleObject845.bin"/><Relationship Id="rId10" Type="http://schemas.openxmlformats.org/officeDocument/2006/relationships/image" Target="../media/image937.png"/><Relationship Id="rId4" Type="http://schemas.openxmlformats.org/officeDocument/2006/relationships/image" Target="../media/image932.wmf"/><Relationship Id="rId9" Type="http://schemas.openxmlformats.org/officeDocument/2006/relationships/image" Target="../media/image936.png"/></Relationships>
</file>

<file path=ppt/slides/_rels/slide211.xml.rels><?xml version="1.0" encoding="UTF-8" standalone="yes"?>
<Relationships xmlns="http://schemas.openxmlformats.org/package/2006/relationships"><Relationship Id="rId8" Type="http://schemas.openxmlformats.org/officeDocument/2006/relationships/oleObject" Target="../embeddings/oleObject849.bin"/><Relationship Id="rId3" Type="http://schemas.openxmlformats.org/officeDocument/2006/relationships/oleObject" Target="../embeddings/oleObject847.bin"/><Relationship Id="rId7" Type="http://schemas.openxmlformats.org/officeDocument/2006/relationships/image" Target="../media/image942.png"/><Relationship Id="rId2" Type="http://schemas.openxmlformats.org/officeDocument/2006/relationships/slideLayout" Target="../slideLayouts/slideLayout7.xml"/><Relationship Id="rId1" Type="http://schemas.openxmlformats.org/officeDocument/2006/relationships/vmlDrawing" Target="../drawings/vmlDrawing161.vml"/><Relationship Id="rId6" Type="http://schemas.openxmlformats.org/officeDocument/2006/relationships/image" Target="../media/image940.wmf"/><Relationship Id="rId5" Type="http://schemas.openxmlformats.org/officeDocument/2006/relationships/oleObject" Target="../embeddings/oleObject848.bin"/><Relationship Id="rId4" Type="http://schemas.openxmlformats.org/officeDocument/2006/relationships/image" Target="../media/image939.wmf"/><Relationship Id="rId9" Type="http://schemas.openxmlformats.org/officeDocument/2006/relationships/image" Target="../media/image941.wmf"/></Relationships>
</file>

<file path=ppt/slides/_rels/slide212.xml.rels><?xml version="1.0" encoding="UTF-8" standalone="yes"?>
<Relationships xmlns="http://schemas.openxmlformats.org/package/2006/relationships"><Relationship Id="rId8" Type="http://schemas.openxmlformats.org/officeDocument/2006/relationships/oleObject" Target="../embeddings/oleObject852.bin"/><Relationship Id="rId13" Type="http://schemas.openxmlformats.org/officeDocument/2006/relationships/oleObject" Target="../embeddings/oleObject855.bin"/><Relationship Id="rId18" Type="http://schemas.openxmlformats.org/officeDocument/2006/relationships/image" Target="../media/image949.wmf"/><Relationship Id="rId3" Type="http://schemas.openxmlformats.org/officeDocument/2006/relationships/image" Target="../media/image952.jpeg"/><Relationship Id="rId21" Type="http://schemas.openxmlformats.org/officeDocument/2006/relationships/oleObject" Target="../embeddings/oleObject859.bin"/><Relationship Id="rId7" Type="http://schemas.openxmlformats.org/officeDocument/2006/relationships/image" Target="../media/image944.wmf"/><Relationship Id="rId12" Type="http://schemas.openxmlformats.org/officeDocument/2006/relationships/image" Target="../media/image946.wmf"/><Relationship Id="rId17" Type="http://schemas.openxmlformats.org/officeDocument/2006/relationships/oleObject" Target="../embeddings/oleObject857.bin"/><Relationship Id="rId2" Type="http://schemas.openxmlformats.org/officeDocument/2006/relationships/slideLayout" Target="../slideLayouts/slideLayout7.xml"/><Relationship Id="rId16" Type="http://schemas.openxmlformats.org/officeDocument/2006/relationships/image" Target="../media/image948.wmf"/><Relationship Id="rId20" Type="http://schemas.openxmlformats.org/officeDocument/2006/relationships/image" Target="../media/image950.wmf"/><Relationship Id="rId1" Type="http://schemas.openxmlformats.org/officeDocument/2006/relationships/vmlDrawing" Target="../drawings/vmlDrawing162.vml"/><Relationship Id="rId6" Type="http://schemas.openxmlformats.org/officeDocument/2006/relationships/oleObject" Target="../embeddings/oleObject851.bin"/><Relationship Id="rId11" Type="http://schemas.openxmlformats.org/officeDocument/2006/relationships/oleObject" Target="../embeddings/oleObject854.bin"/><Relationship Id="rId5" Type="http://schemas.openxmlformats.org/officeDocument/2006/relationships/image" Target="../media/image943.wmf"/><Relationship Id="rId15" Type="http://schemas.openxmlformats.org/officeDocument/2006/relationships/oleObject" Target="../embeddings/oleObject856.bin"/><Relationship Id="rId10" Type="http://schemas.openxmlformats.org/officeDocument/2006/relationships/oleObject" Target="../embeddings/oleObject853.bin"/><Relationship Id="rId19" Type="http://schemas.openxmlformats.org/officeDocument/2006/relationships/oleObject" Target="../embeddings/oleObject858.bin"/><Relationship Id="rId4" Type="http://schemas.openxmlformats.org/officeDocument/2006/relationships/oleObject" Target="../embeddings/oleObject850.bin"/><Relationship Id="rId9" Type="http://schemas.openxmlformats.org/officeDocument/2006/relationships/image" Target="../media/image945.wmf"/><Relationship Id="rId14" Type="http://schemas.openxmlformats.org/officeDocument/2006/relationships/image" Target="../media/image947.wmf"/><Relationship Id="rId22" Type="http://schemas.openxmlformats.org/officeDocument/2006/relationships/image" Target="../media/image951.wmf"/></Relationships>
</file>

<file path=ppt/slides/_rels/slide213.xml.rels><?xml version="1.0" encoding="UTF-8" standalone="yes"?>
<Relationships xmlns="http://schemas.openxmlformats.org/package/2006/relationships"><Relationship Id="rId3" Type="http://schemas.openxmlformats.org/officeDocument/2006/relationships/oleObject" Target="../embeddings/oleObject860.bin"/><Relationship Id="rId2" Type="http://schemas.openxmlformats.org/officeDocument/2006/relationships/slideLayout" Target="../slideLayouts/slideLayout7.xml"/><Relationship Id="rId1" Type="http://schemas.openxmlformats.org/officeDocument/2006/relationships/vmlDrawing" Target="../drawings/vmlDrawing163.vml"/><Relationship Id="rId4" Type="http://schemas.openxmlformats.org/officeDocument/2006/relationships/image" Target="../media/image953.wmf"/></Relationships>
</file>

<file path=ppt/slides/_rels/slide214.xml.rels><?xml version="1.0" encoding="UTF-8" standalone="yes"?>
<Relationships xmlns="http://schemas.openxmlformats.org/package/2006/relationships"><Relationship Id="rId8" Type="http://schemas.openxmlformats.org/officeDocument/2006/relationships/image" Target="../media/image955.wmf"/><Relationship Id="rId13" Type="http://schemas.openxmlformats.org/officeDocument/2006/relationships/oleObject" Target="../embeddings/oleObject866.bin"/><Relationship Id="rId18" Type="http://schemas.openxmlformats.org/officeDocument/2006/relationships/image" Target="../media/image960.emf"/><Relationship Id="rId3" Type="http://schemas.openxmlformats.org/officeDocument/2006/relationships/oleObject" Target="../embeddings/oleObject861.bin"/><Relationship Id="rId7" Type="http://schemas.openxmlformats.org/officeDocument/2006/relationships/oleObject" Target="../embeddings/oleObject863.bin"/><Relationship Id="rId12" Type="http://schemas.openxmlformats.org/officeDocument/2006/relationships/image" Target="../media/image957.wmf"/><Relationship Id="rId17" Type="http://schemas.openxmlformats.org/officeDocument/2006/relationships/oleObject" Target="../embeddings/oleObject868.bin"/><Relationship Id="rId2" Type="http://schemas.openxmlformats.org/officeDocument/2006/relationships/slideLayout" Target="../slideLayouts/slideLayout7.xml"/><Relationship Id="rId16" Type="http://schemas.openxmlformats.org/officeDocument/2006/relationships/image" Target="../media/image959.wmf"/><Relationship Id="rId1" Type="http://schemas.openxmlformats.org/officeDocument/2006/relationships/vmlDrawing" Target="../drawings/vmlDrawing164.vml"/><Relationship Id="rId6" Type="http://schemas.openxmlformats.org/officeDocument/2006/relationships/image" Target="../media/image954.wmf"/><Relationship Id="rId11" Type="http://schemas.openxmlformats.org/officeDocument/2006/relationships/oleObject" Target="../embeddings/oleObject865.bin"/><Relationship Id="rId5" Type="http://schemas.openxmlformats.org/officeDocument/2006/relationships/oleObject" Target="../embeddings/oleObject862.bin"/><Relationship Id="rId15" Type="http://schemas.openxmlformats.org/officeDocument/2006/relationships/oleObject" Target="../embeddings/oleObject867.bin"/><Relationship Id="rId10" Type="http://schemas.openxmlformats.org/officeDocument/2006/relationships/image" Target="../media/image956.wmf"/><Relationship Id="rId4" Type="http://schemas.openxmlformats.org/officeDocument/2006/relationships/image" Target="../media/image953.wmf"/><Relationship Id="rId9" Type="http://schemas.openxmlformats.org/officeDocument/2006/relationships/oleObject" Target="../embeddings/oleObject864.bin"/><Relationship Id="rId14" Type="http://schemas.openxmlformats.org/officeDocument/2006/relationships/image" Target="../media/image958.wmf"/></Relationships>
</file>

<file path=ppt/slides/_rels/slide215.xml.rels><?xml version="1.0" encoding="UTF-8" standalone="yes"?>
<Relationships xmlns="http://schemas.openxmlformats.org/package/2006/relationships"><Relationship Id="rId8" Type="http://schemas.openxmlformats.org/officeDocument/2006/relationships/image" Target="../media/image963.wmf"/><Relationship Id="rId13" Type="http://schemas.openxmlformats.org/officeDocument/2006/relationships/oleObject" Target="../embeddings/oleObject873.bin"/><Relationship Id="rId3" Type="http://schemas.openxmlformats.org/officeDocument/2006/relationships/oleObject" Target="../embeddings/oleObject869.bin"/><Relationship Id="rId7" Type="http://schemas.openxmlformats.org/officeDocument/2006/relationships/oleObject" Target="../embeddings/oleObject871.bin"/><Relationship Id="rId12" Type="http://schemas.openxmlformats.org/officeDocument/2006/relationships/image" Target="../media/image964.emf"/><Relationship Id="rId2" Type="http://schemas.openxmlformats.org/officeDocument/2006/relationships/slideLayout" Target="../slideLayouts/slideLayout7.xml"/><Relationship Id="rId1" Type="http://schemas.openxmlformats.org/officeDocument/2006/relationships/vmlDrawing" Target="../drawings/vmlDrawing165.vml"/><Relationship Id="rId6" Type="http://schemas.openxmlformats.org/officeDocument/2006/relationships/image" Target="../media/image962.wmf"/><Relationship Id="rId11" Type="http://schemas.openxmlformats.org/officeDocument/2006/relationships/oleObject" Target="../embeddings/oleObject872.bin"/><Relationship Id="rId5" Type="http://schemas.openxmlformats.org/officeDocument/2006/relationships/oleObject" Target="../embeddings/oleObject870.bin"/><Relationship Id="rId10" Type="http://schemas.openxmlformats.org/officeDocument/2006/relationships/image" Target="../media/image967.png"/><Relationship Id="rId4" Type="http://schemas.openxmlformats.org/officeDocument/2006/relationships/image" Target="../media/image961.wmf"/><Relationship Id="rId9" Type="http://schemas.openxmlformats.org/officeDocument/2006/relationships/image" Target="../media/image966.png"/><Relationship Id="rId14" Type="http://schemas.openxmlformats.org/officeDocument/2006/relationships/image" Target="../media/image965.wmf"/></Relationships>
</file>

<file path=ppt/slides/_rels/slide216.xml.rels><?xml version="1.0" encoding="UTF-8" standalone="yes"?>
<Relationships xmlns="http://schemas.openxmlformats.org/package/2006/relationships"><Relationship Id="rId8" Type="http://schemas.openxmlformats.org/officeDocument/2006/relationships/image" Target="../media/image970.wmf"/><Relationship Id="rId13" Type="http://schemas.openxmlformats.org/officeDocument/2006/relationships/oleObject" Target="../embeddings/oleObject879.bin"/><Relationship Id="rId3" Type="http://schemas.openxmlformats.org/officeDocument/2006/relationships/oleObject" Target="../embeddings/oleObject874.bin"/><Relationship Id="rId7" Type="http://schemas.openxmlformats.org/officeDocument/2006/relationships/oleObject" Target="../embeddings/oleObject876.bin"/><Relationship Id="rId12" Type="http://schemas.openxmlformats.org/officeDocument/2006/relationships/image" Target="../media/image971.wmf"/><Relationship Id="rId2" Type="http://schemas.openxmlformats.org/officeDocument/2006/relationships/slideLayout" Target="../slideLayouts/slideLayout7.xml"/><Relationship Id="rId1" Type="http://schemas.openxmlformats.org/officeDocument/2006/relationships/vmlDrawing" Target="../drawings/vmlDrawing166.vml"/><Relationship Id="rId6" Type="http://schemas.openxmlformats.org/officeDocument/2006/relationships/image" Target="../media/image969.emf"/><Relationship Id="rId11" Type="http://schemas.openxmlformats.org/officeDocument/2006/relationships/oleObject" Target="../embeddings/oleObject878.bin"/><Relationship Id="rId5" Type="http://schemas.openxmlformats.org/officeDocument/2006/relationships/oleObject" Target="../embeddings/oleObject875.bin"/><Relationship Id="rId10" Type="http://schemas.openxmlformats.org/officeDocument/2006/relationships/image" Target="../media/image926.wmf"/><Relationship Id="rId4" Type="http://schemas.openxmlformats.org/officeDocument/2006/relationships/image" Target="../media/image968.emf"/><Relationship Id="rId9" Type="http://schemas.openxmlformats.org/officeDocument/2006/relationships/oleObject" Target="../embeddings/oleObject877.bin"/><Relationship Id="rId14" Type="http://schemas.openxmlformats.org/officeDocument/2006/relationships/image" Target="../media/image972.wmf"/></Relationships>
</file>

<file path=ppt/slides/_rels/slide217.xml.rels><?xml version="1.0" encoding="UTF-8" standalone="yes"?>
<Relationships xmlns="http://schemas.openxmlformats.org/package/2006/relationships"><Relationship Id="rId2" Type="http://schemas.openxmlformats.org/officeDocument/2006/relationships/image" Target="../media/image973.png"/><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2" Type="http://schemas.openxmlformats.org/officeDocument/2006/relationships/image" Target="../media/image974.png"/><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2" Type="http://schemas.openxmlformats.org/officeDocument/2006/relationships/image" Target="../media/image975.png"/><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8" Type="http://schemas.openxmlformats.org/officeDocument/2006/relationships/image" Target="../media/image978.emf"/><Relationship Id="rId3" Type="http://schemas.openxmlformats.org/officeDocument/2006/relationships/oleObject" Target="../embeddings/oleObject880.bin"/><Relationship Id="rId7" Type="http://schemas.openxmlformats.org/officeDocument/2006/relationships/oleObject" Target="../embeddings/oleObject882.bin"/><Relationship Id="rId2" Type="http://schemas.openxmlformats.org/officeDocument/2006/relationships/slideLayout" Target="../slideLayouts/slideLayout7.xml"/><Relationship Id="rId1" Type="http://schemas.openxmlformats.org/officeDocument/2006/relationships/vmlDrawing" Target="../drawings/vmlDrawing167.vml"/><Relationship Id="rId6" Type="http://schemas.openxmlformats.org/officeDocument/2006/relationships/image" Target="../media/image977.emf"/><Relationship Id="rId5" Type="http://schemas.openxmlformats.org/officeDocument/2006/relationships/oleObject" Target="../embeddings/oleObject881.bin"/><Relationship Id="rId4" Type="http://schemas.openxmlformats.org/officeDocument/2006/relationships/image" Target="../media/image976.emf"/></Relationships>
</file>

<file path=ppt/slides/_rels/slide221.xml.rels><?xml version="1.0" encoding="UTF-8" standalone="yes"?>
<Relationships xmlns="http://schemas.openxmlformats.org/package/2006/relationships"><Relationship Id="rId3" Type="http://schemas.openxmlformats.org/officeDocument/2006/relationships/oleObject" Target="../embeddings/oleObject883.bin"/><Relationship Id="rId2" Type="http://schemas.openxmlformats.org/officeDocument/2006/relationships/slideLayout" Target="../slideLayouts/slideLayout7.xml"/><Relationship Id="rId1" Type="http://schemas.openxmlformats.org/officeDocument/2006/relationships/vmlDrawing" Target="../drawings/vmlDrawing168.vml"/><Relationship Id="rId6" Type="http://schemas.openxmlformats.org/officeDocument/2006/relationships/image" Target="../media/image980.emf"/><Relationship Id="rId5" Type="http://schemas.openxmlformats.org/officeDocument/2006/relationships/oleObject" Target="../embeddings/oleObject884.bin"/><Relationship Id="rId4" Type="http://schemas.openxmlformats.org/officeDocument/2006/relationships/image" Target="../media/image979.emf"/></Relationships>
</file>

<file path=ppt/slides/_rels/slide222.xml.rels><?xml version="1.0" encoding="UTF-8" standalone="yes"?>
<Relationships xmlns="http://schemas.openxmlformats.org/package/2006/relationships"><Relationship Id="rId8" Type="http://schemas.openxmlformats.org/officeDocument/2006/relationships/image" Target="../media/image983.wmf"/><Relationship Id="rId3" Type="http://schemas.openxmlformats.org/officeDocument/2006/relationships/oleObject" Target="../embeddings/oleObject885.bin"/><Relationship Id="rId7" Type="http://schemas.openxmlformats.org/officeDocument/2006/relationships/oleObject" Target="../embeddings/oleObject887.bin"/><Relationship Id="rId2" Type="http://schemas.openxmlformats.org/officeDocument/2006/relationships/slideLayout" Target="../slideLayouts/slideLayout7.xml"/><Relationship Id="rId1" Type="http://schemas.openxmlformats.org/officeDocument/2006/relationships/vmlDrawing" Target="../drawings/vmlDrawing169.vml"/><Relationship Id="rId6" Type="http://schemas.openxmlformats.org/officeDocument/2006/relationships/image" Target="../media/image982.wmf"/><Relationship Id="rId5" Type="http://schemas.openxmlformats.org/officeDocument/2006/relationships/oleObject" Target="../embeddings/oleObject886.bin"/><Relationship Id="rId4" Type="http://schemas.openxmlformats.org/officeDocument/2006/relationships/image" Target="../media/image981.emf"/></Relationships>
</file>

<file path=ppt/slides/_rels/slide223.xml.rels><?xml version="1.0" encoding="UTF-8" standalone="yes"?>
<Relationships xmlns="http://schemas.openxmlformats.org/package/2006/relationships"><Relationship Id="rId8" Type="http://schemas.openxmlformats.org/officeDocument/2006/relationships/image" Target="../media/image986.wmf"/><Relationship Id="rId3" Type="http://schemas.openxmlformats.org/officeDocument/2006/relationships/oleObject" Target="../embeddings/oleObject888.bin"/><Relationship Id="rId7" Type="http://schemas.openxmlformats.org/officeDocument/2006/relationships/oleObject" Target="../embeddings/oleObject890.bin"/><Relationship Id="rId2" Type="http://schemas.openxmlformats.org/officeDocument/2006/relationships/slideLayout" Target="../slideLayouts/slideLayout7.xml"/><Relationship Id="rId1" Type="http://schemas.openxmlformats.org/officeDocument/2006/relationships/vmlDrawing" Target="../drawings/vmlDrawing170.vml"/><Relationship Id="rId6" Type="http://schemas.openxmlformats.org/officeDocument/2006/relationships/image" Target="../media/image985.emf"/><Relationship Id="rId5" Type="http://schemas.openxmlformats.org/officeDocument/2006/relationships/oleObject" Target="../embeddings/oleObject889.bin"/><Relationship Id="rId10" Type="http://schemas.openxmlformats.org/officeDocument/2006/relationships/image" Target="../media/image987.wmf"/><Relationship Id="rId4" Type="http://schemas.openxmlformats.org/officeDocument/2006/relationships/image" Target="../media/image984.emf"/><Relationship Id="rId9" Type="http://schemas.openxmlformats.org/officeDocument/2006/relationships/oleObject" Target="../embeddings/oleObject891.bin"/></Relationships>
</file>

<file path=ppt/slides/_rels/slide224.xml.rels><?xml version="1.0" encoding="UTF-8" standalone="yes"?>
<Relationships xmlns="http://schemas.openxmlformats.org/package/2006/relationships"><Relationship Id="rId3" Type="http://schemas.openxmlformats.org/officeDocument/2006/relationships/oleObject" Target="../embeddings/oleObject892.bin"/><Relationship Id="rId2" Type="http://schemas.openxmlformats.org/officeDocument/2006/relationships/slideLayout" Target="../slideLayouts/slideLayout7.xml"/><Relationship Id="rId1" Type="http://schemas.openxmlformats.org/officeDocument/2006/relationships/vmlDrawing" Target="../drawings/vmlDrawing171.vml"/><Relationship Id="rId4" Type="http://schemas.openxmlformats.org/officeDocument/2006/relationships/image" Target="../media/image988.emf"/></Relationships>
</file>

<file path=ppt/slides/_rels/slide225.xml.rels><?xml version="1.0" encoding="UTF-8" standalone="yes"?>
<Relationships xmlns="http://schemas.openxmlformats.org/package/2006/relationships"><Relationship Id="rId8" Type="http://schemas.openxmlformats.org/officeDocument/2006/relationships/image" Target="../media/image991.wmf"/><Relationship Id="rId3" Type="http://schemas.openxmlformats.org/officeDocument/2006/relationships/oleObject" Target="../embeddings/oleObject893.bin"/><Relationship Id="rId7" Type="http://schemas.openxmlformats.org/officeDocument/2006/relationships/oleObject" Target="../embeddings/oleObject895.bin"/><Relationship Id="rId2" Type="http://schemas.openxmlformats.org/officeDocument/2006/relationships/slideLayout" Target="../slideLayouts/slideLayout7.xml"/><Relationship Id="rId1" Type="http://schemas.openxmlformats.org/officeDocument/2006/relationships/vmlDrawing" Target="../drawings/vmlDrawing172.vml"/><Relationship Id="rId6" Type="http://schemas.openxmlformats.org/officeDocument/2006/relationships/image" Target="../media/image990.wmf"/><Relationship Id="rId5" Type="http://schemas.openxmlformats.org/officeDocument/2006/relationships/oleObject" Target="../embeddings/oleObject894.bin"/><Relationship Id="rId10" Type="http://schemas.openxmlformats.org/officeDocument/2006/relationships/image" Target="../media/image992.wmf"/><Relationship Id="rId4" Type="http://schemas.openxmlformats.org/officeDocument/2006/relationships/image" Target="../media/image989.emf"/><Relationship Id="rId9" Type="http://schemas.openxmlformats.org/officeDocument/2006/relationships/oleObject" Target="../embeddings/oleObject896.bin"/></Relationships>
</file>

<file path=ppt/slides/_rels/slide226.xml.rels><?xml version="1.0" encoding="UTF-8" standalone="yes"?>
<Relationships xmlns="http://schemas.openxmlformats.org/package/2006/relationships"><Relationship Id="rId3" Type="http://schemas.openxmlformats.org/officeDocument/2006/relationships/oleObject" Target="../embeddings/oleObject897.bin"/><Relationship Id="rId2" Type="http://schemas.openxmlformats.org/officeDocument/2006/relationships/slideLayout" Target="../slideLayouts/slideLayout7.xml"/><Relationship Id="rId1" Type="http://schemas.openxmlformats.org/officeDocument/2006/relationships/vmlDrawing" Target="../drawings/vmlDrawing173.vml"/><Relationship Id="rId6" Type="http://schemas.openxmlformats.org/officeDocument/2006/relationships/image" Target="../media/image994.emf"/><Relationship Id="rId5" Type="http://schemas.openxmlformats.org/officeDocument/2006/relationships/oleObject" Target="../embeddings/oleObject898.bin"/><Relationship Id="rId4" Type="http://schemas.openxmlformats.org/officeDocument/2006/relationships/image" Target="../media/image993.emf"/></Relationships>
</file>

<file path=ppt/slides/_rels/slide227.xml.rels><?xml version="1.0" encoding="UTF-8" standalone="yes"?>
<Relationships xmlns="http://schemas.openxmlformats.org/package/2006/relationships"><Relationship Id="rId3" Type="http://schemas.openxmlformats.org/officeDocument/2006/relationships/image" Target="../media/image996.png"/><Relationship Id="rId2" Type="http://schemas.openxmlformats.org/officeDocument/2006/relationships/slideLayout" Target="../slideLayouts/slideLayout7.xml"/><Relationship Id="rId1" Type="http://schemas.openxmlformats.org/officeDocument/2006/relationships/vmlDrawing" Target="../drawings/vmlDrawing174.vml"/><Relationship Id="rId5" Type="http://schemas.openxmlformats.org/officeDocument/2006/relationships/image" Target="../media/image995.wmf"/><Relationship Id="rId4" Type="http://schemas.openxmlformats.org/officeDocument/2006/relationships/oleObject" Target="../embeddings/oleObject899.bin"/></Relationships>
</file>

<file path=ppt/slides/_rels/slide228.xml.rels><?xml version="1.0" encoding="UTF-8" standalone="yes"?>
<Relationships xmlns="http://schemas.openxmlformats.org/package/2006/relationships"><Relationship Id="rId8" Type="http://schemas.openxmlformats.org/officeDocument/2006/relationships/image" Target="../media/image999.wmf"/><Relationship Id="rId3" Type="http://schemas.openxmlformats.org/officeDocument/2006/relationships/oleObject" Target="../embeddings/oleObject900.bin"/><Relationship Id="rId7" Type="http://schemas.openxmlformats.org/officeDocument/2006/relationships/oleObject" Target="../embeddings/oleObject902.bin"/><Relationship Id="rId2" Type="http://schemas.openxmlformats.org/officeDocument/2006/relationships/slideLayout" Target="../slideLayouts/slideLayout7.xml"/><Relationship Id="rId1" Type="http://schemas.openxmlformats.org/officeDocument/2006/relationships/vmlDrawing" Target="../drawings/vmlDrawing175.vml"/><Relationship Id="rId6" Type="http://schemas.openxmlformats.org/officeDocument/2006/relationships/image" Target="../media/image998.wmf"/><Relationship Id="rId5" Type="http://schemas.openxmlformats.org/officeDocument/2006/relationships/oleObject" Target="../embeddings/oleObject901.bin"/><Relationship Id="rId4" Type="http://schemas.openxmlformats.org/officeDocument/2006/relationships/image" Target="../media/image997.emf"/></Relationships>
</file>

<file path=ppt/slides/_rels/slide229.xml.rels><?xml version="1.0" encoding="UTF-8" standalone="yes"?>
<Relationships xmlns="http://schemas.openxmlformats.org/package/2006/relationships"><Relationship Id="rId2" Type="http://schemas.openxmlformats.org/officeDocument/2006/relationships/image" Target="../media/image1000.png"/><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8" Type="http://schemas.openxmlformats.org/officeDocument/2006/relationships/image" Target="../media/image1003.wmf"/><Relationship Id="rId13" Type="http://schemas.openxmlformats.org/officeDocument/2006/relationships/oleObject" Target="../embeddings/oleObject908.bin"/><Relationship Id="rId3" Type="http://schemas.openxmlformats.org/officeDocument/2006/relationships/oleObject" Target="../embeddings/oleObject903.bin"/><Relationship Id="rId7" Type="http://schemas.openxmlformats.org/officeDocument/2006/relationships/oleObject" Target="../embeddings/oleObject905.bin"/><Relationship Id="rId12" Type="http://schemas.openxmlformats.org/officeDocument/2006/relationships/image" Target="../media/image1005.wmf"/><Relationship Id="rId2" Type="http://schemas.openxmlformats.org/officeDocument/2006/relationships/slideLayout" Target="../slideLayouts/slideLayout7.xml"/><Relationship Id="rId1" Type="http://schemas.openxmlformats.org/officeDocument/2006/relationships/vmlDrawing" Target="../drawings/vmlDrawing176.vml"/><Relationship Id="rId6" Type="http://schemas.openxmlformats.org/officeDocument/2006/relationships/image" Target="../media/image1002.wmf"/><Relationship Id="rId11" Type="http://schemas.openxmlformats.org/officeDocument/2006/relationships/oleObject" Target="../embeddings/oleObject907.bin"/><Relationship Id="rId5" Type="http://schemas.openxmlformats.org/officeDocument/2006/relationships/oleObject" Target="../embeddings/oleObject904.bin"/><Relationship Id="rId10" Type="http://schemas.openxmlformats.org/officeDocument/2006/relationships/image" Target="../media/image1004.wmf"/><Relationship Id="rId4" Type="http://schemas.openxmlformats.org/officeDocument/2006/relationships/image" Target="../media/image1001.wmf"/><Relationship Id="rId9" Type="http://schemas.openxmlformats.org/officeDocument/2006/relationships/oleObject" Target="../embeddings/oleObject906.bin"/><Relationship Id="rId14" Type="http://schemas.openxmlformats.org/officeDocument/2006/relationships/image" Target="../media/image1006.wmf"/></Relationships>
</file>

<file path=ppt/slides/_rels/slide231.xml.rels><?xml version="1.0" encoding="UTF-8" standalone="yes"?>
<Relationships xmlns="http://schemas.openxmlformats.org/package/2006/relationships"><Relationship Id="rId3" Type="http://schemas.openxmlformats.org/officeDocument/2006/relationships/oleObject" Target="../embeddings/oleObject909.bin"/><Relationship Id="rId7" Type="http://schemas.openxmlformats.org/officeDocument/2006/relationships/oleObject" Target="../embeddings/oleObject911.bin"/><Relationship Id="rId2" Type="http://schemas.openxmlformats.org/officeDocument/2006/relationships/slideLayout" Target="../slideLayouts/slideLayout7.xml"/><Relationship Id="rId1" Type="http://schemas.openxmlformats.org/officeDocument/2006/relationships/vmlDrawing" Target="../drawings/vmlDrawing177.vml"/><Relationship Id="rId6" Type="http://schemas.openxmlformats.org/officeDocument/2006/relationships/image" Target="../media/image1008.wmf"/><Relationship Id="rId5" Type="http://schemas.openxmlformats.org/officeDocument/2006/relationships/oleObject" Target="../embeddings/oleObject910.bin"/><Relationship Id="rId4" Type="http://schemas.openxmlformats.org/officeDocument/2006/relationships/image" Target="../media/image1007.wmf"/></Relationships>
</file>

<file path=ppt/slides/_rels/slide232.xml.rels><?xml version="1.0" encoding="UTF-8" standalone="yes"?>
<Relationships xmlns="http://schemas.openxmlformats.org/package/2006/relationships"><Relationship Id="rId3" Type="http://schemas.openxmlformats.org/officeDocument/2006/relationships/oleObject" Target="../embeddings/oleObject912.bin"/><Relationship Id="rId2" Type="http://schemas.openxmlformats.org/officeDocument/2006/relationships/slideLayout" Target="../slideLayouts/slideLayout7.xml"/><Relationship Id="rId1" Type="http://schemas.openxmlformats.org/officeDocument/2006/relationships/vmlDrawing" Target="../drawings/vmlDrawing178.vml"/><Relationship Id="rId4" Type="http://schemas.openxmlformats.org/officeDocument/2006/relationships/image" Target="../media/image1009.emf"/></Relationships>
</file>

<file path=ppt/slides/_rels/slide233.xml.rels><?xml version="1.0" encoding="UTF-8" standalone="yes"?>
<Relationships xmlns="http://schemas.openxmlformats.org/package/2006/relationships"><Relationship Id="rId2" Type="http://schemas.openxmlformats.org/officeDocument/2006/relationships/image" Target="../media/image1010.png"/><Relationship Id="rId1" Type="http://schemas.openxmlformats.org/officeDocument/2006/relationships/slideLayout" Target="../slideLayouts/slideLayout7.xml"/></Relationships>
</file>

<file path=ppt/slides/_rels/slide234.xml.rels><?xml version="1.0" encoding="UTF-8" standalone="yes"?>
<Relationships xmlns="http://schemas.openxmlformats.org/package/2006/relationships"><Relationship Id="rId3" Type="http://schemas.openxmlformats.org/officeDocument/2006/relationships/oleObject" Target="../embeddings/oleObject913.bin"/><Relationship Id="rId2" Type="http://schemas.openxmlformats.org/officeDocument/2006/relationships/slideLayout" Target="../slideLayouts/slideLayout7.xml"/><Relationship Id="rId1" Type="http://schemas.openxmlformats.org/officeDocument/2006/relationships/vmlDrawing" Target="../drawings/vmlDrawing179.vml"/><Relationship Id="rId4" Type="http://schemas.openxmlformats.org/officeDocument/2006/relationships/image" Target="../media/image1011.emf"/></Relationships>
</file>

<file path=ppt/slides/_rels/slide235.xml.rels><?xml version="1.0" encoding="UTF-8" standalone="yes"?>
<Relationships xmlns="http://schemas.openxmlformats.org/package/2006/relationships"><Relationship Id="rId8" Type="http://schemas.openxmlformats.org/officeDocument/2006/relationships/image" Target="../media/image1014.wmf"/><Relationship Id="rId3" Type="http://schemas.openxmlformats.org/officeDocument/2006/relationships/oleObject" Target="../embeddings/oleObject914.bin"/><Relationship Id="rId7" Type="http://schemas.openxmlformats.org/officeDocument/2006/relationships/oleObject" Target="../embeddings/oleObject916.bin"/><Relationship Id="rId2" Type="http://schemas.openxmlformats.org/officeDocument/2006/relationships/slideLayout" Target="../slideLayouts/slideLayout7.xml"/><Relationship Id="rId1" Type="http://schemas.openxmlformats.org/officeDocument/2006/relationships/vmlDrawing" Target="../drawings/vmlDrawing180.vml"/><Relationship Id="rId6" Type="http://schemas.openxmlformats.org/officeDocument/2006/relationships/image" Target="../media/image1013.wmf"/><Relationship Id="rId5" Type="http://schemas.openxmlformats.org/officeDocument/2006/relationships/oleObject" Target="../embeddings/oleObject915.bin"/><Relationship Id="rId4" Type="http://schemas.openxmlformats.org/officeDocument/2006/relationships/image" Target="../media/image1012.emf"/></Relationships>
</file>

<file path=ppt/slides/_rels/slide236.xml.rels><?xml version="1.0" encoding="UTF-8" standalone="yes"?>
<Relationships xmlns="http://schemas.openxmlformats.org/package/2006/relationships"><Relationship Id="rId2" Type="http://schemas.openxmlformats.org/officeDocument/2006/relationships/image" Target="../media/image1015.png"/><Relationship Id="rId1" Type="http://schemas.openxmlformats.org/officeDocument/2006/relationships/slideLayout" Target="../slideLayouts/slideLayout7.xml"/></Relationships>
</file>

<file path=ppt/slides/_rels/slide237.xml.rels><?xml version="1.0" encoding="UTF-8" standalone="yes"?>
<Relationships xmlns="http://schemas.openxmlformats.org/package/2006/relationships"><Relationship Id="rId8" Type="http://schemas.openxmlformats.org/officeDocument/2006/relationships/image" Target="../media/image1018.wmf"/><Relationship Id="rId3" Type="http://schemas.openxmlformats.org/officeDocument/2006/relationships/oleObject" Target="../embeddings/oleObject917.bin"/><Relationship Id="rId7" Type="http://schemas.openxmlformats.org/officeDocument/2006/relationships/oleObject" Target="../embeddings/oleObject919.bin"/><Relationship Id="rId2" Type="http://schemas.openxmlformats.org/officeDocument/2006/relationships/slideLayout" Target="../slideLayouts/slideLayout7.xml"/><Relationship Id="rId1" Type="http://schemas.openxmlformats.org/officeDocument/2006/relationships/vmlDrawing" Target="../drawings/vmlDrawing181.vml"/><Relationship Id="rId6" Type="http://schemas.openxmlformats.org/officeDocument/2006/relationships/image" Target="../media/image1017.wmf"/><Relationship Id="rId5" Type="http://schemas.openxmlformats.org/officeDocument/2006/relationships/oleObject" Target="../embeddings/oleObject918.bin"/><Relationship Id="rId10" Type="http://schemas.openxmlformats.org/officeDocument/2006/relationships/image" Target="../media/image1019.wmf"/><Relationship Id="rId4" Type="http://schemas.openxmlformats.org/officeDocument/2006/relationships/image" Target="../media/image1016.wmf"/><Relationship Id="rId9" Type="http://schemas.openxmlformats.org/officeDocument/2006/relationships/oleObject" Target="../embeddings/oleObject920.bin"/></Relationships>
</file>

<file path=ppt/slides/_rels/slide238.xml.rels><?xml version="1.0" encoding="UTF-8" standalone="yes"?>
<Relationships xmlns="http://schemas.openxmlformats.org/package/2006/relationships"><Relationship Id="rId8" Type="http://schemas.openxmlformats.org/officeDocument/2006/relationships/image" Target="../media/image1022.wmf"/><Relationship Id="rId13" Type="http://schemas.openxmlformats.org/officeDocument/2006/relationships/oleObject" Target="../embeddings/oleObject926.bin"/><Relationship Id="rId3" Type="http://schemas.openxmlformats.org/officeDocument/2006/relationships/oleObject" Target="../embeddings/oleObject921.bin"/><Relationship Id="rId7" Type="http://schemas.openxmlformats.org/officeDocument/2006/relationships/oleObject" Target="../embeddings/oleObject923.bin"/><Relationship Id="rId12" Type="http://schemas.openxmlformats.org/officeDocument/2006/relationships/image" Target="../media/image1024.wmf"/><Relationship Id="rId2" Type="http://schemas.openxmlformats.org/officeDocument/2006/relationships/slideLayout" Target="../slideLayouts/slideLayout7.xml"/><Relationship Id="rId1" Type="http://schemas.openxmlformats.org/officeDocument/2006/relationships/vmlDrawing" Target="../drawings/vmlDrawing182.vml"/><Relationship Id="rId6" Type="http://schemas.openxmlformats.org/officeDocument/2006/relationships/image" Target="../media/image1021.wmf"/><Relationship Id="rId11" Type="http://schemas.openxmlformats.org/officeDocument/2006/relationships/oleObject" Target="../embeddings/oleObject925.bin"/><Relationship Id="rId5" Type="http://schemas.openxmlformats.org/officeDocument/2006/relationships/oleObject" Target="../embeddings/oleObject922.bin"/><Relationship Id="rId10" Type="http://schemas.openxmlformats.org/officeDocument/2006/relationships/image" Target="../media/image1023.wmf"/><Relationship Id="rId4" Type="http://schemas.openxmlformats.org/officeDocument/2006/relationships/image" Target="../media/image1020.wmf"/><Relationship Id="rId9" Type="http://schemas.openxmlformats.org/officeDocument/2006/relationships/oleObject" Target="../embeddings/oleObject924.bin"/><Relationship Id="rId14" Type="http://schemas.openxmlformats.org/officeDocument/2006/relationships/image" Target="../media/image1025.emf"/></Relationships>
</file>

<file path=ppt/slides/_rels/slide239.xml.rels><?xml version="1.0" encoding="UTF-8" standalone="yes"?>
<Relationships xmlns="http://schemas.openxmlformats.org/package/2006/relationships"><Relationship Id="rId3" Type="http://schemas.openxmlformats.org/officeDocument/2006/relationships/image" Target="../media/image1027.emf"/><Relationship Id="rId2" Type="http://schemas.openxmlformats.org/officeDocument/2006/relationships/slideLayout" Target="../slideLayouts/slideLayout7.xml"/><Relationship Id="rId1" Type="http://schemas.openxmlformats.org/officeDocument/2006/relationships/vmlDrawing" Target="../drawings/vmlDrawing183.vml"/><Relationship Id="rId5" Type="http://schemas.openxmlformats.org/officeDocument/2006/relationships/image" Target="../media/image1026.emf"/><Relationship Id="rId4" Type="http://schemas.openxmlformats.org/officeDocument/2006/relationships/oleObject" Target="../embeddings/oleObject927.bin"/></Relationships>
</file>

<file path=ppt/slides/_rels/slide240.xml.rels><?xml version="1.0" encoding="UTF-8" standalone="yes"?>
<Relationships xmlns="http://schemas.openxmlformats.org/package/2006/relationships"><Relationship Id="rId8" Type="http://schemas.openxmlformats.org/officeDocument/2006/relationships/image" Target="../media/image1030.wmf"/><Relationship Id="rId3" Type="http://schemas.openxmlformats.org/officeDocument/2006/relationships/oleObject" Target="../embeddings/oleObject928.bin"/><Relationship Id="rId7" Type="http://schemas.openxmlformats.org/officeDocument/2006/relationships/oleObject" Target="../embeddings/oleObject930.bin"/><Relationship Id="rId2" Type="http://schemas.openxmlformats.org/officeDocument/2006/relationships/slideLayout" Target="../slideLayouts/slideLayout7.xml"/><Relationship Id="rId1" Type="http://schemas.openxmlformats.org/officeDocument/2006/relationships/vmlDrawing" Target="../drawings/vmlDrawing184.vml"/><Relationship Id="rId6" Type="http://schemas.openxmlformats.org/officeDocument/2006/relationships/image" Target="../media/image1029.wmf"/><Relationship Id="rId5" Type="http://schemas.openxmlformats.org/officeDocument/2006/relationships/oleObject" Target="../embeddings/oleObject929.bin"/><Relationship Id="rId10" Type="http://schemas.openxmlformats.org/officeDocument/2006/relationships/image" Target="../media/image1031.emf"/><Relationship Id="rId4" Type="http://schemas.openxmlformats.org/officeDocument/2006/relationships/image" Target="../media/image1028.emf"/><Relationship Id="rId9" Type="http://schemas.openxmlformats.org/officeDocument/2006/relationships/oleObject" Target="../embeddings/oleObject931.bin"/></Relationships>
</file>

<file path=ppt/slides/_rels/slide241.xml.rels><?xml version="1.0" encoding="UTF-8" standalone="yes"?>
<Relationships xmlns="http://schemas.openxmlformats.org/package/2006/relationships"><Relationship Id="rId8" Type="http://schemas.openxmlformats.org/officeDocument/2006/relationships/image" Target="../media/image1034.emf"/><Relationship Id="rId3" Type="http://schemas.openxmlformats.org/officeDocument/2006/relationships/oleObject" Target="../embeddings/oleObject932.bin"/><Relationship Id="rId7" Type="http://schemas.openxmlformats.org/officeDocument/2006/relationships/oleObject" Target="../embeddings/oleObject934.bin"/><Relationship Id="rId12" Type="http://schemas.openxmlformats.org/officeDocument/2006/relationships/image" Target="../media/image1036.wmf"/><Relationship Id="rId2" Type="http://schemas.openxmlformats.org/officeDocument/2006/relationships/slideLayout" Target="../slideLayouts/slideLayout7.xml"/><Relationship Id="rId1" Type="http://schemas.openxmlformats.org/officeDocument/2006/relationships/vmlDrawing" Target="../drawings/vmlDrawing185.vml"/><Relationship Id="rId6" Type="http://schemas.openxmlformats.org/officeDocument/2006/relationships/image" Target="../media/image1033.emf"/><Relationship Id="rId11" Type="http://schemas.openxmlformats.org/officeDocument/2006/relationships/oleObject" Target="../embeddings/oleObject936.bin"/><Relationship Id="rId5" Type="http://schemas.openxmlformats.org/officeDocument/2006/relationships/oleObject" Target="../embeddings/oleObject933.bin"/><Relationship Id="rId10" Type="http://schemas.openxmlformats.org/officeDocument/2006/relationships/image" Target="../media/image1035.emf"/><Relationship Id="rId4" Type="http://schemas.openxmlformats.org/officeDocument/2006/relationships/image" Target="../media/image1032.wmf"/><Relationship Id="rId9" Type="http://schemas.openxmlformats.org/officeDocument/2006/relationships/oleObject" Target="../embeddings/oleObject935.bin"/></Relationships>
</file>

<file path=ppt/slides/_rels/slide242.xml.rels><?xml version="1.0" encoding="UTF-8" standalone="yes"?>
<Relationships xmlns="http://schemas.openxmlformats.org/package/2006/relationships"><Relationship Id="rId3" Type="http://schemas.openxmlformats.org/officeDocument/2006/relationships/oleObject" Target="../embeddings/oleObject937.bin"/><Relationship Id="rId2" Type="http://schemas.openxmlformats.org/officeDocument/2006/relationships/slideLayout" Target="../slideLayouts/slideLayout7.xml"/><Relationship Id="rId1" Type="http://schemas.openxmlformats.org/officeDocument/2006/relationships/vmlDrawing" Target="../drawings/vmlDrawing186.vml"/><Relationship Id="rId4" Type="http://schemas.openxmlformats.org/officeDocument/2006/relationships/image" Target="../media/image1037.wmf"/></Relationships>
</file>

<file path=ppt/slides/_rels/slide243.xml.rels><?xml version="1.0" encoding="UTF-8" standalone="yes"?>
<Relationships xmlns="http://schemas.openxmlformats.org/package/2006/relationships"><Relationship Id="rId8" Type="http://schemas.openxmlformats.org/officeDocument/2006/relationships/image" Target="../media/image1040.wmf"/><Relationship Id="rId13" Type="http://schemas.openxmlformats.org/officeDocument/2006/relationships/oleObject" Target="../embeddings/oleObject943.bin"/><Relationship Id="rId18" Type="http://schemas.openxmlformats.org/officeDocument/2006/relationships/image" Target="../media/image1045.wmf"/><Relationship Id="rId26" Type="http://schemas.openxmlformats.org/officeDocument/2006/relationships/image" Target="../media/image1049.wmf"/><Relationship Id="rId3" Type="http://schemas.openxmlformats.org/officeDocument/2006/relationships/oleObject" Target="../embeddings/oleObject938.bin"/><Relationship Id="rId21" Type="http://schemas.openxmlformats.org/officeDocument/2006/relationships/oleObject" Target="../embeddings/oleObject947.bin"/><Relationship Id="rId7" Type="http://schemas.openxmlformats.org/officeDocument/2006/relationships/oleObject" Target="../embeddings/oleObject940.bin"/><Relationship Id="rId12" Type="http://schemas.openxmlformats.org/officeDocument/2006/relationships/image" Target="../media/image1042.wmf"/><Relationship Id="rId17" Type="http://schemas.openxmlformats.org/officeDocument/2006/relationships/oleObject" Target="../embeddings/oleObject945.bin"/><Relationship Id="rId25" Type="http://schemas.openxmlformats.org/officeDocument/2006/relationships/oleObject" Target="../embeddings/oleObject949.bin"/><Relationship Id="rId2" Type="http://schemas.openxmlformats.org/officeDocument/2006/relationships/slideLayout" Target="../slideLayouts/slideLayout7.xml"/><Relationship Id="rId16" Type="http://schemas.openxmlformats.org/officeDocument/2006/relationships/image" Target="../media/image1044.wmf"/><Relationship Id="rId20" Type="http://schemas.openxmlformats.org/officeDocument/2006/relationships/image" Target="../media/image1046.wmf"/><Relationship Id="rId1" Type="http://schemas.openxmlformats.org/officeDocument/2006/relationships/vmlDrawing" Target="../drawings/vmlDrawing187.vml"/><Relationship Id="rId6" Type="http://schemas.openxmlformats.org/officeDocument/2006/relationships/image" Target="../media/image1039.wmf"/><Relationship Id="rId11" Type="http://schemas.openxmlformats.org/officeDocument/2006/relationships/oleObject" Target="../embeddings/oleObject942.bin"/><Relationship Id="rId24" Type="http://schemas.openxmlformats.org/officeDocument/2006/relationships/image" Target="../media/image1048.wmf"/><Relationship Id="rId5" Type="http://schemas.openxmlformats.org/officeDocument/2006/relationships/oleObject" Target="../embeddings/oleObject939.bin"/><Relationship Id="rId15" Type="http://schemas.openxmlformats.org/officeDocument/2006/relationships/oleObject" Target="../embeddings/oleObject944.bin"/><Relationship Id="rId23" Type="http://schemas.openxmlformats.org/officeDocument/2006/relationships/oleObject" Target="../embeddings/oleObject948.bin"/><Relationship Id="rId10" Type="http://schemas.openxmlformats.org/officeDocument/2006/relationships/image" Target="../media/image1041.wmf"/><Relationship Id="rId19" Type="http://schemas.openxmlformats.org/officeDocument/2006/relationships/oleObject" Target="../embeddings/oleObject946.bin"/><Relationship Id="rId4" Type="http://schemas.openxmlformats.org/officeDocument/2006/relationships/image" Target="../media/image1038.emf"/><Relationship Id="rId9" Type="http://schemas.openxmlformats.org/officeDocument/2006/relationships/oleObject" Target="../embeddings/oleObject941.bin"/><Relationship Id="rId14" Type="http://schemas.openxmlformats.org/officeDocument/2006/relationships/image" Target="../media/image1043.wmf"/><Relationship Id="rId22" Type="http://schemas.openxmlformats.org/officeDocument/2006/relationships/image" Target="../media/image1047.wmf"/></Relationships>
</file>

<file path=ppt/slides/_rels/slide244.xml.rels><?xml version="1.0" encoding="UTF-8" standalone="yes"?>
<Relationships xmlns="http://schemas.openxmlformats.org/package/2006/relationships"><Relationship Id="rId8" Type="http://schemas.openxmlformats.org/officeDocument/2006/relationships/image" Target="../media/image1052.emf"/><Relationship Id="rId3" Type="http://schemas.openxmlformats.org/officeDocument/2006/relationships/oleObject" Target="../embeddings/oleObject950.bin"/><Relationship Id="rId7" Type="http://schemas.openxmlformats.org/officeDocument/2006/relationships/oleObject" Target="../embeddings/oleObject952.bin"/><Relationship Id="rId2" Type="http://schemas.openxmlformats.org/officeDocument/2006/relationships/slideLayout" Target="../slideLayouts/slideLayout7.xml"/><Relationship Id="rId1" Type="http://schemas.openxmlformats.org/officeDocument/2006/relationships/vmlDrawing" Target="../drawings/vmlDrawing188.vml"/><Relationship Id="rId6" Type="http://schemas.openxmlformats.org/officeDocument/2006/relationships/image" Target="../media/image1051.wmf"/><Relationship Id="rId5" Type="http://schemas.openxmlformats.org/officeDocument/2006/relationships/oleObject" Target="../embeddings/oleObject951.bin"/><Relationship Id="rId4" Type="http://schemas.openxmlformats.org/officeDocument/2006/relationships/image" Target="../media/image1050.wmf"/></Relationships>
</file>

<file path=ppt/slides/_rels/slide245.xml.rels><?xml version="1.0" encoding="UTF-8" standalone="yes"?>
<Relationships xmlns="http://schemas.openxmlformats.org/package/2006/relationships"><Relationship Id="rId8" Type="http://schemas.openxmlformats.org/officeDocument/2006/relationships/image" Target="../media/image1055.wmf"/><Relationship Id="rId13" Type="http://schemas.openxmlformats.org/officeDocument/2006/relationships/oleObject" Target="../embeddings/oleObject958.bin"/><Relationship Id="rId18" Type="http://schemas.openxmlformats.org/officeDocument/2006/relationships/image" Target="../media/image1060.wmf"/><Relationship Id="rId26" Type="http://schemas.openxmlformats.org/officeDocument/2006/relationships/image" Target="../media/image1064.wmf"/><Relationship Id="rId3" Type="http://schemas.openxmlformats.org/officeDocument/2006/relationships/oleObject" Target="../embeddings/oleObject953.bin"/><Relationship Id="rId21" Type="http://schemas.openxmlformats.org/officeDocument/2006/relationships/oleObject" Target="../embeddings/oleObject962.bin"/><Relationship Id="rId7" Type="http://schemas.openxmlformats.org/officeDocument/2006/relationships/oleObject" Target="../embeddings/oleObject955.bin"/><Relationship Id="rId12" Type="http://schemas.openxmlformats.org/officeDocument/2006/relationships/image" Target="../media/image1057.wmf"/><Relationship Id="rId17" Type="http://schemas.openxmlformats.org/officeDocument/2006/relationships/oleObject" Target="../embeddings/oleObject960.bin"/><Relationship Id="rId25" Type="http://schemas.openxmlformats.org/officeDocument/2006/relationships/oleObject" Target="../embeddings/oleObject964.bin"/><Relationship Id="rId2" Type="http://schemas.openxmlformats.org/officeDocument/2006/relationships/slideLayout" Target="../slideLayouts/slideLayout7.xml"/><Relationship Id="rId16" Type="http://schemas.openxmlformats.org/officeDocument/2006/relationships/image" Target="../media/image1059.wmf"/><Relationship Id="rId20" Type="http://schemas.openxmlformats.org/officeDocument/2006/relationships/image" Target="../media/image1061.wmf"/><Relationship Id="rId1" Type="http://schemas.openxmlformats.org/officeDocument/2006/relationships/vmlDrawing" Target="../drawings/vmlDrawing189.vml"/><Relationship Id="rId6" Type="http://schemas.openxmlformats.org/officeDocument/2006/relationships/image" Target="../media/image1054.wmf"/><Relationship Id="rId11" Type="http://schemas.openxmlformats.org/officeDocument/2006/relationships/oleObject" Target="../embeddings/oleObject957.bin"/><Relationship Id="rId24" Type="http://schemas.openxmlformats.org/officeDocument/2006/relationships/image" Target="../media/image1063.wmf"/><Relationship Id="rId5" Type="http://schemas.openxmlformats.org/officeDocument/2006/relationships/oleObject" Target="../embeddings/oleObject954.bin"/><Relationship Id="rId15" Type="http://schemas.openxmlformats.org/officeDocument/2006/relationships/oleObject" Target="../embeddings/oleObject959.bin"/><Relationship Id="rId23" Type="http://schemas.openxmlformats.org/officeDocument/2006/relationships/oleObject" Target="../embeddings/oleObject963.bin"/><Relationship Id="rId10" Type="http://schemas.openxmlformats.org/officeDocument/2006/relationships/image" Target="../media/image1056.wmf"/><Relationship Id="rId19" Type="http://schemas.openxmlformats.org/officeDocument/2006/relationships/oleObject" Target="../embeddings/oleObject961.bin"/><Relationship Id="rId4" Type="http://schemas.openxmlformats.org/officeDocument/2006/relationships/image" Target="../media/image1053.wmf"/><Relationship Id="rId9" Type="http://schemas.openxmlformats.org/officeDocument/2006/relationships/oleObject" Target="../embeddings/oleObject956.bin"/><Relationship Id="rId14" Type="http://schemas.openxmlformats.org/officeDocument/2006/relationships/image" Target="../media/image1058.wmf"/><Relationship Id="rId22" Type="http://schemas.openxmlformats.org/officeDocument/2006/relationships/image" Target="../media/image1062.wmf"/></Relationships>
</file>

<file path=ppt/slides/_rels/slide246.xml.rels><?xml version="1.0" encoding="UTF-8" standalone="yes"?>
<Relationships xmlns="http://schemas.openxmlformats.org/package/2006/relationships"><Relationship Id="rId8" Type="http://schemas.openxmlformats.org/officeDocument/2006/relationships/image" Target="../media/image1065.wmf"/><Relationship Id="rId3" Type="http://schemas.openxmlformats.org/officeDocument/2006/relationships/oleObject" Target="../embeddings/oleObject965.bin"/><Relationship Id="rId7" Type="http://schemas.openxmlformats.org/officeDocument/2006/relationships/oleObject" Target="../embeddings/oleObject967.bin"/><Relationship Id="rId2" Type="http://schemas.openxmlformats.org/officeDocument/2006/relationships/slideLayout" Target="../slideLayouts/slideLayout7.xml"/><Relationship Id="rId1" Type="http://schemas.openxmlformats.org/officeDocument/2006/relationships/vmlDrawing" Target="../drawings/vmlDrawing190.vml"/><Relationship Id="rId6" Type="http://schemas.openxmlformats.org/officeDocument/2006/relationships/image" Target="../media/image1051.wmf"/><Relationship Id="rId5" Type="http://schemas.openxmlformats.org/officeDocument/2006/relationships/oleObject" Target="../embeddings/oleObject966.bin"/><Relationship Id="rId10" Type="http://schemas.openxmlformats.org/officeDocument/2006/relationships/image" Target="../media/image1066.wmf"/><Relationship Id="rId4" Type="http://schemas.openxmlformats.org/officeDocument/2006/relationships/image" Target="../media/image1050.wmf"/><Relationship Id="rId9" Type="http://schemas.openxmlformats.org/officeDocument/2006/relationships/oleObject" Target="../embeddings/oleObject968.bin"/></Relationships>
</file>

<file path=ppt/slides/_rels/slide247.xml.rels><?xml version="1.0" encoding="UTF-8" standalone="yes"?>
<Relationships xmlns="http://schemas.openxmlformats.org/package/2006/relationships"><Relationship Id="rId8" Type="http://schemas.openxmlformats.org/officeDocument/2006/relationships/image" Target="../media/image1069.wmf"/><Relationship Id="rId13" Type="http://schemas.openxmlformats.org/officeDocument/2006/relationships/oleObject" Target="../embeddings/oleObject974.bin"/><Relationship Id="rId3" Type="http://schemas.openxmlformats.org/officeDocument/2006/relationships/oleObject" Target="../embeddings/oleObject969.bin"/><Relationship Id="rId7" Type="http://schemas.openxmlformats.org/officeDocument/2006/relationships/oleObject" Target="../embeddings/oleObject971.bin"/><Relationship Id="rId12" Type="http://schemas.openxmlformats.org/officeDocument/2006/relationships/image" Target="../media/image1071.wmf"/><Relationship Id="rId2" Type="http://schemas.openxmlformats.org/officeDocument/2006/relationships/slideLayout" Target="../slideLayouts/slideLayout7.xml"/><Relationship Id="rId16" Type="http://schemas.openxmlformats.org/officeDocument/2006/relationships/image" Target="../media/image1073.wmf"/><Relationship Id="rId1" Type="http://schemas.openxmlformats.org/officeDocument/2006/relationships/vmlDrawing" Target="../drawings/vmlDrawing191.vml"/><Relationship Id="rId6" Type="http://schemas.openxmlformats.org/officeDocument/2006/relationships/image" Target="../media/image1068.emf"/><Relationship Id="rId11" Type="http://schemas.openxmlformats.org/officeDocument/2006/relationships/oleObject" Target="../embeddings/oleObject973.bin"/><Relationship Id="rId5" Type="http://schemas.openxmlformats.org/officeDocument/2006/relationships/oleObject" Target="../embeddings/oleObject970.bin"/><Relationship Id="rId15" Type="http://schemas.openxmlformats.org/officeDocument/2006/relationships/oleObject" Target="../embeddings/oleObject975.bin"/><Relationship Id="rId10" Type="http://schemas.openxmlformats.org/officeDocument/2006/relationships/image" Target="../media/image1070.wmf"/><Relationship Id="rId4" Type="http://schemas.openxmlformats.org/officeDocument/2006/relationships/image" Target="../media/image1067.emf"/><Relationship Id="rId9" Type="http://schemas.openxmlformats.org/officeDocument/2006/relationships/oleObject" Target="../embeddings/oleObject972.bin"/><Relationship Id="rId14" Type="http://schemas.openxmlformats.org/officeDocument/2006/relationships/image" Target="../media/image1072.wmf"/></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9.xml.rels><?xml version="1.0" encoding="UTF-8" standalone="yes"?>
<Relationships xmlns="http://schemas.openxmlformats.org/package/2006/relationships"><Relationship Id="rId3" Type="http://schemas.openxmlformats.org/officeDocument/2006/relationships/oleObject" Target="../embeddings/oleObject976.bin"/><Relationship Id="rId2" Type="http://schemas.openxmlformats.org/officeDocument/2006/relationships/slideLayout" Target="../slideLayouts/slideLayout7.xml"/><Relationship Id="rId1" Type="http://schemas.openxmlformats.org/officeDocument/2006/relationships/vmlDrawing" Target="../drawings/vmlDrawing192.vml"/><Relationship Id="rId4" Type="http://schemas.openxmlformats.org/officeDocument/2006/relationships/image" Target="../media/image1074.emf"/></Relationships>
</file>

<file path=ppt/slides/_rels/slide250.xml.rels><?xml version="1.0" encoding="UTF-8" standalone="yes"?>
<Relationships xmlns="http://schemas.openxmlformats.org/package/2006/relationships"><Relationship Id="rId3" Type="http://schemas.openxmlformats.org/officeDocument/2006/relationships/oleObject" Target="../embeddings/oleObject977.bin"/><Relationship Id="rId2" Type="http://schemas.openxmlformats.org/officeDocument/2006/relationships/slideLayout" Target="../slideLayouts/slideLayout7.xml"/><Relationship Id="rId1" Type="http://schemas.openxmlformats.org/officeDocument/2006/relationships/vmlDrawing" Target="../drawings/vmlDrawing193.vml"/><Relationship Id="rId6" Type="http://schemas.openxmlformats.org/officeDocument/2006/relationships/oleObject" Target="../embeddings/oleObject979.bin"/><Relationship Id="rId5" Type="http://schemas.openxmlformats.org/officeDocument/2006/relationships/oleObject" Target="../embeddings/oleObject978.bin"/><Relationship Id="rId4" Type="http://schemas.openxmlformats.org/officeDocument/2006/relationships/image" Target="../media/image1075.emf"/></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2.xml.rels><?xml version="1.0" encoding="UTF-8" standalone="yes"?>
<Relationships xmlns="http://schemas.openxmlformats.org/package/2006/relationships"><Relationship Id="rId8" Type="http://schemas.openxmlformats.org/officeDocument/2006/relationships/image" Target="../media/image1078.emf"/><Relationship Id="rId3" Type="http://schemas.openxmlformats.org/officeDocument/2006/relationships/oleObject" Target="../embeddings/oleObject980.bin"/><Relationship Id="rId7" Type="http://schemas.openxmlformats.org/officeDocument/2006/relationships/oleObject" Target="../embeddings/oleObject982.bin"/><Relationship Id="rId2" Type="http://schemas.openxmlformats.org/officeDocument/2006/relationships/slideLayout" Target="../slideLayouts/slideLayout7.xml"/><Relationship Id="rId1" Type="http://schemas.openxmlformats.org/officeDocument/2006/relationships/vmlDrawing" Target="../drawings/vmlDrawing194.vml"/><Relationship Id="rId6" Type="http://schemas.openxmlformats.org/officeDocument/2006/relationships/image" Target="../media/image1077.emf"/><Relationship Id="rId5" Type="http://schemas.openxmlformats.org/officeDocument/2006/relationships/oleObject" Target="../embeddings/oleObject981.bin"/><Relationship Id="rId4" Type="http://schemas.openxmlformats.org/officeDocument/2006/relationships/image" Target="../media/image1076.wmf"/></Relationships>
</file>

<file path=ppt/slides/_rels/slide253.xml.rels><?xml version="1.0" encoding="UTF-8" standalone="yes"?>
<Relationships xmlns="http://schemas.openxmlformats.org/package/2006/relationships"><Relationship Id="rId8" Type="http://schemas.openxmlformats.org/officeDocument/2006/relationships/image" Target="../media/image1081.wmf"/><Relationship Id="rId3" Type="http://schemas.openxmlformats.org/officeDocument/2006/relationships/oleObject" Target="../embeddings/oleObject983.bin"/><Relationship Id="rId7" Type="http://schemas.openxmlformats.org/officeDocument/2006/relationships/oleObject" Target="../embeddings/oleObject985.bin"/><Relationship Id="rId2" Type="http://schemas.openxmlformats.org/officeDocument/2006/relationships/slideLayout" Target="../slideLayouts/slideLayout7.xml"/><Relationship Id="rId1" Type="http://schemas.openxmlformats.org/officeDocument/2006/relationships/vmlDrawing" Target="../drawings/vmlDrawing195.vml"/><Relationship Id="rId6" Type="http://schemas.openxmlformats.org/officeDocument/2006/relationships/image" Target="../media/image1080.wmf"/><Relationship Id="rId5" Type="http://schemas.openxmlformats.org/officeDocument/2006/relationships/oleObject" Target="../embeddings/oleObject984.bin"/><Relationship Id="rId4" Type="http://schemas.openxmlformats.org/officeDocument/2006/relationships/image" Target="../media/image1079.emf"/></Relationships>
</file>

<file path=ppt/slides/_rels/slide254.xml.rels><?xml version="1.0" encoding="UTF-8" standalone="yes"?>
<Relationships xmlns="http://schemas.openxmlformats.org/package/2006/relationships"><Relationship Id="rId3" Type="http://schemas.openxmlformats.org/officeDocument/2006/relationships/oleObject" Target="../embeddings/oleObject986.bin"/><Relationship Id="rId2" Type="http://schemas.openxmlformats.org/officeDocument/2006/relationships/slideLayout" Target="../slideLayouts/slideLayout7.xml"/><Relationship Id="rId1" Type="http://schemas.openxmlformats.org/officeDocument/2006/relationships/vmlDrawing" Target="../drawings/vmlDrawing196.vml"/><Relationship Id="rId6" Type="http://schemas.openxmlformats.org/officeDocument/2006/relationships/image" Target="../media/image1083.wmf"/><Relationship Id="rId5" Type="http://schemas.openxmlformats.org/officeDocument/2006/relationships/oleObject" Target="../embeddings/oleObject987.bin"/><Relationship Id="rId4" Type="http://schemas.openxmlformats.org/officeDocument/2006/relationships/image" Target="../media/image1082.wmf"/></Relationships>
</file>

<file path=ppt/slides/_rels/slide255.xml.rels><?xml version="1.0" encoding="UTF-8" standalone="yes"?>
<Relationships xmlns="http://schemas.openxmlformats.org/package/2006/relationships"><Relationship Id="rId3" Type="http://schemas.openxmlformats.org/officeDocument/2006/relationships/oleObject" Target="../embeddings/oleObject988.bin"/><Relationship Id="rId2" Type="http://schemas.openxmlformats.org/officeDocument/2006/relationships/slideLayout" Target="../slideLayouts/slideLayout7.xml"/><Relationship Id="rId1" Type="http://schemas.openxmlformats.org/officeDocument/2006/relationships/vmlDrawing" Target="../drawings/vmlDrawing197.vml"/><Relationship Id="rId6" Type="http://schemas.openxmlformats.org/officeDocument/2006/relationships/image" Target="../media/image1085.emf"/><Relationship Id="rId5" Type="http://schemas.openxmlformats.org/officeDocument/2006/relationships/oleObject" Target="../embeddings/oleObject989.bin"/><Relationship Id="rId4" Type="http://schemas.openxmlformats.org/officeDocument/2006/relationships/image" Target="../media/image1084.wmf"/></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7.xml.rels><?xml version="1.0" encoding="UTF-8" standalone="yes"?>
<Relationships xmlns="http://schemas.openxmlformats.org/package/2006/relationships"><Relationship Id="rId8" Type="http://schemas.openxmlformats.org/officeDocument/2006/relationships/image" Target="../media/image1088.wmf"/><Relationship Id="rId3" Type="http://schemas.openxmlformats.org/officeDocument/2006/relationships/oleObject" Target="../embeddings/oleObject990.bin"/><Relationship Id="rId7" Type="http://schemas.openxmlformats.org/officeDocument/2006/relationships/oleObject" Target="../embeddings/oleObject992.bin"/><Relationship Id="rId2" Type="http://schemas.openxmlformats.org/officeDocument/2006/relationships/slideLayout" Target="../slideLayouts/slideLayout7.xml"/><Relationship Id="rId1" Type="http://schemas.openxmlformats.org/officeDocument/2006/relationships/vmlDrawing" Target="../drawings/vmlDrawing198.vml"/><Relationship Id="rId6" Type="http://schemas.openxmlformats.org/officeDocument/2006/relationships/image" Target="../media/image1087.wmf"/><Relationship Id="rId5" Type="http://schemas.openxmlformats.org/officeDocument/2006/relationships/oleObject" Target="../embeddings/oleObject991.bin"/><Relationship Id="rId4" Type="http://schemas.openxmlformats.org/officeDocument/2006/relationships/image" Target="../media/image1086.wmf"/></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4.xml.rels><?xml version="1.0" encoding="UTF-8" standalone="yes"?>
<Relationships xmlns="http://schemas.openxmlformats.org/package/2006/relationships"><Relationship Id="rId8" Type="http://schemas.openxmlformats.org/officeDocument/2006/relationships/image" Target="../media/image1091.wmf"/><Relationship Id="rId3" Type="http://schemas.openxmlformats.org/officeDocument/2006/relationships/oleObject" Target="../embeddings/oleObject993.bin"/><Relationship Id="rId7" Type="http://schemas.openxmlformats.org/officeDocument/2006/relationships/oleObject" Target="../embeddings/oleObject995.bin"/><Relationship Id="rId2" Type="http://schemas.openxmlformats.org/officeDocument/2006/relationships/slideLayout" Target="../slideLayouts/slideLayout7.xml"/><Relationship Id="rId1" Type="http://schemas.openxmlformats.org/officeDocument/2006/relationships/vmlDrawing" Target="../drawings/vmlDrawing199.vml"/><Relationship Id="rId6" Type="http://schemas.openxmlformats.org/officeDocument/2006/relationships/image" Target="../media/image1090.wmf"/><Relationship Id="rId5" Type="http://schemas.openxmlformats.org/officeDocument/2006/relationships/oleObject" Target="../embeddings/oleObject994.bin"/><Relationship Id="rId10" Type="http://schemas.openxmlformats.org/officeDocument/2006/relationships/image" Target="../media/image1092.wmf"/><Relationship Id="rId4" Type="http://schemas.openxmlformats.org/officeDocument/2006/relationships/image" Target="../media/image1089.emf"/><Relationship Id="rId9" Type="http://schemas.openxmlformats.org/officeDocument/2006/relationships/oleObject" Target="../embeddings/oleObject996.bin"/></Relationships>
</file>

<file path=ppt/slides/_rels/slide265.xml.rels><?xml version="1.0" encoding="UTF-8" standalone="yes"?>
<Relationships xmlns="http://schemas.openxmlformats.org/package/2006/relationships"><Relationship Id="rId8" Type="http://schemas.openxmlformats.org/officeDocument/2006/relationships/image" Target="../media/image1095.wmf"/><Relationship Id="rId3" Type="http://schemas.openxmlformats.org/officeDocument/2006/relationships/oleObject" Target="../embeddings/oleObject997.bin"/><Relationship Id="rId7" Type="http://schemas.openxmlformats.org/officeDocument/2006/relationships/oleObject" Target="../embeddings/oleObject999.bin"/><Relationship Id="rId2" Type="http://schemas.openxmlformats.org/officeDocument/2006/relationships/slideLayout" Target="../slideLayouts/slideLayout7.xml"/><Relationship Id="rId1" Type="http://schemas.openxmlformats.org/officeDocument/2006/relationships/vmlDrawing" Target="../drawings/vmlDrawing200.vml"/><Relationship Id="rId6" Type="http://schemas.openxmlformats.org/officeDocument/2006/relationships/image" Target="../media/image1094.wmf"/><Relationship Id="rId5" Type="http://schemas.openxmlformats.org/officeDocument/2006/relationships/oleObject" Target="../embeddings/oleObject998.bin"/><Relationship Id="rId10" Type="http://schemas.openxmlformats.org/officeDocument/2006/relationships/image" Target="../media/image1096.wmf"/><Relationship Id="rId4" Type="http://schemas.openxmlformats.org/officeDocument/2006/relationships/image" Target="../media/image1093.emf"/><Relationship Id="rId9" Type="http://schemas.openxmlformats.org/officeDocument/2006/relationships/oleObject" Target="../embeddings/oleObject1000.bin"/></Relationships>
</file>

<file path=ppt/slides/_rels/slide266.xml.rels><?xml version="1.0" encoding="UTF-8" standalone="yes"?>
<Relationships xmlns="http://schemas.openxmlformats.org/package/2006/relationships"><Relationship Id="rId3" Type="http://schemas.openxmlformats.org/officeDocument/2006/relationships/oleObject" Target="../embeddings/oleObject1001.bin"/><Relationship Id="rId2" Type="http://schemas.openxmlformats.org/officeDocument/2006/relationships/slideLayout" Target="../slideLayouts/slideLayout7.xml"/><Relationship Id="rId1" Type="http://schemas.openxmlformats.org/officeDocument/2006/relationships/vmlDrawing" Target="../drawings/vmlDrawing201.vml"/><Relationship Id="rId4" Type="http://schemas.openxmlformats.org/officeDocument/2006/relationships/image" Target="../media/image1097.emf"/></Relationships>
</file>

<file path=ppt/slides/_rels/slide267.xml.rels><?xml version="1.0" encoding="UTF-8" standalone="yes"?>
<Relationships xmlns="http://schemas.openxmlformats.org/package/2006/relationships"><Relationship Id="rId8" Type="http://schemas.openxmlformats.org/officeDocument/2006/relationships/image" Target="../media/image1100.wmf"/><Relationship Id="rId13" Type="http://schemas.openxmlformats.org/officeDocument/2006/relationships/oleObject" Target="../embeddings/oleObject1007.bin"/><Relationship Id="rId3" Type="http://schemas.openxmlformats.org/officeDocument/2006/relationships/oleObject" Target="../embeddings/oleObject1002.bin"/><Relationship Id="rId7" Type="http://schemas.openxmlformats.org/officeDocument/2006/relationships/oleObject" Target="../embeddings/oleObject1004.bin"/><Relationship Id="rId12" Type="http://schemas.openxmlformats.org/officeDocument/2006/relationships/image" Target="../media/image1102.emf"/><Relationship Id="rId2" Type="http://schemas.openxmlformats.org/officeDocument/2006/relationships/slideLayout" Target="../slideLayouts/slideLayout7.xml"/><Relationship Id="rId1" Type="http://schemas.openxmlformats.org/officeDocument/2006/relationships/vmlDrawing" Target="../drawings/vmlDrawing202.vml"/><Relationship Id="rId6" Type="http://schemas.openxmlformats.org/officeDocument/2006/relationships/image" Target="../media/image1099.emf"/><Relationship Id="rId11" Type="http://schemas.openxmlformats.org/officeDocument/2006/relationships/oleObject" Target="../embeddings/oleObject1006.bin"/><Relationship Id="rId5" Type="http://schemas.openxmlformats.org/officeDocument/2006/relationships/oleObject" Target="../embeddings/oleObject1003.bin"/><Relationship Id="rId10" Type="http://schemas.openxmlformats.org/officeDocument/2006/relationships/image" Target="../media/image1101.emf"/><Relationship Id="rId4" Type="http://schemas.openxmlformats.org/officeDocument/2006/relationships/image" Target="../media/image1098.wmf"/><Relationship Id="rId9" Type="http://schemas.openxmlformats.org/officeDocument/2006/relationships/oleObject" Target="../embeddings/oleObject1005.bin"/><Relationship Id="rId14" Type="http://schemas.openxmlformats.org/officeDocument/2006/relationships/image" Target="../media/image1103.emf"/></Relationships>
</file>

<file path=ppt/slides/_rels/slide268.xml.rels><?xml version="1.0" encoding="UTF-8" standalone="yes"?>
<Relationships xmlns="http://schemas.openxmlformats.org/package/2006/relationships"><Relationship Id="rId8" Type="http://schemas.openxmlformats.org/officeDocument/2006/relationships/image" Target="../media/image1106.wmf"/><Relationship Id="rId3" Type="http://schemas.openxmlformats.org/officeDocument/2006/relationships/oleObject" Target="../embeddings/oleObject1008.bin"/><Relationship Id="rId7" Type="http://schemas.openxmlformats.org/officeDocument/2006/relationships/oleObject" Target="../embeddings/oleObject1010.bin"/><Relationship Id="rId2" Type="http://schemas.openxmlformats.org/officeDocument/2006/relationships/slideLayout" Target="../slideLayouts/slideLayout7.xml"/><Relationship Id="rId1" Type="http://schemas.openxmlformats.org/officeDocument/2006/relationships/vmlDrawing" Target="../drawings/vmlDrawing203.vml"/><Relationship Id="rId6" Type="http://schemas.openxmlformats.org/officeDocument/2006/relationships/image" Target="../media/image1105.wmf"/><Relationship Id="rId5" Type="http://schemas.openxmlformats.org/officeDocument/2006/relationships/oleObject" Target="../embeddings/oleObject1009.bin"/><Relationship Id="rId10" Type="http://schemas.openxmlformats.org/officeDocument/2006/relationships/image" Target="../media/image1107.wmf"/><Relationship Id="rId4" Type="http://schemas.openxmlformats.org/officeDocument/2006/relationships/image" Target="../media/image1104.emf"/><Relationship Id="rId9" Type="http://schemas.openxmlformats.org/officeDocument/2006/relationships/oleObject" Target="../embeddings/oleObject1011.bin"/></Relationships>
</file>

<file path=ppt/slides/_rels/slide269.xml.rels><?xml version="1.0" encoding="UTF-8" standalone="yes"?>
<Relationships xmlns="http://schemas.openxmlformats.org/package/2006/relationships"><Relationship Id="rId3" Type="http://schemas.openxmlformats.org/officeDocument/2006/relationships/oleObject" Target="../embeddings/oleObject1012.bin"/><Relationship Id="rId2" Type="http://schemas.openxmlformats.org/officeDocument/2006/relationships/slideLayout" Target="../slideLayouts/slideLayout7.xml"/><Relationship Id="rId1" Type="http://schemas.openxmlformats.org/officeDocument/2006/relationships/vmlDrawing" Target="../drawings/vmlDrawing204.vml"/><Relationship Id="rId6" Type="http://schemas.openxmlformats.org/officeDocument/2006/relationships/image" Target="../media/image1109.emf"/><Relationship Id="rId5" Type="http://schemas.openxmlformats.org/officeDocument/2006/relationships/oleObject" Target="../embeddings/oleObject1013.bin"/><Relationship Id="rId4" Type="http://schemas.openxmlformats.org/officeDocument/2006/relationships/image" Target="../media/image1108.emf"/></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1.xml.rels><?xml version="1.0" encoding="UTF-8" standalone="yes"?>
<Relationships xmlns="http://schemas.openxmlformats.org/package/2006/relationships"><Relationship Id="rId3" Type="http://schemas.openxmlformats.org/officeDocument/2006/relationships/image" Target="../media/image1111.png"/><Relationship Id="rId2" Type="http://schemas.openxmlformats.org/officeDocument/2006/relationships/image" Target="../media/image1110.png"/><Relationship Id="rId1" Type="http://schemas.openxmlformats.org/officeDocument/2006/relationships/slideLayout" Target="../slideLayouts/slideLayout7.xml"/></Relationships>
</file>

<file path=ppt/slides/_rels/slide272.xml.rels><?xml version="1.0" encoding="UTF-8" standalone="yes"?>
<Relationships xmlns="http://schemas.openxmlformats.org/package/2006/relationships"><Relationship Id="rId2" Type="http://schemas.openxmlformats.org/officeDocument/2006/relationships/image" Target="../media/image1112.png"/><Relationship Id="rId1" Type="http://schemas.openxmlformats.org/officeDocument/2006/relationships/slideLayout" Target="../slideLayouts/slideLayout7.xml"/></Relationships>
</file>

<file path=ppt/slides/_rels/slide273.xml.rels><?xml version="1.0" encoding="UTF-8" standalone="yes"?>
<Relationships xmlns="http://schemas.openxmlformats.org/package/2006/relationships"><Relationship Id="rId2" Type="http://schemas.openxmlformats.org/officeDocument/2006/relationships/image" Target="../media/image1113.wmf"/><Relationship Id="rId1" Type="http://schemas.openxmlformats.org/officeDocument/2006/relationships/slideLayout" Target="../slideLayouts/slideLayout7.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5.xml.rels><?xml version="1.0" encoding="UTF-8" standalone="yes"?>
<Relationships xmlns="http://schemas.openxmlformats.org/package/2006/relationships"><Relationship Id="rId3" Type="http://schemas.openxmlformats.org/officeDocument/2006/relationships/image" Target="../media/image1115.wmf"/><Relationship Id="rId2" Type="http://schemas.openxmlformats.org/officeDocument/2006/relationships/image" Target="../media/image1114.wmf"/><Relationship Id="rId1" Type="http://schemas.openxmlformats.org/officeDocument/2006/relationships/slideLayout" Target="../slideLayouts/slideLayout7.xml"/><Relationship Id="rId4" Type="http://schemas.openxmlformats.org/officeDocument/2006/relationships/image" Target="../media/image1116.wmf"/></Relationships>
</file>

<file path=ppt/slides/_rels/slide276.xml.rels><?xml version="1.0" encoding="UTF-8" standalone="yes"?>
<Relationships xmlns="http://schemas.openxmlformats.org/package/2006/relationships"><Relationship Id="rId3" Type="http://schemas.openxmlformats.org/officeDocument/2006/relationships/image" Target="../media/image1118.wmf"/><Relationship Id="rId7" Type="http://schemas.openxmlformats.org/officeDocument/2006/relationships/image" Target="../media/image1122.wmf"/><Relationship Id="rId2" Type="http://schemas.openxmlformats.org/officeDocument/2006/relationships/image" Target="../media/image1117.wmf"/><Relationship Id="rId1" Type="http://schemas.openxmlformats.org/officeDocument/2006/relationships/slideLayout" Target="../slideLayouts/slideLayout7.xml"/><Relationship Id="rId6" Type="http://schemas.openxmlformats.org/officeDocument/2006/relationships/image" Target="../media/image1121.wmf"/><Relationship Id="rId5" Type="http://schemas.openxmlformats.org/officeDocument/2006/relationships/image" Target="../media/image1120.wmf"/><Relationship Id="rId4" Type="http://schemas.openxmlformats.org/officeDocument/2006/relationships/image" Target="../media/image1119.wmf"/></Relationships>
</file>

<file path=ppt/slides/_rels/slide277.xml.rels><?xml version="1.0" encoding="UTF-8" standalone="yes"?>
<Relationships xmlns="http://schemas.openxmlformats.org/package/2006/relationships"><Relationship Id="rId3" Type="http://schemas.openxmlformats.org/officeDocument/2006/relationships/image" Target="../media/image1124.wmf"/><Relationship Id="rId2" Type="http://schemas.openxmlformats.org/officeDocument/2006/relationships/image" Target="../media/image1123.wmf"/><Relationship Id="rId1" Type="http://schemas.openxmlformats.org/officeDocument/2006/relationships/slideLayout" Target="../slideLayouts/slideLayout7.xml"/></Relationships>
</file>

<file path=ppt/slides/_rels/slide278.xml.rels><?xml version="1.0" encoding="UTF-8" standalone="yes"?>
<Relationships xmlns="http://schemas.openxmlformats.org/package/2006/relationships"><Relationship Id="rId3" Type="http://schemas.openxmlformats.org/officeDocument/2006/relationships/image" Target="../media/image1126.wmf"/><Relationship Id="rId2" Type="http://schemas.openxmlformats.org/officeDocument/2006/relationships/image" Target="../media/image1125.wmf"/><Relationship Id="rId1" Type="http://schemas.openxmlformats.org/officeDocument/2006/relationships/slideLayout" Target="../slideLayouts/slideLayout7.xml"/><Relationship Id="rId4" Type="http://schemas.openxmlformats.org/officeDocument/2006/relationships/image" Target="../media/image1123.wmf"/></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0.xml.rels><?xml version="1.0" encoding="UTF-8" standalone="yes"?>
<Relationships xmlns="http://schemas.openxmlformats.org/package/2006/relationships"><Relationship Id="rId13" Type="http://schemas.openxmlformats.org/officeDocument/2006/relationships/oleObject" Target="../embeddings/oleObject1019.bin"/><Relationship Id="rId18" Type="http://schemas.openxmlformats.org/officeDocument/2006/relationships/image" Target="../media/image1134.wmf"/><Relationship Id="rId26" Type="http://schemas.openxmlformats.org/officeDocument/2006/relationships/image" Target="../media/image1138.wmf"/><Relationship Id="rId39" Type="http://schemas.openxmlformats.org/officeDocument/2006/relationships/oleObject" Target="../embeddings/oleObject1032.bin"/><Relationship Id="rId21" Type="http://schemas.openxmlformats.org/officeDocument/2006/relationships/oleObject" Target="../embeddings/oleObject1023.bin"/><Relationship Id="rId34" Type="http://schemas.openxmlformats.org/officeDocument/2006/relationships/image" Target="../media/image1142.wmf"/><Relationship Id="rId7" Type="http://schemas.openxmlformats.org/officeDocument/2006/relationships/oleObject" Target="../embeddings/oleObject1016.bin"/><Relationship Id="rId12" Type="http://schemas.openxmlformats.org/officeDocument/2006/relationships/image" Target="../media/image1131.wmf"/><Relationship Id="rId17" Type="http://schemas.openxmlformats.org/officeDocument/2006/relationships/oleObject" Target="../embeddings/oleObject1021.bin"/><Relationship Id="rId25" Type="http://schemas.openxmlformats.org/officeDocument/2006/relationships/oleObject" Target="../embeddings/oleObject1025.bin"/><Relationship Id="rId33" Type="http://schemas.openxmlformats.org/officeDocument/2006/relationships/oleObject" Target="../embeddings/oleObject1029.bin"/><Relationship Id="rId38" Type="http://schemas.openxmlformats.org/officeDocument/2006/relationships/image" Target="../media/image1144.wmf"/><Relationship Id="rId2" Type="http://schemas.openxmlformats.org/officeDocument/2006/relationships/slideLayout" Target="../slideLayouts/slideLayout7.xml"/><Relationship Id="rId16" Type="http://schemas.openxmlformats.org/officeDocument/2006/relationships/image" Target="../media/image1133.wmf"/><Relationship Id="rId20" Type="http://schemas.openxmlformats.org/officeDocument/2006/relationships/image" Target="../media/image1135.wmf"/><Relationship Id="rId29" Type="http://schemas.openxmlformats.org/officeDocument/2006/relationships/oleObject" Target="../embeddings/oleObject1027.bin"/><Relationship Id="rId1" Type="http://schemas.openxmlformats.org/officeDocument/2006/relationships/vmlDrawing" Target="../drawings/vmlDrawing205.vml"/><Relationship Id="rId6" Type="http://schemas.openxmlformats.org/officeDocument/2006/relationships/image" Target="../media/image1128.emf"/><Relationship Id="rId11" Type="http://schemas.openxmlformats.org/officeDocument/2006/relationships/oleObject" Target="../embeddings/oleObject1018.bin"/><Relationship Id="rId24" Type="http://schemas.openxmlformats.org/officeDocument/2006/relationships/image" Target="../media/image1137.wmf"/><Relationship Id="rId32" Type="http://schemas.openxmlformats.org/officeDocument/2006/relationships/image" Target="../media/image1141.wmf"/><Relationship Id="rId37" Type="http://schemas.openxmlformats.org/officeDocument/2006/relationships/oleObject" Target="../embeddings/oleObject1031.bin"/><Relationship Id="rId40" Type="http://schemas.openxmlformats.org/officeDocument/2006/relationships/image" Target="../media/image1145.wmf"/><Relationship Id="rId5" Type="http://schemas.openxmlformats.org/officeDocument/2006/relationships/oleObject" Target="../embeddings/oleObject1015.bin"/><Relationship Id="rId15" Type="http://schemas.openxmlformats.org/officeDocument/2006/relationships/oleObject" Target="../embeddings/oleObject1020.bin"/><Relationship Id="rId23" Type="http://schemas.openxmlformats.org/officeDocument/2006/relationships/oleObject" Target="../embeddings/oleObject1024.bin"/><Relationship Id="rId28" Type="http://schemas.openxmlformats.org/officeDocument/2006/relationships/image" Target="../media/image1139.wmf"/><Relationship Id="rId36" Type="http://schemas.openxmlformats.org/officeDocument/2006/relationships/image" Target="../media/image1143.wmf"/><Relationship Id="rId10" Type="http://schemas.openxmlformats.org/officeDocument/2006/relationships/image" Target="../media/image1130.wmf"/><Relationship Id="rId19" Type="http://schemas.openxmlformats.org/officeDocument/2006/relationships/oleObject" Target="../embeddings/oleObject1022.bin"/><Relationship Id="rId31" Type="http://schemas.openxmlformats.org/officeDocument/2006/relationships/oleObject" Target="../embeddings/oleObject1028.bin"/><Relationship Id="rId4" Type="http://schemas.openxmlformats.org/officeDocument/2006/relationships/image" Target="../media/image1127.emf"/><Relationship Id="rId9" Type="http://schemas.openxmlformats.org/officeDocument/2006/relationships/oleObject" Target="../embeddings/oleObject1017.bin"/><Relationship Id="rId14" Type="http://schemas.openxmlformats.org/officeDocument/2006/relationships/image" Target="../media/image1132.wmf"/><Relationship Id="rId22" Type="http://schemas.openxmlformats.org/officeDocument/2006/relationships/image" Target="../media/image1136.wmf"/><Relationship Id="rId27" Type="http://schemas.openxmlformats.org/officeDocument/2006/relationships/oleObject" Target="../embeddings/oleObject1026.bin"/><Relationship Id="rId30" Type="http://schemas.openxmlformats.org/officeDocument/2006/relationships/image" Target="../media/image1140.wmf"/><Relationship Id="rId35" Type="http://schemas.openxmlformats.org/officeDocument/2006/relationships/oleObject" Target="../embeddings/oleObject1030.bin"/><Relationship Id="rId8" Type="http://schemas.openxmlformats.org/officeDocument/2006/relationships/image" Target="../media/image1129.wmf"/><Relationship Id="rId3" Type="http://schemas.openxmlformats.org/officeDocument/2006/relationships/oleObject" Target="../embeddings/oleObject1014.bin"/></Relationships>
</file>

<file path=ppt/slides/_rels/slide281.xml.rels><?xml version="1.0" encoding="UTF-8" standalone="yes"?>
<Relationships xmlns="http://schemas.openxmlformats.org/package/2006/relationships"><Relationship Id="rId2" Type="http://schemas.openxmlformats.org/officeDocument/2006/relationships/image" Target="../media/image1146.wmf"/><Relationship Id="rId1" Type="http://schemas.openxmlformats.org/officeDocument/2006/relationships/slideLayout" Target="../slideLayouts/slideLayout7.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3.xml.rels><?xml version="1.0" encoding="UTF-8" standalone="yes"?>
<Relationships xmlns="http://schemas.openxmlformats.org/package/2006/relationships"><Relationship Id="rId2" Type="http://schemas.openxmlformats.org/officeDocument/2006/relationships/image" Target="../media/image1147.wmf"/><Relationship Id="rId1" Type="http://schemas.openxmlformats.org/officeDocument/2006/relationships/slideLayout" Target="../slideLayouts/slideLayout7.xml"/></Relationships>
</file>

<file path=ppt/slides/_rels/slide284.xml.rels><?xml version="1.0" encoding="UTF-8" standalone="yes"?>
<Relationships xmlns="http://schemas.openxmlformats.org/package/2006/relationships"><Relationship Id="rId2" Type="http://schemas.openxmlformats.org/officeDocument/2006/relationships/image" Target="../media/image1148.wmf"/><Relationship Id="rId1" Type="http://schemas.openxmlformats.org/officeDocument/2006/relationships/slideLayout" Target="../slideLayouts/slideLayout7.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6.xml.rels><?xml version="1.0" encoding="UTF-8" standalone="yes"?>
<Relationships xmlns="http://schemas.openxmlformats.org/package/2006/relationships"><Relationship Id="rId2" Type="http://schemas.openxmlformats.org/officeDocument/2006/relationships/image" Target="../media/image1149.wmf"/><Relationship Id="rId1" Type="http://schemas.openxmlformats.org/officeDocument/2006/relationships/slideLayout" Target="../slideLayouts/slideLayout7.xml"/></Relationships>
</file>

<file path=ppt/slides/_rels/slide287.xml.rels><?xml version="1.0" encoding="UTF-8" standalone="yes"?>
<Relationships xmlns="http://schemas.openxmlformats.org/package/2006/relationships"><Relationship Id="rId3" Type="http://schemas.openxmlformats.org/officeDocument/2006/relationships/image" Target="../media/image1151.wmf"/><Relationship Id="rId2" Type="http://schemas.openxmlformats.org/officeDocument/2006/relationships/image" Target="../media/image1150.wmf"/><Relationship Id="rId1" Type="http://schemas.openxmlformats.org/officeDocument/2006/relationships/slideLayout" Target="../slideLayouts/slideLayout7.xml"/></Relationships>
</file>

<file path=ppt/slides/_rels/slide288.xml.rels><?xml version="1.0" encoding="UTF-8" standalone="yes"?>
<Relationships xmlns="http://schemas.openxmlformats.org/package/2006/relationships"><Relationship Id="rId2" Type="http://schemas.openxmlformats.org/officeDocument/2006/relationships/image" Target="../media/image1152.wmf"/><Relationship Id="rId1" Type="http://schemas.openxmlformats.org/officeDocument/2006/relationships/slideLayout" Target="../slideLayouts/slideLayout7.xml"/></Relationships>
</file>

<file path=ppt/slides/_rels/slide289.xml.rels><?xml version="1.0" encoding="UTF-8" standalone="yes"?>
<Relationships xmlns="http://schemas.openxmlformats.org/package/2006/relationships"><Relationship Id="rId2" Type="http://schemas.openxmlformats.org/officeDocument/2006/relationships/image" Target="../media/image1153.wmf"/><Relationship Id="rId1" Type="http://schemas.openxmlformats.org/officeDocument/2006/relationships/slideLayout" Target="../slideLayouts/slideLayout7.xml"/></Relationships>
</file>

<file path=ppt/slides/_rels/slide290.xml.rels><?xml version="1.0" encoding="UTF-8" standalone="yes"?>
<Relationships xmlns="http://schemas.openxmlformats.org/package/2006/relationships"><Relationship Id="rId2" Type="http://schemas.openxmlformats.org/officeDocument/2006/relationships/image" Target="../media/image1154.wmf"/><Relationship Id="rId1" Type="http://schemas.openxmlformats.org/officeDocument/2006/relationships/slideLayout" Target="../slideLayouts/slideLayout7.xml"/></Relationships>
</file>

<file path=ppt/slides/_rels/slide291.xml.rels><?xml version="1.0" encoding="UTF-8" standalone="yes"?>
<Relationships xmlns="http://schemas.openxmlformats.org/package/2006/relationships"><Relationship Id="rId2" Type="http://schemas.openxmlformats.org/officeDocument/2006/relationships/image" Target="../media/image1155.png"/><Relationship Id="rId1" Type="http://schemas.openxmlformats.org/officeDocument/2006/relationships/slideLayout" Target="../slideLayouts/slideLayout7.xml"/></Relationships>
</file>

<file path=ppt/slides/_rels/slide292.xml.rels><?xml version="1.0" encoding="UTF-8" standalone="yes"?>
<Relationships xmlns="http://schemas.openxmlformats.org/package/2006/relationships"><Relationship Id="rId2" Type="http://schemas.openxmlformats.org/officeDocument/2006/relationships/image" Target="../media/image1156.wmf"/><Relationship Id="rId1" Type="http://schemas.openxmlformats.org/officeDocument/2006/relationships/slideLayout" Target="../slideLayouts/slideLayout7.xml"/></Relationships>
</file>

<file path=ppt/slides/_rels/slide293.xml.rels><?xml version="1.0" encoding="UTF-8" standalone="yes"?>
<Relationships xmlns="http://schemas.openxmlformats.org/package/2006/relationships"><Relationship Id="rId2" Type="http://schemas.openxmlformats.org/officeDocument/2006/relationships/image" Target="../media/image1157.png"/><Relationship Id="rId1" Type="http://schemas.openxmlformats.org/officeDocument/2006/relationships/slideLayout" Target="../slideLayouts/slideLayout7.xml"/></Relationships>
</file>

<file path=ppt/slides/_rels/slide294.xml.rels><?xml version="1.0" encoding="UTF-8" standalone="yes"?>
<Relationships xmlns="http://schemas.openxmlformats.org/package/2006/relationships"><Relationship Id="rId2" Type="http://schemas.openxmlformats.org/officeDocument/2006/relationships/image" Target="../media/image1158.wmf"/><Relationship Id="rId1" Type="http://schemas.openxmlformats.org/officeDocument/2006/relationships/slideLayout" Target="../slideLayouts/slideLayout7.xml"/></Relationships>
</file>

<file path=ppt/slides/_rels/slide295.xml.rels><?xml version="1.0" encoding="UTF-8" standalone="yes"?>
<Relationships xmlns="http://schemas.openxmlformats.org/package/2006/relationships"><Relationship Id="rId2" Type="http://schemas.openxmlformats.org/officeDocument/2006/relationships/image" Target="../media/image1159.wmf"/><Relationship Id="rId1" Type="http://schemas.openxmlformats.org/officeDocument/2006/relationships/slideLayout" Target="../slideLayouts/slideLayout7.xml"/></Relationships>
</file>

<file path=ppt/slides/_rels/slide296.xml.rels><?xml version="1.0" encoding="UTF-8" standalone="yes"?>
<Relationships xmlns="http://schemas.openxmlformats.org/package/2006/relationships"><Relationship Id="rId3" Type="http://schemas.openxmlformats.org/officeDocument/2006/relationships/image" Target="../media/image1161.wmf"/><Relationship Id="rId2" Type="http://schemas.openxmlformats.org/officeDocument/2006/relationships/image" Target="../media/image1160.wmf"/><Relationship Id="rId1" Type="http://schemas.openxmlformats.org/officeDocument/2006/relationships/slideLayout" Target="../slideLayouts/slideLayout7.xml"/></Relationships>
</file>

<file path=ppt/slides/_rels/slide297.xml.rels><?xml version="1.0" encoding="UTF-8" standalone="yes"?>
<Relationships xmlns="http://schemas.openxmlformats.org/package/2006/relationships"><Relationship Id="rId2" Type="http://schemas.openxmlformats.org/officeDocument/2006/relationships/image" Target="../media/image1160.wmf"/><Relationship Id="rId1" Type="http://schemas.openxmlformats.org/officeDocument/2006/relationships/slideLayout" Target="../slideLayouts/slideLayout7.xml"/></Relationships>
</file>

<file path=ppt/slides/_rels/slide298.xml.rels><?xml version="1.0" encoding="UTF-8" standalone="yes"?>
<Relationships xmlns="http://schemas.openxmlformats.org/package/2006/relationships"><Relationship Id="rId2" Type="http://schemas.openxmlformats.org/officeDocument/2006/relationships/image" Target="../media/image1162.wmf"/><Relationship Id="rId1" Type="http://schemas.openxmlformats.org/officeDocument/2006/relationships/slideLayout" Target="../slideLayouts/slideLayout7.xml"/></Relationships>
</file>

<file path=ppt/slides/_rels/slide299.xml.rels><?xml version="1.0" encoding="UTF-8" standalone="yes"?>
<Relationships xmlns="http://schemas.openxmlformats.org/package/2006/relationships"><Relationship Id="rId3" Type="http://schemas.openxmlformats.org/officeDocument/2006/relationships/image" Target="../media/image1164.wmf"/><Relationship Id="rId2" Type="http://schemas.openxmlformats.org/officeDocument/2006/relationships/image" Target="../media/image1163.wmf"/><Relationship Id="rId1" Type="http://schemas.openxmlformats.org/officeDocument/2006/relationships/slideLayout" Target="../slideLayouts/slideLayout7.xml"/><Relationship Id="rId6" Type="http://schemas.openxmlformats.org/officeDocument/2006/relationships/image" Target="../media/image1167.png"/><Relationship Id="rId5" Type="http://schemas.openxmlformats.org/officeDocument/2006/relationships/image" Target="../media/image1166.wmf"/><Relationship Id="rId4" Type="http://schemas.openxmlformats.org/officeDocument/2006/relationships/image" Target="../media/image1165.wmf"/></Relationships>
</file>

<file path=ppt/slides/_rels/slide300.xml.rels><?xml version="1.0" encoding="UTF-8" standalone="yes"?>
<Relationships xmlns="http://schemas.openxmlformats.org/package/2006/relationships"><Relationship Id="rId8" Type="http://schemas.openxmlformats.org/officeDocument/2006/relationships/image" Target="../media/image1166.wmf"/><Relationship Id="rId13" Type="http://schemas.openxmlformats.org/officeDocument/2006/relationships/image" Target="../media/image1177.wmf"/><Relationship Id="rId3" Type="http://schemas.openxmlformats.org/officeDocument/2006/relationships/image" Target="../media/image1169.wmf"/><Relationship Id="rId7" Type="http://schemas.openxmlformats.org/officeDocument/2006/relationships/image" Target="../media/image1172.wmf"/><Relationship Id="rId12" Type="http://schemas.openxmlformats.org/officeDocument/2006/relationships/image" Target="../media/image1176.wmf"/><Relationship Id="rId2" Type="http://schemas.openxmlformats.org/officeDocument/2006/relationships/image" Target="../media/image1168.wmf"/><Relationship Id="rId1" Type="http://schemas.openxmlformats.org/officeDocument/2006/relationships/slideLayout" Target="../slideLayouts/slideLayout7.xml"/><Relationship Id="rId6" Type="http://schemas.openxmlformats.org/officeDocument/2006/relationships/image" Target="../media/image1165.wmf"/><Relationship Id="rId11" Type="http://schemas.openxmlformats.org/officeDocument/2006/relationships/image" Target="../media/image1175.wmf"/><Relationship Id="rId5" Type="http://schemas.openxmlformats.org/officeDocument/2006/relationships/image" Target="../media/image1171.wmf"/><Relationship Id="rId10" Type="http://schemas.openxmlformats.org/officeDocument/2006/relationships/image" Target="../media/image1174.wmf"/><Relationship Id="rId4" Type="http://schemas.openxmlformats.org/officeDocument/2006/relationships/image" Target="../media/image1170.wmf"/><Relationship Id="rId9" Type="http://schemas.openxmlformats.org/officeDocument/2006/relationships/image" Target="../media/image1173.wmf"/></Relationships>
</file>

<file path=ppt/slides/_rels/slide301.xml.rels><?xml version="1.0" encoding="UTF-8" standalone="yes"?>
<Relationships xmlns="http://schemas.openxmlformats.org/package/2006/relationships"><Relationship Id="rId3" Type="http://schemas.openxmlformats.org/officeDocument/2006/relationships/image" Target="../media/image1177.wmf"/><Relationship Id="rId2" Type="http://schemas.openxmlformats.org/officeDocument/2006/relationships/image" Target="../media/image1176.wmf"/><Relationship Id="rId1" Type="http://schemas.openxmlformats.org/officeDocument/2006/relationships/slideLayout" Target="../slideLayouts/slideLayout7.xml"/></Relationships>
</file>

<file path=ppt/slides/_rels/slide302.xml.rels><?xml version="1.0" encoding="UTF-8" standalone="yes"?>
<Relationships xmlns="http://schemas.openxmlformats.org/package/2006/relationships"><Relationship Id="rId3" Type="http://schemas.openxmlformats.org/officeDocument/2006/relationships/image" Target="../media/image1179.wmf"/><Relationship Id="rId2" Type="http://schemas.openxmlformats.org/officeDocument/2006/relationships/image" Target="../media/image1178.wmf"/><Relationship Id="rId1" Type="http://schemas.openxmlformats.org/officeDocument/2006/relationships/slideLayout" Target="../slideLayouts/slideLayout7.xml"/></Relationships>
</file>

<file path=ppt/slides/_rels/slide303.xml.rels><?xml version="1.0" encoding="UTF-8" standalone="yes"?>
<Relationships xmlns="http://schemas.openxmlformats.org/package/2006/relationships"><Relationship Id="rId3" Type="http://schemas.openxmlformats.org/officeDocument/2006/relationships/image" Target="../media/image1181.wmf"/><Relationship Id="rId2" Type="http://schemas.openxmlformats.org/officeDocument/2006/relationships/image" Target="../media/image1180.wmf"/><Relationship Id="rId1" Type="http://schemas.openxmlformats.org/officeDocument/2006/relationships/slideLayout" Target="../slideLayouts/slideLayout7.xml"/><Relationship Id="rId4" Type="http://schemas.openxmlformats.org/officeDocument/2006/relationships/image" Target="../media/image1182.wmf"/></Relationships>
</file>

<file path=ppt/slides/_rels/slide304.xml.rels><?xml version="1.0" encoding="UTF-8" standalone="yes"?>
<Relationships xmlns="http://schemas.openxmlformats.org/package/2006/relationships"><Relationship Id="rId3" Type="http://schemas.openxmlformats.org/officeDocument/2006/relationships/image" Target="../media/image1180.wmf"/><Relationship Id="rId2" Type="http://schemas.openxmlformats.org/officeDocument/2006/relationships/image" Target="../media/image1183.wmf"/><Relationship Id="rId1" Type="http://schemas.openxmlformats.org/officeDocument/2006/relationships/slideLayout" Target="../slideLayouts/slideLayout7.xml"/></Relationships>
</file>

<file path=ppt/slides/_rels/slide305.xml.rels><?xml version="1.0" encoding="UTF-8" standalone="yes"?>
<Relationships xmlns="http://schemas.openxmlformats.org/package/2006/relationships"><Relationship Id="rId3" Type="http://schemas.openxmlformats.org/officeDocument/2006/relationships/image" Target="../media/image1185.wmf"/><Relationship Id="rId2" Type="http://schemas.openxmlformats.org/officeDocument/2006/relationships/image" Target="../media/image1184.wmf"/><Relationship Id="rId1" Type="http://schemas.openxmlformats.org/officeDocument/2006/relationships/slideLayout" Target="../slideLayouts/slideLayout7.xml"/><Relationship Id="rId5" Type="http://schemas.openxmlformats.org/officeDocument/2006/relationships/image" Target="../media/image1187.wmf"/><Relationship Id="rId4" Type="http://schemas.openxmlformats.org/officeDocument/2006/relationships/image" Target="../media/image1186.wmf"/></Relationships>
</file>

<file path=ppt/slides/_rels/slide306.xml.rels><?xml version="1.0" encoding="UTF-8" standalone="yes"?>
<Relationships xmlns="http://schemas.openxmlformats.org/package/2006/relationships"><Relationship Id="rId3" Type="http://schemas.openxmlformats.org/officeDocument/2006/relationships/image" Target="../media/image1189.wmf"/><Relationship Id="rId2" Type="http://schemas.openxmlformats.org/officeDocument/2006/relationships/image" Target="../media/image1188.wmf"/><Relationship Id="rId1" Type="http://schemas.openxmlformats.org/officeDocument/2006/relationships/slideLayout" Target="../slideLayouts/slideLayout7.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1" y="6492875"/>
            <a:ext cx="2057400" cy="365125"/>
          </a:xfrm>
        </p:spPr>
        <p:txBody>
          <a:bodyPr/>
          <a:lstStyle/>
          <a:p>
            <a:fld id="{9C17F3BB-9D9D-4EF3-9682-4E68731C16DA}" type="datetime1">
              <a:rPr lang="zh-CN" altLang="en-US" sz="1800" b="1" smtClean="0">
                <a:solidFill>
                  <a:schemeClr val="tx1"/>
                </a:solidFill>
                <a:latin typeface="Times New Roman" panose="02020603050405020304" pitchFamily="18" charset="0"/>
                <a:cs typeface="Times New Roman" panose="02020603050405020304" pitchFamily="18" charset="0"/>
              </a:rPr>
              <a:t>2025/6/26</a:t>
            </a:fld>
            <a:endParaRPr lang="zh-CN" altLang="en-US" sz="1800" b="1" dirty="0">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1"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1</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Rectangle 7"/>
          <p:cNvSpPr>
            <a:spLocks noChangeArrowheads="1"/>
          </p:cNvSpPr>
          <p:nvPr/>
        </p:nvSpPr>
        <p:spPr bwMode="auto">
          <a:xfrm>
            <a:off x="1" y="2453427"/>
            <a:ext cx="9143999" cy="1889973"/>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fontAlgn="base">
              <a:lnSpc>
                <a:spcPct val="150000"/>
              </a:lnSpc>
              <a:spcBef>
                <a:spcPct val="0"/>
              </a:spcBef>
              <a:spcAft>
                <a:spcPct val="0"/>
              </a:spcAft>
              <a:buFontTx/>
              <a:buNone/>
              <a:defRPr/>
            </a:pPr>
            <a:r>
              <a:rPr lang="en-US" altLang="zh-CN" sz="4800" b="1" dirty="0" smtClean="0">
                <a:ln w="9525">
                  <a:solidFill>
                    <a:srgbClr val="FF0000"/>
                  </a:solidFill>
                  <a:prstDash val="solid"/>
                </a:ln>
                <a:solidFill>
                  <a:srgbClr val="FF0000"/>
                </a:solidFill>
                <a:effectLst>
                  <a:outerShdw blurRad="12700" dist="38100" dir="2700000" algn="tl" rotWithShape="0">
                    <a:srgbClr val="FFFFFF">
                      <a:lumMod val="50000"/>
                    </a:srgbClr>
                  </a:outerShdw>
                </a:effectLst>
                <a:latin typeface="宋体"/>
                <a:ea typeface="宋体"/>
              </a:rPr>
              <a:t>《</a:t>
            </a:r>
            <a:r>
              <a:rPr lang="zh-CN" altLang="en-US" sz="4800" b="1" dirty="0" smtClean="0">
                <a:ln w="9525">
                  <a:solidFill>
                    <a:srgbClr val="FF0000"/>
                  </a:solidFill>
                  <a:prstDash val="solid"/>
                </a:ln>
                <a:solidFill>
                  <a:srgbClr val="FF0000"/>
                </a:solidFill>
                <a:effectLst>
                  <a:outerShdw blurRad="12700" dist="38100" dir="2700000" algn="tl" rotWithShape="0">
                    <a:srgbClr val="FFFFFF">
                      <a:lumMod val="50000"/>
                    </a:srgbClr>
                  </a:outerShdw>
                </a:effectLst>
                <a:latin typeface="宋体"/>
                <a:ea typeface="宋体"/>
              </a:rPr>
              <a:t>通信电子线路</a:t>
            </a:r>
            <a:r>
              <a:rPr lang="en-US" altLang="zh-CN" sz="4800" b="1" dirty="0" smtClean="0">
                <a:ln w="9525">
                  <a:solidFill>
                    <a:srgbClr val="FF0000"/>
                  </a:solidFill>
                  <a:prstDash val="solid"/>
                </a:ln>
                <a:solidFill>
                  <a:srgbClr val="FF0000"/>
                </a:solidFill>
                <a:effectLst>
                  <a:outerShdw blurRad="12700" dist="38100" dir="2700000" algn="tl" rotWithShape="0">
                    <a:srgbClr val="FFFFFF">
                      <a:lumMod val="50000"/>
                    </a:srgbClr>
                  </a:outerShdw>
                </a:effectLst>
                <a:latin typeface="宋体"/>
                <a:ea typeface="宋体"/>
              </a:rPr>
              <a:t>》</a:t>
            </a:r>
          </a:p>
        </p:txBody>
      </p:sp>
    </p:spTree>
    <p:extLst>
      <p:ext uri="{BB962C8B-B14F-4D97-AF65-F5344CB8AC3E}">
        <p14:creationId xmlns:p14="http://schemas.microsoft.com/office/powerpoint/2010/main" val="67913633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2</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Rectangle 7"/>
          <p:cNvSpPr>
            <a:spLocks noChangeArrowheads="1"/>
          </p:cNvSpPr>
          <p:nvPr/>
        </p:nvSpPr>
        <p:spPr bwMode="auto">
          <a:xfrm>
            <a:off x="635000" y="1557338"/>
            <a:ext cx="7848600" cy="4228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defRPr/>
            </a:pPr>
            <a:r>
              <a:rPr lang="en-US" altLang="zh-CN" sz="3200" dirty="0" smtClean="0">
                <a:ln w="0"/>
                <a:solidFill>
                  <a:srgbClr val="FF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1  </a:t>
            </a:r>
            <a:r>
              <a:rPr lang="zh-CN" altLang="en-US" sz="3200" dirty="0" smtClean="0">
                <a:ln w="0"/>
                <a:solidFill>
                  <a:srgbClr val="FF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通信电子线路概论</a:t>
            </a:r>
            <a:endParaRPr lang="en-US" altLang="zh-CN" sz="3200" dirty="0" smtClean="0">
              <a:ln w="0"/>
              <a:solidFill>
                <a:srgbClr val="FF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endParaRPr>
          </a:p>
          <a:p>
            <a:pPr fontAlgn="base">
              <a:lnSpc>
                <a:spcPct val="120000"/>
              </a:lnSpc>
              <a:spcBef>
                <a:spcPct val="0"/>
              </a:spcBef>
              <a:spcAft>
                <a:spcPct val="0"/>
              </a:spcAft>
              <a:buFontTx/>
              <a:buNone/>
              <a:defRPr/>
            </a:pPr>
            <a:r>
              <a:rPr lang="en-US" altLang="zh-CN" sz="3200" dirty="0" smtClean="0">
                <a:ln w="0"/>
                <a:solidFill>
                  <a:srgbClr val="00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2  </a:t>
            </a:r>
            <a:r>
              <a:rPr lang="zh-CN" altLang="en-US" sz="3200" dirty="0" smtClean="0">
                <a:ln w="0"/>
                <a:solidFill>
                  <a:srgbClr val="00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高频</a:t>
            </a:r>
            <a:r>
              <a:rPr lang="zh-CN" altLang="en-US" sz="3200" dirty="0">
                <a:ln w="0"/>
                <a:solidFill>
                  <a:srgbClr val="00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基础</a:t>
            </a:r>
            <a:r>
              <a:rPr lang="zh-CN" altLang="en-US" sz="3200" dirty="0" smtClean="0">
                <a:ln w="0"/>
                <a:solidFill>
                  <a:srgbClr val="00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电路</a:t>
            </a:r>
          </a:p>
          <a:p>
            <a:pPr fontAlgn="base">
              <a:lnSpc>
                <a:spcPct val="120000"/>
              </a:lnSpc>
              <a:spcBef>
                <a:spcPct val="0"/>
              </a:spcBef>
              <a:spcAft>
                <a:spcPct val="0"/>
              </a:spcAft>
              <a:buNone/>
              <a:defRPr/>
            </a:pPr>
            <a:r>
              <a:rPr lang="en-US" altLang="zh-CN" sz="3200" dirty="0" smtClean="0">
                <a:ln w="0"/>
                <a:solidFill>
                  <a:srgbClr val="00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3  </a:t>
            </a:r>
            <a:r>
              <a:rPr lang="zh-CN" altLang="en-US" sz="3200" dirty="0" smtClean="0">
                <a:ln w="0"/>
                <a:solidFill>
                  <a:srgbClr val="00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高频</a:t>
            </a:r>
            <a:r>
              <a:rPr lang="zh-CN" altLang="en-US" sz="3200" dirty="0">
                <a:ln w="0"/>
                <a:solidFill>
                  <a:srgbClr val="00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小信号</a:t>
            </a:r>
            <a:r>
              <a:rPr lang="zh-CN" altLang="en-US" sz="3200" dirty="0" smtClean="0">
                <a:ln w="0"/>
                <a:solidFill>
                  <a:srgbClr val="00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放大器</a:t>
            </a:r>
          </a:p>
          <a:p>
            <a:pPr fontAlgn="base">
              <a:lnSpc>
                <a:spcPct val="120000"/>
              </a:lnSpc>
              <a:spcBef>
                <a:spcPct val="0"/>
              </a:spcBef>
              <a:spcAft>
                <a:spcPct val="0"/>
              </a:spcAft>
              <a:buFontTx/>
              <a:buNone/>
              <a:defRPr/>
            </a:pPr>
            <a:r>
              <a:rPr lang="en-US" altLang="zh-CN" sz="3200" dirty="0" smtClean="0">
                <a:ln w="0"/>
                <a:solidFill>
                  <a:srgbClr val="00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4  </a:t>
            </a:r>
            <a:r>
              <a:rPr lang="zh-CN" altLang="en-US" sz="3200" dirty="0" smtClean="0">
                <a:ln w="0"/>
                <a:solidFill>
                  <a:srgbClr val="00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谐振功率放大器</a:t>
            </a:r>
          </a:p>
          <a:p>
            <a:pPr fontAlgn="base">
              <a:lnSpc>
                <a:spcPct val="120000"/>
              </a:lnSpc>
              <a:spcBef>
                <a:spcPct val="0"/>
              </a:spcBef>
              <a:spcAft>
                <a:spcPct val="0"/>
              </a:spcAft>
              <a:buFontTx/>
              <a:buNone/>
              <a:defRPr/>
            </a:pPr>
            <a:r>
              <a:rPr lang="en-US" altLang="zh-CN" sz="3200" dirty="0" smtClean="0">
                <a:ln w="0"/>
                <a:solidFill>
                  <a:srgbClr val="00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5  </a:t>
            </a:r>
            <a:r>
              <a:rPr lang="zh-CN" altLang="en-US" sz="3200" dirty="0" smtClean="0">
                <a:ln w="0"/>
                <a:solidFill>
                  <a:srgbClr val="00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正弦波振荡器</a:t>
            </a:r>
          </a:p>
          <a:p>
            <a:pPr fontAlgn="base">
              <a:lnSpc>
                <a:spcPct val="120000"/>
              </a:lnSpc>
              <a:spcBef>
                <a:spcPct val="0"/>
              </a:spcBef>
              <a:spcAft>
                <a:spcPct val="0"/>
              </a:spcAft>
              <a:buNone/>
              <a:defRPr/>
            </a:pPr>
            <a:r>
              <a:rPr lang="en-US" altLang="zh-CN" sz="3200" dirty="0" smtClean="0">
                <a:ln w="0"/>
                <a:solidFill>
                  <a:srgbClr val="00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6  </a:t>
            </a:r>
            <a:r>
              <a:rPr lang="zh-CN" altLang="en-US" sz="3200" dirty="0" smtClean="0">
                <a:ln w="0"/>
                <a:solidFill>
                  <a:srgbClr val="00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振幅调制</a:t>
            </a:r>
            <a:r>
              <a:rPr lang="zh-CN" altLang="en-US" sz="3200" dirty="0">
                <a:ln w="0"/>
                <a:solidFill>
                  <a:srgbClr val="00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与</a:t>
            </a:r>
            <a:r>
              <a:rPr lang="zh-CN" altLang="en-US" sz="3200" dirty="0" smtClean="0">
                <a:ln w="0"/>
                <a:solidFill>
                  <a:srgbClr val="00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解调</a:t>
            </a:r>
            <a:endParaRPr lang="en-US" altLang="zh-CN" sz="3200" dirty="0" smtClean="0">
              <a:ln w="0"/>
              <a:solidFill>
                <a:srgbClr val="00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endParaRPr>
          </a:p>
          <a:p>
            <a:pPr fontAlgn="base">
              <a:lnSpc>
                <a:spcPct val="120000"/>
              </a:lnSpc>
              <a:spcBef>
                <a:spcPct val="0"/>
              </a:spcBef>
              <a:spcAft>
                <a:spcPct val="0"/>
              </a:spcAft>
              <a:buNone/>
              <a:defRPr/>
            </a:pPr>
            <a:r>
              <a:rPr lang="en-US" altLang="zh-CN" sz="3200" dirty="0" smtClean="0">
                <a:ln w="0"/>
                <a:solidFill>
                  <a:srgbClr val="00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7  </a:t>
            </a:r>
            <a:r>
              <a:rPr lang="zh-CN" altLang="en-US" sz="3200" dirty="0" smtClean="0">
                <a:ln w="0"/>
                <a:solidFill>
                  <a:srgbClr val="00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角度</a:t>
            </a:r>
            <a:r>
              <a:rPr lang="zh-CN" altLang="en-US" sz="3200" dirty="0">
                <a:ln w="0"/>
                <a:solidFill>
                  <a:srgbClr val="00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调制与</a:t>
            </a:r>
            <a:r>
              <a:rPr lang="zh-CN" altLang="en-US" sz="3200" dirty="0" smtClean="0">
                <a:ln w="0"/>
                <a:solidFill>
                  <a:srgbClr val="00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解调</a:t>
            </a:r>
          </a:p>
        </p:txBody>
      </p:sp>
      <p:sp>
        <p:nvSpPr>
          <p:cNvPr id="5"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目录</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60873634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3</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1.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概论</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 name="Text Box 4"/>
          <p:cNvSpPr txBox="1">
            <a:spLocks noChangeArrowheads="1"/>
          </p:cNvSpPr>
          <p:nvPr/>
        </p:nvSpPr>
        <p:spPr bwMode="auto">
          <a:xfrm>
            <a:off x="395288" y="1628775"/>
            <a:ext cx="8208962" cy="3194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342900" indent="-342900">
              <a:lnSpc>
                <a:spcPct val="120000"/>
              </a:lnSpc>
              <a:spcBef>
                <a:spcPct val="0"/>
              </a:spcBef>
              <a:buFont typeface="Wingdings" panose="05000000000000000000" pitchFamily="2" charset="2"/>
              <a:buChar char="Ø"/>
              <a:defRPr/>
            </a:pPr>
            <a:r>
              <a:rPr lang="zh-CN" altLang="en-US" dirty="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通信</a:t>
            </a:r>
            <a:r>
              <a:rPr lang="en-US" altLang="zh-CN" dirty="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a:t>
            </a:r>
            <a:r>
              <a:rPr lang="zh-CN" altLang="en-US" dirty="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是将</a:t>
            </a:r>
            <a:r>
              <a:rPr lang="zh-CN" altLang="en-US" dirty="0" smtClean="0">
                <a:ln w="0">
                  <a:solidFill>
                    <a:srgbClr val="FF0000"/>
                  </a:solidFill>
                </a:ln>
                <a:solidFill>
                  <a:srgbClr val="FF0000"/>
                </a:solidFill>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信息（消息）由一个地方传向另一个地方（或多个地方）</a:t>
            </a:r>
            <a:r>
              <a:rPr lang="zh-CN" altLang="en-US" dirty="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，现代通信通常都是采用电信号来完成这一传递过程。现代通信实质上就是电子通信，即电通信，以下简称为通信。</a:t>
            </a:r>
            <a:endParaRPr lang="en-US" altLang="zh-CN" dirty="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endParaRPr>
          </a:p>
          <a:p>
            <a:pPr marL="342900" indent="-342900">
              <a:lnSpc>
                <a:spcPct val="120000"/>
              </a:lnSpc>
              <a:spcBef>
                <a:spcPct val="0"/>
              </a:spcBef>
              <a:buFont typeface="Wingdings" panose="05000000000000000000" pitchFamily="2" charset="2"/>
              <a:buChar char="Ø"/>
              <a:defRPr/>
            </a:pPr>
            <a:r>
              <a:rPr lang="zh-CN" altLang="en-US" dirty="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有线通信</a:t>
            </a:r>
            <a:r>
              <a:rPr lang="en-US" altLang="zh-CN" dirty="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a:t>
            </a:r>
            <a:r>
              <a:rPr lang="zh-CN" altLang="en-US" dirty="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电信号通过导线、电缆线、光缆线（光纤通信）等有线媒体传递信息的。</a:t>
            </a:r>
          </a:p>
          <a:p>
            <a:pPr marL="342900" indent="-342900">
              <a:lnSpc>
                <a:spcPct val="120000"/>
              </a:lnSpc>
              <a:spcBef>
                <a:spcPct val="0"/>
              </a:spcBef>
              <a:buFont typeface="Wingdings" panose="05000000000000000000" pitchFamily="2" charset="2"/>
              <a:buChar char="Ø"/>
              <a:defRPr/>
            </a:pPr>
            <a:r>
              <a:rPr lang="zh-CN" altLang="en-US" dirty="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无线通信</a:t>
            </a:r>
            <a:r>
              <a:rPr lang="en-US" altLang="zh-CN" dirty="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a:t>
            </a:r>
            <a:r>
              <a:rPr lang="zh-CN" altLang="en-US" dirty="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利用无线电磁波作为信息载体的通信</a:t>
            </a:r>
            <a:r>
              <a:rPr lang="zh-CN" altLang="en-US" dirty="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方式。</a:t>
            </a:r>
            <a:endParaRPr lang="zh-CN" altLang="en-US" dirty="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57997070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4</a:t>
            </a:fld>
            <a:endParaRPr lang="zh-CN" altLang="en-US" sz="1800" b="1">
              <a:solidFill>
                <a:schemeClr val="tx1"/>
              </a:solidFill>
              <a:latin typeface="Times New Roman" panose="02020603050405020304" pitchFamily="18" charset="0"/>
              <a:cs typeface="Times New Roman" panose="02020603050405020304" pitchFamily="18" charset="0"/>
            </a:endParaRPr>
          </a:p>
        </p:txBody>
      </p:sp>
      <p:pic>
        <p:nvPicPr>
          <p:cNvPr id="4" name="Pictur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3170" y="1671305"/>
            <a:ext cx="6642100" cy="50910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10"/>
          <p:cNvSpPr txBox="1">
            <a:spLocks noChangeArrowheads="1"/>
          </p:cNvSpPr>
          <p:nvPr/>
        </p:nvSpPr>
        <p:spPr bwMode="auto">
          <a:xfrm>
            <a:off x="374982" y="3488993"/>
            <a:ext cx="827088" cy="131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2000" b="1" dirty="0">
                <a:latin typeface="Times New Roman" panose="02020603050405020304" pitchFamily="18" charset="0"/>
                <a:ea typeface="楷体_GB2312" pitchFamily="49" charset="-122"/>
              </a:rPr>
              <a:t>本课程涉及的频段</a:t>
            </a:r>
          </a:p>
        </p:txBody>
      </p:sp>
      <p:sp>
        <p:nvSpPr>
          <p:cNvPr id="7" name="AutoShape 16"/>
          <p:cNvSpPr>
            <a:spLocks/>
          </p:cNvSpPr>
          <p:nvPr/>
        </p:nvSpPr>
        <p:spPr bwMode="auto">
          <a:xfrm>
            <a:off x="986170" y="3327068"/>
            <a:ext cx="127000" cy="1711491"/>
          </a:xfrm>
          <a:prstGeom prst="leftBrace">
            <a:avLst>
              <a:gd name="adj1" fmla="val 88167"/>
              <a:gd name="adj2" fmla="val 50000"/>
            </a:avLst>
          </a:prstGeom>
          <a:solidFill>
            <a:srgbClr val="FF3300"/>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a:p>
        </p:txBody>
      </p:sp>
      <p:sp>
        <p:nvSpPr>
          <p:cNvPr id="8" name="AutoShape 17"/>
          <p:cNvSpPr>
            <a:spLocks/>
          </p:cNvSpPr>
          <p:nvPr/>
        </p:nvSpPr>
        <p:spPr bwMode="auto">
          <a:xfrm>
            <a:off x="897270" y="5078080"/>
            <a:ext cx="215900" cy="1644706"/>
          </a:xfrm>
          <a:prstGeom prst="leftBrace">
            <a:avLst>
              <a:gd name="adj1" fmla="val 55566"/>
              <a:gd name="adj2" fmla="val 50000"/>
            </a:avLst>
          </a:prstGeom>
          <a:solidFill>
            <a:srgbClr val="FF3300"/>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a:p>
        </p:txBody>
      </p:sp>
      <p:sp>
        <p:nvSpPr>
          <p:cNvPr id="9" name="Text Box 18"/>
          <p:cNvSpPr txBox="1">
            <a:spLocks noChangeArrowheads="1"/>
          </p:cNvSpPr>
          <p:nvPr/>
        </p:nvSpPr>
        <p:spPr bwMode="auto">
          <a:xfrm>
            <a:off x="446420" y="5513388"/>
            <a:ext cx="5397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2000" b="1" dirty="0">
                <a:latin typeface="Times New Roman" panose="02020603050405020304" pitchFamily="18" charset="0"/>
                <a:ea typeface="楷体_GB2312" pitchFamily="49" charset="-122"/>
              </a:rPr>
              <a:t>微波</a:t>
            </a:r>
          </a:p>
        </p:txBody>
      </p:sp>
      <p:sp>
        <p:nvSpPr>
          <p:cNvPr id="10" name="Rectangle 20"/>
          <p:cNvSpPr>
            <a:spLocks noChangeArrowheads="1"/>
          </p:cNvSpPr>
          <p:nvPr/>
        </p:nvSpPr>
        <p:spPr bwMode="auto">
          <a:xfrm>
            <a:off x="3558401" y="3424643"/>
            <a:ext cx="1223962" cy="1584325"/>
          </a:xfrm>
          <a:prstGeom prst="rect">
            <a:avLst/>
          </a:prstGeom>
          <a:noFill/>
          <a:ln w="25400">
            <a:solidFill>
              <a:srgbClr val="FF3300"/>
            </a:solidFill>
            <a:prstDash val="dash"/>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a:p>
        </p:txBody>
      </p:sp>
      <p:sp>
        <p:nvSpPr>
          <p:cNvPr id="11"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1.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概论</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2" name="Rectangle 2"/>
          <p:cNvSpPr txBox="1">
            <a:spLocks noChangeArrowheads="1"/>
          </p:cNvSpPr>
          <p:nvPr/>
        </p:nvSpPr>
        <p:spPr>
          <a:xfrm>
            <a:off x="1806114" y="1245246"/>
            <a:ext cx="5256212" cy="424732"/>
          </a:xfrm>
          <a:prstGeom prst="rect">
            <a:avLst/>
          </a:prstGeom>
        </p:spPr>
        <p:txBody>
          <a:bodyPr vert="horz" lIns="91440" tIns="45720" rIns="91440" bIns="4572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ct val="50000"/>
              </a:spcBef>
              <a:defRPr/>
            </a:pPr>
            <a:r>
              <a:rPr lang="en-US" altLang="zh-CN" sz="24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1.2 </a:t>
            </a:r>
            <a:r>
              <a:rPr lang="zh-CN" altLang="en-US" sz="24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通信频率的分配</a:t>
            </a:r>
            <a:endParaRPr lang="zh-CN" altLang="en-US" sz="24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23199260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5</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1.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概论</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Rectangle 5"/>
          <p:cNvSpPr>
            <a:spLocks noChangeArrowheads="1"/>
          </p:cNvSpPr>
          <p:nvPr/>
        </p:nvSpPr>
        <p:spPr bwMode="auto">
          <a:xfrm>
            <a:off x="2046288" y="1111203"/>
            <a:ext cx="504031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1.3  </a:t>
            </a:r>
            <a:r>
              <a:rPr lang="zh-CN" altLang="en-US"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通信系统</a:t>
            </a:r>
            <a:r>
              <a:rPr lang="zh-CN" altLang="en-US"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的组成</a:t>
            </a:r>
          </a:p>
        </p:txBody>
      </p:sp>
      <p:sp>
        <p:nvSpPr>
          <p:cNvPr id="6" name="Rectangle 3"/>
          <p:cNvSpPr>
            <a:spLocks noChangeArrowheads="1"/>
          </p:cNvSpPr>
          <p:nvPr/>
        </p:nvSpPr>
        <p:spPr bwMode="auto">
          <a:xfrm>
            <a:off x="502853" y="3031772"/>
            <a:ext cx="8352606" cy="2942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342900" indent="-342900" eaLnBrk="1" hangingPunct="1">
              <a:lnSpc>
                <a:spcPct val="120000"/>
              </a:lnSpc>
              <a:spcBef>
                <a:spcPts val="600"/>
              </a:spcBef>
              <a:buFont typeface="Wingdings" panose="05000000000000000000" pitchFamily="2" charset="2"/>
              <a:buChar char="Ø"/>
              <a:defRPr/>
            </a:pPr>
            <a:r>
              <a:rPr lang="zh-CN" altLang="en-US" sz="2100" dirty="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发送端的信源</a:t>
            </a:r>
            <a:r>
              <a:rPr lang="en-US" altLang="zh-CN" sz="2100" dirty="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a:t>
            </a:r>
            <a:r>
              <a:rPr lang="zh-CN" altLang="en-US" sz="2100" dirty="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信息源</a:t>
            </a:r>
            <a:r>
              <a:rPr lang="en-US" altLang="zh-CN" sz="2100" dirty="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a:t>
            </a:r>
            <a:r>
              <a:rPr lang="zh-CN" altLang="en-US" sz="2100" dirty="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的作用是把各种各样的消息变换成原始的电信号，即源电信号。</a:t>
            </a:r>
          </a:p>
          <a:p>
            <a:pPr marL="342900" indent="-342900" eaLnBrk="1" hangingPunct="1">
              <a:lnSpc>
                <a:spcPct val="120000"/>
              </a:lnSpc>
              <a:spcBef>
                <a:spcPts val="600"/>
              </a:spcBef>
              <a:buFont typeface="Wingdings" panose="05000000000000000000" pitchFamily="2" charset="2"/>
              <a:buChar char="Ø"/>
              <a:defRPr/>
            </a:pPr>
            <a:r>
              <a:rPr lang="zh-CN" altLang="en-US" sz="2100" dirty="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信道就是传递电信号的媒质，对有线通信是指传输导线，电缆线，光纤电缆等，对无线通信是指空间传播电磁波。</a:t>
            </a:r>
            <a:endParaRPr lang="en-US" altLang="zh-CN" sz="2100" dirty="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endParaRPr>
          </a:p>
          <a:p>
            <a:pPr marL="342900" indent="-342900" eaLnBrk="1" hangingPunct="1">
              <a:lnSpc>
                <a:spcPct val="120000"/>
              </a:lnSpc>
              <a:spcBef>
                <a:spcPts val="600"/>
              </a:spcBef>
              <a:buFont typeface="Wingdings" panose="05000000000000000000" pitchFamily="2" charset="2"/>
              <a:buChar char="Ø"/>
              <a:defRPr/>
            </a:pPr>
            <a:r>
              <a:rPr lang="zh-CN" altLang="en-US" sz="2100" dirty="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接收设备是将信道送来的已调载频电信号变换成原始电信号， 送给受信者</a:t>
            </a:r>
            <a:r>
              <a:rPr lang="en-US" altLang="zh-CN" sz="2100" dirty="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a:t>
            </a:r>
            <a:r>
              <a:rPr lang="zh-CN" altLang="en-US" sz="2100" dirty="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信宿</a:t>
            </a:r>
            <a:r>
              <a:rPr lang="en-US" altLang="zh-CN" sz="2100" dirty="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a:t>
            </a:r>
            <a:r>
              <a:rPr lang="zh-CN" altLang="en-US" sz="2100" dirty="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 。</a:t>
            </a:r>
          </a:p>
          <a:p>
            <a:pPr eaLnBrk="1" hangingPunct="1">
              <a:spcBef>
                <a:spcPct val="0"/>
              </a:spcBef>
              <a:buFontTx/>
              <a:buNone/>
              <a:defRPr/>
            </a:pPr>
            <a:r>
              <a:rPr lang="zh-CN" altLang="en-US" b="1" dirty="0" smtClean="0">
                <a:latin typeface="Times New Roman" panose="02020603050405020304" pitchFamily="18" charset="0"/>
                <a:cs typeface="Times New Roman" panose="02020603050405020304" pitchFamily="18" charset="0"/>
              </a:rPr>
              <a:t>        </a:t>
            </a:r>
          </a:p>
        </p:txBody>
      </p:sp>
      <p:pic>
        <p:nvPicPr>
          <p:cNvPr id="7" name="Picture 5" descr="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2988" y="1773238"/>
            <a:ext cx="7272337" cy="739775"/>
          </a:xfrm>
          <a:prstGeom prst="rect">
            <a:avLst/>
          </a:prstGeom>
          <a:noFill/>
          <a:ln>
            <a:noFill/>
          </a:ln>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5079620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Rectangle 3"/>
          <p:cNvSpPr>
            <a:spLocks noChangeArrowheads="1"/>
          </p:cNvSpPr>
          <p:nvPr/>
        </p:nvSpPr>
        <p:spPr bwMode="auto">
          <a:xfrm>
            <a:off x="395288" y="1420813"/>
            <a:ext cx="8208962"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FontTx/>
              <a:buNone/>
            </a:pPr>
            <a:r>
              <a:rPr lang="zh-CN" altLang="en-US" sz="2100" b="1" dirty="0">
                <a:latin typeface="Times New Roman" panose="02020603050405020304" pitchFamily="18" charset="0"/>
                <a:cs typeface="Times New Roman" panose="02020603050405020304" pitchFamily="18" charset="0"/>
              </a:rPr>
              <a:t>按照信道中传输的是模拟信号还是数字信号，可以把通信系统分为两类，即</a:t>
            </a:r>
            <a:r>
              <a:rPr lang="zh-CN" altLang="en-US" sz="2100" b="1" dirty="0">
                <a:solidFill>
                  <a:srgbClr val="FF3300"/>
                </a:solidFill>
                <a:latin typeface="Times New Roman" panose="02020603050405020304" pitchFamily="18" charset="0"/>
                <a:cs typeface="Times New Roman" panose="02020603050405020304" pitchFamily="18" charset="0"/>
              </a:rPr>
              <a:t>模拟通信系统</a:t>
            </a:r>
            <a:r>
              <a:rPr lang="zh-CN" altLang="en-US" sz="2100" b="1" dirty="0">
                <a:latin typeface="Times New Roman" panose="02020603050405020304" pitchFamily="18" charset="0"/>
                <a:cs typeface="Times New Roman" panose="02020603050405020304" pitchFamily="18" charset="0"/>
              </a:rPr>
              <a:t> 和</a:t>
            </a:r>
            <a:r>
              <a:rPr lang="zh-CN" altLang="en-US" sz="2100" b="1" dirty="0">
                <a:solidFill>
                  <a:srgbClr val="FF3300"/>
                </a:solidFill>
                <a:latin typeface="Times New Roman" panose="02020603050405020304" pitchFamily="18" charset="0"/>
                <a:cs typeface="Times New Roman" panose="02020603050405020304" pitchFamily="18" charset="0"/>
              </a:rPr>
              <a:t>数字通信系统</a:t>
            </a:r>
            <a:r>
              <a:rPr lang="zh-CN" altLang="en-US" sz="2100" b="1" dirty="0">
                <a:latin typeface="Times New Roman" panose="02020603050405020304" pitchFamily="18" charset="0"/>
                <a:cs typeface="Times New Roman" panose="02020603050405020304" pitchFamily="18" charset="0"/>
              </a:rPr>
              <a:t>。</a:t>
            </a:r>
          </a:p>
        </p:txBody>
      </p:sp>
      <p:sp>
        <p:nvSpPr>
          <p:cNvPr id="8" name="Rectangle 9"/>
          <p:cNvSpPr>
            <a:spLocks noChangeArrowheads="1"/>
          </p:cNvSpPr>
          <p:nvPr/>
        </p:nvSpPr>
        <p:spPr bwMode="auto">
          <a:xfrm>
            <a:off x="395288" y="2281190"/>
            <a:ext cx="8208962" cy="190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342900" indent="-342900" eaLnBrk="1" hangingPunct="1">
              <a:lnSpc>
                <a:spcPct val="120000"/>
              </a:lnSpc>
              <a:spcBef>
                <a:spcPct val="0"/>
              </a:spcBef>
              <a:buFont typeface="Wingdings" panose="05000000000000000000" pitchFamily="2" charset="2"/>
              <a:buChar char="Ø"/>
            </a:pPr>
            <a:r>
              <a:rPr lang="zh-CN" altLang="en-US" sz="2100" b="1" dirty="0">
                <a:solidFill>
                  <a:srgbClr val="FF3300"/>
                </a:solidFill>
              </a:rPr>
              <a:t>模拟通信系统</a:t>
            </a:r>
            <a:r>
              <a:rPr lang="en-US" altLang="zh-CN" sz="2100" b="1" dirty="0"/>
              <a:t>——</a:t>
            </a:r>
            <a:r>
              <a:rPr lang="zh-CN" altLang="en-US" sz="2100" b="1" dirty="0"/>
              <a:t>传送的是模拟信号</a:t>
            </a:r>
            <a:r>
              <a:rPr lang="en-US" altLang="zh-CN" sz="2100" b="1" dirty="0"/>
              <a:t>,</a:t>
            </a:r>
            <a:r>
              <a:rPr lang="zh-CN" altLang="en-US" sz="2100" b="1" dirty="0"/>
              <a:t>发送端的信息源是将要传送的话音、音乐、图像等连续变化的模拟信息，转变成连续变化的原始电信号。</a:t>
            </a:r>
          </a:p>
          <a:p>
            <a:pPr marL="342900" indent="-342900" eaLnBrk="1" hangingPunct="1">
              <a:spcBef>
                <a:spcPct val="0"/>
              </a:spcBef>
              <a:buFont typeface="Wingdings" panose="05000000000000000000" pitchFamily="2" charset="2"/>
              <a:buChar char="Ø"/>
            </a:pPr>
            <a:r>
              <a:rPr lang="zh-CN" altLang="en-US" sz="2100" b="1" dirty="0">
                <a:solidFill>
                  <a:srgbClr val="FF3300"/>
                </a:solidFill>
              </a:rPr>
              <a:t>数字通信系统</a:t>
            </a:r>
            <a:r>
              <a:rPr lang="en-US" altLang="zh-CN" sz="2100" b="1" dirty="0"/>
              <a:t>——</a:t>
            </a:r>
            <a:r>
              <a:rPr lang="zh-CN" altLang="en-US" sz="2100" b="1" dirty="0"/>
              <a:t>传输数字信号的，在发送端必须把由信息源产生的连续变化的模拟基带信号，变换成离散的数字脉冲信号。</a:t>
            </a:r>
            <a:r>
              <a:rPr lang="zh-CN" altLang="en-US" sz="2100" dirty="0"/>
              <a:t> </a:t>
            </a:r>
            <a:r>
              <a:rPr lang="zh-CN" altLang="en-US" sz="2100" b="1" dirty="0">
                <a:solidFill>
                  <a:srgbClr val="FF3300"/>
                </a:solidFill>
              </a:rPr>
              <a:t>       </a:t>
            </a:r>
          </a:p>
        </p:txBody>
      </p:sp>
      <p:sp>
        <p:nvSpPr>
          <p:cNvPr id="9"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1.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概论</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53064380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7</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1.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概论</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5"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03350" y="1196975"/>
            <a:ext cx="5905500" cy="1487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8"/>
          <p:cNvSpPr>
            <a:spLocks noChangeArrowheads="1"/>
          </p:cNvSpPr>
          <p:nvPr/>
        </p:nvSpPr>
        <p:spPr bwMode="auto">
          <a:xfrm>
            <a:off x="4859338" y="1879600"/>
            <a:ext cx="2157412"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100" b="1">
                <a:solidFill>
                  <a:srgbClr val="990099"/>
                </a:solidFill>
                <a:latin typeface="Times New Roman" panose="02020603050405020304" pitchFamily="18" charset="0"/>
                <a:cs typeface="Times New Roman" panose="02020603050405020304" pitchFamily="18" charset="0"/>
              </a:rPr>
              <a:t>模拟通信系统</a:t>
            </a:r>
          </a:p>
        </p:txBody>
      </p:sp>
      <p:sp>
        <p:nvSpPr>
          <p:cNvPr id="7" name="Rectangle 7"/>
          <p:cNvSpPr>
            <a:spLocks noChangeArrowheads="1"/>
          </p:cNvSpPr>
          <p:nvPr/>
        </p:nvSpPr>
        <p:spPr bwMode="auto">
          <a:xfrm>
            <a:off x="34925" y="2977021"/>
            <a:ext cx="9001125" cy="3194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Font typeface="Wingdings" panose="05000000000000000000" pitchFamily="2" charset="2"/>
              <a:buChar char="Ø"/>
              <a:defRPr/>
            </a:pPr>
            <a:r>
              <a:rPr lang="zh-CN" altLang="en-US" sz="2100" b="1" dirty="0" smtClean="0">
                <a:solidFill>
                  <a:srgbClr val="FF3300"/>
                </a:solidFill>
                <a:latin typeface="+mn-ea"/>
                <a:ea typeface="+mn-ea"/>
              </a:rPr>
              <a:t>基带信号</a:t>
            </a:r>
            <a:r>
              <a:rPr lang="en-US" altLang="zh-CN" sz="2100" b="1" dirty="0" smtClean="0">
                <a:latin typeface="+mn-ea"/>
                <a:ea typeface="+mn-ea"/>
              </a:rPr>
              <a:t>——</a:t>
            </a:r>
            <a:r>
              <a:rPr lang="zh-CN" altLang="en-US" sz="2100" b="1" dirty="0" smtClean="0">
                <a:latin typeface="+mn-ea"/>
                <a:ea typeface="+mn-ea"/>
              </a:rPr>
              <a:t>频率较低携带信息的原始电信号。</a:t>
            </a:r>
          </a:p>
          <a:p>
            <a:pPr>
              <a:lnSpc>
                <a:spcPct val="120000"/>
              </a:lnSpc>
              <a:spcBef>
                <a:spcPct val="0"/>
              </a:spcBef>
              <a:buFont typeface="Wingdings" panose="05000000000000000000" pitchFamily="2" charset="2"/>
              <a:buChar char="Ø"/>
              <a:defRPr/>
            </a:pPr>
            <a:r>
              <a:rPr lang="zh-CN" altLang="en-US" sz="2100" b="1" dirty="0" smtClean="0">
                <a:solidFill>
                  <a:srgbClr val="FF3300"/>
                </a:solidFill>
                <a:latin typeface="+mn-ea"/>
                <a:ea typeface="+mn-ea"/>
              </a:rPr>
              <a:t>调制</a:t>
            </a:r>
            <a:r>
              <a:rPr lang="en-US" altLang="zh-CN" sz="2100" b="1" dirty="0" smtClean="0">
                <a:latin typeface="+mn-ea"/>
                <a:ea typeface="+mn-ea"/>
              </a:rPr>
              <a:t>——</a:t>
            </a:r>
            <a:r>
              <a:rPr lang="zh-CN" altLang="en-US" sz="2100" b="1" dirty="0">
                <a:latin typeface="+mn-ea"/>
                <a:ea typeface="+mn-ea"/>
              </a:rPr>
              <a:t>将基带信号装载到高频振荡上去的</a:t>
            </a:r>
            <a:r>
              <a:rPr lang="zh-CN" altLang="en-US" sz="2100" b="1" dirty="0" smtClean="0">
                <a:latin typeface="+mn-ea"/>
                <a:ea typeface="+mn-ea"/>
              </a:rPr>
              <a:t>过程。</a:t>
            </a:r>
          </a:p>
          <a:p>
            <a:pPr eaLnBrk="1" hangingPunct="1">
              <a:lnSpc>
                <a:spcPct val="120000"/>
              </a:lnSpc>
              <a:spcBef>
                <a:spcPct val="0"/>
              </a:spcBef>
              <a:buFont typeface="Wingdings" panose="05000000000000000000" pitchFamily="2" charset="2"/>
              <a:buChar char="Ø"/>
              <a:defRPr/>
            </a:pPr>
            <a:r>
              <a:rPr lang="zh-CN" altLang="en-US" sz="2100" b="1" dirty="0" smtClean="0">
                <a:solidFill>
                  <a:srgbClr val="0033CC"/>
                </a:solidFill>
                <a:latin typeface="+mn-ea"/>
                <a:ea typeface="+mn-ea"/>
              </a:rPr>
              <a:t>调制器</a:t>
            </a:r>
            <a:r>
              <a:rPr lang="en-US" altLang="zh-CN" sz="2100" b="1" dirty="0" smtClean="0">
                <a:latin typeface="+mn-ea"/>
                <a:ea typeface="+mn-ea"/>
              </a:rPr>
              <a:t>——</a:t>
            </a:r>
            <a:r>
              <a:rPr lang="zh-CN" altLang="en-US" sz="2100" b="1" dirty="0" smtClean="0">
                <a:latin typeface="+mn-ea"/>
                <a:ea typeface="+mn-ea"/>
              </a:rPr>
              <a:t>实现调制功能的电路。</a:t>
            </a:r>
            <a:endParaRPr lang="en-US" altLang="zh-CN" sz="2100" b="1" dirty="0" smtClean="0">
              <a:latin typeface="+mn-ea"/>
              <a:ea typeface="+mn-ea"/>
            </a:endParaRPr>
          </a:p>
          <a:p>
            <a:pPr eaLnBrk="1" hangingPunct="1">
              <a:lnSpc>
                <a:spcPct val="120000"/>
              </a:lnSpc>
              <a:spcBef>
                <a:spcPct val="0"/>
              </a:spcBef>
              <a:buFont typeface="Wingdings" panose="05000000000000000000" pitchFamily="2" charset="2"/>
              <a:buChar char="Ø"/>
              <a:defRPr/>
            </a:pPr>
            <a:r>
              <a:rPr lang="zh-CN" altLang="en-US" sz="2100" b="1" dirty="0" smtClean="0">
                <a:solidFill>
                  <a:srgbClr val="FF3300"/>
                </a:solidFill>
                <a:latin typeface="+mn-ea"/>
                <a:ea typeface="+mn-ea"/>
              </a:rPr>
              <a:t>已调信号</a:t>
            </a:r>
            <a:r>
              <a:rPr lang="en-US" altLang="zh-CN" sz="2100" b="1" dirty="0" smtClean="0">
                <a:latin typeface="+mn-ea"/>
                <a:ea typeface="+mn-ea"/>
              </a:rPr>
              <a:t>——</a:t>
            </a:r>
            <a:r>
              <a:rPr lang="zh-CN" altLang="en-US" sz="2100" b="1" dirty="0" smtClean="0">
                <a:latin typeface="+mn-ea"/>
                <a:ea typeface="+mn-ea"/>
              </a:rPr>
              <a:t>调制后的电信号，是携带信息且适合在信道中传输的电信号。</a:t>
            </a:r>
          </a:p>
          <a:p>
            <a:pPr>
              <a:lnSpc>
                <a:spcPct val="120000"/>
              </a:lnSpc>
              <a:spcBef>
                <a:spcPct val="0"/>
              </a:spcBef>
              <a:buFont typeface="Wingdings" panose="05000000000000000000" pitchFamily="2" charset="2"/>
              <a:buChar char="Ø"/>
              <a:defRPr/>
            </a:pPr>
            <a:r>
              <a:rPr lang="zh-CN" altLang="en-US" sz="2100" b="1" dirty="0" smtClean="0">
                <a:solidFill>
                  <a:srgbClr val="FF3300"/>
                </a:solidFill>
                <a:latin typeface="+mn-ea"/>
                <a:ea typeface="+mn-ea"/>
              </a:rPr>
              <a:t>解调</a:t>
            </a:r>
            <a:r>
              <a:rPr lang="en-US" altLang="zh-CN" sz="2100" b="1" dirty="0" smtClean="0">
                <a:latin typeface="+mn-ea"/>
                <a:ea typeface="+mn-ea"/>
              </a:rPr>
              <a:t>——</a:t>
            </a:r>
            <a:r>
              <a:rPr lang="zh-CN" altLang="en-US" sz="2100" b="1" dirty="0">
                <a:latin typeface="+mn-ea"/>
                <a:ea typeface="+mn-ea"/>
              </a:rPr>
              <a:t>调制的逆过程，即从已调信号恢复出原基带信号的过程。</a:t>
            </a:r>
            <a:endParaRPr lang="zh-CN" altLang="en-US" sz="2100" b="1" dirty="0" smtClean="0">
              <a:latin typeface="+mn-ea"/>
              <a:ea typeface="+mn-ea"/>
            </a:endParaRPr>
          </a:p>
          <a:p>
            <a:pPr eaLnBrk="1" hangingPunct="1">
              <a:lnSpc>
                <a:spcPct val="120000"/>
              </a:lnSpc>
              <a:spcBef>
                <a:spcPct val="0"/>
              </a:spcBef>
              <a:buFont typeface="Wingdings" panose="05000000000000000000" pitchFamily="2" charset="2"/>
              <a:buChar char="Ø"/>
              <a:defRPr/>
            </a:pPr>
            <a:r>
              <a:rPr lang="zh-CN" altLang="en-US" sz="2100" b="1" dirty="0" smtClean="0">
                <a:solidFill>
                  <a:srgbClr val="0033CC"/>
                </a:solidFill>
                <a:latin typeface="+mn-ea"/>
                <a:ea typeface="+mn-ea"/>
              </a:rPr>
              <a:t>解调器</a:t>
            </a:r>
            <a:r>
              <a:rPr lang="en-US" altLang="zh-CN" sz="2100" b="1" dirty="0" smtClean="0">
                <a:latin typeface="+mn-ea"/>
                <a:ea typeface="+mn-ea"/>
              </a:rPr>
              <a:t>——</a:t>
            </a:r>
            <a:r>
              <a:rPr lang="zh-CN" altLang="en-US" sz="2100" b="1" dirty="0" smtClean="0">
                <a:latin typeface="+mn-ea"/>
                <a:ea typeface="+mn-ea"/>
              </a:rPr>
              <a:t>实现解调功能的电路。</a:t>
            </a:r>
          </a:p>
          <a:p>
            <a:pPr eaLnBrk="1" hangingPunct="1">
              <a:lnSpc>
                <a:spcPct val="120000"/>
              </a:lnSpc>
              <a:spcBef>
                <a:spcPct val="0"/>
              </a:spcBef>
              <a:buFont typeface="Wingdings" panose="05000000000000000000" pitchFamily="2" charset="2"/>
              <a:buChar char="Ø"/>
              <a:defRPr/>
            </a:pPr>
            <a:r>
              <a:rPr lang="zh-CN" altLang="en-US" sz="2100" b="1" dirty="0" smtClean="0">
                <a:latin typeface="+mn-ea"/>
                <a:ea typeface="+mn-ea"/>
              </a:rPr>
              <a:t>解调输出的基带信号，还必须由</a:t>
            </a:r>
            <a:r>
              <a:rPr lang="zh-CN" altLang="en-US" sz="2100" b="1" dirty="0" smtClean="0">
                <a:solidFill>
                  <a:srgbClr val="FF3300"/>
                </a:solidFill>
                <a:latin typeface="+mn-ea"/>
                <a:ea typeface="+mn-ea"/>
              </a:rPr>
              <a:t>模拟终端</a:t>
            </a:r>
            <a:r>
              <a:rPr lang="zh-CN" altLang="en-US" sz="2100" b="1" dirty="0" smtClean="0">
                <a:latin typeface="+mn-ea"/>
                <a:ea typeface="+mn-ea"/>
              </a:rPr>
              <a:t>重新恢复成连续变化的模拟信息</a:t>
            </a:r>
            <a:r>
              <a:rPr lang="en-US" altLang="zh-CN" sz="2100" b="1" dirty="0" smtClean="0">
                <a:latin typeface="+mn-ea"/>
                <a:ea typeface="+mn-ea"/>
              </a:rPr>
              <a:t>(</a:t>
            </a:r>
            <a:r>
              <a:rPr lang="zh-CN" altLang="en-US" sz="2100" b="1" dirty="0" smtClean="0">
                <a:latin typeface="+mn-ea"/>
                <a:ea typeface="+mn-ea"/>
              </a:rPr>
              <a:t>话音、音乐和图像等</a:t>
            </a:r>
            <a:r>
              <a:rPr lang="en-US" altLang="zh-CN" sz="2100" b="1" dirty="0" smtClean="0">
                <a:latin typeface="+mn-ea"/>
                <a:ea typeface="+mn-ea"/>
              </a:rPr>
              <a:t>)</a:t>
            </a:r>
            <a:r>
              <a:rPr lang="zh-CN" altLang="en-US" sz="2100" b="1" dirty="0" smtClean="0">
                <a:latin typeface="+mn-ea"/>
                <a:ea typeface="+mn-ea"/>
              </a:rPr>
              <a:t>。</a:t>
            </a:r>
          </a:p>
        </p:txBody>
      </p:sp>
    </p:spTree>
    <p:extLst>
      <p:ext uri="{BB962C8B-B14F-4D97-AF65-F5344CB8AC3E}">
        <p14:creationId xmlns:p14="http://schemas.microsoft.com/office/powerpoint/2010/main" val="131363797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8</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1.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概论</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Rectangle 3"/>
          <p:cNvSpPr>
            <a:spLocks noChangeArrowheads="1"/>
          </p:cNvSpPr>
          <p:nvPr/>
        </p:nvSpPr>
        <p:spPr bwMode="auto">
          <a:xfrm>
            <a:off x="376235" y="1464443"/>
            <a:ext cx="8156576"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None/>
              <a:defRPr/>
            </a:pPr>
            <a:r>
              <a:rPr lang="zh-CN" altLang="en-US" sz="2100" dirty="0" smtClean="0">
                <a:ln w="0"/>
                <a:effectLst>
                  <a:outerShdw blurRad="38100" dist="19050" dir="2700000" algn="tl" rotWithShape="0">
                    <a:schemeClr val="dk1">
                      <a:alpha val="40000"/>
                    </a:schemeClr>
                  </a:outerShdw>
                </a:effectLst>
                <a:ea typeface="楷体_GB2312" pitchFamily="49" charset="-122"/>
              </a:rPr>
              <a:t>通信中的一个基本概念就是</a:t>
            </a:r>
            <a:r>
              <a:rPr lang="zh-CN" altLang="en-US" sz="2100" u="sng" dirty="0" smtClean="0">
                <a:ln w="0"/>
                <a:effectLst>
                  <a:outerShdw blurRad="38100" dist="19050" dir="2700000" algn="tl" rotWithShape="0">
                    <a:schemeClr val="dk1">
                      <a:alpha val="40000"/>
                    </a:schemeClr>
                  </a:outerShdw>
                </a:effectLst>
                <a:ea typeface="楷体_GB2312" pitchFamily="49" charset="-122"/>
              </a:rPr>
              <a:t>调制</a:t>
            </a:r>
            <a:endParaRPr lang="zh-CN" altLang="en-US" sz="2100" dirty="0">
              <a:ln w="0">
                <a:solidFill>
                  <a:srgbClr val="FF0000"/>
                </a:solidFill>
              </a:ln>
              <a:solidFill>
                <a:srgbClr val="FF0000"/>
              </a:solidFill>
              <a:effectLst>
                <a:outerShdw blurRad="38100" dist="19050" dir="2700000" algn="tl" rotWithShape="0">
                  <a:schemeClr val="dk1">
                    <a:alpha val="40000"/>
                  </a:schemeClr>
                </a:outerShdw>
              </a:effectLst>
              <a:ea typeface="楷体_GB2312" pitchFamily="49" charset="-122"/>
            </a:endParaRPr>
          </a:p>
        </p:txBody>
      </p:sp>
      <p:sp>
        <p:nvSpPr>
          <p:cNvPr id="6" name="Rectangle 4"/>
          <p:cNvSpPr>
            <a:spLocks noChangeArrowheads="1"/>
          </p:cNvSpPr>
          <p:nvPr/>
        </p:nvSpPr>
        <p:spPr bwMode="auto">
          <a:xfrm>
            <a:off x="376236" y="2041524"/>
            <a:ext cx="8156575" cy="1643063"/>
          </a:xfrm>
          <a:prstGeom prst="rect">
            <a:avLst/>
          </a:prstGeom>
          <a:noFill/>
          <a:ln>
            <a:noFill/>
          </a:ln>
          <a:effectLst/>
        </p:spPr>
        <p:txBody>
          <a:bodyP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Clr>
                <a:srgbClr val="5A31AD"/>
              </a:buClr>
              <a:buFont typeface="Wingdings" panose="05000000000000000000" pitchFamily="2" charset="2"/>
              <a:buChar char="Ø"/>
              <a:defRPr/>
            </a:pPr>
            <a:r>
              <a:rPr lang="zh-CN" altLang="en-US" sz="2100" dirty="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产生高频或射频信号：</a:t>
            </a:r>
          </a:p>
          <a:p>
            <a:pPr eaLnBrk="1" hangingPunct="1">
              <a:lnSpc>
                <a:spcPct val="120000"/>
              </a:lnSpc>
              <a:spcBef>
                <a:spcPct val="0"/>
              </a:spcBef>
              <a:buClr>
                <a:srgbClr val="5A31AD"/>
              </a:buClr>
              <a:buFont typeface="Wingdings" panose="05000000000000000000" pitchFamily="2" charset="2"/>
              <a:buNone/>
              <a:defRPr/>
            </a:pPr>
            <a:r>
              <a:rPr lang="zh-CN" altLang="en-US" sz="2100" dirty="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    这个高频信号称为载波，用来作为传输信息</a:t>
            </a:r>
            <a:r>
              <a:rPr lang="en-US" altLang="zh-CN" sz="2100" dirty="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a:t>
            </a:r>
            <a:r>
              <a:rPr lang="en-US" altLang="zh-CN" sz="2100" dirty="0" err="1"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基带信号</a:t>
            </a:r>
            <a:r>
              <a:rPr lang="en-US" altLang="zh-CN" sz="2100" dirty="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a:t>
            </a:r>
            <a:r>
              <a:rPr lang="zh-CN" altLang="en-US" sz="2100" dirty="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的运载工具。</a:t>
            </a:r>
            <a:endParaRPr lang="en-US" altLang="zh-CN" sz="2100" dirty="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endParaRPr>
          </a:p>
          <a:p>
            <a:pPr eaLnBrk="1" hangingPunct="1">
              <a:lnSpc>
                <a:spcPct val="120000"/>
              </a:lnSpc>
              <a:spcBef>
                <a:spcPct val="0"/>
              </a:spcBef>
              <a:buClr>
                <a:srgbClr val="5A31AD"/>
              </a:buClr>
              <a:buFont typeface="Wingdings" panose="05000000000000000000" pitchFamily="2" charset="2"/>
              <a:buChar char="Ø"/>
              <a:defRPr/>
            </a:pPr>
            <a:r>
              <a:rPr lang="zh-CN" altLang="en-US" sz="2100" dirty="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调制高频信号</a:t>
            </a:r>
            <a:r>
              <a:rPr lang="en-US" altLang="zh-CN" sz="2100" dirty="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a:t>
            </a:r>
            <a:r>
              <a:rPr lang="en-US" altLang="zh-CN" sz="2100" dirty="0" err="1"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已调信号</a:t>
            </a:r>
            <a:r>
              <a:rPr lang="en-US" altLang="zh-CN" sz="2100" dirty="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a:t>
            </a:r>
            <a:r>
              <a:rPr lang="zh-CN" altLang="en-US" sz="2100" dirty="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a:t>
            </a:r>
          </a:p>
          <a:p>
            <a:pPr eaLnBrk="1" hangingPunct="1">
              <a:lnSpc>
                <a:spcPct val="120000"/>
              </a:lnSpc>
              <a:spcBef>
                <a:spcPct val="0"/>
              </a:spcBef>
              <a:buClr>
                <a:srgbClr val="5A31AD"/>
              </a:buClr>
              <a:buFont typeface="Wingdings" panose="05000000000000000000" pitchFamily="2" charset="2"/>
              <a:buNone/>
              <a:defRPr/>
            </a:pPr>
            <a:r>
              <a:rPr lang="zh-CN" altLang="en-US" sz="2100" dirty="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    用高频信号转播低频</a:t>
            </a:r>
            <a:r>
              <a:rPr lang="en-US" altLang="zh-CN" sz="2100" dirty="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a:t>
            </a:r>
            <a:r>
              <a:rPr lang="en-US" altLang="zh-CN" sz="2100" dirty="0" err="1"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基带信号</a:t>
            </a:r>
            <a:r>
              <a:rPr lang="en-US" altLang="zh-CN" sz="2100" dirty="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a:t>
            </a:r>
            <a:r>
              <a:rPr lang="zh-CN" altLang="en-US" sz="2100" dirty="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的调制信号。                 </a:t>
            </a:r>
          </a:p>
        </p:txBody>
      </p:sp>
      <p:sp>
        <p:nvSpPr>
          <p:cNvPr id="7" name="Text Box 5"/>
          <p:cNvSpPr txBox="1">
            <a:spLocks noChangeArrowheads="1"/>
          </p:cNvSpPr>
          <p:nvPr/>
        </p:nvSpPr>
        <p:spPr bwMode="auto">
          <a:xfrm>
            <a:off x="376237" y="3684587"/>
            <a:ext cx="8156575" cy="2808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ts val="0"/>
              </a:spcBef>
              <a:buFontTx/>
              <a:buNone/>
              <a:defRPr/>
            </a:pPr>
            <a:r>
              <a:rPr lang="zh-CN" altLang="en-US" sz="2100" dirty="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为什么要调制？</a:t>
            </a:r>
          </a:p>
          <a:p>
            <a:pPr eaLnBrk="1" hangingPunct="1">
              <a:lnSpc>
                <a:spcPct val="120000"/>
              </a:lnSpc>
              <a:spcBef>
                <a:spcPts val="0"/>
              </a:spcBef>
              <a:buClr>
                <a:srgbClr val="FF33CC"/>
              </a:buClr>
              <a:buSzPct val="70000"/>
              <a:buFont typeface="Wingdings" panose="05000000000000000000" pitchFamily="2" charset="2"/>
              <a:buChar char="Ø"/>
              <a:defRPr/>
            </a:pPr>
            <a:r>
              <a:rPr lang="zh-CN" altLang="en-US" sz="2100" dirty="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 电磁波的频率越高（大于几十</a:t>
            </a:r>
            <a:r>
              <a:rPr lang="en-US" altLang="zh-CN" sz="2100" dirty="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KHz</a:t>
            </a:r>
            <a:r>
              <a:rPr lang="zh-CN" altLang="en-US" sz="2100" dirty="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），蝠射能力越强，便于无线传播。</a:t>
            </a:r>
            <a:endParaRPr lang="en-US" altLang="zh-CN" sz="2100" dirty="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endParaRPr>
          </a:p>
          <a:p>
            <a:pPr eaLnBrk="1" hangingPunct="1">
              <a:lnSpc>
                <a:spcPct val="120000"/>
              </a:lnSpc>
              <a:spcBef>
                <a:spcPts val="0"/>
              </a:spcBef>
              <a:buClr>
                <a:srgbClr val="FF33CC"/>
              </a:buClr>
              <a:buSzPct val="70000"/>
              <a:buFont typeface="Wingdings" panose="05000000000000000000" pitchFamily="2" charset="2"/>
              <a:buChar char="Ø"/>
              <a:defRPr/>
            </a:pPr>
            <a:r>
              <a:rPr lang="zh-CN" altLang="en-US" sz="2100" dirty="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  天线的尺寸与发射频率的波长正相关，低频段的信号需要很大的天线。</a:t>
            </a:r>
            <a:endParaRPr lang="en-US" altLang="zh-CN" sz="2100" dirty="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endParaRPr>
          </a:p>
          <a:p>
            <a:pPr eaLnBrk="1" hangingPunct="1">
              <a:lnSpc>
                <a:spcPct val="120000"/>
              </a:lnSpc>
              <a:spcBef>
                <a:spcPts val="0"/>
              </a:spcBef>
              <a:buClr>
                <a:srgbClr val="FF33CC"/>
              </a:buClr>
              <a:buSzPct val="75000"/>
              <a:buFont typeface="Wingdings" panose="05000000000000000000" pitchFamily="2" charset="2"/>
              <a:buChar char="Ø"/>
              <a:defRPr/>
            </a:pPr>
            <a:r>
              <a:rPr lang="zh-CN" altLang="en-US" sz="2100" dirty="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 便于进行频分复用，区分不同的业务类型或用户，即</a:t>
            </a:r>
            <a:r>
              <a:rPr lang="en-US" altLang="zh-CN" sz="2100" dirty="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FDMA</a:t>
            </a:r>
            <a:r>
              <a:rPr lang="zh-CN" altLang="en-US" sz="2100" dirty="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频分多址 。</a:t>
            </a:r>
          </a:p>
        </p:txBody>
      </p:sp>
    </p:spTree>
    <p:extLst>
      <p:ext uri="{BB962C8B-B14F-4D97-AF65-F5344CB8AC3E}">
        <p14:creationId xmlns:p14="http://schemas.microsoft.com/office/powerpoint/2010/main" val="294769736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9</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1.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概论</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Rectangle 2"/>
          <p:cNvSpPr txBox="1">
            <a:spLocks noChangeArrowheads="1"/>
          </p:cNvSpPr>
          <p:nvPr/>
        </p:nvSpPr>
        <p:spPr>
          <a:xfrm>
            <a:off x="265113" y="1577975"/>
            <a:ext cx="6781800" cy="576263"/>
          </a:xfrm>
          <a:prstGeom prst="rect">
            <a:avLst/>
          </a:prstGeom>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None/>
            </a:pPr>
            <a:r>
              <a:rPr lang="zh-CN" altLang="en-US" sz="2100" smtClean="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模拟无线通信系统的发送原理图</a:t>
            </a:r>
            <a:r>
              <a:rPr lang="en-US" altLang="zh-CN" sz="2100" smtClean="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a:t>
            </a:r>
            <a:endParaRPr lang="en-US" altLang="zh-CN" sz="2100" dirty="0" smtClean="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6" name="Text Box 4"/>
          <p:cNvSpPr txBox="1">
            <a:spLocks noChangeArrowheads="1"/>
          </p:cNvSpPr>
          <p:nvPr/>
        </p:nvSpPr>
        <p:spPr bwMode="auto">
          <a:xfrm>
            <a:off x="242887" y="2817064"/>
            <a:ext cx="8642350" cy="461665"/>
          </a:xfrm>
          <a:prstGeom prst="rect">
            <a:avLst/>
          </a:prstGeom>
          <a:noFill/>
          <a:ln>
            <a:noFill/>
          </a:ln>
          <a:effectLst/>
          <a:extLst>
            <a:ext uri="{909E8E84-426E-40DD-AFC4-6F175D3DCCD1}">
              <a14:hiddenFill xmlns:a14="http://schemas.microsoft.com/office/drawing/2010/main">
                <a:gradFill rotWithShape="0">
                  <a:gsLst>
                    <a:gs pos="0">
                      <a:schemeClr val="accent1"/>
                    </a:gs>
                    <a:gs pos="100000">
                      <a:schemeClr val="bg1"/>
                    </a:gs>
                  </a:gsLst>
                  <a:lin ang="0" scaled="1"/>
                </a:gra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zh-CN"/>
            </a:defPPr>
            <a:lvl1pPr eaLnBrk="1" hangingPunct="1">
              <a:spcBef>
                <a:spcPct val="50000"/>
              </a:spcBef>
              <a:buFontTx/>
              <a:buNone/>
              <a:defRPr sz="2000" b="1">
                <a:solidFill>
                  <a:srgbClr val="FF3300"/>
                </a:solidFill>
                <a:latin typeface="Times New Roman" panose="02020603050405020304" pitchFamily="18" charset="0"/>
                <a:ea typeface="+mn-ea"/>
                <a:cs typeface="Times New Roman" panose="02020603050405020304" pitchFamily="18" charset="0"/>
              </a:defRPr>
            </a:lvl1pPr>
            <a:lvl2pPr marL="742950" indent="-285750">
              <a:spcBef>
                <a:spcPct val="20000"/>
              </a:spcBef>
              <a:buChar char="–"/>
            </a:lvl2pPr>
            <a:lvl3pPr marL="1143000" indent="-228600">
              <a:spcBef>
                <a:spcPct val="20000"/>
              </a:spcBef>
              <a:buChar char="•"/>
            </a:lvl3pPr>
            <a:lvl4pPr marL="1600200" indent="-228600">
              <a:spcBef>
                <a:spcPct val="20000"/>
              </a:spcBef>
              <a:buChar char="–"/>
              <a:defRPr sz="2000"/>
            </a:lvl4pPr>
            <a:lvl5pPr marL="2057400" indent="-228600">
              <a:spcBef>
                <a:spcPct val="20000"/>
              </a:spcBef>
              <a:buChar char="»"/>
              <a:defRPr sz="2000"/>
            </a:lvl5pPr>
            <a:lvl6pPr marL="2514600" indent="-228600" eaLnBrk="0" fontAlgn="base" hangingPunct="0">
              <a:spcBef>
                <a:spcPct val="20000"/>
              </a:spcBef>
              <a:spcAft>
                <a:spcPct val="0"/>
              </a:spcAft>
              <a:buChar char="»"/>
              <a:defRPr sz="2000"/>
            </a:lvl6pPr>
            <a:lvl7pPr marL="2971800" indent="-228600" eaLnBrk="0" fontAlgn="base" hangingPunct="0">
              <a:spcBef>
                <a:spcPct val="20000"/>
              </a:spcBef>
              <a:spcAft>
                <a:spcPct val="0"/>
              </a:spcAft>
              <a:buChar char="»"/>
              <a:defRPr sz="2000"/>
            </a:lvl7pPr>
            <a:lvl8pPr marL="3429000" indent="-228600" eaLnBrk="0" fontAlgn="base" hangingPunct="0">
              <a:spcBef>
                <a:spcPct val="20000"/>
              </a:spcBef>
              <a:spcAft>
                <a:spcPct val="0"/>
              </a:spcAft>
              <a:buChar char="»"/>
              <a:defRPr sz="2000"/>
            </a:lvl8pPr>
            <a:lvl9pPr marL="3886200" indent="-228600" eaLnBrk="0" fontAlgn="base" hangingPunct="0">
              <a:spcBef>
                <a:spcPct val="20000"/>
              </a:spcBef>
              <a:spcAft>
                <a:spcPct val="0"/>
              </a:spcAft>
              <a:buChar char="»"/>
              <a:defRPr sz="2000"/>
            </a:lvl9pPr>
          </a:lstStyle>
          <a:p>
            <a:pPr>
              <a:lnSpc>
                <a:spcPct val="120000"/>
              </a:lnSpc>
              <a:spcBef>
                <a:spcPts val="0"/>
              </a:spcBef>
              <a:defRPr/>
            </a:pPr>
            <a:r>
              <a:rPr lang="en-US" altLang="zh-CN" b="0" dirty="0" smtClean="0">
                <a:ln w="0"/>
                <a:solidFill>
                  <a:schemeClr val="tx1"/>
                </a:solidFill>
                <a:effectLst>
                  <a:outerShdw blurRad="38100" dist="19050" dir="2700000" algn="tl" rotWithShape="0">
                    <a:schemeClr val="dk1">
                      <a:alpha val="40000"/>
                    </a:schemeClr>
                  </a:outerShdw>
                </a:effectLst>
              </a:rPr>
              <a:t>1</a:t>
            </a:r>
            <a:r>
              <a:rPr lang="zh-CN" altLang="en-US" b="0" dirty="0" smtClean="0">
                <a:ln w="0"/>
                <a:solidFill>
                  <a:schemeClr val="tx1"/>
                </a:solidFill>
                <a:effectLst>
                  <a:outerShdw blurRad="38100" dist="19050" dir="2700000" algn="tl" rotWithShape="0">
                    <a:schemeClr val="dk1">
                      <a:alpha val="40000"/>
                    </a:schemeClr>
                  </a:outerShdw>
                </a:effectLst>
              </a:rPr>
              <a:t>、基本任务</a:t>
            </a:r>
            <a:endParaRPr lang="en-US" altLang="zh-CN" b="0" dirty="0" smtClean="0">
              <a:ln w="0"/>
              <a:solidFill>
                <a:schemeClr val="tx1"/>
              </a:solidFill>
              <a:effectLst>
                <a:outerShdw blurRad="38100" dist="19050" dir="2700000" algn="tl" rotWithShape="0">
                  <a:schemeClr val="dk1">
                    <a:alpha val="40000"/>
                  </a:schemeClr>
                </a:outerShdw>
              </a:effectLst>
            </a:endParaRPr>
          </a:p>
        </p:txBody>
      </p:sp>
      <p:sp>
        <p:nvSpPr>
          <p:cNvPr id="7" name="Text Box 5"/>
          <p:cNvSpPr txBox="1">
            <a:spLocks noChangeArrowheads="1"/>
          </p:cNvSpPr>
          <p:nvPr/>
        </p:nvSpPr>
        <p:spPr bwMode="auto">
          <a:xfrm>
            <a:off x="221098" y="3921294"/>
            <a:ext cx="3529013" cy="400110"/>
          </a:xfrm>
          <a:prstGeom prst="rect">
            <a:avLst/>
          </a:prstGeom>
          <a:noFill/>
          <a:ln>
            <a:noFill/>
          </a:ln>
          <a:effectLst/>
          <a:extLst>
            <a:ext uri="{909E8E84-426E-40DD-AFC4-6F175D3DCCD1}">
              <a14:hiddenFill xmlns:a14="http://schemas.microsoft.com/office/drawing/2010/main">
                <a:gradFill rotWithShape="0">
                  <a:gsLst>
                    <a:gs pos="0">
                      <a:schemeClr val="accent1"/>
                    </a:gs>
                    <a:gs pos="100000">
                      <a:schemeClr val="bg1"/>
                    </a:gs>
                  </a:gsLst>
                  <a:lin ang="0" scaled="1"/>
                </a:gra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zh-CN"/>
            </a:defPPr>
            <a:lvl1pPr eaLnBrk="1" hangingPunct="1">
              <a:spcBef>
                <a:spcPct val="50000"/>
              </a:spcBef>
              <a:buFontTx/>
              <a:buNone/>
              <a:defRPr sz="2000" b="1">
                <a:solidFill>
                  <a:srgbClr val="FF3300"/>
                </a:solidFill>
                <a:latin typeface="Times New Roman" panose="02020603050405020304" pitchFamily="18" charset="0"/>
                <a:ea typeface="+mn-ea"/>
                <a:cs typeface="Times New Roman" panose="02020603050405020304" pitchFamily="18" charset="0"/>
              </a:defRPr>
            </a:lvl1pPr>
            <a:lvl2pPr marL="742950" indent="-285750">
              <a:spcBef>
                <a:spcPct val="20000"/>
              </a:spcBef>
              <a:buChar char="–"/>
            </a:lvl2pPr>
            <a:lvl3pPr marL="1143000" indent="-228600">
              <a:spcBef>
                <a:spcPct val="20000"/>
              </a:spcBef>
              <a:buChar char="•"/>
            </a:lvl3pPr>
            <a:lvl4pPr marL="1600200" indent="-228600">
              <a:spcBef>
                <a:spcPct val="20000"/>
              </a:spcBef>
              <a:buChar char="–"/>
              <a:defRPr sz="2000"/>
            </a:lvl4pPr>
            <a:lvl5pPr marL="2057400" indent="-228600">
              <a:spcBef>
                <a:spcPct val="20000"/>
              </a:spcBef>
              <a:buChar char="»"/>
              <a:defRPr sz="2000"/>
            </a:lvl5pPr>
            <a:lvl6pPr marL="2514600" indent="-228600" eaLnBrk="0" fontAlgn="base" hangingPunct="0">
              <a:spcBef>
                <a:spcPct val="20000"/>
              </a:spcBef>
              <a:spcAft>
                <a:spcPct val="0"/>
              </a:spcAft>
              <a:buChar char="»"/>
              <a:defRPr sz="2000"/>
            </a:lvl6pPr>
            <a:lvl7pPr marL="2971800" indent="-228600" eaLnBrk="0" fontAlgn="base" hangingPunct="0">
              <a:spcBef>
                <a:spcPct val="20000"/>
              </a:spcBef>
              <a:spcAft>
                <a:spcPct val="0"/>
              </a:spcAft>
              <a:buChar char="»"/>
              <a:defRPr sz="2000"/>
            </a:lvl7pPr>
            <a:lvl8pPr marL="3429000" indent="-228600" eaLnBrk="0" fontAlgn="base" hangingPunct="0">
              <a:spcBef>
                <a:spcPct val="20000"/>
              </a:spcBef>
              <a:spcAft>
                <a:spcPct val="0"/>
              </a:spcAft>
              <a:buChar char="»"/>
              <a:defRPr sz="2000"/>
            </a:lvl8pPr>
            <a:lvl9pPr marL="3886200" indent="-228600" eaLnBrk="0" fontAlgn="base" hangingPunct="0">
              <a:spcBef>
                <a:spcPct val="20000"/>
              </a:spcBef>
              <a:spcAft>
                <a:spcPct val="0"/>
              </a:spcAft>
              <a:buChar char="»"/>
              <a:defRPr sz="2000"/>
            </a:lvl9pPr>
          </a:lstStyle>
          <a:p>
            <a:pPr>
              <a:defRPr/>
            </a:pPr>
            <a:r>
              <a:rPr lang="en-US" altLang="zh-CN" b="0" dirty="0" smtClean="0">
                <a:ln w="0"/>
                <a:solidFill>
                  <a:schemeClr val="tx1"/>
                </a:solidFill>
                <a:effectLst>
                  <a:outerShdw blurRad="38100" dist="19050" dir="2700000" algn="tl" rotWithShape="0">
                    <a:schemeClr val="dk1">
                      <a:alpha val="40000"/>
                    </a:schemeClr>
                  </a:outerShdw>
                </a:effectLst>
              </a:rPr>
              <a:t>2</a:t>
            </a:r>
            <a:r>
              <a:rPr lang="zh-CN" altLang="en-US" b="0" dirty="0" smtClean="0">
                <a:ln w="0"/>
                <a:solidFill>
                  <a:schemeClr val="tx1"/>
                </a:solidFill>
                <a:effectLst>
                  <a:outerShdw blurRad="38100" dist="19050" dir="2700000" algn="tl" rotWithShape="0">
                    <a:schemeClr val="dk1">
                      <a:alpha val="40000"/>
                    </a:schemeClr>
                  </a:outerShdw>
                </a:effectLst>
              </a:rPr>
              <a:t>、信息传输的基本要求</a:t>
            </a:r>
          </a:p>
        </p:txBody>
      </p:sp>
      <p:sp>
        <p:nvSpPr>
          <p:cNvPr id="8" name="Text Box 6"/>
          <p:cNvSpPr txBox="1">
            <a:spLocks noChangeArrowheads="1"/>
          </p:cNvSpPr>
          <p:nvPr/>
        </p:nvSpPr>
        <p:spPr bwMode="auto">
          <a:xfrm>
            <a:off x="583407" y="4349640"/>
            <a:ext cx="8093048" cy="400110"/>
          </a:xfrm>
          <a:prstGeom prst="rect">
            <a:avLst/>
          </a:prstGeom>
          <a:noFill/>
          <a:ln>
            <a:noFill/>
          </a:ln>
          <a:effectLst/>
          <a:extLst>
            <a:ext uri="{909E8E84-426E-40DD-AFC4-6F175D3DCCD1}">
              <a14:hiddenFill xmlns:a14="http://schemas.microsoft.com/office/drawing/2010/main">
                <a:gradFill rotWithShape="0">
                  <a:gsLst>
                    <a:gs pos="0">
                      <a:schemeClr val="accent1"/>
                    </a:gs>
                    <a:gs pos="100000">
                      <a:schemeClr val="bg1"/>
                    </a:gs>
                  </a:gsLst>
                  <a:lin ang="0" scaled="1"/>
                </a:gra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342900" indent="-342900" eaLnBrk="1" hangingPunct="1">
              <a:spcBef>
                <a:spcPct val="50000"/>
              </a:spcBef>
              <a:buClr>
                <a:schemeClr val="tx2"/>
              </a:buClr>
              <a:buFont typeface="Wingdings" panose="05000000000000000000" pitchFamily="2" charset="2"/>
              <a:buChar char="Ø"/>
              <a:defRPr/>
            </a:pPr>
            <a:r>
              <a:rPr lang="zh-CN" altLang="en-US" sz="2000" dirty="0" smtClean="0">
                <a:ln w="0"/>
                <a:effectLst>
                  <a:outerShdw blurRad="38100" dist="19050" dir="2700000" algn="tl" rotWithShape="0">
                    <a:schemeClr val="dk1">
                      <a:alpha val="40000"/>
                    </a:schemeClr>
                  </a:outerShdw>
                </a:effectLst>
                <a:latin typeface="Times New Roman" panose="02020603050405020304" pitchFamily="18" charset="0"/>
              </a:rPr>
              <a:t>传送距离远；能够实现多路传输，且各路信号传输时，应互不干扰。</a:t>
            </a:r>
            <a:endParaRPr lang="en-US" altLang="zh-CN" sz="2000" dirty="0" smtClean="0">
              <a:ln w="0"/>
              <a:effectLst>
                <a:outerShdw blurRad="38100" dist="19050" dir="2700000" algn="tl" rotWithShape="0">
                  <a:schemeClr val="dk1">
                    <a:alpha val="40000"/>
                  </a:schemeClr>
                </a:outerShdw>
              </a:effectLst>
              <a:latin typeface="Tahoma" panose="020B0604030504040204" pitchFamily="34" charset="0"/>
            </a:endParaRPr>
          </a:p>
        </p:txBody>
      </p:sp>
      <p:sp>
        <p:nvSpPr>
          <p:cNvPr id="9" name="Text Box 8"/>
          <p:cNvSpPr txBox="1">
            <a:spLocks noChangeArrowheads="1"/>
          </p:cNvSpPr>
          <p:nvPr/>
        </p:nvSpPr>
        <p:spPr bwMode="auto">
          <a:xfrm>
            <a:off x="221098" y="4724319"/>
            <a:ext cx="3529013" cy="400110"/>
          </a:xfrm>
          <a:prstGeom prst="rect">
            <a:avLst/>
          </a:prstGeom>
          <a:noFill/>
          <a:ln>
            <a:noFill/>
          </a:ln>
          <a:effectLst/>
          <a:extLst>
            <a:ext uri="{909E8E84-426E-40DD-AFC4-6F175D3DCCD1}">
              <a14:hiddenFill xmlns:a14="http://schemas.microsoft.com/office/drawing/2010/main">
                <a:gradFill rotWithShape="0">
                  <a:gsLst>
                    <a:gs pos="0">
                      <a:schemeClr val="accent1"/>
                    </a:gs>
                    <a:gs pos="100000">
                      <a:schemeClr val="bg1"/>
                    </a:gs>
                  </a:gsLst>
                  <a:lin ang="0" scaled="1"/>
                </a:gra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defRPr/>
            </a:pPr>
            <a:r>
              <a:rPr lang="en-US" altLang="zh-CN" sz="2000" dirty="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3</a:t>
            </a:r>
            <a:r>
              <a:rPr lang="zh-CN" altLang="en-US" sz="2000" dirty="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、基带信号的特点</a:t>
            </a:r>
          </a:p>
        </p:txBody>
      </p:sp>
      <p:sp>
        <p:nvSpPr>
          <p:cNvPr id="10" name="Text Box 9"/>
          <p:cNvSpPr txBox="1">
            <a:spLocks noChangeArrowheads="1"/>
          </p:cNvSpPr>
          <p:nvPr/>
        </p:nvSpPr>
        <p:spPr bwMode="auto">
          <a:xfrm>
            <a:off x="583407" y="5107430"/>
            <a:ext cx="5759450" cy="769441"/>
          </a:xfrm>
          <a:prstGeom prst="rect">
            <a:avLst/>
          </a:prstGeom>
          <a:noFill/>
          <a:ln>
            <a:noFill/>
          </a:ln>
          <a:effectLst/>
          <a:extLst>
            <a:ext uri="{909E8E84-426E-40DD-AFC4-6F175D3DCCD1}">
              <a14:hiddenFill xmlns:a14="http://schemas.microsoft.com/office/drawing/2010/main">
                <a:gradFill rotWithShape="0">
                  <a:gsLst>
                    <a:gs pos="0">
                      <a:schemeClr val="accent1"/>
                    </a:gs>
                    <a:gs pos="100000">
                      <a:schemeClr val="bg1"/>
                    </a:gs>
                  </a:gsLst>
                  <a:lin ang="0" scaled="1"/>
                </a:gra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342900" indent="-342900" eaLnBrk="1" hangingPunct="1">
              <a:spcBef>
                <a:spcPct val="50000"/>
              </a:spcBef>
              <a:buClr>
                <a:schemeClr val="tx2"/>
              </a:buClr>
              <a:buFont typeface="Wingdings" panose="05000000000000000000" pitchFamily="2" charset="2"/>
              <a:buChar char="Ø"/>
              <a:defRPr/>
            </a:pPr>
            <a:r>
              <a:rPr lang="zh-CN" altLang="en-US" sz="2000" dirty="0" smtClean="0">
                <a:ln w="0"/>
                <a:effectLst>
                  <a:outerShdw blurRad="38100" dist="19050" dir="2700000" algn="tl" rotWithShape="0">
                    <a:schemeClr val="dk1">
                      <a:alpha val="40000"/>
                    </a:schemeClr>
                  </a:outerShdw>
                </a:effectLst>
                <a:latin typeface="Times New Roman" panose="02020603050405020304" pitchFamily="18" charset="0"/>
              </a:rPr>
              <a:t>基带信号是需传送的原始信息的电信号。</a:t>
            </a:r>
            <a:endParaRPr lang="en-US" altLang="zh-CN" sz="2000" dirty="0" smtClean="0">
              <a:ln w="0"/>
              <a:effectLst>
                <a:outerShdw blurRad="38100" dist="19050" dir="2700000" algn="tl" rotWithShape="0">
                  <a:schemeClr val="dk1">
                    <a:alpha val="40000"/>
                  </a:schemeClr>
                </a:outerShdw>
              </a:effectLst>
              <a:latin typeface="Times New Roman" panose="02020603050405020304" pitchFamily="18" charset="0"/>
            </a:endParaRPr>
          </a:p>
          <a:p>
            <a:pPr marL="342900" indent="-342900" eaLnBrk="1" hangingPunct="1">
              <a:lnSpc>
                <a:spcPct val="120000"/>
              </a:lnSpc>
              <a:spcBef>
                <a:spcPts val="0"/>
              </a:spcBef>
              <a:buClr>
                <a:schemeClr val="tx2"/>
              </a:buClr>
              <a:buFont typeface="Wingdings" panose="05000000000000000000" pitchFamily="2" charset="2"/>
              <a:buChar char="Ø"/>
              <a:defRPr/>
            </a:pPr>
            <a:r>
              <a:rPr lang="zh-CN" altLang="en-US" sz="2000" dirty="0" smtClean="0">
                <a:ln w="0"/>
                <a:effectLst>
                  <a:outerShdw blurRad="38100" dist="19050" dir="2700000" algn="tl" rotWithShape="0">
                    <a:schemeClr val="dk1">
                      <a:alpha val="40000"/>
                    </a:schemeClr>
                  </a:outerShdw>
                </a:effectLst>
                <a:latin typeface="Times New Roman" panose="02020603050405020304" pitchFamily="18" charset="0"/>
              </a:rPr>
              <a:t>基带信号占有的频带属于低频范围。</a:t>
            </a:r>
          </a:p>
        </p:txBody>
      </p:sp>
      <p:grpSp>
        <p:nvGrpSpPr>
          <p:cNvPr id="11" name="Group 12"/>
          <p:cNvGrpSpPr>
            <a:grpSpLocks/>
          </p:cNvGrpSpPr>
          <p:nvPr/>
        </p:nvGrpSpPr>
        <p:grpSpPr bwMode="auto">
          <a:xfrm>
            <a:off x="755650" y="1498600"/>
            <a:ext cx="7237413" cy="1580912"/>
            <a:chOff x="0" y="0"/>
            <a:chExt cx="4944" cy="1180"/>
          </a:xfrm>
        </p:grpSpPr>
        <p:sp>
          <p:nvSpPr>
            <p:cNvPr id="12" name="Line 13"/>
            <p:cNvSpPr>
              <a:spLocks noChangeShapeType="1"/>
            </p:cNvSpPr>
            <p:nvPr/>
          </p:nvSpPr>
          <p:spPr bwMode="auto">
            <a:xfrm>
              <a:off x="2190" y="580"/>
              <a:ext cx="418"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n w="0"/>
                <a:effectLst>
                  <a:outerShdw blurRad="38100" dist="19050" dir="2700000" algn="tl" rotWithShape="0">
                    <a:schemeClr val="dk1">
                      <a:alpha val="40000"/>
                    </a:schemeClr>
                  </a:outerShdw>
                </a:effectLst>
              </a:endParaRPr>
            </a:p>
          </p:txBody>
        </p:sp>
        <p:sp>
          <p:nvSpPr>
            <p:cNvPr id="13" name="Line 14"/>
            <p:cNvSpPr>
              <a:spLocks noChangeShapeType="1"/>
            </p:cNvSpPr>
            <p:nvPr/>
          </p:nvSpPr>
          <p:spPr bwMode="auto">
            <a:xfrm>
              <a:off x="3219" y="580"/>
              <a:ext cx="419"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n w="0"/>
                <a:effectLst>
                  <a:outerShdw blurRad="38100" dist="19050" dir="2700000" algn="tl" rotWithShape="0">
                    <a:schemeClr val="dk1">
                      <a:alpha val="40000"/>
                    </a:schemeClr>
                  </a:outerShdw>
                </a:effectLst>
              </a:endParaRPr>
            </a:p>
          </p:txBody>
        </p:sp>
        <p:sp>
          <p:nvSpPr>
            <p:cNvPr id="14" name="Line 15"/>
            <p:cNvSpPr>
              <a:spLocks noChangeShapeType="1"/>
            </p:cNvSpPr>
            <p:nvPr/>
          </p:nvSpPr>
          <p:spPr bwMode="auto">
            <a:xfrm>
              <a:off x="4438" y="580"/>
              <a:ext cx="419"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n w="0"/>
                <a:effectLst>
                  <a:outerShdw blurRad="38100" dist="19050" dir="2700000" algn="tl" rotWithShape="0">
                    <a:schemeClr val="dk1">
                      <a:alpha val="40000"/>
                    </a:schemeClr>
                  </a:outerShdw>
                </a:effectLst>
              </a:endParaRPr>
            </a:p>
          </p:txBody>
        </p:sp>
        <p:sp>
          <p:nvSpPr>
            <p:cNvPr id="15" name="Text Box 16"/>
            <p:cNvSpPr txBox="1">
              <a:spLocks noChangeArrowheads="1"/>
            </p:cNvSpPr>
            <p:nvPr/>
          </p:nvSpPr>
          <p:spPr bwMode="auto">
            <a:xfrm>
              <a:off x="2592" y="904"/>
              <a:ext cx="610" cy="276"/>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sz="1800">
                  <a:ln w="0"/>
                  <a:effectLst>
                    <a:outerShdw blurRad="38100" dist="19050" dir="2700000" algn="tl" rotWithShape="0">
                      <a:schemeClr val="dk1">
                        <a:alpha val="40000"/>
                      </a:schemeClr>
                    </a:outerShdw>
                  </a:effectLst>
                  <a:ea typeface="楷体_GB2312" pitchFamily="49" charset="-122"/>
                </a:rPr>
                <a:t>振荡器</a:t>
              </a:r>
            </a:p>
          </p:txBody>
        </p:sp>
        <p:sp>
          <p:nvSpPr>
            <p:cNvPr id="16" name="Text Box 17"/>
            <p:cNvSpPr txBox="1">
              <a:spLocks noChangeArrowheads="1"/>
            </p:cNvSpPr>
            <p:nvPr/>
          </p:nvSpPr>
          <p:spPr bwMode="auto">
            <a:xfrm>
              <a:off x="2609" y="479"/>
              <a:ext cx="610" cy="276"/>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sz="1800">
                  <a:ln w="0"/>
                  <a:effectLst>
                    <a:outerShdw blurRad="38100" dist="19050" dir="2700000" algn="tl" rotWithShape="0">
                      <a:schemeClr val="dk1">
                        <a:alpha val="40000"/>
                      </a:schemeClr>
                    </a:outerShdw>
                  </a:effectLst>
                  <a:ea typeface="楷体_GB2312" pitchFamily="49" charset="-122"/>
                </a:rPr>
                <a:t>调制器</a:t>
              </a:r>
            </a:p>
          </p:txBody>
        </p:sp>
        <p:sp>
          <p:nvSpPr>
            <p:cNvPr id="17" name="Text Box 18"/>
            <p:cNvSpPr txBox="1">
              <a:spLocks noChangeArrowheads="1"/>
            </p:cNvSpPr>
            <p:nvPr/>
          </p:nvSpPr>
          <p:spPr bwMode="auto">
            <a:xfrm>
              <a:off x="3638" y="479"/>
              <a:ext cx="800" cy="276"/>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sz="1800">
                  <a:ln w="0"/>
                  <a:effectLst>
                    <a:outerShdw blurRad="38100" dist="19050" dir="2700000" algn="tl" rotWithShape="0">
                      <a:schemeClr val="dk1">
                        <a:alpha val="40000"/>
                      </a:schemeClr>
                    </a:outerShdw>
                  </a:effectLst>
                  <a:ea typeface="楷体_GB2312" pitchFamily="49" charset="-122"/>
                </a:rPr>
                <a:t>高频功放</a:t>
              </a:r>
            </a:p>
          </p:txBody>
        </p:sp>
        <p:sp>
          <p:nvSpPr>
            <p:cNvPr id="18" name="Text Box 19"/>
            <p:cNvSpPr txBox="1">
              <a:spLocks noChangeArrowheads="1"/>
            </p:cNvSpPr>
            <p:nvPr/>
          </p:nvSpPr>
          <p:spPr bwMode="auto">
            <a:xfrm>
              <a:off x="1229" y="486"/>
              <a:ext cx="953" cy="276"/>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sz="1800">
                  <a:ln w="0"/>
                  <a:effectLst>
                    <a:outerShdw blurRad="38100" dist="19050" dir="2700000" algn="tl" rotWithShape="0">
                      <a:schemeClr val="dk1">
                        <a:alpha val="40000"/>
                      </a:schemeClr>
                    </a:outerShdw>
                  </a:effectLst>
                  <a:ea typeface="楷体_GB2312" pitchFamily="49" charset="-122"/>
                </a:rPr>
                <a:t>低频放大器</a:t>
              </a:r>
            </a:p>
          </p:txBody>
        </p:sp>
        <p:sp>
          <p:nvSpPr>
            <p:cNvPr id="19" name="Text Box 20"/>
            <p:cNvSpPr txBox="1">
              <a:spLocks noChangeArrowheads="1"/>
            </p:cNvSpPr>
            <p:nvPr/>
          </p:nvSpPr>
          <p:spPr bwMode="auto">
            <a:xfrm>
              <a:off x="0" y="484"/>
              <a:ext cx="952" cy="276"/>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sz="1800">
                  <a:ln w="0"/>
                  <a:effectLst>
                    <a:outerShdw blurRad="38100" dist="19050" dir="2700000" algn="tl" rotWithShape="0">
                      <a:schemeClr val="dk1">
                        <a:alpha val="40000"/>
                      </a:schemeClr>
                    </a:outerShdw>
                  </a:effectLst>
                  <a:ea typeface="楷体_GB2312" pitchFamily="49" charset="-122"/>
                </a:rPr>
                <a:t>声压转换器</a:t>
              </a:r>
            </a:p>
          </p:txBody>
        </p:sp>
        <p:sp>
          <p:nvSpPr>
            <p:cNvPr id="20" name="Text Box 21"/>
            <p:cNvSpPr txBox="1">
              <a:spLocks noChangeArrowheads="1"/>
            </p:cNvSpPr>
            <p:nvPr/>
          </p:nvSpPr>
          <p:spPr bwMode="auto">
            <a:xfrm>
              <a:off x="4373" y="30"/>
              <a:ext cx="571" cy="2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sz="1800">
                  <a:ln w="0"/>
                  <a:effectLst>
                    <a:outerShdw blurRad="38100" dist="19050" dir="2700000" algn="tl" rotWithShape="0">
                      <a:schemeClr val="dk1">
                        <a:alpha val="40000"/>
                      </a:schemeClr>
                    </a:outerShdw>
                  </a:effectLst>
                  <a:ea typeface="楷体_GB2312" pitchFamily="49" charset="-122"/>
                </a:rPr>
                <a:t>天线</a:t>
              </a:r>
            </a:p>
          </p:txBody>
        </p:sp>
        <p:sp>
          <p:nvSpPr>
            <p:cNvPr id="21" name="Line 22"/>
            <p:cNvSpPr>
              <a:spLocks noChangeShapeType="1"/>
            </p:cNvSpPr>
            <p:nvPr/>
          </p:nvSpPr>
          <p:spPr bwMode="auto">
            <a:xfrm flipV="1">
              <a:off x="2901" y="724"/>
              <a:ext cx="0" cy="181"/>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n w="0"/>
                <a:effectLst>
                  <a:outerShdw blurRad="38100" dist="19050" dir="2700000" algn="tl" rotWithShape="0">
                    <a:schemeClr val="dk1">
                      <a:alpha val="40000"/>
                    </a:schemeClr>
                  </a:outerShdw>
                </a:effectLst>
              </a:endParaRPr>
            </a:p>
          </p:txBody>
        </p:sp>
        <p:grpSp>
          <p:nvGrpSpPr>
            <p:cNvPr id="22" name="Group 23"/>
            <p:cNvGrpSpPr>
              <a:grpSpLocks/>
            </p:cNvGrpSpPr>
            <p:nvPr/>
          </p:nvGrpSpPr>
          <p:grpSpPr bwMode="auto">
            <a:xfrm>
              <a:off x="4771" y="0"/>
              <a:ext cx="151" cy="581"/>
              <a:chOff x="0" y="0"/>
              <a:chExt cx="192" cy="933"/>
            </a:xfrm>
          </p:grpSpPr>
          <p:sp>
            <p:nvSpPr>
              <p:cNvPr id="24" name="Line 24"/>
              <p:cNvSpPr>
                <a:spLocks noChangeShapeType="1"/>
              </p:cNvSpPr>
              <p:nvPr/>
            </p:nvSpPr>
            <p:spPr bwMode="auto">
              <a:xfrm flipV="1">
                <a:off x="96" y="144"/>
                <a:ext cx="0" cy="78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n w="0"/>
                  <a:effectLst>
                    <a:outerShdw blurRad="38100" dist="19050" dir="2700000" algn="tl" rotWithShape="0">
                      <a:schemeClr val="dk1">
                        <a:alpha val="40000"/>
                      </a:schemeClr>
                    </a:outerShdw>
                  </a:effectLst>
                </a:endParaRPr>
              </a:p>
            </p:txBody>
          </p:sp>
          <p:sp>
            <p:nvSpPr>
              <p:cNvPr id="25" name="AutoShape 25"/>
              <p:cNvSpPr>
                <a:spLocks noChangeArrowheads="1"/>
              </p:cNvSpPr>
              <p:nvPr/>
            </p:nvSpPr>
            <p:spPr bwMode="auto">
              <a:xfrm rot="10800000">
                <a:off x="0" y="0"/>
                <a:ext cx="192" cy="144"/>
              </a:xfrm>
              <a:prstGeom prst="triangle">
                <a:avLst>
                  <a:gd name="adj" fmla="val 50000"/>
                </a:avLst>
              </a:prstGeom>
              <a:solidFill>
                <a:schemeClr val="accent1">
                  <a:alpha val="50195"/>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a:ln w="0"/>
                  <a:effectLst>
                    <a:outerShdw blurRad="38100" dist="19050" dir="2700000" algn="tl" rotWithShape="0">
                      <a:schemeClr val="dk1">
                        <a:alpha val="40000"/>
                      </a:schemeClr>
                    </a:outerShdw>
                  </a:effectLst>
                </a:endParaRPr>
              </a:p>
            </p:txBody>
          </p:sp>
        </p:grpSp>
        <p:sp>
          <p:nvSpPr>
            <p:cNvPr id="23" name="Line 26"/>
            <p:cNvSpPr>
              <a:spLocks noChangeShapeType="1"/>
            </p:cNvSpPr>
            <p:nvPr/>
          </p:nvSpPr>
          <p:spPr bwMode="auto">
            <a:xfrm>
              <a:off x="952" y="603"/>
              <a:ext cx="272" cy="0"/>
            </a:xfrm>
            <a:prstGeom prst="line">
              <a:avLst/>
            </a:prstGeom>
            <a:noFill/>
            <a:ln w="222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n w="0"/>
                <a:effectLst>
                  <a:outerShdw blurRad="38100" dist="19050" dir="2700000" algn="tl" rotWithShape="0">
                    <a:schemeClr val="dk1">
                      <a:alpha val="40000"/>
                    </a:schemeClr>
                  </a:outerShdw>
                </a:effectLst>
              </a:endParaRPr>
            </a:p>
          </p:txBody>
        </p:sp>
      </p:grpSp>
      <p:sp>
        <p:nvSpPr>
          <p:cNvPr id="26" name="矩形 25"/>
          <p:cNvSpPr/>
          <p:nvPr/>
        </p:nvSpPr>
        <p:spPr>
          <a:xfrm>
            <a:off x="611560" y="3180646"/>
            <a:ext cx="8121402" cy="830997"/>
          </a:xfrm>
          <a:prstGeom prst="rect">
            <a:avLst/>
          </a:prstGeom>
        </p:spPr>
        <p:txBody>
          <a:bodyPr>
            <a:spAutoFit/>
          </a:bodyPr>
          <a:lstStyle/>
          <a:p>
            <a:pPr marL="342900" indent="-342900">
              <a:lnSpc>
                <a:spcPct val="120000"/>
              </a:lnSpc>
              <a:spcBef>
                <a:spcPts val="0"/>
              </a:spcBef>
              <a:buFont typeface="Wingdings" panose="05000000000000000000" pitchFamily="2" charset="2"/>
              <a:buChar char="Ø"/>
              <a:defRPr/>
            </a:pPr>
            <a:r>
              <a:rPr lang="zh-CN" altLang="en-US" sz="2000" dirty="0">
                <a:ln w="0"/>
                <a:effectLst>
                  <a:outerShdw blurRad="38100" dist="19050" dir="2700000" algn="tl" rotWithShape="0">
                    <a:schemeClr val="dk1">
                      <a:alpha val="40000"/>
                    </a:schemeClr>
                  </a:outerShdw>
                </a:effectLst>
              </a:rPr>
              <a:t>以自由空间为传输信道，把需要传送的信息（声音、文字或图像）变换成无线电波传送到远方的接收点。</a:t>
            </a:r>
          </a:p>
        </p:txBody>
      </p:sp>
    </p:spTree>
    <p:extLst>
      <p:ext uri="{BB962C8B-B14F-4D97-AF65-F5344CB8AC3E}">
        <p14:creationId xmlns:p14="http://schemas.microsoft.com/office/powerpoint/2010/main" val="306754190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10</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1.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概论</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grpSp>
        <p:nvGrpSpPr>
          <p:cNvPr id="5" name="Group 3"/>
          <p:cNvGrpSpPr>
            <a:grpSpLocks/>
          </p:cNvGrpSpPr>
          <p:nvPr/>
        </p:nvGrpSpPr>
        <p:grpSpPr bwMode="auto">
          <a:xfrm>
            <a:off x="1016000" y="1488324"/>
            <a:ext cx="7099300" cy="2016125"/>
            <a:chOff x="0" y="0"/>
            <a:chExt cx="5533" cy="1680"/>
          </a:xfrm>
        </p:grpSpPr>
        <p:sp>
          <p:nvSpPr>
            <p:cNvPr id="6" name="Text Box 4"/>
            <p:cNvSpPr txBox="1">
              <a:spLocks noChangeArrowheads="1"/>
            </p:cNvSpPr>
            <p:nvPr/>
          </p:nvSpPr>
          <p:spPr bwMode="auto">
            <a:xfrm>
              <a:off x="3787" y="546"/>
              <a:ext cx="726" cy="32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sz="1800">
                  <a:ln w="0"/>
                  <a:effectLst>
                    <a:outerShdw blurRad="38100" dist="19050" dir="2700000" algn="tl" rotWithShape="0">
                      <a:schemeClr val="dk1">
                        <a:alpha val="40000"/>
                      </a:schemeClr>
                    </a:outerShdw>
                  </a:effectLst>
                  <a:ea typeface="楷体_GB2312" pitchFamily="49" charset="-122"/>
                </a:rPr>
                <a:t>解调器</a:t>
              </a:r>
            </a:p>
          </p:txBody>
        </p:sp>
        <p:sp>
          <p:nvSpPr>
            <p:cNvPr id="7" name="Text Box 5"/>
            <p:cNvSpPr txBox="1">
              <a:spLocks noChangeArrowheads="1"/>
            </p:cNvSpPr>
            <p:nvPr/>
          </p:nvSpPr>
          <p:spPr bwMode="auto">
            <a:xfrm>
              <a:off x="4740" y="410"/>
              <a:ext cx="591" cy="553"/>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sz="1800">
                  <a:ln w="0"/>
                  <a:effectLst>
                    <a:outerShdw blurRad="38100" dist="19050" dir="2700000" algn="tl" rotWithShape="0">
                      <a:schemeClr val="dk1">
                        <a:alpha val="40000"/>
                      </a:schemeClr>
                    </a:outerShdw>
                  </a:effectLst>
                  <a:ea typeface="楷体_GB2312" pitchFamily="49" charset="-122"/>
                </a:rPr>
                <a:t>低频放大</a:t>
              </a:r>
            </a:p>
          </p:txBody>
        </p:sp>
        <p:sp>
          <p:nvSpPr>
            <p:cNvPr id="8" name="Text Box 6"/>
            <p:cNvSpPr txBox="1">
              <a:spLocks noChangeArrowheads="1"/>
            </p:cNvSpPr>
            <p:nvPr/>
          </p:nvSpPr>
          <p:spPr bwMode="auto">
            <a:xfrm>
              <a:off x="1610" y="1360"/>
              <a:ext cx="726" cy="32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sz="1800">
                  <a:ln w="0"/>
                  <a:effectLst>
                    <a:outerShdw blurRad="38100" dist="19050" dir="2700000" algn="tl" rotWithShape="0">
                      <a:schemeClr val="dk1">
                        <a:alpha val="40000"/>
                      </a:schemeClr>
                    </a:outerShdw>
                  </a:effectLst>
                  <a:ea typeface="楷体_GB2312" pitchFamily="49" charset="-122"/>
                </a:rPr>
                <a:t>本振</a:t>
              </a:r>
            </a:p>
          </p:txBody>
        </p:sp>
        <p:sp>
          <p:nvSpPr>
            <p:cNvPr id="9" name="Text Box 7"/>
            <p:cNvSpPr txBox="1">
              <a:spLocks noChangeArrowheads="1"/>
            </p:cNvSpPr>
            <p:nvPr/>
          </p:nvSpPr>
          <p:spPr bwMode="auto">
            <a:xfrm>
              <a:off x="2562" y="546"/>
              <a:ext cx="953" cy="32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sz="1800">
                  <a:ln w="0"/>
                  <a:effectLst>
                    <a:outerShdw blurRad="38100" dist="19050" dir="2700000" algn="tl" rotWithShape="0">
                      <a:schemeClr val="dk1">
                        <a:alpha val="40000"/>
                      </a:schemeClr>
                    </a:outerShdw>
                  </a:effectLst>
                  <a:ea typeface="楷体_GB2312" pitchFamily="49" charset="-122"/>
                </a:rPr>
                <a:t>中频放大</a:t>
              </a:r>
            </a:p>
          </p:txBody>
        </p:sp>
        <p:sp>
          <p:nvSpPr>
            <p:cNvPr id="10" name="Line 8"/>
            <p:cNvSpPr>
              <a:spLocks noChangeShapeType="1"/>
            </p:cNvSpPr>
            <p:nvPr/>
          </p:nvSpPr>
          <p:spPr bwMode="auto">
            <a:xfrm>
              <a:off x="4513" y="681"/>
              <a:ext cx="227"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n w="0"/>
                <a:effectLst>
                  <a:outerShdw blurRad="38100" dist="19050" dir="2700000" algn="tl" rotWithShape="0">
                    <a:schemeClr val="dk1">
                      <a:alpha val="40000"/>
                    </a:schemeClr>
                  </a:outerShdw>
                </a:effectLst>
              </a:endParaRPr>
            </a:p>
          </p:txBody>
        </p:sp>
        <p:sp>
          <p:nvSpPr>
            <p:cNvPr id="11" name="Line 9"/>
            <p:cNvSpPr>
              <a:spLocks noChangeShapeType="1"/>
            </p:cNvSpPr>
            <p:nvPr/>
          </p:nvSpPr>
          <p:spPr bwMode="auto">
            <a:xfrm>
              <a:off x="3515" y="681"/>
              <a:ext cx="272"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n w="0"/>
                <a:effectLst>
                  <a:outerShdw blurRad="38100" dist="19050" dir="2700000" algn="tl" rotWithShape="0">
                    <a:schemeClr val="dk1">
                      <a:alpha val="40000"/>
                    </a:schemeClr>
                  </a:outerShdw>
                </a:effectLst>
              </a:endParaRPr>
            </a:p>
          </p:txBody>
        </p:sp>
        <p:sp>
          <p:nvSpPr>
            <p:cNvPr id="12" name="Line 10"/>
            <p:cNvSpPr>
              <a:spLocks noChangeShapeType="1"/>
            </p:cNvSpPr>
            <p:nvPr/>
          </p:nvSpPr>
          <p:spPr bwMode="auto">
            <a:xfrm>
              <a:off x="227" y="681"/>
              <a:ext cx="271"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n w="0"/>
                <a:effectLst>
                  <a:outerShdw blurRad="38100" dist="19050" dir="2700000" algn="tl" rotWithShape="0">
                    <a:schemeClr val="dk1">
                      <a:alpha val="40000"/>
                    </a:schemeClr>
                  </a:outerShdw>
                </a:effectLst>
              </a:endParaRPr>
            </a:p>
          </p:txBody>
        </p:sp>
        <p:sp>
          <p:nvSpPr>
            <p:cNvPr id="13" name="Text Box 11"/>
            <p:cNvSpPr txBox="1">
              <a:spLocks noChangeArrowheads="1"/>
            </p:cNvSpPr>
            <p:nvPr/>
          </p:nvSpPr>
          <p:spPr bwMode="auto">
            <a:xfrm>
              <a:off x="499" y="546"/>
              <a:ext cx="907" cy="32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sz="1800" dirty="0">
                  <a:ln w="0"/>
                  <a:effectLst>
                    <a:outerShdw blurRad="38100" dist="19050" dir="2700000" algn="tl" rotWithShape="0">
                      <a:schemeClr val="dk1">
                        <a:alpha val="40000"/>
                      </a:schemeClr>
                    </a:outerShdw>
                  </a:effectLst>
                  <a:ea typeface="楷体_GB2312" pitchFamily="49" charset="-122"/>
                </a:rPr>
                <a:t>高频放大</a:t>
              </a:r>
            </a:p>
          </p:txBody>
        </p:sp>
        <p:sp>
          <p:nvSpPr>
            <p:cNvPr id="14" name="Text Box 12"/>
            <p:cNvSpPr txBox="1">
              <a:spLocks noChangeArrowheads="1"/>
            </p:cNvSpPr>
            <p:nvPr/>
          </p:nvSpPr>
          <p:spPr bwMode="auto">
            <a:xfrm>
              <a:off x="1610" y="546"/>
              <a:ext cx="726" cy="32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sz="1800">
                  <a:ln w="0"/>
                  <a:effectLst>
                    <a:outerShdw blurRad="38100" dist="19050" dir="2700000" algn="tl" rotWithShape="0">
                      <a:schemeClr val="dk1">
                        <a:alpha val="40000"/>
                      </a:schemeClr>
                    </a:outerShdw>
                  </a:effectLst>
                  <a:ea typeface="楷体_GB2312" pitchFamily="49" charset="-122"/>
                </a:rPr>
                <a:t>混频</a:t>
              </a:r>
            </a:p>
          </p:txBody>
        </p:sp>
        <p:sp>
          <p:nvSpPr>
            <p:cNvPr id="15" name="Line 13"/>
            <p:cNvSpPr>
              <a:spLocks noChangeShapeType="1"/>
            </p:cNvSpPr>
            <p:nvPr/>
          </p:nvSpPr>
          <p:spPr bwMode="auto">
            <a:xfrm>
              <a:off x="1406" y="681"/>
              <a:ext cx="204"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n w="0"/>
                <a:effectLst>
                  <a:outerShdw blurRad="38100" dist="19050" dir="2700000" algn="tl" rotWithShape="0">
                    <a:schemeClr val="dk1">
                      <a:alpha val="40000"/>
                    </a:schemeClr>
                  </a:outerShdw>
                </a:effectLst>
              </a:endParaRPr>
            </a:p>
          </p:txBody>
        </p:sp>
        <p:sp>
          <p:nvSpPr>
            <p:cNvPr id="16" name="Line 14"/>
            <p:cNvSpPr>
              <a:spLocks noChangeShapeType="1"/>
            </p:cNvSpPr>
            <p:nvPr/>
          </p:nvSpPr>
          <p:spPr bwMode="auto">
            <a:xfrm>
              <a:off x="2336" y="681"/>
              <a:ext cx="249"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n w="0"/>
                <a:effectLst>
                  <a:outerShdw blurRad="38100" dist="19050" dir="2700000" algn="tl" rotWithShape="0">
                    <a:schemeClr val="dk1">
                      <a:alpha val="40000"/>
                    </a:schemeClr>
                  </a:outerShdw>
                </a:effectLst>
              </a:endParaRPr>
            </a:p>
          </p:txBody>
        </p:sp>
        <p:sp>
          <p:nvSpPr>
            <p:cNvPr id="17" name="Line 15"/>
            <p:cNvSpPr>
              <a:spLocks noChangeShapeType="1"/>
            </p:cNvSpPr>
            <p:nvPr/>
          </p:nvSpPr>
          <p:spPr bwMode="auto">
            <a:xfrm>
              <a:off x="227" y="318"/>
              <a:ext cx="0" cy="362"/>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n w="0"/>
                <a:effectLst>
                  <a:outerShdw blurRad="38100" dist="19050" dir="2700000" algn="tl" rotWithShape="0">
                    <a:schemeClr val="dk1">
                      <a:alpha val="40000"/>
                    </a:schemeClr>
                  </a:outerShdw>
                </a:effectLst>
              </a:endParaRPr>
            </a:p>
          </p:txBody>
        </p:sp>
        <p:sp>
          <p:nvSpPr>
            <p:cNvPr id="18" name="Text Box 16"/>
            <p:cNvSpPr txBox="1">
              <a:spLocks noChangeArrowheads="1"/>
            </p:cNvSpPr>
            <p:nvPr/>
          </p:nvSpPr>
          <p:spPr bwMode="auto">
            <a:xfrm>
              <a:off x="0" y="0"/>
              <a:ext cx="544" cy="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a:ln w="0"/>
                  <a:effectLst>
                    <a:outerShdw blurRad="38100" dist="19050" dir="2700000" algn="tl" rotWithShape="0">
                      <a:schemeClr val="dk1">
                        <a:alpha val="40000"/>
                      </a:schemeClr>
                    </a:outerShdw>
                  </a:effectLst>
                  <a:ea typeface="楷体_GB2312" pitchFamily="49" charset="-122"/>
                </a:rPr>
                <a:t>天线</a:t>
              </a:r>
            </a:p>
          </p:txBody>
        </p:sp>
        <p:sp>
          <p:nvSpPr>
            <p:cNvPr id="19" name="Line 17"/>
            <p:cNvSpPr>
              <a:spLocks noChangeShapeType="1"/>
            </p:cNvSpPr>
            <p:nvPr/>
          </p:nvSpPr>
          <p:spPr bwMode="auto">
            <a:xfrm>
              <a:off x="5329" y="681"/>
              <a:ext cx="204"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n w="0"/>
                <a:effectLst>
                  <a:outerShdw blurRad="38100" dist="19050" dir="2700000" algn="tl" rotWithShape="0">
                    <a:schemeClr val="dk1">
                      <a:alpha val="40000"/>
                    </a:schemeClr>
                  </a:outerShdw>
                </a:effectLst>
              </a:endParaRPr>
            </a:p>
          </p:txBody>
        </p:sp>
        <p:sp>
          <p:nvSpPr>
            <p:cNvPr id="20" name="Line 18"/>
            <p:cNvSpPr>
              <a:spLocks noChangeShapeType="1"/>
            </p:cNvSpPr>
            <p:nvPr/>
          </p:nvSpPr>
          <p:spPr bwMode="auto">
            <a:xfrm flipV="1">
              <a:off x="1973" y="817"/>
              <a:ext cx="0" cy="544"/>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n w="0"/>
                <a:effectLst>
                  <a:outerShdw blurRad="38100" dist="19050" dir="2700000" algn="tl" rotWithShape="0">
                    <a:schemeClr val="dk1">
                      <a:alpha val="40000"/>
                    </a:schemeClr>
                  </a:outerShdw>
                </a:effectLst>
              </a:endParaRPr>
            </a:p>
          </p:txBody>
        </p:sp>
      </p:grpSp>
      <p:sp>
        <p:nvSpPr>
          <p:cNvPr id="21" name="Rectangle 7"/>
          <p:cNvSpPr>
            <a:spLocks noChangeArrowheads="1"/>
          </p:cNvSpPr>
          <p:nvPr/>
        </p:nvSpPr>
        <p:spPr bwMode="auto">
          <a:xfrm>
            <a:off x="307068" y="3505731"/>
            <a:ext cx="8497887" cy="1938992"/>
          </a:xfrm>
          <a:prstGeom prst="rect">
            <a:avLst/>
          </a:prstGeom>
          <a:noFill/>
          <a:ln>
            <a:noFill/>
          </a:ln>
          <a:effectLst/>
          <a:extLst>
            <a:ext uri="{909E8E84-426E-40DD-AFC4-6F175D3DCCD1}">
              <a14:hiddenFill xmlns:a14="http://schemas.microsoft.com/office/drawing/2010/main">
                <a:solidFill>
                  <a:srgbClr val="FF0033"/>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20000"/>
              </a:lnSpc>
              <a:spcBef>
                <a:spcPts val="0"/>
              </a:spcBef>
              <a:buFont typeface="华文仿宋" panose="02010600040101010101" pitchFamily="2" charset="-122"/>
              <a:buNone/>
              <a:defRPr/>
            </a:pPr>
            <a:r>
              <a:rPr lang="zh-CN" altLang="en-US" sz="2000" dirty="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由天线接收的射频信号首先经过高频放大器（射频带通滤波器（</a:t>
            </a:r>
            <a:r>
              <a:rPr lang="en-US" altLang="zh-CN" sz="2000" dirty="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RF BPF</a:t>
            </a:r>
            <a:r>
              <a:rPr lang="zh-CN" altLang="en-US" sz="2000" dirty="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）、低噪声放大器（</a:t>
            </a:r>
            <a:r>
              <a:rPr lang="en-US" altLang="zh-CN" sz="2000" dirty="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LNA</a:t>
            </a:r>
            <a:r>
              <a:rPr lang="zh-CN" altLang="en-US" sz="2000" dirty="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）），然后进行第一次下变频（混频），产生固定频率的中频（</a:t>
            </a:r>
            <a:r>
              <a:rPr lang="en-US" altLang="zh-CN" sz="2000" dirty="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IF</a:t>
            </a:r>
            <a:r>
              <a:rPr lang="zh-CN" altLang="en-US" sz="2000" dirty="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）信号。固定频率的中频信号通过中频带通放大滤波器（</a:t>
            </a:r>
            <a:r>
              <a:rPr lang="en-US" altLang="zh-CN" sz="2000" dirty="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IF BPF</a:t>
            </a:r>
            <a:r>
              <a:rPr lang="zh-CN" altLang="en-US" sz="2000" dirty="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）进行信道选择（确定接收机的选择性），最后对中频信号进行第二次下变频（解调）得到所需的基带信号。</a:t>
            </a:r>
          </a:p>
        </p:txBody>
      </p:sp>
    </p:spTree>
    <p:extLst>
      <p:ext uri="{BB962C8B-B14F-4D97-AF65-F5344CB8AC3E}">
        <p14:creationId xmlns:p14="http://schemas.microsoft.com/office/powerpoint/2010/main" val="122757431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11</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1.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概论</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Rectangle 4"/>
          <p:cNvSpPr>
            <a:spLocks noChangeArrowheads="1"/>
          </p:cNvSpPr>
          <p:nvPr/>
        </p:nvSpPr>
        <p:spPr bwMode="auto">
          <a:xfrm>
            <a:off x="107950" y="3317875"/>
            <a:ext cx="8713788" cy="30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342900" indent="-342900" eaLnBrk="1" hangingPunct="1">
              <a:lnSpc>
                <a:spcPct val="120000"/>
              </a:lnSpc>
              <a:spcBef>
                <a:spcPct val="0"/>
              </a:spcBef>
              <a:buFont typeface="Wingdings" panose="05000000000000000000" pitchFamily="2" charset="2"/>
              <a:buChar char="Ø"/>
              <a:defRPr/>
            </a:pPr>
            <a:r>
              <a:rPr lang="zh-CN" altLang="en-US" sz="2000" dirty="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在发送端必须把由信息源产生的连续变化的模拟基带信号，变换成离散的数字脉冲信号。</a:t>
            </a:r>
            <a:r>
              <a:rPr lang="en-US" altLang="zh-CN" sz="2000" dirty="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 A</a:t>
            </a:r>
            <a:r>
              <a:rPr lang="zh-CN" altLang="en-US" sz="2000" dirty="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a:t>
            </a:r>
            <a:r>
              <a:rPr lang="en-US" altLang="zh-CN" sz="2000" dirty="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D</a:t>
            </a:r>
            <a:r>
              <a:rPr lang="zh-CN" altLang="en-US" sz="2000" dirty="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变换器</a:t>
            </a:r>
            <a:r>
              <a:rPr lang="en-US" altLang="zh-CN" sz="2000" dirty="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(ADC)</a:t>
            </a:r>
            <a:r>
              <a:rPr lang="zh-CN" altLang="en-US" sz="2000" dirty="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是用来完成上述采样数字变换功能的电路。</a:t>
            </a:r>
          </a:p>
          <a:p>
            <a:pPr marL="342900" indent="-342900" eaLnBrk="1" hangingPunct="1">
              <a:lnSpc>
                <a:spcPct val="120000"/>
              </a:lnSpc>
              <a:spcBef>
                <a:spcPct val="0"/>
              </a:spcBef>
              <a:buFont typeface="Wingdings" panose="05000000000000000000" pitchFamily="2" charset="2"/>
              <a:buChar char="Ø"/>
              <a:defRPr/>
            </a:pPr>
            <a:r>
              <a:rPr lang="zh-CN" altLang="en-US" sz="2000" dirty="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为提高数字信号的传输效果，增强抗干扰能力和便于计算机处理，要对</a:t>
            </a:r>
            <a:r>
              <a:rPr lang="en-US" altLang="zh-CN" sz="2000" dirty="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ADC</a:t>
            </a:r>
            <a:r>
              <a:rPr lang="zh-CN" altLang="en-US" sz="2000" dirty="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输出的数字脉冲信号进行编码处理。</a:t>
            </a:r>
          </a:p>
          <a:p>
            <a:pPr marL="342900" indent="-342900" eaLnBrk="1" hangingPunct="1">
              <a:lnSpc>
                <a:spcPct val="120000"/>
              </a:lnSpc>
              <a:spcBef>
                <a:spcPct val="0"/>
              </a:spcBef>
              <a:buFont typeface="Wingdings" panose="05000000000000000000" pitchFamily="2" charset="2"/>
              <a:buChar char="Ø"/>
              <a:defRPr/>
            </a:pPr>
            <a:r>
              <a:rPr lang="zh-CN" altLang="en-US" sz="2000" dirty="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为了使通信具有保密性，可以再对编码前的数字脉冲信号先进行加密处理。</a:t>
            </a:r>
          </a:p>
          <a:p>
            <a:pPr marL="342900" indent="-342900" eaLnBrk="1" hangingPunct="1">
              <a:lnSpc>
                <a:spcPct val="120000"/>
              </a:lnSpc>
              <a:spcBef>
                <a:spcPct val="0"/>
              </a:spcBef>
              <a:buFont typeface="Wingdings" panose="05000000000000000000" pitchFamily="2" charset="2"/>
              <a:buChar char="Ø"/>
              <a:defRPr/>
            </a:pPr>
            <a:r>
              <a:rPr lang="zh-CN" altLang="en-US" sz="2000" dirty="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经过这些处理以后就形成了数字基带信号</a:t>
            </a:r>
            <a:r>
              <a:rPr lang="en-US" altLang="zh-CN" sz="2000" i="1" dirty="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m</a:t>
            </a:r>
            <a:r>
              <a:rPr lang="en-US" altLang="zh-CN" sz="2000" dirty="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a:t>
            </a:r>
            <a:r>
              <a:rPr lang="en-US" altLang="zh-CN" sz="2000" i="1" dirty="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t</a:t>
            </a:r>
            <a:r>
              <a:rPr lang="en-US" altLang="zh-CN" sz="2000" dirty="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a:t>
            </a:r>
            <a:r>
              <a:rPr lang="zh-CN" altLang="en-US" sz="2000" dirty="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，就可以送入数字调制器中进行数字调制了。</a:t>
            </a:r>
          </a:p>
        </p:txBody>
      </p:sp>
      <p:grpSp>
        <p:nvGrpSpPr>
          <p:cNvPr id="6" name="Group 12"/>
          <p:cNvGrpSpPr>
            <a:grpSpLocks/>
          </p:cNvGrpSpPr>
          <p:nvPr/>
        </p:nvGrpSpPr>
        <p:grpSpPr bwMode="auto">
          <a:xfrm>
            <a:off x="195263" y="1916113"/>
            <a:ext cx="8537575" cy="1441450"/>
            <a:chOff x="0" y="0"/>
            <a:chExt cx="5763" cy="969"/>
          </a:xfrm>
        </p:grpSpPr>
        <p:pic>
          <p:nvPicPr>
            <p:cNvPr id="7" name="Picture 7"/>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5763" cy="9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10"/>
            <p:cNvSpPr>
              <a:spLocks noChangeArrowheads="1"/>
            </p:cNvSpPr>
            <p:nvPr/>
          </p:nvSpPr>
          <p:spPr bwMode="auto">
            <a:xfrm>
              <a:off x="241" y="644"/>
              <a:ext cx="2292" cy="26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2000">
                <a:ln w="0"/>
                <a:effectLst>
                  <a:outerShdw blurRad="38100" dist="19050" dir="2700000" algn="tl" rotWithShape="0">
                    <a:schemeClr val="dk1">
                      <a:alpha val="40000"/>
                    </a:schemeClr>
                  </a:outerShdw>
                </a:effectLst>
              </a:endParaRPr>
            </a:p>
          </p:txBody>
        </p:sp>
      </p:grpSp>
      <p:sp>
        <p:nvSpPr>
          <p:cNvPr id="9" name="Rectangle 7"/>
          <p:cNvSpPr>
            <a:spLocks noChangeArrowheads="1"/>
          </p:cNvSpPr>
          <p:nvPr/>
        </p:nvSpPr>
        <p:spPr bwMode="auto">
          <a:xfrm>
            <a:off x="195796" y="1473828"/>
            <a:ext cx="2249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lang="zh-CN" altLang="en-US" sz="2000" dirty="0" smtClean="0">
                <a:ln w="0"/>
                <a:effectLst>
                  <a:outerShdw blurRad="38100" dist="19050" dir="2700000" algn="tl" rotWithShape="0">
                    <a:schemeClr val="dk1">
                      <a:alpha val="40000"/>
                    </a:schemeClr>
                  </a:outerShdw>
                </a:effectLst>
              </a:rPr>
              <a:t>数字通信系统模型</a:t>
            </a:r>
          </a:p>
        </p:txBody>
      </p:sp>
    </p:spTree>
    <p:extLst>
      <p:ext uri="{BB962C8B-B14F-4D97-AF65-F5344CB8AC3E}">
        <p14:creationId xmlns:p14="http://schemas.microsoft.com/office/powerpoint/2010/main" val="359156358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12</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1.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概论</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标题 274433"/>
          <p:cNvSpPr txBox="1">
            <a:spLocks noChangeArrowheads="1"/>
          </p:cNvSpPr>
          <p:nvPr/>
        </p:nvSpPr>
        <p:spPr>
          <a:xfrm>
            <a:off x="273050" y="1052513"/>
            <a:ext cx="8497888" cy="5689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20000"/>
              </a:lnSpc>
              <a:defRPr/>
            </a:pPr>
            <a:r>
              <a:rPr lang="zh-CN" altLang="en-US" sz="210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      </a:t>
            </a:r>
            <a:r>
              <a:rPr lang="zh-CN" altLang="en-US" sz="200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模拟信号经信源编码和信道编码变成数字基带信号，发射机将基带信号调制到高频载波上经信道传输到接收端，接收机还原出数字基带信号，经信道解码和信源解码还原出模拟基带信号。</a:t>
            </a:r>
            <a:br>
              <a:rPr lang="zh-CN" altLang="en-US" sz="200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br>
            <a:r>
              <a:rPr lang="zh-CN" altLang="en-US" sz="200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      用数字基带信号对高频正弦载波进行的调制称数字调制。</a:t>
            </a:r>
            <a:r>
              <a:rPr lang="en-US" altLang="zh-CN" sz="200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
            </a:r>
            <a:br>
              <a:rPr lang="en-US" altLang="zh-CN" sz="200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br>
            <a:r>
              <a:rPr lang="en-US" altLang="zh-CN" sz="200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      </a:t>
            </a:r>
            <a:r>
              <a:rPr lang="zh-CN" altLang="en-US" sz="200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根据基带信号控制载波的参数不同，数字调制通常分 为振幅键控调制，频率键控和相位键控三种基本方式。</a:t>
            </a:r>
            <a:r>
              <a:rPr lang="en-US" altLang="zh-CN" sz="200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
            </a:r>
            <a:br>
              <a:rPr lang="en-US" altLang="zh-CN" sz="200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br>
            <a:r>
              <a:rPr lang="zh-CN" altLang="en-US" sz="200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振幅键控（</a:t>
            </a:r>
            <a:r>
              <a:rPr lang="en-US" altLang="zh-CN" sz="200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Amplitude-shift keying</a:t>
            </a:r>
            <a:r>
              <a:rPr lang="zh-CN" altLang="en-US" sz="200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 </a:t>
            </a:r>
            <a:r>
              <a:rPr lang="en-US" altLang="zh-CN" sz="200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(ASK)    </a:t>
            </a:r>
            <a:br>
              <a:rPr lang="en-US" altLang="zh-CN" sz="200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br>
            <a:r>
              <a:rPr lang="en-US" altLang="zh-CN" sz="200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    </a:t>
            </a:r>
            <a:r>
              <a:rPr lang="zh-CN" altLang="en-US" sz="200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载波振幅受基带控制</a:t>
            </a:r>
            <a:r>
              <a:rPr lang="en-US" altLang="zh-CN" sz="200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
            </a:r>
            <a:br>
              <a:rPr lang="en-US" altLang="zh-CN" sz="200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br>
            <a:r>
              <a:rPr lang="zh-CN" altLang="en-US" sz="200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相位键控（</a:t>
            </a:r>
            <a:r>
              <a:rPr lang="en-US" altLang="zh-CN" sz="200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phase-shift keying</a:t>
            </a:r>
            <a:r>
              <a:rPr lang="zh-CN" altLang="en-US" sz="200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 </a:t>
            </a:r>
            <a:r>
              <a:rPr lang="en-US" altLang="zh-CN" sz="200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(PSK) </a:t>
            </a:r>
            <a:br>
              <a:rPr lang="en-US" altLang="zh-CN" sz="200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br>
            <a:r>
              <a:rPr lang="en-US" altLang="zh-CN" sz="200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        </a:t>
            </a:r>
            <a:r>
              <a:rPr lang="zh-CN" altLang="en-US" sz="200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载波相位受基带信号控制，当基带信号</a:t>
            </a:r>
            <a:r>
              <a:rPr lang="en-US" altLang="zh-CN" sz="2000" i="1"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p</a:t>
            </a:r>
            <a:r>
              <a:rPr lang="en-US" altLang="zh-CN" sz="200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a:t>
            </a:r>
            <a:r>
              <a:rPr lang="en-US" altLang="zh-CN" sz="2000" i="1"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t</a:t>
            </a:r>
            <a:r>
              <a:rPr lang="en-US" altLang="zh-CN" sz="200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 = 1</a:t>
            </a:r>
            <a:r>
              <a:rPr lang="zh-CN" altLang="en-US" sz="200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时，载波起始相位为</a:t>
            </a:r>
            <a:r>
              <a:rPr lang="en-US" altLang="zh-CN" sz="200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0</a:t>
            </a:r>
            <a:r>
              <a:rPr lang="zh-CN" altLang="en-US" sz="200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，当</a:t>
            </a:r>
            <a:r>
              <a:rPr lang="en-US" altLang="zh-CN" sz="2000" i="1"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p</a:t>
            </a:r>
            <a:r>
              <a:rPr lang="en-US" altLang="zh-CN" sz="200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a:t>
            </a:r>
            <a:r>
              <a:rPr lang="en-US" altLang="zh-CN" sz="2000" i="1"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t</a:t>
            </a:r>
            <a:r>
              <a:rPr lang="en-US" altLang="zh-CN" sz="200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 = 0</a:t>
            </a:r>
            <a:r>
              <a:rPr lang="zh-CN" altLang="en-US" sz="200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时载波起始相位为</a:t>
            </a:r>
            <a:r>
              <a:rPr lang="en-US" altLang="zh-CN" sz="2000" i="1"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sz="200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
            </a:r>
            <a:br>
              <a:rPr lang="en-US" altLang="zh-CN" sz="200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br>
            <a:r>
              <a:rPr lang="zh-CN" altLang="en-US" sz="200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频率键控（</a:t>
            </a:r>
            <a:r>
              <a:rPr lang="en-US" altLang="zh-CN" sz="200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Frequency-shift keying</a:t>
            </a:r>
            <a:r>
              <a:rPr lang="zh-CN" altLang="en-US" sz="200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 </a:t>
            </a:r>
            <a:r>
              <a:rPr lang="en-US" altLang="zh-CN" sz="200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(FSK) </a:t>
            </a:r>
            <a:br>
              <a:rPr lang="en-US" altLang="zh-CN" sz="200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br>
            <a:r>
              <a:rPr lang="en-US" altLang="zh-CN" sz="200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        </a:t>
            </a:r>
            <a:r>
              <a:rPr lang="zh-CN" altLang="en-US" sz="200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载波频率受基带信号控制，当</a:t>
            </a:r>
            <a:r>
              <a:rPr lang="en-US" altLang="zh-CN" sz="2000" i="1"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p</a:t>
            </a:r>
            <a:r>
              <a:rPr lang="en-US" altLang="zh-CN" sz="200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a:t>
            </a:r>
            <a:r>
              <a:rPr lang="en-US" altLang="zh-CN" sz="2000" i="1"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t</a:t>
            </a:r>
            <a:r>
              <a:rPr lang="en-US" altLang="zh-CN" sz="200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 = 1</a:t>
            </a:r>
            <a:r>
              <a:rPr lang="zh-CN" altLang="en-US" sz="200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时，载波频率为</a:t>
            </a:r>
            <a:r>
              <a:rPr lang="en-US" altLang="zh-CN" sz="2000" i="1"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f</a:t>
            </a:r>
            <a:r>
              <a:rPr lang="en-US" altLang="zh-CN" sz="2000" baseline="-3000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1</a:t>
            </a:r>
            <a:r>
              <a:rPr lang="zh-CN" altLang="en-US" sz="200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；当</a:t>
            </a:r>
            <a:r>
              <a:rPr lang="en-US" altLang="zh-CN" sz="2000" i="1"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p</a:t>
            </a:r>
            <a:r>
              <a:rPr lang="en-US" altLang="zh-CN" sz="200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a:t>
            </a:r>
            <a:r>
              <a:rPr lang="en-US" altLang="zh-CN" sz="2000" i="1"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t</a:t>
            </a:r>
            <a:r>
              <a:rPr lang="en-US" altLang="zh-CN" sz="200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 = 0</a:t>
            </a:r>
            <a:r>
              <a:rPr lang="zh-CN" altLang="en-US" sz="200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时，载波频率为</a:t>
            </a:r>
            <a:r>
              <a:rPr lang="en-US" altLang="zh-CN" sz="2000" i="1"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f</a:t>
            </a:r>
            <a:r>
              <a:rPr lang="en-US" altLang="zh-CN" sz="2000" baseline="-3000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2</a:t>
            </a:r>
            <a:r>
              <a:rPr lang="zh-CN" altLang="en-US" sz="200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rPr>
              <a:t>。</a:t>
            </a:r>
            <a:endParaRPr lang="zh-CN" altLang="en-US" sz="2100" dirty="0" smtClean="0">
              <a:ln w="0"/>
              <a:effectLst>
                <a:outerShdw blurRad="38100" dist="19050" dir="2700000" algn="tl" rotWithShape="0">
                  <a:schemeClr val="dk1">
                    <a:alpha val="40000"/>
                  </a:schemeClr>
                </a:outerShdw>
              </a:effectLst>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332168061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13</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1.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概论</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标题 276481"/>
          <p:cNvSpPr txBox="1">
            <a:spLocks noChangeArrowheads="1"/>
          </p:cNvSpPr>
          <p:nvPr/>
        </p:nvSpPr>
        <p:spPr>
          <a:xfrm>
            <a:off x="675481" y="1188246"/>
            <a:ext cx="7793037" cy="57626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400" b="1" smtClean="0">
                <a:solidFill>
                  <a:srgbClr val="993300"/>
                </a:solidFill>
                <a:effectLst>
                  <a:glow rad="63500">
                    <a:schemeClr val="accent3">
                      <a:satMod val="175000"/>
                      <a:alpha val="40000"/>
                    </a:schemeClr>
                  </a:glow>
                </a:effectLst>
                <a:latin typeface="+mn-ea"/>
                <a:ea typeface="+mn-ea"/>
              </a:rPr>
              <a:t>数字通信系统</a:t>
            </a:r>
            <a:endParaRPr lang="zh-CN" altLang="en-US" sz="2400" b="1" dirty="0" smtClean="0">
              <a:solidFill>
                <a:srgbClr val="993300"/>
              </a:solidFill>
              <a:effectLst>
                <a:glow rad="63500">
                  <a:schemeClr val="accent3">
                    <a:satMod val="175000"/>
                    <a:alpha val="40000"/>
                  </a:schemeClr>
                </a:glow>
              </a:effectLst>
              <a:latin typeface="+mn-ea"/>
              <a:ea typeface="+mn-ea"/>
            </a:endParaRPr>
          </a:p>
        </p:txBody>
      </p:sp>
      <p:graphicFrame>
        <p:nvGraphicFramePr>
          <p:cNvPr id="6" name="对象 5"/>
          <p:cNvGraphicFramePr>
            <a:graphicFrameLocks/>
          </p:cNvGraphicFramePr>
          <p:nvPr>
            <p:extLst>
              <p:ext uri="{D42A27DB-BD31-4B8C-83A1-F6EECF244321}">
                <p14:modId xmlns:p14="http://schemas.microsoft.com/office/powerpoint/2010/main" val="3364705158"/>
              </p:ext>
            </p:extLst>
          </p:nvPr>
        </p:nvGraphicFramePr>
        <p:xfrm>
          <a:off x="1675428" y="1706885"/>
          <a:ext cx="6048672" cy="4968552"/>
        </p:xfrm>
        <a:graphic>
          <a:graphicData uri="http://schemas.openxmlformats.org/presentationml/2006/ole">
            <mc:AlternateContent xmlns:mc="http://schemas.openxmlformats.org/markup-compatibility/2006">
              <mc:Choice xmlns:v="urn:schemas-microsoft-com:vml" Requires="v">
                <p:oleObj spid="_x0000_s1085" r:id="rId3" imgW="2520185" imgH="2737732" progId="Word.Picture.8">
                  <p:embed/>
                </p:oleObj>
              </mc:Choice>
              <mc:Fallback>
                <p:oleObj r:id="rId3" imgW="2520185" imgH="2737732" progId="Word.Picture.8">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75428" y="1706885"/>
                        <a:ext cx="6048672" cy="4968552"/>
                      </a:xfrm>
                      <a:prstGeom prst="rect">
                        <a:avLst/>
                      </a:prstGeom>
                      <a:noFill/>
                      <a:ln>
                        <a:noFill/>
                      </a:ln>
                      <a:extLst/>
                    </p:spPr>
                  </p:pic>
                </p:oleObj>
              </mc:Fallback>
            </mc:AlternateContent>
          </a:graphicData>
        </a:graphic>
      </p:graphicFrame>
    </p:spTree>
    <p:extLst>
      <p:ext uri="{BB962C8B-B14F-4D97-AF65-F5344CB8AC3E}">
        <p14:creationId xmlns:p14="http://schemas.microsoft.com/office/powerpoint/2010/main" val="22935184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14</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1.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概论</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graphicFrame>
        <p:nvGraphicFramePr>
          <p:cNvPr id="5" name="Object 3"/>
          <p:cNvGraphicFramePr>
            <a:graphicFrameLocks noChangeAspect="1"/>
          </p:cNvGraphicFramePr>
          <p:nvPr>
            <p:extLst>
              <p:ext uri="{D42A27DB-BD31-4B8C-83A1-F6EECF244321}">
                <p14:modId xmlns:p14="http://schemas.microsoft.com/office/powerpoint/2010/main" val="489503063"/>
              </p:ext>
            </p:extLst>
          </p:nvPr>
        </p:nvGraphicFramePr>
        <p:xfrm>
          <a:off x="1937008" y="3078376"/>
          <a:ext cx="3036437" cy="469719"/>
        </p:xfrm>
        <a:graphic>
          <a:graphicData uri="http://schemas.openxmlformats.org/presentationml/2006/ole">
            <mc:AlternateContent xmlns:mc="http://schemas.openxmlformats.org/markup-compatibility/2006">
              <mc:Choice xmlns:v="urn:schemas-microsoft-com:vml" Requires="v">
                <p:oleObj spid="_x0000_s2282" r:id="rId3" imgW="1289979" imgH="174171" progId="">
                  <p:embed/>
                </p:oleObj>
              </mc:Choice>
              <mc:Fallback>
                <p:oleObj r:id="rId3" imgW="1289979" imgH="174171" progId="">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37008" y="3078376"/>
                        <a:ext cx="3036437" cy="469719"/>
                      </a:xfrm>
                      <a:prstGeom prst="rect">
                        <a:avLst/>
                      </a:prstGeom>
                      <a:noFill/>
                      <a:ln>
                        <a:noFill/>
                      </a:ln>
                      <a:extLst/>
                    </p:spPr>
                  </p:pic>
                </p:oleObj>
              </mc:Fallback>
            </mc:AlternateContent>
          </a:graphicData>
        </a:graphic>
      </p:graphicFrame>
      <p:graphicFrame>
        <p:nvGraphicFramePr>
          <p:cNvPr id="6" name="Object 4"/>
          <p:cNvGraphicFramePr>
            <a:graphicFrameLocks noChangeAspect="1"/>
          </p:cNvGraphicFramePr>
          <p:nvPr>
            <p:extLst>
              <p:ext uri="{D42A27DB-BD31-4B8C-83A1-F6EECF244321}">
                <p14:modId xmlns:p14="http://schemas.microsoft.com/office/powerpoint/2010/main" val="2818345728"/>
              </p:ext>
            </p:extLst>
          </p:nvPr>
        </p:nvGraphicFramePr>
        <p:xfrm>
          <a:off x="5571720" y="3067173"/>
          <a:ext cx="1224136" cy="451385"/>
        </p:xfrm>
        <a:graphic>
          <a:graphicData uri="http://schemas.openxmlformats.org/presentationml/2006/ole">
            <mc:AlternateContent xmlns:mc="http://schemas.openxmlformats.org/markup-compatibility/2006">
              <mc:Choice xmlns:v="urn:schemas-microsoft-com:vml" Requires="v">
                <p:oleObj spid="_x0000_s2283" r:id="rId5" imgW="546337" imgH="203288" progId="">
                  <p:embed/>
                </p:oleObj>
              </mc:Choice>
              <mc:Fallback>
                <p:oleObj r:id="rId5" imgW="546337" imgH="203288" progId="">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71720" y="3067173"/>
                        <a:ext cx="1224136" cy="451385"/>
                      </a:xfrm>
                      <a:prstGeom prst="rect">
                        <a:avLst/>
                      </a:prstGeom>
                      <a:noFill/>
                      <a:ln>
                        <a:noFill/>
                      </a:ln>
                      <a:extLst/>
                    </p:spPr>
                  </p:pic>
                </p:oleObj>
              </mc:Fallback>
            </mc:AlternateContent>
          </a:graphicData>
        </a:graphic>
      </p:graphicFrame>
      <p:sp>
        <p:nvSpPr>
          <p:cNvPr id="7" name="Rectangle 10"/>
          <p:cNvSpPr>
            <a:spLocks noChangeArrowheads="1"/>
          </p:cNvSpPr>
          <p:nvPr/>
        </p:nvSpPr>
        <p:spPr bwMode="auto">
          <a:xfrm>
            <a:off x="568857" y="2336267"/>
            <a:ext cx="79928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indent="276225">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0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射频载波信号是一个电压或电流的时变正弦信号，它的电压正弦高频振荡可以用如下关系式表达：</a:t>
            </a:r>
            <a:endParaRPr lang="zh-CN" altLang="en-US" sz="2000" dirty="0">
              <a:ln w="0"/>
              <a:effectLst>
                <a:outerShdw blurRad="38100" dist="19050" dir="2700000" algn="tl" rotWithShape="0">
                  <a:schemeClr val="dk1">
                    <a:alpha val="40000"/>
                  </a:schemeClr>
                </a:outerShdw>
              </a:effectLst>
            </a:endParaRPr>
          </a:p>
        </p:txBody>
      </p:sp>
      <p:grpSp>
        <p:nvGrpSpPr>
          <p:cNvPr id="8" name="Group 19"/>
          <p:cNvGrpSpPr>
            <a:grpSpLocks/>
          </p:cNvGrpSpPr>
          <p:nvPr/>
        </p:nvGrpSpPr>
        <p:grpSpPr bwMode="auto">
          <a:xfrm>
            <a:off x="1751645" y="3591869"/>
            <a:ext cx="4029075" cy="415925"/>
            <a:chOff x="121" y="13"/>
            <a:chExt cx="2538" cy="262"/>
          </a:xfrm>
        </p:grpSpPr>
        <p:graphicFrame>
          <p:nvGraphicFramePr>
            <p:cNvPr id="9" name="Object 7"/>
            <p:cNvGraphicFramePr>
              <a:graphicFrameLocks noChangeAspect="1"/>
            </p:cNvGraphicFramePr>
            <p:nvPr>
              <p:extLst>
                <p:ext uri="{D42A27DB-BD31-4B8C-83A1-F6EECF244321}">
                  <p14:modId xmlns:p14="http://schemas.microsoft.com/office/powerpoint/2010/main" val="2967152533"/>
                </p:ext>
              </p:extLst>
            </p:nvPr>
          </p:nvGraphicFramePr>
          <p:xfrm>
            <a:off x="121" y="44"/>
            <a:ext cx="334" cy="231"/>
          </p:xfrm>
          <a:graphic>
            <a:graphicData uri="http://schemas.openxmlformats.org/presentationml/2006/ole">
              <mc:AlternateContent xmlns:mc="http://schemas.openxmlformats.org/markup-compatibility/2006">
                <mc:Choice xmlns:v="urn:schemas-microsoft-com:vml" Requires="v">
                  <p:oleObj spid="_x0000_s2284" r:id="rId7" imgW="292608" imgH="203553" progId="">
                    <p:embed/>
                  </p:oleObj>
                </mc:Choice>
                <mc:Fallback>
                  <p:oleObj r:id="rId7" imgW="292608" imgH="203553" progId="">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1" y="44"/>
                          <a:ext cx="334" cy="231"/>
                        </a:xfrm>
                        <a:prstGeom prst="rect">
                          <a:avLst/>
                        </a:prstGeom>
                        <a:noFill/>
                        <a:ln>
                          <a:noFill/>
                        </a:ln>
                        <a:extLst/>
                      </p:spPr>
                    </p:pic>
                  </p:oleObj>
                </mc:Fallback>
              </mc:AlternateContent>
            </a:graphicData>
          </a:graphic>
        </p:graphicFrame>
        <p:sp>
          <p:nvSpPr>
            <p:cNvPr id="10" name="Rectangle 12"/>
            <p:cNvSpPr>
              <a:spLocks noChangeArrowheads="1"/>
            </p:cNvSpPr>
            <p:nvPr/>
          </p:nvSpPr>
          <p:spPr bwMode="auto">
            <a:xfrm>
              <a:off x="216" y="13"/>
              <a:ext cx="2443"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indent="276225">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21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a:t>
              </a:r>
              <a:r>
                <a:rPr lang="zh-CN" altLang="en-US" sz="21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时变正弦电压</a:t>
              </a:r>
              <a:r>
                <a:rPr lang="zh-CN" altLang="en-US" sz="2100" dirty="0" smtClean="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信号</a:t>
              </a:r>
              <a:r>
                <a:rPr lang="zh-CN" altLang="en-US" sz="21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a:t>
              </a:r>
              <a:endParaRPr lang="zh-CN" altLang="en-US" sz="2100" dirty="0">
                <a:ln w="0"/>
                <a:effectLst>
                  <a:outerShdw blurRad="38100" dist="19050" dir="2700000" algn="tl" rotWithShape="0">
                    <a:schemeClr val="dk1">
                      <a:alpha val="40000"/>
                    </a:schemeClr>
                  </a:outerShdw>
                </a:effectLst>
              </a:endParaRPr>
            </a:p>
          </p:txBody>
        </p:sp>
      </p:grpSp>
      <p:grpSp>
        <p:nvGrpSpPr>
          <p:cNvPr id="11" name="Group 20"/>
          <p:cNvGrpSpPr>
            <a:grpSpLocks/>
          </p:cNvGrpSpPr>
          <p:nvPr/>
        </p:nvGrpSpPr>
        <p:grpSpPr bwMode="auto">
          <a:xfrm>
            <a:off x="1441190" y="4030325"/>
            <a:ext cx="5903912" cy="415925"/>
            <a:chOff x="136" y="13"/>
            <a:chExt cx="3719" cy="262"/>
          </a:xfrm>
        </p:grpSpPr>
        <p:graphicFrame>
          <p:nvGraphicFramePr>
            <p:cNvPr id="12" name="Object 10"/>
            <p:cNvGraphicFramePr>
              <a:graphicFrameLocks noChangeAspect="1"/>
            </p:cNvGraphicFramePr>
            <p:nvPr>
              <p:extLst>
                <p:ext uri="{D42A27DB-BD31-4B8C-83A1-F6EECF244321}">
                  <p14:modId xmlns:p14="http://schemas.microsoft.com/office/powerpoint/2010/main" val="1294340743"/>
                </p:ext>
              </p:extLst>
            </p:nvPr>
          </p:nvGraphicFramePr>
          <p:xfrm>
            <a:off x="352" y="55"/>
            <a:ext cx="220" cy="216"/>
          </p:xfrm>
          <a:graphic>
            <a:graphicData uri="http://schemas.openxmlformats.org/presentationml/2006/ole">
              <mc:AlternateContent xmlns:mc="http://schemas.openxmlformats.org/markup-compatibility/2006">
                <mc:Choice xmlns:v="urn:schemas-microsoft-com:vml" Requires="v">
                  <p:oleObj spid="_x0000_s2285" r:id="rId9" imgW="241825" imgH="229097" progId="">
                    <p:embed/>
                  </p:oleObj>
                </mc:Choice>
                <mc:Fallback>
                  <p:oleObj r:id="rId9" imgW="241825" imgH="229097" progId="">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52" y="55"/>
                          <a:ext cx="220" cy="216"/>
                        </a:xfrm>
                        <a:prstGeom prst="rect">
                          <a:avLst/>
                        </a:prstGeom>
                        <a:noFill/>
                        <a:ln>
                          <a:noFill/>
                        </a:ln>
                        <a:extLst/>
                      </p:spPr>
                    </p:pic>
                  </p:oleObj>
                </mc:Fallback>
              </mc:AlternateContent>
            </a:graphicData>
          </a:graphic>
        </p:graphicFrame>
        <p:sp>
          <p:nvSpPr>
            <p:cNvPr id="13" name="Rectangle 13"/>
            <p:cNvSpPr>
              <a:spLocks noChangeArrowheads="1"/>
            </p:cNvSpPr>
            <p:nvPr/>
          </p:nvSpPr>
          <p:spPr bwMode="auto">
            <a:xfrm>
              <a:off x="136" y="13"/>
              <a:ext cx="3719"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indent="276225">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21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a:t>
              </a:r>
              <a:r>
                <a:rPr lang="zh-CN" altLang="en-US" sz="21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正弦电压信号的峰值幅度（伏特</a:t>
              </a:r>
              <a:r>
                <a:rPr lang="en-US" altLang="zh-CN" sz="21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V</a:t>
              </a:r>
              <a:r>
                <a:rPr lang="zh-CN" altLang="en-US" sz="21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a:t>
              </a:r>
              <a:endParaRPr lang="zh-CN" altLang="en-US" sz="2100" dirty="0">
                <a:ln w="0"/>
                <a:effectLst>
                  <a:outerShdw blurRad="38100" dist="19050" dir="2700000" algn="tl" rotWithShape="0">
                    <a:schemeClr val="dk1">
                      <a:alpha val="40000"/>
                    </a:schemeClr>
                  </a:outerShdw>
                </a:effectLst>
              </a:endParaRPr>
            </a:p>
          </p:txBody>
        </p:sp>
      </p:grpSp>
      <p:sp>
        <p:nvSpPr>
          <p:cNvPr id="14" name="Rectangle 15"/>
          <p:cNvSpPr>
            <a:spLocks noChangeArrowheads="1"/>
          </p:cNvSpPr>
          <p:nvPr/>
        </p:nvSpPr>
        <p:spPr bwMode="auto">
          <a:xfrm>
            <a:off x="1751645" y="4423837"/>
            <a:ext cx="4732386"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indent="276225">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indent="0" algn="ctr" eaLnBrk="1" hangingPunct="1">
              <a:spcBef>
                <a:spcPct val="0"/>
              </a:spcBef>
              <a:buFontTx/>
              <a:buNone/>
            </a:pPr>
            <a:r>
              <a:rPr lang="en-US" altLang="zh-CN" sz="2100" i="1" dirty="0" smtClean="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f </a:t>
            </a:r>
            <a:r>
              <a:rPr lang="en-US" altLang="zh-CN" sz="2100" dirty="0" smtClean="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a:t>
            </a:r>
            <a:r>
              <a:rPr lang="zh-CN" altLang="en-US" sz="21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正弦电压信号的频率（赫兹</a:t>
            </a:r>
            <a:r>
              <a:rPr lang="en-US" altLang="zh-CN" sz="21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Hz</a:t>
            </a:r>
            <a:r>
              <a:rPr lang="zh-CN" altLang="en-US" sz="21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a:t>
            </a:r>
            <a:endParaRPr lang="zh-CN" altLang="en-US" sz="2100" dirty="0">
              <a:ln w="0"/>
              <a:effectLst>
                <a:outerShdw blurRad="38100" dist="19050" dir="2700000" algn="tl" rotWithShape="0">
                  <a:schemeClr val="dk1">
                    <a:alpha val="40000"/>
                  </a:schemeClr>
                </a:outerShdw>
              </a:effectLst>
            </a:endParaRPr>
          </a:p>
        </p:txBody>
      </p:sp>
      <p:sp>
        <p:nvSpPr>
          <p:cNvPr id="15" name="Rectangle 16"/>
          <p:cNvSpPr>
            <a:spLocks noChangeArrowheads="1"/>
          </p:cNvSpPr>
          <p:nvPr/>
        </p:nvSpPr>
        <p:spPr bwMode="auto">
          <a:xfrm>
            <a:off x="1695541" y="4852312"/>
            <a:ext cx="4788490"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l-GR" altLang="zh-CN" sz="2100" i="1" dirty="0" smtClean="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θ</a:t>
            </a:r>
            <a:r>
              <a:rPr lang="en-US" altLang="zh-CN" sz="2100" dirty="0" smtClean="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a:t>
            </a:r>
            <a:r>
              <a:rPr lang="zh-CN" altLang="en-US" sz="21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正弦电压信号的相位（弧度</a:t>
            </a:r>
            <a:r>
              <a:rPr lang="en-US" altLang="zh-CN" sz="21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rad</a:t>
            </a:r>
            <a:r>
              <a:rPr lang="zh-CN" altLang="en-US" sz="21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a:t>
            </a:r>
            <a:endParaRPr lang="zh-CN" altLang="en-US" sz="2100" dirty="0">
              <a:ln w="0"/>
              <a:effectLst>
                <a:outerShdw blurRad="38100" dist="19050" dir="2700000" algn="tl" rotWithShape="0">
                  <a:schemeClr val="dk1">
                    <a:alpha val="40000"/>
                  </a:schemeClr>
                </a:outerShdw>
              </a:effectLst>
            </a:endParaRPr>
          </a:p>
        </p:txBody>
      </p:sp>
      <p:sp>
        <p:nvSpPr>
          <p:cNvPr id="16" name="矩形 15"/>
          <p:cNvSpPr/>
          <p:nvPr/>
        </p:nvSpPr>
        <p:spPr>
          <a:xfrm>
            <a:off x="2361798" y="1185754"/>
            <a:ext cx="352649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spAutoFit/>
          </a:bodyPr>
          <a:lstStyle/>
          <a:p>
            <a:pPr algn="ctr" eaLnBrk="1" hangingPunct="1">
              <a:spcBef>
                <a:spcPct val="50000"/>
              </a:spcBef>
            </a:pPr>
            <a:r>
              <a:rPr lang="zh-CN" altLang="en-US" sz="28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28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1.4  </a:t>
            </a:r>
            <a:r>
              <a:rPr lang="zh-CN" altLang="en-US" sz="28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调制与解调</a:t>
            </a:r>
            <a:endParaRPr lang="zh-CN" altLang="en-US" sz="28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33544799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15</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1.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概论</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Rectangle 30"/>
          <p:cNvSpPr>
            <a:spLocks noChangeArrowheads="1"/>
          </p:cNvSpPr>
          <p:nvPr/>
        </p:nvSpPr>
        <p:spPr bwMode="auto">
          <a:xfrm>
            <a:off x="323528" y="2348880"/>
            <a:ext cx="8351838" cy="36625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b="1" dirty="0">
                <a:latin typeface="Times New Roman" panose="02020603050405020304" pitchFamily="18" charset="0"/>
                <a:cs typeface="Times New Roman" panose="02020603050405020304" pitchFamily="18" charset="0"/>
              </a:rPr>
              <a:t>        </a:t>
            </a:r>
            <a:r>
              <a:rPr lang="zh-CN" altLang="en-US" b="1" dirty="0">
                <a:latin typeface="Times New Roman" panose="02020603050405020304" pitchFamily="18" charset="0"/>
                <a:cs typeface="Times New Roman" panose="02020603050405020304" pitchFamily="18" charset="0"/>
              </a:rPr>
              <a:t>如果基带调制信号是</a:t>
            </a:r>
            <a:r>
              <a:rPr lang="zh-CN" altLang="en-US" b="1" dirty="0">
                <a:solidFill>
                  <a:srgbClr val="990099"/>
                </a:solidFill>
                <a:latin typeface="Times New Roman" panose="02020603050405020304" pitchFamily="18" charset="0"/>
                <a:cs typeface="Times New Roman" panose="02020603050405020304" pitchFamily="18" charset="0"/>
              </a:rPr>
              <a:t>模拟的</a:t>
            </a:r>
            <a:r>
              <a:rPr lang="zh-CN" altLang="en-US" b="1" dirty="0">
                <a:latin typeface="Times New Roman" panose="02020603050405020304" pitchFamily="18" charset="0"/>
                <a:cs typeface="Times New Roman" panose="02020603050405020304" pitchFamily="18" charset="0"/>
              </a:rPr>
              <a:t>，且载波的</a:t>
            </a:r>
            <a:r>
              <a:rPr lang="zh-CN" altLang="en-US" b="1" dirty="0">
                <a:solidFill>
                  <a:srgbClr val="990000"/>
                </a:solidFill>
                <a:latin typeface="Times New Roman" panose="02020603050405020304" pitchFamily="18" charset="0"/>
                <a:cs typeface="Times New Roman" panose="02020603050405020304" pitchFamily="18" charset="0"/>
              </a:rPr>
              <a:t>幅度</a:t>
            </a:r>
            <a:r>
              <a:rPr lang="en-US" altLang="zh-CN" b="1" i="1" dirty="0">
                <a:solidFill>
                  <a:srgbClr val="FF3399"/>
                </a:solidFill>
                <a:latin typeface="Times New Roman" panose="02020603050405020304" pitchFamily="18" charset="0"/>
                <a:cs typeface="Times New Roman" panose="02020603050405020304" pitchFamily="18" charset="0"/>
              </a:rPr>
              <a:t>U</a:t>
            </a:r>
            <a:r>
              <a:rPr lang="en-US" altLang="zh-CN" b="1" baseline="-25000" dirty="0">
                <a:solidFill>
                  <a:srgbClr val="FF3399"/>
                </a:solidFill>
                <a:latin typeface="Times New Roman" panose="02020603050405020304" pitchFamily="18" charset="0"/>
                <a:cs typeface="Times New Roman" panose="02020603050405020304" pitchFamily="18" charset="0"/>
              </a:rPr>
              <a:t>m</a:t>
            </a:r>
            <a:r>
              <a:rPr lang="zh-CN" altLang="en-US" b="1" dirty="0">
                <a:latin typeface="Times New Roman" panose="02020603050405020304" pitchFamily="18" charset="0"/>
                <a:cs typeface="Times New Roman" panose="02020603050405020304" pitchFamily="18" charset="0"/>
              </a:rPr>
              <a:t>受控于基带调制信号正比变化，则产生</a:t>
            </a:r>
            <a:r>
              <a:rPr lang="zh-CN" altLang="en-US" b="1" dirty="0">
                <a:solidFill>
                  <a:srgbClr val="FF3300"/>
                </a:solidFill>
                <a:latin typeface="Times New Roman" panose="02020603050405020304" pitchFamily="18" charset="0"/>
                <a:cs typeface="Times New Roman" panose="02020603050405020304" pitchFamily="18" charset="0"/>
              </a:rPr>
              <a:t>幅度调制</a:t>
            </a:r>
            <a:r>
              <a:rPr lang="en-US" altLang="zh-CN" b="1" dirty="0">
                <a:solidFill>
                  <a:srgbClr val="FF3300"/>
                </a:solidFill>
                <a:latin typeface="Times New Roman" panose="02020603050405020304" pitchFamily="18" charset="0"/>
                <a:cs typeface="Times New Roman" panose="02020603050405020304" pitchFamily="18" charset="0"/>
              </a:rPr>
              <a:t>AM</a:t>
            </a:r>
            <a:r>
              <a:rPr lang="zh-CN" altLang="en-US" b="1" dirty="0">
                <a:latin typeface="Times New Roman" panose="02020603050405020304" pitchFamily="18" charset="0"/>
                <a:cs typeface="Times New Roman" panose="02020603050405020304" pitchFamily="18" charset="0"/>
              </a:rPr>
              <a:t>，其中载波的角频率</a:t>
            </a:r>
            <a:r>
              <a:rPr lang="el-GR" altLang="en-US" b="1" i="1" dirty="0" smtClean="0">
                <a:solidFill>
                  <a:srgbClr val="009900"/>
                </a:solidFill>
                <a:latin typeface="Times New Roman" panose="02020603050405020304" pitchFamily="18" charset="0"/>
                <a:ea typeface="Arial Unicode MS" panose="020B0604020202020204" pitchFamily="34" charset="-128"/>
                <a:cs typeface="Times New Roman" panose="02020603050405020304" pitchFamily="18" charset="0"/>
              </a:rPr>
              <a:t>ω</a:t>
            </a:r>
            <a:r>
              <a:rPr lang="zh-CN" altLang="en-US" b="1" dirty="0" smtClean="0">
                <a:latin typeface="Times New Roman" panose="02020603050405020304" pitchFamily="18" charset="0"/>
                <a:cs typeface="Times New Roman" panose="02020603050405020304" pitchFamily="18" charset="0"/>
              </a:rPr>
              <a:t>和</a:t>
            </a:r>
            <a:r>
              <a:rPr lang="zh-CN" altLang="en-US" b="1" dirty="0">
                <a:latin typeface="Times New Roman" panose="02020603050405020304" pitchFamily="18" charset="0"/>
                <a:cs typeface="Times New Roman" panose="02020603050405020304" pitchFamily="18" charset="0"/>
              </a:rPr>
              <a:t>相位</a:t>
            </a:r>
            <a:r>
              <a:rPr lang="el-GR" altLang="en-US" b="1" i="1" dirty="0">
                <a:solidFill>
                  <a:schemeClr val="hlink"/>
                </a:solidFill>
                <a:latin typeface="Times New Roman" panose="02020603050405020304" pitchFamily="18" charset="0"/>
                <a:ea typeface="Arial Unicode MS" panose="020B0604020202020204" pitchFamily="34" charset="-128"/>
                <a:cs typeface="Times New Roman" panose="02020603050405020304" pitchFamily="18" charset="0"/>
              </a:rPr>
              <a:t>θ</a:t>
            </a:r>
            <a:r>
              <a:rPr lang="en-US" altLang="zh-CN" b="1" i="1" dirty="0">
                <a:latin typeface="Times New Roman" panose="02020603050405020304" pitchFamily="18" charset="0"/>
                <a:ea typeface="Arial Unicode MS" panose="020B0604020202020204" pitchFamily="34" charset="-128"/>
                <a:cs typeface="Times New Roman" panose="02020603050405020304" pitchFamily="18" charset="0"/>
              </a:rPr>
              <a:t> </a:t>
            </a:r>
            <a:r>
              <a:rPr lang="zh-CN" altLang="en-US" b="1" dirty="0" smtClean="0">
                <a:latin typeface="Times New Roman" panose="02020603050405020304" pitchFamily="18" charset="0"/>
                <a:cs typeface="Times New Roman" panose="02020603050405020304" pitchFamily="18" charset="0"/>
              </a:rPr>
              <a:t>保持</a:t>
            </a:r>
            <a:r>
              <a:rPr lang="zh-CN" altLang="en-US" b="1" dirty="0">
                <a:latin typeface="Times New Roman" panose="02020603050405020304" pitchFamily="18" charset="0"/>
                <a:cs typeface="Times New Roman" panose="02020603050405020304" pitchFamily="18" charset="0"/>
              </a:rPr>
              <a:t>恒值。</a:t>
            </a:r>
          </a:p>
          <a:p>
            <a:pPr eaLnBrk="1" hangingPunct="1">
              <a:spcBef>
                <a:spcPct val="0"/>
              </a:spcBef>
              <a:buFontTx/>
              <a:buNone/>
            </a:pPr>
            <a:endParaRPr lang="zh-CN" altLang="en-US" b="1" dirty="0">
              <a:latin typeface="Times New Roman" panose="02020603050405020304" pitchFamily="18" charset="0"/>
              <a:cs typeface="Times New Roman" panose="02020603050405020304" pitchFamily="18" charset="0"/>
            </a:endParaRPr>
          </a:p>
          <a:p>
            <a:pPr eaLnBrk="1" hangingPunct="1">
              <a:spcBef>
                <a:spcPct val="0"/>
              </a:spcBef>
              <a:buFontTx/>
              <a:buNone/>
            </a:pPr>
            <a:r>
              <a:rPr lang="zh-CN" altLang="en-US" b="1" dirty="0">
                <a:latin typeface="Times New Roman" panose="02020603050405020304" pitchFamily="18" charset="0"/>
                <a:cs typeface="Times New Roman" panose="02020603050405020304" pitchFamily="18" charset="0"/>
              </a:rPr>
              <a:t>        当载波的</a:t>
            </a:r>
            <a:r>
              <a:rPr lang="zh-CN" altLang="en-US" b="1" dirty="0">
                <a:solidFill>
                  <a:srgbClr val="990000"/>
                </a:solidFill>
                <a:latin typeface="Times New Roman" panose="02020603050405020304" pitchFamily="18" charset="0"/>
                <a:cs typeface="Times New Roman" panose="02020603050405020304" pitchFamily="18" charset="0"/>
              </a:rPr>
              <a:t>角频率</a:t>
            </a:r>
            <a:r>
              <a:rPr lang="el-GR" altLang="en-US" b="1" i="1" dirty="0" smtClean="0">
                <a:solidFill>
                  <a:srgbClr val="009900"/>
                </a:solidFill>
                <a:latin typeface="Times New Roman" panose="02020603050405020304" pitchFamily="18" charset="0"/>
                <a:ea typeface="Arial Unicode MS" panose="020B0604020202020204" pitchFamily="34" charset="-128"/>
                <a:cs typeface="Times New Roman" panose="02020603050405020304" pitchFamily="18" charset="0"/>
              </a:rPr>
              <a:t>ω</a:t>
            </a:r>
            <a:r>
              <a:rPr lang="zh-CN" altLang="en-US" b="1" dirty="0" smtClean="0">
                <a:latin typeface="Times New Roman" panose="02020603050405020304" pitchFamily="18" charset="0"/>
                <a:cs typeface="Times New Roman" panose="02020603050405020304" pitchFamily="18" charset="0"/>
              </a:rPr>
              <a:t>受</a:t>
            </a:r>
            <a:r>
              <a:rPr lang="zh-CN" altLang="en-US" b="1" dirty="0">
                <a:latin typeface="Times New Roman" panose="02020603050405020304" pitchFamily="18" charset="0"/>
                <a:cs typeface="Times New Roman" panose="02020603050405020304" pitchFamily="18" charset="0"/>
              </a:rPr>
              <a:t>控于基带调制信号正比变化，则产生</a:t>
            </a:r>
            <a:r>
              <a:rPr lang="zh-CN" altLang="en-US" b="1" dirty="0">
                <a:solidFill>
                  <a:srgbClr val="FF3300"/>
                </a:solidFill>
                <a:latin typeface="Times New Roman" panose="02020603050405020304" pitchFamily="18" charset="0"/>
                <a:cs typeface="Times New Roman" panose="02020603050405020304" pitchFamily="18" charset="0"/>
              </a:rPr>
              <a:t>频率调制</a:t>
            </a:r>
            <a:r>
              <a:rPr lang="en-US" altLang="zh-CN" b="1" dirty="0">
                <a:solidFill>
                  <a:srgbClr val="FF3300"/>
                </a:solidFill>
                <a:latin typeface="Times New Roman" panose="02020603050405020304" pitchFamily="18" charset="0"/>
                <a:cs typeface="Times New Roman" panose="02020603050405020304" pitchFamily="18" charset="0"/>
              </a:rPr>
              <a:t>FM</a:t>
            </a:r>
            <a:r>
              <a:rPr lang="zh-CN" altLang="en-US" b="1" dirty="0">
                <a:latin typeface="Times New Roman" panose="02020603050405020304" pitchFamily="18" charset="0"/>
                <a:cs typeface="Times New Roman" panose="02020603050405020304" pitchFamily="18" charset="0"/>
              </a:rPr>
              <a:t>。该调制</a:t>
            </a:r>
            <a:r>
              <a:rPr lang="en-US" altLang="zh-CN" b="1" dirty="0">
                <a:solidFill>
                  <a:srgbClr val="FF3300"/>
                </a:solidFill>
                <a:latin typeface="Times New Roman" panose="02020603050405020304" pitchFamily="18" charset="0"/>
                <a:cs typeface="Times New Roman" panose="02020603050405020304" pitchFamily="18" charset="0"/>
              </a:rPr>
              <a:t>FM</a:t>
            </a:r>
            <a:r>
              <a:rPr lang="zh-CN" altLang="en-US" b="1" dirty="0">
                <a:latin typeface="Times New Roman" panose="02020603050405020304" pitchFamily="18" charset="0"/>
                <a:cs typeface="Times New Roman" panose="02020603050405020304" pitchFamily="18" charset="0"/>
              </a:rPr>
              <a:t>波的幅度</a:t>
            </a:r>
            <a:r>
              <a:rPr lang="en-US" altLang="zh-CN" b="1" i="1" dirty="0">
                <a:solidFill>
                  <a:srgbClr val="FF3399"/>
                </a:solidFill>
                <a:latin typeface="Times New Roman" panose="02020603050405020304" pitchFamily="18" charset="0"/>
                <a:cs typeface="Times New Roman" panose="02020603050405020304" pitchFamily="18" charset="0"/>
              </a:rPr>
              <a:t>U</a:t>
            </a:r>
            <a:r>
              <a:rPr lang="en-US" altLang="zh-CN" b="1" baseline="-25000" dirty="0">
                <a:solidFill>
                  <a:srgbClr val="FF3399"/>
                </a:solidFill>
                <a:latin typeface="Times New Roman" panose="02020603050405020304" pitchFamily="18" charset="0"/>
                <a:cs typeface="Times New Roman" panose="02020603050405020304" pitchFamily="18" charset="0"/>
              </a:rPr>
              <a:t>m</a:t>
            </a:r>
            <a:r>
              <a:rPr lang="zh-CN" altLang="en-US" b="1" dirty="0">
                <a:latin typeface="Times New Roman" panose="02020603050405020304" pitchFamily="18" charset="0"/>
                <a:cs typeface="Times New Roman" panose="02020603050405020304" pitchFamily="18" charset="0"/>
              </a:rPr>
              <a:t>和相位</a:t>
            </a:r>
            <a:r>
              <a:rPr lang="el-GR" altLang="en-US" b="1" i="1" dirty="0">
                <a:solidFill>
                  <a:schemeClr val="hlink"/>
                </a:solidFill>
                <a:latin typeface="Times New Roman" panose="02020603050405020304" pitchFamily="18" charset="0"/>
                <a:ea typeface="Arial Unicode MS" panose="020B0604020202020204" pitchFamily="34" charset="-128"/>
                <a:cs typeface="Times New Roman" panose="02020603050405020304" pitchFamily="18" charset="0"/>
              </a:rPr>
              <a:t>θ</a:t>
            </a:r>
            <a:r>
              <a:rPr lang="en-US" altLang="zh-CN" b="1" i="1" dirty="0">
                <a:latin typeface="Times New Roman" panose="02020603050405020304" pitchFamily="18" charset="0"/>
                <a:ea typeface="Arial Unicode MS" panose="020B0604020202020204" pitchFamily="34" charset="-128"/>
                <a:cs typeface="Times New Roman" panose="02020603050405020304" pitchFamily="18" charset="0"/>
              </a:rPr>
              <a:t> </a:t>
            </a:r>
            <a:r>
              <a:rPr lang="zh-CN" altLang="en-US" b="1" dirty="0">
                <a:latin typeface="Times New Roman" panose="02020603050405020304" pitchFamily="18" charset="0"/>
                <a:cs typeface="Times New Roman" panose="02020603050405020304" pitchFamily="18" charset="0"/>
              </a:rPr>
              <a:t>则保持恒值。</a:t>
            </a:r>
          </a:p>
          <a:p>
            <a:pPr eaLnBrk="1" hangingPunct="1">
              <a:spcBef>
                <a:spcPct val="0"/>
              </a:spcBef>
              <a:buFontTx/>
              <a:buNone/>
            </a:pPr>
            <a:r>
              <a:rPr lang="zh-CN" altLang="en-US" b="1" dirty="0">
                <a:latin typeface="Times New Roman" panose="02020603050405020304" pitchFamily="18" charset="0"/>
                <a:cs typeface="Times New Roman" panose="02020603050405020304" pitchFamily="18" charset="0"/>
              </a:rPr>
              <a:t>        </a:t>
            </a:r>
          </a:p>
          <a:p>
            <a:pPr eaLnBrk="1" hangingPunct="1">
              <a:spcBef>
                <a:spcPct val="0"/>
              </a:spcBef>
              <a:buFontTx/>
              <a:buNone/>
            </a:pPr>
            <a:r>
              <a:rPr lang="zh-CN" altLang="en-US" b="1" dirty="0">
                <a:solidFill>
                  <a:srgbClr val="000000"/>
                </a:solidFill>
                <a:latin typeface="Times New Roman" panose="02020603050405020304" pitchFamily="18" charset="0"/>
                <a:cs typeface="Times New Roman" panose="02020603050405020304" pitchFamily="18" charset="0"/>
              </a:rPr>
              <a:t>        当载波的</a:t>
            </a:r>
            <a:r>
              <a:rPr lang="zh-CN" altLang="en-US" b="1" dirty="0">
                <a:solidFill>
                  <a:srgbClr val="990000"/>
                </a:solidFill>
                <a:latin typeface="Times New Roman" panose="02020603050405020304" pitchFamily="18" charset="0"/>
                <a:cs typeface="Times New Roman" panose="02020603050405020304" pitchFamily="18" charset="0"/>
              </a:rPr>
              <a:t>相位</a:t>
            </a:r>
            <a:r>
              <a:rPr lang="el-GR" altLang="en-US" b="1" i="1" dirty="0">
                <a:solidFill>
                  <a:schemeClr val="hlink"/>
                </a:solidFill>
                <a:latin typeface="Times New Roman" panose="02020603050405020304" pitchFamily="18" charset="0"/>
                <a:ea typeface="Arial Unicode MS" panose="020B0604020202020204" pitchFamily="34" charset="-128"/>
                <a:cs typeface="Times New Roman" panose="02020603050405020304" pitchFamily="18" charset="0"/>
              </a:rPr>
              <a:t>θ</a:t>
            </a:r>
            <a:r>
              <a:rPr lang="en-US" altLang="zh-CN" b="1" i="1" dirty="0">
                <a:latin typeface="Times New Roman" panose="02020603050405020304" pitchFamily="18" charset="0"/>
                <a:ea typeface="Arial Unicode MS" panose="020B0604020202020204" pitchFamily="34" charset="-128"/>
                <a:cs typeface="Times New Roman" panose="02020603050405020304" pitchFamily="18" charset="0"/>
              </a:rPr>
              <a:t> </a:t>
            </a:r>
            <a:r>
              <a:rPr lang="zh-CN" altLang="en-US" b="1" dirty="0">
                <a:latin typeface="Times New Roman" panose="02020603050405020304" pitchFamily="18" charset="0"/>
                <a:cs typeface="Times New Roman" panose="02020603050405020304" pitchFamily="18" charset="0"/>
              </a:rPr>
              <a:t>受控于基带调制相位正比变化时，则产生</a:t>
            </a:r>
            <a:r>
              <a:rPr lang="zh-CN" altLang="en-US" b="1" dirty="0">
                <a:solidFill>
                  <a:srgbClr val="FF3300"/>
                </a:solidFill>
                <a:latin typeface="Times New Roman" panose="02020603050405020304" pitchFamily="18" charset="0"/>
                <a:cs typeface="Times New Roman" panose="02020603050405020304" pitchFamily="18" charset="0"/>
              </a:rPr>
              <a:t>相位调制</a:t>
            </a:r>
            <a:r>
              <a:rPr lang="en-US" altLang="zh-CN" b="1" dirty="0">
                <a:solidFill>
                  <a:srgbClr val="FF3300"/>
                </a:solidFill>
                <a:latin typeface="Times New Roman" panose="02020603050405020304" pitchFamily="18" charset="0"/>
                <a:cs typeface="Times New Roman" panose="02020603050405020304" pitchFamily="18" charset="0"/>
              </a:rPr>
              <a:t>PM</a:t>
            </a:r>
            <a:r>
              <a:rPr lang="zh-CN" altLang="en-US" b="1" dirty="0">
                <a:latin typeface="Times New Roman" panose="02020603050405020304" pitchFamily="18" charset="0"/>
                <a:cs typeface="Times New Roman" panose="02020603050405020304" pitchFamily="18" charset="0"/>
              </a:rPr>
              <a:t>，此时</a:t>
            </a:r>
            <a:r>
              <a:rPr lang="en-US" altLang="zh-CN" b="1" dirty="0">
                <a:solidFill>
                  <a:srgbClr val="FF3399"/>
                </a:solidFill>
                <a:latin typeface="Times New Roman" panose="02020603050405020304" pitchFamily="18" charset="0"/>
                <a:cs typeface="Times New Roman" panose="02020603050405020304" pitchFamily="18" charset="0"/>
              </a:rPr>
              <a:t>PM</a:t>
            </a:r>
            <a:r>
              <a:rPr lang="zh-CN" altLang="en-US" b="1" dirty="0">
                <a:latin typeface="Times New Roman" panose="02020603050405020304" pitchFamily="18" charset="0"/>
                <a:cs typeface="Times New Roman" panose="02020603050405020304" pitchFamily="18" charset="0"/>
              </a:rPr>
              <a:t>波的</a:t>
            </a:r>
            <a:r>
              <a:rPr lang="en-US" altLang="zh-CN" b="1" i="1" dirty="0">
                <a:solidFill>
                  <a:srgbClr val="FF3399"/>
                </a:solidFill>
                <a:latin typeface="Times New Roman" panose="02020603050405020304" pitchFamily="18" charset="0"/>
                <a:cs typeface="Times New Roman" panose="02020603050405020304" pitchFamily="18" charset="0"/>
              </a:rPr>
              <a:t>U</a:t>
            </a:r>
            <a:r>
              <a:rPr lang="en-US" altLang="zh-CN" b="1" baseline="-25000" dirty="0">
                <a:solidFill>
                  <a:srgbClr val="FF3399"/>
                </a:solidFill>
                <a:latin typeface="Times New Roman" panose="02020603050405020304" pitchFamily="18" charset="0"/>
                <a:cs typeface="Times New Roman" panose="02020603050405020304" pitchFamily="18" charset="0"/>
              </a:rPr>
              <a:t>m</a:t>
            </a:r>
            <a:r>
              <a:rPr lang="zh-CN" altLang="en-US" b="1" dirty="0">
                <a:latin typeface="Times New Roman" panose="02020603050405020304" pitchFamily="18" charset="0"/>
                <a:cs typeface="Times New Roman" panose="02020603050405020304" pitchFamily="18" charset="0"/>
              </a:rPr>
              <a:t>和</a:t>
            </a:r>
            <a:r>
              <a:rPr lang="en-US" altLang="zh-CN" b="1" i="1" dirty="0">
                <a:solidFill>
                  <a:srgbClr val="009900"/>
                </a:solidFill>
                <a:latin typeface="Times New Roman" panose="02020603050405020304" pitchFamily="18" charset="0"/>
                <a:cs typeface="Times New Roman" panose="02020603050405020304" pitchFamily="18" charset="0"/>
              </a:rPr>
              <a:t>ω</a:t>
            </a:r>
            <a:r>
              <a:rPr lang="zh-CN" altLang="en-US" b="1" dirty="0">
                <a:solidFill>
                  <a:srgbClr val="000000"/>
                </a:solidFill>
                <a:latin typeface="Times New Roman" panose="02020603050405020304" pitchFamily="18" charset="0"/>
                <a:cs typeface="Times New Roman" panose="02020603050405020304" pitchFamily="18" charset="0"/>
              </a:rPr>
              <a:t>也将保持不变。</a:t>
            </a:r>
            <a:endParaRPr lang="el-GR" altLang="en-US" b="1" i="1" dirty="0">
              <a:latin typeface="Times New Roman" panose="02020603050405020304" pitchFamily="18" charset="0"/>
              <a:ea typeface="Arial Unicode MS" panose="020B0604020202020204" pitchFamily="34" charset="-128"/>
              <a:cs typeface="Times New Roman" panose="02020603050405020304" pitchFamily="18" charset="0"/>
            </a:endParaRPr>
          </a:p>
          <a:p>
            <a:pPr eaLnBrk="1" hangingPunct="1">
              <a:spcBef>
                <a:spcPct val="0"/>
              </a:spcBef>
              <a:buFontTx/>
              <a:buNone/>
            </a:pPr>
            <a:endParaRPr lang="en-US" altLang="zh-CN" b="1" baseline="-25000" dirty="0">
              <a:latin typeface="Times New Roman" panose="02020603050405020304" pitchFamily="18" charset="0"/>
              <a:cs typeface="Times New Roman" panose="02020603050405020304" pitchFamily="18" charset="0"/>
            </a:endParaRPr>
          </a:p>
        </p:txBody>
      </p:sp>
      <p:graphicFrame>
        <p:nvGraphicFramePr>
          <p:cNvPr id="6" name="Object 3"/>
          <p:cNvGraphicFramePr>
            <a:graphicFrameLocks noChangeAspect="1"/>
          </p:cNvGraphicFramePr>
          <p:nvPr>
            <p:extLst>
              <p:ext uri="{D42A27DB-BD31-4B8C-83A1-F6EECF244321}">
                <p14:modId xmlns:p14="http://schemas.microsoft.com/office/powerpoint/2010/main" val="1763099104"/>
              </p:ext>
            </p:extLst>
          </p:nvPr>
        </p:nvGraphicFramePr>
        <p:xfrm>
          <a:off x="2981228" y="1632566"/>
          <a:ext cx="3036437" cy="469719"/>
        </p:xfrm>
        <a:graphic>
          <a:graphicData uri="http://schemas.openxmlformats.org/presentationml/2006/ole">
            <mc:AlternateContent xmlns:mc="http://schemas.openxmlformats.org/markup-compatibility/2006">
              <mc:Choice xmlns:v="urn:schemas-microsoft-com:vml" Requires="v">
                <p:oleObj spid="_x0000_s3132" r:id="rId3" imgW="1289979" imgH="174171" progId="">
                  <p:embed/>
                </p:oleObj>
              </mc:Choice>
              <mc:Fallback>
                <p:oleObj r:id="rId3" imgW="1289979" imgH="174171" progId="">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81228" y="1632566"/>
                        <a:ext cx="3036437" cy="469719"/>
                      </a:xfrm>
                      <a:prstGeom prst="rect">
                        <a:avLst/>
                      </a:prstGeom>
                      <a:noFill/>
                      <a:ln>
                        <a:noFill/>
                      </a:ln>
                      <a:extLst/>
                    </p:spPr>
                  </p:pic>
                </p:oleObj>
              </mc:Fallback>
            </mc:AlternateContent>
          </a:graphicData>
        </a:graphic>
      </p:graphicFrame>
    </p:spTree>
    <p:extLst>
      <p:ext uri="{BB962C8B-B14F-4D97-AF65-F5344CB8AC3E}">
        <p14:creationId xmlns:p14="http://schemas.microsoft.com/office/powerpoint/2010/main" val="371362914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16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1.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概论</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Rectangle 4"/>
          <p:cNvSpPr>
            <a:spLocks noChangeArrowheads="1"/>
          </p:cNvSpPr>
          <p:nvPr/>
        </p:nvSpPr>
        <p:spPr bwMode="auto">
          <a:xfrm>
            <a:off x="333729" y="1960487"/>
            <a:ext cx="8351837" cy="4200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5000"/>
              </a:lnSpc>
              <a:spcBef>
                <a:spcPct val="0"/>
              </a:spcBef>
              <a:buFontTx/>
              <a:buNone/>
            </a:pPr>
            <a:r>
              <a:rPr lang="en-US" altLang="zh-CN" b="1" dirty="0">
                <a:latin typeface="Times New Roman" panose="02020603050405020304" pitchFamily="18" charset="0"/>
                <a:cs typeface="Times New Roman" panose="02020603050405020304" pitchFamily="18" charset="0"/>
              </a:rPr>
              <a:t>         </a:t>
            </a:r>
            <a:r>
              <a:rPr lang="zh-CN" altLang="en-US" b="1" dirty="0">
                <a:latin typeface="Times New Roman" panose="02020603050405020304" pitchFamily="18" charset="0"/>
                <a:cs typeface="Times New Roman" panose="02020603050405020304" pitchFamily="18" charset="0"/>
              </a:rPr>
              <a:t>如果基带调制信号是</a:t>
            </a:r>
            <a:r>
              <a:rPr lang="zh-CN" altLang="en-US" b="1" dirty="0">
                <a:solidFill>
                  <a:srgbClr val="990099"/>
                </a:solidFill>
                <a:latin typeface="Times New Roman" panose="02020603050405020304" pitchFamily="18" charset="0"/>
                <a:cs typeface="Times New Roman" panose="02020603050405020304" pitchFamily="18" charset="0"/>
              </a:rPr>
              <a:t>数字的</a:t>
            </a:r>
            <a:r>
              <a:rPr lang="zh-CN" altLang="en-US" b="1" dirty="0">
                <a:solidFill>
                  <a:srgbClr val="000000"/>
                </a:solidFill>
                <a:latin typeface="Times New Roman" panose="02020603050405020304" pitchFamily="18" charset="0"/>
                <a:cs typeface="Times New Roman" panose="02020603050405020304" pitchFamily="18" charset="0"/>
              </a:rPr>
              <a:t>，</a:t>
            </a:r>
            <a:r>
              <a:rPr lang="zh-CN" altLang="en-US" b="1" dirty="0">
                <a:latin typeface="Times New Roman" panose="02020603050405020304" pitchFamily="18" charset="0"/>
                <a:cs typeface="Times New Roman" panose="02020603050405020304" pitchFamily="18" charset="0"/>
              </a:rPr>
              <a:t>且载波的</a:t>
            </a:r>
            <a:r>
              <a:rPr lang="zh-CN" altLang="en-US" b="1" dirty="0">
                <a:solidFill>
                  <a:srgbClr val="990000"/>
                </a:solidFill>
                <a:latin typeface="Times New Roman" panose="02020603050405020304" pitchFamily="18" charset="0"/>
                <a:cs typeface="Times New Roman" panose="02020603050405020304" pitchFamily="18" charset="0"/>
              </a:rPr>
              <a:t>幅度</a:t>
            </a:r>
            <a:r>
              <a:rPr lang="en-US" altLang="zh-CN" b="1" i="1" dirty="0">
                <a:solidFill>
                  <a:srgbClr val="FF3399"/>
                </a:solidFill>
                <a:latin typeface="Times New Roman" panose="02020603050405020304" pitchFamily="18" charset="0"/>
                <a:cs typeface="Times New Roman" panose="02020603050405020304" pitchFamily="18" charset="0"/>
              </a:rPr>
              <a:t>U</a:t>
            </a:r>
            <a:r>
              <a:rPr lang="en-US" altLang="zh-CN" b="1" baseline="-25000" dirty="0">
                <a:solidFill>
                  <a:srgbClr val="FF3399"/>
                </a:solidFill>
                <a:latin typeface="Times New Roman" panose="02020603050405020304" pitchFamily="18" charset="0"/>
                <a:cs typeface="Times New Roman" panose="02020603050405020304" pitchFamily="18" charset="0"/>
              </a:rPr>
              <a:t>m </a:t>
            </a:r>
            <a:r>
              <a:rPr lang="zh-CN" altLang="en-US" b="1" dirty="0">
                <a:latin typeface="Times New Roman" panose="02020603050405020304" pitchFamily="18" charset="0"/>
              </a:rPr>
              <a:t>随数字基带信号</a:t>
            </a:r>
            <a:r>
              <a:rPr lang="en-US" altLang="zh-CN" b="1" i="1" dirty="0">
                <a:solidFill>
                  <a:schemeClr val="hlink"/>
                </a:solidFill>
                <a:latin typeface="Times New Roman" panose="02020603050405020304" pitchFamily="18" charset="0"/>
              </a:rPr>
              <a:t>m</a:t>
            </a:r>
            <a:r>
              <a:rPr lang="en-US" altLang="zh-CN" b="1" dirty="0">
                <a:solidFill>
                  <a:schemeClr val="hlink"/>
                </a:solidFill>
                <a:latin typeface="Times New Roman" panose="02020603050405020304" pitchFamily="18" charset="0"/>
              </a:rPr>
              <a:t>(</a:t>
            </a:r>
            <a:r>
              <a:rPr lang="en-US" altLang="zh-CN" b="1" i="1" dirty="0">
                <a:solidFill>
                  <a:schemeClr val="hlink"/>
                </a:solidFill>
                <a:latin typeface="Times New Roman" panose="02020603050405020304" pitchFamily="18" charset="0"/>
              </a:rPr>
              <a:t>t</a:t>
            </a:r>
            <a:r>
              <a:rPr lang="en-US" altLang="zh-CN" b="1" dirty="0">
                <a:solidFill>
                  <a:schemeClr val="hlink"/>
                </a:solidFill>
                <a:latin typeface="Times New Roman" panose="02020603050405020304" pitchFamily="18" charset="0"/>
              </a:rPr>
              <a:t>)</a:t>
            </a:r>
            <a:r>
              <a:rPr lang="en-US" altLang="zh-CN" b="1" dirty="0">
                <a:latin typeface="Times New Roman" panose="02020603050405020304" pitchFamily="18" charset="0"/>
              </a:rPr>
              <a:t> </a:t>
            </a:r>
            <a:r>
              <a:rPr lang="zh-CN" altLang="en-US" b="1" dirty="0">
                <a:latin typeface="Times New Roman" panose="02020603050405020304" pitchFamily="18" charset="0"/>
              </a:rPr>
              <a:t>正比变化，则产生的数字已调信号称为</a:t>
            </a:r>
            <a:r>
              <a:rPr lang="zh-CN" altLang="en-US" b="1" dirty="0">
                <a:solidFill>
                  <a:srgbClr val="FF3300"/>
                </a:solidFill>
                <a:latin typeface="Times New Roman" panose="02020603050405020304" pitchFamily="18" charset="0"/>
              </a:rPr>
              <a:t>移幅键控</a:t>
            </a:r>
            <a:r>
              <a:rPr lang="en-US" altLang="zh-CN" b="1" dirty="0">
                <a:solidFill>
                  <a:srgbClr val="FF3300"/>
                </a:solidFill>
                <a:latin typeface="Times New Roman" panose="02020603050405020304" pitchFamily="18" charset="0"/>
              </a:rPr>
              <a:t>ASK</a:t>
            </a:r>
            <a:r>
              <a:rPr lang="zh-CN" altLang="en-US" b="1" dirty="0">
                <a:latin typeface="Times New Roman" panose="02020603050405020304" pitchFamily="18" charset="0"/>
              </a:rPr>
              <a:t>信号</a:t>
            </a:r>
            <a:r>
              <a:rPr lang="zh-CN" altLang="en-US" b="1" dirty="0" smtClean="0">
                <a:latin typeface="Times New Roman" panose="02020603050405020304" pitchFamily="18" charset="0"/>
              </a:rPr>
              <a:t>。</a:t>
            </a:r>
            <a:endParaRPr lang="zh-CN" altLang="en-US" b="1" dirty="0">
              <a:latin typeface="Times New Roman" panose="02020603050405020304" pitchFamily="18" charset="0"/>
            </a:endParaRPr>
          </a:p>
          <a:p>
            <a:pPr eaLnBrk="1" hangingPunct="1">
              <a:lnSpc>
                <a:spcPct val="125000"/>
              </a:lnSpc>
              <a:spcBef>
                <a:spcPct val="0"/>
              </a:spcBef>
              <a:buFontTx/>
              <a:buNone/>
            </a:pPr>
            <a:r>
              <a:rPr lang="zh-CN" altLang="en-US" b="1" dirty="0">
                <a:latin typeface="Times New Roman" panose="02020603050405020304" pitchFamily="18" charset="0"/>
              </a:rPr>
              <a:t>         若载波的</a:t>
            </a:r>
            <a:r>
              <a:rPr lang="zh-CN" altLang="en-US" b="1" dirty="0">
                <a:solidFill>
                  <a:srgbClr val="CC3300"/>
                </a:solidFill>
                <a:latin typeface="Times New Roman" panose="02020603050405020304" pitchFamily="18" charset="0"/>
              </a:rPr>
              <a:t>角</a:t>
            </a:r>
            <a:r>
              <a:rPr lang="zh-CN" altLang="en-US" b="1" dirty="0">
                <a:solidFill>
                  <a:srgbClr val="990000"/>
                </a:solidFill>
                <a:latin typeface="Times New Roman" panose="02020603050405020304" pitchFamily="18" charset="0"/>
              </a:rPr>
              <a:t>频率</a:t>
            </a:r>
            <a:r>
              <a:rPr lang="en-US" altLang="zh-CN" b="1" i="1" dirty="0">
                <a:solidFill>
                  <a:srgbClr val="009900"/>
                </a:solidFill>
                <a:latin typeface="Times New Roman" panose="02020603050405020304" pitchFamily="18" charset="0"/>
              </a:rPr>
              <a:t>ω</a:t>
            </a:r>
            <a:r>
              <a:rPr lang="zh-CN" altLang="en-US" b="1" dirty="0">
                <a:latin typeface="Times New Roman" panose="02020603050405020304" pitchFamily="18" charset="0"/>
              </a:rPr>
              <a:t>正比变化，</a:t>
            </a:r>
            <a:r>
              <a:rPr lang="zh-CN" altLang="en-US" b="1" dirty="0">
                <a:solidFill>
                  <a:srgbClr val="000000"/>
                </a:solidFill>
                <a:latin typeface="Times New Roman" panose="02020603050405020304" pitchFamily="18" charset="0"/>
                <a:cs typeface="Times New Roman" panose="02020603050405020304" pitchFamily="18" charset="0"/>
              </a:rPr>
              <a:t>随</a:t>
            </a:r>
            <a:r>
              <a:rPr lang="en-US" altLang="zh-CN" b="1" i="1" dirty="0">
                <a:solidFill>
                  <a:schemeClr val="hlink"/>
                </a:solidFill>
                <a:latin typeface="Times New Roman" panose="02020603050405020304" pitchFamily="18" charset="0"/>
                <a:cs typeface="Times New Roman" panose="02020603050405020304" pitchFamily="18" charset="0"/>
              </a:rPr>
              <a:t>m</a:t>
            </a:r>
            <a:r>
              <a:rPr lang="en-US" altLang="zh-CN" b="1" dirty="0">
                <a:solidFill>
                  <a:schemeClr val="hlink"/>
                </a:solidFill>
                <a:latin typeface="Times New Roman" panose="02020603050405020304" pitchFamily="18" charset="0"/>
                <a:cs typeface="Times New Roman" panose="02020603050405020304" pitchFamily="18" charset="0"/>
              </a:rPr>
              <a:t>(</a:t>
            </a:r>
            <a:r>
              <a:rPr lang="en-US" altLang="zh-CN" b="1" i="1" dirty="0">
                <a:solidFill>
                  <a:schemeClr val="hlink"/>
                </a:solidFill>
                <a:latin typeface="Times New Roman" panose="02020603050405020304" pitchFamily="18" charset="0"/>
                <a:cs typeface="Times New Roman" panose="02020603050405020304" pitchFamily="18" charset="0"/>
              </a:rPr>
              <a:t>t</a:t>
            </a:r>
            <a:r>
              <a:rPr lang="en-US" altLang="zh-CN" b="1" dirty="0">
                <a:solidFill>
                  <a:schemeClr val="hlink"/>
                </a:solidFill>
                <a:latin typeface="Times New Roman" panose="02020603050405020304" pitchFamily="18" charset="0"/>
                <a:cs typeface="Times New Roman" panose="02020603050405020304" pitchFamily="18" charset="0"/>
              </a:rPr>
              <a:t>)</a:t>
            </a:r>
            <a:r>
              <a:rPr lang="en-US" altLang="zh-CN" b="1" dirty="0">
                <a:solidFill>
                  <a:srgbClr val="000000"/>
                </a:solidFill>
                <a:latin typeface="Times New Roman" panose="02020603050405020304" pitchFamily="18" charset="0"/>
                <a:cs typeface="Times New Roman" panose="02020603050405020304" pitchFamily="18" charset="0"/>
              </a:rPr>
              <a:t> </a:t>
            </a:r>
            <a:r>
              <a:rPr lang="zh-CN" altLang="en-US" b="1" dirty="0">
                <a:solidFill>
                  <a:srgbClr val="000000"/>
                </a:solidFill>
                <a:latin typeface="Times New Roman" panose="02020603050405020304" pitchFamily="18" charset="0"/>
                <a:cs typeface="Times New Roman" panose="02020603050405020304" pitchFamily="18" charset="0"/>
              </a:rPr>
              <a:t>正比变化，则产生的已调信号为</a:t>
            </a:r>
            <a:r>
              <a:rPr lang="zh-CN" altLang="en-US" b="1" dirty="0">
                <a:solidFill>
                  <a:srgbClr val="FF3300"/>
                </a:solidFill>
                <a:latin typeface="Times New Roman" panose="02020603050405020304" pitchFamily="18" charset="0"/>
                <a:cs typeface="Times New Roman" panose="02020603050405020304" pitchFamily="18" charset="0"/>
              </a:rPr>
              <a:t>移频键控</a:t>
            </a:r>
            <a:r>
              <a:rPr lang="en-US" altLang="zh-CN" b="1" dirty="0">
                <a:solidFill>
                  <a:srgbClr val="FF3300"/>
                </a:solidFill>
                <a:latin typeface="Times New Roman" panose="02020603050405020304" pitchFamily="18" charset="0"/>
                <a:cs typeface="Times New Roman" panose="02020603050405020304" pitchFamily="18" charset="0"/>
              </a:rPr>
              <a:t>FSK</a:t>
            </a:r>
            <a:r>
              <a:rPr lang="zh-CN" altLang="en-US" b="1" dirty="0">
                <a:solidFill>
                  <a:srgbClr val="000000"/>
                </a:solidFill>
                <a:latin typeface="Times New Roman" panose="02020603050405020304" pitchFamily="18" charset="0"/>
                <a:cs typeface="Times New Roman" panose="02020603050405020304" pitchFamily="18" charset="0"/>
              </a:rPr>
              <a:t>信号</a:t>
            </a:r>
            <a:r>
              <a:rPr lang="zh-CN" altLang="en-US" b="1" dirty="0" smtClean="0">
                <a:solidFill>
                  <a:srgbClr val="000000"/>
                </a:solidFill>
                <a:latin typeface="Times New Roman" panose="02020603050405020304" pitchFamily="18" charset="0"/>
                <a:cs typeface="Times New Roman" panose="02020603050405020304" pitchFamily="18" charset="0"/>
              </a:rPr>
              <a:t>。</a:t>
            </a:r>
            <a:endParaRPr lang="zh-CN" altLang="en-US" b="1" dirty="0">
              <a:solidFill>
                <a:srgbClr val="000000"/>
              </a:solidFill>
              <a:latin typeface="Times New Roman" panose="02020603050405020304" pitchFamily="18" charset="0"/>
              <a:cs typeface="Times New Roman" panose="02020603050405020304" pitchFamily="18" charset="0"/>
            </a:endParaRPr>
          </a:p>
          <a:p>
            <a:pPr eaLnBrk="1" hangingPunct="1">
              <a:lnSpc>
                <a:spcPct val="125000"/>
              </a:lnSpc>
              <a:spcBef>
                <a:spcPct val="0"/>
              </a:spcBef>
              <a:buFontTx/>
              <a:buNone/>
            </a:pPr>
            <a:r>
              <a:rPr lang="zh-CN" altLang="en-US" b="1" dirty="0">
                <a:solidFill>
                  <a:srgbClr val="000000"/>
                </a:solidFill>
                <a:latin typeface="Times New Roman" panose="02020603050405020304" pitchFamily="18" charset="0"/>
                <a:cs typeface="Times New Roman" panose="02020603050405020304" pitchFamily="18" charset="0"/>
              </a:rPr>
              <a:t>         若载波的</a:t>
            </a:r>
            <a:r>
              <a:rPr lang="zh-CN" altLang="en-US" b="1" dirty="0">
                <a:solidFill>
                  <a:srgbClr val="990000"/>
                </a:solidFill>
                <a:latin typeface="Times New Roman" panose="02020603050405020304" pitchFamily="18" charset="0"/>
                <a:cs typeface="Times New Roman" panose="02020603050405020304" pitchFamily="18" charset="0"/>
              </a:rPr>
              <a:t>相位</a:t>
            </a:r>
            <a:r>
              <a:rPr lang="zh-CN" altLang="en-US" b="1" dirty="0">
                <a:solidFill>
                  <a:srgbClr val="000000"/>
                </a:solidFill>
                <a:latin typeface="Times New Roman" panose="02020603050405020304" pitchFamily="18" charset="0"/>
                <a:cs typeface="Times New Roman" panose="02020603050405020304" pitchFamily="18" charset="0"/>
              </a:rPr>
              <a:t>随</a:t>
            </a:r>
            <a:r>
              <a:rPr lang="en-US" altLang="zh-CN" b="1" i="1" dirty="0">
                <a:solidFill>
                  <a:schemeClr val="hlink"/>
                </a:solidFill>
                <a:latin typeface="Times New Roman" panose="02020603050405020304" pitchFamily="18" charset="0"/>
                <a:cs typeface="Times New Roman" panose="02020603050405020304" pitchFamily="18" charset="0"/>
              </a:rPr>
              <a:t>m</a:t>
            </a:r>
            <a:r>
              <a:rPr lang="en-US" altLang="zh-CN" b="1" dirty="0">
                <a:solidFill>
                  <a:schemeClr val="hlink"/>
                </a:solidFill>
                <a:latin typeface="Times New Roman" panose="02020603050405020304" pitchFamily="18" charset="0"/>
                <a:cs typeface="Times New Roman" panose="02020603050405020304" pitchFamily="18" charset="0"/>
              </a:rPr>
              <a:t>(</a:t>
            </a:r>
            <a:r>
              <a:rPr lang="en-US" altLang="zh-CN" b="1" i="1" dirty="0">
                <a:solidFill>
                  <a:schemeClr val="hlink"/>
                </a:solidFill>
                <a:latin typeface="Times New Roman" panose="02020603050405020304" pitchFamily="18" charset="0"/>
                <a:cs typeface="Times New Roman" panose="02020603050405020304" pitchFamily="18" charset="0"/>
              </a:rPr>
              <a:t>t</a:t>
            </a:r>
            <a:r>
              <a:rPr lang="en-US" altLang="zh-CN" b="1" dirty="0">
                <a:solidFill>
                  <a:schemeClr val="hlink"/>
                </a:solidFill>
                <a:latin typeface="Times New Roman" panose="02020603050405020304" pitchFamily="18" charset="0"/>
                <a:cs typeface="Times New Roman" panose="02020603050405020304" pitchFamily="18" charset="0"/>
              </a:rPr>
              <a:t>)</a:t>
            </a:r>
            <a:r>
              <a:rPr lang="en-US" altLang="zh-CN" b="1" dirty="0">
                <a:solidFill>
                  <a:srgbClr val="000000"/>
                </a:solidFill>
                <a:latin typeface="Times New Roman" panose="02020603050405020304" pitchFamily="18" charset="0"/>
                <a:cs typeface="Times New Roman" panose="02020603050405020304" pitchFamily="18" charset="0"/>
              </a:rPr>
              <a:t> </a:t>
            </a:r>
            <a:r>
              <a:rPr lang="zh-CN" altLang="en-US" b="1" dirty="0">
                <a:solidFill>
                  <a:srgbClr val="000000"/>
                </a:solidFill>
                <a:latin typeface="Times New Roman" panose="02020603050405020304" pitchFamily="18" charset="0"/>
                <a:cs typeface="Times New Roman" panose="02020603050405020304" pitchFamily="18" charset="0"/>
              </a:rPr>
              <a:t>正比变化，则产生的已调信号是</a:t>
            </a:r>
            <a:r>
              <a:rPr lang="zh-CN" altLang="en-US" b="1" dirty="0">
                <a:solidFill>
                  <a:srgbClr val="FF3300"/>
                </a:solidFill>
                <a:latin typeface="Times New Roman" panose="02020603050405020304" pitchFamily="18" charset="0"/>
                <a:cs typeface="Times New Roman" panose="02020603050405020304" pitchFamily="18" charset="0"/>
              </a:rPr>
              <a:t>移相键控</a:t>
            </a:r>
            <a:r>
              <a:rPr lang="en-US" altLang="zh-CN" b="1" dirty="0">
                <a:solidFill>
                  <a:srgbClr val="FF3300"/>
                </a:solidFill>
                <a:latin typeface="Times New Roman" panose="02020603050405020304" pitchFamily="18" charset="0"/>
                <a:cs typeface="Times New Roman" panose="02020603050405020304" pitchFamily="18" charset="0"/>
              </a:rPr>
              <a:t>PSK</a:t>
            </a:r>
            <a:r>
              <a:rPr lang="zh-CN" altLang="en-US" b="1" dirty="0">
                <a:solidFill>
                  <a:srgbClr val="000000"/>
                </a:solidFill>
                <a:latin typeface="Times New Roman" panose="02020603050405020304" pitchFamily="18" charset="0"/>
                <a:cs typeface="Times New Roman" panose="02020603050405020304" pitchFamily="18" charset="0"/>
              </a:rPr>
              <a:t>信号</a:t>
            </a:r>
            <a:r>
              <a:rPr lang="zh-CN" altLang="en-US" b="1" dirty="0" smtClean="0">
                <a:solidFill>
                  <a:srgbClr val="000000"/>
                </a:solidFill>
                <a:latin typeface="Times New Roman" panose="02020603050405020304" pitchFamily="18" charset="0"/>
                <a:cs typeface="Times New Roman" panose="02020603050405020304" pitchFamily="18" charset="0"/>
              </a:rPr>
              <a:t>。</a:t>
            </a:r>
            <a:endParaRPr lang="zh-CN" altLang="en-US" b="1" dirty="0">
              <a:solidFill>
                <a:srgbClr val="000000"/>
              </a:solidFill>
              <a:latin typeface="Times New Roman" panose="02020603050405020304" pitchFamily="18" charset="0"/>
              <a:cs typeface="Times New Roman" panose="02020603050405020304" pitchFamily="18" charset="0"/>
            </a:endParaRPr>
          </a:p>
          <a:p>
            <a:pPr eaLnBrk="1" hangingPunct="1">
              <a:lnSpc>
                <a:spcPct val="125000"/>
              </a:lnSpc>
              <a:spcBef>
                <a:spcPct val="0"/>
              </a:spcBef>
              <a:buFontTx/>
              <a:buNone/>
            </a:pPr>
            <a:r>
              <a:rPr lang="zh-CN" altLang="en-US" b="1" dirty="0">
                <a:solidFill>
                  <a:srgbClr val="000000"/>
                </a:solidFill>
                <a:latin typeface="Times New Roman" panose="02020603050405020304" pitchFamily="18" charset="0"/>
                <a:cs typeface="Times New Roman" panose="02020603050405020304" pitchFamily="18" charset="0"/>
              </a:rPr>
              <a:t>         如果载频的</a:t>
            </a:r>
            <a:r>
              <a:rPr lang="zh-CN" altLang="en-US" b="1" dirty="0">
                <a:solidFill>
                  <a:srgbClr val="990000"/>
                </a:solidFill>
                <a:latin typeface="Times New Roman" panose="02020603050405020304" pitchFamily="18" charset="0"/>
                <a:cs typeface="Times New Roman" panose="02020603050405020304" pitchFamily="18" charset="0"/>
              </a:rPr>
              <a:t>幅度</a:t>
            </a:r>
            <a:r>
              <a:rPr lang="zh-CN" altLang="en-US" b="1" dirty="0">
                <a:solidFill>
                  <a:srgbClr val="000000"/>
                </a:solidFill>
                <a:latin typeface="Times New Roman" panose="02020603050405020304" pitchFamily="18" charset="0"/>
                <a:cs typeface="Times New Roman" panose="02020603050405020304" pitchFamily="18" charset="0"/>
              </a:rPr>
              <a:t>和</a:t>
            </a:r>
            <a:r>
              <a:rPr lang="zh-CN" altLang="en-US" b="1" dirty="0">
                <a:solidFill>
                  <a:srgbClr val="990000"/>
                </a:solidFill>
                <a:latin typeface="Times New Roman" panose="02020603050405020304" pitchFamily="18" charset="0"/>
                <a:cs typeface="Times New Roman" panose="02020603050405020304" pitchFamily="18" charset="0"/>
              </a:rPr>
              <a:t>相位</a:t>
            </a:r>
            <a:r>
              <a:rPr lang="zh-CN" altLang="en-US" b="1" dirty="0">
                <a:solidFill>
                  <a:srgbClr val="000000"/>
                </a:solidFill>
                <a:latin typeface="Times New Roman" panose="02020603050405020304" pitchFamily="18" charset="0"/>
                <a:cs typeface="Times New Roman" panose="02020603050405020304" pitchFamily="18" charset="0"/>
              </a:rPr>
              <a:t>两者随数字基带信号正比变化，则所产生的已调信号是</a:t>
            </a:r>
            <a:r>
              <a:rPr lang="zh-CN" altLang="en-US" b="1" dirty="0">
                <a:solidFill>
                  <a:srgbClr val="FF3300"/>
                </a:solidFill>
                <a:latin typeface="Times New Roman" panose="02020603050405020304" pitchFamily="18" charset="0"/>
                <a:cs typeface="Times New Roman" panose="02020603050405020304" pitchFamily="18" charset="0"/>
              </a:rPr>
              <a:t>正交幅度调制</a:t>
            </a:r>
            <a:r>
              <a:rPr lang="en-US" altLang="zh-CN" b="1" dirty="0">
                <a:solidFill>
                  <a:srgbClr val="FF3300"/>
                </a:solidFill>
                <a:latin typeface="Times New Roman" panose="02020603050405020304" pitchFamily="18" charset="0"/>
                <a:cs typeface="Times New Roman" panose="02020603050405020304" pitchFamily="18" charset="0"/>
              </a:rPr>
              <a:t>QAM</a:t>
            </a:r>
            <a:r>
              <a:rPr lang="zh-CN" altLang="en-US" b="1" dirty="0">
                <a:solidFill>
                  <a:srgbClr val="000000"/>
                </a:solidFill>
                <a:latin typeface="Times New Roman" panose="02020603050405020304" pitchFamily="18" charset="0"/>
                <a:cs typeface="Times New Roman" panose="02020603050405020304" pitchFamily="18" charset="0"/>
              </a:rPr>
              <a:t>。</a:t>
            </a:r>
            <a:r>
              <a:rPr lang="zh-CN" altLang="en-US" b="1" dirty="0">
                <a:latin typeface="Times New Roman" panose="02020603050405020304" pitchFamily="18" charset="0"/>
              </a:rPr>
              <a:t> </a:t>
            </a:r>
            <a:r>
              <a:rPr lang="zh-CN" altLang="en-US" b="1" dirty="0">
                <a:latin typeface="Times New Roman" panose="02020603050405020304" pitchFamily="18" charset="0"/>
                <a:cs typeface="Times New Roman" panose="02020603050405020304" pitchFamily="18" charset="0"/>
              </a:rPr>
              <a:t>	</a:t>
            </a:r>
          </a:p>
        </p:txBody>
      </p:sp>
      <p:graphicFrame>
        <p:nvGraphicFramePr>
          <p:cNvPr id="6" name="Object 4"/>
          <p:cNvGraphicFramePr>
            <a:graphicFrameLocks noChangeAspect="1"/>
          </p:cNvGraphicFramePr>
          <p:nvPr>
            <p:extLst>
              <p:ext uri="{D42A27DB-BD31-4B8C-83A1-F6EECF244321}">
                <p14:modId xmlns:p14="http://schemas.microsoft.com/office/powerpoint/2010/main" val="2109481620"/>
              </p:ext>
            </p:extLst>
          </p:nvPr>
        </p:nvGraphicFramePr>
        <p:xfrm>
          <a:off x="2564781" y="1434191"/>
          <a:ext cx="3402176" cy="526296"/>
        </p:xfrm>
        <a:graphic>
          <a:graphicData uri="http://schemas.openxmlformats.org/presentationml/2006/ole">
            <mc:AlternateContent xmlns:mc="http://schemas.openxmlformats.org/markup-compatibility/2006">
              <mc:Choice xmlns:v="urn:schemas-microsoft-com:vml" Requires="v">
                <p:oleObj spid="_x0000_s4156" r:id="rId3" imgW="1289979" imgH="174171" progId="">
                  <p:embed/>
                </p:oleObj>
              </mc:Choice>
              <mc:Fallback>
                <p:oleObj r:id="rId3" imgW="1289979" imgH="174171" progId="">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64781" y="1434191"/>
                        <a:ext cx="3402176" cy="526296"/>
                      </a:xfrm>
                      <a:prstGeom prst="rect">
                        <a:avLst/>
                      </a:prstGeom>
                      <a:noFill/>
                      <a:ln>
                        <a:noFill/>
                      </a:ln>
                      <a:extLst/>
                    </p:spPr>
                  </p:pic>
                </p:oleObj>
              </mc:Fallback>
            </mc:AlternateContent>
          </a:graphicData>
        </a:graphic>
      </p:graphicFrame>
    </p:spTree>
    <p:extLst>
      <p:ext uri="{BB962C8B-B14F-4D97-AF65-F5344CB8AC3E}">
        <p14:creationId xmlns:p14="http://schemas.microsoft.com/office/powerpoint/2010/main" val="232876353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17</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1.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概论</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graphicFrame>
        <p:nvGraphicFramePr>
          <p:cNvPr id="5" name="Object 4"/>
          <p:cNvGraphicFramePr>
            <a:graphicFrameLocks noChangeAspect="1"/>
          </p:cNvGraphicFramePr>
          <p:nvPr>
            <p:extLst>
              <p:ext uri="{D42A27DB-BD31-4B8C-83A1-F6EECF244321}">
                <p14:modId xmlns:p14="http://schemas.microsoft.com/office/powerpoint/2010/main" val="4184549788"/>
              </p:ext>
            </p:extLst>
          </p:nvPr>
        </p:nvGraphicFramePr>
        <p:xfrm>
          <a:off x="2775802" y="3242024"/>
          <a:ext cx="4248150" cy="619125"/>
        </p:xfrm>
        <a:graphic>
          <a:graphicData uri="http://schemas.openxmlformats.org/presentationml/2006/ole">
            <mc:AlternateContent xmlns:mc="http://schemas.openxmlformats.org/markup-compatibility/2006">
              <mc:Choice xmlns:v="urn:schemas-microsoft-com:vml" Requires="v">
                <p:oleObj spid="_x0000_s5296" r:id="rId3" imgW="1347370" imgH="228799" progId="">
                  <p:embed/>
                </p:oleObj>
              </mc:Choice>
              <mc:Fallback>
                <p:oleObj r:id="rId3" imgW="1347370" imgH="228799" progId="">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75802" y="3242024"/>
                        <a:ext cx="4248150"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Line 33"/>
          <p:cNvSpPr>
            <a:spLocks noChangeShapeType="1"/>
          </p:cNvSpPr>
          <p:nvPr/>
        </p:nvSpPr>
        <p:spPr bwMode="auto">
          <a:xfrm>
            <a:off x="2531327" y="2518124"/>
            <a:ext cx="0" cy="198437"/>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7" name="Line 34"/>
          <p:cNvSpPr>
            <a:spLocks noChangeShapeType="1"/>
          </p:cNvSpPr>
          <p:nvPr/>
        </p:nvSpPr>
        <p:spPr bwMode="auto">
          <a:xfrm flipH="1">
            <a:off x="4360127" y="2670524"/>
            <a:ext cx="1588" cy="642937"/>
          </a:xfrm>
          <a:prstGeom prst="line">
            <a:avLst/>
          </a:prstGeom>
          <a:noFill/>
          <a:ln w="57150">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8" name="Line 35"/>
          <p:cNvSpPr>
            <a:spLocks noChangeShapeType="1"/>
          </p:cNvSpPr>
          <p:nvPr/>
        </p:nvSpPr>
        <p:spPr bwMode="auto">
          <a:xfrm>
            <a:off x="5655527" y="2665761"/>
            <a:ext cx="0" cy="719138"/>
          </a:xfrm>
          <a:prstGeom prst="line">
            <a:avLst/>
          </a:prstGeom>
          <a:noFill/>
          <a:ln w="57150">
            <a:solidFill>
              <a:srgbClr val="990099"/>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9" name="Line 27"/>
          <p:cNvSpPr>
            <a:spLocks noChangeShapeType="1"/>
          </p:cNvSpPr>
          <p:nvPr/>
        </p:nvSpPr>
        <p:spPr bwMode="auto">
          <a:xfrm flipH="1" flipV="1">
            <a:off x="4504590" y="5186711"/>
            <a:ext cx="1008062" cy="503238"/>
          </a:xfrm>
          <a:prstGeom prst="line">
            <a:avLst/>
          </a:prstGeom>
          <a:noFill/>
          <a:ln w="57150">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10" name="Line 26"/>
          <p:cNvSpPr>
            <a:spLocks noChangeShapeType="1"/>
          </p:cNvSpPr>
          <p:nvPr/>
        </p:nvSpPr>
        <p:spPr bwMode="auto">
          <a:xfrm rot="7200000" flipH="1" flipV="1">
            <a:off x="5943658" y="5162106"/>
            <a:ext cx="854075" cy="461962"/>
          </a:xfrm>
          <a:prstGeom prst="line">
            <a:avLst/>
          </a:prstGeom>
          <a:noFill/>
          <a:ln w="57150">
            <a:solidFill>
              <a:srgbClr val="0066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11" name="Rectangle 37"/>
          <p:cNvSpPr>
            <a:spLocks noChangeArrowheads="1"/>
          </p:cNvSpPr>
          <p:nvPr/>
        </p:nvSpPr>
        <p:spPr bwMode="auto">
          <a:xfrm>
            <a:off x="1643915" y="1584674"/>
            <a:ext cx="45878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indent="276225">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b="1">
                <a:solidFill>
                  <a:srgbClr val="0000CC"/>
                </a:solidFill>
                <a:latin typeface="Times New Roman" panose="02020603050405020304" pitchFamily="18" charset="0"/>
                <a:cs typeface="Times New Roman" panose="02020603050405020304" pitchFamily="18" charset="0"/>
              </a:rPr>
              <a:t>调制信号</a:t>
            </a:r>
            <a:r>
              <a:rPr lang="zh-CN" altLang="en-US" b="1">
                <a:latin typeface="Times New Roman" panose="02020603050405020304" pitchFamily="18" charset="0"/>
                <a:cs typeface="Times New Roman" panose="02020603050405020304" pitchFamily="18" charset="0"/>
              </a:rPr>
              <a:t>                      </a:t>
            </a:r>
            <a:r>
              <a:rPr lang="zh-CN" altLang="en-US" b="1">
                <a:solidFill>
                  <a:srgbClr val="990000"/>
                </a:solidFill>
                <a:latin typeface="Times New Roman" panose="02020603050405020304" pitchFamily="18" charset="0"/>
                <a:cs typeface="Times New Roman" panose="02020603050405020304" pitchFamily="18" charset="0"/>
              </a:rPr>
              <a:t>实现调制</a:t>
            </a:r>
          </a:p>
        </p:txBody>
      </p:sp>
      <p:grpSp>
        <p:nvGrpSpPr>
          <p:cNvPr id="12" name="Group 48"/>
          <p:cNvGrpSpPr>
            <a:grpSpLocks/>
          </p:cNvGrpSpPr>
          <p:nvPr/>
        </p:nvGrpSpPr>
        <p:grpSpPr bwMode="auto">
          <a:xfrm>
            <a:off x="1339115" y="2214911"/>
            <a:ext cx="2376487" cy="615950"/>
            <a:chOff x="0" y="0"/>
            <a:chExt cx="1497" cy="388"/>
          </a:xfrm>
        </p:grpSpPr>
        <p:graphicFrame>
          <p:nvGraphicFramePr>
            <p:cNvPr id="13" name="Object 12"/>
            <p:cNvGraphicFramePr>
              <a:graphicFrameLocks noChangeAspect="1"/>
            </p:cNvGraphicFramePr>
            <p:nvPr/>
          </p:nvGraphicFramePr>
          <p:xfrm>
            <a:off x="817" y="0"/>
            <a:ext cx="680" cy="388"/>
          </p:xfrm>
          <a:graphic>
            <a:graphicData uri="http://schemas.openxmlformats.org/presentationml/2006/ole">
              <mc:AlternateContent xmlns:mc="http://schemas.openxmlformats.org/markup-compatibility/2006">
                <mc:Choice xmlns:v="urn:schemas-microsoft-com:vml" Requires="v">
                  <p:oleObj spid="_x0000_s5297" r:id="rId5" imgW="381165" imgH="215994" progId="">
                    <p:embed/>
                  </p:oleObj>
                </mc:Choice>
                <mc:Fallback>
                  <p:oleObj r:id="rId5" imgW="381165" imgH="215994" progId="">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17" y="0"/>
                          <a:ext cx="680"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 name="Rectangle 39"/>
            <p:cNvSpPr>
              <a:spLocks noChangeArrowheads="1"/>
            </p:cNvSpPr>
            <p:nvPr/>
          </p:nvSpPr>
          <p:spPr bwMode="auto">
            <a:xfrm>
              <a:off x="0" y="75"/>
              <a:ext cx="6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b="1">
                  <a:latin typeface="Times New Roman" panose="02020603050405020304" pitchFamily="18" charset="0"/>
                  <a:cs typeface="Times New Roman" panose="02020603050405020304" pitchFamily="18" charset="0"/>
                </a:rPr>
                <a:t>模拟</a:t>
              </a:r>
            </a:p>
          </p:txBody>
        </p:sp>
      </p:grpSp>
      <p:sp>
        <p:nvSpPr>
          <p:cNvPr id="15" name="Rectangle 40"/>
          <p:cNvSpPr>
            <a:spLocks noChangeArrowheads="1"/>
          </p:cNvSpPr>
          <p:nvPr/>
        </p:nvSpPr>
        <p:spPr bwMode="auto">
          <a:xfrm>
            <a:off x="3712427" y="2233961"/>
            <a:ext cx="33623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indent="276225">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b="1">
                <a:solidFill>
                  <a:srgbClr val="FF3300"/>
                </a:solidFill>
                <a:latin typeface="Times New Roman" panose="02020603050405020304" pitchFamily="18" charset="0"/>
                <a:cs typeface="Times New Roman" panose="02020603050405020304" pitchFamily="18" charset="0"/>
              </a:rPr>
              <a:t>AM</a:t>
            </a:r>
            <a:r>
              <a:rPr lang="en-US" altLang="zh-CN" b="1">
                <a:latin typeface="Times New Roman" panose="02020603050405020304" pitchFamily="18" charset="0"/>
                <a:cs typeface="Times New Roman" panose="02020603050405020304" pitchFamily="18" charset="0"/>
              </a:rPr>
              <a:t>           </a:t>
            </a:r>
            <a:r>
              <a:rPr lang="en-US" altLang="zh-CN" b="1">
                <a:solidFill>
                  <a:srgbClr val="990099"/>
                </a:solidFill>
                <a:latin typeface="Times New Roman" panose="02020603050405020304" pitchFamily="18" charset="0"/>
                <a:cs typeface="Times New Roman" panose="02020603050405020304" pitchFamily="18" charset="0"/>
              </a:rPr>
              <a:t>FM  </a:t>
            </a:r>
            <a:r>
              <a:rPr lang="en-US" altLang="zh-CN" b="1">
                <a:latin typeface="Times New Roman" panose="02020603050405020304" pitchFamily="18" charset="0"/>
                <a:cs typeface="Times New Roman" panose="02020603050405020304" pitchFamily="18" charset="0"/>
              </a:rPr>
              <a:t>     </a:t>
            </a:r>
            <a:r>
              <a:rPr lang="en-US" altLang="zh-CN" b="1">
                <a:solidFill>
                  <a:srgbClr val="006600"/>
                </a:solidFill>
                <a:latin typeface="Times New Roman" panose="02020603050405020304" pitchFamily="18" charset="0"/>
                <a:cs typeface="Times New Roman" panose="02020603050405020304" pitchFamily="18" charset="0"/>
              </a:rPr>
              <a:t>PM </a:t>
            </a:r>
          </a:p>
        </p:txBody>
      </p:sp>
      <p:sp>
        <p:nvSpPr>
          <p:cNvPr id="16" name="Rectangle 44"/>
          <p:cNvSpPr>
            <a:spLocks noChangeArrowheads="1"/>
          </p:cNvSpPr>
          <p:nvPr/>
        </p:nvSpPr>
        <p:spPr bwMode="auto">
          <a:xfrm>
            <a:off x="3736240" y="4608861"/>
            <a:ext cx="33670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indent="228600">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b="1">
                <a:solidFill>
                  <a:srgbClr val="FF3300"/>
                </a:solidFill>
                <a:latin typeface="Times New Roman" panose="02020603050405020304" pitchFamily="18" charset="0"/>
                <a:cs typeface="Times New Roman" panose="02020603050405020304" pitchFamily="18" charset="0"/>
              </a:rPr>
              <a:t>ASK  </a:t>
            </a:r>
            <a:r>
              <a:rPr lang="en-US" altLang="zh-CN" b="1">
                <a:latin typeface="Times New Roman" panose="02020603050405020304" pitchFamily="18" charset="0"/>
                <a:cs typeface="Times New Roman" panose="02020603050405020304" pitchFamily="18" charset="0"/>
              </a:rPr>
              <a:t>       </a:t>
            </a:r>
            <a:r>
              <a:rPr lang="en-US" altLang="zh-CN" b="1">
                <a:solidFill>
                  <a:srgbClr val="990099"/>
                </a:solidFill>
                <a:latin typeface="Times New Roman" panose="02020603050405020304" pitchFamily="18" charset="0"/>
                <a:cs typeface="Times New Roman" panose="02020603050405020304" pitchFamily="18" charset="0"/>
              </a:rPr>
              <a:t>FSK </a:t>
            </a:r>
            <a:r>
              <a:rPr lang="en-US" altLang="zh-CN" b="1">
                <a:latin typeface="Times New Roman" panose="02020603050405020304" pitchFamily="18" charset="0"/>
                <a:cs typeface="Times New Roman" panose="02020603050405020304" pitchFamily="18" charset="0"/>
              </a:rPr>
              <a:t>     </a:t>
            </a:r>
            <a:r>
              <a:rPr lang="en-US" altLang="zh-CN" b="1">
                <a:solidFill>
                  <a:srgbClr val="006600"/>
                </a:solidFill>
                <a:latin typeface="Times New Roman" panose="02020603050405020304" pitchFamily="18" charset="0"/>
                <a:cs typeface="Times New Roman" panose="02020603050405020304" pitchFamily="18" charset="0"/>
              </a:rPr>
              <a:t>PSK</a:t>
            </a:r>
          </a:p>
        </p:txBody>
      </p:sp>
      <p:sp>
        <p:nvSpPr>
          <p:cNvPr id="17" name="Rectangle 45"/>
          <p:cNvSpPr>
            <a:spLocks noChangeArrowheads="1"/>
          </p:cNvSpPr>
          <p:nvPr/>
        </p:nvSpPr>
        <p:spPr bwMode="auto">
          <a:xfrm>
            <a:off x="5200179" y="5761386"/>
            <a:ext cx="106150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en-US" altLang="zh-CN" sz="2800" b="1">
                <a:solidFill>
                  <a:srgbClr val="0000CC"/>
                </a:solidFill>
                <a:latin typeface="Times New Roman" panose="02020603050405020304" pitchFamily="18" charset="0"/>
                <a:cs typeface="Times New Roman" panose="02020603050405020304" pitchFamily="18" charset="0"/>
              </a:rPr>
              <a:t>QAM</a:t>
            </a:r>
          </a:p>
        </p:txBody>
      </p:sp>
      <p:grpSp>
        <p:nvGrpSpPr>
          <p:cNvPr id="18" name="Group 49"/>
          <p:cNvGrpSpPr>
            <a:grpSpLocks/>
          </p:cNvGrpSpPr>
          <p:nvPr/>
        </p:nvGrpSpPr>
        <p:grpSpPr bwMode="auto">
          <a:xfrm>
            <a:off x="1338560" y="4542235"/>
            <a:ext cx="2373313" cy="595313"/>
            <a:chOff x="-129" y="19"/>
            <a:chExt cx="1495" cy="375"/>
          </a:xfrm>
        </p:grpSpPr>
        <p:graphicFrame>
          <p:nvGraphicFramePr>
            <p:cNvPr id="19" name="Object 18"/>
            <p:cNvGraphicFramePr>
              <a:graphicFrameLocks noChangeAspect="1"/>
            </p:cNvGraphicFramePr>
            <p:nvPr>
              <p:extLst>
                <p:ext uri="{D42A27DB-BD31-4B8C-83A1-F6EECF244321}">
                  <p14:modId xmlns:p14="http://schemas.microsoft.com/office/powerpoint/2010/main" val="3668833497"/>
                </p:ext>
              </p:extLst>
            </p:nvPr>
          </p:nvGraphicFramePr>
          <p:xfrm>
            <a:off x="752" y="19"/>
            <a:ext cx="614" cy="375"/>
          </p:xfrm>
          <a:graphic>
            <a:graphicData uri="http://schemas.openxmlformats.org/presentationml/2006/ole">
              <mc:AlternateContent xmlns:mc="http://schemas.openxmlformats.org/markup-compatibility/2006">
                <mc:Choice xmlns:v="urn:schemas-microsoft-com:vml" Requires="v">
                  <p:oleObj spid="_x0000_s5298" r:id="rId7" imgW="330631" imgH="203465" progId="">
                    <p:embed/>
                  </p:oleObj>
                </mc:Choice>
                <mc:Fallback>
                  <p:oleObj r:id="rId7" imgW="330631" imgH="203465" progId="">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52" y="19"/>
                          <a:ext cx="614" cy="375"/>
                        </a:xfrm>
                        <a:prstGeom prst="rect">
                          <a:avLst/>
                        </a:prstGeom>
                        <a:noFill/>
                        <a:ln>
                          <a:noFill/>
                        </a:ln>
                        <a:extLst/>
                      </p:spPr>
                    </p:pic>
                  </p:oleObj>
                </mc:Fallback>
              </mc:AlternateContent>
            </a:graphicData>
          </a:graphic>
        </p:graphicFrame>
        <p:sp>
          <p:nvSpPr>
            <p:cNvPr id="20" name="Rectangle 46"/>
            <p:cNvSpPr>
              <a:spLocks noChangeArrowheads="1"/>
            </p:cNvSpPr>
            <p:nvPr/>
          </p:nvSpPr>
          <p:spPr bwMode="auto">
            <a:xfrm>
              <a:off x="-129" y="63"/>
              <a:ext cx="6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b="1" dirty="0">
                  <a:latin typeface="Times New Roman" panose="02020603050405020304" pitchFamily="18" charset="0"/>
                  <a:cs typeface="Times New Roman" panose="02020603050405020304" pitchFamily="18" charset="0"/>
                </a:rPr>
                <a:t>数字</a:t>
              </a:r>
            </a:p>
          </p:txBody>
        </p:sp>
      </p:grpSp>
      <p:sp>
        <p:nvSpPr>
          <p:cNvPr id="21" name="Line 53"/>
          <p:cNvSpPr>
            <a:spLocks noChangeShapeType="1"/>
          </p:cNvSpPr>
          <p:nvPr/>
        </p:nvSpPr>
        <p:spPr bwMode="auto">
          <a:xfrm flipH="1">
            <a:off x="4360127" y="3745261"/>
            <a:ext cx="1588" cy="720725"/>
          </a:xfrm>
          <a:prstGeom prst="line">
            <a:avLst/>
          </a:prstGeom>
          <a:noFill/>
          <a:ln w="57150">
            <a:solidFill>
              <a:srgbClr val="FF33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22" name="Line 54"/>
          <p:cNvSpPr>
            <a:spLocks noChangeShapeType="1"/>
          </p:cNvSpPr>
          <p:nvPr/>
        </p:nvSpPr>
        <p:spPr bwMode="auto">
          <a:xfrm>
            <a:off x="5655527" y="3746849"/>
            <a:ext cx="0" cy="719137"/>
          </a:xfrm>
          <a:prstGeom prst="line">
            <a:avLst/>
          </a:prstGeom>
          <a:noFill/>
          <a:ln w="57150">
            <a:solidFill>
              <a:srgbClr val="990099"/>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23" name="Line 55"/>
          <p:cNvSpPr>
            <a:spLocks noChangeShapeType="1"/>
          </p:cNvSpPr>
          <p:nvPr/>
        </p:nvSpPr>
        <p:spPr bwMode="auto">
          <a:xfrm>
            <a:off x="6665177" y="3746849"/>
            <a:ext cx="0" cy="719137"/>
          </a:xfrm>
          <a:prstGeom prst="line">
            <a:avLst/>
          </a:prstGeom>
          <a:noFill/>
          <a:ln w="57150">
            <a:solidFill>
              <a:srgbClr val="0066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24" name="Line 56"/>
          <p:cNvSpPr>
            <a:spLocks noChangeShapeType="1"/>
          </p:cNvSpPr>
          <p:nvPr/>
        </p:nvSpPr>
        <p:spPr bwMode="auto">
          <a:xfrm>
            <a:off x="6665177" y="2665761"/>
            <a:ext cx="0" cy="647700"/>
          </a:xfrm>
          <a:prstGeom prst="line">
            <a:avLst/>
          </a:prstGeom>
          <a:noFill/>
          <a:ln w="57150">
            <a:solidFill>
              <a:srgbClr val="0066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7489803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18</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1.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概论</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Rectangle 5"/>
          <p:cNvSpPr>
            <a:spLocks noChangeArrowheads="1"/>
          </p:cNvSpPr>
          <p:nvPr/>
        </p:nvSpPr>
        <p:spPr bwMode="auto">
          <a:xfrm>
            <a:off x="251520" y="2793089"/>
            <a:ext cx="8424936"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b="1" dirty="0">
                <a:latin typeface="楷体_GB2312" pitchFamily="49" charset="-122"/>
                <a:ea typeface="楷体_GB2312" pitchFamily="49" charset="-122"/>
              </a:rPr>
              <a:t>  </a:t>
            </a:r>
            <a:r>
              <a:rPr lang="zh-CN" altLang="en-US" b="1" dirty="0">
                <a:solidFill>
                  <a:srgbClr val="FF3300"/>
                </a:solidFill>
                <a:latin typeface="楷体_GB2312" pitchFamily="49" charset="-122"/>
                <a:ea typeface="楷体_GB2312" pitchFamily="49" charset="-122"/>
              </a:rPr>
              <a:t>噪声</a:t>
            </a:r>
            <a:r>
              <a:rPr lang="en-US" altLang="zh-CN" b="1" dirty="0">
                <a:latin typeface="Times New Roman" panose="02020603050405020304" pitchFamily="18" charset="0"/>
                <a:ea typeface="楷体_GB2312" pitchFamily="49" charset="-122"/>
              </a:rPr>
              <a:t>——</a:t>
            </a:r>
            <a:r>
              <a:rPr lang="zh-CN" altLang="en-US" b="1" dirty="0">
                <a:latin typeface="楷体_GB2312" pitchFamily="49" charset="-122"/>
                <a:ea typeface="楷体_GB2312" pitchFamily="49" charset="-122"/>
              </a:rPr>
              <a:t>是指落入信息信号通带内的任何不需要的信号。失真和干扰从定义的角度来讲，也应属于噪声范畴。</a:t>
            </a:r>
          </a:p>
        </p:txBody>
      </p:sp>
      <p:sp>
        <p:nvSpPr>
          <p:cNvPr id="6" name="Rectangle 9"/>
          <p:cNvSpPr>
            <a:spLocks noChangeArrowheads="1"/>
          </p:cNvSpPr>
          <p:nvPr/>
        </p:nvSpPr>
        <p:spPr bwMode="auto">
          <a:xfrm>
            <a:off x="2051496" y="6056439"/>
            <a:ext cx="47529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000" b="1">
                <a:latin typeface="Times New Roman" panose="02020603050405020304" pitchFamily="18" charset="0"/>
                <a:cs typeface="Times New Roman" panose="02020603050405020304" pitchFamily="18" charset="0"/>
              </a:rPr>
              <a:t>图</a:t>
            </a:r>
            <a:r>
              <a:rPr lang="en-US" altLang="zh-CN" sz="2000" b="1">
                <a:latin typeface="Times New Roman" panose="02020603050405020304" pitchFamily="18" charset="0"/>
                <a:cs typeface="Times New Roman" panose="02020603050405020304" pitchFamily="18" charset="0"/>
              </a:rPr>
              <a:t>1.5.1 </a:t>
            </a:r>
            <a:r>
              <a:rPr lang="zh-CN" altLang="en-US" sz="2000" b="1">
                <a:latin typeface="Times New Roman" panose="02020603050405020304" pitchFamily="18" charset="0"/>
                <a:cs typeface="Times New Roman" panose="02020603050405020304" pitchFamily="18" charset="0"/>
              </a:rPr>
              <a:t>噪声对信号的影响</a:t>
            </a:r>
          </a:p>
        </p:txBody>
      </p:sp>
      <p:pic>
        <p:nvPicPr>
          <p:cNvPr id="7" name="Picture 10"/>
          <p:cNvPicPr>
            <a:picLocks noChangeAspect="1" noChangeArrowheads="1"/>
          </p:cNvPicPr>
          <p:nvPr/>
        </p:nvPicPr>
        <p:blipFill>
          <a:blip r:embed="rId2">
            <a:clrChange>
              <a:clrFrom>
                <a:srgbClr val="FEFEFE"/>
              </a:clrFrom>
              <a:clrTo>
                <a:srgbClr val="FEFEFE">
                  <a:alpha val="0"/>
                </a:srgbClr>
              </a:clrTo>
            </a:clrChange>
            <a:extLst>
              <a:ext uri="{28A0092B-C50C-407E-A947-70E740481C1C}">
                <a14:useLocalDpi xmlns:a14="http://schemas.microsoft.com/office/drawing/2010/main" val="0"/>
              </a:ext>
            </a:extLst>
          </a:blip>
          <a:srcRect/>
          <a:stretch>
            <a:fillRect/>
          </a:stretch>
        </p:blipFill>
        <p:spPr bwMode="auto">
          <a:xfrm>
            <a:off x="990562" y="3645024"/>
            <a:ext cx="7020000" cy="2411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12"/>
          <p:cNvSpPr>
            <a:spLocks noChangeArrowheads="1"/>
          </p:cNvSpPr>
          <p:nvPr/>
        </p:nvSpPr>
        <p:spPr bwMode="auto">
          <a:xfrm>
            <a:off x="251520" y="1628800"/>
            <a:ext cx="8424936"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b="1" dirty="0">
                <a:latin typeface="楷体_GB2312" pitchFamily="49" charset="-122"/>
                <a:ea typeface="楷体_GB2312" pitchFamily="49" charset="-122"/>
              </a:rPr>
              <a:t>  </a:t>
            </a:r>
            <a:r>
              <a:rPr lang="zh-CN" altLang="en-US" b="1" dirty="0" smtClean="0">
                <a:solidFill>
                  <a:srgbClr val="FF3300"/>
                </a:solidFill>
                <a:latin typeface="楷体_GB2312" pitchFamily="49" charset="-122"/>
                <a:ea typeface="楷体_GB2312" pitchFamily="49" charset="-122"/>
              </a:rPr>
              <a:t>干扰</a:t>
            </a:r>
            <a:r>
              <a:rPr lang="en-US" altLang="zh-CN" b="1" dirty="0">
                <a:ea typeface="楷体_GB2312" pitchFamily="49" charset="-122"/>
              </a:rPr>
              <a:t>——</a:t>
            </a:r>
            <a:r>
              <a:rPr lang="zh-CN" altLang="en-US" b="1" dirty="0">
                <a:latin typeface="楷体_GB2312" pitchFamily="49" charset="-122"/>
                <a:ea typeface="楷体_GB2312" pitchFamily="49" charset="-122"/>
              </a:rPr>
              <a:t>由系统外部产生的噪声。</a:t>
            </a:r>
          </a:p>
          <a:p>
            <a:pPr eaLnBrk="1" hangingPunct="1">
              <a:spcBef>
                <a:spcPct val="0"/>
              </a:spcBef>
              <a:buFontTx/>
              <a:buNone/>
            </a:pPr>
            <a:r>
              <a:rPr lang="zh-CN" altLang="en-US" b="1" dirty="0">
                <a:latin typeface="楷体_GB2312" pitchFamily="49" charset="-122"/>
                <a:ea typeface="楷体_GB2312" pitchFamily="49" charset="-122"/>
              </a:rPr>
              <a:t>  </a:t>
            </a:r>
            <a:r>
              <a:rPr lang="zh-CN" altLang="en-US" b="1" dirty="0" smtClean="0">
                <a:solidFill>
                  <a:srgbClr val="CC3300"/>
                </a:solidFill>
                <a:latin typeface="楷体_GB2312" pitchFamily="49" charset="-122"/>
                <a:ea typeface="楷体_GB2312" pitchFamily="49" charset="-122"/>
              </a:rPr>
              <a:t>失真</a:t>
            </a:r>
            <a:r>
              <a:rPr lang="en-US" altLang="zh-CN" b="1" dirty="0">
                <a:solidFill>
                  <a:srgbClr val="FF66FF"/>
                </a:solidFill>
                <a:latin typeface="楷体_GB2312" pitchFamily="49" charset="-122"/>
                <a:ea typeface="楷体_GB2312" pitchFamily="49" charset="-122"/>
              </a:rPr>
              <a:t>(</a:t>
            </a:r>
            <a:r>
              <a:rPr lang="zh-CN" altLang="en-US" b="1" dirty="0">
                <a:solidFill>
                  <a:srgbClr val="FF66FF"/>
                </a:solidFill>
                <a:latin typeface="楷体_GB2312" pitchFamily="49" charset="-122"/>
                <a:ea typeface="楷体_GB2312" pitchFamily="49" charset="-122"/>
              </a:rPr>
              <a:t>线性失真和非线性失真</a:t>
            </a:r>
            <a:r>
              <a:rPr lang="en-US" altLang="zh-CN" b="1" dirty="0">
                <a:solidFill>
                  <a:srgbClr val="FF66FF"/>
                </a:solidFill>
                <a:latin typeface="楷体_GB2312" pitchFamily="49" charset="-122"/>
                <a:ea typeface="楷体_GB2312" pitchFamily="49" charset="-122"/>
              </a:rPr>
              <a:t>)</a:t>
            </a:r>
            <a:r>
              <a:rPr lang="zh-CN" altLang="en-US" b="1" dirty="0">
                <a:latin typeface="楷体_GB2312" pitchFamily="49" charset="-122"/>
                <a:ea typeface="楷体_GB2312" pitchFamily="49" charset="-122"/>
              </a:rPr>
              <a:t>则是由系统电路产生的，当然系统电路也会产生内部噪声。</a:t>
            </a:r>
          </a:p>
        </p:txBody>
      </p:sp>
      <p:sp>
        <p:nvSpPr>
          <p:cNvPr id="9" name="矩形 8"/>
          <p:cNvSpPr/>
          <p:nvPr/>
        </p:nvSpPr>
        <p:spPr>
          <a:xfrm>
            <a:off x="0" y="1192364"/>
            <a:ext cx="837727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spAutoFit/>
          </a:bodyPr>
          <a:lstStyle/>
          <a:p>
            <a:pPr algn="ctr" eaLnBrk="1" hangingPunct="1">
              <a:spcBef>
                <a:spcPct val="50000"/>
              </a:spcBef>
            </a:pPr>
            <a:r>
              <a:rPr lang="zh-CN" altLang="en-US" sz="28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28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1.5  </a:t>
            </a:r>
            <a:r>
              <a:rPr lang="en-US" altLang="zh-CN" sz="2800" b="1" dirty="0" err="1"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噪声</a:t>
            </a:r>
            <a:r>
              <a:rPr lang="zh-CN" altLang="en-US" sz="28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与接收灵敏度</a:t>
            </a:r>
            <a:endParaRPr lang="zh-CN" altLang="en-US" sz="28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99491846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19</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1.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概论</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 name="AutoShape 11"/>
          <p:cNvSpPr>
            <a:spLocks/>
          </p:cNvSpPr>
          <p:nvPr/>
        </p:nvSpPr>
        <p:spPr bwMode="auto">
          <a:xfrm>
            <a:off x="1047518" y="1477053"/>
            <a:ext cx="144463" cy="863600"/>
          </a:xfrm>
          <a:prstGeom prst="leftBrace">
            <a:avLst>
              <a:gd name="adj1" fmla="val 49817"/>
              <a:gd name="adj2" fmla="val 50000"/>
            </a:avLst>
          </a:prstGeom>
          <a:noFill/>
          <a:ln w="38100">
            <a:solidFill>
              <a:srgbClr val="990099"/>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2000"/>
          </a:p>
        </p:txBody>
      </p:sp>
      <p:sp>
        <p:nvSpPr>
          <p:cNvPr id="7" name="Rectangle 12"/>
          <p:cNvSpPr>
            <a:spLocks noChangeArrowheads="1"/>
          </p:cNvSpPr>
          <p:nvPr/>
        </p:nvSpPr>
        <p:spPr bwMode="auto">
          <a:xfrm>
            <a:off x="1247543" y="1334178"/>
            <a:ext cx="15382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000" b="1" dirty="0">
                <a:solidFill>
                  <a:srgbClr val="006600"/>
                </a:solidFill>
                <a:ea typeface="隶书" panose="02010509060101010101" pitchFamily="49" charset="-122"/>
              </a:rPr>
              <a:t>非相关噪声</a:t>
            </a:r>
            <a:r>
              <a:rPr lang="en-US" altLang="zh-CN" sz="2000" b="1" dirty="0">
                <a:solidFill>
                  <a:srgbClr val="006600"/>
                </a:solidFill>
                <a:ea typeface="隶书" panose="02010509060101010101" pitchFamily="49" charset="-122"/>
              </a:rPr>
              <a:t>:</a:t>
            </a:r>
          </a:p>
        </p:txBody>
      </p:sp>
      <p:sp>
        <p:nvSpPr>
          <p:cNvPr id="8" name="Rectangle 13"/>
          <p:cNvSpPr>
            <a:spLocks noChangeArrowheads="1"/>
          </p:cNvSpPr>
          <p:nvPr/>
        </p:nvSpPr>
        <p:spPr bwMode="auto">
          <a:xfrm>
            <a:off x="1269768" y="2053315"/>
            <a:ext cx="12842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000" b="1" dirty="0">
                <a:solidFill>
                  <a:srgbClr val="990000"/>
                </a:solidFill>
                <a:ea typeface="隶书" panose="02010509060101010101" pitchFamily="49" charset="-122"/>
              </a:rPr>
              <a:t>相关噪声</a:t>
            </a:r>
            <a:r>
              <a:rPr lang="en-US" altLang="zh-CN" sz="2000" b="1" dirty="0">
                <a:solidFill>
                  <a:srgbClr val="990000"/>
                </a:solidFill>
                <a:ea typeface="隶书" panose="02010509060101010101" pitchFamily="49" charset="-122"/>
              </a:rPr>
              <a:t>:</a:t>
            </a:r>
          </a:p>
        </p:txBody>
      </p:sp>
      <p:sp>
        <p:nvSpPr>
          <p:cNvPr id="9" name="Rectangle 14"/>
          <p:cNvSpPr>
            <a:spLocks noChangeArrowheads="1"/>
          </p:cNvSpPr>
          <p:nvPr/>
        </p:nvSpPr>
        <p:spPr bwMode="auto">
          <a:xfrm>
            <a:off x="2344506" y="1334178"/>
            <a:ext cx="58689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000" b="1">
                <a:solidFill>
                  <a:srgbClr val="006600"/>
                </a:solidFill>
              </a:rPr>
              <a:t>无论信息信号是否出现</a:t>
            </a:r>
            <a:r>
              <a:rPr lang="en-US" altLang="zh-CN" sz="2000" b="1">
                <a:solidFill>
                  <a:srgbClr val="006600"/>
                </a:solidFill>
              </a:rPr>
              <a:t>,</a:t>
            </a:r>
            <a:r>
              <a:rPr lang="zh-CN" altLang="en-US" sz="2000" b="1">
                <a:solidFill>
                  <a:srgbClr val="006600"/>
                </a:solidFill>
              </a:rPr>
              <a:t>在任何时间都存在</a:t>
            </a:r>
          </a:p>
        </p:txBody>
      </p:sp>
      <p:sp>
        <p:nvSpPr>
          <p:cNvPr id="10" name="Rectangle 15"/>
          <p:cNvSpPr>
            <a:spLocks noChangeArrowheads="1"/>
          </p:cNvSpPr>
          <p:nvPr/>
        </p:nvSpPr>
        <p:spPr bwMode="auto">
          <a:xfrm>
            <a:off x="2631843" y="2072365"/>
            <a:ext cx="6084888"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000" b="1">
                <a:solidFill>
                  <a:srgbClr val="990000"/>
                </a:solidFill>
              </a:rPr>
              <a:t>仅在信息信号出现时产生，信号的失真和无用信号的干扰等都属于相关噪声。</a:t>
            </a:r>
          </a:p>
        </p:txBody>
      </p:sp>
      <p:sp>
        <p:nvSpPr>
          <p:cNvPr id="11" name="Rectangle 16"/>
          <p:cNvSpPr>
            <a:spLocks noChangeArrowheads="1"/>
          </p:cNvSpPr>
          <p:nvPr/>
        </p:nvSpPr>
        <p:spPr bwMode="auto">
          <a:xfrm>
            <a:off x="256621" y="2966612"/>
            <a:ext cx="61325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000" b="1" dirty="0"/>
              <a:t>非相关噪声还可以划分为外部噪声和内部噪声两大类</a:t>
            </a:r>
            <a:r>
              <a:rPr lang="en-US" altLang="zh-CN" sz="2000" b="1" dirty="0"/>
              <a:t>.</a:t>
            </a:r>
          </a:p>
        </p:txBody>
      </p:sp>
      <p:sp>
        <p:nvSpPr>
          <p:cNvPr id="13" name="Rectangle 6"/>
          <p:cNvSpPr>
            <a:spLocks noChangeArrowheads="1"/>
          </p:cNvSpPr>
          <p:nvPr/>
        </p:nvSpPr>
        <p:spPr bwMode="auto">
          <a:xfrm>
            <a:off x="256621" y="3510739"/>
            <a:ext cx="8136904" cy="2400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342900" indent="-342900">
              <a:lnSpc>
                <a:spcPct val="125000"/>
              </a:lnSpc>
              <a:spcBef>
                <a:spcPct val="0"/>
              </a:spcBef>
              <a:buFont typeface="Wingdings" panose="05000000000000000000" pitchFamily="2" charset="2"/>
              <a:buChar char="Ø"/>
            </a:pPr>
            <a:r>
              <a:rPr lang="zh-CN" altLang="en-US" sz="2000" b="1" dirty="0"/>
              <a:t>外部噪声是由系统外部产生的噪声</a:t>
            </a:r>
            <a:r>
              <a:rPr lang="zh-CN" altLang="en-US" sz="2000" b="1" dirty="0" smtClean="0"/>
              <a:t>。外部</a:t>
            </a:r>
            <a:r>
              <a:rPr lang="zh-CN" altLang="en-US" sz="2000" b="1" dirty="0"/>
              <a:t>噪声又称外界环境噪声，它是通过通信系统的天线进入而形成干扰的。</a:t>
            </a:r>
            <a:endParaRPr lang="en-US" altLang="zh-CN" sz="2000" b="1" dirty="0" smtClean="0"/>
          </a:p>
          <a:p>
            <a:pPr marL="342900" indent="-342900" eaLnBrk="1" hangingPunct="1">
              <a:lnSpc>
                <a:spcPct val="125000"/>
              </a:lnSpc>
              <a:spcBef>
                <a:spcPct val="0"/>
              </a:spcBef>
              <a:buFont typeface="Wingdings" panose="05000000000000000000" pitchFamily="2" charset="2"/>
              <a:buChar char="Ø"/>
            </a:pPr>
            <a:r>
              <a:rPr lang="zh-CN" altLang="en-US" sz="2000" b="1" dirty="0" smtClean="0"/>
              <a:t>内部噪声</a:t>
            </a:r>
            <a:r>
              <a:rPr lang="zh-CN" altLang="en-US" sz="2000" b="1" dirty="0"/>
              <a:t>主要来自通信系统内部电路器件，电路中的电阻是无源器件噪声源，而二极管、晶体三极管和场效应管等则是有源器件噪声源。</a:t>
            </a:r>
          </a:p>
          <a:p>
            <a:pPr eaLnBrk="1" hangingPunct="1">
              <a:lnSpc>
                <a:spcPct val="125000"/>
              </a:lnSpc>
              <a:spcBef>
                <a:spcPct val="0"/>
              </a:spcBef>
              <a:buFontTx/>
              <a:buNone/>
            </a:pPr>
            <a:r>
              <a:rPr lang="zh-CN" altLang="en-US" sz="2000" b="1" dirty="0"/>
              <a:t>        </a:t>
            </a:r>
          </a:p>
        </p:txBody>
      </p:sp>
    </p:spTree>
    <p:extLst>
      <p:ext uri="{BB962C8B-B14F-4D97-AF65-F5344CB8AC3E}">
        <p14:creationId xmlns:p14="http://schemas.microsoft.com/office/powerpoint/2010/main" val="83558284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20</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1.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概论</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 name="Rectangle 16"/>
          <p:cNvSpPr>
            <a:spLocks noChangeArrowheads="1"/>
          </p:cNvSpPr>
          <p:nvPr/>
        </p:nvSpPr>
        <p:spPr bwMode="auto">
          <a:xfrm>
            <a:off x="173037" y="1588242"/>
            <a:ext cx="8820150"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indent="228600">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indent="0" eaLnBrk="1" hangingPunct="1">
              <a:lnSpc>
                <a:spcPct val="125000"/>
              </a:lnSpc>
              <a:spcBef>
                <a:spcPct val="0"/>
              </a:spcBef>
              <a:buFontTx/>
              <a:buNone/>
            </a:pPr>
            <a:r>
              <a:rPr lang="en-US" altLang="zh-CN" sz="2000" b="1" dirty="0">
                <a:solidFill>
                  <a:srgbClr val="FF3300"/>
                </a:solidFill>
                <a:latin typeface="Times New Roman" panose="02020603050405020304" pitchFamily="18" charset="0"/>
                <a:cs typeface="Times New Roman" panose="02020603050405020304" pitchFamily="18" charset="0"/>
              </a:rPr>
              <a:t>    </a:t>
            </a:r>
            <a:r>
              <a:rPr lang="zh-CN" altLang="en-US" sz="2000" b="1" dirty="0">
                <a:solidFill>
                  <a:srgbClr val="FF3300"/>
                </a:solidFill>
                <a:latin typeface="Times New Roman" panose="02020603050405020304" pitchFamily="18" charset="0"/>
                <a:cs typeface="Times New Roman" panose="02020603050405020304" pitchFamily="18" charset="0"/>
              </a:rPr>
              <a:t>热噪声</a:t>
            </a:r>
            <a:r>
              <a:rPr lang="en-US" altLang="zh-CN" sz="2000" b="1" dirty="0">
                <a:latin typeface="Times New Roman" panose="02020603050405020304" pitchFamily="18" charset="0"/>
                <a:cs typeface="Times New Roman" panose="02020603050405020304" pitchFamily="18" charset="0"/>
              </a:rPr>
              <a:t>(</a:t>
            </a:r>
            <a:r>
              <a:rPr lang="zh-CN" altLang="en-US" sz="2000" b="1" dirty="0">
                <a:latin typeface="Times New Roman" panose="02020603050405020304" pitchFamily="18" charset="0"/>
                <a:cs typeface="Times New Roman" panose="02020603050405020304" pitchFamily="18" charset="0"/>
              </a:rPr>
              <a:t>布朗噪声</a:t>
            </a:r>
            <a:r>
              <a:rPr lang="en-US" altLang="zh-CN" sz="2000" b="1" dirty="0">
                <a:latin typeface="Times New Roman" panose="02020603050405020304" pitchFamily="18" charset="0"/>
                <a:cs typeface="Times New Roman" panose="02020603050405020304" pitchFamily="18" charset="0"/>
              </a:rPr>
              <a:t>)——</a:t>
            </a:r>
            <a:r>
              <a:rPr lang="zh-CN" altLang="en-US" sz="2000" b="1" dirty="0">
                <a:latin typeface="Times New Roman" panose="02020603050405020304" pitchFamily="18" charset="0"/>
                <a:cs typeface="Times New Roman" panose="02020603050405020304" pitchFamily="18" charset="0"/>
              </a:rPr>
              <a:t>由电阻</a:t>
            </a:r>
            <a:r>
              <a:rPr lang="en-US" altLang="zh-CN" sz="2000" b="1" dirty="0">
                <a:latin typeface="Times New Roman" panose="02020603050405020304" pitchFamily="18" charset="0"/>
                <a:cs typeface="Times New Roman" panose="02020603050405020304" pitchFamily="18" charset="0"/>
              </a:rPr>
              <a:t>(</a:t>
            </a:r>
            <a:r>
              <a:rPr lang="zh-CN" altLang="en-US" sz="2000" b="1" dirty="0">
                <a:latin typeface="Times New Roman" panose="02020603050405020304" pitchFamily="18" charset="0"/>
                <a:cs typeface="Times New Roman" panose="02020603050405020304" pitchFamily="18" charset="0"/>
              </a:rPr>
              <a:t>或导体</a:t>
            </a:r>
            <a:r>
              <a:rPr lang="en-US" altLang="zh-CN" sz="2000" b="1" dirty="0">
                <a:latin typeface="Times New Roman" panose="02020603050405020304" pitchFamily="18" charset="0"/>
                <a:cs typeface="Times New Roman" panose="02020603050405020304" pitchFamily="18" charset="0"/>
              </a:rPr>
              <a:t>)</a:t>
            </a:r>
            <a:r>
              <a:rPr lang="zh-CN" altLang="en-US" sz="2000" b="1" dirty="0">
                <a:latin typeface="Times New Roman" panose="02020603050405020304" pitchFamily="18" charset="0"/>
                <a:cs typeface="Times New Roman" panose="02020603050405020304" pitchFamily="18" charset="0"/>
              </a:rPr>
              <a:t>内的自由电子热运动产生的。自由电子的热运动是随机运动。</a:t>
            </a:r>
          </a:p>
          <a:p>
            <a:pPr indent="0" eaLnBrk="1" hangingPunct="1">
              <a:lnSpc>
                <a:spcPct val="125000"/>
              </a:lnSpc>
              <a:spcBef>
                <a:spcPct val="0"/>
              </a:spcBef>
              <a:buFontTx/>
              <a:buNone/>
            </a:pPr>
            <a:r>
              <a:rPr lang="zh-CN" altLang="en-US" sz="2000" b="1" dirty="0">
                <a:latin typeface="Times New Roman" panose="02020603050405020304" pitchFamily="18" charset="0"/>
                <a:cs typeface="Times New Roman" panose="02020603050405020304" pitchFamily="18" charset="0"/>
              </a:rPr>
              <a:t>     </a:t>
            </a:r>
            <a:r>
              <a:rPr lang="en-US" altLang="zh-CN" sz="2000" b="1" dirty="0">
                <a:latin typeface="Times New Roman" panose="02020603050405020304" pitchFamily="18" charset="0"/>
                <a:cs typeface="Times New Roman" panose="02020603050405020304" pitchFamily="18" charset="0"/>
              </a:rPr>
              <a:t>1927</a:t>
            </a:r>
            <a:r>
              <a:rPr lang="zh-CN" altLang="en-US" sz="2000" b="1" dirty="0">
                <a:latin typeface="Times New Roman" panose="02020603050405020304" pitchFamily="18" charset="0"/>
                <a:cs typeface="Times New Roman" panose="02020603050405020304" pitchFamily="18" charset="0"/>
              </a:rPr>
              <a:t>年贝尔实验室的约翰逊（</a:t>
            </a:r>
            <a:r>
              <a:rPr lang="en-US" altLang="zh-CN" sz="2000" b="1" dirty="0">
                <a:latin typeface="Times New Roman" panose="02020603050405020304" pitchFamily="18" charset="0"/>
                <a:cs typeface="Times New Roman" panose="02020603050405020304" pitchFamily="18" charset="0"/>
              </a:rPr>
              <a:t>J</a:t>
            </a:r>
            <a:r>
              <a:rPr lang="zh-CN" altLang="en-US" sz="2000" b="1" dirty="0">
                <a:latin typeface="Times New Roman" panose="02020603050405020304" pitchFamily="18" charset="0"/>
                <a:cs typeface="Times New Roman" panose="02020603050405020304" pitchFamily="18" charset="0"/>
              </a:rPr>
              <a:t>．</a:t>
            </a:r>
            <a:r>
              <a:rPr lang="en-US" altLang="zh-CN" sz="2000" b="1" dirty="0">
                <a:latin typeface="Times New Roman" panose="02020603050405020304" pitchFamily="18" charset="0"/>
                <a:cs typeface="Times New Roman" panose="02020603050405020304" pitchFamily="18" charset="0"/>
              </a:rPr>
              <a:t>B</a:t>
            </a:r>
            <a:r>
              <a:rPr lang="zh-CN" altLang="en-US" sz="2000" b="1" dirty="0">
                <a:latin typeface="Times New Roman" panose="02020603050405020304" pitchFamily="18" charset="0"/>
                <a:cs typeface="Times New Roman" panose="02020603050405020304" pitchFamily="18" charset="0"/>
              </a:rPr>
              <a:t>．</a:t>
            </a:r>
            <a:r>
              <a:rPr lang="en-US" altLang="zh-CN" sz="2000" b="1" dirty="0">
                <a:latin typeface="Times New Roman" panose="02020603050405020304" pitchFamily="18" charset="0"/>
                <a:cs typeface="Times New Roman" panose="02020603050405020304" pitchFamily="18" charset="0"/>
              </a:rPr>
              <a:t>Johnson</a:t>
            </a:r>
            <a:r>
              <a:rPr lang="zh-CN" altLang="en-US" sz="2000" b="1" dirty="0">
                <a:latin typeface="Times New Roman" panose="02020603050405020304" pitchFamily="18" charset="0"/>
                <a:cs typeface="Times New Roman" panose="02020603050405020304" pitchFamily="18" charset="0"/>
              </a:rPr>
              <a:t>）通过实验证明了热噪声的平均功率正比于</a:t>
            </a:r>
            <a:r>
              <a:rPr lang="zh-CN" altLang="en-US" sz="2000" b="1" dirty="0">
                <a:solidFill>
                  <a:srgbClr val="CC3300"/>
                </a:solidFill>
                <a:latin typeface="Times New Roman" panose="02020603050405020304" pitchFamily="18" charset="0"/>
                <a:cs typeface="Times New Roman" panose="02020603050405020304" pitchFamily="18" charset="0"/>
              </a:rPr>
              <a:t>带宽和温度</a:t>
            </a:r>
            <a:r>
              <a:rPr lang="zh-CN" altLang="en-US" sz="2000" b="1" dirty="0">
                <a:latin typeface="Times New Roman" panose="02020603050405020304" pitchFamily="18" charset="0"/>
                <a:cs typeface="Times New Roman" panose="02020603050405020304" pitchFamily="18" charset="0"/>
              </a:rPr>
              <a:t>的乘积</a:t>
            </a:r>
            <a:r>
              <a:rPr lang="en-US" altLang="zh-CN" sz="2000" b="1" dirty="0">
                <a:latin typeface="Times New Roman" panose="02020603050405020304" pitchFamily="18" charset="0"/>
                <a:cs typeface="Times New Roman" panose="02020603050405020304" pitchFamily="18" charset="0"/>
              </a:rPr>
              <a:t>:</a:t>
            </a:r>
            <a:endParaRPr lang="en-US" altLang="zh-CN" sz="2000" b="1" dirty="0"/>
          </a:p>
        </p:txBody>
      </p:sp>
      <p:graphicFrame>
        <p:nvGraphicFramePr>
          <p:cNvPr id="7" name="Object 8"/>
          <p:cNvGraphicFramePr>
            <a:graphicFrameLocks noChangeAspect="1"/>
          </p:cNvGraphicFramePr>
          <p:nvPr>
            <p:extLst>
              <p:ext uri="{D42A27DB-BD31-4B8C-83A1-F6EECF244321}">
                <p14:modId xmlns:p14="http://schemas.microsoft.com/office/powerpoint/2010/main" val="4163205928"/>
              </p:ext>
            </p:extLst>
          </p:nvPr>
        </p:nvGraphicFramePr>
        <p:xfrm>
          <a:off x="1197915" y="3319441"/>
          <a:ext cx="1512168" cy="442117"/>
        </p:xfrm>
        <a:graphic>
          <a:graphicData uri="http://schemas.openxmlformats.org/presentationml/2006/ole">
            <mc:AlternateContent xmlns:mc="http://schemas.openxmlformats.org/markup-compatibility/2006">
              <mc:Choice xmlns:v="urn:schemas-microsoft-com:vml" Requires="v">
                <p:oleObj spid="_x0000_s6323" r:id="rId3" imgW="566234" imgH="130831" progId="">
                  <p:embed/>
                </p:oleObj>
              </mc:Choice>
              <mc:Fallback>
                <p:oleObj r:id="rId3" imgW="566234" imgH="130831" progId="">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97915" y="3319441"/>
                        <a:ext cx="1512168" cy="442117"/>
                      </a:xfrm>
                      <a:prstGeom prst="rect">
                        <a:avLst/>
                      </a:prstGeom>
                      <a:noFill/>
                      <a:ln>
                        <a:noFill/>
                      </a:ln>
                      <a:extLst/>
                    </p:spPr>
                  </p:pic>
                </p:oleObj>
              </mc:Fallback>
            </mc:AlternateContent>
          </a:graphicData>
        </a:graphic>
      </p:graphicFrame>
      <p:sp>
        <p:nvSpPr>
          <p:cNvPr id="8" name="Rectangle 23"/>
          <p:cNvSpPr>
            <a:spLocks noChangeArrowheads="1"/>
          </p:cNvSpPr>
          <p:nvPr/>
        </p:nvSpPr>
        <p:spPr bwMode="auto">
          <a:xfrm>
            <a:off x="3702050" y="3080364"/>
            <a:ext cx="4948237"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b="1" dirty="0">
                <a:latin typeface="Times New Roman" panose="02020603050405020304" pitchFamily="18" charset="0"/>
                <a:cs typeface="Times New Roman" panose="02020603050405020304" pitchFamily="18" charset="0"/>
              </a:rPr>
              <a:t>N——</a:t>
            </a:r>
            <a:r>
              <a:rPr lang="zh-CN" altLang="en-US" sz="1800" b="1" dirty="0">
                <a:latin typeface="Times New Roman" panose="02020603050405020304" pitchFamily="18" charset="0"/>
                <a:cs typeface="Times New Roman" panose="02020603050405020304" pitchFamily="18" charset="0"/>
              </a:rPr>
              <a:t>噪声功率（即噪声平均功率，单位</a:t>
            </a:r>
            <a:r>
              <a:rPr lang="en-US" altLang="zh-CN" sz="1800" b="1" dirty="0">
                <a:latin typeface="Times New Roman" panose="02020603050405020304" pitchFamily="18" charset="0"/>
                <a:cs typeface="Times New Roman" panose="02020603050405020304" pitchFamily="18" charset="0"/>
              </a:rPr>
              <a:t>W</a:t>
            </a:r>
            <a:r>
              <a:rPr lang="zh-CN" altLang="en-US" sz="1800" b="1" dirty="0">
                <a:latin typeface="Times New Roman" panose="02020603050405020304" pitchFamily="18" charset="0"/>
                <a:cs typeface="Times New Roman" panose="02020603050405020304" pitchFamily="18" charset="0"/>
              </a:rPr>
              <a:t>）；</a:t>
            </a:r>
          </a:p>
          <a:p>
            <a:pPr eaLnBrk="1" hangingPunct="1">
              <a:spcBef>
                <a:spcPct val="0"/>
              </a:spcBef>
              <a:buFontTx/>
              <a:buNone/>
            </a:pPr>
            <a:r>
              <a:rPr lang="en-US" altLang="zh-CN" sz="1800" b="1" dirty="0">
                <a:latin typeface="Times New Roman" panose="02020603050405020304" pitchFamily="18" charset="0"/>
                <a:cs typeface="Times New Roman" panose="02020603050405020304" pitchFamily="18" charset="0"/>
              </a:rPr>
              <a:t>B——</a:t>
            </a:r>
            <a:r>
              <a:rPr lang="zh-CN" altLang="en-US" sz="1800" b="1" dirty="0">
                <a:latin typeface="Times New Roman" panose="02020603050405020304" pitchFamily="18" charset="0"/>
                <a:cs typeface="Times New Roman" panose="02020603050405020304" pitchFamily="18" charset="0"/>
              </a:rPr>
              <a:t>带宽（</a:t>
            </a:r>
            <a:r>
              <a:rPr lang="en-US" altLang="zh-CN" sz="1800" b="1" dirty="0">
                <a:latin typeface="Times New Roman" panose="02020603050405020304" pitchFamily="18" charset="0"/>
                <a:cs typeface="Times New Roman" panose="02020603050405020304" pitchFamily="18" charset="0"/>
              </a:rPr>
              <a:t>Hz</a:t>
            </a:r>
            <a:r>
              <a:rPr lang="zh-CN" altLang="en-US" sz="1800" b="1" dirty="0">
                <a:latin typeface="Times New Roman" panose="02020603050405020304" pitchFamily="18" charset="0"/>
                <a:cs typeface="Times New Roman" panose="02020603050405020304" pitchFamily="18" charset="0"/>
              </a:rPr>
              <a:t>）；</a:t>
            </a:r>
            <a:endParaRPr lang="zh-CN" altLang="en-US" sz="1800" b="1" dirty="0"/>
          </a:p>
        </p:txBody>
      </p:sp>
      <p:sp>
        <p:nvSpPr>
          <p:cNvPr id="9" name="Rectangle 24"/>
          <p:cNvSpPr>
            <a:spLocks noChangeArrowheads="1"/>
          </p:cNvSpPr>
          <p:nvPr/>
        </p:nvSpPr>
        <p:spPr bwMode="auto">
          <a:xfrm>
            <a:off x="3702050" y="3653743"/>
            <a:ext cx="498633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1800" b="1" dirty="0">
                <a:latin typeface="Times New Roman" panose="02020603050405020304" pitchFamily="18" charset="0"/>
                <a:cs typeface="Times New Roman" panose="02020603050405020304" pitchFamily="18" charset="0"/>
              </a:rPr>
              <a:t>T——</a:t>
            </a:r>
            <a:r>
              <a:rPr lang="zh-CN" altLang="en-US" sz="1800" b="1" dirty="0">
                <a:latin typeface="Times New Roman" panose="02020603050405020304" pitchFamily="18" charset="0"/>
                <a:cs typeface="Times New Roman" panose="02020603050405020304" pitchFamily="18" charset="0"/>
              </a:rPr>
              <a:t>绝对温度（</a:t>
            </a:r>
            <a:r>
              <a:rPr lang="en-US" altLang="zh-CN" sz="1800" b="1" dirty="0">
                <a:latin typeface="Times New Roman" panose="02020603050405020304" pitchFamily="18" charset="0"/>
                <a:cs typeface="Times New Roman" panose="02020603050405020304" pitchFamily="18" charset="0"/>
              </a:rPr>
              <a:t>K</a:t>
            </a:r>
            <a:r>
              <a:rPr lang="zh-CN" altLang="en-US" sz="1800" b="1" dirty="0">
                <a:latin typeface="Times New Roman" panose="02020603050405020304" pitchFamily="18" charset="0"/>
                <a:cs typeface="Times New Roman" panose="02020603050405020304" pitchFamily="18" charset="0"/>
              </a:rPr>
              <a:t>）（室温</a:t>
            </a:r>
            <a:r>
              <a:rPr lang="en-US" altLang="zh-CN" sz="1800" b="1" dirty="0">
                <a:latin typeface="Times New Roman" panose="02020603050405020304" pitchFamily="18" charset="0"/>
                <a:cs typeface="Times New Roman" panose="02020603050405020304" pitchFamily="18" charset="0"/>
              </a:rPr>
              <a:t>=27℃+273=300K</a:t>
            </a:r>
            <a:r>
              <a:rPr lang="zh-CN" altLang="en-US" sz="1800" b="1" dirty="0">
                <a:latin typeface="Times New Roman" panose="02020603050405020304" pitchFamily="18" charset="0"/>
                <a:cs typeface="Times New Roman" panose="02020603050405020304" pitchFamily="18" charset="0"/>
              </a:rPr>
              <a:t>）</a:t>
            </a:r>
            <a:endParaRPr lang="zh-CN" altLang="en-US" sz="1800" b="1" dirty="0"/>
          </a:p>
        </p:txBody>
      </p:sp>
      <p:sp>
        <p:nvSpPr>
          <p:cNvPr id="10" name="Rectangle 26"/>
          <p:cNvSpPr>
            <a:spLocks noChangeArrowheads="1"/>
          </p:cNvSpPr>
          <p:nvPr/>
        </p:nvSpPr>
        <p:spPr bwMode="auto">
          <a:xfrm>
            <a:off x="677862" y="4035047"/>
            <a:ext cx="640873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800" b="1" dirty="0"/>
              <a:t>在绝对温度为零时，没有自由电子随机运动，即热噪声为零。</a:t>
            </a:r>
          </a:p>
        </p:txBody>
      </p:sp>
      <p:sp>
        <p:nvSpPr>
          <p:cNvPr id="14" name="Rectangle 4"/>
          <p:cNvSpPr>
            <a:spLocks noChangeArrowheads="1"/>
          </p:cNvSpPr>
          <p:nvPr/>
        </p:nvSpPr>
        <p:spPr bwMode="auto">
          <a:xfrm>
            <a:off x="173037" y="4397541"/>
            <a:ext cx="8280400"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indent="228600">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indent="0" eaLnBrk="1" hangingPunct="1">
              <a:lnSpc>
                <a:spcPct val="125000"/>
              </a:lnSpc>
              <a:spcBef>
                <a:spcPct val="0"/>
              </a:spcBef>
              <a:buFontTx/>
              <a:buNone/>
            </a:pPr>
            <a:r>
              <a:rPr lang="zh-CN" altLang="en-US" sz="2000" b="1" dirty="0" smtClean="0">
                <a:latin typeface="Times New Roman" panose="02020603050405020304" pitchFamily="18" charset="0"/>
                <a:cs typeface="Times New Roman" panose="02020603050405020304" pitchFamily="18" charset="0"/>
              </a:rPr>
              <a:t>      工程</a:t>
            </a:r>
            <a:r>
              <a:rPr lang="zh-CN" altLang="en-US" sz="2000" b="1" dirty="0">
                <a:latin typeface="Times New Roman" panose="02020603050405020304" pitchFamily="18" charset="0"/>
                <a:cs typeface="Times New Roman" panose="02020603050405020304" pitchFamily="18" charset="0"/>
              </a:rPr>
              <a:t>中噪声功率常用对数函数功率单位</a:t>
            </a:r>
            <a:r>
              <a:rPr lang="en-US" altLang="zh-CN" sz="2000" b="1" dirty="0" err="1">
                <a:latin typeface="Times New Roman" panose="02020603050405020304" pitchFamily="18" charset="0"/>
                <a:cs typeface="Times New Roman" panose="02020603050405020304" pitchFamily="18" charset="0"/>
              </a:rPr>
              <a:t>dBm</a:t>
            </a:r>
            <a:r>
              <a:rPr lang="zh-CN" altLang="en-US" sz="2000" b="1" dirty="0">
                <a:latin typeface="Times New Roman" panose="02020603050405020304" pitchFamily="18" charset="0"/>
                <a:cs typeface="Times New Roman" panose="02020603050405020304" pitchFamily="18" charset="0"/>
              </a:rPr>
              <a:t>表示，一个</a:t>
            </a:r>
            <a:r>
              <a:rPr lang="en-US" altLang="zh-CN" sz="2000" b="1" dirty="0" err="1">
                <a:latin typeface="Times New Roman" panose="02020603050405020304" pitchFamily="18" charset="0"/>
                <a:cs typeface="Times New Roman" panose="02020603050405020304" pitchFamily="18" charset="0"/>
              </a:rPr>
              <a:t>dBm</a:t>
            </a:r>
            <a:r>
              <a:rPr lang="zh-CN" altLang="en-US" sz="2000" b="1" dirty="0">
                <a:latin typeface="Times New Roman" panose="02020603050405020304" pitchFamily="18" charset="0"/>
                <a:cs typeface="Times New Roman" panose="02020603050405020304" pitchFamily="18" charset="0"/>
              </a:rPr>
              <a:t>的对数函数表达式为：</a:t>
            </a:r>
          </a:p>
        </p:txBody>
      </p:sp>
      <p:graphicFrame>
        <p:nvGraphicFramePr>
          <p:cNvPr id="15" name="Object 6"/>
          <p:cNvGraphicFramePr>
            <a:graphicFrameLocks noChangeAspect="1"/>
          </p:cNvGraphicFramePr>
          <p:nvPr>
            <p:extLst>
              <p:ext uri="{D42A27DB-BD31-4B8C-83A1-F6EECF244321}">
                <p14:modId xmlns:p14="http://schemas.microsoft.com/office/powerpoint/2010/main" val="182169710"/>
              </p:ext>
            </p:extLst>
          </p:nvPr>
        </p:nvGraphicFramePr>
        <p:xfrm>
          <a:off x="1677987" y="5200130"/>
          <a:ext cx="2733988" cy="870379"/>
        </p:xfrm>
        <a:graphic>
          <a:graphicData uri="http://schemas.openxmlformats.org/presentationml/2006/ole">
            <mc:AlternateContent xmlns:mc="http://schemas.openxmlformats.org/markup-compatibility/2006">
              <mc:Choice xmlns:v="urn:schemas-microsoft-com:vml" Requires="v">
                <p:oleObj spid="_x0000_s6324" r:id="rId5" imgW="1213647" imgH="359279" progId="">
                  <p:embed/>
                </p:oleObj>
              </mc:Choice>
              <mc:Fallback>
                <p:oleObj r:id="rId5" imgW="1213647" imgH="359279" progId="">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77987" y="5200130"/>
                        <a:ext cx="2733988" cy="870379"/>
                      </a:xfrm>
                      <a:prstGeom prst="rect">
                        <a:avLst/>
                      </a:prstGeom>
                      <a:noFill/>
                      <a:ln>
                        <a:noFill/>
                      </a:ln>
                      <a:extLst/>
                    </p:spPr>
                  </p:pic>
                </p:oleObj>
              </mc:Fallback>
            </mc:AlternateContent>
          </a:graphicData>
        </a:graphic>
      </p:graphicFrame>
      <p:graphicFrame>
        <p:nvGraphicFramePr>
          <p:cNvPr id="16" name="Object 9"/>
          <p:cNvGraphicFramePr>
            <a:graphicFrameLocks noChangeAspect="1"/>
          </p:cNvGraphicFramePr>
          <p:nvPr>
            <p:extLst>
              <p:ext uri="{D42A27DB-BD31-4B8C-83A1-F6EECF244321}">
                <p14:modId xmlns:p14="http://schemas.microsoft.com/office/powerpoint/2010/main" val="259116591"/>
              </p:ext>
            </p:extLst>
          </p:nvPr>
        </p:nvGraphicFramePr>
        <p:xfrm>
          <a:off x="4411974" y="5196329"/>
          <a:ext cx="3008205" cy="874179"/>
        </p:xfrm>
        <a:graphic>
          <a:graphicData uri="http://schemas.openxmlformats.org/presentationml/2006/ole">
            <mc:AlternateContent xmlns:mc="http://schemas.openxmlformats.org/markup-compatibility/2006">
              <mc:Choice xmlns:v="urn:schemas-microsoft-com:vml" Requires="v">
                <p:oleObj spid="_x0000_s6325" r:id="rId7" imgW="1327944" imgH="359279" progId="">
                  <p:embed/>
                </p:oleObj>
              </mc:Choice>
              <mc:Fallback>
                <p:oleObj r:id="rId7" imgW="1327944" imgH="359279" progId="">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11974" y="5196329"/>
                        <a:ext cx="3008205" cy="874179"/>
                      </a:xfrm>
                      <a:prstGeom prst="rect">
                        <a:avLst/>
                      </a:prstGeom>
                      <a:noFill/>
                      <a:ln>
                        <a:noFill/>
                      </a:ln>
                      <a:extLst/>
                    </p:spPr>
                  </p:pic>
                </p:oleObj>
              </mc:Fallback>
            </mc:AlternateContent>
          </a:graphicData>
        </a:graphic>
      </p:graphicFrame>
    </p:spTree>
    <p:extLst>
      <p:ext uri="{BB962C8B-B14F-4D97-AF65-F5344CB8AC3E}">
        <p14:creationId xmlns:p14="http://schemas.microsoft.com/office/powerpoint/2010/main" val="7035225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21</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1.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概论</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Rectangle 12"/>
          <p:cNvSpPr>
            <a:spLocks noChangeArrowheads="1"/>
          </p:cNvSpPr>
          <p:nvPr/>
        </p:nvSpPr>
        <p:spPr bwMode="auto">
          <a:xfrm>
            <a:off x="427090" y="1664269"/>
            <a:ext cx="7881337" cy="784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5000"/>
              </a:lnSpc>
              <a:spcBef>
                <a:spcPct val="0"/>
              </a:spcBef>
              <a:buFontTx/>
              <a:buNone/>
            </a:pPr>
            <a:r>
              <a:rPr lang="zh-CN" altLang="en-US" sz="1800" b="1" dirty="0" smtClean="0">
                <a:latin typeface="Times New Roman" panose="02020603050405020304" pitchFamily="18" charset="0"/>
              </a:rPr>
              <a:t>用</a:t>
            </a:r>
            <a:r>
              <a:rPr lang="zh-CN" altLang="en-US" sz="1800" b="1" dirty="0">
                <a:latin typeface="Times New Roman" panose="02020603050405020304" pitchFamily="18" charset="0"/>
              </a:rPr>
              <a:t>信号功率</a:t>
            </a:r>
            <a:r>
              <a:rPr lang="en-US" altLang="zh-CN" sz="1800" b="1" dirty="0">
                <a:latin typeface="Times New Roman" panose="02020603050405020304" pitchFamily="18" charset="0"/>
              </a:rPr>
              <a:t>S</a:t>
            </a:r>
            <a:r>
              <a:rPr lang="zh-CN" altLang="en-US" sz="1800" b="1" dirty="0">
                <a:latin typeface="Times New Roman" panose="02020603050405020304" pitchFamily="18" charset="0"/>
              </a:rPr>
              <a:t>与噪声功率</a:t>
            </a:r>
            <a:r>
              <a:rPr lang="en-US" altLang="zh-CN" sz="1800" b="1" dirty="0">
                <a:latin typeface="Times New Roman" panose="02020603050405020304" pitchFamily="18" charset="0"/>
              </a:rPr>
              <a:t>N</a:t>
            </a:r>
            <a:r>
              <a:rPr lang="zh-CN" altLang="en-US" sz="1800" b="1" dirty="0">
                <a:latin typeface="Times New Roman" panose="02020603050405020304" pitchFamily="18" charset="0"/>
              </a:rPr>
              <a:t>之比，即</a:t>
            </a:r>
            <a:r>
              <a:rPr lang="zh-CN" altLang="en-US" sz="1800" b="1" dirty="0">
                <a:solidFill>
                  <a:srgbClr val="FF3300"/>
                </a:solidFill>
                <a:latin typeface="Times New Roman" panose="02020603050405020304" pitchFamily="18" charset="0"/>
              </a:rPr>
              <a:t>信噪比</a:t>
            </a:r>
            <a:r>
              <a:rPr lang="en-US" altLang="zh-CN" sz="1800" b="1" dirty="0">
                <a:solidFill>
                  <a:srgbClr val="FF3300"/>
                </a:solidFill>
                <a:latin typeface="Times New Roman" panose="02020603050405020304" pitchFamily="18" charset="0"/>
              </a:rPr>
              <a:t>S</a:t>
            </a:r>
            <a:r>
              <a:rPr lang="zh-CN" altLang="en-US" sz="1800" b="1" dirty="0">
                <a:solidFill>
                  <a:srgbClr val="FF3300"/>
                </a:solidFill>
                <a:latin typeface="Times New Roman" panose="02020603050405020304" pitchFamily="18" charset="0"/>
              </a:rPr>
              <a:t>／</a:t>
            </a:r>
            <a:r>
              <a:rPr lang="en-US" altLang="zh-CN" sz="1800" b="1" dirty="0">
                <a:solidFill>
                  <a:srgbClr val="FF3300"/>
                </a:solidFill>
                <a:latin typeface="Times New Roman" panose="02020603050405020304" pitchFamily="18" charset="0"/>
              </a:rPr>
              <a:t>N</a:t>
            </a:r>
            <a:r>
              <a:rPr lang="zh-CN" altLang="en-US" sz="1800" b="1" dirty="0">
                <a:latin typeface="Times New Roman" panose="02020603050405020304" pitchFamily="18" charset="0"/>
              </a:rPr>
              <a:t>来衡量信号的质量。</a:t>
            </a:r>
            <a:r>
              <a:rPr lang="zh-CN" altLang="en-US" sz="1800" b="1" dirty="0">
                <a:solidFill>
                  <a:srgbClr val="660033"/>
                </a:solidFill>
                <a:latin typeface="Times New Roman" panose="02020603050405020304" pitchFamily="18" charset="0"/>
              </a:rPr>
              <a:t>信噪比</a:t>
            </a:r>
            <a:r>
              <a:rPr lang="en-US" altLang="zh-CN" sz="1800" b="1" dirty="0">
                <a:solidFill>
                  <a:srgbClr val="660033"/>
                </a:solidFill>
                <a:latin typeface="Times New Roman" panose="02020603050405020304" pitchFamily="18" charset="0"/>
              </a:rPr>
              <a:t>S</a:t>
            </a:r>
            <a:r>
              <a:rPr lang="zh-CN" altLang="en-US" sz="1800" b="1" dirty="0">
                <a:solidFill>
                  <a:srgbClr val="660033"/>
                </a:solidFill>
                <a:latin typeface="Times New Roman" panose="02020603050405020304" pitchFamily="18" charset="0"/>
              </a:rPr>
              <a:t>／</a:t>
            </a:r>
            <a:r>
              <a:rPr lang="en-US" altLang="zh-CN" sz="1800" b="1" dirty="0">
                <a:solidFill>
                  <a:srgbClr val="660033"/>
                </a:solidFill>
                <a:latin typeface="Times New Roman" panose="02020603050405020304" pitchFamily="18" charset="0"/>
              </a:rPr>
              <a:t>N</a:t>
            </a:r>
            <a:r>
              <a:rPr lang="zh-CN" altLang="en-US" sz="1800" b="1" dirty="0">
                <a:latin typeface="Times New Roman" panose="02020603050405020304" pitchFamily="18" charset="0"/>
              </a:rPr>
              <a:t>越大，信号质量越好。</a:t>
            </a:r>
          </a:p>
        </p:txBody>
      </p:sp>
      <p:sp>
        <p:nvSpPr>
          <p:cNvPr id="6" name="Rectangle 14"/>
          <p:cNvSpPr>
            <a:spLocks noChangeArrowheads="1"/>
          </p:cNvSpPr>
          <p:nvPr/>
        </p:nvSpPr>
        <p:spPr bwMode="auto">
          <a:xfrm>
            <a:off x="427090" y="2319415"/>
            <a:ext cx="7809329" cy="784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5000"/>
              </a:lnSpc>
              <a:spcBef>
                <a:spcPct val="0"/>
              </a:spcBef>
              <a:buFontTx/>
              <a:buNone/>
            </a:pPr>
            <a:r>
              <a:rPr lang="zh-CN" altLang="en-US" sz="1800" b="1" dirty="0" smtClean="0">
                <a:latin typeface="Times New Roman" panose="02020603050405020304" pitchFamily="18" charset="0"/>
              </a:rPr>
              <a:t>输出</a:t>
            </a:r>
            <a:r>
              <a:rPr lang="zh-CN" altLang="en-US" sz="1800" b="1" dirty="0">
                <a:latin typeface="Times New Roman" panose="02020603050405020304" pitchFamily="18" charset="0"/>
              </a:rPr>
              <a:t>信噪比相对输入信噪比的变化，可以明确地表明电路的噪声性能。定义输入信噪比和输出信噪比的比值为</a:t>
            </a:r>
            <a:r>
              <a:rPr lang="zh-CN" altLang="en-US" sz="1800" b="1" dirty="0">
                <a:solidFill>
                  <a:srgbClr val="FF3300"/>
                </a:solidFill>
                <a:latin typeface="Times New Roman" panose="02020603050405020304" pitchFamily="18" charset="0"/>
              </a:rPr>
              <a:t>噪声因数</a:t>
            </a:r>
            <a:r>
              <a:rPr lang="en-US" altLang="zh-CN" sz="1800" b="1" dirty="0">
                <a:solidFill>
                  <a:schemeClr val="hlink"/>
                </a:solidFill>
                <a:latin typeface="Times New Roman" panose="02020603050405020304" pitchFamily="18" charset="0"/>
              </a:rPr>
              <a:t>F</a:t>
            </a:r>
            <a:r>
              <a:rPr lang="zh-CN" altLang="en-US" sz="1800" b="1" dirty="0">
                <a:latin typeface="Times New Roman" panose="02020603050405020304" pitchFamily="18" charset="0"/>
              </a:rPr>
              <a:t>，即</a:t>
            </a:r>
          </a:p>
        </p:txBody>
      </p:sp>
      <p:graphicFrame>
        <p:nvGraphicFramePr>
          <p:cNvPr id="7" name="Object 8"/>
          <p:cNvGraphicFramePr>
            <a:graphicFrameLocks noChangeAspect="1"/>
          </p:cNvGraphicFramePr>
          <p:nvPr>
            <p:extLst>
              <p:ext uri="{D42A27DB-BD31-4B8C-83A1-F6EECF244321}">
                <p14:modId xmlns:p14="http://schemas.microsoft.com/office/powerpoint/2010/main" val="763398796"/>
              </p:ext>
            </p:extLst>
          </p:nvPr>
        </p:nvGraphicFramePr>
        <p:xfrm>
          <a:off x="4845687" y="3070222"/>
          <a:ext cx="982152" cy="1439787"/>
        </p:xfrm>
        <a:graphic>
          <a:graphicData uri="http://schemas.openxmlformats.org/presentationml/2006/ole">
            <mc:AlternateContent xmlns:mc="http://schemas.openxmlformats.org/markup-compatibility/2006">
              <mc:Choice xmlns:v="urn:schemas-microsoft-com:vml" Requires="v">
                <p:oleObj spid="_x0000_s7344" r:id="rId3" imgW="516961" imgH="783771" progId="">
                  <p:embed/>
                </p:oleObj>
              </mc:Choice>
              <mc:Fallback>
                <p:oleObj r:id="rId3" imgW="516961" imgH="783771" progId="">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45687" y="3070222"/>
                        <a:ext cx="982152" cy="1439787"/>
                      </a:xfrm>
                      <a:prstGeom prst="rect">
                        <a:avLst/>
                      </a:prstGeom>
                      <a:noFill/>
                      <a:ln>
                        <a:noFill/>
                      </a:ln>
                      <a:extLst/>
                    </p:spPr>
                  </p:pic>
                </p:oleObj>
              </mc:Fallback>
            </mc:AlternateContent>
          </a:graphicData>
        </a:graphic>
      </p:graphicFrame>
      <p:grpSp>
        <p:nvGrpSpPr>
          <p:cNvPr id="8" name="Group 22"/>
          <p:cNvGrpSpPr>
            <a:grpSpLocks/>
          </p:cNvGrpSpPr>
          <p:nvPr/>
        </p:nvGrpSpPr>
        <p:grpSpPr bwMode="auto">
          <a:xfrm>
            <a:off x="5918238" y="3194430"/>
            <a:ext cx="2671763" cy="366712"/>
            <a:chOff x="0" y="11"/>
            <a:chExt cx="1683" cy="231"/>
          </a:xfrm>
        </p:grpSpPr>
        <p:sp>
          <p:nvSpPr>
            <p:cNvPr id="9" name="Rectangle 17"/>
            <p:cNvSpPr>
              <a:spLocks noChangeArrowheads="1"/>
            </p:cNvSpPr>
            <p:nvPr/>
          </p:nvSpPr>
          <p:spPr bwMode="auto">
            <a:xfrm>
              <a:off x="487" y="11"/>
              <a:ext cx="1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800" b="1" dirty="0">
                  <a:latin typeface="隶书" panose="02010509060101010101" pitchFamily="49" charset="-122"/>
                  <a:ea typeface="隶书" panose="02010509060101010101" pitchFamily="49" charset="-122"/>
                </a:rPr>
                <a:t>输入信噪功率比 </a:t>
              </a:r>
            </a:p>
          </p:txBody>
        </p:sp>
        <p:sp>
          <p:nvSpPr>
            <p:cNvPr id="10" name="Line 20"/>
            <p:cNvSpPr>
              <a:spLocks noChangeShapeType="1"/>
            </p:cNvSpPr>
            <p:nvPr/>
          </p:nvSpPr>
          <p:spPr bwMode="auto">
            <a:xfrm>
              <a:off x="0" y="154"/>
              <a:ext cx="363" cy="0"/>
            </a:xfrm>
            <a:prstGeom prst="line">
              <a:avLst/>
            </a:prstGeom>
            <a:noFill/>
            <a:ln w="38100">
              <a:solidFill>
                <a:srgbClr val="990099"/>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1" name="Group 23"/>
          <p:cNvGrpSpPr>
            <a:grpSpLocks/>
          </p:cNvGrpSpPr>
          <p:nvPr/>
        </p:nvGrpSpPr>
        <p:grpSpPr bwMode="auto">
          <a:xfrm>
            <a:off x="5899847" y="3741815"/>
            <a:ext cx="2690813" cy="366712"/>
            <a:chOff x="0" y="2"/>
            <a:chExt cx="1695" cy="231"/>
          </a:xfrm>
        </p:grpSpPr>
        <p:sp>
          <p:nvSpPr>
            <p:cNvPr id="12" name="Rectangle 19"/>
            <p:cNvSpPr>
              <a:spLocks noChangeArrowheads="1"/>
            </p:cNvSpPr>
            <p:nvPr/>
          </p:nvSpPr>
          <p:spPr bwMode="auto">
            <a:xfrm>
              <a:off x="499" y="2"/>
              <a:ext cx="1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800" b="1" dirty="0">
                  <a:latin typeface="隶书" panose="02010509060101010101" pitchFamily="49" charset="-122"/>
                  <a:ea typeface="隶书" panose="02010509060101010101" pitchFamily="49" charset="-122"/>
                </a:rPr>
                <a:t>输出信噪功率比 </a:t>
              </a:r>
            </a:p>
          </p:txBody>
        </p:sp>
        <p:sp>
          <p:nvSpPr>
            <p:cNvPr id="13" name="Line 21"/>
            <p:cNvSpPr>
              <a:spLocks noChangeShapeType="1"/>
            </p:cNvSpPr>
            <p:nvPr/>
          </p:nvSpPr>
          <p:spPr bwMode="auto">
            <a:xfrm>
              <a:off x="0" y="154"/>
              <a:ext cx="363" cy="0"/>
            </a:xfrm>
            <a:prstGeom prst="line">
              <a:avLst/>
            </a:prstGeom>
            <a:noFill/>
            <a:ln w="38100">
              <a:solidFill>
                <a:srgbClr val="990099"/>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4" name="Rectangle 10"/>
          <p:cNvSpPr>
            <a:spLocks noChangeArrowheads="1"/>
          </p:cNvSpPr>
          <p:nvPr/>
        </p:nvSpPr>
        <p:spPr bwMode="auto">
          <a:xfrm>
            <a:off x="427090" y="2996025"/>
            <a:ext cx="3960813" cy="822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25000"/>
              </a:lnSpc>
              <a:spcBef>
                <a:spcPct val="0"/>
              </a:spcBef>
              <a:buFontTx/>
              <a:buNone/>
            </a:pPr>
            <a:r>
              <a:rPr lang="zh-CN" altLang="en-US" sz="2000" b="1" dirty="0" smtClean="0">
                <a:solidFill>
                  <a:srgbClr val="000000"/>
                </a:solidFill>
                <a:latin typeface="Times New Roman" panose="02020603050405020304" pitchFamily="18" charset="0"/>
              </a:rPr>
              <a:t>将</a:t>
            </a:r>
            <a:r>
              <a:rPr lang="zh-CN" altLang="en-US" sz="2000" b="1" dirty="0">
                <a:solidFill>
                  <a:srgbClr val="000000"/>
                </a:solidFill>
                <a:latin typeface="Times New Roman" panose="02020603050405020304" pitchFamily="18" charset="0"/>
              </a:rPr>
              <a:t>噪声因数</a:t>
            </a:r>
            <a:r>
              <a:rPr lang="en-US" altLang="zh-CN" sz="2000" b="1" dirty="0">
                <a:solidFill>
                  <a:srgbClr val="CC3300"/>
                </a:solidFill>
                <a:latin typeface="Times New Roman" panose="02020603050405020304" pitchFamily="18" charset="0"/>
              </a:rPr>
              <a:t>F</a:t>
            </a:r>
            <a:r>
              <a:rPr lang="zh-CN" altLang="en-US" sz="2000" b="1" dirty="0">
                <a:solidFill>
                  <a:srgbClr val="000000"/>
                </a:solidFill>
                <a:latin typeface="Times New Roman" panose="02020603050405020304" pitchFamily="18" charset="0"/>
              </a:rPr>
              <a:t>用对数表示，就是</a:t>
            </a:r>
            <a:r>
              <a:rPr lang="zh-CN" altLang="en-US" sz="2000" b="1" dirty="0">
                <a:solidFill>
                  <a:srgbClr val="FF3300"/>
                </a:solidFill>
                <a:latin typeface="Times New Roman" panose="02020603050405020304" pitchFamily="18" charset="0"/>
              </a:rPr>
              <a:t>噪声系数</a:t>
            </a:r>
            <a:r>
              <a:rPr lang="en-US" altLang="zh-CN" sz="2000" b="1" i="1" dirty="0">
                <a:solidFill>
                  <a:srgbClr val="FF3300"/>
                </a:solidFill>
                <a:latin typeface="Times New Roman" panose="02020603050405020304" pitchFamily="18" charset="0"/>
              </a:rPr>
              <a:t>N</a:t>
            </a:r>
            <a:r>
              <a:rPr lang="en-US" altLang="zh-CN" sz="2000" b="1" baseline="-30000" dirty="0">
                <a:solidFill>
                  <a:srgbClr val="FF3300"/>
                </a:solidFill>
                <a:latin typeface="Times New Roman" panose="02020603050405020304" pitchFamily="18" charset="0"/>
              </a:rPr>
              <a:t>F</a:t>
            </a:r>
            <a:r>
              <a:rPr lang="zh-CN" altLang="en-US" sz="2000" b="1" dirty="0">
                <a:solidFill>
                  <a:srgbClr val="000000"/>
                </a:solidFill>
                <a:latin typeface="Times New Roman" panose="02020603050405020304" pitchFamily="18" charset="0"/>
              </a:rPr>
              <a:t>，即</a:t>
            </a:r>
          </a:p>
        </p:txBody>
      </p:sp>
      <p:graphicFrame>
        <p:nvGraphicFramePr>
          <p:cNvPr id="15" name="Object 16"/>
          <p:cNvGraphicFramePr>
            <a:graphicFrameLocks noChangeAspect="1"/>
          </p:cNvGraphicFramePr>
          <p:nvPr>
            <p:extLst>
              <p:ext uri="{D42A27DB-BD31-4B8C-83A1-F6EECF244321}">
                <p14:modId xmlns:p14="http://schemas.microsoft.com/office/powerpoint/2010/main" val="1123904528"/>
              </p:ext>
            </p:extLst>
          </p:nvPr>
        </p:nvGraphicFramePr>
        <p:xfrm>
          <a:off x="453442" y="3832015"/>
          <a:ext cx="1542722" cy="396578"/>
        </p:xfrm>
        <a:graphic>
          <a:graphicData uri="http://schemas.openxmlformats.org/presentationml/2006/ole">
            <mc:AlternateContent xmlns:mc="http://schemas.openxmlformats.org/markup-compatibility/2006">
              <mc:Choice xmlns:v="urn:schemas-microsoft-com:vml" Requires="v">
                <p:oleObj spid="_x0000_s7345" r:id="rId5" imgW="850531" imgH="215806" progId="">
                  <p:embed/>
                </p:oleObj>
              </mc:Choice>
              <mc:Fallback>
                <p:oleObj r:id="rId5" imgW="850531" imgH="215806" progId="">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3442" y="3832015"/>
                        <a:ext cx="1542722" cy="396578"/>
                      </a:xfrm>
                      <a:prstGeom prst="rect">
                        <a:avLst/>
                      </a:prstGeom>
                      <a:noFill/>
                      <a:ln>
                        <a:noFill/>
                      </a:ln>
                      <a:extLst/>
                    </p:spPr>
                  </p:pic>
                </p:oleObj>
              </mc:Fallback>
            </mc:AlternateContent>
          </a:graphicData>
        </a:graphic>
      </p:graphicFrame>
      <p:graphicFrame>
        <p:nvGraphicFramePr>
          <p:cNvPr id="16" name="Object 17"/>
          <p:cNvGraphicFramePr>
            <a:graphicFrameLocks noChangeAspect="1"/>
          </p:cNvGraphicFramePr>
          <p:nvPr>
            <p:extLst>
              <p:ext uri="{D42A27DB-BD31-4B8C-83A1-F6EECF244321}">
                <p14:modId xmlns:p14="http://schemas.microsoft.com/office/powerpoint/2010/main" val="751265809"/>
              </p:ext>
            </p:extLst>
          </p:nvPr>
        </p:nvGraphicFramePr>
        <p:xfrm>
          <a:off x="931146" y="4171382"/>
          <a:ext cx="1239187" cy="1537171"/>
        </p:xfrm>
        <a:graphic>
          <a:graphicData uri="http://schemas.openxmlformats.org/presentationml/2006/ole">
            <mc:AlternateContent xmlns:mc="http://schemas.openxmlformats.org/markup-compatibility/2006">
              <mc:Choice xmlns:v="urn:schemas-microsoft-com:vml" Requires="v">
                <p:oleObj spid="_x0000_s7346" r:id="rId7" imgW="724214" imgH="838564" progId="">
                  <p:embed/>
                </p:oleObj>
              </mc:Choice>
              <mc:Fallback>
                <p:oleObj r:id="rId7" imgW="724214" imgH="838564" progId="">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31146" y="4171382"/>
                        <a:ext cx="1239187" cy="1537171"/>
                      </a:xfrm>
                      <a:prstGeom prst="rect">
                        <a:avLst/>
                      </a:prstGeom>
                      <a:noFill/>
                      <a:ln>
                        <a:noFill/>
                      </a:ln>
                      <a:extLst/>
                    </p:spPr>
                  </p:pic>
                </p:oleObj>
              </mc:Fallback>
            </mc:AlternateContent>
          </a:graphicData>
        </a:graphic>
      </p:graphicFrame>
      <p:sp>
        <p:nvSpPr>
          <p:cNvPr id="17" name="Rectangle 27"/>
          <p:cNvSpPr>
            <a:spLocks noChangeArrowheads="1"/>
          </p:cNvSpPr>
          <p:nvPr/>
        </p:nvSpPr>
        <p:spPr bwMode="auto">
          <a:xfrm>
            <a:off x="2803354" y="4510009"/>
            <a:ext cx="5832475" cy="1638300"/>
          </a:xfrm>
          <a:prstGeom prst="rect">
            <a:avLst/>
          </a:prstGeom>
          <a:noFill/>
          <a:ln w="22225">
            <a:solidFill>
              <a:srgbClr val="00FFFF"/>
            </a:solidFill>
            <a:prstDash val="lgDashDot"/>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zh-CN" altLang="en-US" sz="2000" b="1" dirty="0" smtClean="0">
                <a:solidFill>
                  <a:srgbClr val="FF0000"/>
                </a:solidFill>
                <a:latin typeface="Times New Roman" panose="02020603050405020304" pitchFamily="18" charset="0"/>
                <a:cs typeface="Times New Roman" panose="02020603050405020304" pitchFamily="18" charset="0"/>
              </a:rPr>
              <a:t>噪声系数</a:t>
            </a:r>
            <a:r>
              <a:rPr lang="en-US" altLang="zh-CN" sz="2000" b="1" dirty="0">
                <a:solidFill>
                  <a:srgbClr val="FF0000"/>
                </a:solidFill>
                <a:latin typeface="Times New Roman" panose="02020603050405020304" pitchFamily="18" charset="0"/>
                <a:cs typeface="Times New Roman" panose="02020603050405020304" pitchFamily="18" charset="0"/>
              </a:rPr>
              <a:t>N</a:t>
            </a:r>
            <a:r>
              <a:rPr lang="en-US" altLang="zh-CN" sz="2000" b="1" baseline="-30000" dirty="0">
                <a:solidFill>
                  <a:srgbClr val="FF0000"/>
                </a:solidFill>
                <a:latin typeface="Times New Roman" panose="02020603050405020304" pitchFamily="18" charset="0"/>
                <a:cs typeface="Times New Roman" panose="02020603050405020304" pitchFamily="18" charset="0"/>
              </a:rPr>
              <a:t>F</a:t>
            </a:r>
            <a:r>
              <a:rPr lang="zh-CN" altLang="en-US" sz="2000" b="1" dirty="0">
                <a:latin typeface="Times New Roman" panose="02020603050405020304" pitchFamily="18" charset="0"/>
                <a:cs typeface="Times New Roman" panose="02020603050405020304" pitchFamily="18" charset="0"/>
              </a:rPr>
              <a:t>明确地表明了当一个信号从电路的输入传到输出端时，信噪比恶化的程度。例如，噪声系数为</a:t>
            </a:r>
            <a:r>
              <a:rPr lang="en-US" altLang="zh-CN" sz="2000" b="1" dirty="0">
                <a:latin typeface="Times New Roman" panose="02020603050405020304" pitchFamily="18" charset="0"/>
                <a:cs typeface="Times New Roman" panose="02020603050405020304" pitchFamily="18" charset="0"/>
              </a:rPr>
              <a:t>3dB</a:t>
            </a:r>
            <a:r>
              <a:rPr lang="zh-CN" altLang="en-US" sz="2000" b="1" dirty="0">
                <a:latin typeface="Times New Roman" panose="02020603050405020304" pitchFamily="18" charset="0"/>
                <a:cs typeface="Times New Roman" panose="02020603050405020304" pitchFamily="18" charset="0"/>
              </a:rPr>
              <a:t>的放大器表明输出端的信噪比比输入端小</a:t>
            </a:r>
            <a:r>
              <a:rPr lang="en-US" altLang="zh-CN" sz="2000" b="1" dirty="0">
                <a:latin typeface="Times New Roman" panose="02020603050405020304" pitchFamily="18" charset="0"/>
                <a:cs typeface="Times New Roman" panose="02020603050405020304" pitchFamily="18" charset="0"/>
              </a:rPr>
              <a:t>3dB</a:t>
            </a:r>
            <a:r>
              <a:rPr lang="zh-CN" altLang="en-US" sz="2000" b="1" dirty="0">
                <a:latin typeface="Times New Roman" panose="02020603050405020304" pitchFamily="18" charset="0"/>
                <a:cs typeface="Times New Roman" panose="02020603050405020304" pitchFamily="18" charset="0"/>
              </a:rPr>
              <a:t>。</a:t>
            </a:r>
            <a:r>
              <a:rPr lang="zh-CN" altLang="en-US" sz="2000" b="1" dirty="0">
                <a:solidFill>
                  <a:srgbClr val="FF0000"/>
                </a:solidFill>
                <a:latin typeface="Times New Roman" panose="02020603050405020304" pitchFamily="18" charset="0"/>
                <a:cs typeface="Times New Roman" panose="02020603050405020304" pitchFamily="18" charset="0"/>
              </a:rPr>
              <a:t>对一个理想的无噪声</a:t>
            </a:r>
            <a:r>
              <a:rPr lang="zh-CN" altLang="en-US" sz="2000" b="1" dirty="0">
                <a:latin typeface="Times New Roman" panose="02020603050405020304" pitchFamily="18" charset="0"/>
                <a:cs typeface="Times New Roman" panose="02020603050405020304" pitchFamily="18" charset="0"/>
              </a:rPr>
              <a:t>放大器，噪声因数</a:t>
            </a:r>
            <a:r>
              <a:rPr lang="en-US" altLang="zh-CN" sz="2000" b="1" dirty="0">
                <a:latin typeface="Times New Roman" panose="02020603050405020304" pitchFamily="18" charset="0"/>
                <a:cs typeface="Times New Roman" panose="02020603050405020304" pitchFamily="18" charset="0"/>
              </a:rPr>
              <a:t>F=1</a:t>
            </a:r>
            <a:r>
              <a:rPr lang="zh-CN" altLang="en-US" sz="2000" b="1" dirty="0">
                <a:latin typeface="Times New Roman" panose="02020603050405020304" pitchFamily="18" charset="0"/>
                <a:cs typeface="Times New Roman" panose="02020603050405020304" pitchFamily="18" charset="0"/>
              </a:rPr>
              <a:t>，</a:t>
            </a:r>
            <a:r>
              <a:rPr lang="zh-CN" altLang="en-US" sz="2000" b="1" dirty="0">
                <a:solidFill>
                  <a:srgbClr val="FF0000"/>
                </a:solidFill>
                <a:latin typeface="Times New Roman" panose="02020603050405020304" pitchFamily="18" charset="0"/>
                <a:cs typeface="Times New Roman" panose="02020603050405020304" pitchFamily="18" charset="0"/>
              </a:rPr>
              <a:t>噪声系数</a:t>
            </a:r>
            <a:r>
              <a:rPr lang="en-US" altLang="zh-CN" sz="2000" b="1" dirty="0">
                <a:solidFill>
                  <a:srgbClr val="FF0000"/>
                </a:solidFill>
                <a:latin typeface="Times New Roman" panose="02020603050405020304" pitchFamily="18" charset="0"/>
                <a:cs typeface="Times New Roman" panose="02020603050405020304" pitchFamily="18" charset="0"/>
              </a:rPr>
              <a:t>N</a:t>
            </a:r>
            <a:r>
              <a:rPr lang="en-US" altLang="zh-CN" sz="2000" b="1" baseline="-30000" dirty="0">
                <a:solidFill>
                  <a:srgbClr val="FF0000"/>
                </a:solidFill>
                <a:latin typeface="Times New Roman" panose="02020603050405020304" pitchFamily="18" charset="0"/>
                <a:cs typeface="Times New Roman" panose="02020603050405020304" pitchFamily="18" charset="0"/>
              </a:rPr>
              <a:t>F</a:t>
            </a:r>
            <a:r>
              <a:rPr lang="en-US" altLang="zh-CN" sz="2000" b="1" dirty="0">
                <a:solidFill>
                  <a:srgbClr val="FF0000"/>
                </a:solidFill>
                <a:latin typeface="Times New Roman" panose="02020603050405020304" pitchFamily="18" charset="0"/>
                <a:cs typeface="Times New Roman" panose="02020603050405020304" pitchFamily="18" charset="0"/>
              </a:rPr>
              <a:t>=0dB</a:t>
            </a:r>
            <a:r>
              <a:rPr lang="zh-CN" altLang="en-US" sz="2000" b="1"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94545264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22</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1.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概论</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Rectangle 10"/>
          <p:cNvSpPr>
            <a:spLocks noChangeArrowheads="1"/>
          </p:cNvSpPr>
          <p:nvPr/>
        </p:nvSpPr>
        <p:spPr bwMode="auto">
          <a:xfrm>
            <a:off x="0" y="1438057"/>
            <a:ext cx="9143999" cy="1193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25000"/>
              </a:lnSpc>
              <a:spcBef>
                <a:spcPct val="0"/>
              </a:spcBef>
              <a:buFontTx/>
              <a:buNone/>
            </a:pPr>
            <a:r>
              <a:rPr lang="zh-CN" altLang="en-US" sz="2000" b="1" dirty="0" smtClean="0">
                <a:solidFill>
                  <a:srgbClr val="000000"/>
                </a:solidFill>
                <a:latin typeface="楷体_GB2312" pitchFamily="49" charset="-122"/>
                <a:ea typeface="楷体_GB2312" pitchFamily="49" charset="-122"/>
              </a:rPr>
              <a:t>通信系统</a:t>
            </a:r>
            <a:r>
              <a:rPr lang="zh-CN" altLang="en-US" sz="2000" b="1" dirty="0">
                <a:solidFill>
                  <a:srgbClr val="000000"/>
                </a:solidFill>
                <a:latin typeface="楷体_GB2312" pitchFamily="49" charset="-122"/>
                <a:ea typeface="楷体_GB2312" pitchFamily="49" charset="-122"/>
              </a:rPr>
              <a:t>中接收机和发射机都是由多级单元电路组成，每个单元电路都有噪声，信号通过这些接收通道电路后，其输出信噪比将变差。为计算信噪比变差的程度，就要求算出接收机的</a:t>
            </a:r>
            <a:r>
              <a:rPr lang="zh-CN" altLang="en-US" sz="2000" b="1" dirty="0">
                <a:solidFill>
                  <a:srgbClr val="FF3300"/>
                </a:solidFill>
                <a:latin typeface="楷体_GB2312" pitchFamily="49" charset="-122"/>
                <a:ea typeface="楷体_GB2312" pitchFamily="49" charset="-122"/>
              </a:rPr>
              <a:t>总噪声系数</a:t>
            </a:r>
            <a:r>
              <a:rPr lang="zh-CN" altLang="en-US" sz="2000" b="1" dirty="0">
                <a:solidFill>
                  <a:srgbClr val="000000"/>
                </a:solidFill>
                <a:latin typeface="楷体_GB2312" pitchFamily="49" charset="-122"/>
                <a:ea typeface="楷体_GB2312" pitchFamily="49" charset="-122"/>
              </a:rPr>
              <a:t>，即</a:t>
            </a:r>
            <a:r>
              <a:rPr lang="zh-CN" altLang="en-US" sz="2000" b="1" dirty="0">
                <a:solidFill>
                  <a:srgbClr val="0070C0"/>
                </a:solidFill>
                <a:latin typeface="楷体_GB2312" pitchFamily="49" charset="-122"/>
                <a:ea typeface="楷体_GB2312" pitchFamily="49" charset="-122"/>
              </a:rPr>
              <a:t>必须求算出多级级联电路的总噪声系数</a:t>
            </a:r>
            <a:r>
              <a:rPr lang="zh-CN" altLang="en-US" sz="2000" b="1" dirty="0">
                <a:latin typeface="楷体_GB2312" pitchFamily="49" charset="-122"/>
                <a:ea typeface="楷体_GB2312" pitchFamily="49" charset="-122"/>
              </a:rPr>
              <a:t>。</a:t>
            </a:r>
          </a:p>
        </p:txBody>
      </p:sp>
      <p:graphicFrame>
        <p:nvGraphicFramePr>
          <p:cNvPr id="6" name="Object 16"/>
          <p:cNvGraphicFramePr>
            <a:graphicFrameLocks noChangeAspect="1"/>
          </p:cNvGraphicFramePr>
          <p:nvPr>
            <p:extLst>
              <p:ext uri="{D42A27DB-BD31-4B8C-83A1-F6EECF244321}">
                <p14:modId xmlns:p14="http://schemas.microsoft.com/office/powerpoint/2010/main" val="3654510544"/>
              </p:ext>
            </p:extLst>
          </p:nvPr>
        </p:nvGraphicFramePr>
        <p:xfrm>
          <a:off x="2100651" y="2664397"/>
          <a:ext cx="4485146" cy="844646"/>
        </p:xfrm>
        <a:graphic>
          <a:graphicData uri="http://schemas.openxmlformats.org/presentationml/2006/ole">
            <mc:AlternateContent xmlns:mc="http://schemas.openxmlformats.org/markup-compatibility/2006">
              <mc:Choice xmlns:v="urn:schemas-microsoft-com:vml" Requires="v">
                <p:oleObj spid="_x0000_s8426" r:id="rId3" imgW="3221640" imgH="610200" progId="">
                  <p:embed/>
                </p:oleObj>
              </mc:Choice>
              <mc:Fallback>
                <p:oleObj r:id="rId3" imgW="3221640" imgH="610200" progId="">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00651" y="2664397"/>
                        <a:ext cx="4485146" cy="844646"/>
                      </a:xfrm>
                      <a:prstGeom prst="rect">
                        <a:avLst/>
                      </a:prstGeom>
                      <a:noFill/>
                      <a:ln>
                        <a:noFill/>
                      </a:ln>
                      <a:extLst/>
                    </p:spPr>
                  </p:pic>
                </p:oleObj>
              </mc:Fallback>
            </mc:AlternateContent>
          </a:graphicData>
        </a:graphic>
      </p:graphicFrame>
      <p:sp>
        <p:nvSpPr>
          <p:cNvPr id="7" name="Rectangle 19"/>
          <p:cNvSpPr>
            <a:spLocks noChangeArrowheads="1"/>
          </p:cNvSpPr>
          <p:nvPr/>
        </p:nvSpPr>
        <p:spPr bwMode="auto">
          <a:xfrm>
            <a:off x="1822274" y="3664944"/>
            <a:ext cx="50419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800" b="1" dirty="0">
                <a:latin typeface="Times New Roman" panose="02020603050405020304" pitchFamily="18" charset="0"/>
                <a:cs typeface="Times New Roman" panose="02020603050405020304" pitchFamily="18" charset="0"/>
              </a:rPr>
              <a:t>图</a:t>
            </a:r>
            <a:r>
              <a:rPr lang="en-US" altLang="zh-CN" sz="1800" b="1" dirty="0" smtClean="0">
                <a:latin typeface="Times New Roman" panose="02020603050405020304" pitchFamily="18" charset="0"/>
                <a:cs typeface="Times New Roman" panose="02020603050405020304" pitchFamily="18" charset="0"/>
              </a:rPr>
              <a:t>1.5.7  </a:t>
            </a:r>
            <a:r>
              <a:rPr lang="zh-CN" altLang="en-US" sz="1800" b="1" dirty="0">
                <a:latin typeface="Times New Roman" panose="02020603050405020304" pitchFamily="18" charset="0"/>
                <a:cs typeface="Times New Roman" panose="02020603050405020304" pitchFamily="18" charset="0"/>
              </a:rPr>
              <a:t>两级级联电路的噪声系数计算</a:t>
            </a:r>
          </a:p>
        </p:txBody>
      </p:sp>
      <p:sp>
        <p:nvSpPr>
          <p:cNvPr id="8" name="Rectangle 10"/>
          <p:cNvSpPr>
            <a:spLocks noChangeArrowheads="1"/>
          </p:cNvSpPr>
          <p:nvPr/>
        </p:nvSpPr>
        <p:spPr bwMode="auto">
          <a:xfrm>
            <a:off x="83409" y="4031657"/>
            <a:ext cx="496887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en-US" altLang="zh-CN" sz="2000" b="1" dirty="0" smtClean="0">
                <a:solidFill>
                  <a:srgbClr val="FF3300"/>
                </a:solidFill>
                <a:latin typeface="Times New Roman" panose="02020603050405020304" pitchFamily="18" charset="0"/>
                <a:ea typeface="楷体_GB2312" pitchFamily="49" charset="-122"/>
                <a:cs typeface="Times New Roman" panose="02020603050405020304" pitchFamily="18" charset="0"/>
              </a:rPr>
              <a:t>n</a:t>
            </a:r>
            <a:r>
              <a:rPr lang="zh-CN" altLang="en-US" sz="2000" b="1" dirty="0">
                <a:solidFill>
                  <a:srgbClr val="FF3300"/>
                </a:solidFill>
                <a:latin typeface="Times New Roman" panose="02020603050405020304" pitchFamily="18" charset="0"/>
                <a:ea typeface="楷体_GB2312" pitchFamily="49" charset="-122"/>
                <a:cs typeface="Times New Roman" panose="02020603050405020304" pitchFamily="18" charset="0"/>
              </a:rPr>
              <a:t>级级联电路的总噪声因数 </a:t>
            </a:r>
            <a:r>
              <a:rPr lang="en-US" altLang="zh-CN" sz="2000" b="1" dirty="0">
                <a:solidFill>
                  <a:srgbClr val="FF3300"/>
                </a:solidFill>
                <a:latin typeface="Times New Roman" panose="02020603050405020304" pitchFamily="18" charset="0"/>
                <a:ea typeface="楷体_GB2312" pitchFamily="49" charset="-122"/>
                <a:cs typeface="Times New Roman" panose="02020603050405020304" pitchFamily="18" charset="0"/>
              </a:rPr>
              <a:t>:</a:t>
            </a:r>
          </a:p>
        </p:txBody>
      </p:sp>
      <p:graphicFrame>
        <p:nvGraphicFramePr>
          <p:cNvPr id="9" name="Object 12"/>
          <p:cNvGraphicFramePr>
            <a:graphicFrameLocks noChangeAspect="1"/>
          </p:cNvGraphicFramePr>
          <p:nvPr>
            <p:extLst>
              <p:ext uri="{D42A27DB-BD31-4B8C-83A1-F6EECF244321}">
                <p14:modId xmlns:p14="http://schemas.microsoft.com/office/powerpoint/2010/main" val="3400590521"/>
              </p:ext>
            </p:extLst>
          </p:nvPr>
        </p:nvGraphicFramePr>
        <p:xfrm>
          <a:off x="2906713" y="4511675"/>
          <a:ext cx="3527425" cy="638175"/>
        </p:xfrm>
        <a:graphic>
          <a:graphicData uri="http://schemas.openxmlformats.org/presentationml/2006/ole">
            <mc:AlternateContent xmlns:mc="http://schemas.openxmlformats.org/markup-compatibility/2006">
              <mc:Choice xmlns:v="urn:schemas-microsoft-com:vml" Requires="v">
                <p:oleObj spid="_x0000_s8427" name="Equation" r:id="rId5" imgW="2171520" imgH="393480" progId="Equation.DSMT4">
                  <p:embed/>
                </p:oleObj>
              </mc:Choice>
              <mc:Fallback>
                <p:oleObj name="Equation" r:id="rId5" imgW="2171520" imgH="393480" progId="Equation.DSMT4">
                  <p:embed/>
                  <p:pic>
                    <p:nvPicPr>
                      <p:cNvPr id="0" name=""/>
                      <p:cNvPicPr>
                        <a:picLocks noChangeAspect="1" noChangeArrowheads="1"/>
                      </p:cNvPicPr>
                      <p:nvPr/>
                    </p:nvPicPr>
                    <p:blipFill>
                      <a:blip r:embed="rId6"/>
                      <a:srcRect/>
                      <a:stretch>
                        <a:fillRect/>
                      </a:stretch>
                    </p:blipFill>
                    <p:spPr bwMode="auto">
                      <a:xfrm>
                        <a:off x="2906713" y="4511675"/>
                        <a:ext cx="3527425" cy="638175"/>
                      </a:xfrm>
                      <a:prstGeom prst="rect">
                        <a:avLst/>
                      </a:prstGeom>
                      <a:noFill/>
                      <a:ln>
                        <a:noFill/>
                      </a:ln>
                      <a:extLst/>
                    </p:spPr>
                  </p:pic>
                </p:oleObj>
              </mc:Fallback>
            </mc:AlternateContent>
          </a:graphicData>
        </a:graphic>
      </p:graphicFrame>
      <p:graphicFrame>
        <p:nvGraphicFramePr>
          <p:cNvPr id="10" name="Object 11"/>
          <p:cNvGraphicFramePr>
            <a:graphicFrameLocks noChangeAspect="1"/>
          </p:cNvGraphicFramePr>
          <p:nvPr>
            <p:extLst>
              <p:ext uri="{D42A27DB-BD31-4B8C-83A1-F6EECF244321}">
                <p14:modId xmlns:p14="http://schemas.microsoft.com/office/powerpoint/2010/main" val="4158495934"/>
              </p:ext>
            </p:extLst>
          </p:nvPr>
        </p:nvGraphicFramePr>
        <p:xfrm>
          <a:off x="3056731" y="6033823"/>
          <a:ext cx="2681288" cy="435127"/>
        </p:xfrm>
        <a:graphic>
          <a:graphicData uri="http://schemas.openxmlformats.org/presentationml/2006/ole">
            <mc:AlternateContent xmlns:mc="http://schemas.openxmlformats.org/markup-compatibility/2006">
              <mc:Choice xmlns:v="urn:schemas-microsoft-com:vml" Requires="v">
                <p:oleObj spid="_x0000_s8428" r:id="rId7" imgW="1410925" imgH="228799" progId="">
                  <p:embed/>
                </p:oleObj>
              </mc:Choice>
              <mc:Fallback>
                <p:oleObj r:id="rId7" imgW="1410925" imgH="228799" progId="">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56731" y="6033823"/>
                        <a:ext cx="2681288" cy="435127"/>
                      </a:xfrm>
                      <a:prstGeom prst="rect">
                        <a:avLst/>
                      </a:prstGeom>
                      <a:noFill/>
                      <a:ln>
                        <a:noFill/>
                      </a:ln>
                      <a:extLst/>
                    </p:spPr>
                  </p:pic>
                </p:oleObj>
              </mc:Fallback>
            </mc:AlternateContent>
          </a:graphicData>
        </a:graphic>
      </p:graphicFrame>
      <p:grpSp>
        <p:nvGrpSpPr>
          <p:cNvPr id="11" name="Group 35"/>
          <p:cNvGrpSpPr>
            <a:grpSpLocks/>
          </p:cNvGrpSpPr>
          <p:nvPr/>
        </p:nvGrpSpPr>
        <p:grpSpPr bwMode="auto">
          <a:xfrm>
            <a:off x="361157" y="5379884"/>
            <a:ext cx="3268662" cy="1100138"/>
            <a:chOff x="84" y="58"/>
            <a:chExt cx="2059" cy="693"/>
          </a:xfrm>
        </p:grpSpPr>
        <p:sp>
          <p:nvSpPr>
            <p:cNvPr id="12" name="Rectangle 24"/>
            <p:cNvSpPr>
              <a:spLocks noChangeArrowheads="1"/>
            </p:cNvSpPr>
            <p:nvPr/>
          </p:nvSpPr>
          <p:spPr bwMode="auto">
            <a:xfrm>
              <a:off x="84" y="58"/>
              <a:ext cx="1361" cy="448"/>
            </a:xfrm>
            <a:prstGeom prst="rect">
              <a:avLst/>
            </a:prstGeom>
            <a:noFill/>
            <a:ln w="9525">
              <a:solidFill>
                <a:srgbClr val="FF3300"/>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fontAlgn="base">
                <a:spcBef>
                  <a:spcPct val="0"/>
                </a:spcBef>
                <a:spcAft>
                  <a:spcPct val="0"/>
                </a:spcAft>
                <a:buFontTx/>
                <a:buNone/>
              </a:pPr>
              <a:r>
                <a:rPr lang="zh-CN" altLang="en-US" sz="2000" b="1" dirty="0">
                  <a:solidFill>
                    <a:srgbClr val="000000"/>
                  </a:solidFill>
                  <a:latin typeface="楷体_GB2312" pitchFamily="49" charset="-122"/>
                  <a:ea typeface="楷体_GB2312" pitchFamily="49" charset="-122"/>
                </a:rPr>
                <a:t>第一级电路的内部噪声功率</a:t>
              </a:r>
              <a:r>
                <a:rPr lang="en-US" altLang="zh-CN" sz="2000" b="1" dirty="0">
                  <a:solidFill>
                    <a:srgbClr val="000000"/>
                  </a:solidFill>
                  <a:latin typeface="楷体_GB2312" pitchFamily="49" charset="-122"/>
                  <a:ea typeface="楷体_GB2312" pitchFamily="49" charset="-122"/>
                </a:rPr>
                <a:t> </a:t>
              </a:r>
            </a:p>
          </p:txBody>
        </p:sp>
        <p:sp>
          <p:nvSpPr>
            <p:cNvPr id="13" name="Oval 29"/>
            <p:cNvSpPr>
              <a:spLocks noChangeArrowheads="1"/>
            </p:cNvSpPr>
            <p:nvPr/>
          </p:nvSpPr>
          <p:spPr bwMode="auto">
            <a:xfrm>
              <a:off x="1782" y="470"/>
              <a:ext cx="361" cy="281"/>
            </a:xfrm>
            <a:prstGeom prst="ellipse">
              <a:avLst/>
            </a:prstGeom>
            <a:noFill/>
            <a:ln w="38100">
              <a:solidFill>
                <a:srgbClr val="FF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FontTx/>
                <a:buNone/>
              </a:pPr>
              <a:endParaRPr lang="zh-CN" altLang="en-US" sz="2000">
                <a:solidFill>
                  <a:srgbClr val="000000"/>
                </a:solidFill>
                <a:latin typeface="楷体_GB2312" pitchFamily="49" charset="-122"/>
                <a:ea typeface="楷体_GB2312" pitchFamily="49" charset="-122"/>
              </a:endParaRPr>
            </a:p>
          </p:txBody>
        </p:sp>
        <p:sp>
          <p:nvSpPr>
            <p:cNvPr id="14" name="Line 32"/>
            <p:cNvSpPr>
              <a:spLocks noChangeShapeType="1"/>
            </p:cNvSpPr>
            <p:nvPr/>
          </p:nvSpPr>
          <p:spPr bwMode="auto">
            <a:xfrm>
              <a:off x="1459" y="484"/>
              <a:ext cx="317" cy="91"/>
            </a:xfrm>
            <a:prstGeom prst="line">
              <a:avLst/>
            </a:prstGeom>
            <a:noFill/>
            <a:ln w="57150">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2400">
                <a:solidFill>
                  <a:srgbClr val="000000"/>
                </a:solidFill>
                <a:latin typeface="Arial" panose="020B0604020202020204" pitchFamily="34" charset="0"/>
              </a:endParaRPr>
            </a:p>
          </p:txBody>
        </p:sp>
      </p:grpSp>
      <p:sp>
        <p:nvSpPr>
          <p:cNvPr id="15" name="Rectangle 25"/>
          <p:cNvSpPr>
            <a:spLocks noChangeArrowheads="1"/>
          </p:cNvSpPr>
          <p:nvPr/>
        </p:nvSpPr>
        <p:spPr bwMode="auto">
          <a:xfrm>
            <a:off x="2675732" y="5394171"/>
            <a:ext cx="3311525" cy="406400"/>
          </a:xfrm>
          <a:prstGeom prst="rect">
            <a:avLst/>
          </a:prstGeom>
          <a:noFill/>
          <a:ln w="9525">
            <a:solidFill>
              <a:srgbClr val="FF3399"/>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FontTx/>
              <a:buNone/>
            </a:pPr>
            <a:r>
              <a:rPr lang="zh-CN" altLang="en-US" sz="2000" b="1">
                <a:solidFill>
                  <a:srgbClr val="000000"/>
                </a:solidFill>
                <a:latin typeface="楷体_GB2312" pitchFamily="49" charset="-122"/>
                <a:ea typeface="楷体_GB2312" pitchFamily="49" charset="-122"/>
              </a:rPr>
              <a:t>第一级电路的噪声因数 </a:t>
            </a:r>
          </a:p>
        </p:txBody>
      </p:sp>
      <p:sp>
        <p:nvSpPr>
          <p:cNvPr id="16" name="Oval 31"/>
          <p:cNvSpPr>
            <a:spLocks noChangeArrowheads="1"/>
          </p:cNvSpPr>
          <p:nvPr/>
        </p:nvSpPr>
        <p:spPr bwMode="auto">
          <a:xfrm>
            <a:off x="3991864" y="6065918"/>
            <a:ext cx="503237" cy="388266"/>
          </a:xfrm>
          <a:prstGeom prst="ellipse">
            <a:avLst/>
          </a:prstGeom>
          <a:noFill/>
          <a:ln w="38100">
            <a:solidFill>
              <a:srgbClr val="FF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FontTx/>
              <a:buNone/>
            </a:pPr>
            <a:endParaRPr lang="zh-CN" altLang="en-US" sz="2000">
              <a:solidFill>
                <a:srgbClr val="000000"/>
              </a:solidFill>
              <a:latin typeface="楷体_GB2312" pitchFamily="49" charset="-122"/>
              <a:ea typeface="楷体_GB2312" pitchFamily="49" charset="-122"/>
            </a:endParaRPr>
          </a:p>
        </p:txBody>
      </p:sp>
      <p:sp>
        <p:nvSpPr>
          <p:cNvPr id="17" name="Line 33"/>
          <p:cNvSpPr>
            <a:spLocks noChangeShapeType="1"/>
          </p:cNvSpPr>
          <p:nvPr/>
        </p:nvSpPr>
        <p:spPr bwMode="auto">
          <a:xfrm flipV="1">
            <a:off x="4238333" y="5722190"/>
            <a:ext cx="0" cy="343727"/>
          </a:xfrm>
          <a:prstGeom prst="line">
            <a:avLst/>
          </a:prstGeom>
          <a:noFill/>
          <a:ln w="57150">
            <a:solidFill>
              <a:srgbClr val="FF3399"/>
            </a:solidFill>
            <a:round/>
            <a:headEnd type="triangle" w="med" len="me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2400">
              <a:solidFill>
                <a:srgbClr val="000000"/>
              </a:solidFill>
              <a:latin typeface="Arial" panose="020B0604020202020204" pitchFamily="34" charset="0"/>
            </a:endParaRPr>
          </a:p>
        </p:txBody>
      </p:sp>
      <p:grpSp>
        <p:nvGrpSpPr>
          <p:cNvPr id="18" name="Group 20"/>
          <p:cNvGrpSpPr>
            <a:grpSpLocks/>
          </p:cNvGrpSpPr>
          <p:nvPr/>
        </p:nvGrpSpPr>
        <p:grpSpPr bwMode="auto">
          <a:xfrm>
            <a:off x="5233194" y="5370103"/>
            <a:ext cx="3706812" cy="1201738"/>
            <a:chOff x="0" y="19"/>
            <a:chExt cx="2335" cy="757"/>
          </a:xfrm>
        </p:grpSpPr>
        <p:graphicFrame>
          <p:nvGraphicFramePr>
            <p:cNvPr id="19" name="Object 21"/>
            <p:cNvGraphicFramePr>
              <a:graphicFrameLocks noChangeAspect="1"/>
            </p:cNvGraphicFramePr>
            <p:nvPr>
              <p:extLst>
                <p:ext uri="{D42A27DB-BD31-4B8C-83A1-F6EECF244321}">
                  <p14:modId xmlns:p14="http://schemas.microsoft.com/office/powerpoint/2010/main" val="3011334254"/>
                </p:ext>
              </p:extLst>
            </p:nvPr>
          </p:nvGraphicFramePr>
          <p:xfrm>
            <a:off x="1319" y="311"/>
            <a:ext cx="594" cy="465"/>
          </p:xfrm>
          <a:graphic>
            <a:graphicData uri="http://schemas.openxmlformats.org/presentationml/2006/ole">
              <mc:AlternateContent xmlns:mc="http://schemas.openxmlformats.org/markup-compatibility/2006">
                <mc:Choice xmlns:v="urn:schemas-microsoft-com:vml" Requires="v">
                  <p:oleObj spid="_x0000_s8429" name="公式" r:id="rId9" imgW="506056" imgH="375481" progId="Equation.3">
                    <p:embed/>
                  </p:oleObj>
                </mc:Choice>
                <mc:Fallback>
                  <p:oleObj name="公式" r:id="rId9" imgW="506056" imgH="375481"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319" y="311"/>
                          <a:ext cx="594" cy="465"/>
                        </a:xfrm>
                        <a:prstGeom prst="rect">
                          <a:avLst/>
                        </a:prstGeom>
                        <a:noFill/>
                        <a:ln>
                          <a:noFill/>
                        </a:ln>
                        <a:extLst/>
                      </p:spPr>
                    </p:pic>
                  </p:oleObj>
                </mc:Fallback>
              </mc:AlternateContent>
            </a:graphicData>
          </a:graphic>
        </p:graphicFrame>
        <p:grpSp>
          <p:nvGrpSpPr>
            <p:cNvPr id="20" name="Group 37"/>
            <p:cNvGrpSpPr>
              <a:grpSpLocks/>
            </p:cNvGrpSpPr>
            <p:nvPr/>
          </p:nvGrpSpPr>
          <p:grpSpPr bwMode="auto">
            <a:xfrm>
              <a:off x="0" y="19"/>
              <a:ext cx="2335" cy="579"/>
              <a:chOff x="0" y="19"/>
              <a:chExt cx="2335" cy="579"/>
            </a:xfrm>
          </p:grpSpPr>
          <p:sp>
            <p:nvSpPr>
              <p:cNvPr id="21" name="Rectangle 28"/>
              <p:cNvSpPr>
                <a:spLocks noChangeArrowheads="1"/>
              </p:cNvSpPr>
              <p:nvPr/>
            </p:nvSpPr>
            <p:spPr bwMode="auto">
              <a:xfrm>
                <a:off x="578" y="19"/>
                <a:ext cx="1757" cy="256"/>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zh-CN" altLang="en-US" sz="2000" b="1" i="0" u="none" strike="noStrike" kern="0" cap="none" spc="0" normalizeH="0" baseline="0" noProof="0">
                    <a:ln>
                      <a:noFill/>
                    </a:ln>
                    <a:solidFill>
                      <a:srgbClr val="000000"/>
                    </a:solidFill>
                    <a:effectLst/>
                    <a:uLnTx/>
                    <a:uFillTx/>
                    <a:latin typeface="楷体_GB2312" pitchFamily="49" charset="-122"/>
                    <a:ea typeface="楷体_GB2312" pitchFamily="49" charset="-122"/>
                  </a:rPr>
                  <a:t>第一级的功率增益 </a:t>
                </a:r>
              </a:p>
            </p:txBody>
          </p:sp>
          <p:sp>
            <p:nvSpPr>
              <p:cNvPr id="22" name="Oval 30"/>
              <p:cNvSpPr>
                <a:spLocks noChangeArrowheads="1"/>
              </p:cNvSpPr>
              <p:nvPr/>
            </p:nvSpPr>
            <p:spPr bwMode="auto">
              <a:xfrm>
                <a:off x="0" y="280"/>
                <a:ext cx="317" cy="318"/>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990099"/>
                    </a:solidFill>
                    <a:round/>
                    <a:headEnd/>
                    <a:tailEnd/>
                  </a14:hiddenLine>
                </a:ext>
              </a:extLst>
            </p:spPr>
            <p:txBody>
              <a:bodyPr wrap="none" anchor="ct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000" b="0" i="0" u="none" strike="noStrike" kern="0" cap="none" spc="0" normalizeH="0" baseline="0" noProof="0">
                  <a:ln>
                    <a:noFill/>
                  </a:ln>
                  <a:solidFill>
                    <a:srgbClr val="000000"/>
                  </a:solidFill>
                  <a:effectLst/>
                  <a:uLnTx/>
                  <a:uFillTx/>
                  <a:latin typeface="楷体_GB2312" pitchFamily="49" charset="-122"/>
                  <a:ea typeface="楷体_GB2312" pitchFamily="49" charset="-122"/>
                </a:endParaRPr>
              </a:p>
            </p:txBody>
          </p:sp>
          <p:sp>
            <p:nvSpPr>
              <p:cNvPr id="23" name="Line 34"/>
              <p:cNvSpPr>
                <a:spLocks noChangeShapeType="1"/>
              </p:cNvSpPr>
              <p:nvPr/>
            </p:nvSpPr>
            <p:spPr bwMode="auto">
              <a:xfrm flipH="1">
                <a:off x="271" y="91"/>
                <a:ext cx="318" cy="226"/>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57150">
                    <a:solidFill>
                      <a:srgbClr val="990099"/>
                    </a:solidFill>
                    <a:round/>
                    <a:headEnd/>
                    <a:tailEnd type="triangle" w="med" len="me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Arial" panose="020B0604020202020204" pitchFamily="34" charset="0"/>
                </a:endParaRPr>
              </a:p>
            </p:txBody>
          </p:sp>
        </p:grpSp>
      </p:grpSp>
    </p:spTree>
    <p:extLst>
      <p:ext uri="{BB962C8B-B14F-4D97-AF65-F5344CB8AC3E}">
        <p14:creationId xmlns:p14="http://schemas.microsoft.com/office/powerpoint/2010/main" val="12826499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down)">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anim calcmode="lin" valueType="num">
                                      <p:cBhvr additive="base">
                                        <p:cTn id="17" dur="500" fill="hold"/>
                                        <p:tgtEl>
                                          <p:spTgt spid="18"/>
                                        </p:tgtEl>
                                        <p:attrNameLst>
                                          <p:attrName>ppt_x</p:attrName>
                                        </p:attrNameLst>
                                      </p:cBhvr>
                                      <p:tavLst>
                                        <p:tav tm="0">
                                          <p:val>
                                            <p:strVal val="1+#ppt_w/2"/>
                                          </p:val>
                                        </p:tav>
                                        <p:tav tm="100000">
                                          <p:val>
                                            <p:strVal val="#ppt_x"/>
                                          </p:val>
                                        </p:tav>
                                      </p:tavLst>
                                    </p:anim>
                                    <p:anim calcmode="lin" valueType="num">
                                      <p:cBhvr additive="base">
                                        <p:cTn id="18" dur="500" fill="hold"/>
                                        <p:tgtEl>
                                          <p:spTgt spid="1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23</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1.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概论</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5" name="图片 410628">
            <a:extLst>
              <a:ext uri="{FF2B5EF4-FFF2-40B4-BE49-F238E27FC236}">
                <a16:creationId xmlns:a16="http://schemas.microsoft.com/office/drawing/2014/main" xmlns="" id="{FB47A623-4612-719A-A1B5-41F7DB0EEEB2}"/>
              </a:ext>
            </a:extLst>
          </p:cNvPr>
          <p:cNvPicPr>
            <a:picLocks noChangeAspect="1"/>
          </p:cNvPicPr>
          <p:nvPr/>
        </p:nvPicPr>
        <p:blipFill rotWithShape="1">
          <a:blip r:embed="rId2">
            <a:clrChange>
              <a:clrFrom>
                <a:srgbClr val="FFFFFF"/>
              </a:clrFrom>
              <a:clrTo>
                <a:srgbClr val="FFFFFF">
                  <a:alpha val="0"/>
                </a:srgbClr>
              </a:clrTo>
            </a:clrChange>
          </a:blip>
          <a:srcRect l="2127" r="1918" b="25752"/>
          <a:stretch/>
        </p:blipFill>
        <p:spPr>
          <a:xfrm>
            <a:off x="806028" y="1659463"/>
            <a:ext cx="7181094" cy="3641745"/>
          </a:xfrm>
          <a:prstGeom prst="rect">
            <a:avLst/>
          </a:prstGeom>
          <a:noFill/>
          <a:ln w="9525">
            <a:noFill/>
          </a:ln>
        </p:spPr>
      </p:pic>
    </p:spTree>
    <p:extLst>
      <p:ext uri="{BB962C8B-B14F-4D97-AF65-F5344CB8AC3E}">
        <p14:creationId xmlns:p14="http://schemas.microsoft.com/office/powerpoint/2010/main" val="275186888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24</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1.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概论</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5" name="图片 410629" descr="Scan0003">
            <a:extLst>
              <a:ext uri="{FF2B5EF4-FFF2-40B4-BE49-F238E27FC236}">
                <a16:creationId xmlns:a16="http://schemas.microsoft.com/office/drawing/2014/main" xmlns="" id="{009586D2-4312-9971-D261-0D92A9B7874D}"/>
              </a:ext>
            </a:extLst>
          </p:cNvPr>
          <p:cNvPicPr>
            <a:picLocks noChangeAspect="1"/>
          </p:cNvPicPr>
          <p:nvPr/>
        </p:nvPicPr>
        <p:blipFill rotWithShape="1">
          <a:blip r:embed="rId2">
            <a:clrChange>
              <a:clrFrom>
                <a:srgbClr val="E5E5E5"/>
              </a:clrFrom>
              <a:clrTo>
                <a:srgbClr val="E5E5E5">
                  <a:alpha val="0"/>
                </a:srgbClr>
              </a:clrTo>
            </a:clrChange>
          </a:blip>
          <a:srcRect l="34021" t="8130" r="21741" b="84628"/>
          <a:stretch/>
        </p:blipFill>
        <p:spPr>
          <a:xfrm rot="171954">
            <a:off x="2442060" y="2358017"/>
            <a:ext cx="4820963" cy="1312644"/>
          </a:xfrm>
          <a:prstGeom prst="rect">
            <a:avLst/>
          </a:prstGeom>
          <a:noFill/>
          <a:ln w="9525">
            <a:noFill/>
          </a:ln>
        </p:spPr>
      </p:pic>
      <p:pic>
        <p:nvPicPr>
          <p:cNvPr id="6" name="图片 411653" descr="Scan0003">
            <a:extLst>
              <a:ext uri="{FF2B5EF4-FFF2-40B4-BE49-F238E27FC236}">
                <a16:creationId xmlns:a16="http://schemas.microsoft.com/office/drawing/2014/main" xmlns="" id="{9A3995F5-1A30-66BC-D813-14D8F7511190}"/>
              </a:ext>
            </a:extLst>
          </p:cNvPr>
          <p:cNvPicPr>
            <a:picLocks noChangeAspect="1"/>
          </p:cNvPicPr>
          <p:nvPr/>
        </p:nvPicPr>
        <p:blipFill>
          <a:blip r:embed="rId2">
            <a:clrChange>
              <a:clrFrom>
                <a:srgbClr val="EAEAEA"/>
              </a:clrFrom>
              <a:clrTo>
                <a:srgbClr val="EAEAEA">
                  <a:alpha val="0"/>
                </a:srgbClr>
              </a:clrTo>
            </a:clrChange>
          </a:blip>
          <a:srcRect l="21909" t="15372" r="17873" b="65848"/>
          <a:stretch>
            <a:fillRect/>
          </a:stretch>
        </p:blipFill>
        <p:spPr>
          <a:xfrm rot="184982">
            <a:off x="1116573" y="3533009"/>
            <a:ext cx="7121038" cy="3459286"/>
          </a:xfrm>
          <a:prstGeom prst="rect">
            <a:avLst/>
          </a:prstGeom>
          <a:noFill/>
          <a:ln w="9525">
            <a:noFill/>
          </a:ln>
        </p:spPr>
      </p:pic>
      <p:pic>
        <p:nvPicPr>
          <p:cNvPr id="7" name="图片 6"/>
          <p:cNvPicPr>
            <a:picLocks noChangeAspect="1"/>
          </p:cNvPicPr>
          <p:nvPr/>
        </p:nvPicPr>
        <p:blipFill rotWithShape="1">
          <a:blip r:embed="rId3"/>
          <a:srcRect t="74669"/>
          <a:stretch/>
        </p:blipFill>
        <p:spPr>
          <a:xfrm>
            <a:off x="1255466" y="1223545"/>
            <a:ext cx="7181710" cy="1243174"/>
          </a:xfrm>
          <a:prstGeom prst="rect">
            <a:avLst/>
          </a:prstGeom>
        </p:spPr>
      </p:pic>
    </p:spTree>
    <p:extLst>
      <p:ext uri="{BB962C8B-B14F-4D97-AF65-F5344CB8AC3E}">
        <p14:creationId xmlns:p14="http://schemas.microsoft.com/office/powerpoint/2010/main" val="2852783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50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25</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1.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概论</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Rectangle 10"/>
          <p:cNvSpPr>
            <a:spLocks noChangeArrowheads="1"/>
          </p:cNvSpPr>
          <p:nvPr/>
        </p:nvSpPr>
        <p:spPr bwMode="auto">
          <a:xfrm>
            <a:off x="366867" y="2538853"/>
            <a:ext cx="8210178"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000" b="1" dirty="0">
                <a:solidFill>
                  <a:srgbClr val="FF3300"/>
                </a:solidFill>
                <a:latin typeface="Times New Roman" panose="02020603050405020304" pitchFamily="18" charset="0"/>
                <a:ea typeface="楷体_GB2312" pitchFamily="49" charset="-122"/>
                <a:cs typeface="Times New Roman" panose="02020603050405020304" pitchFamily="18" charset="0"/>
              </a:rPr>
              <a:t>接收灵敏度</a:t>
            </a:r>
            <a:r>
              <a:rPr lang="en-US" altLang="zh-CN" sz="2000" b="1" i="1" dirty="0">
                <a:solidFill>
                  <a:srgbClr val="FF3300"/>
                </a:solidFill>
                <a:latin typeface="Times New Roman" panose="02020603050405020304" pitchFamily="18" charset="0"/>
                <a:ea typeface="楷体_GB2312" pitchFamily="49" charset="-122"/>
                <a:cs typeface="Times New Roman" panose="02020603050405020304" pitchFamily="18" charset="0"/>
              </a:rPr>
              <a:t>S</a:t>
            </a:r>
            <a:r>
              <a:rPr lang="en-US" altLang="zh-CN" sz="2000" b="1" baseline="-25000" dirty="0">
                <a:solidFill>
                  <a:srgbClr val="FF3300"/>
                </a:solidFill>
                <a:latin typeface="Times New Roman" panose="02020603050405020304" pitchFamily="18" charset="0"/>
                <a:ea typeface="楷体_GB2312" pitchFamily="49" charset="-122"/>
                <a:cs typeface="Times New Roman" panose="02020603050405020304" pitchFamily="18" charset="0"/>
              </a:rPr>
              <a:t>(</a:t>
            </a:r>
            <a:r>
              <a:rPr lang="en-US" altLang="zh-CN" sz="2000" b="1" baseline="-25000" dirty="0" err="1">
                <a:solidFill>
                  <a:srgbClr val="FF3300"/>
                </a:solidFill>
                <a:latin typeface="Times New Roman" panose="02020603050405020304" pitchFamily="18" charset="0"/>
                <a:ea typeface="楷体_GB2312" pitchFamily="49" charset="-122"/>
                <a:cs typeface="Times New Roman" panose="02020603050405020304" pitchFamily="18" charset="0"/>
              </a:rPr>
              <a:t>dBm</a:t>
            </a:r>
            <a:r>
              <a:rPr lang="en-US" altLang="zh-CN" sz="2000" b="1" baseline="-25000" dirty="0">
                <a:solidFill>
                  <a:srgbClr val="FF3300"/>
                </a:solidFill>
                <a:latin typeface="Times New Roman" panose="02020603050405020304" pitchFamily="18" charset="0"/>
                <a:ea typeface="楷体_GB2312" pitchFamily="49" charset="-122"/>
                <a:cs typeface="Times New Roman" panose="02020603050405020304" pitchFamily="18" charset="0"/>
              </a:rPr>
              <a:t>) </a:t>
            </a:r>
            <a:r>
              <a:rPr lang="en-US" altLang="zh-CN" sz="2000" b="1" dirty="0">
                <a:solidFill>
                  <a:srgbClr val="0033CC"/>
                </a:solidFill>
                <a:latin typeface="Times New Roman" panose="02020603050405020304" pitchFamily="18" charset="0"/>
                <a:ea typeface="楷体_GB2312" pitchFamily="49" charset="-122"/>
                <a:cs typeface="Times New Roman" panose="02020603050405020304" pitchFamily="18" charset="0"/>
              </a:rPr>
              <a:t>——</a:t>
            </a:r>
            <a:r>
              <a:rPr lang="zh-CN" altLang="en-US" sz="2000" b="1" dirty="0">
                <a:solidFill>
                  <a:srgbClr val="000000"/>
                </a:solidFill>
                <a:latin typeface="Times New Roman" panose="02020603050405020304" pitchFamily="18" charset="0"/>
                <a:ea typeface="楷体_GB2312" pitchFamily="49" charset="-122"/>
                <a:cs typeface="Times New Roman" panose="02020603050405020304" pitchFamily="18" charset="0"/>
              </a:rPr>
              <a:t>它定义为在保证必要的输出信噪比条件下，接收机输入端所要求的</a:t>
            </a:r>
            <a:r>
              <a:rPr lang="zh-CN" altLang="en-US" sz="2000" b="1" dirty="0">
                <a:solidFill>
                  <a:srgbClr val="0033CC"/>
                </a:solidFill>
                <a:latin typeface="Times New Roman" panose="02020603050405020304" pitchFamily="18" charset="0"/>
                <a:ea typeface="楷体_GB2312" pitchFamily="49" charset="-122"/>
                <a:cs typeface="Times New Roman" panose="02020603050405020304" pitchFamily="18" charset="0"/>
              </a:rPr>
              <a:t>最小有用信号功率</a:t>
            </a:r>
            <a:r>
              <a:rPr lang="zh-CN" altLang="en-US" sz="2000" b="1" dirty="0">
                <a:solidFill>
                  <a:srgbClr val="000000"/>
                </a:solidFill>
                <a:latin typeface="Times New Roman" panose="02020603050405020304" pitchFamily="18" charset="0"/>
                <a:ea typeface="楷体_GB2312" pitchFamily="49" charset="-122"/>
                <a:cs typeface="Times New Roman" panose="02020603050405020304" pitchFamily="18" charset="0"/>
              </a:rPr>
              <a:t>。该</a:t>
            </a:r>
            <a:r>
              <a:rPr lang="zh-CN" altLang="en-US" sz="2000" b="1" dirty="0">
                <a:solidFill>
                  <a:srgbClr val="CC3300"/>
                </a:solidFill>
                <a:latin typeface="Times New Roman" panose="02020603050405020304" pitchFamily="18" charset="0"/>
                <a:ea typeface="楷体_GB2312" pitchFamily="49" charset="-122"/>
                <a:cs typeface="Times New Roman" panose="02020603050405020304" pitchFamily="18" charset="0"/>
              </a:rPr>
              <a:t>信号功率越低</a:t>
            </a:r>
            <a:r>
              <a:rPr lang="zh-CN" altLang="en-US" sz="2000" b="1" dirty="0">
                <a:solidFill>
                  <a:srgbClr val="000000"/>
                </a:solidFill>
                <a:latin typeface="Times New Roman" panose="02020603050405020304" pitchFamily="18" charset="0"/>
                <a:ea typeface="楷体_GB2312" pitchFamily="49" charset="-122"/>
                <a:cs typeface="Times New Roman" panose="02020603050405020304" pitchFamily="18" charset="0"/>
              </a:rPr>
              <a:t>，则</a:t>
            </a:r>
            <a:r>
              <a:rPr lang="zh-CN" altLang="en-US" sz="2000" b="1" dirty="0">
                <a:solidFill>
                  <a:srgbClr val="CC3300"/>
                </a:solidFill>
                <a:latin typeface="Times New Roman" panose="02020603050405020304" pitchFamily="18" charset="0"/>
                <a:ea typeface="楷体_GB2312" pitchFamily="49" charset="-122"/>
                <a:cs typeface="Times New Roman" panose="02020603050405020304" pitchFamily="18" charset="0"/>
              </a:rPr>
              <a:t>接收灵敏度越高</a:t>
            </a:r>
            <a:r>
              <a:rPr lang="zh-CN" altLang="en-US" sz="2000" b="1" dirty="0">
                <a:solidFill>
                  <a:srgbClr val="000000"/>
                </a:solidFill>
                <a:latin typeface="Times New Roman" panose="02020603050405020304" pitchFamily="18" charset="0"/>
                <a:ea typeface="楷体_GB2312" pitchFamily="49" charset="-122"/>
                <a:cs typeface="Times New Roman" panose="02020603050405020304" pitchFamily="18" charset="0"/>
              </a:rPr>
              <a:t>，表示接收微弱信号的能力也越强。</a:t>
            </a:r>
          </a:p>
        </p:txBody>
      </p:sp>
      <p:sp>
        <p:nvSpPr>
          <p:cNvPr id="6" name="Rectangle 19"/>
          <p:cNvSpPr>
            <a:spLocks noChangeArrowheads="1"/>
          </p:cNvSpPr>
          <p:nvPr/>
        </p:nvSpPr>
        <p:spPr bwMode="auto">
          <a:xfrm>
            <a:off x="366867" y="1837022"/>
            <a:ext cx="8282186"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000" b="1" dirty="0" smtClean="0">
                <a:ea typeface="楷体_GB2312" pitchFamily="49" charset="-122"/>
              </a:rPr>
              <a:t>在</a:t>
            </a:r>
            <a:r>
              <a:rPr lang="zh-CN" altLang="en-US" sz="2000" b="1" dirty="0">
                <a:ea typeface="楷体_GB2312" pitchFamily="49" charset="-122"/>
              </a:rPr>
              <a:t>无线通信系统中，接收机收到的信号通常很弱，</a:t>
            </a:r>
            <a:r>
              <a:rPr lang="zh-CN" altLang="en-US" sz="2000" b="1" dirty="0">
                <a:solidFill>
                  <a:srgbClr val="CC3300"/>
                </a:solidFill>
                <a:ea typeface="楷体_GB2312" pitchFamily="49" charset="-122"/>
              </a:rPr>
              <a:t>灵敏度</a:t>
            </a:r>
            <a:r>
              <a:rPr lang="zh-CN" altLang="en-US" sz="2000" b="1" dirty="0">
                <a:ea typeface="楷体_GB2312" pitchFamily="49" charset="-122"/>
              </a:rPr>
              <a:t>用来衡量接收机检测微弱信号的能力。</a:t>
            </a:r>
          </a:p>
        </p:txBody>
      </p:sp>
      <p:sp>
        <p:nvSpPr>
          <p:cNvPr id="7" name="Text Box 20"/>
          <p:cNvSpPr txBox="1">
            <a:spLocks noChangeArrowheads="1"/>
          </p:cNvSpPr>
          <p:nvPr/>
        </p:nvSpPr>
        <p:spPr bwMode="auto">
          <a:xfrm>
            <a:off x="330998" y="3543266"/>
            <a:ext cx="8174039"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000" b="1" dirty="0">
                <a:solidFill>
                  <a:srgbClr val="CC3300"/>
                </a:solidFill>
                <a:ea typeface="楷体_GB2312" pitchFamily="49" charset="-122"/>
              </a:rPr>
              <a:t>最小可检测信号电压</a:t>
            </a:r>
            <a:r>
              <a:rPr lang="en-US" altLang="zh-CN" sz="2000" b="1" dirty="0">
                <a:solidFill>
                  <a:srgbClr val="0033CC"/>
                </a:solidFill>
                <a:latin typeface="Times New Roman" panose="02020603050405020304" pitchFamily="18" charset="0"/>
                <a:ea typeface="楷体_GB2312" pitchFamily="49" charset="-122"/>
              </a:rPr>
              <a:t>——</a:t>
            </a:r>
            <a:r>
              <a:rPr lang="zh-CN" altLang="en-US" sz="2000" b="1" dirty="0">
                <a:ea typeface="楷体_GB2312" pitchFamily="49" charset="-122"/>
              </a:rPr>
              <a:t>是指该</a:t>
            </a:r>
            <a:r>
              <a:rPr lang="zh-CN" altLang="en-US" sz="2000" b="1" dirty="0">
                <a:solidFill>
                  <a:srgbClr val="000000"/>
                </a:solidFill>
                <a:ea typeface="楷体_GB2312" pitchFamily="49" charset="-122"/>
              </a:rPr>
              <a:t>最小有用信号功率相对应的输入端处于匹配时的有用信号幅值。</a:t>
            </a:r>
          </a:p>
        </p:txBody>
      </p:sp>
    </p:spTree>
    <p:extLst>
      <p:ext uri="{BB962C8B-B14F-4D97-AF65-F5344CB8AC3E}">
        <p14:creationId xmlns:p14="http://schemas.microsoft.com/office/powerpoint/2010/main" val="63214019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Rectangle 7"/>
          <p:cNvSpPr>
            <a:spLocks noChangeArrowheads="1"/>
          </p:cNvSpPr>
          <p:nvPr/>
        </p:nvSpPr>
        <p:spPr bwMode="auto">
          <a:xfrm>
            <a:off x="635000" y="1557338"/>
            <a:ext cx="7848600" cy="4228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defRPr/>
            </a:pPr>
            <a:r>
              <a:rPr lang="en-US" altLang="zh-CN" sz="3200" dirty="0" smtClean="0">
                <a:ln w="0"/>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1  </a:t>
            </a:r>
            <a:r>
              <a:rPr lang="zh-CN" altLang="en-US" sz="3200" dirty="0" smtClean="0">
                <a:ln w="0"/>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通信电子线路概论</a:t>
            </a:r>
            <a:endParaRPr lang="en-US" altLang="zh-CN" sz="3200" dirty="0" smtClean="0">
              <a:ln w="0"/>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endParaRPr>
          </a:p>
          <a:p>
            <a:pPr fontAlgn="base">
              <a:lnSpc>
                <a:spcPct val="120000"/>
              </a:lnSpc>
              <a:spcBef>
                <a:spcPct val="0"/>
              </a:spcBef>
              <a:spcAft>
                <a:spcPct val="0"/>
              </a:spcAft>
              <a:buFontTx/>
              <a:buNone/>
              <a:defRPr/>
            </a:pPr>
            <a:r>
              <a:rPr lang="en-US" altLang="zh-CN" sz="3200" dirty="0">
                <a:ln w="0"/>
                <a:solidFill>
                  <a:srgbClr val="FF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2  </a:t>
            </a:r>
            <a:r>
              <a:rPr lang="zh-CN" altLang="en-US" sz="3200" dirty="0">
                <a:ln w="0"/>
                <a:solidFill>
                  <a:srgbClr val="FF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高频基础电路</a:t>
            </a:r>
          </a:p>
          <a:p>
            <a:pPr fontAlgn="base">
              <a:lnSpc>
                <a:spcPct val="120000"/>
              </a:lnSpc>
              <a:spcBef>
                <a:spcPct val="0"/>
              </a:spcBef>
              <a:spcAft>
                <a:spcPct val="0"/>
              </a:spcAft>
              <a:buNone/>
              <a:defRPr/>
            </a:pPr>
            <a:r>
              <a:rPr lang="en-US" altLang="zh-CN" sz="3200" dirty="0" smtClean="0">
                <a:ln w="0"/>
                <a:solidFill>
                  <a:srgbClr val="00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3  </a:t>
            </a:r>
            <a:r>
              <a:rPr lang="zh-CN" altLang="en-US" sz="3200" dirty="0" smtClean="0">
                <a:ln w="0"/>
                <a:solidFill>
                  <a:srgbClr val="00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高频</a:t>
            </a:r>
            <a:r>
              <a:rPr lang="zh-CN" altLang="en-US" sz="3200" dirty="0">
                <a:ln w="0"/>
                <a:solidFill>
                  <a:srgbClr val="00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小信号</a:t>
            </a:r>
            <a:r>
              <a:rPr lang="zh-CN" altLang="en-US" sz="3200" dirty="0" smtClean="0">
                <a:ln w="0"/>
                <a:solidFill>
                  <a:srgbClr val="00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放大器</a:t>
            </a:r>
          </a:p>
          <a:p>
            <a:pPr fontAlgn="base">
              <a:lnSpc>
                <a:spcPct val="120000"/>
              </a:lnSpc>
              <a:spcBef>
                <a:spcPct val="0"/>
              </a:spcBef>
              <a:spcAft>
                <a:spcPct val="0"/>
              </a:spcAft>
              <a:buFontTx/>
              <a:buNone/>
              <a:defRPr/>
            </a:pPr>
            <a:r>
              <a:rPr lang="en-US" altLang="zh-CN" sz="3200" dirty="0" smtClean="0">
                <a:ln w="0"/>
                <a:solidFill>
                  <a:srgbClr val="00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4  </a:t>
            </a:r>
            <a:r>
              <a:rPr lang="zh-CN" altLang="en-US" sz="3200" dirty="0" smtClean="0">
                <a:ln w="0"/>
                <a:solidFill>
                  <a:srgbClr val="00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谐振功率放大器</a:t>
            </a:r>
          </a:p>
          <a:p>
            <a:pPr fontAlgn="base">
              <a:lnSpc>
                <a:spcPct val="120000"/>
              </a:lnSpc>
              <a:spcBef>
                <a:spcPct val="0"/>
              </a:spcBef>
              <a:spcAft>
                <a:spcPct val="0"/>
              </a:spcAft>
              <a:buFontTx/>
              <a:buNone/>
              <a:defRPr/>
            </a:pPr>
            <a:r>
              <a:rPr lang="en-US" altLang="zh-CN" sz="3200" dirty="0" smtClean="0">
                <a:ln w="0"/>
                <a:solidFill>
                  <a:srgbClr val="00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5  </a:t>
            </a:r>
            <a:r>
              <a:rPr lang="zh-CN" altLang="en-US" sz="3200" dirty="0" smtClean="0">
                <a:ln w="0"/>
                <a:solidFill>
                  <a:srgbClr val="00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正弦波振荡器</a:t>
            </a:r>
          </a:p>
          <a:p>
            <a:pPr fontAlgn="base">
              <a:lnSpc>
                <a:spcPct val="120000"/>
              </a:lnSpc>
              <a:spcBef>
                <a:spcPct val="0"/>
              </a:spcBef>
              <a:spcAft>
                <a:spcPct val="0"/>
              </a:spcAft>
              <a:buNone/>
              <a:defRPr/>
            </a:pPr>
            <a:r>
              <a:rPr lang="en-US" altLang="zh-CN" sz="3200" dirty="0" smtClean="0">
                <a:ln w="0"/>
                <a:solidFill>
                  <a:srgbClr val="00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6  </a:t>
            </a:r>
            <a:r>
              <a:rPr lang="zh-CN" altLang="en-US" sz="3200" dirty="0" smtClean="0">
                <a:ln w="0"/>
                <a:solidFill>
                  <a:srgbClr val="00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振幅调制</a:t>
            </a:r>
            <a:r>
              <a:rPr lang="zh-CN" altLang="en-US" sz="3200" dirty="0">
                <a:ln w="0"/>
                <a:solidFill>
                  <a:srgbClr val="00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与</a:t>
            </a:r>
            <a:r>
              <a:rPr lang="zh-CN" altLang="en-US" sz="3200" dirty="0" smtClean="0">
                <a:ln w="0"/>
                <a:solidFill>
                  <a:srgbClr val="00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解调</a:t>
            </a:r>
            <a:endParaRPr lang="en-US" altLang="zh-CN" sz="3200" dirty="0" smtClean="0">
              <a:ln w="0"/>
              <a:solidFill>
                <a:srgbClr val="00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endParaRPr>
          </a:p>
          <a:p>
            <a:pPr fontAlgn="base">
              <a:lnSpc>
                <a:spcPct val="120000"/>
              </a:lnSpc>
              <a:spcBef>
                <a:spcPct val="0"/>
              </a:spcBef>
              <a:spcAft>
                <a:spcPct val="0"/>
              </a:spcAft>
              <a:buNone/>
              <a:defRPr/>
            </a:pPr>
            <a:r>
              <a:rPr lang="en-US" altLang="zh-CN" sz="3200" dirty="0" smtClean="0">
                <a:ln w="0"/>
                <a:solidFill>
                  <a:srgbClr val="00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7  </a:t>
            </a:r>
            <a:r>
              <a:rPr lang="zh-CN" altLang="en-US" sz="3200" dirty="0" smtClean="0">
                <a:ln w="0"/>
                <a:solidFill>
                  <a:srgbClr val="00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角度</a:t>
            </a:r>
            <a:r>
              <a:rPr lang="zh-CN" altLang="en-US" sz="3200" dirty="0">
                <a:ln w="0"/>
                <a:solidFill>
                  <a:srgbClr val="00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调制与</a:t>
            </a:r>
            <a:r>
              <a:rPr lang="zh-CN" altLang="en-US" sz="3200" dirty="0" smtClean="0">
                <a:ln w="0"/>
                <a:solidFill>
                  <a:srgbClr val="00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解调</a:t>
            </a:r>
          </a:p>
        </p:txBody>
      </p:sp>
      <p:sp>
        <p:nvSpPr>
          <p:cNvPr id="5"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目录</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76695443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27</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2.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高频</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基础</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电路</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副标题 6">
            <a:extLst>
              <a:ext uri="{FF2B5EF4-FFF2-40B4-BE49-F238E27FC236}">
                <a16:creationId xmlns:a16="http://schemas.microsoft.com/office/drawing/2014/main" xmlns="" id="{F848515F-8A23-5E69-B6D9-52350B8AC862}"/>
              </a:ext>
            </a:extLst>
          </p:cNvPr>
          <p:cNvSpPr/>
          <p:nvPr/>
        </p:nvSpPr>
        <p:spPr>
          <a:xfrm>
            <a:off x="584469" y="1557608"/>
            <a:ext cx="8215312" cy="415925"/>
          </a:xfrm>
          <a:prstGeom prst="rect">
            <a:avLst/>
          </a:prstGeom>
          <a:noFill/>
          <a:ln w="9525">
            <a:noFill/>
          </a:ln>
        </p:spPr>
        <p:txBody>
          <a:bodyPr/>
          <a:lstStyle/>
          <a:p>
            <a:pPr>
              <a:lnSpc>
                <a:spcPct val="100000"/>
              </a:lnSpc>
              <a:spcBef>
                <a:spcPct val="20000"/>
              </a:spcBef>
              <a:buClr>
                <a:schemeClr val="folHlink"/>
              </a:buClr>
              <a:buSzPct val="60000"/>
              <a:buFont typeface="Wingdings" panose="05000000000000000000" pitchFamily="2" charset="2"/>
            </a:pPr>
            <a:r>
              <a:rPr lang="en-US" altLang="zh-CN" sz="2000" b="1" baseline="0" dirty="0">
                <a:latin typeface="Times New Roman" panose="02020603050405020304" pitchFamily="18" charset="0"/>
                <a:cs typeface="Times New Roman" panose="02020603050405020304" pitchFamily="18" charset="0"/>
              </a:rPr>
              <a:t>— </a:t>
            </a:r>
            <a:r>
              <a:rPr lang="zh-CN" altLang="en-US" sz="2000" b="1" baseline="0" dirty="0">
                <a:latin typeface="Times New Roman" panose="02020603050405020304" pitchFamily="18" charset="0"/>
                <a:cs typeface="Times New Roman" panose="02020603050405020304" pitchFamily="18" charset="0"/>
              </a:rPr>
              <a:t>电感等效电路：</a:t>
            </a:r>
          </a:p>
          <a:p>
            <a:pPr>
              <a:lnSpc>
                <a:spcPct val="100000"/>
              </a:lnSpc>
              <a:spcBef>
                <a:spcPct val="20000"/>
              </a:spcBef>
              <a:buClr>
                <a:schemeClr val="folHlink"/>
              </a:buClr>
              <a:buSzPct val="60000"/>
              <a:buFont typeface="Calibri" panose="020F0502020204030204" pitchFamily="34" charset="0"/>
              <a:buChar char="―"/>
            </a:pPr>
            <a:endParaRPr lang="zh-CN" altLang="en-US" sz="2000" baseline="0" dirty="0">
              <a:latin typeface="Times New Roman" panose="02020603050405020304" pitchFamily="18" charset="0"/>
              <a:cs typeface="Times New Roman" panose="02020603050405020304" pitchFamily="18" charset="0"/>
            </a:endParaRPr>
          </a:p>
        </p:txBody>
      </p:sp>
      <p:graphicFrame>
        <p:nvGraphicFramePr>
          <p:cNvPr id="6" name="对象 625668">
            <a:extLst>
              <a:ext uri="{FF2B5EF4-FFF2-40B4-BE49-F238E27FC236}">
                <a16:creationId xmlns:a16="http://schemas.microsoft.com/office/drawing/2014/main" xmlns="" id="{C7F4DFD1-1550-C12F-9FBD-BB992CF2CA93}"/>
              </a:ext>
            </a:extLst>
          </p:cNvPr>
          <p:cNvGraphicFramePr/>
          <p:nvPr>
            <p:extLst>
              <p:ext uri="{D42A27DB-BD31-4B8C-83A1-F6EECF244321}">
                <p14:modId xmlns:p14="http://schemas.microsoft.com/office/powerpoint/2010/main" val="3835135552"/>
              </p:ext>
            </p:extLst>
          </p:nvPr>
        </p:nvGraphicFramePr>
        <p:xfrm>
          <a:off x="1132638" y="1707696"/>
          <a:ext cx="5688013" cy="1284288"/>
        </p:xfrm>
        <a:graphic>
          <a:graphicData uri="http://schemas.openxmlformats.org/presentationml/2006/ole">
            <mc:AlternateContent xmlns:mc="http://schemas.openxmlformats.org/markup-compatibility/2006">
              <mc:Choice xmlns:v="urn:schemas-microsoft-com:vml" Requires="v">
                <p:oleObj spid="_x0000_s9856" name="Visio" r:id="rId3" imgW="5600614" imgH="1581112" progId="Visio.Drawing.11">
                  <p:embed/>
                </p:oleObj>
              </mc:Choice>
              <mc:Fallback>
                <p:oleObj name="Visio" r:id="rId3" imgW="5600614" imgH="1581112" progId="Visio.Drawing.11">
                  <p:embed/>
                  <p:pic>
                    <p:nvPicPr>
                      <p:cNvPr id="0" name=""/>
                      <p:cNvPicPr/>
                      <p:nvPr/>
                    </p:nvPicPr>
                    <p:blipFill>
                      <a:blip r:embed="rId4"/>
                      <a:stretch>
                        <a:fillRect/>
                      </a:stretch>
                    </p:blipFill>
                    <p:spPr>
                      <a:xfrm>
                        <a:off x="1132638" y="1707696"/>
                        <a:ext cx="5688013" cy="1284288"/>
                      </a:xfrm>
                      <a:prstGeom prst="rect">
                        <a:avLst/>
                      </a:prstGeom>
                      <a:noFill/>
                      <a:ln w="38100">
                        <a:noFill/>
                        <a:miter/>
                      </a:ln>
                    </p:spPr>
                  </p:pic>
                </p:oleObj>
              </mc:Fallback>
            </mc:AlternateContent>
          </a:graphicData>
        </a:graphic>
      </p:graphicFrame>
      <p:sp>
        <p:nvSpPr>
          <p:cNvPr id="7" name="TextBox 8">
            <a:extLst>
              <a:ext uri="{FF2B5EF4-FFF2-40B4-BE49-F238E27FC236}">
                <a16:creationId xmlns:a16="http://schemas.microsoft.com/office/drawing/2014/main" xmlns="" id="{59152B4A-DF78-4934-8AFC-C40D9852BC94}"/>
              </a:ext>
            </a:extLst>
          </p:cNvPr>
          <p:cNvSpPr txBox="1"/>
          <p:nvPr/>
        </p:nvSpPr>
        <p:spPr>
          <a:xfrm>
            <a:off x="584468" y="2836528"/>
            <a:ext cx="7888362" cy="400110"/>
          </a:xfrm>
          <a:prstGeom prst="rect">
            <a:avLst/>
          </a:prstGeom>
          <a:noFill/>
          <a:ln w="9525">
            <a:noFill/>
          </a:ln>
        </p:spPr>
        <p:txBody>
          <a:bodyPr wrap="square">
            <a:spAutoFit/>
          </a:bodyPr>
          <a:lstStyle/>
          <a:p>
            <a:pPr>
              <a:lnSpc>
                <a:spcPct val="100000"/>
              </a:lnSpc>
            </a:pPr>
            <a:r>
              <a:rPr lang="en-US" altLang="zh-CN" sz="2000" b="1" baseline="0" dirty="0">
                <a:latin typeface="Times New Roman" panose="02020603050405020304" pitchFamily="18" charset="0"/>
                <a:cs typeface="Times New Roman" panose="02020603050405020304" pitchFamily="18" charset="0"/>
              </a:rPr>
              <a:t>— </a:t>
            </a:r>
            <a:r>
              <a:rPr lang="zh-CN" altLang="en-US" sz="2000" b="1" baseline="0" dirty="0">
                <a:solidFill>
                  <a:srgbClr val="FF0000"/>
                </a:solidFill>
                <a:latin typeface="Times New Roman" panose="02020603050405020304" pitchFamily="18" charset="0"/>
                <a:cs typeface="Times New Roman" panose="02020603050405020304" pitchFamily="18" charset="0"/>
              </a:rPr>
              <a:t>品质因数：</a:t>
            </a:r>
            <a:r>
              <a:rPr lang="zh-CN" altLang="en-US" sz="2000" baseline="0" dirty="0">
                <a:latin typeface="Times New Roman" panose="02020603050405020304" pitchFamily="18" charset="0"/>
                <a:cs typeface="Times New Roman" panose="02020603050405020304" pitchFamily="18" charset="0"/>
              </a:rPr>
              <a:t>线圈的感抗与其串联损耗电阻之比，以符号   表：</a:t>
            </a:r>
          </a:p>
        </p:txBody>
      </p:sp>
      <p:graphicFrame>
        <p:nvGraphicFramePr>
          <p:cNvPr id="8" name="对象 625670">
            <a:extLst>
              <a:ext uri="{FF2B5EF4-FFF2-40B4-BE49-F238E27FC236}">
                <a16:creationId xmlns:a16="http://schemas.microsoft.com/office/drawing/2014/main" xmlns="" id="{671C4A47-ADFE-4DB3-3693-1241F255C63B}"/>
              </a:ext>
            </a:extLst>
          </p:cNvPr>
          <p:cNvGraphicFramePr/>
          <p:nvPr>
            <p:extLst>
              <p:ext uri="{D42A27DB-BD31-4B8C-83A1-F6EECF244321}">
                <p14:modId xmlns:p14="http://schemas.microsoft.com/office/powerpoint/2010/main" val="1458957542"/>
              </p:ext>
            </p:extLst>
          </p:nvPr>
        </p:nvGraphicFramePr>
        <p:xfrm>
          <a:off x="983998" y="3236638"/>
          <a:ext cx="1000125" cy="715963"/>
        </p:xfrm>
        <a:graphic>
          <a:graphicData uri="http://schemas.openxmlformats.org/presentationml/2006/ole">
            <mc:AlternateContent xmlns:mc="http://schemas.openxmlformats.org/markup-compatibility/2006">
              <mc:Choice xmlns:v="urn:schemas-microsoft-com:vml" Requires="v">
                <p:oleObj spid="_x0000_s9857" r:id="rId5" imgW="482600" imgH="342900" progId="Equation.DSMT4">
                  <p:embed/>
                </p:oleObj>
              </mc:Choice>
              <mc:Fallback>
                <p:oleObj r:id="rId5" imgW="482600" imgH="342900" progId="Equation.DSMT4">
                  <p:embed/>
                  <p:pic>
                    <p:nvPicPr>
                      <p:cNvPr id="0" name=""/>
                      <p:cNvPicPr/>
                      <p:nvPr/>
                    </p:nvPicPr>
                    <p:blipFill>
                      <a:blip r:embed="rId6"/>
                      <a:stretch>
                        <a:fillRect/>
                      </a:stretch>
                    </p:blipFill>
                    <p:spPr>
                      <a:xfrm>
                        <a:off x="983998" y="3236638"/>
                        <a:ext cx="1000125" cy="715963"/>
                      </a:xfrm>
                      <a:prstGeom prst="rect">
                        <a:avLst/>
                      </a:prstGeom>
                      <a:noFill/>
                      <a:ln w="38100">
                        <a:noFill/>
                        <a:miter/>
                      </a:ln>
                    </p:spPr>
                  </p:pic>
                </p:oleObj>
              </mc:Fallback>
            </mc:AlternateContent>
          </a:graphicData>
        </a:graphic>
      </p:graphicFrame>
      <p:sp>
        <p:nvSpPr>
          <p:cNvPr id="9" name="TextBox 16">
            <a:extLst>
              <a:ext uri="{FF2B5EF4-FFF2-40B4-BE49-F238E27FC236}">
                <a16:creationId xmlns:a16="http://schemas.microsoft.com/office/drawing/2014/main" xmlns="" id="{7BE476F0-7A96-3697-02E3-698827D05BC3}"/>
              </a:ext>
            </a:extLst>
          </p:cNvPr>
          <p:cNvSpPr txBox="1"/>
          <p:nvPr/>
        </p:nvSpPr>
        <p:spPr>
          <a:xfrm>
            <a:off x="3649136" y="3436314"/>
            <a:ext cx="3086325" cy="400110"/>
          </a:xfrm>
          <a:prstGeom prst="rect">
            <a:avLst/>
          </a:prstGeom>
          <a:noFill/>
          <a:ln w="9525">
            <a:noFill/>
          </a:ln>
        </p:spPr>
        <p:txBody>
          <a:bodyPr wrap="square">
            <a:spAutoFit/>
          </a:bodyPr>
          <a:lstStyle/>
          <a:p>
            <a:pPr>
              <a:lnSpc>
                <a:spcPct val="100000"/>
              </a:lnSpc>
            </a:pPr>
            <a:r>
              <a:rPr lang="zh-CN" altLang="en-US" sz="2000" dirty="0">
                <a:latin typeface="Times New Roman" panose="02020603050405020304" pitchFamily="18" charset="0"/>
                <a:cs typeface="Times New Roman" panose="02020603050405020304" pitchFamily="18" charset="0"/>
              </a:rPr>
              <a:t>其中</a:t>
            </a:r>
            <a:r>
              <a:rPr lang="en-US" altLang="zh-CN" sz="2000" dirty="0">
                <a:latin typeface="Times New Roman" panose="02020603050405020304" pitchFamily="18" charset="0"/>
                <a:cs typeface="Times New Roman" panose="02020603050405020304" pitchFamily="18" charset="0"/>
              </a:rPr>
              <a:t>   </a:t>
            </a:r>
            <a:r>
              <a:rPr lang="zh-CN" altLang="en-US" sz="2000" dirty="0">
                <a:latin typeface="Times New Roman" panose="02020603050405020304" pitchFamily="18" charset="0"/>
                <a:cs typeface="Times New Roman" panose="02020603050405020304" pitchFamily="18" charset="0"/>
              </a:rPr>
              <a:t>是工作角频率。</a:t>
            </a:r>
          </a:p>
        </p:txBody>
      </p:sp>
      <p:graphicFrame>
        <p:nvGraphicFramePr>
          <p:cNvPr id="10" name="对象 625672">
            <a:extLst>
              <a:ext uri="{FF2B5EF4-FFF2-40B4-BE49-F238E27FC236}">
                <a16:creationId xmlns:a16="http://schemas.microsoft.com/office/drawing/2014/main" xmlns="" id="{7A32E386-E64C-2247-2A9E-37672B19FB9D}"/>
              </a:ext>
            </a:extLst>
          </p:cNvPr>
          <p:cNvGraphicFramePr/>
          <p:nvPr>
            <p:extLst>
              <p:ext uri="{D42A27DB-BD31-4B8C-83A1-F6EECF244321}">
                <p14:modId xmlns:p14="http://schemas.microsoft.com/office/powerpoint/2010/main" val="912691356"/>
              </p:ext>
            </p:extLst>
          </p:nvPr>
        </p:nvGraphicFramePr>
        <p:xfrm>
          <a:off x="4170320" y="3505863"/>
          <a:ext cx="428625" cy="341313"/>
        </p:xfrm>
        <a:graphic>
          <a:graphicData uri="http://schemas.openxmlformats.org/presentationml/2006/ole">
            <mc:AlternateContent xmlns:mc="http://schemas.openxmlformats.org/markup-compatibility/2006">
              <mc:Choice xmlns:v="urn:schemas-microsoft-com:vml" Requires="v">
                <p:oleObj spid="_x0000_s9858" r:id="rId7" imgW="139700" imgH="127000" progId="Equation.DSMT4">
                  <p:embed/>
                </p:oleObj>
              </mc:Choice>
              <mc:Fallback>
                <p:oleObj r:id="rId7" imgW="139700" imgH="127000" progId="Equation.DSMT4">
                  <p:embed/>
                  <p:pic>
                    <p:nvPicPr>
                      <p:cNvPr id="0" name=""/>
                      <p:cNvPicPr/>
                      <p:nvPr/>
                    </p:nvPicPr>
                    <p:blipFill>
                      <a:blip r:embed="rId8"/>
                      <a:stretch>
                        <a:fillRect/>
                      </a:stretch>
                    </p:blipFill>
                    <p:spPr>
                      <a:xfrm>
                        <a:off x="4170320" y="3505863"/>
                        <a:ext cx="428625" cy="341313"/>
                      </a:xfrm>
                      <a:prstGeom prst="rect">
                        <a:avLst/>
                      </a:prstGeom>
                      <a:noFill/>
                      <a:ln w="38100">
                        <a:noFill/>
                        <a:miter/>
                      </a:ln>
                    </p:spPr>
                  </p:pic>
                </p:oleObj>
              </mc:Fallback>
            </mc:AlternateContent>
          </a:graphicData>
        </a:graphic>
      </p:graphicFrame>
      <p:graphicFrame>
        <p:nvGraphicFramePr>
          <p:cNvPr id="11" name="对象 625673">
            <a:extLst>
              <a:ext uri="{FF2B5EF4-FFF2-40B4-BE49-F238E27FC236}">
                <a16:creationId xmlns:a16="http://schemas.microsoft.com/office/drawing/2014/main" xmlns="" id="{1FE81A0C-870F-3DF5-3A41-DD01E5536B43}"/>
              </a:ext>
            </a:extLst>
          </p:cNvPr>
          <p:cNvGraphicFramePr/>
          <p:nvPr>
            <p:extLst>
              <p:ext uri="{D42A27DB-BD31-4B8C-83A1-F6EECF244321}">
                <p14:modId xmlns:p14="http://schemas.microsoft.com/office/powerpoint/2010/main" val="3199885493"/>
              </p:ext>
            </p:extLst>
          </p:nvPr>
        </p:nvGraphicFramePr>
        <p:xfrm>
          <a:off x="7198440" y="2808013"/>
          <a:ext cx="428625" cy="428625"/>
        </p:xfrm>
        <a:graphic>
          <a:graphicData uri="http://schemas.openxmlformats.org/presentationml/2006/ole">
            <mc:AlternateContent xmlns:mc="http://schemas.openxmlformats.org/markup-compatibility/2006">
              <mc:Choice xmlns:v="urn:schemas-microsoft-com:vml" Requires="v">
                <p:oleObj spid="_x0000_s9859" r:id="rId9" imgW="152400" imgH="190500" progId="Equation.DSMT4">
                  <p:embed/>
                </p:oleObj>
              </mc:Choice>
              <mc:Fallback>
                <p:oleObj r:id="rId9" imgW="152400" imgH="190500" progId="Equation.DSMT4">
                  <p:embed/>
                  <p:pic>
                    <p:nvPicPr>
                      <p:cNvPr id="0" name=""/>
                      <p:cNvPicPr/>
                      <p:nvPr/>
                    </p:nvPicPr>
                    <p:blipFill>
                      <a:blip r:embed="rId10"/>
                      <a:stretch>
                        <a:fillRect/>
                      </a:stretch>
                    </p:blipFill>
                    <p:spPr>
                      <a:xfrm>
                        <a:off x="7198440" y="2808013"/>
                        <a:ext cx="428625" cy="428625"/>
                      </a:xfrm>
                      <a:prstGeom prst="rect">
                        <a:avLst/>
                      </a:prstGeom>
                      <a:noFill/>
                      <a:ln w="38100">
                        <a:noFill/>
                        <a:miter/>
                      </a:ln>
                    </p:spPr>
                  </p:pic>
                </p:oleObj>
              </mc:Fallback>
            </mc:AlternateContent>
          </a:graphicData>
        </a:graphic>
      </p:graphicFrame>
      <p:graphicFrame>
        <p:nvGraphicFramePr>
          <p:cNvPr id="12" name="对象 625677">
            <a:extLst>
              <a:ext uri="{FF2B5EF4-FFF2-40B4-BE49-F238E27FC236}">
                <a16:creationId xmlns:a16="http://schemas.microsoft.com/office/drawing/2014/main" xmlns="" id="{12C5116B-5570-79E3-8057-28EB987C7B03}"/>
              </a:ext>
            </a:extLst>
          </p:cNvPr>
          <p:cNvGraphicFramePr/>
          <p:nvPr>
            <p:extLst>
              <p:ext uri="{D42A27DB-BD31-4B8C-83A1-F6EECF244321}">
                <p14:modId xmlns:p14="http://schemas.microsoft.com/office/powerpoint/2010/main" val="3162636927"/>
              </p:ext>
            </p:extLst>
          </p:nvPr>
        </p:nvGraphicFramePr>
        <p:xfrm>
          <a:off x="2033446" y="3226760"/>
          <a:ext cx="1357312" cy="801688"/>
        </p:xfrm>
        <a:graphic>
          <a:graphicData uri="http://schemas.openxmlformats.org/presentationml/2006/ole">
            <mc:AlternateContent xmlns:mc="http://schemas.openxmlformats.org/markup-compatibility/2006">
              <mc:Choice xmlns:v="urn:schemas-microsoft-com:vml" Requires="v">
                <p:oleObj spid="_x0000_s9860" r:id="rId11" imgW="533400" imgH="393700" progId="Equation.DSMT4">
                  <p:embed/>
                </p:oleObj>
              </mc:Choice>
              <mc:Fallback>
                <p:oleObj r:id="rId11" imgW="533400" imgH="393700" progId="Equation.DSMT4">
                  <p:embed/>
                  <p:pic>
                    <p:nvPicPr>
                      <p:cNvPr id="0" name=""/>
                      <p:cNvPicPr/>
                      <p:nvPr/>
                    </p:nvPicPr>
                    <p:blipFill>
                      <a:blip r:embed="rId12"/>
                      <a:stretch>
                        <a:fillRect/>
                      </a:stretch>
                    </p:blipFill>
                    <p:spPr>
                      <a:xfrm>
                        <a:off x="2033446" y="3226760"/>
                        <a:ext cx="1357312" cy="801688"/>
                      </a:xfrm>
                      <a:prstGeom prst="rect">
                        <a:avLst/>
                      </a:prstGeom>
                      <a:noFill/>
                      <a:ln w="38100">
                        <a:noFill/>
                        <a:miter/>
                      </a:ln>
                    </p:spPr>
                  </p:pic>
                </p:oleObj>
              </mc:Fallback>
            </mc:AlternateContent>
          </a:graphicData>
        </a:graphic>
      </p:graphicFrame>
      <p:sp>
        <p:nvSpPr>
          <p:cNvPr id="13" name="矩形 7">
            <a:extLst>
              <a:ext uri="{FF2B5EF4-FFF2-40B4-BE49-F238E27FC236}">
                <a16:creationId xmlns:a16="http://schemas.microsoft.com/office/drawing/2014/main" xmlns="" id="{8463B646-E0B6-6950-887E-C1D1C4C31CB4}"/>
              </a:ext>
            </a:extLst>
          </p:cNvPr>
          <p:cNvSpPr/>
          <p:nvPr/>
        </p:nvSpPr>
        <p:spPr>
          <a:xfrm>
            <a:off x="584467" y="3989252"/>
            <a:ext cx="5337971" cy="400110"/>
          </a:xfrm>
          <a:prstGeom prst="rect">
            <a:avLst/>
          </a:prstGeom>
          <a:noFill/>
          <a:ln w="9525">
            <a:noFill/>
          </a:ln>
        </p:spPr>
        <p:txBody>
          <a:bodyPr wrap="square">
            <a:spAutoFit/>
          </a:bodyPr>
          <a:lstStyle/>
          <a:p>
            <a:pPr>
              <a:lnSpc>
                <a:spcPct val="100000"/>
              </a:lnSpc>
            </a:pPr>
            <a:r>
              <a:rPr lang="en-US" altLang="zh-CN" sz="2000" b="1" dirty="0">
                <a:latin typeface="Times New Roman" panose="02020603050405020304" pitchFamily="18" charset="0"/>
                <a:cs typeface="Times New Roman" panose="02020603050405020304" pitchFamily="18" charset="0"/>
              </a:rPr>
              <a:t>—  </a:t>
            </a:r>
            <a:r>
              <a:rPr lang="zh-CN" altLang="en-US" sz="2000" b="1" dirty="0">
                <a:latin typeface="Times New Roman" panose="02020603050405020304" pitchFamily="18" charset="0"/>
                <a:cs typeface="Times New Roman" panose="02020603050405020304" pitchFamily="18" charset="0"/>
              </a:rPr>
              <a:t>串联</a:t>
            </a:r>
            <a:r>
              <a:rPr lang="en-US" altLang="en-US" sz="2000" b="1" dirty="0">
                <a:latin typeface="Times New Roman" panose="02020603050405020304" pitchFamily="18" charset="0"/>
                <a:cs typeface="Times New Roman" panose="02020603050405020304" pitchFamily="18" charset="0"/>
              </a:rPr>
              <a:t>r</a:t>
            </a:r>
            <a:r>
              <a:rPr lang="zh-CN" altLang="en-US" sz="2000" b="1" dirty="0">
                <a:latin typeface="Times New Roman" panose="02020603050405020304" pitchFamily="18" charset="0"/>
                <a:cs typeface="Times New Roman" panose="02020603050405020304" pitchFamily="18" charset="0"/>
              </a:rPr>
              <a:t>、</a:t>
            </a:r>
            <a:r>
              <a:rPr lang="en-US" altLang="en-US" sz="2000" b="1" dirty="0">
                <a:latin typeface="Times New Roman" panose="02020603050405020304" pitchFamily="18" charset="0"/>
                <a:cs typeface="Times New Roman" panose="02020603050405020304" pitchFamily="18" charset="0"/>
              </a:rPr>
              <a:t>L</a:t>
            </a:r>
            <a:r>
              <a:rPr lang="zh-CN" altLang="en-US" sz="2000" b="1" dirty="0">
                <a:latin typeface="Times New Roman" panose="02020603050405020304" pitchFamily="18" charset="0"/>
                <a:cs typeface="Times New Roman" panose="02020603050405020304" pitchFamily="18" charset="0"/>
              </a:rPr>
              <a:t>与并联</a:t>
            </a:r>
            <a:r>
              <a:rPr lang="en-US" altLang="en-US" sz="2000" b="1" dirty="0">
                <a:latin typeface="Times New Roman" panose="02020603050405020304" pitchFamily="18" charset="0"/>
                <a:cs typeface="Times New Roman" panose="02020603050405020304" pitchFamily="18" charset="0"/>
              </a:rPr>
              <a:t>R</a:t>
            </a:r>
            <a:r>
              <a:rPr lang="zh-CN" altLang="en-US" sz="2000" b="1" dirty="0">
                <a:latin typeface="Times New Roman" panose="02020603050405020304" pitchFamily="18" charset="0"/>
                <a:cs typeface="Times New Roman" panose="02020603050405020304" pitchFamily="18" charset="0"/>
              </a:rPr>
              <a:t>、</a:t>
            </a:r>
            <a:r>
              <a:rPr lang="en-US" altLang="en-US" sz="2000" b="1" dirty="0">
                <a:latin typeface="Times New Roman" panose="02020603050405020304" pitchFamily="18" charset="0"/>
                <a:cs typeface="Times New Roman" panose="02020603050405020304" pitchFamily="18" charset="0"/>
              </a:rPr>
              <a:t>Lp</a:t>
            </a:r>
            <a:r>
              <a:rPr lang="zh-CN" altLang="en-US" sz="2000" b="1" dirty="0">
                <a:latin typeface="Times New Roman" panose="02020603050405020304" pitchFamily="18" charset="0"/>
                <a:cs typeface="Times New Roman" panose="02020603050405020304" pitchFamily="18" charset="0"/>
              </a:rPr>
              <a:t>之间满足关系式：</a:t>
            </a:r>
          </a:p>
        </p:txBody>
      </p:sp>
      <p:graphicFrame>
        <p:nvGraphicFramePr>
          <p:cNvPr id="14" name="对象 625679">
            <a:extLst>
              <a:ext uri="{FF2B5EF4-FFF2-40B4-BE49-F238E27FC236}">
                <a16:creationId xmlns:a16="http://schemas.microsoft.com/office/drawing/2014/main" xmlns="" id="{2AADBCF6-0E8B-987B-807C-2B32E3812EB6}"/>
              </a:ext>
            </a:extLst>
          </p:cNvPr>
          <p:cNvGraphicFramePr/>
          <p:nvPr>
            <p:extLst>
              <p:ext uri="{D42A27DB-BD31-4B8C-83A1-F6EECF244321}">
                <p14:modId xmlns:p14="http://schemas.microsoft.com/office/powerpoint/2010/main" val="2619649434"/>
              </p:ext>
            </p:extLst>
          </p:nvPr>
        </p:nvGraphicFramePr>
        <p:xfrm>
          <a:off x="3448801" y="4531997"/>
          <a:ext cx="1443038" cy="420688"/>
        </p:xfrm>
        <a:graphic>
          <a:graphicData uri="http://schemas.openxmlformats.org/presentationml/2006/ole">
            <mc:AlternateContent xmlns:mc="http://schemas.openxmlformats.org/markup-compatibility/2006">
              <mc:Choice xmlns:v="urn:schemas-microsoft-com:vml" Requires="v">
                <p:oleObj spid="_x0000_s9861" r:id="rId13" imgW="711200" imgH="203200" progId="Equation.DSMT4">
                  <p:embed/>
                </p:oleObj>
              </mc:Choice>
              <mc:Fallback>
                <p:oleObj r:id="rId13" imgW="711200" imgH="203200" progId="Equation.DSMT4">
                  <p:embed/>
                  <p:pic>
                    <p:nvPicPr>
                      <p:cNvPr id="0" name=""/>
                      <p:cNvPicPr/>
                      <p:nvPr/>
                    </p:nvPicPr>
                    <p:blipFill>
                      <a:blip r:embed="rId14"/>
                      <a:stretch>
                        <a:fillRect/>
                      </a:stretch>
                    </p:blipFill>
                    <p:spPr>
                      <a:xfrm>
                        <a:off x="3448801" y="4531997"/>
                        <a:ext cx="1443038" cy="420688"/>
                      </a:xfrm>
                      <a:prstGeom prst="rect">
                        <a:avLst/>
                      </a:prstGeom>
                      <a:noFill/>
                      <a:ln w="38100">
                        <a:noFill/>
                        <a:miter/>
                      </a:ln>
                    </p:spPr>
                  </p:pic>
                </p:oleObj>
              </mc:Fallback>
            </mc:AlternateContent>
          </a:graphicData>
        </a:graphic>
      </p:graphicFrame>
      <p:graphicFrame>
        <p:nvGraphicFramePr>
          <p:cNvPr id="15" name="对象 625680">
            <a:extLst>
              <a:ext uri="{FF2B5EF4-FFF2-40B4-BE49-F238E27FC236}">
                <a16:creationId xmlns:a16="http://schemas.microsoft.com/office/drawing/2014/main" xmlns="" id="{3ADAD93D-77E3-B885-0D27-740ACE4CDB90}"/>
              </a:ext>
            </a:extLst>
          </p:cNvPr>
          <p:cNvGraphicFramePr/>
          <p:nvPr>
            <p:extLst>
              <p:ext uri="{D42A27DB-BD31-4B8C-83A1-F6EECF244321}">
                <p14:modId xmlns:p14="http://schemas.microsoft.com/office/powerpoint/2010/main" val="3016303801"/>
              </p:ext>
            </p:extLst>
          </p:nvPr>
        </p:nvGraphicFramePr>
        <p:xfrm>
          <a:off x="928162" y="4359200"/>
          <a:ext cx="1862138" cy="714375"/>
        </p:xfrm>
        <a:graphic>
          <a:graphicData uri="http://schemas.openxmlformats.org/presentationml/2006/ole">
            <mc:AlternateContent xmlns:mc="http://schemas.openxmlformats.org/markup-compatibility/2006">
              <mc:Choice xmlns:v="urn:schemas-microsoft-com:vml" Requires="v">
                <p:oleObj spid="_x0000_s9862" r:id="rId15" imgW="787400" imgH="381000" progId="Equation.DSMT4">
                  <p:embed/>
                </p:oleObj>
              </mc:Choice>
              <mc:Fallback>
                <p:oleObj r:id="rId15" imgW="787400" imgH="381000" progId="Equation.DSMT4">
                  <p:embed/>
                  <p:pic>
                    <p:nvPicPr>
                      <p:cNvPr id="0" name=""/>
                      <p:cNvPicPr/>
                      <p:nvPr/>
                    </p:nvPicPr>
                    <p:blipFill>
                      <a:blip r:embed="rId16"/>
                      <a:stretch>
                        <a:fillRect/>
                      </a:stretch>
                    </p:blipFill>
                    <p:spPr>
                      <a:xfrm>
                        <a:off x="928162" y="4359200"/>
                        <a:ext cx="1862138" cy="714375"/>
                      </a:xfrm>
                      <a:prstGeom prst="rect">
                        <a:avLst/>
                      </a:prstGeom>
                      <a:noFill/>
                      <a:ln w="38100">
                        <a:noFill/>
                        <a:miter/>
                      </a:ln>
                    </p:spPr>
                  </p:pic>
                </p:oleObj>
              </mc:Fallback>
            </mc:AlternateContent>
          </a:graphicData>
        </a:graphic>
      </p:graphicFrame>
      <p:graphicFrame>
        <p:nvGraphicFramePr>
          <p:cNvPr id="16" name="对象 625681">
            <a:extLst>
              <a:ext uri="{FF2B5EF4-FFF2-40B4-BE49-F238E27FC236}">
                <a16:creationId xmlns:a16="http://schemas.microsoft.com/office/drawing/2014/main" xmlns="" id="{A72B6349-9A32-CA68-62C8-076B58818283}"/>
              </a:ext>
            </a:extLst>
          </p:cNvPr>
          <p:cNvGraphicFramePr/>
          <p:nvPr>
            <p:extLst>
              <p:ext uri="{D42A27DB-BD31-4B8C-83A1-F6EECF244321}">
                <p14:modId xmlns:p14="http://schemas.microsoft.com/office/powerpoint/2010/main" val="672685234"/>
              </p:ext>
            </p:extLst>
          </p:nvPr>
        </p:nvGraphicFramePr>
        <p:xfrm>
          <a:off x="4220673" y="5027681"/>
          <a:ext cx="1071562" cy="420688"/>
        </p:xfrm>
        <a:graphic>
          <a:graphicData uri="http://schemas.openxmlformats.org/presentationml/2006/ole">
            <mc:AlternateContent xmlns:mc="http://schemas.openxmlformats.org/markup-compatibility/2006">
              <mc:Choice xmlns:v="urn:schemas-microsoft-com:vml" Requires="v">
                <p:oleObj spid="_x0000_s9863" r:id="rId17" imgW="457200" imgH="203200" progId="Equation.DSMT4">
                  <p:embed/>
                </p:oleObj>
              </mc:Choice>
              <mc:Fallback>
                <p:oleObj r:id="rId17" imgW="457200" imgH="203200" progId="Equation.DSMT4">
                  <p:embed/>
                  <p:pic>
                    <p:nvPicPr>
                      <p:cNvPr id="0" name=""/>
                      <p:cNvPicPr/>
                      <p:nvPr/>
                    </p:nvPicPr>
                    <p:blipFill>
                      <a:blip r:embed="rId18"/>
                      <a:stretch>
                        <a:fillRect/>
                      </a:stretch>
                    </p:blipFill>
                    <p:spPr>
                      <a:xfrm>
                        <a:off x="4220673" y="5027681"/>
                        <a:ext cx="1071562" cy="420688"/>
                      </a:xfrm>
                      <a:prstGeom prst="rect">
                        <a:avLst/>
                      </a:prstGeom>
                      <a:noFill/>
                      <a:ln w="38100">
                        <a:noFill/>
                        <a:miter/>
                      </a:ln>
                    </p:spPr>
                  </p:pic>
                </p:oleObj>
              </mc:Fallback>
            </mc:AlternateContent>
          </a:graphicData>
        </a:graphic>
      </p:graphicFrame>
      <p:graphicFrame>
        <p:nvGraphicFramePr>
          <p:cNvPr id="17" name="对象 625682">
            <a:extLst>
              <a:ext uri="{FF2B5EF4-FFF2-40B4-BE49-F238E27FC236}">
                <a16:creationId xmlns:a16="http://schemas.microsoft.com/office/drawing/2014/main" xmlns="" id="{E7DCCC8E-9867-643A-D18B-833FB622B06F}"/>
              </a:ext>
            </a:extLst>
          </p:cNvPr>
          <p:cNvGraphicFramePr/>
          <p:nvPr>
            <p:extLst>
              <p:ext uri="{D42A27DB-BD31-4B8C-83A1-F6EECF244321}">
                <p14:modId xmlns:p14="http://schemas.microsoft.com/office/powerpoint/2010/main" val="2807886598"/>
              </p:ext>
            </p:extLst>
          </p:nvPr>
        </p:nvGraphicFramePr>
        <p:xfrm>
          <a:off x="5407444" y="4846360"/>
          <a:ext cx="1441450" cy="723900"/>
        </p:xfrm>
        <a:graphic>
          <a:graphicData uri="http://schemas.openxmlformats.org/presentationml/2006/ole">
            <mc:AlternateContent xmlns:mc="http://schemas.openxmlformats.org/markup-compatibility/2006">
              <mc:Choice xmlns:v="urn:schemas-microsoft-com:vml" Requires="v">
                <p:oleObj spid="_x0000_s9864" r:id="rId19" imgW="533400" imgH="355600" progId="Equation.DSMT4">
                  <p:embed/>
                </p:oleObj>
              </mc:Choice>
              <mc:Fallback>
                <p:oleObj r:id="rId19" imgW="533400" imgH="355600" progId="Equation.DSMT4">
                  <p:embed/>
                  <p:pic>
                    <p:nvPicPr>
                      <p:cNvPr id="0" name=""/>
                      <p:cNvPicPr/>
                      <p:nvPr/>
                    </p:nvPicPr>
                    <p:blipFill>
                      <a:blip r:embed="rId20"/>
                      <a:stretch>
                        <a:fillRect/>
                      </a:stretch>
                    </p:blipFill>
                    <p:spPr>
                      <a:xfrm>
                        <a:off x="5407444" y="4846360"/>
                        <a:ext cx="1441450" cy="723900"/>
                      </a:xfrm>
                      <a:prstGeom prst="rect">
                        <a:avLst/>
                      </a:prstGeom>
                      <a:noFill/>
                      <a:ln w="38100">
                        <a:noFill/>
                        <a:miter/>
                      </a:ln>
                    </p:spPr>
                  </p:pic>
                </p:oleObj>
              </mc:Fallback>
            </mc:AlternateContent>
          </a:graphicData>
        </a:graphic>
      </p:graphicFrame>
      <p:graphicFrame>
        <p:nvGraphicFramePr>
          <p:cNvPr id="18" name="对象 625683">
            <a:extLst>
              <a:ext uri="{FF2B5EF4-FFF2-40B4-BE49-F238E27FC236}">
                <a16:creationId xmlns:a16="http://schemas.microsoft.com/office/drawing/2014/main" xmlns="" id="{F7FFEFA7-22C7-B209-AC26-CD0039827338}"/>
              </a:ext>
            </a:extLst>
          </p:cNvPr>
          <p:cNvGraphicFramePr/>
          <p:nvPr>
            <p:extLst>
              <p:ext uri="{D42A27DB-BD31-4B8C-83A1-F6EECF244321}">
                <p14:modId xmlns:p14="http://schemas.microsoft.com/office/powerpoint/2010/main" val="3499468405"/>
              </p:ext>
            </p:extLst>
          </p:nvPr>
        </p:nvGraphicFramePr>
        <p:xfrm>
          <a:off x="7052129" y="5049847"/>
          <a:ext cx="857250" cy="398463"/>
        </p:xfrm>
        <a:graphic>
          <a:graphicData uri="http://schemas.openxmlformats.org/presentationml/2006/ole">
            <mc:AlternateContent xmlns:mc="http://schemas.openxmlformats.org/markup-compatibility/2006">
              <mc:Choice xmlns:v="urn:schemas-microsoft-com:vml" Requires="v">
                <p:oleObj spid="_x0000_s9865" r:id="rId21" imgW="381000" imgH="203200" progId="Equation.DSMT4">
                  <p:embed/>
                </p:oleObj>
              </mc:Choice>
              <mc:Fallback>
                <p:oleObj r:id="rId21" imgW="381000" imgH="203200" progId="Equation.DSMT4">
                  <p:embed/>
                  <p:pic>
                    <p:nvPicPr>
                      <p:cNvPr id="0" name=""/>
                      <p:cNvPicPr/>
                      <p:nvPr/>
                    </p:nvPicPr>
                    <p:blipFill>
                      <a:blip r:embed="rId22"/>
                      <a:stretch>
                        <a:fillRect/>
                      </a:stretch>
                    </p:blipFill>
                    <p:spPr>
                      <a:xfrm>
                        <a:off x="7052129" y="5049847"/>
                        <a:ext cx="857250" cy="398463"/>
                      </a:xfrm>
                      <a:prstGeom prst="rect">
                        <a:avLst/>
                      </a:prstGeom>
                      <a:noFill/>
                      <a:ln w="38100">
                        <a:noFill/>
                        <a:miter/>
                      </a:ln>
                    </p:spPr>
                  </p:pic>
                </p:oleObj>
              </mc:Fallback>
            </mc:AlternateContent>
          </a:graphicData>
        </a:graphic>
      </p:graphicFrame>
      <p:sp>
        <p:nvSpPr>
          <p:cNvPr id="19" name="矩形 47">
            <a:extLst>
              <a:ext uri="{FF2B5EF4-FFF2-40B4-BE49-F238E27FC236}">
                <a16:creationId xmlns:a16="http://schemas.microsoft.com/office/drawing/2014/main" xmlns="" id="{A0D6B23E-DE7E-0CD8-5857-7076E3217C59}"/>
              </a:ext>
            </a:extLst>
          </p:cNvPr>
          <p:cNvSpPr/>
          <p:nvPr/>
        </p:nvSpPr>
        <p:spPr>
          <a:xfrm>
            <a:off x="584467" y="5077448"/>
            <a:ext cx="3828292" cy="400110"/>
          </a:xfrm>
          <a:prstGeom prst="rect">
            <a:avLst/>
          </a:prstGeom>
          <a:noFill/>
          <a:ln w="9525">
            <a:noFill/>
          </a:ln>
        </p:spPr>
        <p:txBody>
          <a:bodyPr wrap="none">
            <a:spAutoFit/>
          </a:bodyPr>
          <a:lstStyle/>
          <a:p>
            <a:r>
              <a:rPr lang="zh-CN" altLang="en-US" sz="2000" b="1" dirty="0">
                <a:latin typeface="Times New Roman" panose="02020603050405020304" pitchFamily="18" charset="0"/>
                <a:cs typeface="Times New Roman" panose="02020603050405020304" pitchFamily="18" charset="0"/>
              </a:rPr>
              <a:t>当      </a:t>
            </a:r>
            <a:r>
              <a:rPr lang="en-US" altLang="zh-CN" sz="2000" b="1" dirty="0">
                <a:latin typeface="Times New Roman" panose="02020603050405020304" pitchFamily="18" charset="0"/>
                <a:cs typeface="Times New Roman" panose="02020603050405020304" pitchFamily="18" charset="0"/>
              </a:rPr>
              <a:t>&gt;&gt;1</a:t>
            </a:r>
            <a:r>
              <a:rPr lang="zh-CN" altLang="en-US" sz="2000" b="1" dirty="0">
                <a:latin typeface="Times New Roman" panose="02020603050405020304" pitchFamily="18" charset="0"/>
                <a:cs typeface="Times New Roman" panose="02020603050405020304" pitchFamily="18" charset="0"/>
              </a:rPr>
              <a:t>时，它们近似表示为：</a:t>
            </a:r>
          </a:p>
        </p:txBody>
      </p:sp>
      <p:sp>
        <p:nvSpPr>
          <p:cNvPr id="20" name="TextBox 49">
            <a:extLst>
              <a:ext uri="{FF2B5EF4-FFF2-40B4-BE49-F238E27FC236}">
                <a16:creationId xmlns:a16="http://schemas.microsoft.com/office/drawing/2014/main" xmlns="" id="{A6D3202E-BB23-3484-677A-D5430604D16D}"/>
              </a:ext>
            </a:extLst>
          </p:cNvPr>
          <p:cNvSpPr txBox="1"/>
          <p:nvPr/>
        </p:nvSpPr>
        <p:spPr>
          <a:xfrm>
            <a:off x="584467" y="5688270"/>
            <a:ext cx="8215313" cy="701675"/>
          </a:xfrm>
          <a:prstGeom prst="rect">
            <a:avLst/>
          </a:prstGeom>
          <a:noFill/>
          <a:ln w="9525">
            <a:noFill/>
          </a:ln>
        </p:spPr>
        <p:txBody>
          <a:bodyPr>
            <a:spAutoFit/>
          </a:bodyPr>
          <a:lstStyle/>
          <a:p>
            <a:pPr>
              <a:lnSpc>
                <a:spcPct val="100000"/>
              </a:lnSpc>
            </a:pPr>
            <a:r>
              <a:rPr lang="en-US" altLang="zh-CN" sz="2000" dirty="0">
                <a:solidFill>
                  <a:srgbClr val="FF0000"/>
                </a:solidFill>
                <a:latin typeface="Times New Roman" panose="02020603050405020304" pitchFamily="18" charset="0"/>
                <a:cs typeface="Times New Roman" panose="02020603050405020304" pitchFamily="18" charset="0"/>
              </a:rPr>
              <a:t>r</a:t>
            </a:r>
            <a:r>
              <a:rPr lang="zh-CN" altLang="en-US" sz="2000" dirty="0">
                <a:solidFill>
                  <a:srgbClr val="FF0000"/>
                </a:solidFill>
                <a:latin typeface="Times New Roman" panose="02020603050405020304" pitchFamily="18" charset="0"/>
                <a:cs typeface="Times New Roman" panose="02020603050405020304" pitchFamily="18" charset="0"/>
              </a:rPr>
              <a:t>、</a:t>
            </a:r>
            <a:r>
              <a:rPr lang="en-US" altLang="zh-CN" sz="2000" dirty="0">
                <a:solidFill>
                  <a:srgbClr val="FF0000"/>
                </a:solidFill>
                <a:latin typeface="Times New Roman" panose="02020603050405020304" pitchFamily="18" charset="0"/>
                <a:cs typeface="Times New Roman" panose="02020603050405020304" pitchFamily="18" charset="0"/>
              </a:rPr>
              <a:t>R</a:t>
            </a:r>
            <a:r>
              <a:rPr lang="zh-CN" altLang="en-US" sz="2000" dirty="0">
                <a:solidFill>
                  <a:srgbClr val="FF0000"/>
                </a:solidFill>
                <a:latin typeface="Times New Roman" panose="02020603050405020304" pitchFamily="18" charset="0"/>
                <a:cs typeface="Times New Roman" panose="02020603050405020304" pitchFamily="18" charset="0"/>
              </a:rPr>
              <a:t>决定了线圈的损耗。因为与</a:t>
            </a:r>
            <a:r>
              <a:rPr lang="en-US" altLang="zh-CN" sz="2000" i="1" dirty="0">
                <a:solidFill>
                  <a:srgbClr val="FF0000"/>
                </a:solidFill>
                <a:latin typeface="Times New Roman" panose="02020603050405020304" pitchFamily="18" charset="0"/>
                <a:cs typeface="Times New Roman" panose="02020603050405020304" pitchFamily="18" charset="0"/>
              </a:rPr>
              <a:t>L</a:t>
            </a:r>
            <a:r>
              <a:rPr lang="zh-CN" altLang="en-US" sz="2000" dirty="0">
                <a:solidFill>
                  <a:srgbClr val="FF0000"/>
                </a:solidFill>
                <a:latin typeface="Times New Roman" panose="02020603050405020304" pitchFamily="18" charset="0"/>
                <a:cs typeface="Times New Roman" panose="02020603050405020304" pitchFamily="18" charset="0"/>
              </a:rPr>
              <a:t>串联的</a:t>
            </a:r>
            <a:r>
              <a:rPr lang="en-US" altLang="zh-CN" sz="2000" i="1" dirty="0">
                <a:solidFill>
                  <a:srgbClr val="FF0000"/>
                </a:solidFill>
                <a:latin typeface="Times New Roman" panose="02020603050405020304" pitchFamily="18" charset="0"/>
                <a:cs typeface="Times New Roman" panose="02020603050405020304" pitchFamily="18" charset="0"/>
              </a:rPr>
              <a:t>r </a:t>
            </a:r>
            <a:r>
              <a:rPr lang="zh-CN" altLang="en-US" sz="2000" dirty="0">
                <a:solidFill>
                  <a:srgbClr val="FF0000"/>
                </a:solidFill>
                <a:latin typeface="Times New Roman" panose="02020603050405020304" pitchFamily="18" charset="0"/>
                <a:cs typeface="Times New Roman" panose="02020603050405020304" pitchFamily="18" charset="0"/>
              </a:rPr>
              <a:t>大，</a:t>
            </a:r>
            <a:r>
              <a:rPr lang="en-US" altLang="zh-CN" sz="2000" i="1" dirty="0">
                <a:solidFill>
                  <a:srgbClr val="FF0000"/>
                </a:solidFill>
                <a:latin typeface="Times New Roman" panose="02020603050405020304" pitchFamily="18" charset="0"/>
                <a:cs typeface="Times New Roman" panose="02020603050405020304" pitchFamily="18" charset="0"/>
              </a:rPr>
              <a:t>r </a:t>
            </a:r>
            <a:r>
              <a:rPr lang="zh-CN" altLang="en-US" sz="2000" dirty="0">
                <a:solidFill>
                  <a:srgbClr val="FF0000"/>
                </a:solidFill>
                <a:latin typeface="Times New Roman" panose="02020603050405020304" pitchFamily="18" charset="0"/>
                <a:cs typeface="Times New Roman" panose="02020603050405020304" pitchFamily="18" charset="0"/>
              </a:rPr>
              <a:t>的压降增高，损失功率就大；而与</a:t>
            </a:r>
            <a:r>
              <a:rPr lang="en-US" altLang="zh-CN" sz="2000" i="1" dirty="0">
                <a:solidFill>
                  <a:srgbClr val="FF0000"/>
                </a:solidFill>
                <a:latin typeface="Times New Roman" panose="02020603050405020304" pitchFamily="18" charset="0"/>
                <a:cs typeface="Times New Roman" panose="02020603050405020304" pitchFamily="18" charset="0"/>
              </a:rPr>
              <a:t>L</a:t>
            </a:r>
            <a:r>
              <a:rPr lang="zh-CN" altLang="en-US" sz="2000" dirty="0">
                <a:solidFill>
                  <a:srgbClr val="FF0000"/>
                </a:solidFill>
                <a:latin typeface="Times New Roman" panose="02020603050405020304" pitchFamily="18" charset="0"/>
                <a:cs typeface="Times New Roman" panose="02020603050405020304" pitchFamily="18" charset="0"/>
              </a:rPr>
              <a:t>并联的</a:t>
            </a:r>
            <a:r>
              <a:rPr lang="en-US" altLang="zh-CN" sz="2000" i="1" dirty="0">
                <a:solidFill>
                  <a:srgbClr val="FF0000"/>
                </a:solidFill>
                <a:latin typeface="Times New Roman" panose="02020603050405020304" pitchFamily="18" charset="0"/>
                <a:cs typeface="Times New Roman" panose="02020603050405020304" pitchFamily="18" charset="0"/>
              </a:rPr>
              <a:t>R </a:t>
            </a:r>
            <a:r>
              <a:rPr lang="zh-CN" altLang="en-US" sz="2000" dirty="0">
                <a:solidFill>
                  <a:srgbClr val="FF0000"/>
                </a:solidFill>
                <a:latin typeface="Times New Roman" panose="02020603050405020304" pitchFamily="18" charset="0"/>
                <a:cs typeface="Times New Roman" panose="02020603050405020304" pitchFamily="18" charset="0"/>
              </a:rPr>
              <a:t>越小，分流就越大，损失功率就大。</a:t>
            </a:r>
          </a:p>
        </p:txBody>
      </p:sp>
      <p:sp>
        <p:nvSpPr>
          <p:cNvPr id="21" name="文本框 20">
            <a:extLst>
              <a:ext uri="{FF2B5EF4-FFF2-40B4-BE49-F238E27FC236}">
                <a16:creationId xmlns:a16="http://schemas.microsoft.com/office/drawing/2014/main" xmlns="" id="{0F328047-4057-B9FB-ABA1-FF76F7E5FC6E}"/>
              </a:ext>
            </a:extLst>
          </p:cNvPr>
          <p:cNvSpPr txBox="1"/>
          <p:nvPr/>
        </p:nvSpPr>
        <p:spPr>
          <a:xfrm>
            <a:off x="6473014" y="3323245"/>
            <a:ext cx="2160588" cy="1323439"/>
          </a:xfrm>
          <a:prstGeom prst="rect">
            <a:avLst/>
          </a:prstGeom>
          <a:solidFill>
            <a:srgbClr val="CCFFCC"/>
          </a:solidFill>
          <a:ln w="19050" cap="flat" cmpd="sng">
            <a:solidFill>
              <a:srgbClr val="00FFFF"/>
            </a:solidFill>
            <a:prstDash val="lgDashDot"/>
            <a:miter/>
            <a:headEnd type="none" w="med" len="med"/>
            <a:tailEnd type="none" w="med" len="med"/>
          </a:ln>
        </p:spPr>
        <p:txBody>
          <a:bodyPr>
            <a:spAutoFit/>
          </a:bodyPr>
          <a:lstStyle/>
          <a:p>
            <a:pPr>
              <a:lnSpc>
                <a:spcPct val="100000"/>
              </a:lnSpc>
            </a:pPr>
            <a:r>
              <a:rPr lang="en-US" altLang="zh-CN" sz="2000" b="1" dirty="0">
                <a:latin typeface="Times New Roman" panose="02020603050405020304" pitchFamily="18" charset="0"/>
                <a:cs typeface="Times New Roman" panose="02020603050405020304" pitchFamily="18" charset="0"/>
              </a:rPr>
              <a:t>Q </a:t>
            </a:r>
            <a:r>
              <a:rPr lang="zh-CN" altLang="en-US" sz="2000" b="1" dirty="0">
                <a:latin typeface="Times New Roman" panose="02020603050405020304" pitchFamily="18" charset="0"/>
                <a:cs typeface="Times New Roman" panose="02020603050405020304" pitchFamily="18" charset="0"/>
              </a:rPr>
              <a:t>值越高，表明该电感器的储能作用越强，损耗越小。        </a:t>
            </a:r>
          </a:p>
        </p:txBody>
      </p:sp>
      <p:graphicFrame>
        <p:nvGraphicFramePr>
          <p:cNvPr id="22" name="对象 21">
            <a:extLst>
              <a:ext uri="{FF2B5EF4-FFF2-40B4-BE49-F238E27FC236}">
                <a16:creationId xmlns:a16="http://schemas.microsoft.com/office/drawing/2014/main" xmlns="" id="{6620D43E-9088-9BF6-07C9-50D74791F195}"/>
              </a:ext>
            </a:extLst>
          </p:cNvPr>
          <p:cNvGraphicFramePr>
            <a:graphicFrameLocks noChangeAspect="1"/>
          </p:cNvGraphicFramePr>
          <p:nvPr>
            <p:extLst>
              <p:ext uri="{D42A27DB-BD31-4B8C-83A1-F6EECF244321}">
                <p14:modId xmlns:p14="http://schemas.microsoft.com/office/powerpoint/2010/main" val="1491326544"/>
              </p:ext>
            </p:extLst>
          </p:nvPr>
        </p:nvGraphicFramePr>
        <p:xfrm>
          <a:off x="918326" y="5029678"/>
          <a:ext cx="428625" cy="430213"/>
        </p:xfrm>
        <a:graphic>
          <a:graphicData uri="http://schemas.openxmlformats.org/presentationml/2006/ole">
            <mc:AlternateContent xmlns:mc="http://schemas.openxmlformats.org/markup-compatibility/2006">
              <mc:Choice xmlns:v="urn:schemas-microsoft-com:vml" Requires="v">
                <p:oleObj spid="_x0000_s9866" name="Equation" r:id="rId23" imgW="428432" imgH="429855" progId="Equation.DSMT4">
                  <p:embed/>
                </p:oleObj>
              </mc:Choice>
              <mc:Fallback>
                <p:oleObj name="Equation" r:id="rId23" imgW="428432" imgH="429855" progId="Equation.DSMT4">
                  <p:embed/>
                  <p:pic>
                    <p:nvPicPr>
                      <p:cNvPr id="0" name=""/>
                      <p:cNvPicPr/>
                      <p:nvPr/>
                    </p:nvPicPr>
                    <p:blipFill>
                      <a:blip r:embed="rId24"/>
                      <a:stretch>
                        <a:fillRect/>
                      </a:stretch>
                    </p:blipFill>
                    <p:spPr>
                      <a:xfrm>
                        <a:off x="918326" y="5029678"/>
                        <a:ext cx="428625" cy="430213"/>
                      </a:xfrm>
                      <a:prstGeom prst="rect">
                        <a:avLst/>
                      </a:prstGeom>
                    </p:spPr>
                  </p:pic>
                </p:oleObj>
              </mc:Fallback>
            </mc:AlternateContent>
          </a:graphicData>
        </a:graphic>
      </p:graphicFrame>
      <p:sp>
        <p:nvSpPr>
          <p:cNvPr id="23" name="Text Box 10">
            <a:extLst>
              <a:ext uri="{FF2B5EF4-FFF2-40B4-BE49-F238E27FC236}">
                <a16:creationId xmlns:a16="http://schemas.microsoft.com/office/drawing/2014/main" xmlns="" id="{385B6A49-71A1-6841-EBB7-2440FECC59AB}"/>
              </a:ext>
            </a:extLst>
          </p:cNvPr>
          <p:cNvSpPr txBox="1">
            <a:spLocks noChangeArrowheads="1"/>
          </p:cNvSpPr>
          <p:nvPr/>
        </p:nvSpPr>
        <p:spPr bwMode="auto">
          <a:xfrm>
            <a:off x="1547664" y="1034388"/>
            <a:ext cx="684076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8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2.1 </a:t>
            </a:r>
            <a:r>
              <a:rPr lang="zh-CN" altLang="en-US" sz="28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电感器的电路模型及频率特性</a:t>
            </a:r>
          </a:p>
        </p:txBody>
      </p:sp>
    </p:spTree>
    <p:extLst>
      <p:ext uri="{BB962C8B-B14F-4D97-AF65-F5344CB8AC3E}">
        <p14:creationId xmlns:p14="http://schemas.microsoft.com/office/powerpoint/2010/main" val="169033399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28</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2.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高频</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基础</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电路</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graphicFrame>
        <p:nvGraphicFramePr>
          <p:cNvPr id="5" name="表格 4">
            <a:extLst>
              <a:ext uri="{FF2B5EF4-FFF2-40B4-BE49-F238E27FC236}">
                <a16:creationId xmlns:a16="http://schemas.microsoft.com/office/drawing/2014/main" xmlns="" id="{11D472E0-12D3-BC49-E9F9-40D9D8D40A5E}"/>
              </a:ext>
            </a:extLst>
          </p:cNvPr>
          <p:cNvGraphicFramePr/>
          <p:nvPr>
            <p:extLst>
              <p:ext uri="{D42A27DB-BD31-4B8C-83A1-F6EECF244321}">
                <p14:modId xmlns:p14="http://schemas.microsoft.com/office/powerpoint/2010/main" val="1834578878"/>
              </p:ext>
            </p:extLst>
          </p:nvPr>
        </p:nvGraphicFramePr>
        <p:xfrm>
          <a:off x="321468" y="1697759"/>
          <a:ext cx="8501063" cy="4713288"/>
        </p:xfrm>
        <a:graphic>
          <a:graphicData uri="http://schemas.openxmlformats.org/drawingml/2006/table">
            <a:tbl>
              <a:tblPr/>
              <a:tblGrid>
                <a:gridCol w="1622425">
                  <a:extLst>
                    <a:ext uri="{9D8B030D-6E8A-4147-A177-3AD203B41FA5}">
                      <a16:colId xmlns:a16="http://schemas.microsoft.com/office/drawing/2014/main" xmlns="" val="20000"/>
                    </a:ext>
                  </a:extLst>
                </a:gridCol>
                <a:gridCol w="1762125">
                  <a:extLst>
                    <a:ext uri="{9D8B030D-6E8A-4147-A177-3AD203B41FA5}">
                      <a16:colId xmlns:a16="http://schemas.microsoft.com/office/drawing/2014/main" xmlns="" val="20001"/>
                    </a:ext>
                  </a:extLst>
                </a:gridCol>
                <a:gridCol w="1585913">
                  <a:extLst>
                    <a:ext uri="{9D8B030D-6E8A-4147-A177-3AD203B41FA5}">
                      <a16:colId xmlns:a16="http://schemas.microsoft.com/office/drawing/2014/main" xmlns="" val="20002"/>
                    </a:ext>
                  </a:extLst>
                </a:gridCol>
                <a:gridCol w="1584325">
                  <a:extLst>
                    <a:ext uri="{9D8B030D-6E8A-4147-A177-3AD203B41FA5}">
                      <a16:colId xmlns:a16="http://schemas.microsoft.com/office/drawing/2014/main" xmlns="" val="20003"/>
                    </a:ext>
                  </a:extLst>
                </a:gridCol>
                <a:gridCol w="1946275">
                  <a:extLst>
                    <a:ext uri="{9D8B030D-6E8A-4147-A177-3AD203B41FA5}">
                      <a16:colId xmlns:a16="http://schemas.microsoft.com/office/drawing/2014/main" xmlns="" val="20004"/>
                    </a:ext>
                  </a:extLst>
                </a:gridCol>
              </a:tblGrid>
              <a:tr h="473075">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5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55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lgn="ctr">
                        <a:spcBef>
                          <a:spcPct val="0"/>
                        </a:spcBef>
                        <a:buNone/>
                      </a:pPr>
                      <a:endParaRPr lang="en-US" altLang="zh-CN" sz="1000" dirty="0">
                        <a:latin typeface="Times New Roman" panose="02020603050405020304" pitchFamily="18" charset="0"/>
                      </a:endParaRPr>
                    </a:p>
                  </a:txBody>
                  <a:tcPr marL="68580" marR="68580"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gridSpan="2">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5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55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lgn="ctr">
                        <a:spcBef>
                          <a:spcPct val="0"/>
                        </a:spcBef>
                        <a:buNone/>
                      </a:pPr>
                      <a:r>
                        <a:rPr lang="zh-CN" altLang="en-US" sz="1800" b="1" dirty="0">
                          <a:latin typeface="Times New Roman" panose="02020603050405020304" pitchFamily="18" charset="0"/>
                        </a:rPr>
                        <a:t>电感线圈</a:t>
                      </a:r>
                    </a:p>
                  </a:txBody>
                  <a:tcPr marL="68580" marR="68580"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5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55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lgn="ctr">
                        <a:spcBef>
                          <a:spcPct val="0"/>
                        </a:spcBef>
                        <a:buNone/>
                      </a:pPr>
                      <a:r>
                        <a:rPr lang="zh-CN" altLang="en-US" sz="1800" b="1" dirty="0">
                          <a:latin typeface="Times New Roman" panose="02020603050405020304" pitchFamily="18" charset="0"/>
                        </a:rPr>
                        <a:t>电容器</a:t>
                      </a:r>
                    </a:p>
                  </a:txBody>
                  <a:tcPr marL="68580" marR="68580"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extLst>
                  <a:ext uri="{0D108BD9-81ED-4DB2-BD59-A6C34878D82A}">
                    <a16:rowId xmlns:a16="http://schemas.microsoft.com/office/drawing/2014/main" xmlns="" val="10000"/>
                  </a:ext>
                </a:extLst>
              </a:tr>
              <a:tr h="1360488">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5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55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lgn="ctr">
                        <a:spcBef>
                          <a:spcPct val="0"/>
                        </a:spcBef>
                        <a:buNone/>
                      </a:pPr>
                      <a:r>
                        <a:rPr lang="zh-CN" altLang="en-US" sz="1800" b="1" dirty="0">
                          <a:latin typeface="Times New Roman" panose="02020603050405020304" pitchFamily="18" charset="0"/>
                        </a:rPr>
                        <a:t>电路形式</a:t>
                      </a:r>
                    </a:p>
                  </a:txBody>
                  <a:tcPr marL="68580" marR="68580"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5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55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lgn="ctr">
                        <a:spcBef>
                          <a:spcPct val="0"/>
                        </a:spcBef>
                        <a:buNone/>
                      </a:pPr>
                      <a:endParaRPr lang="en-US" altLang="zh-CN" sz="800" dirty="0">
                        <a:latin typeface="Times New Roman" panose="02020603050405020304" pitchFamily="18" charset="0"/>
                      </a:endParaRPr>
                    </a:p>
                  </a:txBody>
                  <a:tcPr marL="68580" marR="68580"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5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55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lgn="ctr">
                        <a:spcBef>
                          <a:spcPct val="0"/>
                        </a:spcBef>
                        <a:buNone/>
                      </a:pPr>
                      <a:endParaRPr lang="en-US" altLang="zh-CN" sz="1000" dirty="0">
                        <a:latin typeface="Times New Roman" panose="02020603050405020304" pitchFamily="18" charset="0"/>
                      </a:endParaRPr>
                    </a:p>
                  </a:txBody>
                  <a:tcPr marL="68580" marR="68580"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5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55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lgn="ctr">
                        <a:spcBef>
                          <a:spcPct val="0"/>
                        </a:spcBef>
                        <a:buNone/>
                      </a:pPr>
                      <a:endParaRPr lang="en-US" altLang="zh-CN" sz="1000" dirty="0">
                        <a:latin typeface="Times New Roman" panose="02020603050405020304" pitchFamily="18" charset="0"/>
                      </a:endParaRPr>
                    </a:p>
                  </a:txBody>
                  <a:tcPr marL="68580" marR="68580"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5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55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lgn="ctr">
                        <a:spcBef>
                          <a:spcPct val="0"/>
                        </a:spcBef>
                        <a:buNone/>
                      </a:pPr>
                      <a:endParaRPr lang="en-US" altLang="zh-CN" sz="1000" dirty="0">
                        <a:latin typeface="Times New Roman" panose="02020603050405020304" pitchFamily="18" charset="0"/>
                      </a:endParaRPr>
                    </a:p>
                  </a:txBody>
                  <a:tcPr marL="68580" marR="68580"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736600">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5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55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lgn="ctr">
                        <a:spcBef>
                          <a:spcPct val="0"/>
                        </a:spcBef>
                        <a:buNone/>
                      </a:pPr>
                      <a:r>
                        <a:rPr lang="en-US" altLang="zh-CN" sz="1800" b="1">
                          <a:latin typeface="Times New Roman" panose="02020603050405020304" pitchFamily="18" charset="0"/>
                        </a:rPr>
                        <a:t>Q</a:t>
                      </a:r>
                      <a:endParaRPr lang="zh-CN" altLang="zh-CN" sz="1800" b="1" dirty="0">
                        <a:latin typeface="Times New Roman" panose="02020603050405020304" pitchFamily="18" charset="0"/>
                      </a:endParaRPr>
                    </a:p>
                  </a:txBody>
                  <a:tcPr marL="68580" marR="68580"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5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55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lgn="ctr">
                        <a:spcBef>
                          <a:spcPct val="0"/>
                        </a:spcBef>
                        <a:buNone/>
                      </a:pPr>
                      <a:endParaRPr lang="en-US" altLang="zh-CN" sz="1000" dirty="0">
                        <a:latin typeface="Times New Roman" panose="02020603050405020304" pitchFamily="18" charset="0"/>
                      </a:endParaRPr>
                    </a:p>
                  </a:txBody>
                  <a:tcPr marL="68580" marR="68580"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5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55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lgn="ctr">
                        <a:spcBef>
                          <a:spcPct val="0"/>
                        </a:spcBef>
                        <a:buNone/>
                      </a:pPr>
                      <a:endParaRPr lang="en-US" altLang="zh-CN" sz="1000" dirty="0">
                        <a:latin typeface="Times New Roman" panose="02020603050405020304" pitchFamily="18" charset="0"/>
                      </a:endParaRPr>
                    </a:p>
                  </a:txBody>
                  <a:tcPr marL="68580" marR="68580"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5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55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lgn="ctr">
                        <a:spcBef>
                          <a:spcPct val="0"/>
                        </a:spcBef>
                        <a:buNone/>
                      </a:pPr>
                      <a:endParaRPr lang="en-US" altLang="zh-CN" sz="1000" dirty="0">
                        <a:latin typeface="Times New Roman" panose="02020603050405020304" pitchFamily="18" charset="0"/>
                      </a:endParaRPr>
                    </a:p>
                  </a:txBody>
                  <a:tcPr marL="68580" marR="68580"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5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55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lgn="ctr">
                        <a:spcBef>
                          <a:spcPct val="0"/>
                        </a:spcBef>
                        <a:buNone/>
                      </a:pPr>
                      <a:endParaRPr lang="en-US" altLang="zh-CN" sz="1000" dirty="0">
                        <a:latin typeface="Times New Roman" panose="02020603050405020304" pitchFamily="18" charset="0"/>
                      </a:endParaRPr>
                    </a:p>
                  </a:txBody>
                  <a:tcPr marL="68580" marR="68580"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r h="428625">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5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55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lgn="ctr">
                        <a:spcBef>
                          <a:spcPct val="0"/>
                        </a:spcBef>
                        <a:buNone/>
                      </a:pPr>
                      <a:r>
                        <a:rPr lang="en-US" altLang="zh-CN" sz="1800" b="1">
                          <a:latin typeface="Times New Roman" panose="02020603050405020304" pitchFamily="18" charset="0"/>
                        </a:rPr>
                        <a:t>Q</a:t>
                      </a:r>
                      <a:r>
                        <a:rPr lang="zh-CN" altLang="en-US" sz="1800" b="1" dirty="0">
                          <a:latin typeface="Times New Roman" panose="02020603050405020304" pitchFamily="18" charset="0"/>
                        </a:rPr>
                        <a:t>的数量级</a:t>
                      </a:r>
                    </a:p>
                  </a:txBody>
                  <a:tcPr marL="68580" marR="68580"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gridSpan="2">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5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55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lgn="ctr">
                        <a:spcBef>
                          <a:spcPct val="0"/>
                        </a:spcBef>
                        <a:buNone/>
                      </a:pPr>
                      <a:r>
                        <a:rPr lang="zh-CN" altLang="en-US" sz="1800" dirty="0">
                          <a:latin typeface="Times New Roman" panose="02020603050405020304" pitchFamily="18" charset="0"/>
                        </a:rPr>
                        <a:t>几十到几百</a:t>
                      </a:r>
                    </a:p>
                  </a:txBody>
                  <a:tcPr marL="68580" marR="68580"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5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55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lgn="ctr">
                        <a:spcBef>
                          <a:spcPct val="0"/>
                        </a:spcBef>
                        <a:buNone/>
                      </a:pPr>
                      <a:r>
                        <a:rPr lang="zh-CN" altLang="en-US" sz="1800" dirty="0">
                          <a:latin typeface="Times New Roman" panose="02020603050405020304" pitchFamily="18" charset="0"/>
                        </a:rPr>
                        <a:t>几千到几万</a:t>
                      </a:r>
                    </a:p>
                  </a:txBody>
                  <a:tcPr marL="68580" marR="68580"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extLst>
                  <a:ext uri="{0D108BD9-81ED-4DB2-BD59-A6C34878D82A}">
                    <a16:rowId xmlns:a16="http://schemas.microsoft.com/office/drawing/2014/main" xmlns="" val="10003"/>
                  </a:ext>
                </a:extLst>
              </a:tr>
              <a:tr h="1000125">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5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55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lgn="ctr">
                        <a:spcBef>
                          <a:spcPct val="0"/>
                        </a:spcBef>
                        <a:buNone/>
                      </a:pPr>
                      <a:r>
                        <a:rPr lang="zh-CN" altLang="en-US" sz="1800" b="1" dirty="0">
                          <a:latin typeface="Times New Roman" panose="02020603050405020304" pitchFamily="18" charset="0"/>
                        </a:rPr>
                        <a:t>等效变换式</a:t>
                      </a:r>
                    </a:p>
                  </a:txBody>
                  <a:tcPr marL="68580" marR="68580"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gridSpan="2">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5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55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lgn="ctr">
                        <a:spcBef>
                          <a:spcPct val="0"/>
                        </a:spcBef>
                        <a:buNone/>
                      </a:pPr>
                      <a:endParaRPr lang="en-US" altLang="zh-CN" sz="1000" dirty="0">
                        <a:latin typeface="Times New Roman" panose="02020603050405020304" pitchFamily="18" charset="0"/>
                      </a:endParaRPr>
                    </a:p>
                  </a:txBody>
                  <a:tcPr marL="68580" marR="68580"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5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55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lgn="ctr">
                        <a:spcBef>
                          <a:spcPct val="0"/>
                        </a:spcBef>
                        <a:buNone/>
                      </a:pPr>
                      <a:endParaRPr lang="en-US" altLang="zh-CN" sz="1000" dirty="0">
                        <a:latin typeface="Times New Roman" panose="02020603050405020304" pitchFamily="18" charset="0"/>
                      </a:endParaRPr>
                    </a:p>
                  </a:txBody>
                  <a:tcPr marL="68580" marR="68580"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extLst>
                  <a:ext uri="{0D108BD9-81ED-4DB2-BD59-A6C34878D82A}">
                    <a16:rowId xmlns:a16="http://schemas.microsoft.com/office/drawing/2014/main" xmlns="" val="10004"/>
                  </a:ext>
                </a:extLst>
              </a:tr>
              <a:tr h="714375">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5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55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lgn="ctr">
                        <a:spcBef>
                          <a:spcPct val="0"/>
                        </a:spcBef>
                        <a:buNone/>
                      </a:pPr>
                      <a:r>
                        <a:rPr lang="zh-CN" altLang="en-US" sz="1800" b="1" dirty="0">
                          <a:latin typeface="Times New Roman" panose="02020603050405020304" pitchFamily="18" charset="0"/>
                        </a:rPr>
                        <a:t>高</a:t>
                      </a:r>
                      <a:r>
                        <a:rPr lang="en-US" altLang="zh-CN" sz="1800" b="1" dirty="0">
                          <a:latin typeface="Times New Roman" panose="02020603050405020304" pitchFamily="18" charset="0"/>
                        </a:rPr>
                        <a:t>Q</a:t>
                      </a:r>
                      <a:r>
                        <a:rPr lang="zh-CN" altLang="en-US" sz="1800" b="1" dirty="0">
                          <a:latin typeface="Times New Roman" panose="02020603050405020304" pitchFamily="18" charset="0"/>
                        </a:rPr>
                        <a:t>时</a:t>
                      </a:r>
                      <a:r>
                        <a:rPr lang="en-US" altLang="zh-CN" sz="1800" b="1" dirty="0">
                          <a:latin typeface="Times New Roman" panose="02020603050405020304" pitchFamily="18" charset="0"/>
                        </a:rPr>
                        <a:t>(Q&gt;10)</a:t>
                      </a:r>
                      <a:endParaRPr lang="zh-CN" altLang="zh-CN" sz="1800" b="1" dirty="0">
                        <a:latin typeface="Times New Roman" panose="02020603050405020304" pitchFamily="18" charset="0"/>
                      </a:endParaRPr>
                    </a:p>
                    <a:p>
                      <a:pPr marL="0" lvl="0" indent="0" algn="ctr">
                        <a:spcBef>
                          <a:spcPct val="0"/>
                        </a:spcBef>
                        <a:buNone/>
                      </a:pPr>
                      <a:r>
                        <a:rPr lang="zh-CN" altLang="en-US" sz="1800" b="1" dirty="0">
                          <a:latin typeface="Times New Roman" panose="02020603050405020304" pitchFamily="18" charset="0"/>
                        </a:rPr>
                        <a:t>近似变换式</a:t>
                      </a:r>
                    </a:p>
                  </a:txBody>
                  <a:tcPr marL="68580" marR="68580"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gridSpan="2">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5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55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lgn="ctr">
                        <a:spcBef>
                          <a:spcPct val="0"/>
                        </a:spcBef>
                        <a:buNone/>
                      </a:pPr>
                      <a:endParaRPr lang="en-US" altLang="zh-CN" sz="1000" dirty="0">
                        <a:latin typeface="Times New Roman" panose="02020603050405020304" pitchFamily="18" charset="0"/>
                      </a:endParaRPr>
                    </a:p>
                  </a:txBody>
                  <a:tcPr marL="68580" marR="68580"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5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55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lgn="ctr">
                        <a:spcBef>
                          <a:spcPct val="0"/>
                        </a:spcBef>
                        <a:buNone/>
                      </a:pPr>
                      <a:endParaRPr lang="en-US" altLang="zh-CN" sz="1000" dirty="0">
                        <a:latin typeface="Times New Roman" panose="02020603050405020304" pitchFamily="18" charset="0"/>
                      </a:endParaRPr>
                    </a:p>
                  </a:txBody>
                  <a:tcPr marL="68580" marR="68580"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extLst>
                  <a:ext uri="{0D108BD9-81ED-4DB2-BD59-A6C34878D82A}">
                    <a16:rowId xmlns:a16="http://schemas.microsoft.com/office/drawing/2014/main" xmlns="" val="10005"/>
                  </a:ext>
                </a:extLst>
              </a:tr>
            </a:tbl>
          </a:graphicData>
        </a:graphic>
      </p:graphicFrame>
      <p:graphicFrame>
        <p:nvGraphicFramePr>
          <p:cNvPr id="6" name="对象 627753">
            <a:extLst>
              <a:ext uri="{FF2B5EF4-FFF2-40B4-BE49-F238E27FC236}">
                <a16:creationId xmlns:a16="http://schemas.microsoft.com/office/drawing/2014/main" xmlns="" id="{36D1FFF4-5CB4-E8F3-CC9F-7F9497FE87A3}"/>
              </a:ext>
            </a:extLst>
          </p:cNvPr>
          <p:cNvGraphicFramePr/>
          <p:nvPr>
            <p:extLst>
              <p:ext uri="{D42A27DB-BD31-4B8C-83A1-F6EECF244321}">
                <p14:modId xmlns:p14="http://schemas.microsoft.com/office/powerpoint/2010/main" val="4181151543"/>
              </p:ext>
            </p:extLst>
          </p:nvPr>
        </p:nvGraphicFramePr>
        <p:xfrm>
          <a:off x="2178843" y="5126759"/>
          <a:ext cx="1500187" cy="428625"/>
        </p:xfrm>
        <a:graphic>
          <a:graphicData uri="http://schemas.openxmlformats.org/presentationml/2006/ole">
            <mc:AlternateContent xmlns:mc="http://schemas.openxmlformats.org/markup-compatibility/2006">
              <mc:Choice xmlns:v="urn:schemas-microsoft-com:vml" Requires="v">
                <p:oleObj spid="_x0000_s175450" r:id="rId3" imgW="711200" imgH="203200" progId="Equation.DSMT4">
                  <p:embed/>
                </p:oleObj>
              </mc:Choice>
              <mc:Fallback>
                <p:oleObj r:id="rId3" imgW="711200" imgH="203200" progId="Equation.DSMT4">
                  <p:embed/>
                  <p:pic>
                    <p:nvPicPr>
                      <p:cNvPr id="0" name=""/>
                      <p:cNvPicPr/>
                      <p:nvPr/>
                    </p:nvPicPr>
                    <p:blipFill>
                      <a:blip r:embed="rId4"/>
                      <a:stretch>
                        <a:fillRect/>
                      </a:stretch>
                    </p:blipFill>
                    <p:spPr>
                      <a:xfrm>
                        <a:off x="2178843" y="5126759"/>
                        <a:ext cx="1500187" cy="428625"/>
                      </a:xfrm>
                      <a:prstGeom prst="rect">
                        <a:avLst/>
                      </a:prstGeom>
                      <a:noFill/>
                      <a:ln w="38100">
                        <a:noFill/>
                        <a:miter/>
                      </a:ln>
                    </p:spPr>
                  </p:pic>
                </p:oleObj>
              </mc:Fallback>
            </mc:AlternateContent>
          </a:graphicData>
        </a:graphic>
      </p:graphicFrame>
      <p:graphicFrame>
        <p:nvGraphicFramePr>
          <p:cNvPr id="7" name="对象 627754">
            <a:extLst>
              <a:ext uri="{FF2B5EF4-FFF2-40B4-BE49-F238E27FC236}">
                <a16:creationId xmlns:a16="http://schemas.microsoft.com/office/drawing/2014/main" xmlns="" id="{EBB1E3BD-8D78-FD7B-CCE2-2D8F63EA94B9}"/>
              </a:ext>
            </a:extLst>
          </p:cNvPr>
          <p:cNvGraphicFramePr/>
          <p:nvPr>
            <p:extLst>
              <p:ext uri="{D42A27DB-BD31-4B8C-83A1-F6EECF244321}">
                <p14:modId xmlns:p14="http://schemas.microsoft.com/office/powerpoint/2010/main" val="2394720331"/>
              </p:ext>
            </p:extLst>
          </p:nvPr>
        </p:nvGraphicFramePr>
        <p:xfrm>
          <a:off x="3821905" y="4983884"/>
          <a:ext cx="1428750" cy="714375"/>
        </p:xfrm>
        <a:graphic>
          <a:graphicData uri="http://schemas.openxmlformats.org/presentationml/2006/ole">
            <mc:AlternateContent xmlns:mc="http://schemas.openxmlformats.org/markup-compatibility/2006">
              <mc:Choice xmlns:v="urn:schemas-microsoft-com:vml" Requires="v">
                <p:oleObj spid="_x0000_s175451" r:id="rId5" imgW="787400" imgH="381000" progId="Equation.DSMT4">
                  <p:embed/>
                </p:oleObj>
              </mc:Choice>
              <mc:Fallback>
                <p:oleObj r:id="rId5" imgW="787400" imgH="381000" progId="Equation.DSMT4">
                  <p:embed/>
                  <p:pic>
                    <p:nvPicPr>
                      <p:cNvPr id="0" name=""/>
                      <p:cNvPicPr/>
                      <p:nvPr/>
                    </p:nvPicPr>
                    <p:blipFill>
                      <a:blip r:embed="rId6"/>
                      <a:stretch>
                        <a:fillRect/>
                      </a:stretch>
                    </p:blipFill>
                    <p:spPr>
                      <a:xfrm>
                        <a:off x="3821905" y="4983884"/>
                        <a:ext cx="1428750" cy="714375"/>
                      </a:xfrm>
                      <a:prstGeom prst="rect">
                        <a:avLst/>
                      </a:prstGeom>
                      <a:noFill/>
                      <a:ln w="38100">
                        <a:noFill/>
                        <a:miter/>
                      </a:ln>
                    </p:spPr>
                  </p:pic>
                </p:oleObj>
              </mc:Fallback>
            </mc:AlternateContent>
          </a:graphicData>
        </a:graphic>
      </p:graphicFrame>
      <p:graphicFrame>
        <p:nvGraphicFramePr>
          <p:cNvPr id="8" name="对象 627755">
            <a:extLst>
              <a:ext uri="{FF2B5EF4-FFF2-40B4-BE49-F238E27FC236}">
                <a16:creationId xmlns:a16="http://schemas.microsoft.com/office/drawing/2014/main" xmlns="" id="{DA2A94D0-D205-55FB-00D2-A8AE62FEF215}"/>
              </a:ext>
            </a:extLst>
          </p:cNvPr>
          <p:cNvGraphicFramePr/>
          <p:nvPr>
            <p:extLst>
              <p:ext uri="{D42A27DB-BD31-4B8C-83A1-F6EECF244321}">
                <p14:modId xmlns:p14="http://schemas.microsoft.com/office/powerpoint/2010/main" val="147458262"/>
              </p:ext>
            </p:extLst>
          </p:nvPr>
        </p:nvGraphicFramePr>
        <p:xfrm>
          <a:off x="5393530" y="5055322"/>
          <a:ext cx="1806575" cy="420687"/>
        </p:xfrm>
        <a:graphic>
          <a:graphicData uri="http://schemas.openxmlformats.org/presentationml/2006/ole">
            <mc:AlternateContent xmlns:mc="http://schemas.openxmlformats.org/markup-compatibility/2006">
              <mc:Choice xmlns:v="urn:schemas-microsoft-com:vml" Requires="v">
                <p:oleObj spid="_x0000_s175452" r:id="rId7" imgW="761365" imgH="203200" progId="Equation.DSMT4">
                  <p:embed/>
                </p:oleObj>
              </mc:Choice>
              <mc:Fallback>
                <p:oleObj r:id="rId7" imgW="761365" imgH="203200" progId="Equation.DSMT4">
                  <p:embed/>
                  <p:pic>
                    <p:nvPicPr>
                      <p:cNvPr id="0" name=""/>
                      <p:cNvPicPr/>
                      <p:nvPr/>
                    </p:nvPicPr>
                    <p:blipFill>
                      <a:blip r:embed="rId8"/>
                      <a:stretch>
                        <a:fillRect/>
                      </a:stretch>
                    </p:blipFill>
                    <p:spPr>
                      <a:xfrm>
                        <a:off x="5393530" y="5055322"/>
                        <a:ext cx="1806575" cy="420687"/>
                      </a:xfrm>
                      <a:prstGeom prst="rect">
                        <a:avLst/>
                      </a:prstGeom>
                      <a:noFill/>
                      <a:ln w="38100">
                        <a:noFill/>
                        <a:miter/>
                      </a:ln>
                    </p:spPr>
                  </p:pic>
                </p:oleObj>
              </mc:Fallback>
            </mc:AlternateContent>
          </a:graphicData>
        </a:graphic>
      </p:graphicFrame>
      <p:graphicFrame>
        <p:nvGraphicFramePr>
          <p:cNvPr id="9" name="对象 627756">
            <a:extLst>
              <a:ext uri="{FF2B5EF4-FFF2-40B4-BE49-F238E27FC236}">
                <a16:creationId xmlns:a16="http://schemas.microsoft.com/office/drawing/2014/main" xmlns="" id="{3025B493-EB3B-76A9-0A31-2BA2ED34C430}"/>
              </a:ext>
            </a:extLst>
          </p:cNvPr>
          <p:cNvGraphicFramePr/>
          <p:nvPr>
            <p:extLst>
              <p:ext uri="{D42A27DB-BD31-4B8C-83A1-F6EECF244321}">
                <p14:modId xmlns:p14="http://schemas.microsoft.com/office/powerpoint/2010/main" val="2232382540"/>
              </p:ext>
            </p:extLst>
          </p:nvPr>
        </p:nvGraphicFramePr>
        <p:xfrm>
          <a:off x="7179468" y="4648922"/>
          <a:ext cx="1631950" cy="1049337"/>
        </p:xfrm>
        <a:graphic>
          <a:graphicData uri="http://schemas.openxmlformats.org/presentationml/2006/ole">
            <mc:AlternateContent xmlns:mc="http://schemas.openxmlformats.org/markup-compatibility/2006">
              <mc:Choice xmlns:v="urn:schemas-microsoft-com:vml" Requires="v">
                <p:oleObj spid="_x0000_s175453" r:id="rId9" imgW="786765" imgH="520700" progId="Equation.DSMT4">
                  <p:embed/>
                </p:oleObj>
              </mc:Choice>
              <mc:Fallback>
                <p:oleObj r:id="rId9" imgW="786765" imgH="520700" progId="Equation.DSMT4">
                  <p:embed/>
                  <p:pic>
                    <p:nvPicPr>
                      <p:cNvPr id="0" name=""/>
                      <p:cNvPicPr/>
                      <p:nvPr/>
                    </p:nvPicPr>
                    <p:blipFill>
                      <a:blip r:embed="rId10"/>
                      <a:stretch>
                        <a:fillRect/>
                      </a:stretch>
                    </p:blipFill>
                    <p:spPr>
                      <a:xfrm>
                        <a:off x="7179468" y="4648922"/>
                        <a:ext cx="1631950" cy="1049337"/>
                      </a:xfrm>
                      <a:prstGeom prst="rect">
                        <a:avLst/>
                      </a:prstGeom>
                      <a:noFill/>
                      <a:ln w="38100">
                        <a:noFill/>
                        <a:miter/>
                      </a:ln>
                    </p:spPr>
                  </p:pic>
                </p:oleObj>
              </mc:Fallback>
            </mc:AlternateContent>
          </a:graphicData>
        </a:graphic>
      </p:graphicFrame>
      <p:graphicFrame>
        <p:nvGraphicFramePr>
          <p:cNvPr id="10" name="对象 627757">
            <a:extLst>
              <a:ext uri="{FF2B5EF4-FFF2-40B4-BE49-F238E27FC236}">
                <a16:creationId xmlns:a16="http://schemas.microsoft.com/office/drawing/2014/main" xmlns="" id="{3BFBE302-ECD1-9EA2-B143-1295CDF4A251}"/>
              </a:ext>
            </a:extLst>
          </p:cNvPr>
          <p:cNvGraphicFramePr/>
          <p:nvPr>
            <p:extLst>
              <p:ext uri="{D42A27DB-BD31-4B8C-83A1-F6EECF244321}">
                <p14:modId xmlns:p14="http://schemas.microsoft.com/office/powerpoint/2010/main" val="1641806753"/>
              </p:ext>
            </p:extLst>
          </p:nvPr>
        </p:nvGraphicFramePr>
        <p:xfrm>
          <a:off x="2178843" y="5698259"/>
          <a:ext cx="2000250" cy="714375"/>
        </p:xfrm>
        <a:graphic>
          <a:graphicData uri="http://schemas.openxmlformats.org/presentationml/2006/ole">
            <mc:AlternateContent xmlns:mc="http://schemas.openxmlformats.org/markup-compatibility/2006">
              <mc:Choice xmlns:v="urn:schemas-microsoft-com:vml" Requires="v">
                <p:oleObj spid="_x0000_s175454" r:id="rId11" imgW="875665" imgH="355600" progId="Equation.DSMT4">
                  <p:embed/>
                </p:oleObj>
              </mc:Choice>
              <mc:Fallback>
                <p:oleObj r:id="rId11" imgW="875665" imgH="355600" progId="Equation.DSMT4">
                  <p:embed/>
                  <p:pic>
                    <p:nvPicPr>
                      <p:cNvPr id="0" name=""/>
                      <p:cNvPicPr/>
                      <p:nvPr/>
                    </p:nvPicPr>
                    <p:blipFill>
                      <a:blip r:embed="rId12"/>
                      <a:stretch>
                        <a:fillRect/>
                      </a:stretch>
                    </p:blipFill>
                    <p:spPr>
                      <a:xfrm>
                        <a:off x="2178843" y="5698259"/>
                        <a:ext cx="2000250" cy="714375"/>
                      </a:xfrm>
                      <a:prstGeom prst="rect">
                        <a:avLst/>
                      </a:prstGeom>
                      <a:noFill/>
                      <a:ln w="38100">
                        <a:noFill/>
                        <a:miter/>
                      </a:ln>
                    </p:spPr>
                  </p:pic>
                </p:oleObj>
              </mc:Fallback>
            </mc:AlternateContent>
          </a:graphicData>
        </a:graphic>
      </p:graphicFrame>
      <p:graphicFrame>
        <p:nvGraphicFramePr>
          <p:cNvPr id="11" name="对象 627758">
            <a:extLst>
              <a:ext uri="{FF2B5EF4-FFF2-40B4-BE49-F238E27FC236}">
                <a16:creationId xmlns:a16="http://schemas.microsoft.com/office/drawing/2014/main" xmlns="" id="{04F76FD0-B1D9-0DEE-AB75-A0DC83F8753C}"/>
              </a:ext>
            </a:extLst>
          </p:cNvPr>
          <p:cNvGraphicFramePr/>
          <p:nvPr>
            <p:extLst>
              <p:ext uri="{D42A27DB-BD31-4B8C-83A1-F6EECF244321}">
                <p14:modId xmlns:p14="http://schemas.microsoft.com/office/powerpoint/2010/main" val="2745302979"/>
              </p:ext>
            </p:extLst>
          </p:nvPr>
        </p:nvGraphicFramePr>
        <p:xfrm>
          <a:off x="4321968" y="5912572"/>
          <a:ext cx="785812" cy="420687"/>
        </p:xfrm>
        <a:graphic>
          <a:graphicData uri="http://schemas.openxmlformats.org/presentationml/2006/ole">
            <mc:AlternateContent xmlns:mc="http://schemas.openxmlformats.org/markup-compatibility/2006">
              <mc:Choice xmlns:v="urn:schemas-microsoft-com:vml" Requires="v">
                <p:oleObj spid="_x0000_s175455" r:id="rId13" imgW="381000" imgH="203200" progId="Equation.DSMT4">
                  <p:embed/>
                </p:oleObj>
              </mc:Choice>
              <mc:Fallback>
                <p:oleObj r:id="rId13" imgW="381000" imgH="203200" progId="Equation.DSMT4">
                  <p:embed/>
                  <p:pic>
                    <p:nvPicPr>
                      <p:cNvPr id="0" name=""/>
                      <p:cNvPicPr/>
                      <p:nvPr/>
                    </p:nvPicPr>
                    <p:blipFill>
                      <a:blip r:embed="rId14"/>
                      <a:stretch>
                        <a:fillRect/>
                      </a:stretch>
                    </p:blipFill>
                    <p:spPr>
                      <a:xfrm>
                        <a:off x="4321968" y="5912572"/>
                        <a:ext cx="785812" cy="420687"/>
                      </a:xfrm>
                      <a:prstGeom prst="rect">
                        <a:avLst/>
                      </a:prstGeom>
                      <a:noFill/>
                      <a:ln w="38100">
                        <a:noFill/>
                        <a:miter/>
                      </a:ln>
                    </p:spPr>
                  </p:pic>
                </p:oleObj>
              </mc:Fallback>
            </mc:AlternateContent>
          </a:graphicData>
        </a:graphic>
      </p:graphicFrame>
      <p:graphicFrame>
        <p:nvGraphicFramePr>
          <p:cNvPr id="12" name="对象 627759">
            <a:extLst>
              <a:ext uri="{FF2B5EF4-FFF2-40B4-BE49-F238E27FC236}">
                <a16:creationId xmlns:a16="http://schemas.microsoft.com/office/drawing/2014/main" xmlns="" id="{2E71CACA-435E-F4F5-8EC2-742099E5F7B9}"/>
              </a:ext>
            </a:extLst>
          </p:cNvPr>
          <p:cNvGraphicFramePr/>
          <p:nvPr>
            <p:extLst>
              <p:ext uri="{D42A27DB-BD31-4B8C-83A1-F6EECF244321}">
                <p14:modId xmlns:p14="http://schemas.microsoft.com/office/powerpoint/2010/main" val="2249295098"/>
              </p:ext>
            </p:extLst>
          </p:nvPr>
        </p:nvGraphicFramePr>
        <p:xfrm>
          <a:off x="5393530" y="5698259"/>
          <a:ext cx="1785938" cy="714375"/>
        </p:xfrm>
        <a:graphic>
          <a:graphicData uri="http://schemas.openxmlformats.org/presentationml/2006/ole">
            <mc:AlternateContent xmlns:mc="http://schemas.openxmlformats.org/markup-compatibility/2006">
              <mc:Choice xmlns:v="urn:schemas-microsoft-com:vml" Requires="v">
                <p:oleObj spid="_x0000_s175456" r:id="rId15" imgW="989965" imgH="381000" progId="Equation.DSMT4">
                  <p:embed/>
                </p:oleObj>
              </mc:Choice>
              <mc:Fallback>
                <p:oleObj r:id="rId15" imgW="989965" imgH="381000" progId="Equation.DSMT4">
                  <p:embed/>
                  <p:pic>
                    <p:nvPicPr>
                      <p:cNvPr id="0" name=""/>
                      <p:cNvPicPr/>
                      <p:nvPr/>
                    </p:nvPicPr>
                    <p:blipFill>
                      <a:blip r:embed="rId16"/>
                      <a:stretch>
                        <a:fillRect/>
                      </a:stretch>
                    </p:blipFill>
                    <p:spPr>
                      <a:xfrm>
                        <a:off x="5393530" y="5698259"/>
                        <a:ext cx="1785938" cy="714375"/>
                      </a:xfrm>
                      <a:prstGeom prst="rect">
                        <a:avLst/>
                      </a:prstGeom>
                      <a:noFill/>
                      <a:ln w="38100">
                        <a:noFill/>
                        <a:miter/>
                      </a:ln>
                    </p:spPr>
                  </p:pic>
                </p:oleObj>
              </mc:Fallback>
            </mc:AlternateContent>
          </a:graphicData>
        </a:graphic>
      </p:graphicFrame>
      <p:graphicFrame>
        <p:nvGraphicFramePr>
          <p:cNvPr id="13" name="对象 627760">
            <a:extLst>
              <a:ext uri="{FF2B5EF4-FFF2-40B4-BE49-F238E27FC236}">
                <a16:creationId xmlns:a16="http://schemas.microsoft.com/office/drawing/2014/main" xmlns="" id="{147899D6-1429-0230-568C-88E52A2C5AA5}"/>
              </a:ext>
            </a:extLst>
          </p:cNvPr>
          <p:cNvGraphicFramePr/>
          <p:nvPr>
            <p:extLst>
              <p:ext uri="{D42A27DB-BD31-4B8C-83A1-F6EECF244321}">
                <p14:modId xmlns:p14="http://schemas.microsoft.com/office/powerpoint/2010/main" val="3079138385"/>
              </p:ext>
            </p:extLst>
          </p:nvPr>
        </p:nvGraphicFramePr>
        <p:xfrm>
          <a:off x="7298530" y="5912572"/>
          <a:ext cx="1023938" cy="428625"/>
        </p:xfrm>
        <a:graphic>
          <a:graphicData uri="http://schemas.openxmlformats.org/presentationml/2006/ole">
            <mc:AlternateContent xmlns:mc="http://schemas.openxmlformats.org/markup-compatibility/2006">
              <mc:Choice xmlns:v="urn:schemas-microsoft-com:vml" Requires="v">
                <p:oleObj spid="_x0000_s175457" r:id="rId17" imgW="381000" imgH="190500" progId="Equation.DSMT4">
                  <p:embed/>
                </p:oleObj>
              </mc:Choice>
              <mc:Fallback>
                <p:oleObj r:id="rId17" imgW="381000" imgH="190500" progId="Equation.DSMT4">
                  <p:embed/>
                  <p:pic>
                    <p:nvPicPr>
                      <p:cNvPr id="0" name=""/>
                      <p:cNvPicPr/>
                      <p:nvPr/>
                    </p:nvPicPr>
                    <p:blipFill>
                      <a:blip r:embed="rId18"/>
                      <a:stretch>
                        <a:fillRect/>
                      </a:stretch>
                    </p:blipFill>
                    <p:spPr>
                      <a:xfrm>
                        <a:off x="7298530" y="5912572"/>
                        <a:ext cx="1023938" cy="428625"/>
                      </a:xfrm>
                      <a:prstGeom prst="rect">
                        <a:avLst/>
                      </a:prstGeom>
                      <a:noFill/>
                      <a:ln w="38100">
                        <a:noFill/>
                        <a:miter/>
                      </a:ln>
                    </p:spPr>
                  </p:pic>
                </p:oleObj>
              </mc:Fallback>
            </mc:AlternateContent>
          </a:graphicData>
        </a:graphic>
      </p:graphicFrame>
      <p:graphicFrame>
        <p:nvGraphicFramePr>
          <p:cNvPr id="14" name="对象 627761">
            <a:extLst>
              <a:ext uri="{FF2B5EF4-FFF2-40B4-BE49-F238E27FC236}">
                <a16:creationId xmlns:a16="http://schemas.microsoft.com/office/drawing/2014/main" xmlns="" id="{80A25836-A837-269C-6A5C-7955AB3902E4}"/>
              </a:ext>
            </a:extLst>
          </p:cNvPr>
          <p:cNvGraphicFramePr/>
          <p:nvPr>
            <p:extLst>
              <p:ext uri="{D42A27DB-BD31-4B8C-83A1-F6EECF244321}">
                <p14:modId xmlns:p14="http://schemas.microsoft.com/office/powerpoint/2010/main" val="56938325"/>
              </p:ext>
            </p:extLst>
          </p:nvPr>
        </p:nvGraphicFramePr>
        <p:xfrm>
          <a:off x="3750468" y="2412134"/>
          <a:ext cx="1500187" cy="1000125"/>
        </p:xfrm>
        <a:graphic>
          <a:graphicData uri="http://schemas.openxmlformats.org/presentationml/2006/ole">
            <mc:AlternateContent xmlns:mc="http://schemas.openxmlformats.org/markup-compatibility/2006">
              <mc:Choice xmlns:v="urn:schemas-microsoft-com:vml" Requires="v">
                <p:oleObj spid="_x0000_s175458" r:id="rId19" imgW="3810000" imgH="2654300" progId="Visio.Drawing.11">
                  <p:embed/>
                </p:oleObj>
              </mc:Choice>
              <mc:Fallback>
                <p:oleObj r:id="rId19" imgW="3810000" imgH="2654300" progId="Visio.Drawing.11">
                  <p:embed/>
                  <p:pic>
                    <p:nvPicPr>
                      <p:cNvPr id="0" name=""/>
                      <p:cNvPicPr/>
                      <p:nvPr/>
                    </p:nvPicPr>
                    <p:blipFill>
                      <a:blip r:embed="rId20"/>
                      <a:stretch>
                        <a:fillRect/>
                      </a:stretch>
                    </p:blipFill>
                    <p:spPr>
                      <a:xfrm>
                        <a:off x="3750468" y="2412134"/>
                        <a:ext cx="1500187" cy="1000125"/>
                      </a:xfrm>
                      <a:prstGeom prst="rect">
                        <a:avLst/>
                      </a:prstGeom>
                      <a:noFill/>
                      <a:ln w="38100">
                        <a:noFill/>
                        <a:miter/>
                      </a:ln>
                    </p:spPr>
                  </p:pic>
                </p:oleObj>
              </mc:Fallback>
            </mc:AlternateContent>
          </a:graphicData>
        </a:graphic>
      </p:graphicFrame>
      <p:graphicFrame>
        <p:nvGraphicFramePr>
          <p:cNvPr id="15" name="对象 627762">
            <a:extLst>
              <a:ext uri="{FF2B5EF4-FFF2-40B4-BE49-F238E27FC236}">
                <a16:creationId xmlns:a16="http://schemas.microsoft.com/office/drawing/2014/main" xmlns="" id="{8E0C49D5-E5BC-A35D-B48A-1CCB863DD42B}"/>
              </a:ext>
            </a:extLst>
          </p:cNvPr>
          <p:cNvGraphicFramePr/>
          <p:nvPr>
            <p:extLst>
              <p:ext uri="{D42A27DB-BD31-4B8C-83A1-F6EECF244321}">
                <p14:modId xmlns:p14="http://schemas.microsoft.com/office/powerpoint/2010/main" val="3212508557"/>
              </p:ext>
            </p:extLst>
          </p:nvPr>
        </p:nvGraphicFramePr>
        <p:xfrm>
          <a:off x="2178843" y="2769322"/>
          <a:ext cx="1428750" cy="428625"/>
        </p:xfrm>
        <a:graphic>
          <a:graphicData uri="http://schemas.openxmlformats.org/presentationml/2006/ole">
            <mc:AlternateContent xmlns:mc="http://schemas.openxmlformats.org/markup-compatibility/2006">
              <mc:Choice xmlns:v="urn:schemas-microsoft-com:vml" Requires="v">
                <p:oleObj spid="_x0000_s175459" r:id="rId21" imgW="4406900" imgH="977900" progId="Visio.Drawing.11">
                  <p:embed/>
                </p:oleObj>
              </mc:Choice>
              <mc:Fallback>
                <p:oleObj r:id="rId21" imgW="4406900" imgH="977900" progId="Visio.Drawing.11">
                  <p:embed/>
                  <p:pic>
                    <p:nvPicPr>
                      <p:cNvPr id="0" name=""/>
                      <p:cNvPicPr/>
                      <p:nvPr/>
                    </p:nvPicPr>
                    <p:blipFill>
                      <a:blip r:embed="rId22"/>
                      <a:stretch>
                        <a:fillRect/>
                      </a:stretch>
                    </p:blipFill>
                    <p:spPr>
                      <a:xfrm>
                        <a:off x="2178843" y="2769322"/>
                        <a:ext cx="1428750" cy="428625"/>
                      </a:xfrm>
                      <a:prstGeom prst="rect">
                        <a:avLst/>
                      </a:prstGeom>
                      <a:noFill/>
                      <a:ln w="38100">
                        <a:noFill/>
                        <a:miter/>
                      </a:ln>
                    </p:spPr>
                  </p:pic>
                </p:oleObj>
              </mc:Fallback>
            </mc:AlternateContent>
          </a:graphicData>
        </a:graphic>
      </p:graphicFrame>
      <p:graphicFrame>
        <p:nvGraphicFramePr>
          <p:cNvPr id="16" name="对象 627763">
            <a:extLst>
              <a:ext uri="{FF2B5EF4-FFF2-40B4-BE49-F238E27FC236}">
                <a16:creationId xmlns:a16="http://schemas.microsoft.com/office/drawing/2014/main" xmlns="" id="{31CE9DEB-C0CB-3882-9D22-BE3161C9004F}"/>
              </a:ext>
            </a:extLst>
          </p:cNvPr>
          <p:cNvGraphicFramePr/>
          <p:nvPr>
            <p:extLst>
              <p:ext uri="{D42A27DB-BD31-4B8C-83A1-F6EECF244321}">
                <p14:modId xmlns:p14="http://schemas.microsoft.com/office/powerpoint/2010/main" val="4241078844"/>
              </p:ext>
            </p:extLst>
          </p:nvPr>
        </p:nvGraphicFramePr>
        <p:xfrm>
          <a:off x="5322093" y="2483572"/>
          <a:ext cx="1571625" cy="928687"/>
        </p:xfrm>
        <a:graphic>
          <a:graphicData uri="http://schemas.openxmlformats.org/presentationml/2006/ole">
            <mc:AlternateContent xmlns:mc="http://schemas.openxmlformats.org/markup-compatibility/2006">
              <mc:Choice xmlns:v="urn:schemas-microsoft-com:vml" Requires="v">
                <p:oleObj spid="_x0000_s175460" r:id="rId23" imgW="3810000" imgH="2819400" progId="Visio.Drawing.11">
                  <p:embed/>
                </p:oleObj>
              </mc:Choice>
              <mc:Fallback>
                <p:oleObj r:id="rId23" imgW="3810000" imgH="2819400" progId="Visio.Drawing.11">
                  <p:embed/>
                  <p:pic>
                    <p:nvPicPr>
                      <p:cNvPr id="0" name=""/>
                      <p:cNvPicPr/>
                      <p:nvPr/>
                    </p:nvPicPr>
                    <p:blipFill>
                      <a:blip r:embed="rId24"/>
                      <a:stretch>
                        <a:fillRect/>
                      </a:stretch>
                    </p:blipFill>
                    <p:spPr>
                      <a:xfrm>
                        <a:off x="5322093" y="2483572"/>
                        <a:ext cx="1571625" cy="928687"/>
                      </a:xfrm>
                      <a:prstGeom prst="rect">
                        <a:avLst/>
                      </a:prstGeom>
                      <a:noFill/>
                      <a:ln w="38100">
                        <a:noFill/>
                        <a:miter/>
                      </a:ln>
                    </p:spPr>
                  </p:pic>
                </p:oleObj>
              </mc:Fallback>
            </mc:AlternateContent>
          </a:graphicData>
        </a:graphic>
      </p:graphicFrame>
      <p:graphicFrame>
        <p:nvGraphicFramePr>
          <p:cNvPr id="17" name="对象 627764">
            <a:extLst>
              <a:ext uri="{FF2B5EF4-FFF2-40B4-BE49-F238E27FC236}">
                <a16:creationId xmlns:a16="http://schemas.microsoft.com/office/drawing/2014/main" xmlns="" id="{270689FD-A284-DD2D-54FD-E3CFA3AF3892}"/>
              </a:ext>
            </a:extLst>
          </p:cNvPr>
          <p:cNvGraphicFramePr/>
          <p:nvPr>
            <p:extLst>
              <p:ext uri="{D42A27DB-BD31-4B8C-83A1-F6EECF244321}">
                <p14:modId xmlns:p14="http://schemas.microsoft.com/office/powerpoint/2010/main" val="2635424589"/>
              </p:ext>
            </p:extLst>
          </p:nvPr>
        </p:nvGraphicFramePr>
        <p:xfrm>
          <a:off x="7036593" y="2697884"/>
          <a:ext cx="1571625" cy="428625"/>
        </p:xfrm>
        <a:graphic>
          <a:graphicData uri="http://schemas.openxmlformats.org/presentationml/2006/ole">
            <mc:AlternateContent xmlns:mc="http://schemas.openxmlformats.org/markup-compatibility/2006">
              <mc:Choice xmlns:v="urn:schemas-microsoft-com:vml" Requires="v">
                <p:oleObj spid="_x0000_s175461" r:id="rId25" imgW="3746500" imgH="1346200" progId="Visio.Drawing.11">
                  <p:embed/>
                </p:oleObj>
              </mc:Choice>
              <mc:Fallback>
                <p:oleObj r:id="rId25" imgW="3746500" imgH="1346200" progId="Visio.Drawing.11">
                  <p:embed/>
                  <p:pic>
                    <p:nvPicPr>
                      <p:cNvPr id="0" name=""/>
                      <p:cNvPicPr/>
                      <p:nvPr/>
                    </p:nvPicPr>
                    <p:blipFill>
                      <a:blip r:embed="rId26"/>
                      <a:stretch>
                        <a:fillRect/>
                      </a:stretch>
                    </p:blipFill>
                    <p:spPr>
                      <a:xfrm>
                        <a:off x="7036593" y="2697884"/>
                        <a:ext cx="1571625" cy="428625"/>
                      </a:xfrm>
                      <a:prstGeom prst="rect">
                        <a:avLst/>
                      </a:prstGeom>
                      <a:noFill/>
                      <a:ln w="38100">
                        <a:noFill/>
                        <a:miter/>
                      </a:ln>
                    </p:spPr>
                  </p:pic>
                </p:oleObj>
              </mc:Fallback>
            </mc:AlternateContent>
          </a:graphicData>
        </a:graphic>
      </p:graphicFrame>
      <p:graphicFrame>
        <p:nvGraphicFramePr>
          <p:cNvPr id="18" name="对象 627765">
            <a:extLst>
              <a:ext uri="{FF2B5EF4-FFF2-40B4-BE49-F238E27FC236}">
                <a16:creationId xmlns:a16="http://schemas.microsoft.com/office/drawing/2014/main" xmlns="" id="{34734631-F28C-A385-4392-C46958DFCC29}"/>
              </a:ext>
            </a:extLst>
          </p:cNvPr>
          <p:cNvGraphicFramePr/>
          <p:nvPr>
            <p:extLst>
              <p:ext uri="{D42A27DB-BD31-4B8C-83A1-F6EECF244321}">
                <p14:modId xmlns:p14="http://schemas.microsoft.com/office/powerpoint/2010/main" val="3895923647"/>
              </p:ext>
            </p:extLst>
          </p:nvPr>
        </p:nvGraphicFramePr>
        <p:xfrm>
          <a:off x="2678905" y="3555134"/>
          <a:ext cx="571500" cy="719138"/>
        </p:xfrm>
        <a:graphic>
          <a:graphicData uri="http://schemas.openxmlformats.org/presentationml/2006/ole">
            <mc:AlternateContent xmlns:mc="http://schemas.openxmlformats.org/markup-compatibility/2006">
              <mc:Choice xmlns:v="urn:schemas-microsoft-com:vml" Requires="v">
                <p:oleObj spid="_x0000_s175462" r:id="rId27" imgW="228600" imgH="342900" progId="Equation.DSMT4">
                  <p:embed/>
                </p:oleObj>
              </mc:Choice>
              <mc:Fallback>
                <p:oleObj r:id="rId27" imgW="228600" imgH="342900" progId="Equation.DSMT4">
                  <p:embed/>
                  <p:pic>
                    <p:nvPicPr>
                      <p:cNvPr id="0" name=""/>
                      <p:cNvPicPr/>
                      <p:nvPr/>
                    </p:nvPicPr>
                    <p:blipFill>
                      <a:blip r:embed="rId28"/>
                      <a:stretch>
                        <a:fillRect/>
                      </a:stretch>
                    </p:blipFill>
                    <p:spPr>
                      <a:xfrm>
                        <a:off x="2678905" y="3555134"/>
                        <a:ext cx="571500" cy="719138"/>
                      </a:xfrm>
                      <a:prstGeom prst="rect">
                        <a:avLst/>
                      </a:prstGeom>
                      <a:noFill/>
                      <a:ln w="38100">
                        <a:noFill/>
                        <a:miter/>
                      </a:ln>
                    </p:spPr>
                  </p:pic>
                </p:oleObj>
              </mc:Fallback>
            </mc:AlternateContent>
          </a:graphicData>
        </a:graphic>
      </p:graphicFrame>
      <p:graphicFrame>
        <p:nvGraphicFramePr>
          <p:cNvPr id="19" name="对象 627766">
            <a:extLst>
              <a:ext uri="{FF2B5EF4-FFF2-40B4-BE49-F238E27FC236}">
                <a16:creationId xmlns:a16="http://schemas.microsoft.com/office/drawing/2014/main" xmlns="" id="{3EA1AD6B-3BF7-8C0C-E70C-1F494B80FEA4}"/>
              </a:ext>
            </a:extLst>
          </p:cNvPr>
          <p:cNvGraphicFramePr/>
          <p:nvPr>
            <p:extLst>
              <p:ext uri="{D42A27DB-BD31-4B8C-83A1-F6EECF244321}">
                <p14:modId xmlns:p14="http://schemas.microsoft.com/office/powerpoint/2010/main" val="196856086"/>
              </p:ext>
            </p:extLst>
          </p:nvPr>
        </p:nvGraphicFramePr>
        <p:xfrm>
          <a:off x="4107655" y="3517034"/>
          <a:ext cx="714375" cy="752475"/>
        </p:xfrm>
        <a:graphic>
          <a:graphicData uri="http://schemas.openxmlformats.org/presentationml/2006/ole">
            <mc:AlternateContent xmlns:mc="http://schemas.openxmlformats.org/markup-compatibility/2006">
              <mc:Choice xmlns:v="urn:schemas-microsoft-com:vml" Requires="v">
                <p:oleObj spid="_x0000_s175463" r:id="rId29" imgW="279400" imgH="393700" progId="Equation.DSMT4">
                  <p:embed/>
                </p:oleObj>
              </mc:Choice>
              <mc:Fallback>
                <p:oleObj r:id="rId29" imgW="279400" imgH="393700" progId="Equation.DSMT4">
                  <p:embed/>
                  <p:pic>
                    <p:nvPicPr>
                      <p:cNvPr id="0" name=""/>
                      <p:cNvPicPr/>
                      <p:nvPr/>
                    </p:nvPicPr>
                    <p:blipFill>
                      <a:blip r:embed="rId30"/>
                      <a:stretch>
                        <a:fillRect/>
                      </a:stretch>
                    </p:blipFill>
                    <p:spPr>
                      <a:xfrm>
                        <a:off x="4107655" y="3517034"/>
                        <a:ext cx="714375" cy="752475"/>
                      </a:xfrm>
                      <a:prstGeom prst="rect">
                        <a:avLst/>
                      </a:prstGeom>
                      <a:noFill/>
                      <a:ln w="38100">
                        <a:noFill/>
                        <a:miter/>
                      </a:ln>
                    </p:spPr>
                  </p:pic>
                </p:oleObj>
              </mc:Fallback>
            </mc:AlternateContent>
          </a:graphicData>
        </a:graphic>
      </p:graphicFrame>
      <p:graphicFrame>
        <p:nvGraphicFramePr>
          <p:cNvPr id="20" name="对象 627767">
            <a:extLst>
              <a:ext uri="{FF2B5EF4-FFF2-40B4-BE49-F238E27FC236}">
                <a16:creationId xmlns:a16="http://schemas.microsoft.com/office/drawing/2014/main" xmlns="" id="{0FDB5ED3-3103-4BF2-8F37-87FD3CD49DBD}"/>
              </a:ext>
            </a:extLst>
          </p:cNvPr>
          <p:cNvGraphicFramePr/>
          <p:nvPr>
            <p:extLst>
              <p:ext uri="{D42A27DB-BD31-4B8C-83A1-F6EECF244321}">
                <p14:modId xmlns:p14="http://schemas.microsoft.com/office/powerpoint/2010/main" val="2796997472"/>
              </p:ext>
            </p:extLst>
          </p:nvPr>
        </p:nvGraphicFramePr>
        <p:xfrm>
          <a:off x="5822155" y="3769447"/>
          <a:ext cx="785813" cy="357187"/>
        </p:xfrm>
        <a:graphic>
          <a:graphicData uri="http://schemas.openxmlformats.org/presentationml/2006/ole">
            <mc:AlternateContent xmlns:mc="http://schemas.openxmlformats.org/markup-compatibility/2006">
              <mc:Choice xmlns:v="urn:schemas-microsoft-com:vml" Requires="v">
                <p:oleObj spid="_x0000_s175464" r:id="rId31" imgW="330200" imgH="190500" progId="Equation.DSMT4">
                  <p:embed/>
                </p:oleObj>
              </mc:Choice>
              <mc:Fallback>
                <p:oleObj r:id="rId31" imgW="330200" imgH="190500" progId="Equation.DSMT4">
                  <p:embed/>
                  <p:pic>
                    <p:nvPicPr>
                      <p:cNvPr id="0" name=""/>
                      <p:cNvPicPr/>
                      <p:nvPr/>
                    </p:nvPicPr>
                    <p:blipFill>
                      <a:blip r:embed="rId32"/>
                      <a:stretch>
                        <a:fillRect/>
                      </a:stretch>
                    </p:blipFill>
                    <p:spPr>
                      <a:xfrm>
                        <a:off x="5822155" y="3769447"/>
                        <a:ext cx="785813" cy="357187"/>
                      </a:xfrm>
                      <a:prstGeom prst="rect">
                        <a:avLst/>
                      </a:prstGeom>
                      <a:noFill/>
                      <a:ln w="38100">
                        <a:noFill/>
                        <a:miter/>
                      </a:ln>
                    </p:spPr>
                  </p:pic>
                </p:oleObj>
              </mc:Fallback>
            </mc:AlternateContent>
          </a:graphicData>
        </a:graphic>
      </p:graphicFrame>
      <p:graphicFrame>
        <p:nvGraphicFramePr>
          <p:cNvPr id="21" name="对象 627768">
            <a:extLst>
              <a:ext uri="{FF2B5EF4-FFF2-40B4-BE49-F238E27FC236}">
                <a16:creationId xmlns:a16="http://schemas.microsoft.com/office/drawing/2014/main" xmlns="" id="{0FD83772-D39C-D81F-D70F-5579C33A3E94}"/>
              </a:ext>
            </a:extLst>
          </p:cNvPr>
          <p:cNvGraphicFramePr/>
          <p:nvPr>
            <p:extLst>
              <p:ext uri="{D42A27DB-BD31-4B8C-83A1-F6EECF244321}">
                <p14:modId xmlns:p14="http://schemas.microsoft.com/office/powerpoint/2010/main" val="741943672"/>
              </p:ext>
            </p:extLst>
          </p:nvPr>
        </p:nvGraphicFramePr>
        <p:xfrm>
          <a:off x="7457280" y="3483697"/>
          <a:ext cx="873125" cy="785812"/>
        </p:xfrm>
        <a:graphic>
          <a:graphicData uri="http://schemas.openxmlformats.org/presentationml/2006/ole">
            <mc:AlternateContent xmlns:mc="http://schemas.openxmlformats.org/markup-compatibility/2006">
              <mc:Choice xmlns:v="urn:schemas-microsoft-com:vml" Requires="v">
                <p:oleObj spid="_x0000_s175465" r:id="rId33" imgW="330200" imgH="381000" progId="Equation.DSMT4">
                  <p:embed/>
                </p:oleObj>
              </mc:Choice>
              <mc:Fallback>
                <p:oleObj r:id="rId33" imgW="330200" imgH="381000" progId="Equation.DSMT4">
                  <p:embed/>
                  <p:pic>
                    <p:nvPicPr>
                      <p:cNvPr id="0" name=""/>
                      <p:cNvPicPr/>
                      <p:nvPr/>
                    </p:nvPicPr>
                    <p:blipFill>
                      <a:blip r:embed="rId34"/>
                      <a:stretch>
                        <a:fillRect/>
                      </a:stretch>
                    </p:blipFill>
                    <p:spPr>
                      <a:xfrm>
                        <a:off x="7457280" y="3483697"/>
                        <a:ext cx="873125" cy="785812"/>
                      </a:xfrm>
                      <a:prstGeom prst="rect">
                        <a:avLst/>
                      </a:prstGeom>
                      <a:noFill/>
                      <a:ln w="38100">
                        <a:noFill/>
                        <a:miter/>
                      </a:ln>
                    </p:spPr>
                  </p:pic>
                </p:oleObj>
              </mc:Fallback>
            </mc:AlternateContent>
          </a:graphicData>
        </a:graphic>
      </p:graphicFrame>
      <p:graphicFrame>
        <p:nvGraphicFramePr>
          <p:cNvPr id="22" name="对象 627769">
            <a:extLst>
              <a:ext uri="{FF2B5EF4-FFF2-40B4-BE49-F238E27FC236}">
                <a16:creationId xmlns:a16="http://schemas.microsoft.com/office/drawing/2014/main" xmlns="" id="{975AD01A-D348-2634-C6ED-01CAA6BEF2F5}"/>
              </a:ext>
            </a:extLst>
          </p:cNvPr>
          <p:cNvGraphicFramePr/>
          <p:nvPr>
            <p:extLst>
              <p:ext uri="{D42A27DB-BD31-4B8C-83A1-F6EECF244321}">
                <p14:modId xmlns:p14="http://schemas.microsoft.com/office/powerpoint/2010/main" val="164866994"/>
              </p:ext>
            </p:extLst>
          </p:nvPr>
        </p:nvGraphicFramePr>
        <p:xfrm>
          <a:off x="4321968" y="2197822"/>
          <a:ext cx="427037" cy="428625"/>
        </p:xfrm>
        <a:graphic>
          <a:graphicData uri="http://schemas.openxmlformats.org/presentationml/2006/ole">
            <mc:AlternateContent xmlns:mc="http://schemas.openxmlformats.org/markup-compatibility/2006">
              <mc:Choice xmlns:v="urn:schemas-microsoft-com:vml" Requires="v">
                <p:oleObj spid="_x0000_s175466" r:id="rId35" imgW="152400" imgH="203200" progId="Equation.DSMT4">
                  <p:embed/>
                </p:oleObj>
              </mc:Choice>
              <mc:Fallback>
                <p:oleObj r:id="rId35" imgW="152400" imgH="203200" progId="Equation.DSMT4">
                  <p:embed/>
                  <p:pic>
                    <p:nvPicPr>
                      <p:cNvPr id="0" name=""/>
                      <p:cNvPicPr/>
                      <p:nvPr/>
                    </p:nvPicPr>
                    <p:blipFill>
                      <a:blip r:embed="rId36"/>
                      <a:stretch>
                        <a:fillRect/>
                      </a:stretch>
                    </p:blipFill>
                    <p:spPr>
                      <a:xfrm>
                        <a:off x="4321968" y="2197822"/>
                        <a:ext cx="427037" cy="428625"/>
                      </a:xfrm>
                      <a:prstGeom prst="rect">
                        <a:avLst/>
                      </a:prstGeom>
                      <a:noFill/>
                      <a:ln w="38100">
                        <a:noFill/>
                        <a:miter/>
                      </a:ln>
                    </p:spPr>
                  </p:pic>
                </p:oleObj>
              </mc:Fallback>
            </mc:AlternateContent>
          </a:graphicData>
        </a:graphic>
      </p:graphicFrame>
      <p:graphicFrame>
        <p:nvGraphicFramePr>
          <p:cNvPr id="23" name="对象 627770">
            <a:extLst>
              <a:ext uri="{FF2B5EF4-FFF2-40B4-BE49-F238E27FC236}">
                <a16:creationId xmlns:a16="http://schemas.microsoft.com/office/drawing/2014/main" xmlns="" id="{BDB44C07-2E2B-9D29-E8A8-829F8C926860}"/>
              </a:ext>
            </a:extLst>
          </p:cNvPr>
          <p:cNvGraphicFramePr/>
          <p:nvPr>
            <p:extLst>
              <p:ext uri="{D42A27DB-BD31-4B8C-83A1-F6EECF244321}">
                <p14:modId xmlns:p14="http://schemas.microsoft.com/office/powerpoint/2010/main" val="750071420"/>
              </p:ext>
            </p:extLst>
          </p:nvPr>
        </p:nvGraphicFramePr>
        <p:xfrm>
          <a:off x="4321968" y="3197947"/>
          <a:ext cx="285750" cy="284162"/>
        </p:xfrm>
        <a:graphic>
          <a:graphicData uri="http://schemas.openxmlformats.org/presentationml/2006/ole">
            <mc:AlternateContent xmlns:mc="http://schemas.openxmlformats.org/markup-compatibility/2006">
              <mc:Choice xmlns:v="urn:schemas-microsoft-com:vml" Requires="v">
                <p:oleObj spid="_x0000_s175467" r:id="rId37" imgW="139700" imgH="139700" progId="Equation.DSMT4">
                  <p:embed/>
                </p:oleObj>
              </mc:Choice>
              <mc:Fallback>
                <p:oleObj r:id="rId37" imgW="139700" imgH="139700" progId="Equation.DSMT4">
                  <p:embed/>
                  <p:pic>
                    <p:nvPicPr>
                      <p:cNvPr id="0" name=""/>
                      <p:cNvPicPr/>
                      <p:nvPr/>
                    </p:nvPicPr>
                    <p:blipFill>
                      <a:blip r:embed="rId38"/>
                      <a:stretch>
                        <a:fillRect/>
                      </a:stretch>
                    </p:blipFill>
                    <p:spPr>
                      <a:xfrm>
                        <a:off x="4321968" y="3197947"/>
                        <a:ext cx="285750" cy="284162"/>
                      </a:xfrm>
                      <a:prstGeom prst="rect">
                        <a:avLst/>
                      </a:prstGeom>
                      <a:noFill/>
                      <a:ln w="38100">
                        <a:noFill/>
                        <a:miter/>
                      </a:ln>
                    </p:spPr>
                  </p:pic>
                </p:oleObj>
              </mc:Fallback>
            </mc:AlternateContent>
          </a:graphicData>
        </a:graphic>
      </p:graphicFrame>
      <p:graphicFrame>
        <p:nvGraphicFramePr>
          <p:cNvPr id="24" name="对象 627771">
            <a:extLst>
              <a:ext uri="{FF2B5EF4-FFF2-40B4-BE49-F238E27FC236}">
                <a16:creationId xmlns:a16="http://schemas.microsoft.com/office/drawing/2014/main" xmlns="" id="{45433DFA-7A4E-5881-0AE4-3E011C22330F}"/>
              </a:ext>
            </a:extLst>
          </p:cNvPr>
          <p:cNvGraphicFramePr/>
          <p:nvPr>
            <p:extLst>
              <p:ext uri="{D42A27DB-BD31-4B8C-83A1-F6EECF244321}">
                <p14:modId xmlns:p14="http://schemas.microsoft.com/office/powerpoint/2010/main" val="1413191377"/>
              </p:ext>
            </p:extLst>
          </p:nvPr>
        </p:nvGraphicFramePr>
        <p:xfrm>
          <a:off x="5965030" y="2331172"/>
          <a:ext cx="211138" cy="295275"/>
        </p:xfrm>
        <a:graphic>
          <a:graphicData uri="http://schemas.openxmlformats.org/presentationml/2006/ole">
            <mc:AlternateContent xmlns:mc="http://schemas.openxmlformats.org/markup-compatibility/2006">
              <mc:Choice xmlns:v="urn:schemas-microsoft-com:vml" Requires="v">
                <p:oleObj spid="_x0000_s175468" r:id="rId39" imgW="139700" imgH="152400" progId="Equation.DSMT4">
                  <p:embed/>
                </p:oleObj>
              </mc:Choice>
              <mc:Fallback>
                <p:oleObj r:id="rId39" imgW="139700" imgH="152400" progId="Equation.DSMT4">
                  <p:embed/>
                  <p:pic>
                    <p:nvPicPr>
                      <p:cNvPr id="0" name=""/>
                      <p:cNvPicPr/>
                      <p:nvPr/>
                    </p:nvPicPr>
                    <p:blipFill>
                      <a:blip r:embed="rId40"/>
                      <a:stretch>
                        <a:fillRect/>
                      </a:stretch>
                    </p:blipFill>
                    <p:spPr>
                      <a:xfrm>
                        <a:off x="5965030" y="2331172"/>
                        <a:ext cx="211138" cy="295275"/>
                      </a:xfrm>
                      <a:prstGeom prst="rect">
                        <a:avLst/>
                      </a:prstGeom>
                      <a:noFill/>
                      <a:ln w="38100">
                        <a:noFill/>
                        <a:miter/>
                      </a:ln>
                    </p:spPr>
                  </p:pic>
                </p:oleObj>
              </mc:Fallback>
            </mc:AlternateContent>
          </a:graphicData>
        </a:graphic>
      </p:graphicFrame>
      <p:graphicFrame>
        <p:nvGraphicFramePr>
          <p:cNvPr id="25" name="对象 627772">
            <a:extLst>
              <a:ext uri="{FF2B5EF4-FFF2-40B4-BE49-F238E27FC236}">
                <a16:creationId xmlns:a16="http://schemas.microsoft.com/office/drawing/2014/main" xmlns="" id="{E5288878-2564-79A0-4FC1-398FBB3D8EA2}"/>
              </a:ext>
            </a:extLst>
          </p:cNvPr>
          <p:cNvGraphicFramePr/>
          <p:nvPr>
            <p:extLst>
              <p:ext uri="{D42A27DB-BD31-4B8C-83A1-F6EECF244321}">
                <p14:modId xmlns:p14="http://schemas.microsoft.com/office/powerpoint/2010/main" val="3527956432"/>
              </p:ext>
            </p:extLst>
          </p:nvPr>
        </p:nvGraphicFramePr>
        <p:xfrm>
          <a:off x="5965030" y="3197947"/>
          <a:ext cx="357188" cy="333375"/>
        </p:xfrm>
        <a:graphic>
          <a:graphicData uri="http://schemas.openxmlformats.org/presentationml/2006/ole">
            <mc:AlternateContent xmlns:mc="http://schemas.openxmlformats.org/markup-compatibility/2006">
              <mc:Choice xmlns:v="urn:schemas-microsoft-com:vml" Requires="v">
                <p:oleObj spid="_x0000_s175469" r:id="rId41" imgW="165100" imgH="190500" progId="Equation.DSMT4">
                  <p:embed/>
                </p:oleObj>
              </mc:Choice>
              <mc:Fallback>
                <p:oleObj r:id="rId41" imgW="165100" imgH="190500" progId="Equation.DSMT4">
                  <p:embed/>
                  <p:pic>
                    <p:nvPicPr>
                      <p:cNvPr id="0" name=""/>
                      <p:cNvPicPr/>
                      <p:nvPr/>
                    </p:nvPicPr>
                    <p:blipFill>
                      <a:blip r:embed="rId42"/>
                      <a:stretch>
                        <a:fillRect/>
                      </a:stretch>
                    </p:blipFill>
                    <p:spPr>
                      <a:xfrm>
                        <a:off x="5965030" y="3197947"/>
                        <a:ext cx="357188" cy="333375"/>
                      </a:xfrm>
                      <a:prstGeom prst="rect">
                        <a:avLst/>
                      </a:prstGeom>
                      <a:noFill/>
                      <a:ln w="38100">
                        <a:noFill/>
                        <a:miter/>
                      </a:ln>
                    </p:spPr>
                  </p:pic>
                </p:oleObj>
              </mc:Fallback>
            </mc:AlternateContent>
          </a:graphicData>
        </a:graphic>
      </p:graphicFrame>
      <p:graphicFrame>
        <p:nvGraphicFramePr>
          <p:cNvPr id="26" name="对象 627773">
            <a:extLst>
              <a:ext uri="{FF2B5EF4-FFF2-40B4-BE49-F238E27FC236}">
                <a16:creationId xmlns:a16="http://schemas.microsoft.com/office/drawing/2014/main" xmlns="" id="{A00E110C-952F-E9E0-08F4-E44F63A6D39F}"/>
              </a:ext>
            </a:extLst>
          </p:cNvPr>
          <p:cNvGraphicFramePr/>
          <p:nvPr>
            <p:extLst>
              <p:ext uri="{D42A27DB-BD31-4B8C-83A1-F6EECF244321}">
                <p14:modId xmlns:p14="http://schemas.microsoft.com/office/powerpoint/2010/main" val="223594803"/>
              </p:ext>
            </p:extLst>
          </p:nvPr>
        </p:nvGraphicFramePr>
        <p:xfrm>
          <a:off x="7465218" y="2555009"/>
          <a:ext cx="395287" cy="357188"/>
        </p:xfrm>
        <a:graphic>
          <a:graphicData uri="http://schemas.openxmlformats.org/presentationml/2006/ole">
            <mc:AlternateContent xmlns:mc="http://schemas.openxmlformats.org/markup-compatibility/2006">
              <mc:Choice xmlns:v="urn:schemas-microsoft-com:vml" Requires="v">
                <p:oleObj spid="_x0000_s175470" r:id="rId43" imgW="101600" imgH="114300" progId="Equation.DSMT4">
                  <p:embed/>
                </p:oleObj>
              </mc:Choice>
              <mc:Fallback>
                <p:oleObj r:id="rId43" imgW="101600" imgH="114300" progId="Equation.DSMT4">
                  <p:embed/>
                  <p:pic>
                    <p:nvPicPr>
                      <p:cNvPr id="0" name=""/>
                      <p:cNvPicPr/>
                      <p:nvPr/>
                    </p:nvPicPr>
                    <p:blipFill>
                      <a:blip r:embed="rId44"/>
                      <a:stretch>
                        <a:fillRect/>
                      </a:stretch>
                    </p:blipFill>
                    <p:spPr>
                      <a:xfrm>
                        <a:off x="7465218" y="2555009"/>
                        <a:ext cx="395287" cy="357188"/>
                      </a:xfrm>
                      <a:prstGeom prst="rect">
                        <a:avLst/>
                      </a:prstGeom>
                      <a:noFill/>
                      <a:ln w="38100">
                        <a:noFill/>
                        <a:miter/>
                      </a:ln>
                    </p:spPr>
                  </p:pic>
                </p:oleObj>
              </mc:Fallback>
            </mc:AlternateContent>
          </a:graphicData>
        </a:graphic>
      </p:graphicFrame>
      <p:graphicFrame>
        <p:nvGraphicFramePr>
          <p:cNvPr id="27" name="对象 627774">
            <a:extLst>
              <a:ext uri="{FF2B5EF4-FFF2-40B4-BE49-F238E27FC236}">
                <a16:creationId xmlns:a16="http://schemas.microsoft.com/office/drawing/2014/main" xmlns="" id="{832C3283-48F8-1E33-DA57-ABC187C10AAE}"/>
              </a:ext>
            </a:extLst>
          </p:cNvPr>
          <p:cNvGraphicFramePr/>
          <p:nvPr>
            <p:extLst>
              <p:ext uri="{D42A27DB-BD31-4B8C-83A1-F6EECF244321}">
                <p14:modId xmlns:p14="http://schemas.microsoft.com/office/powerpoint/2010/main" val="3785288377"/>
              </p:ext>
            </p:extLst>
          </p:nvPr>
        </p:nvGraphicFramePr>
        <p:xfrm>
          <a:off x="7965280" y="2507384"/>
          <a:ext cx="379413" cy="404813"/>
        </p:xfrm>
        <a:graphic>
          <a:graphicData uri="http://schemas.openxmlformats.org/presentationml/2006/ole">
            <mc:AlternateContent xmlns:mc="http://schemas.openxmlformats.org/markup-compatibility/2006">
              <mc:Choice xmlns:v="urn:schemas-microsoft-com:vml" Requires="v">
                <p:oleObj spid="_x0000_s175471" r:id="rId45" imgW="165100" imgH="190500" progId="Equation.DSMT4">
                  <p:embed/>
                </p:oleObj>
              </mc:Choice>
              <mc:Fallback>
                <p:oleObj r:id="rId45" imgW="165100" imgH="190500" progId="Equation.DSMT4">
                  <p:embed/>
                  <p:pic>
                    <p:nvPicPr>
                      <p:cNvPr id="0" name=""/>
                      <p:cNvPicPr/>
                      <p:nvPr/>
                    </p:nvPicPr>
                    <p:blipFill>
                      <a:blip r:embed="rId46"/>
                      <a:stretch>
                        <a:fillRect/>
                      </a:stretch>
                    </p:blipFill>
                    <p:spPr>
                      <a:xfrm>
                        <a:off x="7965280" y="2507384"/>
                        <a:ext cx="379413" cy="404813"/>
                      </a:xfrm>
                      <a:prstGeom prst="rect">
                        <a:avLst/>
                      </a:prstGeom>
                      <a:noFill/>
                      <a:ln w="38100">
                        <a:noFill/>
                        <a:miter/>
                      </a:ln>
                    </p:spPr>
                  </p:pic>
                </p:oleObj>
              </mc:Fallback>
            </mc:AlternateContent>
          </a:graphicData>
        </a:graphic>
      </p:graphicFrame>
      <p:graphicFrame>
        <p:nvGraphicFramePr>
          <p:cNvPr id="28" name="对象 627775">
            <a:extLst>
              <a:ext uri="{FF2B5EF4-FFF2-40B4-BE49-F238E27FC236}">
                <a16:creationId xmlns:a16="http://schemas.microsoft.com/office/drawing/2014/main" xmlns="" id="{01E07857-3941-5185-7DF6-765E69FAEEF7}"/>
              </a:ext>
            </a:extLst>
          </p:cNvPr>
          <p:cNvGraphicFramePr/>
          <p:nvPr>
            <p:extLst>
              <p:ext uri="{D42A27DB-BD31-4B8C-83A1-F6EECF244321}">
                <p14:modId xmlns:p14="http://schemas.microsoft.com/office/powerpoint/2010/main" val="1815908566"/>
              </p:ext>
            </p:extLst>
          </p:nvPr>
        </p:nvGraphicFramePr>
        <p:xfrm>
          <a:off x="3036093" y="2626447"/>
          <a:ext cx="395287" cy="357187"/>
        </p:xfrm>
        <a:graphic>
          <a:graphicData uri="http://schemas.openxmlformats.org/presentationml/2006/ole">
            <mc:AlternateContent xmlns:mc="http://schemas.openxmlformats.org/markup-compatibility/2006">
              <mc:Choice xmlns:v="urn:schemas-microsoft-com:vml" Requires="v">
                <p:oleObj spid="_x0000_s175472" r:id="rId47" imgW="101600" imgH="114300" progId="Equation.DSMT4">
                  <p:embed/>
                </p:oleObj>
              </mc:Choice>
              <mc:Fallback>
                <p:oleObj r:id="rId47" imgW="101600" imgH="114300" progId="Equation.DSMT4">
                  <p:embed/>
                  <p:pic>
                    <p:nvPicPr>
                      <p:cNvPr id="0" name=""/>
                      <p:cNvPicPr/>
                      <p:nvPr/>
                    </p:nvPicPr>
                    <p:blipFill>
                      <a:blip r:embed="rId44"/>
                      <a:stretch>
                        <a:fillRect/>
                      </a:stretch>
                    </p:blipFill>
                    <p:spPr>
                      <a:xfrm>
                        <a:off x="3036093" y="2626447"/>
                        <a:ext cx="395287" cy="357187"/>
                      </a:xfrm>
                      <a:prstGeom prst="rect">
                        <a:avLst/>
                      </a:prstGeom>
                      <a:noFill/>
                      <a:ln w="38100">
                        <a:noFill/>
                        <a:miter/>
                      </a:ln>
                    </p:spPr>
                  </p:pic>
                </p:oleObj>
              </mc:Fallback>
            </mc:AlternateContent>
          </a:graphicData>
        </a:graphic>
      </p:graphicFrame>
      <p:graphicFrame>
        <p:nvGraphicFramePr>
          <p:cNvPr id="29" name="对象 627776">
            <a:extLst>
              <a:ext uri="{FF2B5EF4-FFF2-40B4-BE49-F238E27FC236}">
                <a16:creationId xmlns:a16="http://schemas.microsoft.com/office/drawing/2014/main" xmlns="" id="{565A5D1A-C14B-5B3A-2148-A29C355B8D41}"/>
              </a:ext>
            </a:extLst>
          </p:cNvPr>
          <p:cNvGraphicFramePr/>
          <p:nvPr>
            <p:extLst>
              <p:ext uri="{D42A27DB-BD31-4B8C-83A1-F6EECF244321}">
                <p14:modId xmlns:p14="http://schemas.microsoft.com/office/powerpoint/2010/main" val="2074968156"/>
              </p:ext>
            </p:extLst>
          </p:nvPr>
        </p:nvGraphicFramePr>
        <p:xfrm>
          <a:off x="2459830" y="2624859"/>
          <a:ext cx="290513" cy="287338"/>
        </p:xfrm>
        <a:graphic>
          <a:graphicData uri="http://schemas.openxmlformats.org/presentationml/2006/ole">
            <mc:AlternateContent xmlns:mc="http://schemas.openxmlformats.org/markup-compatibility/2006">
              <mc:Choice xmlns:v="urn:schemas-microsoft-com:vml" Requires="v">
                <p:oleObj spid="_x0000_s175473" r:id="rId48" imgW="127000" imgH="139700" progId="Equation.DSMT4">
                  <p:embed/>
                </p:oleObj>
              </mc:Choice>
              <mc:Fallback>
                <p:oleObj r:id="rId48" imgW="127000" imgH="139700" progId="Equation.DSMT4">
                  <p:embed/>
                  <p:pic>
                    <p:nvPicPr>
                      <p:cNvPr id="0" name=""/>
                      <p:cNvPicPr/>
                      <p:nvPr/>
                    </p:nvPicPr>
                    <p:blipFill>
                      <a:blip r:embed="rId49"/>
                      <a:stretch>
                        <a:fillRect/>
                      </a:stretch>
                    </p:blipFill>
                    <p:spPr>
                      <a:xfrm>
                        <a:off x="2459830" y="2624859"/>
                        <a:ext cx="290513" cy="287338"/>
                      </a:xfrm>
                      <a:prstGeom prst="rect">
                        <a:avLst/>
                      </a:prstGeom>
                      <a:noFill/>
                      <a:ln w="38100">
                        <a:noFill/>
                        <a:miter/>
                      </a:ln>
                    </p:spPr>
                  </p:pic>
                </p:oleObj>
              </mc:Fallback>
            </mc:AlternateContent>
          </a:graphicData>
        </a:graphic>
      </p:graphicFrame>
      <p:sp>
        <p:nvSpPr>
          <p:cNvPr id="30" name="TextBox 9">
            <a:extLst>
              <a:ext uri="{FF2B5EF4-FFF2-40B4-BE49-F238E27FC236}">
                <a16:creationId xmlns:a16="http://schemas.microsoft.com/office/drawing/2014/main" xmlns="" id="{037545E3-5385-7E1F-54F0-FD395B3CEE4B}"/>
              </a:ext>
            </a:extLst>
          </p:cNvPr>
          <p:cNvSpPr txBox="1"/>
          <p:nvPr/>
        </p:nvSpPr>
        <p:spPr>
          <a:xfrm>
            <a:off x="646111" y="1183409"/>
            <a:ext cx="3680816" cy="461665"/>
          </a:xfrm>
          <a:prstGeom prst="rect">
            <a:avLst/>
          </a:prstGeom>
          <a:noFill/>
          <a:ln w="9525">
            <a:noFill/>
          </a:ln>
        </p:spPr>
        <p:txBody>
          <a:bodyPr wrap="none">
            <a:spAutoFit/>
          </a:bodyPr>
          <a:lstStyle/>
          <a:p>
            <a:pPr>
              <a:lnSpc>
                <a:spcPct val="100000"/>
              </a:lnSpc>
              <a:buFont typeface="Wingdings" panose="05000000000000000000" pitchFamily="2" charset="2"/>
              <a:buChar char="Ø"/>
            </a:pPr>
            <a:r>
              <a:rPr lang="en-US" altLang="zh-CN" sz="2400" b="1" i="1" baseline="0" dirty="0">
                <a:latin typeface="+mn-ea"/>
              </a:rPr>
              <a:t>L</a:t>
            </a:r>
            <a:r>
              <a:rPr lang="zh-CN" altLang="en-US" sz="2400" b="1" i="1" baseline="0" dirty="0">
                <a:latin typeface="+mn-ea"/>
              </a:rPr>
              <a:t>、</a:t>
            </a:r>
            <a:r>
              <a:rPr lang="en-US" altLang="zh-CN" sz="2400" b="1" i="1" baseline="0" dirty="0">
                <a:latin typeface="+mn-ea"/>
              </a:rPr>
              <a:t>C </a:t>
            </a:r>
            <a:r>
              <a:rPr lang="zh-CN" altLang="en-US" sz="2400" b="1" baseline="0" dirty="0">
                <a:latin typeface="+mn-ea"/>
              </a:rPr>
              <a:t>元件基本特性比较</a:t>
            </a:r>
          </a:p>
        </p:txBody>
      </p:sp>
    </p:spTree>
    <p:extLst>
      <p:ext uri="{BB962C8B-B14F-4D97-AF65-F5344CB8AC3E}">
        <p14:creationId xmlns:p14="http://schemas.microsoft.com/office/powerpoint/2010/main" val="53468206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29</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2.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高频</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基础</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电路</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文本框 4">
            <a:extLst>
              <a:ext uri="{FF2B5EF4-FFF2-40B4-BE49-F238E27FC236}">
                <a16:creationId xmlns:a16="http://schemas.microsoft.com/office/drawing/2014/main" xmlns="" id="{448E68AF-CE21-78FA-DB44-1FA735012F7A}"/>
              </a:ext>
            </a:extLst>
          </p:cNvPr>
          <p:cNvSpPr txBox="1"/>
          <p:nvPr/>
        </p:nvSpPr>
        <p:spPr>
          <a:xfrm>
            <a:off x="211015" y="1479444"/>
            <a:ext cx="8577074" cy="904863"/>
          </a:xfrm>
          <a:prstGeom prst="rect">
            <a:avLst/>
          </a:prstGeom>
          <a:noFill/>
        </p:spPr>
        <p:txBody>
          <a:bodyPr wrap="square" rtlCol="0">
            <a:spAutoFit/>
          </a:bodyPr>
          <a:lstStyle/>
          <a:p>
            <a:pPr marL="342900" indent="-342900" algn="just" eaLnBrk="1">
              <a:lnSpc>
                <a:spcPct val="120000"/>
              </a:lnSpc>
              <a:buFont typeface="Wingdings" panose="05000000000000000000" pitchFamily="2" charset="2"/>
              <a:buChar char="Ø"/>
              <a:defRPr/>
            </a:pPr>
            <a:r>
              <a:rPr lang="zh-CN" altLang="en-US" sz="2400" b="1" baseline="0" dirty="0">
                <a:latin typeface="+mn-ea"/>
              </a:rPr>
              <a:t>简单振荡回路</a:t>
            </a:r>
            <a:r>
              <a:rPr lang="en-US" altLang="zh-CN" sz="2400" b="1" baseline="0" dirty="0">
                <a:latin typeface="+mn-ea"/>
              </a:rPr>
              <a:t>: </a:t>
            </a:r>
            <a:r>
              <a:rPr lang="zh-CN" altLang="en-US" sz="2400" b="1" baseline="0" dirty="0">
                <a:latin typeface="+mn-ea"/>
              </a:rPr>
              <a:t>是由电感和电容串联或并联形成的回路</a:t>
            </a:r>
            <a:r>
              <a:rPr lang="zh-CN" altLang="en-US" sz="2400" baseline="0" dirty="0">
                <a:latin typeface="+mn-ea"/>
              </a:rPr>
              <a:t>。</a:t>
            </a:r>
          </a:p>
          <a:p>
            <a:pPr algn="just" eaLnBrk="1">
              <a:lnSpc>
                <a:spcPct val="120000"/>
              </a:lnSpc>
              <a:defRPr/>
            </a:pPr>
            <a:endParaRPr lang="zh-CN" altLang="en-US" sz="2000" dirty="0">
              <a:ln w="0"/>
              <a:effectLst>
                <a:glow rad="63500">
                  <a:schemeClr val="accent3">
                    <a:satMod val="175000"/>
                    <a:alpha val="40000"/>
                  </a:schemeClr>
                </a:glow>
              </a:effectLst>
              <a:latin typeface="+mn-ea"/>
              <a:cs typeface="Times New Roman" panose="02020603050405020304" pitchFamily="18" charset="0"/>
            </a:endParaRPr>
          </a:p>
        </p:txBody>
      </p:sp>
      <p:sp>
        <p:nvSpPr>
          <p:cNvPr id="6" name="文本框 5">
            <a:extLst>
              <a:ext uri="{FF2B5EF4-FFF2-40B4-BE49-F238E27FC236}">
                <a16:creationId xmlns:a16="http://schemas.microsoft.com/office/drawing/2014/main" xmlns="" id="{4B165076-E747-DEAB-9967-F5D46B179CD4}"/>
              </a:ext>
            </a:extLst>
          </p:cNvPr>
          <p:cNvSpPr txBox="1"/>
          <p:nvPr/>
        </p:nvSpPr>
        <p:spPr>
          <a:xfrm>
            <a:off x="435872" y="2104450"/>
            <a:ext cx="8136904" cy="867930"/>
          </a:xfrm>
          <a:prstGeom prst="rect">
            <a:avLst/>
          </a:prstGeom>
          <a:noFill/>
          <a:ln w="38100">
            <a:noFill/>
          </a:ln>
        </p:spPr>
        <p:txBody>
          <a:bodyPr wrap="square">
            <a:spAutoFit/>
          </a:bodyPr>
          <a:lstStyle/>
          <a:p>
            <a:pPr>
              <a:lnSpc>
                <a:spcPct val="105000"/>
              </a:lnSpc>
            </a:pPr>
            <a:r>
              <a:rPr lang="zh-CN" altLang="en-US" sz="2400" dirty="0">
                <a:solidFill>
                  <a:srgbClr val="FF0000"/>
                </a:solidFill>
                <a:latin typeface="+mn-ea"/>
              </a:rPr>
              <a:t>作用：</a:t>
            </a:r>
            <a:r>
              <a:rPr lang="zh-CN" altLang="en-US" sz="2400" dirty="0">
                <a:latin typeface="+mn-ea"/>
              </a:rPr>
              <a:t>具有</a:t>
            </a:r>
            <a:r>
              <a:rPr lang="zh-CN" altLang="en-US" sz="2400" dirty="0">
                <a:solidFill>
                  <a:srgbClr val="FF0000"/>
                </a:solidFill>
                <a:latin typeface="+mn-ea"/>
              </a:rPr>
              <a:t>谐振特性和频率选择作用，</a:t>
            </a:r>
            <a:r>
              <a:rPr lang="zh-CN" altLang="en-US" sz="2400" dirty="0">
                <a:latin typeface="+mn-ea"/>
              </a:rPr>
              <a:t>这是它在高频电子线路中得到广泛应用的重要原因</a:t>
            </a:r>
            <a:r>
              <a:rPr lang="zh-CN" altLang="en-US" sz="2400" b="1" dirty="0">
                <a:latin typeface="+mn-ea"/>
              </a:rPr>
              <a:t>。</a:t>
            </a:r>
          </a:p>
        </p:txBody>
      </p:sp>
      <p:sp>
        <p:nvSpPr>
          <p:cNvPr id="7" name="文本框 6">
            <a:extLst>
              <a:ext uri="{FF2B5EF4-FFF2-40B4-BE49-F238E27FC236}">
                <a16:creationId xmlns:a16="http://schemas.microsoft.com/office/drawing/2014/main" xmlns="" id="{83D02B5E-53D6-6285-9622-F77A89EB8BE7}"/>
              </a:ext>
            </a:extLst>
          </p:cNvPr>
          <p:cNvSpPr txBox="1"/>
          <p:nvPr/>
        </p:nvSpPr>
        <p:spPr>
          <a:xfrm>
            <a:off x="866713" y="3050192"/>
            <a:ext cx="3744912" cy="461665"/>
          </a:xfrm>
          <a:prstGeom prst="rect">
            <a:avLst/>
          </a:prstGeom>
          <a:noFill/>
          <a:ln w="9525">
            <a:noFill/>
          </a:ln>
        </p:spPr>
        <p:txBody>
          <a:bodyPr>
            <a:spAutoFit/>
          </a:bodyPr>
          <a:lstStyle/>
          <a:p>
            <a:pPr>
              <a:lnSpc>
                <a:spcPct val="100000"/>
              </a:lnSpc>
              <a:spcBef>
                <a:spcPct val="50000"/>
              </a:spcBef>
            </a:pPr>
            <a:r>
              <a:rPr lang="zh-CN" altLang="en-US" sz="2400" b="1" baseline="0" dirty="0">
                <a:solidFill>
                  <a:srgbClr val="000000"/>
                </a:solidFill>
                <a:latin typeface="+mn-ea"/>
              </a:rPr>
              <a:t>（</a:t>
            </a:r>
            <a:r>
              <a:rPr lang="en-US" altLang="zh-CN" sz="2400" b="1" baseline="0" dirty="0">
                <a:solidFill>
                  <a:srgbClr val="000000"/>
                </a:solidFill>
                <a:latin typeface="+mn-ea"/>
              </a:rPr>
              <a:t>1</a:t>
            </a:r>
            <a:r>
              <a:rPr lang="zh-CN" altLang="en-US" sz="2400" b="1" baseline="0" dirty="0">
                <a:solidFill>
                  <a:srgbClr val="000000"/>
                </a:solidFill>
                <a:latin typeface="+mn-ea"/>
              </a:rPr>
              <a:t>）并联谐振回路</a:t>
            </a:r>
          </a:p>
        </p:txBody>
      </p:sp>
      <p:pic>
        <p:nvPicPr>
          <p:cNvPr id="8" name="图片 7" descr="2-7">
            <a:extLst>
              <a:ext uri="{FF2B5EF4-FFF2-40B4-BE49-F238E27FC236}">
                <a16:creationId xmlns:a16="http://schemas.microsoft.com/office/drawing/2014/main" xmlns="" id="{26BB4128-E236-D274-5BB8-2F7CA6EB0CDD}"/>
              </a:ext>
            </a:extLst>
          </p:cNvPr>
          <p:cNvPicPr>
            <a:picLocks noChangeAspect="1"/>
          </p:cNvPicPr>
          <p:nvPr/>
        </p:nvPicPr>
        <p:blipFill>
          <a:blip r:embed="rId2"/>
          <a:srcRect r="86893" b="18137"/>
          <a:stretch>
            <a:fillRect/>
          </a:stretch>
        </p:blipFill>
        <p:spPr>
          <a:xfrm>
            <a:off x="1356653" y="3540125"/>
            <a:ext cx="1895475" cy="2952750"/>
          </a:xfrm>
          <a:prstGeom prst="rect">
            <a:avLst/>
          </a:prstGeom>
          <a:noFill/>
          <a:ln w="9525">
            <a:noFill/>
          </a:ln>
        </p:spPr>
      </p:pic>
      <p:pic>
        <p:nvPicPr>
          <p:cNvPr id="9" name="图片 8" descr="2-4">
            <a:extLst>
              <a:ext uri="{FF2B5EF4-FFF2-40B4-BE49-F238E27FC236}">
                <a16:creationId xmlns:a16="http://schemas.microsoft.com/office/drawing/2014/main" xmlns="" id="{62095328-8323-E1C8-939C-A5FE01A7974E}"/>
              </a:ext>
            </a:extLst>
          </p:cNvPr>
          <p:cNvPicPr>
            <a:picLocks noChangeAspect="1"/>
          </p:cNvPicPr>
          <p:nvPr/>
        </p:nvPicPr>
        <p:blipFill>
          <a:blip r:embed="rId3"/>
          <a:srcRect l="9567" r="66972" b="61832"/>
          <a:stretch>
            <a:fillRect/>
          </a:stretch>
        </p:blipFill>
        <p:spPr>
          <a:xfrm>
            <a:off x="4979328" y="3835400"/>
            <a:ext cx="2371725" cy="2657475"/>
          </a:xfrm>
          <a:prstGeom prst="rect">
            <a:avLst/>
          </a:prstGeom>
          <a:noFill/>
          <a:ln w="9525">
            <a:noFill/>
          </a:ln>
        </p:spPr>
      </p:pic>
      <p:sp>
        <p:nvSpPr>
          <p:cNvPr id="10" name="文本框 9">
            <a:extLst>
              <a:ext uri="{FF2B5EF4-FFF2-40B4-BE49-F238E27FC236}">
                <a16:creationId xmlns:a16="http://schemas.microsoft.com/office/drawing/2014/main" xmlns="" id="{391334CA-4F66-9CB5-F8F4-7B1E44428AB9}"/>
              </a:ext>
            </a:extLst>
          </p:cNvPr>
          <p:cNvSpPr txBox="1"/>
          <p:nvPr/>
        </p:nvSpPr>
        <p:spPr>
          <a:xfrm>
            <a:off x="4568410" y="3071291"/>
            <a:ext cx="4364576" cy="461665"/>
          </a:xfrm>
          <a:prstGeom prst="rect">
            <a:avLst/>
          </a:prstGeom>
          <a:noFill/>
          <a:ln w="9525">
            <a:noFill/>
          </a:ln>
        </p:spPr>
        <p:txBody>
          <a:bodyPr wrap="square">
            <a:spAutoFit/>
          </a:bodyPr>
          <a:lstStyle/>
          <a:p>
            <a:pPr>
              <a:lnSpc>
                <a:spcPct val="100000"/>
              </a:lnSpc>
              <a:spcBef>
                <a:spcPct val="50000"/>
              </a:spcBef>
            </a:pPr>
            <a:r>
              <a:rPr lang="zh-CN" altLang="en-US" sz="2400" b="1" baseline="0" dirty="0">
                <a:solidFill>
                  <a:srgbClr val="000000"/>
                </a:solidFill>
                <a:latin typeface="+mn-ea"/>
              </a:rPr>
              <a:t>（</a:t>
            </a:r>
            <a:r>
              <a:rPr lang="en-US" altLang="zh-CN" sz="2400" b="1" baseline="0" dirty="0">
                <a:solidFill>
                  <a:srgbClr val="000000"/>
                </a:solidFill>
                <a:latin typeface="+mn-ea"/>
              </a:rPr>
              <a:t>2</a:t>
            </a:r>
            <a:r>
              <a:rPr lang="zh-CN" altLang="en-US" sz="2400" b="1" baseline="0" dirty="0">
                <a:solidFill>
                  <a:srgbClr val="000000"/>
                </a:solidFill>
                <a:latin typeface="+mn-ea"/>
              </a:rPr>
              <a:t>）串联谐振回路</a:t>
            </a:r>
          </a:p>
        </p:txBody>
      </p:sp>
    </p:spTree>
    <p:extLst>
      <p:ext uri="{BB962C8B-B14F-4D97-AF65-F5344CB8AC3E}">
        <p14:creationId xmlns:p14="http://schemas.microsoft.com/office/powerpoint/2010/main" val="214624355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30</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5" name="Text Box 10">
            <a:extLst>
              <a:ext uri="{FF2B5EF4-FFF2-40B4-BE49-F238E27FC236}">
                <a16:creationId xmlns:a16="http://schemas.microsoft.com/office/drawing/2014/main" xmlns="" id="{03BA9BD2-E3A8-05A0-A29D-4229B8459802}"/>
              </a:ext>
            </a:extLst>
          </p:cNvPr>
          <p:cNvSpPr txBox="1">
            <a:spLocks noChangeArrowheads="1"/>
          </p:cNvSpPr>
          <p:nvPr/>
        </p:nvSpPr>
        <p:spPr bwMode="auto">
          <a:xfrm>
            <a:off x="899592" y="430212"/>
            <a:ext cx="684076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8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2.2.3 </a:t>
            </a:r>
            <a:r>
              <a:rPr lang="zh-CN" altLang="en-US" sz="28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并联谐振、串联谐振回路对比总结</a:t>
            </a:r>
          </a:p>
        </p:txBody>
      </p:sp>
      <p:graphicFrame>
        <p:nvGraphicFramePr>
          <p:cNvPr id="6" name="表格 5">
            <a:extLst>
              <a:ext uri="{FF2B5EF4-FFF2-40B4-BE49-F238E27FC236}">
                <a16:creationId xmlns:a16="http://schemas.microsoft.com/office/drawing/2014/main" xmlns="" id="{731A07C0-ADA3-5BBF-50F0-5BF0BC082701}"/>
              </a:ext>
            </a:extLst>
          </p:cNvPr>
          <p:cNvGraphicFramePr>
            <a:graphicFrameLocks noGrp="1"/>
          </p:cNvGraphicFramePr>
          <p:nvPr>
            <p:extLst>
              <p:ext uri="{D42A27DB-BD31-4B8C-83A1-F6EECF244321}">
                <p14:modId xmlns:p14="http://schemas.microsoft.com/office/powerpoint/2010/main" val="4046954054"/>
              </p:ext>
            </p:extLst>
          </p:nvPr>
        </p:nvGraphicFramePr>
        <p:xfrm>
          <a:off x="1614594" y="1325718"/>
          <a:ext cx="7128792" cy="5487658"/>
        </p:xfrm>
        <a:graphic>
          <a:graphicData uri="http://schemas.openxmlformats.org/drawingml/2006/table">
            <a:tbl>
              <a:tblPr firstRow="1" bandRow="1">
                <a:tableStyleId>{5C22544A-7EE6-4342-B048-85BDC9FD1C3A}</a:tableStyleId>
              </a:tblPr>
              <a:tblGrid>
                <a:gridCol w="2376264">
                  <a:extLst>
                    <a:ext uri="{9D8B030D-6E8A-4147-A177-3AD203B41FA5}">
                      <a16:colId xmlns:a16="http://schemas.microsoft.com/office/drawing/2014/main" xmlns="" val="3221659469"/>
                    </a:ext>
                  </a:extLst>
                </a:gridCol>
                <a:gridCol w="2448272">
                  <a:extLst>
                    <a:ext uri="{9D8B030D-6E8A-4147-A177-3AD203B41FA5}">
                      <a16:colId xmlns:a16="http://schemas.microsoft.com/office/drawing/2014/main" xmlns="" val="2252091766"/>
                    </a:ext>
                  </a:extLst>
                </a:gridCol>
                <a:gridCol w="2304256">
                  <a:extLst>
                    <a:ext uri="{9D8B030D-6E8A-4147-A177-3AD203B41FA5}">
                      <a16:colId xmlns:a16="http://schemas.microsoft.com/office/drawing/2014/main" xmlns="" val="3649649036"/>
                    </a:ext>
                  </a:extLst>
                </a:gridCol>
              </a:tblGrid>
              <a:tr h="379385">
                <a:tc>
                  <a:txBody>
                    <a:bodyPr/>
                    <a:lstStyle/>
                    <a:p>
                      <a:endParaRPr lang="zh-CN" altLang="en-US" dirty="0"/>
                    </a:p>
                  </a:txBody>
                  <a:tcPr>
                    <a:solidFill>
                      <a:srgbClr val="EDF6F7"/>
                    </a:solidFill>
                  </a:tcPr>
                </a:tc>
                <a:tc>
                  <a:txBody>
                    <a:bodyPr/>
                    <a:lstStyle/>
                    <a:p>
                      <a:endParaRPr lang="zh-CN" altLang="en-US" dirty="0"/>
                    </a:p>
                  </a:txBody>
                  <a:tcPr>
                    <a:solidFill>
                      <a:srgbClr val="EDF6F7"/>
                    </a:solidFill>
                  </a:tcPr>
                </a:tc>
                <a:tc>
                  <a:txBody>
                    <a:bodyPr/>
                    <a:lstStyle/>
                    <a:p>
                      <a:endParaRPr lang="zh-CN" altLang="en-US" dirty="0"/>
                    </a:p>
                  </a:txBody>
                  <a:tcPr>
                    <a:solidFill>
                      <a:srgbClr val="EDF6F7"/>
                    </a:solidFill>
                  </a:tcPr>
                </a:tc>
                <a:extLst>
                  <a:ext uri="{0D108BD9-81ED-4DB2-BD59-A6C34878D82A}">
                    <a16:rowId xmlns:a16="http://schemas.microsoft.com/office/drawing/2014/main" xmlns="" val="3519314796"/>
                  </a:ext>
                </a:extLst>
              </a:tr>
              <a:tr h="379385">
                <a:tc>
                  <a:txBody>
                    <a:bodyPr/>
                    <a:lstStyle/>
                    <a:p>
                      <a:endParaRPr lang="zh-CN" altLang="en-US" dirty="0"/>
                    </a:p>
                  </a:txBody>
                  <a:tcPr>
                    <a:solidFill>
                      <a:srgbClr val="EDF6F7"/>
                    </a:solidFill>
                  </a:tcPr>
                </a:tc>
                <a:tc>
                  <a:txBody>
                    <a:bodyPr/>
                    <a:lstStyle/>
                    <a:p>
                      <a:endParaRPr lang="zh-CN" altLang="en-US" dirty="0"/>
                    </a:p>
                  </a:txBody>
                  <a:tcPr>
                    <a:solidFill>
                      <a:srgbClr val="EDF6F7"/>
                    </a:solidFill>
                  </a:tcPr>
                </a:tc>
                <a:tc>
                  <a:txBody>
                    <a:bodyPr/>
                    <a:lstStyle/>
                    <a:p>
                      <a:endParaRPr lang="zh-CN" altLang="en-US" dirty="0"/>
                    </a:p>
                  </a:txBody>
                  <a:tcPr>
                    <a:solidFill>
                      <a:srgbClr val="EDF6F7"/>
                    </a:solidFill>
                  </a:tcPr>
                </a:tc>
                <a:extLst>
                  <a:ext uri="{0D108BD9-81ED-4DB2-BD59-A6C34878D82A}">
                    <a16:rowId xmlns:a16="http://schemas.microsoft.com/office/drawing/2014/main" xmlns="" val="1579642549"/>
                  </a:ext>
                </a:extLst>
              </a:tr>
              <a:tr h="379385">
                <a:tc>
                  <a:txBody>
                    <a:bodyPr/>
                    <a:lstStyle/>
                    <a:p>
                      <a:endParaRPr lang="zh-CN" altLang="en-US" dirty="0"/>
                    </a:p>
                  </a:txBody>
                  <a:tcPr>
                    <a:solidFill>
                      <a:srgbClr val="EDF6F7"/>
                    </a:solidFill>
                  </a:tcPr>
                </a:tc>
                <a:tc>
                  <a:txBody>
                    <a:bodyPr/>
                    <a:lstStyle/>
                    <a:p>
                      <a:endParaRPr lang="zh-CN" altLang="en-US" dirty="0"/>
                    </a:p>
                  </a:txBody>
                  <a:tcPr>
                    <a:solidFill>
                      <a:srgbClr val="EDF6F7"/>
                    </a:solidFill>
                  </a:tcPr>
                </a:tc>
                <a:tc>
                  <a:txBody>
                    <a:bodyPr/>
                    <a:lstStyle/>
                    <a:p>
                      <a:endParaRPr lang="zh-CN" altLang="en-US" dirty="0"/>
                    </a:p>
                  </a:txBody>
                  <a:tcPr>
                    <a:solidFill>
                      <a:srgbClr val="EDF6F7"/>
                    </a:solidFill>
                  </a:tcPr>
                </a:tc>
                <a:extLst>
                  <a:ext uri="{0D108BD9-81ED-4DB2-BD59-A6C34878D82A}">
                    <a16:rowId xmlns:a16="http://schemas.microsoft.com/office/drawing/2014/main" xmlns="" val="1557888162"/>
                  </a:ext>
                </a:extLst>
              </a:tr>
              <a:tr h="379385">
                <a:tc>
                  <a:txBody>
                    <a:bodyPr/>
                    <a:lstStyle/>
                    <a:p>
                      <a:endParaRPr lang="zh-CN" altLang="en-US" sz="1400" kern="1200" baseline="0" dirty="0">
                        <a:solidFill>
                          <a:schemeClr val="tx1"/>
                        </a:solidFill>
                        <a:latin typeface="Times New Roman" panose="02020603050405020304" pitchFamily="18" charset="0"/>
                        <a:ea typeface="华康简宋" charset="-122"/>
                        <a:cs typeface="+mn-cs"/>
                      </a:endParaRPr>
                    </a:p>
                  </a:txBody>
                  <a:tcPr>
                    <a:solidFill>
                      <a:srgbClr val="EDF6F7"/>
                    </a:solidFill>
                  </a:tcPr>
                </a:tc>
                <a:tc>
                  <a:txBody>
                    <a:bodyPr/>
                    <a:lstStyle/>
                    <a:p>
                      <a:endParaRPr lang="zh-CN" altLang="en-US" dirty="0"/>
                    </a:p>
                  </a:txBody>
                  <a:tcPr>
                    <a:solidFill>
                      <a:srgbClr val="EDF6F7"/>
                    </a:solidFill>
                  </a:tcPr>
                </a:tc>
                <a:tc>
                  <a:txBody>
                    <a:bodyPr/>
                    <a:lstStyle/>
                    <a:p>
                      <a:endParaRPr lang="zh-CN" altLang="en-US" dirty="0"/>
                    </a:p>
                  </a:txBody>
                  <a:tcPr>
                    <a:solidFill>
                      <a:srgbClr val="EDF6F7"/>
                    </a:solidFill>
                  </a:tcPr>
                </a:tc>
                <a:extLst>
                  <a:ext uri="{0D108BD9-81ED-4DB2-BD59-A6C34878D82A}">
                    <a16:rowId xmlns:a16="http://schemas.microsoft.com/office/drawing/2014/main" xmlns="" val="4258906556"/>
                  </a:ext>
                </a:extLst>
              </a:tr>
              <a:tr h="1060814">
                <a:tc>
                  <a:txBody>
                    <a:bodyPr/>
                    <a:lstStyle/>
                    <a:p>
                      <a:endParaRPr lang="zh-CN" altLang="en-US" dirty="0"/>
                    </a:p>
                  </a:txBody>
                  <a:tcPr>
                    <a:solidFill>
                      <a:srgbClr val="EDF6F7"/>
                    </a:solidFill>
                  </a:tcPr>
                </a:tc>
                <a:tc>
                  <a:txBody>
                    <a:bodyPr/>
                    <a:lstStyle/>
                    <a:p>
                      <a:endParaRPr lang="zh-CN" altLang="en-US" dirty="0"/>
                    </a:p>
                  </a:txBody>
                  <a:tcPr>
                    <a:solidFill>
                      <a:srgbClr val="EDF6F7"/>
                    </a:solidFill>
                  </a:tcPr>
                </a:tc>
                <a:tc>
                  <a:txBody>
                    <a:bodyPr/>
                    <a:lstStyle/>
                    <a:p>
                      <a:endParaRPr lang="zh-CN" altLang="en-US" dirty="0"/>
                    </a:p>
                  </a:txBody>
                  <a:tcPr>
                    <a:solidFill>
                      <a:srgbClr val="EDF6F7"/>
                    </a:solidFill>
                  </a:tcPr>
                </a:tc>
                <a:extLst>
                  <a:ext uri="{0D108BD9-81ED-4DB2-BD59-A6C34878D82A}">
                    <a16:rowId xmlns:a16="http://schemas.microsoft.com/office/drawing/2014/main" xmlns="" val="2811595736"/>
                  </a:ext>
                </a:extLst>
              </a:tr>
              <a:tr h="515671">
                <a:tc>
                  <a:txBody>
                    <a:bodyPr/>
                    <a:lstStyle/>
                    <a:p>
                      <a:endParaRPr lang="zh-CN" altLang="en-US" dirty="0"/>
                    </a:p>
                  </a:txBody>
                  <a:tcPr>
                    <a:solidFill>
                      <a:srgbClr val="EDF6F7"/>
                    </a:solidFill>
                  </a:tcPr>
                </a:tc>
                <a:tc>
                  <a:txBody>
                    <a:bodyPr/>
                    <a:lstStyle/>
                    <a:p>
                      <a:endParaRPr lang="zh-CN" altLang="en-US" dirty="0"/>
                    </a:p>
                  </a:txBody>
                  <a:tcPr>
                    <a:solidFill>
                      <a:srgbClr val="EDF6F7"/>
                    </a:solidFill>
                  </a:tcPr>
                </a:tc>
                <a:tc>
                  <a:txBody>
                    <a:bodyPr/>
                    <a:lstStyle/>
                    <a:p>
                      <a:endParaRPr lang="zh-CN" altLang="en-US" dirty="0"/>
                    </a:p>
                  </a:txBody>
                  <a:tcPr>
                    <a:solidFill>
                      <a:srgbClr val="EDF6F7"/>
                    </a:solidFill>
                  </a:tcPr>
                </a:tc>
                <a:extLst>
                  <a:ext uri="{0D108BD9-81ED-4DB2-BD59-A6C34878D82A}">
                    <a16:rowId xmlns:a16="http://schemas.microsoft.com/office/drawing/2014/main" xmlns="" val="2217785769"/>
                  </a:ext>
                </a:extLst>
              </a:tr>
              <a:tr h="810340">
                <a:tc>
                  <a:txBody>
                    <a:bodyPr/>
                    <a:lstStyle/>
                    <a:p>
                      <a:endParaRPr lang="zh-CN" altLang="en-US"/>
                    </a:p>
                  </a:txBody>
                  <a:tcPr>
                    <a:solidFill>
                      <a:srgbClr val="EDF6F7"/>
                    </a:solidFill>
                  </a:tcPr>
                </a:tc>
                <a:tc>
                  <a:txBody>
                    <a:bodyPr/>
                    <a:lstStyle/>
                    <a:p>
                      <a:endParaRPr lang="zh-CN" altLang="en-US" dirty="0"/>
                    </a:p>
                  </a:txBody>
                  <a:tcPr>
                    <a:solidFill>
                      <a:srgbClr val="EDF6F7"/>
                    </a:solidFill>
                  </a:tcPr>
                </a:tc>
                <a:tc>
                  <a:txBody>
                    <a:bodyPr/>
                    <a:lstStyle/>
                    <a:p>
                      <a:endParaRPr lang="zh-CN" altLang="en-US" dirty="0"/>
                    </a:p>
                  </a:txBody>
                  <a:tcPr>
                    <a:solidFill>
                      <a:srgbClr val="EDF6F7"/>
                    </a:solidFill>
                  </a:tcPr>
                </a:tc>
                <a:extLst>
                  <a:ext uri="{0D108BD9-81ED-4DB2-BD59-A6C34878D82A}">
                    <a16:rowId xmlns:a16="http://schemas.microsoft.com/office/drawing/2014/main" xmlns="" val="2827756161"/>
                  </a:ext>
                </a:extLst>
              </a:tr>
              <a:tr h="650117">
                <a:tc>
                  <a:txBody>
                    <a:bodyPr/>
                    <a:lstStyle/>
                    <a:p>
                      <a:endParaRPr lang="zh-CN" altLang="en-US"/>
                    </a:p>
                  </a:txBody>
                  <a:tcPr>
                    <a:solidFill>
                      <a:srgbClr val="EDF6F7"/>
                    </a:solidFill>
                  </a:tcPr>
                </a:tc>
                <a:tc>
                  <a:txBody>
                    <a:bodyPr/>
                    <a:lstStyle/>
                    <a:p>
                      <a:endParaRPr lang="zh-CN" altLang="en-US" dirty="0"/>
                    </a:p>
                  </a:txBody>
                  <a:tcPr>
                    <a:solidFill>
                      <a:srgbClr val="EDF6F7"/>
                    </a:solidFill>
                  </a:tcPr>
                </a:tc>
                <a:tc>
                  <a:txBody>
                    <a:bodyPr/>
                    <a:lstStyle/>
                    <a:p>
                      <a:endParaRPr lang="zh-CN" altLang="en-US" dirty="0"/>
                    </a:p>
                  </a:txBody>
                  <a:tcPr>
                    <a:solidFill>
                      <a:srgbClr val="EDF6F7"/>
                    </a:solidFill>
                  </a:tcPr>
                </a:tc>
                <a:extLst>
                  <a:ext uri="{0D108BD9-81ED-4DB2-BD59-A6C34878D82A}">
                    <a16:rowId xmlns:a16="http://schemas.microsoft.com/office/drawing/2014/main" xmlns="" val="1526735469"/>
                  </a:ext>
                </a:extLst>
              </a:tr>
              <a:tr h="429120">
                <a:tc>
                  <a:txBody>
                    <a:bodyPr/>
                    <a:lstStyle/>
                    <a:p>
                      <a:endParaRPr lang="zh-CN" altLang="en-US"/>
                    </a:p>
                  </a:txBody>
                  <a:tcPr>
                    <a:solidFill>
                      <a:srgbClr val="EDF6F7"/>
                    </a:solidFill>
                  </a:tcPr>
                </a:tc>
                <a:tc>
                  <a:txBody>
                    <a:bodyPr/>
                    <a:lstStyle/>
                    <a:p>
                      <a:endParaRPr lang="zh-CN" altLang="en-US" dirty="0"/>
                    </a:p>
                  </a:txBody>
                  <a:tcPr>
                    <a:solidFill>
                      <a:srgbClr val="EDF6F7"/>
                    </a:solidFill>
                  </a:tcPr>
                </a:tc>
                <a:tc>
                  <a:txBody>
                    <a:bodyPr/>
                    <a:lstStyle/>
                    <a:p>
                      <a:endParaRPr lang="zh-CN" altLang="en-US" dirty="0"/>
                    </a:p>
                  </a:txBody>
                  <a:tcPr>
                    <a:solidFill>
                      <a:srgbClr val="EDF6F7"/>
                    </a:solidFill>
                  </a:tcPr>
                </a:tc>
                <a:extLst>
                  <a:ext uri="{0D108BD9-81ED-4DB2-BD59-A6C34878D82A}">
                    <a16:rowId xmlns:a16="http://schemas.microsoft.com/office/drawing/2014/main" xmlns="" val="857872792"/>
                  </a:ext>
                </a:extLst>
              </a:tr>
              <a:tr h="504056">
                <a:tc>
                  <a:txBody>
                    <a:bodyPr/>
                    <a:lstStyle/>
                    <a:p>
                      <a:endParaRPr lang="zh-CN" altLang="en-US"/>
                    </a:p>
                  </a:txBody>
                  <a:tcPr>
                    <a:solidFill>
                      <a:srgbClr val="EDF6F7"/>
                    </a:solidFill>
                  </a:tcPr>
                </a:tc>
                <a:tc>
                  <a:txBody>
                    <a:bodyPr/>
                    <a:lstStyle/>
                    <a:p>
                      <a:endParaRPr lang="zh-CN" altLang="en-US" dirty="0"/>
                    </a:p>
                  </a:txBody>
                  <a:tcPr>
                    <a:solidFill>
                      <a:srgbClr val="EDF6F7"/>
                    </a:solidFill>
                  </a:tcPr>
                </a:tc>
                <a:tc>
                  <a:txBody>
                    <a:bodyPr/>
                    <a:lstStyle/>
                    <a:p>
                      <a:endParaRPr lang="zh-CN" altLang="en-US" dirty="0"/>
                    </a:p>
                  </a:txBody>
                  <a:tcPr>
                    <a:solidFill>
                      <a:srgbClr val="EDF6F7"/>
                    </a:solidFill>
                  </a:tcPr>
                </a:tc>
                <a:extLst>
                  <a:ext uri="{0D108BD9-81ED-4DB2-BD59-A6C34878D82A}">
                    <a16:rowId xmlns:a16="http://schemas.microsoft.com/office/drawing/2014/main" xmlns="" val="2067565191"/>
                  </a:ext>
                </a:extLst>
              </a:tr>
            </a:tbl>
          </a:graphicData>
        </a:graphic>
      </p:graphicFrame>
      <p:sp>
        <p:nvSpPr>
          <p:cNvPr id="7" name="矩形 302338">
            <a:extLst>
              <a:ext uri="{FF2B5EF4-FFF2-40B4-BE49-F238E27FC236}">
                <a16:creationId xmlns:a16="http://schemas.microsoft.com/office/drawing/2014/main" xmlns="" id="{EE078F9C-2B32-D36A-F929-73ADAE71A943}"/>
              </a:ext>
            </a:extLst>
          </p:cNvPr>
          <p:cNvSpPr/>
          <p:nvPr/>
        </p:nvSpPr>
        <p:spPr>
          <a:xfrm>
            <a:off x="4644014" y="1303468"/>
            <a:ext cx="1296144" cy="440421"/>
          </a:xfrm>
          <a:prstGeom prst="rect">
            <a:avLst/>
          </a:prstGeom>
          <a:noFill/>
          <a:ln w="9525">
            <a:noFill/>
          </a:ln>
        </p:spPr>
        <p:txBody>
          <a:bodyPr tIns="126960" bIns="126960"/>
          <a:lstStyle/>
          <a:p>
            <a:pPr algn="just">
              <a:lnSpc>
                <a:spcPct val="100000"/>
              </a:lnSpc>
              <a:buNone/>
            </a:pPr>
            <a:r>
              <a:rPr lang="zh-CN" altLang="en-US" sz="1400" baseline="0" dirty="0">
                <a:latin typeface="Times New Roman" panose="02020603050405020304" pitchFamily="18" charset="0"/>
                <a:ea typeface="华康简宋" charset="-122"/>
              </a:rPr>
              <a:t>串联谐振回路</a:t>
            </a:r>
            <a:endParaRPr lang="zh-CN" altLang="en-US" sz="1400" baseline="0" dirty="0">
              <a:latin typeface="Times New Roman" panose="02020603050405020304" pitchFamily="18" charset="0"/>
              <a:ea typeface="宋体" panose="02010600030101010101" pitchFamily="2" charset="-122"/>
            </a:endParaRPr>
          </a:p>
          <a:p>
            <a:pPr algn="just" eaLnBrk="0" hangingPunct="0">
              <a:lnSpc>
                <a:spcPct val="100000"/>
              </a:lnSpc>
              <a:buNone/>
            </a:pPr>
            <a:endParaRPr lang="zh-CN" altLang="en-US" sz="1800" baseline="0" dirty="0">
              <a:latin typeface="Arial" panose="020B0604020202020204" pitchFamily="34" charset="0"/>
              <a:ea typeface="宋体" panose="02010600030101010101" pitchFamily="2" charset="-122"/>
            </a:endParaRPr>
          </a:p>
        </p:txBody>
      </p:sp>
      <p:sp>
        <p:nvSpPr>
          <p:cNvPr id="8" name="矩形 302339">
            <a:extLst>
              <a:ext uri="{FF2B5EF4-FFF2-40B4-BE49-F238E27FC236}">
                <a16:creationId xmlns:a16="http://schemas.microsoft.com/office/drawing/2014/main" xmlns="" id="{6E692151-7BA8-C421-0FAF-BF884FC04585}"/>
              </a:ext>
            </a:extLst>
          </p:cNvPr>
          <p:cNvSpPr/>
          <p:nvPr/>
        </p:nvSpPr>
        <p:spPr>
          <a:xfrm>
            <a:off x="6714855" y="1323152"/>
            <a:ext cx="2445144" cy="548421"/>
          </a:xfrm>
          <a:prstGeom prst="rect">
            <a:avLst/>
          </a:prstGeom>
          <a:noFill/>
          <a:ln w="9525">
            <a:noFill/>
          </a:ln>
        </p:spPr>
        <p:txBody>
          <a:bodyPr tIns="126960" bIns="126960"/>
          <a:lstStyle/>
          <a:p>
            <a:pPr algn="just">
              <a:lnSpc>
                <a:spcPct val="100000"/>
              </a:lnSpc>
              <a:buNone/>
            </a:pPr>
            <a:r>
              <a:rPr lang="zh-CN" altLang="en-US" sz="1400" baseline="0" dirty="0">
                <a:latin typeface="Times New Roman" panose="02020603050405020304" pitchFamily="18" charset="0"/>
                <a:ea typeface="华康简宋" charset="-122"/>
              </a:rPr>
              <a:t>并联谐振回路</a:t>
            </a:r>
            <a:endParaRPr lang="zh-CN" altLang="en-US" sz="1400" baseline="0" dirty="0">
              <a:latin typeface="Times New Roman" panose="02020603050405020304" pitchFamily="18" charset="0"/>
              <a:ea typeface="宋体" panose="02010600030101010101" pitchFamily="2" charset="-122"/>
            </a:endParaRPr>
          </a:p>
          <a:p>
            <a:pPr algn="just" eaLnBrk="0" hangingPunct="0">
              <a:lnSpc>
                <a:spcPct val="100000"/>
              </a:lnSpc>
              <a:buNone/>
            </a:pPr>
            <a:endParaRPr lang="zh-CN" altLang="en-US" sz="1800" baseline="0" dirty="0">
              <a:latin typeface="Arial" panose="020B0604020202020204" pitchFamily="34" charset="0"/>
              <a:ea typeface="宋体" panose="02010600030101010101" pitchFamily="2" charset="-122"/>
            </a:endParaRPr>
          </a:p>
        </p:txBody>
      </p:sp>
      <p:sp>
        <p:nvSpPr>
          <p:cNvPr id="9" name="矩形 302340">
            <a:extLst>
              <a:ext uri="{FF2B5EF4-FFF2-40B4-BE49-F238E27FC236}">
                <a16:creationId xmlns:a16="http://schemas.microsoft.com/office/drawing/2014/main" xmlns="" id="{35ED2C76-1CCC-4812-241E-DF3D4F5E2A27}"/>
              </a:ext>
            </a:extLst>
          </p:cNvPr>
          <p:cNvSpPr/>
          <p:nvPr/>
        </p:nvSpPr>
        <p:spPr>
          <a:xfrm>
            <a:off x="1870923" y="1667690"/>
            <a:ext cx="1767878" cy="372902"/>
          </a:xfrm>
          <a:prstGeom prst="rect">
            <a:avLst/>
          </a:prstGeom>
          <a:noFill/>
          <a:ln w="9525">
            <a:noFill/>
          </a:ln>
        </p:spPr>
        <p:txBody>
          <a:bodyPr tIns="126960" bIns="126960"/>
          <a:lstStyle/>
          <a:p>
            <a:pPr indent="269875" algn="just">
              <a:lnSpc>
                <a:spcPct val="100000"/>
              </a:lnSpc>
              <a:buNone/>
            </a:pPr>
            <a:r>
              <a:rPr lang="zh-CN" altLang="en-US" sz="1400" baseline="0" dirty="0">
                <a:latin typeface="Times New Roman" panose="02020603050405020304" pitchFamily="18" charset="0"/>
                <a:ea typeface="华康简宋" charset="-122"/>
              </a:rPr>
              <a:t>阻抗或导纳</a:t>
            </a:r>
            <a:endParaRPr lang="zh-CN" altLang="en-US" sz="1400" baseline="0" dirty="0">
              <a:latin typeface="Times New Roman" panose="02020603050405020304" pitchFamily="18" charset="0"/>
            </a:endParaRPr>
          </a:p>
          <a:p>
            <a:pPr indent="269875" algn="just" eaLnBrk="0" hangingPunct="0">
              <a:lnSpc>
                <a:spcPct val="100000"/>
              </a:lnSpc>
              <a:buNone/>
            </a:pPr>
            <a:r>
              <a:rPr lang="en-US" altLang="zh-CN" sz="1050" baseline="0" dirty="0">
                <a:latin typeface="Times New Roman" panose="02020603050405020304" pitchFamily="18" charset="0"/>
                <a:ea typeface="宋体" panose="02010600030101010101" pitchFamily="2" charset="-122"/>
              </a:rPr>
              <a:t> </a:t>
            </a:r>
          </a:p>
          <a:p>
            <a:pPr indent="269875" algn="just" eaLnBrk="0" hangingPunct="0">
              <a:lnSpc>
                <a:spcPct val="100000"/>
              </a:lnSpc>
              <a:buNone/>
            </a:pPr>
            <a:endParaRPr lang="en-US" altLang="zh-CN" sz="2000" baseline="0" dirty="0">
              <a:latin typeface="Arial" panose="020B0604020202020204" pitchFamily="34" charset="0"/>
              <a:ea typeface="宋体" panose="02010600030101010101" pitchFamily="2" charset="-122"/>
            </a:endParaRPr>
          </a:p>
        </p:txBody>
      </p:sp>
      <p:sp>
        <p:nvSpPr>
          <p:cNvPr id="10" name="矩形 302439">
            <a:extLst>
              <a:ext uri="{FF2B5EF4-FFF2-40B4-BE49-F238E27FC236}">
                <a16:creationId xmlns:a16="http://schemas.microsoft.com/office/drawing/2014/main" xmlns="" id="{AC01038B-E70D-AF1C-D022-3F45D6AC10A4}"/>
              </a:ext>
            </a:extLst>
          </p:cNvPr>
          <p:cNvSpPr/>
          <p:nvPr/>
        </p:nvSpPr>
        <p:spPr>
          <a:xfrm>
            <a:off x="3930257" y="1667689"/>
            <a:ext cx="2159000" cy="436563"/>
          </a:xfrm>
          <a:prstGeom prst="rect">
            <a:avLst/>
          </a:prstGeom>
          <a:noFill/>
          <a:ln w="9525">
            <a:noFill/>
          </a:ln>
        </p:spPr>
        <p:txBody>
          <a:bodyPr tIns="126960" bIns="126960">
            <a:spAutoFit/>
          </a:bodyPr>
          <a:lstStyle/>
          <a:p>
            <a:pPr>
              <a:lnSpc>
                <a:spcPct val="100000"/>
              </a:lnSpc>
              <a:buNone/>
            </a:pPr>
            <a:r>
              <a:rPr lang="en-US" altLang="zh-CN" sz="1200" i="1" baseline="0" dirty="0">
                <a:latin typeface="Times New Roman" panose="02020603050405020304" pitchFamily="18" charset="0"/>
                <a:ea typeface="宋体" panose="02010600030101010101" pitchFamily="2" charset="-122"/>
              </a:rPr>
              <a:t>z</a:t>
            </a:r>
            <a:r>
              <a:rPr lang="en-US" altLang="zh-CN" sz="1200" baseline="0" dirty="0">
                <a:latin typeface="Times New Roman" panose="02020603050405020304" pitchFamily="18" charset="0"/>
                <a:ea typeface="宋体" panose="02010600030101010101" pitchFamily="2" charset="-122"/>
              </a:rPr>
              <a:t> = </a:t>
            </a:r>
            <a:r>
              <a:rPr lang="en-US" altLang="zh-CN" sz="1200" i="1" baseline="0" dirty="0">
                <a:latin typeface="Times New Roman" panose="02020603050405020304" pitchFamily="18" charset="0"/>
                <a:ea typeface="宋体" panose="02010600030101010101" pitchFamily="2" charset="-122"/>
              </a:rPr>
              <a:t>R</a:t>
            </a:r>
            <a:r>
              <a:rPr lang="en-US" altLang="zh-CN" sz="1200" baseline="0" dirty="0">
                <a:latin typeface="Times New Roman" panose="02020603050405020304" pitchFamily="18" charset="0"/>
                <a:ea typeface="宋体" panose="02010600030101010101" pitchFamily="2" charset="-122"/>
              </a:rPr>
              <a:t> + </a:t>
            </a:r>
            <a:r>
              <a:rPr lang="en-US" altLang="zh-CN" sz="1200" i="1" baseline="0" dirty="0">
                <a:latin typeface="Times New Roman" panose="02020603050405020304" pitchFamily="18" charset="0"/>
                <a:ea typeface="宋体" panose="02010600030101010101" pitchFamily="2" charset="-122"/>
              </a:rPr>
              <a:t>jx</a:t>
            </a:r>
            <a:r>
              <a:rPr lang="en-US" altLang="zh-CN" sz="1200" baseline="0" dirty="0">
                <a:latin typeface="Times New Roman" panose="02020603050405020304" pitchFamily="18" charset="0"/>
                <a:ea typeface="宋体" panose="02010600030101010101" pitchFamily="2" charset="-122"/>
              </a:rPr>
              <a:t> = </a:t>
            </a:r>
            <a:r>
              <a:rPr lang="en-US" altLang="zh-CN" sz="1200" i="1" baseline="0" dirty="0">
                <a:latin typeface="Times New Roman" panose="02020603050405020304" pitchFamily="18" charset="0"/>
                <a:ea typeface="宋体" panose="02010600030101010101" pitchFamily="2" charset="-122"/>
              </a:rPr>
              <a:t>R</a:t>
            </a:r>
            <a:r>
              <a:rPr lang="en-US" altLang="zh-CN" sz="1200" baseline="0" dirty="0">
                <a:latin typeface="Times New Roman" panose="02020603050405020304" pitchFamily="18" charset="0"/>
                <a:ea typeface="宋体" panose="02010600030101010101" pitchFamily="2" charset="-122"/>
              </a:rPr>
              <a:t>+</a:t>
            </a:r>
            <a:r>
              <a:rPr lang="en-US" altLang="zh-CN" sz="1200" i="1" baseline="0" dirty="0">
                <a:latin typeface="Times New Roman" panose="02020603050405020304" pitchFamily="18" charset="0"/>
                <a:ea typeface="宋体" panose="02010600030101010101" pitchFamily="2" charset="-122"/>
              </a:rPr>
              <a:t>j</a:t>
            </a:r>
            <a:r>
              <a:rPr lang="en-US" altLang="zh-CN" sz="1200" baseline="0" dirty="0">
                <a:latin typeface="Times New Roman" panose="02020603050405020304" pitchFamily="18" charset="0"/>
                <a:ea typeface="宋体" panose="02010600030101010101" pitchFamily="2" charset="-122"/>
              </a:rPr>
              <a:t> (</a:t>
            </a:r>
            <a:r>
              <a:rPr lang="en-US" altLang="zh-CN" sz="1200" i="1" baseline="0" dirty="0">
                <a:latin typeface="Times New Roman" panose="02020603050405020304" pitchFamily="18" charset="0"/>
                <a:ea typeface="宋体" panose="02010600030101010101" pitchFamily="2" charset="-122"/>
                <a:sym typeface="Symbol" panose="05050102010706020507" pitchFamily="18" charset="2"/>
              </a:rPr>
              <a:t>L-</a:t>
            </a:r>
            <a:r>
              <a:rPr lang="en-US" altLang="zh-CN" sz="1200" baseline="0" dirty="0">
                <a:latin typeface="Times New Roman" panose="02020603050405020304" pitchFamily="18" charset="0"/>
                <a:ea typeface="宋体" panose="02010600030101010101" pitchFamily="2" charset="-122"/>
                <a:sym typeface="Symbol" panose="05050102010706020507" pitchFamily="18" charset="2"/>
              </a:rPr>
              <a:t>        </a:t>
            </a:r>
            <a:r>
              <a:rPr lang="en-US" altLang="zh-CN" sz="1200" i="1" baseline="0" dirty="0">
                <a:latin typeface="Times New Roman" panose="02020603050405020304" pitchFamily="18" charset="0"/>
                <a:ea typeface="宋体" panose="02010600030101010101" pitchFamily="2" charset="-122"/>
                <a:sym typeface="Symbol" panose="05050102010706020507" pitchFamily="18" charset="2"/>
              </a:rPr>
              <a:t>) = </a:t>
            </a:r>
          </a:p>
        </p:txBody>
      </p:sp>
      <p:graphicFrame>
        <p:nvGraphicFramePr>
          <p:cNvPr id="11" name="对象 10">
            <a:extLst>
              <a:ext uri="{FF2B5EF4-FFF2-40B4-BE49-F238E27FC236}">
                <a16:creationId xmlns:a16="http://schemas.microsoft.com/office/drawing/2014/main" xmlns="" id="{57D26740-2961-60D8-045C-E955343ABF07}"/>
              </a:ext>
            </a:extLst>
          </p:cNvPr>
          <p:cNvGraphicFramePr>
            <a:graphicFrameLocks noChangeAspect="1"/>
          </p:cNvGraphicFramePr>
          <p:nvPr>
            <p:extLst>
              <p:ext uri="{D42A27DB-BD31-4B8C-83A1-F6EECF244321}">
                <p14:modId xmlns:p14="http://schemas.microsoft.com/office/powerpoint/2010/main" val="3413197020"/>
              </p:ext>
            </p:extLst>
          </p:nvPr>
        </p:nvGraphicFramePr>
        <p:xfrm>
          <a:off x="5349534" y="1690708"/>
          <a:ext cx="238125" cy="390525"/>
        </p:xfrm>
        <a:graphic>
          <a:graphicData uri="http://schemas.openxmlformats.org/presentationml/2006/ole">
            <mc:AlternateContent xmlns:mc="http://schemas.openxmlformats.org/markup-compatibility/2006">
              <mc:Choice xmlns:v="urn:schemas-microsoft-com:vml" Requires="v">
                <p:oleObj spid="_x0000_s201846" name="Equation" r:id="rId3" imgW="237978" imgH="390254" progId="Equation.DSMT4">
                  <p:embed/>
                </p:oleObj>
              </mc:Choice>
              <mc:Fallback>
                <p:oleObj name="Equation" r:id="rId3" imgW="237978" imgH="390254" progId="Equation.DSMT4">
                  <p:embed/>
                  <p:pic>
                    <p:nvPicPr>
                      <p:cNvPr id="0" name=""/>
                      <p:cNvPicPr/>
                      <p:nvPr/>
                    </p:nvPicPr>
                    <p:blipFill>
                      <a:blip r:embed="rId4"/>
                      <a:stretch>
                        <a:fillRect/>
                      </a:stretch>
                    </p:blipFill>
                    <p:spPr>
                      <a:xfrm>
                        <a:off x="5349534" y="1690708"/>
                        <a:ext cx="238125" cy="390525"/>
                      </a:xfrm>
                      <a:prstGeom prst="rect">
                        <a:avLst/>
                      </a:prstGeom>
                    </p:spPr>
                  </p:pic>
                </p:oleObj>
              </mc:Fallback>
            </mc:AlternateContent>
          </a:graphicData>
        </a:graphic>
      </p:graphicFrame>
      <p:graphicFrame>
        <p:nvGraphicFramePr>
          <p:cNvPr id="12" name="对象 11">
            <a:extLst>
              <a:ext uri="{FF2B5EF4-FFF2-40B4-BE49-F238E27FC236}">
                <a16:creationId xmlns:a16="http://schemas.microsoft.com/office/drawing/2014/main" xmlns="" id="{AA504571-4EC1-3F3C-01C6-82B2EAB71765}"/>
              </a:ext>
            </a:extLst>
          </p:cNvPr>
          <p:cNvGraphicFramePr>
            <a:graphicFrameLocks noChangeAspect="1"/>
          </p:cNvGraphicFramePr>
          <p:nvPr>
            <p:extLst>
              <p:ext uri="{D42A27DB-BD31-4B8C-83A1-F6EECF244321}">
                <p14:modId xmlns:p14="http://schemas.microsoft.com/office/powerpoint/2010/main" val="958110115"/>
              </p:ext>
            </p:extLst>
          </p:nvPr>
        </p:nvGraphicFramePr>
        <p:xfrm>
          <a:off x="5797801" y="1738332"/>
          <a:ext cx="457200" cy="295275"/>
        </p:xfrm>
        <a:graphic>
          <a:graphicData uri="http://schemas.openxmlformats.org/presentationml/2006/ole">
            <mc:AlternateContent xmlns:mc="http://schemas.openxmlformats.org/markup-compatibility/2006">
              <mc:Choice xmlns:v="urn:schemas-microsoft-com:vml" Requires="v">
                <p:oleObj spid="_x0000_s201847" name="Equation" r:id="rId5" imgW="457234" imgH="295931" progId="Equation.DSMT4">
                  <p:embed/>
                </p:oleObj>
              </mc:Choice>
              <mc:Fallback>
                <p:oleObj name="Equation" r:id="rId5" imgW="457234" imgH="295931" progId="Equation.DSMT4">
                  <p:embed/>
                  <p:pic>
                    <p:nvPicPr>
                      <p:cNvPr id="0" name=""/>
                      <p:cNvPicPr/>
                      <p:nvPr/>
                    </p:nvPicPr>
                    <p:blipFill>
                      <a:blip r:embed="rId6"/>
                      <a:stretch>
                        <a:fillRect/>
                      </a:stretch>
                    </p:blipFill>
                    <p:spPr>
                      <a:xfrm>
                        <a:off x="5797801" y="1738332"/>
                        <a:ext cx="457200" cy="295275"/>
                      </a:xfrm>
                      <a:prstGeom prst="rect">
                        <a:avLst/>
                      </a:prstGeom>
                    </p:spPr>
                  </p:pic>
                </p:oleObj>
              </mc:Fallback>
            </mc:AlternateContent>
          </a:graphicData>
        </a:graphic>
      </p:graphicFrame>
      <p:graphicFrame>
        <p:nvGraphicFramePr>
          <p:cNvPr id="13" name="对象 12">
            <a:extLst>
              <a:ext uri="{FF2B5EF4-FFF2-40B4-BE49-F238E27FC236}">
                <a16:creationId xmlns:a16="http://schemas.microsoft.com/office/drawing/2014/main" xmlns="" id="{AB68FD50-191D-F42D-6D8A-E5ADE51A2FF9}"/>
              </a:ext>
            </a:extLst>
          </p:cNvPr>
          <p:cNvGraphicFramePr>
            <a:graphicFrameLocks noChangeAspect="1"/>
          </p:cNvGraphicFramePr>
          <p:nvPr>
            <p:extLst>
              <p:ext uri="{D42A27DB-BD31-4B8C-83A1-F6EECF244321}">
                <p14:modId xmlns:p14="http://schemas.microsoft.com/office/powerpoint/2010/main" val="101916725"/>
              </p:ext>
            </p:extLst>
          </p:nvPr>
        </p:nvGraphicFramePr>
        <p:xfrm>
          <a:off x="6585453" y="1689008"/>
          <a:ext cx="2028825" cy="390525"/>
        </p:xfrm>
        <a:graphic>
          <a:graphicData uri="http://schemas.openxmlformats.org/presentationml/2006/ole">
            <mc:AlternateContent xmlns:mc="http://schemas.openxmlformats.org/markup-compatibility/2006">
              <mc:Choice xmlns:v="urn:schemas-microsoft-com:vml" Requires="v">
                <p:oleObj spid="_x0000_s201848" name="Equation" r:id="rId7" imgW="2028751" imgH="390254" progId="Equation.DSMT4">
                  <p:embed/>
                </p:oleObj>
              </mc:Choice>
              <mc:Fallback>
                <p:oleObj name="Equation" r:id="rId7" imgW="2028751" imgH="390254" progId="Equation.DSMT4">
                  <p:embed/>
                  <p:pic>
                    <p:nvPicPr>
                      <p:cNvPr id="0" name=""/>
                      <p:cNvPicPr/>
                      <p:nvPr/>
                    </p:nvPicPr>
                    <p:blipFill>
                      <a:blip r:embed="rId8"/>
                      <a:stretch>
                        <a:fillRect/>
                      </a:stretch>
                    </p:blipFill>
                    <p:spPr>
                      <a:xfrm>
                        <a:off x="6585453" y="1689008"/>
                        <a:ext cx="2028825" cy="390525"/>
                      </a:xfrm>
                      <a:prstGeom prst="rect">
                        <a:avLst/>
                      </a:prstGeom>
                    </p:spPr>
                  </p:pic>
                </p:oleObj>
              </mc:Fallback>
            </mc:AlternateContent>
          </a:graphicData>
        </a:graphic>
      </p:graphicFrame>
      <p:sp>
        <p:nvSpPr>
          <p:cNvPr id="14" name="矩形 302343">
            <a:extLst>
              <a:ext uri="{FF2B5EF4-FFF2-40B4-BE49-F238E27FC236}">
                <a16:creationId xmlns:a16="http://schemas.microsoft.com/office/drawing/2014/main" xmlns="" id="{91A03437-13AC-6FE9-E825-1C7CF73FE7C1}"/>
              </a:ext>
            </a:extLst>
          </p:cNvPr>
          <p:cNvSpPr/>
          <p:nvPr/>
        </p:nvSpPr>
        <p:spPr>
          <a:xfrm>
            <a:off x="1870923" y="2043158"/>
            <a:ext cx="1333552" cy="391694"/>
          </a:xfrm>
          <a:prstGeom prst="rect">
            <a:avLst/>
          </a:prstGeom>
          <a:noFill/>
          <a:ln w="9525">
            <a:noFill/>
          </a:ln>
        </p:spPr>
        <p:txBody>
          <a:bodyPr tIns="126960" bIns="126960"/>
          <a:lstStyle/>
          <a:p>
            <a:pPr indent="269875" algn="just">
              <a:lnSpc>
                <a:spcPct val="100000"/>
              </a:lnSpc>
              <a:buNone/>
            </a:pPr>
            <a:r>
              <a:rPr lang="zh-CN" altLang="en-US" sz="1400" baseline="0" dirty="0">
                <a:latin typeface="宋体" panose="02010600030101010101" pitchFamily="2" charset="-122"/>
                <a:ea typeface="华康简宋" charset="-122"/>
              </a:rPr>
              <a:t>谐振</a:t>
            </a:r>
            <a:r>
              <a:rPr lang="zh-CN" altLang="en-US" sz="1400" baseline="0" dirty="0" smtClean="0">
                <a:latin typeface="宋体" panose="02010600030101010101" pitchFamily="2" charset="-122"/>
                <a:ea typeface="华康简宋" charset="-122"/>
              </a:rPr>
              <a:t>频率</a:t>
            </a:r>
            <a:endParaRPr lang="en-US" altLang="zh-CN" sz="1050" baseline="0" dirty="0">
              <a:latin typeface="Times New Roman" panose="02020603050405020304" pitchFamily="18" charset="0"/>
              <a:ea typeface="宋体" panose="02010600030101010101" pitchFamily="2" charset="-122"/>
            </a:endParaRPr>
          </a:p>
          <a:p>
            <a:pPr indent="269875" algn="just" eaLnBrk="0" hangingPunct="0">
              <a:lnSpc>
                <a:spcPct val="100000"/>
              </a:lnSpc>
              <a:buNone/>
            </a:pPr>
            <a:endParaRPr lang="en-US" altLang="zh-CN" sz="2000" baseline="0" dirty="0">
              <a:latin typeface="Arial" panose="020B0604020202020204" pitchFamily="34" charset="0"/>
              <a:ea typeface="宋体" panose="02010600030101010101" pitchFamily="2" charset="-122"/>
            </a:endParaRPr>
          </a:p>
        </p:txBody>
      </p:sp>
      <p:graphicFrame>
        <p:nvGraphicFramePr>
          <p:cNvPr id="15" name="对象 14">
            <a:extLst>
              <a:ext uri="{FF2B5EF4-FFF2-40B4-BE49-F238E27FC236}">
                <a16:creationId xmlns:a16="http://schemas.microsoft.com/office/drawing/2014/main" xmlns="" id="{490C76C1-830A-AAB5-C4F2-07574D437088}"/>
              </a:ext>
            </a:extLst>
          </p:cNvPr>
          <p:cNvGraphicFramePr>
            <a:graphicFrameLocks noChangeAspect="1"/>
          </p:cNvGraphicFramePr>
          <p:nvPr>
            <p:extLst>
              <p:ext uri="{D42A27DB-BD31-4B8C-83A1-F6EECF244321}">
                <p14:modId xmlns:p14="http://schemas.microsoft.com/office/powerpoint/2010/main" val="1829786293"/>
              </p:ext>
            </p:extLst>
          </p:nvPr>
        </p:nvGraphicFramePr>
        <p:xfrm>
          <a:off x="4007101" y="2093957"/>
          <a:ext cx="1790700" cy="381000"/>
        </p:xfrm>
        <a:graphic>
          <a:graphicData uri="http://schemas.openxmlformats.org/presentationml/2006/ole">
            <mc:AlternateContent xmlns:mc="http://schemas.openxmlformats.org/markup-compatibility/2006">
              <mc:Choice xmlns:v="urn:schemas-microsoft-com:vml" Requires="v">
                <p:oleObj spid="_x0000_s201849" name="Equation" r:id="rId9" imgW="1790774" imgH="381254" progId="Equation.DSMT4">
                  <p:embed/>
                </p:oleObj>
              </mc:Choice>
              <mc:Fallback>
                <p:oleObj name="Equation" r:id="rId9" imgW="1790774" imgH="381254" progId="Equation.DSMT4">
                  <p:embed/>
                  <p:pic>
                    <p:nvPicPr>
                      <p:cNvPr id="0" name=""/>
                      <p:cNvPicPr/>
                      <p:nvPr/>
                    </p:nvPicPr>
                    <p:blipFill>
                      <a:blip r:embed="rId10"/>
                      <a:stretch>
                        <a:fillRect/>
                      </a:stretch>
                    </p:blipFill>
                    <p:spPr>
                      <a:xfrm>
                        <a:off x="4007101" y="2093957"/>
                        <a:ext cx="1790700" cy="381000"/>
                      </a:xfrm>
                      <a:prstGeom prst="rect">
                        <a:avLst/>
                      </a:prstGeom>
                    </p:spPr>
                  </p:pic>
                </p:oleObj>
              </mc:Fallback>
            </mc:AlternateContent>
          </a:graphicData>
        </a:graphic>
      </p:graphicFrame>
      <p:graphicFrame>
        <p:nvGraphicFramePr>
          <p:cNvPr id="16" name="对象 15">
            <a:extLst>
              <a:ext uri="{FF2B5EF4-FFF2-40B4-BE49-F238E27FC236}">
                <a16:creationId xmlns:a16="http://schemas.microsoft.com/office/drawing/2014/main" xmlns="" id="{5BB5BCFF-2E62-0DD9-4CD1-455A35CF570F}"/>
              </a:ext>
            </a:extLst>
          </p:cNvPr>
          <p:cNvGraphicFramePr>
            <a:graphicFrameLocks noChangeAspect="1"/>
          </p:cNvGraphicFramePr>
          <p:nvPr>
            <p:extLst>
              <p:ext uri="{D42A27DB-BD31-4B8C-83A1-F6EECF244321}">
                <p14:modId xmlns:p14="http://schemas.microsoft.com/office/powerpoint/2010/main" val="4052936682"/>
              </p:ext>
            </p:extLst>
          </p:nvPr>
        </p:nvGraphicFramePr>
        <p:xfrm>
          <a:off x="6605574" y="2079533"/>
          <a:ext cx="1419225" cy="381000"/>
        </p:xfrm>
        <a:graphic>
          <a:graphicData uri="http://schemas.openxmlformats.org/presentationml/2006/ole">
            <mc:AlternateContent xmlns:mc="http://schemas.openxmlformats.org/markup-compatibility/2006">
              <mc:Choice xmlns:v="urn:schemas-microsoft-com:vml" Requires="v">
                <p:oleObj spid="_x0000_s201850" name="Equation" r:id="rId11" imgW="1418866" imgH="381254" progId="Equation.DSMT4">
                  <p:embed/>
                </p:oleObj>
              </mc:Choice>
              <mc:Fallback>
                <p:oleObj name="Equation" r:id="rId11" imgW="1418866" imgH="381254" progId="Equation.DSMT4">
                  <p:embed/>
                  <p:pic>
                    <p:nvPicPr>
                      <p:cNvPr id="0" name=""/>
                      <p:cNvPicPr/>
                      <p:nvPr/>
                    </p:nvPicPr>
                    <p:blipFill>
                      <a:blip r:embed="rId12"/>
                      <a:stretch>
                        <a:fillRect/>
                      </a:stretch>
                    </p:blipFill>
                    <p:spPr>
                      <a:xfrm>
                        <a:off x="6605574" y="2079533"/>
                        <a:ext cx="1419225" cy="381000"/>
                      </a:xfrm>
                      <a:prstGeom prst="rect">
                        <a:avLst/>
                      </a:prstGeom>
                    </p:spPr>
                  </p:pic>
                </p:oleObj>
              </mc:Fallback>
            </mc:AlternateContent>
          </a:graphicData>
        </a:graphic>
      </p:graphicFrame>
      <p:sp>
        <p:nvSpPr>
          <p:cNvPr id="17" name="矩形 302448">
            <a:extLst>
              <a:ext uri="{FF2B5EF4-FFF2-40B4-BE49-F238E27FC236}">
                <a16:creationId xmlns:a16="http://schemas.microsoft.com/office/drawing/2014/main" xmlns="" id="{B1F81B8B-F85A-3300-030F-948E098E3BBD}"/>
              </a:ext>
            </a:extLst>
          </p:cNvPr>
          <p:cNvSpPr/>
          <p:nvPr/>
        </p:nvSpPr>
        <p:spPr>
          <a:xfrm>
            <a:off x="7941180" y="2058443"/>
            <a:ext cx="847725" cy="466725"/>
          </a:xfrm>
          <a:prstGeom prst="rect">
            <a:avLst/>
          </a:prstGeom>
          <a:noFill/>
          <a:ln w="9525">
            <a:noFill/>
          </a:ln>
        </p:spPr>
        <p:txBody>
          <a:bodyPr wrap="none" tIns="126960" bIns="126960">
            <a:spAutoFit/>
          </a:bodyPr>
          <a:lstStyle/>
          <a:p>
            <a:pPr>
              <a:lnSpc>
                <a:spcPct val="100000"/>
              </a:lnSpc>
            </a:pPr>
            <a:r>
              <a:rPr lang="en-US" altLang="zh-CN" sz="1400" b="1" i="1" baseline="0" dirty="0">
                <a:solidFill>
                  <a:srgbClr val="A50021"/>
                </a:solidFill>
                <a:latin typeface="Arial" panose="020B0604020202020204" pitchFamily="34" charset="0"/>
                <a:ea typeface="宋体" panose="02010600030101010101" pitchFamily="2" charset="-122"/>
                <a:sym typeface="Symbol" panose="05050102010706020507" pitchFamily="18" charset="2"/>
              </a:rPr>
              <a:t></a:t>
            </a:r>
            <a:r>
              <a:rPr lang="en-US" altLang="zh-CN" sz="1400" b="1" i="1" baseline="0" dirty="0">
                <a:solidFill>
                  <a:srgbClr val="A50021"/>
                </a:solidFill>
                <a:latin typeface="Arial" panose="020B0604020202020204" pitchFamily="34" charset="0"/>
                <a:ea typeface="宋体" panose="02010600030101010101" pitchFamily="2" charset="-122"/>
              </a:rPr>
              <a:t>L</a:t>
            </a:r>
            <a:r>
              <a:rPr lang="en-US" altLang="zh-CN" sz="1400" b="1" i="1" baseline="0" dirty="0">
                <a:solidFill>
                  <a:srgbClr val="A50021"/>
                </a:solidFill>
                <a:latin typeface="Arial" panose="020B0604020202020204" pitchFamily="34" charset="0"/>
                <a:ea typeface="宋体" panose="02010600030101010101" pitchFamily="2" charset="-122"/>
                <a:sym typeface="Symbol" panose="05050102010706020507" pitchFamily="18" charset="2"/>
              </a:rPr>
              <a:t> </a:t>
            </a:r>
            <a:r>
              <a:rPr lang="en-US" altLang="zh-CN" sz="1400" b="1" baseline="0" dirty="0">
                <a:solidFill>
                  <a:srgbClr val="A50021"/>
                </a:solidFill>
                <a:latin typeface="Arial" panose="020B0604020202020204" pitchFamily="34" charset="0"/>
                <a:ea typeface="宋体" panose="02010600030101010101" pitchFamily="2" charset="-122"/>
                <a:sym typeface="Symbol" panose="05050102010706020507" pitchFamily="18" charset="2"/>
              </a:rPr>
              <a:t>&gt;</a:t>
            </a:r>
            <a:r>
              <a:rPr lang="en-US" altLang="zh-CN" sz="1400" b="1" i="1" baseline="0" dirty="0">
                <a:solidFill>
                  <a:srgbClr val="A50021"/>
                </a:solidFill>
                <a:latin typeface="Arial" panose="020B0604020202020204" pitchFamily="34" charset="0"/>
                <a:ea typeface="宋体" panose="02010600030101010101" pitchFamily="2" charset="-122"/>
                <a:sym typeface="Symbol" panose="05050102010706020507" pitchFamily="18" charset="2"/>
              </a:rPr>
              <a:t>&gt; R</a:t>
            </a:r>
          </a:p>
        </p:txBody>
      </p:sp>
      <p:sp>
        <p:nvSpPr>
          <p:cNvPr id="18" name="矩形 302346">
            <a:extLst>
              <a:ext uri="{FF2B5EF4-FFF2-40B4-BE49-F238E27FC236}">
                <a16:creationId xmlns:a16="http://schemas.microsoft.com/office/drawing/2014/main" xmlns="" id="{60BC0E3B-735C-4002-D84C-3A78CC7B87CB}"/>
              </a:ext>
            </a:extLst>
          </p:cNvPr>
          <p:cNvSpPr/>
          <p:nvPr/>
        </p:nvSpPr>
        <p:spPr>
          <a:xfrm>
            <a:off x="2146149" y="2424389"/>
            <a:ext cx="1333552" cy="393682"/>
          </a:xfrm>
          <a:prstGeom prst="rect">
            <a:avLst/>
          </a:prstGeom>
          <a:noFill/>
          <a:ln w="9525">
            <a:noFill/>
          </a:ln>
        </p:spPr>
        <p:txBody>
          <a:bodyPr tIns="126960" bIns="126960"/>
          <a:lstStyle/>
          <a:p>
            <a:pPr algn="just">
              <a:lnSpc>
                <a:spcPct val="100000"/>
              </a:lnSpc>
              <a:buNone/>
            </a:pPr>
            <a:r>
              <a:rPr lang="zh-CN" altLang="en-US" sz="1400" baseline="0" dirty="0">
                <a:latin typeface="Times New Roman" panose="02020603050405020304" pitchFamily="18" charset="0"/>
                <a:ea typeface="华康简宋" charset="-122"/>
              </a:rPr>
              <a:t>品质因数</a:t>
            </a:r>
            <a:r>
              <a:rPr lang="en-US" altLang="zh-CN" sz="1400" i="1" baseline="0" dirty="0" smtClean="0">
                <a:latin typeface="Times New Roman" panose="02020603050405020304" pitchFamily="18" charset="0"/>
              </a:rPr>
              <a:t>Q</a:t>
            </a:r>
            <a:endParaRPr lang="en-US" altLang="zh-CN" sz="1400" baseline="0" dirty="0">
              <a:latin typeface="Times New Roman" panose="02020603050405020304" pitchFamily="18" charset="0"/>
            </a:endParaRPr>
          </a:p>
        </p:txBody>
      </p:sp>
      <p:graphicFrame>
        <p:nvGraphicFramePr>
          <p:cNvPr id="19" name="对象 18">
            <a:extLst>
              <a:ext uri="{FF2B5EF4-FFF2-40B4-BE49-F238E27FC236}">
                <a16:creationId xmlns:a16="http://schemas.microsoft.com/office/drawing/2014/main" xmlns="" id="{A7210520-288A-7D97-4994-AFE4CB6B49A2}"/>
              </a:ext>
            </a:extLst>
          </p:cNvPr>
          <p:cNvGraphicFramePr>
            <a:graphicFrameLocks noChangeAspect="1"/>
          </p:cNvGraphicFramePr>
          <p:nvPr>
            <p:extLst>
              <p:ext uri="{D42A27DB-BD31-4B8C-83A1-F6EECF244321}">
                <p14:modId xmlns:p14="http://schemas.microsoft.com/office/powerpoint/2010/main" val="2837551601"/>
              </p:ext>
            </p:extLst>
          </p:nvPr>
        </p:nvGraphicFramePr>
        <p:xfrm>
          <a:off x="4030103" y="2397007"/>
          <a:ext cx="1905000" cy="469900"/>
        </p:xfrm>
        <a:graphic>
          <a:graphicData uri="http://schemas.openxmlformats.org/presentationml/2006/ole">
            <mc:AlternateContent xmlns:mc="http://schemas.openxmlformats.org/markup-compatibility/2006">
              <mc:Choice xmlns:v="urn:schemas-microsoft-com:vml" Requires="v">
                <p:oleObj spid="_x0000_s201851" name="Equation" r:id="rId13" imgW="1905262" imgH="469457" progId="Equation.DSMT4">
                  <p:embed/>
                </p:oleObj>
              </mc:Choice>
              <mc:Fallback>
                <p:oleObj name="Equation" r:id="rId13" imgW="1905262" imgH="469457" progId="Equation.DSMT4">
                  <p:embed/>
                  <p:pic>
                    <p:nvPicPr>
                      <p:cNvPr id="0" name=""/>
                      <p:cNvPicPr/>
                      <p:nvPr/>
                    </p:nvPicPr>
                    <p:blipFill>
                      <a:blip r:embed="rId14"/>
                      <a:stretch>
                        <a:fillRect/>
                      </a:stretch>
                    </p:blipFill>
                    <p:spPr>
                      <a:xfrm>
                        <a:off x="4030103" y="2397007"/>
                        <a:ext cx="1905000" cy="469900"/>
                      </a:xfrm>
                      <a:prstGeom prst="rect">
                        <a:avLst/>
                      </a:prstGeom>
                    </p:spPr>
                  </p:pic>
                </p:oleObj>
              </mc:Fallback>
            </mc:AlternateContent>
          </a:graphicData>
        </a:graphic>
      </p:graphicFrame>
      <p:graphicFrame>
        <p:nvGraphicFramePr>
          <p:cNvPr id="20" name="对象 19">
            <a:extLst>
              <a:ext uri="{FF2B5EF4-FFF2-40B4-BE49-F238E27FC236}">
                <a16:creationId xmlns:a16="http://schemas.microsoft.com/office/drawing/2014/main" xmlns="" id="{08C0A1CB-9124-ADEE-061B-D6B795D9A2E1}"/>
              </a:ext>
            </a:extLst>
          </p:cNvPr>
          <p:cNvGraphicFramePr>
            <a:graphicFrameLocks noChangeAspect="1"/>
          </p:cNvGraphicFramePr>
          <p:nvPr>
            <p:extLst>
              <p:ext uri="{D42A27DB-BD31-4B8C-83A1-F6EECF244321}">
                <p14:modId xmlns:p14="http://schemas.microsoft.com/office/powerpoint/2010/main" val="4272642891"/>
              </p:ext>
            </p:extLst>
          </p:nvPr>
        </p:nvGraphicFramePr>
        <p:xfrm>
          <a:off x="6600427" y="2434851"/>
          <a:ext cx="1914525" cy="447675"/>
        </p:xfrm>
        <a:graphic>
          <a:graphicData uri="http://schemas.openxmlformats.org/presentationml/2006/ole">
            <mc:AlternateContent xmlns:mc="http://schemas.openxmlformats.org/markup-compatibility/2006">
              <mc:Choice xmlns:v="urn:schemas-microsoft-com:vml" Requires="v">
                <p:oleObj spid="_x0000_s201852" name="Equation" r:id="rId15" imgW="1914263" imgH="448216" progId="Equation.DSMT4">
                  <p:embed/>
                </p:oleObj>
              </mc:Choice>
              <mc:Fallback>
                <p:oleObj name="Equation" r:id="rId15" imgW="1914263" imgH="448216" progId="Equation.DSMT4">
                  <p:embed/>
                  <p:pic>
                    <p:nvPicPr>
                      <p:cNvPr id="0" name=""/>
                      <p:cNvPicPr/>
                      <p:nvPr/>
                    </p:nvPicPr>
                    <p:blipFill>
                      <a:blip r:embed="rId16"/>
                      <a:stretch>
                        <a:fillRect/>
                      </a:stretch>
                    </p:blipFill>
                    <p:spPr>
                      <a:xfrm>
                        <a:off x="6600427" y="2434851"/>
                        <a:ext cx="1914525" cy="447675"/>
                      </a:xfrm>
                      <a:prstGeom prst="rect">
                        <a:avLst/>
                      </a:prstGeom>
                    </p:spPr>
                  </p:pic>
                </p:oleObj>
              </mc:Fallback>
            </mc:AlternateContent>
          </a:graphicData>
        </a:graphic>
      </p:graphicFrame>
      <p:sp>
        <p:nvSpPr>
          <p:cNvPr id="21" name="矩形 302440">
            <a:extLst>
              <a:ext uri="{FF2B5EF4-FFF2-40B4-BE49-F238E27FC236}">
                <a16:creationId xmlns:a16="http://schemas.microsoft.com/office/drawing/2014/main" xmlns="" id="{C9F935CD-1F47-BABA-2624-8EF25F61D394}"/>
              </a:ext>
            </a:extLst>
          </p:cNvPr>
          <p:cNvSpPr/>
          <p:nvPr/>
        </p:nvSpPr>
        <p:spPr>
          <a:xfrm>
            <a:off x="2137918" y="2799856"/>
            <a:ext cx="1420892" cy="471843"/>
          </a:xfrm>
          <a:prstGeom prst="rect">
            <a:avLst/>
          </a:prstGeom>
          <a:noFill/>
          <a:ln w="9525">
            <a:noFill/>
          </a:ln>
        </p:spPr>
        <p:txBody>
          <a:bodyPr wrap="square" tIns="126960" bIns="126960">
            <a:spAutoFit/>
          </a:bodyPr>
          <a:lstStyle/>
          <a:p>
            <a:pPr>
              <a:lnSpc>
                <a:spcPct val="100000"/>
              </a:lnSpc>
              <a:buNone/>
            </a:pPr>
            <a:r>
              <a:rPr lang="zh-CN" altLang="en-US" sz="1400" baseline="0" dirty="0">
                <a:latin typeface="Times New Roman" panose="02020603050405020304" pitchFamily="18" charset="0"/>
                <a:ea typeface="华康简宋" charset="-122"/>
              </a:rPr>
              <a:t>广义失谐系数</a:t>
            </a:r>
            <a:r>
              <a:rPr lang="en-US" altLang="zh-CN" sz="1400" baseline="0" dirty="0">
                <a:latin typeface="Times New Roman" panose="02020603050405020304" pitchFamily="18" charset="0"/>
                <a:sym typeface="Symbol" panose="05050102010706020507" pitchFamily="18" charset="2"/>
              </a:rPr>
              <a:t></a:t>
            </a:r>
            <a:endParaRPr lang="zh-CN" altLang="en-US" sz="1400" baseline="0" dirty="0">
              <a:latin typeface="Times New Roman" panose="02020603050405020304" pitchFamily="18" charset="0"/>
              <a:ea typeface="华康简宋" charset="-122"/>
            </a:endParaRPr>
          </a:p>
        </p:txBody>
      </p:sp>
      <p:graphicFrame>
        <p:nvGraphicFramePr>
          <p:cNvPr id="22" name="对象 21">
            <a:extLst>
              <a:ext uri="{FF2B5EF4-FFF2-40B4-BE49-F238E27FC236}">
                <a16:creationId xmlns:a16="http://schemas.microsoft.com/office/drawing/2014/main" xmlns="" id="{0D13FFB3-E557-E247-6C43-EAA10071DCE6}"/>
              </a:ext>
            </a:extLst>
          </p:cNvPr>
          <p:cNvGraphicFramePr>
            <a:graphicFrameLocks noChangeAspect="1"/>
          </p:cNvGraphicFramePr>
          <p:nvPr>
            <p:extLst>
              <p:ext uri="{D42A27DB-BD31-4B8C-83A1-F6EECF244321}">
                <p14:modId xmlns:p14="http://schemas.microsoft.com/office/powerpoint/2010/main" val="1136030092"/>
              </p:ext>
            </p:extLst>
          </p:nvPr>
        </p:nvGraphicFramePr>
        <p:xfrm>
          <a:off x="4106303" y="2779620"/>
          <a:ext cx="1828800" cy="977900"/>
        </p:xfrm>
        <a:graphic>
          <a:graphicData uri="http://schemas.openxmlformats.org/presentationml/2006/ole">
            <mc:AlternateContent xmlns:mc="http://schemas.openxmlformats.org/markup-compatibility/2006">
              <mc:Choice xmlns:v="urn:schemas-microsoft-com:vml" Requires="v">
                <p:oleObj spid="_x0000_s201853" name="Equation" r:id="rId17" imgW="1828936" imgH="978515" progId="Equation.DSMT4">
                  <p:embed/>
                </p:oleObj>
              </mc:Choice>
              <mc:Fallback>
                <p:oleObj name="Equation" r:id="rId17" imgW="1828936" imgH="978515" progId="Equation.DSMT4">
                  <p:embed/>
                  <p:pic>
                    <p:nvPicPr>
                      <p:cNvPr id="0" name=""/>
                      <p:cNvPicPr/>
                      <p:nvPr/>
                    </p:nvPicPr>
                    <p:blipFill>
                      <a:blip r:embed="rId18"/>
                      <a:stretch>
                        <a:fillRect/>
                      </a:stretch>
                    </p:blipFill>
                    <p:spPr>
                      <a:xfrm>
                        <a:off x="4106303" y="2779620"/>
                        <a:ext cx="1828800" cy="977900"/>
                      </a:xfrm>
                      <a:prstGeom prst="rect">
                        <a:avLst/>
                      </a:prstGeom>
                    </p:spPr>
                  </p:pic>
                </p:oleObj>
              </mc:Fallback>
            </mc:AlternateContent>
          </a:graphicData>
        </a:graphic>
      </p:graphicFrame>
      <p:graphicFrame>
        <p:nvGraphicFramePr>
          <p:cNvPr id="23" name="对象 22">
            <a:extLst>
              <a:ext uri="{FF2B5EF4-FFF2-40B4-BE49-F238E27FC236}">
                <a16:creationId xmlns:a16="http://schemas.microsoft.com/office/drawing/2014/main" xmlns="" id="{63C43BAB-5747-A75F-550D-C12263CC8BA0}"/>
              </a:ext>
            </a:extLst>
          </p:cNvPr>
          <p:cNvGraphicFramePr>
            <a:graphicFrameLocks noChangeAspect="1"/>
          </p:cNvGraphicFramePr>
          <p:nvPr>
            <p:extLst>
              <p:ext uri="{D42A27DB-BD31-4B8C-83A1-F6EECF244321}">
                <p14:modId xmlns:p14="http://schemas.microsoft.com/office/powerpoint/2010/main" val="407997815"/>
              </p:ext>
            </p:extLst>
          </p:nvPr>
        </p:nvGraphicFramePr>
        <p:xfrm>
          <a:off x="6537381" y="2752862"/>
          <a:ext cx="1963737" cy="969963"/>
        </p:xfrm>
        <a:graphic>
          <a:graphicData uri="http://schemas.openxmlformats.org/presentationml/2006/ole">
            <mc:AlternateContent xmlns:mc="http://schemas.openxmlformats.org/markup-compatibility/2006">
              <mc:Choice xmlns:v="urn:schemas-microsoft-com:vml" Requires="v">
                <p:oleObj spid="_x0000_s201854" name="Equation" r:id="rId19" imgW="1963226" imgH="969515" progId="Equation.DSMT4">
                  <p:embed/>
                </p:oleObj>
              </mc:Choice>
              <mc:Fallback>
                <p:oleObj name="Equation" r:id="rId19" imgW="1963226" imgH="969515" progId="Equation.DSMT4">
                  <p:embed/>
                  <p:pic>
                    <p:nvPicPr>
                      <p:cNvPr id="0" name=""/>
                      <p:cNvPicPr/>
                      <p:nvPr/>
                    </p:nvPicPr>
                    <p:blipFill>
                      <a:blip r:embed="rId20"/>
                      <a:stretch>
                        <a:fillRect/>
                      </a:stretch>
                    </p:blipFill>
                    <p:spPr>
                      <a:xfrm>
                        <a:off x="6537381" y="2752862"/>
                        <a:ext cx="1963737" cy="969963"/>
                      </a:xfrm>
                      <a:prstGeom prst="rect">
                        <a:avLst/>
                      </a:prstGeom>
                    </p:spPr>
                  </p:pic>
                </p:oleObj>
              </mc:Fallback>
            </mc:AlternateContent>
          </a:graphicData>
        </a:graphic>
      </p:graphicFrame>
      <p:sp>
        <p:nvSpPr>
          <p:cNvPr id="24" name="矩形 302355">
            <a:extLst>
              <a:ext uri="{FF2B5EF4-FFF2-40B4-BE49-F238E27FC236}">
                <a16:creationId xmlns:a16="http://schemas.microsoft.com/office/drawing/2014/main" xmlns="" id="{8A0B9083-1DF8-5046-C1CC-9CA1759C2296}"/>
              </a:ext>
            </a:extLst>
          </p:cNvPr>
          <p:cNvSpPr/>
          <p:nvPr/>
        </p:nvSpPr>
        <p:spPr>
          <a:xfrm>
            <a:off x="2137918" y="3935210"/>
            <a:ext cx="1333552" cy="355367"/>
          </a:xfrm>
          <a:prstGeom prst="rect">
            <a:avLst/>
          </a:prstGeom>
          <a:noFill/>
          <a:ln w="9525">
            <a:noFill/>
          </a:ln>
        </p:spPr>
        <p:txBody>
          <a:bodyPr tIns="126960" bIns="126960"/>
          <a:lstStyle/>
          <a:p>
            <a:pPr algn="just">
              <a:lnSpc>
                <a:spcPct val="100000"/>
              </a:lnSpc>
              <a:buNone/>
            </a:pPr>
            <a:r>
              <a:rPr lang="zh-CN" altLang="en-US" sz="1400" baseline="0" dirty="0">
                <a:latin typeface="Times New Roman" panose="02020603050405020304" pitchFamily="18" charset="0"/>
                <a:ea typeface="华康简宋" charset="-122"/>
              </a:rPr>
              <a:t>通</a:t>
            </a:r>
            <a:r>
              <a:rPr lang="zh-CN" altLang="en-US" sz="1400" baseline="0" dirty="0" smtClean="0">
                <a:latin typeface="Times New Roman" panose="02020603050405020304" pitchFamily="18" charset="0"/>
                <a:ea typeface="华康简宋" charset="-122"/>
              </a:rPr>
              <a:t>频带</a:t>
            </a:r>
            <a:endParaRPr lang="en-US" altLang="zh-CN" sz="1600" baseline="0" dirty="0">
              <a:latin typeface="Times New Roman" panose="02020603050405020304" pitchFamily="18" charset="0"/>
              <a:ea typeface="宋体" panose="02010600030101010101" pitchFamily="2" charset="-122"/>
            </a:endParaRPr>
          </a:p>
        </p:txBody>
      </p:sp>
      <p:graphicFrame>
        <p:nvGraphicFramePr>
          <p:cNvPr id="25" name="对象 24">
            <a:extLst>
              <a:ext uri="{FF2B5EF4-FFF2-40B4-BE49-F238E27FC236}">
                <a16:creationId xmlns:a16="http://schemas.microsoft.com/office/drawing/2014/main" xmlns="" id="{287E7E10-A519-A695-BAC1-8FEB213C71A6}"/>
              </a:ext>
            </a:extLst>
          </p:cNvPr>
          <p:cNvGraphicFramePr>
            <a:graphicFrameLocks noChangeAspect="1"/>
          </p:cNvGraphicFramePr>
          <p:nvPr>
            <p:extLst>
              <p:ext uri="{D42A27DB-BD31-4B8C-83A1-F6EECF244321}">
                <p14:modId xmlns:p14="http://schemas.microsoft.com/office/powerpoint/2010/main" val="3099386333"/>
              </p:ext>
            </p:extLst>
          </p:nvPr>
        </p:nvGraphicFramePr>
        <p:xfrm>
          <a:off x="4682397" y="3869959"/>
          <a:ext cx="865187" cy="481013"/>
        </p:xfrm>
        <a:graphic>
          <a:graphicData uri="http://schemas.openxmlformats.org/presentationml/2006/ole">
            <mc:AlternateContent xmlns:mc="http://schemas.openxmlformats.org/markup-compatibility/2006">
              <mc:Choice xmlns:v="urn:schemas-microsoft-com:vml" Requires="v">
                <p:oleObj spid="_x0000_s201855" name="Equation" r:id="rId21" imgW="864424" imgH="480257" progId="Equation.DSMT4">
                  <p:embed/>
                </p:oleObj>
              </mc:Choice>
              <mc:Fallback>
                <p:oleObj name="Equation" r:id="rId21" imgW="864424" imgH="480257" progId="Equation.DSMT4">
                  <p:embed/>
                  <p:pic>
                    <p:nvPicPr>
                      <p:cNvPr id="0" name=""/>
                      <p:cNvPicPr/>
                      <p:nvPr/>
                    </p:nvPicPr>
                    <p:blipFill>
                      <a:blip r:embed="rId22"/>
                      <a:stretch>
                        <a:fillRect/>
                      </a:stretch>
                    </p:blipFill>
                    <p:spPr>
                      <a:xfrm>
                        <a:off x="4682397" y="3869959"/>
                        <a:ext cx="865187" cy="481013"/>
                      </a:xfrm>
                      <a:prstGeom prst="rect">
                        <a:avLst/>
                      </a:prstGeom>
                    </p:spPr>
                  </p:pic>
                </p:oleObj>
              </mc:Fallback>
            </mc:AlternateContent>
          </a:graphicData>
        </a:graphic>
      </p:graphicFrame>
      <p:graphicFrame>
        <p:nvGraphicFramePr>
          <p:cNvPr id="26" name="对象 25">
            <a:extLst>
              <a:ext uri="{FF2B5EF4-FFF2-40B4-BE49-F238E27FC236}">
                <a16:creationId xmlns:a16="http://schemas.microsoft.com/office/drawing/2014/main" xmlns="" id="{A316F2A7-6E41-366B-AC05-3323F386171C}"/>
              </a:ext>
            </a:extLst>
          </p:cNvPr>
          <p:cNvGraphicFramePr>
            <a:graphicFrameLocks noChangeAspect="1"/>
          </p:cNvGraphicFramePr>
          <p:nvPr>
            <p:extLst>
              <p:ext uri="{D42A27DB-BD31-4B8C-83A1-F6EECF244321}">
                <p14:modId xmlns:p14="http://schemas.microsoft.com/office/powerpoint/2010/main" val="3536778090"/>
              </p:ext>
            </p:extLst>
          </p:nvPr>
        </p:nvGraphicFramePr>
        <p:xfrm>
          <a:off x="7219658" y="3851393"/>
          <a:ext cx="760413" cy="430213"/>
        </p:xfrm>
        <a:graphic>
          <a:graphicData uri="http://schemas.openxmlformats.org/presentationml/2006/ole">
            <mc:AlternateContent xmlns:mc="http://schemas.openxmlformats.org/markup-compatibility/2006">
              <mc:Choice xmlns:v="urn:schemas-microsoft-com:vml" Requires="v">
                <p:oleObj spid="_x0000_s201856" name="Equation" r:id="rId23" imgW="760737" imgH="429855" progId="Equation.DSMT4">
                  <p:embed/>
                </p:oleObj>
              </mc:Choice>
              <mc:Fallback>
                <p:oleObj name="Equation" r:id="rId23" imgW="760737" imgH="429855" progId="Equation.DSMT4">
                  <p:embed/>
                  <p:pic>
                    <p:nvPicPr>
                      <p:cNvPr id="0" name=""/>
                      <p:cNvPicPr/>
                      <p:nvPr/>
                    </p:nvPicPr>
                    <p:blipFill>
                      <a:blip r:embed="rId24"/>
                      <a:stretch>
                        <a:fillRect/>
                      </a:stretch>
                    </p:blipFill>
                    <p:spPr>
                      <a:xfrm>
                        <a:off x="7219658" y="3851393"/>
                        <a:ext cx="760413" cy="430213"/>
                      </a:xfrm>
                      <a:prstGeom prst="rect">
                        <a:avLst/>
                      </a:prstGeom>
                    </p:spPr>
                  </p:pic>
                </p:oleObj>
              </mc:Fallback>
            </mc:AlternateContent>
          </a:graphicData>
        </a:graphic>
      </p:graphicFrame>
      <p:sp>
        <p:nvSpPr>
          <p:cNvPr id="27" name="矩形 302358">
            <a:extLst>
              <a:ext uri="{FF2B5EF4-FFF2-40B4-BE49-F238E27FC236}">
                <a16:creationId xmlns:a16="http://schemas.microsoft.com/office/drawing/2014/main" xmlns="" id="{198D0CC6-40DA-0D29-719F-5D853A9D6124}"/>
              </a:ext>
            </a:extLst>
          </p:cNvPr>
          <p:cNvSpPr/>
          <p:nvPr/>
        </p:nvSpPr>
        <p:spPr>
          <a:xfrm>
            <a:off x="1852509" y="4524087"/>
            <a:ext cx="1824101" cy="385375"/>
          </a:xfrm>
          <a:prstGeom prst="rect">
            <a:avLst/>
          </a:prstGeom>
          <a:noFill/>
          <a:ln w="9525">
            <a:noFill/>
          </a:ln>
        </p:spPr>
        <p:txBody>
          <a:bodyPr tIns="126960" bIns="126960"/>
          <a:lstStyle/>
          <a:p>
            <a:pPr indent="269875" algn="just">
              <a:lnSpc>
                <a:spcPct val="100000"/>
              </a:lnSpc>
              <a:buNone/>
            </a:pPr>
            <a:r>
              <a:rPr lang="zh-CN" altLang="en-US" sz="1400" baseline="0" dirty="0">
                <a:latin typeface="Arial" panose="020B0604020202020204" pitchFamily="34" charset="0"/>
                <a:ea typeface="黑体" panose="02010600030101010101" pitchFamily="49" charset="-122"/>
              </a:rPr>
              <a:t>相频特性曲线</a:t>
            </a:r>
            <a:r>
              <a:rPr lang="zh-CN" altLang="en-US" sz="1000" baseline="0" dirty="0">
                <a:latin typeface="Arial" panose="020B0604020202020204" pitchFamily="34" charset="0"/>
                <a:ea typeface="宋体" panose="02010600030101010101" pitchFamily="2" charset="-122"/>
              </a:rPr>
              <a:t> </a:t>
            </a:r>
            <a:endParaRPr lang="en-US" altLang="zh-CN" sz="1050" baseline="0" dirty="0">
              <a:latin typeface="Times New Roman" panose="02020603050405020304" pitchFamily="18" charset="0"/>
              <a:ea typeface="宋体" panose="02010600030101010101" pitchFamily="2" charset="-122"/>
            </a:endParaRPr>
          </a:p>
          <a:p>
            <a:pPr indent="269875" algn="just" eaLnBrk="0" hangingPunct="0">
              <a:lnSpc>
                <a:spcPct val="100000"/>
              </a:lnSpc>
              <a:buNone/>
            </a:pPr>
            <a:endParaRPr lang="en-US" altLang="zh-CN" sz="2000" baseline="0" dirty="0">
              <a:latin typeface="Arial" panose="020B0604020202020204" pitchFamily="34" charset="0"/>
              <a:ea typeface="宋体" panose="02010600030101010101" pitchFamily="2" charset="-122"/>
            </a:endParaRPr>
          </a:p>
        </p:txBody>
      </p:sp>
      <p:graphicFrame>
        <p:nvGraphicFramePr>
          <p:cNvPr id="28" name="对象 302322">
            <a:extLst>
              <a:ext uri="{FF2B5EF4-FFF2-40B4-BE49-F238E27FC236}">
                <a16:creationId xmlns:a16="http://schemas.microsoft.com/office/drawing/2014/main" xmlns="" id="{4948600F-F197-CEFB-3643-DB2E2BF74BBD}"/>
              </a:ext>
            </a:extLst>
          </p:cNvPr>
          <p:cNvGraphicFramePr/>
          <p:nvPr>
            <p:extLst>
              <p:ext uri="{D42A27DB-BD31-4B8C-83A1-F6EECF244321}">
                <p14:modId xmlns:p14="http://schemas.microsoft.com/office/powerpoint/2010/main" val="2104013294"/>
              </p:ext>
            </p:extLst>
          </p:nvPr>
        </p:nvGraphicFramePr>
        <p:xfrm>
          <a:off x="4039609" y="4183825"/>
          <a:ext cx="1905000" cy="958850"/>
        </p:xfrm>
        <a:graphic>
          <a:graphicData uri="http://schemas.openxmlformats.org/presentationml/2006/ole">
            <mc:AlternateContent xmlns:mc="http://schemas.openxmlformats.org/markup-compatibility/2006">
              <mc:Choice xmlns:v="urn:schemas-microsoft-com:vml" Requires="v">
                <p:oleObj spid="_x0000_s201857" r:id="rId25" imgW="1752600" imgH="1553210" progId="Word.Picture.8">
                  <p:embed/>
                </p:oleObj>
              </mc:Choice>
              <mc:Fallback>
                <p:oleObj r:id="rId25" imgW="1752600" imgH="1553210" progId="Word.Picture.8">
                  <p:embed/>
                  <p:pic>
                    <p:nvPicPr>
                      <p:cNvPr id="0" name=""/>
                      <p:cNvPicPr/>
                      <p:nvPr/>
                    </p:nvPicPr>
                    <p:blipFill>
                      <a:blip r:embed="rId26"/>
                      <a:stretch>
                        <a:fillRect/>
                      </a:stretch>
                    </p:blipFill>
                    <p:spPr>
                      <a:xfrm>
                        <a:off x="4039609" y="4183825"/>
                        <a:ext cx="1905000" cy="958850"/>
                      </a:xfrm>
                      <a:prstGeom prst="rect">
                        <a:avLst/>
                      </a:prstGeom>
                      <a:noFill/>
                      <a:ln w="38100">
                        <a:noFill/>
                        <a:miter/>
                      </a:ln>
                    </p:spPr>
                  </p:pic>
                </p:oleObj>
              </mc:Fallback>
            </mc:AlternateContent>
          </a:graphicData>
        </a:graphic>
      </p:graphicFrame>
      <p:graphicFrame>
        <p:nvGraphicFramePr>
          <p:cNvPr id="29" name="对象 302321">
            <a:extLst>
              <a:ext uri="{FF2B5EF4-FFF2-40B4-BE49-F238E27FC236}">
                <a16:creationId xmlns:a16="http://schemas.microsoft.com/office/drawing/2014/main" xmlns="" id="{A2ED8FE2-C87E-FB06-8BD1-117B5ED8DFDE}"/>
              </a:ext>
            </a:extLst>
          </p:cNvPr>
          <p:cNvGraphicFramePr/>
          <p:nvPr>
            <p:extLst>
              <p:ext uri="{D42A27DB-BD31-4B8C-83A1-F6EECF244321}">
                <p14:modId xmlns:p14="http://schemas.microsoft.com/office/powerpoint/2010/main" val="4223538987"/>
              </p:ext>
            </p:extLst>
          </p:nvPr>
        </p:nvGraphicFramePr>
        <p:xfrm>
          <a:off x="6606494" y="4194767"/>
          <a:ext cx="1952625" cy="971550"/>
        </p:xfrm>
        <a:graphic>
          <a:graphicData uri="http://schemas.openxmlformats.org/presentationml/2006/ole">
            <mc:AlternateContent xmlns:mc="http://schemas.openxmlformats.org/markup-compatibility/2006">
              <mc:Choice xmlns:v="urn:schemas-microsoft-com:vml" Requires="v">
                <p:oleObj spid="_x0000_s201858" r:id="rId27" imgW="1752600" imgH="1553210" progId="Word.Picture.8">
                  <p:embed/>
                </p:oleObj>
              </mc:Choice>
              <mc:Fallback>
                <p:oleObj r:id="rId27" imgW="1752600" imgH="1553210" progId="Word.Picture.8">
                  <p:embed/>
                  <p:pic>
                    <p:nvPicPr>
                      <p:cNvPr id="0" name=""/>
                      <p:cNvPicPr/>
                      <p:nvPr/>
                    </p:nvPicPr>
                    <p:blipFill>
                      <a:blip r:embed="rId28"/>
                      <a:stretch>
                        <a:fillRect/>
                      </a:stretch>
                    </p:blipFill>
                    <p:spPr>
                      <a:xfrm>
                        <a:off x="6606494" y="4194767"/>
                        <a:ext cx="1952625" cy="971550"/>
                      </a:xfrm>
                      <a:prstGeom prst="rect">
                        <a:avLst/>
                      </a:prstGeom>
                      <a:noFill/>
                      <a:ln w="38100">
                        <a:noFill/>
                        <a:miter/>
                      </a:ln>
                    </p:spPr>
                  </p:pic>
                </p:oleObj>
              </mc:Fallback>
            </mc:AlternateContent>
          </a:graphicData>
        </a:graphic>
      </p:graphicFrame>
      <p:sp>
        <p:nvSpPr>
          <p:cNvPr id="30" name="矩形 302361">
            <a:extLst>
              <a:ext uri="{FF2B5EF4-FFF2-40B4-BE49-F238E27FC236}">
                <a16:creationId xmlns:a16="http://schemas.microsoft.com/office/drawing/2014/main" xmlns="" id="{3DE67578-82B7-E1B5-7A80-335BCC9E4F07}"/>
              </a:ext>
            </a:extLst>
          </p:cNvPr>
          <p:cNvSpPr/>
          <p:nvPr/>
        </p:nvSpPr>
        <p:spPr>
          <a:xfrm>
            <a:off x="2132976" y="5314794"/>
            <a:ext cx="1751026" cy="376648"/>
          </a:xfrm>
          <a:prstGeom prst="rect">
            <a:avLst/>
          </a:prstGeom>
          <a:noFill/>
          <a:ln w="9525">
            <a:noFill/>
          </a:ln>
        </p:spPr>
        <p:txBody>
          <a:bodyPr tIns="126960" bIns="126960"/>
          <a:lstStyle/>
          <a:p>
            <a:pPr algn="just">
              <a:lnSpc>
                <a:spcPct val="100000"/>
              </a:lnSpc>
              <a:buNone/>
            </a:pPr>
            <a:r>
              <a:rPr lang="zh-CN" altLang="en-US" sz="1400" baseline="0" dirty="0">
                <a:latin typeface="Times New Roman" panose="02020603050405020304" pitchFamily="18" charset="0"/>
                <a:ea typeface="华康简宋" charset="-122"/>
              </a:rPr>
              <a:t>失谐时阻抗特性</a:t>
            </a:r>
            <a:r>
              <a:rPr lang="zh-CN" altLang="en-US" sz="1000" baseline="0" dirty="0">
                <a:latin typeface="Times New Roman" panose="02020603050405020304" pitchFamily="18" charset="0"/>
                <a:ea typeface="宋体" panose="02010600030101010101" pitchFamily="2" charset="-122"/>
              </a:rPr>
              <a:t> </a:t>
            </a:r>
            <a:endParaRPr lang="zh-CN" altLang="en-US" sz="1050" baseline="0" dirty="0">
              <a:latin typeface="Times New Roman" panose="02020603050405020304" pitchFamily="18" charset="0"/>
              <a:ea typeface="宋体" panose="02010600030101010101" pitchFamily="2" charset="-122"/>
            </a:endParaRPr>
          </a:p>
        </p:txBody>
      </p:sp>
      <p:sp>
        <p:nvSpPr>
          <p:cNvPr id="31" name="矩形 302362">
            <a:extLst>
              <a:ext uri="{FF2B5EF4-FFF2-40B4-BE49-F238E27FC236}">
                <a16:creationId xmlns:a16="http://schemas.microsoft.com/office/drawing/2014/main" xmlns="" id="{1D578715-1156-AFE0-5826-9C1DDF5B34CA}"/>
              </a:ext>
            </a:extLst>
          </p:cNvPr>
          <p:cNvSpPr/>
          <p:nvPr/>
        </p:nvSpPr>
        <p:spPr>
          <a:xfrm>
            <a:off x="3884002" y="5206606"/>
            <a:ext cx="2564641" cy="657082"/>
          </a:xfrm>
          <a:prstGeom prst="rect">
            <a:avLst/>
          </a:prstGeom>
          <a:noFill/>
          <a:ln w="9525">
            <a:noFill/>
          </a:ln>
        </p:spPr>
        <p:txBody>
          <a:bodyPr tIns="126960" bIns="126960"/>
          <a:lstStyle/>
          <a:p>
            <a:pPr indent="269875" algn="just" defTabSz="914400">
              <a:lnSpc>
                <a:spcPct val="100000"/>
              </a:lnSpc>
              <a:buNone/>
              <a:tabLst>
                <a:tab pos="4895850" algn="r"/>
              </a:tabLst>
            </a:pPr>
            <a:r>
              <a:rPr lang="en-US" altLang="zh-CN" sz="1400" baseline="0" dirty="0">
                <a:latin typeface="Times New Roman" panose="02020603050405020304" pitchFamily="18" charset="0"/>
                <a:sym typeface="Symbol" panose="05050102010706020507" pitchFamily="18" charset="2"/>
              </a:rPr>
              <a:t></a:t>
            </a:r>
            <a:r>
              <a:rPr lang="en-US" altLang="zh-CN" sz="1400" baseline="0" dirty="0">
                <a:latin typeface="Times New Roman" panose="02020603050405020304" pitchFamily="18" charset="0"/>
              </a:rPr>
              <a:t> &gt;</a:t>
            </a:r>
            <a:r>
              <a:rPr lang="en-US" altLang="zh-CN" sz="1400" baseline="0" dirty="0">
                <a:latin typeface="Times New Roman" panose="02020603050405020304" pitchFamily="18" charset="0"/>
                <a:sym typeface="Symbol" panose="05050102010706020507" pitchFamily="18" charset="2"/>
              </a:rPr>
              <a:t></a:t>
            </a:r>
            <a:r>
              <a:rPr lang="en-US" altLang="zh-CN" sz="1400" baseline="-30000" dirty="0">
                <a:latin typeface="Times New Roman" panose="02020603050405020304" pitchFamily="18" charset="0"/>
              </a:rPr>
              <a:t>0</a:t>
            </a:r>
            <a:r>
              <a:rPr lang="zh-CN" altLang="en-US" sz="1400" baseline="0" dirty="0">
                <a:latin typeface="Times New Roman" panose="02020603050405020304" pitchFamily="18" charset="0"/>
                <a:ea typeface="华康简宋" charset="-122"/>
                <a:sym typeface="Symbol" panose="05050102010706020507" pitchFamily="18" charset="2"/>
              </a:rPr>
              <a:t>，</a:t>
            </a:r>
            <a:r>
              <a:rPr lang="en-US" altLang="zh-CN" sz="1400" baseline="0" dirty="0">
                <a:latin typeface="Times New Roman" panose="02020603050405020304" pitchFamily="18" charset="0"/>
                <a:sym typeface="Symbol" panose="05050102010706020507" pitchFamily="18" charset="2"/>
              </a:rPr>
              <a:t>x &gt; 0 </a:t>
            </a:r>
            <a:r>
              <a:rPr lang="zh-CN" altLang="en-US" sz="1400" baseline="0" dirty="0">
                <a:latin typeface="Times New Roman" panose="02020603050405020304" pitchFamily="18" charset="0"/>
                <a:ea typeface="华康简宋" charset="-122"/>
                <a:sym typeface="Symbol" panose="05050102010706020507" pitchFamily="18" charset="2"/>
              </a:rPr>
              <a:t>回路呈感性</a:t>
            </a:r>
            <a:r>
              <a:rPr lang="zh-CN" altLang="en-US" sz="1400" baseline="0" dirty="0">
                <a:latin typeface="Times New Roman" panose="02020603050405020304" pitchFamily="18" charset="0"/>
                <a:sym typeface="Symbol" panose="05050102010706020507" pitchFamily="18" charset="2"/>
              </a:rPr>
              <a:t>   </a:t>
            </a:r>
          </a:p>
          <a:p>
            <a:pPr indent="269875" algn="just" defTabSz="914400" eaLnBrk="0" hangingPunct="0">
              <a:lnSpc>
                <a:spcPct val="100000"/>
              </a:lnSpc>
              <a:buNone/>
              <a:tabLst>
                <a:tab pos="4895850" algn="r"/>
              </a:tabLst>
            </a:pPr>
            <a:r>
              <a:rPr lang="zh-CN" altLang="en-US" sz="1400" baseline="0" dirty="0">
                <a:latin typeface="Times New Roman" panose="02020603050405020304" pitchFamily="18" charset="0"/>
                <a:sym typeface="Symbol" panose="05050102010706020507" pitchFamily="18" charset="2"/>
              </a:rPr>
              <a:t> </a:t>
            </a:r>
            <a:r>
              <a:rPr lang="en-US" altLang="zh-CN" sz="1400" baseline="0" dirty="0">
                <a:latin typeface="Times New Roman" panose="02020603050405020304" pitchFamily="18" charset="0"/>
                <a:sym typeface="Symbol" panose="05050102010706020507" pitchFamily="18" charset="2"/>
              </a:rPr>
              <a:t></a:t>
            </a:r>
            <a:r>
              <a:rPr lang="en-US" altLang="zh-CN" sz="1400" baseline="0" dirty="0">
                <a:latin typeface="Times New Roman" panose="02020603050405020304" pitchFamily="18" charset="0"/>
              </a:rPr>
              <a:t> </a:t>
            </a:r>
            <a:r>
              <a:rPr lang="en-US" altLang="zh-CN" sz="1400" baseline="0" dirty="0">
                <a:latin typeface="Times New Roman" panose="02020603050405020304" pitchFamily="18" charset="0"/>
                <a:sym typeface="Symbol" panose="05050102010706020507" pitchFamily="18" charset="2"/>
              </a:rPr>
              <a:t>&lt; </a:t>
            </a:r>
            <a:r>
              <a:rPr lang="en-US" altLang="zh-CN" sz="1400" baseline="-30000" dirty="0">
                <a:latin typeface="Times New Roman" panose="02020603050405020304" pitchFamily="18" charset="0"/>
              </a:rPr>
              <a:t>0</a:t>
            </a:r>
            <a:r>
              <a:rPr lang="zh-CN" altLang="en-US" sz="1400" baseline="0" dirty="0">
                <a:latin typeface="Times New Roman" panose="02020603050405020304" pitchFamily="18" charset="0"/>
                <a:ea typeface="华康简宋" charset="-122"/>
                <a:sym typeface="Symbol" panose="05050102010706020507" pitchFamily="18" charset="2"/>
              </a:rPr>
              <a:t>，</a:t>
            </a:r>
            <a:r>
              <a:rPr lang="en-US" altLang="zh-CN" sz="1400" baseline="0" dirty="0">
                <a:latin typeface="Times New Roman" panose="02020603050405020304" pitchFamily="18" charset="0"/>
                <a:sym typeface="Symbol" panose="05050102010706020507" pitchFamily="18" charset="2"/>
              </a:rPr>
              <a:t>x&lt;0  </a:t>
            </a:r>
            <a:r>
              <a:rPr lang="zh-CN" altLang="en-US" sz="1400" baseline="0" dirty="0">
                <a:latin typeface="Times New Roman" panose="02020603050405020304" pitchFamily="18" charset="0"/>
                <a:ea typeface="华康简宋" charset="-122"/>
                <a:sym typeface="Symbol" panose="05050102010706020507" pitchFamily="18" charset="2"/>
              </a:rPr>
              <a:t>回路呈容性</a:t>
            </a:r>
            <a:endParaRPr lang="zh-CN" altLang="en-US" sz="1200" baseline="0" dirty="0">
              <a:latin typeface="Times New Roman" panose="02020603050405020304" pitchFamily="18" charset="0"/>
              <a:ea typeface="宋体" panose="02010600030101010101" pitchFamily="2" charset="-122"/>
              <a:sym typeface="Symbol" panose="05050102010706020507" pitchFamily="18" charset="2"/>
            </a:endParaRPr>
          </a:p>
          <a:p>
            <a:pPr indent="269875" algn="just" defTabSz="914400" eaLnBrk="0" hangingPunct="0">
              <a:lnSpc>
                <a:spcPct val="100000"/>
              </a:lnSpc>
              <a:buNone/>
              <a:tabLst>
                <a:tab pos="4895850" algn="r"/>
              </a:tabLst>
            </a:pPr>
            <a:r>
              <a:rPr lang="en-US" altLang="zh-CN" sz="1000" i="1" baseline="0" dirty="0">
                <a:latin typeface="Times New Roman" panose="02020603050405020304" pitchFamily="18" charset="0"/>
                <a:ea typeface="宋体" panose="02010600030101010101" pitchFamily="2" charset="-122"/>
                <a:sym typeface="Symbol" panose="05050102010706020507" pitchFamily="18" charset="2"/>
              </a:rPr>
              <a:t> </a:t>
            </a:r>
          </a:p>
          <a:p>
            <a:pPr indent="269875" algn="just" defTabSz="914400" eaLnBrk="0" hangingPunct="0">
              <a:lnSpc>
                <a:spcPct val="100000"/>
              </a:lnSpc>
              <a:buNone/>
              <a:tabLst>
                <a:tab pos="4895850" algn="r"/>
              </a:tabLst>
            </a:pPr>
            <a:endParaRPr lang="en-US" altLang="zh-CN" sz="900" i="1" baseline="0" dirty="0">
              <a:latin typeface="Times New Roman" panose="02020603050405020304" pitchFamily="18" charset="0"/>
              <a:ea typeface="宋体" panose="02010600030101010101" pitchFamily="2" charset="-122"/>
              <a:sym typeface="Symbol" panose="05050102010706020507" pitchFamily="18" charset="2"/>
            </a:endParaRPr>
          </a:p>
        </p:txBody>
      </p:sp>
      <p:sp>
        <p:nvSpPr>
          <p:cNvPr id="32" name="矩形 302363">
            <a:extLst>
              <a:ext uri="{FF2B5EF4-FFF2-40B4-BE49-F238E27FC236}">
                <a16:creationId xmlns:a16="http://schemas.microsoft.com/office/drawing/2014/main" xmlns="" id="{592E40A7-132E-0EBD-2060-F8D5CFAE0ACC}"/>
              </a:ext>
            </a:extLst>
          </p:cNvPr>
          <p:cNvSpPr/>
          <p:nvPr/>
        </p:nvSpPr>
        <p:spPr>
          <a:xfrm>
            <a:off x="6224286" y="5155794"/>
            <a:ext cx="2600751" cy="657082"/>
          </a:xfrm>
          <a:prstGeom prst="rect">
            <a:avLst/>
          </a:prstGeom>
          <a:noFill/>
          <a:ln w="9525">
            <a:noFill/>
          </a:ln>
        </p:spPr>
        <p:txBody>
          <a:bodyPr tIns="126960" bIns="126960"/>
          <a:lstStyle/>
          <a:p>
            <a:pPr indent="269875" algn="just" defTabSz="914400">
              <a:lnSpc>
                <a:spcPct val="100000"/>
              </a:lnSpc>
              <a:buNone/>
              <a:tabLst>
                <a:tab pos="4895850" algn="r"/>
              </a:tabLst>
            </a:pPr>
            <a:r>
              <a:rPr lang="en-US" altLang="zh-CN" sz="1400" baseline="0" dirty="0">
                <a:latin typeface="Times New Roman" panose="02020603050405020304" pitchFamily="18" charset="0"/>
                <a:sym typeface="Symbol" panose="05050102010706020507" pitchFamily="18" charset="2"/>
              </a:rPr>
              <a:t></a:t>
            </a:r>
            <a:r>
              <a:rPr lang="en-US" altLang="zh-CN" sz="1400" baseline="0" dirty="0">
                <a:latin typeface="Times New Roman" panose="02020603050405020304" pitchFamily="18" charset="0"/>
              </a:rPr>
              <a:t> &gt;</a:t>
            </a:r>
            <a:r>
              <a:rPr lang="en-US" altLang="zh-CN" sz="1400" baseline="0" dirty="0">
                <a:latin typeface="Times New Roman" panose="02020603050405020304" pitchFamily="18" charset="0"/>
                <a:sym typeface="Symbol" panose="05050102010706020507" pitchFamily="18" charset="2"/>
              </a:rPr>
              <a:t></a:t>
            </a:r>
            <a:r>
              <a:rPr lang="en-US" altLang="zh-CN" sz="1400" baseline="-30000" dirty="0">
                <a:latin typeface="Times New Roman" panose="02020603050405020304" pitchFamily="18" charset="0"/>
              </a:rPr>
              <a:t>p</a:t>
            </a:r>
            <a:r>
              <a:rPr lang="zh-CN" altLang="en-US" sz="1400" baseline="0" dirty="0">
                <a:latin typeface="Times New Roman" panose="02020603050405020304" pitchFamily="18" charset="0"/>
                <a:ea typeface="华康简宋" charset="-122"/>
                <a:sym typeface="Symbol" panose="05050102010706020507" pitchFamily="18" charset="2"/>
              </a:rPr>
              <a:t>，</a:t>
            </a:r>
            <a:r>
              <a:rPr lang="en-US" altLang="zh-CN" sz="1400" baseline="0" dirty="0">
                <a:latin typeface="Times New Roman" panose="02020603050405020304" pitchFamily="18" charset="0"/>
                <a:sym typeface="Symbol" panose="05050102010706020507" pitchFamily="18" charset="2"/>
              </a:rPr>
              <a:t>B &gt; 0 </a:t>
            </a:r>
            <a:r>
              <a:rPr lang="zh-CN" altLang="en-US" sz="1400" baseline="0" dirty="0">
                <a:latin typeface="Times New Roman" panose="02020603050405020304" pitchFamily="18" charset="0"/>
                <a:ea typeface="华康简宋" charset="-122"/>
                <a:sym typeface="Symbol" panose="05050102010706020507" pitchFamily="18" charset="2"/>
              </a:rPr>
              <a:t>回路呈容性</a:t>
            </a:r>
            <a:r>
              <a:rPr lang="zh-CN" altLang="en-US" sz="1400" baseline="0" dirty="0">
                <a:latin typeface="Times New Roman" panose="02020603050405020304" pitchFamily="18" charset="0"/>
                <a:sym typeface="Symbol" panose="05050102010706020507" pitchFamily="18" charset="2"/>
              </a:rPr>
              <a:t>   </a:t>
            </a:r>
            <a:endParaRPr lang="zh-CN" altLang="en-US" sz="1400" baseline="0" dirty="0" smtClean="0">
              <a:latin typeface="Times New Roman" panose="02020603050405020304" pitchFamily="18" charset="0"/>
              <a:sym typeface="Symbol" panose="05050102010706020507" pitchFamily="18" charset="2"/>
            </a:endParaRPr>
          </a:p>
          <a:p>
            <a:pPr indent="269875" algn="just" defTabSz="914400" eaLnBrk="0" hangingPunct="0">
              <a:lnSpc>
                <a:spcPct val="100000"/>
              </a:lnSpc>
              <a:buNone/>
              <a:tabLst>
                <a:tab pos="4895850" algn="r"/>
              </a:tabLst>
            </a:pPr>
            <a:r>
              <a:rPr lang="zh-CN" altLang="en-US" sz="1400" baseline="0" dirty="0" smtClean="0">
                <a:latin typeface="Times New Roman" panose="02020603050405020304" pitchFamily="18" charset="0"/>
                <a:sym typeface="Symbol" panose="05050102010706020507" pitchFamily="18" charset="2"/>
              </a:rPr>
              <a:t>  </a:t>
            </a:r>
            <a:r>
              <a:rPr lang="en-US" altLang="zh-CN" sz="1400" baseline="0" dirty="0" smtClean="0">
                <a:latin typeface="Times New Roman" panose="02020603050405020304" pitchFamily="18" charset="0"/>
                <a:sym typeface="Symbol" panose="05050102010706020507" pitchFamily="18" charset="2"/>
              </a:rPr>
              <a:t></a:t>
            </a:r>
            <a:r>
              <a:rPr lang="en-US" altLang="zh-CN" sz="1400" baseline="0" dirty="0" smtClean="0">
                <a:latin typeface="Times New Roman" panose="02020603050405020304" pitchFamily="18" charset="0"/>
              </a:rPr>
              <a:t> </a:t>
            </a:r>
            <a:r>
              <a:rPr lang="en-US" altLang="zh-CN" sz="1400" baseline="0" dirty="0" smtClean="0">
                <a:latin typeface="Times New Roman" panose="02020603050405020304" pitchFamily="18" charset="0"/>
                <a:sym typeface="Symbol" panose="05050102010706020507" pitchFamily="18" charset="2"/>
              </a:rPr>
              <a:t>&lt; </a:t>
            </a:r>
            <a:r>
              <a:rPr lang="en-US" altLang="zh-CN" sz="1400" baseline="-30000" dirty="0" smtClean="0">
                <a:latin typeface="Times New Roman" panose="02020603050405020304" pitchFamily="18" charset="0"/>
              </a:rPr>
              <a:t>p</a:t>
            </a:r>
            <a:r>
              <a:rPr lang="zh-CN" altLang="en-US" sz="1400" baseline="0" dirty="0" smtClean="0">
                <a:latin typeface="Times New Roman" panose="02020603050405020304" pitchFamily="18" charset="0"/>
                <a:ea typeface="华康简宋" charset="-122"/>
                <a:sym typeface="Symbol" panose="05050102010706020507" pitchFamily="18" charset="2"/>
              </a:rPr>
              <a:t>，</a:t>
            </a:r>
            <a:r>
              <a:rPr lang="en-US" altLang="zh-CN" sz="1400" baseline="0" dirty="0" smtClean="0">
                <a:latin typeface="Times New Roman" panose="02020603050405020304" pitchFamily="18" charset="0"/>
                <a:sym typeface="Symbol" panose="05050102010706020507" pitchFamily="18" charset="2"/>
              </a:rPr>
              <a:t>B&lt;0  </a:t>
            </a:r>
            <a:r>
              <a:rPr lang="zh-CN" altLang="en-US" sz="1400" baseline="0" dirty="0" smtClean="0">
                <a:latin typeface="Times New Roman" panose="02020603050405020304" pitchFamily="18" charset="0"/>
                <a:ea typeface="华康简宋" charset="-122"/>
                <a:sym typeface="Symbol" panose="05050102010706020507" pitchFamily="18" charset="2"/>
              </a:rPr>
              <a:t>回路呈感性</a:t>
            </a:r>
            <a:endParaRPr lang="zh-CN" altLang="en-US" sz="1400" baseline="0" dirty="0" smtClean="0">
              <a:latin typeface="Times New Roman" panose="02020603050405020304" pitchFamily="18" charset="0"/>
              <a:sym typeface="Symbol" panose="05050102010706020507" pitchFamily="18" charset="2"/>
            </a:endParaRPr>
          </a:p>
          <a:p>
            <a:pPr indent="269875" algn="just" defTabSz="914400" eaLnBrk="0" hangingPunct="0">
              <a:lnSpc>
                <a:spcPct val="100000"/>
              </a:lnSpc>
              <a:buNone/>
              <a:tabLst>
                <a:tab pos="4895850" algn="r"/>
              </a:tabLst>
            </a:pPr>
            <a:r>
              <a:rPr lang="en-US" altLang="zh-CN" sz="1050" i="1" baseline="0" dirty="0">
                <a:latin typeface="Times New Roman" panose="02020603050405020304" pitchFamily="18" charset="0"/>
                <a:ea typeface="宋体" panose="02010600030101010101" pitchFamily="2" charset="-122"/>
                <a:sym typeface="Symbol" panose="05050102010706020507" pitchFamily="18" charset="2"/>
              </a:rPr>
              <a:t> </a:t>
            </a:r>
          </a:p>
          <a:p>
            <a:pPr indent="269875" algn="just" defTabSz="914400" eaLnBrk="0" hangingPunct="0">
              <a:lnSpc>
                <a:spcPct val="100000"/>
              </a:lnSpc>
              <a:buNone/>
              <a:tabLst>
                <a:tab pos="4895850" algn="r"/>
              </a:tabLst>
            </a:pPr>
            <a:endParaRPr lang="en-US" altLang="zh-CN" sz="900" i="1" baseline="0" dirty="0">
              <a:latin typeface="Times New Roman" panose="02020603050405020304" pitchFamily="18" charset="0"/>
              <a:ea typeface="宋体" panose="02010600030101010101" pitchFamily="2" charset="-122"/>
              <a:sym typeface="Symbol" panose="05050102010706020507" pitchFamily="18" charset="2"/>
            </a:endParaRPr>
          </a:p>
        </p:txBody>
      </p:sp>
      <p:sp>
        <p:nvSpPr>
          <p:cNvPr id="33" name="矩形 302364">
            <a:extLst>
              <a:ext uri="{FF2B5EF4-FFF2-40B4-BE49-F238E27FC236}">
                <a16:creationId xmlns:a16="http://schemas.microsoft.com/office/drawing/2014/main" xmlns="" id="{D963360D-1AAE-6110-2536-90B94722AB1E}"/>
              </a:ext>
            </a:extLst>
          </p:cNvPr>
          <p:cNvSpPr/>
          <p:nvPr/>
        </p:nvSpPr>
        <p:spPr>
          <a:xfrm>
            <a:off x="2132976" y="5899826"/>
            <a:ext cx="1333552" cy="385529"/>
          </a:xfrm>
          <a:prstGeom prst="rect">
            <a:avLst/>
          </a:prstGeom>
          <a:noFill/>
          <a:ln w="9525">
            <a:noFill/>
          </a:ln>
        </p:spPr>
        <p:txBody>
          <a:bodyPr tIns="126960" bIns="126960"/>
          <a:lstStyle/>
          <a:p>
            <a:pPr algn="just">
              <a:lnSpc>
                <a:spcPct val="100000"/>
              </a:lnSpc>
              <a:buNone/>
            </a:pPr>
            <a:r>
              <a:rPr lang="zh-CN" altLang="en-US" sz="1400" baseline="0" dirty="0">
                <a:latin typeface="Times New Roman" panose="02020603050405020304" pitchFamily="18" charset="0"/>
                <a:ea typeface="华康简宋" charset="-122"/>
              </a:rPr>
              <a:t>谐振</a:t>
            </a:r>
            <a:r>
              <a:rPr lang="zh-CN" altLang="en-US" sz="1400" baseline="0" dirty="0" smtClean="0">
                <a:latin typeface="Times New Roman" panose="02020603050405020304" pitchFamily="18" charset="0"/>
                <a:ea typeface="华康简宋" charset="-122"/>
              </a:rPr>
              <a:t>电阻</a:t>
            </a:r>
            <a:endParaRPr lang="zh-CN" altLang="en-US" sz="1400" baseline="0" dirty="0">
              <a:latin typeface="Times New Roman" panose="02020603050405020304" pitchFamily="18" charset="0"/>
            </a:endParaRPr>
          </a:p>
        </p:txBody>
      </p:sp>
      <p:sp>
        <p:nvSpPr>
          <p:cNvPr id="34" name="矩形 302365">
            <a:extLst>
              <a:ext uri="{FF2B5EF4-FFF2-40B4-BE49-F238E27FC236}">
                <a16:creationId xmlns:a16="http://schemas.microsoft.com/office/drawing/2014/main" xmlns="" id="{5444160D-55B5-9635-8017-CFC6EFCB8EB1}"/>
              </a:ext>
            </a:extLst>
          </p:cNvPr>
          <p:cNvSpPr/>
          <p:nvPr/>
        </p:nvSpPr>
        <p:spPr>
          <a:xfrm>
            <a:off x="4153267" y="5899826"/>
            <a:ext cx="2301944" cy="371490"/>
          </a:xfrm>
          <a:prstGeom prst="rect">
            <a:avLst/>
          </a:prstGeom>
          <a:noFill/>
          <a:ln w="9525">
            <a:noFill/>
          </a:ln>
        </p:spPr>
        <p:txBody>
          <a:bodyPr tIns="126960" bIns="126960"/>
          <a:lstStyle/>
          <a:p>
            <a:pPr algn="just">
              <a:lnSpc>
                <a:spcPct val="100000"/>
              </a:lnSpc>
              <a:buNone/>
            </a:pPr>
            <a:r>
              <a:rPr lang="zh-CN" altLang="en-US" sz="1200" baseline="0" dirty="0">
                <a:latin typeface="Times New Roman" panose="02020603050405020304" pitchFamily="18" charset="0"/>
                <a:ea typeface="华康简宋" charset="-122"/>
              </a:rPr>
              <a:t>最小            </a:t>
            </a:r>
            <a:r>
              <a:rPr lang="en-US" altLang="zh-CN" sz="1200" baseline="0" dirty="0">
                <a:latin typeface="Times New Roman" panose="02020603050405020304" pitchFamily="18" charset="0"/>
                <a:ea typeface="华康简宋" charset="-122"/>
              </a:rPr>
              <a:t>= R</a:t>
            </a:r>
            <a:endParaRPr lang="en-US" altLang="zh-CN" sz="1200" baseline="0" dirty="0">
              <a:latin typeface="Times New Roman" panose="02020603050405020304" pitchFamily="18" charset="0"/>
              <a:ea typeface="宋体" panose="02010600030101010101" pitchFamily="2" charset="-122"/>
            </a:endParaRPr>
          </a:p>
          <a:p>
            <a:pPr algn="just" eaLnBrk="0" hangingPunct="0">
              <a:lnSpc>
                <a:spcPct val="100000"/>
              </a:lnSpc>
              <a:buNone/>
            </a:pPr>
            <a:endParaRPr lang="en-US" altLang="zh-CN" sz="1200" baseline="0" dirty="0">
              <a:latin typeface="Arial" panose="020B0604020202020204" pitchFamily="34" charset="0"/>
              <a:ea typeface="宋体" panose="02010600030101010101" pitchFamily="2" charset="-122"/>
            </a:endParaRPr>
          </a:p>
        </p:txBody>
      </p:sp>
      <p:sp>
        <p:nvSpPr>
          <p:cNvPr id="35" name="矩形 302366">
            <a:extLst>
              <a:ext uri="{FF2B5EF4-FFF2-40B4-BE49-F238E27FC236}">
                <a16:creationId xmlns:a16="http://schemas.microsoft.com/office/drawing/2014/main" xmlns="" id="{77CD9D22-5FF2-045C-977B-3FF7C083A09F}"/>
              </a:ext>
            </a:extLst>
          </p:cNvPr>
          <p:cNvSpPr/>
          <p:nvPr/>
        </p:nvSpPr>
        <p:spPr>
          <a:xfrm>
            <a:off x="6556378" y="5877511"/>
            <a:ext cx="2445144" cy="411961"/>
          </a:xfrm>
          <a:prstGeom prst="rect">
            <a:avLst/>
          </a:prstGeom>
          <a:noFill/>
          <a:ln w="9525">
            <a:noFill/>
          </a:ln>
        </p:spPr>
        <p:txBody>
          <a:bodyPr tIns="126960" bIns="126960"/>
          <a:lstStyle/>
          <a:p>
            <a:pPr algn="just">
              <a:lnSpc>
                <a:spcPct val="100000"/>
              </a:lnSpc>
              <a:buNone/>
            </a:pPr>
            <a:r>
              <a:rPr lang="zh-CN" altLang="en-US" sz="1200" baseline="0" dirty="0">
                <a:latin typeface="Times New Roman" panose="02020603050405020304" pitchFamily="18" charset="0"/>
                <a:ea typeface="华康简宋" charset="-122"/>
              </a:rPr>
              <a:t>最大</a:t>
            </a:r>
            <a:endParaRPr lang="zh-CN" altLang="en-US" sz="1200" baseline="0" dirty="0">
              <a:latin typeface="Times New Roman" panose="02020603050405020304" pitchFamily="18" charset="0"/>
              <a:ea typeface="宋体" panose="02010600030101010101" pitchFamily="2" charset="-122"/>
            </a:endParaRPr>
          </a:p>
          <a:p>
            <a:pPr algn="just" eaLnBrk="0" hangingPunct="0">
              <a:lnSpc>
                <a:spcPct val="100000"/>
              </a:lnSpc>
              <a:buNone/>
            </a:pPr>
            <a:endParaRPr lang="zh-CN" altLang="en-US" sz="1200" baseline="0" dirty="0">
              <a:latin typeface="Arial" panose="020B0604020202020204" pitchFamily="34" charset="0"/>
              <a:ea typeface="宋体" panose="02010600030101010101" pitchFamily="2" charset="-122"/>
            </a:endParaRPr>
          </a:p>
        </p:txBody>
      </p:sp>
      <p:graphicFrame>
        <p:nvGraphicFramePr>
          <p:cNvPr id="36" name="对象 35">
            <a:extLst>
              <a:ext uri="{FF2B5EF4-FFF2-40B4-BE49-F238E27FC236}">
                <a16:creationId xmlns:a16="http://schemas.microsoft.com/office/drawing/2014/main" xmlns="" id="{3104B6BC-3401-9EE4-8C2A-4C35A242F089}"/>
              </a:ext>
            </a:extLst>
          </p:cNvPr>
          <p:cNvGraphicFramePr>
            <a:graphicFrameLocks noChangeAspect="1"/>
          </p:cNvGraphicFramePr>
          <p:nvPr>
            <p:extLst>
              <p:ext uri="{D42A27DB-BD31-4B8C-83A1-F6EECF244321}">
                <p14:modId xmlns:p14="http://schemas.microsoft.com/office/powerpoint/2010/main" val="2858914316"/>
              </p:ext>
            </p:extLst>
          </p:nvPr>
        </p:nvGraphicFramePr>
        <p:xfrm>
          <a:off x="7219658" y="5894830"/>
          <a:ext cx="914400" cy="390525"/>
        </p:xfrm>
        <a:graphic>
          <a:graphicData uri="http://schemas.openxmlformats.org/presentationml/2006/ole">
            <mc:AlternateContent xmlns:mc="http://schemas.openxmlformats.org/markup-compatibility/2006">
              <mc:Choice xmlns:v="urn:schemas-microsoft-com:vml" Requires="v">
                <p:oleObj spid="_x0000_s201859" name="Equation" r:id="rId29" imgW="914468" imgH="390254" progId="Equation.DSMT4">
                  <p:embed/>
                </p:oleObj>
              </mc:Choice>
              <mc:Fallback>
                <p:oleObj name="Equation" r:id="rId29" imgW="914468" imgH="390254" progId="Equation.DSMT4">
                  <p:embed/>
                  <p:pic>
                    <p:nvPicPr>
                      <p:cNvPr id="0" name=""/>
                      <p:cNvPicPr/>
                      <p:nvPr/>
                    </p:nvPicPr>
                    <p:blipFill>
                      <a:blip r:embed="rId30"/>
                      <a:stretch>
                        <a:fillRect/>
                      </a:stretch>
                    </p:blipFill>
                    <p:spPr>
                      <a:xfrm>
                        <a:off x="7219658" y="5894830"/>
                        <a:ext cx="914400" cy="390525"/>
                      </a:xfrm>
                      <a:prstGeom prst="rect">
                        <a:avLst/>
                      </a:prstGeom>
                    </p:spPr>
                  </p:pic>
                </p:oleObj>
              </mc:Fallback>
            </mc:AlternateContent>
          </a:graphicData>
        </a:graphic>
      </p:graphicFrame>
      <p:graphicFrame>
        <p:nvGraphicFramePr>
          <p:cNvPr id="37" name="对象 36">
            <a:extLst>
              <a:ext uri="{FF2B5EF4-FFF2-40B4-BE49-F238E27FC236}">
                <a16:creationId xmlns:a16="http://schemas.microsoft.com/office/drawing/2014/main" xmlns="" id="{FD702BFC-F21C-26C4-B851-C0C6B3D24D40}"/>
              </a:ext>
            </a:extLst>
          </p:cNvPr>
          <p:cNvGraphicFramePr>
            <a:graphicFrameLocks noChangeAspect="1"/>
          </p:cNvGraphicFramePr>
          <p:nvPr>
            <p:extLst>
              <p:ext uri="{D42A27DB-BD31-4B8C-83A1-F6EECF244321}">
                <p14:modId xmlns:p14="http://schemas.microsoft.com/office/powerpoint/2010/main" val="3304111638"/>
              </p:ext>
            </p:extLst>
          </p:nvPr>
        </p:nvGraphicFramePr>
        <p:xfrm>
          <a:off x="4311074" y="6271429"/>
          <a:ext cx="1447800" cy="544513"/>
        </p:xfrm>
        <a:graphic>
          <a:graphicData uri="http://schemas.openxmlformats.org/presentationml/2006/ole">
            <mc:AlternateContent xmlns:mc="http://schemas.openxmlformats.org/markup-compatibility/2006">
              <mc:Choice xmlns:v="urn:schemas-microsoft-com:vml" Requires="v">
                <p:oleObj spid="_x0000_s201860" name="Equation" r:id="rId31" imgW="1448028" imgH="544340" progId="Equation.DSMT4">
                  <p:embed/>
                </p:oleObj>
              </mc:Choice>
              <mc:Fallback>
                <p:oleObj name="Equation" r:id="rId31" imgW="1448028" imgH="544340" progId="Equation.DSMT4">
                  <p:embed/>
                  <p:pic>
                    <p:nvPicPr>
                      <p:cNvPr id="0" name=""/>
                      <p:cNvPicPr/>
                      <p:nvPr/>
                    </p:nvPicPr>
                    <p:blipFill>
                      <a:blip r:embed="rId32"/>
                      <a:stretch>
                        <a:fillRect/>
                      </a:stretch>
                    </p:blipFill>
                    <p:spPr>
                      <a:xfrm>
                        <a:off x="4311074" y="6271429"/>
                        <a:ext cx="1447800" cy="544513"/>
                      </a:xfrm>
                      <a:prstGeom prst="rect">
                        <a:avLst/>
                      </a:prstGeom>
                    </p:spPr>
                  </p:pic>
                </p:oleObj>
              </mc:Fallback>
            </mc:AlternateContent>
          </a:graphicData>
        </a:graphic>
      </p:graphicFrame>
      <p:graphicFrame>
        <p:nvGraphicFramePr>
          <p:cNvPr id="38" name="对象 37">
            <a:extLst>
              <a:ext uri="{FF2B5EF4-FFF2-40B4-BE49-F238E27FC236}">
                <a16:creationId xmlns:a16="http://schemas.microsoft.com/office/drawing/2014/main" xmlns="" id="{F9C29255-62AA-0880-9D2F-D3D2C75D6A3A}"/>
              </a:ext>
            </a:extLst>
          </p:cNvPr>
          <p:cNvGraphicFramePr>
            <a:graphicFrameLocks noChangeAspect="1"/>
          </p:cNvGraphicFramePr>
          <p:nvPr>
            <p:extLst>
              <p:ext uri="{D42A27DB-BD31-4B8C-83A1-F6EECF244321}">
                <p14:modId xmlns:p14="http://schemas.microsoft.com/office/powerpoint/2010/main" val="3579555392"/>
              </p:ext>
            </p:extLst>
          </p:nvPr>
        </p:nvGraphicFramePr>
        <p:xfrm>
          <a:off x="6243052" y="6194985"/>
          <a:ext cx="1827661" cy="648566"/>
        </p:xfrm>
        <a:graphic>
          <a:graphicData uri="http://schemas.openxmlformats.org/presentationml/2006/ole">
            <mc:AlternateContent xmlns:mc="http://schemas.openxmlformats.org/markup-compatibility/2006">
              <mc:Choice xmlns:v="urn:schemas-microsoft-com:vml" Requires="v">
                <p:oleObj spid="_x0000_s201861" name="Equation" r:id="rId33" imgW="2286171" imgH="810749" progId="Equation.DSMT4">
                  <p:embed/>
                </p:oleObj>
              </mc:Choice>
              <mc:Fallback>
                <p:oleObj name="Equation" r:id="rId33" imgW="2286171" imgH="810749" progId="Equation.DSMT4">
                  <p:embed/>
                  <p:pic>
                    <p:nvPicPr>
                      <p:cNvPr id="0" name=""/>
                      <p:cNvPicPr/>
                      <p:nvPr/>
                    </p:nvPicPr>
                    <p:blipFill>
                      <a:blip r:embed="rId34"/>
                      <a:stretch>
                        <a:fillRect/>
                      </a:stretch>
                    </p:blipFill>
                    <p:spPr>
                      <a:xfrm>
                        <a:off x="6243052" y="6194985"/>
                        <a:ext cx="1827661" cy="648566"/>
                      </a:xfrm>
                      <a:prstGeom prst="rect">
                        <a:avLst/>
                      </a:prstGeom>
                    </p:spPr>
                  </p:pic>
                </p:oleObj>
              </mc:Fallback>
            </mc:AlternateContent>
          </a:graphicData>
        </a:graphic>
      </p:graphicFrame>
      <p:sp>
        <p:nvSpPr>
          <p:cNvPr id="39" name="矩形 302367">
            <a:extLst>
              <a:ext uri="{FF2B5EF4-FFF2-40B4-BE49-F238E27FC236}">
                <a16:creationId xmlns:a16="http://schemas.microsoft.com/office/drawing/2014/main" xmlns="" id="{1EB1313F-C3D6-1A7A-DE51-0ED232BB4C8F}"/>
              </a:ext>
            </a:extLst>
          </p:cNvPr>
          <p:cNvSpPr/>
          <p:nvPr/>
        </p:nvSpPr>
        <p:spPr>
          <a:xfrm>
            <a:off x="2146149" y="6401907"/>
            <a:ext cx="1333552" cy="535637"/>
          </a:xfrm>
          <a:prstGeom prst="rect">
            <a:avLst/>
          </a:prstGeom>
          <a:noFill/>
          <a:ln w="9525">
            <a:noFill/>
          </a:ln>
        </p:spPr>
        <p:txBody>
          <a:bodyPr tIns="126960" bIns="126960"/>
          <a:lstStyle/>
          <a:p>
            <a:pPr algn="just">
              <a:lnSpc>
                <a:spcPct val="100000"/>
              </a:lnSpc>
              <a:buNone/>
            </a:pPr>
            <a:r>
              <a:rPr lang="zh-CN" altLang="en-US" sz="1400" baseline="0" dirty="0">
                <a:latin typeface="Times New Roman" panose="02020603050405020304" pitchFamily="18" charset="0"/>
                <a:ea typeface="华康简宋" charset="-122"/>
              </a:rPr>
              <a:t>有载</a:t>
            </a:r>
            <a:r>
              <a:rPr lang="en-US" altLang="zh-CN" sz="1400" i="1" baseline="0" dirty="0">
                <a:latin typeface="Times New Roman" panose="02020603050405020304" pitchFamily="18" charset="0"/>
              </a:rPr>
              <a:t>Q</a:t>
            </a:r>
            <a:r>
              <a:rPr lang="zh-CN" altLang="en-US" sz="1400" baseline="0" dirty="0" smtClean="0">
                <a:latin typeface="Times New Roman" panose="02020603050405020304" pitchFamily="18" charset="0"/>
                <a:ea typeface="华康简宋" charset="-122"/>
              </a:rPr>
              <a:t>值</a:t>
            </a:r>
            <a:endParaRPr lang="zh-CN" altLang="en-US" sz="1400" baseline="0" dirty="0">
              <a:latin typeface="Times New Roman" panose="02020603050405020304" pitchFamily="18" charset="0"/>
            </a:endParaRPr>
          </a:p>
        </p:txBody>
      </p:sp>
      <p:graphicFrame>
        <p:nvGraphicFramePr>
          <p:cNvPr id="40" name="对象 302326">
            <a:extLst>
              <a:ext uri="{FF2B5EF4-FFF2-40B4-BE49-F238E27FC236}">
                <a16:creationId xmlns:a16="http://schemas.microsoft.com/office/drawing/2014/main" xmlns="" id="{B8AF828E-EAA7-3F4A-1C8A-EF1A63BFE6DA}"/>
              </a:ext>
            </a:extLst>
          </p:cNvPr>
          <p:cNvGraphicFramePr/>
          <p:nvPr>
            <p:extLst>
              <p:ext uri="{D42A27DB-BD31-4B8C-83A1-F6EECF244321}">
                <p14:modId xmlns:p14="http://schemas.microsoft.com/office/powerpoint/2010/main" val="396422186"/>
              </p:ext>
            </p:extLst>
          </p:nvPr>
        </p:nvGraphicFramePr>
        <p:xfrm>
          <a:off x="161343" y="3161388"/>
          <a:ext cx="1371600" cy="1285875"/>
        </p:xfrm>
        <a:graphic>
          <a:graphicData uri="http://schemas.openxmlformats.org/presentationml/2006/ole">
            <mc:AlternateContent xmlns:mc="http://schemas.openxmlformats.org/markup-compatibility/2006">
              <mc:Choice xmlns:v="urn:schemas-microsoft-com:vml" Requires="v">
                <p:oleObj spid="_x0000_s201862" r:id="rId35" imgW="1714500" imgH="1619885" progId="Word.Picture.8">
                  <p:embed/>
                </p:oleObj>
              </mc:Choice>
              <mc:Fallback>
                <p:oleObj r:id="rId35" imgW="1714500" imgH="1619885" progId="Word.Picture.8">
                  <p:embed/>
                  <p:pic>
                    <p:nvPicPr>
                      <p:cNvPr id="0" name=""/>
                      <p:cNvPicPr/>
                      <p:nvPr/>
                    </p:nvPicPr>
                    <p:blipFill>
                      <a:blip r:embed="rId36"/>
                      <a:stretch>
                        <a:fillRect/>
                      </a:stretch>
                    </p:blipFill>
                    <p:spPr>
                      <a:xfrm>
                        <a:off x="161343" y="3161388"/>
                        <a:ext cx="1371600" cy="1285875"/>
                      </a:xfrm>
                      <a:prstGeom prst="rect">
                        <a:avLst/>
                      </a:prstGeom>
                      <a:noFill/>
                      <a:ln w="38100">
                        <a:noFill/>
                        <a:miter/>
                      </a:ln>
                    </p:spPr>
                  </p:pic>
                </p:oleObj>
              </mc:Fallback>
            </mc:AlternateContent>
          </a:graphicData>
        </a:graphic>
      </p:graphicFrame>
      <p:graphicFrame>
        <p:nvGraphicFramePr>
          <p:cNvPr id="41" name="对象 302325">
            <a:extLst>
              <a:ext uri="{FF2B5EF4-FFF2-40B4-BE49-F238E27FC236}">
                <a16:creationId xmlns:a16="http://schemas.microsoft.com/office/drawing/2014/main" xmlns="" id="{05DE7EA2-7826-1307-F1ED-1EBD60320C3A}"/>
              </a:ext>
            </a:extLst>
          </p:cNvPr>
          <p:cNvGraphicFramePr/>
          <p:nvPr>
            <p:extLst>
              <p:ext uri="{D42A27DB-BD31-4B8C-83A1-F6EECF244321}">
                <p14:modId xmlns:p14="http://schemas.microsoft.com/office/powerpoint/2010/main" val="1163914184"/>
              </p:ext>
            </p:extLst>
          </p:nvPr>
        </p:nvGraphicFramePr>
        <p:xfrm>
          <a:off x="161343" y="4685388"/>
          <a:ext cx="1295400" cy="1214438"/>
        </p:xfrm>
        <a:graphic>
          <a:graphicData uri="http://schemas.openxmlformats.org/presentationml/2006/ole">
            <mc:AlternateContent xmlns:mc="http://schemas.openxmlformats.org/markup-compatibility/2006">
              <mc:Choice xmlns:v="urn:schemas-microsoft-com:vml" Requires="v">
                <p:oleObj spid="_x0000_s201863" r:id="rId37" imgW="1714500" imgH="1619885" progId="Word.Picture.8">
                  <p:embed/>
                </p:oleObj>
              </mc:Choice>
              <mc:Fallback>
                <p:oleObj r:id="rId37" imgW="1714500" imgH="1619885" progId="Word.Picture.8">
                  <p:embed/>
                  <p:pic>
                    <p:nvPicPr>
                      <p:cNvPr id="0" name=""/>
                      <p:cNvPicPr/>
                      <p:nvPr/>
                    </p:nvPicPr>
                    <p:blipFill>
                      <a:blip r:embed="rId38"/>
                      <a:stretch>
                        <a:fillRect/>
                      </a:stretch>
                    </p:blipFill>
                    <p:spPr>
                      <a:xfrm>
                        <a:off x="161343" y="4685388"/>
                        <a:ext cx="1295400" cy="1214438"/>
                      </a:xfrm>
                      <a:prstGeom prst="rect">
                        <a:avLst/>
                      </a:prstGeom>
                      <a:noFill/>
                      <a:ln w="38100">
                        <a:noFill/>
                        <a:miter/>
                      </a:ln>
                    </p:spPr>
                  </p:pic>
                </p:oleObj>
              </mc:Fallback>
            </mc:AlternateContent>
          </a:graphicData>
        </a:graphic>
      </p:graphicFrame>
      <p:sp>
        <p:nvSpPr>
          <p:cNvPr id="42" name="矩形 302442">
            <a:extLst>
              <a:ext uri="{FF2B5EF4-FFF2-40B4-BE49-F238E27FC236}">
                <a16:creationId xmlns:a16="http://schemas.microsoft.com/office/drawing/2014/main" xmlns="" id="{D60DC75D-1785-02FF-A6DC-220DF35831BF}"/>
              </a:ext>
            </a:extLst>
          </p:cNvPr>
          <p:cNvSpPr/>
          <p:nvPr/>
        </p:nvSpPr>
        <p:spPr>
          <a:xfrm>
            <a:off x="310820" y="2787091"/>
            <a:ext cx="946150" cy="436562"/>
          </a:xfrm>
          <a:prstGeom prst="rect">
            <a:avLst/>
          </a:prstGeom>
          <a:noFill/>
          <a:ln w="9525">
            <a:noFill/>
          </a:ln>
        </p:spPr>
        <p:txBody>
          <a:bodyPr wrap="none" tIns="126960" bIns="126960">
            <a:spAutoFit/>
          </a:bodyPr>
          <a:lstStyle/>
          <a:p>
            <a:pPr>
              <a:lnSpc>
                <a:spcPct val="100000"/>
              </a:lnSpc>
            </a:pPr>
            <a:r>
              <a:rPr lang="zh-CN" altLang="en-US" sz="1200" baseline="0" dirty="0">
                <a:latin typeface="Times New Roman" panose="02020603050405020304" pitchFamily="18" charset="0"/>
                <a:ea typeface="华康简宋" charset="-122"/>
              </a:rPr>
              <a:t>谐振曲线：</a:t>
            </a:r>
          </a:p>
        </p:txBody>
      </p:sp>
      <p:graphicFrame>
        <p:nvGraphicFramePr>
          <p:cNvPr id="43" name="对象 302443">
            <a:extLst>
              <a:ext uri="{FF2B5EF4-FFF2-40B4-BE49-F238E27FC236}">
                <a16:creationId xmlns:a16="http://schemas.microsoft.com/office/drawing/2014/main" xmlns="" id="{9A278DFC-EFCA-1C1F-5E9E-F7764CD8E932}"/>
              </a:ext>
            </a:extLst>
          </p:cNvPr>
          <p:cNvGraphicFramePr/>
          <p:nvPr>
            <p:extLst>
              <p:ext uri="{D42A27DB-BD31-4B8C-83A1-F6EECF244321}">
                <p14:modId xmlns:p14="http://schemas.microsoft.com/office/powerpoint/2010/main" val="4236059915"/>
              </p:ext>
            </p:extLst>
          </p:nvPr>
        </p:nvGraphicFramePr>
        <p:xfrm>
          <a:off x="616924" y="1115991"/>
          <a:ext cx="1104900" cy="1009650"/>
        </p:xfrm>
        <a:graphic>
          <a:graphicData uri="http://schemas.openxmlformats.org/presentationml/2006/ole">
            <mc:AlternateContent xmlns:mc="http://schemas.openxmlformats.org/markup-compatibility/2006">
              <mc:Choice xmlns:v="urn:schemas-microsoft-com:vml" Requires="v">
                <p:oleObj spid="_x0000_s201864" r:id="rId39" imgW="1447800" imgH="1320800" progId="Word.Picture.8">
                  <p:embed/>
                </p:oleObj>
              </mc:Choice>
              <mc:Fallback>
                <p:oleObj r:id="rId39" imgW="1447800" imgH="1320800" progId="Word.Picture.8">
                  <p:embed/>
                  <p:pic>
                    <p:nvPicPr>
                      <p:cNvPr id="0" name=""/>
                      <p:cNvPicPr/>
                      <p:nvPr/>
                    </p:nvPicPr>
                    <p:blipFill>
                      <a:blip r:embed="rId40">
                        <a:clrChange>
                          <a:clrFrom>
                            <a:srgbClr val="FFFFFF"/>
                          </a:clrFrom>
                          <a:clrTo>
                            <a:srgbClr val="CCFFCC"/>
                          </a:clrTo>
                        </a:clrChange>
                      </a:blip>
                      <a:stretch>
                        <a:fillRect/>
                      </a:stretch>
                    </p:blipFill>
                    <p:spPr>
                      <a:xfrm>
                        <a:off x="616924" y="1115991"/>
                        <a:ext cx="1104900" cy="1009650"/>
                      </a:xfrm>
                      <a:prstGeom prst="rect">
                        <a:avLst/>
                      </a:prstGeom>
                      <a:noFill/>
                      <a:ln w="38100">
                        <a:noFill/>
                        <a:miter/>
                      </a:ln>
                    </p:spPr>
                  </p:pic>
                </p:oleObj>
              </mc:Fallback>
            </mc:AlternateContent>
          </a:graphicData>
        </a:graphic>
      </p:graphicFrame>
      <p:graphicFrame>
        <p:nvGraphicFramePr>
          <p:cNvPr id="44" name="对象 302445">
            <a:extLst>
              <a:ext uri="{FF2B5EF4-FFF2-40B4-BE49-F238E27FC236}">
                <a16:creationId xmlns:a16="http://schemas.microsoft.com/office/drawing/2014/main" xmlns="" id="{0D8D171D-A77B-194C-5B81-0063AD1C3E66}"/>
              </a:ext>
            </a:extLst>
          </p:cNvPr>
          <p:cNvGraphicFramePr/>
          <p:nvPr>
            <p:extLst>
              <p:ext uri="{D42A27DB-BD31-4B8C-83A1-F6EECF244321}">
                <p14:modId xmlns:p14="http://schemas.microsoft.com/office/powerpoint/2010/main" val="1279431489"/>
              </p:ext>
            </p:extLst>
          </p:nvPr>
        </p:nvGraphicFramePr>
        <p:xfrm>
          <a:off x="101713" y="2128207"/>
          <a:ext cx="1752600" cy="669925"/>
        </p:xfrm>
        <a:graphic>
          <a:graphicData uri="http://schemas.openxmlformats.org/presentationml/2006/ole">
            <mc:AlternateContent xmlns:mc="http://schemas.openxmlformats.org/markup-compatibility/2006">
              <mc:Choice xmlns:v="urn:schemas-microsoft-com:vml" Requires="v">
                <p:oleObj spid="_x0000_s201865" r:id="rId41" imgW="3975100" imgH="1041400" progId="Word.Picture.8">
                  <p:embed/>
                </p:oleObj>
              </mc:Choice>
              <mc:Fallback>
                <p:oleObj r:id="rId41" imgW="3975100" imgH="1041400" progId="Word.Picture.8">
                  <p:embed/>
                  <p:pic>
                    <p:nvPicPr>
                      <p:cNvPr id="0" name=""/>
                      <p:cNvPicPr/>
                      <p:nvPr/>
                    </p:nvPicPr>
                    <p:blipFill>
                      <a:blip r:embed="rId42">
                        <a:clrChange>
                          <a:clrFrom>
                            <a:srgbClr val="FFFFFF"/>
                          </a:clrFrom>
                          <a:clrTo>
                            <a:srgbClr val="CCFFCC"/>
                          </a:clrTo>
                        </a:clrChange>
                      </a:blip>
                      <a:stretch>
                        <a:fillRect/>
                      </a:stretch>
                    </p:blipFill>
                    <p:spPr>
                      <a:xfrm>
                        <a:off x="101713" y="2128207"/>
                        <a:ext cx="1752600" cy="669925"/>
                      </a:xfrm>
                      <a:prstGeom prst="rect">
                        <a:avLst/>
                      </a:prstGeom>
                      <a:noFill/>
                      <a:ln w="38100">
                        <a:noFill/>
                        <a:miter/>
                      </a:ln>
                    </p:spPr>
                  </p:pic>
                </p:oleObj>
              </mc:Fallback>
            </mc:AlternateContent>
          </a:graphicData>
        </a:graphic>
      </p:graphicFrame>
    </p:spTree>
    <p:extLst>
      <p:ext uri="{BB962C8B-B14F-4D97-AF65-F5344CB8AC3E}">
        <p14:creationId xmlns:p14="http://schemas.microsoft.com/office/powerpoint/2010/main" val="162804545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31</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2.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高频</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基础</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电路</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文本框 4">
            <a:extLst>
              <a:ext uri="{FF2B5EF4-FFF2-40B4-BE49-F238E27FC236}">
                <a16:creationId xmlns:a16="http://schemas.microsoft.com/office/drawing/2014/main" xmlns="" id="{C618C58A-F9C7-A03D-6CDF-318717996B3A}"/>
              </a:ext>
            </a:extLst>
          </p:cNvPr>
          <p:cNvSpPr txBox="1"/>
          <p:nvPr/>
        </p:nvSpPr>
        <p:spPr>
          <a:xfrm>
            <a:off x="430637" y="1427071"/>
            <a:ext cx="8420137" cy="1104148"/>
          </a:xfrm>
          <a:prstGeom prst="rect">
            <a:avLst/>
          </a:prstGeom>
          <a:noFill/>
        </p:spPr>
        <p:txBody>
          <a:bodyPr wrap="square" rtlCol="0">
            <a:spAutoFit/>
          </a:bodyPr>
          <a:lstStyle/>
          <a:p>
            <a:pPr rtl="1">
              <a:lnSpc>
                <a:spcPct val="100000"/>
              </a:lnSpc>
              <a:spcBef>
                <a:spcPct val="50000"/>
              </a:spcBef>
            </a:pPr>
            <a:r>
              <a:rPr lang="zh-CN" altLang="en-US" sz="2000" b="1" baseline="0" dirty="0">
                <a:latin typeface="Times New Roman" panose="02020603050405020304" pitchFamily="18" charset="0"/>
                <a:ea typeface="宋体" panose="02010600030101010101" pitchFamily="2" charset="-122"/>
              </a:rPr>
              <a:t>谐振特性： </a:t>
            </a:r>
          </a:p>
          <a:p>
            <a:pPr algn="just" eaLnBrk="1">
              <a:lnSpc>
                <a:spcPct val="120000"/>
              </a:lnSpc>
              <a:defRPr/>
            </a:pPr>
            <a:r>
              <a:rPr lang="en-US" altLang="zh-CN" sz="2000" b="1" dirty="0">
                <a:solidFill>
                  <a:srgbClr val="000000"/>
                </a:solidFill>
                <a:latin typeface="楷体_GB2312" panose="02010609030101010101" pitchFamily="49" charset="-122"/>
              </a:rPr>
              <a:t>       </a:t>
            </a:r>
            <a:r>
              <a:rPr lang="zh-CN" altLang="en-US" sz="2000" baseline="0" dirty="0">
                <a:solidFill>
                  <a:srgbClr val="000000"/>
                </a:solidFill>
                <a:latin typeface="楷体_GB2312" panose="02010609030101010101" pitchFamily="49" charset="-122"/>
              </a:rPr>
              <a:t>串联谐振回路是与并联谐振回路对偶的电路，其基本特性与并联谐振回路呈对偶关系，通频带、矩形系数与并联谐振回路相同。</a:t>
            </a:r>
          </a:p>
        </p:txBody>
      </p:sp>
      <p:sp>
        <p:nvSpPr>
          <p:cNvPr id="6" name="文本框 654358">
            <a:extLst>
              <a:ext uri="{FF2B5EF4-FFF2-40B4-BE49-F238E27FC236}">
                <a16:creationId xmlns:a16="http://schemas.microsoft.com/office/drawing/2014/main" xmlns="" id="{50DFF3CA-01B1-4CFC-F360-79527E20E61C}"/>
              </a:ext>
            </a:extLst>
          </p:cNvPr>
          <p:cNvSpPr txBox="1"/>
          <p:nvPr/>
        </p:nvSpPr>
        <p:spPr>
          <a:xfrm>
            <a:off x="353085" y="4840197"/>
            <a:ext cx="2016125" cy="400110"/>
          </a:xfrm>
          <a:prstGeom prst="rect">
            <a:avLst/>
          </a:prstGeom>
          <a:noFill/>
          <a:ln w="9525">
            <a:noFill/>
          </a:ln>
        </p:spPr>
        <p:txBody>
          <a:bodyPr>
            <a:spAutoFit/>
          </a:bodyPr>
          <a:lstStyle/>
          <a:p>
            <a:pPr>
              <a:lnSpc>
                <a:spcPct val="100000"/>
              </a:lnSpc>
              <a:spcBef>
                <a:spcPct val="50000"/>
              </a:spcBef>
            </a:pPr>
            <a:endParaRPr lang="zh-CN" altLang="en-US" sz="2000" baseline="0" dirty="0">
              <a:latin typeface="Times New Roman" panose="02020603050405020304" pitchFamily="18" charset="0"/>
              <a:ea typeface="宋体" panose="02010600030101010101" pitchFamily="2" charset="-122"/>
            </a:endParaRPr>
          </a:p>
        </p:txBody>
      </p:sp>
      <p:sp>
        <p:nvSpPr>
          <p:cNvPr id="7" name="矩形 420908">
            <a:extLst>
              <a:ext uri="{FF2B5EF4-FFF2-40B4-BE49-F238E27FC236}">
                <a16:creationId xmlns:a16="http://schemas.microsoft.com/office/drawing/2014/main" xmlns="" id="{1D7ABFB6-FE42-FCB5-449A-D62384BB66FE}"/>
              </a:ext>
            </a:extLst>
          </p:cNvPr>
          <p:cNvSpPr/>
          <p:nvPr/>
        </p:nvSpPr>
        <p:spPr>
          <a:xfrm>
            <a:off x="430637" y="2524040"/>
            <a:ext cx="4315184" cy="400110"/>
          </a:xfrm>
          <a:prstGeom prst="rect">
            <a:avLst/>
          </a:prstGeom>
          <a:noFill/>
          <a:ln w="19050">
            <a:noFill/>
          </a:ln>
        </p:spPr>
        <p:txBody>
          <a:bodyPr wrap="square">
            <a:spAutoFit/>
          </a:bodyPr>
          <a:lstStyle/>
          <a:p>
            <a:r>
              <a:rPr lang="en-US" altLang="zh-CN" sz="2000" baseline="0" dirty="0">
                <a:latin typeface="楷体_GB2312" panose="02010609030101010101" pitchFamily="49" charset="-122"/>
              </a:rPr>
              <a:t>1.</a:t>
            </a:r>
            <a:r>
              <a:rPr lang="zh-CN" altLang="en-US" sz="2000" b="1" baseline="0" dirty="0">
                <a:latin typeface="楷体_GB2312" panose="02010609030101010101" pitchFamily="49" charset="-122"/>
              </a:rPr>
              <a:t>无负载电阻的串联谐振回路</a:t>
            </a:r>
          </a:p>
        </p:txBody>
      </p:sp>
      <p:sp>
        <p:nvSpPr>
          <p:cNvPr id="8" name="矩形 420909">
            <a:extLst>
              <a:ext uri="{FF2B5EF4-FFF2-40B4-BE49-F238E27FC236}">
                <a16:creationId xmlns:a16="http://schemas.microsoft.com/office/drawing/2014/main" xmlns="" id="{CFCA2F2C-20B4-DCEB-9BBF-BBC735415E47}"/>
              </a:ext>
            </a:extLst>
          </p:cNvPr>
          <p:cNvSpPr/>
          <p:nvPr/>
        </p:nvSpPr>
        <p:spPr>
          <a:xfrm>
            <a:off x="430637" y="3110535"/>
            <a:ext cx="1475084" cy="400110"/>
          </a:xfrm>
          <a:prstGeom prst="rect">
            <a:avLst/>
          </a:prstGeom>
          <a:noFill/>
          <a:ln w="19050">
            <a:noFill/>
          </a:ln>
        </p:spPr>
        <p:txBody>
          <a:bodyPr wrap="none">
            <a:spAutoFit/>
          </a:bodyPr>
          <a:lstStyle/>
          <a:p>
            <a:r>
              <a:rPr lang="zh-CN" altLang="en-US" sz="2000" baseline="0" dirty="0">
                <a:latin typeface="楷体_GB2312" panose="02010609030101010101" pitchFamily="49" charset="-122"/>
              </a:rPr>
              <a:t>回路的阻抗</a:t>
            </a:r>
          </a:p>
        </p:txBody>
      </p:sp>
      <p:graphicFrame>
        <p:nvGraphicFramePr>
          <p:cNvPr id="9" name="对象 8">
            <a:extLst>
              <a:ext uri="{FF2B5EF4-FFF2-40B4-BE49-F238E27FC236}">
                <a16:creationId xmlns:a16="http://schemas.microsoft.com/office/drawing/2014/main" xmlns="" id="{92AF73DF-6233-1488-3C5C-FFB401C514EA}"/>
              </a:ext>
            </a:extLst>
          </p:cNvPr>
          <p:cNvGraphicFramePr>
            <a:graphicFrameLocks noChangeAspect="1"/>
          </p:cNvGraphicFramePr>
          <p:nvPr>
            <p:extLst>
              <p:ext uri="{D42A27DB-BD31-4B8C-83A1-F6EECF244321}">
                <p14:modId xmlns:p14="http://schemas.microsoft.com/office/powerpoint/2010/main" val="4244583287"/>
              </p:ext>
            </p:extLst>
          </p:nvPr>
        </p:nvGraphicFramePr>
        <p:xfrm>
          <a:off x="497349" y="3683303"/>
          <a:ext cx="2520950" cy="863600"/>
        </p:xfrm>
        <a:graphic>
          <a:graphicData uri="http://schemas.openxmlformats.org/presentationml/2006/ole">
            <mc:AlternateContent xmlns:mc="http://schemas.openxmlformats.org/markup-compatibility/2006">
              <mc:Choice xmlns:v="urn:schemas-microsoft-com:vml" Requires="v">
                <p:oleObj spid="_x0000_s12518" name="Equation" r:id="rId3" imgW="2520908" imgH="864391" progId="Equation.DSMT4">
                  <p:embed/>
                </p:oleObj>
              </mc:Choice>
              <mc:Fallback>
                <p:oleObj name="Equation" r:id="rId3" imgW="2520908" imgH="864391" progId="Equation.DSMT4">
                  <p:embed/>
                  <p:pic>
                    <p:nvPicPr>
                      <p:cNvPr id="0" name=""/>
                      <p:cNvPicPr/>
                      <p:nvPr/>
                    </p:nvPicPr>
                    <p:blipFill>
                      <a:blip r:embed="rId4"/>
                      <a:stretch>
                        <a:fillRect/>
                      </a:stretch>
                    </p:blipFill>
                    <p:spPr>
                      <a:xfrm>
                        <a:off x="497349" y="3683303"/>
                        <a:ext cx="2520950" cy="863600"/>
                      </a:xfrm>
                      <a:prstGeom prst="rect">
                        <a:avLst/>
                      </a:prstGeom>
                    </p:spPr>
                  </p:pic>
                </p:oleObj>
              </mc:Fallback>
            </mc:AlternateContent>
          </a:graphicData>
        </a:graphic>
      </p:graphicFrame>
      <p:sp>
        <p:nvSpPr>
          <p:cNvPr id="10" name="矩形 420912">
            <a:extLst>
              <a:ext uri="{FF2B5EF4-FFF2-40B4-BE49-F238E27FC236}">
                <a16:creationId xmlns:a16="http://schemas.microsoft.com/office/drawing/2014/main" xmlns="" id="{E374D6B0-49D4-A26D-96EE-7BB26774F2B3}"/>
              </a:ext>
            </a:extLst>
          </p:cNvPr>
          <p:cNvSpPr/>
          <p:nvPr/>
        </p:nvSpPr>
        <p:spPr>
          <a:xfrm>
            <a:off x="483963" y="4531055"/>
            <a:ext cx="4189850" cy="707886"/>
          </a:xfrm>
          <a:prstGeom prst="rect">
            <a:avLst/>
          </a:prstGeom>
          <a:noFill/>
          <a:ln w="19050">
            <a:noFill/>
          </a:ln>
        </p:spPr>
        <p:txBody>
          <a:bodyPr wrap="square">
            <a:spAutoFit/>
          </a:bodyPr>
          <a:lstStyle/>
          <a:p>
            <a:r>
              <a:rPr lang="zh-CN" altLang="en-US" sz="2000" baseline="0" dirty="0">
                <a:latin typeface="楷体_GB2312" panose="02010609030101010101" pitchFamily="49" charset="-122"/>
              </a:rPr>
              <a:t>回路品质因数为空载品质因数</a:t>
            </a:r>
          </a:p>
          <a:p>
            <a:endParaRPr lang="zh-CN" altLang="en-US" sz="2000" baseline="0" dirty="0">
              <a:latin typeface="楷体_GB2312" panose="02010609030101010101" pitchFamily="49" charset="-122"/>
            </a:endParaRPr>
          </a:p>
        </p:txBody>
      </p:sp>
      <p:graphicFrame>
        <p:nvGraphicFramePr>
          <p:cNvPr id="11" name="对象 10">
            <a:extLst>
              <a:ext uri="{FF2B5EF4-FFF2-40B4-BE49-F238E27FC236}">
                <a16:creationId xmlns:a16="http://schemas.microsoft.com/office/drawing/2014/main" xmlns="" id="{882F1840-4BE2-A7C4-00D3-B128D1CA988B}"/>
              </a:ext>
            </a:extLst>
          </p:cNvPr>
          <p:cNvGraphicFramePr>
            <a:graphicFrameLocks noChangeAspect="1"/>
          </p:cNvGraphicFramePr>
          <p:nvPr>
            <p:extLst>
              <p:ext uri="{D42A27DB-BD31-4B8C-83A1-F6EECF244321}">
                <p14:modId xmlns:p14="http://schemas.microsoft.com/office/powerpoint/2010/main" val="4086602178"/>
              </p:ext>
            </p:extLst>
          </p:nvPr>
        </p:nvGraphicFramePr>
        <p:xfrm>
          <a:off x="430637" y="5083112"/>
          <a:ext cx="2806700" cy="930275"/>
        </p:xfrm>
        <a:graphic>
          <a:graphicData uri="http://schemas.openxmlformats.org/presentationml/2006/ole">
            <mc:AlternateContent xmlns:mc="http://schemas.openxmlformats.org/markup-compatibility/2006">
              <mc:Choice xmlns:v="urn:schemas-microsoft-com:vml" Requires="v">
                <p:oleObj spid="_x0000_s12519" name="Equation" r:id="rId5" imgW="2807489" imgH="929913" progId="Equation.DSMT4">
                  <p:embed/>
                </p:oleObj>
              </mc:Choice>
              <mc:Fallback>
                <p:oleObj name="Equation" r:id="rId5" imgW="2807489" imgH="929913" progId="Equation.DSMT4">
                  <p:embed/>
                  <p:pic>
                    <p:nvPicPr>
                      <p:cNvPr id="0" name=""/>
                      <p:cNvPicPr/>
                      <p:nvPr/>
                    </p:nvPicPr>
                    <p:blipFill>
                      <a:blip r:embed="rId6"/>
                      <a:stretch>
                        <a:fillRect/>
                      </a:stretch>
                    </p:blipFill>
                    <p:spPr>
                      <a:xfrm>
                        <a:off x="430637" y="5083112"/>
                        <a:ext cx="2806700" cy="930275"/>
                      </a:xfrm>
                      <a:prstGeom prst="rect">
                        <a:avLst/>
                      </a:prstGeom>
                    </p:spPr>
                  </p:pic>
                </p:oleObj>
              </mc:Fallback>
            </mc:AlternateContent>
          </a:graphicData>
        </a:graphic>
      </p:graphicFrame>
      <p:sp>
        <p:nvSpPr>
          <p:cNvPr id="12" name="矩形 420910">
            <a:extLst>
              <a:ext uri="{FF2B5EF4-FFF2-40B4-BE49-F238E27FC236}">
                <a16:creationId xmlns:a16="http://schemas.microsoft.com/office/drawing/2014/main" xmlns="" id="{0FE41035-4CD3-54EB-21F5-801D8953BB94}"/>
              </a:ext>
            </a:extLst>
          </p:cNvPr>
          <p:cNvSpPr/>
          <p:nvPr/>
        </p:nvSpPr>
        <p:spPr>
          <a:xfrm>
            <a:off x="3653348" y="3104497"/>
            <a:ext cx="1217000" cy="400110"/>
          </a:xfrm>
          <a:prstGeom prst="rect">
            <a:avLst/>
          </a:prstGeom>
          <a:noFill/>
          <a:ln w="19050">
            <a:noFill/>
          </a:ln>
        </p:spPr>
        <p:txBody>
          <a:bodyPr wrap="none">
            <a:spAutoFit/>
          </a:bodyPr>
          <a:lstStyle/>
          <a:p>
            <a:r>
              <a:rPr lang="zh-CN" altLang="en-US" sz="2000" baseline="0" dirty="0">
                <a:latin typeface="楷体_GB2312" panose="02010609030101010101" pitchFamily="49" charset="-122"/>
              </a:rPr>
              <a:t>回路电阻</a:t>
            </a:r>
          </a:p>
        </p:txBody>
      </p:sp>
      <p:graphicFrame>
        <p:nvGraphicFramePr>
          <p:cNvPr id="13" name="对象 12">
            <a:extLst>
              <a:ext uri="{FF2B5EF4-FFF2-40B4-BE49-F238E27FC236}">
                <a16:creationId xmlns:a16="http://schemas.microsoft.com/office/drawing/2014/main" xmlns="" id="{505E146E-87BB-CA02-6AED-1972E8A93115}"/>
              </a:ext>
            </a:extLst>
          </p:cNvPr>
          <p:cNvGraphicFramePr>
            <a:graphicFrameLocks noChangeAspect="1"/>
          </p:cNvGraphicFramePr>
          <p:nvPr>
            <p:extLst>
              <p:ext uri="{D42A27DB-BD31-4B8C-83A1-F6EECF244321}">
                <p14:modId xmlns:p14="http://schemas.microsoft.com/office/powerpoint/2010/main" val="1657772043"/>
              </p:ext>
            </p:extLst>
          </p:nvPr>
        </p:nvGraphicFramePr>
        <p:xfrm>
          <a:off x="3674519" y="3756973"/>
          <a:ext cx="1009650" cy="654050"/>
        </p:xfrm>
        <a:graphic>
          <a:graphicData uri="http://schemas.openxmlformats.org/presentationml/2006/ole">
            <mc:AlternateContent xmlns:mc="http://schemas.openxmlformats.org/markup-compatibility/2006">
              <mc:Choice xmlns:v="urn:schemas-microsoft-com:vml" Requires="v">
                <p:oleObj spid="_x0000_s12520" name="Equation" r:id="rId7" imgW="1009155" imgH="653783" progId="Equation.DSMT4">
                  <p:embed/>
                </p:oleObj>
              </mc:Choice>
              <mc:Fallback>
                <p:oleObj name="Equation" r:id="rId7" imgW="1009155" imgH="653783" progId="Equation.DSMT4">
                  <p:embed/>
                  <p:pic>
                    <p:nvPicPr>
                      <p:cNvPr id="0" name=""/>
                      <p:cNvPicPr/>
                      <p:nvPr/>
                    </p:nvPicPr>
                    <p:blipFill>
                      <a:blip r:embed="rId8"/>
                      <a:stretch>
                        <a:fillRect/>
                      </a:stretch>
                    </p:blipFill>
                    <p:spPr>
                      <a:xfrm>
                        <a:off x="3674519" y="3756973"/>
                        <a:ext cx="1009650" cy="654050"/>
                      </a:xfrm>
                      <a:prstGeom prst="rect">
                        <a:avLst/>
                      </a:prstGeom>
                    </p:spPr>
                  </p:pic>
                </p:oleObj>
              </mc:Fallback>
            </mc:AlternateContent>
          </a:graphicData>
        </a:graphic>
      </p:graphicFrame>
      <p:sp>
        <p:nvSpPr>
          <p:cNvPr id="14" name="矩形 420911">
            <a:extLst>
              <a:ext uri="{FF2B5EF4-FFF2-40B4-BE49-F238E27FC236}">
                <a16:creationId xmlns:a16="http://schemas.microsoft.com/office/drawing/2014/main" xmlns="" id="{94C190AB-D362-2472-F146-2E2FB6F2EFCF}"/>
              </a:ext>
            </a:extLst>
          </p:cNvPr>
          <p:cNvSpPr/>
          <p:nvPr/>
        </p:nvSpPr>
        <p:spPr>
          <a:xfrm>
            <a:off x="5753933" y="3104497"/>
            <a:ext cx="1217000" cy="400110"/>
          </a:xfrm>
          <a:prstGeom prst="rect">
            <a:avLst/>
          </a:prstGeom>
          <a:noFill/>
          <a:ln w="19050">
            <a:noFill/>
          </a:ln>
        </p:spPr>
        <p:txBody>
          <a:bodyPr wrap="none">
            <a:spAutoFit/>
          </a:bodyPr>
          <a:lstStyle/>
          <a:p>
            <a:r>
              <a:rPr lang="zh-CN" altLang="en-US" sz="2000" baseline="0" dirty="0">
                <a:latin typeface="楷体_GB2312" panose="02010609030101010101" pitchFamily="49" charset="-122"/>
              </a:rPr>
              <a:t>谐振频率</a:t>
            </a:r>
          </a:p>
        </p:txBody>
      </p:sp>
      <p:graphicFrame>
        <p:nvGraphicFramePr>
          <p:cNvPr id="15" name="对象 14">
            <a:extLst>
              <a:ext uri="{FF2B5EF4-FFF2-40B4-BE49-F238E27FC236}">
                <a16:creationId xmlns:a16="http://schemas.microsoft.com/office/drawing/2014/main" xmlns="" id="{60DE6359-87AD-80EB-81F4-CEF5534965EE}"/>
              </a:ext>
            </a:extLst>
          </p:cNvPr>
          <p:cNvGraphicFramePr>
            <a:graphicFrameLocks noChangeAspect="1"/>
          </p:cNvGraphicFramePr>
          <p:nvPr>
            <p:extLst>
              <p:ext uri="{D42A27DB-BD31-4B8C-83A1-F6EECF244321}">
                <p14:modId xmlns:p14="http://schemas.microsoft.com/office/powerpoint/2010/main" val="2829866453"/>
              </p:ext>
            </p:extLst>
          </p:nvPr>
        </p:nvGraphicFramePr>
        <p:xfrm>
          <a:off x="5825941" y="3569628"/>
          <a:ext cx="1509713" cy="911225"/>
        </p:xfrm>
        <a:graphic>
          <a:graphicData uri="http://schemas.openxmlformats.org/presentationml/2006/ole">
            <mc:AlternateContent xmlns:mc="http://schemas.openxmlformats.org/markup-compatibility/2006">
              <mc:Choice xmlns:v="urn:schemas-microsoft-com:vml" Requires="v">
                <p:oleObj spid="_x0000_s12521" name="Equation" r:id="rId9" imgW="1510313" imgH="911553" progId="Equation.DSMT4">
                  <p:embed/>
                </p:oleObj>
              </mc:Choice>
              <mc:Fallback>
                <p:oleObj name="Equation" r:id="rId9" imgW="1510313" imgH="911553" progId="Equation.DSMT4">
                  <p:embed/>
                  <p:pic>
                    <p:nvPicPr>
                      <p:cNvPr id="0" name=""/>
                      <p:cNvPicPr/>
                      <p:nvPr/>
                    </p:nvPicPr>
                    <p:blipFill>
                      <a:blip r:embed="rId10"/>
                      <a:stretch>
                        <a:fillRect/>
                      </a:stretch>
                    </p:blipFill>
                    <p:spPr>
                      <a:xfrm>
                        <a:off x="5825941" y="3569628"/>
                        <a:ext cx="1509713" cy="911225"/>
                      </a:xfrm>
                      <a:prstGeom prst="rect">
                        <a:avLst/>
                      </a:prstGeom>
                    </p:spPr>
                  </p:pic>
                </p:oleObj>
              </mc:Fallback>
            </mc:AlternateContent>
          </a:graphicData>
        </a:graphic>
      </p:graphicFrame>
      <p:pic>
        <p:nvPicPr>
          <p:cNvPr id="16" name="图片 420906" descr="203C">
            <a:extLst>
              <a:ext uri="{FF2B5EF4-FFF2-40B4-BE49-F238E27FC236}">
                <a16:creationId xmlns:a16="http://schemas.microsoft.com/office/drawing/2014/main" xmlns="" id="{98F0288F-41BC-1E68-F5ED-08BAD8FC578E}"/>
              </a:ext>
            </a:extLst>
          </p:cNvPr>
          <p:cNvPicPr>
            <a:picLocks noChangeAspect="1"/>
          </p:cNvPicPr>
          <p:nvPr/>
        </p:nvPicPr>
        <p:blipFill>
          <a:blip r:embed="rId11"/>
          <a:stretch>
            <a:fillRect/>
          </a:stretch>
        </p:blipFill>
        <p:spPr>
          <a:xfrm>
            <a:off x="3674519" y="4921294"/>
            <a:ext cx="4392612" cy="1255713"/>
          </a:xfrm>
          <a:prstGeom prst="rect">
            <a:avLst/>
          </a:prstGeom>
          <a:noFill/>
          <a:ln w="9525">
            <a:noFill/>
          </a:ln>
        </p:spPr>
      </p:pic>
      <p:sp>
        <p:nvSpPr>
          <p:cNvPr id="17" name="Text Box 10">
            <a:extLst>
              <a:ext uri="{FF2B5EF4-FFF2-40B4-BE49-F238E27FC236}">
                <a16:creationId xmlns:a16="http://schemas.microsoft.com/office/drawing/2014/main" xmlns="" id="{D5B71812-AB29-4D05-B75A-034FC62C385C}"/>
              </a:ext>
            </a:extLst>
          </p:cNvPr>
          <p:cNvSpPr txBox="1">
            <a:spLocks noChangeArrowheads="1"/>
          </p:cNvSpPr>
          <p:nvPr/>
        </p:nvSpPr>
        <p:spPr bwMode="auto">
          <a:xfrm>
            <a:off x="0" y="1104729"/>
            <a:ext cx="91440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28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2.2 </a:t>
            </a:r>
            <a:r>
              <a:rPr lang="zh-CN" altLang="en-US" sz="28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串联谐振回路</a:t>
            </a:r>
          </a:p>
        </p:txBody>
      </p:sp>
    </p:spTree>
    <p:extLst>
      <p:ext uri="{BB962C8B-B14F-4D97-AF65-F5344CB8AC3E}">
        <p14:creationId xmlns:p14="http://schemas.microsoft.com/office/powerpoint/2010/main" val="409364080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32</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2.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高频</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基础</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电路</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内容占位符 7170">
            <a:extLst>
              <a:ext uri="{FF2B5EF4-FFF2-40B4-BE49-F238E27FC236}">
                <a16:creationId xmlns:a16="http://schemas.microsoft.com/office/drawing/2014/main" xmlns="" id="{22162774-117D-5BF5-71B8-AE638A2F2D73}"/>
              </a:ext>
            </a:extLst>
          </p:cNvPr>
          <p:cNvSpPr/>
          <p:nvPr/>
        </p:nvSpPr>
        <p:spPr>
          <a:xfrm>
            <a:off x="539552" y="1412775"/>
            <a:ext cx="8353425" cy="3672409"/>
          </a:xfrm>
          <a:prstGeom prst="rect">
            <a:avLst/>
          </a:prstGeom>
          <a:noFill/>
          <a:ln w="9525">
            <a:noFill/>
          </a:ln>
        </p:spPr>
        <p:txBody>
          <a:bodyPr/>
          <a:lstStyle/>
          <a:p>
            <a:pPr>
              <a:lnSpc>
                <a:spcPct val="120000"/>
              </a:lnSpc>
              <a:spcBef>
                <a:spcPts val="1200"/>
              </a:spcBef>
              <a:spcAft>
                <a:spcPts val="1200"/>
              </a:spcAft>
              <a:buClr>
                <a:schemeClr val="folHlink"/>
              </a:buClr>
              <a:buSzPct val="60000"/>
              <a:defRPr/>
            </a:pPr>
            <a:endParaRPr lang="zh-CN" altLang="en-US" dirty="0">
              <a:ln w="0"/>
              <a:effectLst>
                <a:glow rad="63500">
                  <a:schemeClr val="accent3">
                    <a:satMod val="175000"/>
                    <a:alpha val="40000"/>
                  </a:schemeClr>
                </a:glow>
              </a:effectLst>
              <a:latin typeface="+mn-ea"/>
              <a:ea typeface="+mn-ea"/>
              <a:cs typeface="Times New Roman" panose="02020603050405020304" pitchFamily="18" charset="0"/>
            </a:endParaRPr>
          </a:p>
        </p:txBody>
      </p:sp>
      <p:sp>
        <p:nvSpPr>
          <p:cNvPr id="6" name="文本框 654358">
            <a:extLst>
              <a:ext uri="{FF2B5EF4-FFF2-40B4-BE49-F238E27FC236}">
                <a16:creationId xmlns:a16="http://schemas.microsoft.com/office/drawing/2014/main" xmlns="" id="{EC998C9B-41E2-341C-745D-6C1ACC803171}"/>
              </a:ext>
            </a:extLst>
          </p:cNvPr>
          <p:cNvSpPr txBox="1"/>
          <p:nvPr/>
        </p:nvSpPr>
        <p:spPr>
          <a:xfrm>
            <a:off x="395288" y="5135563"/>
            <a:ext cx="2016125" cy="400110"/>
          </a:xfrm>
          <a:prstGeom prst="rect">
            <a:avLst/>
          </a:prstGeom>
          <a:noFill/>
          <a:ln w="9525">
            <a:noFill/>
          </a:ln>
        </p:spPr>
        <p:txBody>
          <a:bodyPr>
            <a:spAutoFit/>
          </a:bodyPr>
          <a:lstStyle/>
          <a:p>
            <a:pPr>
              <a:lnSpc>
                <a:spcPct val="100000"/>
              </a:lnSpc>
              <a:spcBef>
                <a:spcPct val="50000"/>
              </a:spcBef>
            </a:pPr>
            <a:endParaRPr lang="zh-CN" altLang="en-US" sz="2000" baseline="0" dirty="0">
              <a:latin typeface="Times New Roman" panose="02020603050405020304" pitchFamily="18" charset="0"/>
              <a:ea typeface="宋体" panose="02010600030101010101" pitchFamily="2" charset="-122"/>
            </a:endParaRPr>
          </a:p>
        </p:txBody>
      </p:sp>
      <p:sp>
        <p:nvSpPr>
          <p:cNvPr id="7" name="矩形 420908">
            <a:extLst>
              <a:ext uri="{FF2B5EF4-FFF2-40B4-BE49-F238E27FC236}">
                <a16:creationId xmlns:a16="http://schemas.microsoft.com/office/drawing/2014/main" xmlns="" id="{EE557F0D-2B6F-501F-9E97-05DFFAF50972}"/>
              </a:ext>
            </a:extLst>
          </p:cNvPr>
          <p:cNvSpPr/>
          <p:nvPr/>
        </p:nvSpPr>
        <p:spPr>
          <a:xfrm>
            <a:off x="526166" y="1388858"/>
            <a:ext cx="4315184" cy="400110"/>
          </a:xfrm>
          <a:prstGeom prst="rect">
            <a:avLst/>
          </a:prstGeom>
          <a:noFill/>
          <a:ln w="19050">
            <a:noFill/>
          </a:ln>
        </p:spPr>
        <p:txBody>
          <a:bodyPr wrap="square">
            <a:spAutoFit/>
          </a:bodyPr>
          <a:lstStyle/>
          <a:p>
            <a:r>
              <a:rPr lang="en-US" altLang="zh-CN" sz="2000" dirty="0">
                <a:latin typeface="楷体_GB2312" panose="02010609030101010101" pitchFamily="49" charset="-122"/>
              </a:rPr>
              <a:t>2</a:t>
            </a:r>
            <a:r>
              <a:rPr lang="en-US" altLang="zh-CN" sz="2000" baseline="0" dirty="0">
                <a:latin typeface="楷体_GB2312" panose="02010609030101010101" pitchFamily="49" charset="-122"/>
              </a:rPr>
              <a:t>.</a:t>
            </a:r>
            <a:r>
              <a:rPr lang="zh-CN" altLang="en-US" sz="2000" b="1" baseline="0" dirty="0">
                <a:latin typeface="楷体_GB2312" panose="02010609030101010101" pitchFamily="49" charset="-122"/>
              </a:rPr>
              <a:t>有负载电阻的串联谐振回路</a:t>
            </a:r>
          </a:p>
        </p:txBody>
      </p:sp>
      <p:sp>
        <p:nvSpPr>
          <p:cNvPr id="8" name="矩形 420909">
            <a:extLst>
              <a:ext uri="{FF2B5EF4-FFF2-40B4-BE49-F238E27FC236}">
                <a16:creationId xmlns:a16="http://schemas.microsoft.com/office/drawing/2014/main" xmlns="" id="{0CE0C8EA-0461-B9D2-FD6D-03059F3D2B99}"/>
              </a:ext>
            </a:extLst>
          </p:cNvPr>
          <p:cNvSpPr/>
          <p:nvPr/>
        </p:nvSpPr>
        <p:spPr>
          <a:xfrm>
            <a:off x="472840" y="3405901"/>
            <a:ext cx="1475084" cy="400110"/>
          </a:xfrm>
          <a:prstGeom prst="rect">
            <a:avLst/>
          </a:prstGeom>
          <a:noFill/>
          <a:ln w="19050">
            <a:noFill/>
          </a:ln>
        </p:spPr>
        <p:txBody>
          <a:bodyPr wrap="none">
            <a:spAutoFit/>
          </a:bodyPr>
          <a:lstStyle/>
          <a:p>
            <a:r>
              <a:rPr lang="zh-CN" altLang="en-US" sz="2000" baseline="0" dirty="0">
                <a:latin typeface="楷体_GB2312" panose="02010609030101010101" pitchFamily="49" charset="-122"/>
              </a:rPr>
              <a:t>回路的阻抗</a:t>
            </a:r>
          </a:p>
        </p:txBody>
      </p:sp>
      <p:sp>
        <p:nvSpPr>
          <p:cNvPr id="9" name="矩形 420912">
            <a:extLst>
              <a:ext uri="{FF2B5EF4-FFF2-40B4-BE49-F238E27FC236}">
                <a16:creationId xmlns:a16="http://schemas.microsoft.com/office/drawing/2014/main" xmlns="" id="{EE7B4853-BE97-A97F-B3E7-F7249601AC30}"/>
              </a:ext>
            </a:extLst>
          </p:cNvPr>
          <p:cNvSpPr/>
          <p:nvPr/>
        </p:nvSpPr>
        <p:spPr>
          <a:xfrm>
            <a:off x="526166" y="4826421"/>
            <a:ext cx="4189850" cy="707886"/>
          </a:xfrm>
          <a:prstGeom prst="rect">
            <a:avLst/>
          </a:prstGeom>
          <a:noFill/>
          <a:ln w="19050">
            <a:noFill/>
          </a:ln>
        </p:spPr>
        <p:txBody>
          <a:bodyPr wrap="square">
            <a:spAutoFit/>
          </a:bodyPr>
          <a:lstStyle/>
          <a:p>
            <a:r>
              <a:rPr lang="zh-CN" altLang="en-US" sz="2000" baseline="0" dirty="0">
                <a:latin typeface="楷体_GB2312" panose="02010609030101010101" pitchFamily="49" charset="-122"/>
              </a:rPr>
              <a:t>回路品质因数为空载品质因数</a:t>
            </a:r>
          </a:p>
          <a:p>
            <a:endParaRPr lang="zh-CN" altLang="en-US" sz="2000" baseline="0" dirty="0">
              <a:latin typeface="楷体_GB2312" panose="02010609030101010101" pitchFamily="49" charset="-122"/>
            </a:endParaRPr>
          </a:p>
        </p:txBody>
      </p:sp>
      <p:sp>
        <p:nvSpPr>
          <p:cNvPr id="10" name="矩形 420910">
            <a:extLst>
              <a:ext uri="{FF2B5EF4-FFF2-40B4-BE49-F238E27FC236}">
                <a16:creationId xmlns:a16="http://schemas.microsoft.com/office/drawing/2014/main" xmlns="" id="{00434C32-B7FC-D9AE-4931-9F44FABC8CFA}"/>
              </a:ext>
            </a:extLst>
          </p:cNvPr>
          <p:cNvSpPr/>
          <p:nvPr/>
        </p:nvSpPr>
        <p:spPr>
          <a:xfrm>
            <a:off x="3839931" y="3399863"/>
            <a:ext cx="1217000" cy="400110"/>
          </a:xfrm>
          <a:prstGeom prst="rect">
            <a:avLst/>
          </a:prstGeom>
          <a:noFill/>
          <a:ln w="19050">
            <a:noFill/>
          </a:ln>
        </p:spPr>
        <p:txBody>
          <a:bodyPr wrap="none">
            <a:spAutoFit/>
          </a:bodyPr>
          <a:lstStyle/>
          <a:p>
            <a:r>
              <a:rPr lang="zh-CN" altLang="en-US" sz="2000" baseline="0" dirty="0">
                <a:latin typeface="楷体_GB2312" panose="02010609030101010101" pitchFamily="49" charset="-122"/>
              </a:rPr>
              <a:t>回路电阻</a:t>
            </a:r>
          </a:p>
        </p:txBody>
      </p:sp>
      <p:sp>
        <p:nvSpPr>
          <p:cNvPr id="11" name="矩形 420911">
            <a:extLst>
              <a:ext uri="{FF2B5EF4-FFF2-40B4-BE49-F238E27FC236}">
                <a16:creationId xmlns:a16="http://schemas.microsoft.com/office/drawing/2014/main" xmlns="" id="{FDDCED5D-C26D-8BDA-3E46-FAB706303741}"/>
              </a:ext>
            </a:extLst>
          </p:cNvPr>
          <p:cNvSpPr/>
          <p:nvPr/>
        </p:nvSpPr>
        <p:spPr>
          <a:xfrm>
            <a:off x="5796136" y="3399863"/>
            <a:ext cx="1217000" cy="400110"/>
          </a:xfrm>
          <a:prstGeom prst="rect">
            <a:avLst/>
          </a:prstGeom>
          <a:noFill/>
          <a:ln w="19050">
            <a:noFill/>
          </a:ln>
        </p:spPr>
        <p:txBody>
          <a:bodyPr wrap="none">
            <a:spAutoFit/>
          </a:bodyPr>
          <a:lstStyle/>
          <a:p>
            <a:r>
              <a:rPr lang="zh-CN" altLang="en-US" sz="2000" baseline="0" dirty="0">
                <a:latin typeface="楷体_GB2312" panose="02010609030101010101" pitchFamily="49" charset="-122"/>
              </a:rPr>
              <a:t>谐振频率</a:t>
            </a:r>
          </a:p>
        </p:txBody>
      </p:sp>
      <p:graphicFrame>
        <p:nvGraphicFramePr>
          <p:cNvPr id="12" name="对象 11">
            <a:extLst>
              <a:ext uri="{FF2B5EF4-FFF2-40B4-BE49-F238E27FC236}">
                <a16:creationId xmlns:a16="http://schemas.microsoft.com/office/drawing/2014/main" xmlns="" id="{8CAC93FE-F4DB-5C84-3A26-25B002D232E1}"/>
              </a:ext>
            </a:extLst>
          </p:cNvPr>
          <p:cNvGraphicFramePr>
            <a:graphicFrameLocks noChangeAspect="1"/>
          </p:cNvGraphicFramePr>
          <p:nvPr/>
        </p:nvGraphicFramePr>
        <p:xfrm>
          <a:off x="5868144" y="3864994"/>
          <a:ext cx="1509713" cy="911225"/>
        </p:xfrm>
        <a:graphic>
          <a:graphicData uri="http://schemas.openxmlformats.org/presentationml/2006/ole">
            <mc:AlternateContent xmlns:mc="http://schemas.openxmlformats.org/markup-compatibility/2006">
              <mc:Choice xmlns:v="urn:schemas-microsoft-com:vml" Requires="v">
                <p:oleObj spid="_x0000_s13542" name="Equation" r:id="rId3" imgW="1510313" imgH="911553" progId="Equation.DSMT4">
                  <p:embed/>
                </p:oleObj>
              </mc:Choice>
              <mc:Fallback>
                <p:oleObj name="Equation" r:id="rId3" imgW="1510313" imgH="911553" progId="Equation.DSMT4">
                  <p:embed/>
                  <p:pic>
                    <p:nvPicPr>
                      <p:cNvPr id="0" name=""/>
                      <p:cNvPicPr/>
                      <p:nvPr/>
                    </p:nvPicPr>
                    <p:blipFill>
                      <a:blip r:embed="rId4"/>
                      <a:stretch>
                        <a:fillRect/>
                      </a:stretch>
                    </p:blipFill>
                    <p:spPr>
                      <a:xfrm>
                        <a:off x="5868144" y="3864994"/>
                        <a:ext cx="1509713" cy="911225"/>
                      </a:xfrm>
                      <a:prstGeom prst="rect">
                        <a:avLst/>
                      </a:prstGeom>
                    </p:spPr>
                  </p:pic>
                </p:oleObj>
              </mc:Fallback>
            </mc:AlternateContent>
          </a:graphicData>
        </a:graphic>
      </p:graphicFrame>
      <p:pic>
        <p:nvPicPr>
          <p:cNvPr id="13" name="图片 421891" descr="00000-1">
            <a:extLst>
              <a:ext uri="{FF2B5EF4-FFF2-40B4-BE49-F238E27FC236}">
                <a16:creationId xmlns:a16="http://schemas.microsoft.com/office/drawing/2014/main" xmlns="" id="{FFC8F669-7FD4-E5D7-8A7B-F12494457AE9}"/>
              </a:ext>
            </a:extLst>
          </p:cNvPr>
          <p:cNvPicPr>
            <a:picLocks noChangeAspect="1"/>
          </p:cNvPicPr>
          <p:nvPr/>
        </p:nvPicPr>
        <p:blipFill>
          <a:blip r:embed="rId5"/>
          <a:stretch>
            <a:fillRect/>
          </a:stretch>
        </p:blipFill>
        <p:spPr>
          <a:xfrm>
            <a:off x="2195512" y="1711692"/>
            <a:ext cx="4752975" cy="1630362"/>
          </a:xfrm>
          <a:prstGeom prst="rect">
            <a:avLst/>
          </a:prstGeom>
          <a:noFill/>
          <a:ln w="9525">
            <a:noFill/>
          </a:ln>
        </p:spPr>
      </p:pic>
      <p:graphicFrame>
        <p:nvGraphicFramePr>
          <p:cNvPr id="14" name="对象 13">
            <a:extLst>
              <a:ext uri="{FF2B5EF4-FFF2-40B4-BE49-F238E27FC236}">
                <a16:creationId xmlns:a16="http://schemas.microsoft.com/office/drawing/2014/main" xmlns="" id="{69AC81EF-BB24-AD82-3E60-C282002E9521}"/>
              </a:ext>
            </a:extLst>
          </p:cNvPr>
          <p:cNvGraphicFramePr>
            <a:graphicFrameLocks noChangeAspect="1"/>
          </p:cNvGraphicFramePr>
          <p:nvPr>
            <p:extLst>
              <p:ext uri="{D42A27DB-BD31-4B8C-83A1-F6EECF244321}">
                <p14:modId xmlns:p14="http://schemas.microsoft.com/office/powerpoint/2010/main" val="319912885"/>
              </p:ext>
            </p:extLst>
          </p:nvPr>
        </p:nvGraphicFramePr>
        <p:xfrm>
          <a:off x="472840" y="3856390"/>
          <a:ext cx="3167063" cy="862013"/>
        </p:xfrm>
        <a:graphic>
          <a:graphicData uri="http://schemas.openxmlformats.org/presentationml/2006/ole">
            <mc:AlternateContent xmlns:mc="http://schemas.openxmlformats.org/markup-compatibility/2006">
              <mc:Choice xmlns:v="urn:schemas-microsoft-com:vml" Requires="v">
                <p:oleObj spid="_x0000_s13543" name="Equation" r:id="rId6" imgW="3167156" imgH="862591" progId="Equation.DSMT4">
                  <p:embed/>
                </p:oleObj>
              </mc:Choice>
              <mc:Fallback>
                <p:oleObj name="Equation" r:id="rId6" imgW="3167156" imgH="862591" progId="Equation.DSMT4">
                  <p:embed/>
                  <p:pic>
                    <p:nvPicPr>
                      <p:cNvPr id="0" name=""/>
                      <p:cNvPicPr/>
                      <p:nvPr/>
                    </p:nvPicPr>
                    <p:blipFill>
                      <a:blip r:embed="rId7"/>
                      <a:stretch>
                        <a:fillRect/>
                      </a:stretch>
                    </p:blipFill>
                    <p:spPr>
                      <a:xfrm>
                        <a:off x="472840" y="3856390"/>
                        <a:ext cx="3167063" cy="862013"/>
                      </a:xfrm>
                      <a:prstGeom prst="rect">
                        <a:avLst/>
                      </a:prstGeom>
                    </p:spPr>
                  </p:pic>
                </p:oleObj>
              </mc:Fallback>
            </mc:AlternateContent>
          </a:graphicData>
        </a:graphic>
      </p:graphicFrame>
      <p:graphicFrame>
        <p:nvGraphicFramePr>
          <p:cNvPr id="15" name="对象 14">
            <a:extLst>
              <a:ext uri="{FF2B5EF4-FFF2-40B4-BE49-F238E27FC236}">
                <a16:creationId xmlns:a16="http://schemas.microsoft.com/office/drawing/2014/main" xmlns="" id="{D882870C-5D19-A6CC-E696-5E0F6DA674FF}"/>
              </a:ext>
            </a:extLst>
          </p:cNvPr>
          <p:cNvGraphicFramePr>
            <a:graphicFrameLocks noChangeAspect="1"/>
          </p:cNvGraphicFramePr>
          <p:nvPr>
            <p:extLst>
              <p:ext uri="{D42A27DB-BD31-4B8C-83A1-F6EECF244321}">
                <p14:modId xmlns:p14="http://schemas.microsoft.com/office/powerpoint/2010/main" val="1792945098"/>
              </p:ext>
            </p:extLst>
          </p:nvPr>
        </p:nvGraphicFramePr>
        <p:xfrm>
          <a:off x="3887650" y="4046562"/>
          <a:ext cx="1439863" cy="531813"/>
        </p:xfrm>
        <a:graphic>
          <a:graphicData uri="http://schemas.openxmlformats.org/presentationml/2006/ole">
            <mc:AlternateContent xmlns:mc="http://schemas.openxmlformats.org/markup-compatibility/2006">
              <mc:Choice xmlns:v="urn:schemas-microsoft-com:vml" Requires="v">
                <p:oleObj spid="_x0000_s13544" name="Equation" r:id="rId8" imgW="1440467" imgH="532099" progId="Equation.DSMT4">
                  <p:embed/>
                </p:oleObj>
              </mc:Choice>
              <mc:Fallback>
                <p:oleObj name="Equation" r:id="rId8" imgW="1440467" imgH="532099" progId="Equation.DSMT4">
                  <p:embed/>
                  <p:pic>
                    <p:nvPicPr>
                      <p:cNvPr id="0" name=""/>
                      <p:cNvPicPr/>
                      <p:nvPr/>
                    </p:nvPicPr>
                    <p:blipFill>
                      <a:blip r:embed="rId9"/>
                      <a:stretch>
                        <a:fillRect/>
                      </a:stretch>
                    </p:blipFill>
                    <p:spPr>
                      <a:xfrm>
                        <a:off x="3887650" y="4046562"/>
                        <a:ext cx="1439863" cy="531813"/>
                      </a:xfrm>
                      <a:prstGeom prst="rect">
                        <a:avLst/>
                      </a:prstGeom>
                    </p:spPr>
                  </p:pic>
                </p:oleObj>
              </mc:Fallback>
            </mc:AlternateContent>
          </a:graphicData>
        </a:graphic>
      </p:graphicFrame>
      <p:graphicFrame>
        <p:nvGraphicFramePr>
          <p:cNvPr id="16" name="对象 15">
            <a:extLst>
              <a:ext uri="{FF2B5EF4-FFF2-40B4-BE49-F238E27FC236}">
                <a16:creationId xmlns:a16="http://schemas.microsoft.com/office/drawing/2014/main" xmlns="" id="{9D9B5E16-D9CC-9668-DFA4-CC1A1A9CC869}"/>
              </a:ext>
            </a:extLst>
          </p:cNvPr>
          <p:cNvGraphicFramePr>
            <a:graphicFrameLocks noChangeAspect="1"/>
          </p:cNvGraphicFramePr>
          <p:nvPr>
            <p:extLst>
              <p:ext uri="{D42A27DB-BD31-4B8C-83A1-F6EECF244321}">
                <p14:modId xmlns:p14="http://schemas.microsoft.com/office/powerpoint/2010/main" val="3470039239"/>
              </p:ext>
            </p:extLst>
          </p:nvPr>
        </p:nvGraphicFramePr>
        <p:xfrm>
          <a:off x="560165" y="5345247"/>
          <a:ext cx="6007100" cy="1074737"/>
        </p:xfrm>
        <a:graphic>
          <a:graphicData uri="http://schemas.openxmlformats.org/presentationml/2006/ole">
            <mc:AlternateContent xmlns:mc="http://schemas.openxmlformats.org/markup-compatibility/2006">
              <mc:Choice xmlns:v="urn:schemas-microsoft-com:vml" Requires="v">
                <p:oleObj spid="_x0000_s13545" name="Equation" r:id="rId10" imgW="6007768" imgH="1074639" progId="Equation.DSMT4">
                  <p:embed/>
                </p:oleObj>
              </mc:Choice>
              <mc:Fallback>
                <p:oleObj name="Equation" r:id="rId10" imgW="6007768" imgH="1074639" progId="Equation.DSMT4">
                  <p:embed/>
                  <p:pic>
                    <p:nvPicPr>
                      <p:cNvPr id="0" name=""/>
                      <p:cNvPicPr/>
                      <p:nvPr/>
                    </p:nvPicPr>
                    <p:blipFill>
                      <a:blip r:embed="rId11"/>
                      <a:stretch>
                        <a:fillRect/>
                      </a:stretch>
                    </p:blipFill>
                    <p:spPr>
                      <a:xfrm>
                        <a:off x="560165" y="5345247"/>
                        <a:ext cx="6007100" cy="1074737"/>
                      </a:xfrm>
                      <a:prstGeom prst="rect">
                        <a:avLst/>
                      </a:prstGeom>
                    </p:spPr>
                  </p:pic>
                </p:oleObj>
              </mc:Fallback>
            </mc:AlternateContent>
          </a:graphicData>
        </a:graphic>
      </p:graphicFrame>
      <p:sp>
        <p:nvSpPr>
          <p:cNvPr id="17" name="下弧形箭头 421906">
            <a:extLst>
              <a:ext uri="{FF2B5EF4-FFF2-40B4-BE49-F238E27FC236}">
                <a16:creationId xmlns:a16="http://schemas.microsoft.com/office/drawing/2014/main" xmlns="" id="{1F769DD2-49E3-16B6-8729-6917144F0AC1}"/>
              </a:ext>
            </a:extLst>
          </p:cNvPr>
          <p:cNvSpPr/>
          <p:nvPr/>
        </p:nvSpPr>
        <p:spPr>
          <a:xfrm>
            <a:off x="3851646" y="3172005"/>
            <a:ext cx="1150938" cy="215900"/>
          </a:xfrm>
          <a:prstGeom prst="curvedUpArrow">
            <a:avLst>
              <a:gd name="adj1" fmla="val 106617"/>
              <a:gd name="adj2" fmla="val 213235"/>
              <a:gd name="adj3" fmla="val 33328"/>
            </a:avLst>
          </a:prstGeom>
          <a:gradFill rotWithShape="0">
            <a:gsLst>
              <a:gs pos="0">
                <a:schemeClr val="accent1"/>
              </a:gs>
              <a:gs pos="100000">
                <a:schemeClr val="bg1"/>
              </a:gs>
            </a:gsLst>
            <a:lin ang="0" scaled="1"/>
            <a:tileRect/>
          </a:gradFill>
          <a:ln w="9525" cap="flat" cmpd="sng">
            <a:solidFill>
              <a:schemeClr val="tx1"/>
            </a:solidFill>
            <a:prstDash val="solid"/>
            <a:miter/>
            <a:headEnd type="none" w="sm" len="sm"/>
            <a:tailEnd type="none" w="sm" len="sm"/>
          </a:ln>
        </p:spPr>
        <p:txBody>
          <a:bodyPr/>
          <a:lstStyle/>
          <a:p>
            <a:endParaRPr lang="zh-CN" altLang="en-US" dirty="0">
              <a:latin typeface="楷体_GB2312" panose="02010609030101010101" pitchFamily="49" charset="-122"/>
            </a:endParaRPr>
          </a:p>
        </p:txBody>
      </p:sp>
    </p:spTree>
    <p:extLst>
      <p:ext uri="{BB962C8B-B14F-4D97-AF65-F5344CB8AC3E}">
        <p14:creationId xmlns:p14="http://schemas.microsoft.com/office/powerpoint/2010/main" val="2326928300"/>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33</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2.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高频</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基础</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电路</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矩形 420909">
            <a:extLst>
              <a:ext uri="{FF2B5EF4-FFF2-40B4-BE49-F238E27FC236}">
                <a16:creationId xmlns:a16="http://schemas.microsoft.com/office/drawing/2014/main" xmlns="" id="{ACCBA032-D28E-E635-3621-69DF2468B636}"/>
              </a:ext>
            </a:extLst>
          </p:cNvPr>
          <p:cNvSpPr/>
          <p:nvPr/>
        </p:nvSpPr>
        <p:spPr>
          <a:xfrm>
            <a:off x="479025" y="1340485"/>
            <a:ext cx="4288353" cy="400110"/>
          </a:xfrm>
          <a:prstGeom prst="rect">
            <a:avLst/>
          </a:prstGeom>
          <a:noFill/>
          <a:ln w="19050">
            <a:noFill/>
          </a:ln>
        </p:spPr>
        <p:txBody>
          <a:bodyPr wrap="none">
            <a:spAutoFit/>
          </a:bodyPr>
          <a:lstStyle/>
          <a:p>
            <a:r>
              <a:rPr lang="zh-CN" altLang="en-US" sz="2000" baseline="0" dirty="0">
                <a:latin typeface="楷体_GB2312" panose="02010609030101010101" pitchFamily="49" charset="-122"/>
              </a:rPr>
              <a:t>串联谐振的相对幅频特性与相频特性</a:t>
            </a:r>
          </a:p>
        </p:txBody>
      </p:sp>
      <p:pic>
        <p:nvPicPr>
          <p:cNvPr id="6" name="图片 425987" descr="205B">
            <a:extLst>
              <a:ext uri="{FF2B5EF4-FFF2-40B4-BE49-F238E27FC236}">
                <a16:creationId xmlns:a16="http://schemas.microsoft.com/office/drawing/2014/main" xmlns="" id="{679748D7-931E-5774-AC40-032C05F210CC}"/>
              </a:ext>
            </a:extLst>
          </p:cNvPr>
          <p:cNvPicPr>
            <a:picLocks noChangeAspect="1"/>
          </p:cNvPicPr>
          <p:nvPr/>
        </p:nvPicPr>
        <p:blipFill>
          <a:blip r:embed="rId3"/>
          <a:stretch>
            <a:fillRect/>
          </a:stretch>
        </p:blipFill>
        <p:spPr>
          <a:xfrm>
            <a:off x="1080095" y="1949835"/>
            <a:ext cx="7272337" cy="2433638"/>
          </a:xfrm>
          <a:prstGeom prst="rect">
            <a:avLst/>
          </a:prstGeom>
          <a:noFill/>
          <a:ln w="9525">
            <a:noFill/>
          </a:ln>
        </p:spPr>
      </p:pic>
      <p:sp>
        <p:nvSpPr>
          <p:cNvPr id="7" name="矩形 420909">
            <a:extLst>
              <a:ext uri="{FF2B5EF4-FFF2-40B4-BE49-F238E27FC236}">
                <a16:creationId xmlns:a16="http://schemas.microsoft.com/office/drawing/2014/main" xmlns="" id="{1AC3C17A-54D9-35D3-F787-846C1B861D81}"/>
              </a:ext>
            </a:extLst>
          </p:cNvPr>
          <p:cNvSpPr/>
          <p:nvPr/>
        </p:nvSpPr>
        <p:spPr>
          <a:xfrm>
            <a:off x="484676" y="1732249"/>
            <a:ext cx="1798890" cy="400110"/>
          </a:xfrm>
          <a:prstGeom prst="rect">
            <a:avLst/>
          </a:prstGeom>
          <a:noFill/>
          <a:ln w="19050">
            <a:noFill/>
          </a:ln>
        </p:spPr>
        <p:txBody>
          <a:bodyPr wrap="none">
            <a:spAutoFit/>
          </a:bodyPr>
          <a:lstStyle/>
          <a:p>
            <a:r>
              <a:rPr lang="zh-CN" altLang="en-US" sz="2000" baseline="0" dirty="0">
                <a:latin typeface="楷体_GB2312" panose="02010609030101010101" pitchFamily="49" charset="-122"/>
              </a:rPr>
              <a:t>相对幅频特性 </a:t>
            </a:r>
          </a:p>
        </p:txBody>
      </p:sp>
      <p:sp>
        <p:nvSpPr>
          <p:cNvPr id="8" name="矩形 420909">
            <a:extLst>
              <a:ext uri="{FF2B5EF4-FFF2-40B4-BE49-F238E27FC236}">
                <a16:creationId xmlns:a16="http://schemas.microsoft.com/office/drawing/2014/main" xmlns="" id="{C7A8C352-1B4A-0AF7-B919-D612C4C07ED1}"/>
              </a:ext>
            </a:extLst>
          </p:cNvPr>
          <p:cNvSpPr/>
          <p:nvPr/>
        </p:nvSpPr>
        <p:spPr>
          <a:xfrm>
            <a:off x="4572000" y="1764552"/>
            <a:ext cx="1798890" cy="400110"/>
          </a:xfrm>
          <a:prstGeom prst="rect">
            <a:avLst/>
          </a:prstGeom>
          <a:noFill/>
          <a:ln w="19050">
            <a:noFill/>
          </a:ln>
        </p:spPr>
        <p:txBody>
          <a:bodyPr wrap="none">
            <a:spAutoFit/>
          </a:bodyPr>
          <a:lstStyle/>
          <a:p>
            <a:r>
              <a:rPr lang="zh-CN" altLang="en-US" sz="2000" baseline="0" dirty="0">
                <a:latin typeface="楷体_GB2312" panose="02010609030101010101" pitchFamily="49" charset="-122"/>
              </a:rPr>
              <a:t>相对相频特性 </a:t>
            </a:r>
          </a:p>
        </p:txBody>
      </p:sp>
      <p:sp>
        <p:nvSpPr>
          <p:cNvPr id="9" name="矩形 420909">
            <a:extLst>
              <a:ext uri="{FF2B5EF4-FFF2-40B4-BE49-F238E27FC236}">
                <a16:creationId xmlns:a16="http://schemas.microsoft.com/office/drawing/2014/main" xmlns="" id="{5FDBAC7F-E65C-0D10-566D-4DB54DDF8431}"/>
              </a:ext>
            </a:extLst>
          </p:cNvPr>
          <p:cNvSpPr/>
          <p:nvPr/>
        </p:nvSpPr>
        <p:spPr>
          <a:xfrm>
            <a:off x="539552" y="4957419"/>
            <a:ext cx="1210588" cy="400110"/>
          </a:xfrm>
          <a:prstGeom prst="rect">
            <a:avLst/>
          </a:prstGeom>
          <a:noFill/>
          <a:ln w="19050">
            <a:noFill/>
          </a:ln>
        </p:spPr>
        <p:txBody>
          <a:bodyPr wrap="none">
            <a:spAutoFit/>
          </a:bodyPr>
          <a:lstStyle/>
          <a:p>
            <a:r>
              <a:rPr lang="zh-CN" altLang="en-US" sz="2000" baseline="0" dirty="0">
                <a:latin typeface="楷体_GB2312" panose="02010609030101010101" pitchFamily="49" charset="-122"/>
              </a:rPr>
              <a:t>阻抗特性</a:t>
            </a:r>
          </a:p>
        </p:txBody>
      </p:sp>
      <p:sp>
        <p:nvSpPr>
          <p:cNvPr id="10" name="矩形 420909">
            <a:extLst>
              <a:ext uri="{FF2B5EF4-FFF2-40B4-BE49-F238E27FC236}">
                <a16:creationId xmlns:a16="http://schemas.microsoft.com/office/drawing/2014/main" xmlns="" id="{AAD9ECEA-1D70-9E3C-B69E-5C650D4A4736}"/>
              </a:ext>
            </a:extLst>
          </p:cNvPr>
          <p:cNvSpPr/>
          <p:nvPr/>
        </p:nvSpPr>
        <p:spPr>
          <a:xfrm>
            <a:off x="1777407" y="4957419"/>
            <a:ext cx="1467068" cy="400110"/>
          </a:xfrm>
          <a:prstGeom prst="rect">
            <a:avLst/>
          </a:prstGeom>
          <a:noFill/>
          <a:ln w="19050">
            <a:noFill/>
          </a:ln>
        </p:spPr>
        <p:txBody>
          <a:bodyPr wrap="none">
            <a:spAutoFit/>
          </a:bodyPr>
          <a:lstStyle/>
          <a:p>
            <a:r>
              <a:rPr lang="zh-CN" altLang="en-US" sz="2000" baseline="0" dirty="0">
                <a:latin typeface="楷体_GB2312" panose="02010609030101010101" pitchFamily="49" charset="-122"/>
              </a:rPr>
              <a:t>等效</a:t>
            </a:r>
            <a:r>
              <a:rPr lang="zh-CN" altLang="en-US" sz="2000" baseline="0" dirty="0">
                <a:solidFill>
                  <a:srgbClr val="FF66FF"/>
                </a:solidFill>
                <a:latin typeface="楷体_GB2312" panose="02010609030101010101" pitchFamily="49" charset="-122"/>
              </a:rPr>
              <a:t>纯电阻</a:t>
            </a:r>
          </a:p>
        </p:txBody>
      </p:sp>
      <p:sp>
        <p:nvSpPr>
          <p:cNvPr id="11" name="矩形 420909">
            <a:extLst>
              <a:ext uri="{FF2B5EF4-FFF2-40B4-BE49-F238E27FC236}">
                <a16:creationId xmlns:a16="http://schemas.microsoft.com/office/drawing/2014/main" xmlns="" id="{7649C1EF-64C4-41C4-22C1-078C137754F2}"/>
              </a:ext>
            </a:extLst>
          </p:cNvPr>
          <p:cNvSpPr/>
          <p:nvPr/>
        </p:nvSpPr>
        <p:spPr>
          <a:xfrm>
            <a:off x="1777407" y="5414237"/>
            <a:ext cx="1210588" cy="400110"/>
          </a:xfrm>
          <a:prstGeom prst="rect">
            <a:avLst/>
          </a:prstGeom>
          <a:noFill/>
          <a:ln w="19050">
            <a:noFill/>
          </a:ln>
        </p:spPr>
        <p:txBody>
          <a:bodyPr wrap="none">
            <a:spAutoFit/>
          </a:bodyPr>
          <a:lstStyle/>
          <a:p>
            <a:r>
              <a:rPr lang="zh-CN" altLang="en-US" sz="2000" baseline="0" dirty="0">
                <a:latin typeface="楷体_GB2312" panose="02010609030101010101" pitchFamily="49" charset="-122"/>
              </a:rPr>
              <a:t>等效</a:t>
            </a:r>
            <a:r>
              <a:rPr lang="zh-CN" altLang="en-US" sz="2000" baseline="0" dirty="0">
                <a:solidFill>
                  <a:srgbClr val="00B050"/>
                </a:solidFill>
                <a:latin typeface="楷体_GB2312" panose="02010609030101010101" pitchFamily="49" charset="-122"/>
              </a:rPr>
              <a:t>感抗</a:t>
            </a:r>
          </a:p>
        </p:txBody>
      </p:sp>
      <p:sp>
        <p:nvSpPr>
          <p:cNvPr id="12" name="矩形 420909">
            <a:extLst>
              <a:ext uri="{FF2B5EF4-FFF2-40B4-BE49-F238E27FC236}">
                <a16:creationId xmlns:a16="http://schemas.microsoft.com/office/drawing/2014/main" xmlns="" id="{89ED93F2-FED3-7DFE-F6FA-A43BC5078519}"/>
              </a:ext>
            </a:extLst>
          </p:cNvPr>
          <p:cNvSpPr/>
          <p:nvPr/>
        </p:nvSpPr>
        <p:spPr>
          <a:xfrm>
            <a:off x="1795288" y="5930537"/>
            <a:ext cx="1210588" cy="400110"/>
          </a:xfrm>
          <a:prstGeom prst="rect">
            <a:avLst/>
          </a:prstGeom>
          <a:noFill/>
          <a:ln w="19050">
            <a:noFill/>
          </a:ln>
        </p:spPr>
        <p:txBody>
          <a:bodyPr wrap="none">
            <a:spAutoFit/>
          </a:bodyPr>
          <a:lstStyle/>
          <a:p>
            <a:r>
              <a:rPr lang="zh-CN" altLang="en-US" sz="2000" baseline="0" dirty="0">
                <a:latin typeface="楷体_GB2312" panose="02010609030101010101" pitchFamily="49" charset="-122"/>
              </a:rPr>
              <a:t>等效</a:t>
            </a:r>
            <a:r>
              <a:rPr lang="zh-CN" altLang="en-US" sz="2000" baseline="0" dirty="0">
                <a:solidFill>
                  <a:schemeClr val="accent2"/>
                </a:solidFill>
                <a:latin typeface="楷体_GB2312" panose="02010609030101010101" pitchFamily="49" charset="-122"/>
              </a:rPr>
              <a:t>容抗</a:t>
            </a:r>
          </a:p>
        </p:txBody>
      </p:sp>
      <p:graphicFrame>
        <p:nvGraphicFramePr>
          <p:cNvPr id="13" name="对象 12">
            <a:extLst>
              <a:ext uri="{FF2B5EF4-FFF2-40B4-BE49-F238E27FC236}">
                <a16:creationId xmlns:a16="http://schemas.microsoft.com/office/drawing/2014/main" xmlns="" id="{E995BBE1-0B85-A8E9-B979-121A3FF0F19F}"/>
              </a:ext>
            </a:extLst>
          </p:cNvPr>
          <p:cNvGraphicFramePr>
            <a:graphicFrameLocks noChangeAspect="1"/>
          </p:cNvGraphicFramePr>
          <p:nvPr>
            <p:extLst>
              <p:ext uri="{D42A27DB-BD31-4B8C-83A1-F6EECF244321}">
                <p14:modId xmlns:p14="http://schemas.microsoft.com/office/powerpoint/2010/main" val="4124555802"/>
              </p:ext>
            </p:extLst>
          </p:nvPr>
        </p:nvGraphicFramePr>
        <p:xfrm>
          <a:off x="3299351" y="4868382"/>
          <a:ext cx="1150937" cy="576263"/>
        </p:xfrm>
        <a:graphic>
          <a:graphicData uri="http://schemas.openxmlformats.org/presentationml/2006/ole">
            <mc:AlternateContent xmlns:mc="http://schemas.openxmlformats.org/markup-compatibility/2006">
              <mc:Choice xmlns:v="urn:schemas-microsoft-com:vml" Requires="v">
                <p:oleObj spid="_x0000_s14509" name="Equation" r:id="rId4" imgW="1150646" imgH="576381" progId="Equation.DSMT4">
                  <p:embed/>
                </p:oleObj>
              </mc:Choice>
              <mc:Fallback>
                <p:oleObj name="Equation" r:id="rId4" imgW="1150646" imgH="576381" progId="Equation.DSMT4">
                  <p:embed/>
                  <p:pic>
                    <p:nvPicPr>
                      <p:cNvPr id="0" name=""/>
                      <p:cNvPicPr/>
                      <p:nvPr/>
                    </p:nvPicPr>
                    <p:blipFill>
                      <a:blip r:embed="rId5"/>
                      <a:stretch>
                        <a:fillRect/>
                      </a:stretch>
                    </p:blipFill>
                    <p:spPr>
                      <a:xfrm>
                        <a:off x="3299351" y="4868382"/>
                        <a:ext cx="1150937" cy="576263"/>
                      </a:xfrm>
                      <a:prstGeom prst="rect">
                        <a:avLst/>
                      </a:prstGeom>
                    </p:spPr>
                  </p:pic>
                </p:oleObj>
              </mc:Fallback>
            </mc:AlternateContent>
          </a:graphicData>
        </a:graphic>
      </p:graphicFrame>
      <p:graphicFrame>
        <p:nvGraphicFramePr>
          <p:cNvPr id="14" name="对象 13">
            <a:extLst>
              <a:ext uri="{FF2B5EF4-FFF2-40B4-BE49-F238E27FC236}">
                <a16:creationId xmlns:a16="http://schemas.microsoft.com/office/drawing/2014/main" xmlns="" id="{245C1421-E4F8-8BFA-2EC0-98B45897F787}"/>
              </a:ext>
            </a:extLst>
          </p:cNvPr>
          <p:cNvGraphicFramePr>
            <a:graphicFrameLocks noChangeAspect="1"/>
          </p:cNvGraphicFramePr>
          <p:nvPr>
            <p:extLst>
              <p:ext uri="{D42A27DB-BD31-4B8C-83A1-F6EECF244321}">
                <p14:modId xmlns:p14="http://schemas.microsoft.com/office/powerpoint/2010/main" val="3961947597"/>
              </p:ext>
            </p:extLst>
          </p:nvPr>
        </p:nvGraphicFramePr>
        <p:xfrm>
          <a:off x="3297763" y="5354274"/>
          <a:ext cx="1152525" cy="576263"/>
        </p:xfrm>
        <a:graphic>
          <a:graphicData uri="http://schemas.openxmlformats.org/presentationml/2006/ole">
            <mc:AlternateContent xmlns:mc="http://schemas.openxmlformats.org/markup-compatibility/2006">
              <mc:Choice xmlns:v="urn:schemas-microsoft-com:vml" Requires="v">
                <p:oleObj spid="_x0000_s14510" name="Equation" r:id="rId6" imgW="1152446" imgH="576381" progId="Equation.DSMT4">
                  <p:embed/>
                </p:oleObj>
              </mc:Choice>
              <mc:Fallback>
                <p:oleObj name="Equation" r:id="rId6" imgW="1152446" imgH="576381" progId="Equation.DSMT4">
                  <p:embed/>
                  <p:pic>
                    <p:nvPicPr>
                      <p:cNvPr id="0" name=""/>
                      <p:cNvPicPr/>
                      <p:nvPr/>
                    </p:nvPicPr>
                    <p:blipFill>
                      <a:blip r:embed="rId7"/>
                      <a:stretch>
                        <a:fillRect/>
                      </a:stretch>
                    </p:blipFill>
                    <p:spPr>
                      <a:xfrm>
                        <a:off x="3297763" y="5354274"/>
                        <a:ext cx="1152525" cy="576263"/>
                      </a:xfrm>
                      <a:prstGeom prst="rect">
                        <a:avLst/>
                      </a:prstGeom>
                    </p:spPr>
                  </p:pic>
                </p:oleObj>
              </mc:Fallback>
            </mc:AlternateContent>
          </a:graphicData>
        </a:graphic>
      </p:graphicFrame>
      <p:graphicFrame>
        <p:nvGraphicFramePr>
          <p:cNvPr id="15" name="对象 14">
            <a:extLst>
              <a:ext uri="{FF2B5EF4-FFF2-40B4-BE49-F238E27FC236}">
                <a16:creationId xmlns:a16="http://schemas.microsoft.com/office/drawing/2014/main" xmlns="" id="{B7D3440A-A684-50EF-4572-5B209D5B0106}"/>
              </a:ext>
            </a:extLst>
          </p:cNvPr>
          <p:cNvGraphicFramePr>
            <a:graphicFrameLocks noChangeAspect="1"/>
          </p:cNvGraphicFramePr>
          <p:nvPr>
            <p:extLst>
              <p:ext uri="{D42A27DB-BD31-4B8C-83A1-F6EECF244321}">
                <p14:modId xmlns:p14="http://schemas.microsoft.com/office/powerpoint/2010/main" val="164150370"/>
              </p:ext>
            </p:extLst>
          </p:nvPr>
        </p:nvGraphicFramePr>
        <p:xfrm>
          <a:off x="3299440" y="5820211"/>
          <a:ext cx="1150937" cy="577850"/>
        </p:xfrm>
        <a:graphic>
          <a:graphicData uri="http://schemas.openxmlformats.org/presentationml/2006/ole">
            <mc:AlternateContent xmlns:mc="http://schemas.openxmlformats.org/markup-compatibility/2006">
              <mc:Choice xmlns:v="urn:schemas-microsoft-com:vml" Requires="v">
                <p:oleObj spid="_x0000_s14511" name="Equation" r:id="rId8" imgW="1150646" imgH="577821" progId="Equation.DSMT4">
                  <p:embed/>
                </p:oleObj>
              </mc:Choice>
              <mc:Fallback>
                <p:oleObj name="Equation" r:id="rId8" imgW="1150646" imgH="577821" progId="Equation.DSMT4">
                  <p:embed/>
                  <p:pic>
                    <p:nvPicPr>
                      <p:cNvPr id="0" name=""/>
                      <p:cNvPicPr/>
                      <p:nvPr/>
                    </p:nvPicPr>
                    <p:blipFill>
                      <a:blip r:embed="rId9"/>
                      <a:stretch>
                        <a:fillRect/>
                      </a:stretch>
                    </p:blipFill>
                    <p:spPr>
                      <a:xfrm>
                        <a:off x="3299440" y="5820211"/>
                        <a:ext cx="1150937" cy="577850"/>
                      </a:xfrm>
                      <a:prstGeom prst="rect">
                        <a:avLst/>
                      </a:prstGeom>
                    </p:spPr>
                  </p:pic>
                </p:oleObj>
              </mc:Fallback>
            </mc:AlternateContent>
          </a:graphicData>
        </a:graphic>
      </p:graphicFrame>
      <p:pic>
        <p:nvPicPr>
          <p:cNvPr id="16" name="图片 425996" descr="A2">
            <a:extLst>
              <a:ext uri="{FF2B5EF4-FFF2-40B4-BE49-F238E27FC236}">
                <a16:creationId xmlns:a16="http://schemas.microsoft.com/office/drawing/2014/main" xmlns="" id="{B3BAD641-93FC-6488-3210-2B47268B132E}"/>
              </a:ext>
            </a:extLst>
          </p:cNvPr>
          <p:cNvPicPr>
            <a:picLocks noChangeAspect="1"/>
          </p:cNvPicPr>
          <p:nvPr/>
        </p:nvPicPr>
        <p:blipFill>
          <a:blip r:embed="rId10"/>
          <a:stretch>
            <a:fillRect/>
          </a:stretch>
        </p:blipFill>
        <p:spPr>
          <a:xfrm>
            <a:off x="4976813" y="4357077"/>
            <a:ext cx="3195637" cy="2374900"/>
          </a:xfrm>
          <a:prstGeom prst="rect">
            <a:avLst/>
          </a:prstGeom>
          <a:noFill/>
          <a:ln w="9525">
            <a:noFill/>
          </a:ln>
        </p:spPr>
      </p:pic>
    </p:spTree>
    <p:extLst>
      <p:ext uri="{BB962C8B-B14F-4D97-AF65-F5344CB8AC3E}">
        <p14:creationId xmlns:p14="http://schemas.microsoft.com/office/powerpoint/2010/main" val="191547528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34</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2.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高频</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基础</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电路</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Text Box 10">
            <a:extLst>
              <a:ext uri="{FF2B5EF4-FFF2-40B4-BE49-F238E27FC236}">
                <a16:creationId xmlns:a16="http://schemas.microsoft.com/office/drawing/2014/main" xmlns="" id="{E9A74871-3DF6-F632-5DC9-EA60A2AC2A76}"/>
              </a:ext>
            </a:extLst>
          </p:cNvPr>
          <p:cNvSpPr txBox="1">
            <a:spLocks noChangeArrowheads="1"/>
          </p:cNvSpPr>
          <p:nvPr/>
        </p:nvSpPr>
        <p:spPr bwMode="auto">
          <a:xfrm>
            <a:off x="0" y="1111203"/>
            <a:ext cx="91440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28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2.3  </a:t>
            </a:r>
            <a:r>
              <a:rPr lang="zh-CN" altLang="en-US" sz="28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并联谐振回路</a:t>
            </a:r>
          </a:p>
        </p:txBody>
      </p:sp>
      <p:sp>
        <p:nvSpPr>
          <p:cNvPr id="6" name="内容占位符 7170">
            <a:extLst>
              <a:ext uri="{FF2B5EF4-FFF2-40B4-BE49-F238E27FC236}">
                <a16:creationId xmlns:a16="http://schemas.microsoft.com/office/drawing/2014/main" xmlns="" id="{898D270F-9B53-29D7-BA5D-1F634129DFE8}"/>
              </a:ext>
            </a:extLst>
          </p:cNvPr>
          <p:cNvSpPr/>
          <p:nvPr/>
        </p:nvSpPr>
        <p:spPr>
          <a:xfrm>
            <a:off x="497349" y="1659698"/>
            <a:ext cx="8353425" cy="3672409"/>
          </a:xfrm>
          <a:prstGeom prst="rect">
            <a:avLst/>
          </a:prstGeom>
          <a:noFill/>
          <a:ln w="9525">
            <a:noFill/>
          </a:ln>
        </p:spPr>
        <p:txBody>
          <a:bodyPr/>
          <a:lstStyle/>
          <a:p>
            <a:pPr>
              <a:lnSpc>
                <a:spcPct val="120000"/>
              </a:lnSpc>
              <a:spcBef>
                <a:spcPts val="1200"/>
              </a:spcBef>
              <a:spcAft>
                <a:spcPts val="1200"/>
              </a:spcAft>
              <a:buClr>
                <a:schemeClr val="folHlink"/>
              </a:buClr>
              <a:buSzPct val="60000"/>
              <a:defRPr/>
            </a:pPr>
            <a:endParaRPr lang="zh-CN" altLang="en-US" dirty="0">
              <a:ln w="0"/>
              <a:effectLst>
                <a:glow rad="63500">
                  <a:schemeClr val="accent3">
                    <a:satMod val="175000"/>
                    <a:alpha val="40000"/>
                  </a:schemeClr>
                </a:glow>
              </a:effectLst>
              <a:latin typeface="+mn-ea"/>
              <a:ea typeface="+mn-ea"/>
              <a:cs typeface="Times New Roman" panose="02020603050405020304" pitchFamily="18" charset="0"/>
            </a:endParaRPr>
          </a:p>
        </p:txBody>
      </p:sp>
      <p:sp>
        <p:nvSpPr>
          <p:cNvPr id="7" name="文本框 6">
            <a:extLst>
              <a:ext uri="{FF2B5EF4-FFF2-40B4-BE49-F238E27FC236}">
                <a16:creationId xmlns:a16="http://schemas.microsoft.com/office/drawing/2014/main" xmlns="" id="{970B9694-0C91-A24A-5D5A-2139640ABBA8}"/>
              </a:ext>
            </a:extLst>
          </p:cNvPr>
          <p:cNvSpPr txBox="1"/>
          <p:nvPr/>
        </p:nvSpPr>
        <p:spPr>
          <a:xfrm>
            <a:off x="333838" y="1634423"/>
            <a:ext cx="8420137" cy="400110"/>
          </a:xfrm>
          <a:prstGeom prst="rect">
            <a:avLst/>
          </a:prstGeom>
          <a:noFill/>
        </p:spPr>
        <p:txBody>
          <a:bodyPr wrap="square" rtlCol="0">
            <a:spAutoFit/>
          </a:bodyPr>
          <a:lstStyle/>
          <a:p>
            <a:pPr rtl="1">
              <a:lnSpc>
                <a:spcPct val="100000"/>
              </a:lnSpc>
              <a:spcBef>
                <a:spcPct val="50000"/>
              </a:spcBef>
            </a:pPr>
            <a:r>
              <a:rPr lang="en-US" altLang="zh-CN" sz="2000" b="1" baseline="0" dirty="0">
                <a:latin typeface="Times New Roman" panose="02020603050405020304" pitchFamily="18" charset="0"/>
                <a:ea typeface="宋体" panose="02010600030101010101" pitchFamily="2" charset="-122"/>
              </a:rPr>
              <a:t>1.</a:t>
            </a:r>
            <a:r>
              <a:rPr lang="zh-CN" altLang="en-US" sz="2000" b="1" baseline="0" dirty="0">
                <a:latin typeface="Times New Roman" panose="02020603050405020304" pitchFamily="18" charset="0"/>
                <a:ea typeface="宋体" panose="02010600030101010101" pitchFamily="2" charset="-122"/>
              </a:rPr>
              <a:t>无负载电阻的并联谐振回路 </a:t>
            </a:r>
            <a:endParaRPr lang="zh-CN" altLang="en-US" sz="2000" b="1" dirty="0">
              <a:ln w="0"/>
              <a:effectLst>
                <a:glow rad="63500">
                  <a:schemeClr val="accent3">
                    <a:satMod val="175000"/>
                    <a:alpha val="40000"/>
                  </a:schemeClr>
                </a:glow>
              </a:effectLst>
              <a:latin typeface="+mn-ea"/>
              <a:ea typeface="+mn-ea"/>
              <a:cs typeface="Times New Roman" panose="02020603050405020304" pitchFamily="18" charset="0"/>
            </a:endParaRPr>
          </a:p>
        </p:txBody>
      </p:sp>
      <p:pic>
        <p:nvPicPr>
          <p:cNvPr id="8" name="图片 649219" descr="206C">
            <a:extLst>
              <a:ext uri="{FF2B5EF4-FFF2-40B4-BE49-F238E27FC236}">
                <a16:creationId xmlns:a16="http://schemas.microsoft.com/office/drawing/2014/main" xmlns="" id="{E5EFCE01-58DA-7543-EDDE-61E553CB246B}"/>
              </a:ext>
            </a:extLst>
          </p:cNvPr>
          <p:cNvPicPr>
            <a:picLocks noChangeAspect="1"/>
          </p:cNvPicPr>
          <p:nvPr/>
        </p:nvPicPr>
        <p:blipFill>
          <a:blip r:embed="rId3"/>
          <a:stretch>
            <a:fillRect/>
          </a:stretch>
        </p:blipFill>
        <p:spPr>
          <a:xfrm>
            <a:off x="2059296" y="2052931"/>
            <a:ext cx="4819806" cy="1569857"/>
          </a:xfrm>
          <a:prstGeom prst="rect">
            <a:avLst/>
          </a:prstGeom>
          <a:noFill/>
          <a:ln w="9525">
            <a:noFill/>
          </a:ln>
        </p:spPr>
      </p:pic>
      <p:sp>
        <p:nvSpPr>
          <p:cNvPr id="9" name="文本框 8">
            <a:extLst>
              <a:ext uri="{FF2B5EF4-FFF2-40B4-BE49-F238E27FC236}">
                <a16:creationId xmlns:a16="http://schemas.microsoft.com/office/drawing/2014/main" xmlns="" id="{9867F348-274C-653F-2C89-175B5B205520}"/>
              </a:ext>
            </a:extLst>
          </p:cNvPr>
          <p:cNvSpPr txBox="1"/>
          <p:nvPr/>
        </p:nvSpPr>
        <p:spPr>
          <a:xfrm>
            <a:off x="333838" y="3384516"/>
            <a:ext cx="8420137" cy="400110"/>
          </a:xfrm>
          <a:prstGeom prst="rect">
            <a:avLst/>
          </a:prstGeom>
          <a:noFill/>
        </p:spPr>
        <p:txBody>
          <a:bodyPr wrap="square" rtlCol="0">
            <a:spAutoFit/>
          </a:bodyPr>
          <a:lstStyle/>
          <a:p>
            <a:pPr rtl="1">
              <a:lnSpc>
                <a:spcPct val="100000"/>
              </a:lnSpc>
              <a:spcBef>
                <a:spcPct val="50000"/>
              </a:spcBef>
            </a:pPr>
            <a:r>
              <a:rPr lang="zh-CN" altLang="en-US" sz="2000" dirty="0">
                <a:latin typeface="+mn-ea"/>
                <a:ea typeface="+mn-ea"/>
              </a:rPr>
              <a:t>并联回路的导纳</a:t>
            </a:r>
            <a:endParaRPr lang="zh-CN" altLang="en-US" sz="2000" dirty="0">
              <a:ln w="0"/>
              <a:effectLst>
                <a:glow rad="63500">
                  <a:schemeClr val="accent3">
                    <a:satMod val="175000"/>
                    <a:alpha val="40000"/>
                  </a:schemeClr>
                </a:glow>
              </a:effectLst>
              <a:latin typeface="+mn-ea"/>
              <a:ea typeface="+mn-ea"/>
              <a:cs typeface="Times New Roman" panose="02020603050405020304" pitchFamily="18" charset="0"/>
            </a:endParaRPr>
          </a:p>
        </p:txBody>
      </p:sp>
      <p:graphicFrame>
        <p:nvGraphicFramePr>
          <p:cNvPr id="10" name="对象 649226">
            <a:extLst>
              <a:ext uri="{FF2B5EF4-FFF2-40B4-BE49-F238E27FC236}">
                <a16:creationId xmlns:a16="http://schemas.microsoft.com/office/drawing/2014/main" xmlns="" id="{AC4A655A-8977-35AC-5C65-97C186EBC069}"/>
              </a:ext>
            </a:extLst>
          </p:cNvPr>
          <p:cNvGraphicFramePr/>
          <p:nvPr>
            <p:extLst>
              <p:ext uri="{D42A27DB-BD31-4B8C-83A1-F6EECF244321}">
                <p14:modId xmlns:p14="http://schemas.microsoft.com/office/powerpoint/2010/main" val="2824062367"/>
              </p:ext>
            </p:extLst>
          </p:nvPr>
        </p:nvGraphicFramePr>
        <p:xfrm>
          <a:off x="2282058" y="3758074"/>
          <a:ext cx="4579884" cy="680845"/>
        </p:xfrm>
        <a:graphic>
          <a:graphicData uri="http://schemas.openxmlformats.org/presentationml/2006/ole">
            <mc:AlternateContent xmlns:mc="http://schemas.openxmlformats.org/markup-compatibility/2006">
              <mc:Choice xmlns:v="urn:schemas-microsoft-com:vml" Requires="v">
                <p:oleObj spid="_x0000_s15754" r:id="rId4" imgW="2286000" imgH="431800" progId="Equation.3">
                  <p:embed/>
                </p:oleObj>
              </mc:Choice>
              <mc:Fallback>
                <p:oleObj r:id="rId4" imgW="2286000" imgH="431800" progId="Equation.3">
                  <p:embed/>
                  <p:pic>
                    <p:nvPicPr>
                      <p:cNvPr id="0" name=""/>
                      <p:cNvPicPr/>
                      <p:nvPr/>
                    </p:nvPicPr>
                    <p:blipFill>
                      <a:blip r:embed="rId5"/>
                      <a:stretch>
                        <a:fillRect/>
                      </a:stretch>
                    </p:blipFill>
                    <p:spPr>
                      <a:xfrm>
                        <a:off x="2282058" y="3758074"/>
                        <a:ext cx="4579884" cy="680845"/>
                      </a:xfrm>
                      <a:prstGeom prst="rect">
                        <a:avLst/>
                      </a:prstGeom>
                      <a:noFill/>
                      <a:ln w="38100">
                        <a:noFill/>
                        <a:miter/>
                      </a:ln>
                    </p:spPr>
                  </p:pic>
                </p:oleObj>
              </mc:Fallback>
            </mc:AlternateContent>
          </a:graphicData>
        </a:graphic>
      </p:graphicFrame>
      <p:graphicFrame>
        <p:nvGraphicFramePr>
          <p:cNvPr id="11" name="对象 649229">
            <a:extLst>
              <a:ext uri="{FF2B5EF4-FFF2-40B4-BE49-F238E27FC236}">
                <a16:creationId xmlns:a16="http://schemas.microsoft.com/office/drawing/2014/main" xmlns="" id="{12C2BC62-E784-35D5-126B-10661308D00B}"/>
              </a:ext>
            </a:extLst>
          </p:cNvPr>
          <p:cNvGraphicFramePr/>
          <p:nvPr>
            <p:extLst>
              <p:ext uri="{D42A27DB-BD31-4B8C-83A1-F6EECF244321}">
                <p14:modId xmlns:p14="http://schemas.microsoft.com/office/powerpoint/2010/main" val="1297363045"/>
              </p:ext>
            </p:extLst>
          </p:nvPr>
        </p:nvGraphicFramePr>
        <p:xfrm>
          <a:off x="1298914" y="4383949"/>
          <a:ext cx="2976653" cy="779512"/>
        </p:xfrm>
        <a:graphic>
          <a:graphicData uri="http://schemas.openxmlformats.org/presentationml/2006/ole">
            <mc:AlternateContent xmlns:mc="http://schemas.openxmlformats.org/markup-compatibility/2006">
              <mc:Choice xmlns:v="urn:schemas-microsoft-com:vml" Requires="v">
                <p:oleObj spid="_x0000_s15755" r:id="rId6" imgW="1473200" imgH="431800" progId="Equation.3">
                  <p:embed/>
                </p:oleObj>
              </mc:Choice>
              <mc:Fallback>
                <p:oleObj r:id="rId6" imgW="1473200" imgH="431800" progId="Equation.3">
                  <p:embed/>
                  <p:pic>
                    <p:nvPicPr>
                      <p:cNvPr id="0" name=""/>
                      <p:cNvPicPr/>
                      <p:nvPr/>
                    </p:nvPicPr>
                    <p:blipFill>
                      <a:blip r:embed="rId7"/>
                      <a:stretch>
                        <a:fillRect/>
                      </a:stretch>
                    </p:blipFill>
                    <p:spPr>
                      <a:xfrm>
                        <a:off x="1298914" y="4383949"/>
                        <a:ext cx="2976653" cy="779512"/>
                      </a:xfrm>
                      <a:prstGeom prst="rect">
                        <a:avLst/>
                      </a:prstGeom>
                      <a:noFill/>
                      <a:ln w="38100">
                        <a:noFill/>
                        <a:miter/>
                      </a:ln>
                    </p:spPr>
                  </p:pic>
                </p:oleObj>
              </mc:Fallback>
            </mc:AlternateContent>
          </a:graphicData>
        </a:graphic>
      </p:graphicFrame>
      <p:graphicFrame>
        <p:nvGraphicFramePr>
          <p:cNvPr id="12" name="对象 649232">
            <a:extLst>
              <a:ext uri="{FF2B5EF4-FFF2-40B4-BE49-F238E27FC236}">
                <a16:creationId xmlns:a16="http://schemas.microsoft.com/office/drawing/2014/main" xmlns="" id="{8844C017-893A-510F-7FC7-572004BB92E9}"/>
              </a:ext>
            </a:extLst>
          </p:cNvPr>
          <p:cNvGraphicFramePr/>
          <p:nvPr>
            <p:extLst>
              <p:ext uri="{D42A27DB-BD31-4B8C-83A1-F6EECF244321}">
                <p14:modId xmlns:p14="http://schemas.microsoft.com/office/powerpoint/2010/main" val="2588725841"/>
              </p:ext>
            </p:extLst>
          </p:nvPr>
        </p:nvGraphicFramePr>
        <p:xfrm>
          <a:off x="4236852" y="4323284"/>
          <a:ext cx="2213799" cy="725800"/>
        </p:xfrm>
        <a:graphic>
          <a:graphicData uri="http://schemas.openxmlformats.org/presentationml/2006/ole">
            <mc:AlternateContent xmlns:mc="http://schemas.openxmlformats.org/markup-compatibility/2006">
              <mc:Choice xmlns:v="urn:schemas-microsoft-com:vml" Requires="v">
                <p:oleObj spid="_x0000_s15756" r:id="rId8" imgW="1180465" imgH="431800" progId="Equation.3">
                  <p:embed/>
                </p:oleObj>
              </mc:Choice>
              <mc:Fallback>
                <p:oleObj r:id="rId8" imgW="1180465" imgH="431800" progId="Equation.3">
                  <p:embed/>
                  <p:pic>
                    <p:nvPicPr>
                      <p:cNvPr id="0" name=""/>
                      <p:cNvPicPr/>
                      <p:nvPr/>
                    </p:nvPicPr>
                    <p:blipFill>
                      <a:blip r:embed="rId9"/>
                      <a:stretch>
                        <a:fillRect/>
                      </a:stretch>
                    </p:blipFill>
                    <p:spPr>
                      <a:xfrm>
                        <a:off x="4236852" y="4323284"/>
                        <a:ext cx="2213799" cy="725800"/>
                      </a:xfrm>
                      <a:prstGeom prst="rect">
                        <a:avLst/>
                      </a:prstGeom>
                      <a:noFill/>
                      <a:ln w="38100">
                        <a:noFill/>
                        <a:miter/>
                      </a:ln>
                    </p:spPr>
                  </p:pic>
                </p:oleObj>
              </mc:Fallback>
            </mc:AlternateContent>
          </a:graphicData>
        </a:graphic>
      </p:graphicFrame>
      <p:sp>
        <p:nvSpPr>
          <p:cNvPr id="21" name="文本框 20">
            <a:extLst>
              <a:ext uri="{FF2B5EF4-FFF2-40B4-BE49-F238E27FC236}">
                <a16:creationId xmlns:a16="http://schemas.microsoft.com/office/drawing/2014/main" xmlns="" id="{A2301FC6-7787-9DDE-D1E2-532EEE3843C3}"/>
              </a:ext>
            </a:extLst>
          </p:cNvPr>
          <p:cNvSpPr txBox="1"/>
          <p:nvPr/>
        </p:nvSpPr>
        <p:spPr>
          <a:xfrm>
            <a:off x="297757" y="5082979"/>
            <a:ext cx="8420137" cy="400110"/>
          </a:xfrm>
          <a:prstGeom prst="rect">
            <a:avLst/>
          </a:prstGeom>
          <a:noFill/>
        </p:spPr>
        <p:txBody>
          <a:bodyPr wrap="square" rtlCol="0">
            <a:spAutoFit/>
          </a:bodyPr>
          <a:lstStyle/>
          <a:p>
            <a:pPr rtl="1">
              <a:lnSpc>
                <a:spcPct val="100000"/>
              </a:lnSpc>
              <a:spcBef>
                <a:spcPct val="50000"/>
              </a:spcBef>
            </a:pPr>
            <a:r>
              <a:rPr lang="zh-CN" altLang="en-US" sz="2000" dirty="0">
                <a:ln w="0"/>
                <a:effectLst>
                  <a:glow rad="63500">
                    <a:schemeClr val="accent3">
                      <a:satMod val="175000"/>
                      <a:alpha val="40000"/>
                    </a:schemeClr>
                  </a:glow>
                </a:effectLst>
                <a:latin typeface="+mn-ea"/>
                <a:ea typeface="+mn-ea"/>
                <a:cs typeface="Times New Roman" panose="02020603050405020304" pitchFamily="18" charset="0"/>
              </a:rPr>
              <a:t>并联谐振回路谐振频率 </a:t>
            </a:r>
          </a:p>
        </p:txBody>
      </p:sp>
      <p:sp>
        <p:nvSpPr>
          <p:cNvPr id="22" name="文本框 21">
            <a:extLst>
              <a:ext uri="{FF2B5EF4-FFF2-40B4-BE49-F238E27FC236}">
                <a16:creationId xmlns:a16="http://schemas.microsoft.com/office/drawing/2014/main" xmlns="" id="{716C746B-841D-74A1-01F5-DEE8D7A3A6E4}"/>
              </a:ext>
            </a:extLst>
          </p:cNvPr>
          <p:cNvSpPr txBox="1"/>
          <p:nvPr/>
        </p:nvSpPr>
        <p:spPr>
          <a:xfrm>
            <a:off x="4015155" y="5648407"/>
            <a:ext cx="1057501" cy="400110"/>
          </a:xfrm>
          <a:prstGeom prst="rect">
            <a:avLst/>
          </a:prstGeom>
          <a:noFill/>
        </p:spPr>
        <p:txBody>
          <a:bodyPr wrap="square" rtlCol="0">
            <a:spAutoFit/>
          </a:bodyPr>
          <a:lstStyle/>
          <a:p>
            <a:pPr rtl="1">
              <a:lnSpc>
                <a:spcPct val="100000"/>
              </a:lnSpc>
              <a:spcBef>
                <a:spcPct val="50000"/>
              </a:spcBef>
            </a:pPr>
            <a:r>
              <a:rPr lang="zh-CN" altLang="en-US" sz="2000" dirty="0">
                <a:latin typeface="+mn-ea"/>
                <a:ea typeface="+mn-ea"/>
              </a:rPr>
              <a:t>其中</a:t>
            </a:r>
            <a:r>
              <a:rPr lang="en-US" altLang="zh-CN" sz="2000" dirty="0">
                <a:latin typeface="+mn-ea"/>
                <a:ea typeface="+mn-ea"/>
              </a:rPr>
              <a:t>,</a:t>
            </a:r>
            <a:endParaRPr lang="zh-CN" altLang="en-US" sz="2000" dirty="0">
              <a:ln w="0"/>
              <a:effectLst>
                <a:glow rad="63500">
                  <a:schemeClr val="accent3">
                    <a:satMod val="175000"/>
                    <a:alpha val="40000"/>
                  </a:schemeClr>
                </a:glow>
              </a:effectLst>
              <a:latin typeface="+mn-ea"/>
              <a:ea typeface="+mn-ea"/>
              <a:cs typeface="Times New Roman" panose="02020603050405020304" pitchFamily="18" charset="0"/>
            </a:endParaRPr>
          </a:p>
        </p:txBody>
      </p:sp>
      <p:graphicFrame>
        <p:nvGraphicFramePr>
          <p:cNvPr id="23" name="对象 650256">
            <a:extLst>
              <a:ext uri="{FF2B5EF4-FFF2-40B4-BE49-F238E27FC236}">
                <a16:creationId xmlns:a16="http://schemas.microsoft.com/office/drawing/2014/main" xmlns="" id="{35C2D2DF-E7DF-83BA-8021-64E23C1AE1D6}"/>
              </a:ext>
            </a:extLst>
          </p:cNvPr>
          <p:cNvGraphicFramePr/>
          <p:nvPr>
            <p:extLst>
              <p:ext uri="{D42A27DB-BD31-4B8C-83A1-F6EECF244321}">
                <p14:modId xmlns:p14="http://schemas.microsoft.com/office/powerpoint/2010/main" val="2640075084"/>
              </p:ext>
            </p:extLst>
          </p:nvPr>
        </p:nvGraphicFramePr>
        <p:xfrm>
          <a:off x="259130" y="5621160"/>
          <a:ext cx="3470896" cy="808213"/>
        </p:xfrm>
        <a:graphic>
          <a:graphicData uri="http://schemas.openxmlformats.org/presentationml/2006/ole">
            <mc:AlternateContent xmlns:mc="http://schemas.openxmlformats.org/markup-compatibility/2006">
              <mc:Choice xmlns:v="urn:schemas-microsoft-com:vml" Requires="v">
                <p:oleObj spid="_x0000_s15757" r:id="rId10" imgW="2006600" imgH="520700" progId="Equation.3">
                  <p:embed/>
                </p:oleObj>
              </mc:Choice>
              <mc:Fallback>
                <p:oleObj r:id="rId10" imgW="2006600" imgH="520700" progId="Equation.3">
                  <p:embed/>
                  <p:pic>
                    <p:nvPicPr>
                      <p:cNvPr id="0" name=""/>
                      <p:cNvPicPr/>
                      <p:nvPr/>
                    </p:nvPicPr>
                    <p:blipFill>
                      <a:blip r:embed="rId11"/>
                      <a:stretch>
                        <a:fillRect/>
                      </a:stretch>
                    </p:blipFill>
                    <p:spPr>
                      <a:xfrm>
                        <a:off x="259130" y="5621160"/>
                        <a:ext cx="3470896" cy="808213"/>
                      </a:xfrm>
                      <a:prstGeom prst="rect">
                        <a:avLst/>
                      </a:prstGeom>
                      <a:noFill/>
                      <a:ln w="38100">
                        <a:noFill/>
                        <a:miter/>
                      </a:ln>
                    </p:spPr>
                  </p:pic>
                </p:oleObj>
              </mc:Fallback>
            </mc:AlternateContent>
          </a:graphicData>
        </a:graphic>
      </p:graphicFrame>
      <p:graphicFrame>
        <p:nvGraphicFramePr>
          <p:cNvPr id="24" name="对象 650260">
            <a:extLst>
              <a:ext uri="{FF2B5EF4-FFF2-40B4-BE49-F238E27FC236}">
                <a16:creationId xmlns:a16="http://schemas.microsoft.com/office/drawing/2014/main" xmlns="" id="{0699031B-E7B8-EDB1-0068-679B13FDA289}"/>
              </a:ext>
            </a:extLst>
          </p:cNvPr>
          <p:cNvGraphicFramePr/>
          <p:nvPr>
            <p:extLst>
              <p:ext uri="{D42A27DB-BD31-4B8C-83A1-F6EECF244321}">
                <p14:modId xmlns:p14="http://schemas.microsoft.com/office/powerpoint/2010/main" val="3198421721"/>
              </p:ext>
            </p:extLst>
          </p:nvPr>
        </p:nvGraphicFramePr>
        <p:xfrm>
          <a:off x="3027022" y="5183550"/>
          <a:ext cx="1008063" cy="347663"/>
        </p:xfrm>
        <a:graphic>
          <a:graphicData uri="http://schemas.openxmlformats.org/presentationml/2006/ole">
            <mc:AlternateContent xmlns:mc="http://schemas.openxmlformats.org/markup-compatibility/2006">
              <mc:Choice xmlns:v="urn:schemas-microsoft-com:vml" Requires="v">
                <p:oleObj spid="_x0000_s15758" r:id="rId12" imgW="584200" imgH="203200" progId="Equation.DSMT4">
                  <p:embed/>
                </p:oleObj>
              </mc:Choice>
              <mc:Fallback>
                <p:oleObj r:id="rId12" imgW="584200" imgH="203200" progId="Equation.DSMT4">
                  <p:embed/>
                  <p:pic>
                    <p:nvPicPr>
                      <p:cNvPr id="0" name=""/>
                      <p:cNvPicPr/>
                      <p:nvPr/>
                    </p:nvPicPr>
                    <p:blipFill>
                      <a:blip r:embed="rId13"/>
                      <a:stretch>
                        <a:fillRect/>
                      </a:stretch>
                    </p:blipFill>
                    <p:spPr>
                      <a:xfrm>
                        <a:off x="3027022" y="5183550"/>
                        <a:ext cx="1008063" cy="347663"/>
                      </a:xfrm>
                      <a:prstGeom prst="rect">
                        <a:avLst/>
                      </a:prstGeom>
                      <a:noFill/>
                      <a:ln w="38100">
                        <a:noFill/>
                        <a:miter/>
                      </a:ln>
                    </p:spPr>
                  </p:pic>
                </p:oleObj>
              </mc:Fallback>
            </mc:AlternateContent>
          </a:graphicData>
        </a:graphic>
      </p:graphicFrame>
      <p:graphicFrame>
        <p:nvGraphicFramePr>
          <p:cNvPr id="25" name="对象 24">
            <a:extLst>
              <a:ext uri="{FF2B5EF4-FFF2-40B4-BE49-F238E27FC236}">
                <a16:creationId xmlns:a16="http://schemas.microsoft.com/office/drawing/2014/main" xmlns="" id="{E23EA583-0D85-8028-5A2E-DFF3CFD9EAE7}"/>
              </a:ext>
            </a:extLst>
          </p:cNvPr>
          <p:cNvGraphicFramePr>
            <a:graphicFrameLocks noChangeAspect="1"/>
          </p:cNvGraphicFramePr>
          <p:nvPr>
            <p:extLst>
              <p:ext uri="{D42A27DB-BD31-4B8C-83A1-F6EECF244321}">
                <p14:modId xmlns:p14="http://schemas.microsoft.com/office/powerpoint/2010/main" val="672761103"/>
              </p:ext>
            </p:extLst>
          </p:nvPr>
        </p:nvGraphicFramePr>
        <p:xfrm>
          <a:off x="4727597" y="5577464"/>
          <a:ext cx="1521252" cy="488924"/>
        </p:xfrm>
        <a:graphic>
          <a:graphicData uri="http://schemas.openxmlformats.org/presentationml/2006/ole">
            <mc:AlternateContent xmlns:mc="http://schemas.openxmlformats.org/markup-compatibility/2006">
              <mc:Choice xmlns:v="urn:schemas-microsoft-com:vml" Requires="v">
                <p:oleObj spid="_x0000_s15759" name="Equation" r:id="rId14" imgW="1728489" imgH="556220" progId="Equation.DSMT4">
                  <p:embed/>
                </p:oleObj>
              </mc:Choice>
              <mc:Fallback>
                <p:oleObj name="Equation" r:id="rId14" imgW="1728489" imgH="556220" progId="Equation.DSMT4">
                  <p:embed/>
                  <p:pic>
                    <p:nvPicPr>
                      <p:cNvPr id="0" name=""/>
                      <p:cNvPicPr/>
                      <p:nvPr/>
                    </p:nvPicPr>
                    <p:blipFill>
                      <a:blip r:embed="rId15"/>
                      <a:stretch>
                        <a:fillRect/>
                      </a:stretch>
                    </p:blipFill>
                    <p:spPr>
                      <a:xfrm>
                        <a:off x="4727597" y="5577464"/>
                        <a:ext cx="1521252" cy="488924"/>
                      </a:xfrm>
                      <a:prstGeom prst="rect">
                        <a:avLst/>
                      </a:prstGeom>
                    </p:spPr>
                  </p:pic>
                </p:oleObj>
              </mc:Fallback>
            </mc:AlternateContent>
          </a:graphicData>
        </a:graphic>
      </p:graphicFrame>
      <p:graphicFrame>
        <p:nvGraphicFramePr>
          <p:cNvPr id="26" name="对象 25">
            <a:extLst>
              <a:ext uri="{FF2B5EF4-FFF2-40B4-BE49-F238E27FC236}">
                <a16:creationId xmlns:a16="http://schemas.microsoft.com/office/drawing/2014/main" xmlns="" id="{B70365D0-2D97-CEB2-D413-FAE9CDE62EA7}"/>
              </a:ext>
            </a:extLst>
          </p:cNvPr>
          <p:cNvGraphicFramePr>
            <a:graphicFrameLocks noChangeAspect="1"/>
          </p:cNvGraphicFramePr>
          <p:nvPr>
            <p:extLst>
              <p:ext uri="{D42A27DB-BD31-4B8C-83A1-F6EECF244321}">
                <p14:modId xmlns:p14="http://schemas.microsoft.com/office/powerpoint/2010/main" val="456489830"/>
              </p:ext>
            </p:extLst>
          </p:nvPr>
        </p:nvGraphicFramePr>
        <p:xfrm>
          <a:off x="4795970" y="6114906"/>
          <a:ext cx="1384507" cy="410649"/>
        </p:xfrm>
        <a:graphic>
          <a:graphicData uri="http://schemas.openxmlformats.org/presentationml/2006/ole">
            <mc:AlternateContent xmlns:mc="http://schemas.openxmlformats.org/markup-compatibility/2006">
              <mc:Choice xmlns:v="urn:schemas-microsoft-com:vml" Requires="v">
                <p:oleObj spid="_x0000_s15760" name="Equation" r:id="rId16" imgW="1728489" imgH="512298" progId="Equation.DSMT4">
                  <p:embed/>
                </p:oleObj>
              </mc:Choice>
              <mc:Fallback>
                <p:oleObj name="Equation" r:id="rId16" imgW="1728489" imgH="512298" progId="Equation.DSMT4">
                  <p:embed/>
                  <p:pic>
                    <p:nvPicPr>
                      <p:cNvPr id="0" name=""/>
                      <p:cNvPicPr/>
                      <p:nvPr/>
                    </p:nvPicPr>
                    <p:blipFill>
                      <a:blip r:embed="rId17"/>
                      <a:stretch>
                        <a:fillRect/>
                      </a:stretch>
                    </p:blipFill>
                    <p:spPr>
                      <a:xfrm>
                        <a:off x="4795970" y="6114906"/>
                        <a:ext cx="1384507" cy="410649"/>
                      </a:xfrm>
                      <a:prstGeom prst="rect">
                        <a:avLst/>
                      </a:prstGeom>
                    </p:spPr>
                  </p:pic>
                </p:oleObj>
              </mc:Fallback>
            </mc:AlternateContent>
          </a:graphicData>
        </a:graphic>
      </p:graphicFrame>
      <p:sp>
        <p:nvSpPr>
          <p:cNvPr id="27" name="文本框 26">
            <a:extLst>
              <a:ext uri="{FF2B5EF4-FFF2-40B4-BE49-F238E27FC236}">
                <a16:creationId xmlns:a16="http://schemas.microsoft.com/office/drawing/2014/main" xmlns="" id="{6A008BEB-7FBF-D3FF-73FA-740D3246C51C}"/>
              </a:ext>
            </a:extLst>
          </p:cNvPr>
          <p:cNvSpPr txBox="1"/>
          <p:nvPr/>
        </p:nvSpPr>
        <p:spPr>
          <a:xfrm>
            <a:off x="6180477" y="5565434"/>
            <a:ext cx="2919281" cy="400110"/>
          </a:xfrm>
          <a:prstGeom prst="rect">
            <a:avLst/>
          </a:prstGeom>
          <a:noFill/>
        </p:spPr>
        <p:txBody>
          <a:bodyPr wrap="square" rtlCol="0">
            <a:spAutoFit/>
          </a:bodyPr>
          <a:lstStyle/>
          <a:p>
            <a:pPr rtl="1">
              <a:lnSpc>
                <a:spcPct val="100000"/>
              </a:lnSpc>
              <a:spcBef>
                <a:spcPct val="50000"/>
              </a:spcBef>
            </a:pPr>
            <a:r>
              <a:rPr lang="zh-CN" altLang="en-US" sz="2000" dirty="0">
                <a:latin typeface="+mn-ea"/>
                <a:ea typeface="+mn-ea"/>
              </a:rPr>
              <a:t>为回路无阻尼振荡频率 </a:t>
            </a:r>
            <a:endParaRPr lang="zh-CN" altLang="en-US" sz="2000" dirty="0">
              <a:ln w="0"/>
              <a:effectLst>
                <a:glow rad="63500">
                  <a:schemeClr val="accent3">
                    <a:satMod val="175000"/>
                    <a:alpha val="40000"/>
                  </a:schemeClr>
                </a:glow>
              </a:effectLst>
              <a:latin typeface="+mn-ea"/>
              <a:ea typeface="+mn-ea"/>
              <a:cs typeface="Times New Roman" panose="02020603050405020304" pitchFamily="18" charset="0"/>
            </a:endParaRPr>
          </a:p>
        </p:txBody>
      </p:sp>
      <p:sp>
        <p:nvSpPr>
          <p:cNvPr id="28" name="文本框 27">
            <a:extLst>
              <a:ext uri="{FF2B5EF4-FFF2-40B4-BE49-F238E27FC236}">
                <a16:creationId xmlns:a16="http://schemas.microsoft.com/office/drawing/2014/main" xmlns="" id="{175DD59F-6DCE-FA2C-AB29-87A6265E55F9}"/>
              </a:ext>
            </a:extLst>
          </p:cNvPr>
          <p:cNvSpPr txBox="1"/>
          <p:nvPr/>
        </p:nvSpPr>
        <p:spPr>
          <a:xfrm>
            <a:off x="6180477" y="6092765"/>
            <a:ext cx="2919281" cy="400110"/>
          </a:xfrm>
          <a:prstGeom prst="rect">
            <a:avLst/>
          </a:prstGeom>
          <a:noFill/>
        </p:spPr>
        <p:txBody>
          <a:bodyPr wrap="square" rtlCol="0">
            <a:spAutoFit/>
          </a:bodyPr>
          <a:lstStyle/>
          <a:p>
            <a:pPr rtl="1">
              <a:lnSpc>
                <a:spcPct val="100000"/>
              </a:lnSpc>
              <a:spcBef>
                <a:spcPct val="50000"/>
              </a:spcBef>
            </a:pPr>
            <a:r>
              <a:rPr lang="zh-CN" altLang="en-US" sz="2000" dirty="0">
                <a:latin typeface="+mn-ea"/>
                <a:ea typeface="+mn-ea"/>
              </a:rPr>
              <a:t>为回路的空载品质因数</a:t>
            </a:r>
          </a:p>
        </p:txBody>
      </p:sp>
    </p:spTree>
    <p:extLst>
      <p:ext uri="{BB962C8B-B14F-4D97-AF65-F5344CB8AC3E}">
        <p14:creationId xmlns:p14="http://schemas.microsoft.com/office/powerpoint/2010/main" val="138035734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35</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2.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高频</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基础</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电路</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内容占位符 7170">
            <a:extLst>
              <a:ext uri="{FF2B5EF4-FFF2-40B4-BE49-F238E27FC236}">
                <a16:creationId xmlns:a16="http://schemas.microsoft.com/office/drawing/2014/main" xmlns="" id="{B0B8E4D7-8463-63AA-CD86-AEF72747F9E1}"/>
              </a:ext>
            </a:extLst>
          </p:cNvPr>
          <p:cNvSpPr/>
          <p:nvPr/>
        </p:nvSpPr>
        <p:spPr>
          <a:xfrm>
            <a:off x="539552" y="1412775"/>
            <a:ext cx="8353425" cy="3672409"/>
          </a:xfrm>
          <a:prstGeom prst="rect">
            <a:avLst/>
          </a:prstGeom>
          <a:noFill/>
          <a:ln w="9525">
            <a:noFill/>
          </a:ln>
        </p:spPr>
        <p:txBody>
          <a:bodyPr/>
          <a:lstStyle/>
          <a:p>
            <a:pPr>
              <a:lnSpc>
                <a:spcPct val="120000"/>
              </a:lnSpc>
              <a:spcBef>
                <a:spcPts val="1200"/>
              </a:spcBef>
              <a:spcAft>
                <a:spcPts val="1200"/>
              </a:spcAft>
              <a:buClr>
                <a:schemeClr val="folHlink"/>
              </a:buClr>
              <a:buSzPct val="60000"/>
              <a:defRPr/>
            </a:pPr>
            <a:endParaRPr lang="zh-CN" altLang="en-US" dirty="0">
              <a:ln w="0"/>
              <a:effectLst>
                <a:glow rad="63500">
                  <a:schemeClr val="accent3">
                    <a:satMod val="175000"/>
                    <a:alpha val="40000"/>
                  </a:schemeClr>
                </a:glow>
              </a:effectLst>
              <a:latin typeface="+mn-ea"/>
              <a:ea typeface="+mn-ea"/>
              <a:cs typeface="Times New Roman" panose="02020603050405020304" pitchFamily="18" charset="0"/>
            </a:endParaRPr>
          </a:p>
        </p:txBody>
      </p:sp>
      <p:sp>
        <p:nvSpPr>
          <p:cNvPr id="6" name="文本框 5">
            <a:extLst>
              <a:ext uri="{FF2B5EF4-FFF2-40B4-BE49-F238E27FC236}">
                <a16:creationId xmlns:a16="http://schemas.microsoft.com/office/drawing/2014/main" xmlns="" id="{39BA99FB-D1C0-0F32-0993-9FBE612C2C7A}"/>
              </a:ext>
            </a:extLst>
          </p:cNvPr>
          <p:cNvSpPr txBox="1"/>
          <p:nvPr/>
        </p:nvSpPr>
        <p:spPr>
          <a:xfrm>
            <a:off x="361931" y="1268760"/>
            <a:ext cx="8420137" cy="400110"/>
          </a:xfrm>
          <a:prstGeom prst="rect">
            <a:avLst/>
          </a:prstGeom>
          <a:noFill/>
        </p:spPr>
        <p:txBody>
          <a:bodyPr wrap="square" rtlCol="0">
            <a:spAutoFit/>
          </a:bodyPr>
          <a:lstStyle/>
          <a:p>
            <a:pPr rtl="1">
              <a:lnSpc>
                <a:spcPct val="100000"/>
              </a:lnSpc>
              <a:spcBef>
                <a:spcPct val="50000"/>
              </a:spcBef>
            </a:pPr>
            <a:r>
              <a:rPr lang="en-US" altLang="zh-CN" sz="2000" b="1" baseline="0" dirty="0">
                <a:latin typeface="Times New Roman" panose="02020603050405020304" pitchFamily="18" charset="0"/>
                <a:ea typeface="宋体" panose="02010600030101010101" pitchFamily="2" charset="-122"/>
              </a:rPr>
              <a:t>2.</a:t>
            </a:r>
            <a:r>
              <a:rPr lang="zh-CN" altLang="en-US" sz="2000" b="1" baseline="0" dirty="0">
                <a:latin typeface="Times New Roman" panose="02020603050405020304" pitchFamily="18" charset="0"/>
                <a:ea typeface="宋体" panose="02010600030101010101" pitchFamily="2" charset="-122"/>
              </a:rPr>
              <a:t>有负载电阻的并联谐振回路</a:t>
            </a:r>
            <a:endParaRPr lang="zh-CN" altLang="en-US" sz="2000" b="1" dirty="0">
              <a:ln w="0"/>
              <a:effectLst>
                <a:glow rad="63500">
                  <a:schemeClr val="accent3">
                    <a:satMod val="175000"/>
                    <a:alpha val="40000"/>
                  </a:schemeClr>
                </a:glow>
              </a:effectLst>
              <a:latin typeface="+mn-ea"/>
              <a:ea typeface="+mn-ea"/>
              <a:cs typeface="Times New Roman" panose="02020603050405020304" pitchFamily="18" charset="0"/>
            </a:endParaRPr>
          </a:p>
        </p:txBody>
      </p:sp>
      <p:graphicFrame>
        <p:nvGraphicFramePr>
          <p:cNvPr id="7" name="对象 6">
            <a:extLst>
              <a:ext uri="{FF2B5EF4-FFF2-40B4-BE49-F238E27FC236}">
                <a16:creationId xmlns:a16="http://schemas.microsoft.com/office/drawing/2014/main" xmlns="" id="{AE5D2337-46EE-7317-C418-A5FD88DE2F99}"/>
              </a:ext>
            </a:extLst>
          </p:cNvPr>
          <p:cNvGraphicFramePr>
            <a:graphicFrameLocks noChangeAspect="1"/>
          </p:cNvGraphicFramePr>
          <p:nvPr>
            <p:extLst>
              <p:ext uri="{D42A27DB-BD31-4B8C-83A1-F6EECF244321}">
                <p14:modId xmlns:p14="http://schemas.microsoft.com/office/powerpoint/2010/main" val="3992141055"/>
              </p:ext>
            </p:extLst>
          </p:nvPr>
        </p:nvGraphicFramePr>
        <p:xfrm>
          <a:off x="773815" y="1893682"/>
          <a:ext cx="921887" cy="417458"/>
        </p:xfrm>
        <a:graphic>
          <a:graphicData uri="http://schemas.openxmlformats.org/presentationml/2006/ole">
            <mc:AlternateContent xmlns:mc="http://schemas.openxmlformats.org/markup-compatibility/2006">
              <mc:Choice xmlns:v="urn:schemas-microsoft-com:vml" Requires="v">
                <p:oleObj spid="_x0000_s16936" name="Equation" r:id="rId3" imgW="1009155" imgH="457216" progId="Equation.DSMT4">
                  <p:embed/>
                </p:oleObj>
              </mc:Choice>
              <mc:Fallback>
                <p:oleObj name="Equation" r:id="rId3" imgW="1009155" imgH="457216" progId="Equation.DSMT4">
                  <p:embed/>
                  <p:pic>
                    <p:nvPicPr>
                      <p:cNvPr id="0" name=""/>
                      <p:cNvPicPr/>
                      <p:nvPr/>
                    </p:nvPicPr>
                    <p:blipFill>
                      <a:blip r:embed="rId4"/>
                      <a:stretch>
                        <a:fillRect/>
                      </a:stretch>
                    </p:blipFill>
                    <p:spPr>
                      <a:xfrm>
                        <a:off x="773815" y="1893682"/>
                        <a:ext cx="921887" cy="417458"/>
                      </a:xfrm>
                      <a:prstGeom prst="rect">
                        <a:avLst/>
                      </a:prstGeom>
                    </p:spPr>
                  </p:pic>
                </p:oleObj>
              </mc:Fallback>
            </mc:AlternateContent>
          </a:graphicData>
        </a:graphic>
      </p:graphicFrame>
      <p:pic>
        <p:nvPicPr>
          <p:cNvPr id="8" name="图片 651267" descr="00000-3">
            <a:extLst>
              <a:ext uri="{FF2B5EF4-FFF2-40B4-BE49-F238E27FC236}">
                <a16:creationId xmlns:a16="http://schemas.microsoft.com/office/drawing/2014/main" xmlns="" id="{79A4C362-7A09-A968-E69F-D6A8B195F012}"/>
              </a:ext>
            </a:extLst>
          </p:cNvPr>
          <p:cNvPicPr>
            <a:picLocks noChangeAspect="1"/>
          </p:cNvPicPr>
          <p:nvPr/>
        </p:nvPicPr>
        <p:blipFill>
          <a:blip r:embed="rId5"/>
          <a:stretch>
            <a:fillRect/>
          </a:stretch>
        </p:blipFill>
        <p:spPr>
          <a:xfrm>
            <a:off x="1803286" y="1607696"/>
            <a:ext cx="4643515" cy="1345715"/>
          </a:xfrm>
          <a:prstGeom prst="rect">
            <a:avLst/>
          </a:prstGeom>
          <a:noFill/>
          <a:ln w="9525">
            <a:noFill/>
          </a:ln>
        </p:spPr>
      </p:pic>
      <p:sp>
        <p:nvSpPr>
          <p:cNvPr id="9" name="文本框 8">
            <a:extLst>
              <a:ext uri="{FF2B5EF4-FFF2-40B4-BE49-F238E27FC236}">
                <a16:creationId xmlns:a16="http://schemas.microsoft.com/office/drawing/2014/main" xmlns="" id="{14A74EA4-E960-6F66-19D2-A25C3A558CA3}"/>
              </a:ext>
            </a:extLst>
          </p:cNvPr>
          <p:cNvSpPr txBox="1"/>
          <p:nvPr/>
        </p:nvSpPr>
        <p:spPr>
          <a:xfrm>
            <a:off x="361931" y="3097838"/>
            <a:ext cx="3517553" cy="400110"/>
          </a:xfrm>
          <a:prstGeom prst="rect">
            <a:avLst/>
          </a:prstGeom>
          <a:noFill/>
        </p:spPr>
        <p:txBody>
          <a:bodyPr wrap="square" rtlCol="0">
            <a:spAutoFit/>
          </a:bodyPr>
          <a:lstStyle/>
          <a:p>
            <a:pPr rtl="1">
              <a:lnSpc>
                <a:spcPct val="100000"/>
              </a:lnSpc>
              <a:spcBef>
                <a:spcPct val="50000"/>
              </a:spcBef>
            </a:pPr>
            <a:r>
              <a:rPr lang="zh-CN" altLang="en-US" sz="2000" dirty="0">
                <a:latin typeface="+mn-ea"/>
                <a:ea typeface="+mn-ea"/>
              </a:rPr>
              <a:t>在          的条件下</a:t>
            </a:r>
            <a:r>
              <a:rPr lang="en-US" altLang="zh-CN" sz="2000" dirty="0">
                <a:latin typeface="+mn-ea"/>
                <a:ea typeface="+mn-ea"/>
              </a:rPr>
              <a:t>, </a:t>
            </a:r>
            <a:endParaRPr lang="zh-CN" altLang="en-US" sz="2000" dirty="0">
              <a:ln w="0"/>
              <a:effectLst>
                <a:glow rad="63500">
                  <a:schemeClr val="accent3">
                    <a:satMod val="175000"/>
                    <a:alpha val="40000"/>
                  </a:schemeClr>
                </a:glow>
              </a:effectLst>
              <a:latin typeface="+mn-ea"/>
              <a:ea typeface="+mn-ea"/>
              <a:cs typeface="Times New Roman" panose="02020603050405020304" pitchFamily="18" charset="0"/>
            </a:endParaRPr>
          </a:p>
        </p:txBody>
      </p:sp>
      <p:graphicFrame>
        <p:nvGraphicFramePr>
          <p:cNvPr id="10" name="对象 9">
            <a:extLst>
              <a:ext uri="{FF2B5EF4-FFF2-40B4-BE49-F238E27FC236}">
                <a16:creationId xmlns:a16="http://schemas.microsoft.com/office/drawing/2014/main" xmlns="" id="{DE863315-17C4-7185-9F4B-D58A1B100000}"/>
              </a:ext>
            </a:extLst>
          </p:cNvPr>
          <p:cNvGraphicFramePr>
            <a:graphicFrameLocks noChangeAspect="1"/>
          </p:cNvGraphicFramePr>
          <p:nvPr>
            <p:extLst>
              <p:ext uri="{D42A27DB-BD31-4B8C-83A1-F6EECF244321}">
                <p14:modId xmlns:p14="http://schemas.microsoft.com/office/powerpoint/2010/main" val="3311080026"/>
              </p:ext>
            </p:extLst>
          </p:nvPr>
        </p:nvGraphicFramePr>
        <p:xfrm>
          <a:off x="868867" y="3126498"/>
          <a:ext cx="980363" cy="452732"/>
        </p:xfrm>
        <a:graphic>
          <a:graphicData uri="http://schemas.openxmlformats.org/presentationml/2006/ole">
            <mc:AlternateContent xmlns:mc="http://schemas.openxmlformats.org/markup-compatibility/2006">
              <mc:Choice xmlns:v="urn:schemas-microsoft-com:vml" Requires="v">
                <p:oleObj spid="_x0000_s16937" name="Equation" r:id="rId6" imgW="935710" imgH="431295" progId="Equation.DSMT4">
                  <p:embed/>
                </p:oleObj>
              </mc:Choice>
              <mc:Fallback>
                <p:oleObj name="Equation" r:id="rId6" imgW="935710" imgH="431295" progId="Equation.DSMT4">
                  <p:embed/>
                  <p:pic>
                    <p:nvPicPr>
                      <p:cNvPr id="0" name=""/>
                      <p:cNvPicPr/>
                      <p:nvPr/>
                    </p:nvPicPr>
                    <p:blipFill>
                      <a:blip r:embed="rId7"/>
                      <a:stretch>
                        <a:fillRect/>
                      </a:stretch>
                    </p:blipFill>
                    <p:spPr>
                      <a:xfrm>
                        <a:off x="868867" y="3126498"/>
                        <a:ext cx="980363" cy="452732"/>
                      </a:xfrm>
                      <a:prstGeom prst="rect">
                        <a:avLst/>
                      </a:prstGeom>
                    </p:spPr>
                  </p:pic>
                </p:oleObj>
              </mc:Fallback>
            </mc:AlternateContent>
          </a:graphicData>
        </a:graphic>
      </p:graphicFrame>
      <p:graphicFrame>
        <p:nvGraphicFramePr>
          <p:cNvPr id="11" name="对象 10">
            <a:extLst>
              <a:ext uri="{FF2B5EF4-FFF2-40B4-BE49-F238E27FC236}">
                <a16:creationId xmlns:a16="http://schemas.microsoft.com/office/drawing/2014/main" xmlns="" id="{4CA3B78C-3FA4-94EE-7D39-1BC122CC8423}"/>
              </a:ext>
            </a:extLst>
          </p:cNvPr>
          <p:cNvGraphicFramePr>
            <a:graphicFrameLocks noChangeAspect="1"/>
          </p:cNvGraphicFramePr>
          <p:nvPr>
            <p:extLst>
              <p:ext uri="{D42A27DB-BD31-4B8C-83A1-F6EECF244321}">
                <p14:modId xmlns:p14="http://schemas.microsoft.com/office/powerpoint/2010/main" val="1596026566"/>
              </p:ext>
            </p:extLst>
          </p:nvPr>
        </p:nvGraphicFramePr>
        <p:xfrm>
          <a:off x="3187278" y="3061074"/>
          <a:ext cx="1268731" cy="473638"/>
        </p:xfrm>
        <a:graphic>
          <a:graphicData uri="http://schemas.openxmlformats.org/presentationml/2006/ole">
            <mc:AlternateContent xmlns:mc="http://schemas.openxmlformats.org/markup-compatibility/2006">
              <mc:Choice xmlns:v="urn:schemas-microsoft-com:vml" Requires="v">
                <p:oleObj spid="_x0000_s16938" name="Equation" r:id="rId8" imgW="1297177" imgH="484937" progId="Equation.DSMT4">
                  <p:embed/>
                </p:oleObj>
              </mc:Choice>
              <mc:Fallback>
                <p:oleObj name="Equation" r:id="rId8" imgW="1297177" imgH="484937" progId="Equation.DSMT4">
                  <p:embed/>
                  <p:pic>
                    <p:nvPicPr>
                      <p:cNvPr id="0" name=""/>
                      <p:cNvPicPr/>
                      <p:nvPr/>
                    </p:nvPicPr>
                    <p:blipFill>
                      <a:blip r:embed="rId9"/>
                      <a:stretch>
                        <a:fillRect/>
                      </a:stretch>
                    </p:blipFill>
                    <p:spPr>
                      <a:xfrm>
                        <a:off x="3187278" y="3061074"/>
                        <a:ext cx="1268731" cy="473638"/>
                      </a:xfrm>
                      <a:prstGeom prst="rect">
                        <a:avLst/>
                      </a:prstGeom>
                    </p:spPr>
                  </p:pic>
                </p:oleObj>
              </mc:Fallback>
            </mc:AlternateContent>
          </a:graphicData>
        </a:graphic>
      </p:graphicFrame>
      <p:sp>
        <p:nvSpPr>
          <p:cNvPr id="12" name="文本框 11">
            <a:extLst>
              <a:ext uri="{FF2B5EF4-FFF2-40B4-BE49-F238E27FC236}">
                <a16:creationId xmlns:a16="http://schemas.microsoft.com/office/drawing/2014/main" xmlns="" id="{76C43D67-E21C-A0FE-6EA6-3FAA2842E592}"/>
              </a:ext>
            </a:extLst>
          </p:cNvPr>
          <p:cNvSpPr txBox="1"/>
          <p:nvPr/>
        </p:nvSpPr>
        <p:spPr>
          <a:xfrm>
            <a:off x="4486791" y="3064983"/>
            <a:ext cx="2361846" cy="400110"/>
          </a:xfrm>
          <a:prstGeom prst="rect">
            <a:avLst/>
          </a:prstGeom>
          <a:noFill/>
        </p:spPr>
        <p:txBody>
          <a:bodyPr wrap="square" rtlCol="0">
            <a:spAutoFit/>
          </a:bodyPr>
          <a:lstStyle/>
          <a:p>
            <a:pPr rtl="1">
              <a:lnSpc>
                <a:spcPct val="100000"/>
              </a:lnSpc>
              <a:spcBef>
                <a:spcPct val="50000"/>
              </a:spcBef>
            </a:pPr>
            <a:r>
              <a:rPr lang="zh-CN" altLang="en-US" sz="2000" dirty="0">
                <a:latin typeface="+mn-ea"/>
                <a:ea typeface="+mn-ea"/>
              </a:rPr>
              <a:t>而回路电阻为</a:t>
            </a:r>
            <a:endParaRPr lang="zh-CN" altLang="en-US" sz="2000" dirty="0">
              <a:ln w="0"/>
              <a:effectLst>
                <a:glow rad="63500">
                  <a:schemeClr val="accent3">
                    <a:satMod val="175000"/>
                    <a:alpha val="40000"/>
                  </a:schemeClr>
                </a:glow>
              </a:effectLst>
              <a:latin typeface="+mn-ea"/>
              <a:ea typeface="+mn-ea"/>
              <a:cs typeface="Times New Roman" panose="02020603050405020304" pitchFamily="18" charset="0"/>
            </a:endParaRPr>
          </a:p>
        </p:txBody>
      </p:sp>
      <p:graphicFrame>
        <p:nvGraphicFramePr>
          <p:cNvPr id="13" name="对象 12">
            <a:extLst>
              <a:ext uri="{FF2B5EF4-FFF2-40B4-BE49-F238E27FC236}">
                <a16:creationId xmlns:a16="http://schemas.microsoft.com/office/drawing/2014/main" xmlns="" id="{5AE18B63-19A9-727A-3444-60D02943D654}"/>
              </a:ext>
            </a:extLst>
          </p:cNvPr>
          <p:cNvGraphicFramePr>
            <a:graphicFrameLocks noChangeAspect="1"/>
          </p:cNvGraphicFramePr>
          <p:nvPr>
            <p:extLst>
              <p:ext uri="{D42A27DB-BD31-4B8C-83A1-F6EECF244321}">
                <p14:modId xmlns:p14="http://schemas.microsoft.com/office/powerpoint/2010/main" val="2922051396"/>
              </p:ext>
            </p:extLst>
          </p:nvPr>
        </p:nvGraphicFramePr>
        <p:xfrm>
          <a:off x="6182525" y="3106192"/>
          <a:ext cx="395065" cy="473038"/>
        </p:xfrm>
        <a:graphic>
          <a:graphicData uri="http://schemas.openxmlformats.org/presentationml/2006/ole">
            <mc:AlternateContent xmlns:mc="http://schemas.openxmlformats.org/markup-compatibility/2006">
              <mc:Choice xmlns:v="urn:schemas-microsoft-com:vml" Requires="v">
                <p:oleObj spid="_x0000_s16939" name="Equation" r:id="rId10" imgW="361467" imgH="433096" progId="Equation.DSMT4">
                  <p:embed/>
                </p:oleObj>
              </mc:Choice>
              <mc:Fallback>
                <p:oleObj name="Equation" r:id="rId10" imgW="361467" imgH="433096" progId="Equation.DSMT4">
                  <p:embed/>
                  <p:pic>
                    <p:nvPicPr>
                      <p:cNvPr id="0" name=""/>
                      <p:cNvPicPr/>
                      <p:nvPr/>
                    </p:nvPicPr>
                    <p:blipFill>
                      <a:blip r:embed="rId11"/>
                      <a:stretch>
                        <a:fillRect/>
                      </a:stretch>
                    </p:blipFill>
                    <p:spPr>
                      <a:xfrm>
                        <a:off x="6182525" y="3106192"/>
                        <a:ext cx="395065" cy="473038"/>
                      </a:xfrm>
                      <a:prstGeom prst="rect">
                        <a:avLst/>
                      </a:prstGeom>
                    </p:spPr>
                  </p:pic>
                </p:oleObj>
              </mc:Fallback>
            </mc:AlternateContent>
          </a:graphicData>
        </a:graphic>
      </p:graphicFrame>
      <p:sp>
        <p:nvSpPr>
          <p:cNvPr id="14" name="文本框 13">
            <a:extLst>
              <a:ext uri="{FF2B5EF4-FFF2-40B4-BE49-F238E27FC236}">
                <a16:creationId xmlns:a16="http://schemas.microsoft.com/office/drawing/2014/main" xmlns="" id="{364EFAFF-92A1-9E73-A8F2-BD23241B5302}"/>
              </a:ext>
            </a:extLst>
          </p:cNvPr>
          <p:cNvSpPr txBox="1"/>
          <p:nvPr/>
        </p:nvSpPr>
        <p:spPr>
          <a:xfrm>
            <a:off x="6581517" y="3087151"/>
            <a:ext cx="430859" cy="400110"/>
          </a:xfrm>
          <a:prstGeom prst="rect">
            <a:avLst/>
          </a:prstGeom>
          <a:noFill/>
        </p:spPr>
        <p:txBody>
          <a:bodyPr wrap="square" rtlCol="0">
            <a:spAutoFit/>
          </a:bodyPr>
          <a:lstStyle/>
          <a:p>
            <a:pPr rtl="1">
              <a:lnSpc>
                <a:spcPct val="100000"/>
              </a:lnSpc>
              <a:spcBef>
                <a:spcPct val="50000"/>
              </a:spcBef>
            </a:pPr>
            <a:r>
              <a:rPr lang="zh-CN" altLang="en-US" sz="2000" dirty="0">
                <a:ln w="0"/>
                <a:effectLst>
                  <a:glow rad="63500">
                    <a:schemeClr val="accent3">
                      <a:satMod val="175000"/>
                      <a:alpha val="40000"/>
                    </a:schemeClr>
                  </a:glow>
                </a:effectLst>
                <a:latin typeface="+mn-ea"/>
                <a:ea typeface="+mn-ea"/>
                <a:cs typeface="Times New Roman" panose="02020603050405020304" pitchFamily="18" charset="0"/>
              </a:rPr>
              <a:t>和</a:t>
            </a:r>
          </a:p>
        </p:txBody>
      </p:sp>
      <p:graphicFrame>
        <p:nvGraphicFramePr>
          <p:cNvPr id="15" name="对象 14">
            <a:extLst>
              <a:ext uri="{FF2B5EF4-FFF2-40B4-BE49-F238E27FC236}">
                <a16:creationId xmlns:a16="http://schemas.microsoft.com/office/drawing/2014/main" xmlns="" id="{DE004B57-E633-1266-65CA-29732873B913}"/>
              </a:ext>
            </a:extLst>
          </p:cNvPr>
          <p:cNvGraphicFramePr>
            <a:graphicFrameLocks noChangeAspect="1"/>
          </p:cNvGraphicFramePr>
          <p:nvPr>
            <p:extLst>
              <p:ext uri="{D42A27DB-BD31-4B8C-83A1-F6EECF244321}">
                <p14:modId xmlns:p14="http://schemas.microsoft.com/office/powerpoint/2010/main" val="2979577440"/>
              </p:ext>
            </p:extLst>
          </p:nvPr>
        </p:nvGraphicFramePr>
        <p:xfrm>
          <a:off x="7073939" y="3114628"/>
          <a:ext cx="366277" cy="400110"/>
        </p:xfrm>
        <a:graphic>
          <a:graphicData uri="http://schemas.openxmlformats.org/presentationml/2006/ole">
            <mc:AlternateContent xmlns:mc="http://schemas.openxmlformats.org/markup-compatibility/2006">
              <mc:Choice xmlns:v="urn:schemas-microsoft-com:vml" Requires="v">
                <p:oleObj spid="_x0000_s16940" name="Equation" r:id="rId12" imgW="394949" imgH="431295" progId="Equation.DSMT4">
                  <p:embed/>
                </p:oleObj>
              </mc:Choice>
              <mc:Fallback>
                <p:oleObj name="Equation" r:id="rId12" imgW="394949" imgH="431295" progId="Equation.DSMT4">
                  <p:embed/>
                  <p:pic>
                    <p:nvPicPr>
                      <p:cNvPr id="0" name=""/>
                      <p:cNvPicPr/>
                      <p:nvPr/>
                    </p:nvPicPr>
                    <p:blipFill>
                      <a:blip r:embed="rId13"/>
                      <a:stretch>
                        <a:fillRect/>
                      </a:stretch>
                    </p:blipFill>
                    <p:spPr>
                      <a:xfrm>
                        <a:off x="7073939" y="3114628"/>
                        <a:ext cx="366277" cy="400110"/>
                      </a:xfrm>
                      <a:prstGeom prst="rect">
                        <a:avLst/>
                      </a:prstGeom>
                    </p:spPr>
                  </p:pic>
                </p:oleObj>
              </mc:Fallback>
            </mc:AlternateContent>
          </a:graphicData>
        </a:graphic>
      </p:graphicFrame>
      <p:sp>
        <p:nvSpPr>
          <p:cNvPr id="16" name="文本框 15">
            <a:extLst>
              <a:ext uri="{FF2B5EF4-FFF2-40B4-BE49-F238E27FC236}">
                <a16:creationId xmlns:a16="http://schemas.microsoft.com/office/drawing/2014/main" xmlns="" id="{80668318-A3B2-0EC2-5EB5-9365005B2633}"/>
              </a:ext>
            </a:extLst>
          </p:cNvPr>
          <p:cNvSpPr txBox="1"/>
          <p:nvPr/>
        </p:nvSpPr>
        <p:spPr>
          <a:xfrm>
            <a:off x="7426569" y="3097838"/>
            <a:ext cx="867530" cy="400110"/>
          </a:xfrm>
          <a:prstGeom prst="rect">
            <a:avLst/>
          </a:prstGeom>
          <a:noFill/>
        </p:spPr>
        <p:txBody>
          <a:bodyPr wrap="square" rtlCol="0">
            <a:spAutoFit/>
          </a:bodyPr>
          <a:lstStyle/>
          <a:p>
            <a:pPr rtl="1">
              <a:lnSpc>
                <a:spcPct val="100000"/>
              </a:lnSpc>
              <a:spcBef>
                <a:spcPct val="50000"/>
              </a:spcBef>
            </a:pPr>
            <a:r>
              <a:rPr lang="zh-CN" altLang="en-US" sz="2000" dirty="0">
                <a:ln w="0"/>
                <a:effectLst>
                  <a:glow rad="63500">
                    <a:schemeClr val="accent3">
                      <a:satMod val="175000"/>
                      <a:alpha val="40000"/>
                    </a:schemeClr>
                  </a:glow>
                </a:effectLst>
                <a:latin typeface="+mn-ea"/>
                <a:ea typeface="+mn-ea"/>
                <a:cs typeface="Times New Roman" panose="02020603050405020304" pitchFamily="18" charset="0"/>
              </a:rPr>
              <a:t>并联</a:t>
            </a:r>
          </a:p>
        </p:txBody>
      </p:sp>
      <p:graphicFrame>
        <p:nvGraphicFramePr>
          <p:cNvPr id="17" name="对象 16">
            <a:extLst>
              <a:ext uri="{FF2B5EF4-FFF2-40B4-BE49-F238E27FC236}">
                <a16:creationId xmlns:a16="http://schemas.microsoft.com/office/drawing/2014/main" xmlns="" id="{83C8C5DC-2EAD-B5F0-A4D1-7708A6C3E85D}"/>
              </a:ext>
            </a:extLst>
          </p:cNvPr>
          <p:cNvGraphicFramePr>
            <a:graphicFrameLocks noChangeAspect="1"/>
          </p:cNvGraphicFramePr>
          <p:nvPr>
            <p:extLst>
              <p:ext uri="{D42A27DB-BD31-4B8C-83A1-F6EECF244321}">
                <p14:modId xmlns:p14="http://schemas.microsoft.com/office/powerpoint/2010/main" val="3474380349"/>
              </p:ext>
            </p:extLst>
          </p:nvPr>
        </p:nvGraphicFramePr>
        <p:xfrm>
          <a:off x="2521695" y="3611717"/>
          <a:ext cx="2531604" cy="464681"/>
        </p:xfrm>
        <a:graphic>
          <a:graphicData uri="http://schemas.openxmlformats.org/presentationml/2006/ole">
            <mc:AlternateContent xmlns:mc="http://schemas.openxmlformats.org/markup-compatibility/2006">
              <mc:Choice xmlns:v="urn:schemas-microsoft-com:vml" Requires="v">
                <p:oleObj spid="_x0000_s16941" name="Equation" r:id="rId14" imgW="2664199" imgH="489258" progId="Equation.DSMT4">
                  <p:embed/>
                </p:oleObj>
              </mc:Choice>
              <mc:Fallback>
                <p:oleObj name="Equation" r:id="rId14" imgW="2664199" imgH="489258" progId="Equation.DSMT4">
                  <p:embed/>
                  <p:pic>
                    <p:nvPicPr>
                      <p:cNvPr id="0" name=""/>
                      <p:cNvPicPr/>
                      <p:nvPr/>
                    </p:nvPicPr>
                    <p:blipFill>
                      <a:blip r:embed="rId15"/>
                      <a:stretch>
                        <a:fillRect/>
                      </a:stretch>
                    </p:blipFill>
                    <p:spPr>
                      <a:xfrm>
                        <a:off x="2521695" y="3611717"/>
                        <a:ext cx="2531604" cy="464681"/>
                      </a:xfrm>
                      <a:prstGeom prst="rect">
                        <a:avLst/>
                      </a:prstGeom>
                    </p:spPr>
                  </p:pic>
                </p:oleObj>
              </mc:Fallback>
            </mc:AlternateContent>
          </a:graphicData>
        </a:graphic>
      </p:graphicFrame>
      <p:sp>
        <p:nvSpPr>
          <p:cNvPr id="18" name="文本框 17">
            <a:extLst>
              <a:ext uri="{FF2B5EF4-FFF2-40B4-BE49-F238E27FC236}">
                <a16:creationId xmlns:a16="http://schemas.microsoft.com/office/drawing/2014/main" xmlns="" id="{B0E078D2-6C7A-24F4-5FE5-C870EB488FDE}"/>
              </a:ext>
            </a:extLst>
          </p:cNvPr>
          <p:cNvSpPr txBox="1"/>
          <p:nvPr/>
        </p:nvSpPr>
        <p:spPr>
          <a:xfrm>
            <a:off x="361931" y="3593029"/>
            <a:ext cx="3517553" cy="400110"/>
          </a:xfrm>
          <a:prstGeom prst="rect">
            <a:avLst/>
          </a:prstGeom>
          <a:noFill/>
        </p:spPr>
        <p:txBody>
          <a:bodyPr wrap="square" rtlCol="0">
            <a:spAutoFit/>
          </a:bodyPr>
          <a:lstStyle/>
          <a:p>
            <a:pPr rtl="1">
              <a:lnSpc>
                <a:spcPct val="100000"/>
              </a:lnSpc>
              <a:spcBef>
                <a:spcPct val="50000"/>
              </a:spcBef>
            </a:pPr>
            <a:r>
              <a:rPr lang="zh-CN" altLang="en-US" sz="2000" dirty="0">
                <a:latin typeface="+mn-ea"/>
                <a:ea typeface="+mn-ea"/>
              </a:rPr>
              <a:t>并联回路的导纳为</a:t>
            </a:r>
          </a:p>
        </p:txBody>
      </p:sp>
      <p:graphicFrame>
        <p:nvGraphicFramePr>
          <p:cNvPr id="19" name="对象 651283">
            <a:extLst>
              <a:ext uri="{FF2B5EF4-FFF2-40B4-BE49-F238E27FC236}">
                <a16:creationId xmlns:a16="http://schemas.microsoft.com/office/drawing/2014/main" xmlns="" id="{5E9500DF-D882-CE09-2077-DED41FA0520A}"/>
              </a:ext>
            </a:extLst>
          </p:cNvPr>
          <p:cNvGraphicFramePr/>
          <p:nvPr>
            <p:extLst>
              <p:ext uri="{D42A27DB-BD31-4B8C-83A1-F6EECF244321}">
                <p14:modId xmlns:p14="http://schemas.microsoft.com/office/powerpoint/2010/main" val="2681097054"/>
              </p:ext>
            </p:extLst>
          </p:nvPr>
        </p:nvGraphicFramePr>
        <p:xfrm>
          <a:off x="1028700" y="4133028"/>
          <a:ext cx="4302655" cy="647517"/>
        </p:xfrm>
        <a:graphic>
          <a:graphicData uri="http://schemas.openxmlformats.org/presentationml/2006/ole">
            <mc:AlternateContent xmlns:mc="http://schemas.openxmlformats.org/markup-compatibility/2006">
              <mc:Choice xmlns:v="urn:schemas-microsoft-com:vml" Requires="v">
                <p:oleObj spid="_x0000_s16942" r:id="rId16" imgW="2476500" imgH="431800" progId="Equation.3">
                  <p:embed/>
                </p:oleObj>
              </mc:Choice>
              <mc:Fallback>
                <p:oleObj r:id="rId16" imgW="2476500" imgH="431800" progId="Equation.3">
                  <p:embed/>
                  <p:pic>
                    <p:nvPicPr>
                      <p:cNvPr id="0" name=""/>
                      <p:cNvPicPr/>
                      <p:nvPr/>
                    </p:nvPicPr>
                    <p:blipFill>
                      <a:blip r:embed="rId17"/>
                      <a:stretch>
                        <a:fillRect/>
                      </a:stretch>
                    </p:blipFill>
                    <p:spPr>
                      <a:xfrm>
                        <a:off x="1028700" y="4133028"/>
                        <a:ext cx="4302655" cy="647517"/>
                      </a:xfrm>
                      <a:prstGeom prst="rect">
                        <a:avLst/>
                      </a:prstGeom>
                      <a:noFill/>
                      <a:ln w="38100">
                        <a:noFill/>
                        <a:miter/>
                      </a:ln>
                    </p:spPr>
                  </p:pic>
                </p:oleObj>
              </mc:Fallback>
            </mc:AlternateContent>
          </a:graphicData>
        </a:graphic>
      </p:graphicFrame>
      <p:graphicFrame>
        <p:nvGraphicFramePr>
          <p:cNvPr id="20" name="对象 651285">
            <a:extLst>
              <a:ext uri="{FF2B5EF4-FFF2-40B4-BE49-F238E27FC236}">
                <a16:creationId xmlns:a16="http://schemas.microsoft.com/office/drawing/2014/main" xmlns="" id="{AEA85036-A08A-9266-103B-7FF3C4F2C183}"/>
              </a:ext>
            </a:extLst>
          </p:cNvPr>
          <p:cNvGraphicFramePr/>
          <p:nvPr>
            <p:extLst>
              <p:ext uri="{D42A27DB-BD31-4B8C-83A1-F6EECF244321}">
                <p14:modId xmlns:p14="http://schemas.microsoft.com/office/powerpoint/2010/main" val="663520381"/>
              </p:ext>
            </p:extLst>
          </p:nvPr>
        </p:nvGraphicFramePr>
        <p:xfrm>
          <a:off x="5431221" y="4128420"/>
          <a:ext cx="2408385" cy="721975"/>
        </p:xfrm>
        <a:graphic>
          <a:graphicData uri="http://schemas.openxmlformats.org/presentationml/2006/ole">
            <mc:AlternateContent xmlns:mc="http://schemas.openxmlformats.org/markup-compatibility/2006">
              <mc:Choice xmlns:v="urn:schemas-microsoft-com:vml" Requires="v">
                <p:oleObj spid="_x0000_s16943" r:id="rId18" imgW="1459865" imgH="508000" progId="Equation.3">
                  <p:embed/>
                </p:oleObj>
              </mc:Choice>
              <mc:Fallback>
                <p:oleObj r:id="rId18" imgW="1459865" imgH="508000" progId="Equation.3">
                  <p:embed/>
                  <p:pic>
                    <p:nvPicPr>
                      <p:cNvPr id="0" name=""/>
                      <p:cNvPicPr/>
                      <p:nvPr/>
                    </p:nvPicPr>
                    <p:blipFill>
                      <a:blip r:embed="rId19"/>
                      <a:stretch>
                        <a:fillRect/>
                      </a:stretch>
                    </p:blipFill>
                    <p:spPr>
                      <a:xfrm>
                        <a:off x="5431221" y="4128420"/>
                        <a:ext cx="2408385" cy="721975"/>
                      </a:xfrm>
                      <a:prstGeom prst="rect">
                        <a:avLst/>
                      </a:prstGeom>
                      <a:noFill/>
                      <a:ln w="38100">
                        <a:noFill/>
                        <a:miter/>
                      </a:ln>
                    </p:spPr>
                  </p:pic>
                </p:oleObj>
              </mc:Fallback>
            </mc:AlternateContent>
          </a:graphicData>
        </a:graphic>
      </p:graphicFrame>
      <p:graphicFrame>
        <p:nvGraphicFramePr>
          <p:cNvPr id="21" name="对象 651287">
            <a:extLst>
              <a:ext uri="{FF2B5EF4-FFF2-40B4-BE49-F238E27FC236}">
                <a16:creationId xmlns:a16="http://schemas.microsoft.com/office/drawing/2014/main" xmlns="" id="{B4B1BFBE-2637-955A-C1D8-DC09E839E72B}"/>
              </a:ext>
            </a:extLst>
          </p:cNvPr>
          <p:cNvGraphicFramePr/>
          <p:nvPr>
            <p:extLst>
              <p:ext uri="{D42A27DB-BD31-4B8C-83A1-F6EECF244321}">
                <p14:modId xmlns:p14="http://schemas.microsoft.com/office/powerpoint/2010/main" val="3611584105"/>
              </p:ext>
            </p:extLst>
          </p:nvPr>
        </p:nvGraphicFramePr>
        <p:xfrm>
          <a:off x="1234758" y="4877851"/>
          <a:ext cx="3122945" cy="690064"/>
        </p:xfrm>
        <a:graphic>
          <a:graphicData uri="http://schemas.openxmlformats.org/presentationml/2006/ole">
            <mc:AlternateContent xmlns:mc="http://schemas.openxmlformats.org/markup-compatibility/2006">
              <mc:Choice xmlns:v="urn:schemas-microsoft-com:vml" Requires="v">
                <p:oleObj spid="_x0000_s16944" r:id="rId20" imgW="1688465" imgH="431800" progId="Equation.3">
                  <p:embed/>
                </p:oleObj>
              </mc:Choice>
              <mc:Fallback>
                <p:oleObj r:id="rId20" imgW="1688465" imgH="431800" progId="Equation.3">
                  <p:embed/>
                  <p:pic>
                    <p:nvPicPr>
                      <p:cNvPr id="0" name=""/>
                      <p:cNvPicPr/>
                      <p:nvPr/>
                    </p:nvPicPr>
                    <p:blipFill>
                      <a:blip r:embed="rId21"/>
                      <a:stretch>
                        <a:fillRect/>
                      </a:stretch>
                    </p:blipFill>
                    <p:spPr>
                      <a:xfrm>
                        <a:off x="1234758" y="4877851"/>
                        <a:ext cx="3122945" cy="690064"/>
                      </a:xfrm>
                      <a:prstGeom prst="rect">
                        <a:avLst/>
                      </a:prstGeom>
                      <a:noFill/>
                      <a:ln w="38100">
                        <a:noFill/>
                        <a:miter/>
                      </a:ln>
                    </p:spPr>
                  </p:pic>
                </p:oleObj>
              </mc:Fallback>
            </mc:AlternateContent>
          </a:graphicData>
        </a:graphic>
      </p:graphicFrame>
      <p:graphicFrame>
        <p:nvGraphicFramePr>
          <p:cNvPr id="22" name="对象 651290">
            <a:extLst>
              <a:ext uri="{FF2B5EF4-FFF2-40B4-BE49-F238E27FC236}">
                <a16:creationId xmlns:a16="http://schemas.microsoft.com/office/drawing/2014/main" xmlns="" id="{24B54175-F4E1-1EC0-0C99-D089EB3A2962}"/>
              </a:ext>
            </a:extLst>
          </p:cNvPr>
          <p:cNvGraphicFramePr/>
          <p:nvPr>
            <p:extLst>
              <p:ext uri="{D42A27DB-BD31-4B8C-83A1-F6EECF244321}">
                <p14:modId xmlns:p14="http://schemas.microsoft.com/office/powerpoint/2010/main" val="3333809089"/>
              </p:ext>
            </p:extLst>
          </p:nvPr>
        </p:nvGraphicFramePr>
        <p:xfrm>
          <a:off x="4746909" y="4857383"/>
          <a:ext cx="1841609" cy="723305"/>
        </p:xfrm>
        <a:graphic>
          <a:graphicData uri="http://schemas.openxmlformats.org/presentationml/2006/ole">
            <mc:AlternateContent xmlns:mc="http://schemas.openxmlformats.org/markup-compatibility/2006">
              <mc:Choice xmlns:v="urn:schemas-microsoft-com:vml" Requires="v">
                <p:oleObj spid="_x0000_s16945" r:id="rId22" imgW="1016000" imgH="419100" progId="Equation.3">
                  <p:embed/>
                </p:oleObj>
              </mc:Choice>
              <mc:Fallback>
                <p:oleObj r:id="rId22" imgW="1016000" imgH="419100" progId="Equation.3">
                  <p:embed/>
                  <p:pic>
                    <p:nvPicPr>
                      <p:cNvPr id="0" name=""/>
                      <p:cNvPicPr/>
                      <p:nvPr/>
                    </p:nvPicPr>
                    <p:blipFill>
                      <a:blip r:embed="rId23"/>
                      <a:stretch>
                        <a:fillRect/>
                      </a:stretch>
                    </p:blipFill>
                    <p:spPr>
                      <a:xfrm>
                        <a:off x="4746909" y="4857383"/>
                        <a:ext cx="1841609" cy="723305"/>
                      </a:xfrm>
                      <a:prstGeom prst="rect">
                        <a:avLst/>
                      </a:prstGeom>
                      <a:noFill/>
                      <a:ln w="38100">
                        <a:noFill/>
                        <a:miter/>
                      </a:ln>
                    </p:spPr>
                  </p:pic>
                </p:oleObj>
              </mc:Fallback>
            </mc:AlternateContent>
          </a:graphicData>
        </a:graphic>
      </p:graphicFrame>
      <p:sp>
        <p:nvSpPr>
          <p:cNvPr id="23" name="矩形 651295">
            <a:extLst>
              <a:ext uri="{FF2B5EF4-FFF2-40B4-BE49-F238E27FC236}">
                <a16:creationId xmlns:a16="http://schemas.microsoft.com/office/drawing/2014/main" xmlns="" id="{57109A89-B1BE-4B13-C1D6-6B6A99B4757D}"/>
              </a:ext>
            </a:extLst>
          </p:cNvPr>
          <p:cNvSpPr/>
          <p:nvPr/>
        </p:nvSpPr>
        <p:spPr>
          <a:xfrm>
            <a:off x="1053573" y="4128678"/>
            <a:ext cx="6870171" cy="723305"/>
          </a:xfrm>
          <a:prstGeom prst="rect">
            <a:avLst/>
          </a:prstGeom>
          <a:noFill/>
          <a:ln w="19050" cap="flat" cmpd="sng">
            <a:solidFill>
              <a:srgbClr val="00FFFF"/>
            </a:solidFill>
            <a:prstDash val="lgDash"/>
            <a:miter/>
            <a:headEnd type="none" w="med" len="med"/>
            <a:tailEnd type="none" w="med" len="med"/>
          </a:ln>
        </p:spPr>
        <p:txBody>
          <a:bodyPr/>
          <a:lstStyle/>
          <a:p>
            <a:endParaRPr lang="zh-CN" altLang="en-US" dirty="0">
              <a:latin typeface="楷体_GB2312" panose="02010609030101010101" pitchFamily="49" charset="-122"/>
            </a:endParaRPr>
          </a:p>
        </p:txBody>
      </p:sp>
      <p:sp>
        <p:nvSpPr>
          <p:cNvPr id="24" name="下弧形箭头 651281">
            <a:extLst>
              <a:ext uri="{FF2B5EF4-FFF2-40B4-BE49-F238E27FC236}">
                <a16:creationId xmlns:a16="http://schemas.microsoft.com/office/drawing/2014/main" xmlns="" id="{C4607C54-5662-2422-5F26-41152AD07815}"/>
              </a:ext>
            </a:extLst>
          </p:cNvPr>
          <p:cNvSpPr/>
          <p:nvPr/>
        </p:nvSpPr>
        <p:spPr>
          <a:xfrm>
            <a:off x="3403364" y="2871251"/>
            <a:ext cx="1079500" cy="215900"/>
          </a:xfrm>
          <a:prstGeom prst="curvedUpArrow">
            <a:avLst>
              <a:gd name="adj1" fmla="val 100000"/>
              <a:gd name="adj2" fmla="val 200000"/>
              <a:gd name="adj3" fmla="val 33328"/>
            </a:avLst>
          </a:prstGeom>
          <a:gradFill rotWithShape="0">
            <a:gsLst>
              <a:gs pos="0">
                <a:schemeClr val="accent1"/>
              </a:gs>
              <a:gs pos="100000">
                <a:schemeClr val="bg1"/>
              </a:gs>
            </a:gsLst>
            <a:lin ang="0" scaled="1"/>
            <a:tileRect/>
          </a:gradFill>
          <a:ln w="9525" cap="flat" cmpd="sng">
            <a:solidFill>
              <a:schemeClr val="tx1"/>
            </a:solidFill>
            <a:prstDash val="solid"/>
            <a:miter/>
            <a:headEnd type="none" w="sm" len="sm"/>
            <a:tailEnd type="none" w="sm" len="sm"/>
          </a:ln>
        </p:spPr>
        <p:txBody>
          <a:bodyPr/>
          <a:lstStyle/>
          <a:p>
            <a:endParaRPr lang="zh-CN" altLang="en-US" dirty="0">
              <a:latin typeface="楷体_GB2312" panose="02010609030101010101" pitchFamily="49" charset="-122"/>
            </a:endParaRPr>
          </a:p>
        </p:txBody>
      </p:sp>
    </p:spTree>
    <p:extLst>
      <p:ext uri="{BB962C8B-B14F-4D97-AF65-F5344CB8AC3E}">
        <p14:creationId xmlns:p14="http://schemas.microsoft.com/office/powerpoint/2010/main" val="249278909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36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2.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高频</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基础</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电路</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文本框 4">
            <a:extLst>
              <a:ext uri="{FF2B5EF4-FFF2-40B4-BE49-F238E27FC236}">
                <a16:creationId xmlns:a16="http://schemas.microsoft.com/office/drawing/2014/main" xmlns="" id="{96566BE8-6BA9-C40D-21DC-34350CC68FA4}"/>
              </a:ext>
            </a:extLst>
          </p:cNvPr>
          <p:cNvSpPr txBox="1"/>
          <p:nvPr/>
        </p:nvSpPr>
        <p:spPr>
          <a:xfrm>
            <a:off x="361931" y="1268760"/>
            <a:ext cx="8420137" cy="400110"/>
          </a:xfrm>
          <a:prstGeom prst="rect">
            <a:avLst/>
          </a:prstGeom>
          <a:noFill/>
        </p:spPr>
        <p:txBody>
          <a:bodyPr wrap="square" rtlCol="0">
            <a:spAutoFit/>
          </a:bodyPr>
          <a:lstStyle/>
          <a:p>
            <a:pPr rtl="1">
              <a:lnSpc>
                <a:spcPct val="100000"/>
              </a:lnSpc>
              <a:spcBef>
                <a:spcPct val="50000"/>
              </a:spcBef>
            </a:pPr>
            <a:r>
              <a:rPr lang="zh-CN" altLang="en-US" sz="2000" b="1" baseline="0" dirty="0">
                <a:solidFill>
                  <a:srgbClr val="FF0000"/>
                </a:solidFill>
                <a:latin typeface="Times New Roman" panose="02020603050405020304" pitchFamily="18" charset="0"/>
                <a:ea typeface="宋体" panose="02010600030101010101" pitchFamily="2" charset="-122"/>
              </a:rPr>
              <a:t>有载品质因数</a:t>
            </a:r>
            <a:endParaRPr lang="zh-CN" altLang="en-US" sz="2000" b="1" dirty="0">
              <a:ln w="0"/>
              <a:solidFill>
                <a:srgbClr val="FF0000"/>
              </a:solidFill>
              <a:effectLst>
                <a:glow rad="63500">
                  <a:schemeClr val="accent3">
                    <a:satMod val="175000"/>
                    <a:alpha val="40000"/>
                  </a:schemeClr>
                </a:glow>
              </a:effectLst>
              <a:latin typeface="+mn-ea"/>
              <a:ea typeface="+mn-ea"/>
              <a:cs typeface="Times New Roman" panose="02020603050405020304" pitchFamily="18" charset="0"/>
            </a:endParaRPr>
          </a:p>
        </p:txBody>
      </p:sp>
      <p:sp>
        <p:nvSpPr>
          <p:cNvPr id="6" name="文本框 5">
            <a:extLst>
              <a:ext uri="{FF2B5EF4-FFF2-40B4-BE49-F238E27FC236}">
                <a16:creationId xmlns:a16="http://schemas.microsoft.com/office/drawing/2014/main" xmlns="" id="{63BFE1C3-9FDC-747A-3D49-C63232B1FE92}"/>
              </a:ext>
            </a:extLst>
          </p:cNvPr>
          <p:cNvSpPr txBox="1"/>
          <p:nvPr/>
        </p:nvSpPr>
        <p:spPr>
          <a:xfrm>
            <a:off x="361931" y="2002669"/>
            <a:ext cx="8420137" cy="400110"/>
          </a:xfrm>
          <a:prstGeom prst="rect">
            <a:avLst/>
          </a:prstGeom>
          <a:noFill/>
        </p:spPr>
        <p:txBody>
          <a:bodyPr wrap="square" rtlCol="0">
            <a:spAutoFit/>
          </a:bodyPr>
          <a:lstStyle/>
          <a:p>
            <a:pPr rtl="1">
              <a:lnSpc>
                <a:spcPct val="100000"/>
              </a:lnSpc>
              <a:spcBef>
                <a:spcPct val="50000"/>
              </a:spcBef>
            </a:pPr>
            <a:r>
              <a:rPr lang="zh-CN" altLang="en-US" sz="2000" baseline="0" dirty="0">
                <a:latin typeface="Times New Roman" panose="02020603050405020304" pitchFamily="18" charset="0"/>
                <a:ea typeface="宋体" panose="02010600030101010101" pitchFamily="2" charset="-122"/>
              </a:rPr>
              <a:t>并联谐振回路的阻抗的模及相角 </a:t>
            </a:r>
          </a:p>
        </p:txBody>
      </p:sp>
      <p:graphicFrame>
        <p:nvGraphicFramePr>
          <p:cNvPr id="7" name="对象 652297">
            <a:extLst>
              <a:ext uri="{FF2B5EF4-FFF2-40B4-BE49-F238E27FC236}">
                <a16:creationId xmlns:a16="http://schemas.microsoft.com/office/drawing/2014/main" xmlns="" id="{048434DD-9BA9-F2FB-9473-75BBE34DE4C2}"/>
              </a:ext>
            </a:extLst>
          </p:cNvPr>
          <p:cNvGraphicFramePr/>
          <p:nvPr>
            <p:extLst>
              <p:ext uri="{D42A27DB-BD31-4B8C-83A1-F6EECF244321}">
                <p14:modId xmlns:p14="http://schemas.microsoft.com/office/powerpoint/2010/main" val="1783424421"/>
              </p:ext>
            </p:extLst>
          </p:nvPr>
        </p:nvGraphicFramePr>
        <p:xfrm>
          <a:off x="2720900" y="1268760"/>
          <a:ext cx="2808288" cy="766763"/>
        </p:xfrm>
        <a:graphic>
          <a:graphicData uri="http://schemas.openxmlformats.org/presentationml/2006/ole">
            <mc:AlternateContent xmlns:mc="http://schemas.openxmlformats.org/markup-compatibility/2006">
              <mc:Choice xmlns:v="urn:schemas-microsoft-com:vml" Requires="v">
                <p:oleObj spid="_x0000_s17740" r:id="rId3" imgW="1574800" imgH="431800" progId="Equation.3">
                  <p:embed/>
                </p:oleObj>
              </mc:Choice>
              <mc:Fallback>
                <p:oleObj r:id="rId3" imgW="1574800" imgH="431800" progId="Equation.3">
                  <p:embed/>
                  <p:pic>
                    <p:nvPicPr>
                      <p:cNvPr id="0" name=""/>
                      <p:cNvPicPr/>
                      <p:nvPr/>
                    </p:nvPicPr>
                    <p:blipFill>
                      <a:blip r:embed="rId4"/>
                      <a:stretch>
                        <a:fillRect/>
                      </a:stretch>
                    </p:blipFill>
                    <p:spPr>
                      <a:xfrm>
                        <a:off x="2720900" y="1268760"/>
                        <a:ext cx="2808288" cy="766763"/>
                      </a:xfrm>
                      <a:prstGeom prst="rect">
                        <a:avLst/>
                      </a:prstGeom>
                      <a:noFill/>
                      <a:ln w="38100">
                        <a:noFill/>
                        <a:miter/>
                      </a:ln>
                    </p:spPr>
                  </p:pic>
                </p:oleObj>
              </mc:Fallback>
            </mc:AlternateContent>
          </a:graphicData>
        </a:graphic>
      </p:graphicFrame>
      <p:graphicFrame>
        <p:nvGraphicFramePr>
          <p:cNvPr id="8" name="对象 652300">
            <a:extLst>
              <a:ext uri="{FF2B5EF4-FFF2-40B4-BE49-F238E27FC236}">
                <a16:creationId xmlns:a16="http://schemas.microsoft.com/office/drawing/2014/main" xmlns="" id="{431C2BC2-18D5-78AE-8A48-1C9FCB7E4C17}"/>
              </a:ext>
            </a:extLst>
          </p:cNvPr>
          <p:cNvGraphicFramePr/>
          <p:nvPr>
            <p:extLst>
              <p:ext uri="{D42A27DB-BD31-4B8C-83A1-F6EECF244321}">
                <p14:modId xmlns:p14="http://schemas.microsoft.com/office/powerpoint/2010/main" val="1236238218"/>
              </p:ext>
            </p:extLst>
          </p:nvPr>
        </p:nvGraphicFramePr>
        <p:xfrm>
          <a:off x="1065972" y="2469773"/>
          <a:ext cx="3309855" cy="988711"/>
        </p:xfrm>
        <a:graphic>
          <a:graphicData uri="http://schemas.openxmlformats.org/presentationml/2006/ole">
            <mc:AlternateContent xmlns:mc="http://schemas.openxmlformats.org/markup-compatibility/2006">
              <mc:Choice xmlns:v="urn:schemas-microsoft-com:vml" Requires="v">
                <p:oleObj spid="_x0000_s17741" r:id="rId5" imgW="2057400" imgH="736600" progId="Equation.3">
                  <p:embed/>
                </p:oleObj>
              </mc:Choice>
              <mc:Fallback>
                <p:oleObj r:id="rId5" imgW="2057400" imgH="736600" progId="Equation.3">
                  <p:embed/>
                  <p:pic>
                    <p:nvPicPr>
                      <p:cNvPr id="0" name=""/>
                      <p:cNvPicPr/>
                      <p:nvPr/>
                    </p:nvPicPr>
                    <p:blipFill>
                      <a:blip r:embed="rId6"/>
                      <a:stretch>
                        <a:fillRect/>
                      </a:stretch>
                    </p:blipFill>
                    <p:spPr>
                      <a:xfrm>
                        <a:off x="1065972" y="2469773"/>
                        <a:ext cx="3309855" cy="988711"/>
                      </a:xfrm>
                      <a:prstGeom prst="rect">
                        <a:avLst/>
                      </a:prstGeom>
                      <a:noFill/>
                      <a:ln w="38100">
                        <a:noFill/>
                        <a:miter/>
                      </a:ln>
                    </p:spPr>
                  </p:pic>
                </p:oleObj>
              </mc:Fallback>
            </mc:AlternateContent>
          </a:graphicData>
        </a:graphic>
      </p:graphicFrame>
      <p:graphicFrame>
        <p:nvGraphicFramePr>
          <p:cNvPr id="9" name="对象 652303">
            <a:extLst>
              <a:ext uri="{FF2B5EF4-FFF2-40B4-BE49-F238E27FC236}">
                <a16:creationId xmlns:a16="http://schemas.microsoft.com/office/drawing/2014/main" xmlns="" id="{7108ECF3-62B5-3B56-A5CB-DD9493AB5BE6}"/>
              </a:ext>
            </a:extLst>
          </p:cNvPr>
          <p:cNvGraphicFramePr/>
          <p:nvPr>
            <p:extLst>
              <p:ext uri="{D42A27DB-BD31-4B8C-83A1-F6EECF244321}">
                <p14:modId xmlns:p14="http://schemas.microsoft.com/office/powerpoint/2010/main" val="4238252600"/>
              </p:ext>
            </p:extLst>
          </p:nvPr>
        </p:nvGraphicFramePr>
        <p:xfrm>
          <a:off x="4948014" y="2484187"/>
          <a:ext cx="2889156" cy="672064"/>
        </p:xfrm>
        <a:graphic>
          <a:graphicData uri="http://schemas.openxmlformats.org/presentationml/2006/ole">
            <mc:AlternateContent xmlns:mc="http://schemas.openxmlformats.org/markup-compatibility/2006">
              <mc:Choice xmlns:v="urn:schemas-microsoft-com:vml" Requires="v">
                <p:oleObj spid="_x0000_s17742" r:id="rId7" imgW="1816100" imgH="482600" progId="Equation.3">
                  <p:embed/>
                </p:oleObj>
              </mc:Choice>
              <mc:Fallback>
                <p:oleObj r:id="rId7" imgW="1816100" imgH="482600" progId="Equation.3">
                  <p:embed/>
                  <p:pic>
                    <p:nvPicPr>
                      <p:cNvPr id="0" name=""/>
                      <p:cNvPicPr/>
                      <p:nvPr/>
                    </p:nvPicPr>
                    <p:blipFill>
                      <a:blip r:embed="rId8"/>
                      <a:stretch>
                        <a:fillRect/>
                      </a:stretch>
                    </p:blipFill>
                    <p:spPr>
                      <a:xfrm>
                        <a:off x="4948014" y="2484187"/>
                        <a:ext cx="2889156" cy="672064"/>
                      </a:xfrm>
                      <a:prstGeom prst="rect">
                        <a:avLst/>
                      </a:prstGeom>
                      <a:noFill/>
                      <a:ln w="38100">
                        <a:noFill/>
                        <a:miter/>
                      </a:ln>
                    </p:spPr>
                  </p:pic>
                </p:oleObj>
              </mc:Fallback>
            </mc:AlternateContent>
          </a:graphicData>
        </a:graphic>
      </p:graphicFrame>
      <p:sp>
        <p:nvSpPr>
          <p:cNvPr id="10" name="文本框 9">
            <a:extLst>
              <a:ext uri="{FF2B5EF4-FFF2-40B4-BE49-F238E27FC236}">
                <a16:creationId xmlns:a16="http://schemas.microsoft.com/office/drawing/2014/main" xmlns="" id="{95A74CFD-837A-0795-3C38-E44B34B4069A}"/>
              </a:ext>
            </a:extLst>
          </p:cNvPr>
          <p:cNvSpPr txBox="1"/>
          <p:nvPr/>
        </p:nvSpPr>
        <p:spPr>
          <a:xfrm>
            <a:off x="1561695" y="5224965"/>
            <a:ext cx="6169532" cy="1200329"/>
          </a:xfrm>
          <a:prstGeom prst="rect">
            <a:avLst/>
          </a:prstGeom>
          <a:noFill/>
        </p:spPr>
        <p:txBody>
          <a:bodyPr wrap="square" rtlCol="0">
            <a:spAutoFit/>
          </a:bodyPr>
          <a:lstStyle/>
          <a:p>
            <a:pPr eaLnBrk="1" hangingPunct="1">
              <a:buNone/>
            </a:pPr>
            <a:r>
              <a:rPr lang="zh-CN" altLang="en-US" sz="2400" dirty="0">
                <a:solidFill>
                  <a:srgbClr val="FF66FF"/>
                </a:solidFill>
                <a:latin typeface="+mn-ea"/>
                <a:ea typeface="+mn-ea"/>
              </a:rPr>
              <a:t>时回路谐振，为纯电阻，其阻值最大</a:t>
            </a:r>
            <a:r>
              <a:rPr lang="zh-CN" altLang="en-US" sz="2400" dirty="0" smtClean="0">
                <a:solidFill>
                  <a:srgbClr val="FF66FF"/>
                </a:solidFill>
                <a:latin typeface="+mn-ea"/>
                <a:ea typeface="+mn-ea"/>
              </a:rPr>
              <a:t>为</a:t>
            </a:r>
            <a:r>
              <a:rPr lang="en-US" altLang="zh-CN" sz="2400" i="1" dirty="0" smtClean="0">
                <a:solidFill>
                  <a:srgbClr val="FF66FF"/>
                </a:solidFill>
                <a:latin typeface="Times New Roman" panose="02020603050405020304" pitchFamily="18" charset="0"/>
                <a:cs typeface="Times New Roman" panose="02020603050405020304" pitchFamily="18" charset="0"/>
              </a:rPr>
              <a:t>R</a:t>
            </a:r>
            <a:r>
              <a:rPr lang="zh-CN" altLang="en-US" sz="2400" dirty="0" smtClean="0">
                <a:solidFill>
                  <a:srgbClr val="FF66FF"/>
                </a:solidFill>
                <a:latin typeface="+mn-ea"/>
                <a:ea typeface="+mn-ea"/>
              </a:rPr>
              <a:t>； </a:t>
            </a:r>
            <a:endParaRPr lang="zh-CN" altLang="en-US" sz="2400" dirty="0">
              <a:solidFill>
                <a:srgbClr val="FF66FF"/>
              </a:solidFill>
              <a:latin typeface="+mn-ea"/>
              <a:ea typeface="+mn-ea"/>
            </a:endParaRPr>
          </a:p>
          <a:p>
            <a:pPr eaLnBrk="1" hangingPunct="1">
              <a:buNone/>
            </a:pPr>
            <a:r>
              <a:rPr lang="zh-CN" altLang="en-US" sz="2400" dirty="0">
                <a:solidFill>
                  <a:srgbClr val="00B050"/>
                </a:solidFill>
                <a:latin typeface="+mn-ea"/>
                <a:ea typeface="+mn-ea"/>
              </a:rPr>
              <a:t>时，回路呈容抗特性；</a:t>
            </a:r>
          </a:p>
          <a:p>
            <a:pPr eaLnBrk="1" hangingPunct="1">
              <a:buNone/>
            </a:pPr>
            <a:r>
              <a:rPr lang="zh-CN" altLang="en-US" sz="2400" dirty="0">
                <a:solidFill>
                  <a:schemeClr val="accent2"/>
                </a:solidFill>
                <a:latin typeface="+mn-ea"/>
                <a:ea typeface="+mn-ea"/>
              </a:rPr>
              <a:t>时，回路呈感抗特性。 </a:t>
            </a:r>
            <a:endParaRPr lang="zh-CN" altLang="en-US" sz="2400" dirty="0">
              <a:ln w="0"/>
              <a:solidFill>
                <a:schemeClr val="accent2"/>
              </a:solidFill>
              <a:effectLst>
                <a:glow rad="63500">
                  <a:schemeClr val="accent3">
                    <a:satMod val="175000"/>
                    <a:alpha val="40000"/>
                  </a:schemeClr>
                </a:glow>
              </a:effectLst>
              <a:latin typeface="+mn-ea"/>
              <a:ea typeface="+mn-ea"/>
              <a:cs typeface="Times New Roman" panose="02020603050405020304" pitchFamily="18" charset="0"/>
            </a:endParaRPr>
          </a:p>
        </p:txBody>
      </p:sp>
      <p:graphicFrame>
        <p:nvGraphicFramePr>
          <p:cNvPr id="11" name="对象 10">
            <a:extLst>
              <a:ext uri="{FF2B5EF4-FFF2-40B4-BE49-F238E27FC236}">
                <a16:creationId xmlns:a16="http://schemas.microsoft.com/office/drawing/2014/main" xmlns="" id="{6C2ABD3C-5DDF-90FF-8663-2D968D409C32}"/>
              </a:ext>
            </a:extLst>
          </p:cNvPr>
          <p:cNvGraphicFramePr>
            <a:graphicFrameLocks noChangeAspect="1"/>
          </p:cNvGraphicFramePr>
          <p:nvPr>
            <p:extLst>
              <p:ext uri="{D42A27DB-BD31-4B8C-83A1-F6EECF244321}">
                <p14:modId xmlns:p14="http://schemas.microsoft.com/office/powerpoint/2010/main" val="4229783513"/>
              </p:ext>
            </p:extLst>
          </p:nvPr>
        </p:nvGraphicFramePr>
        <p:xfrm>
          <a:off x="613036" y="5144760"/>
          <a:ext cx="905871" cy="530201"/>
        </p:xfrm>
        <a:graphic>
          <a:graphicData uri="http://schemas.openxmlformats.org/presentationml/2006/ole">
            <mc:AlternateContent xmlns:mc="http://schemas.openxmlformats.org/markup-compatibility/2006">
              <mc:Choice xmlns:v="urn:schemas-microsoft-com:vml" Requires="v">
                <p:oleObj spid="_x0000_s17743" name="Equation" r:id="rId9" imgW="1079000" imgH="632543" progId="Equation.DSMT4">
                  <p:embed/>
                </p:oleObj>
              </mc:Choice>
              <mc:Fallback>
                <p:oleObj name="Equation" r:id="rId9" imgW="1079000" imgH="632543" progId="Equation.DSMT4">
                  <p:embed/>
                  <p:pic>
                    <p:nvPicPr>
                      <p:cNvPr id="0" name=""/>
                      <p:cNvPicPr/>
                      <p:nvPr/>
                    </p:nvPicPr>
                    <p:blipFill>
                      <a:blip r:embed="rId10"/>
                      <a:stretch>
                        <a:fillRect/>
                      </a:stretch>
                    </p:blipFill>
                    <p:spPr>
                      <a:xfrm>
                        <a:off x="613036" y="5144760"/>
                        <a:ext cx="905871" cy="530201"/>
                      </a:xfrm>
                      <a:prstGeom prst="rect">
                        <a:avLst/>
                      </a:prstGeom>
                    </p:spPr>
                  </p:pic>
                </p:oleObj>
              </mc:Fallback>
            </mc:AlternateContent>
          </a:graphicData>
        </a:graphic>
      </p:graphicFrame>
      <p:graphicFrame>
        <p:nvGraphicFramePr>
          <p:cNvPr id="12" name="对象 11">
            <a:extLst>
              <a:ext uri="{FF2B5EF4-FFF2-40B4-BE49-F238E27FC236}">
                <a16:creationId xmlns:a16="http://schemas.microsoft.com/office/drawing/2014/main" xmlns="" id="{8EE87630-6586-A75E-240F-C13A505ED6CA}"/>
              </a:ext>
            </a:extLst>
          </p:cNvPr>
          <p:cNvGraphicFramePr>
            <a:graphicFrameLocks noChangeAspect="1"/>
          </p:cNvGraphicFramePr>
          <p:nvPr>
            <p:extLst>
              <p:ext uri="{D42A27DB-BD31-4B8C-83A1-F6EECF244321}">
                <p14:modId xmlns:p14="http://schemas.microsoft.com/office/powerpoint/2010/main" val="2557725350"/>
              </p:ext>
            </p:extLst>
          </p:nvPr>
        </p:nvGraphicFramePr>
        <p:xfrm>
          <a:off x="569751" y="5566330"/>
          <a:ext cx="1006979" cy="504142"/>
        </p:xfrm>
        <a:graphic>
          <a:graphicData uri="http://schemas.openxmlformats.org/presentationml/2006/ole">
            <mc:AlternateContent xmlns:mc="http://schemas.openxmlformats.org/markup-compatibility/2006">
              <mc:Choice xmlns:v="urn:schemas-microsoft-com:vml" Requires="v">
                <p:oleObj spid="_x0000_s17744" name="Equation" r:id="rId11" imgW="1223731" imgH="612742" progId="Equation.DSMT4">
                  <p:embed/>
                </p:oleObj>
              </mc:Choice>
              <mc:Fallback>
                <p:oleObj name="Equation" r:id="rId11" imgW="1223731" imgH="612742" progId="Equation.DSMT4">
                  <p:embed/>
                  <p:pic>
                    <p:nvPicPr>
                      <p:cNvPr id="0" name=""/>
                      <p:cNvPicPr/>
                      <p:nvPr/>
                    </p:nvPicPr>
                    <p:blipFill>
                      <a:blip r:embed="rId12"/>
                      <a:stretch>
                        <a:fillRect/>
                      </a:stretch>
                    </p:blipFill>
                    <p:spPr>
                      <a:xfrm>
                        <a:off x="569751" y="5566330"/>
                        <a:ext cx="1006979" cy="504142"/>
                      </a:xfrm>
                      <a:prstGeom prst="rect">
                        <a:avLst/>
                      </a:prstGeom>
                    </p:spPr>
                  </p:pic>
                </p:oleObj>
              </mc:Fallback>
            </mc:AlternateContent>
          </a:graphicData>
        </a:graphic>
      </p:graphicFrame>
      <p:graphicFrame>
        <p:nvGraphicFramePr>
          <p:cNvPr id="13" name="对象 12">
            <a:extLst>
              <a:ext uri="{FF2B5EF4-FFF2-40B4-BE49-F238E27FC236}">
                <a16:creationId xmlns:a16="http://schemas.microsoft.com/office/drawing/2014/main" xmlns="" id="{27E280CC-FCAD-1EDD-5A29-E78458187B1A}"/>
              </a:ext>
            </a:extLst>
          </p:cNvPr>
          <p:cNvGraphicFramePr>
            <a:graphicFrameLocks noChangeAspect="1"/>
          </p:cNvGraphicFramePr>
          <p:nvPr>
            <p:extLst>
              <p:ext uri="{D42A27DB-BD31-4B8C-83A1-F6EECF244321}">
                <p14:modId xmlns:p14="http://schemas.microsoft.com/office/powerpoint/2010/main" val="3550600535"/>
              </p:ext>
            </p:extLst>
          </p:nvPr>
        </p:nvGraphicFramePr>
        <p:xfrm>
          <a:off x="608677" y="5988733"/>
          <a:ext cx="914588" cy="467376"/>
        </p:xfrm>
        <a:graphic>
          <a:graphicData uri="http://schemas.openxmlformats.org/presentationml/2006/ole">
            <mc:AlternateContent xmlns:mc="http://schemas.openxmlformats.org/markup-compatibility/2006">
              <mc:Choice xmlns:v="urn:schemas-microsoft-com:vml" Requires="v">
                <p:oleObj spid="_x0000_s17745" name="Equation" r:id="rId13" imgW="1223731" imgH="624982" progId="Equation.DSMT4">
                  <p:embed/>
                </p:oleObj>
              </mc:Choice>
              <mc:Fallback>
                <p:oleObj name="Equation" r:id="rId13" imgW="1223731" imgH="624982" progId="Equation.DSMT4">
                  <p:embed/>
                  <p:pic>
                    <p:nvPicPr>
                      <p:cNvPr id="0" name=""/>
                      <p:cNvPicPr/>
                      <p:nvPr/>
                    </p:nvPicPr>
                    <p:blipFill>
                      <a:blip r:embed="rId14"/>
                      <a:stretch>
                        <a:fillRect/>
                      </a:stretch>
                    </p:blipFill>
                    <p:spPr>
                      <a:xfrm>
                        <a:off x="608677" y="5988733"/>
                        <a:ext cx="914588" cy="467376"/>
                      </a:xfrm>
                      <a:prstGeom prst="rect">
                        <a:avLst/>
                      </a:prstGeom>
                    </p:spPr>
                  </p:pic>
                </p:oleObj>
              </mc:Fallback>
            </mc:AlternateContent>
          </a:graphicData>
        </a:graphic>
      </p:graphicFrame>
      <p:pic>
        <p:nvPicPr>
          <p:cNvPr id="14" name="图片 653326" descr="A2">
            <a:extLst>
              <a:ext uri="{FF2B5EF4-FFF2-40B4-BE49-F238E27FC236}">
                <a16:creationId xmlns:a16="http://schemas.microsoft.com/office/drawing/2014/main" xmlns="" id="{ECF3B38B-863B-7C84-8A73-7B2A2AA1E6AF}"/>
              </a:ext>
            </a:extLst>
          </p:cNvPr>
          <p:cNvPicPr>
            <a:picLocks noChangeAspect="1"/>
          </p:cNvPicPr>
          <p:nvPr/>
        </p:nvPicPr>
        <p:blipFill>
          <a:blip r:embed="rId15">
            <a:clrChange>
              <a:clrFrom>
                <a:srgbClr val="FFFFFF"/>
              </a:clrFrom>
              <a:clrTo>
                <a:srgbClr val="FFFFFF">
                  <a:alpha val="0"/>
                </a:srgbClr>
              </a:clrTo>
            </a:clrChange>
          </a:blip>
          <a:stretch>
            <a:fillRect/>
          </a:stretch>
        </p:blipFill>
        <p:spPr>
          <a:xfrm>
            <a:off x="1438340" y="3397741"/>
            <a:ext cx="2811462" cy="1957387"/>
          </a:xfrm>
          <a:prstGeom prst="rect">
            <a:avLst/>
          </a:prstGeom>
          <a:noFill/>
          <a:ln w="9525">
            <a:noFill/>
          </a:ln>
        </p:spPr>
      </p:pic>
      <p:pic>
        <p:nvPicPr>
          <p:cNvPr id="15" name="图片 653327" descr="A2">
            <a:extLst>
              <a:ext uri="{FF2B5EF4-FFF2-40B4-BE49-F238E27FC236}">
                <a16:creationId xmlns:a16="http://schemas.microsoft.com/office/drawing/2014/main" xmlns="" id="{005E0E30-3132-1F02-95A6-380D49B50CEF}"/>
              </a:ext>
            </a:extLst>
          </p:cNvPr>
          <p:cNvPicPr>
            <a:picLocks noChangeAspect="1"/>
          </p:cNvPicPr>
          <p:nvPr/>
        </p:nvPicPr>
        <p:blipFill>
          <a:blip r:embed="rId16">
            <a:clrChange>
              <a:clrFrom>
                <a:srgbClr val="FFFFFF"/>
              </a:clrFrom>
              <a:clrTo>
                <a:srgbClr val="FFFFFF">
                  <a:alpha val="0"/>
                </a:srgbClr>
              </a:clrTo>
            </a:clrChange>
          </a:blip>
          <a:stretch>
            <a:fillRect/>
          </a:stretch>
        </p:blipFill>
        <p:spPr>
          <a:xfrm>
            <a:off x="5529188" y="3523902"/>
            <a:ext cx="2087563" cy="1847850"/>
          </a:xfrm>
          <a:prstGeom prst="rect">
            <a:avLst/>
          </a:prstGeom>
          <a:noFill/>
          <a:ln w="9525">
            <a:noFill/>
          </a:ln>
        </p:spPr>
      </p:pic>
      <p:sp>
        <p:nvSpPr>
          <p:cNvPr id="16" name="矩形标注 653328">
            <a:extLst>
              <a:ext uri="{FF2B5EF4-FFF2-40B4-BE49-F238E27FC236}">
                <a16:creationId xmlns:a16="http://schemas.microsoft.com/office/drawing/2014/main" xmlns="" id="{CDF05602-C8BA-B766-DEB1-3B2F78B0F986}"/>
              </a:ext>
            </a:extLst>
          </p:cNvPr>
          <p:cNvSpPr/>
          <p:nvPr/>
        </p:nvSpPr>
        <p:spPr>
          <a:xfrm>
            <a:off x="293292" y="3657567"/>
            <a:ext cx="1763279" cy="444974"/>
          </a:xfrm>
          <a:prstGeom prst="wedgeRectCallout">
            <a:avLst>
              <a:gd name="adj1" fmla="val 65667"/>
              <a:gd name="adj2" fmla="val 17194"/>
            </a:avLst>
          </a:prstGeom>
          <a:gradFill rotWithShape="0">
            <a:gsLst>
              <a:gs pos="0">
                <a:schemeClr val="accent1"/>
              </a:gs>
              <a:gs pos="100000">
                <a:schemeClr val="bg1"/>
              </a:gs>
            </a:gsLst>
            <a:lin ang="0" scaled="1"/>
            <a:tileRect/>
          </a:gradFill>
          <a:ln w="9525" cap="flat" cmpd="sng">
            <a:solidFill>
              <a:schemeClr val="tx1"/>
            </a:solidFill>
            <a:prstDash val="solid"/>
            <a:miter/>
            <a:headEnd type="none" w="sm" len="sm"/>
            <a:tailEnd type="none" w="sm" len="sm"/>
          </a:ln>
        </p:spPr>
        <p:txBody>
          <a:bodyPr/>
          <a:lstStyle/>
          <a:p>
            <a:pPr algn="ctr">
              <a:lnSpc>
                <a:spcPct val="100000"/>
              </a:lnSpc>
            </a:pPr>
            <a:r>
              <a:rPr lang="zh-CN" altLang="en-US" sz="2000" b="1" dirty="0">
                <a:latin typeface="Tahoma" panose="020B0604030504040204" pitchFamily="34" charset="0"/>
                <a:ea typeface="楷体" panose="02010609060101010101" pitchFamily="49" charset="-122"/>
              </a:rPr>
              <a:t>相对幅频特性</a:t>
            </a:r>
            <a:r>
              <a:rPr lang="zh-CN" altLang="en-US" sz="2000" b="1" dirty="0">
                <a:latin typeface="Tahoma" panose="020B0604030504040204" pitchFamily="34" charset="0"/>
                <a:ea typeface="宋体" panose="02010600030101010101" pitchFamily="2" charset="-122"/>
              </a:rPr>
              <a:t> </a:t>
            </a:r>
          </a:p>
        </p:txBody>
      </p:sp>
      <p:sp>
        <p:nvSpPr>
          <p:cNvPr id="17" name="矩形标注 653329">
            <a:extLst>
              <a:ext uri="{FF2B5EF4-FFF2-40B4-BE49-F238E27FC236}">
                <a16:creationId xmlns:a16="http://schemas.microsoft.com/office/drawing/2014/main" xmlns="" id="{2BAA01B5-4414-9828-B210-6EB6B9CEF475}"/>
              </a:ext>
            </a:extLst>
          </p:cNvPr>
          <p:cNvSpPr/>
          <p:nvPr/>
        </p:nvSpPr>
        <p:spPr>
          <a:xfrm>
            <a:off x="3740530" y="3648771"/>
            <a:ext cx="1763279" cy="431800"/>
          </a:xfrm>
          <a:prstGeom prst="wedgeRectCallout">
            <a:avLst>
              <a:gd name="adj1" fmla="val 73731"/>
              <a:gd name="adj2" fmla="val -21324"/>
            </a:avLst>
          </a:prstGeom>
          <a:gradFill rotWithShape="0">
            <a:gsLst>
              <a:gs pos="0">
                <a:schemeClr val="accent1"/>
              </a:gs>
              <a:gs pos="100000">
                <a:schemeClr val="bg1"/>
              </a:gs>
            </a:gsLst>
            <a:lin ang="0" scaled="1"/>
            <a:tileRect/>
          </a:gradFill>
          <a:ln w="9525" cap="flat" cmpd="sng">
            <a:solidFill>
              <a:schemeClr val="tx1"/>
            </a:solidFill>
            <a:prstDash val="solid"/>
            <a:miter/>
            <a:headEnd type="none" w="sm" len="sm"/>
            <a:tailEnd type="none" w="sm" len="sm"/>
          </a:ln>
        </p:spPr>
        <p:txBody>
          <a:bodyPr/>
          <a:lstStyle/>
          <a:p>
            <a:pPr algn="ctr">
              <a:lnSpc>
                <a:spcPct val="100000"/>
              </a:lnSpc>
            </a:pPr>
            <a:r>
              <a:rPr lang="zh-CN" altLang="en-US" sz="2000" b="1" dirty="0">
                <a:latin typeface="楷体" panose="02010609060101010101" pitchFamily="49" charset="-122"/>
                <a:ea typeface="楷体" panose="02010609060101010101" pitchFamily="49" charset="-122"/>
              </a:rPr>
              <a:t>相对相频特性 </a:t>
            </a:r>
          </a:p>
        </p:txBody>
      </p:sp>
    </p:spTree>
    <p:extLst>
      <p:ext uri="{BB962C8B-B14F-4D97-AF65-F5344CB8AC3E}">
        <p14:creationId xmlns:p14="http://schemas.microsoft.com/office/powerpoint/2010/main" val="247894273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37</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2.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高频</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基础</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电路</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7" name="文本框 16">
            <a:extLst>
              <a:ext uri="{FF2B5EF4-FFF2-40B4-BE49-F238E27FC236}">
                <a16:creationId xmlns:a16="http://schemas.microsoft.com/office/drawing/2014/main" xmlns="" id="{9EEC0719-5DF4-55C1-75E3-1C921E7788D8}"/>
              </a:ext>
            </a:extLst>
          </p:cNvPr>
          <p:cNvSpPr txBox="1"/>
          <p:nvPr/>
        </p:nvSpPr>
        <p:spPr>
          <a:xfrm>
            <a:off x="430597" y="1268760"/>
            <a:ext cx="7778750" cy="400110"/>
          </a:xfrm>
          <a:prstGeom prst="rect">
            <a:avLst/>
          </a:prstGeom>
          <a:noFill/>
          <a:ln w="9525">
            <a:noFill/>
          </a:ln>
        </p:spPr>
        <p:txBody>
          <a:bodyPr>
            <a:spAutoFit/>
          </a:bodyPr>
          <a:lstStyle/>
          <a:p>
            <a:pPr>
              <a:lnSpc>
                <a:spcPct val="100000"/>
              </a:lnSpc>
              <a:spcBef>
                <a:spcPct val="50000"/>
              </a:spcBef>
            </a:pPr>
            <a:r>
              <a:rPr lang="zh-CN" altLang="en-US" sz="2000" b="1" dirty="0">
                <a:solidFill>
                  <a:srgbClr val="FF0000"/>
                </a:solidFill>
                <a:latin typeface="楷体_GB2312" panose="02010609030101010101" pitchFamily="49" charset="-122"/>
              </a:rPr>
              <a:t>谐振回路的两个重要参数 </a:t>
            </a:r>
            <a:r>
              <a:rPr lang="en-US" altLang="zh-CN" sz="2000" dirty="0">
                <a:solidFill>
                  <a:srgbClr val="FF0000"/>
                </a:solidFill>
                <a:latin typeface="楷体_GB2312" panose="02010609030101010101" pitchFamily="49" charset="-122"/>
              </a:rPr>
              <a:t>——</a:t>
            </a:r>
            <a:endParaRPr lang="en-US" altLang="zh-CN" sz="2000" b="1" dirty="0">
              <a:solidFill>
                <a:srgbClr val="FF0000"/>
              </a:solidFill>
              <a:latin typeface="楷体_GB2312" panose="02010609030101010101" pitchFamily="49" charset="-122"/>
            </a:endParaRPr>
          </a:p>
        </p:txBody>
      </p:sp>
      <p:graphicFrame>
        <p:nvGraphicFramePr>
          <p:cNvPr id="18" name="对象 17">
            <a:extLst>
              <a:ext uri="{FF2B5EF4-FFF2-40B4-BE49-F238E27FC236}">
                <a16:creationId xmlns:a16="http://schemas.microsoft.com/office/drawing/2014/main" xmlns="" id="{A757651A-6FC0-2048-1061-D9F82F101E0F}"/>
              </a:ext>
            </a:extLst>
          </p:cNvPr>
          <p:cNvGraphicFramePr>
            <a:graphicFrameLocks noChangeAspect="1"/>
          </p:cNvGraphicFramePr>
          <p:nvPr>
            <p:extLst>
              <p:ext uri="{D42A27DB-BD31-4B8C-83A1-F6EECF244321}">
                <p14:modId xmlns:p14="http://schemas.microsoft.com/office/powerpoint/2010/main" val="2320223651"/>
              </p:ext>
            </p:extLst>
          </p:nvPr>
        </p:nvGraphicFramePr>
        <p:xfrm>
          <a:off x="3931541" y="1203252"/>
          <a:ext cx="2063912" cy="531125"/>
        </p:xfrm>
        <a:graphic>
          <a:graphicData uri="http://schemas.openxmlformats.org/presentationml/2006/ole">
            <mc:AlternateContent xmlns:mc="http://schemas.openxmlformats.org/markup-compatibility/2006">
              <mc:Choice xmlns:v="urn:schemas-microsoft-com:vml" Requires="v">
                <p:oleObj spid="_x0000_s18758" name="Equation" r:id="rId3" imgW="2542150" imgH="653783" progId="Equation.DSMT4">
                  <p:embed/>
                </p:oleObj>
              </mc:Choice>
              <mc:Fallback>
                <p:oleObj name="Equation" r:id="rId3" imgW="2542150" imgH="653783" progId="Equation.DSMT4">
                  <p:embed/>
                  <p:pic>
                    <p:nvPicPr>
                      <p:cNvPr id="0" name=""/>
                      <p:cNvPicPr/>
                      <p:nvPr/>
                    </p:nvPicPr>
                    <p:blipFill>
                      <a:blip r:embed="rId4"/>
                      <a:stretch>
                        <a:fillRect/>
                      </a:stretch>
                    </p:blipFill>
                    <p:spPr>
                      <a:xfrm>
                        <a:off x="3931541" y="1203252"/>
                        <a:ext cx="2063912" cy="531125"/>
                      </a:xfrm>
                      <a:prstGeom prst="rect">
                        <a:avLst/>
                      </a:prstGeom>
                    </p:spPr>
                  </p:pic>
                </p:oleObj>
              </mc:Fallback>
            </mc:AlternateContent>
          </a:graphicData>
        </a:graphic>
      </p:graphicFrame>
      <p:sp>
        <p:nvSpPr>
          <p:cNvPr id="19" name="文本框 18">
            <a:extLst>
              <a:ext uri="{FF2B5EF4-FFF2-40B4-BE49-F238E27FC236}">
                <a16:creationId xmlns:a16="http://schemas.microsoft.com/office/drawing/2014/main" xmlns="" id="{3111CEA8-260F-D1A4-2016-E2F7DE88FDEE}"/>
              </a:ext>
            </a:extLst>
          </p:cNvPr>
          <p:cNvSpPr txBox="1"/>
          <p:nvPr/>
        </p:nvSpPr>
        <p:spPr>
          <a:xfrm>
            <a:off x="359532" y="1784143"/>
            <a:ext cx="3024187" cy="400110"/>
          </a:xfrm>
          <a:prstGeom prst="rect">
            <a:avLst/>
          </a:prstGeom>
          <a:noFill/>
          <a:ln w="9525">
            <a:noFill/>
          </a:ln>
        </p:spPr>
        <p:txBody>
          <a:bodyPr>
            <a:spAutoFit/>
          </a:bodyPr>
          <a:lstStyle/>
          <a:p>
            <a:pPr>
              <a:lnSpc>
                <a:spcPct val="100000"/>
              </a:lnSpc>
              <a:spcBef>
                <a:spcPct val="50000"/>
              </a:spcBef>
            </a:pPr>
            <a:r>
              <a:rPr lang="zh-CN" altLang="en-US" sz="2000" b="1" baseline="0" dirty="0">
                <a:solidFill>
                  <a:schemeClr val="accent2"/>
                </a:solidFill>
                <a:latin typeface="楷体_GB2312" panose="02010609030101010101" pitchFamily="49" charset="-122"/>
              </a:rPr>
              <a:t>（</a:t>
            </a:r>
            <a:r>
              <a:rPr lang="en-US" altLang="zh-CN" sz="2000" b="1" baseline="0" dirty="0">
                <a:solidFill>
                  <a:schemeClr val="accent2"/>
                </a:solidFill>
                <a:latin typeface="楷体_GB2312" panose="02010609030101010101" pitchFamily="49" charset="-122"/>
              </a:rPr>
              <a:t>1</a:t>
            </a:r>
            <a:r>
              <a:rPr lang="zh-CN" altLang="en-US" sz="2000" b="1" baseline="0" dirty="0">
                <a:solidFill>
                  <a:schemeClr val="accent2"/>
                </a:solidFill>
                <a:latin typeface="楷体_GB2312" panose="02010609030101010101" pitchFamily="49" charset="-122"/>
              </a:rPr>
              <a:t>）通频带</a:t>
            </a:r>
          </a:p>
        </p:txBody>
      </p:sp>
      <p:graphicFrame>
        <p:nvGraphicFramePr>
          <p:cNvPr id="20" name="对象 19">
            <a:extLst>
              <a:ext uri="{FF2B5EF4-FFF2-40B4-BE49-F238E27FC236}">
                <a16:creationId xmlns:a16="http://schemas.microsoft.com/office/drawing/2014/main" xmlns="" id="{26D0599B-AC9B-A87D-64A8-D1DD7DFB8E87}"/>
              </a:ext>
            </a:extLst>
          </p:cNvPr>
          <p:cNvGraphicFramePr>
            <a:graphicFrameLocks noChangeAspect="1"/>
          </p:cNvGraphicFramePr>
          <p:nvPr>
            <p:extLst>
              <p:ext uri="{D42A27DB-BD31-4B8C-83A1-F6EECF244321}">
                <p14:modId xmlns:p14="http://schemas.microsoft.com/office/powerpoint/2010/main" val="3927943167"/>
              </p:ext>
            </p:extLst>
          </p:nvPr>
        </p:nvGraphicFramePr>
        <p:xfrm>
          <a:off x="2038393" y="1759614"/>
          <a:ext cx="691514" cy="449167"/>
        </p:xfrm>
        <a:graphic>
          <a:graphicData uri="http://schemas.openxmlformats.org/presentationml/2006/ole">
            <mc:AlternateContent xmlns:mc="http://schemas.openxmlformats.org/markup-compatibility/2006">
              <mc:Choice xmlns:v="urn:schemas-microsoft-com:vml" Requires="v">
                <p:oleObj spid="_x0000_s18759" name="Equation" r:id="rId5" imgW="865865" imgH="562340" progId="Equation.DSMT4">
                  <p:embed/>
                </p:oleObj>
              </mc:Choice>
              <mc:Fallback>
                <p:oleObj name="Equation" r:id="rId5" imgW="865865" imgH="562340" progId="Equation.DSMT4">
                  <p:embed/>
                  <p:pic>
                    <p:nvPicPr>
                      <p:cNvPr id="0" name=""/>
                      <p:cNvPicPr/>
                      <p:nvPr/>
                    </p:nvPicPr>
                    <p:blipFill>
                      <a:blip r:embed="rId6"/>
                      <a:stretch>
                        <a:fillRect/>
                      </a:stretch>
                    </p:blipFill>
                    <p:spPr>
                      <a:xfrm>
                        <a:off x="2038393" y="1759614"/>
                        <a:ext cx="691514" cy="449167"/>
                      </a:xfrm>
                      <a:prstGeom prst="rect">
                        <a:avLst/>
                      </a:prstGeom>
                    </p:spPr>
                  </p:pic>
                </p:oleObj>
              </mc:Fallback>
            </mc:AlternateContent>
          </a:graphicData>
        </a:graphic>
      </p:graphicFrame>
      <p:sp>
        <p:nvSpPr>
          <p:cNvPr id="21" name="文本框 20">
            <a:extLst>
              <a:ext uri="{FF2B5EF4-FFF2-40B4-BE49-F238E27FC236}">
                <a16:creationId xmlns:a16="http://schemas.microsoft.com/office/drawing/2014/main" xmlns="" id="{4B2CD83F-0638-1D6B-CAAB-00D485E18773}"/>
              </a:ext>
            </a:extLst>
          </p:cNvPr>
          <p:cNvSpPr txBox="1"/>
          <p:nvPr/>
        </p:nvSpPr>
        <p:spPr>
          <a:xfrm>
            <a:off x="2729907" y="1774221"/>
            <a:ext cx="6306143" cy="400110"/>
          </a:xfrm>
          <a:prstGeom prst="rect">
            <a:avLst/>
          </a:prstGeom>
          <a:noFill/>
          <a:ln w="9525">
            <a:noFill/>
          </a:ln>
        </p:spPr>
        <p:txBody>
          <a:bodyPr wrap="square">
            <a:spAutoFit/>
          </a:bodyPr>
          <a:lstStyle/>
          <a:p>
            <a:pPr>
              <a:lnSpc>
                <a:spcPct val="100000"/>
              </a:lnSpc>
              <a:spcBef>
                <a:spcPct val="50000"/>
              </a:spcBef>
            </a:pPr>
            <a:r>
              <a:rPr lang="zh-CN" altLang="en-US" sz="2000" baseline="0" dirty="0">
                <a:solidFill>
                  <a:srgbClr val="000000"/>
                </a:solidFill>
                <a:latin typeface="楷体_GB2312" panose="02010609030101010101" pitchFamily="49" charset="-122"/>
              </a:rPr>
              <a:t>又称</a:t>
            </a:r>
            <a:r>
              <a:rPr lang="en-US" altLang="zh-CN" sz="2000" baseline="0" dirty="0">
                <a:solidFill>
                  <a:srgbClr val="000000"/>
                </a:solidFill>
                <a:latin typeface="Times New Roman" panose="02020603050405020304" pitchFamily="18" charset="0"/>
                <a:cs typeface="Times New Roman" panose="02020603050405020304" pitchFamily="18" charset="0"/>
              </a:rPr>
              <a:t>3dB</a:t>
            </a:r>
            <a:r>
              <a:rPr lang="zh-CN" altLang="en-US" sz="2000" baseline="0" dirty="0">
                <a:solidFill>
                  <a:srgbClr val="000000"/>
                </a:solidFill>
                <a:latin typeface="楷体_GB2312" panose="02010609030101010101" pitchFamily="49" charset="-122"/>
              </a:rPr>
              <a:t>通频带，或半功率点通频带。</a:t>
            </a:r>
          </a:p>
        </p:txBody>
      </p:sp>
      <p:sp>
        <p:nvSpPr>
          <p:cNvPr id="22" name="文本框 659479">
            <a:extLst>
              <a:ext uri="{FF2B5EF4-FFF2-40B4-BE49-F238E27FC236}">
                <a16:creationId xmlns:a16="http://schemas.microsoft.com/office/drawing/2014/main" xmlns="" id="{36CCD1F9-ACB2-A538-A827-CE48C359BB13}"/>
              </a:ext>
            </a:extLst>
          </p:cNvPr>
          <p:cNvSpPr txBox="1"/>
          <p:nvPr/>
        </p:nvSpPr>
        <p:spPr>
          <a:xfrm>
            <a:off x="1" y="2320491"/>
            <a:ext cx="9144000" cy="400110"/>
          </a:xfrm>
          <a:prstGeom prst="rect">
            <a:avLst/>
          </a:prstGeom>
          <a:noFill/>
          <a:ln w="9525">
            <a:noFill/>
          </a:ln>
        </p:spPr>
        <p:txBody>
          <a:bodyPr wrap="square">
            <a:spAutoFit/>
          </a:bodyPr>
          <a:lstStyle/>
          <a:p>
            <a:pPr>
              <a:spcBef>
                <a:spcPct val="50000"/>
              </a:spcBef>
            </a:pPr>
            <a:r>
              <a:rPr lang="zh-CN" altLang="en-US" sz="2000" baseline="0" dirty="0">
                <a:solidFill>
                  <a:srgbClr val="FF0000"/>
                </a:solidFill>
                <a:latin typeface="楷体_GB2312" panose="02010609030101010101" pitchFamily="49" charset="-122"/>
              </a:rPr>
              <a:t>定义：</a:t>
            </a:r>
            <a:r>
              <a:rPr lang="zh-CN" altLang="en-US" sz="2000" baseline="0" dirty="0">
                <a:solidFill>
                  <a:srgbClr val="000000"/>
                </a:solidFill>
                <a:latin typeface="楷体_GB2312" panose="02010609030101010101" pitchFamily="49" charset="-122"/>
              </a:rPr>
              <a:t>阻抗幅频特性下降为谐振值（中心频率处）的      时对应的频率范围。</a:t>
            </a:r>
          </a:p>
        </p:txBody>
      </p:sp>
      <p:graphicFrame>
        <p:nvGraphicFramePr>
          <p:cNvPr id="23" name="对象 22">
            <a:extLst>
              <a:ext uri="{FF2B5EF4-FFF2-40B4-BE49-F238E27FC236}">
                <a16:creationId xmlns:a16="http://schemas.microsoft.com/office/drawing/2014/main" xmlns="" id="{523D4FAB-353F-B0C9-8B4B-F06056C0FCAB}"/>
              </a:ext>
            </a:extLst>
          </p:cNvPr>
          <p:cNvGraphicFramePr>
            <a:graphicFrameLocks noChangeAspect="1"/>
          </p:cNvGraphicFramePr>
          <p:nvPr>
            <p:extLst>
              <p:ext uri="{D42A27DB-BD31-4B8C-83A1-F6EECF244321}">
                <p14:modId xmlns:p14="http://schemas.microsoft.com/office/powerpoint/2010/main" val="719316176"/>
              </p:ext>
            </p:extLst>
          </p:nvPr>
        </p:nvGraphicFramePr>
        <p:xfrm>
          <a:off x="5995453" y="2173653"/>
          <a:ext cx="541337" cy="614363"/>
        </p:xfrm>
        <a:graphic>
          <a:graphicData uri="http://schemas.openxmlformats.org/presentationml/2006/ole">
            <mc:AlternateContent xmlns:mc="http://schemas.openxmlformats.org/markup-compatibility/2006">
              <mc:Choice xmlns:v="urn:schemas-microsoft-com:vml" Requires="v">
                <p:oleObj spid="_x0000_s18760" name="Equation" r:id="rId7" imgW="541120" imgH="614182" progId="Equation.DSMT4">
                  <p:embed/>
                </p:oleObj>
              </mc:Choice>
              <mc:Fallback>
                <p:oleObj name="Equation" r:id="rId7" imgW="541120" imgH="614182" progId="Equation.DSMT4">
                  <p:embed/>
                  <p:pic>
                    <p:nvPicPr>
                      <p:cNvPr id="0" name=""/>
                      <p:cNvPicPr/>
                      <p:nvPr/>
                    </p:nvPicPr>
                    <p:blipFill>
                      <a:blip r:embed="rId8"/>
                      <a:stretch>
                        <a:fillRect/>
                      </a:stretch>
                    </p:blipFill>
                    <p:spPr>
                      <a:xfrm>
                        <a:off x="5995453" y="2173653"/>
                        <a:ext cx="541337" cy="614363"/>
                      </a:xfrm>
                      <a:prstGeom prst="rect">
                        <a:avLst/>
                      </a:prstGeom>
                    </p:spPr>
                  </p:pic>
                </p:oleObj>
              </mc:Fallback>
            </mc:AlternateContent>
          </a:graphicData>
        </a:graphic>
      </p:graphicFrame>
      <p:sp>
        <p:nvSpPr>
          <p:cNvPr id="24" name="文本框 23">
            <a:extLst>
              <a:ext uri="{FF2B5EF4-FFF2-40B4-BE49-F238E27FC236}">
                <a16:creationId xmlns:a16="http://schemas.microsoft.com/office/drawing/2014/main" xmlns="" id="{6164E3AF-5DB2-19CE-4948-7E32393C6DEC}"/>
              </a:ext>
            </a:extLst>
          </p:cNvPr>
          <p:cNvSpPr txBox="1"/>
          <p:nvPr/>
        </p:nvSpPr>
        <p:spPr>
          <a:xfrm>
            <a:off x="33722" y="2877113"/>
            <a:ext cx="1655762" cy="400110"/>
          </a:xfrm>
          <a:prstGeom prst="rect">
            <a:avLst/>
          </a:prstGeom>
          <a:noFill/>
          <a:ln w="9525">
            <a:noFill/>
          </a:ln>
        </p:spPr>
        <p:txBody>
          <a:bodyPr>
            <a:spAutoFit/>
          </a:bodyPr>
          <a:lstStyle/>
          <a:p>
            <a:pPr>
              <a:lnSpc>
                <a:spcPct val="100000"/>
              </a:lnSpc>
              <a:spcBef>
                <a:spcPct val="50000"/>
              </a:spcBef>
            </a:pPr>
            <a:r>
              <a:rPr lang="zh-CN" altLang="en-US" sz="2000" dirty="0">
                <a:solidFill>
                  <a:srgbClr val="FF0000"/>
                </a:solidFill>
                <a:latin typeface="楷体_GB2312" panose="02010609030101010101" pitchFamily="49" charset="-122"/>
              </a:rPr>
              <a:t>计算：</a:t>
            </a:r>
          </a:p>
        </p:txBody>
      </p:sp>
      <p:graphicFrame>
        <p:nvGraphicFramePr>
          <p:cNvPr id="25" name="对象 24">
            <a:extLst>
              <a:ext uri="{FF2B5EF4-FFF2-40B4-BE49-F238E27FC236}">
                <a16:creationId xmlns:a16="http://schemas.microsoft.com/office/drawing/2014/main" xmlns="" id="{59686C7E-D847-4643-979F-D52BD002F408}"/>
              </a:ext>
            </a:extLst>
          </p:cNvPr>
          <p:cNvGraphicFramePr>
            <a:graphicFrameLocks noChangeAspect="1"/>
          </p:cNvGraphicFramePr>
          <p:nvPr>
            <p:extLst>
              <p:ext uri="{D42A27DB-BD31-4B8C-83A1-F6EECF244321}">
                <p14:modId xmlns:p14="http://schemas.microsoft.com/office/powerpoint/2010/main" val="3347438718"/>
              </p:ext>
            </p:extLst>
          </p:nvPr>
        </p:nvGraphicFramePr>
        <p:xfrm>
          <a:off x="949603" y="2742986"/>
          <a:ext cx="2718589" cy="961469"/>
        </p:xfrm>
        <a:graphic>
          <a:graphicData uri="http://schemas.openxmlformats.org/presentationml/2006/ole">
            <mc:AlternateContent xmlns:mc="http://schemas.openxmlformats.org/markup-compatibility/2006">
              <mc:Choice xmlns:v="urn:schemas-microsoft-com:vml" Requires="v">
                <p:oleObj spid="_x0000_s18761" name="Equation" r:id="rId9" imgW="3096951" imgH="1095879" progId="Equation.DSMT4">
                  <p:embed/>
                </p:oleObj>
              </mc:Choice>
              <mc:Fallback>
                <p:oleObj name="Equation" r:id="rId9" imgW="3096951" imgH="1095879" progId="Equation.DSMT4">
                  <p:embed/>
                  <p:pic>
                    <p:nvPicPr>
                      <p:cNvPr id="0" name=""/>
                      <p:cNvPicPr/>
                      <p:nvPr/>
                    </p:nvPicPr>
                    <p:blipFill>
                      <a:blip r:embed="rId10"/>
                      <a:stretch>
                        <a:fillRect/>
                      </a:stretch>
                    </p:blipFill>
                    <p:spPr>
                      <a:xfrm>
                        <a:off x="949603" y="2742986"/>
                        <a:ext cx="2718589" cy="961469"/>
                      </a:xfrm>
                      <a:prstGeom prst="rect">
                        <a:avLst/>
                      </a:prstGeom>
                    </p:spPr>
                  </p:pic>
                </p:oleObj>
              </mc:Fallback>
            </mc:AlternateContent>
          </a:graphicData>
        </a:graphic>
      </p:graphicFrame>
      <p:sp>
        <p:nvSpPr>
          <p:cNvPr id="27" name="文本框 26">
            <a:extLst>
              <a:ext uri="{FF2B5EF4-FFF2-40B4-BE49-F238E27FC236}">
                <a16:creationId xmlns:a16="http://schemas.microsoft.com/office/drawing/2014/main" xmlns="" id="{CEB8113F-A200-F5CD-996F-033AFCC7DB82}"/>
              </a:ext>
            </a:extLst>
          </p:cNvPr>
          <p:cNvSpPr txBox="1"/>
          <p:nvPr/>
        </p:nvSpPr>
        <p:spPr>
          <a:xfrm>
            <a:off x="33722" y="3794717"/>
            <a:ext cx="2087563" cy="400110"/>
          </a:xfrm>
          <a:prstGeom prst="rect">
            <a:avLst/>
          </a:prstGeom>
          <a:noFill/>
          <a:ln w="9525">
            <a:noFill/>
          </a:ln>
        </p:spPr>
        <p:txBody>
          <a:bodyPr>
            <a:spAutoFit/>
          </a:bodyPr>
          <a:lstStyle/>
          <a:p>
            <a:pPr>
              <a:lnSpc>
                <a:spcPct val="100000"/>
              </a:lnSpc>
              <a:spcBef>
                <a:spcPct val="50000"/>
              </a:spcBef>
            </a:pPr>
            <a:r>
              <a:rPr lang="zh-CN" altLang="en-US" sz="2000" baseline="0" dirty="0">
                <a:latin typeface="Times New Roman" panose="02020603050405020304" pitchFamily="18" charset="0"/>
                <a:ea typeface="宋体" panose="02010600030101010101" pitchFamily="2" charset="-122"/>
              </a:rPr>
              <a:t>得到</a:t>
            </a:r>
            <a:r>
              <a:rPr lang="zh-CN" altLang="en-US" sz="2000" b="1" baseline="0" dirty="0">
                <a:latin typeface="Times New Roman" panose="02020603050405020304" pitchFamily="18" charset="0"/>
                <a:ea typeface="宋体" panose="02010600030101010101" pitchFamily="2" charset="-122"/>
              </a:rPr>
              <a:t>：</a:t>
            </a:r>
          </a:p>
        </p:txBody>
      </p:sp>
      <p:graphicFrame>
        <p:nvGraphicFramePr>
          <p:cNvPr id="28" name="对象 27">
            <a:extLst>
              <a:ext uri="{FF2B5EF4-FFF2-40B4-BE49-F238E27FC236}">
                <a16:creationId xmlns:a16="http://schemas.microsoft.com/office/drawing/2014/main" xmlns="" id="{4BC0ADC9-F8FF-FD85-AF5F-C5BF30BAB93A}"/>
              </a:ext>
            </a:extLst>
          </p:cNvPr>
          <p:cNvGraphicFramePr>
            <a:graphicFrameLocks noChangeAspect="1"/>
          </p:cNvGraphicFramePr>
          <p:nvPr>
            <p:extLst>
              <p:ext uri="{D42A27DB-BD31-4B8C-83A1-F6EECF244321}">
                <p14:modId xmlns:p14="http://schemas.microsoft.com/office/powerpoint/2010/main" val="836370063"/>
              </p:ext>
            </p:extLst>
          </p:nvPr>
        </p:nvGraphicFramePr>
        <p:xfrm>
          <a:off x="949603" y="3794718"/>
          <a:ext cx="963603" cy="442766"/>
        </p:xfrm>
        <a:graphic>
          <a:graphicData uri="http://schemas.openxmlformats.org/presentationml/2006/ole">
            <mc:AlternateContent xmlns:mc="http://schemas.openxmlformats.org/markup-compatibility/2006">
              <mc:Choice xmlns:v="urn:schemas-microsoft-com:vml" Requires="v">
                <p:oleObj spid="_x0000_s18762" name="Equation" r:id="rId11" imgW="1371702" imgH="629663" progId="Equation.DSMT4">
                  <p:embed/>
                </p:oleObj>
              </mc:Choice>
              <mc:Fallback>
                <p:oleObj name="Equation" r:id="rId11" imgW="1371702" imgH="629663" progId="Equation.DSMT4">
                  <p:embed/>
                  <p:pic>
                    <p:nvPicPr>
                      <p:cNvPr id="0" name=""/>
                      <p:cNvPicPr/>
                      <p:nvPr/>
                    </p:nvPicPr>
                    <p:blipFill>
                      <a:blip r:embed="rId12"/>
                      <a:stretch>
                        <a:fillRect/>
                      </a:stretch>
                    </p:blipFill>
                    <p:spPr>
                      <a:xfrm>
                        <a:off x="949603" y="3794718"/>
                        <a:ext cx="963603" cy="442766"/>
                      </a:xfrm>
                      <a:prstGeom prst="rect">
                        <a:avLst/>
                      </a:prstGeom>
                    </p:spPr>
                  </p:pic>
                </p:oleObj>
              </mc:Fallback>
            </mc:AlternateContent>
          </a:graphicData>
        </a:graphic>
      </p:graphicFrame>
      <p:graphicFrame>
        <p:nvGraphicFramePr>
          <p:cNvPr id="29" name="对象 28">
            <a:extLst>
              <a:ext uri="{FF2B5EF4-FFF2-40B4-BE49-F238E27FC236}">
                <a16:creationId xmlns:a16="http://schemas.microsoft.com/office/drawing/2014/main" xmlns="" id="{BEC2205F-4254-1559-8DD9-376C3E0B4F69}"/>
              </a:ext>
            </a:extLst>
          </p:cNvPr>
          <p:cNvGraphicFramePr>
            <a:graphicFrameLocks noChangeAspect="1"/>
          </p:cNvGraphicFramePr>
          <p:nvPr>
            <p:extLst>
              <p:ext uri="{D42A27DB-BD31-4B8C-83A1-F6EECF244321}">
                <p14:modId xmlns:p14="http://schemas.microsoft.com/office/powerpoint/2010/main" val="1820259268"/>
              </p:ext>
            </p:extLst>
          </p:nvPr>
        </p:nvGraphicFramePr>
        <p:xfrm>
          <a:off x="930050" y="4261003"/>
          <a:ext cx="2117792" cy="819402"/>
        </p:xfrm>
        <a:graphic>
          <a:graphicData uri="http://schemas.openxmlformats.org/presentationml/2006/ole">
            <mc:AlternateContent xmlns:mc="http://schemas.openxmlformats.org/markup-compatibility/2006">
              <mc:Choice xmlns:v="urn:schemas-microsoft-com:vml" Requires="v">
                <p:oleObj spid="_x0000_s18763" name="Equation" r:id="rId13" imgW="3348250" imgH="1295687" progId="Equation.DSMT4">
                  <p:embed/>
                </p:oleObj>
              </mc:Choice>
              <mc:Fallback>
                <p:oleObj name="Equation" r:id="rId13" imgW="3348250" imgH="1295687" progId="Equation.DSMT4">
                  <p:embed/>
                  <p:pic>
                    <p:nvPicPr>
                      <p:cNvPr id="0" name=""/>
                      <p:cNvPicPr/>
                      <p:nvPr/>
                    </p:nvPicPr>
                    <p:blipFill>
                      <a:blip r:embed="rId14"/>
                      <a:stretch>
                        <a:fillRect/>
                      </a:stretch>
                    </p:blipFill>
                    <p:spPr>
                      <a:xfrm>
                        <a:off x="930050" y="4261003"/>
                        <a:ext cx="2117792" cy="819402"/>
                      </a:xfrm>
                      <a:prstGeom prst="rect">
                        <a:avLst/>
                      </a:prstGeom>
                    </p:spPr>
                  </p:pic>
                </p:oleObj>
              </mc:Fallback>
            </mc:AlternateContent>
          </a:graphicData>
        </a:graphic>
      </p:graphicFrame>
      <p:sp>
        <p:nvSpPr>
          <p:cNvPr id="30" name="矩形 29"/>
          <p:cNvSpPr/>
          <p:nvPr/>
        </p:nvSpPr>
        <p:spPr>
          <a:xfrm>
            <a:off x="123732" y="5438773"/>
            <a:ext cx="8912318" cy="1015663"/>
          </a:xfrm>
          <a:prstGeom prst="rect">
            <a:avLst/>
          </a:prstGeom>
        </p:spPr>
        <p:txBody>
          <a:bodyPr wrap="square">
            <a:spAutoFit/>
          </a:bodyPr>
          <a:lstStyle/>
          <a:p>
            <a:pPr marL="342900" indent="-342900">
              <a:buFont typeface="Wingdings" panose="05000000000000000000" pitchFamily="2" charset="2"/>
              <a:buChar char="Ø"/>
            </a:pPr>
            <a:r>
              <a:rPr lang="zh-CN" altLang="en-US" sz="2000" dirty="0">
                <a:solidFill>
                  <a:srgbClr val="000000"/>
                </a:solidFill>
                <a:latin typeface="楷体_GB2312" panose="02010609030101010101" pitchFamily="49" charset="-122"/>
              </a:rPr>
              <a:t>放大器所放大的一般都是已调制的信号，已调制的信号都包含一定谱宽度，所以放大器必须有一定的通频带，让必要的信号频谱分量通过</a:t>
            </a:r>
            <a:r>
              <a:rPr lang="zh-CN" altLang="en-US" sz="2000" dirty="0" smtClean="0">
                <a:solidFill>
                  <a:srgbClr val="000000"/>
                </a:solidFill>
                <a:latin typeface="楷体_GB2312" panose="02010609030101010101" pitchFamily="49" charset="-122"/>
              </a:rPr>
              <a:t>放大器。</a:t>
            </a:r>
            <a:endParaRPr lang="en-US" altLang="zh-CN" sz="2000" dirty="0" smtClean="0">
              <a:solidFill>
                <a:srgbClr val="000000"/>
              </a:solidFill>
              <a:latin typeface="楷体_GB2312" panose="02010609030101010101" pitchFamily="49" charset="-122"/>
            </a:endParaRPr>
          </a:p>
          <a:p>
            <a:pPr marL="342900" indent="-342900">
              <a:buFont typeface="Wingdings" panose="05000000000000000000" pitchFamily="2" charset="2"/>
              <a:buChar char="Ø"/>
            </a:pPr>
            <a:r>
              <a:rPr lang="zh-CN" altLang="en-US" sz="2000" dirty="0" smtClean="0">
                <a:solidFill>
                  <a:srgbClr val="000000"/>
                </a:solidFill>
                <a:latin typeface="楷体_GB2312" panose="02010609030101010101" pitchFamily="49" charset="-122"/>
              </a:rPr>
              <a:t>放大器的通频带决定于回路的形式和回路的等效品质因数。</a:t>
            </a:r>
            <a:endParaRPr lang="zh-CN" altLang="en-US" sz="2000" dirty="0">
              <a:solidFill>
                <a:srgbClr val="000000"/>
              </a:solidFill>
              <a:latin typeface="楷体_GB2312" panose="02010609030101010101" pitchFamily="49" charset="-122"/>
            </a:endParaRPr>
          </a:p>
        </p:txBody>
      </p:sp>
      <p:pic>
        <p:nvPicPr>
          <p:cNvPr id="32" name="图片 31"/>
          <p:cNvPicPr>
            <a:picLocks noChangeAspect="1"/>
          </p:cNvPicPr>
          <p:nvPr/>
        </p:nvPicPr>
        <p:blipFill>
          <a:blip r:embed="rId15">
            <a:clrChange>
              <a:clrFrom>
                <a:srgbClr val="FFFFFF"/>
              </a:clrFrom>
              <a:clrTo>
                <a:srgbClr val="FFFFFF">
                  <a:alpha val="0"/>
                </a:srgbClr>
              </a:clrTo>
            </a:clrChange>
          </a:blip>
          <a:stretch>
            <a:fillRect/>
          </a:stretch>
        </p:blipFill>
        <p:spPr>
          <a:xfrm>
            <a:off x="4248443" y="2654465"/>
            <a:ext cx="3221765" cy="2812006"/>
          </a:xfrm>
          <a:prstGeom prst="rect">
            <a:avLst/>
          </a:prstGeom>
        </p:spPr>
      </p:pic>
    </p:spTree>
    <p:extLst>
      <p:ext uri="{BB962C8B-B14F-4D97-AF65-F5344CB8AC3E}">
        <p14:creationId xmlns:p14="http://schemas.microsoft.com/office/powerpoint/2010/main" val="1343726431"/>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38</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2.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高频</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基础</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电路</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文本框 4">
            <a:extLst>
              <a:ext uri="{FF2B5EF4-FFF2-40B4-BE49-F238E27FC236}">
                <a16:creationId xmlns:a16="http://schemas.microsoft.com/office/drawing/2014/main" xmlns="" id="{9E7E419B-29A8-A9D1-8DB3-70380870F36D}"/>
              </a:ext>
            </a:extLst>
          </p:cNvPr>
          <p:cNvSpPr txBox="1"/>
          <p:nvPr/>
        </p:nvSpPr>
        <p:spPr>
          <a:xfrm>
            <a:off x="2346990" y="1249923"/>
            <a:ext cx="6618372" cy="400110"/>
          </a:xfrm>
          <a:prstGeom prst="rect">
            <a:avLst/>
          </a:prstGeom>
          <a:noFill/>
          <a:ln w="9525">
            <a:noFill/>
          </a:ln>
        </p:spPr>
        <p:txBody>
          <a:bodyPr wrap="square">
            <a:spAutoFit/>
          </a:bodyPr>
          <a:lstStyle/>
          <a:p>
            <a:pPr>
              <a:lnSpc>
                <a:spcPct val="100000"/>
              </a:lnSpc>
              <a:spcBef>
                <a:spcPct val="50000"/>
              </a:spcBef>
            </a:pPr>
            <a:r>
              <a:rPr lang="zh-CN" altLang="en-US" sz="2000" dirty="0">
                <a:latin typeface="Times New Roman" panose="02020603050405020304" pitchFamily="18" charset="0"/>
              </a:rPr>
              <a:t>衡量谐振回路幅频特性接近矩形的程度。</a:t>
            </a:r>
          </a:p>
        </p:txBody>
      </p:sp>
      <p:sp>
        <p:nvSpPr>
          <p:cNvPr id="6" name="文本框 659479">
            <a:extLst>
              <a:ext uri="{FF2B5EF4-FFF2-40B4-BE49-F238E27FC236}">
                <a16:creationId xmlns:a16="http://schemas.microsoft.com/office/drawing/2014/main" xmlns="" id="{6A12B43F-D85E-2903-2A5A-60A395AA6B07}"/>
              </a:ext>
            </a:extLst>
          </p:cNvPr>
          <p:cNvSpPr txBox="1"/>
          <p:nvPr/>
        </p:nvSpPr>
        <p:spPr>
          <a:xfrm>
            <a:off x="346902" y="1729537"/>
            <a:ext cx="1037685" cy="400110"/>
          </a:xfrm>
          <a:prstGeom prst="rect">
            <a:avLst/>
          </a:prstGeom>
          <a:noFill/>
          <a:ln w="9525">
            <a:noFill/>
          </a:ln>
        </p:spPr>
        <p:txBody>
          <a:bodyPr wrap="square">
            <a:spAutoFit/>
          </a:bodyPr>
          <a:lstStyle/>
          <a:p>
            <a:pPr>
              <a:spcBef>
                <a:spcPct val="50000"/>
              </a:spcBef>
            </a:pPr>
            <a:r>
              <a:rPr lang="zh-CN" altLang="en-US" sz="2000" baseline="0" dirty="0">
                <a:solidFill>
                  <a:srgbClr val="FF3300"/>
                </a:solidFill>
                <a:latin typeface="楷体_GB2312" panose="02010609030101010101" pitchFamily="49" charset="-122"/>
              </a:rPr>
              <a:t>分析：</a:t>
            </a:r>
            <a:endParaRPr lang="zh-CN" altLang="en-US" sz="2000" baseline="0" dirty="0">
              <a:solidFill>
                <a:srgbClr val="000000"/>
              </a:solidFill>
              <a:latin typeface="楷体_GB2312" panose="02010609030101010101" pitchFamily="49" charset="-122"/>
            </a:endParaRPr>
          </a:p>
        </p:txBody>
      </p:sp>
      <p:sp>
        <p:nvSpPr>
          <p:cNvPr id="7" name="文本框 6">
            <a:extLst>
              <a:ext uri="{FF2B5EF4-FFF2-40B4-BE49-F238E27FC236}">
                <a16:creationId xmlns:a16="http://schemas.microsoft.com/office/drawing/2014/main" xmlns="" id="{2AF290C1-D5B9-51B8-FC19-E96C37B2DE27}"/>
              </a:ext>
            </a:extLst>
          </p:cNvPr>
          <p:cNvSpPr txBox="1"/>
          <p:nvPr/>
        </p:nvSpPr>
        <p:spPr>
          <a:xfrm>
            <a:off x="346902" y="4228144"/>
            <a:ext cx="4324732" cy="400110"/>
          </a:xfrm>
          <a:prstGeom prst="rect">
            <a:avLst/>
          </a:prstGeom>
          <a:noFill/>
          <a:ln w="9525">
            <a:noFill/>
          </a:ln>
        </p:spPr>
        <p:txBody>
          <a:bodyPr wrap="square">
            <a:spAutoFit/>
          </a:bodyPr>
          <a:lstStyle/>
          <a:p>
            <a:pPr>
              <a:lnSpc>
                <a:spcPct val="100000"/>
              </a:lnSpc>
              <a:spcBef>
                <a:spcPct val="50000"/>
              </a:spcBef>
            </a:pPr>
            <a:r>
              <a:rPr lang="zh-CN" altLang="en-US" sz="2000" dirty="0">
                <a:solidFill>
                  <a:srgbClr val="FF3300"/>
                </a:solidFill>
                <a:latin typeface="楷体_GB2312" panose="02010609030101010101" pitchFamily="49" charset="-122"/>
              </a:rPr>
              <a:t>结论：</a:t>
            </a:r>
            <a:r>
              <a:rPr lang="zh-CN" altLang="en-US" sz="2000" dirty="0">
                <a:latin typeface="Times New Roman" panose="02020603050405020304" pitchFamily="18" charset="0"/>
              </a:rPr>
              <a:t>单谐振回路的选择性很差。</a:t>
            </a:r>
            <a:endParaRPr lang="zh-CN" altLang="en-US" sz="2000" dirty="0">
              <a:solidFill>
                <a:srgbClr val="FF3300"/>
              </a:solidFill>
              <a:latin typeface="楷体_GB2312" panose="02010609030101010101" pitchFamily="49" charset="-122"/>
            </a:endParaRPr>
          </a:p>
        </p:txBody>
      </p:sp>
      <p:sp>
        <p:nvSpPr>
          <p:cNvPr id="8" name="文本框 7">
            <a:extLst>
              <a:ext uri="{FF2B5EF4-FFF2-40B4-BE49-F238E27FC236}">
                <a16:creationId xmlns:a16="http://schemas.microsoft.com/office/drawing/2014/main" xmlns="" id="{56505AAC-FD33-B618-33F9-D954BE561A94}"/>
              </a:ext>
            </a:extLst>
          </p:cNvPr>
          <p:cNvSpPr txBox="1"/>
          <p:nvPr/>
        </p:nvSpPr>
        <p:spPr>
          <a:xfrm>
            <a:off x="86896" y="1275364"/>
            <a:ext cx="2014903" cy="400110"/>
          </a:xfrm>
          <a:prstGeom prst="rect">
            <a:avLst/>
          </a:prstGeom>
          <a:noFill/>
          <a:ln w="9525">
            <a:noFill/>
          </a:ln>
        </p:spPr>
        <p:txBody>
          <a:bodyPr wrap="square">
            <a:spAutoFit/>
          </a:bodyPr>
          <a:lstStyle/>
          <a:p>
            <a:pPr>
              <a:lnSpc>
                <a:spcPct val="100000"/>
              </a:lnSpc>
              <a:spcBef>
                <a:spcPct val="50000"/>
              </a:spcBef>
            </a:pPr>
            <a:r>
              <a:rPr lang="zh-CN" altLang="en-US" sz="2000" b="1" baseline="0" dirty="0">
                <a:solidFill>
                  <a:schemeClr val="accent2"/>
                </a:solidFill>
                <a:latin typeface="楷体_GB2312" panose="02010609030101010101" pitchFamily="49" charset="-122"/>
              </a:rPr>
              <a:t>（</a:t>
            </a:r>
            <a:r>
              <a:rPr lang="en-US" altLang="zh-CN" sz="2000" b="1" baseline="0" dirty="0">
                <a:solidFill>
                  <a:schemeClr val="accent2"/>
                </a:solidFill>
                <a:latin typeface="Times New Roman" panose="02020603050405020304" pitchFamily="18" charset="0"/>
                <a:cs typeface="Times New Roman" panose="02020603050405020304" pitchFamily="18" charset="0"/>
              </a:rPr>
              <a:t>2</a:t>
            </a:r>
            <a:r>
              <a:rPr lang="zh-CN" altLang="en-US" sz="2000" b="1" baseline="0" dirty="0">
                <a:solidFill>
                  <a:schemeClr val="accent2"/>
                </a:solidFill>
                <a:latin typeface="楷体_GB2312" panose="02010609030101010101" pitchFamily="49" charset="-122"/>
              </a:rPr>
              <a:t>）矩形系数</a:t>
            </a:r>
          </a:p>
        </p:txBody>
      </p:sp>
      <p:graphicFrame>
        <p:nvGraphicFramePr>
          <p:cNvPr id="9" name="对象 8">
            <a:extLst>
              <a:ext uri="{FF2B5EF4-FFF2-40B4-BE49-F238E27FC236}">
                <a16:creationId xmlns:a16="http://schemas.microsoft.com/office/drawing/2014/main" xmlns="" id="{27F21E5D-49D7-89ED-09E9-F61097941806}"/>
              </a:ext>
            </a:extLst>
          </p:cNvPr>
          <p:cNvGraphicFramePr>
            <a:graphicFrameLocks noChangeAspect="1"/>
          </p:cNvGraphicFramePr>
          <p:nvPr>
            <p:extLst>
              <p:ext uri="{D42A27DB-BD31-4B8C-83A1-F6EECF244321}">
                <p14:modId xmlns:p14="http://schemas.microsoft.com/office/powerpoint/2010/main" val="3231458457"/>
              </p:ext>
            </p:extLst>
          </p:nvPr>
        </p:nvGraphicFramePr>
        <p:xfrm>
          <a:off x="1849804" y="1278327"/>
          <a:ext cx="547802" cy="400110"/>
        </p:xfrm>
        <a:graphic>
          <a:graphicData uri="http://schemas.openxmlformats.org/presentationml/2006/ole">
            <mc:AlternateContent xmlns:mc="http://schemas.openxmlformats.org/markup-compatibility/2006">
              <mc:Choice xmlns:v="urn:schemas-microsoft-com:vml" Requires="v">
                <p:oleObj spid="_x0000_s19788" name="Equation" r:id="rId3" imgW="647688" imgH="472697" progId="Equation.DSMT4">
                  <p:embed/>
                </p:oleObj>
              </mc:Choice>
              <mc:Fallback>
                <p:oleObj name="Equation" r:id="rId3" imgW="647688" imgH="472697" progId="Equation.DSMT4">
                  <p:embed/>
                  <p:pic>
                    <p:nvPicPr>
                      <p:cNvPr id="0" name=""/>
                      <p:cNvPicPr/>
                      <p:nvPr/>
                    </p:nvPicPr>
                    <p:blipFill>
                      <a:blip r:embed="rId4"/>
                      <a:stretch>
                        <a:fillRect/>
                      </a:stretch>
                    </p:blipFill>
                    <p:spPr>
                      <a:xfrm>
                        <a:off x="1849804" y="1278327"/>
                        <a:ext cx="547802" cy="400110"/>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xmlns="" id="{C6802E45-11B0-7FD6-8AC6-741F5AAFE1FF}"/>
              </a:ext>
            </a:extLst>
          </p:cNvPr>
          <p:cNvGraphicFramePr>
            <a:graphicFrameLocks noChangeAspect="1"/>
          </p:cNvGraphicFramePr>
          <p:nvPr>
            <p:extLst>
              <p:ext uri="{D42A27DB-BD31-4B8C-83A1-F6EECF244321}">
                <p14:modId xmlns:p14="http://schemas.microsoft.com/office/powerpoint/2010/main" val="3920854032"/>
              </p:ext>
            </p:extLst>
          </p:nvPr>
        </p:nvGraphicFramePr>
        <p:xfrm>
          <a:off x="1673898" y="1847865"/>
          <a:ext cx="1578908" cy="757834"/>
        </p:xfrm>
        <a:graphic>
          <a:graphicData uri="http://schemas.openxmlformats.org/presentationml/2006/ole">
            <mc:AlternateContent xmlns:mc="http://schemas.openxmlformats.org/markup-compatibility/2006">
              <mc:Choice xmlns:v="urn:schemas-microsoft-com:vml" Requires="v">
                <p:oleObj spid="_x0000_s19789" name="Equation" r:id="rId5" imgW="2377617" imgH="1141601" progId="Equation.DSMT4">
                  <p:embed/>
                </p:oleObj>
              </mc:Choice>
              <mc:Fallback>
                <p:oleObj name="Equation" r:id="rId5" imgW="2377617" imgH="1141601" progId="Equation.DSMT4">
                  <p:embed/>
                  <p:pic>
                    <p:nvPicPr>
                      <p:cNvPr id="0" name=""/>
                      <p:cNvPicPr/>
                      <p:nvPr/>
                    </p:nvPicPr>
                    <p:blipFill>
                      <a:blip r:embed="rId6"/>
                      <a:stretch>
                        <a:fillRect/>
                      </a:stretch>
                    </p:blipFill>
                    <p:spPr>
                      <a:xfrm>
                        <a:off x="1673898" y="1847865"/>
                        <a:ext cx="1578908" cy="757834"/>
                      </a:xfrm>
                      <a:prstGeom prst="rect">
                        <a:avLst/>
                      </a:prstGeom>
                    </p:spPr>
                  </p:pic>
                </p:oleObj>
              </mc:Fallback>
            </mc:AlternateContent>
          </a:graphicData>
        </a:graphic>
      </p:graphicFrame>
      <p:sp>
        <p:nvSpPr>
          <p:cNvPr id="11" name="右箭头 660487">
            <a:extLst>
              <a:ext uri="{FF2B5EF4-FFF2-40B4-BE49-F238E27FC236}">
                <a16:creationId xmlns:a16="http://schemas.microsoft.com/office/drawing/2014/main" xmlns="" id="{C8299B2F-4E9C-CA3A-DA8C-7D9C90DCB424}"/>
              </a:ext>
            </a:extLst>
          </p:cNvPr>
          <p:cNvSpPr/>
          <p:nvPr/>
        </p:nvSpPr>
        <p:spPr>
          <a:xfrm>
            <a:off x="3468223" y="2900518"/>
            <a:ext cx="760237" cy="197038"/>
          </a:xfrm>
          <a:prstGeom prst="rightArrow">
            <a:avLst>
              <a:gd name="adj1" fmla="val 50000"/>
              <a:gd name="adj2" fmla="val 50236"/>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dirty="0">
              <a:latin typeface="楷体_GB2312" panose="02010609030101010101" pitchFamily="49" charset="-122"/>
            </a:endParaRPr>
          </a:p>
        </p:txBody>
      </p:sp>
      <p:graphicFrame>
        <p:nvGraphicFramePr>
          <p:cNvPr id="12" name="对象 11">
            <a:extLst>
              <a:ext uri="{FF2B5EF4-FFF2-40B4-BE49-F238E27FC236}">
                <a16:creationId xmlns:a16="http://schemas.microsoft.com/office/drawing/2014/main" xmlns="" id="{FF043E6E-1C42-5A7A-22E3-CA2E6A4D638A}"/>
              </a:ext>
            </a:extLst>
          </p:cNvPr>
          <p:cNvGraphicFramePr/>
          <p:nvPr>
            <p:extLst>
              <p:ext uri="{D42A27DB-BD31-4B8C-83A1-F6EECF244321}">
                <p14:modId xmlns:p14="http://schemas.microsoft.com/office/powerpoint/2010/main" val="1379879740"/>
              </p:ext>
            </p:extLst>
          </p:nvPr>
        </p:nvGraphicFramePr>
        <p:xfrm>
          <a:off x="1673898" y="2838046"/>
          <a:ext cx="1496253" cy="430960"/>
        </p:xfrm>
        <a:graphic>
          <a:graphicData uri="http://schemas.openxmlformats.org/presentationml/2006/ole">
            <mc:AlternateContent xmlns:mc="http://schemas.openxmlformats.org/markup-compatibility/2006">
              <mc:Choice xmlns:v="urn:schemas-microsoft-com:vml" Requires="v">
                <p:oleObj spid="_x0000_s19790" r:id="rId7" imgW="711200" imgH="228600" progId="Equation.3">
                  <p:embed/>
                </p:oleObj>
              </mc:Choice>
              <mc:Fallback>
                <p:oleObj r:id="rId7" imgW="711200" imgH="228600" progId="Equation.3">
                  <p:embed/>
                  <p:pic>
                    <p:nvPicPr>
                      <p:cNvPr id="0" name=""/>
                      <p:cNvPicPr/>
                      <p:nvPr/>
                    </p:nvPicPr>
                    <p:blipFill>
                      <a:blip r:embed="rId8"/>
                      <a:stretch>
                        <a:fillRect/>
                      </a:stretch>
                    </p:blipFill>
                    <p:spPr>
                      <a:xfrm>
                        <a:off x="1673898" y="2838046"/>
                        <a:ext cx="1496253" cy="430960"/>
                      </a:xfrm>
                      <a:prstGeom prst="rect">
                        <a:avLst/>
                      </a:prstGeom>
                      <a:noFill/>
                      <a:ln w="38100">
                        <a:noFill/>
                        <a:miter/>
                      </a:ln>
                    </p:spPr>
                  </p:pic>
                </p:oleObj>
              </mc:Fallback>
            </mc:AlternateContent>
          </a:graphicData>
        </a:graphic>
      </p:graphicFrame>
      <p:graphicFrame>
        <p:nvGraphicFramePr>
          <p:cNvPr id="13" name="对象 12">
            <a:extLst>
              <a:ext uri="{FF2B5EF4-FFF2-40B4-BE49-F238E27FC236}">
                <a16:creationId xmlns:a16="http://schemas.microsoft.com/office/drawing/2014/main" xmlns="" id="{DE1CEA77-74D8-D10C-6F11-37CD7C8D2D0C}"/>
              </a:ext>
            </a:extLst>
          </p:cNvPr>
          <p:cNvGraphicFramePr/>
          <p:nvPr>
            <p:extLst>
              <p:ext uri="{D42A27DB-BD31-4B8C-83A1-F6EECF244321}">
                <p14:modId xmlns:p14="http://schemas.microsoft.com/office/powerpoint/2010/main" val="3926416601"/>
              </p:ext>
            </p:extLst>
          </p:nvPr>
        </p:nvGraphicFramePr>
        <p:xfrm>
          <a:off x="4533197" y="2867238"/>
          <a:ext cx="1122979" cy="431930"/>
        </p:xfrm>
        <a:graphic>
          <a:graphicData uri="http://schemas.openxmlformats.org/presentationml/2006/ole">
            <mc:AlternateContent xmlns:mc="http://schemas.openxmlformats.org/markup-compatibility/2006">
              <mc:Choice xmlns:v="urn:schemas-microsoft-com:vml" Requires="v">
                <p:oleObj spid="_x0000_s19791" r:id="rId9" imgW="533400" imgH="228600" progId="Equation.3">
                  <p:embed/>
                </p:oleObj>
              </mc:Choice>
              <mc:Fallback>
                <p:oleObj r:id="rId9" imgW="533400" imgH="228600" progId="Equation.3">
                  <p:embed/>
                  <p:pic>
                    <p:nvPicPr>
                      <p:cNvPr id="0" name=""/>
                      <p:cNvPicPr/>
                      <p:nvPr/>
                    </p:nvPicPr>
                    <p:blipFill>
                      <a:blip r:embed="rId10"/>
                      <a:stretch>
                        <a:fillRect/>
                      </a:stretch>
                    </p:blipFill>
                    <p:spPr>
                      <a:xfrm>
                        <a:off x="4533197" y="2867238"/>
                        <a:ext cx="1122979" cy="431930"/>
                      </a:xfrm>
                      <a:prstGeom prst="rect">
                        <a:avLst/>
                      </a:prstGeom>
                      <a:noFill/>
                      <a:ln w="38100">
                        <a:noFill/>
                        <a:miter/>
                      </a:ln>
                    </p:spPr>
                  </p:pic>
                </p:oleObj>
              </mc:Fallback>
            </mc:AlternateContent>
          </a:graphicData>
        </a:graphic>
      </p:graphicFrame>
      <p:sp>
        <p:nvSpPr>
          <p:cNvPr id="14" name="文本框 13">
            <a:extLst>
              <a:ext uri="{FF2B5EF4-FFF2-40B4-BE49-F238E27FC236}">
                <a16:creationId xmlns:a16="http://schemas.microsoft.com/office/drawing/2014/main" xmlns="" id="{1C4AEEBF-D314-3848-0231-6E9CA5060074}"/>
              </a:ext>
            </a:extLst>
          </p:cNvPr>
          <p:cNvSpPr txBox="1"/>
          <p:nvPr/>
        </p:nvSpPr>
        <p:spPr>
          <a:xfrm>
            <a:off x="3450019" y="2554252"/>
            <a:ext cx="760237" cy="369332"/>
          </a:xfrm>
          <a:prstGeom prst="rect">
            <a:avLst/>
          </a:prstGeom>
          <a:noFill/>
          <a:ln w="9525">
            <a:noFill/>
          </a:ln>
        </p:spPr>
        <p:txBody>
          <a:bodyPr wrap="square">
            <a:spAutoFit/>
          </a:bodyPr>
          <a:lstStyle/>
          <a:p>
            <a:pPr>
              <a:lnSpc>
                <a:spcPct val="100000"/>
              </a:lnSpc>
              <a:spcBef>
                <a:spcPct val="50000"/>
              </a:spcBef>
            </a:pPr>
            <a:r>
              <a:rPr lang="zh-CN" altLang="en-US" sz="1800" b="1" baseline="0" dirty="0">
                <a:solidFill>
                  <a:srgbClr val="3333FF"/>
                </a:solidFill>
                <a:latin typeface="Times New Roman" panose="02020603050405020304" pitchFamily="18" charset="0"/>
              </a:rPr>
              <a:t>理想</a:t>
            </a:r>
          </a:p>
        </p:txBody>
      </p:sp>
      <p:graphicFrame>
        <p:nvGraphicFramePr>
          <p:cNvPr id="15" name="对象 14">
            <a:extLst>
              <a:ext uri="{FF2B5EF4-FFF2-40B4-BE49-F238E27FC236}">
                <a16:creationId xmlns:a16="http://schemas.microsoft.com/office/drawing/2014/main" xmlns="" id="{D3E10386-D431-784C-AF9D-A303093C2373}"/>
              </a:ext>
            </a:extLst>
          </p:cNvPr>
          <p:cNvGraphicFramePr/>
          <p:nvPr>
            <p:extLst>
              <p:ext uri="{D42A27DB-BD31-4B8C-83A1-F6EECF244321}">
                <p14:modId xmlns:p14="http://schemas.microsoft.com/office/powerpoint/2010/main" val="3488475242"/>
              </p:ext>
            </p:extLst>
          </p:nvPr>
        </p:nvGraphicFramePr>
        <p:xfrm>
          <a:off x="1673898" y="3502818"/>
          <a:ext cx="1655762" cy="757834"/>
        </p:xfrm>
        <a:graphic>
          <a:graphicData uri="http://schemas.openxmlformats.org/presentationml/2006/ole">
            <mc:AlternateContent xmlns:mc="http://schemas.openxmlformats.org/markup-compatibility/2006">
              <mc:Choice xmlns:v="urn:schemas-microsoft-com:vml" Requires="v">
                <p:oleObj spid="_x0000_s19792" r:id="rId11" imgW="1129665" imgH="419100" progId="Equation.3">
                  <p:embed/>
                </p:oleObj>
              </mc:Choice>
              <mc:Fallback>
                <p:oleObj r:id="rId11" imgW="1129665" imgH="419100" progId="Equation.3">
                  <p:embed/>
                  <p:pic>
                    <p:nvPicPr>
                      <p:cNvPr id="0" name=""/>
                      <p:cNvPicPr/>
                      <p:nvPr/>
                    </p:nvPicPr>
                    <p:blipFill>
                      <a:blip r:embed="rId12"/>
                      <a:stretch>
                        <a:fillRect/>
                      </a:stretch>
                    </p:blipFill>
                    <p:spPr>
                      <a:xfrm>
                        <a:off x="1673898" y="3502818"/>
                        <a:ext cx="1655762" cy="757834"/>
                      </a:xfrm>
                      <a:prstGeom prst="rect">
                        <a:avLst/>
                      </a:prstGeom>
                      <a:noFill/>
                      <a:ln w="38100">
                        <a:noFill/>
                        <a:miter/>
                      </a:ln>
                    </p:spPr>
                  </p:pic>
                </p:oleObj>
              </mc:Fallback>
            </mc:AlternateContent>
          </a:graphicData>
        </a:graphic>
      </p:graphicFrame>
      <p:graphicFrame>
        <p:nvGraphicFramePr>
          <p:cNvPr id="16" name="对象 15">
            <a:extLst>
              <a:ext uri="{FF2B5EF4-FFF2-40B4-BE49-F238E27FC236}">
                <a16:creationId xmlns:a16="http://schemas.microsoft.com/office/drawing/2014/main" xmlns="" id="{BDBC9A28-2F3E-2786-CEC7-EC9A4BCC7636}"/>
              </a:ext>
            </a:extLst>
          </p:cNvPr>
          <p:cNvGraphicFramePr/>
          <p:nvPr>
            <p:extLst>
              <p:ext uri="{D42A27DB-BD31-4B8C-83A1-F6EECF244321}">
                <p14:modId xmlns:p14="http://schemas.microsoft.com/office/powerpoint/2010/main" val="2126655413"/>
              </p:ext>
            </p:extLst>
          </p:nvPr>
        </p:nvGraphicFramePr>
        <p:xfrm>
          <a:off x="4533197" y="3533928"/>
          <a:ext cx="1470307" cy="450114"/>
        </p:xfrm>
        <a:graphic>
          <a:graphicData uri="http://schemas.openxmlformats.org/presentationml/2006/ole">
            <mc:AlternateContent xmlns:mc="http://schemas.openxmlformats.org/markup-compatibility/2006">
              <mc:Choice xmlns:v="urn:schemas-microsoft-com:vml" Requires="v">
                <p:oleObj spid="_x0000_s19793" r:id="rId13" imgW="965200" imgH="279400" progId="Equation.DSMT4">
                  <p:embed/>
                </p:oleObj>
              </mc:Choice>
              <mc:Fallback>
                <p:oleObj r:id="rId13" imgW="965200" imgH="279400" progId="Equation.DSMT4">
                  <p:embed/>
                  <p:pic>
                    <p:nvPicPr>
                      <p:cNvPr id="0" name=""/>
                      <p:cNvPicPr/>
                      <p:nvPr/>
                    </p:nvPicPr>
                    <p:blipFill>
                      <a:blip r:embed="rId14"/>
                      <a:stretch>
                        <a:fillRect/>
                      </a:stretch>
                    </p:blipFill>
                    <p:spPr>
                      <a:xfrm>
                        <a:off x="4533197" y="3533928"/>
                        <a:ext cx="1470307" cy="450114"/>
                      </a:xfrm>
                      <a:prstGeom prst="rect">
                        <a:avLst/>
                      </a:prstGeom>
                      <a:noFill/>
                      <a:ln w="38100">
                        <a:noFill/>
                        <a:miter/>
                      </a:ln>
                    </p:spPr>
                  </p:pic>
                </p:oleObj>
              </mc:Fallback>
            </mc:AlternateContent>
          </a:graphicData>
        </a:graphic>
      </p:graphicFrame>
      <p:sp>
        <p:nvSpPr>
          <p:cNvPr id="17" name="右箭头 660487">
            <a:extLst>
              <a:ext uri="{FF2B5EF4-FFF2-40B4-BE49-F238E27FC236}">
                <a16:creationId xmlns:a16="http://schemas.microsoft.com/office/drawing/2014/main" xmlns="" id="{6F1922C4-2A54-501F-6D7E-9F9C2FC1EEB7}"/>
              </a:ext>
            </a:extLst>
          </p:cNvPr>
          <p:cNvSpPr/>
          <p:nvPr/>
        </p:nvSpPr>
        <p:spPr>
          <a:xfrm>
            <a:off x="3481600" y="3754824"/>
            <a:ext cx="760237" cy="197038"/>
          </a:xfrm>
          <a:prstGeom prst="rightArrow">
            <a:avLst>
              <a:gd name="adj1" fmla="val 50000"/>
              <a:gd name="adj2" fmla="val 50236"/>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dirty="0">
              <a:latin typeface="楷体_GB2312" panose="02010609030101010101" pitchFamily="49" charset="-122"/>
            </a:endParaRPr>
          </a:p>
        </p:txBody>
      </p:sp>
      <p:sp>
        <p:nvSpPr>
          <p:cNvPr id="18" name="文本框 17">
            <a:extLst>
              <a:ext uri="{FF2B5EF4-FFF2-40B4-BE49-F238E27FC236}">
                <a16:creationId xmlns:a16="http://schemas.microsoft.com/office/drawing/2014/main" xmlns="" id="{51C67EF8-CB80-9F85-6BFF-497FA1F52A46}"/>
              </a:ext>
            </a:extLst>
          </p:cNvPr>
          <p:cNvSpPr txBox="1"/>
          <p:nvPr/>
        </p:nvSpPr>
        <p:spPr>
          <a:xfrm>
            <a:off x="3463396" y="3408558"/>
            <a:ext cx="760237" cy="369332"/>
          </a:xfrm>
          <a:prstGeom prst="rect">
            <a:avLst/>
          </a:prstGeom>
          <a:noFill/>
          <a:ln w="9525">
            <a:noFill/>
          </a:ln>
        </p:spPr>
        <p:txBody>
          <a:bodyPr wrap="square">
            <a:spAutoFit/>
          </a:bodyPr>
          <a:lstStyle/>
          <a:p>
            <a:pPr>
              <a:lnSpc>
                <a:spcPct val="100000"/>
              </a:lnSpc>
              <a:spcBef>
                <a:spcPct val="50000"/>
              </a:spcBef>
            </a:pPr>
            <a:r>
              <a:rPr lang="zh-CN" altLang="en-US" sz="1800" b="1" baseline="0" dirty="0">
                <a:solidFill>
                  <a:srgbClr val="3333FF"/>
                </a:solidFill>
                <a:latin typeface="Times New Roman" panose="02020603050405020304" pitchFamily="18" charset="0"/>
              </a:rPr>
              <a:t>实际</a:t>
            </a:r>
          </a:p>
        </p:txBody>
      </p:sp>
      <p:pic>
        <p:nvPicPr>
          <p:cNvPr id="19" name="图片 660511">
            <a:extLst>
              <a:ext uri="{FF2B5EF4-FFF2-40B4-BE49-F238E27FC236}">
                <a16:creationId xmlns:a16="http://schemas.microsoft.com/office/drawing/2014/main" xmlns="" id="{3921973C-0F4A-FD02-EED4-D6F19786510E}"/>
              </a:ext>
            </a:extLst>
          </p:cNvPr>
          <p:cNvPicPr>
            <a:picLocks noChangeAspect="1"/>
          </p:cNvPicPr>
          <p:nvPr/>
        </p:nvPicPr>
        <p:blipFill>
          <a:blip r:embed="rId15">
            <a:clrChange>
              <a:clrFrom>
                <a:srgbClr val="FFFFFF"/>
              </a:clrFrom>
              <a:clrTo>
                <a:srgbClr val="FFFFFF">
                  <a:alpha val="0"/>
                </a:srgbClr>
              </a:clrTo>
            </a:clrChange>
          </a:blip>
          <a:srcRect l="31078" t="21259" r="40649" b="21809"/>
          <a:stretch>
            <a:fillRect/>
          </a:stretch>
        </p:blipFill>
        <p:spPr>
          <a:xfrm>
            <a:off x="6034680" y="1729537"/>
            <a:ext cx="2520950" cy="2752725"/>
          </a:xfrm>
          <a:prstGeom prst="rect">
            <a:avLst/>
          </a:prstGeom>
          <a:noFill/>
          <a:ln w="9525">
            <a:noFill/>
          </a:ln>
        </p:spPr>
      </p:pic>
      <p:sp>
        <p:nvSpPr>
          <p:cNvPr id="20" name="文本框 663558">
            <a:extLst>
              <a:ext uri="{FF2B5EF4-FFF2-40B4-BE49-F238E27FC236}">
                <a16:creationId xmlns:a16="http://schemas.microsoft.com/office/drawing/2014/main" xmlns="" id="{D6E2C677-7729-6D25-DD6E-751751C50AC0}"/>
              </a:ext>
            </a:extLst>
          </p:cNvPr>
          <p:cNvSpPr txBox="1"/>
          <p:nvPr/>
        </p:nvSpPr>
        <p:spPr>
          <a:xfrm>
            <a:off x="86896" y="4917920"/>
            <a:ext cx="4907135" cy="1323439"/>
          </a:xfrm>
          <a:prstGeom prst="rect">
            <a:avLst/>
          </a:prstGeom>
          <a:noFill/>
          <a:ln w="19050" cap="flat" cmpd="sng">
            <a:noFill/>
            <a:prstDash val="lgDashDot"/>
            <a:miter/>
            <a:headEnd type="none" w="med" len="med"/>
            <a:tailEnd type="none" w="med" len="med"/>
          </a:ln>
        </p:spPr>
        <p:txBody>
          <a:bodyPr wrap="square">
            <a:spAutoFit/>
          </a:bodyPr>
          <a:lstStyle/>
          <a:p>
            <a:pPr algn="just" eaLnBrk="1">
              <a:lnSpc>
                <a:spcPct val="100000"/>
              </a:lnSpc>
              <a:spcBef>
                <a:spcPct val="50000"/>
              </a:spcBef>
            </a:pPr>
            <a:r>
              <a:rPr lang="zh-CN" altLang="en-US" sz="2000" dirty="0">
                <a:latin typeface="Times New Roman" panose="02020603050405020304" pitchFamily="18" charset="0"/>
              </a:rPr>
              <a:t>    回路的</a:t>
            </a:r>
            <a:r>
              <a:rPr lang="en-US" altLang="zh-CN" sz="2000" dirty="0">
                <a:latin typeface="Times New Roman" panose="02020603050405020304" pitchFamily="18" charset="0"/>
              </a:rPr>
              <a:t>Q</a:t>
            </a:r>
            <a:r>
              <a:rPr lang="zh-CN" altLang="en-US" sz="2000" dirty="0">
                <a:latin typeface="Times New Roman" panose="02020603050405020304" pitchFamily="18" charset="0"/>
              </a:rPr>
              <a:t>越高，谐振曲线越尖锐，回路</a:t>
            </a:r>
            <a:r>
              <a:rPr lang="zh-CN" altLang="en-US" sz="2000" dirty="0" smtClean="0">
                <a:latin typeface="Times New Roman" panose="02020603050405020304" pitchFamily="18" charset="0"/>
              </a:rPr>
              <a:t>的通频带越</a:t>
            </a:r>
            <a:r>
              <a:rPr lang="zh-CN" altLang="en-US" sz="2000" dirty="0">
                <a:latin typeface="Times New Roman" panose="02020603050405020304" pitchFamily="18" charset="0"/>
              </a:rPr>
              <a:t>窄，但其</a:t>
            </a:r>
            <a:r>
              <a:rPr lang="en-US" altLang="zh-CN" sz="2000" dirty="0">
                <a:latin typeface="Times New Roman" panose="02020603050405020304" pitchFamily="18" charset="0"/>
              </a:rPr>
              <a:t>Kr0.1</a:t>
            </a:r>
            <a:r>
              <a:rPr lang="zh-CN" altLang="en-US" sz="2000" dirty="0">
                <a:latin typeface="Times New Roman" panose="02020603050405020304" pitchFamily="18" charset="0"/>
              </a:rPr>
              <a:t>并不改变。这说明</a:t>
            </a:r>
            <a:r>
              <a:rPr lang="zh-CN" altLang="en-US" sz="2000" dirty="0" smtClean="0">
                <a:latin typeface="Times New Roman" panose="02020603050405020304" pitchFamily="18" charset="0"/>
              </a:rPr>
              <a:t>，对于简单谐振回路，回路</a:t>
            </a:r>
            <a:r>
              <a:rPr lang="en-US" altLang="zh-CN" sz="2000" dirty="0">
                <a:latin typeface="Times New Roman" panose="02020603050405020304" pitchFamily="18" charset="0"/>
              </a:rPr>
              <a:t>Q</a:t>
            </a:r>
            <a:r>
              <a:rPr lang="zh-CN" altLang="en-US" sz="2000" dirty="0">
                <a:latin typeface="Times New Roman" panose="02020603050405020304" pitchFamily="18" charset="0"/>
              </a:rPr>
              <a:t>对回路的通频带和高的选择性的矛盾不能兼顾。        </a:t>
            </a:r>
          </a:p>
        </p:txBody>
      </p:sp>
      <p:pic>
        <p:nvPicPr>
          <p:cNvPr id="21" name="图片 663557" descr="2-7">
            <a:extLst>
              <a:ext uri="{FF2B5EF4-FFF2-40B4-BE49-F238E27FC236}">
                <a16:creationId xmlns:a16="http://schemas.microsoft.com/office/drawing/2014/main" xmlns="" id="{1D304D79-FEC6-8474-3F99-D9A5AF3C1BEF}"/>
              </a:ext>
            </a:extLst>
          </p:cNvPr>
          <p:cNvPicPr>
            <a:picLocks noChangeAspect="1"/>
          </p:cNvPicPr>
          <p:nvPr/>
        </p:nvPicPr>
        <p:blipFill rotWithShape="1">
          <a:blip r:embed="rId16">
            <a:clrChange>
              <a:clrFrom>
                <a:srgbClr val="FFFFFF"/>
              </a:clrFrom>
              <a:clrTo>
                <a:srgbClr val="FFFFFF">
                  <a:alpha val="0"/>
                </a:srgbClr>
              </a:clrTo>
            </a:clrChange>
          </a:blip>
          <a:srcRect l="35037" r="30832" b="13611"/>
          <a:stretch/>
        </p:blipFill>
        <p:spPr>
          <a:xfrm>
            <a:off x="4762420" y="4279792"/>
            <a:ext cx="3209697" cy="2599694"/>
          </a:xfrm>
          <a:prstGeom prst="rect">
            <a:avLst/>
          </a:prstGeom>
          <a:noFill/>
          <a:ln w="9525">
            <a:noFill/>
          </a:ln>
        </p:spPr>
      </p:pic>
    </p:spTree>
    <p:extLst>
      <p:ext uri="{BB962C8B-B14F-4D97-AF65-F5344CB8AC3E}">
        <p14:creationId xmlns:p14="http://schemas.microsoft.com/office/powerpoint/2010/main" val="2093522162"/>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39</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2.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高频</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基础</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电路</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Text Box 10">
            <a:extLst>
              <a:ext uri="{FF2B5EF4-FFF2-40B4-BE49-F238E27FC236}">
                <a16:creationId xmlns:a16="http://schemas.microsoft.com/office/drawing/2014/main" xmlns="" id="{8EC51790-2CC9-B3C9-4BC4-94482283F581}"/>
              </a:ext>
            </a:extLst>
          </p:cNvPr>
          <p:cNvSpPr txBox="1">
            <a:spLocks noChangeArrowheads="1"/>
          </p:cNvSpPr>
          <p:nvPr/>
        </p:nvSpPr>
        <p:spPr bwMode="auto">
          <a:xfrm>
            <a:off x="-1" y="1125913"/>
            <a:ext cx="901739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28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2.3  </a:t>
            </a:r>
            <a:r>
              <a:rPr lang="zh-CN" altLang="en-US" sz="28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串并联阻抗的等效互换</a:t>
            </a:r>
          </a:p>
        </p:txBody>
      </p:sp>
      <p:sp>
        <p:nvSpPr>
          <p:cNvPr id="6" name="内容占位符 7170">
            <a:extLst>
              <a:ext uri="{FF2B5EF4-FFF2-40B4-BE49-F238E27FC236}">
                <a16:creationId xmlns:a16="http://schemas.microsoft.com/office/drawing/2014/main" xmlns="" id="{79FD8850-2324-FACB-1403-D8DEF9D11A13}"/>
              </a:ext>
            </a:extLst>
          </p:cNvPr>
          <p:cNvSpPr/>
          <p:nvPr/>
        </p:nvSpPr>
        <p:spPr>
          <a:xfrm>
            <a:off x="255370" y="2093766"/>
            <a:ext cx="8353425" cy="3672409"/>
          </a:xfrm>
          <a:prstGeom prst="rect">
            <a:avLst/>
          </a:prstGeom>
          <a:noFill/>
          <a:ln w="9525">
            <a:noFill/>
          </a:ln>
        </p:spPr>
        <p:txBody>
          <a:bodyPr/>
          <a:lstStyle/>
          <a:p>
            <a:pPr>
              <a:lnSpc>
                <a:spcPct val="120000"/>
              </a:lnSpc>
              <a:spcBef>
                <a:spcPts val="1200"/>
              </a:spcBef>
              <a:spcAft>
                <a:spcPts val="1200"/>
              </a:spcAft>
              <a:buClr>
                <a:schemeClr val="folHlink"/>
              </a:buClr>
              <a:buSzPct val="60000"/>
              <a:defRPr/>
            </a:pPr>
            <a:endParaRPr lang="zh-CN" altLang="en-US" dirty="0">
              <a:ln w="0"/>
              <a:effectLst>
                <a:outerShdw blurRad="38100" dist="19050" dir="2700000" algn="tl" rotWithShape="0">
                  <a:schemeClr val="dk1">
                    <a:alpha val="40000"/>
                  </a:schemeClr>
                </a:outerShdw>
              </a:effectLst>
              <a:latin typeface="+mn-ea"/>
              <a:ea typeface="+mn-ea"/>
              <a:cs typeface="Times New Roman" panose="02020603050405020304" pitchFamily="18" charset="0"/>
            </a:endParaRPr>
          </a:p>
        </p:txBody>
      </p:sp>
      <p:sp>
        <p:nvSpPr>
          <p:cNvPr id="7" name="文本框 6">
            <a:extLst>
              <a:ext uri="{FF2B5EF4-FFF2-40B4-BE49-F238E27FC236}">
                <a16:creationId xmlns:a16="http://schemas.microsoft.com/office/drawing/2014/main" xmlns="" id="{0F48F14C-5140-553C-4174-29F6791EEBB8}"/>
              </a:ext>
            </a:extLst>
          </p:cNvPr>
          <p:cNvSpPr txBox="1"/>
          <p:nvPr/>
        </p:nvSpPr>
        <p:spPr>
          <a:xfrm>
            <a:off x="188658" y="1677489"/>
            <a:ext cx="8828732" cy="707886"/>
          </a:xfrm>
          <a:prstGeom prst="rect">
            <a:avLst/>
          </a:prstGeom>
          <a:noFill/>
        </p:spPr>
        <p:txBody>
          <a:bodyPr wrap="square" rtlCol="0">
            <a:spAutoFit/>
          </a:bodyPr>
          <a:lstStyle/>
          <a:p>
            <a:pPr rtl="1">
              <a:lnSpc>
                <a:spcPct val="100000"/>
              </a:lnSpc>
              <a:spcBef>
                <a:spcPct val="50000"/>
              </a:spcBef>
            </a:pPr>
            <a:r>
              <a:rPr lang="zh-CN" altLang="en-US" sz="2000" dirty="0">
                <a:ln w="0"/>
                <a:effectLst>
                  <a:outerShdw blurRad="38100" dist="19050" dir="2700000" algn="tl" rotWithShape="0">
                    <a:schemeClr val="dk1">
                      <a:alpha val="40000"/>
                    </a:schemeClr>
                  </a:outerShdw>
                </a:effectLst>
                <a:latin typeface="+mn-ea"/>
                <a:ea typeface="+mn-ea"/>
                <a:cs typeface="Times New Roman" panose="02020603050405020304" pitchFamily="18" charset="0"/>
              </a:rPr>
              <a:t>  “等效”是指电路工作在某一频率时，不管其内部的电路形式如何，从端口看过去其阻抗或者导纳是相等的。即</a:t>
            </a:r>
            <a:r>
              <a:rPr lang="en-US" altLang="zh-CN" sz="2000" dirty="0">
                <a:ln w="0"/>
                <a:effectLst>
                  <a:outerShdw blurRad="38100" dist="19050" dir="2700000" algn="tl" rotWithShape="0">
                    <a:schemeClr val="dk1">
                      <a:alpha val="40000"/>
                    </a:schemeClr>
                  </a:outerShdw>
                </a:effectLst>
                <a:latin typeface="+mn-ea"/>
                <a:ea typeface="+mn-ea"/>
                <a:cs typeface="Times New Roman" panose="02020603050405020304" pitchFamily="18" charset="0"/>
              </a:rPr>
              <a:t>AB</a:t>
            </a:r>
            <a:r>
              <a:rPr lang="zh-CN" altLang="en-US" sz="2000" dirty="0">
                <a:ln w="0"/>
                <a:effectLst>
                  <a:outerShdw blurRad="38100" dist="19050" dir="2700000" algn="tl" rotWithShape="0">
                    <a:schemeClr val="dk1">
                      <a:alpha val="40000"/>
                    </a:schemeClr>
                  </a:outerShdw>
                </a:effectLst>
                <a:latin typeface="+mn-ea"/>
                <a:ea typeface="+mn-ea"/>
                <a:cs typeface="Times New Roman" panose="02020603050405020304" pitchFamily="18" charset="0"/>
              </a:rPr>
              <a:t>两端的阻抗相等。 </a:t>
            </a:r>
          </a:p>
        </p:txBody>
      </p:sp>
      <p:graphicFrame>
        <p:nvGraphicFramePr>
          <p:cNvPr id="8" name="对象 7">
            <a:extLst>
              <a:ext uri="{FF2B5EF4-FFF2-40B4-BE49-F238E27FC236}">
                <a16:creationId xmlns:a16="http://schemas.microsoft.com/office/drawing/2014/main" xmlns="" id="{4909C467-3604-252D-22E3-7F3AFACC5BE0}"/>
              </a:ext>
            </a:extLst>
          </p:cNvPr>
          <p:cNvGraphicFramePr>
            <a:graphicFrameLocks noChangeAspect="1"/>
          </p:cNvGraphicFramePr>
          <p:nvPr>
            <p:extLst>
              <p:ext uri="{D42A27DB-BD31-4B8C-83A1-F6EECF244321}">
                <p14:modId xmlns:p14="http://schemas.microsoft.com/office/powerpoint/2010/main" val="2572373528"/>
              </p:ext>
            </p:extLst>
          </p:nvPr>
        </p:nvGraphicFramePr>
        <p:xfrm>
          <a:off x="652245" y="2536025"/>
          <a:ext cx="5113337" cy="871537"/>
        </p:xfrm>
        <a:graphic>
          <a:graphicData uri="http://schemas.openxmlformats.org/presentationml/2006/ole">
            <mc:AlternateContent xmlns:mc="http://schemas.openxmlformats.org/markup-compatibility/2006">
              <mc:Choice xmlns:v="urn:schemas-microsoft-com:vml" Requires="v">
                <p:oleObj spid="_x0000_s20812" name="Equation" r:id="rId3" imgW="5113101" imgH="871951" progId="Equation.DSMT4">
                  <p:embed/>
                </p:oleObj>
              </mc:Choice>
              <mc:Fallback>
                <p:oleObj name="Equation" r:id="rId3" imgW="5113101" imgH="871951" progId="Equation.DSMT4">
                  <p:embed/>
                  <p:pic>
                    <p:nvPicPr>
                      <p:cNvPr id="0" name=""/>
                      <p:cNvPicPr/>
                      <p:nvPr/>
                    </p:nvPicPr>
                    <p:blipFill>
                      <a:blip r:embed="rId4"/>
                      <a:stretch>
                        <a:fillRect/>
                      </a:stretch>
                    </p:blipFill>
                    <p:spPr>
                      <a:xfrm>
                        <a:off x="652245" y="2536025"/>
                        <a:ext cx="5113337" cy="871537"/>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xmlns="" id="{738CFE36-52E2-9CC0-04AD-EEEAA459EE0E}"/>
              </a:ext>
            </a:extLst>
          </p:cNvPr>
          <p:cNvGraphicFramePr>
            <a:graphicFrameLocks noChangeAspect="1"/>
          </p:cNvGraphicFramePr>
          <p:nvPr>
            <p:extLst>
              <p:ext uri="{D42A27DB-BD31-4B8C-83A1-F6EECF244321}">
                <p14:modId xmlns:p14="http://schemas.microsoft.com/office/powerpoint/2010/main" val="187449149"/>
              </p:ext>
            </p:extLst>
          </p:nvPr>
        </p:nvGraphicFramePr>
        <p:xfrm>
          <a:off x="1093607" y="3370875"/>
          <a:ext cx="1582737" cy="857250"/>
        </p:xfrm>
        <a:graphic>
          <a:graphicData uri="http://schemas.openxmlformats.org/presentationml/2006/ole">
            <mc:AlternateContent xmlns:mc="http://schemas.openxmlformats.org/markup-compatibility/2006">
              <mc:Choice xmlns:v="urn:schemas-microsoft-com:vml" Requires="v">
                <p:oleObj spid="_x0000_s20813" name="Equation" r:id="rId5" imgW="1583398" imgH="856471" progId="Equation.DSMT4">
                  <p:embed/>
                </p:oleObj>
              </mc:Choice>
              <mc:Fallback>
                <p:oleObj name="Equation" r:id="rId5" imgW="1583398" imgH="856471" progId="Equation.DSMT4">
                  <p:embed/>
                  <p:pic>
                    <p:nvPicPr>
                      <p:cNvPr id="0" name=""/>
                      <p:cNvPicPr/>
                      <p:nvPr/>
                    </p:nvPicPr>
                    <p:blipFill>
                      <a:blip r:embed="rId6"/>
                      <a:stretch>
                        <a:fillRect/>
                      </a:stretch>
                    </p:blipFill>
                    <p:spPr>
                      <a:xfrm>
                        <a:off x="1093607" y="3370875"/>
                        <a:ext cx="1582737" cy="857250"/>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xmlns="" id="{918D05BC-C5C4-0A67-3A23-095AFE848018}"/>
              </a:ext>
            </a:extLst>
          </p:cNvPr>
          <p:cNvGraphicFramePr>
            <a:graphicFrameLocks noChangeAspect="1"/>
          </p:cNvGraphicFramePr>
          <p:nvPr>
            <p:extLst>
              <p:ext uri="{D42A27DB-BD31-4B8C-83A1-F6EECF244321}">
                <p14:modId xmlns:p14="http://schemas.microsoft.com/office/powerpoint/2010/main" val="2670873114"/>
              </p:ext>
            </p:extLst>
          </p:nvPr>
        </p:nvGraphicFramePr>
        <p:xfrm>
          <a:off x="3514580" y="3453522"/>
          <a:ext cx="1582737" cy="800100"/>
        </p:xfrm>
        <a:graphic>
          <a:graphicData uri="http://schemas.openxmlformats.org/presentationml/2006/ole">
            <mc:AlternateContent xmlns:mc="http://schemas.openxmlformats.org/markup-compatibility/2006">
              <mc:Choice xmlns:v="urn:schemas-microsoft-com:vml" Requires="v">
                <p:oleObj spid="_x0000_s20814" name="Equation" r:id="rId7" imgW="1583398" imgH="800309" progId="Equation.DSMT4">
                  <p:embed/>
                </p:oleObj>
              </mc:Choice>
              <mc:Fallback>
                <p:oleObj name="Equation" r:id="rId7" imgW="1583398" imgH="800309" progId="Equation.DSMT4">
                  <p:embed/>
                  <p:pic>
                    <p:nvPicPr>
                      <p:cNvPr id="0" name=""/>
                      <p:cNvPicPr/>
                      <p:nvPr/>
                    </p:nvPicPr>
                    <p:blipFill>
                      <a:blip r:embed="rId8"/>
                      <a:stretch>
                        <a:fillRect/>
                      </a:stretch>
                    </p:blipFill>
                    <p:spPr>
                      <a:xfrm>
                        <a:off x="3514580" y="3453522"/>
                        <a:ext cx="1582737" cy="800100"/>
                      </a:xfrm>
                      <a:prstGeom prst="rect">
                        <a:avLst/>
                      </a:prstGeom>
                    </p:spPr>
                  </p:pic>
                </p:oleObj>
              </mc:Fallback>
            </mc:AlternateContent>
          </a:graphicData>
        </a:graphic>
      </p:graphicFrame>
      <p:pic>
        <p:nvPicPr>
          <p:cNvPr id="11" name="图片 432131" descr="208B">
            <a:extLst>
              <a:ext uri="{FF2B5EF4-FFF2-40B4-BE49-F238E27FC236}">
                <a16:creationId xmlns:a16="http://schemas.microsoft.com/office/drawing/2014/main" xmlns="" id="{BC2E7AB4-19DB-6EF3-3236-378D6E705179}"/>
              </a:ext>
            </a:extLst>
          </p:cNvPr>
          <p:cNvPicPr>
            <a:picLocks noChangeAspect="1"/>
          </p:cNvPicPr>
          <p:nvPr/>
        </p:nvPicPr>
        <p:blipFill>
          <a:blip r:embed="rId9"/>
          <a:stretch>
            <a:fillRect/>
          </a:stretch>
        </p:blipFill>
        <p:spPr>
          <a:xfrm>
            <a:off x="6034563" y="2587738"/>
            <a:ext cx="2843213" cy="2684463"/>
          </a:xfrm>
          <a:prstGeom prst="rect">
            <a:avLst/>
          </a:prstGeom>
          <a:noFill/>
          <a:ln w="9525">
            <a:noFill/>
          </a:ln>
        </p:spPr>
      </p:pic>
      <p:sp>
        <p:nvSpPr>
          <p:cNvPr id="12" name="文本框 11">
            <a:extLst>
              <a:ext uri="{FF2B5EF4-FFF2-40B4-BE49-F238E27FC236}">
                <a16:creationId xmlns:a16="http://schemas.microsoft.com/office/drawing/2014/main" xmlns="" id="{64DC43FB-09B1-FE07-CCC8-327FA219590E}"/>
              </a:ext>
            </a:extLst>
          </p:cNvPr>
          <p:cNvSpPr txBox="1"/>
          <p:nvPr/>
        </p:nvSpPr>
        <p:spPr>
          <a:xfrm>
            <a:off x="255370" y="4273823"/>
            <a:ext cx="4891247" cy="861774"/>
          </a:xfrm>
          <a:prstGeom prst="rect">
            <a:avLst/>
          </a:prstGeom>
          <a:noFill/>
        </p:spPr>
        <p:txBody>
          <a:bodyPr wrap="square" rtlCol="0">
            <a:spAutoFit/>
          </a:bodyPr>
          <a:lstStyle/>
          <a:p>
            <a:pPr rtl="1">
              <a:lnSpc>
                <a:spcPct val="100000"/>
              </a:lnSpc>
              <a:spcBef>
                <a:spcPct val="50000"/>
              </a:spcBef>
            </a:pPr>
            <a:r>
              <a:rPr lang="zh-CN" altLang="en-US" sz="2000" dirty="0">
                <a:ln w="0"/>
                <a:effectLst>
                  <a:outerShdw blurRad="38100" dist="19050" dir="2700000" algn="tl" rotWithShape="0">
                    <a:schemeClr val="dk1">
                      <a:alpha val="40000"/>
                    </a:schemeClr>
                  </a:outerShdw>
                </a:effectLst>
                <a:latin typeface="+mn-ea"/>
                <a:ea typeface="+mn-ea"/>
                <a:cs typeface="Times New Roman" panose="02020603050405020304" pitchFamily="18" charset="0"/>
              </a:rPr>
              <a:t>串联回路的品质因数           </a:t>
            </a:r>
            <a:r>
              <a:rPr lang="en-US" altLang="zh-CN" sz="2000" dirty="0">
                <a:ln w="0"/>
                <a:effectLst>
                  <a:outerShdw blurRad="38100" dist="19050" dir="2700000" algn="tl" rotWithShape="0">
                    <a:schemeClr val="dk1">
                      <a:alpha val="40000"/>
                    </a:schemeClr>
                  </a:outerShdw>
                </a:effectLst>
                <a:latin typeface="+mn-ea"/>
                <a:ea typeface="+mn-ea"/>
                <a:cs typeface="Times New Roman" panose="02020603050405020304" pitchFamily="18" charset="0"/>
              </a:rPr>
              <a:t>,</a:t>
            </a:r>
            <a:r>
              <a:rPr lang="zh-CN" altLang="en-US" sz="2000" dirty="0">
                <a:ln w="0"/>
                <a:effectLst>
                  <a:outerShdw blurRad="38100" dist="19050" dir="2700000" algn="tl" rotWithShape="0">
                    <a:schemeClr val="dk1">
                      <a:alpha val="40000"/>
                    </a:schemeClr>
                  </a:outerShdw>
                </a:effectLst>
                <a:latin typeface="+mn-ea"/>
                <a:ea typeface="+mn-ea"/>
                <a:cs typeface="Times New Roman" panose="02020603050405020304" pitchFamily="18" charset="0"/>
              </a:rPr>
              <a:t>可得 </a:t>
            </a:r>
          </a:p>
          <a:p>
            <a:pPr rtl="1">
              <a:lnSpc>
                <a:spcPct val="100000"/>
              </a:lnSpc>
              <a:spcBef>
                <a:spcPct val="50000"/>
              </a:spcBef>
            </a:pPr>
            <a:endParaRPr lang="zh-CN" altLang="en-US" sz="2000" dirty="0">
              <a:ln w="0"/>
              <a:effectLst>
                <a:outerShdw blurRad="38100" dist="19050" dir="2700000" algn="tl" rotWithShape="0">
                  <a:schemeClr val="dk1">
                    <a:alpha val="40000"/>
                  </a:schemeClr>
                </a:outerShdw>
              </a:effectLst>
              <a:latin typeface="+mn-ea"/>
              <a:ea typeface="+mn-ea"/>
              <a:cs typeface="Times New Roman" panose="02020603050405020304" pitchFamily="18" charset="0"/>
            </a:endParaRPr>
          </a:p>
        </p:txBody>
      </p:sp>
      <p:graphicFrame>
        <p:nvGraphicFramePr>
          <p:cNvPr id="13" name="对象 12">
            <a:extLst>
              <a:ext uri="{FF2B5EF4-FFF2-40B4-BE49-F238E27FC236}">
                <a16:creationId xmlns:a16="http://schemas.microsoft.com/office/drawing/2014/main" xmlns="" id="{5FFFBD04-DF24-482D-0A06-DCE6D3683CCA}"/>
              </a:ext>
            </a:extLst>
          </p:cNvPr>
          <p:cNvGraphicFramePr>
            <a:graphicFrameLocks noChangeAspect="1"/>
          </p:cNvGraphicFramePr>
          <p:nvPr>
            <p:extLst>
              <p:ext uri="{D42A27DB-BD31-4B8C-83A1-F6EECF244321}">
                <p14:modId xmlns:p14="http://schemas.microsoft.com/office/powerpoint/2010/main" val="3793244710"/>
              </p:ext>
            </p:extLst>
          </p:nvPr>
        </p:nvGraphicFramePr>
        <p:xfrm>
          <a:off x="2676344" y="4302898"/>
          <a:ext cx="1296987" cy="414337"/>
        </p:xfrm>
        <a:graphic>
          <a:graphicData uri="http://schemas.openxmlformats.org/presentationml/2006/ole">
            <mc:AlternateContent xmlns:mc="http://schemas.openxmlformats.org/markup-compatibility/2006">
              <mc:Choice xmlns:v="urn:schemas-microsoft-com:vml" Requires="v">
                <p:oleObj spid="_x0000_s20815" name="Equation" r:id="rId10" imgW="1297177" imgH="414735" progId="Equation.DSMT4">
                  <p:embed/>
                </p:oleObj>
              </mc:Choice>
              <mc:Fallback>
                <p:oleObj name="Equation" r:id="rId10" imgW="1297177" imgH="414735" progId="Equation.DSMT4">
                  <p:embed/>
                  <p:pic>
                    <p:nvPicPr>
                      <p:cNvPr id="0" name=""/>
                      <p:cNvPicPr/>
                      <p:nvPr/>
                    </p:nvPicPr>
                    <p:blipFill>
                      <a:blip r:embed="rId11"/>
                      <a:stretch>
                        <a:fillRect/>
                      </a:stretch>
                    </p:blipFill>
                    <p:spPr>
                      <a:xfrm>
                        <a:off x="2676344" y="4302898"/>
                        <a:ext cx="1296987" cy="414337"/>
                      </a:xfrm>
                      <a:prstGeom prst="rect">
                        <a:avLst/>
                      </a:prstGeom>
                    </p:spPr>
                  </p:pic>
                </p:oleObj>
              </mc:Fallback>
            </mc:AlternateContent>
          </a:graphicData>
        </a:graphic>
      </p:graphicFrame>
      <p:graphicFrame>
        <p:nvGraphicFramePr>
          <p:cNvPr id="14" name="对象 13">
            <a:extLst>
              <a:ext uri="{FF2B5EF4-FFF2-40B4-BE49-F238E27FC236}">
                <a16:creationId xmlns:a16="http://schemas.microsoft.com/office/drawing/2014/main" xmlns="" id="{8BEFEDD3-3B7A-6FC5-DADD-74315E152E9E}"/>
              </a:ext>
            </a:extLst>
          </p:cNvPr>
          <p:cNvGraphicFramePr>
            <a:graphicFrameLocks noChangeAspect="1"/>
          </p:cNvGraphicFramePr>
          <p:nvPr>
            <p:extLst>
              <p:ext uri="{D42A27DB-BD31-4B8C-83A1-F6EECF244321}">
                <p14:modId xmlns:p14="http://schemas.microsoft.com/office/powerpoint/2010/main" val="2646092024"/>
              </p:ext>
            </p:extLst>
          </p:nvPr>
        </p:nvGraphicFramePr>
        <p:xfrm>
          <a:off x="481625" y="4838610"/>
          <a:ext cx="2806700" cy="811213"/>
        </p:xfrm>
        <a:graphic>
          <a:graphicData uri="http://schemas.openxmlformats.org/presentationml/2006/ole">
            <mc:AlternateContent xmlns:mc="http://schemas.openxmlformats.org/markup-compatibility/2006">
              <mc:Choice xmlns:v="urn:schemas-microsoft-com:vml" Requires="v">
                <p:oleObj spid="_x0000_s20816" name="Equation" r:id="rId12" imgW="2807489" imgH="810749" progId="Equation.DSMT4">
                  <p:embed/>
                </p:oleObj>
              </mc:Choice>
              <mc:Fallback>
                <p:oleObj name="Equation" r:id="rId12" imgW="2807489" imgH="810749" progId="Equation.DSMT4">
                  <p:embed/>
                  <p:pic>
                    <p:nvPicPr>
                      <p:cNvPr id="0" name=""/>
                      <p:cNvPicPr/>
                      <p:nvPr/>
                    </p:nvPicPr>
                    <p:blipFill>
                      <a:blip r:embed="rId13"/>
                      <a:stretch>
                        <a:fillRect/>
                      </a:stretch>
                    </p:blipFill>
                    <p:spPr>
                      <a:xfrm>
                        <a:off x="481625" y="4838610"/>
                        <a:ext cx="2806700" cy="811213"/>
                      </a:xfrm>
                      <a:prstGeom prst="rect">
                        <a:avLst/>
                      </a:prstGeom>
                    </p:spPr>
                  </p:pic>
                </p:oleObj>
              </mc:Fallback>
            </mc:AlternateContent>
          </a:graphicData>
        </a:graphic>
      </p:graphicFrame>
      <p:sp>
        <p:nvSpPr>
          <p:cNvPr id="15" name="文本框 14">
            <a:extLst>
              <a:ext uri="{FF2B5EF4-FFF2-40B4-BE49-F238E27FC236}">
                <a16:creationId xmlns:a16="http://schemas.microsoft.com/office/drawing/2014/main" xmlns="" id="{B28AC606-54DB-EB7A-6D23-729D49EF159C}"/>
              </a:ext>
            </a:extLst>
          </p:cNvPr>
          <p:cNvSpPr txBox="1"/>
          <p:nvPr/>
        </p:nvSpPr>
        <p:spPr>
          <a:xfrm>
            <a:off x="5980005" y="5589671"/>
            <a:ext cx="2952328" cy="400110"/>
          </a:xfrm>
          <a:prstGeom prst="rect">
            <a:avLst/>
          </a:prstGeom>
          <a:noFill/>
        </p:spPr>
        <p:txBody>
          <a:bodyPr wrap="square" rtlCol="0">
            <a:spAutoFit/>
          </a:bodyPr>
          <a:lstStyle/>
          <a:p>
            <a:pPr rtl="1">
              <a:lnSpc>
                <a:spcPct val="100000"/>
              </a:lnSpc>
              <a:spcBef>
                <a:spcPct val="50000"/>
              </a:spcBef>
            </a:pPr>
            <a:r>
              <a:rPr lang="zh-CN" altLang="en-US" sz="2000" dirty="0">
                <a:ln w="0"/>
                <a:effectLst>
                  <a:outerShdw blurRad="38100" dist="19050" dir="2700000" algn="tl" rotWithShape="0">
                    <a:schemeClr val="dk1">
                      <a:alpha val="40000"/>
                    </a:schemeClr>
                  </a:outerShdw>
                </a:effectLst>
                <a:latin typeface="+mn-ea"/>
                <a:ea typeface="+mn-ea"/>
              </a:rPr>
              <a:t>为并联回路的品质因数</a:t>
            </a:r>
            <a:endParaRPr lang="zh-CN" altLang="en-US" sz="2000" dirty="0">
              <a:ln w="0"/>
              <a:effectLst>
                <a:outerShdw blurRad="38100" dist="19050" dir="2700000" algn="tl" rotWithShape="0">
                  <a:schemeClr val="dk1">
                    <a:alpha val="40000"/>
                  </a:schemeClr>
                </a:outerShdw>
              </a:effectLst>
              <a:latin typeface="+mn-ea"/>
              <a:ea typeface="+mn-ea"/>
              <a:cs typeface="Times New Roman" panose="02020603050405020304" pitchFamily="18" charset="0"/>
            </a:endParaRPr>
          </a:p>
        </p:txBody>
      </p:sp>
      <p:graphicFrame>
        <p:nvGraphicFramePr>
          <p:cNvPr id="16" name="对象 15">
            <a:extLst>
              <a:ext uri="{FF2B5EF4-FFF2-40B4-BE49-F238E27FC236}">
                <a16:creationId xmlns:a16="http://schemas.microsoft.com/office/drawing/2014/main" xmlns="" id="{8A40809B-0A69-AF35-4F5D-5FB4A283CD98}"/>
              </a:ext>
            </a:extLst>
          </p:cNvPr>
          <p:cNvGraphicFramePr>
            <a:graphicFrameLocks noChangeAspect="1"/>
          </p:cNvGraphicFramePr>
          <p:nvPr>
            <p:extLst>
              <p:ext uri="{D42A27DB-BD31-4B8C-83A1-F6EECF244321}">
                <p14:modId xmlns:p14="http://schemas.microsoft.com/office/powerpoint/2010/main" val="531458537"/>
              </p:ext>
            </p:extLst>
          </p:nvPr>
        </p:nvGraphicFramePr>
        <p:xfrm>
          <a:off x="5612825" y="5589671"/>
          <a:ext cx="393700" cy="431800"/>
        </p:xfrm>
        <a:graphic>
          <a:graphicData uri="http://schemas.openxmlformats.org/presentationml/2006/ole">
            <mc:AlternateContent xmlns:mc="http://schemas.openxmlformats.org/markup-compatibility/2006">
              <mc:Choice xmlns:v="urn:schemas-microsoft-com:vml" Requires="v">
                <p:oleObj spid="_x0000_s20817" name="Equation" r:id="rId14" imgW="393509" imgH="431295" progId="Equation.DSMT4">
                  <p:embed/>
                </p:oleObj>
              </mc:Choice>
              <mc:Fallback>
                <p:oleObj name="Equation" r:id="rId14" imgW="393509" imgH="431295" progId="Equation.DSMT4">
                  <p:embed/>
                  <p:pic>
                    <p:nvPicPr>
                      <p:cNvPr id="0" name=""/>
                      <p:cNvPicPr/>
                      <p:nvPr/>
                    </p:nvPicPr>
                    <p:blipFill>
                      <a:blip r:embed="rId15"/>
                      <a:stretch>
                        <a:fillRect/>
                      </a:stretch>
                    </p:blipFill>
                    <p:spPr>
                      <a:xfrm>
                        <a:off x="5612825" y="5589671"/>
                        <a:ext cx="393700" cy="431800"/>
                      </a:xfrm>
                      <a:prstGeom prst="rect">
                        <a:avLst/>
                      </a:prstGeom>
                    </p:spPr>
                  </p:pic>
                </p:oleObj>
              </mc:Fallback>
            </mc:AlternateContent>
          </a:graphicData>
        </a:graphic>
      </p:graphicFrame>
    </p:spTree>
    <p:extLst>
      <p:ext uri="{BB962C8B-B14F-4D97-AF65-F5344CB8AC3E}">
        <p14:creationId xmlns:p14="http://schemas.microsoft.com/office/powerpoint/2010/main" val="3762795700"/>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40</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2.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高频</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基础</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电路</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内容占位符 7170">
            <a:extLst>
              <a:ext uri="{FF2B5EF4-FFF2-40B4-BE49-F238E27FC236}">
                <a16:creationId xmlns:a16="http://schemas.microsoft.com/office/drawing/2014/main" xmlns="" id="{C44880FD-61B2-F794-2ED8-BC6EE71F686E}"/>
              </a:ext>
            </a:extLst>
          </p:cNvPr>
          <p:cNvSpPr/>
          <p:nvPr/>
        </p:nvSpPr>
        <p:spPr>
          <a:xfrm>
            <a:off x="539552" y="1412775"/>
            <a:ext cx="8353425" cy="3672409"/>
          </a:xfrm>
          <a:prstGeom prst="rect">
            <a:avLst/>
          </a:prstGeom>
          <a:noFill/>
          <a:ln w="9525">
            <a:noFill/>
          </a:ln>
        </p:spPr>
        <p:txBody>
          <a:bodyPr/>
          <a:lstStyle/>
          <a:p>
            <a:pPr>
              <a:lnSpc>
                <a:spcPct val="120000"/>
              </a:lnSpc>
              <a:spcBef>
                <a:spcPts val="1200"/>
              </a:spcBef>
              <a:spcAft>
                <a:spcPts val="1200"/>
              </a:spcAft>
              <a:buClr>
                <a:schemeClr val="folHlink"/>
              </a:buClr>
              <a:buSzPct val="60000"/>
              <a:defRPr/>
            </a:pPr>
            <a:endParaRPr lang="zh-CN" altLang="en-US" dirty="0">
              <a:ln w="0"/>
              <a:effectLst>
                <a:glow rad="63500">
                  <a:schemeClr val="accent3">
                    <a:satMod val="175000"/>
                    <a:alpha val="40000"/>
                  </a:schemeClr>
                </a:glow>
              </a:effectLst>
              <a:latin typeface="+mn-ea"/>
              <a:ea typeface="+mn-ea"/>
              <a:cs typeface="Times New Roman" panose="02020603050405020304" pitchFamily="18" charset="0"/>
            </a:endParaRPr>
          </a:p>
        </p:txBody>
      </p:sp>
      <p:sp>
        <p:nvSpPr>
          <p:cNvPr id="6" name="文本框 5">
            <a:extLst>
              <a:ext uri="{FF2B5EF4-FFF2-40B4-BE49-F238E27FC236}">
                <a16:creationId xmlns:a16="http://schemas.microsoft.com/office/drawing/2014/main" xmlns="" id="{6E88A536-8E14-01BE-8B43-FCD31CCFCF46}"/>
              </a:ext>
            </a:extLst>
          </p:cNvPr>
          <p:cNvSpPr txBox="1"/>
          <p:nvPr/>
        </p:nvSpPr>
        <p:spPr>
          <a:xfrm>
            <a:off x="539552" y="3837328"/>
            <a:ext cx="8420137" cy="1169551"/>
          </a:xfrm>
          <a:prstGeom prst="rect">
            <a:avLst/>
          </a:prstGeom>
          <a:noFill/>
        </p:spPr>
        <p:txBody>
          <a:bodyPr wrap="square" rtlCol="0">
            <a:spAutoFit/>
          </a:bodyPr>
          <a:lstStyle/>
          <a:p>
            <a:pPr rtl="1">
              <a:lnSpc>
                <a:spcPct val="100000"/>
              </a:lnSpc>
              <a:spcBef>
                <a:spcPct val="50000"/>
              </a:spcBef>
            </a:pPr>
            <a:r>
              <a:rPr lang="zh-CN" altLang="en-US" sz="2000" dirty="0">
                <a:ln w="0"/>
                <a:effectLst>
                  <a:outerShdw blurRad="38100" dist="19050" dir="2700000" algn="tl" rotWithShape="0">
                    <a:schemeClr val="dk1">
                      <a:alpha val="40000"/>
                    </a:schemeClr>
                  </a:outerShdw>
                </a:effectLst>
                <a:latin typeface="+mn-ea"/>
                <a:ea typeface="+mn-ea"/>
                <a:cs typeface="Times New Roman" panose="02020603050405020304" pitchFamily="18" charset="0"/>
              </a:rPr>
              <a:t>串联电路转换为等效并联电路后， 为串联电路  的   倍，而  与串联电路  相同，  保持不变。</a:t>
            </a:r>
          </a:p>
          <a:p>
            <a:pPr rtl="1">
              <a:lnSpc>
                <a:spcPct val="100000"/>
              </a:lnSpc>
              <a:spcBef>
                <a:spcPct val="50000"/>
              </a:spcBef>
            </a:pPr>
            <a:endParaRPr lang="zh-CN" altLang="en-US" sz="2000" dirty="0">
              <a:ln w="0"/>
              <a:effectLst>
                <a:outerShdw blurRad="38100" dist="19050" dir="2700000" algn="tl" rotWithShape="0">
                  <a:schemeClr val="dk1">
                    <a:alpha val="40000"/>
                  </a:schemeClr>
                </a:outerShdw>
              </a:effectLst>
              <a:latin typeface="+mn-ea"/>
              <a:ea typeface="+mn-ea"/>
              <a:cs typeface="Times New Roman" panose="02020603050405020304" pitchFamily="18" charset="0"/>
            </a:endParaRPr>
          </a:p>
        </p:txBody>
      </p:sp>
      <p:sp>
        <p:nvSpPr>
          <p:cNvPr id="7" name="文本框 6">
            <a:extLst>
              <a:ext uri="{FF2B5EF4-FFF2-40B4-BE49-F238E27FC236}">
                <a16:creationId xmlns:a16="http://schemas.microsoft.com/office/drawing/2014/main" xmlns="" id="{00F1263B-3B39-EC15-ADB3-740570CFD7F1}"/>
              </a:ext>
            </a:extLst>
          </p:cNvPr>
          <p:cNvSpPr txBox="1"/>
          <p:nvPr/>
        </p:nvSpPr>
        <p:spPr>
          <a:xfrm>
            <a:off x="726424" y="1466780"/>
            <a:ext cx="792088" cy="400110"/>
          </a:xfrm>
          <a:prstGeom prst="rect">
            <a:avLst/>
          </a:prstGeom>
          <a:noFill/>
        </p:spPr>
        <p:txBody>
          <a:bodyPr wrap="square" rtlCol="0">
            <a:spAutoFit/>
          </a:bodyPr>
          <a:lstStyle/>
          <a:p>
            <a:r>
              <a:rPr lang="zh-CN" altLang="en-US" sz="2000" dirty="0"/>
              <a:t>可得</a:t>
            </a:r>
          </a:p>
        </p:txBody>
      </p:sp>
      <p:pic>
        <p:nvPicPr>
          <p:cNvPr id="8" name="图片 433186">
            <a:extLst>
              <a:ext uri="{FF2B5EF4-FFF2-40B4-BE49-F238E27FC236}">
                <a16:creationId xmlns:a16="http://schemas.microsoft.com/office/drawing/2014/main" xmlns="" id="{1CA10FAB-B04D-D0A1-CC6F-2A395B60FFB3}"/>
              </a:ext>
            </a:extLst>
          </p:cNvPr>
          <p:cNvPicPr>
            <a:picLocks noChangeAspect="1"/>
          </p:cNvPicPr>
          <p:nvPr/>
        </p:nvPicPr>
        <p:blipFill>
          <a:blip r:embed="rId3"/>
          <a:stretch>
            <a:fillRect/>
          </a:stretch>
        </p:blipFill>
        <p:spPr>
          <a:xfrm>
            <a:off x="1511883" y="1230228"/>
            <a:ext cx="4679950" cy="1379538"/>
          </a:xfrm>
          <a:prstGeom prst="rect">
            <a:avLst/>
          </a:prstGeom>
          <a:noFill/>
          <a:ln w="9525">
            <a:noFill/>
          </a:ln>
        </p:spPr>
      </p:pic>
      <p:sp>
        <p:nvSpPr>
          <p:cNvPr id="9" name="文本框 8">
            <a:extLst>
              <a:ext uri="{FF2B5EF4-FFF2-40B4-BE49-F238E27FC236}">
                <a16:creationId xmlns:a16="http://schemas.microsoft.com/office/drawing/2014/main" xmlns="" id="{A060BD70-B42C-88BB-D797-4A9D920E5577}"/>
              </a:ext>
            </a:extLst>
          </p:cNvPr>
          <p:cNvSpPr txBox="1"/>
          <p:nvPr/>
        </p:nvSpPr>
        <p:spPr>
          <a:xfrm>
            <a:off x="779332" y="2542818"/>
            <a:ext cx="792088" cy="400110"/>
          </a:xfrm>
          <a:prstGeom prst="rect">
            <a:avLst/>
          </a:prstGeom>
          <a:noFill/>
        </p:spPr>
        <p:txBody>
          <a:bodyPr wrap="square" rtlCol="0">
            <a:spAutoFit/>
          </a:bodyPr>
          <a:lstStyle/>
          <a:p>
            <a:r>
              <a:rPr lang="zh-CN" altLang="en-US" sz="2000" dirty="0"/>
              <a:t>即</a:t>
            </a:r>
          </a:p>
        </p:txBody>
      </p:sp>
      <p:graphicFrame>
        <p:nvGraphicFramePr>
          <p:cNvPr id="10" name="对象 9">
            <a:extLst>
              <a:ext uri="{FF2B5EF4-FFF2-40B4-BE49-F238E27FC236}">
                <a16:creationId xmlns:a16="http://schemas.microsoft.com/office/drawing/2014/main" xmlns="" id="{9BF840FD-C362-BC8C-D0FA-F94A8B2C4224}"/>
              </a:ext>
            </a:extLst>
          </p:cNvPr>
          <p:cNvGraphicFramePr>
            <a:graphicFrameLocks noChangeAspect="1"/>
          </p:cNvGraphicFramePr>
          <p:nvPr>
            <p:extLst>
              <p:ext uri="{D42A27DB-BD31-4B8C-83A1-F6EECF244321}">
                <p14:modId xmlns:p14="http://schemas.microsoft.com/office/powerpoint/2010/main" val="2074882564"/>
              </p:ext>
            </p:extLst>
          </p:nvPr>
        </p:nvGraphicFramePr>
        <p:xfrm>
          <a:off x="1274191" y="2497604"/>
          <a:ext cx="1943100" cy="490537"/>
        </p:xfrm>
        <a:graphic>
          <a:graphicData uri="http://schemas.openxmlformats.org/presentationml/2006/ole">
            <mc:AlternateContent xmlns:mc="http://schemas.openxmlformats.org/markup-compatibility/2006">
              <mc:Choice xmlns:v="urn:schemas-microsoft-com:vml" Requires="v">
                <p:oleObj spid="_x0000_s22100" name="Equation" r:id="rId4" imgW="1943065" imgH="490698" progId="Equation.DSMT4">
                  <p:embed/>
                </p:oleObj>
              </mc:Choice>
              <mc:Fallback>
                <p:oleObj name="Equation" r:id="rId4" imgW="1943065" imgH="490698" progId="Equation.DSMT4">
                  <p:embed/>
                  <p:pic>
                    <p:nvPicPr>
                      <p:cNvPr id="0" name=""/>
                      <p:cNvPicPr/>
                      <p:nvPr/>
                    </p:nvPicPr>
                    <p:blipFill>
                      <a:blip r:embed="rId5"/>
                      <a:stretch>
                        <a:fillRect/>
                      </a:stretch>
                    </p:blipFill>
                    <p:spPr>
                      <a:xfrm>
                        <a:off x="1274191" y="2497604"/>
                        <a:ext cx="1943100" cy="490537"/>
                      </a:xfrm>
                      <a:prstGeom prst="rect">
                        <a:avLst/>
                      </a:prstGeom>
                    </p:spPr>
                  </p:pic>
                </p:oleObj>
              </mc:Fallback>
            </mc:AlternateContent>
          </a:graphicData>
        </a:graphic>
      </p:graphicFrame>
      <p:graphicFrame>
        <p:nvGraphicFramePr>
          <p:cNvPr id="11" name="对象 10">
            <a:extLst>
              <a:ext uri="{FF2B5EF4-FFF2-40B4-BE49-F238E27FC236}">
                <a16:creationId xmlns:a16="http://schemas.microsoft.com/office/drawing/2014/main" xmlns="" id="{649B581C-FEE4-2C3D-A070-52DED36A26CD}"/>
              </a:ext>
            </a:extLst>
          </p:cNvPr>
          <p:cNvGraphicFramePr>
            <a:graphicFrameLocks noChangeAspect="1"/>
          </p:cNvGraphicFramePr>
          <p:nvPr>
            <p:extLst>
              <p:ext uri="{D42A27DB-BD31-4B8C-83A1-F6EECF244321}">
                <p14:modId xmlns:p14="http://schemas.microsoft.com/office/powerpoint/2010/main" val="3754303368"/>
              </p:ext>
            </p:extLst>
          </p:nvPr>
        </p:nvGraphicFramePr>
        <p:xfrm>
          <a:off x="3482928" y="2507855"/>
          <a:ext cx="2378075" cy="474663"/>
        </p:xfrm>
        <a:graphic>
          <a:graphicData uri="http://schemas.openxmlformats.org/presentationml/2006/ole">
            <mc:AlternateContent xmlns:mc="http://schemas.openxmlformats.org/markup-compatibility/2006">
              <mc:Choice xmlns:v="urn:schemas-microsoft-com:vml" Requires="v">
                <p:oleObj spid="_x0000_s22101" name="Equation" r:id="rId6" imgW="2377617" imgH="474137" progId="Equation.DSMT4">
                  <p:embed/>
                </p:oleObj>
              </mc:Choice>
              <mc:Fallback>
                <p:oleObj name="Equation" r:id="rId6" imgW="2377617" imgH="474137" progId="Equation.DSMT4">
                  <p:embed/>
                  <p:pic>
                    <p:nvPicPr>
                      <p:cNvPr id="0" name=""/>
                      <p:cNvPicPr/>
                      <p:nvPr/>
                    </p:nvPicPr>
                    <p:blipFill>
                      <a:blip r:embed="rId7"/>
                      <a:stretch>
                        <a:fillRect/>
                      </a:stretch>
                    </p:blipFill>
                    <p:spPr>
                      <a:xfrm>
                        <a:off x="3482928" y="2507855"/>
                        <a:ext cx="2378075" cy="474663"/>
                      </a:xfrm>
                      <a:prstGeom prst="rect">
                        <a:avLst/>
                      </a:prstGeom>
                    </p:spPr>
                  </p:pic>
                </p:oleObj>
              </mc:Fallback>
            </mc:AlternateContent>
          </a:graphicData>
        </a:graphic>
      </p:graphicFrame>
      <p:sp>
        <p:nvSpPr>
          <p:cNvPr id="12" name="文本框 11">
            <a:extLst>
              <a:ext uri="{FF2B5EF4-FFF2-40B4-BE49-F238E27FC236}">
                <a16:creationId xmlns:a16="http://schemas.microsoft.com/office/drawing/2014/main" xmlns="" id="{CA3C6BAD-D170-A8A2-C75A-6A7FBE88EBA7}"/>
              </a:ext>
            </a:extLst>
          </p:cNvPr>
          <p:cNvSpPr txBox="1"/>
          <p:nvPr/>
        </p:nvSpPr>
        <p:spPr>
          <a:xfrm>
            <a:off x="779332" y="3093287"/>
            <a:ext cx="792088" cy="400110"/>
          </a:xfrm>
          <a:prstGeom prst="rect">
            <a:avLst/>
          </a:prstGeom>
          <a:noFill/>
        </p:spPr>
        <p:txBody>
          <a:bodyPr wrap="square" rtlCol="0">
            <a:spAutoFit/>
          </a:bodyPr>
          <a:lstStyle/>
          <a:p>
            <a:r>
              <a:rPr lang="zh-CN" altLang="en-US" sz="2000" dirty="0"/>
              <a:t>当</a:t>
            </a:r>
          </a:p>
        </p:txBody>
      </p:sp>
      <p:graphicFrame>
        <p:nvGraphicFramePr>
          <p:cNvPr id="13" name="对象 12">
            <a:extLst>
              <a:ext uri="{FF2B5EF4-FFF2-40B4-BE49-F238E27FC236}">
                <a16:creationId xmlns:a16="http://schemas.microsoft.com/office/drawing/2014/main" xmlns="" id="{4738A615-DFCB-9F73-7F1E-73D0DE7AAEDD}"/>
              </a:ext>
            </a:extLst>
          </p:cNvPr>
          <p:cNvGraphicFramePr>
            <a:graphicFrameLocks noChangeAspect="1"/>
          </p:cNvGraphicFramePr>
          <p:nvPr>
            <p:extLst>
              <p:ext uri="{D42A27DB-BD31-4B8C-83A1-F6EECF244321}">
                <p14:modId xmlns:p14="http://schemas.microsoft.com/office/powerpoint/2010/main" val="2928093619"/>
              </p:ext>
            </p:extLst>
          </p:nvPr>
        </p:nvGraphicFramePr>
        <p:xfrm>
          <a:off x="1240074" y="3091683"/>
          <a:ext cx="1008063" cy="450850"/>
        </p:xfrm>
        <a:graphic>
          <a:graphicData uri="http://schemas.openxmlformats.org/presentationml/2006/ole">
            <mc:AlternateContent xmlns:mc="http://schemas.openxmlformats.org/markup-compatibility/2006">
              <mc:Choice xmlns:v="urn:schemas-microsoft-com:vml" Requires="v">
                <p:oleObj spid="_x0000_s22102" name="Equation" r:id="rId8" imgW="1007355" imgH="451096" progId="Equation.DSMT4">
                  <p:embed/>
                </p:oleObj>
              </mc:Choice>
              <mc:Fallback>
                <p:oleObj name="Equation" r:id="rId8" imgW="1007355" imgH="451096" progId="Equation.DSMT4">
                  <p:embed/>
                  <p:pic>
                    <p:nvPicPr>
                      <p:cNvPr id="0" name=""/>
                      <p:cNvPicPr/>
                      <p:nvPr/>
                    </p:nvPicPr>
                    <p:blipFill>
                      <a:blip r:embed="rId9"/>
                      <a:stretch>
                        <a:fillRect/>
                      </a:stretch>
                    </p:blipFill>
                    <p:spPr>
                      <a:xfrm>
                        <a:off x="1240074" y="3091683"/>
                        <a:ext cx="1008063" cy="450850"/>
                      </a:xfrm>
                      <a:prstGeom prst="rect">
                        <a:avLst/>
                      </a:prstGeom>
                    </p:spPr>
                  </p:pic>
                </p:oleObj>
              </mc:Fallback>
            </mc:AlternateContent>
          </a:graphicData>
        </a:graphic>
      </p:graphicFrame>
      <p:sp>
        <p:nvSpPr>
          <p:cNvPr id="14" name="文本框 13">
            <a:extLst>
              <a:ext uri="{FF2B5EF4-FFF2-40B4-BE49-F238E27FC236}">
                <a16:creationId xmlns:a16="http://schemas.microsoft.com/office/drawing/2014/main" xmlns="" id="{2E6DDAE0-2B34-BDBC-7E1B-DD4F4230C5FE}"/>
              </a:ext>
            </a:extLst>
          </p:cNvPr>
          <p:cNvSpPr txBox="1"/>
          <p:nvPr/>
        </p:nvSpPr>
        <p:spPr>
          <a:xfrm>
            <a:off x="2312835" y="3093287"/>
            <a:ext cx="792088" cy="400110"/>
          </a:xfrm>
          <a:prstGeom prst="rect">
            <a:avLst/>
          </a:prstGeom>
          <a:noFill/>
        </p:spPr>
        <p:txBody>
          <a:bodyPr wrap="square" rtlCol="0">
            <a:spAutoFit/>
          </a:bodyPr>
          <a:lstStyle/>
          <a:p>
            <a:r>
              <a:rPr lang="zh-CN" altLang="en-US" sz="2000" dirty="0"/>
              <a:t>时</a:t>
            </a:r>
          </a:p>
        </p:txBody>
      </p:sp>
      <p:graphicFrame>
        <p:nvGraphicFramePr>
          <p:cNvPr id="15" name="对象 14">
            <a:extLst>
              <a:ext uri="{FF2B5EF4-FFF2-40B4-BE49-F238E27FC236}">
                <a16:creationId xmlns:a16="http://schemas.microsoft.com/office/drawing/2014/main" xmlns="" id="{D875FD7B-C381-B6B6-454D-FAE72611A7CA}"/>
              </a:ext>
            </a:extLst>
          </p:cNvPr>
          <p:cNvGraphicFramePr>
            <a:graphicFrameLocks noChangeAspect="1"/>
          </p:cNvGraphicFramePr>
          <p:nvPr>
            <p:extLst>
              <p:ext uri="{D42A27DB-BD31-4B8C-83A1-F6EECF244321}">
                <p14:modId xmlns:p14="http://schemas.microsoft.com/office/powerpoint/2010/main" val="2209224973"/>
              </p:ext>
            </p:extLst>
          </p:nvPr>
        </p:nvGraphicFramePr>
        <p:xfrm>
          <a:off x="3158137" y="3046485"/>
          <a:ext cx="1295400" cy="493713"/>
        </p:xfrm>
        <a:graphic>
          <a:graphicData uri="http://schemas.openxmlformats.org/presentationml/2006/ole">
            <mc:AlternateContent xmlns:mc="http://schemas.openxmlformats.org/markup-compatibility/2006">
              <mc:Choice xmlns:v="urn:schemas-microsoft-com:vml" Requires="v">
                <p:oleObj spid="_x0000_s22103" name="Equation" r:id="rId10" imgW="1295377" imgH="493938" progId="Equation.DSMT4">
                  <p:embed/>
                </p:oleObj>
              </mc:Choice>
              <mc:Fallback>
                <p:oleObj name="Equation" r:id="rId10" imgW="1295377" imgH="493938" progId="Equation.DSMT4">
                  <p:embed/>
                  <p:pic>
                    <p:nvPicPr>
                      <p:cNvPr id="0" name=""/>
                      <p:cNvPicPr/>
                      <p:nvPr/>
                    </p:nvPicPr>
                    <p:blipFill>
                      <a:blip r:embed="rId11"/>
                      <a:stretch>
                        <a:fillRect/>
                      </a:stretch>
                    </p:blipFill>
                    <p:spPr>
                      <a:xfrm>
                        <a:off x="3158137" y="3046485"/>
                        <a:ext cx="1295400" cy="493713"/>
                      </a:xfrm>
                      <a:prstGeom prst="rect">
                        <a:avLst/>
                      </a:prstGeom>
                    </p:spPr>
                  </p:pic>
                </p:oleObj>
              </mc:Fallback>
            </mc:AlternateContent>
          </a:graphicData>
        </a:graphic>
      </p:graphicFrame>
      <p:graphicFrame>
        <p:nvGraphicFramePr>
          <p:cNvPr id="16" name="对象 15">
            <a:extLst>
              <a:ext uri="{FF2B5EF4-FFF2-40B4-BE49-F238E27FC236}">
                <a16:creationId xmlns:a16="http://schemas.microsoft.com/office/drawing/2014/main" xmlns="" id="{40193D0F-77D2-3390-FB9C-2530203CA3F8}"/>
              </a:ext>
            </a:extLst>
          </p:cNvPr>
          <p:cNvGraphicFramePr>
            <a:graphicFrameLocks noChangeAspect="1"/>
          </p:cNvGraphicFramePr>
          <p:nvPr>
            <p:extLst>
              <p:ext uri="{D42A27DB-BD31-4B8C-83A1-F6EECF244321}">
                <p14:modId xmlns:p14="http://schemas.microsoft.com/office/powerpoint/2010/main" val="906985286"/>
              </p:ext>
            </p:extLst>
          </p:nvPr>
        </p:nvGraphicFramePr>
        <p:xfrm>
          <a:off x="5059073" y="3048868"/>
          <a:ext cx="1150937" cy="474663"/>
        </p:xfrm>
        <a:graphic>
          <a:graphicData uri="http://schemas.openxmlformats.org/presentationml/2006/ole">
            <mc:AlternateContent xmlns:mc="http://schemas.openxmlformats.org/markup-compatibility/2006">
              <mc:Choice xmlns:v="urn:schemas-microsoft-com:vml" Requires="v">
                <p:oleObj spid="_x0000_s22104" name="Equation" r:id="rId12" imgW="1150646" imgH="474137" progId="Equation.DSMT4">
                  <p:embed/>
                </p:oleObj>
              </mc:Choice>
              <mc:Fallback>
                <p:oleObj name="Equation" r:id="rId12" imgW="1150646" imgH="474137" progId="Equation.DSMT4">
                  <p:embed/>
                  <p:pic>
                    <p:nvPicPr>
                      <p:cNvPr id="0" name=""/>
                      <p:cNvPicPr/>
                      <p:nvPr/>
                    </p:nvPicPr>
                    <p:blipFill>
                      <a:blip r:embed="rId13"/>
                      <a:stretch>
                        <a:fillRect/>
                      </a:stretch>
                    </p:blipFill>
                    <p:spPr>
                      <a:xfrm>
                        <a:off x="5059073" y="3048868"/>
                        <a:ext cx="1150937" cy="474663"/>
                      </a:xfrm>
                      <a:prstGeom prst="rect">
                        <a:avLst/>
                      </a:prstGeom>
                    </p:spPr>
                  </p:pic>
                </p:oleObj>
              </mc:Fallback>
            </mc:AlternateContent>
          </a:graphicData>
        </a:graphic>
      </p:graphicFrame>
      <p:graphicFrame>
        <p:nvGraphicFramePr>
          <p:cNvPr id="17" name="对象 16">
            <a:extLst>
              <a:ext uri="{FF2B5EF4-FFF2-40B4-BE49-F238E27FC236}">
                <a16:creationId xmlns:a16="http://schemas.microsoft.com/office/drawing/2014/main" xmlns="" id="{E4C6EDDA-23BB-71D2-6140-BB72D836FEEC}"/>
              </a:ext>
            </a:extLst>
          </p:cNvPr>
          <p:cNvGraphicFramePr>
            <a:graphicFrameLocks noChangeAspect="1"/>
          </p:cNvGraphicFramePr>
          <p:nvPr>
            <p:extLst>
              <p:ext uri="{D42A27DB-BD31-4B8C-83A1-F6EECF244321}">
                <p14:modId xmlns:p14="http://schemas.microsoft.com/office/powerpoint/2010/main" val="4248307028"/>
              </p:ext>
            </p:extLst>
          </p:nvPr>
        </p:nvGraphicFramePr>
        <p:xfrm>
          <a:off x="4244967" y="3873900"/>
          <a:ext cx="376237" cy="431800"/>
        </p:xfrm>
        <a:graphic>
          <a:graphicData uri="http://schemas.openxmlformats.org/presentationml/2006/ole">
            <mc:AlternateContent xmlns:mc="http://schemas.openxmlformats.org/markup-compatibility/2006">
              <mc:Choice xmlns:v="urn:schemas-microsoft-com:vml" Requires="v">
                <p:oleObj spid="_x0000_s22105" name="Equation" r:id="rId14" imgW="376588" imgH="431295" progId="Equation.DSMT4">
                  <p:embed/>
                </p:oleObj>
              </mc:Choice>
              <mc:Fallback>
                <p:oleObj name="Equation" r:id="rId14" imgW="376588" imgH="431295" progId="Equation.DSMT4">
                  <p:embed/>
                  <p:pic>
                    <p:nvPicPr>
                      <p:cNvPr id="0" name=""/>
                      <p:cNvPicPr/>
                      <p:nvPr/>
                    </p:nvPicPr>
                    <p:blipFill>
                      <a:blip r:embed="rId15"/>
                      <a:stretch>
                        <a:fillRect/>
                      </a:stretch>
                    </p:blipFill>
                    <p:spPr>
                      <a:xfrm>
                        <a:off x="4244967" y="3873900"/>
                        <a:ext cx="376237" cy="431800"/>
                      </a:xfrm>
                      <a:prstGeom prst="rect">
                        <a:avLst/>
                      </a:prstGeom>
                    </p:spPr>
                  </p:pic>
                </p:oleObj>
              </mc:Fallback>
            </mc:AlternateContent>
          </a:graphicData>
        </a:graphic>
      </p:graphicFrame>
      <p:graphicFrame>
        <p:nvGraphicFramePr>
          <p:cNvPr id="18" name="对象 17">
            <a:extLst>
              <a:ext uri="{FF2B5EF4-FFF2-40B4-BE49-F238E27FC236}">
                <a16:creationId xmlns:a16="http://schemas.microsoft.com/office/drawing/2014/main" xmlns="" id="{73C45329-18E1-20EE-F8A1-4C4992629DE4}"/>
              </a:ext>
            </a:extLst>
          </p:cNvPr>
          <p:cNvGraphicFramePr>
            <a:graphicFrameLocks noChangeAspect="1"/>
          </p:cNvGraphicFramePr>
          <p:nvPr>
            <p:extLst>
              <p:ext uri="{D42A27DB-BD31-4B8C-83A1-F6EECF244321}">
                <p14:modId xmlns:p14="http://schemas.microsoft.com/office/powerpoint/2010/main" val="3358015079"/>
              </p:ext>
            </p:extLst>
          </p:nvPr>
        </p:nvGraphicFramePr>
        <p:xfrm>
          <a:off x="5858565" y="3790233"/>
          <a:ext cx="285750" cy="506413"/>
        </p:xfrm>
        <a:graphic>
          <a:graphicData uri="http://schemas.openxmlformats.org/presentationml/2006/ole">
            <mc:AlternateContent xmlns:mc="http://schemas.openxmlformats.org/markup-compatibility/2006">
              <mc:Choice xmlns:v="urn:schemas-microsoft-com:vml" Requires="v">
                <p:oleObj spid="_x0000_s22106" name="Equation" r:id="rId16" imgW="285141" imgH="506178" progId="Equation.DSMT4">
                  <p:embed/>
                </p:oleObj>
              </mc:Choice>
              <mc:Fallback>
                <p:oleObj name="Equation" r:id="rId16" imgW="285141" imgH="506178" progId="Equation.DSMT4">
                  <p:embed/>
                  <p:pic>
                    <p:nvPicPr>
                      <p:cNvPr id="0" name=""/>
                      <p:cNvPicPr/>
                      <p:nvPr/>
                    </p:nvPicPr>
                    <p:blipFill>
                      <a:blip r:embed="rId17"/>
                      <a:stretch>
                        <a:fillRect/>
                      </a:stretch>
                    </p:blipFill>
                    <p:spPr>
                      <a:xfrm>
                        <a:off x="5858565" y="3790233"/>
                        <a:ext cx="285750" cy="506413"/>
                      </a:xfrm>
                      <a:prstGeom prst="rect">
                        <a:avLst/>
                      </a:prstGeom>
                    </p:spPr>
                  </p:pic>
                </p:oleObj>
              </mc:Fallback>
            </mc:AlternateContent>
          </a:graphicData>
        </a:graphic>
      </p:graphicFrame>
      <p:graphicFrame>
        <p:nvGraphicFramePr>
          <p:cNvPr id="19" name="对象 18">
            <a:extLst>
              <a:ext uri="{FF2B5EF4-FFF2-40B4-BE49-F238E27FC236}">
                <a16:creationId xmlns:a16="http://schemas.microsoft.com/office/drawing/2014/main" xmlns="" id="{1CDB0A72-83F9-D5AE-40E5-458DCB986416}"/>
              </a:ext>
            </a:extLst>
          </p:cNvPr>
          <p:cNvGraphicFramePr>
            <a:graphicFrameLocks noChangeAspect="1"/>
          </p:cNvGraphicFramePr>
          <p:nvPr>
            <p:extLst>
              <p:ext uri="{D42A27DB-BD31-4B8C-83A1-F6EECF244321}">
                <p14:modId xmlns:p14="http://schemas.microsoft.com/office/powerpoint/2010/main" val="4033006711"/>
              </p:ext>
            </p:extLst>
          </p:nvPr>
        </p:nvGraphicFramePr>
        <p:xfrm>
          <a:off x="6376109" y="3806170"/>
          <a:ext cx="414337" cy="433387"/>
        </p:xfrm>
        <a:graphic>
          <a:graphicData uri="http://schemas.openxmlformats.org/presentationml/2006/ole">
            <mc:AlternateContent xmlns:mc="http://schemas.openxmlformats.org/markup-compatibility/2006">
              <mc:Choice xmlns:v="urn:schemas-microsoft-com:vml" Requires="v">
                <p:oleObj spid="_x0000_s22107" name="Equation" r:id="rId18" imgW="414751" imgH="433096" progId="Equation.DSMT4">
                  <p:embed/>
                </p:oleObj>
              </mc:Choice>
              <mc:Fallback>
                <p:oleObj name="Equation" r:id="rId18" imgW="414751" imgH="433096" progId="Equation.DSMT4">
                  <p:embed/>
                  <p:pic>
                    <p:nvPicPr>
                      <p:cNvPr id="0" name=""/>
                      <p:cNvPicPr/>
                      <p:nvPr/>
                    </p:nvPicPr>
                    <p:blipFill>
                      <a:blip r:embed="rId19"/>
                      <a:stretch>
                        <a:fillRect/>
                      </a:stretch>
                    </p:blipFill>
                    <p:spPr>
                      <a:xfrm>
                        <a:off x="6376109" y="3806170"/>
                        <a:ext cx="414337" cy="433387"/>
                      </a:xfrm>
                      <a:prstGeom prst="rect">
                        <a:avLst/>
                      </a:prstGeom>
                    </p:spPr>
                  </p:pic>
                </p:oleObj>
              </mc:Fallback>
            </mc:AlternateContent>
          </a:graphicData>
        </a:graphic>
      </p:graphicFrame>
      <p:graphicFrame>
        <p:nvGraphicFramePr>
          <p:cNvPr id="20" name="对象 19">
            <a:extLst>
              <a:ext uri="{FF2B5EF4-FFF2-40B4-BE49-F238E27FC236}">
                <a16:creationId xmlns:a16="http://schemas.microsoft.com/office/drawing/2014/main" xmlns="" id="{68574A85-AF13-34D8-47EA-BE77F68147CA}"/>
              </a:ext>
            </a:extLst>
          </p:cNvPr>
          <p:cNvGraphicFramePr>
            <a:graphicFrameLocks noChangeAspect="1"/>
          </p:cNvGraphicFramePr>
          <p:nvPr>
            <p:extLst>
              <p:ext uri="{D42A27DB-BD31-4B8C-83A1-F6EECF244321}">
                <p14:modId xmlns:p14="http://schemas.microsoft.com/office/powerpoint/2010/main" val="790370196"/>
              </p:ext>
            </p:extLst>
          </p:nvPr>
        </p:nvGraphicFramePr>
        <p:xfrm>
          <a:off x="7460730" y="3790233"/>
          <a:ext cx="414337" cy="433387"/>
        </p:xfrm>
        <a:graphic>
          <a:graphicData uri="http://schemas.openxmlformats.org/presentationml/2006/ole">
            <mc:AlternateContent xmlns:mc="http://schemas.openxmlformats.org/markup-compatibility/2006">
              <mc:Choice xmlns:v="urn:schemas-microsoft-com:vml" Requires="v">
                <p:oleObj spid="_x0000_s22108" name="Equation" r:id="rId20" imgW="414751" imgH="433096" progId="Equation.DSMT4">
                  <p:embed/>
                </p:oleObj>
              </mc:Choice>
              <mc:Fallback>
                <p:oleObj name="Equation" r:id="rId20" imgW="414751" imgH="433096" progId="Equation.DSMT4">
                  <p:embed/>
                  <p:pic>
                    <p:nvPicPr>
                      <p:cNvPr id="0" name=""/>
                      <p:cNvPicPr/>
                      <p:nvPr/>
                    </p:nvPicPr>
                    <p:blipFill>
                      <a:blip r:embed="rId21"/>
                      <a:stretch>
                        <a:fillRect/>
                      </a:stretch>
                    </p:blipFill>
                    <p:spPr>
                      <a:xfrm>
                        <a:off x="7460730" y="3790233"/>
                        <a:ext cx="414337" cy="433387"/>
                      </a:xfrm>
                      <a:prstGeom prst="rect">
                        <a:avLst/>
                      </a:prstGeom>
                    </p:spPr>
                  </p:pic>
                </p:oleObj>
              </mc:Fallback>
            </mc:AlternateContent>
          </a:graphicData>
        </a:graphic>
      </p:graphicFrame>
      <p:graphicFrame>
        <p:nvGraphicFramePr>
          <p:cNvPr id="21" name="对象 20">
            <a:extLst>
              <a:ext uri="{FF2B5EF4-FFF2-40B4-BE49-F238E27FC236}">
                <a16:creationId xmlns:a16="http://schemas.microsoft.com/office/drawing/2014/main" xmlns="" id="{67573ECE-6922-5556-7FC0-B529017A03B4}"/>
              </a:ext>
            </a:extLst>
          </p:cNvPr>
          <p:cNvGraphicFramePr>
            <a:graphicFrameLocks noChangeAspect="1"/>
          </p:cNvGraphicFramePr>
          <p:nvPr>
            <p:extLst>
              <p:ext uri="{D42A27DB-BD31-4B8C-83A1-F6EECF244321}">
                <p14:modId xmlns:p14="http://schemas.microsoft.com/office/powerpoint/2010/main" val="2979247327"/>
              </p:ext>
            </p:extLst>
          </p:nvPr>
        </p:nvGraphicFramePr>
        <p:xfrm>
          <a:off x="815604" y="4145438"/>
          <a:ext cx="431800" cy="431800"/>
        </p:xfrm>
        <a:graphic>
          <a:graphicData uri="http://schemas.openxmlformats.org/presentationml/2006/ole">
            <mc:AlternateContent xmlns:mc="http://schemas.openxmlformats.org/markup-compatibility/2006">
              <mc:Choice xmlns:v="urn:schemas-microsoft-com:vml" Requires="v">
                <p:oleObj spid="_x0000_s22109" name="Equation" r:id="rId22" imgW="431312" imgH="431295" progId="Equation.DSMT4">
                  <p:embed/>
                </p:oleObj>
              </mc:Choice>
              <mc:Fallback>
                <p:oleObj name="Equation" r:id="rId22" imgW="431312" imgH="431295" progId="Equation.DSMT4">
                  <p:embed/>
                  <p:pic>
                    <p:nvPicPr>
                      <p:cNvPr id="0" name=""/>
                      <p:cNvPicPr/>
                      <p:nvPr/>
                    </p:nvPicPr>
                    <p:blipFill>
                      <a:blip r:embed="rId23"/>
                      <a:stretch>
                        <a:fillRect/>
                      </a:stretch>
                    </p:blipFill>
                    <p:spPr>
                      <a:xfrm>
                        <a:off x="815604" y="4145438"/>
                        <a:ext cx="431800" cy="431800"/>
                      </a:xfrm>
                      <a:prstGeom prst="rect">
                        <a:avLst/>
                      </a:prstGeom>
                    </p:spPr>
                  </p:pic>
                </p:oleObj>
              </mc:Fallback>
            </mc:AlternateContent>
          </a:graphicData>
        </a:graphic>
      </p:graphicFrame>
      <p:graphicFrame>
        <p:nvGraphicFramePr>
          <p:cNvPr id="22" name="对象 21">
            <a:extLst>
              <a:ext uri="{FF2B5EF4-FFF2-40B4-BE49-F238E27FC236}">
                <a16:creationId xmlns:a16="http://schemas.microsoft.com/office/drawing/2014/main" xmlns="" id="{084BC3E7-74E0-406B-3839-21A05B1178DC}"/>
              </a:ext>
            </a:extLst>
          </p:cNvPr>
          <p:cNvGraphicFramePr>
            <a:graphicFrameLocks noChangeAspect="1"/>
          </p:cNvGraphicFramePr>
          <p:nvPr>
            <p:extLst>
              <p:ext uri="{D42A27DB-BD31-4B8C-83A1-F6EECF244321}">
                <p14:modId xmlns:p14="http://schemas.microsoft.com/office/powerpoint/2010/main" val="3007319846"/>
              </p:ext>
            </p:extLst>
          </p:nvPr>
        </p:nvGraphicFramePr>
        <p:xfrm>
          <a:off x="1788649" y="4143851"/>
          <a:ext cx="395287" cy="433387"/>
        </p:xfrm>
        <a:graphic>
          <a:graphicData uri="http://schemas.openxmlformats.org/presentationml/2006/ole">
            <mc:AlternateContent xmlns:mc="http://schemas.openxmlformats.org/markup-compatibility/2006">
              <mc:Choice xmlns:v="urn:schemas-microsoft-com:vml" Requires="v">
                <p:oleObj spid="_x0000_s22110" name="Equation" r:id="rId24" imgW="394949" imgH="433096" progId="Equation.DSMT4">
                  <p:embed/>
                </p:oleObj>
              </mc:Choice>
              <mc:Fallback>
                <p:oleObj name="Equation" r:id="rId24" imgW="394949" imgH="433096" progId="Equation.DSMT4">
                  <p:embed/>
                  <p:pic>
                    <p:nvPicPr>
                      <p:cNvPr id="0" name=""/>
                      <p:cNvPicPr/>
                      <p:nvPr/>
                    </p:nvPicPr>
                    <p:blipFill>
                      <a:blip r:embed="rId25"/>
                      <a:stretch>
                        <a:fillRect/>
                      </a:stretch>
                    </p:blipFill>
                    <p:spPr>
                      <a:xfrm>
                        <a:off x="1788649" y="4143851"/>
                        <a:ext cx="395287" cy="433387"/>
                      </a:xfrm>
                      <a:prstGeom prst="rect">
                        <a:avLst/>
                      </a:prstGeom>
                    </p:spPr>
                  </p:pic>
                </p:oleObj>
              </mc:Fallback>
            </mc:AlternateContent>
          </a:graphicData>
        </a:graphic>
      </p:graphicFrame>
    </p:spTree>
    <p:extLst>
      <p:ext uri="{BB962C8B-B14F-4D97-AF65-F5344CB8AC3E}">
        <p14:creationId xmlns:p14="http://schemas.microsoft.com/office/powerpoint/2010/main" val="4182814378"/>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41</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2.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高频</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基础</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电路</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文本框 4">
            <a:extLst>
              <a:ext uri="{FF2B5EF4-FFF2-40B4-BE49-F238E27FC236}">
                <a16:creationId xmlns:a16="http://schemas.microsoft.com/office/drawing/2014/main" xmlns="" id="{A6FCE013-D0DB-0521-967B-43497EEA2175}"/>
              </a:ext>
            </a:extLst>
          </p:cNvPr>
          <p:cNvSpPr txBox="1"/>
          <p:nvPr/>
        </p:nvSpPr>
        <p:spPr>
          <a:xfrm>
            <a:off x="326864" y="2566723"/>
            <a:ext cx="8420137" cy="707886"/>
          </a:xfrm>
          <a:prstGeom prst="rect">
            <a:avLst/>
          </a:prstGeom>
          <a:noFill/>
        </p:spPr>
        <p:txBody>
          <a:bodyPr wrap="square" rtlCol="0">
            <a:spAutoFit/>
          </a:bodyPr>
          <a:lstStyle/>
          <a:p>
            <a:pPr eaLnBrk="1" hangingPunct="1"/>
            <a:r>
              <a:rPr lang="zh-CN" altLang="en-US" sz="2000" dirty="0">
                <a:latin typeface="Times New Roman" panose="02020603050405020304" pitchFamily="18" charset="0"/>
                <a:cs typeface="Times New Roman" panose="02020603050405020304" pitchFamily="18" charset="0"/>
              </a:rPr>
              <a:t>    根据定义，将</a:t>
            </a:r>
            <a:r>
              <a:rPr lang="zh-CN" altLang="en-US" sz="2000" dirty="0" smtClean="0">
                <a:latin typeface="Times New Roman" panose="02020603050405020304" pitchFamily="18" charset="0"/>
                <a:cs typeface="Times New Roman" panose="02020603050405020304" pitchFamily="18" charset="0"/>
              </a:rPr>
              <a:t>电压比    </a:t>
            </a:r>
            <a:r>
              <a:rPr lang="en-US" altLang="zh-CN" sz="2000" dirty="0" smtClean="0">
                <a:latin typeface="Times New Roman" panose="02020603050405020304" pitchFamily="18" charset="0"/>
                <a:cs typeface="Times New Roman" panose="02020603050405020304" pitchFamily="18" charset="0"/>
              </a:rPr>
              <a:t>/     </a:t>
            </a:r>
            <a:r>
              <a:rPr lang="zh-CN" altLang="en-US" sz="2000" dirty="0" smtClean="0">
                <a:latin typeface="Times New Roman" panose="02020603050405020304" pitchFamily="18" charset="0"/>
                <a:cs typeface="Times New Roman" panose="02020603050405020304" pitchFamily="18" charset="0"/>
              </a:rPr>
              <a:t>变换</a:t>
            </a:r>
            <a:r>
              <a:rPr lang="zh-CN" altLang="en-US" sz="2000" dirty="0">
                <a:latin typeface="Times New Roman" panose="02020603050405020304" pitchFamily="18" charset="0"/>
                <a:cs typeface="Times New Roman" panose="02020603050405020304" pitchFamily="18" charset="0"/>
              </a:rPr>
              <a:t>为变压器的线圈圈数比</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或容抗、感抗比</a:t>
            </a:r>
            <a:r>
              <a:rPr lang="en-US" altLang="zh-CN" sz="2000" dirty="0">
                <a:latin typeface="Times New Roman" panose="02020603050405020304" pitchFamily="18" charset="0"/>
                <a:cs typeface="Times New Roman" panose="02020603050405020304" pitchFamily="18" charset="0"/>
              </a:rPr>
              <a:t>), </a:t>
            </a:r>
            <a:r>
              <a:rPr lang="zh-CN" altLang="en-US" sz="2000" dirty="0">
                <a:latin typeface="Times New Roman" panose="02020603050405020304" pitchFamily="18" charset="0"/>
                <a:cs typeface="Times New Roman" panose="02020603050405020304" pitchFamily="18" charset="0"/>
              </a:rPr>
              <a:t>则令</a:t>
            </a:r>
            <a:r>
              <a:rPr lang="en-US" altLang="zh-CN" sz="2000" i="1" dirty="0">
                <a:latin typeface="Times New Roman" panose="02020603050405020304" pitchFamily="18" charset="0"/>
                <a:cs typeface="Times New Roman" panose="02020603050405020304" pitchFamily="18" charset="0"/>
              </a:rPr>
              <a:t>p</a:t>
            </a:r>
            <a:r>
              <a:rPr lang="zh-CN" altLang="en-US" sz="2000" dirty="0">
                <a:latin typeface="+mn-ea"/>
                <a:ea typeface="+mn-ea"/>
              </a:rPr>
              <a:t>为</a:t>
            </a:r>
          </a:p>
        </p:txBody>
      </p:sp>
      <p:sp>
        <p:nvSpPr>
          <p:cNvPr id="6" name="文本框 5">
            <a:extLst>
              <a:ext uri="{FF2B5EF4-FFF2-40B4-BE49-F238E27FC236}">
                <a16:creationId xmlns:a16="http://schemas.microsoft.com/office/drawing/2014/main" xmlns="" id="{823C1F32-BEC5-4458-6CF8-694678A85357}"/>
              </a:ext>
            </a:extLst>
          </p:cNvPr>
          <p:cNvSpPr txBox="1"/>
          <p:nvPr/>
        </p:nvSpPr>
        <p:spPr>
          <a:xfrm>
            <a:off x="439405" y="3940957"/>
            <a:ext cx="8420137" cy="400110"/>
          </a:xfrm>
          <a:prstGeom prst="rect">
            <a:avLst/>
          </a:prstGeom>
          <a:noFill/>
        </p:spPr>
        <p:txBody>
          <a:bodyPr wrap="square" rtlCol="0">
            <a:spAutoFit/>
          </a:bodyPr>
          <a:lstStyle/>
          <a:p>
            <a:pPr rtl="1">
              <a:lnSpc>
                <a:spcPct val="100000"/>
              </a:lnSpc>
              <a:spcBef>
                <a:spcPct val="50000"/>
              </a:spcBef>
            </a:pPr>
            <a:r>
              <a:rPr lang="zh-CN" altLang="en-US" sz="2000" dirty="0">
                <a:ln w="0"/>
                <a:effectLst>
                  <a:outerShdw blurRad="38100" dist="19050" dir="2700000" algn="tl" rotWithShape="0">
                    <a:schemeClr val="dk1">
                      <a:alpha val="40000"/>
                    </a:schemeClr>
                  </a:outerShdw>
                </a:effectLst>
                <a:latin typeface="+mn-ea"/>
                <a:ea typeface="+mn-ea"/>
                <a:cs typeface="Times New Roman" panose="02020603050405020304" pitchFamily="18" charset="0"/>
              </a:rPr>
              <a:t>则变换关系为</a:t>
            </a:r>
          </a:p>
        </p:txBody>
      </p:sp>
      <p:graphicFrame>
        <p:nvGraphicFramePr>
          <p:cNvPr id="7" name="对象 6">
            <a:extLst>
              <a:ext uri="{FF2B5EF4-FFF2-40B4-BE49-F238E27FC236}">
                <a16:creationId xmlns:a16="http://schemas.microsoft.com/office/drawing/2014/main" xmlns="" id="{28A5101C-38CC-0AA0-C90C-0BBCCF8752AF}"/>
              </a:ext>
            </a:extLst>
          </p:cNvPr>
          <p:cNvGraphicFramePr>
            <a:graphicFrameLocks noChangeAspect="1"/>
          </p:cNvGraphicFramePr>
          <p:nvPr>
            <p:extLst>
              <p:ext uri="{D42A27DB-BD31-4B8C-83A1-F6EECF244321}">
                <p14:modId xmlns:p14="http://schemas.microsoft.com/office/powerpoint/2010/main" val="4082563591"/>
              </p:ext>
            </p:extLst>
          </p:nvPr>
        </p:nvGraphicFramePr>
        <p:xfrm>
          <a:off x="2954148" y="2574118"/>
          <a:ext cx="350234" cy="423476"/>
        </p:xfrm>
        <a:graphic>
          <a:graphicData uri="http://schemas.openxmlformats.org/presentationml/2006/ole">
            <mc:AlternateContent xmlns:mc="http://schemas.openxmlformats.org/markup-compatibility/2006">
              <mc:Choice xmlns:v="urn:schemas-microsoft-com:vml" Requires="v">
                <p:oleObj spid="_x0000_s22962" name="Equation" r:id="rId3" imgW="417631" imgH="504738" progId="Equation.DSMT4">
                  <p:embed/>
                </p:oleObj>
              </mc:Choice>
              <mc:Fallback>
                <p:oleObj name="Equation" r:id="rId3" imgW="417631" imgH="504738" progId="Equation.DSMT4">
                  <p:embed/>
                  <p:pic>
                    <p:nvPicPr>
                      <p:cNvPr id="0" name=""/>
                      <p:cNvPicPr/>
                      <p:nvPr/>
                    </p:nvPicPr>
                    <p:blipFill>
                      <a:blip r:embed="rId4"/>
                      <a:stretch>
                        <a:fillRect/>
                      </a:stretch>
                    </p:blipFill>
                    <p:spPr>
                      <a:xfrm>
                        <a:off x="2954148" y="2574118"/>
                        <a:ext cx="350234" cy="423476"/>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xmlns="" id="{ED9C729E-126E-2BEF-2AAE-7AAE93FFE8CF}"/>
              </a:ext>
            </a:extLst>
          </p:cNvPr>
          <p:cNvGraphicFramePr>
            <a:graphicFrameLocks noChangeAspect="1"/>
          </p:cNvGraphicFramePr>
          <p:nvPr>
            <p:extLst>
              <p:ext uri="{D42A27DB-BD31-4B8C-83A1-F6EECF244321}">
                <p14:modId xmlns:p14="http://schemas.microsoft.com/office/powerpoint/2010/main" val="1045940875"/>
              </p:ext>
            </p:extLst>
          </p:nvPr>
        </p:nvGraphicFramePr>
        <p:xfrm>
          <a:off x="3304382" y="2554560"/>
          <a:ext cx="350234" cy="423476"/>
        </p:xfrm>
        <a:graphic>
          <a:graphicData uri="http://schemas.openxmlformats.org/presentationml/2006/ole">
            <mc:AlternateContent xmlns:mc="http://schemas.openxmlformats.org/markup-compatibility/2006">
              <mc:Choice xmlns:v="urn:schemas-microsoft-com:vml" Requires="v">
                <p:oleObj spid="_x0000_s22963" name="Equation" r:id="rId5" imgW="417631" imgH="504738" progId="Equation.DSMT4">
                  <p:embed/>
                </p:oleObj>
              </mc:Choice>
              <mc:Fallback>
                <p:oleObj name="Equation" r:id="rId5" imgW="417631" imgH="504738" progId="Equation.DSMT4">
                  <p:embed/>
                  <p:pic>
                    <p:nvPicPr>
                      <p:cNvPr id="0" name=""/>
                      <p:cNvPicPr/>
                      <p:nvPr/>
                    </p:nvPicPr>
                    <p:blipFill>
                      <a:blip r:embed="rId6"/>
                      <a:stretch>
                        <a:fillRect/>
                      </a:stretch>
                    </p:blipFill>
                    <p:spPr>
                      <a:xfrm>
                        <a:off x="3304382" y="2554560"/>
                        <a:ext cx="350234" cy="423476"/>
                      </a:xfrm>
                      <a:prstGeom prst="rect">
                        <a:avLst/>
                      </a:prstGeom>
                    </p:spPr>
                  </p:pic>
                </p:oleObj>
              </mc:Fallback>
            </mc:AlternateContent>
          </a:graphicData>
        </a:graphic>
      </p:graphicFrame>
      <p:pic>
        <p:nvPicPr>
          <p:cNvPr id="9" name="图片 440340" descr="AA)">
            <a:extLst>
              <a:ext uri="{FF2B5EF4-FFF2-40B4-BE49-F238E27FC236}">
                <a16:creationId xmlns:a16="http://schemas.microsoft.com/office/drawing/2014/main" xmlns="" id="{F7C35923-4BA7-0298-3D91-6772D893422D}"/>
              </a:ext>
            </a:extLst>
          </p:cNvPr>
          <p:cNvPicPr>
            <a:picLocks noChangeAspect="1"/>
          </p:cNvPicPr>
          <p:nvPr/>
        </p:nvPicPr>
        <p:blipFill>
          <a:blip r:embed="rId7">
            <a:clrChange>
              <a:clrFrom>
                <a:srgbClr val="FFFFFF"/>
              </a:clrFrom>
              <a:clrTo>
                <a:srgbClr val="FFFFFF">
                  <a:alpha val="0"/>
                </a:srgbClr>
              </a:clrTo>
            </a:clrChange>
          </a:blip>
          <a:stretch>
            <a:fillRect/>
          </a:stretch>
        </p:blipFill>
        <p:spPr>
          <a:xfrm>
            <a:off x="1760102" y="3110978"/>
            <a:ext cx="5169452" cy="945257"/>
          </a:xfrm>
          <a:prstGeom prst="rect">
            <a:avLst/>
          </a:prstGeom>
          <a:noFill/>
          <a:ln w="9525">
            <a:noFill/>
          </a:ln>
        </p:spPr>
      </p:pic>
      <p:graphicFrame>
        <p:nvGraphicFramePr>
          <p:cNvPr id="10" name="对象 9">
            <a:extLst>
              <a:ext uri="{FF2B5EF4-FFF2-40B4-BE49-F238E27FC236}">
                <a16:creationId xmlns:a16="http://schemas.microsoft.com/office/drawing/2014/main" xmlns="" id="{DD915DE1-9EC6-4FD0-50AD-3C14A812290D}"/>
              </a:ext>
            </a:extLst>
          </p:cNvPr>
          <p:cNvGraphicFramePr>
            <a:graphicFrameLocks noChangeAspect="1"/>
          </p:cNvGraphicFramePr>
          <p:nvPr>
            <p:extLst>
              <p:ext uri="{D42A27DB-BD31-4B8C-83A1-F6EECF244321}">
                <p14:modId xmlns:p14="http://schemas.microsoft.com/office/powerpoint/2010/main" val="230456503"/>
              </p:ext>
            </p:extLst>
          </p:nvPr>
        </p:nvGraphicFramePr>
        <p:xfrm>
          <a:off x="2275383" y="4106159"/>
          <a:ext cx="1488793" cy="841552"/>
        </p:xfrm>
        <a:graphic>
          <a:graphicData uri="http://schemas.openxmlformats.org/presentationml/2006/ole">
            <mc:AlternateContent xmlns:mc="http://schemas.openxmlformats.org/markup-compatibility/2006">
              <mc:Choice xmlns:v="urn:schemas-microsoft-com:vml" Requires="v">
                <p:oleObj spid="_x0000_s22964" name="Equation" r:id="rId8" imgW="1726689" imgH="975635" progId="Equation.DSMT4">
                  <p:embed/>
                </p:oleObj>
              </mc:Choice>
              <mc:Fallback>
                <p:oleObj name="Equation" r:id="rId8" imgW="1726689" imgH="975635" progId="Equation.DSMT4">
                  <p:embed/>
                  <p:pic>
                    <p:nvPicPr>
                      <p:cNvPr id="0" name=""/>
                      <p:cNvPicPr/>
                      <p:nvPr/>
                    </p:nvPicPr>
                    <p:blipFill>
                      <a:blip r:embed="rId9"/>
                      <a:stretch>
                        <a:fillRect/>
                      </a:stretch>
                    </p:blipFill>
                    <p:spPr>
                      <a:xfrm>
                        <a:off x="2275383" y="4106159"/>
                        <a:ext cx="1488793" cy="841552"/>
                      </a:xfrm>
                      <a:prstGeom prst="rect">
                        <a:avLst/>
                      </a:prstGeom>
                    </p:spPr>
                  </p:pic>
                </p:oleObj>
              </mc:Fallback>
            </mc:AlternateContent>
          </a:graphicData>
        </a:graphic>
      </p:graphicFrame>
      <p:graphicFrame>
        <p:nvGraphicFramePr>
          <p:cNvPr id="11" name="对象 10">
            <a:extLst>
              <a:ext uri="{FF2B5EF4-FFF2-40B4-BE49-F238E27FC236}">
                <a16:creationId xmlns:a16="http://schemas.microsoft.com/office/drawing/2014/main" xmlns="" id="{D4D15971-1CA5-B2B1-3E8C-BEB9DA30DD22}"/>
              </a:ext>
            </a:extLst>
          </p:cNvPr>
          <p:cNvGraphicFramePr>
            <a:graphicFrameLocks noChangeAspect="1"/>
          </p:cNvGraphicFramePr>
          <p:nvPr>
            <p:extLst>
              <p:ext uri="{D42A27DB-BD31-4B8C-83A1-F6EECF244321}">
                <p14:modId xmlns:p14="http://schemas.microsoft.com/office/powerpoint/2010/main" val="2399254653"/>
              </p:ext>
            </p:extLst>
          </p:nvPr>
        </p:nvGraphicFramePr>
        <p:xfrm>
          <a:off x="2165494" y="4926174"/>
          <a:ext cx="1708569" cy="904713"/>
        </p:xfrm>
        <a:graphic>
          <a:graphicData uri="http://schemas.openxmlformats.org/presentationml/2006/ole">
            <mc:AlternateContent xmlns:mc="http://schemas.openxmlformats.org/markup-compatibility/2006">
              <mc:Choice xmlns:v="urn:schemas-microsoft-com:vml" Requires="v">
                <p:oleObj spid="_x0000_s22965" name="Equation" r:id="rId10" imgW="1801574" imgH="954034" progId="Equation.DSMT4">
                  <p:embed/>
                </p:oleObj>
              </mc:Choice>
              <mc:Fallback>
                <p:oleObj name="Equation" r:id="rId10" imgW="1801574" imgH="954034" progId="Equation.DSMT4">
                  <p:embed/>
                  <p:pic>
                    <p:nvPicPr>
                      <p:cNvPr id="0" name=""/>
                      <p:cNvPicPr/>
                      <p:nvPr/>
                    </p:nvPicPr>
                    <p:blipFill>
                      <a:blip r:embed="rId11"/>
                      <a:stretch>
                        <a:fillRect/>
                      </a:stretch>
                    </p:blipFill>
                    <p:spPr>
                      <a:xfrm>
                        <a:off x="2165494" y="4926174"/>
                        <a:ext cx="1708569" cy="904713"/>
                      </a:xfrm>
                      <a:prstGeom prst="rect">
                        <a:avLst/>
                      </a:prstGeom>
                    </p:spPr>
                  </p:pic>
                </p:oleObj>
              </mc:Fallback>
            </mc:AlternateContent>
          </a:graphicData>
        </a:graphic>
      </p:graphicFrame>
      <p:graphicFrame>
        <p:nvGraphicFramePr>
          <p:cNvPr id="12" name="对象 11">
            <a:extLst>
              <a:ext uri="{FF2B5EF4-FFF2-40B4-BE49-F238E27FC236}">
                <a16:creationId xmlns:a16="http://schemas.microsoft.com/office/drawing/2014/main" xmlns="" id="{40E6E440-7D29-1C68-54F5-746D36632548}"/>
              </a:ext>
            </a:extLst>
          </p:cNvPr>
          <p:cNvGraphicFramePr>
            <a:graphicFrameLocks noChangeAspect="1"/>
          </p:cNvGraphicFramePr>
          <p:nvPr>
            <p:extLst>
              <p:ext uri="{D42A27DB-BD31-4B8C-83A1-F6EECF244321}">
                <p14:modId xmlns:p14="http://schemas.microsoft.com/office/powerpoint/2010/main" val="3109170289"/>
              </p:ext>
            </p:extLst>
          </p:nvPr>
        </p:nvGraphicFramePr>
        <p:xfrm>
          <a:off x="2384940" y="5830887"/>
          <a:ext cx="1269676" cy="566267"/>
        </p:xfrm>
        <a:graphic>
          <a:graphicData uri="http://schemas.openxmlformats.org/presentationml/2006/ole">
            <mc:AlternateContent xmlns:mc="http://schemas.openxmlformats.org/markup-compatibility/2006">
              <mc:Choice xmlns:v="urn:schemas-microsoft-com:vml" Requires="v">
                <p:oleObj spid="_x0000_s22966" name="Equation" r:id="rId12" imgW="1367022" imgH="609862" progId="Equation.DSMT4">
                  <p:embed/>
                </p:oleObj>
              </mc:Choice>
              <mc:Fallback>
                <p:oleObj name="Equation" r:id="rId12" imgW="1367022" imgH="609862" progId="Equation.DSMT4">
                  <p:embed/>
                  <p:pic>
                    <p:nvPicPr>
                      <p:cNvPr id="0" name=""/>
                      <p:cNvPicPr/>
                      <p:nvPr/>
                    </p:nvPicPr>
                    <p:blipFill>
                      <a:blip r:embed="rId13"/>
                      <a:stretch>
                        <a:fillRect/>
                      </a:stretch>
                    </p:blipFill>
                    <p:spPr>
                      <a:xfrm>
                        <a:off x="2384940" y="5830887"/>
                        <a:ext cx="1269676" cy="566267"/>
                      </a:xfrm>
                      <a:prstGeom prst="rect">
                        <a:avLst/>
                      </a:prstGeom>
                    </p:spPr>
                  </p:pic>
                </p:oleObj>
              </mc:Fallback>
            </mc:AlternateContent>
          </a:graphicData>
        </a:graphic>
      </p:graphicFrame>
      <p:graphicFrame>
        <p:nvGraphicFramePr>
          <p:cNvPr id="13" name="对象 12">
            <a:extLst>
              <a:ext uri="{FF2B5EF4-FFF2-40B4-BE49-F238E27FC236}">
                <a16:creationId xmlns:a16="http://schemas.microsoft.com/office/drawing/2014/main" xmlns="" id="{C2476065-68EF-F99B-CE3D-B53453249D05}"/>
              </a:ext>
            </a:extLst>
          </p:cNvPr>
          <p:cNvGraphicFramePr>
            <a:graphicFrameLocks noChangeAspect="1"/>
          </p:cNvGraphicFramePr>
          <p:nvPr>
            <p:extLst>
              <p:ext uri="{D42A27DB-BD31-4B8C-83A1-F6EECF244321}">
                <p14:modId xmlns:p14="http://schemas.microsoft.com/office/powerpoint/2010/main" val="2973607392"/>
              </p:ext>
            </p:extLst>
          </p:nvPr>
        </p:nvGraphicFramePr>
        <p:xfrm>
          <a:off x="4884858" y="4257568"/>
          <a:ext cx="1593314" cy="538735"/>
        </p:xfrm>
        <a:graphic>
          <a:graphicData uri="http://schemas.openxmlformats.org/presentationml/2006/ole">
            <mc:AlternateContent xmlns:mc="http://schemas.openxmlformats.org/markup-compatibility/2006">
              <mc:Choice xmlns:v="urn:schemas-microsoft-com:vml" Requires="v">
                <p:oleObj spid="_x0000_s22967" name="Equation" r:id="rId14" imgW="1656844" imgH="560900" progId="Equation.DSMT4">
                  <p:embed/>
                </p:oleObj>
              </mc:Choice>
              <mc:Fallback>
                <p:oleObj name="Equation" r:id="rId14" imgW="1656844" imgH="560900" progId="Equation.DSMT4">
                  <p:embed/>
                  <p:pic>
                    <p:nvPicPr>
                      <p:cNvPr id="0" name=""/>
                      <p:cNvPicPr/>
                      <p:nvPr/>
                    </p:nvPicPr>
                    <p:blipFill>
                      <a:blip r:embed="rId15"/>
                      <a:stretch>
                        <a:fillRect/>
                      </a:stretch>
                    </p:blipFill>
                    <p:spPr>
                      <a:xfrm>
                        <a:off x="4884858" y="4257568"/>
                        <a:ext cx="1593314" cy="538735"/>
                      </a:xfrm>
                      <a:prstGeom prst="rect">
                        <a:avLst/>
                      </a:prstGeom>
                    </p:spPr>
                  </p:pic>
                </p:oleObj>
              </mc:Fallback>
            </mc:AlternateContent>
          </a:graphicData>
        </a:graphic>
      </p:graphicFrame>
      <p:graphicFrame>
        <p:nvGraphicFramePr>
          <p:cNvPr id="14" name="对象 13">
            <a:extLst>
              <a:ext uri="{FF2B5EF4-FFF2-40B4-BE49-F238E27FC236}">
                <a16:creationId xmlns:a16="http://schemas.microsoft.com/office/drawing/2014/main" xmlns="" id="{D892EE7F-4771-18C1-51C1-5321F219EDC9}"/>
              </a:ext>
            </a:extLst>
          </p:cNvPr>
          <p:cNvGraphicFramePr>
            <a:graphicFrameLocks noChangeAspect="1"/>
          </p:cNvGraphicFramePr>
          <p:nvPr>
            <p:extLst>
              <p:ext uri="{D42A27DB-BD31-4B8C-83A1-F6EECF244321}">
                <p14:modId xmlns:p14="http://schemas.microsoft.com/office/powerpoint/2010/main" val="3260517029"/>
              </p:ext>
            </p:extLst>
          </p:nvPr>
        </p:nvGraphicFramePr>
        <p:xfrm>
          <a:off x="4884858" y="5181347"/>
          <a:ext cx="1364906" cy="453602"/>
        </p:xfrm>
        <a:graphic>
          <a:graphicData uri="http://schemas.openxmlformats.org/presentationml/2006/ole">
            <mc:AlternateContent xmlns:mc="http://schemas.openxmlformats.org/markup-compatibility/2006">
              <mc:Choice xmlns:v="urn:schemas-microsoft-com:vml" Requires="v">
                <p:oleObj spid="_x0000_s22968" name="Equation" r:id="rId16" imgW="1585198" imgH="527419" progId="Equation.DSMT4">
                  <p:embed/>
                </p:oleObj>
              </mc:Choice>
              <mc:Fallback>
                <p:oleObj name="Equation" r:id="rId16" imgW="1585198" imgH="527419" progId="Equation.DSMT4">
                  <p:embed/>
                  <p:pic>
                    <p:nvPicPr>
                      <p:cNvPr id="0" name=""/>
                      <p:cNvPicPr/>
                      <p:nvPr/>
                    </p:nvPicPr>
                    <p:blipFill>
                      <a:blip r:embed="rId17"/>
                      <a:stretch>
                        <a:fillRect/>
                      </a:stretch>
                    </p:blipFill>
                    <p:spPr>
                      <a:xfrm>
                        <a:off x="4884858" y="5181347"/>
                        <a:ext cx="1364906" cy="453602"/>
                      </a:xfrm>
                      <a:prstGeom prst="rect">
                        <a:avLst/>
                      </a:prstGeom>
                    </p:spPr>
                  </p:pic>
                </p:oleObj>
              </mc:Fallback>
            </mc:AlternateContent>
          </a:graphicData>
        </a:graphic>
      </p:graphicFrame>
      <p:graphicFrame>
        <p:nvGraphicFramePr>
          <p:cNvPr id="15" name="对象 14">
            <a:extLst>
              <a:ext uri="{FF2B5EF4-FFF2-40B4-BE49-F238E27FC236}">
                <a16:creationId xmlns:a16="http://schemas.microsoft.com/office/drawing/2014/main" xmlns="" id="{F3AC2AE9-CCD6-B5D3-124C-291C3D449398}"/>
              </a:ext>
            </a:extLst>
          </p:cNvPr>
          <p:cNvGraphicFramePr>
            <a:graphicFrameLocks noChangeAspect="1"/>
          </p:cNvGraphicFramePr>
          <p:nvPr>
            <p:extLst>
              <p:ext uri="{D42A27DB-BD31-4B8C-83A1-F6EECF244321}">
                <p14:modId xmlns:p14="http://schemas.microsoft.com/office/powerpoint/2010/main" val="3808934150"/>
              </p:ext>
            </p:extLst>
          </p:nvPr>
        </p:nvGraphicFramePr>
        <p:xfrm>
          <a:off x="4884858" y="5685692"/>
          <a:ext cx="1382299" cy="856655"/>
        </p:xfrm>
        <a:graphic>
          <a:graphicData uri="http://schemas.openxmlformats.org/presentationml/2006/ole">
            <mc:AlternateContent xmlns:mc="http://schemas.openxmlformats.org/markup-compatibility/2006">
              <mc:Choice xmlns:v="urn:schemas-microsoft-com:vml" Requires="v">
                <p:oleObj spid="_x0000_s22969" name="Equation" r:id="rId18" imgW="1656844" imgH="1027477" progId="Equation.DSMT4">
                  <p:embed/>
                </p:oleObj>
              </mc:Choice>
              <mc:Fallback>
                <p:oleObj name="Equation" r:id="rId18" imgW="1656844" imgH="1027477" progId="Equation.DSMT4">
                  <p:embed/>
                  <p:pic>
                    <p:nvPicPr>
                      <p:cNvPr id="0" name=""/>
                      <p:cNvPicPr/>
                      <p:nvPr/>
                    </p:nvPicPr>
                    <p:blipFill>
                      <a:blip r:embed="rId19"/>
                      <a:stretch>
                        <a:fillRect/>
                      </a:stretch>
                    </p:blipFill>
                    <p:spPr>
                      <a:xfrm>
                        <a:off x="4884858" y="5685692"/>
                        <a:ext cx="1382299" cy="856655"/>
                      </a:xfrm>
                      <a:prstGeom prst="rect">
                        <a:avLst/>
                      </a:prstGeom>
                    </p:spPr>
                  </p:pic>
                </p:oleObj>
              </mc:Fallback>
            </mc:AlternateContent>
          </a:graphicData>
        </a:graphic>
      </p:graphicFrame>
      <p:sp>
        <p:nvSpPr>
          <p:cNvPr id="16" name="文本框 15">
            <a:extLst>
              <a:ext uri="{FF2B5EF4-FFF2-40B4-BE49-F238E27FC236}">
                <a16:creationId xmlns:a16="http://schemas.microsoft.com/office/drawing/2014/main" xmlns="" id="{1820A4D9-82B0-4F91-980B-85A5CA680008}"/>
              </a:ext>
            </a:extLst>
          </p:cNvPr>
          <p:cNvSpPr txBox="1"/>
          <p:nvPr/>
        </p:nvSpPr>
        <p:spPr>
          <a:xfrm>
            <a:off x="1" y="1351228"/>
            <a:ext cx="8689654" cy="400110"/>
          </a:xfrm>
          <a:prstGeom prst="rect">
            <a:avLst/>
          </a:prstGeom>
          <a:noFill/>
        </p:spPr>
        <p:txBody>
          <a:bodyPr wrap="square" rtlCol="0">
            <a:spAutoFit/>
          </a:bodyPr>
          <a:lstStyle/>
          <a:p>
            <a:pPr algn="ctr" rtl="1">
              <a:lnSpc>
                <a:spcPct val="100000"/>
              </a:lnSpc>
              <a:spcBef>
                <a:spcPct val="50000"/>
              </a:spcBef>
            </a:pPr>
            <a:r>
              <a:rPr lang="zh-CN" altLang="en-US" sz="2000" b="1" dirty="0" smtClean="0">
                <a:ln w="0"/>
                <a:effectLst>
                  <a:glow rad="63500">
                    <a:schemeClr val="accent3">
                      <a:satMod val="175000"/>
                      <a:alpha val="40000"/>
                    </a:schemeClr>
                  </a:glow>
                </a:effectLst>
                <a:latin typeface="+mn-ea"/>
                <a:ea typeface="+mn-ea"/>
                <a:cs typeface="Times New Roman" panose="02020603050405020304" pitchFamily="18" charset="0"/>
              </a:rPr>
              <a:t>接入</a:t>
            </a:r>
            <a:r>
              <a:rPr lang="zh-CN" altLang="en-US" sz="2000" b="1" dirty="0">
                <a:ln w="0"/>
                <a:effectLst>
                  <a:glow rad="63500">
                    <a:schemeClr val="accent3">
                      <a:satMod val="175000"/>
                      <a:alpha val="40000"/>
                    </a:schemeClr>
                  </a:glow>
                </a:effectLst>
                <a:latin typeface="+mn-ea"/>
                <a:ea typeface="+mn-ea"/>
                <a:cs typeface="Times New Roman" panose="02020603050405020304" pitchFamily="18" charset="0"/>
              </a:rPr>
              <a:t>系数与变换关系</a:t>
            </a:r>
          </a:p>
        </p:txBody>
      </p:sp>
      <p:sp>
        <p:nvSpPr>
          <p:cNvPr id="17" name="文本框 16">
            <a:extLst>
              <a:ext uri="{FF2B5EF4-FFF2-40B4-BE49-F238E27FC236}">
                <a16:creationId xmlns:a16="http://schemas.microsoft.com/office/drawing/2014/main" xmlns="" id="{237E6D7D-15A4-3122-E603-5E06A781A5C8}"/>
              </a:ext>
            </a:extLst>
          </p:cNvPr>
          <p:cNvSpPr txBox="1"/>
          <p:nvPr/>
        </p:nvSpPr>
        <p:spPr>
          <a:xfrm>
            <a:off x="326864" y="1751338"/>
            <a:ext cx="8420137" cy="707886"/>
          </a:xfrm>
          <a:prstGeom prst="rect">
            <a:avLst/>
          </a:prstGeom>
          <a:noFill/>
        </p:spPr>
        <p:txBody>
          <a:bodyPr wrap="square" rtlCol="0">
            <a:spAutoFit/>
          </a:bodyPr>
          <a:lstStyle/>
          <a:p>
            <a:pPr rtl="1">
              <a:lnSpc>
                <a:spcPct val="100000"/>
              </a:lnSpc>
              <a:spcBef>
                <a:spcPct val="50000"/>
              </a:spcBef>
            </a:pPr>
            <a:r>
              <a:rPr lang="zh-CN" altLang="en-US" sz="20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接入系数</a:t>
            </a:r>
            <a:r>
              <a:rPr lang="en-US" altLang="zh-CN" sz="2000" i="1"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p</a:t>
            </a:r>
            <a:r>
              <a:rPr lang="zh-CN" altLang="en-US" sz="20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定义为负载</a:t>
            </a:r>
            <a:r>
              <a:rPr lang="en-US" altLang="zh-CN" sz="2000" i="1"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R</a:t>
            </a:r>
            <a:r>
              <a:rPr lang="en-US" altLang="zh-CN" sz="2000" i="1" baseline="-250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L</a:t>
            </a:r>
            <a:r>
              <a:rPr lang="zh-CN" altLang="en-US" sz="20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两端电压（变换前负载电压）与等效负载两端电压（变换后等效负载电压）之比</a:t>
            </a:r>
          </a:p>
        </p:txBody>
      </p:sp>
    </p:spTree>
    <p:extLst>
      <p:ext uri="{BB962C8B-B14F-4D97-AF65-F5344CB8AC3E}">
        <p14:creationId xmlns:p14="http://schemas.microsoft.com/office/powerpoint/2010/main" val="2816965548"/>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42</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2.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高频</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基础</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电路</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内容占位符 7170">
            <a:extLst>
              <a:ext uri="{FF2B5EF4-FFF2-40B4-BE49-F238E27FC236}">
                <a16:creationId xmlns:a16="http://schemas.microsoft.com/office/drawing/2014/main" xmlns="" id="{EE910975-A0F9-60AB-4192-5A1C9034AD40}"/>
              </a:ext>
            </a:extLst>
          </p:cNvPr>
          <p:cNvSpPr/>
          <p:nvPr/>
        </p:nvSpPr>
        <p:spPr>
          <a:xfrm>
            <a:off x="539552" y="1247258"/>
            <a:ext cx="8353425" cy="3672409"/>
          </a:xfrm>
          <a:prstGeom prst="rect">
            <a:avLst/>
          </a:prstGeom>
          <a:noFill/>
          <a:ln w="9525">
            <a:noFill/>
          </a:ln>
        </p:spPr>
        <p:txBody>
          <a:bodyPr/>
          <a:lstStyle/>
          <a:p>
            <a:pPr>
              <a:lnSpc>
                <a:spcPct val="120000"/>
              </a:lnSpc>
              <a:spcBef>
                <a:spcPts val="1200"/>
              </a:spcBef>
              <a:spcAft>
                <a:spcPts val="1200"/>
              </a:spcAft>
              <a:buClr>
                <a:schemeClr val="folHlink"/>
              </a:buClr>
              <a:buSzPct val="60000"/>
              <a:defRPr/>
            </a:pPr>
            <a:endParaRPr lang="zh-CN" altLang="en-US" dirty="0">
              <a:ln w="0"/>
              <a:effectLst>
                <a:glow rad="63500">
                  <a:schemeClr val="accent3">
                    <a:satMod val="175000"/>
                    <a:alpha val="40000"/>
                  </a:schemeClr>
                </a:glow>
              </a:effectLst>
              <a:latin typeface="+mn-ea"/>
              <a:ea typeface="+mn-ea"/>
              <a:cs typeface="Times New Roman" panose="02020603050405020304" pitchFamily="18" charset="0"/>
            </a:endParaRPr>
          </a:p>
        </p:txBody>
      </p:sp>
      <p:sp>
        <p:nvSpPr>
          <p:cNvPr id="7" name="文本框 6">
            <a:extLst>
              <a:ext uri="{FF2B5EF4-FFF2-40B4-BE49-F238E27FC236}">
                <a16:creationId xmlns:a16="http://schemas.microsoft.com/office/drawing/2014/main" xmlns="" id="{A6B22532-77E7-2EB9-5EDC-E77986C13490}"/>
              </a:ext>
            </a:extLst>
          </p:cNvPr>
          <p:cNvSpPr txBox="1"/>
          <p:nvPr/>
        </p:nvSpPr>
        <p:spPr>
          <a:xfrm>
            <a:off x="255755" y="1580871"/>
            <a:ext cx="6937940" cy="430887"/>
          </a:xfrm>
          <a:prstGeom prst="rect">
            <a:avLst/>
          </a:prstGeom>
          <a:noFill/>
        </p:spPr>
        <p:txBody>
          <a:bodyPr wrap="square" rtlCol="0">
            <a:spAutoFit/>
          </a:bodyPr>
          <a:lstStyle/>
          <a:p>
            <a:pPr eaLnBrk="1" hangingPunct="1">
              <a:buNone/>
            </a:pPr>
            <a:r>
              <a:rPr lang="zh-CN" altLang="en-US" sz="2200" dirty="0">
                <a:latin typeface="+mn-ea"/>
                <a:ea typeface="+mn-ea"/>
              </a:rPr>
              <a:t>获得最大    </a:t>
            </a:r>
            <a:r>
              <a:rPr lang="zh-CN" altLang="en-US" sz="2200" dirty="0" smtClean="0">
                <a:latin typeface="+mn-ea"/>
                <a:ea typeface="+mn-ea"/>
              </a:rPr>
              <a:t>的</a:t>
            </a:r>
            <a:r>
              <a:rPr lang="zh-CN" altLang="en-US" sz="2200" dirty="0">
                <a:latin typeface="+mn-ea"/>
                <a:ea typeface="+mn-ea"/>
              </a:rPr>
              <a:t>特定条件是          </a:t>
            </a:r>
            <a:r>
              <a:rPr lang="zh-CN" altLang="en-US" sz="2200" dirty="0" smtClean="0">
                <a:latin typeface="+mn-ea"/>
                <a:ea typeface="+mn-ea"/>
              </a:rPr>
              <a:t> </a:t>
            </a:r>
            <a:r>
              <a:rPr lang="zh-CN" altLang="en-US" sz="2200" dirty="0">
                <a:latin typeface="+mn-ea"/>
                <a:ea typeface="+mn-ea"/>
              </a:rPr>
              <a:t>或</a:t>
            </a:r>
          </a:p>
        </p:txBody>
      </p:sp>
      <p:graphicFrame>
        <p:nvGraphicFramePr>
          <p:cNvPr id="8" name="对象 7">
            <a:extLst>
              <a:ext uri="{FF2B5EF4-FFF2-40B4-BE49-F238E27FC236}">
                <a16:creationId xmlns:a16="http://schemas.microsoft.com/office/drawing/2014/main" xmlns="" id="{EEDAF6C4-7D0F-973C-9465-E774A12626A9}"/>
              </a:ext>
            </a:extLst>
          </p:cNvPr>
          <p:cNvGraphicFramePr>
            <a:graphicFrameLocks noChangeAspect="1"/>
          </p:cNvGraphicFramePr>
          <p:nvPr>
            <p:extLst>
              <p:ext uri="{D42A27DB-BD31-4B8C-83A1-F6EECF244321}">
                <p14:modId xmlns:p14="http://schemas.microsoft.com/office/powerpoint/2010/main" val="2133978622"/>
              </p:ext>
            </p:extLst>
          </p:nvPr>
        </p:nvGraphicFramePr>
        <p:xfrm>
          <a:off x="1626529" y="1580872"/>
          <a:ext cx="430872" cy="430872"/>
        </p:xfrm>
        <a:graphic>
          <a:graphicData uri="http://schemas.openxmlformats.org/presentationml/2006/ole">
            <mc:AlternateContent xmlns:mc="http://schemas.openxmlformats.org/markup-compatibility/2006">
              <mc:Choice xmlns:v="urn:schemas-microsoft-com:vml" Requires="v">
                <p:oleObj spid="_x0000_s23993" name="Equation" r:id="rId3" imgW="504758" imgH="504738" progId="Equation.DSMT4">
                  <p:embed/>
                </p:oleObj>
              </mc:Choice>
              <mc:Fallback>
                <p:oleObj name="Equation" r:id="rId3" imgW="504758" imgH="504738" progId="Equation.DSMT4">
                  <p:embed/>
                  <p:pic>
                    <p:nvPicPr>
                      <p:cNvPr id="0" name=""/>
                      <p:cNvPicPr/>
                      <p:nvPr/>
                    </p:nvPicPr>
                    <p:blipFill>
                      <a:blip r:embed="rId4"/>
                      <a:stretch>
                        <a:fillRect/>
                      </a:stretch>
                    </p:blipFill>
                    <p:spPr>
                      <a:xfrm>
                        <a:off x="1626529" y="1580872"/>
                        <a:ext cx="430872" cy="430872"/>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xmlns="" id="{63D616A1-D013-FF81-07DC-839794593EA9}"/>
              </a:ext>
            </a:extLst>
          </p:cNvPr>
          <p:cNvGraphicFramePr>
            <a:graphicFrameLocks noChangeAspect="1"/>
          </p:cNvGraphicFramePr>
          <p:nvPr>
            <p:extLst>
              <p:ext uri="{D42A27DB-BD31-4B8C-83A1-F6EECF244321}">
                <p14:modId xmlns:p14="http://schemas.microsoft.com/office/powerpoint/2010/main" val="2151324270"/>
              </p:ext>
            </p:extLst>
          </p:nvPr>
        </p:nvGraphicFramePr>
        <p:xfrm>
          <a:off x="3724322" y="1590932"/>
          <a:ext cx="1559960" cy="450617"/>
        </p:xfrm>
        <a:graphic>
          <a:graphicData uri="http://schemas.openxmlformats.org/presentationml/2006/ole">
            <mc:AlternateContent xmlns:mc="http://schemas.openxmlformats.org/markup-compatibility/2006">
              <mc:Choice xmlns:v="urn:schemas-microsoft-com:vml" Requires="v">
                <p:oleObj spid="_x0000_s23994" name="Equation" r:id="rId5" imgW="1440467" imgH="416175" progId="Equation.DSMT4">
                  <p:embed/>
                </p:oleObj>
              </mc:Choice>
              <mc:Fallback>
                <p:oleObj name="Equation" r:id="rId5" imgW="1440467" imgH="416175" progId="Equation.DSMT4">
                  <p:embed/>
                  <p:pic>
                    <p:nvPicPr>
                      <p:cNvPr id="0" name=""/>
                      <p:cNvPicPr/>
                      <p:nvPr/>
                    </p:nvPicPr>
                    <p:blipFill>
                      <a:blip r:embed="rId6"/>
                      <a:stretch>
                        <a:fillRect/>
                      </a:stretch>
                    </p:blipFill>
                    <p:spPr>
                      <a:xfrm>
                        <a:off x="3724322" y="1590932"/>
                        <a:ext cx="1559960" cy="450617"/>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xmlns="" id="{B6F53F8D-3A77-EEB2-FDCC-B20B22458DB1}"/>
              </a:ext>
            </a:extLst>
          </p:cNvPr>
          <p:cNvGraphicFramePr>
            <a:graphicFrameLocks noChangeAspect="1"/>
          </p:cNvGraphicFramePr>
          <p:nvPr>
            <p:extLst>
              <p:ext uri="{D42A27DB-BD31-4B8C-83A1-F6EECF244321}">
                <p14:modId xmlns:p14="http://schemas.microsoft.com/office/powerpoint/2010/main" val="3807760031"/>
              </p:ext>
            </p:extLst>
          </p:nvPr>
        </p:nvGraphicFramePr>
        <p:xfrm>
          <a:off x="5645982" y="1596743"/>
          <a:ext cx="1248117" cy="438994"/>
        </p:xfrm>
        <a:graphic>
          <a:graphicData uri="http://schemas.openxmlformats.org/presentationml/2006/ole">
            <mc:AlternateContent xmlns:mc="http://schemas.openxmlformats.org/markup-compatibility/2006">
              <mc:Choice xmlns:v="urn:schemas-microsoft-com:vml" Requires="v">
                <p:oleObj spid="_x0000_s23995" name="Equation" r:id="rId7" imgW="1150646" imgH="405375" progId="Equation.DSMT4">
                  <p:embed/>
                </p:oleObj>
              </mc:Choice>
              <mc:Fallback>
                <p:oleObj name="Equation" r:id="rId7" imgW="1150646" imgH="405375" progId="Equation.DSMT4">
                  <p:embed/>
                  <p:pic>
                    <p:nvPicPr>
                      <p:cNvPr id="0" name=""/>
                      <p:cNvPicPr/>
                      <p:nvPr/>
                    </p:nvPicPr>
                    <p:blipFill>
                      <a:blip r:embed="rId8"/>
                      <a:stretch>
                        <a:fillRect/>
                      </a:stretch>
                    </p:blipFill>
                    <p:spPr>
                      <a:xfrm>
                        <a:off x="5645982" y="1596743"/>
                        <a:ext cx="1248117" cy="438994"/>
                      </a:xfrm>
                      <a:prstGeom prst="rect">
                        <a:avLst/>
                      </a:prstGeom>
                    </p:spPr>
                  </p:pic>
                </p:oleObj>
              </mc:Fallback>
            </mc:AlternateContent>
          </a:graphicData>
        </a:graphic>
      </p:graphicFrame>
      <p:graphicFrame>
        <p:nvGraphicFramePr>
          <p:cNvPr id="11" name="对象 10">
            <a:extLst>
              <a:ext uri="{FF2B5EF4-FFF2-40B4-BE49-F238E27FC236}">
                <a16:creationId xmlns:a16="http://schemas.microsoft.com/office/drawing/2014/main" xmlns="" id="{10CBDA7C-C144-EDED-CFFE-107FB22466F3}"/>
              </a:ext>
            </a:extLst>
          </p:cNvPr>
          <p:cNvGraphicFramePr>
            <a:graphicFrameLocks noChangeAspect="1"/>
          </p:cNvGraphicFramePr>
          <p:nvPr>
            <p:extLst>
              <p:ext uri="{D42A27DB-BD31-4B8C-83A1-F6EECF244321}">
                <p14:modId xmlns:p14="http://schemas.microsoft.com/office/powerpoint/2010/main" val="1876599352"/>
              </p:ext>
            </p:extLst>
          </p:nvPr>
        </p:nvGraphicFramePr>
        <p:xfrm>
          <a:off x="3035906" y="2022725"/>
          <a:ext cx="2545719" cy="867821"/>
        </p:xfrm>
        <a:graphic>
          <a:graphicData uri="http://schemas.openxmlformats.org/presentationml/2006/ole">
            <mc:AlternateContent xmlns:mc="http://schemas.openxmlformats.org/markup-compatibility/2006">
              <mc:Choice xmlns:v="urn:schemas-microsoft-com:vml" Requires="v">
                <p:oleObj spid="_x0000_s23996" name="Equation" r:id="rId9" imgW="2449263" imgH="835230" progId="Equation.DSMT4">
                  <p:embed/>
                </p:oleObj>
              </mc:Choice>
              <mc:Fallback>
                <p:oleObj name="Equation" r:id="rId9" imgW="2449263" imgH="835230" progId="Equation.DSMT4">
                  <p:embed/>
                  <p:pic>
                    <p:nvPicPr>
                      <p:cNvPr id="0" name=""/>
                      <p:cNvPicPr/>
                      <p:nvPr/>
                    </p:nvPicPr>
                    <p:blipFill>
                      <a:blip r:embed="rId10"/>
                      <a:stretch>
                        <a:fillRect/>
                      </a:stretch>
                    </p:blipFill>
                    <p:spPr>
                      <a:xfrm>
                        <a:off x="3035906" y="2022725"/>
                        <a:ext cx="2545719" cy="867821"/>
                      </a:xfrm>
                      <a:prstGeom prst="rect">
                        <a:avLst/>
                      </a:prstGeom>
                    </p:spPr>
                  </p:pic>
                </p:oleObj>
              </mc:Fallback>
            </mc:AlternateContent>
          </a:graphicData>
        </a:graphic>
      </p:graphicFrame>
      <p:sp>
        <p:nvSpPr>
          <p:cNvPr id="12" name="文本框 11">
            <a:extLst>
              <a:ext uri="{FF2B5EF4-FFF2-40B4-BE49-F238E27FC236}">
                <a16:creationId xmlns:a16="http://schemas.microsoft.com/office/drawing/2014/main" xmlns="" id="{0C5B5280-43CA-FEA8-2FFD-8029AB48E607}"/>
              </a:ext>
            </a:extLst>
          </p:cNvPr>
          <p:cNvSpPr txBox="1"/>
          <p:nvPr/>
        </p:nvSpPr>
        <p:spPr>
          <a:xfrm>
            <a:off x="255755" y="2924024"/>
            <a:ext cx="6937940" cy="430887"/>
          </a:xfrm>
          <a:prstGeom prst="rect">
            <a:avLst/>
          </a:prstGeom>
          <a:noFill/>
        </p:spPr>
        <p:txBody>
          <a:bodyPr wrap="square" rtlCol="0">
            <a:spAutoFit/>
          </a:bodyPr>
          <a:lstStyle/>
          <a:p>
            <a:pPr eaLnBrk="1" hangingPunct="1">
              <a:buNone/>
            </a:pPr>
            <a:r>
              <a:rPr lang="zh-CN" altLang="en-US" sz="2200" dirty="0">
                <a:latin typeface="+mn-ea"/>
                <a:ea typeface="+mn-ea"/>
              </a:rPr>
              <a:t>达到最大极值的条件</a:t>
            </a:r>
            <a:r>
              <a:rPr lang="zh-CN" altLang="en-US" sz="2200" dirty="0" smtClean="0">
                <a:latin typeface="+mn-ea"/>
                <a:ea typeface="+mn-ea"/>
              </a:rPr>
              <a:t>是             </a:t>
            </a:r>
            <a:r>
              <a:rPr lang="en-US" altLang="zh-CN" sz="2200" dirty="0" smtClean="0">
                <a:latin typeface="+mn-ea"/>
                <a:ea typeface="+mn-ea"/>
              </a:rPr>
              <a:t>,</a:t>
            </a:r>
            <a:r>
              <a:rPr lang="zh-CN" altLang="en-US" sz="2200" dirty="0">
                <a:latin typeface="+mn-ea"/>
                <a:ea typeface="+mn-ea"/>
              </a:rPr>
              <a:t>可求得</a:t>
            </a:r>
          </a:p>
        </p:txBody>
      </p:sp>
      <p:graphicFrame>
        <p:nvGraphicFramePr>
          <p:cNvPr id="13" name="对象 12">
            <a:extLst>
              <a:ext uri="{FF2B5EF4-FFF2-40B4-BE49-F238E27FC236}">
                <a16:creationId xmlns:a16="http://schemas.microsoft.com/office/drawing/2014/main" xmlns="" id="{E4C803B3-EC8A-4343-0789-62039BCCEC99}"/>
              </a:ext>
            </a:extLst>
          </p:cNvPr>
          <p:cNvGraphicFramePr>
            <a:graphicFrameLocks noChangeAspect="1"/>
          </p:cNvGraphicFramePr>
          <p:nvPr>
            <p:extLst>
              <p:ext uri="{D42A27DB-BD31-4B8C-83A1-F6EECF244321}">
                <p14:modId xmlns:p14="http://schemas.microsoft.com/office/powerpoint/2010/main" val="4085322944"/>
              </p:ext>
            </p:extLst>
          </p:nvPr>
        </p:nvGraphicFramePr>
        <p:xfrm>
          <a:off x="3213819" y="2937741"/>
          <a:ext cx="1822450" cy="515937"/>
        </p:xfrm>
        <a:graphic>
          <a:graphicData uri="http://schemas.openxmlformats.org/presentationml/2006/ole">
            <mc:AlternateContent xmlns:mc="http://schemas.openxmlformats.org/markup-compatibility/2006">
              <mc:Choice xmlns:v="urn:schemas-microsoft-com:vml" Requires="v">
                <p:oleObj spid="_x0000_s23997" name="Equation" r:id="rId11" imgW="1822816" imgH="516619" progId="Equation.DSMT4">
                  <p:embed/>
                </p:oleObj>
              </mc:Choice>
              <mc:Fallback>
                <p:oleObj name="Equation" r:id="rId11" imgW="1822816" imgH="516619" progId="Equation.DSMT4">
                  <p:embed/>
                  <p:pic>
                    <p:nvPicPr>
                      <p:cNvPr id="0" name=""/>
                      <p:cNvPicPr/>
                      <p:nvPr/>
                    </p:nvPicPr>
                    <p:blipFill>
                      <a:blip r:embed="rId12"/>
                      <a:stretch>
                        <a:fillRect/>
                      </a:stretch>
                    </p:blipFill>
                    <p:spPr>
                      <a:xfrm>
                        <a:off x="3213819" y="2937741"/>
                        <a:ext cx="1822450" cy="515937"/>
                      </a:xfrm>
                      <a:prstGeom prst="rect">
                        <a:avLst/>
                      </a:prstGeom>
                    </p:spPr>
                  </p:pic>
                </p:oleObj>
              </mc:Fallback>
            </mc:AlternateContent>
          </a:graphicData>
        </a:graphic>
      </p:graphicFrame>
      <p:graphicFrame>
        <p:nvGraphicFramePr>
          <p:cNvPr id="14" name="对象 13">
            <a:extLst>
              <a:ext uri="{FF2B5EF4-FFF2-40B4-BE49-F238E27FC236}">
                <a16:creationId xmlns:a16="http://schemas.microsoft.com/office/drawing/2014/main" xmlns="" id="{43A1926F-2224-41C7-2E4B-281CE20A06F5}"/>
              </a:ext>
            </a:extLst>
          </p:cNvPr>
          <p:cNvGraphicFramePr>
            <a:graphicFrameLocks noChangeAspect="1"/>
          </p:cNvGraphicFramePr>
          <p:nvPr>
            <p:extLst>
              <p:ext uri="{D42A27DB-BD31-4B8C-83A1-F6EECF244321}">
                <p14:modId xmlns:p14="http://schemas.microsoft.com/office/powerpoint/2010/main" val="1488173366"/>
              </p:ext>
            </p:extLst>
          </p:nvPr>
        </p:nvGraphicFramePr>
        <p:xfrm>
          <a:off x="5956559" y="2947779"/>
          <a:ext cx="1008063" cy="457200"/>
        </p:xfrm>
        <a:graphic>
          <a:graphicData uri="http://schemas.openxmlformats.org/presentationml/2006/ole">
            <mc:AlternateContent xmlns:mc="http://schemas.openxmlformats.org/markup-compatibility/2006">
              <mc:Choice xmlns:v="urn:schemas-microsoft-com:vml" Requires="v">
                <p:oleObj spid="_x0000_s23998" name="Equation" r:id="rId13" imgW="1007355" imgH="457216" progId="Equation.DSMT4">
                  <p:embed/>
                </p:oleObj>
              </mc:Choice>
              <mc:Fallback>
                <p:oleObj name="Equation" r:id="rId13" imgW="1007355" imgH="457216" progId="Equation.DSMT4">
                  <p:embed/>
                  <p:pic>
                    <p:nvPicPr>
                      <p:cNvPr id="0" name=""/>
                      <p:cNvPicPr/>
                      <p:nvPr/>
                    </p:nvPicPr>
                    <p:blipFill>
                      <a:blip r:embed="rId14"/>
                      <a:stretch>
                        <a:fillRect/>
                      </a:stretch>
                    </p:blipFill>
                    <p:spPr>
                      <a:xfrm>
                        <a:off x="5956559" y="2947779"/>
                        <a:ext cx="1008063" cy="457200"/>
                      </a:xfrm>
                      <a:prstGeom prst="rect">
                        <a:avLst/>
                      </a:prstGeom>
                    </p:spPr>
                  </p:pic>
                </p:oleObj>
              </mc:Fallback>
            </mc:AlternateContent>
          </a:graphicData>
        </a:graphic>
      </p:graphicFrame>
      <p:sp>
        <p:nvSpPr>
          <p:cNvPr id="15" name="文本框 14">
            <a:extLst>
              <a:ext uri="{FF2B5EF4-FFF2-40B4-BE49-F238E27FC236}">
                <a16:creationId xmlns:a16="http://schemas.microsoft.com/office/drawing/2014/main" xmlns="" id="{328259EF-CD41-C516-CDD8-D3571F649F71}"/>
              </a:ext>
            </a:extLst>
          </p:cNvPr>
          <p:cNvSpPr txBox="1"/>
          <p:nvPr/>
        </p:nvSpPr>
        <p:spPr>
          <a:xfrm>
            <a:off x="251022" y="3384455"/>
            <a:ext cx="1036662" cy="430887"/>
          </a:xfrm>
          <a:prstGeom prst="rect">
            <a:avLst/>
          </a:prstGeom>
          <a:noFill/>
        </p:spPr>
        <p:txBody>
          <a:bodyPr wrap="square" rtlCol="0">
            <a:spAutoFit/>
          </a:bodyPr>
          <a:lstStyle/>
          <a:p>
            <a:pPr eaLnBrk="1" hangingPunct="1">
              <a:buNone/>
            </a:pPr>
            <a:r>
              <a:rPr lang="zh-CN" altLang="en-US" sz="2200" dirty="0">
                <a:latin typeface="+mn-ea"/>
                <a:ea typeface="+mn-ea"/>
              </a:rPr>
              <a:t>可得</a:t>
            </a:r>
          </a:p>
        </p:txBody>
      </p:sp>
      <p:graphicFrame>
        <p:nvGraphicFramePr>
          <p:cNvPr id="16" name="对象 15">
            <a:extLst>
              <a:ext uri="{FF2B5EF4-FFF2-40B4-BE49-F238E27FC236}">
                <a16:creationId xmlns:a16="http://schemas.microsoft.com/office/drawing/2014/main" xmlns="" id="{BC4F2D4F-FB1B-FF62-EC34-E0A81F49FE8A}"/>
              </a:ext>
            </a:extLst>
          </p:cNvPr>
          <p:cNvGraphicFramePr>
            <a:graphicFrameLocks noChangeAspect="1"/>
          </p:cNvGraphicFramePr>
          <p:nvPr>
            <p:extLst>
              <p:ext uri="{D42A27DB-BD31-4B8C-83A1-F6EECF244321}">
                <p14:modId xmlns:p14="http://schemas.microsoft.com/office/powerpoint/2010/main" val="1814224446"/>
              </p:ext>
            </p:extLst>
          </p:nvPr>
        </p:nvGraphicFramePr>
        <p:xfrm>
          <a:off x="2315017" y="3393884"/>
          <a:ext cx="3987495" cy="500142"/>
        </p:xfrm>
        <a:graphic>
          <a:graphicData uri="http://schemas.openxmlformats.org/presentationml/2006/ole">
            <mc:AlternateContent xmlns:mc="http://schemas.openxmlformats.org/markup-compatibility/2006">
              <mc:Choice xmlns:v="urn:schemas-microsoft-com:vml" Requires="v">
                <p:oleObj spid="_x0000_s23999" name="Equation" r:id="rId15" imgW="4177392" imgH="524539" progId="Equation.DSMT4">
                  <p:embed/>
                </p:oleObj>
              </mc:Choice>
              <mc:Fallback>
                <p:oleObj name="Equation" r:id="rId15" imgW="4177392" imgH="524539" progId="Equation.DSMT4">
                  <p:embed/>
                  <p:pic>
                    <p:nvPicPr>
                      <p:cNvPr id="0" name=""/>
                      <p:cNvPicPr/>
                      <p:nvPr/>
                    </p:nvPicPr>
                    <p:blipFill>
                      <a:blip r:embed="rId16"/>
                      <a:stretch>
                        <a:fillRect/>
                      </a:stretch>
                    </p:blipFill>
                    <p:spPr>
                      <a:xfrm>
                        <a:off x="2315017" y="3393884"/>
                        <a:ext cx="3987495" cy="500142"/>
                      </a:xfrm>
                      <a:prstGeom prst="rect">
                        <a:avLst/>
                      </a:prstGeom>
                    </p:spPr>
                  </p:pic>
                </p:oleObj>
              </mc:Fallback>
            </mc:AlternateContent>
          </a:graphicData>
        </a:graphic>
      </p:graphicFrame>
      <p:sp>
        <p:nvSpPr>
          <p:cNvPr id="17" name="文本框 16">
            <a:extLst>
              <a:ext uri="{FF2B5EF4-FFF2-40B4-BE49-F238E27FC236}">
                <a16:creationId xmlns:a16="http://schemas.microsoft.com/office/drawing/2014/main" xmlns="" id="{9D1053F8-7733-B03D-2D6B-8C62A5711DEF}"/>
              </a:ext>
            </a:extLst>
          </p:cNvPr>
          <p:cNvSpPr txBox="1"/>
          <p:nvPr/>
        </p:nvSpPr>
        <p:spPr>
          <a:xfrm>
            <a:off x="283448" y="3982175"/>
            <a:ext cx="6937940" cy="430887"/>
          </a:xfrm>
          <a:prstGeom prst="rect">
            <a:avLst/>
          </a:prstGeom>
          <a:noFill/>
        </p:spPr>
        <p:txBody>
          <a:bodyPr wrap="square" rtlCol="0">
            <a:spAutoFit/>
          </a:bodyPr>
          <a:lstStyle/>
          <a:p>
            <a:pPr eaLnBrk="1" hangingPunct="1">
              <a:buNone/>
            </a:pPr>
            <a:r>
              <a:rPr lang="zh-CN" altLang="en-US" sz="2200" dirty="0">
                <a:latin typeface="+mn-ea"/>
                <a:ea typeface="+mn-ea"/>
              </a:rPr>
              <a:t>称为</a:t>
            </a:r>
            <a:r>
              <a:rPr lang="zh-CN" altLang="en-US" sz="2200" dirty="0">
                <a:solidFill>
                  <a:srgbClr val="FF0000"/>
                </a:solidFill>
                <a:latin typeface="+mn-ea"/>
                <a:ea typeface="+mn-ea"/>
              </a:rPr>
              <a:t>共轭阻抗匹配</a:t>
            </a:r>
            <a:r>
              <a:rPr lang="en-US" altLang="zh-CN" sz="2200" dirty="0">
                <a:solidFill>
                  <a:srgbClr val="FF0000"/>
                </a:solidFill>
                <a:latin typeface="+mn-ea"/>
                <a:ea typeface="+mn-ea"/>
              </a:rPr>
              <a:t>, </a:t>
            </a:r>
            <a:r>
              <a:rPr lang="zh-CN" altLang="en-US" sz="2200" dirty="0">
                <a:solidFill>
                  <a:srgbClr val="FF0000"/>
                </a:solidFill>
                <a:latin typeface="+mn-ea"/>
                <a:ea typeface="+mn-ea"/>
              </a:rPr>
              <a:t>或简称为阻抗匹配。 </a:t>
            </a:r>
          </a:p>
        </p:txBody>
      </p:sp>
      <p:sp>
        <p:nvSpPr>
          <p:cNvPr id="18" name="文本框 17">
            <a:extLst>
              <a:ext uri="{FF2B5EF4-FFF2-40B4-BE49-F238E27FC236}">
                <a16:creationId xmlns:a16="http://schemas.microsoft.com/office/drawing/2014/main" xmlns="" id="{09E0FF55-D934-35C9-4137-0A7C95096FF9}"/>
              </a:ext>
            </a:extLst>
          </p:cNvPr>
          <p:cNvSpPr txBox="1"/>
          <p:nvPr/>
        </p:nvSpPr>
        <p:spPr>
          <a:xfrm>
            <a:off x="251021" y="4387178"/>
            <a:ext cx="8641955" cy="1446550"/>
          </a:xfrm>
          <a:prstGeom prst="rect">
            <a:avLst/>
          </a:prstGeom>
          <a:noFill/>
        </p:spPr>
        <p:txBody>
          <a:bodyPr wrap="square" rtlCol="0">
            <a:spAutoFit/>
          </a:bodyPr>
          <a:lstStyle/>
          <a:p>
            <a:pPr eaLnBrk="1" hangingPunct="1">
              <a:buNone/>
            </a:pPr>
            <a:r>
              <a:rPr lang="zh-CN" altLang="en-US" sz="2200" dirty="0">
                <a:latin typeface="+mn-ea"/>
                <a:ea typeface="+mn-ea"/>
              </a:rPr>
              <a:t>    </a:t>
            </a:r>
            <a:r>
              <a:rPr lang="zh-CN" altLang="en-US" sz="2200" dirty="0">
                <a:solidFill>
                  <a:srgbClr val="FF0000"/>
                </a:solidFill>
                <a:latin typeface="+mn-ea"/>
                <a:ea typeface="+mn-ea"/>
              </a:rPr>
              <a:t>共轭阻抗匹配不仅实现了功率的最大传输，而且消除了功率从信号源到负载传输过程中的相移。</a:t>
            </a:r>
            <a:r>
              <a:rPr lang="zh-CN" altLang="en-US" sz="2200" dirty="0">
                <a:latin typeface="+mn-ea"/>
                <a:ea typeface="+mn-ea"/>
              </a:rPr>
              <a:t>这是由于共轭阻抗匹配之后在整个信号源到负载回路中只包含纯电阻。</a:t>
            </a:r>
            <a:r>
              <a:rPr lang="zh-CN" altLang="en-US" sz="2200" dirty="0">
                <a:solidFill>
                  <a:srgbClr val="FF0000"/>
                </a:solidFill>
                <a:latin typeface="+mn-ea"/>
                <a:ea typeface="+mn-ea"/>
              </a:rPr>
              <a:t>在共轭阻抗匹配条件下，传输到负载的最大功率是</a:t>
            </a:r>
          </a:p>
        </p:txBody>
      </p:sp>
      <p:graphicFrame>
        <p:nvGraphicFramePr>
          <p:cNvPr id="19" name="对象 18">
            <a:extLst>
              <a:ext uri="{FF2B5EF4-FFF2-40B4-BE49-F238E27FC236}">
                <a16:creationId xmlns:a16="http://schemas.microsoft.com/office/drawing/2014/main" xmlns="" id="{D4E73E6E-2E1D-8C88-10ED-7AE84B4D6037}"/>
              </a:ext>
            </a:extLst>
          </p:cNvPr>
          <p:cNvGraphicFramePr>
            <a:graphicFrameLocks noChangeAspect="1"/>
          </p:cNvGraphicFramePr>
          <p:nvPr>
            <p:extLst>
              <p:ext uri="{D42A27DB-BD31-4B8C-83A1-F6EECF244321}">
                <p14:modId xmlns:p14="http://schemas.microsoft.com/office/powerpoint/2010/main" val="3660411909"/>
              </p:ext>
            </p:extLst>
          </p:nvPr>
        </p:nvGraphicFramePr>
        <p:xfrm>
          <a:off x="2557599" y="5574063"/>
          <a:ext cx="3744913" cy="1046163"/>
        </p:xfrm>
        <a:graphic>
          <a:graphicData uri="http://schemas.openxmlformats.org/presentationml/2006/ole">
            <mc:AlternateContent xmlns:mc="http://schemas.openxmlformats.org/markup-compatibility/2006">
              <mc:Choice xmlns:v="urn:schemas-microsoft-com:vml" Requires="v">
                <p:oleObj spid="_x0000_s24000" name="Equation" r:id="rId17" imgW="3744639" imgH="1045478" progId="Equation.DSMT4">
                  <p:embed/>
                </p:oleObj>
              </mc:Choice>
              <mc:Fallback>
                <p:oleObj name="Equation" r:id="rId17" imgW="3744639" imgH="1045478" progId="Equation.DSMT4">
                  <p:embed/>
                  <p:pic>
                    <p:nvPicPr>
                      <p:cNvPr id="0" name=""/>
                      <p:cNvPicPr/>
                      <p:nvPr/>
                    </p:nvPicPr>
                    <p:blipFill>
                      <a:blip r:embed="rId18"/>
                      <a:stretch>
                        <a:fillRect/>
                      </a:stretch>
                    </p:blipFill>
                    <p:spPr>
                      <a:xfrm>
                        <a:off x="2557599" y="5574063"/>
                        <a:ext cx="3744913" cy="1046163"/>
                      </a:xfrm>
                      <a:prstGeom prst="rect">
                        <a:avLst/>
                      </a:prstGeom>
                    </p:spPr>
                  </p:pic>
                </p:oleObj>
              </mc:Fallback>
            </mc:AlternateContent>
          </a:graphicData>
        </a:graphic>
      </p:graphicFrame>
    </p:spTree>
    <p:extLst>
      <p:ext uri="{BB962C8B-B14F-4D97-AF65-F5344CB8AC3E}">
        <p14:creationId xmlns:p14="http://schemas.microsoft.com/office/powerpoint/2010/main" val="1253144667"/>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43</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2.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高频</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基础</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电路</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1" name="Text Box 10">
            <a:extLst>
              <a:ext uri="{FF2B5EF4-FFF2-40B4-BE49-F238E27FC236}">
                <a16:creationId xmlns:a16="http://schemas.microsoft.com/office/drawing/2014/main" xmlns="" id="{E9A74871-3DF6-F632-5DC9-EA60A2AC2A76}"/>
              </a:ext>
            </a:extLst>
          </p:cNvPr>
          <p:cNvSpPr txBox="1">
            <a:spLocks noChangeArrowheads="1"/>
          </p:cNvSpPr>
          <p:nvPr/>
        </p:nvSpPr>
        <p:spPr bwMode="auto">
          <a:xfrm>
            <a:off x="0" y="1111203"/>
            <a:ext cx="91440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50000"/>
              </a:spcBef>
              <a:buNone/>
            </a:pPr>
            <a:r>
              <a:rPr lang="en-US" altLang="zh-CN" sz="28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2.4 </a:t>
            </a:r>
            <a:r>
              <a:rPr lang="zh-CN" altLang="en-US" sz="28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阻抗匹配网络</a:t>
            </a:r>
            <a:endParaRPr lang="zh-CN" altLang="en-US" sz="28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2" name="TextBox 16">
            <a:extLst>
              <a:ext uri="{FF2B5EF4-FFF2-40B4-BE49-F238E27FC236}">
                <a16:creationId xmlns="" xmlns:a16="http://schemas.microsoft.com/office/drawing/2014/main" id="{EC012DD4-08F3-2011-3B16-98A090EA3308}"/>
              </a:ext>
            </a:extLst>
          </p:cNvPr>
          <p:cNvSpPr txBox="1"/>
          <p:nvPr/>
        </p:nvSpPr>
        <p:spPr>
          <a:xfrm>
            <a:off x="1243757" y="1682803"/>
            <a:ext cx="4357687" cy="400110"/>
          </a:xfrm>
          <a:prstGeom prst="rect">
            <a:avLst/>
          </a:prstGeom>
          <a:noFill/>
          <a:ln w="9525">
            <a:noFill/>
          </a:ln>
        </p:spPr>
        <p:txBody>
          <a:bodyPr>
            <a:spAutoFit/>
          </a:bodyPr>
          <a:lstStyle/>
          <a:p>
            <a:pPr>
              <a:lnSpc>
                <a:spcPct val="100000"/>
              </a:lnSpc>
              <a:buClr>
                <a:schemeClr val="tx1"/>
              </a:buClr>
              <a:buFont typeface="Wingdings" panose="05000000000000000000" pitchFamily="2" charset="2"/>
              <a:buChar char="Ø"/>
            </a:pPr>
            <a:r>
              <a:rPr lang="zh-CN" altLang="en-US" sz="2000" b="1" baseline="0" dirty="0">
                <a:latin typeface="+mn-ea"/>
                <a:ea typeface="+mn-ea"/>
              </a:rPr>
              <a:t> </a:t>
            </a:r>
            <a:r>
              <a:rPr lang="zh-CN" altLang="en-US" sz="2000" b="1" baseline="0" dirty="0">
                <a:solidFill>
                  <a:schemeClr val="tx2"/>
                </a:solidFill>
                <a:latin typeface="+mn-ea"/>
                <a:ea typeface="+mn-ea"/>
              </a:rPr>
              <a:t>阻抗匹配</a:t>
            </a:r>
            <a:r>
              <a:rPr lang="en-US" altLang="zh-CN" sz="2000" b="1" baseline="0" dirty="0">
                <a:solidFill>
                  <a:schemeClr val="tx2"/>
                </a:solidFill>
                <a:latin typeface="+mn-ea"/>
                <a:ea typeface="+mn-ea"/>
              </a:rPr>
              <a:t>(</a:t>
            </a:r>
            <a:r>
              <a:rPr lang="zh-CN" altLang="en-US" sz="2000" b="1" baseline="0" dirty="0">
                <a:solidFill>
                  <a:schemeClr val="tx2"/>
                </a:solidFill>
                <a:latin typeface="+mn-ea"/>
                <a:ea typeface="+mn-ea"/>
              </a:rPr>
              <a:t>变换</a:t>
            </a:r>
            <a:r>
              <a:rPr lang="en-US" altLang="zh-CN" sz="2000" b="1" baseline="0" dirty="0">
                <a:solidFill>
                  <a:schemeClr val="tx2"/>
                </a:solidFill>
                <a:latin typeface="+mn-ea"/>
                <a:ea typeface="+mn-ea"/>
              </a:rPr>
              <a:t>) </a:t>
            </a:r>
            <a:r>
              <a:rPr lang="zh-CN" altLang="en-US" sz="2000" b="1" baseline="0" dirty="0">
                <a:solidFill>
                  <a:schemeClr val="tx2"/>
                </a:solidFill>
                <a:latin typeface="+mn-ea"/>
                <a:ea typeface="+mn-ea"/>
              </a:rPr>
              <a:t>的必要性</a:t>
            </a:r>
          </a:p>
        </p:txBody>
      </p:sp>
      <p:sp>
        <p:nvSpPr>
          <p:cNvPr id="13" name="TextBox 17">
            <a:extLst>
              <a:ext uri="{FF2B5EF4-FFF2-40B4-BE49-F238E27FC236}">
                <a16:creationId xmlns="" xmlns:a16="http://schemas.microsoft.com/office/drawing/2014/main" id="{7DF505AB-E39B-3BFA-D669-6427CAA01606}"/>
              </a:ext>
            </a:extLst>
          </p:cNvPr>
          <p:cNvSpPr txBox="1"/>
          <p:nvPr/>
        </p:nvSpPr>
        <p:spPr>
          <a:xfrm>
            <a:off x="1762869" y="2237486"/>
            <a:ext cx="3838575" cy="1311275"/>
          </a:xfrm>
          <a:prstGeom prst="rect">
            <a:avLst/>
          </a:prstGeom>
          <a:noFill/>
          <a:ln w="9525">
            <a:noFill/>
          </a:ln>
        </p:spPr>
        <p:txBody>
          <a:bodyPr>
            <a:spAutoFit/>
          </a:bodyPr>
          <a:lstStyle/>
          <a:p>
            <a:pPr>
              <a:lnSpc>
                <a:spcPct val="100000"/>
              </a:lnSpc>
              <a:buFont typeface="Wingdings" panose="05000000000000000000" pitchFamily="2" charset="2"/>
              <a:buChar char="n"/>
            </a:pPr>
            <a:r>
              <a:rPr lang="zh-CN" altLang="en-US" sz="2000" baseline="0" dirty="0">
                <a:latin typeface="+mn-ea"/>
                <a:ea typeface="+mn-ea"/>
              </a:rPr>
              <a:t> 可以向负载传输最大的功率</a:t>
            </a:r>
            <a:endParaRPr lang="en-US" altLang="zh-CN" sz="2000" baseline="0" dirty="0">
              <a:latin typeface="+mn-ea"/>
              <a:ea typeface="+mn-ea"/>
            </a:endParaRPr>
          </a:p>
          <a:p>
            <a:pPr>
              <a:lnSpc>
                <a:spcPct val="100000"/>
              </a:lnSpc>
              <a:buFont typeface="Wingdings" panose="05000000000000000000" pitchFamily="2" charset="2"/>
              <a:buChar char="n"/>
            </a:pPr>
            <a:r>
              <a:rPr lang="en-US" altLang="zh-CN" sz="2000" baseline="0" dirty="0">
                <a:latin typeface="+mn-ea"/>
                <a:ea typeface="+mn-ea"/>
              </a:rPr>
              <a:t> </a:t>
            </a:r>
            <a:r>
              <a:rPr lang="zh-CN" altLang="en-US" sz="2000" baseline="0" dirty="0">
                <a:latin typeface="+mn-ea"/>
                <a:ea typeface="+mn-ea"/>
              </a:rPr>
              <a:t>改善噪声系数</a:t>
            </a:r>
            <a:endParaRPr lang="en-US" altLang="zh-CN" sz="2000" baseline="0" dirty="0">
              <a:latin typeface="+mn-ea"/>
              <a:ea typeface="+mn-ea"/>
            </a:endParaRPr>
          </a:p>
          <a:p>
            <a:pPr>
              <a:lnSpc>
                <a:spcPct val="100000"/>
              </a:lnSpc>
              <a:buFont typeface="Wingdings" panose="05000000000000000000" pitchFamily="2" charset="2"/>
              <a:buChar char="n"/>
            </a:pPr>
            <a:r>
              <a:rPr lang="zh-CN" altLang="en-US" sz="2000" baseline="0" dirty="0">
                <a:latin typeface="+mn-ea"/>
                <a:ea typeface="+mn-ea"/>
              </a:rPr>
              <a:t> 提供滤波器和选频回路的性能</a:t>
            </a:r>
            <a:endParaRPr lang="en-US" altLang="zh-CN" sz="2000" baseline="0" dirty="0">
              <a:latin typeface="+mn-ea"/>
              <a:ea typeface="+mn-ea"/>
            </a:endParaRPr>
          </a:p>
          <a:p>
            <a:pPr>
              <a:lnSpc>
                <a:spcPct val="100000"/>
              </a:lnSpc>
              <a:buFont typeface="Wingdings" panose="05000000000000000000" pitchFamily="2" charset="2"/>
              <a:buChar char="n"/>
            </a:pPr>
            <a:r>
              <a:rPr lang="zh-CN" altLang="en-US" sz="2000" baseline="0" dirty="0">
                <a:latin typeface="+mn-ea"/>
                <a:ea typeface="+mn-ea"/>
              </a:rPr>
              <a:t> 减少反射引起的失真</a:t>
            </a:r>
          </a:p>
        </p:txBody>
      </p:sp>
      <p:sp>
        <p:nvSpPr>
          <p:cNvPr id="14" name="TextBox 18">
            <a:extLst>
              <a:ext uri="{FF2B5EF4-FFF2-40B4-BE49-F238E27FC236}">
                <a16:creationId xmlns="" xmlns:a16="http://schemas.microsoft.com/office/drawing/2014/main" id="{0231A9D5-9C23-DE4E-5C74-7F8EC0B87572}"/>
              </a:ext>
            </a:extLst>
          </p:cNvPr>
          <p:cNvSpPr txBox="1"/>
          <p:nvPr/>
        </p:nvSpPr>
        <p:spPr>
          <a:xfrm>
            <a:off x="1261105" y="3595770"/>
            <a:ext cx="4392612" cy="400110"/>
          </a:xfrm>
          <a:prstGeom prst="rect">
            <a:avLst/>
          </a:prstGeom>
          <a:noFill/>
          <a:ln w="9525">
            <a:noFill/>
          </a:ln>
        </p:spPr>
        <p:txBody>
          <a:bodyPr>
            <a:spAutoFit/>
          </a:bodyPr>
          <a:lstStyle/>
          <a:p>
            <a:pPr marL="342900" indent="-342900">
              <a:lnSpc>
                <a:spcPct val="100000"/>
              </a:lnSpc>
              <a:buClr>
                <a:schemeClr val="tx1"/>
              </a:buClr>
              <a:buFont typeface="Wingdings" panose="05000000000000000000" pitchFamily="2" charset="2"/>
              <a:buChar char="Ø"/>
            </a:pPr>
            <a:r>
              <a:rPr lang="zh-CN" altLang="en-US" sz="2000" b="1" baseline="0" dirty="0">
                <a:solidFill>
                  <a:srgbClr val="3333FF"/>
                </a:solidFill>
                <a:latin typeface="+mn-ea"/>
                <a:ea typeface="+mn-ea"/>
              </a:rPr>
              <a:t> </a:t>
            </a:r>
            <a:r>
              <a:rPr lang="zh-CN" altLang="en-US" sz="2000" b="1" baseline="0" dirty="0">
                <a:solidFill>
                  <a:schemeClr val="tx2"/>
                </a:solidFill>
                <a:latin typeface="+mn-ea"/>
                <a:ea typeface="+mn-ea"/>
              </a:rPr>
              <a:t>阻抗匹配应是无损耗的</a:t>
            </a:r>
          </a:p>
        </p:txBody>
      </p:sp>
      <p:sp>
        <p:nvSpPr>
          <p:cNvPr id="15" name="TextBox 19">
            <a:extLst>
              <a:ext uri="{FF2B5EF4-FFF2-40B4-BE49-F238E27FC236}">
                <a16:creationId xmlns="" xmlns:a16="http://schemas.microsoft.com/office/drawing/2014/main" id="{C1225B46-84F6-6F0C-BD97-AF54E4DABCD2}"/>
              </a:ext>
            </a:extLst>
          </p:cNvPr>
          <p:cNvSpPr txBox="1"/>
          <p:nvPr/>
        </p:nvSpPr>
        <p:spPr>
          <a:xfrm>
            <a:off x="1754932" y="4180586"/>
            <a:ext cx="2024062" cy="396875"/>
          </a:xfrm>
          <a:prstGeom prst="rect">
            <a:avLst/>
          </a:prstGeom>
          <a:noFill/>
          <a:ln w="9525">
            <a:noFill/>
          </a:ln>
        </p:spPr>
        <p:txBody>
          <a:bodyPr wrap="none">
            <a:spAutoFit/>
          </a:bodyPr>
          <a:lstStyle/>
          <a:p>
            <a:pPr>
              <a:lnSpc>
                <a:spcPct val="100000"/>
              </a:lnSpc>
              <a:buFont typeface="Wingdings" panose="05000000000000000000" pitchFamily="2" charset="2"/>
              <a:buChar char="n"/>
            </a:pPr>
            <a:r>
              <a:rPr lang="zh-CN" altLang="en-US" sz="2000" baseline="0" dirty="0">
                <a:latin typeface="+mn-ea"/>
                <a:ea typeface="+mn-ea"/>
              </a:rPr>
              <a:t> </a:t>
            </a:r>
            <a:r>
              <a:rPr lang="zh-CN" altLang="en-US" sz="2000" baseline="0" dirty="0">
                <a:solidFill>
                  <a:srgbClr val="FF0000"/>
                </a:solidFill>
                <a:latin typeface="+mn-ea"/>
                <a:ea typeface="+mn-ea"/>
              </a:rPr>
              <a:t>不用电阻网络</a:t>
            </a:r>
          </a:p>
        </p:txBody>
      </p:sp>
      <p:sp>
        <p:nvSpPr>
          <p:cNvPr id="16" name="TextBox 20">
            <a:extLst>
              <a:ext uri="{FF2B5EF4-FFF2-40B4-BE49-F238E27FC236}">
                <a16:creationId xmlns="" xmlns:a16="http://schemas.microsoft.com/office/drawing/2014/main" id="{1FD3DF4B-0976-5BF5-89FB-FA7F0BDEE2CA}"/>
              </a:ext>
            </a:extLst>
          </p:cNvPr>
          <p:cNvSpPr txBox="1"/>
          <p:nvPr/>
        </p:nvSpPr>
        <p:spPr>
          <a:xfrm>
            <a:off x="1261105" y="4730513"/>
            <a:ext cx="3887788" cy="400110"/>
          </a:xfrm>
          <a:prstGeom prst="rect">
            <a:avLst/>
          </a:prstGeom>
          <a:noFill/>
          <a:ln w="9525">
            <a:noFill/>
          </a:ln>
        </p:spPr>
        <p:txBody>
          <a:bodyPr>
            <a:spAutoFit/>
          </a:bodyPr>
          <a:lstStyle/>
          <a:p>
            <a:pPr>
              <a:lnSpc>
                <a:spcPct val="100000"/>
              </a:lnSpc>
              <a:buClr>
                <a:schemeClr val="tx1"/>
              </a:buClr>
              <a:buFont typeface="Wingdings" panose="05000000000000000000" pitchFamily="2" charset="2"/>
              <a:buChar char="Ø"/>
            </a:pPr>
            <a:r>
              <a:rPr lang="zh-CN" altLang="en-US" sz="2000" b="1" baseline="0" dirty="0">
                <a:solidFill>
                  <a:srgbClr val="3333FF"/>
                </a:solidFill>
                <a:latin typeface="+mn-ea"/>
                <a:ea typeface="+mn-ea"/>
              </a:rPr>
              <a:t> </a:t>
            </a:r>
            <a:r>
              <a:rPr lang="zh-CN" altLang="en-US" sz="2000" b="1" baseline="0" dirty="0">
                <a:solidFill>
                  <a:schemeClr val="tx2"/>
                </a:solidFill>
                <a:latin typeface="+mn-ea"/>
                <a:ea typeface="+mn-ea"/>
              </a:rPr>
              <a:t>阻抗匹配的方法</a:t>
            </a:r>
          </a:p>
        </p:txBody>
      </p:sp>
      <p:sp>
        <p:nvSpPr>
          <p:cNvPr id="17" name="TextBox 21">
            <a:extLst>
              <a:ext uri="{FF2B5EF4-FFF2-40B4-BE49-F238E27FC236}">
                <a16:creationId xmlns="" xmlns:a16="http://schemas.microsoft.com/office/drawing/2014/main" id="{95B1BE5F-B1D2-E0DE-6F0B-34BC2B9B29C3}"/>
              </a:ext>
            </a:extLst>
          </p:cNvPr>
          <p:cNvSpPr txBox="1"/>
          <p:nvPr/>
        </p:nvSpPr>
        <p:spPr>
          <a:xfrm>
            <a:off x="1762869" y="5261673"/>
            <a:ext cx="4564063" cy="1006475"/>
          </a:xfrm>
          <a:prstGeom prst="rect">
            <a:avLst/>
          </a:prstGeom>
          <a:noFill/>
          <a:ln w="9525">
            <a:noFill/>
          </a:ln>
        </p:spPr>
        <p:txBody>
          <a:bodyPr wrap="none">
            <a:spAutoFit/>
          </a:bodyPr>
          <a:lstStyle/>
          <a:p>
            <a:pPr>
              <a:lnSpc>
                <a:spcPct val="100000"/>
              </a:lnSpc>
              <a:buFont typeface="Wingdings" panose="05000000000000000000" pitchFamily="2" charset="2"/>
              <a:buChar char="n"/>
            </a:pPr>
            <a:r>
              <a:rPr lang="zh-CN" altLang="en-US" sz="2000" baseline="0" dirty="0">
                <a:latin typeface="+mn-ea"/>
                <a:ea typeface="+mn-ea"/>
              </a:rPr>
              <a:t> 用集总参数的电抗元件构成</a:t>
            </a:r>
            <a:endParaRPr lang="en-US" altLang="zh-CN" sz="2000" baseline="0" dirty="0">
              <a:latin typeface="+mn-ea"/>
              <a:ea typeface="+mn-ea"/>
            </a:endParaRPr>
          </a:p>
          <a:p>
            <a:pPr>
              <a:lnSpc>
                <a:spcPct val="100000"/>
              </a:lnSpc>
              <a:buFont typeface="Wingdings" panose="05000000000000000000" pitchFamily="2" charset="2"/>
              <a:buChar char="n"/>
            </a:pPr>
            <a:r>
              <a:rPr lang="en-US" altLang="zh-CN" sz="2000" baseline="0" dirty="0">
                <a:latin typeface="+mn-ea"/>
                <a:ea typeface="+mn-ea"/>
              </a:rPr>
              <a:t> </a:t>
            </a:r>
            <a:r>
              <a:rPr lang="zh-CN" altLang="en-US" sz="2000" baseline="0" dirty="0">
                <a:latin typeface="+mn-ea"/>
                <a:ea typeface="+mn-ea"/>
              </a:rPr>
              <a:t>采用微带线构成</a:t>
            </a:r>
            <a:endParaRPr lang="en-US" altLang="zh-CN" sz="2000" baseline="0" dirty="0">
              <a:latin typeface="+mn-ea"/>
              <a:ea typeface="+mn-ea"/>
            </a:endParaRPr>
          </a:p>
          <a:p>
            <a:pPr>
              <a:lnSpc>
                <a:spcPct val="100000"/>
              </a:lnSpc>
              <a:buFont typeface="Wingdings" panose="05000000000000000000" pitchFamily="2" charset="2"/>
              <a:buChar char="n"/>
            </a:pPr>
            <a:r>
              <a:rPr lang="zh-CN" altLang="en-US" sz="2000" baseline="0" dirty="0">
                <a:latin typeface="+mn-ea"/>
                <a:ea typeface="+mn-ea"/>
              </a:rPr>
              <a:t> 匹配网络可以使窄带网络或宽带网路</a:t>
            </a:r>
            <a:endParaRPr lang="en-US" altLang="zh-CN" sz="2000" baseline="0" dirty="0">
              <a:latin typeface="+mn-ea"/>
              <a:ea typeface="+mn-ea"/>
            </a:endParaRPr>
          </a:p>
        </p:txBody>
      </p:sp>
    </p:spTree>
    <p:extLst>
      <p:ext uri="{BB962C8B-B14F-4D97-AF65-F5344CB8AC3E}">
        <p14:creationId xmlns:p14="http://schemas.microsoft.com/office/powerpoint/2010/main" val="1161093788"/>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44</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2.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高频</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基础</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电路</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文本框 4">
            <a:extLst>
              <a:ext uri="{FF2B5EF4-FFF2-40B4-BE49-F238E27FC236}">
                <a16:creationId xmlns:a16="http://schemas.microsoft.com/office/drawing/2014/main" xmlns="" id="{C50EF0FA-0811-AAAC-9600-7BCBD6821396}"/>
              </a:ext>
            </a:extLst>
          </p:cNvPr>
          <p:cNvSpPr txBox="1"/>
          <p:nvPr/>
        </p:nvSpPr>
        <p:spPr>
          <a:xfrm>
            <a:off x="546537" y="1570012"/>
            <a:ext cx="6217859" cy="369332"/>
          </a:xfrm>
          <a:prstGeom prst="rect">
            <a:avLst/>
          </a:prstGeom>
          <a:noFill/>
        </p:spPr>
        <p:txBody>
          <a:bodyPr wrap="square" rtlCol="0">
            <a:spAutoFit/>
          </a:bodyPr>
          <a:lstStyle/>
          <a:p>
            <a:r>
              <a:rPr lang="en-US" altLang="zh-CN" b="1" dirty="0" smtClean="0">
                <a:latin typeface="+mn-ea"/>
                <a:ea typeface="+mn-ea"/>
              </a:rPr>
              <a:t>L</a:t>
            </a:r>
            <a:r>
              <a:rPr lang="zh-CN" altLang="en-US" b="1" dirty="0">
                <a:latin typeface="+mn-ea"/>
                <a:ea typeface="+mn-ea"/>
              </a:rPr>
              <a:t>型匹配网络</a:t>
            </a:r>
          </a:p>
        </p:txBody>
      </p:sp>
      <p:sp>
        <p:nvSpPr>
          <p:cNvPr id="6" name="文本框 5">
            <a:extLst>
              <a:ext uri="{FF2B5EF4-FFF2-40B4-BE49-F238E27FC236}">
                <a16:creationId xmlns:a16="http://schemas.microsoft.com/office/drawing/2014/main" xmlns="" id="{CF2F0CCF-A69B-E20A-DB68-67729F3ECBC3}"/>
              </a:ext>
            </a:extLst>
          </p:cNvPr>
          <p:cNvSpPr txBox="1"/>
          <p:nvPr/>
        </p:nvSpPr>
        <p:spPr>
          <a:xfrm>
            <a:off x="539552" y="4723818"/>
            <a:ext cx="6769298" cy="400110"/>
          </a:xfrm>
          <a:prstGeom prst="rect">
            <a:avLst/>
          </a:prstGeom>
          <a:noFill/>
        </p:spPr>
        <p:txBody>
          <a:bodyPr wrap="square" rtlCol="0">
            <a:spAutoFit/>
          </a:bodyPr>
          <a:lstStyle/>
          <a:p>
            <a:pPr eaLnBrk="1" hangingPunct="1"/>
            <a:r>
              <a:rPr lang="en-US" altLang="zh-CN" sz="2000" dirty="0">
                <a:solidFill>
                  <a:srgbClr val="FF0000"/>
                </a:solidFill>
                <a:latin typeface="Times New Roman" panose="02020603050405020304" pitchFamily="18" charset="0"/>
                <a:ea typeface="+mn-ea"/>
              </a:rPr>
              <a:t>X</a:t>
            </a:r>
            <a:r>
              <a:rPr lang="en-US" altLang="zh-CN" sz="2000" baseline="-25000" dirty="0">
                <a:solidFill>
                  <a:srgbClr val="FF0000"/>
                </a:solidFill>
                <a:latin typeface="Times New Roman" panose="02020603050405020304" pitchFamily="18" charset="0"/>
                <a:ea typeface="+mn-ea"/>
              </a:rPr>
              <a:t>S</a:t>
            </a:r>
            <a:r>
              <a:rPr lang="zh-CN" altLang="en-US" sz="2000" dirty="0">
                <a:solidFill>
                  <a:srgbClr val="FF0000"/>
                </a:solidFill>
                <a:latin typeface="Times New Roman" panose="02020603050405020304" pitchFamily="18" charset="0"/>
                <a:ea typeface="+mn-ea"/>
              </a:rPr>
              <a:t>称为串联支路电抗元件，</a:t>
            </a:r>
            <a:r>
              <a:rPr lang="en-US" altLang="zh-CN" sz="2000" dirty="0">
                <a:solidFill>
                  <a:srgbClr val="FF0000"/>
                </a:solidFill>
                <a:latin typeface="Times New Roman" panose="02020603050405020304" pitchFamily="18" charset="0"/>
                <a:ea typeface="+mn-ea"/>
              </a:rPr>
              <a:t>X</a:t>
            </a:r>
            <a:r>
              <a:rPr lang="en-US" altLang="zh-CN" sz="2000" baseline="-25000" dirty="0">
                <a:solidFill>
                  <a:srgbClr val="FF0000"/>
                </a:solidFill>
                <a:latin typeface="Times New Roman" panose="02020603050405020304" pitchFamily="18" charset="0"/>
                <a:ea typeface="+mn-ea"/>
              </a:rPr>
              <a:t>P</a:t>
            </a:r>
            <a:r>
              <a:rPr lang="zh-CN" altLang="en-US" sz="2000" dirty="0">
                <a:solidFill>
                  <a:srgbClr val="FF0000"/>
                </a:solidFill>
                <a:latin typeface="Times New Roman" panose="02020603050405020304" pitchFamily="18" charset="0"/>
                <a:ea typeface="+mn-ea"/>
              </a:rPr>
              <a:t>称为并联支路电抗元件</a:t>
            </a:r>
          </a:p>
        </p:txBody>
      </p:sp>
      <p:sp>
        <p:nvSpPr>
          <p:cNvPr id="7" name="文本框 6">
            <a:extLst>
              <a:ext uri="{FF2B5EF4-FFF2-40B4-BE49-F238E27FC236}">
                <a16:creationId xmlns:a16="http://schemas.microsoft.com/office/drawing/2014/main" xmlns="" id="{BEC2C204-614D-61EE-5BD5-EC27C5194322}"/>
              </a:ext>
            </a:extLst>
          </p:cNvPr>
          <p:cNvSpPr txBox="1"/>
          <p:nvPr/>
        </p:nvSpPr>
        <p:spPr>
          <a:xfrm>
            <a:off x="546537" y="1951927"/>
            <a:ext cx="6937940" cy="1015663"/>
          </a:xfrm>
          <a:prstGeom prst="rect">
            <a:avLst/>
          </a:prstGeom>
          <a:noFill/>
        </p:spPr>
        <p:txBody>
          <a:bodyPr wrap="square" rtlCol="0">
            <a:spAutoFit/>
          </a:bodyPr>
          <a:lstStyle/>
          <a:p>
            <a:pPr marL="342900" indent="-342900" eaLnBrk="1" hangingPunct="1">
              <a:buFont typeface="Wingdings" panose="05000000000000000000" pitchFamily="2" charset="2"/>
              <a:buChar char="Ø"/>
            </a:pPr>
            <a:r>
              <a:rPr lang="zh-CN" altLang="en-US" sz="2000" dirty="0">
                <a:latin typeface="+mn-ea"/>
                <a:ea typeface="+mn-ea"/>
              </a:rPr>
              <a:t> 组成：两个不同性质的电抗元件构成</a:t>
            </a:r>
          </a:p>
          <a:p>
            <a:pPr marL="342900" indent="-342900" eaLnBrk="1" hangingPunct="1">
              <a:buFont typeface="Wingdings" panose="05000000000000000000" pitchFamily="2" charset="2"/>
              <a:buChar char="Ø"/>
            </a:pPr>
            <a:r>
              <a:rPr lang="zh-CN" altLang="en-US" sz="2000" dirty="0">
                <a:latin typeface="+mn-ea"/>
                <a:ea typeface="+mn-ea"/>
              </a:rPr>
              <a:t> 特性：窄带网络，具有滤波功能（</a:t>
            </a:r>
            <a:r>
              <a:rPr lang="en-US" altLang="zh-CN" sz="2000" dirty="0">
                <a:latin typeface="+mn-ea"/>
                <a:ea typeface="+mn-ea"/>
              </a:rPr>
              <a:t>Q</a:t>
            </a:r>
            <a:r>
              <a:rPr lang="zh-CN" altLang="en-US" sz="2000" dirty="0">
                <a:latin typeface="+mn-ea"/>
                <a:ea typeface="+mn-ea"/>
              </a:rPr>
              <a:t>）</a:t>
            </a:r>
          </a:p>
          <a:p>
            <a:pPr marL="342900" indent="-342900" eaLnBrk="1" hangingPunct="1">
              <a:buFont typeface="Wingdings" panose="05000000000000000000" pitchFamily="2" charset="2"/>
              <a:buChar char="Ø"/>
            </a:pPr>
            <a:r>
              <a:rPr lang="zh-CN" altLang="en-US" sz="2000" dirty="0">
                <a:latin typeface="+mn-ea"/>
                <a:ea typeface="+mn-ea"/>
              </a:rPr>
              <a:t> 两种</a:t>
            </a:r>
            <a:r>
              <a:rPr lang="en-US" altLang="zh-CN" sz="2000" dirty="0">
                <a:latin typeface="+mn-ea"/>
                <a:ea typeface="+mn-ea"/>
              </a:rPr>
              <a:t>L</a:t>
            </a:r>
            <a:r>
              <a:rPr lang="zh-CN" altLang="en-US" sz="2000" dirty="0">
                <a:latin typeface="+mn-ea"/>
                <a:ea typeface="+mn-ea"/>
              </a:rPr>
              <a:t>匹配网络</a:t>
            </a:r>
          </a:p>
        </p:txBody>
      </p:sp>
      <p:graphicFrame>
        <p:nvGraphicFramePr>
          <p:cNvPr id="8" name="对象 666628">
            <a:extLst>
              <a:ext uri="{FF2B5EF4-FFF2-40B4-BE49-F238E27FC236}">
                <a16:creationId xmlns:a16="http://schemas.microsoft.com/office/drawing/2014/main" xmlns="" id="{20F67BFE-A82A-BAC1-E69F-5B8D81F20A20}"/>
              </a:ext>
            </a:extLst>
          </p:cNvPr>
          <p:cNvGraphicFramePr/>
          <p:nvPr>
            <p:extLst/>
          </p:nvPr>
        </p:nvGraphicFramePr>
        <p:xfrm>
          <a:off x="1403648" y="2826983"/>
          <a:ext cx="2535238" cy="1701800"/>
        </p:xfrm>
        <a:graphic>
          <a:graphicData uri="http://schemas.openxmlformats.org/presentationml/2006/ole">
            <mc:AlternateContent xmlns:mc="http://schemas.openxmlformats.org/markup-compatibility/2006">
              <mc:Choice xmlns:v="urn:schemas-microsoft-com:vml" Requires="v">
                <p:oleObj spid="_x0000_s47204" r:id="rId3" imgW="4140200" imgH="2794000" progId="Visio.Drawing.11">
                  <p:embed/>
                </p:oleObj>
              </mc:Choice>
              <mc:Fallback>
                <p:oleObj r:id="rId3" imgW="4140200" imgH="2794000" progId="Visio.Drawing.11">
                  <p:embed/>
                  <p:pic>
                    <p:nvPicPr>
                      <p:cNvPr id="0" name=""/>
                      <p:cNvPicPr/>
                      <p:nvPr/>
                    </p:nvPicPr>
                    <p:blipFill>
                      <a:blip r:embed="rId4"/>
                      <a:stretch>
                        <a:fillRect/>
                      </a:stretch>
                    </p:blipFill>
                    <p:spPr>
                      <a:xfrm>
                        <a:off x="1403648" y="2826983"/>
                        <a:ext cx="2535238" cy="1701800"/>
                      </a:xfrm>
                      <a:prstGeom prst="rect">
                        <a:avLst/>
                      </a:prstGeom>
                      <a:noFill/>
                      <a:ln w="38100">
                        <a:noFill/>
                        <a:miter/>
                      </a:ln>
                    </p:spPr>
                  </p:pic>
                </p:oleObj>
              </mc:Fallback>
            </mc:AlternateContent>
          </a:graphicData>
        </a:graphic>
      </p:graphicFrame>
      <p:graphicFrame>
        <p:nvGraphicFramePr>
          <p:cNvPr id="9" name="对象 666629">
            <a:extLst>
              <a:ext uri="{FF2B5EF4-FFF2-40B4-BE49-F238E27FC236}">
                <a16:creationId xmlns:a16="http://schemas.microsoft.com/office/drawing/2014/main" xmlns="" id="{2F28FDB5-5A0F-5997-4EBF-4F1DA2ADE7E2}"/>
              </a:ext>
            </a:extLst>
          </p:cNvPr>
          <p:cNvGraphicFramePr/>
          <p:nvPr>
            <p:extLst/>
          </p:nvPr>
        </p:nvGraphicFramePr>
        <p:xfrm>
          <a:off x="4444856" y="2842896"/>
          <a:ext cx="2533650" cy="1714500"/>
        </p:xfrm>
        <a:graphic>
          <a:graphicData uri="http://schemas.openxmlformats.org/presentationml/2006/ole">
            <mc:AlternateContent xmlns:mc="http://schemas.openxmlformats.org/markup-compatibility/2006">
              <mc:Choice xmlns:v="urn:schemas-microsoft-com:vml" Requires="v">
                <p:oleObj spid="_x0000_s47205" r:id="rId5" imgW="4140200" imgH="2794000" progId="Visio.Drawing.11">
                  <p:embed/>
                </p:oleObj>
              </mc:Choice>
              <mc:Fallback>
                <p:oleObj r:id="rId5" imgW="4140200" imgH="2794000" progId="Visio.Drawing.11">
                  <p:embed/>
                  <p:pic>
                    <p:nvPicPr>
                      <p:cNvPr id="0" name=""/>
                      <p:cNvPicPr/>
                      <p:nvPr/>
                    </p:nvPicPr>
                    <p:blipFill>
                      <a:blip r:embed="rId6"/>
                      <a:stretch>
                        <a:fillRect/>
                      </a:stretch>
                    </p:blipFill>
                    <p:spPr>
                      <a:xfrm>
                        <a:off x="4444856" y="2842896"/>
                        <a:ext cx="2533650" cy="1714500"/>
                      </a:xfrm>
                      <a:prstGeom prst="rect">
                        <a:avLst/>
                      </a:prstGeom>
                      <a:noFill/>
                      <a:ln w="38100">
                        <a:noFill/>
                        <a:miter/>
                      </a:ln>
                    </p:spPr>
                  </p:pic>
                </p:oleObj>
              </mc:Fallback>
            </mc:AlternateContent>
          </a:graphicData>
        </a:graphic>
      </p:graphicFrame>
      <p:sp>
        <p:nvSpPr>
          <p:cNvPr id="10" name="文本框 9">
            <a:extLst>
              <a:ext uri="{FF2B5EF4-FFF2-40B4-BE49-F238E27FC236}">
                <a16:creationId xmlns:a16="http://schemas.microsoft.com/office/drawing/2014/main" xmlns="" id="{76D576D3-5C54-2F7B-DB3B-5D4DDDAD204F}"/>
              </a:ext>
            </a:extLst>
          </p:cNvPr>
          <p:cNvSpPr txBox="1"/>
          <p:nvPr/>
        </p:nvSpPr>
        <p:spPr>
          <a:xfrm>
            <a:off x="539551" y="5220740"/>
            <a:ext cx="7999537" cy="400110"/>
          </a:xfrm>
          <a:prstGeom prst="rect">
            <a:avLst/>
          </a:prstGeom>
          <a:noFill/>
        </p:spPr>
        <p:txBody>
          <a:bodyPr wrap="square" rtlCol="0">
            <a:spAutoFit/>
          </a:bodyPr>
          <a:lstStyle/>
          <a:p>
            <a:pPr marL="342900" indent="-342900" eaLnBrk="1" hangingPunct="1">
              <a:buFont typeface="Wingdings" panose="05000000000000000000" pitchFamily="2" charset="2"/>
              <a:buChar char="Ø"/>
            </a:pPr>
            <a:r>
              <a:rPr lang="zh-CN" altLang="en-US" sz="2000" dirty="0">
                <a:latin typeface="Times New Roman" panose="02020603050405020304" pitchFamily="18" charset="0"/>
                <a:ea typeface="+mn-ea"/>
              </a:rPr>
              <a:t>若已知</a:t>
            </a:r>
            <a:r>
              <a:rPr lang="en-US" altLang="zh-CN" sz="2000" dirty="0">
                <a:latin typeface="Times New Roman" panose="02020603050405020304" pitchFamily="18" charset="0"/>
                <a:ea typeface="+mn-ea"/>
              </a:rPr>
              <a:t>R</a:t>
            </a:r>
            <a:r>
              <a:rPr lang="en-US" altLang="zh-CN" sz="2000" baseline="-25000" dirty="0">
                <a:latin typeface="Times New Roman" panose="02020603050405020304" pitchFamily="18" charset="0"/>
                <a:ea typeface="+mn-ea"/>
              </a:rPr>
              <a:t>S</a:t>
            </a:r>
            <a:r>
              <a:rPr lang="zh-CN" altLang="en-US" sz="2000" dirty="0">
                <a:latin typeface="Times New Roman" panose="02020603050405020304" pitchFamily="18" charset="0"/>
                <a:ea typeface="+mn-ea"/>
              </a:rPr>
              <a:t>、</a:t>
            </a:r>
            <a:r>
              <a:rPr lang="en-US" altLang="zh-CN" sz="2000" dirty="0">
                <a:latin typeface="Times New Roman" panose="02020603050405020304" pitchFamily="18" charset="0"/>
                <a:ea typeface="+mn-ea"/>
              </a:rPr>
              <a:t>R</a:t>
            </a:r>
            <a:r>
              <a:rPr lang="en-US" altLang="zh-CN" sz="2000" baseline="-25000" dirty="0">
                <a:latin typeface="Times New Roman" panose="02020603050405020304" pitchFamily="18" charset="0"/>
                <a:ea typeface="+mn-ea"/>
              </a:rPr>
              <a:t>L</a:t>
            </a:r>
            <a:r>
              <a:rPr lang="zh-CN" altLang="en-US" sz="2000" dirty="0">
                <a:latin typeface="Times New Roman" panose="02020603050405020304" pitchFamily="18" charset="0"/>
                <a:ea typeface="+mn-ea"/>
              </a:rPr>
              <a:t>和电路工作频率</a:t>
            </a:r>
            <a:r>
              <a:rPr lang="en-US" altLang="zh-CN" sz="2000" dirty="0">
                <a:latin typeface="Times New Roman" panose="02020603050405020304" pitchFamily="18" charset="0"/>
                <a:ea typeface="+mn-ea"/>
              </a:rPr>
              <a:t>ω</a:t>
            </a:r>
            <a:r>
              <a:rPr lang="en-US" altLang="zh-CN" sz="2000" baseline="-25000" dirty="0">
                <a:latin typeface="Times New Roman" panose="02020603050405020304" pitchFamily="18" charset="0"/>
                <a:ea typeface="+mn-ea"/>
              </a:rPr>
              <a:t>0</a:t>
            </a:r>
            <a:r>
              <a:rPr lang="zh-CN" altLang="en-US" sz="2000" dirty="0">
                <a:latin typeface="Times New Roman" panose="02020603050405020304" pitchFamily="18" charset="0"/>
                <a:ea typeface="+mn-ea"/>
              </a:rPr>
              <a:t>，可求出匹配网络</a:t>
            </a:r>
            <a:r>
              <a:rPr lang="en-US" altLang="zh-CN" sz="2000" dirty="0">
                <a:latin typeface="Times New Roman" panose="02020603050405020304" pitchFamily="18" charset="0"/>
                <a:ea typeface="+mn-ea"/>
              </a:rPr>
              <a:t>L</a:t>
            </a:r>
            <a:r>
              <a:rPr lang="zh-CN" altLang="en-US" sz="2000" dirty="0">
                <a:latin typeface="Times New Roman" panose="02020603050405020304" pitchFamily="18" charset="0"/>
                <a:ea typeface="+mn-ea"/>
              </a:rPr>
              <a:t>、</a:t>
            </a:r>
            <a:r>
              <a:rPr lang="en-US" altLang="zh-CN" sz="2000" dirty="0">
                <a:latin typeface="Times New Roman" panose="02020603050405020304" pitchFamily="18" charset="0"/>
                <a:ea typeface="+mn-ea"/>
              </a:rPr>
              <a:t>C </a:t>
            </a:r>
            <a:r>
              <a:rPr lang="zh-CN" altLang="en-US" sz="2000" dirty="0">
                <a:latin typeface="Times New Roman" panose="02020603050405020304" pitchFamily="18" charset="0"/>
                <a:ea typeface="+mn-ea"/>
              </a:rPr>
              <a:t>的值。</a:t>
            </a:r>
          </a:p>
        </p:txBody>
      </p:sp>
      <p:sp>
        <p:nvSpPr>
          <p:cNvPr id="11" name="Text Box 10">
            <a:extLst>
              <a:ext uri="{FF2B5EF4-FFF2-40B4-BE49-F238E27FC236}">
                <a16:creationId xmlns:a16="http://schemas.microsoft.com/office/drawing/2014/main" xmlns="" id="{E9A74871-3DF6-F632-5DC9-EA60A2AC2A76}"/>
              </a:ext>
            </a:extLst>
          </p:cNvPr>
          <p:cNvSpPr txBox="1">
            <a:spLocks noChangeArrowheads="1"/>
          </p:cNvSpPr>
          <p:nvPr/>
        </p:nvSpPr>
        <p:spPr bwMode="auto">
          <a:xfrm>
            <a:off x="0" y="1111203"/>
            <a:ext cx="91440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50000"/>
              </a:spcBef>
              <a:buNone/>
            </a:pPr>
            <a:r>
              <a:rPr lang="en-US" altLang="zh-CN" sz="28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2.4 </a:t>
            </a:r>
            <a:r>
              <a:rPr lang="zh-CN" altLang="en-US" sz="28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阻抗匹配网络</a:t>
            </a:r>
            <a:endParaRPr lang="zh-CN" altLang="en-US" sz="28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117689230"/>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45</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2.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高频</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基础</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电路</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内容占位符 7170">
            <a:extLst>
              <a:ext uri="{FF2B5EF4-FFF2-40B4-BE49-F238E27FC236}">
                <a16:creationId xmlns:a16="http://schemas.microsoft.com/office/drawing/2014/main" xmlns="" id="{82A4535C-D704-589F-C679-8F783EE70D6B}"/>
              </a:ext>
            </a:extLst>
          </p:cNvPr>
          <p:cNvSpPr/>
          <p:nvPr/>
        </p:nvSpPr>
        <p:spPr>
          <a:xfrm>
            <a:off x="539552" y="1412775"/>
            <a:ext cx="8353425" cy="3672409"/>
          </a:xfrm>
          <a:prstGeom prst="rect">
            <a:avLst/>
          </a:prstGeom>
          <a:noFill/>
          <a:ln w="9525">
            <a:noFill/>
          </a:ln>
        </p:spPr>
        <p:txBody>
          <a:bodyPr/>
          <a:lstStyle/>
          <a:p>
            <a:pPr>
              <a:lnSpc>
                <a:spcPct val="120000"/>
              </a:lnSpc>
              <a:spcBef>
                <a:spcPts val="1200"/>
              </a:spcBef>
              <a:spcAft>
                <a:spcPts val="1200"/>
              </a:spcAft>
              <a:buClr>
                <a:schemeClr val="folHlink"/>
              </a:buClr>
              <a:buSzPct val="60000"/>
              <a:defRPr/>
            </a:pPr>
            <a:endParaRPr lang="zh-CN" altLang="en-US" dirty="0">
              <a:ln w="0"/>
              <a:effectLst>
                <a:glow rad="63500">
                  <a:schemeClr val="accent3">
                    <a:satMod val="175000"/>
                    <a:alpha val="40000"/>
                  </a:schemeClr>
                </a:glow>
              </a:effectLst>
              <a:latin typeface="+mn-ea"/>
              <a:ea typeface="+mn-ea"/>
              <a:cs typeface="Times New Roman" panose="02020603050405020304" pitchFamily="18" charset="0"/>
            </a:endParaRPr>
          </a:p>
        </p:txBody>
      </p:sp>
      <p:sp>
        <p:nvSpPr>
          <p:cNvPr id="6" name="文本框 5">
            <a:extLst>
              <a:ext uri="{FF2B5EF4-FFF2-40B4-BE49-F238E27FC236}">
                <a16:creationId xmlns:a16="http://schemas.microsoft.com/office/drawing/2014/main" xmlns="" id="{8F7C2CD4-0516-D6A5-0CFA-EAE9EE1A2392}"/>
              </a:ext>
            </a:extLst>
          </p:cNvPr>
          <p:cNvSpPr txBox="1"/>
          <p:nvPr/>
        </p:nvSpPr>
        <p:spPr>
          <a:xfrm>
            <a:off x="539551" y="1289511"/>
            <a:ext cx="6217859" cy="461665"/>
          </a:xfrm>
          <a:prstGeom prst="rect">
            <a:avLst/>
          </a:prstGeom>
          <a:noFill/>
        </p:spPr>
        <p:txBody>
          <a:bodyPr wrap="square" rtlCol="0">
            <a:spAutoFit/>
          </a:bodyPr>
          <a:lstStyle/>
          <a:p>
            <a:r>
              <a:rPr lang="en-US" altLang="zh-CN" sz="2400" b="1" dirty="0">
                <a:latin typeface="+mn-ea"/>
                <a:ea typeface="+mn-ea"/>
              </a:rPr>
              <a:t>1. R</a:t>
            </a:r>
            <a:r>
              <a:rPr lang="en-US" altLang="zh-CN" sz="2400" b="1" baseline="-25000" dirty="0">
                <a:latin typeface="+mn-ea"/>
                <a:ea typeface="+mn-ea"/>
              </a:rPr>
              <a:t>1</a:t>
            </a:r>
            <a:r>
              <a:rPr lang="en-US" altLang="zh-CN" sz="2400" b="1" dirty="0">
                <a:latin typeface="+mn-ea"/>
                <a:ea typeface="+mn-ea"/>
              </a:rPr>
              <a:t>&gt;R</a:t>
            </a:r>
            <a:r>
              <a:rPr lang="en-US" altLang="zh-CN" sz="2400" b="1" baseline="-25000" dirty="0">
                <a:latin typeface="+mn-ea"/>
                <a:ea typeface="+mn-ea"/>
              </a:rPr>
              <a:t>2</a:t>
            </a:r>
            <a:r>
              <a:rPr lang="zh-CN" altLang="en-US" sz="2400" b="1" dirty="0">
                <a:latin typeface="+mn-ea"/>
                <a:ea typeface="+mn-ea"/>
              </a:rPr>
              <a:t>的</a:t>
            </a:r>
            <a:r>
              <a:rPr lang="en-US" altLang="zh-CN" sz="2400" b="1" dirty="0">
                <a:latin typeface="+mn-ea"/>
                <a:ea typeface="+mn-ea"/>
              </a:rPr>
              <a:t>L</a:t>
            </a:r>
            <a:r>
              <a:rPr lang="zh-CN" altLang="en-US" sz="2400" b="1" dirty="0">
                <a:latin typeface="+mn-ea"/>
                <a:ea typeface="+mn-ea"/>
              </a:rPr>
              <a:t>型匹配网络</a:t>
            </a:r>
          </a:p>
        </p:txBody>
      </p:sp>
      <p:sp>
        <p:nvSpPr>
          <p:cNvPr id="7" name="文本框 6">
            <a:extLst>
              <a:ext uri="{FF2B5EF4-FFF2-40B4-BE49-F238E27FC236}">
                <a16:creationId xmlns:a16="http://schemas.microsoft.com/office/drawing/2014/main" xmlns="" id="{CCCC59C1-83D4-9D97-53F1-F1F035D572D1}"/>
              </a:ext>
            </a:extLst>
          </p:cNvPr>
          <p:cNvSpPr txBox="1"/>
          <p:nvPr/>
        </p:nvSpPr>
        <p:spPr>
          <a:xfrm>
            <a:off x="795334" y="4617315"/>
            <a:ext cx="6937940" cy="769441"/>
          </a:xfrm>
          <a:prstGeom prst="rect">
            <a:avLst/>
          </a:prstGeom>
          <a:noFill/>
        </p:spPr>
        <p:txBody>
          <a:bodyPr wrap="square" rtlCol="0">
            <a:spAutoFit/>
          </a:bodyPr>
          <a:lstStyle/>
          <a:p>
            <a:pPr eaLnBrk="1" hangingPunct="1"/>
            <a:r>
              <a:rPr lang="zh-CN" altLang="en-US" sz="2200" dirty="0">
                <a:solidFill>
                  <a:srgbClr val="FF0000"/>
                </a:solidFill>
                <a:latin typeface="Times New Roman" panose="02020603050405020304" pitchFamily="18" charset="0"/>
                <a:ea typeface="+mn-ea"/>
              </a:rPr>
              <a:t>将</a:t>
            </a:r>
            <a:r>
              <a:rPr lang="en-US" altLang="zh-CN" sz="2200" dirty="0">
                <a:solidFill>
                  <a:srgbClr val="FF0000"/>
                </a:solidFill>
                <a:latin typeface="Times New Roman" panose="02020603050405020304" pitchFamily="18" charset="0"/>
                <a:ea typeface="+mn-ea"/>
              </a:rPr>
              <a:t>X</a:t>
            </a:r>
            <a:r>
              <a:rPr lang="en-US" altLang="zh-CN" sz="2200" baseline="-25000" dirty="0">
                <a:solidFill>
                  <a:srgbClr val="FF0000"/>
                </a:solidFill>
                <a:latin typeface="Times New Roman" panose="02020603050405020304" pitchFamily="18" charset="0"/>
                <a:ea typeface="+mn-ea"/>
              </a:rPr>
              <a:t>2</a:t>
            </a:r>
            <a:r>
              <a:rPr lang="zh-CN" altLang="en-US" sz="2200" dirty="0">
                <a:solidFill>
                  <a:srgbClr val="FF0000"/>
                </a:solidFill>
                <a:latin typeface="Times New Roman" panose="02020603050405020304" pitchFamily="18" charset="0"/>
                <a:ea typeface="+mn-ea"/>
              </a:rPr>
              <a:t>和</a:t>
            </a:r>
            <a:r>
              <a:rPr lang="en-US" altLang="zh-CN" sz="2200" dirty="0">
                <a:solidFill>
                  <a:srgbClr val="FF0000"/>
                </a:solidFill>
                <a:latin typeface="Times New Roman" panose="02020603050405020304" pitchFamily="18" charset="0"/>
                <a:ea typeface="+mn-ea"/>
              </a:rPr>
              <a:t>R</a:t>
            </a:r>
            <a:r>
              <a:rPr lang="en-US" altLang="zh-CN" sz="2200" baseline="-25000" dirty="0">
                <a:solidFill>
                  <a:srgbClr val="FF0000"/>
                </a:solidFill>
                <a:latin typeface="Times New Roman" panose="02020603050405020304" pitchFamily="18" charset="0"/>
                <a:ea typeface="+mn-ea"/>
              </a:rPr>
              <a:t>2</a:t>
            </a:r>
            <a:r>
              <a:rPr lang="zh-CN" altLang="en-US" sz="2200" dirty="0">
                <a:solidFill>
                  <a:srgbClr val="FF0000"/>
                </a:solidFill>
                <a:latin typeface="Times New Roman" panose="02020603050405020304" pitchFamily="18" charset="0"/>
                <a:ea typeface="+mn-ea"/>
              </a:rPr>
              <a:t>的串联支路等效为     和     的并联电路，然后与 </a:t>
            </a:r>
            <a:r>
              <a:rPr lang="en-US" altLang="zh-CN" sz="2200" dirty="0">
                <a:solidFill>
                  <a:srgbClr val="FF0000"/>
                </a:solidFill>
                <a:latin typeface="Times New Roman" panose="02020603050405020304" pitchFamily="18" charset="0"/>
                <a:ea typeface="+mn-ea"/>
              </a:rPr>
              <a:t>X</a:t>
            </a:r>
            <a:r>
              <a:rPr lang="en-US" altLang="zh-CN" sz="2200" baseline="-25000" dirty="0">
                <a:solidFill>
                  <a:srgbClr val="FF0000"/>
                </a:solidFill>
                <a:latin typeface="Times New Roman" panose="02020603050405020304" pitchFamily="18" charset="0"/>
                <a:ea typeface="+mn-ea"/>
              </a:rPr>
              <a:t>1</a:t>
            </a:r>
            <a:r>
              <a:rPr lang="zh-CN" altLang="en-US" sz="2200" dirty="0">
                <a:solidFill>
                  <a:srgbClr val="FF0000"/>
                </a:solidFill>
                <a:latin typeface="Times New Roman" panose="02020603050405020304" pitchFamily="18" charset="0"/>
                <a:ea typeface="+mn-ea"/>
              </a:rPr>
              <a:t>再并联。    和     的计算式为</a:t>
            </a:r>
          </a:p>
        </p:txBody>
      </p:sp>
      <p:sp>
        <p:nvSpPr>
          <p:cNvPr id="8" name="文本框 7">
            <a:extLst>
              <a:ext uri="{FF2B5EF4-FFF2-40B4-BE49-F238E27FC236}">
                <a16:creationId xmlns:a16="http://schemas.microsoft.com/office/drawing/2014/main" xmlns="" id="{27EB412A-0738-0F09-303E-5F3265080757}"/>
              </a:ext>
            </a:extLst>
          </p:cNvPr>
          <p:cNvSpPr txBox="1"/>
          <p:nvPr/>
        </p:nvSpPr>
        <p:spPr>
          <a:xfrm>
            <a:off x="539551" y="1916832"/>
            <a:ext cx="8083943" cy="1107996"/>
          </a:xfrm>
          <a:prstGeom prst="rect">
            <a:avLst/>
          </a:prstGeom>
          <a:noFill/>
        </p:spPr>
        <p:txBody>
          <a:bodyPr wrap="square" rtlCol="0">
            <a:spAutoFit/>
          </a:bodyPr>
          <a:lstStyle/>
          <a:p>
            <a:pPr eaLnBrk="1" hangingPunct="1"/>
            <a:r>
              <a:rPr lang="en-US" altLang="zh-CN" sz="2200" dirty="0">
                <a:latin typeface="Times New Roman" panose="02020603050405020304" pitchFamily="18" charset="0"/>
                <a:ea typeface="+mn-ea"/>
              </a:rPr>
              <a:t>X</a:t>
            </a:r>
            <a:r>
              <a:rPr lang="en-US" altLang="zh-CN" sz="2200" baseline="-25000" dirty="0">
                <a:latin typeface="Times New Roman" panose="02020603050405020304" pitchFamily="18" charset="0"/>
                <a:ea typeface="+mn-ea"/>
              </a:rPr>
              <a:t>1</a:t>
            </a:r>
            <a:r>
              <a:rPr lang="en-US" altLang="zh-CN" sz="2200" dirty="0">
                <a:latin typeface="Times New Roman" panose="02020603050405020304" pitchFamily="18" charset="0"/>
                <a:ea typeface="+mn-ea"/>
              </a:rPr>
              <a:t> </a:t>
            </a:r>
            <a:r>
              <a:rPr lang="zh-CN" altLang="en-US" sz="2200" dirty="0">
                <a:latin typeface="Times New Roman" panose="02020603050405020304" pitchFamily="18" charset="0"/>
                <a:ea typeface="+mn-ea"/>
              </a:rPr>
              <a:t>和</a:t>
            </a:r>
            <a:r>
              <a:rPr lang="en-US" altLang="zh-CN" sz="2200" dirty="0">
                <a:latin typeface="Times New Roman" panose="02020603050405020304" pitchFamily="18" charset="0"/>
                <a:ea typeface="+mn-ea"/>
              </a:rPr>
              <a:t>X</a:t>
            </a:r>
            <a:r>
              <a:rPr lang="en-US" altLang="zh-CN" sz="2200" baseline="-25000" dirty="0">
                <a:latin typeface="Times New Roman" panose="02020603050405020304" pitchFamily="18" charset="0"/>
                <a:ea typeface="+mn-ea"/>
              </a:rPr>
              <a:t>2</a:t>
            </a:r>
            <a:r>
              <a:rPr lang="zh-CN" altLang="en-US" sz="2200" dirty="0">
                <a:latin typeface="Times New Roman" panose="02020603050405020304" pitchFamily="18" charset="0"/>
                <a:ea typeface="+mn-ea"/>
              </a:rPr>
              <a:t>是电抗，两者电抗性质相反，一个是感抗另一个必须是容抗。利用电抗与电阻串并联等效互换的关系可以求得匹配网络参数的表示式。</a:t>
            </a:r>
          </a:p>
        </p:txBody>
      </p:sp>
      <p:graphicFrame>
        <p:nvGraphicFramePr>
          <p:cNvPr id="9" name="对象 8">
            <a:extLst>
              <a:ext uri="{FF2B5EF4-FFF2-40B4-BE49-F238E27FC236}">
                <a16:creationId xmlns:a16="http://schemas.microsoft.com/office/drawing/2014/main" xmlns="" id="{E7BC14B1-98E6-41C4-BB3F-82632B2486BD}"/>
              </a:ext>
            </a:extLst>
          </p:cNvPr>
          <p:cNvGraphicFramePr>
            <a:graphicFrameLocks noChangeAspect="1"/>
          </p:cNvGraphicFramePr>
          <p:nvPr>
            <p:extLst>
              <p:ext uri="{D42A27DB-BD31-4B8C-83A1-F6EECF244321}">
                <p14:modId xmlns:p14="http://schemas.microsoft.com/office/powerpoint/2010/main" val="3355036140"/>
              </p:ext>
            </p:extLst>
          </p:nvPr>
        </p:nvGraphicFramePr>
        <p:xfrm>
          <a:off x="4235729" y="4616684"/>
          <a:ext cx="433387" cy="434975"/>
        </p:xfrm>
        <a:graphic>
          <a:graphicData uri="http://schemas.openxmlformats.org/presentationml/2006/ole">
            <mc:AlternateContent xmlns:mc="http://schemas.openxmlformats.org/markup-compatibility/2006">
              <mc:Choice xmlns:v="urn:schemas-microsoft-com:vml" Requires="v">
                <p:oleObj spid="_x0000_s25973" name="Equation" r:id="rId3" imgW="433112" imgH="434536" progId="Equation.DSMT4">
                  <p:embed/>
                </p:oleObj>
              </mc:Choice>
              <mc:Fallback>
                <p:oleObj name="Equation" r:id="rId3" imgW="433112" imgH="434536" progId="Equation.DSMT4">
                  <p:embed/>
                  <p:pic>
                    <p:nvPicPr>
                      <p:cNvPr id="0" name=""/>
                      <p:cNvPicPr/>
                      <p:nvPr/>
                    </p:nvPicPr>
                    <p:blipFill>
                      <a:blip r:embed="rId4"/>
                      <a:stretch>
                        <a:fillRect/>
                      </a:stretch>
                    </p:blipFill>
                    <p:spPr>
                      <a:xfrm>
                        <a:off x="4235729" y="4616684"/>
                        <a:ext cx="433387" cy="434975"/>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xmlns="" id="{0B51E931-F761-156F-E0CB-5B589210EE0C}"/>
              </a:ext>
            </a:extLst>
          </p:cNvPr>
          <p:cNvGraphicFramePr>
            <a:graphicFrameLocks noChangeAspect="1"/>
          </p:cNvGraphicFramePr>
          <p:nvPr>
            <p:extLst>
              <p:ext uri="{D42A27DB-BD31-4B8C-83A1-F6EECF244321}">
                <p14:modId xmlns:p14="http://schemas.microsoft.com/office/powerpoint/2010/main" val="1906342868"/>
              </p:ext>
            </p:extLst>
          </p:nvPr>
        </p:nvGraphicFramePr>
        <p:xfrm>
          <a:off x="4885176" y="4618272"/>
          <a:ext cx="376237" cy="433387"/>
        </p:xfrm>
        <a:graphic>
          <a:graphicData uri="http://schemas.openxmlformats.org/presentationml/2006/ole">
            <mc:AlternateContent xmlns:mc="http://schemas.openxmlformats.org/markup-compatibility/2006">
              <mc:Choice xmlns:v="urn:schemas-microsoft-com:vml" Requires="v">
                <p:oleObj spid="_x0000_s25974" name="Equation" r:id="rId5" imgW="376588" imgH="433096" progId="Equation.DSMT4">
                  <p:embed/>
                </p:oleObj>
              </mc:Choice>
              <mc:Fallback>
                <p:oleObj name="Equation" r:id="rId5" imgW="376588" imgH="433096" progId="Equation.DSMT4">
                  <p:embed/>
                  <p:pic>
                    <p:nvPicPr>
                      <p:cNvPr id="0" name=""/>
                      <p:cNvPicPr/>
                      <p:nvPr/>
                    </p:nvPicPr>
                    <p:blipFill>
                      <a:blip r:embed="rId6"/>
                      <a:stretch>
                        <a:fillRect/>
                      </a:stretch>
                    </p:blipFill>
                    <p:spPr>
                      <a:xfrm>
                        <a:off x="4885176" y="4618272"/>
                        <a:ext cx="376237" cy="433387"/>
                      </a:xfrm>
                      <a:prstGeom prst="rect">
                        <a:avLst/>
                      </a:prstGeom>
                    </p:spPr>
                  </p:pic>
                </p:oleObj>
              </mc:Fallback>
            </mc:AlternateContent>
          </a:graphicData>
        </a:graphic>
      </p:graphicFrame>
      <p:graphicFrame>
        <p:nvGraphicFramePr>
          <p:cNvPr id="11" name="对象 10">
            <a:extLst>
              <a:ext uri="{FF2B5EF4-FFF2-40B4-BE49-F238E27FC236}">
                <a16:creationId xmlns:a16="http://schemas.microsoft.com/office/drawing/2014/main" xmlns="" id="{C959A24E-0BDF-6515-FD22-EEA7D9E8D0CD}"/>
              </a:ext>
            </a:extLst>
          </p:cNvPr>
          <p:cNvGraphicFramePr>
            <a:graphicFrameLocks noChangeAspect="1"/>
          </p:cNvGraphicFramePr>
          <p:nvPr>
            <p:extLst>
              <p:ext uri="{D42A27DB-BD31-4B8C-83A1-F6EECF244321}">
                <p14:modId xmlns:p14="http://schemas.microsoft.com/office/powerpoint/2010/main" val="2869482344"/>
              </p:ext>
            </p:extLst>
          </p:nvPr>
        </p:nvGraphicFramePr>
        <p:xfrm>
          <a:off x="2526389" y="4984272"/>
          <a:ext cx="434975" cy="434975"/>
        </p:xfrm>
        <a:graphic>
          <a:graphicData uri="http://schemas.openxmlformats.org/presentationml/2006/ole">
            <mc:AlternateContent xmlns:mc="http://schemas.openxmlformats.org/markup-compatibility/2006">
              <mc:Choice xmlns:v="urn:schemas-microsoft-com:vml" Requires="v">
                <p:oleObj spid="_x0000_s25975" name="Equation" r:id="rId7" imgW="434552" imgH="434536" progId="Equation.DSMT4">
                  <p:embed/>
                </p:oleObj>
              </mc:Choice>
              <mc:Fallback>
                <p:oleObj name="Equation" r:id="rId7" imgW="434552" imgH="434536" progId="Equation.DSMT4">
                  <p:embed/>
                  <p:pic>
                    <p:nvPicPr>
                      <p:cNvPr id="0" name=""/>
                      <p:cNvPicPr/>
                      <p:nvPr/>
                    </p:nvPicPr>
                    <p:blipFill>
                      <a:blip r:embed="rId8"/>
                      <a:stretch>
                        <a:fillRect/>
                      </a:stretch>
                    </p:blipFill>
                    <p:spPr>
                      <a:xfrm>
                        <a:off x="2526389" y="4984272"/>
                        <a:ext cx="434975" cy="434975"/>
                      </a:xfrm>
                      <a:prstGeom prst="rect">
                        <a:avLst/>
                      </a:prstGeom>
                    </p:spPr>
                  </p:pic>
                </p:oleObj>
              </mc:Fallback>
            </mc:AlternateContent>
          </a:graphicData>
        </a:graphic>
      </p:graphicFrame>
      <p:graphicFrame>
        <p:nvGraphicFramePr>
          <p:cNvPr id="12" name="对象 11">
            <a:extLst>
              <a:ext uri="{FF2B5EF4-FFF2-40B4-BE49-F238E27FC236}">
                <a16:creationId xmlns:a16="http://schemas.microsoft.com/office/drawing/2014/main" xmlns="" id="{2CD3E676-2E1B-9E0D-E74E-C4AAA6FCF38A}"/>
              </a:ext>
            </a:extLst>
          </p:cNvPr>
          <p:cNvGraphicFramePr>
            <a:graphicFrameLocks noChangeAspect="1"/>
          </p:cNvGraphicFramePr>
          <p:nvPr>
            <p:extLst>
              <p:ext uri="{D42A27DB-BD31-4B8C-83A1-F6EECF244321}">
                <p14:modId xmlns:p14="http://schemas.microsoft.com/office/powerpoint/2010/main" val="987754603"/>
              </p:ext>
            </p:extLst>
          </p:nvPr>
        </p:nvGraphicFramePr>
        <p:xfrm>
          <a:off x="3184581" y="4987447"/>
          <a:ext cx="374650" cy="431800"/>
        </p:xfrm>
        <a:graphic>
          <a:graphicData uri="http://schemas.openxmlformats.org/presentationml/2006/ole">
            <mc:AlternateContent xmlns:mc="http://schemas.openxmlformats.org/markup-compatibility/2006">
              <mc:Choice xmlns:v="urn:schemas-microsoft-com:vml" Requires="v">
                <p:oleObj spid="_x0000_s25976" name="Equation" r:id="rId9" imgW="375148" imgH="431295" progId="Equation.DSMT4">
                  <p:embed/>
                </p:oleObj>
              </mc:Choice>
              <mc:Fallback>
                <p:oleObj name="Equation" r:id="rId9" imgW="375148" imgH="431295" progId="Equation.DSMT4">
                  <p:embed/>
                  <p:pic>
                    <p:nvPicPr>
                      <p:cNvPr id="0" name=""/>
                      <p:cNvPicPr/>
                      <p:nvPr/>
                    </p:nvPicPr>
                    <p:blipFill>
                      <a:blip r:embed="rId10"/>
                      <a:stretch>
                        <a:fillRect/>
                      </a:stretch>
                    </p:blipFill>
                    <p:spPr>
                      <a:xfrm>
                        <a:off x="3184581" y="4987447"/>
                        <a:ext cx="374650" cy="431800"/>
                      </a:xfrm>
                      <a:prstGeom prst="rect">
                        <a:avLst/>
                      </a:prstGeom>
                    </p:spPr>
                  </p:pic>
                </p:oleObj>
              </mc:Fallback>
            </mc:AlternateContent>
          </a:graphicData>
        </a:graphic>
      </p:graphicFrame>
      <p:graphicFrame>
        <p:nvGraphicFramePr>
          <p:cNvPr id="13" name="对象 12">
            <a:extLst>
              <a:ext uri="{FF2B5EF4-FFF2-40B4-BE49-F238E27FC236}">
                <a16:creationId xmlns:a16="http://schemas.microsoft.com/office/drawing/2014/main" xmlns="" id="{F62A84F6-C034-0C42-CDD1-C528F036AE8F}"/>
              </a:ext>
            </a:extLst>
          </p:cNvPr>
          <p:cNvGraphicFramePr>
            <a:graphicFrameLocks noChangeAspect="1"/>
          </p:cNvGraphicFramePr>
          <p:nvPr>
            <p:extLst>
              <p:ext uri="{D42A27DB-BD31-4B8C-83A1-F6EECF244321}">
                <p14:modId xmlns:p14="http://schemas.microsoft.com/office/powerpoint/2010/main" val="752929538"/>
              </p:ext>
            </p:extLst>
          </p:nvPr>
        </p:nvGraphicFramePr>
        <p:xfrm>
          <a:off x="1072639" y="5606453"/>
          <a:ext cx="1585913" cy="441325"/>
        </p:xfrm>
        <a:graphic>
          <a:graphicData uri="http://schemas.openxmlformats.org/presentationml/2006/ole">
            <mc:AlternateContent xmlns:mc="http://schemas.openxmlformats.org/markup-compatibility/2006">
              <mc:Choice xmlns:v="urn:schemas-microsoft-com:vml" Requires="v">
                <p:oleObj spid="_x0000_s25977" name="Equation" r:id="rId11" imgW="1585198" imgH="440656" progId="Equation.DSMT4">
                  <p:embed/>
                </p:oleObj>
              </mc:Choice>
              <mc:Fallback>
                <p:oleObj name="Equation" r:id="rId11" imgW="1585198" imgH="440656" progId="Equation.DSMT4">
                  <p:embed/>
                  <p:pic>
                    <p:nvPicPr>
                      <p:cNvPr id="0" name=""/>
                      <p:cNvPicPr/>
                      <p:nvPr/>
                    </p:nvPicPr>
                    <p:blipFill>
                      <a:blip r:embed="rId12"/>
                      <a:stretch>
                        <a:fillRect/>
                      </a:stretch>
                    </p:blipFill>
                    <p:spPr>
                      <a:xfrm>
                        <a:off x="1072639" y="5606453"/>
                        <a:ext cx="1585913" cy="441325"/>
                      </a:xfrm>
                      <a:prstGeom prst="rect">
                        <a:avLst/>
                      </a:prstGeom>
                    </p:spPr>
                  </p:pic>
                </p:oleObj>
              </mc:Fallback>
            </mc:AlternateContent>
          </a:graphicData>
        </a:graphic>
      </p:graphicFrame>
      <p:graphicFrame>
        <p:nvGraphicFramePr>
          <p:cNvPr id="14" name="对象 13">
            <a:extLst>
              <a:ext uri="{FF2B5EF4-FFF2-40B4-BE49-F238E27FC236}">
                <a16:creationId xmlns:a16="http://schemas.microsoft.com/office/drawing/2014/main" xmlns="" id="{E1D5556B-15C7-4B4C-ED04-9BEE16376A63}"/>
              </a:ext>
            </a:extLst>
          </p:cNvPr>
          <p:cNvGraphicFramePr>
            <a:graphicFrameLocks noChangeAspect="1"/>
          </p:cNvGraphicFramePr>
          <p:nvPr>
            <p:extLst>
              <p:ext uri="{D42A27DB-BD31-4B8C-83A1-F6EECF244321}">
                <p14:modId xmlns:p14="http://schemas.microsoft.com/office/powerpoint/2010/main" val="596080830"/>
              </p:ext>
            </p:extLst>
          </p:nvPr>
        </p:nvGraphicFramePr>
        <p:xfrm>
          <a:off x="3182793" y="5541842"/>
          <a:ext cx="2089150" cy="481013"/>
        </p:xfrm>
        <a:graphic>
          <a:graphicData uri="http://schemas.openxmlformats.org/presentationml/2006/ole">
            <mc:AlternateContent xmlns:mc="http://schemas.openxmlformats.org/markup-compatibility/2006">
              <mc:Choice xmlns:v="urn:schemas-microsoft-com:vml" Requires="v">
                <p:oleObj spid="_x0000_s25978" name="Equation" r:id="rId13" imgW="2089596" imgH="481697" progId="Equation.DSMT4">
                  <p:embed/>
                </p:oleObj>
              </mc:Choice>
              <mc:Fallback>
                <p:oleObj name="Equation" r:id="rId13" imgW="2089596" imgH="481697" progId="Equation.DSMT4">
                  <p:embed/>
                  <p:pic>
                    <p:nvPicPr>
                      <p:cNvPr id="0" name=""/>
                      <p:cNvPicPr/>
                      <p:nvPr/>
                    </p:nvPicPr>
                    <p:blipFill>
                      <a:blip r:embed="rId14"/>
                      <a:stretch>
                        <a:fillRect/>
                      </a:stretch>
                    </p:blipFill>
                    <p:spPr>
                      <a:xfrm>
                        <a:off x="3182793" y="5541842"/>
                        <a:ext cx="2089150" cy="481013"/>
                      </a:xfrm>
                      <a:prstGeom prst="rect">
                        <a:avLst/>
                      </a:prstGeom>
                    </p:spPr>
                  </p:pic>
                </p:oleObj>
              </mc:Fallback>
            </mc:AlternateContent>
          </a:graphicData>
        </a:graphic>
      </p:graphicFrame>
      <p:graphicFrame>
        <p:nvGraphicFramePr>
          <p:cNvPr id="15" name="对象 14">
            <a:extLst>
              <a:ext uri="{FF2B5EF4-FFF2-40B4-BE49-F238E27FC236}">
                <a16:creationId xmlns:a16="http://schemas.microsoft.com/office/drawing/2014/main" xmlns="" id="{F1EB1AD1-E681-CC8F-D395-BF273AD40CF8}"/>
              </a:ext>
            </a:extLst>
          </p:cNvPr>
          <p:cNvGraphicFramePr>
            <a:graphicFrameLocks noChangeAspect="1"/>
          </p:cNvGraphicFramePr>
          <p:nvPr>
            <p:extLst>
              <p:ext uri="{D42A27DB-BD31-4B8C-83A1-F6EECF244321}">
                <p14:modId xmlns:p14="http://schemas.microsoft.com/office/powerpoint/2010/main" val="616270574"/>
              </p:ext>
            </p:extLst>
          </p:nvPr>
        </p:nvGraphicFramePr>
        <p:xfrm>
          <a:off x="5796184" y="5345323"/>
          <a:ext cx="2016125" cy="887413"/>
        </p:xfrm>
        <a:graphic>
          <a:graphicData uri="http://schemas.openxmlformats.org/presentationml/2006/ole">
            <mc:AlternateContent xmlns:mc="http://schemas.openxmlformats.org/markup-compatibility/2006">
              <mc:Choice xmlns:v="urn:schemas-microsoft-com:vml" Requires="v">
                <p:oleObj spid="_x0000_s25979" name="Equation" r:id="rId15" imgW="2016510" imgH="887072" progId="Equation.DSMT4">
                  <p:embed/>
                </p:oleObj>
              </mc:Choice>
              <mc:Fallback>
                <p:oleObj name="Equation" r:id="rId15" imgW="2016510" imgH="887072" progId="Equation.DSMT4">
                  <p:embed/>
                  <p:pic>
                    <p:nvPicPr>
                      <p:cNvPr id="0" name=""/>
                      <p:cNvPicPr/>
                      <p:nvPr/>
                    </p:nvPicPr>
                    <p:blipFill>
                      <a:blip r:embed="rId16"/>
                      <a:stretch>
                        <a:fillRect/>
                      </a:stretch>
                    </p:blipFill>
                    <p:spPr>
                      <a:xfrm>
                        <a:off x="5796184" y="5345323"/>
                        <a:ext cx="2016125" cy="887413"/>
                      </a:xfrm>
                      <a:prstGeom prst="rect">
                        <a:avLst/>
                      </a:prstGeom>
                    </p:spPr>
                  </p:pic>
                </p:oleObj>
              </mc:Fallback>
            </mc:AlternateContent>
          </a:graphicData>
        </a:graphic>
      </p:graphicFrame>
      <p:pic>
        <p:nvPicPr>
          <p:cNvPr id="16" name="图片 452611" descr="2-104">
            <a:extLst>
              <a:ext uri="{FF2B5EF4-FFF2-40B4-BE49-F238E27FC236}">
                <a16:creationId xmlns:a16="http://schemas.microsoft.com/office/drawing/2014/main" xmlns="" id="{4E724E7B-8AC0-C672-0A25-E460670FE210}"/>
              </a:ext>
            </a:extLst>
          </p:cNvPr>
          <p:cNvPicPr>
            <a:picLocks noChangeAspect="1"/>
          </p:cNvPicPr>
          <p:nvPr/>
        </p:nvPicPr>
        <p:blipFill>
          <a:blip r:embed="rId17"/>
          <a:stretch>
            <a:fillRect/>
          </a:stretch>
        </p:blipFill>
        <p:spPr>
          <a:xfrm>
            <a:off x="2411760" y="2920739"/>
            <a:ext cx="4176712" cy="1531938"/>
          </a:xfrm>
          <a:prstGeom prst="rect">
            <a:avLst/>
          </a:prstGeom>
          <a:noFill/>
          <a:ln w="9525">
            <a:noFill/>
          </a:ln>
        </p:spPr>
      </p:pic>
      <p:sp>
        <p:nvSpPr>
          <p:cNvPr id="17" name="下弧形箭头 452612">
            <a:extLst>
              <a:ext uri="{FF2B5EF4-FFF2-40B4-BE49-F238E27FC236}">
                <a16:creationId xmlns:a16="http://schemas.microsoft.com/office/drawing/2014/main" xmlns="" id="{C962D7A6-2E0C-D086-EBC0-FC5374412C9D}"/>
              </a:ext>
            </a:extLst>
          </p:cNvPr>
          <p:cNvSpPr/>
          <p:nvPr/>
        </p:nvSpPr>
        <p:spPr>
          <a:xfrm>
            <a:off x="3996085" y="4144702"/>
            <a:ext cx="1079500" cy="215900"/>
          </a:xfrm>
          <a:prstGeom prst="curvedUpArrow">
            <a:avLst>
              <a:gd name="adj1" fmla="val 100000"/>
              <a:gd name="adj2" fmla="val 200000"/>
              <a:gd name="adj3" fmla="val 33328"/>
            </a:avLst>
          </a:prstGeom>
          <a:gradFill rotWithShape="0">
            <a:gsLst>
              <a:gs pos="0">
                <a:schemeClr val="accent1"/>
              </a:gs>
              <a:gs pos="100000">
                <a:schemeClr val="bg1"/>
              </a:gs>
            </a:gsLst>
            <a:lin ang="0" scaled="1"/>
            <a:tileRect/>
          </a:gradFill>
          <a:ln w="9525" cap="flat" cmpd="sng">
            <a:solidFill>
              <a:schemeClr val="tx1"/>
            </a:solidFill>
            <a:prstDash val="solid"/>
            <a:miter/>
            <a:headEnd type="none" w="sm" len="sm"/>
            <a:tailEnd type="none" w="sm" len="sm"/>
          </a:ln>
        </p:spPr>
        <p:txBody>
          <a:bodyPr/>
          <a:lstStyle/>
          <a:p>
            <a:endParaRPr lang="zh-CN" altLang="en-US" dirty="0">
              <a:latin typeface="楷体_GB2312" panose="02010609030101010101" pitchFamily="49" charset="-122"/>
            </a:endParaRPr>
          </a:p>
        </p:txBody>
      </p:sp>
    </p:spTree>
    <p:extLst>
      <p:ext uri="{BB962C8B-B14F-4D97-AF65-F5344CB8AC3E}">
        <p14:creationId xmlns:p14="http://schemas.microsoft.com/office/powerpoint/2010/main" val="1736083696"/>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46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2.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高频</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基础</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电路</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内容占位符 7170">
            <a:extLst>
              <a:ext uri="{FF2B5EF4-FFF2-40B4-BE49-F238E27FC236}">
                <a16:creationId xmlns:a16="http://schemas.microsoft.com/office/drawing/2014/main" xmlns="" id="{D608C599-CE5D-368B-59B6-7A79DFE0FBA8}"/>
              </a:ext>
            </a:extLst>
          </p:cNvPr>
          <p:cNvSpPr/>
          <p:nvPr/>
        </p:nvSpPr>
        <p:spPr>
          <a:xfrm>
            <a:off x="539552" y="1412775"/>
            <a:ext cx="8353425" cy="3672409"/>
          </a:xfrm>
          <a:prstGeom prst="rect">
            <a:avLst/>
          </a:prstGeom>
          <a:noFill/>
          <a:ln w="9525">
            <a:noFill/>
          </a:ln>
        </p:spPr>
        <p:txBody>
          <a:bodyPr/>
          <a:lstStyle/>
          <a:p>
            <a:pPr>
              <a:lnSpc>
                <a:spcPct val="120000"/>
              </a:lnSpc>
              <a:spcBef>
                <a:spcPts val="1200"/>
              </a:spcBef>
              <a:spcAft>
                <a:spcPts val="1200"/>
              </a:spcAft>
              <a:buClr>
                <a:schemeClr val="folHlink"/>
              </a:buClr>
              <a:buSzPct val="60000"/>
              <a:defRPr/>
            </a:pPr>
            <a:endParaRPr lang="zh-CN" altLang="en-US" dirty="0">
              <a:ln w="0"/>
              <a:effectLst>
                <a:glow rad="63500">
                  <a:schemeClr val="accent3">
                    <a:satMod val="175000"/>
                    <a:alpha val="40000"/>
                  </a:schemeClr>
                </a:glow>
              </a:effectLst>
              <a:latin typeface="+mn-ea"/>
              <a:ea typeface="+mn-ea"/>
              <a:cs typeface="Times New Roman" panose="02020603050405020304" pitchFamily="18" charset="0"/>
            </a:endParaRPr>
          </a:p>
        </p:txBody>
      </p:sp>
      <p:sp>
        <p:nvSpPr>
          <p:cNvPr id="6" name="文本框 5">
            <a:extLst>
              <a:ext uri="{FF2B5EF4-FFF2-40B4-BE49-F238E27FC236}">
                <a16:creationId xmlns:a16="http://schemas.microsoft.com/office/drawing/2014/main" xmlns="" id="{A57B4A98-42CC-F06D-943D-057B09AD7208}"/>
              </a:ext>
            </a:extLst>
          </p:cNvPr>
          <p:cNvSpPr txBox="1"/>
          <p:nvPr/>
        </p:nvSpPr>
        <p:spPr>
          <a:xfrm>
            <a:off x="781239" y="1361730"/>
            <a:ext cx="6937940" cy="400110"/>
          </a:xfrm>
          <a:prstGeom prst="rect">
            <a:avLst/>
          </a:prstGeom>
          <a:noFill/>
        </p:spPr>
        <p:txBody>
          <a:bodyPr wrap="square" rtlCol="0">
            <a:spAutoFit/>
          </a:bodyPr>
          <a:lstStyle/>
          <a:p>
            <a:pPr eaLnBrk="1" hangingPunct="1"/>
            <a:r>
              <a:rPr lang="zh-CN" altLang="en-US" sz="2000" dirty="0">
                <a:latin typeface="Times New Roman" panose="02020603050405020304" pitchFamily="18" charset="0"/>
                <a:ea typeface="+mn-ea"/>
              </a:rPr>
              <a:t>在       与       、    并联后，要完成</a:t>
            </a:r>
            <a:r>
              <a:rPr lang="zh-CN" altLang="en-US" sz="2000" dirty="0">
                <a:solidFill>
                  <a:srgbClr val="FF0000"/>
                </a:solidFill>
                <a:latin typeface="Times New Roman" panose="02020603050405020304" pitchFamily="18" charset="0"/>
                <a:ea typeface="+mn-ea"/>
              </a:rPr>
              <a:t>阻抗匹配必须满足</a:t>
            </a:r>
          </a:p>
        </p:txBody>
      </p:sp>
      <p:graphicFrame>
        <p:nvGraphicFramePr>
          <p:cNvPr id="7" name="对象 6">
            <a:extLst>
              <a:ext uri="{FF2B5EF4-FFF2-40B4-BE49-F238E27FC236}">
                <a16:creationId xmlns:a16="http://schemas.microsoft.com/office/drawing/2014/main" xmlns="" id="{D17B6784-FA58-0FCF-43DF-46046927227E}"/>
              </a:ext>
            </a:extLst>
          </p:cNvPr>
          <p:cNvGraphicFramePr>
            <a:graphicFrameLocks noChangeAspect="1"/>
          </p:cNvGraphicFramePr>
          <p:nvPr>
            <p:extLst>
              <p:ext uri="{D42A27DB-BD31-4B8C-83A1-F6EECF244321}">
                <p14:modId xmlns:p14="http://schemas.microsoft.com/office/powerpoint/2010/main" val="986360085"/>
              </p:ext>
            </p:extLst>
          </p:nvPr>
        </p:nvGraphicFramePr>
        <p:xfrm>
          <a:off x="1145117" y="1353026"/>
          <a:ext cx="379561" cy="417518"/>
        </p:xfrm>
        <a:graphic>
          <a:graphicData uri="http://schemas.openxmlformats.org/presentationml/2006/ole">
            <mc:AlternateContent xmlns:mc="http://schemas.openxmlformats.org/markup-compatibility/2006">
              <mc:Choice xmlns:v="urn:schemas-microsoft-com:vml" Requires="v">
                <p:oleObj spid="_x0000_s27262" name="Equation" r:id="rId3" imgW="460474" imgH="506178" progId="Equation.DSMT4">
                  <p:embed/>
                </p:oleObj>
              </mc:Choice>
              <mc:Fallback>
                <p:oleObj name="Equation" r:id="rId3" imgW="460474" imgH="506178" progId="Equation.DSMT4">
                  <p:embed/>
                  <p:pic>
                    <p:nvPicPr>
                      <p:cNvPr id="0" name=""/>
                      <p:cNvPicPr/>
                      <p:nvPr/>
                    </p:nvPicPr>
                    <p:blipFill>
                      <a:blip r:embed="rId4"/>
                      <a:stretch>
                        <a:fillRect/>
                      </a:stretch>
                    </p:blipFill>
                    <p:spPr>
                      <a:xfrm>
                        <a:off x="1145117" y="1353026"/>
                        <a:ext cx="379561" cy="417518"/>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xmlns="" id="{E8725900-1C41-3977-2C69-2E0321B3653C}"/>
              </a:ext>
            </a:extLst>
          </p:cNvPr>
          <p:cNvGraphicFramePr>
            <a:graphicFrameLocks noChangeAspect="1"/>
          </p:cNvGraphicFramePr>
          <p:nvPr>
            <p:extLst>
              <p:ext uri="{D42A27DB-BD31-4B8C-83A1-F6EECF244321}">
                <p14:modId xmlns:p14="http://schemas.microsoft.com/office/powerpoint/2010/main" val="2564485919"/>
              </p:ext>
            </p:extLst>
          </p:nvPr>
        </p:nvGraphicFramePr>
        <p:xfrm>
          <a:off x="1835302" y="1323759"/>
          <a:ext cx="441325" cy="442713"/>
        </p:xfrm>
        <a:graphic>
          <a:graphicData uri="http://schemas.openxmlformats.org/presentationml/2006/ole">
            <mc:AlternateContent xmlns:mc="http://schemas.openxmlformats.org/markup-compatibility/2006">
              <mc:Choice xmlns:v="urn:schemas-microsoft-com:vml" Requires="v">
                <p:oleObj spid="_x0000_s27263" name="Equation" r:id="rId5" imgW="504758" imgH="506178" progId="Equation.DSMT4">
                  <p:embed/>
                </p:oleObj>
              </mc:Choice>
              <mc:Fallback>
                <p:oleObj name="Equation" r:id="rId5" imgW="504758" imgH="506178" progId="Equation.DSMT4">
                  <p:embed/>
                  <p:pic>
                    <p:nvPicPr>
                      <p:cNvPr id="0" name=""/>
                      <p:cNvPicPr/>
                      <p:nvPr/>
                    </p:nvPicPr>
                    <p:blipFill>
                      <a:blip r:embed="rId6"/>
                      <a:stretch>
                        <a:fillRect/>
                      </a:stretch>
                    </p:blipFill>
                    <p:spPr>
                      <a:xfrm>
                        <a:off x="1835302" y="1323759"/>
                        <a:ext cx="441325" cy="442713"/>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xmlns="" id="{81C2D514-3D08-E559-0E9D-3688D3D1DDE5}"/>
              </a:ext>
            </a:extLst>
          </p:cNvPr>
          <p:cNvGraphicFramePr>
            <a:graphicFrameLocks noChangeAspect="1"/>
          </p:cNvGraphicFramePr>
          <p:nvPr>
            <p:extLst>
              <p:ext uri="{D42A27DB-BD31-4B8C-83A1-F6EECF244321}">
                <p14:modId xmlns:p14="http://schemas.microsoft.com/office/powerpoint/2010/main" val="3042839207"/>
              </p:ext>
            </p:extLst>
          </p:nvPr>
        </p:nvGraphicFramePr>
        <p:xfrm>
          <a:off x="2380845" y="1326301"/>
          <a:ext cx="379561" cy="435540"/>
        </p:xfrm>
        <a:graphic>
          <a:graphicData uri="http://schemas.openxmlformats.org/presentationml/2006/ole">
            <mc:AlternateContent xmlns:mc="http://schemas.openxmlformats.org/markup-compatibility/2006">
              <mc:Choice xmlns:v="urn:schemas-microsoft-com:vml" Requires="v">
                <p:oleObj spid="_x0000_s27264" name="Equation" r:id="rId7" imgW="440673" imgH="506178" progId="Equation.DSMT4">
                  <p:embed/>
                </p:oleObj>
              </mc:Choice>
              <mc:Fallback>
                <p:oleObj name="Equation" r:id="rId7" imgW="440673" imgH="506178" progId="Equation.DSMT4">
                  <p:embed/>
                  <p:pic>
                    <p:nvPicPr>
                      <p:cNvPr id="0" name=""/>
                      <p:cNvPicPr/>
                      <p:nvPr/>
                    </p:nvPicPr>
                    <p:blipFill>
                      <a:blip r:embed="rId8"/>
                      <a:stretch>
                        <a:fillRect/>
                      </a:stretch>
                    </p:blipFill>
                    <p:spPr>
                      <a:xfrm>
                        <a:off x="2380845" y="1326301"/>
                        <a:ext cx="379561" cy="435540"/>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xmlns="" id="{58F380B4-CD61-EB1B-C268-D827C9009A0F}"/>
              </a:ext>
            </a:extLst>
          </p:cNvPr>
          <p:cNvGraphicFramePr>
            <a:graphicFrameLocks noChangeAspect="1"/>
          </p:cNvGraphicFramePr>
          <p:nvPr>
            <p:extLst>
              <p:ext uri="{D42A27DB-BD31-4B8C-83A1-F6EECF244321}">
                <p14:modId xmlns:p14="http://schemas.microsoft.com/office/powerpoint/2010/main" val="2860420562"/>
              </p:ext>
            </p:extLst>
          </p:nvPr>
        </p:nvGraphicFramePr>
        <p:xfrm>
          <a:off x="1560202" y="2001092"/>
          <a:ext cx="2376487" cy="803275"/>
        </p:xfrm>
        <a:graphic>
          <a:graphicData uri="http://schemas.openxmlformats.org/presentationml/2006/ole">
            <mc:AlternateContent xmlns:mc="http://schemas.openxmlformats.org/markup-compatibility/2006">
              <mc:Choice xmlns:v="urn:schemas-microsoft-com:vml" Requires="v">
                <p:oleObj spid="_x0000_s27265" name="Equation" r:id="rId9" imgW="2376177" imgH="803189" progId="Equation.DSMT4">
                  <p:embed/>
                </p:oleObj>
              </mc:Choice>
              <mc:Fallback>
                <p:oleObj name="Equation" r:id="rId9" imgW="2376177" imgH="803189" progId="Equation.DSMT4">
                  <p:embed/>
                  <p:pic>
                    <p:nvPicPr>
                      <p:cNvPr id="0" name=""/>
                      <p:cNvPicPr/>
                      <p:nvPr/>
                    </p:nvPicPr>
                    <p:blipFill>
                      <a:blip r:embed="rId10"/>
                      <a:stretch>
                        <a:fillRect/>
                      </a:stretch>
                    </p:blipFill>
                    <p:spPr>
                      <a:xfrm>
                        <a:off x="1560202" y="2001092"/>
                        <a:ext cx="2376487" cy="803275"/>
                      </a:xfrm>
                      <a:prstGeom prst="rect">
                        <a:avLst/>
                      </a:prstGeom>
                    </p:spPr>
                  </p:pic>
                </p:oleObj>
              </mc:Fallback>
            </mc:AlternateContent>
          </a:graphicData>
        </a:graphic>
      </p:graphicFrame>
      <p:graphicFrame>
        <p:nvGraphicFramePr>
          <p:cNvPr id="11" name="对象 10">
            <a:extLst>
              <a:ext uri="{FF2B5EF4-FFF2-40B4-BE49-F238E27FC236}">
                <a16:creationId xmlns:a16="http://schemas.microsoft.com/office/drawing/2014/main" xmlns="" id="{8ECAECEA-E663-80AD-EB84-F1F7A90C2195}"/>
              </a:ext>
            </a:extLst>
          </p:cNvPr>
          <p:cNvGraphicFramePr>
            <a:graphicFrameLocks noChangeAspect="1"/>
          </p:cNvGraphicFramePr>
          <p:nvPr>
            <p:extLst>
              <p:ext uri="{D42A27DB-BD31-4B8C-83A1-F6EECF244321}">
                <p14:modId xmlns:p14="http://schemas.microsoft.com/office/powerpoint/2010/main" val="4240830277"/>
              </p:ext>
            </p:extLst>
          </p:nvPr>
        </p:nvGraphicFramePr>
        <p:xfrm>
          <a:off x="4427984" y="2164278"/>
          <a:ext cx="2376487" cy="430213"/>
        </p:xfrm>
        <a:graphic>
          <a:graphicData uri="http://schemas.openxmlformats.org/presentationml/2006/ole">
            <mc:AlternateContent xmlns:mc="http://schemas.openxmlformats.org/markup-compatibility/2006">
              <mc:Choice xmlns:v="urn:schemas-microsoft-com:vml" Requires="v">
                <p:oleObj spid="_x0000_s27266" name="Equation" r:id="rId11" imgW="2376177" imgH="429855" progId="Equation.DSMT4">
                  <p:embed/>
                </p:oleObj>
              </mc:Choice>
              <mc:Fallback>
                <p:oleObj name="Equation" r:id="rId11" imgW="2376177" imgH="429855" progId="Equation.DSMT4">
                  <p:embed/>
                  <p:pic>
                    <p:nvPicPr>
                      <p:cNvPr id="0" name=""/>
                      <p:cNvPicPr/>
                      <p:nvPr/>
                    </p:nvPicPr>
                    <p:blipFill>
                      <a:blip r:embed="rId12"/>
                      <a:stretch>
                        <a:fillRect/>
                      </a:stretch>
                    </p:blipFill>
                    <p:spPr>
                      <a:xfrm>
                        <a:off x="4427984" y="2164278"/>
                        <a:ext cx="2376487" cy="430213"/>
                      </a:xfrm>
                      <a:prstGeom prst="rect">
                        <a:avLst/>
                      </a:prstGeom>
                    </p:spPr>
                  </p:pic>
                </p:oleObj>
              </mc:Fallback>
            </mc:AlternateContent>
          </a:graphicData>
        </a:graphic>
      </p:graphicFrame>
      <p:graphicFrame>
        <p:nvGraphicFramePr>
          <p:cNvPr id="12" name="对象 11">
            <a:extLst>
              <a:ext uri="{FF2B5EF4-FFF2-40B4-BE49-F238E27FC236}">
                <a16:creationId xmlns:a16="http://schemas.microsoft.com/office/drawing/2014/main" xmlns="" id="{7467436D-0662-A1D0-0FB6-83119806D651}"/>
              </a:ext>
            </a:extLst>
          </p:cNvPr>
          <p:cNvGraphicFramePr>
            <a:graphicFrameLocks noChangeAspect="1"/>
          </p:cNvGraphicFramePr>
          <p:nvPr>
            <p:extLst>
              <p:ext uri="{D42A27DB-BD31-4B8C-83A1-F6EECF244321}">
                <p14:modId xmlns:p14="http://schemas.microsoft.com/office/powerpoint/2010/main" val="2682432093"/>
              </p:ext>
            </p:extLst>
          </p:nvPr>
        </p:nvGraphicFramePr>
        <p:xfrm>
          <a:off x="2627784" y="2825433"/>
          <a:ext cx="3244850" cy="754063"/>
        </p:xfrm>
        <a:graphic>
          <a:graphicData uri="http://schemas.openxmlformats.org/presentationml/2006/ole">
            <mc:AlternateContent xmlns:mc="http://schemas.openxmlformats.org/markup-compatibility/2006">
              <mc:Choice xmlns:v="urn:schemas-microsoft-com:vml" Requires="v">
                <p:oleObj spid="_x0000_s27267" name="Equation" r:id="rId13" imgW="3244562" imgH="754587" progId="Equation.DSMT4">
                  <p:embed/>
                </p:oleObj>
              </mc:Choice>
              <mc:Fallback>
                <p:oleObj name="Equation" r:id="rId13" imgW="3244562" imgH="754587" progId="Equation.DSMT4">
                  <p:embed/>
                  <p:pic>
                    <p:nvPicPr>
                      <p:cNvPr id="0" name=""/>
                      <p:cNvPicPr/>
                      <p:nvPr/>
                    </p:nvPicPr>
                    <p:blipFill>
                      <a:blip r:embed="rId14"/>
                      <a:stretch>
                        <a:fillRect/>
                      </a:stretch>
                    </p:blipFill>
                    <p:spPr>
                      <a:xfrm>
                        <a:off x="2627784" y="2825433"/>
                        <a:ext cx="3244850" cy="754063"/>
                      </a:xfrm>
                      <a:prstGeom prst="rect">
                        <a:avLst/>
                      </a:prstGeom>
                    </p:spPr>
                  </p:pic>
                </p:oleObj>
              </mc:Fallback>
            </mc:AlternateContent>
          </a:graphicData>
        </a:graphic>
      </p:graphicFrame>
      <p:sp>
        <p:nvSpPr>
          <p:cNvPr id="13" name="文本框 12">
            <a:extLst>
              <a:ext uri="{FF2B5EF4-FFF2-40B4-BE49-F238E27FC236}">
                <a16:creationId xmlns:a16="http://schemas.microsoft.com/office/drawing/2014/main" xmlns="" id="{F8EF1CFB-C63A-F1DC-2B01-E4D4EB737205}"/>
              </a:ext>
            </a:extLst>
          </p:cNvPr>
          <p:cNvSpPr txBox="1"/>
          <p:nvPr/>
        </p:nvSpPr>
        <p:spPr>
          <a:xfrm>
            <a:off x="781239" y="3599281"/>
            <a:ext cx="6937940" cy="707886"/>
          </a:xfrm>
          <a:prstGeom prst="rect">
            <a:avLst/>
          </a:prstGeom>
          <a:noFill/>
        </p:spPr>
        <p:txBody>
          <a:bodyPr wrap="square" rtlCol="0">
            <a:spAutoFit/>
          </a:bodyPr>
          <a:lstStyle/>
          <a:p>
            <a:pPr eaLnBrk="1" hangingPunct="1"/>
            <a:r>
              <a:rPr lang="zh-CN" altLang="en-US" sz="2000" dirty="0">
                <a:latin typeface="Times New Roman" panose="02020603050405020304" pitchFamily="18" charset="0"/>
                <a:ea typeface="+mn-ea"/>
              </a:rPr>
              <a:t>可得     ＜     时，</a:t>
            </a:r>
            <a:r>
              <a:rPr lang="zh-CN" altLang="en-US" sz="2000" dirty="0">
                <a:solidFill>
                  <a:srgbClr val="FF0000"/>
                </a:solidFill>
                <a:latin typeface="Times New Roman" panose="02020603050405020304" pitchFamily="18" charset="0"/>
                <a:ea typeface="+mn-ea"/>
              </a:rPr>
              <a:t>已知工作频率     、    和     的阻抗匹配网络的计算式</a:t>
            </a:r>
          </a:p>
        </p:txBody>
      </p:sp>
      <p:graphicFrame>
        <p:nvGraphicFramePr>
          <p:cNvPr id="14" name="对象 13">
            <a:extLst>
              <a:ext uri="{FF2B5EF4-FFF2-40B4-BE49-F238E27FC236}">
                <a16:creationId xmlns:a16="http://schemas.microsoft.com/office/drawing/2014/main" xmlns="" id="{EACE9F18-7902-0B55-1683-CB5A88990F1F}"/>
              </a:ext>
            </a:extLst>
          </p:cNvPr>
          <p:cNvGraphicFramePr>
            <a:graphicFrameLocks noChangeAspect="1"/>
          </p:cNvGraphicFramePr>
          <p:nvPr>
            <p:extLst>
              <p:ext uri="{D42A27DB-BD31-4B8C-83A1-F6EECF244321}">
                <p14:modId xmlns:p14="http://schemas.microsoft.com/office/powerpoint/2010/main" val="1697847830"/>
              </p:ext>
            </p:extLst>
          </p:nvPr>
        </p:nvGraphicFramePr>
        <p:xfrm>
          <a:off x="1363153" y="3550862"/>
          <a:ext cx="376237" cy="431800"/>
        </p:xfrm>
        <a:graphic>
          <a:graphicData uri="http://schemas.openxmlformats.org/presentationml/2006/ole">
            <mc:AlternateContent xmlns:mc="http://schemas.openxmlformats.org/markup-compatibility/2006">
              <mc:Choice xmlns:v="urn:schemas-microsoft-com:vml" Requires="v">
                <p:oleObj spid="_x0000_s27268" name="Equation" r:id="rId15" imgW="376588" imgH="431295" progId="Equation.DSMT4">
                  <p:embed/>
                </p:oleObj>
              </mc:Choice>
              <mc:Fallback>
                <p:oleObj name="Equation" r:id="rId15" imgW="376588" imgH="431295" progId="Equation.DSMT4">
                  <p:embed/>
                  <p:pic>
                    <p:nvPicPr>
                      <p:cNvPr id="0" name=""/>
                      <p:cNvPicPr/>
                      <p:nvPr/>
                    </p:nvPicPr>
                    <p:blipFill>
                      <a:blip r:embed="rId16"/>
                      <a:stretch>
                        <a:fillRect/>
                      </a:stretch>
                    </p:blipFill>
                    <p:spPr>
                      <a:xfrm>
                        <a:off x="1363153" y="3550862"/>
                        <a:ext cx="376237" cy="431800"/>
                      </a:xfrm>
                      <a:prstGeom prst="rect">
                        <a:avLst/>
                      </a:prstGeom>
                    </p:spPr>
                  </p:pic>
                </p:oleObj>
              </mc:Fallback>
            </mc:AlternateContent>
          </a:graphicData>
        </a:graphic>
      </p:graphicFrame>
      <p:graphicFrame>
        <p:nvGraphicFramePr>
          <p:cNvPr id="15" name="对象 14">
            <a:extLst>
              <a:ext uri="{FF2B5EF4-FFF2-40B4-BE49-F238E27FC236}">
                <a16:creationId xmlns:a16="http://schemas.microsoft.com/office/drawing/2014/main" xmlns="" id="{AA7C3D08-3C04-4ED9-38A8-F26B90F17211}"/>
              </a:ext>
            </a:extLst>
          </p:cNvPr>
          <p:cNvGraphicFramePr>
            <a:graphicFrameLocks noChangeAspect="1"/>
          </p:cNvGraphicFramePr>
          <p:nvPr>
            <p:extLst>
              <p:ext uri="{D42A27DB-BD31-4B8C-83A1-F6EECF244321}">
                <p14:modId xmlns:p14="http://schemas.microsoft.com/office/powerpoint/2010/main" val="3890437256"/>
              </p:ext>
            </p:extLst>
          </p:nvPr>
        </p:nvGraphicFramePr>
        <p:xfrm>
          <a:off x="1919440" y="3539841"/>
          <a:ext cx="357187" cy="431800"/>
        </p:xfrm>
        <a:graphic>
          <a:graphicData uri="http://schemas.openxmlformats.org/presentationml/2006/ole">
            <mc:AlternateContent xmlns:mc="http://schemas.openxmlformats.org/markup-compatibility/2006">
              <mc:Choice xmlns:v="urn:schemas-microsoft-com:vml" Requires="v">
                <p:oleObj spid="_x0000_s27269" name="Equation" r:id="rId17" imgW="356787" imgH="431295" progId="Equation.DSMT4">
                  <p:embed/>
                </p:oleObj>
              </mc:Choice>
              <mc:Fallback>
                <p:oleObj name="Equation" r:id="rId17" imgW="356787" imgH="431295" progId="Equation.DSMT4">
                  <p:embed/>
                  <p:pic>
                    <p:nvPicPr>
                      <p:cNvPr id="0" name=""/>
                      <p:cNvPicPr/>
                      <p:nvPr/>
                    </p:nvPicPr>
                    <p:blipFill>
                      <a:blip r:embed="rId18"/>
                      <a:stretch>
                        <a:fillRect/>
                      </a:stretch>
                    </p:blipFill>
                    <p:spPr>
                      <a:xfrm>
                        <a:off x="1919440" y="3539841"/>
                        <a:ext cx="357187" cy="431800"/>
                      </a:xfrm>
                      <a:prstGeom prst="rect">
                        <a:avLst/>
                      </a:prstGeom>
                    </p:spPr>
                  </p:pic>
                </p:oleObj>
              </mc:Fallback>
            </mc:AlternateContent>
          </a:graphicData>
        </a:graphic>
      </p:graphicFrame>
      <p:graphicFrame>
        <p:nvGraphicFramePr>
          <p:cNvPr id="16" name="对象 15">
            <a:extLst>
              <a:ext uri="{FF2B5EF4-FFF2-40B4-BE49-F238E27FC236}">
                <a16:creationId xmlns:a16="http://schemas.microsoft.com/office/drawing/2014/main" xmlns="" id="{4E5F1046-3AF2-B000-8EF9-F2C173909707}"/>
              </a:ext>
            </a:extLst>
          </p:cNvPr>
          <p:cNvGraphicFramePr>
            <a:graphicFrameLocks noChangeAspect="1"/>
          </p:cNvGraphicFramePr>
          <p:nvPr>
            <p:extLst>
              <p:ext uri="{D42A27DB-BD31-4B8C-83A1-F6EECF244321}">
                <p14:modId xmlns:p14="http://schemas.microsoft.com/office/powerpoint/2010/main" val="3681501694"/>
              </p:ext>
            </p:extLst>
          </p:nvPr>
        </p:nvGraphicFramePr>
        <p:xfrm>
          <a:off x="4270490" y="3599281"/>
          <a:ext cx="360363" cy="336550"/>
        </p:xfrm>
        <a:graphic>
          <a:graphicData uri="http://schemas.openxmlformats.org/presentationml/2006/ole">
            <mc:AlternateContent xmlns:mc="http://schemas.openxmlformats.org/markup-compatibility/2006">
              <mc:Choice xmlns:v="urn:schemas-microsoft-com:vml" Requires="v">
                <p:oleObj spid="_x0000_s27270" name="Equation" r:id="rId19" imgW="359667" imgH="336972" progId="Equation.DSMT4">
                  <p:embed/>
                </p:oleObj>
              </mc:Choice>
              <mc:Fallback>
                <p:oleObj name="Equation" r:id="rId19" imgW="359667" imgH="336972" progId="Equation.DSMT4">
                  <p:embed/>
                  <p:pic>
                    <p:nvPicPr>
                      <p:cNvPr id="0" name=""/>
                      <p:cNvPicPr/>
                      <p:nvPr/>
                    </p:nvPicPr>
                    <p:blipFill>
                      <a:blip r:embed="rId20"/>
                      <a:stretch>
                        <a:fillRect/>
                      </a:stretch>
                    </p:blipFill>
                    <p:spPr>
                      <a:xfrm>
                        <a:off x="4270490" y="3599281"/>
                        <a:ext cx="360363" cy="336550"/>
                      </a:xfrm>
                      <a:prstGeom prst="rect">
                        <a:avLst/>
                      </a:prstGeom>
                    </p:spPr>
                  </p:pic>
                </p:oleObj>
              </mc:Fallback>
            </mc:AlternateContent>
          </a:graphicData>
        </a:graphic>
      </p:graphicFrame>
      <p:graphicFrame>
        <p:nvGraphicFramePr>
          <p:cNvPr id="17" name="对象 16">
            <a:extLst>
              <a:ext uri="{FF2B5EF4-FFF2-40B4-BE49-F238E27FC236}">
                <a16:creationId xmlns:a16="http://schemas.microsoft.com/office/drawing/2014/main" xmlns="" id="{E6CA28F1-0C6E-0144-DDE4-FA6931E39CE8}"/>
              </a:ext>
            </a:extLst>
          </p:cNvPr>
          <p:cNvGraphicFramePr>
            <a:graphicFrameLocks noChangeAspect="1"/>
          </p:cNvGraphicFramePr>
          <p:nvPr>
            <p:extLst>
              <p:ext uri="{D42A27DB-BD31-4B8C-83A1-F6EECF244321}">
                <p14:modId xmlns:p14="http://schemas.microsoft.com/office/powerpoint/2010/main" val="4233205167"/>
              </p:ext>
            </p:extLst>
          </p:nvPr>
        </p:nvGraphicFramePr>
        <p:xfrm>
          <a:off x="4787059" y="3531605"/>
          <a:ext cx="376237" cy="431800"/>
        </p:xfrm>
        <a:graphic>
          <a:graphicData uri="http://schemas.openxmlformats.org/presentationml/2006/ole">
            <mc:AlternateContent xmlns:mc="http://schemas.openxmlformats.org/markup-compatibility/2006">
              <mc:Choice xmlns:v="urn:schemas-microsoft-com:vml" Requires="v">
                <p:oleObj spid="_x0000_s27271" name="Equation" r:id="rId21" imgW="376588" imgH="431295" progId="Equation.DSMT4">
                  <p:embed/>
                </p:oleObj>
              </mc:Choice>
              <mc:Fallback>
                <p:oleObj name="Equation" r:id="rId21" imgW="376588" imgH="431295" progId="Equation.DSMT4">
                  <p:embed/>
                  <p:pic>
                    <p:nvPicPr>
                      <p:cNvPr id="0" name=""/>
                      <p:cNvPicPr/>
                      <p:nvPr/>
                    </p:nvPicPr>
                    <p:blipFill>
                      <a:blip r:embed="rId22"/>
                      <a:stretch>
                        <a:fillRect/>
                      </a:stretch>
                    </p:blipFill>
                    <p:spPr>
                      <a:xfrm>
                        <a:off x="4787059" y="3531605"/>
                        <a:ext cx="376237" cy="431800"/>
                      </a:xfrm>
                      <a:prstGeom prst="rect">
                        <a:avLst/>
                      </a:prstGeom>
                    </p:spPr>
                  </p:pic>
                </p:oleObj>
              </mc:Fallback>
            </mc:AlternateContent>
          </a:graphicData>
        </a:graphic>
      </p:graphicFrame>
      <p:graphicFrame>
        <p:nvGraphicFramePr>
          <p:cNvPr id="18" name="对象 17">
            <a:extLst>
              <a:ext uri="{FF2B5EF4-FFF2-40B4-BE49-F238E27FC236}">
                <a16:creationId xmlns:a16="http://schemas.microsoft.com/office/drawing/2014/main" xmlns="" id="{5873A919-CF51-1F8C-9D19-6482A5A4D438}"/>
              </a:ext>
            </a:extLst>
          </p:cNvPr>
          <p:cNvGraphicFramePr>
            <a:graphicFrameLocks noChangeAspect="1"/>
          </p:cNvGraphicFramePr>
          <p:nvPr>
            <p:extLst>
              <p:ext uri="{D42A27DB-BD31-4B8C-83A1-F6EECF244321}">
                <p14:modId xmlns:p14="http://schemas.microsoft.com/office/powerpoint/2010/main" val="2129775994"/>
              </p:ext>
            </p:extLst>
          </p:nvPr>
        </p:nvGraphicFramePr>
        <p:xfrm>
          <a:off x="5398665" y="3550862"/>
          <a:ext cx="358775" cy="433387"/>
        </p:xfrm>
        <a:graphic>
          <a:graphicData uri="http://schemas.openxmlformats.org/presentationml/2006/ole">
            <mc:AlternateContent xmlns:mc="http://schemas.openxmlformats.org/markup-compatibility/2006">
              <mc:Choice xmlns:v="urn:schemas-microsoft-com:vml" Requires="v">
                <p:oleObj spid="_x0000_s27272" name="Equation" r:id="rId23" imgW="358227" imgH="433096" progId="Equation.DSMT4">
                  <p:embed/>
                </p:oleObj>
              </mc:Choice>
              <mc:Fallback>
                <p:oleObj name="Equation" r:id="rId23" imgW="358227" imgH="433096" progId="Equation.DSMT4">
                  <p:embed/>
                  <p:pic>
                    <p:nvPicPr>
                      <p:cNvPr id="0" name=""/>
                      <p:cNvPicPr/>
                      <p:nvPr/>
                    </p:nvPicPr>
                    <p:blipFill>
                      <a:blip r:embed="rId24"/>
                      <a:stretch>
                        <a:fillRect/>
                      </a:stretch>
                    </p:blipFill>
                    <p:spPr>
                      <a:xfrm>
                        <a:off x="5398665" y="3550862"/>
                        <a:ext cx="358775" cy="433387"/>
                      </a:xfrm>
                      <a:prstGeom prst="rect">
                        <a:avLst/>
                      </a:prstGeom>
                    </p:spPr>
                  </p:pic>
                </p:oleObj>
              </mc:Fallback>
            </mc:AlternateContent>
          </a:graphicData>
        </a:graphic>
      </p:graphicFrame>
      <p:graphicFrame>
        <p:nvGraphicFramePr>
          <p:cNvPr id="19" name="对象 18">
            <a:extLst>
              <a:ext uri="{FF2B5EF4-FFF2-40B4-BE49-F238E27FC236}">
                <a16:creationId xmlns:a16="http://schemas.microsoft.com/office/drawing/2014/main" xmlns="" id="{E503248C-84D5-C12C-A2FD-0540AC7A1ADD}"/>
              </a:ext>
            </a:extLst>
          </p:cNvPr>
          <p:cNvGraphicFramePr>
            <a:graphicFrameLocks noChangeAspect="1"/>
          </p:cNvGraphicFramePr>
          <p:nvPr>
            <p:extLst>
              <p:ext uri="{D42A27DB-BD31-4B8C-83A1-F6EECF244321}">
                <p14:modId xmlns:p14="http://schemas.microsoft.com/office/powerpoint/2010/main" val="1636667041"/>
              </p:ext>
            </p:extLst>
          </p:nvPr>
        </p:nvGraphicFramePr>
        <p:xfrm>
          <a:off x="2760406" y="4195031"/>
          <a:ext cx="2807866" cy="2151643"/>
        </p:xfrm>
        <a:graphic>
          <a:graphicData uri="http://schemas.openxmlformats.org/presentationml/2006/ole">
            <mc:AlternateContent xmlns:mc="http://schemas.openxmlformats.org/markup-compatibility/2006">
              <mc:Choice xmlns:v="urn:schemas-microsoft-com:vml" Requires="v">
                <p:oleObj spid="_x0000_s27273" name="Equation" r:id="rId25" imgW="3240242" imgH="2482649" progId="Equation.DSMT4">
                  <p:embed/>
                </p:oleObj>
              </mc:Choice>
              <mc:Fallback>
                <p:oleObj name="Equation" r:id="rId25" imgW="3240242" imgH="2482649" progId="Equation.DSMT4">
                  <p:embed/>
                  <p:pic>
                    <p:nvPicPr>
                      <p:cNvPr id="0" name=""/>
                      <p:cNvPicPr/>
                      <p:nvPr/>
                    </p:nvPicPr>
                    <p:blipFill>
                      <a:blip r:embed="rId26"/>
                      <a:stretch>
                        <a:fillRect/>
                      </a:stretch>
                    </p:blipFill>
                    <p:spPr>
                      <a:xfrm>
                        <a:off x="2760406" y="4195031"/>
                        <a:ext cx="2807866" cy="2151643"/>
                      </a:xfrm>
                      <a:prstGeom prst="rect">
                        <a:avLst/>
                      </a:prstGeom>
                    </p:spPr>
                  </p:pic>
                </p:oleObj>
              </mc:Fallback>
            </mc:AlternateContent>
          </a:graphicData>
        </a:graphic>
      </p:graphicFrame>
    </p:spTree>
    <p:extLst>
      <p:ext uri="{BB962C8B-B14F-4D97-AF65-F5344CB8AC3E}">
        <p14:creationId xmlns:p14="http://schemas.microsoft.com/office/powerpoint/2010/main" val="2891581369"/>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47</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2.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高频</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基础</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电路</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内容占位符 7170">
            <a:extLst>
              <a:ext uri="{FF2B5EF4-FFF2-40B4-BE49-F238E27FC236}">
                <a16:creationId xmlns:a16="http://schemas.microsoft.com/office/drawing/2014/main" xmlns="" id="{95F95A8B-3D7D-BC9E-8DBD-4CEE24BE067C}"/>
              </a:ext>
            </a:extLst>
          </p:cNvPr>
          <p:cNvSpPr/>
          <p:nvPr/>
        </p:nvSpPr>
        <p:spPr>
          <a:xfrm>
            <a:off x="539552" y="1412775"/>
            <a:ext cx="8353425" cy="3672409"/>
          </a:xfrm>
          <a:prstGeom prst="rect">
            <a:avLst/>
          </a:prstGeom>
          <a:noFill/>
          <a:ln w="9525">
            <a:noFill/>
          </a:ln>
        </p:spPr>
        <p:txBody>
          <a:bodyPr/>
          <a:lstStyle/>
          <a:p>
            <a:pPr>
              <a:lnSpc>
                <a:spcPct val="120000"/>
              </a:lnSpc>
              <a:spcBef>
                <a:spcPts val="1200"/>
              </a:spcBef>
              <a:spcAft>
                <a:spcPts val="1200"/>
              </a:spcAft>
              <a:buClr>
                <a:schemeClr val="folHlink"/>
              </a:buClr>
              <a:buSzPct val="60000"/>
              <a:defRPr/>
            </a:pPr>
            <a:endParaRPr lang="zh-CN" altLang="en-US" dirty="0">
              <a:ln w="0"/>
              <a:effectLst>
                <a:glow rad="63500">
                  <a:schemeClr val="accent3">
                    <a:satMod val="175000"/>
                    <a:alpha val="40000"/>
                  </a:schemeClr>
                </a:glow>
              </a:effectLst>
              <a:latin typeface="+mn-ea"/>
              <a:ea typeface="+mn-ea"/>
              <a:cs typeface="Times New Roman" panose="02020603050405020304" pitchFamily="18" charset="0"/>
            </a:endParaRPr>
          </a:p>
        </p:txBody>
      </p:sp>
      <p:sp>
        <p:nvSpPr>
          <p:cNvPr id="6" name="文本框 5">
            <a:extLst>
              <a:ext uri="{FF2B5EF4-FFF2-40B4-BE49-F238E27FC236}">
                <a16:creationId xmlns:a16="http://schemas.microsoft.com/office/drawing/2014/main" xmlns="" id="{0EE79FD6-8C19-D6E7-EBB0-784353922BB8}"/>
              </a:ext>
            </a:extLst>
          </p:cNvPr>
          <p:cNvSpPr txBox="1"/>
          <p:nvPr/>
        </p:nvSpPr>
        <p:spPr>
          <a:xfrm>
            <a:off x="586388" y="1412775"/>
            <a:ext cx="6217859" cy="461665"/>
          </a:xfrm>
          <a:prstGeom prst="rect">
            <a:avLst/>
          </a:prstGeom>
          <a:noFill/>
        </p:spPr>
        <p:txBody>
          <a:bodyPr wrap="square" rtlCol="0">
            <a:spAutoFit/>
          </a:bodyPr>
          <a:lstStyle/>
          <a:p>
            <a:r>
              <a:rPr lang="en-US" altLang="zh-CN" sz="2400" b="1" dirty="0">
                <a:latin typeface="+mn-ea"/>
                <a:ea typeface="+mn-ea"/>
              </a:rPr>
              <a:t>2. R</a:t>
            </a:r>
            <a:r>
              <a:rPr lang="en-US" altLang="zh-CN" sz="2400" b="1" baseline="-25000" dirty="0">
                <a:latin typeface="+mn-ea"/>
                <a:ea typeface="+mn-ea"/>
              </a:rPr>
              <a:t>2</a:t>
            </a:r>
            <a:r>
              <a:rPr lang="en-US" altLang="zh-CN" sz="2400" b="1" dirty="0">
                <a:latin typeface="+mn-ea"/>
                <a:ea typeface="+mn-ea"/>
              </a:rPr>
              <a:t>&gt;R</a:t>
            </a:r>
            <a:r>
              <a:rPr lang="en-US" altLang="zh-CN" sz="2400" b="1" baseline="-25000" dirty="0">
                <a:latin typeface="+mn-ea"/>
                <a:ea typeface="+mn-ea"/>
              </a:rPr>
              <a:t>1</a:t>
            </a:r>
            <a:r>
              <a:rPr lang="zh-CN" altLang="en-US" sz="2400" b="1" dirty="0">
                <a:latin typeface="+mn-ea"/>
                <a:ea typeface="+mn-ea"/>
              </a:rPr>
              <a:t>的</a:t>
            </a:r>
            <a:r>
              <a:rPr lang="en-US" altLang="zh-CN" sz="2400" b="1" dirty="0">
                <a:latin typeface="+mn-ea"/>
                <a:ea typeface="+mn-ea"/>
              </a:rPr>
              <a:t>L</a:t>
            </a:r>
            <a:r>
              <a:rPr lang="zh-CN" altLang="en-US" sz="2400" b="1" dirty="0">
                <a:latin typeface="+mn-ea"/>
                <a:ea typeface="+mn-ea"/>
              </a:rPr>
              <a:t>型匹配网络</a:t>
            </a:r>
          </a:p>
        </p:txBody>
      </p:sp>
      <p:sp>
        <p:nvSpPr>
          <p:cNvPr id="7" name="文本框 6">
            <a:extLst>
              <a:ext uri="{FF2B5EF4-FFF2-40B4-BE49-F238E27FC236}">
                <a16:creationId xmlns:a16="http://schemas.microsoft.com/office/drawing/2014/main" xmlns="" id="{B566665B-8AD6-B8DB-5771-ABC45A95A173}"/>
              </a:ext>
            </a:extLst>
          </p:cNvPr>
          <p:cNvSpPr txBox="1"/>
          <p:nvPr/>
        </p:nvSpPr>
        <p:spPr>
          <a:xfrm>
            <a:off x="813907" y="4688795"/>
            <a:ext cx="6937940" cy="769441"/>
          </a:xfrm>
          <a:prstGeom prst="rect">
            <a:avLst/>
          </a:prstGeom>
          <a:noFill/>
        </p:spPr>
        <p:txBody>
          <a:bodyPr wrap="square" rtlCol="0">
            <a:spAutoFit/>
          </a:bodyPr>
          <a:lstStyle/>
          <a:p>
            <a:pPr eaLnBrk="1" hangingPunct="1"/>
            <a:r>
              <a:rPr lang="zh-CN" altLang="en-US" sz="2200" dirty="0">
                <a:solidFill>
                  <a:schemeClr val="accent2"/>
                </a:solidFill>
                <a:latin typeface="Times New Roman" panose="02020603050405020304" pitchFamily="18" charset="0"/>
                <a:ea typeface="+mn-ea"/>
              </a:rPr>
              <a:t>将</a:t>
            </a:r>
            <a:r>
              <a:rPr lang="en-US" altLang="zh-CN" sz="2200" dirty="0">
                <a:solidFill>
                  <a:schemeClr val="accent2"/>
                </a:solidFill>
                <a:latin typeface="Times New Roman" panose="02020603050405020304" pitchFamily="18" charset="0"/>
                <a:ea typeface="+mn-ea"/>
              </a:rPr>
              <a:t>X</a:t>
            </a:r>
            <a:r>
              <a:rPr lang="en-US" altLang="zh-CN" sz="2200" baseline="-25000" dirty="0">
                <a:solidFill>
                  <a:schemeClr val="accent2"/>
                </a:solidFill>
                <a:latin typeface="Times New Roman" panose="02020603050405020304" pitchFamily="18" charset="0"/>
                <a:ea typeface="+mn-ea"/>
              </a:rPr>
              <a:t>2</a:t>
            </a:r>
            <a:r>
              <a:rPr lang="zh-CN" altLang="en-US" sz="2200" dirty="0">
                <a:solidFill>
                  <a:schemeClr val="accent2"/>
                </a:solidFill>
                <a:latin typeface="Times New Roman" panose="02020603050405020304" pitchFamily="18" charset="0"/>
                <a:ea typeface="+mn-ea"/>
              </a:rPr>
              <a:t>和</a:t>
            </a:r>
            <a:r>
              <a:rPr lang="en-US" altLang="zh-CN" sz="2200" dirty="0">
                <a:solidFill>
                  <a:schemeClr val="accent2"/>
                </a:solidFill>
                <a:latin typeface="Times New Roman" panose="02020603050405020304" pitchFamily="18" charset="0"/>
                <a:ea typeface="+mn-ea"/>
              </a:rPr>
              <a:t>R</a:t>
            </a:r>
            <a:r>
              <a:rPr lang="en-US" altLang="zh-CN" sz="2200" baseline="-25000" dirty="0">
                <a:solidFill>
                  <a:schemeClr val="accent2"/>
                </a:solidFill>
                <a:latin typeface="Times New Roman" panose="02020603050405020304" pitchFamily="18" charset="0"/>
                <a:ea typeface="+mn-ea"/>
              </a:rPr>
              <a:t>2</a:t>
            </a:r>
            <a:r>
              <a:rPr lang="zh-CN" altLang="en-US" sz="2200" dirty="0">
                <a:solidFill>
                  <a:schemeClr val="accent2"/>
                </a:solidFill>
                <a:latin typeface="Times New Roman" panose="02020603050405020304" pitchFamily="18" charset="0"/>
                <a:ea typeface="+mn-ea"/>
              </a:rPr>
              <a:t>的并联支路等效为     和     的串联电路</a:t>
            </a:r>
            <a:r>
              <a:rPr lang="zh-CN" altLang="en-US" sz="2200" dirty="0">
                <a:solidFill>
                  <a:srgbClr val="FF0000"/>
                </a:solidFill>
                <a:latin typeface="Times New Roman" panose="02020603050405020304" pitchFamily="18" charset="0"/>
                <a:ea typeface="+mn-ea"/>
              </a:rPr>
              <a:t>，然后与 </a:t>
            </a:r>
            <a:r>
              <a:rPr lang="en-US" altLang="zh-CN" sz="2200" dirty="0">
                <a:solidFill>
                  <a:srgbClr val="FF0000"/>
                </a:solidFill>
                <a:latin typeface="Times New Roman" panose="02020603050405020304" pitchFamily="18" charset="0"/>
                <a:ea typeface="+mn-ea"/>
              </a:rPr>
              <a:t>X</a:t>
            </a:r>
            <a:r>
              <a:rPr lang="en-US" altLang="zh-CN" sz="2200" baseline="-25000" dirty="0">
                <a:solidFill>
                  <a:srgbClr val="FF0000"/>
                </a:solidFill>
                <a:latin typeface="Times New Roman" panose="02020603050405020304" pitchFamily="18" charset="0"/>
                <a:ea typeface="+mn-ea"/>
              </a:rPr>
              <a:t>1</a:t>
            </a:r>
            <a:r>
              <a:rPr lang="zh-CN" altLang="en-US" sz="2200" dirty="0">
                <a:solidFill>
                  <a:srgbClr val="FF0000"/>
                </a:solidFill>
                <a:latin typeface="Times New Roman" panose="02020603050405020304" pitchFamily="18" charset="0"/>
                <a:ea typeface="+mn-ea"/>
              </a:rPr>
              <a:t>再并联。    和     的计算式为</a:t>
            </a:r>
          </a:p>
        </p:txBody>
      </p:sp>
      <p:sp>
        <p:nvSpPr>
          <p:cNvPr id="8" name="文本框 7">
            <a:extLst>
              <a:ext uri="{FF2B5EF4-FFF2-40B4-BE49-F238E27FC236}">
                <a16:creationId xmlns:a16="http://schemas.microsoft.com/office/drawing/2014/main" xmlns="" id="{C04B02B4-1834-4A2D-AADD-CC78CEBD789C}"/>
              </a:ext>
            </a:extLst>
          </p:cNvPr>
          <p:cNvSpPr txBox="1"/>
          <p:nvPr/>
        </p:nvSpPr>
        <p:spPr>
          <a:xfrm>
            <a:off x="658489" y="1986582"/>
            <a:ext cx="7668911" cy="1015663"/>
          </a:xfrm>
          <a:prstGeom prst="rect">
            <a:avLst/>
          </a:prstGeom>
          <a:noFill/>
        </p:spPr>
        <p:txBody>
          <a:bodyPr wrap="square" rtlCol="0">
            <a:spAutoFit/>
          </a:bodyPr>
          <a:lstStyle/>
          <a:p>
            <a:pPr eaLnBrk="1" hangingPunct="1"/>
            <a:r>
              <a:rPr lang="en-US" altLang="zh-CN" sz="2000" dirty="0">
                <a:solidFill>
                  <a:schemeClr val="accent2"/>
                </a:solidFill>
                <a:latin typeface="Times New Roman" panose="02020603050405020304" pitchFamily="18" charset="0"/>
                <a:ea typeface="+mn-ea"/>
              </a:rPr>
              <a:t>X</a:t>
            </a:r>
            <a:r>
              <a:rPr lang="en-US" altLang="zh-CN" sz="2000" baseline="-25000" dirty="0">
                <a:solidFill>
                  <a:schemeClr val="accent2"/>
                </a:solidFill>
                <a:latin typeface="Times New Roman" panose="02020603050405020304" pitchFamily="18" charset="0"/>
                <a:ea typeface="+mn-ea"/>
              </a:rPr>
              <a:t>1</a:t>
            </a:r>
            <a:r>
              <a:rPr lang="en-US" altLang="zh-CN" sz="2000" dirty="0">
                <a:solidFill>
                  <a:schemeClr val="accent2"/>
                </a:solidFill>
                <a:latin typeface="Times New Roman" panose="02020603050405020304" pitchFamily="18" charset="0"/>
                <a:ea typeface="+mn-ea"/>
              </a:rPr>
              <a:t> </a:t>
            </a:r>
            <a:r>
              <a:rPr lang="zh-CN" altLang="en-US" sz="2000" dirty="0">
                <a:solidFill>
                  <a:schemeClr val="accent2"/>
                </a:solidFill>
                <a:latin typeface="Times New Roman" panose="02020603050405020304" pitchFamily="18" charset="0"/>
                <a:ea typeface="+mn-ea"/>
              </a:rPr>
              <a:t>和</a:t>
            </a:r>
            <a:r>
              <a:rPr lang="en-US" altLang="zh-CN" sz="2000" dirty="0">
                <a:solidFill>
                  <a:schemeClr val="accent2"/>
                </a:solidFill>
                <a:latin typeface="Times New Roman" panose="02020603050405020304" pitchFamily="18" charset="0"/>
                <a:ea typeface="+mn-ea"/>
              </a:rPr>
              <a:t>X</a:t>
            </a:r>
            <a:r>
              <a:rPr lang="en-US" altLang="zh-CN" sz="2000" baseline="-25000" dirty="0">
                <a:solidFill>
                  <a:schemeClr val="accent2"/>
                </a:solidFill>
                <a:latin typeface="Times New Roman" panose="02020603050405020304" pitchFamily="18" charset="0"/>
                <a:ea typeface="+mn-ea"/>
              </a:rPr>
              <a:t>2</a:t>
            </a:r>
            <a:r>
              <a:rPr lang="zh-CN" altLang="en-US" sz="2000" dirty="0">
                <a:solidFill>
                  <a:schemeClr val="accent2"/>
                </a:solidFill>
                <a:latin typeface="Times New Roman" panose="02020603050405020304" pitchFamily="18" charset="0"/>
                <a:ea typeface="+mn-ea"/>
              </a:rPr>
              <a:t>是电抗，两者电抗性质相反，</a:t>
            </a:r>
            <a:r>
              <a:rPr lang="zh-CN" altLang="en-US" sz="2000" dirty="0">
                <a:solidFill>
                  <a:srgbClr val="FF66FF"/>
                </a:solidFill>
                <a:latin typeface="Times New Roman" panose="02020603050405020304" pitchFamily="18" charset="0"/>
                <a:ea typeface="+mn-ea"/>
              </a:rPr>
              <a:t>一个是感抗</a:t>
            </a:r>
            <a:r>
              <a:rPr lang="zh-CN" altLang="en-US" sz="2000" dirty="0">
                <a:solidFill>
                  <a:srgbClr val="00B050"/>
                </a:solidFill>
                <a:latin typeface="Times New Roman" panose="02020603050405020304" pitchFamily="18" charset="0"/>
                <a:ea typeface="+mn-ea"/>
              </a:rPr>
              <a:t>另一个必须是容抗。</a:t>
            </a:r>
            <a:r>
              <a:rPr lang="zh-CN" altLang="en-US" sz="2000" dirty="0">
                <a:solidFill>
                  <a:srgbClr val="FF0000"/>
                </a:solidFill>
                <a:latin typeface="Times New Roman" panose="02020603050405020304" pitchFamily="18" charset="0"/>
                <a:ea typeface="+mn-ea"/>
              </a:rPr>
              <a:t>利用电抗与电阻串并联等效互换的关系可以求得匹配网络参数的表示式。</a:t>
            </a:r>
          </a:p>
        </p:txBody>
      </p:sp>
      <p:graphicFrame>
        <p:nvGraphicFramePr>
          <p:cNvPr id="9" name="对象 8">
            <a:extLst>
              <a:ext uri="{FF2B5EF4-FFF2-40B4-BE49-F238E27FC236}">
                <a16:creationId xmlns:a16="http://schemas.microsoft.com/office/drawing/2014/main" xmlns="" id="{63D84F69-5DAF-8497-E890-FEA3F3D512E5}"/>
              </a:ext>
            </a:extLst>
          </p:cNvPr>
          <p:cNvGraphicFramePr>
            <a:graphicFrameLocks noChangeAspect="1"/>
          </p:cNvGraphicFramePr>
          <p:nvPr>
            <p:extLst>
              <p:ext uri="{D42A27DB-BD31-4B8C-83A1-F6EECF244321}">
                <p14:modId xmlns:p14="http://schemas.microsoft.com/office/powerpoint/2010/main" val="3114243541"/>
              </p:ext>
            </p:extLst>
          </p:nvPr>
        </p:nvGraphicFramePr>
        <p:xfrm>
          <a:off x="4282877" y="4731700"/>
          <a:ext cx="433387" cy="434975"/>
        </p:xfrm>
        <a:graphic>
          <a:graphicData uri="http://schemas.openxmlformats.org/presentationml/2006/ole">
            <mc:AlternateContent xmlns:mc="http://schemas.openxmlformats.org/markup-compatibility/2006">
              <mc:Choice xmlns:v="urn:schemas-microsoft-com:vml" Requires="v">
                <p:oleObj spid="_x0000_s28021" name="Equation" r:id="rId3" imgW="433112" imgH="434536" progId="Equation.DSMT4">
                  <p:embed/>
                </p:oleObj>
              </mc:Choice>
              <mc:Fallback>
                <p:oleObj name="Equation" r:id="rId3" imgW="433112" imgH="434536" progId="Equation.DSMT4">
                  <p:embed/>
                  <p:pic>
                    <p:nvPicPr>
                      <p:cNvPr id="0" name=""/>
                      <p:cNvPicPr/>
                      <p:nvPr/>
                    </p:nvPicPr>
                    <p:blipFill>
                      <a:blip r:embed="rId4"/>
                      <a:stretch>
                        <a:fillRect/>
                      </a:stretch>
                    </p:blipFill>
                    <p:spPr>
                      <a:xfrm>
                        <a:off x="4282877" y="4731700"/>
                        <a:ext cx="433387" cy="434975"/>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xmlns="" id="{CED41D82-E009-019C-7020-384E223CE3BC}"/>
              </a:ext>
            </a:extLst>
          </p:cNvPr>
          <p:cNvGraphicFramePr>
            <a:graphicFrameLocks noChangeAspect="1"/>
          </p:cNvGraphicFramePr>
          <p:nvPr>
            <p:extLst>
              <p:ext uri="{D42A27DB-BD31-4B8C-83A1-F6EECF244321}">
                <p14:modId xmlns:p14="http://schemas.microsoft.com/office/powerpoint/2010/main" val="2566466420"/>
              </p:ext>
            </p:extLst>
          </p:nvPr>
        </p:nvGraphicFramePr>
        <p:xfrm>
          <a:off x="4897824" y="4724762"/>
          <a:ext cx="376237" cy="433387"/>
        </p:xfrm>
        <a:graphic>
          <a:graphicData uri="http://schemas.openxmlformats.org/presentationml/2006/ole">
            <mc:AlternateContent xmlns:mc="http://schemas.openxmlformats.org/markup-compatibility/2006">
              <mc:Choice xmlns:v="urn:schemas-microsoft-com:vml" Requires="v">
                <p:oleObj spid="_x0000_s28022" name="Equation" r:id="rId5" imgW="376588" imgH="433096" progId="Equation.DSMT4">
                  <p:embed/>
                </p:oleObj>
              </mc:Choice>
              <mc:Fallback>
                <p:oleObj name="Equation" r:id="rId5" imgW="376588" imgH="433096" progId="Equation.DSMT4">
                  <p:embed/>
                  <p:pic>
                    <p:nvPicPr>
                      <p:cNvPr id="0" name=""/>
                      <p:cNvPicPr/>
                      <p:nvPr/>
                    </p:nvPicPr>
                    <p:blipFill>
                      <a:blip r:embed="rId6"/>
                      <a:stretch>
                        <a:fillRect/>
                      </a:stretch>
                    </p:blipFill>
                    <p:spPr>
                      <a:xfrm>
                        <a:off x="4897824" y="4724762"/>
                        <a:ext cx="376237" cy="433387"/>
                      </a:xfrm>
                      <a:prstGeom prst="rect">
                        <a:avLst/>
                      </a:prstGeom>
                    </p:spPr>
                  </p:pic>
                </p:oleObj>
              </mc:Fallback>
            </mc:AlternateContent>
          </a:graphicData>
        </a:graphic>
      </p:graphicFrame>
      <p:graphicFrame>
        <p:nvGraphicFramePr>
          <p:cNvPr id="11" name="对象 10">
            <a:extLst>
              <a:ext uri="{FF2B5EF4-FFF2-40B4-BE49-F238E27FC236}">
                <a16:creationId xmlns:a16="http://schemas.microsoft.com/office/drawing/2014/main" xmlns="" id="{3F2ADF78-EA5D-E9C5-EABA-B4E31F221A41}"/>
              </a:ext>
            </a:extLst>
          </p:cNvPr>
          <p:cNvGraphicFramePr>
            <a:graphicFrameLocks noChangeAspect="1"/>
          </p:cNvGraphicFramePr>
          <p:nvPr>
            <p:extLst>
              <p:ext uri="{D42A27DB-BD31-4B8C-83A1-F6EECF244321}">
                <p14:modId xmlns:p14="http://schemas.microsoft.com/office/powerpoint/2010/main" val="4290126479"/>
              </p:ext>
            </p:extLst>
          </p:nvPr>
        </p:nvGraphicFramePr>
        <p:xfrm>
          <a:off x="2466046" y="5039525"/>
          <a:ext cx="434975" cy="434975"/>
        </p:xfrm>
        <a:graphic>
          <a:graphicData uri="http://schemas.openxmlformats.org/presentationml/2006/ole">
            <mc:AlternateContent xmlns:mc="http://schemas.openxmlformats.org/markup-compatibility/2006">
              <mc:Choice xmlns:v="urn:schemas-microsoft-com:vml" Requires="v">
                <p:oleObj spid="_x0000_s28023" name="Equation" r:id="rId7" imgW="434552" imgH="434536" progId="Equation.DSMT4">
                  <p:embed/>
                </p:oleObj>
              </mc:Choice>
              <mc:Fallback>
                <p:oleObj name="Equation" r:id="rId7" imgW="434552" imgH="434536" progId="Equation.DSMT4">
                  <p:embed/>
                  <p:pic>
                    <p:nvPicPr>
                      <p:cNvPr id="0" name=""/>
                      <p:cNvPicPr/>
                      <p:nvPr/>
                    </p:nvPicPr>
                    <p:blipFill>
                      <a:blip r:embed="rId8"/>
                      <a:stretch>
                        <a:fillRect/>
                      </a:stretch>
                    </p:blipFill>
                    <p:spPr>
                      <a:xfrm>
                        <a:off x="2466046" y="5039525"/>
                        <a:ext cx="434975" cy="434975"/>
                      </a:xfrm>
                      <a:prstGeom prst="rect">
                        <a:avLst/>
                      </a:prstGeom>
                    </p:spPr>
                  </p:pic>
                </p:oleObj>
              </mc:Fallback>
            </mc:AlternateContent>
          </a:graphicData>
        </a:graphic>
      </p:graphicFrame>
      <p:graphicFrame>
        <p:nvGraphicFramePr>
          <p:cNvPr id="12" name="对象 11">
            <a:extLst>
              <a:ext uri="{FF2B5EF4-FFF2-40B4-BE49-F238E27FC236}">
                <a16:creationId xmlns:a16="http://schemas.microsoft.com/office/drawing/2014/main" xmlns="" id="{27881E8F-4ABF-0265-688F-9BB462A963BF}"/>
              </a:ext>
            </a:extLst>
          </p:cNvPr>
          <p:cNvGraphicFramePr>
            <a:graphicFrameLocks noChangeAspect="1"/>
          </p:cNvGraphicFramePr>
          <p:nvPr>
            <p:extLst>
              <p:ext uri="{D42A27DB-BD31-4B8C-83A1-F6EECF244321}">
                <p14:modId xmlns:p14="http://schemas.microsoft.com/office/powerpoint/2010/main" val="3550348106"/>
              </p:ext>
            </p:extLst>
          </p:nvPr>
        </p:nvGraphicFramePr>
        <p:xfrm>
          <a:off x="3272224" y="5039525"/>
          <a:ext cx="374650" cy="431800"/>
        </p:xfrm>
        <a:graphic>
          <a:graphicData uri="http://schemas.openxmlformats.org/presentationml/2006/ole">
            <mc:AlternateContent xmlns:mc="http://schemas.openxmlformats.org/markup-compatibility/2006">
              <mc:Choice xmlns:v="urn:schemas-microsoft-com:vml" Requires="v">
                <p:oleObj spid="_x0000_s28024" name="Equation" r:id="rId9" imgW="375148" imgH="431295" progId="Equation.DSMT4">
                  <p:embed/>
                </p:oleObj>
              </mc:Choice>
              <mc:Fallback>
                <p:oleObj name="Equation" r:id="rId9" imgW="375148" imgH="431295" progId="Equation.DSMT4">
                  <p:embed/>
                  <p:pic>
                    <p:nvPicPr>
                      <p:cNvPr id="0" name=""/>
                      <p:cNvPicPr/>
                      <p:nvPr/>
                    </p:nvPicPr>
                    <p:blipFill>
                      <a:blip r:embed="rId10"/>
                      <a:stretch>
                        <a:fillRect/>
                      </a:stretch>
                    </p:blipFill>
                    <p:spPr>
                      <a:xfrm>
                        <a:off x="3272224" y="5039525"/>
                        <a:ext cx="374650" cy="431800"/>
                      </a:xfrm>
                      <a:prstGeom prst="rect">
                        <a:avLst/>
                      </a:prstGeom>
                    </p:spPr>
                  </p:pic>
                </p:oleObj>
              </mc:Fallback>
            </mc:AlternateContent>
          </a:graphicData>
        </a:graphic>
      </p:graphicFrame>
      <p:pic>
        <p:nvPicPr>
          <p:cNvPr id="13" name="图片 454661" descr="L型匹配网络4">
            <a:extLst>
              <a:ext uri="{FF2B5EF4-FFF2-40B4-BE49-F238E27FC236}">
                <a16:creationId xmlns:a16="http://schemas.microsoft.com/office/drawing/2014/main" xmlns="" id="{E3493B79-E1C0-F418-F642-CE559E103B0E}"/>
              </a:ext>
            </a:extLst>
          </p:cNvPr>
          <p:cNvPicPr>
            <a:picLocks noChangeAspect="1"/>
          </p:cNvPicPr>
          <p:nvPr/>
        </p:nvPicPr>
        <p:blipFill>
          <a:blip r:embed="rId11"/>
          <a:stretch>
            <a:fillRect/>
          </a:stretch>
        </p:blipFill>
        <p:spPr>
          <a:xfrm>
            <a:off x="2152970" y="2889756"/>
            <a:ext cx="4608512" cy="1746250"/>
          </a:xfrm>
          <a:prstGeom prst="rect">
            <a:avLst/>
          </a:prstGeom>
          <a:noFill/>
          <a:ln w="9525">
            <a:noFill/>
          </a:ln>
        </p:spPr>
      </p:pic>
      <p:sp>
        <p:nvSpPr>
          <p:cNvPr id="14" name="下弧形箭头 454662">
            <a:extLst>
              <a:ext uri="{FF2B5EF4-FFF2-40B4-BE49-F238E27FC236}">
                <a16:creationId xmlns:a16="http://schemas.microsoft.com/office/drawing/2014/main" xmlns="" id="{A79C7DAC-D4A5-AFB6-3EA8-4E791C232776}"/>
              </a:ext>
            </a:extLst>
          </p:cNvPr>
          <p:cNvSpPr/>
          <p:nvPr/>
        </p:nvSpPr>
        <p:spPr>
          <a:xfrm>
            <a:off x="3953195" y="4402643"/>
            <a:ext cx="1079500" cy="215900"/>
          </a:xfrm>
          <a:prstGeom prst="curvedUpArrow">
            <a:avLst>
              <a:gd name="adj1" fmla="val 100000"/>
              <a:gd name="adj2" fmla="val 200000"/>
              <a:gd name="adj3" fmla="val 33328"/>
            </a:avLst>
          </a:prstGeom>
          <a:gradFill rotWithShape="0">
            <a:gsLst>
              <a:gs pos="0">
                <a:schemeClr val="accent1"/>
              </a:gs>
              <a:gs pos="100000">
                <a:schemeClr val="bg1"/>
              </a:gs>
            </a:gsLst>
            <a:lin ang="0" scaled="1"/>
            <a:tileRect/>
          </a:gradFill>
          <a:ln w="9525" cap="flat" cmpd="sng">
            <a:solidFill>
              <a:schemeClr val="tx1"/>
            </a:solidFill>
            <a:prstDash val="solid"/>
            <a:miter/>
            <a:headEnd type="none" w="sm" len="sm"/>
            <a:tailEnd type="none" w="sm" len="sm"/>
          </a:ln>
        </p:spPr>
        <p:txBody>
          <a:bodyPr/>
          <a:lstStyle/>
          <a:p>
            <a:endParaRPr lang="zh-CN" altLang="en-US" dirty="0">
              <a:latin typeface="楷体_GB2312" panose="02010609030101010101" pitchFamily="49" charset="-122"/>
            </a:endParaRPr>
          </a:p>
        </p:txBody>
      </p:sp>
      <p:graphicFrame>
        <p:nvGraphicFramePr>
          <p:cNvPr id="15" name="对象 14">
            <a:extLst>
              <a:ext uri="{FF2B5EF4-FFF2-40B4-BE49-F238E27FC236}">
                <a16:creationId xmlns:a16="http://schemas.microsoft.com/office/drawing/2014/main" xmlns="" id="{3D52DB62-C9D9-EBD0-EF87-DF0775377541}"/>
              </a:ext>
            </a:extLst>
          </p:cNvPr>
          <p:cNvGraphicFramePr>
            <a:graphicFrameLocks noChangeAspect="1"/>
          </p:cNvGraphicFramePr>
          <p:nvPr>
            <p:extLst>
              <p:ext uri="{D42A27DB-BD31-4B8C-83A1-F6EECF244321}">
                <p14:modId xmlns:p14="http://schemas.microsoft.com/office/powerpoint/2010/main" val="3877807627"/>
              </p:ext>
            </p:extLst>
          </p:nvPr>
        </p:nvGraphicFramePr>
        <p:xfrm>
          <a:off x="1356724" y="5682325"/>
          <a:ext cx="1441450" cy="401637"/>
        </p:xfrm>
        <a:graphic>
          <a:graphicData uri="http://schemas.openxmlformats.org/presentationml/2006/ole">
            <mc:AlternateContent xmlns:mc="http://schemas.openxmlformats.org/markup-compatibility/2006">
              <mc:Choice xmlns:v="urn:schemas-microsoft-com:vml" Requires="v">
                <p:oleObj spid="_x0000_s28025" name="Equation" r:id="rId12" imgW="1441908" imgH="401054" progId="Equation.DSMT4">
                  <p:embed/>
                </p:oleObj>
              </mc:Choice>
              <mc:Fallback>
                <p:oleObj name="Equation" r:id="rId12" imgW="1441908" imgH="401054" progId="Equation.DSMT4">
                  <p:embed/>
                  <p:pic>
                    <p:nvPicPr>
                      <p:cNvPr id="0" name=""/>
                      <p:cNvPicPr/>
                      <p:nvPr/>
                    </p:nvPicPr>
                    <p:blipFill>
                      <a:blip r:embed="rId13"/>
                      <a:stretch>
                        <a:fillRect/>
                      </a:stretch>
                    </p:blipFill>
                    <p:spPr>
                      <a:xfrm>
                        <a:off x="1356724" y="5682325"/>
                        <a:ext cx="1441450" cy="401637"/>
                      </a:xfrm>
                      <a:prstGeom prst="rect">
                        <a:avLst/>
                      </a:prstGeom>
                    </p:spPr>
                  </p:pic>
                </p:oleObj>
              </mc:Fallback>
            </mc:AlternateContent>
          </a:graphicData>
        </a:graphic>
      </p:graphicFrame>
      <p:graphicFrame>
        <p:nvGraphicFramePr>
          <p:cNvPr id="16" name="对象 15">
            <a:extLst>
              <a:ext uri="{FF2B5EF4-FFF2-40B4-BE49-F238E27FC236}">
                <a16:creationId xmlns:a16="http://schemas.microsoft.com/office/drawing/2014/main" xmlns="" id="{20EE7EF8-6C88-A65E-F262-FB062B56A0F6}"/>
              </a:ext>
            </a:extLst>
          </p:cNvPr>
          <p:cNvGraphicFramePr>
            <a:graphicFrameLocks noChangeAspect="1"/>
          </p:cNvGraphicFramePr>
          <p:nvPr>
            <p:extLst>
              <p:ext uri="{D42A27DB-BD31-4B8C-83A1-F6EECF244321}">
                <p14:modId xmlns:p14="http://schemas.microsoft.com/office/powerpoint/2010/main" val="1273188765"/>
              </p:ext>
            </p:extLst>
          </p:nvPr>
        </p:nvGraphicFramePr>
        <p:xfrm>
          <a:off x="3459549" y="5531333"/>
          <a:ext cx="1438275" cy="811213"/>
        </p:xfrm>
        <a:graphic>
          <a:graphicData uri="http://schemas.openxmlformats.org/presentationml/2006/ole">
            <mc:AlternateContent xmlns:mc="http://schemas.openxmlformats.org/markup-compatibility/2006">
              <mc:Choice xmlns:v="urn:schemas-microsoft-com:vml" Requires="v">
                <p:oleObj spid="_x0000_s28026" name="Equation" r:id="rId14" imgW="1438667" imgH="810749" progId="Equation.DSMT4">
                  <p:embed/>
                </p:oleObj>
              </mc:Choice>
              <mc:Fallback>
                <p:oleObj name="Equation" r:id="rId14" imgW="1438667" imgH="810749" progId="Equation.DSMT4">
                  <p:embed/>
                  <p:pic>
                    <p:nvPicPr>
                      <p:cNvPr id="0" name=""/>
                      <p:cNvPicPr/>
                      <p:nvPr/>
                    </p:nvPicPr>
                    <p:blipFill>
                      <a:blip r:embed="rId15"/>
                      <a:stretch>
                        <a:fillRect/>
                      </a:stretch>
                    </p:blipFill>
                    <p:spPr>
                      <a:xfrm>
                        <a:off x="3459549" y="5531333"/>
                        <a:ext cx="1438275" cy="811213"/>
                      </a:xfrm>
                      <a:prstGeom prst="rect">
                        <a:avLst/>
                      </a:prstGeom>
                    </p:spPr>
                  </p:pic>
                </p:oleObj>
              </mc:Fallback>
            </mc:AlternateContent>
          </a:graphicData>
        </a:graphic>
      </p:graphicFrame>
      <p:graphicFrame>
        <p:nvGraphicFramePr>
          <p:cNvPr id="17" name="对象 16">
            <a:extLst>
              <a:ext uri="{FF2B5EF4-FFF2-40B4-BE49-F238E27FC236}">
                <a16:creationId xmlns:a16="http://schemas.microsoft.com/office/drawing/2014/main" xmlns="" id="{27DA914F-681F-60A7-950F-F27FB2E04FBB}"/>
              </a:ext>
            </a:extLst>
          </p:cNvPr>
          <p:cNvGraphicFramePr>
            <a:graphicFrameLocks noChangeAspect="1"/>
          </p:cNvGraphicFramePr>
          <p:nvPr>
            <p:extLst>
              <p:ext uri="{D42A27DB-BD31-4B8C-83A1-F6EECF244321}">
                <p14:modId xmlns:p14="http://schemas.microsoft.com/office/powerpoint/2010/main" val="1979938694"/>
              </p:ext>
            </p:extLst>
          </p:nvPr>
        </p:nvGraphicFramePr>
        <p:xfrm>
          <a:off x="5364088" y="5525532"/>
          <a:ext cx="1655763" cy="768350"/>
        </p:xfrm>
        <a:graphic>
          <a:graphicData uri="http://schemas.openxmlformats.org/presentationml/2006/ole">
            <mc:AlternateContent xmlns:mc="http://schemas.openxmlformats.org/markup-compatibility/2006">
              <mc:Choice xmlns:v="urn:schemas-microsoft-com:vml" Requires="v">
                <p:oleObj spid="_x0000_s28027" name="Equation" r:id="rId16" imgW="1655043" imgH="768268" progId="Equation.DSMT4">
                  <p:embed/>
                </p:oleObj>
              </mc:Choice>
              <mc:Fallback>
                <p:oleObj name="Equation" r:id="rId16" imgW="1655043" imgH="768268" progId="Equation.DSMT4">
                  <p:embed/>
                  <p:pic>
                    <p:nvPicPr>
                      <p:cNvPr id="0" name=""/>
                      <p:cNvPicPr/>
                      <p:nvPr/>
                    </p:nvPicPr>
                    <p:blipFill>
                      <a:blip r:embed="rId17"/>
                      <a:stretch>
                        <a:fillRect/>
                      </a:stretch>
                    </p:blipFill>
                    <p:spPr>
                      <a:xfrm>
                        <a:off x="5364088" y="5525532"/>
                        <a:ext cx="1655763" cy="768350"/>
                      </a:xfrm>
                      <a:prstGeom prst="rect">
                        <a:avLst/>
                      </a:prstGeom>
                    </p:spPr>
                  </p:pic>
                </p:oleObj>
              </mc:Fallback>
            </mc:AlternateContent>
          </a:graphicData>
        </a:graphic>
      </p:graphicFrame>
    </p:spTree>
    <p:extLst>
      <p:ext uri="{BB962C8B-B14F-4D97-AF65-F5344CB8AC3E}">
        <p14:creationId xmlns:p14="http://schemas.microsoft.com/office/powerpoint/2010/main" val="403979694"/>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48</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2.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高频</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基础</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电路</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文本框 4">
            <a:extLst>
              <a:ext uri="{FF2B5EF4-FFF2-40B4-BE49-F238E27FC236}">
                <a16:creationId xmlns:a16="http://schemas.microsoft.com/office/drawing/2014/main" xmlns="" id="{5761CC46-B5F1-9964-5ED5-E9C5850E2D0A}"/>
              </a:ext>
            </a:extLst>
          </p:cNvPr>
          <p:cNvSpPr txBox="1"/>
          <p:nvPr/>
        </p:nvSpPr>
        <p:spPr>
          <a:xfrm>
            <a:off x="1042849" y="3765029"/>
            <a:ext cx="6937940" cy="707886"/>
          </a:xfrm>
          <a:prstGeom prst="rect">
            <a:avLst/>
          </a:prstGeom>
          <a:noFill/>
        </p:spPr>
        <p:txBody>
          <a:bodyPr wrap="square" rtlCol="0">
            <a:spAutoFit/>
          </a:bodyPr>
          <a:lstStyle/>
          <a:p>
            <a:pPr eaLnBrk="1" hangingPunct="1"/>
            <a:r>
              <a:rPr lang="zh-CN" altLang="en-US" sz="2000" dirty="0">
                <a:latin typeface="Times New Roman" panose="02020603050405020304" pitchFamily="18" charset="0"/>
                <a:ea typeface="+mn-ea"/>
              </a:rPr>
              <a:t>可得</a:t>
            </a:r>
            <a:r>
              <a:rPr lang="en-US" altLang="zh-CN" sz="2000" dirty="0">
                <a:latin typeface="Times New Roman" panose="02020603050405020304" pitchFamily="18" charset="0"/>
                <a:ea typeface="+mn-ea"/>
              </a:rPr>
              <a:t>      &gt;     </a:t>
            </a:r>
            <a:r>
              <a:rPr lang="zh-CN" altLang="en-US" sz="2000" dirty="0">
                <a:latin typeface="Times New Roman" panose="02020603050405020304" pitchFamily="18" charset="0"/>
                <a:ea typeface="+mn-ea"/>
              </a:rPr>
              <a:t>时，</a:t>
            </a:r>
            <a:r>
              <a:rPr lang="zh-CN" altLang="en-US" sz="2000" dirty="0">
                <a:solidFill>
                  <a:srgbClr val="FF0000"/>
                </a:solidFill>
                <a:latin typeface="Times New Roman" panose="02020603050405020304" pitchFamily="18" charset="0"/>
                <a:ea typeface="+mn-ea"/>
              </a:rPr>
              <a:t>已知工作频率       、   和     的阻抗匹配网络的计算式</a:t>
            </a:r>
          </a:p>
        </p:txBody>
      </p:sp>
      <p:sp>
        <p:nvSpPr>
          <p:cNvPr id="6" name="文本框 5">
            <a:extLst>
              <a:ext uri="{FF2B5EF4-FFF2-40B4-BE49-F238E27FC236}">
                <a16:creationId xmlns:a16="http://schemas.microsoft.com/office/drawing/2014/main" xmlns="" id="{2D06BCE3-FE32-2206-45D9-C09601AC95CE}"/>
              </a:ext>
            </a:extLst>
          </p:cNvPr>
          <p:cNvSpPr txBox="1"/>
          <p:nvPr/>
        </p:nvSpPr>
        <p:spPr>
          <a:xfrm>
            <a:off x="988256" y="1348978"/>
            <a:ext cx="6937940" cy="400110"/>
          </a:xfrm>
          <a:prstGeom prst="rect">
            <a:avLst/>
          </a:prstGeom>
          <a:noFill/>
        </p:spPr>
        <p:txBody>
          <a:bodyPr wrap="square" rtlCol="0">
            <a:spAutoFit/>
          </a:bodyPr>
          <a:lstStyle/>
          <a:p>
            <a:pPr eaLnBrk="1" hangingPunct="1"/>
            <a:r>
              <a:rPr lang="zh-CN" altLang="en-US" sz="2000" dirty="0">
                <a:latin typeface="Times New Roman" panose="02020603050405020304" pitchFamily="18" charset="0"/>
                <a:ea typeface="+mn-ea"/>
              </a:rPr>
              <a:t>在      与       、    串联后，要</a:t>
            </a:r>
            <a:r>
              <a:rPr lang="zh-CN" altLang="en-US" sz="2000" dirty="0">
                <a:solidFill>
                  <a:srgbClr val="FF0000"/>
                </a:solidFill>
                <a:latin typeface="Times New Roman" panose="02020603050405020304" pitchFamily="18" charset="0"/>
                <a:ea typeface="+mn-ea"/>
              </a:rPr>
              <a:t>完成阻抗匹配必须满足</a:t>
            </a:r>
          </a:p>
        </p:txBody>
      </p:sp>
      <p:graphicFrame>
        <p:nvGraphicFramePr>
          <p:cNvPr id="7" name="对象 6">
            <a:extLst>
              <a:ext uri="{FF2B5EF4-FFF2-40B4-BE49-F238E27FC236}">
                <a16:creationId xmlns:a16="http://schemas.microsoft.com/office/drawing/2014/main" xmlns="" id="{095F0E84-82AB-ECF1-E50C-F4E99500DF21}"/>
              </a:ext>
            </a:extLst>
          </p:cNvPr>
          <p:cNvGraphicFramePr>
            <a:graphicFrameLocks noChangeAspect="1"/>
          </p:cNvGraphicFramePr>
          <p:nvPr>
            <p:extLst>
              <p:ext uri="{D42A27DB-BD31-4B8C-83A1-F6EECF244321}">
                <p14:modId xmlns:p14="http://schemas.microsoft.com/office/powerpoint/2010/main" val="1913396081"/>
              </p:ext>
            </p:extLst>
          </p:nvPr>
        </p:nvGraphicFramePr>
        <p:xfrm>
          <a:off x="1336176" y="1280446"/>
          <a:ext cx="393700" cy="433387"/>
        </p:xfrm>
        <a:graphic>
          <a:graphicData uri="http://schemas.openxmlformats.org/presentationml/2006/ole">
            <mc:AlternateContent xmlns:mc="http://schemas.openxmlformats.org/markup-compatibility/2006">
              <mc:Choice xmlns:v="urn:schemas-microsoft-com:vml" Requires="v">
                <p:oleObj spid="_x0000_s29310" name="Equation" r:id="rId3" imgW="393509" imgH="433096" progId="Equation.DSMT4">
                  <p:embed/>
                </p:oleObj>
              </mc:Choice>
              <mc:Fallback>
                <p:oleObj name="Equation" r:id="rId3" imgW="393509" imgH="433096" progId="Equation.DSMT4">
                  <p:embed/>
                  <p:pic>
                    <p:nvPicPr>
                      <p:cNvPr id="0" name=""/>
                      <p:cNvPicPr/>
                      <p:nvPr/>
                    </p:nvPicPr>
                    <p:blipFill>
                      <a:blip r:embed="rId4"/>
                      <a:stretch>
                        <a:fillRect/>
                      </a:stretch>
                    </p:blipFill>
                    <p:spPr>
                      <a:xfrm>
                        <a:off x="1336176" y="1280446"/>
                        <a:ext cx="393700" cy="433387"/>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xmlns="" id="{4B7AD5FF-170C-6724-4674-2E78E7151FC0}"/>
              </a:ext>
            </a:extLst>
          </p:cNvPr>
          <p:cNvGraphicFramePr>
            <a:graphicFrameLocks noChangeAspect="1"/>
          </p:cNvGraphicFramePr>
          <p:nvPr>
            <p:extLst>
              <p:ext uri="{D42A27DB-BD31-4B8C-83A1-F6EECF244321}">
                <p14:modId xmlns:p14="http://schemas.microsoft.com/office/powerpoint/2010/main" val="3981179053"/>
              </p:ext>
            </p:extLst>
          </p:nvPr>
        </p:nvGraphicFramePr>
        <p:xfrm>
          <a:off x="1961886" y="1272633"/>
          <a:ext cx="433387" cy="431800"/>
        </p:xfrm>
        <a:graphic>
          <a:graphicData uri="http://schemas.openxmlformats.org/presentationml/2006/ole">
            <mc:AlternateContent xmlns:mc="http://schemas.openxmlformats.org/markup-compatibility/2006">
              <mc:Choice xmlns:v="urn:schemas-microsoft-com:vml" Requires="v">
                <p:oleObj spid="_x0000_s29311" name="Equation" r:id="rId5" imgW="433112" imgH="431295" progId="Equation.DSMT4">
                  <p:embed/>
                </p:oleObj>
              </mc:Choice>
              <mc:Fallback>
                <p:oleObj name="Equation" r:id="rId5" imgW="433112" imgH="431295" progId="Equation.DSMT4">
                  <p:embed/>
                  <p:pic>
                    <p:nvPicPr>
                      <p:cNvPr id="0" name=""/>
                      <p:cNvPicPr/>
                      <p:nvPr/>
                    </p:nvPicPr>
                    <p:blipFill>
                      <a:blip r:embed="rId6"/>
                      <a:stretch>
                        <a:fillRect/>
                      </a:stretch>
                    </p:blipFill>
                    <p:spPr>
                      <a:xfrm>
                        <a:off x="1961886" y="1272633"/>
                        <a:ext cx="433387" cy="431800"/>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xmlns="" id="{766C232C-9B35-DFA8-349A-29E6462FE9A6}"/>
              </a:ext>
            </a:extLst>
          </p:cNvPr>
          <p:cNvGraphicFramePr>
            <a:graphicFrameLocks noChangeAspect="1"/>
          </p:cNvGraphicFramePr>
          <p:nvPr>
            <p:extLst>
              <p:ext uri="{D42A27DB-BD31-4B8C-83A1-F6EECF244321}">
                <p14:modId xmlns:p14="http://schemas.microsoft.com/office/powerpoint/2010/main" val="3876251466"/>
              </p:ext>
            </p:extLst>
          </p:nvPr>
        </p:nvGraphicFramePr>
        <p:xfrm>
          <a:off x="2546952" y="1271046"/>
          <a:ext cx="376237" cy="433387"/>
        </p:xfrm>
        <a:graphic>
          <a:graphicData uri="http://schemas.openxmlformats.org/presentationml/2006/ole">
            <mc:AlternateContent xmlns:mc="http://schemas.openxmlformats.org/markup-compatibility/2006">
              <mc:Choice xmlns:v="urn:schemas-microsoft-com:vml" Requires="v">
                <p:oleObj spid="_x0000_s29312" name="Equation" r:id="rId7" imgW="376588" imgH="433096" progId="Equation.DSMT4">
                  <p:embed/>
                </p:oleObj>
              </mc:Choice>
              <mc:Fallback>
                <p:oleObj name="Equation" r:id="rId7" imgW="376588" imgH="433096" progId="Equation.DSMT4">
                  <p:embed/>
                  <p:pic>
                    <p:nvPicPr>
                      <p:cNvPr id="0" name=""/>
                      <p:cNvPicPr/>
                      <p:nvPr/>
                    </p:nvPicPr>
                    <p:blipFill>
                      <a:blip r:embed="rId8"/>
                      <a:stretch>
                        <a:fillRect/>
                      </a:stretch>
                    </p:blipFill>
                    <p:spPr>
                      <a:xfrm>
                        <a:off x="2546952" y="1271046"/>
                        <a:ext cx="376237" cy="433387"/>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xmlns="" id="{3DB676AA-E2C7-5793-DCBA-4EA18F9CC364}"/>
              </a:ext>
            </a:extLst>
          </p:cNvPr>
          <p:cNvGraphicFramePr>
            <a:graphicFrameLocks noChangeAspect="1"/>
          </p:cNvGraphicFramePr>
          <p:nvPr>
            <p:extLst>
              <p:ext uri="{D42A27DB-BD31-4B8C-83A1-F6EECF244321}">
                <p14:modId xmlns:p14="http://schemas.microsoft.com/office/powerpoint/2010/main" val="348679073"/>
              </p:ext>
            </p:extLst>
          </p:nvPr>
        </p:nvGraphicFramePr>
        <p:xfrm>
          <a:off x="1062541" y="1833595"/>
          <a:ext cx="2592387" cy="895350"/>
        </p:xfrm>
        <a:graphic>
          <a:graphicData uri="http://schemas.openxmlformats.org/presentationml/2006/ole">
            <mc:AlternateContent xmlns:mc="http://schemas.openxmlformats.org/markup-compatibility/2006">
              <mc:Choice xmlns:v="urn:schemas-microsoft-com:vml" Requires="v">
                <p:oleObj spid="_x0000_s29313" name="Equation" r:id="rId9" imgW="2592553" imgH="896072" progId="Equation.DSMT4">
                  <p:embed/>
                </p:oleObj>
              </mc:Choice>
              <mc:Fallback>
                <p:oleObj name="Equation" r:id="rId9" imgW="2592553" imgH="896072" progId="Equation.DSMT4">
                  <p:embed/>
                  <p:pic>
                    <p:nvPicPr>
                      <p:cNvPr id="0" name=""/>
                      <p:cNvPicPr/>
                      <p:nvPr/>
                    </p:nvPicPr>
                    <p:blipFill>
                      <a:blip r:embed="rId10"/>
                      <a:stretch>
                        <a:fillRect/>
                      </a:stretch>
                    </p:blipFill>
                    <p:spPr>
                      <a:xfrm>
                        <a:off x="1062541" y="1833595"/>
                        <a:ext cx="2592387" cy="895350"/>
                      </a:xfrm>
                      <a:prstGeom prst="rect">
                        <a:avLst/>
                      </a:prstGeom>
                    </p:spPr>
                  </p:pic>
                </p:oleObj>
              </mc:Fallback>
            </mc:AlternateContent>
          </a:graphicData>
        </a:graphic>
      </p:graphicFrame>
      <p:graphicFrame>
        <p:nvGraphicFramePr>
          <p:cNvPr id="11" name="对象 10">
            <a:extLst>
              <a:ext uri="{FF2B5EF4-FFF2-40B4-BE49-F238E27FC236}">
                <a16:creationId xmlns:a16="http://schemas.microsoft.com/office/drawing/2014/main" xmlns="" id="{4F916E54-03D7-AE1A-2FD9-FA9A9FA7B1C8}"/>
              </a:ext>
            </a:extLst>
          </p:cNvPr>
          <p:cNvGraphicFramePr>
            <a:graphicFrameLocks noChangeAspect="1"/>
          </p:cNvGraphicFramePr>
          <p:nvPr>
            <p:extLst>
              <p:ext uri="{D42A27DB-BD31-4B8C-83A1-F6EECF244321}">
                <p14:modId xmlns:p14="http://schemas.microsoft.com/office/powerpoint/2010/main" val="1660731674"/>
              </p:ext>
            </p:extLst>
          </p:nvPr>
        </p:nvGraphicFramePr>
        <p:xfrm>
          <a:off x="4319972" y="1807623"/>
          <a:ext cx="2233613" cy="930275"/>
        </p:xfrm>
        <a:graphic>
          <a:graphicData uri="http://schemas.openxmlformats.org/presentationml/2006/ole">
            <mc:AlternateContent xmlns:mc="http://schemas.openxmlformats.org/markup-compatibility/2006">
              <mc:Choice xmlns:v="urn:schemas-microsoft-com:vml" Requires="v">
                <p:oleObj spid="_x0000_s29314" name="Equation" r:id="rId11" imgW="2232887" imgH="929913" progId="Equation.DSMT4">
                  <p:embed/>
                </p:oleObj>
              </mc:Choice>
              <mc:Fallback>
                <p:oleObj name="Equation" r:id="rId11" imgW="2232887" imgH="929913" progId="Equation.DSMT4">
                  <p:embed/>
                  <p:pic>
                    <p:nvPicPr>
                      <p:cNvPr id="0" name=""/>
                      <p:cNvPicPr/>
                      <p:nvPr/>
                    </p:nvPicPr>
                    <p:blipFill>
                      <a:blip r:embed="rId12"/>
                      <a:stretch>
                        <a:fillRect/>
                      </a:stretch>
                    </p:blipFill>
                    <p:spPr>
                      <a:xfrm>
                        <a:off x="4319972" y="1807623"/>
                        <a:ext cx="2233613" cy="930275"/>
                      </a:xfrm>
                      <a:prstGeom prst="rect">
                        <a:avLst/>
                      </a:prstGeom>
                    </p:spPr>
                  </p:pic>
                </p:oleObj>
              </mc:Fallback>
            </mc:AlternateContent>
          </a:graphicData>
        </a:graphic>
      </p:graphicFrame>
      <p:graphicFrame>
        <p:nvGraphicFramePr>
          <p:cNvPr id="12" name="对象 11">
            <a:extLst>
              <a:ext uri="{FF2B5EF4-FFF2-40B4-BE49-F238E27FC236}">
                <a16:creationId xmlns:a16="http://schemas.microsoft.com/office/drawing/2014/main" xmlns="" id="{FD67C32B-F5C5-6F25-7AD7-EBD4037DA88B}"/>
              </a:ext>
            </a:extLst>
          </p:cNvPr>
          <p:cNvGraphicFramePr>
            <a:graphicFrameLocks noChangeAspect="1"/>
          </p:cNvGraphicFramePr>
          <p:nvPr>
            <p:extLst>
              <p:ext uri="{D42A27DB-BD31-4B8C-83A1-F6EECF244321}">
                <p14:modId xmlns:p14="http://schemas.microsoft.com/office/powerpoint/2010/main" val="762715136"/>
              </p:ext>
            </p:extLst>
          </p:nvPr>
        </p:nvGraphicFramePr>
        <p:xfrm>
          <a:off x="2513249" y="2826331"/>
          <a:ext cx="3168650" cy="914400"/>
        </p:xfrm>
        <a:graphic>
          <a:graphicData uri="http://schemas.openxmlformats.org/presentationml/2006/ole">
            <mc:AlternateContent xmlns:mc="http://schemas.openxmlformats.org/markup-compatibility/2006">
              <mc:Choice xmlns:v="urn:schemas-microsoft-com:vml" Requires="v">
                <p:oleObj spid="_x0000_s29315" name="Equation" r:id="rId13" imgW="3168596" imgH="914433" progId="Equation.DSMT4">
                  <p:embed/>
                </p:oleObj>
              </mc:Choice>
              <mc:Fallback>
                <p:oleObj name="Equation" r:id="rId13" imgW="3168596" imgH="914433" progId="Equation.DSMT4">
                  <p:embed/>
                  <p:pic>
                    <p:nvPicPr>
                      <p:cNvPr id="0" name=""/>
                      <p:cNvPicPr/>
                      <p:nvPr/>
                    </p:nvPicPr>
                    <p:blipFill>
                      <a:blip r:embed="rId14"/>
                      <a:stretch>
                        <a:fillRect/>
                      </a:stretch>
                    </p:blipFill>
                    <p:spPr>
                      <a:xfrm>
                        <a:off x="2513249" y="2826331"/>
                        <a:ext cx="3168650" cy="914400"/>
                      </a:xfrm>
                      <a:prstGeom prst="rect">
                        <a:avLst/>
                      </a:prstGeom>
                    </p:spPr>
                  </p:pic>
                </p:oleObj>
              </mc:Fallback>
            </mc:AlternateContent>
          </a:graphicData>
        </a:graphic>
      </p:graphicFrame>
      <p:graphicFrame>
        <p:nvGraphicFramePr>
          <p:cNvPr id="13" name="对象 12">
            <a:extLst>
              <a:ext uri="{FF2B5EF4-FFF2-40B4-BE49-F238E27FC236}">
                <a16:creationId xmlns:a16="http://schemas.microsoft.com/office/drawing/2014/main" xmlns="" id="{CA21C9FD-CAE5-86E7-DC16-655A5D5F9E3D}"/>
              </a:ext>
            </a:extLst>
          </p:cNvPr>
          <p:cNvGraphicFramePr>
            <a:graphicFrameLocks noChangeAspect="1"/>
          </p:cNvGraphicFramePr>
          <p:nvPr>
            <p:extLst>
              <p:ext uri="{D42A27DB-BD31-4B8C-83A1-F6EECF244321}">
                <p14:modId xmlns:p14="http://schemas.microsoft.com/office/powerpoint/2010/main" val="2173752829"/>
              </p:ext>
            </p:extLst>
          </p:nvPr>
        </p:nvGraphicFramePr>
        <p:xfrm>
          <a:off x="4524606" y="3761680"/>
          <a:ext cx="326578" cy="389054"/>
        </p:xfrm>
        <a:graphic>
          <a:graphicData uri="http://schemas.openxmlformats.org/presentationml/2006/ole">
            <mc:AlternateContent xmlns:mc="http://schemas.openxmlformats.org/markup-compatibility/2006">
              <mc:Choice xmlns:v="urn:schemas-microsoft-com:vml" Requires="v">
                <p:oleObj spid="_x0000_s29316" name="Equation" r:id="rId15" imgW="365787" imgH="434536" progId="Equation.DSMT4">
                  <p:embed/>
                </p:oleObj>
              </mc:Choice>
              <mc:Fallback>
                <p:oleObj name="Equation" r:id="rId15" imgW="365787" imgH="434536" progId="Equation.DSMT4">
                  <p:embed/>
                  <p:pic>
                    <p:nvPicPr>
                      <p:cNvPr id="0" name=""/>
                      <p:cNvPicPr/>
                      <p:nvPr/>
                    </p:nvPicPr>
                    <p:blipFill>
                      <a:blip r:embed="rId16"/>
                      <a:stretch>
                        <a:fillRect/>
                      </a:stretch>
                    </p:blipFill>
                    <p:spPr>
                      <a:xfrm>
                        <a:off x="4524606" y="3761680"/>
                        <a:ext cx="326578" cy="389054"/>
                      </a:xfrm>
                      <a:prstGeom prst="rect">
                        <a:avLst/>
                      </a:prstGeom>
                    </p:spPr>
                  </p:pic>
                </p:oleObj>
              </mc:Fallback>
            </mc:AlternateContent>
          </a:graphicData>
        </a:graphic>
      </p:graphicFrame>
      <p:graphicFrame>
        <p:nvGraphicFramePr>
          <p:cNvPr id="14" name="对象 13">
            <a:extLst>
              <a:ext uri="{FF2B5EF4-FFF2-40B4-BE49-F238E27FC236}">
                <a16:creationId xmlns:a16="http://schemas.microsoft.com/office/drawing/2014/main" xmlns="" id="{EA53BF3E-44A5-0ED2-D2A9-F8790525D994}"/>
              </a:ext>
            </a:extLst>
          </p:cNvPr>
          <p:cNvGraphicFramePr>
            <a:graphicFrameLocks noChangeAspect="1"/>
          </p:cNvGraphicFramePr>
          <p:nvPr>
            <p:extLst>
              <p:ext uri="{D42A27DB-BD31-4B8C-83A1-F6EECF244321}">
                <p14:modId xmlns:p14="http://schemas.microsoft.com/office/powerpoint/2010/main" val="2584217847"/>
              </p:ext>
            </p:extLst>
          </p:nvPr>
        </p:nvGraphicFramePr>
        <p:xfrm>
          <a:off x="5050342" y="3702155"/>
          <a:ext cx="379557" cy="437316"/>
        </p:xfrm>
        <a:graphic>
          <a:graphicData uri="http://schemas.openxmlformats.org/presentationml/2006/ole">
            <mc:AlternateContent xmlns:mc="http://schemas.openxmlformats.org/markup-compatibility/2006">
              <mc:Choice xmlns:v="urn:schemas-microsoft-com:vml" Requires="v">
                <p:oleObj spid="_x0000_s29317" name="Equation" r:id="rId17" imgW="438873" imgH="504738" progId="Equation.DSMT4">
                  <p:embed/>
                </p:oleObj>
              </mc:Choice>
              <mc:Fallback>
                <p:oleObj name="Equation" r:id="rId17" imgW="438873" imgH="504738" progId="Equation.DSMT4">
                  <p:embed/>
                  <p:pic>
                    <p:nvPicPr>
                      <p:cNvPr id="0" name=""/>
                      <p:cNvPicPr/>
                      <p:nvPr/>
                    </p:nvPicPr>
                    <p:blipFill>
                      <a:blip r:embed="rId18"/>
                      <a:stretch>
                        <a:fillRect/>
                      </a:stretch>
                    </p:blipFill>
                    <p:spPr>
                      <a:xfrm>
                        <a:off x="5050342" y="3702155"/>
                        <a:ext cx="379557" cy="437316"/>
                      </a:xfrm>
                      <a:prstGeom prst="rect">
                        <a:avLst/>
                      </a:prstGeom>
                    </p:spPr>
                  </p:pic>
                </p:oleObj>
              </mc:Fallback>
            </mc:AlternateContent>
          </a:graphicData>
        </a:graphic>
      </p:graphicFrame>
      <p:graphicFrame>
        <p:nvGraphicFramePr>
          <p:cNvPr id="15" name="对象 14">
            <a:extLst>
              <a:ext uri="{FF2B5EF4-FFF2-40B4-BE49-F238E27FC236}">
                <a16:creationId xmlns:a16="http://schemas.microsoft.com/office/drawing/2014/main" xmlns="" id="{7E64A334-4137-E80D-4E10-B37ADE8C63B9}"/>
              </a:ext>
            </a:extLst>
          </p:cNvPr>
          <p:cNvGraphicFramePr>
            <a:graphicFrameLocks noChangeAspect="1"/>
          </p:cNvGraphicFramePr>
          <p:nvPr>
            <p:extLst>
              <p:ext uri="{D42A27DB-BD31-4B8C-83A1-F6EECF244321}">
                <p14:modId xmlns:p14="http://schemas.microsoft.com/office/powerpoint/2010/main" val="4192464493"/>
              </p:ext>
            </p:extLst>
          </p:nvPr>
        </p:nvGraphicFramePr>
        <p:xfrm>
          <a:off x="5646633" y="3680522"/>
          <a:ext cx="388886" cy="470212"/>
        </p:xfrm>
        <a:graphic>
          <a:graphicData uri="http://schemas.openxmlformats.org/presentationml/2006/ole">
            <mc:AlternateContent xmlns:mc="http://schemas.openxmlformats.org/markup-compatibility/2006">
              <mc:Choice xmlns:v="urn:schemas-microsoft-com:vml" Requires="v">
                <p:oleObj spid="_x0000_s29318" name="Equation" r:id="rId19" imgW="417631" imgH="504738" progId="Equation.DSMT4">
                  <p:embed/>
                </p:oleObj>
              </mc:Choice>
              <mc:Fallback>
                <p:oleObj name="Equation" r:id="rId19" imgW="417631" imgH="504738" progId="Equation.DSMT4">
                  <p:embed/>
                  <p:pic>
                    <p:nvPicPr>
                      <p:cNvPr id="0" name=""/>
                      <p:cNvPicPr/>
                      <p:nvPr/>
                    </p:nvPicPr>
                    <p:blipFill>
                      <a:blip r:embed="rId20"/>
                      <a:stretch>
                        <a:fillRect/>
                      </a:stretch>
                    </p:blipFill>
                    <p:spPr>
                      <a:xfrm>
                        <a:off x="5646633" y="3680522"/>
                        <a:ext cx="388886" cy="470212"/>
                      </a:xfrm>
                      <a:prstGeom prst="rect">
                        <a:avLst/>
                      </a:prstGeom>
                    </p:spPr>
                  </p:pic>
                </p:oleObj>
              </mc:Fallback>
            </mc:AlternateContent>
          </a:graphicData>
        </a:graphic>
      </p:graphicFrame>
      <p:graphicFrame>
        <p:nvGraphicFramePr>
          <p:cNvPr id="16" name="对象 15">
            <a:extLst>
              <a:ext uri="{FF2B5EF4-FFF2-40B4-BE49-F238E27FC236}">
                <a16:creationId xmlns:a16="http://schemas.microsoft.com/office/drawing/2014/main" xmlns="" id="{B0825E89-D999-D194-668B-F4945766ABDF}"/>
              </a:ext>
            </a:extLst>
          </p:cNvPr>
          <p:cNvGraphicFramePr>
            <a:graphicFrameLocks noChangeAspect="1"/>
          </p:cNvGraphicFramePr>
          <p:nvPr>
            <p:extLst>
              <p:ext uri="{D42A27DB-BD31-4B8C-83A1-F6EECF244321}">
                <p14:modId xmlns:p14="http://schemas.microsoft.com/office/powerpoint/2010/main" val="2551800714"/>
              </p:ext>
            </p:extLst>
          </p:nvPr>
        </p:nvGraphicFramePr>
        <p:xfrm>
          <a:off x="2908619" y="4171683"/>
          <a:ext cx="3097213" cy="2422525"/>
        </p:xfrm>
        <a:graphic>
          <a:graphicData uri="http://schemas.openxmlformats.org/presentationml/2006/ole">
            <mc:AlternateContent xmlns:mc="http://schemas.openxmlformats.org/markup-compatibility/2006">
              <mc:Choice xmlns:v="urn:schemas-microsoft-com:vml" Requires="v">
                <p:oleObj spid="_x0000_s29319" name="Equation" r:id="rId21" imgW="3096951" imgH="2423247" progId="Equation.DSMT4">
                  <p:embed/>
                </p:oleObj>
              </mc:Choice>
              <mc:Fallback>
                <p:oleObj name="Equation" r:id="rId21" imgW="3096951" imgH="2423247" progId="Equation.DSMT4">
                  <p:embed/>
                  <p:pic>
                    <p:nvPicPr>
                      <p:cNvPr id="0" name=""/>
                      <p:cNvPicPr/>
                      <p:nvPr/>
                    </p:nvPicPr>
                    <p:blipFill>
                      <a:blip r:embed="rId22"/>
                      <a:stretch>
                        <a:fillRect/>
                      </a:stretch>
                    </p:blipFill>
                    <p:spPr>
                      <a:xfrm>
                        <a:off x="2908619" y="4171683"/>
                        <a:ext cx="3097213" cy="2422525"/>
                      </a:xfrm>
                      <a:prstGeom prst="rect">
                        <a:avLst/>
                      </a:prstGeom>
                    </p:spPr>
                  </p:pic>
                </p:oleObj>
              </mc:Fallback>
            </mc:AlternateContent>
          </a:graphicData>
        </a:graphic>
      </p:graphicFrame>
      <p:graphicFrame>
        <p:nvGraphicFramePr>
          <p:cNvPr id="17" name="对象 16">
            <a:extLst>
              <a:ext uri="{FF2B5EF4-FFF2-40B4-BE49-F238E27FC236}">
                <a16:creationId xmlns:a16="http://schemas.microsoft.com/office/drawing/2014/main" xmlns="" id="{46345225-79BB-CB21-2640-1185980DB5E7}"/>
              </a:ext>
            </a:extLst>
          </p:cNvPr>
          <p:cNvGraphicFramePr>
            <a:graphicFrameLocks noChangeAspect="1"/>
          </p:cNvGraphicFramePr>
          <p:nvPr>
            <p:extLst>
              <p:ext uri="{D42A27DB-BD31-4B8C-83A1-F6EECF244321}">
                <p14:modId xmlns:p14="http://schemas.microsoft.com/office/powerpoint/2010/main" val="3389165755"/>
              </p:ext>
            </p:extLst>
          </p:nvPr>
        </p:nvGraphicFramePr>
        <p:xfrm>
          <a:off x="1599584" y="3729774"/>
          <a:ext cx="391469" cy="451040"/>
        </p:xfrm>
        <a:graphic>
          <a:graphicData uri="http://schemas.openxmlformats.org/presentationml/2006/ole">
            <mc:AlternateContent xmlns:mc="http://schemas.openxmlformats.org/markup-compatibility/2006">
              <mc:Choice xmlns:v="urn:schemas-microsoft-com:vml" Requires="v">
                <p:oleObj spid="_x0000_s29320" name="Equation" r:id="rId23" imgW="438873" imgH="504738" progId="Equation.DSMT4">
                  <p:embed/>
                </p:oleObj>
              </mc:Choice>
              <mc:Fallback>
                <p:oleObj name="Equation" r:id="rId23" imgW="438873" imgH="504738" progId="Equation.DSMT4">
                  <p:embed/>
                  <p:pic>
                    <p:nvPicPr>
                      <p:cNvPr id="0" name=""/>
                      <p:cNvPicPr/>
                      <p:nvPr/>
                    </p:nvPicPr>
                    <p:blipFill>
                      <a:blip r:embed="rId24"/>
                      <a:stretch>
                        <a:fillRect/>
                      </a:stretch>
                    </p:blipFill>
                    <p:spPr>
                      <a:xfrm>
                        <a:off x="1599584" y="3729774"/>
                        <a:ext cx="391469" cy="451040"/>
                      </a:xfrm>
                      <a:prstGeom prst="rect">
                        <a:avLst/>
                      </a:prstGeom>
                    </p:spPr>
                  </p:pic>
                </p:oleObj>
              </mc:Fallback>
            </mc:AlternateContent>
          </a:graphicData>
        </a:graphic>
      </p:graphicFrame>
      <p:graphicFrame>
        <p:nvGraphicFramePr>
          <p:cNvPr id="18" name="对象 17">
            <a:extLst>
              <a:ext uri="{FF2B5EF4-FFF2-40B4-BE49-F238E27FC236}">
                <a16:creationId xmlns:a16="http://schemas.microsoft.com/office/drawing/2014/main" xmlns="" id="{49CB3F5E-270B-64D1-99A0-E90A7A5F34D6}"/>
              </a:ext>
            </a:extLst>
          </p:cNvPr>
          <p:cNvGraphicFramePr>
            <a:graphicFrameLocks noChangeAspect="1"/>
          </p:cNvGraphicFramePr>
          <p:nvPr>
            <p:extLst>
              <p:ext uri="{D42A27DB-BD31-4B8C-83A1-F6EECF244321}">
                <p14:modId xmlns:p14="http://schemas.microsoft.com/office/powerpoint/2010/main" val="1672593905"/>
              </p:ext>
            </p:extLst>
          </p:nvPr>
        </p:nvGraphicFramePr>
        <p:xfrm>
          <a:off x="2168957" y="3717375"/>
          <a:ext cx="379557" cy="458931"/>
        </p:xfrm>
        <a:graphic>
          <a:graphicData uri="http://schemas.openxmlformats.org/presentationml/2006/ole">
            <mc:AlternateContent xmlns:mc="http://schemas.openxmlformats.org/markup-compatibility/2006">
              <mc:Choice xmlns:v="urn:schemas-microsoft-com:vml" Requires="v">
                <p:oleObj spid="_x0000_s29321" name="Equation" r:id="rId25" imgW="417631" imgH="504738" progId="Equation.DSMT4">
                  <p:embed/>
                </p:oleObj>
              </mc:Choice>
              <mc:Fallback>
                <p:oleObj name="Equation" r:id="rId25" imgW="417631" imgH="504738" progId="Equation.DSMT4">
                  <p:embed/>
                  <p:pic>
                    <p:nvPicPr>
                      <p:cNvPr id="0" name=""/>
                      <p:cNvPicPr/>
                      <p:nvPr/>
                    </p:nvPicPr>
                    <p:blipFill>
                      <a:blip r:embed="rId26"/>
                      <a:stretch>
                        <a:fillRect/>
                      </a:stretch>
                    </p:blipFill>
                    <p:spPr>
                      <a:xfrm>
                        <a:off x="2168957" y="3717375"/>
                        <a:ext cx="379557" cy="458931"/>
                      </a:xfrm>
                      <a:prstGeom prst="rect">
                        <a:avLst/>
                      </a:prstGeom>
                    </p:spPr>
                  </p:pic>
                </p:oleObj>
              </mc:Fallback>
            </mc:AlternateContent>
          </a:graphicData>
        </a:graphic>
      </p:graphicFrame>
    </p:spTree>
    <p:extLst>
      <p:ext uri="{BB962C8B-B14F-4D97-AF65-F5344CB8AC3E}">
        <p14:creationId xmlns:p14="http://schemas.microsoft.com/office/powerpoint/2010/main" val="2703384597"/>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49</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2.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高频</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基础</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电路</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内容占位符 7170">
            <a:extLst>
              <a:ext uri="{FF2B5EF4-FFF2-40B4-BE49-F238E27FC236}">
                <a16:creationId xmlns:a16="http://schemas.microsoft.com/office/drawing/2014/main" xmlns="" id="{C436AFA3-035A-A35A-580F-367045124840}"/>
              </a:ext>
            </a:extLst>
          </p:cNvPr>
          <p:cNvSpPr/>
          <p:nvPr/>
        </p:nvSpPr>
        <p:spPr>
          <a:xfrm>
            <a:off x="539552" y="1412775"/>
            <a:ext cx="8353425" cy="3672409"/>
          </a:xfrm>
          <a:prstGeom prst="rect">
            <a:avLst/>
          </a:prstGeom>
          <a:noFill/>
          <a:ln w="9525">
            <a:noFill/>
          </a:ln>
        </p:spPr>
        <p:txBody>
          <a:bodyPr/>
          <a:lstStyle/>
          <a:p>
            <a:pPr>
              <a:lnSpc>
                <a:spcPct val="120000"/>
              </a:lnSpc>
              <a:spcBef>
                <a:spcPts val="1200"/>
              </a:spcBef>
              <a:spcAft>
                <a:spcPts val="1200"/>
              </a:spcAft>
              <a:buClr>
                <a:schemeClr val="folHlink"/>
              </a:buClr>
              <a:buSzPct val="60000"/>
              <a:defRPr/>
            </a:pPr>
            <a:endParaRPr lang="zh-CN" altLang="en-US" dirty="0">
              <a:ln w="0"/>
              <a:effectLst>
                <a:outerShdw blurRad="38100" dist="19050" dir="2700000" algn="tl" rotWithShape="0">
                  <a:schemeClr val="dk1">
                    <a:alpha val="40000"/>
                  </a:schemeClr>
                </a:outerShdw>
              </a:effectLst>
              <a:latin typeface="+mn-ea"/>
              <a:cs typeface="Times New Roman" panose="02020603050405020304" pitchFamily="18" charset="0"/>
            </a:endParaRPr>
          </a:p>
        </p:txBody>
      </p:sp>
      <p:sp>
        <p:nvSpPr>
          <p:cNvPr id="6" name="文本框 5">
            <a:extLst>
              <a:ext uri="{FF2B5EF4-FFF2-40B4-BE49-F238E27FC236}">
                <a16:creationId xmlns:a16="http://schemas.microsoft.com/office/drawing/2014/main" xmlns="" id="{E8527F99-0FC9-B3DE-8016-B6CC45D61454}"/>
              </a:ext>
            </a:extLst>
          </p:cNvPr>
          <p:cNvSpPr txBox="1"/>
          <p:nvPr/>
        </p:nvSpPr>
        <p:spPr>
          <a:xfrm>
            <a:off x="323557" y="1412775"/>
            <a:ext cx="8285871" cy="1107996"/>
          </a:xfrm>
          <a:prstGeom prst="rect">
            <a:avLst/>
          </a:prstGeom>
          <a:noFill/>
        </p:spPr>
        <p:txBody>
          <a:bodyPr wrap="square" rtlCol="0">
            <a:spAutoFit/>
          </a:bodyPr>
          <a:lstStyle/>
          <a:p>
            <a:pPr algn="just" eaLnBrk="1" hangingPunct="1"/>
            <a:r>
              <a:rPr lang="zh-CN" altLang="en-US" sz="22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例</a:t>
            </a:r>
            <a:r>
              <a:rPr lang="en-US" altLang="zh-CN" sz="22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2.4.1 </a:t>
            </a:r>
            <a:r>
              <a:rPr lang="zh-CN" altLang="en-US" sz="22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已知信源的工作频率为</a:t>
            </a:r>
            <a:r>
              <a:rPr lang="en-US" altLang="zh-CN" sz="22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10MHz</a:t>
            </a:r>
            <a:r>
              <a:rPr lang="zh-CN" altLang="en-US" sz="22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，信源输岀电阻</a:t>
            </a:r>
            <a:r>
              <a:rPr lang="en-US" altLang="zh-CN" sz="22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R</a:t>
            </a:r>
            <a:r>
              <a:rPr lang="en-US" altLang="zh-CN" sz="2200" baseline="-250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o</a:t>
            </a:r>
            <a:r>
              <a:rPr lang="en-US" altLang="zh-CN" sz="22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=280Ω</a:t>
            </a:r>
            <a:r>
              <a:rPr lang="zh-CN" altLang="en-US" sz="22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，负载电阻</a:t>
            </a:r>
            <a:r>
              <a:rPr lang="en-US" altLang="zh-CN" sz="22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R</a:t>
            </a:r>
            <a:r>
              <a:rPr lang="en-US" altLang="zh-CN" sz="2200" baseline="-250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L</a:t>
            </a:r>
            <a:r>
              <a:rPr lang="en-US" altLang="zh-CN" sz="22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=50Ω</a:t>
            </a:r>
            <a:r>
              <a:rPr lang="zh-CN" altLang="en-US" sz="22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。试计算</a:t>
            </a:r>
            <a:r>
              <a:rPr lang="en-US" altLang="zh-CN" sz="22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L</a:t>
            </a:r>
            <a:r>
              <a:rPr lang="zh-CN" altLang="en-US" sz="22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型匹配网络参数值。 </a:t>
            </a:r>
            <a:r>
              <a:rPr lang="en-US" altLang="zh-CN" sz="22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a:t>
            </a:r>
            <a:r>
              <a:rPr lang="zh-CN" altLang="en-US" sz="22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注意：</a:t>
            </a:r>
            <a:r>
              <a:rPr lang="en-US" altLang="zh-CN" sz="22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R</a:t>
            </a:r>
            <a:r>
              <a:rPr lang="en-US" altLang="zh-CN" sz="2200" baseline="-250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o</a:t>
            </a:r>
            <a:r>
              <a:rPr lang="zh-CN" altLang="en-US" sz="22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对应</a:t>
            </a:r>
            <a:r>
              <a:rPr lang="en-US" altLang="zh-CN" sz="22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R</a:t>
            </a:r>
            <a:r>
              <a:rPr lang="en-US" altLang="zh-CN" sz="2200" baseline="-250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1</a:t>
            </a:r>
            <a:r>
              <a:rPr lang="en-US" altLang="zh-CN" sz="22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,R</a:t>
            </a:r>
            <a:r>
              <a:rPr lang="en-US" altLang="zh-CN" sz="2200" baseline="-250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L</a:t>
            </a:r>
            <a:r>
              <a:rPr lang="zh-CN" altLang="en-US" sz="22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对应</a:t>
            </a:r>
            <a:r>
              <a:rPr lang="en-US" altLang="zh-CN" sz="22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R</a:t>
            </a:r>
            <a:r>
              <a:rPr lang="en-US" altLang="zh-CN" sz="2200" baseline="-250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2</a:t>
            </a:r>
            <a:r>
              <a:rPr lang="en-US" altLang="zh-CN" sz="22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a:t>
            </a:r>
          </a:p>
        </p:txBody>
      </p:sp>
      <p:sp>
        <p:nvSpPr>
          <p:cNvPr id="7" name="文本框 6">
            <a:extLst>
              <a:ext uri="{FF2B5EF4-FFF2-40B4-BE49-F238E27FC236}">
                <a16:creationId xmlns:a16="http://schemas.microsoft.com/office/drawing/2014/main" xmlns="" id="{3979CDD6-BF59-712E-0C83-CFCA918C92CF}"/>
              </a:ext>
            </a:extLst>
          </p:cNvPr>
          <p:cNvSpPr txBox="1"/>
          <p:nvPr/>
        </p:nvSpPr>
        <p:spPr>
          <a:xfrm>
            <a:off x="539552" y="2601970"/>
            <a:ext cx="6937940" cy="430887"/>
          </a:xfrm>
          <a:prstGeom prst="rect">
            <a:avLst/>
          </a:prstGeom>
          <a:noFill/>
        </p:spPr>
        <p:txBody>
          <a:bodyPr wrap="square" rtlCol="0">
            <a:spAutoFit/>
          </a:bodyPr>
          <a:lstStyle/>
          <a:p>
            <a:pPr eaLnBrk="1" hangingPunct="1">
              <a:buNone/>
            </a:pPr>
            <a:r>
              <a:rPr lang="zh-CN" altLang="en-US" sz="22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题意分析：因为</a:t>
            </a:r>
            <a:r>
              <a:rPr lang="en-US" altLang="zh-CN" sz="2200" i="1"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R</a:t>
            </a:r>
            <a:r>
              <a:rPr lang="en-US" altLang="zh-CN" sz="2200" baseline="-250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L</a:t>
            </a:r>
            <a:r>
              <a:rPr lang="zh-CN" altLang="en-US" sz="22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a:t>
            </a:r>
            <a:r>
              <a:rPr lang="en-US" altLang="zh-CN" sz="2200" i="1"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R</a:t>
            </a:r>
            <a:r>
              <a:rPr lang="en-US" altLang="zh-CN" sz="2200" baseline="-250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o</a:t>
            </a:r>
            <a:r>
              <a:rPr lang="en-US" altLang="zh-CN" sz="22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a:t>
            </a:r>
            <a:r>
              <a:rPr lang="zh-CN" altLang="en-US" sz="22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只能采用下图电路形式。</a:t>
            </a:r>
          </a:p>
        </p:txBody>
      </p:sp>
      <p:pic>
        <p:nvPicPr>
          <p:cNvPr id="8" name="图片 603140" descr="AA)">
            <a:extLst>
              <a:ext uri="{FF2B5EF4-FFF2-40B4-BE49-F238E27FC236}">
                <a16:creationId xmlns:a16="http://schemas.microsoft.com/office/drawing/2014/main" xmlns="" id="{F2D8C55D-B84E-55AD-554C-68B433384491}"/>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3000222" y="2943691"/>
            <a:ext cx="2528975" cy="1625001"/>
          </a:xfrm>
          <a:prstGeom prst="rect">
            <a:avLst/>
          </a:prstGeom>
          <a:noFill/>
          <a:ln w="9525">
            <a:noFill/>
          </a:ln>
        </p:spPr>
      </p:pic>
      <p:sp>
        <p:nvSpPr>
          <p:cNvPr id="9" name="文本框 8">
            <a:extLst>
              <a:ext uri="{FF2B5EF4-FFF2-40B4-BE49-F238E27FC236}">
                <a16:creationId xmlns:a16="http://schemas.microsoft.com/office/drawing/2014/main" xmlns="" id="{3E233CBB-D16A-1DD3-DA2A-717E6AF64A32}"/>
              </a:ext>
            </a:extLst>
          </p:cNvPr>
          <p:cNvSpPr txBox="1"/>
          <p:nvPr/>
        </p:nvSpPr>
        <p:spPr>
          <a:xfrm>
            <a:off x="539552" y="4568692"/>
            <a:ext cx="7971402" cy="769441"/>
          </a:xfrm>
          <a:prstGeom prst="rect">
            <a:avLst/>
          </a:prstGeom>
          <a:noFill/>
        </p:spPr>
        <p:txBody>
          <a:bodyPr wrap="square" rtlCol="0">
            <a:spAutoFit/>
          </a:bodyPr>
          <a:lstStyle/>
          <a:p>
            <a:pPr eaLnBrk="1" hangingPunct="1">
              <a:buNone/>
            </a:pPr>
            <a:r>
              <a:rPr lang="zh-CN" altLang="en-US" sz="22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解题可先设</a:t>
            </a:r>
            <a:r>
              <a:rPr lang="en-US" altLang="zh-CN" sz="22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X</a:t>
            </a:r>
            <a:r>
              <a:rPr lang="en-US" altLang="zh-CN" sz="2200" baseline="-250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1</a:t>
            </a:r>
            <a:r>
              <a:rPr lang="zh-CN" altLang="en-US" sz="22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为感抗</a:t>
            </a:r>
            <a:r>
              <a:rPr lang="en-US" altLang="zh-CN" sz="22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a:t>
            </a:r>
            <a:r>
              <a:rPr lang="zh-CN" altLang="en-US" sz="22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则</a:t>
            </a:r>
            <a:r>
              <a:rPr lang="en-US" altLang="zh-CN" sz="22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X</a:t>
            </a:r>
            <a:r>
              <a:rPr lang="en-US" altLang="zh-CN" sz="2200" baseline="-250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2</a:t>
            </a:r>
            <a:r>
              <a:rPr lang="zh-CN" altLang="en-US" sz="22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必为容抗。</a:t>
            </a:r>
            <a:r>
              <a:rPr lang="en-US" altLang="zh-CN" sz="22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a:t>
            </a:r>
            <a:r>
              <a:rPr lang="zh-CN" altLang="en-US" sz="22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或设</a:t>
            </a:r>
            <a:r>
              <a:rPr lang="en-US" altLang="zh-CN" sz="22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X</a:t>
            </a:r>
            <a:r>
              <a:rPr lang="en-US" altLang="zh-CN" sz="2200" baseline="-250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1</a:t>
            </a:r>
            <a:r>
              <a:rPr lang="zh-CN" altLang="en-US" sz="22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为容抗</a:t>
            </a:r>
            <a:r>
              <a:rPr lang="en-US" altLang="zh-CN" sz="22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a:t>
            </a:r>
            <a:r>
              <a:rPr lang="zh-CN" altLang="en-US" sz="22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则</a:t>
            </a:r>
            <a:r>
              <a:rPr lang="en-US" altLang="zh-CN" sz="22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X</a:t>
            </a:r>
            <a:r>
              <a:rPr lang="en-US" altLang="zh-CN" sz="2200" baseline="-250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2</a:t>
            </a:r>
            <a:r>
              <a:rPr lang="zh-CN" altLang="en-US" sz="22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必为感抗。</a:t>
            </a:r>
            <a:r>
              <a:rPr lang="en-US" altLang="zh-CN" sz="22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a:t>
            </a:r>
            <a:r>
              <a:rPr lang="zh-CN" altLang="en-US" sz="22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以确定电路形式。</a:t>
            </a:r>
          </a:p>
        </p:txBody>
      </p:sp>
      <p:sp>
        <p:nvSpPr>
          <p:cNvPr id="10" name="文本框 9">
            <a:extLst>
              <a:ext uri="{FF2B5EF4-FFF2-40B4-BE49-F238E27FC236}">
                <a16:creationId xmlns:a16="http://schemas.microsoft.com/office/drawing/2014/main" xmlns="" id="{6209EF48-443F-963F-6710-1215B4117258}"/>
              </a:ext>
            </a:extLst>
          </p:cNvPr>
          <p:cNvSpPr txBox="1"/>
          <p:nvPr/>
        </p:nvSpPr>
        <p:spPr>
          <a:xfrm>
            <a:off x="539552" y="5365901"/>
            <a:ext cx="7971402" cy="430887"/>
          </a:xfrm>
          <a:prstGeom prst="rect">
            <a:avLst/>
          </a:prstGeom>
          <a:noFill/>
        </p:spPr>
        <p:txBody>
          <a:bodyPr wrap="square" rtlCol="0">
            <a:spAutoFit/>
          </a:bodyPr>
          <a:lstStyle/>
          <a:p>
            <a:pPr eaLnBrk="1" hangingPunct="1">
              <a:buNone/>
            </a:pPr>
            <a:r>
              <a:rPr lang="zh-CN" altLang="en-US" sz="22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由</a:t>
            </a:r>
            <a:r>
              <a:rPr lang="en-US" altLang="zh-CN" sz="22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R</a:t>
            </a:r>
            <a:r>
              <a:rPr lang="en-US" altLang="zh-CN" sz="2200" baseline="-250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1</a:t>
            </a:r>
            <a:r>
              <a:rPr lang="zh-CN" altLang="en-US" sz="22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与</a:t>
            </a:r>
            <a:r>
              <a:rPr lang="en-US" altLang="zh-CN" sz="22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R</a:t>
            </a:r>
            <a:r>
              <a:rPr lang="en-US" altLang="zh-CN" sz="2200" baseline="-250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2</a:t>
            </a:r>
            <a:r>
              <a:rPr lang="zh-CN" altLang="en-US" sz="22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决定</a:t>
            </a:r>
            <a:r>
              <a:rPr lang="en-US" altLang="zh-CN" sz="22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Q,</a:t>
            </a:r>
            <a:r>
              <a:rPr lang="zh-CN" altLang="en-US" sz="22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然后由串联支路计算</a:t>
            </a:r>
            <a:r>
              <a:rPr lang="en-US" altLang="zh-CN" sz="22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X</a:t>
            </a:r>
            <a:r>
              <a:rPr lang="en-US" altLang="zh-CN" sz="2200" baseline="-250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2</a:t>
            </a:r>
            <a:r>
              <a:rPr lang="en-US" altLang="zh-CN" sz="22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a:t>
            </a:r>
            <a:r>
              <a:rPr lang="zh-CN" altLang="en-US" sz="22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由并联支路计算</a:t>
            </a:r>
            <a:r>
              <a:rPr lang="en-US" altLang="zh-CN" sz="22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X</a:t>
            </a:r>
            <a:r>
              <a:rPr lang="en-US" altLang="zh-CN" sz="2200" baseline="-250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1</a:t>
            </a:r>
            <a:r>
              <a:rPr lang="zh-CN" altLang="en-US" sz="22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913439002"/>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50</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2.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高频</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基础</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电路</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内容占位符 7170">
            <a:extLst>
              <a:ext uri="{FF2B5EF4-FFF2-40B4-BE49-F238E27FC236}">
                <a16:creationId xmlns:a16="http://schemas.microsoft.com/office/drawing/2014/main" xmlns="" id="{10F1524B-C68C-1AE0-71ED-F18E160AF70D}"/>
              </a:ext>
            </a:extLst>
          </p:cNvPr>
          <p:cNvSpPr/>
          <p:nvPr/>
        </p:nvSpPr>
        <p:spPr>
          <a:xfrm>
            <a:off x="539552" y="1412775"/>
            <a:ext cx="8353425" cy="3672409"/>
          </a:xfrm>
          <a:prstGeom prst="rect">
            <a:avLst/>
          </a:prstGeom>
          <a:noFill/>
          <a:ln w="9525">
            <a:noFill/>
          </a:ln>
        </p:spPr>
        <p:txBody>
          <a:bodyPr/>
          <a:lstStyle/>
          <a:p>
            <a:pPr>
              <a:lnSpc>
                <a:spcPct val="120000"/>
              </a:lnSpc>
              <a:spcBef>
                <a:spcPts val="1200"/>
              </a:spcBef>
              <a:spcAft>
                <a:spcPts val="1200"/>
              </a:spcAft>
              <a:buClr>
                <a:schemeClr val="folHlink"/>
              </a:buClr>
              <a:buSzPct val="60000"/>
              <a:defRPr/>
            </a:pPr>
            <a:endParaRPr lang="zh-CN" altLang="en-US" sz="2000" dirty="0">
              <a:ln w="0"/>
              <a:effectLst>
                <a:glow rad="63500">
                  <a:schemeClr val="accent3">
                    <a:satMod val="175000"/>
                    <a:alpha val="40000"/>
                  </a:schemeClr>
                </a:glow>
              </a:effectLst>
              <a:latin typeface="Times New Roman" panose="02020603050405020304" pitchFamily="18" charset="0"/>
              <a:cs typeface="Times New Roman" panose="02020603050405020304" pitchFamily="18" charset="0"/>
            </a:endParaRPr>
          </a:p>
        </p:txBody>
      </p:sp>
      <p:sp>
        <p:nvSpPr>
          <p:cNvPr id="6" name="文本框 5">
            <a:extLst>
              <a:ext uri="{FF2B5EF4-FFF2-40B4-BE49-F238E27FC236}">
                <a16:creationId xmlns:a16="http://schemas.microsoft.com/office/drawing/2014/main" xmlns="" id="{E5E8E669-4A33-C4A5-B3F5-91D25062A2A9}"/>
              </a:ext>
            </a:extLst>
          </p:cNvPr>
          <p:cNvSpPr txBox="1"/>
          <p:nvPr/>
        </p:nvSpPr>
        <p:spPr>
          <a:xfrm>
            <a:off x="802412" y="1412775"/>
            <a:ext cx="6937940" cy="461665"/>
          </a:xfrm>
          <a:prstGeom prst="rect">
            <a:avLst/>
          </a:prstGeom>
          <a:noFill/>
        </p:spPr>
        <p:txBody>
          <a:bodyPr wrap="square" rtlCol="0">
            <a:spAutoFit/>
          </a:bodyPr>
          <a:lstStyle/>
          <a:p>
            <a:pPr algn="just" eaLnBrk="1" hangingPunct="1"/>
            <a:r>
              <a:rPr lang="zh-CN" altLang="en-US" sz="2400" b="1" dirty="0">
                <a:latin typeface="Times New Roman" panose="02020603050405020304" pitchFamily="18" charset="0"/>
                <a:cs typeface="Times New Roman" panose="02020603050405020304" pitchFamily="18" charset="0"/>
              </a:rPr>
              <a:t>解：</a:t>
            </a:r>
            <a:r>
              <a:rPr lang="en-US" altLang="zh-CN" sz="2400" b="1" dirty="0">
                <a:latin typeface="Times New Roman" panose="02020603050405020304" pitchFamily="18" charset="0"/>
                <a:cs typeface="Times New Roman" panose="02020603050405020304" pitchFamily="18" charset="0"/>
              </a:rPr>
              <a:t>1.</a:t>
            </a:r>
            <a:r>
              <a:rPr lang="zh-CN" altLang="en-US" sz="2400" dirty="0" smtClean="0">
                <a:latin typeface="Times New Roman" panose="02020603050405020304" pitchFamily="18" charset="0"/>
                <a:cs typeface="Times New Roman" panose="02020603050405020304" pitchFamily="18" charset="0"/>
              </a:rPr>
              <a:t>设             </a:t>
            </a:r>
            <a:r>
              <a:rPr lang="zh-CN" altLang="en-US" sz="2400" dirty="0">
                <a:latin typeface="Times New Roman" panose="02020603050405020304" pitchFamily="18" charset="0"/>
                <a:cs typeface="Times New Roman" panose="02020603050405020304" pitchFamily="18" charset="0"/>
              </a:rPr>
              <a:t>为感抗，</a:t>
            </a:r>
            <a:r>
              <a:rPr lang="zh-CN" altLang="en-US" sz="2400" dirty="0" smtClean="0">
                <a:latin typeface="Times New Roman" panose="02020603050405020304" pitchFamily="18" charset="0"/>
                <a:cs typeface="Times New Roman" panose="02020603050405020304" pitchFamily="18" charset="0"/>
              </a:rPr>
              <a:t>则       </a:t>
            </a:r>
            <a:r>
              <a:rPr lang="zh-CN" altLang="en-US" sz="2400" i="1" dirty="0" smtClean="0">
                <a:latin typeface="Times New Roman" panose="02020603050405020304" pitchFamily="18" charset="0"/>
                <a:cs typeface="Times New Roman" panose="02020603050405020304" pitchFamily="18" charset="0"/>
              </a:rPr>
              <a:t>          </a:t>
            </a:r>
            <a:r>
              <a:rPr lang="zh-CN" altLang="en-US" sz="2400" dirty="0">
                <a:latin typeface="Times New Roman" panose="02020603050405020304" pitchFamily="18" charset="0"/>
                <a:cs typeface="Times New Roman" panose="02020603050405020304" pitchFamily="18" charset="0"/>
              </a:rPr>
              <a:t>为容抗</a:t>
            </a:r>
            <a:endParaRPr lang="en-US" altLang="zh-CN" sz="2400" b="1" dirty="0">
              <a:latin typeface="Times New Roman" panose="02020603050405020304" pitchFamily="18" charset="0"/>
              <a:cs typeface="Times New Roman" panose="02020603050405020304" pitchFamily="18" charset="0"/>
            </a:endParaRPr>
          </a:p>
        </p:txBody>
      </p:sp>
      <p:graphicFrame>
        <p:nvGraphicFramePr>
          <p:cNvPr id="7" name="对象 6">
            <a:extLst>
              <a:ext uri="{FF2B5EF4-FFF2-40B4-BE49-F238E27FC236}">
                <a16:creationId xmlns:a16="http://schemas.microsoft.com/office/drawing/2014/main" xmlns="" id="{ED4189CF-C18A-4386-89AB-E47595DDE1DF}"/>
              </a:ext>
            </a:extLst>
          </p:cNvPr>
          <p:cNvGraphicFramePr>
            <a:graphicFrameLocks noChangeAspect="1"/>
          </p:cNvGraphicFramePr>
          <p:nvPr>
            <p:extLst>
              <p:ext uri="{D42A27DB-BD31-4B8C-83A1-F6EECF244321}">
                <p14:modId xmlns:p14="http://schemas.microsoft.com/office/powerpoint/2010/main" val="221786557"/>
              </p:ext>
            </p:extLst>
          </p:nvPr>
        </p:nvGraphicFramePr>
        <p:xfrm>
          <a:off x="2013109" y="1453633"/>
          <a:ext cx="1075447" cy="412176"/>
        </p:xfrm>
        <a:graphic>
          <a:graphicData uri="http://schemas.openxmlformats.org/presentationml/2006/ole">
            <mc:AlternateContent xmlns:mc="http://schemas.openxmlformats.org/markup-compatibility/2006">
              <mc:Choice xmlns:v="urn:schemas-microsoft-com:vml" Requires="v">
                <p:oleObj spid="_x0000_s30175" name="Equation" r:id="rId3" imgW="1080801" imgH="414735" progId="Equation.DSMT4">
                  <p:embed/>
                </p:oleObj>
              </mc:Choice>
              <mc:Fallback>
                <p:oleObj name="Equation" r:id="rId3" imgW="1080801" imgH="414735" progId="Equation.DSMT4">
                  <p:embed/>
                  <p:pic>
                    <p:nvPicPr>
                      <p:cNvPr id="0" name=""/>
                      <p:cNvPicPr/>
                      <p:nvPr/>
                    </p:nvPicPr>
                    <p:blipFill>
                      <a:blip r:embed="rId4"/>
                      <a:stretch>
                        <a:fillRect/>
                      </a:stretch>
                    </p:blipFill>
                    <p:spPr>
                      <a:xfrm>
                        <a:off x="2013109" y="1453633"/>
                        <a:ext cx="1075447" cy="412176"/>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xmlns="" id="{C1DADD75-642F-DF17-1AEF-1B2AB1BCA00E}"/>
              </a:ext>
            </a:extLst>
          </p:cNvPr>
          <p:cNvGraphicFramePr>
            <a:graphicFrameLocks noChangeAspect="1"/>
          </p:cNvGraphicFramePr>
          <p:nvPr>
            <p:extLst>
              <p:ext uri="{D42A27DB-BD31-4B8C-83A1-F6EECF244321}">
                <p14:modId xmlns:p14="http://schemas.microsoft.com/office/powerpoint/2010/main" val="1131600182"/>
              </p:ext>
            </p:extLst>
          </p:nvPr>
        </p:nvGraphicFramePr>
        <p:xfrm>
          <a:off x="4497515" y="1464735"/>
          <a:ext cx="1426396" cy="389972"/>
        </p:xfrm>
        <a:graphic>
          <a:graphicData uri="http://schemas.openxmlformats.org/presentationml/2006/ole">
            <mc:AlternateContent xmlns:mc="http://schemas.openxmlformats.org/markup-compatibility/2006">
              <mc:Choice xmlns:v="urn:schemas-microsoft-com:vml" Requires="v">
                <p:oleObj spid="_x0000_s30176" name="Equation" r:id="rId5" imgW="1510313" imgH="413295" progId="Equation.DSMT4">
                  <p:embed/>
                </p:oleObj>
              </mc:Choice>
              <mc:Fallback>
                <p:oleObj name="Equation" r:id="rId5" imgW="1510313" imgH="413295" progId="Equation.DSMT4">
                  <p:embed/>
                  <p:pic>
                    <p:nvPicPr>
                      <p:cNvPr id="0" name=""/>
                      <p:cNvPicPr/>
                      <p:nvPr/>
                    </p:nvPicPr>
                    <p:blipFill>
                      <a:blip r:embed="rId6"/>
                      <a:stretch>
                        <a:fillRect/>
                      </a:stretch>
                    </p:blipFill>
                    <p:spPr>
                      <a:xfrm>
                        <a:off x="4497515" y="1464735"/>
                        <a:ext cx="1426396" cy="389972"/>
                      </a:xfrm>
                      <a:prstGeom prst="rect">
                        <a:avLst/>
                      </a:prstGeom>
                    </p:spPr>
                  </p:pic>
                </p:oleObj>
              </mc:Fallback>
            </mc:AlternateContent>
          </a:graphicData>
        </a:graphic>
      </p:graphicFrame>
      <p:pic>
        <p:nvPicPr>
          <p:cNvPr id="9" name="图片 604184" descr="AA)">
            <a:extLst>
              <a:ext uri="{FF2B5EF4-FFF2-40B4-BE49-F238E27FC236}">
                <a16:creationId xmlns:a16="http://schemas.microsoft.com/office/drawing/2014/main" xmlns="" id="{EC60684B-B7E9-1C08-2FD4-7F44C49AC518}"/>
              </a:ext>
            </a:extLst>
          </p:cNvPr>
          <p:cNvPicPr>
            <a:picLocks noChangeAspect="1"/>
          </p:cNvPicPr>
          <p:nvPr/>
        </p:nvPicPr>
        <p:blipFill>
          <a:blip r:embed="rId7"/>
          <a:stretch>
            <a:fillRect/>
          </a:stretch>
        </p:blipFill>
        <p:spPr>
          <a:xfrm>
            <a:off x="1114424" y="1857702"/>
            <a:ext cx="2257425" cy="1266825"/>
          </a:xfrm>
          <a:prstGeom prst="rect">
            <a:avLst/>
          </a:prstGeom>
          <a:noFill/>
          <a:ln w="9525">
            <a:noFill/>
          </a:ln>
        </p:spPr>
      </p:pic>
      <p:graphicFrame>
        <p:nvGraphicFramePr>
          <p:cNvPr id="10" name="对象 9">
            <a:extLst>
              <a:ext uri="{FF2B5EF4-FFF2-40B4-BE49-F238E27FC236}">
                <a16:creationId xmlns:a16="http://schemas.microsoft.com/office/drawing/2014/main" xmlns="" id="{83A2E961-3FF4-4950-E608-9049B89B5C8A}"/>
              </a:ext>
            </a:extLst>
          </p:cNvPr>
          <p:cNvGraphicFramePr>
            <a:graphicFrameLocks noChangeAspect="1"/>
          </p:cNvGraphicFramePr>
          <p:nvPr>
            <p:extLst>
              <p:ext uri="{D42A27DB-BD31-4B8C-83A1-F6EECF244321}">
                <p14:modId xmlns:p14="http://schemas.microsoft.com/office/powerpoint/2010/main" val="3462570965"/>
              </p:ext>
            </p:extLst>
          </p:nvPr>
        </p:nvGraphicFramePr>
        <p:xfrm>
          <a:off x="4281488" y="2076450"/>
          <a:ext cx="3606800" cy="800100"/>
        </p:xfrm>
        <a:graphic>
          <a:graphicData uri="http://schemas.openxmlformats.org/presentationml/2006/ole">
            <mc:AlternateContent xmlns:mc="http://schemas.openxmlformats.org/markup-compatibility/2006">
              <mc:Choice xmlns:v="urn:schemas-microsoft-com:vml" Requires="v">
                <p:oleObj spid="_x0000_s30177" name="Equation" r:id="rId8" imgW="3606480" imgH="799920" progId="Equation.DSMT4">
                  <p:embed/>
                </p:oleObj>
              </mc:Choice>
              <mc:Fallback>
                <p:oleObj name="Equation" r:id="rId8" imgW="3606480" imgH="799920" progId="Equation.DSMT4">
                  <p:embed/>
                  <p:pic>
                    <p:nvPicPr>
                      <p:cNvPr id="0" name=""/>
                      <p:cNvPicPr/>
                      <p:nvPr/>
                    </p:nvPicPr>
                    <p:blipFill>
                      <a:blip r:embed="rId9"/>
                      <a:stretch>
                        <a:fillRect/>
                      </a:stretch>
                    </p:blipFill>
                    <p:spPr>
                      <a:xfrm>
                        <a:off x="4281488" y="2076450"/>
                        <a:ext cx="3606800" cy="800100"/>
                      </a:xfrm>
                      <a:prstGeom prst="rect">
                        <a:avLst/>
                      </a:prstGeom>
                    </p:spPr>
                  </p:pic>
                </p:oleObj>
              </mc:Fallback>
            </mc:AlternateContent>
          </a:graphicData>
        </a:graphic>
      </p:graphicFrame>
      <p:sp>
        <p:nvSpPr>
          <p:cNvPr id="11" name="文本框 10">
            <a:extLst>
              <a:ext uri="{FF2B5EF4-FFF2-40B4-BE49-F238E27FC236}">
                <a16:creationId xmlns:a16="http://schemas.microsoft.com/office/drawing/2014/main" xmlns="" id="{19FF8A1F-B590-BF38-6F9F-E866B62DC43A}"/>
              </a:ext>
            </a:extLst>
          </p:cNvPr>
          <p:cNvSpPr txBox="1"/>
          <p:nvPr/>
        </p:nvSpPr>
        <p:spPr>
          <a:xfrm>
            <a:off x="3543164" y="2214899"/>
            <a:ext cx="743496" cy="461665"/>
          </a:xfrm>
          <a:prstGeom prst="rect">
            <a:avLst/>
          </a:prstGeom>
          <a:noFill/>
        </p:spPr>
        <p:txBody>
          <a:bodyPr wrap="square">
            <a:spAutoFit/>
          </a:bodyPr>
          <a:lstStyle/>
          <a:p>
            <a:r>
              <a:rPr lang="en-US" altLang="zh-CN" sz="2400" dirty="0">
                <a:latin typeface="Times New Roman" panose="02020603050405020304" pitchFamily="18" charset="0"/>
                <a:cs typeface="Times New Roman" panose="02020603050405020304" pitchFamily="18" charset="0"/>
              </a:rPr>
              <a:t>(1)</a:t>
            </a:r>
            <a:endParaRPr lang="zh-CN" altLang="en-US" sz="2400" dirty="0">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xmlns="" id="{1FDE4C86-8C41-F35E-3101-02033F241122}"/>
              </a:ext>
            </a:extLst>
          </p:cNvPr>
          <p:cNvSpPr txBox="1"/>
          <p:nvPr/>
        </p:nvSpPr>
        <p:spPr>
          <a:xfrm>
            <a:off x="899592" y="3222994"/>
            <a:ext cx="743496" cy="461665"/>
          </a:xfrm>
          <a:prstGeom prst="rect">
            <a:avLst/>
          </a:prstGeom>
          <a:noFill/>
        </p:spPr>
        <p:txBody>
          <a:bodyPr wrap="square">
            <a:spAutoFit/>
          </a:bodyPr>
          <a:lstStyle/>
          <a:p>
            <a:r>
              <a:rPr lang="en-US" altLang="zh-CN" sz="2400" dirty="0">
                <a:latin typeface="Times New Roman" panose="02020603050405020304" pitchFamily="18" charset="0"/>
                <a:cs typeface="Times New Roman" panose="02020603050405020304" pitchFamily="18" charset="0"/>
              </a:rPr>
              <a:t>(2)</a:t>
            </a:r>
            <a:endParaRPr lang="zh-CN" altLang="en-US" sz="2400" dirty="0">
              <a:latin typeface="Times New Roman" panose="02020603050405020304" pitchFamily="18" charset="0"/>
              <a:cs typeface="Times New Roman" panose="02020603050405020304" pitchFamily="18" charset="0"/>
            </a:endParaRPr>
          </a:p>
        </p:txBody>
      </p:sp>
      <p:sp>
        <p:nvSpPr>
          <p:cNvPr id="13" name="文本框 12">
            <a:extLst>
              <a:ext uri="{FF2B5EF4-FFF2-40B4-BE49-F238E27FC236}">
                <a16:creationId xmlns:a16="http://schemas.microsoft.com/office/drawing/2014/main" xmlns="" id="{C9821304-EAE3-72A4-442C-C9DFF27A55CB}"/>
              </a:ext>
            </a:extLst>
          </p:cNvPr>
          <p:cNvSpPr txBox="1"/>
          <p:nvPr/>
        </p:nvSpPr>
        <p:spPr>
          <a:xfrm>
            <a:off x="899592" y="4649560"/>
            <a:ext cx="743496" cy="461665"/>
          </a:xfrm>
          <a:prstGeom prst="rect">
            <a:avLst/>
          </a:prstGeom>
          <a:noFill/>
        </p:spPr>
        <p:txBody>
          <a:bodyPr wrap="square">
            <a:spAutoFit/>
          </a:bodyPr>
          <a:lstStyle/>
          <a:p>
            <a:r>
              <a:rPr lang="en-US" altLang="zh-CN" sz="2400" dirty="0">
                <a:latin typeface="Times New Roman" panose="02020603050405020304" pitchFamily="18" charset="0"/>
                <a:cs typeface="Times New Roman" panose="02020603050405020304" pitchFamily="18" charset="0"/>
              </a:rPr>
              <a:t>(3)</a:t>
            </a:r>
            <a:endParaRPr lang="zh-CN" altLang="en-US" sz="2400" dirty="0">
              <a:latin typeface="Times New Roman" panose="02020603050405020304" pitchFamily="18" charset="0"/>
              <a:cs typeface="Times New Roman" panose="02020603050405020304" pitchFamily="18" charset="0"/>
            </a:endParaRPr>
          </a:p>
        </p:txBody>
      </p:sp>
      <p:sp>
        <p:nvSpPr>
          <p:cNvPr id="14" name="文本框 13">
            <a:extLst>
              <a:ext uri="{FF2B5EF4-FFF2-40B4-BE49-F238E27FC236}">
                <a16:creationId xmlns:a16="http://schemas.microsoft.com/office/drawing/2014/main" xmlns="" id="{70767A23-7AB8-9951-4786-97EFFEBF0ACD}"/>
              </a:ext>
            </a:extLst>
          </p:cNvPr>
          <p:cNvSpPr txBox="1"/>
          <p:nvPr/>
        </p:nvSpPr>
        <p:spPr>
          <a:xfrm>
            <a:off x="1920673" y="3213521"/>
            <a:ext cx="6937940" cy="461665"/>
          </a:xfrm>
          <a:prstGeom prst="rect">
            <a:avLst/>
          </a:prstGeom>
          <a:noFill/>
        </p:spPr>
        <p:txBody>
          <a:bodyPr wrap="square" rtlCol="0">
            <a:spAutoFit/>
          </a:bodyPr>
          <a:lstStyle/>
          <a:p>
            <a:pPr eaLnBrk="1" hangingPunct="1">
              <a:buNone/>
            </a:pPr>
            <a:r>
              <a:rPr lang="zh-CN" altLang="en-US" sz="2400" dirty="0">
                <a:solidFill>
                  <a:schemeClr val="folHlink"/>
                </a:solidFill>
                <a:latin typeface="Times New Roman" panose="02020603050405020304" pitchFamily="18" charset="0"/>
                <a:cs typeface="Times New Roman" panose="02020603050405020304" pitchFamily="18" charset="0"/>
              </a:rPr>
              <a:t>      </a:t>
            </a:r>
            <a:r>
              <a:rPr lang="zh-CN" altLang="en-US" sz="2400" dirty="0" smtClean="0">
                <a:solidFill>
                  <a:schemeClr val="folHlink"/>
                </a:solidFill>
                <a:latin typeface="Times New Roman" panose="02020603050405020304" pitchFamily="18" charset="0"/>
                <a:cs typeface="Times New Roman" panose="02020603050405020304" pitchFamily="18" charset="0"/>
              </a:rPr>
              <a:t> </a:t>
            </a:r>
            <a:r>
              <a:rPr lang="zh-CN" altLang="en-US" sz="2400" dirty="0" smtClean="0">
                <a:latin typeface="Times New Roman" panose="02020603050405020304" pitchFamily="18" charset="0"/>
                <a:cs typeface="Times New Roman" panose="02020603050405020304" pitchFamily="18" charset="0"/>
              </a:rPr>
              <a:t>与</a:t>
            </a:r>
            <a:r>
              <a:rPr lang="en-US" altLang="zh-CN" sz="2400" i="1" dirty="0">
                <a:latin typeface="Times New Roman" panose="02020603050405020304" pitchFamily="18" charset="0"/>
                <a:cs typeface="Times New Roman" panose="02020603050405020304" pitchFamily="18" charset="0"/>
              </a:rPr>
              <a:t>R</a:t>
            </a:r>
            <a:r>
              <a:rPr lang="en-US" altLang="zh-CN" sz="2400" baseline="-25000" dirty="0">
                <a:latin typeface="Times New Roman" panose="02020603050405020304" pitchFamily="18" charset="0"/>
                <a:cs typeface="Times New Roman" panose="02020603050405020304" pitchFamily="18" charset="0"/>
              </a:rPr>
              <a:t>L</a:t>
            </a:r>
            <a:r>
              <a:rPr lang="zh-CN" altLang="en-US" sz="2400" dirty="0">
                <a:latin typeface="Times New Roman" panose="02020603050405020304" pitchFamily="18" charset="0"/>
                <a:cs typeface="Times New Roman" panose="02020603050405020304" pitchFamily="18" charset="0"/>
              </a:rPr>
              <a:t>串联支路</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Q</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X</a:t>
            </a:r>
            <a:r>
              <a:rPr lang="en-US" altLang="zh-CN" sz="2400" baseline="-25000" dirty="0">
                <a:latin typeface="Times New Roman" panose="02020603050405020304" pitchFamily="18" charset="0"/>
                <a:cs typeface="Times New Roman" panose="02020603050405020304" pitchFamily="18" charset="0"/>
              </a:rPr>
              <a:t>2</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R</a:t>
            </a:r>
            <a:r>
              <a:rPr lang="en-US" altLang="zh-CN" sz="2400" baseline="-25000" dirty="0">
                <a:latin typeface="Times New Roman" panose="02020603050405020304" pitchFamily="18" charset="0"/>
                <a:cs typeface="Times New Roman" panose="02020603050405020304" pitchFamily="18" charset="0"/>
              </a:rPr>
              <a:t>L</a:t>
            </a:r>
            <a:r>
              <a:rPr lang="en-US" altLang="zh-CN"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则</a:t>
            </a:r>
          </a:p>
        </p:txBody>
      </p:sp>
      <p:graphicFrame>
        <p:nvGraphicFramePr>
          <p:cNvPr id="15" name="对象 14">
            <a:extLst>
              <a:ext uri="{FF2B5EF4-FFF2-40B4-BE49-F238E27FC236}">
                <a16:creationId xmlns:a16="http://schemas.microsoft.com/office/drawing/2014/main" xmlns="" id="{CE0B3A78-1818-AF2F-F7A6-D0F164A57C27}"/>
              </a:ext>
            </a:extLst>
          </p:cNvPr>
          <p:cNvGraphicFramePr>
            <a:graphicFrameLocks noChangeAspect="1"/>
          </p:cNvGraphicFramePr>
          <p:nvPr>
            <p:extLst>
              <p:ext uri="{D42A27DB-BD31-4B8C-83A1-F6EECF244321}">
                <p14:modId xmlns:p14="http://schemas.microsoft.com/office/powerpoint/2010/main" val="2557078144"/>
              </p:ext>
            </p:extLst>
          </p:nvPr>
        </p:nvGraphicFramePr>
        <p:xfrm>
          <a:off x="1405570" y="3228677"/>
          <a:ext cx="1236569" cy="474740"/>
        </p:xfrm>
        <a:graphic>
          <a:graphicData uri="http://schemas.openxmlformats.org/presentationml/2006/ole">
            <mc:AlternateContent xmlns:mc="http://schemas.openxmlformats.org/markup-compatibility/2006">
              <mc:Choice xmlns:v="urn:schemas-microsoft-com:vml" Requires="v">
                <p:oleObj spid="_x0000_s30178" name="Equation" r:id="rId10" imgW="1223731" imgH="469457" progId="Equation.DSMT4">
                  <p:embed/>
                </p:oleObj>
              </mc:Choice>
              <mc:Fallback>
                <p:oleObj name="Equation" r:id="rId10" imgW="1223731" imgH="469457" progId="Equation.DSMT4">
                  <p:embed/>
                  <p:pic>
                    <p:nvPicPr>
                      <p:cNvPr id="0" name=""/>
                      <p:cNvPicPr/>
                      <p:nvPr/>
                    </p:nvPicPr>
                    <p:blipFill>
                      <a:blip r:embed="rId11"/>
                      <a:stretch>
                        <a:fillRect/>
                      </a:stretch>
                    </p:blipFill>
                    <p:spPr>
                      <a:xfrm>
                        <a:off x="1405570" y="3228677"/>
                        <a:ext cx="1236569" cy="474740"/>
                      </a:xfrm>
                      <a:prstGeom prst="rect">
                        <a:avLst/>
                      </a:prstGeom>
                    </p:spPr>
                  </p:pic>
                </p:oleObj>
              </mc:Fallback>
            </mc:AlternateContent>
          </a:graphicData>
        </a:graphic>
      </p:graphicFrame>
      <p:graphicFrame>
        <p:nvGraphicFramePr>
          <p:cNvPr id="16" name="对象 15">
            <a:extLst>
              <a:ext uri="{FF2B5EF4-FFF2-40B4-BE49-F238E27FC236}">
                <a16:creationId xmlns:a16="http://schemas.microsoft.com/office/drawing/2014/main" xmlns="" id="{5805F813-1133-9193-7ADC-43634AF81086}"/>
              </a:ext>
            </a:extLst>
          </p:cNvPr>
          <p:cNvGraphicFramePr>
            <a:graphicFrameLocks noChangeAspect="1"/>
          </p:cNvGraphicFramePr>
          <p:nvPr>
            <p:extLst>
              <p:ext uri="{D42A27DB-BD31-4B8C-83A1-F6EECF244321}">
                <p14:modId xmlns:p14="http://schemas.microsoft.com/office/powerpoint/2010/main" val="4045622590"/>
              </p:ext>
            </p:extLst>
          </p:nvPr>
        </p:nvGraphicFramePr>
        <p:xfrm>
          <a:off x="1808768" y="3753657"/>
          <a:ext cx="5113337" cy="447675"/>
        </p:xfrm>
        <a:graphic>
          <a:graphicData uri="http://schemas.openxmlformats.org/presentationml/2006/ole">
            <mc:AlternateContent xmlns:mc="http://schemas.openxmlformats.org/markup-compatibility/2006">
              <mc:Choice xmlns:v="urn:schemas-microsoft-com:vml" Requires="v">
                <p:oleObj spid="_x0000_s30179" name="Equation" r:id="rId12" imgW="5113101" imgH="448216" progId="Equation.DSMT4">
                  <p:embed/>
                </p:oleObj>
              </mc:Choice>
              <mc:Fallback>
                <p:oleObj name="Equation" r:id="rId12" imgW="5113101" imgH="448216" progId="Equation.DSMT4">
                  <p:embed/>
                  <p:pic>
                    <p:nvPicPr>
                      <p:cNvPr id="0" name=""/>
                      <p:cNvPicPr/>
                      <p:nvPr/>
                    </p:nvPicPr>
                    <p:blipFill>
                      <a:blip r:embed="rId13"/>
                      <a:stretch>
                        <a:fillRect/>
                      </a:stretch>
                    </p:blipFill>
                    <p:spPr>
                      <a:xfrm>
                        <a:off x="1808768" y="3753657"/>
                        <a:ext cx="5113337" cy="447675"/>
                      </a:xfrm>
                      <a:prstGeom prst="rect">
                        <a:avLst/>
                      </a:prstGeom>
                    </p:spPr>
                  </p:pic>
                </p:oleObj>
              </mc:Fallback>
            </mc:AlternateContent>
          </a:graphicData>
        </a:graphic>
      </p:graphicFrame>
      <p:graphicFrame>
        <p:nvGraphicFramePr>
          <p:cNvPr id="17" name="对象 16">
            <a:extLst>
              <a:ext uri="{FF2B5EF4-FFF2-40B4-BE49-F238E27FC236}">
                <a16:creationId xmlns:a16="http://schemas.microsoft.com/office/drawing/2014/main" xmlns="" id="{B314767F-6EE6-D179-2E76-8B8B742E5522}"/>
              </a:ext>
            </a:extLst>
          </p:cNvPr>
          <p:cNvGraphicFramePr>
            <a:graphicFrameLocks noChangeAspect="1"/>
          </p:cNvGraphicFramePr>
          <p:nvPr>
            <p:extLst>
              <p:ext uri="{D42A27DB-BD31-4B8C-83A1-F6EECF244321}">
                <p14:modId xmlns:p14="http://schemas.microsoft.com/office/powerpoint/2010/main" val="3362741927"/>
              </p:ext>
            </p:extLst>
          </p:nvPr>
        </p:nvGraphicFramePr>
        <p:xfrm>
          <a:off x="2243137" y="4233862"/>
          <a:ext cx="4742143" cy="425941"/>
        </p:xfrm>
        <a:graphic>
          <a:graphicData uri="http://schemas.openxmlformats.org/presentationml/2006/ole">
            <mc:AlternateContent xmlns:mc="http://schemas.openxmlformats.org/markup-compatibility/2006">
              <mc:Choice xmlns:v="urn:schemas-microsoft-com:vml" Requires="v">
                <p:oleObj spid="_x0000_s30180" name="Equation" r:id="rId14" imgW="4241520" imgH="380880" progId="Equation.DSMT4">
                  <p:embed/>
                </p:oleObj>
              </mc:Choice>
              <mc:Fallback>
                <p:oleObj name="Equation" r:id="rId14" imgW="4241520" imgH="380880" progId="Equation.DSMT4">
                  <p:embed/>
                  <p:pic>
                    <p:nvPicPr>
                      <p:cNvPr id="0" name=""/>
                      <p:cNvPicPr/>
                      <p:nvPr/>
                    </p:nvPicPr>
                    <p:blipFill>
                      <a:blip r:embed="rId15"/>
                      <a:stretch>
                        <a:fillRect/>
                      </a:stretch>
                    </p:blipFill>
                    <p:spPr>
                      <a:xfrm>
                        <a:off x="2243137" y="4233862"/>
                        <a:ext cx="4742143" cy="425941"/>
                      </a:xfrm>
                      <a:prstGeom prst="rect">
                        <a:avLst/>
                      </a:prstGeom>
                    </p:spPr>
                  </p:pic>
                </p:oleObj>
              </mc:Fallback>
            </mc:AlternateContent>
          </a:graphicData>
        </a:graphic>
      </p:graphicFrame>
      <p:sp>
        <p:nvSpPr>
          <p:cNvPr id="18" name="文本框 17">
            <a:extLst>
              <a:ext uri="{FF2B5EF4-FFF2-40B4-BE49-F238E27FC236}">
                <a16:creationId xmlns:a16="http://schemas.microsoft.com/office/drawing/2014/main" xmlns="" id="{37BD187A-5D4A-8E45-D3BD-A12F234607E9}"/>
              </a:ext>
            </a:extLst>
          </p:cNvPr>
          <p:cNvSpPr txBox="1"/>
          <p:nvPr/>
        </p:nvSpPr>
        <p:spPr>
          <a:xfrm>
            <a:off x="2825927" y="4672439"/>
            <a:ext cx="6067050" cy="461665"/>
          </a:xfrm>
          <a:prstGeom prst="rect">
            <a:avLst/>
          </a:prstGeom>
          <a:noFill/>
        </p:spPr>
        <p:txBody>
          <a:bodyPr wrap="square" rtlCol="0">
            <a:spAutoFit/>
          </a:bodyPr>
          <a:lstStyle/>
          <a:p>
            <a:pPr eaLnBrk="1" hangingPunct="1"/>
            <a:r>
              <a:rPr lang="zh-CN" altLang="en-US" sz="2400" dirty="0">
                <a:latin typeface="Times New Roman" panose="02020603050405020304" pitchFamily="18" charset="0"/>
                <a:cs typeface="Times New Roman" panose="02020603050405020304" pitchFamily="18" charset="0"/>
              </a:rPr>
              <a:t>与</a:t>
            </a:r>
            <a:r>
              <a:rPr lang="en-US" altLang="zh-CN" sz="2400" i="1" dirty="0">
                <a:latin typeface="Times New Roman" panose="02020603050405020304" pitchFamily="18" charset="0"/>
                <a:cs typeface="Times New Roman" panose="02020603050405020304" pitchFamily="18" charset="0"/>
              </a:rPr>
              <a:t>R</a:t>
            </a:r>
            <a:r>
              <a:rPr lang="en-US" altLang="zh-CN" sz="2400" baseline="-25000" dirty="0">
                <a:latin typeface="Times New Roman" panose="02020603050405020304" pitchFamily="18" charset="0"/>
                <a:cs typeface="Times New Roman" panose="02020603050405020304" pitchFamily="18" charset="0"/>
              </a:rPr>
              <a:t>o</a:t>
            </a:r>
            <a:r>
              <a:rPr lang="zh-CN" altLang="en-US" sz="2400" dirty="0">
                <a:latin typeface="Times New Roman" panose="02020603050405020304" pitchFamily="18" charset="0"/>
                <a:cs typeface="Times New Roman" panose="02020603050405020304" pitchFamily="18" charset="0"/>
              </a:rPr>
              <a:t>并联支路</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Q</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R</a:t>
            </a:r>
            <a:r>
              <a:rPr lang="en-US" altLang="zh-CN" sz="2400" baseline="-25000" dirty="0">
                <a:latin typeface="Times New Roman" panose="02020603050405020304" pitchFamily="18" charset="0"/>
                <a:cs typeface="Times New Roman" panose="02020603050405020304" pitchFamily="18" charset="0"/>
              </a:rPr>
              <a:t>o</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X</a:t>
            </a:r>
            <a:r>
              <a:rPr lang="en-US" altLang="zh-CN" sz="2400" baseline="-25000" dirty="0">
                <a:latin typeface="Times New Roman" panose="02020603050405020304" pitchFamily="18" charset="0"/>
                <a:cs typeface="Times New Roman" panose="02020603050405020304" pitchFamily="18" charset="0"/>
              </a:rPr>
              <a:t>1</a:t>
            </a:r>
            <a:r>
              <a:rPr lang="en-US" altLang="zh-CN"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则</a:t>
            </a:r>
          </a:p>
        </p:txBody>
      </p:sp>
      <p:graphicFrame>
        <p:nvGraphicFramePr>
          <p:cNvPr id="19" name="对象 18">
            <a:extLst>
              <a:ext uri="{FF2B5EF4-FFF2-40B4-BE49-F238E27FC236}">
                <a16:creationId xmlns:a16="http://schemas.microsoft.com/office/drawing/2014/main" xmlns="" id="{4AABA1B6-1AA1-4538-B7D8-7AF8060C271F}"/>
              </a:ext>
            </a:extLst>
          </p:cNvPr>
          <p:cNvGraphicFramePr>
            <a:graphicFrameLocks noChangeAspect="1"/>
          </p:cNvGraphicFramePr>
          <p:nvPr>
            <p:extLst>
              <p:ext uri="{D42A27DB-BD31-4B8C-83A1-F6EECF244321}">
                <p14:modId xmlns:p14="http://schemas.microsoft.com/office/powerpoint/2010/main" val="3971648954"/>
              </p:ext>
            </p:extLst>
          </p:nvPr>
        </p:nvGraphicFramePr>
        <p:xfrm>
          <a:off x="1405570" y="4691197"/>
          <a:ext cx="1558647" cy="426517"/>
        </p:xfrm>
        <a:graphic>
          <a:graphicData uri="http://schemas.openxmlformats.org/presentationml/2006/ole">
            <mc:AlternateContent xmlns:mc="http://schemas.openxmlformats.org/markup-compatibility/2006">
              <mc:Choice xmlns:v="urn:schemas-microsoft-com:vml" Requires="v">
                <p:oleObj spid="_x0000_s30181" name="Equation" r:id="rId16" imgW="1728489" imgH="472697" progId="Equation.DSMT4">
                  <p:embed/>
                </p:oleObj>
              </mc:Choice>
              <mc:Fallback>
                <p:oleObj name="Equation" r:id="rId16" imgW="1728489" imgH="472697" progId="Equation.DSMT4">
                  <p:embed/>
                  <p:pic>
                    <p:nvPicPr>
                      <p:cNvPr id="0" name=""/>
                      <p:cNvPicPr/>
                      <p:nvPr/>
                    </p:nvPicPr>
                    <p:blipFill>
                      <a:blip r:embed="rId17"/>
                      <a:stretch>
                        <a:fillRect/>
                      </a:stretch>
                    </p:blipFill>
                    <p:spPr>
                      <a:xfrm>
                        <a:off x="1405570" y="4691197"/>
                        <a:ext cx="1558647" cy="426517"/>
                      </a:xfrm>
                      <a:prstGeom prst="rect">
                        <a:avLst/>
                      </a:prstGeom>
                    </p:spPr>
                  </p:pic>
                </p:oleObj>
              </mc:Fallback>
            </mc:AlternateContent>
          </a:graphicData>
        </a:graphic>
      </p:graphicFrame>
      <p:graphicFrame>
        <p:nvGraphicFramePr>
          <p:cNvPr id="20" name="对象 19">
            <a:extLst>
              <a:ext uri="{FF2B5EF4-FFF2-40B4-BE49-F238E27FC236}">
                <a16:creationId xmlns:a16="http://schemas.microsoft.com/office/drawing/2014/main" xmlns="" id="{37879D3E-AF1E-FE7C-E634-E3EC2E42A67A}"/>
              </a:ext>
            </a:extLst>
          </p:cNvPr>
          <p:cNvGraphicFramePr>
            <a:graphicFrameLocks noChangeAspect="1"/>
          </p:cNvGraphicFramePr>
          <p:nvPr>
            <p:extLst>
              <p:ext uri="{D42A27DB-BD31-4B8C-83A1-F6EECF244321}">
                <p14:modId xmlns:p14="http://schemas.microsoft.com/office/powerpoint/2010/main" val="1513381659"/>
              </p:ext>
            </p:extLst>
          </p:nvPr>
        </p:nvGraphicFramePr>
        <p:xfrm>
          <a:off x="1631944" y="5218479"/>
          <a:ext cx="6168640" cy="469104"/>
        </p:xfrm>
        <a:graphic>
          <a:graphicData uri="http://schemas.openxmlformats.org/presentationml/2006/ole">
            <mc:AlternateContent xmlns:mc="http://schemas.openxmlformats.org/markup-compatibility/2006">
              <mc:Choice xmlns:v="urn:schemas-microsoft-com:vml" Requires="v">
                <p:oleObj spid="_x0000_s30182" name="Equation" r:id="rId18" imgW="6408478" imgH="487818" progId="Equation.DSMT4">
                  <p:embed/>
                </p:oleObj>
              </mc:Choice>
              <mc:Fallback>
                <p:oleObj name="Equation" r:id="rId18" imgW="6408478" imgH="487818" progId="Equation.DSMT4">
                  <p:embed/>
                  <p:pic>
                    <p:nvPicPr>
                      <p:cNvPr id="0" name=""/>
                      <p:cNvPicPr/>
                      <p:nvPr/>
                    </p:nvPicPr>
                    <p:blipFill>
                      <a:blip r:embed="rId19"/>
                      <a:stretch>
                        <a:fillRect/>
                      </a:stretch>
                    </p:blipFill>
                    <p:spPr>
                      <a:xfrm>
                        <a:off x="1631944" y="5218479"/>
                        <a:ext cx="6168640" cy="469104"/>
                      </a:xfrm>
                      <a:prstGeom prst="rect">
                        <a:avLst/>
                      </a:prstGeom>
                    </p:spPr>
                  </p:pic>
                </p:oleObj>
              </mc:Fallback>
            </mc:AlternateContent>
          </a:graphicData>
        </a:graphic>
      </p:graphicFrame>
      <p:graphicFrame>
        <p:nvGraphicFramePr>
          <p:cNvPr id="21" name="对象 20">
            <a:extLst>
              <a:ext uri="{FF2B5EF4-FFF2-40B4-BE49-F238E27FC236}">
                <a16:creationId xmlns:a16="http://schemas.microsoft.com/office/drawing/2014/main" xmlns="" id="{50A5D393-E226-DA8B-F255-4A47D6438FB7}"/>
              </a:ext>
            </a:extLst>
          </p:cNvPr>
          <p:cNvGraphicFramePr>
            <a:graphicFrameLocks noChangeAspect="1"/>
          </p:cNvGraphicFramePr>
          <p:nvPr>
            <p:extLst>
              <p:ext uri="{D42A27DB-BD31-4B8C-83A1-F6EECF244321}">
                <p14:modId xmlns:p14="http://schemas.microsoft.com/office/powerpoint/2010/main" val="3713716689"/>
              </p:ext>
            </p:extLst>
          </p:nvPr>
        </p:nvGraphicFramePr>
        <p:xfrm>
          <a:off x="1846409" y="5704051"/>
          <a:ext cx="5302213" cy="837744"/>
        </p:xfrm>
        <a:graphic>
          <a:graphicData uri="http://schemas.openxmlformats.org/presentationml/2006/ole">
            <mc:AlternateContent xmlns:mc="http://schemas.openxmlformats.org/markup-compatibility/2006">
              <mc:Choice xmlns:v="urn:schemas-microsoft-com:vml" Requires="v">
                <p:oleObj spid="_x0000_s30183" name="Equation" r:id="rId20" imgW="5616059" imgH="887072" progId="Equation.DSMT4">
                  <p:embed/>
                </p:oleObj>
              </mc:Choice>
              <mc:Fallback>
                <p:oleObj name="Equation" r:id="rId20" imgW="5616059" imgH="887072" progId="Equation.DSMT4">
                  <p:embed/>
                  <p:pic>
                    <p:nvPicPr>
                      <p:cNvPr id="0" name=""/>
                      <p:cNvPicPr/>
                      <p:nvPr/>
                    </p:nvPicPr>
                    <p:blipFill>
                      <a:blip r:embed="rId21"/>
                      <a:stretch>
                        <a:fillRect/>
                      </a:stretch>
                    </p:blipFill>
                    <p:spPr>
                      <a:xfrm>
                        <a:off x="1846409" y="5704051"/>
                        <a:ext cx="5302213" cy="837744"/>
                      </a:xfrm>
                      <a:prstGeom prst="rect">
                        <a:avLst/>
                      </a:prstGeom>
                    </p:spPr>
                  </p:pic>
                </p:oleObj>
              </mc:Fallback>
            </mc:AlternateContent>
          </a:graphicData>
        </a:graphic>
      </p:graphicFrame>
    </p:spTree>
    <p:extLst>
      <p:ext uri="{BB962C8B-B14F-4D97-AF65-F5344CB8AC3E}">
        <p14:creationId xmlns:p14="http://schemas.microsoft.com/office/powerpoint/2010/main" val="1730474462"/>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51</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2.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高频</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基础</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电路</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内容占位符 7170">
            <a:extLst>
              <a:ext uri="{FF2B5EF4-FFF2-40B4-BE49-F238E27FC236}">
                <a16:creationId xmlns:a16="http://schemas.microsoft.com/office/drawing/2014/main" xmlns="" id="{25C6A1AD-E04C-A4C6-F4C4-98BBFB9900AF}"/>
              </a:ext>
            </a:extLst>
          </p:cNvPr>
          <p:cNvSpPr/>
          <p:nvPr/>
        </p:nvSpPr>
        <p:spPr>
          <a:xfrm>
            <a:off x="328537" y="1736332"/>
            <a:ext cx="8353425" cy="3672409"/>
          </a:xfrm>
          <a:prstGeom prst="rect">
            <a:avLst/>
          </a:prstGeom>
          <a:noFill/>
          <a:ln w="9525">
            <a:noFill/>
          </a:ln>
        </p:spPr>
        <p:txBody>
          <a:bodyPr/>
          <a:lstStyle/>
          <a:p>
            <a:pPr>
              <a:lnSpc>
                <a:spcPct val="120000"/>
              </a:lnSpc>
              <a:spcBef>
                <a:spcPts val="1200"/>
              </a:spcBef>
              <a:spcAft>
                <a:spcPts val="1200"/>
              </a:spcAft>
              <a:buClr>
                <a:schemeClr val="folHlink"/>
              </a:buClr>
              <a:buSzPct val="60000"/>
              <a:defRPr/>
            </a:pPr>
            <a:endParaRPr lang="zh-CN" altLang="en-US" sz="2000" dirty="0">
              <a:ln w="0"/>
              <a:effectLst>
                <a:glow rad="63500">
                  <a:schemeClr val="accent3">
                    <a:satMod val="175000"/>
                    <a:alpha val="40000"/>
                  </a:schemeClr>
                </a:glow>
              </a:effectLst>
              <a:latin typeface="Times New Roman" panose="02020603050405020304" pitchFamily="18" charset="0"/>
              <a:cs typeface="Times New Roman" panose="02020603050405020304" pitchFamily="18" charset="0"/>
            </a:endParaRPr>
          </a:p>
        </p:txBody>
      </p:sp>
      <p:sp>
        <p:nvSpPr>
          <p:cNvPr id="6" name="文本框 5">
            <a:extLst>
              <a:ext uri="{FF2B5EF4-FFF2-40B4-BE49-F238E27FC236}">
                <a16:creationId xmlns:a16="http://schemas.microsoft.com/office/drawing/2014/main" xmlns="" id="{11485744-E8CF-8897-E63C-0F9BC12EC954}"/>
              </a:ext>
            </a:extLst>
          </p:cNvPr>
          <p:cNvSpPr txBox="1"/>
          <p:nvPr/>
        </p:nvSpPr>
        <p:spPr>
          <a:xfrm>
            <a:off x="591397" y="1736332"/>
            <a:ext cx="6937940" cy="461665"/>
          </a:xfrm>
          <a:prstGeom prst="rect">
            <a:avLst/>
          </a:prstGeom>
          <a:noFill/>
        </p:spPr>
        <p:txBody>
          <a:bodyPr wrap="square" rtlCol="0">
            <a:spAutoFit/>
          </a:bodyPr>
          <a:lstStyle/>
          <a:p>
            <a:pPr algn="just" eaLnBrk="1" hangingPunct="1"/>
            <a:r>
              <a:rPr lang="zh-CN" altLang="en-US" sz="2400" b="1" dirty="0">
                <a:latin typeface="Times New Roman" panose="02020603050405020304" pitchFamily="18" charset="0"/>
                <a:cs typeface="Times New Roman" panose="02020603050405020304" pitchFamily="18" charset="0"/>
              </a:rPr>
              <a:t>解：</a:t>
            </a:r>
            <a:r>
              <a:rPr lang="en-US" altLang="zh-CN" sz="2400" b="1" dirty="0">
                <a:latin typeface="Times New Roman" panose="02020603050405020304" pitchFamily="18" charset="0"/>
                <a:cs typeface="Times New Roman" panose="02020603050405020304" pitchFamily="18" charset="0"/>
              </a:rPr>
              <a:t>2.</a:t>
            </a:r>
            <a:r>
              <a:rPr lang="zh-CN" altLang="en-US" sz="2400" dirty="0">
                <a:latin typeface="Times New Roman" panose="02020603050405020304" pitchFamily="18" charset="0"/>
                <a:cs typeface="Times New Roman" panose="02020603050405020304" pitchFamily="18" charset="0"/>
              </a:rPr>
              <a:t>设            </a:t>
            </a:r>
            <a:r>
              <a:rPr lang="zh-CN" altLang="en-US" sz="2400" dirty="0" smtClean="0">
                <a:latin typeface="Times New Roman" panose="02020603050405020304" pitchFamily="18" charset="0"/>
                <a:cs typeface="Times New Roman" panose="02020603050405020304" pitchFamily="18" charset="0"/>
              </a:rPr>
              <a:t>   为</a:t>
            </a:r>
            <a:r>
              <a:rPr lang="zh-CN" altLang="en-US" sz="2400" dirty="0">
                <a:latin typeface="Times New Roman" panose="02020603050405020304" pitchFamily="18" charset="0"/>
                <a:cs typeface="Times New Roman" panose="02020603050405020304" pitchFamily="18" charset="0"/>
              </a:rPr>
              <a:t>容抗，</a:t>
            </a:r>
            <a:r>
              <a:rPr lang="zh-CN" altLang="en-US" sz="2400" dirty="0" smtClean="0">
                <a:latin typeface="Times New Roman" panose="02020603050405020304" pitchFamily="18" charset="0"/>
                <a:cs typeface="Times New Roman" panose="02020603050405020304" pitchFamily="18" charset="0"/>
              </a:rPr>
              <a:t>则   </a:t>
            </a:r>
            <a:r>
              <a:rPr lang="zh-CN" altLang="en-US" sz="2400" i="1" dirty="0" smtClean="0">
                <a:latin typeface="Times New Roman" panose="02020603050405020304" pitchFamily="18" charset="0"/>
                <a:cs typeface="Times New Roman" panose="02020603050405020304" pitchFamily="18" charset="0"/>
              </a:rPr>
              <a:t>         </a:t>
            </a:r>
            <a:r>
              <a:rPr lang="zh-CN" altLang="en-US" sz="2400" dirty="0">
                <a:latin typeface="Times New Roman" panose="02020603050405020304" pitchFamily="18" charset="0"/>
                <a:cs typeface="Times New Roman" panose="02020603050405020304" pitchFamily="18" charset="0"/>
              </a:rPr>
              <a:t>为感抗</a:t>
            </a:r>
            <a:endParaRPr lang="en-US" altLang="zh-CN" sz="2400" b="1" dirty="0">
              <a:latin typeface="Times New Roman" panose="02020603050405020304" pitchFamily="18" charset="0"/>
              <a:cs typeface="Times New Roman" panose="02020603050405020304" pitchFamily="18" charset="0"/>
            </a:endParaRPr>
          </a:p>
        </p:txBody>
      </p:sp>
      <p:sp>
        <p:nvSpPr>
          <p:cNvPr id="7" name="文本框 6">
            <a:extLst>
              <a:ext uri="{FF2B5EF4-FFF2-40B4-BE49-F238E27FC236}">
                <a16:creationId xmlns:a16="http://schemas.microsoft.com/office/drawing/2014/main" xmlns="" id="{2259F64E-657E-8E3A-4AC7-E6B9B295DC7C}"/>
              </a:ext>
            </a:extLst>
          </p:cNvPr>
          <p:cNvSpPr txBox="1"/>
          <p:nvPr/>
        </p:nvSpPr>
        <p:spPr>
          <a:xfrm>
            <a:off x="688577" y="2168995"/>
            <a:ext cx="743496" cy="461665"/>
          </a:xfrm>
          <a:prstGeom prst="rect">
            <a:avLst/>
          </a:prstGeom>
          <a:noFill/>
        </p:spPr>
        <p:txBody>
          <a:bodyPr wrap="square">
            <a:spAutoFit/>
          </a:bodyPr>
          <a:lstStyle/>
          <a:p>
            <a:r>
              <a:rPr lang="en-US" altLang="zh-CN" sz="2400" dirty="0">
                <a:latin typeface="Times New Roman" panose="02020603050405020304" pitchFamily="18" charset="0"/>
                <a:cs typeface="Times New Roman" panose="02020603050405020304" pitchFamily="18" charset="0"/>
              </a:rPr>
              <a:t>(1)</a:t>
            </a:r>
            <a:endParaRPr lang="zh-CN" altLang="en-US" sz="2400" dirty="0">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xmlns="" id="{E137E3BF-87F6-5090-B9B3-AB56BE34427D}"/>
              </a:ext>
            </a:extLst>
          </p:cNvPr>
          <p:cNvSpPr txBox="1"/>
          <p:nvPr/>
        </p:nvSpPr>
        <p:spPr>
          <a:xfrm>
            <a:off x="691141" y="3238145"/>
            <a:ext cx="743496" cy="461665"/>
          </a:xfrm>
          <a:prstGeom prst="rect">
            <a:avLst/>
          </a:prstGeom>
          <a:noFill/>
        </p:spPr>
        <p:txBody>
          <a:bodyPr wrap="square">
            <a:spAutoFit/>
          </a:bodyPr>
          <a:lstStyle/>
          <a:p>
            <a:r>
              <a:rPr lang="en-US" altLang="zh-CN" sz="2400" dirty="0">
                <a:latin typeface="Times New Roman" panose="02020603050405020304" pitchFamily="18" charset="0"/>
                <a:cs typeface="Times New Roman" panose="02020603050405020304" pitchFamily="18" charset="0"/>
              </a:rPr>
              <a:t>(2)</a:t>
            </a:r>
            <a:endParaRPr lang="zh-CN" altLang="en-US" sz="2400" dirty="0">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xmlns="" id="{5047BCB5-2976-BDCB-D829-F76AA1274332}"/>
              </a:ext>
            </a:extLst>
          </p:cNvPr>
          <p:cNvSpPr txBox="1"/>
          <p:nvPr/>
        </p:nvSpPr>
        <p:spPr>
          <a:xfrm>
            <a:off x="688577" y="4973117"/>
            <a:ext cx="743496" cy="461665"/>
          </a:xfrm>
          <a:prstGeom prst="rect">
            <a:avLst/>
          </a:prstGeom>
          <a:noFill/>
        </p:spPr>
        <p:txBody>
          <a:bodyPr wrap="square">
            <a:spAutoFit/>
          </a:bodyPr>
          <a:lstStyle/>
          <a:p>
            <a:r>
              <a:rPr lang="en-US" altLang="zh-CN" sz="2400" dirty="0">
                <a:latin typeface="Times New Roman" panose="02020603050405020304" pitchFamily="18" charset="0"/>
                <a:cs typeface="Times New Roman" panose="02020603050405020304" pitchFamily="18" charset="0"/>
              </a:rPr>
              <a:t>(3)</a:t>
            </a:r>
            <a:endParaRPr lang="zh-CN" altLang="en-US" sz="2400" dirty="0">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xmlns="" id="{72E1149B-6595-7E50-D048-90E48AD74C0E}"/>
              </a:ext>
            </a:extLst>
          </p:cNvPr>
          <p:cNvSpPr txBox="1"/>
          <p:nvPr/>
        </p:nvSpPr>
        <p:spPr>
          <a:xfrm>
            <a:off x="1712222" y="3228672"/>
            <a:ext cx="6937940" cy="461665"/>
          </a:xfrm>
          <a:prstGeom prst="rect">
            <a:avLst/>
          </a:prstGeom>
          <a:noFill/>
        </p:spPr>
        <p:txBody>
          <a:bodyPr wrap="square" rtlCol="0">
            <a:spAutoFit/>
          </a:bodyPr>
          <a:lstStyle/>
          <a:p>
            <a:pPr eaLnBrk="1" hangingPunct="1">
              <a:buNone/>
            </a:pPr>
            <a:r>
              <a:rPr lang="zh-CN" altLang="en-US" sz="2400" dirty="0">
                <a:solidFill>
                  <a:schemeClr val="folHlink"/>
                </a:solidFill>
                <a:latin typeface="Times New Roman" panose="02020603050405020304" pitchFamily="18" charset="0"/>
                <a:cs typeface="Times New Roman" panose="02020603050405020304" pitchFamily="18" charset="0"/>
              </a:rPr>
              <a:t>               </a:t>
            </a:r>
            <a:r>
              <a:rPr lang="zh-CN" altLang="en-US" sz="2400" dirty="0">
                <a:latin typeface="Times New Roman" panose="02020603050405020304" pitchFamily="18" charset="0"/>
                <a:cs typeface="Times New Roman" panose="02020603050405020304" pitchFamily="18" charset="0"/>
              </a:rPr>
              <a:t>与</a:t>
            </a:r>
            <a:r>
              <a:rPr lang="en-US" altLang="zh-CN" sz="2400" i="1" dirty="0">
                <a:latin typeface="Times New Roman" panose="02020603050405020304" pitchFamily="18" charset="0"/>
                <a:cs typeface="Times New Roman" panose="02020603050405020304" pitchFamily="18" charset="0"/>
              </a:rPr>
              <a:t>R</a:t>
            </a:r>
            <a:r>
              <a:rPr lang="en-US" altLang="zh-CN" sz="2400" baseline="-25000" dirty="0">
                <a:latin typeface="Times New Roman" panose="02020603050405020304" pitchFamily="18" charset="0"/>
                <a:cs typeface="Times New Roman" panose="02020603050405020304" pitchFamily="18" charset="0"/>
              </a:rPr>
              <a:t>L</a:t>
            </a:r>
            <a:r>
              <a:rPr lang="zh-CN" altLang="en-US" sz="2400" dirty="0">
                <a:latin typeface="Times New Roman" panose="02020603050405020304" pitchFamily="18" charset="0"/>
                <a:cs typeface="Times New Roman" panose="02020603050405020304" pitchFamily="18" charset="0"/>
              </a:rPr>
              <a:t>串联支路</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Q</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X</a:t>
            </a:r>
            <a:r>
              <a:rPr lang="en-US" altLang="zh-CN" sz="2400" baseline="-25000" dirty="0">
                <a:latin typeface="Times New Roman" panose="02020603050405020304" pitchFamily="18" charset="0"/>
                <a:cs typeface="Times New Roman" panose="02020603050405020304" pitchFamily="18" charset="0"/>
              </a:rPr>
              <a:t>2</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R</a:t>
            </a:r>
            <a:r>
              <a:rPr lang="en-US" altLang="zh-CN" sz="2400" baseline="-25000" dirty="0">
                <a:latin typeface="Times New Roman" panose="02020603050405020304" pitchFamily="18" charset="0"/>
                <a:cs typeface="Times New Roman" panose="02020603050405020304" pitchFamily="18" charset="0"/>
              </a:rPr>
              <a:t>L</a:t>
            </a:r>
            <a:r>
              <a:rPr lang="en-US" altLang="zh-CN"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则</a:t>
            </a:r>
          </a:p>
        </p:txBody>
      </p:sp>
      <p:sp>
        <p:nvSpPr>
          <p:cNvPr id="11" name="文本框 10">
            <a:extLst>
              <a:ext uri="{FF2B5EF4-FFF2-40B4-BE49-F238E27FC236}">
                <a16:creationId xmlns:a16="http://schemas.microsoft.com/office/drawing/2014/main" xmlns="" id="{747B6B6C-21DA-4702-F96B-FA85C76B101B}"/>
              </a:ext>
            </a:extLst>
          </p:cNvPr>
          <p:cNvSpPr txBox="1"/>
          <p:nvPr/>
        </p:nvSpPr>
        <p:spPr>
          <a:xfrm>
            <a:off x="2397136" y="4917651"/>
            <a:ext cx="6937940" cy="461665"/>
          </a:xfrm>
          <a:prstGeom prst="rect">
            <a:avLst/>
          </a:prstGeom>
          <a:noFill/>
        </p:spPr>
        <p:txBody>
          <a:bodyPr wrap="square" rtlCol="0">
            <a:spAutoFit/>
          </a:bodyPr>
          <a:lstStyle/>
          <a:p>
            <a:pPr eaLnBrk="1" hangingPunct="1"/>
            <a:r>
              <a:rPr lang="zh-CN" altLang="en-US" sz="2400" dirty="0">
                <a:latin typeface="Times New Roman" panose="02020603050405020304" pitchFamily="18" charset="0"/>
                <a:cs typeface="Times New Roman" panose="02020603050405020304" pitchFamily="18" charset="0"/>
              </a:rPr>
              <a:t>与</a:t>
            </a:r>
            <a:r>
              <a:rPr lang="en-US" altLang="zh-CN" sz="2400" i="1" dirty="0">
                <a:latin typeface="Times New Roman" panose="02020603050405020304" pitchFamily="18" charset="0"/>
                <a:cs typeface="Times New Roman" panose="02020603050405020304" pitchFamily="18" charset="0"/>
              </a:rPr>
              <a:t>R</a:t>
            </a:r>
            <a:r>
              <a:rPr lang="en-US" altLang="zh-CN" sz="2400" baseline="-25000" dirty="0">
                <a:latin typeface="Times New Roman" panose="02020603050405020304" pitchFamily="18" charset="0"/>
                <a:cs typeface="Times New Roman" panose="02020603050405020304" pitchFamily="18" charset="0"/>
              </a:rPr>
              <a:t>o</a:t>
            </a:r>
            <a:r>
              <a:rPr lang="zh-CN" altLang="en-US" sz="2400" dirty="0">
                <a:latin typeface="Times New Roman" panose="02020603050405020304" pitchFamily="18" charset="0"/>
                <a:cs typeface="Times New Roman" panose="02020603050405020304" pitchFamily="18" charset="0"/>
              </a:rPr>
              <a:t>并联支路</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Q</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R</a:t>
            </a:r>
            <a:r>
              <a:rPr lang="en-US" altLang="zh-CN" sz="2400" baseline="-25000" dirty="0">
                <a:latin typeface="Times New Roman" panose="02020603050405020304" pitchFamily="18" charset="0"/>
                <a:cs typeface="Times New Roman" panose="02020603050405020304" pitchFamily="18" charset="0"/>
              </a:rPr>
              <a:t>o</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X</a:t>
            </a:r>
            <a:r>
              <a:rPr lang="en-US" altLang="zh-CN" sz="2400" baseline="-25000" dirty="0">
                <a:latin typeface="Times New Roman" panose="02020603050405020304" pitchFamily="18" charset="0"/>
                <a:cs typeface="Times New Roman" panose="02020603050405020304" pitchFamily="18" charset="0"/>
              </a:rPr>
              <a:t>1</a:t>
            </a:r>
            <a:r>
              <a:rPr lang="en-US" altLang="zh-CN"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则</a:t>
            </a:r>
          </a:p>
        </p:txBody>
      </p:sp>
      <p:graphicFrame>
        <p:nvGraphicFramePr>
          <p:cNvPr id="12" name="对象 11">
            <a:extLst>
              <a:ext uri="{FF2B5EF4-FFF2-40B4-BE49-F238E27FC236}">
                <a16:creationId xmlns:a16="http://schemas.microsoft.com/office/drawing/2014/main" xmlns="" id="{567D1500-CFA7-6F12-7CAC-73FDFF321380}"/>
              </a:ext>
            </a:extLst>
          </p:cNvPr>
          <p:cNvGraphicFramePr>
            <a:graphicFrameLocks noChangeAspect="1"/>
          </p:cNvGraphicFramePr>
          <p:nvPr>
            <p:extLst>
              <p:ext uri="{D42A27DB-BD31-4B8C-83A1-F6EECF244321}">
                <p14:modId xmlns:p14="http://schemas.microsoft.com/office/powerpoint/2010/main" val="3126956623"/>
              </p:ext>
            </p:extLst>
          </p:nvPr>
        </p:nvGraphicFramePr>
        <p:xfrm>
          <a:off x="1816359" y="1793733"/>
          <a:ext cx="1233400" cy="386332"/>
        </p:xfrm>
        <a:graphic>
          <a:graphicData uri="http://schemas.openxmlformats.org/presentationml/2006/ole">
            <mc:AlternateContent xmlns:mc="http://schemas.openxmlformats.org/markup-compatibility/2006">
              <mc:Choice xmlns:v="urn:schemas-microsoft-com:vml" Requires="v">
                <p:oleObj spid="_x0000_s31199" name="Equation" r:id="rId3" imgW="1368822" imgH="428415" progId="Equation.DSMT4">
                  <p:embed/>
                </p:oleObj>
              </mc:Choice>
              <mc:Fallback>
                <p:oleObj name="Equation" r:id="rId3" imgW="1368822" imgH="428415" progId="Equation.DSMT4">
                  <p:embed/>
                  <p:pic>
                    <p:nvPicPr>
                      <p:cNvPr id="0" name=""/>
                      <p:cNvPicPr/>
                      <p:nvPr/>
                    </p:nvPicPr>
                    <p:blipFill>
                      <a:blip r:embed="rId4"/>
                      <a:stretch>
                        <a:fillRect/>
                      </a:stretch>
                    </p:blipFill>
                    <p:spPr>
                      <a:xfrm>
                        <a:off x="1816359" y="1793733"/>
                        <a:ext cx="1233400" cy="386332"/>
                      </a:xfrm>
                      <a:prstGeom prst="rect">
                        <a:avLst/>
                      </a:prstGeom>
                    </p:spPr>
                  </p:pic>
                </p:oleObj>
              </mc:Fallback>
            </mc:AlternateContent>
          </a:graphicData>
        </a:graphic>
      </p:graphicFrame>
      <p:graphicFrame>
        <p:nvGraphicFramePr>
          <p:cNvPr id="13" name="对象 12">
            <a:extLst>
              <a:ext uri="{FF2B5EF4-FFF2-40B4-BE49-F238E27FC236}">
                <a16:creationId xmlns:a16="http://schemas.microsoft.com/office/drawing/2014/main" xmlns="" id="{1F5A6BF7-2DBE-131B-CF83-3659C727F1F6}"/>
              </a:ext>
            </a:extLst>
          </p:cNvPr>
          <p:cNvGraphicFramePr>
            <a:graphicFrameLocks noChangeAspect="1"/>
          </p:cNvGraphicFramePr>
          <p:nvPr>
            <p:extLst>
              <p:ext uri="{D42A27DB-BD31-4B8C-83A1-F6EECF244321}">
                <p14:modId xmlns:p14="http://schemas.microsoft.com/office/powerpoint/2010/main" val="1537907474"/>
              </p:ext>
            </p:extLst>
          </p:nvPr>
        </p:nvGraphicFramePr>
        <p:xfrm>
          <a:off x="4467327" y="1806574"/>
          <a:ext cx="987675" cy="422513"/>
        </p:xfrm>
        <a:graphic>
          <a:graphicData uri="http://schemas.openxmlformats.org/presentationml/2006/ole">
            <mc:AlternateContent xmlns:mc="http://schemas.openxmlformats.org/markup-compatibility/2006">
              <mc:Choice xmlns:v="urn:schemas-microsoft-com:vml" Requires="v">
                <p:oleObj spid="_x0000_s31200" name="Equation" r:id="rId5" imgW="1153886" imgH="493938" progId="Equation.DSMT4">
                  <p:embed/>
                </p:oleObj>
              </mc:Choice>
              <mc:Fallback>
                <p:oleObj name="Equation" r:id="rId5" imgW="1153886" imgH="493938" progId="Equation.DSMT4">
                  <p:embed/>
                  <p:pic>
                    <p:nvPicPr>
                      <p:cNvPr id="0" name=""/>
                      <p:cNvPicPr/>
                      <p:nvPr/>
                    </p:nvPicPr>
                    <p:blipFill>
                      <a:blip r:embed="rId6"/>
                      <a:stretch>
                        <a:fillRect/>
                      </a:stretch>
                    </p:blipFill>
                    <p:spPr>
                      <a:xfrm>
                        <a:off x="4467327" y="1806574"/>
                        <a:ext cx="987675" cy="422513"/>
                      </a:xfrm>
                      <a:prstGeom prst="rect">
                        <a:avLst/>
                      </a:prstGeom>
                    </p:spPr>
                  </p:pic>
                </p:oleObj>
              </mc:Fallback>
            </mc:AlternateContent>
          </a:graphicData>
        </a:graphic>
      </p:graphicFrame>
      <p:graphicFrame>
        <p:nvGraphicFramePr>
          <p:cNvPr id="14" name="对象 13">
            <a:extLst>
              <a:ext uri="{FF2B5EF4-FFF2-40B4-BE49-F238E27FC236}">
                <a16:creationId xmlns:a16="http://schemas.microsoft.com/office/drawing/2014/main" xmlns="" id="{04215186-4472-78D3-22E5-599201658143}"/>
              </a:ext>
            </a:extLst>
          </p:cNvPr>
          <p:cNvGraphicFramePr>
            <a:graphicFrameLocks noChangeAspect="1"/>
          </p:cNvGraphicFramePr>
          <p:nvPr>
            <p:extLst>
              <p:ext uri="{D42A27DB-BD31-4B8C-83A1-F6EECF244321}">
                <p14:modId xmlns:p14="http://schemas.microsoft.com/office/powerpoint/2010/main" val="60680486"/>
              </p:ext>
            </p:extLst>
          </p:nvPr>
        </p:nvGraphicFramePr>
        <p:xfrm>
          <a:off x="1432073" y="2276171"/>
          <a:ext cx="4176713" cy="982663"/>
        </p:xfrm>
        <a:graphic>
          <a:graphicData uri="http://schemas.openxmlformats.org/presentationml/2006/ole">
            <mc:AlternateContent xmlns:mc="http://schemas.openxmlformats.org/markup-compatibility/2006">
              <mc:Choice xmlns:v="urn:schemas-microsoft-com:vml" Requires="v">
                <p:oleObj spid="_x0000_s31201" name="Equation" r:id="rId7" imgW="4177392" imgH="983195" progId="Equation.DSMT4">
                  <p:embed/>
                </p:oleObj>
              </mc:Choice>
              <mc:Fallback>
                <p:oleObj name="Equation" r:id="rId7" imgW="4177392" imgH="983195" progId="Equation.DSMT4">
                  <p:embed/>
                  <p:pic>
                    <p:nvPicPr>
                      <p:cNvPr id="0" name=""/>
                      <p:cNvPicPr/>
                      <p:nvPr/>
                    </p:nvPicPr>
                    <p:blipFill>
                      <a:blip r:embed="rId8"/>
                      <a:stretch>
                        <a:fillRect/>
                      </a:stretch>
                    </p:blipFill>
                    <p:spPr>
                      <a:xfrm>
                        <a:off x="1432073" y="2276171"/>
                        <a:ext cx="4176713" cy="982663"/>
                      </a:xfrm>
                      <a:prstGeom prst="rect">
                        <a:avLst/>
                      </a:prstGeom>
                    </p:spPr>
                  </p:pic>
                </p:oleObj>
              </mc:Fallback>
            </mc:AlternateContent>
          </a:graphicData>
        </a:graphic>
      </p:graphicFrame>
      <p:graphicFrame>
        <p:nvGraphicFramePr>
          <p:cNvPr id="15" name="对象 14">
            <a:extLst>
              <a:ext uri="{FF2B5EF4-FFF2-40B4-BE49-F238E27FC236}">
                <a16:creationId xmlns:a16="http://schemas.microsoft.com/office/drawing/2014/main" xmlns="" id="{A3750099-422A-D8C3-C235-1918154A4920}"/>
              </a:ext>
            </a:extLst>
          </p:cNvPr>
          <p:cNvGraphicFramePr>
            <a:graphicFrameLocks noChangeAspect="1"/>
          </p:cNvGraphicFramePr>
          <p:nvPr>
            <p:extLst>
              <p:ext uri="{D42A27DB-BD31-4B8C-83A1-F6EECF244321}">
                <p14:modId xmlns:p14="http://schemas.microsoft.com/office/powerpoint/2010/main" val="93463947"/>
              </p:ext>
            </p:extLst>
          </p:nvPr>
        </p:nvGraphicFramePr>
        <p:xfrm>
          <a:off x="1176439" y="3266574"/>
          <a:ext cx="1588860" cy="431470"/>
        </p:xfrm>
        <a:graphic>
          <a:graphicData uri="http://schemas.openxmlformats.org/presentationml/2006/ole">
            <mc:AlternateContent xmlns:mc="http://schemas.openxmlformats.org/markup-compatibility/2006">
              <mc:Choice xmlns:v="urn:schemas-microsoft-com:vml" Requires="v">
                <p:oleObj spid="_x0000_s31202" name="Equation" r:id="rId9" imgW="1729929" imgH="469457" progId="Equation.DSMT4">
                  <p:embed/>
                </p:oleObj>
              </mc:Choice>
              <mc:Fallback>
                <p:oleObj name="Equation" r:id="rId9" imgW="1729929" imgH="469457" progId="Equation.DSMT4">
                  <p:embed/>
                  <p:pic>
                    <p:nvPicPr>
                      <p:cNvPr id="0" name=""/>
                      <p:cNvPicPr/>
                      <p:nvPr/>
                    </p:nvPicPr>
                    <p:blipFill>
                      <a:blip r:embed="rId10"/>
                      <a:stretch>
                        <a:fillRect/>
                      </a:stretch>
                    </p:blipFill>
                    <p:spPr>
                      <a:xfrm>
                        <a:off x="1176439" y="3266574"/>
                        <a:ext cx="1588860" cy="431470"/>
                      </a:xfrm>
                      <a:prstGeom prst="rect">
                        <a:avLst/>
                      </a:prstGeom>
                    </p:spPr>
                  </p:pic>
                </p:oleObj>
              </mc:Fallback>
            </mc:AlternateContent>
          </a:graphicData>
        </a:graphic>
      </p:graphicFrame>
      <p:graphicFrame>
        <p:nvGraphicFramePr>
          <p:cNvPr id="16" name="对象 15">
            <a:extLst>
              <a:ext uri="{FF2B5EF4-FFF2-40B4-BE49-F238E27FC236}">
                <a16:creationId xmlns:a16="http://schemas.microsoft.com/office/drawing/2014/main" xmlns="" id="{A5FEE4DC-CB27-21D9-90F1-B536A5295002}"/>
              </a:ext>
            </a:extLst>
          </p:cNvPr>
          <p:cNvGraphicFramePr>
            <a:graphicFrameLocks noChangeAspect="1"/>
          </p:cNvGraphicFramePr>
          <p:nvPr>
            <p:extLst>
              <p:ext uri="{D42A27DB-BD31-4B8C-83A1-F6EECF244321}">
                <p14:modId xmlns:p14="http://schemas.microsoft.com/office/powerpoint/2010/main" val="2833693278"/>
              </p:ext>
            </p:extLst>
          </p:nvPr>
        </p:nvGraphicFramePr>
        <p:xfrm>
          <a:off x="1252875" y="3693442"/>
          <a:ext cx="5777436" cy="462076"/>
        </p:xfrm>
        <a:graphic>
          <a:graphicData uri="http://schemas.openxmlformats.org/presentationml/2006/ole">
            <mc:AlternateContent xmlns:mc="http://schemas.openxmlformats.org/markup-compatibility/2006">
              <mc:Choice xmlns:v="urn:schemas-microsoft-com:vml" Requires="v">
                <p:oleObj spid="_x0000_s31203" name="Equation" r:id="rId11" imgW="6193542" imgH="495378" progId="Equation.DSMT4">
                  <p:embed/>
                </p:oleObj>
              </mc:Choice>
              <mc:Fallback>
                <p:oleObj name="Equation" r:id="rId11" imgW="6193542" imgH="495378" progId="Equation.DSMT4">
                  <p:embed/>
                  <p:pic>
                    <p:nvPicPr>
                      <p:cNvPr id="0" name=""/>
                      <p:cNvPicPr/>
                      <p:nvPr/>
                    </p:nvPicPr>
                    <p:blipFill>
                      <a:blip r:embed="rId12"/>
                      <a:stretch>
                        <a:fillRect/>
                      </a:stretch>
                    </p:blipFill>
                    <p:spPr>
                      <a:xfrm>
                        <a:off x="1252875" y="3693442"/>
                        <a:ext cx="5777436" cy="462076"/>
                      </a:xfrm>
                      <a:prstGeom prst="rect">
                        <a:avLst/>
                      </a:prstGeom>
                    </p:spPr>
                  </p:pic>
                </p:oleObj>
              </mc:Fallback>
            </mc:AlternateContent>
          </a:graphicData>
        </a:graphic>
      </p:graphicFrame>
      <p:graphicFrame>
        <p:nvGraphicFramePr>
          <p:cNvPr id="17" name="对象 16">
            <a:extLst>
              <a:ext uri="{FF2B5EF4-FFF2-40B4-BE49-F238E27FC236}">
                <a16:creationId xmlns:a16="http://schemas.microsoft.com/office/drawing/2014/main" xmlns="" id="{1673E9D2-7FB7-BBEF-B47D-37D5C2388881}"/>
              </a:ext>
            </a:extLst>
          </p:cNvPr>
          <p:cNvGraphicFramePr>
            <a:graphicFrameLocks noChangeAspect="1"/>
          </p:cNvGraphicFramePr>
          <p:nvPr>
            <p:extLst>
              <p:ext uri="{D42A27DB-BD31-4B8C-83A1-F6EECF244321}">
                <p14:modId xmlns:p14="http://schemas.microsoft.com/office/powerpoint/2010/main" val="3569965814"/>
              </p:ext>
            </p:extLst>
          </p:nvPr>
        </p:nvGraphicFramePr>
        <p:xfrm>
          <a:off x="1236065" y="4044911"/>
          <a:ext cx="4971763" cy="832330"/>
        </p:xfrm>
        <a:graphic>
          <a:graphicData uri="http://schemas.openxmlformats.org/presentationml/2006/ole">
            <mc:AlternateContent xmlns:mc="http://schemas.openxmlformats.org/markup-compatibility/2006">
              <mc:Choice xmlns:v="urn:schemas-microsoft-com:vml" Requires="v">
                <p:oleObj spid="_x0000_s31204" name="Equation" r:id="rId13" imgW="5329478" imgH="891752" progId="Equation.DSMT4">
                  <p:embed/>
                </p:oleObj>
              </mc:Choice>
              <mc:Fallback>
                <p:oleObj name="Equation" r:id="rId13" imgW="5329478" imgH="891752" progId="Equation.DSMT4">
                  <p:embed/>
                  <p:pic>
                    <p:nvPicPr>
                      <p:cNvPr id="0" name=""/>
                      <p:cNvPicPr/>
                      <p:nvPr/>
                    </p:nvPicPr>
                    <p:blipFill>
                      <a:blip r:embed="rId14"/>
                      <a:stretch>
                        <a:fillRect/>
                      </a:stretch>
                    </p:blipFill>
                    <p:spPr>
                      <a:xfrm>
                        <a:off x="1236065" y="4044911"/>
                        <a:ext cx="4971763" cy="832330"/>
                      </a:xfrm>
                      <a:prstGeom prst="rect">
                        <a:avLst/>
                      </a:prstGeom>
                    </p:spPr>
                  </p:pic>
                </p:oleObj>
              </mc:Fallback>
            </mc:AlternateContent>
          </a:graphicData>
        </a:graphic>
      </p:graphicFrame>
      <p:graphicFrame>
        <p:nvGraphicFramePr>
          <p:cNvPr id="18" name="对象 17">
            <a:extLst>
              <a:ext uri="{FF2B5EF4-FFF2-40B4-BE49-F238E27FC236}">
                <a16:creationId xmlns:a16="http://schemas.microsoft.com/office/drawing/2014/main" xmlns="" id="{18C42670-E482-F64F-4A0E-969FFBA26AF9}"/>
              </a:ext>
            </a:extLst>
          </p:cNvPr>
          <p:cNvGraphicFramePr>
            <a:graphicFrameLocks noChangeAspect="1"/>
          </p:cNvGraphicFramePr>
          <p:nvPr>
            <p:extLst>
              <p:ext uri="{D42A27DB-BD31-4B8C-83A1-F6EECF244321}">
                <p14:modId xmlns:p14="http://schemas.microsoft.com/office/powerpoint/2010/main" val="3821918406"/>
              </p:ext>
            </p:extLst>
          </p:nvPr>
        </p:nvGraphicFramePr>
        <p:xfrm>
          <a:off x="1206220" y="4903748"/>
          <a:ext cx="1190916" cy="479573"/>
        </p:xfrm>
        <a:graphic>
          <a:graphicData uri="http://schemas.openxmlformats.org/presentationml/2006/ole">
            <mc:AlternateContent xmlns:mc="http://schemas.openxmlformats.org/markup-compatibility/2006">
              <mc:Choice xmlns:v="urn:schemas-microsoft-com:vml" Requires="v">
                <p:oleObj spid="_x0000_s31205" name="Equation" r:id="rId15" imgW="1297177" imgH="522739" progId="Equation.DSMT4">
                  <p:embed/>
                </p:oleObj>
              </mc:Choice>
              <mc:Fallback>
                <p:oleObj name="Equation" r:id="rId15" imgW="1297177" imgH="522739" progId="Equation.DSMT4">
                  <p:embed/>
                  <p:pic>
                    <p:nvPicPr>
                      <p:cNvPr id="0" name=""/>
                      <p:cNvPicPr/>
                      <p:nvPr/>
                    </p:nvPicPr>
                    <p:blipFill>
                      <a:blip r:embed="rId16"/>
                      <a:stretch>
                        <a:fillRect/>
                      </a:stretch>
                    </p:blipFill>
                    <p:spPr>
                      <a:xfrm>
                        <a:off x="1206220" y="4903748"/>
                        <a:ext cx="1190916" cy="479573"/>
                      </a:xfrm>
                      <a:prstGeom prst="rect">
                        <a:avLst/>
                      </a:prstGeom>
                    </p:spPr>
                  </p:pic>
                </p:oleObj>
              </mc:Fallback>
            </mc:AlternateContent>
          </a:graphicData>
        </a:graphic>
      </p:graphicFrame>
      <p:graphicFrame>
        <p:nvGraphicFramePr>
          <p:cNvPr id="19" name="对象 18">
            <a:extLst>
              <a:ext uri="{FF2B5EF4-FFF2-40B4-BE49-F238E27FC236}">
                <a16:creationId xmlns:a16="http://schemas.microsoft.com/office/drawing/2014/main" xmlns="" id="{90100FB5-A408-7852-0646-AD0778D47B05}"/>
              </a:ext>
            </a:extLst>
          </p:cNvPr>
          <p:cNvGraphicFramePr>
            <a:graphicFrameLocks noChangeAspect="1"/>
          </p:cNvGraphicFramePr>
          <p:nvPr>
            <p:extLst>
              <p:ext uri="{D42A27DB-BD31-4B8C-83A1-F6EECF244321}">
                <p14:modId xmlns:p14="http://schemas.microsoft.com/office/powerpoint/2010/main" val="3815993961"/>
              </p:ext>
            </p:extLst>
          </p:nvPr>
        </p:nvGraphicFramePr>
        <p:xfrm>
          <a:off x="1252875" y="5458575"/>
          <a:ext cx="5976937" cy="492125"/>
        </p:xfrm>
        <a:graphic>
          <a:graphicData uri="http://schemas.openxmlformats.org/presentationml/2006/ole">
            <mc:AlternateContent xmlns:mc="http://schemas.openxmlformats.org/markup-compatibility/2006">
              <mc:Choice xmlns:v="urn:schemas-microsoft-com:vml" Requires="v">
                <p:oleObj spid="_x0000_s31206" name="Equation" r:id="rId17" imgW="5977166" imgH="492498" progId="Equation.DSMT4">
                  <p:embed/>
                </p:oleObj>
              </mc:Choice>
              <mc:Fallback>
                <p:oleObj name="Equation" r:id="rId17" imgW="5977166" imgH="492498" progId="Equation.DSMT4">
                  <p:embed/>
                  <p:pic>
                    <p:nvPicPr>
                      <p:cNvPr id="0" name=""/>
                      <p:cNvPicPr/>
                      <p:nvPr/>
                    </p:nvPicPr>
                    <p:blipFill>
                      <a:blip r:embed="rId18"/>
                      <a:stretch>
                        <a:fillRect/>
                      </a:stretch>
                    </p:blipFill>
                    <p:spPr>
                      <a:xfrm>
                        <a:off x="1252875" y="5458575"/>
                        <a:ext cx="5976937" cy="492125"/>
                      </a:xfrm>
                      <a:prstGeom prst="rect">
                        <a:avLst/>
                      </a:prstGeom>
                    </p:spPr>
                  </p:pic>
                </p:oleObj>
              </mc:Fallback>
            </mc:AlternateContent>
          </a:graphicData>
        </a:graphic>
      </p:graphicFrame>
      <p:graphicFrame>
        <p:nvGraphicFramePr>
          <p:cNvPr id="20" name="对象 19">
            <a:extLst>
              <a:ext uri="{FF2B5EF4-FFF2-40B4-BE49-F238E27FC236}">
                <a16:creationId xmlns:a16="http://schemas.microsoft.com/office/drawing/2014/main" xmlns="" id="{60D58552-F3F1-3F4A-E479-6F006B89B6E8}"/>
              </a:ext>
            </a:extLst>
          </p:cNvPr>
          <p:cNvGraphicFramePr>
            <a:graphicFrameLocks noChangeAspect="1"/>
          </p:cNvGraphicFramePr>
          <p:nvPr>
            <p:extLst>
              <p:ext uri="{D42A27DB-BD31-4B8C-83A1-F6EECF244321}">
                <p14:modId xmlns:p14="http://schemas.microsoft.com/office/powerpoint/2010/main" val="3547680648"/>
              </p:ext>
            </p:extLst>
          </p:nvPr>
        </p:nvGraphicFramePr>
        <p:xfrm>
          <a:off x="1542152" y="5926400"/>
          <a:ext cx="5198882" cy="438108"/>
        </p:xfrm>
        <a:graphic>
          <a:graphicData uri="http://schemas.openxmlformats.org/presentationml/2006/ole">
            <mc:AlternateContent xmlns:mc="http://schemas.openxmlformats.org/markup-compatibility/2006">
              <mc:Choice xmlns:v="urn:schemas-microsoft-com:vml" Requires="v">
                <p:oleObj spid="_x0000_s31207" name="Equation" r:id="rId19" imgW="4520880" imgH="380880" progId="Equation.DSMT4">
                  <p:embed/>
                </p:oleObj>
              </mc:Choice>
              <mc:Fallback>
                <p:oleObj name="Equation" r:id="rId19" imgW="4520880" imgH="380880" progId="Equation.DSMT4">
                  <p:embed/>
                  <p:pic>
                    <p:nvPicPr>
                      <p:cNvPr id="0" name=""/>
                      <p:cNvPicPr/>
                      <p:nvPr/>
                    </p:nvPicPr>
                    <p:blipFill>
                      <a:blip r:embed="rId20"/>
                      <a:stretch>
                        <a:fillRect/>
                      </a:stretch>
                    </p:blipFill>
                    <p:spPr>
                      <a:xfrm>
                        <a:off x="1542152" y="5926400"/>
                        <a:ext cx="5198882" cy="438108"/>
                      </a:xfrm>
                      <a:prstGeom prst="rect">
                        <a:avLst/>
                      </a:prstGeom>
                    </p:spPr>
                  </p:pic>
                </p:oleObj>
              </mc:Fallback>
            </mc:AlternateContent>
          </a:graphicData>
        </a:graphic>
      </p:graphicFrame>
      <p:pic>
        <p:nvPicPr>
          <p:cNvPr id="21" name="图片 607243" descr="AA)">
            <a:extLst>
              <a:ext uri="{FF2B5EF4-FFF2-40B4-BE49-F238E27FC236}">
                <a16:creationId xmlns:a16="http://schemas.microsoft.com/office/drawing/2014/main" xmlns="" id="{3EF8371B-B79A-90BD-117F-2DD3C9DDA1AE}"/>
              </a:ext>
            </a:extLst>
          </p:cNvPr>
          <p:cNvPicPr>
            <a:picLocks noChangeAspect="1"/>
          </p:cNvPicPr>
          <p:nvPr/>
        </p:nvPicPr>
        <p:blipFill>
          <a:blip r:embed="rId21"/>
          <a:stretch>
            <a:fillRect/>
          </a:stretch>
        </p:blipFill>
        <p:spPr>
          <a:xfrm>
            <a:off x="6570897" y="2107768"/>
            <a:ext cx="2376487" cy="1296987"/>
          </a:xfrm>
          <a:prstGeom prst="rect">
            <a:avLst/>
          </a:prstGeom>
          <a:noFill/>
          <a:ln w="9525">
            <a:noFill/>
          </a:ln>
        </p:spPr>
      </p:pic>
    </p:spTree>
    <p:extLst>
      <p:ext uri="{BB962C8B-B14F-4D97-AF65-F5344CB8AC3E}">
        <p14:creationId xmlns:p14="http://schemas.microsoft.com/office/powerpoint/2010/main" val="115609804"/>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52</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2.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高频</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基础</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电路</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内容占位符 7170">
            <a:extLst>
              <a:ext uri="{FF2B5EF4-FFF2-40B4-BE49-F238E27FC236}">
                <a16:creationId xmlns:a16="http://schemas.microsoft.com/office/drawing/2014/main" xmlns="" id="{A81D1D35-8E00-F864-6AF5-19AD312A9E48}"/>
              </a:ext>
            </a:extLst>
          </p:cNvPr>
          <p:cNvSpPr/>
          <p:nvPr/>
        </p:nvSpPr>
        <p:spPr>
          <a:xfrm>
            <a:off x="539552" y="1412775"/>
            <a:ext cx="8353425" cy="3672409"/>
          </a:xfrm>
          <a:prstGeom prst="rect">
            <a:avLst/>
          </a:prstGeom>
          <a:noFill/>
          <a:ln w="9525">
            <a:noFill/>
          </a:ln>
        </p:spPr>
        <p:txBody>
          <a:bodyPr/>
          <a:lstStyle/>
          <a:p>
            <a:pPr>
              <a:lnSpc>
                <a:spcPct val="120000"/>
              </a:lnSpc>
              <a:spcBef>
                <a:spcPts val="1200"/>
              </a:spcBef>
              <a:spcAft>
                <a:spcPts val="1200"/>
              </a:spcAft>
              <a:buClr>
                <a:schemeClr val="folHlink"/>
              </a:buClr>
              <a:buSzPct val="60000"/>
              <a:defRPr/>
            </a:pPr>
            <a:endParaRPr lang="zh-CN" altLang="en-US" dirty="0">
              <a:ln w="0"/>
              <a:effectLst>
                <a:glow rad="63500">
                  <a:schemeClr val="accent3">
                    <a:satMod val="175000"/>
                    <a:alpha val="40000"/>
                  </a:schemeClr>
                </a:glow>
              </a:effectLst>
              <a:latin typeface="+mn-ea"/>
              <a:ea typeface="+mn-ea"/>
              <a:cs typeface="Times New Roman" panose="02020603050405020304" pitchFamily="18" charset="0"/>
            </a:endParaRPr>
          </a:p>
        </p:txBody>
      </p:sp>
      <p:sp>
        <p:nvSpPr>
          <p:cNvPr id="6" name="文本框 5">
            <a:extLst>
              <a:ext uri="{FF2B5EF4-FFF2-40B4-BE49-F238E27FC236}">
                <a16:creationId xmlns:a16="http://schemas.microsoft.com/office/drawing/2014/main" xmlns="" id="{F643C260-49E5-D642-2B6A-D8FA0708A909}"/>
              </a:ext>
            </a:extLst>
          </p:cNvPr>
          <p:cNvSpPr txBox="1"/>
          <p:nvPr/>
        </p:nvSpPr>
        <p:spPr>
          <a:xfrm>
            <a:off x="1" y="1355328"/>
            <a:ext cx="9144000" cy="400110"/>
          </a:xfrm>
          <a:prstGeom prst="rect">
            <a:avLst/>
          </a:prstGeom>
          <a:noFill/>
        </p:spPr>
        <p:txBody>
          <a:bodyPr wrap="square" rtlCol="0">
            <a:spAutoFit/>
          </a:bodyPr>
          <a:lstStyle/>
          <a:p>
            <a:pPr algn="ctr"/>
            <a:r>
              <a:rPr lang="el-GR" altLang="zh-CN" sz="2000" b="1" dirty="0" smtClean="0">
                <a:latin typeface="Times New Roman" panose="02020603050405020304" pitchFamily="18" charset="0"/>
                <a:cs typeface="Times New Roman" panose="02020603050405020304" pitchFamily="18" charset="0"/>
              </a:rPr>
              <a:t>π</a:t>
            </a:r>
            <a:r>
              <a:rPr lang="zh-CN" altLang="en-US" sz="2000" b="1" dirty="0">
                <a:latin typeface="Times New Roman" panose="02020603050405020304" pitchFamily="18" charset="0"/>
                <a:cs typeface="Times New Roman" panose="02020603050405020304" pitchFamily="18" charset="0"/>
              </a:rPr>
              <a:t>型匹配网络</a:t>
            </a:r>
          </a:p>
        </p:txBody>
      </p:sp>
      <p:sp>
        <p:nvSpPr>
          <p:cNvPr id="7" name="文本框 6">
            <a:extLst>
              <a:ext uri="{FF2B5EF4-FFF2-40B4-BE49-F238E27FC236}">
                <a16:creationId xmlns:a16="http://schemas.microsoft.com/office/drawing/2014/main" xmlns="" id="{7DD60B61-A5CC-B622-CD4D-AE0D40D5E235}"/>
              </a:ext>
            </a:extLst>
          </p:cNvPr>
          <p:cNvSpPr txBox="1"/>
          <p:nvPr/>
        </p:nvSpPr>
        <p:spPr>
          <a:xfrm>
            <a:off x="250157" y="3703757"/>
            <a:ext cx="6769298" cy="400110"/>
          </a:xfrm>
          <a:prstGeom prst="rect">
            <a:avLst/>
          </a:prstGeom>
          <a:noFill/>
        </p:spPr>
        <p:txBody>
          <a:bodyPr wrap="square" rtlCol="0">
            <a:spAutoFit/>
          </a:bodyPr>
          <a:lstStyle/>
          <a:p>
            <a:pPr eaLnBrk="1" hangingPunct="1"/>
            <a:r>
              <a:rPr lang="zh-CN" altLang="en-US" sz="2000" dirty="0">
                <a:solidFill>
                  <a:srgbClr val="FF0000"/>
                </a:solidFill>
                <a:latin typeface="Times New Roman" panose="02020603050405020304" pitchFamily="18" charset="0"/>
                <a:ea typeface="+mn-ea"/>
              </a:rPr>
              <a:t>一个</a:t>
            </a:r>
            <a:r>
              <a:rPr lang="en-US" altLang="zh-CN" sz="2000" dirty="0">
                <a:solidFill>
                  <a:srgbClr val="FF0000"/>
                </a:solidFill>
                <a:latin typeface="Times New Roman" panose="02020603050405020304" pitchFamily="18" charset="0"/>
                <a:ea typeface="+mn-ea"/>
              </a:rPr>
              <a:t>π</a:t>
            </a:r>
            <a:r>
              <a:rPr lang="zh-CN" altLang="en-US" sz="2000" dirty="0">
                <a:solidFill>
                  <a:srgbClr val="FF0000"/>
                </a:solidFill>
                <a:latin typeface="Times New Roman" panose="02020603050405020304" pitchFamily="18" charset="0"/>
                <a:ea typeface="+mn-ea"/>
              </a:rPr>
              <a:t>型匹配网络可将</a:t>
            </a:r>
            <a:r>
              <a:rPr lang="en-US" altLang="zh-CN" sz="2000" dirty="0">
                <a:solidFill>
                  <a:srgbClr val="FF0000"/>
                </a:solidFill>
                <a:latin typeface="Times New Roman" panose="02020603050405020304" pitchFamily="18" charset="0"/>
                <a:ea typeface="+mn-ea"/>
              </a:rPr>
              <a:t>X</a:t>
            </a:r>
            <a:r>
              <a:rPr lang="en-US" altLang="zh-CN" sz="2000" baseline="-25000" dirty="0">
                <a:solidFill>
                  <a:srgbClr val="FF0000"/>
                </a:solidFill>
                <a:latin typeface="Times New Roman" panose="02020603050405020304" pitchFamily="18" charset="0"/>
                <a:ea typeface="+mn-ea"/>
              </a:rPr>
              <a:t>S</a:t>
            </a:r>
            <a:r>
              <a:rPr lang="zh-CN" altLang="en-US" sz="2000" dirty="0">
                <a:solidFill>
                  <a:srgbClr val="FF0000"/>
                </a:solidFill>
                <a:latin typeface="Times New Roman" panose="02020603050405020304" pitchFamily="18" charset="0"/>
                <a:ea typeface="+mn-ea"/>
              </a:rPr>
              <a:t>分成两部分</a:t>
            </a:r>
          </a:p>
        </p:txBody>
      </p:sp>
      <p:sp>
        <p:nvSpPr>
          <p:cNvPr id="8" name="文本框 7">
            <a:extLst>
              <a:ext uri="{FF2B5EF4-FFF2-40B4-BE49-F238E27FC236}">
                <a16:creationId xmlns:a16="http://schemas.microsoft.com/office/drawing/2014/main" xmlns="" id="{01E96809-849F-BA20-B6A9-090C600E536D}"/>
              </a:ext>
            </a:extLst>
          </p:cNvPr>
          <p:cNvSpPr txBox="1"/>
          <p:nvPr/>
        </p:nvSpPr>
        <p:spPr>
          <a:xfrm>
            <a:off x="250156" y="5494697"/>
            <a:ext cx="8514015" cy="400110"/>
          </a:xfrm>
          <a:prstGeom prst="rect">
            <a:avLst/>
          </a:prstGeom>
          <a:noFill/>
        </p:spPr>
        <p:txBody>
          <a:bodyPr wrap="square" rtlCol="0">
            <a:spAutoFit/>
          </a:bodyPr>
          <a:lstStyle/>
          <a:p>
            <a:pPr eaLnBrk="1" hangingPunct="1"/>
            <a:r>
              <a:rPr lang="zh-CN" altLang="en-US" sz="2000" dirty="0">
                <a:latin typeface="Times New Roman" panose="02020603050405020304" pitchFamily="18" charset="0"/>
                <a:ea typeface="+mn-ea"/>
              </a:rPr>
              <a:t>只要满足这两个中间电阻相等</a:t>
            </a:r>
            <a:r>
              <a:rPr lang="en-US" altLang="zh-CN" sz="2000" dirty="0">
                <a:latin typeface="Times New Roman" panose="02020603050405020304" pitchFamily="18" charset="0"/>
                <a:ea typeface="+mn-ea"/>
              </a:rPr>
              <a:t>, </a:t>
            </a:r>
            <a:r>
              <a:rPr lang="zh-CN" altLang="en-US" sz="2000" dirty="0">
                <a:latin typeface="Times New Roman" panose="02020603050405020304" pitchFamily="18" charset="0"/>
                <a:ea typeface="+mn-ea"/>
              </a:rPr>
              <a:t>此</a:t>
            </a:r>
            <a:r>
              <a:rPr lang="en-US" altLang="zh-CN" sz="2000" dirty="0">
                <a:latin typeface="Times New Roman" panose="02020603050405020304" pitchFamily="18" charset="0"/>
                <a:ea typeface="+mn-ea"/>
              </a:rPr>
              <a:t>π</a:t>
            </a:r>
            <a:r>
              <a:rPr lang="zh-CN" altLang="en-US" sz="2000" dirty="0">
                <a:latin typeface="Times New Roman" panose="02020603050405020304" pitchFamily="18" charset="0"/>
                <a:ea typeface="+mn-ea"/>
              </a:rPr>
              <a:t>型网络就能完成</a:t>
            </a:r>
            <a:r>
              <a:rPr lang="en-US" altLang="zh-CN" sz="2000" dirty="0">
                <a:latin typeface="Times New Roman" panose="02020603050405020304" pitchFamily="18" charset="0"/>
                <a:ea typeface="+mn-ea"/>
              </a:rPr>
              <a:t>R</a:t>
            </a:r>
            <a:r>
              <a:rPr lang="en-US" altLang="zh-CN" sz="2000" baseline="-25000" dirty="0">
                <a:latin typeface="Times New Roman" panose="02020603050405020304" pitchFamily="18" charset="0"/>
                <a:ea typeface="+mn-ea"/>
              </a:rPr>
              <a:t>1</a:t>
            </a:r>
            <a:r>
              <a:rPr lang="zh-CN" altLang="en-US" sz="2000" dirty="0">
                <a:latin typeface="Times New Roman" panose="02020603050405020304" pitchFamily="18" charset="0"/>
                <a:ea typeface="+mn-ea"/>
              </a:rPr>
              <a:t>和</a:t>
            </a:r>
            <a:r>
              <a:rPr lang="en-US" altLang="zh-CN" sz="2000" dirty="0">
                <a:latin typeface="Times New Roman" panose="02020603050405020304" pitchFamily="18" charset="0"/>
                <a:ea typeface="+mn-ea"/>
              </a:rPr>
              <a:t>R</a:t>
            </a:r>
            <a:r>
              <a:rPr lang="en-US" altLang="zh-CN" sz="2000" baseline="-25000" dirty="0">
                <a:latin typeface="Times New Roman" panose="02020603050405020304" pitchFamily="18" charset="0"/>
                <a:ea typeface="+mn-ea"/>
              </a:rPr>
              <a:t>2</a:t>
            </a:r>
            <a:r>
              <a:rPr lang="zh-CN" altLang="en-US" sz="2000" dirty="0">
                <a:latin typeface="Times New Roman" panose="02020603050405020304" pitchFamily="18" charset="0"/>
                <a:ea typeface="+mn-ea"/>
              </a:rPr>
              <a:t>之间的阻抗变换。</a:t>
            </a:r>
          </a:p>
        </p:txBody>
      </p:sp>
      <p:pic>
        <p:nvPicPr>
          <p:cNvPr id="9" name="图片 458755" descr="图444">
            <a:extLst>
              <a:ext uri="{FF2B5EF4-FFF2-40B4-BE49-F238E27FC236}">
                <a16:creationId xmlns:a16="http://schemas.microsoft.com/office/drawing/2014/main" xmlns="" id="{CC0ADD61-5562-76BD-DBE0-87A8E9A63D8B}"/>
              </a:ext>
            </a:extLst>
          </p:cNvPr>
          <p:cNvPicPr>
            <a:picLocks noChangeAspect="1"/>
          </p:cNvPicPr>
          <p:nvPr/>
        </p:nvPicPr>
        <p:blipFill>
          <a:blip r:embed="rId3"/>
          <a:stretch>
            <a:fillRect/>
          </a:stretch>
        </p:blipFill>
        <p:spPr>
          <a:xfrm>
            <a:off x="1151731" y="1737683"/>
            <a:ext cx="6840537" cy="1877662"/>
          </a:xfrm>
          <a:prstGeom prst="rect">
            <a:avLst/>
          </a:prstGeom>
          <a:noFill/>
          <a:ln w="9525">
            <a:noFill/>
          </a:ln>
        </p:spPr>
      </p:pic>
      <p:sp>
        <p:nvSpPr>
          <p:cNvPr id="10" name="下弧形箭头 458780">
            <a:extLst>
              <a:ext uri="{FF2B5EF4-FFF2-40B4-BE49-F238E27FC236}">
                <a16:creationId xmlns:a16="http://schemas.microsoft.com/office/drawing/2014/main" xmlns="" id="{CC150A98-A09E-4339-5CEF-5A9216E8908C}"/>
              </a:ext>
            </a:extLst>
          </p:cNvPr>
          <p:cNvSpPr/>
          <p:nvPr/>
        </p:nvSpPr>
        <p:spPr>
          <a:xfrm>
            <a:off x="3672681" y="3385212"/>
            <a:ext cx="1079500" cy="215900"/>
          </a:xfrm>
          <a:prstGeom prst="curvedUpArrow">
            <a:avLst>
              <a:gd name="adj1" fmla="val 100000"/>
              <a:gd name="adj2" fmla="val 200000"/>
              <a:gd name="adj3" fmla="val 33328"/>
            </a:avLst>
          </a:prstGeom>
          <a:gradFill rotWithShape="0">
            <a:gsLst>
              <a:gs pos="0">
                <a:schemeClr val="accent1"/>
              </a:gs>
              <a:gs pos="100000">
                <a:schemeClr val="bg1"/>
              </a:gs>
            </a:gsLst>
            <a:lin ang="0" scaled="1"/>
            <a:tileRect/>
          </a:gradFill>
          <a:ln w="9525" cap="flat" cmpd="sng">
            <a:solidFill>
              <a:schemeClr val="tx1"/>
            </a:solidFill>
            <a:prstDash val="solid"/>
            <a:miter/>
            <a:headEnd type="none" w="sm" len="sm"/>
            <a:tailEnd type="none" w="sm" len="sm"/>
          </a:ln>
        </p:spPr>
        <p:txBody>
          <a:bodyPr/>
          <a:lstStyle/>
          <a:p>
            <a:endParaRPr lang="zh-CN" altLang="en-US" dirty="0">
              <a:latin typeface="楷体_GB2312" panose="02010609030101010101" pitchFamily="49" charset="-122"/>
            </a:endParaRPr>
          </a:p>
        </p:txBody>
      </p:sp>
      <p:sp>
        <p:nvSpPr>
          <p:cNvPr id="11" name="文本框 10">
            <a:extLst>
              <a:ext uri="{FF2B5EF4-FFF2-40B4-BE49-F238E27FC236}">
                <a16:creationId xmlns:a16="http://schemas.microsoft.com/office/drawing/2014/main" xmlns="" id="{67E6E518-3574-DF84-8C0B-70B074DD5498}"/>
              </a:ext>
            </a:extLst>
          </p:cNvPr>
          <p:cNvSpPr txBox="1"/>
          <p:nvPr/>
        </p:nvSpPr>
        <p:spPr>
          <a:xfrm>
            <a:off x="250157" y="4129952"/>
            <a:ext cx="6769298" cy="400110"/>
          </a:xfrm>
          <a:prstGeom prst="rect">
            <a:avLst/>
          </a:prstGeom>
          <a:noFill/>
        </p:spPr>
        <p:txBody>
          <a:bodyPr wrap="square" rtlCol="0">
            <a:spAutoFit/>
          </a:bodyPr>
          <a:lstStyle/>
          <a:p>
            <a:pPr eaLnBrk="1" hangingPunct="1"/>
            <a:r>
              <a:rPr lang="en-US" altLang="zh-CN" sz="2000" dirty="0">
                <a:latin typeface="Times New Roman" panose="02020603050405020304" pitchFamily="18" charset="0"/>
                <a:ea typeface="+mn-ea"/>
              </a:rPr>
              <a:t>π</a:t>
            </a:r>
            <a:r>
              <a:rPr lang="zh-CN" altLang="en-US" sz="2000" dirty="0">
                <a:latin typeface="Times New Roman" panose="02020603050405020304" pitchFamily="18" charset="0"/>
                <a:ea typeface="+mn-ea"/>
              </a:rPr>
              <a:t>型网络就变成了两个</a:t>
            </a:r>
            <a:r>
              <a:rPr lang="en-US" altLang="zh-CN" sz="2000" dirty="0">
                <a:latin typeface="Times New Roman" panose="02020603050405020304" pitchFamily="18" charset="0"/>
                <a:ea typeface="+mn-ea"/>
              </a:rPr>
              <a:t>L</a:t>
            </a:r>
            <a:r>
              <a:rPr lang="zh-CN" altLang="en-US" sz="2000" dirty="0">
                <a:latin typeface="Times New Roman" panose="02020603050405020304" pitchFamily="18" charset="0"/>
                <a:ea typeface="+mn-ea"/>
              </a:rPr>
              <a:t>型网络</a:t>
            </a:r>
            <a:r>
              <a:rPr lang="en-US" altLang="zh-CN" sz="2000" dirty="0">
                <a:latin typeface="Times New Roman" panose="02020603050405020304" pitchFamily="18" charset="0"/>
                <a:ea typeface="+mn-ea"/>
              </a:rPr>
              <a:t>,</a:t>
            </a:r>
          </a:p>
        </p:txBody>
      </p:sp>
      <p:sp>
        <p:nvSpPr>
          <p:cNvPr id="12" name="文本框 11">
            <a:extLst>
              <a:ext uri="{FF2B5EF4-FFF2-40B4-BE49-F238E27FC236}">
                <a16:creationId xmlns:a16="http://schemas.microsoft.com/office/drawing/2014/main" xmlns="" id="{BB0A47A5-15AB-3391-3864-A4EAB0CBC296}"/>
              </a:ext>
            </a:extLst>
          </p:cNvPr>
          <p:cNvSpPr txBox="1"/>
          <p:nvPr/>
        </p:nvSpPr>
        <p:spPr>
          <a:xfrm>
            <a:off x="250157" y="4609916"/>
            <a:ext cx="8712770" cy="400110"/>
          </a:xfrm>
          <a:prstGeom prst="rect">
            <a:avLst/>
          </a:prstGeom>
          <a:noFill/>
        </p:spPr>
        <p:txBody>
          <a:bodyPr wrap="square" rtlCol="0">
            <a:spAutoFit/>
          </a:bodyPr>
          <a:lstStyle/>
          <a:p>
            <a:pPr eaLnBrk="1" hangingPunct="1">
              <a:buNone/>
            </a:pPr>
            <a:r>
              <a:rPr lang="en-US" altLang="zh-CN" sz="2000" dirty="0">
                <a:solidFill>
                  <a:srgbClr val="FF0000"/>
                </a:solidFill>
                <a:latin typeface="Times New Roman" panose="02020603050405020304" pitchFamily="18" charset="0"/>
                <a:ea typeface="+mn-ea"/>
              </a:rPr>
              <a:t>①</a:t>
            </a:r>
            <a:r>
              <a:rPr lang="zh-CN" altLang="en-US" sz="2000" dirty="0">
                <a:solidFill>
                  <a:srgbClr val="FF0000"/>
                </a:solidFill>
                <a:latin typeface="Times New Roman" panose="02020603050405020304" pitchFamily="18" charset="0"/>
                <a:ea typeface="+mn-ea"/>
              </a:rPr>
              <a:t>负载电阻</a:t>
            </a:r>
            <a:r>
              <a:rPr lang="en-US" altLang="zh-CN" sz="2000" i="1" dirty="0">
                <a:solidFill>
                  <a:srgbClr val="FF0000"/>
                </a:solidFill>
                <a:latin typeface="Times New Roman" panose="02020603050405020304" pitchFamily="18" charset="0"/>
                <a:ea typeface="+mn-ea"/>
              </a:rPr>
              <a:t>R</a:t>
            </a:r>
            <a:r>
              <a:rPr lang="en-US" altLang="zh-CN" sz="2000" baseline="-25000" dirty="0">
                <a:solidFill>
                  <a:srgbClr val="FF0000"/>
                </a:solidFill>
                <a:latin typeface="Times New Roman" panose="02020603050405020304" pitchFamily="18" charset="0"/>
                <a:ea typeface="+mn-ea"/>
              </a:rPr>
              <a:t>2</a:t>
            </a:r>
            <a:r>
              <a:rPr lang="zh-CN" altLang="en-US" sz="2000" dirty="0">
                <a:solidFill>
                  <a:srgbClr val="FF0000"/>
                </a:solidFill>
                <a:latin typeface="Times New Roman" panose="02020603050405020304" pitchFamily="18" charset="0"/>
                <a:ea typeface="+mn-ea"/>
              </a:rPr>
              <a:t>经</a:t>
            </a:r>
            <a:r>
              <a:rPr lang="en-US" altLang="zh-CN" sz="2000" i="1" dirty="0">
                <a:solidFill>
                  <a:srgbClr val="FF0000"/>
                </a:solidFill>
                <a:latin typeface="Times New Roman" panose="02020603050405020304" pitchFamily="18" charset="0"/>
                <a:ea typeface="+mn-ea"/>
              </a:rPr>
              <a:t>X</a:t>
            </a:r>
            <a:r>
              <a:rPr lang="en-US" altLang="zh-CN" sz="2000" baseline="-25000" dirty="0">
                <a:solidFill>
                  <a:srgbClr val="FF0000"/>
                </a:solidFill>
                <a:latin typeface="Times New Roman" panose="02020603050405020304" pitchFamily="18" charset="0"/>
                <a:ea typeface="+mn-ea"/>
              </a:rPr>
              <a:t>P2</a:t>
            </a:r>
            <a:r>
              <a:rPr lang="zh-CN" altLang="en-US" sz="2000" dirty="0">
                <a:solidFill>
                  <a:srgbClr val="FF0000"/>
                </a:solidFill>
                <a:latin typeface="Times New Roman" panose="02020603050405020304" pitchFamily="18" charset="0"/>
                <a:ea typeface="+mn-ea"/>
              </a:rPr>
              <a:t>和 </a:t>
            </a:r>
            <a:r>
              <a:rPr lang="en-US" altLang="zh-CN" sz="2000" i="1" dirty="0">
                <a:solidFill>
                  <a:srgbClr val="FF0000"/>
                </a:solidFill>
                <a:latin typeface="Times New Roman" panose="02020603050405020304" pitchFamily="18" charset="0"/>
                <a:ea typeface="+mn-ea"/>
              </a:rPr>
              <a:t>X</a:t>
            </a:r>
            <a:r>
              <a:rPr lang="en-US" altLang="zh-CN" sz="2000" baseline="-25000" dirty="0">
                <a:solidFill>
                  <a:srgbClr val="FF0000"/>
                </a:solidFill>
                <a:latin typeface="Times New Roman" panose="02020603050405020304" pitchFamily="18" charset="0"/>
                <a:ea typeface="+mn-ea"/>
              </a:rPr>
              <a:t>S2</a:t>
            </a:r>
            <a:r>
              <a:rPr lang="zh-CN" altLang="en-US" sz="2000" dirty="0">
                <a:solidFill>
                  <a:srgbClr val="FF0000"/>
                </a:solidFill>
                <a:latin typeface="Times New Roman" panose="02020603050405020304" pitchFamily="18" charset="0"/>
                <a:ea typeface="+mn-ea"/>
              </a:rPr>
              <a:t>向左变换为中间假想电阻</a:t>
            </a:r>
            <a:r>
              <a:rPr lang="en-US" altLang="zh-CN" sz="2000" i="1" dirty="0" err="1">
                <a:solidFill>
                  <a:srgbClr val="FF0000"/>
                </a:solidFill>
                <a:latin typeface="Times New Roman" panose="02020603050405020304" pitchFamily="18" charset="0"/>
                <a:ea typeface="+mn-ea"/>
              </a:rPr>
              <a:t>R</a:t>
            </a:r>
            <a:r>
              <a:rPr lang="en-US" altLang="zh-CN" sz="2000" baseline="-25000" dirty="0" err="1">
                <a:solidFill>
                  <a:srgbClr val="FF0000"/>
                </a:solidFill>
                <a:latin typeface="Times New Roman" panose="02020603050405020304" pitchFamily="18" charset="0"/>
                <a:ea typeface="+mn-ea"/>
              </a:rPr>
              <a:t>inter</a:t>
            </a:r>
            <a:r>
              <a:rPr lang="en-US" altLang="zh-CN" sz="2000" dirty="0">
                <a:solidFill>
                  <a:srgbClr val="FF0000"/>
                </a:solidFill>
                <a:latin typeface="Times New Roman" panose="02020603050405020304" pitchFamily="18" charset="0"/>
                <a:ea typeface="+mn-ea"/>
              </a:rPr>
              <a:t>, </a:t>
            </a:r>
            <a:r>
              <a:rPr lang="zh-CN" altLang="en-US" sz="2000" dirty="0">
                <a:solidFill>
                  <a:srgbClr val="FF0000"/>
                </a:solidFill>
                <a:latin typeface="Times New Roman" panose="02020603050405020304" pitchFamily="18" charset="0"/>
                <a:ea typeface="+mn-ea"/>
              </a:rPr>
              <a:t>必满足</a:t>
            </a:r>
            <a:r>
              <a:rPr lang="en-US" altLang="zh-CN" sz="2000" i="1" dirty="0" err="1">
                <a:solidFill>
                  <a:srgbClr val="FF0000"/>
                </a:solidFill>
                <a:latin typeface="Times New Roman" panose="02020603050405020304" pitchFamily="18" charset="0"/>
                <a:ea typeface="+mn-ea"/>
              </a:rPr>
              <a:t>R</a:t>
            </a:r>
            <a:r>
              <a:rPr lang="en-US" altLang="zh-CN" sz="2000" baseline="-25000" dirty="0" err="1">
                <a:solidFill>
                  <a:srgbClr val="FF0000"/>
                </a:solidFill>
                <a:latin typeface="Times New Roman" panose="02020603050405020304" pitchFamily="18" charset="0"/>
                <a:ea typeface="+mn-ea"/>
              </a:rPr>
              <a:t>inter</a:t>
            </a:r>
            <a:r>
              <a:rPr lang="en-US" altLang="zh-CN" sz="2000" dirty="0">
                <a:solidFill>
                  <a:srgbClr val="FF0000"/>
                </a:solidFill>
                <a:latin typeface="Times New Roman" panose="02020603050405020304" pitchFamily="18" charset="0"/>
                <a:ea typeface="+mn-ea"/>
              </a:rPr>
              <a:t>&lt;</a:t>
            </a:r>
            <a:r>
              <a:rPr lang="en-US" altLang="zh-CN" sz="2000" i="1" dirty="0">
                <a:solidFill>
                  <a:srgbClr val="FF0000"/>
                </a:solidFill>
                <a:latin typeface="Times New Roman" panose="02020603050405020304" pitchFamily="18" charset="0"/>
                <a:ea typeface="+mn-ea"/>
              </a:rPr>
              <a:t>R</a:t>
            </a:r>
            <a:r>
              <a:rPr lang="en-US" altLang="zh-CN" sz="2000" baseline="-25000" dirty="0">
                <a:solidFill>
                  <a:srgbClr val="FF0000"/>
                </a:solidFill>
                <a:latin typeface="Times New Roman" panose="02020603050405020304" pitchFamily="18" charset="0"/>
                <a:ea typeface="+mn-ea"/>
              </a:rPr>
              <a:t>2</a:t>
            </a:r>
            <a:r>
              <a:rPr lang="zh-CN" altLang="en-US" sz="2000" baseline="-25000" dirty="0">
                <a:solidFill>
                  <a:srgbClr val="FF0000"/>
                </a:solidFill>
                <a:latin typeface="Times New Roman" panose="02020603050405020304" pitchFamily="18" charset="0"/>
                <a:ea typeface="+mn-ea"/>
              </a:rPr>
              <a:t>。</a:t>
            </a:r>
            <a:endParaRPr lang="zh-CN" altLang="en-US" sz="2000" b="1" dirty="0">
              <a:solidFill>
                <a:srgbClr val="FF0000"/>
              </a:solidFill>
              <a:latin typeface="Times New Roman" panose="02020603050405020304" pitchFamily="18" charset="0"/>
              <a:ea typeface="楷体_GB2312" panose="02010609030101010101" pitchFamily="49" charset="-122"/>
            </a:endParaRPr>
          </a:p>
        </p:txBody>
      </p:sp>
      <p:sp>
        <p:nvSpPr>
          <p:cNvPr id="13" name="文本框 12">
            <a:extLst>
              <a:ext uri="{FF2B5EF4-FFF2-40B4-BE49-F238E27FC236}">
                <a16:creationId xmlns:a16="http://schemas.microsoft.com/office/drawing/2014/main" xmlns="" id="{CC703A02-BB41-999A-2465-C352D25BC08E}"/>
              </a:ext>
            </a:extLst>
          </p:cNvPr>
          <p:cNvSpPr txBox="1"/>
          <p:nvPr/>
        </p:nvSpPr>
        <p:spPr>
          <a:xfrm>
            <a:off x="250157" y="5010026"/>
            <a:ext cx="8360264" cy="400110"/>
          </a:xfrm>
          <a:prstGeom prst="rect">
            <a:avLst/>
          </a:prstGeom>
          <a:noFill/>
        </p:spPr>
        <p:txBody>
          <a:bodyPr wrap="square" rtlCol="0">
            <a:spAutoFit/>
          </a:bodyPr>
          <a:lstStyle/>
          <a:p>
            <a:pPr eaLnBrk="1" hangingPunct="1"/>
            <a:r>
              <a:rPr lang="zh-CN" altLang="en-US" sz="2000" dirty="0">
                <a:solidFill>
                  <a:srgbClr val="FF0000"/>
                </a:solidFill>
                <a:latin typeface="+mn-ea"/>
                <a:ea typeface="+mn-ea"/>
              </a:rPr>
              <a:t>②</a:t>
            </a:r>
            <a:r>
              <a:rPr lang="zh-CN" altLang="en-US" sz="2000" dirty="0">
                <a:solidFill>
                  <a:srgbClr val="FF0000"/>
                </a:solidFill>
                <a:latin typeface="Times New Roman" panose="02020603050405020304" pitchFamily="18" charset="0"/>
                <a:ea typeface="+mn-ea"/>
              </a:rPr>
              <a:t>信源电阻</a:t>
            </a:r>
            <a:r>
              <a:rPr lang="en-US" altLang="zh-CN" sz="2000" i="1" dirty="0">
                <a:solidFill>
                  <a:srgbClr val="FF0000"/>
                </a:solidFill>
                <a:latin typeface="Times New Roman" panose="02020603050405020304" pitchFamily="18" charset="0"/>
                <a:ea typeface="+mn-ea"/>
              </a:rPr>
              <a:t>R</a:t>
            </a:r>
            <a:r>
              <a:rPr lang="en-US" altLang="zh-CN" sz="2000" baseline="-25000" dirty="0">
                <a:solidFill>
                  <a:srgbClr val="FF0000"/>
                </a:solidFill>
                <a:latin typeface="Times New Roman" panose="02020603050405020304" pitchFamily="18" charset="0"/>
                <a:ea typeface="+mn-ea"/>
              </a:rPr>
              <a:t>1</a:t>
            </a:r>
            <a:r>
              <a:rPr lang="zh-CN" altLang="en-US" sz="2000" dirty="0">
                <a:solidFill>
                  <a:srgbClr val="FF0000"/>
                </a:solidFill>
                <a:latin typeface="Times New Roman" panose="02020603050405020304" pitchFamily="18" charset="0"/>
                <a:ea typeface="+mn-ea"/>
              </a:rPr>
              <a:t>经</a:t>
            </a:r>
            <a:r>
              <a:rPr lang="en-US" altLang="zh-CN" sz="2000" i="1" dirty="0">
                <a:solidFill>
                  <a:srgbClr val="FF0000"/>
                </a:solidFill>
                <a:latin typeface="Times New Roman" panose="02020603050405020304" pitchFamily="18" charset="0"/>
                <a:ea typeface="+mn-ea"/>
              </a:rPr>
              <a:t>X</a:t>
            </a:r>
            <a:r>
              <a:rPr lang="en-US" altLang="zh-CN" sz="2000" baseline="-25000" dirty="0">
                <a:solidFill>
                  <a:srgbClr val="FF0000"/>
                </a:solidFill>
                <a:latin typeface="Times New Roman" panose="02020603050405020304" pitchFamily="18" charset="0"/>
                <a:ea typeface="+mn-ea"/>
              </a:rPr>
              <a:t>P1</a:t>
            </a:r>
            <a:r>
              <a:rPr lang="zh-CN" altLang="en-US" sz="2000" dirty="0">
                <a:solidFill>
                  <a:srgbClr val="FF0000"/>
                </a:solidFill>
                <a:latin typeface="Times New Roman" panose="02020603050405020304" pitchFamily="18" charset="0"/>
                <a:ea typeface="+mn-ea"/>
              </a:rPr>
              <a:t>和 </a:t>
            </a:r>
            <a:r>
              <a:rPr lang="en-US" altLang="zh-CN" sz="2000" i="1" dirty="0">
                <a:solidFill>
                  <a:srgbClr val="FF0000"/>
                </a:solidFill>
                <a:latin typeface="Times New Roman" panose="02020603050405020304" pitchFamily="18" charset="0"/>
                <a:ea typeface="+mn-ea"/>
              </a:rPr>
              <a:t>X</a:t>
            </a:r>
            <a:r>
              <a:rPr lang="en-US" altLang="zh-CN" sz="2000" baseline="-25000" dirty="0">
                <a:solidFill>
                  <a:srgbClr val="FF0000"/>
                </a:solidFill>
                <a:latin typeface="Times New Roman" panose="02020603050405020304" pitchFamily="18" charset="0"/>
                <a:ea typeface="+mn-ea"/>
              </a:rPr>
              <a:t>S1</a:t>
            </a:r>
            <a:r>
              <a:rPr lang="zh-CN" altLang="en-US" sz="2000" dirty="0">
                <a:solidFill>
                  <a:srgbClr val="FF0000"/>
                </a:solidFill>
                <a:latin typeface="Times New Roman" panose="02020603050405020304" pitchFamily="18" charset="0"/>
                <a:ea typeface="+mn-ea"/>
              </a:rPr>
              <a:t>向右变换为中间假想电阻</a:t>
            </a:r>
            <a:r>
              <a:rPr lang="en-US" altLang="zh-CN" sz="2000" i="1" dirty="0" err="1">
                <a:solidFill>
                  <a:srgbClr val="FF0000"/>
                </a:solidFill>
                <a:latin typeface="Times New Roman" panose="02020603050405020304" pitchFamily="18" charset="0"/>
                <a:ea typeface="+mn-ea"/>
              </a:rPr>
              <a:t>R</a:t>
            </a:r>
            <a:r>
              <a:rPr lang="en-US" altLang="zh-CN" sz="2000" baseline="-25000" dirty="0" err="1">
                <a:solidFill>
                  <a:srgbClr val="FF0000"/>
                </a:solidFill>
                <a:latin typeface="Times New Roman" panose="02020603050405020304" pitchFamily="18" charset="0"/>
                <a:ea typeface="+mn-ea"/>
              </a:rPr>
              <a:t>inter</a:t>
            </a:r>
            <a:r>
              <a:rPr lang="en-US" altLang="zh-CN" sz="2000" dirty="0">
                <a:solidFill>
                  <a:srgbClr val="FF0000"/>
                </a:solidFill>
                <a:latin typeface="Times New Roman" panose="02020603050405020304" pitchFamily="18" charset="0"/>
                <a:ea typeface="+mn-ea"/>
              </a:rPr>
              <a:t>, </a:t>
            </a:r>
            <a:r>
              <a:rPr lang="zh-CN" altLang="en-US" sz="2000" dirty="0">
                <a:solidFill>
                  <a:srgbClr val="FF0000"/>
                </a:solidFill>
                <a:latin typeface="Times New Roman" panose="02020603050405020304" pitchFamily="18" charset="0"/>
                <a:ea typeface="+mn-ea"/>
              </a:rPr>
              <a:t>必满足</a:t>
            </a:r>
            <a:r>
              <a:rPr lang="en-US" altLang="zh-CN" sz="2000" i="1" dirty="0" err="1">
                <a:solidFill>
                  <a:srgbClr val="FF0000"/>
                </a:solidFill>
                <a:latin typeface="Times New Roman" panose="02020603050405020304" pitchFamily="18" charset="0"/>
                <a:ea typeface="+mn-ea"/>
              </a:rPr>
              <a:t>R</a:t>
            </a:r>
            <a:r>
              <a:rPr lang="en-US" altLang="zh-CN" sz="2000" baseline="-25000" dirty="0" err="1">
                <a:solidFill>
                  <a:srgbClr val="FF0000"/>
                </a:solidFill>
                <a:latin typeface="Times New Roman" panose="02020603050405020304" pitchFamily="18" charset="0"/>
                <a:ea typeface="+mn-ea"/>
              </a:rPr>
              <a:t>inter</a:t>
            </a:r>
            <a:r>
              <a:rPr lang="en-US" altLang="zh-CN" sz="2000" dirty="0">
                <a:solidFill>
                  <a:srgbClr val="FF0000"/>
                </a:solidFill>
                <a:latin typeface="Times New Roman" panose="02020603050405020304" pitchFamily="18" charset="0"/>
                <a:ea typeface="+mn-ea"/>
              </a:rPr>
              <a:t>&lt;</a:t>
            </a:r>
            <a:r>
              <a:rPr lang="en-US" altLang="zh-CN" sz="2000" i="1" dirty="0">
                <a:solidFill>
                  <a:srgbClr val="FF0000"/>
                </a:solidFill>
                <a:latin typeface="Times New Roman" panose="02020603050405020304" pitchFamily="18" charset="0"/>
                <a:ea typeface="+mn-ea"/>
              </a:rPr>
              <a:t>R</a:t>
            </a:r>
            <a:r>
              <a:rPr lang="en-US" altLang="zh-CN" sz="2000" baseline="-25000" dirty="0">
                <a:solidFill>
                  <a:srgbClr val="FF0000"/>
                </a:solidFill>
                <a:latin typeface="Times New Roman" panose="02020603050405020304" pitchFamily="18" charset="0"/>
                <a:ea typeface="+mn-ea"/>
              </a:rPr>
              <a:t>1</a:t>
            </a:r>
            <a:r>
              <a:rPr lang="zh-CN" altLang="en-US" sz="2000" baseline="-25000" dirty="0">
                <a:solidFill>
                  <a:srgbClr val="FF0000"/>
                </a:solidFill>
                <a:latin typeface="Times New Roman" panose="02020603050405020304" pitchFamily="18" charset="0"/>
                <a:ea typeface="+mn-ea"/>
              </a:rPr>
              <a:t>。</a:t>
            </a:r>
            <a:endParaRPr lang="en-US" altLang="zh-CN" sz="2000" dirty="0">
              <a:solidFill>
                <a:srgbClr val="FF0000"/>
              </a:solidFill>
              <a:latin typeface="Times New Roman" panose="02020603050405020304" pitchFamily="18" charset="0"/>
              <a:ea typeface="+mn-ea"/>
            </a:endParaRPr>
          </a:p>
        </p:txBody>
      </p:sp>
      <p:graphicFrame>
        <p:nvGraphicFramePr>
          <p:cNvPr id="14" name="对象 13">
            <a:extLst>
              <a:ext uri="{FF2B5EF4-FFF2-40B4-BE49-F238E27FC236}">
                <a16:creationId xmlns:a16="http://schemas.microsoft.com/office/drawing/2014/main" xmlns="" id="{0E34DC80-D2B9-26AC-A0FB-F47C5C90F86F}"/>
              </a:ext>
            </a:extLst>
          </p:cNvPr>
          <p:cNvGraphicFramePr>
            <a:graphicFrameLocks noChangeAspect="1"/>
          </p:cNvGraphicFramePr>
          <p:nvPr>
            <p:extLst>
              <p:ext uri="{D42A27DB-BD31-4B8C-83A1-F6EECF244321}">
                <p14:modId xmlns:p14="http://schemas.microsoft.com/office/powerpoint/2010/main" val="4055448381"/>
              </p:ext>
            </p:extLst>
          </p:nvPr>
        </p:nvGraphicFramePr>
        <p:xfrm>
          <a:off x="4523134" y="3698230"/>
          <a:ext cx="1728787" cy="411163"/>
        </p:xfrm>
        <a:graphic>
          <a:graphicData uri="http://schemas.openxmlformats.org/presentationml/2006/ole">
            <mc:AlternateContent xmlns:mc="http://schemas.openxmlformats.org/markup-compatibility/2006">
              <mc:Choice xmlns:v="urn:schemas-microsoft-com:vml" Requires="v">
                <p:oleObj spid="_x0000_s31798" name="Equation" r:id="rId4" imgW="1728489" imgH="411495" progId="Equation.DSMT4">
                  <p:embed/>
                </p:oleObj>
              </mc:Choice>
              <mc:Fallback>
                <p:oleObj name="Equation" r:id="rId4" imgW="1728489" imgH="411495" progId="Equation.DSMT4">
                  <p:embed/>
                  <p:pic>
                    <p:nvPicPr>
                      <p:cNvPr id="0" name=""/>
                      <p:cNvPicPr/>
                      <p:nvPr/>
                    </p:nvPicPr>
                    <p:blipFill>
                      <a:blip r:embed="rId5"/>
                      <a:stretch>
                        <a:fillRect/>
                      </a:stretch>
                    </p:blipFill>
                    <p:spPr>
                      <a:xfrm>
                        <a:off x="4523134" y="3698230"/>
                        <a:ext cx="1728787" cy="411163"/>
                      </a:xfrm>
                      <a:prstGeom prst="rect">
                        <a:avLst/>
                      </a:prstGeom>
                    </p:spPr>
                  </p:pic>
                </p:oleObj>
              </mc:Fallback>
            </mc:AlternateContent>
          </a:graphicData>
        </a:graphic>
      </p:graphicFrame>
    </p:spTree>
    <p:extLst>
      <p:ext uri="{BB962C8B-B14F-4D97-AF65-F5344CB8AC3E}">
        <p14:creationId xmlns:p14="http://schemas.microsoft.com/office/powerpoint/2010/main" val="1935055849"/>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53</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2.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高频</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基础</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电路</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文本占位符 460802">
            <a:extLst>
              <a:ext uri="{FF2B5EF4-FFF2-40B4-BE49-F238E27FC236}">
                <a16:creationId xmlns:a16="http://schemas.microsoft.com/office/drawing/2014/main" xmlns="" id="{9E8EB01E-C180-9667-145F-08364C120EFE}"/>
              </a:ext>
            </a:extLst>
          </p:cNvPr>
          <p:cNvSpPr txBox="1">
            <a:spLocks/>
          </p:cNvSpPr>
          <p:nvPr/>
        </p:nvSpPr>
        <p:spPr>
          <a:xfrm>
            <a:off x="350763" y="1451077"/>
            <a:ext cx="8640763" cy="1807930"/>
          </a:xfrm>
          <a:prstGeom prst="rect">
            <a:avLst/>
          </a:prstGeom>
          <a:noFill/>
          <a:ln>
            <a:noFill/>
          </a:ln>
        </p:spPr>
        <p:txBody>
          <a:bodyPr/>
          <a:lstStyle>
            <a:lvl1pPr marL="342900" indent="-342900" algn="l" rtl="0" eaLnBrk="0" fontAlgn="base" hangingPunct="0">
              <a:spcBef>
                <a:spcPct val="20000"/>
              </a:spcBef>
              <a:spcAft>
                <a:spcPct val="0"/>
              </a:spcAft>
              <a:buChar char="•"/>
              <a:defRPr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eaLnBrk="1" hangingPunct="1">
              <a:buFontTx/>
              <a:buNone/>
            </a:pPr>
            <a:r>
              <a:rPr lang="zh-CN" altLang="en-US" sz="2000" kern="0" dirty="0">
                <a:latin typeface="Times New Roman" panose="02020603050405020304" pitchFamily="18" charset="0"/>
              </a:rPr>
              <a:t>当</a:t>
            </a:r>
            <a:r>
              <a:rPr lang="en-US" altLang="zh-CN" sz="2000" i="1" kern="0" dirty="0">
                <a:latin typeface="Times New Roman" panose="02020603050405020304" pitchFamily="18" charset="0"/>
              </a:rPr>
              <a:t>R</a:t>
            </a:r>
            <a:r>
              <a:rPr lang="en-US" altLang="zh-CN" sz="2000" kern="0" baseline="-25000" dirty="0">
                <a:latin typeface="Times New Roman" panose="02020603050405020304" pitchFamily="18" charset="0"/>
              </a:rPr>
              <a:t>1</a:t>
            </a:r>
            <a:r>
              <a:rPr lang="en-US" altLang="zh-CN" sz="2000" kern="0" dirty="0">
                <a:latin typeface="Times New Roman" panose="02020603050405020304" pitchFamily="18" charset="0"/>
              </a:rPr>
              <a:t>&gt;</a:t>
            </a:r>
            <a:r>
              <a:rPr lang="en-US" altLang="zh-CN" sz="2000" i="1" kern="0" dirty="0">
                <a:latin typeface="Times New Roman" panose="02020603050405020304" pitchFamily="18" charset="0"/>
              </a:rPr>
              <a:t>R</a:t>
            </a:r>
            <a:r>
              <a:rPr lang="en-US" altLang="zh-CN" sz="2000" kern="0" baseline="-25000" dirty="0">
                <a:latin typeface="Times New Roman" panose="02020603050405020304" pitchFamily="18" charset="0"/>
              </a:rPr>
              <a:t>2</a:t>
            </a:r>
            <a:r>
              <a:rPr lang="zh-CN" altLang="en-US" sz="2000" kern="0" dirty="0">
                <a:latin typeface="Times New Roman" panose="02020603050405020304" pitchFamily="18" charset="0"/>
              </a:rPr>
              <a:t>时，则</a:t>
            </a:r>
            <a:r>
              <a:rPr lang="en-US" altLang="zh-CN" sz="2000" i="1" kern="0" dirty="0">
                <a:latin typeface="Times New Roman" panose="02020603050405020304" pitchFamily="18" charset="0"/>
              </a:rPr>
              <a:t>Q</a:t>
            </a:r>
            <a:r>
              <a:rPr lang="en-US" altLang="zh-CN" sz="2000" kern="0" baseline="-25000" dirty="0">
                <a:latin typeface="Times New Roman" panose="02020603050405020304" pitchFamily="18" charset="0"/>
              </a:rPr>
              <a:t>1</a:t>
            </a:r>
            <a:r>
              <a:rPr lang="en-US" altLang="zh-CN" sz="2000" kern="0" dirty="0">
                <a:latin typeface="Times New Roman" panose="02020603050405020304" pitchFamily="18" charset="0"/>
              </a:rPr>
              <a:t>&gt;</a:t>
            </a:r>
            <a:r>
              <a:rPr lang="en-US" altLang="zh-CN" sz="2000" i="1" kern="0" dirty="0">
                <a:latin typeface="Times New Roman" panose="02020603050405020304" pitchFamily="18" charset="0"/>
              </a:rPr>
              <a:t>Q</a:t>
            </a:r>
            <a:r>
              <a:rPr lang="en-US" altLang="zh-CN" sz="2000" kern="0" baseline="-25000" dirty="0">
                <a:latin typeface="Times New Roman" panose="02020603050405020304" pitchFamily="18" charset="0"/>
              </a:rPr>
              <a:t>2</a:t>
            </a:r>
            <a:r>
              <a:rPr lang="zh-CN" altLang="en-US" sz="2000" kern="0" dirty="0">
                <a:latin typeface="Times New Roman" panose="02020603050405020304" pitchFamily="18" charset="0"/>
              </a:rPr>
              <a:t>，应选</a:t>
            </a:r>
            <a:r>
              <a:rPr lang="en-US" altLang="zh-CN" sz="2000" i="1" kern="0" dirty="0">
                <a:latin typeface="Times New Roman" panose="02020603050405020304" pitchFamily="18" charset="0"/>
              </a:rPr>
              <a:t>Q</a:t>
            </a:r>
            <a:r>
              <a:rPr lang="en-US" altLang="zh-CN" sz="2000" kern="0" baseline="-25000" dirty="0">
                <a:latin typeface="Times New Roman" panose="02020603050405020304" pitchFamily="18" charset="0"/>
              </a:rPr>
              <a:t>1</a:t>
            </a:r>
            <a:r>
              <a:rPr lang="en-US" altLang="zh-CN" sz="2000" kern="0" dirty="0">
                <a:latin typeface="Times New Roman" panose="02020603050405020304" pitchFamily="18" charset="0"/>
              </a:rPr>
              <a:t>=</a:t>
            </a:r>
            <a:r>
              <a:rPr lang="en-US" altLang="zh-CN" sz="2000" i="1" kern="0" dirty="0" err="1">
                <a:latin typeface="Times New Roman" panose="02020603050405020304" pitchFamily="18" charset="0"/>
              </a:rPr>
              <a:t>Q</a:t>
            </a:r>
            <a:r>
              <a:rPr lang="en-US" altLang="zh-CN" sz="2000" kern="0" baseline="-25000" dirty="0" err="1">
                <a:latin typeface="Times New Roman" panose="02020603050405020304" pitchFamily="18" charset="0"/>
              </a:rPr>
              <a:t>max</a:t>
            </a:r>
            <a:r>
              <a:rPr lang="zh-CN" altLang="en-US" sz="2000" kern="0" dirty="0">
                <a:latin typeface="Times New Roman" panose="02020603050405020304" pitchFamily="18" charset="0"/>
              </a:rPr>
              <a:t>从</a:t>
            </a:r>
            <a:r>
              <a:rPr lang="en-US" altLang="zh-CN" sz="2000" i="1" kern="0" dirty="0">
                <a:latin typeface="Times New Roman" panose="02020603050405020304" pitchFamily="18" charset="0"/>
              </a:rPr>
              <a:t>R</a:t>
            </a:r>
            <a:r>
              <a:rPr lang="en-US" altLang="zh-CN" sz="2000" kern="0" baseline="-25000" dirty="0">
                <a:latin typeface="Times New Roman" panose="02020603050405020304" pitchFamily="18" charset="0"/>
              </a:rPr>
              <a:t>1</a:t>
            </a:r>
            <a:r>
              <a:rPr lang="zh-CN" altLang="en-US" sz="2000" kern="0" dirty="0">
                <a:latin typeface="Times New Roman" panose="02020603050405020304" pitchFamily="18" charset="0"/>
              </a:rPr>
              <a:t>端开始进行网络参数计算。</a:t>
            </a:r>
            <a:endParaRPr lang="en-US" altLang="zh-CN" sz="2000" kern="0" dirty="0">
              <a:latin typeface="Times New Roman" panose="02020603050405020304" pitchFamily="18" charset="0"/>
            </a:endParaRPr>
          </a:p>
          <a:p>
            <a:pPr eaLnBrk="1" hangingPunct="1">
              <a:buFontTx/>
              <a:buNone/>
            </a:pPr>
            <a:r>
              <a:rPr lang="zh-CN" altLang="en-US" sz="2000" kern="0" dirty="0">
                <a:latin typeface="Times New Roman" panose="02020603050405020304" pitchFamily="18" charset="0"/>
              </a:rPr>
              <a:t>当</a:t>
            </a:r>
            <a:r>
              <a:rPr lang="en-US" altLang="zh-CN" sz="2000" i="1" kern="0" dirty="0">
                <a:latin typeface="Times New Roman" panose="02020603050405020304" pitchFamily="18" charset="0"/>
              </a:rPr>
              <a:t>R</a:t>
            </a:r>
            <a:r>
              <a:rPr lang="en-US" altLang="zh-CN" sz="2000" kern="0" baseline="-25000" dirty="0">
                <a:latin typeface="Times New Roman" panose="02020603050405020304" pitchFamily="18" charset="0"/>
              </a:rPr>
              <a:t>2</a:t>
            </a:r>
            <a:r>
              <a:rPr lang="en-US" altLang="zh-CN" sz="2000" kern="0" dirty="0">
                <a:latin typeface="Times New Roman" panose="02020603050405020304" pitchFamily="18" charset="0"/>
              </a:rPr>
              <a:t>&gt;</a:t>
            </a:r>
            <a:r>
              <a:rPr lang="en-US" altLang="zh-CN" sz="2000" i="1" kern="0" dirty="0">
                <a:latin typeface="Times New Roman" panose="02020603050405020304" pitchFamily="18" charset="0"/>
              </a:rPr>
              <a:t>R</a:t>
            </a:r>
            <a:r>
              <a:rPr lang="en-US" altLang="zh-CN" sz="2000" kern="0" baseline="-25000" dirty="0">
                <a:latin typeface="Times New Roman" panose="02020603050405020304" pitchFamily="18" charset="0"/>
              </a:rPr>
              <a:t>1</a:t>
            </a:r>
            <a:r>
              <a:rPr lang="zh-CN" altLang="en-US" sz="2000" kern="0" dirty="0">
                <a:latin typeface="Times New Roman" panose="02020603050405020304" pitchFamily="18" charset="0"/>
              </a:rPr>
              <a:t>时，则</a:t>
            </a:r>
            <a:r>
              <a:rPr lang="en-US" altLang="zh-CN" sz="2000" i="1" kern="0" dirty="0">
                <a:latin typeface="Times New Roman" panose="02020603050405020304" pitchFamily="18" charset="0"/>
              </a:rPr>
              <a:t>Q</a:t>
            </a:r>
            <a:r>
              <a:rPr lang="en-US" altLang="zh-CN" sz="2000" kern="0" baseline="-25000" dirty="0">
                <a:latin typeface="Times New Roman" panose="02020603050405020304" pitchFamily="18" charset="0"/>
              </a:rPr>
              <a:t>2</a:t>
            </a:r>
            <a:r>
              <a:rPr lang="en-US" altLang="zh-CN" sz="2000" kern="0" dirty="0">
                <a:latin typeface="Times New Roman" panose="02020603050405020304" pitchFamily="18" charset="0"/>
              </a:rPr>
              <a:t>&gt;</a:t>
            </a:r>
            <a:r>
              <a:rPr lang="en-US" altLang="zh-CN" sz="2000" i="1" kern="0" dirty="0">
                <a:latin typeface="Times New Roman" panose="02020603050405020304" pitchFamily="18" charset="0"/>
              </a:rPr>
              <a:t>Q</a:t>
            </a:r>
            <a:r>
              <a:rPr lang="en-US" altLang="zh-CN" sz="2000" kern="0" baseline="-25000" dirty="0">
                <a:latin typeface="Times New Roman" panose="02020603050405020304" pitchFamily="18" charset="0"/>
              </a:rPr>
              <a:t>1</a:t>
            </a:r>
            <a:r>
              <a:rPr lang="zh-CN" altLang="en-US" sz="2000" kern="0" dirty="0">
                <a:latin typeface="Times New Roman" panose="02020603050405020304" pitchFamily="18" charset="0"/>
              </a:rPr>
              <a:t>，应选</a:t>
            </a:r>
            <a:r>
              <a:rPr lang="en-US" altLang="zh-CN" sz="2000" i="1" kern="0" dirty="0">
                <a:latin typeface="Times New Roman" panose="02020603050405020304" pitchFamily="18" charset="0"/>
              </a:rPr>
              <a:t>Q</a:t>
            </a:r>
            <a:r>
              <a:rPr lang="en-US" altLang="zh-CN" sz="2000" kern="0" baseline="-25000" dirty="0">
                <a:latin typeface="Times New Roman" panose="02020603050405020304" pitchFamily="18" charset="0"/>
              </a:rPr>
              <a:t>2</a:t>
            </a:r>
            <a:r>
              <a:rPr lang="en-US" altLang="zh-CN" sz="2000" kern="0" dirty="0">
                <a:latin typeface="Times New Roman" panose="02020603050405020304" pitchFamily="18" charset="0"/>
              </a:rPr>
              <a:t>=</a:t>
            </a:r>
            <a:r>
              <a:rPr lang="en-US" altLang="zh-CN" sz="2000" i="1" kern="0" dirty="0" err="1">
                <a:latin typeface="Times New Roman" panose="02020603050405020304" pitchFamily="18" charset="0"/>
              </a:rPr>
              <a:t>Q</a:t>
            </a:r>
            <a:r>
              <a:rPr lang="en-US" altLang="zh-CN" sz="2000" kern="0" baseline="-25000" dirty="0" err="1">
                <a:latin typeface="Times New Roman" panose="02020603050405020304" pitchFamily="18" charset="0"/>
              </a:rPr>
              <a:t>max</a:t>
            </a:r>
            <a:r>
              <a:rPr lang="zh-CN" altLang="en-US" sz="2000" kern="0" dirty="0">
                <a:latin typeface="Times New Roman" panose="02020603050405020304" pitchFamily="18" charset="0"/>
              </a:rPr>
              <a:t>从</a:t>
            </a:r>
            <a:r>
              <a:rPr lang="en-US" altLang="zh-CN" sz="2000" i="1" kern="0" dirty="0">
                <a:latin typeface="Times New Roman" panose="02020603050405020304" pitchFamily="18" charset="0"/>
              </a:rPr>
              <a:t>R</a:t>
            </a:r>
            <a:r>
              <a:rPr lang="en-US" altLang="zh-CN" sz="2000" kern="0" baseline="-25000" dirty="0">
                <a:latin typeface="Times New Roman" panose="02020603050405020304" pitchFamily="18" charset="0"/>
              </a:rPr>
              <a:t>2</a:t>
            </a:r>
            <a:r>
              <a:rPr lang="zh-CN" altLang="en-US" sz="2000" kern="0" dirty="0">
                <a:latin typeface="Times New Roman" panose="02020603050405020304" pitchFamily="18" charset="0"/>
              </a:rPr>
              <a:t>端开始进行网络参数计算。</a:t>
            </a:r>
          </a:p>
          <a:p>
            <a:pPr eaLnBrk="1" hangingPunct="1">
              <a:spcBef>
                <a:spcPts val="1200"/>
              </a:spcBef>
              <a:spcAft>
                <a:spcPts val="1200"/>
              </a:spcAft>
              <a:buFontTx/>
              <a:buNone/>
            </a:pPr>
            <a:r>
              <a:rPr lang="en-US" altLang="zh-CN" sz="2000" b="1" kern="0" dirty="0">
                <a:latin typeface="Times New Roman" panose="02020603050405020304" pitchFamily="18" charset="0"/>
              </a:rPr>
              <a:t>π</a:t>
            </a:r>
            <a:r>
              <a:rPr lang="zh-CN" altLang="en-US" sz="2000" b="1" kern="0" dirty="0">
                <a:latin typeface="Times New Roman" panose="02020603050405020304" pitchFamily="18" charset="0"/>
              </a:rPr>
              <a:t>型网络的电路参数计算式为</a:t>
            </a:r>
            <a:endParaRPr lang="en-US" altLang="zh-CN" sz="2000" b="1" kern="0" dirty="0">
              <a:latin typeface="Times New Roman" panose="02020603050405020304" pitchFamily="18" charset="0"/>
            </a:endParaRPr>
          </a:p>
          <a:p>
            <a:pPr eaLnBrk="1" hangingPunct="1">
              <a:buFontTx/>
              <a:buNone/>
            </a:pPr>
            <a:r>
              <a:rPr lang="en-US" altLang="zh-CN" sz="2000" kern="0" dirty="0">
                <a:latin typeface="Times New Roman" panose="02020603050405020304" pitchFamily="18" charset="0"/>
              </a:rPr>
              <a:t>(1)</a:t>
            </a:r>
            <a:r>
              <a:rPr lang="en-US" altLang="zh-CN" sz="2000" i="1" kern="0" dirty="0">
                <a:solidFill>
                  <a:srgbClr val="FF0000"/>
                </a:solidFill>
                <a:latin typeface="Times New Roman" panose="02020603050405020304" pitchFamily="18" charset="0"/>
              </a:rPr>
              <a:t>R</a:t>
            </a:r>
            <a:r>
              <a:rPr lang="en-US" altLang="zh-CN" sz="2000" kern="0" baseline="-25000" dirty="0">
                <a:solidFill>
                  <a:srgbClr val="FF0000"/>
                </a:solidFill>
                <a:latin typeface="Times New Roman" panose="02020603050405020304" pitchFamily="18" charset="0"/>
              </a:rPr>
              <a:t>2</a:t>
            </a:r>
            <a:r>
              <a:rPr lang="en-US" altLang="zh-CN" sz="2000" kern="0" dirty="0">
                <a:solidFill>
                  <a:srgbClr val="FF0000"/>
                </a:solidFill>
                <a:latin typeface="Times New Roman" panose="02020603050405020304" pitchFamily="18" charset="0"/>
              </a:rPr>
              <a:t>&gt;</a:t>
            </a:r>
            <a:r>
              <a:rPr lang="en-US" altLang="zh-CN" sz="2000" i="1" kern="0" dirty="0">
                <a:solidFill>
                  <a:srgbClr val="FF0000"/>
                </a:solidFill>
                <a:latin typeface="Times New Roman" panose="02020603050405020304" pitchFamily="18" charset="0"/>
              </a:rPr>
              <a:t>R</a:t>
            </a:r>
            <a:r>
              <a:rPr lang="en-US" altLang="zh-CN" sz="2000" kern="0" baseline="-25000" dirty="0">
                <a:solidFill>
                  <a:srgbClr val="FF0000"/>
                </a:solidFill>
                <a:latin typeface="Times New Roman" panose="02020603050405020304" pitchFamily="18" charset="0"/>
              </a:rPr>
              <a:t>1</a:t>
            </a:r>
            <a:r>
              <a:rPr lang="zh-CN" altLang="en-US" sz="2000" kern="0" dirty="0">
                <a:solidFill>
                  <a:srgbClr val="FF0000"/>
                </a:solidFill>
                <a:latin typeface="Times New Roman" panose="02020603050405020304" pitchFamily="18" charset="0"/>
              </a:rPr>
              <a:t>时</a:t>
            </a:r>
            <a:r>
              <a:rPr lang="en-US" altLang="zh-CN" sz="2000" kern="0" dirty="0">
                <a:solidFill>
                  <a:srgbClr val="FF0000"/>
                </a:solidFill>
                <a:latin typeface="Times New Roman" panose="02020603050405020304" pitchFamily="18" charset="0"/>
              </a:rPr>
              <a:t>,</a:t>
            </a:r>
            <a:r>
              <a:rPr lang="zh-CN" altLang="en-US" sz="2000" kern="0" dirty="0">
                <a:latin typeface="Times New Roman" panose="02020603050405020304" pitchFamily="18" charset="0"/>
              </a:rPr>
              <a:t>从</a:t>
            </a:r>
            <a:r>
              <a:rPr lang="en-US" altLang="zh-CN" sz="2000" i="1" kern="0" dirty="0">
                <a:latin typeface="Times New Roman" panose="02020603050405020304" pitchFamily="18" charset="0"/>
              </a:rPr>
              <a:t>R</a:t>
            </a:r>
            <a:r>
              <a:rPr lang="en-US" altLang="zh-CN" sz="2000" kern="0" baseline="-25000" dirty="0">
                <a:latin typeface="Times New Roman" panose="02020603050405020304" pitchFamily="18" charset="0"/>
              </a:rPr>
              <a:t>2</a:t>
            </a:r>
            <a:r>
              <a:rPr lang="zh-CN" altLang="en-US" sz="2000" kern="0" dirty="0">
                <a:latin typeface="Times New Roman" panose="02020603050405020304" pitchFamily="18" charset="0"/>
              </a:rPr>
              <a:t>端开始计算</a:t>
            </a:r>
            <a:r>
              <a:rPr lang="en-US" altLang="zh-CN" sz="2000" kern="0" dirty="0">
                <a:latin typeface="Times New Roman" panose="02020603050405020304" pitchFamily="18" charset="0"/>
              </a:rPr>
              <a:t>,</a:t>
            </a:r>
            <a:r>
              <a:rPr lang="zh-CN" altLang="en-US" sz="2000" kern="0" dirty="0">
                <a:latin typeface="Times New Roman" panose="02020603050405020304" pitchFamily="18" charset="0"/>
              </a:rPr>
              <a:t>选定</a:t>
            </a:r>
            <a:r>
              <a:rPr lang="en-US" altLang="zh-CN" sz="2000" i="1" kern="0" dirty="0">
                <a:latin typeface="Times New Roman" panose="02020603050405020304" pitchFamily="18" charset="0"/>
              </a:rPr>
              <a:t>Q</a:t>
            </a:r>
            <a:r>
              <a:rPr lang="en-US" altLang="zh-CN" sz="2000" kern="0" baseline="-25000" dirty="0">
                <a:latin typeface="Times New Roman" panose="02020603050405020304" pitchFamily="18" charset="0"/>
              </a:rPr>
              <a:t>2</a:t>
            </a:r>
            <a:r>
              <a:rPr lang="zh-CN" altLang="en-US" sz="2000" kern="0" dirty="0">
                <a:latin typeface="Times New Roman" panose="02020603050405020304" pitchFamily="18" charset="0"/>
              </a:rPr>
              <a:t>应满足</a:t>
            </a:r>
            <a:endParaRPr lang="zh-CN" altLang="en-US" sz="2000" b="1" kern="0" dirty="0">
              <a:latin typeface="Times New Roman" panose="02020603050405020304" pitchFamily="18" charset="0"/>
            </a:endParaRPr>
          </a:p>
          <a:p>
            <a:pPr eaLnBrk="1" hangingPunct="1">
              <a:buFontTx/>
              <a:buNone/>
            </a:pPr>
            <a:endParaRPr lang="zh-CN" altLang="en-US" kern="0" dirty="0">
              <a:latin typeface="楷体_GB2312" panose="02010609030101010101" pitchFamily="49" charset="-122"/>
              <a:ea typeface="楷体_GB2312" panose="02010609030101010101" pitchFamily="49" charset="-122"/>
            </a:endParaRPr>
          </a:p>
          <a:p>
            <a:pPr eaLnBrk="1" hangingPunct="1">
              <a:buFontTx/>
              <a:buNone/>
            </a:pPr>
            <a:endParaRPr lang="zh-CN" altLang="en-US" kern="0" dirty="0">
              <a:latin typeface="楷体_GB2312" panose="02010609030101010101" pitchFamily="49" charset="-122"/>
              <a:ea typeface="楷体_GB2312" panose="02010609030101010101" pitchFamily="49" charset="-122"/>
            </a:endParaRPr>
          </a:p>
          <a:p>
            <a:pPr eaLnBrk="1" hangingPunct="1">
              <a:buFontTx/>
              <a:buNone/>
            </a:pPr>
            <a:endParaRPr lang="zh-CN" altLang="en-US" kern="0" dirty="0">
              <a:latin typeface="楷体_GB2312" panose="02010609030101010101" pitchFamily="49" charset="-122"/>
              <a:ea typeface="楷体_GB2312" panose="02010609030101010101" pitchFamily="49" charset="-122"/>
            </a:endParaRPr>
          </a:p>
          <a:p>
            <a:pPr eaLnBrk="1" hangingPunct="1">
              <a:buFontTx/>
              <a:buNone/>
            </a:pPr>
            <a:endParaRPr lang="zh-CN" altLang="en-US" kern="0" dirty="0">
              <a:latin typeface="楷体_GB2312" panose="02010609030101010101" pitchFamily="49" charset="-122"/>
              <a:ea typeface="楷体_GB2312" panose="02010609030101010101" pitchFamily="49" charset="-122"/>
            </a:endParaRPr>
          </a:p>
          <a:p>
            <a:pPr eaLnBrk="1" hangingPunct="1">
              <a:buFontTx/>
              <a:buNone/>
            </a:pPr>
            <a:endParaRPr lang="zh-CN" altLang="en-US" kern="0" dirty="0">
              <a:latin typeface="楷体_GB2312" panose="02010609030101010101" pitchFamily="49" charset="-122"/>
              <a:ea typeface="楷体_GB2312" panose="02010609030101010101" pitchFamily="49" charset="-122"/>
            </a:endParaRPr>
          </a:p>
          <a:p>
            <a:pPr eaLnBrk="1" hangingPunct="1">
              <a:buFontTx/>
              <a:buNone/>
            </a:pPr>
            <a:endParaRPr lang="zh-CN" altLang="en-US" kern="0" dirty="0">
              <a:latin typeface="楷体_GB2312" panose="02010609030101010101" pitchFamily="49" charset="-122"/>
              <a:ea typeface="楷体_GB2312" panose="02010609030101010101" pitchFamily="49" charset="-122"/>
            </a:endParaRPr>
          </a:p>
        </p:txBody>
      </p:sp>
      <p:graphicFrame>
        <p:nvGraphicFramePr>
          <p:cNvPr id="7" name="对象 460831">
            <a:extLst>
              <a:ext uri="{FF2B5EF4-FFF2-40B4-BE49-F238E27FC236}">
                <a16:creationId xmlns:a16="http://schemas.microsoft.com/office/drawing/2014/main" xmlns="" id="{5686B373-7742-386E-06FB-78D2907B8D26}"/>
              </a:ext>
            </a:extLst>
          </p:cNvPr>
          <p:cNvGraphicFramePr/>
          <p:nvPr>
            <p:extLst>
              <p:ext uri="{D42A27DB-BD31-4B8C-83A1-F6EECF244321}">
                <p14:modId xmlns:p14="http://schemas.microsoft.com/office/powerpoint/2010/main" val="2529974688"/>
              </p:ext>
            </p:extLst>
          </p:nvPr>
        </p:nvGraphicFramePr>
        <p:xfrm>
          <a:off x="3432567" y="3250261"/>
          <a:ext cx="1336381" cy="730896"/>
        </p:xfrm>
        <a:graphic>
          <a:graphicData uri="http://schemas.openxmlformats.org/presentationml/2006/ole">
            <mc:AlternateContent xmlns:mc="http://schemas.openxmlformats.org/markup-compatibility/2006">
              <mc:Choice xmlns:v="urn:schemas-microsoft-com:vml" Requires="v">
                <p:oleObj spid="_x0000_s32874" r:id="rId3" imgW="862965" imgH="482600" progId="Equation.3">
                  <p:embed/>
                </p:oleObj>
              </mc:Choice>
              <mc:Fallback>
                <p:oleObj r:id="rId3" imgW="862965" imgH="482600" progId="Equation.3">
                  <p:embed/>
                  <p:pic>
                    <p:nvPicPr>
                      <p:cNvPr id="0" name=""/>
                      <p:cNvPicPr/>
                      <p:nvPr/>
                    </p:nvPicPr>
                    <p:blipFill>
                      <a:blip r:embed="rId4"/>
                      <a:stretch>
                        <a:fillRect/>
                      </a:stretch>
                    </p:blipFill>
                    <p:spPr>
                      <a:xfrm>
                        <a:off x="3432567" y="3250261"/>
                        <a:ext cx="1336381" cy="730896"/>
                      </a:xfrm>
                      <a:prstGeom prst="rect">
                        <a:avLst/>
                      </a:prstGeom>
                      <a:noFill/>
                      <a:ln w="38100">
                        <a:noFill/>
                        <a:miter/>
                      </a:ln>
                    </p:spPr>
                  </p:pic>
                </p:oleObj>
              </mc:Fallback>
            </mc:AlternateContent>
          </a:graphicData>
        </a:graphic>
      </p:graphicFrame>
      <p:sp>
        <p:nvSpPr>
          <p:cNvPr id="8" name="文本框 7">
            <a:extLst>
              <a:ext uri="{FF2B5EF4-FFF2-40B4-BE49-F238E27FC236}">
                <a16:creationId xmlns:a16="http://schemas.microsoft.com/office/drawing/2014/main" xmlns="" id="{87941065-945D-0B81-ACAE-0CFF29EFAAF8}"/>
              </a:ext>
            </a:extLst>
          </p:cNvPr>
          <p:cNvSpPr txBox="1"/>
          <p:nvPr/>
        </p:nvSpPr>
        <p:spPr>
          <a:xfrm>
            <a:off x="352142" y="4233337"/>
            <a:ext cx="504056" cy="400110"/>
          </a:xfrm>
          <a:prstGeom prst="rect">
            <a:avLst/>
          </a:prstGeom>
          <a:noFill/>
        </p:spPr>
        <p:txBody>
          <a:bodyPr wrap="square" rtlCol="0">
            <a:spAutoFit/>
          </a:bodyPr>
          <a:lstStyle/>
          <a:p>
            <a:r>
              <a:rPr lang="zh-CN" altLang="en-US" sz="2000" dirty="0"/>
              <a:t>则</a:t>
            </a:r>
          </a:p>
        </p:txBody>
      </p:sp>
      <p:graphicFrame>
        <p:nvGraphicFramePr>
          <p:cNvPr id="9" name="对象 8">
            <a:extLst>
              <a:ext uri="{FF2B5EF4-FFF2-40B4-BE49-F238E27FC236}">
                <a16:creationId xmlns:a16="http://schemas.microsoft.com/office/drawing/2014/main" xmlns="" id="{08A116E5-DC13-492A-3C3C-DB15858644E5}"/>
              </a:ext>
            </a:extLst>
          </p:cNvPr>
          <p:cNvGraphicFramePr>
            <a:graphicFrameLocks noChangeAspect="1"/>
          </p:cNvGraphicFramePr>
          <p:nvPr>
            <p:extLst>
              <p:ext uri="{D42A27DB-BD31-4B8C-83A1-F6EECF244321}">
                <p14:modId xmlns:p14="http://schemas.microsoft.com/office/powerpoint/2010/main" val="3035781475"/>
              </p:ext>
            </p:extLst>
          </p:nvPr>
        </p:nvGraphicFramePr>
        <p:xfrm>
          <a:off x="2151895" y="4100283"/>
          <a:ext cx="4249365" cy="2392592"/>
        </p:xfrm>
        <a:graphic>
          <a:graphicData uri="http://schemas.openxmlformats.org/presentationml/2006/ole">
            <mc:AlternateContent xmlns:mc="http://schemas.openxmlformats.org/markup-compatibility/2006">
              <mc:Choice xmlns:v="urn:schemas-microsoft-com:vml" Requires="v">
                <p:oleObj spid="_x0000_s32875" name="Equation" r:id="rId5" imgW="4898165" imgH="2756979" progId="Equation.DSMT4">
                  <p:embed/>
                </p:oleObj>
              </mc:Choice>
              <mc:Fallback>
                <p:oleObj name="Equation" r:id="rId5" imgW="4898165" imgH="2756979" progId="Equation.DSMT4">
                  <p:embed/>
                  <p:pic>
                    <p:nvPicPr>
                      <p:cNvPr id="0" name=""/>
                      <p:cNvPicPr/>
                      <p:nvPr/>
                    </p:nvPicPr>
                    <p:blipFill>
                      <a:blip r:embed="rId6"/>
                      <a:stretch>
                        <a:fillRect/>
                      </a:stretch>
                    </p:blipFill>
                    <p:spPr>
                      <a:xfrm>
                        <a:off x="2151895" y="4100283"/>
                        <a:ext cx="4249365" cy="2392592"/>
                      </a:xfrm>
                      <a:prstGeom prst="rect">
                        <a:avLst/>
                      </a:prstGeom>
                    </p:spPr>
                  </p:pic>
                </p:oleObj>
              </mc:Fallback>
            </mc:AlternateContent>
          </a:graphicData>
        </a:graphic>
      </p:graphicFrame>
    </p:spTree>
    <p:extLst>
      <p:ext uri="{BB962C8B-B14F-4D97-AF65-F5344CB8AC3E}">
        <p14:creationId xmlns:p14="http://schemas.microsoft.com/office/powerpoint/2010/main" val="3046697586"/>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54</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5"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2.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高频</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基础</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电路</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 name="文本占位符 461826">
            <a:extLst>
              <a:ext uri="{FF2B5EF4-FFF2-40B4-BE49-F238E27FC236}">
                <a16:creationId xmlns:a16="http://schemas.microsoft.com/office/drawing/2014/main" xmlns="" id="{5F4301E8-C93E-BF2E-C262-28CD86F0D0A3}"/>
              </a:ext>
            </a:extLst>
          </p:cNvPr>
          <p:cNvSpPr txBox="1">
            <a:spLocks/>
          </p:cNvSpPr>
          <p:nvPr/>
        </p:nvSpPr>
        <p:spPr>
          <a:xfrm>
            <a:off x="0" y="1477259"/>
            <a:ext cx="9036050" cy="4830662"/>
          </a:xfrm>
          <a:prstGeom prst="rect">
            <a:avLst/>
          </a:prstGeom>
          <a:noFill/>
          <a:ln>
            <a:noFill/>
          </a:ln>
        </p:spPr>
        <p:txBody>
          <a:bodyPr/>
          <a:lstStyle>
            <a:lvl1pPr marL="342900" indent="-342900" algn="l" rtl="0" eaLnBrk="0" fontAlgn="base" hangingPunct="0">
              <a:spcBef>
                <a:spcPct val="20000"/>
              </a:spcBef>
              <a:spcAft>
                <a:spcPct val="0"/>
              </a:spcAft>
              <a:buChar char="•"/>
              <a:defRPr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eaLnBrk="1" hangingPunct="1">
              <a:buFontTx/>
              <a:buNone/>
            </a:pPr>
            <a:r>
              <a:rPr lang="en-US" altLang="zh-CN" b="1" kern="0" dirty="0">
                <a:latin typeface="楷体_GB2312" panose="02010609030101010101" pitchFamily="49" charset="-122"/>
                <a:ea typeface="楷体_GB2312" panose="02010609030101010101" pitchFamily="49" charset="-122"/>
              </a:rPr>
              <a:t>    </a:t>
            </a:r>
            <a:r>
              <a:rPr lang="en-US" altLang="zh-CN" sz="2000" kern="0" dirty="0">
                <a:latin typeface="Times New Roman" panose="02020603050405020304" pitchFamily="18" charset="0"/>
              </a:rPr>
              <a:t>(2)</a:t>
            </a:r>
            <a:r>
              <a:rPr lang="en-US" altLang="zh-CN" sz="2000" i="1" kern="0" dirty="0">
                <a:latin typeface="Times New Roman" panose="02020603050405020304" pitchFamily="18" charset="0"/>
              </a:rPr>
              <a:t>R</a:t>
            </a:r>
            <a:r>
              <a:rPr lang="en-US" altLang="zh-CN" sz="2000" kern="0" baseline="-25000" dirty="0">
                <a:latin typeface="Times New Roman" panose="02020603050405020304" pitchFamily="18" charset="0"/>
              </a:rPr>
              <a:t>1</a:t>
            </a:r>
            <a:r>
              <a:rPr lang="en-US" altLang="zh-CN" sz="2000" kern="0" dirty="0">
                <a:latin typeface="Times New Roman" panose="02020603050405020304" pitchFamily="18" charset="0"/>
              </a:rPr>
              <a:t>&gt;</a:t>
            </a:r>
            <a:r>
              <a:rPr lang="en-US" altLang="zh-CN" sz="2000" i="1" kern="0" dirty="0">
                <a:latin typeface="Times New Roman" panose="02020603050405020304" pitchFamily="18" charset="0"/>
              </a:rPr>
              <a:t>R</a:t>
            </a:r>
            <a:r>
              <a:rPr lang="en-US" altLang="zh-CN" sz="2000" kern="0" baseline="-25000" dirty="0">
                <a:latin typeface="Times New Roman" panose="02020603050405020304" pitchFamily="18" charset="0"/>
              </a:rPr>
              <a:t>2</a:t>
            </a:r>
            <a:r>
              <a:rPr lang="zh-CN" altLang="en-US" sz="2000" b="1" kern="0" dirty="0">
                <a:latin typeface="Times New Roman" panose="02020603050405020304" pitchFamily="18" charset="0"/>
              </a:rPr>
              <a:t>时</a:t>
            </a:r>
            <a:r>
              <a:rPr lang="en-US" altLang="zh-CN" sz="2000" b="1" kern="0" dirty="0">
                <a:latin typeface="Times New Roman" panose="02020603050405020304" pitchFamily="18" charset="0"/>
              </a:rPr>
              <a:t>,</a:t>
            </a:r>
            <a:r>
              <a:rPr lang="zh-CN" altLang="en-US" sz="2000" b="1" kern="0" dirty="0">
                <a:latin typeface="Times New Roman" panose="02020603050405020304" pitchFamily="18" charset="0"/>
              </a:rPr>
              <a:t>从</a:t>
            </a:r>
            <a:r>
              <a:rPr lang="en-US" altLang="zh-CN" sz="2000" i="1" kern="0" dirty="0">
                <a:latin typeface="Times New Roman" panose="02020603050405020304" pitchFamily="18" charset="0"/>
              </a:rPr>
              <a:t>R</a:t>
            </a:r>
            <a:r>
              <a:rPr lang="en-US" altLang="zh-CN" sz="2000" kern="0" baseline="-25000" dirty="0">
                <a:latin typeface="Times New Roman" panose="02020603050405020304" pitchFamily="18" charset="0"/>
              </a:rPr>
              <a:t>1</a:t>
            </a:r>
            <a:r>
              <a:rPr lang="zh-CN" altLang="en-US" sz="2000" b="1" kern="0" dirty="0">
                <a:latin typeface="Times New Roman" panose="02020603050405020304" pitchFamily="18" charset="0"/>
              </a:rPr>
              <a:t>端开始计算</a:t>
            </a:r>
            <a:r>
              <a:rPr lang="en-US" altLang="zh-CN" sz="2000" b="1" kern="0" dirty="0">
                <a:latin typeface="Times New Roman" panose="02020603050405020304" pitchFamily="18" charset="0"/>
              </a:rPr>
              <a:t>,</a:t>
            </a:r>
            <a:r>
              <a:rPr lang="zh-CN" altLang="en-US" sz="2000" b="1" kern="0" dirty="0">
                <a:latin typeface="Times New Roman" panose="02020603050405020304" pitchFamily="18" charset="0"/>
              </a:rPr>
              <a:t>选定</a:t>
            </a:r>
            <a:r>
              <a:rPr lang="en-US" altLang="zh-CN" sz="2000" i="1" kern="0" dirty="0">
                <a:latin typeface="Times New Roman" panose="02020603050405020304" pitchFamily="18" charset="0"/>
              </a:rPr>
              <a:t>Q</a:t>
            </a:r>
            <a:r>
              <a:rPr lang="en-US" altLang="zh-CN" sz="2000" kern="0" baseline="-25000" dirty="0">
                <a:latin typeface="Times New Roman" panose="02020603050405020304" pitchFamily="18" charset="0"/>
              </a:rPr>
              <a:t>1</a:t>
            </a:r>
            <a:r>
              <a:rPr lang="zh-CN" altLang="en-US" sz="2000" b="1" kern="0" dirty="0">
                <a:latin typeface="Times New Roman" panose="02020603050405020304" pitchFamily="18" charset="0"/>
              </a:rPr>
              <a:t>应满足                          </a:t>
            </a:r>
            <a:r>
              <a:rPr lang="en-US" altLang="zh-CN" sz="2000" b="1" kern="0" dirty="0">
                <a:latin typeface="Times New Roman" panose="02020603050405020304" pitchFamily="18" charset="0"/>
              </a:rPr>
              <a:t>,</a:t>
            </a:r>
            <a:r>
              <a:rPr lang="zh-CN" altLang="en-US" sz="2000" b="1" kern="0" dirty="0">
                <a:latin typeface="Times New Roman" panose="02020603050405020304" pitchFamily="18" charset="0"/>
              </a:rPr>
              <a:t>则</a:t>
            </a:r>
          </a:p>
          <a:p>
            <a:pPr eaLnBrk="1" hangingPunct="1">
              <a:buFontTx/>
              <a:buNone/>
            </a:pPr>
            <a:endParaRPr lang="zh-CN" altLang="en-US" sz="2000" kern="0" dirty="0">
              <a:latin typeface="Times New Roman" panose="02020603050405020304" pitchFamily="18" charset="0"/>
            </a:endParaRPr>
          </a:p>
          <a:p>
            <a:pPr eaLnBrk="1" hangingPunct="1">
              <a:buFontTx/>
              <a:buNone/>
            </a:pPr>
            <a:endParaRPr lang="zh-CN" altLang="en-US" sz="2000" kern="0" dirty="0">
              <a:latin typeface="Times New Roman" panose="02020603050405020304" pitchFamily="18" charset="0"/>
            </a:endParaRPr>
          </a:p>
          <a:p>
            <a:pPr eaLnBrk="1" hangingPunct="1">
              <a:buFontTx/>
              <a:buNone/>
            </a:pPr>
            <a:endParaRPr lang="zh-CN" altLang="en-US" sz="2000" kern="0" dirty="0">
              <a:latin typeface="Times New Roman" panose="02020603050405020304" pitchFamily="18" charset="0"/>
            </a:endParaRPr>
          </a:p>
          <a:p>
            <a:pPr eaLnBrk="1" hangingPunct="1">
              <a:buFontTx/>
              <a:buNone/>
            </a:pPr>
            <a:endParaRPr lang="zh-CN" altLang="en-US" sz="2000" kern="0" dirty="0">
              <a:latin typeface="Times New Roman" panose="02020603050405020304" pitchFamily="18" charset="0"/>
            </a:endParaRPr>
          </a:p>
          <a:p>
            <a:pPr eaLnBrk="1" hangingPunct="1">
              <a:buFontTx/>
              <a:buNone/>
            </a:pPr>
            <a:endParaRPr lang="zh-CN" altLang="en-US" sz="2000" kern="0" dirty="0">
              <a:latin typeface="Times New Roman" panose="02020603050405020304" pitchFamily="18" charset="0"/>
            </a:endParaRPr>
          </a:p>
          <a:p>
            <a:pPr eaLnBrk="1" hangingPunct="1">
              <a:buFontTx/>
              <a:buNone/>
            </a:pPr>
            <a:r>
              <a:rPr lang="en-US" altLang="zh-CN" sz="2000" b="1" kern="0" dirty="0">
                <a:latin typeface="Times New Roman" panose="02020603050405020304" pitchFamily="18" charset="0"/>
              </a:rPr>
              <a:t>      </a:t>
            </a:r>
          </a:p>
          <a:p>
            <a:pPr eaLnBrk="1" hangingPunct="1">
              <a:buFontTx/>
              <a:buNone/>
            </a:pPr>
            <a:endParaRPr lang="en-US" altLang="zh-CN" sz="2000" b="1" kern="0" dirty="0">
              <a:latin typeface="Times New Roman" panose="02020603050405020304" pitchFamily="18" charset="0"/>
            </a:endParaRPr>
          </a:p>
          <a:p>
            <a:pPr eaLnBrk="1" hangingPunct="1">
              <a:buFontTx/>
              <a:buNone/>
            </a:pPr>
            <a:endParaRPr lang="en-US" altLang="zh-CN" sz="2000" b="1" kern="0" dirty="0">
              <a:latin typeface="Times New Roman" panose="02020603050405020304" pitchFamily="18" charset="0"/>
            </a:endParaRPr>
          </a:p>
          <a:p>
            <a:pPr eaLnBrk="1" hangingPunct="1">
              <a:buFontTx/>
              <a:buNone/>
            </a:pPr>
            <a:endParaRPr lang="en-US" altLang="zh-CN" sz="2000" b="1" kern="0" dirty="0">
              <a:latin typeface="Times New Roman" panose="02020603050405020304" pitchFamily="18" charset="0"/>
            </a:endParaRPr>
          </a:p>
          <a:p>
            <a:pPr eaLnBrk="1" hangingPunct="1">
              <a:buFontTx/>
              <a:buNone/>
            </a:pPr>
            <a:r>
              <a:rPr lang="en-US" altLang="zh-CN" sz="2000" b="1" kern="0" dirty="0">
                <a:solidFill>
                  <a:srgbClr val="FF0000"/>
                </a:solidFill>
                <a:latin typeface="Times New Roman" panose="02020603050405020304" pitchFamily="18" charset="0"/>
              </a:rPr>
              <a:t>              π</a:t>
            </a:r>
            <a:r>
              <a:rPr lang="zh-CN" altLang="en-US" sz="2000" b="1" kern="0" dirty="0">
                <a:solidFill>
                  <a:srgbClr val="FF0000"/>
                </a:solidFill>
                <a:latin typeface="Times New Roman" panose="02020603050405020304" pitchFamily="18" charset="0"/>
              </a:rPr>
              <a:t>型匹配网络具有阻抗匹配和选频的功能</a:t>
            </a:r>
            <a:r>
              <a:rPr lang="en-US" altLang="zh-CN" sz="2000" b="1" kern="0" dirty="0">
                <a:solidFill>
                  <a:srgbClr val="FF0000"/>
                </a:solidFill>
                <a:latin typeface="Times New Roman" panose="02020603050405020304" pitchFamily="18" charset="0"/>
              </a:rPr>
              <a:t>, </a:t>
            </a:r>
            <a:r>
              <a:rPr lang="zh-CN" altLang="en-US" sz="2000" b="1" kern="0" dirty="0">
                <a:latin typeface="Times New Roman" panose="02020603050405020304" pitchFamily="18" charset="0"/>
              </a:rPr>
              <a:t>最基本的组成是由</a:t>
            </a:r>
            <a:r>
              <a:rPr lang="zh-CN" altLang="en-US" sz="2000" b="1" kern="0" dirty="0">
                <a:solidFill>
                  <a:srgbClr val="FF66FF"/>
                </a:solidFill>
                <a:latin typeface="Times New Roman" panose="02020603050405020304" pitchFamily="18" charset="0"/>
              </a:rPr>
              <a:t>两个感抗和一个容抗</a:t>
            </a:r>
            <a:r>
              <a:rPr lang="zh-CN" altLang="en-US" sz="2000" b="1" kern="0" dirty="0">
                <a:latin typeface="Times New Roman" panose="02020603050405020304" pitchFamily="18" charset="0"/>
              </a:rPr>
              <a:t>或</a:t>
            </a:r>
            <a:r>
              <a:rPr lang="zh-CN" altLang="en-US" sz="2000" b="1" kern="0" dirty="0">
                <a:solidFill>
                  <a:srgbClr val="00B050"/>
                </a:solidFill>
                <a:latin typeface="Times New Roman" panose="02020603050405020304" pitchFamily="18" charset="0"/>
              </a:rPr>
              <a:t>两个容抗和一个感抗构成，</a:t>
            </a:r>
            <a:r>
              <a:rPr lang="en-US" altLang="zh-CN" sz="2000" b="1" kern="0" dirty="0">
                <a:latin typeface="Times New Roman" panose="02020603050405020304" pitchFamily="18" charset="0"/>
              </a:rPr>
              <a:t>π</a:t>
            </a:r>
            <a:r>
              <a:rPr lang="zh-CN" altLang="en-US" sz="2000" b="1" kern="0" dirty="0">
                <a:latin typeface="Times New Roman" panose="02020603050405020304" pitchFamily="18" charset="0"/>
              </a:rPr>
              <a:t>型匹配网络共有</a:t>
            </a:r>
            <a:r>
              <a:rPr lang="zh-CN" altLang="en-US" sz="2000" b="1" kern="0" dirty="0">
                <a:solidFill>
                  <a:srgbClr val="FF0000"/>
                </a:solidFill>
                <a:latin typeface="Times New Roman" panose="02020603050405020304" pitchFamily="18" charset="0"/>
              </a:rPr>
              <a:t>六种基本电路形式。</a:t>
            </a:r>
            <a:endParaRPr lang="zh-CN" altLang="en-US" sz="2000" kern="0" dirty="0">
              <a:solidFill>
                <a:srgbClr val="FF0000"/>
              </a:solidFill>
              <a:latin typeface="Times New Roman" panose="02020603050405020304" pitchFamily="18" charset="0"/>
            </a:endParaRPr>
          </a:p>
        </p:txBody>
      </p:sp>
      <p:graphicFrame>
        <p:nvGraphicFramePr>
          <p:cNvPr id="7" name="对象 461838">
            <a:extLst>
              <a:ext uri="{FF2B5EF4-FFF2-40B4-BE49-F238E27FC236}">
                <a16:creationId xmlns:a16="http://schemas.microsoft.com/office/drawing/2014/main" xmlns="" id="{B339386B-CC80-E97A-2EE6-59B2DE47A572}"/>
              </a:ext>
            </a:extLst>
          </p:cNvPr>
          <p:cNvGraphicFramePr/>
          <p:nvPr>
            <p:extLst>
              <p:ext uri="{D42A27DB-BD31-4B8C-83A1-F6EECF244321}">
                <p14:modId xmlns:p14="http://schemas.microsoft.com/office/powerpoint/2010/main" val="219274426"/>
              </p:ext>
            </p:extLst>
          </p:nvPr>
        </p:nvGraphicFramePr>
        <p:xfrm>
          <a:off x="5348611" y="1302802"/>
          <a:ext cx="1439863" cy="835025"/>
        </p:xfrm>
        <a:graphic>
          <a:graphicData uri="http://schemas.openxmlformats.org/presentationml/2006/ole">
            <mc:AlternateContent xmlns:mc="http://schemas.openxmlformats.org/markup-compatibility/2006">
              <mc:Choice xmlns:v="urn:schemas-microsoft-com:vml" Requires="v">
                <p:oleObj spid="_x0000_s33898" r:id="rId3" imgW="837565" imgH="482600" progId="Equation.3">
                  <p:embed/>
                </p:oleObj>
              </mc:Choice>
              <mc:Fallback>
                <p:oleObj r:id="rId3" imgW="837565" imgH="482600" progId="Equation.3">
                  <p:embed/>
                  <p:pic>
                    <p:nvPicPr>
                      <p:cNvPr id="0" name=""/>
                      <p:cNvPicPr/>
                      <p:nvPr/>
                    </p:nvPicPr>
                    <p:blipFill>
                      <a:blip r:embed="rId4"/>
                      <a:stretch>
                        <a:fillRect/>
                      </a:stretch>
                    </p:blipFill>
                    <p:spPr>
                      <a:xfrm>
                        <a:off x="5348611" y="1302802"/>
                        <a:ext cx="1439863" cy="835025"/>
                      </a:xfrm>
                      <a:prstGeom prst="rect">
                        <a:avLst/>
                      </a:prstGeom>
                      <a:noFill/>
                      <a:ln w="38100">
                        <a:noFill/>
                        <a:miter/>
                      </a:ln>
                    </p:spPr>
                  </p:pic>
                </p:oleObj>
              </mc:Fallback>
            </mc:AlternateContent>
          </a:graphicData>
        </a:graphic>
      </p:graphicFrame>
      <p:graphicFrame>
        <p:nvGraphicFramePr>
          <p:cNvPr id="8" name="对象 461841">
            <a:extLst>
              <a:ext uri="{FF2B5EF4-FFF2-40B4-BE49-F238E27FC236}">
                <a16:creationId xmlns:a16="http://schemas.microsoft.com/office/drawing/2014/main" xmlns="" id="{F85A6B79-E3F0-724F-8289-35BC7979CDD3}"/>
              </a:ext>
            </a:extLst>
          </p:cNvPr>
          <p:cNvGraphicFramePr/>
          <p:nvPr>
            <p:extLst>
              <p:ext uri="{D42A27DB-BD31-4B8C-83A1-F6EECF244321}">
                <p14:modId xmlns:p14="http://schemas.microsoft.com/office/powerpoint/2010/main" val="3269146921"/>
              </p:ext>
            </p:extLst>
          </p:nvPr>
        </p:nvGraphicFramePr>
        <p:xfrm>
          <a:off x="1742851" y="2186110"/>
          <a:ext cx="5184775" cy="2782888"/>
        </p:xfrm>
        <a:graphic>
          <a:graphicData uri="http://schemas.openxmlformats.org/presentationml/2006/ole">
            <mc:AlternateContent xmlns:mc="http://schemas.openxmlformats.org/markup-compatibility/2006">
              <mc:Choice xmlns:v="urn:schemas-microsoft-com:vml" Requires="v">
                <p:oleObj spid="_x0000_s33899" r:id="rId5" imgW="2463800" imgH="1358900" progId="Equation.3">
                  <p:embed/>
                </p:oleObj>
              </mc:Choice>
              <mc:Fallback>
                <p:oleObj r:id="rId5" imgW="2463800" imgH="1358900" progId="Equation.3">
                  <p:embed/>
                  <p:pic>
                    <p:nvPicPr>
                      <p:cNvPr id="0" name=""/>
                      <p:cNvPicPr/>
                      <p:nvPr/>
                    </p:nvPicPr>
                    <p:blipFill>
                      <a:blip r:embed="rId6"/>
                      <a:stretch>
                        <a:fillRect/>
                      </a:stretch>
                    </p:blipFill>
                    <p:spPr>
                      <a:xfrm>
                        <a:off x="1742851" y="2186110"/>
                        <a:ext cx="5184775" cy="2782888"/>
                      </a:xfrm>
                      <a:prstGeom prst="rect">
                        <a:avLst/>
                      </a:prstGeom>
                      <a:noFill/>
                      <a:ln w="38100">
                        <a:noFill/>
                        <a:miter/>
                      </a:ln>
                    </p:spPr>
                  </p:pic>
                </p:oleObj>
              </mc:Fallback>
            </mc:AlternateContent>
          </a:graphicData>
        </a:graphic>
      </p:graphicFrame>
    </p:spTree>
    <p:extLst>
      <p:ext uri="{BB962C8B-B14F-4D97-AF65-F5344CB8AC3E}">
        <p14:creationId xmlns:p14="http://schemas.microsoft.com/office/powerpoint/2010/main" val="899887319"/>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55</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5"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2.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高频</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基础</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电路</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 name="文本占位符 464898">
            <a:extLst>
              <a:ext uri="{FF2B5EF4-FFF2-40B4-BE49-F238E27FC236}">
                <a16:creationId xmlns:a16="http://schemas.microsoft.com/office/drawing/2014/main" xmlns="" id="{BF012D38-F083-A7EB-CDBB-63AEA024825A}"/>
              </a:ext>
            </a:extLst>
          </p:cNvPr>
          <p:cNvSpPr txBox="1">
            <a:spLocks/>
          </p:cNvSpPr>
          <p:nvPr/>
        </p:nvSpPr>
        <p:spPr>
          <a:xfrm>
            <a:off x="315505" y="1324528"/>
            <a:ext cx="8388350" cy="1196319"/>
          </a:xfrm>
          <a:prstGeom prst="rect">
            <a:avLst/>
          </a:prstGeom>
          <a:noFill/>
          <a:ln>
            <a:noFill/>
          </a:ln>
        </p:spPr>
        <p:txBody>
          <a:bodyPr/>
          <a:lstStyle>
            <a:lvl1pPr marL="342900" indent="-342900" algn="l" rtl="0" eaLnBrk="0" fontAlgn="base" hangingPunct="0">
              <a:spcBef>
                <a:spcPct val="20000"/>
              </a:spcBef>
              <a:spcAft>
                <a:spcPct val="0"/>
              </a:spcAft>
              <a:buChar char="•"/>
              <a:defRPr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eaLnBrk="1" hangingPunct="1">
              <a:spcBef>
                <a:spcPts val="0"/>
              </a:spcBef>
              <a:buFontTx/>
              <a:buNone/>
            </a:pPr>
            <a:r>
              <a:rPr lang="zh-CN" altLang="en-US" sz="2200" b="1" kern="0" dirty="0" smtClean="0">
                <a:latin typeface="Times New Roman" panose="02020603050405020304" pitchFamily="18" charset="0"/>
              </a:rPr>
              <a:t>例</a:t>
            </a:r>
            <a:r>
              <a:rPr lang="en-US" altLang="zh-CN" sz="2200" b="1" kern="0" dirty="0" smtClean="0">
                <a:latin typeface="Times New Roman" panose="02020603050405020304" pitchFamily="18" charset="0"/>
              </a:rPr>
              <a:t> </a:t>
            </a:r>
            <a:r>
              <a:rPr lang="zh-CN" altLang="en-US" sz="2200" b="1" kern="0" dirty="0" smtClean="0">
                <a:latin typeface="Times New Roman" panose="02020603050405020304" pitchFamily="18" charset="0"/>
              </a:rPr>
              <a:t>已知</a:t>
            </a:r>
            <a:r>
              <a:rPr lang="zh-CN" altLang="en-US" sz="2200" b="1" kern="0" dirty="0">
                <a:latin typeface="Times New Roman" panose="02020603050405020304" pitchFamily="18" charset="0"/>
              </a:rPr>
              <a:t>信源电阻</a:t>
            </a:r>
            <a:r>
              <a:rPr lang="en-US" altLang="zh-CN" sz="2200" i="1" kern="0" dirty="0">
                <a:latin typeface="Times New Roman" panose="02020603050405020304" pitchFamily="18" charset="0"/>
              </a:rPr>
              <a:t>R</a:t>
            </a:r>
            <a:r>
              <a:rPr lang="en-US" altLang="zh-CN" sz="2200" kern="0" baseline="-25000" dirty="0">
                <a:latin typeface="Times New Roman" panose="02020603050405020304" pitchFamily="18" charset="0"/>
              </a:rPr>
              <a:t>1</a:t>
            </a:r>
            <a:r>
              <a:rPr lang="en-US" altLang="zh-CN" sz="2200" kern="0" dirty="0">
                <a:latin typeface="Times New Roman" panose="02020603050405020304" pitchFamily="18" charset="0"/>
              </a:rPr>
              <a:t>=20Ω</a:t>
            </a:r>
            <a:r>
              <a:rPr lang="en-US" altLang="zh-CN" sz="2200" b="1" kern="0" dirty="0">
                <a:latin typeface="Times New Roman" panose="02020603050405020304" pitchFamily="18" charset="0"/>
              </a:rPr>
              <a:t>, </a:t>
            </a:r>
            <a:r>
              <a:rPr lang="zh-CN" altLang="en-US" sz="2200" b="1" kern="0" dirty="0">
                <a:latin typeface="Times New Roman" panose="02020603050405020304" pitchFamily="18" charset="0"/>
              </a:rPr>
              <a:t>负载电阻</a:t>
            </a:r>
            <a:r>
              <a:rPr lang="en-US" altLang="zh-CN" sz="2200" i="1" kern="0" dirty="0">
                <a:latin typeface="Times New Roman" panose="02020603050405020304" pitchFamily="18" charset="0"/>
              </a:rPr>
              <a:t>R</a:t>
            </a:r>
            <a:r>
              <a:rPr lang="en-US" altLang="zh-CN" sz="2200" kern="0" baseline="-25000" dirty="0">
                <a:latin typeface="Times New Roman" panose="02020603050405020304" pitchFamily="18" charset="0"/>
              </a:rPr>
              <a:t>2</a:t>
            </a:r>
            <a:r>
              <a:rPr lang="en-US" altLang="zh-CN" sz="2200" kern="0" dirty="0">
                <a:latin typeface="Times New Roman" panose="02020603050405020304" pitchFamily="18" charset="0"/>
              </a:rPr>
              <a:t>=120Ω</a:t>
            </a:r>
            <a:r>
              <a:rPr lang="en-US" altLang="zh-CN" sz="2200" b="1" kern="0" dirty="0">
                <a:latin typeface="Times New Roman" panose="02020603050405020304" pitchFamily="18" charset="0"/>
              </a:rPr>
              <a:t>, </a:t>
            </a:r>
            <a:r>
              <a:rPr lang="zh-CN" altLang="en-US" sz="2200" b="1" kern="0" dirty="0">
                <a:latin typeface="Times New Roman" panose="02020603050405020304" pitchFamily="18" charset="0"/>
              </a:rPr>
              <a:t>工作频率</a:t>
            </a:r>
            <a:r>
              <a:rPr lang="en-US" altLang="zh-CN" sz="2200" i="1" kern="0" dirty="0">
                <a:latin typeface="Times New Roman" panose="02020603050405020304" pitchFamily="18" charset="0"/>
              </a:rPr>
              <a:t>f</a:t>
            </a:r>
            <a:r>
              <a:rPr lang="en-US" altLang="zh-CN" sz="2200" kern="0" dirty="0">
                <a:latin typeface="Times New Roman" panose="02020603050405020304" pitchFamily="18" charset="0"/>
              </a:rPr>
              <a:t>=5MHz</a:t>
            </a:r>
            <a:r>
              <a:rPr lang="en-US" altLang="zh-CN" sz="2200" b="1" kern="0" dirty="0">
                <a:latin typeface="Times New Roman" panose="02020603050405020304" pitchFamily="18" charset="0"/>
              </a:rPr>
              <a:t>, </a:t>
            </a:r>
            <a:r>
              <a:rPr lang="zh-CN" altLang="en-US" sz="2200" b="1" kern="0" dirty="0">
                <a:solidFill>
                  <a:srgbClr val="FF0000"/>
                </a:solidFill>
                <a:latin typeface="Times New Roman" panose="02020603050405020304" pitchFamily="18" charset="0"/>
              </a:rPr>
              <a:t>通频带为</a:t>
            </a:r>
            <a:r>
              <a:rPr lang="en-US" altLang="zh-CN" sz="2200" kern="0" dirty="0">
                <a:solidFill>
                  <a:srgbClr val="FF0000"/>
                </a:solidFill>
                <a:latin typeface="Times New Roman" panose="02020603050405020304" pitchFamily="18" charset="0"/>
              </a:rPr>
              <a:t>1.2MHz</a:t>
            </a:r>
            <a:r>
              <a:rPr lang="zh-CN" altLang="en-US" sz="2200" b="1" kern="0" dirty="0">
                <a:solidFill>
                  <a:srgbClr val="FF0000"/>
                </a:solidFill>
                <a:latin typeface="Times New Roman" panose="02020603050405020304" pitchFamily="18" charset="0"/>
              </a:rPr>
              <a:t>。</a:t>
            </a:r>
            <a:r>
              <a:rPr lang="zh-CN" altLang="en-US" sz="2200" b="1" kern="0" dirty="0">
                <a:latin typeface="Times New Roman" panose="02020603050405020304" pitchFamily="18" charset="0"/>
              </a:rPr>
              <a:t>设计一个</a:t>
            </a:r>
            <a:r>
              <a:rPr lang="en-US" altLang="zh-CN" sz="2200" b="1" kern="0" dirty="0">
                <a:latin typeface="Times New Roman" panose="02020603050405020304" pitchFamily="18" charset="0"/>
              </a:rPr>
              <a:t>π</a:t>
            </a:r>
            <a:r>
              <a:rPr lang="zh-CN" altLang="en-US" sz="2200" b="1" kern="0" dirty="0">
                <a:latin typeface="Times New Roman" panose="02020603050405020304" pitchFamily="18" charset="0"/>
              </a:rPr>
              <a:t>型匹配网络。</a:t>
            </a:r>
            <a:endParaRPr lang="en-US" altLang="zh-CN" sz="2200" b="1" kern="0" dirty="0">
              <a:latin typeface="Times New Roman" panose="02020603050405020304" pitchFamily="18" charset="0"/>
            </a:endParaRPr>
          </a:p>
          <a:p>
            <a:pPr eaLnBrk="1" hangingPunct="1">
              <a:buFontTx/>
              <a:buNone/>
            </a:pPr>
            <a:r>
              <a:rPr lang="zh-CN" altLang="en-US" sz="2200" b="1" kern="0" dirty="0">
                <a:latin typeface="楷体_GB2312" panose="02010609030101010101" pitchFamily="49" charset="-122"/>
                <a:ea typeface="楷体_GB2312" panose="02010609030101010101" pitchFamily="49" charset="-122"/>
              </a:rPr>
              <a:t>  </a:t>
            </a:r>
            <a:endParaRPr lang="zh-CN" altLang="en-US" sz="2200" kern="0" dirty="0">
              <a:latin typeface="楷体_GB2312" panose="02010609030101010101" pitchFamily="49" charset="-122"/>
              <a:ea typeface="楷体_GB2312" panose="02010609030101010101" pitchFamily="49" charset="-122"/>
            </a:endParaRPr>
          </a:p>
          <a:p>
            <a:pPr eaLnBrk="1" hangingPunct="1">
              <a:buFontTx/>
              <a:buNone/>
            </a:pPr>
            <a:r>
              <a:rPr lang="zh-CN" altLang="en-US" sz="2200" b="1" kern="0" dirty="0">
                <a:latin typeface="楷体_GB2312" panose="02010609030101010101" pitchFamily="49" charset="-122"/>
                <a:ea typeface="楷体_GB2312" panose="02010609030101010101" pitchFamily="49" charset="-122"/>
              </a:rPr>
              <a:t>            </a:t>
            </a:r>
            <a:endParaRPr lang="zh-CN" altLang="en-US" sz="2200" kern="0" dirty="0">
              <a:latin typeface="楷体_GB2312" panose="02010609030101010101" pitchFamily="49" charset="-122"/>
              <a:ea typeface="楷体_GB2312" panose="02010609030101010101" pitchFamily="49" charset="-122"/>
            </a:endParaRPr>
          </a:p>
          <a:p>
            <a:pPr eaLnBrk="1" hangingPunct="1">
              <a:buFontTx/>
              <a:buNone/>
            </a:pPr>
            <a:endParaRPr lang="zh-CN" altLang="en-US" sz="2200" kern="0" dirty="0">
              <a:latin typeface="楷体_GB2312" panose="02010609030101010101" pitchFamily="49" charset="-122"/>
              <a:ea typeface="楷体_GB2312" panose="02010609030101010101" pitchFamily="49" charset="-122"/>
            </a:endParaRPr>
          </a:p>
          <a:p>
            <a:pPr eaLnBrk="1" hangingPunct="1">
              <a:buFontTx/>
              <a:buNone/>
            </a:pPr>
            <a:endParaRPr lang="zh-CN" altLang="en-US" sz="2200" b="1" kern="0" dirty="0">
              <a:latin typeface="楷体_GB2312" panose="02010609030101010101" pitchFamily="49" charset="-122"/>
              <a:ea typeface="楷体_GB2312" panose="02010609030101010101" pitchFamily="49" charset="-122"/>
            </a:endParaRPr>
          </a:p>
          <a:p>
            <a:pPr eaLnBrk="1" hangingPunct="1">
              <a:buFontTx/>
              <a:buNone/>
            </a:pPr>
            <a:endParaRPr lang="zh-CN" altLang="en-US" sz="2200" b="1" kern="0" dirty="0">
              <a:latin typeface="楷体_GB2312" panose="02010609030101010101" pitchFamily="49" charset="-122"/>
              <a:ea typeface="楷体_GB2312" panose="02010609030101010101" pitchFamily="49" charset="-122"/>
            </a:endParaRPr>
          </a:p>
          <a:p>
            <a:pPr eaLnBrk="1" hangingPunct="1">
              <a:buFontTx/>
              <a:buNone/>
            </a:pPr>
            <a:r>
              <a:rPr lang="zh-CN" altLang="en-US" sz="2200" b="1" kern="0" dirty="0">
                <a:latin typeface="楷体_GB2312" panose="02010609030101010101" pitchFamily="49" charset="-122"/>
                <a:ea typeface="楷体_GB2312" panose="02010609030101010101" pitchFamily="49" charset="-122"/>
              </a:rPr>
              <a:t>    </a:t>
            </a:r>
          </a:p>
          <a:p>
            <a:pPr eaLnBrk="1" hangingPunct="1">
              <a:buFontTx/>
              <a:buNone/>
            </a:pPr>
            <a:r>
              <a:rPr lang="zh-CN" altLang="en-US" sz="2200" b="1" kern="0" dirty="0">
                <a:latin typeface="楷体_GB2312" panose="02010609030101010101" pitchFamily="49" charset="-122"/>
                <a:ea typeface="楷体_GB2312" panose="02010609030101010101" pitchFamily="49" charset="-122"/>
              </a:rPr>
              <a:t>    </a:t>
            </a:r>
          </a:p>
          <a:p>
            <a:pPr eaLnBrk="1" hangingPunct="1">
              <a:buFontTx/>
              <a:buNone/>
            </a:pPr>
            <a:endParaRPr lang="zh-CN" altLang="en-US" sz="2200" kern="0" dirty="0">
              <a:latin typeface="楷体_GB2312" panose="02010609030101010101" pitchFamily="49" charset="-122"/>
              <a:ea typeface="楷体_GB2312" panose="02010609030101010101" pitchFamily="49" charset="-122"/>
            </a:endParaRPr>
          </a:p>
        </p:txBody>
      </p:sp>
      <p:pic>
        <p:nvPicPr>
          <p:cNvPr id="8" name="图片 464922" descr="AA)">
            <a:extLst>
              <a:ext uri="{FF2B5EF4-FFF2-40B4-BE49-F238E27FC236}">
                <a16:creationId xmlns:a16="http://schemas.microsoft.com/office/drawing/2014/main" xmlns="" id="{46A3AE6A-FBD8-AC36-F201-C9A6B5EBE492}"/>
              </a:ext>
            </a:extLst>
          </p:cNvPr>
          <p:cNvPicPr>
            <a:picLocks noChangeAspect="1"/>
          </p:cNvPicPr>
          <p:nvPr/>
        </p:nvPicPr>
        <p:blipFill>
          <a:blip r:embed="rId3"/>
          <a:stretch>
            <a:fillRect/>
          </a:stretch>
        </p:blipFill>
        <p:spPr>
          <a:xfrm>
            <a:off x="1629161" y="2094710"/>
            <a:ext cx="5761037" cy="2005013"/>
          </a:xfrm>
          <a:prstGeom prst="rect">
            <a:avLst/>
          </a:prstGeom>
          <a:noFill/>
          <a:ln w="9525">
            <a:noFill/>
          </a:ln>
        </p:spPr>
      </p:pic>
      <p:graphicFrame>
        <p:nvGraphicFramePr>
          <p:cNvPr id="9" name="对象 464924">
            <a:extLst>
              <a:ext uri="{FF2B5EF4-FFF2-40B4-BE49-F238E27FC236}">
                <a16:creationId xmlns:a16="http://schemas.microsoft.com/office/drawing/2014/main" xmlns="" id="{DCD9A801-53FF-FF82-2A65-A0B541D30C2B}"/>
              </a:ext>
            </a:extLst>
          </p:cNvPr>
          <p:cNvGraphicFramePr/>
          <p:nvPr>
            <p:extLst>
              <p:ext uri="{D42A27DB-BD31-4B8C-83A1-F6EECF244321}">
                <p14:modId xmlns:p14="http://schemas.microsoft.com/office/powerpoint/2010/main" val="1210476808"/>
              </p:ext>
            </p:extLst>
          </p:nvPr>
        </p:nvGraphicFramePr>
        <p:xfrm>
          <a:off x="2133193" y="4385674"/>
          <a:ext cx="4752975" cy="490538"/>
        </p:xfrm>
        <a:graphic>
          <a:graphicData uri="http://schemas.openxmlformats.org/presentationml/2006/ole">
            <mc:AlternateContent xmlns:mc="http://schemas.openxmlformats.org/markup-compatibility/2006">
              <mc:Choice xmlns:v="urn:schemas-microsoft-com:vml" Requires="v">
                <p:oleObj spid="_x0000_s35026" r:id="rId4" imgW="2209800" imgH="228600" progId="Equation.3">
                  <p:embed/>
                </p:oleObj>
              </mc:Choice>
              <mc:Fallback>
                <p:oleObj r:id="rId4" imgW="2209800" imgH="228600" progId="Equation.3">
                  <p:embed/>
                  <p:pic>
                    <p:nvPicPr>
                      <p:cNvPr id="0" name=""/>
                      <p:cNvPicPr/>
                      <p:nvPr/>
                    </p:nvPicPr>
                    <p:blipFill>
                      <a:blip r:embed="rId5"/>
                      <a:stretch>
                        <a:fillRect/>
                      </a:stretch>
                    </p:blipFill>
                    <p:spPr>
                      <a:xfrm>
                        <a:off x="2133193" y="4385674"/>
                        <a:ext cx="4752975" cy="490538"/>
                      </a:xfrm>
                      <a:prstGeom prst="rect">
                        <a:avLst/>
                      </a:prstGeom>
                      <a:noFill/>
                      <a:ln w="38100">
                        <a:noFill/>
                        <a:miter/>
                      </a:ln>
                    </p:spPr>
                  </p:pic>
                </p:oleObj>
              </mc:Fallback>
            </mc:AlternateContent>
          </a:graphicData>
        </a:graphic>
      </p:graphicFrame>
      <p:graphicFrame>
        <p:nvGraphicFramePr>
          <p:cNvPr id="10" name="对象 464927">
            <a:extLst>
              <a:ext uri="{FF2B5EF4-FFF2-40B4-BE49-F238E27FC236}">
                <a16:creationId xmlns:a16="http://schemas.microsoft.com/office/drawing/2014/main" xmlns="" id="{99C067D2-1F2E-69CA-B945-0AD9535BFB53}"/>
              </a:ext>
            </a:extLst>
          </p:cNvPr>
          <p:cNvGraphicFramePr/>
          <p:nvPr>
            <p:extLst>
              <p:ext uri="{D42A27DB-BD31-4B8C-83A1-F6EECF244321}">
                <p14:modId xmlns:p14="http://schemas.microsoft.com/office/powerpoint/2010/main" val="1806403049"/>
              </p:ext>
            </p:extLst>
          </p:nvPr>
        </p:nvGraphicFramePr>
        <p:xfrm>
          <a:off x="2079827" y="5089537"/>
          <a:ext cx="2016125" cy="484187"/>
        </p:xfrm>
        <a:graphic>
          <a:graphicData uri="http://schemas.openxmlformats.org/presentationml/2006/ole">
            <mc:AlternateContent xmlns:mc="http://schemas.openxmlformats.org/markup-compatibility/2006">
              <mc:Choice xmlns:v="urn:schemas-microsoft-com:vml" Requires="v">
                <p:oleObj spid="_x0000_s35027" r:id="rId6" imgW="951865" imgH="228600" progId="Equation.3">
                  <p:embed/>
                </p:oleObj>
              </mc:Choice>
              <mc:Fallback>
                <p:oleObj r:id="rId6" imgW="951865" imgH="228600" progId="Equation.3">
                  <p:embed/>
                  <p:pic>
                    <p:nvPicPr>
                      <p:cNvPr id="0" name=""/>
                      <p:cNvPicPr/>
                      <p:nvPr/>
                    </p:nvPicPr>
                    <p:blipFill>
                      <a:blip r:embed="rId7"/>
                      <a:stretch>
                        <a:fillRect/>
                      </a:stretch>
                    </p:blipFill>
                    <p:spPr>
                      <a:xfrm>
                        <a:off x="2079827" y="5089537"/>
                        <a:ext cx="2016125" cy="484187"/>
                      </a:xfrm>
                      <a:prstGeom prst="rect">
                        <a:avLst/>
                      </a:prstGeom>
                      <a:noFill/>
                      <a:ln w="38100">
                        <a:noFill/>
                        <a:miter/>
                      </a:ln>
                    </p:spPr>
                  </p:pic>
                </p:oleObj>
              </mc:Fallback>
            </mc:AlternateContent>
          </a:graphicData>
        </a:graphic>
      </p:graphicFrame>
      <p:graphicFrame>
        <p:nvGraphicFramePr>
          <p:cNvPr id="11" name="对象 464930">
            <a:extLst>
              <a:ext uri="{FF2B5EF4-FFF2-40B4-BE49-F238E27FC236}">
                <a16:creationId xmlns:a16="http://schemas.microsoft.com/office/drawing/2014/main" xmlns="" id="{E7828B2C-BBD2-809F-372D-964361EC2E3C}"/>
              </a:ext>
            </a:extLst>
          </p:cNvPr>
          <p:cNvGraphicFramePr/>
          <p:nvPr>
            <p:extLst>
              <p:ext uri="{D42A27DB-BD31-4B8C-83A1-F6EECF244321}">
                <p14:modId xmlns:p14="http://schemas.microsoft.com/office/powerpoint/2010/main" val="2930163349"/>
              </p:ext>
            </p:extLst>
          </p:nvPr>
        </p:nvGraphicFramePr>
        <p:xfrm>
          <a:off x="2079827" y="5089537"/>
          <a:ext cx="2016125" cy="484187"/>
        </p:xfrm>
        <a:graphic>
          <a:graphicData uri="http://schemas.openxmlformats.org/presentationml/2006/ole">
            <mc:AlternateContent xmlns:mc="http://schemas.openxmlformats.org/markup-compatibility/2006">
              <mc:Choice xmlns:v="urn:schemas-microsoft-com:vml" Requires="v">
                <p:oleObj spid="_x0000_s35028" r:id="rId8" imgW="951865" imgH="228600" progId="Equation.3">
                  <p:embed/>
                </p:oleObj>
              </mc:Choice>
              <mc:Fallback>
                <p:oleObj r:id="rId8" imgW="951865" imgH="228600" progId="Equation.3">
                  <p:embed/>
                  <p:pic>
                    <p:nvPicPr>
                      <p:cNvPr id="0" name=""/>
                      <p:cNvPicPr/>
                      <p:nvPr/>
                    </p:nvPicPr>
                    <p:blipFill>
                      <a:blip r:embed="rId9"/>
                      <a:stretch>
                        <a:fillRect/>
                      </a:stretch>
                    </p:blipFill>
                    <p:spPr>
                      <a:xfrm>
                        <a:off x="2079827" y="5089537"/>
                        <a:ext cx="2016125" cy="484187"/>
                      </a:xfrm>
                      <a:prstGeom prst="rect">
                        <a:avLst/>
                      </a:prstGeom>
                      <a:noFill/>
                      <a:ln w="38100">
                        <a:noFill/>
                        <a:miter/>
                      </a:ln>
                    </p:spPr>
                  </p:pic>
                </p:oleObj>
              </mc:Fallback>
            </mc:AlternateContent>
          </a:graphicData>
        </a:graphic>
      </p:graphicFrame>
      <p:graphicFrame>
        <p:nvGraphicFramePr>
          <p:cNvPr id="12" name="对象 464932">
            <a:extLst>
              <a:ext uri="{FF2B5EF4-FFF2-40B4-BE49-F238E27FC236}">
                <a16:creationId xmlns:a16="http://schemas.microsoft.com/office/drawing/2014/main" xmlns="" id="{588B239E-7197-E9AD-1971-6D2F4FF0F5AB}"/>
              </a:ext>
            </a:extLst>
          </p:cNvPr>
          <p:cNvGraphicFramePr/>
          <p:nvPr>
            <p:extLst>
              <p:ext uri="{D42A27DB-BD31-4B8C-83A1-F6EECF244321}">
                <p14:modId xmlns:p14="http://schemas.microsoft.com/office/powerpoint/2010/main" val="1526754412"/>
              </p:ext>
            </p:extLst>
          </p:nvPr>
        </p:nvGraphicFramePr>
        <p:xfrm>
          <a:off x="4868456" y="5089537"/>
          <a:ext cx="2017712" cy="479425"/>
        </p:xfrm>
        <a:graphic>
          <a:graphicData uri="http://schemas.openxmlformats.org/presentationml/2006/ole">
            <mc:AlternateContent xmlns:mc="http://schemas.openxmlformats.org/markup-compatibility/2006">
              <mc:Choice xmlns:v="urn:schemas-microsoft-com:vml" Requires="v">
                <p:oleObj spid="_x0000_s35029" r:id="rId10" imgW="965200" imgH="228600" progId="Equation.3">
                  <p:embed/>
                </p:oleObj>
              </mc:Choice>
              <mc:Fallback>
                <p:oleObj r:id="rId10" imgW="965200" imgH="228600" progId="Equation.3">
                  <p:embed/>
                  <p:pic>
                    <p:nvPicPr>
                      <p:cNvPr id="0" name=""/>
                      <p:cNvPicPr/>
                      <p:nvPr/>
                    </p:nvPicPr>
                    <p:blipFill>
                      <a:blip r:embed="rId11"/>
                      <a:stretch>
                        <a:fillRect/>
                      </a:stretch>
                    </p:blipFill>
                    <p:spPr>
                      <a:xfrm>
                        <a:off x="4868456" y="5089537"/>
                        <a:ext cx="2017712" cy="479425"/>
                      </a:xfrm>
                      <a:prstGeom prst="rect">
                        <a:avLst/>
                      </a:prstGeom>
                      <a:noFill/>
                      <a:ln w="38100">
                        <a:noFill/>
                        <a:miter/>
                      </a:ln>
                    </p:spPr>
                  </p:pic>
                </p:oleObj>
              </mc:Fallback>
            </mc:AlternateContent>
          </a:graphicData>
        </a:graphic>
      </p:graphicFrame>
      <p:sp>
        <p:nvSpPr>
          <p:cNvPr id="13" name="文本占位符 464898">
            <a:extLst>
              <a:ext uri="{FF2B5EF4-FFF2-40B4-BE49-F238E27FC236}">
                <a16:creationId xmlns:a16="http://schemas.microsoft.com/office/drawing/2014/main" xmlns="" id="{0B177911-D86E-9822-8E55-7FDFF67C7A39}"/>
              </a:ext>
            </a:extLst>
          </p:cNvPr>
          <p:cNvSpPr txBox="1">
            <a:spLocks/>
          </p:cNvSpPr>
          <p:nvPr/>
        </p:nvSpPr>
        <p:spPr>
          <a:xfrm>
            <a:off x="-12309" y="4385674"/>
            <a:ext cx="3230389" cy="1196319"/>
          </a:xfrm>
          <a:prstGeom prst="rect">
            <a:avLst/>
          </a:prstGeom>
          <a:noFill/>
          <a:ln>
            <a:noFill/>
          </a:ln>
        </p:spPr>
        <p:txBody>
          <a:bodyPr/>
          <a:lstStyle>
            <a:lvl1pPr marL="342900" indent="-342900" algn="l" rtl="0" eaLnBrk="0" fontAlgn="base" hangingPunct="0">
              <a:spcBef>
                <a:spcPct val="20000"/>
              </a:spcBef>
              <a:spcAft>
                <a:spcPct val="0"/>
              </a:spcAft>
              <a:buChar char="•"/>
              <a:defRPr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eaLnBrk="1" hangingPunct="1">
              <a:spcBef>
                <a:spcPts val="0"/>
              </a:spcBef>
              <a:buFontTx/>
              <a:buNone/>
            </a:pPr>
            <a:r>
              <a:rPr lang="zh-CN" altLang="en-US" sz="2200" b="1" kern="0" dirty="0">
                <a:latin typeface="楷体_GB2312" panose="02010609030101010101" pitchFamily="49" charset="-122"/>
                <a:ea typeface="楷体_GB2312" panose="02010609030101010101" pitchFamily="49" charset="-122"/>
              </a:rPr>
              <a:t>     </a:t>
            </a:r>
            <a:r>
              <a:rPr lang="zh-CN" altLang="en-US" sz="2200" kern="0" dirty="0">
                <a:latin typeface="+mn-ea"/>
              </a:rPr>
              <a:t>解：设</a:t>
            </a:r>
            <a:r>
              <a:rPr lang="zh-CN" altLang="en-US" sz="2200" b="1" kern="0" dirty="0">
                <a:latin typeface="楷体_GB2312" panose="02010609030101010101" pitchFamily="49" charset="-122"/>
                <a:ea typeface="楷体_GB2312" panose="02010609030101010101" pitchFamily="49" charset="-122"/>
              </a:rPr>
              <a:t>  </a:t>
            </a:r>
            <a:endParaRPr lang="zh-CN" altLang="en-US" sz="2200" kern="0" dirty="0">
              <a:latin typeface="楷体_GB2312" panose="02010609030101010101" pitchFamily="49" charset="-122"/>
              <a:ea typeface="楷体_GB2312" panose="02010609030101010101" pitchFamily="49" charset="-122"/>
            </a:endParaRPr>
          </a:p>
          <a:p>
            <a:pPr eaLnBrk="1" hangingPunct="1">
              <a:buFontTx/>
              <a:buNone/>
            </a:pPr>
            <a:r>
              <a:rPr lang="zh-CN" altLang="en-US" sz="2200" b="1" kern="0" dirty="0">
                <a:latin typeface="楷体_GB2312" panose="02010609030101010101" pitchFamily="49" charset="-122"/>
                <a:ea typeface="楷体_GB2312" panose="02010609030101010101" pitchFamily="49" charset="-122"/>
              </a:rPr>
              <a:t>            </a:t>
            </a:r>
            <a:endParaRPr lang="zh-CN" altLang="en-US" sz="2200" kern="0" dirty="0">
              <a:latin typeface="楷体_GB2312" panose="02010609030101010101" pitchFamily="49" charset="-122"/>
              <a:ea typeface="楷体_GB2312" panose="02010609030101010101" pitchFamily="49" charset="-122"/>
            </a:endParaRPr>
          </a:p>
          <a:p>
            <a:pPr eaLnBrk="1" hangingPunct="1">
              <a:buFontTx/>
              <a:buNone/>
            </a:pPr>
            <a:endParaRPr lang="zh-CN" altLang="en-US" sz="2200" kern="0" dirty="0">
              <a:latin typeface="楷体_GB2312" panose="02010609030101010101" pitchFamily="49" charset="-122"/>
              <a:ea typeface="楷体_GB2312" panose="02010609030101010101" pitchFamily="49" charset="-122"/>
            </a:endParaRPr>
          </a:p>
          <a:p>
            <a:pPr eaLnBrk="1" hangingPunct="1">
              <a:buFontTx/>
              <a:buNone/>
            </a:pPr>
            <a:endParaRPr lang="zh-CN" altLang="en-US" sz="2200" b="1" kern="0" dirty="0">
              <a:latin typeface="楷体_GB2312" panose="02010609030101010101" pitchFamily="49" charset="-122"/>
              <a:ea typeface="楷体_GB2312" panose="02010609030101010101" pitchFamily="49" charset="-122"/>
            </a:endParaRPr>
          </a:p>
          <a:p>
            <a:pPr eaLnBrk="1" hangingPunct="1">
              <a:buFontTx/>
              <a:buNone/>
            </a:pPr>
            <a:endParaRPr lang="zh-CN" altLang="en-US" sz="2200" b="1" kern="0" dirty="0">
              <a:latin typeface="楷体_GB2312" panose="02010609030101010101" pitchFamily="49" charset="-122"/>
              <a:ea typeface="楷体_GB2312" panose="02010609030101010101" pitchFamily="49" charset="-122"/>
            </a:endParaRPr>
          </a:p>
          <a:p>
            <a:pPr eaLnBrk="1" hangingPunct="1">
              <a:buFontTx/>
              <a:buNone/>
            </a:pPr>
            <a:r>
              <a:rPr lang="zh-CN" altLang="en-US" sz="2200" b="1" kern="0" dirty="0">
                <a:latin typeface="楷体_GB2312" panose="02010609030101010101" pitchFamily="49" charset="-122"/>
                <a:ea typeface="楷体_GB2312" panose="02010609030101010101" pitchFamily="49" charset="-122"/>
              </a:rPr>
              <a:t>    </a:t>
            </a:r>
          </a:p>
          <a:p>
            <a:pPr eaLnBrk="1" hangingPunct="1">
              <a:buFontTx/>
              <a:buNone/>
            </a:pPr>
            <a:r>
              <a:rPr lang="zh-CN" altLang="en-US" sz="2200" b="1" kern="0" dirty="0">
                <a:latin typeface="楷体_GB2312" panose="02010609030101010101" pitchFamily="49" charset="-122"/>
                <a:ea typeface="楷体_GB2312" panose="02010609030101010101" pitchFamily="49" charset="-122"/>
              </a:rPr>
              <a:t>    </a:t>
            </a:r>
          </a:p>
          <a:p>
            <a:pPr eaLnBrk="1" hangingPunct="1">
              <a:buFontTx/>
              <a:buNone/>
            </a:pPr>
            <a:endParaRPr lang="zh-CN" altLang="en-US" sz="2200" kern="0" dirty="0">
              <a:latin typeface="楷体_GB2312" panose="02010609030101010101" pitchFamily="49" charset="-122"/>
              <a:ea typeface="楷体_GB2312" panose="02010609030101010101" pitchFamily="49" charset="-122"/>
            </a:endParaRPr>
          </a:p>
        </p:txBody>
      </p:sp>
    </p:spTree>
    <p:extLst>
      <p:ext uri="{BB962C8B-B14F-4D97-AF65-F5344CB8AC3E}">
        <p14:creationId xmlns:p14="http://schemas.microsoft.com/office/powerpoint/2010/main" val="183318397"/>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56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5"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2.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高频</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基础</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电路</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 name="文本占位符 610306">
            <a:extLst>
              <a:ext uri="{FF2B5EF4-FFF2-40B4-BE49-F238E27FC236}">
                <a16:creationId xmlns:a16="http://schemas.microsoft.com/office/drawing/2014/main" xmlns="" id="{14C90ACB-4CC5-22DB-8D8A-556C8F742CA0}"/>
              </a:ext>
            </a:extLst>
          </p:cNvPr>
          <p:cNvSpPr txBox="1">
            <a:spLocks/>
          </p:cNvSpPr>
          <p:nvPr/>
        </p:nvSpPr>
        <p:spPr>
          <a:xfrm>
            <a:off x="201490" y="1228109"/>
            <a:ext cx="8613425" cy="793194"/>
          </a:xfrm>
          <a:prstGeom prst="rect">
            <a:avLst/>
          </a:prstGeom>
          <a:noFill/>
          <a:ln>
            <a:noFill/>
          </a:ln>
        </p:spPr>
        <p:txBody>
          <a:bodyPr/>
          <a:lstStyle>
            <a:lvl1pPr marL="342900" indent="-342900" algn="l" rtl="0" eaLnBrk="0" fontAlgn="base" hangingPunct="0">
              <a:spcBef>
                <a:spcPct val="20000"/>
              </a:spcBef>
              <a:spcAft>
                <a:spcPct val="0"/>
              </a:spcAft>
              <a:buChar char="•"/>
              <a:defRPr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eaLnBrk="1" hangingPunct="1">
              <a:buFontTx/>
              <a:buNone/>
            </a:pPr>
            <a:endParaRPr lang="zh-CN" altLang="en-US" sz="2200" kern="0" dirty="0"/>
          </a:p>
          <a:p>
            <a:pPr eaLnBrk="1" hangingPunct="1">
              <a:buFontTx/>
              <a:buNone/>
            </a:pPr>
            <a:r>
              <a:rPr lang="zh-CN" altLang="en-US" sz="2200" b="1" kern="0" dirty="0">
                <a:ea typeface="楷体" panose="02010609060101010101" pitchFamily="49" charset="-122"/>
              </a:rPr>
              <a:t>     </a:t>
            </a:r>
            <a:r>
              <a:rPr lang="zh-CN" altLang="en-US" sz="2200" kern="0" dirty="0">
                <a:latin typeface="Times New Roman" panose="02020603050405020304" pitchFamily="18" charset="0"/>
              </a:rPr>
              <a:t>因为通频带要求                                                          则    </a:t>
            </a:r>
          </a:p>
          <a:p>
            <a:pPr eaLnBrk="1" hangingPunct="1">
              <a:buFontTx/>
              <a:buNone/>
            </a:pPr>
            <a:endParaRPr lang="zh-CN" altLang="en-US" sz="2200" b="1" kern="0" dirty="0">
              <a:latin typeface="Times New Roman" panose="02020603050405020304" pitchFamily="18" charset="0"/>
            </a:endParaRPr>
          </a:p>
          <a:p>
            <a:pPr eaLnBrk="1" hangingPunct="1">
              <a:buFontTx/>
              <a:buNone/>
            </a:pPr>
            <a:r>
              <a:rPr lang="zh-CN" altLang="en-US" sz="2200" b="1" kern="0" dirty="0">
                <a:latin typeface="Times New Roman" panose="02020603050405020304" pitchFamily="18" charset="0"/>
              </a:rPr>
              <a:t>   </a:t>
            </a:r>
          </a:p>
          <a:p>
            <a:pPr eaLnBrk="1" hangingPunct="1">
              <a:buFontTx/>
              <a:buNone/>
            </a:pPr>
            <a:endParaRPr lang="zh-CN" altLang="en-US" sz="2200" b="1" kern="0" dirty="0">
              <a:latin typeface="Times New Roman" panose="02020603050405020304" pitchFamily="18" charset="0"/>
            </a:endParaRPr>
          </a:p>
          <a:p>
            <a:pPr eaLnBrk="1" hangingPunct="1">
              <a:buFontTx/>
              <a:buNone/>
            </a:pPr>
            <a:r>
              <a:rPr lang="zh-CN" altLang="en-US" sz="2200" b="1" kern="0" dirty="0">
                <a:latin typeface="Times New Roman" panose="02020603050405020304" pitchFamily="18" charset="0"/>
              </a:rPr>
              <a:t>      </a:t>
            </a:r>
            <a:endParaRPr lang="zh-CN" altLang="en-US" sz="2200" kern="0" dirty="0">
              <a:latin typeface="Times New Roman" panose="02020603050405020304" pitchFamily="18" charset="0"/>
            </a:endParaRPr>
          </a:p>
          <a:p>
            <a:pPr eaLnBrk="1" hangingPunct="1">
              <a:buFontTx/>
              <a:buNone/>
            </a:pPr>
            <a:r>
              <a:rPr lang="zh-CN" altLang="en-US" sz="2200" b="1" kern="0" dirty="0">
                <a:latin typeface="Times New Roman" panose="02020603050405020304" pitchFamily="18" charset="0"/>
              </a:rPr>
              <a:t>   </a:t>
            </a:r>
          </a:p>
          <a:p>
            <a:pPr eaLnBrk="1" hangingPunct="1">
              <a:buFontTx/>
              <a:buNone/>
            </a:pPr>
            <a:r>
              <a:rPr lang="zh-CN" altLang="en-US" sz="2200" b="1" kern="0" dirty="0">
                <a:latin typeface="Times New Roman" panose="02020603050405020304" pitchFamily="18" charset="0"/>
              </a:rPr>
              <a:t>   </a:t>
            </a:r>
            <a:endParaRPr lang="zh-CN" altLang="en-US" sz="2200" kern="0" dirty="0">
              <a:latin typeface="Times New Roman" panose="02020603050405020304" pitchFamily="18" charset="0"/>
            </a:endParaRPr>
          </a:p>
        </p:txBody>
      </p:sp>
      <p:graphicFrame>
        <p:nvGraphicFramePr>
          <p:cNvPr id="8" name="对象 610313">
            <a:extLst>
              <a:ext uri="{FF2B5EF4-FFF2-40B4-BE49-F238E27FC236}">
                <a16:creationId xmlns:a16="http://schemas.microsoft.com/office/drawing/2014/main" xmlns="" id="{C64B5462-77B8-2983-8C78-62E95D2BA887}"/>
              </a:ext>
            </a:extLst>
          </p:cNvPr>
          <p:cNvGraphicFramePr/>
          <p:nvPr>
            <p:extLst>
              <p:ext uri="{D42A27DB-BD31-4B8C-83A1-F6EECF244321}">
                <p14:modId xmlns:p14="http://schemas.microsoft.com/office/powerpoint/2010/main" val="4210539797"/>
              </p:ext>
            </p:extLst>
          </p:nvPr>
        </p:nvGraphicFramePr>
        <p:xfrm>
          <a:off x="3254631" y="2260127"/>
          <a:ext cx="2305050" cy="465137"/>
        </p:xfrm>
        <a:graphic>
          <a:graphicData uri="http://schemas.openxmlformats.org/presentationml/2006/ole">
            <mc:AlternateContent xmlns:mc="http://schemas.openxmlformats.org/markup-compatibility/2006">
              <mc:Choice xmlns:v="urn:schemas-microsoft-com:vml" Requires="v">
                <p:oleObj spid="_x0000_s36102" r:id="rId3" imgW="1130300" imgH="228600" progId="Equation.3">
                  <p:embed/>
                </p:oleObj>
              </mc:Choice>
              <mc:Fallback>
                <p:oleObj r:id="rId3" imgW="1130300" imgH="228600" progId="Equation.3">
                  <p:embed/>
                  <p:pic>
                    <p:nvPicPr>
                      <p:cNvPr id="0" name=""/>
                      <p:cNvPicPr/>
                      <p:nvPr/>
                    </p:nvPicPr>
                    <p:blipFill>
                      <a:blip r:embed="rId4"/>
                      <a:stretch>
                        <a:fillRect/>
                      </a:stretch>
                    </p:blipFill>
                    <p:spPr>
                      <a:xfrm>
                        <a:off x="3254631" y="2260127"/>
                        <a:ext cx="2305050" cy="465137"/>
                      </a:xfrm>
                      <a:prstGeom prst="rect">
                        <a:avLst/>
                      </a:prstGeom>
                      <a:noFill/>
                      <a:ln w="38100">
                        <a:noFill/>
                        <a:miter/>
                      </a:ln>
                    </p:spPr>
                  </p:pic>
                </p:oleObj>
              </mc:Fallback>
            </mc:AlternateContent>
          </a:graphicData>
        </a:graphic>
      </p:graphicFrame>
      <p:graphicFrame>
        <p:nvGraphicFramePr>
          <p:cNvPr id="9" name="对象 610320">
            <a:extLst>
              <a:ext uri="{FF2B5EF4-FFF2-40B4-BE49-F238E27FC236}">
                <a16:creationId xmlns:a16="http://schemas.microsoft.com/office/drawing/2014/main" xmlns="" id="{AD2BC7D9-95FA-E402-61AB-E5AC02826222}"/>
              </a:ext>
            </a:extLst>
          </p:cNvPr>
          <p:cNvGraphicFramePr/>
          <p:nvPr>
            <p:extLst>
              <p:ext uri="{D42A27DB-BD31-4B8C-83A1-F6EECF244321}">
                <p14:modId xmlns:p14="http://schemas.microsoft.com/office/powerpoint/2010/main" val="2576330398"/>
              </p:ext>
            </p:extLst>
          </p:nvPr>
        </p:nvGraphicFramePr>
        <p:xfrm>
          <a:off x="2406650" y="5092570"/>
          <a:ext cx="4679950" cy="877887"/>
        </p:xfrm>
        <a:graphic>
          <a:graphicData uri="http://schemas.openxmlformats.org/presentationml/2006/ole">
            <mc:AlternateContent xmlns:mc="http://schemas.openxmlformats.org/markup-compatibility/2006">
              <mc:Choice xmlns:v="urn:schemas-microsoft-com:vml" Requires="v">
                <p:oleObj spid="_x0000_s36103" r:id="rId5" imgW="2286000" imgH="431800" progId="Equation.3">
                  <p:embed/>
                </p:oleObj>
              </mc:Choice>
              <mc:Fallback>
                <p:oleObj r:id="rId5" imgW="2286000" imgH="431800" progId="Equation.3">
                  <p:embed/>
                  <p:pic>
                    <p:nvPicPr>
                      <p:cNvPr id="0" name=""/>
                      <p:cNvPicPr/>
                      <p:nvPr/>
                    </p:nvPicPr>
                    <p:blipFill>
                      <a:blip r:embed="rId6"/>
                      <a:stretch>
                        <a:fillRect/>
                      </a:stretch>
                    </p:blipFill>
                    <p:spPr>
                      <a:xfrm>
                        <a:off x="2406650" y="5092570"/>
                        <a:ext cx="4679950" cy="877887"/>
                      </a:xfrm>
                      <a:prstGeom prst="rect">
                        <a:avLst/>
                      </a:prstGeom>
                      <a:noFill/>
                      <a:ln w="38100">
                        <a:noFill/>
                        <a:miter/>
                      </a:ln>
                    </p:spPr>
                  </p:pic>
                </p:oleObj>
              </mc:Fallback>
            </mc:AlternateContent>
          </a:graphicData>
        </a:graphic>
      </p:graphicFrame>
      <p:sp>
        <p:nvSpPr>
          <p:cNvPr id="10" name="文本占位符 610306">
            <a:extLst>
              <a:ext uri="{FF2B5EF4-FFF2-40B4-BE49-F238E27FC236}">
                <a16:creationId xmlns:a16="http://schemas.microsoft.com/office/drawing/2014/main" xmlns="" id="{F772BF1E-B68D-332A-7A7D-AAB2A429C777}"/>
              </a:ext>
            </a:extLst>
          </p:cNvPr>
          <p:cNvSpPr txBox="1">
            <a:spLocks/>
          </p:cNvSpPr>
          <p:nvPr/>
        </p:nvSpPr>
        <p:spPr>
          <a:xfrm>
            <a:off x="536831" y="2978630"/>
            <a:ext cx="7740650" cy="655640"/>
          </a:xfrm>
          <a:prstGeom prst="rect">
            <a:avLst/>
          </a:prstGeom>
          <a:noFill/>
          <a:ln>
            <a:noFill/>
          </a:ln>
        </p:spPr>
        <p:txBody>
          <a:bodyPr/>
          <a:lstStyle>
            <a:lvl1pPr marL="342900" indent="-342900" algn="l" rtl="0" eaLnBrk="0" fontAlgn="base" hangingPunct="0">
              <a:spcBef>
                <a:spcPct val="20000"/>
              </a:spcBef>
              <a:spcAft>
                <a:spcPct val="0"/>
              </a:spcAft>
              <a:buChar char="•"/>
              <a:defRPr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eaLnBrk="1" hangingPunct="1">
              <a:buFontTx/>
              <a:buNone/>
            </a:pPr>
            <a:r>
              <a:rPr lang="zh-CN" altLang="en-US" sz="2200" kern="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由于</a:t>
            </a:r>
            <a:r>
              <a:rPr lang="en-US" altLang="zh-CN" sz="2200" i="1" kern="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R</a:t>
            </a:r>
            <a:r>
              <a:rPr lang="en-US" altLang="zh-CN" sz="2200" kern="0" baseline="-25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2</a:t>
            </a:r>
            <a:r>
              <a:rPr lang="en-US" altLang="zh-CN" sz="2200" kern="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&gt;</a:t>
            </a:r>
            <a:r>
              <a:rPr lang="en-US" altLang="zh-CN" sz="2200" i="1" kern="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R</a:t>
            </a:r>
            <a:r>
              <a:rPr lang="en-US" altLang="zh-CN" sz="2200" kern="0" baseline="-25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1</a:t>
            </a:r>
            <a:r>
              <a:rPr lang="en-US" altLang="zh-CN" sz="2200" kern="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200" kern="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从</a:t>
            </a:r>
            <a:r>
              <a:rPr lang="en-US" altLang="zh-CN" sz="2200" i="1" kern="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R</a:t>
            </a:r>
            <a:r>
              <a:rPr lang="en-US" altLang="zh-CN" sz="2200" kern="0" baseline="-25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2</a:t>
            </a:r>
            <a:r>
              <a:rPr lang="zh-CN" altLang="en-US" sz="2200" kern="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端开始计算</a:t>
            </a:r>
            <a:r>
              <a:rPr lang="en-US" altLang="zh-CN" sz="2200" kern="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200" kern="0" dirty="0">
                <a:latin typeface="Times New Roman" panose="02020603050405020304" pitchFamily="18" charset="0"/>
                <a:ea typeface="宋体" panose="02010600030101010101" pitchFamily="2" charset="-122"/>
                <a:cs typeface="Times New Roman" panose="02020603050405020304" pitchFamily="18" charset="0"/>
              </a:rPr>
              <a:t>选取                  </a:t>
            </a:r>
            <a:endParaRPr lang="en-US" altLang="zh-CN" sz="2200" kern="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buFontTx/>
              <a:buNone/>
            </a:pPr>
            <a:endParaRPr lang="zh-CN" altLang="en-US" sz="2200" kern="0" dirty="0">
              <a:latin typeface="Times New Roman" panose="02020603050405020304" pitchFamily="18" charset="0"/>
              <a:cs typeface="Times New Roman" panose="02020603050405020304" pitchFamily="18" charset="0"/>
            </a:endParaRPr>
          </a:p>
        </p:txBody>
      </p:sp>
      <p:graphicFrame>
        <p:nvGraphicFramePr>
          <p:cNvPr id="11" name="对象 10">
            <a:extLst>
              <a:ext uri="{FF2B5EF4-FFF2-40B4-BE49-F238E27FC236}">
                <a16:creationId xmlns:a16="http://schemas.microsoft.com/office/drawing/2014/main" xmlns="" id="{473A6D9B-5127-78CF-8380-B9B72E264E0A}"/>
              </a:ext>
            </a:extLst>
          </p:cNvPr>
          <p:cNvGraphicFramePr>
            <a:graphicFrameLocks noChangeAspect="1"/>
          </p:cNvGraphicFramePr>
          <p:nvPr>
            <p:extLst>
              <p:ext uri="{D42A27DB-BD31-4B8C-83A1-F6EECF244321}">
                <p14:modId xmlns:p14="http://schemas.microsoft.com/office/powerpoint/2010/main" val="672882136"/>
              </p:ext>
            </p:extLst>
          </p:nvPr>
        </p:nvGraphicFramePr>
        <p:xfrm>
          <a:off x="4575616" y="2944461"/>
          <a:ext cx="2157413" cy="476250"/>
        </p:xfrm>
        <a:graphic>
          <a:graphicData uri="http://schemas.openxmlformats.org/presentationml/2006/ole">
            <mc:AlternateContent xmlns:mc="http://schemas.openxmlformats.org/markup-compatibility/2006">
              <mc:Choice xmlns:v="urn:schemas-microsoft-com:vml" Requires="v">
                <p:oleObj spid="_x0000_s36104" name="Equation" r:id="rId7" imgW="2158001" imgH="475577" progId="Equation.DSMT4">
                  <p:embed/>
                </p:oleObj>
              </mc:Choice>
              <mc:Fallback>
                <p:oleObj name="Equation" r:id="rId7" imgW="2158001" imgH="475577" progId="Equation.DSMT4">
                  <p:embed/>
                  <p:pic>
                    <p:nvPicPr>
                      <p:cNvPr id="0" name=""/>
                      <p:cNvPicPr/>
                      <p:nvPr/>
                    </p:nvPicPr>
                    <p:blipFill>
                      <a:blip r:embed="rId8"/>
                      <a:stretch>
                        <a:fillRect/>
                      </a:stretch>
                    </p:blipFill>
                    <p:spPr>
                      <a:xfrm>
                        <a:off x="4575616" y="2944461"/>
                        <a:ext cx="2157413" cy="476250"/>
                      </a:xfrm>
                      <a:prstGeom prst="rect">
                        <a:avLst/>
                      </a:prstGeom>
                    </p:spPr>
                  </p:pic>
                </p:oleObj>
              </mc:Fallback>
            </mc:AlternateContent>
          </a:graphicData>
        </a:graphic>
      </p:graphicFrame>
      <p:sp>
        <p:nvSpPr>
          <p:cNvPr id="12" name="文本占位符 610306">
            <a:extLst>
              <a:ext uri="{FF2B5EF4-FFF2-40B4-BE49-F238E27FC236}">
                <a16:creationId xmlns:a16="http://schemas.microsoft.com/office/drawing/2014/main" xmlns="" id="{87F7C35F-37B8-A33C-6E11-6AF482132B47}"/>
              </a:ext>
            </a:extLst>
          </p:cNvPr>
          <p:cNvSpPr txBox="1">
            <a:spLocks/>
          </p:cNvSpPr>
          <p:nvPr/>
        </p:nvSpPr>
        <p:spPr>
          <a:xfrm>
            <a:off x="572550" y="3489542"/>
            <a:ext cx="7740650" cy="655640"/>
          </a:xfrm>
          <a:prstGeom prst="rect">
            <a:avLst/>
          </a:prstGeom>
          <a:noFill/>
          <a:ln>
            <a:noFill/>
          </a:ln>
        </p:spPr>
        <p:txBody>
          <a:bodyPr/>
          <a:lstStyle>
            <a:lvl1pPr marL="342900" indent="-342900" algn="l" rtl="0" eaLnBrk="0" fontAlgn="base" hangingPunct="0">
              <a:spcBef>
                <a:spcPct val="20000"/>
              </a:spcBef>
              <a:spcAft>
                <a:spcPct val="0"/>
              </a:spcAft>
              <a:buChar char="•"/>
              <a:defRPr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eaLnBrk="1" hangingPunct="1">
              <a:buFontTx/>
              <a:buNone/>
            </a:pPr>
            <a:r>
              <a:rPr lang="zh-CN" altLang="en-US" sz="2200" kern="0" dirty="0">
                <a:latin typeface="宋体" panose="02010600030101010101" pitchFamily="2" charset="-122"/>
                <a:ea typeface="宋体" panose="02010600030101010101" pitchFamily="2" charset="-122"/>
              </a:rPr>
              <a:t>满足</a:t>
            </a:r>
            <a:endParaRPr lang="zh-CN" altLang="en-US" sz="2200" kern="0" dirty="0">
              <a:latin typeface="Times New Roman" panose="02020603050405020304" pitchFamily="18" charset="0"/>
            </a:endParaRPr>
          </a:p>
        </p:txBody>
      </p:sp>
      <p:graphicFrame>
        <p:nvGraphicFramePr>
          <p:cNvPr id="13" name="对象 12">
            <a:extLst>
              <a:ext uri="{FF2B5EF4-FFF2-40B4-BE49-F238E27FC236}">
                <a16:creationId xmlns:a16="http://schemas.microsoft.com/office/drawing/2014/main" xmlns="" id="{19529243-B743-AFB3-1921-00BEEA62A794}"/>
              </a:ext>
            </a:extLst>
          </p:cNvPr>
          <p:cNvGraphicFramePr>
            <a:graphicFrameLocks noChangeAspect="1"/>
          </p:cNvGraphicFramePr>
          <p:nvPr>
            <p:extLst>
              <p:ext uri="{D42A27DB-BD31-4B8C-83A1-F6EECF244321}">
                <p14:modId xmlns:p14="http://schemas.microsoft.com/office/powerpoint/2010/main" val="1942892167"/>
              </p:ext>
            </p:extLst>
          </p:nvPr>
        </p:nvGraphicFramePr>
        <p:xfrm>
          <a:off x="2391868" y="3601002"/>
          <a:ext cx="4694732" cy="951120"/>
        </p:xfrm>
        <a:graphic>
          <a:graphicData uri="http://schemas.openxmlformats.org/presentationml/2006/ole">
            <mc:AlternateContent xmlns:mc="http://schemas.openxmlformats.org/markup-compatibility/2006">
              <mc:Choice xmlns:v="urn:schemas-microsoft-com:vml" Requires="v">
                <p:oleObj spid="_x0000_s36105" name="Equation" r:id="rId9" imgW="4896725" imgH="992196" progId="Equation.DSMT4">
                  <p:embed/>
                </p:oleObj>
              </mc:Choice>
              <mc:Fallback>
                <p:oleObj name="Equation" r:id="rId9" imgW="4896725" imgH="992196" progId="Equation.DSMT4">
                  <p:embed/>
                  <p:pic>
                    <p:nvPicPr>
                      <p:cNvPr id="0" name=""/>
                      <p:cNvPicPr/>
                      <p:nvPr/>
                    </p:nvPicPr>
                    <p:blipFill>
                      <a:blip r:embed="rId10"/>
                      <a:stretch>
                        <a:fillRect/>
                      </a:stretch>
                    </p:blipFill>
                    <p:spPr>
                      <a:xfrm>
                        <a:off x="2391868" y="3601002"/>
                        <a:ext cx="4694732" cy="951120"/>
                      </a:xfrm>
                      <a:prstGeom prst="rect">
                        <a:avLst/>
                      </a:prstGeom>
                    </p:spPr>
                  </p:pic>
                </p:oleObj>
              </mc:Fallback>
            </mc:AlternateContent>
          </a:graphicData>
        </a:graphic>
      </p:graphicFrame>
      <p:sp>
        <p:nvSpPr>
          <p:cNvPr id="14" name="文本占位符 610306">
            <a:extLst>
              <a:ext uri="{FF2B5EF4-FFF2-40B4-BE49-F238E27FC236}">
                <a16:creationId xmlns:a16="http://schemas.microsoft.com/office/drawing/2014/main" xmlns="" id="{68DCBFCD-2EE7-B133-E6E4-F3F9DF77D0C7}"/>
              </a:ext>
            </a:extLst>
          </p:cNvPr>
          <p:cNvSpPr txBox="1">
            <a:spLocks/>
          </p:cNvSpPr>
          <p:nvPr/>
        </p:nvSpPr>
        <p:spPr>
          <a:xfrm>
            <a:off x="572550" y="4577487"/>
            <a:ext cx="7740650" cy="655640"/>
          </a:xfrm>
          <a:prstGeom prst="rect">
            <a:avLst/>
          </a:prstGeom>
          <a:noFill/>
          <a:ln>
            <a:noFill/>
          </a:ln>
        </p:spPr>
        <p:txBody>
          <a:bodyPr/>
          <a:lstStyle>
            <a:lvl1pPr marL="342900" indent="-342900" algn="l" rtl="0" eaLnBrk="0" fontAlgn="base" hangingPunct="0">
              <a:spcBef>
                <a:spcPct val="20000"/>
              </a:spcBef>
              <a:spcAft>
                <a:spcPct val="0"/>
              </a:spcAft>
              <a:buChar char="•"/>
              <a:defRPr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eaLnBrk="1" hangingPunct="1">
              <a:buFontTx/>
              <a:buNone/>
            </a:pPr>
            <a:r>
              <a:rPr lang="zh-CN" altLang="en-US" sz="2200" kern="0" dirty="0">
                <a:latin typeface="宋体" panose="02010600030101010101" pitchFamily="2" charset="-122"/>
                <a:ea typeface="宋体" panose="02010600030101010101" pitchFamily="2" charset="-122"/>
              </a:rPr>
              <a:t>中间电阻</a:t>
            </a:r>
            <a:endParaRPr lang="zh-CN" altLang="en-US" sz="2200" kern="0" dirty="0">
              <a:latin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1168111115"/>
              </p:ext>
            </p:extLst>
          </p:nvPr>
        </p:nvGraphicFramePr>
        <p:xfrm>
          <a:off x="2661542" y="1663287"/>
          <a:ext cx="3828149" cy="441709"/>
        </p:xfrm>
        <a:graphic>
          <a:graphicData uri="http://schemas.openxmlformats.org/presentationml/2006/ole">
            <mc:AlternateContent xmlns:mc="http://schemas.openxmlformats.org/markup-compatibility/2006">
              <mc:Choice xmlns:v="urn:schemas-microsoft-com:vml" Requires="v">
                <p:oleObj spid="_x0000_s36106" name="Equation" r:id="rId11" imgW="1650960" imgH="190440" progId="Equation.DSMT4">
                  <p:embed/>
                </p:oleObj>
              </mc:Choice>
              <mc:Fallback>
                <p:oleObj name="Equation" r:id="rId11" imgW="1650960" imgH="190440" progId="Equation.DSMT4">
                  <p:embed/>
                  <p:pic>
                    <p:nvPicPr>
                      <p:cNvPr id="0" name=""/>
                      <p:cNvPicPr/>
                      <p:nvPr/>
                    </p:nvPicPr>
                    <p:blipFill>
                      <a:blip r:embed="rId12"/>
                      <a:stretch>
                        <a:fillRect/>
                      </a:stretch>
                    </p:blipFill>
                    <p:spPr>
                      <a:xfrm>
                        <a:off x="2661542" y="1663287"/>
                        <a:ext cx="3828149" cy="441709"/>
                      </a:xfrm>
                      <a:prstGeom prst="rect">
                        <a:avLst/>
                      </a:prstGeom>
                    </p:spPr>
                  </p:pic>
                </p:oleObj>
              </mc:Fallback>
            </mc:AlternateContent>
          </a:graphicData>
        </a:graphic>
      </p:graphicFrame>
    </p:spTree>
    <p:extLst>
      <p:ext uri="{BB962C8B-B14F-4D97-AF65-F5344CB8AC3E}">
        <p14:creationId xmlns:p14="http://schemas.microsoft.com/office/powerpoint/2010/main" val="2881155946"/>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57</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5"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2.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高频</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基础</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电路</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 name="文本占位符 465922">
            <a:extLst>
              <a:ext uri="{FF2B5EF4-FFF2-40B4-BE49-F238E27FC236}">
                <a16:creationId xmlns:a16="http://schemas.microsoft.com/office/drawing/2014/main" xmlns="" id="{6E27E39D-C308-E539-1F1D-BFF947E6AD41}"/>
              </a:ext>
            </a:extLst>
          </p:cNvPr>
          <p:cNvSpPr txBox="1">
            <a:spLocks/>
          </p:cNvSpPr>
          <p:nvPr/>
        </p:nvSpPr>
        <p:spPr>
          <a:xfrm>
            <a:off x="521493" y="1389995"/>
            <a:ext cx="8101013" cy="4431368"/>
          </a:xfrm>
          <a:prstGeom prst="rect">
            <a:avLst/>
          </a:prstGeom>
          <a:noFill/>
          <a:ln>
            <a:noFill/>
          </a:ln>
        </p:spPr>
        <p:txBody>
          <a:bodyPr/>
          <a:lstStyle>
            <a:lvl1pPr marL="342900" indent="-342900" algn="l" rtl="0" eaLnBrk="0" fontAlgn="base" hangingPunct="0">
              <a:spcBef>
                <a:spcPct val="20000"/>
              </a:spcBef>
              <a:spcAft>
                <a:spcPct val="0"/>
              </a:spcAft>
              <a:buChar char="•"/>
              <a:defRPr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eaLnBrk="1" hangingPunct="1">
              <a:buFontTx/>
              <a:buNone/>
            </a:pPr>
            <a:r>
              <a:rPr lang="zh-CN" altLang="en-US" sz="2000" kern="0" dirty="0">
                <a:latin typeface="Times New Roman" panose="02020603050405020304" pitchFamily="18" charset="0"/>
              </a:rPr>
              <a:t>负载端</a:t>
            </a:r>
            <a:r>
              <a:rPr lang="en-US" altLang="zh-CN" sz="2000" i="1" kern="0" dirty="0">
                <a:latin typeface="Times New Roman" panose="02020603050405020304" pitchFamily="18" charset="0"/>
              </a:rPr>
              <a:t>L</a:t>
            </a:r>
            <a:r>
              <a:rPr lang="zh-CN" altLang="en-US" sz="2000" kern="0" dirty="0">
                <a:latin typeface="Times New Roman" panose="02020603050405020304" pitchFamily="18" charset="0"/>
              </a:rPr>
              <a:t>型网络的</a:t>
            </a:r>
            <a:r>
              <a:rPr lang="en-US" altLang="zh-CN" sz="2000" i="1" kern="0" dirty="0">
                <a:latin typeface="Times New Roman" panose="02020603050405020304" pitchFamily="18" charset="0"/>
              </a:rPr>
              <a:t>C</a:t>
            </a:r>
            <a:r>
              <a:rPr lang="en-US" altLang="zh-CN" sz="2000" kern="0" baseline="-25000" dirty="0">
                <a:latin typeface="Times New Roman" panose="02020603050405020304" pitchFamily="18" charset="0"/>
              </a:rPr>
              <a:t>2</a:t>
            </a:r>
            <a:r>
              <a:rPr lang="zh-CN" altLang="en-US" sz="2000" kern="0" dirty="0">
                <a:latin typeface="Times New Roman" panose="02020603050405020304" pitchFamily="18" charset="0"/>
              </a:rPr>
              <a:t>和</a:t>
            </a:r>
            <a:r>
              <a:rPr lang="en-US" altLang="zh-CN" sz="2000" i="1" kern="0" dirty="0">
                <a:latin typeface="Times New Roman" panose="02020603050405020304" pitchFamily="18" charset="0"/>
              </a:rPr>
              <a:t>R</a:t>
            </a:r>
            <a:r>
              <a:rPr lang="en-US" altLang="zh-CN" sz="2000" kern="0" baseline="-25000" dirty="0">
                <a:latin typeface="Times New Roman" panose="02020603050405020304" pitchFamily="18" charset="0"/>
              </a:rPr>
              <a:t>2</a:t>
            </a:r>
            <a:r>
              <a:rPr lang="zh-CN" altLang="en-US" sz="2000" kern="0" dirty="0">
                <a:latin typeface="Times New Roman" panose="02020603050405020304" pitchFamily="18" charset="0"/>
              </a:rPr>
              <a:t>并联支路</a:t>
            </a:r>
            <a:r>
              <a:rPr lang="en-US" altLang="zh-CN" sz="2000" i="1" kern="0" dirty="0">
                <a:latin typeface="Times New Roman" panose="02020603050405020304" pitchFamily="18" charset="0"/>
              </a:rPr>
              <a:t>Q</a:t>
            </a:r>
            <a:r>
              <a:rPr lang="en-US" altLang="zh-CN" sz="2000" kern="0" baseline="-25000" dirty="0">
                <a:latin typeface="Times New Roman" panose="02020603050405020304" pitchFamily="18" charset="0"/>
              </a:rPr>
              <a:t>2</a:t>
            </a:r>
            <a:r>
              <a:rPr lang="en-US" altLang="zh-CN" sz="2000" kern="0" dirty="0">
                <a:latin typeface="Times New Roman" panose="02020603050405020304" pitchFamily="18" charset="0"/>
              </a:rPr>
              <a:t>=</a:t>
            </a:r>
            <a:r>
              <a:rPr lang="en-US" altLang="zh-CN" sz="2000" i="1" kern="0" dirty="0">
                <a:latin typeface="Times New Roman" panose="02020603050405020304" pitchFamily="18" charset="0"/>
              </a:rPr>
              <a:t>R</a:t>
            </a:r>
            <a:r>
              <a:rPr lang="en-US" altLang="zh-CN" sz="2000" kern="0" baseline="-25000" dirty="0">
                <a:latin typeface="Times New Roman" panose="02020603050405020304" pitchFamily="18" charset="0"/>
              </a:rPr>
              <a:t>2</a:t>
            </a:r>
            <a:r>
              <a:rPr lang="en-US" altLang="zh-CN" sz="2000" kern="0" dirty="0">
                <a:latin typeface="Times New Roman" panose="02020603050405020304" pitchFamily="18" charset="0"/>
              </a:rPr>
              <a:t>/</a:t>
            </a:r>
            <a:r>
              <a:rPr lang="en-US" altLang="zh-CN" sz="2000" i="1" kern="0" dirty="0">
                <a:latin typeface="Times New Roman" panose="02020603050405020304" pitchFamily="18" charset="0"/>
              </a:rPr>
              <a:t>X</a:t>
            </a:r>
            <a:r>
              <a:rPr lang="en-US" altLang="zh-CN" sz="2000" kern="0" baseline="-25000" dirty="0">
                <a:latin typeface="Times New Roman" panose="02020603050405020304" pitchFamily="18" charset="0"/>
              </a:rPr>
              <a:t>PC2 </a:t>
            </a:r>
            <a:r>
              <a:rPr lang="en-US" altLang="zh-CN" sz="2000" kern="0" dirty="0">
                <a:latin typeface="Times New Roman" panose="02020603050405020304" pitchFamily="18" charset="0"/>
              </a:rPr>
              <a:t>,  </a:t>
            </a:r>
            <a:r>
              <a:rPr lang="zh-CN" altLang="en-US" sz="2000" kern="0" dirty="0">
                <a:latin typeface="Times New Roman" panose="02020603050405020304" pitchFamily="18" charset="0"/>
              </a:rPr>
              <a:t>则</a:t>
            </a:r>
          </a:p>
          <a:p>
            <a:pPr eaLnBrk="1" hangingPunct="1">
              <a:buFontTx/>
              <a:buNone/>
            </a:pPr>
            <a:endParaRPr lang="zh-CN" altLang="en-US" sz="2000" kern="0" dirty="0">
              <a:latin typeface="Times New Roman" panose="02020603050405020304" pitchFamily="18" charset="0"/>
            </a:endParaRPr>
          </a:p>
          <a:p>
            <a:pPr eaLnBrk="1" hangingPunct="1">
              <a:buFontTx/>
              <a:buNone/>
            </a:pPr>
            <a:endParaRPr lang="zh-CN" altLang="en-US" sz="2000" kern="0" dirty="0">
              <a:latin typeface="Times New Roman" panose="02020603050405020304" pitchFamily="18" charset="0"/>
            </a:endParaRPr>
          </a:p>
          <a:p>
            <a:pPr eaLnBrk="1" hangingPunct="1">
              <a:buFontTx/>
              <a:buNone/>
            </a:pPr>
            <a:endParaRPr lang="zh-CN" altLang="en-US" sz="2000" kern="0" dirty="0">
              <a:latin typeface="Times New Roman" panose="02020603050405020304" pitchFamily="18" charset="0"/>
            </a:endParaRPr>
          </a:p>
          <a:p>
            <a:pPr eaLnBrk="1" hangingPunct="1">
              <a:buFontTx/>
              <a:buNone/>
            </a:pPr>
            <a:r>
              <a:rPr lang="zh-CN" altLang="en-US" sz="2000" kern="0" dirty="0">
                <a:latin typeface="Times New Roman" panose="02020603050405020304" pitchFamily="18" charset="0"/>
              </a:rPr>
              <a:t>   </a:t>
            </a:r>
          </a:p>
          <a:p>
            <a:pPr eaLnBrk="1" hangingPunct="1">
              <a:buFontTx/>
              <a:buNone/>
            </a:pPr>
            <a:endParaRPr lang="en-US" altLang="zh-CN" sz="2000" kern="0" dirty="0">
              <a:latin typeface="Times New Roman" panose="02020603050405020304" pitchFamily="18" charset="0"/>
            </a:endParaRPr>
          </a:p>
          <a:p>
            <a:pPr eaLnBrk="1" hangingPunct="1">
              <a:buFontTx/>
              <a:buNone/>
            </a:pPr>
            <a:r>
              <a:rPr lang="zh-CN" altLang="en-US" sz="2000" kern="0" dirty="0">
                <a:latin typeface="Times New Roman" panose="02020603050405020304" pitchFamily="18" charset="0"/>
              </a:rPr>
              <a:t>负载端</a:t>
            </a:r>
            <a:r>
              <a:rPr lang="en-US" altLang="zh-CN" sz="2000" i="1" kern="0" dirty="0">
                <a:latin typeface="Times New Roman" panose="02020603050405020304" pitchFamily="18" charset="0"/>
              </a:rPr>
              <a:t>L</a:t>
            </a:r>
            <a:r>
              <a:rPr lang="zh-CN" altLang="en-US" sz="2000" kern="0" dirty="0">
                <a:latin typeface="Times New Roman" panose="02020603050405020304" pitchFamily="18" charset="0"/>
              </a:rPr>
              <a:t>型网络的</a:t>
            </a:r>
            <a:r>
              <a:rPr lang="en-US" altLang="zh-CN" sz="2000" i="1" kern="0" dirty="0">
                <a:latin typeface="Times New Roman" panose="02020603050405020304" pitchFamily="18" charset="0"/>
              </a:rPr>
              <a:t>L</a:t>
            </a:r>
            <a:r>
              <a:rPr lang="en-US" altLang="zh-CN" sz="2000" kern="0" baseline="-25000" dirty="0">
                <a:latin typeface="Times New Roman" panose="02020603050405020304" pitchFamily="18" charset="0"/>
              </a:rPr>
              <a:t>2</a:t>
            </a:r>
            <a:r>
              <a:rPr lang="zh-CN" altLang="en-US" sz="2000" kern="0" dirty="0">
                <a:latin typeface="Times New Roman" panose="02020603050405020304" pitchFamily="18" charset="0"/>
              </a:rPr>
              <a:t>和</a:t>
            </a:r>
            <a:r>
              <a:rPr lang="en-US" altLang="zh-CN" sz="2000" i="1" kern="0" dirty="0" err="1">
                <a:latin typeface="Times New Roman" panose="02020603050405020304" pitchFamily="18" charset="0"/>
              </a:rPr>
              <a:t>R</a:t>
            </a:r>
            <a:r>
              <a:rPr lang="en-US" altLang="zh-CN" sz="2000" kern="0" baseline="-25000" dirty="0" err="1">
                <a:latin typeface="Times New Roman" panose="02020603050405020304" pitchFamily="18" charset="0"/>
              </a:rPr>
              <a:t>inter</a:t>
            </a:r>
            <a:r>
              <a:rPr lang="zh-CN" altLang="en-US" sz="2000" kern="0" dirty="0">
                <a:latin typeface="Times New Roman" panose="02020603050405020304" pitchFamily="18" charset="0"/>
              </a:rPr>
              <a:t>串联支路</a:t>
            </a:r>
            <a:r>
              <a:rPr lang="en-US" altLang="zh-CN" sz="2000" i="1" kern="0" dirty="0">
                <a:latin typeface="Times New Roman" panose="02020603050405020304" pitchFamily="18" charset="0"/>
              </a:rPr>
              <a:t>Q</a:t>
            </a:r>
            <a:r>
              <a:rPr lang="en-US" altLang="zh-CN" sz="2000" kern="0" baseline="-25000" dirty="0">
                <a:latin typeface="Times New Roman" panose="02020603050405020304" pitchFamily="18" charset="0"/>
              </a:rPr>
              <a:t>2</a:t>
            </a:r>
            <a:r>
              <a:rPr lang="en-US" altLang="zh-CN" sz="2000" kern="0" dirty="0">
                <a:latin typeface="Times New Roman" panose="02020603050405020304" pitchFamily="18" charset="0"/>
              </a:rPr>
              <a:t>=</a:t>
            </a:r>
            <a:r>
              <a:rPr lang="en-US" altLang="zh-CN" sz="2000" i="1" kern="0" dirty="0">
                <a:latin typeface="Times New Roman" panose="02020603050405020304" pitchFamily="18" charset="0"/>
              </a:rPr>
              <a:t>X</a:t>
            </a:r>
            <a:r>
              <a:rPr lang="en-US" altLang="zh-CN" sz="2000" kern="0" baseline="-25000" dirty="0">
                <a:latin typeface="Times New Roman" panose="02020603050405020304" pitchFamily="18" charset="0"/>
              </a:rPr>
              <a:t>SL2</a:t>
            </a:r>
            <a:r>
              <a:rPr lang="en-US" altLang="zh-CN" sz="2000" kern="0" dirty="0">
                <a:latin typeface="Times New Roman" panose="02020603050405020304" pitchFamily="18" charset="0"/>
              </a:rPr>
              <a:t>/</a:t>
            </a:r>
            <a:r>
              <a:rPr lang="en-US" altLang="zh-CN" sz="2000" i="1" kern="0" dirty="0" err="1">
                <a:latin typeface="Times New Roman" panose="02020603050405020304" pitchFamily="18" charset="0"/>
              </a:rPr>
              <a:t>R</a:t>
            </a:r>
            <a:r>
              <a:rPr lang="en-US" altLang="zh-CN" sz="2000" kern="0" baseline="-25000" dirty="0" err="1">
                <a:latin typeface="Times New Roman" panose="02020603050405020304" pitchFamily="18" charset="0"/>
              </a:rPr>
              <a:t>inter</a:t>
            </a:r>
            <a:r>
              <a:rPr lang="en-US" altLang="zh-CN" sz="2000" kern="0" baseline="-25000" dirty="0">
                <a:latin typeface="Times New Roman" panose="02020603050405020304" pitchFamily="18" charset="0"/>
              </a:rPr>
              <a:t> </a:t>
            </a:r>
            <a:r>
              <a:rPr lang="en-US" altLang="zh-CN" sz="2000" kern="0" dirty="0">
                <a:latin typeface="Times New Roman" panose="02020603050405020304" pitchFamily="18" charset="0"/>
              </a:rPr>
              <a:t>,  </a:t>
            </a:r>
            <a:r>
              <a:rPr lang="zh-CN" altLang="en-US" sz="2000" kern="0" dirty="0">
                <a:latin typeface="Times New Roman" panose="02020603050405020304" pitchFamily="18" charset="0"/>
              </a:rPr>
              <a:t>则</a:t>
            </a:r>
          </a:p>
          <a:p>
            <a:pPr eaLnBrk="1" hangingPunct="1">
              <a:buFontTx/>
              <a:buNone/>
            </a:pPr>
            <a:endParaRPr lang="zh-CN" altLang="en-US" sz="2000" kern="0" dirty="0">
              <a:latin typeface="Times New Roman" panose="02020603050405020304" pitchFamily="18" charset="0"/>
            </a:endParaRPr>
          </a:p>
          <a:p>
            <a:pPr eaLnBrk="1" hangingPunct="1">
              <a:buFontTx/>
              <a:buNone/>
            </a:pPr>
            <a:endParaRPr lang="en-US" altLang="zh-CN" sz="2000" kern="0" dirty="0">
              <a:latin typeface="Times New Roman" panose="02020603050405020304" pitchFamily="18" charset="0"/>
            </a:endParaRPr>
          </a:p>
          <a:p>
            <a:pPr eaLnBrk="1" hangingPunct="1">
              <a:buFontTx/>
              <a:buNone/>
            </a:pPr>
            <a:endParaRPr lang="en-US" altLang="zh-CN" sz="2000" kern="0" dirty="0">
              <a:latin typeface="Times New Roman" panose="02020603050405020304" pitchFamily="18" charset="0"/>
            </a:endParaRPr>
          </a:p>
          <a:p>
            <a:pPr eaLnBrk="1" hangingPunct="1">
              <a:buFontTx/>
              <a:buNone/>
            </a:pPr>
            <a:endParaRPr lang="en-US" altLang="zh-CN" sz="2000" kern="0" dirty="0">
              <a:latin typeface="Times New Roman" panose="02020603050405020304" pitchFamily="18" charset="0"/>
            </a:endParaRPr>
          </a:p>
          <a:p>
            <a:pPr eaLnBrk="1" hangingPunct="1">
              <a:buFontTx/>
              <a:buNone/>
            </a:pPr>
            <a:r>
              <a:rPr lang="zh-CN" altLang="en-US" sz="2000" kern="0" dirty="0">
                <a:solidFill>
                  <a:srgbClr val="FF0000"/>
                </a:solidFill>
                <a:latin typeface="Times New Roman" panose="02020603050405020304" pitchFamily="18" charset="0"/>
              </a:rPr>
              <a:t>信源端</a:t>
            </a:r>
            <a:r>
              <a:rPr lang="en-US" altLang="zh-CN" sz="2000" i="1" kern="0" dirty="0">
                <a:solidFill>
                  <a:srgbClr val="FF0000"/>
                </a:solidFill>
                <a:latin typeface="Times New Roman" panose="02020603050405020304" pitchFamily="18" charset="0"/>
              </a:rPr>
              <a:t>L</a:t>
            </a:r>
            <a:r>
              <a:rPr lang="zh-CN" altLang="en-US" sz="2000" kern="0" dirty="0">
                <a:solidFill>
                  <a:srgbClr val="FF0000"/>
                </a:solidFill>
                <a:latin typeface="Times New Roman" panose="02020603050405020304" pitchFamily="18" charset="0"/>
              </a:rPr>
              <a:t>型网络的</a:t>
            </a:r>
            <a:r>
              <a:rPr lang="en-US" altLang="zh-CN" sz="2000" i="1" kern="0" dirty="0">
                <a:solidFill>
                  <a:srgbClr val="FF0000"/>
                </a:solidFill>
                <a:latin typeface="Times New Roman" panose="02020603050405020304" pitchFamily="18" charset="0"/>
              </a:rPr>
              <a:t>Q</a:t>
            </a:r>
            <a:r>
              <a:rPr lang="zh-CN" altLang="en-US" sz="2000" kern="0" dirty="0">
                <a:solidFill>
                  <a:srgbClr val="FF0000"/>
                </a:solidFill>
                <a:latin typeface="Times New Roman" panose="02020603050405020304" pitchFamily="18" charset="0"/>
              </a:rPr>
              <a:t>值</a:t>
            </a:r>
          </a:p>
          <a:p>
            <a:pPr eaLnBrk="1" hangingPunct="1">
              <a:buFontTx/>
              <a:buNone/>
            </a:pPr>
            <a:endParaRPr lang="zh-CN" altLang="en-US" kern="0" dirty="0"/>
          </a:p>
        </p:txBody>
      </p:sp>
      <p:graphicFrame>
        <p:nvGraphicFramePr>
          <p:cNvPr id="7" name="对象 465925">
            <a:extLst>
              <a:ext uri="{FF2B5EF4-FFF2-40B4-BE49-F238E27FC236}">
                <a16:creationId xmlns:a16="http://schemas.microsoft.com/office/drawing/2014/main" xmlns="" id="{EBBE9966-0432-876F-92EB-C06B50E5D63D}"/>
              </a:ext>
            </a:extLst>
          </p:cNvPr>
          <p:cNvGraphicFramePr/>
          <p:nvPr>
            <p:extLst>
              <p:ext uri="{D42A27DB-BD31-4B8C-83A1-F6EECF244321}">
                <p14:modId xmlns:p14="http://schemas.microsoft.com/office/powerpoint/2010/main" val="51302545"/>
              </p:ext>
            </p:extLst>
          </p:nvPr>
        </p:nvGraphicFramePr>
        <p:xfrm>
          <a:off x="2235499" y="2565993"/>
          <a:ext cx="5788082" cy="795564"/>
        </p:xfrm>
        <a:graphic>
          <a:graphicData uri="http://schemas.openxmlformats.org/presentationml/2006/ole">
            <mc:AlternateContent xmlns:mc="http://schemas.openxmlformats.org/markup-compatibility/2006">
              <mc:Choice xmlns:v="urn:schemas-microsoft-com:vml" Requires="v">
                <p:oleObj spid="_x0000_s37126" r:id="rId3" imgW="2933700" imgH="431800" progId="Equation.3">
                  <p:embed/>
                </p:oleObj>
              </mc:Choice>
              <mc:Fallback>
                <p:oleObj r:id="rId3" imgW="2933700" imgH="431800" progId="Equation.3">
                  <p:embed/>
                  <p:pic>
                    <p:nvPicPr>
                      <p:cNvPr id="0" name=""/>
                      <p:cNvPicPr/>
                      <p:nvPr/>
                    </p:nvPicPr>
                    <p:blipFill>
                      <a:blip r:embed="rId4"/>
                      <a:stretch>
                        <a:fillRect/>
                      </a:stretch>
                    </p:blipFill>
                    <p:spPr>
                      <a:xfrm>
                        <a:off x="2235499" y="2565993"/>
                        <a:ext cx="5788082" cy="795564"/>
                      </a:xfrm>
                      <a:prstGeom prst="rect">
                        <a:avLst/>
                      </a:prstGeom>
                      <a:noFill/>
                      <a:ln w="38100">
                        <a:noFill/>
                        <a:miter/>
                      </a:ln>
                    </p:spPr>
                  </p:pic>
                </p:oleObj>
              </mc:Fallback>
            </mc:AlternateContent>
          </a:graphicData>
        </a:graphic>
      </p:graphicFrame>
      <p:graphicFrame>
        <p:nvGraphicFramePr>
          <p:cNvPr id="8" name="对象 465927">
            <a:extLst>
              <a:ext uri="{FF2B5EF4-FFF2-40B4-BE49-F238E27FC236}">
                <a16:creationId xmlns:a16="http://schemas.microsoft.com/office/drawing/2014/main" xmlns="" id="{CBCC11ED-F31E-EBCF-96B7-97E3963404ED}"/>
              </a:ext>
            </a:extLst>
          </p:cNvPr>
          <p:cNvGraphicFramePr/>
          <p:nvPr>
            <p:extLst>
              <p:ext uri="{D42A27DB-BD31-4B8C-83A1-F6EECF244321}">
                <p14:modId xmlns:p14="http://schemas.microsoft.com/office/powerpoint/2010/main" val="3198801915"/>
              </p:ext>
            </p:extLst>
          </p:nvPr>
        </p:nvGraphicFramePr>
        <p:xfrm>
          <a:off x="2267744" y="1894484"/>
          <a:ext cx="3770784" cy="774026"/>
        </p:xfrm>
        <a:graphic>
          <a:graphicData uri="http://schemas.openxmlformats.org/presentationml/2006/ole">
            <mc:AlternateContent xmlns:mc="http://schemas.openxmlformats.org/markup-compatibility/2006">
              <mc:Choice xmlns:v="urn:schemas-microsoft-com:vml" Requires="v">
                <p:oleObj spid="_x0000_s37127" r:id="rId5" imgW="1968500" imgH="431800" progId="Equation.3">
                  <p:embed/>
                </p:oleObj>
              </mc:Choice>
              <mc:Fallback>
                <p:oleObj r:id="rId5" imgW="1968500" imgH="431800" progId="Equation.3">
                  <p:embed/>
                  <p:pic>
                    <p:nvPicPr>
                      <p:cNvPr id="0" name=""/>
                      <p:cNvPicPr/>
                      <p:nvPr/>
                    </p:nvPicPr>
                    <p:blipFill>
                      <a:blip r:embed="rId6"/>
                      <a:stretch>
                        <a:fillRect/>
                      </a:stretch>
                    </p:blipFill>
                    <p:spPr>
                      <a:xfrm>
                        <a:off x="2267744" y="1894484"/>
                        <a:ext cx="3770784" cy="774026"/>
                      </a:xfrm>
                      <a:prstGeom prst="rect">
                        <a:avLst/>
                      </a:prstGeom>
                      <a:noFill/>
                      <a:ln w="38100">
                        <a:noFill/>
                        <a:miter/>
                      </a:ln>
                    </p:spPr>
                  </p:pic>
                </p:oleObj>
              </mc:Fallback>
            </mc:AlternateContent>
          </a:graphicData>
        </a:graphic>
      </p:graphicFrame>
      <p:graphicFrame>
        <p:nvGraphicFramePr>
          <p:cNvPr id="9" name="对象 465929">
            <a:extLst>
              <a:ext uri="{FF2B5EF4-FFF2-40B4-BE49-F238E27FC236}">
                <a16:creationId xmlns:a16="http://schemas.microsoft.com/office/drawing/2014/main" xmlns="" id="{C9EEA3E1-3217-15DE-661B-FB948EB68646}"/>
              </a:ext>
            </a:extLst>
          </p:cNvPr>
          <p:cNvGraphicFramePr/>
          <p:nvPr>
            <p:extLst>
              <p:ext uri="{D42A27DB-BD31-4B8C-83A1-F6EECF244321}">
                <p14:modId xmlns:p14="http://schemas.microsoft.com/office/powerpoint/2010/main" val="1632122801"/>
              </p:ext>
            </p:extLst>
          </p:nvPr>
        </p:nvGraphicFramePr>
        <p:xfrm>
          <a:off x="2267744" y="4167989"/>
          <a:ext cx="5072636" cy="418647"/>
        </p:xfrm>
        <a:graphic>
          <a:graphicData uri="http://schemas.openxmlformats.org/presentationml/2006/ole">
            <mc:AlternateContent xmlns:mc="http://schemas.openxmlformats.org/markup-compatibility/2006">
              <mc:Choice xmlns:v="urn:schemas-microsoft-com:vml" Requires="v">
                <p:oleObj spid="_x0000_s37128" r:id="rId7" imgW="2603500" imgH="228600" progId="Equation.3">
                  <p:embed/>
                </p:oleObj>
              </mc:Choice>
              <mc:Fallback>
                <p:oleObj r:id="rId7" imgW="2603500" imgH="228600" progId="Equation.3">
                  <p:embed/>
                  <p:pic>
                    <p:nvPicPr>
                      <p:cNvPr id="0" name=""/>
                      <p:cNvPicPr/>
                      <p:nvPr/>
                    </p:nvPicPr>
                    <p:blipFill>
                      <a:blip r:embed="rId8"/>
                      <a:stretch>
                        <a:fillRect/>
                      </a:stretch>
                    </p:blipFill>
                    <p:spPr>
                      <a:xfrm>
                        <a:off x="2267744" y="4167989"/>
                        <a:ext cx="5072636" cy="418647"/>
                      </a:xfrm>
                      <a:prstGeom prst="rect">
                        <a:avLst/>
                      </a:prstGeom>
                      <a:noFill/>
                      <a:ln w="38100">
                        <a:noFill/>
                        <a:miter/>
                      </a:ln>
                    </p:spPr>
                  </p:pic>
                </p:oleObj>
              </mc:Fallback>
            </mc:AlternateContent>
          </a:graphicData>
        </a:graphic>
      </p:graphicFrame>
      <p:graphicFrame>
        <p:nvGraphicFramePr>
          <p:cNvPr id="10" name="对象 465931">
            <a:extLst>
              <a:ext uri="{FF2B5EF4-FFF2-40B4-BE49-F238E27FC236}">
                <a16:creationId xmlns:a16="http://schemas.microsoft.com/office/drawing/2014/main" xmlns="" id="{378AAD40-ADF5-CA1E-620E-C4213E143653}"/>
              </a:ext>
            </a:extLst>
          </p:cNvPr>
          <p:cNvGraphicFramePr/>
          <p:nvPr>
            <p:extLst>
              <p:ext uri="{D42A27DB-BD31-4B8C-83A1-F6EECF244321}">
                <p14:modId xmlns:p14="http://schemas.microsoft.com/office/powerpoint/2010/main" val="761272115"/>
              </p:ext>
            </p:extLst>
          </p:nvPr>
        </p:nvGraphicFramePr>
        <p:xfrm>
          <a:off x="2271131" y="4616630"/>
          <a:ext cx="4097681" cy="699989"/>
        </p:xfrm>
        <a:graphic>
          <a:graphicData uri="http://schemas.openxmlformats.org/presentationml/2006/ole">
            <mc:AlternateContent xmlns:mc="http://schemas.openxmlformats.org/markup-compatibility/2006">
              <mc:Choice xmlns:v="urn:schemas-microsoft-com:vml" Requires="v">
                <p:oleObj spid="_x0000_s37129" r:id="rId9" imgW="2298700" imgH="419100" progId="Equation.3">
                  <p:embed/>
                </p:oleObj>
              </mc:Choice>
              <mc:Fallback>
                <p:oleObj r:id="rId9" imgW="2298700" imgH="419100" progId="Equation.3">
                  <p:embed/>
                  <p:pic>
                    <p:nvPicPr>
                      <p:cNvPr id="0" name=""/>
                      <p:cNvPicPr/>
                      <p:nvPr/>
                    </p:nvPicPr>
                    <p:blipFill>
                      <a:blip r:embed="rId10"/>
                      <a:stretch>
                        <a:fillRect/>
                      </a:stretch>
                    </p:blipFill>
                    <p:spPr>
                      <a:xfrm>
                        <a:off x="2271131" y="4616630"/>
                        <a:ext cx="4097681" cy="699989"/>
                      </a:xfrm>
                      <a:prstGeom prst="rect">
                        <a:avLst/>
                      </a:prstGeom>
                      <a:noFill/>
                      <a:ln w="38100">
                        <a:noFill/>
                        <a:miter/>
                      </a:ln>
                    </p:spPr>
                  </p:pic>
                </p:oleObj>
              </mc:Fallback>
            </mc:AlternateContent>
          </a:graphicData>
        </a:graphic>
      </p:graphicFrame>
      <p:graphicFrame>
        <p:nvGraphicFramePr>
          <p:cNvPr id="11" name="对象 465936">
            <a:extLst>
              <a:ext uri="{FF2B5EF4-FFF2-40B4-BE49-F238E27FC236}">
                <a16:creationId xmlns:a16="http://schemas.microsoft.com/office/drawing/2014/main" xmlns="" id="{6BF112F7-FE9B-CD11-F0CE-5AB9915004C3}"/>
              </a:ext>
            </a:extLst>
          </p:cNvPr>
          <p:cNvGraphicFramePr/>
          <p:nvPr>
            <p:extLst>
              <p:ext uri="{D42A27DB-BD31-4B8C-83A1-F6EECF244321}">
                <p14:modId xmlns:p14="http://schemas.microsoft.com/office/powerpoint/2010/main" val="301386556"/>
              </p:ext>
            </p:extLst>
          </p:nvPr>
        </p:nvGraphicFramePr>
        <p:xfrm>
          <a:off x="3347740" y="5519967"/>
          <a:ext cx="4392612" cy="952500"/>
        </p:xfrm>
        <a:graphic>
          <a:graphicData uri="http://schemas.openxmlformats.org/presentationml/2006/ole">
            <mc:AlternateContent xmlns:mc="http://schemas.openxmlformats.org/markup-compatibility/2006">
              <mc:Choice xmlns:v="urn:schemas-microsoft-com:vml" Requires="v">
                <p:oleObj spid="_x0000_s37130" r:id="rId11" imgW="2235200" imgH="482600" progId="Equation.3">
                  <p:embed/>
                </p:oleObj>
              </mc:Choice>
              <mc:Fallback>
                <p:oleObj r:id="rId11" imgW="2235200" imgH="482600" progId="Equation.3">
                  <p:embed/>
                  <p:pic>
                    <p:nvPicPr>
                      <p:cNvPr id="0" name=""/>
                      <p:cNvPicPr/>
                      <p:nvPr/>
                    </p:nvPicPr>
                    <p:blipFill>
                      <a:blip r:embed="rId12"/>
                      <a:stretch>
                        <a:fillRect/>
                      </a:stretch>
                    </p:blipFill>
                    <p:spPr>
                      <a:xfrm>
                        <a:off x="3347740" y="5519967"/>
                        <a:ext cx="4392612" cy="952500"/>
                      </a:xfrm>
                      <a:prstGeom prst="rect">
                        <a:avLst/>
                      </a:prstGeom>
                      <a:noFill/>
                      <a:ln w="38100">
                        <a:noFill/>
                        <a:miter/>
                      </a:ln>
                    </p:spPr>
                  </p:pic>
                </p:oleObj>
              </mc:Fallback>
            </mc:AlternateContent>
          </a:graphicData>
        </a:graphic>
      </p:graphicFrame>
    </p:spTree>
    <p:extLst>
      <p:ext uri="{BB962C8B-B14F-4D97-AF65-F5344CB8AC3E}">
        <p14:creationId xmlns:p14="http://schemas.microsoft.com/office/powerpoint/2010/main" val="2121061601"/>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58</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5"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2.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高频</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基础</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电路</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 name="文本占位符 466946">
            <a:extLst>
              <a:ext uri="{FF2B5EF4-FFF2-40B4-BE49-F238E27FC236}">
                <a16:creationId xmlns:a16="http://schemas.microsoft.com/office/drawing/2014/main" xmlns="" id="{F46F88C0-DFB8-4CB3-C4E1-7318B64EF234}"/>
              </a:ext>
            </a:extLst>
          </p:cNvPr>
          <p:cNvSpPr txBox="1">
            <a:spLocks/>
          </p:cNvSpPr>
          <p:nvPr/>
        </p:nvSpPr>
        <p:spPr>
          <a:xfrm>
            <a:off x="377825" y="1303315"/>
            <a:ext cx="8388350" cy="5124474"/>
          </a:xfrm>
          <a:prstGeom prst="rect">
            <a:avLst/>
          </a:prstGeom>
          <a:noFill/>
          <a:ln>
            <a:noFill/>
          </a:ln>
        </p:spPr>
        <p:txBody>
          <a:bodyPr/>
          <a:lstStyle>
            <a:lvl1pPr marL="342900" indent="-342900" algn="l" rtl="0" eaLnBrk="0" fontAlgn="base" hangingPunct="0">
              <a:spcBef>
                <a:spcPct val="20000"/>
              </a:spcBef>
              <a:spcAft>
                <a:spcPct val="0"/>
              </a:spcAft>
              <a:buChar char="•"/>
              <a:defRPr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eaLnBrk="1" hangingPunct="1">
              <a:buFontTx/>
              <a:buNone/>
            </a:pPr>
            <a:r>
              <a:rPr lang="zh-CN" altLang="en-US" b="1" kern="0" dirty="0">
                <a:latin typeface="楷体_GB2312" panose="02010609030101010101" pitchFamily="49" charset="-122"/>
                <a:ea typeface="楷体_GB2312" panose="02010609030101010101" pitchFamily="49" charset="-122"/>
              </a:rPr>
              <a:t>   </a:t>
            </a:r>
            <a:r>
              <a:rPr lang="zh-CN" altLang="en-US" sz="2000" kern="0" dirty="0">
                <a:solidFill>
                  <a:srgbClr val="FF0000"/>
                </a:solidFill>
                <a:latin typeface="Times New Roman" panose="02020603050405020304" pitchFamily="18" charset="0"/>
              </a:rPr>
              <a:t>信源端</a:t>
            </a:r>
            <a:r>
              <a:rPr lang="en-US" altLang="zh-CN" sz="2000" kern="0" dirty="0">
                <a:solidFill>
                  <a:srgbClr val="FF0000"/>
                </a:solidFill>
                <a:latin typeface="Times New Roman" panose="02020603050405020304" pitchFamily="18" charset="0"/>
              </a:rPr>
              <a:t>L</a:t>
            </a:r>
            <a:r>
              <a:rPr lang="zh-CN" altLang="en-US" sz="2000" kern="0" dirty="0">
                <a:solidFill>
                  <a:srgbClr val="FF0000"/>
                </a:solidFill>
                <a:latin typeface="Times New Roman" panose="02020603050405020304" pitchFamily="18" charset="0"/>
              </a:rPr>
              <a:t>型网络的</a:t>
            </a:r>
            <a:r>
              <a:rPr lang="en-US" altLang="zh-CN" sz="2000" i="1" kern="0" dirty="0">
                <a:solidFill>
                  <a:srgbClr val="FF0000"/>
                </a:solidFill>
                <a:latin typeface="Times New Roman" panose="02020603050405020304" pitchFamily="18" charset="0"/>
              </a:rPr>
              <a:t>R</a:t>
            </a:r>
            <a:r>
              <a:rPr lang="en-US" altLang="zh-CN" sz="2000" kern="0" baseline="-25000" dirty="0">
                <a:solidFill>
                  <a:srgbClr val="FF0000"/>
                </a:solidFill>
                <a:latin typeface="Times New Roman" panose="02020603050405020304" pitchFamily="18" charset="0"/>
              </a:rPr>
              <a:t>1</a:t>
            </a:r>
            <a:r>
              <a:rPr lang="zh-CN" altLang="en-US" sz="2000" kern="0" dirty="0">
                <a:solidFill>
                  <a:srgbClr val="FF0000"/>
                </a:solidFill>
                <a:latin typeface="Times New Roman" panose="02020603050405020304" pitchFamily="18" charset="0"/>
              </a:rPr>
              <a:t>和</a:t>
            </a:r>
            <a:r>
              <a:rPr lang="en-US" altLang="zh-CN" sz="2000" i="1" kern="0" dirty="0">
                <a:solidFill>
                  <a:srgbClr val="FF0000"/>
                </a:solidFill>
                <a:latin typeface="Times New Roman" panose="02020603050405020304" pitchFamily="18" charset="0"/>
              </a:rPr>
              <a:t>C</a:t>
            </a:r>
            <a:r>
              <a:rPr lang="en-US" altLang="zh-CN" sz="2000" kern="0" baseline="-25000" dirty="0">
                <a:solidFill>
                  <a:srgbClr val="FF0000"/>
                </a:solidFill>
                <a:latin typeface="Times New Roman" panose="02020603050405020304" pitchFamily="18" charset="0"/>
              </a:rPr>
              <a:t>1</a:t>
            </a:r>
            <a:r>
              <a:rPr lang="zh-CN" altLang="en-US" sz="2000" kern="0" dirty="0">
                <a:solidFill>
                  <a:srgbClr val="FF0000"/>
                </a:solidFill>
                <a:latin typeface="Times New Roman" panose="02020603050405020304" pitchFamily="18" charset="0"/>
              </a:rPr>
              <a:t>并联支路</a:t>
            </a:r>
            <a:r>
              <a:rPr lang="en-US" altLang="zh-CN" sz="2000" i="1" kern="0" dirty="0">
                <a:solidFill>
                  <a:srgbClr val="FF0000"/>
                </a:solidFill>
                <a:latin typeface="Times New Roman" panose="02020603050405020304" pitchFamily="18" charset="0"/>
              </a:rPr>
              <a:t>Q</a:t>
            </a:r>
            <a:r>
              <a:rPr lang="en-US" altLang="zh-CN" sz="2000" kern="0" baseline="-25000" dirty="0">
                <a:solidFill>
                  <a:srgbClr val="FF0000"/>
                </a:solidFill>
                <a:latin typeface="Times New Roman" panose="02020603050405020304" pitchFamily="18" charset="0"/>
              </a:rPr>
              <a:t>1</a:t>
            </a:r>
            <a:r>
              <a:rPr lang="en-US" altLang="zh-CN" sz="2000" kern="0" dirty="0">
                <a:solidFill>
                  <a:srgbClr val="FF0000"/>
                </a:solidFill>
                <a:latin typeface="Times New Roman" panose="02020603050405020304" pitchFamily="18" charset="0"/>
              </a:rPr>
              <a:t>=</a:t>
            </a:r>
            <a:r>
              <a:rPr lang="en-US" altLang="zh-CN" sz="2000" i="1" kern="0" dirty="0">
                <a:solidFill>
                  <a:srgbClr val="FF0000"/>
                </a:solidFill>
                <a:latin typeface="Times New Roman" panose="02020603050405020304" pitchFamily="18" charset="0"/>
              </a:rPr>
              <a:t>R</a:t>
            </a:r>
            <a:r>
              <a:rPr lang="en-US" altLang="zh-CN" sz="2000" kern="0" baseline="-25000" dirty="0">
                <a:solidFill>
                  <a:srgbClr val="FF0000"/>
                </a:solidFill>
                <a:latin typeface="Times New Roman" panose="02020603050405020304" pitchFamily="18" charset="0"/>
              </a:rPr>
              <a:t>1</a:t>
            </a:r>
            <a:r>
              <a:rPr lang="en-US" altLang="zh-CN" sz="2000" kern="0" dirty="0">
                <a:solidFill>
                  <a:srgbClr val="FF0000"/>
                </a:solidFill>
                <a:latin typeface="Times New Roman" panose="02020603050405020304" pitchFamily="18" charset="0"/>
              </a:rPr>
              <a:t>/</a:t>
            </a:r>
            <a:r>
              <a:rPr lang="en-US" altLang="zh-CN" sz="2000" i="1" kern="0" dirty="0">
                <a:solidFill>
                  <a:srgbClr val="FF0000"/>
                </a:solidFill>
                <a:latin typeface="Times New Roman" panose="02020603050405020304" pitchFamily="18" charset="0"/>
              </a:rPr>
              <a:t>X</a:t>
            </a:r>
            <a:r>
              <a:rPr lang="en-US" altLang="zh-CN" sz="2000" kern="0" baseline="-25000" dirty="0">
                <a:solidFill>
                  <a:srgbClr val="FF0000"/>
                </a:solidFill>
                <a:latin typeface="Times New Roman" panose="02020603050405020304" pitchFamily="18" charset="0"/>
              </a:rPr>
              <a:t>PC1</a:t>
            </a:r>
            <a:r>
              <a:rPr lang="en-US" altLang="zh-CN" sz="2000" kern="0" dirty="0">
                <a:solidFill>
                  <a:srgbClr val="FF0000"/>
                </a:solidFill>
                <a:latin typeface="Times New Roman" panose="02020603050405020304" pitchFamily="18" charset="0"/>
              </a:rPr>
              <a:t>,</a:t>
            </a:r>
            <a:r>
              <a:rPr lang="zh-CN" altLang="en-US" sz="2000" kern="0" dirty="0">
                <a:latin typeface="Times New Roman" panose="02020603050405020304" pitchFamily="18" charset="0"/>
              </a:rPr>
              <a:t>则</a:t>
            </a:r>
          </a:p>
          <a:p>
            <a:pPr eaLnBrk="1" hangingPunct="1">
              <a:buFontTx/>
              <a:buNone/>
            </a:pPr>
            <a:endParaRPr lang="zh-CN" altLang="en-US" sz="2000" kern="0" dirty="0">
              <a:latin typeface="Times New Roman" panose="02020603050405020304" pitchFamily="18" charset="0"/>
            </a:endParaRPr>
          </a:p>
          <a:p>
            <a:pPr eaLnBrk="1" hangingPunct="1">
              <a:buFontTx/>
              <a:buNone/>
            </a:pPr>
            <a:endParaRPr lang="zh-CN" altLang="en-US" sz="2000" kern="0" dirty="0">
              <a:latin typeface="Times New Roman" panose="02020603050405020304" pitchFamily="18" charset="0"/>
            </a:endParaRPr>
          </a:p>
          <a:p>
            <a:pPr eaLnBrk="1" hangingPunct="1">
              <a:buFontTx/>
              <a:buNone/>
            </a:pPr>
            <a:endParaRPr lang="zh-CN" altLang="en-US" sz="2000" kern="0" dirty="0">
              <a:latin typeface="Times New Roman" panose="02020603050405020304" pitchFamily="18" charset="0"/>
            </a:endParaRPr>
          </a:p>
          <a:p>
            <a:pPr eaLnBrk="1" hangingPunct="1">
              <a:buFontTx/>
              <a:buNone/>
            </a:pPr>
            <a:r>
              <a:rPr lang="zh-CN" altLang="en-US" sz="2000" kern="0" dirty="0">
                <a:latin typeface="Times New Roman" panose="02020603050405020304" pitchFamily="18" charset="0"/>
              </a:rPr>
              <a:t>   </a:t>
            </a:r>
          </a:p>
          <a:p>
            <a:pPr eaLnBrk="1" hangingPunct="1">
              <a:buFontTx/>
              <a:buNone/>
            </a:pPr>
            <a:r>
              <a:rPr lang="zh-CN" altLang="en-US" sz="2000" kern="0" dirty="0">
                <a:latin typeface="Times New Roman" panose="02020603050405020304" pitchFamily="18" charset="0"/>
              </a:rPr>
              <a:t>   </a:t>
            </a:r>
            <a:r>
              <a:rPr lang="zh-CN" altLang="en-US" sz="2000" kern="0" dirty="0">
                <a:solidFill>
                  <a:srgbClr val="FF0000"/>
                </a:solidFill>
                <a:latin typeface="Times New Roman" panose="02020603050405020304" pitchFamily="18" charset="0"/>
              </a:rPr>
              <a:t>信源端</a:t>
            </a:r>
            <a:r>
              <a:rPr lang="en-US" altLang="zh-CN" sz="2000" kern="0" dirty="0">
                <a:solidFill>
                  <a:srgbClr val="FF0000"/>
                </a:solidFill>
                <a:latin typeface="Times New Roman" panose="02020603050405020304" pitchFamily="18" charset="0"/>
              </a:rPr>
              <a:t>L</a:t>
            </a:r>
            <a:r>
              <a:rPr lang="zh-CN" altLang="en-US" sz="2000" kern="0" dirty="0">
                <a:solidFill>
                  <a:srgbClr val="FF0000"/>
                </a:solidFill>
                <a:latin typeface="Times New Roman" panose="02020603050405020304" pitchFamily="18" charset="0"/>
              </a:rPr>
              <a:t>型网络的</a:t>
            </a:r>
            <a:r>
              <a:rPr lang="en-US" altLang="zh-CN" sz="2000" i="1" kern="0" dirty="0">
                <a:solidFill>
                  <a:srgbClr val="FF0000"/>
                </a:solidFill>
                <a:latin typeface="Times New Roman" panose="02020603050405020304" pitchFamily="18" charset="0"/>
              </a:rPr>
              <a:t>L</a:t>
            </a:r>
            <a:r>
              <a:rPr lang="en-US" altLang="zh-CN" sz="2000" kern="0" baseline="-25000" dirty="0">
                <a:solidFill>
                  <a:srgbClr val="FF0000"/>
                </a:solidFill>
                <a:latin typeface="Times New Roman" panose="02020603050405020304" pitchFamily="18" charset="0"/>
              </a:rPr>
              <a:t>1</a:t>
            </a:r>
            <a:r>
              <a:rPr lang="zh-CN" altLang="en-US" sz="2000" kern="0" dirty="0">
                <a:solidFill>
                  <a:srgbClr val="FF0000"/>
                </a:solidFill>
                <a:latin typeface="Times New Roman" panose="02020603050405020304" pitchFamily="18" charset="0"/>
              </a:rPr>
              <a:t>和</a:t>
            </a:r>
            <a:r>
              <a:rPr lang="en-US" altLang="zh-CN" sz="2000" i="1" kern="0" dirty="0" err="1">
                <a:solidFill>
                  <a:srgbClr val="FF0000"/>
                </a:solidFill>
                <a:latin typeface="Times New Roman" panose="02020603050405020304" pitchFamily="18" charset="0"/>
              </a:rPr>
              <a:t>R</a:t>
            </a:r>
            <a:r>
              <a:rPr lang="en-US" altLang="zh-CN" sz="2000" kern="0" baseline="-25000" dirty="0" err="1">
                <a:solidFill>
                  <a:srgbClr val="FF0000"/>
                </a:solidFill>
                <a:latin typeface="Times New Roman" panose="02020603050405020304" pitchFamily="18" charset="0"/>
              </a:rPr>
              <a:t>inter</a:t>
            </a:r>
            <a:r>
              <a:rPr lang="zh-CN" altLang="en-US" sz="2000" kern="0" dirty="0">
                <a:solidFill>
                  <a:srgbClr val="FF0000"/>
                </a:solidFill>
                <a:latin typeface="Times New Roman" panose="02020603050405020304" pitchFamily="18" charset="0"/>
              </a:rPr>
              <a:t>串联支路</a:t>
            </a:r>
            <a:r>
              <a:rPr lang="en-US" altLang="zh-CN" sz="2000" i="1" kern="0" dirty="0">
                <a:solidFill>
                  <a:srgbClr val="FF0000"/>
                </a:solidFill>
                <a:latin typeface="Times New Roman" panose="02020603050405020304" pitchFamily="18" charset="0"/>
              </a:rPr>
              <a:t>Q</a:t>
            </a:r>
            <a:r>
              <a:rPr lang="en-US" altLang="zh-CN" sz="2000" kern="0" baseline="-25000" dirty="0">
                <a:solidFill>
                  <a:srgbClr val="FF0000"/>
                </a:solidFill>
                <a:latin typeface="Times New Roman" panose="02020603050405020304" pitchFamily="18" charset="0"/>
              </a:rPr>
              <a:t>1</a:t>
            </a:r>
            <a:r>
              <a:rPr lang="en-US" altLang="zh-CN" sz="2000" kern="0" dirty="0">
                <a:solidFill>
                  <a:srgbClr val="FF0000"/>
                </a:solidFill>
                <a:latin typeface="Times New Roman" panose="02020603050405020304" pitchFamily="18" charset="0"/>
              </a:rPr>
              <a:t>=</a:t>
            </a:r>
            <a:r>
              <a:rPr lang="en-US" altLang="zh-CN" sz="2000" i="1" kern="0" dirty="0">
                <a:solidFill>
                  <a:srgbClr val="FF0000"/>
                </a:solidFill>
                <a:latin typeface="Times New Roman" panose="02020603050405020304" pitchFamily="18" charset="0"/>
              </a:rPr>
              <a:t>X</a:t>
            </a:r>
            <a:r>
              <a:rPr lang="en-US" altLang="zh-CN" sz="2000" kern="0" baseline="-25000" dirty="0">
                <a:solidFill>
                  <a:srgbClr val="FF0000"/>
                </a:solidFill>
                <a:latin typeface="Times New Roman" panose="02020603050405020304" pitchFamily="18" charset="0"/>
              </a:rPr>
              <a:t>SL1</a:t>
            </a:r>
            <a:r>
              <a:rPr lang="en-US" altLang="zh-CN" sz="2000" kern="0" dirty="0">
                <a:solidFill>
                  <a:srgbClr val="FF0000"/>
                </a:solidFill>
                <a:latin typeface="Times New Roman" panose="02020603050405020304" pitchFamily="18" charset="0"/>
              </a:rPr>
              <a:t>/</a:t>
            </a:r>
            <a:r>
              <a:rPr lang="en-US" altLang="zh-CN" sz="2000" i="1" kern="0" dirty="0" err="1">
                <a:solidFill>
                  <a:srgbClr val="FF0000"/>
                </a:solidFill>
                <a:latin typeface="Times New Roman" panose="02020603050405020304" pitchFamily="18" charset="0"/>
              </a:rPr>
              <a:t>R</a:t>
            </a:r>
            <a:r>
              <a:rPr lang="en-US" altLang="zh-CN" sz="2000" kern="0" baseline="-25000" dirty="0" err="1">
                <a:solidFill>
                  <a:srgbClr val="FF0000"/>
                </a:solidFill>
                <a:latin typeface="Times New Roman" panose="02020603050405020304" pitchFamily="18" charset="0"/>
              </a:rPr>
              <a:t>inter</a:t>
            </a:r>
            <a:r>
              <a:rPr lang="en-US" altLang="zh-CN" sz="2000" kern="0" dirty="0">
                <a:solidFill>
                  <a:srgbClr val="FF0000"/>
                </a:solidFill>
                <a:latin typeface="Times New Roman" panose="02020603050405020304" pitchFamily="18" charset="0"/>
              </a:rPr>
              <a:t>,</a:t>
            </a:r>
            <a:r>
              <a:rPr lang="zh-CN" altLang="en-US" sz="2000" kern="0" dirty="0">
                <a:latin typeface="Times New Roman" panose="02020603050405020304" pitchFamily="18" charset="0"/>
              </a:rPr>
              <a:t>则</a:t>
            </a:r>
          </a:p>
          <a:p>
            <a:pPr eaLnBrk="1" hangingPunct="1">
              <a:buFontTx/>
              <a:buNone/>
            </a:pPr>
            <a:endParaRPr lang="zh-CN" altLang="en-US" sz="2000" kern="0" dirty="0">
              <a:latin typeface="Times New Roman" panose="02020603050405020304" pitchFamily="18" charset="0"/>
            </a:endParaRPr>
          </a:p>
          <a:p>
            <a:pPr eaLnBrk="1" hangingPunct="1">
              <a:buFontTx/>
              <a:buNone/>
            </a:pPr>
            <a:endParaRPr lang="zh-CN" altLang="en-US" sz="2000" kern="0" dirty="0">
              <a:latin typeface="Times New Roman" panose="02020603050405020304" pitchFamily="18" charset="0"/>
            </a:endParaRPr>
          </a:p>
          <a:p>
            <a:pPr eaLnBrk="1" hangingPunct="1">
              <a:buFontTx/>
              <a:buNone/>
            </a:pPr>
            <a:r>
              <a:rPr lang="en-US" altLang="zh-CN" sz="2000" kern="0" dirty="0">
                <a:latin typeface="Times New Roman" panose="02020603050405020304" pitchFamily="18" charset="0"/>
              </a:rPr>
              <a:t>   </a:t>
            </a:r>
          </a:p>
          <a:p>
            <a:pPr eaLnBrk="1" hangingPunct="1">
              <a:buFontTx/>
              <a:buNone/>
            </a:pPr>
            <a:r>
              <a:rPr lang="en-US" altLang="zh-CN" sz="2000" kern="0" dirty="0">
                <a:latin typeface="Times New Roman" panose="02020603050405020304" pitchFamily="18" charset="0"/>
              </a:rPr>
              <a:t> </a:t>
            </a:r>
          </a:p>
          <a:p>
            <a:pPr eaLnBrk="1" hangingPunct="1">
              <a:buFontTx/>
              <a:buNone/>
            </a:pPr>
            <a:r>
              <a:rPr lang="en-US" altLang="zh-CN" sz="2000" kern="0" dirty="0">
                <a:latin typeface="Times New Roman" panose="02020603050405020304" pitchFamily="18" charset="0"/>
              </a:rPr>
              <a:t>   π</a:t>
            </a:r>
            <a:r>
              <a:rPr lang="zh-CN" altLang="en-US" sz="2000" kern="0" dirty="0">
                <a:latin typeface="Times New Roman" panose="02020603050405020304" pitchFamily="18" charset="0"/>
              </a:rPr>
              <a:t>型匹配网络的总电感</a:t>
            </a:r>
            <a:r>
              <a:rPr lang="en-US" altLang="zh-CN" sz="2000" kern="0" dirty="0">
                <a:latin typeface="Times New Roman" panose="02020603050405020304" pitchFamily="18" charset="0"/>
              </a:rPr>
              <a:t>:</a:t>
            </a:r>
          </a:p>
        </p:txBody>
      </p:sp>
      <p:graphicFrame>
        <p:nvGraphicFramePr>
          <p:cNvPr id="7" name="对象 466947">
            <a:extLst>
              <a:ext uri="{FF2B5EF4-FFF2-40B4-BE49-F238E27FC236}">
                <a16:creationId xmlns:a16="http://schemas.microsoft.com/office/drawing/2014/main" xmlns="" id="{A29989DE-C5C8-8154-4CAA-DFCAEE634546}"/>
              </a:ext>
            </a:extLst>
          </p:cNvPr>
          <p:cNvGraphicFramePr/>
          <p:nvPr>
            <p:extLst>
              <p:ext uri="{D42A27DB-BD31-4B8C-83A1-F6EECF244321}">
                <p14:modId xmlns:p14="http://schemas.microsoft.com/office/powerpoint/2010/main" val="178688142"/>
              </p:ext>
            </p:extLst>
          </p:nvPr>
        </p:nvGraphicFramePr>
        <p:xfrm>
          <a:off x="2160011" y="1729557"/>
          <a:ext cx="3618122" cy="670174"/>
        </p:xfrm>
        <a:graphic>
          <a:graphicData uri="http://schemas.openxmlformats.org/presentationml/2006/ole">
            <mc:AlternateContent xmlns:mc="http://schemas.openxmlformats.org/markup-compatibility/2006">
              <mc:Choice xmlns:v="urn:schemas-microsoft-com:vml" Requires="v">
                <p:oleObj spid="_x0000_s38150" r:id="rId3" imgW="1955800" imgH="431800" progId="Equation.3">
                  <p:embed/>
                </p:oleObj>
              </mc:Choice>
              <mc:Fallback>
                <p:oleObj r:id="rId3" imgW="1955800" imgH="431800" progId="Equation.3">
                  <p:embed/>
                  <p:pic>
                    <p:nvPicPr>
                      <p:cNvPr id="0" name=""/>
                      <p:cNvPicPr/>
                      <p:nvPr/>
                    </p:nvPicPr>
                    <p:blipFill>
                      <a:blip r:embed="rId4"/>
                      <a:stretch>
                        <a:fillRect/>
                      </a:stretch>
                    </p:blipFill>
                    <p:spPr>
                      <a:xfrm>
                        <a:off x="2160011" y="1729557"/>
                        <a:ext cx="3618122" cy="670174"/>
                      </a:xfrm>
                      <a:prstGeom prst="rect">
                        <a:avLst/>
                      </a:prstGeom>
                      <a:noFill/>
                      <a:ln w="38100">
                        <a:noFill/>
                        <a:miter/>
                      </a:ln>
                    </p:spPr>
                  </p:pic>
                </p:oleObj>
              </mc:Fallback>
            </mc:AlternateContent>
          </a:graphicData>
        </a:graphic>
      </p:graphicFrame>
      <p:graphicFrame>
        <p:nvGraphicFramePr>
          <p:cNvPr id="8" name="对象 466949">
            <a:extLst>
              <a:ext uri="{FF2B5EF4-FFF2-40B4-BE49-F238E27FC236}">
                <a16:creationId xmlns:a16="http://schemas.microsoft.com/office/drawing/2014/main" xmlns="" id="{B10D3DB6-9C54-43D9-E930-FAA57F03C3A8}"/>
              </a:ext>
            </a:extLst>
          </p:cNvPr>
          <p:cNvGraphicFramePr/>
          <p:nvPr>
            <p:extLst>
              <p:ext uri="{D42A27DB-BD31-4B8C-83A1-F6EECF244321}">
                <p14:modId xmlns:p14="http://schemas.microsoft.com/office/powerpoint/2010/main" val="3724330716"/>
              </p:ext>
            </p:extLst>
          </p:nvPr>
        </p:nvGraphicFramePr>
        <p:xfrm>
          <a:off x="2159652" y="2354018"/>
          <a:ext cx="5734211" cy="701906"/>
        </p:xfrm>
        <a:graphic>
          <a:graphicData uri="http://schemas.openxmlformats.org/presentationml/2006/ole">
            <mc:AlternateContent xmlns:mc="http://schemas.openxmlformats.org/markup-compatibility/2006">
              <mc:Choice xmlns:v="urn:schemas-microsoft-com:vml" Requires="v">
                <p:oleObj spid="_x0000_s38151" r:id="rId5" imgW="2946400" imgH="431800" progId="Equation.3">
                  <p:embed/>
                </p:oleObj>
              </mc:Choice>
              <mc:Fallback>
                <p:oleObj r:id="rId5" imgW="2946400" imgH="431800" progId="Equation.3">
                  <p:embed/>
                  <p:pic>
                    <p:nvPicPr>
                      <p:cNvPr id="0" name=""/>
                      <p:cNvPicPr/>
                      <p:nvPr/>
                    </p:nvPicPr>
                    <p:blipFill>
                      <a:blip r:embed="rId6"/>
                      <a:stretch>
                        <a:fillRect/>
                      </a:stretch>
                    </p:blipFill>
                    <p:spPr>
                      <a:xfrm>
                        <a:off x="2159652" y="2354018"/>
                        <a:ext cx="5734211" cy="701906"/>
                      </a:xfrm>
                      <a:prstGeom prst="rect">
                        <a:avLst/>
                      </a:prstGeom>
                      <a:noFill/>
                      <a:ln w="38100">
                        <a:noFill/>
                        <a:miter/>
                      </a:ln>
                    </p:spPr>
                  </p:pic>
                </p:oleObj>
              </mc:Fallback>
            </mc:AlternateContent>
          </a:graphicData>
        </a:graphic>
      </p:graphicFrame>
      <p:graphicFrame>
        <p:nvGraphicFramePr>
          <p:cNvPr id="9" name="对象 466951">
            <a:extLst>
              <a:ext uri="{FF2B5EF4-FFF2-40B4-BE49-F238E27FC236}">
                <a16:creationId xmlns:a16="http://schemas.microsoft.com/office/drawing/2014/main" xmlns="" id="{E0509EEA-5EE1-29D7-1E96-9BD2BDF07E5D}"/>
              </a:ext>
            </a:extLst>
          </p:cNvPr>
          <p:cNvGraphicFramePr/>
          <p:nvPr>
            <p:extLst>
              <p:ext uri="{D42A27DB-BD31-4B8C-83A1-F6EECF244321}">
                <p14:modId xmlns:p14="http://schemas.microsoft.com/office/powerpoint/2010/main" val="3488382470"/>
              </p:ext>
            </p:extLst>
          </p:nvPr>
        </p:nvGraphicFramePr>
        <p:xfrm>
          <a:off x="2114265" y="3743617"/>
          <a:ext cx="4915469" cy="363011"/>
        </p:xfrm>
        <a:graphic>
          <a:graphicData uri="http://schemas.openxmlformats.org/presentationml/2006/ole">
            <mc:AlternateContent xmlns:mc="http://schemas.openxmlformats.org/markup-compatibility/2006">
              <mc:Choice xmlns:v="urn:schemas-microsoft-com:vml" Requires="v">
                <p:oleObj spid="_x0000_s38152" r:id="rId7" imgW="2603500" imgH="228600" progId="Equation.3">
                  <p:embed/>
                </p:oleObj>
              </mc:Choice>
              <mc:Fallback>
                <p:oleObj r:id="rId7" imgW="2603500" imgH="228600" progId="Equation.3">
                  <p:embed/>
                  <p:pic>
                    <p:nvPicPr>
                      <p:cNvPr id="0" name=""/>
                      <p:cNvPicPr/>
                      <p:nvPr/>
                    </p:nvPicPr>
                    <p:blipFill>
                      <a:blip r:embed="rId8"/>
                      <a:stretch>
                        <a:fillRect/>
                      </a:stretch>
                    </p:blipFill>
                    <p:spPr>
                      <a:xfrm>
                        <a:off x="2114265" y="3743617"/>
                        <a:ext cx="4915469" cy="363011"/>
                      </a:xfrm>
                      <a:prstGeom prst="rect">
                        <a:avLst/>
                      </a:prstGeom>
                      <a:noFill/>
                      <a:ln w="38100">
                        <a:noFill/>
                        <a:miter/>
                      </a:ln>
                    </p:spPr>
                  </p:pic>
                </p:oleObj>
              </mc:Fallback>
            </mc:AlternateContent>
          </a:graphicData>
        </a:graphic>
      </p:graphicFrame>
      <p:graphicFrame>
        <p:nvGraphicFramePr>
          <p:cNvPr id="10" name="对象 466953">
            <a:extLst>
              <a:ext uri="{FF2B5EF4-FFF2-40B4-BE49-F238E27FC236}">
                <a16:creationId xmlns:a16="http://schemas.microsoft.com/office/drawing/2014/main" xmlns="" id="{4606D1EE-289E-5200-55F2-9EC23D13A4D1}"/>
              </a:ext>
            </a:extLst>
          </p:cNvPr>
          <p:cNvGraphicFramePr/>
          <p:nvPr>
            <p:extLst>
              <p:ext uri="{D42A27DB-BD31-4B8C-83A1-F6EECF244321}">
                <p14:modId xmlns:p14="http://schemas.microsoft.com/office/powerpoint/2010/main" val="687432520"/>
              </p:ext>
            </p:extLst>
          </p:nvPr>
        </p:nvGraphicFramePr>
        <p:xfrm>
          <a:off x="2121374" y="4201125"/>
          <a:ext cx="5120155" cy="680329"/>
        </p:xfrm>
        <a:graphic>
          <a:graphicData uri="http://schemas.openxmlformats.org/presentationml/2006/ole">
            <mc:AlternateContent xmlns:mc="http://schemas.openxmlformats.org/markup-compatibility/2006">
              <mc:Choice xmlns:v="urn:schemas-microsoft-com:vml" Requires="v">
                <p:oleObj spid="_x0000_s38153" r:id="rId9" imgW="2311400" imgH="419100" progId="Equation.3">
                  <p:embed/>
                </p:oleObj>
              </mc:Choice>
              <mc:Fallback>
                <p:oleObj r:id="rId9" imgW="2311400" imgH="419100" progId="Equation.3">
                  <p:embed/>
                  <p:pic>
                    <p:nvPicPr>
                      <p:cNvPr id="0" name=""/>
                      <p:cNvPicPr/>
                      <p:nvPr/>
                    </p:nvPicPr>
                    <p:blipFill>
                      <a:blip r:embed="rId10"/>
                      <a:stretch>
                        <a:fillRect/>
                      </a:stretch>
                    </p:blipFill>
                    <p:spPr>
                      <a:xfrm>
                        <a:off x="2121374" y="4201125"/>
                        <a:ext cx="5120155" cy="680329"/>
                      </a:xfrm>
                      <a:prstGeom prst="rect">
                        <a:avLst/>
                      </a:prstGeom>
                      <a:noFill/>
                      <a:ln w="38100">
                        <a:noFill/>
                        <a:miter/>
                      </a:ln>
                    </p:spPr>
                  </p:pic>
                </p:oleObj>
              </mc:Fallback>
            </mc:AlternateContent>
          </a:graphicData>
        </a:graphic>
      </p:graphicFrame>
      <p:graphicFrame>
        <p:nvGraphicFramePr>
          <p:cNvPr id="11" name="对象 466955">
            <a:extLst>
              <a:ext uri="{FF2B5EF4-FFF2-40B4-BE49-F238E27FC236}">
                <a16:creationId xmlns:a16="http://schemas.microsoft.com/office/drawing/2014/main" xmlns="" id="{68383AEB-A991-8FDA-D8B8-C607B77640C3}"/>
              </a:ext>
            </a:extLst>
          </p:cNvPr>
          <p:cNvGraphicFramePr/>
          <p:nvPr>
            <p:extLst>
              <p:ext uri="{D42A27DB-BD31-4B8C-83A1-F6EECF244321}">
                <p14:modId xmlns:p14="http://schemas.microsoft.com/office/powerpoint/2010/main" val="2443221396"/>
              </p:ext>
            </p:extLst>
          </p:nvPr>
        </p:nvGraphicFramePr>
        <p:xfrm>
          <a:off x="2127278" y="5564729"/>
          <a:ext cx="5392567" cy="373165"/>
        </p:xfrm>
        <a:graphic>
          <a:graphicData uri="http://schemas.openxmlformats.org/presentationml/2006/ole">
            <mc:AlternateContent xmlns:mc="http://schemas.openxmlformats.org/markup-compatibility/2006">
              <mc:Choice xmlns:v="urn:schemas-microsoft-com:vml" Requires="v">
                <p:oleObj spid="_x0000_s38154" r:id="rId11" imgW="2679700" imgH="215900" progId="Equation.3">
                  <p:embed/>
                </p:oleObj>
              </mc:Choice>
              <mc:Fallback>
                <p:oleObj r:id="rId11" imgW="2679700" imgH="215900" progId="Equation.3">
                  <p:embed/>
                  <p:pic>
                    <p:nvPicPr>
                      <p:cNvPr id="0" name=""/>
                      <p:cNvPicPr/>
                      <p:nvPr/>
                    </p:nvPicPr>
                    <p:blipFill>
                      <a:blip r:embed="rId12"/>
                      <a:stretch>
                        <a:fillRect/>
                      </a:stretch>
                    </p:blipFill>
                    <p:spPr>
                      <a:xfrm>
                        <a:off x="2127278" y="5564729"/>
                        <a:ext cx="5392567" cy="373165"/>
                      </a:xfrm>
                      <a:prstGeom prst="rect">
                        <a:avLst/>
                      </a:prstGeom>
                      <a:noFill/>
                      <a:ln w="38100">
                        <a:noFill/>
                        <a:miter/>
                      </a:ln>
                    </p:spPr>
                  </p:pic>
                </p:oleObj>
              </mc:Fallback>
            </mc:AlternateContent>
          </a:graphicData>
        </a:graphic>
      </p:graphicFrame>
    </p:spTree>
    <p:extLst>
      <p:ext uri="{BB962C8B-B14F-4D97-AF65-F5344CB8AC3E}">
        <p14:creationId xmlns:p14="http://schemas.microsoft.com/office/powerpoint/2010/main" val="132340714"/>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59</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5"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2.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高频</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基础</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电路</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 name="内容占位符 7170">
            <a:extLst>
              <a:ext uri="{FF2B5EF4-FFF2-40B4-BE49-F238E27FC236}">
                <a16:creationId xmlns:a16="http://schemas.microsoft.com/office/drawing/2014/main" xmlns="" id="{EF442979-5671-4E90-8542-645E4DA0B735}"/>
              </a:ext>
            </a:extLst>
          </p:cNvPr>
          <p:cNvSpPr/>
          <p:nvPr/>
        </p:nvSpPr>
        <p:spPr>
          <a:xfrm>
            <a:off x="539552" y="1412775"/>
            <a:ext cx="8353425" cy="3672409"/>
          </a:xfrm>
          <a:prstGeom prst="rect">
            <a:avLst/>
          </a:prstGeom>
          <a:noFill/>
          <a:ln w="9525">
            <a:noFill/>
          </a:ln>
        </p:spPr>
        <p:txBody>
          <a:bodyPr/>
          <a:lstStyle/>
          <a:p>
            <a:pPr>
              <a:lnSpc>
                <a:spcPct val="120000"/>
              </a:lnSpc>
              <a:spcBef>
                <a:spcPts val="1200"/>
              </a:spcBef>
              <a:spcAft>
                <a:spcPts val="1200"/>
              </a:spcAft>
              <a:buClr>
                <a:schemeClr val="folHlink"/>
              </a:buClr>
              <a:buSzPct val="60000"/>
              <a:defRPr/>
            </a:pPr>
            <a:endParaRPr lang="zh-CN" altLang="en-US" dirty="0">
              <a:ln w="0"/>
              <a:effectLst>
                <a:glow rad="63500">
                  <a:schemeClr val="accent3">
                    <a:satMod val="175000"/>
                    <a:alpha val="40000"/>
                  </a:schemeClr>
                </a:glow>
              </a:effectLst>
              <a:latin typeface="+mn-ea"/>
              <a:ea typeface="+mn-ea"/>
              <a:cs typeface="Times New Roman" panose="02020603050405020304" pitchFamily="18" charset="0"/>
            </a:endParaRPr>
          </a:p>
        </p:txBody>
      </p:sp>
      <p:sp>
        <p:nvSpPr>
          <p:cNvPr id="7" name="文本框 6">
            <a:extLst>
              <a:ext uri="{FF2B5EF4-FFF2-40B4-BE49-F238E27FC236}">
                <a16:creationId xmlns:a16="http://schemas.microsoft.com/office/drawing/2014/main" xmlns="" id="{D2844C77-C1A6-7CE0-3EED-04B3BF773677}"/>
              </a:ext>
            </a:extLst>
          </p:cNvPr>
          <p:cNvSpPr txBox="1"/>
          <p:nvPr/>
        </p:nvSpPr>
        <p:spPr>
          <a:xfrm>
            <a:off x="0" y="1354706"/>
            <a:ext cx="9143999" cy="430887"/>
          </a:xfrm>
          <a:prstGeom prst="rect">
            <a:avLst/>
          </a:prstGeom>
          <a:noFill/>
        </p:spPr>
        <p:txBody>
          <a:bodyPr wrap="square" rtlCol="0">
            <a:spAutoFit/>
          </a:bodyPr>
          <a:lstStyle/>
          <a:p>
            <a:pPr algn="ctr"/>
            <a:r>
              <a:rPr lang="en-US" altLang="zh-CN" sz="2200" b="1" dirty="0" smtClean="0">
                <a:latin typeface="+mn-ea"/>
                <a:ea typeface="+mn-ea"/>
              </a:rPr>
              <a:t>T</a:t>
            </a:r>
            <a:r>
              <a:rPr lang="zh-CN" altLang="en-US" sz="2200" b="1" dirty="0">
                <a:latin typeface="+mn-ea"/>
                <a:ea typeface="+mn-ea"/>
              </a:rPr>
              <a:t>型匹配网络</a:t>
            </a:r>
          </a:p>
        </p:txBody>
      </p:sp>
      <p:pic>
        <p:nvPicPr>
          <p:cNvPr id="8" name="图片 470019" descr="BBB">
            <a:extLst>
              <a:ext uri="{FF2B5EF4-FFF2-40B4-BE49-F238E27FC236}">
                <a16:creationId xmlns:a16="http://schemas.microsoft.com/office/drawing/2014/main" xmlns="" id="{6C4CE25B-2616-6D25-8C39-A03ADFC106FF}"/>
              </a:ext>
            </a:extLst>
          </p:cNvPr>
          <p:cNvPicPr>
            <a:picLocks noChangeAspect="1"/>
          </p:cNvPicPr>
          <p:nvPr/>
        </p:nvPicPr>
        <p:blipFill>
          <a:blip r:embed="rId2"/>
          <a:stretch>
            <a:fillRect/>
          </a:stretch>
        </p:blipFill>
        <p:spPr>
          <a:xfrm>
            <a:off x="1443091" y="1785593"/>
            <a:ext cx="6257816" cy="1919783"/>
          </a:xfrm>
          <a:prstGeom prst="rect">
            <a:avLst/>
          </a:prstGeom>
          <a:noFill/>
          <a:ln w="9525">
            <a:noFill/>
          </a:ln>
        </p:spPr>
      </p:pic>
      <p:sp>
        <p:nvSpPr>
          <p:cNvPr id="9" name="下弧形箭头 470041">
            <a:extLst>
              <a:ext uri="{FF2B5EF4-FFF2-40B4-BE49-F238E27FC236}">
                <a16:creationId xmlns:a16="http://schemas.microsoft.com/office/drawing/2014/main" xmlns="" id="{2A0B0307-D9BD-EDE3-1331-40E284C3C12F}"/>
              </a:ext>
            </a:extLst>
          </p:cNvPr>
          <p:cNvSpPr/>
          <p:nvPr/>
        </p:nvSpPr>
        <p:spPr>
          <a:xfrm>
            <a:off x="4032249" y="3457763"/>
            <a:ext cx="1079500" cy="215900"/>
          </a:xfrm>
          <a:prstGeom prst="curvedUpArrow">
            <a:avLst>
              <a:gd name="adj1" fmla="val 100000"/>
              <a:gd name="adj2" fmla="val 200000"/>
              <a:gd name="adj3" fmla="val 33328"/>
            </a:avLst>
          </a:prstGeom>
          <a:gradFill rotWithShape="0">
            <a:gsLst>
              <a:gs pos="0">
                <a:schemeClr val="accent1"/>
              </a:gs>
              <a:gs pos="100000">
                <a:schemeClr val="bg1"/>
              </a:gs>
            </a:gsLst>
            <a:lin ang="0" scaled="1"/>
            <a:tileRect/>
          </a:gradFill>
          <a:ln w="9525" cap="flat" cmpd="sng">
            <a:solidFill>
              <a:schemeClr val="tx1"/>
            </a:solidFill>
            <a:prstDash val="solid"/>
            <a:miter/>
            <a:headEnd type="none" w="sm" len="sm"/>
            <a:tailEnd type="none" w="sm" len="sm"/>
          </a:ln>
        </p:spPr>
        <p:txBody>
          <a:bodyPr/>
          <a:lstStyle/>
          <a:p>
            <a:endParaRPr lang="zh-CN" altLang="en-US" dirty="0">
              <a:latin typeface="楷体_GB2312" panose="02010609030101010101" pitchFamily="49" charset="-122"/>
            </a:endParaRPr>
          </a:p>
        </p:txBody>
      </p:sp>
      <p:sp>
        <p:nvSpPr>
          <p:cNvPr id="10" name="文本占位符 470018">
            <a:extLst>
              <a:ext uri="{FF2B5EF4-FFF2-40B4-BE49-F238E27FC236}">
                <a16:creationId xmlns:a16="http://schemas.microsoft.com/office/drawing/2014/main" xmlns="" id="{B76C4CCA-3E8E-1105-0E3A-37B8F33ACCBE}"/>
              </a:ext>
            </a:extLst>
          </p:cNvPr>
          <p:cNvSpPr txBox="1">
            <a:spLocks/>
          </p:cNvSpPr>
          <p:nvPr/>
        </p:nvSpPr>
        <p:spPr>
          <a:xfrm>
            <a:off x="288530" y="3901170"/>
            <a:ext cx="8460182" cy="2304256"/>
          </a:xfrm>
          <a:prstGeom prst="rect">
            <a:avLst/>
          </a:prstGeom>
          <a:noFill/>
          <a:ln>
            <a:noFill/>
          </a:ln>
        </p:spPr>
        <p:txBody>
          <a:bodyPr/>
          <a:lstStyle>
            <a:lvl1pPr marL="342900" indent="-342900" algn="l" rtl="0" eaLnBrk="0" fontAlgn="base" hangingPunct="0">
              <a:spcBef>
                <a:spcPct val="20000"/>
              </a:spcBef>
              <a:spcAft>
                <a:spcPct val="0"/>
              </a:spcAft>
              <a:buChar char="•"/>
              <a:defRPr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algn="just" eaLnBrk="1" hangingPunct="1">
              <a:spcBef>
                <a:spcPts val="0"/>
              </a:spcBef>
              <a:buFontTx/>
              <a:buNone/>
            </a:pPr>
            <a:r>
              <a:rPr lang="en-US" altLang="zh-CN" sz="2000" b="1" kern="0" dirty="0">
                <a:latin typeface="Times New Roman" panose="02020603050405020304" pitchFamily="18" charset="0"/>
              </a:rPr>
              <a:t>       </a:t>
            </a:r>
            <a:r>
              <a:rPr lang="en-US" altLang="zh-CN" sz="2000" kern="0" dirty="0">
                <a:latin typeface="Times New Roman" panose="02020603050405020304" pitchFamily="18" charset="0"/>
              </a:rPr>
              <a:t>T</a:t>
            </a:r>
            <a:r>
              <a:rPr lang="zh-CN" altLang="en-US" sz="2000" kern="0" dirty="0">
                <a:latin typeface="Times New Roman" panose="02020603050405020304" pitchFamily="18" charset="0"/>
              </a:rPr>
              <a:t>型匹配网络可将</a:t>
            </a:r>
            <a:r>
              <a:rPr lang="en-US" altLang="zh-CN" sz="2000" i="1" kern="0" dirty="0">
                <a:latin typeface="Times New Roman" panose="02020603050405020304" pitchFamily="18" charset="0"/>
              </a:rPr>
              <a:t>X</a:t>
            </a:r>
            <a:r>
              <a:rPr lang="en-US" altLang="zh-CN" sz="2000" kern="0" baseline="-25000" dirty="0">
                <a:latin typeface="Times New Roman" panose="02020603050405020304" pitchFamily="18" charset="0"/>
              </a:rPr>
              <a:t>P</a:t>
            </a:r>
            <a:r>
              <a:rPr lang="zh-CN" altLang="en-US" sz="2000" kern="0" dirty="0">
                <a:latin typeface="Times New Roman" panose="02020603050405020304" pitchFamily="18" charset="0"/>
              </a:rPr>
              <a:t>分成两部分</a:t>
            </a:r>
            <a:r>
              <a:rPr lang="en-US" altLang="zh-CN" sz="2000" kern="0" dirty="0">
                <a:latin typeface="Times New Roman" panose="02020603050405020304" pitchFamily="18" charset="0"/>
              </a:rPr>
              <a:t>,</a:t>
            </a:r>
            <a:r>
              <a:rPr lang="zh-CN" altLang="en-US" sz="2000" kern="0" dirty="0">
                <a:latin typeface="Times New Roman" panose="02020603050405020304" pitchFamily="18" charset="0"/>
              </a:rPr>
              <a:t>即</a:t>
            </a:r>
            <a:r>
              <a:rPr lang="en-US" altLang="zh-CN" sz="2000" kern="0" dirty="0">
                <a:solidFill>
                  <a:srgbClr val="FF0000"/>
                </a:solidFill>
                <a:latin typeface="Times New Roman" panose="02020603050405020304" pitchFamily="18" charset="0"/>
              </a:rPr>
              <a:t>1/</a:t>
            </a:r>
            <a:r>
              <a:rPr lang="en-US" altLang="zh-CN" sz="2000" i="1" kern="0" dirty="0">
                <a:solidFill>
                  <a:srgbClr val="FF0000"/>
                </a:solidFill>
                <a:latin typeface="Times New Roman" panose="02020603050405020304" pitchFamily="18" charset="0"/>
              </a:rPr>
              <a:t>X</a:t>
            </a:r>
            <a:r>
              <a:rPr lang="en-US" altLang="zh-CN" sz="2000" kern="0" baseline="-25000" dirty="0">
                <a:solidFill>
                  <a:srgbClr val="FF0000"/>
                </a:solidFill>
                <a:latin typeface="Times New Roman" panose="02020603050405020304" pitchFamily="18" charset="0"/>
              </a:rPr>
              <a:t>P</a:t>
            </a:r>
            <a:r>
              <a:rPr lang="en-US" altLang="zh-CN" sz="2000" kern="0" dirty="0">
                <a:solidFill>
                  <a:srgbClr val="FF0000"/>
                </a:solidFill>
                <a:latin typeface="Times New Roman" panose="02020603050405020304" pitchFamily="18" charset="0"/>
              </a:rPr>
              <a:t> =1/</a:t>
            </a:r>
            <a:r>
              <a:rPr lang="en-US" altLang="zh-CN" sz="2000" i="1" kern="0" dirty="0">
                <a:solidFill>
                  <a:srgbClr val="FF0000"/>
                </a:solidFill>
                <a:latin typeface="Times New Roman" panose="02020603050405020304" pitchFamily="18" charset="0"/>
              </a:rPr>
              <a:t>X</a:t>
            </a:r>
            <a:r>
              <a:rPr lang="en-US" altLang="zh-CN" sz="2000" kern="0" baseline="-25000" dirty="0">
                <a:solidFill>
                  <a:srgbClr val="FF0000"/>
                </a:solidFill>
                <a:latin typeface="Times New Roman" panose="02020603050405020304" pitchFamily="18" charset="0"/>
              </a:rPr>
              <a:t>P1</a:t>
            </a:r>
            <a:r>
              <a:rPr lang="en-US" altLang="zh-CN" sz="2000" kern="0" dirty="0">
                <a:solidFill>
                  <a:srgbClr val="FF0000"/>
                </a:solidFill>
                <a:latin typeface="Times New Roman" panose="02020603050405020304" pitchFamily="18" charset="0"/>
              </a:rPr>
              <a:t>+1/</a:t>
            </a:r>
            <a:r>
              <a:rPr lang="en-US" altLang="zh-CN" sz="2000" i="1" kern="0" dirty="0">
                <a:solidFill>
                  <a:srgbClr val="FF0000"/>
                </a:solidFill>
                <a:latin typeface="Times New Roman" panose="02020603050405020304" pitchFamily="18" charset="0"/>
              </a:rPr>
              <a:t>X</a:t>
            </a:r>
            <a:r>
              <a:rPr lang="en-US" altLang="zh-CN" sz="2000" kern="0" baseline="-25000" dirty="0">
                <a:solidFill>
                  <a:srgbClr val="FF0000"/>
                </a:solidFill>
                <a:latin typeface="Times New Roman" panose="02020603050405020304" pitchFamily="18" charset="0"/>
              </a:rPr>
              <a:t>P2</a:t>
            </a:r>
            <a:r>
              <a:rPr lang="en-US" altLang="zh-CN" sz="2000" kern="0" dirty="0">
                <a:solidFill>
                  <a:srgbClr val="FF0000"/>
                </a:solidFill>
                <a:latin typeface="Times New Roman" panose="02020603050405020304" pitchFamily="18" charset="0"/>
              </a:rPr>
              <a:t>,</a:t>
            </a:r>
            <a:r>
              <a:rPr lang="zh-CN" altLang="en-US" sz="2000" kern="0" dirty="0">
                <a:latin typeface="Times New Roman" panose="02020603050405020304" pitchFamily="18" charset="0"/>
              </a:rPr>
              <a:t>变成了两个</a:t>
            </a:r>
            <a:r>
              <a:rPr lang="en-US" altLang="zh-CN" sz="2000" kern="0" dirty="0">
                <a:latin typeface="Times New Roman" panose="02020603050405020304" pitchFamily="18" charset="0"/>
              </a:rPr>
              <a:t>L</a:t>
            </a:r>
            <a:r>
              <a:rPr lang="zh-CN" altLang="en-US" sz="2000" kern="0" dirty="0">
                <a:latin typeface="Times New Roman" panose="02020603050405020304" pitchFamily="18" charset="0"/>
              </a:rPr>
              <a:t>型网络。</a:t>
            </a:r>
            <a:endParaRPr lang="en-US" altLang="zh-CN" sz="2000" kern="0" dirty="0">
              <a:latin typeface="Times New Roman" panose="02020603050405020304" pitchFamily="18" charset="0"/>
            </a:endParaRPr>
          </a:p>
          <a:p>
            <a:pPr marL="0" algn="just" eaLnBrk="1" hangingPunct="1">
              <a:spcBef>
                <a:spcPts val="0"/>
              </a:spcBef>
              <a:buFontTx/>
              <a:buNone/>
            </a:pPr>
            <a:r>
              <a:rPr lang="zh-CN" altLang="en-US" sz="2000" kern="0" dirty="0">
                <a:latin typeface="Times New Roman" panose="02020603050405020304" pitchFamily="18" charset="0"/>
              </a:rPr>
              <a:t>       一个</a:t>
            </a:r>
            <a:r>
              <a:rPr lang="en-US" altLang="zh-CN" sz="2000" kern="0" dirty="0">
                <a:latin typeface="Times New Roman" panose="02020603050405020304" pitchFamily="18" charset="0"/>
              </a:rPr>
              <a:t>L</a:t>
            </a:r>
            <a:r>
              <a:rPr lang="zh-CN" altLang="en-US" sz="2000" kern="0" dirty="0">
                <a:latin typeface="Times New Roman" panose="02020603050405020304" pitchFamily="18" charset="0"/>
              </a:rPr>
              <a:t>型网络是</a:t>
            </a:r>
            <a:r>
              <a:rPr lang="zh-CN" altLang="en-US" sz="2000" kern="0" dirty="0">
                <a:solidFill>
                  <a:srgbClr val="FF0000"/>
                </a:solidFill>
                <a:latin typeface="Times New Roman" panose="02020603050405020304" pitchFamily="18" charset="0"/>
              </a:rPr>
              <a:t>负载电阻</a:t>
            </a:r>
            <a:r>
              <a:rPr lang="en-US" altLang="zh-CN" sz="2000" i="1" kern="0" dirty="0">
                <a:solidFill>
                  <a:srgbClr val="FF0000"/>
                </a:solidFill>
                <a:latin typeface="Times New Roman" panose="02020603050405020304" pitchFamily="18" charset="0"/>
              </a:rPr>
              <a:t>R</a:t>
            </a:r>
            <a:r>
              <a:rPr lang="en-US" altLang="zh-CN" sz="2000" kern="0" baseline="-25000" dirty="0">
                <a:solidFill>
                  <a:srgbClr val="FF0000"/>
                </a:solidFill>
                <a:latin typeface="Times New Roman" panose="02020603050405020304" pitchFamily="18" charset="0"/>
              </a:rPr>
              <a:t>2</a:t>
            </a:r>
            <a:r>
              <a:rPr lang="zh-CN" altLang="en-US" sz="2000" kern="0" dirty="0">
                <a:solidFill>
                  <a:srgbClr val="FF0000"/>
                </a:solidFill>
                <a:latin typeface="Times New Roman" panose="02020603050405020304" pitchFamily="18" charset="0"/>
              </a:rPr>
              <a:t>经</a:t>
            </a:r>
            <a:r>
              <a:rPr lang="en-US" altLang="zh-CN" sz="2000" i="1" kern="0" dirty="0">
                <a:solidFill>
                  <a:srgbClr val="FF0000"/>
                </a:solidFill>
                <a:latin typeface="Times New Roman" panose="02020603050405020304" pitchFamily="18" charset="0"/>
              </a:rPr>
              <a:t>X</a:t>
            </a:r>
            <a:r>
              <a:rPr lang="en-US" altLang="zh-CN" sz="2000" kern="0" baseline="-25000" dirty="0">
                <a:solidFill>
                  <a:srgbClr val="FF0000"/>
                </a:solidFill>
                <a:latin typeface="Times New Roman" panose="02020603050405020304" pitchFamily="18" charset="0"/>
              </a:rPr>
              <a:t>S2</a:t>
            </a:r>
            <a:r>
              <a:rPr lang="zh-CN" altLang="en-US" sz="2000" kern="0" dirty="0">
                <a:solidFill>
                  <a:srgbClr val="FF0000"/>
                </a:solidFill>
                <a:latin typeface="Times New Roman" panose="02020603050405020304" pitchFamily="18" charset="0"/>
              </a:rPr>
              <a:t>和</a:t>
            </a:r>
            <a:r>
              <a:rPr lang="en-US" altLang="zh-CN" sz="2000" i="1" kern="0" dirty="0">
                <a:solidFill>
                  <a:srgbClr val="FF0000"/>
                </a:solidFill>
                <a:latin typeface="Times New Roman" panose="02020603050405020304" pitchFamily="18" charset="0"/>
              </a:rPr>
              <a:t>X</a:t>
            </a:r>
            <a:r>
              <a:rPr lang="en-US" altLang="zh-CN" sz="2000" kern="0" baseline="-25000" dirty="0">
                <a:solidFill>
                  <a:srgbClr val="FF0000"/>
                </a:solidFill>
                <a:latin typeface="Times New Roman" panose="02020603050405020304" pitchFamily="18" charset="0"/>
              </a:rPr>
              <a:t>P2</a:t>
            </a:r>
            <a:r>
              <a:rPr lang="zh-CN" altLang="en-US" sz="2000" kern="0" dirty="0">
                <a:solidFill>
                  <a:srgbClr val="FF0000"/>
                </a:solidFill>
                <a:latin typeface="Times New Roman" panose="02020603050405020304" pitchFamily="18" charset="0"/>
              </a:rPr>
              <a:t>向左变换为中间假想电阻</a:t>
            </a:r>
            <a:r>
              <a:rPr lang="en-US" altLang="zh-CN" sz="2000" i="1" kern="0" dirty="0" err="1">
                <a:solidFill>
                  <a:srgbClr val="FF0000"/>
                </a:solidFill>
                <a:latin typeface="Times New Roman" panose="02020603050405020304" pitchFamily="18" charset="0"/>
              </a:rPr>
              <a:t>R</a:t>
            </a:r>
            <a:r>
              <a:rPr lang="en-US" altLang="zh-CN" sz="2000" kern="0" baseline="-25000" dirty="0" err="1">
                <a:solidFill>
                  <a:srgbClr val="FF0000"/>
                </a:solidFill>
                <a:latin typeface="Times New Roman" panose="02020603050405020304" pitchFamily="18" charset="0"/>
              </a:rPr>
              <a:t>inter</a:t>
            </a:r>
            <a:r>
              <a:rPr lang="en-US" altLang="zh-CN" sz="2000" kern="0" dirty="0">
                <a:solidFill>
                  <a:srgbClr val="FF0000"/>
                </a:solidFill>
                <a:latin typeface="Times New Roman" panose="02020603050405020304" pitchFamily="18" charset="0"/>
              </a:rPr>
              <a:t>, </a:t>
            </a:r>
            <a:r>
              <a:rPr lang="zh-CN" altLang="en-US" sz="2000" kern="0" dirty="0">
                <a:solidFill>
                  <a:schemeClr val="accent2"/>
                </a:solidFill>
                <a:latin typeface="Times New Roman" panose="02020603050405020304" pitchFamily="18" charset="0"/>
              </a:rPr>
              <a:t>必满足</a:t>
            </a:r>
            <a:r>
              <a:rPr lang="en-US" altLang="zh-CN" sz="2000" i="1" kern="0" dirty="0" err="1">
                <a:solidFill>
                  <a:schemeClr val="accent2"/>
                </a:solidFill>
                <a:latin typeface="Times New Roman" panose="02020603050405020304" pitchFamily="18" charset="0"/>
              </a:rPr>
              <a:t>R</a:t>
            </a:r>
            <a:r>
              <a:rPr lang="en-US" altLang="zh-CN" sz="2000" kern="0" baseline="-25000" dirty="0" err="1">
                <a:solidFill>
                  <a:schemeClr val="accent2"/>
                </a:solidFill>
                <a:latin typeface="Times New Roman" panose="02020603050405020304" pitchFamily="18" charset="0"/>
              </a:rPr>
              <a:t>inter</a:t>
            </a:r>
            <a:r>
              <a:rPr lang="en-US" altLang="zh-CN" sz="2000" kern="0" dirty="0">
                <a:solidFill>
                  <a:schemeClr val="accent2"/>
                </a:solidFill>
                <a:latin typeface="Times New Roman" panose="02020603050405020304" pitchFamily="18" charset="0"/>
              </a:rPr>
              <a:t>&gt; </a:t>
            </a:r>
            <a:r>
              <a:rPr lang="en-US" altLang="zh-CN" sz="2000" i="1" kern="0" dirty="0">
                <a:solidFill>
                  <a:schemeClr val="accent2"/>
                </a:solidFill>
                <a:latin typeface="Times New Roman" panose="02020603050405020304" pitchFamily="18" charset="0"/>
              </a:rPr>
              <a:t>R</a:t>
            </a:r>
            <a:r>
              <a:rPr lang="en-US" altLang="zh-CN" sz="2000" kern="0" baseline="-25000" dirty="0">
                <a:solidFill>
                  <a:schemeClr val="accent2"/>
                </a:solidFill>
                <a:latin typeface="Times New Roman" panose="02020603050405020304" pitchFamily="18" charset="0"/>
              </a:rPr>
              <a:t>2</a:t>
            </a:r>
            <a:r>
              <a:rPr lang="en-US" altLang="zh-CN" sz="2000" kern="0" dirty="0">
                <a:solidFill>
                  <a:schemeClr val="accent2"/>
                </a:solidFill>
                <a:latin typeface="Times New Roman" panose="02020603050405020304" pitchFamily="18" charset="0"/>
              </a:rPr>
              <a:t> </a:t>
            </a:r>
            <a:r>
              <a:rPr lang="zh-CN" altLang="en-US" sz="2000" kern="0" dirty="0">
                <a:solidFill>
                  <a:schemeClr val="accent2"/>
                </a:solidFill>
                <a:latin typeface="Times New Roman" panose="02020603050405020304" pitchFamily="18" charset="0"/>
              </a:rPr>
              <a:t>。 </a:t>
            </a:r>
          </a:p>
          <a:p>
            <a:pPr marL="0" algn="just" eaLnBrk="1" hangingPunct="1">
              <a:spcBef>
                <a:spcPts val="0"/>
              </a:spcBef>
              <a:buFontTx/>
              <a:buNone/>
            </a:pPr>
            <a:r>
              <a:rPr lang="zh-CN" altLang="en-US" sz="2000" kern="0" dirty="0">
                <a:latin typeface="Times New Roman" panose="02020603050405020304" pitchFamily="18" charset="0"/>
              </a:rPr>
              <a:t>       另一个</a:t>
            </a:r>
            <a:r>
              <a:rPr lang="en-US" altLang="zh-CN" sz="2000" kern="0" dirty="0">
                <a:latin typeface="Times New Roman" panose="02020603050405020304" pitchFamily="18" charset="0"/>
              </a:rPr>
              <a:t>L</a:t>
            </a:r>
            <a:r>
              <a:rPr lang="zh-CN" altLang="en-US" sz="2000" kern="0" dirty="0">
                <a:latin typeface="Times New Roman" panose="02020603050405020304" pitchFamily="18" charset="0"/>
              </a:rPr>
              <a:t>型网络是</a:t>
            </a:r>
            <a:r>
              <a:rPr lang="zh-CN" altLang="en-US" sz="2000" kern="0" dirty="0">
                <a:solidFill>
                  <a:srgbClr val="FF0000"/>
                </a:solidFill>
                <a:latin typeface="Times New Roman" panose="02020603050405020304" pitchFamily="18" charset="0"/>
              </a:rPr>
              <a:t>信源电阻</a:t>
            </a:r>
            <a:r>
              <a:rPr lang="en-US" altLang="zh-CN" sz="2000" i="1" kern="0" dirty="0">
                <a:solidFill>
                  <a:srgbClr val="FF0000"/>
                </a:solidFill>
                <a:latin typeface="Times New Roman" panose="02020603050405020304" pitchFamily="18" charset="0"/>
              </a:rPr>
              <a:t>R</a:t>
            </a:r>
            <a:r>
              <a:rPr lang="en-US" altLang="zh-CN" sz="2000" kern="0" baseline="-25000" dirty="0">
                <a:solidFill>
                  <a:srgbClr val="FF0000"/>
                </a:solidFill>
                <a:latin typeface="Times New Roman" panose="02020603050405020304" pitchFamily="18" charset="0"/>
              </a:rPr>
              <a:t>1</a:t>
            </a:r>
            <a:r>
              <a:rPr lang="zh-CN" altLang="en-US" sz="2000" kern="0" dirty="0">
                <a:solidFill>
                  <a:srgbClr val="FF0000"/>
                </a:solidFill>
                <a:latin typeface="Times New Roman" panose="02020603050405020304" pitchFamily="18" charset="0"/>
              </a:rPr>
              <a:t>经</a:t>
            </a:r>
            <a:r>
              <a:rPr lang="en-US" altLang="zh-CN" sz="2000" i="1" kern="0" dirty="0">
                <a:solidFill>
                  <a:srgbClr val="FF0000"/>
                </a:solidFill>
                <a:latin typeface="Times New Roman" panose="02020603050405020304" pitchFamily="18" charset="0"/>
              </a:rPr>
              <a:t>X</a:t>
            </a:r>
            <a:r>
              <a:rPr lang="en-US" altLang="zh-CN" sz="2000" kern="0" baseline="-25000" dirty="0">
                <a:solidFill>
                  <a:srgbClr val="FF0000"/>
                </a:solidFill>
                <a:latin typeface="Times New Roman" panose="02020603050405020304" pitchFamily="18" charset="0"/>
              </a:rPr>
              <a:t>S1</a:t>
            </a:r>
            <a:r>
              <a:rPr lang="zh-CN" altLang="en-US" sz="2000" kern="0" dirty="0">
                <a:solidFill>
                  <a:srgbClr val="FF0000"/>
                </a:solidFill>
                <a:latin typeface="Times New Roman" panose="02020603050405020304" pitchFamily="18" charset="0"/>
              </a:rPr>
              <a:t>和</a:t>
            </a:r>
            <a:r>
              <a:rPr lang="en-US" altLang="zh-CN" sz="2000" i="1" kern="0" dirty="0">
                <a:solidFill>
                  <a:srgbClr val="FF0000"/>
                </a:solidFill>
                <a:latin typeface="Times New Roman" panose="02020603050405020304" pitchFamily="18" charset="0"/>
              </a:rPr>
              <a:t>X</a:t>
            </a:r>
            <a:r>
              <a:rPr lang="en-US" altLang="zh-CN" sz="2000" kern="0" baseline="-25000" dirty="0">
                <a:solidFill>
                  <a:srgbClr val="FF0000"/>
                </a:solidFill>
                <a:latin typeface="Times New Roman" panose="02020603050405020304" pitchFamily="18" charset="0"/>
              </a:rPr>
              <a:t>P1</a:t>
            </a:r>
            <a:r>
              <a:rPr lang="zh-CN" altLang="en-US" sz="2000" kern="0" dirty="0">
                <a:solidFill>
                  <a:srgbClr val="FF0000"/>
                </a:solidFill>
                <a:latin typeface="Times New Roman" panose="02020603050405020304" pitchFamily="18" charset="0"/>
              </a:rPr>
              <a:t>向右变换为中间假想电阻</a:t>
            </a:r>
            <a:r>
              <a:rPr lang="en-US" altLang="zh-CN" sz="2000" i="1" kern="0" dirty="0" err="1">
                <a:solidFill>
                  <a:srgbClr val="FF0000"/>
                </a:solidFill>
                <a:latin typeface="Times New Roman" panose="02020603050405020304" pitchFamily="18" charset="0"/>
              </a:rPr>
              <a:t>R</a:t>
            </a:r>
            <a:r>
              <a:rPr lang="en-US" altLang="zh-CN" sz="2000" kern="0" baseline="-25000" dirty="0" err="1">
                <a:solidFill>
                  <a:srgbClr val="FF0000"/>
                </a:solidFill>
                <a:latin typeface="Times New Roman" panose="02020603050405020304" pitchFamily="18" charset="0"/>
              </a:rPr>
              <a:t>inter</a:t>
            </a:r>
            <a:r>
              <a:rPr lang="en-US" altLang="zh-CN" sz="2000" kern="0" dirty="0">
                <a:solidFill>
                  <a:srgbClr val="FF0000"/>
                </a:solidFill>
                <a:latin typeface="Times New Roman" panose="02020603050405020304" pitchFamily="18" charset="0"/>
              </a:rPr>
              <a:t>, </a:t>
            </a:r>
            <a:r>
              <a:rPr lang="zh-CN" altLang="en-US" sz="2000" kern="0" dirty="0">
                <a:solidFill>
                  <a:schemeClr val="accent2"/>
                </a:solidFill>
                <a:latin typeface="Times New Roman" panose="02020603050405020304" pitchFamily="18" charset="0"/>
              </a:rPr>
              <a:t>必满足</a:t>
            </a:r>
            <a:r>
              <a:rPr lang="en-US" altLang="zh-CN" sz="2000" i="1" kern="0" dirty="0" err="1">
                <a:solidFill>
                  <a:schemeClr val="accent2"/>
                </a:solidFill>
                <a:latin typeface="Times New Roman" panose="02020603050405020304" pitchFamily="18" charset="0"/>
              </a:rPr>
              <a:t>R</a:t>
            </a:r>
            <a:r>
              <a:rPr lang="en-US" altLang="zh-CN" sz="2000" kern="0" baseline="-25000" dirty="0" err="1">
                <a:solidFill>
                  <a:schemeClr val="accent2"/>
                </a:solidFill>
                <a:latin typeface="Times New Roman" panose="02020603050405020304" pitchFamily="18" charset="0"/>
              </a:rPr>
              <a:t>inter</a:t>
            </a:r>
            <a:r>
              <a:rPr lang="en-US" altLang="zh-CN" sz="2000" kern="0" dirty="0">
                <a:solidFill>
                  <a:schemeClr val="accent2"/>
                </a:solidFill>
                <a:latin typeface="Times New Roman" panose="02020603050405020304" pitchFamily="18" charset="0"/>
              </a:rPr>
              <a:t>&gt; </a:t>
            </a:r>
            <a:r>
              <a:rPr lang="en-US" altLang="zh-CN" sz="2000" i="1" kern="0" dirty="0">
                <a:solidFill>
                  <a:schemeClr val="accent2"/>
                </a:solidFill>
                <a:latin typeface="Times New Roman" panose="02020603050405020304" pitchFamily="18" charset="0"/>
              </a:rPr>
              <a:t>R</a:t>
            </a:r>
            <a:r>
              <a:rPr lang="en-US" altLang="zh-CN" sz="2000" kern="0" baseline="-25000" dirty="0">
                <a:solidFill>
                  <a:schemeClr val="accent2"/>
                </a:solidFill>
                <a:latin typeface="Times New Roman" panose="02020603050405020304" pitchFamily="18" charset="0"/>
              </a:rPr>
              <a:t>1</a:t>
            </a:r>
            <a:r>
              <a:rPr lang="en-US" altLang="zh-CN" sz="2000" kern="0" dirty="0">
                <a:solidFill>
                  <a:schemeClr val="accent2"/>
                </a:solidFill>
                <a:latin typeface="Times New Roman" panose="02020603050405020304" pitchFamily="18" charset="0"/>
              </a:rPr>
              <a:t> </a:t>
            </a:r>
            <a:r>
              <a:rPr lang="zh-CN" altLang="en-US" sz="2000" kern="0" dirty="0">
                <a:solidFill>
                  <a:schemeClr val="accent2"/>
                </a:solidFill>
                <a:latin typeface="Times New Roman" panose="02020603050405020304" pitchFamily="18" charset="0"/>
              </a:rPr>
              <a:t>。 </a:t>
            </a:r>
          </a:p>
          <a:p>
            <a:pPr marL="0" algn="just" eaLnBrk="1" hangingPunct="1">
              <a:spcBef>
                <a:spcPts val="0"/>
              </a:spcBef>
              <a:buFontTx/>
              <a:buNone/>
            </a:pPr>
            <a:r>
              <a:rPr lang="zh-CN" altLang="en-US" sz="2000" kern="0" dirty="0">
                <a:latin typeface="Times New Roman" panose="02020603050405020304" pitchFamily="18" charset="0"/>
              </a:rPr>
              <a:t>       满足两个中间电阻相等就能实现阻抗匹配。</a:t>
            </a:r>
          </a:p>
          <a:p>
            <a:pPr marL="0" indent="0" eaLnBrk="1" hangingPunct="1">
              <a:lnSpc>
                <a:spcPct val="110000"/>
              </a:lnSpc>
              <a:buFontTx/>
              <a:buNone/>
            </a:pPr>
            <a:endParaRPr lang="zh-CN" altLang="en-US" sz="2000" b="1" kern="0" dirty="0">
              <a:latin typeface="+mn-ea"/>
            </a:endParaRPr>
          </a:p>
          <a:p>
            <a:pPr eaLnBrk="1" hangingPunct="1">
              <a:buFontTx/>
              <a:buNone/>
            </a:pPr>
            <a:endParaRPr lang="zh-CN" altLang="en-US" sz="2000" b="1" kern="0" dirty="0">
              <a:latin typeface="+mn-ea"/>
            </a:endParaRPr>
          </a:p>
        </p:txBody>
      </p:sp>
    </p:spTree>
    <p:extLst>
      <p:ext uri="{BB962C8B-B14F-4D97-AF65-F5344CB8AC3E}">
        <p14:creationId xmlns:p14="http://schemas.microsoft.com/office/powerpoint/2010/main" val="12549272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nodePh="1">
                                  <p:stCondLst>
                                    <p:cond delay="0"/>
                                  </p:stCondLst>
                                  <p:endCondLst>
                                    <p:cond evt="begin" delay="0">
                                      <p:tn val="5"/>
                                    </p:cond>
                                  </p:end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blinds(horizontal)">
                                      <p:cBhvr>
                                        <p:cTn id="7"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60</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5"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2.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高频</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基础</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电路</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 name="文本占位符 474114">
            <a:extLst>
              <a:ext uri="{FF2B5EF4-FFF2-40B4-BE49-F238E27FC236}">
                <a16:creationId xmlns:a16="http://schemas.microsoft.com/office/drawing/2014/main" xmlns="" id="{28016DD7-0FF5-E033-411B-C4253BBC21EF}"/>
              </a:ext>
            </a:extLst>
          </p:cNvPr>
          <p:cNvSpPr txBox="1">
            <a:spLocks/>
          </p:cNvSpPr>
          <p:nvPr/>
        </p:nvSpPr>
        <p:spPr>
          <a:xfrm>
            <a:off x="198028" y="1050131"/>
            <a:ext cx="8243887" cy="968872"/>
          </a:xfrm>
          <a:prstGeom prst="rect">
            <a:avLst/>
          </a:prstGeom>
          <a:noFill/>
          <a:ln>
            <a:noFill/>
          </a:ln>
        </p:spPr>
        <p:txBody>
          <a:bodyPr/>
          <a:lstStyle>
            <a:lvl1pPr marL="342900" indent="-342900" algn="l" rtl="0" eaLnBrk="0" fontAlgn="base" hangingPunct="0">
              <a:spcBef>
                <a:spcPct val="20000"/>
              </a:spcBef>
              <a:spcAft>
                <a:spcPct val="0"/>
              </a:spcAft>
              <a:buChar char="•"/>
              <a:defRPr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algn="ctr" eaLnBrk="1" hangingPunct="1">
              <a:spcBef>
                <a:spcPts val="1200"/>
              </a:spcBef>
              <a:spcAft>
                <a:spcPts val="1200"/>
              </a:spcAft>
              <a:buFontTx/>
              <a:buNone/>
            </a:pPr>
            <a:r>
              <a:rPr lang="en-US" altLang="zh-CN" b="1" kern="0" dirty="0">
                <a:solidFill>
                  <a:schemeClr val="hlink"/>
                </a:solidFill>
                <a:latin typeface="楷体_GB2312" panose="02010609030101010101" pitchFamily="49" charset="-122"/>
                <a:ea typeface="楷体_GB2312" panose="02010609030101010101" pitchFamily="49" charset="-122"/>
              </a:rPr>
              <a:t>            </a:t>
            </a:r>
            <a:r>
              <a:rPr lang="en-US" altLang="zh-CN" sz="2000" b="1" kern="0" dirty="0">
                <a:latin typeface="Times New Roman" panose="02020603050405020304" pitchFamily="18" charset="0"/>
                <a:ea typeface="宋体" panose="02010600030101010101" pitchFamily="2" charset="-122"/>
              </a:rPr>
              <a:t>T</a:t>
            </a:r>
            <a:r>
              <a:rPr lang="zh-CN" altLang="en-US" sz="2000" b="1" kern="0" dirty="0">
                <a:latin typeface="Times New Roman" panose="02020603050405020304" pitchFamily="18" charset="0"/>
                <a:ea typeface="宋体" panose="02010600030101010101" pitchFamily="2" charset="-122"/>
              </a:rPr>
              <a:t>型网络的电路参数计算式为</a:t>
            </a:r>
          </a:p>
          <a:p>
            <a:pPr eaLnBrk="1" hangingPunct="1">
              <a:buFontTx/>
              <a:buNone/>
            </a:pPr>
            <a:r>
              <a:rPr lang="en-US" altLang="zh-CN" sz="2000" kern="0" dirty="0">
                <a:latin typeface="Times New Roman" panose="02020603050405020304" pitchFamily="18" charset="0"/>
                <a:ea typeface="宋体" panose="02010600030101010101" pitchFamily="2" charset="-122"/>
              </a:rPr>
              <a:t>  (1)</a:t>
            </a:r>
            <a:r>
              <a:rPr lang="zh-CN" altLang="en-US" sz="2000" kern="0" dirty="0">
                <a:latin typeface="Times New Roman" panose="02020603050405020304" pitchFamily="18" charset="0"/>
                <a:ea typeface="宋体" panose="02010600030101010101" pitchFamily="2" charset="-122"/>
              </a:rPr>
              <a:t>当</a:t>
            </a:r>
            <a:r>
              <a:rPr lang="en-US" altLang="zh-CN" sz="2000" i="1" kern="0" dirty="0">
                <a:solidFill>
                  <a:srgbClr val="FF0000"/>
                </a:solidFill>
                <a:latin typeface="Times New Roman" panose="02020603050405020304" pitchFamily="18" charset="0"/>
                <a:ea typeface="宋体" panose="02010600030101010101" pitchFamily="2" charset="-122"/>
              </a:rPr>
              <a:t>R</a:t>
            </a:r>
            <a:r>
              <a:rPr lang="en-US" altLang="zh-CN" sz="2000" kern="0" baseline="-25000" dirty="0">
                <a:solidFill>
                  <a:srgbClr val="FF0000"/>
                </a:solidFill>
                <a:latin typeface="Times New Roman" panose="02020603050405020304" pitchFamily="18" charset="0"/>
                <a:ea typeface="宋体" panose="02010600030101010101" pitchFamily="2" charset="-122"/>
              </a:rPr>
              <a:t>1</a:t>
            </a:r>
            <a:r>
              <a:rPr lang="en-US" altLang="zh-CN" sz="2000" kern="0" dirty="0">
                <a:solidFill>
                  <a:srgbClr val="FF0000"/>
                </a:solidFill>
                <a:latin typeface="Times New Roman" panose="02020603050405020304" pitchFamily="18" charset="0"/>
                <a:ea typeface="宋体" panose="02010600030101010101" pitchFamily="2" charset="-122"/>
              </a:rPr>
              <a:t>&gt;</a:t>
            </a:r>
            <a:r>
              <a:rPr lang="en-US" altLang="zh-CN" sz="2000" i="1" kern="0" dirty="0">
                <a:solidFill>
                  <a:srgbClr val="FF0000"/>
                </a:solidFill>
                <a:latin typeface="Times New Roman" panose="02020603050405020304" pitchFamily="18" charset="0"/>
                <a:ea typeface="宋体" panose="02010600030101010101" pitchFamily="2" charset="-122"/>
              </a:rPr>
              <a:t>R</a:t>
            </a:r>
            <a:r>
              <a:rPr lang="en-US" altLang="zh-CN" sz="2000" kern="0" baseline="-25000" dirty="0">
                <a:solidFill>
                  <a:srgbClr val="FF0000"/>
                </a:solidFill>
                <a:latin typeface="Times New Roman" panose="02020603050405020304" pitchFamily="18" charset="0"/>
                <a:ea typeface="宋体" panose="02010600030101010101" pitchFamily="2" charset="-122"/>
              </a:rPr>
              <a:t>2</a:t>
            </a:r>
            <a:r>
              <a:rPr lang="zh-CN" altLang="en-US" sz="2000" kern="0" dirty="0">
                <a:latin typeface="Times New Roman" panose="02020603050405020304" pitchFamily="18" charset="0"/>
                <a:ea typeface="宋体" panose="02010600030101010101" pitchFamily="2" charset="-122"/>
              </a:rPr>
              <a:t>时，从</a:t>
            </a:r>
            <a:r>
              <a:rPr lang="en-US" altLang="zh-CN" sz="2000" i="1" kern="0" dirty="0">
                <a:solidFill>
                  <a:srgbClr val="FF0000"/>
                </a:solidFill>
                <a:latin typeface="Times New Roman" panose="02020603050405020304" pitchFamily="18" charset="0"/>
                <a:ea typeface="宋体" panose="02010600030101010101" pitchFamily="2" charset="-122"/>
              </a:rPr>
              <a:t>R</a:t>
            </a:r>
            <a:r>
              <a:rPr lang="en-US" altLang="zh-CN" sz="2000" kern="0" baseline="-25000" dirty="0">
                <a:solidFill>
                  <a:srgbClr val="FF0000"/>
                </a:solidFill>
                <a:latin typeface="Times New Roman" panose="02020603050405020304" pitchFamily="18" charset="0"/>
                <a:ea typeface="宋体" panose="02010600030101010101" pitchFamily="2" charset="-122"/>
              </a:rPr>
              <a:t>2</a:t>
            </a:r>
            <a:r>
              <a:rPr lang="zh-CN" altLang="en-US" sz="2000" kern="0" dirty="0">
                <a:latin typeface="Times New Roman" panose="02020603050405020304" pitchFamily="18" charset="0"/>
                <a:ea typeface="宋体" panose="02010600030101010101" pitchFamily="2" charset="-122"/>
              </a:rPr>
              <a:t>端开始计算</a:t>
            </a:r>
            <a:r>
              <a:rPr lang="en-US" altLang="zh-CN" sz="2000" kern="0" dirty="0">
                <a:latin typeface="Times New Roman" panose="02020603050405020304" pitchFamily="18" charset="0"/>
                <a:ea typeface="宋体" panose="02010600030101010101" pitchFamily="2" charset="-122"/>
              </a:rPr>
              <a:t>,</a:t>
            </a:r>
            <a:r>
              <a:rPr lang="zh-CN" altLang="en-US" sz="2000" kern="0" dirty="0">
                <a:latin typeface="Times New Roman" panose="02020603050405020304" pitchFamily="18" charset="0"/>
                <a:ea typeface="宋体" panose="02010600030101010101" pitchFamily="2" charset="-122"/>
              </a:rPr>
              <a:t>选取</a:t>
            </a:r>
            <a:r>
              <a:rPr lang="en-US" altLang="zh-CN" sz="2000" i="1" kern="0" dirty="0">
                <a:latin typeface="Times New Roman" panose="02020603050405020304" pitchFamily="18" charset="0"/>
                <a:ea typeface="宋体" panose="02010600030101010101" pitchFamily="2" charset="-122"/>
              </a:rPr>
              <a:t>Q</a:t>
            </a:r>
            <a:r>
              <a:rPr lang="en-US" altLang="zh-CN" sz="2000" kern="0" baseline="-25000" dirty="0">
                <a:latin typeface="Times New Roman" panose="02020603050405020304" pitchFamily="18" charset="0"/>
                <a:ea typeface="宋体" panose="02010600030101010101" pitchFamily="2" charset="-122"/>
              </a:rPr>
              <a:t>2</a:t>
            </a:r>
            <a:r>
              <a:rPr lang="en-US" altLang="zh-CN" sz="2000" kern="0" dirty="0">
                <a:latin typeface="Times New Roman" panose="02020603050405020304" pitchFamily="18" charset="0"/>
                <a:ea typeface="宋体" panose="02010600030101010101" pitchFamily="2" charset="-122"/>
              </a:rPr>
              <a:t>=</a:t>
            </a:r>
            <a:r>
              <a:rPr lang="en-US" altLang="zh-CN" sz="2000" i="1" kern="0" dirty="0" err="1">
                <a:latin typeface="Times New Roman" panose="02020603050405020304" pitchFamily="18" charset="0"/>
                <a:ea typeface="宋体" panose="02010600030101010101" pitchFamily="2" charset="-122"/>
              </a:rPr>
              <a:t>Q</a:t>
            </a:r>
            <a:r>
              <a:rPr lang="en-US" altLang="zh-CN" sz="2000" kern="0" baseline="-25000" dirty="0" err="1">
                <a:latin typeface="Times New Roman" panose="02020603050405020304" pitchFamily="18" charset="0"/>
                <a:ea typeface="宋体" panose="02010600030101010101" pitchFamily="2" charset="-122"/>
              </a:rPr>
              <a:t>max</a:t>
            </a:r>
            <a:r>
              <a:rPr lang="zh-CN" altLang="en-US" sz="2000" kern="0" dirty="0">
                <a:latin typeface="Times New Roman" panose="02020603050405020304" pitchFamily="18" charset="0"/>
                <a:ea typeface="宋体" panose="02010600030101010101" pitchFamily="2" charset="-122"/>
              </a:rPr>
              <a:t>应满足</a:t>
            </a:r>
          </a:p>
        </p:txBody>
      </p:sp>
      <p:graphicFrame>
        <p:nvGraphicFramePr>
          <p:cNvPr id="7" name="对象 474150">
            <a:extLst>
              <a:ext uri="{FF2B5EF4-FFF2-40B4-BE49-F238E27FC236}">
                <a16:creationId xmlns:a16="http://schemas.microsoft.com/office/drawing/2014/main" xmlns="" id="{FF74C160-4A34-EFDF-02B7-AE4305967B69}"/>
              </a:ext>
            </a:extLst>
          </p:cNvPr>
          <p:cNvGraphicFramePr/>
          <p:nvPr>
            <p:extLst>
              <p:ext uri="{D42A27DB-BD31-4B8C-83A1-F6EECF244321}">
                <p14:modId xmlns:p14="http://schemas.microsoft.com/office/powerpoint/2010/main" val="1985959129"/>
              </p:ext>
            </p:extLst>
          </p:nvPr>
        </p:nvGraphicFramePr>
        <p:xfrm>
          <a:off x="1784698" y="3264723"/>
          <a:ext cx="1798992" cy="424498"/>
        </p:xfrm>
        <a:graphic>
          <a:graphicData uri="http://schemas.openxmlformats.org/presentationml/2006/ole">
            <mc:AlternateContent xmlns:mc="http://schemas.openxmlformats.org/markup-compatibility/2006">
              <mc:Choice xmlns:v="urn:schemas-microsoft-com:vml" Requires="v">
                <p:oleObj spid="_x0000_s39338" r:id="rId3" imgW="1078865" imgH="241300" progId="Equation.3">
                  <p:embed/>
                </p:oleObj>
              </mc:Choice>
              <mc:Fallback>
                <p:oleObj r:id="rId3" imgW="1078865" imgH="241300" progId="Equation.3">
                  <p:embed/>
                  <p:pic>
                    <p:nvPicPr>
                      <p:cNvPr id="0" name=""/>
                      <p:cNvPicPr/>
                      <p:nvPr/>
                    </p:nvPicPr>
                    <p:blipFill>
                      <a:blip r:embed="rId4"/>
                      <a:stretch>
                        <a:fillRect/>
                      </a:stretch>
                    </p:blipFill>
                    <p:spPr>
                      <a:xfrm>
                        <a:off x="1784698" y="3264723"/>
                        <a:ext cx="1798992" cy="424498"/>
                      </a:xfrm>
                      <a:prstGeom prst="rect">
                        <a:avLst/>
                      </a:prstGeom>
                      <a:noFill/>
                      <a:ln w="38100">
                        <a:noFill/>
                        <a:miter/>
                      </a:ln>
                    </p:spPr>
                  </p:pic>
                </p:oleObj>
              </mc:Fallback>
            </mc:AlternateContent>
          </a:graphicData>
        </a:graphic>
      </p:graphicFrame>
      <p:graphicFrame>
        <p:nvGraphicFramePr>
          <p:cNvPr id="8" name="对象 474152">
            <a:extLst>
              <a:ext uri="{FF2B5EF4-FFF2-40B4-BE49-F238E27FC236}">
                <a16:creationId xmlns:a16="http://schemas.microsoft.com/office/drawing/2014/main" xmlns="" id="{B7E23B9C-30A2-4BB1-A4AB-DB3836DACC92}"/>
              </a:ext>
            </a:extLst>
          </p:cNvPr>
          <p:cNvGraphicFramePr/>
          <p:nvPr>
            <p:extLst>
              <p:ext uri="{D42A27DB-BD31-4B8C-83A1-F6EECF244321}">
                <p14:modId xmlns:p14="http://schemas.microsoft.com/office/powerpoint/2010/main" val="1499674164"/>
              </p:ext>
            </p:extLst>
          </p:nvPr>
        </p:nvGraphicFramePr>
        <p:xfrm>
          <a:off x="4246811" y="3337524"/>
          <a:ext cx="1259294" cy="423088"/>
        </p:xfrm>
        <a:graphic>
          <a:graphicData uri="http://schemas.openxmlformats.org/presentationml/2006/ole">
            <mc:AlternateContent xmlns:mc="http://schemas.openxmlformats.org/markup-compatibility/2006">
              <mc:Choice xmlns:v="urn:schemas-microsoft-com:vml" Requires="v">
                <p:oleObj spid="_x0000_s39339" r:id="rId5" imgW="723900" imgH="228600" progId="Equation.3">
                  <p:embed/>
                </p:oleObj>
              </mc:Choice>
              <mc:Fallback>
                <p:oleObj r:id="rId5" imgW="723900" imgH="228600" progId="Equation.3">
                  <p:embed/>
                  <p:pic>
                    <p:nvPicPr>
                      <p:cNvPr id="0" name=""/>
                      <p:cNvPicPr/>
                      <p:nvPr/>
                    </p:nvPicPr>
                    <p:blipFill>
                      <a:blip r:embed="rId6"/>
                      <a:stretch>
                        <a:fillRect/>
                      </a:stretch>
                    </p:blipFill>
                    <p:spPr>
                      <a:xfrm>
                        <a:off x="4246811" y="3337524"/>
                        <a:ext cx="1259294" cy="423088"/>
                      </a:xfrm>
                      <a:prstGeom prst="rect">
                        <a:avLst/>
                      </a:prstGeom>
                      <a:noFill/>
                      <a:ln w="38100">
                        <a:noFill/>
                        <a:miter/>
                      </a:ln>
                    </p:spPr>
                  </p:pic>
                </p:oleObj>
              </mc:Fallback>
            </mc:AlternateContent>
          </a:graphicData>
        </a:graphic>
      </p:graphicFrame>
      <p:graphicFrame>
        <p:nvGraphicFramePr>
          <p:cNvPr id="9" name="对象 474154">
            <a:extLst>
              <a:ext uri="{FF2B5EF4-FFF2-40B4-BE49-F238E27FC236}">
                <a16:creationId xmlns:a16="http://schemas.microsoft.com/office/drawing/2014/main" xmlns="" id="{B06873F8-A225-303B-F9FD-528C940CFFCC}"/>
              </a:ext>
            </a:extLst>
          </p:cNvPr>
          <p:cNvGraphicFramePr/>
          <p:nvPr>
            <p:extLst>
              <p:ext uri="{D42A27DB-BD31-4B8C-83A1-F6EECF244321}">
                <p14:modId xmlns:p14="http://schemas.microsoft.com/office/powerpoint/2010/main" val="1851005449"/>
              </p:ext>
            </p:extLst>
          </p:nvPr>
        </p:nvGraphicFramePr>
        <p:xfrm>
          <a:off x="6101185" y="3134972"/>
          <a:ext cx="1201092" cy="748867"/>
        </p:xfrm>
        <a:graphic>
          <a:graphicData uri="http://schemas.openxmlformats.org/presentationml/2006/ole">
            <mc:AlternateContent xmlns:mc="http://schemas.openxmlformats.org/markup-compatibility/2006">
              <mc:Choice xmlns:v="urn:schemas-microsoft-com:vml" Requires="v">
                <p:oleObj spid="_x0000_s39340" r:id="rId7" imgW="736600" imgH="431800" progId="Equation.3">
                  <p:embed/>
                </p:oleObj>
              </mc:Choice>
              <mc:Fallback>
                <p:oleObj r:id="rId7" imgW="736600" imgH="431800" progId="Equation.3">
                  <p:embed/>
                  <p:pic>
                    <p:nvPicPr>
                      <p:cNvPr id="0" name=""/>
                      <p:cNvPicPr/>
                      <p:nvPr/>
                    </p:nvPicPr>
                    <p:blipFill>
                      <a:blip r:embed="rId8"/>
                      <a:stretch>
                        <a:fillRect/>
                      </a:stretch>
                    </p:blipFill>
                    <p:spPr>
                      <a:xfrm>
                        <a:off x="6101185" y="3134972"/>
                        <a:ext cx="1201092" cy="748867"/>
                      </a:xfrm>
                      <a:prstGeom prst="rect">
                        <a:avLst/>
                      </a:prstGeom>
                      <a:noFill/>
                      <a:ln w="38100">
                        <a:noFill/>
                        <a:miter/>
                      </a:ln>
                    </p:spPr>
                  </p:pic>
                </p:oleObj>
              </mc:Fallback>
            </mc:AlternateContent>
          </a:graphicData>
        </a:graphic>
      </p:graphicFrame>
      <p:graphicFrame>
        <p:nvGraphicFramePr>
          <p:cNvPr id="10" name="对象 474157">
            <a:extLst>
              <a:ext uri="{FF2B5EF4-FFF2-40B4-BE49-F238E27FC236}">
                <a16:creationId xmlns:a16="http://schemas.microsoft.com/office/drawing/2014/main" xmlns="" id="{E3807CDB-A2B3-F7F4-455F-04600A09BB36}"/>
              </a:ext>
            </a:extLst>
          </p:cNvPr>
          <p:cNvGraphicFramePr/>
          <p:nvPr>
            <p:extLst>
              <p:ext uri="{D42A27DB-BD31-4B8C-83A1-F6EECF244321}">
                <p14:modId xmlns:p14="http://schemas.microsoft.com/office/powerpoint/2010/main" val="1032065468"/>
              </p:ext>
            </p:extLst>
          </p:nvPr>
        </p:nvGraphicFramePr>
        <p:xfrm>
          <a:off x="1965355" y="4095731"/>
          <a:ext cx="1500042" cy="815150"/>
        </p:xfrm>
        <a:graphic>
          <a:graphicData uri="http://schemas.openxmlformats.org/presentationml/2006/ole">
            <mc:AlternateContent xmlns:mc="http://schemas.openxmlformats.org/markup-compatibility/2006">
              <mc:Choice xmlns:v="urn:schemas-microsoft-com:vml" Requires="v">
                <p:oleObj spid="_x0000_s39341" r:id="rId9" imgW="951865" imgH="482600" progId="Equation.3">
                  <p:embed/>
                </p:oleObj>
              </mc:Choice>
              <mc:Fallback>
                <p:oleObj r:id="rId9" imgW="951865" imgH="482600" progId="Equation.3">
                  <p:embed/>
                  <p:pic>
                    <p:nvPicPr>
                      <p:cNvPr id="0" name=""/>
                      <p:cNvPicPr/>
                      <p:nvPr/>
                    </p:nvPicPr>
                    <p:blipFill>
                      <a:blip r:embed="rId10"/>
                      <a:stretch>
                        <a:fillRect/>
                      </a:stretch>
                    </p:blipFill>
                    <p:spPr>
                      <a:xfrm>
                        <a:off x="1965355" y="4095731"/>
                        <a:ext cx="1500042" cy="815150"/>
                      </a:xfrm>
                      <a:prstGeom prst="rect">
                        <a:avLst/>
                      </a:prstGeom>
                      <a:noFill/>
                      <a:ln w="38100">
                        <a:noFill/>
                        <a:miter/>
                      </a:ln>
                    </p:spPr>
                  </p:pic>
                </p:oleObj>
              </mc:Fallback>
            </mc:AlternateContent>
          </a:graphicData>
        </a:graphic>
      </p:graphicFrame>
      <p:graphicFrame>
        <p:nvGraphicFramePr>
          <p:cNvPr id="11" name="对象 474159">
            <a:extLst>
              <a:ext uri="{FF2B5EF4-FFF2-40B4-BE49-F238E27FC236}">
                <a16:creationId xmlns:a16="http://schemas.microsoft.com/office/drawing/2014/main" xmlns="" id="{AA08971A-F1CF-4B22-276D-5FA5C99D0CFA}"/>
              </a:ext>
            </a:extLst>
          </p:cNvPr>
          <p:cNvGraphicFramePr/>
          <p:nvPr>
            <p:extLst>
              <p:ext uri="{D42A27DB-BD31-4B8C-83A1-F6EECF244321}">
                <p14:modId xmlns:p14="http://schemas.microsoft.com/office/powerpoint/2010/main" val="1326247697"/>
              </p:ext>
            </p:extLst>
          </p:nvPr>
        </p:nvGraphicFramePr>
        <p:xfrm>
          <a:off x="4876458" y="4190799"/>
          <a:ext cx="1259294" cy="447064"/>
        </p:xfrm>
        <a:graphic>
          <a:graphicData uri="http://schemas.openxmlformats.org/presentationml/2006/ole">
            <mc:AlternateContent xmlns:mc="http://schemas.openxmlformats.org/markup-compatibility/2006">
              <mc:Choice xmlns:v="urn:schemas-microsoft-com:vml" Requires="v">
                <p:oleObj spid="_x0000_s39342" r:id="rId11" imgW="685800" imgH="228600" progId="Equation.3">
                  <p:embed/>
                </p:oleObj>
              </mc:Choice>
              <mc:Fallback>
                <p:oleObj r:id="rId11" imgW="685800" imgH="228600" progId="Equation.3">
                  <p:embed/>
                  <p:pic>
                    <p:nvPicPr>
                      <p:cNvPr id="0" name=""/>
                      <p:cNvPicPr/>
                      <p:nvPr/>
                    </p:nvPicPr>
                    <p:blipFill>
                      <a:blip r:embed="rId12"/>
                      <a:stretch>
                        <a:fillRect/>
                      </a:stretch>
                    </p:blipFill>
                    <p:spPr>
                      <a:xfrm>
                        <a:off x="4876458" y="4190799"/>
                        <a:ext cx="1259294" cy="447064"/>
                      </a:xfrm>
                      <a:prstGeom prst="rect">
                        <a:avLst/>
                      </a:prstGeom>
                      <a:noFill/>
                      <a:ln w="38100">
                        <a:noFill/>
                        <a:miter/>
                      </a:ln>
                    </p:spPr>
                  </p:pic>
                </p:oleObj>
              </mc:Fallback>
            </mc:AlternateContent>
          </a:graphicData>
        </a:graphic>
      </p:graphicFrame>
      <p:graphicFrame>
        <p:nvGraphicFramePr>
          <p:cNvPr id="12" name="对象 474161">
            <a:extLst>
              <a:ext uri="{FF2B5EF4-FFF2-40B4-BE49-F238E27FC236}">
                <a16:creationId xmlns:a16="http://schemas.microsoft.com/office/drawing/2014/main" xmlns="" id="{3906D691-9D42-C27C-7E78-F664DC806F5C}"/>
              </a:ext>
            </a:extLst>
          </p:cNvPr>
          <p:cNvGraphicFramePr/>
          <p:nvPr>
            <p:extLst>
              <p:ext uri="{D42A27DB-BD31-4B8C-83A1-F6EECF244321}">
                <p14:modId xmlns:p14="http://schemas.microsoft.com/office/powerpoint/2010/main" val="3863828881"/>
              </p:ext>
            </p:extLst>
          </p:nvPr>
        </p:nvGraphicFramePr>
        <p:xfrm>
          <a:off x="2085729" y="5069962"/>
          <a:ext cx="1259294" cy="795406"/>
        </p:xfrm>
        <a:graphic>
          <a:graphicData uri="http://schemas.openxmlformats.org/presentationml/2006/ole">
            <mc:AlternateContent xmlns:mc="http://schemas.openxmlformats.org/markup-compatibility/2006">
              <mc:Choice xmlns:v="urn:schemas-microsoft-com:vml" Requires="v">
                <p:oleObj spid="_x0000_s39343" r:id="rId13" imgW="723900" imgH="431800" progId="Equation.3">
                  <p:embed/>
                </p:oleObj>
              </mc:Choice>
              <mc:Fallback>
                <p:oleObj r:id="rId13" imgW="723900" imgH="431800" progId="Equation.3">
                  <p:embed/>
                  <p:pic>
                    <p:nvPicPr>
                      <p:cNvPr id="0" name=""/>
                      <p:cNvPicPr/>
                      <p:nvPr/>
                    </p:nvPicPr>
                    <p:blipFill>
                      <a:blip r:embed="rId14"/>
                      <a:stretch>
                        <a:fillRect/>
                      </a:stretch>
                    </p:blipFill>
                    <p:spPr>
                      <a:xfrm>
                        <a:off x="2085729" y="5069962"/>
                        <a:ext cx="1259294" cy="795406"/>
                      </a:xfrm>
                      <a:prstGeom prst="rect">
                        <a:avLst/>
                      </a:prstGeom>
                      <a:noFill/>
                      <a:ln w="38100">
                        <a:noFill/>
                        <a:miter/>
                      </a:ln>
                    </p:spPr>
                  </p:pic>
                </p:oleObj>
              </mc:Fallback>
            </mc:AlternateContent>
          </a:graphicData>
        </a:graphic>
      </p:graphicFrame>
      <p:graphicFrame>
        <p:nvGraphicFramePr>
          <p:cNvPr id="13" name="对象 474163">
            <a:extLst>
              <a:ext uri="{FF2B5EF4-FFF2-40B4-BE49-F238E27FC236}">
                <a16:creationId xmlns:a16="http://schemas.microsoft.com/office/drawing/2014/main" xmlns="" id="{8E70DA74-2121-11D8-0FF4-D731B536D820}"/>
              </a:ext>
            </a:extLst>
          </p:cNvPr>
          <p:cNvGraphicFramePr/>
          <p:nvPr>
            <p:extLst>
              <p:ext uri="{D42A27DB-BD31-4B8C-83A1-F6EECF244321}">
                <p14:modId xmlns:p14="http://schemas.microsoft.com/office/powerpoint/2010/main" val="2579755524"/>
              </p:ext>
            </p:extLst>
          </p:nvPr>
        </p:nvGraphicFramePr>
        <p:xfrm>
          <a:off x="4605948" y="4999808"/>
          <a:ext cx="1800314" cy="771431"/>
        </p:xfrm>
        <a:graphic>
          <a:graphicData uri="http://schemas.openxmlformats.org/presentationml/2006/ole">
            <mc:AlternateContent xmlns:mc="http://schemas.openxmlformats.org/markup-compatibility/2006">
              <mc:Choice xmlns:v="urn:schemas-microsoft-com:vml" Requires="v">
                <p:oleObj spid="_x0000_s39344" r:id="rId15" imgW="1066800" imgH="431800" progId="Equation.3">
                  <p:embed/>
                </p:oleObj>
              </mc:Choice>
              <mc:Fallback>
                <p:oleObj r:id="rId15" imgW="1066800" imgH="431800" progId="Equation.3">
                  <p:embed/>
                  <p:pic>
                    <p:nvPicPr>
                      <p:cNvPr id="0" name=""/>
                      <p:cNvPicPr/>
                      <p:nvPr/>
                    </p:nvPicPr>
                    <p:blipFill>
                      <a:blip r:embed="rId16"/>
                      <a:stretch>
                        <a:fillRect/>
                      </a:stretch>
                    </p:blipFill>
                    <p:spPr>
                      <a:xfrm>
                        <a:off x="4605948" y="4999808"/>
                        <a:ext cx="1800314" cy="771431"/>
                      </a:xfrm>
                      <a:prstGeom prst="rect">
                        <a:avLst/>
                      </a:prstGeom>
                      <a:noFill/>
                      <a:ln w="38100">
                        <a:noFill/>
                        <a:miter/>
                      </a:ln>
                    </p:spPr>
                  </p:pic>
                </p:oleObj>
              </mc:Fallback>
            </mc:AlternateContent>
          </a:graphicData>
        </a:graphic>
      </p:graphicFrame>
      <p:graphicFrame>
        <p:nvGraphicFramePr>
          <p:cNvPr id="14" name="对象 474165">
            <a:extLst>
              <a:ext uri="{FF2B5EF4-FFF2-40B4-BE49-F238E27FC236}">
                <a16:creationId xmlns:a16="http://schemas.microsoft.com/office/drawing/2014/main" xmlns="" id="{29FD5659-0603-1D92-CC08-9BA5B91F1CA7}"/>
              </a:ext>
            </a:extLst>
          </p:cNvPr>
          <p:cNvGraphicFramePr/>
          <p:nvPr>
            <p:extLst>
              <p:ext uri="{D42A27DB-BD31-4B8C-83A1-F6EECF244321}">
                <p14:modId xmlns:p14="http://schemas.microsoft.com/office/powerpoint/2010/main" val="1521478956"/>
              </p:ext>
            </p:extLst>
          </p:nvPr>
        </p:nvGraphicFramePr>
        <p:xfrm>
          <a:off x="3436604" y="2096797"/>
          <a:ext cx="1620415" cy="968872"/>
        </p:xfrm>
        <a:graphic>
          <a:graphicData uri="http://schemas.openxmlformats.org/presentationml/2006/ole">
            <mc:AlternateContent xmlns:mc="http://schemas.openxmlformats.org/markup-compatibility/2006">
              <mc:Choice xmlns:v="urn:schemas-microsoft-com:vml" Requires="v">
                <p:oleObj spid="_x0000_s39345" r:id="rId17" imgW="862965" imgH="482600" progId="Equation.3">
                  <p:embed/>
                </p:oleObj>
              </mc:Choice>
              <mc:Fallback>
                <p:oleObj r:id="rId17" imgW="862965" imgH="482600" progId="Equation.3">
                  <p:embed/>
                  <p:pic>
                    <p:nvPicPr>
                      <p:cNvPr id="0" name=""/>
                      <p:cNvPicPr/>
                      <p:nvPr/>
                    </p:nvPicPr>
                    <p:blipFill>
                      <a:blip r:embed="rId18"/>
                      <a:stretch>
                        <a:fillRect/>
                      </a:stretch>
                    </p:blipFill>
                    <p:spPr>
                      <a:xfrm>
                        <a:off x="3436604" y="2096797"/>
                        <a:ext cx="1620415" cy="968872"/>
                      </a:xfrm>
                      <a:prstGeom prst="rect">
                        <a:avLst/>
                      </a:prstGeom>
                      <a:noFill/>
                      <a:ln w="38100">
                        <a:noFill/>
                        <a:miter/>
                      </a:ln>
                    </p:spPr>
                  </p:pic>
                </p:oleObj>
              </mc:Fallback>
            </mc:AlternateContent>
          </a:graphicData>
        </a:graphic>
      </p:graphicFrame>
      <p:sp>
        <p:nvSpPr>
          <p:cNvPr id="15" name="文本占位符 474114">
            <a:extLst>
              <a:ext uri="{FF2B5EF4-FFF2-40B4-BE49-F238E27FC236}">
                <a16:creationId xmlns:a16="http://schemas.microsoft.com/office/drawing/2014/main" xmlns="" id="{E7EE1706-8525-6061-AFA4-DEDB7BC17CCA}"/>
              </a:ext>
            </a:extLst>
          </p:cNvPr>
          <p:cNvSpPr txBox="1">
            <a:spLocks/>
          </p:cNvSpPr>
          <p:nvPr/>
        </p:nvSpPr>
        <p:spPr>
          <a:xfrm>
            <a:off x="190962" y="2932420"/>
            <a:ext cx="701576" cy="405104"/>
          </a:xfrm>
          <a:prstGeom prst="rect">
            <a:avLst/>
          </a:prstGeom>
          <a:noFill/>
          <a:ln>
            <a:noFill/>
          </a:ln>
        </p:spPr>
        <p:txBody>
          <a:bodyPr/>
          <a:lstStyle>
            <a:lvl1pPr marL="342900" indent="-342900" algn="l" rtl="0" eaLnBrk="0" fontAlgn="base" hangingPunct="0">
              <a:spcBef>
                <a:spcPct val="20000"/>
              </a:spcBef>
              <a:spcAft>
                <a:spcPct val="0"/>
              </a:spcAft>
              <a:buChar char="•"/>
              <a:defRPr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algn="ctr" eaLnBrk="1" hangingPunct="1">
              <a:buFontTx/>
              <a:buNone/>
            </a:pPr>
            <a:r>
              <a:rPr lang="zh-CN" altLang="en-US" sz="2000" kern="0" dirty="0">
                <a:latin typeface="Times New Roman" panose="02020603050405020304" pitchFamily="18" charset="0"/>
                <a:ea typeface="宋体" panose="02010600030101010101" pitchFamily="2" charset="-122"/>
              </a:rPr>
              <a:t>则</a:t>
            </a:r>
          </a:p>
        </p:txBody>
      </p:sp>
      <p:sp>
        <p:nvSpPr>
          <p:cNvPr id="16" name="文本占位符 474114">
            <a:extLst>
              <a:ext uri="{FF2B5EF4-FFF2-40B4-BE49-F238E27FC236}">
                <a16:creationId xmlns:a16="http://schemas.microsoft.com/office/drawing/2014/main" xmlns="" id="{34032EE1-89DE-7BEA-E2B7-1BA93CD8653A}"/>
              </a:ext>
            </a:extLst>
          </p:cNvPr>
          <p:cNvSpPr txBox="1">
            <a:spLocks/>
          </p:cNvSpPr>
          <p:nvPr/>
        </p:nvSpPr>
        <p:spPr>
          <a:xfrm>
            <a:off x="190962" y="3241105"/>
            <a:ext cx="701576" cy="405104"/>
          </a:xfrm>
          <a:prstGeom prst="rect">
            <a:avLst/>
          </a:prstGeom>
          <a:noFill/>
          <a:ln>
            <a:noFill/>
          </a:ln>
        </p:spPr>
        <p:txBody>
          <a:bodyPr/>
          <a:lstStyle>
            <a:lvl1pPr marL="342900" indent="-342900" algn="l" rtl="0" eaLnBrk="0" fontAlgn="base" hangingPunct="0">
              <a:spcBef>
                <a:spcPct val="20000"/>
              </a:spcBef>
              <a:spcAft>
                <a:spcPct val="0"/>
              </a:spcAft>
              <a:buChar char="•"/>
              <a:defRPr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algn="ctr" eaLnBrk="1" hangingPunct="1">
              <a:buFontTx/>
              <a:buNone/>
            </a:pPr>
            <a:r>
              <a:rPr lang="zh-CN" altLang="en-US" sz="2000" dirty="0">
                <a:latin typeface="+mn-ea"/>
              </a:rPr>
              <a:t>①</a:t>
            </a:r>
            <a:endParaRPr lang="zh-CN" altLang="en-US" sz="2000" kern="0" dirty="0">
              <a:latin typeface="+mn-ea"/>
            </a:endParaRPr>
          </a:p>
        </p:txBody>
      </p:sp>
      <p:sp>
        <p:nvSpPr>
          <p:cNvPr id="17" name="文本框 16">
            <a:extLst>
              <a:ext uri="{FF2B5EF4-FFF2-40B4-BE49-F238E27FC236}">
                <a16:creationId xmlns:a16="http://schemas.microsoft.com/office/drawing/2014/main" xmlns="" id="{FC486B82-2B75-D759-8B7D-8541170E3A45}"/>
              </a:ext>
            </a:extLst>
          </p:cNvPr>
          <p:cNvSpPr txBox="1"/>
          <p:nvPr/>
        </p:nvSpPr>
        <p:spPr>
          <a:xfrm>
            <a:off x="226556" y="4292016"/>
            <a:ext cx="630387" cy="400110"/>
          </a:xfrm>
          <a:prstGeom prst="rect">
            <a:avLst/>
          </a:prstGeom>
          <a:noFill/>
        </p:spPr>
        <p:txBody>
          <a:bodyPr wrap="square">
            <a:spAutoFit/>
          </a:bodyPr>
          <a:lstStyle/>
          <a:p>
            <a:pPr algn="ctr" eaLnBrk="1" hangingPunct="1">
              <a:buFontTx/>
              <a:buNone/>
            </a:pPr>
            <a:r>
              <a:rPr lang="zh-CN" altLang="en-US" sz="2000" dirty="0">
                <a:latin typeface="+mn-ea"/>
              </a:rPr>
              <a:t>②</a:t>
            </a:r>
            <a:endParaRPr lang="zh-CN" altLang="en-US" sz="2000" kern="0" dirty="0">
              <a:latin typeface="+mn-ea"/>
            </a:endParaRPr>
          </a:p>
        </p:txBody>
      </p:sp>
    </p:spTree>
    <p:extLst>
      <p:ext uri="{BB962C8B-B14F-4D97-AF65-F5344CB8AC3E}">
        <p14:creationId xmlns:p14="http://schemas.microsoft.com/office/powerpoint/2010/main" val="1499763631"/>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61</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5"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2.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高频</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基础</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电路</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 name="文本占位符 613378">
            <a:extLst>
              <a:ext uri="{FF2B5EF4-FFF2-40B4-BE49-F238E27FC236}">
                <a16:creationId xmlns:a16="http://schemas.microsoft.com/office/drawing/2014/main" xmlns="" id="{7EA1E1F4-0149-4245-1656-B4CAC57C5671}"/>
              </a:ext>
            </a:extLst>
          </p:cNvPr>
          <p:cNvSpPr txBox="1">
            <a:spLocks/>
          </p:cNvSpPr>
          <p:nvPr/>
        </p:nvSpPr>
        <p:spPr>
          <a:xfrm>
            <a:off x="665162" y="1312206"/>
            <a:ext cx="7885113" cy="5088593"/>
          </a:xfrm>
          <a:prstGeom prst="rect">
            <a:avLst/>
          </a:prstGeom>
          <a:noFill/>
          <a:ln>
            <a:noFill/>
          </a:ln>
        </p:spPr>
        <p:txBody>
          <a:bodyPr/>
          <a:lstStyle>
            <a:lvl1pPr marL="342900" indent="-342900" algn="l" rtl="0" eaLnBrk="0" fontAlgn="base" hangingPunct="0">
              <a:spcBef>
                <a:spcPct val="20000"/>
              </a:spcBef>
              <a:spcAft>
                <a:spcPct val="0"/>
              </a:spcAft>
              <a:buChar char="•"/>
              <a:defRPr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eaLnBrk="1" hangingPunct="1">
              <a:spcBef>
                <a:spcPts val="0"/>
              </a:spcBef>
              <a:buFontTx/>
              <a:buNone/>
            </a:pPr>
            <a:r>
              <a:rPr lang="en-US" altLang="zh-CN" sz="2000" b="1" kern="0" dirty="0">
                <a:latin typeface="Times New Roman" panose="02020603050405020304" pitchFamily="18" charset="0"/>
              </a:rPr>
              <a:t>(2)</a:t>
            </a:r>
            <a:r>
              <a:rPr lang="zh-CN" altLang="en-US" sz="2000" kern="0" dirty="0">
                <a:latin typeface="Times New Roman" panose="02020603050405020304" pitchFamily="18" charset="0"/>
              </a:rPr>
              <a:t>当</a:t>
            </a:r>
            <a:r>
              <a:rPr lang="en-US" altLang="zh-CN" sz="2000" i="1" kern="0" dirty="0">
                <a:solidFill>
                  <a:srgbClr val="FF0000"/>
                </a:solidFill>
                <a:latin typeface="Times New Roman" panose="02020603050405020304" pitchFamily="18" charset="0"/>
              </a:rPr>
              <a:t>R</a:t>
            </a:r>
            <a:r>
              <a:rPr lang="en-US" altLang="zh-CN" sz="2000" kern="0" baseline="-25000" dirty="0">
                <a:solidFill>
                  <a:srgbClr val="FF0000"/>
                </a:solidFill>
                <a:latin typeface="Times New Roman" panose="02020603050405020304" pitchFamily="18" charset="0"/>
              </a:rPr>
              <a:t>1</a:t>
            </a:r>
            <a:r>
              <a:rPr lang="en-US" altLang="zh-CN" sz="2000" kern="0" dirty="0">
                <a:solidFill>
                  <a:srgbClr val="FF0000"/>
                </a:solidFill>
                <a:latin typeface="Times New Roman" panose="02020603050405020304" pitchFamily="18" charset="0"/>
              </a:rPr>
              <a:t>&lt;</a:t>
            </a:r>
            <a:r>
              <a:rPr lang="en-US" altLang="zh-CN" sz="2000" i="1" kern="0" dirty="0">
                <a:solidFill>
                  <a:srgbClr val="FF0000"/>
                </a:solidFill>
                <a:latin typeface="Times New Roman" panose="02020603050405020304" pitchFamily="18" charset="0"/>
              </a:rPr>
              <a:t>R</a:t>
            </a:r>
            <a:r>
              <a:rPr lang="en-US" altLang="zh-CN" sz="2000" kern="0" baseline="-25000" dirty="0">
                <a:solidFill>
                  <a:srgbClr val="FF0000"/>
                </a:solidFill>
                <a:latin typeface="Times New Roman" panose="02020603050405020304" pitchFamily="18" charset="0"/>
              </a:rPr>
              <a:t>2</a:t>
            </a:r>
            <a:r>
              <a:rPr lang="zh-CN" altLang="en-US" sz="2000" kern="0" dirty="0">
                <a:latin typeface="Times New Roman" panose="02020603050405020304" pitchFamily="18" charset="0"/>
              </a:rPr>
              <a:t>时，从</a:t>
            </a:r>
            <a:r>
              <a:rPr lang="en-US" altLang="zh-CN" sz="2000" i="1" kern="0" dirty="0">
                <a:solidFill>
                  <a:srgbClr val="FF0000"/>
                </a:solidFill>
                <a:latin typeface="Times New Roman" panose="02020603050405020304" pitchFamily="18" charset="0"/>
              </a:rPr>
              <a:t>R</a:t>
            </a:r>
            <a:r>
              <a:rPr lang="en-US" altLang="zh-CN" sz="2000" kern="0" baseline="-25000" dirty="0">
                <a:solidFill>
                  <a:srgbClr val="FF0000"/>
                </a:solidFill>
                <a:latin typeface="Times New Roman" panose="02020603050405020304" pitchFamily="18" charset="0"/>
              </a:rPr>
              <a:t>1</a:t>
            </a:r>
            <a:r>
              <a:rPr lang="zh-CN" altLang="en-US" sz="2000" kern="0" dirty="0">
                <a:latin typeface="Times New Roman" panose="02020603050405020304" pitchFamily="18" charset="0"/>
              </a:rPr>
              <a:t>端开始计算</a:t>
            </a:r>
            <a:r>
              <a:rPr lang="en-US" altLang="zh-CN" sz="2000" kern="0" dirty="0">
                <a:latin typeface="Times New Roman" panose="02020603050405020304" pitchFamily="18" charset="0"/>
              </a:rPr>
              <a:t>,</a:t>
            </a:r>
            <a:r>
              <a:rPr lang="zh-CN" altLang="en-US" sz="2000" kern="0" dirty="0">
                <a:latin typeface="Times New Roman" panose="02020603050405020304" pitchFamily="18" charset="0"/>
              </a:rPr>
              <a:t>选取</a:t>
            </a:r>
            <a:r>
              <a:rPr lang="en-US" altLang="zh-CN" sz="2000" i="1" kern="0" dirty="0">
                <a:latin typeface="Times New Roman" panose="02020603050405020304" pitchFamily="18" charset="0"/>
              </a:rPr>
              <a:t>Q</a:t>
            </a:r>
            <a:r>
              <a:rPr lang="en-US" altLang="zh-CN" sz="2000" kern="0" baseline="-25000" dirty="0">
                <a:latin typeface="Times New Roman" panose="02020603050405020304" pitchFamily="18" charset="0"/>
              </a:rPr>
              <a:t>1</a:t>
            </a:r>
            <a:r>
              <a:rPr lang="en-US" altLang="zh-CN" sz="2000" kern="0" dirty="0">
                <a:latin typeface="Times New Roman" panose="02020603050405020304" pitchFamily="18" charset="0"/>
              </a:rPr>
              <a:t>=</a:t>
            </a:r>
            <a:r>
              <a:rPr lang="en-US" altLang="zh-CN" sz="2000" i="1" kern="0" dirty="0" err="1">
                <a:latin typeface="Times New Roman" panose="02020603050405020304" pitchFamily="18" charset="0"/>
              </a:rPr>
              <a:t>Q</a:t>
            </a:r>
            <a:r>
              <a:rPr lang="en-US" altLang="zh-CN" sz="2000" kern="0" baseline="-25000" dirty="0" err="1">
                <a:latin typeface="Times New Roman" panose="02020603050405020304" pitchFamily="18" charset="0"/>
              </a:rPr>
              <a:t>max</a:t>
            </a:r>
            <a:r>
              <a:rPr lang="zh-CN" altLang="en-US" sz="2000" kern="0" dirty="0">
                <a:latin typeface="Times New Roman" panose="02020603050405020304" pitchFamily="18" charset="0"/>
              </a:rPr>
              <a:t>应满足</a:t>
            </a:r>
          </a:p>
          <a:p>
            <a:pPr marL="0" eaLnBrk="1" hangingPunct="1">
              <a:spcBef>
                <a:spcPts val="0"/>
              </a:spcBef>
              <a:buFontTx/>
              <a:buNone/>
            </a:pPr>
            <a:r>
              <a:rPr lang="zh-CN" altLang="en-US" sz="2000" kern="0" dirty="0">
                <a:latin typeface="Times New Roman" panose="02020603050405020304" pitchFamily="18" charset="0"/>
              </a:rPr>
              <a:t>               </a:t>
            </a:r>
          </a:p>
          <a:p>
            <a:pPr marL="0" eaLnBrk="1" hangingPunct="1">
              <a:spcBef>
                <a:spcPts val="0"/>
              </a:spcBef>
              <a:buFontTx/>
              <a:buNone/>
            </a:pPr>
            <a:endParaRPr lang="zh-CN" altLang="en-US" sz="2000" kern="0" dirty="0">
              <a:latin typeface="Times New Roman" panose="02020603050405020304" pitchFamily="18" charset="0"/>
            </a:endParaRPr>
          </a:p>
          <a:p>
            <a:pPr marL="0" eaLnBrk="1" hangingPunct="1">
              <a:spcBef>
                <a:spcPts val="0"/>
              </a:spcBef>
              <a:buFontTx/>
              <a:buNone/>
            </a:pPr>
            <a:r>
              <a:rPr lang="zh-CN" altLang="en-US" sz="2000" kern="0" dirty="0">
                <a:latin typeface="Times New Roman" panose="02020603050405020304" pitchFamily="18" charset="0"/>
              </a:rPr>
              <a:t>  </a:t>
            </a:r>
          </a:p>
          <a:p>
            <a:pPr marL="0" eaLnBrk="1" hangingPunct="1">
              <a:spcBef>
                <a:spcPts val="0"/>
              </a:spcBef>
              <a:buFontTx/>
              <a:buNone/>
            </a:pPr>
            <a:endParaRPr lang="en-US" altLang="zh-CN" sz="2000" kern="0" dirty="0">
              <a:latin typeface="Times New Roman" panose="02020603050405020304" pitchFamily="18" charset="0"/>
            </a:endParaRPr>
          </a:p>
          <a:p>
            <a:pPr marL="0" eaLnBrk="1" hangingPunct="1">
              <a:spcBef>
                <a:spcPts val="0"/>
              </a:spcBef>
              <a:buFontTx/>
              <a:buNone/>
            </a:pPr>
            <a:r>
              <a:rPr lang="zh-CN" altLang="en-US" sz="2000" kern="0" dirty="0">
                <a:latin typeface="Times New Roman" panose="02020603050405020304" pitchFamily="18" charset="0"/>
              </a:rPr>
              <a:t>则</a:t>
            </a:r>
          </a:p>
          <a:p>
            <a:pPr marL="0" eaLnBrk="1" hangingPunct="1">
              <a:spcBef>
                <a:spcPts val="0"/>
              </a:spcBef>
              <a:buFontTx/>
              <a:buNone/>
            </a:pPr>
            <a:r>
              <a:rPr lang="zh-CN" altLang="en-US" sz="2000" b="1" kern="0" dirty="0">
                <a:latin typeface="Times New Roman" panose="02020603050405020304" pitchFamily="18" charset="0"/>
              </a:rPr>
              <a:t>①</a:t>
            </a:r>
            <a:endParaRPr lang="en-US" altLang="zh-CN" sz="2000" b="1" kern="0" dirty="0">
              <a:latin typeface="Times New Roman" panose="02020603050405020304" pitchFamily="18" charset="0"/>
            </a:endParaRPr>
          </a:p>
          <a:p>
            <a:pPr marL="0" eaLnBrk="1" hangingPunct="1">
              <a:spcBef>
                <a:spcPts val="0"/>
              </a:spcBef>
              <a:buFontTx/>
              <a:buNone/>
            </a:pPr>
            <a:endParaRPr lang="en-US" altLang="zh-CN" sz="2000" b="1" kern="0" dirty="0">
              <a:latin typeface="Times New Roman" panose="02020603050405020304" pitchFamily="18" charset="0"/>
            </a:endParaRPr>
          </a:p>
          <a:p>
            <a:pPr marL="0" eaLnBrk="1" hangingPunct="1">
              <a:spcBef>
                <a:spcPts val="0"/>
              </a:spcBef>
              <a:buFontTx/>
              <a:buNone/>
            </a:pPr>
            <a:endParaRPr lang="en-US" altLang="zh-CN" sz="2000" b="1" kern="0" dirty="0">
              <a:latin typeface="Times New Roman" panose="02020603050405020304" pitchFamily="18" charset="0"/>
            </a:endParaRPr>
          </a:p>
          <a:p>
            <a:pPr marL="0" eaLnBrk="1" hangingPunct="1">
              <a:spcBef>
                <a:spcPts val="0"/>
              </a:spcBef>
              <a:buFontTx/>
              <a:buNone/>
            </a:pPr>
            <a:endParaRPr lang="en-US" altLang="zh-CN" sz="2000" b="1" kern="0" dirty="0">
              <a:latin typeface="Times New Roman" panose="02020603050405020304" pitchFamily="18" charset="0"/>
            </a:endParaRPr>
          </a:p>
          <a:p>
            <a:pPr marL="0" eaLnBrk="1" hangingPunct="1">
              <a:spcBef>
                <a:spcPts val="0"/>
              </a:spcBef>
              <a:buFontTx/>
              <a:buNone/>
            </a:pPr>
            <a:r>
              <a:rPr lang="zh-CN" altLang="en-US" sz="2000" b="1" kern="0" dirty="0">
                <a:latin typeface="Times New Roman" panose="02020603050405020304" pitchFamily="18" charset="0"/>
              </a:rPr>
              <a:t>②</a:t>
            </a:r>
          </a:p>
          <a:p>
            <a:pPr eaLnBrk="1" hangingPunct="1">
              <a:buFontTx/>
              <a:buNone/>
            </a:pPr>
            <a:endParaRPr lang="zh-CN" altLang="en-US" sz="2000" kern="0" dirty="0">
              <a:latin typeface="Times New Roman" panose="02020603050405020304" pitchFamily="18" charset="0"/>
              <a:ea typeface="楷体_GB2312" panose="02010609030101010101" pitchFamily="49" charset="-122"/>
            </a:endParaRPr>
          </a:p>
          <a:p>
            <a:pPr eaLnBrk="1" hangingPunct="1">
              <a:buFontTx/>
              <a:buNone/>
            </a:pPr>
            <a:endParaRPr lang="zh-CN" altLang="en-US" sz="2000" kern="0" dirty="0">
              <a:latin typeface="Times New Roman" panose="02020603050405020304" pitchFamily="18" charset="0"/>
              <a:ea typeface="楷体_GB2312" panose="02010609030101010101" pitchFamily="49" charset="-122"/>
            </a:endParaRPr>
          </a:p>
          <a:p>
            <a:pPr eaLnBrk="1" hangingPunct="1">
              <a:buFontTx/>
              <a:buNone/>
            </a:pPr>
            <a:endParaRPr lang="zh-CN" altLang="en-US" sz="2000" kern="0" dirty="0">
              <a:latin typeface="Times New Roman" panose="02020603050405020304" pitchFamily="18" charset="0"/>
              <a:ea typeface="楷体_GB2312" panose="02010609030101010101" pitchFamily="49" charset="-122"/>
            </a:endParaRPr>
          </a:p>
          <a:p>
            <a:pPr eaLnBrk="1" hangingPunct="1">
              <a:buFontTx/>
              <a:buNone/>
            </a:pPr>
            <a:endParaRPr lang="zh-CN" altLang="en-US" sz="2000" kern="0" dirty="0">
              <a:latin typeface="Times New Roman" panose="02020603050405020304" pitchFamily="18" charset="0"/>
              <a:ea typeface="楷体_GB2312" panose="02010609030101010101" pitchFamily="49" charset="-122"/>
            </a:endParaRPr>
          </a:p>
          <a:p>
            <a:pPr eaLnBrk="1" hangingPunct="1">
              <a:buFontTx/>
              <a:buNone/>
            </a:pPr>
            <a:endParaRPr lang="zh-CN" altLang="en-US" kern="0" dirty="0">
              <a:latin typeface="楷体_GB2312" panose="02010609030101010101" pitchFamily="49" charset="-122"/>
              <a:ea typeface="楷体_GB2312" panose="02010609030101010101" pitchFamily="49" charset="-122"/>
            </a:endParaRPr>
          </a:p>
          <a:p>
            <a:pPr eaLnBrk="1" hangingPunct="1">
              <a:buFontTx/>
              <a:buNone/>
            </a:pPr>
            <a:endParaRPr lang="zh-CN" altLang="en-US" kern="0" dirty="0">
              <a:latin typeface="楷体_GB2312" panose="02010609030101010101" pitchFamily="49" charset="-122"/>
              <a:ea typeface="楷体_GB2312" panose="02010609030101010101" pitchFamily="49" charset="-122"/>
            </a:endParaRPr>
          </a:p>
        </p:txBody>
      </p:sp>
      <p:graphicFrame>
        <p:nvGraphicFramePr>
          <p:cNvPr id="7" name="对象 613382">
            <a:extLst>
              <a:ext uri="{FF2B5EF4-FFF2-40B4-BE49-F238E27FC236}">
                <a16:creationId xmlns:a16="http://schemas.microsoft.com/office/drawing/2014/main" xmlns="" id="{DDB0DEAC-1D30-E0A4-ECBC-477ACC4C7A73}"/>
              </a:ext>
            </a:extLst>
          </p:cNvPr>
          <p:cNvGraphicFramePr/>
          <p:nvPr>
            <p:extLst>
              <p:ext uri="{D42A27DB-BD31-4B8C-83A1-F6EECF244321}">
                <p14:modId xmlns:p14="http://schemas.microsoft.com/office/powerpoint/2010/main" val="3467004200"/>
              </p:ext>
            </p:extLst>
          </p:nvPr>
        </p:nvGraphicFramePr>
        <p:xfrm>
          <a:off x="3096419" y="1781969"/>
          <a:ext cx="2233612" cy="1087437"/>
        </p:xfrm>
        <a:graphic>
          <a:graphicData uri="http://schemas.openxmlformats.org/presentationml/2006/ole">
            <mc:AlternateContent xmlns:mc="http://schemas.openxmlformats.org/markup-compatibility/2006">
              <mc:Choice xmlns:v="urn:schemas-microsoft-com:vml" Requires="v">
                <p:oleObj spid="_x0000_s40354" r:id="rId3" imgW="824865" imgH="482600" progId="Equation.3">
                  <p:embed/>
                </p:oleObj>
              </mc:Choice>
              <mc:Fallback>
                <p:oleObj r:id="rId3" imgW="824865" imgH="482600" progId="Equation.3">
                  <p:embed/>
                  <p:pic>
                    <p:nvPicPr>
                      <p:cNvPr id="0" name=""/>
                      <p:cNvPicPr/>
                      <p:nvPr/>
                    </p:nvPicPr>
                    <p:blipFill>
                      <a:blip r:embed="rId4"/>
                      <a:stretch>
                        <a:fillRect/>
                      </a:stretch>
                    </p:blipFill>
                    <p:spPr>
                      <a:xfrm>
                        <a:off x="3096419" y="1781969"/>
                        <a:ext cx="2233612" cy="1087437"/>
                      </a:xfrm>
                      <a:prstGeom prst="rect">
                        <a:avLst/>
                      </a:prstGeom>
                      <a:solidFill>
                        <a:schemeClr val="bg1"/>
                      </a:solidFill>
                      <a:ln w="19050" cap="flat" cmpd="sng">
                        <a:noFill/>
                        <a:prstDash val="lgDash"/>
                        <a:miter/>
                        <a:headEnd type="none" w="med" len="med"/>
                        <a:tailEnd type="none" w="med" len="med"/>
                      </a:ln>
                    </p:spPr>
                  </p:pic>
                </p:oleObj>
              </mc:Fallback>
            </mc:AlternateContent>
          </a:graphicData>
        </a:graphic>
      </p:graphicFrame>
      <p:graphicFrame>
        <p:nvGraphicFramePr>
          <p:cNvPr id="8" name="对象 613385">
            <a:extLst>
              <a:ext uri="{FF2B5EF4-FFF2-40B4-BE49-F238E27FC236}">
                <a16:creationId xmlns:a16="http://schemas.microsoft.com/office/drawing/2014/main" xmlns="" id="{9B72AE76-9759-173C-8E93-D7C1A92BD20E}"/>
              </a:ext>
            </a:extLst>
          </p:cNvPr>
          <p:cNvGraphicFramePr/>
          <p:nvPr/>
        </p:nvGraphicFramePr>
        <p:xfrm>
          <a:off x="1763713" y="3213100"/>
          <a:ext cx="2232025" cy="498475"/>
        </p:xfrm>
        <a:graphic>
          <a:graphicData uri="http://schemas.openxmlformats.org/presentationml/2006/ole">
            <mc:AlternateContent xmlns:mc="http://schemas.openxmlformats.org/markup-compatibility/2006">
              <mc:Choice xmlns:v="urn:schemas-microsoft-com:vml" Requires="v">
                <p:oleObj spid="_x0000_s40355" r:id="rId5" imgW="1066800" imgH="241300" progId="Equation.3">
                  <p:embed/>
                </p:oleObj>
              </mc:Choice>
              <mc:Fallback>
                <p:oleObj r:id="rId5" imgW="1066800" imgH="241300" progId="Equation.3">
                  <p:embed/>
                  <p:pic>
                    <p:nvPicPr>
                      <p:cNvPr id="0" name=""/>
                      <p:cNvPicPr/>
                      <p:nvPr/>
                    </p:nvPicPr>
                    <p:blipFill>
                      <a:blip r:embed="rId6"/>
                      <a:stretch>
                        <a:fillRect/>
                      </a:stretch>
                    </p:blipFill>
                    <p:spPr>
                      <a:xfrm>
                        <a:off x="1763713" y="3213100"/>
                        <a:ext cx="2232025" cy="498475"/>
                      </a:xfrm>
                      <a:prstGeom prst="rect">
                        <a:avLst/>
                      </a:prstGeom>
                      <a:noFill/>
                      <a:ln w="38100">
                        <a:noFill/>
                        <a:miter/>
                      </a:ln>
                    </p:spPr>
                  </p:pic>
                </p:oleObj>
              </mc:Fallback>
            </mc:AlternateContent>
          </a:graphicData>
        </a:graphic>
      </p:graphicFrame>
      <p:graphicFrame>
        <p:nvGraphicFramePr>
          <p:cNvPr id="9" name="对象 613387">
            <a:extLst>
              <a:ext uri="{FF2B5EF4-FFF2-40B4-BE49-F238E27FC236}">
                <a16:creationId xmlns:a16="http://schemas.microsoft.com/office/drawing/2014/main" xmlns="" id="{7F1915A9-BBC8-C016-9093-53150C29019C}"/>
              </a:ext>
            </a:extLst>
          </p:cNvPr>
          <p:cNvGraphicFramePr/>
          <p:nvPr/>
        </p:nvGraphicFramePr>
        <p:xfrm>
          <a:off x="4140200" y="3213100"/>
          <a:ext cx="1439863" cy="481013"/>
        </p:xfrm>
        <a:graphic>
          <a:graphicData uri="http://schemas.openxmlformats.org/presentationml/2006/ole">
            <mc:AlternateContent xmlns:mc="http://schemas.openxmlformats.org/markup-compatibility/2006">
              <mc:Choice xmlns:v="urn:schemas-microsoft-com:vml" Requires="v">
                <p:oleObj spid="_x0000_s40356" r:id="rId7" imgW="685800" imgH="228600" progId="Equation.3">
                  <p:embed/>
                </p:oleObj>
              </mc:Choice>
              <mc:Fallback>
                <p:oleObj r:id="rId7" imgW="685800" imgH="228600" progId="Equation.3">
                  <p:embed/>
                  <p:pic>
                    <p:nvPicPr>
                      <p:cNvPr id="0" name=""/>
                      <p:cNvPicPr/>
                      <p:nvPr/>
                    </p:nvPicPr>
                    <p:blipFill>
                      <a:blip r:embed="rId8"/>
                      <a:stretch>
                        <a:fillRect/>
                      </a:stretch>
                    </p:blipFill>
                    <p:spPr>
                      <a:xfrm>
                        <a:off x="4140200" y="3213100"/>
                        <a:ext cx="1439863" cy="481013"/>
                      </a:xfrm>
                      <a:prstGeom prst="rect">
                        <a:avLst/>
                      </a:prstGeom>
                      <a:noFill/>
                      <a:ln w="38100">
                        <a:noFill/>
                        <a:miter/>
                      </a:ln>
                    </p:spPr>
                  </p:pic>
                </p:oleObj>
              </mc:Fallback>
            </mc:AlternateContent>
          </a:graphicData>
        </a:graphic>
      </p:graphicFrame>
      <p:graphicFrame>
        <p:nvGraphicFramePr>
          <p:cNvPr id="10" name="对象 613389">
            <a:extLst>
              <a:ext uri="{FF2B5EF4-FFF2-40B4-BE49-F238E27FC236}">
                <a16:creationId xmlns:a16="http://schemas.microsoft.com/office/drawing/2014/main" xmlns="" id="{92754179-3062-03F1-9960-37B420B260D9}"/>
              </a:ext>
            </a:extLst>
          </p:cNvPr>
          <p:cNvGraphicFramePr/>
          <p:nvPr>
            <p:extLst>
              <p:ext uri="{D42A27DB-BD31-4B8C-83A1-F6EECF244321}">
                <p14:modId xmlns:p14="http://schemas.microsoft.com/office/powerpoint/2010/main" val="2841403127"/>
              </p:ext>
            </p:extLst>
          </p:nvPr>
        </p:nvGraphicFramePr>
        <p:xfrm>
          <a:off x="5795962" y="3044023"/>
          <a:ext cx="1584325" cy="938212"/>
        </p:xfrm>
        <a:graphic>
          <a:graphicData uri="http://schemas.openxmlformats.org/presentationml/2006/ole">
            <mc:AlternateContent xmlns:mc="http://schemas.openxmlformats.org/markup-compatibility/2006">
              <mc:Choice xmlns:v="urn:schemas-microsoft-com:vml" Requires="v">
                <p:oleObj spid="_x0000_s40357" r:id="rId9" imgW="723900" imgH="431800" progId="Equation.3">
                  <p:embed/>
                </p:oleObj>
              </mc:Choice>
              <mc:Fallback>
                <p:oleObj r:id="rId9" imgW="723900" imgH="431800" progId="Equation.3">
                  <p:embed/>
                  <p:pic>
                    <p:nvPicPr>
                      <p:cNvPr id="0" name=""/>
                      <p:cNvPicPr/>
                      <p:nvPr/>
                    </p:nvPicPr>
                    <p:blipFill>
                      <a:blip r:embed="rId10"/>
                      <a:stretch>
                        <a:fillRect/>
                      </a:stretch>
                    </p:blipFill>
                    <p:spPr>
                      <a:xfrm>
                        <a:off x="5795962" y="3044023"/>
                        <a:ext cx="1584325" cy="938212"/>
                      </a:xfrm>
                      <a:prstGeom prst="rect">
                        <a:avLst/>
                      </a:prstGeom>
                      <a:noFill/>
                      <a:ln w="38100">
                        <a:noFill/>
                        <a:miter/>
                      </a:ln>
                    </p:spPr>
                  </p:pic>
                </p:oleObj>
              </mc:Fallback>
            </mc:AlternateContent>
          </a:graphicData>
        </a:graphic>
      </p:graphicFrame>
      <p:graphicFrame>
        <p:nvGraphicFramePr>
          <p:cNvPr id="11" name="对象 613392">
            <a:extLst>
              <a:ext uri="{FF2B5EF4-FFF2-40B4-BE49-F238E27FC236}">
                <a16:creationId xmlns:a16="http://schemas.microsoft.com/office/drawing/2014/main" xmlns="" id="{8F63F6C0-3C3F-06EF-FA6B-5A47B29C980D}"/>
              </a:ext>
            </a:extLst>
          </p:cNvPr>
          <p:cNvGraphicFramePr/>
          <p:nvPr>
            <p:extLst>
              <p:ext uri="{D42A27DB-BD31-4B8C-83A1-F6EECF244321}">
                <p14:modId xmlns:p14="http://schemas.microsoft.com/office/powerpoint/2010/main" val="1664619696"/>
              </p:ext>
            </p:extLst>
          </p:nvPr>
        </p:nvGraphicFramePr>
        <p:xfrm>
          <a:off x="2123628" y="4398825"/>
          <a:ext cx="1873250" cy="946150"/>
        </p:xfrm>
        <a:graphic>
          <a:graphicData uri="http://schemas.openxmlformats.org/presentationml/2006/ole">
            <mc:AlternateContent xmlns:mc="http://schemas.openxmlformats.org/markup-compatibility/2006">
              <mc:Choice xmlns:v="urn:schemas-microsoft-com:vml" Requires="v">
                <p:oleObj spid="_x0000_s40358" r:id="rId11" imgW="965200" imgH="482600" progId="Equation.3">
                  <p:embed/>
                </p:oleObj>
              </mc:Choice>
              <mc:Fallback>
                <p:oleObj r:id="rId11" imgW="965200" imgH="482600" progId="Equation.3">
                  <p:embed/>
                  <p:pic>
                    <p:nvPicPr>
                      <p:cNvPr id="0" name=""/>
                      <p:cNvPicPr/>
                      <p:nvPr/>
                    </p:nvPicPr>
                    <p:blipFill>
                      <a:blip r:embed="rId12"/>
                      <a:stretch>
                        <a:fillRect/>
                      </a:stretch>
                    </p:blipFill>
                    <p:spPr>
                      <a:xfrm>
                        <a:off x="2123628" y="4398825"/>
                        <a:ext cx="1873250" cy="946150"/>
                      </a:xfrm>
                      <a:prstGeom prst="rect">
                        <a:avLst/>
                      </a:prstGeom>
                      <a:noFill/>
                      <a:ln w="38100">
                        <a:noFill/>
                        <a:miter/>
                      </a:ln>
                    </p:spPr>
                  </p:pic>
                </p:oleObj>
              </mc:Fallback>
            </mc:AlternateContent>
          </a:graphicData>
        </a:graphic>
      </p:graphicFrame>
      <p:graphicFrame>
        <p:nvGraphicFramePr>
          <p:cNvPr id="12" name="对象 613394">
            <a:extLst>
              <a:ext uri="{FF2B5EF4-FFF2-40B4-BE49-F238E27FC236}">
                <a16:creationId xmlns:a16="http://schemas.microsoft.com/office/drawing/2014/main" xmlns="" id="{6C36EC3E-D0B9-F980-1CAD-B9B3B75B1457}"/>
              </a:ext>
            </a:extLst>
          </p:cNvPr>
          <p:cNvGraphicFramePr/>
          <p:nvPr>
            <p:extLst>
              <p:ext uri="{D42A27DB-BD31-4B8C-83A1-F6EECF244321}">
                <p14:modId xmlns:p14="http://schemas.microsoft.com/office/powerpoint/2010/main" val="639931109"/>
              </p:ext>
            </p:extLst>
          </p:nvPr>
        </p:nvGraphicFramePr>
        <p:xfrm>
          <a:off x="4716016" y="4543287"/>
          <a:ext cx="1439862" cy="454025"/>
        </p:xfrm>
        <a:graphic>
          <a:graphicData uri="http://schemas.openxmlformats.org/presentationml/2006/ole">
            <mc:AlternateContent xmlns:mc="http://schemas.openxmlformats.org/markup-compatibility/2006">
              <mc:Choice xmlns:v="urn:schemas-microsoft-com:vml" Requires="v">
                <p:oleObj spid="_x0000_s40359" r:id="rId13" imgW="723900" imgH="228600" progId="Equation.3">
                  <p:embed/>
                </p:oleObj>
              </mc:Choice>
              <mc:Fallback>
                <p:oleObj r:id="rId13" imgW="723900" imgH="228600" progId="Equation.3">
                  <p:embed/>
                  <p:pic>
                    <p:nvPicPr>
                      <p:cNvPr id="0" name=""/>
                      <p:cNvPicPr/>
                      <p:nvPr/>
                    </p:nvPicPr>
                    <p:blipFill>
                      <a:blip r:embed="rId14"/>
                      <a:stretch>
                        <a:fillRect/>
                      </a:stretch>
                    </p:blipFill>
                    <p:spPr>
                      <a:xfrm>
                        <a:off x="4716016" y="4543287"/>
                        <a:ext cx="1439862" cy="454025"/>
                      </a:xfrm>
                      <a:prstGeom prst="rect">
                        <a:avLst/>
                      </a:prstGeom>
                      <a:noFill/>
                      <a:ln w="38100">
                        <a:noFill/>
                        <a:miter/>
                      </a:ln>
                    </p:spPr>
                  </p:pic>
                </p:oleObj>
              </mc:Fallback>
            </mc:AlternateContent>
          </a:graphicData>
        </a:graphic>
      </p:graphicFrame>
      <p:graphicFrame>
        <p:nvGraphicFramePr>
          <p:cNvPr id="13" name="对象 613396">
            <a:extLst>
              <a:ext uri="{FF2B5EF4-FFF2-40B4-BE49-F238E27FC236}">
                <a16:creationId xmlns:a16="http://schemas.microsoft.com/office/drawing/2014/main" xmlns="" id="{A13A369D-9435-3684-7DBE-E60D01C3951B}"/>
              </a:ext>
            </a:extLst>
          </p:cNvPr>
          <p:cNvGraphicFramePr/>
          <p:nvPr>
            <p:extLst>
              <p:ext uri="{D42A27DB-BD31-4B8C-83A1-F6EECF244321}">
                <p14:modId xmlns:p14="http://schemas.microsoft.com/office/powerpoint/2010/main" val="4218962164"/>
              </p:ext>
            </p:extLst>
          </p:nvPr>
        </p:nvGraphicFramePr>
        <p:xfrm>
          <a:off x="2268091" y="5262425"/>
          <a:ext cx="1584325" cy="925512"/>
        </p:xfrm>
        <a:graphic>
          <a:graphicData uri="http://schemas.openxmlformats.org/presentationml/2006/ole">
            <mc:AlternateContent xmlns:mc="http://schemas.openxmlformats.org/markup-compatibility/2006">
              <mc:Choice xmlns:v="urn:schemas-microsoft-com:vml" Requires="v">
                <p:oleObj spid="_x0000_s40360" r:id="rId15" imgW="736600" imgH="431800" progId="Equation.3">
                  <p:embed/>
                </p:oleObj>
              </mc:Choice>
              <mc:Fallback>
                <p:oleObj r:id="rId15" imgW="736600" imgH="431800" progId="Equation.3">
                  <p:embed/>
                  <p:pic>
                    <p:nvPicPr>
                      <p:cNvPr id="0" name=""/>
                      <p:cNvPicPr/>
                      <p:nvPr/>
                    </p:nvPicPr>
                    <p:blipFill>
                      <a:blip r:embed="rId16"/>
                      <a:stretch>
                        <a:fillRect/>
                      </a:stretch>
                    </p:blipFill>
                    <p:spPr>
                      <a:xfrm>
                        <a:off x="2268091" y="5262425"/>
                        <a:ext cx="1584325" cy="925512"/>
                      </a:xfrm>
                      <a:prstGeom prst="rect">
                        <a:avLst/>
                      </a:prstGeom>
                      <a:noFill/>
                      <a:ln w="38100">
                        <a:noFill/>
                        <a:miter/>
                      </a:ln>
                    </p:spPr>
                  </p:pic>
                </p:oleObj>
              </mc:Fallback>
            </mc:AlternateContent>
          </a:graphicData>
        </a:graphic>
      </p:graphicFrame>
      <p:graphicFrame>
        <p:nvGraphicFramePr>
          <p:cNvPr id="14" name="对象 613398">
            <a:extLst>
              <a:ext uri="{FF2B5EF4-FFF2-40B4-BE49-F238E27FC236}">
                <a16:creationId xmlns:a16="http://schemas.microsoft.com/office/drawing/2014/main" xmlns="" id="{D50D7E3F-5159-2EAA-B77B-76E06C8BECF1}"/>
              </a:ext>
            </a:extLst>
          </p:cNvPr>
          <p:cNvGraphicFramePr/>
          <p:nvPr>
            <p:extLst>
              <p:ext uri="{D42A27DB-BD31-4B8C-83A1-F6EECF244321}">
                <p14:modId xmlns:p14="http://schemas.microsoft.com/office/powerpoint/2010/main" val="1105435797"/>
              </p:ext>
            </p:extLst>
          </p:nvPr>
        </p:nvGraphicFramePr>
        <p:xfrm>
          <a:off x="4642991" y="5190987"/>
          <a:ext cx="2376487" cy="955675"/>
        </p:xfrm>
        <a:graphic>
          <a:graphicData uri="http://schemas.openxmlformats.org/presentationml/2006/ole">
            <mc:AlternateContent xmlns:mc="http://schemas.openxmlformats.org/markup-compatibility/2006">
              <mc:Choice xmlns:v="urn:schemas-microsoft-com:vml" Requires="v">
                <p:oleObj spid="_x0000_s40361" r:id="rId17" imgW="1066800" imgH="431800" progId="Equation.3">
                  <p:embed/>
                </p:oleObj>
              </mc:Choice>
              <mc:Fallback>
                <p:oleObj r:id="rId17" imgW="1066800" imgH="431800" progId="Equation.3">
                  <p:embed/>
                  <p:pic>
                    <p:nvPicPr>
                      <p:cNvPr id="0" name=""/>
                      <p:cNvPicPr/>
                      <p:nvPr/>
                    </p:nvPicPr>
                    <p:blipFill>
                      <a:blip r:embed="rId18"/>
                      <a:stretch>
                        <a:fillRect/>
                      </a:stretch>
                    </p:blipFill>
                    <p:spPr>
                      <a:xfrm>
                        <a:off x="4642991" y="5190987"/>
                        <a:ext cx="2376487" cy="955675"/>
                      </a:xfrm>
                      <a:prstGeom prst="rect">
                        <a:avLst/>
                      </a:prstGeom>
                      <a:noFill/>
                      <a:ln w="38100">
                        <a:noFill/>
                        <a:miter/>
                      </a:ln>
                    </p:spPr>
                  </p:pic>
                </p:oleObj>
              </mc:Fallback>
            </mc:AlternateContent>
          </a:graphicData>
        </a:graphic>
      </p:graphicFrame>
    </p:spTree>
    <p:extLst>
      <p:ext uri="{BB962C8B-B14F-4D97-AF65-F5344CB8AC3E}">
        <p14:creationId xmlns:p14="http://schemas.microsoft.com/office/powerpoint/2010/main" val="2925673519"/>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62</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5"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2.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高频</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基础</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电路</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 name="文本占位符 478210">
            <a:extLst>
              <a:ext uri="{FF2B5EF4-FFF2-40B4-BE49-F238E27FC236}">
                <a16:creationId xmlns:a16="http://schemas.microsoft.com/office/drawing/2014/main" xmlns="" id="{48EAA370-C609-B78A-8985-28CDE785C4DB}"/>
              </a:ext>
            </a:extLst>
          </p:cNvPr>
          <p:cNvSpPr txBox="1">
            <a:spLocks/>
          </p:cNvSpPr>
          <p:nvPr/>
        </p:nvSpPr>
        <p:spPr>
          <a:xfrm>
            <a:off x="467544" y="1268760"/>
            <a:ext cx="7885113" cy="720080"/>
          </a:xfrm>
          <a:prstGeom prst="rect">
            <a:avLst/>
          </a:prstGeom>
          <a:noFill/>
          <a:ln>
            <a:noFill/>
          </a:ln>
        </p:spPr>
        <p:txBody>
          <a:bodyPr/>
          <a:lstStyle>
            <a:lvl1pPr marL="342900" indent="-342900" algn="l" rtl="0" eaLnBrk="0" fontAlgn="base" hangingPunct="0">
              <a:spcBef>
                <a:spcPct val="20000"/>
              </a:spcBef>
              <a:spcAft>
                <a:spcPct val="0"/>
              </a:spcAft>
              <a:buChar char="•"/>
              <a:defRPr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algn="just" eaLnBrk="1" hangingPunct="1">
              <a:spcBef>
                <a:spcPts val="0"/>
              </a:spcBef>
              <a:buNone/>
            </a:pPr>
            <a:r>
              <a:rPr lang="zh-CN" altLang="en-US" sz="2000" b="1" dirty="0">
                <a:latin typeface="Times New Roman" panose="02020603050405020304" pitchFamily="18" charset="0"/>
              </a:rPr>
              <a:t>例</a:t>
            </a:r>
            <a:r>
              <a:rPr lang="en-US" altLang="zh-CN" sz="2000" b="1" dirty="0">
                <a:latin typeface="Times New Roman" panose="02020603050405020304" pitchFamily="18" charset="0"/>
              </a:rPr>
              <a:t>2.4.3  </a:t>
            </a:r>
            <a:r>
              <a:rPr lang="zh-CN" altLang="en-US" sz="2000" b="1" dirty="0">
                <a:latin typeface="Times New Roman" panose="02020603050405020304" pitchFamily="18" charset="0"/>
              </a:rPr>
              <a:t>已知</a:t>
            </a:r>
            <a:r>
              <a:rPr lang="en-US" altLang="zh-CN" sz="2000" b="1" dirty="0">
                <a:latin typeface="Times New Roman" panose="02020603050405020304" pitchFamily="18" charset="0"/>
              </a:rPr>
              <a:t>T</a:t>
            </a:r>
            <a:r>
              <a:rPr lang="zh-CN" altLang="en-US" sz="2000" b="1" dirty="0">
                <a:latin typeface="Times New Roman" panose="02020603050405020304" pitchFamily="18" charset="0"/>
              </a:rPr>
              <a:t>型匹配网络如下图所示</a:t>
            </a:r>
            <a:r>
              <a:rPr lang="en-US" altLang="zh-CN" sz="2000" b="1" dirty="0">
                <a:latin typeface="Times New Roman" panose="02020603050405020304" pitchFamily="18" charset="0"/>
              </a:rPr>
              <a:t>, </a:t>
            </a:r>
            <a:r>
              <a:rPr lang="zh-CN" altLang="en-US" sz="2000" b="1" dirty="0">
                <a:latin typeface="Times New Roman" panose="02020603050405020304" pitchFamily="18" charset="0"/>
              </a:rPr>
              <a:t>信源电阻</a:t>
            </a:r>
            <a:r>
              <a:rPr lang="en-US" altLang="zh-CN" sz="2000" b="1" i="1" dirty="0">
                <a:latin typeface="Times New Roman" panose="02020603050405020304" pitchFamily="18" charset="0"/>
              </a:rPr>
              <a:t>R</a:t>
            </a:r>
            <a:r>
              <a:rPr lang="en-US" altLang="zh-CN" sz="2000" b="1" baseline="-25000" dirty="0">
                <a:latin typeface="Times New Roman" panose="02020603050405020304" pitchFamily="18" charset="0"/>
              </a:rPr>
              <a:t>1</a:t>
            </a:r>
            <a:r>
              <a:rPr lang="en-US" altLang="zh-CN" sz="2000" b="1" dirty="0">
                <a:latin typeface="Times New Roman" panose="02020603050405020304" pitchFamily="18" charset="0"/>
              </a:rPr>
              <a:t>=300Ω,</a:t>
            </a:r>
            <a:r>
              <a:rPr lang="zh-CN" altLang="en-US" sz="2000" b="1" dirty="0">
                <a:latin typeface="Times New Roman" panose="02020603050405020304" pitchFamily="18" charset="0"/>
              </a:rPr>
              <a:t>负载电阻</a:t>
            </a:r>
            <a:r>
              <a:rPr lang="en-US" altLang="zh-CN" sz="2000" b="1" i="1" dirty="0">
                <a:latin typeface="Times New Roman" panose="02020603050405020304" pitchFamily="18" charset="0"/>
              </a:rPr>
              <a:t>R</a:t>
            </a:r>
            <a:r>
              <a:rPr lang="en-US" altLang="zh-CN" sz="2000" b="1" baseline="-25000" dirty="0">
                <a:latin typeface="Times New Roman" panose="02020603050405020304" pitchFamily="18" charset="0"/>
              </a:rPr>
              <a:t>2</a:t>
            </a:r>
            <a:r>
              <a:rPr lang="en-US" altLang="zh-CN" sz="2000" b="1" dirty="0">
                <a:latin typeface="Times New Roman" panose="02020603050405020304" pitchFamily="18" charset="0"/>
              </a:rPr>
              <a:t>=50Ω, </a:t>
            </a:r>
            <a:r>
              <a:rPr lang="zh-CN" altLang="en-US" sz="2000" b="1" dirty="0">
                <a:latin typeface="Times New Roman" panose="02020603050405020304" pitchFamily="18" charset="0"/>
              </a:rPr>
              <a:t>工作频率</a:t>
            </a:r>
            <a:r>
              <a:rPr lang="en-US" altLang="zh-CN" sz="2000" b="1" i="1" dirty="0">
                <a:latin typeface="Times New Roman" panose="02020603050405020304" pitchFamily="18" charset="0"/>
              </a:rPr>
              <a:t>f</a:t>
            </a:r>
            <a:r>
              <a:rPr lang="en-US" altLang="zh-CN" sz="2000" b="1" dirty="0">
                <a:latin typeface="Times New Roman" panose="02020603050405020304" pitchFamily="18" charset="0"/>
              </a:rPr>
              <a:t>=10MHz, </a:t>
            </a:r>
            <a:r>
              <a:rPr lang="zh-CN" altLang="en-US" sz="2000" b="1" dirty="0">
                <a:latin typeface="Times New Roman" panose="02020603050405020304" pitchFamily="18" charset="0"/>
              </a:rPr>
              <a:t>通频带为</a:t>
            </a:r>
            <a:r>
              <a:rPr lang="en-US" altLang="zh-CN" sz="2000" b="1" dirty="0">
                <a:latin typeface="Times New Roman" panose="02020603050405020304" pitchFamily="18" charset="0"/>
              </a:rPr>
              <a:t>2MHz,</a:t>
            </a:r>
            <a:r>
              <a:rPr lang="zh-CN" altLang="en-US" sz="2000" b="1" dirty="0">
                <a:latin typeface="Times New Roman" panose="02020603050405020304" pitchFamily="18" charset="0"/>
              </a:rPr>
              <a:t>试求网络中各元件值</a:t>
            </a:r>
            <a:r>
              <a:rPr lang="zh-CN" altLang="en-US" sz="2000" b="1" dirty="0">
                <a:latin typeface="Times New Roman" panose="02020603050405020304" pitchFamily="18" charset="0"/>
                <a:ea typeface="楷体_GB2312" panose="02010609030101010101" pitchFamily="49" charset="-122"/>
              </a:rPr>
              <a:t>。</a:t>
            </a:r>
          </a:p>
        </p:txBody>
      </p:sp>
      <p:pic>
        <p:nvPicPr>
          <p:cNvPr id="7" name="图片 614403" descr="AA)">
            <a:extLst>
              <a:ext uri="{FF2B5EF4-FFF2-40B4-BE49-F238E27FC236}">
                <a16:creationId xmlns:a16="http://schemas.microsoft.com/office/drawing/2014/main" xmlns="" id="{0ABB972C-9F72-6799-8E0E-96327B56ACA2}"/>
              </a:ext>
            </a:extLst>
          </p:cNvPr>
          <p:cNvPicPr>
            <a:picLocks noChangeAspect="1"/>
          </p:cNvPicPr>
          <p:nvPr/>
        </p:nvPicPr>
        <p:blipFill>
          <a:blip r:embed="rId3"/>
          <a:stretch>
            <a:fillRect/>
          </a:stretch>
        </p:blipFill>
        <p:spPr>
          <a:xfrm>
            <a:off x="1669256" y="2034878"/>
            <a:ext cx="5805488" cy="1714500"/>
          </a:xfrm>
          <a:prstGeom prst="rect">
            <a:avLst/>
          </a:prstGeom>
          <a:noFill/>
          <a:ln w="9525">
            <a:noFill/>
          </a:ln>
        </p:spPr>
      </p:pic>
      <p:sp>
        <p:nvSpPr>
          <p:cNvPr id="8" name="文本占位符 478210">
            <a:extLst>
              <a:ext uri="{FF2B5EF4-FFF2-40B4-BE49-F238E27FC236}">
                <a16:creationId xmlns:a16="http://schemas.microsoft.com/office/drawing/2014/main" xmlns="" id="{A3F08A68-6598-058D-EA70-B329CE8A4F25}"/>
              </a:ext>
            </a:extLst>
          </p:cNvPr>
          <p:cNvSpPr txBox="1">
            <a:spLocks/>
          </p:cNvSpPr>
          <p:nvPr/>
        </p:nvSpPr>
        <p:spPr>
          <a:xfrm>
            <a:off x="467544" y="3945929"/>
            <a:ext cx="7885113" cy="720080"/>
          </a:xfrm>
          <a:prstGeom prst="rect">
            <a:avLst/>
          </a:prstGeom>
          <a:noFill/>
          <a:ln>
            <a:noFill/>
          </a:ln>
        </p:spPr>
        <p:txBody>
          <a:bodyPr/>
          <a:lstStyle>
            <a:lvl1pPr marL="342900" indent="-342900" algn="l" rtl="0" eaLnBrk="0" fontAlgn="base" hangingPunct="0">
              <a:spcBef>
                <a:spcPct val="20000"/>
              </a:spcBef>
              <a:spcAft>
                <a:spcPct val="0"/>
              </a:spcAft>
              <a:buChar char="•"/>
              <a:defRPr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algn="just" eaLnBrk="1" hangingPunct="1">
              <a:spcBef>
                <a:spcPts val="0"/>
              </a:spcBef>
              <a:buNone/>
            </a:pPr>
            <a:r>
              <a:rPr lang="zh-CN" altLang="en-US" sz="2000" dirty="0">
                <a:latin typeface="Times New Roman" panose="02020603050405020304" pitchFamily="18" charset="0"/>
              </a:rPr>
              <a:t>题意分析：</a:t>
            </a:r>
            <a:r>
              <a:rPr lang="zh-CN" altLang="en-US" sz="2000" dirty="0">
                <a:solidFill>
                  <a:srgbClr val="FF0000"/>
                </a:solidFill>
                <a:latin typeface="Times New Roman" panose="02020603050405020304" pitchFamily="18" charset="0"/>
              </a:rPr>
              <a:t>关键是</a:t>
            </a:r>
            <a:r>
              <a:rPr lang="en-US" altLang="zh-CN" sz="2000" dirty="0" err="1">
                <a:solidFill>
                  <a:srgbClr val="FF0000"/>
                </a:solidFill>
                <a:latin typeface="Times New Roman" panose="02020603050405020304" pitchFamily="18" charset="0"/>
              </a:rPr>
              <a:t>Qmax</a:t>
            </a:r>
            <a:r>
              <a:rPr lang="zh-CN" altLang="en-US" sz="2000" dirty="0">
                <a:solidFill>
                  <a:srgbClr val="FF0000"/>
                </a:solidFill>
                <a:latin typeface="Times New Roman" panose="02020603050405020304" pitchFamily="18" charset="0"/>
              </a:rPr>
              <a:t>的选取</a:t>
            </a:r>
            <a:r>
              <a:rPr lang="en-US" altLang="zh-CN" sz="2000" dirty="0">
                <a:solidFill>
                  <a:srgbClr val="FF0000"/>
                </a:solidFill>
                <a:latin typeface="Times New Roman" panose="02020603050405020304" pitchFamily="18" charset="0"/>
              </a:rPr>
              <a:t>,</a:t>
            </a:r>
            <a:r>
              <a:rPr lang="zh-CN" altLang="en-US" sz="2000" dirty="0">
                <a:solidFill>
                  <a:srgbClr val="FF0000"/>
                </a:solidFill>
                <a:latin typeface="Times New Roman" panose="02020603050405020304" pitchFamily="18" charset="0"/>
              </a:rPr>
              <a:t>有通频带要求</a:t>
            </a:r>
            <a:r>
              <a:rPr lang="en-US" altLang="zh-CN" sz="2000" dirty="0">
                <a:solidFill>
                  <a:srgbClr val="FF0000"/>
                </a:solidFill>
                <a:latin typeface="Times New Roman" panose="02020603050405020304" pitchFamily="18" charset="0"/>
              </a:rPr>
              <a:t>,</a:t>
            </a:r>
            <a:r>
              <a:rPr lang="zh-CN" altLang="en-US" sz="2000" dirty="0">
                <a:solidFill>
                  <a:srgbClr val="FF0000"/>
                </a:solidFill>
                <a:latin typeface="Times New Roman" panose="02020603050405020304" pitchFamily="18" charset="0"/>
              </a:rPr>
              <a:t>则由通频带确定</a:t>
            </a:r>
            <a:r>
              <a:rPr lang="en-US" altLang="zh-CN" sz="2000" dirty="0">
                <a:solidFill>
                  <a:srgbClr val="FF0000"/>
                </a:solidFill>
                <a:latin typeface="Times New Roman" panose="02020603050405020304" pitchFamily="18" charset="0"/>
              </a:rPr>
              <a:t>,</a:t>
            </a:r>
            <a:r>
              <a:rPr lang="en-US" altLang="zh-CN" sz="2000" dirty="0" err="1">
                <a:latin typeface="Times New Roman" panose="02020603050405020304" pitchFamily="18" charset="0"/>
              </a:rPr>
              <a:t>Qmax</a:t>
            </a:r>
            <a:r>
              <a:rPr lang="en-US" altLang="zh-CN" sz="2000" dirty="0">
                <a:latin typeface="Times New Roman" panose="02020603050405020304" pitchFamily="18" charset="0"/>
              </a:rPr>
              <a:t> =2Q</a:t>
            </a:r>
            <a:r>
              <a:rPr lang="en-US" altLang="zh-CN" sz="2000" baseline="-25000" dirty="0">
                <a:latin typeface="Times New Roman" panose="02020603050405020304" pitchFamily="18" charset="0"/>
              </a:rPr>
              <a:t>L</a:t>
            </a:r>
            <a:r>
              <a:rPr lang="en-US" altLang="zh-CN" sz="2000" dirty="0">
                <a:latin typeface="Times New Roman" panose="02020603050405020304" pitchFamily="18" charset="0"/>
              </a:rPr>
              <a:t>=                        </a:t>
            </a:r>
            <a:r>
              <a:rPr lang="zh-CN" altLang="en-US" sz="2000" dirty="0">
                <a:solidFill>
                  <a:srgbClr val="FF0000"/>
                </a:solidFill>
                <a:latin typeface="Times New Roman" panose="02020603050405020304" pitchFamily="18" charset="0"/>
              </a:rPr>
              <a:t>。</a:t>
            </a:r>
            <a:r>
              <a:rPr lang="zh-CN" altLang="en-US" sz="2000" dirty="0">
                <a:solidFill>
                  <a:schemeClr val="accent2"/>
                </a:solidFill>
                <a:latin typeface="Times New Roman" panose="02020603050405020304" pitchFamily="18" charset="0"/>
              </a:rPr>
              <a:t>没有通频带要求</a:t>
            </a:r>
            <a:r>
              <a:rPr lang="en-US" altLang="zh-CN" sz="2000" dirty="0">
                <a:solidFill>
                  <a:schemeClr val="accent2"/>
                </a:solidFill>
                <a:latin typeface="Times New Roman" panose="02020603050405020304" pitchFamily="18" charset="0"/>
              </a:rPr>
              <a:t>,</a:t>
            </a:r>
            <a:r>
              <a:rPr lang="zh-CN" altLang="en-US" sz="2000" dirty="0">
                <a:solidFill>
                  <a:schemeClr val="accent2"/>
                </a:solidFill>
                <a:latin typeface="Times New Roman" panose="02020603050405020304" pitchFamily="18" charset="0"/>
              </a:rPr>
              <a:t>可自选。</a:t>
            </a:r>
            <a:r>
              <a:rPr lang="zh-CN" altLang="en-US" sz="2000" dirty="0">
                <a:solidFill>
                  <a:srgbClr val="FF0000"/>
                </a:solidFill>
                <a:latin typeface="Times New Roman" panose="02020603050405020304" pitchFamily="18" charset="0"/>
              </a:rPr>
              <a:t>但都必须满足</a:t>
            </a:r>
            <a:r>
              <a:rPr lang="en-US" altLang="zh-CN" sz="2000" dirty="0">
                <a:solidFill>
                  <a:srgbClr val="FF0000"/>
                </a:solidFill>
                <a:latin typeface="Times New Roman" panose="02020603050405020304" pitchFamily="18" charset="0"/>
              </a:rPr>
              <a:t>: </a:t>
            </a:r>
            <a:endParaRPr lang="zh-CN" altLang="en-US" sz="2000" dirty="0">
              <a:solidFill>
                <a:srgbClr val="FF0000"/>
              </a:solidFill>
              <a:latin typeface="Times New Roman" panose="02020603050405020304" pitchFamily="18" charset="0"/>
            </a:endParaRPr>
          </a:p>
        </p:txBody>
      </p:sp>
      <p:graphicFrame>
        <p:nvGraphicFramePr>
          <p:cNvPr id="9" name="对象 8">
            <a:extLst>
              <a:ext uri="{FF2B5EF4-FFF2-40B4-BE49-F238E27FC236}">
                <a16:creationId xmlns:a16="http://schemas.microsoft.com/office/drawing/2014/main" xmlns="" id="{CEBEE3FF-EBA6-F741-46E9-07CF62CF498F}"/>
              </a:ext>
            </a:extLst>
          </p:cNvPr>
          <p:cNvGraphicFramePr>
            <a:graphicFrameLocks noChangeAspect="1"/>
          </p:cNvGraphicFramePr>
          <p:nvPr>
            <p:extLst>
              <p:ext uri="{D42A27DB-BD31-4B8C-83A1-F6EECF244321}">
                <p14:modId xmlns:p14="http://schemas.microsoft.com/office/powerpoint/2010/main" val="4243286969"/>
              </p:ext>
            </p:extLst>
          </p:nvPr>
        </p:nvGraphicFramePr>
        <p:xfrm>
          <a:off x="1246566" y="4244527"/>
          <a:ext cx="1582737" cy="474663"/>
        </p:xfrm>
        <a:graphic>
          <a:graphicData uri="http://schemas.openxmlformats.org/presentationml/2006/ole">
            <mc:AlternateContent xmlns:mc="http://schemas.openxmlformats.org/markup-compatibility/2006">
              <mc:Choice xmlns:v="urn:schemas-microsoft-com:vml" Requires="v">
                <p:oleObj spid="_x0000_s41118" name="Equation" r:id="rId4" imgW="1583398" imgH="474137" progId="Equation.DSMT4">
                  <p:embed/>
                </p:oleObj>
              </mc:Choice>
              <mc:Fallback>
                <p:oleObj name="Equation" r:id="rId4" imgW="1583398" imgH="474137" progId="Equation.DSMT4">
                  <p:embed/>
                  <p:pic>
                    <p:nvPicPr>
                      <p:cNvPr id="0" name=""/>
                      <p:cNvPicPr/>
                      <p:nvPr/>
                    </p:nvPicPr>
                    <p:blipFill>
                      <a:blip r:embed="rId5"/>
                      <a:stretch>
                        <a:fillRect/>
                      </a:stretch>
                    </p:blipFill>
                    <p:spPr>
                      <a:xfrm>
                        <a:off x="1246566" y="4244527"/>
                        <a:ext cx="1582737" cy="474663"/>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xmlns="" id="{3304DDE9-44E4-EBB5-28AE-5B841301D070}"/>
              </a:ext>
            </a:extLst>
          </p:cNvPr>
          <p:cNvGraphicFramePr>
            <a:graphicFrameLocks noChangeAspect="1"/>
          </p:cNvGraphicFramePr>
          <p:nvPr>
            <p:extLst>
              <p:ext uri="{D42A27DB-BD31-4B8C-83A1-F6EECF244321}">
                <p14:modId xmlns:p14="http://schemas.microsoft.com/office/powerpoint/2010/main" val="1547601852"/>
              </p:ext>
            </p:extLst>
          </p:nvPr>
        </p:nvGraphicFramePr>
        <p:xfrm>
          <a:off x="2818867" y="4665043"/>
          <a:ext cx="2592387" cy="592137"/>
        </p:xfrm>
        <a:graphic>
          <a:graphicData uri="http://schemas.openxmlformats.org/presentationml/2006/ole">
            <mc:AlternateContent xmlns:mc="http://schemas.openxmlformats.org/markup-compatibility/2006">
              <mc:Choice xmlns:v="urn:schemas-microsoft-com:vml" Requires="v">
                <p:oleObj spid="_x0000_s41119" name="Equation" r:id="rId6" imgW="2592553" imgH="591501" progId="Equation.DSMT4">
                  <p:embed/>
                </p:oleObj>
              </mc:Choice>
              <mc:Fallback>
                <p:oleObj name="Equation" r:id="rId6" imgW="2592553" imgH="591501" progId="Equation.DSMT4">
                  <p:embed/>
                  <p:pic>
                    <p:nvPicPr>
                      <p:cNvPr id="0" name=""/>
                      <p:cNvPicPr/>
                      <p:nvPr/>
                    </p:nvPicPr>
                    <p:blipFill>
                      <a:blip r:embed="rId7"/>
                      <a:stretch>
                        <a:fillRect/>
                      </a:stretch>
                    </p:blipFill>
                    <p:spPr>
                      <a:xfrm>
                        <a:off x="2818867" y="4665043"/>
                        <a:ext cx="2592387" cy="592137"/>
                      </a:xfrm>
                      <a:prstGeom prst="rect">
                        <a:avLst/>
                      </a:prstGeom>
                    </p:spPr>
                  </p:pic>
                </p:oleObj>
              </mc:Fallback>
            </mc:AlternateContent>
          </a:graphicData>
        </a:graphic>
      </p:graphicFrame>
      <p:sp>
        <p:nvSpPr>
          <p:cNvPr id="11" name="文本占位符 478210">
            <a:extLst>
              <a:ext uri="{FF2B5EF4-FFF2-40B4-BE49-F238E27FC236}">
                <a16:creationId xmlns:a16="http://schemas.microsoft.com/office/drawing/2014/main" xmlns="" id="{9B9297F4-A06F-EC1F-DA6F-44DC60ACE76F}"/>
              </a:ext>
            </a:extLst>
          </p:cNvPr>
          <p:cNvSpPr txBox="1">
            <a:spLocks/>
          </p:cNvSpPr>
          <p:nvPr/>
        </p:nvSpPr>
        <p:spPr>
          <a:xfrm>
            <a:off x="467544" y="5287942"/>
            <a:ext cx="7885113" cy="720080"/>
          </a:xfrm>
          <a:prstGeom prst="rect">
            <a:avLst/>
          </a:prstGeom>
          <a:noFill/>
          <a:ln>
            <a:noFill/>
          </a:ln>
        </p:spPr>
        <p:txBody>
          <a:bodyPr/>
          <a:lstStyle>
            <a:lvl1pPr marL="342900" indent="-342900" algn="l" rtl="0" eaLnBrk="0" fontAlgn="base" hangingPunct="0">
              <a:spcBef>
                <a:spcPct val="20000"/>
              </a:spcBef>
              <a:spcAft>
                <a:spcPct val="0"/>
              </a:spcAft>
              <a:buChar char="•"/>
              <a:defRPr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algn="just" eaLnBrk="1" hangingPunct="1">
              <a:spcBef>
                <a:spcPts val="0"/>
              </a:spcBef>
              <a:buNone/>
            </a:pPr>
            <a:r>
              <a:rPr lang="zh-CN" altLang="en-US" sz="2000" dirty="0">
                <a:latin typeface="+mn-ea"/>
              </a:rPr>
              <a:t>设</a:t>
            </a:r>
            <a:r>
              <a:rPr lang="en-US" altLang="zh-CN" sz="2000" i="1" dirty="0">
                <a:latin typeface="+mn-ea"/>
              </a:rPr>
              <a:t>L</a:t>
            </a:r>
            <a:r>
              <a:rPr lang="zh-CN" altLang="en-US" sz="2000" dirty="0">
                <a:latin typeface="+mn-ea"/>
              </a:rPr>
              <a:t>为</a:t>
            </a:r>
            <a:r>
              <a:rPr lang="en-US" altLang="zh-CN" sz="2000" i="1" dirty="0">
                <a:latin typeface="+mn-ea"/>
              </a:rPr>
              <a:t>L</a:t>
            </a:r>
            <a:r>
              <a:rPr lang="en-US" altLang="zh-CN" sz="2000" baseline="-25000" dirty="0">
                <a:latin typeface="+mn-ea"/>
              </a:rPr>
              <a:t>1</a:t>
            </a:r>
            <a:r>
              <a:rPr lang="zh-CN" altLang="en-US" sz="2000" dirty="0">
                <a:latin typeface="+mn-ea"/>
              </a:rPr>
              <a:t>和</a:t>
            </a:r>
            <a:r>
              <a:rPr lang="en-US" altLang="zh-CN" sz="2000" i="1" dirty="0">
                <a:latin typeface="+mn-ea"/>
              </a:rPr>
              <a:t>L</a:t>
            </a:r>
            <a:r>
              <a:rPr lang="en-US" altLang="zh-CN" sz="2000" baseline="-25000" dirty="0">
                <a:latin typeface="+mn-ea"/>
              </a:rPr>
              <a:t>2</a:t>
            </a:r>
            <a:r>
              <a:rPr lang="zh-CN" altLang="en-US" sz="2000" dirty="0">
                <a:latin typeface="+mn-ea"/>
              </a:rPr>
              <a:t>并联</a:t>
            </a:r>
            <a:r>
              <a:rPr lang="en-US" altLang="zh-CN" sz="2000" dirty="0">
                <a:latin typeface="+mn-ea"/>
              </a:rPr>
              <a:t>,</a:t>
            </a:r>
            <a:r>
              <a:rPr lang="zh-CN" altLang="en-US" sz="2000" dirty="0">
                <a:latin typeface="+mn-ea"/>
              </a:rPr>
              <a:t>即</a:t>
            </a:r>
          </a:p>
        </p:txBody>
      </p:sp>
      <p:graphicFrame>
        <p:nvGraphicFramePr>
          <p:cNvPr id="12" name="对象 11">
            <a:extLst>
              <a:ext uri="{FF2B5EF4-FFF2-40B4-BE49-F238E27FC236}">
                <a16:creationId xmlns:a16="http://schemas.microsoft.com/office/drawing/2014/main" xmlns="" id="{B1DE8604-2C98-F26A-B651-61414906B9EE}"/>
              </a:ext>
            </a:extLst>
          </p:cNvPr>
          <p:cNvGraphicFramePr>
            <a:graphicFrameLocks noChangeAspect="1"/>
          </p:cNvGraphicFramePr>
          <p:nvPr>
            <p:extLst>
              <p:ext uri="{D42A27DB-BD31-4B8C-83A1-F6EECF244321}">
                <p14:modId xmlns:p14="http://schemas.microsoft.com/office/powerpoint/2010/main" val="3281844880"/>
              </p:ext>
            </p:extLst>
          </p:nvPr>
        </p:nvGraphicFramePr>
        <p:xfrm>
          <a:off x="2818867" y="5585217"/>
          <a:ext cx="3889375" cy="520700"/>
        </p:xfrm>
        <a:graphic>
          <a:graphicData uri="http://schemas.openxmlformats.org/presentationml/2006/ole">
            <mc:AlternateContent xmlns:mc="http://schemas.openxmlformats.org/markup-compatibility/2006">
              <mc:Choice xmlns:v="urn:schemas-microsoft-com:vml" Requires="v">
                <p:oleObj spid="_x0000_s41120" name="Equation" r:id="rId8" imgW="3889370" imgH="521299" progId="Equation.DSMT4">
                  <p:embed/>
                </p:oleObj>
              </mc:Choice>
              <mc:Fallback>
                <p:oleObj name="Equation" r:id="rId8" imgW="3889370" imgH="521299" progId="Equation.DSMT4">
                  <p:embed/>
                  <p:pic>
                    <p:nvPicPr>
                      <p:cNvPr id="0" name=""/>
                      <p:cNvPicPr/>
                      <p:nvPr/>
                    </p:nvPicPr>
                    <p:blipFill>
                      <a:blip r:embed="rId9"/>
                      <a:stretch>
                        <a:fillRect/>
                      </a:stretch>
                    </p:blipFill>
                    <p:spPr>
                      <a:xfrm>
                        <a:off x="2818867" y="5585217"/>
                        <a:ext cx="3889375" cy="520700"/>
                      </a:xfrm>
                      <a:prstGeom prst="rect">
                        <a:avLst/>
                      </a:prstGeom>
                    </p:spPr>
                  </p:pic>
                </p:oleObj>
              </mc:Fallback>
            </mc:AlternateContent>
          </a:graphicData>
        </a:graphic>
      </p:graphicFrame>
    </p:spTree>
    <p:extLst>
      <p:ext uri="{BB962C8B-B14F-4D97-AF65-F5344CB8AC3E}">
        <p14:creationId xmlns:p14="http://schemas.microsoft.com/office/powerpoint/2010/main" val="888642915"/>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63</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5"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2.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高频</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基础</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电路</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 name="文本占位符 478210">
            <a:extLst>
              <a:ext uri="{FF2B5EF4-FFF2-40B4-BE49-F238E27FC236}">
                <a16:creationId xmlns:a16="http://schemas.microsoft.com/office/drawing/2014/main" xmlns="" id="{D8B896CC-A8F9-B4A6-17A0-7416C3CA9449}"/>
              </a:ext>
            </a:extLst>
          </p:cNvPr>
          <p:cNvSpPr txBox="1">
            <a:spLocks/>
          </p:cNvSpPr>
          <p:nvPr/>
        </p:nvSpPr>
        <p:spPr>
          <a:xfrm>
            <a:off x="467544" y="1268760"/>
            <a:ext cx="7885113" cy="720080"/>
          </a:xfrm>
          <a:prstGeom prst="rect">
            <a:avLst/>
          </a:prstGeom>
          <a:noFill/>
          <a:ln>
            <a:noFill/>
          </a:ln>
        </p:spPr>
        <p:txBody>
          <a:bodyPr/>
          <a:lstStyle>
            <a:lvl1pPr marL="342900" indent="-342900" algn="l" rtl="0" eaLnBrk="0" fontAlgn="base" hangingPunct="0">
              <a:spcBef>
                <a:spcPct val="20000"/>
              </a:spcBef>
              <a:spcAft>
                <a:spcPct val="0"/>
              </a:spcAft>
              <a:buChar char="•"/>
              <a:defRPr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algn="just" eaLnBrk="1" hangingPunct="1">
              <a:spcBef>
                <a:spcPts val="0"/>
              </a:spcBef>
              <a:buNone/>
            </a:pPr>
            <a:r>
              <a:rPr lang="zh-CN" altLang="en-US" sz="2000" dirty="0">
                <a:latin typeface="Times New Roman" panose="02020603050405020304" pitchFamily="18" charset="0"/>
              </a:rPr>
              <a:t>解：对于</a:t>
            </a:r>
            <a:r>
              <a:rPr lang="en-US" altLang="zh-CN" sz="2000" dirty="0">
                <a:latin typeface="Times New Roman" panose="02020603050405020304" pitchFamily="18" charset="0"/>
              </a:rPr>
              <a:t>T</a:t>
            </a:r>
            <a:r>
              <a:rPr lang="zh-CN" altLang="en-US" sz="2000" dirty="0">
                <a:latin typeface="Times New Roman" panose="02020603050405020304" pitchFamily="18" charset="0"/>
              </a:rPr>
              <a:t>型网络</a:t>
            </a:r>
            <a:r>
              <a:rPr lang="en-US" altLang="zh-CN" sz="2000" dirty="0">
                <a:latin typeface="Times New Roman" panose="02020603050405020304" pitchFamily="18" charset="0"/>
              </a:rPr>
              <a:t>,R</a:t>
            </a:r>
            <a:r>
              <a:rPr lang="en-US" altLang="zh-CN" sz="2000" baseline="-25000" dirty="0">
                <a:latin typeface="Times New Roman" panose="02020603050405020304" pitchFamily="18" charset="0"/>
              </a:rPr>
              <a:t>1</a:t>
            </a:r>
            <a:r>
              <a:rPr lang="en-US" altLang="zh-CN" sz="2000" dirty="0">
                <a:latin typeface="Times New Roman" panose="02020603050405020304" pitchFamily="18" charset="0"/>
              </a:rPr>
              <a:t>&gt;R</a:t>
            </a:r>
            <a:r>
              <a:rPr lang="en-US" altLang="zh-CN" sz="2000" baseline="-25000" dirty="0">
                <a:latin typeface="Times New Roman" panose="02020603050405020304" pitchFamily="18" charset="0"/>
              </a:rPr>
              <a:t>2</a:t>
            </a:r>
            <a:r>
              <a:rPr lang="zh-CN" altLang="en-US" sz="2000" dirty="0">
                <a:latin typeface="Times New Roman" panose="02020603050405020304" pitchFamily="18" charset="0"/>
              </a:rPr>
              <a:t>时</a:t>
            </a:r>
            <a:r>
              <a:rPr lang="en-US" altLang="zh-CN" sz="2000" dirty="0">
                <a:latin typeface="Times New Roman" panose="02020603050405020304" pitchFamily="18" charset="0"/>
              </a:rPr>
              <a:t>Q</a:t>
            </a:r>
            <a:r>
              <a:rPr lang="en-US" altLang="zh-CN" sz="2000" baseline="-25000" dirty="0">
                <a:latin typeface="Times New Roman" panose="02020603050405020304" pitchFamily="18" charset="0"/>
              </a:rPr>
              <a:t>2</a:t>
            </a:r>
            <a:r>
              <a:rPr lang="en-US" altLang="zh-CN" sz="2000" dirty="0">
                <a:latin typeface="Times New Roman" panose="02020603050405020304" pitchFamily="18" charset="0"/>
              </a:rPr>
              <a:t>&gt;Q</a:t>
            </a:r>
            <a:r>
              <a:rPr lang="en-US" altLang="zh-CN" sz="2000" baseline="-25000" dirty="0">
                <a:latin typeface="Times New Roman" panose="02020603050405020304" pitchFamily="18" charset="0"/>
              </a:rPr>
              <a:t>1</a:t>
            </a:r>
            <a:r>
              <a:rPr lang="en-US" altLang="zh-CN" sz="2000" dirty="0">
                <a:latin typeface="Times New Roman" panose="02020603050405020304" pitchFamily="18" charset="0"/>
              </a:rPr>
              <a:t>,</a:t>
            </a:r>
            <a:r>
              <a:rPr lang="zh-CN" altLang="en-US" sz="2000" dirty="0">
                <a:latin typeface="Times New Roman" panose="02020603050405020304" pitchFamily="18" charset="0"/>
              </a:rPr>
              <a:t>从</a:t>
            </a:r>
            <a:r>
              <a:rPr lang="en-US" altLang="zh-CN" sz="2000" dirty="0">
                <a:latin typeface="Times New Roman" panose="02020603050405020304" pitchFamily="18" charset="0"/>
              </a:rPr>
              <a:t>R</a:t>
            </a:r>
            <a:r>
              <a:rPr lang="en-US" altLang="zh-CN" sz="2000" baseline="-25000" dirty="0">
                <a:latin typeface="Times New Roman" panose="02020603050405020304" pitchFamily="18" charset="0"/>
              </a:rPr>
              <a:t>2</a:t>
            </a:r>
            <a:r>
              <a:rPr lang="zh-CN" altLang="en-US" sz="2000" dirty="0">
                <a:latin typeface="Times New Roman" panose="02020603050405020304" pitchFamily="18" charset="0"/>
              </a:rPr>
              <a:t>端开始计算</a:t>
            </a:r>
            <a:endParaRPr lang="zh-CN" altLang="en-US" sz="2000" dirty="0">
              <a:latin typeface="Times New Roman" panose="02020603050405020304" pitchFamily="18" charset="0"/>
              <a:ea typeface="楷体_GB2312" panose="02010609030101010101" pitchFamily="49" charset="-122"/>
            </a:endParaRPr>
          </a:p>
        </p:txBody>
      </p:sp>
      <p:graphicFrame>
        <p:nvGraphicFramePr>
          <p:cNvPr id="7" name="对象 6">
            <a:extLst>
              <a:ext uri="{FF2B5EF4-FFF2-40B4-BE49-F238E27FC236}">
                <a16:creationId xmlns:a16="http://schemas.microsoft.com/office/drawing/2014/main" xmlns="" id="{CCDCE2F0-8264-327E-1BDE-A03D5D91CC1D}"/>
              </a:ext>
            </a:extLst>
          </p:cNvPr>
          <p:cNvGraphicFramePr>
            <a:graphicFrameLocks noChangeAspect="1"/>
          </p:cNvGraphicFramePr>
          <p:nvPr>
            <p:extLst>
              <p:ext uri="{D42A27DB-BD31-4B8C-83A1-F6EECF244321}">
                <p14:modId xmlns:p14="http://schemas.microsoft.com/office/powerpoint/2010/main" val="1288803325"/>
              </p:ext>
            </p:extLst>
          </p:nvPr>
        </p:nvGraphicFramePr>
        <p:xfrm>
          <a:off x="1881037" y="1755177"/>
          <a:ext cx="5471989" cy="467326"/>
        </p:xfrm>
        <a:graphic>
          <a:graphicData uri="http://schemas.openxmlformats.org/presentationml/2006/ole">
            <mc:AlternateContent xmlns:mc="http://schemas.openxmlformats.org/markup-compatibility/2006">
              <mc:Choice xmlns:v="urn:schemas-microsoft-com:vml" Requires="v">
                <p:oleObj spid="_x0000_s42298" name="Equation" r:id="rId3" imgW="5687704" imgH="486377" progId="Equation.DSMT4">
                  <p:embed/>
                </p:oleObj>
              </mc:Choice>
              <mc:Fallback>
                <p:oleObj name="Equation" r:id="rId3" imgW="5687704" imgH="486377" progId="Equation.DSMT4">
                  <p:embed/>
                  <p:pic>
                    <p:nvPicPr>
                      <p:cNvPr id="0" name=""/>
                      <p:cNvPicPr/>
                      <p:nvPr/>
                    </p:nvPicPr>
                    <p:blipFill>
                      <a:blip r:embed="rId4"/>
                      <a:stretch>
                        <a:fillRect/>
                      </a:stretch>
                    </p:blipFill>
                    <p:spPr>
                      <a:xfrm>
                        <a:off x="1881037" y="1755177"/>
                        <a:ext cx="5471989" cy="467326"/>
                      </a:xfrm>
                      <a:prstGeom prst="rect">
                        <a:avLst/>
                      </a:prstGeom>
                    </p:spPr>
                  </p:pic>
                </p:oleObj>
              </mc:Fallback>
            </mc:AlternateContent>
          </a:graphicData>
        </a:graphic>
      </p:graphicFrame>
      <p:sp>
        <p:nvSpPr>
          <p:cNvPr id="8" name="文本占位符 478210">
            <a:extLst>
              <a:ext uri="{FF2B5EF4-FFF2-40B4-BE49-F238E27FC236}">
                <a16:creationId xmlns:a16="http://schemas.microsoft.com/office/drawing/2014/main" xmlns="" id="{89AE7E4A-D641-E13B-05D7-2ABDC7C83DC4}"/>
              </a:ext>
            </a:extLst>
          </p:cNvPr>
          <p:cNvSpPr txBox="1">
            <a:spLocks/>
          </p:cNvSpPr>
          <p:nvPr/>
        </p:nvSpPr>
        <p:spPr>
          <a:xfrm>
            <a:off x="469126" y="2402417"/>
            <a:ext cx="7885113" cy="720080"/>
          </a:xfrm>
          <a:prstGeom prst="rect">
            <a:avLst/>
          </a:prstGeom>
          <a:noFill/>
          <a:ln>
            <a:noFill/>
          </a:ln>
        </p:spPr>
        <p:txBody>
          <a:bodyPr/>
          <a:lstStyle>
            <a:lvl1pPr marL="342900" indent="-342900" algn="l" rtl="0" eaLnBrk="0" fontAlgn="base" hangingPunct="0">
              <a:spcBef>
                <a:spcPct val="20000"/>
              </a:spcBef>
              <a:spcAft>
                <a:spcPct val="0"/>
              </a:spcAft>
              <a:buChar char="•"/>
              <a:defRPr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algn="just" eaLnBrk="1" hangingPunct="1">
              <a:spcBef>
                <a:spcPts val="0"/>
              </a:spcBef>
              <a:buNone/>
            </a:pPr>
            <a:r>
              <a:rPr lang="zh-CN" altLang="en-US" sz="2000" dirty="0">
                <a:latin typeface="Times New Roman" panose="02020603050405020304" pitchFamily="18" charset="0"/>
              </a:rPr>
              <a:t>满足                                              的条件。</a:t>
            </a:r>
          </a:p>
        </p:txBody>
      </p:sp>
      <p:graphicFrame>
        <p:nvGraphicFramePr>
          <p:cNvPr id="9" name="对象 8">
            <a:extLst>
              <a:ext uri="{FF2B5EF4-FFF2-40B4-BE49-F238E27FC236}">
                <a16:creationId xmlns:a16="http://schemas.microsoft.com/office/drawing/2014/main" xmlns="" id="{34A488FB-906D-F36F-6130-AD1F3E257A31}"/>
              </a:ext>
            </a:extLst>
          </p:cNvPr>
          <p:cNvGraphicFramePr>
            <a:graphicFrameLocks noChangeAspect="1"/>
          </p:cNvGraphicFramePr>
          <p:nvPr>
            <p:extLst>
              <p:ext uri="{D42A27DB-BD31-4B8C-83A1-F6EECF244321}">
                <p14:modId xmlns:p14="http://schemas.microsoft.com/office/powerpoint/2010/main" val="865460754"/>
              </p:ext>
            </p:extLst>
          </p:nvPr>
        </p:nvGraphicFramePr>
        <p:xfrm>
          <a:off x="1117199" y="2313196"/>
          <a:ext cx="2853343" cy="491401"/>
        </p:xfrm>
        <a:graphic>
          <a:graphicData uri="http://schemas.openxmlformats.org/presentationml/2006/ole">
            <mc:AlternateContent xmlns:mc="http://schemas.openxmlformats.org/markup-compatibility/2006">
              <mc:Choice xmlns:v="urn:schemas-microsoft-com:vml" Requires="v">
                <p:oleObj spid="_x0000_s42299" name="Equation" r:id="rId5" imgW="3096951" imgH="533539" progId="Equation.DSMT4">
                  <p:embed/>
                </p:oleObj>
              </mc:Choice>
              <mc:Fallback>
                <p:oleObj name="Equation" r:id="rId5" imgW="3096951" imgH="533539" progId="Equation.DSMT4">
                  <p:embed/>
                  <p:pic>
                    <p:nvPicPr>
                      <p:cNvPr id="0" name=""/>
                      <p:cNvPicPr/>
                      <p:nvPr/>
                    </p:nvPicPr>
                    <p:blipFill>
                      <a:blip r:embed="rId6"/>
                      <a:stretch>
                        <a:fillRect/>
                      </a:stretch>
                    </p:blipFill>
                    <p:spPr>
                      <a:xfrm>
                        <a:off x="1117199" y="2313196"/>
                        <a:ext cx="2853343" cy="491401"/>
                      </a:xfrm>
                      <a:prstGeom prst="rect">
                        <a:avLst/>
                      </a:prstGeom>
                    </p:spPr>
                  </p:pic>
                </p:oleObj>
              </mc:Fallback>
            </mc:AlternateContent>
          </a:graphicData>
        </a:graphic>
      </p:graphicFrame>
      <p:sp>
        <p:nvSpPr>
          <p:cNvPr id="10" name="文本占位符 478210">
            <a:extLst>
              <a:ext uri="{FF2B5EF4-FFF2-40B4-BE49-F238E27FC236}">
                <a16:creationId xmlns:a16="http://schemas.microsoft.com/office/drawing/2014/main" xmlns="" id="{08B1FB58-BDAC-B83C-6D2A-D97B0EEEFE44}"/>
              </a:ext>
            </a:extLst>
          </p:cNvPr>
          <p:cNvSpPr txBox="1">
            <a:spLocks/>
          </p:cNvSpPr>
          <p:nvPr/>
        </p:nvSpPr>
        <p:spPr>
          <a:xfrm>
            <a:off x="377412" y="2886724"/>
            <a:ext cx="7885113" cy="720080"/>
          </a:xfrm>
          <a:prstGeom prst="rect">
            <a:avLst/>
          </a:prstGeom>
          <a:noFill/>
          <a:ln>
            <a:noFill/>
          </a:ln>
        </p:spPr>
        <p:txBody>
          <a:bodyPr/>
          <a:lstStyle>
            <a:lvl1pPr marL="342900" indent="-342900" algn="l" rtl="0" eaLnBrk="0" fontAlgn="base" hangingPunct="0">
              <a:spcBef>
                <a:spcPct val="20000"/>
              </a:spcBef>
              <a:spcAft>
                <a:spcPct val="0"/>
              </a:spcAft>
              <a:buChar char="•"/>
              <a:defRPr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algn="just" eaLnBrk="1" hangingPunct="1">
              <a:spcBef>
                <a:spcPts val="0"/>
              </a:spcBef>
              <a:buNone/>
            </a:pPr>
            <a:r>
              <a:rPr lang="zh-CN" altLang="en-US" sz="2000" dirty="0">
                <a:latin typeface="Times New Roman" panose="02020603050405020304" pitchFamily="18" charset="0"/>
              </a:rPr>
              <a:t>（</a:t>
            </a:r>
            <a:r>
              <a:rPr lang="en-US" altLang="zh-CN" sz="2000" dirty="0">
                <a:latin typeface="Times New Roman" panose="02020603050405020304" pitchFamily="18" charset="0"/>
              </a:rPr>
              <a:t>1</a:t>
            </a:r>
            <a:r>
              <a:rPr lang="zh-CN" altLang="en-US" sz="2000" dirty="0">
                <a:latin typeface="Times New Roman" panose="02020603050405020304" pitchFamily="18" charset="0"/>
              </a:rPr>
              <a:t>）负载端</a:t>
            </a:r>
            <a:r>
              <a:rPr lang="en-US" altLang="zh-CN" sz="2000" dirty="0">
                <a:latin typeface="Times New Roman" panose="02020603050405020304" pitchFamily="18" charset="0"/>
              </a:rPr>
              <a:t>C</a:t>
            </a:r>
            <a:r>
              <a:rPr lang="en-US" altLang="zh-CN" sz="2000" baseline="-25000" dirty="0">
                <a:latin typeface="Times New Roman" panose="02020603050405020304" pitchFamily="18" charset="0"/>
              </a:rPr>
              <a:t>2</a:t>
            </a:r>
            <a:r>
              <a:rPr lang="zh-CN" altLang="en-US" sz="2000" dirty="0">
                <a:latin typeface="Times New Roman" panose="02020603050405020304" pitchFamily="18" charset="0"/>
              </a:rPr>
              <a:t>和</a:t>
            </a:r>
            <a:r>
              <a:rPr lang="en-US" altLang="zh-CN" sz="2000" dirty="0">
                <a:latin typeface="Times New Roman" panose="02020603050405020304" pitchFamily="18" charset="0"/>
              </a:rPr>
              <a:t>R</a:t>
            </a:r>
            <a:r>
              <a:rPr lang="en-US" altLang="zh-CN" sz="2000" baseline="-25000" dirty="0">
                <a:latin typeface="Times New Roman" panose="02020603050405020304" pitchFamily="18" charset="0"/>
              </a:rPr>
              <a:t>2</a:t>
            </a:r>
            <a:r>
              <a:rPr lang="zh-CN" altLang="en-US" sz="2000" dirty="0">
                <a:latin typeface="Times New Roman" panose="02020603050405020304" pitchFamily="18" charset="0"/>
              </a:rPr>
              <a:t>串联支路</a:t>
            </a:r>
            <a:r>
              <a:rPr lang="en-US" altLang="zh-CN" sz="2000" dirty="0">
                <a:latin typeface="Times New Roman" panose="02020603050405020304" pitchFamily="18" charset="0"/>
              </a:rPr>
              <a:t>,Q</a:t>
            </a:r>
            <a:r>
              <a:rPr lang="en-US" altLang="zh-CN" sz="2000" baseline="-25000" dirty="0">
                <a:latin typeface="Times New Roman" panose="02020603050405020304" pitchFamily="18" charset="0"/>
              </a:rPr>
              <a:t>2</a:t>
            </a:r>
            <a:r>
              <a:rPr lang="en-US" altLang="zh-CN" sz="2000" dirty="0">
                <a:latin typeface="Times New Roman" panose="02020603050405020304" pitchFamily="18" charset="0"/>
              </a:rPr>
              <a:t>=X</a:t>
            </a:r>
            <a:r>
              <a:rPr lang="en-US" altLang="zh-CN" sz="2000" baseline="-25000" dirty="0">
                <a:latin typeface="Times New Roman" panose="02020603050405020304" pitchFamily="18" charset="0"/>
              </a:rPr>
              <a:t>C2</a:t>
            </a:r>
            <a:r>
              <a:rPr lang="en-US" altLang="zh-CN" sz="2000" dirty="0">
                <a:latin typeface="Times New Roman" panose="02020603050405020304" pitchFamily="18" charset="0"/>
              </a:rPr>
              <a:t>/R</a:t>
            </a:r>
            <a:r>
              <a:rPr lang="en-US" altLang="zh-CN" sz="2000" baseline="-25000" dirty="0">
                <a:latin typeface="Times New Roman" panose="02020603050405020304" pitchFamily="18" charset="0"/>
              </a:rPr>
              <a:t>2</a:t>
            </a:r>
            <a:r>
              <a:rPr lang="en-US" altLang="zh-CN" sz="2000" dirty="0">
                <a:latin typeface="Times New Roman" panose="02020603050405020304" pitchFamily="18" charset="0"/>
              </a:rPr>
              <a:t>,</a:t>
            </a:r>
            <a:r>
              <a:rPr lang="zh-CN" altLang="en-US" sz="2000" dirty="0">
                <a:latin typeface="Times New Roman" panose="02020603050405020304" pitchFamily="18" charset="0"/>
              </a:rPr>
              <a:t>则</a:t>
            </a:r>
          </a:p>
        </p:txBody>
      </p:sp>
      <p:sp>
        <p:nvSpPr>
          <p:cNvPr id="11" name="文本占位符 478210">
            <a:extLst>
              <a:ext uri="{FF2B5EF4-FFF2-40B4-BE49-F238E27FC236}">
                <a16:creationId xmlns:a16="http://schemas.microsoft.com/office/drawing/2014/main" xmlns="" id="{52759190-41BA-A0D6-C891-63575F978597}"/>
              </a:ext>
            </a:extLst>
          </p:cNvPr>
          <p:cNvSpPr txBox="1">
            <a:spLocks/>
          </p:cNvSpPr>
          <p:nvPr/>
        </p:nvSpPr>
        <p:spPr>
          <a:xfrm>
            <a:off x="377412" y="4507002"/>
            <a:ext cx="7885113" cy="720080"/>
          </a:xfrm>
          <a:prstGeom prst="rect">
            <a:avLst/>
          </a:prstGeom>
          <a:noFill/>
          <a:ln>
            <a:noFill/>
          </a:ln>
        </p:spPr>
        <p:txBody>
          <a:bodyPr/>
          <a:lstStyle>
            <a:lvl1pPr marL="342900" indent="-342900" algn="l" rtl="0" eaLnBrk="0" fontAlgn="base" hangingPunct="0">
              <a:spcBef>
                <a:spcPct val="20000"/>
              </a:spcBef>
              <a:spcAft>
                <a:spcPct val="0"/>
              </a:spcAft>
              <a:buChar char="•"/>
              <a:defRPr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algn="just" eaLnBrk="1" hangingPunct="1">
              <a:spcBef>
                <a:spcPts val="0"/>
              </a:spcBef>
              <a:buNone/>
            </a:pPr>
            <a:r>
              <a:rPr lang="zh-CN" altLang="en-US" sz="2000" dirty="0">
                <a:latin typeface="Times New Roman" panose="02020603050405020304" pitchFamily="18" charset="0"/>
              </a:rPr>
              <a:t>（</a:t>
            </a:r>
            <a:r>
              <a:rPr lang="en-US" altLang="zh-CN" sz="2000" dirty="0">
                <a:latin typeface="Times New Roman" panose="02020603050405020304" pitchFamily="18" charset="0"/>
              </a:rPr>
              <a:t>2</a:t>
            </a:r>
            <a:r>
              <a:rPr lang="zh-CN" altLang="en-US" sz="2000" dirty="0">
                <a:latin typeface="Times New Roman" panose="02020603050405020304" pitchFamily="18" charset="0"/>
              </a:rPr>
              <a:t>）负载端</a:t>
            </a:r>
            <a:r>
              <a:rPr lang="en-US" altLang="zh-CN" sz="2000" dirty="0">
                <a:latin typeface="Times New Roman" panose="02020603050405020304" pitchFamily="18" charset="0"/>
              </a:rPr>
              <a:t>L</a:t>
            </a:r>
            <a:r>
              <a:rPr lang="en-US" altLang="zh-CN" sz="2000" baseline="-25000" dirty="0">
                <a:latin typeface="Times New Roman" panose="02020603050405020304" pitchFamily="18" charset="0"/>
              </a:rPr>
              <a:t>2</a:t>
            </a:r>
            <a:r>
              <a:rPr lang="zh-CN" altLang="en-US" sz="2000" dirty="0">
                <a:latin typeface="Times New Roman" panose="02020603050405020304" pitchFamily="18" charset="0"/>
              </a:rPr>
              <a:t>和</a:t>
            </a:r>
            <a:r>
              <a:rPr lang="en-US" altLang="zh-CN" sz="2000" dirty="0" err="1">
                <a:latin typeface="Times New Roman" panose="02020603050405020304" pitchFamily="18" charset="0"/>
              </a:rPr>
              <a:t>R</a:t>
            </a:r>
            <a:r>
              <a:rPr lang="en-US" altLang="zh-CN" sz="2000" baseline="-25000" dirty="0" err="1">
                <a:latin typeface="Times New Roman" panose="02020603050405020304" pitchFamily="18" charset="0"/>
              </a:rPr>
              <a:t>inter</a:t>
            </a:r>
            <a:r>
              <a:rPr lang="zh-CN" altLang="en-US" sz="2000" dirty="0">
                <a:latin typeface="Times New Roman" panose="02020603050405020304" pitchFamily="18" charset="0"/>
              </a:rPr>
              <a:t>并联支路</a:t>
            </a:r>
            <a:r>
              <a:rPr lang="en-US" altLang="zh-CN" sz="2000" dirty="0">
                <a:latin typeface="Times New Roman" panose="02020603050405020304" pitchFamily="18" charset="0"/>
              </a:rPr>
              <a:t>,Q</a:t>
            </a:r>
            <a:r>
              <a:rPr lang="en-US" altLang="zh-CN" sz="2000" baseline="-25000" dirty="0">
                <a:latin typeface="Times New Roman" panose="02020603050405020304" pitchFamily="18" charset="0"/>
              </a:rPr>
              <a:t>2</a:t>
            </a:r>
            <a:r>
              <a:rPr lang="en-US" altLang="zh-CN" sz="2000" dirty="0">
                <a:latin typeface="Times New Roman" panose="02020603050405020304" pitchFamily="18" charset="0"/>
              </a:rPr>
              <a:t>=</a:t>
            </a:r>
            <a:r>
              <a:rPr lang="en-US" altLang="zh-CN" sz="2000" dirty="0" err="1">
                <a:latin typeface="Times New Roman" panose="02020603050405020304" pitchFamily="18" charset="0"/>
              </a:rPr>
              <a:t>R</a:t>
            </a:r>
            <a:r>
              <a:rPr lang="en-US" altLang="zh-CN" sz="2000" baseline="-25000" dirty="0" err="1">
                <a:latin typeface="Times New Roman" panose="02020603050405020304" pitchFamily="18" charset="0"/>
              </a:rPr>
              <a:t>inter</a:t>
            </a:r>
            <a:r>
              <a:rPr lang="en-US" altLang="zh-CN" sz="2000" dirty="0">
                <a:latin typeface="Times New Roman" panose="02020603050405020304" pitchFamily="18" charset="0"/>
              </a:rPr>
              <a:t>/X</a:t>
            </a:r>
            <a:r>
              <a:rPr lang="en-US" altLang="zh-CN" sz="2000" baseline="-25000" dirty="0">
                <a:latin typeface="Times New Roman" panose="02020603050405020304" pitchFamily="18" charset="0"/>
              </a:rPr>
              <a:t>L2</a:t>
            </a:r>
            <a:r>
              <a:rPr lang="en-US" altLang="zh-CN" sz="2000" dirty="0">
                <a:latin typeface="Times New Roman" panose="02020603050405020304" pitchFamily="18" charset="0"/>
              </a:rPr>
              <a:t>,</a:t>
            </a:r>
            <a:r>
              <a:rPr lang="zh-CN" altLang="en-US" sz="2000" dirty="0">
                <a:latin typeface="Times New Roman" panose="02020603050405020304" pitchFamily="18" charset="0"/>
              </a:rPr>
              <a:t>则</a:t>
            </a:r>
          </a:p>
          <a:p>
            <a:pPr marL="0" algn="just" eaLnBrk="1" hangingPunct="1">
              <a:spcBef>
                <a:spcPts val="0"/>
              </a:spcBef>
              <a:buNone/>
            </a:pPr>
            <a:endParaRPr lang="zh-CN" altLang="en-US" sz="2000" dirty="0">
              <a:latin typeface="Times New Roman" panose="02020603050405020304" pitchFamily="18" charset="0"/>
            </a:endParaRPr>
          </a:p>
        </p:txBody>
      </p:sp>
      <p:graphicFrame>
        <p:nvGraphicFramePr>
          <p:cNvPr id="12" name="对象 11">
            <a:extLst>
              <a:ext uri="{FF2B5EF4-FFF2-40B4-BE49-F238E27FC236}">
                <a16:creationId xmlns:a16="http://schemas.microsoft.com/office/drawing/2014/main" xmlns="" id="{73980675-B59F-97E6-B9F1-A503EA2EE179}"/>
              </a:ext>
            </a:extLst>
          </p:cNvPr>
          <p:cNvGraphicFramePr>
            <a:graphicFrameLocks noChangeAspect="1"/>
          </p:cNvGraphicFramePr>
          <p:nvPr>
            <p:extLst>
              <p:ext uri="{D42A27DB-BD31-4B8C-83A1-F6EECF244321}">
                <p14:modId xmlns:p14="http://schemas.microsoft.com/office/powerpoint/2010/main" val="2063049383"/>
              </p:ext>
            </p:extLst>
          </p:nvPr>
        </p:nvGraphicFramePr>
        <p:xfrm>
          <a:off x="2062653" y="3325997"/>
          <a:ext cx="3947834" cy="467326"/>
        </p:xfrm>
        <a:graphic>
          <a:graphicData uri="http://schemas.openxmlformats.org/presentationml/2006/ole">
            <mc:AlternateContent xmlns:mc="http://schemas.openxmlformats.org/markup-compatibility/2006">
              <mc:Choice xmlns:v="urn:schemas-microsoft-com:vml" Requires="v">
                <p:oleObj spid="_x0000_s42300" name="Equation" r:id="rId7" imgW="4104306" imgH="486377" progId="Equation.DSMT4">
                  <p:embed/>
                </p:oleObj>
              </mc:Choice>
              <mc:Fallback>
                <p:oleObj name="Equation" r:id="rId7" imgW="4104306" imgH="486377" progId="Equation.DSMT4">
                  <p:embed/>
                  <p:pic>
                    <p:nvPicPr>
                      <p:cNvPr id="0" name=""/>
                      <p:cNvPicPr/>
                      <p:nvPr/>
                    </p:nvPicPr>
                    <p:blipFill>
                      <a:blip r:embed="rId8"/>
                      <a:stretch>
                        <a:fillRect/>
                      </a:stretch>
                    </p:blipFill>
                    <p:spPr>
                      <a:xfrm>
                        <a:off x="2062653" y="3325997"/>
                        <a:ext cx="3947834" cy="467326"/>
                      </a:xfrm>
                      <a:prstGeom prst="rect">
                        <a:avLst/>
                      </a:prstGeom>
                    </p:spPr>
                  </p:pic>
                </p:oleObj>
              </mc:Fallback>
            </mc:AlternateContent>
          </a:graphicData>
        </a:graphic>
      </p:graphicFrame>
      <p:graphicFrame>
        <p:nvGraphicFramePr>
          <p:cNvPr id="13" name="对象 12">
            <a:extLst>
              <a:ext uri="{FF2B5EF4-FFF2-40B4-BE49-F238E27FC236}">
                <a16:creationId xmlns:a16="http://schemas.microsoft.com/office/drawing/2014/main" xmlns="" id="{BEDF26C6-E184-83A2-1E58-46A689663100}"/>
              </a:ext>
            </a:extLst>
          </p:cNvPr>
          <p:cNvGraphicFramePr>
            <a:graphicFrameLocks noChangeAspect="1"/>
          </p:cNvGraphicFramePr>
          <p:nvPr>
            <p:extLst>
              <p:ext uri="{D42A27DB-BD31-4B8C-83A1-F6EECF244321}">
                <p14:modId xmlns:p14="http://schemas.microsoft.com/office/powerpoint/2010/main" val="3053010110"/>
              </p:ext>
            </p:extLst>
          </p:nvPr>
        </p:nvGraphicFramePr>
        <p:xfrm>
          <a:off x="1467199" y="3690181"/>
          <a:ext cx="6027892" cy="830801"/>
        </p:xfrm>
        <a:graphic>
          <a:graphicData uri="http://schemas.openxmlformats.org/presentationml/2006/ole">
            <mc:AlternateContent xmlns:mc="http://schemas.openxmlformats.org/markup-compatibility/2006">
              <mc:Choice xmlns:v="urn:schemas-microsoft-com:vml" Requires="v">
                <p:oleObj spid="_x0000_s42301" name="Equation" r:id="rId9" imgW="6265187" imgH="864391" progId="Equation.DSMT4">
                  <p:embed/>
                </p:oleObj>
              </mc:Choice>
              <mc:Fallback>
                <p:oleObj name="Equation" r:id="rId9" imgW="6265187" imgH="864391" progId="Equation.DSMT4">
                  <p:embed/>
                  <p:pic>
                    <p:nvPicPr>
                      <p:cNvPr id="0" name=""/>
                      <p:cNvPicPr/>
                      <p:nvPr/>
                    </p:nvPicPr>
                    <p:blipFill>
                      <a:blip r:embed="rId10"/>
                      <a:stretch>
                        <a:fillRect/>
                      </a:stretch>
                    </p:blipFill>
                    <p:spPr>
                      <a:xfrm>
                        <a:off x="1467199" y="3690181"/>
                        <a:ext cx="6027892" cy="830801"/>
                      </a:xfrm>
                      <a:prstGeom prst="rect">
                        <a:avLst/>
                      </a:prstGeom>
                    </p:spPr>
                  </p:pic>
                </p:oleObj>
              </mc:Fallback>
            </mc:AlternateContent>
          </a:graphicData>
        </a:graphic>
      </p:graphicFrame>
      <p:graphicFrame>
        <p:nvGraphicFramePr>
          <p:cNvPr id="14" name="对象 616462">
            <a:extLst>
              <a:ext uri="{FF2B5EF4-FFF2-40B4-BE49-F238E27FC236}">
                <a16:creationId xmlns:a16="http://schemas.microsoft.com/office/drawing/2014/main" xmlns="" id="{742308FE-CA14-EBA3-E0D5-3B23476A321D}"/>
              </a:ext>
            </a:extLst>
          </p:cNvPr>
          <p:cNvGraphicFramePr/>
          <p:nvPr>
            <p:extLst>
              <p:ext uri="{D42A27DB-BD31-4B8C-83A1-F6EECF244321}">
                <p14:modId xmlns:p14="http://schemas.microsoft.com/office/powerpoint/2010/main" val="3020247023"/>
              </p:ext>
            </p:extLst>
          </p:nvPr>
        </p:nvGraphicFramePr>
        <p:xfrm>
          <a:off x="1593147" y="5114228"/>
          <a:ext cx="5887389" cy="399596"/>
        </p:xfrm>
        <a:graphic>
          <a:graphicData uri="http://schemas.openxmlformats.org/presentationml/2006/ole">
            <mc:AlternateContent xmlns:mc="http://schemas.openxmlformats.org/markup-compatibility/2006">
              <mc:Choice xmlns:v="urn:schemas-microsoft-com:vml" Requires="v">
                <p:oleObj spid="_x0000_s42302" r:id="rId11" imgW="2705100" imgH="241300" progId="Equation.3">
                  <p:embed/>
                </p:oleObj>
              </mc:Choice>
              <mc:Fallback>
                <p:oleObj r:id="rId11" imgW="2705100" imgH="241300" progId="Equation.3">
                  <p:embed/>
                  <p:pic>
                    <p:nvPicPr>
                      <p:cNvPr id="0" name=""/>
                      <p:cNvPicPr/>
                      <p:nvPr/>
                    </p:nvPicPr>
                    <p:blipFill>
                      <a:blip r:embed="rId12"/>
                      <a:stretch>
                        <a:fillRect/>
                      </a:stretch>
                    </p:blipFill>
                    <p:spPr>
                      <a:xfrm>
                        <a:off x="1593147" y="5114228"/>
                        <a:ext cx="5887389" cy="399596"/>
                      </a:xfrm>
                      <a:prstGeom prst="rect">
                        <a:avLst/>
                      </a:prstGeom>
                      <a:noFill/>
                      <a:ln w="38100">
                        <a:noFill/>
                        <a:miter/>
                      </a:ln>
                    </p:spPr>
                  </p:pic>
                </p:oleObj>
              </mc:Fallback>
            </mc:AlternateContent>
          </a:graphicData>
        </a:graphic>
      </p:graphicFrame>
      <p:graphicFrame>
        <p:nvGraphicFramePr>
          <p:cNvPr id="15" name="对象 616466">
            <a:extLst>
              <a:ext uri="{FF2B5EF4-FFF2-40B4-BE49-F238E27FC236}">
                <a16:creationId xmlns:a16="http://schemas.microsoft.com/office/drawing/2014/main" xmlns="" id="{CF0A4F21-3EB5-BB40-53EF-43CAFE35867D}"/>
              </a:ext>
            </a:extLst>
          </p:cNvPr>
          <p:cNvGraphicFramePr/>
          <p:nvPr>
            <p:extLst>
              <p:ext uri="{D42A27DB-BD31-4B8C-83A1-F6EECF244321}">
                <p14:modId xmlns:p14="http://schemas.microsoft.com/office/powerpoint/2010/main" val="1916027060"/>
              </p:ext>
            </p:extLst>
          </p:nvPr>
        </p:nvGraphicFramePr>
        <p:xfrm>
          <a:off x="1929886" y="5673604"/>
          <a:ext cx="4780163" cy="654206"/>
        </p:xfrm>
        <a:graphic>
          <a:graphicData uri="http://schemas.openxmlformats.org/presentationml/2006/ole">
            <mc:AlternateContent xmlns:mc="http://schemas.openxmlformats.org/markup-compatibility/2006">
              <mc:Choice xmlns:v="urn:schemas-microsoft-com:vml" Requires="v">
                <p:oleObj spid="_x0000_s42303" r:id="rId13" imgW="2235200" imgH="431800" progId="Equation.3">
                  <p:embed/>
                </p:oleObj>
              </mc:Choice>
              <mc:Fallback>
                <p:oleObj r:id="rId13" imgW="2235200" imgH="431800" progId="Equation.3">
                  <p:embed/>
                  <p:pic>
                    <p:nvPicPr>
                      <p:cNvPr id="0" name=""/>
                      <p:cNvPicPr/>
                      <p:nvPr/>
                    </p:nvPicPr>
                    <p:blipFill>
                      <a:blip r:embed="rId14"/>
                      <a:stretch>
                        <a:fillRect/>
                      </a:stretch>
                    </p:blipFill>
                    <p:spPr>
                      <a:xfrm>
                        <a:off x="1929886" y="5673604"/>
                        <a:ext cx="4780163" cy="654206"/>
                      </a:xfrm>
                      <a:prstGeom prst="rect">
                        <a:avLst/>
                      </a:prstGeom>
                      <a:noFill/>
                      <a:ln w="38100">
                        <a:noFill/>
                        <a:miter/>
                      </a:ln>
                    </p:spPr>
                  </p:pic>
                </p:oleObj>
              </mc:Fallback>
            </mc:AlternateContent>
          </a:graphicData>
        </a:graphic>
      </p:graphicFrame>
    </p:spTree>
    <p:extLst>
      <p:ext uri="{BB962C8B-B14F-4D97-AF65-F5344CB8AC3E}">
        <p14:creationId xmlns:p14="http://schemas.microsoft.com/office/powerpoint/2010/main" val="1411329765"/>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64</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5"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2.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高频</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基础</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电路</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 name="文本占位符 478210">
            <a:extLst>
              <a:ext uri="{FF2B5EF4-FFF2-40B4-BE49-F238E27FC236}">
                <a16:creationId xmlns:a16="http://schemas.microsoft.com/office/drawing/2014/main" xmlns="" id="{C4F2D732-9AAD-3D7F-8E65-1B36754FA9D0}"/>
              </a:ext>
            </a:extLst>
          </p:cNvPr>
          <p:cNvSpPr txBox="1">
            <a:spLocks/>
          </p:cNvSpPr>
          <p:nvPr/>
        </p:nvSpPr>
        <p:spPr>
          <a:xfrm>
            <a:off x="467544" y="1268760"/>
            <a:ext cx="7885113" cy="720080"/>
          </a:xfrm>
          <a:prstGeom prst="rect">
            <a:avLst/>
          </a:prstGeom>
          <a:noFill/>
          <a:ln>
            <a:noFill/>
          </a:ln>
        </p:spPr>
        <p:txBody>
          <a:bodyPr/>
          <a:lstStyle>
            <a:lvl1pPr marL="342900" indent="-342900" algn="l" rtl="0" eaLnBrk="0" fontAlgn="base" hangingPunct="0">
              <a:spcBef>
                <a:spcPct val="20000"/>
              </a:spcBef>
              <a:spcAft>
                <a:spcPct val="0"/>
              </a:spcAft>
              <a:buChar char="•"/>
              <a:defRPr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algn="just" eaLnBrk="1" hangingPunct="1">
              <a:spcBef>
                <a:spcPts val="0"/>
              </a:spcBef>
              <a:buNone/>
            </a:pPr>
            <a:r>
              <a:rPr lang="en-US" altLang="zh-CN" sz="2000" dirty="0">
                <a:latin typeface="Times New Roman" panose="02020603050405020304" pitchFamily="18" charset="0"/>
              </a:rPr>
              <a:t>(3)</a:t>
            </a:r>
            <a:r>
              <a:rPr lang="zh-CN" altLang="en-US" sz="2000" dirty="0">
                <a:latin typeface="Times New Roman" panose="02020603050405020304" pitchFamily="18" charset="0"/>
              </a:rPr>
              <a:t>信源端</a:t>
            </a:r>
            <a:r>
              <a:rPr lang="en-US" altLang="zh-CN" sz="2000" dirty="0">
                <a:latin typeface="Times New Roman" panose="02020603050405020304" pitchFamily="18" charset="0"/>
              </a:rPr>
              <a:t>L</a:t>
            </a:r>
            <a:r>
              <a:rPr lang="zh-CN" altLang="en-US" sz="2000" dirty="0">
                <a:latin typeface="Times New Roman" panose="02020603050405020304" pitchFamily="18" charset="0"/>
              </a:rPr>
              <a:t>型网络的</a:t>
            </a:r>
            <a:r>
              <a:rPr lang="en-US" altLang="zh-CN" sz="2000" i="1" dirty="0">
                <a:latin typeface="Times New Roman" panose="02020603050405020304" pitchFamily="18" charset="0"/>
              </a:rPr>
              <a:t>Q</a:t>
            </a:r>
            <a:r>
              <a:rPr lang="en-US" altLang="zh-CN" sz="2000" baseline="-25000" dirty="0">
                <a:latin typeface="Times New Roman" panose="02020603050405020304" pitchFamily="18" charset="0"/>
              </a:rPr>
              <a:t>1</a:t>
            </a:r>
            <a:endParaRPr lang="zh-CN" altLang="en-US" sz="2000" dirty="0">
              <a:latin typeface="Times New Roman" panose="02020603050405020304" pitchFamily="18" charset="0"/>
            </a:endParaRPr>
          </a:p>
        </p:txBody>
      </p:sp>
      <p:sp>
        <p:nvSpPr>
          <p:cNvPr id="7" name="文本占位符 478210">
            <a:extLst>
              <a:ext uri="{FF2B5EF4-FFF2-40B4-BE49-F238E27FC236}">
                <a16:creationId xmlns:a16="http://schemas.microsoft.com/office/drawing/2014/main" xmlns="" id="{61CC3C03-E13B-F357-09C2-DA870A0DCF06}"/>
              </a:ext>
            </a:extLst>
          </p:cNvPr>
          <p:cNvSpPr txBox="1">
            <a:spLocks/>
          </p:cNvSpPr>
          <p:nvPr/>
        </p:nvSpPr>
        <p:spPr>
          <a:xfrm>
            <a:off x="467544" y="2754546"/>
            <a:ext cx="7885113" cy="720080"/>
          </a:xfrm>
          <a:prstGeom prst="rect">
            <a:avLst/>
          </a:prstGeom>
          <a:noFill/>
          <a:ln>
            <a:noFill/>
          </a:ln>
        </p:spPr>
        <p:txBody>
          <a:bodyPr/>
          <a:lstStyle>
            <a:lvl1pPr marL="342900" indent="-342900" algn="l" rtl="0" eaLnBrk="0" fontAlgn="base" hangingPunct="0">
              <a:spcBef>
                <a:spcPct val="20000"/>
              </a:spcBef>
              <a:spcAft>
                <a:spcPct val="0"/>
              </a:spcAft>
              <a:buChar char="•"/>
              <a:defRPr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eaLnBrk="1" hangingPunct="1">
              <a:buNone/>
            </a:pPr>
            <a:r>
              <a:rPr lang="en-US" altLang="zh-CN" sz="2000" dirty="0">
                <a:latin typeface="Times New Roman" panose="02020603050405020304" pitchFamily="18" charset="0"/>
              </a:rPr>
              <a:t>(4)</a:t>
            </a:r>
            <a:r>
              <a:rPr lang="zh-CN" altLang="en-US" sz="2000" dirty="0">
                <a:latin typeface="Times New Roman" panose="02020603050405020304" pitchFamily="18" charset="0"/>
              </a:rPr>
              <a:t>信源端</a:t>
            </a:r>
            <a:r>
              <a:rPr lang="en-US" altLang="zh-CN" sz="2000" i="1" dirty="0">
                <a:latin typeface="Times New Roman" panose="02020603050405020304" pitchFamily="18" charset="0"/>
              </a:rPr>
              <a:t>C</a:t>
            </a:r>
            <a:r>
              <a:rPr lang="en-US" altLang="zh-CN" sz="2000" baseline="-25000" dirty="0">
                <a:latin typeface="Times New Roman" panose="02020603050405020304" pitchFamily="18" charset="0"/>
              </a:rPr>
              <a:t>1</a:t>
            </a:r>
            <a:r>
              <a:rPr lang="zh-CN" altLang="en-US" sz="2000" dirty="0">
                <a:latin typeface="Times New Roman" panose="02020603050405020304" pitchFamily="18" charset="0"/>
              </a:rPr>
              <a:t>和</a:t>
            </a:r>
            <a:r>
              <a:rPr lang="en-US" altLang="zh-CN" sz="2000" i="1" dirty="0">
                <a:latin typeface="Times New Roman" panose="02020603050405020304" pitchFamily="18" charset="0"/>
              </a:rPr>
              <a:t>R</a:t>
            </a:r>
            <a:r>
              <a:rPr lang="en-US" altLang="zh-CN" sz="2000" baseline="-25000" dirty="0">
                <a:latin typeface="Times New Roman" panose="02020603050405020304" pitchFamily="18" charset="0"/>
              </a:rPr>
              <a:t>1</a:t>
            </a:r>
            <a:r>
              <a:rPr lang="zh-CN" altLang="en-US" sz="2000" dirty="0">
                <a:latin typeface="Times New Roman" panose="02020603050405020304" pitchFamily="18" charset="0"/>
              </a:rPr>
              <a:t>串联支路</a:t>
            </a:r>
            <a:r>
              <a:rPr lang="en-US" altLang="zh-CN" sz="2000" dirty="0">
                <a:latin typeface="Times New Roman" panose="02020603050405020304" pitchFamily="18" charset="0"/>
              </a:rPr>
              <a:t>,</a:t>
            </a:r>
            <a:r>
              <a:rPr lang="en-US" altLang="zh-CN" sz="2000" i="1" dirty="0">
                <a:latin typeface="Times New Roman" panose="02020603050405020304" pitchFamily="18" charset="0"/>
              </a:rPr>
              <a:t>Q</a:t>
            </a:r>
            <a:r>
              <a:rPr lang="en-US" altLang="zh-CN" sz="2000" baseline="-25000" dirty="0">
                <a:latin typeface="Times New Roman" panose="02020603050405020304" pitchFamily="18" charset="0"/>
              </a:rPr>
              <a:t>1</a:t>
            </a:r>
            <a:r>
              <a:rPr lang="en-US" altLang="zh-CN" sz="2000" dirty="0">
                <a:latin typeface="Times New Roman" panose="02020603050405020304" pitchFamily="18" charset="0"/>
              </a:rPr>
              <a:t>=</a:t>
            </a:r>
            <a:r>
              <a:rPr lang="en-US" altLang="zh-CN" sz="2000" i="1" dirty="0">
                <a:latin typeface="Times New Roman" panose="02020603050405020304" pitchFamily="18" charset="0"/>
              </a:rPr>
              <a:t>X</a:t>
            </a:r>
            <a:r>
              <a:rPr lang="en-US" altLang="zh-CN" sz="2000" baseline="-25000" dirty="0">
                <a:latin typeface="Times New Roman" panose="02020603050405020304" pitchFamily="18" charset="0"/>
              </a:rPr>
              <a:t>C1</a:t>
            </a:r>
            <a:r>
              <a:rPr lang="en-US" altLang="zh-CN" sz="2000" dirty="0">
                <a:latin typeface="Times New Roman" panose="02020603050405020304" pitchFamily="18" charset="0"/>
              </a:rPr>
              <a:t>/</a:t>
            </a:r>
            <a:r>
              <a:rPr lang="en-US" altLang="zh-CN" sz="2000" i="1" dirty="0">
                <a:latin typeface="Times New Roman" panose="02020603050405020304" pitchFamily="18" charset="0"/>
              </a:rPr>
              <a:t>R</a:t>
            </a:r>
            <a:r>
              <a:rPr lang="en-US" altLang="zh-CN" sz="2000" baseline="-25000" dirty="0">
                <a:latin typeface="Times New Roman" panose="02020603050405020304" pitchFamily="18" charset="0"/>
              </a:rPr>
              <a:t>1</a:t>
            </a:r>
            <a:r>
              <a:rPr lang="en-US" altLang="zh-CN" sz="2000" dirty="0">
                <a:latin typeface="Times New Roman" panose="02020603050405020304" pitchFamily="18" charset="0"/>
              </a:rPr>
              <a:t>,</a:t>
            </a:r>
            <a:r>
              <a:rPr lang="zh-CN" altLang="en-US" sz="2000" dirty="0">
                <a:latin typeface="Times New Roman" panose="02020603050405020304" pitchFamily="18" charset="0"/>
              </a:rPr>
              <a:t>则</a:t>
            </a:r>
          </a:p>
        </p:txBody>
      </p:sp>
      <p:sp>
        <p:nvSpPr>
          <p:cNvPr id="8" name="文本占位符 478210">
            <a:extLst>
              <a:ext uri="{FF2B5EF4-FFF2-40B4-BE49-F238E27FC236}">
                <a16:creationId xmlns:a16="http://schemas.microsoft.com/office/drawing/2014/main" xmlns="" id="{2DFC1D35-D104-83CC-7641-44B21D60A149}"/>
              </a:ext>
            </a:extLst>
          </p:cNvPr>
          <p:cNvSpPr txBox="1">
            <a:spLocks/>
          </p:cNvSpPr>
          <p:nvPr/>
        </p:nvSpPr>
        <p:spPr>
          <a:xfrm>
            <a:off x="467544" y="4509121"/>
            <a:ext cx="7885113" cy="720080"/>
          </a:xfrm>
          <a:prstGeom prst="rect">
            <a:avLst/>
          </a:prstGeom>
          <a:noFill/>
          <a:ln>
            <a:noFill/>
          </a:ln>
        </p:spPr>
        <p:txBody>
          <a:bodyPr/>
          <a:lstStyle>
            <a:lvl1pPr marL="342900" indent="-342900" algn="l" rtl="0" eaLnBrk="0" fontAlgn="base" hangingPunct="0">
              <a:spcBef>
                <a:spcPct val="20000"/>
              </a:spcBef>
              <a:spcAft>
                <a:spcPct val="0"/>
              </a:spcAft>
              <a:buChar char="•"/>
              <a:defRPr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algn="just" eaLnBrk="1" hangingPunct="1">
              <a:spcBef>
                <a:spcPts val="0"/>
              </a:spcBef>
              <a:buNone/>
            </a:pPr>
            <a:r>
              <a:rPr lang="en-US" altLang="zh-CN" sz="2000" dirty="0">
                <a:latin typeface="Times New Roman" panose="02020603050405020304" pitchFamily="18" charset="0"/>
              </a:rPr>
              <a:t>(5)</a:t>
            </a:r>
            <a:r>
              <a:rPr lang="zh-CN" altLang="en-US" sz="2000" dirty="0">
                <a:latin typeface="Times New Roman" panose="02020603050405020304" pitchFamily="18" charset="0"/>
              </a:rPr>
              <a:t>信源端</a:t>
            </a:r>
            <a:r>
              <a:rPr lang="en-US" altLang="zh-CN" sz="2000" i="1" dirty="0">
                <a:latin typeface="Times New Roman" panose="02020603050405020304" pitchFamily="18" charset="0"/>
              </a:rPr>
              <a:t>L</a:t>
            </a:r>
            <a:r>
              <a:rPr lang="en-US" altLang="zh-CN" sz="2000" baseline="-25000" dirty="0">
                <a:latin typeface="Times New Roman" panose="02020603050405020304" pitchFamily="18" charset="0"/>
              </a:rPr>
              <a:t>1</a:t>
            </a:r>
            <a:r>
              <a:rPr lang="zh-CN" altLang="en-US" sz="2000" dirty="0">
                <a:latin typeface="Times New Roman" panose="02020603050405020304" pitchFamily="18" charset="0"/>
              </a:rPr>
              <a:t>和</a:t>
            </a:r>
            <a:r>
              <a:rPr lang="en-US" altLang="zh-CN" sz="2000" i="1" dirty="0" err="1">
                <a:latin typeface="Times New Roman" panose="02020603050405020304" pitchFamily="18" charset="0"/>
              </a:rPr>
              <a:t>R</a:t>
            </a:r>
            <a:r>
              <a:rPr lang="en-US" altLang="zh-CN" sz="2000" baseline="-25000" dirty="0" err="1">
                <a:latin typeface="Times New Roman" panose="02020603050405020304" pitchFamily="18" charset="0"/>
              </a:rPr>
              <a:t>inter</a:t>
            </a:r>
            <a:r>
              <a:rPr lang="zh-CN" altLang="en-US" sz="2000" dirty="0">
                <a:latin typeface="Times New Roman" panose="02020603050405020304" pitchFamily="18" charset="0"/>
              </a:rPr>
              <a:t>并联支路</a:t>
            </a:r>
            <a:r>
              <a:rPr lang="en-US" altLang="zh-CN" sz="2000" dirty="0">
                <a:latin typeface="Times New Roman" panose="02020603050405020304" pitchFamily="18" charset="0"/>
              </a:rPr>
              <a:t>,</a:t>
            </a:r>
            <a:r>
              <a:rPr lang="en-US" altLang="zh-CN" sz="2000" i="1" dirty="0">
                <a:latin typeface="Times New Roman" panose="02020603050405020304" pitchFamily="18" charset="0"/>
              </a:rPr>
              <a:t>Q</a:t>
            </a:r>
            <a:r>
              <a:rPr lang="en-US" altLang="zh-CN" sz="2000" baseline="-25000" dirty="0">
                <a:latin typeface="Times New Roman" panose="02020603050405020304" pitchFamily="18" charset="0"/>
              </a:rPr>
              <a:t>1</a:t>
            </a:r>
            <a:r>
              <a:rPr lang="en-US" altLang="zh-CN" sz="2000" dirty="0">
                <a:latin typeface="Times New Roman" panose="02020603050405020304" pitchFamily="18" charset="0"/>
              </a:rPr>
              <a:t>=</a:t>
            </a:r>
            <a:r>
              <a:rPr lang="en-US" altLang="zh-CN" sz="2000" i="1" dirty="0" err="1">
                <a:latin typeface="Times New Roman" panose="02020603050405020304" pitchFamily="18" charset="0"/>
              </a:rPr>
              <a:t>R</a:t>
            </a:r>
            <a:r>
              <a:rPr lang="en-US" altLang="zh-CN" sz="2000" baseline="-25000" dirty="0" err="1">
                <a:latin typeface="Times New Roman" panose="02020603050405020304" pitchFamily="18" charset="0"/>
              </a:rPr>
              <a:t>inter</a:t>
            </a:r>
            <a:r>
              <a:rPr lang="en-US" altLang="zh-CN" sz="2000" dirty="0">
                <a:latin typeface="Times New Roman" panose="02020603050405020304" pitchFamily="18" charset="0"/>
              </a:rPr>
              <a:t>/</a:t>
            </a:r>
            <a:r>
              <a:rPr lang="en-US" altLang="zh-CN" sz="2000" i="1" dirty="0">
                <a:latin typeface="Times New Roman" panose="02020603050405020304" pitchFamily="18" charset="0"/>
              </a:rPr>
              <a:t>X</a:t>
            </a:r>
            <a:r>
              <a:rPr lang="en-US" altLang="zh-CN" sz="2000" baseline="-25000" dirty="0">
                <a:latin typeface="Times New Roman" panose="02020603050405020304" pitchFamily="18" charset="0"/>
              </a:rPr>
              <a:t>L1</a:t>
            </a:r>
            <a:r>
              <a:rPr lang="en-US" altLang="zh-CN" sz="2000" dirty="0">
                <a:latin typeface="Times New Roman" panose="02020603050405020304" pitchFamily="18" charset="0"/>
              </a:rPr>
              <a:t>,</a:t>
            </a:r>
            <a:r>
              <a:rPr lang="zh-CN" altLang="en-US" sz="2000" dirty="0">
                <a:latin typeface="Times New Roman" panose="02020603050405020304" pitchFamily="18" charset="0"/>
              </a:rPr>
              <a:t>则</a:t>
            </a:r>
          </a:p>
        </p:txBody>
      </p:sp>
      <p:graphicFrame>
        <p:nvGraphicFramePr>
          <p:cNvPr id="9" name="对象 8">
            <a:extLst>
              <a:ext uri="{FF2B5EF4-FFF2-40B4-BE49-F238E27FC236}">
                <a16:creationId xmlns:a16="http://schemas.microsoft.com/office/drawing/2014/main" xmlns="" id="{57125C0C-1ACA-3F99-1D1A-2B7A7CF28D52}"/>
              </a:ext>
            </a:extLst>
          </p:cNvPr>
          <p:cNvGraphicFramePr>
            <a:graphicFrameLocks noChangeAspect="1"/>
          </p:cNvGraphicFramePr>
          <p:nvPr>
            <p:extLst>
              <p:ext uri="{D42A27DB-BD31-4B8C-83A1-F6EECF244321}">
                <p14:modId xmlns:p14="http://schemas.microsoft.com/office/powerpoint/2010/main" val="951973292"/>
              </p:ext>
            </p:extLst>
          </p:nvPr>
        </p:nvGraphicFramePr>
        <p:xfrm>
          <a:off x="2484165" y="1765502"/>
          <a:ext cx="4175670" cy="916575"/>
        </p:xfrm>
        <a:graphic>
          <a:graphicData uri="http://schemas.openxmlformats.org/presentationml/2006/ole">
            <mc:AlternateContent xmlns:mc="http://schemas.openxmlformats.org/markup-compatibility/2006">
              <mc:Choice xmlns:v="urn:schemas-microsoft-com:vml" Requires="v">
                <p:oleObj spid="_x0000_s43218" name="Equation" r:id="rId3" imgW="4607264" imgH="1011996" progId="Equation.DSMT4">
                  <p:embed/>
                </p:oleObj>
              </mc:Choice>
              <mc:Fallback>
                <p:oleObj name="Equation" r:id="rId3" imgW="4607264" imgH="1011996" progId="Equation.DSMT4">
                  <p:embed/>
                  <p:pic>
                    <p:nvPicPr>
                      <p:cNvPr id="0" name=""/>
                      <p:cNvPicPr/>
                      <p:nvPr/>
                    </p:nvPicPr>
                    <p:blipFill>
                      <a:blip r:embed="rId4"/>
                      <a:stretch>
                        <a:fillRect/>
                      </a:stretch>
                    </p:blipFill>
                    <p:spPr>
                      <a:xfrm>
                        <a:off x="2484165" y="1765502"/>
                        <a:ext cx="4175670" cy="916575"/>
                      </a:xfrm>
                      <a:prstGeom prst="rect">
                        <a:avLst/>
                      </a:prstGeom>
                    </p:spPr>
                  </p:pic>
                </p:oleObj>
              </mc:Fallback>
            </mc:AlternateContent>
          </a:graphicData>
        </a:graphic>
      </p:graphicFrame>
      <p:graphicFrame>
        <p:nvGraphicFramePr>
          <p:cNvPr id="10" name="对象 617479">
            <a:extLst>
              <a:ext uri="{FF2B5EF4-FFF2-40B4-BE49-F238E27FC236}">
                <a16:creationId xmlns:a16="http://schemas.microsoft.com/office/drawing/2014/main" xmlns="" id="{C5928961-7623-D28F-41F8-54FCB5AAA3E3}"/>
              </a:ext>
            </a:extLst>
          </p:cNvPr>
          <p:cNvGraphicFramePr/>
          <p:nvPr>
            <p:extLst>
              <p:ext uri="{D42A27DB-BD31-4B8C-83A1-F6EECF244321}">
                <p14:modId xmlns:p14="http://schemas.microsoft.com/office/powerpoint/2010/main" val="1914235041"/>
              </p:ext>
            </p:extLst>
          </p:nvPr>
        </p:nvGraphicFramePr>
        <p:xfrm>
          <a:off x="2223912" y="3155544"/>
          <a:ext cx="4699427" cy="436557"/>
        </p:xfrm>
        <a:graphic>
          <a:graphicData uri="http://schemas.openxmlformats.org/presentationml/2006/ole">
            <mc:AlternateContent xmlns:mc="http://schemas.openxmlformats.org/markup-compatibility/2006">
              <mc:Choice xmlns:v="urn:schemas-microsoft-com:vml" Requires="v">
                <p:oleObj spid="_x0000_s43219" r:id="rId5" imgW="2336800" imgH="228600" progId="Equation.3">
                  <p:embed/>
                </p:oleObj>
              </mc:Choice>
              <mc:Fallback>
                <p:oleObj r:id="rId5" imgW="2336800" imgH="228600" progId="Equation.3">
                  <p:embed/>
                  <p:pic>
                    <p:nvPicPr>
                      <p:cNvPr id="0" name=""/>
                      <p:cNvPicPr/>
                      <p:nvPr/>
                    </p:nvPicPr>
                    <p:blipFill>
                      <a:blip r:embed="rId6"/>
                      <a:stretch>
                        <a:fillRect/>
                      </a:stretch>
                    </p:blipFill>
                    <p:spPr>
                      <a:xfrm>
                        <a:off x="2223912" y="3155544"/>
                        <a:ext cx="4699427" cy="436557"/>
                      </a:xfrm>
                      <a:prstGeom prst="rect">
                        <a:avLst/>
                      </a:prstGeom>
                      <a:noFill/>
                      <a:ln w="38100">
                        <a:noFill/>
                        <a:miter/>
                      </a:ln>
                    </p:spPr>
                  </p:pic>
                </p:oleObj>
              </mc:Fallback>
            </mc:AlternateContent>
          </a:graphicData>
        </a:graphic>
      </p:graphicFrame>
      <p:graphicFrame>
        <p:nvGraphicFramePr>
          <p:cNvPr id="11" name="对象 617481">
            <a:extLst>
              <a:ext uri="{FF2B5EF4-FFF2-40B4-BE49-F238E27FC236}">
                <a16:creationId xmlns:a16="http://schemas.microsoft.com/office/drawing/2014/main" xmlns="" id="{6DFDA6BB-5A67-5AFA-F771-6E794E3470D8}"/>
              </a:ext>
            </a:extLst>
          </p:cNvPr>
          <p:cNvGraphicFramePr/>
          <p:nvPr>
            <p:extLst>
              <p:ext uri="{D42A27DB-BD31-4B8C-83A1-F6EECF244321}">
                <p14:modId xmlns:p14="http://schemas.microsoft.com/office/powerpoint/2010/main" val="2427020945"/>
              </p:ext>
            </p:extLst>
          </p:nvPr>
        </p:nvGraphicFramePr>
        <p:xfrm>
          <a:off x="1835696" y="3622434"/>
          <a:ext cx="5677875" cy="773523"/>
        </p:xfrm>
        <a:graphic>
          <a:graphicData uri="http://schemas.openxmlformats.org/presentationml/2006/ole">
            <mc:AlternateContent xmlns:mc="http://schemas.openxmlformats.org/markup-compatibility/2006">
              <mc:Choice xmlns:v="urn:schemas-microsoft-com:vml" Requires="v">
                <p:oleObj spid="_x0000_s43220" r:id="rId7" imgW="2984500" imgH="431800" progId="Equation.3">
                  <p:embed/>
                </p:oleObj>
              </mc:Choice>
              <mc:Fallback>
                <p:oleObj r:id="rId7" imgW="2984500" imgH="431800" progId="Equation.3">
                  <p:embed/>
                  <p:pic>
                    <p:nvPicPr>
                      <p:cNvPr id="0" name=""/>
                      <p:cNvPicPr/>
                      <p:nvPr/>
                    </p:nvPicPr>
                    <p:blipFill>
                      <a:blip r:embed="rId8"/>
                      <a:stretch>
                        <a:fillRect/>
                      </a:stretch>
                    </p:blipFill>
                    <p:spPr>
                      <a:xfrm>
                        <a:off x="1835696" y="3622434"/>
                        <a:ext cx="5677875" cy="773523"/>
                      </a:xfrm>
                      <a:prstGeom prst="rect">
                        <a:avLst/>
                      </a:prstGeom>
                      <a:noFill/>
                      <a:ln w="38100">
                        <a:noFill/>
                        <a:miter/>
                      </a:ln>
                    </p:spPr>
                  </p:pic>
                </p:oleObj>
              </mc:Fallback>
            </mc:AlternateContent>
          </a:graphicData>
        </a:graphic>
      </p:graphicFrame>
      <p:graphicFrame>
        <p:nvGraphicFramePr>
          <p:cNvPr id="12" name="对象 617485">
            <a:extLst>
              <a:ext uri="{FF2B5EF4-FFF2-40B4-BE49-F238E27FC236}">
                <a16:creationId xmlns:a16="http://schemas.microsoft.com/office/drawing/2014/main" xmlns="" id="{11090D53-3DC8-2D21-F66D-21388C80755D}"/>
              </a:ext>
            </a:extLst>
          </p:cNvPr>
          <p:cNvGraphicFramePr/>
          <p:nvPr>
            <p:extLst>
              <p:ext uri="{D42A27DB-BD31-4B8C-83A1-F6EECF244321}">
                <p14:modId xmlns:p14="http://schemas.microsoft.com/office/powerpoint/2010/main" val="37934154"/>
              </p:ext>
            </p:extLst>
          </p:nvPr>
        </p:nvGraphicFramePr>
        <p:xfrm>
          <a:off x="2385601" y="5345867"/>
          <a:ext cx="4372798" cy="804901"/>
        </p:xfrm>
        <a:graphic>
          <a:graphicData uri="http://schemas.openxmlformats.org/presentationml/2006/ole">
            <mc:AlternateContent xmlns:mc="http://schemas.openxmlformats.org/markup-compatibility/2006">
              <mc:Choice xmlns:v="urn:schemas-microsoft-com:vml" Requires="v">
                <p:oleObj spid="_x0000_s43221" r:id="rId9" imgW="2209800" imgH="431800" progId="Equation.3">
                  <p:embed/>
                </p:oleObj>
              </mc:Choice>
              <mc:Fallback>
                <p:oleObj r:id="rId9" imgW="2209800" imgH="431800" progId="Equation.3">
                  <p:embed/>
                  <p:pic>
                    <p:nvPicPr>
                      <p:cNvPr id="0" name=""/>
                      <p:cNvPicPr/>
                      <p:nvPr/>
                    </p:nvPicPr>
                    <p:blipFill>
                      <a:blip r:embed="rId10"/>
                      <a:stretch>
                        <a:fillRect/>
                      </a:stretch>
                    </p:blipFill>
                    <p:spPr>
                      <a:xfrm>
                        <a:off x="2385601" y="5345867"/>
                        <a:ext cx="4372798" cy="804901"/>
                      </a:xfrm>
                      <a:prstGeom prst="rect">
                        <a:avLst/>
                      </a:prstGeom>
                      <a:noFill/>
                      <a:ln w="38100">
                        <a:noFill/>
                        <a:miter/>
                      </a:ln>
                    </p:spPr>
                  </p:pic>
                </p:oleObj>
              </mc:Fallback>
            </mc:AlternateContent>
          </a:graphicData>
        </a:graphic>
      </p:graphicFrame>
    </p:spTree>
    <p:extLst>
      <p:ext uri="{BB962C8B-B14F-4D97-AF65-F5344CB8AC3E}">
        <p14:creationId xmlns:p14="http://schemas.microsoft.com/office/powerpoint/2010/main" val="1453503327"/>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65</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文本占位符 478210">
            <a:extLst>
              <a:ext uri="{FF2B5EF4-FFF2-40B4-BE49-F238E27FC236}">
                <a16:creationId xmlns:a16="http://schemas.microsoft.com/office/drawing/2014/main" xmlns="" id="{151489D0-5A7C-CA0A-B450-F4AFBBE0FD9F}"/>
              </a:ext>
            </a:extLst>
          </p:cNvPr>
          <p:cNvSpPr txBox="1">
            <a:spLocks/>
          </p:cNvSpPr>
          <p:nvPr/>
        </p:nvSpPr>
        <p:spPr>
          <a:xfrm>
            <a:off x="467544" y="1268760"/>
            <a:ext cx="7885113" cy="720080"/>
          </a:xfrm>
          <a:prstGeom prst="rect">
            <a:avLst/>
          </a:prstGeom>
          <a:noFill/>
          <a:ln>
            <a:noFill/>
          </a:ln>
        </p:spPr>
        <p:txBody>
          <a:bodyPr/>
          <a:lstStyle>
            <a:lvl1pPr marL="342900" indent="-342900" algn="l" rtl="0" eaLnBrk="0" fontAlgn="base" hangingPunct="0">
              <a:spcBef>
                <a:spcPct val="20000"/>
              </a:spcBef>
              <a:spcAft>
                <a:spcPct val="0"/>
              </a:spcAft>
              <a:buChar char="•"/>
              <a:defRPr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algn="just" eaLnBrk="1" hangingPunct="1">
              <a:spcBef>
                <a:spcPts val="0"/>
              </a:spcBef>
              <a:buNone/>
            </a:pPr>
            <a:r>
              <a:rPr lang="en-US" altLang="zh-CN" sz="2000" dirty="0">
                <a:latin typeface="Times New Roman" panose="02020603050405020304" pitchFamily="18" charset="0"/>
              </a:rPr>
              <a:t>(6)</a:t>
            </a:r>
            <a:r>
              <a:rPr lang="zh-CN" altLang="en-US" sz="2000" dirty="0">
                <a:latin typeface="Times New Roman" panose="02020603050405020304" pitchFamily="18" charset="0"/>
              </a:rPr>
              <a:t>总电感</a:t>
            </a:r>
            <a:r>
              <a:rPr lang="en-US" altLang="zh-CN" sz="2000" dirty="0">
                <a:latin typeface="Times New Roman" panose="02020603050405020304" pitchFamily="18" charset="0"/>
              </a:rPr>
              <a:t>L</a:t>
            </a:r>
          </a:p>
          <a:p>
            <a:pPr marL="0" algn="just" eaLnBrk="1" hangingPunct="1">
              <a:spcBef>
                <a:spcPts val="0"/>
              </a:spcBef>
              <a:buNone/>
            </a:pPr>
            <a:endParaRPr lang="en-US" altLang="zh-CN" sz="2000" dirty="0">
              <a:latin typeface="Times New Roman" panose="02020603050405020304" pitchFamily="18" charset="0"/>
            </a:endParaRPr>
          </a:p>
        </p:txBody>
      </p:sp>
      <p:graphicFrame>
        <p:nvGraphicFramePr>
          <p:cNvPr id="5" name="对象 618499">
            <a:extLst>
              <a:ext uri="{FF2B5EF4-FFF2-40B4-BE49-F238E27FC236}">
                <a16:creationId xmlns:a16="http://schemas.microsoft.com/office/drawing/2014/main" xmlns="" id="{8FF3143E-5DA8-7A85-C6BF-2B965F75C18A}"/>
              </a:ext>
            </a:extLst>
          </p:cNvPr>
          <p:cNvGraphicFramePr/>
          <p:nvPr>
            <p:extLst>
              <p:ext uri="{D42A27DB-BD31-4B8C-83A1-F6EECF244321}">
                <p14:modId xmlns:p14="http://schemas.microsoft.com/office/powerpoint/2010/main" val="2098424064"/>
              </p:ext>
            </p:extLst>
          </p:nvPr>
        </p:nvGraphicFramePr>
        <p:xfrm>
          <a:off x="1547664" y="2063750"/>
          <a:ext cx="5545138" cy="1365250"/>
        </p:xfrm>
        <a:graphic>
          <a:graphicData uri="http://schemas.openxmlformats.org/presentationml/2006/ole">
            <mc:AlternateContent xmlns:mc="http://schemas.openxmlformats.org/markup-compatibility/2006">
              <mc:Choice xmlns:v="urn:schemas-microsoft-com:vml" Requires="v">
                <p:oleObj spid="_x0000_s44138" r:id="rId3" imgW="2590800" imgH="635000" progId="Equation.3">
                  <p:embed/>
                </p:oleObj>
              </mc:Choice>
              <mc:Fallback>
                <p:oleObj r:id="rId3" imgW="2590800" imgH="635000" progId="Equation.3">
                  <p:embed/>
                  <p:pic>
                    <p:nvPicPr>
                      <p:cNvPr id="0" name=""/>
                      <p:cNvPicPr/>
                      <p:nvPr/>
                    </p:nvPicPr>
                    <p:blipFill>
                      <a:blip r:embed="rId4"/>
                      <a:stretch>
                        <a:fillRect/>
                      </a:stretch>
                    </p:blipFill>
                    <p:spPr>
                      <a:xfrm>
                        <a:off x="1547664" y="2063750"/>
                        <a:ext cx="5545138" cy="1365250"/>
                      </a:xfrm>
                      <a:prstGeom prst="rect">
                        <a:avLst/>
                      </a:prstGeom>
                      <a:noFill/>
                      <a:ln w="38100">
                        <a:noFill/>
                        <a:miter/>
                      </a:ln>
                    </p:spPr>
                  </p:pic>
                </p:oleObj>
              </mc:Fallback>
            </mc:AlternateContent>
          </a:graphicData>
        </a:graphic>
      </p:graphicFrame>
      <p:graphicFrame>
        <p:nvGraphicFramePr>
          <p:cNvPr id="6" name="对象 618501">
            <a:extLst>
              <a:ext uri="{FF2B5EF4-FFF2-40B4-BE49-F238E27FC236}">
                <a16:creationId xmlns:a16="http://schemas.microsoft.com/office/drawing/2014/main" xmlns="" id="{9C6CEACB-81A4-D4CF-DFF7-6B6568C1F5CF}"/>
              </a:ext>
            </a:extLst>
          </p:cNvPr>
          <p:cNvGraphicFramePr/>
          <p:nvPr>
            <p:extLst>
              <p:ext uri="{D42A27DB-BD31-4B8C-83A1-F6EECF244321}">
                <p14:modId xmlns:p14="http://schemas.microsoft.com/office/powerpoint/2010/main" val="2066532372"/>
              </p:ext>
            </p:extLst>
          </p:nvPr>
        </p:nvGraphicFramePr>
        <p:xfrm>
          <a:off x="1547664" y="4008438"/>
          <a:ext cx="4535488" cy="860425"/>
        </p:xfrm>
        <a:graphic>
          <a:graphicData uri="http://schemas.openxmlformats.org/presentationml/2006/ole">
            <mc:AlternateContent xmlns:mc="http://schemas.openxmlformats.org/markup-compatibility/2006">
              <mc:Choice xmlns:v="urn:schemas-microsoft-com:vml" Requires="v">
                <p:oleObj spid="_x0000_s44139" r:id="rId5" imgW="2209800" imgH="419100" progId="Equation.3">
                  <p:embed/>
                </p:oleObj>
              </mc:Choice>
              <mc:Fallback>
                <p:oleObj r:id="rId5" imgW="2209800" imgH="419100" progId="Equation.3">
                  <p:embed/>
                  <p:pic>
                    <p:nvPicPr>
                      <p:cNvPr id="0" name=""/>
                      <p:cNvPicPr/>
                      <p:nvPr/>
                    </p:nvPicPr>
                    <p:blipFill>
                      <a:blip r:embed="rId6"/>
                      <a:stretch>
                        <a:fillRect/>
                      </a:stretch>
                    </p:blipFill>
                    <p:spPr>
                      <a:xfrm>
                        <a:off x="1547664" y="4008438"/>
                        <a:ext cx="4535488" cy="860425"/>
                      </a:xfrm>
                      <a:prstGeom prst="rect">
                        <a:avLst/>
                      </a:prstGeom>
                      <a:noFill/>
                      <a:ln w="38100">
                        <a:noFill/>
                        <a:miter/>
                      </a:ln>
                    </p:spPr>
                  </p:pic>
                </p:oleObj>
              </mc:Fallback>
            </mc:AlternateContent>
          </a:graphicData>
        </a:graphic>
      </p:graphicFrame>
      <p:sp>
        <p:nvSpPr>
          <p:cNvPr id="7"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2.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高频</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基础</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电路</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682279936"/>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66</a:t>
            </a:fld>
            <a:endParaRPr lang="zh-CN" altLang="en-US" sz="1800" b="1">
              <a:solidFill>
                <a:schemeClr val="tx1"/>
              </a:solidFill>
              <a:latin typeface="Times New Roman" panose="02020603050405020304" pitchFamily="18" charset="0"/>
              <a:cs typeface="Times New Roman" panose="02020603050405020304" pitchFamily="18" charset="0"/>
            </a:endParaRPr>
          </a:p>
        </p:txBody>
      </p:sp>
      <p:graphicFrame>
        <p:nvGraphicFramePr>
          <p:cNvPr id="4" name="对象 672773">
            <a:extLst>
              <a:ext uri="{FF2B5EF4-FFF2-40B4-BE49-F238E27FC236}">
                <a16:creationId xmlns:a16="http://schemas.microsoft.com/office/drawing/2014/main" xmlns="" id="{182D2EC9-B7D7-9FC9-8076-B7FCB185502F}"/>
              </a:ext>
            </a:extLst>
          </p:cNvPr>
          <p:cNvGraphicFramePr/>
          <p:nvPr>
            <p:extLst>
              <p:ext uri="{D42A27DB-BD31-4B8C-83A1-F6EECF244321}">
                <p14:modId xmlns:p14="http://schemas.microsoft.com/office/powerpoint/2010/main" val="3322763637"/>
              </p:ext>
            </p:extLst>
          </p:nvPr>
        </p:nvGraphicFramePr>
        <p:xfrm>
          <a:off x="4711809" y="1293400"/>
          <a:ext cx="3929062" cy="2571750"/>
        </p:xfrm>
        <a:graphic>
          <a:graphicData uri="http://schemas.openxmlformats.org/presentationml/2006/ole">
            <mc:AlternateContent xmlns:mc="http://schemas.openxmlformats.org/markup-compatibility/2006">
              <mc:Choice xmlns:v="urn:schemas-microsoft-com:vml" Requires="v">
                <p:oleObj spid="_x0000_s45526" r:id="rId3" imgW="4610100" imgH="3403600" progId="Visio.Drawing.11">
                  <p:embed/>
                </p:oleObj>
              </mc:Choice>
              <mc:Fallback>
                <p:oleObj r:id="rId3" imgW="4610100" imgH="3403600" progId="Visio.Drawing.11">
                  <p:embed/>
                  <p:pic>
                    <p:nvPicPr>
                      <p:cNvPr id="0" name=""/>
                      <p:cNvPicPr/>
                      <p:nvPr/>
                    </p:nvPicPr>
                    <p:blipFill>
                      <a:blip r:embed="rId4"/>
                      <a:stretch>
                        <a:fillRect/>
                      </a:stretch>
                    </p:blipFill>
                    <p:spPr>
                      <a:xfrm>
                        <a:off x="4711809" y="1293400"/>
                        <a:ext cx="3929062" cy="2571750"/>
                      </a:xfrm>
                      <a:prstGeom prst="rect">
                        <a:avLst/>
                      </a:prstGeom>
                      <a:noFill/>
                      <a:ln w="38100">
                        <a:noFill/>
                        <a:miter/>
                      </a:ln>
                    </p:spPr>
                  </p:pic>
                </p:oleObj>
              </mc:Fallback>
            </mc:AlternateContent>
          </a:graphicData>
        </a:graphic>
      </p:graphicFrame>
      <p:sp>
        <p:nvSpPr>
          <p:cNvPr id="5" name="矩形 41">
            <a:extLst>
              <a:ext uri="{FF2B5EF4-FFF2-40B4-BE49-F238E27FC236}">
                <a16:creationId xmlns:a16="http://schemas.microsoft.com/office/drawing/2014/main" xmlns="" id="{64F4507F-1735-CA4C-62A6-20D29EA45ED9}"/>
              </a:ext>
            </a:extLst>
          </p:cNvPr>
          <p:cNvSpPr/>
          <p:nvPr/>
        </p:nvSpPr>
        <p:spPr>
          <a:xfrm>
            <a:off x="513519" y="1192115"/>
            <a:ext cx="4214813" cy="1938992"/>
          </a:xfrm>
          <a:prstGeom prst="rect">
            <a:avLst/>
          </a:prstGeom>
          <a:noFill/>
          <a:ln w="9525">
            <a:noFill/>
          </a:ln>
        </p:spPr>
        <p:txBody>
          <a:bodyPr>
            <a:spAutoFit/>
          </a:bodyPr>
          <a:lstStyle/>
          <a:p>
            <a:pPr eaLnBrk="1">
              <a:lnSpc>
                <a:spcPct val="100000"/>
              </a:lnSpc>
            </a:pPr>
            <a:r>
              <a:rPr lang="zh-CN" altLang="en-US" sz="2000" b="1" dirty="0">
                <a:latin typeface="Times New Roman" panose="02020603050405020304" pitchFamily="18" charset="0"/>
                <a:ea typeface="+mn-ea"/>
              </a:rPr>
              <a:t>例：</a:t>
            </a:r>
            <a:r>
              <a:rPr lang="zh-CN" altLang="en-US" sz="2000" b="1" baseline="0" dirty="0">
                <a:latin typeface="Times New Roman" panose="02020603050405020304" pitchFamily="18" charset="0"/>
                <a:ea typeface="+mn-ea"/>
              </a:rPr>
              <a:t>设计一个无耗的阻抗变换网络，将天线等效阻抗</a:t>
            </a:r>
            <a:r>
              <a:rPr lang="en-US" altLang="zh-CN" sz="2000" b="1" i="1" baseline="0" dirty="0">
                <a:latin typeface="Times New Roman" panose="02020603050405020304" pitchFamily="18" charset="0"/>
                <a:ea typeface="+mn-ea"/>
              </a:rPr>
              <a:t>Z</a:t>
            </a:r>
            <a:r>
              <a:rPr lang="en-US" altLang="zh-CN" sz="2000" b="1" baseline="-25000" dirty="0">
                <a:latin typeface="Times New Roman" panose="02020603050405020304" pitchFamily="18" charset="0"/>
                <a:ea typeface="+mn-ea"/>
              </a:rPr>
              <a:t>A</a:t>
            </a:r>
            <a:r>
              <a:rPr lang="en-US" altLang="zh-CN" sz="2000" b="1" baseline="0" dirty="0">
                <a:latin typeface="Times New Roman" panose="02020603050405020304" pitchFamily="18" charset="0"/>
                <a:ea typeface="+mn-ea"/>
              </a:rPr>
              <a:t>=</a:t>
            </a:r>
            <a:r>
              <a:rPr lang="en-US" altLang="zh-CN" sz="2000" b="1" i="1" baseline="0" dirty="0">
                <a:latin typeface="Times New Roman" panose="02020603050405020304" pitchFamily="18" charset="0"/>
                <a:ea typeface="+mn-ea"/>
              </a:rPr>
              <a:t>R</a:t>
            </a:r>
            <a:r>
              <a:rPr lang="en-US" altLang="zh-CN" sz="2000" b="1" baseline="-25000" dirty="0">
                <a:latin typeface="Times New Roman" panose="02020603050405020304" pitchFamily="18" charset="0"/>
                <a:ea typeface="+mn-ea"/>
              </a:rPr>
              <a:t>A</a:t>
            </a:r>
            <a:r>
              <a:rPr lang="en-US" altLang="zh-CN" sz="2000" b="1" baseline="0" dirty="0">
                <a:latin typeface="Times New Roman" panose="02020603050405020304" pitchFamily="18" charset="0"/>
                <a:ea typeface="+mn-ea"/>
              </a:rPr>
              <a:t>+j</a:t>
            </a:r>
            <a:r>
              <a:rPr lang="en-US" altLang="zh-CN" sz="2000" b="1" i="1" dirty="0">
                <a:latin typeface="Times New Roman" panose="02020603050405020304" pitchFamily="18" charset="0"/>
                <a:ea typeface="+mn-ea"/>
              </a:rPr>
              <a:t>X</a:t>
            </a:r>
            <a:r>
              <a:rPr lang="en-US" altLang="zh-CN" sz="2000" b="1" baseline="-25000" dirty="0">
                <a:latin typeface="Times New Roman" panose="02020603050405020304" pitchFamily="18" charset="0"/>
                <a:ea typeface="+mn-ea"/>
              </a:rPr>
              <a:t>S</a:t>
            </a:r>
            <a:r>
              <a:rPr lang="en-US" altLang="zh-CN" sz="2000" b="1" baseline="0" dirty="0">
                <a:latin typeface="Times New Roman" panose="02020603050405020304" pitchFamily="18" charset="0"/>
                <a:ea typeface="+mn-ea"/>
              </a:rPr>
              <a:t>=50-j30Ω</a:t>
            </a:r>
            <a:r>
              <a:rPr lang="zh-CN" altLang="en-US" sz="2000" b="1" baseline="0" dirty="0">
                <a:latin typeface="Times New Roman" panose="02020603050405020304" pitchFamily="18" charset="0"/>
                <a:ea typeface="+mn-ea"/>
              </a:rPr>
              <a:t>变换为纯电阻</a:t>
            </a:r>
            <a:r>
              <a:rPr lang="en-US" altLang="zh-CN" sz="2000" b="1" i="1" baseline="0" dirty="0">
                <a:latin typeface="Times New Roman" panose="02020603050405020304" pitchFamily="18" charset="0"/>
                <a:ea typeface="+mn-ea"/>
              </a:rPr>
              <a:t>R</a:t>
            </a:r>
            <a:r>
              <a:rPr lang="en-US" altLang="zh-CN" sz="2000" b="1" baseline="-25000" dirty="0">
                <a:latin typeface="Times New Roman" panose="02020603050405020304" pitchFamily="18" charset="0"/>
                <a:ea typeface="+mn-ea"/>
              </a:rPr>
              <a:t>in</a:t>
            </a:r>
            <a:r>
              <a:rPr lang="en-US" altLang="zh-CN" sz="2000" b="1" baseline="0" dirty="0">
                <a:latin typeface="Times New Roman" panose="02020603050405020304" pitchFamily="18" charset="0"/>
                <a:ea typeface="+mn-ea"/>
              </a:rPr>
              <a:t>=160Ω</a:t>
            </a:r>
            <a:r>
              <a:rPr lang="zh-CN" altLang="en-US" sz="2000" b="1" baseline="0" dirty="0">
                <a:latin typeface="Times New Roman" panose="02020603050405020304" pitchFamily="18" charset="0"/>
                <a:ea typeface="+mn-ea"/>
              </a:rPr>
              <a:t>，其工作频率为</a:t>
            </a:r>
            <a:r>
              <a:rPr lang="en-US" altLang="zh-CN" sz="2000" b="1" i="1" baseline="0" dirty="0">
                <a:latin typeface="Times New Roman" panose="02020603050405020304" pitchFamily="18" charset="0"/>
                <a:ea typeface="+mn-ea"/>
              </a:rPr>
              <a:t>f</a:t>
            </a:r>
            <a:r>
              <a:rPr lang="en-US" altLang="zh-CN" sz="2000" b="1" baseline="0" dirty="0">
                <a:latin typeface="Times New Roman" panose="02020603050405020304" pitchFamily="18" charset="0"/>
                <a:ea typeface="+mn-ea"/>
              </a:rPr>
              <a:t>=100MHz</a:t>
            </a:r>
            <a:r>
              <a:rPr lang="zh-CN" altLang="en-US" sz="2000" b="1" baseline="0" dirty="0">
                <a:latin typeface="Times New Roman" panose="02020603050405020304" pitchFamily="18" charset="0"/>
                <a:ea typeface="+mn-ea"/>
              </a:rPr>
              <a:t>，匹配网络的</a:t>
            </a:r>
            <a:r>
              <a:rPr lang="en-US" altLang="zh-CN" sz="2000" b="1" i="1" baseline="0" dirty="0">
                <a:latin typeface="Times New Roman" panose="02020603050405020304" pitchFamily="18" charset="0"/>
                <a:ea typeface="+mn-ea"/>
              </a:rPr>
              <a:t>Q </a:t>
            </a:r>
            <a:r>
              <a:rPr lang="zh-CN" altLang="en-US" sz="2000" b="1" baseline="0" dirty="0">
                <a:latin typeface="Times New Roman" panose="02020603050405020304" pitchFamily="18" charset="0"/>
                <a:ea typeface="+mn-ea"/>
              </a:rPr>
              <a:t>值要求为</a:t>
            </a:r>
            <a:r>
              <a:rPr lang="en-US" altLang="zh-CN" sz="2000" b="1" baseline="0" dirty="0">
                <a:latin typeface="Times New Roman" panose="02020603050405020304" pitchFamily="18" charset="0"/>
                <a:ea typeface="+mn-ea"/>
              </a:rPr>
              <a:t>6.633</a:t>
            </a:r>
            <a:r>
              <a:rPr lang="zh-CN" altLang="en-US" sz="2000" b="1" baseline="0" dirty="0">
                <a:latin typeface="Times New Roman" panose="02020603050405020304" pitchFamily="18" charset="0"/>
                <a:ea typeface="+mn-ea"/>
              </a:rPr>
              <a:t>。求匹配网络的电感与电容值。</a:t>
            </a:r>
          </a:p>
        </p:txBody>
      </p:sp>
      <p:sp>
        <p:nvSpPr>
          <p:cNvPr id="6" name="矩形 43">
            <a:extLst>
              <a:ext uri="{FF2B5EF4-FFF2-40B4-BE49-F238E27FC236}">
                <a16:creationId xmlns:a16="http://schemas.microsoft.com/office/drawing/2014/main" xmlns="" id="{7E4E6E73-7A9D-2011-E2FC-9BF44FB23CAA}"/>
              </a:ext>
            </a:extLst>
          </p:cNvPr>
          <p:cNvSpPr/>
          <p:nvPr/>
        </p:nvSpPr>
        <p:spPr>
          <a:xfrm>
            <a:off x="513519" y="3066488"/>
            <a:ext cx="4500563" cy="923330"/>
          </a:xfrm>
          <a:prstGeom prst="rect">
            <a:avLst/>
          </a:prstGeom>
          <a:noFill/>
          <a:ln w="9525">
            <a:noFill/>
          </a:ln>
        </p:spPr>
        <p:txBody>
          <a:bodyPr>
            <a:spAutoFit/>
          </a:bodyPr>
          <a:lstStyle/>
          <a:p>
            <a:pPr>
              <a:lnSpc>
                <a:spcPct val="100000"/>
              </a:lnSpc>
            </a:pPr>
            <a:r>
              <a:rPr lang="zh-CN" altLang="en-US" sz="1800" baseline="0" dirty="0">
                <a:solidFill>
                  <a:srgbClr val="3333FF"/>
                </a:solidFill>
                <a:latin typeface="Times New Roman" panose="02020603050405020304" pitchFamily="18" charset="0"/>
                <a:ea typeface="+mn-ea"/>
              </a:rPr>
              <a:t>解：</a:t>
            </a:r>
            <a:r>
              <a:rPr lang="zh-CN" altLang="en-US" sz="1800" baseline="0" dirty="0">
                <a:latin typeface="Times New Roman" panose="02020603050405020304" pitchFamily="18" charset="0"/>
                <a:ea typeface="+mn-ea"/>
              </a:rPr>
              <a:t> 由于</a:t>
            </a:r>
            <a:r>
              <a:rPr lang="en-US" altLang="zh-CN" sz="1800" i="1" baseline="0" dirty="0">
                <a:latin typeface="Times New Roman" panose="02020603050405020304" pitchFamily="18" charset="0"/>
                <a:ea typeface="+mn-ea"/>
              </a:rPr>
              <a:t>R</a:t>
            </a:r>
            <a:r>
              <a:rPr lang="en-US" altLang="zh-CN" sz="1800" dirty="0">
                <a:latin typeface="Times New Roman" panose="02020603050405020304" pitchFamily="18" charset="0"/>
                <a:ea typeface="+mn-ea"/>
              </a:rPr>
              <a:t>in</a:t>
            </a:r>
            <a:r>
              <a:rPr lang="en-US" altLang="zh-CN" sz="1800" baseline="0" dirty="0">
                <a:latin typeface="Times New Roman" panose="02020603050405020304" pitchFamily="18" charset="0"/>
                <a:ea typeface="+mn-ea"/>
              </a:rPr>
              <a:t> &gt;</a:t>
            </a:r>
            <a:r>
              <a:rPr lang="en-US" altLang="zh-CN" sz="1800" i="1" baseline="0" dirty="0">
                <a:latin typeface="Times New Roman" panose="02020603050405020304" pitchFamily="18" charset="0"/>
                <a:ea typeface="+mn-ea"/>
              </a:rPr>
              <a:t>R</a:t>
            </a:r>
            <a:r>
              <a:rPr lang="en-US" altLang="zh-CN" sz="1800" dirty="0">
                <a:latin typeface="Times New Roman" panose="02020603050405020304" pitchFamily="18" charset="0"/>
                <a:ea typeface="+mn-ea"/>
              </a:rPr>
              <a:t>A</a:t>
            </a:r>
            <a:r>
              <a:rPr lang="zh-CN" altLang="en-US" sz="1800" baseline="0" dirty="0">
                <a:latin typeface="Times New Roman" panose="02020603050405020304" pitchFamily="18" charset="0"/>
                <a:ea typeface="+mn-ea"/>
              </a:rPr>
              <a:t>，所以</a:t>
            </a:r>
            <a:r>
              <a:rPr lang="en-US" altLang="zh-CN" sz="1800" i="1" baseline="0" dirty="0">
                <a:latin typeface="Times New Roman" panose="02020603050405020304" pitchFamily="18" charset="0"/>
                <a:ea typeface="+mn-ea"/>
              </a:rPr>
              <a:t>Q</a:t>
            </a:r>
            <a:r>
              <a:rPr lang="en-US" altLang="zh-CN" sz="1800" baseline="0" dirty="0">
                <a:latin typeface="Times New Roman" panose="02020603050405020304" pitchFamily="18" charset="0"/>
                <a:ea typeface="+mn-ea"/>
              </a:rPr>
              <a:t>=6.633</a:t>
            </a:r>
            <a:r>
              <a:rPr lang="zh-CN" altLang="en-US" sz="1800" baseline="0" dirty="0">
                <a:latin typeface="Times New Roman" panose="02020603050405020304" pitchFamily="18" charset="0"/>
                <a:ea typeface="+mn-ea"/>
              </a:rPr>
              <a:t>应对应右边的</a:t>
            </a:r>
            <a:r>
              <a:rPr lang="en-US" altLang="zh-CN" sz="1800" i="1" baseline="0" dirty="0">
                <a:latin typeface="Times New Roman" panose="02020603050405020304" pitchFamily="18" charset="0"/>
                <a:ea typeface="+mn-ea"/>
              </a:rPr>
              <a:t>L</a:t>
            </a:r>
            <a:r>
              <a:rPr lang="zh-CN" altLang="en-US" sz="1800" baseline="0" dirty="0">
                <a:latin typeface="Times New Roman" panose="02020603050405020304" pitchFamily="18" charset="0"/>
                <a:ea typeface="+mn-ea"/>
              </a:rPr>
              <a:t>网络的</a:t>
            </a:r>
            <a:r>
              <a:rPr lang="en-US" altLang="zh-CN" sz="1800" i="1" baseline="0" dirty="0">
                <a:latin typeface="Times New Roman" panose="02020603050405020304" pitchFamily="18" charset="0"/>
                <a:ea typeface="+mn-ea"/>
              </a:rPr>
              <a:t>Q</a:t>
            </a:r>
            <a:r>
              <a:rPr lang="en-US" altLang="zh-CN" sz="1800" baseline="-25000" dirty="0">
                <a:latin typeface="Times New Roman" panose="02020603050405020304" pitchFamily="18" charset="0"/>
                <a:ea typeface="+mn-ea"/>
              </a:rPr>
              <a:t>2</a:t>
            </a:r>
            <a:r>
              <a:rPr lang="zh-CN" altLang="en-US" sz="1800" baseline="0" dirty="0">
                <a:latin typeface="Times New Roman" panose="02020603050405020304" pitchFamily="18" charset="0"/>
                <a:ea typeface="+mn-ea"/>
              </a:rPr>
              <a:t>。右边</a:t>
            </a:r>
            <a:r>
              <a:rPr lang="en-US" altLang="zh-CN" sz="1800" i="1" baseline="0" dirty="0">
                <a:latin typeface="Times New Roman" panose="02020603050405020304" pitchFamily="18" charset="0"/>
                <a:ea typeface="+mn-ea"/>
              </a:rPr>
              <a:t>L</a:t>
            </a:r>
            <a:r>
              <a:rPr lang="zh-CN" altLang="en-US" sz="1800" baseline="0" dirty="0">
                <a:latin typeface="Times New Roman" panose="02020603050405020304" pitchFamily="18" charset="0"/>
                <a:ea typeface="+mn-ea"/>
              </a:rPr>
              <a:t>网络的串联支路</a:t>
            </a:r>
            <a:r>
              <a:rPr lang="en-US" altLang="zh-CN" sz="1800" i="1" baseline="0" dirty="0">
                <a:latin typeface="Times New Roman" panose="02020603050405020304" pitchFamily="18" charset="0"/>
                <a:ea typeface="+mn-ea"/>
              </a:rPr>
              <a:t>Q</a:t>
            </a:r>
            <a:r>
              <a:rPr lang="zh-CN" altLang="en-US" sz="1800" baseline="0" dirty="0">
                <a:latin typeface="Times New Roman" panose="02020603050405020304" pitchFamily="18" charset="0"/>
                <a:ea typeface="+mn-ea"/>
              </a:rPr>
              <a:t>为</a:t>
            </a:r>
            <a:r>
              <a:rPr lang="zh-CN" altLang="en-US" sz="1800" baseline="0" dirty="0">
                <a:latin typeface="黑体" panose="02010600030101010101" pitchFamily="49" charset="-122"/>
                <a:ea typeface="黑体" panose="02010600030101010101" pitchFamily="49" charset="-122"/>
              </a:rPr>
              <a:t>：</a:t>
            </a:r>
          </a:p>
        </p:txBody>
      </p:sp>
      <p:graphicFrame>
        <p:nvGraphicFramePr>
          <p:cNvPr id="7" name="对象 672777">
            <a:extLst>
              <a:ext uri="{FF2B5EF4-FFF2-40B4-BE49-F238E27FC236}">
                <a16:creationId xmlns:a16="http://schemas.microsoft.com/office/drawing/2014/main" xmlns="" id="{306D01A7-68C1-978E-FFD0-F0FCEB8A290F}"/>
              </a:ext>
            </a:extLst>
          </p:cNvPr>
          <p:cNvGraphicFramePr/>
          <p:nvPr>
            <p:extLst>
              <p:ext uri="{D42A27DB-BD31-4B8C-83A1-F6EECF244321}">
                <p14:modId xmlns:p14="http://schemas.microsoft.com/office/powerpoint/2010/main" val="1234400709"/>
              </p:ext>
            </p:extLst>
          </p:nvPr>
        </p:nvGraphicFramePr>
        <p:xfrm>
          <a:off x="2037519" y="3701487"/>
          <a:ext cx="1500188" cy="620713"/>
        </p:xfrm>
        <a:graphic>
          <a:graphicData uri="http://schemas.openxmlformats.org/presentationml/2006/ole">
            <mc:AlternateContent xmlns:mc="http://schemas.openxmlformats.org/markup-compatibility/2006">
              <mc:Choice xmlns:v="urn:schemas-microsoft-com:vml" Requires="v">
                <p:oleObj spid="_x0000_s45527" r:id="rId5" imgW="1104900" imgH="457200" progId="Equation.DSMT4">
                  <p:embed/>
                </p:oleObj>
              </mc:Choice>
              <mc:Fallback>
                <p:oleObj r:id="rId5" imgW="1104900" imgH="457200" progId="Equation.DSMT4">
                  <p:embed/>
                  <p:pic>
                    <p:nvPicPr>
                      <p:cNvPr id="0" name=""/>
                      <p:cNvPicPr/>
                      <p:nvPr/>
                    </p:nvPicPr>
                    <p:blipFill>
                      <a:blip r:embed="rId6"/>
                      <a:stretch>
                        <a:fillRect/>
                      </a:stretch>
                    </p:blipFill>
                    <p:spPr>
                      <a:xfrm>
                        <a:off x="2037519" y="3701487"/>
                        <a:ext cx="1500188" cy="620713"/>
                      </a:xfrm>
                      <a:prstGeom prst="rect">
                        <a:avLst/>
                      </a:prstGeom>
                      <a:noFill/>
                      <a:ln w="38100">
                        <a:noFill/>
                        <a:miter/>
                      </a:ln>
                    </p:spPr>
                  </p:pic>
                </p:oleObj>
              </mc:Fallback>
            </mc:AlternateContent>
          </a:graphicData>
        </a:graphic>
      </p:graphicFrame>
      <p:graphicFrame>
        <p:nvGraphicFramePr>
          <p:cNvPr id="8" name="对象 672778">
            <a:extLst>
              <a:ext uri="{FF2B5EF4-FFF2-40B4-BE49-F238E27FC236}">
                <a16:creationId xmlns:a16="http://schemas.microsoft.com/office/drawing/2014/main" xmlns="" id="{B0F44A83-14C2-C68B-DA74-A13AEC82461E}"/>
              </a:ext>
            </a:extLst>
          </p:cNvPr>
          <p:cNvGraphicFramePr/>
          <p:nvPr>
            <p:extLst>
              <p:ext uri="{D42A27DB-BD31-4B8C-83A1-F6EECF244321}">
                <p14:modId xmlns:p14="http://schemas.microsoft.com/office/powerpoint/2010/main" val="1747457460"/>
              </p:ext>
            </p:extLst>
          </p:nvPr>
        </p:nvGraphicFramePr>
        <p:xfrm>
          <a:off x="902457" y="4587312"/>
          <a:ext cx="1414462" cy="357188"/>
        </p:xfrm>
        <a:graphic>
          <a:graphicData uri="http://schemas.openxmlformats.org/presentationml/2006/ole">
            <mc:AlternateContent xmlns:mc="http://schemas.openxmlformats.org/markup-compatibility/2006">
              <mc:Choice xmlns:v="urn:schemas-microsoft-com:vml" Requires="v">
                <p:oleObj spid="_x0000_s45528" r:id="rId7" imgW="965200" imgH="241300" progId="Equation.DSMT4">
                  <p:embed/>
                </p:oleObj>
              </mc:Choice>
              <mc:Fallback>
                <p:oleObj r:id="rId7" imgW="965200" imgH="241300" progId="Equation.DSMT4">
                  <p:embed/>
                  <p:pic>
                    <p:nvPicPr>
                      <p:cNvPr id="0" name=""/>
                      <p:cNvPicPr/>
                      <p:nvPr/>
                    </p:nvPicPr>
                    <p:blipFill>
                      <a:blip r:embed="rId8"/>
                      <a:stretch>
                        <a:fillRect/>
                      </a:stretch>
                    </p:blipFill>
                    <p:spPr>
                      <a:xfrm>
                        <a:off x="902457" y="4587312"/>
                        <a:ext cx="1414462" cy="357188"/>
                      </a:xfrm>
                      <a:prstGeom prst="rect">
                        <a:avLst/>
                      </a:prstGeom>
                      <a:noFill/>
                      <a:ln w="38100">
                        <a:noFill/>
                        <a:miter/>
                      </a:ln>
                    </p:spPr>
                  </p:pic>
                </p:oleObj>
              </mc:Fallback>
            </mc:AlternateContent>
          </a:graphicData>
        </a:graphic>
      </p:graphicFrame>
      <p:graphicFrame>
        <p:nvGraphicFramePr>
          <p:cNvPr id="9" name="对象 672779">
            <a:extLst>
              <a:ext uri="{FF2B5EF4-FFF2-40B4-BE49-F238E27FC236}">
                <a16:creationId xmlns:a16="http://schemas.microsoft.com/office/drawing/2014/main" xmlns="" id="{52DEA60F-9F9F-96C2-8361-9A9F9B4AC4E7}"/>
              </a:ext>
            </a:extLst>
          </p:cNvPr>
          <p:cNvGraphicFramePr/>
          <p:nvPr>
            <p:extLst>
              <p:ext uri="{D42A27DB-BD31-4B8C-83A1-F6EECF244321}">
                <p14:modId xmlns:p14="http://schemas.microsoft.com/office/powerpoint/2010/main" val="806956485"/>
              </p:ext>
            </p:extLst>
          </p:nvPr>
        </p:nvGraphicFramePr>
        <p:xfrm>
          <a:off x="902457" y="5054037"/>
          <a:ext cx="3643312" cy="393700"/>
        </p:xfrm>
        <a:graphic>
          <a:graphicData uri="http://schemas.openxmlformats.org/presentationml/2006/ole">
            <mc:AlternateContent xmlns:mc="http://schemas.openxmlformats.org/markup-compatibility/2006">
              <mc:Choice xmlns:v="urn:schemas-microsoft-com:vml" Requires="v">
                <p:oleObj spid="_x0000_s45529" r:id="rId9" imgW="2565400" imgH="254000" progId="Equation.DSMT4">
                  <p:embed/>
                </p:oleObj>
              </mc:Choice>
              <mc:Fallback>
                <p:oleObj r:id="rId9" imgW="2565400" imgH="254000" progId="Equation.DSMT4">
                  <p:embed/>
                  <p:pic>
                    <p:nvPicPr>
                      <p:cNvPr id="0" name=""/>
                      <p:cNvPicPr/>
                      <p:nvPr/>
                    </p:nvPicPr>
                    <p:blipFill>
                      <a:blip r:embed="rId10"/>
                      <a:stretch>
                        <a:fillRect/>
                      </a:stretch>
                    </p:blipFill>
                    <p:spPr>
                      <a:xfrm>
                        <a:off x="902457" y="5054037"/>
                        <a:ext cx="3643312" cy="393700"/>
                      </a:xfrm>
                      <a:prstGeom prst="rect">
                        <a:avLst/>
                      </a:prstGeom>
                      <a:noFill/>
                      <a:ln w="38100">
                        <a:noFill/>
                        <a:miter/>
                      </a:ln>
                    </p:spPr>
                  </p:pic>
                </p:oleObj>
              </mc:Fallback>
            </mc:AlternateContent>
          </a:graphicData>
        </a:graphic>
      </p:graphicFrame>
      <p:graphicFrame>
        <p:nvGraphicFramePr>
          <p:cNvPr id="10" name="对象 672780">
            <a:extLst>
              <a:ext uri="{FF2B5EF4-FFF2-40B4-BE49-F238E27FC236}">
                <a16:creationId xmlns:a16="http://schemas.microsoft.com/office/drawing/2014/main" xmlns="" id="{9DEC3EB5-42B7-8A08-27AE-6DC9723FD539}"/>
              </a:ext>
            </a:extLst>
          </p:cNvPr>
          <p:cNvGraphicFramePr/>
          <p:nvPr>
            <p:extLst>
              <p:ext uri="{D42A27DB-BD31-4B8C-83A1-F6EECF244321}">
                <p14:modId xmlns:p14="http://schemas.microsoft.com/office/powerpoint/2010/main" val="898524650"/>
              </p:ext>
            </p:extLst>
          </p:nvPr>
        </p:nvGraphicFramePr>
        <p:xfrm>
          <a:off x="938969" y="5538225"/>
          <a:ext cx="2820988" cy="633412"/>
        </p:xfrm>
        <a:graphic>
          <a:graphicData uri="http://schemas.openxmlformats.org/presentationml/2006/ole">
            <mc:AlternateContent xmlns:mc="http://schemas.openxmlformats.org/markup-compatibility/2006">
              <mc:Choice xmlns:v="urn:schemas-microsoft-com:vml" Requires="v">
                <p:oleObj spid="_x0000_s45530" r:id="rId11" imgW="1866900" imgH="419100" progId="Equation.DSMT4">
                  <p:embed/>
                </p:oleObj>
              </mc:Choice>
              <mc:Fallback>
                <p:oleObj r:id="rId11" imgW="1866900" imgH="419100" progId="Equation.DSMT4">
                  <p:embed/>
                  <p:pic>
                    <p:nvPicPr>
                      <p:cNvPr id="0" name=""/>
                      <p:cNvPicPr/>
                      <p:nvPr/>
                    </p:nvPicPr>
                    <p:blipFill>
                      <a:blip r:embed="rId12"/>
                      <a:stretch>
                        <a:fillRect/>
                      </a:stretch>
                    </p:blipFill>
                    <p:spPr>
                      <a:xfrm>
                        <a:off x="938969" y="5538225"/>
                        <a:ext cx="2820988" cy="633412"/>
                      </a:xfrm>
                      <a:prstGeom prst="rect">
                        <a:avLst/>
                      </a:prstGeom>
                      <a:noFill/>
                      <a:ln w="38100">
                        <a:noFill/>
                        <a:miter/>
                      </a:ln>
                    </p:spPr>
                  </p:pic>
                </p:oleObj>
              </mc:Fallback>
            </mc:AlternateContent>
          </a:graphicData>
        </a:graphic>
      </p:graphicFrame>
      <p:graphicFrame>
        <p:nvGraphicFramePr>
          <p:cNvPr id="11" name="对象 672781">
            <a:extLst>
              <a:ext uri="{FF2B5EF4-FFF2-40B4-BE49-F238E27FC236}">
                <a16:creationId xmlns:a16="http://schemas.microsoft.com/office/drawing/2014/main" xmlns="" id="{2D5AD0AA-9A87-B5C6-AD6D-571B9421306B}"/>
              </a:ext>
            </a:extLst>
          </p:cNvPr>
          <p:cNvGraphicFramePr/>
          <p:nvPr>
            <p:extLst>
              <p:ext uri="{D42A27DB-BD31-4B8C-83A1-F6EECF244321}">
                <p14:modId xmlns:p14="http://schemas.microsoft.com/office/powerpoint/2010/main" val="3039000764"/>
              </p:ext>
            </p:extLst>
          </p:nvPr>
        </p:nvGraphicFramePr>
        <p:xfrm>
          <a:off x="2589175" y="6092825"/>
          <a:ext cx="2154237" cy="765175"/>
        </p:xfrm>
        <a:graphic>
          <a:graphicData uri="http://schemas.openxmlformats.org/presentationml/2006/ole">
            <mc:AlternateContent xmlns:mc="http://schemas.openxmlformats.org/markup-compatibility/2006">
              <mc:Choice xmlns:v="urn:schemas-microsoft-com:vml" Requires="v">
                <p:oleObj spid="_x0000_s45531" r:id="rId13" imgW="1346200" imgH="482600" progId="Equation.DSMT4">
                  <p:embed/>
                </p:oleObj>
              </mc:Choice>
              <mc:Fallback>
                <p:oleObj r:id="rId13" imgW="1346200" imgH="482600" progId="Equation.DSMT4">
                  <p:embed/>
                  <p:pic>
                    <p:nvPicPr>
                      <p:cNvPr id="0" name=""/>
                      <p:cNvPicPr/>
                      <p:nvPr/>
                    </p:nvPicPr>
                    <p:blipFill>
                      <a:blip r:embed="rId14"/>
                      <a:stretch>
                        <a:fillRect/>
                      </a:stretch>
                    </p:blipFill>
                    <p:spPr>
                      <a:xfrm>
                        <a:off x="2589175" y="6092825"/>
                        <a:ext cx="2154237" cy="765175"/>
                      </a:xfrm>
                      <a:prstGeom prst="rect">
                        <a:avLst/>
                      </a:prstGeom>
                      <a:noFill/>
                      <a:ln w="38100">
                        <a:noFill/>
                        <a:miter/>
                      </a:ln>
                    </p:spPr>
                  </p:pic>
                </p:oleObj>
              </mc:Fallback>
            </mc:AlternateContent>
          </a:graphicData>
        </a:graphic>
      </p:graphicFrame>
      <p:graphicFrame>
        <p:nvGraphicFramePr>
          <p:cNvPr id="12" name="对象 672782">
            <a:extLst>
              <a:ext uri="{FF2B5EF4-FFF2-40B4-BE49-F238E27FC236}">
                <a16:creationId xmlns:a16="http://schemas.microsoft.com/office/drawing/2014/main" xmlns="" id="{04F50F50-4B9B-D743-B155-A42E5D91E72D}"/>
              </a:ext>
            </a:extLst>
          </p:cNvPr>
          <p:cNvGraphicFramePr/>
          <p:nvPr>
            <p:extLst>
              <p:ext uri="{D42A27DB-BD31-4B8C-83A1-F6EECF244321}">
                <p14:modId xmlns:p14="http://schemas.microsoft.com/office/powerpoint/2010/main" val="1818260932"/>
              </p:ext>
            </p:extLst>
          </p:nvPr>
        </p:nvGraphicFramePr>
        <p:xfrm>
          <a:off x="6514269" y="3341125"/>
          <a:ext cx="1344613" cy="357187"/>
        </p:xfrm>
        <a:graphic>
          <a:graphicData uri="http://schemas.openxmlformats.org/presentationml/2006/ole">
            <mc:AlternateContent xmlns:mc="http://schemas.openxmlformats.org/markup-compatibility/2006">
              <mc:Choice xmlns:v="urn:schemas-microsoft-com:vml" Requires="v">
                <p:oleObj spid="_x0000_s45532" r:id="rId15" imgW="862965" imgH="228600" progId="Equation.DSMT4">
                  <p:embed/>
                </p:oleObj>
              </mc:Choice>
              <mc:Fallback>
                <p:oleObj r:id="rId15" imgW="862965" imgH="228600" progId="Equation.DSMT4">
                  <p:embed/>
                  <p:pic>
                    <p:nvPicPr>
                      <p:cNvPr id="0" name=""/>
                      <p:cNvPicPr/>
                      <p:nvPr/>
                    </p:nvPicPr>
                    <p:blipFill>
                      <a:blip r:embed="rId16"/>
                      <a:stretch>
                        <a:fillRect/>
                      </a:stretch>
                    </p:blipFill>
                    <p:spPr>
                      <a:xfrm>
                        <a:off x="6514269" y="3341125"/>
                        <a:ext cx="1344613" cy="357187"/>
                      </a:xfrm>
                      <a:prstGeom prst="rect">
                        <a:avLst/>
                      </a:prstGeom>
                      <a:noFill/>
                      <a:ln w="38100">
                        <a:noFill/>
                        <a:miter/>
                      </a:ln>
                    </p:spPr>
                  </p:pic>
                </p:oleObj>
              </mc:Fallback>
            </mc:AlternateContent>
          </a:graphicData>
        </a:graphic>
      </p:graphicFrame>
      <p:graphicFrame>
        <p:nvGraphicFramePr>
          <p:cNvPr id="13" name="对象 672783">
            <a:extLst>
              <a:ext uri="{FF2B5EF4-FFF2-40B4-BE49-F238E27FC236}">
                <a16:creationId xmlns:a16="http://schemas.microsoft.com/office/drawing/2014/main" xmlns="" id="{173C14CF-2DCE-DE65-A47B-3273F0DA052A}"/>
              </a:ext>
            </a:extLst>
          </p:cNvPr>
          <p:cNvGraphicFramePr/>
          <p:nvPr>
            <p:extLst>
              <p:ext uri="{D42A27DB-BD31-4B8C-83A1-F6EECF244321}">
                <p14:modId xmlns:p14="http://schemas.microsoft.com/office/powerpoint/2010/main" val="668002426"/>
              </p:ext>
            </p:extLst>
          </p:nvPr>
        </p:nvGraphicFramePr>
        <p:xfrm>
          <a:off x="5698294" y="4393637"/>
          <a:ext cx="2930525" cy="676275"/>
        </p:xfrm>
        <a:graphic>
          <a:graphicData uri="http://schemas.openxmlformats.org/presentationml/2006/ole">
            <mc:AlternateContent xmlns:mc="http://schemas.openxmlformats.org/markup-compatibility/2006">
              <mc:Choice xmlns:v="urn:schemas-microsoft-com:vml" Requires="v">
                <p:oleObj spid="_x0000_s45533" r:id="rId17" imgW="1879600" imgH="431800" progId="Equation.DSMT4">
                  <p:embed/>
                </p:oleObj>
              </mc:Choice>
              <mc:Fallback>
                <p:oleObj r:id="rId17" imgW="1879600" imgH="431800" progId="Equation.DSMT4">
                  <p:embed/>
                  <p:pic>
                    <p:nvPicPr>
                      <p:cNvPr id="0" name=""/>
                      <p:cNvPicPr/>
                      <p:nvPr/>
                    </p:nvPicPr>
                    <p:blipFill>
                      <a:blip r:embed="rId18"/>
                      <a:stretch>
                        <a:fillRect/>
                      </a:stretch>
                    </p:blipFill>
                    <p:spPr>
                      <a:xfrm>
                        <a:off x="5698294" y="4393637"/>
                        <a:ext cx="2930525" cy="676275"/>
                      </a:xfrm>
                      <a:prstGeom prst="rect">
                        <a:avLst/>
                      </a:prstGeom>
                      <a:noFill/>
                      <a:ln w="38100">
                        <a:noFill/>
                        <a:miter/>
                      </a:ln>
                    </p:spPr>
                  </p:pic>
                </p:oleObj>
              </mc:Fallback>
            </mc:AlternateContent>
          </a:graphicData>
        </a:graphic>
      </p:graphicFrame>
      <p:graphicFrame>
        <p:nvGraphicFramePr>
          <p:cNvPr id="14" name="对象 672784">
            <a:extLst>
              <a:ext uri="{FF2B5EF4-FFF2-40B4-BE49-F238E27FC236}">
                <a16:creationId xmlns:a16="http://schemas.microsoft.com/office/drawing/2014/main" xmlns="" id="{3DD603A5-D628-3BB6-2924-4D867AC04C37}"/>
              </a:ext>
            </a:extLst>
          </p:cNvPr>
          <p:cNvGraphicFramePr/>
          <p:nvPr>
            <p:extLst>
              <p:ext uri="{D42A27DB-BD31-4B8C-83A1-F6EECF244321}">
                <p14:modId xmlns:p14="http://schemas.microsoft.com/office/powerpoint/2010/main" val="2964106228"/>
              </p:ext>
            </p:extLst>
          </p:nvPr>
        </p:nvGraphicFramePr>
        <p:xfrm>
          <a:off x="5268653" y="5696744"/>
          <a:ext cx="3571875" cy="803275"/>
        </p:xfrm>
        <a:graphic>
          <a:graphicData uri="http://schemas.openxmlformats.org/presentationml/2006/ole">
            <mc:AlternateContent xmlns:mc="http://schemas.openxmlformats.org/markup-compatibility/2006">
              <mc:Choice xmlns:v="urn:schemas-microsoft-com:vml" Requires="v">
                <p:oleObj spid="_x0000_s45534" r:id="rId19" imgW="2133600" imgH="482600" progId="Equation.DSMT4">
                  <p:embed/>
                </p:oleObj>
              </mc:Choice>
              <mc:Fallback>
                <p:oleObj r:id="rId19" imgW="2133600" imgH="482600" progId="Equation.DSMT4">
                  <p:embed/>
                  <p:pic>
                    <p:nvPicPr>
                      <p:cNvPr id="0" name=""/>
                      <p:cNvPicPr/>
                      <p:nvPr/>
                    </p:nvPicPr>
                    <p:blipFill>
                      <a:blip r:embed="rId20"/>
                      <a:stretch>
                        <a:fillRect/>
                      </a:stretch>
                    </p:blipFill>
                    <p:spPr>
                      <a:xfrm>
                        <a:off x="5268653" y="5696744"/>
                        <a:ext cx="3571875" cy="803275"/>
                      </a:xfrm>
                      <a:prstGeom prst="rect">
                        <a:avLst/>
                      </a:prstGeom>
                      <a:noFill/>
                      <a:ln w="38100">
                        <a:noFill/>
                        <a:miter/>
                      </a:ln>
                    </p:spPr>
                  </p:pic>
                </p:oleObj>
              </mc:Fallback>
            </mc:AlternateContent>
          </a:graphicData>
        </a:graphic>
      </p:graphicFrame>
      <p:sp>
        <p:nvSpPr>
          <p:cNvPr id="15" name="矩形 73">
            <a:extLst>
              <a:ext uri="{FF2B5EF4-FFF2-40B4-BE49-F238E27FC236}">
                <a16:creationId xmlns:a16="http://schemas.microsoft.com/office/drawing/2014/main" xmlns="" id="{143D989C-2CBB-E6DF-AB03-B050242A6240}"/>
              </a:ext>
            </a:extLst>
          </p:cNvPr>
          <p:cNvSpPr/>
          <p:nvPr/>
        </p:nvSpPr>
        <p:spPr>
          <a:xfrm>
            <a:off x="513519" y="4165832"/>
            <a:ext cx="1327150" cy="366712"/>
          </a:xfrm>
          <a:prstGeom prst="rect">
            <a:avLst/>
          </a:prstGeom>
          <a:noFill/>
          <a:ln w="9525">
            <a:noFill/>
          </a:ln>
        </p:spPr>
        <p:txBody>
          <a:bodyPr wrap="none">
            <a:spAutoFit/>
          </a:bodyPr>
          <a:lstStyle/>
          <a:p>
            <a:pPr>
              <a:lnSpc>
                <a:spcPct val="100000"/>
              </a:lnSpc>
            </a:pPr>
            <a:r>
              <a:rPr lang="zh-CN" altLang="en-US" sz="1800" baseline="0" dirty="0">
                <a:latin typeface="+mn-ea"/>
                <a:ea typeface="+mn-ea"/>
              </a:rPr>
              <a:t>由此得出：</a:t>
            </a:r>
          </a:p>
        </p:txBody>
      </p:sp>
      <p:sp>
        <p:nvSpPr>
          <p:cNvPr id="16" name="左大括号 15">
            <a:extLst>
              <a:ext uri="{FF2B5EF4-FFF2-40B4-BE49-F238E27FC236}">
                <a16:creationId xmlns:a16="http://schemas.microsoft.com/office/drawing/2014/main" xmlns="" id="{6AEE583A-A277-FC5A-414E-5773F8C859A7}"/>
              </a:ext>
            </a:extLst>
          </p:cNvPr>
          <p:cNvSpPr/>
          <p:nvPr/>
        </p:nvSpPr>
        <p:spPr>
          <a:xfrm>
            <a:off x="688144" y="4725425"/>
            <a:ext cx="142875" cy="1143000"/>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17" name="矩形 75">
            <a:extLst>
              <a:ext uri="{FF2B5EF4-FFF2-40B4-BE49-F238E27FC236}">
                <a16:creationId xmlns:a16="http://schemas.microsoft.com/office/drawing/2014/main" xmlns="" id="{51A859F6-3A6A-8AD3-24F7-FA22B003AFBF}"/>
              </a:ext>
            </a:extLst>
          </p:cNvPr>
          <p:cNvSpPr/>
          <p:nvPr/>
        </p:nvSpPr>
        <p:spPr>
          <a:xfrm>
            <a:off x="532569" y="6153613"/>
            <a:ext cx="2262158" cy="369332"/>
          </a:xfrm>
          <a:prstGeom prst="rect">
            <a:avLst/>
          </a:prstGeom>
          <a:noFill/>
          <a:ln w="9525">
            <a:noFill/>
          </a:ln>
        </p:spPr>
        <p:txBody>
          <a:bodyPr wrap="none">
            <a:spAutoFit/>
          </a:bodyPr>
          <a:lstStyle/>
          <a:p>
            <a:pPr>
              <a:lnSpc>
                <a:spcPct val="100000"/>
              </a:lnSpc>
            </a:pPr>
            <a:r>
              <a:rPr lang="en-US" altLang="zh-CN" sz="1800" i="1" baseline="0" dirty="0">
                <a:latin typeface="+mn-ea"/>
                <a:ea typeface="+mn-ea"/>
              </a:rPr>
              <a:t>R</a:t>
            </a:r>
            <a:r>
              <a:rPr lang="en-US" altLang="zh-CN" sz="1800" baseline="-25000" dirty="0">
                <a:latin typeface="+mn-ea"/>
                <a:ea typeface="+mn-ea"/>
              </a:rPr>
              <a:t>i</a:t>
            </a:r>
            <a:r>
              <a:rPr lang="zh-CN" altLang="en-US" sz="1800" baseline="0" dirty="0">
                <a:latin typeface="+mn-ea"/>
                <a:ea typeface="+mn-ea"/>
              </a:rPr>
              <a:t>与</a:t>
            </a:r>
            <a:r>
              <a:rPr lang="en-US" altLang="zh-CN" sz="1800" i="1" baseline="0" dirty="0">
                <a:latin typeface="+mn-ea"/>
                <a:ea typeface="+mn-ea"/>
              </a:rPr>
              <a:t>R</a:t>
            </a:r>
            <a:r>
              <a:rPr lang="en-US" altLang="zh-CN" sz="1800" baseline="-25000" dirty="0">
                <a:latin typeface="+mn-ea"/>
                <a:ea typeface="+mn-ea"/>
              </a:rPr>
              <a:t>A</a:t>
            </a:r>
            <a:r>
              <a:rPr lang="zh-CN" altLang="en-US" sz="1800" baseline="0" dirty="0">
                <a:latin typeface="+mn-ea"/>
                <a:ea typeface="+mn-ea"/>
              </a:rPr>
              <a:t>的关系满足：</a:t>
            </a:r>
          </a:p>
        </p:txBody>
      </p:sp>
      <p:sp>
        <p:nvSpPr>
          <p:cNvPr id="18" name="矩形 76">
            <a:extLst>
              <a:ext uri="{FF2B5EF4-FFF2-40B4-BE49-F238E27FC236}">
                <a16:creationId xmlns:a16="http://schemas.microsoft.com/office/drawing/2014/main" xmlns="" id="{A2DEBC71-37CA-7279-20A2-094337EB18BE}"/>
              </a:ext>
            </a:extLst>
          </p:cNvPr>
          <p:cNvSpPr/>
          <p:nvPr/>
        </p:nvSpPr>
        <p:spPr>
          <a:xfrm>
            <a:off x="5045832" y="3125225"/>
            <a:ext cx="1327150" cy="366712"/>
          </a:xfrm>
          <a:prstGeom prst="rect">
            <a:avLst/>
          </a:prstGeom>
          <a:noFill/>
          <a:ln w="9525">
            <a:noFill/>
          </a:ln>
        </p:spPr>
        <p:txBody>
          <a:bodyPr wrap="none">
            <a:spAutoFit/>
          </a:bodyPr>
          <a:lstStyle/>
          <a:p>
            <a:pPr>
              <a:lnSpc>
                <a:spcPct val="100000"/>
              </a:lnSpc>
            </a:pPr>
            <a:r>
              <a:rPr lang="zh-CN" altLang="en-US" sz="1800" baseline="0" dirty="0">
                <a:latin typeface="+mn-ea"/>
                <a:ea typeface="+mn-ea"/>
              </a:rPr>
              <a:t>由此得出：</a:t>
            </a:r>
          </a:p>
        </p:txBody>
      </p:sp>
      <p:sp>
        <p:nvSpPr>
          <p:cNvPr id="19" name="矩形 77">
            <a:extLst>
              <a:ext uri="{FF2B5EF4-FFF2-40B4-BE49-F238E27FC236}">
                <a16:creationId xmlns:a16="http://schemas.microsoft.com/office/drawing/2014/main" xmlns="" id="{7F0C12C8-A685-B74F-F163-75BDF041FCA5}"/>
              </a:ext>
            </a:extLst>
          </p:cNvPr>
          <p:cNvSpPr/>
          <p:nvPr/>
        </p:nvSpPr>
        <p:spPr>
          <a:xfrm>
            <a:off x="5053769" y="3917387"/>
            <a:ext cx="2012950" cy="366713"/>
          </a:xfrm>
          <a:prstGeom prst="rect">
            <a:avLst/>
          </a:prstGeom>
          <a:noFill/>
          <a:ln w="9525">
            <a:noFill/>
          </a:ln>
        </p:spPr>
        <p:txBody>
          <a:bodyPr wrap="none">
            <a:spAutoFit/>
          </a:bodyPr>
          <a:lstStyle/>
          <a:p>
            <a:pPr>
              <a:lnSpc>
                <a:spcPct val="100000"/>
              </a:lnSpc>
            </a:pPr>
            <a:r>
              <a:rPr lang="zh-CN" altLang="en-US" sz="1800" baseline="0" dirty="0">
                <a:latin typeface="+mn-ea"/>
                <a:ea typeface="+mn-ea"/>
              </a:rPr>
              <a:t>负载端电容电抗：</a:t>
            </a:r>
          </a:p>
        </p:txBody>
      </p:sp>
      <p:sp>
        <p:nvSpPr>
          <p:cNvPr id="20" name="矩形 78">
            <a:extLst>
              <a:ext uri="{FF2B5EF4-FFF2-40B4-BE49-F238E27FC236}">
                <a16:creationId xmlns:a16="http://schemas.microsoft.com/office/drawing/2014/main" xmlns="" id="{AED1277E-2A7E-2EAB-3E26-70B0DB4C717C}"/>
              </a:ext>
            </a:extLst>
          </p:cNvPr>
          <p:cNvSpPr/>
          <p:nvPr/>
        </p:nvSpPr>
        <p:spPr>
          <a:xfrm>
            <a:off x="5045832" y="5086268"/>
            <a:ext cx="1784350" cy="366713"/>
          </a:xfrm>
          <a:prstGeom prst="rect">
            <a:avLst/>
          </a:prstGeom>
          <a:noFill/>
          <a:ln w="9525">
            <a:noFill/>
          </a:ln>
        </p:spPr>
        <p:txBody>
          <a:bodyPr wrap="none">
            <a:spAutoFit/>
          </a:bodyPr>
          <a:lstStyle/>
          <a:p>
            <a:pPr>
              <a:lnSpc>
                <a:spcPct val="100000"/>
              </a:lnSpc>
            </a:pPr>
            <a:r>
              <a:rPr lang="zh-CN" altLang="en-US" sz="1800" baseline="0" dirty="0">
                <a:latin typeface="+mn-ea"/>
                <a:ea typeface="+mn-ea"/>
              </a:rPr>
              <a:t>信号源端</a:t>
            </a:r>
            <a:r>
              <a:rPr lang="en-US" altLang="zh-CN" sz="1800" i="1" baseline="0" dirty="0">
                <a:latin typeface="+mn-ea"/>
                <a:ea typeface="+mn-ea"/>
              </a:rPr>
              <a:t>Q </a:t>
            </a:r>
            <a:r>
              <a:rPr lang="zh-CN" altLang="en-US" sz="1800" baseline="0" dirty="0">
                <a:latin typeface="+mn-ea"/>
                <a:ea typeface="+mn-ea"/>
              </a:rPr>
              <a:t>值：</a:t>
            </a:r>
          </a:p>
        </p:txBody>
      </p:sp>
      <p:cxnSp>
        <p:nvCxnSpPr>
          <p:cNvPr id="21" name="直接连接符 53">
            <a:extLst>
              <a:ext uri="{FF2B5EF4-FFF2-40B4-BE49-F238E27FC236}">
                <a16:creationId xmlns:a16="http://schemas.microsoft.com/office/drawing/2014/main" xmlns="" id="{8D1B74C5-EC49-A3D4-D5B3-7CBAC58B9EFA}"/>
              </a:ext>
            </a:extLst>
          </p:cNvPr>
          <p:cNvCxnSpPr/>
          <p:nvPr/>
        </p:nvCxnSpPr>
        <p:spPr>
          <a:xfrm rot="5400000">
            <a:off x="3118607" y="4941325"/>
            <a:ext cx="3708400" cy="0"/>
          </a:xfrm>
          <a:prstGeom prst="line">
            <a:avLst/>
          </a:prstGeom>
          <a:ln w="19050" cap="flat" cmpd="sng">
            <a:solidFill>
              <a:schemeClr val="tx1"/>
            </a:solidFill>
            <a:prstDash val="sysDash"/>
            <a:headEnd type="none" w="med" len="med"/>
            <a:tailEnd type="none" w="med" len="med"/>
          </a:ln>
        </p:spPr>
      </p:cxnSp>
      <p:sp>
        <p:nvSpPr>
          <p:cNvPr id="22"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2.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高频</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基础</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电路</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838570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5" grpId="0"/>
      <p:bldP spid="16" grpId="0" animBg="1"/>
      <p:bldP spid="17" grpId="0"/>
      <p:bldP spid="18" grpId="0"/>
      <p:bldP spid="19" grpId="0"/>
      <p:bldP spid="20"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67</a:t>
            </a:fld>
            <a:endParaRPr lang="zh-CN" altLang="en-US" sz="1800" b="1">
              <a:solidFill>
                <a:schemeClr val="tx1"/>
              </a:solidFill>
              <a:latin typeface="Times New Roman" panose="02020603050405020304" pitchFamily="18" charset="0"/>
              <a:cs typeface="Times New Roman" panose="02020603050405020304" pitchFamily="18" charset="0"/>
            </a:endParaRPr>
          </a:p>
        </p:txBody>
      </p:sp>
      <p:graphicFrame>
        <p:nvGraphicFramePr>
          <p:cNvPr id="4" name="对象 673796">
            <a:extLst>
              <a:ext uri="{FF2B5EF4-FFF2-40B4-BE49-F238E27FC236}">
                <a16:creationId xmlns:a16="http://schemas.microsoft.com/office/drawing/2014/main" xmlns="" id="{9EDE39BD-AF3D-3E02-795D-5BC49D38850A}"/>
              </a:ext>
            </a:extLst>
          </p:cNvPr>
          <p:cNvGraphicFramePr/>
          <p:nvPr>
            <p:extLst>
              <p:ext uri="{D42A27DB-BD31-4B8C-83A1-F6EECF244321}">
                <p14:modId xmlns:p14="http://schemas.microsoft.com/office/powerpoint/2010/main" val="647650783"/>
              </p:ext>
            </p:extLst>
          </p:nvPr>
        </p:nvGraphicFramePr>
        <p:xfrm>
          <a:off x="4746661" y="1823375"/>
          <a:ext cx="3929063" cy="2571750"/>
        </p:xfrm>
        <a:graphic>
          <a:graphicData uri="http://schemas.openxmlformats.org/presentationml/2006/ole">
            <mc:AlternateContent xmlns:mc="http://schemas.openxmlformats.org/markup-compatibility/2006">
              <mc:Choice xmlns:v="urn:schemas-microsoft-com:vml" Requires="v">
                <p:oleObj spid="_x0000_s46394" r:id="rId3" imgW="4610100" imgH="3403600" progId="Visio.Drawing.11">
                  <p:embed/>
                </p:oleObj>
              </mc:Choice>
              <mc:Fallback>
                <p:oleObj r:id="rId3" imgW="4610100" imgH="3403600" progId="Visio.Drawing.11">
                  <p:embed/>
                  <p:pic>
                    <p:nvPicPr>
                      <p:cNvPr id="0" name=""/>
                      <p:cNvPicPr/>
                      <p:nvPr/>
                    </p:nvPicPr>
                    <p:blipFill>
                      <a:blip r:embed="rId4"/>
                      <a:stretch>
                        <a:fillRect/>
                      </a:stretch>
                    </p:blipFill>
                    <p:spPr>
                      <a:xfrm>
                        <a:off x="4746661" y="1823375"/>
                        <a:ext cx="3929063" cy="2571750"/>
                      </a:xfrm>
                      <a:prstGeom prst="rect">
                        <a:avLst/>
                      </a:prstGeom>
                      <a:noFill/>
                      <a:ln w="38100">
                        <a:noFill/>
                        <a:miter/>
                      </a:ln>
                    </p:spPr>
                  </p:pic>
                </p:oleObj>
              </mc:Fallback>
            </mc:AlternateContent>
          </a:graphicData>
        </a:graphic>
      </p:graphicFrame>
      <p:graphicFrame>
        <p:nvGraphicFramePr>
          <p:cNvPr id="5" name="对象 673797">
            <a:extLst>
              <a:ext uri="{FF2B5EF4-FFF2-40B4-BE49-F238E27FC236}">
                <a16:creationId xmlns:a16="http://schemas.microsoft.com/office/drawing/2014/main" xmlns="" id="{1BC04CC8-475B-9329-FCF1-3EBB39FA2272}"/>
              </a:ext>
            </a:extLst>
          </p:cNvPr>
          <p:cNvGraphicFramePr/>
          <p:nvPr>
            <p:extLst>
              <p:ext uri="{D42A27DB-BD31-4B8C-83A1-F6EECF244321}">
                <p14:modId xmlns:p14="http://schemas.microsoft.com/office/powerpoint/2010/main" val="3953835752"/>
              </p:ext>
            </p:extLst>
          </p:nvPr>
        </p:nvGraphicFramePr>
        <p:xfrm>
          <a:off x="1316073" y="4004339"/>
          <a:ext cx="3286125" cy="633413"/>
        </p:xfrm>
        <a:graphic>
          <a:graphicData uri="http://schemas.openxmlformats.org/presentationml/2006/ole">
            <mc:AlternateContent xmlns:mc="http://schemas.openxmlformats.org/markup-compatibility/2006">
              <mc:Choice xmlns:v="urn:schemas-microsoft-com:vml" Requires="v">
                <p:oleObj spid="_x0000_s46395" r:id="rId5" imgW="1854200" imgH="419100" progId="Equation.DSMT4">
                  <p:embed/>
                </p:oleObj>
              </mc:Choice>
              <mc:Fallback>
                <p:oleObj r:id="rId5" imgW="1854200" imgH="419100" progId="Equation.DSMT4">
                  <p:embed/>
                  <p:pic>
                    <p:nvPicPr>
                      <p:cNvPr id="0" name=""/>
                      <p:cNvPicPr/>
                      <p:nvPr/>
                    </p:nvPicPr>
                    <p:blipFill>
                      <a:blip r:embed="rId6"/>
                      <a:stretch>
                        <a:fillRect/>
                      </a:stretch>
                    </p:blipFill>
                    <p:spPr>
                      <a:xfrm>
                        <a:off x="1316073" y="4004339"/>
                        <a:ext cx="3286125" cy="633413"/>
                      </a:xfrm>
                      <a:prstGeom prst="rect">
                        <a:avLst/>
                      </a:prstGeom>
                      <a:noFill/>
                      <a:ln w="38100">
                        <a:noFill/>
                        <a:miter/>
                      </a:ln>
                    </p:spPr>
                  </p:pic>
                </p:oleObj>
              </mc:Fallback>
            </mc:AlternateContent>
          </a:graphicData>
        </a:graphic>
      </p:graphicFrame>
      <p:graphicFrame>
        <p:nvGraphicFramePr>
          <p:cNvPr id="6" name="对象 673798">
            <a:extLst>
              <a:ext uri="{FF2B5EF4-FFF2-40B4-BE49-F238E27FC236}">
                <a16:creationId xmlns:a16="http://schemas.microsoft.com/office/drawing/2014/main" xmlns="" id="{7CB6FBC3-FA3E-5AC2-FD3A-E595370AC8FC}"/>
              </a:ext>
            </a:extLst>
          </p:cNvPr>
          <p:cNvGraphicFramePr/>
          <p:nvPr>
            <p:extLst>
              <p:ext uri="{D42A27DB-BD31-4B8C-83A1-F6EECF244321}">
                <p14:modId xmlns:p14="http://schemas.microsoft.com/office/powerpoint/2010/main" val="1621762606"/>
              </p:ext>
            </p:extLst>
          </p:nvPr>
        </p:nvGraphicFramePr>
        <p:xfrm>
          <a:off x="1299906" y="4981240"/>
          <a:ext cx="4014788" cy="611188"/>
        </p:xfrm>
        <a:graphic>
          <a:graphicData uri="http://schemas.openxmlformats.org/presentationml/2006/ole">
            <mc:AlternateContent xmlns:mc="http://schemas.openxmlformats.org/markup-compatibility/2006">
              <mc:Choice xmlns:v="urn:schemas-microsoft-com:vml" Requires="v">
                <p:oleObj spid="_x0000_s46396" r:id="rId7" imgW="2603500" imgH="393700" progId="Equation.DSMT4">
                  <p:embed/>
                </p:oleObj>
              </mc:Choice>
              <mc:Fallback>
                <p:oleObj r:id="rId7" imgW="2603500" imgH="393700" progId="Equation.DSMT4">
                  <p:embed/>
                  <p:pic>
                    <p:nvPicPr>
                      <p:cNvPr id="0" name=""/>
                      <p:cNvPicPr/>
                      <p:nvPr/>
                    </p:nvPicPr>
                    <p:blipFill>
                      <a:blip r:embed="rId8"/>
                      <a:stretch>
                        <a:fillRect/>
                      </a:stretch>
                    </p:blipFill>
                    <p:spPr>
                      <a:xfrm>
                        <a:off x="1299906" y="4981240"/>
                        <a:ext cx="4014788" cy="611188"/>
                      </a:xfrm>
                      <a:prstGeom prst="rect">
                        <a:avLst/>
                      </a:prstGeom>
                      <a:noFill/>
                      <a:ln w="38100">
                        <a:noFill/>
                        <a:miter/>
                      </a:ln>
                    </p:spPr>
                  </p:pic>
                </p:oleObj>
              </mc:Fallback>
            </mc:AlternateContent>
          </a:graphicData>
        </a:graphic>
      </p:graphicFrame>
      <p:graphicFrame>
        <p:nvGraphicFramePr>
          <p:cNvPr id="7" name="对象 673799">
            <a:extLst>
              <a:ext uri="{FF2B5EF4-FFF2-40B4-BE49-F238E27FC236}">
                <a16:creationId xmlns:a16="http://schemas.microsoft.com/office/drawing/2014/main" xmlns="" id="{7A051FE3-060E-9741-5E5F-30DCDCD2BEE0}"/>
              </a:ext>
            </a:extLst>
          </p:cNvPr>
          <p:cNvGraphicFramePr/>
          <p:nvPr>
            <p:extLst>
              <p:ext uri="{D42A27DB-BD31-4B8C-83A1-F6EECF244321}">
                <p14:modId xmlns:p14="http://schemas.microsoft.com/office/powerpoint/2010/main" val="4172767218"/>
              </p:ext>
            </p:extLst>
          </p:nvPr>
        </p:nvGraphicFramePr>
        <p:xfrm>
          <a:off x="1299906" y="5852778"/>
          <a:ext cx="4286250" cy="649287"/>
        </p:xfrm>
        <a:graphic>
          <a:graphicData uri="http://schemas.openxmlformats.org/presentationml/2006/ole">
            <mc:AlternateContent xmlns:mc="http://schemas.openxmlformats.org/markup-compatibility/2006">
              <mc:Choice xmlns:v="urn:schemas-microsoft-com:vml" Requires="v">
                <p:oleObj spid="_x0000_s46397" r:id="rId9" imgW="2336800" imgH="431800" progId="Equation.DSMT4">
                  <p:embed/>
                </p:oleObj>
              </mc:Choice>
              <mc:Fallback>
                <p:oleObj r:id="rId9" imgW="2336800" imgH="431800" progId="Equation.DSMT4">
                  <p:embed/>
                  <p:pic>
                    <p:nvPicPr>
                      <p:cNvPr id="0" name=""/>
                      <p:cNvPicPr/>
                      <p:nvPr/>
                    </p:nvPicPr>
                    <p:blipFill>
                      <a:blip r:embed="rId10"/>
                      <a:stretch>
                        <a:fillRect/>
                      </a:stretch>
                    </p:blipFill>
                    <p:spPr>
                      <a:xfrm>
                        <a:off x="1299906" y="5852778"/>
                        <a:ext cx="4286250" cy="649287"/>
                      </a:xfrm>
                      <a:prstGeom prst="rect">
                        <a:avLst/>
                      </a:prstGeom>
                      <a:noFill/>
                      <a:ln w="38100">
                        <a:noFill/>
                        <a:miter/>
                      </a:ln>
                    </p:spPr>
                  </p:pic>
                </p:oleObj>
              </mc:Fallback>
            </mc:AlternateContent>
          </a:graphicData>
        </a:graphic>
      </p:graphicFrame>
      <p:graphicFrame>
        <p:nvGraphicFramePr>
          <p:cNvPr id="8" name="对象 673800">
            <a:extLst>
              <a:ext uri="{FF2B5EF4-FFF2-40B4-BE49-F238E27FC236}">
                <a16:creationId xmlns:a16="http://schemas.microsoft.com/office/drawing/2014/main" xmlns="" id="{AE3BC3FD-C841-1EC4-86B8-9833F5ADF68B}"/>
              </a:ext>
            </a:extLst>
          </p:cNvPr>
          <p:cNvGraphicFramePr/>
          <p:nvPr>
            <p:extLst>
              <p:ext uri="{D42A27DB-BD31-4B8C-83A1-F6EECF244321}">
                <p14:modId xmlns:p14="http://schemas.microsoft.com/office/powerpoint/2010/main" val="2474907266"/>
              </p:ext>
            </p:extLst>
          </p:nvPr>
        </p:nvGraphicFramePr>
        <p:xfrm>
          <a:off x="1093366" y="1926709"/>
          <a:ext cx="2459038" cy="577850"/>
        </p:xfrm>
        <a:graphic>
          <a:graphicData uri="http://schemas.openxmlformats.org/presentationml/2006/ole">
            <mc:AlternateContent xmlns:mc="http://schemas.openxmlformats.org/markup-compatibility/2006">
              <mc:Choice xmlns:v="urn:schemas-microsoft-com:vml" Requires="v">
                <p:oleObj spid="_x0000_s46398" r:id="rId11" imgW="1854200" imgH="431800" progId="Equation.DSMT4">
                  <p:embed/>
                </p:oleObj>
              </mc:Choice>
              <mc:Fallback>
                <p:oleObj r:id="rId11" imgW="1854200" imgH="431800" progId="Equation.DSMT4">
                  <p:embed/>
                  <p:pic>
                    <p:nvPicPr>
                      <p:cNvPr id="0" name=""/>
                      <p:cNvPicPr/>
                      <p:nvPr/>
                    </p:nvPicPr>
                    <p:blipFill>
                      <a:blip r:embed="rId12"/>
                      <a:stretch>
                        <a:fillRect/>
                      </a:stretch>
                    </p:blipFill>
                    <p:spPr>
                      <a:xfrm>
                        <a:off x="1093366" y="1926709"/>
                        <a:ext cx="2459038" cy="577850"/>
                      </a:xfrm>
                      <a:prstGeom prst="rect">
                        <a:avLst/>
                      </a:prstGeom>
                      <a:noFill/>
                      <a:ln w="38100">
                        <a:noFill/>
                        <a:miter/>
                      </a:ln>
                    </p:spPr>
                  </p:pic>
                </p:oleObj>
              </mc:Fallback>
            </mc:AlternateContent>
          </a:graphicData>
        </a:graphic>
      </p:graphicFrame>
      <p:graphicFrame>
        <p:nvGraphicFramePr>
          <p:cNvPr id="9" name="对象 673801">
            <a:extLst>
              <a:ext uri="{FF2B5EF4-FFF2-40B4-BE49-F238E27FC236}">
                <a16:creationId xmlns:a16="http://schemas.microsoft.com/office/drawing/2014/main" xmlns="" id="{16B3A535-7D33-A258-C33A-C6CD1C47DCAB}"/>
              </a:ext>
            </a:extLst>
          </p:cNvPr>
          <p:cNvGraphicFramePr/>
          <p:nvPr>
            <p:extLst>
              <p:ext uri="{D42A27DB-BD31-4B8C-83A1-F6EECF244321}">
                <p14:modId xmlns:p14="http://schemas.microsoft.com/office/powerpoint/2010/main" val="921052367"/>
              </p:ext>
            </p:extLst>
          </p:nvPr>
        </p:nvGraphicFramePr>
        <p:xfrm>
          <a:off x="1316073" y="3340764"/>
          <a:ext cx="3357563" cy="346075"/>
        </p:xfrm>
        <a:graphic>
          <a:graphicData uri="http://schemas.openxmlformats.org/presentationml/2006/ole">
            <mc:AlternateContent xmlns:mc="http://schemas.openxmlformats.org/markup-compatibility/2006">
              <mc:Choice xmlns:v="urn:schemas-microsoft-com:vml" Requires="v">
                <p:oleObj spid="_x0000_s46399" r:id="rId13" imgW="2082800" imgH="228600" progId="Equation.DSMT4">
                  <p:embed/>
                </p:oleObj>
              </mc:Choice>
              <mc:Fallback>
                <p:oleObj r:id="rId13" imgW="2082800" imgH="228600" progId="Equation.DSMT4">
                  <p:embed/>
                  <p:pic>
                    <p:nvPicPr>
                      <p:cNvPr id="0" name=""/>
                      <p:cNvPicPr/>
                      <p:nvPr/>
                    </p:nvPicPr>
                    <p:blipFill>
                      <a:blip r:embed="rId14"/>
                      <a:stretch>
                        <a:fillRect/>
                      </a:stretch>
                    </p:blipFill>
                    <p:spPr>
                      <a:xfrm>
                        <a:off x="1316073" y="3340764"/>
                        <a:ext cx="3357563" cy="346075"/>
                      </a:xfrm>
                      <a:prstGeom prst="rect">
                        <a:avLst/>
                      </a:prstGeom>
                      <a:noFill/>
                      <a:ln w="38100">
                        <a:noFill/>
                        <a:miter/>
                      </a:ln>
                    </p:spPr>
                  </p:pic>
                </p:oleObj>
              </mc:Fallback>
            </mc:AlternateContent>
          </a:graphicData>
        </a:graphic>
      </p:graphicFrame>
      <p:sp>
        <p:nvSpPr>
          <p:cNvPr id="10" name="矩形 78">
            <a:extLst>
              <a:ext uri="{FF2B5EF4-FFF2-40B4-BE49-F238E27FC236}">
                <a16:creationId xmlns:a16="http://schemas.microsoft.com/office/drawing/2014/main" xmlns="" id="{73CB70F7-E30B-D2DF-4810-B6269CB7C4F7}"/>
              </a:ext>
            </a:extLst>
          </p:cNvPr>
          <p:cNvSpPr/>
          <p:nvPr/>
        </p:nvSpPr>
        <p:spPr>
          <a:xfrm>
            <a:off x="383625" y="1349133"/>
            <a:ext cx="2492990" cy="400110"/>
          </a:xfrm>
          <a:prstGeom prst="rect">
            <a:avLst/>
          </a:prstGeom>
          <a:noFill/>
          <a:ln w="9525">
            <a:noFill/>
          </a:ln>
        </p:spPr>
        <p:txBody>
          <a:bodyPr wrap="none">
            <a:spAutoFit/>
          </a:bodyPr>
          <a:lstStyle/>
          <a:p>
            <a:pPr>
              <a:lnSpc>
                <a:spcPct val="100000"/>
              </a:lnSpc>
            </a:pPr>
            <a:r>
              <a:rPr lang="zh-CN" altLang="en-US" sz="2000" baseline="0" dirty="0">
                <a:latin typeface="+mn-ea"/>
                <a:ea typeface="+mn-ea"/>
              </a:rPr>
              <a:t>信号源端电容容抗：</a:t>
            </a:r>
          </a:p>
        </p:txBody>
      </p:sp>
      <p:sp>
        <p:nvSpPr>
          <p:cNvPr id="11" name="矩形 79">
            <a:extLst>
              <a:ext uri="{FF2B5EF4-FFF2-40B4-BE49-F238E27FC236}">
                <a16:creationId xmlns:a16="http://schemas.microsoft.com/office/drawing/2014/main" xmlns="" id="{45EBA152-A52A-7D39-5380-26D5BA9BA6B0}"/>
              </a:ext>
            </a:extLst>
          </p:cNvPr>
          <p:cNvSpPr/>
          <p:nvPr/>
        </p:nvSpPr>
        <p:spPr>
          <a:xfrm>
            <a:off x="374229" y="2701785"/>
            <a:ext cx="2492990" cy="400110"/>
          </a:xfrm>
          <a:prstGeom prst="rect">
            <a:avLst/>
          </a:prstGeom>
          <a:noFill/>
          <a:ln w="9525">
            <a:noFill/>
          </a:ln>
        </p:spPr>
        <p:txBody>
          <a:bodyPr wrap="none">
            <a:spAutoFit/>
          </a:bodyPr>
          <a:lstStyle/>
          <a:p>
            <a:r>
              <a:rPr lang="zh-CN" altLang="en-US" sz="2000" dirty="0">
                <a:latin typeface="+mn-ea"/>
                <a:ea typeface="+mn-ea"/>
              </a:rPr>
              <a:t>信号源端电感感抗：</a:t>
            </a:r>
          </a:p>
        </p:txBody>
      </p:sp>
      <p:sp>
        <p:nvSpPr>
          <p:cNvPr id="12" name="左大括号 11">
            <a:extLst>
              <a:ext uri="{FF2B5EF4-FFF2-40B4-BE49-F238E27FC236}">
                <a16:creationId xmlns:a16="http://schemas.microsoft.com/office/drawing/2014/main" xmlns="" id="{A4C46838-C63C-C298-1086-CB4FCF45F514}"/>
              </a:ext>
            </a:extLst>
          </p:cNvPr>
          <p:cNvSpPr/>
          <p:nvPr/>
        </p:nvSpPr>
        <p:spPr>
          <a:xfrm>
            <a:off x="1100173" y="3413789"/>
            <a:ext cx="142875" cy="928688"/>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13" name="矩形 81">
            <a:extLst>
              <a:ext uri="{FF2B5EF4-FFF2-40B4-BE49-F238E27FC236}">
                <a16:creationId xmlns:a16="http://schemas.microsoft.com/office/drawing/2014/main" xmlns="" id="{1186BDB1-F7D1-DED1-9F7A-0A98159B6CA9}"/>
              </a:ext>
            </a:extLst>
          </p:cNvPr>
          <p:cNvSpPr/>
          <p:nvPr/>
        </p:nvSpPr>
        <p:spPr>
          <a:xfrm>
            <a:off x="374229" y="4649040"/>
            <a:ext cx="2393604" cy="400110"/>
          </a:xfrm>
          <a:prstGeom prst="rect">
            <a:avLst/>
          </a:prstGeom>
          <a:noFill/>
          <a:ln w="9525">
            <a:noFill/>
          </a:ln>
        </p:spPr>
        <p:txBody>
          <a:bodyPr wrap="none">
            <a:spAutoFit/>
          </a:bodyPr>
          <a:lstStyle/>
          <a:p>
            <a:r>
              <a:rPr lang="en-US" altLang="zh-CN" sz="2000" dirty="0">
                <a:latin typeface="Times New Roman" panose="02020603050405020304" pitchFamily="18" charset="0"/>
                <a:ea typeface="+mn-ea"/>
              </a:rPr>
              <a:t>T</a:t>
            </a:r>
            <a:r>
              <a:rPr lang="zh-CN" altLang="en-US" sz="2000" dirty="0">
                <a:latin typeface="Times New Roman" panose="02020603050405020304" pitchFamily="18" charset="0"/>
                <a:ea typeface="+mn-ea"/>
              </a:rPr>
              <a:t>型网络电容容抗：</a:t>
            </a:r>
          </a:p>
        </p:txBody>
      </p:sp>
      <p:sp>
        <p:nvSpPr>
          <p:cNvPr id="14" name="左大括号 13">
            <a:extLst>
              <a:ext uri="{FF2B5EF4-FFF2-40B4-BE49-F238E27FC236}">
                <a16:creationId xmlns:a16="http://schemas.microsoft.com/office/drawing/2014/main" xmlns="" id="{0F057A6D-46CF-F87A-6E9D-95096A4CA55A}"/>
              </a:ext>
            </a:extLst>
          </p:cNvPr>
          <p:cNvSpPr/>
          <p:nvPr/>
        </p:nvSpPr>
        <p:spPr>
          <a:xfrm>
            <a:off x="1071306" y="5206665"/>
            <a:ext cx="142875" cy="928688"/>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15"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2.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高频</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基础</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电路</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572413375"/>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68</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内容占位符 7170">
            <a:extLst>
              <a:ext uri="{FF2B5EF4-FFF2-40B4-BE49-F238E27FC236}">
                <a16:creationId xmlns="" xmlns:a16="http://schemas.microsoft.com/office/drawing/2014/main" id="{6A7D9064-F9D1-484D-FFDD-20D6C626FD53}"/>
              </a:ext>
            </a:extLst>
          </p:cNvPr>
          <p:cNvSpPr/>
          <p:nvPr/>
        </p:nvSpPr>
        <p:spPr>
          <a:xfrm>
            <a:off x="539552" y="1412775"/>
            <a:ext cx="8353425" cy="3672409"/>
          </a:xfrm>
          <a:prstGeom prst="rect">
            <a:avLst/>
          </a:prstGeom>
          <a:noFill/>
          <a:ln w="9525">
            <a:noFill/>
          </a:ln>
        </p:spPr>
        <p:txBody>
          <a:bodyPr/>
          <a:lstStyle/>
          <a:p>
            <a:pPr>
              <a:lnSpc>
                <a:spcPct val="120000"/>
              </a:lnSpc>
              <a:spcBef>
                <a:spcPts val="1200"/>
              </a:spcBef>
              <a:spcAft>
                <a:spcPts val="1200"/>
              </a:spcAft>
              <a:buClr>
                <a:schemeClr val="folHlink"/>
              </a:buClr>
              <a:buSzPct val="60000"/>
              <a:defRPr/>
            </a:pPr>
            <a:endParaRPr lang="zh-CN" altLang="en-US" dirty="0">
              <a:ln w="0"/>
              <a:effectLst>
                <a:glow rad="63500">
                  <a:schemeClr val="accent3">
                    <a:satMod val="175000"/>
                    <a:alpha val="40000"/>
                  </a:schemeClr>
                </a:glow>
              </a:effectLst>
              <a:latin typeface="+mn-ea"/>
              <a:ea typeface="+mn-ea"/>
              <a:cs typeface="Times New Roman" panose="02020603050405020304" pitchFamily="18" charset="0"/>
            </a:endParaRPr>
          </a:p>
        </p:txBody>
      </p:sp>
      <p:sp>
        <p:nvSpPr>
          <p:cNvPr id="5" name="文本框 4">
            <a:extLst>
              <a:ext uri="{FF2B5EF4-FFF2-40B4-BE49-F238E27FC236}">
                <a16:creationId xmlns="" xmlns:a16="http://schemas.microsoft.com/office/drawing/2014/main" id="{F80CBB59-62E5-73E3-7381-FD709A1BFDAA}"/>
              </a:ext>
            </a:extLst>
          </p:cNvPr>
          <p:cNvSpPr txBox="1"/>
          <p:nvPr/>
        </p:nvSpPr>
        <p:spPr>
          <a:xfrm>
            <a:off x="539552" y="1448503"/>
            <a:ext cx="6217859" cy="461665"/>
          </a:xfrm>
          <a:prstGeom prst="rect">
            <a:avLst/>
          </a:prstGeom>
          <a:noFill/>
        </p:spPr>
        <p:txBody>
          <a:bodyPr wrap="square" rtlCol="0">
            <a:spAutoFit/>
          </a:bodyPr>
          <a:lstStyle/>
          <a:p>
            <a:r>
              <a:rPr lang="en-US" altLang="zh-CN" b="1" dirty="0">
                <a:latin typeface="+mn-ea"/>
                <a:ea typeface="+mn-ea"/>
              </a:rPr>
              <a:t>2.5.1 </a:t>
            </a:r>
            <a:r>
              <a:rPr lang="zh-CN" altLang="en-US" b="1" dirty="0">
                <a:latin typeface="+mn-ea"/>
                <a:ea typeface="+mn-ea"/>
              </a:rPr>
              <a:t>滤波器的分类及功能</a:t>
            </a:r>
          </a:p>
        </p:txBody>
      </p:sp>
      <p:sp>
        <p:nvSpPr>
          <p:cNvPr id="6" name="文本框 5">
            <a:extLst>
              <a:ext uri="{FF2B5EF4-FFF2-40B4-BE49-F238E27FC236}">
                <a16:creationId xmlns="" xmlns:a16="http://schemas.microsoft.com/office/drawing/2014/main" id="{E03807D9-C735-20A3-E5A0-50F8CB25738B}"/>
              </a:ext>
            </a:extLst>
          </p:cNvPr>
          <p:cNvSpPr txBox="1"/>
          <p:nvPr/>
        </p:nvSpPr>
        <p:spPr>
          <a:xfrm>
            <a:off x="288529" y="1813627"/>
            <a:ext cx="8243911" cy="400110"/>
          </a:xfrm>
          <a:prstGeom prst="rect">
            <a:avLst/>
          </a:prstGeom>
          <a:noFill/>
        </p:spPr>
        <p:txBody>
          <a:bodyPr wrap="square" rtlCol="0">
            <a:spAutoFit/>
          </a:bodyPr>
          <a:lstStyle/>
          <a:p>
            <a:pPr eaLnBrk="1" hangingPunct="1"/>
            <a:r>
              <a:rPr lang="zh-CN" altLang="en-US" sz="2000" dirty="0">
                <a:latin typeface="Times New Roman" panose="02020603050405020304" pitchFamily="18" charset="0"/>
                <a:ea typeface="+mn-ea"/>
              </a:rPr>
              <a:t>滤波器是根据某一特定的性能要求实现对信号的频谱进行处理的电路。 </a:t>
            </a:r>
          </a:p>
        </p:txBody>
      </p:sp>
      <p:sp>
        <p:nvSpPr>
          <p:cNvPr id="7" name="文本框 6">
            <a:extLst>
              <a:ext uri="{FF2B5EF4-FFF2-40B4-BE49-F238E27FC236}">
                <a16:creationId xmlns="" xmlns:a16="http://schemas.microsoft.com/office/drawing/2014/main" id="{B5B07097-3F6C-FCD7-D49E-9D0E1CEE060B}"/>
              </a:ext>
            </a:extLst>
          </p:cNvPr>
          <p:cNvSpPr txBox="1"/>
          <p:nvPr/>
        </p:nvSpPr>
        <p:spPr>
          <a:xfrm>
            <a:off x="288529" y="2213903"/>
            <a:ext cx="8198867" cy="400110"/>
          </a:xfrm>
          <a:prstGeom prst="rect">
            <a:avLst/>
          </a:prstGeom>
          <a:noFill/>
        </p:spPr>
        <p:txBody>
          <a:bodyPr wrap="square" rtlCol="0">
            <a:spAutoFit/>
          </a:bodyPr>
          <a:lstStyle/>
          <a:p>
            <a:pPr eaLnBrk="1" hangingPunct="1"/>
            <a:r>
              <a:rPr lang="en-US" altLang="zh-CN" sz="2000" dirty="0" smtClean="0">
                <a:latin typeface="Times New Roman" panose="02020603050405020304" pitchFamily="18" charset="0"/>
                <a:ea typeface="+mn-ea"/>
              </a:rPr>
              <a:t>(</a:t>
            </a:r>
            <a:r>
              <a:rPr lang="en-US" altLang="zh-CN" sz="2000" dirty="0">
                <a:latin typeface="Times New Roman" panose="02020603050405020304" pitchFamily="18" charset="0"/>
                <a:ea typeface="+mn-ea"/>
              </a:rPr>
              <a:t>1)</a:t>
            </a:r>
            <a:r>
              <a:rPr lang="zh-CN" altLang="en-US" sz="2000" dirty="0">
                <a:latin typeface="Times New Roman" panose="02020603050405020304" pitchFamily="18" charset="0"/>
                <a:ea typeface="+mn-ea"/>
              </a:rPr>
              <a:t>按频率特性可分为</a:t>
            </a:r>
            <a:r>
              <a:rPr lang="zh-CN" altLang="en-US" sz="2000" dirty="0">
                <a:solidFill>
                  <a:srgbClr val="FF66FF"/>
                </a:solidFill>
                <a:latin typeface="Times New Roman" panose="02020603050405020304" pitchFamily="18" charset="0"/>
                <a:ea typeface="+mn-ea"/>
              </a:rPr>
              <a:t>低通、</a:t>
            </a:r>
            <a:r>
              <a:rPr lang="zh-CN" altLang="en-US" sz="2000" dirty="0">
                <a:solidFill>
                  <a:srgbClr val="009900"/>
                </a:solidFill>
                <a:latin typeface="Times New Roman" panose="02020603050405020304" pitchFamily="18" charset="0"/>
                <a:ea typeface="+mn-ea"/>
              </a:rPr>
              <a:t>高通、</a:t>
            </a:r>
            <a:r>
              <a:rPr lang="zh-CN" altLang="en-US" sz="2000" dirty="0">
                <a:solidFill>
                  <a:schemeClr val="accent2"/>
                </a:solidFill>
                <a:latin typeface="Times New Roman" panose="02020603050405020304" pitchFamily="18" charset="0"/>
                <a:ea typeface="+mn-ea"/>
              </a:rPr>
              <a:t>带通</a:t>
            </a:r>
            <a:r>
              <a:rPr lang="zh-CN" altLang="en-US" sz="2000" dirty="0">
                <a:latin typeface="Times New Roman" panose="02020603050405020304" pitchFamily="18" charset="0"/>
                <a:ea typeface="+mn-ea"/>
              </a:rPr>
              <a:t>和</a:t>
            </a:r>
            <a:r>
              <a:rPr lang="zh-CN" altLang="en-US" sz="2000" dirty="0">
                <a:solidFill>
                  <a:srgbClr val="FF66FF"/>
                </a:solidFill>
                <a:latin typeface="Times New Roman" panose="02020603050405020304" pitchFamily="18" charset="0"/>
                <a:ea typeface="+mn-ea"/>
              </a:rPr>
              <a:t>带阻</a:t>
            </a:r>
            <a:r>
              <a:rPr lang="zh-CN" altLang="en-US" sz="2000" dirty="0">
                <a:latin typeface="Times New Roman" panose="02020603050405020304" pitchFamily="18" charset="0"/>
                <a:ea typeface="+mn-ea"/>
              </a:rPr>
              <a:t>滤波器。  </a:t>
            </a:r>
          </a:p>
        </p:txBody>
      </p:sp>
      <p:pic>
        <p:nvPicPr>
          <p:cNvPr id="8" name="图片 481283" descr="201B">
            <a:extLst>
              <a:ext uri="{FF2B5EF4-FFF2-40B4-BE49-F238E27FC236}">
                <a16:creationId xmlns="" xmlns:a16="http://schemas.microsoft.com/office/drawing/2014/main" id="{848A6409-F768-962C-33D9-390AD3F5DAEF}"/>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5202088" y="2838468"/>
            <a:ext cx="3941912" cy="3025884"/>
          </a:xfrm>
          <a:prstGeom prst="rect">
            <a:avLst/>
          </a:prstGeom>
          <a:noFill/>
          <a:ln w="9525">
            <a:noFill/>
          </a:ln>
        </p:spPr>
      </p:pic>
      <p:sp>
        <p:nvSpPr>
          <p:cNvPr id="9"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2.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高频</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基础</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电路</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0" name="Text Box 10">
            <a:extLst>
              <a:ext uri="{FF2B5EF4-FFF2-40B4-BE49-F238E27FC236}">
                <a16:creationId xmlns:a16="http://schemas.microsoft.com/office/drawing/2014/main" xmlns="" id="{E9A74871-3DF6-F632-5DC9-EA60A2AC2A76}"/>
              </a:ext>
            </a:extLst>
          </p:cNvPr>
          <p:cNvSpPr txBox="1">
            <a:spLocks noChangeArrowheads="1"/>
          </p:cNvSpPr>
          <p:nvPr/>
        </p:nvSpPr>
        <p:spPr bwMode="auto">
          <a:xfrm>
            <a:off x="0" y="1111203"/>
            <a:ext cx="91440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50000"/>
              </a:spcBef>
              <a:buNone/>
            </a:pPr>
            <a:r>
              <a:rPr lang="en-US" altLang="zh-CN" sz="28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2.5 </a:t>
            </a:r>
            <a:r>
              <a:rPr lang="zh-CN" altLang="en-US" sz="28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滤波器</a:t>
            </a:r>
            <a:endParaRPr lang="zh-CN" altLang="en-US" sz="28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1" name="文本框 10">
            <a:extLst>
              <a:ext uri="{FF2B5EF4-FFF2-40B4-BE49-F238E27FC236}">
                <a16:creationId xmlns="" xmlns:a16="http://schemas.microsoft.com/office/drawing/2014/main" id="{1E228E5D-4313-B774-67C5-2D5649743A23}"/>
              </a:ext>
            </a:extLst>
          </p:cNvPr>
          <p:cNvSpPr txBox="1"/>
          <p:nvPr/>
        </p:nvSpPr>
        <p:spPr>
          <a:xfrm>
            <a:off x="288529" y="2631567"/>
            <a:ext cx="4913559" cy="3785652"/>
          </a:xfrm>
          <a:prstGeom prst="rect">
            <a:avLst/>
          </a:prstGeom>
          <a:noFill/>
        </p:spPr>
        <p:txBody>
          <a:bodyPr wrap="square" rtlCol="0">
            <a:spAutoFit/>
          </a:bodyPr>
          <a:lstStyle/>
          <a:p>
            <a:pPr algn="just" fontAlgn="base">
              <a:spcBef>
                <a:spcPct val="0"/>
              </a:spcBef>
              <a:spcAft>
                <a:spcPct val="0"/>
              </a:spcAft>
            </a:pPr>
            <a:r>
              <a:rPr lang="en-US" altLang="zh-CN" sz="2000" dirty="0">
                <a:solidFill>
                  <a:srgbClr val="000000"/>
                </a:solidFill>
                <a:latin typeface="Times New Roman" panose="02020603050405020304" pitchFamily="18" charset="0"/>
              </a:rPr>
              <a:t>(2)</a:t>
            </a:r>
            <a:r>
              <a:rPr lang="zh-CN" altLang="en-US" sz="2000" dirty="0">
                <a:solidFill>
                  <a:srgbClr val="000000"/>
                </a:solidFill>
                <a:latin typeface="Times New Roman" panose="02020603050405020304" pitchFamily="18" charset="0"/>
              </a:rPr>
              <a:t>按所用器件的特点可分为</a:t>
            </a:r>
            <a:r>
              <a:rPr lang="zh-CN" altLang="en-US" sz="2000" dirty="0">
                <a:solidFill>
                  <a:srgbClr val="FF0000"/>
                </a:solidFill>
                <a:latin typeface="Times New Roman" panose="02020603050405020304" pitchFamily="18" charset="0"/>
              </a:rPr>
              <a:t>无源滤波器</a:t>
            </a:r>
            <a:r>
              <a:rPr lang="zh-CN" altLang="en-US" sz="2000" dirty="0">
                <a:solidFill>
                  <a:srgbClr val="000000"/>
                </a:solidFill>
                <a:latin typeface="Times New Roman" panose="02020603050405020304" pitchFamily="18" charset="0"/>
              </a:rPr>
              <a:t>和</a:t>
            </a:r>
            <a:r>
              <a:rPr lang="zh-CN" altLang="en-US" sz="2000" dirty="0">
                <a:solidFill>
                  <a:srgbClr val="FF0000"/>
                </a:solidFill>
                <a:latin typeface="Times New Roman" panose="02020603050405020304" pitchFamily="18" charset="0"/>
              </a:rPr>
              <a:t>有源滤波器</a:t>
            </a:r>
            <a:r>
              <a:rPr lang="zh-CN" altLang="en-US" sz="2000" dirty="0">
                <a:solidFill>
                  <a:srgbClr val="000000"/>
                </a:solidFill>
                <a:latin typeface="Times New Roman" panose="02020603050405020304" pitchFamily="18" charset="0"/>
              </a:rPr>
              <a:t>。</a:t>
            </a:r>
            <a:r>
              <a:rPr lang="zh-CN" altLang="en-US" sz="2000" dirty="0">
                <a:solidFill>
                  <a:srgbClr val="FF0000"/>
                </a:solidFill>
                <a:latin typeface="Times New Roman" panose="02020603050405020304" pitchFamily="18" charset="0"/>
              </a:rPr>
              <a:t> </a:t>
            </a:r>
          </a:p>
          <a:p>
            <a:pPr algn="just" fontAlgn="base">
              <a:spcBef>
                <a:spcPct val="0"/>
              </a:spcBef>
              <a:spcAft>
                <a:spcPct val="0"/>
              </a:spcAft>
            </a:pPr>
            <a:r>
              <a:rPr lang="zh-CN" altLang="en-US" sz="2000" dirty="0">
                <a:solidFill>
                  <a:srgbClr val="000000"/>
                </a:solidFill>
                <a:latin typeface="Times New Roman" panose="02020603050405020304" pitchFamily="18" charset="0"/>
              </a:rPr>
              <a:t>        无源滤波器是由无源器件构成，例如</a:t>
            </a:r>
            <a:r>
              <a:rPr lang="zh-CN" altLang="en-US" sz="2000" dirty="0">
                <a:solidFill>
                  <a:srgbClr val="FF0000"/>
                </a:solidFill>
                <a:latin typeface="Times New Roman" panose="02020603050405020304" pitchFamily="18" charset="0"/>
              </a:rPr>
              <a:t>电感和电容组成的</a:t>
            </a:r>
            <a:r>
              <a:rPr lang="en-US" altLang="zh-CN" sz="2000" dirty="0">
                <a:solidFill>
                  <a:srgbClr val="FF0000"/>
                </a:solidFill>
                <a:latin typeface="Times New Roman" panose="02020603050405020304" pitchFamily="18" charset="0"/>
              </a:rPr>
              <a:t>LC</a:t>
            </a:r>
            <a:r>
              <a:rPr lang="zh-CN" altLang="en-US" sz="2000" dirty="0">
                <a:solidFill>
                  <a:srgbClr val="FF0000"/>
                </a:solidFill>
                <a:latin typeface="Times New Roman" panose="02020603050405020304" pitchFamily="18" charset="0"/>
              </a:rPr>
              <a:t>滤波器电阻和电容组成的</a:t>
            </a:r>
            <a:r>
              <a:rPr lang="en-US" altLang="zh-CN" sz="2000" dirty="0">
                <a:solidFill>
                  <a:srgbClr val="FF0000"/>
                </a:solidFill>
                <a:latin typeface="Times New Roman" panose="02020603050405020304" pitchFamily="18" charset="0"/>
              </a:rPr>
              <a:t>RC</a:t>
            </a:r>
            <a:r>
              <a:rPr lang="zh-CN" altLang="en-US" sz="2000" dirty="0">
                <a:solidFill>
                  <a:srgbClr val="FF0000"/>
                </a:solidFill>
                <a:latin typeface="Times New Roman" panose="02020603050405020304" pitchFamily="18" charset="0"/>
              </a:rPr>
              <a:t>滤波器</a:t>
            </a:r>
            <a:r>
              <a:rPr lang="zh-CN" altLang="en-US" sz="2000" dirty="0">
                <a:solidFill>
                  <a:srgbClr val="000000"/>
                </a:solidFill>
                <a:latin typeface="Times New Roman" panose="02020603050405020304" pitchFamily="18" charset="0"/>
              </a:rPr>
              <a:t>，利用石英晶体构成的晶体滤波器。还有陶瓷滤波器和声表面滤波器等。</a:t>
            </a:r>
          </a:p>
          <a:p>
            <a:pPr algn="just" fontAlgn="base">
              <a:spcBef>
                <a:spcPct val="0"/>
              </a:spcBef>
              <a:spcAft>
                <a:spcPct val="0"/>
              </a:spcAft>
            </a:pPr>
            <a:r>
              <a:rPr lang="zh-CN" altLang="en-US" sz="2000" dirty="0">
                <a:solidFill>
                  <a:srgbClr val="000000"/>
                </a:solidFill>
                <a:latin typeface="Times New Roman" panose="02020603050405020304" pitchFamily="18" charset="0"/>
              </a:rPr>
              <a:t>      有源滤波器指在所构成的滤波器中含有放大器等有源电路，例如</a:t>
            </a:r>
            <a:r>
              <a:rPr lang="en-US" altLang="zh-CN" sz="2000" dirty="0">
                <a:solidFill>
                  <a:srgbClr val="000000"/>
                </a:solidFill>
                <a:latin typeface="Times New Roman" panose="02020603050405020304" pitchFamily="18" charset="0"/>
              </a:rPr>
              <a:t>RC</a:t>
            </a:r>
            <a:r>
              <a:rPr lang="zh-CN" altLang="en-US" sz="2000" dirty="0">
                <a:solidFill>
                  <a:srgbClr val="000000"/>
                </a:solidFill>
                <a:latin typeface="Times New Roman" panose="02020603050405020304" pitchFamily="18" charset="0"/>
              </a:rPr>
              <a:t>滤波器、开关电容滤波器等</a:t>
            </a:r>
            <a:r>
              <a:rPr lang="zh-CN" altLang="en-US" sz="2000" dirty="0" smtClean="0">
                <a:solidFill>
                  <a:srgbClr val="000000"/>
                </a:solidFill>
                <a:latin typeface="Times New Roman" panose="02020603050405020304" pitchFamily="18" charset="0"/>
              </a:rPr>
              <a:t>。</a:t>
            </a:r>
            <a:endParaRPr lang="zh-CN" altLang="en-US" sz="2000" dirty="0">
              <a:solidFill>
                <a:srgbClr val="000000"/>
              </a:solidFill>
              <a:latin typeface="Times New Roman" panose="02020603050405020304" pitchFamily="18" charset="0"/>
            </a:endParaRPr>
          </a:p>
          <a:p>
            <a:pPr algn="just" fontAlgn="base">
              <a:spcBef>
                <a:spcPct val="0"/>
              </a:spcBef>
              <a:spcAft>
                <a:spcPct val="0"/>
              </a:spcAft>
            </a:pPr>
            <a:r>
              <a:rPr lang="en-US" altLang="zh-CN" sz="2000" dirty="0">
                <a:solidFill>
                  <a:srgbClr val="000000"/>
                </a:solidFill>
                <a:latin typeface="Times New Roman" panose="02020603050405020304" pitchFamily="18" charset="0"/>
              </a:rPr>
              <a:t>(3)</a:t>
            </a:r>
            <a:r>
              <a:rPr lang="zh-CN" altLang="en-US" sz="2000" dirty="0">
                <a:solidFill>
                  <a:srgbClr val="000000"/>
                </a:solidFill>
                <a:latin typeface="Times New Roman" panose="02020603050405020304" pitchFamily="18" charset="0"/>
              </a:rPr>
              <a:t>按处理的信号形式可分为模拟滤波器、数字滤波器和抽样数据滤波器等。</a:t>
            </a:r>
          </a:p>
        </p:txBody>
      </p:sp>
    </p:spTree>
    <p:extLst>
      <p:ext uri="{BB962C8B-B14F-4D97-AF65-F5344CB8AC3E}">
        <p14:creationId xmlns:p14="http://schemas.microsoft.com/office/powerpoint/2010/main" val="2619076185"/>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69</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2.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高频</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基础</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电路</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内容占位符 7170">
            <a:extLst>
              <a:ext uri="{FF2B5EF4-FFF2-40B4-BE49-F238E27FC236}">
                <a16:creationId xmlns="" xmlns:a16="http://schemas.microsoft.com/office/drawing/2014/main" id="{FD66624C-022E-10BD-5B4D-6398DCF4D0E1}"/>
              </a:ext>
            </a:extLst>
          </p:cNvPr>
          <p:cNvSpPr/>
          <p:nvPr/>
        </p:nvSpPr>
        <p:spPr>
          <a:xfrm>
            <a:off x="539552" y="1412775"/>
            <a:ext cx="8353425" cy="3672409"/>
          </a:xfrm>
          <a:prstGeom prst="rect">
            <a:avLst/>
          </a:prstGeom>
          <a:noFill/>
          <a:ln w="9525">
            <a:noFill/>
          </a:ln>
        </p:spPr>
        <p:txBody>
          <a:bodyPr/>
          <a:lstStyle/>
          <a:p>
            <a:pPr>
              <a:lnSpc>
                <a:spcPct val="120000"/>
              </a:lnSpc>
              <a:spcBef>
                <a:spcPts val="1200"/>
              </a:spcBef>
              <a:spcAft>
                <a:spcPts val="1200"/>
              </a:spcAft>
              <a:buClr>
                <a:schemeClr val="folHlink"/>
              </a:buClr>
              <a:buSzPct val="60000"/>
              <a:defRPr/>
            </a:pPr>
            <a:endParaRPr lang="zh-CN" altLang="en-US" dirty="0">
              <a:ln w="0"/>
              <a:effectLst>
                <a:glow rad="63500">
                  <a:schemeClr val="accent3">
                    <a:satMod val="175000"/>
                    <a:alpha val="40000"/>
                  </a:schemeClr>
                </a:glow>
              </a:effectLst>
              <a:latin typeface="+mn-ea"/>
              <a:ea typeface="+mn-ea"/>
              <a:cs typeface="Times New Roman" panose="02020603050405020304" pitchFamily="18" charset="0"/>
            </a:endParaRPr>
          </a:p>
        </p:txBody>
      </p:sp>
      <p:sp>
        <p:nvSpPr>
          <p:cNvPr id="6" name="文本框 5">
            <a:extLst>
              <a:ext uri="{FF2B5EF4-FFF2-40B4-BE49-F238E27FC236}">
                <a16:creationId xmlns="" xmlns:a16="http://schemas.microsoft.com/office/drawing/2014/main" id="{6C41C3BB-714A-3816-CD68-EA311F5074AA}"/>
              </a:ext>
            </a:extLst>
          </p:cNvPr>
          <p:cNvSpPr txBox="1"/>
          <p:nvPr/>
        </p:nvSpPr>
        <p:spPr>
          <a:xfrm>
            <a:off x="546537" y="1354706"/>
            <a:ext cx="6217859" cy="461665"/>
          </a:xfrm>
          <a:prstGeom prst="rect">
            <a:avLst/>
          </a:prstGeom>
          <a:noFill/>
        </p:spPr>
        <p:txBody>
          <a:bodyPr wrap="square" rtlCol="0">
            <a:spAutoFit/>
          </a:bodyPr>
          <a:lstStyle/>
          <a:p>
            <a:r>
              <a:rPr lang="en-US" altLang="zh-CN" b="1" dirty="0">
                <a:latin typeface="+mn-ea"/>
                <a:ea typeface="+mn-ea"/>
              </a:rPr>
              <a:t>2.5.2 RC</a:t>
            </a:r>
            <a:r>
              <a:rPr lang="zh-CN" altLang="en-US" b="1" dirty="0">
                <a:latin typeface="+mn-ea"/>
                <a:ea typeface="+mn-ea"/>
              </a:rPr>
              <a:t>滤波器与二端口网络</a:t>
            </a:r>
          </a:p>
        </p:txBody>
      </p:sp>
      <p:sp>
        <p:nvSpPr>
          <p:cNvPr id="7" name="文本框 6">
            <a:extLst>
              <a:ext uri="{FF2B5EF4-FFF2-40B4-BE49-F238E27FC236}">
                <a16:creationId xmlns="" xmlns:a16="http://schemas.microsoft.com/office/drawing/2014/main" id="{9B9FC7AE-7461-DEC4-3312-A9F2A56013F1}"/>
              </a:ext>
            </a:extLst>
          </p:cNvPr>
          <p:cNvSpPr txBox="1"/>
          <p:nvPr/>
        </p:nvSpPr>
        <p:spPr>
          <a:xfrm>
            <a:off x="562995" y="1926513"/>
            <a:ext cx="2174141" cy="400110"/>
          </a:xfrm>
          <a:prstGeom prst="rect">
            <a:avLst/>
          </a:prstGeom>
          <a:noFill/>
        </p:spPr>
        <p:txBody>
          <a:bodyPr wrap="square" rtlCol="0">
            <a:spAutoFit/>
          </a:bodyPr>
          <a:lstStyle/>
          <a:p>
            <a:pPr marL="342900" indent="-342900" eaLnBrk="1" hangingPunct="1">
              <a:buFont typeface="Wingdings" panose="05000000000000000000" pitchFamily="2" charset="2"/>
              <a:buChar char="Ø"/>
            </a:pPr>
            <a:r>
              <a:rPr lang="en-US" altLang="zh-CN" sz="2000" b="1" baseline="0" dirty="0">
                <a:solidFill>
                  <a:srgbClr val="FF0000"/>
                </a:solidFill>
                <a:latin typeface="+mn-ea"/>
                <a:ea typeface="+mn-ea"/>
              </a:rPr>
              <a:t>RC</a:t>
            </a:r>
            <a:r>
              <a:rPr lang="zh-CN" altLang="en-US" sz="2000" b="1" baseline="0" dirty="0">
                <a:solidFill>
                  <a:srgbClr val="FF0000"/>
                </a:solidFill>
                <a:latin typeface="+mn-ea"/>
                <a:ea typeface="+mn-ea"/>
              </a:rPr>
              <a:t>低通滤波器</a:t>
            </a:r>
            <a:endParaRPr lang="zh-CN" altLang="en-US" sz="2000" dirty="0">
              <a:solidFill>
                <a:srgbClr val="FF0000"/>
              </a:solidFill>
              <a:latin typeface="+mn-ea"/>
              <a:ea typeface="+mn-ea"/>
            </a:endParaRPr>
          </a:p>
        </p:txBody>
      </p:sp>
      <p:sp>
        <p:nvSpPr>
          <p:cNvPr id="8" name="文本框 7">
            <a:extLst>
              <a:ext uri="{FF2B5EF4-FFF2-40B4-BE49-F238E27FC236}">
                <a16:creationId xmlns="" xmlns:a16="http://schemas.microsoft.com/office/drawing/2014/main" id="{E30AFBA7-01DE-5330-8178-22B808B19C31}"/>
              </a:ext>
            </a:extLst>
          </p:cNvPr>
          <p:cNvSpPr txBox="1"/>
          <p:nvPr/>
        </p:nvSpPr>
        <p:spPr>
          <a:xfrm>
            <a:off x="2627784" y="1936283"/>
            <a:ext cx="2327794" cy="400110"/>
          </a:xfrm>
          <a:prstGeom prst="rect">
            <a:avLst/>
          </a:prstGeom>
          <a:noFill/>
        </p:spPr>
        <p:txBody>
          <a:bodyPr wrap="square" rtlCol="0">
            <a:spAutoFit/>
          </a:bodyPr>
          <a:lstStyle/>
          <a:p>
            <a:pPr eaLnBrk="1" hangingPunct="1"/>
            <a:r>
              <a:rPr lang="zh-CN" altLang="en-US" sz="2000" dirty="0">
                <a:latin typeface="Times New Roman" panose="02020603050405020304" pitchFamily="18" charset="0"/>
                <a:ea typeface="+mn-ea"/>
              </a:rPr>
              <a:t>右图电压传递函数</a:t>
            </a:r>
            <a:r>
              <a:rPr lang="en-US" altLang="zh-CN" sz="2000" dirty="0">
                <a:latin typeface="Times New Roman" panose="02020603050405020304" pitchFamily="18" charset="0"/>
                <a:ea typeface="+mn-ea"/>
              </a:rPr>
              <a:t>:</a:t>
            </a:r>
          </a:p>
        </p:txBody>
      </p:sp>
      <p:graphicFrame>
        <p:nvGraphicFramePr>
          <p:cNvPr id="9" name="对象 675846">
            <a:extLst>
              <a:ext uri="{FF2B5EF4-FFF2-40B4-BE49-F238E27FC236}">
                <a16:creationId xmlns="" xmlns:a16="http://schemas.microsoft.com/office/drawing/2014/main" id="{90B5B9DD-D7CE-D0D0-BAF5-3CEAC3BCFFEC}"/>
              </a:ext>
            </a:extLst>
          </p:cNvPr>
          <p:cNvGraphicFramePr/>
          <p:nvPr>
            <p:extLst>
              <p:ext uri="{D42A27DB-BD31-4B8C-83A1-F6EECF244321}">
                <p14:modId xmlns:p14="http://schemas.microsoft.com/office/powerpoint/2010/main" val="731251344"/>
              </p:ext>
            </p:extLst>
          </p:nvPr>
        </p:nvGraphicFramePr>
        <p:xfrm>
          <a:off x="6084929" y="1505928"/>
          <a:ext cx="2881313" cy="1730375"/>
        </p:xfrm>
        <a:graphic>
          <a:graphicData uri="http://schemas.openxmlformats.org/presentationml/2006/ole">
            <mc:AlternateContent xmlns:mc="http://schemas.openxmlformats.org/markup-compatibility/2006">
              <mc:Choice xmlns:v="urn:schemas-microsoft-com:vml" Requires="v">
                <p:oleObj spid="_x0000_s48326" name="Visio" r:id="rId3" imgW="1457174" imgH="1028700" progId="Visio.Drawing.11">
                  <p:embed/>
                </p:oleObj>
              </mc:Choice>
              <mc:Fallback>
                <p:oleObj name="Visio" r:id="rId3" imgW="1457174" imgH="1028700" progId="Visio.Drawing.11">
                  <p:embed/>
                  <p:pic>
                    <p:nvPicPr>
                      <p:cNvPr id="0" name=""/>
                      <p:cNvPicPr/>
                      <p:nvPr/>
                    </p:nvPicPr>
                    <p:blipFill>
                      <a:blip r:embed="rId4"/>
                      <a:stretch>
                        <a:fillRect/>
                      </a:stretch>
                    </p:blipFill>
                    <p:spPr>
                      <a:xfrm>
                        <a:off x="6084929" y="1505928"/>
                        <a:ext cx="2881313" cy="1730375"/>
                      </a:xfrm>
                      <a:prstGeom prst="rect">
                        <a:avLst/>
                      </a:prstGeom>
                      <a:noFill/>
                      <a:ln w="38100">
                        <a:noFill/>
                        <a:miter/>
                      </a:ln>
                    </p:spPr>
                  </p:pic>
                </p:oleObj>
              </mc:Fallback>
            </mc:AlternateContent>
          </a:graphicData>
        </a:graphic>
      </p:graphicFrame>
      <p:graphicFrame>
        <p:nvGraphicFramePr>
          <p:cNvPr id="10" name="对象 9">
            <a:extLst>
              <a:ext uri="{FF2B5EF4-FFF2-40B4-BE49-F238E27FC236}">
                <a16:creationId xmlns="" xmlns:a16="http://schemas.microsoft.com/office/drawing/2014/main" id="{EBCE4E8D-93CD-D6AD-EAEE-B256F1A9CFE4}"/>
              </a:ext>
            </a:extLst>
          </p:cNvPr>
          <p:cNvGraphicFramePr>
            <a:graphicFrameLocks noChangeAspect="1"/>
          </p:cNvGraphicFramePr>
          <p:nvPr>
            <p:extLst>
              <p:ext uri="{D42A27DB-BD31-4B8C-83A1-F6EECF244321}">
                <p14:modId xmlns:p14="http://schemas.microsoft.com/office/powerpoint/2010/main" val="1168819216"/>
              </p:ext>
            </p:extLst>
          </p:nvPr>
        </p:nvGraphicFramePr>
        <p:xfrm>
          <a:off x="612817" y="2367997"/>
          <a:ext cx="3000375" cy="733425"/>
        </p:xfrm>
        <a:graphic>
          <a:graphicData uri="http://schemas.openxmlformats.org/presentationml/2006/ole">
            <mc:AlternateContent xmlns:mc="http://schemas.openxmlformats.org/markup-compatibility/2006">
              <mc:Choice xmlns:v="urn:schemas-microsoft-com:vml" Requires="v">
                <p:oleObj spid="_x0000_s48327" name="Equation" r:id="rId5" imgW="3000824" imgH="733346" progId="Equation.DSMT4">
                  <p:embed/>
                </p:oleObj>
              </mc:Choice>
              <mc:Fallback>
                <p:oleObj name="Equation" r:id="rId5" imgW="3000824" imgH="733346" progId="Equation.DSMT4">
                  <p:embed/>
                  <p:pic>
                    <p:nvPicPr>
                      <p:cNvPr id="0" name=""/>
                      <p:cNvPicPr/>
                      <p:nvPr/>
                    </p:nvPicPr>
                    <p:blipFill>
                      <a:blip r:embed="rId6"/>
                      <a:stretch>
                        <a:fillRect/>
                      </a:stretch>
                    </p:blipFill>
                    <p:spPr>
                      <a:xfrm>
                        <a:off x="612817" y="2367997"/>
                        <a:ext cx="3000375" cy="733425"/>
                      </a:xfrm>
                      <a:prstGeom prst="rect">
                        <a:avLst/>
                      </a:prstGeom>
                    </p:spPr>
                  </p:pic>
                </p:oleObj>
              </mc:Fallback>
            </mc:AlternateContent>
          </a:graphicData>
        </a:graphic>
      </p:graphicFrame>
      <p:graphicFrame>
        <p:nvGraphicFramePr>
          <p:cNvPr id="11" name="对象 10">
            <a:extLst>
              <a:ext uri="{FF2B5EF4-FFF2-40B4-BE49-F238E27FC236}">
                <a16:creationId xmlns="" xmlns:a16="http://schemas.microsoft.com/office/drawing/2014/main" id="{F7EFD76C-09D3-7A90-5EA7-851382B3062F}"/>
              </a:ext>
            </a:extLst>
          </p:cNvPr>
          <p:cNvGraphicFramePr>
            <a:graphicFrameLocks noChangeAspect="1"/>
          </p:cNvGraphicFramePr>
          <p:nvPr>
            <p:extLst>
              <p:ext uri="{D42A27DB-BD31-4B8C-83A1-F6EECF244321}">
                <p14:modId xmlns:p14="http://schemas.microsoft.com/office/powerpoint/2010/main" val="2209155308"/>
              </p:ext>
            </p:extLst>
          </p:nvPr>
        </p:nvGraphicFramePr>
        <p:xfrm>
          <a:off x="612817" y="3111551"/>
          <a:ext cx="4537075" cy="1368425"/>
        </p:xfrm>
        <a:graphic>
          <a:graphicData uri="http://schemas.openxmlformats.org/presentationml/2006/ole">
            <mc:AlternateContent xmlns:mc="http://schemas.openxmlformats.org/markup-compatibility/2006">
              <mc:Choice xmlns:v="urn:schemas-microsoft-com:vml" Requires="v">
                <p:oleObj spid="_x0000_s48328" name="Equation" r:id="rId7" imgW="4537058" imgH="1368769" progId="Equation.DSMT4">
                  <p:embed/>
                </p:oleObj>
              </mc:Choice>
              <mc:Fallback>
                <p:oleObj name="Equation" r:id="rId7" imgW="4537058" imgH="1368769" progId="Equation.DSMT4">
                  <p:embed/>
                  <p:pic>
                    <p:nvPicPr>
                      <p:cNvPr id="0" name=""/>
                      <p:cNvPicPr/>
                      <p:nvPr/>
                    </p:nvPicPr>
                    <p:blipFill>
                      <a:blip r:embed="rId8"/>
                      <a:stretch>
                        <a:fillRect/>
                      </a:stretch>
                    </p:blipFill>
                    <p:spPr>
                      <a:xfrm>
                        <a:off x="612817" y="3111551"/>
                        <a:ext cx="4537075" cy="1368425"/>
                      </a:xfrm>
                      <a:prstGeom prst="rect">
                        <a:avLst/>
                      </a:prstGeom>
                    </p:spPr>
                  </p:pic>
                </p:oleObj>
              </mc:Fallback>
            </mc:AlternateContent>
          </a:graphicData>
        </a:graphic>
      </p:graphicFrame>
      <p:sp>
        <p:nvSpPr>
          <p:cNvPr id="12" name="文本框 11">
            <a:extLst>
              <a:ext uri="{FF2B5EF4-FFF2-40B4-BE49-F238E27FC236}">
                <a16:creationId xmlns="" xmlns:a16="http://schemas.microsoft.com/office/drawing/2014/main" id="{8268439E-AB3A-5ECA-17B0-7E6EEC4DDF81}"/>
              </a:ext>
            </a:extLst>
          </p:cNvPr>
          <p:cNvSpPr txBox="1"/>
          <p:nvPr/>
        </p:nvSpPr>
        <p:spPr>
          <a:xfrm>
            <a:off x="539553" y="4651738"/>
            <a:ext cx="4537076" cy="1323439"/>
          </a:xfrm>
          <a:prstGeom prst="rect">
            <a:avLst/>
          </a:prstGeom>
          <a:noFill/>
        </p:spPr>
        <p:txBody>
          <a:bodyPr wrap="square" rtlCol="0">
            <a:spAutoFit/>
          </a:bodyPr>
          <a:lstStyle/>
          <a:p>
            <a:pPr algn="just" eaLnBrk="1" hangingPunct="1"/>
            <a:r>
              <a:rPr lang="zh-CN" altLang="en-US" sz="2000" dirty="0">
                <a:latin typeface="Times New Roman" panose="02020603050405020304" pitchFamily="18" charset="0"/>
                <a:ea typeface="+mn-ea"/>
              </a:rPr>
              <a:t>        当</a:t>
            </a:r>
            <a:r>
              <a:rPr lang="en-US" altLang="zh-CN" sz="2000" dirty="0">
                <a:latin typeface="Times New Roman" panose="02020603050405020304" pitchFamily="18" charset="0"/>
                <a:ea typeface="+mn-ea"/>
              </a:rPr>
              <a:t>f= 1/(2pRC )</a:t>
            </a:r>
            <a:r>
              <a:rPr lang="zh-CN" altLang="en-US" sz="2000" dirty="0">
                <a:latin typeface="Times New Roman" panose="02020603050405020304" pitchFamily="18" charset="0"/>
                <a:ea typeface="+mn-ea"/>
              </a:rPr>
              <a:t>时，电压增益的模值相当于</a:t>
            </a:r>
            <a:r>
              <a:rPr lang="en-US" altLang="zh-CN" sz="2000" dirty="0">
                <a:latin typeface="Times New Roman" panose="02020603050405020304" pitchFamily="18" charset="0"/>
                <a:ea typeface="+mn-ea"/>
              </a:rPr>
              <a:t>f=0</a:t>
            </a:r>
            <a:r>
              <a:rPr lang="zh-CN" altLang="en-US" sz="2000" dirty="0">
                <a:latin typeface="Times New Roman" panose="02020603050405020304" pitchFamily="18" charset="0"/>
                <a:ea typeface="+mn-ea"/>
              </a:rPr>
              <a:t>时模值的</a:t>
            </a:r>
            <a:r>
              <a:rPr lang="en-US" altLang="zh-CN" sz="2000" dirty="0">
                <a:latin typeface="Times New Roman" panose="02020603050405020304" pitchFamily="18" charset="0"/>
                <a:ea typeface="+mn-ea"/>
              </a:rPr>
              <a:t>0.707</a:t>
            </a:r>
            <a:r>
              <a:rPr lang="zh-CN" altLang="en-US" sz="2000" dirty="0">
                <a:latin typeface="Times New Roman" panose="02020603050405020304" pitchFamily="18" charset="0"/>
                <a:ea typeface="+mn-ea"/>
              </a:rPr>
              <a:t>倍，这一频率称为低通滤波器的</a:t>
            </a:r>
            <a:r>
              <a:rPr lang="zh-CN" altLang="en-US" sz="2000" dirty="0">
                <a:solidFill>
                  <a:srgbClr val="FF0000"/>
                </a:solidFill>
                <a:latin typeface="Times New Roman" panose="02020603050405020304" pitchFamily="18" charset="0"/>
                <a:ea typeface="+mn-ea"/>
              </a:rPr>
              <a:t>截止频率</a:t>
            </a:r>
            <a:r>
              <a:rPr lang="zh-CN" altLang="en-US" sz="2000" dirty="0">
                <a:latin typeface="Times New Roman" panose="02020603050405020304" pitchFamily="18" charset="0"/>
                <a:ea typeface="+mn-ea"/>
              </a:rPr>
              <a:t>，用</a:t>
            </a:r>
            <a:r>
              <a:rPr lang="en-US" altLang="zh-CN" sz="2000" dirty="0">
                <a:latin typeface="Times New Roman" panose="02020603050405020304" pitchFamily="18" charset="0"/>
                <a:ea typeface="+mn-ea"/>
              </a:rPr>
              <a:t>fc</a:t>
            </a:r>
            <a:r>
              <a:rPr lang="zh-CN" altLang="en-US" sz="2000" dirty="0">
                <a:latin typeface="Times New Roman" panose="02020603050405020304" pitchFamily="18" charset="0"/>
                <a:ea typeface="+mn-ea"/>
              </a:rPr>
              <a:t>表示，而</a:t>
            </a:r>
            <a:r>
              <a:rPr lang="en-US" altLang="zh-CN" sz="2000" dirty="0">
                <a:latin typeface="Times New Roman" panose="02020603050405020304" pitchFamily="18" charset="0"/>
                <a:ea typeface="+mn-ea"/>
              </a:rPr>
              <a:t>0</a:t>
            </a:r>
            <a:r>
              <a:rPr lang="zh-CN" altLang="en-US" sz="2000" dirty="0">
                <a:latin typeface="Times New Roman" panose="02020603050405020304" pitchFamily="18" charset="0"/>
                <a:ea typeface="+mn-ea"/>
              </a:rPr>
              <a:t>到</a:t>
            </a:r>
            <a:r>
              <a:rPr lang="en-US" altLang="zh-CN" sz="2000" dirty="0">
                <a:latin typeface="Times New Roman" panose="02020603050405020304" pitchFamily="18" charset="0"/>
                <a:ea typeface="+mn-ea"/>
              </a:rPr>
              <a:t>fc</a:t>
            </a:r>
            <a:r>
              <a:rPr lang="zh-CN" altLang="en-US" sz="2000" dirty="0">
                <a:latin typeface="Times New Roman" panose="02020603050405020304" pitchFamily="18" charset="0"/>
                <a:ea typeface="+mn-ea"/>
              </a:rPr>
              <a:t>的频率范围称为</a:t>
            </a:r>
            <a:r>
              <a:rPr lang="zh-CN" altLang="en-US" sz="2000" dirty="0">
                <a:solidFill>
                  <a:srgbClr val="FF0000"/>
                </a:solidFill>
                <a:latin typeface="Times New Roman" panose="02020603050405020304" pitchFamily="18" charset="0"/>
                <a:ea typeface="+mn-ea"/>
              </a:rPr>
              <a:t>通频带</a:t>
            </a:r>
            <a:r>
              <a:rPr lang="zh-CN" altLang="en-US" sz="2000" dirty="0">
                <a:latin typeface="Times New Roman" panose="02020603050405020304" pitchFamily="18" charset="0"/>
                <a:ea typeface="+mn-ea"/>
              </a:rPr>
              <a:t>。</a:t>
            </a:r>
            <a:endParaRPr lang="en-US" altLang="zh-CN" sz="2000" dirty="0">
              <a:latin typeface="Times New Roman" panose="02020603050405020304" pitchFamily="18" charset="0"/>
              <a:ea typeface="+mn-ea"/>
            </a:endParaRPr>
          </a:p>
        </p:txBody>
      </p:sp>
      <p:graphicFrame>
        <p:nvGraphicFramePr>
          <p:cNvPr id="13" name="对象 675848">
            <a:extLst>
              <a:ext uri="{FF2B5EF4-FFF2-40B4-BE49-F238E27FC236}">
                <a16:creationId xmlns="" xmlns:a16="http://schemas.microsoft.com/office/drawing/2014/main" id="{E52D6317-FD1F-3DDB-FAF7-F537C1E89678}"/>
              </a:ext>
            </a:extLst>
          </p:cNvPr>
          <p:cNvGraphicFramePr/>
          <p:nvPr>
            <p:extLst>
              <p:ext uri="{D42A27DB-BD31-4B8C-83A1-F6EECF244321}">
                <p14:modId xmlns:p14="http://schemas.microsoft.com/office/powerpoint/2010/main" val="1875999099"/>
              </p:ext>
            </p:extLst>
          </p:nvPr>
        </p:nvGraphicFramePr>
        <p:xfrm>
          <a:off x="5413177" y="3431537"/>
          <a:ext cx="3479800" cy="2571750"/>
        </p:xfrm>
        <a:graphic>
          <a:graphicData uri="http://schemas.openxmlformats.org/presentationml/2006/ole">
            <mc:AlternateContent xmlns:mc="http://schemas.openxmlformats.org/markup-compatibility/2006">
              <mc:Choice xmlns:v="urn:schemas-microsoft-com:vml" Requires="v">
                <p:oleObj spid="_x0000_s48329" r:id="rId9" imgW="1410970" imgH="1072515" progId="Visio.Drawing.11">
                  <p:embed/>
                </p:oleObj>
              </mc:Choice>
              <mc:Fallback>
                <p:oleObj r:id="rId9" imgW="1410970" imgH="1072515" progId="Visio.Drawing.11">
                  <p:embed/>
                  <p:pic>
                    <p:nvPicPr>
                      <p:cNvPr id="0" name=""/>
                      <p:cNvPicPr/>
                      <p:nvPr/>
                    </p:nvPicPr>
                    <p:blipFill>
                      <a:blip r:embed="rId10"/>
                      <a:stretch>
                        <a:fillRect/>
                      </a:stretch>
                    </p:blipFill>
                    <p:spPr>
                      <a:xfrm>
                        <a:off x="5413177" y="3431537"/>
                        <a:ext cx="3479800" cy="2571750"/>
                      </a:xfrm>
                      <a:prstGeom prst="rect">
                        <a:avLst/>
                      </a:prstGeom>
                      <a:noFill/>
                      <a:ln w="38100">
                        <a:noFill/>
                        <a:miter/>
                      </a:ln>
                    </p:spPr>
                  </p:pic>
                </p:oleObj>
              </mc:Fallback>
            </mc:AlternateContent>
          </a:graphicData>
        </a:graphic>
      </p:graphicFrame>
    </p:spTree>
    <p:extLst>
      <p:ext uri="{BB962C8B-B14F-4D97-AF65-F5344CB8AC3E}">
        <p14:creationId xmlns:p14="http://schemas.microsoft.com/office/powerpoint/2010/main" val="1016289748"/>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70</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2.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高频</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基础</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电路</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内容占位符 7170">
            <a:extLst>
              <a:ext uri="{FF2B5EF4-FFF2-40B4-BE49-F238E27FC236}">
                <a16:creationId xmlns="" xmlns:a16="http://schemas.microsoft.com/office/drawing/2014/main" id="{FA918E66-1EBA-6822-D76A-2999ABE59D7F}"/>
              </a:ext>
            </a:extLst>
          </p:cNvPr>
          <p:cNvSpPr/>
          <p:nvPr/>
        </p:nvSpPr>
        <p:spPr>
          <a:xfrm>
            <a:off x="539552" y="1412775"/>
            <a:ext cx="8353425" cy="3672409"/>
          </a:xfrm>
          <a:prstGeom prst="rect">
            <a:avLst/>
          </a:prstGeom>
          <a:noFill/>
          <a:ln w="9525">
            <a:noFill/>
          </a:ln>
        </p:spPr>
        <p:txBody>
          <a:bodyPr/>
          <a:lstStyle/>
          <a:p>
            <a:pPr>
              <a:lnSpc>
                <a:spcPct val="120000"/>
              </a:lnSpc>
              <a:spcBef>
                <a:spcPts val="1200"/>
              </a:spcBef>
              <a:spcAft>
                <a:spcPts val="1200"/>
              </a:spcAft>
              <a:buClr>
                <a:schemeClr val="folHlink"/>
              </a:buClr>
              <a:buSzPct val="60000"/>
              <a:defRPr/>
            </a:pPr>
            <a:endParaRPr lang="zh-CN" altLang="en-US" dirty="0">
              <a:ln w="0"/>
              <a:effectLst>
                <a:glow rad="63500">
                  <a:schemeClr val="accent3">
                    <a:satMod val="175000"/>
                    <a:alpha val="40000"/>
                  </a:schemeClr>
                </a:glow>
              </a:effectLst>
              <a:latin typeface="+mn-ea"/>
              <a:ea typeface="+mn-ea"/>
              <a:cs typeface="Times New Roman" panose="02020603050405020304" pitchFamily="18" charset="0"/>
            </a:endParaRPr>
          </a:p>
        </p:txBody>
      </p:sp>
      <p:sp>
        <p:nvSpPr>
          <p:cNvPr id="6" name="文本框 5">
            <a:extLst>
              <a:ext uri="{FF2B5EF4-FFF2-40B4-BE49-F238E27FC236}">
                <a16:creationId xmlns="" xmlns:a16="http://schemas.microsoft.com/office/drawing/2014/main" id="{A0E06B87-B22C-6114-F554-3A85DB89E38E}"/>
              </a:ext>
            </a:extLst>
          </p:cNvPr>
          <p:cNvSpPr txBox="1"/>
          <p:nvPr/>
        </p:nvSpPr>
        <p:spPr>
          <a:xfrm>
            <a:off x="646615" y="1412775"/>
            <a:ext cx="2125185" cy="400110"/>
          </a:xfrm>
          <a:prstGeom prst="rect">
            <a:avLst/>
          </a:prstGeom>
          <a:noFill/>
        </p:spPr>
        <p:txBody>
          <a:bodyPr wrap="square" rtlCol="0">
            <a:spAutoFit/>
          </a:bodyPr>
          <a:lstStyle/>
          <a:p>
            <a:pPr marL="342900" indent="-342900" eaLnBrk="1" hangingPunct="1">
              <a:buFont typeface="Wingdings" panose="05000000000000000000" pitchFamily="2" charset="2"/>
              <a:buChar char="Ø"/>
            </a:pPr>
            <a:r>
              <a:rPr lang="en-US" altLang="zh-CN" sz="2000" b="1" baseline="0" dirty="0">
                <a:solidFill>
                  <a:srgbClr val="FF0000"/>
                </a:solidFill>
                <a:latin typeface="+mn-ea"/>
                <a:ea typeface="+mn-ea"/>
              </a:rPr>
              <a:t>RC</a:t>
            </a:r>
            <a:r>
              <a:rPr lang="zh-CN" altLang="en-US" sz="2000" b="1" baseline="0" dirty="0">
                <a:solidFill>
                  <a:srgbClr val="FF0000"/>
                </a:solidFill>
                <a:latin typeface="+mn-ea"/>
                <a:ea typeface="+mn-ea"/>
              </a:rPr>
              <a:t>高通滤波器</a:t>
            </a:r>
            <a:endParaRPr lang="zh-CN" altLang="en-US" sz="2000" dirty="0">
              <a:solidFill>
                <a:srgbClr val="FF0000"/>
              </a:solidFill>
              <a:latin typeface="+mn-ea"/>
              <a:ea typeface="+mn-ea"/>
            </a:endParaRPr>
          </a:p>
        </p:txBody>
      </p:sp>
      <p:sp>
        <p:nvSpPr>
          <p:cNvPr id="7" name="文本框 6">
            <a:extLst>
              <a:ext uri="{FF2B5EF4-FFF2-40B4-BE49-F238E27FC236}">
                <a16:creationId xmlns="" xmlns:a16="http://schemas.microsoft.com/office/drawing/2014/main" id="{8F6A546E-90E7-F02E-93A1-CACA671ADF1B}"/>
              </a:ext>
            </a:extLst>
          </p:cNvPr>
          <p:cNvSpPr txBox="1"/>
          <p:nvPr/>
        </p:nvSpPr>
        <p:spPr>
          <a:xfrm>
            <a:off x="2748834" y="1412775"/>
            <a:ext cx="2327794" cy="400110"/>
          </a:xfrm>
          <a:prstGeom prst="rect">
            <a:avLst/>
          </a:prstGeom>
          <a:noFill/>
        </p:spPr>
        <p:txBody>
          <a:bodyPr wrap="square" rtlCol="0">
            <a:spAutoFit/>
          </a:bodyPr>
          <a:lstStyle/>
          <a:p>
            <a:pPr eaLnBrk="1" hangingPunct="1"/>
            <a:r>
              <a:rPr lang="zh-CN" altLang="en-US" sz="2000" dirty="0">
                <a:latin typeface="Times New Roman" panose="02020603050405020304" pitchFamily="18" charset="0"/>
                <a:ea typeface="+mn-ea"/>
              </a:rPr>
              <a:t>右图电压传递函数</a:t>
            </a:r>
            <a:r>
              <a:rPr lang="en-US" altLang="zh-CN" sz="2000" dirty="0">
                <a:latin typeface="Times New Roman" panose="02020603050405020304" pitchFamily="18" charset="0"/>
                <a:ea typeface="+mn-ea"/>
              </a:rPr>
              <a:t>:</a:t>
            </a:r>
          </a:p>
        </p:txBody>
      </p:sp>
      <p:sp>
        <p:nvSpPr>
          <p:cNvPr id="8" name="文本框 7">
            <a:extLst>
              <a:ext uri="{FF2B5EF4-FFF2-40B4-BE49-F238E27FC236}">
                <a16:creationId xmlns="" xmlns:a16="http://schemas.microsoft.com/office/drawing/2014/main" id="{71DE1DD5-FA5B-A641-09CF-FDC2B123A79D}"/>
              </a:ext>
            </a:extLst>
          </p:cNvPr>
          <p:cNvSpPr txBox="1"/>
          <p:nvPr/>
        </p:nvSpPr>
        <p:spPr>
          <a:xfrm>
            <a:off x="539552" y="4368963"/>
            <a:ext cx="4537076" cy="1323439"/>
          </a:xfrm>
          <a:prstGeom prst="rect">
            <a:avLst/>
          </a:prstGeom>
          <a:noFill/>
        </p:spPr>
        <p:txBody>
          <a:bodyPr wrap="square" rtlCol="0">
            <a:spAutoFit/>
          </a:bodyPr>
          <a:lstStyle/>
          <a:p>
            <a:pPr algn="just" eaLnBrk="1" hangingPunct="1"/>
            <a:r>
              <a:rPr lang="zh-CN" altLang="en-US" sz="2000" dirty="0">
                <a:latin typeface="Times New Roman" panose="02020603050405020304" pitchFamily="18" charset="0"/>
                <a:ea typeface="+mn-ea"/>
              </a:rPr>
              <a:t>        当</a:t>
            </a:r>
            <a:r>
              <a:rPr lang="en-US" altLang="zh-CN" sz="2000" dirty="0">
                <a:latin typeface="Times New Roman" panose="02020603050405020304" pitchFamily="18" charset="0"/>
                <a:ea typeface="+mn-ea"/>
              </a:rPr>
              <a:t>f=1/(2pRC)</a:t>
            </a:r>
            <a:r>
              <a:rPr lang="zh-CN" altLang="en-US" sz="2000" dirty="0">
                <a:latin typeface="Times New Roman" panose="02020603050405020304" pitchFamily="18" charset="0"/>
                <a:ea typeface="+mn-ea"/>
              </a:rPr>
              <a:t>时，电压增益的模值相当于</a:t>
            </a:r>
            <a:r>
              <a:rPr lang="en-US" altLang="zh-CN" sz="2000" dirty="0">
                <a:latin typeface="Times New Roman" panose="02020603050405020304" pitchFamily="18" charset="0"/>
                <a:ea typeface="+mn-ea"/>
              </a:rPr>
              <a:t>f→∞</a:t>
            </a:r>
            <a:r>
              <a:rPr lang="zh-CN" altLang="en-US" sz="2000" dirty="0">
                <a:latin typeface="Times New Roman" panose="02020603050405020304" pitchFamily="18" charset="0"/>
                <a:ea typeface="+mn-ea"/>
              </a:rPr>
              <a:t>时模值的</a:t>
            </a:r>
            <a:r>
              <a:rPr lang="en-US" altLang="zh-CN" sz="2000" dirty="0">
                <a:latin typeface="Times New Roman" panose="02020603050405020304" pitchFamily="18" charset="0"/>
                <a:ea typeface="+mn-ea"/>
              </a:rPr>
              <a:t>0.707</a:t>
            </a:r>
            <a:r>
              <a:rPr lang="zh-CN" altLang="en-US" sz="2000" dirty="0">
                <a:latin typeface="Times New Roman" panose="02020603050405020304" pitchFamily="18" charset="0"/>
                <a:ea typeface="+mn-ea"/>
              </a:rPr>
              <a:t>倍，这一频率称为高通滤波器的</a:t>
            </a:r>
            <a:r>
              <a:rPr lang="zh-CN" altLang="en-US" sz="2000" dirty="0">
                <a:solidFill>
                  <a:srgbClr val="FF0000"/>
                </a:solidFill>
                <a:latin typeface="Times New Roman" panose="02020603050405020304" pitchFamily="18" charset="0"/>
                <a:ea typeface="+mn-ea"/>
              </a:rPr>
              <a:t>截止频率</a:t>
            </a:r>
            <a:r>
              <a:rPr lang="zh-CN" altLang="en-US" sz="2000" dirty="0">
                <a:latin typeface="Times New Roman" panose="02020603050405020304" pitchFamily="18" charset="0"/>
                <a:ea typeface="+mn-ea"/>
              </a:rPr>
              <a:t>，用</a:t>
            </a:r>
            <a:r>
              <a:rPr lang="en-US" altLang="zh-CN" sz="2000" dirty="0">
                <a:latin typeface="Times New Roman" panose="02020603050405020304" pitchFamily="18" charset="0"/>
                <a:ea typeface="+mn-ea"/>
              </a:rPr>
              <a:t>fc</a:t>
            </a:r>
            <a:r>
              <a:rPr lang="zh-CN" altLang="en-US" sz="2000" dirty="0">
                <a:latin typeface="Times New Roman" panose="02020603050405020304" pitchFamily="18" charset="0"/>
                <a:ea typeface="+mn-ea"/>
              </a:rPr>
              <a:t>表示。</a:t>
            </a:r>
            <a:endParaRPr lang="en-US" altLang="zh-CN" sz="2000" dirty="0">
              <a:latin typeface="Times New Roman" panose="02020603050405020304" pitchFamily="18" charset="0"/>
              <a:ea typeface="+mn-ea"/>
            </a:endParaRPr>
          </a:p>
        </p:txBody>
      </p:sp>
      <p:graphicFrame>
        <p:nvGraphicFramePr>
          <p:cNvPr id="9" name="对象 8">
            <a:extLst>
              <a:ext uri="{FF2B5EF4-FFF2-40B4-BE49-F238E27FC236}">
                <a16:creationId xmlns="" xmlns:a16="http://schemas.microsoft.com/office/drawing/2014/main" id="{2238F655-4B30-047C-FFE7-087182AEB522}"/>
              </a:ext>
            </a:extLst>
          </p:cNvPr>
          <p:cNvGraphicFramePr>
            <a:graphicFrameLocks noChangeAspect="1"/>
          </p:cNvGraphicFramePr>
          <p:nvPr>
            <p:extLst>
              <p:ext uri="{D42A27DB-BD31-4B8C-83A1-F6EECF244321}">
                <p14:modId xmlns:p14="http://schemas.microsoft.com/office/powerpoint/2010/main" val="1474069169"/>
              </p:ext>
            </p:extLst>
          </p:nvPr>
        </p:nvGraphicFramePr>
        <p:xfrm>
          <a:off x="711239" y="1800131"/>
          <a:ext cx="2857500" cy="714375"/>
        </p:xfrm>
        <a:graphic>
          <a:graphicData uri="http://schemas.openxmlformats.org/presentationml/2006/ole">
            <mc:AlternateContent xmlns:mc="http://schemas.openxmlformats.org/markup-compatibility/2006">
              <mc:Choice xmlns:v="urn:schemas-microsoft-com:vml" Requires="v">
                <p:oleObj spid="_x0000_s49350" name="Equation" r:id="rId3" imgW="2857533" imgH="714986" progId="Equation.DSMT4">
                  <p:embed/>
                </p:oleObj>
              </mc:Choice>
              <mc:Fallback>
                <p:oleObj name="Equation" r:id="rId3" imgW="2857533" imgH="714986" progId="Equation.DSMT4">
                  <p:embed/>
                  <p:pic>
                    <p:nvPicPr>
                      <p:cNvPr id="0" name=""/>
                      <p:cNvPicPr/>
                      <p:nvPr/>
                    </p:nvPicPr>
                    <p:blipFill>
                      <a:blip r:embed="rId4"/>
                      <a:stretch>
                        <a:fillRect/>
                      </a:stretch>
                    </p:blipFill>
                    <p:spPr>
                      <a:xfrm>
                        <a:off x="711239" y="1800131"/>
                        <a:ext cx="2857500" cy="714375"/>
                      </a:xfrm>
                      <a:prstGeom prst="rect">
                        <a:avLst/>
                      </a:prstGeom>
                    </p:spPr>
                  </p:pic>
                </p:oleObj>
              </mc:Fallback>
            </mc:AlternateContent>
          </a:graphicData>
        </a:graphic>
      </p:graphicFrame>
      <p:graphicFrame>
        <p:nvGraphicFramePr>
          <p:cNvPr id="10" name="对象 9">
            <a:extLst>
              <a:ext uri="{FF2B5EF4-FFF2-40B4-BE49-F238E27FC236}">
                <a16:creationId xmlns="" xmlns:a16="http://schemas.microsoft.com/office/drawing/2014/main" id="{74E78352-79B6-4734-95EB-82E8D295D150}"/>
              </a:ext>
            </a:extLst>
          </p:cNvPr>
          <p:cNvGraphicFramePr>
            <a:graphicFrameLocks noChangeAspect="1"/>
          </p:cNvGraphicFramePr>
          <p:nvPr>
            <p:extLst>
              <p:ext uri="{D42A27DB-BD31-4B8C-83A1-F6EECF244321}">
                <p14:modId xmlns:p14="http://schemas.microsoft.com/office/powerpoint/2010/main" val="3455239496"/>
              </p:ext>
            </p:extLst>
          </p:nvPr>
        </p:nvGraphicFramePr>
        <p:xfrm>
          <a:off x="703341" y="2514506"/>
          <a:ext cx="4713287" cy="1214437"/>
        </p:xfrm>
        <a:graphic>
          <a:graphicData uri="http://schemas.openxmlformats.org/presentationml/2006/ole">
            <mc:AlternateContent xmlns:mc="http://schemas.openxmlformats.org/markup-compatibility/2006">
              <mc:Choice xmlns:v="urn:schemas-microsoft-com:vml" Requires="v">
                <p:oleObj spid="_x0000_s49351" name="Equation" r:id="rId5" imgW="4713832" imgH="1214684" progId="Equation.DSMT4">
                  <p:embed/>
                </p:oleObj>
              </mc:Choice>
              <mc:Fallback>
                <p:oleObj name="Equation" r:id="rId5" imgW="4713832" imgH="1214684" progId="Equation.DSMT4">
                  <p:embed/>
                  <p:pic>
                    <p:nvPicPr>
                      <p:cNvPr id="0" name=""/>
                      <p:cNvPicPr/>
                      <p:nvPr/>
                    </p:nvPicPr>
                    <p:blipFill>
                      <a:blip r:embed="rId6"/>
                      <a:stretch>
                        <a:fillRect/>
                      </a:stretch>
                    </p:blipFill>
                    <p:spPr>
                      <a:xfrm>
                        <a:off x="703341" y="2514506"/>
                        <a:ext cx="4713287" cy="1214437"/>
                      </a:xfrm>
                      <a:prstGeom prst="rect">
                        <a:avLst/>
                      </a:prstGeom>
                    </p:spPr>
                  </p:pic>
                </p:oleObj>
              </mc:Fallback>
            </mc:AlternateContent>
          </a:graphicData>
        </a:graphic>
      </p:graphicFrame>
      <p:graphicFrame>
        <p:nvGraphicFramePr>
          <p:cNvPr id="11" name="对象 674820">
            <a:extLst>
              <a:ext uri="{FF2B5EF4-FFF2-40B4-BE49-F238E27FC236}">
                <a16:creationId xmlns="" xmlns:a16="http://schemas.microsoft.com/office/drawing/2014/main" id="{6A50AC44-C265-3396-5555-69C88D138AA7}"/>
              </a:ext>
            </a:extLst>
          </p:cNvPr>
          <p:cNvGraphicFramePr/>
          <p:nvPr>
            <p:extLst>
              <p:ext uri="{D42A27DB-BD31-4B8C-83A1-F6EECF244321}">
                <p14:modId xmlns:p14="http://schemas.microsoft.com/office/powerpoint/2010/main" val="3119283639"/>
              </p:ext>
            </p:extLst>
          </p:nvPr>
        </p:nvGraphicFramePr>
        <p:xfrm>
          <a:off x="5880270" y="1492761"/>
          <a:ext cx="2592387" cy="1687512"/>
        </p:xfrm>
        <a:graphic>
          <a:graphicData uri="http://schemas.openxmlformats.org/presentationml/2006/ole">
            <mc:AlternateContent xmlns:mc="http://schemas.openxmlformats.org/markup-compatibility/2006">
              <mc:Choice xmlns:v="urn:schemas-microsoft-com:vml" Requires="v">
                <p:oleObj spid="_x0000_s49352" r:id="rId7" imgW="1094105" imgH="799465" progId="Visio.Drawing.11">
                  <p:embed/>
                </p:oleObj>
              </mc:Choice>
              <mc:Fallback>
                <p:oleObj r:id="rId7" imgW="1094105" imgH="799465" progId="Visio.Drawing.11">
                  <p:embed/>
                  <p:pic>
                    <p:nvPicPr>
                      <p:cNvPr id="0" name=""/>
                      <p:cNvPicPr/>
                      <p:nvPr/>
                    </p:nvPicPr>
                    <p:blipFill>
                      <a:blip r:embed="rId8"/>
                      <a:stretch>
                        <a:fillRect/>
                      </a:stretch>
                    </p:blipFill>
                    <p:spPr>
                      <a:xfrm>
                        <a:off x="5880270" y="1492761"/>
                        <a:ext cx="2592387" cy="1687512"/>
                      </a:xfrm>
                      <a:prstGeom prst="rect">
                        <a:avLst/>
                      </a:prstGeom>
                      <a:noFill/>
                      <a:ln w="38100">
                        <a:noFill/>
                        <a:miter/>
                      </a:ln>
                    </p:spPr>
                  </p:pic>
                </p:oleObj>
              </mc:Fallback>
            </mc:AlternateContent>
          </a:graphicData>
        </a:graphic>
      </p:graphicFrame>
      <p:graphicFrame>
        <p:nvGraphicFramePr>
          <p:cNvPr id="12" name="对象 674822">
            <a:extLst>
              <a:ext uri="{FF2B5EF4-FFF2-40B4-BE49-F238E27FC236}">
                <a16:creationId xmlns="" xmlns:a16="http://schemas.microsoft.com/office/drawing/2014/main" id="{FB65F8E8-D067-A23F-870F-FEE107F39820}"/>
              </a:ext>
            </a:extLst>
          </p:cNvPr>
          <p:cNvGraphicFramePr/>
          <p:nvPr>
            <p:extLst>
              <p:ext uri="{D42A27DB-BD31-4B8C-83A1-F6EECF244321}">
                <p14:modId xmlns:p14="http://schemas.microsoft.com/office/powerpoint/2010/main" val="118899532"/>
              </p:ext>
            </p:extLst>
          </p:nvPr>
        </p:nvGraphicFramePr>
        <p:xfrm>
          <a:off x="5246857" y="3677728"/>
          <a:ext cx="3225800" cy="2447925"/>
        </p:xfrm>
        <a:graphic>
          <a:graphicData uri="http://schemas.openxmlformats.org/presentationml/2006/ole">
            <mc:AlternateContent xmlns:mc="http://schemas.openxmlformats.org/markup-compatibility/2006">
              <mc:Choice xmlns:v="urn:schemas-microsoft-com:vml" Requires="v">
                <p:oleObj spid="_x0000_s49353" r:id="rId9" imgW="2028825" imgH="1419225" progId="Visio.Drawing.11">
                  <p:embed/>
                </p:oleObj>
              </mc:Choice>
              <mc:Fallback>
                <p:oleObj r:id="rId9" imgW="2028825" imgH="1419225" progId="Visio.Drawing.11">
                  <p:embed/>
                  <p:pic>
                    <p:nvPicPr>
                      <p:cNvPr id="0" name=""/>
                      <p:cNvPicPr/>
                      <p:nvPr/>
                    </p:nvPicPr>
                    <p:blipFill>
                      <a:blip r:embed="rId10"/>
                      <a:stretch>
                        <a:fillRect/>
                      </a:stretch>
                    </p:blipFill>
                    <p:spPr>
                      <a:xfrm>
                        <a:off x="5246857" y="3677728"/>
                        <a:ext cx="3225800" cy="2447925"/>
                      </a:xfrm>
                      <a:prstGeom prst="rect">
                        <a:avLst/>
                      </a:prstGeom>
                      <a:noFill/>
                      <a:ln w="38100">
                        <a:noFill/>
                        <a:miter/>
                      </a:ln>
                    </p:spPr>
                  </p:pic>
                </p:oleObj>
              </mc:Fallback>
            </mc:AlternateContent>
          </a:graphicData>
        </a:graphic>
      </p:graphicFrame>
    </p:spTree>
    <p:extLst>
      <p:ext uri="{BB962C8B-B14F-4D97-AF65-F5344CB8AC3E}">
        <p14:creationId xmlns:p14="http://schemas.microsoft.com/office/powerpoint/2010/main" val="773347777"/>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71</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2.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高频</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基础</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电路</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内容占位符 7170">
            <a:extLst>
              <a:ext uri="{FF2B5EF4-FFF2-40B4-BE49-F238E27FC236}">
                <a16:creationId xmlns="" xmlns:a16="http://schemas.microsoft.com/office/drawing/2014/main" id="{365EB92E-358C-7DBB-1F7F-8308671289D9}"/>
              </a:ext>
            </a:extLst>
          </p:cNvPr>
          <p:cNvSpPr/>
          <p:nvPr/>
        </p:nvSpPr>
        <p:spPr>
          <a:xfrm>
            <a:off x="539552" y="1412775"/>
            <a:ext cx="8353425" cy="3672409"/>
          </a:xfrm>
          <a:prstGeom prst="rect">
            <a:avLst/>
          </a:prstGeom>
          <a:noFill/>
          <a:ln w="9525">
            <a:noFill/>
          </a:ln>
        </p:spPr>
        <p:txBody>
          <a:bodyPr/>
          <a:lstStyle/>
          <a:p>
            <a:pPr>
              <a:lnSpc>
                <a:spcPct val="120000"/>
              </a:lnSpc>
              <a:spcBef>
                <a:spcPts val="1200"/>
              </a:spcBef>
              <a:spcAft>
                <a:spcPts val="1200"/>
              </a:spcAft>
              <a:buClr>
                <a:schemeClr val="folHlink"/>
              </a:buClr>
              <a:buSzPct val="60000"/>
              <a:defRPr/>
            </a:pPr>
            <a:endParaRPr lang="zh-CN" altLang="en-US" dirty="0">
              <a:ln w="0"/>
              <a:effectLst>
                <a:glow rad="63500">
                  <a:schemeClr val="accent3">
                    <a:satMod val="175000"/>
                    <a:alpha val="40000"/>
                  </a:schemeClr>
                </a:glow>
              </a:effectLst>
              <a:latin typeface="Times New Roman" panose="02020603050405020304" pitchFamily="18" charset="0"/>
              <a:cs typeface="Times New Roman" panose="02020603050405020304" pitchFamily="18" charset="0"/>
            </a:endParaRPr>
          </a:p>
        </p:txBody>
      </p:sp>
      <p:sp>
        <p:nvSpPr>
          <p:cNvPr id="6" name="文本框 5">
            <a:extLst>
              <a:ext uri="{FF2B5EF4-FFF2-40B4-BE49-F238E27FC236}">
                <a16:creationId xmlns="" xmlns:a16="http://schemas.microsoft.com/office/drawing/2014/main" id="{E6B9D4B7-8909-7C7A-C4D9-C53AF89D6CA8}"/>
              </a:ext>
            </a:extLst>
          </p:cNvPr>
          <p:cNvSpPr txBox="1"/>
          <p:nvPr/>
        </p:nvSpPr>
        <p:spPr>
          <a:xfrm>
            <a:off x="646615" y="1412775"/>
            <a:ext cx="2125185" cy="400110"/>
          </a:xfrm>
          <a:prstGeom prst="rect">
            <a:avLst/>
          </a:prstGeom>
          <a:noFill/>
        </p:spPr>
        <p:txBody>
          <a:bodyPr wrap="square" rtlCol="0">
            <a:spAutoFit/>
          </a:bodyPr>
          <a:lstStyle/>
          <a:p>
            <a:pPr marL="342900" indent="-342900" eaLnBrk="1" hangingPunct="1">
              <a:buFont typeface="Wingdings" panose="05000000000000000000" pitchFamily="2" charset="2"/>
              <a:buChar char="Ø"/>
            </a:pPr>
            <a:r>
              <a:rPr lang="zh-CN" altLang="en-US" sz="2000" b="1" baseline="0" dirty="0">
                <a:solidFill>
                  <a:srgbClr val="FF0000"/>
                </a:solidFill>
                <a:latin typeface="Times New Roman" panose="02020603050405020304" pitchFamily="18" charset="0"/>
                <a:cs typeface="Times New Roman" panose="02020603050405020304" pitchFamily="18" charset="0"/>
              </a:rPr>
              <a:t>梯形网络</a:t>
            </a:r>
            <a:endParaRPr lang="zh-CN" altLang="en-US" sz="2000" dirty="0">
              <a:solidFill>
                <a:srgbClr val="FF0000"/>
              </a:solidFill>
              <a:latin typeface="Times New Roman" panose="02020603050405020304" pitchFamily="18" charset="0"/>
              <a:cs typeface="Times New Roman" panose="02020603050405020304" pitchFamily="18" charset="0"/>
            </a:endParaRPr>
          </a:p>
        </p:txBody>
      </p:sp>
      <p:graphicFrame>
        <p:nvGraphicFramePr>
          <p:cNvPr id="11" name="对象 676868">
            <a:extLst>
              <a:ext uri="{FF2B5EF4-FFF2-40B4-BE49-F238E27FC236}">
                <a16:creationId xmlns="" xmlns:a16="http://schemas.microsoft.com/office/drawing/2014/main" id="{9DCE45B4-FE41-9C43-5A74-2B4C6659C771}"/>
              </a:ext>
            </a:extLst>
          </p:cNvPr>
          <p:cNvGraphicFramePr/>
          <p:nvPr>
            <p:extLst>
              <p:ext uri="{D42A27DB-BD31-4B8C-83A1-F6EECF244321}">
                <p14:modId xmlns:p14="http://schemas.microsoft.com/office/powerpoint/2010/main" val="232304432"/>
              </p:ext>
            </p:extLst>
          </p:nvPr>
        </p:nvGraphicFramePr>
        <p:xfrm>
          <a:off x="4876290" y="1412775"/>
          <a:ext cx="3705225" cy="1725613"/>
        </p:xfrm>
        <a:graphic>
          <a:graphicData uri="http://schemas.openxmlformats.org/presentationml/2006/ole">
            <mc:AlternateContent xmlns:mc="http://schemas.openxmlformats.org/markup-compatibility/2006">
              <mc:Choice xmlns:v="urn:schemas-microsoft-com:vml" Requires="v">
                <p:oleObj spid="_x0000_s50374" r:id="rId3" imgW="2109470" imgH="935990" progId="Visio.Drawing.11">
                  <p:embed/>
                </p:oleObj>
              </mc:Choice>
              <mc:Fallback>
                <p:oleObj r:id="rId3" imgW="2109470" imgH="935990" progId="Visio.Drawing.11">
                  <p:embed/>
                  <p:pic>
                    <p:nvPicPr>
                      <p:cNvPr id="0" name=""/>
                      <p:cNvPicPr/>
                      <p:nvPr/>
                    </p:nvPicPr>
                    <p:blipFill>
                      <a:blip r:embed="rId4"/>
                      <a:stretch>
                        <a:fillRect/>
                      </a:stretch>
                    </p:blipFill>
                    <p:spPr>
                      <a:xfrm>
                        <a:off x="4876290" y="1412775"/>
                        <a:ext cx="3705225" cy="1725613"/>
                      </a:xfrm>
                      <a:prstGeom prst="rect">
                        <a:avLst/>
                      </a:prstGeom>
                      <a:noFill/>
                      <a:ln w="38100">
                        <a:noFill/>
                        <a:miter/>
                      </a:ln>
                    </p:spPr>
                  </p:pic>
                </p:oleObj>
              </mc:Fallback>
            </mc:AlternateContent>
          </a:graphicData>
        </a:graphic>
      </p:graphicFrame>
      <p:grpSp>
        <p:nvGrpSpPr>
          <p:cNvPr id="12" name="组合 11">
            <a:extLst>
              <a:ext uri="{FF2B5EF4-FFF2-40B4-BE49-F238E27FC236}">
                <a16:creationId xmlns="" xmlns:a16="http://schemas.microsoft.com/office/drawing/2014/main" id="{010102AB-2E68-697D-5B19-75E6D1384F0C}"/>
              </a:ext>
            </a:extLst>
          </p:cNvPr>
          <p:cNvGrpSpPr/>
          <p:nvPr/>
        </p:nvGrpSpPr>
        <p:grpSpPr>
          <a:xfrm>
            <a:off x="5600191" y="1666775"/>
            <a:ext cx="2981326" cy="893763"/>
            <a:chOff x="3744" y="506"/>
            <a:chExt cx="1878" cy="563"/>
          </a:xfrm>
        </p:grpSpPr>
        <p:sp>
          <p:nvSpPr>
            <p:cNvPr id="13" name="文本框 676875">
              <a:extLst>
                <a:ext uri="{FF2B5EF4-FFF2-40B4-BE49-F238E27FC236}">
                  <a16:creationId xmlns="" xmlns:a16="http://schemas.microsoft.com/office/drawing/2014/main" id="{2D5C2E90-2319-F81D-93E5-0909B75A68F6}"/>
                </a:ext>
              </a:extLst>
            </p:cNvPr>
            <p:cNvSpPr txBox="1"/>
            <p:nvPr/>
          </p:nvSpPr>
          <p:spPr>
            <a:xfrm>
              <a:off x="3744" y="518"/>
              <a:ext cx="406" cy="272"/>
            </a:xfrm>
            <a:prstGeom prst="rect">
              <a:avLst/>
            </a:prstGeom>
            <a:noFill/>
            <a:ln w="19050">
              <a:noFill/>
            </a:ln>
          </p:spPr>
          <p:txBody>
            <a:bodyPr/>
            <a:lstStyle/>
            <a:p>
              <a:pPr>
                <a:spcBef>
                  <a:spcPct val="50000"/>
                </a:spcBef>
              </a:pPr>
              <a:r>
                <a:rPr lang="en-US" altLang="zh-CN" sz="1800" b="1" baseline="0" dirty="0">
                  <a:solidFill>
                    <a:srgbClr val="3333FF"/>
                  </a:solidFill>
                  <a:latin typeface="Times New Roman" panose="02020603050405020304" pitchFamily="18" charset="0"/>
                  <a:ea typeface="仿宋_GB2312" panose="02010609030101010101" pitchFamily="49" charset="-122"/>
                  <a:cs typeface="Times New Roman" panose="02020603050405020304" pitchFamily="18" charset="0"/>
                </a:rPr>
                <a:t>1/R</a:t>
              </a:r>
              <a:r>
                <a:rPr lang="en-US" altLang="zh-CN" sz="1800" b="1" dirty="0">
                  <a:solidFill>
                    <a:srgbClr val="3333FF"/>
                  </a:solidFill>
                  <a:latin typeface="Times New Roman" panose="02020603050405020304" pitchFamily="18" charset="0"/>
                  <a:ea typeface="仿宋_GB2312" panose="02010609030101010101" pitchFamily="49" charset="-122"/>
                  <a:cs typeface="Times New Roman" panose="02020603050405020304" pitchFamily="18" charset="0"/>
                </a:rPr>
                <a:t>1</a:t>
              </a:r>
            </a:p>
          </p:txBody>
        </p:sp>
        <p:sp>
          <p:nvSpPr>
            <p:cNvPr id="14" name="文本框 676876">
              <a:extLst>
                <a:ext uri="{FF2B5EF4-FFF2-40B4-BE49-F238E27FC236}">
                  <a16:creationId xmlns="" xmlns:a16="http://schemas.microsoft.com/office/drawing/2014/main" id="{E6F4DB0D-8DB1-241B-2D30-0729C2AEFD86}"/>
                </a:ext>
              </a:extLst>
            </p:cNvPr>
            <p:cNvSpPr txBox="1"/>
            <p:nvPr/>
          </p:nvSpPr>
          <p:spPr>
            <a:xfrm>
              <a:off x="4531" y="506"/>
              <a:ext cx="406" cy="272"/>
            </a:xfrm>
            <a:prstGeom prst="rect">
              <a:avLst/>
            </a:prstGeom>
            <a:noFill/>
            <a:ln w="19050">
              <a:noFill/>
            </a:ln>
          </p:spPr>
          <p:txBody>
            <a:bodyPr/>
            <a:lstStyle/>
            <a:p>
              <a:pPr>
                <a:spcBef>
                  <a:spcPct val="50000"/>
                </a:spcBef>
              </a:pPr>
              <a:r>
                <a:rPr lang="en-US" altLang="zh-CN" sz="1800" b="1" baseline="0" dirty="0">
                  <a:solidFill>
                    <a:srgbClr val="3333FF"/>
                  </a:solidFill>
                  <a:latin typeface="Times New Roman" panose="02020603050405020304" pitchFamily="18" charset="0"/>
                  <a:ea typeface="仿宋_GB2312" panose="02010609030101010101" pitchFamily="49" charset="-122"/>
                  <a:cs typeface="Times New Roman" panose="02020603050405020304" pitchFamily="18" charset="0"/>
                </a:rPr>
                <a:t>sC</a:t>
              </a:r>
              <a:r>
                <a:rPr lang="en-US" altLang="zh-CN" sz="1800" b="1" dirty="0">
                  <a:solidFill>
                    <a:srgbClr val="3333FF"/>
                  </a:solidFill>
                  <a:latin typeface="Times New Roman" panose="02020603050405020304" pitchFamily="18" charset="0"/>
                  <a:ea typeface="仿宋_GB2312" panose="02010609030101010101" pitchFamily="49" charset="-122"/>
                  <a:cs typeface="Times New Roman" panose="02020603050405020304" pitchFamily="18" charset="0"/>
                </a:rPr>
                <a:t>2</a:t>
              </a:r>
            </a:p>
          </p:txBody>
        </p:sp>
        <p:sp>
          <p:nvSpPr>
            <p:cNvPr id="15" name="文本框 676877">
              <a:extLst>
                <a:ext uri="{FF2B5EF4-FFF2-40B4-BE49-F238E27FC236}">
                  <a16:creationId xmlns="" xmlns:a16="http://schemas.microsoft.com/office/drawing/2014/main" id="{0C79924B-83F3-E9B5-9668-B42E1CE14AA7}"/>
                </a:ext>
              </a:extLst>
            </p:cNvPr>
            <p:cNvSpPr txBox="1"/>
            <p:nvPr/>
          </p:nvSpPr>
          <p:spPr>
            <a:xfrm>
              <a:off x="5117" y="791"/>
              <a:ext cx="505" cy="272"/>
            </a:xfrm>
            <a:prstGeom prst="rect">
              <a:avLst/>
            </a:prstGeom>
            <a:noFill/>
            <a:ln w="19050">
              <a:noFill/>
            </a:ln>
          </p:spPr>
          <p:txBody>
            <a:bodyPr/>
            <a:lstStyle/>
            <a:p>
              <a:pPr>
                <a:spcBef>
                  <a:spcPct val="50000"/>
                </a:spcBef>
              </a:pPr>
              <a:r>
                <a:rPr lang="en-US" altLang="zh-CN" sz="1800" b="1" baseline="0" dirty="0">
                  <a:solidFill>
                    <a:srgbClr val="3333FF"/>
                  </a:solidFill>
                  <a:latin typeface="Times New Roman" panose="02020603050405020304" pitchFamily="18" charset="0"/>
                  <a:ea typeface="仿宋_GB2312" panose="02010609030101010101" pitchFamily="49" charset="-122"/>
                  <a:cs typeface="Times New Roman" panose="02020603050405020304" pitchFamily="18" charset="0"/>
                </a:rPr>
                <a:t>1/R</a:t>
              </a:r>
              <a:r>
                <a:rPr lang="en-US" altLang="zh-CN" sz="1800" b="1" dirty="0">
                  <a:solidFill>
                    <a:srgbClr val="3333FF"/>
                  </a:solidFill>
                  <a:latin typeface="Times New Roman" panose="02020603050405020304" pitchFamily="18" charset="0"/>
                  <a:ea typeface="仿宋_GB2312" panose="02010609030101010101" pitchFamily="49" charset="-122"/>
                  <a:cs typeface="Times New Roman" panose="02020603050405020304" pitchFamily="18" charset="0"/>
                </a:rPr>
                <a:t>2</a:t>
              </a:r>
            </a:p>
          </p:txBody>
        </p:sp>
        <p:sp>
          <p:nvSpPr>
            <p:cNvPr id="16" name="文本框 676878">
              <a:extLst>
                <a:ext uri="{FF2B5EF4-FFF2-40B4-BE49-F238E27FC236}">
                  <a16:creationId xmlns="" xmlns:a16="http://schemas.microsoft.com/office/drawing/2014/main" id="{E2767910-3EAA-800E-4C24-B872E7EFF38C}"/>
                </a:ext>
              </a:extLst>
            </p:cNvPr>
            <p:cNvSpPr txBox="1"/>
            <p:nvPr/>
          </p:nvSpPr>
          <p:spPr>
            <a:xfrm>
              <a:off x="4386" y="797"/>
              <a:ext cx="379" cy="272"/>
            </a:xfrm>
            <a:prstGeom prst="rect">
              <a:avLst/>
            </a:prstGeom>
            <a:noFill/>
            <a:ln w="19050">
              <a:noFill/>
            </a:ln>
          </p:spPr>
          <p:txBody>
            <a:bodyPr/>
            <a:lstStyle/>
            <a:p>
              <a:pPr>
                <a:spcBef>
                  <a:spcPct val="50000"/>
                </a:spcBef>
              </a:pPr>
              <a:r>
                <a:rPr lang="en-US" altLang="zh-CN" sz="1800" b="1" baseline="0" dirty="0">
                  <a:solidFill>
                    <a:srgbClr val="3333FF"/>
                  </a:solidFill>
                  <a:latin typeface="Times New Roman" panose="02020603050405020304" pitchFamily="18" charset="0"/>
                  <a:ea typeface="仿宋_GB2312" panose="02010609030101010101" pitchFamily="49" charset="-122"/>
                  <a:cs typeface="Times New Roman" panose="02020603050405020304" pitchFamily="18" charset="0"/>
                </a:rPr>
                <a:t>sC</a:t>
              </a:r>
              <a:r>
                <a:rPr lang="en-US" altLang="zh-CN" sz="1800" b="1" dirty="0">
                  <a:solidFill>
                    <a:srgbClr val="3333FF"/>
                  </a:solidFill>
                  <a:latin typeface="Times New Roman" panose="02020603050405020304" pitchFamily="18" charset="0"/>
                  <a:ea typeface="仿宋_GB2312" panose="02010609030101010101" pitchFamily="49" charset="-122"/>
                  <a:cs typeface="Times New Roman" panose="02020603050405020304" pitchFamily="18" charset="0"/>
                </a:rPr>
                <a:t>1</a:t>
              </a:r>
            </a:p>
          </p:txBody>
        </p:sp>
      </p:grpSp>
      <p:graphicFrame>
        <p:nvGraphicFramePr>
          <p:cNvPr id="19" name="对象 18"/>
          <p:cNvGraphicFramePr>
            <a:graphicFrameLocks noChangeAspect="1"/>
          </p:cNvGraphicFramePr>
          <p:nvPr>
            <p:extLst>
              <p:ext uri="{D42A27DB-BD31-4B8C-83A1-F6EECF244321}">
                <p14:modId xmlns:p14="http://schemas.microsoft.com/office/powerpoint/2010/main" val="2617145862"/>
              </p:ext>
            </p:extLst>
          </p:nvPr>
        </p:nvGraphicFramePr>
        <p:xfrm>
          <a:off x="539552" y="2710865"/>
          <a:ext cx="5830887" cy="1749207"/>
        </p:xfrm>
        <a:graphic>
          <a:graphicData uri="http://schemas.openxmlformats.org/presentationml/2006/ole">
            <mc:AlternateContent xmlns:mc="http://schemas.openxmlformats.org/markup-compatibility/2006">
              <mc:Choice xmlns:v="urn:schemas-microsoft-com:vml" Requires="v">
                <p:oleObj spid="_x0000_s50375" name="Equation" r:id="rId5" imgW="5830995" imgH="1581897" progId="Equation.DSMT4">
                  <p:embed/>
                </p:oleObj>
              </mc:Choice>
              <mc:Fallback>
                <p:oleObj name="Equation" r:id="rId5" imgW="5830995" imgH="1581897" progId="Equation.DSMT4">
                  <p:embed/>
                  <p:pic>
                    <p:nvPicPr>
                      <p:cNvPr id="0" name=""/>
                      <p:cNvPicPr/>
                      <p:nvPr/>
                    </p:nvPicPr>
                    <p:blipFill>
                      <a:blip r:embed="rId6"/>
                      <a:stretch>
                        <a:fillRect/>
                      </a:stretch>
                    </p:blipFill>
                    <p:spPr>
                      <a:xfrm>
                        <a:off x="539552" y="2710865"/>
                        <a:ext cx="5830887" cy="1749207"/>
                      </a:xfrm>
                      <a:prstGeom prst="rect">
                        <a:avLst/>
                      </a:prstGeom>
                    </p:spPr>
                  </p:pic>
                </p:oleObj>
              </mc:Fallback>
            </mc:AlternateContent>
          </a:graphicData>
        </a:graphic>
      </p:graphicFrame>
      <p:graphicFrame>
        <p:nvGraphicFramePr>
          <p:cNvPr id="20" name="对象 19"/>
          <p:cNvGraphicFramePr>
            <a:graphicFrameLocks noChangeAspect="1"/>
          </p:cNvGraphicFramePr>
          <p:nvPr>
            <p:extLst>
              <p:ext uri="{D42A27DB-BD31-4B8C-83A1-F6EECF244321}">
                <p14:modId xmlns:p14="http://schemas.microsoft.com/office/powerpoint/2010/main" val="2924742728"/>
              </p:ext>
            </p:extLst>
          </p:nvPr>
        </p:nvGraphicFramePr>
        <p:xfrm>
          <a:off x="490456" y="1950542"/>
          <a:ext cx="5306853" cy="747121"/>
        </p:xfrm>
        <a:graphic>
          <a:graphicData uri="http://schemas.openxmlformats.org/presentationml/2006/ole">
            <mc:AlternateContent xmlns:mc="http://schemas.openxmlformats.org/markup-compatibility/2006">
              <mc:Choice xmlns:v="urn:schemas-microsoft-com:vml" Requires="v">
                <p:oleObj spid="_x0000_s50376" name="Equation" r:id="rId7" imgW="5141904" imgH="723986" progId="Equation.DSMT4">
                  <p:embed/>
                </p:oleObj>
              </mc:Choice>
              <mc:Fallback>
                <p:oleObj name="Equation" r:id="rId7" imgW="5141904" imgH="723986" progId="Equation.DSMT4">
                  <p:embed/>
                  <p:pic>
                    <p:nvPicPr>
                      <p:cNvPr id="0" name=""/>
                      <p:cNvPicPr/>
                      <p:nvPr/>
                    </p:nvPicPr>
                    <p:blipFill>
                      <a:blip r:embed="rId8"/>
                      <a:stretch>
                        <a:fillRect/>
                      </a:stretch>
                    </p:blipFill>
                    <p:spPr>
                      <a:xfrm>
                        <a:off x="490456" y="1950542"/>
                        <a:ext cx="5306853" cy="747121"/>
                      </a:xfrm>
                      <a:prstGeom prst="rect">
                        <a:avLst/>
                      </a:prstGeom>
                    </p:spPr>
                  </p:pic>
                </p:oleObj>
              </mc:Fallback>
            </mc:AlternateContent>
          </a:graphicData>
        </a:graphic>
      </p:graphicFrame>
      <p:graphicFrame>
        <p:nvGraphicFramePr>
          <p:cNvPr id="21" name="对象 677894">
            <a:extLst>
              <a:ext uri="{FF2B5EF4-FFF2-40B4-BE49-F238E27FC236}">
                <a16:creationId xmlns="" xmlns:a16="http://schemas.microsoft.com/office/drawing/2014/main" id="{DF5FA04A-555F-A1A6-C758-1071AA5A58F6}"/>
              </a:ext>
            </a:extLst>
          </p:cNvPr>
          <p:cNvGraphicFramePr/>
          <p:nvPr>
            <p:extLst>
              <p:ext uri="{D42A27DB-BD31-4B8C-83A1-F6EECF244321}">
                <p14:modId xmlns:p14="http://schemas.microsoft.com/office/powerpoint/2010/main" val="3738996332"/>
              </p:ext>
            </p:extLst>
          </p:nvPr>
        </p:nvGraphicFramePr>
        <p:xfrm>
          <a:off x="5106479" y="4460072"/>
          <a:ext cx="3486150" cy="2357438"/>
        </p:xfrm>
        <a:graphic>
          <a:graphicData uri="http://schemas.openxmlformats.org/presentationml/2006/ole">
            <mc:AlternateContent xmlns:mc="http://schemas.openxmlformats.org/markup-compatibility/2006">
              <mc:Choice xmlns:v="urn:schemas-microsoft-com:vml" Requires="v">
                <p:oleObj spid="_x0000_s50377" r:id="rId9" imgW="3429000" imgH="2247900" progId="Visio.Drawing.11">
                  <p:embed/>
                </p:oleObj>
              </mc:Choice>
              <mc:Fallback>
                <p:oleObj r:id="rId9" imgW="3429000" imgH="2247900" progId="Visio.Drawing.11">
                  <p:embed/>
                  <p:pic>
                    <p:nvPicPr>
                      <p:cNvPr id="0" name=""/>
                      <p:cNvPicPr/>
                      <p:nvPr/>
                    </p:nvPicPr>
                    <p:blipFill>
                      <a:blip r:embed="rId10"/>
                      <a:stretch>
                        <a:fillRect/>
                      </a:stretch>
                    </p:blipFill>
                    <p:spPr>
                      <a:xfrm>
                        <a:off x="5106479" y="4460072"/>
                        <a:ext cx="3486150" cy="2357438"/>
                      </a:xfrm>
                      <a:prstGeom prst="rect">
                        <a:avLst/>
                      </a:prstGeom>
                      <a:noFill/>
                      <a:ln w="38100">
                        <a:noFill/>
                        <a:miter/>
                      </a:ln>
                    </p:spPr>
                  </p:pic>
                </p:oleObj>
              </mc:Fallback>
            </mc:AlternateContent>
          </a:graphicData>
        </a:graphic>
      </p:graphicFrame>
      <p:sp>
        <p:nvSpPr>
          <p:cNvPr id="22" name="矩形 21">
            <a:extLst>
              <a:ext uri="{FF2B5EF4-FFF2-40B4-BE49-F238E27FC236}">
                <a16:creationId xmlns="" xmlns:a16="http://schemas.microsoft.com/office/drawing/2014/main" id="{45AF8BC9-1A92-E9E4-2DBD-07A60B79F598}"/>
              </a:ext>
            </a:extLst>
          </p:cNvPr>
          <p:cNvSpPr/>
          <p:nvPr/>
        </p:nvSpPr>
        <p:spPr>
          <a:xfrm>
            <a:off x="612006" y="4906415"/>
            <a:ext cx="4319588" cy="1015663"/>
          </a:xfrm>
          <a:prstGeom prst="rect">
            <a:avLst/>
          </a:prstGeom>
          <a:noFill/>
          <a:ln w="9525">
            <a:noFill/>
          </a:ln>
        </p:spPr>
        <p:txBody>
          <a:bodyPr>
            <a:spAutoFit/>
          </a:bodyPr>
          <a:lstStyle/>
          <a:p>
            <a:pPr>
              <a:lnSpc>
                <a:spcPct val="100000"/>
              </a:lnSpc>
            </a:pPr>
            <a:r>
              <a:rPr lang="zh-CN" altLang="en-US" sz="2000" baseline="0" dirty="0" smtClean="0">
                <a:solidFill>
                  <a:srgbClr val="FF0000"/>
                </a:solidFill>
                <a:latin typeface="Times New Roman" panose="02020603050405020304" pitchFamily="18" charset="0"/>
                <a:ea typeface="+mn-ea"/>
              </a:rPr>
              <a:t>可以</a:t>
            </a:r>
            <a:r>
              <a:rPr lang="zh-CN" altLang="en-US" sz="2000" baseline="0" dirty="0">
                <a:solidFill>
                  <a:srgbClr val="FF0000"/>
                </a:solidFill>
                <a:latin typeface="Times New Roman" panose="02020603050405020304" pitchFamily="18" charset="0"/>
                <a:ea typeface="+mn-ea"/>
              </a:rPr>
              <a:t>看出电路具有带通特性。当</a:t>
            </a:r>
            <a:r>
              <a:rPr lang="en-US" altLang="zh-CN" sz="2000" i="1" baseline="0" dirty="0">
                <a:solidFill>
                  <a:srgbClr val="FF0000"/>
                </a:solidFill>
                <a:latin typeface="Times New Roman" panose="02020603050405020304" pitchFamily="18" charset="0"/>
                <a:ea typeface="+mn-ea"/>
              </a:rPr>
              <a:t>C</a:t>
            </a:r>
            <a:r>
              <a:rPr lang="en-US" altLang="zh-CN" sz="2000" i="1" dirty="0">
                <a:solidFill>
                  <a:srgbClr val="FF0000"/>
                </a:solidFill>
                <a:latin typeface="Times New Roman" panose="02020603050405020304" pitchFamily="18" charset="0"/>
                <a:ea typeface="+mn-ea"/>
              </a:rPr>
              <a:t>1</a:t>
            </a:r>
            <a:r>
              <a:rPr lang="en-US" altLang="zh-CN" sz="2000" i="1" baseline="0" dirty="0">
                <a:solidFill>
                  <a:srgbClr val="FF0000"/>
                </a:solidFill>
                <a:latin typeface="Times New Roman" panose="02020603050405020304" pitchFamily="18" charset="0"/>
                <a:ea typeface="+mn-ea"/>
              </a:rPr>
              <a:t>= C</a:t>
            </a:r>
            <a:r>
              <a:rPr lang="en-US" altLang="zh-CN" sz="2000" i="1" dirty="0">
                <a:solidFill>
                  <a:srgbClr val="FF0000"/>
                </a:solidFill>
                <a:latin typeface="Times New Roman" panose="02020603050405020304" pitchFamily="18" charset="0"/>
                <a:ea typeface="+mn-ea"/>
              </a:rPr>
              <a:t>2</a:t>
            </a:r>
            <a:r>
              <a:rPr lang="zh-CN" altLang="en-US" sz="2000" i="1" baseline="0" dirty="0">
                <a:solidFill>
                  <a:srgbClr val="FF0000"/>
                </a:solidFill>
                <a:latin typeface="Times New Roman" panose="02020603050405020304" pitchFamily="18" charset="0"/>
                <a:ea typeface="+mn-ea"/>
              </a:rPr>
              <a:t>，</a:t>
            </a:r>
            <a:r>
              <a:rPr lang="en-US" altLang="zh-CN" sz="2000" i="1" baseline="0" dirty="0">
                <a:solidFill>
                  <a:srgbClr val="FF0000"/>
                </a:solidFill>
                <a:latin typeface="Times New Roman" panose="02020603050405020304" pitchFamily="18" charset="0"/>
                <a:ea typeface="+mn-ea"/>
              </a:rPr>
              <a:t>R</a:t>
            </a:r>
            <a:r>
              <a:rPr lang="en-US" altLang="zh-CN" sz="2000" i="1" dirty="0">
                <a:solidFill>
                  <a:srgbClr val="FF0000"/>
                </a:solidFill>
                <a:latin typeface="Times New Roman" panose="02020603050405020304" pitchFamily="18" charset="0"/>
                <a:ea typeface="+mn-ea"/>
              </a:rPr>
              <a:t>1</a:t>
            </a:r>
            <a:r>
              <a:rPr lang="en-US" altLang="zh-CN" sz="2000" i="1" baseline="0" dirty="0">
                <a:solidFill>
                  <a:srgbClr val="FF0000"/>
                </a:solidFill>
                <a:latin typeface="Times New Roman" panose="02020603050405020304" pitchFamily="18" charset="0"/>
                <a:ea typeface="+mn-ea"/>
              </a:rPr>
              <a:t>=R</a:t>
            </a:r>
            <a:r>
              <a:rPr lang="en-US" altLang="zh-CN" sz="2000" i="1" dirty="0">
                <a:solidFill>
                  <a:srgbClr val="FF0000"/>
                </a:solidFill>
                <a:latin typeface="Times New Roman" panose="02020603050405020304" pitchFamily="18" charset="0"/>
                <a:ea typeface="+mn-ea"/>
              </a:rPr>
              <a:t>2 </a:t>
            </a:r>
            <a:r>
              <a:rPr lang="zh-CN" altLang="en-US" sz="2000" baseline="0" dirty="0">
                <a:solidFill>
                  <a:srgbClr val="FF0000"/>
                </a:solidFill>
                <a:latin typeface="Times New Roman" panose="02020603050405020304" pitchFamily="18" charset="0"/>
                <a:ea typeface="+mn-ea"/>
              </a:rPr>
              <a:t>时，其频率特性如右图所示。</a:t>
            </a:r>
          </a:p>
        </p:txBody>
      </p:sp>
    </p:spTree>
    <p:extLst>
      <p:ext uri="{BB962C8B-B14F-4D97-AF65-F5344CB8AC3E}">
        <p14:creationId xmlns:p14="http://schemas.microsoft.com/office/powerpoint/2010/main" val="2745662620"/>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72</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2.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高频</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基础</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电路</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文本框 4">
            <a:extLst>
              <a:ext uri="{FF2B5EF4-FFF2-40B4-BE49-F238E27FC236}">
                <a16:creationId xmlns="" xmlns:a16="http://schemas.microsoft.com/office/drawing/2014/main" id="{C4D6A235-9B1C-907A-8EE2-871F05359DC0}"/>
              </a:ext>
            </a:extLst>
          </p:cNvPr>
          <p:cNvSpPr txBox="1"/>
          <p:nvPr/>
        </p:nvSpPr>
        <p:spPr>
          <a:xfrm>
            <a:off x="646615" y="1412775"/>
            <a:ext cx="3418462" cy="400110"/>
          </a:xfrm>
          <a:prstGeom prst="rect">
            <a:avLst/>
          </a:prstGeom>
          <a:noFill/>
        </p:spPr>
        <p:txBody>
          <a:bodyPr wrap="square" rtlCol="0">
            <a:spAutoFit/>
          </a:bodyPr>
          <a:lstStyle/>
          <a:p>
            <a:pPr>
              <a:lnSpc>
                <a:spcPct val="100000"/>
              </a:lnSpc>
              <a:buFont typeface="Wingdings" panose="05000000000000000000" pitchFamily="2" charset="2"/>
              <a:buChar char="Ø"/>
            </a:pPr>
            <a:r>
              <a:rPr lang="zh-CN" altLang="en-US" sz="2000" b="1" dirty="0">
                <a:solidFill>
                  <a:srgbClr val="FF0000"/>
                </a:solidFill>
                <a:latin typeface="Times New Roman" panose="02020603050405020304" pitchFamily="18" charset="0"/>
                <a:ea typeface="+mn-ea"/>
              </a:rPr>
              <a:t>双</a:t>
            </a:r>
            <a:r>
              <a:rPr lang="en-US" altLang="zh-CN" sz="2000" b="1" dirty="0">
                <a:solidFill>
                  <a:srgbClr val="FF0000"/>
                </a:solidFill>
                <a:latin typeface="Times New Roman" panose="02020603050405020304" pitchFamily="18" charset="0"/>
                <a:ea typeface="+mn-ea"/>
              </a:rPr>
              <a:t>T</a:t>
            </a:r>
            <a:r>
              <a:rPr lang="zh-CN" altLang="en-US" sz="2000" b="1" dirty="0">
                <a:solidFill>
                  <a:srgbClr val="FF0000"/>
                </a:solidFill>
                <a:latin typeface="Times New Roman" panose="02020603050405020304" pitchFamily="18" charset="0"/>
                <a:ea typeface="+mn-ea"/>
              </a:rPr>
              <a:t>（</a:t>
            </a:r>
            <a:r>
              <a:rPr lang="en-US" altLang="zh-CN" sz="2000" b="1" dirty="0">
                <a:solidFill>
                  <a:srgbClr val="FF0000"/>
                </a:solidFill>
                <a:latin typeface="Times New Roman" panose="02020603050405020304" pitchFamily="18" charset="0"/>
                <a:ea typeface="+mn-ea"/>
              </a:rPr>
              <a:t>twin-T, TT</a:t>
            </a:r>
            <a:r>
              <a:rPr lang="zh-CN" altLang="en-US" sz="2000" b="1" dirty="0">
                <a:solidFill>
                  <a:srgbClr val="FF0000"/>
                </a:solidFill>
                <a:latin typeface="Times New Roman" panose="02020603050405020304" pitchFamily="18" charset="0"/>
                <a:ea typeface="+mn-ea"/>
              </a:rPr>
              <a:t>）网络</a:t>
            </a:r>
          </a:p>
        </p:txBody>
      </p:sp>
      <p:sp>
        <p:nvSpPr>
          <p:cNvPr id="6" name="矩形 10">
            <a:extLst>
              <a:ext uri="{FF2B5EF4-FFF2-40B4-BE49-F238E27FC236}">
                <a16:creationId xmlns="" xmlns:a16="http://schemas.microsoft.com/office/drawing/2014/main" id="{33984406-5054-483A-92DF-B80F1307D2BC}"/>
              </a:ext>
            </a:extLst>
          </p:cNvPr>
          <p:cNvSpPr/>
          <p:nvPr/>
        </p:nvSpPr>
        <p:spPr>
          <a:xfrm>
            <a:off x="675633" y="1901725"/>
            <a:ext cx="4221116" cy="1323439"/>
          </a:xfrm>
          <a:prstGeom prst="rect">
            <a:avLst/>
          </a:prstGeom>
          <a:noFill/>
          <a:ln w="9525">
            <a:noFill/>
          </a:ln>
        </p:spPr>
        <p:txBody>
          <a:bodyPr wrap="square">
            <a:spAutoFit/>
          </a:bodyPr>
          <a:lstStyle/>
          <a:p>
            <a:pPr algn="just">
              <a:lnSpc>
                <a:spcPct val="100000"/>
              </a:lnSpc>
            </a:pPr>
            <a:r>
              <a:rPr lang="en-US" altLang="zh-CN" sz="2000" i="1" dirty="0">
                <a:latin typeface="Times New Roman" panose="02020603050405020304" pitchFamily="18" charset="0"/>
                <a:ea typeface="+mn-ea"/>
              </a:rPr>
              <a:t>        RC </a:t>
            </a:r>
            <a:r>
              <a:rPr lang="zh-CN" altLang="en-US" sz="2000" dirty="0">
                <a:latin typeface="Times New Roman" panose="02020603050405020304" pitchFamily="18" charset="0"/>
                <a:ea typeface="+mn-ea"/>
              </a:rPr>
              <a:t>双</a:t>
            </a:r>
            <a:r>
              <a:rPr lang="en-US" altLang="zh-CN" sz="2000" dirty="0">
                <a:latin typeface="Times New Roman" panose="02020603050405020304" pitchFamily="18" charset="0"/>
                <a:ea typeface="+mn-ea"/>
              </a:rPr>
              <a:t>T</a:t>
            </a:r>
            <a:r>
              <a:rPr lang="zh-CN" altLang="en-US" sz="2000" dirty="0">
                <a:latin typeface="Times New Roman" panose="02020603050405020304" pitchFamily="18" charset="0"/>
                <a:ea typeface="+mn-ea"/>
              </a:rPr>
              <a:t>网络是一个三阶网络，由于零极点的抵消，产生的是二阶传递函数。</a:t>
            </a:r>
            <a:endParaRPr lang="en-US" altLang="zh-CN" sz="2000" dirty="0">
              <a:latin typeface="Times New Roman" panose="02020603050405020304" pitchFamily="18" charset="0"/>
              <a:ea typeface="+mn-ea"/>
            </a:endParaRPr>
          </a:p>
          <a:p>
            <a:pPr algn="just">
              <a:lnSpc>
                <a:spcPct val="100000"/>
              </a:lnSpc>
            </a:pPr>
            <a:r>
              <a:rPr lang="zh-CN" altLang="en-US" sz="2000" dirty="0">
                <a:latin typeface="Times New Roman" panose="02020603050405020304" pitchFamily="18" charset="0"/>
                <a:ea typeface="+mn-ea"/>
              </a:rPr>
              <a:t>        一个基本双</a:t>
            </a:r>
            <a:r>
              <a:rPr lang="en-US" altLang="zh-CN" sz="2000" dirty="0">
                <a:latin typeface="Times New Roman" panose="02020603050405020304" pitchFamily="18" charset="0"/>
                <a:ea typeface="+mn-ea"/>
              </a:rPr>
              <a:t>T</a:t>
            </a:r>
            <a:r>
              <a:rPr lang="zh-CN" altLang="en-US" sz="2000" dirty="0">
                <a:latin typeface="Times New Roman" panose="02020603050405020304" pitchFamily="18" charset="0"/>
                <a:ea typeface="+mn-ea"/>
              </a:rPr>
              <a:t>结构如右图所示。</a:t>
            </a:r>
          </a:p>
        </p:txBody>
      </p:sp>
      <p:graphicFrame>
        <p:nvGraphicFramePr>
          <p:cNvPr id="7" name="对象 680965">
            <a:extLst>
              <a:ext uri="{FF2B5EF4-FFF2-40B4-BE49-F238E27FC236}">
                <a16:creationId xmlns="" xmlns:a16="http://schemas.microsoft.com/office/drawing/2014/main" id="{BF99408B-EB8B-FC36-C954-CDA78954C1BF}"/>
              </a:ext>
            </a:extLst>
          </p:cNvPr>
          <p:cNvGraphicFramePr/>
          <p:nvPr>
            <p:extLst>
              <p:ext uri="{D42A27DB-BD31-4B8C-83A1-F6EECF244321}">
                <p14:modId xmlns:p14="http://schemas.microsoft.com/office/powerpoint/2010/main" val="217052817"/>
              </p:ext>
            </p:extLst>
          </p:nvPr>
        </p:nvGraphicFramePr>
        <p:xfrm>
          <a:off x="5573447" y="1385904"/>
          <a:ext cx="3026305" cy="2529611"/>
        </p:xfrm>
        <a:graphic>
          <a:graphicData uri="http://schemas.openxmlformats.org/presentationml/2006/ole">
            <mc:AlternateContent xmlns:mc="http://schemas.openxmlformats.org/markup-compatibility/2006">
              <mc:Choice xmlns:v="urn:schemas-microsoft-com:vml" Requires="v">
                <p:oleObj spid="_x0000_s51398" r:id="rId3" imgW="4737100" imgH="4635500" progId="Visio.Drawing.11">
                  <p:embed/>
                </p:oleObj>
              </mc:Choice>
              <mc:Fallback>
                <p:oleObj r:id="rId3" imgW="4737100" imgH="4635500" progId="Visio.Drawing.11">
                  <p:embed/>
                  <p:pic>
                    <p:nvPicPr>
                      <p:cNvPr id="0" name=""/>
                      <p:cNvPicPr/>
                      <p:nvPr/>
                    </p:nvPicPr>
                    <p:blipFill>
                      <a:blip r:embed="rId4"/>
                      <a:stretch>
                        <a:fillRect/>
                      </a:stretch>
                    </p:blipFill>
                    <p:spPr>
                      <a:xfrm>
                        <a:off x="5573447" y="1385904"/>
                        <a:ext cx="3026305" cy="2529611"/>
                      </a:xfrm>
                      <a:prstGeom prst="rect">
                        <a:avLst/>
                      </a:prstGeom>
                      <a:noFill/>
                      <a:ln w="38100">
                        <a:noFill/>
                        <a:miter/>
                      </a:ln>
                    </p:spPr>
                  </p:pic>
                </p:oleObj>
              </mc:Fallback>
            </mc:AlternateContent>
          </a:graphicData>
        </a:graphic>
      </p:graphicFrame>
      <p:graphicFrame>
        <p:nvGraphicFramePr>
          <p:cNvPr id="8" name="对象 7">
            <a:extLst>
              <a:ext uri="{FF2B5EF4-FFF2-40B4-BE49-F238E27FC236}">
                <a16:creationId xmlns="" xmlns:a16="http://schemas.microsoft.com/office/drawing/2014/main" id="{3E210F53-7CD4-6D27-F65C-726BA2B45412}"/>
              </a:ext>
            </a:extLst>
          </p:cNvPr>
          <p:cNvGraphicFramePr>
            <a:graphicFrameLocks noChangeAspect="1"/>
          </p:cNvGraphicFramePr>
          <p:nvPr>
            <p:extLst>
              <p:ext uri="{D42A27DB-BD31-4B8C-83A1-F6EECF244321}">
                <p14:modId xmlns:p14="http://schemas.microsoft.com/office/powerpoint/2010/main" val="646220933"/>
              </p:ext>
            </p:extLst>
          </p:nvPr>
        </p:nvGraphicFramePr>
        <p:xfrm>
          <a:off x="646615" y="4362013"/>
          <a:ext cx="4244039" cy="1365690"/>
        </p:xfrm>
        <a:graphic>
          <a:graphicData uri="http://schemas.openxmlformats.org/presentationml/2006/ole">
            <mc:AlternateContent xmlns:mc="http://schemas.openxmlformats.org/markup-compatibility/2006">
              <mc:Choice xmlns:v="urn:schemas-microsoft-com:vml" Requires="v">
                <p:oleObj spid="_x0000_s51399" name="Equation" r:id="rId5" imgW="3671554" imgH="1091199" progId="Equation.DSMT4">
                  <p:embed/>
                </p:oleObj>
              </mc:Choice>
              <mc:Fallback>
                <p:oleObj name="Equation" r:id="rId5" imgW="3671554" imgH="1091199" progId="Equation.DSMT4">
                  <p:embed/>
                  <p:pic>
                    <p:nvPicPr>
                      <p:cNvPr id="0" name=""/>
                      <p:cNvPicPr/>
                      <p:nvPr/>
                    </p:nvPicPr>
                    <p:blipFill>
                      <a:blip r:embed="rId6"/>
                      <a:stretch>
                        <a:fillRect/>
                      </a:stretch>
                    </p:blipFill>
                    <p:spPr>
                      <a:xfrm>
                        <a:off x="646615" y="4362013"/>
                        <a:ext cx="4244039" cy="1365690"/>
                      </a:xfrm>
                      <a:prstGeom prst="rect">
                        <a:avLst/>
                      </a:prstGeom>
                    </p:spPr>
                  </p:pic>
                </p:oleObj>
              </mc:Fallback>
            </mc:AlternateContent>
          </a:graphicData>
        </a:graphic>
      </p:graphicFrame>
      <p:graphicFrame>
        <p:nvGraphicFramePr>
          <p:cNvPr id="9" name="对象 682000">
            <a:extLst>
              <a:ext uri="{FF2B5EF4-FFF2-40B4-BE49-F238E27FC236}">
                <a16:creationId xmlns="" xmlns:a16="http://schemas.microsoft.com/office/drawing/2014/main" id="{7E4AD4B3-A496-8BB1-B5C6-2D25F5A33559}"/>
              </a:ext>
            </a:extLst>
          </p:cNvPr>
          <p:cNvGraphicFramePr/>
          <p:nvPr>
            <p:extLst>
              <p:ext uri="{D42A27DB-BD31-4B8C-83A1-F6EECF244321}">
                <p14:modId xmlns:p14="http://schemas.microsoft.com/office/powerpoint/2010/main" val="1522369026"/>
              </p:ext>
            </p:extLst>
          </p:nvPr>
        </p:nvGraphicFramePr>
        <p:xfrm>
          <a:off x="5323701" y="4256015"/>
          <a:ext cx="3525795" cy="2409022"/>
        </p:xfrm>
        <a:graphic>
          <a:graphicData uri="http://schemas.openxmlformats.org/presentationml/2006/ole">
            <mc:AlternateContent xmlns:mc="http://schemas.openxmlformats.org/markup-compatibility/2006">
              <mc:Choice xmlns:v="urn:schemas-microsoft-com:vml" Requires="v">
                <p:oleObj spid="_x0000_s51400" r:id="rId7" imgW="3454400" imgH="2387600" progId="Visio.Drawing.11">
                  <p:embed/>
                </p:oleObj>
              </mc:Choice>
              <mc:Fallback>
                <p:oleObj r:id="rId7" imgW="3454400" imgH="2387600" progId="Visio.Drawing.11">
                  <p:embed/>
                  <p:pic>
                    <p:nvPicPr>
                      <p:cNvPr id="0" name=""/>
                      <p:cNvPicPr/>
                      <p:nvPr/>
                    </p:nvPicPr>
                    <p:blipFill>
                      <a:blip r:embed="rId8"/>
                      <a:stretch>
                        <a:fillRect/>
                      </a:stretch>
                    </p:blipFill>
                    <p:spPr>
                      <a:xfrm>
                        <a:off x="5323701" y="4256015"/>
                        <a:ext cx="3525795" cy="2409022"/>
                      </a:xfrm>
                      <a:prstGeom prst="rect">
                        <a:avLst/>
                      </a:prstGeom>
                      <a:noFill/>
                      <a:ln w="38100">
                        <a:noFill/>
                        <a:miter/>
                      </a:ln>
                    </p:spPr>
                  </p:pic>
                </p:oleObj>
              </mc:Fallback>
            </mc:AlternateContent>
          </a:graphicData>
        </a:graphic>
      </p:graphicFrame>
      <p:sp>
        <p:nvSpPr>
          <p:cNvPr id="10" name="文本框 9">
            <a:extLst>
              <a:ext uri="{FF2B5EF4-FFF2-40B4-BE49-F238E27FC236}">
                <a16:creationId xmlns="" xmlns:a16="http://schemas.microsoft.com/office/drawing/2014/main" id="{2D5F0128-645A-6A31-8FBC-586D962F7B2D}"/>
              </a:ext>
            </a:extLst>
          </p:cNvPr>
          <p:cNvSpPr txBox="1"/>
          <p:nvPr/>
        </p:nvSpPr>
        <p:spPr>
          <a:xfrm>
            <a:off x="487681" y="5746798"/>
            <a:ext cx="5254752" cy="707886"/>
          </a:xfrm>
          <a:prstGeom prst="rect">
            <a:avLst/>
          </a:prstGeom>
          <a:noFill/>
        </p:spPr>
        <p:txBody>
          <a:bodyPr wrap="square">
            <a:spAutoFit/>
          </a:bodyPr>
          <a:lstStyle/>
          <a:p>
            <a:r>
              <a:rPr lang="zh-CN" altLang="en-US" sz="2000" b="1" baseline="0" dirty="0">
                <a:solidFill>
                  <a:srgbClr val="FF0000"/>
                </a:solidFill>
                <a:latin typeface="楷体_GB2312" panose="02010609030101010101" pitchFamily="49" charset="-122"/>
              </a:rPr>
              <a:t>可以看出，该电路具有带阻特性。频率特性如右图所示。</a:t>
            </a:r>
            <a:endParaRPr lang="zh-CN" altLang="en-US" sz="2000" dirty="0">
              <a:solidFill>
                <a:srgbClr val="FF0000"/>
              </a:solidFill>
            </a:endParaRPr>
          </a:p>
        </p:txBody>
      </p:sp>
      <p:graphicFrame>
        <p:nvGraphicFramePr>
          <p:cNvPr id="11" name="对象 10"/>
          <p:cNvGraphicFramePr>
            <a:graphicFrameLocks noChangeAspect="1"/>
          </p:cNvGraphicFramePr>
          <p:nvPr>
            <p:extLst>
              <p:ext uri="{D42A27DB-BD31-4B8C-83A1-F6EECF244321}">
                <p14:modId xmlns:p14="http://schemas.microsoft.com/office/powerpoint/2010/main" val="756719761"/>
              </p:ext>
            </p:extLst>
          </p:nvPr>
        </p:nvGraphicFramePr>
        <p:xfrm>
          <a:off x="646615" y="3387729"/>
          <a:ext cx="3835400" cy="784225"/>
        </p:xfrm>
        <a:graphic>
          <a:graphicData uri="http://schemas.openxmlformats.org/presentationml/2006/ole">
            <mc:AlternateContent xmlns:mc="http://schemas.openxmlformats.org/markup-compatibility/2006">
              <mc:Choice xmlns:v="urn:schemas-microsoft-com:vml" Requires="v">
                <p:oleObj spid="_x0000_s51401" name="Equation" r:id="rId9" imgW="3836086" imgH="784828" progId="Equation.DSMT4">
                  <p:embed/>
                </p:oleObj>
              </mc:Choice>
              <mc:Fallback>
                <p:oleObj name="Equation" r:id="rId9" imgW="3836086" imgH="784828" progId="Equation.DSMT4">
                  <p:embed/>
                  <p:pic>
                    <p:nvPicPr>
                      <p:cNvPr id="0" name=""/>
                      <p:cNvPicPr/>
                      <p:nvPr/>
                    </p:nvPicPr>
                    <p:blipFill>
                      <a:blip r:embed="rId10"/>
                      <a:stretch>
                        <a:fillRect/>
                      </a:stretch>
                    </p:blipFill>
                    <p:spPr>
                      <a:xfrm>
                        <a:off x="646615" y="3387729"/>
                        <a:ext cx="3835400" cy="784225"/>
                      </a:xfrm>
                      <a:prstGeom prst="rect">
                        <a:avLst/>
                      </a:prstGeom>
                    </p:spPr>
                  </p:pic>
                </p:oleObj>
              </mc:Fallback>
            </mc:AlternateContent>
          </a:graphicData>
        </a:graphic>
      </p:graphicFrame>
    </p:spTree>
    <p:extLst>
      <p:ext uri="{BB962C8B-B14F-4D97-AF65-F5344CB8AC3E}">
        <p14:creationId xmlns:p14="http://schemas.microsoft.com/office/powerpoint/2010/main" val="2121451088"/>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73</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2.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高频</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基础</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电路</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文本框 4">
            <a:extLst>
              <a:ext uri="{FF2B5EF4-FFF2-40B4-BE49-F238E27FC236}">
                <a16:creationId xmlns="" xmlns:a16="http://schemas.microsoft.com/office/drawing/2014/main" id="{B1E43A52-61BC-EA6C-322B-F083E05BB1AC}"/>
              </a:ext>
            </a:extLst>
          </p:cNvPr>
          <p:cNvSpPr txBox="1"/>
          <p:nvPr/>
        </p:nvSpPr>
        <p:spPr>
          <a:xfrm>
            <a:off x="546537" y="1354706"/>
            <a:ext cx="6217859" cy="400110"/>
          </a:xfrm>
          <a:prstGeom prst="rect">
            <a:avLst/>
          </a:prstGeom>
          <a:noFill/>
        </p:spPr>
        <p:txBody>
          <a:bodyPr wrap="square" rtlCol="0">
            <a:spAutoFit/>
          </a:bodyPr>
          <a:lstStyle/>
          <a:p>
            <a:r>
              <a:rPr lang="en-US" altLang="zh-CN" sz="2000" b="1" dirty="0">
                <a:latin typeface="+mn-ea"/>
                <a:ea typeface="+mn-ea"/>
              </a:rPr>
              <a:t>2.5.3  LC</a:t>
            </a:r>
            <a:r>
              <a:rPr lang="zh-CN" altLang="en-US" sz="2000" b="1" dirty="0">
                <a:latin typeface="+mn-ea"/>
                <a:ea typeface="+mn-ea"/>
              </a:rPr>
              <a:t>滤波器</a:t>
            </a:r>
          </a:p>
        </p:txBody>
      </p:sp>
      <p:sp>
        <p:nvSpPr>
          <p:cNvPr id="6" name="文本框 5">
            <a:extLst>
              <a:ext uri="{FF2B5EF4-FFF2-40B4-BE49-F238E27FC236}">
                <a16:creationId xmlns="" xmlns:a16="http://schemas.microsoft.com/office/drawing/2014/main" id="{BC7C0FA1-7FA1-61DD-0DA9-5D174CE4D70D}"/>
              </a:ext>
            </a:extLst>
          </p:cNvPr>
          <p:cNvSpPr txBox="1"/>
          <p:nvPr/>
        </p:nvSpPr>
        <p:spPr>
          <a:xfrm>
            <a:off x="505974" y="1874440"/>
            <a:ext cx="8064895" cy="1168077"/>
          </a:xfrm>
          <a:prstGeom prst="rect">
            <a:avLst/>
          </a:prstGeom>
          <a:noFill/>
        </p:spPr>
        <p:txBody>
          <a:bodyPr wrap="square" rtlCol="0">
            <a:spAutoFit/>
          </a:bodyPr>
          <a:lstStyle/>
          <a:p>
            <a:pPr algn="just" eaLnBrk="1" hangingPunct="1">
              <a:lnSpc>
                <a:spcPct val="120000"/>
              </a:lnSpc>
            </a:pPr>
            <a:r>
              <a:rPr lang="zh-CN" altLang="en-US" sz="2000" dirty="0">
                <a:latin typeface="Times New Roman" panose="02020603050405020304" pitchFamily="18" charset="0"/>
                <a:ea typeface="+mn-ea"/>
              </a:rPr>
              <a:t>        电感</a:t>
            </a:r>
            <a:r>
              <a:rPr lang="en-US" altLang="zh-CN" sz="2000" dirty="0">
                <a:latin typeface="Times New Roman" panose="02020603050405020304" pitchFamily="18" charset="0"/>
                <a:ea typeface="+mn-ea"/>
              </a:rPr>
              <a:t>L</a:t>
            </a:r>
            <a:r>
              <a:rPr lang="zh-CN" altLang="en-US" sz="2000" dirty="0">
                <a:latin typeface="Times New Roman" panose="02020603050405020304" pitchFamily="18" charset="0"/>
                <a:ea typeface="+mn-ea"/>
              </a:rPr>
              <a:t>和电容</a:t>
            </a:r>
            <a:r>
              <a:rPr lang="en-US" altLang="zh-CN" sz="2000" dirty="0">
                <a:latin typeface="Times New Roman" panose="02020603050405020304" pitchFamily="18" charset="0"/>
                <a:ea typeface="+mn-ea"/>
              </a:rPr>
              <a:t>C </a:t>
            </a:r>
            <a:r>
              <a:rPr lang="zh-CN" altLang="en-US" sz="2000" dirty="0">
                <a:latin typeface="Times New Roman" panose="02020603050405020304" pitchFamily="18" charset="0"/>
                <a:ea typeface="+mn-ea"/>
              </a:rPr>
              <a:t>组成的</a:t>
            </a:r>
            <a:r>
              <a:rPr lang="en-US" altLang="zh-CN" sz="2000" dirty="0">
                <a:latin typeface="Times New Roman" panose="02020603050405020304" pitchFamily="18" charset="0"/>
                <a:ea typeface="+mn-ea"/>
              </a:rPr>
              <a:t>LC </a:t>
            </a:r>
            <a:r>
              <a:rPr lang="zh-CN" altLang="en-US" sz="2000" dirty="0">
                <a:latin typeface="Times New Roman" panose="02020603050405020304" pitchFamily="18" charset="0"/>
                <a:ea typeface="+mn-ea"/>
              </a:rPr>
              <a:t>串联谐振回路与并联谐振回路是电路中常用的选频回路（或称滤波器</a:t>
            </a:r>
            <a:r>
              <a:rPr lang="en-US" altLang="zh-CN" sz="2000" dirty="0">
                <a:latin typeface="Times New Roman" panose="02020603050405020304" pitchFamily="18" charset="0"/>
                <a:ea typeface="+mn-ea"/>
              </a:rPr>
              <a:t>)</a:t>
            </a:r>
            <a:r>
              <a:rPr lang="zh-CN" altLang="en-US" sz="2000" dirty="0">
                <a:latin typeface="Times New Roman" panose="02020603050405020304" pitchFamily="18" charset="0"/>
                <a:ea typeface="+mn-ea"/>
              </a:rPr>
              <a:t>。</a:t>
            </a:r>
            <a:endParaRPr lang="en-US" altLang="zh-CN" sz="2000" dirty="0">
              <a:latin typeface="Times New Roman" panose="02020603050405020304" pitchFamily="18" charset="0"/>
              <a:ea typeface="+mn-ea"/>
            </a:endParaRPr>
          </a:p>
          <a:p>
            <a:pPr algn="just" eaLnBrk="1" hangingPunct="1">
              <a:lnSpc>
                <a:spcPct val="120000"/>
              </a:lnSpc>
            </a:pPr>
            <a:r>
              <a:rPr lang="zh-CN" altLang="en-US" sz="2000" dirty="0">
                <a:latin typeface="Times New Roman" panose="02020603050405020304" pitchFamily="18" charset="0"/>
                <a:ea typeface="+mn-ea"/>
              </a:rPr>
              <a:t>      </a:t>
            </a:r>
            <a:endParaRPr lang="en-US" altLang="zh-CN" sz="2000" dirty="0">
              <a:latin typeface="Times New Roman" panose="02020603050405020304" pitchFamily="18" charset="0"/>
              <a:ea typeface="+mn-ea"/>
            </a:endParaRPr>
          </a:p>
        </p:txBody>
      </p:sp>
      <p:sp>
        <p:nvSpPr>
          <p:cNvPr id="7" name="Rectangle 2">
            <a:extLst>
              <a:ext uri="{FF2B5EF4-FFF2-40B4-BE49-F238E27FC236}">
                <a16:creationId xmlns="" xmlns:a16="http://schemas.microsoft.com/office/drawing/2014/main" id="{92D8401C-B170-874F-C75A-69F1C040481D}"/>
              </a:ext>
            </a:extLst>
          </p:cNvPr>
          <p:cNvSpPr/>
          <p:nvPr/>
        </p:nvSpPr>
        <p:spPr>
          <a:xfrm>
            <a:off x="325989" y="2613134"/>
            <a:ext cx="8424863" cy="1015663"/>
          </a:xfrm>
          <a:prstGeom prst="rect">
            <a:avLst/>
          </a:prstGeom>
          <a:noFill/>
          <a:ln w="9525">
            <a:noFill/>
          </a:ln>
        </p:spPr>
        <p:txBody>
          <a:bodyPr anchor="ctr" anchorCtr="0">
            <a:spAutoFit/>
          </a:bodyPr>
          <a:lstStyle/>
          <a:p>
            <a:pPr algn="just">
              <a:lnSpc>
                <a:spcPct val="100000"/>
              </a:lnSpc>
            </a:pPr>
            <a:r>
              <a:rPr lang="en-US" altLang="zh-CN" sz="2000" baseline="0" dirty="0">
                <a:latin typeface="+mn-ea"/>
                <a:ea typeface="+mn-ea"/>
              </a:rPr>
              <a:t>    </a:t>
            </a:r>
            <a:r>
              <a:rPr lang="en-US" altLang="zh-CN" sz="2000" baseline="0" dirty="0">
                <a:solidFill>
                  <a:srgbClr val="FF0000"/>
                </a:solidFill>
                <a:latin typeface="Times New Roman" panose="02020603050405020304" pitchFamily="18" charset="0"/>
                <a:ea typeface="+mn-ea"/>
              </a:rPr>
              <a:t>LC</a:t>
            </a:r>
            <a:r>
              <a:rPr lang="zh-CN" altLang="en-US" sz="2000" baseline="0" dirty="0">
                <a:solidFill>
                  <a:srgbClr val="FF0000"/>
                </a:solidFill>
                <a:latin typeface="Times New Roman" panose="02020603050405020304" pitchFamily="18" charset="0"/>
                <a:ea typeface="+mn-ea"/>
              </a:rPr>
              <a:t>并联谐振回路是最基本的</a:t>
            </a:r>
            <a:r>
              <a:rPr lang="zh-CN" altLang="en-US" sz="2000" baseline="0" dirty="0" smtClean="0">
                <a:solidFill>
                  <a:srgbClr val="FF0000"/>
                </a:solidFill>
                <a:latin typeface="Times New Roman" panose="02020603050405020304" pitchFamily="18" charset="0"/>
                <a:ea typeface="+mn-ea"/>
              </a:rPr>
              <a:t>带通滤波器。</a:t>
            </a:r>
            <a:r>
              <a:rPr lang="zh-CN" altLang="en-US" sz="2000" baseline="0" dirty="0" smtClean="0">
                <a:latin typeface="Times New Roman" panose="02020603050405020304" pitchFamily="18" charset="0"/>
                <a:ea typeface="+mn-ea"/>
              </a:rPr>
              <a:t>图</a:t>
            </a:r>
            <a:r>
              <a:rPr lang="en-US" altLang="zh-CN" sz="2000" baseline="0" dirty="0">
                <a:latin typeface="Times New Roman" panose="02020603050405020304" pitchFamily="18" charset="0"/>
                <a:ea typeface="+mn-ea"/>
              </a:rPr>
              <a:t>(a)</a:t>
            </a:r>
            <a:r>
              <a:rPr lang="zh-CN" altLang="en-US" sz="2000" baseline="0" dirty="0">
                <a:latin typeface="Times New Roman" panose="02020603050405020304" pitchFamily="18" charset="0"/>
                <a:ea typeface="+mn-ea"/>
              </a:rPr>
              <a:t>是单调谐回路組成带通滤波</a:t>
            </a:r>
            <a:r>
              <a:rPr lang="en-US" altLang="zh-CN" sz="2000" baseline="0" dirty="0">
                <a:latin typeface="Times New Roman" panose="02020603050405020304" pitchFamily="18" charset="0"/>
                <a:ea typeface="+mn-ea"/>
              </a:rPr>
              <a:t>, </a:t>
            </a:r>
            <a:r>
              <a:rPr lang="zh-CN" altLang="en-US" sz="2000" baseline="0" dirty="0">
                <a:latin typeface="Times New Roman" panose="02020603050405020304" pitchFamily="18" charset="0"/>
                <a:ea typeface="+mn-ea"/>
              </a:rPr>
              <a:t>而图</a:t>
            </a:r>
            <a:r>
              <a:rPr lang="en-US" altLang="zh-CN" sz="2000" baseline="0" dirty="0">
                <a:latin typeface="Times New Roman" panose="02020603050405020304" pitchFamily="18" charset="0"/>
                <a:ea typeface="+mn-ea"/>
              </a:rPr>
              <a:t>(b) </a:t>
            </a:r>
            <a:r>
              <a:rPr lang="zh-CN" altLang="en-US" sz="2000" baseline="0" dirty="0">
                <a:latin typeface="Times New Roman" panose="02020603050405020304" pitchFamily="18" charset="0"/>
                <a:ea typeface="+mn-ea"/>
              </a:rPr>
              <a:t>是双调谐回路组成带通滤波</a:t>
            </a:r>
            <a:r>
              <a:rPr lang="en-US" altLang="zh-CN" sz="2000" baseline="0" dirty="0">
                <a:latin typeface="Times New Roman" panose="02020603050405020304" pitchFamily="18" charset="0"/>
                <a:ea typeface="+mn-ea"/>
              </a:rPr>
              <a:t>, </a:t>
            </a:r>
            <a:r>
              <a:rPr lang="zh-CN" altLang="en-US" sz="2000" baseline="0" dirty="0">
                <a:latin typeface="Times New Roman" panose="02020603050405020304" pitchFamily="18" charset="0"/>
                <a:ea typeface="+mn-ea"/>
              </a:rPr>
              <a:t>其中电容</a:t>
            </a:r>
            <a:r>
              <a:rPr lang="en-US" altLang="zh-CN" sz="2000" baseline="0" dirty="0">
                <a:latin typeface="Times New Roman" panose="02020603050405020304" pitchFamily="18" charset="0"/>
                <a:ea typeface="+mn-ea"/>
              </a:rPr>
              <a:t>C3</a:t>
            </a:r>
            <a:r>
              <a:rPr lang="zh-CN" altLang="en-US" sz="2000" baseline="0" dirty="0">
                <a:latin typeface="Times New Roman" panose="02020603050405020304" pitchFamily="18" charset="0"/>
                <a:ea typeface="+mn-ea"/>
              </a:rPr>
              <a:t>用于调两个谐振回路的耦合强弱</a:t>
            </a:r>
            <a:r>
              <a:rPr lang="zh-CN" altLang="en-US" sz="2000" baseline="0" dirty="0" smtClean="0">
                <a:latin typeface="Times New Roman" panose="02020603050405020304" pitchFamily="18" charset="0"/>
                <a:ea typeface="+mn-ea"/>
              </a:rPr>
              <a:t>。</a:t>
            </a:r>
            <a:endParaRPr lang="zh-CN" altLang="en-US" sz="2000" baseline="0" dirty="0">
              <a:latin typeface="Times New Roman" panose="02020603050405020304" pitchFamily="18" charset="0"/>
              <a:ea typeface="+mn-ea"/>
            </a:endParaRPr>
          </a:p>
        </p:txBody>
      </p:sp>
      <p:pic>
        <p:nvPicPr>
          <p:cNvPr id="8" name="图片 484355" descr="単调谐滤波器">
            <a:extLst>
              <a:ext uri="{FF2B5EF4-FFF2-40B4-BE49-F238E27FC236}">
                <a16:creationId xmlns="" xmlns:a16="http://schemas.microsoft.com/office/drawing/2014/main" id="{98F9E7A7-4964-888F-5461-B302A2686E65}"/>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1719719" y="3458431"/>
            <a:ext cx="5832475" cy="2320925"/>
          </a:xfrm>
          <a:prstGeom prst="rect">
            <a:avLst/>
          </a:prstGeom>
          <a:noFill/>
          <a:ln w="9525">
            <a:noFill/>
          </a:ln>
        </p:spPr>
      </p:pic>
    </p:spTree>
    <p:extLst>
      <p:ext uri="{BB962C8B-B14F-4D97-AF65-F5344CB8AC3E}">
        <p14:creationId xmlns:p14="http://schemas.microsoft.com/office/powerpoint/2010/main" val="916049524"/>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74</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2.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高频</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基础</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电路</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Rectangle 2">
            <a:extLst>
              <a:ext uri="{FF2B5EF4-FFF2-40B4-BE49-F238E27FC236}">
                <a16:creationId xmlns="" xmlns:a16="http://schemas.microsoft.com/office/drawing/2014/main" id="{160898D9-E823-ABDB-66E3-D6A20F9065B3}"/>
              </a:ext>
            </a:extLst>
          </p:cNvPr>
          <p:cNvSpPr/>
          <p:nvPr/>
        </p:nvSpPr>
        <p:spPr>
          <a:xfrm>
            <a:off x="496677" y="1816880"/>
            <a:ext cx="8424863" cy="1323439"/>
          </a:xfrm>
          <a:prstGeom prst="rect">
            <a:avLst/>
          </a:prstGeom>
          <a:noFill/>
          <a:ln w="9525">
            <a:noFill/>
          </a:ln>
        </p:spPr>
        <p:txBody>
          <a:bodyPr anchor="ctr" anchorCtr="0">
            <a:spAutoFit/>
          </a:bodyPr>
          <a:lstStyle/>
          <a:p>
            <a:pPr algn="just" fontAlgn="base" hangingPunct="0">
              <a:spcBef>
                <a:spcPct val="0"/>
              </a:spcBef>
              <a:spcAft>
                <a:spcPct val="0"/>
              </a:spcAft>
            </a:pPr>
            <a:r>
              <a:rPr lang="en-US" altLang="zh-CN" sz="2000" b="1" dirty="0">
                <a:solidFill>
                  <a:srgbClr val="000000"/>
                </a:solidFill>
                <a:latin typeface="Times New Roman" panose="02020603050405020304" pitchFamily="18" charset="0"/>
              </a:rPr>
              <a:t> LC</a:t>
            </a:r>
            <a:r>
              <a:rPr lang="zh-CN" altLang="en-US" sz="2000" b="1" dirty="0">
                <a:solidFill>
                  <a:srgbClr val="000000"/>
                </a:solidFill>
                <a:latin typeface="楷体_GB2312" panose="02010609030101010101" pitchFamily="49" charset="-122"/>
              </a:rPr>
              <a:t>集中选择性滤波器：</a:t>
            </a:r>
          </a:p>
          <a:p>
            <a:pPr algn="just" fontAlgn="base" hangingPunct="0">
              <a:spcBef>
                <a:spcPct val="0"/>
              </a:spcBef>
              <a:spcAft>
                <a:spcPct val="0"/>
              </a:spcAft>
            </a:pPr>
            <a:r>
              <a:rPr lang="zh-CN" altLang="en-US" sz="2000" dirty="0">
                <a:solidFill>
                  <a:srgbClr val="000000"/>
                </a:solidFill>
                <a:latin typeface="宋体"/>
              </a:rPr>
              <a:t>    </a:t>
            </a:r>
            <a:r>
              <a:rPr lang="en-US" altLang="zh-CN" sz="2000" dirty="0">
                <a:solidFill>
                  <a:srgbClr val="000000"/>
                </a:solidFill>
                <a:latin typeface="宋体"/>
              </a:rPr>
              <a:t>LC</a:t>
            </a:r>
            <a:r>
              <a:rPr lang="zh-CN" altLang="en-US" sz="2000" dirty="0">
                <a:solidFill>
                  <a:srgbClr val="000000"/>
                </a:solidFill>
                <a:latin typeface="宋体"/>
              </a:rPr>
              <a:t>集中选择性滤波器可分为低通、高通、带通和带阻等形式。带通滤波器在某一指定的频率范围</a:t>
            </a:r>
            <a:r>
              <a:rPr lang="en-US" altLang="zh-CN" sz="2000" dirty="0">
                <a:solidFill>
                  <a:srgbClr val="000000"/>
                </a:solidFill>
                <a:latin typeface="宋体"/>
              </a:rPr>
              <a:t>f1~f2</a:t>
            </a:r>
            <a:r>
              <a:rPr lang="zh-CN" altLang="en-US" sz="2000" dirty="0">
                <a:solidFill>
                  <a:srgbClr val="000000"/>
                </a:solidFill>
                <a:latin typeface="宋体"/>
              </a:rPr>
              <a:t>之中，信号能够通过，而在此范围之外，信号不能通过。</a:t>
            </a:r>
            <a:endParaRPr lang="zh-CN" altLang="en-US" sz="2000" dirty="0">
              <a:solidFill>
                <a:srgbClr val="000000"/>
              </a:solidFill>
              <a:latin typeface="Times New Roman" panose="02020603050405020304" pitchFamily="18" charset="0"/>
            </a:endParaRPr>
          </a:p>
        </p:txBody>
      </p:sp>
      <p:graphicFrame>
        <p:nvGraphicFramePr>
          <p:cNvPr id="6" name="对象 119811">
            <a:extLst>
              <a:ext uri="{FF2B5EF4-FFF2-40B4-BE49-F238E27FC236}">
                <a16:creationId xmlns="" xmlns:a16="http://schemas.microsoft.com/office/drawing/2014/main" id="{408963DE-82B0-AC07-567A-7A5E04FE14EC}"/>
              </a:ext>
            </a:extLst>
          </p:cNvPr>
          <p:cNvGraphicFramePr/>
          <p:nvPr>
            <p:extLst>
              <p:ext uri="{D42A27DB-BD31-4B8C-83A1-F6EECF244321}">
                <p14:modId xmlns:p14="http://schemas.microsoft.com/office/powerpoint/2010/main" val="980440572"/>
              </p:ext>
            </p:extLst>
          </p:nvPr>
        </p:nvGraphicFramePr>
        <p:xfrm>
          <a:off x="1649202" y="3274545"/>
          <a:ext cx="6119812" cy="1944688"/>
        </p:xfrm>
        <a:graphic>
          <a:graphicData uri="http://schemas.openxmlformats.org/presentationml/2006/ole">
            <mc:AlternateContent xmlns:mc="http://schemas.openxmlformats.org/markup-compatibility/2006">
              <mc:Choice xmlns:v="urn:schemas-microsoft-com:vml" Requires="v">
                <p:oleObj spid="_x0000_s52274" r:id="rId3" imgW="4914900" imgH="1460500" progId="Word.Picture.8">
                  <p:embed/>
                </p:oleObj>
              </mc:Choice>
              <mc:Fallback>
                <p:oleObj r:id="rId3" imgW="4914900" imgH="1460500" progId="Word.Picture.8">
                  <p:embed/>
                  <p:pic>
                    <p:nvPicPr>
                      <p:cNvPr id="0" name=""/>
                      <p:cNvPicPr/>
                      <p:nvPr/>
                    </p:nvPicPr>
                    <p:blipFill>
                      <a:blip r:embed="rId4">
                        <a:clrChange>
                          <a:clrFrom>
                            <a:srgbClr val="FFFFFF"/>
                          </a:clrFrom>
                          <a:clrTo>
                            <a:srgbClr val="CCFFCC"/>
                          </a:clrTo>
                        </a:clrChange>
                        <a:biLevel thresh="50000"/>
                        <a:grayscl/>
                      </a:blip>
                      <a:stretch>
                        <a:fillRect/>
                      </a:stretch>
                    </p:blipFill>
                    <p:spPr>
                      <a:xfrm>
                        <a:off x="1649202" y="3274545"/>
                        <a:ext cx="6119812" cy="1944688"/>
                      </a:xfrm>
                      <a:prstGeom prst="rect">
                        <a:avLst/>
                      </a:prstGeom>
                      <a:noFill/>
                      <a:ln w="38100">
                        <a:noFill/>
                        <a:miter/>
                      </a:ln>
                    </p:spPr>
                  </p:pic>
                </p:oleObj>
              </mc:Fallback>
            </mc:AlternateContent>
          </a:graphicData>
        </a:graphic>
      </p:graphicFrame>
    </p:spTree>
    <p:extLst>
      <p:ext uri="{BB962C8B-B14F-4D97-AF65-F5344CB8AC3E}">
        <p14:creationId xmlns:p14="http://schemas.microsoft.com/office/powerpoint/2010/main" val="978368193"/>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75</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2.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高频</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基础</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电路</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文本框 4">
            <a:extLst>
              <a:ext uri="{FF2B5EF4-FFF2-40B4-BE49-F238E27FC236}">
                <a16:creationId xmlns="" xmlns:a16="http://schemas.microsoft.com/office/drawing/2014/main" id="{4164568F-D5B3-D219-08F7-DC77B20B2AC4}"/>
              </a:ext>
            </a:extLst>
          </p:cNvPr>
          <p:cNvSpPr txBox="1"/>
          <p:nvPr/>
        </p:nvSpPr>
        <p:spPr>
          <a:xfrm>
            <a:off x="519050" y="1226646"/>
            <a:ext cx="6217859" cy="400110"/>
          </a:xfrm>
          <a:prstGeom prst="rect">
            <a:avLst/>
          </a:prstGeom>
          <a:noFill/>
        </p:spPr>
        <p:txBody>
          <a:bodyPr wrap="square" rtlCol="0">
            <a:spAutoFit/>
          </a:bodyPr>
          <a:lstStyle/>
          <a:p>
            <a:r>
              <a:rPr lang="en-US" altLang="zh-CN" sz="2000" b="1" dirty="0">
                <a:latin typeface="+mn-ea"/>
                <a:ea typeface="+mn-ea"/>
              </a:rPr>
              <a:t>2.5.4 </a:t>
            </a:r>
            <a:r>
              <a:rPr lang="zh-CN" altLang="en-US" sz="2000" b="1" dirty="0">
                <a:latin typeface="+mn-ea"/>
                <a:ea typeface="+mn-ea"/>
              </a:rPr>
              <a:t>晶体滤波器与陶瓷滤波器</a:t>
            </a:r>
          </a:p>
        </p:txBody>
      </p:sp>
      <p:sp>
        <p:nvSpPr>
          <p:cNvPr id="6" name="TextBox 19">
            <a:extLst>
              <a:ext uri="{FF2B5EF4-FFF2-40B4-BE49-F238E27FC236}">
                <a16:creationId xmlns="" xmlns:a16="http://schemas.microsoft.com/office/drawing/2014/main" id="{2E6BE70D-6506-AC3B-78A6-F730CC499301}"/>
              </a:ext>
            </a:extLst>
          </p:cNvPr>
          <p:cNvSpPr txBox="1"/>
          <p:nvPr/>
        </p:nvSpPr>
        <p:spPr>
          <a:xfrm>
            <a:off x="565458" y="1568223"/>
            <a:ext cx="4288353" cy="400110"/>
          </a:xfrm>
          <a:prstGeom prst="rect">
            <a:avLst/>
          </a:prstGeom>
          <a:noFill/>
          <a:ln w="9525">
            <a:noFill/>
          </a:ln>
        </p:spPr>
        <p:txBody>
          <a:bodyPr wrap="none">
            <a:spAutoFit/>
          </a:bodyPr>
          <a:lstStyle/>
          <a:p>
            <a:pPr>
              <a:lnSpc>
                <a:spcPct val="100000"/>
              </a:lnSpc>
            </a:pPr>
            <a:r>
              <a:rPr lang="zh-CN" altLang="en-US" sz="2000" baseline="0" dirty="0">
                <a:latin typeface="+mn-ea"/>
                <a:ea typeface="+mn-ea"/>
              </a:rPr>
              <a:t>晶体谐振器等效电路的阻抗表示为：</a:t>
            </a:r>
          </a:p>
        </p:txBody>
      </p:sp>
      <p:sp>
        <p:nvSpPr>
          <p:cNvPr id="7" name="TextBox 19">
            <a:extLst>
              <a:ext uri="{FF2B5EF4-FFF2-40B4-BE49-F238E27FC236}">
                <a16:creationId xmlns="" xmlns:a16="http://schemas.microsoft.com/office/drawing/2014/main" id="{6F379B45-937E-B92B-47D1-9F7A725F2B9B}"/>
              </a:ext>
            </a:extLst>
          </p:cNvPr>
          <p:cNvSpPr txBox="1"/>
          <p:nvPr/>
        </p:nvSpPr>
        <p:spPr>
          <a:xfrm>
            <a:off x="565458" y="3338099"/>
            <a:ext cx="3307745" cy="400110"/>
          </a:xfrm>
          <a:prstGeom prst="rect">
            <a:avLst/>
          </a:prstGeom>
          <a:noFill/>
          <a:ln w="9525">
            <a:noFill/>
          </a:ln>
        </p:spPr>
        <p:txBody>
          <a:bodyPr wrap="square">
            <a:spAutoFit/>
          </a:bodyPr>
          <a:lstStyle/>
          <a:p>
            <a:pPr>
              <a:lnSpc>
                <a:spcPct val="100000"/>
              </a:lnSpc>
            </a:pPr>
            <a:r>
              <a:rPr lang="zh-CN" altLang="en-US" sz="2000" baseline="0" dirty="0">
                <a:latin typeface="+mn-ea"/>
                <a:ea typeface="+mn-ea"/>
              </a:rPr>
              <a:t>忽</a:t>
            </a:r>
            <a:r>
              <a:rPr lang="zh-CN" altLang="en-US" sz="2000" baseline="0" dirty="0">
                <a:latin typeface="Times New Roman" panose="02020603050405020304" pitchFamily="18" charset="0"/>
                <a:cs typeface="Times New Roman" panose="02020603050405020304" pitchFamily="18" charset="0"/>
              </a:rPr>
              <a:t>略</a:t>
            </a:r>
            <a:r>
              <a:rPr lang="en-US" altLang="zh-CN" sz="2000" baseline="0" dirty="0" err="1">
                <a:latin typeface="Times New Roman" panose="02020603050405020304" pitchFamily="18" charset="0"/>
                <a:cs typeface="Times New Roman" panose="02020603050405020304" pitchFamily="18" charset="0"/>
              </a:rPr>
              <a:t>R</a:t>
            </a:r>
            <a:r>
              <a:rPr lang="en-US" altLang="zh-CN" sz="2000" baseline="-25000" dirty="0" err="1">
                <a:latin typeface="Times New Roman" panose="02020603050405020304" pitchFamily="18" charset="0"/>
                <a:cs typeface="Times New Roman" panose="02020603050405020304" pitchFamily="18" charset="0"/>
              </a:rPr>
              <a:t>q</a:t>
            </a:r>
            <a:r>
              <a:rPr lang="zh-CN" altLang="en-US" sz="2000" baseline="0" dirty="0">
                <a:latin typeface="+mn-ea"/>
                <a:ea typeface="+mn-ea"/>
              </a:rPr>
              <a:t>后，上式可简化为：</a:t>
            </a:r>
          </a:p>
        </p:txBody>
      </p:sp>
      <p:graphicFrame>
        <p:nvGraphicFramePr>
          <p:cNvPr id="8" name="对象 7">
            <a:extLst>
              <a:ext uri="{FF2B5EF4-FFF2-40B4-BE49-F238E27FC236}">
                <a16:creationId xmlns="" xmlns:a16="http://schemas.microsoft.com/office/drawing/2014/main" id="{1688078D-201C-B0D5-48D5-739F82D1233C}"/>
              </a:ext>
            </a:extLst>
          </p:cNvPr>
          <p:cNvGraphicFramePr>
            <a:graphicFrameLocks noChangeAspect="1"/>
          </p:cNvGraphicFramePr>
          <p:nvPr>
            <p:extLst>
              <p:ext uri="{D42A27DB-BD31-4B8C-83A1-F6EECF244321}">
                <p14:modId xmlns:p14="http://schemas.microsoft.com/office/powerpoint/2010/main" val="396350950"/>
              </p:ext>
            </p:extLst>
          </p:nvPr>
        </p:nvGraphicFramePr>
        <p:xfrm>
          <a:off x="622780" y="1997137"/>
          <a:ext cx="2994025" cy="1317625"/>
        </p:xfrm>
        <a:graphic>
          <a:graphicData uri="http://schemas.openxmlformats.org/presentationml/2006/ole">
            <mc:AlternateContent xmlns:mc="http://schemas.openxmlformats.org/markup-compatibility/2006">
              <mc:Choice xmlns:v="urn:schemas-microsoft-com:vml" Requires="v">
                <p:oleObj spid="_x0000_s53538" name="Equation" r:id="rId3" imgW="2994703" imgH="1318367" progId="Equation.DSMT4">
                  <p:embed/>
                </p:oleObj>
              </mc:Choice>
              <mc:Fallback>
                <p:oleObj name="Equation" r:id="rId3" imgW="2994703" imgH="1318367" progId="Equation.DSMT4">
                  <p:embed/>
                  <p:pic>
                    <p:nvPicPr>
                      <p:cNvPr id="0" name=""/>
                      <p:cNvPicPr/>
                      <p:nvPr/>
                    </p:nvPicPr>
                    <p:blipFill>
                      <a:blip r:embed="rId4"/>
                      <a:stretch>
                        <a:fillRect/>
                      </a:stretch>
                    </p:blipFill>
                    <p:spPr>
                      <a:xfrm>
                        <a:off x="622780" y="1997137"/>
                        <a:ext cx="2994025" cy="1317625"/>
                      </a:xfrm>
                      <a:prstGeom prst="rect">
                        <a:avLst/>
                      </a:prstGeom>
                    </p:spPr>
                  </p:pic>
                </p:oleObj>
              </mc:Fallback>
            </mc:AlternateContent>
          </a:graphicData>
        </a:graphic>
      </p:graphicFrame>
      <p:graphicFrame>
        <p:nvGraphicFramePr>
          <p:cNvPr id="9" name="对象 690201">
            <a:extLst>
              <a:ext uri="{FF2B5EF4-FFF2-40B4-BE49-F238E27FC236}">
                <a16:creationId xmlns="" xmlns:a16="http://schemas.microsoft.com/office/drawing/2014/main" id="{260BD83F-F8E9-7888-DA8C-56C31F45F66C}"/>
              </a:ext>
            </a:extLst>
          </p:cNvPr>
          <p:cNvGraphicFramePr/>
          <p:nvPr>
            <p:extLst>
              <p:ext uri="{D42A27DB-BD31-4B8C-83A1-F6EECF244321}">
                <p14:modId xmlns:p14="http://schemas.microsoft.com/office/powerpoint/2010/main" val="2912845994"/>
              </p:ext>
            </p:extLst>
          </p:nvPr>
        </p:nvGraphicFramePr>
        <p:xfrm>
          <a:off x="5112029" y="1326483"/>
          <a:ext cx="2697162" cy="2087563"/>
        </p:xfrm>
        <a:graphic>
          <a:graphicData uri="http://schemas.openxmlformats.org/presentationml/2006/ole">
            <mc:AlternateContent xmlns:mc="http://schemas.openxmlformats.org/markup-compatibility/2006">
              <mc:Choice xmlns:v="urn:schemas-microsoft-com:vml" Requires="v">
                <p:oleObj spid="_x0000_s53539" r:id="rId5" imgW="3556000" imgH="3390900" progId="Visio.Drawing.11">
                  <p:embed/>
                </p:oleObj>
              </mc:Choice>
              <mc:Fallback>
                <p:oleObj r:id="rId5" imgW="3556000" imgH="3390900" progId="Visio.Drawing.11">
                  <p:embed/>
                  <p:pic>
                    <p:nvPicPr>
                      <p:cNvPr id="0" name=""/>
                      <p:cNvPicPr/>
                      <p:nvPr/>
                    </p:nvPicPr>
                    <p:blipFill>
                      <a:blip r:embed="rId6"/>
                      <a:stretch>
                        <a:fillRect/>
                      </a:stretch>
                    </p:blipFill>
                    <p:spPr>
                      <a:xfrm>
                        <a:off x="5112029" y="1326483"/>
                        <a:ext cx="2697162" cy="2087563"/>
                      </a:xfrm>
                      <a:prstGeom prst="rect">
                        <a:avLst/>
                      </a:prstGeom>
                      <a:noFill/>
                      <a:ln w="38100">
                        <a:noFill/>
                        <a:miter/>
                      </a:ln>
                    </p:spPr>
                  </p:pic>
                </p:oleObj>
              </mc:Fallback>
            </mc:AlternateContent>
          </a:graphicData>
        </a:graphic>
      </p:graphicFrame>
      <p:graphicFrame>
        <p:nvGraphicFramePr>
          <p:cNvPr id="10" name="对象 9">
            <a:extLst>
              <a:ext uri="{FF2B5EF4-FFF2-40B4-BE49-F238E27FC236}">
                <a16:creationId xmlns="" xmlns:a16="http://schemas.microsoft.com/office/drawing/2014/main" id="{586EFADE-CC59-45F0-9C71-F2D13CE09B61}"/>
              </a:ext>
            </a:extLst>
          </p:cNvPr>
          <p:cNvGraphicFramePr>
            <a:graphicFrameLocks noChangeAspect="1"/>
          </p:cNvGraphicFramePr>
          <p:nvPr>
            <p:extLst>
              <p:ext uri="{D42A27DB-BD31-4B8C-83A1-F6EECF244321}">
                <p14:modId xmlns:p14="http://schemas.microsoft.com/office/powerpoint/2010/main" val="1335411252"/>
              </p:ext>
            </p:extLst>
          </p:nvPr>
        </p:nvGraphicFramePr>
        <p:xfrm>
          <a:off x="622780" y="3723073"/>
          <a:ext cx="2409825" cy="787400"/>
        </p:xfrm>
        <a:graphic>
          <a:graphicData uri="http://schemas.openxmlformats.org/presentationml/2006/ole">
            <mc:AlternateContent xmlns:mc="http://schemas.openxmlformats.org/markup-compatibility/2006">
              <mc:Choice xmlns:v="urn:schemas-microsoft-com:vml" Requires="v">
                <p:oleObj spid="_x0000_s53540" name="Equation" r:id="rId7" imgW="2409660" imgH="786628" progId="Equation.DSMT4">
                  <p:embed/>
                </p:oleObj>
              </mc:Choice>
              <mc:Fallback>
                <p:oleObj name="Equation" r:id="rId7" imgW="2409660" imgH="786628" progId="Equation.DSMT4">
                  <p:embed/>
                  <p:pic>
                    <p:nvPicPr>
                      <p:cNvPr id="0" name=""/>
                      <p:cNvPicPr/>
                      <p:nvPr/>
                    </p:nvPicPr>
                    <p:blipFill>
                      <a:blip r:embed="rId8"/>
                      <a:stretch>
                        <a:fillRect/>
                      </a:stretch>
                    </p:blipFill>
                    <p:spPr>
                      <a:xfrm>
                        <a:off x="622780" y="3723073"/>
                        <a:ext cx="2409825" cy="787400"/>
                      </a:xfrm>
                      <a:prstGeom prst="rect">
                        <a:avLst/>
                      </a:prstGeom>
                    </p:spPr>
                  </p:pic>
                </p:oleObj>
              </mc:Fallback>
            </mc:AlternateContent>
          </a:graphicData>
        </a:graphic>
      </p:graphicFrame>
      <p:sp>
        <p:nvSpPr>
          <p:cNvPr id="11" name="矩形 20">
            <a:extLst>
              <a:ext uri="{FF2B5EF4-FFF2-40B4-BE49-F238E27FC236}">
                <a16:creationId xmlns="" xmlns:a16="http://schemas.microsoft.com/office/drawing/2014/main" id="{387DDE57-6D20-FA5E-24FA-04FC69DEE093}"/>
              </a:ext>
            </a:extLst>
          </p:cNvPr>
          <p:cNvSpPr/>
          <p:nvPr/>
        </p:nvSpPr>
        <p:spPr>
          <a:xfrm>
            <a:off x="3281904" y="3826170"/>
            <a:ext cx="692150" cy="396875"/>
          </a:xfrm>
          <a:prstGeom prst="rect">
            <a:avLst/>
          </a:prstGeom>
          <a:noFill/>
          <a:ln w="9525">
            <a:noFill/>
          </a:ln>
        </p:spPr>
        <p:txBody>
          <a:bodyPr wrap="none">
            <a:spAutoFit/>
          </a:bodyPr>
          <a:lstStyle/>
          <a:p>
            <a:pPr>
              <a:lnSpc>
                <a:spcPct val="100000"/>
              </a:lnSpc>
            </a:pPr>
            <a:r>
              <a:rPr lang="zh-CN" altLang="en-US" sz="2000" baseline="0" dirty="0">
                <a:latin typeface="+mn-ea"/>
                <a:ea typeface="+mn-ea"/>
              </a:rPr>
              <a:t>其中</a:t>
            </a:r>
          </a:p>
        </p:txBody>
      </p:sp>
      <p:graphicFrame>
        <p:nvGraphicFramePr>
          <p:cNvPr id="12" name="对象 11">
            <a:extLst>
              <a:ext uri="{FF2B5EF4-FFF2-40B4-BE49-F238E27FC236}">
                <a16:creationId xmlns="" xmlns:a16="http://schemas.microsoft.com/office/drawing/2014/main" id="{95C1ED20-7DF0-3C11-F99A-939D1247FA75}"/>
              </a:ext>
            </a:extLst>
          </p:cNvPr>
          <p:cNvGraphicFramePr>
            <a:graphicFrameLocks noChangeAspect="1"/>
          </p:cNvGraphicFramePr>
          <p:nvPr>
            <p:extLst>
              <p:ext uri="{D42A27DB-BD31-4B8C-83A1-F6EECF244321}">
                <p14:modId xmlns:p14="http://schemas.microsoft.com/office/powerpoint/2010/main" val="391494465"/>
              </p:ext>
            </p:extLst>
          </p:nvPr>
        </p:nvGraphicFramePr>
        <p:xfrm>
          <a:off x="3970304" y="3629424"/>
          <a:ext cx="1360487" cy="687387"/>
        </p:xfrm>
        <a:graphic>
          <a:graphicData uri="http://schemas.openxmlformats.org/presentationml/2006/ole">
            <mc:AlternateContent xmlns:mc="http://schemas.openxmlformats.org/markup-compatibility/2006">
              <mc:Choice xmlns:v="urn:schemas-microsoft-com:vml" Requires="v">
                <p:oleObj spid="_x0000_s53541" name="Equation" r:id="rId9" imgW="1360902" imgH="687625" progId="Equation.DSMT4">
                  <p:embed/>
                </p:oleObj>
              </mc:Choice>
              <mc:Fallback>
                <p:oleObj name="Equation" r:id="rId9" imgW="1360902" imgH="687625" progId="Equation.DSMT4">
                  <p:embed/>
                  <p:pic>
                    <p:nvPicPr>
                      <p:cNvPr id="0" name=""/>
                      <p:cNvPicPr/>
                      <p:nvPr/>
                    </p:nvPicPr>
                    <p:blipFill>
                      <a:blip r:embed="rId10"/>
                      <a:stretch>
                        <a:fillRect/>
                      </a:stretch>
                    </p:blipFill>
                    <p:spPr>
                      <a:xfrm>
                        <a:off x="3970304" y="3629424"/>
                        <a:ext cx="1360487" cy="687387"/>
                      </a:xfrm>
                      <a:prstGeom prst="rect">
                        <a:avLst/>
                      </a:prstGeom>
                    </p:spPr>
                  </p:pic>
                </p:oleObj>
              </mc:Fallback>
            </mc:AlternateContent>
          </a:graphicData>
        </a:graphic>
      </p:graphicFrame>
      <p:graphicFrame>
        <p:nvGraphicFramePr>
          <p:cNvPr id="13" name="对象 12">
            <a:extLst>
              <a:ext uri="{FF2B5EF4-FFF2-40B4-BE49-F238E27FC236}">
                <a16:creationId xmlns="" xmlns:a16="http://schemas.microsoft.com/office/drawing/2014/main" id="{D9DDD7B4-AACC-D05C-AB57-4F1679329B9D}"/>
              </a:ext>
            </a:extLst>
          </p:cNvPr>
          <p:cNvGraphicFramePr>
            <a:graphicFrameLocks noChangeAspect="1"/>
          </p:cNvGraphicFramePr>
          <p:nvPr>
            <p:extLst>
              <p:ext uri="{D42A27DB-BD31-4B8C-83A1-F6EECF244321}">
                <p14:modId xmlns:p14="http://schemas.microsoft.com/office/powerpoint/2010/main" val="3741427845"/>
              </p:ext>
            </p:extLst>
          </p:nvPr>
        </p:nvGraphicFramePr>
        <p:xfrm>
          <a:off x="5451563" y="3594897"/>
          <a:ext cx="1784350" cy="930275"/>
        </p:xfrm>
        <a:graphic>
          <a:graphicData uri="http://schemas.openxmlformats.org/presentationml/2006/ole">
            <mc:AlternateContent xmlns:mc="http://schemas.openxmlformats.org/markup-compatibility/2006">
              <mc:Choice xmlns:v="urn:schemas-microsoft-com:vml" Requires="v">
                <p:oleObj spid="_x0000_s53542" name="Equation" r:id="rId11" imgW="1784653" imgH="929913" progId="Equation.DSMT4">
                  <p:embed/>
                </p:oleObj>
              </mc:Choice>
              <mc:Fallback>
                <p:oleObj name="Equation" r:id="rId11" imgW="1784653" imgH="929913" progId="Equation.DSMT4">
                  <p:embed/>
                  <p:pic>
                    <p:nvPicPr>
                      <p:cNvPr id="0" name=""/>
                      <p:cNvPicPr/>
                      <p:nvPr/>
                    </p:nvPicPr>
                    <p:blipFill>
                      <a:blip r:embed="rId12"/>
                      <a:stretch>
                        <a:fillRect/>
                      </a:stretch>
                    </p:blipFill>
                    <p:spPr>
                      <a:xfrm>
                        <a:off x="5451563" y="3594897"/>
                        <a:ext cx="1784350" cy="930275"/>
                      </a:xfrm>
                      <a:prstGeom prst="rect">
                        <a:avLst/>
                      </a:prstGeom>
                    </p:spPr>
                  </p:pic>
                </p:oleObj>
              </mc:Fallback>
            </mc:AlternateContent>
          </a:graphicData>
        </a:graphic>
      </p:graphicFrame>
      <p:graphicFrame>
        <p:nvGraphicFramePr>
          <p:cNvPr id="14" name="对象 13">
            <a:extLst>
              <a:ext uri="{FF2B5EF4-FFF2-40B4-BE49-F238E27FC236}">
                <a16:creationId xmlns="" xmlns:a16="http://schemas.microsoft.com/office/drawing/2014/main" id="{46789D69-61EC-CF22-589A-EBE03E12A608}"/>
              </a:ext>
            </a:extLst>
          </p:cNvPr>
          <p:cNvGraphicFramePr>
            <a:graphicFrameLocks noChangeAspect="1"/>
          </p:cNvGraphicFramePr>
          <p:nvPr>
            <p:extLst>
              <p:ext uri="{D42A27DB-BD31-4B8C-83A1-F6EECF244321}">
                <p14:modId xmlns:p14="http://schemas.microsoft.com/office/powerpoint/2010/main" val="843951316"/>
              </p:ext>
            </p:extLst>
          </p:nvPr>
        </p:nvGraphicFramePr>
        <p:xfrm>
          <a:off x="7243337" y="3563883"/>
          <a:ext cx="1784350" cy="930275"/>
        </p:xfrm>
        <a:graphic>
          <a:graphicData uri="http://schemas.openxmlformats.org/presentationml/2006/ole">
            <mc:AlternateContent xmlns:mc="http://schemas.openxmlformats.org/markup-compatibility/2006">
              <mc:Choice xmlns:v="urn:schemas-microsoft-com:vml" Requires="v">
                <p:oleObj spid="_x0000_s53543" name="Equation" r:id="rId13" imgW="1784653" imgH="929913" progId="Equation.DSMT4">
                  <p:embed/>
                </p:oleObj>
              </mc:Choice>
              <mc:Fallback>
                <p:oleObj name="Equation" r:id="rId13" imgW="1784653" imgH="929913" progId="Equation.DSMT4">
                  <p:embed/>
                  <p:pic>
                    <p:nvPicPr>
                      <p:cNvPr id="0" name=""/>
                      <p:cNvPicPr/>
                      <p:nvPr/>
                    </p:nvPicPr>
                    <p:blipFill>
                      <a:blip r:embed="rId14"/>
                      <a:stretch>
                        <a:fillRect/>
                      </a:stretch>
                    </p:blipFill>
                    <p:spPr>
                      <a:xfrm>
                        <a:off x="7243337" y="3563883"/>
                        <a:ext cx="1784350" cy="930275"/>
                      </a:xfrm>
                      <a:prstGeom prst="rect">
                        <a:avLst/>
                      </a:prstGeom>
                    </p:spPr>
                  </p:pic>
                </p:oleObj>
              </mc:Fallback>
            </mc:AlternateContent>
          </a:graphicData>
        </a:graphic>
      </p:graphicFrame>
      <p:sp>
        <p:nvSpPr>
          <p:cNvPr id="15" name="矩形 12">
            <a:extLst>
              <a:ext uri="{FF2B5EF4-FFF2-40B4-BE49-F238E27FC236}">
                <a16:creationId xmlns="" xmlns:a16="http://schemas.microsoft.com/office/drawing/2014/main" id="{C8BD9CAE-13CD-7080-5A2D-D2912D8E3770}"/>
              </a:ext>
            </a:extLst>
          </p:cNvPr>
          <p:cNvSpPr/>
          <p:nvPr/>
        </p:nvSpPr>
        <p:spPr>
          <a:xfrm>
            <a:off x="280416" y="5940771"/>
            <a:ext cx="8619744" cy="707886"/>
          </a:xfrm>
          <a:prstGeom prst="rect">
            <a:avLst/>
          </a:prstGeom>
          <a:noFill/>
          <a:ln w="9525">
            <a:noFill/>
          </a:ln>
        </p:spPr>
        <p:txBody>
          <a:bodyPr wrap="square">
            <a:spAutoFit/>
          </a:bodyPr>
          <a:lstStyle/>
          <a:p>
            <a:pPr>
              <a:lnSpc>
                <a:spcPct val="100000"/>
              </a:lnSpc>
            </a:pPr>
            <a:r>
              <a:rPr lang="zh-CN" altLang="en-US" baseline="0" dirty="0">
                <a:latin typeface="Times New Roman" panose="02020603050405020304" pitchFamily="18" charset="0"/>
                <a:ea typeface="黑体" panose="02010600030101010101" pitchFamily="49" charset="-122"/>
                <a:cs typeface="Times New Roman" panose="02020603050405020304" pitchFamily="18" charset="0"/>
              </a:rPr>
              <a:t> </a:t>
            </a:r>
            <a:r>
              <a:rPr lang="zh-CN" altLang="en-US" sz="2000" baseline="0" dirty="0" smtClean="0">
                <a:latin typeface="Times New Roman" panose="02020603050405020304" pitchFamily="18" charset="0"/>
                <a:cs typeface="Times New Roman" panose="02020603050405020304" pitchFamily="18" charset="0"/>
              </a:rPr>
              <a:t>频率</a:t>
            </a:r>
            <a:r>
              <a:rPr lang="en-US" altLang="zh-CN" sz="2000" i="1" baseline="0" dirty="0">
                <a:latin typeface="Times New Roman" panose="02020603050405020304" pitchFamily="18" charset="0"/>
                <a:cs typeface="Times New Roman" panose="02020603050405020304" pitchFamily="18" charset="0"/>
              </a:rPr>
              <a:t>f</a:t>
            </a:r>
            <a:r>
              <a:rPr lang="en-US" altLang="zh-CN" sz="2000" dirty="0">
                <a:latin typeface="Times New Roman" panose="02020603050405020304" pitchFamily="18" charset="0"/>
                <a:cs typeface="Times New Roman" panose="02020603050405020304" pitchFamily="18" charset="0"/>
              </a:rPr>
              <a:t>q</a:t>
            </a:r>
            <a:r>
              <a:rPr lang="zh-CN" altLang="en-US" sz="2000" baseline="0" dirty="0">
                <a:latin typeface="Times New Roman" panose="02020603050405020304" pitchFamily="18" charset="0"/>
                <a:cs typeface="Times New Roman" panose="02020603050405020304" pitchFamily="18" charset="0"/>
              </a:rPr>
              <a:t>称为谐振器的串联谐振频率</a:t>
            </a:r>
            <a:r>
              <a:rPr lang="en-US" altLang="zh-CN" sz="2000" baseline="0" dirty="0">
                <a:latin typeface="Times New Roman" panose="02020603050405020304" pitchFamily="18" charset="0"/>
                <a:cs typeface="Times New Roman" panose="02020603050405020304" pitchFamily="18" charset="0"/>
              </a:rPr>
              <a:t>,</a:t>
            </a:r>
            <a:r>
              <a:rPr lang="zh-CN" altLang="en-US" sz="2000" baseline="0" dirty="0">
                <a:latin typeface="Times New Roman" panose="02020603050405020304" pitchFamily="18" charset="0"/>
                <a:cs typeface="Times New Roman" panose="02020603050405020304" pitchFamily="18" charset="0"/>
              </a:rPr>
              <a:t>频率</a:t>
            </a:r>
            <a:r>
              <a:rPr lang="en-US" altLang="zh-CN" sz="2000" i="1" baseline="0" dirty="0">
                <a:latin typeface="Times New Roman" panose="02020603050405020304" pitchFamily="18" charset="0"/>
                <a:cs typeface="Times New Roman" panose="02020603050405020304" pitchFamily="18" charset="0"/>
              </a:rPr>
              <a:t>f</a:t>
            </a:r>
            <a:r>
              <a:rPr lang="en-US" altLang="zh-CN" sz="2000" dirty="0">
                <a:latin typeface="Times New Roman" panose="02020603050405020304" pitchFamily="18" charset="0"/>
                <a:cs typeface="Times New Roman" panose="02020603050405020304" pitchFamily="18" charset="0"/>
              </a:rPr>
              <a:t>p</a:t>
            </a:r>
            <a:r>
              <a:rPr lang="zh-CN" altLang="en-US" sz="2000" baseline="0" dirty="0">
                <a:latin typeface="Times New Roman" panose="02020603050405020304" pitchFamily="18" charset="0"/>
                <a:cs typeface="Times New Roman" panose="02020603050405020304" pitchFamily="18" charset="0"/>
              </a:rPr>
              <a:t>称为谐振器的并联谐振频率</a:t>
            </a:r>
            <a:r>
              <a:rPr lang="en-US" altLang="zh-CN" sz="2000" baseline="0" dirty="0">
                <a:latin typeface="Times New Roman" panose="02020603050405020304" pitchFamily="18" charset="0"/>
                <a:cs typeface="Times New Roman" panose="02020603050405020304" pitchFamily="18" charset="0"/>
              </a:rPr>
              <a:t>,</a:t>
            </a:r>
            <a:r>
              <a:rPr lang="zh-CN" altLang="en-US" sz="2000" baseline="0" dirty="0">
                <a:latin typeface="Times New Roman" panose="02020603050405020304" pitchFamily="18" charset="0"/>
                <a:cs typeface="Times New Roman" panose="02020603050405020304" pitchFamily="18" charset="0"/>
              </a:rPr>
              <a:t>它们的比值</a:t>
            </a:r>
            <a:r>
              <a:rPr lang="en-US" altLang="zh-CN" sz="2000" i="1" baseline="0" dirty="0">
                <a:latin typeface="Times New Roman" panose="02020603050405020304" pitchFamily="18" charset="0"/>
                <a:cs typeface="Times New Roman" panose="02020603050405020304" pitchFamily="18" charset="0"/>
              </a:rPr>
              <a:t>f</a:t>
            </a:r>
            <a:r>
              <a:rPr lang="en-US" altLang="zh-CN" sz="2000" dirty="0">
                <a:latin typeface="Times New Roman" panose="02020603050405020304" pitchFamily="18" charset="0"/>
                <a:cs typeface="Times New Roman" panose="02020603050405020304" pitchFamily="18" charset="0"/>
              </a:rPr>
              <a:t>p</a:t>
            </a:r>
            <a:r>
              <a:rPr lang="en-US" altLang="zh-CN" sz="2000" baseline="0" dirty="0">
                <a:latin typeface="Times New Roman" panose="02020603050405020304" pitchFamily="18" charset="0"/>
                <a:cs typeface="Times New Roman" panose="02020603050405020304" pitchFamily="18" charset="0"/>
              </a:rPr>
              <a:t>/</a:t>
            </a:r>
            <a:r>
              <a:rPr lang="en-US" altLang="zh-CN" sz="2000" i="1" baseline="0" dirty="0">
                <a:latin typeface="Times New Roman" panose="02020603050405020304" pitchFamily="18" charset="0"/>
                <a:cs typeface="Times New Roman" panose="02020603050405020304" pitchFamily="18" charset="0"/>
              </a:rPr>
              <a:t>f</a:t>
            </a:r>
            <a:r>
              <a:rPr lang="en-US" altLang="zh-CN" sz="2000" dirty="0">
                <a:latin typeface="Times New Roman" panose="02020603050405020304" pitchFamily="18" charset="0"/>
                <a:cs typeface="Times New Roman" panose="02020603050405020304" pitchFamily="18" charset="0"/>
              </a:rPr>
              <a:t>q</a:t>
            </a:r>
            <a:r>
              <a:rPr lang="zh-CN" altLang="en-US" sz="2000" baseline="0" dirty="0">
                <a:latin typeface="Times New Roman" panose="02020603050405020304" pitchFamily="18" charset="0"/>
                <a:cs typeface="Times New Roman" panose="02020603050405020304" pitchFamily="18" charset="0"/>
              </a:rPr>
              <a:t>随比值</a:t>
            </a:r>
            <a:r>
              <a:rPr lang="en-US" altLang="zh-CN" sz="2000" i="1" baseline="0" dirty="0">
                <a:latin typeface="Times New Roman" panose="02020603050405020304" pitchFamily="18" charset="0"/>
                <a:cs typeface="Times New Roman" panose="02020603050405020304" pitchFamily="18" charset="0"/>
              </a:rPr>
              <a:t>C</a:t>
            </a:r>
            <a:r>
              <a:rPr lang="en-US" altLang="zh-CN" sz="2000" dirty="0">
                <a:latin typeface="Times New Roman" panose="02020603050405020304" pitchFamily="18" charset="0"/>
                <a:cs typeface="Times New Roman" panose="02020603050405020304" pitchFamily="18" charset="0"/>
              </a:rPr>
              <a:t>q</a:t>
            </a:r>
            <a:r>
              <a:rPr lang="en-US" altLang="zh-CN" sz="2000" baseline="0" dirty="0">
                <a:latin typeface="Times New Roman" panose="02020603050405020304" pitchFamily="18" charset="0"/>
                <a:cs typeface="Times New Roman" panose="02020603050405020304" pitchFamily="18" charset="0"/>
              </a:rPr>
              <a:t>/</a:t>
            </a:r>
            <a:r>
              <a:rPr lang="en-US" altLang="zh-CN" sz="2000" i="1" baseline="0" dirty="0">
                <a:latin typeface="Times New Roman" panose="02020603050405020304" pitchFamily="18" charset="0"/>
                <a:cs typeface="Times New Roman" panose="02020603050405020304" pitchFamily="18" charset="0"/>
              </a:rPr>
              <a:t>C</a:t>
            </a:r>
            <a:r>
              <a:rPr lang="en-US" altLang="zh-CN" sz="2000" dirty="0">
                <a:latin typeface="Times New Roman" panose="02020603050405020304" pitchFamily="18" charset="0"/>
                <a:cs typeface="Times New Roman" panose="02020603050405020304" pitchFamily="18" charset="0"/>
              </a:rPr>
              <a:t>0</a:t>
            </a:r>
            <a:r>
              <a:rPr lang="zh-CN" altLang="en-US" sz="2000" baseline="0" dirty="0">
                <a:latin typeface="Times New Roman" panose="02020603050405020304" pitchFamily="18" charset="0"/>
                <a:cs typeface="Times New Roman" panose="02020603050405020304" pitchFamily="18" charset="0"/>
              </a:rPr>
              <a:t>而异。这个特性可以用来调节晶体滤波器的通频带。</a:t>
            </a:r>
          </a:p>
        </p:txBody>
      </p:sp>
      <p:sp>
        <p:nvSpPr>
          <p:cNvPr id="16" name="矩形 24">
            <a:extLst>
              <a:ext uri="{FF2B5EF4-FFF2-40B4-BE49-F238E27FC236}">
                <a16:creationId xmlns="" xmlns:a16="http://schemas.microsoft.com/office/drawing/2014/main" id="{1A3882E2-FB48-7A40-A1B9-321A1B922128}"/>
              </a:ext>
            </a:extLst>
          </p:cNvPr>
          <p:cNvSpPr/>
          <p:nvPr/>
        </p:nvSpPr>
        <p:spPr>
          <a:xfrm>
            <a:off x="501421" y="4362203"/>
            <a:ext cx="8208962" cy="1631216"/>
          </a:xfrm>
          <a:prstGeom prst="rect">
            <a:avLst/>
          </a:prstGeom>
          <a:noFill/>
          <a:ln w="9525">
            <a:noFill/>
          </a:ln>
        </p:spPr>
        <p:txBody>
          <a:bodyPr>
            <a:spAutoFit/>
          </a:bodyPr>
          <a:lstStyle/>
          <a:p>
            <a:pPr>
              <a:lnSpc>
                <a:spcPct val="100000"/>
              </a:lnSpc>
            </a:pPr>
            <a:r>
              <a:rPr lang="zh-CN" altLang="en-US" sz="2000" b="1" baseline="0" dirty="0">
                <a:solidFill>
                  <a:srgbClr val="0000CC"/>
                </a:solidFill>
                <a:latin typeface="Times New Roman" panose="02020603050405020304" pitchFamily="18" charset="0"/>
                <a:ea typeface="+mn-ea"/>
              </a:rPr>
              <a:t>由上式可见，</a:t>
            </a:r>
          </a:p>
          <a:p>
            <a:pPr>
              <a:lnSpc>
                <a:spcPct val="100000"/>
              </a:lnSpc>
            </a:pPr>
            <a:r>
              <a:rPr lang="zh-CN" altLang="en-US" sz="2000" b="1" baseline="0" dirty="0">
                <a:solidFill>
                  <a:srgbClr val="0000CC"/>
                </a:solidFill>
                <a:latin typeface="Times New Roman" panose="02020603050405020304" pitchFamily="18" charset="0"/>
                <a:ea typeface="+mn-ea"/>
              </a:rPr>
              <a:t>       当</a:t>
            </a:r>
            <a:r>
              <a:rPr lang="en-US" altLang="zh-CN" sz="2000" b="1" i="1" baseline="0" dirty="0">
                <a:solidFill>
                  <a:srgbClr val="0000CC"/>
                </a:solidFill>
                <a:latin typeface="Times New Roman" panose="02020603050405020304" pitchFamily="18" charset="0"/>
                <a:ea typeface="+mn-ea"/>
              </a:rPr>
              <a:t>ω</a:t>
            </a:r>
            <a:r>
              <a:rPr lang="en-US" altLang="zh-CN" sz="2000" b="1" baseline="0" dirty="0">
                <a:solidFill>
                  <a:srgbClr val="0000CC"/>
                </a:solidFill>
                <a:latin typeface="Times New Roman" panose="02020603050405020304" pitchFamily="18" charset="0"/>
                <a:ea typeface="+mn-ea"/>
              </a:rPr>
              <a:t>=</a:t>
            </a:r>
            <a:r>
              <a:rPr lang="en-US" altLang="zh-CN" sz="2000" b="1" i="1" baseline="0" dirty="0">
                <a:solidFill>
                  <a:srgbClr val="0000CC"/>
                </a:solidFill>
                <a:latin typeface="Times New Roman" panose="02020603050405020304" pitchFamily="18" charset="0"/>
                <a:ea typeface="+mn-ea"/>
              </a:rPr>
              <a:t>ω</a:t>
            </a:r>
            <a:r>
              <a:rPr lang="en-US" altLang="zh-CN" sz="2000" b="1" baseline="-25000" dirty="0">
                <a:solidFill>
                  <a:srgbClr val="0000CC"/>
                </a:solidFill>
                <a:latin typeface="Times New Roman" panose="02020603050405020304" pitchFamily="18" charset="0"/>
                <a:ea typeface="+mn-ea"/>
              </a:rPr>
              <a:t>q</a:t>
            </a:r>
            <a:r>
              <a:rPr lang="zh-CN" altLang="en-US" sz="2000" b="1" baseline="0" dirty="0">
                <a:solidFill>
                  <a:srgbClr val="0000CC"/>
                </a:solidFill>
                <a:latin typeface="Times New Roman" panose="02020603050405020304" pitchFamily="18" charset="0"/>
                <a:ea typeface="+mn-ea"/>
              </a:rPr>
              <a:t>时，</a:t>
            </a:r>
            <a:r>
              <a:rPr lang="en-US" altLang="zh-CN" sz="2000" b="1" i="1" baseline="0" dirty="0">
                <a:solidFill>
                  <a:srgbClr val="0000CC"/>
                </a:solidFill>
                <a:latin typeface="Times New Roman" panose="02020603050405020304" pitchFamily="18" charset="0"/>
                <a:ea typeface="+mn-ea"/>
              </a:rPr>
              <a:t>Z</a:t>
            </a:r>
            <a:r>
              <a:rPr lang="en-US" altLang="zh-CN" sz="2000" b="1" baseline="-25000" dirty="0">
                <a:solidFill>
                  <a:srgbClr val="0000CC"/>
                </a:solidFill>
                <a:latin typeface="Times New Roman" panose="02020603050405020304" pitchFamily="18" charset="0"/>
                <a:ea typeface="+mn-ea"/>
              </a:rPr>
              <a:t>0</a:t>
            </a:r>
            <a:r>
              <a:rPr lang="en-US" altLang="zh-CN" sz="2000" b="1" baseline="0" dirty="0">
                <a:solidFill>
                  <a:srgbClr val="0000CC"/>
                </a:solidFill>
                <a:latin typeface="Times New Roman" panose="02020603050405020304" pitchFamily="18" charset="0"/>
                <a:ea typeface="+mn-ea"/>
              </a:rPr>
              <a:t>=0</a:t>
            </a:r>
            <a:r>
              <a:rPr lang="zh-CN" altLang="en-US" sz="2000" b="1" baseline="0" dirty="0">
                <a:solidFill>
                  <a:srgbClr val="0000CC"/>
                </a:solidFill>
                <a:latin typeface="Times New Roman" panose="02020603050405020304" pitchFamily="18" charset="0"/>
                <a:ea typeface="+mn-ea"/>
              </a:rPr>
              <a:t>，   </a:t>
            </a:r>
            <a:r>
              <a:rPr lang="en-US" altLang="en-US" sz="2000" b="1" baseline="0" dirty="0">
                <a:solidFill>
                  <a:srgbClr val="0000CC"/>
                </a:solidFill>
                <a:latin typeface="Times New Roman" panose="02020603050405020304" pitchFamily="18" charset="0"/>
                <a:ea typeface="+mn-ea"/>
              </a:rPr>
              <a:t>等效短路</a:t>
            </a:r>
            <a:r>
              <a:rPr lang="en-US" altLang="zh-CN" sz="2000" b="1" baseline="0" dirty="0">
                <a:solidFill>
                  <a:srgbClr val="0000CC"/>
                </a:solidFill>
                <a:latin typeface="Times New Roman" panose="02020603050405020304" pitchFamily="18" charset="0"/>
                <a:ea typeface="+mn-ea"/>
              </a:rPr>
              <a:t>(</a:t>
            </a:r>
            <a:r>
              <a:rPr lang="en-US" altLang="zh-CN" sz="2000" b="1" i="1" baseline="0" dirty="0">
                <a:solidFill>
                  <a:srgbClr val="0000CC"/>
                </a:solidFill>
                <a:latin typeface="Times New Roman" panose="02020603050405020304" pitchFamily="18" charset="0"/>
                <a:ea typeface="+mn-ea"/>
              </a:rPr>
              <a:t>L</a:t>
            </a:r>
            <a:r>
              <a:rPr lang="en-US" altLang="zh-CN" sz="2000" b="1" baseline="-25000" dirty="0">
                <a:solidFill>
                  <a:srgbClr val="0000CC"/>
                </a:solidFill>
                <a:latin typeface="Times New Roman" panose="02020603050405020304" pitchFamily="18" charset="0"/>
                <a:ea typeface="+mn-ea"/>
              </a:rPr>
              <a:t>q</a:t>
            </a:r>
            <a:r>
              <a:rPr lang="zh-CN" altLang="en-US" sz="2000" b="1" baseline="0" dirty="0">
                <a:solidFill>
                  <a:srgbClr val="0000CC"/>
                </a:solidFill>
                <a:latin typeface="Times New Roman" panose="02020603050405020304" pitchFamily="18" charset="0"/>
                <a:ea typeface="+mn-ea"/>
              </a:rPr>
              <a:t>和</a:t>
            </a:r>
            <a:r>
              <a:rPr lang="en-US" altLang="zh-CN" sz="2000" b="1" i="1" baseline="0" dirty="0">
                <a:solidFill>
                  <a:srgbClr val="0000CC"/>
                </a:solidFill>
                <a:latin typeface="Times New Roman" panose="02020603050405020304" pitchFamily="18" charset="0"/>
                <a:ea typeface="+mn-ea"/>
              </a:rPr>
              <a:t>C</a:t>
            </a:r>
            <a:r>
              <a:rPr lang="en-US" altLang="zh-CN" sz="2000" b="1" baseline="-25000" dirty="0">
                <a:solidFill>
                  <a:srgbClr val="0000CC"/>
                </a:solidFill>
                <a:latin typeface="Times New Roman" panose="02020603050405020304" pitchFamily="18" charset="0"/>
                <a:ea typeface="+mn-ea"/>
              </a:rPr>
              <a:t>q</a:t>
            </a:r>
            <a:r>
              <a:rPr lang="zh-CN" altLang="en-US" sz="2000" b="1" baseline="0" dirty="0">
                <a:solidFill>
                  <a:srgbClr val="0000CC"/>
                </a:solidFill>
                <a:latin typeface="Times New Roman" panose="02020603050405020304" pitchFamily="18" charset="0"/>
                <a:ea typeface="+mn-ea"/>
              </a:rPr>
              <a:t>串联谐振</a:t>
            </a:r>
            <a:r>
              <a:rPr lang="en-US" altLang="zh-CN" sz="2000" b="1" baseline="0" dirty="0">
                <a:solidFill>
                  <a:srgbClr val="0000CC"/>
                </a:solidFill>
                <a:latin typeface="Times New Roman" panose="02020603050405020304" pitchFamily="18" charset="0"/>
                <a:ea typeface="+mn-ea"/>
              </a:rPr>
              <a:t>)</a:t>
            </a:r>
            <a:r>
              <a:rPr lang="zh-CN" altLang="en-US" sz="2000" b="1" baseline="0" dirty="0">
                <a:solidFill>
                  <a:srgbClr val="0000CC"/>
                </a:solidFill>
                <a:latin typeface="Times New Roman" panose="02020603050405020304" pitchFamily="18" charset="0"/>
                <a:ea typeface="+mn-ea"/>
              </a:rPr>
              <a:t>；</a:t>
            </a:r>
          </a:p>
          <a:p>
            <a:pPr>
              <a:lnSpc>
                <a:spcPct val="100000"/>
              </a:lnSpc>
            </a:pPr>
            <a:r>
              <a:rPr lang="zh-CN" altLang="en-US" sz="2000" b="1" baseline="0" dirty="0">
                <a:solidFill>
                  <a:srgbClr val="0000CC"/>
                </a:solidFill>
                <a:latin typeface="Times New Roman" panose="02020603050405020304" pitchFamily="18" charset="0"/>
                <a:ea typeface="+mn-ea"/>
              </a:rPr>
              <a:t>       当</a:t>
            </a:r>
            <a:r>
              <a:rPr lang="en-US" altLang="zh-CN" sz="2000" b="1" i="1" baseline="0" dirty="0">
                <a:solidFill>
                  <a:srgbClr val="0000CC"/>
                </a:solidFill>
                <a:latin typeface="Times New Roman" panose="02020603050405020304" pitchFamily="18" charset="0"/>
                <a:ea typeface="+mn-ea"/>
              </a:rPr>
              <a:t>ω</a:t>
            </a:r>
            <a:r>
              <a:rPr lang="en-US" altLang="zh-CN" sz="2000" b="1" baseline="0" dirty="0">
                <a:solidFill>
                  <a:srgbClr val="0000CC"/>
                </a:solidFill>
                <a:latin typeface="Times New Roman" panose="02020603050405020304" pitchFamily="18" charset="0"/>
                <a:ea typeface="+mn-ea"/>
              </a:rPr>
              <a:t>=</a:t>
            </a:r>
            <a:r>
              <a:rPr lang="en-US" altLang="zh-CN" sz="2000" b="1" i="1" baseline="0" dirty="0">
                <a:solidFill>
                  <a:srgbClr val="0000CC"/>
                </a:solidFill>
                <a:latin typeface="Times New Roman" panose="02020603050405020304" pitchFamily="18" charset="0"/>
                <a:ea typeface="+mn-ea"/>
              </a:rPr>
              <a:t>ω</a:t>
            </a:r>
            <a:r>
              <a:rPr lang="en-US" altLang="zh-CN" sz="2000" b="1" baseline="-25000" dirty="0">
                <a:solidFill>
                  <a:srgbClr val="0000CC"/>
                </a:solidFill>
                <a:latin typeface="Times New Roman" panose="02020603050405020304" pitchFamily="18" charset="0"/>
                <a:ea typeface="+mn-ea"/>
              </a:rPr>
              <a:t>p</a:t>
            </a:r>
            <a:r>
              <a:rPr lang="zh-CN" altLang="en-US" sz="2000" b="1" baseline="0" dirty="0">
                <a:solidFill>
                  <a:srgbClr val="0000CC"/>
                </a:solidFill>
                <a:latin typeface="Times New Roman" panose="02020603050405020304" pitchFamily="18" charset="0"/>
                <a:ea typeface="+mn-ea"/>
              </a:rPr>
              <a:t>时，</a:t>
            </a:r>
            <a:r>
              <a:rPr lang="en-US" altLang="zh-CN" sz="2000" b="1" i="1" baseline="0" dirty="0">
                <a:solidFill>
                  <a:srgbClr val="0000CC"/>
                </a:solidFill>
                <a:latin typeface="Times New Roman" panose="02020603050405020304" pitchFamily="18" charset="0"/>
                <a:ea typeface="+mn-ea"/>
              </a:rPr>
              <a:t>Z</a:t>
            </a:r>
            <a:r>
              <a:rPr lang="en-US" altLang="zh-CN" sz="2000" b="1" baseline="-25000" dirty="0">
                <a:solidFill>
                  <a:srgbClr val="0000CC"/>
                </a:solidFill>
                <a:latin typeface="Times New Roman" panose="02020603050405020304" pitchFamily="18" charset="0"/>
                <a:ea typeface="+mn-ea"/>
              </a:rPr>
              <a:t>0</a:t>
            </a:r>
            <a:r>
              <a:rPr lang="en-US" altLang="zh-CN" sz="2000" b="1" baseline="0" dirty="0">
                <a:solidFill>
                  <a:srgbClr val="0000CC"/>
                </a:solidFill>
                <a:latin typeface="Times New Roman" panose="02020603050405020304" pitchFamily="18" charset="0"/>
                <a:ea typeface="+mn-ea"/>
              </a:rPr>
              <a:t>=</a:t>
            </a:r>
            <a:r>
              <a:rPr lang="zh-CN" altLang="en-US" sz="2000" b="1" baseline="0" dirty="0">
                <a:solidFill>
                  <a:srgbClr val="0000CC"/>
                </a:solidFill>
                <a:latin typeface="Times New Roman" panose="02020603050405020304" pitchFamily="18" charset="0"/>
                <a:ea typeface="+mn-ea"/>
              </a:rPr>
              <a:t>∞，  等效开路</a:t>
            </a:r>
            <a:r>
              <a:rPr lang="en-US" altLang="zh-CN" sz="2000" b="1" baseline="0" dirty="0">
                <a:solidFill>
                  <a:srgbClr val="0000CC"/>
                </a:solidFill>
                <a:latin typeface="Times New Roman" panose="02020603050405020304" pitchFamily="18" charset="0"/>
                <a:ea typeface="+mn-ea"/>
              </a:rPr>
              <a:t>(</a:t>
            </a:r>
            <a:r>
              <a:rPr lang="zh-CN" altLang="en-US" sz="2000" b="1" baseline="0" dirty="0">
                <a:solidFill>
                  <a:srgbClr val="0000CC"/>
                </a:solidFill>
                <a:latin typeface="Times New Roman" panose="02020603050405020304" pitchFamily="18" charset="0"/>
                <a:ea typeface="+mn-ea"/>
              </a:rPr>
              <a:t>回路并联谐振</a:t>
            </a:r>
            <a:r>
              <a:rPr lang="en-US" altLang="zh-CN" sz="2000" b="1" baseline="0" dirty="0">
                <a:solidFill>
                  <a:srgbClr val="0000CC"/>
                </a:solidFill>
                <a:latin typeface="Times New Roman" panose="02020603050405020304" pitchFamily="18" charset="0"/>
                <a:ea typeface="+mn-ea"/>
              </a:rPr>
              <a:t>)</a:t>
            </a:r>
            <a:r>
              <a:rPr lang="zh-CN" altLang="en-US" sz="2000" b="1" baseline="0" dirty="0">
                <a:solidFill>
                  <a:srgbClr val="0000CC"/>
                </a:solidFill>
                <a:latin typeface="Times New Roman" panose="02020603050405020304" pitchFamily="18" charset="0"/>
                <a:ea typeface="+mn-ea"/>
              </a:rPr>
              <a:t>。</a:t>
            </a:r>
          </a:p>
          <a:p>
            <a:pPr>
              <a:lnSpc>
                <a:spcPct val="100000"/>
              </a:lnSpc>
            </a:pPr>
            <a:r>
              <a:rPr lang="zh-CN" altLang="en-US" sz="2000" b="1" baseline="0" dirty="0">
                <a:solidFill>
                  <a:srgbClr val="0000CC"/>
                </a:solidFill>
                <a:latin typeface="Times New Roman" panose="02020603050405020304" pitchFamily="18" charset="0"/>
                <a:ea typeface="+mn-ea"/>
              </a:rPr>
              <a:t>       当</a:t>
            </a:r>
            <a:r>
              <a:rPr lang="en-US" altLang="zh-CN" sz="2000" b="1" i="1" baseline="0" dirty="0">
                <a:solidFill>
                  <a:srgbClr val="0000CC"/>
                </a:solidFill>
                <a:latin typeface="Times New Roman" panose="02020603050405020304" pitchFamily="18" charset="0"/>
                <a:ea typeface="+mn-ea"/>
              </a:rPr>
              <a:t>ω</a:t>
            </a:r>
            <a:r>
              <a:rPr lang="en-US" altLang="zh-CN" sz="2000" b="1" baseline="0" dirty="0">
                <a:solidFill>
                  <a:srgbClr val="0000CC"/>
                </a:solidFill>
                <a:latin typeface="Times New Roman" panose="02020603050405020304" pitchFamily="18" charset="0"/>
                <a:ea typeface="+mn-ea"/>
              </a:rPr>
              <a:t>&gt;</a:t>
            </a:r>
            <a:r>
              <a:rPr lang="en-US" altLang="zh-CN" sz="2000" b="1" i="1" baseline="0" dirty="0">
                <a:solidFill>
                  <a:srgbClr val="0000CC"/>
                </a:solidFill>
                <a:latin typeface="Times New Roman" panose="02020603050405020304" pitchFamily="18" charset="0"/>
                <a:ea typeface="+mn-ea"/>
              </a:rPr>
              <a:t>ω</a:t>
            </a:r>
            <a:r>
              <a:rPr lang="en-US" altLang="zh-CN" sz="2000" b="1" baseline="-25000" dirty="0">
                <a:solidFill>
                  <a:srgbClr val="0000CC"/>
                </a:solidFill>
                <a:latin typeface="Times New Roman" panose="02020603050405020304" pitchFamily="18" charset="0"/>
                <a:ea typeface="+mn-ea"/>
              </a:rPr>
              <a:t>p</a:t>
            </a:r>
            <a:r>
              <a:rPr lang="zh-CN" altLang="en-US" sz="2000" b="1" baseline="0" dirty="0">
                <a:solidFill>
                  <a:srgbClr val="0000CC"/>
                </a:solidFill>
                <a:latin typeface="Times New Roman" panose="02020603050405020304" pitchFamily="18" charset="0"/>
                <a:ea typeface="+mn-ea"/>
              </a:rPr>
              <a:t>，</a:t>
            </a:r>
            <a:r>
              <a:rPr lang="en-US" altLang="zh-CN" sz="2000" b="1" i="1" baseline="0" dirty="0">
                <a:solidFill>
                  <a:srgbClr val="0000CC"/>
                </a:solidFill>
                <a:latin typeface="Times New Roman" panose="02020603050405020304" pitchFamily="18" charset="0"/>
                <a:ea typeface="+mn-ea"/>
              </a:rPr>
              <a:t>ω</a:t>
            </a:r>
            <a:r>
              <a:rPr lang="en-US" altLang="zh-CN" sz="2000" b="1" baseline="0" dirty="0">
                <a:solidFill>
                  <a:srgbClr val="0000CC"/>
                </a:solidFill>
                <a:latin typeface="Times New Roman" panose="02020603050405020304" pitchFamily="18" charset="0"/>
                <a:ea typeface="+mn-ea"/>
              </a:rPr>
              <a:t>&lt;</a:t>
            </a:r>
            <a:r>
              <a:rPr lang="en-US" altLang="zh-CN" sz="2000" b="1" i="1" baseline="0" dirty="0">
                <a:solidFill>
                  <a:srgbClr val="0000CC"/>
                </a:solidFill>
                <a:latin typeface="Times New Roman" panose="02020603050405020304" pitchFamily="18" charset="0"/>
                <a:ea typeface="+mn-ea"/>
              </a:rPr>
              <a:t>ω</a:t>
            </a:r>
            <a:r>
              <a:rPr lang="en-US" altLang="zh-CN" sz="2000" b="1" baseline="-25000" dirty="0">
                <a:solidFill>
                  <a:srgbClr val="0000CC"/>
                </a:solidFill>
                <a:latin typeface="Times New Roman" panose="02020603050405020304" pitchFamily="18" charset="0"/>
                <a:ea typeface="+mn-ea"/>
              </a:rPr>
              <a:t>q</a:t>
            </a:r>
            <a:r>
              <a:rPr lang="zh-CN" altLang="en-US" sz="2000" b="1" baseline="0" dirty="0">
                <a:solidFill>
                  <a:srgbClr val="0000CC"/>
                </a:solidFill>
                <a:latin typeface="Times New Roman" panose="02020603050405020304" pitchFamily="18" charset="0"/>
                <a:ea typeface="+mn-ea"/>
              </a:rPr>
              <a:t>时，  </a:t>
            </a:r>
            <a:r>
              <a:rPr lang="en-US" altLang="zh-CN" sz="2000" b="1" i="1" baseline="0" dirty="0">
                <a:solidFill>
                  <a:srgbClr val="0000CC"/>
                </a:solidFill>
                <a:latin typeface="Times New Roman" panose="02020603050405020304" pitchFamily="18" charset="0"/>
                <a:ea typeface="+mn-ea"/>
              </a:rPr>
              <a:t>Z</a:t>
            </a:r>
            <a:r>
              <a:rPr lang="en-US" altLang="zh-CN" sz="2000" b="1" baseline="-25000" dirty="0">
                <a:solidFill>
                  <a:srgbClr val="0000CC"/>
                </a:solidFill>
                <a:latin typeface="Times New Roman" panose="02020603050405020304" pitchFamily="18" charset="0"/>
                <a:ea typeface="+mn-ea"/>
              </a:rPr>
              <a:t>0</a:t>
            </a:r>
            <a:r>
              <a:rPr lang="zh-CN" altLang="en-US" sz="2000" b="1" baseline="0" dirty="0">
                <a:solidFill>
                  <a:srgbClr val="0000CC"/>
                </a:solidFill>
                <a:latin typeface="Times New Roman" panose="02020603050405020304" pitchFamily="18" charset="0"/>
                <a:ea typeface="+mn-ea"/>
              </a:rPr>
              <a:t>为容性；</a:t>
            </a:r>
          </a:p>
          <a:p>
            <a:pPr>
              <a:lnSpc>
                <a:spcPct val="100000"/>
              </a:lnSpc>
            </a:pPr>
            <a:r>
              <a:rPr lang="zh-CN" altLang="en-US" sz="2000" b="1" baseline="0" dirty="0">
                <a:solidFill>
                  <a:srgbClr val="0000CC"/>
                </a:solidFill>
                <a:latin typeface="Times New Roman" panose="02020603050405020304" pitchFamily="18" charset="0"/>
                <a:ea typeface="+mn-ea"/>
              </a:rPr>
              <a:t>       当</a:t>
            </a:r>
            <a:r>
              <a:rPr lang="en-US" altLang="zh-CN" sz="2000" b="1" i="1" baseline="0" dirty="0">
                <a:solidFill>
                  <a:srgbClr val="0000CC"/>
                </a:solidFill>
                <a:latin typeface="Times New Roman" panose="02020603050405020304" pitchFamily="18" charset="0"/>
                <a:ea typeface="+mn-ea"/>
              </a:rPr>
              <a:t>ω</a:t>
            </a:r>
            <a:r>
              <a:rPr lang="en-US" altLang="zh-CN" sz="2000" b="1" baseline="-25000" dirty="0">
                <a:solidFill>
                  <a:srgbClr val="0000CC"/>
                </a:solidFill>
                <a:latin typeface="Times New Roman" panose="02020603050405020304" pitchFamily="18" charset="0"/>
                <a:ea typeface="+mn-ea"/>
              </a:rPr>
              <a:t>q</a:t>
            </a:r>
            <a:r>
              <a:rPr lang="en-US" altLang="zh-CN" sz="2000" b="1" baseline="0" dirty="0">
                <a:solidFill>
                  <a:srgbClr val="0000CC"/>
                </a:solidFill>
                <a:latin typeface="Times New Roman" panose="02020603050405020304" pitchFamily="18" charset="0"/>
                <a:ea typeface="+mn-ea"/>
              </a:rPr>
              <a:t>&lt;</a:t>
            </a:r>
            <a:r>
              <a:rPr lang="en-US" altLang="zh-CN" sz="2000" b="1" i="1" baseline="0" dirty="0">
                <a:solidFill>
                  <a:srgbClr val="0000CC"/>
                </a:solidFill>
                <a:latin typeface="Times New Roman" panose="02020603050405020304" pitchFamily="18" charset="0"/>
                <a:ea typeface="+mn-ea"/>
              </a:rPr>
              <a:t>ω</a:t>
            </a:r>
            <a:r>
              <a:rPr lang="en-US" altLang="zh-CN" sz="2000" b="1" baseline="0" dirty="0">
                <a:solidFill>
                  <a:srgbClr val="0000CC"/>
                </a:solidFill>
                <a:latin typeface="Times New Roman" panose="02020603050405020304" pitchFamily="18" charset="0"/>
                <a:ea typeface="+mn-ea"/>
              </a:rPr>
              <a:t>&lt;</a:t>
            </a:r>
            <a:r>
              <a:rPr lang="en-US" altLang="zh-CN" sz="2000" b="1" i="1" baseline="0" dirty="0">
                <a:solidFill>
                  <a:srgbClr val="0000CC"/>
                </a:solidFill>
                <a:latin typeface="Times New Roman" panose="02020603050405020304" pitchFamily="18" charset="0"/>
                <a:ea typeface="+mn-ea"/>
              </a:rPr>
              <a:t>ω</a:t>
            </a:r>
            <a:r>
              <a:rPr lang="en-US" altLang="zh-CN" sz="2000" b="1" baseline="-25000" dirty="0">
                <a:solidFill>
                  <a:srgbClr val="0000CC"/>
                </a:solidFill>
                <a:latin typeface="Times New Roman" panose="02020603050405020304" pitchFamily="18" charset="0"/>
                <a:ea typeface="+mn-ea"/>
              </a:rPr>
              <a:t>p</a:t>
            </a:r>
            <a:r>
              <a:rPr lang="en-US" altLang="zh-CN" sz="2000" b="1" dirty="0">
                <a:solidFill>
                  <a:srgbClr val="0000CC"/>
                </a:solidFill>
                <a:latin typeface="Times New Roman" panose="02020603050405020304" pitchFamily="18" charset="0"/>
                <a:ea typeface="+mn-ea"/>
              </a:rPr>
              <a:t> </a:t>
            </a:r>
            <a:r>
              <a:rPr lang="zh-CN" altLang="en-US" sz="2000" b="1" baseline="0" dirty="0">
                <a:solidFill>
                  <a:srgbClr val="0000CC"/>
                </a:solidFill>
                <a:latin typeface="Times New Roman" panose="02020603050405020304" pitchFamily="18" charset="0"/>
                <a:ea typeface="+mn-ea"/>
              </a:rPr>
              <a:t>时，        </a:t>
            </a:r>
            <a:r>
              <a:rPr lang="en-US" altLang="zh-CN" sz="2000" b="1" i="1" baseline="0" dirty="0">
                <a:solidFill>
                  <a:srgbClr val="0000CC"/>
                </a:solidFill>
                <a:latin typeface="Times New Roman" panose="02020603050405020304" pitchFamily="18" charset="0"/>
                <a:ea typeface="+mn-ea"/>
              </a:rPr>
              <a:t>Z</a:t>
            </a:r>
            <a:r>
              <a:rPr lang="en-US" altLang="zh-CN" sz="2000" b="1" baseline="-25000" dirty="0">
                <a:solidFill>
                  <a:srgbClr val="0000CC"/>
                </a:solidFill>
                <a:latin typeface="Times New Roman" panose="02020603050405020304" pitchFamily="18" charset="0"/>
                <a:ea typeface="+mn-ea"/>
              </a:rPr>
              <a:t>0</a:t>
            </a:r>
            <a:r>
              <a:rPr lang="zh-CN" altLang="en-US" sz="2000" b="1" baseline="0" dirty="0">
                <a:solidFill>
                  <a:srgbClr val="0000CC"/>
                </a:solidFill>
                <a:latin typeface="Times New Roman" panose="02020603050405020304" pitchFamily="18" charset="0"/>
                <a:ea typeface="+mn-ea"/>
              </a:rPr>
              <a:t>为感性，对应电抗曲线如右上图。</a:t>
            </a:r>
          </a:p>
        </p:txBody>
      </p:sp>
    </p:spTree>
    <p:extLst>
      <p:ext uri="{BB962C8B-B14F-4D97-AF65-F5344CB8AC3E}">
        <p14:creationId xmlns:p14="http://schemas.microsoft.com/office/powerpoint/2010/main" val="1118823283"/>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76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Rectangle 7"/>
          <p:cNvSpPr>
            <a:spLocks noChangeArrowheads="1"/>
          </p:cNvSpPr>
          <p:nvPr/>
        </p:nvSpPr>
        <p:spPr bwMode="auto">
          <a:xfrm>
            <a:off x="635000" y="1557338"/>
            <a:ext cx="7848600" cy="4228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defRPr/>
            </a:pPr>
            <a:r>
              <a:rPr lang="en-US" altLang="zh-CN" sz="3200" dirty="0" smtClean="0">
                <a:ln w="0"/>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1  </a:t>
            </a:r>
            <a:r>
              <a:rPr lang="zh-CN" altLang="en-US" sz="3200" dirty="0" smtClean="0">
                <a:ln w="0"/>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通信电子线路概论</a:t>
            </a:r>
            <a:endParaRPr lang="en-US" altLang="zh-CN" sz="3200" dirty="0" smtClean="0">
              <a:ln w="0"/>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endParaRPr>
          </a:p>
          <a:p>
            <a:pPr fontAlgn="base">
              <a:lnSpc>
                <a:spcPct val="120000"/>
              </a:lnSpc>
              <a:spcBef>
                <a:spcPct val="0"/>
              </a:spcBef>
              <a:spcAft>
                <a:spcPct val="0"/>
              </a:spcAft>
              <a:buFontTx/>
              <a:buNone/>
              <a:defRPr/>
            </a:pPr>
            <a:r>
              <a:rPr lang="en-US" altLang="zh-CN" sz="3200" dirty="0">
                <a:ln w="0"/>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2  </a:t>
            </a:r>
            <a:r>
              <a:rPr lang="zh-CN" altLang="en-US" sz="3200" dirty="0">
                <a:ln w="0"/>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高频基础电路</a:t>
            </a:r>
          </a:p>
          <a:p>
            <a:pPr fontAlgn="base">
              <a:lnSpc>
                <a:spcPct val="120000"/>
              </a:lnSpc>
              <a:spcBef>
                <a:spcPct val="0"/>
              </a:spcBef>
              <a:spcAft>
                <a:spcPct val="0"/>
              </a:spcAft>
              <a:buNone/>
              <a:defRPr/>
            </a:pPr>
            <a:r>
              <a:rPr lang="en-US" altLang="zh-CN" sz="3200" dirty="0" smtClean="0">
                <a:ln w="0"/>
                <a:solidFill>
                  <a:srgbClr val="FF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3  </a:t>
            </a:r>
            <a:r>
              <a:rPr lang="zh-CN" altLang="en-US" sz="3200" dirty="0" smtClean="0">
                <a:ln w="0"/>
                <a:solidFill>
                  <a:srgbClr val="FF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高频</a:t>
            </a:r>
            <a:r>
              <a:rPr lang="zh-CN" altLang="en-US" sz="3200" dirty="0">
                <a:ln w="0"/>
                <a:solidFill>
                  <a:srgbClr val="FF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小信号</a:t>
            </a:r>
            <a:r>
              <a:rPr lang="zh-CN" altLang="en-US" sz="3200" dirty="0" smtClean="0">
                <a:ln w="0"/>
                <a:solidFill>
                  <a:srgbClr val="FF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放大器</a:t>
            </a:r>
          </a:p>
          <a:p>
            <a:pPr fontAlgn="base">
              <a:lnSpc>
                <a:spcPct val="120000"/>
              </a:lnSpc>
              <a:spcBef>
                <a:spcPct val="0"/>
              </a:spcBef>
              <a:spcAft>
                <a:spcPct val="0"/>
              </a:spcAft>
              <a:buFontTx/>
              <a:buNone/>
              <a:defRPr/>
            </a:pPr>
            <a:r>
              <a:rPr lang="en-US" altLang="zh-CN" sz="3200" dirty="0" smtClean="0">
                <a:ln w="0"/>
                <a:solidFill>
                  <a:srgbClr val="00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4  </a:t>
            </a:r>
            <a:r>
              <a:rPr lang="zh-CN" altLang="en-US" sz="3200" dirty="0" smtClean="0">
                <a:ln w="0"/>
                <a:solidFill>
                  <a:srgbClr val="00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谐振功率放大器</a:t>
            </a:r>
          </a:p>
          <a:p>
            <a:pPr fontAlgn="base">
              <a:lnSpc>
                <a:spcPct val="120000"/>
              </a:lnSpc>
              <a:spcBef>
                <a:spcPct val="0"/>
              </a:spcBef>
              <a:spcAft>
                <a:spcPct val="0"/>
              </a:spcAft>
              <a:buFontTx/>
              <a:buNone/>
              <a:defRPr/>
            </a:pPr>
            <a:r>
              <a:rPr lang="en-US" altLang="zh-CN" sz="3200" dirty="0" smtClean="0">
                <a:ln w="0"/>
                <a:solidFill>
                  <a:srgbClr val="00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5  </a:t>
            </a:r>
            <a:r>
              <a:rPr lang="zh-CN" altLang="en-US" sz="3200" dirty="0" smtClean="0">
                <a:ln w="0"/>
                <a:solidFill>
                  <a:srgbClr val="00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正弦波振荡器</a:t>
            </a:r>
          </a:p>
          <a:p>
            <a:pPr fontAlgn="base">
              <a:lnSpc>
                <a:spcPct val="120000"/>
              </a:lnSpc>
              <a:spcBef>
                <a:spcPct val="0"/>
              </a:spcBef>
              <a:spcAft>
                <a:spcPct val="0"/>
              </a:spcAft>
              <a:buNone/>
              <a:defRPr/>
            </a:pPr>
            <a:r>
              <a:rPr lang="en-US" altLang="zh-CN" sz="3200" dirty="0" smtClean="0">
                <a:ln w="0"/>
                <a:solidFill>
                  <a:srgbClr val="00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6  </a:t>
            </a:r>
            <a:r>
              <a:rPr lang="zh-CN" altLang="en-US" sz="3200" dirty="0" smtClean="0">
                <a:ln w="0"/>
                <a:solidFill>
                  <a:srgbClr val="00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振幅调制</a:t>
            </a:r>
            <a:r>
              <a:rPr lang="zh-CN" altLang="en-US" sz="3200" dirty="0">
                <a:ln w="0"/>
                <a:solidFill>
                  <a:srgbClr val="00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与</a:t>
            </a:r>
            <a:r>
              <a:rPr lang="zh-CN" altLang="en-US" sz="3200" dirty="0" smtClean="0">
                <a:ln w="0"/>
                <a:solidFill>
                  <a:srgbClr val="00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解调</a:t>
            </a:r>
            <a:endParaRPr lang="en-US" altLang="zh-CN" sz="3200" dirty="0" smtClean="0">
              <a:ln w="0"/>
              <a:solidFill>
                <a:srgbClr val="00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endParaRPr>
          </a:p>
          <a:p>
            <a:pPr fontAlgn="base">
              <a:lnSpc>
                <a:spcPct val="120000"/>
              </a:lnSpc>
              <a:spcBef>
                <a:spcPct val="0"/>
              </a:spcBef>
              <a:spcAft>
                <a:spcPct val="0"/>
              </a:spcAft>
              <a:buNone/>
              <a:defRPr/>
            </a:pPr>
            <a:r>
              <a:rPr lang="en-US" altLang="zh-CN" sz="3200" dirty="0" smtClean="0">
                <a:ln w="0"/>
                <a:solidFill>
                  <a:srgbClr val="00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7  </a:t>
            </a:r>
            <a:r>
              <a:rPr lang="zh-CN" altLang="en-US" sz="3200" dirty="0" smtClean="0">
                <a:ln w="0"/>
                <a:solidFill>
                  <a:srgbClr val="00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角度</a:t>
            </a:r>
            <a:r>
              <a:rPr lang="zh-CN" altLang="en-US" sz="3200" dirty="0">
                <a:ln w="0"/>
                <a:solidFill>
                  <a:srgbClr val="00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调制与</a:t>
            </a:r>
            <a:r>
              <a:rPr lang="zh-CN" altLang="en-US" sz="3200" dirty="0" smtClean="0">
                <a:ln w="0"/>
                <a:solidFill>
                  <a:srgbClr val="00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解调</a:t>
            </a:r>
          </a:p>
        </p:txBody>
      </p:sp>
      <p:sp>
        <p:nvSpPr>
          <p:cNvPr id="5"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目录</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344325761"/>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77</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3.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高频</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小信号</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放大器</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5" name="图片 4" descr="未命名">
            <a:extLst>
              <a:ext uri="{FF2B5EF4-FFF2-40B4-BE49-F238E27FC236}">
                <a16:creationId xmlns="" xmlns:a16="http://schemas.microsoft.com/office/drawing/2014/main" id="{6C7C61D2-ABF8-FADD-03C5-A96A4B0E0057}"/>
              </a:ext>
            </a:extLst>
          </p:cNvPr>
          <p:cNvPicPr>
            <a:picLocks noChangeAspect="1"/>
          </p:cNvPicPr>
          <p:nvPr/>
        </p:nvPicPr>
        <p:blipFill>
          <a:blip r:embed="rId2"/>
          <a:stretch>
            <a:fillRect/>
          </a:stretch>
        </p:blipFill>
        <p:spPr>
          <a:xfrm>
            <a:off x="2174018" y="4489109"/>
            <a:ext cx="4538663" cy="1436688"/>
          </a:xfrm>
          <a:prstGeom prst="rect">
            <a:avLst/>
          </a:prstGeom>
          <a:noFill/>
          <a:ln w="9525">
            <a:noFill/>
          </a:ln>
        </p:spPr>
      </p:pic>
      <p:sp>
        <p:nvSpPr>
          <p:cNvPr id="6" name="文本框 5">
            <a:extLst>
              <a:ext uri="{FF2B5EF4-FFF2-40B4-BE49-F238E27FC236}">
                <a16:creationId xmlns="" xmlns:a16="http://schemas.microsoft.com/office/drawing/2014/main" id="{99194C17-86DA-31FC-AC91-8000945B880C}"/>
              </a:ext>
            </a:extLst>
          </p:cNvPr>
          <p:cNvSpPr txBox="1"/>
          <p:nvPr/>
        </p:nvSpPr>
        <p:spPr>
          <a:xfrm>
            <a:off x="313580" y="1368616"/>
            <a:ext cx="6477000" cy="462307"/>
          </a:xfrm>
          <a:prstGeom prst="rect">
            <a:avLst/>
          </a:prstGeom>
          <a:noFill/>
          <a:ln w="12700">
            <a:noFill/>
          </a:ln>
        </p:spPr>
        <p:txBody>
          <a:bodyPr lIns="92075" tIns="46038" rIns="92075" bIns="46038" anchor="t" anchorCtr="0">
            <a:spAutoFit/>
          </a:bodyPr>
          <a:lstStyle/>
          <a:p>
            <a:pPr eaLnBrk="0" hangingPunct="0">
              <a:spcBef>
                <a:spcPct val="50000"/>
              </a:spcBef>
            </a:pPr>
            <a:r>
              <a:rPr lang="zh-CN" altLang="en-US" sz="2400" b="1" dirty="0" smtClean="0">
                <a:solidFill>
                  <a:schemeClr val="tx1"/>
                </a:solidFill>
                <a:latin typeface="+mn-ea"/>
                <a:ea typeface="+mn-ea"/>
              </a:rPr>
              <a:t>高频</a:t>
            </a:r>
            <a:r>
              <a:rPr lang="zh-CN" altLang="en-US" sz="2400" b="1" dirty="0">
                <a:solidFill>
                  <a:schemeClr val="tx1"/>
                </a:solidFill>
                <a:latin typeface="+mn-ea"/>
                <a:ea typeface="+mn-ea"/>
              </a:rPr>
              <a:t>小信号放大器的功能</a:t>
            </a:r>
          </a:p>
        </p:txBody>
      </p:sp>
      <p:sp>
        <p:nvSpPr>
          <p:cNvPr id="7" name="矩形 6">
            <a:extLst>
              <a:ext uri="{FF2B5EF4-FFF2-40B4-BE49-F238E27FC236}">
                <a16:creationId xmlns="" xmlns:a16="http://schemas.microsoft.com/office/drawing/2014/main" id="{F09F4C31-5C77-D60A-E3A7-78F67DC094E9}"/>
              </a:ext>
            </a:extLst>
          </p:cNvPr>
          <p:cNvSpPr/>
          <p:nvPr/>
        </p:nvSpPr>
        <p:spPr>
          <a:xfrm>
            <a:off x="973633" y="1878992"/>
            <a:ext cx="6880225" cy="476669"/>
          </a:xfrm>
          <a:prstGeom prst="rect">
            <a:avLst/>
          </a:prstGeom>
          <a:noFill/>
          <a:ln w="9525">
            <a:noFill/>
          </a:ln>
        </p:spPr>
        <p:txBody>
          <a:bodyPr anchor="ctr" anchorCtr="0">
            <a:spAutoFit/>
          </a:bodyPr>
          <a:lstStyle/>
          <a:p>
            <a:pPr>
              <a:lnSpc>
                <a:spcPct val="120000"/>
              </a:lnSpc>
            </a:pPr>
            <a:r>
              <a:rPr lang="zh-CN" altLang="en-US" sz="2400" b="1" dirty="0">
                <a:solidFill>
                  <a:srgbClr val="FF0000"/>
                </a:solidFill>
                <a:latin typeface="+mn-ea"/>
                <a:ea typeface="+mn-ea"/>
              </a:rPr>
              <a:t>实现对微弱的高频信号进行不失真的放大</a:t>
            </a:r>
          </a:p>
        </p:txBody>
      </p:sp>
      <p:sp>
        <p:nvSpPr>
          <p:cNvPr id="8" name="矩形 7">
            <a:extLst>
              <a:ext uri="{FF2B5EF4-FFF2-40B4-BE49-F238E27FC236}">
                <a16:creationId xmlns="" xmlns:a16="http://schemas.microsoft.com/office/drawing/2014/main" id="{CBA330E9-EC91-7EAF-74E3-243ADC7B2B44}"/>
              </a:ext>
            </a:extLst>
          </p:cNvPr>
          <p:cNvSpPr/>
          <p:nvPr/>
        </p:nvSpPr>
        <p:spPr>
          <a:xfrm>
            <a:off x="313580" y="2538944"/>
            <a:ext cx="8647540" cy="1631216"/>
          </a:xfrm>
          <a:prstGeom prst="rect">
            <a:avLst/>
          </a:prstGeom>
          <a:noFill/>
          <a:ln w="9525">
            <a:noFill/>
          </a:ln>
        </p:spPr>
        <p:txBody>
          <a:bodyPr wrap="square" anchor="t" anchorCtr="0">
            <a:spAutoFit/>
          </a:bodyPr>
          <a:lstStyle/>
          <a:p>
            <a:r>
              <a:rPr lang="zh-CN" altLang="en-US" sz="2000" b="1" dirty="0">
                <a:solidFill>
                  <a:schemeClr val="tx1"/>
                </a:solidFill>
                <a:latin typeface="+mn-ea"/>
                <a:ea typeface="+mn-ea"/>
              </a:rPr>
              <a:t>高频：指被放大信号的频率在几百</a:t>
            </a:r>
            <a:r>
              <a:rPr lang="en-US" altLang="zh-CN" sz="2000" b="1" dirty="0" err="1">
                <a:solidFill>
                  <a:schemeClr val="tx1"/>
                </a:solidFill>
                <a:latin typeface="+mn-ea"/>
                <a:ea typeface="+mn-ea"/>
              </a:rPr>
              <a:t>KHz</a:t>
            </a:r>
            <a:r>
              <a:rPr lang="zh-CN" altLang="en-US" sz="2000" b="1" dirty="0">
                <a:solidFill>
                  <a:schemeClr val="tx1"/>
                </a:solidFill>
                <a:latin typeface="+mn-ea"/>
                <a:ea typeface="+mn-ea"/>
              </a:rPr>
              <a:t>～几百</a:t>
            </a:r>
            <a:r>
              <a:rPr lang="en-US" altLang="zh-CN" sz="2000" b="1" dirty="0">
                <a:solidFill>
                  <a:schemeClr val="tx1"/>
                </a:solidFill>
                <a:latin typeface="+mn-ea"/>
                <a:ea typeface="+mn-ea"/>
              </a:rPr>
              <a:t>MHz;</a:t>
            </a:r>
            <a:r>
              <a:rPr lang="zh-CN" altLang="en-US" sz="2000" b="1" dirty="0">
                <a:solidFill>
                  <a:schemeClr val="tx1"/>
                </a:solidFill>
                <a:latin typeface="+mn-ea"/>
                <a:ea typeface="+mn-ea"/>
              </a:rPr>
              <a:t>频谱宽度在几</a:t>
            </a:r>
            <a:r>
              <a:rPr lang="en-US" altLang="zh-CN" sz="2000" b="1" dirty="0">
                <a:solidFill>
                  <a:schemeClr val="tx1"/>
                </a:solidFill>
                <a:latin typeface="+mn-ea"/>
                <a:ea typeface="+mn-ea"/>
              </a:rPr>
              <a:t>kHz</a:t>
            </a:r>
            <a:r>
              <a:rPr lang="zh-CN" altLang="en-US" sz="2000" b="1" dirty="0">
                <a:solidFill>
                  <a:schemeClr val="tx1"/>
                </a:solidFill>
                <a:latin typeface="+mn-ea"/>
                <a:ea typeface="+mn-ea"/>
              </a:rPr>
              <a:t>到几十</a:t>
            </a:r>
            <a:r>
              <a:rPr lang="en-US" altLang="zh-CN" sz="2000" b="1" dirty="0">
                <a:solidFill>
                  <a:schemeClr val="tx1"/>
                </a:solidFill>
                <a:latin typeface="+mn-ea"/>
                <a:ea typeface="+mn-ea"/>
              </a:rPr>
              <a:t>MHz</a:t>
            </a:r>
            <a:r>
              <a:rPr lang="zh-CN" altLang="en-US" sz="2000" b="1" dirty="0">
                <a:solidFill>
                  <a:schemeClr val="tx1"/>
                </a:solidFill>
                <a:latin typeface="+mn-ea"/>
                <a:ea typeface="+mn-ea"/>
              </a:rPr>
              <a:t>的范围内</a:t>
            </a:r>
            <a:r>
              <a:rPr lang="en-US" altLang="zh-CN" sz="2000" b="1" dirty="0">
                <a:solidFill>
                  <a:schemeClr val="tx1"/>
                </a:solidFill>
                <a:latin typeface="+mn-ea"/>
                <a:ea typeface="+mn-ea"/>
              </a:rPr>
              <a:t>)</a:t>
            </a:r>
            <a:r>
              <a:rPr lang="zh-CN" altLang="en-US" sz="2000" b="1" dirty="0">
                <a:solidFill>
                  <a:schemeClr val="tx1"/>
                </a:solidFill>
                <a:latin typeface="+mn-ea"/>
                <a:ea typeface="+mn-ea"/>
              </a:rPr>
              <a:t>；</a:t>
            </a:r>
            <a:endParaRPr lang="en-US" altLang="zh-CN" sz="2000" b="1" dirty="0">
              <a:solidFill>
                <a:schemeClr val="tx1"/>
              </a:solidFill>
              <a:latin typeface="+mn-ea"/>
              <a:ea typeface="+mn-ea"/>
            </a:endParaRPr>
          </a:p>
          <a:p>
            <a:endParaRPr lang="en-US" altLang="zh-CN" sz="2000" b="1" dirty="0">
              <a:solidFill>
                <a:schemeClr val="tx1"/>
              </a:solidFill>
              <a:latin typeface="+mn-ea"/>
              <a:ea typeface="+mn-ea"/>
            </a:endParaRPr>
          </a:p>
          <a:p>
            <a:r>
              <a:rPr lang="zh-CN" altLang="en-US" sz="2000" dirty="0">
                <a:solidFill>
                  <a:schemeClr val="tx1"/>
                </a:solidFill>
                <a:latin typeface="+mn-ea"/>
                <a:ea typeface="+mn-ea"/>
              </a:rPr>
              <a:t>小信号：指放大器输入信号小，有源器件工作</a:t>
            </a:r>
            <a:r>
              <a:rPr lang="zh-CN" altLang="en-US" sz="2000" dirty="0">
                <a:solidFill>
                  <a:srgbClr val="FF0000"/>
                </a:solidFill>
                <a:latin typeface="+mn-ea"/>
                <a:ea typeface="+mn-ea"/>
              </a:rPr>
              <a:t>在线性   </a:t>
            </a:r>
          </a:p>
          <a:p>
            <a:r>
              <a:rPr lang="zh-CN" altLang="en-US" sz="2000" dirty="0">
                <a:solidFill>
                  <a:srgbClr val="FF0000"/>
                </a:solidFill>
                <a:latin typeface="+mn-ea"/>
                <a:ea typeface="+mn-ea"/>
              </a:rPr>
              <a:t>范围内</a:t>
            </a:r>
            <a:r>
              <a:rPr lang="en-US" altLang="zh-CN" sz="2000" dirty="0">
                <a:solidFill>
                  <a:srgbClr val="FF0000"/>
                </a:solidFill>
                <a:latin typeface="+mn-ea"/>
                <a:ea typeface="+mn-ea"/>
              </a:rPr>
              <a:t>(</a:t>
            </a:r>
            <a:r>
              <a:rPr lang="zh-CN" altLang="en-US" sz="2000" dirty="0">
                <a:solidFill>
                  <a:srgbClr val="FF0000"/>
                </a:solidFill>
                <a:latin typeface="+mn-ea"/>
                <a:ea typeface="+mn-ea"/>
              </a:rPr>
              <a:t>甲类放大器</a:t>
            </a:r>
            <a:r>
              <a:rPr lang="en-US" altLang="zh-CN" sz="2000" dirty="0">
                <a:solidFill>
                  <a:srgbClr val="FF0000"/>
                </a:solidFill>
                <a:latin typeface="+mn-ea"/>
                <a:ea typeface="+mn-ea"/>
              </a:rPr>
              <a:t>)</a:t>
            </a:r>
            <a:r>
              <a:rPr lang="zh-CN" altLang="en-US" sz="2000" dirty="0">
                <a:solidFill>
                  <a:schemeClr val="tx1"/>
                </a:solidFill>
                <a:latin typeface="+mn-ea"/>
                <a:ea typeface="+mn-ea"/>
              </a:rPr>
              <a:t>，分析电路时可采用有源四端网络分析法分析；</a:t>
            </a:r>
            <a:endParaRPr lang="zh-CN" altLang="en-US" sz="2000" b="1" dirty="0">
              <a:solidFill>
                <a:schemeClr val="tx1"/>
              </a:solidFill>
              <a:latin typeface="+mn-ea"/>
              <a:ea typeface="+mn-ea"/>
            </a:endParaRPr>
          </a:p>
        </p:txBody>
      </p:sp>
      <p:sp>
        <p:nvSpPr>
          <p:cNvPr id="9" name="矩形 316426">
            <a:extLst>
              <a:ext uri="{FF2B5EF4-FFF2-40B4-BE49-F238E27FC236}">
                <a16:creationId xmlns="" xmlns:a16="http://schemas.microsoft.com/office/drawing/2014/main" id="{1C60419F-562D-A311-D2AF-2DC8D3F147F5}"/>
              </a:ext>
            </a:extLst>
          </p:cNvPr>
          <p:cNvSpPr/>
          <p:nvPr/>
        </p:nvSpPr>
        <p:spPr>
          <a:xfrm>
            <a:off x="1739664" y="4240999"/>
            <a:ext cx="5251520" cy="400050"/>
          </a:xfrm>
          <a:prstGeom prst="rect">
            <a:avLst/>
          </a:prstGeom>
          <a:noFill/>
          <a:ln w="9525">
            <a:noFill/>
          </a:ln>
        </p:spPr>
        <p:txBody>
          <a:bodyPr anchor="t" anchorCtr="0">
            <a:spAutoFit/>
          </a:bodyPr>
          <a:lstStyle/>
          <a:p>
            <a:pPr algn="ctr"/>
            <a:r>
              <a:rPr lang="zh-CN" altLang="en-US" sz="2000" b="1" dirty="0">
                <a:solidFill>
                  <a:schemeClr val="tx1"/>
                </a:solidFill>
                <a:latin typeface="+mn-ea"/>
                <a:ea typeface="+mn-ea"/>
              </a:rPr>
              <a:t>高频小信号放大器功能的表示形式</a:t>
            </a:r>
            <a:r>
              <a:rPr lang="en-US" altLang="zh-CN" sz="2000" b="1" dirty="0">
                <a:solidFill>
                  <a:schemeClr val="tx1"/>
                </a:solidFill>
                <a:latin typeface="+mn-ea"/>
                <a:ea typeface="+mn-ea"/>
              </a:rPr>
              <a:t>:</a:t>
            </a:r>
          </a:p>
        </p:txBody>
      </p:sp>
      <p:sp>
        <p:nvSpPr>
          <p:cNvPr id="10" name="文本框 9">
            <a:extLst>
              <a:ext uri="{FF2B5EF4-FFF2-40B4-BE49-F238E27FC236}">
                <a16:creationId xmlns="" xmlns:a16="http://schemas.microsoft.com/office/drawing/2014/main" id="{BDDF23C0-9209-B978-94B9-D7317A0AAF15}"/>
              </a:ext>
            </a:extLst>
          </p:cNvPr>
          <p:cNvSpPr txBox="1"/>
          <p:nvPr/>
        </p:nvSpPr>
        <p:spPr>
          <a:xfrm>
            <a:off x="2235200" y="5773155"/>
            <a:ext cx="4851400" cy="400752"/>
          </a:xfrm>
          <a:prstGeom prst="rect">
            <a:avLst/>
          </a:prstGeom>
          <a:noFill/>
          <a:ln w="12700">
            <a:noFill/>
          </a:ln>
        </p:spPr>
        <p:txBody>
          <a:bodyPr lIns="92075" tIns="46038" rIns="92075" bIns="46038" anchor="t" anchorCtr="0">
            <a:spAutoFit/>
          </a:bodyPr>
          <a:lstStyle/>
          <a:p>
            <a:pPr eaLnBrk="0" hangingPunct="0">
              <a:spcBef>
                <a:spcPct val="50000"/>
              </a:spcBef>
            </a:pPr>
            <a:r>
              <a:rPr lang="zh-CN" altLang="en-US" sz="2000" b="1" dirty="0">
                <a:solidFill>
                  <a:schemeClr val="accent2"/>
                </a:solidFill>
                <a:latin typeface="+mn-ea"/>
                <a:ea typeface="+mn-ea"/>
              </a:rPr>
              <a:t>输入信号频谱与输出信号频谱相同</a:t>
            </a:r>
          </a:p>
        </p:txBody>
      </p:sp>
    </p:spTree>
    <p:extLst>
      <p:ext uri="{BB962C8B-B14F-4D97-AF65-F5344CB8AC3E}">
        <p14:creationId xmlns:p14="http://schemas.microsoft.com/office/powerpoint/2010/main" val="4219273681"/>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78</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3.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高频</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小信号</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放大器</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5" name="图片 4">
            <a:extLst>
              <a:ext uri="{FF2B5EF4-FFF2-40B4-BE49-F238E27FC236}">
                <a16:creationId xmlns="" xmlns:a16="http://schemas.microsoft.com/office/drawing/2014/main" id="{181F5D45-9759-4B71-9BFC-C06F69D1D455}"/>
              </a:ext>
            </a:extLst>
          </p:cNvPr>
          <p:cNvPicPr>
            <a:picLocks noChangeAspect="1"/>
          </p:cNvPicPr>
          <p:nvPr/>
        </p:nvPicPr>
        <p:blipFill>
          <a:blip r:embed="rId3"/>
          <a:stretch>
            <a:fillRect/>
          </a:stretch>
        </p:blipFill>
        <p:spPr>
          <a:xfrm>
            <a:off x="5428883" y="3187873"/>
            <a:ext cx="2876550" cy="2228850"/>
          </a:xfrm>
          <a:prstGeom prst="rect">
            <a:avLst/>
          </a:prstGeom>
          <a:noFill/>
          <a:ln w="9525">
            <a:noFill/>
          </a:ln>
        </p:spPr>
      </p:pic>
      <p:sp>
        <p:nvSpPr>
          <p:cNvPr id="6" name="文本占位符 320515">
            <a:extLst>
              <a:ext uri="{FF2B5EF4-FFF2-40B4-BE49-F238E27FC236}">
                <a16:creationId xmlns="" xmlns:a16="http://schemas.microsoft.com/office/drawing/2014/main" id="{16243A47-DE63-6376-2C1E-F0869AECCF9F}"/>
              </a:ext>
            </a:extLst>
          </p:cNvPr>
          <p:cNvSpPr txBox="1">
            <a:spLocks/>
          </p:cNvSpPr>
          <p:nvPr/>
        </p:nvSpPr>
        <p:spPr bwMode="auto">
          <a:xfrm>
            <a:off x="511780" y="3795034"/>
            <a:ext cx="4848288" cy="920647"/>
          </a:xfrm>
          <a:prstGeom prst="rect">
            <a:avLst/>
          </a:prstGeom>
          <a:noFill/>
          <a:ln w="9525" cap="flat" cmpd="sng">
            <a:solidFill>
              <a:schemeClr val="bg1"/>
            </a:solidFill>
            <a:prstDash val="solid"/>
            <a:miter/>
            <a:headEnd type="none" w="med" len="med"/>
            <a:tailEnd type="none" w="med" len="me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lvl1pPr lvl="0" algn="l" rtl="0" eaLnBrk="0" fontAlgn="base" hangingPunct="0">
              <a:spcBef>
                <a:spcPct val="0"/>
              </a:spcBef>
              <a:spcAft>
                <a:spcPct val="0"/>
              </a:spcAft>
              <a:buClrTx/>
              <a:buSzTx/>
              <a:buFontTx/>
              <a:defRPr sz="2800" b="1">
                <a:solidFill>
                  <a:schemeClr val="tx2"/>
                </a:solidFill>
                <a:latin typeface="Times New Roman" panose="02020603050405020304" pitchFamily="18" charset="0"/>
                <a:ea typeface="楷体" panose="02010609060101010101" pitchFamily="49" charset="-122"/>
                <a:cs typeface="Times New Roman" panose="02020603050405020304" pitchFamily="18" charset="0"/>
              </a:defRPr>
            </a:lvl1pPr>
            <a:lvl2pPr lvl="1" algn="ctr" rtl="0" eaLnBrk="0" fontAlgn="base" hangingPunct="0">
              <a:spcBef>
                <a:spcPct val="0"/>
              </a:spcBef>
              <a:spcAft>
                <a:spcPct val="0"/>
              </a:spcAft>
              <a:buClrTx/>
              <a:buSzTx/>
              <a:buFontTx/>
              <a:defRPr sz="2400">
                <a:solidFill>
                  <a:schemeClr val="tx2"/>
                </a:solidFill>
                <a:latin typeface="Arial" pitchFamily="34" charset="0"/>
                <a:ea typeface="宋体" pitchFamily="2" charset="-122"/>
              </a:defRPr>
            </a:lvl2pPr>
            <a:lvl3pPr lvl="2" algn="ctr" rtl="0" eaLnBrk="0" fontAlgn="base" hangingPunct="0">
              <a:spcBef>
                <a:spcPct val="0"/>
              </a:spcBef>
              <a:spcAft>
                <a:spcPct val="0"/>
              </a:spcAft>
              <a:buClrTx/>
              <a:buSzTx/>
              <a:buFontTx/>
              <a:defRPr sz="2000">
                <a:solidFill>
                  <a:schemeClr val="tx2"/>
                </a:solidFill>
                <a:latin typeface="Arial" pitchFamily="34" charset="0"/>
                <a:ea typeface="宋体" pitchFamily="2" charset="-122"/>
              </a:defRPr>
            </a:lvl3pPr>
            <a:lvl4pPr lvl="3" algn="ctr" rtl="0" eaLnBrk="0" fontAlgn="base" hangingPunct="0">
              <a:spcBef>
                <a:spcPct val="0"/>
              </a:spcBef>
              <a:spcAft>
                <a:spcPct val="0"/>
              </a:spcAft>
              <a:buClrTx/>
              <a:buSzTx/>
              <a:buFontTx/>
              <a:defRPr sz="1800">
                <a:solidFill>
                  <a:schemeClr val="tx2"/>
                </a:solidFill>
                <a:latin typeface="Arial" pitchFamily="34" charset="0"/>
                <a:ea typeface="宋体" pitchFamily="2" charset="-122"/>
              </a:defRPr>
            </a:lvl4pPr>
            <a:lvl5pPr lvl="4" algn="ctr" rtl="0" eaLnBrk="0" fontAlgn="base" hangingPunct="0">
              <a:spcBef>
                <a:spcPct val="0"/>
              </a:spcBef>
              <a:spcAft>
                <a:spcPct val="0"/>
              </a:spcAft>
              <a:buClrTx/>
              <a:buSzTx/>
              <a:buFontTx/>
              <a:defRPr sz="1800">
                <a:solidFill>
                  <a:schemeClr val="tx2"/>
                </a:solidFill>
                <a:latin typeface="Arial" pitchFamily="34" charset="0"/>
                <a:ea typeface="宋体" pitchFamily="2" charset="-122"/>
              </a:defRPr>
            </a:lvl5pPr>
            <a:lvl6pPr marL="457200" algn="ctr" rtl="0" eaLnBrk="0" fontAlgn="base" hangingPunct="0">
              <a:spcBef>
                <a:spcPct val="0"/>
              </a:spcBef>
              <a:spcAft>
                <a:spcPct val="0"/>
              </a:spcAft>
              <a:defRPr sz="3200">
                <a:solidFill>
                  <a:schemeClr val="tx2"/>
                </a:solidFill>
                <a:latin typeface="Arial" pitchFamily="34" charset="0"/>
                <a:ea typeface="宋体" pitchFamily="2" charset="-122"/>
              </a:defRPr>
            </a:lvl6pPr>
            <a:lvl7pPr marL="914400" algn="ctr" rtl="0" eaLnBrk="0" fontAlgn="base" hangingPunct="0">
              <a:spcBef>
                <a:spcPct val="0"/>
              </a:spcBef>
              <a:spcAft>
                <a:spcPct val="0"/>
              </a:spcAft>
              <a:defRPr sz="3200">
                <a:solidFill>
                  <a:schemeClr val="tx2"/>
                </a:solidFill>
                <a:latin typeface="Arial" pitchFamily="34" charset="0"/>
                <a:ea typeface="宋体" pitchFamily="2" charset="-122"/>
              </a:defRPr>
            </a:lvl7pPr>
            <a:lvl8pPr marL="1371600" algn="ctr" rtl="0" eaLnBrk="0" fontAlgn="base" hangingPunct="0">
              <a:spcBef>
                <a:spcPct val="0"/>
              </a:spcBef>
              <a:spcAft>
                <a:spcPct val="0"/>
              </a:spcAft>
              <a:defRPr sz="3200">
                <a:solidFill>
                  <a:schemeClr val="tx2"/>
                </a:solidFill>
                <a:latin typeface="Arial" pitchFamily="34" charset="0"/>
                <a:ea typeface="宋体" pitchFamily="2" charset="-122"/>
              </a:defRPr>
            </a:lvl8pPr>
            <a:lvl9pPr marL="1828800" algn="ctr" rtl="0" eaLnBrk="0" fontAlgn="base" hangingPunct="0">
              <a:spcBef>
                <a:spcPct val="0"/>
              </a:spcBef>
              <a:spcAft>
                <a:spcPct val="0"/>
              </a:spcAft>
              <a:defRPr sz="3200">
                <a:solidFill>
                  <a:schemeClr val="tx2"/>
                </a:solidFill>
                <a:latin typeface="Arial" pitchFamily="34" charset="0"/>
                <a:ea typeface="宋体" pitchFamily="2" charset="-122"/>
              </a:defRPr>
            </a:lvl9pPr>
          </a:lstStyle>
          <a:p>
            <a:pPr eaLnBrk="1" hangingPunct="1">
              <a:lnSpc>
                <a:spcPct val="90000"/>
              </a:lnSpc>
            </a:pPr>
            <a:r>
              <a:rPr lang="zh-CN" altLang="en-US" sz="2000" kern="0" dirty="0">
                <a:solidFill>
                  <a:schemeClr val="tx1"/>
                </a:solidFill>
                <a:ea typeface="+mn-ea"/>
              </a:rPr>
              <a:t>定义：放大器的电压增益下降到最大值的</a:t>
            </a:r>
            <a:endParaRPr lang="en-US" altLang="zh-CN" sz="2000" kern="0" dirty="0">
              <a:solidFill>
                <a:schemeClr val="tx1"/>
              </a:solidFill>
              <a:ea typeface="+mn-ea"/>
            </a:endParaRPr>
          </a:p>
          <a:p>
            <a:pPr eaLnBrk="1" hangingPunct="1">
              <a:lnSpc>
                <a:spcPct val="90000"/>
              </a:lnSpc>
            </a:pPr>
            <a:r>
              <a:rPr lang="zh-CN" altLang="en-US" sz="2000" kern="0" dirty="0">
                <a:solidFill>
                  <a:schemeClr val="tx1"/>
                </a:solidFill>
                <a:ea typeface="+mn-ea"/>
              </a:rPr>
              <a:t>    倍时所对应的频带宽度。常用</a:t>
            </a:r>
            <a:r>
              <a:rPr lang="en-US" altLang="zh-CN" sz="2000" kern="0" dirty="0">
                <a:solidFill>
                  <a:schemeClr val="tx1"/>
                </a:solidFill>
                <a:ea typeface="+mn-ea"/>
              </a:rPr>
              <a:t> 2△</a:t>
            </a:r>
            <a:r>
              <a:rPr lang="en-US" altLang="zh-CN" sz="2000" i="1" kern="0" dirty="0">
                <a:solidFill>
                  <a:schemeClr val="tx1"/>
                </a:solidFill>
                <a:ea typeface="+mn-ea"/>
              </a:rPr>
              <a:t>f</a:t>
            </a:r>
            <a:r>
              <a:rPr lang="en-US" altLang="zh-CN" sz="2000" kern="0" baseline="-25000" dirty="0">
                <a:solidFill>
                  <a:schemeClr val="tx1"/>
                </a:solidFill>
                <a:ea typeface="+mn-ea"/>
              </a:rPr>
              <a:t>0.7</a:t>
            </a:r>
            <a:r>
              <a:rPr lang="en-US" altLang="zh-CN" sz="2000" kern="0" dirty="0">
                <a:solidFill>
                  <a:schemeClr val="tx1"/>
                </a:solidFill>
                <a:ea typeface="+mn-ea"/>
              </a:rPr>
              <a:t>(</a:t>
            </a:r>
            <a:r>
              <a:rPr lang="zh-CN" altLang="en-US" sz="2000" kern="0" dirty="0">
                <a:solidFill>
                  <a:schemeClr val="tx1"/>
                </a:solidFill>
                <a:ea typeface="+mn-ea"/>
              </a:rPr>
              <a:t>或</a:t>
            </a:r>
            <a:r>
              <a:rPr lang="en-US" altLang="zh-CN" sz="2000" i="1" kern="0" dirty="0">
                <a:solidFill>
                  <a:schemeClr val="tx1"/>
                </a:solidFill>
                <a:ea typeface="+mn-ea"/>
              </a:rPr>
              <a:t>BW</a:t>
            </a:r>
            <a:r>
              <a:rPr lang="en-US" altLang="zh-CN" sz="2000" kern="0" baseline="-25000" dirty="0">
                <a:solidFill>
                  <a:schemeClr val="tx1"/>
                </a:solidFill>
                <a:ea typeface="+mn-ea"/>
              </a:rPr>
              <a:t>0.7</a:t>
            </a:r>
            <a:r>
              <a:rPr lang="en-US" altLang="zh-CN" sz="2000" kern="0" dirty="0">
                <a:solidFill>
                  <a:schemeClr val="tx1"/>
                </a:solidFill>
                <a:ea typeface="+mn-ea"/>
              </a:rPr>
              <a:t>)</a:t>
            </a:r>
            <a:r>
              <a:rPr lang="zh-CN" altLang="en-US" sz="2000" kern="0" dirty="0">
                <a:solidFill>
                  <a:schemeClr val="tx1"/>
                </a:solidFill>
                <a:ea typeface="+mn-ea"/>
              </a:rPr>
              <a:t>表示，也称为</a:t>
            </a:r>
            <a:r>
              <a:rPr lang="en-US" altLang="zh-CN" sz="2000" kern="0" dirty="0">
                <a:solidFill>
                  <a:schemeClr val="tx1"/>
                </a:solidFill>
                <a:ea typeface="+mn-ea"/>
              </a:rPr>
              <a:t>3</a:t>
            </a:r>
            <a:r>
              <a:rPr lang="zh-CN" altLang="en-US" sz="2000" kern="0" dirty="0">
                <a:solidFill>
                  <a:schemeClr val="tx1"/>
                </a:solidFill>
                <a:ea typeface="+mn-ea"/>
              </a:rPr>
              <a:t>分贝带宽。</a:t>
            </a:r>
          </a:p>
        </p:txBody>
      </p:sp>
      <p:sp>
        <p:nvSpPr>
          <p:cNvPr id="7" name="文本框 6">
            <a:extLst>
              <a:ext uri="{FF2B5EF4-FFF2-40B4-BE49-F238E27FC236}">
                <a16:creationId xmlns="" xmlns:a16="http://schemas.microsoft.com/office/drawing/2014/main" id="{862DCCF6-F407-0A9C-D941-048E8D8FDD64}"/>
              </a:ext>
            </a:extLst>
          </p:cNvPr>
          <p:cNvSpPr txBox="1"/>
          <p:nvPr/>
        </p:nvSpPr>
        <p:spPr>
          <a:xfrm>
            <a:off x="511780" y="1422451"/>
            <a:ext cx="3721100" cy="400752"/>
          </a:xfrm>
          <a:prstGeom prst="rect">
            <a:avLst/>
          </a:prstGeom>
          <a:noFill/>
          <a:ln w="12700">
            <a:noFill/>
          </a:ln>
        </p:spPr>
        <p:txBody>
          <a:bodyPr lIns="92075" tIns="46038" rIns="92075" bIns="46038" anchor="t" anchorCtr="0">
            <a:spAutoFit/>
          </a:bodyPr>
          <a:lstStyle/>
          <a:p>
            <a:pPr eaLnBrk="0" hangingPunct="0">
              <a:spcBef>
                <a:spcPct val="50000"/>
              </a:spcBef>
            </a:pPr>
            <a:r>
              <a:rPr lang="en-US" altLang="zh-CN" sz="2000" b="1" dirty="0">
                <a:solidFill>
                  <a:schemeClr val="tx1"/>
                </a:solidFill>
                <a:latin typeface="+mn-ea"/>
                <a:ea typeface="+mn-ea"/>
              </a:rPr>
              <a:t>1</a:t>
            </a:r>
            <a:r>
              <a:rPr lang="zh-CN" altLang="en-US" sz="2000" b="1" dirty="0">
                <a:solidFill>
                  <a:schemeClr val="tx1"/>
                </a:solidFill>
                <a:latin typeface="+mn-ea"/>
                <a:ea typeface="+mn-ea"/>
              </a:rPr>
              <a:t>）电压增益与功率增益</a:t>
            </a:r>
          </a:p>
        </p:txBody>
      </p:sp>
      <p:graphicFrame>
        <p:nvGraphicFramePr>
          <p:cNvPr id="8" name="对象 7">
            <a:extLst>
              <a:ext uri="{FF2B5EF4-FFF2-40B4-BE49-F238E27FC236}">
                <a16:creationId xmlns="" xmlns:a16="http://schemas.microsoft.com/office/drawing/2014/main" id="{8021A24D-C97C-3021-6F11-5F27184B9A6A}"/>
              </a:ext>
            </a:extLst>
          </p:cNvPr>
          <p:cNvGraphicFramePr/>
          <p:nvPr>
            <p:extLst>
              <p:ext uri="{D42A27DB-BD31-4B8C-83A1-F6EECF244321}">
                <p14:modId xmlns:p14="http://schemas.microsoft.com/office/powerpoint/2010/main" val="1428701052"/>
              </p:ext>
            </p:extLst>
          </p:nvPr>
        </p:nvGraphicFramePr>
        <p:xfrm>
          <a:off x="731563" y="2236534"/>
          <a:ext cx="2425700" cy="838200"/>
        </p:xfrm>
        <a:graphic>
          <a:graphicData uri="http://schemas.openxmlformats.org/presentationml/2006/ole">
            <mc:AlternateContent xmlns:mc="http://schemas.openxmlformats.org/markup-compatibility/2006">
              <mc:Choice xmlns:v="urn:schemas-microsoft-com:vml" Requires="v">
                <p:oleObj spid="_x0000_s54418" r:id="rId4" imgW="1294765" imgH="444500" progId="Equation.DSMT4">
                  <p:embed/>
                </p:oleObj>
              </mc:Choice>
              <mc:Fallback>
                <p:oleObj r:id="rId4" imgW="1294765" imgH="444500" progId="Equation.DSMT4">
                  <p:embed/>
                  <p:pic>
                    <p:nvPicPr>
                      <p:cNvPr id="0" name=""/>
                      <p:cNvPicPr/>
                      <p:nvPr/>
                    </p:nvPicPr>
                    <p:blipFill>
                      <a:blip r:embed="rId5"/>
                      <a:stretch>
                        <a:fillRect/>
                      </a:stretch>
                    </p:blipFill>
                    <p:spPr>
                      <a:xfrm>
                        <a:off x="731563" y="2236534"/>
                        <a:ext cx="2425700" cy="838200"/>
                      </a:xfrm>
                      <a:prstGeom prst="rect">
                        <a:avLst/>
                      </a:prstGeom>
                      <a:gradFill rotWithShape="1">
                        <a:gsLst>
                          <a:gs pos="0">
                            <a:srgbClr val="FF99FF">
                              <a:alpha val="53000"/>
                            </a:srgbClr>
                          </a:gs>
                          <a:gs pos="50000">
                            <a:srgbClr val="FFFFFF"/>
                          </a:gs>
                          <a:gs pos="100000">
                            <a:srgbClr val="FF99FF">
                              <a:alpha val="53000"/>
                            </a:srgbClr>
                          </a:gs>
                        </a:gsLst>
                        <a:lin ang="5400000" scaled="1"/>
                        <a:tileRect/>
                      </a:gradFill>
                      <a:ln w="38100">
                        <a:noFill/>
                        <a:miter/>
                      </a:ln>
                    </p:spPr>
                  </p:pic>
                </p:oleObj>
              </mc:Fallback>
            </mc:AlternateContent>
          </a:graphicData>
        </a:graphic>
      </p:graphicFrame>
      <p:graphicFrame>
        <p:nvGraphicFramePr>
          <p:cNvPr id="9" name="对象 8">
            <a:extLst>
              <a:ext uri="{FF2B5EF4-FFF2-40B4-BE49-F238E27FC236}">
                <a16:creationId xmlns="" xmlns:a16="http://schemas.microsoft.com/office/drawing/2014/main" id="{83E16F21-ED4F-4BA6-AC5A-A45633809BBA}"/>
              </a:ext>
            </a:extLst>
          </p:cNvPr>
          <p:cNvGraphicFramePr/>
          <p:nvPr>
            <p:extLst>
              <p:ext uri="{D42A27DB-BD31-4B8C-83A1-F6EECF244321}">
                <p14:modId xmlns:p14="http://schemas.microsoft.com/office/powerpoint/2010/main" val="2724942031"/>
              </p:ext>
            </p:extLst>
          </p:nvPr>
        </p:nvGraphicFramePr>
        <p:xfrm>
          <a:off x="3915156" y="2225421"/>
          <a:ext cx="3732213" cy="860425"/>
        </p:xfrm>
        <a:graphic>
          <a:graphicData uri="http://schemas.openxmlformats.org/presentationml/2006/ole">
            <mc:AlternateContent xmlns:mc="http://schemas.openxmlformats.org/markup-compatibility/2006">
              <mc:Choice xmlns:v="urn:schemas-microsoft-com:vml" Requires="v">
                <p:oleObj spid="_x0000_s54419" name="Equation" r:id="rId6" imgW="1917065" imgH="444500" progId="Equation.DSMT4">
                  <p:embed/>
                </p:oleObj>
              </mc:Choice>
              <mc:Fallback>
                <p:oleObj name="Equation" r:id="rId6" imgW="1917065" imgH="444500" progId="Equation.DSMT4">
                  <p:embed/>
                  <p:pic>
                    <p:nvPicPr>
                      <p:cNvPr id="0" name=""/>
                      <p:cNvPicPr/>
                      <p:nvPr/>
                    </p:nvPicPr>
                    <p:blipFill>
                      <a:blip r:embed="rId7"/>
                      <a:stretch>
                        <a:fillRect/>
                      </a:stretch>
                    </p:blipFill>
                    <p:spPr>
                      <a:xfrm>
                        <a:off x="3915156" y="2225421"/>
                        <a:ext cx="3732213" cy="860425"/>
                      </a:xfrm>
                      <a:prstGeom prst="rect">
                        <a:avLst/>
                      </a:prstGeom>
                      <a:gradFill rotWithShape="1">
                        <a:gsLst>
                          <a:gs pos="0">
                            <a:srgbClr val="FF99FF">
                              <a:alpha val="53000"/>
                            </a:srgbClr>
                          </a:gs>
                          <a:gs pos="50000">
                            <a:srgbClr val="FFFFFF"/>
                          </a:gs>
                          <a:gs pos="100000">
                            <a:srgbClr val="FF99FF">
                              <a:alpha val="53000"/>
                            </a:srgbClr>
                          </a:gs>
                        </a:gsLst>
                        <a:lin ang="5400000" scaled="1"/>
                        <a:tileRect/>
                      </a:gradFill>
                      <a:ln w="38100">
                        <a:noFill/>
                        <a:miter/>
                      </a:ln>
                    </p:spPr>
                  </p:pic>
                </p:oleObj>
              </mc:Fallback>
            </mc:AlternateContent>
          </a:graphicData>
        </a:graphic>
      </p:graphicFrame>
      <p:sp>
        <p:nvSpPr>
          <p:cNvPr id="10" name="文本框 9">
            <a:extLst>
              <a:ext uri="{FF2B5EF4-FFF2-40B4-BE49-F238E27FC236}">
                <a16:creationId xmlns="" xmlns:a16="http://schemas.microsoft.com/office/drawing/2014/main" id="{19E7126C-7D70-2AA9-CF9D-7F33646854C1}"/>
              </a:ext>
            </a:extLst>
          </p:cNvPr>
          <p:cNvSpPr txBox="1"/>
          <p:nvPr/>
        </p:nvSpPr>
        <p:spPr>
          <a:xfrm>
            <a:off x="731563" y="1831449"/>
            <a:ext cx="2020888" cy="400752"/>
          </a:xfrm>
          <a:prstGeom prst="rect">
            <a:avLst/>
          </a:prstGeom>
          <a:noFill/>
          <a:ln w="12700">
            <a:noFill/>
          </a:ln>
        </p:spPr>
        <p:txBody>
          <a:bodyPr lIns="92075" tIns="46038" rIns="92075" bIns="46038" anchor="t" anchorCtr="0">
            <a:spAutoFit/>
          </a:bodyPr>
          <a:lstStyle/>
          <a:p>
            <a:pPr eaLnBrk="0" hangingPunct="0">
              <a:spcBef>
                <a:spcPct val="50000"/>
              </a:spcBef>
            </a:pPr>
            <a:r>
              <a:rPr lang="zh-CN" altLang="en-US" sz="2000" b="1" dirty="0">
                <a:solidFill>
                  <a:schemeClr val="tx1"/>
                </a:solidFill>
                <a:latin typeface="+mn-ea"/>
                <a:ea typeface="+mn-ea"/>
              </a:rPr>
              <a:t>电压增益</a:t>
            </a:r>
          </a:p>
        </p:txBody>
      </p:sp>
      <p:sp>
        <p:nvSpPr>
          <p:cNvPr id="11" name="文本框 10">
            <a:extLst>
              <a:ext uri="{FF2B5EF4-FFF2-40B4-BE49-F238E27FC236}">
                <a16:creationId xmlns="" xmlns:a16="http://schemas.microsoft.com/office/drawing/2014/main" id="{F5F3AA2A-B7C5-0CFC-C9C4-F1B8DAC43E9A}"/>
              </a:ext>
            </a:extLst>
          </p:cNvPr>
          <p:cNvSpPr txBox="1"/>
          <p:nvPr/>
        </p:nvSpPr>
        <p:spPr>
          <a:xfrm>
            <a:off x="3549678" y="1823936"/>
            <a:ext cx="1936750" cy="400752"/>
          </a:xfrm>
          <a:prstGeom prst="rect">
            <a:avLst/>
          </a:prstGeom>
          <a:noFill/>
          <a:ln w="12700">
            <a:noFill/>
          </a:ln>
        </p:spPr>
        <p:txBody>
          <a:bodyPr lIns="92075" tIns="46038" rIns="92075" bIns="46038" anchor="t" anchorCtr="0">
            <a:spAutoFit/>
          </a:bodyPr>
          <a:lstStyle/>
          <a:p>
            <a:pPr eaLnBrk="0" hangingPunct="0">
              <a:spcBef>
                <a:spcPct val="50000"/>
              </a:spcBef>
            </a:pPr>
            <a:r>
              <a:rPr lang="zh-CN" altLang="en-US" sz="2000" b="1" dirty="0">
                <a:solidFill>
                  <a:schemeClr val="tx1"/>
                </a:solidFill>
                <a:latin typeface="+mn-ea"/>
                <a:ea typeface="+mn-ea"/>
              </a:rPr>
              <a:t>功率增益</a:t>
            </a:r>
          </a:p>
        </p:txBody>
      </p:sp>
      <p:sp>
        <p:nvSpPr>
          <p:cNvPr id="12" name="文本框 320525">
            <a:extLst>
              <a:ext uri="{FF2B5EF4-FFF2-40B4-BE49-F238E27FC236}">
                <a16:creationId xmlns="" xmlns:a16="http://schemas.microsoft.com/office/drawing/2014/main" id="{CE0B6A87-12AA-4069-C93F-CECF153B0AC2}"/>
              </a:ext>
            </a:extLst>
          </p:cNvPr>
          <p:cNvSpPr txBox="1"/>
          <p:nvPr/>
        </p:nvSpPr>
        <p:spPr>
          <a:xfrm>
            <a:off x="511780" y="3187873"/>
            <a:ext cx="2054225" cy="400752"/>
          </a:xfrm>
          <a:prstGeom prst="rect">
            <a:avLst/>
          </a:prstGeom>
          <a:noFill/>
          <a:ln w="12700">
            <a:noFill/>
          </a:ln>
        </p:spPr>
        <p:txBody>
          <a:bodyPr lIns="92075" tIns="46038" rIns="92075" bIns="46038" anchor="t" anchorCtr="0">
            <a:spAutoFit/>
          </a:bodyPr>
          <a:lstStyle/>
          <a:p>
            <a:pPr eaLnBrk="0" hangingPunct="0">
              <a:spcBef>
                <a:spcPct val="50000"/>
              </a:spcBef>
            </a:pPr>
            <a:r>
              <a:rPr lang="en-US" altLang="zh-CN" sz="2000" b="1">
                <a:solidFill>
                  <a:schemeClr val="tx1"/>
                </a:solidFill>
                <a:latin typeface="+mn-ea"/>
                <a:ea typeface="+mn-ea"/>
              </a:rPr>
              <a:t>2</a:t>
            </a:r>
            <a:r>
              <a:rPr lang="zh-CN" altLang="en-US" sz="2000" b="1" dirty="0">
                <a:solidFill>
                  <a:schemeClr val="tx1"/>
                </a:solidFill>
                <a:latin typeface="+mn-ea"/>
                <a:ea typeface="+mn-ea"/>
              </a:rPr>
              <a:t>）通频带</a:t>
            </a:r>
          </a:p>
        </p:txBody>
      </p:sp>
      <p:graphicFrame>
        <p:nvGraphicFramePr>
          <p:cNvPr id="13" name="对象 12">
            <a:extLst>
              <a:ext uri="{FF2B5EF4-FFF2-40B4-BE49-F238E27FC236}">
                <a16:creationId xmlns="" xmlns:a16="http://schemas.microsoft.com/office/drawing/2014/main" id="{D3B0CD3F-2A4E-B956-4056-74F0CF660E3C}"/>
              </a:ext>
            </a:extLst>
          </p:cNvPr>
          <p:cNvGraphicFramePr/>
          <p:nvPr>
            <p:extLst>
              <p:ext uri="{D42A27DB-BD31-4B8C-83A1-F6EECF244321}">
                <p14:modId xmlns:p14="http://schemas.microsoft.com/office/powerpoint/2010/main" val="1218715961"/>
              </p:ext>
            </p:extLst>
          </p:nvPr>
        </p:nvGraphicFramePr>
        <p:xfrm>
          <a:off x="7024674" y="3282608"/>
          <a:ext cx="2082800" cy="341313"/>
        </p:xfrm>
        <a:graphic>
          <a:graphicData uri="http://schemas.openxmlformats.org/presentationml/2006/ole">
            <mc:AlternateContent xmlns:mc="http://schemas.openxmlformats.org/markup-compatibility/2006">
              <mc:Choice xmlns:v="urn:schemas-microsoft-com:vml" Requires="v">
                <p:oleObj spid="_x0000_s54420" r:id="rId8" imgW="1422400" imgH="228600" progId="Equation.DSMT4">
                  <p:embed/>
                </p:oleObj>
              </mc:Choice>
              <mc:Fallback>
                <p:oleObj r:id="rId8" imgW="1422400" imgH="228600" progId="Equation.DSMT4">
                  <p:embed/>
                  <p:pic>
                    <p:nvPicPr>
                      <p:cNvPr id="0" name=""/>
                      <p:cNvPicPr/>
                      <p:nvPr/>
                    </p:nvPicPr>
                    <p:blipFill>
                      <a:blip r:embed="rId9"/>
                      <a:stretch>
                        <a:fillRect/>
                      </a:stretch>
                    </p:blipFill>
                    <p:spPr>
                      <a:xfrm>
                        <a:off x="7024674" y="3282608"/>
                        <a:ext cx="2082800" cy="341313"/>
                      </a:xfrm>
                      <a:prstGeom prst="rect">
                        <a:avLst/>
                      </a:prstGeom>
                      <a:noFill/>
                      <a:ln w="38100">
                        <a:noFill/>
                        <a:miter/>
                      </a:ln>
                    </p:spPr>
                  </p:pic>
                </p:oleObj>
              </mc:Fallback>
            </mc:AlternateContent>
          </a:graphicData>
        </a:graphic>
      </p:graphicFrame>
      <p:sp>
        <p:nvSpPr>
          <p:cNvPr id="16" name="矩形 3">
            <a:extLst>
              <a:ext uri="{FF2B5EF4-FFF2-40B4-BE49-F238E27FC236}">
                <a16:creationId xmlns="" xmlns:a16="http://schemas.microsoft.com/office/drawing/2014/main" id="{1628D869-D423-4BE5-8962-D7E4EE67119D}"/>
              </a:ext>
            </a:extLst>
          </p:cNvPr>
          <p:cNvSpPr/>
          <p:nvPr/>
        </p:nvSpPr>
        <p:spPr>
          <a:xfrm>
            <a:off x="229475" y="4783137"/>
            <a:ext cx="2507418" cy="400110"/>
          </a:xfrm>
          <a:prstGeom prst="rect">
            <a:avLst/>
          </a:prstGeom>
          <a:noFill/>
          <a:ln w="9525">
            <a:noFill/>
          </a:ln>
        </p:spPr>
        <p:txBody>
          <a:bodyPr wrap="none" anchor="t" anchorCtr="0">
            <a:spAutoFit/>
          </a:bodyPr>
          <a:lstStyle/>
          <a:p>
            <a:r>
              <a:rPr lang="zh-CN" altLang="en-US" sz="2000" b="1" dirty="0">
                <a:solidFill>
                  <a:schemeClr val="tx1"/>
                </a:solidFill>
                <a:latin typeface="Times New Roman" panose="02020603050405020304" pitchFamily="18" charset="0"/>
                <a:ea typeface="宋体" panose="02010600030101010101" pitchFamily="2" charset="-122"/>
              </a:rPr>
              <a:t>为什么要求通频带？</a:t>
            </a:r>
          </a:p>
        </p:txBody>
      </p:sp>
      <p:sp>
        <p:nvSpPr>
          <p:cNvPr id="17" name="矩形 2">
            <a:extLst>
              <a:ext uri="{FF2B5EF4-FFF2-40B4-BE49-F238E27FC236}">
                <a16:creationId xmlns="" xmlns:a16="http://schemas.microsoft.com/office/drawing/2014/main" id="{7E1D64AE-6962-BC4A-A9BB-E29AA1A04B15}"/>
              </a:ext>
            </a:extLst>
          </p:cNvPr>
          <p:cNvSpPr/>
          <p:nvPr/>
        </p:nvSpPr>
        <p:spPr>
          <a:xfrm>
            <a:off x="44903" y="5218543"/>
            <a:ext cx="8985554" cy="1323439"/>
          </a:xfrm>
          <a:prstGeom prst="rect">
            <a:avLst/>
          </a:prstGeom>
          <a:noFill/>
          <a:ln w="9525">
            <a:noFill/>
          </a:ln>
        </p:spPr>
        <p:txBody>
          <a:bodyPr wrap="square" anchor="t" anchorCtr="0">
            <a:spAutoFit/>
          </a:bodyPr>
          <a:lstStyle/>
          <a:p>
            <a:r>
              <a:rPr lang="zh-CN" altLang="en-US" sz="2000" b="1" dirty="0" smtClean="0">
                <a:solidFill>
                  <a:schemeClr val="tx1"/>
                </a:solidFill>
                <a:latin typeface="+mn-ea"/>
                <a:ea typeface="+mn-ea"/>
              </a:rPr>
              <a:t>放大器</a:t>
            </a:r>
            <a:r>
              <a:rPr lang="zh-CN" altLang="en-US" sz="2000" b="1" dirty="0">
                <a:solidFill>
                  <a:schemeClr val="tx1"/>
                </a:solidFill>
                <a:latin typeface="+mn-ea"/>
                <a:ea typeface="+mn-ea"/>
              </a:rPr>
              <a:t>所放大的一般都是已调制的信号，已调制的信号都包含一定谱宽度，所以放大器必须有一定的通频带，让必要的信号频谱分量通过放大器。</a:t>
            </a:r>
            <a:r>
              <a:rPr lang="zh-CN" altLang="en-US" sz="2000" b="1" dirty="0">
                <a:solidFill>
                  <a:srgbClr val="FF0000"/>
                </a:solidFill>
                <a:latin typeface="+mn-ea"/>
                <a:ea typeface="+mn-ea"/>
              </a:rPr>
              <a:t>与谐振回路相同，放大器的通频带决定于回路的形式和回路的等效品质因数</a:t>
            </a:r>
            <a:r>
              <a:rPr lang="en-US" altLang="zh-CN" sz="2000" b="1" dirty="0">
                <a:solidFill>
                  <a:srgbClr val="FF0000"/>
                </a:solidFill>
                <a:latin typeface="+mn-ea"/>
                <a:ea typeface="+mn-ea"/>
              </a:rPr>
              <a:t>Q</a:t>
            </a:r>
            <a:r>
              <a:rPr lang="en-US" altLang="zh-CN" sz="2000" b="1" baseline="-25000" dirty="0">
                <a:solidFill>
                  <a:srgbClr val="FF0000"/>
                </a:solidFill>
                <a:latin typeface="+mn-ea"/>
                <a:ea typeface="+mn-ea"/>
              </a:rPr>
              <a:t>L</a:t>
            </a:r>
            <a:r>
              <a:rPr lang="zh-CN" altLang="en-US" sz="2000" b="1" dirty="0">
                <a:solidFill>
                  <a:srgbClr val="FF0000"/>
                </a:solidFill>
                <a:latin typeface="+mn-ea"/>
                <a:ea typeface="+mn-ea"/>
              </a:rPr>
              <a:t>。</a:t>
            </a:r>
            <a:r>
              <a:rPr lang="zh-CN" altLang="en-US" sz="2000" b="1" dirty="0">
                <a:solidFill>
                  <a:schemeClr val="tx1"/>
                </a:solidFill>
                <a:latin typeface="+mn-ea"/>
                <a:ea typeface="+mn-ea"/>
              </a:rPr>
              <a:t>此外，放大器的总通频带，随着级数的增加而变。并且通频带愈宽，放大器增益愈小。</a:t>
            </a:r>
          </a:p>
        </p:txBody>
      </p:sp>
      <p:sp>
        <p:nvSpPr>
          <p:cNvPr id="18" name="文本框 17">
            <a:extLst>
              <a:ext uri="{FF2B5EF4-FFF2-40B4-BE49-F238E27FC236}">
                <a16:creationId xmlns="" xmlns:a16="http://schemas.microsoft.com/office/drawing/2014/main" id="{CFEED638-8D72-9F06-4BA5-6E0DE6FA2DDA}"/>
              </a:ext>
            </a:extLst>
          </p:cNvPr>
          <p:cNvSpPr txBox="1"/>
          <p:nvPr/>
        </p:nvSpPr>
        <p:spPr>
          <a:xfrm>
            <a:off x="0" y="1026573"/>
            <a:ext cx="9144000" cy="462307"/>
          </a:xfrm>
          <a:prstGeom prst="rect">
            <a:avLst/>
          </a:prstGeom>
          <a:noFill/>
          <a:ln w="12700">
            <a:noFill/>
          </a:ln>
        </p:spPr>
        <p:txBody>
          <a:bodyPr wrap="square" lIns="92075" tIns="46038" rIns="92075" bIns="46038" anchor="t" anchorCtr="0">
            <a:spAutoFit/>
          </a:bodyPr>
          <a:lstStyle/>
          <a:p>
            <a:pPr algn="ctr" eaLnBrk="0" hangingPunct="0">
              <a:spcBef>
                <a:spcPct val="50000"/>
              </a:spcBef>
            </a:pPr>
            <a:r>
              <a:rPr lang="zh-CN" altLang="en-US" sz="2400" b="1" dirty="0" smtClean="0">
                <a:solidFill>
                  <a:schemeClr val="tx1"/>
                </a:solidFill>
                <a:latin typeface="+mn-ea"/>
                <a:ea typeface="+mn-ea"/>
              </a:rPr>
              <a:t>高频</a:t>
            </a:r>
            <a:r>
              <a:rPr lang="zh-CN" altLang="en-US" sz="2400" b="1" dirty="0">
                <a:solidFill>
                  <a:schemeClr val="tx1"/>
                </a:solidFill>
                <a:latin typeface="+mn-ea"/>
                <a:ea typeface="+mn-ea"/>
              </a:rPr>
              <a:t>小信号放大器的主要技术指标</a:t>
            </a:r>
          </a:p>
        </p:txBody>
      </p:sp>
    </p:spTree>
    <p:extLst>
      <p:ext uri="{BB962C8B-B14F-4D97-AF65-F5344CB8AC3E}">
        <p14:creationId xmlns:p14="http://schemas.microsoft.com/office/powerpoint/2010/main" val="1261472694"/>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79</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3.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高频</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小信号</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放大器</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5" name="图片 4">
            <a:extLst>
              <a:ext uri="{FF2B5EF4-FFF2-40B4-BE49-F238E27FC236}">
                <a16:creationId xmlns="" xmlns:a16="http://schemas.microsoft.com/office/drawing/2014/main" id="{7A7EE051-D072-FA0D-6E97-5DCF9420E32D}"/>
              </a:ext>
            </a:extLst>
          </p:cNvPr>
          <p:cNvPicPr>
            <a:picLocks noChangeAspect="1"/>
          </p:cNvPicPr>
          <p:nvPr/>
        </p:nvPicPr>
        <p:blipFill>
          <a:blip r:embed="rId3"/>
          <a:stretch>
            <a:fillRect/>
          </a:stretch>
        </p:blipFill>
        <p:spPr>
          <a:xfrm>
            <a:off x="5489816" y="2224524"/>
            <a:ext cx="1866900" cy="1447800"/>
          </a:xfrm>
          <a:prstGeom prst="rect">
            <a:avLst/>
          </a:prstGeom>
          <a:noFill/>
          <a:ln w="9525">
            <a:noFill/>
          </a:ln>
        </p:spPr>
      </p:pic>
      <p:sp>
        <p:nvSpPr>
          <p:cNvPr id="6" name="圆角矩形标注 322562">
            <a:extLst>
              <a:ext uri="{FF2B5EF4-FFF2-40B4-BE49-F238E27FC236}">
                <a16:creationId xmlns="" xmlns:a16="http://schemas.microsoft.com/office/drawing/2014/main" id="{929BA6FC-24C9-5EEE-E7B9-551BE74FFAC3}"/>
              </a:ext>
            </a:extLst>
          </p:cNvPr>
          <p:cNvSpPr/>
          <p:nvPr/>
        </p:nvSpPr>
        <p:spPr>
          <a:xfrm>
            <a:off x="4429648" y="5138775"/>
            <a:ext cx="4102792" cy="469900"/>
          </a:xfrm>
          <a:prstGeom prst="wedgeRoundRectCallout">
            <a:avLst>
              <a:gd name="adj1" fmla="val -63130"/>
              <a:gd name="adj2" fmla="val 6319"/>
              <a:gd name="adj3" fmla="val 16667"/>
            </a:avLst>
          </a:prstGeom>
          <a:noFill/>
          <a:ln w="25400" cap="flat" cmpd="sng">
            <a:solidFill>
              <a:srgbClr val="FF9900"/>
            </a:solidFill>
            <a:prstDash val="solid"/>
            <a:miter/>
            <a:headEnd type="none" w="med" len="med"/>
            <a:tailEnd type="none" w="med" len="med"/>
          </a:ln>
        </p:spPr>
        <p:txBody>
          <a:bodyPr anchor="ctr" anchorCtr="0"/>
          <a:lstStyle/>
          <a:p>
            <a:endParaRPr lang="en-US" altLang="zh-CN" sz="2000" b="1" dirty="0">
              <a:solidFill>
                <a:schemeClr val="tx1"/>
              </a:solidFill>
              <a:latin typeface="+mn-ea"/>
              <a:ea typeface="+mn-ea"/>
            </a:endParaRPr>
          </a:p>
          <a:p>
            <a:endParaRPr lang="en-US" altLang="zh-CN" sz="2000" b="1" dirty="0">
              <a:solidFill>
                <a:schemeClr val="tx1"/>
              </a:solidFill>
              <a:latin typeface="+mn-ea"/>
              <a:ea typeface="+mn-ea"/>
            </a:endParaRPr>
          </a:p>
          <a:p>
            <a:r>
              <a:rPr lang="zh-CN" altLang="en-US" sz="2000" b="1" dirty="0">
                <a:solidFill>
                  <a:schemeClr val="tx1"/>
                </a:solidFill>
                <a:latin typeface="+mn-ea"/>
                <a:ea typeface="+mn-ea"/>
              </a:rPr>
              <a:t>           时所对应的频带宽度</a:t>
            </a:r>
          </a:p>
          <a:p>
            <a:endParaRPr lang="zh-CN" altLang="en-US" sz="2000" b="1" dirty="0">
              <a:solidFill>
                <a:schemeClr val="tx1"/>
              </a:solidFill>
              <a:latin typeface="+mn-ea"/>
              <a:ea typeface="+mn-ea"/>
            </a:endParaRPr>
          </a:p>
          <a:p>
            <a:pPr algn="ctr"/>
            <a:endParaRPr lang="zh-CN" altLang="en-US" sz="2000" b="1" dirty="0">
              <a:solidFill>
                <a:schemeClr val="tx1"/>
              </a:solidFill>
              <a:latin typeface="+mn-ea"/>
              <a:ea typeface="+mn-ea"/>
            </a:endParaRPr>
          </a:p>
        </p:txBody>
      </p:sp>
      <p:sp>
        <p:nvSpPr>
          <p:cNvPr id="7" name="文本框 6">
            <a:extLst>
              <a:ext uri="{FF2B5EF4-FFF2-40B4-BE49-F238E27FC236}">
                <a16:creationId xmlns="" xmlns:a16="http://schemas.microsoft.com/office/drawing/2014/main" id="{79A7EF5E-87D6-6E32-2DB7-24E2D1F41793}"/>
              </a:ext>
            </a:extLst>
          </p:cNvPr>
          <p:cNvSpPr txBox="1"/>
          <p:nvPr/>
        </p:nvSpPr>
        <p:spPr>
          <a:xfrm>
            <a:off x="375685" y="1301378"/>
            <a:ext cx="3721100" cy="462307"/>
          </a:xfrm>
          <a:prstGeom prst="rect">
            <a:avLst/>
          </a:prstGeom>
          <a:noFill/>
          <a:ln w="12700">
            <a:noFill/>
          </a:ln>
        </p:spPr>
        <p:txBody>
          <a:bodyPr lIns="92075" tIns="46038" rIns="92075" bIns="46038" anchor="t" anchorCtr="0">
            <a:spAutoFit/>
          </a:bodyPr>
          <a:lstStyle/>
          <a:p>
            <a:pPr eaLnBrk="0" hangingPunct="0">
              <a:spcBef>
                <a:spcPct val="50000"/>
              </a:spcBef>
            </a:pPr>
            <a:r>
              <a:rPr lang="en-US" altLang="zh-CN" sz="2000" b="1" dirty="0">
                <a:solidFill>
                  <a:schemeClr val="tx1"/>
                </a:solidFill>
                <a:latin typeface="+mn-ea"/>
                <a:ea typeface="+mn-ea"/>
              </a:rPr>
              <a:t>3</a:t>
            </a:r>
            <a:r>
              <a:rPr lang="zh-CN" altLang="en-US" sz="2000" b="1" dirty="0">
                <a:solidFill>
                  <a:schemeClr val="tx1"/>
                </a:solidFill>
                <a:latin typeface="+mn-ea"/>
                <a:ea typeface="+mn-ea"/>
              </a:rPr>
              <a:t>）选择性</a:t>
            </a:r>
            <a:r>
              <a:rPr lang="zh-CN" altLang="en-US" sz="2400" b="1" dirty="0">
                <a:solidFill>
                  <a:schemeClr val="tx1"/>
                </a:solidFill>
                <a:latin typeface="+mn-ea"/>
                <a:ea typeface="+mn-ea"/>
              </a:rPr>
              <a:t>：</a:t>
            </a:r>
          </a:p>
        </p:txBody>
      </p:sp>
      <p:sp>
        <p:nvSpPr>
          <p:cNvPr id="8" name="矩形 7">
            <a:extLst>
              <a:ext uri="{FF2B5EF4-FFF2-40B4-BE49-F238E27FC236}">
                <a16:creationId xmlns="" xmlns:a16="http://schemas.microsoft.com/office/drawing/2014/main" id="{65F11D84-9869-1AFD-CDA9-797CEBFC9938}"/>
              </a:ext>
            </a:extLst>
          </p:cNvPr>
          <p:cNvSpPr/>
          <p:nvPr/>
        </p:nvSpPr>
        <p:spPr>
          <a:xfrm>
            <a:off x="401085" y="1879228"/>
            <a:ext cx="4017963" cy="1323439"/>
          </a:xfrm>
          <a:prstGeom prst="rect">
            <a:avLst/>
          </a:prstGeom>
          <a:noFill/>
          <a:ln w="9525">
            <a:noFill/>
          </a:ln>
        </p:spPr>
        <p:txBody>
          <a:bodyPr anchor="t" anchorCtr="0">
            <a:spAutoFit/>
          </a:bodyPr>
          <a:lstStyle/>
          <a:p>
            <a:pPr algn="just" eaLnBrk="1" latinLnBrk="1" hangingPunct="0">
              <a:spcBef>
                <a:spcPct val="20000"/>
              </a:spcBef>
            </a:pPr>
            <a:r>
              <a:rPr lang="zh-CN" altLang="en-US" sz="2000" b="1" dirty="0">
                <a:solidFill>
                  <a:schemeClr val="tx1"/>
                </a:solidFill>
                <a:latin typeface="+mn-ea"/>
                <a:ea typeface="+mn-ea"/>
              </a:rPr>
              <a:t>    </a:t>
            </a:r>
            <a:r>
              <a:rPr lang="zh-CN" altLang="en-US" sz="2000" b="1" dirty="0">
                <a:solidFill>
                  <a:srgbClr val="FF0000"/>
                </a:solidFill>
                <a:latin typeface="+mn-ea"/>
                <a:ea typeface="+mn-ea"/>
              </a:rPr>
              <a:t>表示选取有用信号，抑制无用信号的能力称为放大器的选择性。</a:t>
            </a:r>
            <a:r>
              <a:rPr lang="zh-CN" altLang="en-US" sz="2000" b="1" dirty="0">
                <a:solidFill>
                  <a:schemeClr val="tx1"/>
                </a:solidFill>
                <a:latin typeface="+mn-ea"/>
                <a:ea typeface="+mn-ea"/>
              </a:rPr>
              <a:t>选择性常采用矩形系数和抑制比来表示。</a:t>
            </a:r>
          </a:p>
        </p:txBody>
      </p:sp>
      <p:sp>
        <p:nvSpPr>
          <p:cNvPr id="9" name="矩形 8">
            <a:extLst>
              <a:ext uri="{FF2B5EF4-FFF2-40B4-BE49-F238E27FC236}">
                <a16:creationId xmlns="" xmlns:a16="http://schemas.microsoft.com/office/drawing/2014/main" id="{D96DCC3B-1049-F22F-0061-3DF7D6D8412C}"/>
              </a:ext>
            </a:extLst>
          </p:cNvPr>
          <p:cNvSpPr/>
          <p:nvPr/>
        </p:nvSpPr>
        <p:spPr>
          <a:xfrm>
            <a:off x="5813666" y="3184962"/>
            <a:ext cx="1104900" cy="228600"/>
          </a:xfrm>
          <a:prstGeom prst="rect">
            <a:avLst/>
          </a:prstGeom>
          <a:noFill/>
          <a:ln w="19050" cap="flat" cmpd="sng">
            <a:solidFill>
              <a:schemeClr val="tx1"/>
            </a:solidFill>
            <a:prstDash val="dash"/>
            <a:miter/>
            <a:headEnd type="none" w="med" len="med"/>
            <a:tailEnd type="none" w="med" len="med"/>
          </a:ln>
        </p:spPr>
        <p:txBody>
          <a:bodyPr anchor="t" anchorCtr="0"/>
          <a:lstStyle/>
          <a:p>
            <a:endParaRPr lang="zh-CN" altLang="en-US" sz="2000" dirty="0">
              <a:solidFill>
                <a:schemeClr val="tx1"/>
              </a:solidFill>
              <a:latin typeface="+mn-ea"/>
              <a:ea typeface="+mn-ea"/>
            </a:endParaRPr>
          </a:p>
        </p:txBody>
      </p:sp>
      <p:grpSp>
        <p:nvGrpSpPr>
          <p:cNvPr id="10" name="组合 9">
            <a:extLst>
              <a:ext uri="{FF2B5EF4-FFF2-40B4-BE49-F238E27FC236}">
                <a16:creationId xmlns="" xmlns:a16="http://schemas.microsoft.com/office/drawing/2014/main" id="{8DD24AFD-66BA-0B0C-E175-4CA8E017EB7F}"/>
              </a:ext>
            </a:extLst>
          </p:cNvPr>
          <p:cNvGrpSpPr/>
          <p:nvPr/>
        </p:nvGrpSpPr>
        <p:grpSpPr>
          <a:xfrm>
            <a:off x="4897679" y="2899212"/>
            <a:ext cx="3135312" cy="852487"/>
            <a:chOff x="1679" y="2121"/>
            <a:chExt cx="1975" cy="537"/>
          </a:xfrm>
        </p:grpSpPr>
        <p:sp>
          <p:nvSpPr>
            <p:cNvPr id="11" name="矩形 322570">
              <a:extLst>
                <a:ext uri="{FF2B5EF4-FFF2-40B4-BE49-F238E27FC236}">
                  <a16:creationId xmlns="" xmlns:a16="http://schemas.microsoft.com/office/drawing/2014/main" id="{A590F923-69E6-91D0-7847-2485A0DE00DC}"/>
                </a:ext>
              </a:extLst>
            </p:cNvPr>
            <p:cNvSpPr/>
            <p:nvPr/>
          </p:nvSpPr>
          <p:spPr>
            <a:xfrm>
              <a:off x="2950" y="2121"/>
              <a:ext cx="704" cy="252"/>
            </a:xfrm>
            <a:prstGeom prst="rect">
              <a:avLst/>
            </a:prstGeom>
            <a:noFill/>
            <a:ln w="9525">
              <a:noFill/>
            </a:ln>
          </p:spPr>
          <p:txBody>
            <a:bodyPr anchor="t" anchorCtr="0">
              <a:spAutoFit/>
            </a:bodyPr>
            <a:lstStyle/>
            <a:p>
              <a:r>
                <a:rPr lang="en-US" altLang="zh-CN" sz="2000" b="1">
                  <a:solidFill>
                    <a:schemeClr val="tx1"/>
                  </a:solidFill>
                  <a:latin typeface="+mn-ea"/>
                  <a:ea typeface="+mn-ea"/>
                </a:rPr>
                <a:t>0.1</a:t>
              </a:r>
            </a:p>
          </p:txBody>
        </p:sp>
        <p:sp>
          <p:nvSpPr>
            <p:cNvPr id="12" name="直接连接符 322571">
              <a:extLst>
                <a:ext uri="{FF2B5EF4-FFF2-40B4-BE49-F238E27FC236}">
                  <a16:creationId xmlns="" xmlns:a16="http://schemas.microsoft.com/office/drawing/2014/main" id="{A77675FB-6496-BFC7-F56D-4A204B292F25}"/>
                </a:ext>
              </a:extLst>
            </p:cNvPr>
            <p:cNvSpPr/>
            <p:nvPr/>
          </p:nvSpPr>
          <p:spPr>
            <a:xfrm flipV="1">
              <a:off x="2290" y="2525"/>
              <a:ext cx="702" cy="0"/>
            </a:xfrm>
            <a:prstGeom prst="line">
              <a:avLst/>
            </a:prstGeom>
            <a:ln w="9525" cap="flat" cmpd="sng">
              <a:solidFill>
                <a:srgbClr val="009900"/>
              </a:solidFill>
              <a:prstDash val="solid"/>
              <a:round/>
              <a:headEnd type="stealth" w="med" len="med"/>
              <a:tailEnd type="stealth" w="med" len="med"/>
            </a:ln>
          </p:spPr>
        </p:sp>
        <p:sp>
          <p:nvSpPr>
            <p:cNvPr id="13" name="矩形 322572">
              <a:extLst>
                <a:ext uri="{FF2B5EF4-FFF2-40B4-BE49-F238E27FC236}">
                  <a16:creationId xmlns="" xmlns:a16="http://schemas.microsoft.com/office/drawing/2014/main" id="{33469CE1-5E4D-350F-AC18-6465664185BF}"/>
                </a:ext>
              </a:extLst>
            </p:cNvPr>
            <p:cNvSpPr/>
            <p:nvPr/>
          </p:nvSpPr>
          <p:spPr>
            <a:xfrm>
              <a:off x="1679" y="2406"/>
              <a:ext cx="858" cy="252"/>
            </a:xfrm>
            <a:prstGeom prst="rect">
              <a:avLst/>
            </a:prstGeom>
            <a:noFill/>
            <a:ln w="9525">
              <a:noFill/>
            </a:ln>
          </p:spPr>
          <p:txBody>
            <a:bodyPr anchor="t" anchorCtr="0">
              <a:spAutoFit/>
            </a:bodyPr>
            <a:lstStyle/>
            <a:p>
              <a:r>
                <a:rPr lang="en-US" altLang="zh-CN" sz="2000" b="1" i="1" dirty="0">
                  <a:solidFill>
                    <a:srgbClr val="00B050"/>
                  </a:solidFill>
                  <a:latin typeface="+mn-ea"/>
                  <a:ea typeface="+mn-ea"/>
                </a:rPr>
                <a:t>2△f</a:t>
              </a:r>
              <a:r>
                <a:rPr lang="en-US" altLang="zh-CN" sz="2000" b="1" baseline="-25000" dirty="0">
                  <a:solidFill>
                    <a:srgbClr val="00B050"/>
                  </a:solidFill>
                  <a:latin typeface="+mn-ea"/>
                  <a:ea typeface="+mn-ea"/>
                </a:rPr>
                <a:t>0.1</a:t>
              </a:r>
            </a:p>
          </p:txBody>
        </p:sp>
      </p:grpSp>
      <p:grpSp>
        <p:nvGrpSpPr>
          <p:cNvPr id="14" name="组合 13">
            <a:extLst>
              <a:ext uri="{FF2B5EF4-FFF2-40B4-BE49-F238E27FC236}">
                <a16:creationId xmlns="" xmlns:a16="http://schemas.microsoft.com/office/drawing/2014/main" id="{98F0171B-382C-F1A1-C8C6-9D7544CA3D62}"/>
              </a:ext>
            </a:extLst>
          </p:cNvPr>
          <p:cNvGrpSpPr/>
          <p:nvPr/>
        </p:nvGrpSpPr>
        <p:grpSpPr>
          <a:xfrm>
            <a:off x="5034204" y="1605399"/>
            <a:ext cx="3319462" cy="2414588"/>
            <a:chOff x="1773" y="1314"/>
            <a:chExt cx="2091" cy="1521"/>
          </a:xfrm>
        </p:grpSpPr>
        <p:sp>
          <p:nvSpPr>
            <p:cNvPr id="15" name="直接连接符 322574">
              <a:extLst>
                <a:ext uri="{FF2B5EF4-FFF2-40B4-BE49-F238E27FC236}">
                  <a16:creationId xmlns="" xmlns:a16="http://schemas.microsoft.com/office/drawing/2014/main" id="{CF36AC3D-EE01-00BA-FC2D-4A7B07AB3011}"/>
                </a:ext>
              </a:extLst>
            </p:cNvPr>
            <p:cNvSpPr/>
            <p:nvPr/>
          </p:nvSpPr>
          <p:spPr>
            <a:xfrm rot="-5400000">
              <a:off x="2088" y="1932"/>
              <a:ext cx="1029" cy="0"/>
            </a:xfrm>
            <a:prstGeom prst="line">
              <a:avLst/>
            </a:prstGeom>
            <a:ln w="25400" cap="flat" cmpd="sng">
              <a:solidFill>
                <a:schemeClr val="tx1"/>
              </a:solidFill>
              <a:prstDash val="solid"/>
              <a:round/>
              <a:headEnd type="none" w="med" len="med"/>
              <a:tailEnd type="stealth" w="sm" len="lg"/>
            </a:ln>
          </p:spPr>
        </p:sp>
        <p:sp>
          <p:nvSpPr>
            <p:cNvPr id="16" name="矩形 322575">
              <a:extLst>
                <a:ext uri="{FF2B5EF4-FFF2-40B4-BE49-F238E27FC236}">
                  <a16:creationId xmlns="" xmlns:a16="http://schemas.microsoft.com/office/drawing/2014/main" id="{913E1AC4-8DF9-1AF3-F435-00A082052F68}"/>
                </a:ext>
              </a:extLst>
            </p:cNvPr>
            <p:cNvSpPr/>
            <p:nvPr/>
          </p:nvSpPr>
          <p:spPr>
            <a:xfrm>
              <a:off x="2514" y="2454"/>
              <a:ext cx="351" cy="381"/>
            </a:xfrm>
            <a:prstGeom prst="rect">
              <a:avLst/>
            </a:prstGeom>
            <a:noFill/>
            <a:ln w="9525">
              <a:noFill/>
            </a:ln>
          </p:spPr>
          <p:txBody>
            <a:bodyPr anchor="t" anchorCtr="0">
              <a:spAutoFit/>
            </a:bodyPr>
            <a:lstStyle/>
            <a:p>
              <a:r>
                <a:rPr lang="en-US" altLang="zh-CN" sz="2000" b="1" i="1">
                  <a:solidFill>
                    <a:schemeClr val="tx1"/>
                  </a:solidFill>
                  <a:latin typeface="+mn-ea"/>
                  <a:ea typeface="+mn-ea"/>
                </a:rPr>
                <a:t>f</a:t>
              </a:r>
              <a:r>
                <a:rPr lang="en-US" altLang="zh-CN" sz="2000" b="1" i="1" baseline="-25000">
                  <a:solidFill>
                    <a:schemeClr val="tx1"/>
                  </a:solidFill>
                  <a:latin typeface="+mn-ea"/>
                  <a:ea typeface="+mn-ea"/>
                </a:rPr>
                <a:t>0</a:t>
              </a:r>
            </a:p>
            <a:p>
              <a:endParaRPr lang="en-US" altLang="zh-CN" sz="2000" b="1" baseline="-25000">
                <a:solidFill>
                  <a:schemeClr val="tx1"/>
                </a:solidFill>
                <a:latin typeface="+mn-ea"/>
                <a:ea typeface="+mn-ea"/>
                <a:sym typeface="Symbol" panose="05050102010706020507" pitchFamily="18" charset="2"/>
              </a:endParaRPr>
            </a:p>
          </p:txBody>
        </p:sp>
        <p:sp>
          <p:nvSpPr>
            <p:cNvPr id="17" name="矩形 322576">
              <a:extLst>
                <a:ext uri="{FF2B5EF4-FFF2-40B4-BE49-F238E27FC236}">
                  <a16:creationId xmlns="" xmlns:a16="http://schemas.microsoft.com/office/drawing/2014/main" id="{FF3F5B46-4F38-016A-B3CB-A32DAB970CF2}"/>
                </a:ext>
              </a:extLst>
            </p:cNvPr>
            <p:cNvSpPr/>
            <p:nvPr/>
          </p:nvSpPr>
          <p:spPr>
            <a:xfrm>
              <a:off x="3478" y="2262"/>
              <a:ext cx="386" cy="252"/>
            </a:xfrm>
            <a:prstGeom prst="rect">
              <a:avLst/>
            </a:prstGeom>
            <a:noFill/>
            <a:ln w="9525">
              <a:noFill/>
            </a:ln>
          </p:spPr>
          <p:txBody>
            <a:bodyPr anchor="t" anchorCtr="0">
              <a:spAutoFit/>
            </a:bodyPr>
            <a:lstStyle/>
            <a:p>
              <a:r>
                <a:rPr lang="en-US" altLang="zh-CN" sz="2000" b="1" i="1">
                  <a:solidFill>
                    <a:schemeClr val="tx1"/>
                  </a:solidFill>
                  <a:latin typeface="+mn-ea"/>
                  <a:ea typeface="+mn-ea"/>
                </a:rPr>
                <a:t>f</a:t>
              </a:r>
            </a:p>
          </p:txBody>
        </p:sp>
        <p:grpSp>
          <p:nvGrpSpPr>
            <p:cNvPr id="18" name="组合 322577">
              <a:extLst>
                <a:ext uri="{FF2B5EF4-FFF2-40B4-BE49-F238E27FC236}">
                  <a16:creationId xmlns="" xmlns:a16="http://schemas.microsoft.com/office/drawing/2014/main" id="{C95A459A-5BFA-E7C9-DC72-D7AD674F19C0}"/>
                </a:ext>
              </a:extLst>
            </p:cNvPr>
            <p:cNvGrpSpPr/>
            <p:nvPr/>
          </p:nvGrpSpPr>
          <p:grpSpPr>
            <a:xfrm>
              <a:off x="1773" y="1314"/>
              <a:ext cx="1729" cy="1144"/>
              <a:chOff x="1773" y="1314"/>
              <a:chExt cx="1729" cy="1144"/>
            </a:xfrm>
          </p:grpSpPr>
          <p:sp>
            <p:nvSpPr>
              <p:cNvPr id="19" name="直接连接符 322578">
                <a:extLst>
                  <a:ext uri="{FF2B5EF4-FFF2-40B4-BE49-F238E27FC236}">
                    <a16:creationId xmlns="" xmlns:a16="http://schemas.microsoft.com/office/drawing/2014/main" id="{12C9D1F2-4B03-322C-5380-0975C3558089}"/>
                  </a:ext>
                </a:extLst>
              </p:cNvPr>
              <p:cNvSpPr/>
              <p:nvPr/>
            </p:nvSpPr>
            <p:spPr>
              <a:xfrm flipV="1">
                <a:off x="2484" y="2189"/>
                <a:ext cx="264" cy="0"/>
              </a:xfrm>
              <a:prstGeom prst="line">
                <a:avLst/>
              </a:prstGeom>
              <a:ln w="19050" cap="flat" cmpd="sng">
                <a:solidFill>
                  <a:srgbClr val="996600"/>
                </a:solidFill>
                <a:prstDash val="solid"/>
                <a:round/>
                <a:headEnd type="stealth" w="med" len="med"/>
                <a:tailEnd type="stealth" w="med" len="med"/>
              </a:ln>
            </p:spPr>
          </p:sp>
          <p:graphicFrame>
            <p:nvGraphicFramePr>
              <p:cNvPr id="20" name="对象 322579">
                <a:extLst>
                  <a:ext uri="{FF2B5EF4-FFF2-40B4-BE49-F238E27FC236}">
                    <a16:creationId xmlns="" xmlns:a16="http://schemas.microsoft.com/office/drawing/2014/main" id="{EAE22258-DC14-AD20-3E7B-EBF6385E22DC}"/>
                  </a:ext>
                </a:extLst>
              </p:cNvPr>
              <p:cNvGraphicFramePr/>
              <p:nvPr/>
            </p:nvGraphicFramePr>
            <p:xfrm>
              <a:off x="2093" y="1314"/>
              <a:ext cx="343" cy="577"/>
            </p:xfrm>
            <a:graphic>
              <a:graphicData uri="http://schemas.openxmlformats.org/presentationml/2006/ole">
                <mc:AlternateContent xmlns:mc="http://schemas.openxmlformats.org/markup-compatibility/2006">
                  <mc:Choice xmlns:v="urn:schemas-microsoft-com:vml" Requires="v">
                    <p:oleObj spid="_x0000_s55538" r:id="rId4" imgW="355600" imgH="762000" progId="Equation.3">
                      <p:embed/>
                    </p:oleObj>
                  </mc:Choice>
                  <mc:Fallback>
                    <p:oleObj r:id="rId4" imgW="355600" imgH="762000" progId="Equation.3">
                      <p:embed/>
                      <p:pic>
                        <p:nvPicPr>
                          <p:cNvPr id="0" name=""/>
                          <p:cNvPicPr/>
                          <p:nvPr/>
                        </p:nvPicPr>
                        <p:blipFill>
                          <a:blip r:embed="rId5">
                            <a:clrChange>
                              <a:clrFrom>
                                <a:srgbClr val="000000"/>
                              </a:clrFrom>
                              <a:clrTo>
                                <a:srgbClr val="000000"/>
                              </a:clrTo>
                            </a:clrChange>
                          </a:blip>
                          <a:stretch>
                            <a:fillRect/>
                          </a:stretch>
                        </p:blipFill>
                        <p:spPr>
                          <a:xfrm>
                            <a:off x="2093" y="1314"/>
                            <a:ext cx="343" cy="577"/>
                          </a:xfrm>
                          <a:prstGeom prst="rect">
                            <a:avLst/>
                          </a:prstGeom>
                          <a:noFill/>
                          <a:ln w="38100">
                            <a:noFill/>
                            <a:miter/>
                          </a:ln>
                        </p:spPr>
                      </p:pic>
                    </p:oleObj>
                  </mc:Fallback>
                </mc:AlternateContent>
              </a:graphicData>
            </a:graphic>
          </p:graphicFrame>
          <p:sp>
            <p:nvSpPr>
              <p:cNvPr id="21" name="矩形 322580">
                <a:extLst>
                  <a:ext uri="{FF2B5EF4-FFF2-40B4-BE49-F238E27FC236}">
                    <a16:creationId xmlns="" xmlns:a16="http://schemas.microsoft.com/office/drawing/2014/main" id="{644E6AB0-8DA1-74C8-F9E9-B7239C143BA9}"/>
                  </a:ext>
                </a:extLst>
              </p:cNvPr>
              <p:cNvSpPr/>
              <p:nvPr/>
            </p:nvSpPr>
            <p:spPr>
              <a:xfrm>
                <a:off x="2635" y="1514"/>
                <a:ext cx="431" cy="250"/>
              </a:xfrm>
              <a:prstGeom prst="rect">
                <a:avLst/>
              </a:prstGeom>
              <a:noFill/>
              <a:ln w="38100">
                <a:noFill/>
              </a:ln>
            </p:spPr>
            <p:txBody>
              <a:bodyPr anchor="t" anchorCtr="0">
                <a:spAutoFit/>
              </a:bodyPr>
              <a:lstStyle/>
              <a:p>
                <a:r>
                  <a:rPr lang="en-US" altLang="zh-CN" sz="2000" b="1">
                    <a:solidFill>
                      <a:schemeClr val="tx1"/>
                    </a:solidFill>
                    <a:latin typeface="+mn-ea"/>
                    <a:ea typeface="+mn-ea"/>
                  </a:rPr>
                  <a:t>1.0</a:t>
                </a:r>
                <a:endParaRPr lang="en-US" altLang="zh-CN" sz="2000" b="1" baseline="-25000">
                  <a:solidFill>
                    <a:schemeClr val="tx1"/>
                  </a:solidFill>
                  <a:latin typeface="+mn-ea"/>
                  <a:ea typeface="+mn-ea"/>
                </a:endParaRPr>
              </a:p>
            </p:txBody>
          </p:sp>
          <p:grpSp>
            <p:nvGrpSpPr>
              <p:cNvPr id="22" name="组合 322581">
                <a:extLst>
                  <a:ext uri="{FF2B5EF4-FFF2-40B4-BE49-F238E27FC236}">
                    <a16:creationId xmlns="" xmlns:a16="http://schemas.microsoft.com/office/drawing/2014/main" id="{73711744-050E-3BEF-D8FA-26A9FFAE016E}"/>
                  </a:ext>
                </a:extLst>
              </p:cNvPr>
              <p:cNvGrpSpPr/>
              <p:nvPr/>
            </p:nvGrpSpPr>
            <p:grpSpPr>
              <a:xfrm>
                <a:off x="2034" y="1773"/>
                <a:ext cx="1155" cy="644"/>
                <a:chOff x="546" y="2596"/>
                <a:chExt cx="1155" cy="644"/>
              </a:xfrm>
            </p:grpSpPr>
            <p:sp>
              <p:nvSpPr>
                <p:cNvPr id="27" name="任意多边形 322582">
                  <a:extLst>
                    <a:ext uri="{FF2B5EF4-FFF2-40B4-BE49-F238E27FC236}">
                      <a16:creationId xmlns="" xmlns:a16="http://schemas.microsoft.com/office/drawing/2014/main" id="{AC83BC46-ABFB-095B-1DE9-F5A100B749BC}"/>
                    </a:ext>
                  </a:extLst>
                </p:cNvPr>
                <p:cNvSpPr/>
                <p:nvPr/>
              </p:nvSpPr>
              <p:spPr>
                <a:xfrm>
                  <a:off x="546" y="2596"/>
                  <a:ext cx="579" cy="644"/>
                </a:xfrm>
                <a:custGeom>
                  <a:avLst/>
                  <a:gdLst/>
                  <a:ahLst/>
                  <a:cxnLst>
                    <a:cxn ang="0">
                      <a:pos x="0" y="644"/>
                    </a:cxn>
                    <a:cxn ang="0">
                      <a:pos x="176" y="578"/>
                    </a:cxn>
                    <a:cxn ang="0">
                      <a:pos x="366" y="401"/>
                    </a:cxn>
                    <a:cxn ang="0">
                      <a:pos x="445" y="241"/>
                    </a:cxn>
                    <a:cxn ang="0">
                      <a:pos x="512" y="48"/>
                    </a:cxn>
                    <a:cxn ang="0">
                      <a:pos x="579" y="0"/>
                    </a:cxn>
                  </a:cxnLst>
                  <a:rect l="0" t="0" r="0" b="0"/>
                  <a:pathLst>
                    <a:path w="579" h="644">
                      <a:moveTo>
                        <a:pt x="0" y="644"/>
                      </a:moveTo>
                      <a:cubicBezTo>
                        <a:pt x="31" y="633"/>
                        <a:pt x="115" y="618"/>
                        <a:pt x="176" y="578"/>
                      </a:cubicBezTo>
                      <a:cubicBezTo>
                        <a:pt x="237" y="538"/>
                        <a:pt x="322" y="457"/>
                        <a:pt x="366" y="401"/>
                      </a:cubicBezTo>
                      <a:cubicBezTo>
                        <a:pt x="411" y="345"/>
                        <a:pt x="421" y="300"/>
                        <a:pt x="445" y="241"/>
                      </a:cubicBezTo>
                      <a:cubicBezTo>
                        <a:pt x="469" y="182"/>
                        <a:pt x="489" y="88"/>
                        <a:pt x="512" y="48"/>
                      </a:cubicBezTo>
                      <a:cubicBezTo>
                        <a:pt x="534" y="8"/>
                        <a:pt x="557" y="4"/>
                        <a:pt x="579" y="0"/>
                      </a:cubicBezTo>
                    </a:path>
                  </a:pathLst>
                </a:custGeom>
                <a:noFill/>
                <a:ln w="38100" cap="flat" cmpd="sng">
                  <a:solidFill>
                    <a:srgbClr val="FF0066"/>
                  </a:solidFill>
                  <a:prstDash val="solid"/>
                  <a:round/>
                  <a:headEnd type="none" w="med" len="med"/>
                  <a:tailEnd type="none" w="med" len="med"/>
                </a:ln>
              </p:spPr>
              <p:txBody>
                <a:bodyPr/>
                <a:lstStyle/>
                <a:p>
                  <a:endParaRPr lang="zh-CN" altLang="en-US" sz="2000">
                    <a:solidFill>
                      <a:schemeClr val="tx1"/>
                    </a:solidFill>
                    <a:latin typeface="+mn-ea"/>
                    <a:ea typeface="+mn-ea"/>
                  </a:endParaRPr>
                </a:p>
              </p:txBody>
            </p:sp>
            <p:sp>
              <p:nvSpPr>
                <p:cNvPr id="28" name="任意多边形 322583">
                  <a:extLst>
                    <a:ext uri="{FF2B5EF4-FFF2-40B4-BE49-F238E27FC236}">
                      <a16:creationId xmlns="" xmlns:a16="http://schemas.microsoft.com/office/drawing/2014/main" id="{7D6085DA-5801-976F-76FB-B59AC8A9DB37}"/>
                    </a:ext>
                  </a:extLst>
                </p:cNvPr>
                <p:cNvSpPr/>
                <p:nvPr/>
              </p:nvSpPr>
              <p:spPr>
                <a:xfrm flipH="1">
                  <a:off x="1122" y="2596"/>
                  <a:ext cx="579" cy="644"/>
                </a:xfrm>
                <a:custGeom>
                  <a:avLst/>
                  <a:gdLst/>
                  <a:ahLst/>
                  <a:cxnLst>
                    <a:cxn ang="0">
                      <a:pos x="0" y="644"/>
                    </a:cxn>
                    <a:cxn ang="0">
                      <a:pos x="176" y="578"/>
                    </a:cxn>
                    <a:cxn ang="0">
                      <a:pos x="366" y="401"/>
                    </a:cxn>
                    <a:cxn ang="0">
                      <a:pos x="445" y="241"/>
                    </a:cxn>
                    <a:cxn ang="0">
                      <a:pos x="512" y="48"/>
                    </a:cxn>
                    <a:cxn ang="0">
                      <a:pos x="579" y="0"/>
                    </a:cxn>
                  </a:cxnLst>
                  <a:rect l="0" t="0" r="0" b="0"/>
                  <a:pathLst>
                    <a:path w="579" h="644">
                      <a:moveTo>
                        <a:pt x="0" y="644"/>
                      </a:moveTo>
                      <a:cubicBezTo>
                        <a:pt x="31" y="633"/>
                        <a:pt x="115" y="618"/>
                        <a:pt x="176" y="578"/>
                      </a:cubicBezTo>
                      <a:cubicBezTo>
                        <a:pt x="237" y="538"/>
                        <a:pt x="322" y="457"/>
                        <a:pt x="366" y="401"/>
                      </a:cubicBezTo>
                      <a:cubicBezTo>
                        <a:pt x="411" y="345"/>
                        <a:pt x="421" y="300"/>
                        <a:pt x="445" y="241"/>
                      </a:cubicBezTo>
                      <a:cubicBezTo>
                        <a:pt x="469" y="182"/>
                        <a:pt x="489" y="88"/>
                        <a:pt x="512" y="48"/>
                      </a:cubicBezTo>
                      <a:cubicBezTo>
                        <a:pt x="534" y="8"/>
                        <a:pt x="557" y="4"/>
                        <a:pt x="579" y="0"/>
                      </a:cubicBezTo>
                    </a:path>
                  </a:pathLst>
                </a:custGeom>
                <a:noFill/>
                <a:ln w="38100" cap="flat" cmpd="sng">
                  <a:solidFill>
                    <a:srgbClr val="FF0066"/>
                  </a:solidFill>
                  <a:prstDash val="solid"/>
                  <a:round/>
                  <a:headEnd type="none" w="med" len="med"/>
                  <a:tailEnd type="none" w="med" len="med"/>
                </a:ln>
              </p:spPr>
              <p:txBody>
                <a:bodyPr/>
                <a:lstStyle/>
                <a:p>
                  <a:endParaRPr lang="zh-CN" altLang="en-US" sz="2000">
                    <a:solidFill>
                      <a:schemeClr val="tx1"/>
                    </a:solidFill>
                    <a:latin typeface="+mn-ea"/>
                    <a:ea typeface="+mn-ea"/>
                  </a:endParaRPr>
                </a:p>
              </p:txBody>
            </p:sp>
          </p:grpSp>
          <p:sp>
            <p:nvSpPr>
              <p:cNvPr id="23" name="矩形 322584">
                <a:extLst>
                  <a:ext uri="{FF2B5EF4-FFF2-40B4-BE49-F238E27FC236}">
                    <a16:creationId xmlns="" xmlns:a16="http://schemas.microsoft.com/office/drawing/2014/main" id="{24D70E1C-65C8-6E42-9332-914FC379A2D4}"/>
                  </a:ext>
                </a:extLst>
              </p:cNvPr>
              <p:cNvSpPr/>
              <p:nvPr/>
            </p:nvSpPr>
            <p:spPr>
              <a:xfrm>
                <a:off x="2798" y="1781"/>
                <a:ext cx="704" cy="250"/>
              </a:xfrm>
              <a:prstGeom prst="rect">
                <a:avLst/>
              </a:prstGeom>
              <a:noFill/>
              <a:ln w="9525">
                <a:noFill/>
              </a:ln>
            </p:spPr>
            <p:txBody>
              <a:bodyPr anchor="t" anchorCtr="0">
                <a:spAutoFit/>
              </a:bodyPr>
              <a:lstStyle/>
              <a:p>
                <a:r>
                  <a:rPr lang="en-US" altLang="zh-CN" sz="2000" b="1">
                    <a:solidFill>
                      <a:schemeClr val="tx1"/>
                    </a:solidFill>
                    <a:latin typeface="+mn-ea"/>
                    <a:ea typeface="+mn-ea"/>
                  </a:rPr>
                  <a:t>0.707</a:t>
                </a:r>
              </a:p>
            </p:txBody>
          </p:sp>
          <p:sp>
            <p:nvSpPr>
              <p:cNvPr id="24" name="矩形 322585">
                <a:extLst>
                  <a:ext uri="{FF2B5EF4-FFF2-40B4-BE49-F238E27FC236}">
                    <a16:creationId xmlns="" xmlns:a16="http://schemas.microsoft.com/office/drawing/2014/main" id="{E67F88E8-0971-5D27-DDA0-2B120E60D257}"/>
                  </a:ext>
                </a:extLst>
              </p:cNvPr>
              <p:cNvSpPr/>
              <p:nvPr/>
            </p:nvSpPr>
            <p:spPr>
              <a:xfrm>
                <a:off x="2496" y="1991"/>
                <a:ext cx="240" cy="456"/>
              </a:xfrm>
              <a:prstGeom prst="rect">
                <a:avLst/>
              </a:prstGeom>
              <a:noFill/>
              <a:ln w="19050" cap="flat" cmpd="sng">
                <a:solidFill>
                  <a:schemeClr val="tx1"/>
                </a:solidFill>
                <a:prstDash val="dash"/>
                <a:miter/>
                <a:headEnd type="none" w="med" len="med"/>
                <a:tailEnd type="none" w="med" len="med"/>
              </a:ln>
            </p:spPr>
            <p:txBody>
              <a:bodyPr anchor="t" anchorCtr="0"/>
              <a:lstStyle/>
              <a:p>
                <a:endParaRPr lang="zh-CN" altLang="en-US" sz="2000" dirty="0">
                  <a:solidFill>
                    <a:schemeClr val="tx1"/>
                  </a:solidFill>
                  <a:latin typeface="+mn-ea"/>
                  <a:ea typeface="+mn-ea"/>
                </a:endParaRPr>
              </a:p>
            </p:txBody>
          </p:sp>
          <p:sp>
            <p:nvSpPr>
              <p:cNvPr id="25" name="矩形 322586">
                <a:extLst>
                  <a:ext uri="{FF2B5EF4-FFF2-40B4-BE49-F238E27FC236}">
                    <a16:creationId xmlns="" xmlns:a16="http://schemas.microsoft.com/office/drawing/2014/main" id="{9B35B3D4-4157-5E10-E6F9-A2DECBDE895B}"/>
                  </a:ext>
                </a:extLst>
              </p:cNvPr>
              <p:cNvSpPr/>
              <p:nvPr/>
            </p:nvSpPr>
            <p:spPr>
              <a:xfrm>
                <a:off x="1773" y="1902"/>
                <a:ext cx="606" cy="252"/>
              </a:xfrm>
              <a:prstGeom prst="rect">
                <a:avLst/>
              </a:prstGeom>
              <a:noFill/>
              <a:ln w="9525">
                <a:noFill/>
              </a:ln>
            </p:spPr>
            <p:txBody>
              <a:bodyPr wrap="none" anchor="t" anchorCtr="0">
                <a:spAutoFit/>
              </a:bodyPr>
              <a:lstStyle/>
              <a:p>
                <a:r>
                  <a:rPr lang="en-US" altLang="zh-CN" sz="2000" b="1" i="1" dirty="0">
                    <a:solidFill>
                      <a:srgbClr val="FFC000"/>
                    </a:solidFill>
                    <a:latin typeface="+mn-ea"/>
                    <a:ea typeface="+mn-ea"/>
                  </a:rPr>
                  <a:t>2△f</a:t>
                </a:r>
                <a:r>
                  <a:rPr lang="en-US" altLang="zh-CN" sz="2000" b="1" baseline="-25000" dirty="0">
                    <a:solidFill>
                      <a:srgbClr val="FFC000"/>
                    </a:solidFill>
                    <a:latin typeface="+mn-ea"/>
                    <a:ea typeface="+mn-ea"/>
                  </a:rPr>
                  <a:t>0.7</a:t>
                </a:r>
              </a:p>
            </p:txBody>
          </p:sp>
          <p:sp>
            <p:nvSpPr>
              <p:cNvPr id="26" name="直接连接符 322587">
                <a:extLst>
                  <a:ext uri="{FF2B5EF4-FFF2-40B4-BE49-F238E27FC236}">
                    <a16:creationId xmlns="" xmlns:a16="http://schemas.microsoft.com/office/drawing/2014/main" id="{9DEEC7D6-92AE-9766-606B-41BDB0328872}"/>
                  </a:ext>
                </a:extLst>
              </p:cNvPr>
              <p:cNvSpPr/>
              <p:nvPr/>
            </p:nvSpPr>
            <p:spPr>
              <a:xfrm>
                <a:off x="1908" y="2458"/>
                <a:ext cx="1512" cy="0"/>
              </a:xfrm>
              <a:prstGeom prst="line">
                <a:avLst/>
              </a:prstGeom>
              <a:ln w="25400" cap="flat" cmpd="sng">
                <a:solidFill>
                  <a:schemeClr val="tx1"/>
                </a:solidFill>
                <a:prstDash val="solid"/>
                <a:round/>
                <a:headEnd type="none" w="med" len="med"/>
                <a:tailEnd type="stealth" w="sm" len="lg"/>
              </a:ln>
            </p:spPr>
          </p:sp>
        </p:grpSp>
      </p:grpSp>
      <p:sp>
        <p:nvSpPr>
          <p:cNvPr id="29" name="矩形 28">
            <a:extLst>
              <a:ext uri="{FF2B5EF4-FFF2-40B4-BE49-F238E27FC236}">
                <a16:creationId xmlns="" xmlns:a16="http://schemas.microsoft.com/office/drawing/2014/main" id="{98F5F382-E23C-8E4E-FA51-0CD8E994A967}"/>
              </a:ext>
            </a:extLst>
          </p:cNvPr>
          <p:cNvSpPr/>
          <p:nvPr/>
        </p:nvSpPr>
        <p:spPr>
          <a:xfrm>
            <a:off x="678897" y="3870808"/>
            <a:ext cx="7966075" cy="808876"/>
          </a:xfrm>
          <a:prstGeom prst="rect">
            <a:avLst/>
          </a:prstGeom>
          <a:noFill/>
          <a:ln w="9525">
            <a:noFill/>
          </a:ln>
        </p:spPr>
        <p:txBody>
          <a:bodyPr anchor="ctr" anchorCtr="0">
            <a:spAutoFit/>
          </a:bodyPr>
          <a:lstStyle/>
          <a:p>
            <a:pPr indent="133350" eaLnBrk="0" hangingPunct="0">
              <a:lnSpc>
                <a:spcPct val="125000"/>
              </a:lnSpc>
              <a:spcBef>
                <a:spcPct val="20000"/>
              </a:spcBef>
            </a:pPr>
            <a:r>
              <a:rPr lang="en-US" altLang="zh-CN" sz="2000" b="1" dirty="0">
                <a:solidFill>
                  <a:schemeClr val="tx1"/>
                </a:solidFill>
                <a:latin typeface="+mn-ea"/>
                <a:ea typeface="+mn-ea"/>
              </a:rPr>
              <a:t>      </a:t>
            </a:r>
            <a:r>
              <a:rPr lang="zh-CN" altLang="en-US" sz="2000" b="1" dirty="0">
                <a:solidFill>
                  <a:schemeClr val="tx1"/>
                </a:solidFill>
                <a:latin typeface="+mn-ea"/>
                <a:ea typeface="+mn-ea"/>
              </a:rPr>
              <a:t>表征放大器选择性好坏的一个参量，用来表示实际曲线形状接近理想矩形的程度</a:t>
            </a:r>
          </a:p>
        </p:txBody>
      </p:sp>
      <p:graphicFrame>
        <p:nvGraphicFramePr>
          <p:cNvPr id="30" name="对象 29">
            <a:extLst>
              <a:ext uri="{FF2B5EF4-FFF2-40B4-BE49-F238E27FC236}">
                <a16:creationId xmlns="" xmlns:a16="http://schemas.microsoft.com/office/drawing/2014/main" id="{68CDC952-CF2A-6FB0-B16C-3494206D2A20}"/>
              </a:ext>
            </a:extLst>
          </p:cNvPr>
          <p:cNvGraphicFramePr/>
          <p:nvPr>
            <p:extLst>
              <p:ext uri="{D42A27DB-BD31-4B8C-83A1-F6EECF244321}">
                <p14:modId xmlns:p14="http://schemas.microsoft.com/office/powerpoint/2010/main" val="1112270813"/>
              </p:ext>
            </p:extLst>
          </p:nvPr>
        </p:nvGraphicFramePr>
        <p:xfrm>
          <a:off x="2635773" y="4965738"/>
          <a:ext cx="1122363" cy="898525"/>
        </p:xfrm>
        <a:graphic>
          <a:graphicData uri="http://schemas.openxmlformats.org/presentationml/2006/ole">
            <mc:AlternateContent xmlns:mc="http://schemas.openxmlformats.org/markup-compatibility/2006">
              <mc:Choice xmlns:v="urn:schemas-microsoft-com:vml" Requires="v">
                <p:oleObj spid="_x0000_s55539" r:id="rId6" imgW="546100" imgH="431800" progId="Equation.3">
                  <p:embed/>
                </p:oleObj>
              </mc:Choice>
              <mc:Fallback>
                <p:oleObj r:id="rId6" imgW="546100" imgH="431800" progId="Equation.3">
                  <p:embed/>
                  <p:pic>
                    <p:nvPicPr>
                      <p:cNvPr id="0" name=""/>
                      <p:cNvPicPr/>
                      <p:nvPr/>
                    </p:nvPicPr>
                    <p:blipFill>
                      <a:blip r:embed="rId7"/>
                      <a:stretch>
                        <a:fillRect/>
                      </a:stretch>
                    </p:blipFill>
                    <p:spPr>
                      <a:xfrm>
                        <a:off x="2635773" y="4965738"/>
                        <a:ext cx="1122363" cy="898525"/>
                      </a:xfrm>
                      <a:prstGeom prst="rect">
                        <a:avLst/>
                      </a:prstGeom>
                      <a:noFill/>
                      <a:ln w="38100">
                        <a:noFill/>
                        <a:miter/>
                      </a:ln>
                    </p:spPr>
                  </p:pic>
                </p:oleObj>
              </mc:Fallback>
            </mc:AlternateContent>
          </a:graphicData>
        </a:graphic>
      </p:graphicFrame>
      <p:sp>
        <p:nvSpPr>
          <p:cNvPr id="31" name="矩形 30">
            <a:extLst>
              <a:ext uri="{FF2B5EF4-FFF2-40B4-BE49-F238E27FC236}">
                <a16:creationId xmlns="" xmlns:a16="http://schemas.microsoft.com/office/drawing/2014/main" id="{B6C7F996-3A52-92E1-F325-2B93AEE67919}"/>
              </a:ext>
            </a:extLst>
          </p:cNvPr>
          <p:cNvSpPr/>
          <p:nvPr/>
        </p:nvSpPr>
        <p:spPr>
          <a:xfrm>
            <a:off x="440773" y="3435783"/>
            <a:ext cx="1919287" cy="400110"/>
          </a:xfrm>
          <a:prstGeom prst="rect">
            <a:avLst/>
          </a:prstGeom>
          <a:noFill/>
          <a:ln w="9525">
            <a:noFill/>
          </a:ln>
        </p:spPr>
        <p:txBody>
          <a:bodyPr anchor="t" anchorCtr="0">
            <a:spAutoFit/>
          </a:bodyPr>
          <a:lstStyle/>
          <a:p>
            <a:pPr algn="ctr"/>
            <a:r>
              <a:rPr lang="zh-CN" altLang="en-US" sz="2000" b="1" dirty="0">
                <a:solidFill>
                  <a:srgbClr val="FF0000"/>
                </a:solidFill>
                <a:latin typeface="+mn-ea"/>
                <a:ea typeface="+mn-ea"/>
              </a:rPr>
              <a:t>矩形系数：</a:t>
            </a:r>
          </a:p>
        </p:txBody>
      </p:sp>
      <p:graphicFrame>
        <p:nvGraphicFramePr>
          <p:cNvPr id="32" name="内容占位符 322591">
            <a:extLst>
              <a:ext uri="{FF2B5EF4-FFF2-40B4-BE49-F238E27FC236}">
                <a16:creationId xmlns="" xmlns:a16="http://schemas.microsoft.com/office/drawing/2014/main" id="{DB000C97-2DAB-0385-DA5A-2CD47B766D1A}"/>
              </a:ext>
            </a:extLst>
          </p:cNvPr>
          <p:cNvGraphicFramePr>
            <a:graphicFrameLocks/>
          </p:cNvGraphicFramePr>
          <p:nvPr>
            <p:extLst>
              <p:ext uri="{D42A27DB-BD31-4B8C-83A1-F6EECF244321}">
                <p14:modId xmlns:p14="http://schemas.microsoft.com/office/powerpoint/2010/main" val="2902144421"/>
              </p:ext>
            </p:extLst>
          </p:nvPr>
        </p:nvGraphicFramePr>
        <p:xfrm>
          <a:off x="4470641" y="5210212"/>
          <a:ext cx="1397000" cy="409575"/>
        </p:xfrm>
        <a:graphic>
          <a:graphicData uri="http://schemas.openxmlformats.org/presentationml/2006/ole">
            <mc:AlternateContent xmlns:mc="http://schemas.openxmlformats.org/markup-compatibility/2006">
              <mc:Choice xmlns:v="urn:schemas-microsoft-com:vml" Requires="v">
                <p:oleObj spid="_x0000_s55540" r:id="rId8" imgW="824865" imgH="241300" progId="Equation.3">
                  <p:embed/>
                </p:oleObj>
              </mc:Choice>
              <mc:Fallback>
                <p:oleObj r:id="rId8" imgW="824865" imgH="241300" progId="Equation.3">
                  <p:embed/>
                  <p:pic>
                    <p:nvPicPr>
                      <p:cNvPr id="0" name=""/>
                      <p:cNvPicPr/>
                      <p:nvPr/>
                    </p:nvPicPr>
                    <p:blipFill>
                      <a:blip r:embed="rId9"/>
                      <a:stretch>
                        <a:fillRect/>
                      </a:stretch>
                    </p:blipFill>
                    <p:spPr>
                      <a:xfrm>
                        <a:off x="4470641" y="5210212"/>
                        <a:ext cx="1397000" cy="409575"/>
                      </a:xfrm>
                      <a:prstGeom prst="rect">
                        <a:avLst/>
                      </a:prstGeom>
                      <a:noFill/>
                      <a:ln w="38100">
                        <a:noFill/>
                        <a:miter/>
                      </a:ln>
                    </p:spPr>
                  </p:pic>
                </p:oleObj>
              </mc:Fallback>
            </mc:AlternateContent>
          </a:graphicData>
        </a:graphic>
      </p:graphicFrame>
      <p:graphicFrame>
        <p:nvGraphicFramePr>
          <p:cNvPr id="33" name="内容占位符 322592">
            <a:extLst>
              <a:ext uri="{FF2B5EF4-FFF2-40B4-BE49-F238E27FC236}">
                <a16:creationId xmlns="" xmlns:a16="http://schemas.microsoft.com/office/drawing/2014/main" id="{05D13197-0140-C00F-8B10-31F1612E38CA}"/>
              </a:ext>
            </a:extLst>
          </p:cNvPr>
          <p:cNvGraphicFramePr>
            <a:graphicFrameLocks/>
          </p:cNvGraphicFramePr>
          <p:nvPr>
            <p:extLst>
              <p:ext uri="{D42A27DB-BD31-4B8C-83A1-F6EECF244321}">
                <p14:modId xmlns:p14="http://schemas.microsoft.com/office/powerpoint/2010/main" val="227173903"/>
              </p:ext>
            </p:extLst>
          </p:nvPr>
        </p:nvGraphicFramePr>
        <p:xfrm>
          <a:off x="2011604" y="5156489"/>
          <a:ext cx="696912" cy="522287"/>
        </p:xfrm>
        <a:graphic>
          <a:graphicData uri="http://schemas.openxmlformats.org/presentationml/2006/ole">
            <mc:AlternateContent xmlns:mc="http://schemas.openxmlformats.org/markup-compatibility/2006">
              <mc:Choice xmlns:v="urn:schemas-microsoft-com:vml" Requires="v">
                <p:oleObj spid="_x0000_s55541" r:id="rId10" imgW="317500" imgH="228600" progId="Equation.3">
                  <p:embed/>
                </p:oleObj>
              </mc:Choice>
              <mc:Fallback>
                <p:oleObj r:id="rId10" imgW="317500" imgH="228600" progId="Equation.3">
                  <p:embed/>
                  <p:pic>
                    <p:nvPicPr>
                      <p:cNvPr id="0" name=""/>
                      <p:cNvPicPr/>
                      <p:nvPr/>
                    </p:nvPicPr>
                    <p:blipFill>
                      <a:blip r:embed="rId11"/>
                      <a:stretch>
                        <a:fillRect/>
                      </a:stretch>
                    </p:blipFill>
                    <p:spPr>
                      <a:xfrm>
                        <a:off x="2011604" y="5156489"/>
                        <a:ext cx="696912" cy="522287"/>
                      </a:xfrm>
                      <a:prstGeom prst="rect">
                        <a:avLst/>
                      </a:prstGeom>
                      <a:noFill/>
                      <a:ln w="38100">
                        <a:noFill/>
                        <a:miter/>
                      </a:ln>
                    </p:spPr>
                  </p:pic>
                </p:oleObj>
              </mc:Fallback>
            </mc:AlternateContent>
          </a:graphicData>
        </a:graphic>
      </p:graphicFrame>
      <p:graphicFrame>
        <p:nvGraphicFramePr>
          <p:cNvPr id="34" name="对象 33">
            <a:extLst>
              <a:ext uri="{FF2B5EF4-FFF2-40B4-BE49-F238E27FC236}">
                <a16:creationId xmlns="" xmlns:a16="http://schemas.microsoft.com/office/drawing/2014/main" id="{17D254E7-D61F-BB38-B044-E98595F888DB}"/>
              </a:ext>
            </a:extLst>
          </p:cNvPr>
          <p:cNvGraphicFramePr/>
          <p:nvPr>
            <p:extLst>
              <p:ext uri="{D42A27DB-BD31-4B8C-83A1-F6EECF244321}">
                <p14:modId xmlns:p14="http://schemas.microsoft.com/office/powerpoint/2010/main" val="4210737169"/>
              </p:ext>
            </p:extLst>
          </p:nvPr>
        </p:nvGraphicFramePr>
        <p:xfrm>
          <a:off x="1956323" y="6137313"/>
          <a:ext cx="1154113" cy="442912"/>
        </p:xfrm>
        <a:graphic>
          <a:graphicData uri="http://schemas.openxmlformats.org/presentationml/2006/ole">
            <mc:AlternateContent xmlns:mc="http://schemas.openxmlformats.org/markup-compatibility/2006">
              <mc:Choice xmlns:v="urn:schemas-microsoft-com:vml" Requires="v">
                <p:oleObj spid="_x0000_s55542" r:id="rId12" imgW="596900" imgH="228600" progId="Equation.3">
                  <p:embed/>
                </p:oleObj>
              </mc:Choice>
              <mc:Fallback>
                <p:oleObj r:id="rId12" imgW="596900" imgH="228600" progId="Equation.3">
                  <p:embed/>
                  <p:pic>
                    <p:nvPicPr>
                      <p:cNvPr id="0" name=""/>
                      <p:cNvPicPr/>
                      <p:nvPr/>
                    </p:nvPicPr>
                    <p:blipFill>
                      <a:blip r:embed="rId13"/>
                      <a:stretch>
                        <a:fillRect/>
                      </a:stretch>
                    </p:blipFill>
                    <p:spPr>
                      <a:xfrm>
                        <a:off x="1956323" y="6137313"/>
                        <a:ext cx="1154113" cy="442912"/>
                      </a:xfrm>
                      <a:prstGeom prst="rect">
                        <a:avLst/>
                      </a:prstGeom>
                      <a:noFill/>
                      <a:ln w="38100">
                        <a:noFill/>
                        <a:miter/>
                      </a:ln>
                    </p:spPr>
                  </p:pic>
                </p:oleObj>
              </mc:Fallback>
            </mc:AlternateContent>
          </a:graphicData>
        </a:graphic>
      </p:graphicFrame>
      <p:sp>
        <p:nvSpPr>
          <p:cNvPr id="35" name="矩形 34">
            <a:extLst>
              <a:ext uri="{FF2B5EF4-FFF2-40B4-BE49-F238E27FC236}">
                <a16:creationId xmlns="" xmlns:a16="http://schemas.microsoft.com/office/drawing/2014/main" id="{E722E5D6-10A5-E61E-344E-D1940FFF6F0E}"/>
              </a:ext>
            </a:extLst>
          </p:cNvPr>
          <p:cNvSpPr/>
          <p:nvPr/>
        </p:nvSpPr>
        <p:spPr>
          <a:xfrm>
            <a:off x="2970736" y="6126170"/>
            <a:ext cx="2574925" cy="400110"/>
          </a:xfrm>
          <a:prstGeom prst="rect">
            <a:avLst/>
          </a:prstGeom>
          <a:noFill/>
          <a:ln w="9525">
            <a:noFill/>
          </a:ln>
        </p:spPr>
        <p:txBody>
          <a:bodyPr anchor="ctr" anchorCtr="0">
            <a:spAutoFit/>
          </a:bodyPr>
          <a:lstStyle/>
          <a:p>
            <a:r>
              <a:rPr lang="en-US" altLang="zh-CN" sz="2000" b="1" dirty="0">
                <a:solidFill>
                  <a:schemeClr val="tx1"/>
                </a:solidFill>
                <a:latin typeface="+mn-ea"/>
                <a:ea typeface="+mn-ea"/>
              </a:rPr>
              <a:t> </a:t>
            </a:r>
            <a:r>
              <a:rPr lang="zh-CN" altLang="en-US" sz="2000" b="1" dirty="0">
                <a:solidFill>
                  <a:schemeClr val="tx1"/>
                </a:solidFill>
                <a:latin typeface="+mn-ea"/>
                <a:ea typeface="+mn-ea"/>
              </a:rPr>
              <a:t>，选择性越好。 </a:t>
            </a:r>
          </a:p>
        </p:txBody>
      </p:sp>
      <p:grpSp>
        <p:nvGrpSpPr>
          <p:cNvPr id="36" name="组合 35">
            <a:extLst>
              <a:ext uri="{FF2B5EF4-FFF2-40B4-BE49-F238E27FC236}">
                <a16:creationId xmlns="" xmlns:a16="http://schemas.microsoft.com/office/drawing/2014/main" id="{DB20F803-F6E2-9513-7421-688FC3975524}"/>
              </a:ext>
            </a:extLst>
          </p:cNvPr>
          <p:cNvGrpSpPr/>
          <p:nvPr/>
        </p:nvGrpSpPr>
        <p:grpSpPr>
          <a:xfrm>
            <a:off x="6613766" y="1945124"/>
            <a:ext cx="1511300" cy="482600"/>
            <a:chOff x="2760" y="1520"/>
            <a:chExt cx="952" cy="304"/>
          </a:xfrm>
        </p:grpSpPr>
        <p:sp>
          <p:nvSpPr>
            <p:cNvPr id="37" name="直接连接符 322596">
              <a:extLst>
                <a:ext uri="{FF2B5EF4-FFF2-40B4-BE49-F238E27FC236}">
                  <a16:creationId xmlns="" xmlns:a16="http://schemas.microsoft.com/office/drawing/2014/main" id="{1D21C06D-41AB-9BDB-926C-02E169BCD167}"/>
                </a:ext>
              </a:extLst>
            </p:cNvPr>
            <p:cNvSpPr/>
            <p:nvPr/>
          </p:nvSpPr>
          <p:spPr>
            <a:xfrm flipV="1">
              <a:off x="2760" y="1664"/>
              <a:ext cx="392" cy="160"/>
            </a:xfrm>
            <a:prstGeom prst="line">
              <a:avLst/>
            </a:prstGeom>
            <a:ln w="31750" cap="flat" cmpd="sng">
              <a:solidFill>
                <a:srgbClr val="0000FF"/>
              </a:solidFill>
              <a:prstDash val="solid"/>
              <a:round/>
              <a:headEnd type="triangle" w="med" len="med"/>
              <a:tailEnd type="none" w="med" len="med"/>
            </a:ln>
          </p:spPr>
        </p:sp>
        <p:sp>
          <p:nvSpPr>
            <p:cNvPr id="38" name="文本框 322597">
              <a:extLst>
                <a:ext uri="{FF2B5EF4-FFF2-40B4-BE49-F238E27FC236}">
                  <a16:creationId xmlns="" xmlns:a16="http://schemas.microsoft.com/office/drawing/2014/main" id="{AC4791A4-8A4E-6A28-FF13-2068FF5A9B81}"/>
                </a:ext>
              </a:extLst>
            </p:cNvPr>
            <p:cNvSpPr txBox="1"/>
            <p:nvPr/>
          </p:nvSpPr>
          <p:spPr>
            <a:xfrm>
              <a:off x="3192" y="1520"/>
              <a:ext cx="520" cy="250"/>
            </a:xfrm>
            <a:prstGeom prst="rect">
              <a:avLst/>
            </a:prstGeom>
            <a:noFill/>
            <a:ln w="9525">
              <a:noFill/>
            </a:ln>
          </p:spPr>
          <p:txBody>
            <a:bodyPr anchor="t" anchorCtr="0">
              <a:spAutoFit/>
            </a:bodyPr>
            <a:lstStyle/>
            <a:p>
              <a:pPr algn="ctr">
                <a:spcBef>
                  <a:spcPct val="50000"/>
                </a:spcBef>
              </a:pPr>
              <a:r>
                <a:rPr lang="zh-CN" altLang="en-US" sz="2000" b="1" dirty="0">
                  <a:solidFill>
                    <a:schemeClr val="tx1"/>
                  </a:solidFill>
                  <a:latin typeface="+mn-ea"/>
                  <a:ea typeface="+mn-ea"/>
                </a:rPr>
                <a:t>理想</a:t>
              </a:r>
            </a:p>
          </p:txBody>
        </p:sp>
      </p:grpSp>
      <p:grpSp>
        <p:nvGrpSpPr>
          <p:cNvPr id="39" name="组合 38">
            <a:extLst>
              <a:ext uri="{FF2B5EF4-FFF2-40B4-BE49-F238E27FC236}">
                <a16:creationId xmlns="" xmlns:a16="http://schemas.microsoft.com/office/drawing/2014/main" id="{FE7B1E52-802F-23FC-ACD1-869BCD008693}"/>
              </a:ext>
            </a:extLst>
          </p:cNvPr>
          <p:cNvGrpSpPr/>
          <p:nvPr/>
        </p:nvGrpSpPr>
        <p:grpSpPr>
          <a:xfrm>
            <a:off x="6842366" y="2605524"/>
            <a:ext cx="1371600" cy="495300"/>
            <a:chOff x="2904" y="1936"/>
            <a:chExt cx="864" cy="312"/>
          </a:xfrm>
        </p:grpSpPr>
        <p:sp>
          <p:nvSpPr>
            <p:cNvPr id="40" name="直接连接符 322599">
              <a:extLst>
                <a:ext uri="{FF2B5EF4-FFF2-40B4-BE49-F238E27FC236}">
                  <a16:creationId xmlns="" xmlns:a16="http://schemas.microsoft.com/office/drawing/2014/main" id="{A393E601-2CE3-C548-D955-9FA00438AE26}"/>
                </a:ext>
              </a:extLst>
            </p:cNvPr>
            <p:cNvSpPr/>
            <p:nvPr/>
          </p:nvSpPr>
          <p:spPr>
            <a:xfrm flipV="1">
              <a:off x="2904" y="2112"/>
              <a:ext cx="368" cy="136"/>
            </a:xfrm>
            <a:prstGeom prst="line">
              <a:avLst/>
            </a:prstGeom>
            <a:ln w="31750" cap="flat" cmpd="sng">
              <a:solidFill>
                <a:srgbClr val="FF3300"/>
              </a:solidFill>
              <a:prstDash val="solid"/>
              <a:round/>
              <a:headEnd type="triangle" w="med" len="med"/>
              <a:tailEnd type="none" w="med" len="med"/>
            </a:ln>
          </p:spPr>
        </p:sp>
        <p:sp>
          <p:nvSpPr>
            <p:cNvPr id="41" name="文本框 322600">
              <a:extLst>
                <a:ext uri="{FF2B5EF4-FFF2-40B4-BE49-F238E27FC236}">
                  <a16:creationId xmlns="" xmlns:a16="http://schemas.microsoft.com/office/drawing/2014/main" id="{2A5DD7E6-021C-B50E-68FA-C309B6513929}"/>
                </a:ext>
              </a:extLst>
            </p:cNvPr>
            <p:cNvSpPr txBox="1"/>
            <p:nvPr/>
          </p:nvSpPr>
          <p:spPr>
            <a:xfrm>
              <a:off x="3320" y="1936"/>
              <a:ext cx="448" cy="250"/>
            </a:xfrm>
            <a:prstGeom prst="rect">
              <a:avLst/>
            </a:prstGeom>
            <a:noFill/>
            <a:ln w="9525">
              <a:noFill/>
            </a:ln>
          </p:spPr>
          <p:txBody>
            <a:bodyPr anchor="t" anchorCtr="0">
              <a:spAutoFit/>
            </a:bodyPr>
            <a:lstStyle/>
            <a:p>
              <a:pPr algn="ctr">
                <a:spcBef>
                  <a:spcPct val="50000"/>
                </a:spcBef>
              </a:pPr>
              <a:r>
                <a:rPr lang="zh-CN" altLang="en-US" sz="2000" b="1" dirty="0">
                  <a:solidFill>
                    <a:srgbClr val="FF0000"/>
                  </a:solidFill>
                  <a:latin typeface="+mn-ea"/>
                  <a:ea typeface="+mn-ea"/>
                </a:rPr>
                <a:t>实际</a:t>
              </a:r>
            </a:p>
          </p:txBody>
        </p:sp>
      </p:grpSp>
    </p:spTree>
    <p:extLst>
      <p:ext uri="{BB962C8B-B14F-4D97-AF65-F5344CB8AC3E}">
        <p14:creationId xmlns:p14="http://schemas.microsoft.com/office/powerpoint/2010/main" val="1531061510"/>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80</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3.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高频</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小信号</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放大器</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 name="矩形 5">
            <a:extLst>
              <a:ext uri="{FF2B5EF4-FFF2-40B4-BE49-F238E27FC236}">
                <a16:creationId xmlns="" xmlns:a16="http://schemas.microsoft.com/office/drawing/2014/main" id="{3C2B3FF0-5B7B-617A-57F9-E671892CFA94}"/>
              </a:ext>
            </a:extLst>
          </p:cNvPr>
          <p:cNvSpPr/>
          <p:nvPr/>
        </p:nvSpPr>
        <p:spPr>
          <a:xfrm>
            <a:off x="403636" y="1257731"/>
            <a:ext cx="2860675" cy="400110"/>
          </a:xfrm>
          <a:prstGeom prst="rect">
            <a:avLst/>
          </a:prstGeom>
          <a:noFill/>
          <a:ln w="9525">
            <a:noFill/>
          </a:ln>
        </p:spPr>
        <p:txBody>
          <a:bodyPr anchor="ctr" anchorCtr="0">
            <a:spAutoFit/>
          </a:bodyPr>
          <a:lstStyle/>
          <a:p>
            <a:r>
              <a:rPr lang="en-US" altLang="zh-CN" sz="2000" b="1">
                <a:solidFill>
                  <a:schemeClr val="tx1"/>
                </a:solidFill>
                <a:latin typeface="+mn-ea"/>
                <a:ea typeface="+mn-ea"/>
              </a:rPr>
              <a:t>4</a:t>
            </a:r>
            <a:r>
              <a:rPr lang="zh-CN" altLang="en-US" sz="2000" b="1" dirty="0">
                <a:solidFill>
                  <a:schemeClr val="tx1"/>
                </a:solidFill>
                <a:latin typeface="+mn-ea"/>
                <a:ea typeface="+mn-ea"/>
              </a:rPr>
              <a:t>）工作稳定性：</a:t>
            </a:r>
          </a:p>
        </p:txBody>
      </p:sp>
      <p:sp>
        <p:nvSpPr>
          <p:cNvPr id="7" name="文本框 6">
            <a:extLst>
              <a:ext uri="{FF2B5EF4-FFF2-40B4-BE49-F238E27FC236}">
                <a16:creationId xmlns="" xmlns:a16="http://schemas.microsoft.com/office/drawing/2014/main" id="{0AD2AD75-1A6E-5BED-89DE-D220068B9D06}"/>
              </a:ext>
            </a:extLst>
          </p:cNvPr>
          <p:cNvSpPr txBox="1"/>
          <p:nvPr/>
        </p:nvSpPr>
        <p:spPr>
          <a:xfrm>
            <a:off x="195072" y="1594239"/>
            <a:ext cx="8778240" cy="1477328"/>
          </a:xfrm>
          <a:prstGeom prst="rect">
            <a:avLst/>
          </a:prstGeom>
          <a:noFill/>
          <a:ln w="9525">
            <a:noFill/>
          </a:ln>
        </p:spPr>
        <p:txBody>
          <a:bodyPr wrap="square" anchor="t" anchorCtr="0">
            <a:spAutoFit/>
          </a:bodyPr>
          <a:lstStyle/>
          <a:p>
            <a:pPr marL="342900" indent="-342900">
              <a:spcBef>
                <a:spcPct val="50000"/>
              </a:spcBef>
              <a:buFont typeface="Wingdings" panose="05000000000000000000" pitchFamily="2" charset="2"/>
              <a:buChar char="Ø"/>
            </a:pPr>
            <a:r>
              <a:rPr lang="zh-CN" altLang="en-US" sz="2000" b="0" dirty="0" smtClean="0">
                <a:solidFill>
                  <a:schemeClr val="tx1"/>
                </a:solidFill>
                <a:latin typeface="+mn-ea"/>
                <a:ea typeface="+mn-ea"/>
              </a:rPr>
              <a:t>指</a:t>
            </a:r>
            <a:r>
              <a:rPr lang="zh-CN" altLang="en-US" sz="2000" b="0" dirty="0">
                <a:solidFill>
                  <a:schemeClr val="tx1"/>
                </a:solidFill>
                <a:latin typeface="+mn-ea"/>
                <a:ea typeface="+mn-ea"/>
              </a:rPr>
              <a:t>放大器的工作状态、晶体管参数、电路元件参数等变化时，放大器主要性能指标的稳定程度。</a:t>
            </a:r>
            <a:endParaRPr lang="en-US" altLang="zh-CN" sz="2000" b="0" dirty="0">
              <a:solidFill>
                <a:schemeClr val="tx1"/>
              </a:solidFill>
              <a:latin typeface="+mn-ea"/>
              <a:ea typeface="+mn-ea"/>
            </a:endParaRPr>
          </a:p>
          <a:p>
            <a:pPr marL="342900" indent="-342900">
              <a:spcBef>
                <a:spcPct val="50000"/>
              </a:spcBef>
              <a:buFont typeface="Wingdings" panose="05000000000000000000" pitchFamily="2" charset="2"/>
              <a:buChar char="Ø"/>
            </a:pPr>
            <a:r>
              <a:rPr lang="zh-CN" altLang="en-US" sz="2000" dirty="0" smtClean="0">
                <a:solidFill>
                  <a:schemeClr val="tx1"/>
                </a:solidFill>
                <a:latin typeface="+mn-ea"/>
                <a:ea typeface="+mn-ea"/>
              </a:rPr>
              <a:t>一般</a:t>
            </a:r>
            <a:r>
              <a:rPr lang="zh-CN" altLang="en-US" sz="2000" dirty="0">
                <a:solidFill>
                  <a:schemeClr val="tx1"/>
                </a:solidFill>
                <a:latin typeface="+mn-ea"/>
                <a:ea typeface="+mn-ea"/>
              </a:rPr>
              <a:t>的不稳定现象是：增益变化、中心频率偏移、通频带变窄、谐振曲线变形等，</a:t>
            </a:r>
            <a:r>
              <a:rPr lang="zh-CN" altLang="en-US" sz="2000" dirty="0">
                <a:solidFill>
                  <a:schemeClr val="accent2"/>
                </a:solidFill>
                <a:latin typeface="+mn-ea"/>
                <a:ea typeface="+mn-ea"/>
              </a:rPr>
              <a:t>不稳定的极端情况是放大器发生自激，放大器不能正常工作。 </a:t>
            </a:r>
            <a:endParaRPr lang="zh-CN" altLang="en-US" sz="2000" b="1" dirty="0">
              <a:solidFill>
                <a:schemeClr val="accent2"/>
              </a:solidFill>
              <a:latin typeface="+mn-ea"/>
              <a:ea typeface="+mn-ea"/>
            </a:endParaRPr>
          </a:p>
        </p:txBody>
      </p:sp>
      <p:sp>
        <p:nvSpPr>
          <p:cNvPr id="8" name="矩形 7">
            <a:extLst>
              <a:ext uri="{FF2B5EF4-FFF2-40B4-BE49-F238E27FC236}">
                <a16:creationId xmlns="" xmlns:a16="http://schemas.microsoft.com/office/drawing/2014/main" id="{46ED7A71-68B0-3C0B-E1B0-41AFC8287CCF}"/>
              </a:ext>
            </a:extLst>
          </p:cNvPr>
          <p:cNvSpPr/>
          <p:nvPr/>
        </p:nvSpPr>
        <p:spPr>
          <a:xfrm>
            <a:off x="404114" y="3198615"/>
            <a:ext cx="2274887" cy="707886"/>
          </a:xfrm>
          <a:prstGeom prst="rect">
            <a:avLst/>
          </a:prstGeom>
          <a:noFill/>
          <a:ln w="9525">
            <a:noFill/>
          </a:ln>
        </p:spPr>
        <p:txBody>
          <a:bodyPr anchor="ctr" anchorCtr="0">
            <a:spAutoFit/>
          </a:bodyPr>
          <a:lstStyle/>
          <a:p>
            <a:r>
              <a:rPr lang="en-US" altLang="zh-CN" sz="2000" b="1" dirty="0">
                <a:solidFill>
                  <a:schemeClr val="tx1"/>
                </a:solidFill>
                <a:latin typeface="+mn-ea"/>
                <a:ea typeface="+mn-ea"/>
              </a:rPr>
              <a:t>5</a:t>
            </a:r>
            <a:r>
              <a:rPr lang="zh-CN" altLang="en-US" sz="2000" b="1" dirty="0">
                <a:solidFill>
                  <a:schemeClr val="tx1"/>
                </a:solidFill>
                <a:latin typeface="+mn-ea"/>
                <a:ea typeface="+mn-ea"/>
              </a:rPr>
              <a:t>）噪声系数：</a:t>
            </a:r>
          </a:p>
          <a:p>
            <a:pPr eaLnBrk="0" hangingPunct="0"/>
            <a:endParaRPr lang="zh-CN" altLang="en-US" sz="2000" b="1" dirty="0">
              <a:solidFill>
                <a:schemeClr val="tx1"/>
              </a:solidFill>
              <a:latin typeface="+mn-ea"/>
              <a:ea typeface="+mn-ea"/>
            </a:endParaRPr>
          </a:p>
        </p:txBody>
      </p:sp>
      <p:sp>
        <p:nvSpPr>
          <p:cNvPr id="9" name="矩形 8">
            <a:extLst>
              <a:ext uri="{FF2B5EF4-FFF2-40B4-BE49-F238E27FC236}">
                <a16:creationId xmlns="" xmlns:a16="http://schemas.microsoft.com/office/drawing/2014/main" id="{896EF8B7-6473-6934-0F8A-936CD302F1AF}"/>
              </a:ext>
            </a:extLst>
          </p:cNvPr>
          <p:cNvSpPr/>
          <p:nvPr/>
        </p:nvSpPr>
        <p:spPr>
          <a:xfrm>
            <a:off x="1581047" y="3208927"/>
            <a:ext cx="6005512" cy="400110"/>
          </a:xfrm>
          <a:prstGeom prst="rect">
            <a:avLst/>
          </a:prstGeom>
          <a:noFill/>
          <a:ln w="9525">
            <a:noFill/>
          </a:ln>
        </p:spPr>
        <p:txBody>
          <a:bodyPr anchor="t" anchorCtr="0">
            <a:spAutoFit/>
          </a:bodyPr>
          <a:lstStyle/>
          <a:p>
            <a:pPr algn="ctr"/>
            <a:r>
              <a:rPr lang="zh-CN" altLang="en-US" sz="2000" b="1" dirty="0">
                <a:solidFill>
                  <a:schemeClr val="tx1"/>
                </a:solidFill>
                <a:latin typeface="+mn-ea"/>
                <a:ea typeface="+mn-ea"/>
              </a:rPr>
              <a:t>指输入端的信噪比与输出端的信噪比的比值</a:t>
            </a:r>
          </a:p>
        </p:txBody>
      </p:sp>
      <p:graphicFrame>
        <p:nvGraphicFramePr>
          <p:cNvPr id="10" name="内容占位符 324620">
            <a:extLst>
              <a:ext uri="{FF2B5EF4-FFF2-40B4-BE49-F238E27FC236}">
                <a16:creationId xmlns="" xmlns:a16="http://schemas.microsoft.com/office/drawing/2014/main" id="{058BADAF-1113-011B-C4F4-2305277A1B66}"/>
              </a:ext>
            </a:extLst>
          </p:cNvPr>
          <p:cNvGraphicFramePr>
            <a:graphicFrameLocks/>
          </p:cNvGraphicFramePr>
          <p:nvPr>
            <p:extLst>
              <p:ext uri="{D42A27DB-BD31-4B8C-83A1-F6EECF244321}">
                <p14:modId xmlns:p14="http://schemas.microsoft.com/office/powerpoint/2010/main" val="3974990532"/>
              </p:ext>
            </p:extLst>
          </p:nvPr>
        </p:nvGraphicFramePr>
        <p:xfrm>
          <a:off x="4027636" y="3620171"/>
          <a:ext cx="2671763" cy="774700"/>
        </p:xfrm>
        <a:graphic>
          <a:graphicData uri="http://schemas.openxmlformats.org/presentationml/2006/ole">
            <mc:AlternateContent xmlns:mc="http://schemas.openxmlformats.org/markup-compatibility/2006">
              <mc:Choice xmlns:v="urn:schemas-microsoft-com:vml" Requires="v">
                <p:oleObj spid="_x0000_s56418" r:id="rId3" imgW="1536065" imgH="444500" progId="Equation.3">
                  <p:embed/>
                </p:oleObj>
              </mc:Choice>
              <mc:Fallback>
                <p:oleObj r:id="rId3" imgW="1536065" imgH="444500" progId="Equation.3">
                  <p:embed/>
                  <p:pic>
                    <p:nvPicPr>
                      <p:cNvPr id="0" name=""/>
                      <p:cNvPicPr/>
                      <p:nvPr/>
                    </p:nvPicPr>
                    <p:blipFill>
                      <a:blip r:embed="rId4"/>
                      <a:stretch>
                        <a:fillRect/>
                      </a:stretch>
                    </p:blipFill>
                    <p:spPr>
                      <a:xfrm>
                        <a:off x="4027636" y="3620171"/>
                        <a:ext cx="2671763" cy="774700"/>
                      </a:xfrm>
                      <a:prstGeom prst="rect">
                        <a:avLst/>
                      </a:prstGeom>
                      <a:noFill/>
                      <a:ln w="38100">
                        <a:noFill/>
                        <a:miter/>
                      </a:ln>
                    </p:spPr>
                  </p:pic>
                </p:oleObj>
              </mc:Fallback>
            </mc:AlternateContent>
          </a:graphicData>
        </a:graphic>
      </p:graphicFrame>
      <p:graphicFrame>
        <p:nvGraphicFramePr>
          <p:cNvPr id="11" name="内容占位符 324621">
            <a:extLst>
              <a:ext uri="{FF2B5EF4-FFF2-40B4-BE49-F238E27FC236}">
                <a16:creationId xmlns="" xmlns:a16="http://schemas.microsoft.com/office/drawing/2014/main" id="{14D85276-8597-18A9-7114-D110A4403E0E}"/>
              </a:ext>
            </a:extLst>
          </p:cNvPr>
          <p:cNvGraphicFramePr>
            <a:graphicFrameLocks/>
          </p:cNvGraphicFramePr>
          <p:nvPr>
            <p:extLst>
              <p:ext uri="{D42A27DB-BD31-4B8C-83A1-F6EECF244321}">
                <p14:modId xmlns:p14="http://schemas.microsoft.com/office/powerpoint/2010/main" val="3463229568"/>
              </p:ext>
            </p:extLst>
          </p:nvPr>
        </p:nvGraphicFramePr>
        <p:xfrm>
          <a:off x="792163" y="3670176"/>
          <a:ext cx="2717800" cy="741363"/>
        </p:xfrm>
        <a:graphic>
          <a:graphicData uri="http://schemas.openxmlformats.org/presentationml/2006/ole">
            <mc:AlternateContent xmlns:mc="http://schemas.openxmlformats.org/markup-compatibility/2006">
              <mc:Choice xmlns:v="urn:schemas-microsoft-com:vml" Requires="v">
                <p:oleObj spid="_x0000_s56419" r:id="rId5" imgW="1624965" imgH="444500" progId="Equation.3">
                  <p:embed/>
                </p:oleObj>
              </mc:Choice>
              <mc:Fallback>
                <p:oleObj r:id="rId5" imgW="1624965" imgH="444500" progId="Equation.3">
                  <p:embed/>
                  <p:pic>
                    <p:nvPicPr>
                      <p:cNvPr id="0" name=""/>
                      <p:cNvPicPr/>
                      <p:nvPr/>
                    </p:nvPicPr>
                    <p:blipFill>
                      <a:blip r:embed="rId6"/>
                      <a:stretch>
                        <a:fillRect/>
                      </a:stretch>
                    </p:blipFill>
                    <p:spPr>
                      <a:xfrm>
                        <a:off x="792163" y="3670176"/>
                        <a:ext cx="2717800" cy="741363"/>
                      </a:xfrm>
                      <a:prstGeom prst="rect">
                        <a:avLst/>
                      </a:prstGeom>
                      <a:noFill/>
                      <a:ln w="38100">
                        <a:noFill/>
                        <a:miter/>
                      </a:ln>
                    </p:spPr>
                  </p:pic>
                </p:oleObj>
              </mc:Fallback>
            </mc:AlternateContent>
          </a:graphicData>
        </a:graphic>
      </p:graphicFrame>
      <p:sp>
        <p:nvSpPr>
          <p:cNvPr id="12" name="矩形 324622">
            <a:extLst>
              <a:ext uri="{FF2B5EF4-FFF2-40B4-BE49-F238E27FC236}">
                <a16:creationId xmlns="" xmlns:a16="http://schemas.microsoft.com/office/drawing/2014/main" id="{1FF762D8-00C5-44BE-7876-157CED218EE5}"/>
              </a:ext>
            </a:extLst>
          </p:cNvPr>
          <p:cNvSpPr/>
          <p:nvPr/>
        </p:nvSpPr>
        <p:spPr>
          <a:xfrm>
            <a:off x="792163" y="4418816"/>
            <a:ext cx="7023076" cy="400110"/>
          </a:xfrm>
          <a:prstGeom prst="rect">
            <a:avLst/>
          </a:prstGeom>
          <a:noFill/>
          <a:ln w="9525">
            <a:noFill/>
          </a:ln>
        </p:spPr>
        <p:txBody>
          <a:bodyPr wrap="none" anchor="ctr" anchorCtr="0">
            <a:spAutoFit/>
          </a:bodyPr>
          <a:lstStyle/>
          <a:p>
            <a:r>
              <a:rPr lang="zh-CN" altLang="en-US" sz="2000" b="1" dirty="0">
                <a:solidFill>
                  <a:schemeClr val="accent2"/>
                </a:solidFill>
                <a:latin typeface="+mn-ea"/>
                <a:ea typeface="+mn-ea"/>
              </a:rPr>
              <a:t>希望放大器本身产生的噪声越小越好，要求噪声系数接近</a:t>
            </a:r>
            <a:r>
              <a:rPr lang="en-US" altLang="zh-CN" sz="2000" b="1" dirty="0">
                <a:solidFill>
                  <a:schemeClr val="accent2"/>
                </a:solidFill>
                <a:latin typeface="+mn-ea"/>
                <a:ea typeface="+mn-ea"/>
              </a:rPr>
              <a:t>1</a:t>
            </a:r>
            <a:r>
              <a:rPr lang="zh-CN" altLang="en-US" sz="2000" b="1" dirty="0">
                <a:solidFill>
                  <a:schemeClr val="accent2"/>
                </a:solidFill>
                <a:latin typeface="+mn-ea"/>
                <a:ea typeface="+mn-ea"/>
              </a:rPr>
              <a:t>。</a:t>
            </a:r>
          </a:p>
        </p:txBody>
      </p:sp>
      <p:sp>
        <p:nvSpPr>
          <p:cNvPr id="13" name="矩形 112643">
            <a:extLst>
              <a:ext uri="{FF2B5EF4-FFF2-40B4-BE49-F238E27FC236}">
                <a16:creationId xmlns="" xmlns:a16="http://schemas.microsoft.com/office/drawing/2014/main" id="{3070EDF3-4744-9B2A-DE97-AA626340369B}"/>
              </a:ext>
            </a:extLst>
          </p:cNvPr>
          <p:cNvSpPr/>
          <p:nvPr/>
        </p:nvSpPr>
        <p:spPr>
          <a:xfrm>
            <a:off x="792163" y="5204650"/>
            <a:ext cx="8351837" cy="1323439"/>
          </a:xfrm>
          <a:prstGeom prst="rect">
            <a:avLst/>
          </a:prstGeom>
          <a:noFill/>
          <a:ln w="9525">
            <a:noFill/>
          </a:ln>
        </p:spPr>
        <p:txBody>
          <a:bodyPr anchor="t" anchorCtr="0">
            <a:spAutoFit/>
          </a:bodyPr>
          <a:lstStyle/>
          <a:p>
            <a:pPr>
              <a:spcBef>
                <a:spcPts val="600"/>
              </a:spcBef>
              <a:spcAft>
                <a:spcPts val="600"/>
              </a:spcAft>
            </a:pPr>
            <a:r>
              <a:rPr lang="zh-CN" altLang="en-US" sz="2000" b="1" dirty="0">
                <a:solidFill>
                  <a:schemeClr val="tx1"/>
                </a:solidFill>
                <a:latin typeface="+mn-ea"/>
                <a:ea typeface="+mn-ea"/>
              </a:rPr>
              <a:t>            </a:t>
            </a:r>
            <a:r>
              <a:rPr lang="zh-CN" altLang="en-US" sz="2000" b="1" dirty="0">
                <a:solidFill>
                  <a:schemeClr val="accent2"/>
                </a:solidFill>
                <a:latin typeface="+mn-ea"/>
                <a:ea typeface="+mn-ea"/>
              </a:rPr>
              <a:t>● 增益和稳定性是一对矛盾，</a:t>
            </a:r>
          </a:p>
          <a:p>
            <a:pPr>
              <a:spcBef>
                <a:spcPts val="600"/>
              </a:spcBef>
              <a:spcAft>
                <a:spcPts val="600"/>
              </a:spcAft>
            </a:pPr>
            <a:r>
              <a:rPr lang="zh-CN" altLang="en-US" sz="2000" b="1" dirty="0">
                <a:solidFill>
                  <a:schemeClr val="accent2"/>
                </a:solidFill>
                <a:latin typeface="+mn-ea"/>
                <a:ea typeface="+mn-ea"/>
              </a:rPr>
              <a:t>            ● 通频带和选择性是一对矛盾。</a:t>
            </a:r>
            <a:endParaRPr lang="en-US" altLang="zh-CN" sz="2000" b="1" dirty="0">
              <a:solidFill>
                <a:schemeClr val="accent2"/>
              </a:solidFill>
              <a:latin typeface="+mn-ea"/>
              <a:ea typeface="+mn-ea"/>
            </a:endParaRPr>
          </a:p>
          <a:p>
            <a:pPr>
              <a:spcBef>
                <a:spcPts val="600"/>
              </a:spcBef>
              <a:spcAft>
                <a:spcPts val="600"/>
              </a:spcAft>
            </a:pPr>
            <a:r>
              <a:rPr lang="zh-CN" altLang="en-US" sz="2000" b="1" dirty="0">
                <a:solidFill>
                  <a:schemeClr val="tx1"/>
                </a:solidFill>
                <a:latin typeface="+mn-ea"/>
                <a:ea typeface="+mn-ea"/>
              </a:rPr>
              <a:t>故应根据需要决定主次，进行分析和讨论。 </a:t>
            </a:r>
          </a:p>
        </p:txBody>
      </p:sp>
      <p:sp>
        <p:nvSpPr>
          <p:cNvPr id="14" name="矩形 112644">
            <a:extLst>
              <a:ext uri="{FF2B5EF4-FFF2-40B4-BE49-F238E27FC236}">
                <a16:creationId xmlns="" xmlns:a16="http://schemas.microsoft.com/office/drawing/2014/main" id="{FF63A911-EFA8-0B54-F2A4-F36C72C84569}"/>
              </a:ext>
            </a:extLst>
          </p:cNvPr>
          <p:cNvSpPr/>
          <p:nvPr/>
        </p:nvSpPr>
        <p:spPr>
          <a:xfrm>
            <a:off x="0" y="4804540"/>
            <a:ext cx="8910447" cy="400110"/>
          </a:xfrm>
          <a:prstGeom prst="rect">
            <a:avLst/>
          </a:prstGeom>
          <a:noFill/>
          <a:ln w="9525">
            <a:noFill/>
          </a:ln>
        </p:spPr>
        <p:txBody>
          <a:bodyPr wrap="square" anchor="t" anchorCtr="0">
            <a:spAutoFit/>
          </a:bodyPr>
          <a:lstStyle/>
          <a:p>
            <a:r>
              <a:rPr lang="zh-CN" altLang="en-US" sz="2000" b="1" dirty="0">
                <a:solidFill>
                  <a:srgbClr val="FF0000"/>
                </a:solidFill>
                <a:latin typeface="+mn-ea"/>
                <a:ea typeface="+mn-ea"/>
              </a:rPr>
              <a:t>   高频小信号放大器的质量指标相互之间即有联系又有矛盾。</a:t>
            </a:r>
          </a:p>
        </p:txBody>
      </p:sp>
    </p:spTree>
    <p:extLst>
      <p:ext uri="{BB962C8B-B14F-4D97-AF65-F5344CB8AC3E}">
        <p14:creationId xmlns:p14="http://schemas.microsoft.com/office/powerpoint/2010/main" val="1811663553"/>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81</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3.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高频</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小信号</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放大器</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5" name="图片 4"/>
          <p:cNvPicPr>
            <a:picLocks noChangeAspect="1"/>
          </p:cNvPicPr>
          <p:nvPr/>
        </p:nvPicPr>
        <p:blipFill>
          <a:blip r:embed="rId3"/>
          <a:stretch>
            <a:fillRect/>
          </a:stretch>
        </p:blipFill>
        <p:spPr>
          <a:xfrm>
            <a:off x="371151" y="3222823"/>
            <a:ext cx="2400760" cy="2854304"/>
          </a:xfrm>
          <a:prstGeom prst="rect">
            <a:avLst/>
          </a:prstGeom>
        </p:spPr>
      </p:pic>
      <p:grpSp>
        <p:nvGrpSpPr>
          <p:cNvPr id="6" name="组合 5">
            <a:extLst>
              <a:ext uri="{FF2B5EF4-FFF2-40B4-BE49-F238E27FC236}">
                <a16:creationId xmlns="" xmlns:a16="http://schemas.microsoft.com/office/drawing/2014/main" id="{718AF6F2-038F-1AA6-E48D-F5DD589D39AD}"/>
              </a:ext>
            </a:extLst>
          </p:cNvPr>
          <p:cNvGrpSpPr/>
          <p:nvPr/>
        </p:nvGrpSpPr>
        <p:grpSpPr>
          <a:xfrm>
            <a:off x="4451039" y="3435413"/>
            <a:ext cx="4624388" cy="2297160"/>
            <a:chOff x="922" y="1851"/>
            <a:chExt cx="3438" cy="1405"/>
          </a:xfrm>
        </p:grpSpPr>
        <p:pic>
          <p:nvPicPr>
            <p:cNvPr id="7" name="图片 366594">
              <a:extLst>
                <a:ext uri="{FF2B5EF4-FFF2-40B4-BE49-F238E27FC236}">
                  <a16:creationId xmlns="" xmlns:a16="http://schemas.microsoft.com/office/drawing/2014/main" id="{E64CF247-0D1C-0DEF-47B0-562AF497C03A}"/>
                </a:ext>
              </a:extLst>
            </p:cNvPr>
            <p:cNvPicPr>
              <a:picLocks noChangeAspect="1"/>
            </p:cNvPicPr>
            <p:nvPr/>
          </p:nvPicPr>
          <p:blipFill>
            <a:blip r:embed="rId4"/>
            <a:stretch>
              <a:fillRect/>
            </a:stretch>
          </p:blipFill>
          <p:spPr>
            <a:xfrm>
              <a:off x="922" y="1852"/>
              <a:ext cx="3438" cy="1404"/>
            </a:xfrm>
            <a:prstGeom prst="rect">
              <a:avLst/>
            </a:prstGeom>
            <a:noFill/>
            <a:ln w="9525">
              <a:noFill/>
            </a:ln>
          </p:spPr>
        </p:pic>
        <p:sp>
          <p:nvSpPr>
            <p:cNvPr id="8" name="矩形 366595">
              <a:extLst>
                <a:ext uri="{FF2B5EF4-FFF2-40B4-BE49-F238E27FC236}">
                  <a16:creationId xmlns="" xmlns:a16="http://schemas.microsoft.com/office/drawing/2014/main" id="{996E06A9-344D-54E9-1D60-C9D19A3F9B4A}"/>
                </a:ext>
              </a:extLst>
            </p:cNvPr>
            <p:cNvSpPr/>
            <p:nvPr/>
          </p:nvSpPr>
          <p:spPr>
            <a:xfrm>
              <a:off x="1229" y="2620"/>
              <a:ext cx="427" cy="245"/>
            </a:xfrm>
            <a:prstGeom prst="rect">
              <a:avLst/>
            </a:prstGeom>
            <a:noFill/>
            <a:ln w="9525">
              <a:noFill/>
            </a:ln>
          </p:spPr>
          <p:txBody>
            <a:bodyPr wrap="none" anchor="t" anchorCtr="0">
              <a:spAutoFit/>
            </a:bodyPr>
            <a:lstStyle/>
            <a:p>
              <a:r>
                <a:rPr lang="en-US" altLang="zh-CN" sz="2000" b="1" i="1" dirty="0" err="1">
                  <a:solidFill>
                    <a:schemeClr val="tx1"/>
                  </a:solidFill>
                  <a:latin typeface="Times New Roman" panose="02020603050405020304" pitchFamily="18" charset="0"/>
                  <a:ea typeface="+mn-ea"/>
                  <a:cs typeface="Times New Roman" panose="02020603050405020304" pitchFamily="18" charset="0"/>
                </a:rPr>
                <a:t>C</a:t>
              </a:r>
              <a:r>
                <a:rPr lang="en-US" altLang="zh-CN" sz="2000" b="1" baseline="-25000" dirty="0" err="1">
                  <a:solidFill>
                    <a:schemeClr val="tx1"/>
                  </a:solidFill>
                  <a:latin typeface="Times New Roman" panose="02020603050405020304" pitchFamily="18" charset="0"/>
                  <a:ea typeface="+mn-ea"/>
                  <a:cs typeface="Times New Roman" panose="02020603050405020304" pitchFamily="18" charset="0"/>
                </a:rPr>
                <a:t>b'e</a:t>
              </a:r>
              <a:endParaRPr lang="en-US" altLang="zh-CN" sz="2000" b="1" baseline="-25000" dirty="0">
                <a:solidFill>
                  <a:schemeClr val="tx1"/>
                </a:solidFill>
                <a:latin typeface="Times New Roman" panose="02020603050405020304" pitchFamily="18" charset="0"/>
                <a:ea typeface="+mn-ea"/>
                <a:cs typeface="Times New Roman" panose="02020603050405020304" pitchFamily="18" charset="0"/>
              </a:endParaRPr>
            </a:p>
          </p:txBody>
        </p:sp>
        <p:sp>
          <p:nvSpPr>
            <p:cNvPr id="9" name="矩形 366596">
              <a:extLst>
                <a:ext uri="{FF2B5EF4-FFF2-40B4-BE49-F238E27FC236}">
                  <a16:creationId xmlns="" xmlns:a16="http://schemas.microsoft.com/office/drawing/2014/main" id="{D854961C-6D88-87C9-C447-18FD190F0D9B}"/>
                </a:ext>
              </a:extLst>
            </p:cNvPr>
            <p:cNvSpPr/>
            <p:nvPr/>
          </p:nvSpPr>
          <p:spPr>
            <a:xfrm>
              <a:off x="1208" y="2090"/>
              <a:ext cx="388" cy="245"/>
            </a:xfrm>
            <a:prstGeom prst="rect">
              <a:avLst/>
            </a:prstGeom>
            <a:noFill/>
            <a:ln w="9525">
              <a:noFill/>
            </a:ln>
          </p:spPr>
          <p:txBody>
            <a:bodyPr wrap="none" anchor="t" anchorCtr="0">
              <a:spAutoFit/>
            </a:bodyPr>
            <a:lstStyle/>
            <a:p>
              <a:r>
                <a:rPr lang="en-US" altLang="zh-CN" sz="2000" b="1" i="1" dirty="0" err="1">
                  <a:solidFill>
                    <a:schemeClr val="tx1"/>
                  </a:solidFill>
                  <a:latin typeface="Times New Roman" panose="02020603050405020304" pitchFamily="18" charset="0"/>
                  <a:ea typeface="+mn-ea"/>
                  <a:cs typeface="Times New Roman" panose="02020603050405020304" pitchFamily="18" charset="0"/>
                </a:rPr>
                <a:t>r</a:t>
              </a:r>
              <a:r>
                <a:rPr lang="en-US" altLang="zh-CN" sz="2000" b="1" baseline="-25000" dirty="0" err="1">
                  <a:solidFill>
                    <a:schemeClr val="tx1"/>
                  </a:solidFill>
                  <a:latin typeface="Times New Roman" panose="02020603050405020304" pitchFamily="18" charset="0"/>
                  <a:ea typeface="+mn-ea"/>
                  <a:cs typeface="Times New Roman" panose="02020603050405020304" pitchFamily="18" charset="0"/>
                </a:rPr>
                <a:t>bb</a:t>
              </a:r>
              <a:r>
                <a:rPr lang="en-US" altLang="zh-CN" sz="2000" b="1" baseline="-25000" dirty="0">
                  <a:solidFill>
                    <a:schemeClr val="tx1"/>
                  </a:solidFill>
                  <a:latin typeface="Times New Roman" panose="02020603050405020304" pitchFamily="18" charset="0"/>
                  <a:ea typeface="+mn-ea"/>
                  <a:cs typeface="Times New Roman" panose="02020603050405020304" pitchFamily="18" charset="0"/>
                </a:rPr>
                <a:t>'</a:t>
              </a:r>
            </a:p>
          </p:txBody>
        </p:sp>
        <p:sp>
          <p:nvSpPr>
            <p:cNvPr id="10" name="矩形 366597">
              <a:extLst>
                <a:ext uri="{FF2B5EF4-FFF2-40B4-BE49-F238E27FC236}">
                  <a16:creationId xmlns="" xmlns:a16="http://schemas.microsoft.com/office/drawing/2014/main" id="{63725C9A-FEA7-815D-ADCB-16F8FC802D37}"/>
                </a:ext>
              </a:extLst>
            </p:cNvPr>
            <p:cNvSpPr/>
            <p:nvPr/>
          </p:nvSpPr>
          <p:spPr>
            <a:xfrm>
              <a:off x="2570" y="1851"/>
              <a:ext cx="427" cy="245"/>
            </a:xfrm>
            <a:prstGeom prst="rect">
              <a:avLst/>
            </a:prstGeom>
            <a:noFill/>
            <a:ln w="9525">
              <a:noFill/>
            </a:ln>
          </p:spPr>
          <p:txBody>
            <a:bodyPr wrap="none" anchor="t" anchorCtr="0">
              <a:spAutoFit/>
            </a:bodyPr>
            <a:lstStyle/>
            <a:p>
              <a:pPr eaLnBrk="0" hangingPunct="0"/>
              <a:r>
                <a:rPr lang="en-US" altLang="zh-CN" sz="2000" b="1" i="1" dirty="0" err="1">
                  <a:solidFill>
                    <a:schemeClr val="tx1"/>
                  </a:solidFill>
                  <a:latin typeface="Times New Roman" panose="02020603050405020304" pitchFamily="18" charset="0"/>
                  <a:ea typeface="+mn-ea"/>
                  <a:cs typeface="Times New Roman" panose="02020603050405020304" pitchFamily="18" charset="0"/>
                </a:rPr>
                <a:t>C</a:t>
              </a:r>
              <a:r>
                <a:rPr lang="en-US" altLang="zh-CN" sz="2000" b="1" baseline="-25000" dirty="0" err="1">
                  <a:solidFill>
                    <a:schemeClr val="tx1"/>
                  </a:solidFill>
                  <a:latin typeface="Times New Roman" panose="02020603050405020304" pitchFamily="18" charset="0"/>
                  <a:ea typeface="+mn-ea"/>
                  <a:cs typeface="Times New Roman" panose="02020603050405020304" pitchFamily="18" charset="0"/>
                </a:rPr>
                <a:t>b'c</a:t>
              </a:r>
              <a:endParaRPr lang="en-US" altLang="zh-CN" sz="2000" b="1" baseline="-25000" dirty="0">
                <a:solidFill>
                  <a:schemeClr val="tx1"/>
                </a:solidFill>
                <a:latin typeface="Times New Roman" panose="02020603050405020304" pitchFamily="18" charset="0"/>
                <a:ea typeface="+mn-ea"/>
                <a:cs typeface="Times New Roman" panose="02020603050405020304" pitchFamily="18" charset="0"/>
              </a:endParaRPr>
            </a:p>
          </p:txBody>
        </p:sp>
        <p:sp>
          <p:nvSpPr>
            <p:cNvPr id="11" name="矩形 366598">
              <a:extLst>
                <a:ext uri="{FF2B5EF4-FFF2-40B4-BE49-F238E27FC236}">
                  <a16:creationId xmlns="" xmlns:a16="http://schemas.microsoft.com/office/drawing/2014/main" id="{FB77B89D-C4C0-3B99-5CEE-959B79BB2938}"/>
                </a:ext>
              </a:extLst>
            </p:cNvPr>
            <p:cNvSpPr/>
            <p:nvPr/>
          </p:nvSpPr>
          <p:spPr>
            <a:xfrm>
              <a:off x="2496" y="2368"/>
              <a:ext cx="373" cy="245"/>
            </a:xfrm>
            <a:prstGeom prst="rect">
              <a:avLst/>
            </a:prstGeom>
            <a:noFill/>
            <a:ln w="9525">
              <a:noFill/>
            </a:ln>
          </p:spPr>
          <p:txBody>
            <a:bodyPr wrap="none" anchor="t" anchorCtr="0">
              <a:spAutoFit/>
            </a:bodyPr>
            <a:lstStyle/>
            <a:p>
              <a:r>
                <a:rPr lang="en-US" altLang="zh-CN" sz="2000" b="1" i="1" dirty="0" err="1">
                  <a:solidFill>
                    <a:schemeClr val="tx1"/>
                  </a:solidFill>
                  <a:latin typeface="Times New Roman" panose="02020603050405020304" pitchFamily="18" charset="0"/>
                  <a:ea typeface="+mn-ea"/>
                  <a:cs typeface="Times New Roman" panose="02020603050405020304" pitchFamily="18" charset="0"/>
                </a:rPr>
                <a:t>r</a:t>
              </a:r>
              <a:r>
                <a:rPr lang="en-US" altLang="zh-CN" sz="2000" b="1" baseline="-25000" dirty="0" err="1">
                  <a:solidFill>
                    <a:schemeClr val="tx1"/>
                  </a:solidFill>
                  <a:latin typeface="Times New Roman" panose="02020603050405020304" pitchFamily="18" charset="0"/>
                  <a:ea typeface="+mn-ea"/>
                  <a:cs typeface="Times New Roman" panose="02020603050405020304" pitchFamily="18" charset="0"/>
                </a:rPr>
                <a:t>b'c</a:t>
              </a:r>
              <a:endParaRPr lang="en-US" altLang="zh-CN" sz="2000" b="1" baseline="-25000" dirty="0">
                <a:solidFill>
                  <a:schemeClr val="tx1"/>
                </a:solidFill>
                <a:latin typeface="Times New Roman" panose="02020603050405020304" pitchFamily="18" charset="0"/>
                <a:ea typeface="+mn-ea"/>
                <a:cs typeface="Times New Roman" panose="02020603050405020304" pitchFamily="18" charset="0"/>
              </a:endParaRPr>
            </a:p>
          </p:txBody>
        </p:sp>
        <p:sp>
          <p:nvSpPr>
            <p:cNvPr id="12" name="矩形 366599">
              <a:extLst>
                <a:ext uri="{FF2B5EF4-FFF2-40B4-BE49-F238E27FC236}">
                  <a16:creationId xmlns="" xmlns:a16="http://schemas.microsoft.com/office/drawing/2014/main" id="{32BE4D64-F7E6-F1FB-AB19-FCB1F3F96361}"/>
                </a:ext>
              </a:extLst>
            </p:cNvPr>
            <p:cNvSpPr/>
            <p:nvPr/>
          </p:nvSpPr>
          <p:spPr>
            <a:xfrm>
              <a:off x="2200" y="2620"/>
              <a:ext cx="373" cy="245"/>
            </a:xfrm>
            <a:prstGeom prst="rect">
              <a:avLst/>
            </a:prstGeom>
            <a:noFill/>
            <a:ln w="9525">
              <a:noFill/>
            </a:ln>
          </p:spPr>
          <p:txBody>
            <a:bodyPr wrap="none" anchor="t" anchorCtr="0">
              <a:spAutoFit/>
            </a:bodyPr>
            <a:lstStyle/>
            <a:p>
              <a:pPr eaLnBrk="0" hangingPunct="0"/>
              <a:r>
                <a:rPr lang="en-US" altLang="zh-CN" sz="2000" b="1" i="1" dirty="0" err="1">
                  <a:solidFill>
                    <a:schemeClr val="tx1"/>
                  </a:solidFill>
                  <a:latin typeface="Times New Roman" panose="02020603050405020304" pitchFamily="18" charset="0"/>
                  <a:ea typeface="+mn-ea"/>
                  <a:cs typeface="Times New Roman" panose="02020603050405020304" pitchFamily="18" charset="0"/>
                </a:rPr>
                <a:t>r</a:t>
              </a:r>
              <a:r>
                <a:rPr lang="en-US" altLang="zh-CN" sz="2000" b="1" baseline="-25000" dirty="0" err="1">
                  <a:solidFill>
                    <a:schemeClr val="tx1"/>
                  </a:solidFill>
                  <a:latin typeface="Times New Roman" panose="02020603050405020304" pitchFamily="18" charset="0"/>
                  <a:ea typeface="+mn-ea"/>
                  <a:cs typeface="Times New Roman" panose="02020603050405020304" pitchFamily="18" charset="0"/>
                </a:rPr>
                <a:t>b'e</a:t>
              </a:r>
              <a:endParaRPr lang="en-US" altLang="zh-CN" sz="2000" b="1" baseline="-25000" dirty="0">
                <a:solidFill>
                  <a:schemeClr val="tx1"/>
                </a:solidFill>
                <a:latin typeface="Times New Roman" panose="02020603050405020304" pitchFamily="18" charset="0"/>
                <a:ea typeface="+mn-ea"/>
                <a:cs typeface="Times New Roman" panose="02020603050405020304" pitchFamily="18" charset="0"/>
              </a:endParaRPr>
            </a:p>
          </p:txBody>
        </p:sp>
        <p:sp>
          <p:nvSpPr>
            <p:cNvPr id="13" name="矩形 366600">
              <a:extLst>
                <a:ext uri="{FF2B5EF4-FFF2-40B4-BE49-F238E27FC236}">
                  <a16:creationId xmlns="" xmlns:a16="http://schemas.microsoft.com/office/drawing/2014/main" id="{DCFC5DAA-3844-913F-3249-6E29D7D295BE}"/>
                </a:ext>
              </a:extLst>
            </p:cNvPr>
            <p:cNvSpPr/>
            <p:nvPr/>
          </p:nvSpPr>
          <p:spPr>
            <a:xfrm>
              <a:off x="1739" y="2591"/>
              <a:ext cx="405" cy="245"/>
            </a:xfrm>
            <a:prstGeom prst="rect">
              <a:avLst/>
            </a:prstGeom>
            <a:noFill/>
            <a:ln w="9525">
              <a:noFill/>
            </a:ln>
          </p:spPr>
          <p:txBody>
            <a:bodyPr wrap="none" anchor="t" anchorCtr="0">
              <a:spAutoFit/>
            </a:bodyPr>
            <a:lstStyle/>
            <a:p>
              <a:pPr eaLnBrk="0" hangingPunct="0"/>
              <a:r>
                <a:rPr lang="en-US" altLang="zh-CN" sz="2000" b="1" i="1" dirty="0" err="1">
                  <a:solidFill>
                    <a:schemeClr val="tx1"/>
                  </a:solidFill>
                  <a:latin typeface="Times New Roman" panose="02020603050405020304" pitchFamily="18" charset="0"/>
                  <a:ea typeface="+mn-ea"/>
                  <a:cs typeface="Times New Roman" panose="02020603050405020304" pitchFamily="18" charset="0"/>
                </a:rPr>
                <a:t>u</a:t>
              </a:r>
              <a:r>
                <a:rPr lang="en-US" altLang="zh-CN" sz="2000" b="1" baseline="-25000" dirty="0" err="1">
                  <a:solidFill>
                    <a:schemeClr val="tx1"/>
                  </a:solidFill>
                  <a:latin typeface="Times New Roman" panose="02020603050405020304" pitchFamily="18" charset="0"/>
                  <a:ea typeface="+mn-ea"/>
                  <a:cs typeface="Times New Roman" panose="02020603050405020304" pitchFamily="18" charset="0"/>
                </a:rPr>
                <a:t>b'e</a:t>
              </a:r>
              <a:endParaRPr lang="en-US" altLang="zh-CN" sz="2000" b="1" baseline="-25000" dirty="0">
                <a:solidFill>
                  <a:schemeClr val="tx1"/>
                </a:solidFill>
                <a:latin typeface="Times New Roman" panose="02020603050405020304" pitchFamily="18" charset="0"/>
                <a:ea typeface="+mn-ea"/>
                <a:cs typeface="Times New Roman" panose="02020603050405020304" pitchFamily="18" charset="0"/>
              </a:endParaRPr>
            </a:p>
          </p:txBody>
        </p:sp>
        <p:sp>
          <p:nvSpPr>
            <p:cNvPr id="14" name="矩形 366601">
              <a:extLst>
                <a:ext uri="{FF2B5EF4-FFF2-40B4-BE49-F238E27FC236}">
                  <a16:creationId xmlns="" xmlns:a16="http://schemas.microsoft.com/office/drawing/2014/main" id="{EE818785-7349-0223-88B6-E34F880EB57C}"/>
                </a:ext>
              </a:extLst>
            </p:cNvPr>
            <p:cNvSpPr/>
            <p:nvPr/>
          </p:nvSpPr>
          <p:spPr>
            <a:xfrm>
              <a:off x="3372" y="2640"/>
              <a:ext cx="323" cy="245"/>
            </a:xfrm>
            <a:prstGeom prst="rect">
              <a:avLst/>
            </a:prstGeom>
            <a:noFill/>
            <a:ln w="9525">
              <a:noFill/>
            </a:ln>
          </p:spPr>
          <p:txBody>
            <a:bodyPr wrap="none" anchor="t" anchorCtr="0">
              <a:spAutoFit/>
            </a:bodyPr>
            <a:lstStyle/>
            <a:p>
              <a:pPr eaLnBrk="0" hangingPunct="0"/>
              <a:r>
                <a:rPr lang="en-US" altLang="zh-CN" sz="2000" b="1" i="1" dirty="0" err="1">
                  <a:solidFill>
                    <a:schemeClr val="tx1"/>
                  </a:solidFill>
                  <a:latin typeface="Times New Roman" panose="02020603050405020304" pitchFamily="18" charset="0"/>
                  <a:ea typeface="+mn-ea"/>
                  <a:cs typeface="Times New Roman" panose="02020603050405020304" pitchFamily="18" charset="0"/>
                </a:rPr>
                <a:t>r</a:t>
              </a:r>
              <a:r>
                <a:rPr lang="en-US" altLang="zh-CN" sz="2000" b="1" baseline="-25000" dirty="0" err="1">
                  <a:solidFill>
                    <a:schemeClr val="tx1"/>
                  </a:solidFill>
                  <a:latin typeface="Times New Roman" panose="02020603050405020304" pitchFamily="18" charset="0"/>
                  <a:ea typeface="+mn-ea"/>
                  <a:cs typeface="Times New Roman" panose="02020603050405020304" pitchFamily="18" charset="0"/>
                </a:rPr>
                <a:t>ce</a:t>
              </a:r>
              <a:endParaRPr lang="en-US" altLang="zh-CN" sz="2000" b="1" baseline="-25000" dirty="0">
                <a:solidFill>
                  <a:schemeClr val="tx1"/>
                </a:solidFill>
                <a:latin typeface="Times New Roman" panose="02020603050405020304" pitchFamily="18" charset="0"/>
                <a:ea typeface="+mn-ea"/>
                <a:cs typeface="Times New Roman" panose="02020603050405020304" pitchFamily="18" charset="0"/>
              </a:endParaRPr>
            </a:p>
          </p:txBody>
        </p:sp>
        <p:sp>
          <p:nvSpPr>
            <p:cNvPr id="15" name="矩形 366602">
              <a:extLst>
                <a:ext uri="{FF2B5EF4-FFF2-40B4-BE49-F238E27FC236}">
                  <a16:creationId xmlns="" xmlns:a16="http://schemas.microsoft.com/office/drawing/2014/main" id="{AB7C1592-2D7D-6292-970A-2DF9829BA3E4}"/>
                </a:ext>
              </a:extLst>
            </p:cNvPr>
            <p:cNvSpPr/>
            <p:nvPr/>
          </p:nvSpPr>
          <p:spPr>
            <a:xfrm>
              <a:off x="2622" y="2679"/>
              <a:ext cx="639" cy="245"/>
            </a:xfrm>
            <a:prstGeom prst="rect">
              <a:avLst/>
            </a:prstGeom>
            <a:noFill/>
            <a:ln w="9525">
              <a:noFill/>
            </a:ln>
          </p:spPr>
          <p:txBody>
            <a:bodyPr wrap="none" anchor="t" anchorCtr="0">
              <a:spAutoFit/>
            </a:bodyPr>
            <a:lstStyle/>
            <a:p>
              <a:pPr eaLnBrk="0" hangingPunct="0"/>
              <a:r>
                <a:rPr lang="en-US" altLang="zh-CN" sz="2000" b="1" i="1" dirty="0">
                  <a:solidFill>
                    <a:schemeClr val="tx1"/>
                  </a:solidFill>
                  <a:latin typeface="Times New Roman" panose="02020603050405020304" pitchFamily="18" charset="0"/>
                  <a:ea typeface="+mn-ea"/>
                  <a:cs typeface="Times New Roman" panose="02020603050405020304" pitchFamily="18" charset="0"/>
                </a:rPr>
                <a:t>g</a:t>
              </a:r>
              <a:r>
                <a:rPr lang="en-US" altLang="zh-CN" sz="2000" b="1" i="1" baseline="-25000" dirty="0">
                  <a:solidFill>
                    <a:schemeClr val="tx1"/>
                  </a:solidFill>
                  <a:latin typeface="Times New Roman" panose="02020603050405020304" pitchFamily="18" charset="0"/>
                  <a:ea typeface="+mn-ea"/>
                  <a:cs typeface="Times New Roman" panose="02020603050405020304" pitchFamily="18" charset="0"/>
                </a:rPr>
                <a:t>m </a:t>
              </a:r>
              <a:r>
                <a:rPr lang="en-US" altLang="zh-CN" sz="2000" b="1" i="1" dirty="0" err="1">
                  <a:solidFill>
                    <a:schemeClr val="tx1"/>
                  </a:solidFill>
                  <a:latin typeface="Times New Roman" panose="02020603050405020304" pitchFamily="18" charset="0"/>
                  <a:ea typeface="+mn-ea"/>
                  <a:cs typeface="Times New Roman" panose="02020603050405020304" pitchFamily="18" charset="0"/>
                </a:rPr>
                <a:t>u</a:t>
              </a:r>
              <a:r>
                <a:rPr lang="en-US" altLang="zh-CN" sz="2000" b="1" baseline="-25000" dirty="0" err="1">
                  <a:solidFill>
                    <a:schemeClr val="tx1"/>
                  </a:solidFill>
                  <a:latin typeface="Times New Roman" panose="02020603050405020304" pitchFamily="18" charset="0"/>
                  <a:ea typeface="+mn-ea"/>
                  <a:cs typeface="Times New Roman" panose="02020603050405020304" pitchFamily="18" charset="0"/>
                </a:rPr>
                <a:t>b’e</a:t>
              </a:r>
              <a:endParaRPr lang="en-US" altLang="zh-CN" sz="2000" b="1" baseline="-25000" dirty="0">
                <a:solidFill>
                  <a:schemeClr val="tx1"/>
                </a:solidFill>
                <a:latin typeface="Times New Roman" panose="02020603050405020304" pitchFamily="18" charset="0"/>
                <a:ea typeface="+mn-ea"/>
                <a:cs typeface="Times New Roman" panose="02020603050405020304" pitchFamily="18" charset="0"/>
              </a:endParaRPr>
            </a:p>
          </p:txBody>
        </p:sp>
      </p:grpSp>
      <p:graphicFrame>
        <p:nvGraphicFramePr>
          <p:cNvPr id="16" name="对象 15">
            <a:extLst>
              <a:ext uri="{FF2B5EF4-FFF2-40B4-BE49-F238E27FC236}">
                <a16:creationId xmlns="" xmlns:a16="http://schemas.microsoft.com/office/drawing/2014/main" id="{020A54E9-CB16-5370-46D3-7AE4754E9C38}"/>
              </a:ext>
            </a:extLst>
          </p:cNvPr>
          <p:cNvGraphicFramePr/>
          <p:nvPr>
            <p:extLst>
              <p:ext uri="{D42A27DB-BD31-4B8C-83A1-F6EECF244321}">
                <p14:modId xmlns:p14="http://schemas.microsoft.com/office/powerpoint/2010/main" val="1588266141"/>
              </p:ext>
            </p:extLst>
          </p:nvPr>
        </p:nvGraphicFramePr>
        <p:xfrm>
          <a:off x="1176282" y="1612327"/>
          <a:ext cx="6273800" cy="412750"/>
        </p:xfrm>
        <a:graphic>
          <a:graphicData uri="http://schemas.openxmlformats.org/presentationml/2006/ole">
            <mc:AlternateContent xmlns:mc="http://schemas.openxmlformats.org/markup-compatibility/2006">
              <mc:Choice xmlns:v="urn:schemas-microsoft-com:vml" Requires="v">
                <p:oleObj spid="_x0000_s57586" r:id="rId5" imgW="4413885" imgH="248285" progId="Word.Document.8">
                  <p:embed/>
                </p:oleObj>
              </mc:Choice>
              <mc:Fallback>
                <p:oleObj r:id="rId5" imgW="4413885" imgH="248285" progId="Word.Document.8">
                  <p:embed/>
                  <p:pic>
                    <p:nvPicPr>
                      <p:cNvPr id="0" name=""/>
                      <p:cNvPicPr/>
                      <p:nvPr/>
                    </p:nvPicPr>
                    <p:blipFill>
                      <a:blip r:embed="rId6"/>
                      <a:stretch>
                        <a:fillRect/>
                      </a:stretch>
                    </p:blipFill>
                    <p:spPr>
                      <a:xfrm>
                        <a:off x="1176282" y="1612327"/>
                        <a:ext cx="6273800" cy="412750"/>
                      </a:xfrm>
                      <a:prstGeom prst="rect">
                        <a:avLst/>
                      </a:prstGeom>
                      <a:noFill/>
                      <a:ln w="38100">
                        <a:noFill/>
                        <a:miter/>
                      </a:ln>
                    </p:spPr>
                  </p:pic>
                </p:oleObj>
              </mc:Fallback>
            </mc:AlternateContent>
          </a:graphicData>
        </a:graphic>
      </p:graphicFrame>
      <p:graphicFrame>
        <p:nvGraphicFramePr>
          <p:cNvPr id="17" name="对象 16">
            <a:extLst>
              <a:ext uri="{FF2B5EF4-FFF2-40B4-BE49-F238E27FC236}">
                <a16:creationId xmlns="" xmlns:a16="http://schemas.microsoft.com/office/drawing/2014/main" id="{EA23F779-A3B5-8D38-68E7-6596B6EEB871}"/>
              </a:ext>
            </a:extLst>
          </p:cNvPr>
          <p:cNvGraphicFramePr/>
          <p:nvPr>
            <p:extLst>
              <p:ext uri="{D42A27DB-BD31-4B8C-83A1-F6EECF244321}">
                <p14:modId xmlns:p14="http://schemas.microsoft.com/office/powerpoint/2010/main" val="91654864"/>
              </p:ext>
            </p:extLst>
          </p:nvPr>
        </p:nvGraphicFramePr>
        <p:xfrm>
          <a:off x="972355" y="2029342"/>
          <a:ext cx="6731000" cy="1192381"/>
        </p:xfrm>
        <a:graphic>
          <a:graphicData uri="http://schemas.openxmlformats.org/presentationml/2006/ole">
            <mc:AlternateContent xmlns:mc="http://schemas.openxmlformats.org/markup-compatibility/2006">
              <mc:Choice xmlns:v="urn:schemas-microsoft-com:vml" Requires="v">
                <p:oleObj spid="_x0000_s57587" r:id="rId7" imgW="4197350" imgH="738505" progId="Word.Document.8">
                  <p:embed/>
                </p:oleObj>
              </mc:Choice>
              <mc:Fallback>
                <p:oleObj r:id="rId7" imgW="4197350" imgH="738505" progId="Word.Document.8">
                  <p:embed/>
                  <p:pic>
                    <p:nvPicPr>
                      <p:cNvPr id="0" name=""/>
                      <p:cNvPicPr/>
                      <p:nvPr/>
                    </p:nvPicPr>
                    <p:blipFill>
                      <a:blip r:embed="rId8"/>
                      <a:stretch>
                        <a:fillRect/>
                      </a:stretch>
                    </p:blipFill>
                    <p:spPr>
                      <a:xfrm>
                        <a:off x="972355" y="2029342"/>
                        <a:ext cx="6731000" cy="1192381"/>
                      </a:xfrm>
                      <a:prstGeom prst="rect">
                        <a:avLst/>
                      </a:prstGeom>
                      <a:noFill/>
                      <a:ln w="38100">
                        <a:noFill/>
                        <a:miter/>
                      </a:ln>
                    </p:spPr>
                  </p:pic>
                </p:oleObj>
              </mc:Fallback>
            </mc:AlternateContent>
          </a:graphicData>
        </a:graphic>
      </p:graphicFrame>
      <p:sp>
        <p:nvSpPr>
          <p:cNvPr id="18" name="矩形 17">
            <a:extLst>
              <a:ext uri="{FF2B5EF4-FFF2-40B4-BE49-F238E27FC236}">
                <a16:creationId xmlns="" xmlns:a16="http://schemas.microsoft.com/office/drawing/2014/main" id="{A5BEB48A-FD00-4568-8521-2E6D0FA04833}"/>
              </a:ext>
            </a:extLst>
          </p:cNvPr>
          <p:cNvSpPr/>
          <p:nvPr/>
        </p:nvSpPr>
        <p:spPr>
          <a:xfrm>
            <a:off x="251520" y="2808398"/>
            <a:ext cx="2654894" cy="400110"/>
          </a:xfrm>
          <a:prstGeom prst="rect">
            <a:avLst/>
          </a:prstGeom>
          <a:noFill/>
          <a:ln w="9525">
            <a:noFill/>
          </a:ln>
        </p:spPr>
        <p:txBody>
          <a:bodyPr wrap="none" anchor="ctr" anchorCtr="0">
            <a:spAutoFit/>
          </a:bodyPr>
          <a:lstStyle/>
          <a:p>
            <a:pPr defTabSz="914400">
              <a:tabLst>
                <a:tab pos="333375" algn="l"/>
              </a:tabLst>
            </a:pPr>
            <a:r>
              <a:rPr lang="en-US" altLang="zh-CN" sz="2000" b="1" dirty="0">
                <a:solidFill>
                  <a:schemeClr val="tx1"/>
                </a:solidFill>
                <a:latin typeface="+mn-ea"/>
                <a:ea typeface="+mn-ea"/>
              </a:rPr>
              <a:t>1.  </a:t>
            </a:r>
            <a:r>
              <a:rPr lang="zh-CN" altLang="en-US" sz="2000" b="1" dirty="0" smtClean="0">
                <a:solidFill>
                  <a:schemeClr val="tx1"/>
                </a:solidFill>
                <a:latin typeface="+mn-ea"/>
                <a:ea typeface="+mn-ea"/>
              </a:rPr>
              <a:t>混合</a:t>
            </a:r>
            <a:r>
              <a:rPr lang="en-US" altLang="zh-CN" sz="2000" b="1" dirty="0" smtClean="0">
                <a:solidFill>
                  <a:schemeClr val="tx1"/>
                </a:solidFill>
                <a:latin typeface="Times New Roman" panose="02020603050405020304" pitchFamily="18" charset="0"/>
                <a:ea typeface="+mn-ea"/>
                <a:cs typeface="Times New Roman" panose="02020603050405020304" pitchFamily="18" charset="0"/>
              </a:rPr>
              <a:t>π</a:t>
            </a:r>
            <a:r>
              <a:rPr lang="zh-CN" altLang="en-US" sz="2000" b="1" dirty="0" smtClean="0">
                <a:solidFill>
                  <a:schemeClr val="tx1"/>
                </a:solidFill>
                <a:latin typeface="+mn-ea"/>
                <a:ea typeface="+mn-ea"/>
              </a:rPr>
              <a:t>型</a:t>
            </a:r>
            <a:r>
              <a:rPr lang="zh-CN" altLang="en-US" sz="2000" b="1" dirty="0">
                <a:solidFill>
                  <a:schemeClr val="tx1"/>
                </a:solidFill>
                <a:latin typeface="+mn-ea"/>
                <a:ea typeface="+mn-ea"/>
              </a:rPr>
              <a:t>等效电路</a:t>
            </a:r>
          </a:p>
        </p:txBody>
      </p:sp>
      <p:sp>
        <p:nvSpPr>
          <p:cNvPr id="19" name="矩形 18">
            <a:extLst>
              <a:ext uri="{FF2B5EF4-FFF2-40B4-BE49-F238E27FC236}">
                <a16:creationId xmlns="" xmlns:a16="http://schemas.microsoft.com/office/drawing/2014/main" id="{EE591204-85DC-8BEA-7AEB-5AA1EDA5B5FE}"/>
              </a:ext>
            </a:extLst>
          </p:cNvPr>
          <p:cNvSpPr/>
          <p:nvPr/>
        </p:nvSpPr>
        <p:spPr>
          <a:xfrm>
            <a:off x="4453558" y="3895725"/>
            <a:ext cx="1476375" cy="1662113"/>
          </a:xfrm>
          <a:prstGeom prst="rect">
            <a:avLst/>
          </a:prstGeom>
          <a:noFill/>
          <a:ln w="22225" cap="flat" cmpd="sng">
            <a:solidFill>
              <a:srgbClr val="FF0000"/>
            </a:solidFill>
            <a:prstDash val="dash"/>
            <a:miter/>
            <a:headEnd type="none" w="med" len="med"/>
            <a:tailEnd type="none" w="med" len="med"/>
          </a:ln>
        </p:spPr>
        <p:txBody>
          <a:bodyPr anchor="t" anchorCtr="0"/>
          <a:lstStyle/>
          <a:p>
            <a:endParaRPr lang="zh-CN" altLang="en-US" sz="2000" dirty="0">
              <a:solidFill>
                <a:schemeClr val="tx1"/>
              </a:solidFill>
              <a:latin typeface="+mn-ea"/>
              <a:ea typeface="+mn-ea"/>
            </a:endParaRPr>
          </a:p>
        </p:txBody>
      </p:sp>
      <p:sp>
        <p:nvSpPr>
          <p:cNvPr id="20" name="文本框 19">
            <a:extLst>
              <a:ext uri="{FF2B5EF4-FFF2-40B4-BE49-F238E27FC236}">
                <a16:creationId xmlns="" xmlns:a16="http://schemas.microsoft.com/office/drawing/2014/main" id="{378D128A-D4E9-8C80-FF7A-AA59C89F2254}"/>
              </a:ext>
            </a:extLst>
          </p:cNvPr>
          <p:cNvSpPr txBox="1"/>
          <p:nvPr/>
        </p:nvSpPr>
        <p:spPr>
          <a:xfrm>
            <a:off x="467544" y="1160670"/>
            <a:ext cx="5943600" cy="462307"/>
          </a:xfrm>
          <a:prstGeom prst="rect">
            <a:avLst/>
          </a:prstGeom>
          <a:noFill/>
          <a:ln w="12700">
            <a:noFill/>
          </a:ln>
        </p:spPr>
        <p:txBody>
          <a:bodyPr lIns="92075" tIns="46038" rIns="92075" bIns="46038" anchor="t" anchorCtr="0">
            <a:spAutoFit/>
          </a:bodyPr>
          <a:lstStyle/>
          <a:p>
            <a:pPr eaLnBrk="0" hangingPunct="0">
              <a:spcBef>
                <a:spcPct val="50000"/>
              </a:spcBef>
            </a:pPr>
            <a:r>
              <a:rPr lang="zh-CN" altLang="en-US" sz="2400" b="1" dirty="0">
                <a:solidFill>
                  <a:schemeClr val="tx1"/>
                </a:solidFill>
                <a:latin typeface="+mn-ea"/>
                <a:ea typeface="+mn-ea"/>
              </a:rPr>
              <a:t>一、晶体管高频小信号等效电路</a:t>
            </a:r>
          </a:p>
        </p:txBody>
      </p:sp>
      <p:sp>
        <p:nvSpPr>
          <p:cNvPr id="21" name="文本框 366619">
            <a:extLst>
              <a:ext uri="{FF2B5EF4-FFF2-40B4-BE49-F238E27FC236}">
                <a16:creationId xmlns="" xmlns:a16="http://schemas.microsoft.com/office/drawing/2014/main" id="{BE7DD7A5-5E4E-7477-233D-F6DC84678C8A}"/>
              </a:ext>
            </a:extLst>
          </p:cNvPr>
          <p:cNvSpPr txBox="1"/>
          <p:nvPr/>
        </p:nvSpPr>
        <p:spPr>
          <a:xfrm>
            <a:off x="39085" y="6121700"/>
            <a:ext cx="8823907" cy="400110"/>
          </a:xfrm>
          <a:prstGeom prst="rect">
            <a:avLst/>
          </a:prstGeom>
          <a:noFill/>
          <a:ln w="9525">
            <a:noFill/>
          </a:ln>
        </p:spPr>
        <p:txBody>
          <a:bodyPr wrap="square" anchor="t" anchorCtr="0">
            <a:spAutoFit/>
          </a:bodyPr>
          <a:lstStyle/>
          <a:p>
            <a:pPr>
              <a:spcBef>
                <a:spcPct val="50000"/>
              </a:spcBef>
            </a:pPr>
            <a:r>
              <a:rPr lang="zh-CN" altLang="en-US" sz="2000" b="1" dirty="0" smtClean="0">
                <a:solidFill>
                  <a:schemeClr val="tx1"/>
                </a:solidFill>
                <a:latin typeface="+mn-ea"/>
                <a:ea typeface="+mn-ea"/>
              </a:rPr>
              <a:t>混</a:t>
            </a:r>
            <a:r>
              <a:rPr lang="en-US" altLang="zh-CN" sz="2000" b="1" dirty="0">
                <a:solidFill>
                  <a:schemeClr val="tx1"/>
                </a:solidFill>
                <a:latin typeface="Times New Roman" panose="02020603050405020304" pitchFamily="18" charset="0"/>
                <a:ea typeface="+mn-ea"/>
                <a:cs typeface="Times New Roman" panose="02020603050405020304" pitchFamily="18" charset="0"/>
              </a:rPr>
              <a:t>π</a:t>
            </a:r>
            <a:r>
              <a:rPr lang="zh-CN" altLang="en-US" sz="2000" b="1" dirty="0">
                <a:solidFill>
                  <a:schemeClr val="tx1"/>
                </a:solidFill>
                <a:latin typeface="+mn-ea"/>
                <a:ea typeface="+mn-ea"/>
              </a:rPr>
              <a:t>参数在一定频率范围内与频率无关</a:t>
            </a:r>
            <a:r>
              <a:rPr lang="en-US" altLang="zh-CN" sz="2000" b="1" dirty="0">
                <a:solidFill>
                  <a:schemeClr val="tx1"/>
                </a:solidFill>
                <a:latin typeface="+mn-ea"/>
                <a:ea typeface="+mn-ea"/>
              </a:rPr>
              <a:t>,</a:t>
            </a:r>
            <a:r>
              <a:rPr lang="zh-CN" altLang="en-US" sz="2000" b="1" dirty="0">
                <a:solidFill>
                  <a:schemeClr val="tx1"/>
                </a:solidFill>
                <a:latin typeface="+mn-ea"/>
                <a:ea typeface="+mn-ea"/>
              </a:rPr>
              <a:t>只与工作点有关</a:t>
            </a:r>
            <a:r>
              <a:rPr lang="en-US" altLang="zh-CN" sz="2000" b="1" dirty="0">
                <a:solidFill>
                  <a:schemeClr val="tx1"/>
                </a:solidFill>
                <a:latin typeface="+mn-ea"/>
                <a:ea typeface="+mn-ea"/>
              </a:rPr>
              <a:t>,</a:t>
            </a:r>
            <a:r>
              <a:rPr lang="zh-CN" altLang="en-US" sz="2000" b="1" dirty="0">
                <a:solidFill>
                  <a:schemeClr val="tx1"/>
                </a:solidFill>
                <a:latin typeface="+mn-ea"/>
                <a:ea typeface="+mn-ea"/>
              </a:rPr>
              <a:t>因此可用于宽带分析</a:t>
            </a:r>
            <a:r>
              <a:rPr lang="en-US" altLang="zh-CN" sz="2000" b="1" dirty="0">
                <a:solidFill>
                  <a:schemeClr val="tx1"/>
                </a:solidFill>
                <a:latin typeface="+mn-ea"/>
                <a:ea typeface="+mn-ea"/>
              </a:rPr>
              <a:t>.</a:t>
            </a:r>
          </a:p>
        </p:txBody>
      </p:sp>
      <p:graphicFrame>
        <p:nvGraphicFramePr>
          <p:cNvPr id="22" name="Object 2052">
            <a:extLst>
              <a:ext uri="{FF2B5EF4-FFF2-40B4-BE49-F238E27FC236}">
                <a16:creationId xmlns="" xmlns:a16="http://schemas.microsoft.com/office/drawing/2014/main" id="{08EC0D55-C357-2FD6-6237-4F2BDEE27533}"/>
              </a:ext>
            </a:extLst>
          </p:cNvPr>
          <p:cNvGraphicFramePr/>
          <p:nvPr>
            <p:extLst>
              <p:ext uri="{D42A27DB-BD31-4B8C-83A1-F6EECF244321}">
                <p14:modId xmlns:p14="http://schemas.microsoft.com/office/powerpoint/2010/main" val="1562114982"/>
              </p:ext>
            </p:extLst>
          </p:nvPr>
        </p:nvGraphicFramePr>
        <p:xfrm>
          <a:off x="2333179" y="3105339"/>
          <a:ext cx="496699" cy="402311"/>
        </p:xfrm>
        <a:graphic>
          <a:graphicData uri="http://schemas.openxmlformats.org/presentationml/2006/ole">
            <mc:AlternateContent xmlns:mc="http://schemas.openxmlformats.org/markup-compatibility/2006">
              <mc:Choice xmlns:v="urn:schemas-microsoft-com:vml" Requires="v">
                <p:oleObj spid="_x0000_s57588" name="Equation" r:id="rId9" imgW="342720" imgH="342720" progId="Equation.DSMT4">
                  <p:embed/>
                </p:oleObj>
              </mc:Choice>
              <mc:Fallback>
                <p:oleObj name="Equation" r:id="rId9" imgW="342720" imgH="342720" progId="Equation.DSMT4">
                  <p:embed/>
                  <p:pic>
                    <p:nvPicPr>
                      <p:cNvPr id="0" name=""/>
                      <p:cNvPicPr/>
                      <p:nvPr/>
                    </p:nvPicPr>
                    <p:blipFill>
                      <a:blip r:embed="rId10"/>
                      <a:stretch>
                        <a:fillRect/>
                      </a:stretch>
                    </p:blipFill>
                    <p:spPr>
                      <a:xfrm>
                        <a:off x="2333179" y="3105339"/>
                        <a:ext cx="496699" cy="402311"/>
                      </a:xfrm>
                      <a:prstGeom prst="rect">
                        <a:avLst/>
                      </a:prstGeom>
                      <a:noFill/>
                      <a:ln w="38100">
                        <a:noFill/>
                        <a:miter/>
                      </a:ln>
                    </p:spPr>
                  </p:pic>
                </p:oleObj>
              </mc:Fallback>
            </mc:AlternateContent>
          </a:graphicData>
        </a:graphic>
      </p:graphicFrame>
      <p:graphicFrame>
        <p:nvGraphicFramePr>
          <p:cNvPr id="23" name="Object 2053">
            <a:extLst>
              <a:ext uri="{FF2B5EF4-FFF2-40B4-BE49-F238E27FC236}">
                <a16:creationId xmlns="" xmlns:a16="http://schemas.microsoft.com/office/drawing/2014/main" id="{57DED91C-6041-5E2A-C5DC-1CB0F67D8CDE}"/>
              </a:ext>
            </a:extLst>
          </p:cNvPr>
          <p:cNvGraphicFramePr/>
          <p:nvPr>
            <p:extLst>
              <p:ext uri="{D42A27DB-BD31-4B8C-83A1-F6EECF244321}">
                <p14:modId xmlns:p14="http://schemas.microsoft.com/office/powerpoint/2010/main" val="588810505"/>
              </p:ext>
            </p:extLst>
          </p:nvPr>
        </p:nvGraphicFramePr>
        <p:xfrm>
          <a:off x="2356071" y="3412211"/>
          <a:ext cx="415840" cy="400110"/>
        </p:xfrm>
        <a:graphic>
          <a:graphicData uri="http://schemas.openxmlformats.org/presentationml/2006/ole">
            <mc:AlternateContent xmlns:mc="http://schemas.openxmlformats.org/markup-compatibility/2006">
              <mc:Choice xmlns:v="urn:schemas-microsoft-com:vml" Requires="v">
                <p:oleObj spid="_x0000_s57589" name="Equation" r:id="rId11" imgW="330120" imgH="342720" progId="Equation.DSMT4">
                  <p:embed/>
                </p:oleObj>
              </mc:Choice>
              <mc:Fallback>
                <p:oleObj name="Equation" r:id="rId11" imgW="330120" imgH="342720" progId="Equation.DSMT4">
                  <p:embed/>
                  <p:pic>
                    <p:nvPicPr>
                      <p:cNvPr id="0" name=""/>
                      <p:cNvPicPr/>
                      <p:nvPr/>
                    </p:nvPicPr>
                    <p:blipFill>
                      <a:blip r:embed="rId12"/>
                      <a:stretch>
                        <a:fillRect/>
                      </a:stretch>
                    </p:blipFill>
                    <p:spPr>
                      <a:xfrm>
                        <a:off x="2356071" y="3412211"/>
                        <a:ext cx="415840" cy="400110"/>
                      </a:xfrm>
                      <a:prstGeom prst="rect">
                        <a:avLst/>
                      </a:prstGeom>
                      <a:noFill/>
                      <a:ln w="38100">
                        <a:noFill/>
                        <a:miter/>
                      </a:ln>
                    </p:spPr>
                  </p:pic>
                </p:oleObj>
              </mc:Fallback>
            </mc:AlternateContent>
          </a:graphicData>
        </a:graphic>
      </p:graphicFrame>
      <p:graphicFrame>
        <p:nvGraphicFramePr>
          <p:cNvPr id="24" name="Object 2055">
            <a:extLst>
              <a:ext uri="{FF2B5EF4-FFF2-40B4-BE49-F238E27FC236}">
                <a16:creationId xmlns="" xmlns:a16="http://schemas.microsoft.com/office/drawing/2014/main" id="{8162DE92-A7FE-9607-F5B0-2EF587C2E501}"/>
              </a:ext>
            </a:extLst>
          </p:cNvPr>
          <p:cNvGraphicFramePr/>
          <p:nvPr>
            <p:extLst>
              <p:ext uri="{D42A27DB-BD31-4B8C-83A1-F6EECF244321}">
                <p14:modId xmlns:p14="http://schemas.microsoft.com/office/powerpoint/2010/main" val="27825768"/>
              </p:ext>
            </p:extLst>
          </p:nvPr>
        </p:nvGraphicFramePr>
        <p:xfrm>
          <a:off x="2452196" y="3820713"/>
          <a:ext cx="1982702" cy="361991"/>
        </p:xfrm>
        <a:graphic>
          <a:graphicData uri="http://schemas.openxmlformats.org/presentationml/2006/ole">
            <mc:AlternateContent xmlns:mc="http://schemas.openxmlformats.org/markup-compatibility/2006">
              <mc:Choice xmlns:v="urn:schemas-microsoft-com:vml" Requires="v">
                <p:oleObj spid="_x0000_s57590" r:id="rId13" imgW="1193800" imgH="228600" progId="Equation.3">
                  <p:embed/>
                </p:oleObj>
              </mc:Choice>
              <mc:Fallback>
                <p:oleObj r:id="rId13" imgW="1193800" imgH="228600" progId="Equation.3">
                  <p:embed/>
                  <p:pic>
                    <p:nvPicPr>
                      <p:cNvPr id="0" name=""/>
                      <p:cNvPicPr/>
                      <p:nvPr/>
                    </p:nvPicPr>
                    <p:blipFill>
                      <a:blip r:embed="rId14"/>
                      <a:stretch>
                        <a:fillRect/>
                      </a:stretch>
                    </p:blipFill>
                    <p:spPr>
                      <a:xfrm>
                        <a:off x="2452196" y="3820713"/>
                        <a:ext cx="1982702" cy="361991"/>
                      </a:xfrm>
                      <a:prstGeom prst="rect">
                        <a:avLst/>
                      </a:prstGeom>
                      <a:noFill/>
                      <a:ln w="38100">
                        <a:noFill/>
                        <a:miter/>
                      </a:ln>
                    </p:spPr>
                  </p:pic>
                </p:oleObj>
              </mc:Fallback>
            </mc:AlternateContent>
          </a:graphicData>
        </a:graphic>
      </p:graphicFrame>
      <p:sp>
        <p:nvSpPr>
          <p:cNvPr id="25" name="矩形 24"/>
          <p:cNvSpPr/>
          <p:nvPr/>
        </p:nvSpPr>
        <p:spPr>
          <a:xfrm>
            <a:off x="2717872" y="3444010"/>
            <a:ext cx="1733167" cy="400110"/>
          </a:xfrm>
          <a:prstGeom prst="rect">
            <a:avLst/>
          </a:prstGeom>
        </p:spPr>
        <p:txBody>
          <a:bodyPr wrap="none">
            <a:spAutoFit/>
          </a:bodyPr>
          <a:lstStyle/>
          <a:p>
            <a:pPr defTabSz="914400">
              <a:tabLst>
                <a:tab pos="333375" algn="l"/>
              </a:tabLst>
            </a:pPr>
            <a:r>
              <a:rPr lang="zh-CN" altLang="en-US" sz="2000" dirty="0" smtClean="0">
                <a:solidFill>
                  <a:schemeClr val="tx1"/>
                </a:solidFill>
                <a:latin typeface="+mn-ea"/>
                <a:ea typeface="+mn-ea"/>
              </a:rPr>
              <a:t>是发射结电阻</a:t>
            </a:r>
            <a:endParaRPr lang="zh-CN" altLang="en-US" sz="2000" dirty="0">
              <a:solidFill>
                <a:schemeClr val="tx1"/>
              </a:solidFill>
              <a:latin typeface="+mn-ea"/>
              <a:ea typeface="+mn-ea"/>
            </a:endParaRPr>
          </a:p>
        </p:txBody>
      </p:sp>
      <p:sp>
        <p:nvSpPr>
          <p:cNvPr id="26" name="矩形 25"/>
          <p:cNvSpPr/>
          <p:nvPr/>
        </p:nvSpPr>
        <p:spPr>
          <a:xfrm>
            <a:off x="2717872" y="3106440"/>
            <a:ext cx="1733167" cy="400110"/>
          </a:xfrm>
          <a:prstGeom prst="rect">
            <a:avLst/>
          </a:prstGeom>
        </p:spPr>
        <p:txBody>
          <a:bodyPr wrap="none">
            <a:spAutoFit/>
          </a:bodyPr>
          <a:lstStyle/>
          <a:p>
            <a:pPr defTabSz="914400">
              <a:tabLst>
                <a:tab pos="333375" algn="l"/>
              </a:tabLst>
            </a:pPr>
            <a:r>
              <a:rPr lang="zh-CN" altLang="en-US" sz="2000" dirty="0" smtClean="0">
                <a:solidFill>
                  <a:schemeClr val="tx1"/>
                </a:solidFill>
                <a:latin typeface="+mn-ea"/>
                <a:ea typeface="+mn-ea"/>
              </a:rPr>
              <a:t>是基极体电阻</a:t>
            </a:r>
            <a:endParaRPr lang="zh-CN" altLang="en-US" sz="2000" dirty="0">
              <a:solidFill>
                <a:schemeClr val="tx1"/>
              </a:solidFill>
              <a:latin typeface="+mn-ea"/>
              <a:ea typeface="+mn-ea"/>
            </a:endParaRPr>
          </a:p>
        </p:txBody>
      </p:sp>
    </p:spTree>
    <p:extLst>
      <p:ext uri="{BB962C8B-B14F-4D97-AF65-F5344CB8AC3E}">
        <p14:creationId xmlns:p14="http://schemas.microsoft.com/office/powerpoint/2010/main" val="2522868603"/>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82</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3.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高频</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小信号</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放大器</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Rectangle 12">
            <a:extLst>
              <a:ext uri="{FF2B5EF4-FFF2-40B4-BE49-F238E27FC236}">
                <a16:creationId xmlns="" xmlns:a16="http://schemas.microsoft.com/office/drawing/2014/main" id="{4F15B428-40A6-F525-4F75-FE8831578727}"/>
              </a:ext>
            </a:extLst>
          </p:cNvPr>
          <p:cNvSpPr/>
          <p:nvPr/>
        </p:nvSpPr>
        <p:spPr>
          <a:xfrm>
            <a:off x="555625" y="2104108"/>
            <a:ext cx="8077200" cy="1384995"/>
          </a:xfrm>
          <a:prstGeom prst="rect">
            <a:avLst/>
          </a:prstGeom>
          <a:noFill/>
          <a:ln w="12700">
            <a:noFill/>
          </a:ln>
        </p:spPr>
        <p:txBody>
          <a:bodyPr anchor="t" anchorCtr="0">
            <a:spAutoFit/>
          </a:bodyPr>
          <a:lstStyle/>
          <a:p>
            <a:pPr>
              <a:lnSpc>
                <a:spcPct val="140000"/>
              </a:lnSpc>
            </a:pPr>
            <a:r>
              <a:rPr lang="en-US" altLang="zh-CN" sz="2000" b="1" dirty="0" err="1">
                <a:solidFill>
                  <a:schemeClr val="accent2"/>
                </a:solidFill>
                <a:latin typeface="Times New Roman" panose="02020603050405020304" pitchFamily="18" charset="0"/>
                <a:cs typeface="Times New Roman" panose="02020603050405020304" pitchFamily="18" charset="0"/>
                <a:sym typeface="Symbol" panose="05050102010706020507" pitchFamily="18" charset="2"/>
              </a:rPr>
              <a:t>rb</a:t>
            </a:r>
            <a:r>
              <a:rPr lang="en-US" altLang="zh-CN" sz="2000" b="1" dirty="0" err="1">
                <a:solidFill>
                  <a:schemeClr val="accent2"/>
                </a:solidFill>
                <a:latin typeface="Times New Roman" panose="02020603050405020304" pitchFamily="18" charset="0"/>
                <a:cs typeface="Times New Roman" panose="02020603050405020304" pitchFamily="18" charset="0"/>
              </a:rPr>
              <a:t>c</a:t>
            </a:r>
            <a:r>
              <a:rPr lang="zh-CN" altLang="en-US" sz="2000" b="1" dirty="0">
                <a:solidFill>
                  <a:schemeClr val="accent2"/>
                </a:solidFill>
                <a:latin typeface="Times New Roman" panose="02020603050405020304" pitchFamily="18" charset="0"/>
                <a:cs typeface="Times New Roman" panose="02020603050405020304" pitchFamily="18" charset="0"/>
                <a:sym typeface="Symbol" panose="05050102010706020507" pitchFamily="18" charset="2"/>
              </a:rPr>
              <a:t>与</a:t>
            </a:r>
            <a:r>
              <a:rPr lang="en-US" altLang="zh-CN" sz="2000" b="1" dirty="0" err="1">
                <a:solidFill>
                  <a:schemeClr val="accent2"/>
                </a:solidFill>
                <a:latin typeface="Times New Roman" panose="02020603050405020304" pitchFamily="18" charset="0"/>
                <a:cs typeface="Times New Roman" panose="02020603050405020304" pitchFamily="18" charset="0"/>
                <a:sym typeface="Symbol" panose="05050102010706020507" pitchFamily="18" charset="2"/>
              </a:rPr>
              <a:t>Cb</a:t>
            </a:r>
            <a:r>
              <a:rPr lang="en-US" altLang="zh-CN" sz="2000" b="1" dirty="0" err="1">
                <a:solidFill>
                  <a:schemeClr val="accent2"/>
                </a:solidFill>
                <a:latin typeface="Times New Roman" panose="02020603050405020304" pitchFamily="18" charset="0"/>
                <a:cs typeface="Times New Roman" panose="02020603050405020304" pitchFamily="18" charset="0"/>
              </a:rPr>
              <a:t>c</a:t>
            </a:r>
            <a:r>
              <a:rPr lang="zh-CN" altLang="en-US" sz="2000" b="1" dirty="0">
                <a:solidFill>
                  <a:schemeClr val="accent2"/>
                </a:solidFill>
                <a:latin typeface="Times New Roman" panose="02020603050405020304" pitchFamily="18" charset="0"/>
                <a:cs typeface="Times New Roman" panose="02020603050405020304" pitchFamily="18" charset="0"/>
                <a:sym typeface="Symbol" panose="05050102010706020507" pitchFamily="18" charset="2"/>
              </a:rPr>
              <a:t>引起的容抗相比</a:t>
            </a:r>
            <a:r>
              <a:rPr lang="en-US" altLang="zh-CN" sz="2000" b="1" dirty="0" err="1">
                <a:solidFill>
                  <a:schemeClr val="accent2"/>
                </a:solidFill>
                <a:latin typeface="Times New Roman" panose="02020603050405020304" pitchFamily="18" charset="0"/>
                <a:cs typeface="Times New Roman" panose="02020603050405020304" pitchFamily="18" charset="0"/>
                <a:sym typeface="Symbol" panose="05050102010706020507" pitchFamily="18" charset="2"/>
              </a:rPr>
              <a:t>rb</a:t>
            </a:r>
            <a:r>
              <a:rPr lang="en-US" altLang="zh-CN" sz="2000" b="1" dirty="0" err="1">
                <a:solidFill>
                  <a:schemeClr val="accent2"/>
                </a:solidFill>
                <a:latin typeface="Times New Roman" panose="02020603050405020304" pitchFamily="18" charset="0"/>
                <a:cs typeface="Times New Roman" panose="02020603050405020304" pitchFamily="18" charset="0"/>
              </a:rPr>
              <a:t>c</a:t>
            </a:r>
            <a:r>
              <a:rPr lang="zh-CN" altLang="en-US" sz="2000" b="1" dirty="0">
                <a:solidFill>
                  <a:schemeClr val="accent2"/>
                </a:solidFill>
                <a:latin typeface="Times New Roman" panose="02020603050405020304" pitchFamily="18" charset="0"/>
                <a:cs typeface="Times New Roman" panose="02020603050405020304" pitchFamily="18" charset="0"/>
                <a:sym typeface="Symbol" panose="05050102010706020507" pitchFamily="18" charset="2"/>
              </a:rPr>
              <a:t>可视为开路。</a:t>
            </a:r>
          </a:p>
          <a:p>
            <a:pPr>
              <a:lnSpc>
                <a:spcPct val="140000"/>
              </a:lnSpc>
            </a:pPr>
            <a:r>
              <a:rPr lang="en-US" altLang="zh-CN" sz="2000" b="1" dirty="0" err="1">
                <a:solidFill>
                  <a:schemeClr val="accent2"/>
                </a:solidFill>
                <a:latin typeface="Times New Roman" panose="02020603050405020304" pitchFamily="18" charset="0"/>
                <a:cs typeface="Times New Roman" panose="02020603050405020304" pitchFamily="18" charset="0"/>
              </a:rPr>
              <a:t>rb</a:t>
            </a:r>
            <a:r>
              <a:rPr lang="en-US" altLang="zh-CN" sz="2000" b="1" dirty="0" err="1">
                <a:solidFill>
                  <a:schemeClr val="accent2"/>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000" b="1" dirty="0" err="1">
                <a:solidFill>
                  <a:schemeClr val="accent2"/>
                </a:solidFill>
                <a:latin typeface="Times New Roman" panose="02020603050405020304" pitchFamily="18" charset="0"/>
                <a:cs typeface="Times New Roman" panose="02020603050405020304" pitchFamily="18" charset="0"/>
              </a:rPr>
              <a:t>e</a:t>
            </a:r>
            <a:r>
              <a:rPr lang="zh-CN" altLang="en-US" sz="2000" b="1" dirty="0">
                <a:solidFill>
                  <a:schemeClr val="accent2"/>
                </a:solidFill>
                <a:latin typeface="Times New Roman" panose="02020603050405020304" pitchFamily="18" charset="0"/>
                <a:cs typeface="Times New Roman" panose="02020603050405020304" pitchFamily="18" charset="0"/>
                <a:sym typeface="Symbol" panose="05050102010706020507" pitchFamily="18" charset="2"/>
              </a:rPr>
              <a:t>与</a:t>
            </a:r>
            <a:r>
              <a:rPr lang="en-US" altLang="zh-CN" sz="2000" b="1" dirty="0" err="1">
                <a:solidFill>
                  <a:schemeClr val="accent2"/>
                </a:solidFill>
                <a:latin typeface="Times New Roman" panose="02020603050405020304" pitchFamily="18" charset="0"/>
                <a:cs typeface="Times New Roman" panose="02020603050405020304" pitchFamily="18" charset="0"/>
                <a:sym typeface="Symbol" panose="05050102010706020507" pitchFamily="18" charset="2"/>
              </a:rPr>
              <a:t>Cbe</a:t>
            </a:r>
            <a:r>
              <a:rPr lang="zh-CN" altLang="en-US" sz="2000" b="1" dirty="0">
                <a:solidFill>
                  <a:schemeClr val="accent2"/>
                </a:solidFill>
                <a:latin typeface="Times New Roman" panose="02020603050405020304" pitchFamily="18" charset="0"/>
                <a:cs typeface="Times New Roman" panose="02020603050405020304" pitchFamily="18" charset="0"/>
                <a:sym typeface="Symbol" panose="05050102010706020507" pitchFamily="18" charset="2"/>
              </a:rPr>
              <a:t>引起的容抗相比，</a:t>
            </a:r>
            <a:r>
              <a:rPr lang="en-US" altLang="zh-CN" sz="2000" b="1" dirty="0" err="1">
                <a:solidFill>
                  <a:schemeClr val="accent2"/>
                </a:solidFill>
                <a:latin typeface="Times New Roman" panose="02020603050405020304" pitchFamily="18" charset="0"/>
                <a:cs typeface="Times New Roman" panose="02020603050405020304" pitchFamily="18" charset="0"/>
              </a:rPr>
              <a:t>rb</a:t>
            </a:r>
            <a:r>
              <a:rPr lang="en-US" altLang="zh-CN" sz="2000" b="1" dirty="0" err="1">
                <a:solidFill>
                  <a:schemeClr val="accent2"/>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000" b="1" dirty="0" err="1">
                <a:solidFill>
                  <a:schemeClr val="accent2"/>
                </a:solidFill>
                <a:latin typeface="Times New Roman" panose="02020603050405020304" pitchFamily="18" charset="0"/>
                <a:cs typeface="Times New Roman" panose="02020603050405020304" pitchFamily="18" charset="0"/>
              </a:rPr>
              <a:t>e</a:t>
            </a:r>
            <a:r>
              <a:rPr lang="zh-CN" altLang="en-US" sz="2000" b="1" dirty="0">
                <a:solidFill>
                  <a:schemeClr val="accent2"/>
                </a:solidFill>
                <a:latin typeface="Times New Roman" panose="02020603050405020304" pitchFamily="18" charset="0"/>
                <a:cs typeface="Times New Roman" panose="02020603050405020304" pitchFamily="18" charset="0"/>
                <a:sym typeface="Symbol" panose="05050102010706020507" pitchFamily="18" charset="2"/>
              </a:rPr>
              <a:t>可以忽略（视为开路）</a:t>
            </a:r>
            <a:endParaRPr lang="zh-CN" altLang="en-US" sz="2000" b="1" baseline="-30000" dirty="0">
              <a:solidFill>
                <a:schemeClr val="accent2"/>
              </a:solidFill>
              <a:latin typeface="Times New Roman" panose="02020603050405020304" pitchFamily="18" charset="0"/>
              <a:cs typeface="Times New Roman" panose="02020603050405020304" pitchFamily="18" charset="0"/>
              <a:sym typeface="Symbol" panose="05050102010706020507" pitchFamily="18" charset="2"/>
            </a:endParaRPr>
          </a:p>
          <a:p>
            <a:pPr eaLnBrk="0" hangingPunct="0">
              <a:lnSpc>
                <a:spcPct val="140000"/>
              </a:lnSpc>
            </a:pPr>
            <a:r>
              <a:rPr lang="en-US" altLang="zh-CN" sz="2000" b="1" dirty="0" err="1">
                <a:solidFill>
                  <a:schemeClr val="accent2"/>
                </a:solidFill>
                <a:latin typeface="Times New Roman" panose="02020603050405020304" pitchFamily="18" charset="0"/>
                <a:cs typeface="Times New Roman" panose="02020603050405020304" pitchFamily="18" charset="0"/>
                <a:sym typeface="Symbol" panose="05050102010706020507" pitchFamily="18" charset="2"/>
              </a:rPr>
              <a:t>rce</a:t>
            </a:r>
            <a:r>
              <a:rPr lang="zh-CN" altLang="en-US" sz="2000" b="1" dirty="0">
                <a:solidFill>
                  <a:schemeClr val="accent2"/>
                </a:solidFill>
                <a:latin typeface="Times New Roman" panose="02020603050405020304" pitchFamily="18" charset="0"/>
                <a:cs typeface="Times New Roman" panose="02020603050405020304" pitchFamily="18" charset="0"/>
                <a:sym typeface="Symbol" panose="05050102010706020507" pitchFamily="18" charset="2"/>
              </a:rPr>
              <a:t>与回路负载比较，可视为开路。</a:t>
            </a:r>
            <a:endParaRPr lang="en-US" altLang="zh-CN" sz="2000" b="1" baseline="-30000" dirty="0">
              <a:solidFill>
                <a:schemeClr val="accent2"/>
              </a:solidFill>
              <a:latin typeface="Times New Roman" panose="02020603050405020304" pitchFamily="18" charset="0"/>
              <a:cs typeface="Times New Roman" panose="02020603050405020304" pitchFamily="18" charset="0"/>
              <a:sym typeface="Symbol" panose="05050102010706020507" pitchFamily="18" charset="2"/>
            </a:endParaRPr>
          </a:p>
        </p:txBody>
      </p:sp>
      <p:sp>
        <p:nvSpPr>
          <p:cNvPr id="6" name="Rectangle 13">
            <a:extLst>
              <a:ext uri="{FF2B5EF4-FFF2-40B4-BE49-F238E27FC236}">
                <a16:creationId xmlns="" xmlns:a16="http://schemas.microsoft.com/office/drawing/2014/main" id="{6809D1F8-63A8-5C31-44A7-F7D28F25DECD}"/>
              </a:ext>
            </a:extLst>
          </p:cNvPr>
          <p:cNvSpPr/>
          <p:nvPr/>
        </p:nvSpPr>
        <p:spPr>
          <a:xfrm>
            <a:off x="427038" y="1799308"/>
            <a:ext cx="6766596" cy="400110"/>
          </a:xfrm>
          <a:prstGeom prst="rect">
            <a:avLst/>
          </a:prstGeom>
          <a:noFill/>
          <a:ln w="12700">
            <a:noFill/>
          </a:ln>
        </p:spPr>
        <p:txBody>
          <a:bodyPr wrap="none" anchor="t" anchorCtr="0">
            <a:spAutoFit/>
          </a:bodyPr>
          <a:lstStyle/>
          <a:p>
            <a:pPr eaLnBrk="0" hangingPunct="0"/>
            <a:r>
              <a:rPr lang="en-US" altLang="zh-CN" sz="20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 </a:t>
            </a:r>
            <a:r>
              <a:rPr lang="zh-CN" altLang="en-US" sz="20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混合</a:t>
            </a:r>
            <a:r>
              <a:rPr lang="en-US" altLang="zh-CN" sz="2000" b="1" dirty="0">
                <a:solidFill>
                  <a:schemeClr val="tx1"/>
                </a:solidFill>
                <a:latin typeface="Times New Roman" panose="02020603050405020304" pitchFamily="18" charset="0"/>
                <a:ea typeface="+mn-ea"/>
                <a:cs typeface="Times New Roman" panose="02020603050405020304" pitchFamily="18" charset="0"/>
              </a:rPr>
              <a:t>π</a:t>
            </a:r>
            <a:r>
              <a:rPr lang="zh-CN" altLang="en-US" sz="2000" b="1" dirty="0">
                <a:solidFill>
                  <a:schemeClr val="tx1"/>
                </a:solidFill>
                <a:latin typeface="Times New Roman" panose="02020603050405020304" pitchFamily="18" charset="0"/>
                <a:ea typeface="+mn-ea"/>
                <a:cs typeface="Times New Roman" panose="02020603050405020304" pitchFamily="18" charset="0"/>
              </a:rPr>
              <a:t>等效电路中，电容，电阻并联，在一定的频率下：</a:t>
            </a:r>
          </a:p>
        </p:txBody>
      </p:sp>
      <p:sp>
        <p:nvSpPr>
          <p:cNvPr id="7" name="矩形 9233">
            <a:extLst>
              <a:ext uri="{FF2B5EF4-FFF2-40B4-BE49-F238E27FC236}">
                <a16:creationId xmlns="" xmlns:a16="http://schemas.microsoft.com/office/drawing/2014/main" id="{AF95C68A-86C1-5A81-71FE-9B07BA87B753}"/>
              </a:ext>
            </a:extLst>
          </p:cNvPr>
          <p:cNvSpPr/>
          <p:nvPr/>
        </p:nvSpPr>
        <p:spPr>
          <a:xfrm>
            <a:off x="2513844" y="1241607"/>
            <a:ext cx="3395481" cy="461665"/>
          </a:xfrm>
          <a:prstGeom prst="rect">
            <a:avLst/>
          </a:prstGeom>
          <a:noFill/>
          <a:ln w="9525">
            <a:noFill/>
          </a:ln>
        </p:spPr>
        <p:txBody>
          <a:bodyPr wrap="none" anchor="t" anchorCtr="0">
            <a:spAutoFit/>
          </a:bodyPr>
          <a:lstStyle/>
          <a:p>
            <a:pPr algn="ctr"/>
            <a:r>
              <a:rPr lang="zh-CN" altLang="en-US" sz="2000" b="1" dirty="0">
                <a:solidFill>
                  <a:schemeClr val="tx1"/>
                </a:solidFill>
                <a:latin typeface="Times New Roman" panose="02020603050405020304" pitchFamily="18" charset="0"/>
                <a:ea typeface="+mn-ea"/>
                <a:cs typeface="Times New Roman" panose="02020603050405020304" pitchFamily="18" charset="0"/>
              </a:rPr>
              <a:t>　</a:t>
            </a:r>
            <a:r>
              <a:rPr lang="zh-CN" altLang="en-US" sz="2400" b="1" dirty="0">
                <a:solidFill>
                  <a:schemeClr val="tx1"/>
                </a:solidFill>
                <a:latin typeface="Times New Roman" panose="02020603050405020304" pitchFamily="18" charset="0"/>
                <a:ea typeface="+mn-ea"/>
                <a:cs typeface="Times New Roman" panose="02020603050405020304" pitchFamily="18" charset="0"/>
              </a:rPr>
              <a:t>混合</a:t>
            </a:r>
            <a:r>
              <a:rPr lang="en-US" altLang="zh-CN" sz="2400" b="1" dirty="0">
                <a:solidFill>
                  <a:schemeClr val="tx1"/>
                </a:solidFill>
                <a:latin typeface="Times New Roman" panose="02020603050405020304" pitchFamily="18" charset="0"/>
                <a:ea typeface="+mn-ea"/>
                <a:cs typeface="Times New Roman" panose="02020603050405020304" pitchFamily="18" charset="0"/>
              </a:rPr>
              <a:t>π</a:t>
            </a:r>
            <a:r>
              <a:rPr lang="zh-CN" altLang="en-US" sz="2400" b="1" dirty="0">
                <a:solidFill>
                  <a:schemeClr val="tx1"/>
                </a:solidFill>
                <a:latin typeface="Times New Roman" panose="02020603050405020304" pitchFamily="18" charset="0"/>
                <a:ea typeface="+mn-ea"/>
                <a:cs typeface="Times New Roman" panose="02020603050405020304" pitchFamily="18" charset="0"/>
              </a:rPr>
              <a:t>等效电路的简化</a:t>
            </a:r>
          </a:p>
        </p:txBody>
      </p:sp>
      <p:sp>
        <p:nvSpPr>
          <p:cNvPr id="8" name="Rectangle 13">
            <a:extLst>
              <a:ext uri="{FF2B5EF4-FFF2-40B4-BE49-F238E27FC236}">
                <a16:creationId xmlns="" xmlns:a16="http://schemas.microsoft.com/office/drawing/2014/main" id="{950D6BC8-F8C9-F68F-E14A-8C587A50221D}"/>
              </a:ext>
            </a:extLst>
          </p:cNvPr>
          <p:cNvSpPr/>
          <p:nvPr/>
        </p:nvSpPr>
        <p:spPr>
          <a:xfrm>
            <a:off x="555625" y="3429000"/>
            <a:ext cx="8010525" cy="400110"/>
          </a:xfrm>
          <a:prstGeom prst="rect">
            <a:avLst/>
          </a:prstGeom>
          <a:noFill/>
          <a:ln w="9525">
            <a:noFill/>
          </a:ln>
        </p:spPr>
        <p:txBody>
          <a:bodyPr anchor="t" anchorCtr="0">
            <a:spAutoFit/>
          </a:bodyPr>
          <a:lstStyle/>
          <a:p>
            <a:r>
              <a:rPr lang="zh-CN" altLang="en-US" sz="2000" b="1" dirty="0">
                <a:solidFill>
                  <a:srgbClr val="FF0000"/>
                </a:solidFill>
                <a:latin typeface="Times New Roman" panose="02020603050405020304" pitchFamily="18" charset="0"/>
                <a:ea typeface="+mn-ea"/>
                <a:cs typeface="Times New Roman" panose="02020603050405020304" pitchFamily="18" charset="0"/>
                <a:sym typeface="Symbol" panose="05050102010706020507" pitchFamily="18" charset="2"/>
              </a:rPr>
              <a:t>对工作频率较高时的简化后的等效电路如图：</a:t>
            </a:r>
          </a:p>
        </p:txBody>
      </p:sp>
      <p:graphicFrame>
        <p:nvGraphicFramePr>
          <p:cNvPr id="9" name="Object 4">
            <a:extLst>
              <a:ext uri="{FF2B5EF4-FFF2-40B4-BE49-F238E27FC236}">
                <a16:creationId xmlns="" xmlns:a16="http://schemas.microsoft.com/office/drawing/2014/main" id="{025BFEBD-60C8-798F-E6C7-E49F991BDE42}"/>
              </a:ext>
            </a:extLst>
          </p:cNvPr>
          <p:cNvGraphicFramePr/>
          <p:nvPr>
            <p:extLst>
              <p:ext uri="{D42A27DB-BD31-4B8C-83A1-F6EECF244321}">
                <p14:modId xmlns:p14="http://schemas.microsoft.com/office/powerpoint/2010/main" val="3314963996"/>
              </p:ext>
            </p:extLst>
          </p:nvPr>
        </p:nvGraphicFramePr>
        <p:xfrm>
          <a:off x="5134919" y="3988718"/>
          <a:ext cx="3097213" cy="2414587"/>
        </p:xfrm>
        <a:graphic>
          <a:graphicData uri="http://schemas.openxmlformats.org/presentationml/2006/ole">
            <mc:AlternateContent xmlns:mc="http://schemas.openxmlformats.org/markup-compatibility/2006">
              <mc:Choice xmlns:v="urn:schemas-microsoft-com:vml" Requires="v">
                <p:oleObj spid="_x0000_s58464" r:id="rId3" imgW="1701800" imgH="1295400" progId="Word.Picture.8">
                  <p:embed/>
                </p:oleObj>
              </mc:Choice>
              <mc:Fallback>
                <p:oleObj r:id="rId3" imgW="1701800" imgH="1295400" progId="Word.Picture.8">
                  <p:embed/>
                  <p:pic>
                    <p:nvPicPr>
                      <p:cNvPr id="0" name=""/>
                      <p:cNvPicPr/>
                      <p:nvPr/>
                    </p:nvPicPr>
                    <p:blipFill>
                      <a:blip r:embed="rId4">
                        <a:clrChange>
                          <a:clrFrom>
                            <a:srgbClr val="FFFFFF"/>
                          </a:clrFrom>
                          <a:clrTo>
                            <a:srgbClr val="CCECFF"/>
                          </a:clrTo>
                        </a:clrChange>
                      </a:blip>
                      <a:stretch>
                        <a:fillRect/>
                      </a:stretch>
                    </p:blipFill>
                    <p:spPr>
                      <a:xfrm>
                        <a:off x="5134919" y="3988718"/>
                        <a:ext cx="3097213" cy="2414587"/>
                      </a:xfrm>
                      <a:prstGeom prst="rect">
                        <a:avLst/>
                      </a:prstGeom>
                      <a:noFill/>
                      <a:ln w="38100">
                        <a:noFill/>
                        <a:miter/>
                      </a:ln>
                    </p:spPr>
                  </p:pic>
                </p:oleObj>
              </mc:Fallback>
            </mc:AlternateContent>
          </a:graphicData>
        </a:graphic>
      </p:graphicFrame>
      <p:sp>
        <p:nvSpPr>
          <p:cNvPr id="10" name="AutoShape 15">
            <a:extLst>
              <a:ext uri="{FF2B5EF4-FFF2-40B4-BE49-F238E27FC236}">
                <a16:creationId xmlns="" xmlns:a16="http://schemas.microsoft.com/office/drawing/2014/main" id="{B5F1B921-9795-A001-33D9-B4FE812E7AED}"/>
              </a:ext>
            </a:extLst>
          </p:cNvPr>
          <p:cNvSpPr/>
          <p:nvPr/>
        </p:nvSpPr>
        <p:spPr>
          <a:xfrm>
            <a:off x="4064644" y="5046463"/>
            <a:ext cx="904875" cy="352425"/>
          </a:xfrm>
          <a:prstGeom prst="rightArrow">
            <a:avLst>
              <a:gd name="adj1" fmla="val 50000"/>
              <a:gd name="adj2" fmla="val 64165"/>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endParaRPr lang="zh-CN" altLang="en-US" sz="2000" dirty="0">
              <a:solidFill>
                <a:schemeClr val="tx1"/>
              </a:solidFill>
              <a:latin typeface="Times New Roman" panose="02020603050405020304" pitchFamily="18" charset="0"/>
              <a:ea typeface="+mn-ea"/>
              <a:cs typeface="Times New Roman" panose="02020603050405020304" pitchFamily="18" charset="0"/>
            </a:endParaRPr>
          </a:p>
        </p:txBody>
      </p:sp>
      <p:graphicFrame>
        <p:nvGraphicFramePr>
          <p:cNvPr id="12" name="Object 8">
            <a:extLst>
              <a:ext uri="{FF2B5EF4-FFF2-40B4-BE49-F238E27FC236}">
                <a16:creationId xmlns="" xmlns:a16="http://schemas.microsoft.com/office/drawing/2014/main" id="{9FEAF028-7205-F66A-CD16-1018B624AF41}"/>
              </a:ext>
            </a:extLst>
          </p:cNvPr>
          <p:cNvGraphicFramePr/>
          <p:nvPr>
            <p:extLst>
              <p:ext uri="{D42A27DB-BD31-4B8C-83A1-F6EECF244321}">
                <p14:modId xmlns:p14="http://schemas.microsoft.com/office/powerpoint/2010/main" val="2851326812"/>
              </p:ext>
            </p:extLst>
          </p:nvPr>
        </p:nvGraphicFramePr>
        <p:xfrm>
          <a:off x="611560" y="3868068"/>
          <a:ext cx="3403600" cy="2655888"/>
        </p:xfrm>
        <a:graphic>
          <a:graphicData uri="http://schemas.openxmlformats.org/presentationml/2006/ole">
            <mc:AlternateContent xmlns:mc="http://schemas.openxmlformats.org/markup-compatibility/2006">
              <mc:Choice xmlns:v="urn:schemas-microsoft-com:vml" Requires="v">
                <p:oleObj spid="_x0000_s58465" r:id="rId5" imgW="1714500" imgH="1308100" progId="Word.Picture.8">
                  <p:embed/>
                </p:oleObj>
              </mc:Choice>
              <mc:Fallback>
                <p:oleObj r:id="rId5" imgW="1714500" imgH="1308100" progId="Word.Picture.8">
                  <p:embed/>
                  <p:pic>
                    <p:nvPicPr>
                      <p:cNvPr id="0" name=""/>
                      <p:cNvPicPr/>
                      <p:nvPr/>
                    </p:nvPicPr>
                    <p:blipFill>
                      <a:blip r:embed="rId6">
                        <a:clrChange>
                          <a:clrFrom>
                            <a:srgbClr val="FFFFFF"/>
                          </a:clrFrom>
                          <a:clrTo>
                            <a:srgbClr val="CCECFF"/>
                          </a:clrTo>
                        </a:clrChange>
                      </a:blip>
                      <a:stretch>
                        <a:fillRect/>
                      </a:stretch>
                    </p:blipFill>
                    <p:spPr>
                      <a:xfrm>
                        <a:off x="611560" y="3868068"/>
                        <a:ext cx="3403600" cy="2655888"/>
                      </a:xfrm>
                      <a:prstGeom prst="rect">
                        <a:avLst/>
                      </a:prstGeom>
                      <a:noFill/>
                      <a:ln w="38100">
                        <a:noFill/>
                        <a:miter/>
                      </a:ln>
                    </p:spPr>
                  </p:pic>
                </p:oleObj>
              </mc:Fallback>
            </mc:AlternateContent>
          </a:graphicData>
        </a:graphic>
      </p:graphicFrame>
    </p:spTree>
    <p:extLst>
      <p:ext uri="{BB962C8B-B14F-4D97-AF65-F5344CB8AC3E}">
        <p14:creationId xmlns:p14="http://schemas.microsoft.com/office/powerpoint/2010/main" val="783013810"/>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83</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3.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高频</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小信号</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放大器</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grpSp>
        <p:nvGrpSpPr>
          <p:cNvPr id="5" name="组合 4">
            <a:extLst>
              <a:ext uri="{FF2B5EF4-FFF2-40B4-BE49-F238E27FC236}">
                <a16:creationId xmlns="" xmlns:a16="http://schemas.microsoft.com/office/drawing/2014/main" id="{5BABE1CF-D238-C4FB-B237-E459707B588E}"/>
              </a:ext>
            </a:extLst>
          </p:cNvPr>
          <p:cNvGrpSpPr/>
          <p:nvPr/>
        </p:nvGrpSpPr>
        <p:grpSpPr>
          <a:xfrm>
            <a:off x="716856" y="1942356"/>
            <a:ext cx="2971800" cy="2362200"/>
            <a:chOff x="1880" y="1600"/>
            <a:chExt cx="1872" cy="1488"/>
          </a:xfrm>
        </p:grpSpPr>
        <p:graphicFrame>
          <p:nvGraphicFramePr>
            <p:cNvPr id="6" name="对象 368642">
              <a:extLst>
                <a:ext uri="{FF2B5EF4-FFF2-40B4-BE49-F238E27FC236}">
                  <a16:creationId xmlns="" xmlns:a16="http://schemas.microsoft.com/office/drawing/2014/main" id="{35E73C4F-8BCD-FA1B-F8AF-C9CCE1B9A78A}"/>
                </a:ext>
              </a:extLst>
            </p:cNvPr>
            <p:cNvGraphicFramePr/>
            <p:nvPr/>
          </p:nvGraphicFramePr>
          <p:xfrm>
            <a:off x="1880" y="1600"/>
            <a:ext cx="1872" cy="1488"/>
          </p:xfrm>
          <a:graphic>
            <a:graphicData uri="http://schemas.openxmlformats.org/presentationml/2006/ole">
              <mc:AlternateContent xmlns:mc="http://schemas.openxmlformats.org/markup-compatibility/2006">
                <mc:Choice xmlns:v="urn:schemas-microsoft-com:vml" Requires="v">
                  <p:oleObj spid="_x0000_s59900" r:id="rId3" imgW="2952750" imgH="1828800" progId="Paint.Picture">
                    <p:embed/>
                  </p:oleObj>
                </mc:Choice>
                <mc:Fallback>
                  <p:oleObj r:id="rId3" imgW="2952750" imgH="1828800" progId="Paint.Picture">
                    <p:embed/>
                    <p:pic>
                      <p:nvPicPr>
                        <p:cNvPr id="0" name=""/>
                        <p:cNvPicPr/>
                        <p:nvPr/>
                      </p:nvPicPr>
                      <p:blipFill>
                        <a:blip r:embed="rId4"/>
                        <a:stretch>
                          <a:fillRect/>
                        </a:stretch>
                      </p:blipFill>
                      <p:spPr>
                        <a:xfrm>
                          <a:off x="1880" y="1600"/>
                          <a:ext cx="1872" cy="1488"/>
                        </a:xfrm>
                        <a:prstGeom prst="rect">
                          <a:avLst/>
                        </a:prstGeom>
                        <a:noFill/>
                        <a:ln w="38100">
                          <a:noFill/>
                          <a:miter/>
                        </a:ln>
                      </p:spPr>
                    </p:pic>
                  </p:oleObj>
                </mc:Fallback>
              </mc:AlternateContent>
            </a:graphicData>
          </a:graphic>
        </p:graphicFrame>
        <p:grpSp>
          <p:nvGrpSpPr>
            <p:cNvPr id="7" name="组合 368643">
              <a:extLst>
                <a:ext uri="{FF2B5EF4-FFF2-40B4-BE49-F238E27FC236}">
                  <a16:creationId xmlns="" xmlns:a16="http://schemas.microsoft.com/office/drawing/2014/main" id="{8F39B06E-CE53-31B0-B88B-8B9B6310BB49}"/>
                </a:ext>
              </a:extLst>
            </p:cNvPr>
            <p:cNvGrpSpPr/>
            <p:nvPr/>
          </p:nvGrpSpPr>
          <p:grpSpPr>
            <a:xfrm>
              <a:off x="2232" y="1856"/>
              <a:ext cx="840" cy="1066"/>
              <a:chOff x="1200" y="992"/>
              <a:chExt cx="840" cy="1066"/>
            </a:xfrm>
          </p:grpSpPr>
          <p:sp>
            <p:nvSpPr>
              <p:cNvPr id="8" name="文本框 368644">
                <a:extLst>
                  <a:ext uri="{FF2B5EF4-FFF2-40B4-BE49-F238E27FC236}">
                    <a16:creationId xmlns="" xmlns:a16="http://schemas.microsoft.com/office/drawing/2014/main" id="{C69473E3-7E9B-738B-07D4-7E6041EF7536}"/>
                  </a:ext>
                </a:extLst>
              </p:cNvPr>
              <p:cNvSpPr txBox="1"/>
              <p:nvPr/>
            </p:nvSpPr>
            <p:spPr>
              <a:xfrm>
                <a:off x="1200" y="1168"/>
                <a:ext cx="432" cy="250"/>
              </a:xfrm>
              <a:prstGeom prst="rect">
                <a:avLst/>
              </a:prstGeom>
              <a:noFill/>
              <a:ln w="9525">
                <a:noFill/>
              </a:ln>
            </p:spPr>
            <p:txBody>
              <a:bodyPr anchor="t" anchorCtr="0">
                <a:spAutoFit/>
              </a:bodyPr>
              <a:lstStyle/>
              <a:p>
                <a:pPr algn="ctr">
                  <a:spcBef>
                    <a:spcPct val="50000"/>
                  </a:spcBef>
                </a:pPr>
                <a:r>
                  <a:rPr lang="en-US" altLang="zh-CN" sz="2000" b="1">
                    <a:solidFill>
                      <a:schemeClr val="accent2"/>
                    </a:solidFill>
                    <a:latin typeface="+mn-ea"/>
                    <a:ea typeface="+mn-ea"/>
                  </a:rPr>
                  <a:t>b</a:t>
                </a:r>
              </a:p>
            </p:txBody>
          </p:sp>
          <p:sp>
            <p:nvSpPr>
              <p:cNvPr id="9" name="文本框 368645">
                <a:extLst>
                  <a:ext uri="{FF2B5EF4-FFF2-40B4-BE49-F238E27FC236}">
                    <a16:creationId xmlns="" xmlns:a16="http://schemas.microsoft.com/office/drawing/2014/main" id="{7A563668-F832-F79D-D9B2-64A103BB401F}"/>
                  </a:ext>
                </a:extLst>
              </p:cNvPr>
              <p:cNvSpPr txBox="1"/>
              <p:nvPr/>
            </p:nvSpPr>
            <p:spPr>
              <a:xfrm>
                <a:off x="1640" y="992"/>
                <a:ext cx="400" cy="250"/>
              </a:xfrm>
              <a:prstGeom prst="rect">
                <a:avLst/>
              </a:prstGeom>
              <a:noFill/>
              <a:ln w="9525">
                <a:noFill/>
              </a:ln>
            </p:spPr>
            <p:txBody>
              <a:bodyPr anchor="t" anchorCtr="0">
                <a:spAutoFit/>
              </a:bodyPr>
              <a:lstStyle/>
              <a:p>
                <a:pPr algn="ctr">
                  <a:spcBef>
                    <a:spcPct val="50000"/>
                  </a:spcBef>
                </a:pPr>
                <a:r>
                  <a:rPr lang="en-US" altLang="zh-CN" sz="2000" b="1">
                    <a:solidFill>
                      <a:schemeClr val="accent2"/>
                    </a:solidFill>
                    <a:latin typeface="+mn-ea"/>
                    <a:ea typeface="+mn-ea"/>
                  </a:rPr>
                  <a:t>c</a:t>
                </a:r>
              </a:p>
            </p:txBody>
          </p:sp>
          <p:sp>
            <p:nvSpPr>
              <p:cNvPr id="10" name="文本框 368646">
                <a:extLst>
                  <a:ext uri="{FF2B5EF4-FFF2-40B4-BE49-F238E27FC236}">
                    <a16:creationId xmlns="" xmlns:a16="http://schemas.microsoft.com/office/drawing/2014/main" id="{972F81FD-B97D-BF84-23AC-636E31F7DD1D}"/>
                  </a:ext>
                </a:extLst>
              </p:cNvPr>
              <p:cNvSpPr txBox="1"/>
              <p:nvPr/>
            </p:nvSpPr>
            <p:spPr>
              <a:xfrm>
                <a:off x="1424" y="1808"/>
                <a:ext cx="392" cy="250"/>
              </a:xfrm>
              <a:prstGeom prst="rect">
                <a:avLst/>
              </a:prstGeom>
              <a:noFill/>
              <a:ln w="9525">
                <a:noFill/>
              </a:ln>
            </p:spPr>
            <p:txBody>
              <a:bodyPr anchor="t" anchorCtr="0">
                <a:spAutoFit/>
              </a:bodyPr>
              <a:lstStyle/>
              <a:p>
                <a:pPr algn="ctr">
                  <a:spcBef>
                    <a:spcPct val="50000"/>
                  </a:spcBef>
                </a:pPr>
                <a:r>
                  <a:rPr lang="en-US" altLang="zh-CN" sz="2000" b="1">
                    <a:solidFill>
                      <a:schemeClr val="accent2"/>
                    </a:solidFill>
                    <a:latin typeface="+mn-ea"/>
                    <a:ea typeface="+mn-ea"/>
                  </a:rPr>
                  <a:t>e</a:t>
                </a:r>
              </a:p>
            </p:txBody>
          </p:sp>
        </p:grpSp>
      </p:grpSp>
      <p:sp>
        <p:nvSpPr>
          <p:cNvPr id="11" name="矩形 10">
            <a:extLst>
              <a:ext uri="{FF2B5EF4-FFF2-40B4-BE49-F238E27FC236}">
                <a16:creationId xmlns="" xmlns:a16="http://schemas.microsoft.com/office/drawing/2014/main" id="{A6368307-B548-2CF0-0CED-5F832848BC63}"/>
              </a:ext>
            </a:extLst>
          </p:cNvPr>
          <p:cNvSpPr/>
          <p:nvPr/>
        </p:nvSpPr>
        <p:spPr>
          <a:xfrm>
            <a:off x="1751608" y="2234456"/>
            <a:ext cx="952500" cy="2044700"/>
          </a:xfrm>
          <a:prstGeom prst="rect">
            <a:avLst/>
          </a:prstGeom>
          <a:noFill/>
          <a:ln w="9525" cap="flat" cmpd="sng">
            <a:solidFill>
              <a:srgbClr val="FF6600"/>
            </a:solidFill>
            <a:prstDash val="dash"/>
            <a:miter/>
            <a:headEnd type="none" w="med" len="med"/>
            <a:tailEnd type="none" w="med" len="med"/>
          </a:ln>
        </p:spPr>
        <p:txBody>
          <a:bodyPr anchor="t" anchorCtr="0"/>
          <a:lstStyle/>
          <a:p>
            <a:endParaRPr lang="zh-CN" altLang="en-US" sz="2000" dirty="0">
              <a:solidFill>
                <a:schemeClr val="accent2"/>
              </a:solidFill>
              <a:latin typeface="+mn-ea"/>
              <a:ea typeface="+mn-ea"/>
            </a:endParaRPr>
          </a:p>
        </p:txBody>
      </p:sp>
      <p:graphicFrame>
        <p:nvGraphicFramePr>
          <p:cNvPr id="12" name="对象 11">
            <a:extLst>
              <a:ext uri="{FF2B5EF4-FFF2-40B4-BE49-F238E27FC236}">
                <a16:creationId xmlns="" xmlns:a16="http://schemas.microsoft.com/office/drawing/2014/main" id="{34150594-3482-F8DD-64A3-9FA9D588F401}"/>
              </a:ext>
            </a:extLst>
          </p:cNvPr>
          <p:cNvGraphicFramePr/>
          <p:nvPr>
            <p:extLst>
              <p:ext uri="{D42A27DB-BD31-4B8C-83A1-F6EECF244321}">
                <p14:modId xmlns:p14="http://schemas.microsoft.com/office/powerpoint/2010/main" val="1210153077"/>
              </p:ext>
            </p:extLst>
          </p:nvPr>
        </p:nvGraphicFramePr>
        <p:xfrm>
          <a:off x="330200" y="4373563"/>
          <a:ext cx="4064000" cy="1143000"/>
        </p:xfrm>
        <a:graphic>
          <a:graphicData uri="http://schemas.openxmlformats.org/presentationml/2006/ole">
            <mc:AlternateContent xmlns:mc="http://schemas.openxmlformats.org/markup-compatibility/2006">
              <mc:Choice xmlns:v="urn:schemas-microsoft-com:vml" Requires="v">
                <p:oleObj spid="_x0000_s59901" name="Document" r:id="rId5" imgW="3051749" imgH="864256" progId="Word.Document.8">
                  <p:embed/>
                </p:oleObj>
              </mc:Choice>
              <mc:Fallback>
                <p:oleObj name="Document" r:id="rId5" imgW="3051749" imgH="864256" progId="Word.Document.8">
                  <p:embed/>
                  <p:pic>
                    <p:nvPicPr>
                      <p:cNvPr id="0" name=""/>
                      <p:cNvPicPr/>
                      <p:nvPr/>
                    </p:nvPicPr>
                    <p:blipFill>
                      <a:blip r:embed="rId6"/>
                      <a:stretch>
                        <a:fillRect/>
                      </a:stretch>
                    </p:blipFill>
                    <p:spPr>
                      <a:xfrm>
                        <a:off x="330200" y="4373563"/>
                        <a:ext cx="4064000" cy="1143000"/>
                      </a:xfrm>
                      <a:prstGeom prst="rect">
                        <a:avLst/>
                      </a:prstGeom>
                      <a:noFill/>
                      <a:ln w="38100">
                        <a:noFill/>
                        <a:miter/>
                      </a:ln>
                    </p:spPr>
                  </p:pic>
                </p:oleObj>
              </mc:Fallback>
            </mc:AlternateContent>
          </a:graphicData>
        </a:graphic>
      </p:graphicFrame>
      <p:sp>
        <p:nvSpPr>
          <p:cNvPr id="13" name="标题 368649">
            <a:extLst>
              <a:ext uri="{FF2B5EF4-FFF2-40B4-BE49-F238E27FC236}">
                <a16:creationId xmlns="" xmlns:a16="http://schemas.microsoft.com/office/drawing/2014/main" id="{7EED0756-C761-B3A1-8639-0110256CDC42}"/>
              </a:ext>
            </a:extLst>
          </p:cNvPr>
          <p:cNvSpPr txBox="1">
            <a:spLocks/>
          </p:cNvSpPr>
          <p:nvPr/>
        </p:nvSpPr>
        <p:spPr bwMode="auto">
          <a:xfrm>
            <a:off x="322858" y="1234331"/>
            <a:ext cx="4071938" cy="54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lang="en-US" altLang="zh-CN" sz="3600" b="1" dirty="0" smtClean="0">
                <a:solidFill>
                  <a:schemeClr val="tx2"/>
                </a:solidFill>
                <a:latin typeface="Times New Roman" panose="02020603050405020304" pitchFamily="18" charset="0"/>
                <a:ea typeface="楷体" panose="02010609060101010101" pitchFamily="49" charset="-122"/>
                <a:cs typeface="Times New Roman" panose="02020603050405020304" pitchFamily="18" charset="0"/>
              </a:defRPr>
            </a:lvl1pPr>
            <a:lvl2pPr algn="ctr" rtl="0" eaLnBrk="0" fontAlgn="base" hangingPunct="0">
              <a:spcBef>
                <a:spcPct val="0"/>
              </a:spcBef>
              <a:spcAft>
                <a:spcPct val="0"/>
              </a:spcAft>
              <a:defRPr sz="3200">
                <a:solidFill>
                  <a:schemeClr val="tx2"/>
                </a:solidFill>
                <a:latin typeface="Arial" pitchFamily="34" charset="0"/>
                <a:ea typeface="宋体" pitchFamily="2" charset="-122"/>
              </a:defRPr>
            </a:lvl2pPr>
            <a:lvl3pPr algn="ctr" rtl="0" eaLnBrk="0" fontAlgn="base" hangingPunct="0">
              <a:spcBef>
                <a:spcPct val="0"/>
              </a:spcBef>
              <a:spcAft>
                <a:spcPct val="0"/>
              </a:spcAft>
              <a:defRPr sz="3200">
                <a:solidFill>
                  <a:schemeClr val="tx2"/>
                </a:solidFill>
                <a:latin typeface="Arial" pitchFamily="34" charset="0"/>
                <a:ea typeface="宋体" pitchFamily="2" charset="-122"/>
              </a:defRPr>
            </a:lvl3pPr>
            <a:lvl4pPr algn="ctr" rtl="0" eaLnBrk="0" fontAlgn="base" hangingPunct="0">
              <a:spcBef>
                <a:spcPct val="0"/>
              </a:spcBef>
              <a:spcAft>
                <a:spcPct val="0"/>
              </a:spcAft>
              <a:defRPr sz="3200">
                <a:solidFill>
                  <a:schemeClr val="tx2"/>
                </a:solidFill>
                <a:latin typeface="Arial" pitchFamily="34" charset="0"/>
                <a:ea typeface="宋体" pitchFamily="2" charset="-122"/>
              </a:defRPr>
            </a:lvl4pPr>
            <a:lvl5pPr algn="ctr" rtl="0" eaLnBrk="0" fontAlgn="base" hangingPunct="0">
              <a:spcBef>
                <a:spcPct val="0"/>
              </a:spcBef>
              <a:spcAft>
                <a:spcPct val="0"/>
              </a:spcAft>
              <a:defRPr sz="3200">
                <a:solidFill>
                  <a:schemeClr val="tx2"/>
                </a:solidFill>
                <a:latin typeface="Arial" pitchFamily="34" charset="0"/>
                <a:ea typeface="宋体" pitchFamily="2" charset="-122"/>
              </a:defRPr>
            </a:lvl5pPr>
            <a:lvl6pPr marL="457200" algn="ctr" rtl="0" eaLnBrk="0" fontAlgn="base" hangingPunct="0">
              <a:spcBef>
                <a:spcPct val="0"/>
              </a:spcBef>
              <a:spcAft>
                <a:spcPct val="0"/>
              </a:spcAft>
              <a:defRPr sz="3200">
                <a:solidFill>
                  <a:schemeClr val="tx2"/>
                </a:solidFill>
                <a:latin typeface="Arial" pitchFamily="34" charset="0"/>
                <a:ea typeface="宋体" pitchFamily="2" charset="-122"/>
              </a:defRPr>
            </a:lvl6pPr>
            <a:lvl7pPr marL="914400" algn="ctr" rtl="0" eaLnBrk="0" fontAlgn="base" hangingPunct="0">
              <a:spcBef>
                <a:spcPct val="0"/>
              </a:spcBef>
              <a:spcAft>
                <a:spcPct val="0"/>
              </a:spcAft>
              <a:defRPr sz="3200">
                <a:solidFill>
                  <a:schemeClr val="tx2"/>
                </a:solidFill>
                <a:latin typeface="Arial" pitchFamily="34" charset="0"/>
                <a:ea typeface="宋体" pitchFamily="2" charset="-122"/>
              </a:defRPr>
            </a:lvl7pPr>
            <a:lvl8pPr marL="1371600" algn="ctr" rtl="0" eaLnBrk="0" fontAlgn="base" hangingPunct="0">
              <a:spcBef>
                <a:spcPct val="0"/>
              </a:spcBef>
              <a:spcAft>
                <a:spcPct val="0"/>
              </a:spcAft>
              <a:defRPr sz="3200">
                <a:solidFill>
                  <a:schemeClr val="tx2"/>
                </a:solidFill>
                <a:latin typeface="Arial" pitchFamily="34" charset="0"/>
                <a:ea typeface="宋体" pitchFamily="2" charset="-122"/>
              </a:defRPr>
            </a:lvl8pPr>
            <a:lvl9pPr marL="1828800" algn="ctr" rtl="0" eaLnBrk="0" fontAlgn="base" hangingPunct="0">
              <a:spcBef>
                <a:spcPct val="0"/>
              </a:spcBef>
              <a:spcAft>
                <a:spcPct val="0"/>
              </a:spcAft>
              <a:defRPr sz="3200">
                <a:solidFill>
                  <a:schemeClr val="tx2"/>
                </a:solidFill>
                <a:latin typeface="Arial" pitchFamily="34" charset="0"/>
                <a:ea typeface="宋体" pitchFamily="2" charset="-122"/>
              </a:defRPr>
            </a:lvl9pPr>
          </a:lstStyle>
          <a:p>
            <a:pPr eaLnBrk="1" hangingPunct="1"/>
            <a:r>
              <a:rPr lang="en-US" altLang="zh-CN" sz="2000" kern="1200" dirty="0">
                <a:solidFill>
                  <a:schemeClr val="tx1"/>
                </a:solidFill>
                <a:latin typeface="+mn-ea"/>
                <a:ea typeface="+mn-ea"/>
                <a:cs typeface="+mj-cs"/>
              </a:rPr>
              <a:t>2.  Y</a:t>
            </a:r>
            <a:r>
              <a:rPr lang="zh-CN" altLang="en-US" sz="2000" kern="1200" dirty="0">
                <a:solidFill>
                  <a:schemeClr val="tx1"/>
                </a:solidFill>
                <a:latin typeface="+mn-ea"/>
                <a:ea typeface="+mn-ea"/>
                <a:cs typeface="+mj-cs"/>
              </a:rPr>
              <a:t>参数等效电路 </a:t>
            </a:r>
          </a:p>
        </p:txBody>
      </p:sp>
      <p:graphicFrame>
        <p:nvGraphicFramePr>
          <p:cNvPr id="14" name="内容占位符 368650">
            <a:extLst>
              <a:ext uri="{FF2B5EF4-FFF2-40B4-BE49-F238E27FC236}">
                <a16:creationId xmlns="" xmlns:a16="http://schemas.microsoft.com/office/drawing/2014/main" id="{ED6B1A60-4952-5A1D-9AC9-8005173C091C}"/>
              </a:ext>
            </a:extLst>
          </p:cNvPr>
          <p:cNvGraphicFramePr>
            <a:graphicFrameLocks/>
          </p:cNvGraphicFramePr>
          <p:nvPr>
            <p:extLst>
              <p:ext uri="{D42A27DB-BD31-4B8C-83A1-F6EECF244321}">
                <p14:modId xmlns:p14="http://schemas.microsoft.com/office/powerpoint/2010/main" val="3403211859"/>
              </p:ext>
            </p:extLst>
          </p:nvPr>
        </p:nvGraphicFramePr>
        <p:xfrm>
          <a:off x="1043608" y="5585570"/>
          <a:ext cx="2702718" cy="1087640"/>
        </p:xfrm>
        <a:graphic>
          <a:graphicData uri="http://schemas.openxmlformats.org/presentationml/2006/ole">
            <mc:AlternateContent xmlns:mc="http://schemas.openxmlformats.org/markup-compatibility/2006">
              <mc:Choice xmlns:v="urn:schemas-microsoft-com:vml" Requires="v">
                <p:oleObj spid="_x0000_s59902" r:id="rId7" imgW="1104265" imgH="482600" progId="Equation.DSMT4">
                  <p:embed/>
                </p:oleObj>
              </mc:Choice>
              <mc:Fallback>
                <p:oleObj r:id="rId7" imgW="1104265" imgH="482600" progId="Equation.DSMT4">
                  <p:embed/>
                  <p:pic>
                    <p:nvPicPr>
                      <p:cNvPr id="0" name=""/>
                      <p:cNvPicPr/>
                      <p:nvPr/>
                    </p:nvPicPr>
                    <p:blipFill>
                      <a:blip r:embed="rId8"/>
                      <a:stretch>
                        <a:fillRect/>
                      </a:stretch>
                    </p:blipFill>
                    <p:spPr>
                      <a:xfrm>
                        <a:off x="1043608" y="5585570"/>
                        <a:ext cx="2702718" cy="1087640"/>
                      </a:xfrm>
                      <a:prstGeom prst="rect">
                        <a:avLst/>
                      </a:prstGeom>
                      <a:solidFill>
                        <a:srgbClr val="CCFFFF"/>
                      </a:solidFill>
                      <a:ln w="38100">
                        <a:noFill/>
                        <a:miter/>
                      </a:ln>
                    </p:spPr>
                  </p:pic>
                </p:oleObj>
              </mc:Fallback>
            </mc:AlternateContent>
          </a:graphicData>
        </a:graphic>
      </p:graphicFrame>
      <p:graphicFrame>
        <p:nvGraphicFramePr>
          <p:cNvPr id="15" name="内容占位符 368651">
            <a:extLst>
              <a:ext uri="{FF2B5EF4-FFF2-40B4-BE49-F238E27FC236}">
                <a16:creationId xmlns="" xmlns:a16="http://schemas.microsoft.com/office/drawing/2014/main" id="{FFBA0045-B3B3-051B-CC2F-4B1807FB41CB}"/>
              </a:ext>
            </a:extLst>
          </p:cNvPr>
          <p:cNvGraphicFramePr>
            <a:graphicFrameLocks/>
          </p:cNvGraphicFramePr>
          <p:nvPr>
            <p:extLst>
              <p:ext uri="{D42A27DB-BD31-4B8C-83A1-F6EECF244321}">
                <p14:modId xmlns:p14="http://schemas.microsoft.com/office/powerpoint/2010/main" val="217444092"/>
              </p:ext>
            </p:extLst>
          </p:nvPr>
        </p:nvGraphicFramePr>
        <p:xfrm>
          <a:off x="4071554" y="1923159"/>
          <a:ext cx="1492823" cy="822293"/>
        </p:xfrm>
        <a:graphic>
          <a:graphicData uri="http://schemas.openxmlformats.org/presentationml/2006/ole">
            <mc:AlternateContent xmlns:mc="http://schemas.openxmlformats.org/markup-compatibility/2006">
              <mc:Choice xmlns:v="urn:schemas-microsoft-com:vml" Requires="v">
                <p:oleObj spid="_x0000_s59903" r:id="rId9" imgW="812165" imgH="457200" progId="Equation.DSMT4">
                  <p:embed/>
                </p:oleObj>
              </mc:Choice>
              <mc:Fallback>
                <p:oleObj r:id="rId9" imgW="812165" imgH="457200" progId="Equation.DSMT4">
                  <p:embed/>
                  <p:pic>
                    <p:nvPicPr>
                      <p:cNvPr id="0" name=""/>
                      <p:cNvPicPr/>
                      <p:nvPr/>
                    </p:nvPicPr>
                    <p:blipFill>
                      <a:blip r:embed="rId10"/>
                      <a:stretch>
                        <a:fillRect/>
                      </a:stretch>
                    </p:blipFill>
                    <p:spPr>
                      <a:xfrm>
                        <a:off x="4071554" y="1923159"/>
                        <a:ext cx="1492823" cy="822293"/>
                      </a:xfrm>
                      <a:prstGeom prst="rect">
                        <a:avLst/>
                      </a:prstGeom>
                      <a:noFill/>
                      <a:ln w="38100">
                        <a:noFill/>
                        <a:miter/>
                      </a:ln>
                    </p:spPr>
                  </p:pic>
                </p:oleObj>
              </mc:Fallback>
            </mc:AlternateContent>
          </a:graphicData>
        </a:graphic>
      </p:graphicFrame>
      <p:graphicFrame>
        <p:nvGraphicFramePr>
          <p:cNvPr id="16" name="内容占位符 368652">
            <a:extLst>
              <a:ext uri="{FF2B5EF4-FFF2-40B4-BE49-F238E27FC236}">
                <a16:creationId xmlns="" xmlns:a16="http://schemas.microsoft.com/office/drawing/2014/main" id="{C23B7145-04E3-6701-02A8-3F07720C0308}"/>
              </a:ext>
            </a:extLst>
          </p:cNvPr>
          <p:cNvGraphicFramePr>
            <a:graphicFrameLocks/>
          </p:cNvGraphicFramePr>
          <p:nvPr>
            <p:extLst>
              <p:ext uri="{D42A27DB-BD31-4B8C-83A1-F6EECF244321}">
                <p14:modId xmlns:p14="http://schemas.microsoft.com/office/powerpoint/2010/main" val="2027392922"/>
              </p:ext>
            </p:extLst>
          </p:nvPr>
        </p:nvGraphicFramePr>
        <p:xfrm>
          <a:off x="3897685" y="3578427"/>
          <a:ext cx="1703042" cy="903761"/>
        </p:xfrm>
        <a:graphic>
          <a:graphicData uri="http://schemas.openxmlformats.org/presentationml/2006/ole">
            <mc:AlternateContent xmlns:mc="http://schemas.openxmlformats.org/markup-compatibility/2006">
              <mc:Choice xmlns:v="urn:schemas-microsoft-com:vml" Requires="v">
                <p:oleObj spid="_x0000_s59904" r:id="rId11" imgW="825500" imgH="457200" progId="Equation.DSMT4">
                  <p:embed/>
                </p:oleObj>
              </mc:Choice>
              <mc:Fallback>
                <p:oleObj r:id="rId11" imgW="825500" imgH="457200" progId="Equation.DSMT4">
                  <p:embed/>
                  <p:pic>
                    <p:nvPicPr>
                      <p:cNvPr id="0" name=""/>
                      <p:cNvPicPr/>
                      <p:nvPr/>
                    </p:nvPicPr>
                    <p:blipFill>
                      <a:blip r:embed="rId12"/>
                      <a:stretch>
                        <a:fillRect/>
                      </a:stretch>
                    </p:blipFill>
                    <p:spPr>
                      <a:xfrm>
                        <a:off x="3897685" y="3578427"/>
                        <a:ext cx="1703042" cy="903761"/>
                      </a:xfrm>
                      <a:prstGeom prst="rect">
                        <a:avLst/>
                      </a:prstGeom>
                      <a:noFill/>
                      <a:ln w="38100">
                        <a:noFill/>
                        <a:miter/>
                      </a:ln>
                    </p:spPr>
                  </p:pic>
                </p:oleObj>
              </mc:Fallback>
            </mc:AlternateContent>
          </a:graphicData>
        </a:graphic>
      </p:graphicFrame>
      <p:sp>
        <p:nvSpPr>
          <p:cNvPr id="17" name="矩形 16">
            <a:extLst>
              <a:ext uri="{FF2B5EF4-FFF2-40B4-BE49-F238E27FC236}">
                <a16:creationId xmlns="" xmlns:a16="http://schemas.microsoft.com/office/drawing/2014/main" id="{44095EB5-5654-E0DA-9B32-0D03215A21E1}"/>
              </a:ext>
            </a:extLst>
          </p:cNvPr>
          <p:cNvSpPr/>
          <p:nvPr/>
        </p:nvSpPr>
        <p:spPr>
          <a:xfrm>
            <a:off x="5477065" y="1487129"/>
            <a:ext cx="2424113" cy="304800"/>
          </a:xfrm>
          <a:prstGeom prst="rect">
            <a:avLst/>
          </a:prstGeom>
          <a:noFill/>
          <a:ln w="9525">
            <a:noFill/>
          </a:ln>
        </p:spPr>
        <p:txBody>
          <a:bodyPr lIns="0" tIns="0" rIns="0" bIns="0" anchor="t" anchorCtr="0">
            <a:spAutoFit/>
          </a:bodyPr>
          <a:lstStyle/>
          <a:p>
            <a:pPr algn="ctr"/>
            <a:r>
              <a:rPr lang="en-US" altLang="zh-CN" sz="2000" b="1" dirty="0">
                <a:solidFill>
                  <a:schemeClr val="tx1"/>
                </a:solidFill>
                <a:latin typeface="+mn-ea"/>
                <a:ea typeface="+mn-ea"/>
              </a:rPr>
              <a:t>—</a:t>
            </a:r>
            <a:r>
              <a:rPr lang="zh-CN" altLang="en-US" sz="2000" b="1" dirty="0">
                <a:solidFill>
                  <a:schemeClr val="tx1"/>
                </a:solidFill>
                <a:latin typeface="+mn-ea"/>
                <a:ea typeface="+mn-ea"/>
              </a:rPr>
              <a:t>输入导纳</a:t>
            </a:r>
          </a:p>
        </p:txBody>
      </p:sp>
      <p:sp>
        <p:nvSpPr>
          <p:cNvPr id="18" name="直接连接符 17">
            <a:extLst>
              <a:ext uri="{FF2B5EF4-FFF2-40B4-BE49-F238E27FC236}">
                <a16:creationId xmlns="" xmlns:a16="http://schemas.microsoft.com/office/drawing/2014/main" id="{CD19096F-96E1-B1F9-F9CD-3327EC76CDE0}"/>
              </a:ext>
            </a:extLst>
          </p:cNvPr>
          <p:cNvSpPr/>
          <p:nvPr/>
        </p:nvSpPr>
        <p:spPr>
          <a:xfrm flipH="1">
            <a:off x="2721571" y="2463056"/>
            <a:ext cx="457200" cy="0"/>
          </a:xfrm>
          <a:prstGeom prst="line">
            <a:avLst/>
          </a:prstGeom>
          <a:ln w="34925" cap="flat" cmpd="sng">
            <a:solidFill>
              <a:srgbClr val="FF0000"/>
            </a:solidFill>
            <a:prstDash val="solid"/>
            <a:round/>
            <a:headEnd type="none" w="med" len="med"/>
            <a:tailEnd type="triangle" w="med" len="med"/>
          </a:ln>
        </p:spPr>
      </p:sp>
      <p:sp>
        <p:nvSpPr>
          <p:cNvPr id="19" name="直接连接符 18">
            <a:extLst>
              <a:ext uri="{FF2B5EF4-FFF2-40B4-BE49-F238E27FC236}">
                <a16:creationId xmlns="" xmlns:a16="http://schemas.microsoft.com/office/drawing/2014/main" id="{6389D616-F3E9-8761-8D1C-2E6BB1927965}"/>
              </a:ext>
            </a:extLst>
          </p:cNvPr>
          <p:cNvSpPr/>
          <p:nvPr/>
        </p:nvSpPr>
        <p:spPr>
          <a:xfrm>
            <a:off x="1235671" y="3034556"/>
            <a:ext cx="304800" cy="0"/>
          </a:xfrm>
          <a:prstGeom prst="line">
            <a:avLst/>
          </a:prstGeom>
          <a:ln w="34925" cap="flat" cmpd="sng">
            <a:solidFill>
              <a:srgbClr val="FF0000"/>
            </a:solidFill>
            <a:prstDash val="solid"/>
            <a:round/>
            <a:headEnd type="none" w="med" len="med"/>
            <a:tailEnd type="triangle" w="med" len="med"/>
          </a:ln>
        </p:spPr>
      </p:sp>
      <p:graphicFrame>
        <p:nvGraphicFramePr>
          <p:cNvPr id="20" name="对象 19">
            <a:extLst>
              <a:ext uri="{FF2B5EF4-FFF2-40B4-BE49-F238E27FC236}">
                <a16:creationId xmlns="" xmlns:a16="http://schemas.microsoft.com/office/drawing/2014/main" id="{E28B4E37-1F90-13DA-C220-19C581E9999F}"/>
              </a:ext>
            </a:extLst>
          </p:cNvPr>
          <p:cNvGraphicFramePr/>
          <p:nvPr>
            <p:extLst>
              <p:ext uri="{D42A27DB-BD31-4B8C-83A1-F6EECF244321}">
                <p14:modId xmlns:p14="http://schemas.microsoft.com/office/powerpoint/2010/main" val="418820559"/>
              </p:ext>
            </p:extLst>
          </p:nvPr>
        </p:nvGraphicFramePr>
        <p:xfrm>
          <a:off x="1229321" y="3123456"/>
          <a:ext cx="407987" cy="506413"/>
        </p:xfrm>
        <a:graphic>
          <a:graphicData uri="http://schemas.openxmlformats.org/presentationml/2006/ole">
            <mc:AlternateContent xmlns:mc="http://schemas.openxmlformats.org/markup-compatibility/2006">
              <mc:Choice xmlns:v="urn:schemas-microsoft-com:vml" Requires="v">
                <p:oleObj spid="_x0000_s59905" r:id="rId13" imgW="165100" imgH="241300" progId="Equation.DSMT4">
                  <p:embed/>
                </p:oleObj>
              </mc:Choice>
              <mc:Fallback>
                <p:oleObj r:id="rId13" imgW="165100" imgH="241300" progId="Equation.DSMT4">
                  <p:embed/>
                  <p:pic>
                    <p:nvPicPr>
                      <p:cNvPr id="0" name=""/>
                      <p:cNvPicPr/>
                      <p:nvPr/>
                    </p:nvPicPr>
                    <p:blipFill>
                      <a:blip r:embed="rId14"/>
                      <a:stretch>
                        <a:fillRect/>
                      </a:stretch>
                    </p:blipFill>
                    <p:spPr>
                      <a:xfrm>
                        <a:off x="1229321" y="3123456"/>
                        <a:ext cx="407987" cy="506413"/>
                      </a:xfrm>
                      <a:prstGeom prst="rect">
                        <a:avLst/>
                      </a:prstGeom>
                      <a:noFill/>
                      <a:ln w="38100">
                        <a:noFill/>
                        <a:miter/>
                      </a:ln>
                    </p:spPr>
                  </p:pic>
                </p:oleObj>
              </mc:Fallback>
            </mc:AlternateContent>
          </a:graphicData>
        </a:graphic>
      </p:graphicFrame>
      <p:graphicFrame>
        <p:nvGraphicFramePr>
          <p:cNvPr id="21" name="对象 20">
            <a:extLst>
              <a:ext uri="{FF2B5EF4-FFF2-40B4-BE49-F238E27FC236}">
                <a16:creationId xmlns="" xmlns:a16="http://schemas.microsoft.com/office/drawing/2014/main" id="{8CE44AED-A763-31C4-5634-5056AA593AA5}"/>
              </a:ext>
            </a:extLst>
          </p:cNvPr>
          <p:cNvGraphicFramePr/>
          <p:nvPr>
            <p:extLst>
              <p:ext uri="{D42A27DB-BD31-4B8C-83A1-F6EECF244321}">
                <p14:modId xmlns:p14="http://schemas.microsoft.com/office/powerpoint/2010/main" val="526724050"/>
              </p:ext>
            </p:extLst>
          </p:nvPr>
        </p:nvGraphicFramePr>
        <p:xfrm>
          <a:off x="2773958" y="2551956"/>
          <a:ext cx="377825" cy="506413"/>
        </p:xfrm>
        <a:graphic>
          <a:graphicData uri="http://schemas.openxmlformats.org/presentationml/2006/ole">
            <mc:AlternateContent xmlns:mc="http://schemas.openxmlformats.org/markup-compatibility/2006">
              <mc:Choice xmlns:v="urn:schemas-microsoft-com:vml" Requires="v">
                <p:oleObj spid="_x0000_s59906" r:id="rId15" imgW="152400" imgH="241300" progId="Equation.DSMT4">
                  <p:embed/>
                </p:oleObj>
              </mc:Choice>
              <mc:Fallback>
                <p:oleObj r:id="rId15" imgW="152400" imgH="241300" progId="Equation.DSMT4">
                  <p:embed/>
                  <p:pic>
                    <p:nvPicPr>
                      <p:cNvPr id="0" name=""/>
                      <p:cNvPicPr/>
                      <p:nvPr/>
                    </p:nvPicPr>
                    <p:blipFill>
                      <a:blip r:embed="rId16"/>
                      <a:stretch>
                        <a:fillRect/>
                      </a:stretch>
                    </p:blipFill>
                    <p:spPr>
                      <a:xfrm>
                        <a:off x="2773958" y="2551956"/>
                        <a:ext cx="377825" cy="506413"/>
                      </a:xfrm>
                      <a:prstGeom prst="rect">
                        <a:avLst/>
                      </a:prstGeom>
                      <a:noFill/>
                      <a:ln w="38100">
                        <a:noFill/>
                        <a:miter/>
                      </a:ln>
                    </p:spPr>
                  </p:pic>
                </p:oleObj>
              </mc:Fallback>
            </mc:AlternateContent>
          </a:graphicData>
        </a:graphic>
      </p:graphicFrame>
      <p:graphicFrame>
        <p:nvGraphicFramePr>
          <p:cNvPr id="22" name="对象 21">
            <a:extLst>
              <a:ext uri="{FF2B5EF4-FFF2-40B4-BE49-F238E27FC236}">
                <a16:creationId xmlns="" xmlns:a16="http://schemas.microsoft.com/office/drawing/2014/main" id="{AF791069-6C95-F95A-5C38-223147DD6A32}"/>
              </a:ext>
            </a:extLst>
          </p:cNvPr>
          <p:cNvGraphicFramePr/>
          <p:nvPr>
            <p:extLst>
              <p:ext uri="{D42A27DB-BD31-4B8C-83A1-F6EECF244321}">
                <p14:modId xmlns:p14="http://schemas.microsoft.com/office/powerpoint/2010/main" val="3083298378"/>
              </p:ext>
            </p:extLst>
          </p:nvPr>
        </p:nvGraphicFramePr>
        <p:xfrm>
          <a:off x="834033" y="3021856"/>
          <a:ext cx="403225" cy="927100"/>
        </p:xfrm>
        <a:graphic>
          <a:graphicData uri="http://schemas.openxmlformats.org/presentationml/2006/ole">
            <mc:AlternateContent xmlns:mc="http://schemas.openxmlformats.org/markup-compatibility/2006">
              <mc:Choice xmlns:v="urn:schemas-microsoft-com:vml" Requires="v">
                <p:oleObj spid="_x0000_s59907" r:id="rId17" imgW="215900" imgH="583565" progId="Equation.DSMT4">
                  <p:embed/>
                </p:oleObj>
              </mc:Choice>
              <mc:Fallback>
                <p:oleObj r:id="rId17" imgW="215900" imgH="583565" progId="Equation.DSMT4">
                  <p:embed/>
                  <p:pic>
                    <p:nvPicPr>
                      <p:cNvPr id="0" name=""/>
                      <p:cNvPicPr/>
                      <p:nvPr/>
                    </p:nvPicPr>
                    <p:blipFill>
                      <a:blip r:embed="rId18"/>
                      <a:stretch>
                        <a:fillRect/>
                      </a:stretch>
                    </p:blipFill>
                    <p:spPr>
                      <a:xfrm>
                        <a:off x="834033" y="3021856"/>
                        <a:ext cx="403225" cy="927100"/>
                      </a:xfrm>
                      <a:prstGeom prst="rect">
                        <a:avLst/>
                      </a:prstGeom>
                      <a:noFill/>
                      <a:ln w="38100">
                        <a:noFill/>
                        <a:miter/>
                      </a:ln>
                    </p:spPr>
                  </p:pic>
                </p:oleObj>
              </mc:Fallback>
            </mc:AlternateContent>
          </a:graphicData>
        </a:graphic>
      </p:graphicFrame>
      <p:graphicFrame>
        <p:nvGraphicFramePr>
          <p:cNvPr id="23" name="对象 22">
            <a:extLst>
              <a:ext uri="{FF2B5EF4-FFF2-40B4-BE49-F238E27FC236}">
                <a16:creationId xmlns="" xmlns:a16="http://schemas.microsoft.com/office/drawing/2014/main" id="{55802252-03D8-8967-094E-168FD47ACE92}"/>
              </a:ext>
            </a:extLst>
          </p:cNvPr>
          <p:cNvGraphicFramePr/>
          <p:nvPr>
            <p:extLst>
              <p:ext uri="{D42A27DB-BD31-4B8C-83A1-F6EECF244321}">
                <p14:modId xmlns:p14="http://schemas.microsoft.com/office/powerpoint/2010/main" val="2887287753"/>
              </p:ext>
            </p:extLst>
          </p:nvPr>
        </p:nvGraphicFramePr>
        <p:xfrm>
          <a:off x="3148608" y="2615456"/>
          <a:ext cx="593725" cy="1371600"/>
        </p:xfrm>
        <a:graphic>
          <a:graphicData uri="http://schemas.openxmlformats.org/presentationml/2006/ole">
            <mc:AlternateContent xmlns:mc="http://schemas.openxmlformats.org/markup-compatibility/2006">
              <mc:Choice xmlns:v="urn:schemas-microsoft-com:vml" Requires="v">
                <p:oleObj spid="_x0000_s59908" r:id="rId19" imgW="215900" imgH="583565" progId="Equation.DSMT4">
                  <p:embed/>
                </p:oleObj>
              </mc:Choice>
              <mc:Fallback>
                <p:oleObj r:id="rId19" imgW="215900" imgH="583565" progId="Equation.DSMT4">
                  <p:embed/>
                  <p:pic>
                    <p:nvPicPr>
                      <p:cNvPr id="0" name=""/>
                      <p:cNvPicPr/>
                      <p:nvPr/>
                    </p:nvPicPr>
                    <p:blipFill>
                      <a:blip r:embed="rId20"/>
                      <a:stretch>
                        <a:fillRect/>
                      </a:stretch>
                    </p:blipFill>
                    <p:spPr>
                      <a:xfrm>
                        <a:off x="3148608" y="2615456"/>
                        <a:ext cx="593725" cy="1371600"/>
                      </a:xfrm>
                      <a:prstGeom prst="rect">
                        <a:avLst/>
                      </a:prstGeom>
                      <a:noFill/>
                      <a:ln w="38100">
                        <a:noFill/>
                        <a:miter/>
                      </a:ln>
                    </p:spPr>
                  </p:pic>
                </p:oleObj>
              </mc:Fallback>
            </mc:AlternateContent>
          </a:graphicData>
        </a:graphic>
      </p:graphicFrame>
      <p:graphicFrame>
        <p:nvGraphicFramePr>
          <p:cNvPr id="24" name="内容占位符 368661">
            <a:extLst>
              <a:ext uri="{FF2B5EF4-FFF2-40B4-BE49-F238E27FC236}">
                <a16:creationId xmlns="" xmlns:a16="http://schemas.microsoft.com/office/drawing/2014/main" id="{A4DA345C-65C7-D5A5-A228-ABED4F653098}"/>
              </a:ext>
            </a:extLst>
          </p:cNvPr>
          <p:cNvGraphicFramePr>
            <a:graphicFrameLocks/>
          </p:cNvGraphicFramePr>
          <p:nvPr>
            <p:extLst>
              <p:ext uri="{D42A27DB-BD31-4B8C-83A1-F6EECF244321}">
                <p14:modId xmlns:p14="http://schemas.microsoft.com/office/powerpoint/2010/main" val="2179524387"/>
              </p:ext>
            </p:extLst>
          </p:nvPr>
        </p:nvGraphicFramePr>
        <p:xfrm>
          <a:off x="3935999" y="2659089"/>
          <a:ext cx="1703042" cy="974762"/>
        </p:xfrm>
        <a:graphic>
          <a:graphicData uri="http://schemas.openxmlformats.org/presentationml/2006/ole">
            <mc:AlternateContent xmlns:mc="http://schemas.openxmlformats.org/markup-compatibility/2006">
              <mc:Choice xmlns:v="urn:schemas-microsoft-com:vml" Requires="v">
                <p:oleObj spid="_x0000_s59909" r:id="rId21" imgW="812165" imgH="457200" progId="Equation.DSMT4">
                  <p:embed/>
                </p:oleObj>
              </mc:Choice>
              <mc:Fallback>
                <p:oleObj r:id="rId21" imgW="812165" imgH="457200" progId="Equation.DSMT4">
                  <p:embed/>
                  <p:pic>
                    <p:nvPicPr>
                      <p:cNvPr id="0" name=""/>
                      <p:cNvPicPr/>
                      <p:nvPr/>
                    </p:nvPicPr>
                    <p:blipFill>
                      <a:blip r:embed="rId22"/>
                      <a:stretch>
                        <a:fillRect/>
                      </a:stretch>
                    </p:blipFill>
                    <p:spPr>
                      <a:xfrm>
                        <a:off x="3935999" y="2659089"/>
                        <a:ext cx="1703042" cy="974762"/>
                      </a:xfrm>
                      <a:prstGeom prst="rect">
                        <a:avLst/>
                      </a:prstGeom>
                      <a:noFill/>
                      <a:ln w="38100">
                        <a:noFill/>
                        <a:miter/>
                      </a:ln>
                    </p:spPr>
                  </p:pic>
                </p:oleObj>
              </mc:Fallback>
            </mc:AlternateContent>
          </a:graphicData>
        </a:graphic>
      </p:graphicFrame>
      <p:graphicFrame>
        <p:nvGraphicFramePr>
          <p:cNvPr id="25" name="对象 24">
            <a:extLst>
              <a:ext uri="{FF2B5EF4-FFF2-40B4-BE49-F238E27FC236}">
                <a16:creationId xmlns="" xmlns:a16="http://schemas.microsoft.com/office/drawing/2014/main" id="{EC04CB30-AAED-A206-4472-9F9250DE1F4B}"/>
              </a:ext>
            </a:extLst>
          </p:cNvPr>
          <p:cNvGraphicFramePr/>
          <p:nvPr>
            <p:extLst>
              <p:ext uri="{D42A27DB-BD31-4B8C-83A1-F6EECF244321}">
                <p14:modId xmlns:p14="http://schemas.microsoft.com/office/powerpoint/2010/main" val="3951495353"/>
              </p:ext>
            </p:extLst>
          </p:nvPr>
        </p:nvGraphicFramePr>
        <p:xfrm>
          <a:off x="4061066" y="1135039"/>
          <a:ext cx="1577975" cy="869206"/>
        </p:xfrm>
        <a:graphic>
          <a:graphicData uri="http://schemas.openxmlformats.org/presentationml/2006/ole">
            <mc:AlternateContent xmlns:mc="http://schemas.openxmlformats.org/markup-compatibility/2006">
              <mc:Choice xmlns:v="urn:schemas-microsoft-com:vml" Requires="v">
                <p:oleObj spid="_x0000_s59910" r:id="rId23" imgW="812165" imgH="457200" progId="Equation.DSMT4">
                  <p:embed/>
                </p:oleObj>
              </mc:Choice>
              <mc:Fallback>
                <p:oleObj r:id="rId23" imgW="812165" imgH="457200" progId="Equation.DSMT4">
                  <p:embed/>
                  <p:pic>
                    <p:nvPicPr>
                      <p:cNvPr id="0" name=""/>
                      <p:cNvPicPr/>
                      <p:nvPr/>
                    </p:nvPicPr>
                    <p:blipFill>
                      <a:blip r:embed="rId24"/>
                      <a:stretch>
                        <a:fillRect/>
                      </a:stretch>
                    </p:blipFill>
                    <p:spPr>
                      <a:xfrm>
                        <a:off x="4061066" y="1135039"/>
                        <a:ext cx="1577975" cy="869206"/>
                      </a:xfrm>
                      <a:prstGeom prst="rect">
                        <a:avLst/>
                      </a:prstGeom>
                      <a:noFill/>
                      <a:ln w="38100">
                        <a:noFill/>
                        <a:miter/>
                      </a:ln>
                    </p:spPr>
                  </p:pic>
                </p:oleObj>
              </mc:Fallback>
            </mc:AlternateContent>
          </a:graphicData>
        </a:graphic>
      </p:graphicFrame>
      <p:sp>
        <p:nvSpPr>
          <p:cNvPr id="26" name="矩形 25">
            <a:extLst>
              <a:ext uri="{FF2B5EF4-FFF2-40B4-BE49-F238E27FC236}">
                <a16:creationId xmlns="" xmlns:a16="http://schemas.microsoft.com/office/drawing/2014/main" id="{EFAF6D4B-2451-2320-975E-2CA97956E2ED}"/>
              </a:ext>
            </a:extLst>
          </p:cNvPr>
          <p:cNvSpPr/>
          <p:nvPr/>
        </p:nvSpPr>
        <p:spPr>
          <a:xfrm>
            <a:off x="5477065" y="2225696"/>
            <a:ext cx="2884487" cy="304800"/>
          </a:xfrm>
          <a:prstGeom prst="rect">
            <a:avLst/>
          </a:prstGeom>
          <a:noFill/>
          <a:ln w="9525">
            <a:noFill/>
          </a:ln>
        </p:spPr>
        <p:txBody>
          <a:bodyPr lIns="0" tIns="0" rIns="0" bIns="0" anchor="t" anchorCtr="0">
            <a:spAutoFit/>
          </a:bodyPr>
          <a:lstStyle/>
          <a:p>
            <a:pPr algn="ctr"/>
            <a:r>
              <a:rPr lang="en-US" altLang="zh-CN" sz="2000" b="1" dirty="0">
                <a:solidFill>
                  <a:schemeClr val="tx1"/>
                </a:solidFill>
                <a:latin typeface="+mn-ea"/>
                <a:ea typeface="+mn-ea"/>
              </a:rPr>
              <a:t>—</a:t>
            </a:r>
            <a:r>
              <a:rPr lang="zh-CN" altLang="en-US" sz="2000" b="1" dirty="0">
                <a:solidFill>
                  <a:schemeClr val="tx1"/>
                </a:solidFill>
                <a:latin typeface="+mn-ea"/>
                <a:ea typeface="+mn-ea"/>
              </a:rPr>
              <a:t>反向传输导纳</a:t>
            </a:r>
          </a:p>
        </p:txBody>
      </p:sp>
      <p:sp>
        <p:nvSpPr>
          <p:cNvPr id="27" name="矩形 26">
            <a:extLst>
              <a:ext uri="{FF2B5EF4-FFF2-40B4-BE49-F238E27FC236}">
                <a16:creationId xmlns="" xmlns:a16="http://schemas.microsoft.com/office/drawing/2014/main" id="{C2E09EE4-88B0-B2E4-E048-52C9C76DF9C0}"/>
              </a:ext>
            </a:extLst>
          </p:cNvPr>
          <p:cNvSpPr/>
          <p:nvPr/>
        </p:nvSpPr>
        <p:spPr>
          <a:xfrm>
            <a:off x="5451664" y="3160144"/>
            <a:ext cx="2935287" cy="304800"/>
          </a:xfrm>
          <a:prstGeom prst="rect">
            <a:avLst/>
          </a:prstGeom>
          <a:noFill/>
          <a:ln w="9525">
            <a:noFill/>
          </a:ln>
        </p:spPr>
        <p:txBody>
          <a:bodyPr lIns="0" tIns="0" rIns="0" bIns="0" anchor="t" anchorCtr="0">
            <a:spAutoFit/>
          </a:bodyPr>
          <a:lstStyle/>
          <a:p>
            <a:pPr algn="ctr"/>
            <a:r>
              <a:rPr lang="en-US" altLang="zh-CN" sz="2000" b="1" dirty="0">
                <a:solidFill>
                  <a:schemeClr val="tx1"/>
                </a:solidFill>
                <a:latin typeface="+mn-ea"/>
                <a:ea typeface="+mn-ea"/>
              </a:rPr>
              <a:t>—</a:t>
            </a:r>
            <a:r>
              <a:rPr lang="zh-CN" altLang="en-US" sz="2000" b="1" dirty="0">
                <a:solidFill>
                  <a:schemeClr val="tx1"/>
                </a:solidFill>
                <a:latin typeface="+mn-ea"/>
                <a:ea typeface="+mn-ea"/>
              </a:rPr>
              <a:t>正向传输导纳</a:t>
            </a:r>
          </a:p>
        </p:txBody>
      </p:sp>
      <p:sp>
        <p:nvSpPr>
          <p:cNvPr id="28" name="矩形 27">
            <a:extLst>
              <a:ext uri="{FF2B5EF4-FFF2-40B4-BE49-F238E27FC236}">
                <a16:creationId xmlns="" xmlns:a16="http://schemas.microsoft.com/office/drawing/2014/main" id="{94672FB1-B0CE-2F23-1040-0D4A88DB1300}"/>
              </a:ext>
            </a:extLst>
          </p:cNvPr>
          <p:cNvSpPr/>
          <p:nvPr/>
        </p:nvSpPr>
        <p:spPr>
          <a:xfrm>
            <a:off x="5389753" y="3948956"/>
            <a:ext cx="2511425" cy="304800"/>
          </a:xfrm>
          <a:prstGeom prst="rect">
            <a:avLst/>
          </a:prstGeom>
          <a:noFill/>
          <a:ln w="9525">
            <a:noFill/>
          </a:ln>
        </p:spPr>
        <p:txBody>
          <a:bodyPr lIns="0" tIns="0" rIns="0" bIns="0" anchor="t" anchorCtr="0">
            <a:spAutoFit/>
          </a:bodyPr>
          <a:lstStyle/>
          <a:p>
            <a:pPr algn="ctr"/>
            <a:r>
              <a:rPr lang="en-US" altLang="zh-CN" sz="2000" b="1" dirty="0">
                <a:solidFill>
                  <a:schemeClr val="tx1"/>
                </a:solidFill>
                <a:latin typeface="+mn-ea"/>
                <a:ea typeface="+mn-ea"/>
              </a:rPr>
              <a:t>—</a:t>
            </a:r>
            <a:r>
              <a:rPr lang="zh-CN" altLang="en-US" sz="2000" b="1" dirty="0">
                <a:solidFill>
                  <a:schemeClr val="tx1"/>
                </a:solidFill>
                <a:latin typeface="+mn-ea"/>
                <a:ea typeface="+mn-ea"/>
              </a:rPr>
              <a:t>输出导纳</a:t>
            </a:r>
          </a:p>
        </p:txBody>
      </p:sp>
      <p:sp>
        <p:nvSpPr>
          <p:cNvPr id="29" name="矩形 28">
            <a:extLst>
              <a:ext uri="{FF2B5EF4-FFF2-40B4-BE49-F238E27FC236}">
                <a16:creationId xmlns="" xmlns:a16="http://schemas.microsoft.com/office/drawing/2014/main" id="{12187634-BDFE-AC7A-8517-12F47EC9C3EB}"/>
              </a:ext>
            </a:extLst>
          </p:cNvPr>
          <p:cNvSpPr/>
          <p:nvPr/>
        </p:nvSpPr>
        <p:spPr>
          <a:xfrm>
            <a:off x="4706520" y="4541222"/>
            <a:ext cx="4014787" cy="1015663"/>
          </a:xfrm>
          <a:prstGeom prst="rect">
            <a:avLst/>
          </a:prstGeom>
          <a:solidFill>
            <a:srgbClr val="FFFF99"/>
          </a:solidFill>
          <a:ln w="9525" cap="flat" cmpd="sng">
            <a:solidFill>
              <a:srgbClr val="FF00FF"/>
            </a:solidFill>
            <a:prstDash val="lgDash"/>
            <a:miter/>
            <a:headEnd type="none" w="med" len="med"/>
            <a:tailEnd type="none" w="med" len="med"/>
          </a:ln>
        </p:spPr>
        <p:txBody>
          <a:bodyPr anchor="t" anchorCtr="0">
            <a:spAutoFit/>
          </a:bodyPr>
          <a:lstStyle/>
          <a:p>
            <a:r>
              <a:rPr lang="en-US" altLang="zh-CN" sz="2000" b="1" dirty="0">
                <a:solidFill>
                  <a:schemeClr val="accent2"/>
                </a:solidFill>
                <a:latin typeface="+mn-ea"/>
                <a:ea typeface="+mn-ea"/>
              </a:rPr>
              <a:t>    </a:t>
            </a:r>
            <a:r>
              <a:rPr lang="en-US" altLang="zh-CN" sz="2000" b="1" dirty="0">
                <a:solidFill>
                  <a:srgbClr val="FF0000"/>
                </a:solidFill>
                <a:latin typeface="+mn-ea"/>
                <a:ea typeface="+mn-ea"/>
              </a:rPr>
              <a:t>Y</a:t>
            </a:r>
            <a:r>
              <a:rPr lang="zh-CN" altLang="en-US" sz="2000" b="1" dirty="0">
                <a:solidFill>
                  <a:srgbClr val="FF0000"/>
                </a:solidFill>
                <a:latin typeface="+mn-ea"/>
                <a:ea typeface="+mn-ea"/>
              </a:rPr>
              <a:t>参数不仅与工作点有关</a:t>
            </a:r>
            <a:r>
              <a:rPr lang="en-US" altLang="zh-CN" sz="2000" b="1" dirty="0">
                <a:solidFill>
                  <a:srgbClr val="FF0000"/>
                </a:solidFill>
                <a:latin typeface="+mn-ea"/>
                <a:ea typeface="+mn-ea"/>
              </a:rPr>
              <a:t>,</a:t>
            </a:r>
            <a:r>
              <a:rPr lang="zh-CN" altLang="en-US" sz="2000" b="1" dirty="0">
                <a:solidFill>
                  <a:srgbClr val="FF0000"/>
                </a:solidFill>
                <a:latin typeface="+mn-ea"/>
                <a:ea typeface="+mn-ea"/>
              </a:rPr>
              <a:t>而且与频率有关</a:t>
            </a:r>
            <a:r>
              <a:rPr lang="en-US" altLang="zh-CN" sz="2000" b="1" dirty="0">
                <a:solidFill>
                  <a:srgbClr val="FF0000"/>
                </a:solidFill>
                <a:latin typeface="+mn-ea"/>
                <a:ea typeface="+mn-ea"/>
              </a:rPr>
              <a:t>,</a:t>
            </a:r>
            <a:r>
              <a:rPr lang="zh-CN" altLang="en-US" sz="2000" b="1" dirty="0">
                <a:solidFill>
                  <a:srgbClr val="FF0000"/>
                </a:solidFill>
                <a:latin typeface="+mn-ea"/>
                <a:ea typeface="+mn-ea"/>
              </a:rPr>
              <a:t>因此只适用于窄带分析</a:t>
            </a:r>
          </a:p>
        </p:txBody>
      </p:sp>
    </p:spTree>
    <p:extLst>
      <p:ext uri="{BB962C8B-B14F-4D97-AF65-F5344CB8AC3E}">
        <p14:creationId xmlns:p14="http://schemas.microsoft.com/office/powerpoint/2010/main" val="4199873022"/>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84</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3.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高频</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小信号</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放大器</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Text Box 4">
            <a:extLst>
              <a:ext uri="{FF2B5EF4-FFF2-40B4-BE49-F238E27FC236}">
                <a16:creationId xmlns="" xmlns:a16="http://schemas.microsoft.com/office/drawing/2014/main" id="{F0A7B751-5C8E-7A77-1553-FF0C6822D160}"/>
              </a:ext>
            </a:extLst>
          </p:cNvPr>
          <p:cNvSpPr txBox="1"/>
          <p:nvPr/>
        </p:nvSpPr>
        <p:spPr>
          <a:xfrm>
            <a:off x="346009" y="1669098"/>
            <a:ext cx="1656223" cy="400110"/>
          </a:xfrm>
          <a:prstGeom prst="rect">
            <a:avLst/>
          </a:prstGeom>
          <a:noFill/>
          <a:ln w="9525">
            <a:noFill/>
          </a:ln>
        </p:spPr>
        <p:txBody>
          <a:bodyPr wrap="none" anchor="t" anchorCtr="0">
            <a:spAutoFit/>
          </a:bodyPr>
          <a:lstStyle/>
          <a:p>
            <a:pPr>
              <a:spcBef>
                <a:spcPct val="20000"/>
              </a:spcBef>
              <a:buClr>
                <a:srgbClr val="800000"/>
              </a:buClr>
              <a:buFont typeface="Wingdings" panose="05000000000000000000" pitchFamily="2" charset="2"/>
              <a:buChar char="Ø"/>
            </a:pPr>
            <a:r>
              <a:rPr lang="zh-CN" altLang="en-US" sz="2000" b="1" dirty="0">
                <a:solidFill>
                  <a:srgbClr val="FF0000"/>
                </a:solidFill>
                <a:latin typeface="Times New Roman" panose="02020603050405020304" pitchFamily="18" charset="0"/>
                <a:cs typeface="Times New Roman" panose="02020603050405020304" pitchFamily="18" charset="0"/>
              </a:rPr>
              <a:t> 截止频率</a:t>
            </a:r>
            <a:r>
              <a:rPr lang="en-US" altLang="zh-CN" sz="1800" b="1" dirty="0">
                <a:solidFill>
                  <a:srgbClr val="FF0000"/>
                </a:solidFill>
                <a:latin typeface="Times New Roman" panose="02020603050405020304" pitchFamily="18" charset="0"/>
                <a:cs typeface="Times New Roman" panose="02020603050405020304" pitchFamily="18" charset="0"/>
              </a:rPr>
              <a:t>f</a:t>
            </a:r>
            <a:r>
              <a:rPr lang="en-US" altLang="zh-CN" sz="1400" b="1" dirty="0">
                <a:solidFill>
                  <a:srgbClr val="FF0000"/>
                </a:solidFill>
                <a:latin typeface="Times New Roman" panose="02020603050405020304" pitchFamily="18" charset="0"/>
                <a:cs typeface="Times New Roman" panose="02020603050405020304" pitchFamily="18" charset="0"/>
              </a:rPr>
              <a:t>β</a:t>
            </a:r>
            <a:endParaRPr lang="zh-CN" altLang="en-US" sz="2000" b="1" dirty="0">
              <a:solidFill>
                <a:srgbClr val="FF0000"/>
              </a:solidFill>
              <a:latin typeface="Times New Roman" panose="02020603050405020304" pitchFamily="18" charset="0"/>
              <a:cs typeface="Times New Roman" panose="02020603050405020304" pitchFamily="18" charset="0"/>
            </a:endParaRPr>
          </a:p>
        </p:txBody>
      </p:sp>
      <p:graphicFrame>
        <p:nvGraphicFramePr>
          <p:cNvPr id="6" name="Object 12">
            <a:extLst>
              <a:ext uri="{FF2B5EF4-FFF2-40B4-BE49-F238E27FC236}">
                <a16:creationId xmlns="" xmlns:a16="http://schemas.microsoft.com/office/drawing/2014/main" id="{7D616704-BAAB-5DB8-14FC-F6D0713012D2}"/>
              </a:ext>
            </a:extLst>
          </p:cNvPr>
          <p:cNvGraphicFramePr/>
          <p:nvPr>
            <p:extLst>
              <p:ext uri="{D42A27DB-BD31-4B8C-83A1-F6EECF244321}">
                <p14:modId xmlns:p14="http://schemas.microsoft.com/office/powerpoint/2010/main" val="3579085301"/>
              </p:ext>
            </p:extLst>
          </p:nvPr>
        </p:nvGraphicFramePr>
        <p:xfrm>
          <a:off x="434909" y="2192179"/>
          <a:ext cx="4733925" cy="820737"/>
        </p:xfrm>
        <a:graphic>
          <a:graphicData uri="http://schemas.openxmlformats.org/presentationml/2006/ole">
            <mc:AlternateContent xmlns:mc="http://schemas.openxmlformats.org/markup-compatibility/2006">
              <mc:Choice xmlns:v="urn:schemas-microsoft-com:vml" Requires="v">
                <p:oleObj spid="_x0000_s60556" name="Equation" r:id="rId3" imgW="2576830" imgH="482600" progId="Equation.DSMT4">
                  <p:embed/>
                </p:oleObj>
              </mc:Choice>
              <mc:Fallback>
                <p:oleObj name="Equation" r:id="rId3" imgW="2576830" imgH="482600" progId="Equation.DSMT4">
                  <p:embed/>
                  <p:pic>
                    <p:nvPicPr>
                      <p:cNvPr id="0" name=""/>
                      <p:cNvPicPr/>
                      <p:nvPr/>
                    </p:nvPicPr>
                    <p:blipFill>
                      <a:blip r:embed="rId4"/>
                      <a:stretch>
                        <a:fillRect/>
                      </a:stretch>
                    </p:blipFill>
                    <p:spPr>
                      <a:xfrm>
                        <a:off x="434909" y="2192179"/>
                        <a:ext cx="4733925" cy="820737"/>
                      </a:xfrm>
                      <a:prstGeom prst="rect">
                        <a:avLst/>
                      </a:prstGeom>
                      <a:noFill/>
                      <a:ln w="38100">
                        <a:noFill/>
                        <a:miter/>
                      </a:ln>
                    </p:spPr>
                  </p:pic>
                </p:oleObj>
              </mc:Fallback>
            </mc:AlternateContent>
          </a:graphicData>
        </a:graphic>
      </p:graphicFrame>
      <p:graphicFrame>
        <p:nvGraphicFramePr>
          <p:cNvPr id="7" name="Object 13">
            <a:extLst>
              <a:ext uri="{FF2B5EF4-FFF2-40B4-BE49-F238E27FC236}">
                <a16:creationId xmlns="" xmlns:a16="http://schemas.microsoft.com/office/drawing/2014/main" id="{4CDC7F96-A70D-5793-0ED8-15D6141EF5E3}"/>
              </a:ext>
            </a:extLst>
          </p:cNvPr>
          <p:cNvGraphicFramePr/>
          <p:nvPr>
            <p:extLst>
              <p:ext uri="{D42A27DB-BD31-4B8C-83A1-F6EECF244321}">
                <p14:modId xmlns:p14="http://schemas.microsoft.com/office/powerpoint/2010/main" val="1894811394"/>
              </p:ext>
            </p:extLst>
          </p:nvPr>
        </p:nvGraphicFramePr>
        <p:xfrm>
          <a:off x="434909" y="3022930"/>
          <a:ext cx="4370387" cy="1258111"/>
        </p:xfrm>
        <a:graphic>
          <a:graphicData uri="http://schemas.openxmlformats.org/presentationml/2006/ole">
            <mc:AlternateContent xmlns:mc="http://schemas.openxmlformats.org/markup-compatibility/2006">
              <mc:Choice xmlns:v="urn:schemas-microsoft-com:vml" Requires="v">
                <p:oleObj spid="_x0000_s60557" r:id="rId5" imgW="2183765" imgH="774065" progId="Equation.3">
                  <p:embed/>
                </p:oleObj>
              </mc:Choice>
              <mc:Fallback>
                <p:oleObj r:id="rId5" imgW="2183765" imgH="774065" progId="Equation.3">
                  <p:embed/>
                  <p:pic>
                    <p:nvPicPr>
                      <p:cNvPr id="0" name=""/>
                      <p:cNvPicPr/>
                      <p:nvPr/>
                    </p:nvPicPr>
                    <p:blipFill>
                      <a:blip r:embed="rId6"/>
                      <a:stretch>
                        <a:fillRect/>
                      </a:stretch>
                    </p:blipFill>
                    <p:spPr>
                      <a:xfrm>
                        <a:off x="434909" y="3022930"/>
                        <a:ext cx="4370387" cy="1258111"/>
                      </a:xfrm>
                      <a:prstGeom prst="rect">
                        <a:avLst/>
                      </a:prstGeom>
                      <a:noFill/>
                      <a:ln w="38100">
                        <a:noFill/>
                        <a:miter/>
                      </a:ln>
                    </p:spPr>
                  </p:pic>
                </p:oleObj>
              </mc:Fallback>
            </mc:AlternateContent>
          </a:graphicData>
        </a:graphic>
      </p:graphicFrame>
      <p:sp>
        <p:nvSpPr>
          <p:cNvPr id="8" name="Text Box 7">
            <a:extLst>
              <a:ext uri="{FF2B5EF4-FFF2-40B4-BE49-F238E27FC236}">
                <a16:creationId xmlns="" xmlns:a16="http://schemas.microsoft.com/office/drawing/2014/main" id="{65A2D187-2C70-556B-BA86-9D13E518C656}"/>
              </a:ext>
            </a:extLst>
          </p:cNvPr>
          <p:cNvSpPr txBox="1"/>
          <p:nvPr/>
        </p:nvSpPr>
        <p:spPr>
          <a:xfrm>
            <a:off x="346008" y="4349522"/>
            <a:ext cx="8383463" cy="707886"/>
          </a:xfrm>
          <a:prstGeom prst="rect">
            <a:avLst/>
          </a:prstGeom>
          <a:noFill/>
          <a:ln w="9525">
            <a:noFill/>
          </a:ln>
        </p:spPr>
        <p:txBody>
          <a:bodyPr wrap="square" anchor="t" anchorCtr="0">
            <a:spAutoFit/>
          </a:bodyPr>
          <a:lstStyle/>
          <a:p>
            <a:pPr>
              <a:spcBef>
                <a:spcPct val="20000"/>
              </a:spcBef>
            </a:pPr>
            <a:r>
              <a:rPr lang="zh-CN" altLang="en-US" sz="2000" b="1" dirty="0" smtClean="0">
                <a:solidFill>
                  <a:schemeClr val="tx1"/>
                </a:solidFill>
                <a:latin typeface="Times New Roman" panose="02020603050405020304" pitchFamily="18" charset="0"/>
                <a:cs typeface="Times New Roman" panose="02020603050405020304" pitchFamily="18" charset="0"/>
              </a:rPr>
              <a:t>由于</a:t>
            </a:r>
            <a:r>
              <a:rPr lang="en-US" altLang="zh-CN" sz="2000" b="1" dirty="0">
                <a:solidFill>
                  <a:schemeClr val="tx1"/>
                </a:solidFill>
                <a:latin typeface="Times New Roman" panose="02020603050405020304" pitchFamily="18" charset="0"/>
                <a:cs typeface="Times New Roman" panose="02020603050405020304" pitchFamily="18" charset="0"/>
              </a:rPr>
              <a:t>β</a:t>
            </a:r>
            <a:r>
              <a:rPr lang="en-US" altLang="zh-CN" sz="2000" b="1" baseline="-25000" dirty="0">
                <a:solidFill>
                  <a:schemeClr val="tx1"/>
                </a:solidFill>
                <a:latin typeface="Times New Roman" panose="02020603050405020304" pitchFamily="18" charset="0"/>
                <a:cs typeface="Times New Roman" panose="02020603050405020304" pitchFamily="18" charset="0"/>
              </a:rPr>
              <a:t>0</a:t>
            </a:r>
            <a:r>
              <a:rPr lang="zh-CN" altLang="en-US" sz="2000" b="1" dirty="0">
                <a:solidFill>
                  <a:schemeClr val="tx1"/>
                </a:solidFill>
                <a:latin typeface="Times New Roman" panose="02020603050405020304" pitchFamily="18" charset="0"/>
                <a:cs typeface="Times New Roman" panose="02020603050405020304" pitchFamily="18" charset="0"/>
              </a:rPr>
              <a:t>比</a:t>
            </a:r>
            <a:r>
              <a:rPr lang="en-US" altLang="zh-CN" sz="2000" b="1" dirty="0">
                <a:solidFill>
                  <a:schemeClr val="tx1"/>
                </a:solidFill>
                <a:latin typeface="Times New Roman" panose="02020603050405020304" pitchFamily="18" charset="0"/>
                <a:cs typeface="Times New Roman" panose="02020603050405020304" pitchFamily="18" charset="0"/>
              </a:rPr>
              <a:t>1</a:t>
            </a:r>
            <a:r>
              <a:rPr lang="zh-CN" altLang="en-US" sz="2000" b="1" dirty="0">
                <a:solidFill>
                  <a:schemeClr val="tx1"/>
                </a:solidFill>
                <a:latin typeface="Times New Roman" panose="02020603050405020304" pitchFamily="18" charset="0"/>
                <a:cs typeface="Times New Roman" panose="02020603050405020304" pitchFamily="18" charset="0"/>
              </a:rPr>
              <a:t>大的多</a:t>
            </a:r>
            <a:r>
              <a:rPr lang="en-US" altLang="zh-CN" sz="2000" b="1" dirty="0">
                <a:solidFill>
                  <a:schemeClr val="tx1"/>
                </a:solidFill>
                <a:latin typeface="Times New Roman" panose="02020603050405020304" pitchFamily="18" charset="0"/>
                <a:cs typeface="Times New Roman" panose="02020603050405020304" pitchFamily="18" charset="0"/>
              </a:rPr>
              <a:t>,</a:t>
            </a:r>
            <a:r>
              <a:rPr lang="zh-CN" altLang="en-US" sz="2000" b="1" dirty="0">
                <a:solidFill>
                  <a:schemeClr val="tx1"/>
                </a:solidFill>
                <a:latin typeface="Times New Roman" panose="02020603050405020304" pitchFamily="18" charset="0"/>
                <a:cs typeface="Times New Roman" panose="02020603050405020304" pitchFamily="18" charset="0"/>
              </a:rPr>
              <a:t>在频率为</a:t>
            </a:r>
            <a:r>
              <a:rPr lang="en-US" altLang="zh-CN" sz="2000" b="1" dirty="0">
                <a:solidFill>
                  <a:schemeClr val="tx1"/>
                </a:solidFill>
                <a:latin typeface="Times New Roman" panose="02020603050405020304" pitchFamily="18" charset="0"/>
                <a:cs typeface="Times New Roman" panose="02020603050405020304" pitchFamily="18" charset="0"/>
              </a:rPr>
              <a:t>fβ</a:t>
            </a:r>
            <a:r>
              <a:rPr lang="zh-CN" altLang="en-US" sz="2000" b="1" dirty="0">
                <a:solidFill>
                  <a:schemeClr val="tx1"/>
                </a:solidFill>
                <a:latin typeface="Times New Roman" panose="02020603050405020304" pitchFamily="18" charset="0"/>
                <a:cs typeface="Times New Roman" panose="02020603050405020304" pitchFamily="18" charset="0"/>
              </a:rPr>
              <a:t>时</a:t>
            </a:r>
            <a:r>
              <a:rPr lang="en-US" altLang="zh-CN" sz="2000" b="1" dirty="0">
                <a:solidFill>
                  <a:schemeClr val="tx1"/>
                </a:solidFill>
                <a:latin typeface="Times New Roman" panose="02020603050405020304" pitchFamily="18" charset="0"/>
                <a:cs typeface="Times New Roman" panose="02020603050405020304" pitchFamily="18" charset="0"/>
              </a:rPr>
              <a:t>,|β|</a:t>
            </a:r>
            <a:r>
              <a:rPr lang="zh-CN" altLang="en-US" sz="2000" b="1" dirty="0">
                <a:solidFill>
                  <a:schemeClr val="tx1"/>
                </a:solidFill>
                <a:latin typeface="Times New Roman" panose="02020603050405020304" pitchFamily="18" charset="0"/>
                <a:cs typeface="Times New Roman" panose="02020603050405020304" pitchFamily="18" charset="0"/>
              </a:rPr>
              <a:t>虽然下降到原来的</a:t>
            </a:r>
            <a:r>
              <a:rPr lang="en-US" altLang="zh-CN" sz="2000" b="1" dirty="0" smtClean="0">
                <a:solidFill>
                  <a:schemeClr val="tx1"/>
                </a:solidFill>
                <a:latin typeface="Times New Roman" panose="02020603050405020304" pitchFamily="18" charset="0"/>
                <a:cs typeface="Times New Roman" panose="02020603050405020304" pitchFamily="18" charset="0"/>
              </a:rPr>
              <a:t>0.707</a:t>
            </a:r>
            <a:r>
              <a:rPr lang="zh-CN" altLang="en-US" sz="2000" b="1" dirty="0" smtClean="0">
                <a:solidFill>
                  <a:schemeClr val="tx1"/>
                </a:solidFill>
                <a:latin typeface="Times New Roman" panose="02020603050405020304" pitchFamily="18" charset="0"/>
                <a:cs typeface="Times New Roman" panose="02020603050405020304" pitchFamily="18" charset="0"/>
              </a:rPr>
              <a:t>。但是</a:t>
            </a:r>
            <a:r>
              <a:rPr lang="zh-CN" altLang="en-US" sz="2000" b="1" dirty="0">
                <a:solidFill>
                  <a:schemeClr val="tx1"/>
                </a:solidFill>
                <a:latin typeface="Times New Roman" panose="02020603050405020304" pitchFamily="18" charset="0"/>
                <a:cs typeface="Times New Roman" panose="02020603050405020304" pitchFamily="18" charset="0"/>
              </a:rPr>
              <a:t>仍然比</a:t>
            </a:r>
            <a:r>
              <a:rPr lang="en-US" altLang="zh-CN" sz="2000" b="1" dirty="0">
                <a:solidFill>
                  <a:schemeClr val="tx1"/>
                </a:solidFill>
                <a:latin typeface="Times New Roman" panose="02020603050405020304" pitchFamily="18" charset="0"/>
                <a:cs typeface="Times New Roman" panose="02020603050405020304" pitchFamily="18" charset="0"/>
              </a:rPr>
              <a:t>1</a:t>
            </a:r>
            <a:r>
              <a:rPr lang="zh-CN" altLang="en-US" sz="2000" b="1" dirty="0">
                <a:solidFill>
                  <a:schemeClr val="tx1"/>
                </a:solidFill>
                <a:latin typeface="Times New Roman" panose="02020603050405020304" pitchFamily="18" charset="0"/>
                <a:cs typeface="Times New Roman" panose="02020603050405020304" pitchFamily="18" charset="0"/>
              </a:rPr>
              <a:t>大的多</a:t>
            </a:r>
            <a:r>
              <a:rPr lang="en-US" altLang="zh-CN" sz="2000" b="1" dirty="0">
                <a:solidFill>
                  <a:schemeClr val="tx1"/>
                </a:solidFill>
                <a:latin typeface="Times New Roman" panose="02020603050405020304" pitchFamily="18" charset="0"/>
                <a:cs typeface="Times New Roman" panose="02020603050405020304" pitchFamily="18" charset="0"/>
              </a:rPr>
              <a:t>,</a:t>
            </a:r>
            <a:r>
              <a:rPr lang="zh-CN" altLang="en-US" sz="2000" b="1" dirty="0">
                <a:solidFill>
                  <a:schemeClr val="tx1"/>
                </a:solidFill>
                <a:latin typeface="Times New Roman" panose="02020603050405020304" pitchFamily="18" charset="0"/>
                <a:cs typeface="Times New Roman" panose="02020603050405020304" pitchFamily="18" charset="0"/>
              </a:rPr>
              <a:t>因此晶体管还能起到放大的作用。</a:t>
            </a:r>
          </a:p>
        </p:txBody>
      </p:sp>
      <p:graphicFrame>
        <p:nvGraphicFramePr>
          <p:cNvPr id="9" name="Object 17">
            <a:extLst>
              <a:ext uri="{FF2B5EF4-FFF2-40B4-BE49-F238E27FC236}">
                <a16:creationId xmlns="" xmlns:a16="http://schemas.microsoft.com/office/drawing/2014/main" id="{2502C869-EE00-5427-51AD-E7AD48980313}"/>
              </a:ext>
            </a:extLst>
          </p:cNvPr>
          <p:cNvGraphicFramePr/>
          <p:nvPr>
            <p:extLst>
              <p:ext uri="{D42A27DB-BD31-4B8C-83A1-F6EECF244321}">
                <p14:modId xmlns:p14="http://schemas.microsoft.com/office/powerpoint/2010/main" val="4218967857"/>
              </p:ext>
            </p:extLst>
          </p:nvPr>
        </p:nvGraphicFramePr>
        <p:xfrm>
          <a:off x="5181600" y="1815582"/>
          <a:ext cx="3810000" cy="2192338"/>
        </p:xfrm>
        <a:graphic>
          <a:graphicData uri="http://schemas.openxmlformats.org/presentationml/2006/ole">
            <mc:AlternateContent xmlns:mc="http://schemas.openxmlformats.org/markup-compatibility/2006">
              <mc:Choice xmlns:v="urn:schemas-microsoft-com:vml" Requires="v">
                <p:oleObj spid="_x0000_s60558" r:id="rId7" imgW="2809875" imgH="1552575" progId="Paint.Picture">
                  <p:embed/>
                </p:oleObj>
              </mc:Choice>
              <mc:Fallback>
                <p:oleObj r:id="rId7" imgW="2809875" imgH="1552575" progId="Paint.Picture">
                  <p:embed/>
                  <p:pic>
                    <p:nvPicPr>
                      <p:cNvPr id="0" name=""/>
                      <p:cNvPicPr/>
                      <p:nvPr/>
                    </p:nvPicPr>
                    <p:blipFill>
                      <a:blip r:embed="rId8"/>
                      <a:stretch>
                        <a:fillRect/>
                      </a:stretch>
                    </p:blipFill>
                    <p:spPr>
                      <a:xfrm>
                        <a:off x="5181600" y="1815582"/>
                        <a:ext cx="3810000" cy="2192338"/>
                      </a:xfrm>
                      <a:prstGeom prst="rect">
                        <a:avLst/>
                      </a:prstGeom>
                      <a:noFill/>
                      <a:ln w="38100">
                        <a:noFill/>
                        <a:miter/>
                      </a:ln>
                    </p:spPr>
                  </p:pic>
                </p:oleObj>
              </mc:Fallback>
            </mc:AlternateContent>
          </a:graphicData>
        </a:graphic>
      </p:graphicFrame>
      <p:sp>
        <p:nvSpPr>
          <p:cNvPr id="10" name="Rectangle 11">
            <a:extLst>
              <a:ext uri="{FF2B5EF4-FFF2-40B4-BE49-F238E27FC236}">
                <a16:creationId xmlns="" xmlns:a16="http://schemas.microsoft.com/office/drawing/2014/main" id="{6F75B9B8-C20C-6407-B4DF-D1B652D4BFED}"/>
              </a:ext>
            </a:extLst>
          </p:cNvPr>
          <p:cNvSpPr/>
          <p:nvPr/>
        </p:nvSpPr>
        <p:spPr>
          <a:xfrm>
            <a:off x="3042052" y="1265941"/>
            <a:ext cx="2659702" cy="461665"/>
          </a:xfrm>
          <a:prstGeom prst="rect">
            <a:avLst/>
          </a:prstGeom>
          <a:noFill/>
          <a:ln w="9525">
            <a:noFill/>
          </a:ln>
        </p:spPr>
        <p:txBody>
          <a:bodyPr wrap="none" anchor="t" anchorCtr="0">
            <a:spAutoFit/>
          </a:bodyPr>
          <a:lstStyle/>
          <a:p>
            <a:r>
              <a:rPr lang="zh-CN" altLang="en-US" sz="2400" b="1" dirty="0">
                <a:solidFill>
                  <a:schemeClr val="tx1"/>
                </a:solidFill>
                <a:latin typeface="Times New Roman" panose="02020603050405020304" pitchFamily="18" charset="0"/>
                <a:cs typeface="Times New Roman" panose="02020603050405020304" pitchFamily="18" charset="0"/>
              </a:rPr>
              <a:t>晶体管的高频参数</a:t>
            </a:r>
          </a:p>
        </p:txBody>
      </p:sp>
    </p:spTree>
    <p:extLst>
      <p:ext uri="{BB962C8B-B14F-4D97-AF65-F5344CB8AC3E}">
        <p14:creationId xmlns:p14="http://schemas.microsoft.com/office/powerpoint/2010/main" val="56767259"/>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85</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3.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高频</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小信号</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放大器</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Text Box 3">
            <a:extLst>
              <a:ext uri="{FF2B5EF4-FFF2-40B4-BE49-F238E27FC236}">
                <a16:creationId xmlns="" xmlns:a16="http://schemas.microsoft.com/office/drawing/2014/main" id="{48655A31-2C3E-033C-B7E2-5253AAF9EB8B}"/>
              </a:ext>
            </a:extLst>
          </p:cNvPr>
          <p:cNvSpPr txBox="1"/>
          <p:nvPr/>
        </p:nvSpPr>
        <p:spPr>
          <a:xfrm>
            <a:off x="422479" y="3392989"/>
            <a:ext cx="3619902" cy="430887"/>
          </a:xfrm>
          <a:prstGeom prst="rect">
            <a:avLst/>
          </a:prstGeom>
          <a:noFill/>
          <a:ln w="9525">
            <a:noFill/>
          </a:ln>
        </p:spPr>
        <p:txBody>
          <a:bodyPr wrap="none" anchor="t" anchorCtr="0">
            <a:spAutoFit/>
          </a:bodyPr>
          <a:lstStyle/>
          <a:p>
            <a:pPr>
              <a:spcBef>
                <a:spcPct val="20000"/>
              </a:spcBef>
            </a:pPr>
            <a:r>
              <a:rPr lang="zh-CN" altLang="en-US" sz="2200" b="1" dirty="0">
                <a:solidFill>
                  <a:schemeClr val="tx1"/>
                </a:solidFill>
                <a:latin typeface="Times New Roman" panose="02020603050405020304" pitchFamily="18" charset="0"/>
                <a:ea typeface="+mn-ea"/>
              </a:rPr>
              <a:t>电流放大系数</a:t>
            </a:r>
            <a:r>
              <a:rPr lang="en-US" altLang="zh-CN" sz="2200" b="1" dirty="0">
                <a:solidFill>
                  <a:schemeClr val="tx1"/>
                </a:solidFill>
                <a:latin typeface="Times New Roman" panose="02020603050405020304" pitchFamily="18" charset="0"/>
                <a:ea typeface="+mn-ea"/>
              </a:rPr>
              <a:t>β</a:t>
            </a:r>
            <a:r>
              <a:rPr lang="zh-CN" altLang="en-US" sz="2200" b="1" dirty="0">
                <a:solidFill>
                  <a:schemeClr val="tx1"/>
                </a:solidFill>
                <a:latin typeface="Times New Roman" panose="02020603050405020304" pitchFamily="18" charset="0"/>
                <a:ea typeface="+mn-ea"/>
              </a:rPr>
              <a:t>与</a:t>
            </a:r>
            <a:r>
              <a:rPr lang="en-US" altLang="zh-CN" sz="2200" b="1" dirty="0">
                <a:solidFill>
                  <a:schemeClr val="tx1"/>
                </a:solidFill>
                <a:latin typeface="Times New Roman" panose="02020603050405020304" pitchFamily="18" charset="0"/>
                <a:ea typeface="+mn-ea"/>
              </a:rPr>
              <a:t>f </a:t>
            </a:r>
            <a:r>
              <a:rPr lang="zh-CN" altLang="en-US" sz="2200" b="1" dirty="0">
                <a:solidFill>
                  <a:schemeClr val="tx1"/>
                </a:solidFill>
                <a:latin typeface="Times New Roman" panose="02020603050405020304" pitchFamily="18" charset="0"/>
                <a:ea typeface="+mn-ea"/>
              </a:rPr>
              <a:t>的关系：</a:t>
            </a:r>
            <a:endParaRPr lang="zh-CN" altLang="en-US" sz="2200" dirty="0">
              <a:solidFill>
                <a:schemeClr val="tx1"/>
              </a:solidFill>
              <a:latin typeface="Times New Roman" panose="02020603050405020304" pitchFamily="18" charset="0"/>
              <a:ea typeface="+mn-ea"/>
            </a:endParaRPr>
          </a:p>
        </p:txBody>
      </p:sp>
      <p:graphicFrame>
        <p:nvGraphicFramePr>
          <p:cNvPr id="6" name="Object 21">
            <a:extLst>
              <a:ext uri="{FF2B5EF4-FFF2-40B4-BE49-F238E27FC236}">
                <a16:creationId xmlns="" xmlns:a16="http://schemas.microsoft.com/office/drawing/2014/main" id="{64C4EE2C-A7F1-2EFF-DB74-37EF8620272B}"/>
              </a:ext>
            </a:extLst>
          </p:cNvPr>
          <p:cNvGraphicFramePr/>
          <p:nvPr>
            <p:extLst>
              <p:ext uri="{D42A27DB-BD31-4B8C-83A1-F6EECF244321}">
                <p14:modId xmlns:p14="http://schemas.microsoft.com/office/powerpoint/2010/main" val="145141870"/>
              </p:ext>
            </p:extLst>
          </p:nvPr>
        </p:nvGraphicFramePr>
        <p:xfrm>
          <a:off x="468511" y="3966729"/>
          <a:ext cx="4821238" cy="1198562"/>
        </p:xfrm>
        <a:graphic>
          <a:graphicData uri="http://schemas.openxmlformats.org/presentationml/2006/ole">
            <mc:AlternateContent xmlns:mc="http://schemas.openxmlformats.org/markup-compatibility/2006">
              <mc:Choice xmlns:v="urn:schemas-microsoft-com:vml" Requires="v">
                <p:oleObj spid="_x0000_s61630" r:id="rId3" imgW="2856230" imgH="761365" progId="Equation.3">
                  <p:embed/>
                </p:oleObj>
              </mc:Choice>
              <mc:Fallback>
                <p:oleObj r:id="rId3" imgW="2856230" imgH="761365" progId="Equation.3">
                  <p:embed/>
                  <p:pic>
                    <p:nvPicPr>
                      <p:cNvPr id="0" name=""/>
                      <p:cNvPicPr/>
                      <p:nvPr/>
                    </p:nvPicPr>
                    <p:blipFill>
                      <a:blip r:embed="rId4"/>
                      <a:stretch>
                        <a:fillRect/>
                      </a:stretch>
                    </p:blipFill>
                    <p:spPr>
                      <a:xfrm>
                        <a:off x="468511" y="3966729"/>
                        <a:ext cx="4821238" cy="1198562"/>
                      </a:xfrm>
                      <a:prstGeom prst="rect">
                        <a:avLst/>
                      </a:prstGeom>
                      <a:noFill/>
                      <a:ln w="38100">
                        <a:noFill/>
                        <a:miter/>
                      </a:ln>
                    </p:spPr>
                  </p:pic>
                </p:oleObj>
              </mc:Fallback>
            </mc:AlternateContent>
          </a:graphicData>
        </a:graphic>
      </p:graphicFrame>
      <p:sp>
        <p:nvSpPr>
          <p:cNvPr id="7" name="Text Box 5">
            <a:extLst>
              <a:ext uri="{FF2B5EF4-FFF2-40B4-BE49-F238E27FC236}">
                <a16:creationId xmlns="" xmlns:a16="http://schemas.microsoft.com/office/drawing/2014/main" id="{BFFBC49B-37BA-98C2-0ECF-CDC716238D46}"/>
              </a:ext>
            </a:extLst>
          </p:cNvPr>
          <p:cNvSpPr txBox="1"/>
          <p:nvPr/>
        </p:nvSpPr>
        <p:spPr>
          <a:xfrm>
            <a:off x="438503" y="5449893"/>
            <a:ext cx="6426759" cy="430887"/>
          </a:xfrm>
          <a:prstGeom prst="rect">
            <a:avLst/>
          </a:prstGeom>
          <a:noFill/>
          <a:ln w="9525">
            <a:noFill/>
          </a:ln>
        </p:spPr>
        <p:txBody>
          <a:bodyPr wrap="none" anchor="t" anchorCtr="0">
            <a:spAutoFit/>
          </a:bodyPr>
          <a:lstStyle/>
          <a:p>
            <a:pPr>
              <a:spcBef>
                <a:spcPct val="20000"/>
              </a:spcBef>
            </a:pPr>
            <a:r>
              <a:rPr lang="zh-CN" altLang="en-US" sz="2200" b="1" dirty="0">
                <a:solidFill>
                  <a:schemeClr val="tx1"/>
                </a:solidFill>
                <a:latin typeface="+mn-ea"/>
                <a:ea typeface="+mn-ea"/>
              </a:rPr>
              <a:t>故可以粗略计算在某工作频率下的电流放大系数。</a:t>
            </a:r>
          </a:p>
        </p:txBody>
      </p:sp>
      <p:sp>
        <p:nvSpPr>
          <p:cNvPr id="8" name="Text Box 9">
            <a:extLst>
              <a:ext uri="{FF2B5EF4-FFF2-40B4-BE49-F238E27FC236}">
                <a16:creationId xmlns="" xmlns:a16="http://schemas.microsoft.com/office/drawing/2014/main" id="{9837A8F1-29E5-0E75-4A50-F753D9EB8DBB}"/>
              </a:ext>
            </a:extLst>
          </p:cNvPr>
          <p:cNvSpPr txBox="1"/>
          <p:nvPr/>
        </p:nvSpPr>
        <p:spPr>
          <a:xfrm>
            <a:off x="383381" y="1387895"/>
            <a:ext cx="1906291" cy="430887"/>
          </a:xfrm>
          <a:prstGeom prst="rect">
            <a:avLst/>
          </a:prstGeom>
          <a:noFill/>
          <a:ln w="9525">
            <a:noFill/>
          </a:ln>
        </p:spPr>
        <p:txBody>
          <a:bodyPr wrap="none" anchor="t" anchorCtr="0">
            <a:spAutoFit/>
          </a:bodyPr>
          <a:lstStyle/>
          <a:p>
            <a:pPr>
              <a:spcBef>
                <a:spcPct val="20000"/>
              </a:spcBef>
              <a:buClr>
                <a:srgbClr val="800000"/>
              </a:buClr>
              <a:buFont typeface="Wingdings" panose="05000000000000000000" pitchFamily="2" charset="2"/>
              <a:buChar char="Ø"/>
            </a:pPr>
            <a:r>
              <a:rPr lang="zh-CN" altLang="en-US" sz="2200" b="1" dirty="0">
                <a:solidFill>
                  <a:srgbClr val="CC3300"/>
                </a:solidFill>
                <a:latin typeface="楷体_GB2312" panose="02010609030101010101" charset="-122"/>
                <a:ea typeface="楷体_GB2312" panose="02010609030101010101" charset="-122"/>
              </a:rPr>
              <a:t> </a:t>
            </a:r>
            <a:r>
              <a:rPr lang="zh-CN" altLang="en-US" sz="2200" b="1" dirty="0">
                <a:solidFill>
                  <a:srgbClr val="FF0000"/>
                </a:solidFill>
                <a:latin typeface="Times New Roman" panose="02020603050405020304" pitchFamily="18" charset="0"/>
              </a:rPr>
              <a:t>特征频率</a:t>
            </a:r>
            <a:r>
              <a:rPr lang="en-US" altLang="zh-CN" sz="2200" b="1" dirty="0" err="1">
                <a:solidFill>
                  <a:srgbClr val="FF0000"/>
                </a:solidFill>
                <a:latin typeface="Times New Roman" panose="02020603050405020304" pitchFamily="18" charset="0"/>
              </a:rPr>
              <a:t>f</a:t>
            </a:r>
            <a:r>
              <a:rPr lang="en-US" altLang="zh-CN" sz="2200" b="1" baseline="-25000" dirty="0" err="1">
                <a:solidFill>
                  <a:srgbClr val="FF0000"/>
                </a:solidFill>
                <a:latin typeface="Times New Roman" panose="02020603050405020304" pitchFamily="18" charset="0"/>
              </a:rPr>
              <a:t>T</a:t>
            </a:r>
            <a:endParaRPr lang="zh-CN" altLang="en-US" sz="2200" b="1" baseline="-25000" dirty="0">
              <a:solidFill>
                <a:srgbClr val="FF0000"/>
              </a:solidFill>
              <a:latin typeface="Times New Roman" panose="02020603050405020304" pitchFamily="18" charset="0"/>
            </a:endParaRPr>
          </a:p>
        </p:txBody>
      </p:sp>
      <p:graphicFrame>
        <p:nvGraphicFramePr>
          <p:cNvPr id="9" name="Object 14">
            <a:extLst>
              <a:ext uri="{FF2B5EF4-FFF2-40B4-BE49-F238E27FC236}">
                <a16:creationId xmlns="" xmlns:a16="http://schemas.microsoft.com/office/drawing/2014/main" id="{3B26055F-2224-FA69-67FF-65A6F2719E0E}"/>
              </a:ext>
            </a:extLst>
          </p:cNvPr>
          <p:cNvGraphicFramePr/>
          <p:nvPr>
            <p:extLst>
              <p:ext uri="{D42A27DB-BD31-4B8C-83A1-F6EECF244321}">
                <p14:modId xmlns:p14="http://schemas.microsoft.com/office/powerpoint/2010/main" val="1312214236"/>
              </p:ext>
            </p:extLst>
          </p:nvPr>
        </p:nvGraphicFramePr>
        <p:xfrm>
          <a:off x="736029" y="2037207"/>
          <a:ext cx="2362200" cy="1157288"/>
        </p:xfrm>
        <a:graphic>
          <a:graphicData uri="http://schemas.openxmlformats.org/presentationml/2006/ole">
            <mc:AlternateContent xmlns:mc="http://schemas.openxmlformats.org/markup-compatibility/2006">
              <mc:Choice xmlns:v="urn:schemas-microsoft-com:vml" Requires="v">
                <p:oleObj spid="_x0000_s61631" r:id="rId5" imgW="1269365" imgH="774065" progId="Equation.3">
                  <p:embed/>
                </p:oleObj>
              </mc:Choice>
              <mc:Fallback>
                <p:oleObj r:id="rId5" imgW="1269365" imgH="774065" progId="Equation.3">
                  <p:embed/>
                  <p:pic>
                    <p:nvPicPr>
                      <p:cNvPr id="0" name=""/>
                      <p:cNvPicPr/>
                      <p:nvPr/>
                    </p:nvPicPr>
                    <p:blipFill>
                      <a:blip r:embed="rId6"/>
                      <a:stretch>
                        <a:fillRect/>
                      </a:stretch>
                    </p:blipFill>
                    <p:spPr>
                      <a:xfrm>
                        <a:off x="736029" y="2037207"/>
                        <a:ext cx="2362200" cy="1157288"/>
                      </a:xfrm>
                      <a:prstGeom prst="rect">
                        <a:avLst/>
                      </a:prstGeom>
                      <a:noFill/>
                      <a:ln w="38100">
                        <a:noFill/>
                        <a:miter/>
                      </a:ln>
                    </p:spPr>
                  </p:pic>
                </p:oleObj>
              </mc:Fallback>
            </mc:AlternateContent>
          </a:graphicData>
        </a:graphic>
      </p:graphicFrame>
      <p:graphicFrame>
        <p:nvGraphicFramePr>
          <p:cNvPr id="10" name="Object 15">
            <a:extLst>
              <a:ext uri="{FF2B5EF4-FFF2-40B4-BE49-F238E27FC236}">
                <a16:creationId xmlns="" xmlns:a16="http://schemas.microsoft.com/office/drawing/2014/main" id="{656EA5B4-6CE3-76DD-14F7-F5364B5BCE0B}"/>
              </a:ext>
            </a:extLst>
          </p:cNvPr>
          <p:cNvGraphicFramePr/>
          <p:nvPr>
            <p:extLst>
              <p:ext uri="{D42A27DB-BD31-4B8C-83A1-F6EECF244321}">
                <p14:modId xmlns:p14="http://schemas.microsoft.com/office/powerpoint/2010/main" val="822803821"/>
              </p:ext>
            </p:extLst>
          </p:nvPr>
        </p:nvGraphicFramePr>
        <p:xfrm>
          <a:off x="3519487" y="2141958"/>
          <a:ext cx="2179638" cy="512762"/>
        </p:xfrm>
        <a:graphic>
          <a:graphicData uri="http://schemas.openxmlformats.org/presentationml/2006/ole">
            <mc:AlternateContent xmlns:mc="http://schemas.openxmlformats.org/markup-compatibility/2006">
              <mc:Choice xmlns:v="urn:schemas-microsoft-com:vml" Requires="v">
                <p:oleObj spid="_x0000_s61632" r:id="rId7" imgW="1116965" imgH="292100" progId="Equation.3">
                  <p:embed/>
                </p:oleObj>
              </mc:Choice>
              <mc:Fallback>
                <p:oleObj r:id="rId7" imgW="1116965" imgH="292100" progId="Equation.3">
                  <p:embed/>
                  <p:pic>
                    <p:nvPicPr>
                      <p:cNvPr id="0" name=""/>
                      <p:cNvPicPr/>
                      <p:nvPr/>
                    </p:nvPicPr>
                    <p:blipFill>
                      <a:blip r:embed="rId8"/>
                      <a:stretch>
                        <a:fillRect/>
                      </a:stretch>
                    </p:blipFill>
                    <p:spPr>
                      <a:xfrm>
                        <a:off x="3519487" y="2141958"/>
                        <a:ext cx="2179638" cy="512762"/>
                      </a:xfrm>
                      <a:prstGeom prst="rect">
                        <a:avLst/>
                      </a:prstGeom>
                      <a:noFill/>
                      <a:ln w="38100">
                        <a:noFill/>
                        <a:miter/>
                      </a:ln>
                    </p:spPr>
                  </p:pic>
                </p:oleObj>
              </mc:Fallback>
            </mc:AlternateContent>
          </a:graphicData>
        </a:graphic>
      </p:graphicFrame>
      <p:graphicFrame>
        <p:nvGraphicFramePr>
          <p:cNvPr id="11" name="Object 16">
            <a:extLst>
              <a:ext uri="{FF2B5EF4-FFF2-40B4-BE49-F238E27FC236}">
                <a16:creationId xmlns="" xmlns:a16="http://schemas.microsoft.com/office/drawing/2014/main" id="{32934CB4-3649-719D-D862-D8FB9F164831}"/>
              </a:ext>
            </a:extLst>
          </p:cNvPr>
          <p:cNvGraphicFramePr/>
          <p:nvPr>
            <p:extLst>
              <p:ext uri="{D42A27DB-BD31-4B8C-83A1-F6EECF244321}">
                <p14:modId xmlns:p14="http://schemas.microsoft.com/office/powerpoint/2010/main" val="746127537"/>
              </p:ext>
            </p:extLst>
          </p:nvPr>
        </p:nvGraphicFramePr>
        <p:xfrm>
          <a:off x="3519486" y="2778483"/>
          <a:ext cx="2917889" cy="416012"/>
        </p:xfrm>
        <a:graphic>
          <a:graphicData uri="http://schemas.openxmlformats.org/presentationml/2006/ole">
            <mc:AlternateContent xmlns:mc="http://schemas.openxmlformats.org/markup-compatibility/2006">
              <mc:Choice xmlns:v="urn:schemas-microsoft-com:vml" Requires="v">
                <p:oleObj spid="_x0000_s61633" name="Equation" r:id="rId9" imgW="1459230" imgH="203200" progId="Equation.DSMT4">
                  <p:embed/>
                </p:oleObj>
              </mc:Choice>
              <mc:Fallback>
                <p:oleObj name="Equation" r:id="rId9" imgW="1459230" imgH="203200" progId="Equation.DSMT4">
                  <p:embed/>
                  <p:pic>
                    <p:nvPicPr>
                      <p:cNvPr id="0" name=""/>
                      <p:cNvPicPr/>
                      <p:nvPr/>
                    </p:nvPicPr>
                    <p:blipFill>
                      <a:blip r:embed="rId10"/>
                      <a:stretch>
                        <a:fillRect/>
                      </a:stretch>
                    </p:blipFill>
                    <p:spPr>
                      <a:xfrm>
                        <a:off x="3519486" y="2778483"/>
                        <a:ext cx="2917889" cy="416012"/>
                      </a:xfrm>
                      <a:prstGeom prst="rect">
                        <a:avLst/>
                      </a:prstGeom>
                      <a:noFill/>
                      <a:ln w="38100">
                        <a:noFill/>
                        <a:miter/>
                      </a:ln>
                    </p:spPr>
                  </p:pic>
                </p:oleObj>
              </mc:Fallback>
            </mc:AlternateContent>
          </a:graphicData>
        </a:graphic>
      </p:graphicFrame>
      <p:sp>
        <p:nvSpPr>
          <p:cNvPr id="12" name="Text Box 15">
            <a:extLst>
              <a:ext uri="{FF2B5EF4-FFF2-40B4-BE49-F238E27FC236}">
                <a16:creationId xmlns="" xmlns:a16="http://schemas.microsoft.com/office/drawing/2014/main" id="{7DDB53C9-04AC-319E-52DB-BAA0C6F81E0A}"/>
              </a:ext>
            </a:extLst>
          </p:cNvPr>
          <p:cNvSpPr txBox="1"/>
          <p:nvPr/>
        </p:nvSpPr>
        <p:spPr>
          <a:xfrm>
            <a:off x="2142196" y="1445232"/>
            <a:ext cx="4855816" cy="430887"/>
          </a:xfrm>
          <a:prstGeom prst="rect">
            <a:avLst/>
          </a:prstGeom>
          <a:noFill/>
          <a:ln w="9525">
            <a:noFill/>
          </a:ln>
        </p:spPr>
        <p:txBody>
          <a:bodyPr wrap="none" anchor="t" anchorCtr="0">
            <a:spAutoFit/>
          </a:bodyPr>
          <a:lstStyle/>
          <a:p>
            <a:r>
              <a:rPr lang="zh-CN" altLang="en-US" sz="2200" b="1" dirty="0">
                <a:solidFill>
                  <a:schemeClr val="tx1"/>
                </a:solidFill>
                <a:latin typeface="Times New Roman" panose="02020603050405020304" pitchFamily="18" charset="0"/>
                <a:ea typeface="+mn-ea"/>
              </a:rPr>
              <a:t>当频率增高，使</a:t>
            </a:r>
            <a:r>
              <a:rPr lang="en-US" altLang="zh-CN" sz="2200" b="1" dirty="0">
                <a:solidFill>
                  <a:schemeClr val="tx1"/>
                </a:solidFill>
                <a:latin typeface="Times New Roman" panose="02020603050405020304" pitchFamily="18" charset="0"/>
                <a:ea typeface="+mn-ea"/>
              </a:rPr>
              <a:t>|</a:t>
            </a:r>
            <a:r>
              <a:rPr lang="el-GR" altLang="zh-CN" sz="2200" b="1" dirty="0">
                <a:solidFill>
                  <a:schemeClr val="tx1"/>
                </a:solidFill>
                <a:latin typeface="Times New Roman" panose="02020603050405020304" pitchFamily="18" charset="0"/>
                <a:ea typeface="+mn-ea"/>
              </a:rPr>
              <a:t>β</a:t>
            </a:r>
            <a:r>
              <a:rPr lang="en-US" altLang="zh-CN" sz="2200" b="1" dirty="0">
                <a:solidFill>
                  <a:schemeClr val="tx1"/>
                </a:solidFill>
                <a:latin typeface="Times New Roman" panose="02020603050405020304" pitchFamily="18" charset="0"/>
                <a:ea typeface="+mn-ea"/>
              </a:rPr>
              <a:t>|</a:t>
            </a:r>
            <a:r>
              <a:rPr lang="zh-CN" altLang="en-US" sz="2200" b="1" dirty="0">
                <a:solidFill>
                  <a:schemeClr val="tx1"/>
                </a:solidFill>
                <a:latin typeface="Times New Roman" panose="02020603050405020304" pitchFamily="18" charset="0"/>
                <a:ea typeface="+mn-ea"/>
              </a:rPr>
              <a:t>下降到</a:t>
            </a:r>
            <a:r>
              <a:rPr lang="en-US" altLang="zh-CN" sz="2200" b="1" dirty="0">
                <a:solidFill>
                  <a:schemeClr val="tx1"/>
                </a:solidFill>
                <a:latin typeface="Times New Roman" panose="02020603050405020304" pitchFamily="18" charset="0"/>
                <a:ea typeface="+mn-ea"/>
              </a:rPr>
              <a:t>1</a:t>
            </a:r>
            <a:r>
              <a:rPr lang="zh-CN" altLang="en-US" sz="2200" b="1" dirty="0">
                <a:solidFill>
                  <a:schemeClr val="tx1"/>
                </a:solidFill>
                <a:latin typeface="Times New Roman" panose="02020603050405020304" pitchFamily="18" charset="0"/>
                <a:ea typeface="+mn-ea"/>
              </a:rPr>
              <a:t>时的频率。</a:t>
            </a:r>
          </a:p>
        </p:txBody>
      </p:sp>
      <p:pic>
        <p:nvPicPr>
          <p:cNvPr id="13" name="图片 17434">
            <a:extLst>
              <a:ext uri="{FF2B5EF4-FFF2-40B4-BE49-F238E27FC236}">
                <a16:creationId xmlns="" xmlns:a16="http://schemas.microsoft.com/office/drawing/2014/main" id="{5CA187C9-1998-D4DD-F772-B860366BF288}"/>
              </a:ext>
            </a:extLst>
          </p:cNvPr>
          <p:cNvPicPr>
            <a:picLocks noChangeAspect="1"/>
          </p:cNvPicPr>
          <p:nvPr/>
        </p:nvPicPr>
        <p:blipFill>
          <a:blip r:embed="rId11"/>
          <a:stretch>
            <a:fillRect/>
          </a:stretch>
        </p:blipFill>
        <p:spPr>
          <a:xfrm>
            <a:off x="5418782" y="3432814"/>
            <a:ext cx="3605212" cy="1990725"/>
          </a:xfrm>
          <a:prstGeom prst="rect">
            <a:avLst/>
          </a:prstGeom>
          <a:noFill/>
          <a:ln w="9525">
            <a:noFill/>
          </a:ln>
        </p:spPr>
      </p:pic>
    </p:spTree>
    <p:extLst>
      <p:ext uri="{BB962C8B-B14F-4D97-AF65-F5344CB8AC3E}">
        <p14:creationId xmlns:p14="http://schemas.microsoft.com/office/powerpoint/2010/main" val="1136489073"/>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86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3.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高频</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小信号</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放大器</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Text Box 7">
            <a:extLst>
              <a:ext uri="{FF2B5EF4-FFF2-40B4-BE49-F238E27FC236}">
                <a16:creationId xmlns="" xmlns:a16="http://schemas.microsoft.com/office/drawing/2014/main" id="{08D0F126-5EF7-C8C6-DFC6-517820B7AA3D}"/>
              </a:ext>
            </a:extLst>
          </p:cNvPr>
          <p:cNvSpPr txBox="1"/>
          <p:nvPr/>
        </p:nvSpPr>
        <p:spPr>
          <a:xfrm>
            <a:off x="539552" y="1280289"/>
            <a:ext cx="2475358" cy="400110"/>
          </a:xfrm>
          <a:prstGeom prst="rect">
            <a:avLst/>
          </a:prstGeom>
          <a:noFill/>
          <a:ln w="9525">
            <a:noFill/>
          </a:ln>
        </p:spPr>
        <p:txBody>
          <a:bodyPr wrap="none" anchor="t" anchorCtr="0">
            <a:spAutoFit/>
          </a:bodyPr>
          <a:lstStyle/>
          <a:p>
            <a:pPr>
              <a:spcBef>
                <a:spcPct val="20000"/>
              </a:spcBef>
              <a:buClr>
                <a:srgbClr val="800000"/>
              </a:buClr>
              <a:buFont typeface="Wingdings" panose="05000000000000000000" pitchFamily="2" charset="2"/>
              <a:buChar char="Ø"/>
            </a:pPr>
            <a:r>
              <a:rPr lang="en-US" altLang="zh-CN" sz="2000" b="1" dirty="0">
                <a:solidFill>
                  <a:schemeClr val="tx1"/>
                </a:solidFill>
                <a:latin typeface="+mn-ea"/>
                <a:ea typeface="+mn-ea"/>
              </a:rPr>
              <a:t> </a:t>
            </a:r>
            <a:r>
              <a:rPr lang="zh-CN" altLang="en-US" sz="2000" b="1" dirty="0">
                <a:solidFill>
                  <a:srgbClr val="FF0000"/>
                </a:solidFill>
                <a:latin typeface="+mn-ea"/>
                <a:ea typeface="+mn-ea"/>
              </a:rPr>
              <a:t>最高振荡频率</a:t>
            </a:r>
            <a:r>
              <a:rPr lang="en-US" altLang="zh-CN" sz="2000" b="1" dirty="0">
                <a:solidFill>
                  <a:srgbClr val="FF0000"/>
                </a:solidFill>
                <a:latin typeface="Times New Roman" panose="02020603050405020304" pitchFamily="18" charset="0"/>
                <a:ea typeface="+mn-ea"/>
                <a:cs typeface="Times New Roman" panose="02020603050405020304" pitchFamily="18" charset="0"/>
              </a:rPr>
              <a:t>f</a:t>
            </a:r>
            <a:r>
              <a:rPr lang="en-US" altLang="zh-CN" sz="2000" b="1" baseline="-25000" dirty="0">
                <a:solidFill>
                  <a:srgbClr val="FF0000"/>
                </a:solidFill>
                <a:latin typeface="Times New Roman" panose="02020603050405020304" pitchFamily="18" charset="0"/>
                <a:ea typeface="+mn-ea"/>
                <a:cs typeface="Times New Roman" panose="02020603050405020304" pitchFamily="18" charset="0"/>
              </a:rPr>
              <a:t>max</a:t>
            </a:r>
          </a:p>
        </p:txBody>
      </p:sp>
      <p:graphicFrame>
        <p:nvGraphicFramePr>
          <p:cNvPr id="6" name="Object 22">
            <a:extLst>
              <a:ext uri="{FF2B5EF4-FFF2-40B4-BE49-F238E27FC236}">
                <a16:creationId xmlns="" xmlns:a16="http://schemas.microsoft.com/office/drawing/2014/main" id="{69B8BC53-131A-8F5A-6C9A-98D6D6CA67CB}"/>
              </a:ext>
            </a:extLst>
          </p:cNvPr>
          <p:cNvGraphicFramePr/>
          <p:nvPr>
            <p:extLst>
              <p:ext uri="{D42A27DB-BD31-4B8C-83A1-F6EECF244321}">
                <p14:modId xmlns:p14="http://schemas.microsoft.com/office/powerpoint/2010/main" val="3387371501"/>
              </p:ext>
            </p:extLst>
          </p:nvPr>
        </p:nvGraphicFramePr>
        <p:xfrm>
          <a:off x="2771800" y="1737553"/>
          <a:ext cx="839788" cy="419100"/>
        </p:xfrm>
        <a:graphic>
          <a:graphicData uri="http://schemas.openxmlformats.org/presentationml/2006/ole">
            <mc:AlternateContent xmlns:mc="http://schemas.openxmlformats.org/markup-compatibility/2006">
              <mc:Choice xmlns:v="urn:schemas-microsoft-com:vml" Requires="v">
                <p:oleObj spid="_x0000_s62604" r:id="rId3" imgW="418465" imgH="215900" progId="Equation.3">
                  <p:embed/>
                </p:oleObj>
              </mc:Choice>
              <mc:Fallback>
                <p:oleObj r:id="rId3" imgW="418465" imgH="215900" progId="Equation.3">
                  <p:embed/>
                  <p:pic>
                    <p:nvPicPr>
                      <p:cNvPr id="0" name=""/>
                      <p:cNvPicPr/>
                      <p:nvPr/>
                    </p:nvPicPr>
                    <p:blipFill>
                      <a:blip r:embed="rId4"/>
                      <a:stretch>
                        <a:fillRect/>
                      </a:stretch>
                    </p:blipFill>
                    <p:spPr>
                      <a:xfrm>
                        <a:off x="2771800" y="1737553"/>
                        <a:ext cx="839788" cy="419100"/>
                      </a:xfrm>
                      <a:prstGeom prst="rect">
                        <a:avLst/>
                      </a:prstGeom>
                      <a:noFill/>
                      <a:ln w="38100">
                        <a:noFill/>
                        <a:miter/>
                      </a:ln>
                    </p:spPr>
                  </p:pic>
                </p:oleObj>
              </mc:Fallback>
            </mc:AlternateContent>
          </a:graphicData>
        </a:graphic>
      </p:graphicFrame>
      <p:graphicFrame>
        <p:nvGraphicFramePr>
          <p:cNvPr id="7" name="Object 23">
            <a:extLst>
              <a:ext uri="{FF2B5EF4-FFF2-40B4-BE49-F238E27FC236}">
                <a16:creationId xmlns="" xmlns:a16="http://schemas.microsoft.com/office/drawing/2014/main" id="{42282E21-9B7C-51E6-3774-F50D24CDB69B}"/>
              </a:ext>
            </a:extLst>
          </p:cNvPr>
          <p:cNvGraphicFramePr/>
          <p:nvPr>
            <p:extLst>
              <p:ext uri="{D42A27DB-BD31-4B8C-83A1-F6EECF244321}">
                <p14:modId xmlns:p14="http://schemas.microsoft.com/office/powerpoint/2010/main" val="4176372249"/>
              </p:ext>
            </p:extLst>
          </p:nvPr>
        </p:nvGraphicFramePr>
        <p:xfrm>
          <a:off x="2075697" y="2480509"/>
          <a:ext cx="2617788" cy="846137"/>
        </p:xfrm>
        <a:graphic>
          <a:graphicData uri="http://schemas.openxmlformats.org/presentationml/2006/ole">
            <mc:AlternateContent xmlns:mc="http://schemas.openxmlformats.org/markup-compatibility/2006">
              <mc:Choice xmlns:v="urn:schemas-microsoft-com:vml" Requires="v">
                <p:oleObj spid="_x0000_s62605" r:id="rId5" imgW="1485265" imgH="482600" progId="Equation.3">
                  <p:embed/>
                </p:oleObj>
              </mc:Choice>
              <mc:Fallback>
                <p:oleObj r:id="rId5" imgW="1485265" imgH="482600" progId="Equation.3">
                  <p:embed/>
                  <p:pic>
                    <p:nvPicPr>
                      <p:cNvPr id="0" name=""/>
                      <p:cNvPicPr/>
                      <p:nvPr/>
                    </p:nvPicPr>
                    <p:blipFill>
                      <a:blip r:embed="rId6"/>
                      <a:stretch>
                        <a:fillRect/>
                      </a:stretch>
                    </p:blipFill>
                    <p:spPr>
                      <a:xfrm>
                        <a:off x="2075697" y="2480509"/>
                        <a:ext cx="2617788" cy="846137"/>
                      </a:xfrm>
                      <a:prstGeom prst="rect">
                        <a:avLst/>
                      </a:prstGeom>
                      <a:noFill/>
                      <a:ln w="38100">
                        <a:noFill/>
                        <a:miter/>
                      </a:ln>
                    </p:spPr>
                  </p:pic>
                </p:oleObj>
              </mc:Fallback>
            </mc:AlternateContent>
          </a:graphicData>
        </a:graphic>
      </p:graphicFrame>
      <p:sp>
        <p:nvSpPr>
          <p:cNvPr id="8" name="Text Box 10">
            <a:extLst>
              <a:ext uri="{FF2B5EF4-FFF2-40B4-BE49-F238E27FC236}">
                <a16:creationId xmlns="" xmlns:a16="http://schemas.microsoft.com/office/drawing/2014/main" id="{C63392CD-445F-4FD4-F387-8C1FF10D5148}"/>
              </a:ext>
            </a:extLst>
          </p:cNvPr>
          <p:cNvSpPr txBox="1"/>
          <p:nvPr/>
        </p:nvSpPr>
        <p:spPr>
          <a:xfrm>
            <a:off x="377952" y="3660777"/>
            <a:ext cx="8625555" cy="1107996"/>
          </a:xfrm>
          <a:prstGeom prst="rect">
            <a:avLst/>
          </a:prstGeom>
          <a:noFill/>
          <a:ln w="9525">
            <a:noFill/>
          </a:ln>
        </p:spPr>
        <p:txBody>
          <a:bodyPr wrap="square" anchor="t" anchorCtr="0">
            <a:spAutoFit/>
          </a:bodyPr>
          <a:lstStyle/>
          <a:p>
            <a:pPr>
              <a:spcBef>
                <a:spcPct val="20000"/>
              </a:spcBef>
            </a:pPr>
            <a:r>
              <a:rPr lang="en-US" altLang="zh-CN" sz="2200" b="1" dirty="0" err="1" smtClean="0">
                <a:solidFill>
                  <a:schemeClr val="tx1"/>
                </a:solidFill>
                <a:latin typeface="Times New Roman" panose="02020603050405020304" pitchFamily="18" charset="0"/>
                <a:ea typeface="+mn-ea"/>
                <a:cs typeface="Times New Roman" panose="02020603050405020304" pitchFamily="18" charset="0"/>
              </a:rPr>
              <a:t>f</a:t>
            </a:r>
            <a:r>
              <a:rPr lang="en-US" altLang="zh-CN" sz="2200" b="1" baseline="-25000" dirty="0" err="1" smtClean="0">
                <a:solidFill>
                  <a:schemeClr val="tx1"/>
                </a:solidFill>
                <a:latin typeface="Times New Roman" panose="02020603050405020304" pitchFamily="18" charset="0"/>
                <a:ea typeface="+mn-ea"/>
                <a:cs typeface="Times New Roman" panose="02020603050405020304" pitchFamily="18" charset="0"/>
              </a:rPr>
              <a:t>max</a:t>
            </a:r>
            <a:r>
              <a:rPr lang="zh-CN" altLang="en-US" sz="2200" b="1" dirty="0">
                <a:solidFill>
                  <a:schemeClr val="tx1"/>
                </a:solidFill>
                <a:latin typeface="+mn-ea"/>
                <a:ea typeface="+mn-ea"/>
              </a:rPr>
              <a:t>表示晶体管所能够适应的最高极限频率。在此工作频率时晶体管已经不能得到功率放大，当</a:t>
            </a:r>
            <a:r>
              <a:rPr lang="en-US" altLang="zh-CN" sz="2200" b="1" dirty="0">
                <a:solidFill>
                  <a:schemeClr val="tx1"/>
                </a:solidFill>
                <a:latin typeface="Times New Roman" panose="02020603050405020304" pitchFamily="18" charset="0"/>
                <a:ea typeface="+mn-ea"/>
                <a:cs typeface="Times New Roman" panose="02020603050405020304" pitchFamily="18" charset="0"/>
              </a:rPr>
              <a:t>f&gt;f</a:t>
            </a:r>
            <a:r>
              <a:rPr lang="en-US" altLang="zh-CN" sz="2200" b="1" baseline="-25000" dirty="0">
                <a:solidFill>
                  <a:schemeClr val="tx1"/>
                </a:solidFill>
                <a:latin typeface="Times New Roman" panose="02020603050405020304" pitchFamily="18" charset="0"/>
                <a:ea typeface="+mn-ea"/>
                <a:cs typeface="Times New Roman" panose="02020603050405020304" pitchFamily="18" charset="0"/>
              </a:rPr>
              <a:t>max</a:t>
            </a:r>
            <a:r>
              <a:rPr lang="zh-CN" altLang="en-US" sz="2200" b="1" dirty="0">
                <a:solidFill>
                  <a:schemeClr val="tx1"/>
                </a:solidFill>
                <a:latin typeface="+mn-ea"/>
                <a:ea typeface="+mn-ea"/>
              </a:rPr>
              <a:t>时</a:t>
            </a:r>
            <a:r>
              <a:rPr lang="en-US" altLang="zh-CN" sz="2200" b="1" dirty="0">
                <a:solidFill>
                  <a:schemeClr val="tx1"/>
                </a:solidFill>
                <a:latin typeface="+mn-ea"/>
                <a:ea typeface="+mn-ea"/>
              </a:rPr>
              <a:t>,</a:t>
            </a:r>
            <a:r>
              <a:rPr lang="zh-CN" altLang="en-US" sz="2200" b="1" dirty="0">
                <a:solidFill>
                  <a:schemeClr val="tx1"/>
                </a:solidFill>
                <a:latin typeface="+mn-ea"/>
                <a:ea typeface="+mn-ea"/>
              </a:rPr>
              <a:t>无论使用什么方法都不能使晶体管产生振荡。</a:t>
            </a:r>
          </a:p>
        </p:txBody>
      </p:sp>
      <p:graphicFrame>
        <p:nvGraphicFramePr>
          <p:cNvPr id="9" name="Object 24">
            <a:extLst>
              <a:ext uri="{FF2B5EF4-FFF2-40B4-BE49-F238E27FC236}">
                <a16:creationId xmlns="" xmlns:a16="http://schemas.microsoft.com/office/drawing/2014/main" id="{8593560B-7D9E-A666-8595-796B4CD11EA6}"/>
              </a:ext>
            </a:extLst>
          </p:cNvPr>
          <p:cNvGraphicFramePr/>
          <p:nvPr>
            <p:extLst>
              <p:ext uri="{D42A27DB-BD31-4B8C-83A1-F6EECF244321}">
                <p14:modId xmlns:p14="http://schemas.microsoft.com/office/powerpoint/2010/main" val="159182386"/>
              </p:ext>
            </p:extLst>
          </p:nvPr>
        </p:nvGraphicFramePr>
        <p:xfrm>
          <a:off x="1859585" y="4903112"/>
          <a:ext cx="4529024" cy="507056"/>
        </p:xfrm>
        <a:graphic>
          <a:graphicData uri="http://schemas.openxmlformats.org/presentationml/2006/ole">
            <mc:AlternateContent xmlns:mc="http://schemas.openxmlformats.org/markup-compatibility/2006">
              <mc:Choice xmlns:v="urn:schemas-microsoft-com:vml" Requires="v">
                <p:oleObj spid="_x0000_s62606" r:id="rId7" imgW="2042795" imgH="254000" progId="Equation.3">
                  <p:embed/>
                </p:oleObj>
              </mc:Choice>
              <mc:Fallback>
                <p:oleObj r:id="rId7" imgW="2042795" imgH="254000" progId="Equation.3">
                  <p:embed/>
                  <p:pic>
                    <p:nvPicPr>
                      <p:cNvPr id="0" name=""/>
                      <p:cNvPicPr/>
                      <p:nvPr/>
                    </p:nvPicPr>
                    <p:blipFill>
                      <a:blip r:embed="rId8"/>
                      <a:stretch>
                        <a:fillRect/>
                      </a:stretch>
                    </p:blipFill>
                    <p:spPr>
                      <a:xfrm>
                        <a:off x="1859585" y="4903112"/>
                        <a:ext cx="4529024" cy="507056"/>
                      </a:xfrm>
                      <a:prstGeom prst="rect">
                        <a:avLst/>
                      </a:prstGeom>
                      <a:solidFill>
                        <a:srgbClr val="FFCCFF"/>
                      </a:solidFill>
                      <a:ln w="38100">
                        <a:noFill/>
                        <a:miter/>
                      </a:ln>
                    </p:spPr>
                  </p:pic>
                </p:oleObj>
              </mc:Fallback>
            </mc:AlternateContent>
          </a:graphicData>
        </a:graphic>
      </p:graphicFrame>
      <p:sp>
        <p:nvSpPr>
          <p:cNvPr id="10" name="Text Box 12">
            <a:extLst>
              <a:ext uri="{FF2B5EF4-FFF2-40B4-BE49-F238E27FC236}">
                <a16:creationId xmlns="" xmlns:a16="http://schemas.microsoft.com/office/drawing/2014/main" id="{DC661CE8-DB2B-11AC-C317-AE306E8E3B94}"/>
              </a:ext>
            </a:extLst>
          </p:cNvPr>
          <p:cNvSpPr txBox="1"/>
          <p:nvPr/>
        </p:nvSpPr>
        <p:spPr>
          <a:xfrm>
            <a:off x="377952" y="1720629"/>
            <a:ext cx="7042150" cy="430887"/>
          </a:xfrm>
          <a:prstGeom prst="rect">
            <a:avLst/>
          </a:prstGeom>
          <a:noFill/>
          <a:ln w="9525">
            <a:noFill/>
          </a:ln>
        </p:spPr>
        <p:txBody>
          <a:bodyPr anchor="t" anchorCtr="0">
            <a:spAutoFit/>
          </a:bodyPr>
          <a:lstStyle/>
          <a:p>
            <a:r>
              <a:rPr lang="zh-CN" altLang="en-US" sz="2200" b="1" dirty="0">
                <a:solidFill>
                  <a:schemeClr val="tx1"/>
                </a:solidFill>
                <a:latin typeface="+mn-ea"/>
                <a:ea typeface="+mn-ea"/>
              </a:rPr>
              <a:t>晶体管的功率增益       时的工作频率</a:t>
            </a:r>
          </a:p>
        </p:txBody>
      </p:sp>
      <p:sp>
        <p:nvSpPr>
          <p:cNvPr id="11" name="Text Box 13">
            <a:extLst>
              <a:ext uri="{FF2B5EF4-FFF2-40B4-BE49-F238E27FC236}">
                <a16:creationId xmlns="" xmlns:a16="http://schemas.microsoft.com/office/drawing/2014/main" id="{C722F778-368B-C4BE-2815-EDAD83CD22B1}"/>
              </a:ext>
            </a:extLst>
          </p:cNvPr>
          <p:cNvSpPr txBox="1"/>
          <p:nvPr/>
        </p:nvSpPr>
        <p:spPr>
          <a:xfrm>
            <a:off x="564183" y="2586955"/>
            <a:ext cx="1462260" cy="430887"/>
          </a:xfrm>
          <a:prstGeom prst="rect">
            <a:avLst/>
          </a:prstGeom>
          <a:noFill/>
          <a:ln w="9525">
            <a:noFill/>
          </a:ln>
        </p:spPr>
        <p:txBody>
          <a:bodyPr wrap="none" anchor="t" anchorCtr="0">
            <a:spAutoFit/>
          </a:bodyPr>
          <a:lstStyle/>
          <a:p>
            <a:r>
              <a:rPr lang="zh-CN" altLang="en-US" sz="2200" b="1" dirty="0">
                <a:solidFill>
                  <a:schemeClr val="tx1"/>
                </a:solidFill>
                <a:latin typeface="+mn-ea"/>
                <a:ea typeface="+mn-ea"/>
              </a:rPr>
              <a:t>可以证明</a:t>
            </a:r>
            <a:r>
              <a:rPr lang="en-US" altLang="zh-CN" sz="2200" b="1" dirty="0">
                <a:solidFill>
                  <a:schemeClr val="tx1"/>
                </a:solidFill>
                <a:latin typeface="+mn-ea"/>
                <a:ea typeface="+mn-ea"/>
              </a:rPr>
              <a:t>:</a:t>
            </a:r>
          </a:p>
        </p:txBody>
      </p:sp>
    </p:spTree>
    <p:extLst>
      <p:ext uri="{BB962C8B-B14F-4D97-AF65-F5344CB8AC3E}">
        <p14:creationId xmlns:p14="http://schemas.microsoft.com/office/powerpoint/2010/main" val="500601445"/>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87</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3.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高频</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小信号</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放大器</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5" name="图片 4">
            <a:extLst>
              <a:ext uri="{FF2B5EF4-FFF2-40B4-BE49-F238E27FC236}">
                <a16:creationId xmlns="" xmlns:a16="http://schemas.microsoft.com/office/drawing/2014/main" id="{F5123CB7-93FF-A347-809D-9C80D8AFC099}"/>
              </a:ext>
            </a:extLst>
          </p:cNvPr>
          <p:cNvPicPr>
            <a:picLocks noChangeAspect="1"/>
          </p:cNvPicPr>
          <p:nvPr/>
        </p:nvPicPr>
        <p:blipFill>
          <a:blip r:embed="rId3"/>
          <a:srcRect t="20264" b="2467"/>
          <a:stretch>
            <a:fillRect/>
          </a:stretch>
        </p:blipFill>
        <p:spPr>
          <a:xfrm>
            <a:off x="2555775" y="1644644"/>
            <a:ext cx="6138862" cy="2619845"/>
          </a:xfrm>
          <a:prstGeom prst="rect">
            <a:avLst/>
          </a:prstGeom>
          <a:solidFill>
            <a:srgbClr val="FFCC00"/>
          </a:solidFill>
          <a:ln w="9525">
            <a:noFill/>
          </a:ln>
        </p:spPr>
      </p:pic>
      <p:sp>
        <p:nvSpPr>
          <p:cNvPr id="6" name="矩形 5">
            <a:extLst>
              <a:ext uri="{FF2B5EF4-FFF2-40B4-BE49-F238E27FC236}">
                <a16:creationId xmlns="" xmlns:a16="http://schemas.microsoft.com/office/drawing/2014/main" id="{25D3F665-1622-1AB3-D37F-5F08E47DA897}"/>
              </a:ext>
            </a:extLst>
          </p:cNvPr>
          <p:cNvSpPr/>
          <p:nvPr/>
        </p:nvSpPr>
        <p:spPr>
          <a:xfrm>
            <a:off x="44748" y="1748983"/>
            <a:ext cx="5086350" cy="400110"/>
          </a:xfrm>
          <a:prstGeom prst="rect">
            <a:avLst/>
          </a:prstGeom>
          <a:noFill/>
          <a:ln w="9525">
            <a:noFill/>
          </a:ln>
        </p:spPr>
        <p:txBody>
          <a:bodyPr anchor="t" anchorCtr="0">
            <a:spAutoFit/>
          </a:bodyPr>
          <a:lstStyle/>
          <a:p>
            <a:r>
              <a:rPr lang="en-US" altLang="zh-CN" sz="2000" b="1" dirty="0">
                <a:solidFill>
                  <a:schemeClr val="tx1"/>
                </a:solidFill>
                <a:latin typeface="Times New Roman" panose="02020603050405020304" pitchFamily="18" charset="0"/>
                <a:cs typeface="Times New Roman" panose="02020603050405020304" pitchFamily="18" charset="0"/>
              </a:rPr>
              <a:t>1. </a:t>
            </a:r>
            <a:r>
              <a:rPr lang="zh-CN" altLang="en-US" sz="2000" b="1" dirty="0">
                <a:solidFill>
                  <a:schemeClr val="tx1"/>
                </a:solidFill>
                <a:latin typeface="Times New Roman" panose="02020603050405020304" pitchFamily="18" charset="0"/>
                <a:cs typeface="Times New Roman" panose="02020603050405020304" pitchFamily="18" charset="0"/>
              </a:rPr>
              <a:t>放大器的电路组成</a:t>
            </a:r>
          </a:p>
        </p:txBody>
      </p:sp>
      <p:sp>
        <p:nvSpPr>
          <p:cNvPr id="7" name="文本框 6">
            <a:extLst>
              <a:ext uri="{FF2B5EF4-FFF2-40B4-BE49-F238E27FC236}">
                <a16:creationId xmlns="" xmlns:a16="http://schemas.microsoft.com/office/drawing/2014/main" id="{7E2DE97A-EEF3-8EB2-1893-5ADCA3624998}"/>
              </a:ext>
            </a:extLst>
          </p:cNvPr>
          <p:cNvSpPr txBox="1"/>
          <p:nvPr/>
        </p:nvSpPr>
        <p:spPr>
          <a:xfrm>
            <a:off x="61938" y="5176983"/>
            <a:ext cx="8732442" cy="400752"/>
          </a:xfrm>
          <a:prstGeom prst="rect">
            <a:avLst/>
          </a:prstGeom>
          <a:noFill/>
          <a:ln w="12700">
            <a:noFill/>
          </a:ln>
        </p:spPr>
        <p:txBody>
          <a:bodyPr wrap="square" lIns="92075" tIns="46038" rIns="92075" bIns="46038" anchor="t" anchorCtr="0">
            <a:spAutoFit/>
          </a:bodyPr>
          <a:lstStyle/>
          <a:p>
            <a:pPr>
              <a:spcBef>
                <a:spcPct val="50000"/>
              </a:spcBef>
            </a:pPr>
            <a:r>
              <a:rPr lang="en-US" altLang="zh-CN" sz="2000" dirty="0">
                <a:solidFill>
                  <a:schemeClr val="tx1"/>
                </a:solidFill>
                <a:latin typeface="Times New Roman" panose="02020603050405020304" pitchFamily="18" charset="0"/>
                <a:cs typeface="Times New Roman" panose="02020603050405020304" pitchFamily="18" charset="0"/>
              </a:rPr>
              <a:t>(3) </a:t>
            </a:r>
            <a:r>
              <a:rPr lang="en-US" altLang="en-US" sz="2000" b="1" dirty="0" err="1">
                <a:solidFill>
                  <a:schemeClr val="tx1"/>
                </a:solidFill>
                <a:latin typeface="Times New Roman" panose="02020603050405020304" pitchFamily="18" charset="0"/>
                <a:cs typeface="Times New Roman" panose="02020603050405020304" pitchFamily="18" charset="0"/>
              </a:rPr>
              <a:t>选频回路LC作为放大器负载，完成调谐及与下级匹配的任务</a:t>
            </a:r>
            <a:r>
              <a:rPr lang="en-US" altLang="en-US" sz="2000" b="1" dirty="0">
                <a:solidFill>
                  <a:schemeClr val="tx1"/>
                </a:solidFill>
                <a:latin typeface="Times New Roman" panose="02020603050405020304" pitchFamily="18" charset="0"/>
                <a:cs typeface="Times New Roman" panose="02020603050405020304" pitchFamily="18" charset="0"/>
              </a:rPr>
              <a:t>。</a:t>
            </a:r>
            <a:endParaRPr lang="zh-CN" altLang="en-US" sz="2000" b="1" dirty="0">
              <a:solidFill>
                <a:schemeClr val="tx1"/>
              </a:solidFill>
              <a:latin typeface="Times New Roman" panose="02020603050405020304" pitchFamily="18" charset="0"/>
              <a:cs typeface="Times New Roman" panose="02020603050405020304" pitchFamily="18" charset="0"/>
            </a:endParaRPr>
          </a:p>
        </p:txBody>
      </p:sp>
      <p:grpSp>
        <p:nvGrpSpPr>
          <p:cNvPr id="8" name="组合 7">
            <a:extLst>
              <a:ext uri="{FF2B5EF4-FFF2-40B4-BE49-F238E27FC236}">
                <a16:creationId xmlns="" xmlns:a16="http://schemas.microsoft.com/office/drawing/2014/main" id="{47D04B3F-3975-AB9A-1E46-C895140F60BF}"/>
              </a:ext>
            </a:extLst>
          </p:cNvPr>
          <p:cNvGrpSpPr/>
          <p:nvPr/>
        </p:nvGrpSpPr>
        <p:grpSpPr>
          <a:xfrm>
            <a:off x="84164" y="4361360"/>
            <a:ext cx="6360268" cy="401637"/>
            <a:chOff x="351" y="3037"/>
            <a:chExt cx="3936" cy="253"/>
          </a:xfrm>
        </p:grpSpPr>
        <p:grpSp>
          <p:nvGrpSpPr>
            <p:cNvPr id="9" name="组合 375814">
              <a:extLst>
                <a:ext uri="{FF2B5EF4-FFF2-40B4-BE49-F238E27FC236}">
                  <a16:creationId xmlns="" xmlns:a16="http://schemas.microsoft.com/office/drawing/2014/main" id="{AC17F7B7-2AF9-4FC6-9B5C-C6D79C294B74}"/>
                </a:ext>
              </a:extLst>
            </p:cNvPr>
            <p:cNvGrpSpPr/>
            <p:nvPr/>
          </p:nvGrpSpPr>
          <p:grpSpPr>
            <a:xfrm>
              <a:off x="351" y="3037"/>
              <a:ext cx="3936" cy="252"/>
              <a:chOff x="351" y="3069"/>
              <a:chExt cx="3936" cy="252"/>
            </a:xfrm>
          </p:grpSpPr>
          <p:sp>
            <p:nvSpPr>
              <p:cNvPr id="11" name="文本框 375815">
                <a:extLst>
                  <a:ext uri="{FF2B5EF4-FFF2-40B4-BE49-F238E27FC236}">
                    <a16:creationId xmlns="" xmlns:a16="http://schemas.microsoft.com/office/drawing/2014/main" id="{45A6785D-1519-DEA4-99C7-253CE8326D80}"/>
                  </a:ext>
                </a:extLst>
              </p:cNvPr>
              <p:cNvSpPr txBox="1"/>
              <p:nvPr/>
            </p:nvSpPr>
            <p:spPr>
              <a:xfrm>
                <a:off x="351" y="3069"/>
                <a:ext cx="3936" cy="252"/>
              </a:xfrm>
              <a:prstGeom prst="rect">
                <a:avLst/>
              </a:prstGeom>
              <a:noFill/>
              <a:ln w="12700">
                <a:noFill/>
              </a:ln>
            </p:spPr>
            <p:txBody>
              <a:bodyPr lIns="92075" tIns="46038" rIns="92075" bIns="46038" anchor="t" anchorCtr="0">
                <a:spAutoFit/>
              </a:bodyPr>
              <a:lstStyle/>
              <a:p>
                <a:pPr eaLnBrk="0" hangingPunct="0">
                  <a:spcBef>
                    <a:spcPct val="50000"/>
                  </a:spcBef>
                </a:pPr>
                <a:r>
                  <a:rPr lang="en-US" altLang="zh-CN" sz="2000" b="1" dirty="0">
                    <a:solidFill>
                      <a:schemeClr val="tx1"/>
                    </a:solidFill>
                    <a:latin typeface="Times New Roman" panose="02020603050405020304" pitchFamily="18" charset="0"/>
                    <a:cs typeface="Times New Roman" panose="02020603050405020304" pitchFamily="18" charset="0"/>
                  </a:rPr>
                  <a:t>(1) </a:t>
                </a:r>
                <a:r>
                  <a:rPr lang="zh-CN" altLang="en-US" sz="2000" b="1" dirty="0">
                    <a:solidFill>
                      <a:schemeClr val="tx1"/>
                    </a:solidFill>
                    <a:latin typeface="Times New Roman" panose="02020603050405020304" pitchFamily="18" charset="0"/>
                    <a:cs typeface="Times New Roman" panose="02020603050405020304" pitchFamily="18" charset="0"/>
                  </a:rPr>
                  <a:t>电路的直流偏置是</a:t>
                </a:r>
                <a:r>
                  <a:rPr lang="zh-CN" altLang="en-US" sz="2000" b="1" dirty="0" smtClean="0">
                    <a:solidFill>
                      <a:schemeClr val="tx1"/>
                    </a:solidFill>
                    <a:latin typeface="Times New Roman" panose="02020603050405020304" pitchFamily="18" charset="0"/>
                    <a:cs typeface="Times New Roman" panose="02020603050405020304" pitchFamily="18" charset="0"/>
                  </a:rPr>
                  <a:t>由        </a:t>
                </a:r>
                <a:r>
                  <a:rPr lang="zh-CN" altLang="en-US" sz="2000" b="1" dirty="0">
                    <a:solidFill>
                      <a:schemeClr val="tx1"/>
                    </a:solidFill>
                    <a:latin typeface="Times New Roman" panose="02020603050405020304" pitchFamily="18" charset="0"/>
                    <a:cs typeface="Times New Roman" panose="02020603050405020304" pitchFamily="18" charset="0"/>
                  </a:rPr>
                  <a:t>、  、  来实现。 </a:t>
                </a:r>
              </a:p>
            </p:txBody>
          </p:sp>
          <p:graphicFrame>
            <p:nvGraphicFramePr>
              <p:cNvPr id="12" name="对象 375816">
                <a:extLst>
                  <a:ext uri="{FF2B5EF4-FFF2-40B4-BE49-F238E27FC236}">
                    <a16:creationId xmlns="" xmlns:a16="http://schemas.microsoft.com/office/drawing/2014/main" id="{68B24EF5-6503-E8E3-FA3C-96DD6EBF20CA}"/>
                  </a:ext>
                </a:extLst>
              </p:cNvPr>
              <p:cNvGraphicFramePr/>
              <p:nvPr>
                <p:extLst>
                  <p:ext uri="{D42A27DB-BD31-4B8C-83A1-F6EECF244321}">
                    <p14:modId xmlns:p14="http://schemas.microsoft.com/office/powerpoint/2010/main" val="1501948981"/>
                  </p:ext>
                </p:extLst>
              </p:nvPr>
            </p:nvGraphicFramePr>
            <p:xfrm>
              <a:off x="2125" y="3091"/>
              <a:ext cx="153" cy="216"/>
            </p:xfrm>
            <a:graphic>
              <a:graphicData uri="http://schemas.openxmlformats.org/presentationml/2006/ole">
                <mc:AlternateContent xmlns:mc="http://schemas.openxmlformats.org/markup-compatibility/2006">
                  <mc:Choice xmlns:v="urn:schemas-microsoft-com:vml" Requires="v">
                    <p:oleObj spid="_x0000_s63725" r:id="rId4" imgW="165100" imgH="228600" progId="Equation.DSMT4">
                      <p:embed/>
                    </p:oleObj>
                  </mc:Choice>
                  <mc:Fallback>
                    <p:oleObj r:id="rId4" imgW="165100" imgH="228600" progId="Equation.DSMT4">
                      <p:embed/>
                      <p:pic>
                        <p:nvPicPr>
                          <p:cNvPr id="0" name=""/>
                          <p:cNvPicPr/>
                          <p:nvPr/>
                        </p:nvPicPr>
                        <p:blipFill>
                          <a:blip r:embed="rId5"/>
                          <a:stretch>
                            <a:fillRect/>
                          </a:stretch>
                        </p:blipFill>
                        <p:spPr>
                          <a:xfrm>
                            <a:off x="2125" y="3091"/>
                            <a:ext cx="153" cy="216"/>
                          </a:xfrm>
                          <a:prstGeom prst="rect">
                            <a:avLst/>
                          </a:prstGeom>
                          <a:noFill/>
                          <a:ln w="38100">
                            <a:noFill/>
                            <a:miter/>
                          </a:ln>
                        </p:spPr>
                      </p:pic>
                    </p:oleObj>
                  </mc:Fallback>
                </mc:AlternateContent>
              </a:graphicData>
            </a:graphic>
          </p:graphicFrame>
          <p:graphicFrame>
            <p:nvGraphicFramePr>
              <p:cNvPr id="13" name="对象 375817">
                <a:extLst>
                  <a:ext uri="{FF2B5EF4-FFF2-40B4-BE49-F238E27FC236}">
                    <a16:creationId xmlns="" xmlns:a16="http://schemas.microsoft.com/office/drawing/2014/main" id="{91A0E2CC-17AE-DB39-A64F-4FFE7FA13BA8}"/>
                  </a:ext>
                </a:extLst>
              </p:cNvPr>
              <p:cNvGraphicFramePr/>
              <p:nvPr>
                <p:extLst>
                  <p:ext uri="{D42A27DB-BD31-4B8C-83A1-F6EECF244321}">
                    <p14:modId xmlns:p14="http://schemas.microsoft.com/office/powerpoint/2010/main" val="1979089606"/>
                  </p:ext>
                </p:extLst>
              </p:nvPr>
            </p:nvGraphicFramePr>
            <p:xfrm>
              <a:off x="2460" y="3091"/>
              <a:ext cx="192" cy="230"/>
            </p:xfrm>
            <a:graphic>
              <a:graphicData uri="http://schemas.openxmlformats.org/presentationml/2006/ole">
                <mc:AlternateContent xmlns:mc="http://schemas.openxmlformats.org/markup-compatibility/2006">
                  <mc:Choice xmlns:v="urn:schemas-microsoft-com:vml" Requires="v">
                    <p:oleObj spid="_x0000_s63726" r:id="rId6" imgW="190500" imgH="228600" progId="Equation.DSMT4">
                      <p:embed/>
                    </p:oleObj>
                  </mc:Choice>
                  <mc:Fallback>
                    <p:oleObj r:id="rId6" imgW="190500" imgH="228600" progId="Equation.DSMT4">
                      <p:embed/>
                      <p:pic>
                        <p:nvPicPr>
                          <p:cNvPr id="0" name=""/>
                          <p:cNvPicPr/>
                          <p:nvPr/>
                        </p:nvPicPr>
                        <p:blipFill>
                          <a:blip r:embed="rId7"/>
                          <a:stretch>
                            <a:fillRect/>
                          </a:stretch>
                        </p:blipFill>
                        <p:spPr>
                          <a:xfrm>
                            <a:off x="2460" y="3091"/>
                            <a:ext cx="192" cy="230"/>
                          </a:xfrm>
                          <a:prstGeom prst="rect">
                            <a:avLst/>
                          </a:prstGeom>
                          <a:noFill/>
                          <a:ln w="38100">
                            <a:noFill/>
                            <a:miter/>
                          </a:ln>
                        </p:spPr>
                      </p:pic>
                    </p:oleObj>
                  </mc:Fallback>
                </mc:AlternateContent>
              </a:graphicData>
            </a:graphic>
          </p:graphicFrame>
        </p:grpSp>
        <p:graphicFrame>
          <p:nvGraphicFramePr>
            <p:cNvPr id="10" name="对象 375818">
              <a:extLst>
                <a:ext uri="{FF2B5EF4-FFF2-40B4-BE49-F238E27FC236}">
                  <a16:creationId xmlns="" xmlns:a16="http://schemas.microsoft.com/office/drawing/2014/main" id="{8BBBA627-8C72-4753-E8C0-2333445710AE}"/>
                </a:ext>
              </a:extLst>
            </p:cNvPr>
            <p:cNvGraphicFramePr/>
            <p:nvPr>
              <p:extLst>
                <p:ext uri="{D42A27DB-BD31-4B8C-83A1-F6EECF244321}">
                  <p14:modId xmlns:p14="http://schemas.microsoft.com/office/powerpoint/2010/main" val="1528760511"/>
                </p:ext>
              </p:extLst>
            </p:nvPr>
          </p:nvGraphicFramePr>
          <p:xfrm>
            <a:off x="2732" y="3059"/>
            <a:ext cx="179" cy="231"/>
          </p:xfrm>
          <a:graphic>
            <a:graphicData uri="http://schemas.openxmlformats.org/presentationml/2006/ole">
              <mc:AlternateContent xmlns:mc="http://schemas.openxmlformats.org/markup-compatibility/2006">
                <mc:Choice xmlns:v="urn:schemas-microsoft-com:vml" Requires="v">
                  <p:oleObj spid="_x0000_s63727" r:id="rId8" imgW="177800" imgH="227965" progId="Equation.DSMT4">
                    <p:embed/>
                  </p:oleObj>
                </mc:Choice>
                <mc:Fallback>
                  <p:oleObj r:id="rId8" imgW="177800" imgH="227965" progId="Equation.DSMT4">
                    <p:embed/>
                    <p:pic>
                      <p:nvPicPr>
                        <p:cNvPr id="0" name=""/>
                        <p:cNvPicPr/>
                        <p:nvPr/>
                      </p:nvPicPr>
                      <p:blipFill>
                        <a:blip r:embed="rId9"/>
                        <a:stretch>
                          <a:fillRect/>
                        </a:stretch>
                      </p:blipFill>
                      <p:spPr>
                        <a:xfrm>
                          <a:off x="2732" y="3059"/>
                          <a:ext cx="179" cy="231"/>
                        </a:xfrm>
                        <a:prstGeom prst="rect">
                          <a:avLst/>
                        </a:prstGeom>
                        <a:noFill/>
                        <a:ln w="38100">
                          <a:noFill/>
                          <a:miter/>
                        </a:ln>
                      </p:spPr>
                    </p:pic>
                  </p:oleObj>
                </mc:Fallback>
              </mc:AlternateContent>
            </a:graphicData>
          </a:graphic>
        </p:graphicFrame>
      </p:grpSp>
      <p:grpSp>
        <p:nvGrpSpPr>
          <p:cNvPr id="14" name="组合 13">
            <a:extLst>
              <a:ext uri="{FF2B5EF4-FFF2-40B4-BE49-F238E27FC236}">
                <a16:creationId xmlns="" xmlns:a16="http://schemas.microsoft.com/office/drawing/2014/main" id="{CD25D032-A38D-6495-506B-3EEA514F1C2A}"/>
              </a:ext>
            </a:extLst>
          </p:cNvPr>
          <p:cNvGrpSpPr/>
          <p:nvPr/>
        </p:nvGrpSpPr>
        <p:grpSpPr>
          <a:xfrm>
            <a:off x="61938" y="4756708"/>
            <a:ext cx="7924481" cy="422275"/>
            <a:chOff x="320" y="3198"/>
            <a:chExt cx="4904" cy="266"/>
          </a:xfrm>
        </p:grpSpPr>
        <p:sp>
          <p:nvSpPr>
            <p:cNvPr id="15" name="文本框 375820">
              <a:extLst>
                <a:ext uri="{FF2B5EF4-FFF2-40B4-BE49-F238E27FC236}">
                  <a16:creationId xmlns="" xmlns:a16="http://schemas.microsoft.com/office/drawing/2014/main" id="{CC86BAA8-76EA-DCA4-14E3-F45303DF218F}"/>
                </a:ext>
              </a:extLst>
            </p:cNvPr>
            <p:cNvSpPr txBox="1"/>
            <p:nvPr/>
          </p:nvSpPr>
          <p:spPr>
            <a:xfrm>
              <a:off x="320" y="3198"/>
              <a:ext cx="4904" cy="252"/>
            </a:xfrm>
            <a:prstGeom prst="rect">
              <a:avLst/>
            </a:prstGeom>
            <a:noFill/>
            <a:ln w="12700">
              <a:noFill/>
            </a:ln>
          </p:spPr>
          <p:txBody>
            <a:bodyPr lIns="92075" tIns="46038" rIns="92075" bIns="46038" anchor="t" anchorCtr="0">
              <a:spAutoFit/>
            </a:bodyPr>
            <a:lstStyle/>
            <a:p>
              <a:pPr eaLnBrk="0" hangingPunct="0">
                <a:spcBef>
                  <a:spcPct val="50000"/>
                </a:spcBef>
              </a:pPr>
              <a:r>
                <a:rPr lang="en-US" altLang="zh-CN" sz="2000" b="1" dirty="0">
                  <a:solidFill>
                    <a:schemeClr val="tx1"/>
                  </a:solidFill>
                  <a:latin typeface="Times New Roman" panose="02020603050405020304" pitchFamily="18" charset="0"/>
                  <a:cs typeface="Times New Roman" panose="02020603050405020304" pitchFamily="18" charset="0"/>
                </a:rPr>
                <a:t>(2)   </a:t>
              </a:r>
              <a:r>
                <a:rPr lang="en-US" altLang="zh-CN" sz="2000" b="1" dirty="0" smtClean="0">
                  <a:solidFill>
                    <a:schemeClr val="tx1"/>
                  </a:solidFill>
                  <a:latin typeface="Times New Roman" panose="02020603050405020304" pitchFamily="18" charset="0"/>
                  <a:cs typeface="Times New Roman" panose="02020603050405020304" pitchFamily="18" charset="0"/>
                </a:rPr>
                <a:t>             </a:t>
              </a:r>
              <a:r>
                <a:rPr lang="zh-CN" altLang="en-US" sz="2000" b="1" dirty="0">
                  <a:solidFill>
                    <a:schemeClr val="tx1"/>
                  </a:solidFill>
                  <a:latin typeface="Times New Roman" panose="02020603050405020304" pitchFamily="18" charset="0"/>
                  <a:cs typeface="Times New Roman" panose="02020603050405020304" pitchFamily="18" charset="0"/>
                </a:rPr>
                <a:t>为高频旁路电容。用以短路高频交流信号。</a:t>
              </a:r>
            </a:p>
          </p:txBody>
        </p:sp>
        <p:graphicFrame>
          <p:nvGraphicFramePr>
            <p:cNvPr id="16" name="对象 375821">
              <a:extLst>
                <a:ext uri="{FF2B5EF4-FFF2-40B4-BE49-F238E27FC236}">
                  <a16:creationId xmlns="" xmlns:a16="http://schemas.microsoft.com/office/drawing/2014/main" id="{32550EBA-A285-8C37-78E9-2913F3C0372F}"/>
                </a:ext>
              </a:extLst>
            </p:cNvPr>
            <p:cNvGraphicFramePr/>
            <p:nvPr/>
          </p:nvGraphicFramePr>
          <p:xfrm>
            <a:off x="684" y="3224"/>
            <a:ext cx="213" cy="240"/>
          </p:xfrm>
          <a:graphic>
            <a:graphicData uri="http://schemas.openxmlformats.org/presentationml/2006/ole">
              <mc:AlternateContent xmlns:mc="http://schemas.openxmlformats.org/markup-compatibility/2006">
                <mc:Choice xmlns:v="urn:schemas-microsoft-com:vml" Requires="v">
                  <p:oleObj spid="_x0000_s63728" r:id="rId10" imgW="203200" imgH="228600" progId="Equation.DSMT4">
                    <p:embed/>
                  </p:oleObj>
                </mc:Choice>
                <mc:Fallback>
                  <p:oleObj r:id="rId10" imgW="203200" imgH="228600" progId="Equation.DSMT4">
                    <p:embed/>
                    <p:pic>
                      <p:nvPicPr>
                        <p:cNvPr id="0" name=""/>
                        <p:cNvPicPr/>
                        <p:nvPr/>
                      </p:nvPicPr>
                      <p:blipFill>
                        <a:blip r:embed="rId11"/>
                        <a:stretch>
                          <a:fillRect/>
                        </a:stretch>
                      </p:blipFill>
                      <p:spPr>
                        <a:xfrm>
                          <a:off x="684" y="3224"/>
                          <a:ext cx="213" cy="240"/>
                        </a:xfrm>
                        <a:prstGeom prst="rect">
                          <a:avLst/>
                        </a:prstGeom>
                        <a:noFill/>
                        <a:ln w="38100">
                          <a:noFill/>
                          <a:miter/>
                        </a:ln>
                      </p:spPr>
                    </p:pic>
                  </p:oleObj>
                </mc:Fallback>
              </mc:AlternateContent>
            </a:graphicData>
          </a:graphic>
        </p:graphicFrame>
        <p:graphicFrame>
          <p:nvGraphicFramePr>
            <p:cNvPr id="17" name="对象 375822">
              <a:extLst>
                <a:ext uri="{FF2B5EF4-FFF2-40B4-BE49-F238E27FC236}">
                  <a16:creationId xmlns="" xmlns:a16="http://schemas.microsoft.com/office/drawing/2014/main" id="{008F645F-6910-C483-AD47-EDF417A2AD93}"/>
                </a:ext>
              </a:extLst>
            </p:cNvPr>
            <p:cNvGraphicFramePr/>
            <p:nvPr/>
          </p:nvGraphicFramePr>
          <p:xfrm>
            <a:off x="964" y="3240"/>
            <a:ext cx="196" cy="221"/>
          </p:xfrm>
          <a:graphic>
            <a:graphicData uri="http://schemas.openxmlformats.org/presentationml/2006/ole">
              <mc:AlternateContent xmlns:mc="http://schemas.openxmlformats.org/markup-compatibility/2006">
                <mc:Choice xmlns:v="urn:schemas-microsoft-com:vml" Requires="v">
                  <p:oleObj spid="_x0000_s63729" r:id="rId12" imgW="203200" imgH="228600" progId="Equation.DSMT4">
                    <p:embed/>
                  </p:oleObj>
                </mc:Choice>
                <mc:Fallback>
                  <p:oleObj r:id="rId12" imgW="203200" imgH="228600" progId="Equation.DSMT4">
                    <p:embed/>
                    <p:pic>
                      <p:nvPicPr>
                        <p:cNvPr id="0" name=""/>
                        <p:cNvPicPr/>
                        <p:nvPr/>
                      </p:nvPicPr>
                      <p:blipFill>
                        <a:blip r:embed="rId13"/>
                        <a:stretch>
                          <a:fillRect/>
                        </a:stretch>
                      </p:blipFill>
                      <p:spPr>
                        <a:xfrm>
                          <a:off x="964" y="3240"/>
                          <a:ext cx="196" cy="221"/>
                        </a:xfrm>
                        <a:prstGeom prst="rect">
                          <a:avLst/>
                        </a:prstGeom>
                        <a:noFill/>
                        <a:ln w="38100">
                          <a:noFill/>
                          <a:miter/>
                        </a:ln>
                      </p:spPr>
                    </p:pic>
                  </p:oleObj>
                </mc:Fallback>
              </mc:AlternateContent>
            </a:graphicData>
          </a:graphic>
        </p:graphicFrame>
      </p:grpSp>
      <p:sp>
        <p:nvSpPr>
          <p:cNvPr id="18" name="矩形 17">
            <a:extLst>
              <a:ext uri="{FF2B5EF4-FFF2-40B4-BE49-F238E27FC236}">
                <a16:creationId xmlns="" xmlns:a16="http://schemas.microsoft.com/office/drawing/2014/main" id="{CC7DB3C9-18A0-D08C-A708-C59184E5096A}"/>
              </a:ext>
            </a:extLst>
          </p:cNvPr>
          <p:cNvSpPr/>
          <p:nvPr/>
        </p:nvSpPr>
        <p:spPr>
          <a:xfrm>
            <a:off x="3721216" y="1941102"/>
            <a:ext cx="555625" cy="644525"/>
          </a:xfrm>
          <a:prstGeom prst="rect">
            <a:avLst/>
          </a:prstGeom>
          <a:noFill/>
          <a:ln w="19050" cap="flat" cmpd="sng">
            <a:solidFill>
              <a:srgbClr val="FF0000"/>
            </a:solidFill>
            <a:prstDash val="dash"/>
            <a:miter/>
            <a:headEnd type="none" w="med" len="med"/>
            <a:tailEnd type="none" w="med" len="med"/>
          </a:ln>
        </p:spPr>
        <p:txBody>
          <a:bodyPr anchor="t" anchorCtr="0"/>
          <a:lstStyle/>
          <a:p>
            <a:endParaRPr lang="zh-CN" altLang="en-US" sz="2000" dirty="0">
              <a:solidFill>
                <a:schemeClr val="tx1"/>
              </a:solidFill>
              <a:latin typeface="Times New Roman" panose="02020603050405020304" pitchFamily="18" charset="0"/>
              <a:cs typeface="Times New Roman" panose="02020603050405020304" pitchFamily="18" charset="0"/>
            </a:endParaRPr>
          </a:p>
        </p:txBody>
      </p:sp>
      <p:sp>
        <p:nvSpPr>
          <p:cNvPr id="19" name="矩形 18">
            <a:extLst>
              <a:ext uri="{FF2B5EF4-FFF2-40B4-BE49-F238E27FC236}">
                <a16:creationId xmlns="" xmlns:a16="http://schemas.microsoft.com/office/drawing/2014/main" id="{22B44C95-A014-2507-A564-D1AF38451C69}"/>
              </a:ext>
            </a:extLst>
          </p:cNvPr>
          <p:cNvSpPr/>
          <p:nvPr/>
        </p:nvSpPr>
        <p:spPr>
          <a:xfrm>
            <a:off x="3380609" y="3524715"/>
            <a:ext cx="555625" cy="644525"/>
          </a:xfrm>
          <a:prstGeom prst="rect">
            <a:avLst/>
          </a:prstGeom>
          <a:noFill/>
          <a:ln w="19050" cap="flat" cmpd="sng">
            <a:solidFill>
              <a:srgbClr val="FF0000"/>
            </a:solidFill>
            <a:prstDash val="dash"/>
            <a:miter/>
            <a:headEnd type="none" w="med" len="med"/>
            <a:tailEnd type="none" w="med" len="med"/>
          </a:ln>
        </p:spPr>
        <p:txBody>
          <a:bodyPr anchor="t" anchorCtr="0"/>
          <a:lstStyle/>
          <a:p>
            <a:endParaRPr lang="zh-CN" altLang="en-US" sz="2000" dirty="0">
              <a:solidFill>
                <a:schemeClr val="tx1"/>
              </a:solidFill>
              <a:latin typeface="Times New Roman" panose="02020603050405020304" pitchFamily="18" charset="0"/>
              <a:cs typeface="Times New Roman" panose="02020603050405020304" pitchFamily="18" charset="0"/>
            </a:endParaRPr>
          </a:p>
        </p:txBody>
      </p:sp>
      <p:sp>
        <p:nvSpPr>
          <p:cNvPr id="20" name="矩形 19">
            <a:extLst>
              <a:ext uri="{FF2B5EF4-FFF2-40B4-BE49-F238E27FC236}">
                <a16:creationId xmlns="" xmlns:a16="http://schemas.microsoft.com/office/drawing/2014/main" id="{88CBCE92-55C7-1D81-819D-CAA24878187B}"/>
              </a:ext>
            </a:extLst>
          </p:cNvPr>
          <p:cNvSpPr/>
          <p:nvPr/>
        </p:nvSpPr>
        <p:spPr>
          <a:xfrm>
            <a:off x="4614852" y="3477022"/>
            <a:ext cx="370558" cy="625476"/>
          </a:xfrm>
          <a:prstGeom prst="rect">
            <a:avLst/>
          </a:prstGeom>
          <a:noFill/>
          <a:ln w="19050" cap="flat" cmpd="sng">
            <a:solidFill>
              <a:srgbClr val="FF0000"/>
            </a:solidFill>
            <a:prstDash val="dash"/>
            <a:miter/>
            <a:headEnd type="none" w="med" len="med"/>
            <a:tailEnd type="none" w="med" len="med"/>
          </a:ln>
        </p:spPr>
        <p:txBody>
          <a:bodyPr anchor="t" anchorCtr="0"/>
          <a:lstStyle/>
          <a:p>
            <a:endParaRPr lang="zh-CN" altLang="en-US" sz="2000" dirty="0">
              <a:solidFill>
                <a:schemeClr val="tx1"/>
              </a:solidFill>
              <a:latin typeface="Times New Roman" panose="02020603050405020304" pitchFamily="18" charset="0"/>
              <a:cs typeface="Times New Roman" panose="02020603050405020304" pitchFamily="18" charset="0"/>
            </a:endParaRPr>
          </a:p>
        </p:txBody>
      </p:sp>
      <p:sp>
        <p:nvSpPr>
          <p:cNvPr id="21" name="直接连接符 20">
            <a:extLst>
              <a:ext uri="{FF2B5EF4-FFF2-40B4-BE49-F238E27FC236}">
                <a16:creationId xmlns="" xmlns:a16="http://schemas.microsoft.com/office/drawing/2014/main" id="{4F53B3F4-4B89-0F71-425B-8EC0FE73E405}"/>
              </a:ext>
            </a:extLst>
          </p:cNvPr>
          <p:cNvSpPr/>
          <p:nvPr/>
        </p:nvSpPr>
        <p:spPr>
          <a:xfrm>
            <a:off x="6653907" y="1425603"/>
            <a:ext cx="0" cy="2819400"/>
          </a:xfrm>
          <a:prstGeom prst="line">
            <a:avLst/>
          </a:prstGeom>
          <a:ln w="25400" cap="flat" cmpd="sng">
            <a:solidFill>
              <a:srgbClr val="FF6600"/>
            </a:solidFill>
            <a:prstDash val="lgDash"/>
            <a:round/>
            <a:headEnd type="none" w="med" len="med"/>
            <a:tailEnd type="none" w="med" len="med"/>
          </a:ln>
        </p:spPr>
      </p:sp>
      <p:sp>
        <p:nvSpPr>
          <p:cNvPr id="22" name="矩形 21">
            <a:extLst>
              <a:ext uri="{FF2B5EF4-FFF2-40B4-BE49-F238E27FC236}">
                <a16:creationId xmlns="" xmlns:a16="http://schemas.microsoft.com/office/drawing/2014/main" id="{5BEE6935-58CE-DC9F-2B6D-44563979EA79}"/>
              </a:ext>
            </a:extLst>
          </p:cNvPr>
          <p:cNvSpPr/>
          <p:nvPr/>
        </p:nvSpPr>
        <p:spPr>
          <a:xfrm>
            <a:off x="4189197" y="3507316"/>
            <a:ext cx="328464" cy="625475"/>
          </a:xfrm>
          <a:prstGeom prst="rect">
            <a:avLst/>
          </a:prstGeom>
          <a:noFill/>
          <a:ln w="19050" cap="flat" cmpd="sng">
            <a:solidFill>
              <a:srgbClr val="FF0000"/>
            </a:solidFill>
            <a:prstDash val="dash"/>
            <a:miter/>
            <a:headEnd type="none" w="med" len="med"/>
            <a:tailEnd type="none" w="med" len="med"/>
          </a:ln>
        </p:spPr>
        <p:txBody>
          <a:bodyPr anchor="t" anchorCtr="0"/>
          <a:lstStyle/>
          <a:p>
            <a:endParaRPr lang="zh-CN" altLang="en-US" sz="2000" dirty="0">
              <a:solidFill>
                <a:schemeClr val="tx1"/>
              </a:solidFill>
              <a:latin typeface="Times New Roman" panose="02020603050405020304" pitchFamily="18" charset="0"/>
              <a:cs typeface="Times New Roman" panose="02020603050405020304" pitchFamily="18" charset="0"/>
            </a:endParaRPr>
          </a:p>
        </p:txBody>
      </p:sp>
      <p:sp>
        <p:nvSpPr>
          <p:cNvPr id="23" name="矩形 22">
            <a:extLst>
              <a:ext uri="{FF2B5EF4-FFF2-40B4-BE49-F238E27FC236}">
                <a16:creationId xmlns="" xmlns:a16="http://schemas.microsoft.com/office/drawing/2014/main" id="{95645065-F5ED-9B6E-903A-E00E1D8BA2BE}"/>
              </a:ext>
            </a:extLst>
          </p:cNvPr>
          <p:cNvSpPr/>
          <p:nvPr/>
        </p:nvSpPr>
        <p:spPr>
          <a:xfrm>
            <a:off x="5114406" y="3542176"/>
            <a:ext cx="469900" cy="644525"/>
          </a:xfrm>
          <a:prstGeom prst="rect">
            <a:avLst/>
          </a:prstGeom>
          <a:noFill/>
          <a:ln w="19050" cap="flat" cmpd="sng">
            <a:solidFill>
              <a:srgbClr val="FF0000"/>
            </a:solidFill>
            <a:prstDash val="dash"/>
            <a:miter/>
            <a:headEnd type="none" w="med" len="med"/>
            <a:tailEnd type="none" w="med" len="med"/>
          </a:ln>
        </p:spPr>
        <p:txBody>
          <a:bodyPr anchor="t" anchorCtr="0"/>
          <a:lstStyle/>
          <a:p>
            <a:endParaRPr lang="zh-CN" altLang="en-US" sz="2000" dirty="0">
              <a:solidFill>
                <a:schemeClr val="tx1"/>
              </a:solidFill>
              <a:latin typeface="Times New Roman" panose="02020603050405020304" pitchFamily="18" charset="0"/>
              <a:cs typeface="Times New Roman" panose="02020603050405020304" pitchFamily="18" charset="0"/>
            </a:endParaRPr>
          </a:p>
        </p:txBody>
      </p:sp>
      <p:sp>
        <p:nvSpPr>
          <p:cNvPr id="24" name="矩形 23">
            <a:extLst>
              <a:ext uri="{FF2B5EF4-FFF2-40B4-BE49-F238E27FC236}">
                <a16:creationId xmlns="" xmlns:a16="http://schemas.microsoft.com/office/drawing/2014/main" id="{3E7D982E-33AC-8F7D-91A7-AAFBC7527BE3}"/>
              </a:ext>
            </a:extLst>
          </p:cNvPr>
          <p:cNvSpPr/>
          <p:nvPr/>
        </p:nvSpPr>
        <p:spPr>
          <a:xfrm>
            <a:off x="5058545" y="1887531"/>
            <a:ext cx="793750" cy="1214438"/>
          </a:xfrm>
          <a:prstGeom prst="rect">
            <a:avLst/>
          </a:prstGeom>
          <a:noFill/>
          <a:ln w="19050" cap="flat" cmpd="sng">
            <a:solidFill>
              <a:srgbClr val="FF0000"/>
            </a:solidFill>
            <a:prstDash val="dash"/>
            <a:miter/>
            <a:headEnd type="none" w="med" len="med"/>
            <a:tailEnd type="none" w="med" len="med"/>
          </a:ln>
        </p:spPr>
        <p:txBody>
          <a:bodyPr anchor="t" anchorCtr="0"/>
          <a:lstStyle/>
          <a:p>
            <a:endParaRPr lang="zh-CN" altLang="en-US" sz="2000" dirty="0">
              <a:solidFill>
                <a:schemeClr val="tx1"/>
              </a:solidFill>
              <a:latin typeface="Times New Roman" panose="02020603050405020304" pitchFamily="18" charset="0"/>
              <a:cs typeface="Times New Roman" panose="02020603050405020304" pitchFamily="18" charset="0"/>
            </a:endParaRPr>
          </a:p>
        </p:txBody>
      </p:sp>
      <p:sp>
        <p:nvSpPr>
          <p:cNvPr id="25" name="矩形 24">
            <a:extLst>
              <a:ext uri="{FF2B5EF4-FFF2-40B4-BE49-F238E27FC236}">
                <a16:creationId xmlns="" xmlns:a16="http://schemas.microsoft.com/office/drawing/2014/main" id="{45FC2184-E296-D114-E8D5-E15ED15EA0A3}"/>
              </a:ext>
            </a:extLst>
          </p:cNvPr>
          <p:cNvSpPr/>
          <p:nvPr/>
        </p:nvSpPr>
        <p:spPr>
          <a:xfrm>
            <a:off x="61937" y="5559922"/>
            <a:ext cx="9082061" cy="707886"/>
          </a:xfrm>
          <a:prstGeom prst="rect">
            <a:avLst/>
          </a:prstGeom>
          <a:noFill/>
          <a:ln w="9525">
            <a:noFill/>
          </a:ln>
        </p:spPr>
        <p:txBody>
          <a:bodyPr wrap="square" anchor="t" anchorCtr="0">
            <a:spAutoFit/>
          </a:bodyPr>
          <a:lstStyle/>
          <a:p>
            <a:r>
              <a:rPr lang="en-US" altLang="zh-CN" sz="2000" b="1" dirty="0">
                <a:solidFill>
                  <a:schemeClr val="tx1"/>
                </a:solidFill>
                <a:latin typeface="Times New Roman" panose="02020603050405020304" pitchFamily="18" charset="0"/>
                <a:cs typeface="Times New Roman" panose="02020603050405020304" pitchFamily="18" charset="0"/>
              </a:rPr>
              <a:t>(4) </a:t>
            </a:r>
            <a:r>
              <a:rPr lang="zh-CN" altLang="en-US" sz="2000" b="1" dirty="0">
                <a:solidFill>
                  <a:schemeClr val="tx1"/>
                </a:solidFill>
                <a:latin typeface="Times New Roman" panose="02020603050405020304" pitchFamily="18" charset="0"/>
                <a:cs typeface="Times New Roman" panose="02020603050405020304" pitchFamily="18" charset="0"/>
              </a:rPr>
              <a:t>为了实现晶体管输出阻抗与负载之间的阻抗匹配，减少晶体管输出阻抗与负载对回路的影响，晶体管的输出及下一级放大器均通过阻抗变换电路接入。</a:t>
            </a:r>
          </a:p>
        </p:txBody>
      </p:sp>
      <p:sp>
        <p:nvSpPr>
          <p:cNvPr id="26" name="文本框 25">
            <a:extLst>
              <a:ext uri="{FF2B5EF4-FFF2-40B4-BE49-F238E27FC236}">
                <a16:creationId xmlns="" xmlns:a16="http://schemas.microsoft.com/office/drawing/2014/main" id="{4C02E9DA-8E49-C937-DBA0-A852EDB11E4D}"/>
              </a:ext>
            </a:extLst>
          </p:cNvPr>
          <p:cNvSpPr txBox="1"/>
          <p:nvPr/>
        </p:nvSpPr>
        <p:spPr>
          <a:xfrm>
            <a:off x="0" y="1172404"/>
            <a:ext cx="5943600" cy="462307"/>
          </a:xfrm>
          <a:prstGeom prst="rect">
            <a:avLst/>
          </a:prstGeom>
          <a:noFill/>
          <a:ln w="12700">
            <a:noFill/>
          </a:ln>
        </p:spPr>
        <p:txBody>
          <a:bodyPr lIns="92075" tIns="46038" rIns="92075" bIns="46038" anchor="t" anchorCtr="0">
            <a:spAutoFit/>
          </a:bodyPr>
          <a:lstStyle/>
          <a:p>
            <a:pPr eaLnBrk="0" hangingPunct="0">
              <a:spcBef>
                <a:spcPct val="50000"/>
              </a:spcBef>
            </a:pPr>
            <a:r>
              <a:rPr lang="zh-CN" altLang="en-US" sz="2400" b="1" dirty="0">
                <a:solidFill>
                  <a:schemeClr val="tx1"/>
                </a:solidFill>
                <a:latin typeface="Times New Roman" panose="02020603050405020304" pitchFamily="18" charset="0"/>
                <a:cs typeface="Times New Roman" panose="02020603050405020304" pitchFamily="18" charset="0"/>
              </a:rPr>
              <a:t>二、单调谐回路谐振放大器</a:t>
            </a:r>
          </a:p>
        </p:txBody>
      </p:sp>
      <p:sp>
        <p:nvSpPr>
          <p:cNvPr id="27" name="矩形 26">
            <a:extLst>
              <a:ext uri="{FF2B5EF4-FFF2-40B4-BE49-F238E27FC236}">
                <a16:creationId xmlns="" xmlns:a16="http://schemas.microsoft.com/office/drawing/2014/main" id="{C1C74572-F676-DFD1-BD68-F27402643D8D}"/>
              </a:ext>
            </a:extLst>
          </p:cNvPr>
          <p:cNvSpPr/>
          <p:nvPr/>
        </p:nvSpPr>
        <p:spPr>
          <a:xfrm>
            <a:off x="5122640" y="4354599"/>
            <a:ext cx="4055107" cy="400110"/>
          </a:xfrm>
          <a:prstGeom prst="rect">
            <a:avLst/>
          </a:prstGeom>
          <a:noFill/>
          <a:ln w="9525">
            <a:noFill/>
          </a:ln>
        </p:spPr>
        <p:txBody>
          <a:bodyPr wrap="square" anchor="t" anchorCtr="0">
            <a:spAutoFit/>
          </a:bodyPr>
          <a:lstStyle/>
          <a:p>
            <a:r>
              <a:rPr lang="zh-CN" altLang="en-US" sz="2000" b="1" dirty="0">
                <a:solidFill>
                  <a:schemeClr val="tx1"/>
                </a:solidFill>
                <a:latin typeface="Times New Roman" panose="02020603050405020304" pitchFamily="18" charset="0"/>
                <a:cs typeface="Times New Roman" panose="02020603050405020304" pitchFamily="18" charset="0"/>
              </a:rPr>
              <a:t>用以保证放大器工作在</a:t>
            </a:r>
            <a:r>
              <a:rPr lang="en-US" altLang="zh-CN" sz="2000" b="1" dirty="0">
                <a:solidFill>
                  <a:schemeClr val="tx1"/>
                </a:solidFill>
                <a:latin typeface="Times New Roman" panose="02020603050405020304" pitchFamily="18" charset="0"/>
                <a:cs typeface="Times New Roman" panose="02020603050405020304" pitchFamily="18" charset="0"/>
              </a:rPr>
              <a:t>A</a:t>
            </a:r>
            <a:r>
              <a:rPr lang="zh-CN" altLang="en-US" sz="2000" b="1" dirty="0">
                <a:solidFill>
                  <a:schemeClr val="tx1"/>
                </a:solidFill>
                <a:latin typeface="Times New Roman" panose="02020603050405020304" pitchFamily="18" charset="0"/>
                <a:cs typeface="Times New Roman" panose="02020603050405020304" pitchFamily="18" charset="0"/>
              </a:rPr>
              <a:t>类状态。</a:t>
            </a:r>
          </a:p>
        </p:txBody>
      </p:sp>
    </p:spTree>
    <p:extLst>
      <p:ext uri="{BB962C8B-B14F-4D97-AF65-F5344CB8AC3E}">
        <p14:creationId xmlns:p14="http://schemas.microsoft.com/office/powerpoint/2010/main" val="732658625"/>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88</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3.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高频</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小信号</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放大器</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5" name="图片 4">
            <a:extLst>
              <a:ext uri="{FF2B5EF4-FFF2-40B4-BE49-F238E27FC236}">
                <a16:creationId xmlns="" xmlns:a16="http://schemas.microsoft.com/office/drawing/2014/main" id="{F24401AA-58B1-010D-B03E-5E4012FC94C8}"/>
              </a:ext>
            </a:extLst>
          </p:cNvPr>
          <p:cNvPicPr>
            <a:picLocks noChangeAspect="1"/>
          </p:cNvPicPr>
          <p:nvPr/>
        </p:nvPicPr>
        <p:blipFill>
          <a:blip r:embed="rId3"/>
          <a:stretch>
            <a:fillRect/>
          </a:stretch>
        </p:blipFill>
        <p:spPr>
          <a:xfrm>
            <a:off x="323514" y="4334642"/>
            <a:ext cx="5661025" cy="2133600"/>
          </a:xfrm>
          <a:prstGeom prst="rect">
            <a:avLst/>
          </a:prstGeom>
          <a:noFill/>
          <a:ln w="9525">
            <a:noFill/>
          </a:ln>
        </p:spPr>
      </p:pic>
      <p:grpSp>
        <p:nvGrpSpPr>
          <p:cNvPr id="6" name="组合 378882">
            <a:extLst>
              <a:ext uri="{FF2B5EF4-FFF2-40B4-BE49-F238E27FC236}">
                <a16:creationId xmlns="" xmlns:a16="http://schemas.microsoft.com/office/drawing/2014/main" id="{AB66A5E5-0F1B-1FA9-9F2E-1C12155A1D11}"/>
              </a:ext>
            </a:extLst>
          </p:cNvPr>
          <p:cNvGrpSpPr/>
          <p:nvPr/>
        </p:nvGrpSpPr>
        <p:grpSpPr>
          <a:xfrm>
            <a:off x="683568" y="1163637"/>
            <a:ext cx="4831198" cy="2289151"/>
            <a:chOff x="2434" y="396"/>
            <a:chExt cx="3326" cy="1674"/>
          </a:xfrm>
        </p:grpSpPr>
        <p:grpSp>
          <p:nvGrpSpPr>
            <p:cNvPr id="7" name="组合 378883">
              <a:extLst>
                <a:ext uri="{FF2B5EF4-FFF2-40B4-BE49-F238E27FC236}">
                  <a16:creationId xmlns="" xmlns:a16="http://schemas.microsoft.com/office/drawing/2014/main" id="{86EF12AD-BE47-B638-4084-F086138DF9F4}"/>
                </a:ext>
              </a:extLst>
            </p:cNvPr>
            <p:cNvGrpSpPr/>
            <p:nvPr/>
          </p:nvGrpSpPr>
          <p:grpSpPr>
            <a:xfrm>
              <a:off x="2434" y="546"/>
              <a:ext cx="2022" cy="1524"/>
              <a:chOff x="1060" y="2346"/>
              <a:chExt cx="2106" cy="1608"/>
            </a:xfrm>
          </p:grpSpPr>
          <p:pic>
            <p:nvPicPr>
              <p:cNvPr id="9" name="图片 378884">
                <a:extLst>
                  <a:ext uri="{FF2B5EF4-FFF2-40B4-BE49-F238E27FC236}">
                    <a16:creationId xmlns="" xmlns:a16="http://schemas.microsoft.com/office/drawing/2014/main" id="{84C15A64-6C0A-F0D8-FB55-9D4E8300B739}"/>
                  </a:ext>
                </a:extLst>
              </p:cNvPr>
              <p:cNvPicPr>
                <a:picLocks noChangeAspect="1"/>
              </p:cNvPicPr>
              <p:nvPr/>
            </p:nvPicPr>
            <p:blipFill>
              <a:blip r:embed="rId4">
                <a:biLevel thresh="75000"/>
              </a:blip>
              <a:srcRect r="1683"/>
              <a:stretch>
                <a:fillRect/>
              </a:stretch>
            </p:blipFill>
            <p:spPr>
              <a:xfrm>
                <a:off x="1063" y="2346"/>
                <a:ext cx="2103" cy="1608"/>
              </a:xfrm>
              <a:prstGeom prst="rect">
                <a:avLst/>
              </a:prstGeom>
              <a:solidFill>
                <a:srgbClr val="00CCFF">
                  <a:alpha val="23137"/>
                </a:srgbClr>
              </a:solidFill>
              <a:ln w="9525">
                <a:noFill/>
              </a:ln>
            </p:spPr>
          </p:pic>
          <p:sp>
            <p:nvSpPr>
              <p:cNvPr id="10" name="椭圆 378885">
                <a:extLst>
                  <a:ext uri="{FF2B5EF4-FFF2-40B4-BE49-F238E27FC236}">
                    <a16:creationId xmlns="" xmlns:a16="http://schemas.microsoft.com/office/drawing/2014/main" id="{BC98A3FA-C049-C881-F168-1D62710372C2}"/>
                  </a:ext>
                </a:extLst>
              </p:cNvPr>
              <p:cNvSpPr/>
              <p:nvPr/>
            </p:nvSpPr>
            <p:spPr>
              <a:xfrm>
                <a:off x="1062" y="2688"/>
                <a:ext cx="50" cy="78"/>
              </a:xfrm>
              <a:prstGeom prst="ellipse">
                <a:avLst/>
              </a:prstGeom>
              <a:solidFill>
                <a:srgbClr val="00CCFF">
                  <a:alpha val="23137"/>
                </a:srgbClr>
              </a:solidFill>
              <a:ln w="25400" cap="flat" cmpd="sng">
                <a:solidFill>
                  <a:schemeClr val="tx1"/>
                </a:solidFill>
                <a:prstDash val="solid"/>
                <a:round/>
                <a:headEnd type="none" w="med" len="med"/>
                <a:tailEnd type="none" w="med" len="med"/>
              </a:ln>
            </p:spPr>
            <p:txBody>
              <a:bodyPr anchor="t" anchorCtr="0"/>
              <a:lstStyle/>
              <a:p>
                <a:endParaRPr lang="zh-CN" altLang="en-US" dirty="0">
                  <a:latin typeface="Times New Roman" panose="02020603050405020304" pitchFamily="18" charset="0"/>
                  <a:ea typeface="宋体" panose="02010600030101010101" pitchFamily="2" charset="-122"/>
                </a:endParaRPr>
              </a:p>
            </p:txBody>
          </p:sp>
          <p:sp>
            <p:nvSpPr>
              <p:cNvPr id="11" name="椭圆 378886">
                <a:extLst>
                  <a:ext uri="{FF2B5EF4-FFF2-40B4-BE49-F238E27FC236}">
                    <a16:creationId xmlns="" xmlns:a16="http://schemas.microsoft.com/office/drawing/2014/main" id="{B28F9400-67B3-8E7B-C783-416377E83782}"/>
                  </a:ext>
                </a:extLst>
              </p:cNvPr>
              <p:cNvSpPr/>
              <p:nvPr/>
            </p:nvSpPr>
            <p:spPr>
              <a:xfrm>
                <a:off x="1060" y="3802"/>
                <a:ext cx="50" cy="78"/>
              </a:xfrm>
              <a:prstGeom prst="ellipse">
                <a:avLst/>
              </a:prstGeom>
              <a:solidFill>
                <a:srgbClr val="00CCFF">
                  <a:alpha val="23137"/>
                </a:srgbClr>
              </a:solidFill>
              <a:ln w="25400" cap="flat" cmpd="sng">
                <a:solidFill>
                  <a:schemeClr val="tx1"/>
                </a:solidFill>
                <a:prstDash val="solid"/>
                <a:round/>
                <a:headEnd type="none" w="med" len="med"/>
                <a:tailEnd type="none" w="med" len="med"/>
              </a:ln>
            </p:spPr>
            <p:txBody>
              <a:bodyPr anchor="t" anchorCtr="0"/>
              <a:lstStyle/>
              <a:p>
                <a:endParaRPr lang="zh-CN" altLang="en-US" dirty="0">
                  <a:latin typeface="Times New Roman" panose="02020603050405020304" pitchFamily="18" charset="0"/>
                  <a:ea typeface="宋体" panose="02010600030101010101" pitchFamily="2" charset="-122"/>
                </a:endParaRPr>
              </a:p>
            </p:txBody>
          </p:sp>
        </p:grpSp>
        <p:pic>
          <p:nvPicPr>
            <p:cNvPr id="8" name="图片 378887">
              <a:extLst>
                <a:ext uri="{FF2B5EF4-FFF2-40B4-BE49-F238E27FC236}">
                  <a16:creationId xmlns="" xmlns:a16="http://schemas.microsoft.com/office/drawing/2014/main" id="{0604213F-133B-7CD4-88E4-15AEE487768B}"/>
                </a:ext>
              </a:extLst>
            </p:cNvPr>
            <p:cNvPicPr>
              <a:picLocks noChangeAspect="1"/>
            </p:cNvPicPr>
            <p:nvPr/>
          </p:nvPicPr>
          <p:blipFill>
            <a:blip r:embed="rId5">
              <a:biLevel thresh="75000"/>
            </a:blip>
            <a:stretch>
              <a:fillRect/>
            </a:stretch>
          </p:blipFill>
          <p:spPr>
            <a:xfrm>
              <a:off x="4434" y="396"/>
              <a:ext cx="1326" cy="1640"/>
            </a:xfrm>
            <a:prstGeom prst="rect">
              <a:avLst/>
            </a:prstGeom>
            <a:noFill/>
            <a:ln w="9525">
              <a:noFill/>
            </a:ln>
          </p:spPr>
        </p:pic>
      </p:grpSp>
      <p:sp>
        <p:nvSpPr>
          <p:cNvPr id="12" name="矩形 11">
            <a:extLst>
              <a:ext uri="{FF2B5EF4-FFF2-40B4-BE49-F238E27FC236}">
                <a16:creationId xmlns="" xmlns:a16="http://schemas.microsoft.com/office/drawing/2014/main" id="{2F05565C-4F19-1A4B-89DC-0707865E8BC7}"/>
              </a:ext>
            </a:extLst>
          </p:cNvPr>
          <p:cNvSpPr/>
          <p:nvPr/>
        </p:nvSpPr>
        <p:spPr>
          <a:xfrm>
            <a:off x="2900512" y="3652018"/>
            <a:ext cx="3860800" cy="396875"/>
          </a:xfrm>
          <a:prstGeom prst="rect">
            <a:avLst/>
          </a:prstGeom>
          <a:noFill/>
          <a:ln w="9525">
            <a:noFill/>
          </a:ln>
        </p:spPr>
        <p:txBody>
          <a:bodyPr wrap="none" anchor="ctr" anchorCtr="0">
            <a:spAutoFit/>
          </a:bodyPr>
          <a:lstStyle/>
          <a:p>
            <a:r>
              <a:rPr lang="zh-CN" altLang="en-US" sz="2000" b="1" dirty="0">
                <a:solidFill>
                  <a:schemeClr val="tx1"/>
                </a:solidFill>
                <a:latin typeface="Times New Roman" panose="02020603050405020304" pitchFamily="18" charset="0"/>
                <a:ea typeface="宋体" panose="02010600030101010101" pitchFamily="2" charset="-122"/>
              </a:rPr>
              <a:t>将所有参数折合到</a:t>
            </a:r>
            <a:r>
              <a:rPr lang="en-US" altLang="zh-CN" sz="2000" b="1" dirty="0">
                <a:solidFill>
                  <a:schemeClr val="tx1"/>
                </a:solidFill>
                <a:latin typeface="Times New Roman" panose="02020603050405020304" pitchFamily="18" charset="0"/>
                <a:ea typeface="宋体" panose="02010600030101010101" pitchFamily="2" charset="-122"/>
              </a:rPr>
              <a:t>LC</a:t>
            </a:r>
            <a:r>
              <a:rPr lang="zh-CN" altLang="en-US" sz="2000" b="1" dirty="0">
                <a:solidFill>
                  <a:schemeClr val="tx1"/>
                </a:solidFill>
                <a:latin typeface="Times New Roman" panose="02020603050405020304" pitchFamily="18" charset="0"/>
                <a:ea typeface="宋体" panose="02010600030101010101" pitchFamily="2" charset="-122"/>
              </a:rPr>
              <a:t>回路两端，</a:t>
            </a:r>
          </a:p>
        </p:txBody>
      </p:sp>
      <p:graphicFrame>
        <p:nvGraphicFramePr>
          <p:cNvPr id="13" name="内容占位符 378890">
            <a:extLst>
              <a:ext uri="{FF2B5EF4-FFF2-40B4-BE49-F238E27FC236}">
                <a16:creationId xmlns="" xmlns:a16="http://schemas.microsoft.com/office/drawing/2014/main" id="{F8BA635C-F24A-79A2-2E3F-655F8AEBB535}"/>
              </a:ext>
            </a:extLst>
          </p:cNvPr>
          <p:cNvGraphicFramePr>
            <a:graphicFrameLocks/>
          </p:cNvGraphicFramePr>
          <p:nvPr>
            <p:extLst>
              <p:ext uri="{D42A27DB-BD31-4B8C-83A1-F6EECF244321}">
                <p14:modId xmlns:p14="http://schemas.microsoft.com/office/powerpoint/2010/main" val="38237727"/>
              </p:ext>
            </p:extLst>
          </p:nvPr>
        </p:nvGraphicFramePr>
        <p:xfrm>
          <a:off x="6499375" y="1711300"/>
          <a:ext cx="901700" cy="649288"/>
        </p:xfrm>
        <a:graphic>
          <a:graphicData uri="http://schemas.openxmlformats.org/presentationml/2006/ole">
            <mc:AlternateContent xmlns:mc="http://schemas.openxmlformats.org/markup-compatibility/2006">
              <mc:Choice xmlns:v="urn:schemas-microsoft-com:vml" Requires="v">
                <p:oleObj spid="_x0000_s64702" r:id="rId6" imgW="609600" imgH="444500" progId="Equation.3">
                  <p:embed/>
                </p:oleObj>
              </mc:Choice>
              <mc:Fallback>
                <p:oleObj r:id="rId6" imgW="609600" imgH="444500" progId="Equation.3">
                  <p:embed/>
                  <p:pic>
                    <p:nvPicPr>
                      <p:cNvPr id="0" name=""/>
                      <p:cNvPicPr/>
                      <p:nvPr/>
                    </p:nvPicPr>
                    <p:blipFill>
                      <a:blip r:embed="rId7"/>
                      <a:stretch>
                        <a:fillRect/>
                      </a:stretch>
                    </p:blipFill>
                    <p:spPr>
                      <a:xfrm>
                        <a:off x="6499375" y="1711300"/>
                        <a:ext cx="901700" cy="649288"/>
                      </a:xfrm>
                      <a:prstGeom prst="rect">
                        <a:avLst/>
                      </a:prstGeom>
                      <a:gradFill rotWithShape="1">
                        <a:gsLst>
                          <a:gs pos="0">
                            <a:srgbClr val="FF99FF"/>
                          </a:gs>
                          <a:gs pos="50000">
                            <a:schemeClr val="bg1"/>
                          </a:gs>
                          <a:gs pos="100000">
                            <a:srgbClr val="FF99FF"/>
                          </a:gs>
                        </a:gsLst>
                        <a:lin ang="5400000" scaled="1"/>
                        <a:tileRect/>
                      </a:gradFill>
                      <a:ln w="38100">
                        <a:noFill/>
                        <a:miter/>
                      </a:ln>
                    </p:spPr>
                  </p:pic>
                </p:oleObj>
              </mc:Fallback>
            </mc:AlternateContent>
          </a:graphicData>
        </a:graphic>
      </p:graphicFrame>
      <p:graphicFrame>
        <p:nvGraphicFramePr>
          <p:cNvPr id="14" name="内容占位符 378891">
            <a:extLst>
              <a:ext uri="{FF2B5EF4-FFF2-40B4-BE49-F238E27FC236}">
                <a16:creationId xmlns="" xmlns:a16="http://schemas.microsoft.com/office/drawing/2014/main" id="{DF103F07-DDD3-AA5B-C38D-8D4FEDF0D42E}"/>
              </a:ext>
            </a:extLst>
          </p:cNvPr>
          <p:cNvGraphicFramePr>
            <a:graphicFrameLocks/>
          </p:cNvGraphicFramePr>
          <p:nvPr>
            <p:extLst>
              <p:ext uri="{D42A27DB-BD31-4B8C-83A1-F6EECF244321}">
                <p14:modId xmlns:p14="http://schemas.microsoft.com/office/powerpoint/2010/main" val="118234626"/>
              </p:ext>
            </p:extLst>
          </p:nvPr>
        </p:nvGraphicFramePr>
        <p:xfrm>
          <a:off x="6540164" y="5315717"/>
          <a:ext cx="1468438" cy="768350"/>
        </p:xfrm>
        <a:graphic>
          <a:graphicData uri="http://schemas.openxmlformats.org/presentationml/2006/ole">
            <mc:AlternateContent xmlns:mc="http://schemas.openxmlformats.org/markup-compatibility/2006">
              <mc:Choice xmlns:v="urn:schemas-microsoft-com:vml" Requires="v">
                <p:oleObj spid="_x0000_s64703" r:id="rId8" imgW="825500" imgH="431800" progId="Equation.3">
                  <p:embed/>
                </p:oleObj>
              </mc:Choice>
              <mc:Fallback>
                <p:oleObj r:id="rId8" imgW="825500" imgH="431800" progId="Equation.3">
                  <p:embed/>
                  <p:pic>
                    <p:nvPicPr>
                      <p:cNvPr id="0" name=""/>
                      <p:cNvPicPr/>
                      <p:nvPr/>
                    </p:nvPicPr>
                    <p:blipFill>
                      <a:blip r:embed="rId9"/>
                      <a:stretch>
                        <a:fillRect/>
                      </a:stretch>
                    </p:blipFill>
                    <p:spPr>
                      <a:xfrm>
                        <a:off x="6540164" y="5315717"/>
                        <a:ext cx="1468438" cy="768350"/>
                      </a:xfrm>
                      <a:prstGeom prst="rect">
                        <a:avLst/>
                      </a:prstGeom>
                      <a:gradFill rotWithShape="1">
                        <a:gsLst>
                          <a:gs pos="0">
                            <a:srgbClr val="FF99FF"/>
                          </a:gs>
                          <a:gs pos="50000">
                            <a:schemeClr val="bg1"/>
                          </a:gs>
                          <a:gs pos="100000">
                            <a:srgbClr val="FF99FF"/>
                          </a:gs>
                        </a:gsLst>
                        <a:lin ang="5400000" scaled="1"/>
                        <a:tileRect/>
                      </a:gradFill>
                      <a:ln w="38100">
                        <a:noFill/>
                        <a:miter/>
                      </a:ln>
                    </p:spPr>
                  </p:pic>
                </p:oleObj>
              </mc:Fallback>
            </mc:AlternateContent>
          </a:graphicData>
        </a:graphic>
      </p:graphicFrame>
      <p:sp>
        <p:nvSpPr>
          <p:cNvPr id="15" name="矩形 14">
            <a:extLst>
              <a:ext uri="{FF2B5EF4-FFF2-40B4-BE49-F238E27FC236}">
                <a16:creationId xmlns="" xmlns:a16="http://schemas.microsoft.com/office/drawing/2014/main" id="{A714A2AC-478B-4B84-78C8-019A16DA9B18}"/>
              </a:ext>
            </a:extLst>
          </p:cNvPr>
          <p:cNvSpPr/>
          <p:nvPr/>
        </p:nvSpPr>
        <p:spPr>
          <a:xfrm>
            <a:off x="6002487" y="1273150"/>
            <a:ext cx="2263775" cy="396875"/>
          </a:xfrm>
          <a:prstGeom prst="rect">
            <a:avLst/>
          </a:prstGeom>
          <a:noFill/>
          <a:ln w="9525">
            <a:noFill/>
          </a:ln>
        </p:spPr>
        <p:txBody>
          <a:bodyPr anchor="ctr" anchorCtr="0">
            <a:spAutoFit/>
          </a:bodyPr>
          <a:lstStyle/>
          <a:p>
            <a:r>
              <a:rPr lang="zh-CN" altLang="en-US" sz="2000" b="1" dirty="0">
                <a:solidFill>
                  <a:schemeClr val="tx1"/>
                </a:solidFill>
                <a:latin typeface="Times New Roman" panose="02020603050405020304" pitchFamily="18" charset="0"/>
                <a:ea typeface="宋体" panose="02010600030101010101" pitchFamily="2" charset="-122"/>
              </a:rPr>
              <a:t>集电极的接入系数 </a:t>
            </a:r>
          </a:p>
        </p:txBody>
      </p:sp>
      <p:sp>
        <p:nvSpPr>
          <p:cNvPr id="16" name="矩形 15">
            <a:extLst>
              <a:ext uri="{FF2B5EF4-FFF2-40B4-BE49-F238E27FC236}">
                <a16:creationId xmlns="" xmlns:a16="http://schemas.microsoft.com/office/drawing/2014/main" id="{4DC80E46-E428-BC50-8BD2-C98C2E1D8C32}"/>
              </a:ext>
            </a:extLst>
          </p:cNvPr>
          <p:cNvSpPr/>
          <p:nvPr/>
        </p:nvSpPr>
        <p:spPr>
          <a:xfrm>
            <a:off x="1403014" y="6358705"/>
            <a:ext cx="2484438" cy="396875"/>
          </a:xfrm>
          <a:prstGeom prst="rect">
            <a:avLst/>
          </a:prstGeom>
          <a:noFill/>
          <a:ln w="9525">
            <a:noFill/>
          </a:ln>
        </p:spPr>
        <p:txBody>
          <a:bodyPr wrap="none" anchor="ctr" anchorCtr="0">
            <a:spAutoFit/>
          </a:bodyPr>
          <a:lstStyle/>
          <a:p>
            <a:r>
              <a:rPr lang="zh-CN" altLang="en-US" sz="2000" b="1" dirty="0">
                <a:solidFill>
                  <a:schemeClr val="tx1"/>
                </a:solidFill>
                <a:latin typeface="Times New Roman" panose="02020603050405020304" pitchFamily="18" charset="0"/>
                <a:ea typeface="宋体" panose="02010600030101010101" pitchFamily="2" charset="-122"/>
              </a:rPr>
              <a:t>简化的高频等效电路</a:t>
            </a:r>
          </a:p>
        </p:txBody>
      </p:sp>
      <p:sp>
        <p:nvSpPr>
          <p:cNvPr id="17" name="矩形 16">
            <a:extLst>
              <a:ext uri="{FF2B5EF4-FFF2-40B4-BE49-F238E27FC236}">
                <a16:creationId xmlns="" xmlns:a16="http://schemas.microsoft.com/office/drawing/2014/main" id="{79BF5127-FA56-1E0B-A182-ACDE54479717}"/>
              </a:ext>
            </a:extLst>
          </p:cNvPr>
          <p:cNvSpPr/>
          <p:nvPr/>
        </p:nvSpPr>
        <p:spPr>
          <a:xfrm>
            <a:off x="2498389" y="4706117"/>
            <a:ext cx="1341438" cy="1592263"/>
          </a:xfrm>
          <a:prstGeom prst="rect">
            <a:avLst/>
          </a:prstGeom>
          <a:noFill/>
          <a:ln w="22225" cap="flat" cmpd="sng">
            <a:solidFill>
              <a:srgbClr val="FF0000"/>
            </a:solidFill>
            <a:prstDash val="dash"/>
            <a:miter/>
            <a:headEnd type="none" w="med" len="med"/>
            <a:tailEnd type="none" w="med" len="med"/>
          </a:ln>
        </p:spPr>
        <p:txBody>
          <a:bodyPr anchor="t" anchorCtr="0"/>
          <a:lstStyle/>
          <a:p>
            <a:endParaRPr lang="zh-CN" altLang="en-US" dirty="0">
              <a:latin typeface="Times New Roman" panose="02020603050405020304" pitchFamily="18" charset="0"/>
              <a:ea typeface="宋体" panose="02010600030101010101" pitchFamily="2" charset="-122"/>
            </a:endParaRPr>
          </a:p>
        </p:txBody>
      </p:sp>
      <p:sp>
        <p:nvSpPr>
          <p:cNvPr id="18" name="矩形 17">
            <a:extLst>
              <a:ext uri="{FF2B5EF4-FFF2-40B4-BE49-F238E27FC236}">
                <a16:creationId xmlns="" xmlns:a16="http://schemas.microsoft.com/office/drawing/2014/main" id="{8FC02413-B6D9-0E0A-42D1-A1A1F6CA09B4}"/>
              </a:ext>
            </a:extLst>
          </p:cNvPr>
          <p:cNvSpPr/>
          <p:nvPr/>
        </p:nvSpPr>
        <p:spPr>
          <a:xfrm>
            <a:off x="5984539" y="2332806"/>
            <a:ext cx="2036762" cy="396875"/>
          </a:xfrm>
          <a:prstGeom prst="rect">
            <a:avLst/>
          </a:prstGeom>
          <a:noFill/>
          <a:ln w="9525">
            <a:noFill/>
          </a:ln>
        </p:spPr>
        <p:txBody>
          <a:bodyPr wrap="none" anchor="ctr" anchorCtr="0">
            <a:spAutoFit/>
          </a:bodyPr>
          <a:lstStyle/>
          <a:p>
            <a:r>
              <a:rPr lang="zh-CN" altLang="en-US" sz="2000" b="1" dirty="0">
                <a:solidFill>
                  <a:schemeClr val="tx1"/>
                </a:solidFill>
                <a:latin typeface="Times New Roman" panose="02020603050405020304" pitchFamily="18" charset="0"/>
                <a:ea typeface="宋体" panose="02010600030101010101" pitchFamily="2" charset="-122"/>
              </a:rPr>
              <a:t>负载的接入系数 </a:t>
            </a:r>
          </a:p>
        </p:txBody>
      </p:sp>
      <p:grpSp>
        <p:nvGrpSpPr>
          <p:cNvPr id="19" name="组合 18">
            <a:extLst>
              <a:ext uri="{FF2B5EF4-FFF2-40B4-BE49-F238E27FC236}">
                <a16:creationId xmlns="" xmlns:a16="http://schemas.microsoft.com/office/drawing/2014/main" id="{61F559EC-02D6-D5B1-9231-E41EE6F98302}"/>
              </a:ext>
            </a:extLst>
          </p:cNvPr>
          <p:cNvGrpSpPr/>
          <p:nvPr/>
        </p:nvGrpSpPr>
        <p:grpSpPr>
          <a:xfrm>
            <a:off x="6030577" y="4704530"/>
            <a:ext cx="2508250" cy="401637"/>
            <a:chOff x="3480" y="1331"/>
            <a:chExt cx="1580" cy="253"/>
          </a:xfrm>
        </p:grpSpPr>
        <p:graphicFrame>
          <p:nvGraphicFramePr>
            <p:cNvPr id="20" name="对象 378899">
              <a:extLst>
                <a:ext uri="{FF2B5EF4-FFF2-40B4-BE49-F238E27FC236}">
                  <a16:creationId xmlns="" xmlns:a16="http://schemas.microsoft.com/office/drawing/2014/main" id="{3DFC023C-9B59-2D10-62E6-E739FB6697BD}"/>
                </a:ext>
              </a:extLst>
            </p:cNvPr>
            <p:cNvGraphicFramePr/>
            <p:nvPr/>
          </p:nvGraphicFramePr>
          <p:xfrm>
            <a:off x="3480" y="1334"/>
            <a:ext cx="208" cy="250"/>
          </p:xfrm>
          <a:graphic>
            <a:graphicData uri="http://schemas.openxmlformats.org/presentationml/2006/ole">
              <mc:AlternateContent xmlns:mc="http://schemas.openxmlformats.org/markup-compatibility/2006">
                <mc:Choice xmlns:v="urn:schemas-microsoft-com:vml" Requires="v">
                  <p:oleObj spid="_x0000_s64704" r:id="rId10" imgW="190500" imgH="228600" progId="Equation.3">
                    <p:embed/>
                  </p:oleObj>
                </mc:Choice>
                <mc:Fallback>
                  <p:oleObj r:id="rId10" imgW="190500" imgH="228600" progId="Equation.3">
                    <p:embed/>
                    <p:pic>
                      <p:nvPicPr>
                        <p:cNvPr id="0" name=""/>
                        <p:cNvPicPr/>
                        <p:nvPr/>
                      </p:nvPicPr>
                      <p:blipFill>
                        <a:blip r:embed="rId11"/>
                        <a:stretch>
                          <a:fillRect/>
                        </a:stretch>
                      </p:blipFill>
                      <p:spPr>
                        <a:xfrm>
                          <a:off x="3480" y="1334"/>
                          <a:ext cx="208" cy="250"/>
                        </a:xfrm>
                        <a:prstGeom prst="rect">
                          <a:avLst/>
                        </a:prstGeom>
                        <a:noFill/>
                        <a:ln w="38100">
                          <a:noFill/>
                          <a:miter/>
                        </a:ln>
                      </p:spPr>
                    </p:pic>
                  </p:oleObj>
                </mc:Fallback>
              </mc:AlternateContent>
            </a:graphicData>
          </a:graphic>
        </p:graphicFrame>
        <p:sp>
          <p:nvSpPr>
            <p:cNvPr id="21" name="矩形 378900">
              <a:extLst>
                <a:ext uri="{FF2B5EF4-FFF2-40B4-BE49-F238E27FC236}">
                  <a16:creationId xmlns="" xmlns:a16="http://schemas.microsoft.com/office/drawing/2014/main" id="{75A3EB09-BD09-D779-F964-882FF5A48AB5}"/>
                </a:ext>
              </a:extLst>
            </p:cNvPr>
            <p:cNvSpPr/>
            <p:nvPr/>
          </p:nvSpPr>
          <p:spPr>
            <a:xfrm>
              <a:off x="3616" y="1331"/>
              <a:ext cx="1444" cy="250"/>
            </a:xfrm>
            <a:prstGeom prst="rect">
              <a:avLst/>
            </a:prstGeom>
            <a:noFill/>
            <a:ln w="9525">
              <a:noFill/>
            </a:ln>
          </p:spPr>
          <p:txBody>
            <a:bodyPr wrap="none" anchor="ctr" anchorCtr="0">
              <a:spAutoFit/>
            </a:bodyPr>
            <a:lstStyle/>
            <a:p>
              <a:r>
                <a:rPr lang="zh-CN" altLang="en-US" sz="2000" b="1" dirty="0">
                  <a:solidFill>
                    <a:srgbClr val="3333FF"/>
                  </a:solidFill>
                  <a:latin typeface="Times New Roman" panose="02020603050405020304" pitchFamily="18" charset="0"/>
                  <a:ea typeface="宋体" panose="02010600030101010101" pitchFamily="2" charset="-122"/>
                </a:rPr>
                <a:t>为回路本身的损耗 </a:t>
              </a:r>
            </a:p>
          </p:txBody>
        </p:sp>
      </p:grpSp>
      <p:graphicFrame>
        <p:nvGraphicFramePr>
          <p:cNvPr id="22" name="内容占位符 378901">
            <a:extLst>
              <a:ext uri="{FF2B5EF4-FFF2-40B4-BE49-F238E27FC236}">
                <a16:creationId xmlns="" xmlns:a16="http://schemas.microsoft.com/office/drawing/2014/main" id="{862EFA9F-4139-880B-9B68-6E24A4876E8A}"/>
              </a:ext>
            </a:extLst>
          </p:cNvPr>
          <p:cNvGraphicFramePr>
            <a:graphicFrameLocks/>
          </p:cNvGraphicFramePr>
          <p:nvPr>
            <p:extLst>
              <p:ext uri="{D42A27DB-BD31-4B8C-83A1-F6EECF244321}">
                <p14:modId xmlns:p14="http://schemas.microsoft.com/office/powerpoint/2010/main" val="938656956"/>
              </p:ext>
            </p:extLst>
          </p:nvPr>
        </p:nvGraphicFramePr>
        <p:xfrm>
          <a:off x="6548488" y="2695946"/>
          <a:ext cx="864990" cy="654845"/>
        </p:xfrm>
        <a:graphic>
          <a:graphicData uri="http://schemas.openxmlformats.org/presentationml/2006/ole">
            <mc:AlternateContent xmlns:mc="http://schemas.openxmlformats.org/markup-compatibility/2006">
              <mc:Choice xmlns:v="urn:schemas-microsoft-com:vml" Requires="v">
                <p:oleObj spid="_x0000_s64705" r:id="rId12" imgW="635000" imgH="444500" progId="Equation.3">
                  <p:embed/>
                </p:oleObj>
              </mc:Choice>
              <mc:Fallback>
                <p:oleObj r:id="rId12" imgW="635000" imgH="444500" progId="Equation.3">
                  <p:embed/>
                  <p:pic>
                    <p:nvPicPr>
                      <p:cNvPr id="0" name=""/>
                      <p:cNvPicPr/>
                      <p:nvPr/>
                    </p:nvPicPr>
                    <p:blipFill>
                      <a:blip r:embed="rId13"/>
                      <a:stretch>
                        <a:fillRect/>
                      </a:stretch>
                    </p:blipFill>
                    <p:spPr>
                      <a:xfrm>
                        <a:off x="6548488" y="2695946"/>
                        <a:ext cx="864990" cy="654845"/>
                      </a:xfrm>
                      <a:prstGeom prst="rect">
                        <a:avLst/>
                      </a:prstGeom>
                      <a:gradFill rotWithShape="1">
                        <a:gsLst>
                          <a:gs pos="0">
                            <a:srgbClr val="FF99FF"/>
                          </a:gs>
                          <a:gs pos="50000">
                            <a:schemeClr val="bg1"/>
                          </a:gs>
                          <a:gs pos="100000">
                            <a:srgbClr val="FF99FF"/>
                          </a:gs>
                        </a:gsLst>
                        <a:lin ang="5400000" scaled="1"/>
                        <a:tileRect/>
                      </a:gradFill>
                      <a:ln w="38100">
                        <a:noFill/>
                        <a:miter/>
                      </a:ln>
                    </p:spPr>
                  </p:pic>
                </p:oleObj>
              </mc:Fallback>
            </mc:AlternateContent>
          </a:graphicData>
        </a:graphic>
      </p:graphicFrame>
      <p:sp>
        <p:nvSpPr>
          <p:cNvPr id="23" name="矩形 22">
            <a:extLst>
              <a:ext uri="{FF2B5EF4-FFF2-40B4-BE49-F238E27FC236}">
                <a16:creationId xmlns="" xmlns:a16="http://schemas.microsoft.com/office/drawing/2014/main" id="{9FAA8BB3-1FF3-FDEE-D8DA-281E2624F729}"/>
              </a:ext>
            </a:extLst>
          </p:cNvPr>
          <p:cNvSpPr/>
          <p:nvPr/>
        </p:nvSpPr>
        <p:spPr>
          <a:xfrm>
            <a:off x="2051720" y="1191754"/>
            <a:ext cx="3477693" cy="2236766"/>
          </a:xfrm>
          <a:prstGeom prst="rect">
            <a:avLst/>
          </a:prstGeom>
          <a:noFill/>
          <a:ln w="22225" cap="flat" cmpd="sng">
            <a:solidFill>
              <a:srgbClr val="FF0000"/>
            </a:solidFill>
            <a:prstDash val="dash"/>
            <a:miter/>
            <a:headEnd type="none" w="med" len="med"/>
            <a:tailEnd type="none" w="med" len="med"/>
          </a:ln>
        </p:spPr>
        <p:txBody>
          <a:bodyPr anchor="t" anchorCtr="0"/>
          <a:lstStyle/>
          <a:p>
            <a:endParaRPr lang="zh-CN" altLang="en-US" dirty="0">
              <a:latin typeface="Times New Roman" panose="02020603050405020304" pitchFamily="18" charset="0"/>
              <a:ea typeface="宋体" panose="02010600030101010101" pitchFamily="2" charset="-122"/>
            </a:endParaRPr>
          </a:p>
        </p:txBody>
      </p:sp>
      <p:sp>
        <p:nvSpPr>
          <p:cNvPr id="24" name="文本框 378903">
            <a:extLst>
              <a:ext uri="{FF2B5EF4-FFF2-40B4-BE49-F238E27FC236}">
                <a16:creationId xmlns="" xmlns:a16="http://schemas.microsoft.com/office/drawing/2014/main" id="{B1B6E67A-FE88-A04B-812D-A8085C9E2415}"/>
              </a:ext>
            </a:extLst>
          </p:cNvPr>
          <p:cNvSpPr txBox="1"/>
          <p:nvPr/>
        </p:nvSpPr>
        <p:spPr>
          <a:xfrm>
            <a:off x="6547000" y="1428725"/>
            <a:ext cx="806450" cy="396875"/>
          </a:xfrm>
          <a:prstGeom prst="rect">
            <a:avLst/>
          </a:prstGeom>
          <a:noFill/>
          <a:ln w="9525">
            <a:noFill/>
          </a:ln>
        </p:spPr>
        <p:txBody>
          <a:bodyPr anchor="t" anchorCtr="0">
            <a:spAutoFit/>
          </a:bodyPr>
          <a:lstStyle/>
          <a:p>
            <a:pPr>
              <a:spcBef>
                <a:spcPct val="50000"/>
              </a:spcBef>
            </a:pPr>
            <a:endParaRPr lang="zh-CN" altLang="en-US" sz="2000" b="1" dirty="0">
              <a:solidFill>
                <a:srgbClr val="0033CC"/>
              </a:solidFill>
              <a:latin typeface="Times New Roman" panose="02020603050405020304" pitchFamily="18" charset="0"/>
              <a:ea typeface="宋体" panose="02010600030101010101" pitchFamily="2" charset="-122"/>
            </a:endParaRPr>
          </a:p>
        </p:txBody>
      </p:sp>
      <p:sp>
        <p:nvSpPr>
          <p:cNvPr id="25" name="矩形 24">
            <a:extLst>
              <a:ext uri="{FF2B5EF4-FFF2-40B4-BE49-F238E27FC236}">
                <a16:creationId xmlns="" xmlns:a16="http://schemas.microsoft.com/office/drawing/2014/main" id="{58EC166B-541F-3074-4BE9-0A8EC41615F6}"/>
              </a:ext>
            </a:extLst>
          </p:cNvPr>
          <p:cNvSpPr/>
          <p:nvPr/>
        </p:nvSpPr>
        <p:spPr>
          <a:xfrm>
            <a:off x="501799" y="3629793"/>
            <a:ext cx="2517775" cy="396875"/>
          </a:xfrm>
          <a:prstGeom prst="rect">
            <a:avLst/>
          </a:prstGeom>
          <a:noFill/>
          <a:ln w="9525">
            <a:noFill/>
          </a:ln>
        </p:spPr>
        <p:txBody>
          <a:bodyPr wrap="none" anchor="t" anchorCtr="0">
            <a:spAutoFit/>
          </a:bodyPr>
          <a:lstStyle/>
          <a:p>
            <a:r>
              <a:rPr lang="zh-CN" altLang="en-US" sz="2000" b="1" dirty="0">
                <a:solidFill>
                  <a:schemeClr val="tx1"/>
                </a:solidFill>
                <a:latin typeface="Times New Roman" panose="02020603050405020304" pitchFamily="18" charset="0"/>
                <a:ea typeface="宋体" panose="02010600030101010101" pitchFamily="2" charset="-122"/>
              </a:rPr>
              <a:t>假设晶体管的</a:t>
            </a:r>
            <a:r>
              <a:rPr lang="en-US" altLang="zh-CN" sz="2000" b="1" dirty="0" err="1">
                <a:solidFill>
                  <a:schemeClr val="tx1"/>
                </a:solidFill>
                <a:latin typeface="Times New Roman" panose="02020603050405020304" pitchFamily="18" charset="0"/>
                <a:ea typeface="宋体" panose="02010600030101010101" pitchFamily="2" charset="-122"/>
              </a:rPr>
              <a:t>y</a:t>
            </a:r>
            <a:r>
              <a:rPr lang="en-US" altLang="zh-CN" sz="2000" b="1" baseline="-25000" dirty="0" err="1">
                <a:solidFill>
                  <a:schemeClr val="tx1"/>
                </a:solidFill>
                <a:latin typeface="Times New Roman" panose="02020603050405020304" pitchFamily="18" charset="0"/>
                <a:ea typeface="宋体" panose="02010600030101010101" pitchFamily="2" charset="-122"/>
              </a:rPr>
              <a:t>re</a:t>
            </a:r>
            <a:r>
              <a:rPr lang="en-US" altLang="zh-CN" sz="2000" b="1" dirty="0">
                <a:solidFill>
                  <a:schemeClr val="tx1"/>
                </a:solidFill>
                <a:latin typeface="Times New Roman" panose="02020603050405020304" pitchFamily="18" charset="0"/>
                <a:ea typeface="宋体" panose="02010600030101010101" pitchFamily="2" charset="-122"/>
              </a:rPr>
              <a:t>=0</a:t>
            </a:r>
            <a:r>
              <a:rPr lang="zh-CN" altLang="en-US" sz="2000" b="1" dirty="0">
                <a:solidFill>
                  <a:schemeClr val="tx1"/>
                </a:solidFill>
                <a:latin typeface="Times New Roman" panose="02020603050405020304" pitchFamily="18" charset="0"/>
                <a:ea typeface="宋体" panose="02010600030101010101" pitchFamily="2" charset="-122"/>
              </a:rPr>
              <a:t>，</a:t>
            </a:r>
          </a:p>
        </p:txBody>
      </p:sp>
      <p:sp>
        <p:nvSpPr>
          <p:cNvPr id="26" name="文本框 25">
            <a:extLst>
              <a:ext uri="{FF2B5EF4-FFF2-40B4-BE49-F238E27FC236}">
                <a16:creationId xmlns="" xmlns:a16="http://schemas.microsoft.com/office/drawing/2014/main" id="{395FA4D6-1FE2-4BC7-3B36-F9174C8ABD7F}"/>
              </a:ext>
            </a:extLst>
          </p:cNvPr>
          <p:cNvSpPr txBox="1"/>
          <p:nvPr/>
        </p:nvSpPr>
        <p:spPr>
          <a:xfrm>
            <a:off x="2306787" y="1320775"/>
            <a:ext cx="1484313" cy="396875"/>
          </a:xfrm>
          <a:prstGeom prst="rect">
            <a:avLst/>
          </a:prstGeom>
          <a:noFill/>
          <a:ln w="9525">
            <a:noFill/>
          </a:ln>
        </p:spPr>
        <p:txBody>
          <a:bodyPr anchor="t" anchorCtr="0">
            <a:spAutoFit/>
          </a:bodyPr>
          <a:lstStyle/>
          <a:p>
            <a:pPr>
              <a:spcBef>
                <a:spcPct val="50000"/>
              </a:spcBef>
            </a:pPr>
            <a:r>
              <a:rPr lang="zh-CN" altLang="en-US" sz="2000" b="1" dirty="0">
                <a:solidFill>
                  <a:srgbClr val="FF3300"/>
                </a:solidFill>
                <a:latin typeface="Times New Roman" panose="02020603050405020304" pitchFamily="18" charset="0"/>
                <a:ea typeface="宋体" panose="02010600030101010101" pitchFamily="2" charset="-122"/>
              </a:rPr>
              <a:t>有用部分</a:t>
            </a:r>
          </a:p>
        </p:txBody>
      </p:sp>
      <p:sp>
        <p:nvSpPr>
          <p:cNvPr id="27" name="下箭头 378906">
            <a:extLst>
              <a:ext uri="{FF2B5EF4-FFF2-40B4-BE49-F238E27FC236}">
                <a16:creationId xmlns="" xmlns:a16="http://schemas.microsoft.com/office/drawing/2014/main" id="{697F6438-092D-73EC-79F5-608DF32E7CCE}"/>
              </a:ext>
            </a:extLst>
          </p:cNvPr>
          <p:cNvSpPr/>
          <p:nvPr/>
        </p:nvSpPr>
        <p:spPr>
          <a:xfrm>
            <a:off x="2552849" y="4071912"/>
            <a:ext cx="695325" cy="457200"/>
          </a:xfrm>
          <a:prstGeom prst="downArrow">
            <a:avLst>
              <a:gd name="adj1" fmla="val 50000"/>
              <a:gd name="adj2" fmla="val 25000"/>
            </a:avLst>
          </a:prstGeom>
          <a:solidFill>
            <a:schemeClr val="accent1"/>
          </a:solidFill>
          <a:ln w="25400" cap="flat" cmpd="sng">
            <a:solidFill>
              <a:schemeClr val="accent1"/>
            </a:solidFill>
            <a:prstDash val="solid"/>
            <a:miter/>
            <a:headEnd type="none" w="med" len="med"/>
            <a:tailEnd type="none" w="med" len="med"/>
          </a:ln>
        </p:spPr>
        <p:txBody>
          <a:bodyPr anchor="t" anchorCtr="0"/>
          <a:lstStyle/>
          <a:p>
            <a:endParaRPr lang="zh-CN" altLang="en-US" dirty="0">
              <a:latin typeface="Times New Roman" panose="02020603050405020304" pitchFamily="18" charset="0"/>
              <a:ea typeface="宋体" panose="02010600030101010101" pitchFamily="2" charset="-122"/>
            </a:endParaRPr>
          </a:p>
        </p:txBody>
      </p:sp>
      <p:sp>
        <p:nvSpPr>
          <p:cNvPr id="28" name="文本框 27">
            <a:extLst>
              <a:ext uri="{FF2B5EF4-FFF2-40B4-BE49-F238E27FC236}">
                <a16:creationId xmlns="" xmlns:a16="http://schemas.microsoft.com/office/drawing/2014/main" id="{B7B0D5A8-2FC9-EC29-8790-D6F68B8A624E}"/>
              </a:ext>
            </a:extLst>
          </p:cNvPr>
          <p:cNvSpPr txBox="1"/>
          <p:nvPr/>
        </p:nvSpPr>
        <p:spPr>
          <a:xfrm>
            <a:off x="3935562" y="2249438"/>
            <a:ext cx="509587" cy="457200"/>
          </a:xfrm>
          <a:prstGeom prst="rect">
            <a:avLst/>
          </a:prstGeom>
          <a:noFill/>
          <a:ln w="9525">
            <a:noFill/>
          </a:ln>
        </p:spPr>
        <p:txBody>
          <a:bodyPr anchor="t" anchorCtr="0">
            <a:spAutoFit/>
          </a:bodyPr>
          <a:lstStyle/>
          <a:p>
            <a:pPr>
              <a:spcBef>
                <a:spcPct val="50000"/>
              </a:spcBef>
            </a:pPr>
            <a:r>
              <a:rPr lang="en-US" altLang="zh-CN" sz="2400" b="1" i="1" dirty="0">
                <a:solidFill>
                  <a:srgbClr val="FF3300"/>
                </a:solidFill>
                <a:latin typeface="Times New Roman" panose="02020603050405020304" pitchFamily="18" charset="0"/>
                <a:ea typeface="宋体" panose="02010600030101010101" pitchFamily="2" charset="-122"/>
              </a:rPr>
              <a:t>p</a:t>
            </a:r>
            <a:r>
              <a:rPr lang="en-US" altLang="zh-CN" sz="2000" b="1" baseline="-25000" dirty="0">
                <a:solidFill>
                  <a:srgbClr val="FF3300"/>
                </a:solidFill>
                <a:latin typeface="Times New Roman" panose="02020603050405020304" pitchFamily="18" charset="0"/>
                <a:ea typeface="宋体" panose="02010600030101010101" pitchFamily="2" charset="-122"/>
              </a:rPr>
              <a:t>1</a:t>
            </a:r>
          </a:p>
        </p:txBody>
      </p:sp>
      <p:sp>
        <p:nvSpPr>
          <p:cNvPr id="29" name="文本框 28">
            <a:extLst>
              <a:ext uri="{FF2B5EF4-FFF2-40B4-BE49-F238E27FC236}">
                <a16:creationId xmlns="" xmlns:a16="http://schemas.microsoft.com/office/drawing/2014/main" id="{34F4DC30-3F9B-1DA5-AE45-B7ED70C53B98}"/>
              </a:ext>
            </a:extLst>
          </p:cNvPr>
          <p:cNvSpPr txBox="1"/>
          <p:nvPr/>
        </p:nvSpPr>
        <p:spPr>
          <a:xfrm>
            <a:off x="4629521" y="1995463"/>
            <a:ext cx="509588" cy="457200"/>
          </a:xfrm>
          <a:prstGeom prst="rect">
            <a:avLst/>
          </a:prstGeom>
          <a:noFill/>
          <a:ln w="9525">
            <a:noFill/>
          </a:ln>
        </p:spPr>
        <p:txBody>
          <a:bodyPr anchor="t" anchorCtr="0">
            <a:spAutoFit/>
          </a:bodyPr>
          <a:lstStyle/>
          <a:p>
            <a:pPr>
              <a:spcBef>
                <a:spcPct val="50000"/>
              </a:spcBef>
            </a:pPr>
            <a:r>
              <a:rPr lang="en-US" altLang="zh-CN" sz="2400" b="1" i="1" dirty="0">
                <a:solidFill>
                  <a:srgbClr val="FF3300"/>
                </a:solidFill>
                <a:latin typeface="Times New Roman" panose="02020603050405020304" pitchFamily="18" charset="0"/>
                <a:ea typeface="宋体" panose="02010600030101010101" pitchFamily="2" charset="-122"/>
              </a:rPr>
              <a:t>p</a:t>
            </a:r>
            <a:r>
              <a:rPr lang="en-US" altLang="zh-CN" sz="2000" b="1" baseline="-25000" dirty="0">
                <a:solidFill>
                  <a:srgbClr val="FF3300"/>
                </a:solidFill>
                <a:latin typeface="Times New Roman" panose="02020603050405020304" pitchFamily="18" charset="0"/>
                <a:ea typeface="宋体" panose="02010600030101010101" pitchFamily="2" charset="-122"/>
              </a:rPr>
              <a:t>2</a:t>
            </a:r>
          </a:p>
        </p:txBody>
      </p:sp>
    </p:spTree>
    <p:extLst>
      <p:ext uri="{BB962C8B-B14F-4D97-AF65-F5344CB8AC3E}">
        <p14:creationId xmlns:p14="http://schemas.microsoft.com/office/powerpoint/2010/main" val="3055160623"/>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89</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3.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高频</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小信号</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放大器</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矩形 379911">
            <a:extLst>
              <a:ext uri="{FF2B5EF4-FFF2-40B4-BE49-F238E27FC236}">
                <a16:creationId xmlns="" xmlns:a16="http://schemas.microsoft.com/office/drawing/2014/main" id="{A7A48A0E-891F-1782-D2D7-D486EB2F91A6}"/>
              </a:ext>
            </a:extLst>
          </p:cNvPr>
          <p:cNvSpPr/>
          <p:nvPr/>
        </p:nvSpPr>
        <p:spPr>
          <a:xfrm>
            <a:off x="796279" y="1189260"/>
            <a:ext cx="3077022" cy="400110"/>
          </a:xfrm>
          <a:prstGeom prst="rect">
            <a:avLst/>
          </a:prstGeom>
          <a:noFill/>
          <a:ln w="9525">
            <a:noFill/>
          </a:ln>
        </p:spPr>
        <p:txBody>
          <a:bodyPr wrap="square" anchor="ctr" anchorCtr="0">
            <a:spAutoFit/>
          </a:bodyPr>
          <a:lstStyle/>
          <a:p>
            <a:r>
              <a:rPr lang="en-US" altLang="zh-CN" sz="2000" b="1" dirty="0">
                <a:solidFill>
                  <a:schemeClr val="tx1"/>
                </a:solidFill>
                <a:latin typeface="+mn-ea"/>
                <a:ea typeface="+mn-ea"/>
              </a:rPr>
              <a:t>3. </a:t>
            </a:r>
            <a:r>
              <a:rPr lang="zh-CN" altLang="en-US" sz="2000" b="1" dirty="0">
                <a:solidFill>
                  <a:schemeClr val="tx1"/>
                </a:solidFill>
                <a:latin typeface="+mn-ea"/>
                <a:ea typeface="+mn-ea"/>
              </a:rPr>
              <a:t>放大器的技术指标 </a:t>
            </a:r>
          </a:p>
        </p:txBody>
      </p:sp>
      <p:pic>
        <p:nvPicPr>
          <p:cNvPr id="6" name="图片 5" descr="C:/Documents and Settings/Administrator/桌面/通信电子线/通信电子线(理工)/http:/home.henannu.edu.cn/jingpinkecheng/gpdzxl/image/chap/chap2/image159.gif">
            <a:extLst>
              <a:ext uri="{FF2B5EF4-FFF2-40B4-BE49-F238E27FC236}">
                <a16:creationId xmlns="" xmlns:a16="http://schemas.microsoft.com/office/drawing/2014/main" id="{B152F2A3-14E4-0AE1-B951-D1AF2309932F}"/>
              </a:ext>
            </a:extLst>
          </p:cNvPr>
          <p:cNvPicPr>
            <a:picLocks noChangeAspect="1"/>
          </p:cNvPicPr>
          <p:nvPr/>
        </p:nvPicPr>
        <p:blipFill>
          <a:blip r:embed="rId3" r:link="rId4"/>
          <a:stretch>
            <a:fillRect/>
          </a:stretch>
        </p:blipFill>
        <p:spPr>
          <a:xfrm>
            <a:off x="1787573" y="1510349"/>
            <a:ext cx="926674" cy="708988"/>
          </a:xfrm>
          <a:prstGeom prst="rect">
            <a:avLst/>
          </a:prstGeom>
          <a:noFill/>
          <a:ln w="9525">
            <a:noFill/>
          </a:ln>
        </p:spPr>
      </p:pic>
      <p:sp>
        <p:nvSpPr>
          <p:cNvPr id="7" name="矩形 6">
            <a:extLst>
              <a:ext uri="{FF2B5EF4-FFF2-40B4-BE49-F238E27FC236}">
                <a16:creationId xmlns="" xmlns:a16="http://schemas.microsoft.com/office/drawing/2014/main" id="{30D61F45-0FA4-C105-A899-0265AB64DA7B}"/>
              </a:ext>
            </a:extLst>
          </p:cNvPr>
          <p:cNvSpPr/>
          <p:nvPr/>
        </p:nvSpPr>
        <p:spPr>
          <a:xfrm>
            <a:off x="179512" y="1683900"/>
            <a:ext cx="1716857" cy="400110"/>
          </a:xfrm>
          <a:prstGeom prst="rect">
            <a:avLst/>
          </a:prstGeom>
          <a:noFill/>
          <a:ln w="9525">
            <a:noFill/>
          </a:ln>
        </p:spPr>
        <p:txBody>
          <a:bodyPr wrap="square" anchor="ctr" anchorCtr="0">
            <a:spAutoFit/>
          </a:bodyPr>
          <a:lstStyle/>
          <a:p>
            <a:r>
              <a:rPr lang="en-US" altLang="zh-CN" sz="2000" b="1" dirty="0">
                <a:solidFill>
                  <a:srgbClr val="000000"/>
                </a:solidFill>
                <a:latin typeface="宋体" panose="02010600030101010101" pitchFamily="2" charset="-122"/>
                <a:ea typeface="宋体" panose="02010600030101010101" pitchFamily="2" charset="-122"/>
              </a:rPr>
              <a:t>①</a:t>
            </a:r>
            <a:r>
              <a:rPr lang="en-US" altLang="zh-CN" sz="2000" b="1" dirty="0">
                <a:solidFill>
                  <a:srgbClr val="000000"/>
                </a:solidFill>
                <a:latin typeface="Times New Roman" panose="02020603050405020304" pitchFamily="18" charset="0"/>
                <a:ea typeface="宋体" panose="02010600030101010101" pitchFamily="2" charset="-122"/>
              </a:rPr>
              <a:t> </a:t>
            </a:r>
            <a:r>
              <a:rPr lang="zh-CN" altLang="en-US" sz="2000" b="1" dirty="0">
                <a:solidFill>
                  <a:srgbClr val="000000"/>
                </a:solidFill>
                <a:latin typeface="Times New Roman" panose="02020603050405020304" pitchFamily="18" charset="0"/>
                <a:ea typeface="宋体" panose="02010600030101010101" pitchFamily="2" charset="-122"/>
              </a:rPr>
              <a:t>电压增益 </a:t>
            </a:r>
            <a:endParaRPr lang="zh-CN" altLang="en-US" sz="2000" b="1" dirty="0">
              <a:latin typeface="Times New Roman" panose="02020603050405020304" pitchFamily="18" charset="0"/>
              <a:ea typeface="宋体" panose="02010600030101010101" pitchFamily="2" charset="-122"/>
            </a:endParaRPr>
          </a:p>
        </p:txBody>
      </p:sp>
      <p:pic>
        <p:nvPicPr>
          <p:cNvPr id="8" name="图片 7">
            <a:extLst>
              <a:ext uri="{FF2B5EF4-FFF2-40B4-BE49-F238E27FC236}">
                <a16:creationId xmlns="" xmlns:a16="http://schemas.microsoft.com/office/drawing/2014/main" id="{6CBEAF9A-26C8-0B9B-1DA5-264E66A47014}"/>
              </a:ext>
            </a:extLst>
          </p:cNvPr>
          <p:cNvPicPr>
            <a:picLocks noChangeAspect="1"/>
          </p:cNvPicPr>
          <p:nvPr/>
        </p:nvPicPr>
        <p:blipFill>
          <a:blip r:embed="rId5"/>
          <a:stretch>
            <a:fillRect/>
          </a:stretch>
        </p:blipFill>
        <p:spPr>
          <a:xfrm>
            <a:off x="387459" y="2228073"/>
            <a:ext cx="2358255" cy="371879"/>
          </a:xfrm>
          <a:prstGeom prst="rect">
            <a:avLst/>
          </a:prstGeom>
          <a:noFill/>
          <a:ln w="9525">
            <a:noFill/>
          </a:ln>
        </p:spPr>
      </p:pic>
      <p:pic>
        <p:nvPicPr>
          <p:cNvPr id="9" name="图片 8">
            <a:extLst>
              <a:ext uri="{FF2B5EF4-FFF2-40B4-BE49-F238E27FC236}">
                <a16:creationId xmlns="" xmlns:a16="http://schemas.microsoft.com/office/drawing/2014/main" id="{8B2E5597-93DC-6910-741A-A74F2B20BC7E}"/>
              </a:ext>
            </a:extLst>
          </p:cNvPr>
          <p:cNvPicPr>
            <a:picLocks noChangeAspect="1"/>
          </p:cNvPicPr>
          <p:nvPr/>
        </p:nvPicPr>
        <p:blipFill>
          <a:blip r:embed="rId6"/>
          <a:stretch>
            <a:fillRect/>
          </a:stretch>
        </p:blipFill>
        <p:spPr>
          <a:xfrm>
            <a:off x="491429" y="2787639"/>
            <a:ext cx="2397560" cy="353738"/>
          </a:xfrm>
          <a:prstGeom prst="rect">
            <a:avLst/>
          </a:prstGeom>
          <a:noFill/>
          <a:ln w="9525">
            <a:noFill/>
          </a:ln>
        </p:spPr>
      </p:pic>
      <p:pic>
        <p:nvPicPr>
          <p:cNvPr id="10" name="图片 9">
            <a:extLst>
              <a:ext uri="{FF2B5EF4-FFF2-40B4-BE49-F238E27FC236}">
                <a16:creationId xmlns="" xmlns:a16="http://schemas.microsoft.com/office/drawing/2014/main" id="{428D57D2-8164-7CD2-3829-F00EF1313256}"/>
              </a:ext>
            </a:extLst>
          </p:cNvPr>
          <p:cNvPicPr>
            <a:picLocks noChangeAspect="1"/>
          </p:cNvPicPr>
          <p:nvPr/>
        </p:nvPicPr>
        <p:blipFill>
          <a:blip r:embed="rId7"/>
          <a:stretch>
            <a:fillRect/>
          </a:stretch>
        </p:blipFill>
        <p:spPr>
          <a:xfrm>
            <a:off x="491429" y="3114812"/>
            <a:ext cx="2367325" cy="571423"/>
          </a:xfrm>
          <a:prstGeom prst="rect">
            <a:avLst/>
          </a:prstGeom>
          <a:noFill/>
          <a:ln w="9525">
            <a:noFill/>
          </a:ln>
        </p:spPr>
      </p:pic>
      <p:pic>
        <p:nvPicPr>
          <p:cNvPr id="11" name="图片 10">
            <a:extLst>
              <a:ext uri="{FF2B5EF4-FFF2-40B4-BE49-F238E27FC236}">
                <a16:creationId xmlns="" xmlns:a16="http://schemas.microsoft.com/office/drawing/2014/main" id="{ECF8AEFA-B762-7218-03F9-5436D17CD5AB}"/>
              </a:ext>
            </a:extLst>
          </p:cNvPr>
          <p:cNvPicPr>
            <a:picLocks noChangeAspect="1"/>
          </p:cNvPicPr>
          <p:nvPr/>
        </p:nvPicPr>
        <p:blipFill>
          <a:blip r:embed="rId8"/>
          <a:stretch>
            <a:fillRect/>
          </a:stretch>
        </p:blipFill>
        <p:spPr>
          <a:xfrm>
            <a:off x="491429" y="3589928"/>
            <a:ext cx="3183856" cy="939476"/>
          </a:xfrm>
          <a:prstGeom prst="rect">
            <a:avLst/>
          </a:prstGeom>
          <a:noFill/>
          <a:ln w="9525">
            <a:noFill/>
          </a:ln>
        </p:spPr>
      </p:pic>
      <p:pic>
        <p:nvPicPr>
          <p:cNvPr id="12" name="图片 11">
            <a:extLst>
              <a:ext uri="{FF2B5EF4-FFF2-40B4-BE49-F238E27FC236}">
                <a16:creationId xmlns="" xmlns:a16="http://schemas.microsoft.com/office/drawing/2014/main" id="{7D35D5A5-21CA-BAD7-508F-2B05DF70E5E2}"/>
              </a:ext>
            </a:extLst>
          </p:cNvPr>
          <p:cNvPicPr>
            <a:picLocks noChangeAspect="1"/>
          </p:cNvPicPr>
          <p:nvPr/>
        </p:nvPicPr>
        <p:blipFill>
          <a:blip r:embed="rId8"/>
          <a:stretch>
            <a:fillRect/>
          </a:stretch>
        </p:blipFill>
        <p:spPr>
          <a:xfrm>
            <a:off x="459581" y="4414298"/>
            <a:ext cx="3343497" cy="986582"/>
          </a:xfrm>
          <a:prstGeom prst="rect">
            <a:avLst/>
          </a:prstGeom>
          <a:noFill/>
          <a:ln w="9525">
            <a:noFill/>
          </a:ln>
        </p:spPr>
      </p:pic>
      <p:graphicFrame>
        <p:nvGraphicFramePr>
          <p:cNvPr id="13" name="对象 12">
            <a:extLst>
              <a:ext uri="{FF2B5EF4-FFF2-40B4-BE49-F238E27FC236}">
                <a16:creationId xmlns="" xmlns:a16="http://schemas.microsoft.com/office/drawing/2014/main" id="{6898A00D-6E65-9F9B-9C1B-1EA26F597D16}"/>
              </a:ext>
            </a:extLst>
          </p:cNvPr>
          <p:cNvGraphicFramePr>
            <a:graphicFrameLocks noChangeAspect="1"/>
          </p:cNvGraphicFramePr>
          <p:nvPr>
            <p:extLst>
              <p:ext uri="{D42A27DB-BD31-4B8C-83A1-F6EECF244321}">
                <p14:modId xmlns:p14="http://schemas.microsoft.com/office/powerpoint/2010/main" val="2081612680"/>
              </p:ext>
            </p:extLst>
          </p:nvPr>
        </p:nvGraphicFramePr>
        <p:xfrm>
          <a:off x="534464" y="5344781"/>
          <a:ext cx="2604964" cy="873642"/>
        </p:xfrm>
        <a:graphic>
          <a:graphicData uri="http://schemas.openxmlformats.org/presentationml/2006/ole">
            <mc:AlternateContent xmlns:mc="http://schemas.openxmlformats.org/markup-compatibility/2006">
              <mc:Choice xmlns:v="urn:schemas-microsoft-com:vml" Requires="v">
                <p:oleObj spid="_x0000_s65820" name="Equation" r:id="rId9" imgW="2849973" imgH="955834" progId="Equation.DSMT4">
                  <p:embed/>
                </p:oleObj>
              </mc:Choice>
              <mc:Fallback>
                <p:oleObj name="Equation" r:id="rId9" imgW="2849973" imgH="955834" progId="Equation.DSMT4">
                  <p:embed/>
                  <p:pic>
                    <p:nvPicPr>
                      <p:cNvPr id="0" name=""/>
                      <p:cNvPicPr/>
                      <p:nvPr/>
                    </p:nvPicPr>
                    <p:blipFill>
                      <a:blip r:embed="rId10"/>
                      <a:stretch>
                        <a:fillRect/>
                      </a:stretch>
                    </p:blipFill>
                    <p:spPr>
                      <a:xfrm>
                        <a:off x="534464" y="5344781"/>
                        <a:ext cx="2604964" cy="873642"/>
                      </a:xfrm>
                      <a:prstGeom prst="rect">
                        <a:avLst/>
                      </a:prstGeom>
                    </p:spPr>
                  </p:pic>
                </p:oleObj>
              </mc:Fallback>
            </mc:AlternateContent>
          </a:graphicData>
        </a:graphic>
      </p:graphicFrame>
      <p:pic>
        <p:nvPicPr>
          <p:cNvPr id="14" name="图片 379914">
            <a:extLst>
              <a:ext uri="{FF2B5EF4-FFF2-40B4-BE49-F238E27FC236}">
                <a16:creationId xmlns="" xmlns:a16="http://schemas.microsoft.com/office/drawing/2014/main" id="{66548329-932F-2445-368D-3F89A05F95E3}"/>
              </a:ext>
            </a:extLst>
          </p:cNvPr>
          <p:cNvPicPr>
            <a:picLocks noChangeAspect="1"/>
          </p:cNvPicPr>
          <p:nvPr/>
        </p:nvPicPr>
        <p:blipFill>
          <a:blip r:embed="rId11"/>
          <a:stretch>
            <a:fillRect/>
          </a:stretch>
        </p:blipFill>
        <p:spPr>
          <a:xfrm>
            <a:off x="3716549" y="1358463"/>
            <a:ext cx="4173538" cy="1704975"/>
          </a:xfrm>
          <a:prstGeom prst="rect">
            <a:avLst/>
          </a:prstGeom>
          <a:noFill/>
          <a:ln w="9525">
            <a:noFill/>
          </a:ln>
        </p:spPr>
      </p:pic>
      <p:sp>
        <p:nvSpPr>
          <p:cNvPr id="15" name="矩形 14">
            <a:extLst>
              <a:ext uri="{FF2B5EF4-FFF2-40B4-BE49-F238E27FC236}">
                <a16:creationId xmlns="" xmlns:a16="http://schemas.microsoft.com/office/drawing/2014/main" id="{C53324C6-65E8-5DFA-8410-99DC9C92BCBC}"/>
              </a:ext>
            </a:extLst>
          </p:cNvPr>
          <p:cNvSpPr/>
          <p:nvPr/>
        </p:nvSpPr>
        <p:spPr>
          <a:xfrm>
            <a:off x="4684924" y="1683900"/>
            <a:ext cx="2438400" cy="1285875"/>
          </a:xfrm>
          <a:prstGeom prst="rect">
            <a:avLst/>
          </a:prstGeom>
          <a:solidFill>
            <a:srgbClr val="00CCFF">
              <a:alpha val="21960"/>
            </a:srgbClr>
          </a:solidFill>
          <a:ln w="22225" cap="flat" cmpd="sng">
            <a:solidFill>
              <a:srgbClr val="FF0000"/>
            </a:solidFill>
            <a:prstDash val="dash"/>
            <a:miter/>
            <a:headEnd type="none" w="med" len="med"/>
            <a:tailEnd type="none" w="med" len="med"/>
          </a:ln>
        </p:spPr>
        <p:txBody>
          <a:bodyPr anchor="t" anchorCtr="0"/>
          <a:lstStyle/>
          <a:p>
            <a:endParaRPr lang="zh-CN" altLang="en-US" dirty="0">
              <a:latin typeface="Times New Roman" panose="02020603050405020304" pitchFamily="18" charset="0"/>
              <a:ea typeface="宋体" panose="02010600030101010101" pitchFamily="2" charset="-122"/>
            </a:endParaRPr>
          </a:p>
        </p:txBody>
      </p:sp>
      <p:graphicFrame>
        <p:nvGraphicFramePr>
          <p:cNvPr id="16" name="内容占位符 379919">
            <a:extLst>
              <a:ext uri="{FF2B5EF4-FFF2-40B4-BE49-F238E27FC236}">
                <a16:creationId xmlns="" xmlns:a16="http://schemas.microsoft.com/office/drawing/2014/main" id="{7A349749-DE03-DA57-C157-0BDC2217D9B6}"/>
              </a:ext>
            </a:extLst>
          </p:cNvPr>
          <p:cNvGraphicFramePr>
            <a:graphicFrameLocks/>
          </p:cNvGraphicFramePr>
          <p:nvPr>
            <p:extLst>
              <p:ext uri="{D42A27DB-BD31-4B8C-83A1-F6EECF244321}">
                <p14:modId xmlns:p14="http://schemas.microsoft.com/office/powerpoint/2010/main" val="2301395128"/>
              </p:ext>
            </p:extLst>
          </p:nvPr>
        </p:nvGraphicFramePr>
        <p:xfrm>
          <a:off x="5586624" y="2528450"/>
          <a:ext cx="301625" cy="365125"/>
        </p:xfrm>
        <a:graphic>
          <a:graphicData uri="http://schemas.openxmlformats.org/presentationml/2006/ole">
            <mc:AlternateContent xmlns:mc="http://schemas.openxmlformats.org/markup-compatibility/2006">
              <mc:Choice xmlns:v="urn:schemas-microsoft-com:vml" Requires="v">
                <p:oleObj spid="_x0000_s65821" r:id="rId12" imgW="177800" imgH="215265" progId="Equation.3">
                  <p:embed/>
                </p:oleObj>
              </mc:Choice>
              <mc:Fallback>
                <p:oleObj r:id="rId12" imgW="177800" imgH="215265" progId="Equation.3">
                  <p:embed/>
                  <p:pic>
                    <p:nvPicPr>
                      <p:cNvPr id="0" name=""/>
                      <p:cNvPicPr/>
                      <p:nvPr/>
                    </p:nvPicPr>
                    <p:blipFill>
                      <a:blip r:embed="rId13"/>
                      <a:stretch>
                        <a:fillRect/>
                      </a:stretch>
                    </p:blipFill>
                    <p:spPr>
                      <a:xfrm>
                        <a:off x="5586624" y="2528450"/>
                        <a:ext cx="301625" cy="365125"/>
                      </a:xfrm>
                      <a:prstGeom prst="rect">
                        <a:avLst/>
                      </a:prstGeom>
                      <a:noFill/>
                      <a:ln w="38100">
                        <a:noFill/>
                        <a:miter/>
                      </a:ln>
                    </p:spPr>
                  </p:pic>
                </p:oleObj>
              </mc:Fallback>
            </mc:AlternateContent>
          </a:graphicData>
        </a:graphic>
      </p:graphicFrame>
      <p:sp>
        <p:nvSpPr>
          <p:cNvPr id="17" name="直接连接符 379922">
            <a:extLst>
              <a:ext uri="{FF2B5EF4-FFF2-40B4-BE49-F238E27FC236}">
                <a16:creationId xmlns="" xmlns:a16="http://schemas.microsoft.com/office/drawing/2014/main" id="{D4578BC7-C229-7D57-EAC7-BD03697F3A14}"/>
              </a:ext>
            </a:extLst>
          </p:cNvPr>
          <p:cNvSpPr/>
          <p:nvPr/>
        </p:nvSpPr>
        <p:spPr>
          <a:xfrm>
            <a:off x="4469024" y="1944250"/>
            <a:ext cx="0" cy="590550"/>
          </a:xfrm>
          <a:prstGeom prst="line">
            <a:avLst/>
          </a:prstGeom>
          <a:ln w="25400" cap="flat" cmpd="sng">
            <a:solidFill>
              <a:srgbClr val="FF0000"/>
            </a:solidFill>
            <a:prstDash val="solid"/>
            <a:round/>
            <a:headEnd type="none" w="med" len="med"/>
            <a:tailEnd type="triangle" w="med" len="med"/>
          </a:ln>
        </p:spPr>
      </p:sp>
      <p:sp>
        <p:nvSpPr>
          <p:cNvPr id="18" name="矩形 17">
            <a:extLst>
              <a:ext uri="{FF2B5EF4-FFF2-40B4-BE49-F238E27FC236}">
                <a16:creationId xmlns="" xmlns:a16="http://schemas.microsoft.com/office/drawing/2014/main" id="{C5EDC8D4-B1AA-329A-D4FA-A0449CECCB15}"/>
              </a:ext>
            </a:extLst>
          </p:cNvPr>
          <p:cNvSpPr/>
          <p:nvPr/>
        </p:nvSpPr>
        <p:spPr>
          <a:xfrm>
            <a:off x="6136010" y="4071337"/>
            <a:ext cx="1717675" cy="396875"/>
          </a:xfrm>
          <a:prstGeom prst="rect">
            <a:avLst/>
          </a:prstGeom>
          <a:noFill/>
          <a:ln w="9525">
            <a:noFill/>
          </a:ln>
        </p:spPr>
        <p:txBody>
          <a:bodyPr wrap="none" anchor="t" anchorCtr="0">
            <a:spAutoFit/>
          </a:bodyPr>
          <a:lstStyle/>
          <a:p>
            <a:pPr algn="ctr"/>
            <a:r>
              <a:rPr lang="zh-CN" altLang="en-US" sz="2000" b="1" dirty="0">
                <a:solidFill>
                  <a:srgbClr val="FF0000"/>
                </a:solidFill>
                <a:latin typeface="Times New Roman" panose="02020603050405020304" pitchFamily="18" charset="0"/>
                <a:ea typeface="宋体" panose="02010600030101010101" pitchFamily="2" charset="-122"/>
              </a:rPr>
              <a:t>即谐振频率：</a:t>
            </a:r>
          </a:p>
        </p:txBody>
      </p:sp>
      <p:pic>
        <p:nvPicPr>
          <p:cNvPr id="19" name="图片 18">
            <a:extLst>
              <a:ext uri="{FF2B5EF4-FFF2-40B4-BE49-F238E27FC236}">
                <a16:creationId xmlns="" xmlns:a16="http://schemas.microsoft.com/office/drawing/2014/main" id="{FF19D04E-F1BA-A660-7381-1678E66FE8B9}"/>
              </a:ext>
            </a:extLst>
          </p:cNvPr>
          <p:cNvPicPr>
            <a:picLocks noChangeAspect="1"/>
          </p:cNvPicPr>
          <p:nvPr/>
        </p:nvPicPr>
        <p:blipFill>
          <a:blip r:embed="rId14"/>
          <a:stretch>
            <a:fillRect/>
          </a:stretch>
        </p:blipFill>
        <p:spPr>
          <a:xfrm>
            <a:off x="6497538" y="5083996"/>
            <a:ext cx="2168525" cy="657225"/>
          </a:xfrm>
          <a:prstGeom prst="rect">
            <a:avLst/>
          </a:prstGeom>
          <a:gradFill rotWithShape="1">
            <a:gsLst>
              <a:gs pos="0">
                <a:srgbClr val="FF99FF"/>
              </a:gs>
              <a:gs pos="50000">
                <a:schemeClr val="bg1"/>
              </a:gs>
              <a:gs pos="100000">
                <a:srgbClr val="FF99FF"/>
              </a:gs>
            </a:gsLst>
            <a:lin ang="5400000" scaled="1"/>
            <a:tileRect/>
          </a:gradFill>
          <a:ln w="9525">
            <a:noFill/>
          </a:ln>
        </p:spPr>
      </p:pic>
      <p:sp>
        <p:nvSpPr>
          <p:cNvPr id="20" name="矩形 19">
            <a:extLst>
              <a:ext uri="{FF2B5EF4-FFF2-40B4-BE49-F238E27FC236}">
                <a16:creationId xmlns="" xmlns:a16="http://schemas.microsoft.com/office/drawing/2014/main" id="{AD54E51E-0E84-B10B-9155-3158491F663E}"/>
              </a:ext>
            </a:extLst>
          </p:cNvPr>
          <p:cNvSpPr/>
          <p:nvPr/>
        </p:nvSpPr>
        <p:spPr>
          <a:xfrm>
            <a:off x="6136010" y="4650170"/>
            <a:ext cx="2484437" cy="457200"/>
          </a:xfrm>
          <a:prstGeom prst="rect">
            <a:avLst/>
          </a:prstGeom>
          <a:noFill/>
          <a:ln w="9525">
            <a:noFill/>
          </a:ln>
        </p:spPr>
        <p:txBody>
          <a:bodyPr wrap="none" anchor="t" anchorCtr="0">
            <a:spAutoFit/>
          </a:bodyPr>
          <a:lstStyle/>
          <a:p>
            <a:pPr algn="ctr">
              <a:lnSpc>
                <a:spcPct val="120000"/>
              </a:lnSpc>
              <a:spcBef>
                <a:spcPct val="20000"/>
              </a:spcBef>
            </a:pPr>
            <a:r>
              <a:rPr lang="zh-CN" altLang="en-US" sz="2000" b="1" dirty="0">
                <a:solidFill>
                  <a:srgbClr val="FF0000"/>
                </a:solidFill>
                <a:latin typeface="Times New Roman" panose="02020603050405020304" pitchFamily="18" charset="0"/>
                <a:ea typeface="宋体" panose="02010600030101010101" pitchFamily="2" charset="-122"/>
              </a:rPr>
              <a:t>回路有载品质因数：</a:t>
            </a:r>
          </a:p>
        </p:txBody>
      </p:sp>
      <p:pic>
        <p:nvPicPr>
          <p:cNvPr id="21" name="图片 20">
            <a:extLst>
              <a:ext uri="{FF2B5EF4-FFF2-40B4-BE49-F238E27FC236}">
                <a16:creationId xmlns="" xmlns:a16="http://schemas.microsoft.com/office/drawing/2014/main" id="{E3E5A487-B0AE-E0B8-32BE-58ACDAC765A2}"/>
              </a:ext>
            </a:extLst>
          </p:cNvPr>
          <p:cNvPicPr>
            <a:picLocks noChangeAspect="1"/>
          </p:cNvPicPr>
          <p:nvPr/>
        </p:nvPicPr>
        <p:blipFill>
          <a:blip r:embed="rId15"/>
          <a:stretch>
            <a:fillRect/>
          </a:stretch>
        </p:blipFill>
        <p:spPr>
          <a:xfrm>
            <a:off x="7650857" y="4034386"/>
            <a:ext cx="1466850" cy="685800"/>
          </a:xfrm>
          <a:prstGeom prst="rect">
            <a:avLst/>
          </a:prstGeom>
          <a:gradFill rotWithShape="1">
            <a:gsLst>
              <a:gs pos="0">
                <a:srgbClr val="FF99FF">
                  <a:alpha val="96999"/>
                </a:srgbClr>
              </a:gs>
              <a:gs pos="50000">
                <a:schemeClr val="bg1"/>
              </a:gs>
              <a:gs pos="100000">
                <a:srgbClr val="FF99FF">
                  <a:alpha val="96999"/>
                </a:srgbClr>
              </a:gs>
            </a:gsLst>
            <a:lin ang="5400000" scaled="1"/>
            <a:tileRect/>
          </a:gradFill>
          <a:ln w="9525">
            <a:noFill/>
          </a:ln>
        </p:spPr>
      </p:pic>
      <p:graphicFrame>
        <p:nvGraphicFramePr>
          <p:cNvPr id="22" name="内容占位符 379921">
            <a:extLst>
              <a:ext uri="{FF2B5EF4-FFF2-40B4-BE49-F238E27FC236}">
                <a16:creationId xmlns="" xmlns:a16="http://schemas.microsoft.com/office/drawing/2014/main" id="{9D10A866-209F-B177-FA16-90109A9CE621}"/>
              </a:ext>
            </a:extLst>
          </p:cNvPr>
          <p:cNvGraphicFramePr>
            <a:graphicFrameLocks/>
          </p:cNvGraphicFramePr>
          <p:nvPr>
            <p:extLst>
              <p:ext uri="{D42A27DB-BD31-4B8C-83A1-F6EECF244321}">
                <p14:modId xmlns:p14="http://schemas.microsoft.com/office/powerpoint/2010/main" val="3496669685"/>
              </p:ext>
            </p:extLst>
          </p:nvPr>
        </p:nvGraphicFramePr>
        <p:xfrm>
          <a:off x="6247507" y="3418600"/>
          <a:ext cx="1641475" cy="704850"/>
        </p:xfrm>
        <a:graphic>
          <a:graphicData uri="http://schemas.openxmlformats.org/presentationml/2006/ole">
            <mc:AlternateContent xmlns:mc="http://schemas.openxmlformats.org/markup-compatibility/2006">
              <mc:Choice xmlns:v="urn:schemas-microsoft-com:vml" Requires="v">
                <p:oleObj spid="_x0000_s65822" r:id="rId16" imgW="1002665" imgH="431800" progId="Equation.DSMT4">
                  <p:embed/>
                </p:oleObj>
              </mc:Choice>
              <mc:Fallback>
                <p:oleObj r:id="rId16" imgW="1002665" imgH="431800" progId="Equation.DSMT4">
                  <p:embed/>
                  <p:pic>
                    <p:nvPicPr>
                      <p:cNvPr id="0" name=""/>
                      <p:cNvPicPr/>
                      <p:nvPr/>
                    </p:nvPicPr>
                    <p:blipFill>
                      <a:blip r:embed="rId17"/>
                      <a:stretch>
                        <a:fillRect/>
                      </a:stretch>
                    </p:blipFill>
                    <p:spPr>
                      <a:xfrm>
                        <a:off x="6247507" y="3418600"/>
                        <a:ext cx="1641475" cy="704850"/>
                      </a:xfrm>
                      <a:prstGeom prst="rect">
                        <a:avLst/>
                      </a:prstGeom>
                      <a:noFill/>
                      <a:ln w="38100">
                        <a:noFill/>
                        <a:miter/>
                      </a:ln>
                    </p:spPr>
                  </p:pic>
                </p:oleObj>
              </mc:Fallback>
            </mc:AlternateContent>
          </a:graphicData>
        </a:graphic>
      </p:graphicFrame>
      <p:sp>
        <p:nvSpPr>
          <p:cNvPr id="23" name="矩形 22">
            <a:extLst>
              <a:ext uri="{FF2B5EF4-FFF2-40B4-BE49-F238E27FC236}">
                <a16:creationId xmlns="" xmlns:a16="http://schemas.microsoft.com/office/drawing/2014/main" id="{6DE2FE7B-4065-6E93-5018-09A2E72634E6}"/>
              </a:ext>
            </a:extLst>
          </p:cNvPr>
          <p:cNvSpPr/>
          <p:nvPr/>
        </p:nvSpPr>
        <p:spPr>
          <a:xfrm>
            <a:off x="5812532" y="3124239"/>
            <a:ext cx="2228850" cy="396875"/>
          </a:xfrm>
          <a:prstGeom prst="rect">
            <a:avLst/>
          </a:prstGeom>
          <a:noFill/>
          <a:ln w="9525">
            <a:noFill/>
          </a:ln>
        </p:spPr>
        <p:txBody>
          <a:bodyPr wrap="none" anchor="t" anchorCtr="0">
            <a:spAutoFit/>
          </a:bodyPr>
          <a:lstStyle/>
          <a:p>
            <a:pPr algn="ctr"/>
            <a:r>
              <a:rPr lang="zh-CN" altLang="en-US" sz="2000" b="1" dirty="0">
                <a:solidFill>
                  <a:schemeClr val="tx1"/>
                </a:solidFill>
                <a:latin typeface="Times New Roman" panose="02020603050405020304" pitchFamily="18" charset="0"/>
                <a:ea typeface="宋体" panose="02010600030101010101" pitchFamily="2" charset="-122"/>
              </a:rPr>
              <a:t>当放大器谐振时：</a:t>
            </a:r>
          </a:p>
        </p:txBody>
      </p:sp>
      <p:sp>
        <p:nvSpPr>
          <p:cNvPr id="24" name="矩形 23">
            <a:extLst>
              <a:ext uri="{FF2B5EF4-FFF2-40B4-BE49-F238E27FC236}">
                <a16:creationId xmlns="" xmlns:a16="http://schemas.microsoft.com/office/drawing/2014/main" id="{BDF9BB21-2A46-8FCB-237D-6D54C2DD5C48}"/>
              </a:ext>
            </a:extLst>
          </p:cNvPr>
          <p:cNvSpPr/>
          <p:nvPr/>
        </p:nvSpPr>
        <p:spPr>
          <a:xfrm>
            <a:off x="2885964" y="3237827"/>
            <a:ext cx="2228850" cy="396875"/>
          </a:xfrm>
          <a:prstGeom prst="rect">
            <a:avLst/>
          </a:prstGeom>
          <a:noFill/>
          <a:ln w="9525">
            <a:noFill/>
          </a:ln>
        </p:spPr>
        <p:txBody>
          <a:bodyPr wrap="none" anchor="t" anchorCtr="0">
            <a:spAutoFit/>
          </a:bodyPr>
          <a:lstStyle/>
          <a:p>
            <a:pPr algn="ctr"/>
            <a:r>
              <a:rPr lang="zh-CN" altLang="en-US" sz="2000" b="1" dirty="0">
                <a:solidFill>
                  <a:srgbClr val="FF0000"/>
                </a:solidFill>
                <a:latin typeface="Times New Roman" panose="02020603050405020304" pitchFamily="18" charset="0"/>
                <a:ea typeface="宋体" panose="02010600030101010101" pitchFamily="2" charset="-122"/>
              </a:rPr>
              <a:t>谐振时电压增益</a:t>
            </a:r>
            <a:r>
              <a:rPr lang="zh-CN" altLang="en-US" sz="2000" b="1" dirty="0">
                <a:latin typeface="Times New Roman" panose="02020603050405020304" pitchFamily="18" charset="0"/>
                <a:ea typeface="宋体" panose="02010600030101010101" pitchFamily="2" charset="-122"/>
              </a:rPr>
              <a:t>：</a:t>
            </a:r>
          </a:p>
        </p:txBody>
      </p:sp>
      <p:graphicFrame>
        <p:nvGraphicFramePr>
          <p:cNvPr id="25" name="内容占位符 379926">
            <a:extLst>
              <a:ext uri="{FF2B5EF4-FFF2-40B4-BE49-F238E27FC236}">
                <a16:creationId xmlns="" xmlns:a16="http://schemas.microsoft.com/office/drawing/2014/main" id="{B14B7138-4119-3D0A-422E-D6D92AF13742}"/>
              </a:ext>
            </a:extLst>
          </p:cNvPr>
          <p:cNvGraphicFramePr>
            <a:graphicFrameLocks/>
          </p:cNvGraphicFramePr>
          <p:nvPr>
            <p:extLst>
              <p:ext uri="{D42A27DB-BD31-4B8C-83A1-F6EECF244321}">
                <p14:modId xmlns:p14="http://schemas.microsoft.com/office/powerpoint/2010/main" val="3289858628"/>
              </p:ext>
            </p:extLst>
          </p:nvPr>
        </p:nvGraphicFramePr>
        <p:xfrm>
          <a:off x="4259356" y="3686235"/>
          <a:ext cx="1658938" cy="755650"/>
        </p:xfrm>
        <a:graphic>
          <a:graphicData uri="http://schemas.openxmlformats.org/presentationml/2006/ole">
            <mc:AlternateContent xmlns:mc="http://schemas.openxmlformats.org/markup-compatibility/2006">
              <mc:Choice xmlns:v="urn:schemas-microsoft-com:vml" Requires="v">
                <p:oleObj spid="_x0000_s65823" r:id="rId18" imgW="1002665" imgH="457200" progId="Equation.DSMT4">
                  <p:embed/>
                </p:oleObj>
              </mc:Choice>
              <mc:Fallback>
                <p:oleObj r:id="rId18" imgW="1002665" imgH="457200" progId="Equation.DSMT4">
                  <p:embed/>
                  <p:pic>
                    <p:nvPicPr>
                      <p:cNvPr id="0" name=""/>
                      <p:cNvPicPr/>
                      <p:nvPr/>
                    </p:nvPicPr>
                    <p:blipFill>
                      <a:blip r:embed="rId19"/>
                      <a:stretch>
                        <a:fillRect/>
                      </a:stretch>
                    </p:blipFill>
                    <p:spPr>
                      <a:xfrm>
                        <a:off x="4259356" y="3686235"/>
                        <a:ext cx="1658938" cy="755650"/>
                      </a:xfrm>
                      <a:prstGeom prst="rect">
                        <a:avLst/>
                      </a:prstGeom>
                      <a:gradFill rotWithShape="1">
                        <a:gsLst>
                          <a:gs pos="0">
                            <a:srgbClr val="FF99FF"/>
                          </a:gs>
                          <a:gs pos="50000">
                            <a:schemeClr val="bg1"/>
                          </a:gs>
                          <a:gs pos="100000">
                            <a:srgbClr val="FF99FF"/>
                          </a:gs>
                        </a:gsLst>
                        <a:lin ang="5400000" scaled="1"/>
                        <a:tileRect/>
                      </a:gradFill>
                      <a:ln w="38100">
                        <a:noFill/>
                        <a:miter/>
                      </a:ln>
                    </p:spPr>
                  </p:pic>
                </p:oleObj>
              </mc:Fallback>
            </mc:AlternateContent>
          </a:graphicData>
        </a:graphic>
      </p:graphicFrame>
      <p:sp>
        <p:nvSpPr>
          <p:cNvPr id="26" name="矩形 25">
            <a:extLst>
              <a:ext uri="{FF2B5EF4-FFF2-40B4-BE49-F238E27FC236}">
                <a16:creationId xmlns="" xmlns:a16="http://schemas.microsoft.com/office/drawing/2014/main" id="{F277D08A-9A0C-A7B5-F0A5-974D3E99C98D}"/>
              </a:ext>
            </a:extLst>
          </p:cNvPr>
          <p:cNvSpPr/>
          <p:nvPr/>
        </p:nvSpPr>
        <p:spPr>
          <a:xfrm>
            <a:off x="2987294" y="5324097"/>
            <a:ext cx="1462088" cy="396875"/>
          </a:xfrm>
          <a:prstGeom prst="rect">
            <a:avLst/>
          </a:prstGeom>
          <a:noFill/>
          <a:ln w="9525">
            <a:noFill/>
          </a:ln>
        </p:spPr>
        <p:txBody>
          <a:bodyPr wrap="none" anchor="t" anchorCtr="0">
            <a:spAutoFit/>
          </a:bodyPr>
          <a:lstStyle/>
          <a:p>
            <a:pPr algn="ctr"/>
            <a:r>
              <a:rPr lang="zh-CN" altLang="en-US" sz="2000" b="1" dirty="0">
                <a:solidFill>
                  <a:srgbClr val="FF0000"/>
                </a:solidFill>
                <a:latin typeface="Times New Roman" panose="02020603050405020304" pitchFamily="18" charset="0"/>
                <a:ea typeface="宋体" panose="02010600030101010101" pitchFamily="2" charset="-122"/>
              </a:rPr>
              <a:t>增益幅值：</a:t>
            </a:r>
          </a:p>
        </p:txBody>
      </p:sp>
      <p:graphicFrame>
        <p:nvGraphicFramePr>
          <p:cNvPr id="27" name="对象 26">
            <a:extLst>
              <a:ext uri="{FF2B5EF4-FFF2-40B4-BE49-F238E27FC236}">
                <a16:creationId xmlns="" xmlns:a16="http://schemas.microsoft.com/office/drawing/2014/main" id="{6EC4F661-621B-AF47-FEB3-4EDA94696C45}"/>
              </a:ext>
            </a:extLst>
          </p:cNvPr>
          <p:cNvGraphicFramePr/>
          <p:nvPr>
            <p:extLst>
              <p:ext uri="{D42A27DB-BD31-4B8C-83A1-F6EECF244321}">
                <p14:modId xmlns:p14="http://schemas.microsoft.com/office/powerpoint/2010/main" val="1242029375"/>
              </p:ext>
            </p:extLst>
          </p:nvPr>
        </p:nvGraphicFramePr>
        <p:xfrm>
          <a:off x="4234074" y="5535798"/>
          <a:ext cx="1670050" cy="682625"/>
        </p:xfrm>
        <a:graphic>
          <a:graphicData uri="http://schemas.openxmlformats.org/presentationml/2006/ole">
            <mc:AlternateContent xmlns:mc="http://schemas.openxmlformats.org/markup-compatibility/2006">
              <mc:Choice xmlns:v="urn:schemas-microsoft-com:vml" Requires="v">
                <p:oleObj spid="_x0000_s65824" r:id="rId20" imgW="977265" imgH="495300" progId="Equation.DSMT4">
                  <p:embed/>
                </p:oleObj>
              </mc:Choice>
              <mc:Fallback>
                <p:oleObj r:id="rId20" imgW="977265" imgH="495300" progId="Equation.DSMT4">
                  <p:embed/>
                  <p:pic>
                    <p:nvPicPr>
                      <p:cNvPr id="0" name=""/>
                      <p:cNvPicPr/>
                      <p:nvPr/>
                    </p:nvPicPr>
                    <p:blipFill>
                      <a:blip r:embed="rId21"/>
                      <a:stretch>
                        <a:fillRect/>
                      </a:stretch>
                    </p:blipFill>
                    <p:spPr>
                      <a:xfrm>
                        <a:off x="4234074" y="5535798"/>
                        <a:ext cx="1670050" cy="682625"/>
                      </a:xfrm>
                      <a:prstGeom prst="rect">
                        <a:avLst/>
                      </a:prstGeom>
                      <a:gradFill rotWithShape="1">
                        <a:gsLst>
                          <a:gs pos="0">
                            <a:srgbClr val="FF99FF"/>
                          </a:gs>
                          <a:gs pos="50000">
                            <a:srgbClr val="FFFFFF"/>
                          </a:gs>
                          <a:gs pos="100000">
                            <a:srgbClr val="FF99FF"/>
                          </a:gs>
                        </a:gsLst>
                        <a:lin ang="5400000" scaled="1"/>
                        <a:tileRect/>
                      </a:gradFill>
                      <a:ln w="38100">
                        <a:noFill/>
                        <a:miter/>
                      </a:ln>
                    </p:spPr>
                  </p:pic>
                </p:oleObj>
              </mc:Fallback>
            </mc:AlternateContent>
          </a:graphicData>
        </a:graphic>
      </p:graphicFrame>
      <p:sp>
        <p:nvSpPr>
          <p:cNvPr id="28" name="矩形 27">
            <a:extLst>
              <a:ext uri="{FF2B5EF4-FFF2-40B4-BE49-F238E27FC236}">
                <a16:creationId xmlns="" xmlns:a16="http://schemas.microsoft.com/office/drawing/2014/main" id="{BF2717F0-3AFA-8B91-6E7E-A3C3A64B9D28}"/>
              </a:ext>
            </a:extLst>
          </p:cNvPr>
          <p:cNvSpPr/>
          <p:nvPr/>
        </p:nvSpPr>
        <p:spPr>
          <a:xfrm>
            <a:off x="3495205" y="4547728"/>
            <a:ext cx="950912" cy="457200"/>
          </a:xfrm>
          <a:prstGeom prst="rect">
            <a:avLst/>
          </a:prstGeom>
          <a:noFill/>
          <a:ln w="9525">
            <a:noFill/>
          </a:ln>
        </p:spPr>
        <p:txBody>
          <a:bodyPr wrap="none" anchor="t" anchorCtr="0">
            <a:spAutoFit/>
          </a:bodyPr>
          <a:lstStyle/>
          <a:p>
            <a:pPr algn="ctr">
              <a:lnSpc>
                <a:spcPct val="120000"/>
              </a:lnSpc>
              <a:spcBef>
                <a:spcPct val="20000"/>
              </a:spcBef>
            </a:pPr>
            <a:r>
              <a:rPr lang="zh-CN" altLang="en-US" sz="2000" b="1" dirty="0">
                <a:solidFill>
                  <a:srgbClr val="FF0000"/>
                </a:solidFill>
                <a:latin typeface="Times New Roman" panose="02020603050405020304" pitchFamily="18" charset="0"/>
                <a:ea typeface="宋体" panose="02010600030101010101" pitchFamily="2" charset="-122"/>
              </a:rPr>
              <a:t>相角：</a:t>
            </a:r>
          </a:p>
        </p:txBody>
      </p:sp>
      <p:graphicFrame>
        <p:nvGraphicFramePr>
          <p:cNvPr id="29" name="对象 28">
            <a:extLst>
              <a:ext uri="{FF2B5EF4-FFF2-40B4-BE49-F238E27FC236}">
                <a16:creationId xmlns="" xmlns:a16="http://schemas.microsoft.com/office/drawing/2014/main" id="{6D3A58D6-D484-CD98-F80B-779869D85837}"/>
              </a:ext>
            </a:extLst>
          </p:cNvPr>
          <p:cNvGraphicFramePr/>
          <p:nvPr>
            <p:extLst>
              <p:ext uri="{D42A27DB-BD31-4B8C-83A1-F6EECF244321}">
                <p14:modId xmlns:p14="http://schemas.microsoft.com/office/powerpoint/2010/main" val="3417561878"/>
              </p:ext>
            </p:extLst>
          </p:nvPr>
        </p:nvGraphicFramePr>
        <p:xfrm>
          <a:off x="4239630" y="4628327"/>
          <a:ext cx="1658937" cy="461963"/>
        </p:xfrm>
        <a:graphic>
          <a:graphicData uri="http://schemas.openxmlformats.org/presentationml/2006/ole">
            <mc:AlternateContent xmlns:mc="http://schemas.openxmlformats.org/markup-compatibility/2006">
              <mc:Choice xmlns:v="urn:schemas-microsoft-com:vml" Requires="v">
                <p:oleObj spid="_x0000_s65825" r:id="rId22" imgW="989965" imgH="254000" progId="Equation.DSMT4">
                  <p:embed/>
                </p:oleObj>
              </mc:Choice>
              <mc:Fallback>
                <p:oleObj r:id="rId22" imgW="989965" imgH="254000" progId="Equation.DSMT4">
                  <p:embed/>
                  <p:pic>
                    <p:nvPicPr>
                      <p:cNvPr id="0" name=""/>
                      <p:cNvPicPr/>
                      <p:nvPr/>
                    </p:nvPicPr>
                    <p:blipFill>
                      <a:blip r:embed="rId23"/>
                      <a:stretch>
                        <a:fillRect/>
                      </a:stretch>
                    </p:blipFill>
                    <p:spPr>
                      <a:xfrm>
                        <a:off x="4239630" y="4628327"/>
                        <a:ext cx="1658937" cy="461963"/>
                      </a:xfrm>
                      <a:prstGeom prst="rect">
                        <a:avLst/>
                      </a:prstGeom>
                      <a:gradFill rotWithShape="1">
                        <a:gsLst>
                          <a:gs pos="0">
                            <a:srgbClr val="FF99FF"/>
                          </a:gs>
                          <a:gs pos="50000">
                            <a:srgbClr val="FFFFFF"/>
                          </a:gs>
                          <a:gs pos="100000">
                            <a:srgbClr val="FF99FF"/>
                          </a:gs>
                        </a:gsLst>
                        <a:lin ang="5400000" scaled="1"/>
                        <a:tileRect/>
                      </a:gradFill>
                      <a:ln w="38100">
                        <a:noFill/>
                        <a:miter/>
                      </a:ln>
                    </p:spPr>
                  </p:pic>
                </p:oleObj>
              </mc:Fallback>
            </mc:AlternateContent>
          </a:graphicData>
        </a:graphic>
      </p:graphicFrame>
    </p:spTree>
    <p:extLst>
      <p:ext uri="{BB962C8B-B14F-4D97-AF65-F5344CB8AC3E}">
        <p14:creationId xmlns:p14="http://schemas.microsoft.com/office/powerpoint/2010/main" val="2297812091"/>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90</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3.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高频</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小信号</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放大器</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5" name="图片 4">
            <a:extLst>
              <a:ext uri="{FF2B5EF4-FFF2-40B4-BE49-F238E27FC236}">
                <a16:creationId xmlns="" xmlns:a16="http://schemas.microsoft.com/office/drawing/2014/main" id="{8868A1DC-0752-0E66-A573-A145C3165A60}"/>
              </a:ext>
            </a:extLst>
          </p:cNvPr>
          <p:cNvPicPr>
            <a:picLocks noChangeAspect="1"/>
          </p:cNvPicPr>
          <p:nvPr/>
        </p:nvPicPr>
        <p:blipFill>
          <a:blip r:embed="rId3">
            <a:clrChange>
              <a:clrFrom>
                <a:srgbClr val="FEFEFE"/>
              </a:clrFrom>
              <a:clrTo>
                <a:srgbClr val="FEFEFE">
                  <a:alpha val="0"/>
                </a:srgbClr>
              </a:clrTo>
            </a:clrChange>
          </a:blip>
          <a:stretch>
            <a:fillRect/>
          </a:stretch>
        </p:blipFill>
        <p:spPr>
          <a:xfrm>
            <a:off x="4276253" y="1111203"/>
            <a:ext cx="2293937" cy="2154238"/>
          </a:xfrm>
          <a:prstGeom prst="rect">
            <a:avLst/>
          </a:prstGeom>
          <a:noFill/>
          <a:ln w="9525">
            <a:noFill/>
          </a:ln>
        </p:spPr>
      </p:pic>
      <p:sp>
        <p:nvSpPr>
          <p:cNvPr id="6" name="矩形 5">
            <a:extLst>
              <a:ext uri="{FF2B5EF4-FFF2-40B4-BE49-F238E27FC236}">
                <a16:creationId xmlns="" xmlns:a16="http://schemas.microsoft.com/office/drawing/2014/main" id="{4863AD25-6B22-CAD1-5076-CF506E3A9436}"/>
              </a:ext>
            </a:extLst>
          </p:cNvPr>
          <p:cNvSpPr/>
          <p:nvPr/>
        </p:nvSpPr>
        <p:spPr>
          <a:xfrm>
            <a:off x="308298" y="1255167"/>
            <a:ext cx="1771650" cy="396875"/>
          </a:xfrm>
          <a:prstGeom prst="rect">
            <a:avLst/>
          </a:prstGeom>
          <a:noFill/>
          <a:ln w="9525">
            <a:noFill/>
          </a:ln>
        </p:spPr>
        <p:txBody>
          <a:bodyPr anchor="ctr" anchorCtr="0">
            <a:spAutoFit/>
          </a:bodyPr>
          <a:lstStyle/>
          <a:p>
            <a:pPr indent="133350"/>
            <a:r>
              <a:rPr lang="en-US" altLang="zh-CN" sz="2000" b="1" dirty="0">
                <a:solidFill>
                  <a:schemeClr val="tx1"/>
                </a:solidFill>
                <a:latin typeface="+mn-ea"/>
                <a:ea typeface="+mn-ea"/>
              </a:rPr>
              <a:t>② </a:t>
            </a:r>
            <a:r>
              <a:rPr lang="zh-CN" altLang="en-US" sz="2000" b="1" dirty="0">
                <a:solidFill>
                  <a:schemeClr val="tx1"/>
                </a:solidFill>
                <a:latin typeface="+mn-ea"/>
                <a:ea typeface="+mn-ea"/>
              </a:rPr>
              <a:t>谐振曲线</a:t>
            </a:r>
          </a:p>
        </p:txBody>
      </p:sp>
      <p:pic>
        <p:nvPicPr>
          <p:cNvPr id="7" name="图片 6">
            <a:extLst>
              <a:ext uri="{FF2B5EF4-FFF2-40B4-BE49-F238E27FC236}">
                <a16:creationId xmlns="" xmlns:a16="http://schemas.microsoft.com/office/drawing/2014/main" id="{EAA21D5B-F6EC-71BF-D77F-EEC6A41ECAB6}"/>
              </a:ext>
            </a:extLst>
          </p:cNvPr>
          <p:cNvPicPr>
            <a:picLocks noChangeAspect="1"/>
          </p:cNvPicPr>
          <p:nvPr/>
        </p:nvPicPr>
        <p:blipFill>
          <a:blip r:embed="rId4"/>
          <a:stretch>
            <a:fillRect/>
          </a:stretch>
        </p:blipFill>
        <p:spPr>
          <a:xfrm>
            <a:off x="435620" y="1652042"/>
            <a:ext cx="1485900" cy="800100"/>
          </a:xfrm>
          <a:prstGeom prst="rect">
            <a:avLst/>
          </a:prstGeom>
          <a:noFill/>
          <a:ln w="9525">
            <a:noFill/>
          </a:ln>
        </p:spPr>
      </p:pic>
      <p:sp>
        <p:nvSpPr>
          <p:cNvPr id="8" name="矩形 7">
            <a:extLst>
              <a:ext uri="{FF2B5EF4-FFF2-40B4-BE49-F238E27FC236}">
                <a16:creationId xmlns="" xmlns:a16="http://schemas.microsoft.com/office/drawing/2014/main" id="{2ADE95E8-32AD-1A33-6DF7-41092CBD7A1B}"/>
              </a:ext>
            </a:extLst>
          </p:cNvPr>
          <p:cNvSpPr/>
          <p:nvPr/>
        </p:nvSpPr>
        <p:spPr>
          <a:xfrm>
            <a:off x="1688158" y="1807617"/>
            <a:ext cx="1973262" cy="396875"/>
          </a:xfrm>
          <a:prstGeom prst="rect">
            <a:avLst/>
          </a:prstGeom>
          <a:noFill/>
          <a:ln w="9525">
            <a:noFill/>
          </a:ln>
        </p:spPr>
        <p:txBody>
          <a:bodyPr wrap="none" anchor="t" anchorCtr="0">
            <a:spAutoFit/>
          </a:bodyPr>
          <a:lstStyle/>
          <a:p>
            <a:r>
              <a:rPr lang="zh-CN" altLang="en-US" sz="2000" b="1" dirty="0">
                <a:solidFill>
                  <a:schemeClr val="tx1"/>
                </a:solidFill>
                <a:latin typeface="+mn-ea"/>
                <a:ea typeface="+mn-ea"/>
              </a:rPr>
              <a:t>－</a:t>
            </a:r>
            <a:r>
              <a:rPr lang="zh-CN" altLang="en-US" sz="2000" b="1" dirty="0">
                <a:solidFill>
                  <a:srgbClr val="FF0000"/>
                </a:solidFill>
                <a:latin typeface="+mn-ea"/>
                <a:ea typeface="+mn-ea"/>
              </a:rPr>
              <a:t>广义失谐因子</a:t>
            </a:r>
          </a:p>
        </p:txBody>
      </p:sp>
      <p:graphicFrame>
        <p:nvGraphicFramePr>
          <p:cNvPr id="9" name="内容占位符 380941">
            <a:extLst>
              <a:ext uri="{FF2B5EF4-FFF2-40B4-BE49-F238E27FC236}">
                <a16:creationId xmlns="" xmlns:a16="http://schemas.microsoft.com/office/drawing/2014/main" id="{C76D6A06-2B90-3C2A-E35E-33B0F79A1727}"/>
              </a:ext>
            </a:extLst>
          </p:cNvPr>
          <p:cNvGraphicFramePr>
            <a:graphicFrameLocks/>
          </p:cNvGraphicFramePr>
          <p:nvPr>
            <p:extLst>
              <p:ext uri="{D42A27DB-BD31-4B8C-83A1-F6EECF244321}">
                <p14:modId xmlns:p14="http://schemas.microsoft.com/office/powerpoint/2010/main" val="3789268913"/>
              </p:ext>
            </p:extLst>
          </p:nvPr>
        </p:nvGraphicFramePr>
        <p:xfrm>
          <a:off x="308298" y="2386982"/>
          <a:ext cx="3846512" cy="1228725"/>
        </p:xfrm>
        <a:graphic>
          <a:graphicData uri="http://schemas.openxmlformats.org/presentationml/2006/ole">
            <mc:AlternateContent xmlns:mc="http://schemas.openxmlformats.org/markup-compatibility/2006">
              <mc:Choice xmlns:v="urn:schemas-microsoft-com:vml" Requires="v">
                <p:oleObj spid="_x0000_s66750" r:id="rId5" imgW="2107565" imgH="673100" progId="Equation.3">
                  <p:embed/>
                </p:oleObj>
              </mc:Choice>
              <mc:Fallback>
                <p:oleObj r:id="rId5" imgW="2107565" imgH="673100" progId="Equation.3">
                  <p:embed/>
                  <p:pic>
                    <p:nvPicPr>
                      <p:cNvPr id="0" name=""/>
                      <p:cNvPicPr/>
                      <p:nvPr/>
                    </p:nvPicPr>
                    <p:blipFill>
                      <a:blip r:embed="rId6"/>
                      <a:stretch>
                        <a:fillRect/>
                      </a:stretch>
                    </p:blipFill>
                    <p:spPr>
                      <a:xfrm>
                        <a:off x="308298" y="2386982"/>
                        <a:ext cx="3846512" cy="1228725"/>
                      </a:xfrm>
                      <a:prstGeom prst="rect">
                        <a:avLst/>
                      </a:prstGeom>
                      <a:gradFill rotWithShape="1">
                        <a:gsLst>
                          <a:gs pos="0">
                            <a:srgbClr val="FF99FF"/>
                          </a:gs>
                          <a:gs pos="50000">
                            <a:schemeClr val="bg1"/>
                          </a:gs>
                          <a:gs pos="100000">
                            <a:srgbClr val="FF99FF"/>
                          </a:gs>
                        </a:gsLst>
                        <a:lin ang="5400000" scaled="1"/>
                        <a:tileRect/>
                      </a:gradFill>
                      <a:ln w="38100">
                        <a:noFill/>
                        <a:miter/>
                      </a:ln>
                    </p:spPr>
                  </p:pic>
                </p:oleObj>
              </mc:Fallback>
            </mc:AlternateContent>
          </a:graphicData>
        </a:graphic>
      </p:graphicFrame>
      <p:pic>
        <p:nvPicPr>
          <p:cNvPr id="10" name="图片 9">
            <a:extLst>
              <a:ext uri="{FF2B5EF4-FFF2-40B4-BE49-F238E27FC236}">
                <a16:creationId xmlns="" xmlns:a16="http://schemas.microsoft.com/office/drawing/2014/main" id="{28C9591F-54CA-F557-42F7-3FCF3BF7EF9A}"/>
              </a:ext>
            </a:extLst>
          </p:cNvPr>
          <p:cNvPicPr>
            <a:picLocks noChangeAspect="1"/>
          </p:cNvPicPr>
          <p:nvPr/>
        </p:nvPicPr>
        <p:blipFill>
          <a:blip r:embed="rId7">
            <a:clrChange>
              <a:clrFrom>
                <a:srgbClr val="FFFFFF"/>
              </a:clrFrom>
              <a:clrTo>
                <a:srgbClr val="FFFFFF">
                  <a:alpha val="0"/>
                </a:srgbClr>
              </a:clrTo>
            </a:clrChange>
          </a:blip>
          <a:srcRect l="6270"/>
          <a:stretch>
            <a:fillRect/>
          </a:stretch>
        </p:blipFill>
        <p:spPr>
          <a:xfrm>
            <a:off x="6691634" y="1111203"/>
            <a:ext cx="2301875" cy="2174875"/>
          </a:xfrm>
          <a:prstGeom prst="rect">
            <a:avLst/>
          </a:prstGeom>
          <a:noFill/>
          <a:ln w="9525">
            <a:noFill/>
          </a:ln>
        </p:spPr>
      </p:pic>
      <p:sp>
        <p:nvSpPr>
          <p:cNvPr id="41" name="矩形 381957">
            <a:extLst>
              <a:ext uri="{FF2B5EF4-FFF2-40B4-BE49-F238E27FC236}">
                <a16:creationId xmlns="" xmlns:a16="http://schemas.microsoft.com/office/drawing/2014/main" id="{86955B23-2BB2-645B-C93A-F532E99B1427}"/>
              </a:ext>
            </a:extLst>
          </p:cNvPr>
          <p:cNvSpPr/>
          <p:nvPr/>
        </p:nvSpPr>
        <p:spPr>
          <a:xfrm>
            <a:off x="282104" y="3887710"/>
            <a:ext cx="2292350" cy="396875"/>
          </a:xfrm>
          <a:prstGeom prst="rect">
            <a:avLst/>
          </a:prstGeom>
          <a:noFill/>
          <a:ln w="9525">
            <a:noFill/>
          </a:ln>
        </p:spPr>
        <p:txBody>
          <a:bodyPr wrap="none" anchor="ctr" anchorCtr="0">
            <a:spAutoFit/>
          </a:bodyPr>
          <a:lstStyle/>
          <a:p>
            <a:r>
              <a:rPr lang="en-US" altLang="zh-CN" sz="2000" b="1" dirty="0">
                <a:solidFill>
                  <a:schemeClr val="tx1"/>
                </a:solidFill>
                <a:latin typeface="Times New Roman" panose="02020603050405020304" pitchFamily="18" charset="0"/>
                <a:ea typeface="宋体" panose="02010600030101010101" pitchFamily="2" charset="-122"/>
              </a:rPr>
              <a:t>③ </a:t>
            </a:r>
            <a:r>
              <a:rPr lang="zh-CN" altLang="en-US" sz="2000" b="1" dirty="0">
                <a:solidFill>
                  <a:schemeClr val="tx1"/>
                </a:solidFill>
                <a:latin typeface="Times New Roman" panose="02020603050405020304" pitchFamily="18" charset="0"/>
                <a:ea typeface="宋体" panose="02010600030101010101" pitchFamily="2" charset="-122"/>
              </a:rPr>
              <a:t>放大器的通频带</a:t>
            </a:r>
          </a:p>
        </p:txBody>
      </p:sp>
      <p:graphicFrame>
        <p:nvGraphicFramePr>
          <p:cNvPr id="42" name="内容占位符 381960">
            <a:extLst>
              <a:ext uri="{FF2B5EF4-FFF2-40B4-BE49-F238E27FC236}">
                <a16:creationId xmlns="" xmlns:a16="http://schemas.microsoft.com/office/drawing/2014/main" id="{AB100812-F665-5242-2C69-8689DFA542E5}"/>
              </a:ext>
            </a:extLst>
          </p:cNvPr>
          <p:cNvGraphicFramePr>
            <a:graphicFrameLocks/>
          </p:cNvGraphicFramePr>
          <p:nvPr>
            <p:extLst>
              <p:ext uri="{D42A27DB-BD31-4B8C-83A1-F6EECF244321}">
                <p14:modId xmlns:p14="http://schemas.microsoft.com/office/powerpoint/2010/main" val="953958682"/>
              </p:ext>
            </p:extLst>
          </p:nvPr>
        </p:nvGraphicFramePr>
        <p:xfrm>
          <a:off x="2730029" y="3887710"/>
          <a:ext cx="1247775" cy="728662"/>
        </p:xfrm>
        <a:graphic>
          <a:graphicData uri="http://schemas.openxmlformats.org/presentationml/2006/ole">
            <mc:AlternateContent xmlns:mc="http://schemas.openxmlformats.org/markup-compatibility/2006">
              <mc:Choice xmlns:v="urn:schemas-microsoft-com:vml" Requires="v">
                <p:oleObj spid="_x0000_s66751" r:id="rId8" imgW="748665" imgH="431800" progId="Equation.3">
                  <p:embed/>
                </p:oleObj>
              </mc:Choice>
              <mc:Fallback>
                <p:oleObj r:id="rId8" imgW="748665" imgH="431800" progId="Equation.3">
                  <p:embed/>
                  <p:pic>
                    <p:nvPicPr>
                      <p:cNvPr id="0" name=""/>
                      <p:cNvPicPr/>
                      <p:nvPr/>
                    </p:nvPicPr>
                    <p:blipFill>
                      <a:blip r:embed="rId9"/>
                      <a:stretch>
                        <a:fillRect/>
                      </a:stretch>
                    </p:blipFill>
                    <p:spPr>
                      <a:xfrm>
                        <a:off x="2730029" y="3887710"/>
                        <a:ext cx="1247775" cy="728662"/>
                      </a:xfrm>
                      <a:prstGeom prst="rect">
                        <a:avLst/>
                      </a:prstGeom>
                      <a:gradFill rotWithShape="1">
                        <a:gsLst>
                          <a:gs pos="0">
                            <a:srgbClr val="FF99FF"/>
                          </a:gs>
                          <a:gs pos="50000">
                            <a:schemeClr val="bg1"/>
                          </a:gs>
                          <a:gs pos="100000">
                            <a:srgbClr val="FF99FF"/>
                          </a:gs>
                        </a:gsLst>
                        <a:lin ang="5400000" scaled="1"/>
                        <a:tileRect/>
                      </a:gradFill>
                      <a:ln w="38100">
                        <a:noFill/>
                        <a:miter/>
                      </a:ln>
                    </p:spPr>
                  </p:pic>
                </p:oleObj>
              </mc:Fallback>
            </mc:AlternateContent>
          </a:graphicData>
        </a:graphic>
      </p:graphicFrame>
      <p:pic>
        <p:nvPicPr>
          <p:cNvPr id="43" name="图片 42">
            <a:extLst>
              <a:ext uri="{FF2B5EF4-FFF2-40B4-BE49-F238E27FC236}">
                <a16:creationId xmlns="" xmlns:a16="http://schemas.microsoft.com/office/drawing/2014/main" id="{1391AD99-6559-D807-CFE1-93270551B1E9}"/>
              </a:ext>
            </a:extLst>
          </p:cNvPr>
          <p:cNvPicPr>
            <a:picLocks noChangeAspect="1"/>
          </p:cNvPicPr>
          <p:nvPr/>
        </p:nvPicPr>
        <p:blipFill>
          <a:blip r:embed="rId7">
            <a:clrChange>
              <a:clrFrom>
                <a:srgbClr val="FEFEFE"/>
              </a:clrFrom>
              <a:clrTo>
                <a:srgbClr val="FEFEFE">
                  <a:alpha val="0"/>
                </a:srgbClr>
              </a:clrTo>
            </a:clrChange>
          </a:blip>
          <a:srcRect l="6270"/>
          <a:stretch>
            <a:fillRect/>
          </a:stretch>
        </p:blipFill>
        <p:spPr>
          <a:xfrm>
            <a:off x="4712023" y="3286078"/>
            <a:ext cx="2301875" cy="2174875"/>
          </a:xfrm>
          <a:prstGeom prst="rect">
            <a:avLst/>
          </a:prstGeom>
          <a:noFill/>
          <a:ln w="9525">
            <a:noFill/>
          </a:ln>
        </p:spPr>
      </p:pic>
      <p:sp>
        <p:nvSpPr>
          <p:cNvPr id="44" name="矩形 43">
            <a:extLst>
              <a:ext uri="{FF2B5EF4-FFF2-40B4-BE49-F238E27FC236}">
                <a16:creationId xmlns="" xmlns:a16="http://schemas.microsoft.com/office/drawing/2014/main" id="{3FD16E0E-5C31-6FD3-7693-45337F00726A}"/>
              </a:ext>
            </a:extLst>
          </p:cNvPr>
          <p:cNvSpPr/>
          <p:nvPr/>
        </p:nvSpPr>
        <p:spPr>
          <a:xfrm>
            <a:off x="5207323" y="4895803"/>
            <a:ext cx="1069975" cy="204788"/>
          </a:xfrm>
          <a:prstGeom prst="rect">
            <a:avLst/>
          </a:prstGeom>
          <a:noFill/>
          <a:ln w="19050" cap="flat" cmpd="sng">
            <a:solidFill>
              <a:schemeClr val="tx1"/>
            </a:solidFill>
            <a:prstDash val="dash"/>
            <a:miter/>
            <a:headEnd type="none" w="med" len="med"/>
            <a:tailEnd type="none" w="med" len="med"/>
          </a:ln>
        </p:spPr>
        <p:txBody>
          <a:bodyPr anchor="t" anchorCtr="0"/>
          <a:lstStyle/>
          <a:p>
            <a:endParaRPr lang="zh-CN" altLang="en-US" dirty="0">
              <a:solidFill>
                <a:schemeClr val="accent2"/>
              </a:solidFill>
              <a:latin typeface="Times New Roman" panose="02020603050405020304" pitchFamily="18" charset="0"/>
              <a:ea typeface="宋体" panose="02010600030101010101" pitchFamily="2" charset="-122"/>
            </a:endParaRPr>
          </a:p>
        </p:txBody>
      </p:sp>
      <p:sp>
        <p:nvSpPr>
          <p:cNvPr id="45" name="矩形 44">
            <a:extLst>
              <a:ext uri="{FF2B5EF4-FFF2-40B4-BE49-F238E27FC236}">
                <a16:creationId xmlns="" xmlns:a16="http://schemas.microsoft.com/office/drawing/2014/main" id="{DCCB058F-75AF-A3AB-A77A-A71112322432}"/>
              </a:ext>
            </a:extLst>
          </p:cNvPr>
          <p:cNvSpPr/>
          <p:nvPr/>
        </p:nvSpPr>
        <p:spPr>
          <a:xfrm>
            <a:off x="6291585" y="4697366"/>
            <a:ext cx="1117600" cy="366712"/>
          </a:xfrm>
          <a:prstGeom prst="rect">
            <a:avLst/>
          </a:prstGeom>
          <a:noFill/>
          <a:ln w="9525">
            <a:noFill/>
          </a:ln>
        </p:spPr>
        <p:txBody>
          <a:bodyPr anchor="t" anchorCtr="0">
            <a:spAutoFit/>
          </a:bodyPr>
          <a:lstStyle/>
          <a:p>
            <a:r>
              <a:rPr lang="en-US" altLang="zh-CN" sz="1800" b="1">
                <a:solidFill>
                  <a:schemeClr val="accent2"/>
                </a:solidFill>
                <a:latin typeface="Times New Roman" panose="02020603050405020304" pitchFamily="18" charset="0"/>
                <a:ea typeface="宋体" panose="02010600030101010101" pitchFamily="2" charset="-122"/>
              </a:rPr>
              <a:t>0.1</a:t>
            </a:r>
          </a:p>
        </p:txBody>
      </p:sp>
      <p:sp>
        <p:nvSpPr>
          <p:cNvPr id="46" name="直接连接符 45">
            <a:extLst>
              <a:ext uri="{FF2B5EF4-FFF2-40B4-BE49-F238E27FC236}">
                <a16:creationId xmlns="" xmlns:a16="http://schemas.microsoft.com/office/drawing/2014/main" id="{14973311-02FF-292E-7894-7CAA088FB53C}"/>
              </a:ext>
            </a:extLst>
          </p:cNvPr>
          <p:cNvSpPr/>
          <p:nvPr/>
        </p:nvSpPr>
        <p:spPr>
          <a:xfrm flipV="1">
            <a:off x="5196210" y="4972003"/>
            <a:ext cx="1114425" cy="0"/>
          </a:xfrm>
          <a:prstGeom prst="line">
            <a:avLst/>
          </a:prstGeom>
          <a:ln w="19050" cap="flat" cmpd="sng">
            <a:solidFill>
              <a:srgbClr val="009900"/>
            </a:solidFill>
            <a:prstDash val="solid"/>
            <a:round/>
            <a:headEnd type="stealth" w="med" len="med"/>
            <a:tailEnd type="stealth" w="med" len="med"/>
          </a:ln>
        </p:spPr>
      </p:sp>
      <p:sp>
        <p:nvSpPr>
          <p:cNvPr id="47" name="矩形 46">
            <a:extLst>
              <a:ext uri="{FF2B5EF4-FFF2-40B4-BE49-F238E27FC236}">
                <a16:creationId xmlns="" xmlns:a16="http://schemas.microsoft.com/office/drawing/2014/main" id="{4F437CDA-276C-CEFD-D9CC-055B9FAECAD8}"/>
              </a:ext>
            </a:extLst>
          </p:cNvPr>
          <p:cNvSpPr/>
          <p:nvPr/>
        </p:nvSpPr>
        <p:spPr>
          <a:xfrm>
            <a:off x="4154810" y="4735466"/>
            <a:ext cx="1362075" cy="366712"/>
          </a:xfrm>
          <a:prstGeom prst="rect">
            <a:avLst/>
          </a:prstGeom>
          <a:noFill/>
          <a:ln w="9525">
            <a:noFill/>
          </a:ln>
        </p:spPr>
        <p:txBody>
          <a:bodyPr anchor="t" anchorCtr="0">
            <a:spAutoFit/>
          </a:bodyPr>
          <a:lstStyle/>
          <a:p>
            <a:r>
              <a:rPr lang="en-US" altLang="zh-CN" sz="1800" b="1" i="1">
                <a:solidFill>
                  <a:schemeClr val="accent2"/>
                </a:solidFill>
                <a:latin typeface="Times New Roman" panose="02020603050405020304" pitchFamily="18" charset="0"/>
                <a:ea typeface="宋体" panose="02010600030101010101" pitchFamily="2" charset="-122"/>
              </a:rPr>
              <a:t>2</a:t>
            </a:r>
            <a:r>
              <a:rPr lang="en-US" altLang="zh-CN" sz="1800" b="1" i="1">
                <a:solidFill>
                  <a:schemeClr val="accent2"/>
                </a:solidFill>
                <a:latin typeface="Times New Roman" panose="02020603050405020304" pitchFamily="18" charset="0"/>
                <a:ea typeface="黑体" panose="02010609060101010101" pitchFamily="2" charset="-122"/>
              </a:rPr>
              <a:t>△</a:t>
            </a:r>
            <a:r>
              <a:rPr lang="en-US" altLang="zh-CN" sz="1800" b="1" i="1">
                <a:solidFill>
                  <a:schemeClr val="accent2"/>
                </a:solidFill>
                <a:latin typeface="Times New Roman" panose="02020603050405020304" pitchFamily="18" charset="0"/>
                <a:ea typeface="宋体" panose="02010600030101010101" pitchFamily="2" charset="-122"/>
              </a:rPr>
              <a:t>f</a:t>
            </a:r>
            <a:r>
              <a:rPr lang="en-US" altLang="zh-CN" sz="1800" b="1" baseline="-25000">
                <a:solidFill>
                  <a:schemeClr val="accent2"/>
                </a:solidFill>
                <a:latin typeface="Times New Roman" panose="02020603050405020304" pitchFamily="18" charset="0"/>
                <a:ea typeface="宋体" panose="02010600030101010101" pitchFamily="2" charset="-122"/>
              </a:rPr>
              <a:t>0.1</a:t>
            </a:r>
          </a:p>
        </p:txBody>
      </p:sp>
      <p:sp>
        <p:nvSpPr>
          <p:cNvPr id="48" name="矩形 47">
            <a:extLst>
              <a:ext uri="{FF2B5EF4-FFF2-40B4-BE49-F238E27FC236}">
                <a16:creationId xmlns="" xmlns:a16="http://schemas.microsoft.com/office/drawing/2014/main" id="{8E57CF83-C6FF-A3F6-5BB2-B05EDFBED892}"/>
              </a:ext>
            </a:extLst>
          </p:cNvPr>
          <p:cNvSpPr/>
          <p:nvPr/>
        </p:nvSpPr>
        <p:spPr>
          <a:xfrm>
            <a:off x="5307335" y="5072016"/>
            <a:ext cx="557213" cy="549275"/>
          </a:xfrm>
          <a:prstGeom prst="rect">
            <a:avLst/>
          </a:prstGeom>
          <a:noFill/>
          <a:ln w="9525">
            <a:noFill/>
          </a:ln>
        </p:spPr>
        <p:txBody>
          <a:bodyPr anchor="t" anchorCtr="0">
            <a:spAutoFit/>
          </a:bodyPr>
          <a:lstStyle/>
          <a:p>
            <a:r>
              <a:rPr lang="en-US" altLang="zh-CN" sz="1800" b="1" i="1">
                <a:solidFill>
                  <a:schemeClr val="accent2"/>
                </a:solidFill>
                <a:latin typeface="Times New Roman" panose="02020603050405020304" pitchFamily="18" charset="0"/>
                <a:ea typeface="黑体" panose="02010609060101010101" pitchFamily="2" charset="-122"/>
              </a:rPr>
              <a:t>f</a:t>
            </a:r>
            <a:r>
              <a:rPr lang="en-US" altLang="zh-CN" sz="1800" b="1" i="1" baseline="-25000">
                <a:solidFill>
                  <a:schemeClr val="accent2"/>
                </a:solidFill>
                <a:latin typeface="Times New Roman" panose="02020603050405020304" pitchFamily="18" charset="0"/>
                <a:ea typeface="黑体" panose="02010609060101010101" pitchFamily="2" charset="-122"/>
              </a:rPr>
              <a:t>1</a:t>
            </a:r>
          </a:p>
          <a:p>
            <a:endParaRPr lang="en-US" altLang="zh-CN" sz="1800" b="1" baseline="-25000">
              <a:solidFill>
                <a:schemeClr val="accent2"/>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49" name="直接连接符 48">
            <a:extLst>
              <a:ext uri="{FF2B5EF4-FFF2-40B4-BE49-F238E27FC236}">
                <a16:creationId xmlns="" xmlns:a16="http://schemas.microsoft.com/office/drawing/2014/main" id="{80046FA6-F38F-EDAB-F7A3-3834787FE44D}"/>
              </a:ext>
            </a:extLst>
          </p:cNvPr>
          <p:cNvSpPr/>
          <p:nvPr/>
        </p:nvSpPr>
        <p:spPr>
          <a:xfrm flipV="1">
            <a:off x="5543873" y="4702128"/>
            <a:ext cx="419100" cy="0"/>
          </a:xfrm>
          <a:prstGeom prst="line">
            <a:avLst/>
          </a:prstGeom>
          <a:ln w="19050" cap="flat" cmpd="sng">
            <a:solidFill>
              <a:srgbClr val="996600"/>
            </a:solidFill>
            <a:prstDash val="solid"/>
            <a:round/>
            <a:headEnd type="stealth" w="med" len="med"/>
            <a:tailEnd type="stealth" w="med" len="med"/>
          </a:ln>
        </p:spPr>
      </p:sp>
      <p:sp>
        <p:nvSpPr>
          <p:cNvPr id="50" name="矩形 49">
            <a:extLst>
              <a:ext uri="{FF2B5EF4-FFF2-40B4-BE49-F238E27FC236}">
                <a16:creationId xmlns="" xmlns:a16="http://schemas.microsoft.com/office/drawing/2014/main" id="{464AAF32-4B0C-04DF-86FA-7D3488FDD2C9}"/>
              </a:ext>
            </a:extLst>
          </p:cNvPr>
          <p:cNvSpPr/>
          <p:nvPr/>
        </p:nvSpPr>
        <p:spPr>
          <a:xfrm>
            <a:off x="5550223" y="4410028"/>
            <a:ext cx="381000" cy="676275"/>
          </a:xfrm>
          <a:prstGeom prst="rect">
            <a:avLst/>
          </a:prstGeom>
          <a:noFill/>
          <a:ln w="19050" cap="flat" cmpd="sng">
            <a:solidFill>
              <a:schemeClr val="tx1"/>
            </a:solidFill>
            <a:prstDash val="dash"/>
            <a:miter/>
            <a:headEnd type="none" w="med" len="med"/>
            <a:tailEnd type="none" w="med" len="med"/>
          </a:ln>
        </p:spPr>
        <p:txBody>
          <a:bodyPr anchor="t" anchorCtr="0"/>
          <a:lstStyle/>
          <a:p>
            <a:endParaRPr lang="zh-CN" altLang="en-US" dirty="0">
              <a:solidFill>
                <a:schemeClr val="accent2"/>
              </a:solidFill>
              <a:latin typeface="Times New Roman" panose="02020603050405020304" pitchFamily="18" charset="0"/>
              <a:ea typeface="宋体" panose="02010600030101010101" pitchFamily="2" charset="-122"/>
            </a:endParaRPr>
          </a:p>
        </p:txBody>
      </p:sp>
      <p:sp>
        <p:nvSpPr>
          <p:cNvPr id="51" name="矩形 50">
            <a:extLst>
              <a:ext uri="{FF2B5EF4-FFF2-40B4-BE49-F238E27FC236}">
                <a16:creationId xmlns="" xmlns:a16="http://schemas.microsoft.com/office/drawing/2014/main" id="{F60621C3-820D-495E-12FA-E78C0CB89C38}"/>
              </a:ext>
            </a:extLst>
          </p:cNvPr>
          <p:cNvSpPr/>
          <p:nvPr/>
        </p:nvSpPr>
        <p:spPr>
          <a:xfrm>
            <a:off x="4491360" y="4452891"/>
            <a:ext cx="1098550" cy="366712"/>
          </a:xfrm>
          <a:prstGeom prst="rect">
            <a:avLst/>
          </a:prstGeom>
          <a:noFill/>
          <a:ln w="9525">
            <a:noFill/>
          </a:ln>
        </p:spPr>
        <p:txBody>
          <a:bodyPr anchor="t" anchorCtr="0">
            <a:spAutoFit/>
          </a:bodyPr>
          <a:lstStyle/>
          <a:p>
            <a:r>
              <a:rPr lang="en-US" altLang="zh-CN" sz="1800" b="1" i="1">
                <a:solidFill>
                  <a:schemeClr val="accent2"/>
                </a:solidFill>
                <a:latin typeface="Times New Roman" panose="02020603050405020304" pitchFamily="18" charset="0"/>
                <a:ea typeface="宋体" panose="02010600030101010101" pitchFamily="2" charset="-122"/>
              </a:rPr>
              <a:t>2</a:t>
            </a:r>
            <a:r>
              <a:rPr lang="en-US" altLang="zh-CN" sz="1800" b="1" i="1">
                <a:solidFill>
                  <a:schemeClr val="accent2"/>
                </a:solidFill>
                <a:latin typeface="Times New Roman" panose="02020603050405020304" pitchFamily="18" charset="0"/>
                <a:ea typeface="黑体" panose="02010609060101010101" pitchFamily="2" charset="-122"/>
              </a:rPr>
              <a:t>△</a:t>
            </a:r>
            <a:r>
              <a:rPr lang="en-US" altLang="zh-CN" sz="1800" b="1" i="1">
                <a:solidFill>
                  <a:schemeClr val="accent2"/>
                </a:solidFill>
                <a:latin typeface="Times New Roman" panose="02020603050405020304" pitchFamily="18" charset="0"/>
                <a:ea typeface="宋体" panose="02010600030101010101" pitchFamily="2" charset="-122"/>
              </a:rPr>
              <a:t>f</a:t>
            </a:r>
            <a:r>
              <a:rPr lang="en-US" altLang="zh-CN" sz="1800" b="1" baseline="-25000">
                <a:solidFill>
                  <a:schemeClr val="accent2"/>
                </a:solidFill>
                <a:latin typeface="Times New Roman" panose="02020603050405020304" pitchFamily="18" charset="0"/>
                <a:ea typeface="宋体" panose="02010600030101010101" pitchFamily="2" charset="-122"/>
              </a:rPr>
              <a:t>0.7</a:t>
            </a:r>
          </a:p>
        </p:txBody>
      </p:sp>
      <p:sp>
        <p:nvSpPr>
          <p:cNvPr id="52" name="矩形 51">
            <a:extLst>
              <a:ext uri="{FF2B5EF4-FFF2-40B4-BE49-F238E27FC236}">
                <a16:creationId xmlns="" xmlns:a16="http://schemas.microsoft.com/office/drawing/2014/main" id="{247BCA2C-57AF-E2F3-A4C8-FE3C425F38B0}"/>
              </a:ext>
            </a:extLst>
          </p:cNvPr>
          <p:cNvSpPr/>
          <p:nvPr/>
        </p:nvSpPr>
        <p:spPr>
          <a:xfrm>
            <a:off x="5878835" y="5067253"/>
            <a:ext cx="379413" cy="549275"/>
          </a:xfrm>
          <a:prstGeom prst="rect">
            <a:avLst/>
          </a:prstGeom>
          <a:noFill/>
          <a:ln w="9525">
            <a:noFill/>
          </a:ln>
        </p:spPr>
        <p:txBody>
          <a:bodyPr anchor="t" anchorCtr="0">
            <a:spAutoFit/>
          </a:bodyPr>
          <a:lstStyle/>
          <a:p>
            <a:r>
              <a:rPr lang="en-US" altLang="zh-CN" sz="1800" b="1" i="1">
                <a:solidFill>
                  <a:schemeClr val="accent2"/>
                </a:solidFill>
                <a:latin typeface="Times New Roman" panose="02020603050405020304" pitchFamily="18" charset="0"/>
                <a:ea typeface="黑体" panose="02010609060101010101" pitchFamily="2" charset="-122"/>
              </a:rPr>
              <a:t>f</a:t>
            </a:r>
            <a:r>
              <a:rPr lang="en-US" altLang="zh-CN" sz="1800" b="1" i="1" baseline="-25000">
                <a:solidFill>
                  <a:schemeClr val="accent2"/>
                </a:solidFill>
                <a:latin typeface="Times New Roman" panose="02020603050405020304" pitchFamily="18" charset="0"/>
                <a:ea typeface="黑体" panose="02010609060101010101" pitchFamily="2" charset="-122"/>
              </a:rPr>
              <a:t>2</a:t>
            </a:r>
          </a:p>
          <a:p>
            <a:endParaRPr lang="en-US" altLang="zh-CN" sz="1800" b="1" baseline="-25000">
              <a:solidFill>
                <a:schemeClr val="accent2"/>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53" name="矩形 52">
            <a:extLst>
              <a:ext uri="{FF2B5EF4-FFF2-40B4-BE49-F238E27FC236}">
                <a16:creationId xmlns="" xmlns:a16="http://schemas.microsoft.com/office/drawing/2014/main" id="{B8B836CD-AFA0-2F44-3DCE-D7025D2C48EA}"/>
              </a:ext>
            </a:extLst>
          </p:cNvPr>
          <p:cNvSpPr/>
          <p:nvPr/>
        </p:nvSpPr>
        <p:spPr>
          <a:xfrm>
            <a:off x="6002660" y="4138566"/>
            <a:ext cx="1117600" cy="396875"/>
          </a:xfrm>
          <a:prstGeom prst="rect">
            <a:avLst/>
          </a:prstGeom>
          <a:noFill/>
          <a:ln w="9525">
            <a:noFill/>
          </a:ln>
        </p:spPr>
        <p:txBody>
          <a:bodyPr anchor="t" anchorCtr="0">
            <a:spAutoFit/>
          </a:bodyPr>
          <a:lstStyle/>
          <a:p>
            <a:r>
              <a:rPr lang="en-US" altLang="zh-CN" sz="2000" b="1">
                <a:solidFill>
                  <a:schemeClr val="accent2"/>
                </a:solidFill>
                <a:latin typeface="Times New Roman" panose="02020603050405020304" pitchFamily="18" charset="0"/>
                <a:ea typeface="宋体" panose="02010600030101010101" pitchFamily="2" charset="-122"/>
              </a:rPr>
              <a:t>0.707</a:t>
            </a:r>
          </a:p>
        </p:txBody>
      </p:sp>
      <p:sp>
        <p:nvSpPr>
          <p:cNvPr id="54" name="矩形 53">
            <a:extLst>
              <a:ext uri="{FF2B5EF4-FFF2-40B4-BE49-F238E27FC236}">
                <a16:creationId xmlns="" xmlns:a16="http://schemas.microsoft.com/office/drawing/2014/main" id="{A7614CBD-9723-6DE7-4E90-7D52E2F83B9D}"/>
              </a:ext>
            </a:extLst>
          </p:cNvPr>
          <p:cNvSpPr/>
          <p:nvPr/>
        </p:nvSpPr>
        <p:spPr>
          <a:xfrm>
            <a:off x="282897" y="4772330"/>
            <a:ext cx="2547938" cy="396875"/>
          </a:xfrm>
          <a:prstGeom prst="rect">
            <a:avLst/>
          </a:prstGeom>
          <a:noFill/>
          <a:ln w="9525">
            <a:noFill/>
          </a:ln>
        </p:spPr>
        <p:txBody>
          <a:bodyPr wrap="none" anchor="ctr" anchorCtr="0">
            <a:spAutoFit/>
          </a:bodyPr>
          <a:lstStyle/>
          <a:p>
            <a:r>
              <a:rPr lang="en-US" altLang="zh-CN" sz="2000" b="1" dirty="0">
                <a:solidFill>
                  <a:schemeClr val="tx1"/>
                </a:solidFill>
                <a:latin typeface="宋体" panose="02010600030101010101" pitchFamily="2" charset="-122"/>
                <a:ea typeface="宋体" panose="02010600030101010101" pitchFamily="2" charset="-122"/>
              </a:rPr>
              <a:t>④</a:t>
            </a:r>
            <a:r>
              <a:rPr lang="en-US" altLang="zh-CN" sz="2000" b="1" dirty="0">
                <a:solidFill>
                  <a:schemeClr val="tx1"/>
                </a:solidFill>
                <a:latin typeface="Times New Roman" panose="02020603050405020304" pitchFamily="18" charset="0"/>
                <a:ea typeface="宋体" panose="02010600030101010101" pitchFamily="2" charset="-122"/>
              </a:rPr>
              <a:t> </a:t>
            </a:r>
            <a:r>
              <a:rPr lang="zh-CN" altLang="en-US" sz="2000" b="1" dirty="0">
                <a:solidFill>
                  <a:schemeClr val="tx1"/>
                </a:solidFill>
                <a:latin typeface="Times New Roman" panose="02020603050405020304" pitchFamily="18" charset="0"/>
                <a:ea typeface="宋体" panose="02010600030101010101" pitchFamily="2" charset="-122"/>
              </a:rPr>
              <a:t>放大器的矩形系数</a:t>
            </a:r>
          </a:p>
        </p:txBody>
      </p:sp>
      <p:pic>
        <p:nvPicPr>
          <p:cNvPr id="55" name="图片 54" descr="image203">
            <a:extLst>
              <a:ext uri="{FF2B5EF4-FFF2-40B4-BE49-F238E27FC236}">
                <a16:creationId xmlns="" xmlns:a16="http://schemas.microsoft.com/office/drawing/2014/main" id="{F1CCD2DF-4E98-FE10-AA10-543B4C918451}"/>
              </a:ext>
            </a:extLst>
          </p:cNvPr>
          <p:cNvPicPr>
            <a:picLocks noChangeAspect="1"/>
          </p:cNvPicPr>
          <p:nvPr/>
        </p:nvPicPr>
        <p:blipFill>
          <a:blip r:embed="rId10"/>
          <a:stretch>
            <a:fillRect/>
          </a:stretch>
        </p:blipFill>
        <p:spPr>
          <a:xfrm>
            <a:off x="394023" y="5109852"/>
            <a:ext cx="1714500" cy="722313"/>
          </a:xfrm>
          <a:prstGeom prst="rect">
            <a:avLst/>
          </a:prstGeom>
          <a:noFill/>
          <a:ln w="9525">
            <a:noFill/>
          </a:ln>
        </p:spPr>
      </p:pic>
      <p:graphicFrame>
        <p:nvGraphicFramePr>
          <p:cNvPr id="56" name="内容占位符 381979">
            <a:extLst>
              <a:ext uri="{FF2B5EF4-FFF2-40B4-BE49-F238E27FC236}">
                <a16:creationId xmlns="" xmlns:a16="http://schemas.microsoft.com/office/drawing/2014/main" id="{4346E212-D1C7-8E80-8321-CD08AB544837}"/>
              </a:ext>
            </a:extLst>
          </p:cNvPr>
          <p:cNvGraphicFramePr>
            <a:graphicFrameLocks/>
          </p:cNvGraphicFramePr>
          <p:nvPr>
            <p:extLst>
              <p:ext uri="{D42A27DB-BD31-4B8C-83A1-F6EECF244321}">
                <p14:modId xmlns:p14="http://schemas.microsoft.com/office/powerpoint/2010/main" val="4070338233"/>
              </p:ext>
            </p:extLst>
          </p:nvPr>
        </p:nvGraphicFramePr>
        <p:xfrm>
          <a:off x="3711103" y="5638753"/>
          <a:ext cx="6818313" cy="733425"/>
        </p:xfrm>
        <a:graphic>
          <a:graphicData uri="http://schemas.openxmlformats.org/presentationml/2006/ole">
            <mc:AlternateContent xmlns:mc="http://schemas.openxmlformats.org/markup-compatibility/2006">
              <mc:Choice xmlns:v="urn:schemas-microsoft-com:vml" Requires="v">
                <p:oleObj spid="_x0000_s66752" name="Document" r:id="rId11" imgW="5246341" imgH="565603" progId="Word.Document.8">
                  <p:embed/>
                </p:oleObj>
              </mc:Choice>
              <mc:Fallback>
                <p:oleObj name="Document" r:id="rId11" imgW="5246341" imgH="565603" progId="Word.Document.8">
                  <p:embed/>
                  <p:pic>
                    <p:nvPicPr>
                      <p:cNvPr id="0" name=""/>
                      <p:cNvPicPr/>
                      <p:nvPr/>
                    </p:nvPicPr>
                    <p:blipFill>
                      <a:blip r:embed="rId12"/>
                      <a:stretch>
                        <a:fillRect/>
                      </a:stretch>
                    </p:blipFill>
                    <p:spPr>
                      <a:xfrm>
                        <a:off x="3711103" y="5638753"/>
                        <a:ext cx="6818313" cy="733425"/>
                      </a:xfrm>
                      <a:prstGeom prst="rect">
                        <a:avLst/>
                      </a:prstGeom>
                      <a:noFill/>
                      <a:ln w="38100">
                        <a:noFill/>
                        <a:miter/>
                      </a:ln>
                    </p:spPr>
                  </p:pic>
                </p:oleObj>
              </mc:Fallback>
            </mc:AlternateContent>
          </a:graphicData>
        </a:graphic>
      </p:graphicFrame>
      <p:graphicFrame>
        <p:nvGraphicFramePr>
          <p:cNvPr id="57" name="对象 56">
            <a:extLst>
              <a:ext uri="{FF2B5EF4-FFF2-40B4-BE49-F238E27FC236}">
                <a16:creationId xmlns="" xmlns:a16="http://schemas.microsoft.com/office/drawing/2014/main" id="{5A7D7A8C-06AA-9693-CD99-04352FD16B5D}"/>
              </a:ext>
            </a:extLst>
          </p:cNvPr>
          <p:cNvGraphicFramePr/>
          <p:nvPr>
            <p:extLst>
              <p:ext uri="{D42A27DB-BD31-4B8C-83A1-F6EECF244321}">
                <p14:modId xmlns:p14="http://schemas.microsoft.com/office/powerpoint/2010/main" val="330471476"/>
              </p:ext>
            </p:extLst>
          </p:nvPr>
        </p:nvGraphicFramePr>
        <p:xfrm>
          <a:off x="394023" y="5934075"/>
          <a:ext cx="2803525" cy="558800"/>
        </p:xfrm>
        <a:graphic>
          <a:graphicData uri="http://schemas.openxmlformats.org/presentationml/2006/ole">
            <mc:AlternateContent xmlns:mc="http://schemas.openxmlformats.org/markup-compatibility/2006">
              <mc:Choice xmlns:v="urn:schemas-microsoft-com:vml" Requires="v">
                <p:oleObj spid="_x0000_s66753" r:id="rId13" imgW="1752600" imgH="279400" progId="Equation.3">
                  <p:embed/>
                </p:oleObj>
              </mc:Choice>
              <mc:Fallback>
                <p:oleObj r:id="rId13" imgW="1752600" imgH="279400" progId="Equation.3">
                  <p:embed/>
                  <p:pic>
                    <p:nvPicPr>
                      <p:cNvPr id="0" name=""/>
                      <p:cNvPicPr/>
                      <p:nvPr/>
                    </p:nvPicPr>
                    <p:blipFill>
                      <a:blip r:embed="rId14"/>
                      <a:stretch>
                        <a:fillRect/>
                      </a:stretch>
                    </p:blipFill>
                    <p:spPr>
                      <a:xfrm>
                        <a:off x="394023" y="5934075"/>
                        <a:ext cx="2803525" cy="558800"/>
                      </a:xfrm>
                      <a:prstGeom prst="rect">
                        <a:avLst/>
                      </a:prstGeom>
                      <a:gradFill rotWithShape="1">
                        <a:gsLst>
                          <a:gs pos="0">
                            <a:srgbClr val="FF99FF"/>
                          </a:gs>
                          <a:gs pos="50000">
                            <a:schemeClr val="bg1"/>
                          </a:gs>
                          <a:gs pos="100000">
                            <a:srgbClr val="FF99FF"/>
                          </a:gs>
                        </a:gsLst>
                        <a:lin ang="5400000" scaled="1"/>
                        <a:tileRect/>
                      </a:gradFill>
                      <a:ln w="38100">
                        <a:noFill/>
                        <a:miter/>
                      </a:ln>
                    </p:spPr>
                  </p:pic>
                </p:oleObj>
              </mc:Fallback>
            </mc:AlternateContent>
          </a:graphicData>
        </a:graphic>
      </p:graphicFrame>
    </p:spTree>
    <p:extLst>
      <p:ext uri="{BB962C8B-B14F-4D97-AF65-F5344CB8AC3E}">
        <p14:creationId xmlns:p14="http://schemas.microsoft.com/office/powerpoint/2010/main" val="875093100"/>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91</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3.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高频</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小信号</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放大器</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Rectangle 1029">
            <a:extLst>
              <a:ext uri="{FF2B5EF4-FFF2-40B4-BE49-F238E27FC236}">
                <a16:creationId xmlns="" xmlns:a16="http://schemas.microsoft.com/office/drawing/2014/main" id="{1D13B713-B810-C7C6-4B45-910E5DE6B474}"/>
              </a:ext>
            </a:extLst>
          </p:cNvPr>
          <p:cNvSpPr/>
          <p:nvPr/>
        </p:nvSpPr>
        <p:spPr>
          <a:xfrm>
            <a:off x="448890" y="1395088"/>
            <a:ext cx="7848600" cy="1015663"/>
          </a:xfrm>
          <a:prstGeom prst="rect">
            <a:avLst/>
          </a:prstGeom>
          <a:noFill/>
          <a:ln w="9525">
            <a:noFill/>
          </a:ln>
        </p:spPr>
        <p:txBody>
          <a:bodyPr anchor="ctr" anchorCtr="0">
            <a:spAutoFit/>
          </a:bodyPr>
          <a:lstStyle/>
          <a:p>
            <a:r>
              <a:rPr lang="en-US" altLang="zh-CN" sz="2000" b="1" dirty="0">
                <a:solidFill>
                  <a:schemeClr val="tx1"/>
                </a:solidFill>
                <a:latin typeface="+mn-ea"/>
                <a:ea typeface="+mn-ea"/>
              </a:rPr>
              <a:t>3-1 </a:t>
            </a:r>
            <a:r>
              <a:rPr lang="zh-CN" altLang="en-US" sz="2000" b="1" dirty="0">
                <a:solidFill>
                  <a:schemeClr val="tx1"/>
                </a:solidFill>
                <a:latin typeface="Times New Roman" panose="02020603050405020304" pitchFamily="18" charset="0"/>
                <a:ea typeface="+mn-ea"/>
              </a:rPr>
              <a:t>设工作频率</a:t>
            </a:r>
            <a:r>
              <a:rPr lang="en-US" altLang="zh-CN" sz="2000" b="1" i="1" dirty="0">
                <a:solidFill>
                  <a:schemeClr val="tx1"/>
                </a:solidFill>
                <a:latin typeface="Times New Roman" panose="02020603050405020304" pitchFamily="18" charset="0"/>
                <a:ea typeface="+mn-ea"/>
              </a:rPr>
              <a:t>f</a:t>
            </a:r>
            <a:r>
              <a:rPr lang="en-US" altLang="zh-CN" sz="2000" b="1" dirty="0">
                <a:solidFill>
                  <a:schemeClr val="tx1"/>
                </a:solidFill>
                <a:latin typeface="Times New Roman" panose="02020603050405020304" pitchFamily="18" charset="0"/>
                <a:ea typeface="+mn-ea"/>
              </a:rPr>
              <a:t> =30MHz</a:t>
            </a:r>
            <a:r>
              <a:rPr lang="zh-CN" altLang="en-US" sz="2000" b="1" dirty="0">
                <a:solidFill>
                  <a:schemeClr val="tx1"/>
                </a:solidFill>
                <a:latin typeface="Times New Roman" panose="02020603050405020304" pitchFamily="18" charset="0"/>
                <a:ea typeface="+mn-ea"/>
              </a:rPr>
              <a:t>，晶体管的正向传输导纳 </a:t>
            </a:r>
            <a:r>
              <a:rPr lang="zh-CN" altLang="en-US" sz="2000" b="1" dirty="0">
                <a:solidFill>
                  <a:schemeClr val="tx1"/>
                </a:solidFill>
                <a:latin typeface="Times New Roman" panose="02020603050405020304" pitchFamily="18" charset="0"/>
                <a:ea typeface="+mn-ea"/>
                <a:sym typeface="Symbol" panose="05050102010706020507" pitchFamily="18" charset="2"/>
              </a:rPr>
              <a:t></a:t>
            </a:r>
            <a:r>
              <a:rPr lang="zh-CN" altLang="en-US" sz="2000" b="1" dirty="0">
                <a:solidFill>
                  <a:schemeClr val="tx1"/>
                </a:solidFill>
                <a:latin typeface="Times New Roman" panose="02020603050405020304" pitchFamily="18" charset="0"/>
                <a:ea typeface="+mn-ea"/>
              </a:rPr>
              <a:t> </a:t>
            </a:r>
            <a:r>
              <a:rPr lang="en-US" altLang="zh-CN" sz="2000" b="1" i="1" dirty="0">
                <a:solidFill>
                  <a:schemeClr val="tx1"/>
                </a:solidFill>
                <a:latin typeface="Times New Roman" panose="02020603050405020304" pitchFamily="18" charset="0"/>
                <a:ea typeface="+mn-ea"/>
                <a:sym typeface="Symbol" panose="05050102010706020507" pitchFamily="18" charset="2"/>
              </a:rPr>
              <a:t>y </a:t>
            </a:r>
            <a:r>
              <a:rPr lang="en-US" altLang="zh-CN" sz="2000" b="1" baseline="-30000" dirty="0" err="1">
                <a:solidFill>
                  <a:schemeClr val="tx1"/>
                </a:solidFill>
                <a:latin typeface="Times New Roman" panose="02020603050405020304" pitchFamily="18" charset="0"/>
                <a:ea typeface="+mn-ea"/>
                <a:sym typeface="Symbol" panose="05050102010706020507" pitchFamily="18" charset="2"/>
              </a:rPr>
              <a:t>fe</a:t>
            </a:r>
            <a:r>
              <a:rPr lang="en-US" altLang="zh-CN" sz="2000" b="1" dirty="0">
                <a:solidFill>
                  <a:schemeClr val="tx1"/>
                </a:solidFill>
                <a:latin typeface="Times New Roman" panose="02020603050405020304" pitchFamily="18" charset="0"/>
                <a:ea typeface="+mn-ea"/>
                <a:sym typeface="Symbol" panose="05050102010706020507" pitchFamily="18" charset="2"/>
              </a:rPr>
              <a:t> </a:t>
            </a:r>
            <a:r>
              <a:rPr lang="en-US" altLang="zh-CN" sz="2000" b="1" dirty="0">
                <a:solidFill>
                  <a:schemeClr val="tx1"/>
                </a:solidFill>
                <a:latin typeface="Times New Roman" panose="02020603050405020304" pitchFamily="18" charset="0"/>
                <a:ea typeface="+mn-ea"/>
              </a:rPr>
              <a:t> =58.3ms</a:t>
            </a:r>
            <a:r>
              <a:rPr lang="zh-CN" altLang="en-US" sz="2000" b="1" dirty="0">
                <a:solidFill>
                  <a:schemeClr val="tx1"/>
                </a:solidFill>
                <a:latin typeface="Times New Roman" panose="02020603050405020304" pitchFamily="18" charset="0"/>
                <a:ea typeface="+mn-ea"/>
                <a:sym typeface="Symbol" panose="05050102010706020507" pitchFamily="18" charset="2"/>
              </a:rPr>
              <a:t>， </a:t>
            </a:r>
            <a:r>
              <a:rPr lang="en-US" altLang="zh-CN" sz="2000" b="1" i="1" dirty="0" err="1">
                <a:solidFill>
                  <a:schemeClr val="tx1"/>
                </a:solidFill>
                <a:latin typeface="Times New Roman" panose="02020603050405020304" pitchFamily="18" charset="0"/>
                <a:ea typeface="+mn-ea"/>
                <a:sym typeface="Symbol" panose="05050102010706020507" pitchFamily="18" charset="2"/>
              </a:rPr>
              <a:t>g</a:t>
            </a:r>
            <a:r>
              <a:rPr lang="en-US" altLang="zh-CN" sz="2000" b="1" baseline="-30000" dirty="0" err="1">
                <a:solidFill>
                  <a:schemeClr val="tx1"/>
                </a:solidFill>
                <a:latin typeface="Times New Roman" panose="02020603050405020304" pitchFamily="18" charset="0"/>
                <a:ea typeface="+mn-ea"/>
                <a:sym typeface="Symbol" panose="05050102010706020507" pitchFamily="18" charset="2"/>
              </a:rPr>
              <a:t>ie</a:t>
            </a:r>
            <a:r>
              <a:rPr lang="en-US" altLang="zh-CN" sz="2000" b="1" dirty="0">
                <a:solidFill>
                  <a:schemeClr val="tx1"/>
                </a:solidFill>
                <a:latin typeface="Times New Roman" panose="02020603050405020304" pitchFamily="18" charset="0"/>
                <a:ea typeface="+mn-ea"/>
                <a:sym typeface="Symbol" panose="05050102010706020507" pitchFamily="18" charset="2"/>
              </a:rPr>
              <a:t>=1.2ms,</a:t>
            </a:r>
            <a:r>
              <a:rPr lang="en-US" altLang="zh-CN" sz="2000" b="1" i="1" dirty="0">
                <a:solidFill>
                  <a:schemeClr val="tx1"/>
                </a:solidFill>
                <a:latin typeface="Times New Roman" panose="02020603050405020304" pitchFamily="18" charset="0"/>
                <a:ea typeface="+mn-ea"/>
                <a:sym typeface="Symbol" panose="05050102010706020507" pitchFamily="18" charset="2"/>
              </a:rPr>
              <a:t>C</a:t>
            </a:r>
            <a:r>
              <a:rPr lang="en-US" altLang="zh-CN" sz="2000" b="1" baseline="-30000" dirty="0">
                <a:solidFill>
                  <a:schemeClr val="tx1"/>
                </a:solidFill>
                <a:latin typeface="Times New Roman" panose="02020603050405020304" pitchFamily="18" charset="0"/>
                <a:ea typeface="+mn-ea"/>
                <a:sym typeface="Symbol" panose="05050102010706020507" pitchFamily="18" charset="2"/>
              </a:rPr>
              <a:t>ie</a:t>
            </a:r>
            <a:r>
              <a:rPr lang="en-US" altLang="zh-CN" sz="2000" b="1" dirty="0">
                <a:solidFill>
                  <a:schemeClr val="tx1"/>
                </a:solidFill>
                <a:latin typeface="Times New Roman" panose="02020603050405020304" pitchFamily="18" charset="0"/>
                <a:ea typeface="+mn-ea"/>
                <a:sym typeface="Symbol" panose="05050102010706020507" pitchFamily="18" charset="2"/>
              </a:rPr>
              <a:t>=12PF, </a:t>
            </a:r>
            <a:r>
              <a:rPr lang="en-US" altLang="zh-CN" sz="2000" b="1" i="1" dirty="0" err="1">
                <a:solidFill>
                  <a:schemeClr val="tx1"/>
                </a:solidFill>
                <a:latin typeface="Times New Roman" panose="02020603050405020304" pitchFamily="18" charset="0"/>
                <a:ea typeface="+mn-ea"/>
                <a:sym typeface="Symbol" panose="05050102010706020507" pitchFamily="18" charset="2"/>
              </a:rPr>
              <a:t>g</a:t>
            </a:r>
            <a:r>
              <a:rPr lang="en-US" altLang="zh-CN" sz="2000" b="1" baseline="-30000" dirty="0" err="1">
                <a:solidFill>
                  <a:schemeClr val="tx1"/>
                </a:solidFill>
                <a:latin typeface="Times New Roman" panose="02020603050405020304" pitchFamily="18" charset="0"/>
                <a:ea typeface="+mn-ea"/>
                <a:sym typeface="Symbol" panose="05050102010706020507" pitchFamily="18" charset="2"/>
              </a:rPr>
              <a:t>oe</a:t>
            </a:r>
            <a:r>
              <a:rPr lang="en-US" altLang="zh-CN" sz="2000" b="1" dirty="0">
                <a:solidFill>
                  <a:schemeClr val="tx1"/>
                </a:solidFill>
                <a:latin typeface="Times New Roman" panose="02020603050405020304" pitchFamily="18" charset="0"/>
                <a:ea typeface="+mn-ea"/>
                <a:sym typeface="Symbol" panose="05050102010706020507" pitchFamily="18" charset="2"/>
              </a:rPr>
              <a:t>=400 </a:t>
            </a:r>
            <a:r>
              <a:rPr lang="en-US" altLang="zh-CN" sz="2000" b="1" dirty="0">
                <a:solidFill>
                  <a:schemeClr val="tx1"/>
                </a:solidFill>
                <a:latin typeface="Times New Roman" panose="02020603050405020304" pitchFamily="18" charset="0"/>
                <a:ea typeface="+mn-ea"/>
              </a:rPr>
              <a:t> s, </a:t>
            </a:r>
            <a:r>
              <a:rPr lang="en-US" altLang="zh-CN" sz="2000" b="1" i="1" dirty="0">
                <a:solidFill>
                  <a:schemeClr val="tx1"/>
                </a:solidFill>
                <a:latin typeface="Times New Roman" panose="02020603050405020304" pitchFamily="18" charset="0"/>
                <a:ea typeface="+mn-ea"/>
                <a:sym typeface="Symbol" panose="05050102010706020507" pitchFamily="18" charset="2"/>
              </a:rPr>
              <a:t>C</a:t>
            </a:r>
            <a:r>
              <a:rPr lang="en-US" altLang="zh-CN" sz="2000" b="1" baseline="-30000" dirty="0">
                <a:solidFill>
                  <a:schemeClr val="tx1"/>
                </a:solidFill>
                <a:latin typeface="Times New Roman" panose="02020603050405020304" pitchFamily="18" charset="0"/>
                <a:ea typeface="+mn-ea"/>
                <a:sym typeface="Symbol" panose="05050102010706020507" pitchFamily="18" charset="2"/>
              </a:rPr>
              <a:t>oe</a:t>
            </a:r>
            <a:r>
              <a:rPr lang="en-US" altLang="zh-CN" sz="2000" b="1" dirty="0">
                <a:solidFill>
                  <a:schemeClr val="tx1"/>
                </a:solidFill>
                <a:latin typeface="Times New Roman" panose="02020603050405020304" pitchFamily="18" charset="0"/>
                <a:ea typeface="+mn-ea"/>
                <a:sym typeface="Symbol" panose="05050102010706020507" pitchFamily="18" charset="2"/>
              </a:rPr>
              <a:t>=9.5pF</a:t>
            </a:r>
            <a:r>
              <a:rPr lang="zh-CN" altLang="en-US" sz="2000" b="1" dirty="0">
                <a:solidFill>
                  <a:schemeClr val="tx1"/>
                </a:solidFill>
                <a:latin typeface="Times New Roman" panose="02020603050405020304" pitchFamily="18" charset="0"/>
                <a:ea typeface="+mn-ea"/>
                <a:sym typeface="Symbol" panose="05050102010706020507" pitchFamily="18" charset="2"/>
              </a:rPr>
              <a:t>，回路电感</a:t>
            </a:r>
            <a:r>
              <a:rPr lang="en-US" altLang="zh-CN" sz="2000" b="1" i="1" dirty="0">
                <a:solidFill>
                  <a:schemeClr val="tx1"/>
                </a:solidFill>
                <a:latin typeface="Times New Roman" panose="02020603050405020304" pitchFamily="18" charset="0"/>
                <a:ea typeface="+mn-ea"/>
                <a:sym typeface="Symbol" panose="05050102010706020507" pitchFamily="18" charset="2"/>
              </a:rPr>
              <a:t>L</a:t>
            </a:r>
            <a:r>
              <a:rPr lang="en-US" altLang="zh-CN" sz="2000" b="1" dirty="0">
                <a:solidFill>
                  <a:schemeClr val="tx1"/>
                </a:solidFill>
                <a:latin typeface="Times New Roman" panose="02020603050405020304" pitchFamily="18" charset="0"/>
                <a:ea typeface="+mn-ea"/>
                <a:sym typeface="Symbol" panose="05050102010706020507" pitchFamily="18" charset="2"/>
              </a:rPr>
              <a:t>=1.4 </a:t>
            </a:r>
            <a:r>
              <a:rPr lang="en-US" altLang="zh-CN" sz="2000" b="1" dirty="0">
                <a:solidFill>
                  <a:schemeClr val="tx1"/>
                </a:solidFill>
                <a:latin typeface="Times New Roman" panose="02020603050405020304" pitchFamily="18" charset="0"/>
                <a:ea typeface="+mn-ea"/>
              </a:rPr>
              <a:t>H</a:t>
            </a:r>
            <a:r>
              <a:rPr lang="zh-CN" altLang="en-US" sz="2000" b="1" dirty="0">
                <a:solidFill>
                  <a:schemeClr val="tx1"/>
                </a:solidFill>
                <a:latin typeface="Times New Roman" panose="02020603050405020304" pitchFamily="18" charset="0"/>
                <a:ea typeface="+mn-ea"/>
                <a:sym typeface="Symbol" panose="05050102010706020507" pitchFamily="18" charset="2"/>
              </a:rPr>
              <a:t>，接入系数</a:t>
            </a:r>
            <a:r>
              <a:rPr lang="en-US" altLang="zh-CN" sz="2000" b="1" i="1" dirty="0">
                <a:solidFill>
                  <a:schemeClr val="tx1"/>
                </a:solidFill>
                <a:latin typeface="Times New Roman" panose="02020603050405020304" pitchFamily="18" charset="0"/>
                <a:ea typeface="+mn-ea"/>
                <a:sym typeface="Symbol" panose="05050102010706020507" pitchFamily="18" charset="2"/>
              </a:rPr>
              <a:t>P</a:t>
            </a:r>
            <a:r>
              <a:rPr lang="en-US" altLang="zh-CN" sz="2000" b="1" baseline="-30000" dirty="0">
                <a:solidFill>
                  <a:schemeClr val="tx1"/>
                </a:solidFill>
                <a:latin typeface="Times New Roman" panose="02020603050405020304" pitchFamily="18" charset="0"/>
                <a:ea typeface="+mn-ea"/>
                <a:sym typeface="Symbol" panose="05050102010706020507" pitchFamily="18" charset="2"/>
              </a:rPr>
              <a:t>1</a:t>
            </a:r>
            <a:r>
              <a:rPr lang="en-US" altLang="zh-CN" sz="2000" b="1" dirty="0">
                <a:solidFill>
                  <a:schemeClr val="tx1"/>
                </a:solidFill>
                <a:latin typeface="Times New Roman" panose="02020603050405020304" pitchFamily="18" charset="0"/>
                <a:ea typeface="+mn-ea"/>
                <a:sym typeface="Symbol" panose="05050102010706020507" pitchFamily="18" charset="2"/>
              </a:rPr>
              <a:t>=1</a:t>
            </a:r>
            <a:r>
              <a:rPr lang="zh-CN" altLang="en-US" sz="2000" b="1" dirty="0">
                <a:solidFill>
                  <a:schemeClr val="tx1"/>
                </a:solidFill>
                <a:latin typeface="Times New Roman" panose="02020603050405020304" pitchFamily="18" charset="0"/>
                <a:ea typeface="+mn-ea"/>
                <a:sym typeface="Symbol" panose="05050102010706020507" pitchFamily="18" charset="2"/>
              </a:rPr>
              <a:t>，</a:t>
            </a:r>
            <a:r>
              <a:rPr lang="en-US" altLang="zh-CN" sz="2000" b="1" i="1" dirty="0">
                <a:solidFill>
                  <a:schemeClr val="tx1"/>
                </a:solidFill>
                <a:latin typeface="Times New Roman" panose="02020603050405020304" pitchFamily="18" charset="0"/>
                <a:ea typeface="+mn-ea"/>
                <a:sym typeface="Symbol" panose="05050102010706020507" pitchFamily="18" charset="2"/>
              </a:rPr>
              <a:t>P</a:t>
            </a:r>
            <a:r>
              <a:rPr lang="en-US" altLang="zh-CN" sz="2000" b="1" baseline="-30000" dirty="0">
                <a:solidFill>
                  <a:schemeClr val="tx1"/>
                </a:solidFill>
                <a:latin typeface="Times New Roman" panose="02020603050405020304" pitchFamily="18" charset="0"/>
                <a:ea typeface="+mn-ea"/>
                <a:sym typeface="Symbol" panose="05050102010706020507" pitchFamily="18" charset="2"/>
              </a:rPr>
              <a:t>2</a:t>
            </a:r>
            <a:r>
              <a:rPr lang="en-US" altLang="zh-CN" sz="2000" b="1" dirty="0">
                <a:solidFill>
                  <a:schemeClr val="tx1"/>
                </a:solidFill>
                <a:latin typeface="Times New Roman" panose="02020603050405020304" pitchFamily="18" charset="0"/>
                <a:ea typeface="+mn-ea"/>
                <a:sym typeface="Symbol" panose="05050102010706020507" pitchFamily="18" charset="2"/>
              </a:rPr>
              <a:t>=0.3</a:t>
            </a:r>
            <a:r>
              <a:rPr lang="zh-CN" altLang="en-US" sz="2000" b="1" dirty="0">
                <a:solidFill>
                  <a:schemeClr val="tx1"/>
                </a:solidFill>
                <a:latin typeface="Times New Roman" panose="02020603050405020304" pitchFamily="18" charset="0"/>
                <a:ea typeface="+mn-ea"/>
                <a:sym typeface="Symbol" panose="05050102010706020507" pitchFamily="18" charset="2"/>
              </a:rPr>
              <a:t>空载品质因数</a:t>
            </a:r>
            <a:r>
              <a:rPr lang="en-US" altLang="zh-CN" sz="2000" b="1" i="1" dirty="0">
                <a:solidFill>
                  <a:schemeClr val="tx1"/>
                </a:solidFill>
                <a:latin typeface="Times New Roman" panose="02020603050405020304" pitchFamily="18" charset="0"/>
                <a:ea typeface="+mn-ea"/>
                <a:sym typeface="Symbol" panose="05050102010706020507" pitchFamily="18" charset="2"/>
              </a:rPr>
              <a:t>Q</a:t>
            </a:r>
            <a:r>
              <a:rPr lang="en-US" altLang="zh-CN" sz="2000" b="1" baseline="-30000" dirty="0">
                <a:solidFill>
                  <a:schemeClr val="tx1"/>
                </a:solidFill>
                <a:latin typeface="Times New Roman" panose="02020603050405020304" pitchFamily="18" charset="0"/>
                <a:ea typeface="+mn-ea"/>
                <a:sym typeface="Symbol" panose="05050102010706020507" pitchFamily="18" charset="2"/>
              </a:rPr>
              <a:t>0</a:t>
            </a:r>
            <a:r>
              <a:rPr lang="en-US" altLang="zh-CN" sz="2000" b="1" dirty="0">
                <a:solidFill>
                  <a:schemeClr val="tx1"/>
                </a:solidFill>
                <a:latin typeface="Times New Roman" panose="02020603050405020304" pitchFamily="18" charset="0"/>
                <a:ea typeface="+mn-ea"/>
                <a:sym typeface="Symbol" panose="05050102010706020507" pitchFamily="18" charset="2"/>
              </a:rPr>
              <a:t>=100</a:t>
            </a:r>
            <a:r>
              <a:rPr lang="zh-CN" altLang="en-US" sz="2000" b="1" dirty="0">
                <a:solidFill>
                  <a:schemeClr val="tx1"/>
                </a:solidFill>
                <a:latin typeface="Times New Roman" panose="02020603050405020304" pitchFamily="18" charset="0"/>
                <a:ea typeface="+mn-ea"/>
                <a:sym typeface="Symbol" panose="05050102010706020507" pitchFamily="18" charset="2"/>
              </a:rPr>
              <a:t>（假设</a:t>
            </a:r>
            <a:r>
              <a:rPr lang="en-US" altLang="zh-CN" sz="2000" b="1" i="1" dirty="0" err="1">
                <a:solidFill>
                  <a:schemeClr val="tx1"/>
                </a:solidFill>
                <a:latin typeface="Times New Roman" panose="02020603050405020304" pitchFamily="18" charset="0"/>
                <a:ea typeface="+mn-ea"/>
                <a:sym typeface="Symbol" panose="05050102010706020507" pitchFamily="18" charset="2"/>
              </a:rPr>
              <a:t>y</a:t>
            </a:r>
            <a:r>
              <a:rPr lang="en-US" altLang="zh-CN" sz="2000" b="1" baseline="-30000" dirty="0" err="1">
                <a:solidFill>
                  <a:schemeClr val="tx1"/>
                </a:solidFill>
                <a:latin typeface="Times New Roman" panose="02020603050405020304" pitchFamily="18" charset="0"/>
                <a:ea typeface="+mn-ea"/>
                <a:sym typeface="Symbol" panose="05050102010706020507" pitchFamily="18" charset="2"/>
              </a:rPr>
              <a:t>re</a:t>
            </a:r>
            <a:r>
              <a:rPr lang="en-US" altLang="zh-CN" sz="2000" b="1" dirty="0">
                <a:solidFill>
                  <a:schemeClr val="tx1"/>
                </a:solidFill>
                <a:latin typeface="Times New Roman" panose="02020603050405020304" pitchFamily="18" charset="0"/>
                <a:ea typeface="+mn-ea"/>
                <a:sym typeface="Symbol" panose="05050102010706020507" pitchFamily="18" charset="2"/>
              </a:rPr>
              <a:t>=0</a:t>
            </a:r>
            <a:r>
              <a:rPr lang="zh-CN" altLang="en-US" sz="2000" b="1" dirty="0">
                <a:solidFill>
                  <a:schemeClr val="tx1"/>
                </a:solidFill>
                <a:latin typeface="Times New Roman" panose="02020603050405020304" pitchFamily="18" charset="0"/>
                <a:ea typeface="+mn-ea"/>
                <a:sym typeface="Symbol" panose="05050102010706020507" pitchFamily="18" charset="2"/>
              </a:rPr>
              <a:t>）</a:t>
            </a:r>
          </a:p>
        </p:txBody>
      </p:sp>
      <p:graphicFrame>
        <p:nvGraphicFramePr>
          <p:cNvPr id="6" name="Object 1028">
            <a:extLst>
              <a:ext uri="{FF2B5EF4-FFF2-40B4-BE49-F238E27FC236}">
                <a16:creationId xmlns="" xmlns:a16="http://schemas.microsoft.com/office/drawing/2014/main" id="{33C74DED-67E2-A20B-4056-A7755F2F9C75}"/>
              </a:ext>
            </a:extLst>
          </p:cNvPr>
          <p:cNvGraphicFramePr/>
          <p:nvPr>
            <p:extLst>
              <p:ext uri="{D42A27DB-BD31-4B8C-83A1-F6EECF244321}">
                <p14:modId xmlns:p14="http://schemas.microsoft.com/office/powerpoint/2010/main" val="2807768757"/>
              </p:ext>
            </p:extLst>
          </p:nvPr>
        </p:nvGraphicFramePr>
        <p:xfrm>
          <a:off x="8087940" y="2599832"/>
          <a:ext cx="431800" cy="376238"/>
        </p:xfrm>
        <a:graphic>
          <a:graphicData uri="http://schemas.openxmlformats.org/presentationml/2006/ole">
            <mc:AlternateContent xmlns:mc="http://schemas.openxmlformats.org/markup-compatibility/2006">
              <mc:Choice xmlns:v="urn:schemas-microsoft-com:vml" Requires="v">
                <p:oleObj spid="_x0000_s67724" r:id="rId3" imgW="228600" imgH="203200" progId="Equation.3">
                  <p:embed/>
                </p:oleObj>
              </mc:Choice>
              <mc:Fallback>
                <p:oleObj r:id="rId3" imgW="228600" imgH="203200" progId="Equation.3">
                  <p:embed/>
                  <p:pic>
                    <p:nvPicPr>
                      <p:cNvPr id="0" name=""/>
                      <p:cNvPicPr/>
                      <p:nvPr/>
                    </p:nvPicPr>
                    <p:blipFill>
                      <a:blip r:embed="rId4"/>
                      <a:stretch>
                        <a:fillRect/>
                      </a:stretch>
                    </p:blipFill>
                    <p:spPr>
                      <a:xfrm>
                        <a:off x="8087940" y="2599832"/>
                        <a:ext cx="431800" cy="376238"/>
                      </a:xfrm>
                      <a:prstGeom prst="rect">
                        <a:avLst/>
                      </a:prstGeom>
                      <a:noFill/>
                      <a:ln w="38100">
                        <a:noFill/>
                        <a:miter/>
                      </a:ln>
                    </p:spPr>
                  </p:pic>
                </p:oleObj>
              </mc:Fallback>
            </mc:AlternateContent>
          </a:graphicData>
        </a:graphic>
      </p:graphicFrame>
      <p:sp>
        <p:nvSpPr>
          <p:cNvPr id="7" name="Rectangle 1030">
            <a:extLst>
              <a:ext uri="{FF2B5EF4-FFF2-40B4-BE49-F238E27FC236}">
                <a16:creationId xmlns="" xmlns:a16="http://schemas.microsoft.com/office/drawing/2014/main" id="{D64B0C88-B788-B923-2E0C-EA9C14761599}"/>
              </a:ext>
            </a:extLst>
          </p:cNvPr>
          <p:cNvSpPr/>
          <p:nvPr/>
        </p:nvSpPr>
        <p:spPr>
          <a:xfrm>
            <a:off x="3937296" y="2427149"/>
            <a:ext cx="5016500" cy="1939925"/>
          </a:xfrm>
          <a:prstGeom prst="rect">
            <a:avLst/>
          </a:prstGeom>
          <a:noFill/>
          <a:ln w="9525">
            <a:noFill/>
          </a:ln>
        </p:spPr>
        <p:txBody>
          <a:bodyPr anchor="ctr" anchorCtr="0">
            <a:spAutoFit/>
          </a:bodyPr>
          <a:lstStyle/>
          <a:p>
            <a:pPr marL="342900" indent="-342900" eaLnBrk="0" hangingPunct="0">
              <a:lnSpc>
                <a:spcPct val="120000"/>
              </a:lnSpc>
            </a:pPr>
            <a:r>
              <a:rPr lang="zh-CN" altLang="en-US" sz="2000" b="1" dirty="0">
                <a:solidFill>
                  <a:schemeClr val="tx1"/>
                </a:solidFill>
                <a:latin typeface="Times New Roman" panose="02020603050405020304" pitchFamily="18" charset="0"/>
                <a:ea typeface="+mn-ea"/>
                <a:sym typeface="Symbol" panose="05050102010706020507" pitchFamily="18" charset="2"/>
              </a:rPr>
              <a:t>求：</a:t>
            </a:r>
            <a:r>
              <a:rPr lang="en-US" altLang="zh-CN" sz="2000" b="1" dirty="0">
                <a:solidFill>
                  <a:schemeClr val="tx1"/>
                </a:solidFill>
                <a:latin typeface="Times New Roman" panose="02020603050405020304" pitchFamily="18" charset="0"/>
                <a:ea typeface="+mn-ea"/>
                <a:sym typeface="Symbol" panose="05050102010706020507" pitchFamily="18" charset="2"/>
              </a:rPr>
              <a:t>1.</a:t>
            </a:r>
            <a:r>
              <a:rPr lang="zh-CN" altLang="en-US" sz="2000" b="1" dirty="0">
                <a:solidFill>
                  <a:schemeClr val="tx1"/>
                </a:solidFill>
                <a:latin typeface="Times New Roman" panose="02020603050405020304" pitchFamily="18" charset="0"/>
                <a:ea typeface="+mn-ea"/>
                <a:sym typeface="Symbol" panose="05050102010706020507" pitchFamily="18" charset="2"/>
              </a:rPr>
              <a:t>单级放大器谐振时的电压增益</a:t>
            </a:r>
          </a:p>
          <a:p>
            <a:pPr marL="342900" indent="-342900">
              <a:lnSpc>
                <a:spcPct val="120000"/>
              </a:lnSpc>
            </a:pPr>
            <a:r>
              <a:rPr lang="zh-CN" altLang="en-US" sz="2000" b="1" dirty="0">
                <a:solidFill>
                  <a:schemeClr val="tx1"/>
                </a:solidFill>
                <a:latin typeface="Times New Roman" panose="02020603050405020304" pitchFamily="18" charset="0"/>
                <a:ea typeface="+mn-ea"/>
              </a:rPr>
              <a:t>    </a:t>
            </a:r>
            <a:r>
              <a:rPr lang="en-US" altLang="zh-CN" sz="2000" b="1" dirty="0">
                <a:solidFill>
                  <a:schemeClr val="tx1"/>
                </a:solidFill>
                <a:latin typeface="Times New Roman" panose="02020603050405020304" pitchFamily="18" charset="0"/>
                <a:ea typeface="+mn-ea"/>
              </a:rPr>
              <a:t>2.</a:t>
            </a:r>
            <a:r>
              <a:rPr lang="zh-CN" altLang="en-US" sz="2000" b="1" dirty="0">
                <a:solidFill>
                  <a:schemeClr val="tx1"/>
                </a:solidFill>
                <a:latin typeface="Times New Roman" panose="02020603050405020304" pitchFamily="18" charset="0"/>
                <a:ea typeface="+mn-ea"/>
              </a:rPr>
              <a:t>通频带</a:t>
            </a:r>
            <a:r>
              <a:rPr lang="en-US" altLang="zh-CN" sz="2000" b="1" dirty="0">
                <a:solidFill>
                  <a:schemeClr val="tx1"/>
                </a:solidFill>
                <a:latin typeface="Times New Roman" panose="02020603050405020304" pitchFamily="18" charset="0"/>
                <a:ea typeface="+mn-ea"/>
              </a:rPr>
              <a:t>2</a:t>
            </a:r>
            <a:r>
              <a:rPr lang="en-US" altLang="zh-CN" sz="2000" b="1" dirty="0">
                <a:solidFill>
                  <a:schemeClr val="tx1"/>
                </a:solidFill>
                <a:latin typeface="Times New Roman" panose="02020603050405020304" pitchFamily="18" charset="0"/>
                <a:ea typeface="+mn-ea"/>
                <a:sym typeface="Symbol" panose="05050102010706020507" pitchFamily="18" charset="2"/>
              </a:rPr>
              <a:t></a:t>
            </a:r>
            <a:r>
              <a:rPr lang="en-US" altLang="zh-CN" sz="2000" b="1" dirty="0">
                <a:solidFill>
                  <a:schemeClr val="tx1"/>
                </a:solidFill>
                <a:latin typeface="Times New Roman" panose="02020603050405020304" pitchFamily="18" charset="0"/>
                <a:ea typeface="+mn-ea"/>
              </a:rPr>
              <a:t> </a:t>
            </a:r>
            <a:r>
              <a:rPr lang="en-US" altLang="zh-CN" sz="2000" b="1" i="1" dirty="0">
                <a:solidFill>
                  <a:schemeClr val="tx1"/>
                </a:solidFill>
                <a:latin typeface="Times New Roman" panose="02020603050405020304" pitchFamily="18" charset="0"/>
                <a:ea typeface="+mn-ea"/>
                <a:sym typeface="Symbol" panose="05050102010706020507" pitchFamily="18" charset="2"/>
              </a:rPr>
              <a:t>f </a:t>
            </a:r>
            <a:r>
              <a:rPr lang="en-US" altLang="zh-CN" sz="2000" b="1" baseline="-30000" dirty="0">
                <a:solidFill>
                  <a:schemeClr val="tx1"/>
                </a:solidFill>
                <a:latin typeface="Times New Roman" panose="02020603050405020304" pitchFamily="18" charset="0"/>
                <a:ea typeface="+mn-ea"/>
                <a:sym typeface="Symbol" panose="05050102010706020507" pitchFamily="18" charset="2"/>
              </a:rPr>
              <a:t>0.7</a:t>
            </a:r>
            <a:r>
              <a:rPr lang="zh-CN" altLang="en-US" sz="2000" b="1" dirty="0">
                <a:solidFill>
                  <a:schemeClr val="tx1"/>
                </a:solidFill>
                <a:latin typeface="Times New Roman" panose="02020603050405020304" pitchFamily="18" charset="0"/>
                <a:ea typeface="+mn-ea"/>
                <a:sym typeface="Symbol" panose="05050102010706020507" pitchFamily="18" charset="2"/>
              </a:rPr>
              <a:t>，</a:t>
            </a:r>
          </a:p>
          <a:p>
            <a:pPr marL="342900" indent="-342900">
              <a:lnSpc>
                <a:spcPct val="120000"/>
              </a:lnSpc>
            </a:pPr>
            <a:r>
              <a:rPr lang="zh-CN" altLang="en-US" sz="2000" b="1" dirty="0">
                <a:solidFill>
                  <a:schemeClr val="tx1"/>
                </a:solidFill>
                <a:latin typeface="Times New Roman" panose="02020603050405020304" pitchFamily="18" charset="0"/>
                <a:ea typeface="+mn-ea"/>
                <a:sym typeface="Symbol" panose="05050102010706020507" pitchFamily="18" charset="2"/>
              </a:rPr>
              <a:t>    </a:t>
            </a:r>
            <a:r>
              <a:rPr lang="en-US" altLang="zh-CN" sz="2000" b="1" dirty="0">
                <a:solidFill>
                  <a:schemeClr val="tx1"/>
                </a:solidFill>
                <a:latin typeface="Times New Roman" panose="02020603050405020304" pitchFamily="18" charset="0"/>
                <a:ea typeface="+mn-ea"/>
                <a:sym typeface="Symbol" panose="05050102010706020507" pitchFamily="18" charset="2"/>
              </a:rPr>
              <a:t>3.</a:t>
            </a:r>
            <a:r>
              <a:rPr lang="zh-CN" altLang="en-US" sz="2000" b="1" dirty="0">
                <a:solidFill>
                  <a:schemeClr val="tx1"/>
                </a:solidFill>
                <a:latin typeface="Times New Roman" panose="02020603050405020304" pitchFamily="18" charset="0"/>
                <a:ea typeface="+mn-ea"/>
                <a:sym typeface="Symbol" panose="05050102010706020507" pitchFamily="18" charset="2"/>
              </a:rPr>
              <a:t>谐振时回路外接电容</a:t>
            </a:r>
            <a:r>
              <a:rPr lang="en-US" altLang="zh-CN" sz="2000" b="1" dirty="0">
                <a:solidFill>
                  <a:schemeClr val="tx1"/>
                </a:solidFill>
                <a:latin typeface="Times New Roman" panose="02020603050405020304" pitchFamily="18" charset="0"/>
                <a:ea typeface="+mn-ea"/>
                <a:sym typeface="Symbol" panose="05050102010706020507" pitchFamily="18" charset="2"/>
              </a:rPr>
              <a:t>C</a:t>
            </a:r>
          </a:p>
          <a:p>
            <a:pPr marL="342900" indent="-342900">
              <a:lnSpc>
                <a:spcPct val="120000"/>
              </a:lnSpc>
            </a:pPr>
            <a:r>
              <a:rPr lang="en-US" altLang="zh-CN" sz="2000" b="1" dirty="0">
                <a:solidFill>
                  <a:schemeClr val="tx1"/>
                </a:solidFill>
                <a:latin typeface="Times New Roman" panose="02020603050405020304" pitchFamily="18" charset="0"/>
                <a:ea typeface="+mn-ea"/>
                <a:sym typeface="Symbol" panose="05050102010706020507" pitchFamily="18" charset="2"/>
              </a:rPr>
              <a:t>    4.</a:t>
            </a:r>
            <a:r>
              <a:rPr lang="zh-CN" altLang="en-US" sz="2000" b="1" dirty="0">
                <a:solidFill>
                  <a:schemeClr val="tx1"/>
                </a:solidFill>
                <a:latin typeface="Times New Roman" panose="02020603050405020304" pitchFamily="18" charset="0"/>
                <a:ea typeface="+mn-ea"/>
                <a:sym typeface="Symbol" panose="05050102010706020507" pitchFamily="18" charset="2"/>
              </a:rPr>
              <a:t>若</a:t>
            </a:r>
            <a:r>
              <a:rPr lang="en-US" altLang="zh-CN" sz="2000" b="1" dirty="0">
                <a:solidFill>
                  <a:schemeClr val="tx1"/>
                </a:solidFill>
                <a:latin typeface="Times New Roman" panose="02020603050405020304" pitchFamily="18" charset="0"/>
                <a:ea typeface="+mn-ea"/>
                <a:sym typeface="Symbol" panose="05050102010706020507" pitchFamily="18" charset="2"/>
              </a:rPr>
              <a:t>R4=10 k</a:t>
            </a:r>
            <a:r>
              <a:rPr lang="zh-CN" altLang="en-US" sz="2000" b="1" dirty="0">
                <a:solidFill>
                  <a:schemeClr val="tx1"/>
                </a:solidFill>
                <a:latin typeface="Times New Roman" panose="02020603050405020304" pitchFamily="18" charset="0"/>
                <a:ea typeface="+mn-ea"/>
                <a:sym typeface="Symbol" panose="05050102010706020507" pitchFamily="18" charset="2"/>
              </a:rPr>
              <a:t>，试计算并比较在回路    中并上</a:t>
            </a:r>
            <a:r>
              <a:rPr lang="en-US" altLang="zh-CN" sz="2000" b="1" dirty="0">
                <a:solidFill>
                  <a:schemeClr val="tx1"/>
                </a:solidFill>
                <a:latin typeface="Times New Roman" panose="02020603050405020304" pitchFamily="18" charset="0"/>
                <a:ea typeface="+mn-ea"/>
                <a:sym typeface="Symbol" panose="05050102010706020507" pitchFamily="18" charset="2"/>
              </a:rPr>
              <a:t>R4</a:t>
            </a:r>
            <a:r>
              <a:rPr lang="zh-CN" altLang="en-US" sz="2000" b="1" dirty="0">
                <a:solidFill>
                  <a:schemeClr val="tx1"/>
                </a:solidFill>
                <a:latin typeface="Times New Roman" panose="02020603050405020304" pitchFamily="18" charset="0"/>
                <a:ea typeface="+mn-ea"/>
                <a:sym typeface="Symbol" panose="05050102010706020507" pitchFamily="18" charset="2"/>
              </a:rPr>
              <a:t>前后的通频带和增益。</a:t>
            </a:r>
          </a:p>
        </p:txBody>
      </p:sp>
      <p:graphicFrame>
        <p:nvGraphicFramePr>
          <p:cNvPr id="8" name="Object 1033">
            <a:extLst>
              <a:ext uri="{FF2B5EF4-FFF2-40B4-BE49-F238E27FC236}">
                <a16:creationId xmlns="" xmlns:a16="http://schemas.microsoft.com/office/drawing/2014/main" id="{91923CBF-5EFE-5DD2-43D8-A6F04FB490CF}"/>
              </a:ext>
            </a:extLst>
          </p:cNvPr>
          <p:cNvGraphicFramePr/>
          <p:nvPr>
            <p:extLst>
              <p:ext uri="{D42A27DB-BD31-4B8C-83A1-F6EECF244321}">
                <p14:modId xmlns:p14="http://schemas.microsoft.com/office/powerpoint/2010/main" val="1369656124"/>
              </p:ext>
            </p:extLst>
          </p:nvPr>
        </p:nvGraphicFramePr>
        <p:xfrm>
          <a:off x="467947" y="2485887"/>
          <a:ext cx="6696075" cy="2620962"/>
        </p:xfrm>
        <a:graphic>
          <a:graphicData uri="http://schemas.openxmlformats.org/presentationml/2006/ole">
            <mc:AlternateContent xmlns:mc="http://schemas.openxmlformats.org/markup-compatibility/2006">
              <mc:Choice xmlns:v="urn:schemas-microsoft-com:vml" Requires="v">
                <p:oleObj spid="_x0000_s67725" r:id="rId5" imgW="6438900" imgH="2374900" progId="Word.Picture.8">
                  <p:embed/>
                </p:oleObj>
              </mc:Choice>
              <mc:Fallback>
                <p:oleObj r:id="rId5" imgW="6438900" imgH="2374900" progId="Word.Picture.8">
                  <p:embed/>
                  <p:pic>
                    <p:nvPicPr>
                      <p:cNvPr id="0" name=""/>
                      <p:cNvPicPr/>
                      <p:nvPr/>
                    </p:nvPicPr>
                    <p:blipFill>
                      <a:blip r:embed="rId6">
                        <a:clrChange>
                          <a:clrFrom>
                            <a:srgbClr val="FFFFFF"/>
                          </a:clrFrom>
                          <a:clrTo>
                            <a:srgbClr val="CCECFF"/>
                          </a:clrTo>
                        </a:clrChange>
                      </a:blip>
                      <a:stretch>
                        <a:fillRect/>
                      </a:stretch>
                    </p:blipFill>
                    <p:spPr>
                      <a:xfrm>
                        <a:off x="467947" y="2485887"/>
                        <a:ext cx="6696075" cy="2620962"/>
                      </a:xfrm>
                      <a:prstGeom prst="rect">
                        <a:avLst/>
                      </a:prstGeom>
                      <a:noFill/>
                      <a:ln w="38100">
                        <a:noFill/>
                        <a:miter/>
                      </a:ln>
                    </p:spPr>
                  </p:pic>
                </p:oleObj>
              </mc:Fallback>
            </mc:AlternateContent>
          </a:graphicData>
        </a:graphic>
      </p:graphicFrame>
      <p:sp>
        <p:nvSpPr>
          <p:cNvPr id="9" name="Text Box 4">
            <a:extLst>
              <a:ext uri="{FF2B5EF4-FFF2-40B4-BE49-F238E27FC236}">
                <a16:creationId xmlns="" xmlns:a16="http://schemas.microsoft.com/office/drawing/2014/main" id="{1E089182-AF9A-1D0B-5B82-03C281540120}"/>
              </a:ext>
            </a:extLst>
          </p:cNvPr>
          <p:cNvSpPr txBox="1"/>
          <p:nvPr/>
        </p:nvSpPr>
        <p:spPr>
          <a:xfrm>
            <a:off x="3392487" y="4448366"/>
            <a:ext cx="5751513" cy="907428"/>
          </a:xfrm>
          <a:prstGeom prst="rect">
            <a:avLst/>
          </a:prstGeom>
          <a:noFill/>
          <a:ln w="12700">
            <a:noFill/>
          </a:ln>
        </p:spPr>
        <p:txBody>
          <a:bodyPr anchor="t" anchorCtr="0">
            <a:spAutoFit/>
          </a:bodyPr>
          <a:lstStyle/>
          <a:p>
            <a:pPr>
              <a:lnSpc>
                <a:spcPct val="140000"/>
              </a:lnSpc>
            </a:pPr>
            <a:r>
              <a:rPr lang="zh-CN" altLang="en-US" sz="2000" b="1" dirty="0">
                <a:solidFill>
                  <a:schemeClr val="tx1"/>
                </a:solidFill>
                <a:latin typeface="+mn-ea"/>
                <a:ea typeface="+mn-ea"/>
              </a:rPr>
              <a:t>分析：根据电压增益表达：               ，</a:t>
            </a:r>
            <a:endParaRPr lang="en-US" altLang="zh-CN" sz="2000" b="1" dirty="0">
              <a:solidFill>
                <a:schemeClr val="tx1"/>
              </a:solidFill>
              <a:latin typeface="+mn-ea"/>
              <a:ea typeface="+mn-ea"/>
            </a:endParaRPr>
          </a:p>
          <a:p>
            <a:pPr>
              <a:lnSpc>
                <a:spcPct val="140000"/>
              </a:lnSpc>
            </a:pPr>
            <a:r>
              <a:rPr lang="zh-CN" altLang="en-US" sz="2000" b="1" dirty="0">
                <a:solidFill>
                  <a:schemeClr val="tx1"/>
                </a:solidFill>
                <a:latin typeface="+mn-ea"/>
                <a:ea typeface="+mn-ea"/>
              </a:rPr>
              <a:t>      应先求出总电导 </a:t>
            </a:r>
            <a:r>
              <a:rPr lang="en-US" altLang="zh-CN" sz="2000" b="1" i="1" dirty="0">
                <a:solidFill>
                  <a:schemeClr val="tx1"/>
                </a:solidFill>
                <a:latin typeface="+mn-ea"/>
                <a:ea typeface="+mn-ea"/>
              </a:rPr>
              <a:t>g</a:t>
            </a:r>
            <a:r>
              <a:rPr lang="en-US" altLang="zh-CN" sz="2000" b="1" baseline="-25000" dirty="0">
                <a:solidFill>
                  <a:schemeClr val="tx1"/>
                </a:solidFill>
                <a:latin typeface="+mn-ea"/>
                <a:ea typeface="+mn-ea"/>
                <a:sym typeface="Symbol" panose="05050102010706020507" pitchFamily="18" charset="2"/>
              </a:rPr>
              <a:t>  </a:t>
            </a:r>
            <a:r>
              <a:rPr lang="en-US" altLang="zh-CN" sz="2000" b="1" dirty="0">
                <a:solidFill>
                  <a:schemeClr val="tx1"/>
                </a:solidFill>
                <a:latin typeface="+mn-ea"/>
                <a:ea typeface="+mn-ea"/>
                <a:sym typeface="Symbol" panose="05050102010706020507" pitchFamily="18" charset="2"/>
              </a:rPr>
              <a:t>;  </a:t>
            </a:r>
            <a:endParaRPr lang="zh-CN" altLang="en-US" sz="2000" b="1" dirty="0">
              <a:solidFill>
                <a:schemeClr val="tx1"/>
              </a:solidFill>
              <a:latin typeface="+mn-ea"/>
              <a:ea typeface="+mn-ea"/>
            </a:endParaRPr>
          </a:p>
        </p:txBody>
      </p:sp>
      <p:pic>
        <p:nvPicPr>
          <p:cNvPr id="10" name="图片 9">
            <a:extLst>
              <a:ext uri="{FF2B5EF4-FFF2-40B4-BE49-F238E27FC236}">
                <a16:creationId xmlns="" xmlns:a16="http://schemas.microsoft.com/office/drawing/2014/main" id="{864E1B28-4565-EF12-DB5B-ACF7E45A3697}"/>
              </a:ext>
            </a:extLst>
          </p:cNvPr>
          <p:cNvPicPr>
            <a:picLocks noChangeAspect="1"/>
          </p:cNvPicPr>
          <p:nvPr/>
        </p:nvPicPr>
        <p:blipFill>
          <a:blip r:embed="rId7"/>
          <a:stretch>
            <a:fillRect/>
          </a:stretch>
        </p:blipFill>
        <p:spPr>
          <a:xfrm>
            <a:off x="6445546" y="4242277"/>
            <a:ext cx="1873250" cy="864571"/>
          </a:xfrm>
          <a:prstGeom prst="rect">
            <a:avLst/>
          </a:prstGeom>
        </p:spPr>
      </p:pic>
      <p:graphicFrame>
        <p:nvGraphicFramePr>
          <p:cNvPr id="11" name="对象 1">
            <a:extLst>
              <a:ext uri="{FF2B5EF4-FFF2-40B4-BE49-F238E27FC236}">
                <a16:creationId xmlns="" xmlns:a16="http://schemas.microsoft.com/office/drawing/2014/main" id="{E5477EDB-4DBC-E0F3-3689-47BBB084A6B0}"/>
              </a:ext>
            </a:extLst>
          </p:cNvPr>
          <p:cNvGraphicFramePr/>
          <p:nvPr>
            <p:extLst>
              <p:ext uri="{D42A27DB-BD31-4B8C-83A1-F6EECF244321}">
                <p14:modId xmlns:p14="http://schemas.microsoft.com/office/powerpoint/2010/main" val="3279890453"/>
              </p:ext>
            </p:extLst>
          </p:nvPr>
        </p:nvGraphicFramePr>
        <p:xfrm>
          <a:off x="-1321827" y="4770162"/>
          <a:ext cx="8208963" cy="3118782"/>
        </p:xfrm>
        <a:graphic>
          <a:graphicData uri="http://schemas.openxmlformats.org/presentationml/2006/ole">
            <mc:AlternateContent xmlns:mc="http://schemas.openxmlformats.org/markup-compatibility/2006">
              <mc:Choice xmlns:v="urn:schemas-microsoft-com:vml" Requires="v">
                <p:oleObj spid="_x0000_s67726" r:id="rId8" imgW="6451600" imgH="2387600" progId="Word.Picture.8">
                  <p:embed/>
                </p:oleObj>
              </mc:Choice>
              <mc:Fallback>
                <p:oleObj r:id="rId8" imgW="6451600" imgH="2387600" progId="Word.Picture.8">
                  <p:embed/>
                  <p:pic>
                    <p:nvPicPr>
                      <p:cNvPr id="0" name=""/>
                      <p:cNvPicPr/>
                      <p:nvPr/>
                    </p:nvPicPr>
                    <p:blipFill>
                      <a:blip r:embed="rId9">
                        <a:clrChange>
                          <a:clrFrom>
                            <a:srgbClr val="FFFFFF"/>
                          </a:clrFrom>
                          <a:clrTo>
                            <a:srgbClr val="CCECFF"/>
                          </a:clrTo>
                        </a:clrChange>
                      </a:blip>
                      <a:stretch>
                        <a:fillRect/>
                      </a:stretch>
                    </p:blipFill>
                    <p:spPr>
                      <a:xfrm>
                        <a:off x="-1321827" y="4770162"/>
                        <a:ext cx="8208963" cy="3118782"/>
                      </a:xfrm>
                      <a:prstGeom prst="rect">
                        <a:avLst/>
                      </a:prstGeom>
                      <a:noFill/>
                      <a:ln w="38100">
                        <a:noFill/>
                        <a:miter/>
                      </a:ln>
                    </p:spPr>
                  </p:pic>
                </p:oleObj>
              </mc:Fallback>
            </mc:AlternateContent>
          </a:graphicData>
        </a:graphic>
      </p:graphicFrame>
    </p:spTree>
    <p:extLst>
      <p:ext uri="{BB962C8B-B14F-4D97-AF65-F5344CB8AC3E}">
        <p14:creationId xmlns:p14="http://schemas.microsoft.com/office/powerpoint/2010/main" val="1068348239"/>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92</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3.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高频</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小信号</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放大器</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Rectangle 11">
            <a:extLst>
              <a:ext uri="{FF2B5EF4-FFF2-40B4-BE49-F238E27FC236}">
                <a16:creationId xmlns="" xmlns:a16="http://schemas.microsoft.com/office/drawing/2014/main" id="{5EBA0B26-F0FD-0E6B-A0F1-5ECB9CDB88CC}"/>
              </a:ext>
            </a:extLst>
          </p:cNvPr>
          <p:cNvSpPr/>
          <p:nvPr/>
        </p:nvSpPr>
        <p:spPr>
          <a:xfrm>
            <a:off x="-58108" y="1267143"/>
            <a:ext cx="8412880" cy="400110"/>
          </a:xfrm>
          <a:prstGeom prst="rect">
            <a:avLst/>
          </a:prstGeom>
          <a:noFill/>
          <a:ln w="9525">
            <a:noFill/>
          </a:ln>
        </p:spPr>
        <p:txBody>
          <a:bodyPr wrap="none" anchor="ctr" anchorCtr="0">
            <a:spAutoFit/>
          </a:bodyPr>
          <a:lstStyle/>
          <a:p>
            <a:pPr indent="269875" algn="ctr"/>
            <a:r>
              <a:rPr lang="en-US" altLang="zh-CN" sz="2000" dirty="0">
                <a:solidFill>
                  <a:schemeClr val="tx1"/>
                </a:solidFill>
                <a:latin typeface="Times New Roman" panose="02020603050405020304" pitchFamily="18" charset="0"/>
                <a:ea typeface="+mn-ea"/>
              </a:rPr>
              <a:t>    </a:t>
            </a:r>
            <a:r>
              <a:rPr lang="zh-CN" altLang="en-US" sz="2000" b="1" dirty="0">
                <a:solidFill>
                  <a:schemeClr val="tx1"/>
                </a:solidFill>
                <a:latin typeface="Times New Roman" panose="02020603050405020304" pitchFamily="18" charset="0"/>
                <a:ea typeface="+mn-ea"/>
              </a:rPr>
              <a:t>解：因为回路谐振电阻</a:t>
            </a:r>
            <a:r>
              <a:rPr lang="en-US" altLang="zh-CN" sz="2000" b="1" i="1" dirty="0">
                <a:solidFill>
                  <a:schemeClr val="tx1"/>
                </a:solidFill>
                <a:latin typeface="Times New Roman" panose="02020603050405020304" pitchFamily="18" charset="0"/>
                <a:ea typeface="+mn-ea"/>
              </a:rPr>
              <a:t>R</a:t>
            </a:r>
            <a:r>
              <a:rPr lang="en-US" altLang="zh-CN" sz="2000" b="1" baseline="-30000" dirty="0">
                <a:solidFill>
                  <a:schemeClr val="tx1"/>
                </a:solidFill>
                <a:latin typeface="Times New Roman" panose="02020603050405020304" pitchFamily="18" charset="0"/>
                <a:ea typeface="+mn-ea"/>
              </a:rPr>
              <a:t>P</a:t>
            </a:r>
            <a:r>
              <a:rPr lang="en-US" altLang="zh-CN" sz="2000" b="1" dirty="0">
                <a:solidFill>
                  <a:schemeClr val="tx1"/>
                </a:solidFill>
                <a:latin typeface="Times New Roman" panose="02020603050405020304" pitchFamily="18" charset="0"/>
                <a:ea typeface="+mn-ea"/>
              </a:rPr>
              <a:t>=</a:t>
            </a:r>
            <a:r>
              <a:rPr lang="en-US" altLang="zh-CN" sz="2000" b="1" i="1" dirty="0">
                <a:solidFill>
                  <a:schemeClr val="tx1"/>
                </a:solidFill>
                <a:latin typeface="Times New Roman" panose="02020603050405020304" pitchFamily="18" charset="0"/>
                <a:ea typeface="+mn-ea"/>
              </a:rPr>
              <a:t>Q</a:t>
            </a:r>
            <a:r>
              <a:rPr lang="en-US" altLang="zh-CN" sz="2000" b="1" baseline="-30000" dirty="0">
                <a:solidFill>
                  <a:schemeClr val="tx1"/>
                </a:solidFill>
                <a:latin typeface="Times New Roman" panose="02020603050405020304" pitchFamily="18" charset="0"/>
                <a:ea typeface="+mn-ea"/>
              </a:rPr>
              <a:t>P</a:t>
            </a:r>
            <a:r>
              <a:rPr lang="en-US" altLang="zh-CN" sz="2000" b="1" i="1" dirty="0">
                <a:solidFill>
                  <a:schemeClr val="tx1"/>
                </a:solidFill>
                <a:latin typeface="Times New Roman" panose="02020603050405020304" pitchFamily="18" charset="0"/>
                <a:ea typeface="+mn-ea"/>
                <a:sym typeface="Symbol" panose="05050102010706020507" pitchFamily="18" charset="2"/>
              </a:rPr>
              <a:t></a:t>
            </a:r>
            <a:r>
              <a:rPr lang="en-US" altLang="zh-CN" sz="2000" b="1" baseline="-30000" dirty="0">
                <a:solidFill>
                  <a:schemeClr val="tx1"/>
                </a:solidFill>
                <a:latin typeface="Times New Roman" panose="02020603050405020304" pitchFamily="18" charset="0"/>
                <a:ea typeface="+mn-ea"/>
              </a:rPr>
              <a:t>0</a:t>
            </a:r>
            <a:r>
              <a:rPr lang="en-US" altLang="zh-CN" sz="2000" b="1" i="1" dirty="0">
                <a:solidFill>
                  <a:schemeClr val="tx1"/>
                </a:solidFill>
                <a:latin typeface="Times New Roman" panose="02020603050405020304" pitchFamily="18" charset="0"/>
                <a:ea typeface="+mn-ea"/>
                <a:sym typeface="Symbol" panose="05050102010706020507" pitchFamily="18" charset="2"/>
              </a:rPr>
              <a:t>L</a:t>
            </a:r>
            <a:r>
              <a:rPr lang="en-US" altLang="zh-CN" sz="2000" b="1" dirty="0">
                <a:solidFill>
                  <a:schemeClr val="tx1"/>
                </a:solidFill>
                <a:latin typeface="Times New Roman" panose="02020603050405020304" pitchFamily="18" charset="0"/>
                <a:ea typeface="+mn-ea"/>
                <a:sym typeface="Symbol" panose="05050102010706020507" pitchFamily="18" charset="2"/>
              </a:rPr>
              <a:t>=100</a:t>
            </a:r>
            <a:r>
              <a:rPr lang="en-US" altLang="zh-CN" sz="2000" b="1" i="1" dirty="0">
                <a:solidFill>
                  <a:schemeClr val="tx1"/>
                </a:solidFill>
                <a:latin typeface="Times New Roman" panose="02020603050405020304" pitchFamily="18" charset="0"/>
                <a:ea typeface="+mn-ea"/>
              </a:rPr>
              <a:t>6.28</a:t>
            </a:r>
            <a:r>
              <a:rPr lang="en-US" altLang="zh-CN" sz="2000" b="1" i="1" dirty="0">
                <a:solidFill>
                  <a:schemeClr val="tx1"/>
                </a:solidFill>
                <a:latin typeface="Times New Roman" panose="02020603050405020304" pitchFamily="18" charset="0"/>
                <a:ea typeface="+mn-ea"/>
                <a:sym typeface="Symbol" panose="05050102010706020507" pitchFamily="18" charset="2"/>
              </a:rPr>
              <a:t></a:t>
            </a:r>
            <a:r>
              <a:rPr lang="en-US" altLang="zh-CN" sz="2000" b="1" i="1" dirty="0">
                <a:solidFill>
                  <a:schemeClr val="tx1"/>
                </a:solidFill>
                <a:latin typeface="Times New Roman" panose="02020603050405020304" pitchFamily="18" charset="0"/>
                <a:ea typeface="+mn-ea"/>
              </a:rPr>
              <a:t>30</a:t>
            </a:r>
            <a:r>
              <a:rPr lang="en-US" altLang="zh-CN" sz="2000" b="1" i="1" dirty="0">
                <a:solidFill>
                  <a:schemeClr val="tx1"/>
                </a:solidFill>
                <a:latin typeface="Times New Roman" panose="02020603050405020304" pitchFamily="18" charset="0"/>
                <a:ea typeface="+mn-ea"/>
                <a:sym typeface="Symbol" panose="05050102010706020507" pitchFamily="18" charset="2"/>
              </a:rPr>
              <a:t></a:t>
            </a:r>
            <a:r>
              <a:rPr lang="en-US" altLang="zh-CN" sz="2000" b="1" i="1" dirty="0">
                <a:solidFill>
                  <a:schemeClr val="tx1"/>
                </a:solidFill>
                <a:latin typeface="Times New Roman" panose="02020603050405020304" pitchFamily="18" charset="0"/>
                <a:ea typeface="+mn-ea"/>
              </a:rPr>
              <a:t>10</a:t>
            </a:r>
            <a:r>
              <a:rPr lang="en-US" altLang="zh-CN" sz="2000" b="1" i="1" baseline="30000" dirty="0">
                <a:solidFill>
                  <a:schemeClr val="tx1"/>
                </a:solidFill>
                <a:latin typeface="Times New Roman" panose="02020603050405020304" pitchFamily="18" charset="0"/>
                <a:ea typeface="+mn-ea"/>
                <a:sym typeface="Symbol" panose="05050102010706020507" pitchFamily="18" charset="2"/>
              </a:rPr>
              <a:t>6</a:t>
            </a:r>
            <a:r>
              <a:rPr lang="en-US" altLang="zh-CN" sz="2000" b="1" i="1" dirty="0">
                <a:solidFill>
                  <a:schemeClr val="tx1"/>
                </a:solidFill>
                <a:latin typeface="Times New Roman" panose="02020603050405020304" pitchFamily="18" charset="0"/>
                <a:ea typeface="+mn-ea"/>
                <a:sym typeface="Symbol" panose="05050102010706020507" pitchFamily="18" charset="2"/>
              </a:rPr>
              <a:t></a:t>
            </a:r>
            <a:r>
              <a:rPr lang="en-US" altLang="zh-CN" sz="2000" b="1" i="1" dirty="0">
                <a:solidFill>
                  <a:schemeClr val="tx1"/>
                </a:solidFill>
                <a:latin typeface="Times New Roman" panose="02020603050405020304" pitchFamily="18" charset="0"/>
                <a:ea typeface="+mn-ea"/>
              </a:rPr>
              <a:t>1.4</a:t>
            </a:r>
            <a:r>
              <a:rPr lang="en-US" altLang="zh-CN" sz="2000" b="1" i="1" dirty="0">
                <a:solidFill>
                  <a:schemeClr val="tx1"/>
                </a:solidFill>
                <a:latin typeface="Times New Roman" panose="02020603050405020304" pitchFamily="18" charset="0"/>
                <a:ea typeface="+mn-ea"/>
                <a:sym typeface="Symbol" panose="05050102010706020507" pitchFamily="18" charset="2"/>
              </a:rPr>
              <a:t></a:t>
            </a:r>
            <a:r>
              <a:rPr lang="en-US" altLang="zh-CN" sz="2000" b="1" i="1" dirty="0">
                <a:solidFill>
                  <a:schemeClr val="tx1"/>
                </a:solidFill>
                <a:latin typeface="Times New Roman" panose="02020603050405020304" pitchFamily="18" charset="0"/>
                <a:ea typeface="+mn-ea"/>
              </a:rPr>
              <a:t>10</a:t>
            </a:r>
            <a:r>
              <a:rPr lang="en-US" altLang="zh-CN" sz="2000" b="1" i="1" baseline="30000" dirty="0">
                <a:solidFill>
                  <a:schemeClr val="tx1"/>
                </a:solidFill>
                <a:latin typeface="Times New Roman" panose="02020603050405020304" pitchFamily="18" charset="0"/>
                <a:ea typeface="+mn-ea"/>
                <a:sym typeface="Symbol" panose="05050102010706020507" pitchFamily="18" charset="2"/>
              </a:rPr>
              <a:t>-6</a:t>
            </a:r>
            <a:r>
              <a:rPr lang="en-US" altLang="zh-CN" sz="2000" b="1" i="1" dirty="0">
                <a:solidFill>
                  <a:schemeClr val="tx1"/>
                </a:solidFill>
                <a:latin typeface="Times New Roman" panose="02020603050405020304" pitchFamily="18" charset="0"/>
                <a:ea typeface="+mn-ea"/>
                <a:sym typeface="Symbol" panose="05050102010706020507" pitchFamily="18" charset="2"/>
              </a:rPr>
              <a:t></a:t>
            </a:r>
            <a:r>
              <a:rPr lang="en-US" altLang="zh-CN" sz="2000" b="1" i="1" dirty="0">
                <a:solidFill>
                  <a:schemeClr val="tx1"/>
                </a:solidFill>
                <a:latin typeface="Times New Roman" panose="02020603050405020304" pitchFamily="18" charset="0"/>
                <a:ea typeface="+mn-ea"/>
              </a:rPr>
              <a:t>26k</a:t>
            </a:r>
            <a:r>
              <a:rPr lang="en-US" altLang="zh-CN" sz="2000" b="1" i="1" dirty="0">
                <a:solidFill>
                  <a:schemeClr val="tx1"/>
                </a:solidFill>
                <a:latin typeface="Times New Roman" panose="02020603050405020304" pitchFamily="18" charset="0"/>
                <a:ea typeface="+mn-ea"/>
                <a:sym typeface="Symbol" panose="05050102010706020507" pitchFamily="18" charset="2"/>
              </a:rPr>
              <a:t></a:t>
            </a:r>
          </a:p>
        </p:txBody>
      </p:sp>
      <p:graphicFrame>
        <p:nvGraphicFramePr>
          <p:cNvPr id="6" name="Object 10">
            <a:extLst>
              <a:ext uri="{FF2B5EF4-FFF2-40B4-BE49-F238E27FC236}">
                <a16:creationId xmlns="" xmlns:a16="http://schemas.microsoft.com/office/drawing/2014/main" id="{DE5E7DD8-A55E-10EF-CE74-877D90350B21}"/>
              </a:ext>
            </a:extLst>
          </p:cNvPr>
          <p:cNvGraphicFramePr/>
          <p:nvPr>
            <p:extLst>
              <p:ext uri="{D42A27DB-BD31-4B8C-83A1-F6EECF244321}">
                <p14:modId xmlns:p14="http://schemas.microsoft.com/office/powerpoint/2010/main" val="2457215434"/>
              </p:ext>
            </p:extLst>
          </p:nvPr>
        </p:nvGraphicFramePr>
        <p:xfrm>
          <a:off x="604076" y="1696418"/>
          <a:ext cx="3340100" cy="835025"/>
        </p:xfrm>
        <a:graphic>
          <a:graphicData uri="http://schemas.openxmlformats.org/presentationml/2006/ole">
            <mc:AlternateContent xmlns:mc="http://schemas.openxmlformats.org/markup-compatibility/2006">
              <mc:Choice xmlns:v="urn:schemas-microsoft-com:vml" Requires="v">
                <p:oleObj spid="_x0000_s68932" r:id="rId3" imgW="1930400" imgH="406400" progId="Equation.3">
                  <p:embed/>
                </p:oleObj>
              </mc:Choice>
              <mc:Fallback>
                <p:oleObj r:id="rId3" imgW="1930400" imgH="406400" progId="Equation.3">
                  <p:embed/>
                  <p:pic>
                    <p:nvPicPr>
                      <p:cNvPr id="0" name=""/>
                      <p:cNvPicPr/>
                      <p:nvPr/>
                    </p:nvPicPr>
                    <p:blipFill>
                      <a:blip r:embed="rId4"/>
                      <a:stretch>
                        <a:fillRect/>
                      </a:stretch>
                    </p:blipFill>
                    <p:spPr>
                      <a:xfrm>
                        <a:off x="604076" y="1696418"/>
                        <a:ext cx="3340100" cy="835025"/>
                      </a:xfrm>
                      <a:prstGeom prst="rect">
                        <a:avLst/>
                      </a:prstGeom>
                      <a:noFill/>
                      <a:ln w="38100">
                        <a:noFill/>
                        <a:miter/>
                      </a:ln>
                    </p:spPr>
                  </p:pic>
                </p:oleObj>
              </mc:Fallback>
            </mc:AlternateContent>
          </a:graphicData>
        </a:graphic>
      </p:graphicFrame>
      <p:sp>
        <p:nvSpPr>
          <p:cNvPr id="7" name="Rectangle 12">
            <a:extLst>
              <a:ext uri="{FF2B5EF4-FFF2-40B4-BE49-F238E27FC236}">
                <a16:creationId xmlns="" xmlns:a16="http://schemas.microsoft.com/office/drawing/2014/main" id="{7FB705D3-794F-804F-7DDD-6DE7C3A3C6DE}"/>
              </a:ext>
            </a:extLst>
          </p:cNvPr>
          <p:cNvSpPr/>
          <p:nvPr/>
        </p:nvSpPr>
        <p:spPr>
          <a:xfrm>
            <a:off x="3926161" y="1943418"/>
            <a:ext cx="3161443" cy="400110"/>
          </a:xfrm>
          <a:prstGeom prst="rect">
            <a:avLst/>
          </a:prstGeom>
          <a:noFill/>
          <a:ln w="9525">
            <a:noFill/>
          </a:ln>
        </p:spPr>
        <p:txBody>
          <a:bodyPr wrap="none" anchor="ctr" anchorCtr="0">
            <a:spAutoFit/>
          </a:bodyPr>
          <a:lstStyle/>
          <a:p>
            <a:r>
              <a:rPr lang="en-US" altLang="zh-CN" sz="1000" b="1" dirty="0">
                <a:solidFill>
                  <a:schemeClr val="tx1"/>
                </a:solidFill>
                <a:latin typeface="Times New Roman" panose="02020603050405020304" pitchFamily="18" charset="0"/>
                <a:ea typeface="华康简宋"/>
              </a:rPr>
              <a:t>    </a:t>
            </a:r>
            <a:r>
              <a:rPr lang="zh-CN" altLang="en-US" sz="2000" dirty="0">
                <a:solidFill>
                  <a:schemeClr val="tx1"/>
                </a:solidFill>
                <a:latin typeface="Times New Roman" panose="02020603050405020304" pitchFamily="18" charset="0"/>
                <a:ea typeface="+mn-ea"/>
              </a:rPr>
              <a:t>因此回路总电导 </a:t>
            </a:r>
            <a:r>
              <a:rPr lang="en-US" altLang="zh-CN" sz="2000" dirty="0">
                <a:solidFill>
                  <a:schemeClr val="tx1"/>
                </a:solidFill>
                <a:latin typeface="Times New Roman" panose="02020603050405020304" pitchFamily="18" charset="0"/>
                <a:ea typeface="+mn-ea"/>
              </a:rPr>
              <a:t>g</a:t>
            </a:r>
            <a:r>
              <a:rPr lang="en-US" altLang="zh-CN" sz="2000" dirty="0">
                <a:solidFill>
                  <a:schemeClr val="tx1"/>
                </a:solidFill>
                <a:latin typeface="Times New Roman" panose="02020603050405020304" pitchFamily="18" charset="0"/>
                <a:ea typeface="+mn-ea"/>
                <a:sym typeface="Symbol" panose="05050102010706020507" pitchFamily="18" charset="2"/>
              </a:rPr>
              <a:t></a:t>
            </a:r>
            <a:r>
              <a:rPr lang="en-US" altLang="zh-CN" sz="2000" dirty="0">
                <a:solidFill>
                  <a:schemeClr val="tx1"/>
                </a:solidFill>
                <a:latin typeface="Times New Roman" panose="02020603050405020304" pitchFamily="18" charset="0"/>
                <a:ea typeface="+mn-ea"/>
              </a:rPr>
              <a:t>=</a:t>
            </a:r>
            <a:r>
              <a:rPr lang="en-US" altLang="zh-CN" sz="2000" dirty="0" err="1">
                <a:solidFill>
                  <a:schemeClr val="tx1"/>
                </a:solidFill>
                <a:latin typeface="Times New Roman" panose="02020603050405020304" pitchFamily="18" charset="0"/>
                <a:ea typeface="+mn-ea"/>
              </a:rPr>
              <a:t>Gp</a:t>
            </a:r>
            <a:r>
              <a:rPr lang="en-US" altLang="zh-CN" sz="2000" dirty="0">
                <a:solidFill>
                  <a:schemeClr val="tx1"/>
                </a:solidFill>
                <a:latin typeface="Times New Roman" panose="02020603050405020304" pitchFamily="18" charset="0"/>
                <a:ea typeface="+mn-ea"/>
              </a:rPr>
              <a:t> </a:t>
            </a:r>
            <a:r>
              <a:rPr lang="en-US" altLang="zh-CN" sz="2000" dirty="0">
                <a:solidFill>
                  <a:schemeClr val="tx1"/>
                </a:solidFill>
                <a:latin typeface="Times New Roman" panose="02020603050405020304" pitchFamily="18" charset="0"/>
                <a:ea typeface="+mn-ea"/>
                <a:sym typeface="Symbol" panose="05050102010706020507" pitchFamily="18" charset="2"/>
              </a:rPr>
              <a:t>+</a:t>
            </a:r>
          </a:p>
        </p:txBody>
      </p:sp>
      <p:graphicFrame>
        <p:nvGraphicFramePr>
          <p:cNvPr id="8" name="Object 9">
            <a:extLst>
              <a:ext uri="{FF2B5EF4-FFF2-40B4-BE49-F238E27FC236}">
                <a16:creationId xmlns="" xmlns:a16="http://schemas.microsoft.com/office/drawing/2014/main" id="{70C4B492-B85C-3DAF-6C1C-C19B53DEDA81}"/>
              </a:ext>
            </a:extLst>
          </p:cNvPr>
          <p:cNvGraphicFramePr/>
          <p:nvPr>
            <p:extLst>
              <p:ext uri="{D42A27DB-BD31-4B8C-83A1-F6EECF244321}">
                <p14:modId xmlns:p14="http://schemas.microsoft.com/office/powerpoint/2010/main" val="3373637998"/>
              </p:ext>
            </p:extLst>
          </p:nvPr>
        </p:nvGraphicFramePr>
        <p:xfrm>
          <a:off x="6946300" y="1963737"/>
          <a:ext cx="1511300" cy="400050"/>
        </p:xfrm>
        <a:graphic>
          <a:graphicData uri="http://schemas.openxmlformats.org/presentationml/2006/ole">
            <mc:AlternateContent xmlns:mc="http://schemas.openxmlformats.org/markup-compatibility/2006">
              <mc:Choice xmlns:v="urn:schemas-microsoft-com:vml" Requires="v">
                <p:oleObj spid="_x0000_s68933" r:id="rId5" imgW="824865" imgH="215900" progId="Equation.3">
                  <p:embed/>
                </p:oleObj>
              </mc:Choice>
              <mc:Fallback>
                <p:oleObj r:id="rId5" imgW="824865" imgH="215900" progId="Equation.3">
                  <p:embed/>
                  <p:pic>
                    <p:nvPicPr>
                      <p:cNvPr id="0" name=""/>
                      <p:cNvPicPr/>
                      <p:nvPr/>
                    </p:nvPicPr>
                    <p:blipFill>
                      <a:blip r:embed="rId6"/>
                      <a:stretch>
                        <a:fillRect/>
                      </a:stretch>
                    </p:blipFill>
                    <p:spPr>
                      <a:xfrm>
                        <a:off x="6946300" y="1963737"/>
                        <a:ext cx="1511300" cy="400050"/>
                      </a:xfrm>
                      <a:prstGeom prst="rect">
                        <a:avLst/>
                      </a:prstGeom>
                      <a:noFill/>
                      <a:ln w="38100">
                        <a:noFill/>
                        <a:miter/>
                      </a:ln>
                    </p:spPr>
                  </p:pic>
                </p:oleObj>
              </mc:Fallback>
            </mc:AlternateContent>
          </a:graphicData>
        </a:graphic>
      </p:graphicFrame>
      <p:sp>
        <p:nvSpPr>
          <p:cNvPr id="9" name="Rectangle 13">
            <a:extLst>
              <a:ext uri="{FF2B5EF4-FFF2-40B4-BE49-F238E27FC236}">
                <a16:creationId xmlns="" xmlns:a16="http://schemas.microsoft.com/office/drawing/2014/main" id="{6F3C22C6-D8FD-F486-F813-D8A3B8A7E72A}"/>
              </a:ext>
            </a:extLst>
          </p:cNvPr>
          <p:cNvSpPr/>
          <p:nvPr/>
        </p:nvSpPr>
        <p:spPr>
          <a:xfrm>
            <a:off x="404536" y="2612271"/>
            <a:ext cx="4795289" cy="707886"/>
          </a:xfrm>
          <a:prstGeom prst="rect">
            <a:avLst/>
          </a:prstGeom>
          <a:noFill/>
          <a:ln w="9525">
            <a:noFill/>
          </a:ln>
        </p:spPr>
        <p:txBody>
          <a:bodyPr wrap="square" anchor="ctr" anchorCtr="0">
            <a:spAutoFit/>
          </a:bodyPr>
          <a:lstStyle/>
          <a:p>
            <a:r>
              <a:rPr lang="en-US" altLang="zh-CN" sz="2000" dirty="0">
                <a:solidFill>
                  <a:schemeClr val="tx1"/>
                </a:solidFill>
                <a:latin typeface="Times New Roman" panose="02020603050405020304" pitchFamily="18" charset="0"/>
                <a:ea typeface="华康简宋"/>
                <a:cs typeface="Times New Roman" panose="02020603050405020304" pitchFamily="18" charset="0"/>
              </a:rPr>
              <a:t>          </a:t>
            </a:r>
            <a:r>
              <a:rPr lang="zh-CN" altLang="en-US" sz="2000" b="1" dirty="0">
                <a:solidFill>
                  <a:schemeClr val="tx1"/>
                </a:solidFill>
                <a:latin typeface="+mn-ea"/>
                <a:ea typeface="+mn-ea"/>
                <a:cs typeface="Times New Roman" panose="02020603050405020304" pitchFamily="18" charset="0"/>
              </a:rPr>
              <a:t>若下级采用相同晶体管时，</a:t>
            </a:r>
            <a:endParaRPr lang="en-US" altLang="zh-CN" sz="2000" b="1" dirty="0">
              <a:solidFill>
                <a:schemeClr val="tx1"/>
              </a:solidFill>
              <a:latin typeface="+mn-ea"/>
              <a:ea typeface="+mn-ea"/>
              <a:cs typeface="Times New Roman" panose="02020603050405020304" pitchFamily="18" charset="0"/>
            </a:endParaRPr>
          </a:p>
          <a:p>
            <a:r>
              <a:rPr lang="zh-CN" altLang="en-US" sz="2000" b="1" dirty="0">
                <a:solidFill>
                  <a:schemeClr val="tx1"/>
                </a:solidFill>
                <a:latin typeface="+mn-ea"/>
                <a:ea typeface="+mn-ea"/>
                <a:cs typeface="Times New Roman" panose="02020603050405020304" pitchFamily="18" charset="0"/>
              </a:rPr>
              <a:t>即</a:t>
            </a:r>
            <a:r>
              <a:rPr lang="en-US" altLang="zh-CN" sz="2000" b="1" i="1" dirty="0">
                <a:solidFill>
                  <a:schemeClr val="tx1"/>
                </a:solidFill>
                <a:latin typeface="+mn-ea"/>
                <a:ea typeface="+mn-ea"/>
                <a:cs typeface="Times New Roman" panose="02020603050405020304" pitchFamily="18" charset="0"/>
              </a:rPr>
              <a:t>g</a:t>
            </a:r>
            <a:r>
              <a:rPr lang="en-US" altLang="zh-CN" sz="2000" b="1" baseline="-30000" dirty="0">
                <a:solidFill>
                  <a:schemeClr val="tx1"/>
                </a:solidFill>
                <a:latin typeface="+mn-ea"/>
                <a:ea typeface="+mn-ea"/>
                <a:cs typeface="Times New Roman" panose="02020603050405020304" pitchFamily="18" charset="0"/>
              </a:rPr>
              <a:t>ie1</a:t>
            </a:r>
            <a:r>
              <a:rPr lang="en-US" altLang="zh-CN" sz="2000" b="1" dirty="0">
                <a:solidFill>
                  <a:schemeClr val="tx1"/>
                </a:solidFill>
                <a:latin typeface="+mn-ea"/>
                <a:ea typeface="+mn-ea"/>
                <a:cs typeface="Times New Roman" panose="02020603050405020304" pitchFamily="18" charset="0"/>
              </a:rPr>
              <a:t>=</a:t>
            </a:r>
            <a:r>
              <a:rPr lang="en-US" altLang="zh-CN" sz="2000" b="1" i="1" dirty="0">
                <a:solidFill>
                  <a:schemeClr val="tx1"/>
                </a:solidFill>
                <a:latin typeface="+mn-ea"/>
                <a:ea typeface="+mn-ea"/>
                <a:cs typeface="Times New Roman" panose="02020603050405020304" pitchFamily="18" charset="0"/>
              </a:rPr>
              <a:t>g</a:t>
            </a:r>
            <a:r>
              <a:rPr lang="en-US" altLang="zh-CN" sz="2000" b="1" baseline="-30000" dirty="0">
                <a:solidFill>
                  <a:schemeClr val="tx1"/>
                </a:solidFill>
                <a:latin typeface="+mn-ea"/>
                <a:ea typeface="+mn-ea"/>
                <a:cs typeface="Times New Roman" panose="02020603050405020304" pitchFamily="18" charset="0"/>
              </a:rPr>
              <a:t>ie2</a:t>
            </a:r>
            <a:r>
              <a:rPr lang="en-US" altLang="zh-CN" sz="2000" b="1" dirty="0">
                <a:solidFill>
                  <a:schemeClr val="tx1"/>
                </a:solidFill>
                <a:latin typeface="+mn-ea"/>
                <a:ea typeface="+mn-ea"/>
                <a:cs typeface="Times New Roman" panose="02020603050405020304" pitchFamily="18" charset="0"/>
              </a:rPr>
              <a:t>=1.2ms   </a:t>
            </a:r>
            <a:r>
              <a:rPr lang="zh-CN" altLang="en-US" sz="2000" b="1" dirty="0">
                <a:solidFill>
                  <a:schemeClr val="tx1"/>
                </a:solidFill>
                <a:latin typeface="+mn-ea"/>
                <a:ea typeface="+mn-ea"/>
                <a:cs typeface="Times New Roman" panose="02020603050405020304" pitchFamily="18" charset="0"/>
              </a:rPr>
              <a:t>则</a:t>
            </a:r>
          </a:p>
        </p:txBody>
      </p:sp>
      <p:graphicFrame>
        <p:nvGraphicFramePr>
          <p:cNvPr id="10" name="Object 8">
            <a:extLst>
              <a:ext uri="{FF2B5EF4-FFF2-40B4-BE49-F238E27FC236}">
                <a16:creationId xmlns="" xmlns:a16="http://schemas.microsoft.com/office/drawing/2014/main" id="{F0F2074D-7F08-F1D5-23E7-1A9D5D010260}"/>
              </a:ext>
            </a:extLst>
          </p:cNvPr>
          <p:cNvGraphicFramePr/>
          <p:nvPr>
            <p:extLst>
              <p:ext uri="{D42A27DB-BD31-4B8C-83A1-F6EECF244321}">
                <p14:modId xmlns:p14="http://schemas.microsoft.com/office/powerpoint/2010/main" val="2129217594"/>
              </p:ext>
            </p:extLst>
          </p:nvPr>
        </p:nvGraphicFramePr>
        <p:xfrm>
          <a:off x="3040578" y="2895991"/>
          <a:ext cx="311150" cy="344487"/>
        </p:xfrm>
        <a:graphic>
          <a:graphicData uri="http://schemas.openxmlformats.org/presentationml/2006/ole">
            <mc:AlternateContent xmlns:mc="http://schemas.openxmlformats.org/markup-compatibility/2006">
              <mc:Choice xmlns:v="urn:schemas-microsoft-com:vml" Requires="v">
                <p:oleObj spid="_x0000_s68934" r:id="rId7" imgW="177800" imgH="203200" progId="Equation.3">
                  <p:embed/>
                </p:oleObj>
              </mc:Choice>
              <mc:Fallback>
                <p:oleObj r:id="rId7" imgW="177800" imgH="203200" progId="Equation.3">
                  <p:embed/>
                  <p:pic>
                    <p:nvPicPr>
                      <p:cNvPr id="0" name=""/>
                      <p:cNvPicPr/>
                      <p:nvPr/>
                    </p:nvPicPr>
                    <p:blipFill>
                      <a:blip r:embed="rId8"/>
                      <a:stretch>
                        <a:fillRect/>
                      </a:stretch>
                    </p:blipFill>
                    <p:spPr>
                      <a:xfrm>
                        <a:off x="3040578" y="2895991"/>
                        <a:ext cx="311150" cy="344487"/>
                      </a:xfrm>
                      <a:prstGeom prst="rect">
                        <a:avLst/>
                      </a:prstGeom>
                      <a:noFill/>
                      <a:ln w="38100">
                        <a:noFill/>
                        <a:miter/>
                      </a:ln>
                    </p:spPr>
                  </p:pic>
                </p:oleObj>
              </mc:Fallback>
            </mc:AlternateContent>
          </a:graphicData>
        </a:graphic>
      </p:graphicFrame>
      <p:sp>
        <p:nvSpPr>
          <p:cNvPr id="11" name="Rectangle 14">
            <a:extLst>
              <a:ext uri="{FF2B5EF4-FFF2-40B4-BE49-F238E27FC236}">
                <a16:creationId xmlns="" xmlns:a16="http://schemas.microsoft.com/office/drawing/2014/main" id="{DEA4B69A-49DA-D7CD-D617-3F8E81F87602}"/>
              </a:ext>
            </a:extLst>
          </p:cNvPr>
          <p:cNvSpPr/>
          <p:nvPr/>
        </p:nvSpPr>
        <p:spPr>
          <a:xfrm>
            <a:off x="3337161" y="2913742"/>
            <a:ext cx="5583580" cy="707886"/>
          </a:xfrm>
          <a:prstGeom prst="rect">
            <a:avLst/>
          </a:prstGeom>
          <a:noFill/>
          <a:ln w="9525">
            <a:noFill/>
          </a:ln>
        </p:spPr>
        <p:txBody>
          <a:bodyPr wrap="none" anchor="ctr" anchorCtr="0">
            <a:spAutoFit/>
          </a:bodyPr>
          <a:lstStyle/>
          <a:p>
            <a:r>
              <a:rPr lang="en-US" altLang="zh-CN" sz="2000" dirty="0">
                <a:solidFill>
                  <a:schemeClr val="tx1"/>
                </a:solidFill>
                <a:latin typeface="Times New Roman" panose="02020603050405020304" pitchFamily="18" charset="0"/>
                <a:ea typeface="华康简宋"/>
              </a:rPr>
              <a:t>=0.0384</a:t>
            </a:r>
            <a:r>
              <a:rPr lang="en-US" altLang="zh-CN" sz="2000" dirty="0">
                <a:solidFill>
                  <a:schemeClr val="tx1"/>
                </a:solidFill>
                <a:latin typeface="Times New Roman" panose="02020603050405020304" pitchFamily="18" charset="0"/>
                <a:ea typeface="华康简宋"/>
                <a:sym typeface="Symbol" panose="05050102010706020507" pitchFamily="18" charset="2"/>
              </a:rPr>
              <a:t></a:t>
            </a:r>
            <a:r>
              <a:rPr lang="en-US" altLang="zh-CN" sz="2000" dirty="0">
                <a:solidFill>
                  <a:schemeClr val="tx1"/>
                </a:solidFill>
                <a:latin typeface="Times New Roman" panose="02020603050405020304" pitchFamily="18" charset="0"/>
                <a:ea typeface="华康简宋"/>
              </a:rPr>
              <a:t>10</a:t>
            </a:r>
            <a:r>
              <a:rPr lang="en-US" altLang="zh-CN" sz="2000" baseline="30000" dirty="0">
                <a:solidFill>
                  <a:schemeClr val="tx1"/>
                </a:solidFill>
                <a:latin typeface="Times New Roman" panose="02020603050405020304" pitchFamily="18" charset="0"/>
                <a:ea typeface="华康简宋"/>
                <a:sym typeface="Symbol" panose="05050102010706020507" pitchFamily="18" charset="2"/>
              </a:rPr>
              <a:t>-3</a:t>
            </a:r>
            <a:r>
              <a:rPr lang="en-US" altLang="zh-CN" sz="2000" dirty="0">
                <a:solidFill>
                  <a:schemeClr val="tx1"/>
                </a:solidFill>
                <a:latin typeface="Times New Roman" panose="02020603050405020304" pitchFamily="18" charset="0"/>
                <a:ea typeface="华康简宋"/>
                <a:sym typeface="Symbol" panose="05050102010706020507" pitchFamily="18" charset="2"/>
              </a:rPr>
              <a:t>+0.4</a:t>
            </a:r>
            <a:r>
              <a:rPr lang="en-US" altLang="zh-CN" sz="2000" dirty="0">
                <a:solidFill>
                  <a:schemeClr val="tx1"/>
                </a:solidFill>
                <a:latin typeface="Times New Roman" panose="02020603050405020304" pitchFamily="18" charset="0"/>
                <a:ea typeface="华康简宋"/>
              </a:rPr>
              <a:t>10</a:t>
            </a:r>
            <a:r>
              <a:rPr lang="en-US" altLang="zh-CN" sz="2000" baseline="30000" dirty="0">
                <a:solidFill>
                  <a:schemeClr val="tx1"/>
                </a:solidFill>
                <a:latin typeface="Times New Roman" panose="02020603050405020304" pitchFamily="18" charset="0"/>
                <a:ea typeface="华康简宋"/>
                <a:sym typeface="Symbol" panose="05050102010706020507" pitchFamily="18" charset="2"/>
              </a:rPr>
              <a:t>-3</a:t>
            </a:r>
            <a:r>
              <a:rPr lang="en-US" altLang="zh-CN" sz="2000" dirty="0">
                <a:solidFill>
                  <a:schemeClr val="tx1"/>
                </a:solidFill>
                <a:latin typeface="Times New Roman" panose="02020603050405020304" pitchFamily="18" charset="0"/>
                <a:ea typeface="华康简宋"/>
                <a:sym typeface="Symbol" panose="05050102010706020507" pitchFamily="18" charset="2"/>
              </a:rPr>
              <a:t>+(0.3)</a:t>
            </a:r>
            <a:r>
              <a:rPr lang="en-US" altLang="zh-CN" sz="2000" baseline="30000" dirty="0">
                <a:solidFill>
                  <a:schemeClr val="tx1"/>
                </a:solidFill>
                <a:latin typeface="Times New Roman" panose="02020603050405020304" pitchFamily="18" charset="0"/>
                <a:ea typeface="华康简宋"/>
                <a:sym typeface="Symbol" panose="05050102010706020507" pitchFamily="18" charset="2"/>
              </a:rPr>
              <a:t>2</a:t>
            </a:r>
            <a:r>
              <a:rPr lang="en-US" altLang="zh-CN" sz="2000" dirty="0">
                <a:solidFill>
                  <a:schemeClr val="tx1"/>
                </a:solidFill>
                <a:latin typeface="Times New Roman" panose="02020603050405020304" pitchFamily="18" charset="0"/>
                <a:ea typeface="华康简宋"/>
                <a:sym typeface="Symbol" panose="05050102010706020507" pitchFamily="18" charset="2"/>
              </a:rPr>
              <a:t></a:t>
            </a:r>
            <a:r>
              <a:rPr lang="en-US" altLang="zh-CN" sz="2000" dirty="0">
                <a:solidFill>
                  <a:schemeClr val="tx1"/>
                </a:solidFill>
                <a:latin typeface="Times New Roman" panose="02020603050405020304" pitchFamily="18" charset="0"/>
                <a:ea typeface="华康简宋"/>
              </a:rPr>
              <a:t>1.2</a:t>
            </a:r>
            <a:r>
              <a:rPr lang="en-US" altLang="zh-CN" sz="2000" dirty="0">
                <a:solidFill>
                  <a:schemeClr val="tx1"/>
                </a:solidFill>
                <a:latin typeface="Times New Roman" panose="02020603050405020304" pitchFamily="18" charset="0"/>
                <a:ea typeface="华康简宋"/>
                <a:sym typeface="Symbol" panose="05050102010706020507" pitchFamily="18" charset="2"/>
              </a:rPr>
              <a:t></a:t>
            </a:r>
            <a:r>
              <a:rPr lang="en-US" altLang="zh-CN" sz="2000" dirty="0">
                <a:solidFill>
                  <a:schemeClr val="tx1"/>
                </a:solidFill>
                <a:latin typeface="Times New Roman" panose="02020603050405020304" pitchFamily="18" charset="0"/>
                <a:ea typeface="华康简宋"/>
              </a:rPr>
              <a:t>10</a:t>
            </a:r>
            <a:r>
              <a:rPr lang="en-US" altLang="zh-CN" sz="2000" baseline="30000" dirty="0">
                <a:solidFill>
                  <a:schemeClr val="tx1"/>
                </a:solidFill>
                <a:latin typeface="Times New Roman" panose="02020603050405020304" pitchFamily="18" charset="0"/>
                <a:ea typeface="华康简宋"/>
                <a:sym typeface="Symbol" panose="05050102010706020507" pitchFamily="18" charset="2"/>
              </a:rPr>
              <a:t>-3</a:t>
            </a:r>
            <a:r>
              <a:rPr lang="en-US" altLang="zh-CN" sz="2000" dirty="0">
                <a:solidFill>
                  <a:schemeClr val="tx1"/>
                </a:solidFill>
                <a:latin typeface="Times New Roman" panose="02020603050405020304" pitchFamily="18" charset="0"/>
                <a:ea typeface="华康简宋"/>
                <a:sym typeface="Symbol" panose="05050102010706020507" pitchFamily="18" charset="2"/>
              </a:rPr>
              <a:t>=0.55</a:t>
            </a:r>
            <a:r>
              <a:rPr lang="en-US" altLang="zh-CN" sz="2000" dirty="0">
                <a:solidFill>
                  <a:schemeClr val="tx1"/>
                </a:solidFill>
                <a:latin typeface="Times New Roman" panose="02020603050405020304" pitchFamily="18" charset="0"/>
                <a:ea typeface="华康简宋"/>
              </a:rPr>
              <a:t>10</a:t>
            </a:r>
            <a:r>
              <a:rPr lang="en-US" altLang="zh-CN" sz="2000" baseline="30000" dirty="0">
                <a:solidFill>
                  <a:schemeClr val="tx1"/>
                </a:solidFill>
                <a:latin typeface="Times New Roman" panose="02020603050405020304" pitchFamily="18" charset="0"/>
                <a:ea typeface="华康简宋"/>
                <a:sym typeface="Symbol" panose="05050102010706020507" pitchFamily="18" charset="2"/>
              </a:rPr>
              <a:t>-3</a:t>
            </a:r>
            <a:r>
              <a:rPr lang="en-US" altLang="zh-CN" sz="2000" dirty="0">
                <a:solidFill>
                  <a:schemeClr val="tx1"/>
                </a:solidFill>
                <a:latin typeface="Times New Roman" panose="02020603050405020304" pitchFamily="18" charset="0"/>
                <a:ea typeface="华康简宋"/>
                <a:sym typeface="Symbol" panose="05050102010706020507" pitchFamily="18" charset="2"/>
              </a:rPr>
              <a:t>S</a:t>
            </a:r>
            <a:endParaRPr lang="en-US" altLang="zh-CN" sz="2000" dirty="0">
              <a:solidFill>
                <a:schemeClr val="tx1"/>
              </a:solidFill>
              <a:latin typeface="Arial" panose="020B0604020202020204" pitchFamily="34" charset="0"/>
              <a:ea typeface="华康简宋"/>
              <a:sym typeface="Symbol" panose="05050102010706020507" pitchFamily="18" charset="2"/>
            </a:endParaRPr>
          </a:p>
          <a:p>
            <a:pPr eaLnBrk="0" hangingPunct="0"/>
            <a:r>
              <a:rPr lang="en-US" altLang="zh-CN" sz="2000" dirty="0">
                <a:solidFill>
                  <a:schemeClr val="tx1"/>
                </a:solidFill>
                <a:latin typeface="Times New Roman" panose="02020603050405020304" pitchFamily="18" charset="0"/>
                <a:ea typeface="华康简宋"/>
                <a:sym typeface="Symbol" panose="05050102010706020507" pitchFamily="18" charset="2"/>
              </a:rPr>
              <a:t>    </a:t>
            </a:r>
          </a:p>
        </p:txBody>
      </p:sp>
      <p:graphicFrame>
        <p:nvGraphicFramePr>
          <p:cNvPr id="12" name="Object 7">
            <a:extLst>
              <a:ext uri="{FF2B5EF4-FFF2-40B4-BE49-F238E27FC236}">
                <a16:creationId xmlns="" xmlns:a16="http://schemas.microsoft.com/office/drawing/2014/main" id="{CF445D27-BD99-2CB0-4A1F-4AD3E4AF6AF6}"/>
              </a:ext>
            </a:extLst>
          </p:cNvPr>
          <p:cNvGraphicFramePr/>
          <p:nvPr>
            <p:extLst>
              <p:ext uri="{D42A27DB-BD31-4B8C-83A1-F6EECF244321}">
                <p14:modId xmlns:p14="http://schemas.microsoft.com/office/powerpoint/2010/main" val="1146885498"/>
              </p:ext>
            </p:extLst>
          </p:nvPr>
        </p:nvGraphicFramePr>
        <p:xfrm>
          <a:off x="2430106" y="3379723"/>
          <a:ext cx="3049587" cy="852487"/>
        </p:xfrm>
        <a:graphic>
          <a:graphicData uri="http://schemas.openxmlformats.org/presentationml/2006/ole">
            <mc:AlternateContent xmlns:mc="http://schemas.openxmlformats.org/markup-compatibility/2006">
              <mc:Choice xmlns:v="urn:schemas-microsoft-com:vml" Requires="v">
                <p:oleObj spid="_x0000_s68935" r:id="rId9" imgW="1752600" imgH="457200" progId="Equation.3">
                  <p:embed/>
                </p:oleObj>
              </mc:Choice>
              <mc:Fallback>
                <p:oleObj r:id="rId9" imgW="1752600" imgH="457200" progId="Equation.3">
                  <p:embed/>
                  <p:pic>
                    <p:nvPicPr>
                      <p:cNvPr id="0" name=""/>
                      <p:cNvPicPr/>
                      <p:nvPr/>
                    </p:nvPicPr>
                    <p:blipFill>
                      <a:blip r:embed="rId10"/>
                      <a:stretch>
                        <a:fillRect/>
                      </a:stretch>
                    </p:blipFill>
                    <p:spPr>
                      <a:xfrm>
                        <a:off x="2430106" y="3379723"/>
                        <a:ext cx="3049587" cy="852487"/>
                      </a:xfrm>
                      <a:prstGeom prst="rect">
                        <a:avLst/>
                      </a:prstGeom>
                      <a:noFill/>
                      <a:ln w="38100">
                        <a:noFill/>
                        <a:miter/>
                      </a:ln>
                    </p:spPr>
                  </p:pic>
                </p:oleObj>
              </mc:Fallback>
            </mc:AlternateContent>
          </a:graphicData>
        </a:graphic>
      </p:graphicFrame>
      <p:sp>
        <p:nvSpPr>
          <p:cNvPr id="13" name="Rectangle 15">
            <a:extLst>
              <a:ext uri="{FF2B5EF4-FFF2-40B4-BE49-F238E27FC236}">
                <a16:creationId xmlns="" xmlns:a16="http://schemas.microsoft.com/office/drawing/2014/main" id="{E5404055-FF1E-183C-EDCC-6598411C7ECC}"/>
              </a:ext>
            </a:extLst>
          </p:cNvPr>
          <p:cNvSpPr/>
          <p:nvPr/>
        </p:nvSpPr>
        <p:spPr>
          <a:xfrm>
            <a:off x="241218" y="4209941"/>
            <a:ext cx="2250937" cy="400110"/>
          </a:xfrm>
          <a:prstGeom prst="rect">
            <a:avLst/>
          </a:prstGeom>
          <a:noFill/>
          <a:ln w="9525">
            <a:noFill/>
          </a:ln>
        </p:spPr>
        <p:txBody>
          <a:bodyPr wrap="none" anchor="ctr" anchorCtr="0">
            <a:spAutoFit/>
          </a:bodyPr>
          <a:lstStyle/>
          <a:p>
            <a:r>
              <a:rPr lang="en-US" altLang="zh-CN" sz="2000" b="1" dirty="0">
                <a:solidFill>
                  <a:schemeClr val="tx1"/>
                </a:solidFill>
                <a:latin typeface="+mn-ea"/>
                <a:ea typeface="+mn-ea"/>
              </a:rPr>
              <a:t> ② </a:t>
            </a:r>
            <a:r>
              <a:rPr lang="zh-CN" altLang="en-US" sz="2000" b="1" dirty="0">
                <a:solidFill>
                  <a:schemeClr val="tx1"/>
                </a:solidFill>
                <a:latin typeface="+mn-ea"/>
                <a:ea typeface="+mn-ea"/>
              </a:rPr>
              <a:t>回路总电容为</a:t>
            </a:r>
          </a:p>
        </p:txBody>
      </p:sp>
      <p:graphicFrame>
        <p:nvGraphicFramePr>
          <p:cNvPr id="14" name="Object 6">
            <a:extLst>
              <a:ext uri="{FF2B5EF4-FFF2-40B4-BE49-F238E27FC236}">
                <a16:creationId xmlns="" xmlns:a16="http://schemas.microsoft.com/office/drawing/2014/main" id="{DE1D700F-3AB3-7A61-01EC-29E6923E747E}"/>
              </a:ext>
            </a:extLst>
          </p:cNvPr>
          <p:cNvGraphicFramePr/>
          <p:nvPr>
            <p:extLst>
              <p:ext uri="{D42A27DB-BD31-4B8C-83A1-F6EECF244321}">
                <p14:modId xmlns:p14="http://schemas.microsoft.com/office/powerpoint/2010/main" val="871289924"/>
              </p:ext>
            </p:extLst>
          </p:nvPr>
        </p:nvGraphicFramePr>
        <p:xfrm>
          <a:off x="2454543" y="4157571"/>
          <a:ext cx="5368925" cy="746125"/>
        </p:xfrm>
        <a:graphic>
          <a:graphicData uri="http://schemas.openxmlformats.org/presentationml/2006/ole">
            <mc:AlternateContent xmlns:mc="http://schemas.openxmlformats.org/markup-compatibility/2006">
              <mc:Choice xmlns:v="urn:schemas-microsoft-com:vml" Requires="v">
                <p:oleObj spid="_x0000_s68936" r:id="rId11" imgW="2908300" imgH="393700" progId="Equation.3">
                  <p:embed/>
                </p:oleObj>
              </mc:Choice>
              <mc:Fallback>
                <p:oleObj r:id="rId11" imgW="2908300" imgH="393700" progId="Equation.3">
                  <p:embed/>
                  <p:pic>
                    <p:nvPicPr>
                      <p:cNvPr id="0" name=""/>
                      <p:cNvPicPr/>
                      <p:nvPr/>
                    </p:nvPicPr>
                    <p:blipFill>
                      <a:blip r:embed="rId12"/>
                      <a:stretch>
                        <a:fillRect/>
                      </a:stretch>
                    </p:blipFill>
                    <p:spPr>
                      <a:xfrm>
                        <a:off x="2454543" y="4157571"/>
                        <a:ext cx="5368925" cy="746125"/>
                      </a:xfrm>
                      <a:prstGeom prst="rect">
                        <a:avLst/>
                      </a:prstGeom>
                      <a:noFill/>
                      <a:ln w="38100">
                        <a:noFill/>
                        <a:miter/>
                      </a:ln>
                    </p:spPr>
                  </p:pic>
                </p:oleObj>
              </mc:Fallback>
            </mc:AlternateContent>
          </a:graphicData>
        </a:graphic>
      </p:graphicFrame>
      <p:sp>
        <p:nvSpPr>
          <p:cNvPr id="15" name="Rectangle 16">
            <a:extLst>
              <a:ext uri="{FF2B5EF4-FFF2-40B4-BE49-F238E27FC236}">
                <a16:creationId xmlns="" xmlns:a16="http://schemas.microsoft.com/office/drawing/2014/main" id="{E729B275-791E-FE72-203D-89AB21E95747}"/>
              </a:ext>
            </a:extLst>
          </p:cNvPr>
          <p:cNvSpPr/>
          <p:nvPr/>
        </p:nvSpPr>
        <p:spPr>
          <a:xfrm>
            <a:off x="-93698" y="4969175"/>
            <a:ext cx="2640466" cy="400110"/>
          </a:xfrm>
          <a:prstGeom prst="rect">
            <a:avLst/>
          </a:prstGeom>
          <a:noFill/>
          <a:ln w="9525">
            <a:noFill/>
          </a:ln>
        </p:spPr>
        <p:txBody>
          <a:bodyPr wrap="none" anchor="ctr" anchorCtr="0">
            <a:spAutoFit/>
          </a:bodyPr>
          <a:lstStyle/>
          <a:p>
            <a:r>
              <a:rPr lang="en-US" altLang="zh-CN" sz="2000" b="1" dirty="0">
                <a:solidFill>
                  <a:schemeClr val="tx1"/>
                </a:solidFill>
                <a:latin typeface="+mn-ea"/>
                <a:ea typeface="+mn-ea"/>
              </a:rPr>
              <a:t>    </a:t>
            </a:r>
            <a:r>
              <a:rPr lang="zh-CN" altLang="en-US" sz="2000" b="1" dirty="0">
                <a:solidFill>
                  <a:schemeClr val="tx1"/>
                </a:solidFill>
                <a:latin typeface="+mn-ea"/>
                <a:ea typeface="+mn-ea"/>
              </a:rPr>
              <a:t>故外加电容</a:t>
            </a:r>
            <a:r>
              <a:rPr lang="en-US" altLang="zh-CN" sz="2000" b="1" i="1" dirty="0">
                <a:solidFill>
                  <a:schemeClr val="tx1"/>
                </a:solidFill>
                <a:latin typeface="+mn-ea"/>
                <a:ea typeface="+mn-ea"/>
              </a:rPr>
              <a:t>C</a:t>
            </a:r>
            <a:r>
              <a:rPr lang="zh-CN" altLang="en-US" sz="2000" b="1" dirty="0">
                <a:solidFill>
                  <a:schemeClr val="tx1"/>
                </a:solidFill>
                <a:latin typeface="+mn-ea"/>
                <a:ea typeface="+mn-ea"/>
              </a:rPr>
              <a:t>应为</a:t>
            </a:r>
          </a:p>
        </p:txBody>
      </p:sp>
      <p:graphicFrame>
        <p:nvGraphicFramePr>
          <p:cNvPr id="16" name="Object 5">
            <a:extLst>
              <a:ext uri="{FF2B5EF4-FFF2-40B4-BE49-F238E27FC236}">
                <a16:creationId xmlns="" xmlns:a16="http://schemas.microsoft.com/office/drawing/2014/main" id="{0230C0DA-5782-905A-AE4E-A8290BE8C496}"/>
              </a:ext>
            </a:extLst>
          </p:cNvPr>
          <p:cNvGraphicFramePr/>
          <p:nvPr>
            <p:extLst>
              <p:ext uri="{D42A27DB-BD31-4B8C-83A1-F6EECF244321}">
                <p14:modId xmlns:p14="http://schemas.microsoft.com/office/powerpoint/2010/main" val="169117090"/>
              </p:ext>
            </p:extLst>
          </p:nvPr>
        </p:nvGraphicFramePr>
        <p:xfrm>
          <a:off x="2485777" y="5010058"/>
          <a:ext cx="6262687" cy="396875"/>
        </p:xfrm>
        <a:graphic>
          <a:graphicData uri="http://schemas.openxmlformats.org/presentationml/2006/ole">
            <mc:AlternateContent xmlns:mc="http://schemas.openxmlformats.org/markup-compatibility/2006">
              <mc:Choice xmlns:v="urn:schemas-microsoft-com:vml" Requires="v">
                <p:oleObj spid="_x0000_s68937" r:id="rId13" imgW="4203700" imgH="254000" progId="Equation.3">
                  <p:embed/>
                </p:oleObj>
              </mc:Choice>
              <mc:Fallback>
                <p:oleObj r:id="rId13" imgW="4203700" imgH="254000" progId="Equation.3">
                  <p:embed/>
                  <p:pic>
                    <p:nvPicPr>
                      <p:cNvPr id="0" name=""/>
                      <p:cNvPicPr/>
                      <p:nvPr/>
                    </p:nvPicPr>
                    <p:blipFill>
                      <a:blip r:embed="rId14"/>
                      <a:stretch>
                        <a:fillRect/>
                      </a:stretch>
                    </p:blipFill>
                    <p:spPr>
                      <a:xfrm>
                        <a:off x="2485777" y="5010058"/>
                        <a:ext cx="6262687" cy="396875"/>
                      </a:xfrm>
                      <a:prstGeom prst="rect">
                        <a:avLst/>
                      </a:prstGeom>
                      <a:noFill/>
                      <a:ln w="38100">
                        <a:noFill/>
                        <a:miter/>
                      </a:ln>
                    </p:spPr>
                  </p:pic>
                </p:oleObj>
              </mc:Fallback>
            </mc:AlternateContent>
          </a:graphicData>
        </a:graphic>
      </p:graphicFrame>
      <p:sp>
        <p:nvSpPr>
          <p:cNvPr id="17" name="Rectangle 17">
            <a:extLst>
              <a:ext uri="{FF2B5EF4-FFF2-40B4-BE49-F238E27FC236}">
                <a16:creationId xmlns="" xmlns:a16="http://schemas.microsoft.com/office/drawing/2014/main" id="{E3A57520-D0F6-57F4-685E-CCAB1052AA44}"/>
              </a:ext>
            </a:extLst>
          </p:cNvPr>
          <p:cNvSpPr/>
          <p:nvPr/>
        </p:nvSpPr>
        <p:spPr>
          <a:xfrm>
            <a:off x="295844" y="5478742"/>
            <a:ext cx="1604927" cy="400110"/>
          </a:xfrm>
          <a:prstGeom prst="rect">
            <a:avLst/>
          </a:prstGeom>
          <a:noFill/>
          <a:ln w="9525">
            <a:noFill/>
          </a:ln>
        </p:spPr>
        <p:txBody>
          <a:bodyPr wrap="none" anchor="ctr" anchorCtr="0">
            <a:spAutoFit/>
          </a:bodyPr>
          <a:lstStyle/>
          <a:p>
            <a:r>
              <a:rPr lang="en-US" altLang="zh-CN" sz="2000" b="1" dirty="0">
                <a:solidFill>
                  <a:schemeClr val="tx1"/>
                </a:solidFill>
                <a:latin typeface="+mn-ea"/>
                <a:ea typeface="+mn-ea"/>
              </a:rPr>
              <a:t> ③</a:t>
            </a:r>
            <a:r>
              <a:rPr lang="zh-CN" altLang="en-US" sz="2000" b="1" dirty="0">
                <a:solidFill>
                  <a:schemeClr val="tx1"/>
                </a:solidFill>
                <a:latin typeface="+mn-ea"/>
                <a:ea typeface="+mn-ea"/>
              </a:rPr>
              <a:t>通频带为</a:t>
            </a:r>
          </a:p>
        </p:txBody>
      </p:sp>
      <p:graphicFrame>
        <p:nvGraphicFramePr>
          <p:cNvPr id="18" name="Object 4">
            <a:extLst>
              <a:ext uri="{FF2B5EF4-FFF2-40B4-BE49-F238E27FC236}">
                <a16:creationId xmlns="" xmlns:a16="http://schemas.microsoft.com/office/drawing/2014/main" id="{974233B9-D8F1-E965-5437-ECD6A7545B29}"/>
              </a:ext>
            </a:extLst>
          </p:cNvPr>
          <p:cNvGraphicFramePr/>
          <p:nvPr>
            <p:extLst>
              <p:ext uri="{D42A27DB-BD31-4B8C-83A1-F6EECF244321}">
                <p14:modId xmlns:p14="http://schemas.microsoft.com/office/powerpoint/2010/main" val="2166726213"/>
              </p:ext>
            </p:extLst>
          </p:nvPr>
        </p:nvGraphicFramePr>
        <p:xfrm>
          <a:off x="2274126" y="5483285"/>
          <a:ext cx="5153025" cy="914400"/>
        </p:xfrm>
        <a:graphic>
          <a:graphicData uri="http://schemas.openxmlformats.org/presentationml/2006/ole">
            <mc:AlternateContent xmlns:mc="http://schemas.openxmlformats.org/markup-compatibility/2006">
              <mc:Choice xmlns:v="urn:schemas-microsoft-com:vml" Requires="v">
                <p:oleObj spid="_x0000_s68938" r:id="rId15" imgW="2794000" imgH="457200" progId="Equation.3">
                  <p:embed/>
                </p:oleObj>
              </mc:Choice>
              <mc:Fallback>
                <p:oleObj r:id="rId15" imgW="2794000" imgH="457200" progId="Equation.3">
                  <p:embed/>
                  <p:pic>
                    <p:nvPicPr>
                      <p:cNvPr id="0" name=""/>
                      <p:cNvPicPr/>
                      <p:nvPr/>
                    </p:nvPicPr>
                    <p:blipFill>
                      <a:blip r:embed="rId16"/>
                      <a:stretch>
                        <a:fillRect/>
                      </a:stretch>
                    </p:blipFill>
                    <p:spPr>
                      <a:xfrm>
                        <a:off x="2274126" y="5483285"/>
                        <a:ext cx="5153025" cy="914400"/>
                      </a:xfrm>
                      <a:prstGeom prst="rect">
                        <a:avLst/>
                      </a:prstGeom>
                      <a:noFill/>
                      <a:ln w="38100">
                        <a:noFill/>
                        <a:miter/>
                      </a:ln>
                    </p:spPr>
                  </p:pic>
                </p:oleObj>
              </mc:Fallback>
            </mc:AlternateContent>
          </a:graphicData>
        </a:graphic>
      </p:graphicFrame>
      <p:sp>
        <p:nvSpPr>
          <p:cNvPr id="19" name="Rectangle 18">
            <a:extLst>
              <a:ext uri="{FF2B5EF4-FFF2-40B4-BE49-F238E27FC236}">
                <a16:creationId xmlns="" xmlns:a16="http://schemas.microsoft.com/office/drawing/2014/main" id="{634579AB-C4B5-446F-B98C-01891E7C7D06}"/>
              </a:ext>
            </a:extLst>
          </p:cNvPr>
          <p:cNvSpPr/>
          <p:nvPr/>
        </p:nvSpPr>
        <p:spPr>
          <a:xfrm>
            <a:off x="404536" y="3466168"/>
            <a:ext cx="1755775" cy="396875"/>
          </a:xfrm>
          <a:prstGeom prst="rect">
            <a:avLst/>
          </a:prstGeom>
          <a:noFill/>
          <a:ln w="9525">
            <a:noFill/>
          </a:ln>
        </p:spPr>
        <p:txBody>
          <a:bodyPr wrap="none" anchor="t" anchorCtr="0">
            <a:spAutoFit/>
          </a:bodyPr>
          <a:lstStyle/>
          <a:p>
            <a:pPr algn="ctr" eaLnBrk="0" hangingPunct="0"/>
            <a:r>
              <a:rPr lang="en-US" altLang="zh-CN" sz="1800" b="1" dirty="0">
                <a:solidFill>
                  <a:schemeClr val="tx1"/>
                </a:solidFill>
                <a:latin typeface="Arial" panose="020B0604020202020204" pitchFamily="34" charset="0"/>
                <a:ea typeface="宋体" panose="02010600030101010101" pitchFamily="2" charset="-122"/>
              </a:rPr>
              <a:t>① </a:t>
            </a:r>
            <a:r>
              <a:rPr lang="zh-CN" altLang="en-US" sz="2000" b="1" dirty="0">
                <a:solidFill>
                  <a:schemeClr val="tx1"/>
                </a:solidFill>
                <a:latin typeface="Arial" panose="020B0604020202020204" pitchFamily="34" charset="0"/>
                <a:ea typeface="宋体" panose="02010600030101010101" pitchFamily="2" charset="-122"/>
                <a:sym typeface="Symbol" panose="05050102010706020507" pitchFamily="18" charset="2"/>
              </a:rPr>
              <a:t>电压增益为</a:t>
            </a:r>
          </a:p>
        </p:txBody>
      </p:sp>
    </p:spTree>
    <p:extLst>
      <p:ext uri="{BB962C8B-B14F-4D97-AF65-F5344CB8AC3E}">
        <p14:creationId xmlns:p14="http://schemas.microsoft.com/office/powerpoint/2010/main" val="610583274"/>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93</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3.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高频</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小信号</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放大器</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Text Box 10">
            <a:extLst>
              <a:ext uri="{FF2B5EF4-FFF2-40B4-BE49-F238E27FC236}">
                <a16:creationId xmlns="" xmlns:a16="http://schemas.microsoft.com/office/drawing/2014/main" id="{89B0FA8D-FF4B-05A2-3538-EC4A9A89252F}"/>
              </a:ext>
            </a:extLst>
          </p:cNvPr>
          <p:cNvSpPr txBox="1"/>
          <p:nvPr/>
        </p:nvSpPr>
        <p:spPr>
          <a:xfrm>
            <a:off x="1721168" y="6061665"/>
            <a:ext cx="4883068" cy="400110"/>
          </a:xfrm>
          <a:prstGeom prst="rect">
            <a:avLst/>
          </a:prstGeom>
          <a:solidFill>
            <a:srgbClr val="FFFF66"/>
          </a:solidFill>
          <a:ln w="12700">
            <a:noFill/>
          </a:ln>
        </p:spPr>
        <p:txBody>
          <a:bodyPr wrap="none" anchor="t" anchorCtr="0">
            <a:spAutoFit/>
          </a:bodyPr>
          <a:lstStyle/>
          <a:p>
            <a:r>
              <a:rPr lang="zh-CN" altLang="en-US" sz="2000" b="1" dirty="0">
                <a:solidFill>
                  <a:schemeClr val="tx1"/>
                </a:solidFill>
                <a:latin typeface="+mn-ea"/>
                <a:ea typeface="+mn-ea"/>
              </a:rPr>
              <a:t>因此并上电阻</a:t>
            </a:r>
            <a:r>
              <a:rPr lang="en-US" altLang="zh-CN" sz="2000" b="1" dirty="0">
                <a:solidFill>
                  <a:schemeClr val="tx1"/>
                </a:solidFill>
                <a:latin typeface="Times New Roman" panose="02020603050405020304" pitchFamily="18" charset="0"/>
                <a:ea typeface="+mn-ea"/>
                <a:cs typeface="Times New Roman" panose="02020603050405020304" pitchFamily="18" charset="0"/>
              </a:rPr>
              <a:t>R4</a:t>
            </a:r>
            <a:r>
              <a:rPr lang="zh-CN" altLang="en-US" sz="2000" b="1" dirty="0">
                <a:solidFill>
                  <a:schemeClr val="tx1"/>
                </a:solidFill>
                <a:latin typeface="+mn-ea"/>
                <a:ea typeface="+mn-ea"/>
              </a:rPr>
              <a:t>后增益降低，带宽加宽。</a:t>
            </a:r>
          </a:p>
        </p:txBody>
      </p:sp>
      <p:pic>
        <p:nvPicPr>
          <p:cNvPr id="6" name="图片 5">
            <a:extLst>
              <a:ext uri="{FF2B5EF4-FFF2-40B4-BE49-F238E27FC236}">
                <a16:creationId xmlns="" xmlns:a16="http://schemas.microsoft.com/office/drawing/2014/main" id="{A24DF4C4-3298-4C54-F079-49002FC1D2B2}"/>
              </a:ext>
            </a:extLst>
          </p:cNvPr>
          <p:cNvPicPr>
            <a:picLocks noChangeAspect="1"/>
          </p:cNvPicPr>
          <p:nvPr/>
        </p:nvPicPr>
        <p:blipFill>
          <a:blip r:embed="rId2"/>
          <a:stretch>
            <a:fillRect/>
          </a:stretch>
        </p:blipFill>
        <p:spPr>
          <a:xfrm>
            <a:off x="892175" y="1139780"/>
            <a:ext cx="7359650" cy="4648200"/>
          </a:xfrm>
          <a:prstGeom prst="rect">
            <a:avLst/>
          </a:prstGeom>
        </p:spPr>
      </p:pic>
    </p:spTree>
    <p:extLst>
      <p:ext uri="{BB962C8B-B14F-4D97-AF65-F5344CB8AC3E}">
        <p14:creationId xmlns:p14="http://schemas.microsoft.com/office/powerpoint/2010/main" val="4056220912"/>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94</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3.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高频</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小信号</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放大器</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5" name="Picture 6">
            <a:extLst>
              <a:ext uri="{FF2B5EF4-FFF2-40B4-BE49-F238E27FC236}">
                <a16:creationId xmlns="" xmlns:a16="http://schemas.microsoft.com/office/drawing/2014/main" id="{0CF65699-1867-ED49-5B76-E86B73690390}"/>
              </a:ext>
            </a:extLst>
          </p:cNvPr>
          <p:cNvPicPr>
            <a:picLocks noChangeAspect="1"/>
          </p:cNvPicPr>
          <p:nvPr/>
        </p:nvPicPr>
        <p:blipFill rotWithShape="1">
          <a:blip r:embed="rId3">
            <a:extLst>
              <a:ext uri="{BEBA8EAE-BF5A-486C-A8C5-ECC9F3942E4B}">
                <a14:imgProps xmlns:a14="http://schemas.microsoft.com/office/drawing/2010/main">
                  <a14:imgLayer r:embed="rId4">
                    <a14:imgEffect>
                      <a14:saturation sat="191000"/>
                    </a14:imgEffect>
                    <a14:imgEffect>
                      <a14:brightnessContrast bright="-100000"/>
                    </a14:imgEffect>
                  </a14:imgLayer>
                </a14:imgProps>
              </a:ext>
            </a:extLst>
          </a:blip>
          <a:srcRect l="15107"/>
          <a:stretch/>
        </p:blipFill>
        <p:spPr>
          <a:xfrm>
            <a:off x="2559367" y="1111202"/>
            <a:ext cx="3682938" cy="668829"/>
          </a:xfrm>
          <a:prstGeom prst="rect">
            <a:avLst/>
          </a:prstGeom>
          <a:noFill/>
          <a:ln w="9525">
            <a:noFill/>
          </a:ln>
        </p:spPr>
      </p:pic>
      <p:graphicFrame>
        <p:nvGraphicFramePr>
          <p:cNvPr id="20" name="对象 19">
            <a:extLst>
              <a:ext uri="{FF2B5EF4-FFF2-40B4-BE49-F238E27FC236}">
                <a16:creationId xmlns="" xmlns:a16="http://schemas.microsoft.com/office/drawing/2014/main" id="{80C17D5D-A8CD-2937-CC77-7A29ECF4FC11}"/>
              </a:ext>
            </a:extLst>
          </p:cNvPr>
          <p:cNvGraphicFramePr/>
          <p:nvPr>
            <p:extLst>
              <p:ext uri="{D42A27DB-BD31-4B8C-83A1-F6EECF244321}">
                <p14:modId xmlns:p14="http://schemas.microsoft.com/office/powerpoint/2010/main" val="2763507672"/>
              </p:ext>
            </p:extLst>
          </p:nvPr>
        </p:nvGraphicFramePr>
        <p:xfrm>
          <a:off x="3335863" y="2081391"/>
          <a:ext cx="2679641" cy="547004"/>
        </p:xfrm>
        <a:graphic>
          <a:graphicData uri="http://schemas.openxmlformats.org/presentationml/2006/ole">
            <mc:AlternateContent xmlns:mc="http://schemas.openxmlformats.org/markup-compatibility/2006">
              <mc:Choice xmlns:v="urn:schemas-microsoft-com:vml" Requires="v">
                <p:oleObj spid="_x0000_s69865" r:id="rId5" imgW="1244600" imgH="279400" progId="Equation.3">
                  <p:embed/>
                </p:oleObj>
              </mc:Choice>
              <mc:Fallback>
                <p:oleObj r:id="rId5" imgW="1244600" imgH="279400" progId="Equation.3">
                  <p:embed/>
                  <p:pic>
                    <p:nvPicPr>
                      <p:cNvPr id="0" name=""/>
                      <p:cNvPicPr/>
                      <p:nvPr/>
                    </p:nvPicPr>
                    <p:blipFill>
                      <a:blip r:embed="rId6"/>
                      <a:stretch>
                        <a:fillRect/>
                      </a:stretch>
                    </p:blipFill>
                    <p:spPr>
                      <a:xfrm>
                        <a:off x="3335863" y="2081391"/>
                        <a:ext cx="2679641" cy="547004"/>
                      </a:xfrm>
                      <a:prstGeom prst="rect">
                        <a:avLst/>
                      </a:prstGeom>
                      <a:solidFill>
                        <a:srgbClr val="CCCCFF">
                          <a:alpha val="49019"/>
                        </a:srgbClr>
                      </a:solidFill>
                      <a:ln w="38100">
                        <a:noFill/>
                        <a:miter/>
                      </a:ln>
                    </p:spPr>
                  </p:pic>
                </p:oleObj>
              </mc:Fallback>
            </mc:AlternateContent>
          </a:graphicData>
        </a:graphic>
      </p:graphicFrame>
      <p:grpSp>
        <p:nvGrpSpPr>
          <p:cNvPr id="21" name="组合 382980">
            <a:extLst>
              <a:ext uri="{FF2B5EF4-FFF2-40B4-BE49-F238E27FC236}">
                <a16:creationId xmlns="" xmlns:a16="http://schemas.microsoft.com/office/drawing/2014/main" id="{A89BDA65-A1F0-9D6F-BBB4-488B40A4BE45}"/>
              </a:ext>
            </a:extLst>
          </p:cNvPr>
          <p:cNvGrpSpPr/>
          <p:nvPr/>
        </p:nvGrpSpPr>
        <p:grpSpPr>
          <a:xfrm>
            <a:off x="0" y="1568122"/>
            <a:ext cx="9144000" cy="757238"/>
            <a:chOff x="589" y="691"/>
            <a:chExt cx="4449" cy="477"/>
          </a:xfrm>
        </p:grpSpPr>
        <p:sp>
          <p:nvSpPr>
            <p:cNvPr id="22" name="矩形 382981">
              <a:extLst>
                <a:ext uri="{FF2B5EF4-FFF2-40B4-BE49-F238E27FC236}">
                  <a16:creationId xmlns="" xmlns:a16="http://schemas.microsoft.com/office/drawing/2014/main" id="{D4B621DA-F948-5D36-003E-D48E6D98E376}"/>
                </a:ext>
              </a:extLst>
            </p:cNvPr>
            <p:cNvSpPr/>
            <p:nvPr/>
          </p:nvSpPr>
          <p:spPr>
            <a:xfrm>
              <a:off x="589" y="916"/>
              <a:ext cx="2047" cy="252"/>
            </a:xfrm>
            <a:prstGeom prst="rect">
              <a:avLst/>
            </a:prstGeom>
            <a:noFill/>
            <a:ln w="9525">
              <a:noFill/>
            </a:ln>
          </p:spPr>
          <p:txBody>
            <a:bodyPr wrap="square" anchor="ctr" anchorCtr="0">
              <a:spAutoFit/>
            </a:bodyPr>
            <a:lstStyle/>
            <a:p>
              <a:endParaRPr lang="en-US" altLang="zh-CN" sz="2000" b="1" dirty="0">
                <a:latin typeface="+mn-ea"/>
                <a:ea typeface="+mn-ea"/>
              </a:endParaRPr>
            </a:p>
          </p:txBody>
        </p:sp>
        <p:sp>
          <p:nvSpPr>
            <p:cNvPr id="23" name="矩形 382982">
              <a:extLst>
                <a:ext uri="{FF2B5EF4-FFF2-40B4-BE49-F238E27FC236}">
                  <a16:creationId xmlns="" xmlns:a16="http://schemas.microsoft.com/office/drawing/2014/main" id="{D4F04D99-90B2-F311-1AF8-BCB3A8580A42}"/>
                </a:ext>
              </a:extLst>
            </p:cNvPr>
            <p:cNvSpPr/>
            <p:nvPr/>
          </p:nvSpPr>
          <p:spPr>
            <a:xfrm>
              <a:off x="611" y="691"/>
              <a:ext cx="4427" cy="252"/>
            </a:xfrm>
            <a:prstGeom prst="rect">
              <a:avLst/>
            </a:prstGeom>
            <a:noFill/>
            <a:ln w="9525">
              <a:noFill/>
            </a:ln>
          </p:spPr>
          <p:txBody>
            <a:bodyPr anchor="ctr" anchorCtr="0">
              <a:spAutoFit/>
            </a:bodyPr>
            <a:lstStyle/>
            <a:p>
              <a:r>
                <a:rPr lang="zh-CN" altLang="en-US" sz="2000" b="1" dirty="0" smtClean="0">
                  <a:solidFill>
                    <a:srgbClr val="000000"/>
                  </a:solidFill>
                  <a:latin typeface="+mn-ea"/>
                  <a:ea typeface="+mn-ea"/>
                </a:rPr>
                <a:t>设放大器有</a:t>
              </a:r>
              <a:r>
                <a:rPr lang="en-US" altLang="zh-CN" sz="2000" b="1" dirty="0" smtClean="0">
                  <a:solidFill>
                    <a:srgbClr val="000000"/>
                  </a:solidFill>
                  <a:latin typeface="+mn-ea"/>
                  <a:ea typeface="+mn-ea"/>
                </a:rPr>
                <a:t>m</a:t>
              </a:r>
              <a:r>
                <a:rPr lang="zh-CN" altLang="en-US" sz="2000" b="1" dirty="0" smtClean="0">
                  <a:solidFill>
                    <a:srgbClr val="000000"/>
                  </a:solidFill>
                  <a:latin typeface="+mn-ea"/>
                  <a:ea typeface="+mn-ea"/>
                </a:rPr>
                <a:t>级，每级都是单调回路，且谐振频率</a:t>
              </a:r>
              <a:r>
                <a:rPr lang="zh-CN" altLang="en-US" sz="2000" b="1" dirty="0">
                  <a:solidFill>
                    <a:srgbClr val="000000"/>
                  </a:solidFill>
                  <a:latin typeface="+mn-ea"/>
                </a:rPr>
                <a:t>相同为  </a:t>
              </a:r>
              <a:r>
                <a:rPr lang="zh-CN" altLang="en-US" sz="2000" b="1" dirty="0" smtClean="0">
                  <a:solidFill>
                    <a:srgbClr val="000000"/>
                  </a:solidFill>
                  <a:latin typeface="+mn-ea"/>
                </a:rPr>
                <a:t>（</a:t>
              </a:r>
              <a:r>
                <a:rPr lang="zh-CN" altLang="en-US" sz="2000" b="1" dirty="0">
                  <a:solidFill>
                    <a:srgbClr val="000000"/>
                  </a:solidFill>
                  <a:latin typeface="+mn-ea"/>
                </a:rPr>
                <a:t>每级的       </a:t>
              </a:r>
              <a:r>
                <a:rPr lang="en-US" altLang="zh-CN" sz="2000" b="1" dirty="0" smtClean="0">
                  <a:solidFill>
                    <a:srgbClr val="000000"/>
                  </a:solidFill>
                  <a:latin typeface="+mn-ea"/>
                </a:rPr>
                <a:t>)</a:t>
              </a:r>
              <a:r>
                <a:rPr lang="zh-CN" altLang="en-US" sz="2000" b="1" dirty="0" smtClean="0">
                  <a:solidFill>
                    <a:srgbClr val="000000"/>
                  </a:solidFill>
                  <a:latin typeface="+mn-ea"/>
                  <a:ea typeface="+mn-ea"/>
                </a:rPr>
                <a:t> </a:t>
              </a:r>
              <a:endParaRPr lang="zh-CN" altLang="en-US" sz="2000" b="1" dirty="0">
                <a:latin typeface="+mn-ea"/>
                <a:ea typeface="+mn-ea"/>
              </a:endParaRPr>
            </a:p>
          </p:txBody>
        </p:sp>
        <p:graphicFrame>
          <p:nvGraphicFramePr>
            <p:cNvPr id="24" name="对象 382983">
              <a:extLst>
                <a:ext uri="{FF2B5EF4-FFF2-40B4-BE49-F238E27FC236}">
                  <a16:creationId xmlns="" xmlns:a16="http://schemas.microsoft.com/office/drawing/2014/main" id="{E94AC225-86C4-8F11-9D6E-9088A23B0D13}"/>
                </a:ext>
              </a:extLst>
            </p:cNvPr>
            <p:cNvGraphicFramePr/>
            <p:nvPr>
              <p:extLst>
                <p:ext uri="{D42A27DB-BD31-4B8C-83A1-F6EECF244321}">
                  <p14:modId xmlns:p14="http://schemas.microsoft.com/office/powerpoint/2010/main" val="1389324509"/>
                </p:ext>
              </p:extLst>
            </p:nvPr>
          </p:nvGraphicFramePr>
          <p:xfrm>
            <a:off x="4301" y="711"/>
            <a:ext cx="473" cy="232"/>
          </p:xfrm>
          <a:graphic>
            <a:graphicData uri="http://schemas.openxmlformats.org/presentationml/2006/ole">
              <mc:AlternateContent xmlns:mc="http://schemas.openxmlformats.org/markup-compatibility/2006">
                <mc:Choice xmlns:v="urn:schemas-microsoft-com:vml" Requires="v">
                  <p:oleObj spid="_x0000_s69866" r:id="rId7" imgW="469900" imgH="228600" progId="Equation.3">
                    <p:embed/>
                  </p:oleObj>
                </mc:Choice>
                <mc:Fallback>
                  <p:oleObj r:id="rId7" imgW="469900" imgH="228600" progId="Equation.3">
                    <p:embed/>
                    <p:pic>
                      <p:nvPicPr>
                        <p:cNvPr id="0" name=""/>
                        <p:cNvPicPr/>
                        <p:nvPr/>
                      </p:nvPicPr>
                      <p:blipFill>
                        <a:blip r:embed="rId8"/>
                        <a:stretch>
                          <a:fillRect/>
                        </a:stretch>
                      </p:blipFill>
                      <p:spPr>
                        <a:xfrm>
                          <a:off x="4301" y="711"/>
                          <a:ext cx="473" cy="232"/>
                        </a:xfrm>
                        <a:prstGeom prst="rect">
                          <a:avLst/>
                        </a:prstGeom>
                        <a:noFill/>
                        <a:ln w="38100">
                          <a:noFill/>
                          <a:miter/>
                        </a:ln>
                      </p:spPr>
                    </p:pic>
                  </p:oleObj>
                </mc:Fallback>
              </mc:AlternateContent>
            </a:graphicData>
          </a:graphic>
        </p:graphicFrame>
        <p:graphicFrame>
          <p:nvGraphicFramePr>
            <p:cNvPr id="25" name="对象 382984">
              <a:extLst>
                <a:ext uri="{FF2B5EF4-FFF2-40B4-BE49-F238E27FC236}">
                  <a16:creationId xmlns="" xmlns:a16="http://schemas.microsoft.com/office/drawing/2014/main" id="{2228955E-E0DD-B60E-ED18-F71E2F86C975}"/>
                </a:ext>
              </a:extLst>
            </p:cNvPr>
            <p:cNvGraphicFramePr/>
            <p:nvPr>
              <p:extLst>
                <p:ext uri="{D42A27DB-BD31-4B8C-83A1-F6EECF244321}">
                  <p14:modId xmlns:p14="http://schemas.microsoft.com/office/powerpoint/2010/main" val="602901366"/>
                </p:ext>
              </p:extLst>
            </p:nvPr>
          </p:nvGraphicFramePr>
          <p:xfrm>
            <a:off x="3688" y="710"/>
            <a:ext cx="182" cy="229"/>
          </p:xfrm>
          <a:graphic>
            <a:graphicData uri="http://schemas.openxmlformats.org/presentationml/2006/ole">
              <mc:AlternateContent xmlns:mc="http://schemas.openxmlformats.org/markup-compatibility/2006">
                <mc:Choice xmlns:v="urn:schemas-microsoft-com:vml" Requires="v">
                  <p:oleObj spid="_x0000_s69867" r:id="rId9" imgW="177800" imgH="228600" progId="Equation.3">
                    <p:embed/>
                  </p:oleObj>
                </mc:Choice>
                <mc:Fallback>
                  <p:oleObj r:id="rId9" imgW="177800" imgH="228600" progId="Equation.3">
                    <p:embed/>
                    <p:pic>
                      <p:nvPicPr>
                        <p:cNvPr id="0" name=""/>
                        <p:cNvPicPr/>
                        <p:nvPr/>
                      </p:nvPicPr>
                      <p:blipFill>
                        <a:blip r:embed="rId10"/>
                        <a:stretch>
                          <a:fillRect/>
                        </a:stretch>
                      </p:blipFill>
                      <p:spPr>
                        <a:xfrm>
                          <a:off x="3688" y="710"/>
                          <a:ext cx="182" cy="229"/>
                        </a:xfrm>
                        <a:prstGeom prst="rect">
                          <a:avLst/>
                        </a:prstGeom>
                        <a:noFill/>
                        <a:ln w="38100">
                          <a:noFill/>
                          <a:miter/>
                        </a:ln>
                      </p:spPr>
                    </p:pic>
                  </p:oleObj>
                </mc:Fallback>
              </mc:AlternateContent>
            </a:graphicData>
          </a:graphic>
        </p:graphicFrame>
      </p:grpSp>
      <p:sp>
        <p:nvSpPr>
          <p:cNvPr id="26" name="矩形 382985">
            <a:extLst>
              <a:ext uri="{FF2B5EF4-FFF2-40B4-BE49-F238E27FC236}">
                <a16:creationId xmlns="" xmlns:a16="http://schemas.microsoft.com/office/drawing/2014/main" id="{FD7CC0AD-321E-A49F-BF20-90BBB35D6793}"/>
              </a:ext>
            </a:extLst>
          </p:cNvPr>
          <p:cNvSpPr/>
          <p:nvPr/>
        </p:nvSpPr>
        <p:spPr>
          <a:xfrm>
            <a:off x="439010" y="2079030"/>
            <a:ext cx="1861407" cy="400110"/>
          </a:xfrm>
          <a:prstGeom prst="rect">
            <a:avLst/>
          </a:prstGeom>
          <a:noFill/>
          <a:ln w="9525">
            <a:noFill/>
          </a:ln>
        </p:spPr>
        <p:txBody>
          <a:bodyPr wrap="square" anchor="ctr" anchorCtr="0">
            <a:spAutoFit/>
          </a:bodyPr>
          <a:lstStyle/>
          <a:p>
            <a:r>
              <a:rPr lang="en-US" altLang="zh-CN" sz="2000" b="1" dirty="0">
                <a:solidFill>
                  <a:schemeClr val="tx1"/>
                </a:solidFill>
                <a:latin typeface="+mn-ea"/>
                <a:ea typeface="+mn-ea"/>
              </a:rPr>
              <a:t>1</a:t>
            </a:r>
            <a:r>
              <a:rPr lang="zh-CN" altLang="en-US" sz="2000" b="1" dirty="0">
                <a:solidFill>
                  <a:schemeClr val="tx1"/>
                </a:solidFill>
                <a:latin typeface="+mn-ea"/>
                <a:ea typeface="+mn-ea"/>
              </a:rPr>
              <a:t>）总电压增益</a:t>
            </a:r>
          </a:p>
        </p:txBody>
      </p:sp>
      <p:sp>
        <p:nvSpPr>
          <p:cNvPr id="30" name="矩形 29">
            <a:extLst>
              <a:ext uri="{FF2B5EF4-FFF2-40B4-BE49-F238E27FC236}">
                <a16:creationId xmlns="" xmlns:a16="http://schemas.microsoft.com/office/drawing/2014/main" id="{08B837A3-5595-5602-8A62-8B6B39E1DC2E}"/>
              </a:ext>
            </a:extLst>
          </p:cNvPr>
          <p:cNvSpPr/>
          <p:nvPr/>
        </p:nvSpPr>
        <p:spPr>
          <a:xfrm>
            <a:off x="408484" y="2893190"/>
            <a:ext cx="1734770" cy="400110"/>
          </a:xfrm>
          <a:prstGeom prst="rect">
            <a:avLst/>
          </a:prstGeom>
          <a:noFill/>
          <a:ln w="9525">
            <a:noFill/>
          </a:ln>
        </p:spPr>
        <p:txBody>
          <a:bodyPr wrap="none" anchor="ctr" anchorCtr="0">
            <a:spAutoFit/>
          </a:bodyPr>
          <a:lstStyle/>
          <a:p>
            <a:r>
              <a:rPr lang="en-US" altLang="zh-CN" sz="2000" b="1">
                <a:solidFill>
                  <a:schemeClr val="tx1"/>
                </a:solidFill>
                <a:latin typeface="+mn-ea"/>
                <a:ea typeface="+mn-ea"/>
              </a:rPr>
              <a:t>2</a:t>
            </a:r>
            <a:r>
              <a:rPr lang="zh-CN" altLang="en-US" sz="2000" b="1" dirty="0">
                <a:solidFill>
                  <a:schemeClr val="tx1"/>
                </a:solidFill>
                <a:latin typeface="+mn-ea"/>
                <a:ea typeface="+mn-ea"/>
              </a:rPr>
              <a:t>）谐振曲线 </a:t>
            </a:r>
          </a:p>
        </p:txBody>
      </p:sp>
      <p:sp>
        <p:nvSpPr>
          <p:cNvPr id="32" name="矩形 31">
            <a:extLst>
              <a:ext uri="{FF2B5EF4-FFF2-40B4-BE49-F238E27FC236}">
                <a16:creationId xmlns="" xmlns:a16="http://schemas.microsoft.com/office/drawing/2014/main" id="{B5AE7D7D-36DB-4A1C-F0E2-D81F7B84A80D}"/>
              </a:ext>
            </a:extLst>
          </p:cNvPr>
          <p:cNvSpPr/>
          <p:nvPr/>
        </p:nvSpPr>
        <p:spPr>
          <a:xfrm>
            <a:off x="6559152" y="2884098"/>
            <a:ext cx="2109215" cy="707886"/>
          </a:xfrm>
          <a:prstGeom prst="rect">
            <a:avLst/>
          </a:prstGeom>
          <a:noFill/>
          <a:ln w="9525">
            <a:noFill/>
          </a:ln>
        </p:spPr>
        <p:txBody>
          <a:bodyPr wrap="square" anchor="ctr" anchorCtr="0">
            <a:spAutoFit/>
          </a:bodyPr>
          <a:lstStyle/>
          <a:p>
            <a:pPr algn="just"/>
            <a:r>
              <a:rPr lang="zh-CN" altLang="en-US" sz="2000" b="1" dirty="0" smtClean="0">
                <a:solidFill>
                  <a:srgbClr val="FF3300"/>
                </a:solidFill>
                <a:latin typeface="+mn-ea"/>
                <a:ea typeface="+mn-ea"/>
              </a:rPr>
              <a:t>级数</a:t>
            </a:r>
            <a:r>
              <a:rPr lang="zh-CN" altLang="en-US" sz="2000" b="1" dirty="0">
                <a:solidFill>
                  <a:srgbClr val="FF3300"/>
                </a:solidFill>
                <a:latin typeface="+mn-ea"/>
                <a:ea typeface="+mn-ea"/>
              </a:rPr>
              <a:t>越多，谐振曲线越尖锐 </a:t>
            </a:r>
          </a:p>
        </p:txBody>
      </p:sp>
      <p:graphicFrame>
        <p:nvGraphicFramePr>
          <p:cNvPr id="33" name="内容占位符 382993">
            <a:extLst>
              <a:ext uri="{FF2B5EF4-FFF2-40B4-BE49-F238E27FC236}">
                <a16:creationId xmlns="" xmlns:a16="http://schemas.microsoft.com/office/drawing/2014/main" id="{4F14C79D-39FD-625B-E467-10757FE7574A}"/>
              </a:ext>
            </a:extLst>
          </p:cNvPr>
          <p:cNvGraphicFramePr>
            <a:graphicFrameLocks/>
          </p:cNvGraphicFramePr>
          <p:nvPr>
            <p:extLst>
              <p:ext uri="{D42A27DB-BD31-4B8C-83A1-F6EECF244321}">
                <p14:modId xmlns:p14="http://schemas.microsoft.com/office/powerpoint/2010/main" val="2900291666"/>
              </p:ext>
            </p:extLst>
          </p:nvPr>
        </p:nvGraphicFramePr>
        <p:xfrm>
          <a:off x="2252967" y="2760423"/>
          <a:ext cx="4116387" cy="1096962"/>
        </p:xfrm>
        <a:graphic>
          <a:graphicData uri="http://schemas.openxmlformats.org/presentationml/2006/ole">
            <mc:AlternateContent xmlns:mc="http://schemas.openxmlformats.org/markup-compatibility/2006">
              <mc:Choice xmlns:v="urn:schemas-microsoft-com:vml" Requires="v">
                <p:oleObj spid="_x0000_s69868" r:id="rId11" imgW="2526030" imgH="673100" progId="Equation.3">
                  <p:embed/>
                </p:oleObj>
              </mc:Choice>
              <mc:Fallback>
                <p:oleObj r:id="rId11" imgW="2526030" imgH="673100" progId="Equation.3">
                  <p:embed/>
                  <p:pic>
                    <p:nvPicPr>
                      <p:cNvPr id="0" name=""/>
                      <p:cNvPicPr/>
                      <p:nvPr/>
                    </p:nvPicPr>
                    <p:blipFill>
                      <a:blip r:embed="rId12"/>
                      <a:stretch>
                        <a:fillRect/>
                      </a:stretch>
                    </p:blipFill>
                    <p:spPr>
                      <a:xfrm>
                        <a:off x="2252967" y="2760423"/>
                        <a:ext cx="4116387" cy="1096962"/>
                      </a:xfrm>
                      <a:prstGeom prst="rect">
                        <a:avLst/>
                      </a:prstGeom>
                      <a:noFill/>
                      <a:ln w="38100">
                        <a:noFill/>
                        <a:miter/>
                      </a:ln>
                    </p:spPr>
                  </p:pic>
                </p:oleObj>
              </mc:Fallback>
            </mc:AlternateContent>
          </a:graphicData>
        </a:graphic>
      </p:graphicFrame>
      <p:sp>
        <p:nvSpPr>
          <p:cNvPr id="48" name="矩形 47">
            <a:extLst>
              <a:ext uri="{FF2B5EF4-FFF2-40B4-BE49-F238E27FC236}">
                <a16:creationId xmlns="" xmlns:a16="http://schemas.microsoft.com/office/drawing/2014/main" id="{54BB92F5-8A01-A25E-0C9A-C8A677046762}"/>
              </a:ext>
            </a:extLst>
          </p:cNvPr>
          <p:cNvSpPr/>
          <p:nvPr/>
        </p:nvSpPr>
        <p:spPr>
          <a:xfrm>
            <a:off x="443424" y="3900185"/>
            <a:ext cx="2301875" cy="400110"/>
          </a:xfrm>
          <a:prstGeom prst="rect">
            <a:avLst/>
          </a:prstGeom>
          <a:noFill/>
          <a:ln w="9525">
            <a:noFill/>
          </a:ln>
        </p:spPr>
        <p:txBody>
          <a:bodyPr anchor="ctr" anchorCtr="0">
            <a:spAutoFit/>
          </a:bodyPr>
          <a:lstStyle/>
          <a:p>
            <a:r>
              <a:rPr lang="en-US" altLang="zh-CN" sz="2000" b="1" dirty="0">
                <a:solidFill>
                  <a:schemeClr val="tx1"/>
                </a:solidFill>
                <a:latin typeface="+mn-ea"/>
                <a:ea typeface="+mn-ea"/>
              </a:rPr>
              <a:t>3</a:t>
            </a:r>
            <a:r>
              <a:rPr lang="zh-CN" altLang="en-US" sz="2000" b="1" dirty="0">
                <a:solidFill>
                  <a:schemeClr val="tx1"/>
                </a:solidFill>
                <a:latin typeface="+mn-ea"/>
                <a:ea typeface="+mn-ea"/>
              </a:rPr>
              <a:t>）总通频带      </a:t>
            </a:r>
          </a:p>
        </p:txBody>
      </p:sp>
      <p:pic>
        <p:nvPicPr>
          <p:cNvPr id="49" name="图片 48" descr="image223">
            <a:extLst>
              <a:ext uri="{FF2B5EF4-FFF2-40B4-BE49-F238E27FC236}">
                <a16:creationId xmlns="" xmlns:a16="http://schemas.microsoft.com/office/drawing/2014/main" id="{28A33020-29D5-3A93-CE0F-829295477C49}"/>
              </a:ext>
            </a:extLst>
          </p:cNvPr>
          <p:cNvPicPr>
            <a:picLocks noChangeAspect="1"/>
          </p:cNvPicPr>
          <p:nvPr/>
        </p:nvPicPr>
        <p:blipFill>
          <a:blip r:embed="rId13"/>
          <a:stretch>
            <a:fillRect/>
          </a:stretch>
        </p:blipFill>
        <p:spPr>
          <a:xfrm>
            <a:off x="2514537" y="3900185"/>
            <a:ext cx="2717800" cy="833438"/>
          </a:xfrm>
          <a:prstGeom prst="rect">
            <a:avLst/>
          </a:prstGeom>
          <a:gradFill rotWithShape="1">
            <a:gsLst>
              <a:gs pos="0">
                <a:srgbClr val="FF99FF"/>
              </a:gs>
              <a:gs pos="50000">
                <a:schemeClr val="bg1"/>
              </a:gs>
              <a:gs pos="100000">
                <a:srgbClr val="FF99FF"/>
              </a:gs>
            </a:gsLst>
            <a:lin ang="5400000" scaled="1"/>
            <a:tileRect/>
          </a:gradFill>
          <a:ln w="9525">
            <a:noFill/>
          </a:ln>
        </p:spPr>
      </p:pic>
      <p:sp>
        <p:nvSpPr>
          <p:cNvPr id="50" name="矩形 49">
            <a:extLst>
              <a:ext uri="{FF2B5EF4-FFF2-40B4-BE49-F238E27FC236}">
                <a16:creationId xmlns="" xmlns:a16="http://schemas.microsoft.com/office/drawing/2014/main" id="{DD19845A-4245-89B9-EFBB-59A78CAEB093}"/>
              </a:ext>
            </a:extLst>
          </p:cNvPr>
          <p:cNvSpPr/>
          <p:nvPr/>
        </p:nvSpPr>
        <p:spPr>
          <a:xfrm>
            <a:off x="5373501" y="3870934"/>
            <a:ext cx="3563235" cy="707886"/>
          </a:xfrm>
          <a:prstGeom prst="rect">
            <a:avLst/>
          </a:prstGeom>
          <a:noFill/>
          <a:ln w="9525">
            <a:noFill/>
          </a:ln>
        </p:spPr>
        <p:txBody>
          <a:bodyPr wrap="square" anchor="t" anchorCtr="0">
            <a:spAutoFit/>
          </a:bodyPr>
          <a:lstStyle/>
          <a:p>
            <a:pPr algn="just"/>
            <a:r>
              <a:rPr lang="zh-CN" altLang="en-US" sz="2000" b="1" dirty="0" smtClean="0">
                <a:solidFill>
                  <a:srgbClr val="FF0000"/>
                </a:solidFill>
                <a:latin typeface="+mn-ea"/>
                <a:ea typeface="+mn-ea"/>
              </a:rPr>
              <a:t>级</a:t>
            </a:r>
            <a:r>
              <a:rPr lang="zh-CN" altLang="en-US" sz="2000" b="1" dirty="0">
                <a:solidFill>
                  <a:srgbClr val="FF0000"/>
                </a:solidFill>
                <a:latin typeface="+mn-ea"/>
                <a:ea typeface="+mn-ea"/>
              </a:rPr>
              <a:t>联的放大器级数</a:t>
            </a:r>
            <a:r>
              <a:rPr lang="en-US" altLang="zh-CN" sz="2000" b="1" dirty="0">
                <a:solidFill>
                  <a:srgbClr val="FF0000"/>
                </a:solidFill>
                <a:latin typeface="+mn-ea"/>
                <a:ea typeface="+mn-ea"/>
              </a:rPr>
              <a:t>m</a:t>
            </a:r>
            <a:r>
              <a:rPr lang="zh-CN" altLang="en-US" sz="2000" b="1" dirty="0">
                <a:solidFill>
                  <a:srgbClr val="FF0000"/>
                </a:solidFill>
                <a:latin typeface="+mn-ea"/>
                <a:ea typeface="+mn-ea"/>
              </a:rPr>
              <a:t>越多，总增益越大</a:t>
            </a:r>
            <a:r>
              <a:rPr lang="en-US" altLang="zh-CN" sz="2000" b="1" dirty="0">
                <a:solidFill>
                  <a:srgbClr val="FF0000"/>
                </a:solidFill>
                <a:latin typeface="+mn-ea"/>
                <a:ea typeface="+mn-ea"/>
              </a:rPr>
              <a:t>,</a:t>
            </a:r>
            <a:r>
              <a:rPr lang="zh-CN" altLang="en-US" sz="2000" b="1" dirty="0">
                <a:solidFill>
                  <a:srgbClr val="FF0000"/>
                </a:solidFill>
                <a:latin typeface="+mn-ea"/>
                <a:ea typeface="+mn-ea"/>
              </a:rPr>
              <a:t>但总通频带越窄</a:t>
            </a:r>
            <a:r>
              <a:rPr lang="zh-CN" altLang="en-US" sz="2000" b="1" dirty="0" smtClean="0">
                <a:solidFill>
                  <a:srgbClr val="FF0000"/>
                </a:solidFill>
                <a:latin typeface="+mn-ea"/>
                <a:ea typeface="+mn-ea"/>
              </a:rPr>
              <a:t>。</a:t>
            </a:r>
            <a:endParaRPr lang="zh-CN" altLang="en-US" sz="2000" b="1" dirty="0">
              <a:solidFill>
                <a:srgbClr val="FF0000"/>
              </a:solidFill>
              <a:latin typeface="+mn-ea"/>
              <a:ea typeface="+mn-ea"/>
            </a:endParaRPr>
          </a:p>
        </p:txBody>
      </p:sp>
      <p:sp>
        <p:nvSpPr>
          <p:cNvPr id="51" name="矩形 50">
            <a:extLst>
              <a:ext uri="{FF2B5EF4-FFF2-40B4-BE49-F238E27FC236}">
                <a16:creationId xmlns="" xmlns:a16="http://schemas.microsoft.com/office/drawing/2014/main" id="{9B41B36D-0A53-A40E-E273-39DE237AD955}"/>
              </a:ext>
            </a:extLst>
          </p:cNvPr>
          <p:cNvSpPr/>
          <p:nvPr/>
        </p:nvSpPr>
        <p:spPr>
          <a:xfrm>
            <a:off x="408484" y="5150711"/>
            <a:ext cx="2057400" cy="707886"/>
          </a:xfrm>
          <a:prstGeom prst="rect">
            <a:avLst/>
          </a:prstGeom>
          <a:noFill/>
          <a:ln w="9525">
            <a:noFill/>
          </a:ln>
        </p:spPr>
        <p:txBody>
          <a:bodyPr anchor="ctr" anchorCtr="0">
            <a:spAutoFit/>
          </a:bodyPr>
          <a:lstStyle/>
          <a:p>
            <a:r>
              <a:rPr lang="en-US" altLang="zh-CN" sz="2000" b="1" dirty="0">
                <a:solidFill>
                  <a:schemeClr val="tx1"/>
                </a:solidFill>
                <a:latin typeface="+mn-ea"/>
                <a:ea typeface="+mn-ea"/>
              </a:rPr>
              <a:t>4</a:t>
            </a:r>
            <a:r>
              <a:rPr lang="zh-CN" altLang="en-US" sz="2000" b="1" dirty="0">
                <a:solidFill>
                  <a:schemeClr val="tx1"/>
                </a:solidFill>
                <a:latin typeface="+mn-ea"/>
                <a:ea typeface="+mn-ea"/>
              </a:rPr>
              <a:t>）总矩形系数</a:t>
            </a:r>
            <a:br>
              <a:rPr lang="zh-CN" altLang="en-US" sz="2000" b="1" dirty="0">
                <a:solidFill>
                  <a:schemeClr val="tx1"/>
                </a:solidFill>
                <a:latin typeface="+mn-ea"/>
                <a:ea typeface="+mn-ea"/>
              </a:rPr>
            </a:br>
            <a:endParaRPr lang="zh-CN" altLang="en-US" sz="2000" b="1" dirty="0">
              <a:solidFill>
                <a:schemeClr val="tx1"/>
              </a:solidFill>
              <a:latin typeface="+mn-ea"/>
              <a:ea typeface="+mn-ea"/>
            </a:endParaRPr>
          </a:p>
        </p:txBody>
      </p:sp>
      <p:pic>
        <p:nvPicPr>
          <p:cNvPr id="52" name="图片 51" descr="C:/Documents and Settings/Administrator/桌面/通信电子线/通信电子线(理工)/http:/home.henannu.edu.cn/jingpinkecheng/gpdzxl/image/chap/chap2/image229.gif">
            <a:extLst>
              <a:ext uri="{FF2B5EF4-FFF2-40B4-BE49-F238E27FC236}">
                <a16:creationId xmlns="" xmlns:a16="http://schemas.microsoft.com/office/drawing/2014/main" id="{996249B6-3B34-647D-EF9D-3A4B54904E75}"/>
              </a:ext>
            </a:extLst>
          </p:cNvPr>
          <p:cNvPicPr>
            <a:picLocks noChangeAspect="1"/>
          </p:cNvPicPr>
          <p:nvPr/>
        </p:nvPicPr>
        <p:blipFill>
          <a:blip r:embed="rId14"/>
          <a:stretch>
            <a:fillRect/>
          </a:stretch>
        </p:blipFill>
        <p:spPr>
          <a:xfrm>
            <a:off x="2300417" y="5044031"/>
            <a:ext cx="1894158" cy="1025831"/>
          </a:xfrm>
          <a:prstGeom prst="rect">
            <a:avLst/>
          </a:prstGeom>
          <a:gradFill rotWithShape="1">
            <a:gsLst>
              <a:gs pos="0">
                <a:srgbClr val="FF99FF"/>
              </a:gs>
              <a:gs pos="50000">
                <a:schemeClr val="bg1"/>
              </a:gs>
              <a:gs pos="100000">
                <a:srgbClr val="FF99FF"/>
              </a:gs>
            </a:gsLst>
            <a:lin ang="5400000" scaled="1"/>
            <a:tileRect/>
          </a:gradFill>
          <a:ln w="9525">
            <a:noFill/>
          </a:ln>
        </p:spPr>
      </p:pic>
      <p:sp>
        <p:nvSpPr>
          <p:cNvPr id="53" name="矩形 52">
            <a:extLst>
              <a:ext uri="{FF2B5EF4-FFF2-40B4-BE49-F238E27FC236}">
                <a16:creationId xmlns="" xmlns:a16="http://schemas.microsoft.com/office/drawing/2014/main" id="{9A277FD3-11CC-4935-E6B8-E68E8AF73C58}"/>
              </a:ext>
            </a:extLst>
          </p:cNvPr>
          <p:cNvSpPr/>
          <p:nvPr/>
        </p:nvSpPr>
        <p:spPr>
          <a:xfrm>
            <a:off x="675133" y="6157915"/>
            <a:ext cx="5762625" cy="396875"/>
          </a:xfrm>
          <a:prstGeom prst="rect">
            <a:avLst/>
          </a:prstGeom>
          <a:noFill/>
          <a:ln w="9525">
            <a:noFill/>
          </a:ln>
        </p:spPr>
        <p:txBody>
          <a:bodyPr anchor="t" anchorCtr="0">
            <a:spAutoFit/>
          </a:bodyPr>
          <a:lstStyle/>
          <a:p>
            <a:r>
              <a:rPr lang="zh-CN" altLang="en-US" sz="2000" b="1" dirty="0" smtClean="0">
                <a:solidFill>
                  <a:schemeClr val="tx1"/>
                </a:solidFill>
                <a:latin typeface="+mn-ea"/>
                <a:ea typeface="+mn-ea"/>
              </a:rPr>
              <a:t>级</a:t>
            </a:r>
            <a:r>
              <a:rPr lang="zh-CN" altLang="en-US" sz="2000" b="1" dirty="0">
                <a:solidFill>
                  <a:schemeClr val="tx1"/>
                </a:solidFill>
                <a:latin typeface="+mn-ea"/>
                <a:ea typeface="+mn-ea"/>
              </a:rPr>
              <a:t>联的放大器级数越多， </a:t>
            </a:r>
          </a:p>
        </p:txBody>
      </p:sp>
      <p:graphicFrame>
        <p:nvGraphicFramePr>
          <p:cNvPr id="54" name="对象 53">
            <a:extLst>
              <a:ext uri="{FF2B5EF4-FFF2-40B4-BE49-F238E27FC236}">
                <a16:creationId xmlns="" xmlns:a16="http://schemas.microsoft.com/office/drawing/2014/main" id="{5B9F4479-154D-757E-5CEC-4B6214A43BDF}"/>
              </a:ext>
            </a:extLst>
          </p:cNvPr>
          <p:cNvGraphicFramePr/>
          <p:nvPr>
            <p:extLst>
              <p:ext uri="{D42A27DB-BD31-4B8C-83A1-F6EECF244321}">
                <p14:modId xmlns:p14="http://schemas.microsoft.com/office/powerpoint/2010/main" val="1053172626"/>
              </p:ext>
            </p:extLst>
          </p:nvPr>
        </p:nvGraphicFramePr>
        <p:xfrm>
          <a:off x="3516863" y="6190034"/>
          <a:ext cx="533400" cy="387350"/>
        </p:xfrm>
        <a:graphic>
          <a:graphicData uri="http://schemas.openxmlformats.org/presentationml/2006/ole">
            <mc:AlternateContent xmlns:mc="http://schemas.openxmlformats.org/markup-compatibility/2006">
              <mc:Choice xmlns:v="urn:schemas-microsoft-com:vml" Requires="v">
                <p:oleObj spid="_x0000_s69869" r:id="rId15" imgW="317500" imgH="228600" progId="Equation.DSMT4">
                  <p:embed/>
                </p:oleObj>
              </mc:Choice>
              <mc:Fallback>
                <p:oleObj r:id="rId15" imgW="317500" imgH="228600" progId="Equation.DSMT4">
                  <p:embed/>
                  <p:pic>
                    <p:nvPicPr>
                      <p:cNvPr id="0" name=""/>
                      <p:cNvPicPr/>
                      <p:nvPr/>
                    </p:nvPicPr>
                    <p:blipFill>
                      <a:blip r:embed="rId16"/>
                      <a:stretch>
                        <a:fillRect/>
                      </a:stretch>
                    </p:blipFill>
                    <p:spPr>
                      <a:xfrm>
                        <a:off x="3516863" y="6190034"/>
                        <a:ext cx="533400" cy="387350"/>
                      </a:xfrm>
                      <a:prstGeom prst="rect">
                        <a:avLst/>
                      </a:prstGeom>
                      <a:noFill/>
                      <a:ln w="38100">
                        <a:noFill/>
                        <a:miter/>
                      </a:ln>
                    </p:spPr>
                  </p:pic>
                </p:oleObj>
              </mc:Fallback>
            </mc:AlternateContent>
          </a:graphicData>
        </a:graphic>
      </p:graphicFrame>
      <p:sp>
        <p:nvSpPr>
          <p:cNvPr id="55" name="矩形 54">
            <a:extLst>
              <a:ext uri="{FF2B5EF4-FFF2-40B4-BE49-F238E27FC236}">
                <a16:creationId xmlns="" xmlns:a16="http://schemas.microsoft.com/office/drawing/2014/main" id="{B9B10040-56B3-A9B5-A3C1-BBE77BFE2FB5}"/>
              </a:ext>
            </a:extLst>
          </p:cNvPr>
          <p:cNvSpPr/>
          <p:nvPr/>
        </p:nvSpPr>
        <p:spPr>
          <a:xfrm>
            <a:off x="4065334" y="6194368"/>
            <a:ext cx="3273425" cy="396875"/>
          </a:xfrm>
          <a:prstGeom prst="rect">
            <a:avLst/>
          </a:prstGeom>
          <a:noFill/>
          <a:ln w="9525">
            <a:noFill/>
          </a:ln>
        </p:spPr>
        <p:txBody>
          <a:bodyPr anchor="t" anchorCtr="0">
            <a:spAutoFit/>
          </a:bodyPr>
          <a:lstStyle/>
          <a:p>
            <a:r>
              <a:rPr lang="zh-CN" altLang="en-US" sz="2000" b="1" dirty="0">
                <a:solidFill>
                  <a:schemeClr val="tx1"/>
                </a:solidFill>
                <a:latin typeface="+mn-ea"/>
                <a:ea typeface="+mn-ea"/>
              </a:rPr>
              <a:t>虽有所改善，但效果不大。</a:t>
            </a:r>
          </a:p>
        </p:txBody>
      </p:sp>
      <p:pic>
        <p:nvPicPr>
          <p:cNvPr id="56" name="图片 55">
            <a:extLst>
              <a:ext uri="{FF2B5EF4-FFF2-40B4-BE49-F238E27FC236}">
                <a16:creationId xmlns="" xmlns:a16="http://schemas.microsoft.com/office/drawing/2014/main" id="{69591585-5D3D-120B-A1F7-00026D8A79A0}"/>
              </a:ext>
            </a:extLst>
          </p:cNvPr>
          <p:cNvPicPr>
            <a:picLocks noChangeAspect="1"/>
          </p:cNvPicPr>
          <p:nvPr/>
        </p:nvPicPr>
        <p:blipFill>
          <a:blip r:embed="rId17"/>
          <a:stretch>
            <a:fillRect/>
          </a:stretch>
        </p:blipFill>
        <p:spPr>
          <a:xfrm>
            <a:off x="4209383" y="5151581"/>
            <a:ext cx="4934618" cy="789382"/>
          </a:xfrm>
          <a:prstGeom prst="rect">
            <a:avLst/>
          </a:prstGeom>
          <a:noFill/>
          <a:ln w="9525">
            <a:noFill/>
          </a:ln>
        </p:spPr>
      </p:pic>
    </p:spTree>
    <p:extLst>
      <p:ext uri="{BB962C8B-B14F-4D97-AF65-F5344CB8AC3E}">
        <p14:creationId xmlns:p14="http://schemas.microsoft.com/office/powerpoint/2010/main" val="3147227086"/>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95</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3.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高频</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小信号</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放大器</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文本占位符 394245">
            <a:extLst>
              <a:ext uri="{FF2B5EF4-FFF2-40B4-BE49-F238E27FC236}">
                <a16:creationId xmlns="" xmlns:a16="http://schemas.microsoft.com/office/drawing/2014/main" id="{61864122-5696-191F-33B2-D0C16E019FC2}"/>
              </a:ext>
            </a:extLst>
          </p:cNvPr>
          <p:cNvSpPr txBox="1">
            <a:spLocks/>
          </p:cNvSpPr>
          <p:nvPr/>
        </p:nvSpPr>
        <p:spPr>
          <a:xfrm>
            <a:off x="2724837" y="2484387"/>
            <a:ext cx="3814763" cy="617537"/>
          </a:xfrm>
          <a:prstGeom prst="rect">
            <a:avLst/>
          </a:prstGeom>
          <a:noFill/>
          <a:ln w="9525" cap="flat" cmpd="sng">
            <a:noFill/>
            <a:prstDash val="solid"/>
            <a:miter/>
            <a:headEnd type="none" w="med" len="med"/>
            <a:tailEnd type="none" w="med" len="med"/>
          </a:ln>
        </p:spPr>
        <p:txBody>
          <a:bodyPr wrap="square" lIns="91440" tIns="45720" rIns="91440" bIns="45720" anchor="t" anchorCtr="0"/>
          <a:lstStyle>
            <a:lvl1pPr marL="342900" lvl="0" indent="-342900" algn="l" rtl="0" eaLnBrk="0" fontAlgn="base" hangingPunct="0">
              <a:spcBef>
                <a:spcPct val="20000"/>
              </a:spcBef>
              <a:spcAft>
                <a:spcPct val="0"/>
              </a:spcAft>
              <a:buClrTx/>
              <a:buSzTx/>
              <a:buFontTx/>
              <a:buChar char="•"/>
              <a:defRPr sz="28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Tx/>
              <a:buChar char="–"/>
              <a:defRPr sz="2400">
                <a:solidFill>
                  <a:schemeClr val="tx1"/>
                </a:solidFill>
                <a:latin typeface="+mn-lt"/>
                <a:ea typeface="+mn-ea"/>
              </a:defRPr>
            </a:lvl2pPr>
            <a:lvl3pPr marL="1143000" lvl="2" indent="-228600" algn="l" rtl="0" eaLnBrk="0" fontAlgn="base" hangingPunct="0">
              <a:spcBef>
                <a:spcPct val="20000"/>
              </a:spcBef>
              <a:spcAft>
                <a:spcPct val="0"/>
              </a:spcAft>
              <a:buClrTx/>
              <a:buSzTx/>
              <a:buFontTx/>
              <a:buChar char="•"/>
              <a:defRPr sz="2000">
                <a:solidFill>
                  <a:schemeClr val="tx1"/>
                </a:solidFill>
                <a:latin typeface="+mn-lt"/>
                <a:ea typeface="+mn-ea"/>
              </a:defRPr>
            </a:lvl3pPr>
            <a:lvl4pPr marL="1600200" lvl="3" indent="-228600" algn="l" rtl="0" eaLnBrk="0" fontAlgn="base" hangingPunct="0">
              <a:spcBef>
                <a:spcPct val="20000"/>
              </a:spcBef>
              <a:spcAft>
                <a:spcPct val="0"/>
              </a:spcAft>
              <a:buClrTx/>
              <a:buSzTx/>
              <a:buFontTx/>
              <a:buChar char="–"/>
              <a:defRPr sz="1800">
                <a:solidFill>
                  <a:schemeClr val="tx1"/>
                </a:solidFill>
                <a:latin typeface="+mn-lt"/>
                <a:ea typeface="+mn-ea"/>
              </a:defRPr>
            </a:lvl4pPr>
            <a:lvl5pPr marL="2057400" lvl="4" indent="-228600" algn="l" rtl="0" eaLnBrk="0" fontAlgn="base" hangingPunct="0">
              <a:spcBef>
                <a:spcPct val="20000"/>
              </a:spcBef>
              <a:spcAft>
                <a:spcPct val="0"/>
              </a:spcAft>
              <a:buClrTx/>
              <a:buSzTx/>
              <a:buFontTx/>
              <a:buChar char="»"/>
              <a:defRPr sz="18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eaLnBrk="1" hangingPunct="1">
              <a:lnSpc>
                <a:spcPct val="80000"/>
              </a:lnSpc>
              <a:buFontTx/>
              <a:buNone/>
            </a:pPr>
            <a:r>
              <a:rPr lang="zh-CN" altLang="en-US" sz="2000" b="1" kern="0" dirty="0">
                <a:latin typeface="+mn-ea"/>
              </a:rPr>
              <a:t>即</a:t>
            </a:r>
            <a:r>
              <a:rPr lang="en-US" altLang="zh-CN" sz="2000" b="1" kern="0" dirty="0">
                <a:latin typeface="+mn-ea"/>
              </a:rPr>
              <a:t>Π</a:t>
            </a:r>
            <a:r>
              <a:rPr lang="zh-CN" altLang="en-US" sz="2000" b="1" kern="0" dirty="0">
                <a:latin typeface="+mn-ea"/>
              </a:rPr>
              <a:t>等效电路中存在    。     </a:t>
            </a:r>
          </a:p>
        </p:txBody>
      </p:sp>
      <p:graphicFrame>
        <p:nvGraphicFramePr>
          <p:cNvPr id="6" name="内容占位符 394246">
            <a:extLst>
              <a:ext uri="{FF2B5EF4-FFF2-40B4-BE49-F238E27FC236}">
                <a16:creationId xmlns="" xmlns:a16="http://schemas.microsoft.com/office/drawing/2014/main" id="{FDD30963-D04F-8B6D-A768-F9891F645297}"/>
              </a:ext>
            </a:extLst>
          </p:cNvPr>
          <p:cNvGraphicFramePr>
            <a:graphicFrameLocks/>
          </p:cNvGraphicFramePr>
          <p:nvPr>
            <p:extLst>
              <p:ext uri="{D42A27DB-BD31-4B8C-83A1-F6EECF244321}">
                <p14:modId xmlns:p14="http://schemas.microsoft.com/office/powerpoint/2010/main" val="545644952"/>
              </p:ext>
            </p:extLst>
          </p:nvPr>
        </p:nvGraphicFramePr>
        <p:xfrm>
          <a:off x="5115869" y="2416125"/>
          <a:ext cx="465137" cy="401637"/>
        </p:xfrm>
        <a:graphic>
          <a:graphicData uri="http://schemas.openxmlformats.org/presentationml/2006/ole">
            <mc:AlternateContent xmlns:mc="http://schemas.openxmlformats.org/markup-compatibility/2006">
              <mc:Choice xmlns:v="urn:schemas-microsoft-com:vml" Requires="v">
                <p:oleObj spid="_x0000_s70793" r:id="rId3" imgW="254000" imgH="228600" progId="Equation.DSMT4">
                  <p:embed/>
                </p:oleObj>
              </mc:Choice>
              <mc:Fallback>
                <p:oleObj r:id="rId3" imgW="254000" imgH="228600" progId="Equation.DSMT4">
                  <p:embed/>
                  <p:pic>
                    <p:nvPicPr>
                      <p:cNvPr id="0" name=""/>
                      <p:cNvPicPr/>
                      <p:nvPr/>
                    </p:nvPicPr>
                    <p:blipFill>
                      <a:blip r:embed="rId4"/>
                      <a:stretch>
                        <a:fillRect/>
                      </a:stretch>
                    </p:blipFill>
                    <p:spPr>
                      <a:xfrm>
                        <a:off x="5115869" y="2416125"/>
                        <a:ext cx="465137" cy="401637"/>
                      </a:xfrm>
                      <a:prstGeom prst="rect">
                        <a:avLst/>
                      </a:prstGeom>
                      <a:noFill/>
                      <a:ln w="38100">
                        <a:noFill/>
                        <a:miter/>
                      </a:ln>
                    </p:spPr>
                  </p:pic>
                </p:oleObj>
              </mc:Fallback>
            </mc:AlternateContent>
          </a:graphicData>
        </a:graphic>
      </p:graphicFrame>
      <p:sp>
        <p:nvSpPr>
          <p:cNvPr id="7" name="矩形 394247">
            <a:extLst>
              <a:ext uri="{FF2B5EF4-FFF2-40B4-BE49-F238E27FC236}">
                <a16:creationId xmlns="" xmlns:a16="http://schemas.microsoft.com/office/drawing/2014/main" id="{2DB0E903-D8B3-46BE-9992-483857DD9B16}"/>
              </a:ext>
            </a:extLst>
          </p:cNvPr>
          <p:cNvSpPr/>
          <p:nvPr/>
        </p:nvSpPr>
        <p:spPr>
          <a:xfrm>
            <a:off x="258441" y="1264816"/>
            <a:ext cx="5716587" cy="461665"/>
          </a:xfrm>
          <a:prstGeom prst="rect">
            <a:avLst/>
          </a:prstGeom>
          <a:noFill/>
          <a:ln w="9525">
            <a:noFill/>
          </a:ln>
        </p:spPr>
        <p:txBody>
          <a:bodyPr anchor="t" anchorCtr="0">
            <a:spAutoFit/>
          </a:bodyPr>
          <a:lstStyle/>
          <a:p>
            <a:r>
              <a:rPr lang="zh-CN" altLang="en-US" sz="2400" b="1" dirty="0">
                <a:solidFill>
                  <a:schemeClr val="tx1"/>
                </a:solidFill>
                <a:latin typeface="Times New Roman" panose="02020603050405020304" pitchFamily="18" charset="0"/>
                <a:ea typeface="宋体" panose="02010600030101010101" pitchFamily="2" charset="-122"/>
              </a:rPr>
              <a:t>一、谐振放大器不稳定的原因</a:t>
            </a:r>
          </a:p>
        </p:txBody>
      </p:sp>
      <p:graphicFrame>
        <p:nvGraphicFramePr>
          <p:cNvPr id="8" name="对象 7">
            <a:extLst>
              <a:ext uri="{FF2B5EF4-FFF2-40B4-BE49-F238E27FC236}">
                <a16:creationId xmlns="" xmlns:a16="http://schemas.microsoft.com/office/drawing/2014/main" id="{086C4944-EB2E-ECD7-82CE-80A495095D5A}"/>
              </a:ext>
            </a:extLst>
          </p:cNvPr>
          <p:cNvGraphicFramePr/>
          <p:nvPr>
            <p:extLst>
              <p:ext uri="{D42A27DB-BD31-4B8C-83A1-F6EECF244321}">
                <p14:modId xmlns:p14="http://schemas.microsoft.com/office/powerpoint/2010/main" val="2432838716"/>
              </p:ext>
            </p:extLst>
          </p:nvPr>
        </p:nvGraphicFramePr>
        <p:xfrm>
          <a:off x="1878228" y="2358975"/>
          <a:ext cx="846609" cy="458787"/>
        </p:xfrm>
        <a:graphic>
          <a:graphicData uri="http://schemas.openxmlformats.org/presentationml/2006/ole">
            <mc:AlternateContent xmlns:mc="http://schemas.openxmlformats.org/markup-compatibility/2006">
              <mc:Choice xmlns:v="urn:schemas-microsoft-com:vml" Requires="v">
                <p:oleObj spid="_x0000_s70794" r:id="rId5" imgW="457200" imgH="228600" progId="Equation.3">
                  <p:embed/>
                </p:oleObj>
              </mc:Choice>
              <mc:Fallback>
                <p:oleObj r:id="rId5" imgW="457200" imgH="228600" progId="Equation.3">
                  <p:embed/>
                  <p:pic>
                    <p:nvPicPr>
                      <p:cNvPr id="0" name=""/>
                      <p:cNvPicPr/>
                      <p:nvPr/>
                    </p:nvPicPr>
                    <p:blipFill>
                      <a:blip r:embed="rId6"/>
                      <a:stretch>
                        <a:fillRect/>
                      </a:stretch>
                    </p:blipFill>
                    <p:spPr>
                      <a:xfrm>
                        <a:off x="1878228" y="2358975"/>
                        <a:ext cx="846609" cy="458787"/>
                      </a:xfrm>
                      <a:prstGeom prst="rect">
                        <a:avLst/>
                      </a:prstGeom>
                      <a:noFill/>
                      <a:ln w="38100">
                        <a:noFill/>
                        <a:miter/>
                      </a:ln>
                    </p:spPr>
                  </p:pic>
                </p:oleObj>
              </mc:Fallback>
            </mc:AlternateContent>
          </a:graphicData>
        </a:graphic>
      </p:graphicFrame>
      <p:pic>
        <p:nvPicPr>
          <p:cNvPr id="9" name="图片 8">
            <a:extLst>
              <a:ext uri="{FF2B5EF4-FFF2-40B4-BE49-F238E27FC236}">
                <a16:creationId xmlns="" xmlns:a16="http://schemas.microsoft.com/office/drawing/2014/main" id="{05CAA161-B85B-6B0D-E9FA-02B9A0CCF517}"/>
              </a:ext>
            </a:extLst>
          </p:cNvPr>
          <p:cNvPicPr>
            <a:picLocks noChangeAspect="1"/>
          </p:cNvPicPr>
          <p:nvPr/>
        </p:nvPicPr>
        <p:blipFill>
          <a:blip r:embed="rId7"/>
          <a:stretch>
            <a:fillRect/>
          </a:stretch>
        </p:blipFill>
        <p:spPr>
          <a:xfrm>
            <a:off x="1447784" y="3106316"/>
            <a:ext cx="5432425" cy="2181225"/>
          </a:xfrm>
          <a:prstGeom prst="rect">
            <a:avLst/>
          </a:prstGeom>
          <a:noFill/>
          <a:ln w="9525">
            <a:noFill/>
          </a:ln>
        </p:spPr>
      </p:pic>
      <p:sp>
        <p:nvSpPr>
          <p:cNvPr id="10" name="矩形 9">
            <a:extLst>
              <a:ext uri="{FF2B5EF4-FFF2-40B4-BE49-F238E27FC236}">
                <a16:creationId xmlns="" xmlns:a16="http://schemas.microsoft.com/office/drawing/2014/main" id="{B00B7213-687D-3077-1CF7-C8696945DEFB}"/>
              </a:ext>
            </a:extLst>
          </p:cNvPr>
          <p:cNvSpPr/>
          <p:nvPr/>
        </p:nvSpPr>
        <p:spPr>
          <a:xfrm>
            <a:off x="683568" y="5248052"/>
            <a:ext cx="8119690" cy="996950"/>
          </a:xfrm>
          <a:prstGeom prst="rect">
            <a:avLst/>
          </a:prstGeom>
          <a:solidFill>
            <a:srgbClr val="FFFFFF"/>
          </a:solidFill>
          <a:ln w="9525">
            <a:noFill/>
          </a:ln>
        </p:spPr>
        <p:txBody>
          <a:bodyPr anchor="t" anchorCtr="0"/>
          <a:lstStyle/>
          <a:p>
            <a:pPr marL="342900" indent="-342900">
              <a:spcBef>
                <a:spcPct val="20000"/>
              </a:spcBef>
              <a:buFont typeface="Wingdings" panose="05000000000000000000" pitchFamily="2" charset="2"/>
            </a:pPr>
            <a:r>
              <a:rPr lang="en-US" altLang="zh-CN" sz="2000" b="1" dirty="0">
                <a:solidFill>
                  <a:schemeClr val="tx1"/>
                </a:solidFill>
                <a:latin typeface="+mn-ea"/>
                <a:ea typeface="+mn-ea"/>
              </a:rPr>
              <a:t>     </a:t>
            </a:r>
            <a:r>
              <a:rPr lang="zh-CN" altLang="en-US" sz="2000" b="1" dirty="0">
                <a:solidFill>
                  <a:schemeClr val="tx1"/>
                </a:solidFill>
                <a:latin typeface="+mn-ea"/>
                <a:ea typeface="+mn-ea"/>
              </a:rPr>
              <a:t>低频时可忽略，高频时不可忽略。它使输出信号反馈到输入端，一定条件下</a:t>
            </a:r>
            <a:r>
              <a:rPr lang="zh-CN" altLang="en-US" sz="2000" b="1" dirty="0">
                <a:solidFill>
                  <a:srgbClr val="FF0000"/>
                </a:solidFill>
                <a:latin typeface="+mn-ea"/>
                <a:ea typeface="+mn-ea"/>
              </a:rPr>
              <a:t>导致自激</a:t>
            </a:r>
            <a:r>
              <a:rPr lang="zh-CN" altLang="en-US" sz="2000" b="1" dirty="0">
                <a:solidFill>
                  <a:schemeClr val="tx1"/>
                </a:solidFill>
                <a:latin typeface="+mn-ea"/>
                <a:ea typeface="+mn-ea"/>
              </a:rPr>
              <a:t>，放大器将不稳定。</a:t>
            </a:r>
          </a:p>
        </p:txBody>
      </p:sp>
      <p:sp>
        <p:nvSpPr>
          <p:cNvPr id="11" name="矩形 10">
            <a:extLst>
              <a:ext uri="{FF2B5EF4-FFF2-40B4-BE49-F238E27FC236}">
                <a16:creationId xmlns="" xmlns:a16="http://schemas.microsoft.com/office/drawing/2014/main" id="{A3CBF062-7310-3862-C0B7-AD759773E549}"/>
              </a:ext>
            </a:extLst>
          </p:cNvPr>
          <p:cNvSpPr/>
          <p:nvPr/>
        </p:nvSpPr>
        <p:spPr>
          <a:xfrm>
            <a:off x="983928" y="2450678"/>
            <a:ext cx="958917" cy="369332"/>
          </a:xfrm>
          <a:prstGeom prst="rect">
            <a:avLst/>
          </a:prstGeom>
          <a:noFill/>
          <a:ln w="34925">
            <a:noFill/>
          </a:ln>
        </p:spPr>
        <p:txBody>
          <a:bodyPr wrap="none" anchor="t" anchorCtr="0">
            <a:spAutoFit/>
          </a:bodyPr>
          <a:lstStyle/>
          <a:p>
            <a:pPr>
              <a:lnSpc>
                <a:spcPct val="90000"/>
              </a:lnSpc>
              <a:spcBef>
                <a:spcPct val="20000"/>
              </a:spcBef>
            </a:pPr>
            <a:r>
              <a:rPr lang="zh-CN" altLang="en-US" sz="2000" b="1" dirty="0">
                <a:solidFill>
                  <a:schemeClr val="tx1"/>
                </a:solidFill>
                <a:latin typeface="+mn-ea"/>
                <a:ea typeface="+mn-ea"/>
              </a:rPr>
              <a:t>原因：</a:t>
            </a:r>
          </a:p>
        </p:txBody>
      </p:sp>
      <p:graphicFrame>
        <p:nvGraphicFramePr>
          <p:cNvPr id="12" name="内容占位符 394254">
            <a:extLst>
              <a:ext uri="{FF2B5EF4-FFF2-40B4-BE49-F238E27FC236}">
                <a16:creationId xmlns="" xmlns:a16="http://schemas.microsoft.com/office/drawing/2014/main" id="{97EF3350-CE04-9615-204C-2783F39F353D}"/>
              </a:ext>
            </a:extLst>
          </p:cNvPr>
          <p:cNvGraphicFramePr>
            <a:graphicFrameLocks/>
          </p:cNvGraphicFramePr>
          <p:nvPr>
            <p:extLst>
              <p:ext uri="{D42A27DB-BD31-4B8C-83A1-F6EECF244321}">
                <p14:modId xmlns:p14="http://schemas.microsoft.com/office/powerpoint/2010/main" val="1225513877"/>
              </p:ext>
            </p:extLst>
          </p:nvPr>
        </p:nvGraphicFramePr>
        <p:xfrm>
          <a:off x="1058574" y="5287541"/>
          <a:ext cx="415925" cy="360362"/>
        </p:xfrm>
        <a:graphic>
          <a:graphicData uri="http://schemas.openxmlformats.org/presentationml/2006/ole">
            <mc:AlternateContent xmlns:mc="http://schemas.openxmlformats.org/markup-compatibility/2006">
              <mc:Choice xmlns:v="urn:schemas-microsoft-com:vml" Requires="v">
                <p:oleObj spid="_x0000_s70795" r:id="rId8" imgW="254000" imgH="228600" progId="Equation.DSMT4">
                  <p:embed/>
                </p:oleObj>
              </mc:Choice>
              <mc:Fallback>
                <p:oleObj r:id="rId8" imgW="254000" imgH="228600" progId="Equation.DSMT4">
                  <p:embed/>
                  <p:pic>
                    <p:nvPicPr>
                      <p:cNvPr id="0" name=""/>
                      <p:cNvPicPr/>
                      <p:nvPr/>
                    </p:nvPicPr>
                    <p:blipFill>
                      <a:blip r:embed="rId9"/>
                      <a:stretch>
                        <a:fillRect/>
                      </a:stretch>
                    </p:blipFill>
                    <p:spPr>
                      <a:xfrm>
                        <a:off x="1058574" y="5287541"/>
                        <a:ext cx="415925" cy="360362"/>
                      </a:xfrm>
                      <a:prstGeom prst="rect">
                        <a:avLst/>
                      </a:prstGeom>
                      <a:noFill/>
                      <a:ln w="38100">
                        <a:noFill/>
                        <a:miter/>
                      </a:ln>
                    </p:spPr>
                  </p:pic>
                </p:oleObj>
              </mc:Fallback>
            </mc:AlternateContent>
          </a:graphicData>
        </a:graphic>
      </p:graphicFrame>
      <p:sp>
        <p:nvSpPr>
          <p:cNvPr id="13" name="矩形 12">
            <a:extLst>
              <a:ext uri="{FF2B5EF4-FFF2-40B4-BE49-F238E27FC236}">
                <a16:creationId xmlns="" xmlns:a16="http://schemas.microsoft.com/office/drawing/2014/main" id="{67F7782D-FAC9-B911-6AC2-4DAA8E9280C9}"/>
              </a:ext>
            </a:extLst>
          </p:cNvPr>
          <p:cNvSpPr/>
          <p:nvPr/>
        </p:nvSpPr>
        <p:spPr>
          <a:xfrm>
            <a:off x="3839841" y="3530178"/>
            <a:ext cx="1235075" cy="496888"/>
          </a:xfrm>
          <a:prstGeom prst="rect">
            <a:avLst/>
          </a:prstGeom>
          <a:noFill/>
          <a:ln w="25400" cap="flat" cmpd="sng">
            <a:solidFill>
              <a:srgbClr val="FF3300"/>
            </a:solidFill>
            <a:prstDash val="dash"/>
            <a:miter/>
            <a:headEnd type="none" w="med" len="med"/>
            <a:tailEnd type="none" w="med" len="med"/>
          </a:ln>
        </p:spPr>
        <p:txBody>
          <a:bodyPr anchor="t" anchorCtr="0"/>
          <a:lstStyle/>
          <a:p>
            <a:endParaRPr lang="zh-CN" altLang="en-US" dirty="0">
              <a:solidFill>
                <a:schemeClr val="tx1"/>
              </a:solidFill>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2962283983"/>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96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矩形 313349">
            <a:extLst>
              <a:ext uri="{FF2B5EF4-FFF2-40B4-BE49-F238E27FC236}">
                <a16:creationId xmlns="" xmlns:a16="http://schemas.microsoft.com/office/drawing/2014/main" id="{3BF2EC34-1A9B-55C0-C3CE-2F0A762107F1}"/>
              </a:ext>
            </a:extLst>
          </p:cNvPr>
          <p:cNvSpPr/>
          <p:nvPr/>
        </p:nvSpPr>
        <p:spPr>
          <a:xfrm>
            <a:off x="1772072" y="5229200"/>
            <a:ext cx="6565900" cy="1487318"/>
          </a:xfrm>
          <a:prstGeom prst="rect">
            <a:avLst/>
          </a:prstGeom>
          <a:noFill/>
          <a:ln w="9525">
            <a:noFill/>
          </a:ln>
        </p:spPr>
        <p:txBody>
          <a:bodyPr anchor="t" anchorCtr="0"/>
          <a:lstStyle/>
          <a:p>
            <a:pPr marL="342900" indent="-342900">
              <a:spcBef>
                <a:spcPts val="600"/>
              </a:spcBef>
            </a:pPr>
            <a:endParaRPr lang="zh-CN" altLang="en-US" sz="3200" b="1" dirty="0">
              <a:solidFill>
                <a:schemeClr val="tx1"/>
              </a:solidFill>
              <a:latin typeface="楷体" panose="02010609060101010101" pitchFamily="49" charset="-122"/>
              <a:ea typeface="楷体" panose="02010609060101010101" pitchFamily="49" charset="-122"/>
            </a:endParaRPr>
          </a:p>
        </p:txBody>
      </p:sp>
      <p:sp>
        <p:nvSpPr>
          <p:cNvPr id="5" name="矩形 394247">
            <a:extLst>
              <a:ext uri="{FF2B5EF4-FFF2-40B4-BE49-F238E27FC236}">
                <a16:creationId xmlns="" xmlns:a16="http://schemas.microsoft.com/office/drawing/2014/main" id="{0C6A39D5-44F5-F67C-B9E8-06DE2C7922EC}"/>
              </a:ext>
            </a:extLst>
          </p:cNvPr>
          <p:cNvSpPr/>
          <p:nvPr/>
        </p:nvSpPr>
        <p:spPr>
          <a:xfrm>
            <a:off x="258441" y="1264816"/>
            <a:ext cx="8531991" cy="461665"/>
          </a:xfrm>
          <a:prstGeom prst="rect">
            <a:avLst/>
          </a:prstGeom>
          <a:noFill/>
          <a:ln w="9525">
            <a:noFill/>
          </a:ln>
        </p:spPr>
        <p:txBody>
          <a:bodyPr wrap="square" anchor="t" anchorCtr="0">
            <a:spAutoFit/>
          </a:bodyPr>
          <a:lstStyle/>
          <a:p>
            <a:pPr algn="ctr"/>
            <a:r>
              <a:rPr lang="zh-CN" altLang="en-US" sz="2400" b="1" dirty="0" smtClean="0">
                <a:solidFill>
                  <a:schemeClr val="tx1"/>
                </a:solidFill>
                <a:latin typeface="Times New Roman" panose="02020603050405020304" pitchFamily="18" charset="0"/>
                <a:ea typeface="宋体" panose="02010600030101010101" pitchFamily="2" charset="-122"/>
              </a:rPr>
              <a:t>放大器</a:t>
            </a:r>
            <a:r>
              <a:rPr lang="zh-CN" altLang="en-US" sz="2400" b="1" dirty="0">
                <a:solidFill>
                  <a:schemeClr val="tx1"/>
                </a:solidFill>
                <a:latin typeface="Times New Roman" panose="02020603050405020304" pitchFamily="18" charset="0"/>
                <a:ea typeface="宋体" panose="02010600030101010101" pitchFamily="2" charset="-122"/>
              </a:rPr>
              <a:t>的稳定系数及稳定增益</a:t>
            </a:r>
          </a:p>
        </p:txBody>
      </p:sp>
      <p:sp>
        <p:nvSpPr>
          <p:cNvPr id="8" name="矩形 7">
            <a:extLst>
              <a:ext uri="{FF2B5EF4-FFF2-40B4-BE49-F238E27FC236}">
                <a16:creationId xmlns="" xmlns:a16="http://schemas.microsoft.com/office/drawing/2014/main" id="{7398456F-66F4-91B5-C287-286672EEDCD1}"/>
              </a:ext>
            </a:extLst>
          </p:cNvPr>
          <p:cNvSpPr/>
          <p:nvPr/>
        </p:nvSpPr>
        <p:spPr>
          <a:xfrm>
            <a:off x="211873" y="1565902"/>
            <a:ext cx="3513137" cy="400110"/>
          </a:xfrm>
          <a:prstGeom prst="rect">
            <a:avLst/>
          </a:prstGeom>
          <a:noFill/>
          <a:ln w="9525">
            <a:noFill/>
          </a:ln>
        </p:spPr>
        <p:txBody>
          <a:bodyPr anchor="ctr" anchorCtr="0">
            <a:spAutoFit/>
          </a:bodyPr>
          <a:lstStyle/>
          <a:p>
            <a:r>
              <a:rPr lang="en-US" altLang="zh-CN" sz="2000" b="1" dirty="0">
                <a:solidFill>
                  <a:schemeClr val="tx1"/>
                </a:solidFill>
                <a:latin typeface="+mn-ea"/>
                <a:ea typeface="+mn-ea"/>
              </a:rPr>
              <a:t>1</a:t>
            </a:r>
            <a:r>
              <a:rPr lang="zh-CN" altLang="en-US" sz="2000" b="1" dirty="0">
                <a:solidFill>
                  <a:schemeClr val="tx1"/>
                </a:solidFill>
                <a:latin typeface="+mn-ea"/>
                <a:ea typeface="+mn-ea"/>
              </a:rPr>
              <a:t>、放大器的稳定系数</a:t>
            </a:r>
          </a:p>
        </p:txBody>
      </p:sp>
      <p:pic>
        <p:nvPicPr>
          <p:cNvPr id="10" name="图片 9">
            <a:extLst>
              <a:ext uri="{FF2B5EF4-FFF2-40B4-BE49-F238E27FC236}">
                <a16:creationId xmlns="" xmlns:a16="http://schemas.microsoft.com/office/drawing/2014/main" id="{A1FCDC89-A779-68BC-687F-2AE4B2FE0D88}"/>
              </a:ext>
            </a:extLst>
          </p:cNvPr>
          <p:cNvPicPr>
            <a:picLocks noChangeAspect="1"/>
          </p:cNvPicPr>
          <p:nvPr/>
        </p:nvPicPr>
        <p:blipFill>
          <a:blip r:embed="rId3"/>
          <a:srcRect t="3777"/>
          <a:stretch>
            <a:fillRect/>
          </a:stretch>
        </p:blipFill>
        <p:spPr>
          <a:xfrm>
            <a:off x="5057816" y="1538968"/>
            <a:ext cx="4086184" cy="2616592"/>
          </a:xfrm>
          <a:prstGeom prst="rect">
            <a:avLst/>
          </a:prstGeom>
          <a:noFill/>
          <a:ln w="9525">
            <a:noFill/>
          </a:ln>
        </p:spPr>
      </p:pic>
      <p:sp>
        <p:nvSpPr>
          <p:cNvPr id="11" name="直接连接符 10">
            <a:extLst>
              <a:ext uri="{FF2B5EF4-FFF2-40B4-BE49-F238E27FC236}">
                <a16:creationId xmlns="" xmlns:a16="http://schemas.microsoft.com/office/drawing/2014/main" id="{DDEAFD7D-BDEA-EC27-84C0-C85CEA9F23FD}"/>
              </a:ext>
            </a:extLst>
          </p:cNvPr>
          <p:cNvSpPr/>
          <p:nvPr/>
        </p:nvSpPr>
        <p:spPr>
          <a:xfrm>
            <a:off x="7447698" y="2104889"/>
            <a:ext cx="0" cy="630237"/>
          </a:xfrm>
          <a:prstGeom prst="line">
            <a:avLst/>
          </a:prstGeom>
          <a:ln w="25400" cap="flat" cmpd="sng">
            <a:solidFill>
              <a:srgbClr val="FF0000"/>
            </a:solidFill>
            <a:prstDash val="solid"/>
            <a:round/>
            <a:headEnd type="none" w="med" len="med"/>
            <a:tailEnd type="triangle" w="med" len="med"/>
          </a:ln>
        </p:spPr>
      </p:sp>
      <p:sp>
        <p:nvSpPr>
          <p:cNvPr id="16" name="文本框 15">
            <a:extLst>
              <a:ext uri="{FF2B5EF4-FFF2-40B4-BE49-F238E27FC236}">
                <a16:creationId xmlns="" xmlns:a16="http://schemas.microsoft.com/office/drawing/2014/main" id="{BA75EE38-2D2D-9723-EDE9-4A2D6F1DB5E9}"/>
              </a:ext>
            </a:extLst>
          </p:cNvPr>
          <p:cNvSpPr txBox="1"/>
          <p:nvPr/>
        </p:nvSpPr>
        <p:spPr>
          <a:xfrm>
            <a:off x="6223735" y="1417501"/>
            <a:ext cx="320675" cy="396875"/>
          </a:xfrm>
          <a:prstGeom prst="rect">
            <a:avLst/>
          </a:prstGeom>
          <a:noFill/>
          <a:ln w="25400">
            <a:noFill/>
          </a:ln>
        </p:spPr>
        <p:txBody>
          <a:bodyPr>
            <a:spAutoFit/>
          </a:bodyPr>
          <a:lstStyle/>
          <a:p>
            <a:pPr marR="0" defTabSz="914400">
              <a:spcBef>
                <a:spcPct val="50000"/>
              </a:spcBef>
              <a:buClrTx/>
              <a:buSzTx/>
              <a:buFont typeface="Arial" panose="020B0604020202020204" pitchFamily="34" charset="0"/>
              <a:buNone/>
              <a:defRPr/>
            </a:pPr>
            <a:r>
              <a:rPr kumimoji="0" lang="en-US" altLang="zh-CN" sz="2000" b="1" kern="1200" cap="none" spc="0" normalizeH="0" baseline="0" noProof="1">
                <a:solidFill>
                  <a:schemeClr val="tx1"/>
                </a:solidFill>
                <a:effectLst>
                  <a:outerShdw blurRad="38100" dist="38100" dir="2700000">
                    <a:srgbClr val="C0C0C0"/>
                  </a:outerShdw>
                </a:effectLst>
                <a:latin typeface="+mn-ea"/>
                <a:ea typeface="+mn-ea"/>
                <a:cs typeface="+mn-cs"/>
              </a:rPr>
              <a:t>+</a:t>
            </a:r>
          </a:p>
        </p:txBody>
      </p:sp>
      <p:sp>
        <p:nvSpPr>
          <p:cNvPr id="17" name="文本框 16">
            <a:extLst>
              <a:ext uri="{FF2B5EF4-FFF2-40B4-BE49-F238E27FC236}">
                <a16:creationId xmlns="" xmlns:a16="http://schemas.microsoft.com/office/drawing/2014/main" id="{7A039FBC-8978-C85A-55FE-3C1F95FAF43D}"/>
              </a:ext>
            </a:extLst>
          </p:cNvPr>
          <p:cNvSpPr txBox="1"/>
          <p:nvPr/>
        </p:nvSpPr>
        <p:spPr>
          <a:xfrm>
            <a:off x="6258660" y="3247889"/>
            <a:ext cx="273050" cy="400110"/>
          </a:xfrm>
          <a:prstGeom prst="rect">
            <a:avLst/>
          </a:prstGeom>
          <a:noFill/>
          <a:ln w="25400">
            <a:noFill/>
          </a:ln>
        </p:spPr>
        <p:txBody>
          <a:bodyPr>
            <a:spAutoFit/>
          </a:bodyPr>
          <a:lstStyle/>
          <a:p>
            <a:pPr marR="0" defTabSz="914400">
              <a:spcBef>
                <a:spcPct val="50000"/>
              </a:spcBef>
              <a:buClrTx/>
              <a:buSzTx/>
              <a:buFont typeface="Arial" panose="020B0604020202020204" pitchFamily="34" charset="0"/>
              <a:buNone/>
              <a:defRPr/>
            </a:pPr>
            <a:r>
              <a:rPr kumimoji="0" lang="en-US" altLang="zh-CN" sz="2000" b="1" kern="1200" cap="none" spc="0" normalizeH="0" baseline="0" noProof="1">
                <a:solidFill>
                  <a:schemeClr val="tx1"/>
                </a:solidFill>
                <a:effectLst>
                  <a:outerShdw blurRad="38100" dist="38100" dir="2700000">
                    <a:srgbClr val="C0C0C0"/>
                  </a:outerShdw>
                </a:effectLst>
                <a:latin typeface="+mn-ea"/>
                <a:ea typeface="+mn-ea"/>
                <a:cs typeface="+mn-cs"/>
              </a:rPr>
              <a:t>-</a:t>
            </a:r>
          </a:p>
        </p:txBody>
      </p:sp>
      <p:pic>
        <p:nvPicPr>
          <p:cNvPr id="18" name="图片 17" descr="image241">
            <a:extLst>
              <a:ext uri="{FF2B5EF4-FFF2-40B4-BE49-F238E27FC236}">
                <a16:creationId xmlns="" xmlns:a16="http://schemas.microsoft.com/office/drawing/2014/main" id="{8F554F37-4A5E-D667-7E8D-96E9D93686B0}"/>
              </a:ext>
            </a:extLst>
          </p:cNvPr>
          <p:cNvPicPr>
            <a:picLocks noChangeAspect="1"/>
          </p:cNvPicPr>
          <p:nvPr/>
        </p:nvPicPr>
        <p:blipFill>
          <a:blip r:embed="rId4"/>
          <a:stretch>
            <a:fillRect/>
          </a:stretch>
        </p:blipFill>
        <p:spPr>
          <a:xfrm>
            <a:off x="1757558" y="2151756"/>
            <a:ext cx="3271837" cy="1079500"/>
          </a:xfrm>
          <a:prstGeom prst="rect">
            <a:avLst/>
          </a:prstGeom>
          <a:gradFill rotWithShape="1">
            <a:gsLst>
              <a:gs pos="0">
                <a:srgbClr val="FF99FF"/>
              </a:gs>
              <a:gs pos="50000">
                <a:srgbClr val="FFFFFF"/>
              </a:gs>
              <a:gs pos="100000">
                <a:srgbClr val="FF99FF"/>
              </a:gs>
            </a:gsLst>
            <a:lin ang="5400000" scaled="1"/>
            <a:tileRect/>
          </a:gradFill>
          <a:ln w="9525">
            <a:noFill/>
          </a:ln>
        </p:spPr>
      </p:pic>
      <p:graphicFrame>
        <p:nvGraphicFramePr>
          <p:cNvPr id="20" name="内容占位符 397328">
            <a:extLst>
              <a:ext uri="{FF2B5EF4-FFF2-40B4-BE49-F238E27FC236}">
                <a16:creationId xmlns="" xmlns:a16="http://schemas.microsoft.com/office/drawing/2014/main" id="{E342041F-7AA6-21AB-B3F5-F48DB2EC19A1}"/>
              </a:ext>
            </a:extLst>
          </p:cNvPr>
          <p:cNvGraphicFramePr>
            <a:graphicFrameLocks/>
          </p:cNvGraphicFramePr>
          <p:nvPr>
            <p:extLst>
              <p:ext uri="{D42A27DB-BD31-4B8C-83A1-F6EECF244321}">
                <p14:modId xmlns:p14="http://schemas.microsoft.com/office/powerpoint/2010/main" val="1908229698"/>
              </p:ext>
            </p:extLst>
          </p:nvPr>
        </p:nvGraphicFramePr>
        <p:xfrm>
          <a:off x="6623785" y="2646226"/>
          <a:ext cx="344488" cy="519113"/>
        </p:xfrm>
        <a:graphic>
          <a:graphicData uri="http://schemas.openxmlformats.org/presentationml/2006/ole">
            <mc:AlternateContent xmlns:mc="http://schemas.openxmlformats.org/markup-compatibility/2006">
              <mc:Choice xmlns:v="urn:schemas-microsoft-com:vml" Requires="v">
                <p:oleObj spid="_x0000_s71729" r:id="rId5" imgW="203200" imgH="317500" progId="Equation.3">
                  <p:embed/>
                </p:oleObj>
              </mc:Choice>
              <mc:Fallback>
                <p:oleObj r:id="rId5" imgW="203200" imgH="317500" progId="Equation.3">
                  <p:embed/>
                  <p:pic>
                    <p:nvPicPr>
                      <p:cNvPr id="0" name=""/>
                      <p:cNvPicPr/>
                      <p:nvPr/>
                    </p:nvPicPr>
                    <p:blipFill>
                      <a:blip r:embed="rId6"/>
                      <a:stretch>
                        <a:fillRect/>
                      </a:stretch>
                    </p:blipFill>
                    <p:spPr>
                      <a:xfrm>
                        <a:off x="6623785" y="2646226"/>
                        <a:ext cx="344488" cy="519113"/>
                      </a:xfrm>
                      <a:prstGeom prst="rect">
                        <a:avLst/>
                      </a:prstGeom>
                      <a:noFill/>
                      <a:ln w="38100">
                        <a:noFill/>
                        <a:miter/>
                      </a:ln>
                    </p:spPr>
                  </p:pic>
                </p:oleObj>
              </mc:Fallback>
            </mc:AlternateContent>
          </a:graphicData>
        </a:graphic>
      </p:graphicFrame>
      <p:sp>
        <p:nvSpPr>
          <p:cNvPr id="21" name="矩形 20">
            <a:extLst>
              <a:ext uri="{FF2B5EF4-FFF2-40B4-BE49-F238E27FC236}">
                <a16:creationId xmlns="" xmlns:a16="http://schemas.microsoft.com/office/drawing/2014/main" id="{CE891816-8E3F-DAF5-DAC9-1EA373800D83}"/>
              </a:ext>
            </a:extLst>
          </p:cNvPr>
          <p:cNvSpPr/>
          <p:nvPr/>
        </p:nvSpPr>
        <p:spPr>
          <a:xfrm>
            <a:off x="87508" y="2383501"/>
            <a:ext cx="1346844" cy="400110"/>
          </a:xfrm>
          <a:prstGeom prst="rect">
            <a:avLst/>
          </a:prstGeom>
          <a:noFill/>
          <a:ln w="25400">
            <a:noFill/>
          </a:ln>
        </p:spPr>
        <p:txBody>
          <a:bodyPr wrap="none" anchor="ctr" anchorCtr="0">
            <a:spAutoFit/>
          </a:bodyPr>
          <a:lstStyle/>
          <a:p>
            <a:r>
              <a:rPr lang="zh-CN" altLang="en-US" sz="2000" b="1" dirty="0">
                <a:solidFill>
                  <a:schemeClr val="tx1"/>
                </a:solidFill>
                <a:latin typeface="+mn-ea"/>
                <a:ea typeface="+mn-ea"/>
              </a:rPr>
              <a:t>稳定系数 </a:t>
            </a:r>
          </a:p>
        </p:txBody>
      </p:sp>
      <p:sp>
        <p:nvSpPr>
          <p:cNvPr id="22" name="矩形 21">
            <a:extLst>
              <a:ext uri="{FF2B5EF4-FFF2-40B4-BE49-F238E27FC236}">
                <a16:creationId xmlns="" xmlns:a16="http://schemas.microsoft.com/office/drawing/2014/main" id="{114F6618-7BC1-2637-FD1B-709D504B42B2}"/>
              </a:ext>
            </a:extLst>
          </p:cNvPr>
          <p:cNvSpPr/>
          <p:nvPr/>
        </p:nvSpPr>
        <p:spPr>
          <a:xfrm>
            <a:off x="1186717" y="5671237"/>
            <a:ext cx="6675438" cy="1015663"/>
          </a:xfrm>
          <a:prstGeom prst="rect">
            <a:avLst/>
          </a:prstGeom>
          <a:noFill/>
          <a:ln w="25400" cap="flat" cmpd="sng">
            <a:solidFill>
              <a:srgbClr val="00B0F0"/>
            </a:solidFill>
            <a:prstDash val="solid"/>
            <a:miter/>
            <a:headEnd type="none" w="med" len="med"/>
            <a:tailEnd type="none" w="med" len="med"/>
          </a:ln>
        </p:spPr>
        <p:txBody>
          <a:bodyPr anchor="ctr" anchorCtr="0">
            <a:spAutoFit/>
          </a:bodyPr>
          <a:lstStyle/>
          <a:p>
            <a:r>
              <a:rPr lang="en-US" altLang="zh-CN" sz="2000" b="1" dirty="0">
                <a:solidFill>
                  <a:srgbClr val="FF0000"/>
                </a:solidFill>
                <a:latin typeface="+mn-ea"/>
                <a:ea typeface="+mn-ea"/>
              </a:rPr>
              <a:t>S=1 </a:t>
            </a:r>
            <a:r>
              <a:rPr lang="zh-CN" altLang="en-US" sz="2000" b="1" dirty="0">
                <a:solidFill>
                  <a:srgbClr val="FF0000"/>
                </a:solidFill>
                <a:latin typeface="+mn-ea"/>
                <a:ea typeface="+mn-ea"/>
              </a:rPr>
              <a:t>为维持自激振荡的条件，放大器不稳定；</a:t>
            </a:r>
          </a:p>
          <a:p>
            <a:r>
              <a:rPr lang="en-US" altLang="zh-CN" sz="2000" b="1" dirty="0">
                <a:solidFill>
                  <a:srgbClr val="FF0000"/>
                </a:solidFill>
                <a:latin typeface="+mn-ea"/>
                <a:ea typeface="+mn-ea"/>
              </a:rPr>
              <a:t>S&lt;1,</a:t>
            </a:r>
            <a:r>
              <a:rPr lang="zh-CN" altLang="en-US" sz="2000" b="1" dirty="0">
                <a:solidFill>
                  <a:srgbClr val="FF0000"/>
                </a:solidFill>
                <a:latin typeface="+mn-ea"/>
                <a:ea typeface="+mn-ea"/>
              </a:rPr>
              <a:t>一定要产生自激；</a:t>
            </a:r>
          </a:p>
          <a:p>
            <a:r>
              <a:rPr lang="en-US" altLang="zh-CN" sz="2000" b="1" dirty="0">
                <a:solidFill>
                  <a:srgbClr val="FF0000"/>
                </a:solidFill>
                <a:latin typeface="+mn-ea"/>
                <a:ea typeface="+mn-ea"/>
              </a:rPr>
              <a:t>S&gt;&gt;1</a:t>
            </a:r>
            <a:r>
              <a:rPr lang="zh-CN" altLang="en-US" sz="2000" b="1" dirty="0">
                <a:solidFill>
                  <a:srgbClr val="FF0000"/>
                </a:solidFill>
                <a:latin typeface="+mn-ea"/>
                <a:ea typeface="+mn-ea"/>
              </a:rPr>
              <a:t>，放大器稳定，一般</a:t>
            </a:r>
            <a:r>
              <a:rPr lang="en-US" altLang="zh-CN" sz="2000" b="1" dirty="0">
                <a:solidFill>
                  <a:srgbClr val="FF0000"/>
                </a:solidFill>
                <a:latin typeface="+mn-ea"/>
                <a:ea typeface="+mn-ea"/>
              </a:rPr>
              <a:t>S&gt;&gt;5</a:t>
            </a:r>
            <a:r>
              <a:rPr lang="zh-CN" altLang="en-US" sz="2000" b="1" dirty="0">
                <a:solidFill>
                  <a:srgbClr val="FF0000"/>
                </a:solidFill>
                <a:latin typeface="+mn-ea"/>
                <a:ea typeface="+mn-ea"/>
              </a:rPr>
              <a:t>就可认为是稳定的。 </a:t>
            </a:r>
          </a:p>
        </p:txBody>
      </p:sp>
      <p:sp>
        <p:nvSpPr>
          <p:cNvPr id="23"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3.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高频</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小信号</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放大器</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24" name="Picture 25">
            <a:extLst>
              <a:ext uri="{FF2B5EF4-FFF2-40B4-BE49-F238E27FC236}">
                <a16:creationId xmlns="" xmlns:a16="http://schemas.microsoft.com/office/drawing/2014/main" id="{2809D924-4F9F-F5BA-CC04-0B609C0158BA}"/>
              </a:ext>
            </a:extLst>
          </p:cNvPr>
          <p:cNvPicPr>
            <a:picLocks noChangeAspect="1"/>
          </p:cNvPicPr>
          <p:nvPr/>
        </p:nvPicPr>
        <p:blipFill>
          <a:blip r:embed="rId7"/>
          <a:stretch>
            <a:fillRect/>
          </a:stretch>
        </p:blipFill>
        <p:spPr>
          <a:xfrm>
            <a:off x="1860433" y="3173646"/>
            <a:ext cx="2587625" cy="1117600"/>
          </a:xfrm>
          <a:prstGeom prst="rect">
            <a:avLst/>
          </a:prstGeom>
          <a:noFill/>
          <a:ln w="9525">
            <a:noFill/>
          </a:ln>
        </p:spPr>
      </p:pic>
      <p:pic>
        <p:nvPicPr>
          <p:cNvPr id="25" name="Picture 32">
            <a:extLst>
              <a:ext uri="{FF2B5EF4-FFF2-40B4-BE49-F238E27FC236}">
                <a16:creationId xmlns="" xmlns:a16="http://schemas.microsoft.com/office/drawing/2014/main" id="{07F4661C-0460-7598-ECDD-FB0C8A8CE1B8}"/>
              </a:ext>
            </a:extLst>
          </p:cNvPr>
          <p:cNvPicPr>
            <a:picLocks noChangeAspect="1"/>
          </p:cNvPicPr>
          <p:nvPr/>
        </p:nvPicPr>
        <p:blipFill rotWithShape="1">
          <a:blip r:embed="rId8"/>
          <a:srcRect l="14964" t="-5571" r="32378" b="-255"/>
          <a:stretch/>
        </p:blipFill>
        <p:spPr>
          <a:xfrm>
            <a:off x="1231395" y="4118273"/>
            <a:ext cx="3160018" cy="479324"/>
          </a:xfrm>
          <a:prstGeom prst="rect">
            <a:avLst/>
          </a:prstGeom>
          <a:noFill/>
          <a:ln w="9525">
            <a:noFill/>
          </a:ln>
        </p:spPr>
      </p:pic>
      <p:pic>
        <p:nvPicPr>
          <p:cNvPr id="36" name="Picture 28">
            <a:extLst>
              <a:ext uri="{FF2B5EF4-FFF2-40B4-BE49-F238E27FC236}">
                <a16:creationId xmlns="" xmlns:a16="http://schemas.microsoft.com/office/drawing/2014/main" id="{53E77143-334B-2A56-7205-5E0AF2E438CC}"/>
              </a:ext>
            </a:extLst>
          </p:cNvPr>
          <p:cNvPicPr>
            <a:picLocks noChangeAspect="1"/>
          </p:cNvPicPr>
          <p:nvPr/>
        </p:nvPicPr>
        <p:blipFill>
          <a:blip r:embed="rId9"/>
          <a:stretch>
            <a:fillRect/>
          </a:stretch>
        </p:blipFill>
        <p:spPr>
          <a:xfrm>
            <a:off x="1028700" y="4407562"/>
            <a:ext cx="4511271" cy="927754"/>
          </a:xfrm>
          <a:prstGeom prst="rect">
            <a:avLst/>
          </a:prstGeom>
          <a:noFill/>
          <a:ln w="9525">
            <a:noFill/>
          </a:ln>
        </p:spPr>
      </p:pic>
      <p:pic>
        <p:nvPicPr>
          <p:cNvPr id="37" name="Picture 31">
            <a:extLst>
              <a:ext uri="{FF2B5EF4-FFF2-40B4-BE49-F238E27FC236}">
                <a16:creationId xmlns="" xmlns:a16="http://schemas.microsoft.com/office/drawing/2014/main" id="{6BF2978A-37A9-0B25-8E85-41CDEB62FC16}"/>
              </a:ext>
            </a:extLst>
          </p:cNvPr>
          <p:cNvPicPr>
            <a:picLocks noChangeAspect="1"/>
          </p:cNvPicPr>
          <p:nvPr/>
        </p:nvPicPr>
        <p:blipFill>
          <a:blip r:embed="rId10"/>
          <a:stretch>
            <a:fillRect/>
          </a:stretch>
        </p:blipFill>
        <p:spPr>
          <a:xfrm>
            <a:off x="1186717" y="5112884"/>
            <a:ext cx="4790683" cy="568318"/>
          </a:xfrm>
          <a:prstGeom prst="rect">
            <a:avLst/>
          </a:prstGeom>
          <a:noFill/>
          <a:ln w="9525">
            <a:noFill/>
          </a:ln>
        </p:spPr>
      </p:pic>
    </p:spTree>
    <p:extLst>
      <p:ext uri="{BB962C8B-B14F-4D97-AF65-F5344CB8AC3E}">
        <p14:creationId xmlns:p14="http://schemas.microsoft.com/office/powerpoint/2010/main" val="422332441"/>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97</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25"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3.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高频</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小信号</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放大器</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6" name="Rectangle 5">
            <a:extLst>
              <a:ext uri="{FF2B5EF4-FFF2-40B4-BE49-F238E27FC236}">
                <a16:creationId xmlns="" xmlns:a16="http://schemas.microsoft.com/office/drawing/2014/main" id="{FED1F71F-B452-C56C-CC56-1E08860912F2}"/>
              </a:ext>
            </a:extLst>
          </p:cNvPr>
          <p:cNvSpPr/>
          <p:nvPr/>
        </p:nvSpPr>
        <p:spPr>
          <a:xfrm>
            <a:off x="746270" y="2406957"/>
            <a:ext cx="2232025" cy="400110"/>
          </a:xfrm>
          <a:prstGeom prst="rect">
            <a:avLst/>
          </a:prstGeom>
          <a:noFill/>
          <a:ln w="9525">
            <a:noFill/>
          </a:ln>
        </p:spPr>
        <p:txBody>
          <a:bodyPr anchor="t" anchorCtr="0">
            <a:spAutoFit/>
          </a:bodyPr>
          <a:lstStyle/>
          <a:p>
            <a:pPr algn="just"/>
            <a:r>
              <a:rPr lang="zh-CN" altLang="en-US" sz="2000" b="1" dirty="0">
                <a:solidFill>
                  <a:schemeClr val="tx1"/>
                </a:solidFill>
                <a:latin typeface="+mn-ea"/>
                <a:ea typeface="+mn-ea"/>
              </a:rPr>
              <a:t>当</a:t>
            </a:r>
            <a:r>
              <a:rPr lang="en-US" altLang="zh-CN" sz="2000" b="1" i="1">
                <a:solidFill>
                  <a:schemeClr val="tx1"/>
                </a:solidFill>
                <a:latin typeface="+mn-ea"/>
                <a:ea typeface="+mn-ea"/>
              </a:rPr>
              <a:t>S</a:t>
            </a:r>
            <a:r>
              <a:rPr lang="en-US" altLang="zh-CN" sz="2000" b="1">
                <a:solidFill>
                  <a:schemeClr val="tx1"/>
                </a:solidFill>
                <a:latin typeface="+mn-ea"/>
                <a:ea typeface="+mn-ea"/>
              </a:rPr>
              <a:t> = 5</a:t>
            </a:r>
            <a:r>
              <a:rPr lang="zh-CN" altLang="en-US" sz="2000" b="1" dirty="0">
                <a:solidFill>
                  <a:schemeClr val="tx1"/>
                </a:solidFill>
                <a:latin typeface="+mn-ea"/>
                <a:ea typeface="+mn-ea"/>
              </a:rPr>
              <a:t>时，</a:t>
            </a:r>
            <a:endParaRPr lang="zh-CN" altLang="en-US" sz="2000" dirty="0">
              <a:solidFill>
                <a:schemeClr val="tx1"/>
              </a:solidFill>
              <a:latin typeface="+mn-ea"/>
              <a:ea typeface="+mn-ea"/>
            </a:endParaRPr>
          </a:p>
        </p:txBody>
      </p:sp>
      <p:graphicFrame>
        <p:nvGraphicFramePr>
          <p:cNvPr id="27" name="Object 10">
            <a:extLst>
              <a:ext uri="{FF2B5EF4-FFF2-40B4-BE49-F238E27FC236}">
                <a16:creationId xmlns="" xmlns:a16="http://schemas.microsoft.com/office/drawing/2014/main" id="{2EF9C3EA-440A-8073-66C6-B78B5D011C59}"/>
              </a:ext>
            </a:extLst>
          </p:cNvPr>
          <p:cNvGraphicFramePr/>
          <p:nvPr>
            <p:extLst>
              <p:ext uri="{D42A27DB-BD31-4B8C-83A1-F6EECF244321}">
                <p14:modId xmlns:p14="http://schemas.microsoft.com/office/powerpoint/2010/main" val="2204325863"/>
              </p:ext>
            </p:extLst>
          </p:nvPr>
        </p:nvGraphicFramePr>
        <p:xfrm>
          <a:off x="2154731" y="2117725"/>
          <a:ext cx="2519363" cy="936625"/>
        </p:xfrm>
        <a:graphic>
          <a:graphicData uri="http://schemas.openxmlformats.org/presentationml/2006/ole">
            <mc:AlternateContent xmlns:mc="http://schemas.openxmlformats.org/markup-compatibility/2006">
              <mc:Choice xmlns:v="urn:schemas-microsoft-com:vml" Requires="v">
                <p:oleObj spid="_x0000_s72751" r:id="rId3" imgW="1193800" imgH="457200" progId="Equation.3">
                  <p:embed/>
                </p:oleObj>
              </mc:Choice>
              <mc:Fallback>
                <p:oleObj r:id="rId3" imgW="1193800" imgH="457200" progId="Equation.3">
                  <p:embed/>
                  <p:pic>
                    <p:nvPicPr>
                      <p:cNvPr id="0" name=""/>
                      <p:cNvPicPr/>
                      <p:nvPr/>
                    </p:nvPicPr>
                    <p:blipFill>
                      <a:blip r:embed="rId4"/>
                      <a:stretch>
                        <a:fillRect/>
                      </a:stretch>
                    </p:blipFill>
                    <p:spPr>
                      <a:xfrm>
                        <a:off x="2154731" y="2117725"/>
                        <a:ext cx="2519363" cy="936625"/>
                      </a:xfrm>
                      <a:prstGeom prst="rect">
                        <a:avLst/>
                      </a:prstGeom>
                      <a:noFill/>
                      <a:ln w="38100">
                        <a:noFill/>
                        <a:miter/>
                      </a:ln>
                    </p:spPr>
                  </p:pic>
                </p:oleObj>
              </mc:Fallback>
            </mc:AlternateContent>
          </a:graphicData>
        </a:graphic>
      </p:graphicFrame>
      <p:sp>
        <p:nvSpPr>
          <p:cNvPr id="28" name="Text Box 8">
            <a:extLst>
              <a:ext uri="{FF2B5EF4-FFF2-40B4-BE49-F238E27FC236}">
                <a16:creationId xmlns="" xmlns:a16="http://schemas.microsoft.com/office/drawing/2014/main" id="{FB35C927-51FD-3AC1-7F07-58A3D915E7AC}"/>
              </a:ext>
            </a:extLst>
          </p:cNvPr>
          <p:cNvSpPr txBox="1"/>
          <p:nvPr/>
        </p:nvSpPr>
        <p:spPr>
          <a:xfrm>
            <a:off x="382232" y="2888296"/>
            <a:ext cx="8459788" cy="799706"/>
          </a:xfrm>
          <a:prstGeom prst="rect">
            <a:avLst/>
          </a:prstGeom>
          <a:noFill/>
          <a:ln w="9525">
            <a:noFill/>
          </a:ln>
        </p:spPr>
        <p:txBody>
          <a:bodyPr anchor="t" anchorCtr="0">
            <a:spAutoFit/>
          </a:bodyPr>
          <a:lstStyle/>
          <a:p>
            <a:pPr>
              <a:lnSpc>
                <a:spcPct val="120000"/>
              </a:lnSpc>
            </a:pPr>
            <a:r>
              <a:rPr lang="zh-CN" altLang="en-US" sz="2000" b="1" dirty="0">
                <a:solidFill>
                  <a:schemeClr val="tx1"/>
                </a:solidFill>
                <a:latin typeface="Times New Roman" panose="02020603050405020304" pitchFamily="18" charset="0"/>
                <a:ea typeface="+mn-ea"/>
              </a:rPr>
              <a:t>　  </a:t>
            </a:r>
            <a:r>
              <a:rPr lang="en-US" altLang="zh-CN" sz="2000" b="1" dirty="0">
                <a:solidFill>
                  <a:srgbClr val="FF0000"/>
                </a:solidFill>
                <a:latin typeface="Times New Roman" panose="02020603050405020304" pitchFamily="18" charset="0"/>
                <a:ea typeface="+mn-ea"/>
              </a:rPr>
              <a:t>(</a:t>
            </a:r>
            <a:r>
              <a:rPr lang="en-US" altLang="zh-CN" sz="2000" b="1" i="1" dirty="0">
                <a:solidFill>
                  <a:srgbClr val="FF0000"/>
                </a:solidFill>
                <a:latin typeface="Times New Roman" panose="02020603050405020304" pitchFamily="18" charset="0"/>
                <a:ea typeface="+mn-ea"/>
              </a:rPr>
              <a:t>A</a:t>
            </a:r>
            <a:r>
              <a:rPr lang="en-US" altLang="zh-CN" sz="2000" b="1" dirty="0">
                <a:solidFill>
                  <a:srgbClr val="FF0000"/>
                </a:solidFill>
                <a:latin typeface="Times New Roman" panose="02020603050405020304" pitchFamily="18" charset="0"/>
                <a:ea typeface="+mn-ea"/>
              </a:rPr>
              <a:t>vo)s</a:t>
            </a:r>
            <a:r>
              <a:rPr lang="zh-CN" altLang="en-US" sz="2000" b="1" dirty="0">
                <a:solidFill>
                  <a:srgbClr val="FF0000"/>
                </a:solidFill>
                <a:latin typeface="Times New Roman" panose="02020603050405020304" pitchFamily="18" charset="0"/>
                <a:ea typeface="+mn-ea"/>
              </a:rPr>
              <a:t>是保持放大器稳定工作所允许的电压增益，为保证放大器稳定工作，</a:t>
            </a:r>
            <a:r>
              <a:rPr lang="en-US" altLang="zh-CN" sz="2000" b="1" i="1" dirty="0">
                <a:solidFill>
                  <a:srgbClr val="FF0000"/>
                </a:solidFill>
                <a:latin typeface="Times New Roman" panose="02020603050405020304" pitchFamily="18" charset="0"/>
                <a:ea typeface="+mn-ea"/>
              </a:rPr>
              <a:t>A</a:t>
            </a:r>
            <a:r>
              <a:rPr lang="en-US" altLang="zh-CN" sz="2000" b="1" dirty="0">
                <a:solidFill>
                  <a:srgbClr val="FF0000"/>
                </a:solidFill>
                <a:latin typeface="Times New Roman" panose="02020603050405020304" pitchFamily="18" charset="0"/>
                <a:ea typeface="+mn-ea"/>
              </a:rPr>
              <a:t>vo</a:t>
            </a:r>
            <a:r>
              <a:rPr lang="zh-CN" altLang="en-US" sz="2000" b="1" dirty="0">
                <a:solidFill>
                  <a:srgbClr val="FF0000"/>
                </a:solidFill>
                <a:latin typeface="Times New Roman" panose="02020603050405020304" pitchFamily="18" charset="0"/>
                <a:ea typeface="+mn-ea"/>
              </a:rPr>
              <a:t>不允许超过</a:t>
            </a:r>
            <a:r>
              <a:rPr lang="en-US" altLang="zh-CN" sz="2000" b="1" dirty="0">
                <a:solidFill>
                  <a:srgbClr val="FF0000"/>
                </a:solidFill>
                <a:latin typeface="Times New Roman" panose="02020603050405020304" pitchFamily="18" charset="0"/>
                <a:ea typeface="+mn-ea"/>
              </a:rPr>
              <a:t>(</a:t>
            </a:r>
            <a:r>
              <a:rPr lang="en-US" altLang="zh-CN" sz="2000" b="1" i="1" dirty="0">
                <a:solidFill>
                  <a:srgbClr val="FF0000"/>
                </a:solidFill>
                <a:latin typeface="Times New Roman" panose="02020603050405020304" pitchFamily="18" charset="0"/>
                <a:ea typeface="+mn-ea"/>
              </a:rPr>
              <a:t>A</a:t>
            </a:r>
            <a:r>
              <a:rPr lang="en-US" altLang="zh-CN" sz="2000" b="1" dirty="0">
                <a:solidFill>
                  <a:srgbClr val="FF0000"/>
                </a:solidFill>
                <a:latin typeface="Times New Roman" panose="02020603050405020304" pitchFamily="18" charset="0"/>
                <a:ea typeface="+mn-ea"/>
              </a:rPr>
              <a:t>vo)s</a:t>
            </a:r>
            <a:r>
              <a:rPr lang="zh-CN" altLang="en-US" sz="2000" b="1" dirty="0">
                <a:solidFill>
                  <a:srgbClr val="FF0000"/>
                </a:solidFill>
                <a:latin typeface="Times New Roman" panose="02020603050405020304" pitchFamily="18" charset="0"/>
                <a:ea typeface="+mn-ea"/>
              </a:rPr>
              <a:t>。</a:t>
            </a:r>
          </a:p>
        </p:txBody>
      </p:sp>
      <p:sp>
        <p:nvSpPr>
          <p:cNvPr id="29" name="矩形 47120">
            <a:extLst>
              <a:ext uri="{FF2B5EF4-FFF2-40B4-BE49-F238E27FC236}">
                <a16:creationId xmlns="" xmlns:a16="http://schemas.microsoft.com/office/drawing/2014/main" id="{1210E9D6-40A7-68C0-746C-6DC49F4CCF26}"/>
              </a:ext>
            </a:extLst>
          </p:cNvPr>
          <p:cNvSpPr/>
          <p:nvPr/>
        </p:nvSpPr>
        <p:spPr>
          <a:xfrm>
            <a:off x="5610117" y="2420951"/>
            <a:ext cx="1723549" cy="400110"/>
          </a:xfrm>
          <a:prstGeom prst="rect">
            <a:avLst/>
          </a:prstGeom>
          <a:noFill/>
          <a:ln w="9525">
            <a:noFill/>
          </a:ln>
        </p:spPr>
        <p:txBody>
          <a:bodyPr wrap="none" anchor="t" anchorCtr="0">
            <a:spAutoFit/>
          </a:bodyPr>
          <a:lstStyle/>
          <a:p>
            <a:pPr algn="ctr"/>
            <a:r>
              <a:rPr lang="zh-CN" altLang="en-US" sz="2000" b="1" dirty="0">
                <a:solidFill>
                  <a:schemeClr val="tx1"/>
                </a:solidFill>
                <a:latin typeface="+mn-ea"/>
                <a:ea typeface="+mn-ea"/>
              </a:rPr>
              <a:t>稳定电压增益</a:t>
            </a:r>
          </a:p>
        </p:txBody>
      </p:sp>
      <p:sp>
        <p:nvSpPr>
          <p:cNvPr id="30" name="AutoShape 19">
            <a:extLst>
              <a:ext uri="{FF2B5EF4-FFF2-40B4-BE49-F238E27FC236}">
                <a16:creationId xmlns="" xmlns:a16="http://schemas.microsoft.com/office/drawing/2014/main" id="{B80126ED-A350-13DE-0B62-3296C6DFEAA1}"/>
              </a:ext>
            </a:extLst>
          </p:cNvPr>
          <p:cNvSpPr/>
          <p:nvPr/>
        </p:nvSpPr>
        <p:spPr>
          <a:xfrm>
            <a:off x="5041228" y="2531725"/>
            <a:ext cx="503237" cy="217488"/>
          </a:xfrm>
          <a:custGeom>
            <a:avLst/>
            <a:gdLst/>
            <a:ahLst/>
            <a:cxnLst>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2147483647"/>
              </a:cxn>
              <a:cxn ang="0">
                <a:pos x="2147483647" y="2147483647"/>
              </a:cxn>
            </a:cxnLst>
            <a:rect l="0" t="0" r="0" b="0"/>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chemeClr val="accent1"/>
          </a:solidFill>
          <a:ln w="9525" cap="flat" cmpd="sng">
            <a:solidFill>
              <a:schemeClr val="tx1"/>
            </a:solidFill>
            <a:prstDash val="solid"/>
            <a:miter/>
            <a:headEnd type="none" w="med" len="med"/>
            <a:tailEnd type="none" w="med" len="med"/>
          </a:ln>
        </p:spPr>
        <p:txBody>
          <a:bodyPr/>
          <a:lstStyle/>
          <a:p>
            <a:endParaRPr lang="zh-CN" altLang="en-US" sz="2000">
              <a:solidFill>
                <a:schemeClr val="tx1"/>
              </a:solidFill>
              <a:latin typeface="+mn-ea"/>
              <a:ea typeface="+mn-ea"/>
            </a:endParaRPr>
          </a:p>
        </p:txBody>
      </p:sp>
      <p:sp>
        <p:nvSpPr>
          <p:cNvPr id="31" name="矩形 2">
            <a:extLst>
              <a:ext uri="{FF2B5EF4-FFF2-40B4-BE49-F238E27FC236}">
                <a16:creationId xmlns="" xmlns:a16="http://schemas.microsoft.com/office/drawing/2014/main" id="{0C3AEC2E-DB8D-DDF1-D079-DF3FC2F6828F}"/>
              </a:ext>
            </a:extLst>
          </p:cNvPr>
          <p:cNvSpPr/>
          <p:nvPr/>
        </p:nvSpPr>
        <p:spPr>
          <a:xfrm>
            <a:off x="356933" y="1653173"/>
            <a:ext cx="8566150" cy="707886"/>
          </a:xfrm>
          <a:prstGeom prst="rect">
            <a:avLst/>
          </a:prstGeom>
          <a:noFill/>
          <a:ln w="9525">
            <a:noFill/>
          </a:ln>
        </p:spPr>
        <p:txBody>
          <a:bodyPr anchor="t" anchorCtr="0">
            <a:spAutoFit/>
          </a:bodyPr>
          <a:lstStyle/>
          <a:p>
            <a:r>
              <a:rPr lang="zh-CN" altLang="en-US" sz="2000" b="1" dirty="0">
                <a:solidFill>
                  <a:schemeClr val="tx1"/>
                </a:solidFill>
                <a:latin typeface="+mn-ea"/>
                <a:ea typeface="+mn-ea"/>
              </a:rPr>
              <a:t>    稳定增益是指不加任何稳定措施，保持放大器稳定工作所允许的最大电压增益。 </a:t>
            </a:r>
          </a:p>
        </p:txBody>
      </p:sp>
    </p:spTree>
    <p:extLst>
      <p:ext uri="{BB962C8B-B14F-4D97-AF65-F5344CB8AC3E}">
        <p14:creationId xmlns:p14="http://schemas.microsoft.com/office/powerpoint/2010/main" val="2486905182"/>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98</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25"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3.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高频</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小信号</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放大器</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Text Box 3">
            <a:extLst>
              <a:ext uri="{FF2B5EF4-FFF2-40B4-BE49-F238E27FC236}">
                <a16:creationId xmlns="" xmlns:a16="http://schemas.microsoft.com/office/drawing/2014/main" id="{5D562674-7776-0F26-D45D-08C721836089}"/>
              </a:ext>
            </a:extLst>
          </p:cNvPr>
          <p:cNvSpPr txBox="1"/>
          <p:nvPr/>
        </p:nvSpPr>
        <p:spPr>
          <a:xfrm>
            <a:off x="592756" y="1677939"/>
            <a:ext cx="8154988" cy="826637"/>
          </a:xfrm>
          <a:prstGeom prst="rect">
            <a:avLst/>
          </a:prstGeom>
          <a:noFill/>
          <a:ln w="9525">
            <a:noFill/>
          </a:ln>
        </p:spPr>
        <p:txBody>
          <a:bodyPr anchor="t" anchorCtr="0">
            <a:spAutoFit/>
          </a:bodyPr>
          <a:lstStyle/>
          <a:p>
            <a:pPr>
              <a:lnSpc>
                <a:spcPct val="125000"/>
              </a:lnSpc>
            </a:pPr>
            <a:r>
              <a:rPr lang="zh-CN" altLang="en-US" sz="2000" dirty="0">
                <a:solidFill>
                  <a:schemeClr val="tx1"/>
                </a:solidFill>
                <a:latin typeface="+mn-ea"/>
                <a:ea typeface="+mn-ea"/>
              </a:rPr>
              <a:t>　　</a:t>
            </a:r>
            <a:r>
              <a:rPr lang="zh-CN" altLang="en-US" sz="2000" b="1" dirty="0">
                <a:solidFill>
                  <a:schemeClr val="tx1"/>
                </a:solidFill>
                <a:latin typeface="+mn-ea"/>
                <a:ea typeface="+mn-ea"/>
              </a:rPr>
              <a:t>由于</a:t>
            </a:r>
            <a:r>
              <a:rPr lang="en-US" altLang="zh-CN" sz="2000" b="1" err="1">
                <a:solidFill>
                  <a:schemeClr val="tx1"/>
                </a:solidFill>
                <a:latin typeface="+mn-ea"/>
                <a:ea typeface="+mn-ea"/>
              </a:rPr>
              <a:t>yre</a:t>
            </a:r>
            <a:r>
              <a:rPr lang="zh-CN" altLang="en-US" sz="2000" b="1" dirty="0">
                <a:solidFill>
                  <a:schemeClr val="tx1"/>
                </a:solidFill>
                <a:latin typeface="+mn-ea"/>
                <a:ea typeface="+mn-ea"/>
              </a:rPr>
              <a:t>的存在，晶体管是一个双向的器件，增强放大器的稳定性可以考虑晶体管的单向化。</a:t>
            </a:r>
          </a:p>
        </p:txBody>
      </p:sp>
      <p:sp>
        <p:nvSpPr>
          <p:cNvPr id="6" name="矩形 68617">
            <a:extLst>
              <a:ext uri="{FF2B5EF4-FFF2-40B4-BE49-F238E27FC236}">
                <a16:creationId xmlns="" xmlns:a16="http://schemas.microsoft.com/office/drawing/2014/main" id="{DAFA25FF-052A-6A36-5285-5FD36076532E}"/>
              </a:ext>
            </a:extLst>
          </p:cNvPr>
          <p:cNvSpPr/>
          <p:nvPr/>
        </p:nvSpPr>
        <p:spPr>
          <a:xfrm>
            <a:off x="3203135" y="1084060"/>
            <a:ext cx="2350323" cy="461665"/>
          </a:xfrm>
          <a:prstGeom prst="rect">
            <a:avLst/>
          </a:prstGeom>
          <a:noFill/>
          <a:ln w="9525">
            <a:noFill/>
          </a:ln>
        </p:spPr>
        <p:txBody>
          <a:bodyPr wrap="none" anchor="t" anchorCtr="0">
            <a:spAutoFit/>
          </a:bodyPr>
          <a:lstStyle/>
          <a:p>
            <a:pPr algn="ctr"/>
            <a:r>
              <a:rPr lang="zh-CN" altLang="en-US" sz="2400" b="1" dirty="0" smtClean="0">
                <a:solidFill>
                  <a:schemeClr val="tx1"/>
                </a:solidFill>
                <a:latin typeface="+mn-ea"/>
                <a:ea typeface="+mn-ea"/>
              </a:rPr>
              <a:t>克服</a:t>
            </a:r>
            <a:r>
              <a:rPr lang="zh-CN" altLang="en-US" sz="2400" b="1" dirty="0">
                <a:solidFill>
                  <a:schemeClr val="tx1"/>
                </a:solidFill>
                <a:latin typeface="+mn-ea"/>
                <a:ea typeface="+mn-ea"/>
              </a:rPr>
              <a:t>自激的方法</a:t>
            </a:r>
          </a:p>
        </p:txBody>
      </p:sp>
      <p:sp>
        <p:nvSpPr>
          <p:cNvPr id="7" name="矩形 6">
            <a:extLst>
              <a:ext uri="{FF2B5EF4-FFF2-40B4-BE49-F238E27FC236}">
                <a16:creationId xmlns="" xmlns:a16="http://schemas.microsoft.com/office/drawing/2014/main" id="{EC7AE22E-77E7-E682-746B-A446796184DD}"/>
              </a:ext>
            </a:extLst>
          </p:cNvPr>
          <p:cNvSpPr/>
          <p:nvPr/>
        </p:nvSpPr>
        <p:spPr>
          <a:xfrm>
            <a:off x="680930" y="3638554"/>
            <a:ext cx="8064500" cy="1980799"/>
          </a:xfrm>
          <a:prstGeom prst="rect">
            <a:avLst/>
          </a:prstGeom>
          <a:noFill/>
          <a:ln w="9525">
            <a:noFill/>
          </a:ln>
        </p:spPr>
        <p:txBody>
          <a:bodyPr anchor="t" anchorCtr="0">
            <a:spAutoFit/>
          </a:bodyPr>
          <a:lstStyle/>
          <a:p>
            <a:pPr>
              <a:lnSpc>
                <a:spcPct val="125000"/>
              </a:lnSpc>
            </a:pPr>
            <a:r>
              <a:rPr lang="zh-CN" altLang="en-US" sz="2000" b="1" dirty="0">
                <a:solidFill>
                  <a:schemeClr val="tx1"/>
                </a:solidFill>
                <a:latin typeface="+mn-ea"/>
                <a:ea typeface="+mn-ea"/>
              </a:rPr>
              <a:t>⑵失配法使</a:t>
            </a:r>
            <a:r>
              <a:rPr lang="en-US" altLang="zh-CN" sz="2000" b="1" dirty="0">
                <a:solidFill>
                  <a:schemeClr val="tx1"/>
                </a:solidFill>
                <a:latin typeface="+mn-ea"/>
                <a:ea typeface="+mn-ea"/>
              </a:rPr>
              <a:t>GL</a:t>
            </a:r>
            <a:r>
              <a:rPr lang="zh-CN" altLang="en-US" sz="2000" b="1" dirty="0">
                <a:solidFill>
                  <a:schemeClr val="tx1"/>
                </a:solidFill>
                <a:latin typeface="+mn-ea"/>
                <a:ea typeface="+mn-ea"/>
              </a:rPr>
              <a:t>或</a:t>
            </a:r>
            <a:r>
              <a:rPr lang="en-US" altLang="zh-CN" sz="2000" b="1" dirty="0" err="1">
                <a:solidFill>
                  <a:schemeClr val="tx1"/>
                </a:solidFill>
                <a:latin typeface="+mn-ea"/>
                <a:ea typeface="+mn-ea"/>
              </a:rPr>
              <a:t>gs</a:t>
            </a:r>
            <a:r>
              <a:rPr lang="zh-CN" altLang="en-US" sz="2000" b="1" dirty="0">
                <a:solidFill>
                  <a:schemeClr val="tx1"/>
                </a:solidFill>
                <a:latin typeface="+mn-ea"/>
                <a:ea typeface="+mn-ea"/>
              </a:rPr>
              <a:t>的数值增大，因而使输入或输出回路与晶体管失去匹配。</a:t>
            </a:r>
          </a:p>
          <a:p>
            <a:pPr>
              <a:lnSpc>
                <a:spcPct val="125000"/>
              </a:lnSpc>
            </a:pPr>
            <a:r>
              <a:rPr lang="zh-CN" altLang="en-US" sz="2000" b="1" dirty="0">
                <a:solidFill>
                  <a:schemeClr val="tx1"/>
                </a:solidFill>
                <a:latin typeface="+mn-ea"/>
                <a:ea typeface="+mn-ea"/>
              </a:rPr>
              <a:t>        </a:t>
            </a:r>
            <a:r>
              <a:rPr lang="zh-CN" altLang="en-US" sz="2000" b="1" dirty="0">
                <a:solidFill>
                  <a:srgbClr val="FF0000"/>
                </a:solidFill>
                <a:latin typeface="+mn-ea"/>
                <a:ea typeface="+mn-ea"/>
              </a:rPr>
              <a:t>失配法：信号源内阻不与晶体管输入阻抗匹配；</a:t>
            </a:r>
          </a:p>
          <a:p>
            <a:pPr>
              <a:lnSpc>
                <a:spcPct val="125000"/>
              </a:lnSpc>
            </a:pPr>
            <a:r>
              <a:rPr lang="zh-CN" altLang="en-US" sz="2000" b="1" dirty="0">
                <a:solidFill>
                  <a:srgbClr val="FF0000"/>
                </a:solidFill>
                <a:latin typeface="+mn-ea"/>
                <a:ea typeface="+mn-ea"/>
              </a:rPr>
              <a:t>        晶体管输出端负载不与晶体管的输出阻抗匹配。</a:t>
            </a:r>
          </a:p>
          <a:p>
            <a:pPr>
              <a:lnSpc>
                <a:spcPct val="125000"/>
              </a:lnSpc>
            </a:pPr>
            <a:r>
              <a:rPr lang="zh-CN" altLang="en-US" sz="2000" b="1" dirty="0">
                <a:solidFill>
                  <a:schemeClr val="tx1"/>
                </a:solidFill>
                <a:latin typeface="+mn-ea"/>
                <a:ea typeface="+mn-ea"/>
              </a:rPr>
              <a:t>        即以</a:t>
            </a:r>
            <a:r>
              <a:rPr lang="zh-CN" altLang="en-US" sz="2000" b="1" dirty="0">
                <a:solidFill>
                  <a:schemeClr val="accent2"/>
                </a:solidFill>
                <a:latin typeface="+mn-ea"/>
                <a:ea typeface="+mn-ea"/>
              </a:rPr>
              <a:t>牺牲电压增益来换取放大器的稳定性</a:t>
            </a:r>
          </a:p>
        </p:txBody>
      </p:sp>
      <p:sp>
        <p:nvSpPr>
          <p:cNvPr id="8" name="矩形 7">
            <a:extLst>
              <a:ext uri="{FF2B5EF4-FFF2-40B4-BE49-F238E27FC236}">
                <a16:creationId xmlns="" xmlns:a16="http://schemas.microsoft.com/office/drawing/2014/main" id="{9A91768A-48B7-B58D-7714-A759F488AEDA}"/>
              </a:ext>
            </a:extLst>
          </p:cNvPr>
          <p:cNvSpPr/>
          <p:nvPr/>
        </p:nvSpPr>
        <p:spPr>
          <a:xfrm>
            <a:off x="584325" y="2484970"/>
            <a:ext cx="7777163" cy="1219436"/>
          </a:xfrm>
          <a:prstGeom prst="rect">
            <a:avLst/>
          </a:prstGeom>
          <a:noFill/>
          <a:ln w="9525">
            <a:noFill/>
          </a:ln>
        </p:spPr>
        <p:txBody>
          <a:bodyPr anchor="t" anchorCtr="0">
            <a:spAutoFit/>
          </a:bodyPr>
          <a:lstStyle/>
          <a:p>
            <a:pPr>
              <a:lnSpc>
                <a:spcPct val="125000"/>
              </a:lnSpc>
            </a:pPr>
            <a:r>
              <a:rPr lang="zh-CN" altLang="en-US" sz="2000" b="1" dirty="0">
                <a:solidFill>
                  <a:schemeClr val="tx1"/>
                </a:solidFill>
                <a:latin typeface="+mn-ea"/>
                <a:ea typeface="+mn-ea"/>
              </a:rPr>
              <a:t>单向化的方法有：</a:t>
            </a:r>
          </a:p>
          <a:p>
            <a:pPr>
              <a:lnSpc>
                <a:spcPct val="125000"/>
              </a:lnSpc>
            </a:pPr>
            <a:r>
              <a:rPr lang="zh-CN" altLang="en-US" sz="2000" b="1" dirty="0">
                <a:solidFill>
                  <a:schemeClr val="tx1"/>
                </a:solidFill>
                <a:latin typeface="+mn-ea"/>
                <a:ea typeface="+mn-ea"/>
              </a:rPr>
              <a:t> ⑴中和法消除</a:t>
            </a:r>
            <a:r>
              <a:rPr lang="en-US" altLang="zh-CN" sz="2000" b="1" dirty="0" err="1">
                <a:solidFill>
                  <a:schemeClr val="tx1"/>
                </a:solidFill>
                <a:latin typeface="+mn-ea"/>
                <a:ea typeface="+mn-ea"/>
              </a:rPr>
              <a:t>yre</a:t>
            </a:r>
            <a:r>
              <a:rPr lang="zh-CN" altLang="en-US" sz="2000" b="1" dirty="0">
                <a:solidFill>
                  <a:schemeClr val="tx1"/>
                </a:solidFill>
                <a:latin typeface="+mn-ea"/>
                <a:ea typeface="+mn-ea"/>
              </a:rPr>
              <a:t>的反馈</a:t>
            </a:r>
          </a:p>
          <a:p>
            <a:pPr>
              <a:lnSpc>
                <a:spcPct val="125000"/>
              </a:lnSpc>
            </a:pPr>
            <a:r>
              <a:rPr lang="zh-CN" altLang="en-US" sz="2000" b="1" dirty="0">
                <a:solidFill>
                  <a:schemeClr val="tx1"/>
                </a:solidFill>
                <a:latin typeface="+mn-ea"/>
                <a:ea typeface="+mn-ea"/>
              </a:rPr>
              <a:t> 中和法</a:t>
            </a:r>
            <a:r>
              <a:rPr lang="en-US" altLang="zh-CN" sz="2000" b="1" dirty="0">
                <a:solidFill>
                  <a:schemeClr val="tx1"/>
                </a:solidFill>
                <a:latin typeface="+mn-ea"/>
                <a:ea typeface="+mn-ea"/>
              </a:rPr>
              <a:t>:</a:t>
            </a:r>
            <a:r>
              <a:rPr lang="zh-CN" altLang="en-US" sz="2000" b="1" dirty="0">
                <a:solidFill>
                  <a:schemeClr val="tx1"/>
                </a:solidFill>
                <a:latin typeface="+mn-ea"/>
                <a:ea typeface="+mn-ea"/>
              </a:rPr>
              <a:t>外加一个电容抵消正反馈电容的作用</a:t>
            </a:r>
            <a:r>
              <a:rPr lang="en-US" altLang="zh-CN" sz="2000" b="1" dirty="0">
                <a:solidFill>
                  <a:schemeClr val="tx1"/>
                </a:solidFill>
                <a:latin typeface="+mn-ea"/>
                <a:ea typeface="+mn-ea"/>
              </a:rPr>
              <a:t>.</a:t>
            </a:r>
            <a:endParaRPr lang="zh-CN" altLang="en-US" sz="2000" b="1" dirty="0">
              <a:solidFill>
                <a:schemeClr val="tx1"/>
              </a:solidFill>
              <a:latin typeface="+mn-ea"/>
              <a:ea typeface="+mn-ea"/>
            </a:endParaRPr>
          </a:p>
        </p:txBody>
      </p:sp>
    </p:spTree>
    <p:extLst>
      <p:ext uri="{BB962C8B-B14F-4D97-AF65-F5344CB8AC3E}">
        <p14:creationId xmlns:p14="http://schemas.microsoft.com/office/powerpoint/2010/main" val="1556091190"/>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99</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25"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3.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高频</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小信号</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放大器</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Text Box 10">
            <a:extLst>
              <a:ext uri="{FF2B5EF4-FFF2-40B4-BE49-F238E27FC236}">
                <a16:creationId xmlns="" xmlns:a16="http://schemas.microsoft.com/office/drawing/2014/main" id="{68511B6B-5D5B-3C28-CE65-B111B5AEE723}"/>
              </a:ext>
            </a:extLst>
          </p:cNvPr>
          <p:cNvSpPr txBox="1"/>
          <p:nvPr/>
        </p:nvSpPr>
        <p:spPr>
          <a:xfrm>
            <a:off x="468188" y="4502451"/>
            <a:ext cx="6904454" cy="707886"/>
          </a:xfrm>
          <a:prstGeom prst="rect">
            <a:avLst/>
          </a:prstGeom>
          <a:noFill/>
          <a:ln w="9525">
            <a:noFill/>
          </a:ln>
        </p:spPr>
        <p:txBody>
          <a:bodyPr wrap="none" anchor="t" anchorCtr="0">
            <a:spAutoFit/>
          </a:bodyPr>
          <a:lstStyle/>
          <a:p>
            <a:r>
              <a:rPr lang="en-US" altLang="zh-CN" sz="2000" b="1" dirty="0">
                <a:solidFill>
                  <a:schemeClr val="tx1"/>
                </a:solidFill>
                <a:latin typeface="+mn-ea"/>
                <a:ea typeface="+mn-ea"/>
              </a:rPr>
              <a:t>    </a:t>
            </a:r>
            <a:r>
              <a:rPr lang="zh-CN" altLang="en-US" sz="2000" b="1" dirty="0">
                <a:solidFill>
                  <a:schemeClr val="tx1"/>
                </a:solidFill>
                <a:latin typeface="+mn-ea"/>
                <a:ea typeface="+mn-ea"/>
              </a:rPr>
              <a:t>电桥平衡时，</a:t>
            </a:r>
            <a:r>
              <a:rPr lang="en-US" altLang="zh-CN" sz="2000" b="1" dirty="0">
                <a:solidFill>
                  <a:schemeClr val="tx1"/>
                </a:solidFill>
                <a:latin typeface="+mn-ea"/>
                <a:ea typeface="+mn-ea"/>
              </a:rPr>
              <a:t>CD</a:t>
            </a:r>
            <a:r>
              <a:rPr lang="zh-CN" altLang="en-US" sz="2000" b="1" dirty="0">
                <a:solidFill>
                  <a:schemeClr val="tx1"/>
                </a:solidFill>
                <a:latin typeface="+mn-ea"/>
                <a:ea typeface="+mn-ea"/>
              </a:rPr>
              <a:t>两端的回路电压   不会反映到</a:t>
            </a:r>
            <a:r>
              <a:rPr lang="en-US" altLang="zh-CN" sz="2000" b="1" dirty="0">
                <a:solidFill>
                  <a:schemeClr val="tx1"/>
                </a:solidFill>
                <a:latin typeface="+mn-ea"/>
                <a:ea typeface="+mn-ea"/>
              </a:rPr>
              <a:t>AB</a:t>
            </a:r>
            <a:r>
              <a:rPr lang="zh-CN" altLang="en-US" sz="2000" b="1" dirty="0">
                <a:solidFill>
                  <a:schemeClr val="tx1"/>
                </a:solidFill>
                <a:latin typeface="+mn-ea"/>
                <a:ea typeface="+mn-ea"/>
              </a:rPr>
              <a:t>两端</a:t>
            </a:r>
            <a:r>
              <a:rPr lang="en-US" altLang="zh-CN" sz="2000" b="1" dirty="0">
                <a:solidFill>
                  <a:schemeClr val="tx1"/>
                </a:solidFill>
                <a:latin typeface="+mn-ea"/>
                <a:ea typeface="+mn-ea"/>
              </a:rPr>
              <a:t>,</a:t>
            </a:r>
          </a:p>
          <a:p>
            <a:r>
              <a:rPr lang="zh-CN" altLang="en-US" sz="2000" b="1" dirty="0">
                <a:solidFill>
                  <a:schemeClr val="tx1"/>
                </a:solidFill>
                <a:latin typeface="+mn-ea"/>
                <a:ea typeface="+mn-ea"/>
              </a:rPr>
              <a:t>即对应两边阻抗之比相等。</a:t>
            </a:r>
          </a:p>
        </p:txBody>
      </p:sp>
      <p:sp>
        <p:nvSpPr>
          <p:cNvPr id="6" name="Rectangle 2">
            <a:extLst>
              <a:ext uri="{FF2B5EF4-FFF2-40B4-BE49-F238E27FC236}">
                <a16:creationId xmlns="" xmlns:a16="http://schemas.microsoft.com/office/drawing/2014/main" id="{013B0A8F-AAA5-6969-40EE-494C6853FAD3}"/>
              </a:ext>
            </a:extLst>
          </p:cNvPr>
          <p:cNvSpPr/>
          <p:nvPr/>
        </p:nvSpPr>
        <p:spPr>
          <a:xfrm>
            <a:off x="468188" y="1196752"/>
            <a:ext cx="8496300" cy="3785652"/>
          </a:xfrm>
          <a:prstGeom prst="rect">
            <a:avLst/>
          </a:prstGeom>
          <a:noFill/>
          <a:ln w="9525">
            <a:noFill/>
          </a:ln>
        </p:spPr>
        <p:txBody>
          <a:bodyPr anchor="t" anchorCtr="0">
            <a:spAutoFit/>
          </a:bodyPr>
          <a:lstStyle/>
          <a:p>
            <a:pPr algn="just"/>
            <a:r>
              <a:rPr lang="en-US" altLang="zh-CN" sz="2000" b="1" dirty="0">
                <a:solidFill>
                  <a:schemeClr val="tx1"/>
                </a:solidFill>
                <a:latin typeface="+mn-ea"/>
                <a:ea typeface="+mn-ea"/>
              </a:rPr>
              <a:t>1</a:t>
            </a:r>
            <a:r>
              <a:rPr lang="zh-CN" altLang="en-US" sz="2000" b="1" dirty="0">
                <a:solidFill>
                  <a:schemeClr val="tx1"/>
                </a:solidFill>
                <a:latin typeface="+mn-ea"/>
                <a:ea typeface="+mn-ea"/>
              </a:rPr>
              <a:t>、中和法：</a:t>
            </a:r>
          </a:p>
          <a:p>
            <a:pPr algn="just" eaLnBrk="0" hangingPunct="0"/>
            <a:r>
              <a:rPr lang="zh-CN" altLang="en-US" sz="2000" b="1" dirty="0">
                <a:solidFill>
                  <a:schemeClr val="tx1"/>
                </a:solidFill>
                <a:latin typeface="+mn-ea"/>
                <a:ea typeface="+mn-ea"/>
              </a:rPr>
              <a:t>    </a:t>
            </a:r>
            <a:r>
              <a:rPr lang="zh-CN" altLang="en-US" sz="2000" b="1" dirty="0">
                <a:solidFill>
                  <a:schemeClr val="accent2"/>
                </a:solidFill>
                <a:latin typeface="+mn-ea"/>
                <a:ea typeface="+mn-ea"/>
              </a:rPr>
              <a:t>在放大器线路中插入一个外加的反馈电路，使它的作用</a:t>
            </a:r>
          </a:p>
          <a:p>
            <a:pPr algn="just" eaLnBrk="0" hangingPunct="0"/>
            <a:r>
              <a:rPr lang="zh-CN" altLang="en-US" sz="2000" b="1" dirty="0">
                <a:solidFill>
                  <a:schemeClr val="accent2"/>
                </a:solidFill>
                <a:latin typeface="+mn-ea"/>
                <a:ea typeface="+mn-ea"/>
              </a:rPr>
              <a:t>恰好和晶体管的内反馈互相抵消。</a:t>
            </a:r>
          </a:p>
          <a:p>
            <a:pPr algn="just" eaLnBrk="0" hangingPunct="0"/>
            <a:r>
              <a:rPr lang="zh-CN" altLang="en-US" sz="2000" b="1" dirty="0">
                <a:solidFill>
                  <a:schemeClr val="tx1"/>
                </a:solidFill>
                <a:latin typeface="+mn-ea"/>
                <a:ea typeface="+mn-ea"/>
              </a:rPr>
              <a:t>    具体线路：</a:t>
            </a:r>
          </a:p>
          <a:p>
            <a:pPr algn="just" eaLnBrk="0" hangingPunct="0"/>
            <a:r>
              <a:rPr lang="zh-CN" altLang="en-US" sz="2000" b="1" dirty="0">
                <a:solidFill>
                  <a:schemeClr val="tx1"/>
                </a:solidFill>
                <a:latin typeface="+mn-ea"/>
                <a:ea typeface="+mn-ea"/>
              </a:rPr>
              <a:t>   </a:t>
            </a:r>
          </a:p>
          <a:p>
            <a:pPr algn="just" eaLnBrk="0" hangingPunct="0"/>
            <a:endParaRPr lang="zh-CN" altLang="en-US" sz="2000" b="1" dirty="0">
              <a:solidFill>
                <a:schemeClr val="tx1"/>
              </a:solidFill>
              <a:latin typeface="+mn-ea"/>
              <a:ea typeface="+mn-ea"/>
            </a:endParaRPr>
          </a:p>
          <a:p>
            <a:pPr algn="just" eaLnBrk="0" hangingPunct="0"/>
            <a:endParaRPr lang="zh-CN" altLang="en-US" sz="2000" b="1" dirty="0">
              <a:solidFill>
                <a:schemeClr val="tx1"/>
              </a:solidFill>
              <a:latin typeface="+mn-ea"/>
              <a:ea typeface="+mn-ea"/>
            </a:endParaRPr>
          </a:p>
          <a:p>
            <a:pPr algn="just" eaLnBrk="0" hangingPunct="0"/>
            <a:r>
              <a:rPr lang="zh-CN" altLang="en-US" sz="2000" b="1" dirty="0">
                <a:solidFill>
                  <a:schemeClr val="tx1"/>
                </a:solidFill>
                <a:latin typeface="+mn-ea"/>
                <a:ea typeface="+mn-ea"/>
              </a:rPr>
              <a:t> </a:t>
            </a:r>
          </a:p>
          <a:p>
            <a:pPr algn="just" eaLnBrk="0" hangingPunct="0"/>
            <a:endParaRPr lang="zh-CN" altLang="en-US" sz="2000" b="1" dirty="0">
              <a:solidFill>
                <a:schemeClr val="tx1"/>
              </a:solidFill>
              <a:latin typeface="+mn-ea"/>
              <a:ea typeface="+mn-ea"/>
            </a:endParaRPr>
          </a:p>
          <a:p>
            <a:pPr algn="just" eaLnBrk="0" hangingPunct="0"/>
            <a:r>
              <a:rPr lang="zh-CN" altLang="en-US" sz="2000" b="1" dirty="0">
                <a:solidFill>
                  <a:schemeClr val="tx1"/>
                </a:solidFill>
                <a:latin typeface="+mn-ea"/>
                <a:ea typeface="+mn-ea"/>
              </a:rPr>
              <a:t>    </a:t>
            </a:r>
            <a:endParaRPr lang="zh-CN" altLang="en-US" sz="2000" dirty="0">
              <a:solidFill>
                <a:schemeClr val="tx1"/>
              </a:solidFill>
              <a:latin typeface="+mn-ea"/>
              <a:ea typeface="+mn-ea"/>
            </a:endParaRPr>
          </a:p>
          <a:p>
            <a:pPr algn="just" eaLnBrk="0" hangingPunct="0"/>
            <a:r>
              <a:rPr lang="zh-CN" altLang="en-US" sz="2000" dirty="0">
                <a:solidFill>
                  <a:schemeClr val="tx1"/>
                </a:solidFill>
                <a:latin typeface="+mn-ea"/>
                <a:ea typeface="+mn-ea"/>
              </a:rPr>
              <a:t>    </a:t>
            </a:r>
          </a:p>
          <a:p>
            <a:pPr eaLnBrk="0" hangingPunct="0"/>
            <a:endParaRPr lang="en-US" altLang="zh-CN" sz="2000" dirty="0">
              <a:solidFill>
                <a:schemeClr val="tx1"/>
              </a:solidFill>
              <a:latin typeface="+mn-ea"/>
              <a:ea typeface="+mn-ea"/>
            </a:endParaRPr>
          </a:p>
        </p:txBody>
      </p:sp>
      <p:graphicFrame>
        <p:nvGraphicFramePr>
          <p:cNvPr id="7" name="Object 1024">
            <a:extLst>
              <a:ext uri="{FF2B5EF4-FFF2-40B4-BE49-F238E27FC236}">
                <a16:creationId xmlns="" xmlns:a16="http://schemas.microsoft.com/office/drawing/2014/main" id="{11E40A0C-B922-243A-35DA-A8B4E30ECA49}"/>
              </a:ext>
            </a:extLst>
          </p:cNvPr>
          <p:cNvGraphicFramePr/>
          <p:nvPr>
            <p:extLst>
              <p:ext uri="{D42A27DB-BD31-4B8C-83A1-F6EECF244321}">
                <p14:modId xmlns:p14="http://schemas.microsoft.com/office/powerpoint/2010/main" val="2526799265"/>
              </p:ext>
            </p:extLst>
          </p:nvPr>
        </p:nvGraphicFramePr>
        <p:xfrm>
          <a:off x="899592" y="2544766"/>
          <a:ext cx="3048000" cy="2073275"/>
        </p:xfrm>
        <a:graphic>
          <a:graphicData uri="http://schemas.openxmlformats.org/presentationml/2006/ole">
            <mc:AlternateContent xmlns:mc="http://schemas.openxmlformats.org/markup-compatibility/2006">
              <mc:Choice xmlns:v="urn:schemas-microsoft-com:vml" Requires="v">
                <p:oleObj spid="_x0000_s73820" r:id="rId3" imgW="2717800" imgH="1828800" progId="Word.Picture.8">
                  <p:embed/>
                </p:oleObj>
              </mc:Choice>
              <mc:Fallback>
                <p:oleObj r:id="rId3" imgW="2717800" imgH="1828800" progId="Word.Picture.8">
                  <p:embed/>
                  <p:pic>
                    <p:nvPicPr>
                      <p:cNvPr id="0" name=""/>
                      <p:cNvPicPr/>
                      <p:nvPr/>
                    </p:nvPicPr>
                    <p:blipFill>
                      <a:blip r:embed="rId4">
                        <a:clrChange>
                          <a:clrFrom>
                            <a:srgbClr val="FFFFFF"/>
                          </a:clrFrom>
                          <a:clrTo>
                            <a:srgbClr val="CCECFF"/>
                          </a:clrTo>
                        </a:clrChange>
                      </a:blip>
                      <a:stretch>
                        <a:fillRect/>
                      </a:stretch>
                    </p:blipFill>
                    <p:spPr>
                      <a:xfrm>
                        <a:off x="899592" y="2544766"/>
                        <a:ext cx="3048000" cy="2073275"/>
                      </a:xfrm>
                      <a:prstGeom prst="rect">
                        <a:avLst/>
                      </a:prstGeom>
                      <a:noFill/>
                      <a:ln w="38100">
                        <a:noFill/>
                        <a:miter/>
                      </a:ln>
                    </p:spPr>
                  </p:pic>
                </p:oleObj>
              </mc:Fallback>
            </mc:AlternateContent>
          </a:graphicData>
        </a:graphic>
      </p:graphicFrame>
      <p:graphicFrame>
        <p:nvGraphicFramePr>
          <p:cNvPr id="8" name="Object 1026">
            <a:extLst>
              <a:ext uri="{FF2B5EF4-FFF2-40B4-BE49-F238E27FC236}">
                <a16:creationId xmlns="" xmlns:a16="http://schemas.microsoft.com/office/drawing/2014/main" id="{9DF52513-70AE-F315-3253-3D6E2DADC944}"/>
              </a:ext>
            </a:extLst>
          </p:cNvPr>
          <p:cNvGraphicFramePr/>
          <p:nvPr>
            <p:extLst>
              <p:ext uri="{D42A27DB-BD31-4B8C-83A1-F6EECF244321}">
                <p14:modId xmlns:p14="http://schemas.microsoft.com/office/powerpoint/2010/main" val="1274885194"/>
              </p:ext>
            </p:extLst>
          </p:nvPr>
        </p:nvGraphicFramePr>
        <p:xfrm>
          <a:off x="4681959" y="4416395"/>
          <a:ext cx="373063" cy="504825"/>
        </p:xfrm>
        <a:graphic>
          <a:graphicData uri="http://schemas.openxmlformats.org/presentationml/2006/ole">
            <mc:AlternateContent xmlns:mc="http://schemas.openxmlformats.org/markup-compatibility/2006">
              <mc:Choice xmlns:v="urn:schemas-microsoft-com:vml" Requires="v">
                <p:oleObj spid="_x0000_s73821" r:id="rId5" imgW="165100" imgH="215900" progId="Equation.3">
                  <p:embed/>
                </p:oleObj>
              </mc:Choice>
              <mc:Fallback>
                <p:oleObj r:id="rId5" imgW="165100" imgH="215900" progId="Equation.3">
                  <p:embed/>
                  <p:pic>
                    <p:nvPicPr>
                      <p:cNvPr id="0" name=""/>
                      <p:cNvPicPr/>
                      <p:nvPr/>
                    </p:nvPicPr>
                    <p:blipFill>
                      <a:blip r:embed="rId6"/>
                      <a:stretch>
                        <a:fillRect/>
                      </a:stretch>
                    </p:blipFill>
                    <p:spPr>
                      <a:xfrm>
                        <a:off x="4681959" y="4416395"/>
                        <a:ext cx="373063" cy="504825"/>
                      </a:xfrm>
                      <a:prstGeom prst="rect">
                        <a:avLst/>
                      </a:prstGeom>
                      <a:noFill/>
                      <a:ln w="38100">
                        <a:noFill/>
                        <a:miter/>
                      </a:ln>
                    </p:spPr>
                  </p:pic>
                </p:oleObj>
              </mc:Fallback>
            </mc:AlternateContent>
          </a:graphicData>
        </a:graphic>
      </p:graphicFrame>
      <p:pic>
        <p:nvPicPr>
          <p:cNvPr id="9" name="图片 8">
            <a:extLst>
              <a:ext uri="{FF2B5EF4-FFF2-40B4-BE49-F238E27FC236}">
                <a16:creationId xmlns="" xmlns:a16="http://schemas.microsoft.com/office/drawing/2014/main" id="{E1F845F0-97CE-F8A1-6129-38D6D8784F90}"/>
              </a:ext>
            </a:extLst>
          </p:cNvPr>
          <p:cNvPicPr>
            <a:picLocks noChangeAspect="1"/>
          </p:cNvPicPr>
          <p:nvPr/>
        </p:nvPicPr>
        <p:blipFill>
          <a:blip r:embed="rId7"/>
          <a:stretch>
            <a:fillRect/>
          </a:stretch>
        </p:blipFill>
        <p:spPr>
          <a:xfrm>
            <a:off x="4932040" y="2516267"/>
            <a:ext cx="2514600" cy="2063750"/>
          </a:xfrm>
          <a:prstGeom prst="rect">
            <a:avLst/>
          </a:prstGeom>
        </p:spPr>
      </p:pic>
    </p:spTree>
    <p:extLst>
      <p:ext uri="{BB962C8B-B14F-4D97-AF65-F5344CB8AC3E}">
        <p14:creationId xmlns:p14="http://schemas.microsoft.com/office/powerpoint/2010/main" val="1447157411"/>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100</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25"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3.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高频</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小信号</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放大器</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矩形 405505">
            <a:extLst>
              <a:ext uri="{FF2B5EF4-FFF2-40B4-BE49-F238E27FC236}">
                <a16:creationId xmlns="" xmlns:a16="http://schemas.microsoft.com/office/drawing/2014/main" id="{035A7128-27D0-0D47-B1E4-5CFB3534F593}"/>
              </a:ext>
            </a:extLst>
          </p:cNvPr>
          <p:cNvSpPr/>
          <p:nvPr/>
        </p:nvSpPr>
        <p:spPr>
          <a:xfrm>
            <a:off x="559307" y="1839898"/>
            <a:ext cx="1943100" cy="476250"/>
          </a:xfrm>
          <a:prstGeom prst="rect">
            <a:avLst/>
          </a:prstGeom>
          <a:noFill/>
          <a:ln w="9525">
            <a:noFill/>
          </a:ln>
        </p:spPr>
        <p:txBody>
          <a:bodyPr anchor="t" anchorCtr="0"/>
          <a:lstStyle/>
          <a:p>
            <a:r>
              <a:rPr lang="en-US" altLang="zh-CN" sz="2000" b="1" dirty="0">
                <a:solidFill>
                  <a:schemeClr val="tx1"/>
                </a:solidFill>
                <a:latin typeface="+mn-ea"/>
                <a:ea typeface="+mn-ea"/>
              </a:rPr>
              <a:t>2.  </a:t>
            </a:r>
            <a:r>
              <a:rPr lang="zh-CN" altLang="en-US" sz="2000" b="1" dirty="0">
                <a:solidFill>
                  <a:schemeClr val="tx1"/>
                </a:solidFill>
                <a:latin typeface="+mn-ea"/>
                <a:ea typeface="+mn-ea"/>
              </a:rPr>
              <a:t>失配法</a:t>
            </a:r>
          </a:p>
        </p:txBody>
      </p:sp>
      <p:sp>
        <p:nvSpPr>
          <p:cNvPr id="6" name="矩形标注 405506">
            <a:extLst>
              <a:ext uri="{FF2B5EF4-FFF2-40B4-BE49-F238E27FC236}">
                <a16:creationId xmlns="" xmlns:a16="http://schemas.microsoft.com/office/drawing/2014/main" id="{5814A494-0F00-AEE8-BEEC-D94565E1AAFC}"/>
              </a:ext>
            </a:extLst>
          </p:cNvPr>
          <p:cNvSpPr/>
          <p:nvPr/>
        </p:nvSpPr>
        <p:spPr>
          <a:xfrm>
            <a:off x="2975482" y="1695435"/>
            <a:ext cx="5872672" cy="760959"/>
          </a:xfrm>
          <a:prstGeom prst="wedgeRectCallout">
            <a:avLst>
              <a:gd name="adj1" fmla="val -66755"/>
              <a:gd name="adj2" fmla="val -19278"/>
            </a:avLst>
          </a:prstGeom>
          <a:noFill/>
          <a:ln w="38100" cap="flat" cmpd="sng">
            <a:solidFill>
              <a:srgbClr val="00CC00"/>
            </a:solidFill>
            <a:prstDash val="solid"/>
            <a:miter/>
            <a:headEnd type="none" w="med" len="med"/>
            <a:tailEnd type="none" w="med" len="med"/>
          </a:ln>
        </p:spPr>
        <p:txBody>
          <a:bodyPr wrap="square" lIns="72000" tIns="72000" rIns="72000" bIns="72000" anchor="t" anchorCtr="0">
            <a:spAutoFit/>
          </a:bodyPr>
          <a:lstStyle/>
          <a:p>
            <a:pPr>
              <a:spcBef>
                <a:spcPct val="20000"/>
              </a:spcBef>
            </a:pPr>
            <a:r>
              <a:rPr lang="zh-CN" altLang="en-US" sz="2000" b="1" dirty="0">
                <a:solidFill>
                  <a:schemeClr val="tx1"/>
                </a:solidFill>
                <a:latin typeface="+mn-ea"/>
                <a:ea typeface="+mn-ea"/>
              </a:rPr>
              <a:t>增大负载导纳</a:t>
            </a:r>
            <a:r>
              <a:rPr lang="en-US" altLang="zh-CN" sz="2000" b="1" i="1" dirty="0">
                <a:solidFill>
                  <a:schemeClr val="tx1"/>
                </a:solidFill>
                <a:latin typeface="+mn-ea"/>
                <a:ea typeface="+mn-ea"/>
              </a:rPr>
              <a:t>Y</a:t>
            </a:r>
            <a:r>
              <a:rPr lang="en-US" altLang="zh-CN" sz="2000" b="1" baseline="-25000" dirty="0">
                <a:solidFill>
                  <a:schemeClr val="tx1"/>
                </a:solidFill>
                <a:latin typeface="+mn-ea"/>
                <a:ea typeface="+mn-ea"/>
              </a:rPr>
              <a:t>L</a:t>
            </a:r>
            <a:r>
              <a:rPr lang="zh-CN" altLang="en-US" sz="2000" b="1" dirty="0">
                <a:solidFill>
                  <a:schemeClr val="tx1"/>
                </a:solidFill>
                <a:latin typeface="+mn-ea"/>
                <a:ea typeface="+mn-ea"/>
              </a:rPr>
              <a:t>，使回路总导纳增大，导致输出回路严重失配，输出电压减小，从而减小内反馈。</a:t>
            </a:r>
          </a:p>
        </p:txBody>
      </p:sp>
      <p:sp>
        <p:nvSpPr>
          <p:cNvPr id="7" name="矩形 6">
            <a:extLst>
              <a:ext uri="{FF2B5EF4-FFF2-40B4-BE49-F238E27FC236}">
                <a16:creationId xmlns="" xmlns:a16="http://schemas.microsoft.com/office/drawing/2014/main" id="{18A1BAC9-D984-2CEB-D566-856EA15AA584}"/>
              </a:ext>
            </a:extLst>
          </p:cNvPr>
          <p:cNvSpPr/>
          <p:nvPr/>
        </p:nvSpPr>
        <p:spPr>
          <a:xfrm>
            <a:off x="256031" y="2497995"/>
            <a:ext cx="8823493" cy="707886"/>
          </a:xfrm>
          <a:prstGeom prst="rect">
            <a:avLst/>
          </a:prstGeom>
          <a:noFill/>
          <a:ln w="25400">
            <a:noFill/>
          </a:ln>
        </p:spPr>
        <p:txBody>
          <a:bodyPr wrap="square" anchor="t" anchorCtr="0">
            <a:spAutoFit/>
          </a:bodyPr>
          <a:lstStyle/>
          <a:p>
            <a:r>
              <a:rPr lang="zh-CN" altLang="en-US" sz="2000" b="1" dirty="0">
                <a:solidFill>
                  <a:srgbClr val="FF0000"/>
                </a:solidFill>
                <a:latin typeface="+mn-ea"/>
                <a:ea typeface="+mn-ea"/>
              </a:rPr>
              <a:t>失配法的实质：是降低放大器的电压增益，</a:t>
            </a:r>
            <a:r>
              <a:rPr lang="zh-CN" altLang="en-US" sz="2000" b="1" dirty="0">
                <a:solidFill>
                  <a:schemeClr val="tx1"/>
                </a:solidFill>
                <a:latin typeface="+mn-ea"/>
                <a:ea typeface="+mn-ea"/>
              </a:rPr>
              <a:t>以满足稳定的要求</a:t>
            </a:r>
            <a:r>
              <a:rPr lang="zh-CN" altLang="en-US" sz="2000" b="1" dirty="0">
                <a:latin typeface="+mn-ea"/>
              </a:rPr>
              <a:t>。在实际应用中，较多的是</a:t>
            </a:r>
            <a:r>
              <a:rPr lang="zh-CN" altLang="en-US" sz="2000" b="1" dirty="0">
                <a:solidFill>
                  <a:srgbClr val="FF0000"/>
                </a:solidFill>
                <a:latin typeface="+mn-ea"/>
              </a:rPr>
              <a:t>采用共射</a:t>
            </a:r>
            <a:r>
              <a:rPr lang="en-US" altLang="zh-CN" sz="2000" b="1" dirty="0">
                <a:solidFill>
                  <a:srgbClr val="FF0000"/>
                </a:solidFill>
                <a:latin typeface="+mn-ea"/>
              </a:rPr>
              <a:t>—</a:t>
            </a:r>
            <a:r>
              <a:rPr lang="zh-CN" altLang="en-US" sz="2000" b="1" dirty="0">
                <a:solidFill>
                  <a:srgbClr val="FF0000"/>
                </a:solidFill>
                <a:latin typeface="+mn-ea"/>
              </a:rPr>
              <a:t>共基级联放大器</a:t>
            </a:r>
            <a:r>
              <a:rPr lang="zh-CN" altLang="en-US" sz="2000" b="1" dirty="0">
                <a:latin typeface="+mn-ea"/>
              </a:rPr>
              <a:t>，其等效电路如图所示。</a:t>
            </a:r>
            <a:endParaRPr lang="zh-CN" altLang="en-US" sz="2000" b="1" dirty="0">
              <a:solidFill>
                <a:schemeClr val="tx1"/>
              </a:solidFill>
              <a:latin typeface="+mn-ea"/>
              <a:ea typeface="+mn-ea"/>
            </a:endParaRPr>
          </a:p>
        </p:txBody>
      </p:sp>
      <p:grpSp>
        <p:nvGrpSpPr>
          <p:cNvPr id="8" name="组合 7">
            <a:extLst>
              <a:ext uri="{FF2B5EF4-FFF2-40B4-BE49-F238E27FC236}">
                <a16:creationId xmlns="" xmlns:a16="http://schemas.microsoft.com/office/drawing/2014/main" id="{DE6CD4F8-50DF-CFFB-6989-C5CEC48D85BC}"/>
              </a:ext>
            </a:extLst>
          </p:cNvPr>
          <p:cNvGrpSpPr/>
          <p:nvPr/>
        </p:nvGrpSpPr>
        <p:grpSpPr>
          <a:xfrm>
            <a:off x="308619" y="3154790"/>
            <a:ext cx="4416789" cy="2172860"/>
            <a:chOff x="355" y="1409"/>
            <a:chExt cx="2627" cy="1603"/>
          </a:xfrm>
        </p:grpSpPr>
        <p:sp>
          <p:nvSpPr>
            <p:cNvPr id="9" name="文本框 405511">
              <a:extLst>
                <a:ext uri="{FF2B5EF4-FFF2-40B4-BE49-F238E27FC236}">
                  <a16:creationId xmlns="" xmlns:a16="http://schemas.microsoft.com/office/drawing/2014/main" id="{139036E3-C512-D0B8-6FA2-874220AFC92B}"/>
                </a:ext>
              </a:extLst>
            </p:cNvPr>
            <p:cNvSpPr txBox="1"/>
            <p:nvPr/>
          </p:nvSpPr>
          <p:spPr>
            <a:xfrm>
              <a:off x="355" y="1442"/>
              <a:ext cx="2586" cy="1570"/>
            </a:xfrm>
            <a:prstGeom prst="rect">
              <a:avLst/>
            </a:prstGeom>
            <a:solidFill>
              <a:srgbClr val="CCECFF"/>
            </a:solidFill>
            <a:ln w="9525">
              <a:noFill/>
            </a:ln>
          </p:spPr>
          <p:txBody>
            <a:bodyPr wrap="none" anchor="t" anchorCtr="0"/>
            <a:lstStyle/>
            <a:p>
              <a:pPr algn="ctr">
                <a:spcBef>
                  <a:spcPct val="50000"/>
                </a:spcBef>
              </a:pPr>
              <a:endParaRPr lang="en-US" altLang="zh-CN" sz="2000" b="1">
                <a:solidFill>
                  <a:schemeClr val="tx1"/>
                </a:solidFill>
                <a:latin typeface="+mn-ea"/>
                <a:ea typeface="+mn-ea"/>
              </a:endParaRPr>
            </a:p>
            <a:p>
              <a:pPr algn="ctr">
                <a:spcBef>
                  <a:spcPct val="50000"/>
                </a:spcBef>
              </a:pPr>
              <a:endParaRPr lang="en-US" altLang="zh-CN" sz="2000" b="1">
                <a:solidFill>
                  <a:schemeClr val="tx1"/>
                </a:solidFill>
                <a:latin typeface="+mn-ea"/>
                <a:ea typeface="+mn-ea"/>
              </a:endParaRPr>
            </a:p>
          </p:txBody>
        </p:sp>
        <p:sp>
          <p:nvSpPr>
            <p:cNvPr id="10" name="文本框 405512">
              <a:extLst>
                <a:ext uri="{FF2B5EF4-FFF2-40B4-BE49-F238E27FC236}">
                  <a16:creationId xmlns="" xmlns:a16="http://schemas.microsoft.com/office/drawing/2014/main" id="{07C0E1D1-C6A8-3E37-0C04-8C49FC1EFE71}"/>
                </a:ext>
              </a:extLst>
            </p:cNvPr>
            <p:cNvSpPr txBox="1"/>
            <p:nvPr/>
          </p:nvSpPr>
          <p:spPr>
            <a:xfrm flipH="1">
              <a:off x="2089" y="1864"/>
              <a:ext cx="198" cy="252"/>
            </a:xfrm>
            <a:prstGeom prst="rect">
              <a:avLst/>
            </a:prstGeom>
            <a:noFill/>
            <a:ln w="25400">
              <a:noFill/>
            </a:ln>
          </p:spPr>
          <p:txBody>
            <a:bodyPr wrap="none" anchor="ctr" anchorCtr="0">
              <a:spAutoFit/>
            </a:bodyPr>
            <a:lstStyle/>
            <a:p>
              <a:pPr algn="ctr"/>
              <a:r>
                <a:rPr lang="en-US" altLang="zh-CN" sz="2000" b="1" i="1">
                  <a:solidFill>
                    <a:schemeClr val="tx1"/>
                  </a:solidFill>
                  <a:latin typeface="+mn-ea"/>
                  <a:ea typeface="+mn-ea"/>
                </a:rPr>
                <a:t>L</a:t>
              </a:r>
              <a:endParaRPr lang="en-US" altLang="zh-CN" sz="2000" b="1">
                <a:solidFill>
                  <a:schemeClr val="tx1"/>
                </a:solidFill>
                <a:latin typeface="+mn-ea"/>
                <a:ea typeface="+mn-ea"/>
              </a:endParaRPr>
            </a:p>
          </p:txBody>
        </p:sp>
        <p:grpSp>
          <p:nvGrpSpPr>
            <p:cNvPr id="11" name="组合 405513">
              <a:extLst>
                <a:ext uri="{FF2B5EF4-FFF2-40B4-BE49-F238E27FC236}">
                  <a16:creationId xmlns="" xmlns:a16="http://schemas.microsoft.com/office/drawing/2014/main" id="{1C948BD5-F624-04CF-26D0-33DD9FAE1BB8}"/>
                </a:ext>
              </a:extLst>
            </p:cNvPr>
            <p:cNvGrpSpPr/>
            <p:nvPr/>
          </p:nvGrpSpPr>
          <p:grpSpPr>
            <a:xfrm>
              <a:off x="2237" y="1764"/>
              <a:ext cx="77" cy="261"/>
              <a:chOff x="4367" y="2160"/>
              <a:chExt cx="97" cy="335"/>
            </a:xfrm>
          </p:grpSpPr>
          <p:sp>
            <p:nvSpPr>
              <p:cNvPr id="66" name="任意多边形 405514">
                <a:extLst>
                  <a:ext uri="{FF2B5EF4-FFF2-40B4-BE49-F238E27FC236}">
                    <a16:creationId xmlns="" xmlns:a16="http://schemas.microsoft.com/office/drawing/2014/main" id="{A6AA7F9E-4AB3-FB9C-2719-0AA8F82CFB10}"/>
                  </a:ext>
                </a:extLst>
              </p:cNvPr>
              <p:cNvSpPr/>
              <p:nvPr/>
            </p:nvSpPr>
            <p:spPr>
              <a:xfrm rot="5400000" flipH="1">
                <a:off x="4359" y="2391"/>
                <a:ext cx="112" cy="96"/>
              </a:xfrm>
              <a:custGeom>
                <a:avLst/>
                <a:gdLst/>
                <a:ahLst/>
                <a:cxnLst>
                  <a:cxn ang="0">
                    <a:pos x="0" y="0"/>
                  </a:cxn>
                  <a:cxn ang="0">
                    <a:pos x="0" y="0"/>
                  </a:cxn>
                  <a:cxn ang="0">
                    <a:pos x="0" y="0"/>
                  </a:cxn>
                  <a:cxn ang="0">
                    <a:pos x="0" y="0"/>
                  </a:cxn>
                  <a:cxn ang="0">
                    <a:pos x="0" y="0"/>
                  </a:cxn>
                  <a:cxn ang="0">
                    <a:pos x="0" y="0"/>
                  </a:cxn>
                  <a:cxn ang="0">
                    <a:pos x="0" y="0"/>
                  </a:cxn>
                </a:cxnLst>
                <a:rect l="0" t="0" r="0" b="0"/>
                <a:pathLst>
                  <a:path w="40136" h="21600" fill="none">
                    <a:moveTo>
                      <a:pt x="0" y="13634"/>
                    </a:moveTo>
                    <a:cubicBezTo>
                      <a:pt x="3170" y="5643"/>
                      <a:pt x="10965" y="0"/>
                      <a:pt x="20078" y="0"/>
                    </a:cubicBezTo>
                    <a:cubicBezTo>
                      <a:pt x="29174" y="0"/>
                      <a:pt x="36956" y="5622"/>
                      <a:pt x="40139" y="13577"/>
                    </a:cubicBezTo>
                  </a:path>
                  <a:path w="40136" h="21600" stroke="0">
                    <a:moveTo>
                      <a:pt x="0" y="13634"/>
                    </a:moveTo>
                    <a:cubicBezTo>
                      <a:pt x="3170" y="5643"/>
                      <a:pt x="10965" y="0"/>
                      <a:pt x="20078" y="0"/>
                    </a:cubicBezTo>
                    <a:cubicBezTo>
                      <a:pt x="29174" y="0"/>
                      <a:pt x="36956" y="5622"/>
                      <a:pt x="40139" y="13577"/>
                    </a:cubicBezTo>
                    <a:lnTo>
                      <a:pt x="20078" y="21600"/>
                    </a:lnTo>
                    <a:lnTo>
                      <a:pt x="0" y="13634"/>
                    </a:lnTo>
                    <a:close/>
                  </a:path>
                </a:pathLst>
              </a:custGeom>
              <a:noFill/>
              <a:ln w="38100" cap="flat" cmpd="sng">
                <a:solidFill>
                  <a:srgbClr val="009900"/>
                </a:solidFill>
                <a:prstDash val="solid"/>
                <a:round/>
                <a:headEnd type="none" w="med" len="med"/>
                <a:tailEnd type="none" w="med" len="med"/>
              </a:ln>
            </p:spPr>
            <p:txBody>
              <a:bodyPr/>
              <a:lstStyle/>
              <a:p>
                <a:endParaRPr lang="zh-CN" altLang="en-US" sz="2000">
                  <a:solidFill>
                    <a:schemeClr val="tx1"/>
                  </a:solidFill>
                  <a:latin typeface="+mn-ea"/>
                  <a:ea typeface="+mn-ea"/>
                </a:endParaRPr>
              </a:p>
            </p:txBody>
          </p:sp>
          <p:sp>
            <p:nvSpPr>
              <p:cNvPr id="67" name="任意多边形 405515">
                <a:extLst>
                  <a:ext uri="{FF2B5EF4-FFF2-40B4-BE49-F238E27FC236}">
                    <a16:creationId xmlns="" xmlns:a16="http://schemas.microsoft.com/office/drawing/2014/main" id="{FDA8B998-0FAC-A9ED-A9C2-A232B3C652BD}"/>
                  </a:ext>
                </a:extLst>
              </p:cNvPr>
              <p:cNvSpPr/>
              <p:nvPr/>
            </p:nvSpPr>
            <p:spPr>
              <a:xfrm rot="5400000" flipH="1">
                <a:off x="4360" y="2280"/>
                <a:ext cx="112" cy="96"/>
              </a:xfrm>
              <a:custGeom>
                <a:avLst/>
                <a:gdLst/>
                <a:ahLst/>
                <a:cxnLst>
                  <a:cxn ang="0">
                    <a:pos x="0" y="0"/>
                  </a:cxn>
                  <a:cxn ang="0">
                    <a:pos x="0" y="0"/>
                  </a:cxn>
                  <a:cxn ang="0">
                    <a:pos x="0" y="0"/>
                  </a:cxn>
                  <a:cxn ang="0">
                    <a:pos x="0" y="0"/>
                  </a:cxn>
                  <a:cxn ang="0">
                    <a:pos x="0" y="0"/>
                  </a:cxn>
                  <a:cxn ang="0">
                    <a:pos x="0" y="0"/>
                  </a:cxn>
                  <a:cxn ang="0">
                    <a:pos x="0" y="0"/>
                  </a:cxn>
                </a:cxnLst>
                <a:rect l="0" t="0" r="0" b="0"/>
                <a:pathLst>
                  <a:path w="40136" h="21600" fill="none">
                    <a:moveTo>
                      <a:pt x="0" y="13634"/>
                    </a:moveTo>
                    <a:cubicBezTo>
                      <a:pt x="3170" y="5643"/>
                      <a:pt x="10965" y="0"/>
                      <a:pt x="20078" y="0"/>
                    </a:cubicBezTo>
                    <a:cubicBezTo>
                      <a:pt x="29174" y="0"/>
                      <a:pt x="36956" y="5622"/>
                      <a:pt x="40139" y="13577"/>
                    </a:cubicBezTo>
                  </a:path>
                  <a:path w="40136" h="21600" stroke="0">
                    <a:moveTo>
                      <a:pt x="0" y="13634"/>
                    </a:moveTo>
                    <a:cubicBezTo>
                      <a:pt x="3170" y="5643"/>
                      <a:pt x="10965" y="0"/>
                      <a:pt x="20078" y="0"/>
                    </a:cubicBezTo>
                    <a:cubicBezTo>
                      <a:pt x="29174" y="0"/>
                      <a:pt x="36956" y="5622"/>
                      <a:pt x="40139" y="13577"/>
                    </a:cubicBezTo>
                    <a:lnTo>
                      <a:pt x="20078" y="21600"/>
                    </a:lnTo>
                    <a:lnTo>
                      <a:pt x="0" y="13634"/>
                    </a:lnTo>
                    <a:close/>
                  </a:path>
                </a:pathLst>
              </a:custGeom>
              <a:noFill/>
              <a:ln w="38100" cap="flat" cmpd="sng">
                <a:solidFill>
                  <a:srgbClr val="009900"/>
                </a:solidFill>
                <a:prstDash val="solid"/>
                <a:round/>
                <a:headEnd type="none" w="med" len="med"/>
                <a:tailEnd type="none" w="med" len="med"/>
              </a:ln>
            </p:spPr>
            <p:txBody>
              <a:bodyPr/>
              <a:lstStyle/>
              <a:p>
                <a:endParaRPr lang="zh-CN" altLang="en-US" sz="2000">
                  <a:solidFill>
                    <a:schemeClr val="tx1"/>
                  </a:solidFill>
                  <a:latin typeface="+mn-ea"/>
                  <a:ea typeface="+mn-ea"/>
                </a:endParaRPr>
              </a:p>
            </p:txBody>
          </p:sp>
          <p:sp>
            <p:nvSpPr>
              <p:cNvPr id="68" name="任意多边形 405516">
                <a:extLst>
                  <a:ext uri="{FF2B5EF4-FFF2-40B4-BE49-F238E27FC236}">
                    <a16:creationId xmlns="" xmlns:a16="http://schemas.microsoft.com/office/drawing/2014/main" id="{AD06A071-463D-96F6-8D07-2A5E05B4AB32}"/>
                  </a:ext>
                </a:extLst>
              </p:cNvPr>
              <p:cNvSpPr/>
              <p:nvPr/>
            </p:nvSpPr>
            <p:spPr>
              <a:xfrm rot="5400000" flipH="1">
                <a:off x="4360" y="2168"/>
                <a:ext cx="112" cy="96"/>
              </a:xfrm>
              <a:custGeom>
                <a:avLst/>
                <a:gdLst/>
                <a:ahLst/>
                <a:cxnLst>
                  <a:cxn ang="0">
                    <a:pos x="0" y="0"/>
                  </a:cxn>
                  <a:cxn ang="0">
                    <a:pos x="0" y="0"/>
                  </a:cxn>
                  <a:cxn ang="0">
                    <a:pos x="0" y="0"/>
                  </a:cxn>
                  <a:cxn ang="0">
                    <a:pos x="0" y="0"/>
                  </a:cxn>
                  <a:cxn ang="0">
                    <a:pos x="0" y="0"/>
                  </a:cxn>
                  <a:cxn ang="0">
                    <a:pos x="0" y="0"/>
                  </a:cxn>
                  <a:cxn ang="0">
                    <a:pos x="0" y="0"/>
                  </a:cxn>
                </a:cxnLst>
                <a:rect l="0" t="0" r="0" b="0"/>
                <a:pathLst>
                  <a:path w="40136" h="21600" fill="none">
                    <a:moveTo>
                      <a:pt x="0" y="13634"/>
                    </a:moveTo>
                    <a:cubicBezTo>
                      <a:pt x="3170" y="5643"/>
                      <a:pt x="10965" y="0"/>
                      <a:pt x="20078" y="0"/>
                    </a:cubicBezTo>
                    <a:cubicBezTo>
                      <a:pt x="29174" y="0"/>
                      <a:pt x="36956" y="5622"/>
                      <a:pt x="40139" y="13577"/>
                    </a:cubicBezTo>
                  </a:path>
                  <a:path w="40136" h="21600" stroke="0">
                    <a:moveTo>
                      <a:pt x="0" y="13634"/>
                    </a:moveTo>
                    <a:cubicBezTo>
                      <a:pt x="3170" y="5643"/>
                      <a:pt x="10965" y="0"/>
                      <a:pt x="20078" y="0"/>
                    </a:cubicBezTo>
                    <a:cubicBezTo>
                      <a:pt x="29174" y="0"/>
                      <a:pt x="36956" y="5622"/>
                      <a:pt x="40139" y="13577"/>
                    </a:cubicBezTo>
                    <a:lnTo>
                      <a:pt x="20078" y="21600"/>
                    </a:lnTo>
                    <a:lnTo>
                      <a:pt x="0" y="13634"/>
                    </a:lnTo>
                    <a:close/>
                  </a:path>
                </a:pathLst>
              </a:custGeom>
              <a:noFill/>
              <a:ln w="38100" cap="flat" cmpd="sng">
                <a:solidFill>
                  <a:srgbClr val="009900"/>
                </a:solidFill>
                <a:prstDash val="solid"/>
                <a:round/>
                <a:headEnd type="none" w="med" len="med"/>
                <a:tailEnd type="none" w="med" len="med"/>
              </a:ln>
            </p:spPr>
            <p:txBody>
              <a:bodyPr/>
              <a:lstStyle/>
              <a:p>
                <a:endParaRPr lang="zh-CN" altLang="en-US" sz="2000">
                  <a:solidFill>
                    <a:schemeClr val="tx1"/>
                  </a:solidFill>
                  <a:latin typeface="+mn-ea"/>
                  <a:ea typeface="+mn-ea"/>
                </a:endParaRPr>
              </a:p>
            </p:txBody>
          </p:sp>
        </p:grpSp>
        <p:sp>
          <p:nvSpPr>
            <p:cNvPr id="12" name="直接连接符 405517">
              <a:extLst>
                <a:ext uri="{FF2B5EF4-FFF2-40B4-BE49-F238E27FC236}">
                  <a16:creationId xmlns="" xmlns:a16="http://schemas.microsoft.com/office/drawing/2014/main" id="{C1EA0865-7434-E95A-36D6-379E638A4F99}"/>
                </a:ext>
              </a:extLst>
            </p:cNvPr>
            <p:cNvSpPr/>
            <p:nvPr/>
          </p:nvSpPr>
          <p:spPr>
            <a:xfrm>
              <a:off x="2275" y="1653"/>
              <a:ext cx="0" cy="111"/>
            </a:xfrm>
            <a:prstGeom prst="line">
              <a:avLst/>
            </a:prstGeom>
            <a:ln w="25400" cap="flat" cmpd="sng">
              <a:solidFill>
                <a:schemeClr val="tx1"/>
              </a:solidFill>
              <a:prstDash val="solid"/>
              <a:round/>
              <a:headEnd type="none" w="med" len="med"/>
              <a:tailEnd type="none" w="med" len="lg"/>
            </a:ln>
          </p:spPr>
        </p:sp>
        <p:sp>
          <p:nvSpPr>
            <p:cNvPr id="13" name="直接连接符 405518">
              <a:extLst>
                <a:ext uri="{FF2B5EF4-FFF2-40B4-BE49-F238E27FC236}">
                  <a16:creationId xmlns="" xmlns:a16="http://schemas.microsoft.com/office/drawing/2014/main" id="{10C03A17-5DB3-DBC2-C628-47B35EA1B33E}"/>
                </a:ext>
              </a:extLst>
            </p:cNvPr>
            <p:cNvSpPr/>
            <p:nvPr/>
          </p:nvSpPr>
          <p:spPr>
            <a:xfrm flipH="1">
              <a:off x="2275" y="2097"/>
              <a:ext cx="0" cy="218"/>
            </a:xfrm>
            <a:prstGeom prst="line">
              <a:avLst/>
            </a:prstGeom>
            <a:ln w="25400" cap="flat" cmpd="sng">
              <a:solidFill>
                <a:schemeClr val="tx1"/>
              </a:solidFill>
              <a:prstDash val="solid"/>
              <a:round/>
              <a:headEnd type="none" w="med" len="med"/>
              <a:tailEnd type="none" w="med" len="lg"/>
            </a:ln>
          </p:spPr>
        </p:sp>
        <p:sp>
          <p:nvSpPr>
            <p:cNvPr id="14" name="直接连接符 405519">
              <a:extLst>
                <a:ext uri="{FF2B5EF4-FFF2-40B4-BE49-F238E27FC236}">
                  <a16:creationId xmlns="" xmlns:a16="http://schemas.microsoft.com/office/drawing/2014/main" id="{87EA20AF-082A-A41C-41CA-324BD68471AA}"/>
                </a:ext>
              </a:extLst>
            </p:cNvPr>
            <p:cNvSpPr/>
            <p:nvPr/>
          </p:nvSpPr>
          <p:spPr>
            <a:xfrm>
              <a:off x="998" y="1840"/>
              <a:ext cx="0" cy="224"/>
            </a:xfrm>
            <a:prstGeom prst="line">
              <a:avLst/>
            </a:prstGeom>
            <a:ln w="38100" cap="flat" cmpd="sng">
              <a:solidFill>
                <a:schemeClr val="tx1"/>
              </a:solidFill>
              <a:prstDash val="solid"/>
              <a:round/>
              <a:headEnd type="none" w="med" len="med"/>
              <a:tailEnd type="none" w="med" len="med"/>
            </a:ln>
          </p:spPr>
        </p:sp>
        <p:sp>
          <p:nvSpPr>
            <p:cNvPr id="15" name="直接连接符 405520">
              <a:extLst>
                <a:ext uri="{FF2B5EF4-FFF2-40B4-BE49-F238E27FC236}">
                  <a16:creationId xmlns="" xmlns:a16="http://schemas.microsoft.com/office/drawing/2014/main" id="{CCD62D0C-2EA1-E57B-A001-E922CAF82471}"/>
                </a:ext>
              </a:extLst>
            </p:cNvPr>
            <p:cNvSpPr/>
            <p:nvPr/>
          </p:nvSpPr>
          <p:spPr>
            <a:xfrm flipV="1">
              <a:off x="998" y="1810"/>
              <a:ext cx="152" cy="112"/>
            </a:xfrm>
            <a:prstGeom prst="line">
              <a:avLst/>
            </a:prstGeom>
            <a:ln w="38100" cap="flat" cmpd="sng">
              <a:solidFill>
                <a:schemeClr val="tx1"/>
              </a:solidFill>
              <a:prstDash val="solid"/>
              <a:round/>
              <a:headEnd type="none" w="med" len="med"/>
              <a:tailEnd type="none" w="med" len="med"/>
            </a:ln>
          </p:spPr>
        </p:sp>
        <p:sp>
          <p:nvSpPr>
            <p:cNvPr id="16" name="直接连接符 405521">
              <a:extLst>
                <a:ext uri="{FF2B5EF4-FFF2-40B4-BE49-F238E27FC236}">
                  <a16:creationId xmlns="" xmlns:a16="http://schemas.microsoft.com/office/drawing/2014/main" id="{BA07E664-4F12-87FC-91F8-663F3EB57DA9}"/>
                </a:ext>
              </a:extLst>
            </p:cNvPr>
            <p:cNvSpPr/>
            <p:nvPr/>
          </p:nvSpPr>
          <p:spPr>
            <a:xfrm>
              <a:off x="991" y="1971"/>
              <a:ext cx="175" cy="93"/>
            </a:xfrm>
            <a:prstGeom prst="line">
              <a:avLst/>
            </a:prstGeom>
            <a:ln w="38100" cap="flat" cmpd="sng">
              <a:solidFill>
                <a:schemeClr val="tx1"/>
              </a:solidFill>
              <a:prstDash val="solid"/>
              <a:round/>
              <a:headEnd type="none" w="med" len="med"/>
              <a:tailEnd type="stealth" w="med" len="med"/>
            </a:ln>
          </p:spPr>
        </p:sp>
        <p:sp>
          <p:nvSpPr>
            <p:cNvPr id="17" name="直接连接符 405522">
              <a:extLst>
                <a:ext uri="{FF2B5EF4-FFF2-40B4-BE49-F238E27FC236}">
                  <a16:creationId xmlns="" xmlns:a16="http://schemas.microsoft.com/office/drawing/2014/main" id="{30632C88-7A46-231A-95A0-1D7094AF89DC}"/>
                </a:ext>
              </a:extLst>
            </p:cNvPr>
            <p:cNvSpPr/>
            <p:nvPr/>
          </p:nvSpPr>
          <p:spPr>
            <a:xfrm>
              <a:off x="1157" y="2052"/>
              <a:ext cx="1" cy="453"/>
            </a:xfrm>
            <a:prstGeom prst="line">
              <a:avLst/>
            </a:prstGeom>
            <a:ln w="25400" cap="flat" cmpd="sng">
              <a:solidFill>
                <a:schemeClr val="tx1"/>
              </a:solidFill>
              <a:prstDash val="solid"/>
              <a:round/>
              <a:headEnd type="none" w="med" len="med"/>
              <a:tailEnd type="none" w="med" len="med"/>
            </a:ln>
          </p:spPr>
        </p:sp>
        <p:sp>
          <p:nvSpPr>
            <p:cNvPr id="18" name="直接连接符 405523">
              <a:extLst>
                <a:ext uri="{FF2B5EF4-FFF2-40B4-BE49-F238E27FC236}">
                  <a16:creationId xmlns="" xmlns:a16="http://schemas.microsoft.com/office/drawing/2014/main" id="{9100EDA2-52B4-96BF-DA2B-122E189AE2E1}"/>
                </a:ext>
              </a:extLst>
            </p:cNvPr>
            <p:cNvSpPr/>
            <p:nvPr/>
          </p:nvSpPr>
          <p:spPr>
            <a:xfrm flipV="1">
              <a:off x="480" y="2435"/>
              <a:ext cx="1600" cy="0"/>
            </a:xfrm>
            <a:prstGeom prst="line">
              <a:avLst/>
            </a:prstGeom>
            <a:ln w="25400" cap="flat" cmpd="sng">
              <a:solidFill>
                <a:schemeClr val="tx1"/>
              </a:solidFill>
              <a:prstDash val="solid"/>
              <a:round/>
              <a:headEnd type="none" w="med" len="med"/>
              <a:tailEnd type="none" w="med" len="med"/>
            </a:ln>
          </p:spPr>
        </p:sp>
        <p:sp>
          <p:nvSpPr>
            <p:cNvPr id="19" name="直接连接符 405524">
              <a:extLst>
                <a:ext uri="{FF2B5EF4-FFF2-40B4-BE49-F238E27FC236}">
                  <a16:creationId xmlns="" xmlns:a16="http://schemas.microsoft.com/office/drawing/2014/main" id="{2F8079D0-A2F4-178D-0730-C0919AAD53E8}"/>
                </a:ext>
              </a:extLst>
            </p:cNvPr>
            <p:cNvSpPr/>
            <p:nvPr/>
          </p:nvSpPr>
          <p:spPr>
            <a:xfrm>
              <a:off x="1076" y="2510"/>
              <a:ext cx="152" cy="0"/>
            </a:xfrm>
            <a:prstGeom prst="line">
              <a:avLst/>
            </a:prstGeom>
            <a:ln w="38100" cap="flat" cmpd="sng">
              <a:solidFill>
                <a:schemeClr val="tx1"/>
              </a:solidFill>
              <a:prstDash val="solid"/>
              <a:round/>
              <a:headEnd type="none" w="med" len="med"/>
              <a:tailEnd type="none" w="med" len="med"/>
            </a:ln>
          </p:spPr>
        </p:sp>
        <p:sp>
          <p:nvSpPr>
            <p:cNvPr id="20" name="直接连接符 405525">
              <a:extLst>
                <a:ext uri="{FF2B5EF4-FFF2-40B4-BE49-F238E27FC236}">
                  <a16:creationId xmlns="" xmlns:a16="http://schemas.microsoft.com/office/drawing/2014/main" id="{6381775F-9FB9-3676-2789-CC7A2928DE3B}"/>
                </a:ext>
              </a:extLst>
            </p:cNvPr>
            <p:cNvSpPr/>
            <p:nvPr/>
          </p:nvSpPr>
          <p:spPr>
            <a:xfrm>
              <a:off x="480" y="1952"/>
              <a:ext cx="521" cy="0"/>
            </a:xfrm>
            <a:prstGeom prst="line">
              <a:avLst/>
            </a:prstGeom>
            <a:ln w="25400" cap="flat" cmpd="sng">
              <a:solidFill>
                <a:schemeClr val="tx1"/>
              </a:solidFill>
              <a:prstDash val="solid"/>
              <a:round/>
              <a:headEnd type="none" w="med" len="med"/>
              <a:tailEnd type="none" w="med" len="med"/>
            </a:ln>
          </p:spPr>
        </p:sp>
        <p:sp>
          <p:nvSpPr>
            <p:cNvPr id="21" name="直接连接符 405526">
              <a:extLst>
                <a:ext uri="{FF2B5EF4-FFF2-40B4-BE49-F238E27FC236}">
                  <a16:creationId xmlns="" xmlns:a16="http://schemas.microsoft.com/office/drawing/2014/main" id="{092F9605-1E71-E43F-8784-7FBC7B8877EC}"/>
                </a:ext>
              </a:extLst>
            </p:cNvPr>
            <p:cNvSpPr/>
            <p:nvPr/>
          </p:nvSpPr>
          <p:spPr>
            <a:xfrm flipV="1">
              <a:off x="1899" y="2304"/>
              <a:ext cx="388" cy="0"/>
            </a:xfrm>
            <a:prstGeom prst="line">
              <a:avLst/>
            </a:prstGeom>
            <a:ln w="25400" cap="flat" cmpd="sng">
              <a:solidFill>
                <a:schemeClr val="tx1"/>
              </a:solidFill>
              <a:prstDash val="solid"/>
              <a:round/>
              <a:headEnd type="none" w="med" len="med"/>
              <a:tailEnd type="none" w="med" len="med"/>
            </a:ln>
          </p:spPr>
        </p:sp>
        <p:sp>
          <p:nvSpPr>
            <p:cNvPr id="22" name="直接连接符 405527">
              <a:extLst>
                <a:ext uri="{FF2B5EF4-FFF2-40B4-BE49-F238E27FC236}">
                  <a16:creationId xmlns="" xmlns:a16="http://schemas.microsoft.com/office/drawing/2014/main" id="{632E3A4C-238D-717F-4F0F-833CA675EF0A}"/>
                </a:ext>
              </a:extLst>
            </p:cNvPr>
            <p:cNvSpPr/>
            <p:nvPr/>
          </p:nvSpPr>
          <p:spPr>
            <a:xfrm>
              <a:off x="1905" y="1653"/>
              <a:ext cx="0" cy="651"/>
            </a:xfrm>
            <a:prstGeom prst="line">
              <a:avLst/>
            </a:prstGeom>
            <a:ln w="25400" cap="flat" cmpd="sng">
              <a:solidFill>
                <a:schemeClr val="tx1"/>
              </a:solidFill>
              <a:prstDash val="solid"/>
              <a:round/>
              <a:headEnd type="none" w="med" len="med"/>
              <a:tailEnd type="none" w="med" len="med"/>
            </a:ln>
          </p:spPr>
        </p:sp>
        <p:grpSp>
          <p:nvGrpSpPr>
            <p:cNvPr id="23" name="组合 405528">
              <a:extLst>
                <a:ext uri="{FF2B5EF4-FFF2-40B4-BE49-F238E27FC236}">
                  <a16:creationId xmlns="" xmlns:a16="http://schemas.microsoft.com/office/drawing/2014/main" id="{E5A03999-DE05-1352-239A-D8264C09DEC8}"/>
                </a:ext>
              </a:extLst>
            </p:cNvPr>
            <p:cNvGrpSpPr/>
            <p:nvPr/>
          </p:nvGrpSpPr>
          <p:grpSpPr>
            <a:xfrm>
              <a:off x="1811" y="1965"/>
              <a:ext cx="189" cy="74"/>
              <a:chOff x="3696" y="2880"/>
              <a:chExt cx="240" cy="96"/>
            </a:xfrm>
          </p:grpSpPr>
          <p:sp>
            <p:nvSpPr>
              <p:cNvPr id="62" name="矩形 405529">
                <a:extLst>
                  <a:ext uri="{FF2B5EF4-FFF2-40B4-BE49-F238E27FC236}">
                    <a16:creationId xmlns="" xmlns:a16="http://schemas.microsoft.com/office/drawing/2014/main" id="{D4AE637C-3DA9-BC0D-C888-0982D7278C8D}"/>
                  </a:ext>
                </a:extLst>
              </p:cNvPr>
              <p:cNvSpPr/>
              <p:nvPr/>
            </p:nvSpPr>
            <p:spPr>
              <a:xfrm>
                <a:off x="3696" y="2880"/>
                <a:ext cx="240" cy="96"/>
              </a:xfrm>
              <a:prstGeom prst="rect">
                <a:avLst/>
              </a:prstGeom>
              <a:solidFill>
                <a:schemeClr val="bg1"/>
              </a:solidFill>
              <a:ln w="25400">
                <a:noFill/>
              </a:ln>
            </p:spPr>
            <p:txBody>
              <a:bodyPr anchor="t" anchorCtr="0"/>
              <a:lstStyle/>
              <a:p>
                <a:endParaRPr lang="zh-CN" altLang="en-US" sz="2000" dirty="0">
                  <a:solidFill>
                    <a:schemeClr val="tx1"/>
                  </a:solidFill>
                  <a:latin typeface="+mn-ea"/>
                  <a:ea typeface="+mn-ea"/>
                </a:endParaRPr>
              </a:p>
            </p:txBody>
          </p:sp>
          <p:grpSp>
            <p:nvGrpSpPr>
              <p:cNvPr id="63" name="组合 405530">
                <a:extLst>
                  <a:ext uri="{FF2B5EF4-FFF2-40B4-BE49-F238E27FC236}">
                    <a16:creationId xmlns="" xmlns:a16="http://schemas.microsoft.com/office/drawing/2014/main" id="{6B2F3CAA-50DB-BDBE-5CDA-FDAB8955BA1C}"/>
                  </a:ext>
                </a:extLst>
              </p:cNvPr>
              <p:cNvGrpSpPr/>
              <p:nvPr/>
            </p:nvGrpSpPr>
            <p:grpSpPr>
              <a:xfrm>
                <a:off x="3696" y="2892"/>
                <a:ext cx="216" cy="72"/>
                <a:chOff x="1236" y="3696"/>
                <a:chExt cx="216" cy="72"/>
              </a:xfrm>
            </p:grpSpPr>
            <p:sp>
              <p:nvSpPr>
                <p:cNvPr id="64" name="直接连接符 405531">
                  <a:extLst>
                    <a:ext uri="{FF2B5EF4-FFF2-40B4-BE49-F238E27FC236}">
                      <a16:creationId xmlns="" xmlns:a16="http://schemas.microsoft.com/office/drawing/2014/main" id="{65D5E183-2B51-B753-5C20-101B62D847C7}"/>
                    </a:ext>
                  </a:extLst>
                </p:cNvPr>
                <p:cNvSpPr/>
                <p:nvPr/>
              </p:nvSpPr>
              <p:spPr>
                <a:xfrm rot="-5400000">
                  <a:off x="1344" y="3660"/>
                  <a:ext cx="0" cy="216"/>
                </a:xfrm>
                <a:prstGeom prst="line">
                  <a:avLst/>
                </a:prstGeom>
                <a:ln w="38100" cap="flat" cmpd="sng">
                  <a:solidFill>
                    <a:schemeClr val="tx1"/>
                  </a:solidFill>
                  <a:prstDash val="solid"/>
                  <a:round/>
                  <a:headEnd type="none" w="med" len="med"/>
                  <a:tailEnd type="none" w="med" len="med"/>
                </a:ln>
              </p:spPr>
            </p:sp>
            <p:sp>
              <p:nvSpPr>
                <p:cNvPr id="65" name="直接连接符 405532">
                  <a:extLst>
                    <a:ext uri="{FF2B5EF4-FFF2-40B4-BE49-F238E27FC236}">
                      <a16:creationId xmlns="" xmlns:a16="http://schemas.microsoft.com/office/drawing/2014/main" id="{6DEE5E0C-9C03-6DD1-2E86-AEFA77458C19}"/>
                    </a:ext>
                  </a:extLst>
                </p:cNvPr>
                <p:cNvSpPr/>
                <p:nvPr/>
              </p:nvSpPr>
              <p:spPr>
                <a:xfrm rot="-5400000">
                  <a:off x="1344" y="3588"/>
                  <a:ext cx="0" cy="216"/>
                </a:xfrm>
                <a:prstGeom prst="line">
                  <a:avLst/>
                </a:prstGeom>
                <a:ln w="38100" cap="flat" cmpd="sng">
                  <a:solidFill>
                    <a:schemeClr val="tx1"/>
                  </a:solidFill>
                  <a:prstDash val="solid"/>
                  <a:round/>
                  <a:headEnd type="none" w="med" len="med"/>
                  <a:tailEnd type="none" w="med" len="med"/>
                </a:ln>
              </p:spPr>
            </p:sp>
          </p:grpSp>
        </p:grpSp>
        <p:sp>
          <p:nvSpPr>
            <p:cNvPr id="24" name="直接连接符 405533">
              <a:extLst>
                <a:ext uri="{FF2B5EF4-FFF2-40B4-BE49-F238E27FC236}">
                  <a16:creationId xmlns="" xmlns:a16="http://schemas.microsoft.com/office/drawing/2014/main" id="{898344C4-5AF6-66F6-222F-AC9BA6BD6D3A}"/>
                </a:ext>
              </a:extLst>
            </p:cNvPr>
            <p:cNvSpPr/>
            <p:nvPr/>
          </p:nvSpPr>
          <p:spPr>
            <a:xfrm>
              <a:off x="472" y="1947"/>
              <a:ext cx="0" cy="119"/>
            </a:xfrm>
            <a:prstGeom prst="line">
              <a:avLst/>
            </a:prstGeom>
            <a:ln w="25400" cap="flat" cmpd="sng">
              <a:solidFill>
                <a:schemeClr val="tx1"/>
              </a:solidFill>
              <a:prstDash val="solid"/>
              <a:round/>
              <a:headEnd type="none" w="med" len="med"/>
              <a:tailEnd type="none" w="med" len="med"/>
            </a:ln>
          </p:spPr>
        </p:sp>
        <p:grpSp>
          <p:nvGrpSpPr>
            <p:cNvPr id="26" name="组合 405534">
              <a:extLst>
                <a:ext uri="{FF2B5EF4-FFF2-40B4-BE49-F238E27FC236}">
                  <a16:creationId xmlns="" xmlns:a16="http://schemas.microsoft.com/office/drawing/2014/main" id="{4A0D18C2-94C3-5295-B61F-DF404D57A2FD}"/>
                </a:ext>
              </a:extLst>
            </p:cNvPr>
            <p:cNvGrpSpPr/>
            <p:nvPr/>
          </p:nvGrpSpPr>
          <p:grpSpPr>
            <a:xfrm flipH="1">
              <a:off x="2375" y="1764"/>
              <a:ext cx="76" cy="261"/>
              <a:chOff x="4367" y="2160"/>
              <a:chExt cx="97" cy="335"/>
            </a:xfrm>
          </p:grpSpPr>
          <p:sp>
            <p:nvSpPr>
              <p:cNvPr id="59" name="任意多边形 405535">
                <a:extLst>
                  <a:ext uri="{FF2B5EF4-FFF2-40B4-BE49-F238E27FC236}">
                    <a16:creationId xmlns="" xmlns:a16="http://schemas.microsoft.com/office/drawing/2014/main" id="{66D4C930-62C2-6AAE-5151-F7CAF4872375}"/>
                  </a:ext>
                </a:extLst>
              </p:cNvPr>
              <p:cNvSpPr/>
              <p:nvPr/>
            </p:nvSpPr>
            <p:spPr>
              <a:xfrm rot="5400000" flipH="1">
                <a:off x="4359" y="2391"/>
                <a:ext cx="112" cy="96"/>
              </a:xfrm>
              <a:custGeom>
                <a:avLst/>
                <a:gdLst/>
                <a:ahLst/>
                <a:cxnLst>
                  <a:cxn ang="0">
                    <a:pos x="0" y="0"/>
                  </a:cxn>
                  <a:cxn ang="0">
                    <a:pos x="0" y="0"/>
                  </a:cxn>
                  <a:cxn ang="0">
                    <a:pos x="0" y="0"/>
                  </a:cxn>
                  <a:cxn ang="0">
                    <a:pos x="0" y="0"/>
                  </a:cxn>
                  <a:cxn ang="0">
                    <a:pos x="0" y="0"/>
                  </a:cxn>
                  <a:cxn ang="0">
                    <a:pos x="0" y="0"/>
                  </a:cxn>
                  <a:cxn ang="0">
                    <a:pos x="0" y="0"/>
                  </a:cxn>
                </a:cxnLst>
                <a:rect l="0" t="0" r="0" b="0"/>
                <a:pathLst>
                  <a:path w="40136" h="21600" fill="none">
                    <a:moveTo>
                      <a:pt x="0" y="13634"/>
                    </a:moveTo>
                    <a:cubicBezTo>
                      <a:pt x="3170" y="5643"/>
                      <a:pt x="10965" y="0"/>
                      <a:pt x="20078" y="0"/>
                    </a:cubicBezTo>
                    <a:cubicBezTo>
                      <a:pt x="29174" y="0"/>
                      <a:pt x="36956" y="5622"/>
                      <a:pt x="40139" y="13577"/>
                    </a:cubicBezTo>
                  </a:path>
                  <a:path w="40136" h="21600" stroke="0">
                    <a:moveTo>
                      <a:pt x="0" y="13634"/>
                    </a:moveTo>
                    <a:cubicBezTo>
                      <a:pt x="3170" y="5643"/>
                      <a:pt x="10965" y="0"/>
                      <a:pt x="20078" y="0"/>
                    </a:cubicBezTo>
                    <a:cubicBezTo>
                      <a:pt x="29174" y="0"/>
                      <a:pt x="36956" y="5622"/>
                      <a:pt x="40139" y="13577"/>
                    </a:cubicBezTo>
                    <a:lnTo>
                      <a:pt x="20078" y="21600"/>
                    </a:lnTo>
                    <a:lnTo>
                      <a:pt x="0" y="13634"/>
                    </a:lnTo>
                    <a:close/>
                  </a:path>
                </a:pathLst>
              </a:custGeom>
              <a:noFill/>
              <a:ln w="38100" cap="flat" cmpd="sng">
                <a:solidFill>
                  <a:srgbClr val="009900"/>
                </a:solidFill>
                <a:prstDash val="solid"/>
                <a:round/>
                <a:headEnd type="none" w="med" len="med"/>
                <a:tailEnd type="none" w="med" len="med"/>
              </a:ln>
            </p:spPr>
            <p:txBody>
              <a:bodyPr/>
              <a:lstStyle/>
              <a:p>
                <a:endParaRPr lang="zh-CN" altLang="en-US" sz="2000">
                  <a:solidFill>
                    <a:schemeClr val="tx1"/>
                  </a:solidFill>
                  <a:latin typeface="+mn-ea"/>
                  <a:ea typeface="+mn-ea"/>
                </a:endParaRPr>
              </a:p>
            </p:txBody>
          </p:sp>
          <p:sp>
            <p:nvSpPr>
              <p:cNvPr id="60" name="任意多边形 405536">
                <a:extLst>
                  <a:ext uri="{FF2B5EF4-FFF2-40B4-BE49-F238E27FC236}">
                    <a16:creationId xmlns="" xmlns:a16="http://schemas.microsoft.com/office/drawing/2014/main" id="{9A6117B8-8D9D-285A-0E3A-F513B10971B4}"/>
                  </a:ext>
                </a:extLst>
              </p:cNvPr>
              <p:cNvSpPr/>
              <p:nvPr/>
            </p:nvSpPr>
            <p:spPr>
              <a:xfrm rot="5400000" flipH="1">
                <a:off x="4360" y="2280"/>
                <a:ext cx="112" cy="96"/>
              </a:xfrm>
              <a:custGeom>
                <a:avLst/>
                <a:gdLst/>
                <a:ahLst/>
                <a:cxnLst>
                  <a:cxn ang="0">
                    <a:pos x="0" y="0"/>
                  </a:cxn>
                  <a:cxn ang="0">
                    <a:pos x="0" y="0"/>
                  </a:cxn>
                  <a:cxn ang="0">
                    <a:pos x="0" y="0"/>
                  </a:cxn>
                  <a:cxn ang="0">
                    <a:pos x="0" y="0"/>
                  </a:cxn>
                  <a:cxn ang="0">
                    <a:pos x="0" y="0"/>
                  </a:cxn>
                  <a:cxn ang="0">
                    <a:pos x="0" y="0"/>
                  </a:cxn>
                  <a:cxn ang="0">
                    <a:pos x="0" y="0"/>
                  </a:cxn>
                </a:cxnLst>
                <a:rect l="0" t="0" r="0" b="0"/>
                <a:pathLst>
                  <a:path w="40136" h="21600" fill="none">
                    <a:moveTo>
                      <a:pt x="0" y="13634"/>
                    </a:moveTo>
                    <a:cubicBezTo>
                      <a:pt x="3170" y="5643"/>
                      <a:pt x="10965" y="0"/>
                      <a:pt x="20078" y="0"/>
                    </a:cubicBezTo>
                    <a:cubicBezTo>
                      <a:pt x="29174" y="0"/>
                      <a:pt x="36956" y="5622"/>
                      <a:pt x="40139" y="13577"/>
                    </a:cubicBezTo>
                  </a:path>
                  <a:path w="40136" h="21600" stroke="0">
                    <a:moveTo>
                      <a:pt x="0" y="13634"/>
                    </a:moveTo>
                    <a:cubicBezTo>
                      <a:pt x="3170" y="5643"/>
                      <a:pt x="10965" y="0"/>
                      <a:pt x="20078" y="0"/>
                    </a:cubicBezTo>
                    <a:cubicBezTo>
                      <a:pt x="29174" y="0"/>
                      <a:pt x="36956" y="5622"/>
                      <a:pt x="40139" y="13577"/>
                    </a:cubicBezTo>
                    <a:lnTo>
                      <a:pt x="20078" y="21600"/>
                    </a:lnTo>
                    <a:lnTo>
                      <a:pt x="0" y="13634"/>
                    </a:lnTo>
                    <a:close/>
                  </a:path>
                </a:pathLst>
              </a:custGeom>
              <a:noFill/>
              <a:ln w="38100" cap="flat" cmpd="sng">
                <a:solidFill>
                  <a:srgbClr val="009900"/>
                </a:solidFill>
                <a:prstDash val="solid"/>
                <a:round/>
                <a:headEnd type="none" w="med" len="med"/>
                <a:tailEnd type="none" w="med" len="med"/>
              </a:ln>
            </p:spPr>
            <p:txBody>
              <a:bodyPr/>
              <a:lstStyle/>
              <a:p>
                <a:endParaRPr lang="zh-CN" altLang="en-US" sz="2000">
                  <a:solidFill>
                    <a:schemeClr val="tx1"/>
                  </a:solidFill>
                  <a:latin typeface="+mn-ea"/>
                  <a:ea typeface="+mn-ea"/>
                </a:endParaRPr>
              </a:p>
            </p:txBody>
          </p:sp>
          <p:sp>
            <p:nvSpPr>
              <p:cNvPr id="61" name="任意多边形 405537">
                <a:extLst>
                  <a:ext uri="{FF2B5EF4-FFF2-40B4-BE49-F238E27FC236}">
                    <a16:creationId xmlns="" xmlns:a16="http://schemas.microsoft.com/office/drawing/2014/main" id="{750D9E7B-43AE-61BD-B2EF-74B439C1C03C}"/>
                  </a:ext>
                </a:extLst>
              </p:cNvPr>
              <p:cNvSpPr/>
              <p:nvPr/>
            </p:nvSpPr>
            <p:spPr>
              <a:xfrm rot="5400000" flipH="1">
                <a:off x="4360" y="2168"/>
                <a:ext cx="112" cy="96"/>
              </a:xfrm>
              <a:custGeom>
                <a:avLst/>
                <a:gdLst/>
                <a:ahLst/>
                <a:cxnLst>
                  <a:cxn ang="0">
                    <a:pos x="0" y="0"/>
                  </a:cxn>
                  <a:cxn ang="0">
                    <a:pos x="0" y="0"/>
                  </a:cxn>
                  <a:cxn ang="0">
                    <a:pos x="0" y="0"/>
                  </a:cxn>
                  <a:cxn ang="0">
                    <a:pos x="0" y="0"/>
                  </a:cxn>
                  <a:cxn ang="0">
                    <a:pos x="0" y="0"/>
                  </a:cxn>
                  <a:cxn ang="0">
                    <a:pos x="0" y="0"/>
                  </a:cxn>
                  <a:cxn ang="0">
                    <a:pos x="0" y="0"/>
                  </a:cxn>
                </a:cxnLst>
                <a:rect l="0" t="0" r="0" b="0"/>
                <a:pathLst>
                  <a:path w="40136" h="21600" fill="none">
                    <a:moveTo>
                      <a:pt x="0" y="13634"/>
                    </a:moveTo>
                    <a:cubicBezTo>
                      <a:pt x="3170" y="5643"/>
                      <a:pt x="10965" y="0"/>
                      <a:pt x="20078" y="0"/>
                    </a:cubicBezTo>
                    <a:cubicBezTo>
                      <a:pt x="29174" y="0"/>
                      <a:pt x="36956" y="5622"/>
                      <a:pt x="40139" y="13577"/>
                    </a:cubicBezTo>
                  </a:path>
                  <a:path w="40136" h="21600" stroke="0">
                    <a:moveTo>
                      <a:pt x="0" y="13634"/>
                    </a:moveTo>
                    <a:cubicBezTo>
                      <a:pt x="3170" y="5643"/>
                      <a:pt x="10965" y="0"/>
                      <a:pt x="20078" y="0"/>
                    </a:cubicBezTo>
                    <a:cubicBezTo>
                      <a:pt x="29174" y="0"/>
                      <a:pt x="36956" y="5622"/>
                      <a:pt x="40139" y="13577"/>
                    </a:cubicBezTo>
                    <a:lnTo>
                      <a:pt x="20078" y="21600"/>
                    </a:lnTo>
                    <a:lnTo>
                      <a:pt x="0" y="13634"/>
                    </a:lnTo>
                    <a:close/>
                  </a:path>
                </a:pathLst>
              </a:custGeom>
              <a:noFill/>
              <a:ln w="38100" cap="flat" cmpd="sng">
                <a:solidFill>
                  <a:srgbClr val="009900"/>
                </a:solidFill>
                <a:prstDash val="solid"/>
                <a:round/>
                <a:headEnd type="none" w="med" len="med"/>
                <a:tailEnd type="none" w="med" len="med"/>
              </a:ln>
            </p:spPr>
            <p:txBody>
              <a:bodyPr/>
              <a:lstStyle/>
              <a:p>
                <a:endParaRPr lang="zh-CN" altLang="en-US" sz="2000">
                  <a:solidFill>
                    <a:schemeClr val="tx1"/>
                  </a:solidFill>
                  <a:latin typeface="+mn-ea"/>
                  <a:ea typeface="+mn-ea"/>
                </a:endParaRPr>
              </a:p>
            </p:txBody>
          </p:sp>
        </p:grpSp>
        <p:sp>
          <p:nvSpPr>
            <p:cNvPr id="27" name="直接连接符 405538">
              <a:extLst>
                <a:ext uri="{FF2B5EF4-FFF2-40B4-BE49-F238E27FC236}">
                  <a16:creationId xmlns="" xmlns:a16="http://schemas.microsoft.com/office/drawing/2014/main" id="{93C35D3F-2CA2-6616-089E-5C0222F732C3}"/>
                </a:ext>
              </a:extLst>
            </p:cNvPr>
            <p:cNvSpPr/>
            <p:nvPr/>
          </p:nvSpPr>
          <p:spPr>
            <a:xfrm flipH="1">
              <a:off x="2413" y="1653"/>
              <a:ext cx="0" cy="117"/>
            </a:xfrm>
            <a:prstGeom prst="line">
              <a:avLst/>
            </a:prstGeom>
            <a:ln w="25400" cap="flat" cmpd="sng">
              <a:solidFill>
                <a:schemeClr val="tx1"/>
              </a:solidFill>
              <a:prstDash val="solid"/>
              <a:round/>
              <a:headEnd type="none" w="med" len="med"/>
              <a:tailEnd type="none" w="med" len="lg"/>
            </a:ln>
          </p:spPr>
        </p:sp>
        <p:sp>
          <p:nvSpPr>
            <p:cNvPr id="28" name="直接连接符 405539">
              <a:extLst>
                <a:ext uri="{FF2B5EF4-FFF2-40B4-BE49-F238E27FC236}">
                  <a16:creationId xmlns="" xmlns:a16="http://schemas.microsoft.com/office/drawing/2014/main" id="{3655A563-9952-89A6-6734-8FC62A5D15C6}"/>
                </a:ext>
              </a:extLst>
            </p:cNvPr>
            <p:cNvSpPr/>
            <p:nvPr/>
          </p:nvSpPr>
          <p:spPr>
            <a:xfrm flipH="1">
              <a:off x="2425" y="2109"/>
              <a:ext cx="0" cy="195"/>
            </a:xfrm>
            <a:prstGeom prst="line">
              <a:avLst/>
            </a:prstGeom>
            <a:ln w="25400" cap="flat" cmpd="sng">
              <a:solidFill>
                <a:schemeClr val="tx1"/>
              </a:solidFill>
              <a:prstDash val="solid"/>
              <a:round/>
              <a:headEnd type="none" w="med" len="med"/>
              <a:tailEnd type="none" w="med" len="lg"/>
            </a:ln>
          </p:spPr>
        </p:sp>
        <p:sp>
          <p:nvSpPr>
            <p:cNvPr id="29" name="直接连接符 405540">
              <a:extLst>
                <a:ext uri="{FF2B5EF4-FFF2-40B4-BE49-F238E27FC236}">
                  <a16:creationId xmlns="" xmlns:a16="http://schemas.microsoft.com/office/drawing/2014/main" id="{EDA36120-409E-F9D0-7617-EBF2254E6BF8}"/>
                </a:ext>
              </a:extLst>
            </p:cNvPr>
            <p:cNvSpPr/>
            <p:nvPr/>
          </p:nvSpPr>
          <p:spPr>
            <a:xfrm rot="5400000" flipH="1">
              <a:off x="2181" y="1959"/>
              <a:ext cx="328" cy="0"/>
            </a:xfrm>
            <a:prstGeom prst="line">
              <a:avLst/>
            </a:prstGeom>
            <a:ln w="25400" cap="flat" cmpd="sng">
              <a:solidFill>
                <a:schemeClr val="tx1"/>
              </a:solidFill>
              <a:prstDash val="solid"/>
              <a:round/>
              <a:headEnd type="none" w="med" len="med"/>
              <a:tailEnd type="none" w="med" len="med"/>
            </a:ln>
          </p:spPr>
        </p:sp>
        <p:sp>
          <p:nvSpPr>
            <p:cNvPr id="30" name="直接连接符 405541">
              <a:extLst>
                <a:ext uri="{FF2B5EF4-FFF2-40B4-BE49-F238E27FC236}">
                  <a16:creationId xmlns="" xmlns:a16="http://schemas.microsoft.com/office/drawing/2014/main" id="{7D384F38-0127-80B6-26FA-17EAA5D70C3D}"/>
                </a:ext>
              </a:extLst>
            </p:cNvPr>
            <p:cNvSpPr/>
            <p:nvPr/>
          </p:nvSpPr>
          <p:spPr>
            <a:xfrm>
              <a:off x="2425" y="2298"/>
              <a:ext cx="377" cy="0"/>
            </a:xfrm>
            <a:prstGeom prst="line">
              <a:avLst/>
            </a:prstGeom>
            <a:ln w="25400" cap="flat" cmpd="sng">
              <a:solidFill>
                <a:schemeClr val="tx1"/>
              </a:solidFill>
              <a:prstDash val="solid"/>
              <a:round/>
              <a:headEnd type="none" w="med" len="med"/>
              <a:tailEnd type="none" w="med" len="med"/>
            </a:ln>
          </p:spPr>
        </p:sp>
        <p:sp>
          <p:nvSpPr>
            <p:cNvPr id="31" name="直接连接符 405542">
              <a:extLst>
                <a:ext uri="{FF2B5EF4-FFF2-40B4-BE49-F238E27FC236}">
                  <a16:creationId xmlns="" xmlns:a16="http://schemas.microsoft.com/office/drawing/2014/main" id="{3E0FDBB2-916B-FC39-7047-909634E76CC2}"/>
                </a:ext>
              </a:extLst>
            </p:cNvPr>
            <p:cNvSpPr/>
            <p:nvPr/>
          </p:nvSpPr>
          <p:spPr>
            <a:xfrm flipH="1">
              <a:off x="480" y="2330"/>
              <a:ext cx="0" cy="118"/>
            </a:xfrm>
            <a:prstGeom prst="line">
              <a:avLst/>
            </a:prstGeom>
            <a:ln w="25400" cap="flat" cmpd="sng">
              <a:solidFill>
                <a:schemeClr val="tx1"/>
              </a:solidFill>
              <a:prstDash val="solid"/>
              <a:round/>
              <a:headEnd type="none" w="med" len="med"/>
              <a:tailEnd type="none" w="med" len="med"/>
            </a:ln>
          </p:spPr>
        </p:sp>
        <p:sp>
          <p:nvSpPr>
            <p:cNvPr id="32" name="直接连接符 405543">
              <a:extLst>
                <a:ext uri="{FF2B5EF4-FFF2-40B4-BE49-F238E27FC236}">
                  <a16:creationId xmlns="" xmlns:a16="http://schemas.microsoft.com/office/drawing/2014/main" id="{263459CC-EB29-7BE0-BD52-E0289F3E0D82}"/>
                </a:ext>
              </a:extLst>
            </p:cNvPr>
            <p:cNvSpPr/>
            <p:nvPr/>
          </p:nvSpPr>
          <p:spPr>
            <a:xfrm flipH="1">
              <a:off x="2082" y="2292"/>
              <a:ext cx="0" cy="150"/>
            </a:xfrm>
            <a:prstGeom prst="line">
              <a:avLst/>
            </a:prstGeom>
            <a:ln w="25400" cap="flat" cmpd="sng">
              <a:solidFill>
                <a:schemeClr val="tx1"/>
              </a:solidFill>
              <a:prstDash val="solid"/>
              <a:round/>
              <a:headEnd type="none" w="med" len="med"/>
              <a:tailEnd type="none" w="med" len="med"/>
            </a:ln>
          </p:spPr>
        </p:sp>
        <p:sp>
          <p:nvSpPr>
            <p:cNvPr id="33" name="直接连接符 405544">
              <a:extLst>
                <a:ext uri="{FF2B5EF4-FFF2-40B4-BE49-F238E27FC236}">
                  <a16:creationId xmlns="" xmlns:a16="http://schemas.microsoft.com/office/drawing/2014/main" id="{1F3622BC-0A4A-8CEF-5572-181B103F84BC}"/>
                </a:ext>
              </a:extLst>
            </p:cNvPr>
            <p:cNvSpPr/>
            <p:nvPr/>
          </p:nvSpPr>
          <p:spPr>
            <a:xfrm>
              <a:off x="1632" y="1654"/>
              <a:ext cx="643" cy="0"/>
            </a:xfrm>
            <a:prstGeom prst="line">
              <a:avLst/>
            </a:prstGeom>
            <a:ln w="28575" cap="flat" cmpd="sng">
              <a:solidFill>
                <a:schemeClr val="tx1"/>
              </a:solidFill>
              <a:prstDash val="solid"/>
              <a:round/>
              <a:headEnd type="none" w="med" len="med"/>
              <a:tailEnd type="none" w="med" len="med"/>
            </a:ln>
          </p:spPr>
        </p:sp>
        <p:sp>
          <p:nvSpPr>
            <p:cNvPr id="34" name="任意多边形 405545">
              <a:extLst>
                <a:ext uri="{FF2B5EF4-FFF2-40B4-BE49-F238E27FC236}">
                  <a16:creationId xmlns="" xmlns:a16="http://schemas.microsoft.com/office/drawing/2014/main" id="{4E06A734-BA16-5604-7B93-FFF0DB459133}"/>
                </a:ext>
              </a:extLst>
            </p:cNvPr>
            <p:cNvSpPr/>
            <p:nvPr/>
          </p:nvSpPr>
          <p:spPr>
            <a:xfrm rot="-5400000">
              <a:off x="421" y="2154"/>
              <a:ext cx="88" cy="75"/>
            </a:xfrm>
            <a:custGeom>
              <a:avLst/>
              <a:gdLst/>
              <a:ahLst/>
              <a:cxnLst>
                <a:cxn ang="0">
                  <a:pos x="0" y="0"/>
                </a:cxn>
                <a:cxn ang="0">
                  <a:pos x="0" y="0"/>
                </a:cxn>
                <a:cxn ang="0">
                  <a:pos x="0" y="0"/>
                </a:cxn>
                <a:cxn ang="0">
                  <a:pos x="0" y="0"/>
                </a:cxn>
                <a:cxn ang="0">
                  <a:pos x="0" y="0"/>
                </a:cxn>
                <a:cxn ang="0">
                  <a:pos x="0" y="0"/>
                </a:cxn>
                <a:cxn ang="0">
                  <a:pos x="0" y="0"/>
                </a:cxn>
              </a:cxnLst>
              <a:rect l="0" t="0" r="0" b="0"/>
              <a:pathLst>
                <a:path w="40136" h="21600" fill="none">
                  <a:moveTo>
                    <a:pt x="0" y="13634"/>
                  </a:moveTo>
                  <a:cubicBezTo>
                    <a:pt x="3170" y="5643"/>
                    <a:pt x="10965" y="0"/>
                    <a:pt x="20078" y="0"/>
                  </a:cubicBezTo>
                  <a:cubicBezTo>
                    <a:pt x="29174" y="0"/>
                    <a:pt x="36956" y="5622"/>
                    <a:pt x="40139" y="13577"/>
                  </a:cubicBezTo>
                </a:path>
                <a:path w="40136" h="21600" stroke="0">
                  <a:moveTo>
                    <a:pt x="0" y="13634"/>
                  </a:moveTo>
                  <a:cubicBezTo>
                    <a:pt x="3170" y="5643"/>
                    <a:pt x="10965" y="0"/>
                    <a:pt x="20078" y="0"/>
                  </a:cubicBezTo>
                  <a:cubicBezTo>
                    <a:pt x="29174" y="0"/>
                    <a:pt x="36956" y="5622"/>
                    <a:pt x="40139" y="13577"/>
                  </a:cubicBezTo>
                  <a:lnTo>
                    <a:pt x="20078" y="21600"/>
                  </a:lnTo>
                  <a:lnTo>
                    <a:pt x="0" y="13634"/>
                  </a:lnTo>
                  <a:close/>
                </a:path>
              </a:pathLst>
            </a:custGeom>
            <a:noFill/>
            <a:ln w="38100" cap="flat" cmpd="sng">
              <a:solidFill>
                <a:schemeClr val="tx2"/>
              </a:solidFill>
              <a:prstDash val="solid"/>
              <a:round/>
              <a:headEnd type="none" w="med" len="med"/>
              <a:tailEnd type="none" w="med" len="med"/>
            </a:ln>
          </p:spPr>
          <p:txBody>
            <a:bodyPr/>
            <a:lstStyle/>
            <a:p>
              <a:endParaRPr lang="zh-CN" altLang="en-US" sz="2000">
                <a:solidFill>
                  <a:schemeClr val="tx1"/>
                </a:solidFill>
                <a:latin typeface="+mn-ea"/>
                <a:ea typeface="+mn-ea"/>
              </a:endParaRPr>
            </a:p>
          </p:txBody>
        </p:sp>
        <p:sp>
          <p:nvSpPr>
            <p:cNvPr id="35" name="任意多边形 405546">
              <a:extLst>
                <a:ext uri="{FF2B5EF4-FFF2-40B4-BE49-F238E27FC236}">
                  <a16:creationId xmlns="" xmlns:a16="http://schemas.microsoft.com/office/drawing/2014/main" id="{B213378A-7794-B4E9-1C8A-9B7235EC204B}"/>
                </a:ext>
              </a:extLst>
            </p:cNvPr>
            <p:cNvSpPr/>
            <p:nvPr/>
          </p:nvSpPr>
          <p:spPr>
            <a:xfrm rot="-5400000">
              <a:off x="422" y="2067"/>
              <a:ext cx="87" cy="75"/>
            </a:xfrm>
            <a:custGeom>
              <a:avLst/>
              <a:gdLst/>
              <a:ahLst/>
              <a:cxnLst>
                <a:cxn ang="0">
                  <a:pos x="0" y="0"/>
                </a:cxn>
                <a:cxn ang="0">
                  <a:pos x="0" y="0"/>
                </a:cxn>
                <a:cxn ang="0">
                  <a:pos x="0" y="0"/>
                </a:cxn>
                <a:cxn ang="0">
                  <a:pos x="0" y="0"/>
                </a:cxn>
                <a:cxn ang="0">
                  <a:pos x="0" y="0"/>
                </a:cxn>
                <a:cxn ang="0">
                  <a:pos x="0" y="0"/>
                </a:cxn>
                <a:cxn ang="0">
                  <a:pos x="0" y="0"/>
                </a:cxn>
              </a:cxnLst>
              <a:rect l="0" t="0" r="0" b="0"/>
              <a:pathLst>
                <a:path w="40136" h="21600" fill="none">
                  <a:moveTo>
                    <a:pt x="0" y="13634"/>
                  </a:moveTo>
                  <a:cubicBezTo>
                    <a:pt x="3170" y="5643"/>
                    <a:pt x="10965" y="0"/>
                    <a:pt x="20078" y="0"/>
                  </a:cubicBezTo>
                  <a:cubicBezTo>
                    <a:pt x="29174" y="0"/>
                    <a:pt x="36956" y="5622"/>
                    <a:pt x="40139" y="13577"/>
                  </a:cubicBezTo>
                </a:path>
                <a:path w="40136" h="21600" stroke="0">
                  <a:moveTo>
                    <a:pt x="0" y="13634"/>
                  </a:moveTo>
                  <a:cubicBezTo>
                    <a:pt x="3170" y="5643"/>
                    <a:pt x="10965" y="0"/>
                    <a:pt x="20078" y="0"/>
                  </a:cubicBezTo>
                  <a:cubicBezTo>
                    <a:pt x="29174" y="0"/>
                    <a:pt x="36956" y="5622"/>
                    <a:pt x="40139" y="13577"/>
                  </a:cubicBezTo>
                  <a:lnTo>
                    <a:pt x="20078" y="21600"/>
                  </a:lnTo>
                  <a:lnTo>
                    <a:pt x="0" y="13634"/>
                  </a:lnTo>
                  <a:close/>
                </a:path>
              </a:pathLst>
            </a:custGeom>
            <a:noFill/>
            <a:ln w="38100" cap="flat" cmpd="sng">
              <a:solidFill>
                <a:schemeClr val="tx2"/>
              </a:solidFill>
              <a:prstDash val="solid"/>
              <a:round/>
              <a:headEnd type="none" w="med" len="med"/>
              <a:tailEnd type="none" w="med" len="med"/>
            </a:ln>
          </p:spPr>
          <p:txBody>
            <a:bodyPr/>
            <a:lstStyle/>
            <a:p>
              <a:endParaRPr lang="zh-CN" altLang="en-US" sz="2000">
                <a:solidFill>
                  <a:schemeClr val="tx1"/>
                </a:solidFill>
                <a:latin typeface="+mn-ea"/>
                <a:ea typeface="+mn-ea"/>
              </a:endParaRPr>
            </a:p>
          </p:txBody>
        </p:sp>
        <p:sp>
          <p:nvSpPr>
            <p:cNvPr id="36" name="直接连接符 405547">
              <a:extLst>
                <a:ext uri="{FF2B5EF4-FFF2-40B4-BE49-F238E27FC236}">
                  <a16:creationId xmlns="" xmlns:a16="http://schemas.microsoft.com/office/drawing/2014/main" id="{06A7D4C4-4406-DF59-A74C-30E85F35F77A}"/>
                </a:ext>
              </a:extLst>
            </p:cNvPr>
            <p:cNvSpPr/>
            <p:nvPr/>
          </p:nvSpPr>
          <p:spPr>
            <a:xfrm flipV="1">
              <a:off x="1146" y="1647"/>
              <a:ext cx="249" cy="0"/>
            </a:xfrm>
            <a:prstGeom prst="line">
              <a:avLst/>
            </a:prstGeom>
            <a:ln w="25400" cap="flat" cmpd="sng">
              <a:solidFill>
                <a:schemeClr val="tx1"/>
              </a:solidFill>
              <a:prstDash val="solid"/>
              <a:round/>
              <a:headEnd type="none" w="med" len="med"/>
              <a:tailEnd type="none" w="med" len="med"/>
            </a:ln>
          </p:spPr>
        </p:sp>
        <p:sp>
          <p:nvSpPr>
            <p:cNvPr id="37" name="椭圆 405548">
              <a:extLst>
                <a:ext uri="{FF2B5EF4-FFF2-40B4-BE49-F238E27FC236}">
                  <a16:creationId xmlns="" xmlns:a16="http://schemas.microsoft.com/office/drawing/2014/main" id="{F118C3E4-030A-754F-FC0D-C19B47A46C0B}"/>
                </a:ext>
              </a:extLst>
            </p:cNvPr>
            <p:cNvSpPr/>
            <p:nvPr/>
          </p:nvSpPr>
          <p:spPr>
            <a:xfrm>
              <a:off x="1130" y="2414"/>
              <a:ext cx="45" cy="45"/>
            </a:xfrm>
            <a:prstGeom prst="ellipse">
              <a:avLst/>
            </a:prstGeom>
            <a:solidFill>
              <a:schemeClr val="tx1"/>
            </a:solidFill>
            <a:ln w="9525" cap="flat" cmpd="sng">
              <a:solidFill>
                <a:srgbClr val="000000"/>
              </a:solidFill>
              <a:prstDash val="solid"/>
              <a:round/>
              <a:headEnd type="none" w="med" len="med"/>
              <a:tailEnd type="none" w="med" len="med"/>
            </a:ln>
          </p:spPr>
          <p:txBody>
            <a:bodyPr anchor="t" anchorCtr="0"/>
            <a:lstStyle/>
            <a:p>
              <a:endParaRPr lang="zh-CN" altLang="en-US" sz="2000" dirty="0">
                <a:solidFill>
                  <a:schemeClr val="tx1"/>
                </a:solidFill>
                <a:latin typeface="+mn-ea"/>
                <a:ea typeface="+mn-ea"/>
              </a:endParaRPr>
            </a:p>
          </p:txBody>
        </p:sp>
        <p:sp>
          <p:nvSpPr>
            <p:cNvPr id="38" name="任意多边形 405549">
              <a:extLst>
                <a:ext uri="{FF2B5EF4-FFF2-40B4-BE49-F238E27FC236}">
                  <a16:creationId xmlns="" xmlns:a16="http://schemas.microsoft.com/office/drawing/2014/main" id="{C6E57060-5A9A-72B4-9B9E-0E3BB915194B}"/>
                </a:ext>
              </a:extLst>
            </p:cNvPr>
            <p:cNvSpPr/>
            <p:nvPr/>
          </p:nvSpPr>
          <p:spPr>
            <a:xfrm rot="-5400000">
              <a:off x="427" y="2238"/>
              <a:ext cx="88" cy="75"/>
            </a:xfrm>
            <a:custGeom>
              <a:avLst/>
              <a:gdLst/>
              <a:ahLst/>
              <a:cxnLst>
                <a:cxn ang="0">
                  <a:pos x="0" y="0"/>
                </a:cxn>
                <a:cxn ang="0">
                  <a:pos x="0" y="0"/>
                </a:cxn>
                <a:cxn ang="0">
                  <a:pos x="0" y="0"/>
                </a:cxn>
                <a:cxn ang="0">
                  <a:pos x="0" y="0"/>
                </a:cxn>
                <a:cxn ang="0">
                  <a:pos x="0" y="0"/>
                </a:cxn>
                <a:cxn ang="0">
                  <a:pos x="0" y="0"/>
                </a:cxn>
                <a:cxn ang="0">
                  <a:pos x="0" y="0"/>
                </a:cxn>
              </a:cxnLst>
              <a:rect l="0" t="0" r="0" b="0"/>
              <a:pathLst>
                <a:path w="40136" h="21600" fill="none">
                  <a:moveTo>
                    <a:pt x="0" y="13634"/>
                  </a:moveTo>
                  <a:cubicBezTo>
                    <a:pt x="3170" y="5643"/>
                    <a:pt x="10965" y="0"/>
                    <a:pt x="20078" y="0"/>
                  </a:cubicBezTo>
                  <a:cubicBezTo>
                    <a:pt x="29174" y="0"/>
                    <a:pt x="36956" y="5622"/>
                    <a:pt x="40139" y="13577"/>
                  </a:cubicBezTo>
                </a:path>
                <a:path w="40136" h="21600" stroke="0">
                  <a:moveTo>
                    <a:pt x="0" y="13634"/>
                  </a:moveTo>
                  <a:cubicBezTo>
                    <a:pt x="3170" y="5643"/>
                    <a:pt x="10965" y="0"/>
                    <a:pt x="20078" y="0"/>
                  </a:cubicBezTo>
                  <a:cubicBezTo>
                    <a:pt x="29174" y="0"/>
                    <a:pt x="36956" y="5622"/>
                    <a:pt x="40139" y="13577"/>
                  </a:cubicBezTo>
                  <a:lnTo>
                    <a:pt x="20078" y="21600"/>
                  </a:lnTo>
                  <a:lnTo>
                    <a:pt x="0" y="13634"/>
                  </a:lnTo>
                  <a:close/>
                </a:path>
              </a:pathLst>
            </a:custGeom>
            <a:noFill/>
            <a:ln w="38100" cap="flat" cmpd="sng">
              <a:solidFill>
                <a:schemeClr val="tx2"/>
              </a:solidFill>
              <a:prstDash val="solid"/>
              <a:round/>
              <a:headEnd type="none" w="med" len="med"/>
              <a:tailEnd type="none" w="med" len="med"/>
            </a:ln>
          </p:spPr>
          <p:txBody>
            <a:bodyPr/>
            <a:lstStyle/>
            <a:p>
              <a:endParaRPr lang="zh-CN" altLang="en-US" sz="2000">
                <a:solidFill>
                  <a:schemeClr val="tx1"/>
                </a:solidFill>
                <a:latin typeface="+mn-ea"/>
                <a:ea typeface="+mn-ea"/>
              </a:endParaRPr>
            </a:p>
          </p:txBody>
        </p:sp>
        <p:sp>
          <p:nvSpPr>
            <p:cNvPr id="39" name="矩形 405550">
              <a:extLst>
                <a:ext uri="{FF2B5EF4-FFF2-40B4-BE49-F238E27FC236}">
                  <a16:creationId xmlns="" xmlns:a16="http://schemas.microsoft.com/office/drawing/2014/main" id="{399738C9-52AD-8E02-E83F-715A53B0A5C8}"/>
                </a:ext>
              </a:extLst>
            </p:cNvPr>
            <p:cNvSpPr/>
            <p:nvPr/>
          </p:nvSpPr>
          <p:spPr>
            <a:xfrm>
              <a:off x="2682" y="1719"/>
              <a:ext cx="300" cy="520"/>
            </a:xfrm>
            <a:prstGeom prst="rect">
              <a:avLst/>
            </a:prstGeom>
            <a:noFill/>
            <a:ln w="9525">
              <a:noFill/>
            </a:ln>
          </p:spPr>
          <p:txBody>
            <a:bodyPr anchor="t" anchorCtr="0">
              <a:spAutoFit/>
            </a:bodyPr>
            <a:lstStyle/>
            <a:p>
              <a:pPr>
                <a:lnSpc>
                  <a:spcPct val="80000"/>
                </a:lnSpc>
              </a:pPr>
              <a:r>
                <a:rPr lang="en-US" altLang="zh-CN" sz="2000" b="1">
                  <a:solidFill>
                    <a:schemeClr val="tx1"/>
                  </a:solidFill>
                  <a:latin typeface="+mn-ea"/>
                  <a:ea typeface="+mn-ea"/>
                </a:rPr>
                <a:t>+</a:t>
              </a:r>
            </a:p>
            <a:p>
              <a:pPr>
                <a:lnSpc>
                  <a:spcPct val="80000"/>
                </a:lnSpc>
              </a:pPr>
              <a:endParaRPr lang="en-US" altLang="zh-CN" sz="2000" b="1">
                <a:solidFill>
                  <a:schemeClr val="tx1"/>
                </a:solidFill>
                <a:latin typeface="+mn-ea"/>
                <a:ea typeface="+mn-ea"/>
              </a:endParaRPr>
            </a:p>
            <a:p>
              <a:pPr>
                <a:lnSpc>
                  <a:spcPct val="80000"/>
                </a:lnSpc>
              </a:pPr>
              <a:r>
                <a:rPr lang="en-US" altLang="zh-CN" sz="2000" b="1">
                  <a:solidFill>
                    <a:schemeClr val="tx1"/>
                  </a:solidFill>
                  <a:latin typeface="+mn-ea"/>
                  <a:ea typeface="+mn-ea"/>
                </a:rPr>
                <a:t>–</a:t>
              </a:r>
            </a:p>
          </p:txBody>
        </p:sp>
        <p:graphicFrame>
          <p:nvGraphicFramePr>
            <p:cNvPr id="40" name="对象 405551">
              <a:extLst>
                <a:ext uri="{FF2B5EF4-FFF2-40B4-BE49-F238E27FC236}">
                  <a16:creationId xmlns="" xmlns:a16="http://schemas.microsoft.com/office/drawing/2014/main" id="{1D863285-6E33-4A0F-B77E-2579CF98B6C6}"/>
                </a:ext>
              </a:extLst>
            </p:cNvPr>
            <p:cNvGraphicFramePr/>
            <p:nvPr/>
          </p:nvGraphicFramePr>
          <p:xfrm>
            <a:off x="492" y="2052"/>
            <a:ext cx="228" cy="274"/>
          </p:xfrm>
          <a:graphic>
            <a:graphicData uri="http://schemas.openxmlformats.org/presentationml/2006/ole">
              <mc:AlternateContent xmlns:mc="http://schemas.openxmlformats.org/markup-compatibility/2006">
                <mc:Choice xmlns:v="urn:schemas-microsoft-com:vml" Requires="v">
                  <p:oleObj spid="_x0000_s74846" r:id="rId3" imgW="165100" imgH="215900" progId="Equation.3">
                    <p:embed/>
                  </p:oleObj>
                </mc:Choice>
                <mc:Fallback>
                  <p:oleObj r:id="rId3" imgW="165100" imgH="215900" progId="Equation.3">
                    <p:embed/>
                    <p:pic>
                      <p:nvPicPr>
                        <p:cNvPr id="0" name=""/>
                        <p:cNvPicPr/>
                        <p:nvPr/>
                      </p:nvPicPr>
                      <p:blipFill>
                        <a:blip r:embed="rId4">
                          <a:clrChange>
                            <a:clrFrom>
                              <a:srgbClr val="000000"/>
                            </a:clrFrom>
                            <a:clrTo>
                              <a:srgbClr val="FF0066"/>
                            </a:clrTo>
                          </a:clrChange>
                        </a:blip>
                        <a:stretch>
                          <a:fillRect/>
                        </a:stretch>
                      </p:blipFill>
                      <p:spPr>
                        <a:xfrm>
                          <a:off x="492" y="2052"/>
                          <a:ext cx="228" cy="274"/>
                        </a:xfrm>
                        <a:prstGeom prst="rect">
                          <a:avLst/>
                        </a:prstGeom>
                        <a:noFill/>
                        <a:ln w="38100">
                          <a:noFill/>
                          <a:miter/>
                        </a:ln>
                      </p:spPr>
                    </p:pic>
                  </p:oleObj>
                </mc:Fallback>
              </mc:AlternateContent>
            </a:graphicData>
          </a:graphic>
        </p:graphicFrame>
        <p:graphicFrame>
          <p:nvGraphicFramePr>
            <p:cNvPr id="41" name="对象 405552">
              <a:extLst>
                <a:ext uri="{FF2B5EF4-FFF2-40B4-BE49-F238E27FC236}">
                  <a16:creationId xmlns="" xmlns:a16="http://schemas.microsoft.com/office/drawing/2014/main" id="{3A3D19C8-7BA0-567A-F09F-EED3E4480396}"/>
                </a:ext>
              </a:extLst>
            </p:cNvPr>
            <p:cNvGraphicFramePr/>
            <p:nvPr/>
          </p:nvGraphicFramePr>
          <p:xfrm>
            <a:off x="2697" y="1859"/>
            <a:ext cx="243" cy="289"/>
          </p:xfrm>
          <a:graphic>
            <a:graphicData uri="http://schemas.openxmlformats.org/presentationml/2006/ole">
              <mc:AlternateContent xmlns:mc="http://schemas.openxmlformats.org/markup-compatibility/2006">
                <mc:Choice xmlns:v="urn:schemas-microsoft-com:vml" Requires="v">
                  <p:oleObj spid="_x0000_s74847" r:id="rId5" imgW="177800" imgH="228600" progId="Equation.3">
                    <p:embed/>
                  </p:oleObj>
                </mc:Choice>
                <mc:Fallback>
                  <p:oleObj r:id="rId5" imgW="177800" imgH="228600" progId="Equation.3">
                    <p:embed/>
                    <p:pic>
                      <p:nvPicPr>
                        <p:cNvPr id="0" name=""/>
                        <p:cNvPicPr/>
                        <p:nvPr/>
                      </p:nvPicPr>
                      <p:blipFill>
                        <a:blip r:embed="rId6">
                          <a:clrChange>
                            <a:clrFrom>
                              <a:srgbClr val="000000"/>
                            </a:clrFrom>
                            <a:clrTo>
                              <a:srgbClr val="FF0066"/>
                            </a:clrTo>
                          </a:clrChange>
                        </a:blip>
                        <a:stretch>
                          <a:fillRect/>
                        </a:stretch>
                      </p:blipFill>
                      <p:spPr>
                        <a:xfrm>
                          <a:off x="2697" y="1859"/>
                          <a:ext cx="243" cy="289"/>
                        </a:xfrm>
                        <a:prstGeom prst="rect">
                          <a:avLst/>
                        </a:prstGeom>
                        <a:noFill/>
                        <a:ln w="38100">
                          <a:noFill/>
                          <a:miter/>
                        </a:ln>
                      </p:spPr>
                    </p:pic>
                  </p:oleObj>
                </mc:Fallback>
              </mc:AlternateContent>
            </a:graphicData>
          </a:graphic>
        </p:graphicFrame>
        <p:sp>
          <p:nvSpPr>
            <p:cNvPr id="42" name="直接连接符 405553">
              <a:extLst>
                <a:ext uri="{FF2B5EF4-FFF2-40B4-BE49-F238E27FC236}">
                  <a16:creationId xmlns="" xmlns:a16="http://schemas.microsoft.com/office/drawing/2014/main" id="{85FF496B-A6AF-5136-26E2-258F0A4B28A6}"/>
                </a:ext>
              </a:extLst>
            </p:cNvPr>
            <p:cNvSpPr/>
            <p:nvPr/>
          </p:nvSpPr>
          <p:spPr>
            <a:xfrm>
              <a:off x="1152" y="1642"/>
              <a:ext cx="0" cy="187"/>
            </a:xfrm>
            <a:prstGeom prst="line">
              <a:avLst/>
            </a:prstGeom>
            <a:ln w="25400" cap="flat" cmpd="sng">
              <a:solidFill>
                <a:schemeClr val="tx1"/>
              </a:solidFill>
              <a:prstDash val="solid"/>
              <a:round/>
              <a:headEnd type="none" w="med" len="med"/>
              <a:tailEnd type="none" w="med" len="med"/>
            </a:ln>
          </p:spPr>
        </p:sp>
        <p:sp>
          <p:nvSpPr>
            <p:cNvPr id="43" name="矩形 405554">
              <a:extLst>
                <a:ext uri="{FF2B5EF4-FFF2-40B4-BE49-F238E27FC236}">
                  <a16:creationId xmlns="" xmlns:a16="http://schemas.microsoft.com/office/drawing/2014/main" id="{17102FC2-DDE9-6093-8BF8-8D89C4A355D2}"/>
                </a:ext>
              </a:extLst>
            </p:cNvPr>
            <p:cNvSpPr/>
            <p:nvPr/>
          </p:nvSpPr>
          <p:spPr>
            <a:xfrm>
              <a:off x="462" y="1941"/>
              <a:ext cx="300" cy="520"/>
            </a:xfrm>
            <a:prstGeom prst="rect">
              <a:avLst/>
            </a:prstGeom>
            <a:noFill/>
            <a:ln w="9525">
              <a:noFill/>
            </a:ln>
          </p:spPr>
          <p:txBody>
            <a:bodyPr anchor="t" anchorCtr="0">
              <a:spAutoFit/>
            </a:bodyPr>
            <a:lstStyle/>
            <a:p>
              <a:pPr>
                <a:lnSpc>
                  <a:spcPct val="80000"/>
                </a:lnSpc>
              </a:pPr>
              <a:r>
                <a:rPr lang="en-US" altLang="zh-CN" sz="2000" b="1">
                  <a:solidFill>
                    <a:schemeClr val="tx1"/>
                  </a:solidFill>
                  <a:latin typeface="+mn-ea"/>
                  <a:ea typeface="+mn-ea"/>
                </a:rPr>
                <a:t>+</a:t>
              </a:r>
            </a:p>
            <a:p>
              <a:pPr>
                <a:lnSpc>
                  <a:spcPct val="80000"/>
                </a:lnSpc>
              </a:pPr>
              <a:endParaRPr lang="en-US" altLang="zh-CN" sz="2000" b="1">
                <a:solidFill>
                  <a:schemeClr val="tx1"/>
                </a:solidFill>
                <a:latin typeface="+mn-ea"/>
                <a:ea typeface="+mn-ea"/>
              </a:endParaRPr>
            </a:p>
            <a:p>
              <a:pPr>
                <a:lnSpc>
                  <a:spcPct val="80000"/>
                </a:lnSpc>
              </a:pPr>
              <a:r>
                <a:rPr lang="en-US" altLang="zh-CN" sz="2000" b="1">
                  <a:solidFill>
                    <a:schemeClr val="tx1"/>
                  </a:solidFill>
                  <a:latin typeface="+mn-ea"/>
                  <a:ea typeface="+mn-ea"/>
                </a:rPr>
                <a:t>–</a:t>
              </a:r>
            </a:p>
          </p:txBody>
        </p:sp>
        <p:sp>
          <p:nvSpPr>
            <p:cNvPr id="44" name="矩形 405555">
              <a:extLst>
                <a:ext uri="{FF2B5EF4-FFF2-40B4-BE49-F238E27FC236}">
                  <a16:creationId xmlns="" xmlns:a16="http://schemas.microsoft.com/office/drawing/2014/main" id="{13A9EAC6-BEE9-E6D4-C7C0-8DAEBD723360}"/>
                </a:ext>
              </a:extLst>
            </p:cNvPr>
            <p:cNvSpPr/>
            <p:nvPr/>
          </p:nvSpPr>
          <p:spPr>
            <a:xfrm>
              <a:off x="1170" y="1805"/>
              <a:ext cx="535" cy="252"/>
            </a:xfrm>
            <a:prstGeom prst="rect">
              <a:avLst/>
            </a:prstGeom>
            <a:noFill/>
            <a:ln w="9525">
              <a:noFill/>
            </a:ln>
          </p:spPr>
          <p:txBody>
            <a:bodyPr anchor="t" anchorCtr="0">
              <a:spAutoFit/>
            </a:bodyPr>
            <a:lstStyle/>
            <a:p>
              <a:r>
                <a:rPr lang="en-US" altLang="zh-CN" sz="2000" b="1">
                  <a:solidFill>
                    <a:schemeClr val="tx1"/>
                  </a:solidFill>
                  <a:latin typeface="+mn-ea"/>
                  <a:ea typeface="+mn-ea"/>
                </a:rPr>
                <a:t>T</a:t>
              </a:r>
              <a:r>
                <a:rPr lang="en-US" altLang="zh-CN" sz="2000" b="1" baseline="-25000">
                  <a:solidFill>
                    <a:schemeClr val="tx1"/>
                  </a:solidFill>
                  <a:latin typeface="+mn-ea"/>
                  <a:ea typeface="+mn-ea"/>
                </a:rPr>
                <a:t>1</a:t>
              </a:r>
            </a:p>
          </p:txBody>
        </p:sp>
        <p:sp>
          <p:nvSpPr>
            <p:cNvPr id="45" name="直接连接符 405556">
              <a:extLst>
                <a:ext uri="{FF2B5EF4-FFF2-40B4-BE49-F238E27FC236}">
                  <a16:creationId xmlns="" xmlns:a16="http://schemas.microsoft.com/office/drawing/2014/main" id="{5AB42750-634D-542F-8B01-1F5388C2D621}"/>
                </a:ext>
              </a:extLst>
            </p:cNvPr>
            <p:cNvSpPr/>
            <p:nvPr/>
          </p:nvSpPr>
          <p:spPr>
            <a:xfrm flipH="1">
              <a:off x="405" y="2049"/>
              <a:ext cx="0" cy="309"/>
            </a:xfrm>
            <a:prstGeom prst="line">
              <a:avLst/>
            </a:prstGeom>
            <a:ln w="25400" cap="flat" cmpd="sng">
              <a:solidFill>
                <a:schemeClr val="tx1"/>
              </a:solidFill>
              <a:prstDash val="solid"/>
              <a:round/>
              <a:headEnd type="none" w="med" len="med"/>
              <a:tailEnd type="none" w="med" len="med"/>
            </a:ln>
          </p:spPr>
        </p:sp>
        <p:grpSp>
          <p:nvGrpSpPr>
            <p:cNvPr id="46" name="组合 405557">
              <a:extLst>
                <a:ext uri="{FF2B5EF4-FFF2-40B4-BE49-F238E27FC236}">
                  <a16:creationId xmlns="" xmlns:a16="http://schemas.microsoft.com/office/drawing/2014/main" id="{FB81C214-8828-7B80-5902-4207249E122A}"/>
                </a:ext>
              </a:extLst>
            </p:cNvPr>
            <p:cNvGrpSpPr/>
            <p:nvPr/>
          </p:nvGrpSpPr>
          <p:grpSpPr>
            <a:xfrm rot="5400000" flipH="1">
              <a:off x="1414" y="1596"/>
              <a:ext cx="175" cy="254"/>
              <a:chOff x="3175" y="2446"/>
              <a:chExt cx="175" cy="254"/>
            </a:xfrm>
          </p:grpSpPr>
          <p:sp>
            <p:nvSpPr>
              <p:cNvPr id="56" name="直接连接符 405558">
                <a:extLst>
                  <a:ext uri="{FF2B5EF4-FFF2-40B4-BE49-F238E27FC236}">
                    <a16:creationId xmlns="" xmlns:a16="http://schemas.microsoft.com/office/drawing/2014/main" id="{7B9DA5C4-FCC4-6AF7-D727-E99F4D415393}"/>
                  </a:ext>
                </a:extLst>
              </p:cNvPr>
              <p:cNvSpPr/>
              <p:nvPr/>
            </p:nvSpPr>
            <p:spPr>
              <a:xfrm>
                <a:off x="3182" y="2476"/>
                <a:ext cx="0" cy="224"/>
              </a:xfrm>
              <a:prstGeom prst="line">
                <a:avLst/>
              </a:prstGeom>
              <a:ln w="38100" cap="flat" cmpd="sng">
                <a:solidFill>
                  <a:schemeClr val="tx1"/>
                </a:solidFill>
                <a:prstDash val="solid"/>
                <a:round/>
                <a:headEnd type="none" w="med" len="med"/>
                <a:tailEnd type="none" w="med" len="med"/>
              </a:ln>
            </p:spPr>
          </p:sp>
          <p:sp>
            <p:nvSpPr>
              <p:cNvPr id="57" name="直接连接符 405559">
                <a:extLst>
                  <a:ext uri="{FF2B5EF4-FFF2-40B4-BE49-F238E27FC236}">
                    <a16:creationId xmlns="" xmlns:a16="http://schemas.microsoft.com/office/drawing/2014/main" id="{681E8825-B8BC-A59F-DCA7-158C0CDF6FA6}"/>
                  </a:ext>
                </a:extLst>
              </p:cNvPr>
              <p:cNvSpPr/>
              <p:nvPr/>
            </p:nvSpPr>
            <p:spPr>
              <a:xfrm flipV="1">
                <a:off x="3182" y="2446"/>
                <a:ext cx="152" cy="112"/>
              </a:xfrm>
              <a:prstGeom prst="line">
                <a:avLst/>
              </a:prstGeom>
              <a:ln w="38100" cap="flat" cmpd="sng">
                <a:solidFill>
                  <a:schemeClr val="tx1"/>
                </a:solidFill>
                <a:prstDash val="solid"/>
                <a:round/>
                <a:headEnd type="none" w="med" len="med"/>
                <a:tailEnd type="none" w="med" len="med"/>
              </a:ln>
            </p:spPr>
          </p:sp>
          <p:sp>
            <p:nvSpPr>
              <p:cNvPr id="58" name="直接连接符 405560">
                <a:extLst>
                  <a:ext uri="{FF2B5EF4-FFF2-40B4-BE49-F238E27FC236}">
                    <a16:creationId xmlns="" xmlns:a16="http://schemas.microsoft.com/office/drawing/2014/main" id="{74A0E5E7-23CA-D256-08AA-172964CD1499}"/>
                  </a:ext>
                </a:extLst>
              </p:cNvPr>
              <p:cNvSpPr/>
              <p:nvPr/>
            </p:nvSpPr>
            <p:spPr>
              <a:xfrm>
                <a:off x="3175" y="2607"/>
                <a:ext cx="175" cy="93"/>
              </a:xfrm>
              <a:prstGeom prst="line">
                <a:avLst/>
              </a:prstGeom>
              <a:ln w="38100" cap="flat" cmpd="sng">
                <a:solidFill>
                  <a:schemeClr val="tx1"/>
                </a:solidFill>
                <a:prstDash val="solid"/>
                <a:round/>
                <a:headEnd type="none" w="med" len="med"/>
                <a:tailEnd type="stealth" w="med" len="med"/>
              </a:ln>
            </p:spPr>
          </p:sp>
        </p:grpSp>
        <p:sp>
          <p:nvSpPr>
            <p:cNvPr id="47" name="直接连接符 405561">
              <a:extLst>
                <a:ext uri="{FF2B5EF4-FFF2-40B4-BE49-F238E27FC236}">
                  <a16:creationId xmlns="" xmlns:a16="http://schemas.microsoft.com/office/drawing/2014/main" id="{74CAA1DE-5DC6-11A3-9481-4DE92EF19ADD}"/>
                </a:ext>
              </a:extLst>
            </p:cNvPr>
            <p:cNvSpPr/>
            <p:nvPr/>
          </p:nvSpPr>
          <p:spPr>
            <a:xfrm>
              <a:off x="1493" y="1812"/>
              <a:ext cx="1" cy="639"/>
            </a:xfrm>
            <a:prstGeom prst="line">
              <a:avLst/>
            </a:prstGeom>
            <a:ln w="25400" cap="flat" cmpd="sng">
              <a:solidFill>
                <a:schemeClr val="tx1"/>
              </a:solidFill>
              <a:prstDash val="solid"/>
              <a:round/>
              <a:headEnd type="none" w="med" len="med"/>
              <a:tailEnd type="none" w="med" len="med"/>
            </a:ln>
          </p:spPr>
        </p:sp>
        <p:sp>
          <p:nvSpPr>
            <p:cNvPr id="48" name="任意多边形 405562">
              <a:extLst>
                <a:ext uri="{FF2B5EF4-FFF2-40B4-BE49-F238E27FC236}">
                  <a16:creationId xmlns="" xmlns:a16="http://schemas.microsoft.com/office/drawing/2014/main" id="{C223C2C1-5736-1DF9-87EC-EEC8CBC37133}"/>
                </a:ext>
              </a:extLst>
            </p:cNvPr>
            <p:cNvSpPr/>
            <p:nvPr/>
          </p:nvSpPr>
          <p:spPr>
            <a:xfrm rot="5400000" flipH="1">
              <a:off x="2234" y="2006"/>
              <a:ext cx="87" cy="76"/>
            </a:xfrm>
            <a:custGeom>
              <a:avLst/>
              <a:gdLst/>
              <a:ahLst/>
              <a:cxnLst>
                <a:cxn ang="0">
                  <a:pos x="0" y="0"/>
                </a:cxn>
                <a:cxn ang="0">
                  <a:pos x="0" y="0"/>
                </a:cxn>
                <a:cxn ang="0">
                  <a:pos x="0" y="0"/>
                </a:cxn>
                <a:cxn ang="0">
                  <a:pos x="0" y="0"/>
                </a:cxn>
                <a:cxn ang="0">
                  <a:pos x="0" y="0"/>
                </a:cxn>
                <a:cxn ang="0">
                  <a:pos x="0" y="0"/>
                </a:cxn>
                <a:cxn ang="0">
                  <a:pos x="0" y="0"/>
                </a:cxn>
              </a:cxnLst>
              <a:rect l="0" t="0" r="0" b="0"/>
              <a:pathLst>
                <a:path w="40136" h="21600" fill="none">
                  <a:moveTo>
                    <a:pt x="0" y="13634"/>
                  </a:moveTo>
                  <a:cubicBezTo>
                    <a:pt x="3170" y="5643"/>
                    <a:pt x="10965" y="0"/>
                    <a:pt x="20078" y="0"/>
                  </a:cubicBezTo>
                  <a:cubicBezTo>
                    <a:pt x="29174" y="0"/>
                    <a:pt x="36956" y="5622"/>
                    <a:pt x="40139" y="13577"/>
                  </a:cubicBezTo>
                </a:path>
                <a:path w="40136" h="21600" stroke="0">
                  <a:moveTo>
                    <a:pt x="0" y="13634"/>
                  </a:moveTo>
                  <a:cubicBezTo>
                    <a:pt x="3170" y="5643"/>
                    <a:pt x="10965" y="0"/>
                    <a:pt x="20078" y="0"/>
                  </a:cubicBezTo>
                  <a:cubicBezTo>
                    <a:pt x="29174" y="0"/>
                    <a:pt x="36956" y="5622"/>
                    <a:pt x="40139" y="13577"/>
                  </a:cubicBezTo>
                  <a:lnTo>
                    <a:pt x="20078" y="21600"/>
                  </a:lnTo>
                  <a:lnTo>
                    <a:pt x="0" y="13634"/>
                  </a:lnTo>
                  <a:close/>
                </a:path>
              </a:pathLst>
            </a:custGeom>
            <a:noFill/>
            <a:ln w="38100" cap="flat" cmpd="sng">
              <a:solidFill>
                <a:srgbClr val="009900"/>
              </a:solidFill>
              <a:prstDash val="solid"/>
              <a:round/>
              <a:headEnd type="none" w="med" len="med"/>
              <a:tailEnd type="none" w="med" len="med"/>
            </a:ln>
          </p:spPr>
          <p:txBody>
            <a:bodyPr/>
            <a:lstStyle/>
            <a:p>
              <a:endParaRPr lang="zh-CN" altLang="en-US" sz="2000">
                <a:solidFill>
                  <a:schemeClr val="tx1"/>
                </a:solidFill>
                <a:latin typeface="+mn-ea"/>
                <a:ea typeface="+mn-ea"/>
              </a:endParaRPr>
            </a:p>
          </p:txBody>
        </p:sp>
        <p:sp>
          <p:nvSpPr>
            <p:cNvPr id="49" name="任意多边形 405563">
              <a:extLst>
                <a:ext uri="{FF2B5EF4-FFF2-40B4-BE49-F238E27FC236}">
                  <a16:creationId xmlns="" xmlns:a16="http://schemas.microsoft.com/office/drawing/2014/main" id="{468F53FB-53D3-AC44-8EED-F7025A6DDF31}"/>
                </a:ext>
              </a:extLst>
            </p:cNvPr>
            <p:cNvSpPr/>
            <p:nvPr/>
          </p:nvSpPr>
          <p:spPr>
            <a:xfrm rot="-5400000">
              <a:off x="2366" y="2036"/>
              <a:ext cx="87" cy="76"/>
            </a:xfrm>
            <a:custGeom>
              <a:avLst/>
              <a:gdLst/>
              <a:ahLst/>
              <a:cxnLst>
                <a:cxn ang="0">
                  <a:pos x="0" y="0"/>
                </a:cxn>
                <a:cxn ang="0">
                  <a:pos x="0" y="0"/>
                </a:cxn>
                <a:cxn ang="0">
                  <a:pos x="0" y="0"/>
                </a:cxn>
                <a:cxn ang="0">
                  <a:pos x="0" y="0"/>
                </a:cxn>
                <a:cxn ang="0">
                  <a:pos x="0" y="0"/>
                </a:cxn>
                <a:cxn ang="0">
                  <a:pos x="0" y="0"/>
                </a:cxn>
                <a:cxn ang="0">
                  <a:pos x="0" y="0"/>
                </a:cxn>
              </a:cxnLst>
              <a:rect l="0" t="0" r="0" b="0"/>
              <a:pathLst>
                <a:path w="40136" h="21600" fill="none">
                  <a:moveTo>
                    <a:pt x="0" y="13634"/>
                  </a:moveTo>
                  <a:cubicBezTo>
                    <a:pt x="3170" y="5643"/>
                    <a:pt x="10965" y="0"/>
                    <a:pt x="20078" y="0"/>
                  </a:cubicBezTo>
                  <a:cubicBezTo>
                    <a:pt x="29174" y="0"/>
                    <a:pt x="36956" y="5622"/>
                    <a:pt x="40139" y="13577"/>
                  </a:cubicBezTo>
                </a:path>
                <a:path w="40136" h="21600" stroke="0">
                  <a:moveTo>
                    <a:pt x="0" y="13634"/>
                  </a:moveTo>
                  <a:cubicBezTo>
                    <a:pt x="3170" y="5643"/>
                    <a:pt x="10965" y="0"/>
                    <a:pt x="20078" y="0"/>
                  </a:cubicBezTo>
                  <a:cubicBezTo>
                    <a:pt x="29174" y="0"/>
                    <a:pt x="36956" y="5622"/>
                    <a:pt x="40139" y="13577"/>
                  </a:cubicBezTo>
                  <a:lnTo>
                    <a:pt x="20078" y="21600"/>
                  </a:lnTo>
                  <a:lnTo>
                    <a:pt x="0" y="13634"/>
                  </a:lnTo>
                  <a:close/>
                </a:path>
              </a:pathLst>
            </a:custGeom>
            <a:noFill/>
            <a:ln w="38100" cap="flat" cmpd="sng">
              <a:solidFill>
                <a:srgbClr val="009900"/>
              </a:solidFill>
              <a:prstDash val="solid"/>
              <a:round/>
              <a:headEnd type="none" w="med" len="med"/>
              <a:tailEnd type="none" w="med" len="med"/>
            </a:ln>
          </p:spPr>
          <p:txBody>
            <a:bodyPr/>
            <a:lstStyle/>
            <a:p>
              <a:endParaRPr lang="zh-CN" altLang="en-US" sz="2000">
                <a:solidFill>
                  <a:schemeClr val="tx1"/>
                </a:solidFill>
                <a:latin typeface="+mn-ea"/>
                <a:ea typeface="+mn-ea"/>
              </a:endParaRPr>
            </a:p>
          </p:txBody>
        </p:sp>
        <p:sp>
          <p:nvSpPr>
            <p:cNvPr id="50" name="直接连接符 405564">
              <a:extLst>
                <a:ext uri="{FF2B5EF4-FFF2-40B4-BE49-F238E27FC236}">
                  <a16:creationId xmlns="" xmlns:a16="http://schemas.microsoft.com/office/drawing/2014/main" id="{0106FF57-86F2-07AF-4294-F48B8A7CDA7C}"/>
                </a:ext>
              </a:extLst>
            </p:cNvPr>
            <p:cNvSpPr/>
            <p:nvPr/>
          </p:nvSpPr>
          <p:spPr>
            <a:xfrm>
              <a:off x="2413" y="1656"/>
              <a:ext cx="377" cy="0"/>
            </a:xfrm>
            <a:prstGeom prst="line">
              <a:avLst/>
            </a:prstGeom>
            <a:ln w="25400" cap="flat" cmpd="sng">
              <a:solidFill>
                <a:schemeClr val="tx1"/>
              </a:solidFill>
              <a:prstDash val="solid"/>
              <a:round/>
              <a:headEnd type="none" w="med" len="med"/>
              <a:tailEnd type="none" w="med" len="med"/>
            </a:ln>
          </p:spPr>
        </p:sp>
        <p:sp>
          <p:nvSpPr>
            <p:cNvPr id="51" name="椭圆 405565">
              <a:extLst>
                <a:ext uri="{FF2B5EF4-FFF2-40B4-BE49-F238E27FC236}">
                  <a16:creationId xmlns="" xmlns:a16="http://schemas.microsoft.com/office/drawing/2014/main" id="{62F7F3D0-47BC-FDC9-CF68-77D3B728D6F1}"/>
                </a:ext>
              </a:extLst>
            </p:cNvPr>
            <p:cNvSpPr/>
            <p:nvPr/>
          </p:nvSpPr>
          <p:spPr>
            <a:xfrm>
              <a:off x="2778" y="1632"/>
              <a:ext cx="60" cy="60"/>
            </a:xfrm>
            <a:prstGeom prst="ellipse">
              <a:avLst/>
            </a:prstGeom>
            <a:solidFill>
              <a:schemeClr val="bg1"/>
            </a:solidFill>
            <a:ln w="28575" cap="flat" cmpd="sng">
              <a:solidFill>
                <a:schemeClr val="tx1"/>
              </a:solidFill>
              <a:prstDash val="solid"/>
              <a:round/>
              <a:headEnd type="none" w="med" len="med"/>
              <a:tailEnd type="none" w="med" len="med"/>
            </a:ln>
          </p:spPr>
          <p:txBody>
            <a:bodyPr anchor="t" anchorCtr="0"/>
            <a:lstStyle/>
            <a:p>
              <a:endParaRPr lang="zh-CN" altLang="en-US" sz="2000" dirty="0">
                <a:solidFill>
                  <a:schemeClr val="tx1"/>
                </a:solidFill>
                <a:latin typeface="+mn-ea"/>
                <a:ea typeface="+mn-ea"/>
              </a:endParaRPr>
            </a:p>
          </p:txBody>
        </p:sp>
        <p:sp>
          <p:nvSpPr>
            <p:cNvPr id="52" name="椭圆 405566">
              <a:extLst>
                <a:ext uri="{FF2B5EF4-FFF2-40B4-BE49-F238E27FC236}">
                  <a16:creationId xmlns="" xmlns:a16="http://schemas.microsoft.com/office/drawing/2014/main" id="{77D1E217-03E0-26F3-2570-5369F40F834C}"/>
                </a:ext>
              </a:extLst>
            </p:cNvPr>
            <p:cNvSpPr/>
            <p:nvPr/>
          </p:nvSpPr>
          <p:spPr>
            <a:xfrm>
              <a:off x="2772" y="2262"/>
              <a:ext cx="60" cy="60"/>
            </a:xfrm>
            <a:prstGeom prst="ellipse">
              <a:avLst/>
            </a:prstGeom>
            <a:solidFill>
              <a:schemeClr val="bg1"/>
            </a:solidFill>
            <a:ln w="28575" cap="flat" cmpd="sng">
              <a:solidFill>
                <a:schemeClr val="tx1"/>
              </a:solidFill>
              <a:prstDash val="solid"/>
              <a:round/>
              <a:headEnd type="none" w="med" len="med"/>
              <a:tailEnd type="none" w="med" len="med"/>
            </a:ln>
          </p:spPr>
          <p:txBody>
            <a:bodyPr anchor="t" anchorCtr="0"/>
            <a:lstStyle/>
            <a:p>
              <a:endParaRPr lang="zh-CN" altLang="en-US" sz="2000" dirty="0">
                <a:solidFill>
                  <a:schemeClr val="tx1"/>
                </a:solidFill>
                <a:latin typeface="+mn-ea"/>
                <a:ea typeface="+mn-ea"/>
              </a:endParaRPr>
            </a:p>
          </p:txBody>
        </p:sp>
        <p:sp>
          <p:nvSpPr>
            <p:cNvPr id="53" name="矩形 405567">
              <a:extLst>
                <a:ext uri="{FF2B5EF4-FFF2-40B4-BE49-F238E27FC236}">
                  <a16:creationId xmlns="" xmlns:a16="http://schemas.microsoft.com/office/drawing/2014/main" id="{A1BAB52A-93F8-BC4F-69F1-992CA48B4124}"/>
                </a:ext>
              </a:extLst>
            </p:cNvPr>
            <p:cNvSpPr/>
            <p:nvPr/>
          </p:nvSpPr>
          <p:spPr>
            <a:xfrm>
              <a:off x="1344" y="1409"/>
              <a:ext cx="535" cy="252"/>
            </a:xfrm>
            <a:prstGeom prst="rect">
              <a:avLst/>
            </a:prstGeom>
            <a:noFill/>
            <a:ln w="9525">
              <a:noFill/>
            </a:ln>
          </p:spPr>
          <p:txBody>
            <a:bodyPr anchor="t" anchorCtr="0">
              <a:spAutoFit/>
            </a:bodyPr>
            <a:lstStyle/>
            <a:p>
              <a:r>
                <a:rPr lang="en-US" altLang="zh-CN" sz="2000" b="1">
                  <a:solidFill>
                    <a:schemeClr val="tx1"/>
                  </a:solidFill>
                  <a:latin typeface="+mn-ea"/>
                  <a:ea typeface="+mn-ea"/>
                </a:rPr>
                <a:t>T</a:t>
              </a:r>
              <a:r>
                <a:rPr lang="en-US" altLang="zh-CN" sz="2000" b="1" baseline="-25000">
                  <a:solidFill>
                    <a:schemeClr val="tx1"/>
                  </a:solidFill>
                  <a:latin typeface="+mn-ea"/>
                  <a:ea typeface="+mn-ea"/>
                </a:rPr>
                <a:t>2</a:t>
              </a:r>
            </a:p>
          </p:txBody>
        </p:sp>
        <p:sp>
          <p:nvSpPr>
            <p:cNvPr id="54" name="矩形 405568">
              <a:extLst>
                <a:ext uri="{FF2B5EF4-FFF2-40B4-BE49-F238E27FC236}">
                  <a16:creationId xmlns="" xmlns:a16="http://schemas.microsoft.com/office/drawing/2014/main" id="{1BAE032C-4C8B-CF17-F25E-F5682C996778}"/>
                </a:ext>
              </a:extLst>
            </p:cNvPr>
            <p:cNvSpPr/>
            <p:nvPr/>
          </p:nvSpPr>
          <p:spPr>
            <a:xfrm>
              <a:off x="1600" y="1872"/>
              <a:ext cx="198" cy="252"/>
            </a:xfrm>
            <a:prstGeom prst="rect">
              <a:avLst/>
            </a:prstGeom>
            <a:noFill/>
            <a:ln w="9525">
              <a:noFill/>
            </a:ln>
          </p:spPr>
          <p:txBody>
            <a:bodyPr wrap="none" anchor="t" anchorCtr="0">
              <a:spAutoFit/>
            </a:bodyPr>
            <a:lstStyle/>
            <a:p>
              <a:r>
                <a:rPr lang="en-US" altLang="zh-CN" sz="2000" b="1" i="1">
                  <a:solidFill>
                    <a:schemeClr val="tx1"/>
                  </a:solidFill>
                  <a:latin typeface="+mn-ea"/>
                  <a:ea typeface="+mn-ea"/>
                </a:rPr>
                <a:t>C</a:t>
              </a:r>
            </a:p>
          </p:txBody>
        </p:sp>
        <p:sp>
          <p:nvSpPr>
            <p:cNvPr id="55" name="矩形 405569">
              <a:extLst>
                <a:ext uri="{FF2B5EF4-FFF2-40B4-BE49-F238E27FC236}">
                  <a16:creationId xmlns="" xmlns:a16="http://schemas.microsoft.com/office/drawing/2014/main" id="{AF0C5BFB-BB35-9918-E825-19715C60A5F8}"/>
                </a:ext>
              </a:extLst>
            </p:cNvPr>
            <p:cNvSpPr/>
            <p:nvPr/>
          </p:nvSpPr>
          <p:spPr>
            <a:xfrm>
              <a:off x="414" y="2707"/>
              <a:ext cx="2464" cy="275"/>
            </a:xfrm>
            <a:prstGeom prst="rect">
              <a:avLst/>
            </a:prstGeom>
            <a:noFill/>
            <a:ln w="9525">
              <a:noFill/>
            </a:ln>
          </p:spPr>
          <p:txBody>
            <a:bodyPr anchor="t" anchorCtr="0"/>
            <a:lstStyle/>
            <a:p>
              <a:r>
                <a:rPr lang="zh-CN" altLang="en-US" sz="2000" b="1" dirty="0">
                  <a:solidFill>
                    <a:schemeClr val="tx1"/>
                  </a:solidFill>
                  <a:latin typeface="+mn-ea"/>
                  <a:ea typeface="+mn-ea"/>
                </a:rPr>
                <a:t>共发－共基组合电路调谐放大器</a:t>
              </a:r>
            </a:p>
          </p:txBody>
        </p:sp>
      </p:grpSp>
      <p:sp>
        <p:nvSpPr>
          <p:cNvPr id="70" name="矩形 69">
            <a:extLst>
              <a:ext uri="{FF2B5EF4-FFF2-40B4-BE49-F238E27FC236}">
                <a16:creationId xmlns="" xmlns:a16="http://schemas.microsoft.com/office/drawing/2014/main" id="{EEE5F2F8-24E6-9F7C-B81F-E0C4929BC673}"/>
              </a:ext>
            </a:extLst>
          </p:cNvPr>
          <p:cNvSpPr/>
          <p:nvPr/>
        </p:nvSpPr>
        <p:spPr>
          <a:xfrm>
            <a:off x="5096487" y="3655540"/>
            <a:ext cx="3652837" cy="701675"/>
          </a:xfrm>
          <a:prstGeom prst="rect">
            <a:avLst/>
          </a:prstGeom>
          <a:noFill/>
          <a:ln w="25400">
            <a:noFill/>
          </a:ln>
        </p:spPr>
        <p:txBody>
          <a:bodyPr anchor="ctr" anchorCtr="0">
            <a:spAutoFit/>
          </a:bodyPr>
          <a:lstStyle/>
          <a:p>
            <a:r>
              <a:rPr lang="en-US" altLang="zh-CN" sz="2000" b="1" dirty="0">
                <a:solidFill>
                  <a:schemeClr val="tx1"/>
                </a:solidFill>
                <a:latin typeface="+mn-ea"/>
                <a:ea typeface="+mn-ea"/>
              </a:rPr>
              <a:t>T</a:t>
            </a:r>
            <a:r>
              <a:rPr lang="en-US" altLang="zh-CN" sz="2000" b="1" baseline="-25000" dirty="0">
                <a:solidFill>
                  <a:schemeClr val="tx1"/>
                </a:solidFill>
                <a:latin typeface="+mn-ea"/>
                <a:ea typeface="+mn-ea"/>
              </a:rPr>
              <a:t>2</a:t>
            </a:r>
            <a:r>
              <a:rPr lang="zh-CN" altLang="en-US" sz="2000" b="1" dirty="0">
                <a:solidFill>
                  <a:schemeClr val="tx1"/>
                </a:solidFill>
                <a:latin typeface="+mn-ea"/>
                <a:ea typeface="+mn-ea"/>
              </a:rPr>
              <a:t>（共基）：输入阻抗小（输入导纳大）</a:t>
            </a:r>
            <a:r>
              <a:rPr lang="en-US" altLang="zh-CN" sz="2000" b="1" dirty="0">
                <a:solidFill>
                  <a:schemeClr val="tx1"/>
                </a:solidFill>
                <a:latin typeface="+mn-ea"/>
                <a:ea typeface="+mn-ea"/>
              </a:rPr>
              <a:t>→ </a:t>
            </a:r>
          </a:p>
        </p:txBody>
      </p:sp>
      <p:sp>
        <p:nvSpPr>
          <p:cNvPr id="71" name="矩形 70">
            <a:extLst>
              <a:ext uri="{FF2B5EF4-FFF2-40B4-BE49-F238E27FC236}">
                <a16:creationId xmlns="" xmlns:a16="http://schemas.microsoft.com/office/drawing/2014/main" id="{0397ADD9-0FBB-F885-CFE2-BC23FAB27875}"/>
              </a:ext>
            </a:extLst>
          </p:cNvPr>
          <p:cNvSpPr/>
          <p:nvPr/>
        </p:nvSpPr>
        <p:spPr>
          <a:xfrm>
            <a:off x="6837974" y="3931765"/>
            <a:ext cx="1989647" cy="400110"/>
          </a:xfrm>
          <a:prstGeom prst="rect">
            <a:avLst/>
          </a:prstGeom>
          <a:noFill/>
          <a:ln w="25400">
            <a:noFill/>
          </a:ln>
        </p:spPr>
        <p:txBody>
          <a:bodyPr wrap="none" anchor="t" anchorCtr="0">
            <a:spAutoFit/>
          </a:bodyPr>
          <a:lstStyle/>
          <a:p>
            <a:r>
              <a:rPr lang="en-US" altLang="zh-CN" sz="2000" b="1">
                <a:solidFill>
                  <a:schemeClr val="tx1"/>
                </a:solidFill>
                <a:latin typeface="+mn-ea"/>
                <a:ea typeface="+mn-ea"/>
              </a:rPr>
              <a:t>T</a:t>
            </a:r>
            <a:r>
              <a:rPr lang="en-US" altLang="zh-CN" sz="2000" b="1" baseline="-25000">
                <a:solidFill>
                  <a:schemeClr val="tx1"/>
                </a:solidFill>
                <a:latin typeface="+mn-ea"/>
                <a:ea typeface="+mn-ea"/>
              </a:rPr>
              <a:t>1</a:t>
            </a:r>
            <a:r>
              <a:rPr lang="zh-CN" altLang="en-US" sz="2000" b="1" dirty="0">
                <a:solidFill>
                  <a:schemeClr val="tx1"/>
                </a:solidFill>
                <a:latin typeface="+mn-ea"/>
                <a:ea typeface="+mn-ea"/>
              </a:rPr>
              <a:t>的负载导纳大</a:t>
            </a:r>
          </a:p>
        </p:txBody>
      </p:sp>
      <p:sp>
        <p:nvSpPr>
          <p:cNvPr id="72" name="矩形 71">
            <a:extLst>
              <a:ext uri="{FF2B5EF4-FFF2-40B4-BE49-F238E27FC236}">
                <a16:creationId xmlns="" xmlns:a16="http://schemas.microsoft.com/office/drawing/2014/main" id="{D4D82AEF-C4EA-AC7F-B2C6-1A1361ACBA8A}"/>
              </a:ext>
            </a:extLst>
          </p:cNvPr>
          <p:cNvSpPr/>
          <p:nvPr/>
        </p:nvSpPr>
        <p:spPr>
          <a:xfrm>
            <a:off x="5283018" y="4252367"/>
            <a:ext cx="439737" cy="396875"/>
          </a:xfrm>
          <a:prstGeom prst="rect">
            <a:avLst/>
          </a:prstGeom>
          <a:noFill/>
          <a:ln w="25400">
            <a:noFill/>
          </a:ln>
        </p:spPr>
        <p:txBody>
          <a:bodyPr wrap="none" anchor="t" anchorCtr="0">
            <a:spAutoFit/>
          </a:bodyPr>
          <a:lstStyle/>
          <a:p>
            <a:r>
              <a:rPr lang="en-US" altLang="zh-CN" sz="2000" b="1">
                <a:solidFill>
                  <a:schemeClr val="tx1"/>
                </a:solidFill>
                <a:latin typeface="+mn-ea"/>
                <a:ea typeface="+mn-ea"/>
              </a:rPr>
              <a:t>→</a:t>
            </a:r>
          </a:p>
        </p:txBody>
      </p:sp>
      <p:sp>
        <p:nvSpPr>
          <p:cNvPr id="73" name="矩形 72">
            <a:extLst>
              <a:ext uri="{FF2B5EF4-FFF2-40B4-BE49-F238E27FC236}">
                <a16:creationId xmlns="" xmlns:a16="http://schemas.microsoft.com/office/drawing/2014/main" id="{925C86EA-3956-1F29-B0CF-40D99417F2EA}"/>
              </a:ext>
            </a:extLst>
          </p:cNvPr>
          <p:cNvSpPr/>
          <p:nvPr/>
        </p:nvSpPr>
        <p:spPr>
          <a:xfrm>
            <a:off x="5104424" y="3603152"/>
            <a:ext cx="3871913" cy="1501775"/>
          </a:xfrm>
          <a:prstGeom prst="rect">
            <a:avLst/>
          </a:prstGeom>
          <a:noFill/>
          <a:ln w="25400" cap="flat" cmpd="sng">
            <a:solidFill>
              <a:srgbClr val="FF3300"/>
            </a:solidFill>
            <a:prstDash val="solid"/>
            <a:miter/>
            <a:headEnd type="none" w="med" len="med"/>
            <a:tailEnd type="none" w="med" len="med"/>
          </a:ln>
        </p:spPr>
        <p:txBody>
          <a:bodyPr anchor="t" anchorCtr="0"/>
          <a:lstStyle/>
          <a:p>
            <a:endParaRPr lang="zh-CN" altLang="en-US" sz="2000" dirty="0">
              <a:solidFill>
                <a:schemeClr val="tx1"/>
              </a:solidFill>
              <a:latin typeface="+mn-ea"/>
              <a:ea typeface="+mn-ea"/>
            </a:endParaRPr>
          </a:p>
        </p:txBody>
      </p:sp>
      <p:sp>
        <p:nvSpPr>
          <p:cNvPr id="74" name="矩形 73">
            <a:extLst>
              <a:ext uri="{FF2B5EF4-FFF2-40B4-BE49-F238E27FC236}">
                <a16:creationId xmlns="" xmlns:a16="http://schemas.microsoft.com/office/drawing/2014/main" id="{79F6DF72-0224-E1A2-26B6-CFA3C5417132}"/>
              </a:ext>
            </a:extLst>
          </p:cNvPr>
          <p:cNvSpPr/>
          <p:nvPr/>
        </p:nvSpPr>
        <p:spPr>
          <a:xfrm>
            <a:off x="5675924" y="4314352"/>
            <a:ext cx="3403600" cy="701675"/>
          </a:xfrm>
          <a:prstGeom prst="rect">
            <a:avLst/>
          </a:prstGeom>
          <a:noFill/>
          <a:ln w="25400">
            <a:noFill/>
          </a:ln>
        </p:spPr>
        <p:txBody>
          <a:bodyPr anchor="t" anchorCtr="0">
            <a:spAutoFit/>
          </a:bodyPr>
          <a:lstStyle/>
          <a:p>
            <a:r>
              <a:rPr lang="zh-CN" altLang="en-US" sz="2000" b="1" dirty="0">
                <a:solidFill>
                  <a:schemeClr val="tx1"/>
                </a:solidFill>
                <a:latin typeface="+mn-ea"/>
                <a:ea typeface="+mn-ea"/>
              </a:rPr>
              <a:t>从而使共发晶体管内部反馈减弱，稳定性大大提高</a:t>
            </a:r>
          </a:p>
        </p:txBody>
      </p:sp>
    </p:spTree>
    <p:extLst>
      <p:ext uri="{BB962C8B-B14F-4D97-AF65-F5344CB8AC3E}">
        <p14:creationId xmlns:p14="http://schemas.microsoft.com/office/powerpoint/2010/main" val="1774613180"/>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101</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25"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3.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高频</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小信号</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放大器</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Rectangle 8">
            <a:extLst>
              <a:ext uri="{FF2B5EF4-FFF2-40B4-BE49-F238E27FC236}">
                <a16:creationId xmlns="" xmlns:a16="http://schemas.microsoft.com/office/drawing/2014/main" id="{C4371BCA-8C0A-45B9-0745-F581189D1698}"/>
              </a:ext>
            </a:extLst>
          </p:cNvPr>
          <p:cNvSpPr/>
          <p:nvPr/>
        </p:nvSpPr>
        <p:spPr>
          <a:xfrm>
            <a:off x="611560" y="1484784"/>
            <a:ext cx="8153400" cy="4113627"/>
          </a:xfrm>
          <a:prstGeom prst="rect">
            <a:avLst/>
          </a:prstGeom>
          <a:noFill/>
          <a:ln w="12700">
            <a:noFill/>
          </a:ln>
        </p:spPr>
        <p:txBody>
          <a:bodyPr anchor="t" anchorCtr="0">
            <a:spAutoFit/>
          </a:bodyPr>
          <a:lstStyle/>
          <a:p>
            <a:pPr>
              <a:lnSpc>
                <a:spcPct val="110000"/>
              </a:lnSpc>
            </a:pPr>
            <a:r>
              <a:rPr lang="en-US" altLang="zh-CN" sz="2000" b="1" dirty="0">
                <a:solidFill>
                  <a:schemeClr val="tx1"/>
                </a:solidFill>
                <a:latin typeface="+mn-ea"/>
                <a:ea typeface="+mn-ea"/>
              </a:rPr>
              <a:t>3. </a:t>
            </a:r>
            <a:r>
              <a:rPr lang="zh-CN" altLang="en-US" sz="2000" b="1" dirty="0">
                <a:solidFill>
                  <a:schemeClr val="tx1"/>
                </a:solidFill>
                <a:latin typeface="+mn-ea"/>
                <a:ea typeface="+mn-ea"/>
              </a:rPr>
              <a:t>中和法与失配法比较</a:t>
            </a:r>
            <a:endParaRPr lang="en-US" altLang="zh-CN" sz="2000" b="1" dirty="0">
              <a:solidFill>
                <a:schemeClr val="tx1"/>
              </a:solidFill>
              <a:latin typeface="+mn-ea"/>
              <a:ea typeface="+mn-ea"/>
            </a:endParaRPr>
          </a:p>
          <a:p>
            <a:pPr>
              <a:lnSpc>
                <a:spcPct val="110000"/>
              </a:lnSpc>
            </a:pPr>
            <a:r>
              <a:rPr lang="zh-CN" altLang="en-US" sz="2000" b="1" dirty="0">
                <a:solidFill>
                  <a:schemeClr val="accent2"/>
                </a:solidFill>
                <a:latin typeface="+mn-ea"/>
                <a:ea typeface="+mn-ea"/>
              </a:rPr>
              <a:t>中和法：</a:t>
            </a:r>
          </a:p>
          <a:p>
            <a:pPr>
              <a:lnSpc>
                <a:spcPct val="110000"/>
              </a:lnSpc>
            </a:pPr>
            <a:r>
              <a:rPr lang="zh-CN" altLang="en-US" sz="2000" b="1" dirty="0">
                <a:solidFill>
                  <a:schemeClr val="tx1"/>
                </a:solidFill>
                <a:latin typeface="+mn-ea"/>
                <a:ea typeface="+mn-ea"/>
              </a:rPr>
              <a:t>优点：简单，增益高</a:t>
            </a:r>
          </a:p>
          <a:p>
            <a:pPr eaLnBrk="0" hangingPunct="0">
              <a:lnSpc>
                <a:spcPct val="110000"/>
              </a:lnSpc>
            </a:pPr>
            <a:r>
              <a:rPr lang="zh-CN" altLang="en-US" sz="2000" b="1" dirty="0">
                <a:solidFill>
                  <a:schemeClr val="tx1"/>
                </a:solidFill>
                <a:latin typeface="+mn-ea"/>
                <a:ea typeface="+mn-ea"/>
              </a:rPr>
              <a:t>缺点：① 只能在一个频率上完全中和，不适合宽带</a:t>
            </a:r>
          </a:p>
          <a:p>
            <a:pPr eaLnBrk="0" hangingPunct="0">
              <a:lnSpc>
                <a:spcPct val="110000"/>
              </a:lnSpc>
            </a:pPr>
            <a:r>
              <a:rPr lang="zh-CN" altLang="en-US" sz="2000" b="1" dirty="0">
                <a:solidFill>
                  <a:schemeClr val="tx1"/>
                </a:solidFill>
                <a:latin typeface="+mn-ea"/>
                <a:ea typeface="+mn-ea"/>
              </a:rPr>
              <a:t>　　　② 因为晶体管离散性大，实际调整麻烦，不适于批量生产。</a:t>
            </a:r>
          </a:p>
          <a:p>
            <a:pPr eaLnBrk="0" hangingPunct="0">
              <a:lnSpc>
                <a:spcPct val="110000"/>
              </a:lnSpc>
            </a:pPr>
            <a:r>
              <a:rPr lang="zh-CN" altLang="en-US" sz="2000" b="1" dirty="0">
                <a:solidFill>
                  <a:schemeClr val="tx1"/>
                </a:solidFill>
                <a:latin typeface="+mn-ea"/>
                <a:ea typeface="+mn-ea"/>
              </a:rPr>
              <a:t>　　　③ 采用中和对放大器由于温度等原因引起各种参数变化没有改善效果。</a:t>
            </a:r>
            <a:endParaRPr lang="en-US" altLang="zh-CN" sz="2000" b="1" dirty="0">
              <a:solidFill>
                <a:schemeClr val="tx1"/>
              </a:solidFill>
              <a:latin typeface="+mn-ea"/>
              <a:ea typeface="+mn-ea"/>
            </a:endParaRPr>
          </a:p>
          <a:p>
            <a:pPr eaLnBrk="0" hangingPunct="0">
              <a:lnSpc>
                <a:spcPct val="110000"/>
              </a:lnSpc>
            </a:pPr>
            <a:r>
              <a:rPr lang="zh-CN" altLang="en-US" sz="2000" b="1" dirty="0">
                <a:solidFill>
                  <a:schemeClr val="accent2"/>
                </a:solidFill>
                <a:latin typeface="+mn-ea"/>
                <a:ea typeface="+mn-ea"/>
              </a:rPr>
              <a:t>失配法：</a:t>
            </a:r>
          </a:p>
          <a:p>
            <a:pPr eaLnBrk="0" hangingPunct="0">
              <a:lnSpc>
                <a:spcPct val="110000"/>
              </a:lnSpc>
            </a:pPr>
            <a:r>
              <a:rPr lang="zh-CN" altLang="en-US" sz="2000" b="1" dirty="0">
                <a:solidFill>
                  <a:schemeClr val="tx1"/>
                </a:solidFill>
                <a:latin typeface="+mn-ea"/>
                <a:ea typeface="+mn-ea"/>
              </a:rPr>
              <a:t>优点：① 性能稳定，能改善各种参数变化的影响；</a:t>
            </a:r>
          </a:p>
          <a:p>
            <a:pPr eaLnBrk="0" hangingPunct="0">
              <a:lnSpc>
                <a:spcPct val="110000"/>
              </a:lnSpc>
            </a:pPr>
            <a:r>
              <a:rPr lang="zh-CN" altLang="en-US" sz="2000" b="1" dirty="0">
                <a:solidFill>
                  <a:schemeClr val="tx1"/>
                </a:solidFill>
                <a:latin typeface="+mn-ea"/>
                <a:ea typeface="+mn-ea"/>
              </a:rPr>
              <a:t>　　　② 频带宽，适合宽带放大，适于波段工作；</a:t>
            </a:r>
          </a:p>
          <a:p>
            <a:pPr eaLnBrk="0" hangingPunct="0">
              <a:lnSpc>
                <a:spcPct val="110000"/>
              </a:lnSpc>
            </a:pPr>
            <a:r>
              <a:rPr lang="zh-CN" altLang="en-US" sz="2000" b="1" dirty="0">
                <a:solidFill>
                  <a:schemeClr val="tx1"/>
                </a:solidFill>
                <a:latin typeface="+mn-ea"/>
                <a:ea typeface="+mn-ea"/>
              </a:rPr>
              <a:t>　　　③ 生产过程中无需调整，适于大量生产。</a:t>
            </a:r>
          </a:p>
          <a:p>
            <a:pPr eaLnBrk="0" hangingPunct="0">
              <a:lnSpc>
                <a:spcPct val="110000"/>
              </a:lnSpc>
            </a:pPr>
            <a:r>
              <a:rPr lang="zh-CN" altLang="en-US" sz="2000" b="1" dirty="0">
                <a:solidFill>
                  <a:schemeClr val="tx1"/>
                </a:solidFill>
                <a:latin typeface="+mn-ea"/>
                <a:ea typeface="+mn-ea"/>
              </a:rPr>
              <a:t>缺点：增益低。</a:t>
            </a:r>
          </a:p>
        </p:txBody>
      </p:sp>
    </p:spTree>
    <p:extLst>
      <p:ext uri="{BB962C8B-B14F-4D97-AF65-F5344CB8AC3E}">
        <p14:creationId xmlns:p14="http://schemas.microsoft.com/office/powerpoint/2010/main" val="1653639330"/>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102</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25"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3.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高频</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小信号</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放大器</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graphicFrame>
        <p:nvGraphicFramePr>
          <p:cNvPr id="5" name="Object 2">
            <a:extLst>
              <a:ext uri="{FF2B5EF4-FFF2-40B4-BE49-F238E27FC236}">
                <a16:creationId xmlns="" xmlns:a16="http://schemas.microsoft.com/office/drawing/2014/main" id="{C3FBDC28-1986-6FEC-6878-90F3E1E8944B}"/>
              </a:ext>
            </a:extLst>
          </p:cNvPr>
          <p:cNvGraphicFramePr/>
          <p:nvPr>
            <p:extLst>
              <p:ext uri="{D42A27DB-BD31-4B8C-83A1-F6EECF244321}">
                <p14:modId xmlns:p14="http://schemas.microsoft.com/office/powerpoint/2010/main" val="2107560606"/>
              </p:ext>
            </p:extLst>
          </p:nvPr>
        </p:nvGraphicFramePr>
        <p:xfrm>
          <a:off x="5527225" y="1817598"/>
          <a:ext cx="533400" cy="381000"/>
        </p:xfrm>
        <a:graphic>
          <a:graphicData uri="http://schemas.openxmlformats.org/presentationml/2006/ole">
            <mc:AlternateContent xmlns:mc="http://schemas.openxmlformats.org/markup-compatibility/2006">
              <mc:Choice xmlns:v="urn:schemas-microsoft-com:vml" Requires="v">
                <p:oleObj spid="_x0000_s76003" r:id="rId3" imgW="330200" imgH="241300" progId="Equation.3">
                  <p:embed/>
                </p:oleObj>
              </mc:Choice>
              <mc:Fallback>
                <p:oleObj r:id="rId3" imgW="330200" imgH="241300" progId="Equation.3">
                  <p:embed/>
                  <p:pic>
                    <p:nvPicPr>
                      <p:cNvPr id="0" name=""/>
                      <p:cNvPicPr/>
                      <p:nvPr/>
                    </p:nvPicPr>
                    <p:blipFill>
                      <a:blip r:embed="rId4"/>
                      <a:stretch>
                        <a:fillRect/>
                      </a:stretch>
                    </p:blipFill>
                    <p:spPr>
                      <a:xfrm>
                        <a:off x="5527225" y="1817598"/>
                        <a:ext cx="533400" cy="381000"/>
                      </a:xfrm>
                      <a:prstGeom prst="rect">
                        <a:avLst/>
                      </a:prstGeom>
                      <a:noFill/>
                      <a:ln w="38100">
                        <a:noFill/>
                        <a:miter/>
                      </a:ln>
                    </p:spPr>
                  </p:pic>
                </p:oleObj>
              </mc:Fallback>
            </mc:AlternateContent>
          </a:graphicData>
        </a:graphic>
      </p:graphicFrame>
      <p:graphicFrame>
        <p:nvGraphicFramePr>
          <p:cNvPr id="6" name="Object 3">
            <a:extLst>
              <a:ext uri="{FF2B5EF4-FFF2-40B4-BE49-F238E27FC236}">
                <a16:creationId xmlns="" xmlns:a16="http://schemas.microsoft.com/office/drawing/2014/main" id="{0A7E43F5-C66B-26C6-2A3C-04EE00CD4F66}"/>
              </a:ext>
            </a:extLst>
          </p:cNvPr>
          <p:cNvGraphicFramePr/>
          <p:nvPr>
            <p:extLst>
              <p:ext uri="{D42A27DB-BD31-4B8C-83A1-F6EECF244321}">
                <p14:modId xmlns:p14="http://schemas.microsoft.com/office/powerpoint/2010/main" val="4049819657"/>
              </p:ext>
            </p:extLst>
          </p:nvPr>
        </p:nvGraphicFramePr>
        <p:xfrm>
          <a:off x="1922806" y="2137182"/>
          <a:ext cx="2314575" cy="349250"/>
        </p:xfrm>
        <a:graphic>
          <a:graphicData uri="http://schemas.openxmlformats.org/presentationml/2006/ole">
            <mc:AlternateContent xmlns:mc="http://schemas.openxmlformats.org/markup-compatibility/2006">
              <mc:Choice xmlns:v="urn:schemas-microsoft-com:vml" Requires="v">
                <p:oleObj spid="_x0000_s76004" name="Equation" r:id="rId5" imgW="1739880" imgH="241200" progId="Equation.DSMT4">
                  <p:embed/>
                </p:oleObj>
              </mc:Choice>
              <mc:Fallback>
                <p:oleObj name="Equation" r:id="rId5" imgW="1739880" imgH="241200" progId="Equation.DSMT4">
                  <p:embed/>
                  <p:pic>
                    <p:nvPicPr>
                      <p:cNvPr id="0" name=""/>
                      <p:cNvPicPr/>
                      <p:nvPr/>
                    </p:nvPicPr>
                    <p:blipFill>
                      <a:blip r:embed="rId6"/>
                      <a:stretch>
                        <a:fillRect/>
                      </a:stretch>
                    </p:blipFill>
                    <p:spPr>
                      <a:xfrm>
                        <a:off x="1922806" y="2137182"/>
                        <a:ext cx="2314575" cy="349250"/>
                      </a:xfrm>
                      <a:prstGeom prst="rect">
                        <a:avLst/>
                      </a:prstGeom>
                      <a:noFill/>
                      <a:ln w="38100">
                        <a:noFill/>
                        <a:miter/>
                      </a:ln>
                    </p:spPr>
                  </p:pic>
                </p:oleObj>
              </mc:Fallback>
            </mc:AlternateContent>
          </a:graphicData>
        </a:graphic>
      </p:graphicFrame>
      <p:graphicFrame>
        <p:nvGraphicFramePr>
          <p:cNvPr id="7" name="Object 4">
            <a:extLst>
              <a:ext uri="{FF2B5EF4-FFF2-40B4-BE49-F238E27FC236}">
                <a16:creationId xmlns="" xmlns:a16="http://schemas.microsoft.com/office/drawing/2014/main" id="{B8FB91F6-5A50-701E-69B0-9A5ECF47B21F}"/>
              </a:ext>
            </a:extLst>
          </p:cNvPr>
          <p:cNvGraphicFramePr/>
          <p:nvPr>
            <p:extLst>
              <p:ext uri="{D42A27DB-BD31-4B8C-83A1-F6EECF244321}">
                <p14:modId xmlns:p14="http://schemas.microsoft.com/office/powerpoint/2010/main" val="946929357"/>
              </p:ext>
            </p:extLst>
          </p:nvPr>
        </p:nvGraphicFramePr>
        <p:xfrm>
          <a:off x="2940428" y="2968083"/>
          <a:ext cx="533400" cy="319087"/>
        </p:xfrm>
        <a:graphic>
          <a:graphicData uri="http://schemas.openxmlformats.org/presentationml/2006/ole">
            <mc:AlternateContent xmlns:mc="http://schemas.openxmlformats.org/markup-compatibility/2006">
              <mc:Choice xmlns:v="urn:schemas-microsoft-com:vml" Requires="v">
                <p:oleObj spid="_x0000_s76005" r:id="rId7" imgW="381000" imgH="228600" progId="Equation.3">
                  <p:embed/>
                </p:oleObj>
              </mc:Choice>
              <mc:Fallback>
                <p:oleObj r:id="rId7" imgW="381000" imgH="228600" progId="Equation.3">
                  <p:embed/>
                  <p:pic>
                    <p:nvPicPr>
                      <p:cNvPr id="0" name=""/>
                      <p:cNvPicPr/>
                      <p:nvPr/>
                    </p:nvPicPr>
                    <p:blipFill>
                      <a:blip r:embed="rId8"/>
                      <a:stretch>
                        <a:fillRect/>
                      </a:stretch>
                    </p:blipFill>
                    <p:spPr>
                      <a:xfrm>
                        <a:off x="2940428" y="2968083"/>
                        <a:ext cx="533400" cy="319087"/>
                      </a:xfrm>
                      <a:prstGeom prst="rect">
                        <a:avLst/>
                      </a:prstGeom>
                      <a:noFill/>
                      <a:ln w="38100">
                        <a:noFill/>
                        <a:miter/>
                      </a:ln>
                    </p:spPr>
                  </p:pic>
                </p:oleObj>
              </mc:Fallback>
            </mc:AlternateContent>
          </a:graphicData>
        </a:graphic>
      </p:graphicFrame>
      <p:sp>
        <p:nvSpPr>
          <p:cNvPr id="8" name="Rectangle 10">
            <a:extLst>
              <a:ext uri="{FF2B5EF4-FFF2-40B4-BE49-F238E27FC236}">
                <a16:creationId xmlns="" xmlns:a16="http://schemas.microsoft.com/office/drawing/2014/main" id="{00FE9A3A-B002-90B5-B9F2-851E2BB2A19B}"/>
              </a:ext>
            </a:extLst>
          </p:cNvPr>
          <p:cNvSpPr/>
          <p:nvPr/>
        </p:nvSpPr>
        <p:spPr>
          <a:xfrm>
            <a:off x="502955" y="1498416"/>
            <a:ext cx="7850187" cy="1014730"/>
          </a:xfrm>
          <a:prstGeom prst="rect">
            <a:avLst/>
          </a:prstGeom>
          <a:noFill/>
          <a:ln w="9525">
            <a:noFill/>
          </a:ln>
        </p:spPr>
        <p:txBody>
          <a:bodyPr anchor="t" anchorCtr="0">
            <a:spAutoFit/>
          </a:bodyPr>
          <a:lstStyle/>
          <a:p>
            <a:pPr algn="just" defTabSz="914400">
              <a:tabLst>
                <a:tab pos="4895850" algn="r"/>
              </a:tabLst>
            </a:pPr>
            <a:r>
              <a:rPr lang="en-US" altLang="zh-CN" sz="2000" b="1" dirty="0">
                <a:solidFill>
                  <a:srgbClr val="000000"/>
                </a:solidFill>
                <a:latin typeface="宋体" panose="02010600030101010101" pitchFamily="2" charset="-122"/>
                <a:ea typeface="宋体" panose="02010600030101010101" pitchFamily="2" charset="-122"/>
              </a:rPr>
              <a:t>1</a:t>
            </a:r>
            <a:r>
              <a:rPr lang="zh-CN" altLang="en-US" sz="2000" b="1" dirty="0">
                <a:solidFill>
                  <a:srgbClr val="000000"/>
                </a:solidFill>
                <a:latin typeface="宋体" panose="02010600030101010101" pitchFamily="2" charset="-122"/>
                <a:ea typeface="宋体" panose="02010600030101010101" pitchFamily="2" charset="-122"/>
              </a:rPr>
              <a:t>、</a:t>
            </a:r>
            <a:r>
              <a:rPr lang="en-US" altLang="zh-CN" sz="2000" b="1" dirty="0">
                <a:solidFill>
                  <a:srgbClr val="000000"/>
                </a:solidFill>
                <a:latin typeface="宋体" panose="02010600030101010101" pitchFamily="2" charset="-122"/>
                <a:ea typeface="宋体" panose="02010600030101010101" pitchFamily="2" charset="-122"/>
              </a:rPr>
              <a:t> </a:t>
            </a:r>
            <a:r>
              <a:rPr lang="zh-CN" altLang="en-US" sz="2000" b="1" dirty="0">
                <a:solidFill>
                  <a:srgbClr val="000000"/>
                </a:solidFill>
                <a:latin typeface="宋体" panose="02010600030101010101" pitchFamily="2" charset="-122"/>
                <a:ea typeface="宋体" panose="02010600030101010101" pitchFamily="2" charset="-122"/>
              </a:rPr>
              <a:t>一单调谐回路放大器如图，</a:t>
            </a:r>
          </a:p>
          <a:p>
            <a:pPr algn="just" defTabSz="914400">
              <a:tabLst>
                <a:tab pos="4895850" algn="r"/>
              </a:tabLst>
            </a:pPr>
            <a:r>
              <a:rPr lang="zh-CN" altLang="en-US" sz="2000" b="1" dirty="0">
                <a:solidFill>
                  <a:srgbClr val="000000"/>
                </a:solidFill>
                <a:latin typeface="宋体" panose="02010600030101010101" pitchFamily="2" charset="-122"/>
                <a:ea typeface="宋体" panose="02010600030101010101" pitchFamily="2" charset="-122"/>
              </a:rPr>
              <a:t>已知：</a:t>
            </a:r>
            <a:r>
              <a:rPr lang="en-US" altLang="zh-CN" sz="2000" b="1" dirty="0">
                <a:solidFill>
                  <a:srgbClr val="000000"/>
                </a:solidFill>
                <a:latin typeface="宋体" panose="02010600030101010101" pitchFamily="2" charset="-122"/>
                <a:ea typeface="宋体" panose="02010600030101010101" pitchFamily="2" charset="-122"/>
              </a:rPr>
              <a:t>N</a:t>
            </a:r>
            <a:r>
              <a:rPr lang="en-US" altLang="zh-CN" sz="2000" b="1" baseline="-30000" dirty="0">
                <a:solidFill>
                  <a:srgbClr val="000000"/>
                </a:solidFill>
                <a:latin typeface="宋体" panose="02010600030101010101" pitchFamily="2" charset="-122"/>
                <a:ea typeface="宋体" panose="02010600030101010101" pitchFamily="2" charset="-122"/>
              </a:rPr>
              <a:t>12</a:t>
            </a:r>
            <a:r>
              <a:rPr lang="en-US" altLang="zh-CN" sz="2000" b="1" dirty="0">
                <a:solidFill>
                  <a:srgbClr val="000000"/>
                </a:solidFill>
                <a:latin typeface="宋体" panose="02010600030101010101" pitchFamily="2" charset="-122"/>
                <a:ea typeface="宋体" panose="02010600030101010101" pitchFamily="2" charset="-122"/>
              </a:rPr>
              <a:t>=5</a:t>
            </a:r>
            <a:r>
              <a:rPr lang="zh-CN" altLang="en-US" sz="2000" b="1" dirty="0">
                <a:solidFill>
                  <a:srgbClr val="000000"/>
                </a:solidFill>
                <a:latin typeface="宋体" panose="02010600030101010101" pitchFamily="2" charset="-122"/>
                <a:ea typeface="宋体" panose="02010600030101010101" pitchFamily="2" charset="-122"/>
              </a:rPr>
              <a:t>匝，</a:t>
            </a:r>
            <a:r>
              <a:rPr lang="en-US" altLang="zh-CN" sz="2000" b="1" dirty="0">
                <a:solidFill>
                  <a:srgbClr val="000000"/>
                </a:solidFill>
                <a:latin typeface="宋体" panose="02010600030101010101" pitchFamily="2" charset="-122"/>
                <a:ea typeface="宋体" panose="02010600030101010101" pitchFamily="2" charset="-122"/>
              </a:rPr>
              <a:t>N</a:t>
            </a:r>
            <a:r>
              <a:rPr lang="en-US" altLang="zh-CN" sz="2000" b="1" baseline="-30000" dirty="0">
                <a:solidFill>
                  <a:srgbClr val="000000"/>
                </a:solidFill>
                <a:latin typeface="宋体" panose="02010600030101010101" pitchFamily="2" charset="-122"/>
                <a:ea typeface="宋体" panose="02010600030101010101" pitchFamily="2" charset="-122"/>
              </a:rPr>
              <a:t>23</a:t>
            </a:r>
            <a:r>
              <a:rPr lang="en-US" altLang="zh-CN" sz="2000" b="1" dirty="0">
                <a:solidFill>
                  <a:srgbClr val="000000"/>
                </a:solidFill>
                <a:latin typeface="宋体" panose="02010600030101010101" pitchFamily="2" charset="-122"/>
                <a:ea typeface="宋体" panose="02010600030101010101" pitchFamily="2" charset="-122"/>
              </a:rPr>
              <a:t>=5</a:t>
            </a:r>
            <a:r>
              <a:rPr lang="zh-CN" altLang="en-US" sz="2000" b="1" dirty="0">
                <a:solidFill>
                  <a:srgbClr val="000000"/>
                </a:solidFill>
                <a:latin typeface="宋体" panose="02010600030101010101" pitchFamily="2" charset="-122"/>
                <a:ea typeface="宋体" panose="02010600030101010101" pitchFamily="2" charset="-122"/>
              </a:rPr>
              <a:t>匝，</a:t>
            </a:r>
            <a:r>
              <a:rPr lang="en-US" altLang="zh-CN" sz="2000" b="1" dirty="0">
                <a:solidFill>
                  <a:srgbClr val="000000"/>
                </a:solidFill>
                <a:latin typeface="宋体" panose="02010600030101010101" pitchFamily="2" charset="-122"/>
                <a:ea typeface="宋体" panose="02010600030101010101" pitchFamily="2" charset="-122"/>
              </a:rPr>
              <a:t>N</a:t>
            </a:r>
            <a:r>
              <a:rPr lang="en-US" altLang="zh-CN" sz="2000" b="1" baseline="-30000" dirty="0">
                <a:solidFill>
                  <a:srgbClr val="000000"/>
                </a:solidFill>
                <a:latin typeface="宋体" panose="02010600030101010101" pitchFamily="2" charset="-122"/>
                <a:ea typeface="宋体" panose="02010600030101010101" pitchFamily="2" charset="-122"/>
              </a:rPr>
              <a:t>45</a:t>
            </a:r>
            <a:r>
              <a:rPr lang="en-US" altLang="zh-CN" sz="2000" b="1" dirty="0">
                <a:solidFill>
                  <a:srgbClr val="000000"/>
                </a:solidFill>
                <a:latin typeface="宋体" panose="02010600030101010101" pitchFamily="2" charset="-122"/>
                <a:ea typeface="宋体" panose="02010600030101010101" pitchFamily="2" charset="-122"/>
              </a:rPr>
              <a:t>=5</a:t>
            </a:r>
            <a:r>
              <a:rPr lang="zh-CN" altLang="en-US" sz="2000" b="1" dirty="0">
                <a:solidFill>
                  <a:srgbClr val="000000"/>
                </a:solidFill>
                <a:latin typeface="宋体" panose="02010600030101010101" pitchFamily="2" charset="-122"/>
                <a:ea typeface="宋体" panose="02010600030101010101" pitchFamily="2" charset="-122"/>
              </a:rPr>
              <a:t>匝，晶体管的    </a:t>
            </a:r>
            <a:r>
              <a:rPr lang="en-US" altLang="zh-CN" sz="2000" b="1" dirty="0">
                <a:solidFill>
                  <a:srgbClr val="000000"/>
                </a:solidFill>
                <a:latin typeface="宋体" panose="02010600030101010101" pitchFamily="2" charset="-122"/>
                <a:ea typeface="宋体" panose="02010600030101010101" pitchFamily="2" charset="-122"/>
              </a:rPr>
              <a:t> =40mS</a:t>
            </a:r>
            <a:r>
              <a:rPr lang="zh-CN" altLang="en-US" sz="2000" b="1" dirty="0">
                <a:solidFill>
                  <a:srgbClr val="000000"/>
                </a:solidFill>
                <a:latin typeface="宋体" panose="02010600030101010101" pitchFamily="2" charset="-122"/>
                <a:ea typeface="宋体" panose="02010600030101010101" pitchFamily="2" charset="-122"/>
              </a:rPr>
              <a:t>，回路通频带为</a:t>
            </a:r>
            <a:r>
              <a:rPr lang="en-US" altLang="zh-CN" sz="2000" b="1" dirty="0">
                <a:solidFill>
                  <a:srgbClr val="000000"/>
                </a:solidFill>
                <a:latin typeface="宋体" panose="02010600030101010101" pitchFamily="2" charset="-122"/>
                <a:ea typeface="宋体" panose="02010600030101010101" pitchFamily="2" charset="-122"/>
              </a:rPr>
              <a:t>12kHz</a:t>
            </a:r>
            <a:r>
              <a:rPr lang="zh-CN" altLang="en-US" sz="2000" b="1" dirty="0">
                <a:solidFill>
                  <a:srgbClr val="000000"/>
                </a:solidFill>
                <a:latin typeface="宋体" panose="02010600030101010101" pitchFamily="2" charset="-122"/>
                <a:ea typeface="宋体" panose="02010600030101010101" pitchFamily="2" charset="-122"/>
              </a:rPr>
              <a:t>，          </a:t>
            </a:r>
            <a:endParaRPr lang="en-US" altLang="zh-CN" sz="2000" b="1" dirty="0">
              <a:solidFill>
                <a:srgbClr val="000000"/>
              </a:solidFill>
              <a:latin typeface="宋体" panose="02010600030101010101" pitchFamily="2" charset="-122"/>
              <a:ea typeface="宋体" panose="02010600030101010101" pitchFamily="2" charset="-122"/>
            </a:endParaRPr>
          </a:p>
        </p:txBody>
      </p:sp>
      <p:sp>
        <p:nvSpPr>
          <p:cNvPr id="9" name="Rectangle 11">
            <a:extLst>
              <a:ext uri="{FF2B5EF4-FFF2-40B4-BE49-F238E27FC236}">
                <a16:creationId xmlns="" xmlns:a16="http://schemas.microsoft.com/office/drawing/2014/main" id="{637BC568-1808-22A9-B60E-5425E8FB8D76}"/>
              </a:ext>
            </a:extLst>
          </p:cNvPr>
          <p:cNvSpPr>
            <a:spLocks noChangeArrowheads="1"/>
          </p:cNvSpPr>
          <p:nvPr/>
        </p:nvSpPr>
        <p:spPr bwMode="auto">
          <a:xfrm>
            <a:off x="521326" y="2490275"/>
            <a:ext cx="7959031" cy="1151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200">
                <a:solidFill>
                  <a:schemeClr val="tx1"/>
                </a:solidFill>
                <a:latin typeface="Tahoma" panose="020B0604030504040204" pitchFamily="34" charset="0"/>
                <a:ea typeface="宋体" panose="02010600030101010101" pitchFamily="2" charset="-122"/>
              </a:defRPr>
            </a:lvl1pPr>
            <a:lvl2pPr marL="742950" indent="-285750" eaLnBrk="0" hangingPunct="0">
              <a:defRPr sz="1200">
                <a:solidFill>
                  <a:schemeClr val="tx1"/>
                </a:solidFill>
                <a:latin typeface="Tahoma" panose="020B0604030504040204" pitchFamily="34" charset="0"/>
                <a:ea typeface="宋体" panose="02010600030101010101" pitchFamily="2" charset="-122"/>
              </a:defRPr>
            </a:lvl2pPr>
            <a:lvl3pPr marL="1143000" indent="-228600" eaLnBrk="0" hangingPunct="0">
              <a:defRPr sz="1200">
                <a:solidFill>
                  <a:schemeClr val="tx1"/>
                </a:solidFill>
                <a:latin typeface="Tahoma" panose="020B0604030504040204" pitchFamily="34" charset="0"/>
                <a:ea typeface="宋体" panose="02010600030101010101" pitchFamily="2" charset="-122"/>
              </a:defRPr>
            </a:lvl3pPr>
            <a:lvl4pPr marL="1600200" indent="-228600" eaLnBrk="0" hangingPunct="0">
              <a:defRPr sz="1200">
                <a:solidFill>
                  <a:schemeClr val="tx1"/>
                </a:solidFill>
                <a:latin typeface="Tahoma" panose="020B0604030504040204" pitchFamily="34" charset="0"/>
                <a:ea typeface="宋体" panose="02010600030101010101" pitchFamily="2" charset="-122"/>
              </a:defRPr>
            </a:lvl4pPr>
            <a:lvl5pPr marL="2057400" indent="-228600" eaLnBrk="0" hangingPunct="0">
              <a:defRPr sz="12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12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12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12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1200">
                <a:solidFill>
                  <a:schemeClr val="tx1"/>
                </a:solidFill>
                <a:latin typeface="Tahoma" panose="020B0604030504040204" pitchFamily="34" charset="0"/>
                <a:ea typeface="宋体" panose="02010600030101010101" pitchFamily="2" charset="-122"/>
              </a:defRPr>
            </a:lvl9pPr>
          </a:lstStyle>
          <a:p>
            <a:pPr marL="342900" marR="0" lvl="0" indent="-342900" algn="just" defTabSz="914400" rtl="0" eaLnBrk="1" fontAlgn="base" latinLnBrk="0" hangingPunct="1">
              <a:lnSpc>
                <a:spcPct val="120000"/>
              </a:lnSpc>
              <a:spcBef>
                <a:spcPct val="0"/>
              </a:spcBef>
              <a:spcAft>
                <a:spcPct val="0"/>
              </a:spcAft>
              <a:buClrTx/>
              <a:buSzTx/>
              <a:buFont typeface="Arial" panose="020B0604020202020204" pitchFamily="34" charset="0"/>
              <a:buAutoNum type="arabicParenR"/>
              <a:defRPr/>
            </a:pPr>
            <a:r>
              <a:rPr kumimoji="0" lang="zh-CN" altLang="en-US" sz="20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画出高频交流等效电路，并计算</a:t>
            </a:r>
            <a:r>
              <a:rPr kumimoji="0" lang="en-US" altLang="zh-CN" sz="20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A</a:t>
            </a:r>
            <a:r>
              <a:rPr kumimoji="0" lang="en-US" altLang="zh-CN" sz="2000" b="1" i="0" u="none" strike="noStrike" kern="1200" cap="none" spc="0" normalizeH="0" baseline="-30000" noProof="0" dirty="0">
                <a:ln>
                  <a:noFill/>
                </a:ln>
                <a:solidFill>
                  <a:srgbClr val="000000"/>
                </a:solidFill>
                <a:effectLst/>
                <a:uLnTx/>
                <a:uFillTx/>
                <a:latin typeface="宋体" panose="02010600030101010101" pitchFamily="2" charset="-122"/>
                <a:ea typeface="宋体" panose="02010600030101010101" pitchFamily="2" charset="-122"/>
                <a:cs typeface="+mn-cs"/>
              </a:rPr>
              <a:t>v0</a:t>
            </a:r>
            <a:r>
              <a:rPr kumimoji="0" lang="zh-CN" altLang="en-US" sz="20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；（不并联</a:t>
            </a:r>
            <a:r>
              <a:rPr kumimoji="0" lang="en-US" altLang="zh-CN" sz="20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R</a:t>
            </a:r>
            <a:r>
              <a:rPr kumimoji="0" lang="en-US" altLang="zh-CN" sz="2000" b="1" i="0" u="none" strike="noStrike" kern="1200" cap="none" spc="0" normalizeH="0" baseline="-30000" noProof="0" dirty="0">
                <a:ln>
                  <a:noFill/>
                </a:ln>
                <a:solidFill>
                  <a:srgbClr val="000000"/>
                </a:solidFill>
                <a:effectLst/>
                <a:uLnTx/>
                <a:uFillTx/>
                <a:latin typeface="宋体" panose="02010600030101010101" pitchFamily="2" charset="-122"/>
                <a:ea typeface="宋体" panose="02010600030101010101" pitchFamily="2" charset="-122"/>
                <a:cs typeface="+mn-cs"/>
              </a:rPr>
              <a:t>4</a:t>
            </a:r>
            <a:r>
              <a:rPr kumimoji="0" lang="zh-CN" altLang="en-US" sz="20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a:t>
            </a:r>
            <a:endParaRPr kumimoji="0" lang="en-US" altLang="zh-CN" sz="20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endParaRPr>
          </a:p>
          <a:p>
            <a:pPr marL="0" marR="0" lvl="0" indent="0" algn="just"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en-US" altLang="zh-CN" sz="20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2) </a:t>
            </a:r>
            <a:r>
              <a:rPr kumimoji="0" lang="zh-CN" altLang="en-US" sz="20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若并联</a:t>
            </a:r>
            <a:r>
              <a:rPr kumimoji="0" lang="en-US" altLang="zh-CN" sz="20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R</a:t>
            </a:r>
            <a:r>
              <a:rPr kumimoji="0" lang="en-US" altLang="zh-CN" sz="2000" b="1" i="0" u="none" strike="noStrike" kern="1200" cap="none" spc="0" normalizeH="0" baseline="-30000" noProof="0" dirty="0">
                <a:ln>
                  <a:noFill/>
                </a:ln>
                <a:solidFill>
                  <a:srgbClr val="000000"/>
                </a:solidFill>
                <a:effectLst/>
                <a:uLnTx/>
                <a:uFillTx/>
                <a:latin typeface="宋体" panose="02010600030101010101" pitchFamily="2" charset="-122"/>
                <a:ea typeface="宋体" panose="02010600030101010101" pitchFamily="2" charset="-122"/>
                <a:cs typeface="+mn-cs"/>
              </a:rPr>
              <a:t>4</a:t>
            </a:r>
            <a:r>
              <a:rPr kumimoji="0" lang="zh-CN" altLang="en-US" sz="20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，求</a:t>
            </a:r>
            <a:r>
              <a:rPr kumimoji="0" lang="en-US" altLang="zh-CN" sz="2000" b="1" i="0" u="none" strike="noStrike" kern="1200" cap="none" spc="0" normalizeH="0" baseline="0" noProof="0" dirty="0" err="1">
                <a:ln>
                  <a:noFill/>
                </a:ln>
                <a:solidFill>
                  <a:srgbClr val="000000"/>
                </a:solidFill>
                <a:effectLst/>
                <a:uLnTx/>
                <a:uFillTx/>
                <a:latin typeface="宋体" panose="02010600030101010101" pitchFamily="2" charset="-122"/>
                <a:ea typeface="宋体" panose="02010600030101010101" pitchFamily="2" charset="-122"/>
                <a:cs typeface="+mn-cs"/>
              </a:rPr>
              <a:t>A</a:t>
            </a:r>
            <a:r>
              <a:rPr kumimoji="0" lang="en-US" altLang="zh-CN" sz="2000" b="1" i="0" u="none" strike="noStrike" kern="1200" cap="none" spc="0" normalizeH="0" baseline="-30000" noProof="0" dirty="0" err="1">
                <a:ln>
                  <a:noFill/>
                </a:ln>
                <a:solidFill>
                  <a:srgbClr val="000000"/>
                </a:solidFill>
                <a:effectLst/>
                <a:uLnTx/>
                <a:uFillTx/>
                <a:latin typeface="宋体" panose="02010600030101010101" pitchFamily="2" charset="-122"/>
                <a:ea typeface="宋体" panose="02010600030101010101" pitchFamily="2" charset="-122"/>
                <a:cs typeface="+mn-cs"/>
              </a:rPr>
              <a:t>vo</a:t>
            </a:r>
            <a:r>
              <a:rPr kumimoji="0" lang="zh-CN" altLang="en-US" sz="20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    并说明</a:t>
            </a:r>
            <a:r>
              <a:rPr kumimoji="0" lang="en-US" altLang="zh-CN" sz="20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R</a:t>
            </a:r>
            <a:r>
              <a:rPr kumimoji="0" lang="en-US" altLang="zh-CN" sz="2000" b="1" i="0" u="none" strike="noStrike" kern="1200" cap="none" spc="0" normalizeH="0" baseline="-30000" noProof="0" dirty="0">
                <a:ln>
                  <a:noFill/>
                </a:ln>
                <a:solidFill>
                  <a:srgbClr val="000000"/>
                </a:solidFill>
                <a:effectLst/>
                <a:uLnTx/>
                <a:uFillTx/>
                <a:latin typeface="宋体" panose="02010600030101010101" pitchFamily="2" charset="-122"/>
                <a:ea typeface="宋体" panose="02010600030101010101" pitchFamily="2" charset="-122"/>
                <a:cs typeface="+mn-cs"/>
              </a:rPr>
              <a:t>4</a:t>
            </a:r>
            <a:r>
              <a:rPr kumimoji="0" lang="zh-CN" altLang="en-US" sz="20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的作用；</a:t>
            </a:r>
          </a:p>
          <a:p>
            <a:pPr marL="0" marR="0" lvl="0" indent="0" algn="just" defTabSz="914400" rtl="0" eaLnBrk="0" fontAlgn="base" latinLnBrk="0" hangingPunct="0">
              <a:lnSpc>
                <a:spcPct val="120000"/>
              </a:lnSpc>
              <a:spcBef>
                <a:spcPct val="0"/>
              </a:spcBef>
              <a:spcAft>
                <a:spcPct val="0"/>
              </a:spcAft>
              <a:buClrTx/>
              <a:buSzTx/>
              <a:buFont typeface="Arial" panose="020B0604020202020204" pitchFamily="34" charset="0"/>
              <a:buNone/>
              <a:defRPr/>
            </a:pPr>
            <a:r>
              <a:rPr kumimoji="0" lang="en-US" altLang="zh-CN" sz="20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3) </a:t>
            </a:r>
            <a:r>
              <a:rPr kumimoji="0" lang="zh-CN" altLang="en-US" sz="20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不采用</a:t>
            </a:r>
            <a:r>
              <a:rPr kumimoji="0" lang="en-US" altLang="zh-CN" sz="20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R</a:t>
            </a:r>
            <a:r>
              <a:rPr kumimoji="0" lang="en-US" altLang="zh-CN" sz="2000" b="1" i="0" u="none" strike="noStrike" kern="1200" cap="none" spc="0" normalizeH="0" baseline="-30000" noProof="0" dirty="0">
                <a:ln>
                  <a:noFill/>
                </a:ln>
                <a:solidFill>
                  <a:srgbClr val="000000"/>
                </a:solidFill>
                <a:effectLst/>
                <a:uLnTx/>
                <a:uFillTx/>
                <a:latin typeface="宋体" panose="02010600030101010101" pitchFamily="2" charset="-122"/>
                <a:ea typeface="宋体" panose="02010600030101010101" pitchFamily="2" charset="-122"/>
                <a:cs typeface="+mn-cs"/>
              </a:rPr>
              <a:t>4</a:t>
            </a:r>
            <a:r>
              <a:rPr kumimoji="0" lang="zh-CN" altLang="en-US" sz="20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，若采用中和法使其稳定工作，问中和电容应如何接入？</a:t>
            </a:r>
            <a:endParaRPr kumimoji="0" lang="en-US" altLang="zh-CN" sz="20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endParaRPr>
          </a:p>
        </p:txBody>
      </p:sp>
      <p:graphicFrame>
        <p:nvGraphicFramePr>
          <p:cNvPr id="10" name="Object 8">
            <a:extLst>
              <a:ext uri="{FF2B5EF4-FFF2-40B4-BE49-F238E27FC236}">
                <a16:creationId xmlns="" xmlns:a16="http://schemas.microsoft.com/office/drawing/2014/main" id="{306005F7-9C09-0FFD-58F8-AF1A676598D1}"/>
              </a:ext>
            </a:extLst>
          </p:cNvPr>
          <p:cNvGraphicFramePr/>
          <p:nvPr>
            <p:extLst>
              <p:ext uri="{D42A27DB-BD31-4B8C-83A1-F6EECF244321}">
                <p14:modId xmlns:p14="http://schemas.microsoft.com/office/powerpoint/2010/main" val="2901121225"/>
              </p:ext>
            </p:extLst>
          </p:nvPr>
        </p:nvGraphicFramePr>
        <p:xfrm>
          <a:off x="564612" y="3676787"/>
          <a:ext cx="4032250" cy="2428875"/>
        </p:xfrm>
        <a:graphic>
          <a:graphicData uri="http://schemas.openxmlformats.org/presentationml/2006/ole">
            <mc:AlternateContent xmlns:mc="http://schemas.openxmlformats.org/markup-compatibility/2006">
              <mc:Choice xmlns:v="urn:schemas-microsoft-com:vml" Requires="v">
                <p:oleObj spid="_x0000_s76006" r:id="rId9" imgW="4318000" imgH="2590800" progId="Word.Picture.8">
                  <p:embed/>
                </p:oleObj>
              </mc:Choice>
              <mc:Fallback>
                <p:oleObj r:id="rId9" imgW="4318000" imgH="2590800" progId="Word.Picture.8">
                  <p:embed/>
                  <p:pic>
                    <p:nvPicPr>
                      <p:cNvPr id="0" name=""/>
                      <p:cNvPicPr/>
                      <p:nvPr/>
                    </p:nvPicPr>
                    <p:blipFill>
                      <a:blip r:embed="rId10">
                        <a:clrChange>
                          <a:clrFrom>
                            <a:srgbClr val="FFFFFF"/>
                          </a:clrFrom>
                          <a:clrTo>
                            <a:srgbClr val="CCECFF"/>
                          </a:clrTo>
                        </a:clrChange>
                      </a:blip>
                      <a:stretch>
                        <a:fillRect/>
                      </a:stretch>
                    </p:blipFill>
                    <p:spPr>
                      <a:xfrm>
                        <a:off x="564612" y="3676787"/>
                        <a:ext cx="4032250" cy="2428875"/>
                      </a:xfrm>
                      <a:prstGeom prst="rect">
                        <a:avLst/>
                      </a:prstGeom>
                      <a:noFill/>
                      <a:ln w="38100">
                        <a:noFill/>
                        <a:miter/>
                      </a:ln>
                    </p:spPr>
                  </p:pic>
                </p:oleObj>
              </mc:Fallback>
            </mc:AlternateContent>
          </a:graphicData>
        </a:graphic>
      </p:graphicFrame>
      <p:graphicFrame>
        <p:nvGraphicFramePr>
          <p:cNvPr id="11" name="Object 5">
            <a:extLst>
              <a:ext uri="{FF2B5EF4-FFF2-40B4-BE49-F238E27FC236}">
                <a16:creationId xmlns="" xmlns:a16="http://schemas.microsoft.com/office/drawing/2014/main" id="{B9706063-C251-6B39-25EB-8BE2F5DEF5E9}"/>
              </a:ext>
            </a:extLst>
          </p:cNvPr>
          <p:cNvGraphicFramePr/>
          <p:nvPr>
            <p:extLst>
              <p:ext uri="{D42A27DB-BD31-4B8C-83A1-F6EECF244321}">
                <p14:modId xmlns:p14="http://schemas.microsoft.com/office/powerpoint/2010/main" val="2458215633"/>
              </p:ext>
            </p:extLst>
          </p:nvPr>
        </p:nvGraphicFramePr>
        <p:xfrm>
          <a:off x="4773544" y="4260019"/>
          <a:ext cx="3706813" cy="1833562"/>
        </p:xfrm>
        <a:graphic>
          <a:graphicData uri="http://schemas.openxmlformats.org/presentationml/2006/ole">
            <mc:AlternateContent xmlns:mc="http://schemas.openxmlformats.org/markup-compatibility/2006">
              <mc:Choice xmlns:v="urn:schemas-microsoft-com:vml" Requires="v">
                <p:oleObj spid="_x0000_s76007" r:id="rId11" imgW="2603500" imgH="1244600" progId="Word.Picture.8">
                  <p:embed/>
                </p:oleObj>
              </mc:Choice>
              <mc:Fallback>
                <p:oleObj r:id="rId11" imgW="2603500" imgH="1244600" progId="Word.Picture.8">
                  <p:embed/>
                  <p:pic>
                    <p:nvPicPr>
                      <p:cNvPr id="0" name=""/>
                      <p:cNvPicPr/>
                      <p:nvPr/>
                    </p:nvPicPr>
                    <p:blipFill>
                      <a:blip r:embed="rId12">
                        <a:clrChange>
                          <a:clrFrom>
                            <a:srgbClr val="FF0000"/>
                          </a:clrFrom>
                          <a:clrTo>
                            <a:srgbClr val="000000"/>
                          </a:clrTo>
                        </a:clrChange>
                        <a:clrChange>
                          <a:clrFrom>
                            <a:srgbClr val="FFFFFF"/>
                          </a:clrFrom>
                          <a:clrTo>
                            <a:srgbClr val="CCECFF"/>
                          </a:clrTo>
                        </a:clrChange>
                      </a:blip>
                      <a:stretch>
                        <a:fillRect/>
                      </a:stretch>
                    </p:blipFill>
                    <p:spPr>
                      <a:xfrm>
                        <a:off x="4773544" y="4260019"/>
                        <a:ext cx="3706813" cy="1833562"/>
                      </a:xfrm>
                      <a:prstGeom prst="rect">
                        <a:avLst/>
                      </a:prstGeom>
                      <a:noFill/>
                      <a:ln w="38100">
                        <a:noFill/>
                        <a:miter/>
                      </a:ln>
                    </p:spPr>
                  </p:pic>
                </p:oleObj>
              </mc:Fallback>
            </mc:AlternateContent>
          </a:graphicData>
        </a:graphic>
      </p:graphicFrame>
    </p:spTree>
    <p:extLst>
      <p:ext uri="{BB962C8B-B14F-4D97-AF65-F5344CB8AC3E}">
        <p14:creationId xmlns:p14="http://schemas.microsoft.com/office/powerpoint/2010/main" val="399878818"/>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103</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25"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3.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高频</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小信号</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放大器</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graphicFrame>
        <p:nvGraphicFramePr>
          <p:cNvPr id="6" name="Object 7">
            <a:extLst>
              <a:ext uri="{FF2B5EF4-FFF2-40B4-BE49-F238E27FC236}">
                <a16:creationId xmlns="" xmlns:a16="http://schemas.microsoft.com/office/drawing/2014/main" id="{2106D051-67A6-7A29-A09D-96E931E31702}"/>
              </a:ext>
            </a:extLst>
          </p:cNvPr>
          <p:cNvGraphicFramePr/>
          <p:nvPr>
            <p:extLst>
              <p:ext uri="{D42A27DB-BD31-4B8C-83A1-F6EECF244321}">
                <p14:modId xmlns:p14="http://schemas.microsoft.com/office/powerpoint/2010/main" val="4261271926"/>
              </p:ext>
            </p:extLst>
          </p:nvPr>
        </p:nvGraphicFramePr>
        <p:xfrm>
          <a:off x="612857" y="2667381"/>
          <a:ext cx="3744912" cy="1112837"/>
        </p:xfrm>
        <a:graphic>
          <a:graphicData uri="http://schemas.openxmlformats.org/presentationml/2006/ole">
            <mc:AlternateContent xmlns:mc="http://schemas.openxmlformats.org/markup-compatibility/2006">
              <mc:Choice xmlns:v="urn:schemas-microsoft-com:vml" Requires="v">
                <p:oleObj spid="_x0000_s77207" r:id="rId3" imgW="2273300" imgH="673100" progId="Equation.3">
                  <p:embed/>
                </p:oleObj>
              </mc:Choice>
              <mc:Fallback>
                <p:oleObj r:id="rId3" imgW="2273300" imgH="673100" progId="Equation.3">
                  <p:embed/>
                  <p:pic>
                    <p:nvPicPr>
                      <p:cNvPr id="0" name=""/>
                      <p:cNvPicPr/>
                      <p:nvPr/>
                    </p:nvPicPr>
                    <p:blipFill>
                      <a:blip r:embed="rId4"/>
                      <a:stretch>
                        <a:fillRect/>
                      </a:stretch>
                    </p:blipFill>
                    <p:spPr>
                      <a:xfrm>
                        <a:off x="612857" y="2667381"/>
                        <a:ext cx="3744912" cy="1112837"/>
                      </a:xfrm>
                      <a:prstGeom prst="rect">
                        <a:avLst/>
                      </a:prstGeom>
                      <a:noFill/>
                      <a:ln w="38100">
                        <a:noFill/>
                        <a:miter/>
                      </a:ln>
                    </p:spPr>
                  </p:pic>
                </p:oleObj>
              </mc:Fallback>
            </mc:AlternateContent>
          </a:graphicData>
        </a:graphic>
      </p:graphicFrame>
      <p:graphicFrame>
        <p:nvGraphicFramePr>
          <p:cNvPr id="7" name="Object 6">
            <a:extLst>
              <a:ext uri="{FF2B5EF4-FFF2-40B4-BE49-F238E27FC236}">
                <a16:creationId xmlns="" xmlns:a16="http://schemas.microsoft.com/office/drawing/2014/main" id="{3C27FD10-9685-8A6E-D886-6CAAE56BA93C}"/>
              </a:ext>
            </a:extLst>
          </p:cNvPr>
          <p:cNvGraphicFramePr/>
          <p:nvPr>
            <p:extLst>
              <p:ext uri="{D42A27DB-BD31-4B8C-83A1-F6EECF244321}">
                <p14:modId xmlns:p14="http://schemas.microsoft.com/office/powerpoint/2010/main" val="779853655"/>
              </p:ext>
            </p:extLst>
          </p:nvPr>
        </p:nvGraphicFramePr>
        <p:xfrm>
          <a:off x="2009857" y="1959356"/>
          <a:ext cx="2665412" cy="611187"/>
        </p:xfrm>
        <a:graphic>
          <a:graphicData uri="http://schemas.openxmlformats.org/presentationml/2006/ole">
            <mc:AlternateContent xmlns:mc="http://schemas.openxmlformats.org/markup-compatibility/2006">
              <mc:Choice xmlns:v="urn:schemas-microsoft-com:vml" Requires="v">
                <p:oleObj spid="_x0000_s77208" r:id="rId5" imgW="1536065" imgH="355600" progId="Equation.3">
                  <p:embed/>
                </p:oleObj>
              </mc:Choice>
              <mc:Fallback>
                <p:oleObj r:id="rId5" imgW="1536065" imgH="355600" progId="Equation.3">
                  <p:embed/>
                  <p:pic>
                    <p:nvPicPr>
                      <p:cNvPr id="0" name=""/>
                      <p:cNvPicPr/>
                      <p:nvPr/>
                    </p:nvPicPr>
                    <p:blipFill>
                      <a:blip r:embed="rId6"/>
                      <a:stretch>
                        <a:fillRect/>
                      </a:stretch>
                    </p:blipFill>
                    <p:spPr>
                      <a:xfrm>
                        <a:off x="2009857" y="1959356"/>
                        <a:ext cx="2665412" cy="611187"/>
                      </a:xfrm>
                      <a:prstGeom prst="rect">
                        <a:avLst/>
                      </a:prstGeom>
                      <a:noFill/>
                      <a:ln w="38100">
                        <a:noFill/>
                        <a:miter/>
                      </a:ln>
                    </p:spPr>
                  </p:pic>
                </p:oleObj>
              </mc:Fallback>
            </mc:AlternateContent>
          </a:graphicData>
        </a:graphic>
      </p:graphicFrame>
      <p:sp>
        <p:nvSpPr>
          <p:cNvPr id="8" name="矩形 116744">
            <a:extLst>
              <a:ext uri="{FF2B5EF4-FFF2-40B4-BE49-F238E27FC236}">
                <a16:creationId xmlns="" xmlns:a16="http://schemas.microsoft.com/office/drawing/2014/main" id="{77DAAA73-2884-93E0-524F-B0EEF6B02D19}"/>
              </a:ext>
            </a:extLst>
          </p:cNvPr>
          <p:cNvSpPr/>
          <p:nvPr/>
        </p:nvSpPr>
        <p:spPr>
          <a:xfrm>
            <a:off x="271382" y="1454471"/>
            <a:ext cx="1521570" cy="400110"/>
          </a:xfrm>
          <a:prstGeom prst="rect">
            <a:avLst/>
          </a:prstGeom>
          <a:noFill/>
          <a:ln w="9525">
            <a:noFill/>
          </a:ln>
        </p:spPr>
        <p:txBody>
          <a:bodyPr wrap="none" anchor="t" anchorCtr="0">
            <a:spAutoFit/>
          </a:bodyPr>
          <a:lstStyle/>
          <a:p>
            <a:pPr algn="ctr"/>
            <a:r>
              <a:rPr lang="zh-CN" altLang="en-US" sz="2000" b="1" dirty="0">
                <a:solidFill>
                  <a:schemeClr val="tx1"/>
                </a:solidFill>
                <a:latin typeface="Times New Roman" panose="02020603050405020304" pitchFamily="18" charset="0"/>
                <a:cs typeface="Times New Roman" panose="02020603050405020304" pitchFamily="18" charset="0"/>
              </a:rPr>
              <a:t>（</a:t>
            </a:r>
            <a:r>
              <a:rPr lang="en-US" altLang="zh-CN" sz="2000" b="1" dirty="0">
                <a:solidFill>
                  <a:schemeClr val="tx1"/>
                </a:solidFill>
                <a:latin typeface="Times New Roman" panose="02020603050405020304" pitchFamily="18" charset="0"/>
                <a:cs typeface="Times New Roman" panose="02020603050405020304" pitchFamily="18" charset="0"/>
              </a:rPr>
              <a:t>1)</a:t>
            </a:r>
            <a:r>
              <a:rPr lang="zh-CN" altLang="en-US" sz="2000" b="1" dirty="0">
                <a:solidFill>
                  <a:schemeClr val="tx1"/>
                </a:solidFill>
                <a:latin typeface="Times New Roman" panose="02020603050405020304" pitchFamily="18" charset="0"/>
                <a:cs typeface="Times New Roman" panose="02020603050405020304" pitchFamily="18" charset="0"/>
              </a:rPr>
              <a:t>计算</a:t>
            </a:r>
            <a:r>
              <a:rPr lang="en-US" altLang="zh-CN" sz="2000" b="1" dirty="0">
                <a:solidFill>
                  <a:schemeClr val="tx1"/>
                </a:solidFill>
                <a:latin typeface="Times New Roman" panose="02020603050405020304" pitchFamily="18" charset="0"/>
                <a:cs typeface="Times New Roman" panose="02020603050405020304" pitchFamily="18" charset="0"/>
              </a:rPr>
              <a:t>A</a:t>
            </a:r>
            <a:r>
              <a:rPr lang="en-US" altLang="zh-CN" sz="2000" b="1" baseline="-30000" dirty="0">
                <a:solidFill>
                  <a:schemeClr val="tx1"/>
                </a:solidFill>
                <a:latin typeface="Times New Roman" panose="02020603050405020304" pitchFamily="18" charset="0"/>
                <a:cs typeface="Times New Roman" panose="02020603050405020304" pitchFamily="18" charset="0"/>
              </a:rPr>
              <a:t>v0</a:t>
            </a:r>
            <a:endParaRPr lang="zh-CN" altLang="en-US" sz="2000" b="1" baseline="-30000" dirty="0">
              <a:solidFill>
                <a:schemeClr val="tx1"/>
              </a:solidFill>
              <a:latin typeface="Times New Roman" panose="02020603050405020304" pitchFamily="18" charset="0"/>
              <a:cs typeface="Times New Roman" panose="02020603050405020304" pitchFamily="18" charset="0"/>
            </a:endParaRPr>
          </a:p>
        </p:txBody>
      </p:sp>
      <p:sp>
        <p:nvSpPr>
          <p:cNvPr id="9" name="矩形 116746">
            <a:extLst>
              <a:ext uri="{FF2B5EF4-FFF2-40B4-BE49-F238E27FC236}">
                <a16:creationId xmlns="" xmlns:a16="http://schemas.microsoft.com/office/drawing/2014/main" id="{2D274812-600A-7E64-1953-71C8444051A6}"/>
              </a:ext>
            </a:extLst>
          </p:cNvPr>
          <p:cNvSpPr/>
          <p:nvPr/>
        </p:nvSpPr>
        <p:spPr>
          <a:xfrm>
            <a:off x="612857" y="2008568"/>
            <a:ext cx="1104900" cy="366713"/>
          </a:xfrm>
          <a:prstGeom prst="rect">
            <a:avLst/>
          </a:prstGeom>
          <a:noFill/>
          <a:ln w="9525">
            <a:noFill/>
          </a:ln>
        </p:spPr>
        <p:txBody>
          <a:bodyPr wrap="none" anchor="t" anchorCtr="0">
            <a:spAutoFit/>
          </a:bodyPr>
          <a:lstStyle/>
          <a:p>
            <a:pPr algn="ctr"/>
            <a:r>
              <a:rPr lang="zh-CN" altLang="en-US" sz="1800" b="1" dirty="0">
                <a:solidFill>
                  <a:srgbClr val="000000"/>
                </a:solidFill>
                <a:latin typeface="Times New Roman" panose="02020603050405020304" pitchFamily="18" charset="0"/>
                <a:cs typeface="Times New Roman" panose="02020603050405020304" pitchFamily="18" charset="0"/>
              </a:rPr>
              <a:t>接入系数</a:t>
            </a:r>
          </a:p>
        </p:txBody>
      </p:sp>
      <p:sp>
        <p:nvSpPr>
          <p:cNvPr id="10" name="矩形 116748">
            <a:extLst>
              <a:ext uri="{FF2B5EF4-FFF2-40B4-BE49-F238E27FC236}">
                <a16:creationId xmlns="" xmlns:a16="http://schemas.microsoft.com/office/drawing/2014/main" id="{459E17A6-58B0-A21C-4C96-06F45D5AF705}"/>
              </a:ext>
            </a:extLst>
          </p:cNvPr>
          <p:cNvSpPr/>
          <p:nvPr/>
        </p:nvSpPr>
        <p:spPr>
          <a:xfrm>
            <a:off x="1940978" y="1495806"/>
            <a:ext cx="3049233" cy="369332"/>
          </a:xfrm>
          <a:prstGeom prst="rect">
            <a:avLst/>
          </a:prstGeom>
          <a:noFill/>
          <a:ln w="9525">
            <a:noFill/>
          </a:ln>
        </p:spPr>
        <p:txBody>
          <a:bodyPr wrap="none" anchor="t" anchorCtr="0">
            <a:spAutoFit/>
          </a:bodyPr>
          <a:lstStyle/>
          <a:p>
            <a:pPr algn="ctr"/>
            <a:r>
              <a:rPr lang="en-US" altLang="zh-CN" sz="1800" b="1" dirty="0">
                <a:solidFill>
                  <a:srgbClr val="000000"/>
                </a:solidFill>
                <a:latin typeface="Times New Roman" panose="02020603050405020304" pitchFamily="18" charset="0"/>
                <a:cs typeface="Times New Roman" panose="02020603050405020304" pitchFamily="18" charset="0"/>
              </a:rPr>
              <a:t>N</a:t>
            </a:r>
            <a:r>
              <a:rPr lang="en-US" altLang="zh-CN" sz="1800" b="1" baseline="-30000" dirty="0">
                <a:solidFill>
                  <a:srgbClr val="000000"/>
                </a:solidFill>
                <a:latin typeface="Times New Roman" panose="02020603050405020304" pitchFamily="18" charset="0"/>
                <a:cs typeface="Times New Roman" panose="02020603050405020304" pitchFamily="18" charset="0"/>
              </a:rPr>
              <a:t>12</a:t>
            </a:r>
            <a:r>
              <a:rPr lang="en-US" altLang="zh-CN" sz="1800" b="1" dirty="0">
                <a:solidFill>
                  <a:srgbClr val="000000"/>
                </a:solidFill>
                <a:latin typeface="Times New Roman" panose="02020603050405020304" pitchFamily="18" charset="0"/>
                <a:cs typeface="Times New Roman" panose="02020603050405020304" pitchFamily="18" charset="0"/>
              </a:rPr>
              <a:t>=5</a:t>
            </a:r>
            <a:r>
              <a:rPr lang="zh-CN" altLang="en-US" sz="1800" b="1" dirty="0">
                <a:solidFill>
                  <a:srgbClr val="000000"/>
                </a:solidFill>
                <a:latin typeface="Times New Roman" panose="02020603050405020304" pitchFamily="18" charset="0"/>
                <a:cs typeface="Times New Roman" panose="02020603050405020304" pitchFamily="18" charset="0"/>
              </a:rPr>
              <a:t>匝，</a:t>
            </a:r>
            <a:r>
              <a:rPr lang="en-US" altLang="zh-CN" sz="1800" b="1" dirty="0">
                <a:solidFill>
                  <a:srgbClr val="000000"/>
                </a:solidFill>
                <a:latin typeface="Times New Roman" panose="02020603050405020304" pitchFamily="18" charset="0"/>
                <a:cs typeface="Times New Roman" panose="02020603050405020304" pitchFamily="18" charset="0"/>
              </a:rPr>
              <a:t>N</a:t>
            </a:r>
            <a:r>
              <a:rPr lang="en-US" altLang="zh-CN" sz="1800" b="1" baseline="-30000" dirty="0">
                <a:solidFill>
                  <a:srgbClr val="000000"/>
                </a:solidFill>
                <a:latin typeface="Times New Roman" panose="02020603050405020304" pitchFamily="18" charset="0"/>
                <a:cs typeface="Times New Roman" panose="02020603050405020304" pitchFamily="18" charset="0"/>
              </a:rPr>
              <a:t>23</a:t>
            </a:r>
            <a:r>
              <a:rPr lang="en-US" altLang="zh-CN" sz="1800" b="1" dirty="0">
                <a:solidFill>
                  <a:srgbClr val="000000"/>
                </a:solidFill>
                <a:latin typeface="Times New Roman" panose="02020603050405020304" pitchFamily="18" charset="0"/>
                <a:cs typeface="Times New Roman" panose="02020603050405020304" pitchFamily="18" charset="0"/>
              </a:rPr>
              <a:t>=5</a:t>
            </a:r>
            <a:r>
              <a:rPr lang="zh-CN" altLang="en-US" sz="1800" b="1" dirty="0">
                <a:solidFill>
                  <a:srgbClr val="000000"/>
                </a:solidFill>
                <a:latin typeface="Times New Roman" panose="02020603050405020304" pitchFamily="18" charset="0"/>
                <a:cs typeface="Times New Roman" panose="02020603050405020304" pitchFamily="18" charset="0"/>
              </a:rPr>
              <a:t>匝，</a:t>
            </a:r>
            <a:r>
              <a:rPr lang="en-US" altLang="zh-CN" sz="1800" b="1" dirty="0">
                <a:solidFill>
                  <a:srgbClr val="000000"/>
                </a:solidFill>
                <a:latin typeface="Times New Roman" panose="02020603050405020304" pitchFamily="18" charset="0"/>
                <a:cs typeface="Times New Roman" panose="02020603050405020304" pitchFamily="18" charset="0"/>
              </a:rPr>
              <a:t>N</a:t>
            </a:r>
            <a:r>
              <a:rPr lang="en-US" altLang="zh-CN" sz="1800" b="1" baseline="-30000" dirty="0">
                <a:solidFill>
                  <a:srgbClr val="000000"/>
                </a:solidFill>
                <a:latin typeface="Times New Roman" panose="02020603050405020304" pitchFamily="18" charset="0"/>
                <a:cs typeface="Times New Roman" panose="02020603050405020304" pitchFamily="18" charset="0"/>
              </a:rPr>
              <a:t>45</a:t>
            </a:r>
            <a:r>
              <a:rPr lang="en-US" altLang="zh-CN" sz="1800" b="1" dirty="0">
                <a:solidFill>
                  <a:srgbClr val="000000"/>
                </a:solidFill>
                <a:latin typeface="Times New Roman" panose="02020603050405020304" pitchFamily="18" charset="0"/>
                <a:cs typeface="Times New Roman" panose="02020603050405020304" pitchFamily="18" charset="0"/>
              </a:rPr>
              <a:t>=5</a:t>
            </a:r>
            <a:r>
              <a:rPr lang="zh-CN" altLang="en-US" sz="1800" b="1" dirty="0">
                <a:solidFill>
                  <a:srgbClr val="000000"/>
                </a:solidFill>
                <a:latin typeface="Times New Roman" panose="02020603050405020304" pitchFamily="18" charset="0"/>
                <a:cs typeface="Times New Roman" panose="02020603050405020304" pitchFamily="18" charset="0"/>
              </a:rPr>
              <a:t>匝</a:t>
            </a:r>
          </a:p>
        </p:txBody>
      </p:sp>
      <p:grpSp>
        <p:nvGrpSpPr>
          <p:cNvPr id="11" name="组合 116751">
            <a:extLst>
              <a:ext uri="{FF2B5EF4-FFF2-40B4-BE49-F238E27FC236}">
                <a16:creationId xmlns="" xmlns:a16="http://schemas.microsoft.com/office/drawing/2014/main" id="{A3B9BAE2-72A5-D67F-814B-DC472EB44642}"/>
              </a:ext>
            </a:extLst>
          </p:cNvPr>
          <p:cNvGrpSpPr>
            <a:grpSpLocks noChangeAspect="1"/>
          </p:cNvGrpSpPr>
          <p:nvPr/>
        </p:nvGrpSpPr>
        <p:grpSpPr>
          <a:xfrm>
            <a:off x="5043117" y="1475138"/>
            <a:ext cx="3211575" cy="358775"/>
            <a:chOff x="3515" y="527"/>
            <a:chExt cx="2203" cy="226"/>
          </a:xfrm>
        </p:grpSpPr>
        <p:sp>
          <p:nvSpPr>
            <p:cNvPr id="12" name="矩形 116750">
              <a:extLst>
                <a:ext uri="{FF2B5EF4-FFF2-40B4-BE49-F238E27FC236}">
                  <a16:creationId xmlns="" xmlns:a16="http://schemas.microsoft.com/office/drawing/2014/main" id="{B04364FC-274A-1BBD-C258-B556623D730B}"/>
                </a:ext>
              </a:extLst>
            </p:cNvPr>
            <p:cNvSpPr>
              <a:spLocks noChangeAspect="1" noTextEdit="1"/>
            </p:cNvSpPr>
            <p:nvPr/>
          </p:nvSpPr>
          <p:spPr>
            <a:xfrm>
              <a:off x="3515" y="527"/>
              <a:ext cx="2152" cy="222"/>
            </a:xfrm>
            <a:prstGeom prst="rect">
              <a:avLst/>
            </a:prstGeom>
            <a:noFill/>
            <a:ln w="9525">
              <a:noFill/>
            </a:ln>
          </p:spPr>
          <p:txBody>
            <a:bodyPr anchor="t" anchorCtr="0"/>
            <a:lstStyle/>
            <a:p>
              <a:endParaRPr lang="zh-CN" altLang="en-US">
                <a:latin typeface="Times New Roman" panose="02020603050405020304" pitchFamily="18" charset="0"/>
                <a:cs typeface="Times New Roman" panose="02020603050405020304" pitchFamily="18" charset="0"/>
              </a:endParaRPr>
            </a:p>
          </p:txBody>
        </p:sp>
        <p:sp>
          <p:nvSpPr>
            <p:cNvPr id="13" name="矩形 116752">
              <a:extLst>
                <a:ext uri="{FF2B5EF4-FFF2-40B4-BE49-F238E27FC236}">
                  <a16:creationId xmlns="" xmlns:a16="http://schemas.microsoft.com/office/drawing/2014/main" id="{17E3ABD1-F540-3D76-D343-74C1001E9BFE}"/>
                </a:ext>
              </a:extLst>
            </p:cNvPr>
            <p:cNvSpPr/>
            <p:nvPr/>
          </p:nvSpPr>
          <p:spPr>
            <a:xfrm>
              <a:off x="5561" y="545"/>
              <a:ext cx="157" cy="184"/>
            </a:xfrm>
            <a:prstGeom prst="rect">
              <a:avLst/>
            </a:prstGeom>
            <a:noFill/>
            <a:ln w="9525">
              <a:noFill/>
            </a:ln>
          </p:spPr>
          <p:txBody>
            <a:bodyPr wrap="none" lIns="0" tIns="0" rIns="0" bIns="0" anchor="t" anchorCtr="0">
              <a:spAutoFit/>
            </a:bodyPr>
            <a:lstStyle/>
            <a:p>
              <a:pPr algn="ctr"/>
              <a:r>
                <a:rPr lang="en-US" altLang="zh-CN" sz="1900" dirty="0">
                  <a:solidFill>
                    <a:srgbClr val="000000"/>
                  </a:solidFill>
                  <a:latin typeface="Times New Roman" panose="02020603050405020304" pitchFamily="18" charset="0"/>
                  <a:cs typeface="Times New Roman" panose="02020603050405020304" pitchFamily="18" charset="0"/>
                </a:rPr>
                <a:t>W</a:t>
              </a:r>
              <a:endParaRPr lang="en-US" altLang="zh-CN" sz="3200" b="1" dirty="0">
                <a:solidFill>
                  <a:srgbClr val="000000"/>
                </a:solidFill>
                <a:latin typeface="Times New Roman" panose="02020603050405020304" pitchFamily="18" charset="0"/>
                <a:cs typeface="Times New Roman" panose="02020603050405020304" pitchFamily="18" charset="0"/>
              </a:endParaRPr>
            </a:p>
          </p:txBody>
        </p:sp>
        <p:sp>
          <p:nvSpPr>
            <p:cNvPr id="14" name="矩形 116753">
              <a:extLst>
                <a:ext uri="{FF2B5EF4-FFF2-40B4-BE49-F238E27FC236}">
                  <a16:creationId xmlns="" xmlns:a16="http://schemas.microsoft.com/office/drawing/2014/main" id="{718C03E2-4FA8-662D-50D0-661F70BBB0E3}"/>
                </a:ext>
              </a:extLst>
            </p:cNvPr>
            <p:cNvSpPr/>
            <p:nvPr/>
          </p:nvSpPr>
          <p:spPr>
            <a:xfrm>
              <a:off x="5252" y="538"/>
              <a:ext cx="95" cy="184"/>
            </a:xfrm>
            <a:prstGeom prst="rect">
              <a:avLst/>
            </a:prstGeom>
            <a:noFill/>
            <a:ln w="9525">
              <a:noFill/>
            </a:ln>
          </p:spPr>
          <p:txBody>
            <a:bodyPr wrap="none" lIns="0" tIns="0" rIns="0" bIns="0" anchor="t" anchorCtr="0">
              <a:spAutoFit/>
            </a:bodyPr>
            <a:lstStyle/>
            <a:p>
              <a:pPr algn="ctr"/>
              <a:r>
                <a:rPr lang="en-US" altLang="zh-CN" sz="1900" dirty="0">
                  <a:solidFill>
                    <a:srgbClr val="000000"/>
                  </a:solidFill>
                  <a:latin typeface="Times New Roman" panose="02020603050405020304" pitchFamily="18" charset="0"/>
                  <a:cs typeface="Times New Roman" panose="02020603050405020304" pitchFamily="18" charset="0"/>
                </a:rPr>
                <a:t>=</a:t>
              </a:r>
              <a:endParaRPr lang="en-US" altLang="zh-CN" sz="3200" b="1" dirty="0">
                <a:solidFill>
                  <a:srgbClr val="000000"/>
                </a:solidFill>
                <a:latin typeface="Times New Roman" panose="02020603050405020304" pitchFamily="18" charset="0"/>
                <a:cs typeface="Times New Roman" panose="02020603050405020304" pitchFamily="18" charset="0"/>
              </a:endParaRPr>
            </a:p>
          </p:txBody>
        </p:sp>
        <p:sp>
          <p:nvSpPr>
            <p:cNvPr id="15" name="矩形 116754">
              <a:extLst>
                <a:ext uri="{FF2B5EF4-FFF2-40B4-BE49-F238E27FC236}">
                  <a16:creationId xmlns="" xmlns:a16="http://schemas.microsoft.com/office/drawing/2014/main" id="{660F9C96-6E33-D161-4C85-F7FFB1085495}"/>
                </a:ext>
              </a:extLst>
            </p:cNvPr>
            <p:cNvSpPr/>
            <p:nvPr/>
          </p:nvSpPr>
          <p:spPr>
            <a:xfrm>
              <a:off x="4128" y="538"/>
              <a:ext cx="84" cy="184"/>
            </a:xfrm>
            <a:prstGeom prst="rect">
              <a:avLst/>
            </a:prstGeom>
            <a:noFill/>
            <a:ln w="9525">
              <a:noFill/>
            </a:ln>
          </p:spPr>
          <p:txBody>
            <a:bodyPr wrap="none" lIns="0" tIns="0" rIns="0" bIns="0" anchor="t" anchorCtr="0">
              <a:spAutoFit/>
            </a:bodyPr>
            <a:lstStyle/>
            <a:p>
              <a:pPr algn="ctr"/>
              <a:r>
                <a:rPr lang="en-US" altLang="zh-CN" sz="1900" dirty="0">
                  <a:solidFill>
                    <a:srgbClr val="000000"/>
                  </a:solidFill>
                  <a:latin typeface="Times New Roman" panose="02020603050405020304" pitchFamily="18" charset="0"/>
                  <a:cs typeface="Times New Roman" panose="02020603050405020304" pitchFamily="18" charset="0"/>
                </a:rPr>
                <a:t>´</a:t>
              </a:r>
              <a:endParaRPr lang="en-US" altLang="zh-CN" sz="3200" b="1" dirty="0">
                <a:solidFill>
                  <a:srgbClr val="000000"/>
                </a:solidFill>
                <a:latin typeface="Times New Roman" panose="02020603050405020304" pitchFamily="18" charset="0"/>
                <a:cs typeface="Times New Roman" panose="02020603050405020304" pitchFamily="18" charset="0"/>
              </a:endParaRPr>
            </a:p>
          </p:txBody>
        </p:sp>
        <p:sp>
          <p:nvSpPr>
            <p:cNvPr id="16" name="矩形 116755">
              <a:extLst>
                <a:ext uri="{FF2B5EF4-FFF2-40B4-BE49-F238E27FC236}">
                  <a16:creationId xmlns="" xmlns:a16="http://schemas.microsoft.com/office/drawing/2014/main" id="{15336003-DE46-017E-44F1-4C247BAD246C}"/>
                </a:ext>
              </a:extLst>
            </p:cNvPr>
            <p:cNvSpPr/>
            <p:nvPr/>
          </p:nvSpPr>
          <p:spPr>
            <a:xfrm>
              <a:off x="3779" y="538"/>
              <a:ext cx="95" cy="184"/>
            </a:xfrm>
            <a:prstGeom prst="rect">
              <a:avLst/>
            </a:prstGeom>
            <a:noFill/>
            <a:ln w="9525">
              <a:noFill/>
            </a:ln>
          </p:spPr>
          <p:txBody>
            <a:bodyPr wrap="none" lIns="0" tIns="0" rIns="0" bIns="0" anchor="t" anchorCtr="0">
              <a:spAutoFit/>
            </a:bodyPr>
            <a:lstStyle/>
            <a:p>
              <a:pPr algn="ctr"/>
              <a:r>
                <a:rPr lang="en-US" altLang="zh-CN" sz="1900" dirty="0">
                  <a:solidFill>
                    <a:srgbClr val="000000"/>
                  </a:solidFill>
                  <a:latin typeface="Times New Roman" panose="02020603050405020304" pitchFamily="18" charset="0"/>
                  <a:cs typeface="Times New Roman" panose="02020603050405020304" pitchFamily="18" charset="0"/>
                </a:rPr>
                <a:t>=</a:t>
              </a:r>
              <a:endParaRPr lang="en-US" altLang="zh-CN" sz="3200" b="1" dirty="0">
                <a:solidFill>
                  <a:srgbClr val="000000"/>
                </a:solidFill>
                <a:latin typeface="Times New Roman" panose="02020603050405020304" pitchFamily="18" charset="0"/>
                <a:cs typeface="Times New Roman" panose="02020603050405020304" pitchFamily="18" charset="0"/>
              </a:endParaRPr>
            </a:p>
          </p:txBody>
        </p:sp>
        <p:sp>
          <p:nvSpPr>
            <p:cNvPr id="17" name="矩形 116756">
              <a:extLst>
                <a:ext uri="{FF2B5EF4-FFF2-40B4-BE49-F238E27FC236}">
                  <a16:creationId xmlns="" xmlns:a16="http://schemas.microsoft.com/office/drawing/2014/main" id="{F29E4C8E-B5B4-8E2C-DD14-157AA8E77652}"/>
                </a:ext>
              </a:extLst>
            </p:cNvPr>
            <p:cNvSpPr/>
            <p:nvPr/>
          </p:nvSpPr>
          <p:spPr>
            <a:xfrm>
              <a:off x="4364" y="534"/>
              <a:ext cx="32" cy="107"/>
            </a:xfrm>
            <a:prstGeom prst="rect">
              <a:avLst/>
            </a:prstGeom>
            <a:noFill/>
            <a:ln w="9525">
              <a:noFill/>
            </a:ln>
          </p:spPr>
          <p:txBody>
            <a:bodyPr wrap="none" lIns="0" tIns="0" rIns="0" bIns="0" anchor="t" anchorCtr="0">
              <a:spAutoFit/>
            </a:bodyPr>
            <a:lstStyle/>
            <a:p>
              <a:pPr algn="ctr"/>
              <a:r>
                <a:rPr lang="en-US" altLang="zh-CN" sz="1100" dirty="0">
                  <a:solidFill>
                    <a:srgbClr val="000000"/>
                  </a:solidFill>
                  <a:latin typeface="Times New Roman" panose="02020603050405020304" pitchFamily="18" charset="0"/>
                  <a:cs typeface="Times New Roman" panose="02020603050405020304" pitchFamily="18" charset="0"/>
                </a:rPr>
                <a:t>-</a:t>
              </a:r>
              <a:endParaRPr lang="en-US" altLang="zh-CN" sz="3200" b="1" dirty="0">
                <a:solidFill>
                  <a:srgbClr val="000000"/>
                </a:solidFill>
                <a:latin typeface="Times New Roman" panose="02020603050405020304" pitchFamily="18" charset="0"/>
                <a:cs typeface="Times New Roman" panose="02020603050405020304" pitchFamily="18" charset="0"/>
              </a:endParaRPr>
            </a:p>
          </p:txBody>
        </p:sp>
        <p:sp>
          <p:nvSpPr>
            <p:cNvPr id="18" name="矩形 116757">
              <a:extLst>
                <a:ext uri="{FF2B5EF4-FFF2-40B4-BE49-F238E27FC236}">
                  <a16:creationId xmlns="" xmlns:a16="http://schemas.microsoft.com/office/drawing/2014/main" id="{567F2A75-750F-793A-4D98-E697911212DD}"/>
                </a:ext>
              </a:extLst>
            </p:cNvPr>
            <p:cNvSpPr/>
            <p:nvPr/>
          </p:nvSpPr>
          <p:spPr>
            <a:xfrm>
              <a:off x="3654" y="637"/>
              <a:ext cx="54" cy="107"/>
            </a:xfrm>
            <a:prstGeom prst="rect">
              <a:avLst/>
            </a:prstGeom>
            <a:noFill/>
            <a:ln w="9525">
              <a:noFill/>
            </a:ln>
          </p:spPr>
          <p:txBody>
            <a:bodyPr wrap="none" lIns="0" tIns="0" rIns="0" bIns="0" anchor="t" anchorCtr="0">
              <a:spAutoFit/>
            </a:bodyPr>
            <a:lstStyle/>
            <a:p>
              <a:pPr algn="ctr"/>
              <a:r>
                <a:rPr lang="en-US" altLang="zh-CN" sz="1100" dirty="0">
                  <a:solidFill>
                    <a:srgbClr val="000000"/>
                  </a:solidFill>
                  <a:latin typeface="Times New Roman" panose="02020603050405020304" pitchFamily="18" charset="0"/>
                  <a:cs typeface="Times New Roman" panose="02020603050405020304" pitchFamily="18" charset="0"/>
                </a:rPr>
                <a:t>S</a:t>
              </a:r>
              <a:endParaRPr lang="en-US" altLang="zh-CN" sz="3200" b="1" dirty="0">
                <a:solidFill>
                  <a:srgbClr val="000000"/>
                </a:solidFill>
                <a:latin typeface="Times New Roman" panose="02020603050405020304" pitchFamily="18" charset="0"/>
                <a:cs typeface="Times New Roman" panose="02020603050405020304" pitchFamily="18" charset="0"/>
              </a:endParaRPr>
            </a:p>
          </p:txBody>
        </p:sp>
        <p:sp>
          <p:nvSpPr>
            <p:cNvPr id="19" name="矩形 116758">
              <a:extLst>
                <a:ext uri="{FF2B5EF4-FFF2-40B4-BE49-F238E27FC236}">
                  <a16:creationId xmlns="" xmlns:a16="http://schemas.microsoft.com/office/drawing/2014/main" id="{283F5DDC-7D20-D68F-F5B3-513DD250A8A8}"/>
                </a:ext>
              </a:extLst>
            </p:cNvPr>
            <p:cNvSpPr/>
            <p:nvPr/>
          </p:nvSpPr>
          <p:spPr>
            <a:xfrm>
              <a:off x="5491" y="555"/>
              <a:ext cx="74" cy="184"/>
            </a:xfrm>
            <a:prstGeom prst="rect">
              <a:avLst/>
            </a:prstGeom>
            <a:noFill/>
            <a:ln w="9525">
              <a:noFill/>
            </a:ln>
          </p:spPr>
          <p:txBody>
            <a:bodyPr wrap="none" lIns="0" tIns="0" rIns="0" bIns="0" anchor="t" anchorCtr="0">
              <a:spAutoFit/>
            </a:bodyPr>
            <a:lstStyle/>
            <a:p>
              <a:pPr algn="ctr"/>
              <a:r>
                <a:rPr lang="en-US" altLang="zh-CN" sz="1900" i="1" dirty="0">
                  <a:solidFill>
                    <a:srgbClr val="000000"/>
                  </a:solidFill>
                  <a:latin typeface="Times New Roman" panose="02020603050405020304" pitchFamily="18" charset="0"/>
                  <a:cs typeface="Times New Roman" panose="02020603050405020304" pitchFamily="18" charset="0"/>
                </a:rPr>
                <a:t>k</a:t>
              </a:r>
              <a:endParaRPr lang="en-US" altLang="zh-CN" sz="3200" b="1" dirty="0">
                <a:solidFill>
                  <a:srgbClr val="000000"/>
                </a:solidFill>
                <a:latin typeface="Times New Roman" panose="02020603050405020304" pitchFamily="18" charset="0"/>
                <a:cs typeface="Times New Roman" panose="02020603050405020304" pitchFamily="18" charset="0"/>
              </a:endParaRPr>
            </a:p>
          </p:txBody>
        </p:sp>
        <p:sp>
          <p:nvSpPr>
            <p:cNvPr id="20" name="矩形 116759">
              <a:extLst>
                <a:ext uri="{FF2B5EF4-FFF2-40B4-BE49-F238E27FC236}">
                  <a16:creationId xmlns="" xmlns:a16="http://schemas.microsoft.com/office/drawing/2014/main" id="{DB40A69C-5F5C-6877-1FC9-8C2439925616}"/>
                </a:ext>
              </a:extLst>
            </p:cNvPr>
            <p:cNvSpPr/>
            <p:nvPr/>
          </p:nvSpPr>
          <p:spPr>
            <a:xfrm>
              <a:off x="5049" y="555"/>
              <a:ext cx="93" cy="184"/>
            </a:xfrm>
            <a:prstGeom prst="rect">
              <a:avLst/>
            </a:prstGeom>
            <a:noFill/>
            <a:ln w="9525">
              <a:noFill/>
            </a:ln>
          </p:spPr>
          <p:txBody>
            <a:bodyPr lIns="0" tIns="0" rIns="0" bIns="0" anchor="t" anchorCtr="0">
              <a:spAutoFit/>
            </a:bodyPr>
            <a:lstStyle/>
            <a:p>
              <a:pPr algn="ctr"/>
              <a:r>
                <a:rPr lang="en-US" altLang="zh-CN" sz="1900" i="1" dirty="0">
                  <a:solidFill>
                    <a:srgbClr val="000000"/>
                  </a:solidFill>
                  <a:latin typeface="Times New Roman" panose="02020603050405020304" pitchFamily="18" charset="0"/>
                  <a:cs typeface="Times New Roman" panose="02020603050405020304" pitchFamily="18" charset="0"/>
                </a:rPr>
                <a:t>R</a:t>
              </a:r>
              <a:endParaRPr lang="en-US" altLang="zh-CN" sz="3200" b="1" dirty="0">
                <a:solidFill>
                  <a:srgbClr val="000000"/>
                </a:solidFill>
                <a:latin typeface="Times New Roman" panose="02020603050405020304" pitchFamily="18" charset="0"/>
                <a:cs typeface="Times New Roman" panose="02020603050405020304" pitchFamily="18" charset="0"/>
              </a:endParaRPr>
            </a:p>
          </p:txBody>
        </p:sp>
        <p:sp>
          <p:nvSpPr>
            <p:cNvPr id="21" name="矩形 116760">
              <a:extLst>
                <a:ext uri="{FF2B5EF4-FFF2-40B4-BE49-F238E27FC236}">
                  <a16:creationId xmlns="" xmlns:a16="http://schemas.microsoft.com/office/drawing/2014/main" id="{277371BA-FB28-213D-AE5A-5B860EFD9A34}"/>
                </a:ext>
              </a:extLst>
            </p:cNvPr>
            <p:cNvSpPr/>
            <p:nvPr/>
          </p:nvSpPr>
          <p:spPr>
            <a:xfrm>
              <a:off x="4469" y="555"/>
              <a:ext cx="84" cy="184"/>
            </a:xfrm>
            <a:prstGeom prst="rect">
              <a:avLst/>
            </a:prstGeom>
            <a:noFill/>
            <a:ln w="9525">
              <a:noFill/>
            </a:ln>
          </p:spPr>
          <p:txBody>
            <a:bodyPr wrap="none" lIns="0" tIns="0" rIns="0" bIns="0" anchor="t" anchorCtr="0">
              <a:spAutoFit/>
            </a:bodyPr>
            <a:lstStyle/>
            <a:p>
              <a:pPr algn="ctr"/>
              <a:r>
                <a:rPr lang="en-US" altLang="zh-CN" sz="1900" i="1" dirty="0">
                  <a:solidFill>
                    <a:srgbClr val="000000"/>
                  </a:solidFill>
                  <a:latin typeface="Times New Roman" panose="02020603050405020304" pitchFamily="18" charset="0"/>
                  <a:cs typeface="Times New Roman" panose="02020603050405020304" pitchFamily="18" charset="0"/>
                </a:rPr>
                <a:t>S</a:t>
              </a:r>
              <a:endParaRPr lang="en-US" altLang="zh-CN" sz="3200" b="1" dirty="0">
                <a:solidFill>
                  <a:srgbClr val="000000"/>
                </a:solidFill>
                <a:latin typeface="Times New Roman" panose="02020603050405020304" pitchFamily="18" charset="0"/>
                <a:cs typeface="Times New Roman" panose="02020603050405020304" pitchFamily="18" charset="0"/>
              </a:endParaRPr>
            </a:p>
          </p:txBody>
        </p:sp>
        <p:sp>
          <p:nvSpPr>
            <p:cNvPr id="22" name="矩形 116761">
              <a:extLst>
                <a:ext uri="{FF2B5EF4-FFF2-40B4-BE49-F238E27FC236}">
                  <a16:creationId xmlns="" xmlns:a16="http://schemas.microsoft.com/office/drawing/2014/main" id="{F5AAC184-A6FB-4E17-D2AE-A2C3B3390409}"/>
                </a:ext>
              </a:extLst>
            </p:cNvPr>
            <p:cNvSpPr/>
            <p:nvPr/>
          </p:nvSpPr>
          <p:spPr>
            <a:xfrm>
              <a:off x="3570" y="555"/>
              <a:ext cx="84" cy="184"/>
            </a:xfrm>
            <a:prstGeom prst="rect">
              <a:avLst/>
            </a:prstGeom>
            <a:noFill/>
            <a:ln w="9525">
              <a:noFill/>
            </a:ln>
          </p:spPr>
          <p:txBody>
            <a:bodyPr wrap="none" lIns="0" tIns="0" rIns="0" bIns="0" anchor="t" anchorCtr="0">
              <a:spAutoFit/>
            </a:bodyPr>
            <a:lstStyle/>
            <a:p>
              <a:pPr algn="ctr"/>
              <a:r>
                <a:rPr lang="en-US" altLang="zh-CN" sz="1900" i="1" dirty="0">
                  <a:solidFill>
                    <a:srgbClr val="000000"/>
                  </a:solidFill>
                  <a:latin typeface="Times New Roman" panose="02020603050405020304" pitchFamily="18" charset="0"/>
                  <a:cs typeface="Times New Roman" panose="02020603050405020304" pitchFamily="18" charset="0"/>
                </a:rPr>
                <a:t>g</a:t>
              </a:r>
              <a:endParaRPr lang="en-US" altLang="zh-CN" sz="3200" b="1" dirty="0">
                <a:solidFill>
                  <a:srgbClr val="000000"/>
                </a:solidFill>
                <a:latin typeface="Times New Roman" panose="02020603050405020304" pitchFamily="18" charset="0"/>
                <a:cs typeface="Times New Roman" panose="02020603050405020304" pitchFamily="18" charset="0"/>
              </a:endParaRPr>
            </a:p>
          </p:txBody>
        </p:sp>
        <p:sp>
          <p:nvSpPr>
            <p:cNvPr id="23" name="矩形 116762">
              <a:extLst>
                <a:ext uri="{FF2B5EF4-FFF2-40B4-BE49-F238E27FC236}">
                  <a16:creationId xmlns="" xmlns:a16="http://schemas.microsoft.com/office/drawing/2014/main" id="{CB2554E9-6E15-873A-533D-1D93AD0DB4E9}"/>
                </a:ext>
              </a:extLst>
            </p:cNvPr>
            <p:cNvSpPr/>
            <p:nvPr/>
          </p:nvSpPr>
          <p:spPr>
            <a:xfrm>
              <a:off x="5336" y="555"/>
              <a:ext cx="167" cy="184"/>
            </a:xfrm>
            <a:prstGeom prst="rect">
              <a:avLst/>
            </a:prstGeom>
            <a:noFill/>
            <a:ln w="9525">
              <a:noFill/>
            </a:ln>
          </p:spPr>
          <p:txBody>
            <a:bodyPr wrap="none" lIns="0" tIns="0" rIns="0" bIns="0" anchor="t" anchorCtr="0">
              <a:spAutoFit/>
            </a:bodyPr>
            <a:lstStyle/>
            <a:p>
              <a:pPr algn="ctr"/>
              <a:r>
                <a:rPr lang="en-US" altLang="zh-CN" sz="1900" dirty="0">
                  <a:solidFill>
                    <a:srgbClr val="000000"/>
                  </a:solidFill>
                  <a:latin typeface="Times New Roman" panose="02020603050405020304" pitchFamily="18" charset="0"/>
                  <a:cs typeface="Times New Roman" panose="02020603050405020304" pitchFamily="18" charset="0"/>
                </a:rPr>
                <a:t>12</a:t>
              </a:r>
              <a:endParaRPr lang="en-US" altLang="zh-CN" sz="3200" b="1" dirty="0">
                <a:solidFill>
                  <a:srgbClr val="000000"/>
                </a:solidFill>
                <a:latin typeface="Times New Roman" panose="02020603050405020304" pitchFamily="18" charset="0"/>
                <a:cs typeface="Times New Roman" panose="02020603050405020304" pitchFamily="18" charset="0"/>
              </a:endParaRPr>
            </a:p>
          </p:txBody>
        </p:sp>
        <p:sp>
          <p:nvSpPr>
            <p:cNvPr id="24" name="矩形 116763">
              <a:extLst>
                <a:ext uri="{FF2B5EF4-FFF2-40B4-BE49-F238E27FC236}">
                  <a16:creationId xmlns="" xmlns:a16="http://schemas.microsoft.com/office/drawing/2014/main" id="{BC743CE1-2EAC-ECA0-20EA-3D2AAFE3538E}"/>
                </a:ext>
              </a:extLst>
            </p:cNvPr>
            <p:cNvSpPr/>
            <p:nvPr/>
          </p:nvSpPr>
          <p:spPr>
            <a:xfrm>
              <a:off x="4556" y="555"/>
              <a:ext cx="42" cy="184"/>
            </a:xfrm>
            <a:prstGeom prst="rect">
              <a:avLst/>
            </a:prstGeom>
            <a:noFill/>
            <a:ln w="9525">
              <a:noFill/>
            </a:ln>
          </p:spPr>
          <p:txBody>
            <a:bodyPr wrap="none" lIns="0" tIns="0" rIns="0" bIns="0" anchor="t" anchorCtr="0">
              <a:spAutoFit/>
            </a:bodyPr>
            <a:lstStyle/>
            <a:p>
              <a:pPr algn="ctr"/>
              <a:r>
                <a:rPr lang="en-US" altLang="zh-CN" sz="1900" dirty="0">
                  <a:solidFill>
                    <a:srgbClr val="000000"/>
                  </a:solidFill>
                  <a:latin typeface="Times New Roman" panose="02020603050405020304" pitchFamily="18" charset="0"/>
                  <a:cs typeface="Times New Roman" panose="02020603050405020304" pitchFamily="18" charset="0"/>
                </a:rPr>
                <a:t>,</a:t>
              </a:r>
              <a:endParaRPr lang="en-US" altLang="zh-CN" sz="3200" b="1" dirty="0">
                <a:solidFill>
                  <a:srgbClr val="000000"/>
                </a:solidFill>
                <a:latin typeface="Times New Roman" panose="02020603050405020304" pitchFamily="18" charset="0"/>
                <a:cs typeface="Times New Roman" panose="02020603050405020304" pitchFamily="18" charset="0"/>
              </a:endParaRPr>
            </a:p>
          </p:txBody>
        </p:sp>
        <p:sp>
          <p:nvSpPr>
            <p:cNvPr id="26" name="矩形 116764">
              <a:extLst>
                <a:ext uri="{FF2B5EF4-FFF2-40B4-BE49-F238E27FC236}">
                  <a16:creationId xmlns="" xmlns:a16="http://schemas.microsoft.com/office/drawing/2014/main" id="{FA30C661-AE72-29F3-041E-080351BE5AAA}"/>
                </a:ext>
              </a:extLst>
            </p:cNvPr>
            <p:cNvSpPr/>
            <p:nvPr/>
          </p:nvSpPr>
          <p:spPr>
            <a:xfrm>
              <a:off x="4195" y="555"/>
              <a:ext cx="167" cy="184"/>
            </a:xfrm>
            <a:prstGeom prst="rect">
              <a:avLst/>
            </a:prstGeom>
            <a:noFill/>
            <a:ln w="9525">
              <a:noFill/>
            </a:ln>
          </p:spPr>
          <p:txBody>
            <a:bodyPr wrap="none" lIns="0" tIns="0" rIns="0" bIns="0" anchor="t" anchorCtr="0">
              <a:spAutoFit/>
            </a:bodyPr>
            <a:lstStyle/>
            <a:p>
              <a:pPr algn="ctr"/>
              <a:r>
                <a:rPr lang="en-US" altLang="zh-CN" sz="1900" dirty="0">
                  <a:solidFill>
                    <a:srgbClr val="000000"/>
                  </a:solidFill>
                  <a:latin typeface="Times New Roman" panose="02020603050405020304" pitchFamily="18" charset="0"/>
                  <a:cs typeface="Times New Roman" panose="02020603050405020304" pitchFamily="18" charset="0"/>
                </a:rPr>
                <a:t>10</a:t>
              </a:r>
              <a:endParaRPr lang="en-US" altLang="zh-CN" sz="3200" b="1" dirty="0">
                <a:solidFill>
                  <a:srgbClr val="000000"/>
                </a:solidFill>
                <a:latin typeface="Times New Roman" panose="02020603050405020304" pitchFamily="18" charset="0"/>
                <a:cs typeface="Times New Roman" panose="02020603050405020304" pitchFamily="18" charset="0"/>
              </a:endParaRPr>
            </a:p>
          </p:txBody>
        </p:sp>
        <p:sp>
          <p:nvSpPr>
            <p:cNvPr id="27" name="矩形 116765">
              <a:extLst>
                <a:ext uri="{FF2B5EF4-FFF2-40B4-BE49-F238E27FC236}">
                  <a16:creationId xmlns="" xmlns:a16="http://schemas.microsoft.com/office/drawing/2014/main" id="{A781D62D-65DF-23C4-ED74-A3EEE311A3B7}"/>
                </a:ext>
              </a:extLst>
            </p:cNvPr>
            <p:cNvSpPr/>
            <p:nvPr/>
          </p:nvSpPr>
          <p:spPr>
            <a:xfrm>
              <a:off x="4018" y="555"/>
              <a:ext cx="84" cy="184"/>
            </a:xfrm>
            <a:prstGeom prst="rect">
              <a:avLst/>
            </a:prstGeom>
            <a:noFill/>
            <a:ln w="9525">
              <a:noFill/>
            </a:ln>
          </p:spPr>
          <p:txBody>
            <a:bodyPr wrap="none" lIns="0" tIns="0" rIns="0" bIns="0" anchor="t" anchorCtr="0">
              <a:spAutoFit/>
            </a:bodyPr>
            <a:lstStyle/>
            <a:p>
              <a:pPr algn="ctr"/>
              <a:r>
                <a:rPr lang="en-US" altLang="zh-CN" sz="1900" dirty="0">
                  <a:solidFill>
                    <a:srgbClr val="000000"/>
                  </a:solidFill>
                  <a:latin typeface="Times New Roman" panose="02020603050405020304" pitchFamily="18" charset="0"/>
                  <a:cs typeface="Times New Roman" panose="02020603050405020304" pitchFamily="18" charset="0"/>
                </a:rPr>
                <a:t>4</a:t>
              </a:r>
              <a:endParaRPr lang="en-US" altLang="zh-CN" sz="3200" b="1" dirty="0">
                <a:solidFill>
                  <a:srgbClr val="000000"/>
                </a:solidFill>
                <a:latin typeface="Times New Roman" panose="02020603050405020304" pitchFamily="18" charset="0"/>
                <a:cs typeface="Times New Roman" panose="02020603050405020304" pitchFamily="18" charset="0"/>
              </a:endParaRPr>
            </a:p>
          </p:txBody>
        </p:sp>
        <p:sp>
          <p:nvSpPr>
            <p:cNvPr id="28" name="矩形 116766">
              <a:extLst>
                <a:ext uri="{FF2B5EF4-FFF2-40B4-BE49-F238E27FC236}">
                  <a16:creationId xmlns="" xmlns:a16="http://schemas.microsoft.com/office/drawing/2014/main" id="{53E55D92-190C-C7F5-8C4B-8F5C8C8DD22D}"/>
                </a:ext>
              </a:extLst>
            </p:cNvPr>
            <p:cNvSpPr/>
            <p:nvPr/>
          </p:nvSpPr>
          <p:spPr>
            <a:xfrm>
              <a:off x="3954" y="555"/>
              <a:ext cx="46" cy="184"/>
            </a:xfrm>
            <a:prstGeom prst="rect">
              <a:avLst/>
            </a:prstGeom>
            <a:noFill/>
            <a:ln w="9525">
              <a:noFill/>
            </a:ln>
          </p:spPr>
          <p:txBody>
            <a:bodyPr wrap="none" lIns="0" tIns="0" rIns="0" bIns="0" anchor="t" anchorCtr="0">
              <a:spAutoFit/>
            </a:bodyPr>
            <a:lstStyle/>
            <a:p>
              <a:pPr algn="ctr"/>
              <a:r>
                <a:rPr lang="en-US" altLang="zh-CN" sz="1900" dirty="0">
                  <a:solidFill>
                    <a:srgbClr val="000000"/>
                  </a:solidFill>
                  <a:latin typeface="Times New Roman" panose="02020603050405020304" pitchFamily="18" charset="0"/>
                  <a:cs typeface="Times New Roman" panose="02020603050405020304" pitchFamily="18" charset="0"/>
                </a:rPr>
                <a:t>/</a:t>
              </a:r>
              <a:endParaRPr lang="en-US" altLang="zh-CN" sz="3200" b="1" dirty="0">
                <a:solidFill>
                  <a:srgbClr val="000000"/>
                </a:solidFill>
                <a:latin typeface="Times New Roman" panose="02020603050405020304" pitchFamily="18" charset="0"/>
                <a:cs typeface="Times New Roman" panose="02020603050405020304" pitchFamily="18" charset="0"/>
              </a:endParaRPr>
            </a:p>
          </p:txBody>
        </p:sp>
        <p:sp>
          <p:nvSpPr>
            <p:cNvPr id="29" name="矩形 116767">
              <a:extLst>
                <a:ext uri="{FF2B5EF4-FFF2-40B4-BE49-F238E27FC236}">
                  <a16:creationId xmlns="" xmlns:a16="http://schemas.microsoft.com/office/drawing/2014/main" id="{DABF3E2E-FC2F-C747-B00A-F01858FA5B78}"/>
                </a:ext>
              </a:extLst>
            </p:cNvPr>
            <p:cNvSpPr/>
            <p:nvPr/>
          </p:nvSpPr>
          <p:spPr>
            <a:xfrm>
              <a:off x="3869" y="555"/>
              <a:ext cx="84" cy="184"/>
            </a:xfrm>
            <a:prstGeom prst="rect">
              <a:avLst/>
            </a:prstGeom>
            <a:noFill/>
            <a:ln w="9525">
              <a:noFill/>
            </a:ln>
          </p:spPr>
          <p:txBody>
            <a:bodyPr wrap="none" lIns="0" tIns="0" rIns="0" bIns="0" anchor="t" anchorCtr="0">
              <a:spAutoFit/>
            </a:bodyPr>
            <a:lstStyle/>
            <a:p>
              <a:pPr algn="ctr"/>
              <a:r>
                <a:rPr lang="en-US" altLang="zh-CN" sz="1900" dirty="0">
                  <a:solidFill>
                    <a:srgbClr val="000000"/>
                  </a:solidFill>
                  <a:latin typeface="Times New Roman" panose="02020603050405020304" pitchFamily="18" charset="0"/>
                  <a:cs typeface="Times New Roman" panose="02020603050405020304" pitchFamily="18" charset="0"/>
                </a:rPr>
                <a:t>1</a:t>
              </a:r>
              <a:endParaRPr lang="en-US" altLang="zh-CN" sz="3200" b="1" dirty="0">
                <a:solidFill>
                  <a:srgbClr val="000000"/>
                </a:solidFill>
                <a:latin typeface="Times New Roman" panose="02020603050405020304" pitchFamily="18" charset="0"/>
                <a:cs typeface="Times New Roman" panose="02020603050405020304" pitchFamily="18" charset="0"/>
              </a:endParaRPr>
            </a:p>
          </p:txBody>
        </p:sp>
        <p:sp>
          <p:nvSpPr>
            <p:cNvPr id="30" name="矩形 116768">
              <a:extLst>
                <a:ext uri="{FF2B5EF4-FFF2-40B4-BE49-F238E27FC236}">
                  <a16:creationId xmlns="" xmlns:a16="http://schemas.microsoft.com/office/drawing/2014/main" id="{4F1A429F-7555-7A72-31CF-669CABA3493D}"/>
                </a:ext>
              </a:extLst>
            </p:cNvPr>
            <p:cNvSpPr/>
            <p:nvPr/>
          </p:nvSpPr>
          <p:spPr>
            <a:xfrm>
              <a:off x="5126" y="647"/>
              <a:ext cx="48" cy="106"/>
            </a:xfrm>
            <a:prstGeom prst="rect">
              <a:avLst/>
            </a:prstGeom>
            <a:noFill/>
            <a:ln w="9525">
              <a:noFill/>
            </a:ln>
          </p:spPr>
          <p:txBody>
            <a:bodyPr wrap="none" lIns="0" tIns="0" rIns="0" bIns="0" anchor="t" anchorCtr="0">
              <a:spAutoFit/>
            </a:bodyPr>
            <a:lstStyle/>
            <a:p>
              <a:pPr algn="ctr"/>
              <a:r>
                <a:rPr lang="en-US" altLang="zh-CN" sz="1100" dirty="0">
                  <a:solidFill>
                    <a:srgbClr val="000000"/>
                  </a:solidFill>
                  <a:latin typeface="Times New Roman" panose="02020603050405020304" pitchFamily="18" charset="0"/>
                  <a:cs typeface="Times New Roman" panose="02020603050405020304" pitchFamily="18" charset="0"/>
                </a:rPr>
                <a:t>4</a:t>
              </a:r>
              <a:endParaRPr lang="en-US" altLang="zh-CN" sz="3200" b="1" dirty="0">
                <a:solidFill>
                  <a:srgbClr val="000000"/>
                </a:solidFill>
                <a:latin typeface="Times New Roman" panose="02020603050405020304" pitchFamily="18" charset="0"/>
                <a:cs typeface="Times New Roman" panose="02020603050405020304" pitchFamily="18" charset="0"/>
              </a:endParaRPr>
            </a:p>
          </p:txBody>
        </p:sp>
        <p:sp>
          <p:nvSpPr>
            <p:cNvPr id="31" name="矩形 116769">
              <a:extLst>
                <a:ext uri="{FF2B5EF4-FFF2-40B4-BE49-F238E27FC236}">
                  <a16:creationId xmlns="" xmlns:a16="http://schemas.microsoft.com/office/drawing/2014/main" id="{AA79C51E-1413-89DD-2B08-CDA62620BC9B}"/>
                </a:ext>
              </a:extLst>
            </p:cNvPr>
            <p:cNvSpPr/>
            <p:nvPr/>
          </p:nvSpPr>
          <p:spPr>
            <a:xfrm>
              <a:off x="4392" y="544"/>
              <a:ext cx="48" cy="106"/>
            </a:xfrm>
            <a:prstGeom prst="rect">
              <a:avLst/>
            </a:prstGeom>
            <a:noFill/>
            <a:ln w="9525">
              <a:noFill/>
            </a:ln>
          </p:spPr>
          <p:txBody>
            <a:bodyPr wrap="none" lIns="0" tIns="0" rIns="0" bIns="0" anchor="t" anchorCtr="0">
              <a:spAutoFit/>
            </a:bodyPr>
            <a:lstStyle/>
            <a:p>
              <a:pPr algn="ctr"/>
              <a:r>
                <a:rPr lang="en-US" altLang="zh-CN" sz="1100" dirty="0">
                  <a:solidFill>
                    <a:srgbClr val="000000"/>
                  </a:solidFill>
                  <a:latin typeface="Times New Roman" panose="02020603050405020304" pitchFamily="18" charset="0"/>
                  <a:cs typeface="Times New Roman" panose="02020603050405020304" pitchFamily="18" charset="0"/>
                </a:rPr>
                <a:t>3</a:t>
              </a:r>
              <a:endParaRPr lang="en-US" altLang="zh-CN" sz="3200" b="1" dirty="0">
                <a:solidFill>
                  <a:srgbClr val="000000"/>
                </a:solidFill>
                <a:latin typeface="Times New Roman" panose="02020603050405020304" pitchFamily="18" charset="0"/>
                <a:cs typeface="Times New Roman" panose="02020603050405020304" pitchFamily="18" charset="0"/>
              </a:endParaRPr>
            </a:p>
          </p:txBody>
        </p:sp>
      </p:grpSp>
      <p:graphicFrame>
        <p:nvGraphicFramePr>
          <p:cNvPr id="32" name="Object 2">
            <a:extLst>
              <a:ext uri="{FF2B5EF4-FFF2-40B4-BE49-F238E27FC236}">
                <a16:creationId xmlns="" xmlns:a16="http://schemas.microsoft.com/office/drawing/2014/main" id="{63F593E6-94C7-08BF-00F8-B1CB63805B53}"/>
              </a:ext>
            </a:extLst>
          </p:cNvPr>
          <p:cNvGraphicFramePr/>
          <p:nvPr>
            <p:extLst>
              <p:ext uri="{D42A27DB-BD31-4B8C-83A1-F6EECF244321}">
                <p14:modId xmlns:p14="http://schemas.microsoft.com/office/powerpoint/2010/main" val="4074828809"/>
              </p:ext>
            </p:extLst>
          </p:nvPr>
        </p:nvGraphicFramePr>
        <p:xfrm>
          <a:off x="2281594" y="3604385"/>
          <a:ext cx="4897755" cy="666750"/>
        </p:xfrm>
        <a:graphic>
          <a:graphicData uri="http://schemas.openxmlformats.org/presentationml/2006/ole">
            <mc:AlternateContent xmlns:mc="http://schemas.openxmlformats.org/markup-compatibility/2006">
              <mc:Choice xmlns:v="urn:schemas-microsoft-com:vml" Requires="v">
                <p:oleObj spid="_x0000_s77209" r:id="rId7" imgW="2870200" imgH="393700" progId="Equation.3">
                  <p:embed/>
                </p:oleObj>
              </mc:Choice>
              <mc:Fallback>
                <p:oleObj r:id="rId7" imgW="2870200" imgH="393700" progId="Equation.3">
                  <p:embed/>
                  <p:pic>
                    <p:nvPicPr>
                      <p:cNvPr id="0" name=""/>
                      <p:cNvPicPr/>
                      <p:nvPr/>
                    </p:nvPicPr>
                    <p:blipFill>
                      <a:blip r:embed="rId8"/>
                      <a:stretch>
                        <a:fillRect/>
                      </a:stretch>
                    </p:blipFill>
                    <p:spPr>
                      <a:xfrm>
                        <a:off x="2281594" y="3604385"/>
                        <a:ext cx="4897755" cy="666750"/>
                      </a:xfrm>
                      <a:prstGeom prst="rect">
                        <a:avLst/>
                      </a:prstGeom>
                      <a:noFill/>
                      <a:ln w="38100">
                        <a:noFill/>
                        <a:miter/>
                      </a:ln>
                    </p:spPr>
                  </p:pic>
                </p:oleObj>
              </mc:Fallback>
            </mc:AlternateContent>
          </a:graphicData>
        </a:graphic>
      </p:graphicFrame>
      <p:graphicFrame>
        <p:nvGraphicFramePr>
          <p:cNvPr id="33" name="Object 3">
            <a:extLst>
              <a:ext uri="{FF2B5EF4-FFF2-40B4-BE49-F238E27FC236}">
                <a16:creationId xmlns="" xmlns:a16="http://schemas.microsoft.com/office/drawing/2014/main" id="{C69B726E-4F7F-80E2-4713-F7321AE3339C}"/>
              </a:ext>
            </a:extLst>
          </p:cNvPr>
          <p:cNvGraphicFramePr/>
          <p:nvPr>
            <p:extLst>
              <p:ext uri="{D42A27DB-BD31-4B8C-83A1-F6EECF244321}">
                <p14:modId xmlns:p14="http://schemas.microsoft.com/office/powerpoint/2010/main" val="2785179701"/>
              </p:ext>
            </p:extLst>
          </p:nvPr>
        </p:nvGraphicFramePr>
        <p:xfrm>
          <a:off x="1807519" y="4254259"/>
          <a:ext cx="3759200" cy="1137920"/>
        </p:xfrm>
        <a:graphic>
          <a:graphicData uri="http://schemas.openxmlformats.org/presentationml/2006/ole">
            <mc:AlternateContent xmlns:mc="http://schemas.openxmlformats.org/markup-compatibility/2006">
              <mc:Choice xmlns:v="urn:schemas-microsoft-com:vml" Requires="v">
                <p:oleObj spid="_x0000_s77210" r:id="rId9" imgW="2527300" imgH="762000" progId="Equation.3">
                  <p:embed/>
                </p:oleObj>
              </mc:Choice>
              <mc:Fallback>
                <p:oleObj r:id="rId9" imgW="2527300" imgH="762000" progId="Equation.3">
                  <p:embed/>
                  <p:pic>
                    <p:nvPicPr>
                      <p:cNvPr id="0" name=""/>
                      <p:cNvPicPr/>
                      <p:nvPr/>
                    </p:nvPicPr>
                    <p:blipFill>
                      <a:blip r:embed="rId10"/>
                      <a:stretch>
                        <a:fillRect/>
                      </a:stretch>
                    </p:blipFill>
                    <p:spPr>
                      <a:xfrm>
                        <a:off x="1807519" y="4254259"/>
                        <a:ext cx="3759200" cy="1137920"/>
                      </a:xfrm>
                      <a:prstGeom prst="rect">
                        <a:avLst/>
                      </a:prstGeom>
                      <a:noFill/>
                      <a:ln w="38100">
                        <a:noFill/>
                        <a:miter/>
                      </a:ln>
                    </p:spPr>
                  </p:pic>
                </p:oleObj>
              </mc:Fallback>
            </mc:AlternateContent>
          </a:graphicData>
        </a:graphic>
      </p:graphicFrame>
      <p:graphicFrame>
        <p:nvGraphicFramePr>
          <p:cNvPr id="34" name="Object 4">
            <a:extLst>
              <a:ext uri="{FF2B5EF4-FFF2-40B4-BE49-F238E27FC236}">
                <a16:creationId xmlns="" xmlns:a16="http://schemas.microsoft.com/office/drawing/2014/main" id="{0886A479-4432-AC49-1D31-ED3CE6F12007}"/>
              </a:ext>
            </a:extLst>
          </p:cNvPr>
          <p:cNvGraphicFramePr/>
          <p:nvPr>
            <p:extLst>
              <p:ext uri="{D42A27DB-BD31-4B8C-83A1-F6EECF244321}">
                <p14:modId xmlns:p14="http://schemas.microsoft.com/office/powerpoint/2010/main" val="2544338460"/>
              </p:ext>
            </p:extLst>
          </p:nvPr>
        </p:nvGraphicFramePr>
        <p:xfrm>
          <a:off x="1766517" y="5928973"/>
          <a:ext cx="3276600" cy="373063"/>
        </p:xfrm>
        <a:graphic>
          <a:graphicData uri="http://schemas.openxmlformats.org/presentationml/2006/ole">
            <mc:AlternateContent xmlns:mc="http://schemas.openxmlformats.org/markup-compatibility/2006">
              <mc:Choice xmlns:v="urn:schemas-microsoft-com:vml" Requires="v">
                <p:oleObj spid="_x0000_s77211" r:id="rId11" imgW="1789430" imgH="203200" progId="Equation.3">
                  <p:embed/>
                </p:oleObj>
              </mc:Choice>
              <mc:Fallback>
                <p:oleObj r:id="rId11" imgW="1789430" imgH="203200" progId="Equation.3">
                  <p:embed/>
                  <p:pic>
                    <p:nvPicPr>
                      <p:cNvPr id="0" name=""/>
                      <p:cNvPicPr/>
                      <p:nvPr/>
                    </p:nvPicPr>
                    <p:blipFill>
                      <a:blip r:embed="rId12"/>
                      <a:stretch>
                        <a:fillRect/>
                      </a:stretch>
                    </p:blipFill>
                    <p:spPr>
                      <a:xfrm>
                        <a:off x="1766517" y="5928973"/>
                        <a:ext cx="3276600" cy="373063"/>
                      </a:xfrm>
                      <a:prstGeom prst="rect">
                        <a:avLst/>
                      </a:prstGeom>
                      <a:noFill/>
                      <a:ln w="38100">
                        <a:noFill/>
                        <a:miter/>
                      </a:ln>
                    </p:spPr>
                  </p:pic>
                </p:oleObj>
              </mc:Fallback>
            </mc:AlternateContent>
          </a:graphicData>
        </a:graphic>
      </p:graphicFrame>
      <p:graphicFrame>
        <p:nvGraphicFramePr>
          <p:cNvPr id="35" name="Object 5">
            <a:extLst>
              <a:ext uri="{FF2B5EF4-FFF2-40B4-BE49-F238E27FC236}">
                <a16:creationId xmlns="" xmlns:a16="http://schemas.microsoft.com/office/drawing/2014/main" id="{21D89319-C20D-8492-5697-6E5F60629A27}"/>
              </a:ext>
            </a:extLst>
          </p:cNvPr>
          <p:cNvGraphicFramePr/>
          <p:nvPr>
            <p:extLst>
              <p:ext uri="{D42A27DB-BD31-4B8C-83A1-F6EECF244321}">
                <p14:modId xmlns:p14="http://schemas.microsoft.com/office/powerpoint/2010/main" val="2131965092"/>
              </p:ext>
            </p:extLst>
          </p:nvPr>
        </p:nvGraphicFramePr>
        <p:xfrm>
          <a:off x="5305054" y="5925798"/>
          <a:ext cx="2489200" cy="406400"/>
        </p:xfrm>
        <a:graphic>
          <a:graphicData uri="http://schemas.openxmlformats.org/presentationml/2006/ole">
            <mc:AlternateContent xmlns:mc="http://schemas.openxmlformats.org/markup-compatibility/2006">
              <mc:Choice xmlns:v="urn:schemas-microsoft-com:vml" Requires="v">
                <p:oleObj spid="_x0000_s77212" r:id="rId13" imgW="1244600" imgH="203200" progId="Equation.3">
                  <p:embed/>
                </p:oleObj>
              </mc:Choice>
              <mc:Fallback>
                <p:oleObj r:id="rId13" imgW="1244600" imgH="203200" progId="Equation.3">
                  <p:embed/>
                  <p:pic>
                    <p:nvPicPr>
                      <p:cNvPr id="0" name=""/>
                      <p:cNvPicPr/>
                      <p:nvPr/>
                    </p:nvPicPr>
                    <p:blipFill>
                      <a:blip r:embed="rId14"/>
                      <a:stretch>
                        <a:fillRect/>
                      </a:stretch>
                    </p:blipFill>
                    <p:spPr>
                      <a:xfrm>
                        <a:off x="5305054" y="5925798"/>
                        <a:ext cx="2489200" cy="406400"/>
                      </a:xfrm>
                      <a:prstGeom prst="rect">
                        <a:avLst/>
                      </a:prstGeom>
                      <a:noFill/>
                      <a:ln w="38100">
                        <a:noFill/>
                        <a:miter/>
                      </a:ln>
                    </p:spPr>
                  </p:pic>
                </p:oleObj>
              </mc:Fallback>
            </mc:AlternateContent>
          </a:graphicData>
        </a:graphic>
      </p:graphicFrame>
      <p:graphicFrame>
        <p:nvGraphicFramePr>
          <p:cNvPr id="36" name="Object 6">
            <a:extLst>
              <a:ext uri="{FF2B5EF4-FFF2-40B4-BE49-F238E27FC236}">
                <a16:creationId xmlns="" xmlns:a16="http://schemas.microsoft.com/office/drawing/2014/main" id="{1F7B52F2-0D25-7939-94B0-408D6618AB26}"/>
              </a:ext>
            </a:extLst>
          </p:cNvPr>
          <p:cNvGraphicFramePr/>
          <p:nvPr>
            <p:extLst>
              <p:ext uri="{D42A27DB-BD31-4B8C-83A1-F6EECF244321}">
                <p14:modId xmlns:p14="http://schemas.microsoft.com/office/powerpoint/2010/main" val="1305745406"/>
              </p:ext>
            </p:extLst>
          </p:nvPr>
        </p:nvGraphicFramePr>
        <p:xfrm>
          <a:off x="3307479" y="6295390"/>
          <a:ext cx="2100580" cy="394970"/>
        </p:xfrm>
        <a:graphic>
          <a:graphicData uri="http://schemas.openxmlformats.org/presentationml/2006/ole">
            <mc:AlternateContent xmlns:mc="http://schemas.openxmlformats.org/markup-compatibility/2006">
              <mc:Choice xmlns:v="urn:schemas-microsoft-com:vml" Requires="v">
                <p:oleObj spid="_x0000_s77213" r:id="rId15" imgW="1079500" imgH="203200" progId="Equation.3">
                  <p:embed/>
                </p:oleObj>
              </mc:Choice>
              <mc:Fallback>
                <p:oleObj r:id="rId15" imgW="1079500" imgH="203200" progId="Equation.3">
                  <p:embed/>
                  <p:pic>
                    <p:nvPicPr>
                      <p:cNvPr id="0" name=""/>
                      <p:cNvPicPr/>
                      <p:nvPr/>
                    </p:nvPicPr>
                    <p:blipFill>
                      <a:blip r:embed="rId16"/>
                      <a:stretch>
                        <a:fillRect/>
                      </a:stretch>
                    </p:blipFill>
                    <p:spPr>
                      <a:xfrm>
                        <a:off x="3307479" y="6295390"/>
                        <a:ext cx="2100580" cy="394970"/>
                      </a:xfrm>
                      <a:prstGeom prst="rect">
                        <a:avLst/>
                      </a:prstGeom>
                      <a:noFill/>
                      <a:ln w="38100">
                        <a:noFill/>
                        <a:miter/>
                      </a:ln>
                    </p:spPr>
                  </p:pic>
                </p:oleObj>
              </mc:Fallback>
            </mc:AlternateContent>
          </a:graphicData>
        </a:graphic>
      </p:graphicFrame>
      <p:sp>
        <p:nvSpPr>
          <p:cNvPr id="37" name="Rectangle 10">
            <a:extLst>
              <a:ext uri="{FF2B5EF4-FFF2-40B4-BE49-F238E27FC236}">
                <a16:creationId xmlns="" xmlns:a16="http://schemas.microsoft.com/office/drawing/2014/main" id="{D41C24AF-46F5-96CB-DE4E-3733583939A3}"/>
              </a:ext>
            </a:extLst>
          </p:cNvPr>
          <p:cNvSpPr/>
          <p:nvPr/>
        </p:nvSpPr>
        <p:spPr>
          <a:xfrm>
            <a:off x="457282" y="3780218"/>
            <a:ext cx="2327275" cy="400110"/>
          </a:xfrm>
          <a:prstGeom prst="rect">
            <a:avLst/>
          </a:prstGeom>
          <a:noFill/>
          <a:ln w="9525">
            <a:noFill/>
          </a:ln>
        </p:spPr>
        <p:txBody>
          <a:bodyPr anchor="t" anchorCtr="0">
            <a:spAutoFit/>
          </a:bodyPr>
          <a:lstStyle/>
          <a:p>
            <a:pPr algn="just"/>
            <a:r>
              <a:rPr lang="en-US" altLang="zh-CN" sz="2000" b="1" dirty="0">
                <a:solidFill>
                  <a:schemeClr val="tx1"/>
                </a:solidFill>
                <a:latin typeface="Times New Roman" panose="02020603050405020304" pitchFamily="18" charset="0"/>
                <a:cs typeface="Times New Roman" panose="02020603050405020304" pitchFamily="18" charset="0"/>
              </a:rPr>
              <a:t>(2) </a:t>
            </a:r>
            <a:r>
              <a:rPr lang="zh-CN" altLang="en-US" sz="2000" b="1" dirty="0">
                <a:solidFill>
                  <a:schemeClr val="tx1"/>
                </a:solidFill>
                <a:latin typeface="Times New Roman" panose="02020603050405020304" pitchFamily="18" charset="0"/>
                <a:cs typeface="Times New Roman" panose="02020603050405020304" pitchFamily="18" charset="0"/>
              </a:rPr>
              <a:t>并联</a:t>
            </a:r>
            <a:r>
              <a:rPr lang="en-US" altLang="zh-CN" sz="2000" b="1" i="1" dirty="0">
                <a:solidFill>
                  <a:schemeClr val="tx1"/>
                </a:solidFill>
                <a:latin typeface="Times New Roman" panose="02020603050405020304" pitchFamily="18" charset="0"/>
                <a:cs typeface="Times New Roman" panose="02020603050405020304" pitchFamily="18" charset="0"/>
              </a:rPr>
              <a:t>R</a:t>
            </a:r>
            <a:r>
              <a:rPr lang="en-US" altLang="zh-CN" sz="2000" b="1" i="1" baseline="-30000" dirty="0">
                <a:solidFill>
                  <a:schemeClr val="tx1"/>
                </a:solidFill>
                <a:latin typeface="Times New Roman" panose="02020603050405020304" pitchFamily="18" charset="0"/>
                <a:cs typeface="Times New Roman" panose="02020603050405020304" pitchFamily="18" charset="0"/>
              </a:rPr>
              <a:t>4</a:t>
            </a:r>
            <a:r>
              <a:rPr lang="zh-CN" altLang="en-US" sz="2000" b="1" dirty="0">
                <a:solidFill>
                  <a:schemeClr val="tx1"/>
                </a:solidFill>
                <a:latin typeface="Times New Roman" panose="02020603050405020304" pitchFamily="18" charset="0"/>
                <a:cs typeface="Times New Roman" panose="02020603050405020304" pitchFamily="18" charset="0"/>
              </a:rPr>
              <a:t>，则</a:t>
            </a:r>
            <a:endParaRPr lang="en-US" altLang="zh-CN" sz="2000" b="1" dirty="0">
              <a:solidFill>
                <a:schemeClr val="tx1"/>
              </a:solidFill>
              <a:latin typeface="Times New Roman" panose="02020603050405020304" pitchFamily="18" charset="0"/>
              <a:cs typeface="Times New Roman" panose="02020603050405020304" pitchFamily="18" charset="0"/>
            </a:endParaRPr>
          </a:p>
        </p:txBody>
      </p:sp>
      <p:graphicFrame>
        <p:nvGraphicFramePr>
          <p:cNvPr id="38" name="Object 5">
            <a:extLst>
              <a:ext uri="{FF2B5EF4-FFF2-40B4-BE49-F238E27FC236}">
                <a16:creationId xmlns="" xmlns:a16="http://schemas.microsoft.com/office/drawing/2014/main" id="{E4CE640C-ED3D-861B-2EF3-3C43CFDFDA2B}"/>
              </a:ext>
            </a:extLst>
          </p:cNvPr>
          <p:cNvGraphicFramePr/>
          <p:nvPr>
            <p:extLst>
              <p:ext uri="{D42A27DB-BD31-4B8C-83A1-F6EECF244321}">
                <p14:modId xmlns:p14="http://schemas.microsoft.com/office/powerpoint/2010/main" val="136452790"/>
              </p:ext>
            </p:extLst>
          </p:nvPr>
        </p:nvGraphicFramePr>
        <p:xfrm>
          <a:off x="5245754" y="1998458"/>
          <a:ext cx="3182937" cy="1722437"/>
        </p:xfrm>
        <a:graphic>
          <a:graphicData uri="http://schemas.openxmlformats.org/presentationml/2006/ole">
            <mc:AlternateContent xmlns:mc="http://schemas.openxmlformats.org/markup-compatibility/2006">
              <mc:Choice xmlns:v="urn:schemas-microsoft-com:vml" Requires="v">
                <p:oleObj spid="_x0000_s77214" r:id="rId17" imgW="2603500" imgH="1244600" progId="Word.Picture.8">
                  <p:embed/>
                </p:oleObj>
              </mc:Choice>
              <mc:Fallback>
                <p:oleObj r:id="rId17" imgW="2603500" imgH="1244600" progId="Word.Picture.8">
                  <p:embed/>
                  <p:pic>
                    <p:nvPicPr>
                      <p:cNvPr id="0" name=""/>
                      <p:cNvPicPr/>
                      <p:nvPr/>
                    </p:nvPicPr>
                    <p:blipFill>
                      <a:blip r:embed="rId18">
                        <a:clrChange>
                          <a:clrFrom>
                            <a:srgbClr val="FF0000"/>
                          </a:clrFrom>
                          <a:clrTo>
                            <a:srgbClr val="000000"/>
                          </a:clrTo>
                        </a:clrChange>
                        <a:clrChange>
                          <a:clrFrom>
                            <a:srgbClr val="FFFFFF"/>
                          </a:clrFrom>
                          <a:clrTo>
                            <a:srgbClr val="CCECFF"/>
                          </a:clrTo>
                        </a:clrChange>
                      </a:blip>
                      <a:stretch>
                        <a:fillRect/>
                      </a:stretch>
                    </p:blipFill>
                    <p:spPr>
                      <a:xfrm>
                        <a:off x="5245754" y="1998458"/>
                        <a:ext cx="3182937" cy="1722437"/>
                      </a:xfrm>
                      <a:prstGeom prst="rect">
                        <a:avLst/>
                      </a:prstGeom>
                      <a:noFill/>
                      <a:ln w="38100">
                        <a:noFill/>
                        <a:miter/>
                      </a:ln>
                    </p:spPr>
                  </p:pic>
                </p:oleObj>
              </mc:Fallback>
            </mc:AlternateContent>
          </a:graphicData>
        </a:graphic>
      </p:graphicFrame>
      <p:grpSp>
        <p:nvGrpSpPr>
          <p:cNvPr id="39" name="组合 38">
            <a:extLst>
              <a:ext uri="{FF2B5EF4-FFF2-40B4-BE49-F238E27FC236}">
                <a16:creationId xmlns="" xmlns:a16="http://schemas.microsoft.com/office/drawing/2014/main" id="{F0B7DC5F-8BE7-ABED-9359-9348C9EADF93}"/>
              </a:ext>
            </a:extLst>
          </p:cNvPr>
          <p:cNvGrpSpPr/>
          <p:nvPr/>
        </p:nvGrpSpPr>
        <p:grpSpPr>
          <a:xfrm>
            <a:off x="414419" y="5329235"/>
            <a:ext cx="8458200" cy="641350"/>
            <a:chOff x="289774" y="4615293"/>
            <a:chExt cx="8458200" cy="641350"/>
          </a:xfrm>
        </p:grpSpPr>
        <p:sp>
          <p:nvSpPr>
            <p:cNvPr id="40" name="Rectangle 11">
              <a:extLst>
                <a:ext uri="{FF2B5EF4-FFF2-40B4-BE49-F238E27FC236}">
                  <a16:creationId xmlns="" xmlns:a16="http://schemas.microsoft.com/office/drawing/2014/main" id="{E588ED21-87C3-D529-0044-0C19BE477C17}"/>
                </a:ext>
              </a:extLst>
            </p:cNvPr>
            <p:cNvSpPr/>
            <p:nvPr/>
          </p:nvSpPr>
          <p:spPr>
            <a:xfrm>
              <a:off x="289774" y="4615293"/>
              <a:ext cx="8458200" cy="641350"/>
            </a:xfrm>
            <a:prstGeom prst="rect">
              <a:avLst/>
            </a:prstGeom>
            <a:noFill/>
            <a:ln w="9525">
              <a:noFill/>
            </a:ln>
          </p:spPr>
          <p:txBody>
            <a:bodyPr anchor="t" anchorCtr="0">
              <a:spAutoFit/>
            </a:bodyPr>
            <a:lstStyle/>
            <a:p>
              <a:pPr algn="just"/>
              <a:r>
                <a:rPr lang="zh-CN" altLang="en-US" sz="1800" b="1" dirty="0">
                  <a:solidFill>
                    <a:srgbClr val="000000"/>
                  </a:solidFill>
                  <a:latin typeface="Times New Roman" panose="02020603050405020304" pitchFamily="18" charset="0"/>
                  <a:cs typeface="Times New Roman" panose="02020603050405020304" pitchFamily="18" charset="0"/>
                </a:rPr>
                <a:t>    并联</a:t>
              </a:r>
              <a:r>
                <a:rPr lang="en-US" altLang="zh-CN" sz="1800" b="1" i="1" dirty="0">
                  <a:solidFill>
                    <a:srgbClr val="000000"/>
                  </a:solidFill>
                  <a:latin typeface="Times New Roman" panose="02020603050405020304" pitchFamily="18" charset="0"/>
                  <a:cs typeface="Times New Roman" panose="02020603050405020304" pitchFamily="18" charset="0"/>
                </a:rPr>
                <a:t>R</a:t>
              </a:r>
              <a:r>
                <a:rPr lang="en-US" altLang="zh-CN" sz="1800" b="1" i="1" baseline="-30000" dirty="0">
                  <a:solidFill>
                    <a:srgbClr val="000000"/>
                  </a:solidFill>
                  <a:latin typeface="Times New Roman" panose="02020603050405020304" pitchFamily="18" charset="0"/>
                  <a:cs typeface="Times New Roman" panose="02020603050405020304" pitchFamily="18" charset="0"/>
                </a:rPr>
                <a:t>4</a:t>
              </a:r>
              <a:r>
                <a:rPr lang="zh-CN" altLang="en-US" sz="1800" b="1" dirty="0">
                  <a:solidFill>
                    <a:srgbClr val="000000"/>
                  </a:solidFill>
                  <a:latin typeface="Times New Roman" panose="02020603050405020304" pitchFamily="18" charset="0"/>
                  <a:cs typeface="Times New Roman" panose="02020603050405020304" pitchFamily="18" charset="0"/>
                </a:rPr>
                <a:t>后，使损耗增大，  值降低，通频带加宽，放大器增益降低，但可使放大器工作稳定性提高。</a:t>
              </a:r>
              <a:endParaRPr lang="en-US" altLang="zh-CN" sz="1800" b="1" dirty="0">
                <a:solidFill>
                  <a:srgbClr val="000000"/>
                </a:solidFill>
                <a:latin typeface="Times New Roman" panose="02020603050405020304" pitchFamily="18" charset="0"/>
                <a:cs typeface="Times New Roman" panose="02020603050405020304" pitchFamily="18" charset="0"/>
              </a:endParaRPr>
            </a:p>
          </p:txBody>
        </p:sp>
        <p:graphicFrame>
          <p:nvGraphicFramePr>
            <p:cNvPr id="41" name="Object 7">
              <a:extLst>
                <a:ext uri="{FF2B5EF4-FFF2-40B4-BE49-F238E27FC236}">
                  <a16:creationId xmlns="" xmlns:a16="http://schemas.microsoft.com/office/drawing/2014/main" id="{5E5F2FE3-8C4F-B73B-3538-8B776C81B6D3}"/>
                </a:ext>
              </a:extLst>
            </p:cNvPr>
            <p:cNvGraphicFramePr/>
            <p:nvPr>
              <p:extLst>
                <p:ext uri="{D42A27DB-BD31-4B8C-83A1-F6EECF244321}">
                  <p14:modId xmlns:p14="http://schemas.microsoft.com/office/powerpoint/2010/main" val="3183389944"/>
                </p:ext>
              </p:extLst>
            </p:nvPr>
          </p:nvGraphicFramePr>
          <p:xfrm>
            <a:off x="3065518" y="4678237"/>
            <a:ext cx="304800" cy="304800"/>
          </p:xfrm>
          <a:graphic>
            <a:graphicData uri="http://schemas.openxmlformats.org/presentationml/2006/ole">
              <mc:AlternateContent xmlns:mc="http://schemas.openxmlformats.org/markup-compatibility/2006">
                <mc:Choice xmlns:v="urn:schemas-microsoft-com:vml" Requires="v">
                  <p:oleObj spid="_x0000_s77215" r:id="rId19" imgW="190500" imgH="190500" progId="Equation.3">
                    <p:embed/>
                  </p:oleObj>
                </mc:Choice>
                <mc:Fallback>
                  <p:oleObj r:id="rId19" imgW="190500" imgH="190500" progId="Equation.3">
                    <p:embed/>
                    <p:pic>
                      <p:nvPicPr>
                        <p:cNvPr id="0" name=""/>
                        <p:cNvPicPr/>
                        <p:nvPr/>
                      </p:nvPicPr>
                      <p:blipFill>
                        <a:blip r:embed="rId20"/>
                        <a:stretch>
                          <a:fillRect/>
                        </a:stretch>
                      </p:blipFill>
                      <p:spPr>
                        <a:xfrm>
                          <a:off x="3065518" y="4678237"/>
                          <a:ext cx="304800" cy="304800"/>
                        </a:xfrm>
                        <a:prstGeom prst="rect">
                          <a:avLst/>
                        </a:prstGeom>
                        <a:noFill/>
                        <a:ln w="38100">
                          <a:noFill/>
                          <a:miter/>
                        </a:ln>
                      </p:spPr>
                    </p:pic>
                  </p:oleObj>
                </mc:Fallback>
              </mc:AlternateContent>
            </a:graphicData>
          </a:graphic>
        </p:graphicFrame>
      </p:grpSp>
    </p:spTree>
    <p:extLst>
      <p:ext uri="{BB962C8B-B14F-4D97-AF65-F5344CB8AC3E}">
        <p14:creationId xmlns:p14="http://schemas.microsoft.com/office/powerpoint/2010/main" val="4218623690"/>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104</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25"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3.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高频</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小信号</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放大器</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Rectangle 12">
            <a:extLst>
              <a:ext uri="{FF2B5EF4-FFF2-40B4-BE49-F238E27FC236}">
                <a16:creationId xmlns="" xmlns:a16="http://schemas.microsoft.com/office/drawing/2014/main" id="{CA3EAB2A-3C2B-654A-DA30-0AABA572D327}"/>
              </a:ext>
            </a:extLst>
          </p:cNvPr>
          <p:cNvSpPr/>
          <p:nvPr/>
        </p:nvSpPr>
        <p:spPr>
          <a:xfrm>
            <a:off x="390649" y="1786626"/>
            <a:ext cx="5693519" cy="400110"/>
          </a:xfrm>
          <a:prstGeom prst="rect">
            <a:avLst/>
          </a:prstGeom>
          <a:noFill/>
          <a:ln w="9525">
            <a:noFill/>
          </a:ln>
        </p:spPr>
        <p:txBody>
          <a:bodyPr wrap="square" anchor="t" anchorCtr="0">
            <a:spAutoFit/>
          </a:bodyPr>
          <a:lstStyle/>
          <a:p>
            <a:pPr algn="just"/>
            <a:r>
              <a:rPr lang="en-US" altLang="zh-CN" sz="2000" b="1" dirty="0">
                <a:solidFill>
                  <a:srgbClr val="000000"/>
                </a:solidFill>
                <a:latin typeface="+mn-ea"/>
                <a:ea typeface="+mn-ea"/>
              </a:rPr>
              <a:t>(3) </a:t>
            </a:r>
            <a:r>
              <a:rPr lang="zh-CN" altLang="en-US" sz="2000" b="1" dirty="0">
                <a:solidFill>
                  <a:srgbClr val="000000"/>
                </a:solidFill>
                <a:latin typeface="+mn-ea"/>
                <a:ea typeface="+mn-ea"/>
              </a:rPr>
              <a:t>假设中和电容为</a:t>
            </a:r>
            <a:r>
              <a:rPr lang="en-US" altLang="zh-CN" sz="2000" b="1" i="1" dirty="0">
                <a:solidFill>
                  <a:srgbClr val="000000"/>
                </a:solidFill>
                <a:latin typeface="+mn-ea"/>
                <a:ea typeface="+mn-ea"/>
              </a:rPr>
              <a:t>C</a:t>
            </a:r>
            <a:r>
              <a:rPr lang="en-US" altLang="zh-CN" sz="2000" b="1" i="1" baseline="-30000" dirty="0">
                <a:solidFill>
                  <a:srgbClr val="000000"/>
                </a:solidFill>
                <a:latin typeface="+mn-ea"/>
                <a:ea typeface="+mn-ea"/>
              </a:rPr>
              <a:t>N</a:t>
            </a:r>
            <a:r>
              <a:rPr lang="zh-CN" altLang="en-US" sz="2000" b="1" dirty="0">
                <a:solidFill>
                  <a:srgbClr val="000000"/>
                </a:solidFill>
                <a:latin typeface="+mn-ea"/>
                <a:ea typeface="+mn-ea"/>
              </a:rPr>
              <a:t>，应如图所示接入电路。</a:t>
            </a:r>
            <a:endParaRPr lang="en-US" altLang="zh-CN" sz="2000" b="1" dirty="0">
              <a:solidFill>
                <a:srgbClr val="000000"/>
              </a:solidFill>
              <a:latin typeface="+mn-ea"/>
              <a:ea typeface="+mn-ea"/>
            </a:endParaRPr>
          </a:p>
        </p:txBody>
      </p:sp>
      <p:graphicFrame>
        <p:nvGraphicFramePr>
          <p:cNvPr id="6" name="Object 5">
            <a:extLst>
              <a:ext uri="{FF2B5EF4-FFF2-40B4-BE49-F238E27FC236}">
                <a16:creationId xmlns="" xmlns:a16="http://schemas.microsoft.com/office/drawing/2014/main" id="{D997B9E9-D8F4-8F23-7735-0269F475D5A1}"/>
              </a:ext>
            </a:extLst>
          </p:cNvPr>
          <p:cNvGraphicFramePr/>
          <p:nvPr>
            <p:extLst>
              <p:ext uri="{D42A27DB-BD31-4B8C-83A1-F6EECF244321}">
                <p14:modId xmlns:p14="http://schemas.microsoft.com/office/powerpoint/2010/main" val="517804727"/>
              </p:ext>
            </p:extLst>
          </p:nvPr>
        </p:nvGraphicFramePr>
        <p:xfrm>
          <a:off x="1979712" y="2690046"/>
          <a:ext cx="4654550" cy="2116137"/>
        </p:xfrm>
        <a:graphic>
          <a:graphicData uri="http://schemas.openxmlformats.org/presentationml/2006/ole">
            <mc:AlternateContent xmlns:mc="http://schemas.openxmlformats.org/markup-compatibility/2006">
              <mc:Choice xmlns:v="urn:schemas-microsoft-com:vml" Requires="v">
                <p:oleObj spid="_x0000_s77871" r:id="rId3" imgW="2616200" imgH="1244600" progId="Word.Picture.8">
                  <p:embed/>
                </p:oleObj>
              </mc:Choice>
              <mc:Fallback>
                <p:oleObj r:id="rId3" imgW="2616200" imgH="1244600" progId="Word.Picture.8">
                  <p:embed/>
                  <p:pic>
                    <p:nvPicPr>
                      <p:cNvPr id="0" name=""/>
                      <p:cNvPicPr/>
                      <p:nvPr/>
                    </p:nvPicPr>
                    <p:blipFill>
                      <a:blip r:embed="rId4">
                        <a:clrChange>
                          <a:clrFrom>
                            <a:srgbClr val="FF0000"/>
                          </a:clrFrom>
                          <a:clrTo>
                            <a:srgbClr val="000000"/>
                          </a:clrTo>
                        </a:clrChange>
                        <a:clrChange>
                          <a:clrFrom>
                            <a:srgbClr val="FFFFFF"/>
                          </a:clrFrom>
                          <a:clrTo>
                            <a:srgbClr val="CCECFF"/>
                          </a:clrTo>
                        </a:clrChange>
                      </a:blip>
                      <a:stretch>
                        <a:fillRect/>
                      </a:stretch>
                    </p:blipFill>
                    <p:spPr>
                      <a:xfrm>
                        <a:off x="1979712" y="2690046"/>
                        <a:ext cx="4654550" cy="2116137"/>
                      </a:xfrm>
                      <a:prstGeom prst="rect">
                        <a:avLst/>
                      </a:prstGeom>
                      <a:noFill/>
                      <a:ln w="38100">
                        <a:noFill/>
                        <a:miter/>
                      </a:ln>
                    </p:spPr>
                  </p:pic>
                </p:oleObj>
              </mc:Fallback>
            </mc:AlternateContent>
          </a:graphicData>
        </a:graphic>
      </p:graphicFrame>
    </p:spTree>
    <p:extLst>
      <p:ext uri="{BB962C8B-B14F-4D97-AF65-F5344CB8AC3E}">
        <p14:creationId xmlns:p14="http://schemas.microsoft.com/office/powerpoint/2010/main" val="1056169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105</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25"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3.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高频</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小信号</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放大器</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 name="Rectangle 2">
            <a:extLst>
              <a:ext uri="{FF2B5EF4-FFF2-40B4-BE49-F238E27FC236}">
                <a16:creationId xmlns="" xmlns:a16="http://schemas.microsoft.com/office/drawing/2014/main" id="{1F2CD2FF-56FB-4391-AFDE-B2B463603005}"/>
              </a:ext>
            </a:extLst>
          </p:cNvPr>
          <p:cNvSpPr/>
          <p:nvPr/>
        </p:nvSpPr>
        <p:spPr>
          <a:xfrm>
            <a:off x="514547" y="1587356"/>
            <a:ext cx="8259762" cy="2628605"/>
          </a:xfrm>
          <a:prstGeom prst="rect">
            <a:avLst/>
          </a:prstGeom>
          <a:noFill/>
          <a:ln w="9525">
            <a:noFill/>
          </a:ln>
        </p:spPr>
        <p:txBody>
          <a:bodyPr anchor="t" anchorCtr="0">
            <a:spAutoFit/>
          </a:bodyPr>
          <a:lstStyle/>
          <a:p>
            <a:pPr>
              <a:lnSpc>
                <a:spcPct val="120000"/>
              </a:lnSpc>
            </a:pPr>
            <a:r>
              <a:rPr lang="en-US" altLang="zh-CN" sz="2000" dirty="0">
                <a:solidFill>
                  <a:srgbClr val="000000"/>
                </a:solidFill>
                <a:latin typeface="+mn-ea"/>
                <a:ea typeface="+mn-ea"/>
              </a:rPr>
              <a:t>2</a:t>
            </a:r>
            <a:r>
              <a:rPr lang="zh-CN" altLang="en-US" sz="2000" dirty="0">
                <a:solidFill>
                  <a:srgbClr val="000000"/>
                </a:solidFill>
                <a:latin typeface="+mn-ea"/>
                <a:ea typeface="+mn-ea"/>
              </a:rPr>
              <a:t>、</a:t>
            </a:r>
            <a:r>
              <a:rPr lang="zh-CN" altLang="en-US" sz="2000" b="1" dirty="0">
                <a:solidFill>
                  <a:srgbClr val="000000"/>
                </a:solidFill>
                <a:latin typeface="+mn-ea"/>
                <a:ea typeface="+mn-ea"/>
              </a:rPr>
              <a:t>某单调谐放大器交流等效电路如图所示，工作频率为</a:t>
            </a:r>
            <a:r>
              <a:rPr lang="en-US" altLang="zh-CN" sz="2000" b="1" dirty="0">
                <a:solidFill>
                  <a:srgbClr val="000000"/>
                </a:solidFill>
                <a:latin typeface="+mn-ea"/>
                <a:ea typeface="+mn-ea"/>
              </a:rPr>
              <a:t>2MHz</a:t>
            </a:r>
            <a:r>
              <a:rPr lang="zh-CN" altLang="en-US" sz="2000" b="1" dirty="0">
                <a:solidFill>
                  <a:srgbClr val="000000"/>
                </a:solidFill>
                <a:latin typeface="+mn-ea"/>
                <a:ea typeface="+mn-ea"/>
              </a:rPr>
              <a:t>，回路电感</a:t>
            </a:r>
            <a:r>
              <a:rPr lang="en-US" altLang="zh-CN" sz="2000" b="1" dirty="0">
                <a:solidFill>
                  <a:srgbClr val="000000"/>
                </a:solidFill>
                <a:latin typeface="+mn-ea"/>
                <a:ea typeface="+mn-ea"/>
              </a:rPr>
              <a:t>L=200</a:t>
            </a:r>
            <a:r>
              <a:rPr lang="en-US" altLang="zh-CN" sz="2000" b="1" dirty="0">
                <a:solidFill>
                  <a:srgbClr val="000000"/>
                </a:solidFill>
                <a:latin typeface="+mn-ea"/>
                <a:ea typeface="+mn-ea"/>
                <a:sym typeface="Symbol" panose="05050102010706020507" pitchFamily="18" charset="2"/>
              </a:rPr>
              <a:t></a:t>
            </a:r>
            <a:r>
              <a:rPr lang="en-US" altLang="zh-CN" sz="2000" b="1" dirty="0">
                <a:solidFill>
                  <a:srgbClr val="000000"/>
                </a:solidFill>
                <a:latin typeface="+mn-ea"/>
                <a:ea typeface="+mn-ea"/>
              </a:rPr>
              <a:t>H</a:t>
            </a:r>
            <a:r>
              <a:rPr lang="zh-CN" altLang="en-US" sz="2000" b="1" dirty="0">
                <a:solidFill>
                  <a:srgbClr val="000000"/>
                </a:solidFill>
                <a:latin typeface="+mn-ea"/>
                <a:ea typeface="+mn-ea"/>
                <a:sym typeface="Symbol" panose="05050102010706020507" pitchFamily="18" charset="2"/>
              </a:rPr>
              <a:t>，晶体管的正向传输导纳     </a:t>
            </a:r>
            <a:r>
              <a:rPr lang="en-US" altLang="zh-CN" sz="2000" b="1" dirty="0">
                <a:solidFill>
                  <a:srgbClr val="000000"/>
                </a:solidFill>
                <a:latin typeface="+mn-ea"/>
                <a:ea typeface="+mn-ea"/>
                <a:sym typeface="Symbol" panose="05050102010706020507" pitchFamily="18" charset="2"/>
              </a:rPr>
              <a:t>    </a:t>
            </a:r>
            <a:r>
              <a:rPr lang="zh-CN" altLang="en-US" sz="2000" b="1" dirty="0">
                <a:solidFill>
                  <a:srgbClr val="000000"/>
                </a:solidFill>
                <a:latin typeface="+mn-ea"/>
                <a:ea typeface="+mn-ea"/>
                <a:sym typeface="Symbol" panose="05050102010706020507" pitchFamily="18" charset="2"/>
              </a:rPr>
              <a:t>，反向传输导纳                   取稳定系数 </a:t>
            </a:r>
            <a:r>
              <a:rPr lang="en-US" altLang="zh-CN" sz="2000" b="1" dirty="0">
                <a:solidFill>
                  <a:srgbClr val="000000"/>
                </a:solidFill>
                <a:latin typeface="+mn-ea"/>
                <a:ea typeface="+mn-ea"/>
                <a:sym typeface="Symbol" panose="05050102010706020507" pitchFamily="18" charset="2"/>
              </a:rPr>
              <a:t>S=5</a:t>
            </a:r>
            <a:r>
              <a:rPr lang="zh-CN" altLang="en-US" sz="2000" b="1" dirty="0">
                <a:solidFill>
                  <a:srgbClr val="000000"/>
                </a:solidFill>
                <a:latin typeface="+mn-ea"/>
                <a:ea typeface="+mn-ea"/>
                <a:sym typeface="Symbol" panose="05050102010706020507" pitchFamily="18" charset="2"/>
              </a:rPr>
              <a:t>，接入系数                         ，</a:t>
            </a:r>
          </a:p>
          <a:p>
            <a:pPr indent="269875" algn="just" eaLnBrk="0" hangingPunct="0">
              <a:lnSpc>
                <a:spcPct val="120000"/>
              </a:lnSpc>
            </a:pPr>
            <a:r>
              <a:rPr lang="zh-CN" altLang="en-US" sz="2000" b="1" dirty="0">
                <a:solidFill>
                  <a:srgbClr val="000000"/>
                </a:solidFill>
                <a:latin typeface="+mn-ea"/>
                <a:ea typeface="+mn-ea"/>
                <a:sym typeface="Symbol" panose="05050102010706020507" pitchFamily="18" charset="2"/>
              </a:rPr>
              <a:t>求：</a:t>
            </a:r>
            <a:r>
              <a:rPr lang="en-US" altLang="zh-CN" sz="2000" b="1" dirty="0">
                <a:solidFill>
                  <a:srgbClr val="000000"/>
                </a:solidFill>
                <a:latin typeface="+mn-ea"/>
                <a:ea typeface="+mn-ea"/>
                <a:sym typeface="Symbol" panose="05050102010706020507" pitchFamily="18" charset="2"/>
              </a:rPr>
              <a:t>1</a:t>
            </a:r>
            <a:r>
              <a:rPr lang="zh-CN" altLang="en-US" sz="2000" b="1" dirty="0">
                <a:solidFill>
                  <a:srgbClr val="000000"/>
                </a:solidFill>
                <a:latin typeface="+mn-ea"/>
                <a:ea typeface="+mn-ea"/>
                <a:sym typeface="Symbol" panose="05050102010706020507" pitchFamily="18" charset="2"/>
              </a:rPr>
              <a:t>）</a:t>
            </a:r>
            <a:r>
              <a:rPr lang="en-US" altLang="zh-CN" sz="2000" b="1" dirty="0">
                <a:solidFill>
                  <a:srgbClr val="000000"/>
                </a:solidFill>
                <a:latin typeface="+mn-ea"/>
                <a:ea typeface="+mn-ea"/>
                <a:sym typeface="Symbol" panose="05050102010706020507" pitchFamily="18" charset="2"/>
              </a:rPr>
              <a:t>A</a:t>
            </a:r>
            <a:r>
              <a:rPr lang="zh-CN" altLang="en-US" sz="2000" b="1" dirty="0">
                <a:solidFill>
                  <a:srgbClr val="000000"/>
                </a:solidFill>
                <a:latin typeface="+mn-ea"/>
                <a:ea typeface="+mn-ea"/>
                <a:sym typeface="Symbol" panose="05050102010706020507" pitchFamily="18" charset="2"/>
              </a:rPr>
              <a:t>点的谐振电压放大倍数</a:t>
            </a:r>
          </a:p>
          <a:p>
            <a:pPr indent="269875" algn="just" eaLnBrk="0" hangingPunct="0">
              <a:lnSpc>
                <a:spcPct val="120000"/>
              </a:lnSpc>
            </a:pPr>
            <a:r>
              <a:rPr lang="zh-CN" altLang="en-US" sz="2000" b="1" dirty="0">
                <a:solidFill>
                  <a:srgbClr val="000000"/>
                </a:solidFill>
                <a:latin typeface="+mn-ea"/>
                <a:ea typeface="+mn-ea"/>
                <a:sym typeface="Symbol" panose="05050102010706020507" pitchFamily="18" charset="2"/>
              </a:rPr>
              <a:t>    </a:t>
            </a:r>
            <a:r>
              <a:rPr lang="en-US" altLang="zh-CN" sz="2000" b="1" dirty="0">
                <a:solidFill>
                  <a:srgbClr val="000000"/>
                </a:solidFill>
                <a:latin typeface="+mn-ea"/>
                <a:ea typeface="+mn-ea"/>
                <a:sym typeface="Symbol" panose="05050102010706020507" pitchFamily="18" charset="2"/>
              </a:rPr>
              <a:t>2</a:t>
            </a:r>
            <a:r>
              <a:rPr lang="zh-CN" altLang="en-US" sz="2000" b="1" dirty="0">
                <a:solidFill>
                  <a:srgbClr val="000000"/>
                </a:solidFill>
                <a:latin typeface="+mn-ea"/>
                <a:ea typeface="+mn-ea"/>
                <a:sym typeface="Symbol" panose="05050102010706020507" pitchFamily="18" charset="2"/>
              </a:rPr>
              <a:t>）</a:t>
            </a:r>
            <a:r>
              <a:rPr lang="en-US" altLang="zh-CN" sz="2000" b="1" dirty="0">
                <a:solidFill>
                  <a:srgbClr val="000000"/>
                </a:solidFill>
                <a:latin typeface="+mn-ea"/>
                <a:ea typeface="+mn-ea"/>
                <a:sym typeface="Symbol" panose="05050102010706020507" pitchFamily="18" charset="2"/>
              </a:rPr>
              <a:t>B</a:t>
            </a:r>
            <a:r>
              <a:rPr lang="zh-CN" altLang="en-US" sz="2000" b="1" dirty="0">
                <a:solidFill>
                  <a:srgbClr val="000000"/>
                </a:solidFill>
                <a:latin typeface="+mn-ea"/>
                <a:ea typeface="+mn-ea"/>
                <a:sym typeface="Symbol" panose="05050102010706020507" pitchFamily="18" charset="2"/>
              </a:rPr>
              <a:t>点的谐振电压放大倍数</a:t>
            </a:r>
          </a:p>
          <a:p>
            <a:pPr indent="269875" eaLnBrk="0" hangingPunct="0">
              <a:lnSpc>
                <a:spcPct val="120000"/>
              </a:lnSpc>
            </a:pPr>
            <a:r>
              <a:rPr lang="zh-CN" altLang="en-US" sz="2000" b="1" dirty="0">
                <a:solidFill>
                  <a:srgbClr val="000000"/>
                </a:solidFill>
                <a:latin typeface="+mn-ea"/>
                <a:ea typeface="+mn-ea"/>
                <a:sym typeface="Symbol" panose="05050102010706020507" pitchFamily="18" charset="2"/>
              </a:rPr>
              <a:t>    </a:t>
            </a:r>
            <a:r>
              <a:rPr lang="en-US" altLang="zh-CN" sz="2000" b="1" dirty="0">
                <a:solidFill>
                  <a:srgbClr val="000000"/>
                </a:solidFill>
                <a:latin typeface="+mn-ea"/>
                <a:ea typeface="+mn-ea"/>
                <a:sym typeface="Symbol" panose="05050102010706020507" pitchFamily="18" charset="2"/>
              </a:rPr>
              <a:t>3</a:t>
            </a:r>
            <a:r>
              <a:rPr lang="zh-CN" altLang="en-US" sz="2000" b="1" dirty="0">
                <a:solidFill>
                  <a:srgbClr val="000000"/>
                </a:solidFill>
                <a:latin typeface="+mn-ea"/>
                <a:ea typeface="+mn-ea"/>
                <a:sym typeface="Symbol" panose="05050102010706020507" pitchFamily="18" charset="2"/>
              </a:rPr>
              <a:t>）回路的有载</a:t>
            </a:r>
            <a:r>
              <a:rPr lang="en-US" altLang="zh-CN" sz="2000" b="1" i="1" dirty="0">
                <a:solidFill>
                  <a:srgbClr val="000000"/>
                </a:solidFill>
                <a:latin typeface="+mn-ea"/>
                <a:ea typeface="+mn-ea"/>
                <a:sym typeface="Symbol" panose="05050102010706020507" pitchFamily="18" charset="2"/>
              </a:rPr>
              <a:t>Q</a:t>
            </a:r>
            <a:r>
              <a:rPr lang="en-US" altLang="zh-CN" sz="2000" b="1" baseline="-30000" dirty="0">
                <a:solidFill>
                  <a:srgbClr val="000000"/>
                </a:solidFill>
                <a:latin typeface="+mn-ea"/>
                <a:ea typeface="+mn-ea"/>
                <a:sym typeface="Symbol" panose="05050102010706020507" pitchFamily="18" charset="2"/>
              </a:rPr>
              <a:t>L</a:t>
            </a:r>
            <a:r>
              <a:rPr lang="en-US" altLang="zh-CN" sz="2000" b="1" dirty="0">
                <a:solidFill>
                  <a:srgbClr val="000000"/>
                </a:solidFill>
                <a:latin typeface="+mn-ea"/>
                <a:ea typeface="+mn-ea"/>
                <a:sym typeface="Symbol" panose="05050102010706020507" pitchFamily="18" charset="2"/>
              </a:rPr>
              <a:t>=</a:t>
            </a:r>
            <a:r>
              <a:rPr lang="zh-CN" altLang="en-US" sz="2000" b="1" dirty="0">
                <a:solidFill>
                  <a:srgbClr val="000000"/>
                </a:solidFill>
                <a:latin typeface="+mn-ea"/>
                <a:ea typeface="+mn-ea"/>
                <a:sym typeface="Symbol" panose="05050102010706020507" pitchFamily="18" charset="2"/>
              </a:rPr>
              <a:t>？</a:t>
            </a:r>
          </a:p>
          <a:p>
            <a:pPr indent="269875" eaLnBrk="0" hangingPunct="0">
              <a:lnSpc>
                <a:spcPct val="120000"/>
              </a:lnSpc>
            </a:pPr>
            <a:r>
              <a:rPr lang="zh-CN" altLang="en-US" sz="2000" b="1" dirty="0">
                <a:solidFill>
                  <a:srgbClr val="000000"/>
                </a:solidFill>
                <a:latin typeface="+mn-ea"/>
                <a:ea typeface="+mn-ea"/>
                <a:sym typeface="Symbol" panose="05050102010706020507" pitchFamily="18" charset="2"/>
              </a:rPr>
              <a:t>    </a:t>
            </a:r>
            <a:r>
              <a:rPr lang="en-US" altLang="zh-CN" sz="2000" b="1" dirty="0">
                <a:solidFill>
                  <a:srgbClr val="000000"/>
                </a:solidFill>
                <a:latin typeface="+mn-ea"/>
                <a:ea typeface="+mn-ea"/>
                <a:sym typeface="Symbol" panose="05050102010706020507" pitchFamily="18" charset="2"/>
              </a:rPr>
              <a:t>4</a:t>
            </a:r>
            <a:r>
              <a:rPr lang="zh-CN" altLang="en-US" sz="2000" b="1" dirty="0">
                <a:solidFill>
                  <a:srgbClr val="000000"/>
                </a:solidFill>
                <a:latin typeface="+mn-ea"/>
                <a:ea typeface="+mn-ea"/>
                <a:sym typeface="Symbol" panose="05050102010706020507" pitchFamily="18" charset="2"/>
              </a:rPr>
              <a:t>）回路的通频带     </a:t>
            </a:r>
            <a:r>
              <a:rPr lang="en-US" altLang="zh-CN" sz="2000" b="1" dirty="0">
                <a:solidFill>
                  <a:srgbClr val="000000"/>
                </a:solidFill>
                <a:latin typeface="+mn-ea"/>
                <a:ea typeface="+mn-ea"/>
                <a:sym typeface="Symbol" panose="05050102010706020507" pitchFamily="18" charset="2"/>
              </a:rPr>
              <a:t>=</a:t>
            </a:r>
            <a:r>
              <a:rPr lang="zh-CN" altLang="en-US" sz="2000" b="1" dirty="0">
                <a:solidFill>
                  <a:srgbClr val="000000"/>
                </a:solidFill>
                <a:latin typeface="+mn-ea"/>
                <a:ea typeface="+mn-ea"/>
                <a:sym typeface="Symbol" panose="05050102010706020507" pitchFamily="18" charset="2"/>
              </a:rPr>
              <a:t>？</a:t>
            </a:r>
            <a:endParaRPr lang="en-US" altLang="zh-CN" sz="2000" b="1" dirty="0">
              <a:solidFill>
                <a:srgbClr val="000000"/>
              </a:solidFill>
              <a:latin typeface="+mn-ea"/>
              <a:ea typeface="+mn-ea"/>
              <a:sym typeface="Symbol" panose="05050102010706020507" pitchFamily="18" charset="2"/>
            </a:endParaRPr>
          </a:p>
        </p:txBody>
      </p:sp>
      <p:graphicFrame>
        <p:nvGraphicFramePr>
          <p:cNvPr id="7" name="Object 3">
            <a:extLst>
              <a:ext uri="{FF2B5EF4-FFF2-40B4-BE49-F238E27FC236}">
                <a16:creationId xmlns="" xmlns:a16="http://schemas.microsoft.com/office/drawing/2014/main" id="{2BC07C5D-4FBA-5C0E-4D66-4E3F2FDE89B0}"/>
              </a:ext>
            </a:extLst>
          </p:cNvPr>
          <p:cNvGraphicFramePr/>
          <p:nvPr>
            <p:extLst>
              <p:ext uri="{D42A27DB-BD31-4B8C-83A1-F6EECF244321}">
                <p14:modId xmlns:p14="http://schemas.microsoft.com/office/powerpoint/2010/main" val="263726129"/>
              </p:ext>
            </p:extLst>
          </p:nvPr>
        </p:nvGraphicFramePr>
        <p:xfrm>
          <a:off x="4316040" y="2016374"/>
          <a:ext cx="1219200" cy="361950"/>
        </p:xfrm>
        <a:graphic>
          <a:graphicData uri="http://schemas.openxmlformats.org/presentationml/2006/ole">
            <mc:AlternateContent xmlns:mc="http://schemas.openxmlformats.org/markup-compatibility/2006">
              <mc:Choice xmlns:v="urn:schemas-microsoft-com:vml" Requires="v">
                <p:oleObj spid="_x0000_s79210" r:id="rId3" imgW="799465" imgH="241300" progId="Equation.DSMT4">
                  <p:embed/>
                </p:oleObj>
              </mc:Choice>
              <mc:Fallback>
                <p:oleObj r:id="rId3" imgW="799465" imgH="241300" progId="Equation.DSMT4">
                  <p:embed/>
                  <p:pic>
                    <p:nvPicPr>
                      <p:cNvPr id="0" name=""/>
                      <p:cNvPicPr/>
                      <p:nvPr/>
                    </p:nvPicPr>
                    <p:blipFill>
                      <a:blip r:embed="rId4"/>
                      <a:stretch>
                        <a:fillRect/>
                      </a:stretch>
                    </p:blipFill>
                    <p:spPr>
                      <a:xfrm>
                        <a:off x="4316040" y="2016374"/>
                        <a:ext cx="1219200" cy="361950"/>
                      </a:xfrm>
                      <a:prstGeom prst="rect">
                        <a:avLst/>
                      </a:prstGeom>
                      <a:noFill/>
                      <a:ln w="38100">
                        <a:noFill/>
                        <a:miter/>
                      </a:ln>
                    </p:spPr>
                  </p:pic>
                </p:oleObj>
              </mc:Fallback>
            </mc:AlternateContent>
          </a:graphicData>
        </a:graphic>
      </p:graphicFrame>
      <p:graphicFrame>
        <p:nvGraphicFramePr>
          <p:cNvPr id="8" name="Object 4">
            <a:extLst>
              <a:ext uri="{FF2B5EF4-FFF2-40B4-BE49-F238E27FC236}">
                <a16:creationId xmlns="" xmlns:a16="http://schemas.microsoft.com/office/drawing/2014/main" id="{B6FE44B3-521D-304C-CC0E-3618BB2E6624}"/>
              </a:ext>
            </a:extLst>
          </p:cNvPr>
          <p:cNvGraphicFramePr/>
          <p:nvPr>
            <p:extLst>
              <p:ext uri="{D42A27DB-BD31-4B8C-83A1-F6EECF244321}">
                <p14:modId xmlns:p14="http://schemas.microsoft.com/office/powerpoint/2010/main" val="3249396165"/>
              </p:ext>
            </p:extLst>
          </p:nvPr>
        </p:nvGraphicFramePr>
        <p:xfrm>
          <a:off x="7334053" y="1992521"/>
          <a:ext cx="1295400" cy="369888"/>
        </p:xfrm>
        <a:graphic>
          <a:graphicData uri="http://schemas.openxmlformats.org/presentationml/2006/ole">
            <mc:AlternateContent xmlns:mc="http://schemas.openxmlformats.org/markup-compatibility/2006">
              <mc:Choice xmlns:v="urn:schemas-microsoft-com:vml" Requires="v">
                <p:oleObj spid="_x0000_s79211" r:id="rId5" imgW="800100" imgH="228600" progId="Equation.3">
                  <p:embed/>
                </p:oleObj>
              </mc:Choice>
              <mc:Fallback>
                <p:oleObj r:id="rId5" imgW="800100" imgH="228600" progId="Equation.3">
                  <p:embed/>
                  <p:pic>
                    <p:nvPicPr>
                      <p:cNvPr id="0" name=""/>
                      <p:cNvPicPr/>
                      <p:nvPr/>
                    </p:nvPicPr>
                    <p:blipFill>
                      <a:blip r:embed="rId6"/>
                      <a:stretch>
                        <a:fillRect/>
                      </a:stretch>
                    </p:blipFill>
                    <p:spPr>
                      <a:xfrm>
                        <a:off x="7334053" y="1992521"/>
                        <a:ext cx="1295400" cy="369888"/>
                      </a:xfrm>
                      <a:prstGeom prst="rect">
                        <a:avLst/>
                      </a:prstGeom>
                      <a:noFill/>
                      <a:ln w="38100">
                        <a:noFill/>
                        <a:miter/>
                      </a:ln>
                    </p:spPr>
                  </p:pic>
                </p:oleObj>
              </mc:Fallback>
            </mc:AlternateContent>
          </a:graphicData>
        </a:graphic>
      </p:graphicFrame>
      <p:graphicFrame>
        <p:nvGraphicFramePr>
          <p:cNvPr id="9" name="Object 5">
            <a:extLst>
              <a:ext uri="{FF2B5EF4-FFF2-40B4-BE49-F238E27FC236}">
                <a16:creationId xmlns="" xmlns:a16="http://schemas.microsoft.com/office/drawing/2014/main" id="{F9330962-44BA-1564-41C2-03E7E9809F12}"/>
              </a:ext>
            </a:extLst>
          </p:cNvPr>
          <p:cNvGraphicFramePr/>
          <p:nvPr>
            <p:extLst>
              <p:ext uri="{D42A27DB-BD31-4B8C-83A1-F6EECF244321}">
                <p14:modId xmlns:p14="http://schemas.microsoft.com/office/powerpoint/2010/main" val="385177888"/>
              </p:ext>
            </p:extLst>
          </p:nvPr>
        </p:nvGraphicFramePr>
        <p:xfrm>
          <a:off x="3677415" y="2209502"/>
          <a:ext cx="609600" cy="568325"/>
        </p:xfrm>
        <a:graphic>
          <a:graphicData uri="http://schemas.openxmlformats.org/presentationml/2006/ole">
            <mc:AlternateContent xmlns:mc="http://schemas.openxmlformats.org/markup-compatibility/2006">
              <mc:Choice xmlns:v="urn:schemas-microsoft-com:vml" Requires="v">
                <p:oleObj spid="_x0000_s79212" r:id="rId7" imgW="419100" imgH="393700" progId="Equation.3">
                  <p:embed/>
                </p:oleObj>
              </mc:Choice>
              <mc:Fallback>
                <p:oleObj r:id="rId7" imgW="419100" imgH="393700" progId="Equation.3">
                  <p:embed/>
                  <p:pic>
                    <p:nvPicPr>
                      <p:cNvPr id="0" name=""/>
                      <p:cNvPicPr/>
                      <p:nvPr/>
                    </p:nvPicPr>
                    <p:blipFill>
                      <a:blip r:embed="rId8"/>
                      <a:stretch>
                        <a:fillRect/>
                      </a:stretch>
                    </p:blipFill>
                    <p:spPr>
                      <a:xfrm>
                        <a:off x="3677415" y="2209502"/>
                        <a:ext cx="609600" cy="568325"/>
                      </a:xfrm>
                      <a:prstGeom prst="rect">
                        <a:avLst/>
                      </a:prstGeom>
                      <a:noFill/>
                      <a:ln w="38100">
                        <a:noFill/>
                        <a:miter/>
                      </a:ln>
                    </p:spPr>
                  </p:pic>
                </p:oleObj>
              </mc:Fallback>
            </mc:AlternateContent>
          </a:graphicData>
        </a:graphic>
      </p:graphicFrame>
      <p:graphicFrame>
        <p:nvGraphicFramePr>
          <p:cNvPr id="10" name="Object 6">
            <a:extLst>
              <a:ext uri="{FF2B5EF4-FFF2-40B4-BE49-F238E27FC236}">
                <a16:creationId xmlns="" xmlns:a16="http://schemas.microsoft.com/office/drawing/2014/main" id="{2E06A3ED-9B03-D977-1ED0-5B70E5904CEB}"/>
              </a:ext>
            </a:extLst>
          </p:cNvPr>
          <p:cNvGraphicFramePr/>
          <p:nvPr>
            <p:extLst>
              <p:ext uri="{D42A27DB-BD31-4B8C-83A1-F6EECF244321}">
                <p14:modId xmlns:p14="http://schemas.microsoft.com/office/powerpoint/2010/main" val="1817160324"/>
              </p:ext>
            </p:extLst>
          </p:nvPr>
        </p:nvGraphicFramePr>
        <p:xfrm>
          <a:off x="4339628" y="2257964"/>
          <a:ext cx="609600" cy="550863"/>
        </p:xfrm>
        <a:graphic>
          <a:graphicData uri="http://schemas.openxmlformats.org/presentationml/2006/ole">
            <mc:AlternateContent xmlns:mc="http://schemas.openxmlformats.org/markup-compatibility/2006">
              <mc:Choice xmlns:v="urn:schemas-microsoft-com:vml" Requires="v">
                <p:oleObj spid="_x0000_s79213" r:id="rId9" imgW="393065" imgH="355600" progId="Equation.3">
                  <p:embed/>
                </p:oleObj>
              </mc:Choice>
              <mc:Fallback>
                <p:oleObj r:id="rId9" imgW="393065" imgH="355600" progId="Equation.3">
                  <p:embed/>
                  <p:pic>
                    <p:nvPicPr>
                      <p:cNvPr id="0" name=""/>
                      <p:cNvPicPr/>
                      <p:nvPr/>
                    </p:nvPicPr>
                    <p:blipFill>
                      <a:blip r:embed="rId10"/>
                      <a:stretch>
                        <a:fillRect/>
                      </a:stretch>
                    </p:blipFill>
                    <p:spPr>
                      <a:xfrm>
                        <a:off x="4339628" y="2257964"/>
                        <a:ext cx="609600" cy="550863"/>
                      </a:xfrm>
                      <a:prstGeom prst="rect">
                        <a:avLst/>
                      </a:prstGeom>
                      <a:noFill/>
                      <a:ln w="38100">
                        <a:noFill/>
                        <a:miter/>
                      </a:ln>
                    </p:spPr>
                  </p:pic>
                </p:oleObj>
              </mc:Fallback>
            </mc:AlternateContent>
          </a:graphicData>
        </a:graphic>
      </p:graphicFrame>
      <p:graphicFrame>
        <p:nvGraphicFramePr>
          <p:cNvPr id="11" name="Object 7">
            <a:extLst>
              <a:ext uri="{FF2B5EF4-FFF2-40B4-BE49-F238E27FC236}">
                <a16:creationId xmlns="" xmlns:a16="http://schemas.microsoft.com/office/drawing/2014/main" id="{4E3074F1-DE75-7586-76B8-F183613629DF}"/>
              </a:ext>
            </a:extLst>
          </p:cNvPr>
          <p:cNvGraphicFramePr/>
          <p:nvPr>
            <p:extLst>
              <p:ext uri="{D42A27DB-BD31-4B8C-83A1-F6EECF244321}">
                <p14:modId xmlns:p14="http://schemas.microsoft.com/office/powerpoint/2010/main" val="3227121142"/>
              </p:ext>
            </p:extLst>
          </p:nvPr>
        </p:nvGraphicFramePr>
        <p:xfrm>
          <a:off x="4450464" y="2707143"/>
          <a:ext cx="990600" cy="355600"/>
        </p:xfrm>
        <a:graphic>
          <a:graphicData uri="http://schemas.openxmlformats.org/presentationml/2006/ole">
            <mc:AlternateContent xmlns:mc="http://schemas.openxmlformats.org/markup-compatibility/2006">
              <mc:Choice xmlns:v="urn:schemas-microsoft-com:vml" Requires="v">
                <p:oleObj spid="_x0000_s79214" r:id="rId11" imgW="635000" imgH="228600" progId="Equation.3">
                  <p:embed/>
                </p:oleObj>
              </mc:Choice>
              <mc:Fallback>
                <p:oleObj r:id="rId11" imgW="635000" imgH="228600" progId="Equation.3">
                  <p:embed/>
                  <p:pic>
                    <p:nvPicPr>
                      <p:cNvPr id="0" name=""/>
                      <p:cNvPicPr/>
                      <p:nvPr/>
                    </p:nvPicPr>
                    <p:blipFill>
                      <a:blip r:embed="rId12"/>
                      <a:stretch>
                        <a:fillRect/>
                      </a:stretch>
                    </p:blipFill>
                    <p:spPr>
                      <a:xfrm>
                        <a:off x="4450464" y="2707143"/>
                        <a:ext cx="990600" cy="355600"/>
                      </a:xfrm>
                      <a:prstGeom prst="rect">
                        <a:avLst/>
                      </a:prstGeom>
                      <a:noFill/>
                      <a:ln w="38100">
                        <a:noFill/>
                        <a:miter/>
                      </a:ln>
                    </p:spPr>
                  </p:pic>
                </p:oleObj>
              </mc:Fallback>
            </mc:AlternateContent>
          </a:graphicData>
        </a:graphic>
      </p:graphicFrame>
      <p:graphicFrame>
        <p:nvGraphicFramePr>
          <p:cNvPr id="12" name="Object 8">
            <a:extLst>
              <a:ext uri="{FF2B5EF4-FFF2-40B4-BE49-F238E27FC236}">
                <a16:creationId xmlns="" xmlns:a16="http://schemas.microsoft.com/office/drawing/2014/main" id="{8BC5A1F9-1326-33B2-BBC5-39D56203CF73}"/>
              </a:ext>
            </a:extLst>
          </p:cNvPr>
          <p:cNvGraphicFramePr/>
          <p:nvPr>
            <p:extLst>
              <p:ext uri="{D42A27DB-BD31-4B8C-83A1-F6EECF244321}">
                <p14:modId xmlns:p14="http://schemas.microsoft.com/office/powerpoint/2010/main" val="2672761636"/>
              </p:ext>
            </p:extLst>
          </p:nvPr>
        </p:nvGraphicFramePr>
        <p:xfrm>
          <a:off x="4488564" y="3096848"/>
          <a:ext cx="914400" cy="333375"/>
        </p:xfrm>
        <a:graphic>
          <a:graphicData uri="http://schemas.openxmlformats.org/presentationml/2006/ole">
            <mc:AlternateContent xmlns:mc="http://schemas.openxmlformats.org/markup-compatibility/2006">
              <mc:Choice xmlns:v="urn:schemas-microsoft-com:vml" Requires="v">
                <p:oleObj spid="_x0000_s79215" r:id="rId13" imgW="596900" imgH="215900" progId="Equation.3">
                  <p:embed/>
                </p:oleObj>
              </mc:Choice>
              <mc:Fallback>
                <p:oleObj r:id="rId13" imgW="596900" imgH="215900" progId="Equation.3">
                  <p:embed/>
                  <p:pic>
                    <p:nvPicPr>
                      <p:cNvPr id="0" name=""/>
                      <p:cNvPicPr/>
                      <p:nvPr/>
                    </p:nvPicPr>
                    <p:blipFill>
                      <a:blip r:embed="rId14"/>
                      <a:stretch>
                        <a:fillRect/>
                      </a:stretch>
                    </p:blipFill>
                    <p:spPr>
                      <a:xfrm>
                        <a:off x="4488564" y="3096848"/>
                        <a:ext cx="914400" cy="333375"/>
                      </a:xfrm>
                      <a:prstGeom prst="rect">
                        <a:avLst/>
                      </a:prstGeom>
                      <a:noFill/>
                      <a:ln w="38100">
                        <a:noFill/>
                        <a:miter/>
                      </a:ln>
                    </p:spPr>
                  </p:pic>
                </p:oleObj>
              </mc:Fallback>
            </mc:AlternateContent>
          </a:graphicData>
        </a:graphic>
      </p:graphicFrame>
      <p:graphicFrame>
        <p:nvGraphicFramePr>
          <p:cNvPr id="13" name="Object 9">
            <a:extLst>
              <a:ext uri="{FF2B5EF4-FFF2-40B4-BE49-F238E27FC236}">
                <a16:creationId xmlns="" xmlns:a16="http://schemas.microsoft.com/office/drawing/2014/main" id="{DA426DEE-1527-8400-479D-F1E3C407C62E}"/>
              </a:ext>
            </a:extLst>
          </p:cNvPr>
          <p:cNvGraphicFramePr/>
          <p:nvPr>
            <p:extLst>
              <p:ext uri="{D42A27DB-BD31-4B8C-83A1-F6EECF244321}">
                <p14:modId xmlns:p14="http://schemas.microsoft.com/office/powerpoint/2010/main" val="1436790710"/>
              </p:ext>
            </p:extLst>
          </p:nvPr>
        </p:nvGraphicFramePr>
        <p:xfrm>
          <a:off x="3306390" y="3789763"/>
          <a:ext cx="609600" cy="365125"/>
        </p:xfrm>
        <a:graphic>
          <a:graphicData uri="http://schemas.openxmlformats.org/presentationml/2006/ole">
            <mc:AlternateContent xmlns:mc="http://schemas.openxmlformats.org/markup-compatibility/2006">
              <mc:Choice xmlns:v="urn:schemas-microsoft-com:vml" Requires="v">
                <p:oleObj spid="_x0000_s79216" r:id="rId15" imgW="381000" imgH="228600" progId="Equation.3">
                  <p:embed/>
                </p:oleObj>
              </mc:Choice>
              <mc:Fallback>
                <p:oleObj r:id="rId15" imgW="381000" imgH="228600" progId="Equation.3">
                  <p:embed/>
                  <p:pic>
                    <p:nvPicPr>
                      <p:cNvPr id="0" name=""/>
                      <p:cNvPicPr/>
                      <p:nvPr/>
                    </p:nvPicPr>
                    <p:blipFill>
                      <a:blip r:embed="rId16"/>
                      <a:stretch>
                        <a:fillRect/>
                      </a:stretch>
                    </p:blipFill>
                    <p:spPr>
                      <a:xfrm>
                        <a:off x="3306390" y="3789763"/>
                        <a:ext cx="609600" cy="365125"/>
                      </a:xfrm>
                      <a:prstGeom prst="rect">
                        <a:avLst/>
                      </a:prstGeom>
                      <a:noFill/>
                      <a:ln w="38100">
                        <a:noFill/>
                        <a:miter/>
                      </a:ln>
                    </p:spPr>
                  </p:pic>
                </p:oleObj>
              </mc:Fallback>
            </mc:AlternateContent>
          </a:graphicData>
        </a:graphic>
      </p:graphicFrame>
      <p:graphicFrame>
        <p:nvGraphicFramePr>
          <p:cNvPr id="14" name="Object 10">
            <a:extLst>
              <a:ext uri="{FF2B5EF4-FFF2-40B4-BE49-F238E27FC236}">
                <a16:creationId xmlns="" xmlns:a16="http://schemas.microsoft.com/office/drawing/2014/main" id="{C4D9D1F8-B613-84E6-C781-861A91BB20EB}"/>
              </a:ext>
            </a:extLst>
          </p:cNvPr>
          <p:cNvGraphicFramePr/>
          <p:nvPr>
            <p:extLst>
              <p:ext uri="{D42A27DB-BD31-4B8C-83A1-F6EECF244321}">
                <p14:modId xmlns:p14="http://schemas.microsoft.com/office/powerpoint/2010/main" val="3251794745"/>
              </p:ext>
            </p:extLst>
          </p:nvPr>
        </p:nvGraphicFramePr>
        <p:xfrm>
          <a:off x="5420108" y="2880724"/>
          <a:ext cx="3451225" cy="1898540"/>
        </p:xfrm>
        <a:graphic>
          <a:graphicData uri="http://schemas.openxmlformats.org/presentationml/2006/ole">
            <mc:AlternateContent xmlns:mc="http://schemas.openxmlformats.org/markup-compatibility/2006">
              <mc:Choice xmlns:v="urn:schemas-microsoft-com:vml" Requires="v">
                <p:oleObj spid="_x0000_s79217" r:id="rId17" imgW="2349500" imgH="1917700" progId="Word.Picture.8">
                  <p:embed/>
                </p:oleObj>
              </mc:Choice>
              <mc:Fallback>
                <p:oleObj r:id="rId17" imgW="2349500" imgH="1917700" progId="Word.Picture.8">
                  <p:embed/>
                  <p:pic>
                    <p:nvPicPr>
                      <p:cNvPr id="0" name=""/>
                      <p:cNvPicPr/>
                      <p:nvPr/>
                    </p:nvPicPr>
                    <p:blipFill>
                      <a:blip r:embed="rId18">
                        <a:clrChange>
                          <a:clrFrom>
                            <a:srgbClr val="FFFFFF"/>
                          </a:clrFrom>
                          <a:clrTo>
                            <a:srgbClr val="CCECFF"/>
                          </a:clrTo>
                        </a:clrChange>
                      </a:blip>
                      <a:stretch>
                        <a:fillRect/>
                      </a:stretch>
                    </p:blipFill>
                    <p:spPr>
                      <a:xfrm>
                        <a:off x="5420108" y="2880724"/>
                        <a:ext cx="3451225" cy="1898540"/>
                      </a:xfrm>
                      <a:prstGeom prst="rect">
                        <a:avLst/>
                      </a:prstGeom>
                      <a:noFill/>
                      <a:ln w="38100">
                        <a:noFill/>
                        <a:miter/>
                      </a:ln>
                    </p:spPr>
                  </p:pic>
                </p:oleObj>
              </mc:Fallback>
            </mc:AlternateContent>
          </a:graphicData>
        </a:graphic>
      </p:graphicFrame>
    </p:spTree>
    <p:extLst>
      <p:ext uri="{BB962C8B-B14F-4D97-AF65-F5344CB8AC3E}">
        <p14:creationId xmlns:p14="http://schemas.microsoft.com/office/powerpoint/2010/main" val="1914405675"/>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106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25"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3.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高频</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小信号</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放大器</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矩形 313349">
            <a:extLst>
              <a:ext uri="{FF2B5EF4-FFF2-40B4-BE49-F238E27FC236}">
                <a16:creationId xmlns="" xmlns:a16="http://schemas.microsoft.com/office/drawing/2014/main" id="{CB33F1C9-5EA0-EF0A-29A3-22B28953384B}"/>
              </a:ext>
            </a:extLst>
          </p:cNvPr>
          <p:cNvSpPr/>
          <p:nvPr/>
        </p:nvSpPr>
        <p:spPr>
          <a:xfrm>
            <a:off x="1808040" y="4909247"/>
            <a:ext cx="6565900" cy="1487318"/>
          </a:xfrm>
          <a:prstGeom prst="rect">
            <a:avLst/>
          </a:prstGeom>
          <a:noFill/>
          <a:ln w="9525">
            <a:noFill/>
          </a:ln>
        </p:spPr>
        <p:txBody>
          <a:bodyPr anchor="t" anchorCtr="0"/>
          <a:lstStyle/>
          <a:p>
            <a:pPr marL="342900" indent="-342900">
              <a:spcBef>
                <a:spcPts val="600"/>
              </a:spcBef>
            </a:pPr>
            <a:endParaRPr lang="zh-CN" altLang="en-US" sz="3200" b="1" dirty="0">
              <a:solidFill>
                <a:schemeClr val="tx1"/>
              </a:solidFill>
              <a:latin typeface="楷体" panose="02010609060101010101" pitchFamily="49" charset="-122"/>
              <a:ea typeface="楷体" panose="02010609060101010101" pitchFamily="49" charset="-122"/>
            </a:endParaRPr>
          </a:p>
        </p:txBody>
      </p:sp>
      <p:graphicFrame>
        <p:nvGraphicFramePr>
          <p:cNvPr id="6" name="Object 2">
            <a:extLst>
              <a:ext uri="{FF2B5EF4-FFF2-40B4-BE49-F238E27FC236}">
                <a16:creationId xmlns="" xmlns:a16="http://schemas.microsoft.com/office/drawing/2014/main" id="{EC9ABE07-6E64-D9B3-D56A-4C225E944DB4}"/>
              </a:ext>
            </a:extLst>
          </p:cNvPr>
          <p:cNvGraphicFramePr/>
          <p:nvPr>
            <p:extLst>
              <p:ext uri="{D42A27DB-BD31-4B8C-83A1-F6EECF244321}">
                <p14:modId xmlns:p14="http://schemas.microsoft.com/office/powerpoint/2010/main" val="1987807108"/>
              </p:ext>
            </p:extLst>
          </p:nvPr>
        </p:nvGraphicFramePr>
        <p:xfrm>
          <a:off x="2341320" y="3454318"/>
          <a:ext cx="1331912" cy="709613"/>
        </p:xfrm>
        <a:graphic>
          <a:graphicData uri="http://schemas.openxmlformats.org/presentationml/2006/ole">
            <mc:AlternateContent xmlns:mc="http://schemas.openxmlformats.org/markup-compatibility/2006">
              <mc:Choice xmlns:v="urn:schemas-microsoft-com:vml" Requires="v">
                <p:oleObj spid="_x0000_s80369" r:id="rId3" imgW="685800" imgH="393700" progId="Equation.3">
                  <p:embed/>
                </p:oleObj>
              </mc:Choice>
              <mc:Fallback>
                <p:oleObj r:id="rId3" imgW="685800" imgH="393700" progId="Equation.3">
                  <p:embed/>
                  <p:pic>
                    <p:nvPicPr>
                      <p:cNvPr id="0" name=""/>
                      <p:cNvPicPr/>
                      <p:nvPr/>
                    </p:nvPicPr>
                    <p:blipFill>
                      <a:blip r:embed="rId4"/>
                      <a:stretch>
                        <a:fillRect/>
                      </a:stretch>
                    </p:blipFill>
                    <p:spPr>
                      <a:xfrm>
                        <a:off x="2341320" y="3454318"/>
                        <a:ext cx="1331912" cy="709613"/>
                      </a:xfrm>
                      <a:prstGeom prst="rect">
                        <a:avLst/>
                      </a:prstGeom>
                      <a:noFill/>
                      <a:ln w="38100">
                        <a:noFill/>
                        <a:miter/>
                      </a:ln>
                    </p:spPr>
                  </p:pic>
                </p:oleObj>
              </mc:Fallback>
            </mc:AlternateContent>
          </a:graphicData>
        </a:graphic>
      </p:graphicFrame>
      <p:graphicFrame>
        <p:nvGraphicFramePr>
          <p:cNvPr id="7" name="Object 3">
            <a:extLst>
              <a:ext uri="{FF2B5EF4-FFF2-40B4-BE49-F238E27FC236}">
                <a16:creationId xmlns="" xmlns:a16="http://schemas.microsoft.com/office/drawing/2014/main" id="{ABE10C61-12C0-26B3-8BEA-1A87E80E1F0A}"/>
              </a:ext>
            </a:extLst>
          </p:cNvPr>
          <p:cNvGraphicFramePr/>
          <p:nvPr>
            <p:extLst>
              <p:ext uri="{D42A27DB-BD31-4B8C-83A1-F6EECF244321}">
                <p14:modId xmlns:p14="http://schemas.microsoft.com/office/powerpoint/2010/main" val="1121558616"/>
              </p:ext>
            </p:extLst>
          </p:nvPr>
        </p:nvGraphicFramePr>
        <p:xfrm>
          <a:off x="4783596" y="3555934"/>
          <a:ext cx="378842" cy="465349"/>
        </p:xfrm>
        <a:graphic>
          <a:graphicData uri="http://schemas.openxmlformats.org/presentationml/2006/ole">
            <mc:AlternateContent xmlns:mc="http://schemas.openxmlformats.org/markup-compatibility/2006">
              <mc:Choice xmlns:v="urn:schemas-microsoft-com:vml" Requires="v">
                <p:oleObj spid="_x0000_s80370" r:id="rId5" imgW="177800" imgH="203200" progId="Equation.3">
                  <p:embed/>
                </p:oleObj>
              </mc:Choice>
              <mc:Fallback>
                <p:oleObj r:id="rId5" imgW="177800" imgH="203200" progId="Equation.3">
                  <p:embed/>
                  <p:pic>
                    <p:nvPicPr>
                      <p:cNvPr id="0" name=""/>
                      <p:cNvPicPr/>
                      <p:nvPr/>
                    </p:nvPicPr>
                    <p:blipFill>
                      <a:blip r:embed="rId6"/>
                      <a:stretch>
                        <a:fillRect/>
                      </a:stretch>
                    </p:blipFill>
                    <p:spPr>
                      <a:xfrm>
                        <a:off x="4783596" y="3555934"/>
                        <a:ext cx="378842" cy="465349"/>
                      </a:xfrm>
                      <a:prstGeom prst="rect">
                        <a:avLst/>
                      </a:prstGeom>
                      <a:noFill/>
                      <a:ln w="38100">
                        <a:noFill/>
                        <a:miter/>
                      </a:ln>
                    </p:spPr>
                  </p:pic>
                </p:oleObj>
              </mc:Fallback>
            </mc:AlternateContent>
          </a:graphicData>
        </a:graphic>
      </p:graphicFrame>
      <p:graphicFrame>
        <p:nvGraphicFramePr>
          <p:cNvPr id="8" name="Object 4">
            <a:extLst>
              <a:ext uri="{FF2B5EF4-FFF2-40B4-BE49-F238E27FC236}">
                <a16:creationId xmlns="" xmlns:a16="http://schemas.microsoft.com/office/drawing/2014/main" id="{55803673-4BA2-55F7-40DB-AF3AAD19B44A}"/>
              </a:ext>
            </a:extLst>
          </p:cNvPr>
          <p:cNvGraphicFramePr/>
          <p:nvPr>
            <p:extLst>
              <p:ext uri="{D42A27DB-BD31-4B8C-83A1-F6EECF244321}">
                <p14:modId xmlns:p14="http://schemas.microsoft.com/office/powerpoint/2010/main" val="3070572926"/>
              </p:ext>
            </p:extLst>
          </p:nvPr>
        </p:nvGraphicFramePr>
        <p:xfrm>
          <a:off x="950669" y="4132721"/>
          <a:ext cx="2722563" cy="906463"/>
        </p:xfrm>
        <a:graphic>
          <a:graphicData uri="http://schemas.openxmlformats.org/presentationml/2006/ole">
            <mc:AlternateContent xmlns:mc="http://schemas.openxmlformats.org/markup-compatibility/2006">
              <mc:Choice xmlns:v="urn:schemas-microsoft-com:vml" Requires="v">
                <p:oleObj spid="_x0000_s80371" r:id="rId7" imgW="1536700" imgH="508000" progId="Equation.3">
                  <p:embed/>
                </p:oleObj>
              </mc:Choice>
              <mc:Fallback>
                <p:oleObj r:id="rId7" imgW="1536700" imgH="508000" progId="Equation.3">
                  <p:embed/>
                  <p:pic>
                    <p:nvPicPr>
                      <p:cNvPr id="0" name=""/>
                      <p:cNvPicPr/>
                      <p:nvPr/>
                    </p:nvPicPr>
                    <p:blipFill>
                      <a:blip r:embed="rId8"/>
                      <a:stretch>
                        <a:fillRect/>
                      </a:stretch>
                    </p:blipFill>
                    <p:spPr>
                      <a:xfrm>
                        <a:off x="950669" y="4132721"/>
                        <a:ext cx="2722563" cy="906463"/>
                      </a:xfrm>
                      <a:prstGeom prst="rect">
                        <a:avLst/>
                      </a:prstGeom>
                      <a:noFill/>
                      <a:ln w="38100">
                        <a:noFill/>
                        <a:miter/>
                      </a:ln>
                    </p:spPr>
                  </p:pic>
                </p:oleObj>
              </mc:Fallback>
            </mc:AlternateContent>
          </a:graphicData>
        </a:graphic>
      </p:graphicFrame>
      <p:graphicFrame>
        <p:nvGraphicFramePr>
          <p:cNvPr id="9" name="Object 5">
            <a:extLst>
              <a:ext uri="{FF2B5EF4-FFF2-40B4-BE49-F238E27FC236}">
                <a16:creationId xmlns="" xmlns:a16="http://schemas.microsoft.com/office/drawing/2014/main" id="{9A4B765D-B2A9-E08E-7DD0-743872C8790F}"/>
              </a:ext>
            </a:extLst>
          </p:cNvPr>
          <p:cNvGraphicFramePr/>
          <p:nvPr>
            <p:extLst>
              <p:ext uri="{D42A27DB-BD31-4B8C-83A1-F6EECF244321}">
                <p14:modId xmlns:p14="http://schemas.microsoft.com/office/powerpoint/2010/main" val="2012181967"/>
              </p:ext>
            </p:extLst>
          </p:nvPr>
        </p:nvGraphicFramePr>
        <p:xfrm>
          <a:off x="3952243" y="4092688"/>
          <a:ext cx="3938587" cy="952500"/>
        </p:xfrm>
        <a:graphic>
          <a:graphicData uri="http://schemas.openxmlformats.org/presentationml/2006/ole">
            <mc:AlternateContent xmlns:mc="http://schemas.openxmlformats.org/markup-compatibility/2006">
              <mc:Choice xmlns:v="urn:schemas-microsoft-com:vml" Requires="v">
                <p:oleObj spid="_x0000_s80372" r:id="rId9" imgW="2107565" imgH="584200" progId="Equation.3">
                  <p:embed/>
                </p:oleObj>
              </mc:Choice>
              <mc:Fallback>
                <p:oleObj r:id="rId9" imgW="2107565" imgH="584200" progId="Equation.3">
                  <p:embed/>
                  <p:pic>
                    <p:nvPicPr>
                      <p:cNvPr id="0" name=""/>
                      <p:cNvPicPr/>
                      <p:nvPr/>
                    </p:nvPicPr>
                    <p:blipFill>
                      <a:blip r:embed="rId10"/>
                      <a:stretch>
                        <a:fillRect/>
                      </a:stretch>
                    </p:blipFill>
                    <p:spPr>
                      <a:xfrm>
                        <a:off x="3952243" y="4092688"/>
                        <a:ext cx="3938587" cy="952500"/>
                      </a:xfrm>
                      <a:prstGeom prst="rect">
                        <a:avLst/>
                      </a:prstGeom>
                      <a:noFill/>
                      <a:ln w="38100">
                        <a:noFill/>
                        <a:miter/>
                      </a:ln>
                    </p:spPr>
                  </p:pic>
                </p:oleObj>
              </mc:Fallback>
            </mc:AlternateContent>
          </a:graphicData>
        </a:graphic>
      </p:graphicFrame>
      <p:sp>
        <p:nvSpPr>
          <p:cNvPr id="10" name="Rectangle 8">
            <a:extLst>
              <a:ext uri="{FF2B5EF4-FFF2-40B4-BE49-F238E27FC236}">
                <a16:creationId xmlns="" xmlns:a16="http://schemas.microsoft.com/office/drawing/2014/main" id="{626AE89F-89DD-AC12-ACFE-E452BD7E2EB7}"/>
              </a:ext>
            </a:extLst>
          </p:cNvPr>
          <p:cNvSpPr/>
          <p:nvPr/>
        </p:nvSpPr>
        <p:spPr>
          <a:xfrm>
            <a:off x="359568" y="3638551"/>
            <a:ext cx="8512788" cy="861774"/>
          </a:xfrm>
          <a:prstGeom prst="rect">
            <a:avLst/>
          </a:prstGeom>
          <a:noFill/>
          <a:ln w="12700">
            <a:noFill/>
          </a:ln>
        </p:spPr>
        <p:txBody>
          <a:bodyPr wrap="square" anchor="t" anchorCtr="0">
            <a:spAutoFit/>
          </a:bodyPr>
          <a:lstStyle/>
          <a:p>
            <a:r>
              <a:rPr lang="en-US" altLang="zh-CN" sz="2000" b="1" dirty="0">
                <a:latin typeface="+mn-ea"/>
                <a:ea typeface="+mn-ea"/>
              </a:rPr>
              <a:t>3) </a:t>
            </a:r>
            <a:r>
              <a:rPr lang="zh-CN" altLang="en-US" sz="2000" b="1" dirty="0">
                <a:latin typeface="+mn-ea"/>
                <a:ea typeface="+mn-ea"/>
              </a:rPr>
              <a:t>回路的有载              此时的 </a:t>
            </a:r>
            <a:r>
              <a:rPr lang="zh-CN" altLang="en-US" sz="2000" b="1" dirty="0" smtClean="0">
                <a:latin typeface="+mn-ea"/>
                <a:ea typeface="+mn-ea"/>
              </a:rPr>
              <a:t>   应</a:t>
            </a:r>
            <a:r>
              <a:rPr lang="zh-CN" altLang="en-US" sz="2000" b="1" dirty="0">
                <a:latin typeface="+mn-ea"/>
                <a:ea typeface="+mn-ea"/>
              </a:rPr>
              <a:t>由稳定电压增益求得即</a:t>
            </a:r>
          </a:p>
          <a:p>
            <a:pPr eaLnBrk="0" hangingPunct="0">
              <a:spcBef>
                <a:spcPct val="50000"/>
              </a:spcBef>
            </a:pPr>
            <a:endParaRPr lang="en-US" altLang="zh-CN" sz="2000" b="1" dirty="0">
              <a:latin typeface="+mn-ea"/>
              <a:ea typeface="+mn-ea"/>
            </a:endParaRPr>
          </a:p>
        </p:txBody>
      </p:sp>
      <p:graphicFrame>
        <p:nvGraphicFramePr>
          <p:cNvPr id="11" name="Object 6">
            <a:extLst>
              <a:ext uri="{FF2B5EF4-FFF2-40B4-BE49-F238E27FC236}">
                <a16:creationId xmlns="" xmlns:a16="http://schemas.microsoft.com/office/drawing/2014/main" id="{59454B8D-B74A-9345-16C2-AC34D3899527}"/>
              </a:ext>
            </a:extLst>
          </p:cNvPr>
          <p:cNvGraphicFramePr/>
          <p:nvPr>
            <p:extLst>
              <p:ext uri="{D42A27DB-BD31-4B8C-83A1-F6EECF244321}">
                <p14:modId xmlns:p14="http://schemas.microsoft.com/office/powerpoint/2010/main" val="3759297184"/>
              </p:ext>
            </p:extLst>
          </p:nvPr>
        </p:nvGraphicFramePr>
        <p:xfrm>
          <a:off x="1028700" y="4964130"/>
          <a:ext cx="5329237" cy="647700"/>
        </p:xfrm>
        <a:graphic>
          <a:graphicData uri="http://schemas.openxmlformats.org/presentationml/2006/ole">
            <mc:AlternateContent xmlns:mc="http://schemas.openxmlformats.org/markup-compatibility/2006">
              <mc:Choice xmlns:v="urn:schemas-microsoft-com:vml" Requires="v">
                <p:oleObj spid="_x0000_s80373" r:id="rId11" imgW="3224530" imgH="393700" progId="Equation.3">
                  <p:embed/>
                </p:oleObj>
              </mc:Choice>
              <mc:Fallback>
                <p:oleObj r:id="rId11" imgW="3224530" imgH="393700" progId="Equation.3">
                  <p:embed/>
                  <p:pic>
                    <p:nvPicPr>
                      <p:cNvPr id="0" name=""/>
                      <p:cNvPicPr/>
                      <p:nvPr/>
                    </p:nvPicPr>
                    <p:blipFill>
                      <a:blip r:embed="rId12"/>
                      <a:stretch>
                        <a:fillRect/>
                      </a:stretch>
                    </p:blipFill>
                    <p:spPr>
                      <a:xfrm>
                        <a:off x="1028700" y="4964130"/>
                        <a:ext cx="5329237" cy="647700"/>
                      </a:xfrm>
                      <a:prstGeom prst="rect">
                        <a:avLst/>
                      </a:prstGeom>
                      <a:noFill/>
                      <a:ln w="38100">
                        <a:noFill/>
                        <a:miter/>
                      </a:ln>
                    </p:spPr>
                  </p:pic>
                </p:oleObj>
              </mc:Fallback>
            </mc:AlternateContent>
          </a:graphicData>
        </a:graphic>
      </p:graphicFrame>
      <p:sp>
        <p:nvSpPr>
          <p:cNvPr id="12" name="Rectangle 10">
            <a:extLst>
              <a:ext uri="{FF2B5EF4-FFF2-40B4-BE49-F238E27FC236}">
                <a16:creationId xmlns="" xmlns:a16="http://schemas.microsoft.com/office/drawing/2014/main" id="{1A3478B9-AB59-C8BE-573D-B0CC1E0134A4}"/>
              </a:ext>
            </a:extLst>
          </p:cNvPr>
          <p:cNvSpPr/>
          <p:nvPr/>
        </p:nvSpPr>
        <p:spPr>
          <a:xfrm>
            <a:off x="271644" y="5624826"/>
            <a:ext cx="3001717" cy="400110"/>
          </a:xfrm>
          <a:prstGeom prst="rect">
            <a:avLst/>
          </a:prstGeom>
          <a:noFill/>
          <a:ln w="9525">
            <a:noFill/>
          </a:ln>
        </p:spPr>
        <p:txBody>
          <a:bodyPr wrap="square" anchor="t" anchorCtr="0">
            <a:spAutoFit/>
          </a:bodyPr>
          <a:lstStyle/>
          <a:p>
            <a:r>
              <a:rPr lang="en-US" altLang="zh-CN" sz="2000" b="1" dirty="0">
                <a:latin typeface="+mn-ea"/>
                <a:ea typeface="+mn-ea"/>
              </a:rPr>
              <a:t>4) </a:t>
            </a:r>
            <a:r>
              <a:rPr lang="zh-CN" altLang="en-US" sz="2000" b="1" dirty="0">
                <a:latin typeface="+mn-ea"/>
                <a:ea typeface="+mn-ea"/>
              </a:rPr>
              <a:t>回路的通频带 </a:t>
            </a:r>
          </a:p>
        </p:txBody>
      </p:sp>
      <p:graphicFrame>
        <p:nvGraphicFramePr>
          <p:cNvPr id="13" name="Object 7">
            <a:extLst>
              <a:ext uri="{FF2B5EF4-FFF2-40B4-BE49-F238E27FC236}">
                <a16:creationId xmlns="" xmlns:a16="http://schemas.microsoft.com/office/drawing/2014/main" id="{4D2C95DF-40B7-FB13-9FE1-AA3095B3515B}"/>
              </a:ext>
            </a:extLst>
          </p:cNvPr>
          <p:cNvGraphicFramePr/>
          <p:nvPr>
            <p:extLst>
              <p:ext uri="{D42A27DB-BD31-4B8C-83A1-F6EECF244321}">
                <p14:modId xmlns:p14="http://schemas.microsoft.com/office/powerpoint/2010/main" val="756279931"/>
              </p:ext>
            </p:extLst>
          </p:nvPr>
        </p:nvGraphicFramePr>
        <p:xfrm>
          <a:off x="1244413" y="5907233"/>
          <a:ext cx="5616575" cy="731837"/>
        </p:xfrm>
        <a:graphic>
          <a:graphicData uri="http://schemas.openxmlformats.org/presentationml/2006/ole">
            <mc:AlternateContent xmlns:mc="http://schemas.openxmlformats.org/markup-compatibility/2006">
              <mc:Choice xmlns:v="urn:schemas-microsoft-com:vml" Requires="v">
                <p:oleObj spid="_x0000_s80374" r:id="rId13" imgW="2870200" imgH="457200" progId="Equation.3">
                  <p:embed/>
                </p:oleObj>
              </mc:Choice>
              <mc:Fallback>
                <p:oleObj r:id="rId13" imgW="2870200" imgH="457200" progId="Equation.3">
                  <p:embed/>
                  <p:pic>
                    <p:nvPicPr>
                      <p:cNvPr id="0" name=""/>
                      <p:cNvPicPr/>
                      <p:nvPr/>
                    </p:nvPicPr>
                    <p:blipFill>
                      <a:blip r:embed="rId14"/>
                      <a:stretch>
                        <a:fillRect/>
                      </a:stretch>
                    </p:blipFill>
                    <p:spPr>
                      <a:xfrm>
                        <a:off x="1244413" y="5907233"/>
                        <a:ext cx="5616575" cy="731837"/>
                      </a:xfrm>
                      <a:prstGeom prst="rect">
                        <a:avLst/>
                      </a:prstGeom>
                      <a:noFill/>
                      <a:ln w="38100">
                        <a:noFill/>
                        <a:miter/>
                      </a:ln>
                    </p:spPr>
                  </p:pic>
                </p:oleObj>
              </mc:Fallback>
            </mc:AlternateContent>
          </a:graphicData>
        </a:graphic>
      </p:graphicFrame>
      <p:sp>
        <p:nvSpPr>
          <p:cNvPr id="14" name="矩形 313349">
            <a:extLst>
              <a:ext uri="{FF2B5EF4-FFF2-40B4-BE49-F238E27FC236}">
                <a16:creationId xmlns="" xmlns:a16="http://schemas.microsoft.com/office/drawing/2014/main" id="{03393B4C-F778-9C88-CE0B-1E1F47658770}"/>
              </a:ext>
            </a:extLst>
          </p:cNvPr>
          <p:cNvSpPr/>
          <p:nvPr/>
        </p:nvSpPr>
        <p:spPr>
          <a:xfrm>
            <a:off x="1493630" y="1781017"/>
            <a:ext cx="6565900" cy="1487318"/>
          </a:xfrm>
          <a:prstGeom prst="rect">
            <a:avLst/>
          </a:prstGeom>
          <a:noFill/>
          <a:ln w="9525">
            <a:noFill/>
          </a:ln>
        </p:spPr>
        <p:txBody>
          <a:bodyPr anchor="t" anchorCtr="0"/>
          <a:lstStyle/>
          <a:p>
            <a:pPr marL="342900" indent="-342900">
              <a:spcBef>
                <a:spcPts val="600"/>
              </a:spcBef>
            </a:pPr>
            <a:endParaRPr lang="zh-CN" altLang="en-US" sz="3200" b="1" dirty="0">
              <a:solidFill>
                <a:schemeClr val="tx1"/>
              </a:solidFill>
              <a:latin typeface="楷体" panose="02010609060101010101" pitchFamily="49" charset="-122"/>
              <a:ea typeface="楷体" panose="02010609060101010101" pitchFamily="49" charset="-122"/>
            </a:endParaRPr>
          </a:p>
        </p:txBody>
      </p:sp>
      <p:sp>
        <p:nvSpPr>
          <p:cNvPr id="15" name="Rectangle 13">
            <a:extLst>
              <a:ext uri="{FF2B5EF4-FFF2-40B4-BE49-F238E27FC236}">
                <a16:creationId xmlns="" xmlns:a16="http://schemas.microsoft.com/office/drawing/2014/main" id="{3DD590CA-C596-6BEA-E9B2-EAFF9655359D}"/>
              </a:ext>
            </a:extLst>
          </p:cNvPr>
          <p:cNvSpPr/>
          <p:nvPr/>
        </p:nvSpPr>
        <p:spPr>
          <a:xfrm>
            <a:off x="301250" y="1518663"/>
            <a:ext cx="8600712" cy="2154436"/>
          </a:xfrm>
          <a:prstGeom prst="rect">
            <a:avLst/>
          </a:prstGeom>
          <a:noFill/>
          <a:ln w="9525">
            <a:noFill/>
          </a:ln>
        </p:spPr>
        <p:txBody>
          <a:bodyPr wrap="square" anchor="t" anchorCtr="0">
            <a:spAutoFit/>
          </a:bodyPr>
          <a:lstStyle/>
          <a:p>
            <a:pPr marL="457200" indent="-457200" algn="just">
              <a:buAutoNum type="arabicParenR"/>
            </a:pPr>
            <a:r>
              <a:rPr lang="zh-CN" altLang="en-US" sz="2000" b="1" dirty="0">
                <a:solidFill>
                  <a:srgbClr val="000000"/>
                </a:solidFill>
                <a:latin typeface="+mn-ea"/>
                <a:ea typeface="+mn-ea"/>
              </a:rPr>
              <a:t>因为式                   即是指</a:t>
            </a:r>
            <a:r>
              <a:rPr lang="en-US" altLang="zh-CN" sz="2000" b="1" dirty="0">
                <a:solidFill>
                  <a:srgbClr val="000000"/>
                </a:solidFill>
                <a:latin typeface="+mn-ea"/>
                <a:ea typeface="+mn-ea"/>
              </a:rPr>
              <a:t>A</a:t>
            </a:r>
            <a:r>
              <a:rPr lang="zh-CN" altLang="en-US" sz="2000" b="1" dirty="0">
                <a:solidFill>
                  <a:srgbClr val="000000"/>
                </a:solidFill>
                <a:latin typeface="+mn-ea"/>
                <a:ea typeface="+mn-ea"/>
              </a:rPr>
              <a:t>点稳定的谐振增益，而反向传输导纳                                  </a:t>
            </a:r>
            <a:r>
              <a:rPr lang="zh-CN" altLang="en-US" sz="2000" b="1" dirty="0" smtClean="0">
                <a:solidFill>
                  <a:srgbClr val="000000"/>
                </a:solidFill>
                <a:latin typeface="+mn-ea"/>
                <a:ea typeface="+mn-ea"/>
              </a:rPr>
              <a:t>所以</a:t>
            </a:r>
            <a:endParaRPr lang="en-US" altLang="zh-CN" sz="2000" b="1" dirty="0" smtClean="0">
              <a:solidFill>
                <a:srgbClr val="000000"/>
              </a:solidFill>
              <a:latin typeface="+mn-ea"/>
              <a:ea typeface="+mn-ea"/>
            </a:endParaRPr>
          </a:p>
          <a:p>
            <a:pPr marL="457200" indent="-457200" algn="just">
              <a:buAutoNum type="arabicParenR"/>
            </a:pPr>
            <a:endParaRPr lang="en-US" altLang="zh-CN" sz="2000" b="1" dirty="0">
              <a:solidFill>
                <a:srgbClr val="000000"/>
              </a:solidFill>
              <a:latin typeface="+mn-ea"/>
              <a:ea typeface="+mn-ea"/>
            </a:endParaRPr>
          </a:p>
          <a:p>
            <a:pPr algn="just" eaLnBrk="0" hangingPunct="0"/>
            <a:r>
              <a:rPr lang="en-US" altLang="zh-CN" sz="2000" b="1" dirty="0">
                <a:solidFill>
                  <a:schemeClr val="tx1"/>
                </a:solidFill>
                <a:latin typeface="+mn-ea"/>
                <a:ea typeface="+mn-ea"/>
              </a:rPr>
              <a:t>2) </a:t>
            </a:r>
            <a:r>
              <a:rPr lang="en-US" altLang="zh-CN" sz="2000" b="1" dirty="0">
                <a:solidFill>
                  <a:srgbClr val="000000"/>
                </a:solidFill>
                <a:latin typeface="+mn-ea"/>
                <a:ea typeface="+mn-ea"/>
              </a:rPr>
              <a:t>B</a:t>
            </a:r>
            <a:r>
              <a:rPr lang="zh-CN" altLang="en-US" sz="2000" b="1" dirty="0">
                <a:solidFill>
                  <a:srgbClr val="000000"/>
                </a:solidFill>
                <a:latin typeface="+mn-ea"/>
                <a:ea typeface="+mn-ea"/>
              </a:rPr>
              <a:t>点稳定的谐振电压增益应将</a:t>
            </a:r>
            <a:r>
              <a:rPr lang="en-US" altLang="zh-CN" sz="2000" b="1" dirty="0">
                <a:solidFill>
                  <a:srgbClr val="000000"/>
                </a:solidFill>
                <a:latin typeface="+mn-ea"/>
                <a:ea typeface="+mn-ea"/>
              </a:rPr>
              <a:t>A</a:t>
            </a:r>
            <a:r>
              <a:rPr lang="zh-CN" altLang="en-US" sz="2000" b="1" dirty="0" smtClean="0">
                <a:solidFill>
                  <a:srgbClr val="000000"/>
                </a:solidFill>
                <a:latin typeface="+mn-ea"/>
                <a:ea typeface="+mn-ea"/>
              </a:rPr>
              <a:t>点增益</a:t>
            </a:r>
            <a:r>
              <a:rPr lang="zh-CN" altLang="en-US" sz="2000" b="1" dirty="0">
                <a:solidFill>
                  <a:srgbClr val="000000"/>
                </a:solidFill>
                <a:latin typeface="+mn-ea"/>
                <a:ea typeface="+mn-ea"/>
              </a:rPr>
              <a:t>折合到回路端点，再折合到</a:t>
            </a:r>
            <a:r>
              <a:rPr lang="en-US" altLang="zh-CN" sz="2000" b="1" dirty="0">
                <a:solidFill>
                  <a:srgbClr val="000000"/>
                </a:solidFill>
                <a:latin typeface="+mn-ea"/>
                <a:ea typeface="+mn-ea"/>
              </a:rPr>
              <a:t>B</a:t>
            </a:r>
            <a:r>
              <a:rPr lang="zh-CN" altLang="en-US" sz="2000" b="1" dirty="0">
                <a:solidFill>
                  <a:srgbClr val="000000"/>
                </a:solidFill>
                <a:latin typeface="+mn-ea"/>
                <a:ea typeface="+mn-ea"/>
              </a:rPr>
              <a:t>点，</a:t>
            </a:r>
          </a:p>
          <a:p>
            <a:pPr indent="269875" algn="just" eaLnBrk="0" hangingPunct="0"/>
            <a:endParaRPr lang="zh-CN" altLang="en-US" sz="1800" b="1" dirty="0">
              <a:solidFill>
                <a:srgbClr val="000000"/>
              </a:solidFill>
              <a:latin typeface="Times New Roman" panose="02020603050405020304" pitchFamily="18" charset="0"/>
              <a:ea typeface="华康简宋"/>
            </a:endParaRPr>
          </a:p>
          <a:p>
            <a:pPr indent="269875" algn="just" eaLnBrk="0" hangingPunct="0"/>
            <a:endParaRPr lang="zh-CN" altLang="en-US" sz="1800" b="1" dirty="0">
              <a:solidFill>
                <a:srgbClr val="000000"/>
              </a:solidFill>
              <a:latin typeface="Times New Roman" panose="02020603050405020304" pitchFamily="18" charset="0"/>
              <a:ea typeface="华康简宋"/>
            </a:endParaRPr>
          </a:p>
          <a:p>
            <a:pPr indent="269875" algn="just" eaLnBrk="0" hangingPunct="0"/>
            <a:endParaRPr lang="en-US" altLang="zh-CN" sz="1800" b="1" dirty="0">
              <a:solidFill>
                <a:srgbClr val="000000"/>
              </a:solidFill>
              <a:latin typeface="Times New Roman" panose="02020603050405020304" pitchFamily="18" charset="0"/>
              <a:ea typeface="华康简宋"/>
            </a:endParaRPr>
          </a:p>
        </p:txBody>
      </p:sp>
      <p:graphicFrame>
        <p:nvGraphicFramePr>
          <p:cNvPr id="16" name="对象 1">
            <a:extLst>
              <a:ext uri="{FF2B5EF4-FFF2-40B4-BE49-F238E27FC236}">
                <a16:creationId xmlns="" xmlns:a16="http://schemas.microsoft.com/office/drawing/2014/main" id="{0FA101BE-89F6-579C-0F48-B8DCFC38BC84}"/>
              </a:ext>
            </a:extLst>
          </p:cNvPr>
          <p:cNvGraphicFramePr/>
          <p:nvPr>
            <p:extLst>
              <p:ext uri="{D42A27DB-BD31-4B8C-83A1-F6EECF244321}">
                <p14:modId xmlns:p14="http://schemas.microsoft.com/office/powerpoint/2010/main" val="2571379688"/>
              </p:ext>
            </p:extLst>
          </p:nvPr>
        </p:nvGraphicFramePr>
        <p:xfrm>
          <a:off x="1718569" y="1138588"/>
          <a:ext cx="2127346" cy="842833"/>
        </p:xfrm>
        <a:graphic>
          <a:graphicData uri="http://schemas.openxmlformats.org/presentationml/2006/ole">
            <mc:AlternateContent xmlns:mc="http://schemas.openxmlformats.org/markup-compatibility/2006">
              <mc:Choice xmlns:v="urn:schemas-microsoft-com:vml" Requires="v">
                <p:oleObj spid="_x0000_s80375" name="Equation" r:id="rId15" imgW="1257120" imgH="507960" progId="Equation.DSMT4">
                  <p:embed/>
                </p:oleObj>
              </mc:Choice>
              <mc:Fallback>
                <p:oleObj name="Equation" r:id="rId15" imgW="1257120" imgH="507960" progId="Equation.DSMT4">
                  <p:embed/>
                  <p:pic>
                    <p:nvPicPr>
                      <p:cNvPr id="0" name=""/>
                      <p:cNvPicPr/>
                      <p:nvPr/>
                    </p:nvPicPr>
                    <p:blipFill>
                      <a:blip r:embed="rId16"/>
                      <a:stretch>
                        <a:fillRect/>
                      </a:stretch>
                    </p:blipFill>
                    <p:spPr>
                      <a:xfrm>
                        <a:off x="1718569" y="1138588"/>
                        <a:ext cx="2127346" cy="842833"/>
                      </a:xfrm>
                      <a:prstGeom prst="rect">
                        <a:avLst/>
                      </a:prstGeom>
                      <a:noFill/>
                      <a:ln w="38100">
                        <a:noFill/>
                        <a:miter/>
                      </a:ln>
                    </p:spPr>
                  </p:pic>
                </p:oleObj>
              </mc:Fallback>
            </mc:AlternateContent>
          </a:graphicData>
        </a:graphic>
      </p:graphicFrame>
      <p:graphicFrame>
        <p:nvGraphicFramePr>
          <p:cNvPr id="17" name="对象 2">
            <a:extLst>
              <a:ext uri="{FF2B5EF4-FFF2-40B4-BE49-F238E27FC236}">
                <a16:creationId xmlns="" xmlns:a16="http://schemas.microsoft.com/office/drawing/2014/main" id="{80AF52F0-EE1D-9AE0-DAA7-C133666C21E4}"/>
              </a:ext>
            </a:extLst>
          </p:cNvPr>
          <p:cNvGraphicFramePr/>
          <p:nvPr>
            <p:extLst>
              <p:ext uri="{D42A27DB-BD31-4B8C-83A1-F6EECF244321}">
                <p14:modId xmlns:p14="http://schemas.microsoft.com/office/powerpoint/2010/main" val="3164317153"/>
              </p:ext>
            </p:extLst>
          </p:nvPr>
        </p:nvGraphicFramePr>
        <p:xfrm>
          <a:off x="1282550" y="1904236"/>
          <a:ext cx="2286000" cy="396875"/>
        </p:xfrm>
        <a:graphic>
          <a:graphicData uri="http://schemas.openxmlformats.org/presentationml/2006/ole">
            <mc:AlternateContent xmlns:mc="http://schemas.openxmlformats.org/markup-compatibility/2006">
              <mc:Choice xmlns:v="urn:schemas-microsoft-com:vml" Requires="v">
                <p:oleObj spid="_x0000_s80376" r:id="rId17" imgW="1231265" imgH="203200" progId="Equation.3">
                  <p:embed/>
                </p:oleObj>
              </mc:Choice>
              <mc:Fallback>
                <p:oleObj r:id="rId17" imgW="1231265" imgH="203200" progId="Equation.3">
                  <p:embed/>
                  <p:pic>
                    <p:nvPicPr>
                      <p:cNvPr id="0" name=""/>
                      <p:cNvPicPr/>
                      <p:nvPr/>
                    </p:nvPicPr>
                    <p:blipFill>
                      <a:blip r:embed="rId18"/>
                      <a:stretch>
                        <a:fillRect/>
                      </a:stretch>
                    </p:blipFill>
                    <p:spPr>
                      <a:xfrm>
                        <a:off x="1282550" y="1904236"/>
                        <a:ext cx="2286000" cy="396875"/>
                      </a:xfrm>
                      <a:prstGeom prst="rect">
                        <a:avLst/>
                      </a:prstGeom>
                      <a:noFill/>
                      <a:ln w="38100">
                        <a:noFill/>
                        <a:miter/>
                      </a:ln>
                    </p:spPr>
                  </p:pic>
                </p:oleObj>
              </mc:Fallback>
            </mc:AlternateContent>
          </a:graphicData>
        </a:graphic>
      </p:graphicFrame>
      <p:graphicFrame>
        <p:nvGraphicFramePr>
          <p:cNvPr id="18" name="对象 3">
            <a:extLst>
              <a:ext uri="{FF2B5EF4-FFF2-40B4-BE49-F238E27FC236}">
                <a16:creationId xmlns="" xmlns:a16="http://schemas.microsoft.com/office/drawing/2014/main" id="{9AB3EA2F-8A4B-08BD-6465-934AF00DB55F}"/>
              </a:ext>
            </a:extLst>
          </p:cNvPr>
          <p:cNvGraphicFramePr/>
          <p:nvPr>
            <p:extLst>
              <p:ext uri="{D42A27DB-BD31-4B8C-83A1-F6EECF244321}">
                <p14:modId xmlns:p14="http://schemas.microsoft.com/office/powerpoint/2010/main" val="1835162131"/>
              </p:ext>
            </p:extLst>
          </p:nvPr>
        </p:nvGraphicFramePr>
        <p:xfrm>
          <a:off x="3716172" y="1880423"/>
          <a:ext cx="1584325" cy="420688"/>
        </p:xfrm>
        <a:graphic>
          <a:graphicData uri="http://schemas.openxmlformats.org/presentationml/2006/ole">
            <mc:AlternateContent xmlns:mc="http://schemas.openxmlformats.org/markup-compatibility/2006">
              <mc:Choice xmlns:v="urn:schemas-microsoft-com:vml" Requires="v">
                <p:oleObj spid="_x0000_s80377" r:id="rId19" imgW="748665" imgH="203200" progId="Equation.3">
                  <p:embed/>
                </p:oleObj>
              </mc:Choice>
              <mc:Fallback>
                <p:oleObj r:id="rId19" imgW="748665" imgH="203200" progId="Equation.3">
                  <p:embed/>
                  <p:pic>
                    <p:nvPicPr>
                      <p:cNvPr id="0" name=""/>
                      <p:cNvPicPr/>
                      <p:nvPr/>
                    </p:nvPicPr>
                    <p:blipFill>
                      <a:blip r:embed="rId20"/>
                      <a:stretch>
                        <a:fillRect/>
                      </a:stretch>
                    </p:blipFill>
                    <p:spPr>
                      <a:xfrm>
                        <a:off x="3716172" y="1880423"/>
                        <a:ext cx="1584325" cy="420688"/>
                      </a:xfrm>
                      <a:prstGeom prst="rect">
                        <a:avLst/>
                      </a:prstGeom>
                      <a:noFill/>
                      <a:ln w="38100">
                        <a:noFill/>
                        <a:miter/>
                      </a:ln>
                    </p:spPr>
                  </p:pic>
                </p:oleObj>
              </mc:Fallback>
            </mc:AlternateContent>
          </a:graphicData>
        </a:graphic>
      </p:graphicFrame>
      <p:graphicFrame>
        <p:nvGraphicFramePr>
          <p:cNvPr id="19" name="对象 18">
            <a:extLst>
              <a:ext uri="{FF2B5EF4-FFF2-40B4-BE49-F238E27FC236}">
                <a16:creationId xmlns="" xmlns:a16="http://schemas.microsoft.com/office/drawing/2014/main" id="{D072D7A5-5C3C-BB42-3EB6-D5E2280B7D84}"/>
              </a:ext>
            </a:extLst>
          </p:cNvPr>
          <p:cNvGraphicFramePr>
            <a:graphicFrameLocks noChangeAspect="1"/>
          </p:cNvGraphicFramePr>
          <p:nvPr>
            <p:extLst>
              <p:ext uri="{D42A27DB-BD31-4B8C-83A1-F6EECF244321}">
                <p14:modId xmlns:p14="http://schemas.microsoft.com/office/powerpoint/2010/main" val="2588807901"/>
              </p:ext>
            </p:extLst>
          </p:nvPr>
        </p:nvGraphicFramePr>
        <p:xfrm>
          <a:off x="6164228" y="1768567"/>
          <a:ext cx="2267744" cy="644400"/>
        </p:xfrm>
        <a:graphic>
          <a:graphicData uri="http://schemas.openxmlformats.org/presentationml/2006/ole">
            <mc:AlternateContent xmlns:mc="http://schemas.openxmlformats.org/markup-compatibility/2006">
              <mc:Choice xmlns:v="urn:schemas-microsoft-com:vml" Requires="v">
                <p:oleObj spid="_x0000_s80378" name="Equation" r:id="rId21" imgW="2915497" imgH="829110" progId="Equation.DSMT4">
                  <p:embed/>
                </p:oleObj>
              </mc:Choice>
              <mc:Fallback>
                <p:oleObj name="Equation" r:id="rId21" imgW="2915497" imgH="829110" progId="Equation.DSMT4">
                  <p:embed/>
                  <p:pic>
                    <p:nvPicPr>
                      <p:cNvPr id="0" name=""/>
                      <p:cNvPicPr/>
                      <p:nvPr/>
                    </p:nvPicPr>
                    <p:blipFill>
                      <a:blip r:embed="rId22"/>
                      <a:stretch>
                        <a:fillRect/>
                      </a:stretch>
                    </p:blipFill>
                    <p:spPr>
                      <a:xfrm>
                        <a:off x="6164228" y="1768567"/>
                        <a:ext cx="2267744" cy="644400"/>
                      </a:xfrm>
                      <a:prstGeom prst="rect">
                        <a:avLst/>
                      </a:prstGeom>
                    </p:spPr>
                  </p:pic>
                </p:oleObj>
              </mc:Fallback>
            </mc:AlternateContent>
          </a:graphicData>
        </a:graphic>
      </p:graphicFrame>
      <p:graphicFrame>
        <p:nvGraphicFramePr>
          <p:cNvPr id="20" name="对象 19">
            <a:extLst>
              <a:ext uri="{FF2B5EF4-FFF2-40B4-BE49-F238E27FC236}">
                <a16:creationId xmlns="" xmlns:a16="http://schemas.microsoft.com/office/drawing/2014/main" id="{258CC20A-E59C-BCBB-C631-C60C2F2D0534}"/>
              </a:ext>
            </a:extLst>
          </p:cNvPr>
          <p:cNvGraphicFramePr>
            <a:graphicFrameLocks noChangeAspect="1"/>
          </p:cNvGraphicFramePr>
          <p:nvPr>
            <p:extLst>
              <p:ext uri="{D42A27DB-BD31-4B8C-83A1-F6EECF244321}">
                <p14:modId xmlns:p14="http://schemas.microsoft.com/office/powerpoint/2010/main" val="3749351206"/>
              </p:ext>
            </p:extLst>
          </p:nvPr>
        </p:nvGraphicFramePr>
        <p:xfrm>
          <a:off x="1603903" y="2811519"/>
          <a:ext cx="5094287" cy="763587"/>
        </p:xfrm>
        <a:graphic>
          <a:graphicData uri="http://schemas.openxmlformats.org/presentationml/2006/ole">
            <mc:AlternateContent xmlns:mc="http://schemas.openxmlformats.org/markup-compatibility/2006">
              <mc:Choice xmlns:v="urn:schemas-microsoft-com:vml" Requires="v">
                <p:oleObj spid="_x0000_s80379" name="Equation" r:id="rId23" imgW="5094740" imgH="763587" progId="Equation.DSMT4">
                  <p:embed/>
                </p:oleObj>
              </mc:Choice>
              <mc:Fallback>
                <p:oleObj name="Equation" r:id="rId23" imgW="5094740" imgH="763587" progId="Equation.DSMT4">
                  <p:embed/>
                  <p:pic>
                    <p:nvPicPr>
                      <p:cNvPr id="0" name=""/>
                      <p:cNvPicPr/>
                      <p:nvPr/>
                    </p:nvPicPr>
                    <p:blipFill>
                      <a:blip r:embed="rId24"/>
                      <a:stretch>
                        <a:fillRect/>
                      </a:stretch>
                    </p:blipFill>
                    <p:spPr>
                      <a:xfrm>
                        <a:off x="1603903" y="2811519"/>
                        <a:ext cx="5094287" cy="763587"/>
                      </a:xfrm>
                      <a:prstGeom prst="rect">
                        <a:avLst/>
                      </a:prstGeom>
                    </p:spPr>
                  </p:pic>
                </p:oleObj>
              </mc:Fallback>
            </mc:AlternateContent>
          </a:graphicData>
        </a:graphic>
      </p:graphicFrame>
    </p:spTree>
    <p:extLst>
      <p:ext uri="{BB962C8B-B14F-4D97-AF65-F5344CB8AC3E}">
        <p14:creationId xmlns:p14="http://schemas.microsoft.com/office/powerpoint/2010/main" val="2938839214"/>
      </p:ext>
    </p:extLst>
  </p:cSld>
  <p:clrMapOvr>
    <a:masterClrMapping/>
  </p:clrMapOvr>
  <p:timing>
    <p:tnLst>
      <p:par>
        <p:cTn id="1" dur="indefinite" restart="never" nodeType="tmRoot"/>
      </p:par>
    </p:tnLst>
    <p:bldLst>
      <p:bldP spid="15" grpId="0"/>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107</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Rectangle 7"/>
          <p:cNvSpPr>
            <a:spLocks noChangeArrowheads="1"/>
          </p:cNvSpPr>
          <p:nvPr/>
        </p:nvSpPr>
        <p:spPr bwMode="auto">
          <a:xfrm>
            <a:off x="635000" y="1557338"/>
            <a:ext cx="7848600" cy="4228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defRPr/>
            </a:pPr>
            <a:r>
              <a:rPr lang="en-US" altLang="zh-CN" sz="3200" dirty="0" smtClean="0">
                <a:ln w="0"/>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1  </a:t>
            </a:r>
            <a:r>
              <a:rPr lang="zh-CN" altLang="en-US" sz="3200" dirty="0" smtClean="0">
                <a:ln w="0"/>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通信电子线路概论</a:t>
            </a:r>
            <a:endParaRPr lang="en-US" altLang="zh-CN" sz="3200" dirty="0" smtClean="0">
              <a:ln w="0"/>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endParaRPr>
          </a:p>
          <a:p>
            <a:pPr fontAlgn="base">
              <a:lnSpc>
                <a:spcPct val="120000"/>
              </a:lnSpc>
              <a:spcBef>
                <a:spcPct val="0"/>
              </a:spcBef>
              <a:spcAft>
                <a:spcPct val="0"/>
              </a:spcAft>
              <a:buFontTx/>
              <a:buNone/>
              <a:defRPr/>
            </a:pPr>
            <a:r>
              <a:rPr lang="en-US" altLang="zh-CN" sz="3200" dirty="0">
                <a:ln w="0"/>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2  </a:t>
            </a:r>
            <a:r>
              <a:rPr lang="zh-CN" altLang="en-US" sz="3200" dirty="0">
                <a:ln w="0"/>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高频基础电路</a:t>
            </a:r>
          </a:p>
          <a:p>
            <a:pPr fontAlgn="base">
              <a:lnSpc>
                <a:spcPct val="120000"/>
              </a:lnSpc>
              <a:spcBef>
                <a:spcPct val="0"/>
              </a:spcBef>
              <a:spcAft>
                <a:spcPct val="0"/>
              </a:spcAft>
              <a:buNone/>
              <a:defRPr/>
            </a:pPr>
            <a:r>
              <a:rPr lang="en-US" altLang="zh-CN" sz="3200" dirty="0" smtClean="0">
                <a:ln w="0"/>
                <a:solidFill>
                  <a:srgbClr val="00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3  </a:t>
            </a:r>
            <a:r>
              <a:rPr lang="zh-CN" altLang="en-US" sz="3200" dirty="0" smtClean="0">
                <a:ln w="0"/>
                <a:solidFill>
                  <a:srgbClr val="00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高频</a:t>
            </a:r>
            <a:r>
              <a:rPr lang="zh-CN" altLang="en-US" sz="3200" dirty="0">
                <a:ln w="0"/>
                <a:solidFill>
                  <a:srgbClr val="00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小信号</a:t>
            </a:r>
            <a:r>
              <a:rPr lang="zh-CN" altLang="en-US" sz="3200" dirty="0" smtClean="0">
                <a:ln w="0"/>
                <a:solidFill>
                  <a:srgbClr val="00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放大器</a:t>
            </a:r>
          </a:p>
          <a:p>
            <a:pPr fontAlgn="base">
              <a:lnSpc>
                <a:spcPct val="120000"/>
              </a:lnSpc>
              <a:spcBef>
                <a:spcPct val="0"/>
              </a:spcBef>
              <a:spcAft>
                <a:spcPct val="0"/>
              </a:spcAft>
              <a:buFontTx/>
              <a:buNone/>
              <a:defRPr/>
            </a:pPr>
            <a:r>
              <a:rPr lang="en-US" altLang="zh-CN" sz="3200" dirty="0" smtClean="0">
                <a:ln w="0"/>
                <a:solidFill>
                  <a:srgbClr val="FF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4  </a:t>
            </a:r>
            <a:r>
              <a:rPr lang="zh-CN" altLang="en-US" sz="3200" dirty="0" smtClean="0">
                <a:ln w="0"/>
                <a:solidFill>
                  <a:srgbClr val="FF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谐振功率放大器</a:t>
            </a:r>
          </a:p>
          <a:p>
            <a:pPr fontAlgn="base">
              <a:lnSpc>
                <a:spcPct val="120000"/>
              </a:lnSpc>
              <a:spcBef>
                <a:spcPct val="0"/>
              </a:spcBef>
              <a:spcAft>
                <a:spcPct val="0"/>
              </a:spcAft>
              <a:buFontTx/>
              <a:buNone/>
              <a:defRPr/>
            </a:pPr>
            <a:r>
              <a:rPr lang="en-US" altLang="zh-CN" sz="3200" dirty="0" smtClean="0">
                <a:ln w="0"/>
                <a:solidFill>
                  <a:srgbClr val="00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5  </a:t>
            </a:r>
            <a:r>
              <a:rPr lang="zh-CN" altLang="en-US" sz="3200" dirty="0" smtClean="0">
                <a:ln w="0"/>
                <a:solidFill>
                  <a:srgbClr val="00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正弦波振荡器</a:t>
            </a:r>
          </a:p>
          <a:p>
            <a:pPr fontAlgn="base">
              <a:lnSpc>
                <a:spcPct val="120000"/>
              </a:lnSpc>
              <a:spcBef>
                <a:spcPct val="0"/>
              </a:spcBef>
              <a:spcAft>
                <a:spcPct val="0"/>
              </a:spcAft>
              <a:buNone/>
              <a:defRPr/>
            </a:pPr>
            <a:r>
              <a:rPr lang="en-US" altLang="zh-CN" sz="3200" dirty="0" smtClean="0">
                <a:ln w="0"/>
                <a:solidFill>
                  <a:srgbClr val="00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6  </a:t>
            </a:r>
            <a:r>
              <a:rPr lang="zh-CN" altLang="en-US" sz="3200" dirty="0" smtClean="0">
                <a:ln w="0"/>
                <a:solidFill>
                  <a:srgbClr val="00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振幅调制</a:t>
            </a:r>
            <a:r>
              <a:rPr lang="zh-CN" altLang="en-US" sz="3200" dirty="0">
                <a:ln w="0"/>
                <a:solidFill>
                  <a:srgbClr val="00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与</a:t>
            </a:r>
            <a:r>
              <a:rPr lang="zh-CN" altLang="en-US" sz="3200" dirty="0" smtClean="0">
                <a:ln w="0"/>
                <a:solidFill>
                  <a:srgbClr val="00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解调</a:t>
            </a:r>
            <a:endParaRPr lang="en-US" altLang="zh-CN" sz="3200" dirty="0" smtClean="0">
              <a:ln w="0"/>
              <a:solidFill>
                <a:srgbClr val="00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endParaRPr>
          </a:p>
          <a:p>
            <a:pPr fontAlgn="base">
              <a:lnSpc>
                <a:spcPct val="120000"/>
              </a:lnSpc>
              <a:spcBef>
                <a:spcPct val="0"/>
              </a:spcBef>
              <a:spcAft>
                <a:spcPct val="0"/>
              </a:spcAft>
              <a:buNone/>
              <a:defRPr/>
            </a:pPr>
            <a:r>
              <a:rPr lang="en-US" altLang="zh-CN" sz="3200" dirty="0" smtClean="0">
                <a:ln w="0"/>
                <a:solidFill>
                  <a:srgbClr val="00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7  </a:t>
            </a:r>
            <a:r>
              <a:rPr lang="zh-CN" altLang="en-US" sz="3200" dirty="0" smtClean="0">
                <a:ln w="0"/>
                <a:solidFill>
                  <a:srgbClr val="00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角度</a:t>
            </a:r>
            <a:r>
              <a:rPr lang="zh-CN" altLang="en-US" sz="3200" dirty="0">
                <a:ln w="0"/>
                <a:solidFill>
                  <a:srgbClr val="00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调制与</a:t>
            </a:r>
            <a:r>
              <a:rPr lang="zh-CN" altLang="en-US" sz="3200" dirty="0" smtClean="0">
                <a:ln w="0"/>
                <a:solidFill>
                  <a:srgbClr val="00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解调</a:t>
            </a:r>
          </a:p>
        </p:txBody>
      </p:sp>
      <p:sp>
        <p:nvSpPr>
          <p:cNvPr id="5"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目录</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274848712"/>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108</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4.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谐振</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功率</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放大器</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5" name="图片 4">
            <a:extLst>
              <a:ext uri="{FF2B5EF4-FFF2-40B4-BE49-F238E27FC236}">
                <a16:creationId xmlns="" xmlns:a16="http://schemas.microsoft.com/office/drawing/2014/main" id="{CF214177-4D04-AB6D-00CC-35CC75A77EB4}"/>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7034" y="3778251"/>
            <a:ext cx="3384550" cy="2932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sp>
        <p:nvSpPr>
          <p:cNvPr id="6" name="Text Box 3">
            <a:extLst>
              <a:ext uri="{FF2B5EF4-FFF2-40B4-BE49-F238E27FC236}">
                <a16:creationId xmlns="" xmlns:a16="http://schemas.microsoft.com/office/drawing/2014/main" id="{8621217F-D4EB-9F1C-48B0-16F5AC9C0206}"/>
              </a:ext>
            </a:extLst>
          </p:cNvPr>
          <p:cNvSpPr txBox="1">
            <a:spLocks noChangeArrowheads="1"/>
          </p:cNvSpPr>
          <p:nvPr/>
        </p:nvSpPr>
        <p:spPr bwMode="auto">
          <a:xfrm>
            <a:off x="0" y="1242144"/>
            <a:ext cx="9022080"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2075" tIns="46038" rIns="92075" bIns="46038">
            <a:spAutoFit/>
          </a:bodyPr>
          <a:lstStyle>
            <a:defPPr>
              <a:defRPr lang="zh-CN"/>
            </a:defPPr>
            <a:lvl1pPr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400" b="1" kern="1200">
                <a:solidFill>
                  <a:srgbClr val="FFFF00"/>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400" b="1" kern="1200">
                <a:solidFill>
                  <a:srgbClr val="FFFF00"/>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400" b="1" kern="1200">
                <a:solidFill>
                  <a:srgbClr val="FFFF00"/>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400" b="1" kern="1200">
                <a:solidFill>
                  <a:srgbClr val="FFFF00"/>
                </a:solidFill>
                <a:latin typeface="Times New Roman" panose="02020603050405020304" pitchFamily="18" charset="0"/>
                <a:ea typeface="宋体" panose="02010600030101010101" pitchFamily="2" charset="-122"/>
                <a:cs typeface="+mn-cs"/>
              </a:defRPr>
            </a:lvl9pPr>
          </a:lstStyle>
          <a:p>
            <a:pPr algn="ctr" eaLnBrk="0" hangingPunct="0">
              <a:spcBef>
                <a:spcPct val="50000"/>
              </a:spcBef>
              <a:buFontTx/>
              <a:buNone/>
            </a:pPr>
            <a:r>
              <a:rPr lang="zh-CN" altLang="en-US" dirty="0" smtClean="0">
                <a:solidFill>
                  <a:schemeClr val="tx1"/>
                </a:solidFill>
                <a:latin typeface="+mn-ea"/>
                <a:ea typeface="+mn-ea"/>
              </a:rPr>
              <a:t>谐振</a:t>
            </a:r>
            <a:r>
              <a:rPr lang="zh-CN" altLang="en-US" dirty="0">
                <a:solidFill>
                  <a:schemeClr val="tx1"/>
                </a:solidFill>
                <a:latin typeface="+mn-ea"/>
                <a:ea typeface="+mn-ea"/>
              </a:rPr>
              <a:t>功率放大器与小信号谐振放大器的异同之处</a:t>
            </a:r>
          </a:p>
        </p:txBody>
      </p:sp>
      <p:sp>
        <p:nvSpPr>
          <p:cNvPr id="7" name="Text Box 4">
            <a:extLst>
              <a:ext uri="{FF2B5EF4-FFF2-40B4-BE49-F238E27FC236}">
                <a16:creationId xmlns="" xmlns:a16="http://schemas.microsoft.com/office/drawing/2014/main" id="{1C68C4E9-4691-0334-AAAA-1BDA874ADE7C}"/>
              </a:ext>
            </a:extLst>
          </p:cNvPr>
          <p:cNvSpPr txBox="1">
            <a:spLocks noChangeArrowheads="1"/>
          </p:cNvSpPr>
          <p:nvPr/>
        </p:nvSpPr>
        <p:spPr bwMode="auto">
          <a:xfrm>
            <a:off x="509960" y="1763132"/>
            <a:ext cx="6894836"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400" b="1" kern="1200">
                <a:solidFill>
                  <a:srgbClr val="FFFF00"/>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400" b="1" kern="1200">
                <a:solidFill>
                  <a:srgbClr val="FFFF00"/>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400" b="1" kern="1200">
                <a:solidFill>
                  <a:srgbClr val="FFFF00"/>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400" b="1" kern="1200">
                <a:solidFill>
                  <a:srgbClr val="FFFF00"/>
                </a:solidFill>
                <a:latin typeface="Times New Roman" panose="02020603050405020304" pitchFamily="18" charset="0"/>
                <a:ea typeface="宋体" panose="02010600030101010101" pitchFamily="2" charset="-122"/>
                <a:cs typeface="+mn-cs"/>
              </a:defRPr>
            </a:lvl9pPr>
          </a:lstStyle>
          <a:p>
            <a:r>
              <a:rPr lang="zh-CN" altLang="en-US" sz="2000" dirty="0">
                <a:solidFill>
                  <a:schemeClr val="accent2"/>
                </a:solidFill>
                <a:latin typeface="+mn-ea"/>
                <a:ea typeface="+mn-ea"/>
              </a:rPr>
              <a:t>相同之处：</a:t>
            </a:r>
            <a:r>
              <a:rPr lang="zh-CN" altLang="en-US" sz="2000" dirty="0">
                <a:solidFill>
                  <a:schemeClr val="tx1"/>
                </a:solidFill>
                <a:latin typeface="+mn-ea"/>
                <a:ea typeface="+mn-ea"/>
              </a:rPr>
              <a:t>它们放大的信号均为高频信号，而且放大器的负</a:t>
            </a:r>
          </a:p>
          <a:p>
            <a:r>
              <a:rPr lang="zh-CN" altLang="en-US" sz="2000" dirty="0">
                <a:solidFill>
                  <a:schemeClr val="tx1"/>
                </a:solidFill>
                <a:latin typeface="+mn-ea"/>
                <a:ea typeface="+mn-ea"/>
              </a:rPr>
              <a:t>                    载均为谐振回路。</a:t>
            </a:r>
          </a:p>
        </p:txBody>
      </p:sp>
      <p:pic>
        <p:nvPicPr>
          <p:cNvPr id="8" name="图片 7">
            <a:extLst>
              <a:ext uri="{FF2B5EF4-FFF2-40B4-BE49-F238E27FC236}">
                <a16:creationId xmlns="" xmlns:a16="http://schemas.microsoft.com/office/drawing/2014/main" id="{7B652324-F76B-52CA-704A-63DFF9997F89}"/>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47592" y="3778251"/>
            <a:ext cx="3567112" cy="278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sp>
        <p:nvSpPr>
          <p:cNvPr id="9" name="Text Box 9">
            <a:extLst>
              <a:ext uri="{FF2B5EF4-FFF2-40B4-BE49-F238E27FC236}">
                <a16:creationId xmlns="" xmlns:a16="http://schemas.microsoft.com/office/drawing/2014/main" id="{4C4920CA-40B3-BACB-B16E-E4348237B773}"/>
              </a:ext>
            </a:extLst>
          </p:cNvPr>
          <p:cNvSpPr txBox="1">
            <a:spLocks noChangeArrowheads="1"/>
          </p:cNvSpPr>
          <p:nvPr/>
        </p:nvSpPr>
        <p:spPr bwMode="auto">
          <a:xfrm>
            <a:off x="6150759" y="5776913"/>
            <a:ext cx="1980029"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400" b="1" kern="1200">
                <a:solidFill>
                  <a:srgbClr val="FFFF00"/>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400" b="1" kern="1200">
                <a:solidFill>
                  <a:srgbClr val="FFFF00"/>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400" b="1" kern="1200">
                <a:solidFill>
                  <a:srgbClr val="FFFF00"/>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400" b="1" kern="1200">
                <a:solidFill>
                  <a:srgbClr val="FFFF00"/>
                </a:solidFill>
                <a:latin typeface="Times New Roman" panose="02020603050405020304" pitchFamily="18" charset="0"/>
                <a:ea typeface="宋体" panose="02010600030101010101" pitchFamily="2" charset="-122"/>
                <a:cs typeface="+mn-cs"/>
              </a:defRPr>
            </a:lvl9pPr>
          </a:lstStyle>
          <a:p>
            <a:pPr algn="ctr"/>
            <a:r>
              <a:rPr lang="zh-CN" altLang="en-US" sz="2000">
                <a:solidFill>
                  <a:schemeClr val="tx1"/>
                </a:solidFill>
                <a:latin typeface="+mn-ea"/>
                <a:ea typeface="+mn-ea"/>
              </a:rPr>
              <a:t>谐振功率放大器</a:t>
            </a:r>
          </a:p>
          <a:p>
            <a:pPr algn="ctr"/>
            <a:r>
              <a:rPr lang="zh-CN" altLang="en-US" sz="2000">
                <a:solidFill>
                  <a:schemeClr val="tx1"/>
                </a:solidFill>
                <a:latin typeface="+mn-ea"/>
                <a:ea typeface="+mn-ea"/>
              </a:rPr>
              <a:t>波形图</a:t>
            </a:r>
          </a:p>
        </p:txBody>
      </p:sp>
      <p:sp>
        <p:nvSpPr>
          <p:cNvPr id="10" name="Text Box 12">
            <a:extLst>
              <a:ext uri="{FF2B5EF4-FFF2-40B4-BE49-F238E27FC236}">
                <a16:creationId xmlns="" xmlns:a16="http://schemas.microsoft.com/office/drawing/2014/main" id="{5999CFF2-D9F2-3B6B-3DE3-BE86896401F3}"/>
              </a:ext>
            </a:extLst>
          </p:cNvPr>
          <p:cNvSpPr txBox="1">
            <a:spLocks noChangeArrowheads="1"/>
          </p:cNvSpPr>
          <p:nvPr/>
        </p:nvSpPr>
        <p:spPr bwMode="auto">
          <a:xfrm>
            <a:off x="2098604" y="5726113"/>
            <a:ext cx="223651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400" b="1" kern="1200">
                <a:solidFill>
                  <a:srgbClr val="FFFF00"/>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400" b="1" kern="1200">
                <a:solidFill>
                  <a:srgbClr val="FFFF00"/>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400" b="1" kern="1200">
                <a:solidFill>
                  <a:srgbClr val="FFFF00"/>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400" b="1" kern="1200">
                <a:solidFill>
                  <a:srgbClr val="FFFF00"/>
                </a:solidFill>
                <a:latin typeface="Times New Roman" panose="02020603050405020304" pitchFamily="18" charset="0"/>
                <a:ea typeface="宋体" panose="02010600030101010101" pitchFamily="2" charset="-122"/>
                <a:cs typeface="+mn-cs"/>
              </a:defRPr>
            </a:lvl9pPr>
          </a:lstStyle>
          <a:p>
            <a:pPr algn="ctr"/>
            <a:r>
              <a:rPr lang="zh-CN" altLang="en-US" sz="2000">
                <a:solidFill>
                  <a:schemeClr val="tx1"/>
                </a:solidFill>
                <a:latin typeface="+mn-ea"/>
                <a:ea typeface="+mn-ea"/>
              </a:rPr>
              <a:t>小信号谐振放大器</a:t>
            </a:r>
          </a:p>
          <a:p>
            <a:pPr algn="ctr"/>
            <a:r>
              <a:rPr lang="zh-CN" altLang="en-US" sz="2000">
                <a:solidFill>
                  <a:schemeClr val="tx1"/>
                </a:solidFill>
                <a:latin typeface="+mn-ea"/>
                <a:ea typeface="+mn-ea"/>
              </a:rPr>
              <a:t>波形图</a:t>
            </a:r>
          </a:p>
        </p:txBody>
      </p:sp>
      <p:sp>
        <p:nvSpPr>
          <p:cNvPr id="11" name="矩形 10">
            <a:extLst>
              <a:ext uri="{FF2B5EF4-FFF2-40B4-BE49-F238E27FC236}">
                <a16:creationId xmlns="" xmlns:a16="http://schemas.microsoft.com/office/drawing/2014/main" id="{6FD3A5B4-8589-ECCA-6782-CB60357DE5C9}"/>
              </a:ext>
            </a:extLst>
          </p:cNvPr>
          <p:cNvSpPr>
            <a:spLocks noChangeArrowheads="1"/>
          </p:cNvSpPr>
          <p:nvPr/>
        </p:nvSpPr>
        <p:spPr bwMode="auto">
          <a:xfrm>
            <a:off x="488108" y="2504235"/>
            <a:ext cx="5580063" cy="1151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400" b="1" kern="1200">
                <a:solidFill>
                  <a:srgbClr val="FFFF00"/>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400" b="1" kern="1200">
                <a:solidFill>
                  <a:srgbClr val="FFFF00"/>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400" b="1" kern="1200">
                <a:solidFill>
                  <a:srgbClr val="FFFF00"/>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400" b="1" kern="1200">
                <a:solidFill>
                  <a:srgbClr val="FFFF00"/>
                </a:solidFill>
                <a:latin typeface="Times New Roman" panose="02020603050405020304" pitchFamily="18" charset="0"/>
                <a:ea typeface="宋体" panose="02010600030101010101" pitchFamily="2" charset="-122"/>
                <a:cs typeface="+mn-cs"/>
              </a:defRPr>
            </a:lvl9pPr>
          </a:lstStyle>
          <a:p>
            <a:pPr>
              <a:lnSpc>
                <a:spcPct val="120000"/>
              </a:lnSpc>
            </a:pPr>
            <a:r>
              <a:rPr lang="zh-CN" altLang="en-US" sz="2000" dirty="0">
                <a:solidFill>
                  <a:srgbClr val="00B050"/>
                </a:solidFill>
                <a:latin typeface="+mn-ea"/>
                <a:ea typeface="+mn-ea"/>
              </a:rPr>
              <a:t>不同之处： </a:t>
            </a:r>
            <a:r>
              <a:rPr lang="en-US" altLang="zh-CN" sz="2000" dirty="0">
                <a:solidFill>
                  <a:schemeClr val="tx1"/>
                </a:solidFill>
                <a:latin typeface="+mn-ea"/>
                <a:ea typeface="+mn-ea"/>
              </a:rPr>
              <a:t>● </a:t>
            </a:r>
            <a:r>
              <a:rPr lang="zh-CN" altLang="en-US" sz="2000" dirty="0">
                <a:solidFill>
                  <a:schemeClr val="tx1"/>
                </a:solidFill>
                <a:latin typeface="+mn-ea"/>
                <a:ea typeface="+mn-ea"/>
              </a:rPr>
              <a:t>激励信号幅度大小不同；</a:t>
            </a:r>
          </a:p>
          <a:p>
            <a:pPr>
              <a:lnSpc>
                <a:spcPct val="120000"/>
              </a:lnSpc>
            </a:pPr>
            <a:r>
              <a:rPr lang="zh-CN" altLang="en-US" sz="2000" dirty="0">
                <a:solidFill>
                  <a:schemeClr val="tx1"/>
                </a:solidFill>
                <a:latin typeface="+mn-ea"/>
                <a:ea typeface="+mn-ea"/>
              </a:rPr>
              <a:t>           </a:t>
            </a:r>
            <a:r>
              <a:rPr lang="en-US" altLang="zh-CN" sz="2000" dirty="0">
                <a:solidFill>
                  <a:schemeClr val="tx1"/>
                </a:solidFill>
                <a:latin typeface="+mn-ea"/>
                <a:ea typeface="+mn-ea"/>
              </a:rPr>
              <a:t>● </a:t>
            </a:r>
            <a:r>
              <a:rPr lang="zh-CN" altLang="en-US" sz="2000" dirty="0">
                <a:solidFill>
                  <a:schemeClr val="tx1"/>
                </a:solidFill>
                <a:latin typeface="+mn-ea"/>
                <a:ea typeface="+mn-ea"/>
              </a:rPr>
              <a:t>放大器工作点不同；</a:t>
            </a:r>
          </a:p>
          <a:p>
            <a:pPr>
              <a:lnSpc>
                <a:spcPct val="120000"/>
              </a:lnSpc>
            </a:pPr>
            <a:r>
              <a:rPr lang="zh-CN" altLang="en-US" sz="2000" dirty="0">
                <a:solidFill>
                  <a:schemeClr val="tx1"/>
                </a:solidFill>
                <a:latin typeface="+mn-ea"/>
                <a:ea typeface="+mn-ea"/>
              </a:rPr>
              <a:t>           </a:t>
            </a:r>
            <a:r>
              <a:rPr lang="en-US" altLang="zh-CN" sz="2000" dirty="0">
                <a:solidFill>
                  <a:schemeClr val="tx1"/>
                </a:solidFill>
                <a:latin typeface="+mn-ea"/>
                <a:ea typeface="+mn-ea"/>
              </a:rPr>
              <a:t>● </a:t>
            </a:r>
            <a:r>
              <a:rPr lang="zh-CN" altLang="en-US" sz="2000" dirty="0">
                <a:solidFill>
                  <a:schemeClr val="tx1"/>
                </a:solidFill>
                <a:latin typeface="+mn-ea"/>
                <a:ea typeface="+mn-ea"/>
              </a:rPr>
              <a:t>晶体管动态范围不同。</a:t>
            </a:r>
          </a:p>
        </p:txBody>
      </p:sp>
    </p:spTree>
    <p:extLst>
      <p:ext uri="{BB962C8B-B14F-4D97-AF65-F5344CB8AC3E}">
        <p14:creationId xmlns:p14="http://schemas.microsoft.com/office/powerpoint/2010/main" val="1041203619"/>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109</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4.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谐振</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功率</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放大器</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5" name="图片 4" descr="nea61156_0815">
            <a:extLst>
              <a:ext uri="{FF2B5EF4-FFF2-40B4-BE49-F238E27FC236}">
                <a16:creationId xmlns="" xmlns:a16="http://schemas.microsoft.com/office/drawing/2014/main" id="{3F628F9C-391E-F6A4-0B0A-1B7F22580581}"/>
              </a:ext>
            </a:extLst>
          </p:cNvPr>
          <p:cNvPicPr>
            <a:picLocks noChangeAspect="1" noChangeArrowheads="1"/>
          </p:cNvPicPr>
          <p:nvPr/>
        </p:nvPicPr>
        <p:blipFill>
          <a:blip r:embed="rId2">
            <a:lum contrast="-34000"/>
            <a:extLst>
              <a:ext uri="{28A0092B-C50C-407E-A947-70E740481C1C}">
                <a14:useLocalDpi xmlns:a14="http://schemas.microsoft.com/office/drawing/2010/main" val="0"/>
              </a:ext>
            </a:extLst>
          </a:blip>
          <a:srcRect/>
          <a:stretch>
            <a:fillRect/>
          </a:stretch>
        </p:blipFill>
        <p:spPr bwMode="auto">
          <a:xfrm>
            <a:off x="1201025" y="2341531"/>
            <a:ext cx="6741950" cy="4005245"/>
          </a:xfrm>
          <a:prstGeom prst="rect">
            <a:avLst/>
          </a:prstGeom>
          <a:noFill/>
          <a:ln w="38100">
            <a:solidFill>
              <a:srgbClr val="00FFFF"/>
            </a:solidFill>
            <a:miter lim="800000"/>
            <a:headEnd/>
            <a:tailEnd/>
          </a:ln>
          <a:extLst>
            <a:ext uri="{909E8E84-426E-40DD-AFC4-6F175D3DCCD1}">
              <a14:hiddenFill xmlns:a14="http://schemas.microsoft.com/office/drawing/2010/main">
                <a:solidFill>
                  <a:srgbClr val="FFFFFF"/>
                </a:solidFill>
              </a14:hiddenFill>
            </a:ext>
          </a:extLst>
        </p:spPr>
      </p:pic>
      <p:sp>
        <p:nvSpPr>
          <p:cNvPr id="6" name="Text Box 2">
            <a:extLst>
              <a:ext uri="{FF2B5EF4-FFF2-40B4-BE49-F238E27FC236}">
                <a16:creationId xmlns="" xmlns:a16="http://schemas.microsoft.com/office/drawing/2014/main" id="{D5134D50-C70C-4D6E-0EA9-57310DFBD2BD}"/>
              </a:ext>
            </a:extLst>
          </p:cNvPr>
          <p:cNvSpPr txBox="1">
            <a:spLocks noChangeArrowheads="1"/>
          </p:cNvSpPr>
          <p:nvPr/>
        </p:nvSpPr>
        <p:spPr bwMode="auto">
          <a:xfrm>
            <a:off x="524947" y="1203529"/>
            <a:ext cx="14750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defPPr>
              <a:defRPr lang="zh-CN"/>
            </a:defPPr>
            <a:lvl1pPr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400" b="1" kern="1200">
                <a:solidFill>
                  <a:srgbClr val="FFFF00"/>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400" b="1" kern="1200">
                <a:solidFill>
                  <a:srgbClr val="FFFF00"/>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400" b="1" kern="1200">
                <a:solidFill>
                  <a:srgbClr val="FFFF00"/>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400" b="1" kern="1200">
                <a:solidFill>
                  <a:srgbClr val="FFFF00"/>
                </a:solidFill>
                <a:latin typeface="Times New Roman" panose="02020603050405020304" pitchFamily="18" charset="0"/>
                <a:ea typeface="宋体" panose="02010600030101010101" pitchFamily="2" charset="-122"/>
                <a:cs typeface="+mn-cs"/>
              </a:defRPr>
            </a:lvl9pPr>
          </a:lstStyle>
          <a:p>
            <a:r>
              <a:rPr lang="zh-CN" altLang="en-US" sz="2000" dirty="0">
                <a:solidFill>
                  <a:schemeClr val="tx1"/>
                </a:solidFill>
                <a:latin typeface="+mn-ea"/>
                <a:ea typeface="+mn-ea"/>
              </a:rPr>
              <a:t>工作状态：</a:t>
            </a:r>
          </a:p>
        </p:txBody>
      </p:sp>
      <p:sp>
        <p:nvSpPr>
          <p:cNvPr id="7" name="Text Box 3">
            <a:extLst>
              <a:ext uri="{FF2B5EF4-FFF2-40B4-BE49-F238E27FC236}">
                <a16:creationId xmlns="" xmlns:a16="http://schemas.microsoft.com/office/drawing/2014/main" id="{18387A14-B997-03A2-F745-EE29E6895302}"/>
              </a:ext>
            </a:extLst>
          </p:cNvPr>
          <p:cNvSpPr txBox="1">
            <a:spLocks noChangeArrowheads="1"/>
          </p:cNvSpPr>
          <p:nvPr/>
        </p:nvSpPr>
        <p:spPr bwMode="auto">
          <a:xfrm>
            <a:off x="524947" y="1576717"/>
            <a:ext cx="82311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400" b="1" kern="1200">
                <a:solidFill>
                  <a:srgbClr val="FFFF00"/>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400" b="1" kern="1200">
                <a:solidFill>
                  <a:srgbClr val="FFFF00"/>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400" b="1" kern="1200">
                <a:solidFill>
                  <a:srgbClr val="FFFF00"/>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400" b="1" kern="1200">
                <a:solidFill>
                  <a:srgbClr val="FFFF00"/>
                </a:solidFill>
                <a:latin typeface="Times New Roman" panose="02020603050405020304" pitchFamily="18" charset="0"/>
                <a:ea typeface="宋体" panose="02010600030101010101" pitchFamily="2" charset="-122"/>
                <a:cs typeface="+mn-cs"/>
              </a:defRPr>
            </a:lvl9pPr>
          </a:lstStyle>
          <a:p>
            <a:r>
              <a:rPr lang="en-US" altLang="zh-CN" sz="2000" dirty="0">
                <a:solidFill>
                  <a:schemeClr val="tx1"/>
                </a:solidFill>
                <a:latin typeface="+mn-ea"/>
                <a:ea typeface="+mn-ea"/>
              </a:rPr>
              <a:t>    </a:t>
            </a:r>
            <a:r>
              <a:rPr lang="zh-CN" altLang="en-US" sz="2000" dirty="0">
                <a:solidFill>
                  <a:schemeClr val="tx1"/>
                </a:solidFill>
                <a:latin typeface="+mn-ea"/>
                <a:ea typeface="+mn-ea"/>
              </a:rPr>
              <a:t>功率放大器一般分为甲类、乙类、甲乙类、丙类等工作方式，为了进一步提高工作效率还提出了丁类与戊类放大器。</a:t>
            </a:r>
          </a:p>
        </p:txBody>
      </p:sp>
      <p:sp>
        <p:nvSpPr>
          <p:cNvPr id="8" name="文本框 130058">
            <a:extLst>
              <a:ext uri="{FF2B5EF4-FFF2-40B4-BE49-F238E27FC236}">
                <a16:creationId xmlns="" xmlns:a16="http://schemas.microsoft.com/office/drawing/2014/main" id="{F366E50E-DA01-1A04-81F2-1D481CF917F1}"/>
              </a:ext>
            </a:extLst>
          </p:cNvPr>
          <p:cNvSpPr txBox="1">
            <a:spLocks noChangeArrowheads="1"/>
          </p:cNvSpPr>
          <p:nvPr/>
        </p:nvSpPr>
        <p:spPr bwMode="auto">
          <a:xfrm>
            <a:off x="1263099" y="4177892"/>
            <a:ext cx="3150132" cy="30162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400" b="1" kern="1200">
                <a:solidFill>
                  <a:srgbClr val="FFFF00"/>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400" b="1" kern="1200">
                <a:solidFill>
                  <a:srgbClr val="FFFF00"/>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400" b="1" kern="1200">
                <a:solidFill>
                  <a:srgbClr val="FFFF00"/>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400" b="1" kern="1200">
                <a:solidFill>
                  <a:srgbClr val="FFFF00"/>
                </a:solidFill>
                <a:latin typeface="Times New Roman" panose="02020603050405020304" pitchFamily="18" charset="0"/>
                <a:ea typeface="宋体" panose="02010600030101010101" pitchFamily="2" charset="-122"/>
                <a:cs typeface="+mn-cs"/>
              </a:defRPr>
            </a:lvl9pPr>
          </a:lstStyle>
          <a:p>
            <a:pPr algn="ctr" eaLnBrk="0" hangingPunct="0">
              <a:lnSpc>
                <a:spcPct val="85000"/>
              </a:lnSpc>
              <a:spcBef>
                <a:spcPct val="50000"/>
              </a:spcBef>
            </a:pPr>
            <a:r>
              <a:rPr lang="en-US" altLang="zh-CN" sz="1600" dirty="0">
                <a:solidFill>
                  <a:schemeClr val="tx1"/>
                </a:solidFill>
                <a:latin typeface="+mn-ea"/>
                <a:ea typeface="+mn-ea"/>
              </a:rPr>
              <a:t>(a)</a:t>
            </a:r>
            <a:r>
              <a:rPr lang="zh-CN" altLang="en-US" sz="1600" dirty="0">
                <a:solidFill>
                  <a:schemeClr val="tx1"/>
                </a:solidFill>
                <a:latin typeface="+mn-ea"/>
                <a:ea typeface="+mn-ea"/>
              </a:rPr>
              <a:t>甲类 </a:t>
            </a:r>
            <a:r>
              <a:rPr lang="en-US" altLang="zh-CN" sz="1600" dirty="0">
                <a:solidFill>
                  <a:schemeClr val="tx1"/>
                </a:solidFill>
                <a:latin typeface="+mn-ea"/>
                <a:ea typeface="+mn-ea"/>
              </a:rPr>
              <a:t>class-A amplifier</a:t>
            </a:r>
          </a:p>
        </p:txBody>
      </p:sp>
      <p:sp>
        <p:nvSpPr>
          <p:cNvPr id="9" name="文本框 130059">
            <a:extLst>
              <a:ext uri="{FF2B5EF4-FFF2-40B4-BE49-F238E27FC236}">
                <a16:creationId xmlns="" xmlns:a16="http://schemas.microsoft.com/office/drawing/2014/main" id="{7D21E58C-43B2-30D3-F56E-81D8E1521268}"/>
              </a:ext>
            </a:extLst>
          </p:cNvPr>
          <p:cNvSpPr txBox="1">
            <a:spLocks noChangeArrowheads="1"/>
          </p:cNvSpPr>
          <p:nvPr/>
        </p:nvSpPr>
        <p:spPr bwMode="auto">
          <a:xfrm>
            <a:off x="5074892" y="4177891"/>
            <a:ext cx="2868083" cy="30162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400" b="1" kern="1200">
                <a:solidFill>
                  <a:srgbClr val="FFFF00"/>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400" b="1" kern="1200">
                <a:solidFill>
                  <a:srgbClr val="FFFF00"/>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400" b="1" kern="1200">
                <a:solidFill>
                  <a:srgbClr val="FFFF00"/>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400" b="1" kern="1200">
                <a:solidFill>
                  <a:srgbClr val="FFFF00"/>
                </a:solidFill>
                <a:latin typeface="Times New Roman" panose="02020603050405020304" pitchFamily="18" charset="0"/>
                <a:ea typeface="宋体" panose="02010600030101010101" pitchFamily="2" charset="-122"/>
                <a:cs typeface="+mn-cs"/>
              </a:defRPr>
            </a:lvl9pPr>
          </a:lstStyle>
          <a:p>
            <a:pPr algn="ctr" eaLnBrk="0" hangingPunct="0">
              <a:lnSpc>
                <a:spcPct val="85000"/>
              </a:lnSpc>
              <a:spcBef>
                <a:spcPct val="50000"/>
              </a:spcBef>
            </a:pPr>
            <a:r>
              <a:rPr lang="en-US" altLang="zh-CN" sz="1600" dirty="0">
                <a:solidFill>
                  <a:schemeClr val="tx1"/>
                </a:solidFill>
                <a:latin typeface="+mn-ea"/>
                <a:ea typeface="+mn-ea"/>
              </a:rPr>
              <a:t>(b)</a:t>
            </a:r>
            <a:r>
              <a:rPr lang="zh-CN" altLang="en-US" sz="1600" dirty="0">
                <a:solidFill>
                  <a:schemeClr val="tx1"/>
                </a:solidFill>
                <a:latin typeface="+mn-ea"/>
                <a:ea typeface="+mn-ea"/>
              </a:rPr>
              <a:t>乙类 </a:t>
            </a:r>
            <a:r>
              <a:rPr lang="en-US" altLang="zh-CN" sz="1600" dirty="0">
                <a:solidFill>
                  <a:schemeClr val="tx1"/>
                </a:solidFill>
                <a:latin typeface="+mn-ea"/>
                <a:ea typeface="+mn-ea"/>
              </a:rPr>
              <a:t>class-B amplifier</a:t>
            </a:r>
          </a:p>
        </p:txBody>
      </p:sp>
      <p:sp>
        <p:nvSpPr>
          <p:cNvPr id="10" name="文本框 130060">
            <a:extLst>
              <a:ext uri="{FF2B5EF4-FFF2-40B4-BE49-F238E27FC236}">
                <a16:creationId xmlns="" xmlns:a16="http://schemas.microsoft.com/office/drawing/2014/main" id="{F92C176D-7EC9-2B2B-203C-F59D9971DB35}"/>
              </a:ext>
            </a:extLst>
          </p:cNvPr>
          <p:cNvSpPr txBox="1">
            <a:spLocks noChangeArrowheads="1"/>
          </p:cNvSpPr>
          <p:nvPr/>
        </p:nvSpPr>
        <p:spPr bwMode="auto">
          <a:xfrm>
            <a:off x="1275800" y="6039216"/>
            <a:ext cx="3150133" cy="30162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400" b="1" kern="1200">
                <a:solidFill>
                  <a:srgbClr val="FFFF00"/>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400" b="1" kern="1200">
                <a:solidFill>
                  <a:srgbClr val="FFFF00"/>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400" b="1" kern="1200">
                <a:solidFill>
                  <a:srgbClr val="FFFF00"/>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400" b="1" kern="1200">
                <a:solidFill>
                  <a:srgbClr val="FFFF00"/>
                </a:solidFill>
                <a:latin typeface="Times New Roman" panose="02020603050405020304" pitchFamily="18" charset="0"/>
                <a:ea typeface="宋体" panose="02010600030101010101" pitchFamily="2" charset="-122"/>
                <a:cs typeface="+mn-cs"/>
              </a:defRPr>
            </a:lvl9pPr>
          </a:lstStyle>
          <a:p>
            <a:pPr eaLnBrk="0" hangingPunct="0">
              <a:lnSpc>
                <a:spcPct val="85000"/>
              </a:lnSpc>
              <a:spcBef>
                <a:spcPct val="50000"/>
              </a:spcBef>
            </a:pPr>
            <a:r>
              <a:rPr lang="en-US" altLang="zh-CN" sz="1600" dirty="0">
                <a:solidFill>
                  <a:schemeClr val="tx1"/>
                </a:solidFill>
                <a:latin typeface="+mn-ea"/>
                <a:ea typeface="+mn-ea"/>
              </a:rPr>
              <a:t>(c)</a:t>
            </a:r>
            <a:r>
              <a:rPr lang="zh-CN" altLang="en-US" sz="1600" dirty="0">
                <a:solidFill>
                  <a:schemeClr val="tx1"/>
                </a:solidFill>
                <a:latin typeface="+mn-ea"/>
                <a:ea typeface="+mn-ea"/>
              </a:rPr>
              <a:t>甲乙类 </a:t>
            </a:r>
            <a:r>
              <a:rPr lang="en-US" altLang="zh-CN" sz="1600" dirty="0">
                <a:solidFill>
                  <a:schemeClr val="tx1"/>
                </a:solidFill>
                <a:latin typeface="+mn-ea"/>
                <a:ea typeface="+mn-ea"/>
              </a:rPr>
              <a:t>class-AB amplifier</a:t>
            </a:r>
          </a:p>
        </p:txBody>
      </p:sp>
      <p:sp>
        <p:nvSpPr>
          <p:cNvPr id="11" name="文本框 130061">
            <a:extLst>
              <a:ext uri="{FF2B5EF4-FFF2-40B4-BE49-F238E27FC236}">
                <a16:creationId xmlns="" xmlns:a16="http://schemas.microsoft.com/office/drawing/2014/main" id="{AD1AF09A-CDE9-5B94-746B-D68C935AAFE0}"/>
              </a:ext>
            </a:extLst>
          </p:cNvPr>
          <p:cNvSpPr txBox="1">
            <a:spLocks noChangeArrowheads="1"/>
          </p:cNvSpPr>
          <p:nvPr/>
        </p:nvSpPr>
        <p:spPr bwMode="auto">
          <a:xfrm>
            <a:off x="5074892" y="6027701"/>
            <a:ext cx="2835794" cy="30162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400" b="1" kern="1200">
                <a:solidFill>
                  <a:srgbClr val="FFFF00"/>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400" b="1" kern="1200">
                <a:solidFill>
                  <a:srgbClr val="FFFF00"/>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400" b="1" kern="1200">
                <a:solidFill>
                  <a:srgbClr val="FFFF00"/>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400" b="1" kern="1200">
                <a:solidFill>
                  <a:srgbClr val="FFFF00"/>
                </a:solidFill>
                <a:latin typeface="Times New Roman" panose="02020603050405020304" pitchFamily="18" charset="0"/>
                <a:ea typeface="宋体" panose="02010600030101010101" pitchFamily="2" charset="-122"/>
                <a:cs typeface="+mn-cs"/>
              </a:defRPr>
            </a:lvl9pPr>
          </a:lstStyle>
          <a:p>
            <a:pPr algn="ctr" eaLnBrk="0" hangingPunct="0">
              <a:lnSpc>
                <a:spcPct val="85000"/>
              </a:lnSpc>
              <a:spcBef>
                <a:spcPct val="50000"/>
              </a:spcBef>
            </a:pPr>
            <a:r>
              <a:rPr lang="en-US" altLang="zh-CN" sz="1600" dirty="0">
                <a:solidFill>
                  <a:schemeClr val="tx1"/>
                </a:solidFill>
                <a:latin typeface="+mn-ea"/>
                <a:ea typeface="+mn-ea"/>
              </a:rPr>
              <a:t>(d)</a:t>
            </a:r>
            <a:r>
              <a:rPr lang="zh-CN" altLang="en-US" sz="1600" dirty="0">
                <a:solidFill>
                  <a:schemeClr val="tx1"/>
                </a:solidFill>
                <a:latin typeface="+mn-ea"/>
                <a:ea typeface="+mn-ea"/>
              </a:rPr>
              <a:t>丙类 </a:t>
            </a:r>
            <a:r>
              <a:rPr lang="en-US" altLang="zh-CN" sz="1600" dirty="0">
                <a:solidFill>
                  <a:schemeClr val="tx1"/>
                </a:solidFill>
                <a:latin typeface="+mn-ea"/>
                <a:ea typeface="+mn-ea"/>
              </a:rPr>
              <a:t>class-C amplifier</a:t>
            </a:r>
          </a:p>
        </p:txBody>
      </p:sp>
    </p:spTree>
    <p:extLst>
      <p:ext uri="{BB962C8B-B14F-4D97-AF65-F5344CB8AC3E}">
        <p14:creationId xmlns:p14="http://schemas.microsoft.com/office/powerpoint/2010/main" val="3784838851"/>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110</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4.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谐振</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功率</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放大器</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5" name="图片 4">
            <a:extLst>
              <a:ext uri="{FF2B5EF4-FFF2-40B4-BE49-F238E27FC236}">
                <a16:creationId xmlns="" xmlns:a16="http://schemas.microsoft.com/office/drawing/2014/main" id="{A80C1308-EACC-84D4-63B4-395E32DF1BED}"/>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3244" y="1257300"/>
            <a:ext cx="10250488" cy="358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sp>
        <p:nvSpPr>
          <p:cNvPr id="6" name="Text Box 5">
            <a:extLst>
              <a:ext uri="{FF2B5EF4-FFF2-40B4-BE49-F238E27FC236}">
                <a16:creationId xmlns="" xmlns:a16="http://schemas.microsoft.com/office/drawing/2014/main" id="{E3B0822B-7091-55F9-CF6A-2AFEC7D6328D}"/>
              </a:ext>
            </a:extLst>
          </p:cNvPr>
          <p:cNvSpPr txBox="1">
            <a:spLocks noChangeArrowheads="1"/>
          </p:cNvSpPr>
          <p:nvPr/>
        </p:nvSpPr>
        <p:spPr bwMode="auto">
          <a:xfrm>
            <a:off x="280988" y="4971588"/>
            <a:ext cx="840898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400" b="1" kern="1200">
                <a:solidFill>
                  <a:srgbClr val="FFFF00"/>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400" b="1" kern="1200">
                <a:solidFill>
                  <a:srgbClr val="FFFF00"/>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400" b="1" kern="1200">
                <a:solidFill>
                  <a:srgbClr val="FFFF00"/>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400" b="1" kern="1200">
                <a:solidFill>
                  <a:srgbClr val="FFFF00"/>
                </a:solidFill>
                <a:latin typeface="Times New Roman" panose="02020603050405020304" pitchFamily="18" charset="0"/>
                <a:ea typeface="宋体" panose="02010600030101010101" pitchFamily="2" charset="-122"/>
                <a:cs typeface="+mn-cs"/>
              </a:defRPr>
            </a:lvl9pPr>
          </a:lstStyle>
          <a:p>
            <a:r>
              <a:rPr lang="zh-CN" altLang="en-US" sz="2000">
                <a:solidFill>
                  <a:srgbClr val="0033CC"/>
                </a:solidFill>
              </a:rPr>
              <a:t>谐振功率放大器通常工作于丙类工作状态，属于非线性电路</a:t>
            </a:r>
          </a:p>
        </p:txBody>
      </p:sp>
    </p:spTree>
    <p:extLst>
      <p:ext uri="{BB962C8B-B14F-4D97-AF65-F5344CB8AC3E}">
        <p14:creationId xmlns:p14="http://schemas.microsoft.com/office/powerpoint/2010/main" val="3032541514"/>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111</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4.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谐振</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功率</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放大器</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Text Box 3">
            <a:extLst>
              <a:ext uri="{FF2B5EF4-FFF2-40B4-BE49-F238E27FC236}">
                <a16:creationId xmlns="" xmlns:a16="http://schemas.microsoft.com/office/drawing/2014/main" id="{A90CAC6B-B9AB-2BCA-0848-4CF562AE391F}"/>
              </a:ext>
            </a:extLst>
          </p:cNvPr>
          <p:cNvSpPr txBox="1">
            <a:spLocks noChangeArrowheads="1"/>
          </p:cNvSpPr>
          <p:nvPr/>
        </p:nvSpPr>
        <p:spPr bwMode="auto">
          <a:xfrm>
            <a:off x="323850" y="1348230"/>
            <a:ext cx="188705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400" b="1" kern="1200">
                <a:solidFill>
                  <a:srgbClr val="FFFF00"/>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400" b="1" kern="1200">
                <a:solidFill>
                  <a:srgbClr val="FFFF00"/>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400" b="1" kern="1200">
                <a:solidFill>
                  <a:srgbClr val="FFFF00"/>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400" b="1" kern="1200">
                <a:solidFill>
                  <a:srgbClr val="FFFF00"/>
                </a:solidFill>
                <a:latin typeface="Times New Roman" panose="02020603050405020304" pitchFamily="18" charset="0"/>
                <a:ea typeface="宋体" panose="02010600030101010101" pitchFamily="2" charset="-122"/>
                <a:cs typeface="+mn-cs"/>
              </a:defRPr>
            </a:lvl9pPr>
          </a:lstStyle>
          <a:p>
            <a:r>
              <a:rPr lang="en-US" altLang="zh-CN" dirty="0">
                <a:solidFill>
                  <a:schemeClr val="tx1"/>
                </a:solidFill>
                <a:latin typeface="+mn-ea"/>
                <a:ea typeface="+mn-ea"/>
              </a:rPr>
              <a:t>1</a:t>
            </a:r>
            <a:r>
              <a:rPr lang="zh-CN" altLang="en-US" dirty="0">
                <a:solidFill>
                  <a:schemeClr val="tx1"/>
                </a:solidFill>
                <a:latin typeface="+mn-ea"/>
                <a:ea typeface="+mn-ea"/>
              </a:rPr>
              <a:t>、原理电路</a:t>
            </a:r>
          </a:p>
        </p:txBody>
      </p:sp>
      <p:pic>
        <p:nvPicPr>
          <p:cNvPr id="6" name="图片 5">
            <a:extLst>
              <a:ext uri="{FF2B5EF4-FFF2-40B4-BE49-F238E27FC236}">
                <a16:creationId xmlns="" xmlns:a16="http://schemas.microsoft.com/office/drawing/2014/main" id="{AA5FE8D3-0225-7E26-1415-8D05D48734A5}"/>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86586" y="1438747"/>
            <a:ext cx="3835400" cy="2659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sp>
        <p:nvSpPr>
          <p:cNvPr id="7" name="Text Box 8">
            <a:extLst>
              <a:ext uri="{FF2B5EF4-FFF2-40B4-BE49-F238E27FC236}">
                <a16:creationId xmlns="" xmlns:a16="http://schemas.microsoft.com/office/drawing/2014/main" id="{6859DF3C-CE18-29BD-A835-08EE89D77D98}"/>
              </a:ext>
            </a:extLst>
          </p:cNvPr>
          <p:cNvSpPr txBox="1">
            <a:spLocks noChangeArrowheads="1"/>
          </p:cNvSpPr>
          <p:nvPr/>
        </p:nvSpPr>
        <p:spPr bwMode="auto">
          <a:xfrm>
            <a:off x="5373961" y="4166072"/>
            <a:ext cx="345598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400" b="1" kern="1200">
                <a:solidFill>
                  <a:srgbClr val="FFFF00"/>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400" b="1" kern="1200">
                <a:solidFill>
                  <a:srgbClr val="FFFF00"/>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400" b="1" kern="1200">
                <a:solidFill>
                  <a:srgbClr val="FFFF00"/>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400" b="1" kern="1200">
                <a:solidFill>
                  <a:srgbClr val="FFFF00"/>
                </a:solidFill>
                <a:latin typeface="Times New Roman" panose="02020603050405020304" pitchFamily="18" charset="0"/>
                <a:ea typeface="宋体" panose="02010600030101010101" pitchFamily="2" charset="-122"/>
                <a:cs typeface="+mn-cs"/>
              </a:defRPr>
            </a:lvl9pPr>
          </a:lstStyle>
          <a:p>
            <a:pPr>
              <a:spcBef>
                <a:spcPct val="50000"/>
              </a:spcBef>
            </a:pPr>
            <a:r>
              <a:rPr lang="zh-CN" altLang="en-US" sz="2000">
                <a:solidFill>
                  <a:schemeClr val="tx1"/>
                </a:solidFill>
                <a:latin typeface="+mn-ea"/>
                <a:ea typeface="+mn-ea"/>
              </a:rPr>
              <a:t>谐振功率放大器的基本电路</a:t>
            </a:r>
          </a:p>
        </p:txBody>
      </p:sp>
      <p:sp>
        <p:nvSpPr>
          <p:cNvPr id="8" name="Text Box 9">
            <a:extLst>
              <a:ext uri="{FF2B5EF4-FFF2-40B4-BE49-F238E27FC236}">
                <a16:creationId xmlns="" xmlns:a16="http://schemas.microsoft.com/office/drawing/2014/main" id="{49CE0F80-001C-73AE-07AA-EF8A5DA26148}"/>
              </a:ext>
            </a:extLst>
          </p:cNvPr>
          <p:cNvSpPr txBox="1">
            <a:spLocks noChangeArrowheads="1"/>
          </p:cNvSpPr>
          <p:nvPr/>
        </p:nvSpPr>
        <p:spPr bwMode="auto">
          <a:xfrm>
            <a:off x="322759" y="1861759"/>
            <a:ext cx="4211638" cy="1174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400" b="1" kern="1200">
                <a:solidFill>
                  <a:srgbClr val="FFFF00"/>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400" b="1" kern="1200">
                <a:solidFill>
                  <a:srgbClr val="FFFF00"/>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400" b="1" kern="1200">
                <a:solidFill>
                  <a:srgbClr val="FFFF00"/>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400" b="1" kern="1200">
                <a:solidFill>
                  <a:srgbClr val="FFFF00"/>
                </a:solidFill>
                <a:latin typeface="Times New Roman" panose="02020603050405020304" pitchFamily="18" charset="0"/>
                <a:ea typeface="宋体" panose="02010600030101010101" pitchFamily="2" charset="-122"/>
                <a:cs typeface="+mn-cs"/>
              </a:defRPr>
            </a:lvl9pPr>
          </a:lstStyle>
          <a:p>
            <a:r>
              <a:rPr lang="en-US" altLang="zh-CN" sz="2000" dirty="0">
                <a:solidFill>
                  <a:schemeClr val="tx1"/>
                </a:solidFill>
                <a:latin typeface="+mn-ea"/>
                <a:ea typeface="+mn-ea"/>
              </a:rPr>
              <a:t>(1)</a:t>
            </a:r>
            <a:r>
              <a:rPr lang="zh-CN" altLang="en-US" sz="2000" dirty="0">
                <a:solidFill>
                  <a:schemeClr val="tx1"/>
                </a:solidFill>
                <a:latin typeface="+mn-ea"/>
                <a:ea typeface="+mn-ea"/>
              </a:rPr>
              <a:t>晶体管的作用是在将供电电源的直流能量转变为交流能量的过程中起开关控制作用。</a:t>
            </a:r>
          </a:p>
        </p:txBody>
      </p:sp>
      <p:sp>
        <p:nvSpPr>
          <p:cNvPr id="9" name="Text Box 10">
            <a:extLst>
              <a:ext uri="{FF2B5EF4-FFF2-40B4-BE49-F238E27FC236}">
                <a16:creationId xmlns="" xmlns:a16="http://schemas.microsoft.com/office/drawing/2014/main" id="{FF630113-067C-B250-FF85-62B3271CF121}"/>
              </a:ext>
            </a:extLst>
          </p:cNvPr>
          <p:cNvSpPr txBox="1">
            <a:spLocks noChangeArrowheads="1"/>
          </p:cNvSpPr>
          <p:nvPr/>
        </p:nvSpPr>
        <p:spPr bwMode="auto">
          <a:xfrm>
            <a:off x="322759" y="3110590"/>
            <a:ext cx="36728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400" b="1" kern="1200">
                <a:solidFill>
                  <a:srgbClr val="FFFF00"/>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400" b="1" kern="1200">
                <a:solidFill>
                  <a:srgbClr val="FFFF00"/>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400" b="1" kern="1200">
                <a:solidFill>
                  <a:srgbClr val="FFFF00"/>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400" b="1" kern="1200">
                <a:solidFill>
                  <a:srgbClr val="FFFF00"/>
                </a:solidFill>
                <a:latin typeface="Times New Roman" panose="02020603050405020304" pitchFamily="18" charset="0"/>
                <a:ea typeface="宋体" panose="02010600030101010101" pitchFamily="2" charset="-122"/>
                <a:cs typeface="+mn-cs"/>
              </a:defRPr>
            </a:lvl9pPr>
          </a:lstStyle>
          <a:p>
            <a:r>
              <a:rPr lang="en-US" altLang="zh-CN" sz="2000" dirty="0">
                <a:solidFill>
                  <a:schemeClr val="tx1"/>
                </a:solidFill>
                <a:latin typeface="+mn-ea"/>
                <a:ea typeface="+mn-ea"/>
              </a:rPr>
              <a:t>(2)</a:t>
            </a:r>
            <a:r>
              <a:rPr lang="zh-CN" altLang="en-US" sz="2000" dirty="0">
                <a:solidFill>
                  <a:schemeClr val="tx1"/>
                </a:solidFill>
                <a:latin typeface="+mn-ea"/>
                <a:ea typeface="+mn-ea"/>
              </a:rPr>
              <a:t>谐振回路</a:t>
            </a:r>
            <a:r>
              <a:rPr lang="en-US" altLang="zh-CN" sz="2000" dirty="0">
                <a:solidFill>
                  <a:schemeClr val="tx1"/>
                </a:solidFill>
                <a:latin typeface="+mn-ea"/>
                <a:ea typeface="+mn-ea"/>
              </a:rPr>
              <a:t>LC</a:t>
            </a:r>
            <a:r>
              <a:rPr lang="zh-CN" altLang="en-US" sz="2000" dirty="0">
                <a:solidFill>
                  <a:schemeClr val="tx1"/>
                </a:solidFill>
                <a:latin typeface="+mn-ea"/>
                <a:ea typeface="+mn-ea"/>
              </a:rPr>
              <a:t>是晶体管的负载</a:t>
            </a:r>
          </a:p>
        </p:txBody>
      </p:sp>
      <p:sp>
        <p:nvSpPr>
          <p:cNvPr id="10" name="Text Box 11">
            <a:extLst>
              <a:ext uri="{FF2B5EF4-FFF2-40B4-BE49-F238E27FC236}">
                <a16:creationId xmlns="" xmlns:a16="http://schemas.microsoft.com/office/drawing/2014/main" id="{07DEC3F5-A946-0614-361B-35DF92D77A47}"/>
              </a:ext>
            </a:extLst>
          </p:cNvPr>
          <p:cNvSpPr txBox="1">
            <a:spLocks noChangeArrowheads="1"/>
          </p:cNvSpPr>
          <p:nvPr/>
        </p:nvSpPr>
        <p:spPr bwMode="auto">
          <a:xfrm>
            <a:off x="322759" y="3794803"/>
            <a:ext cx="341311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400" b="1" kern="1200">
                <a:solidFill>
                  <a:srgbClr val="FFFF00"/>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400" b="1" kern="1200">
                <a:solidFill>
                  <a:srgbClr val="FFFF00"/>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400" b="1" kern="1200">
                <a:solidFill>
                  <a:srgbClr val="FFFF00"/>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400" b="1" kern="1200">
                <a:solidFill>
                  <a:srgbClr val="FFFF00"/>
                </a:solidFill>
                <a:latin typeface="Times New Roman" panose="02020603050405020304" pitchFamily="18" charset="0"/>
                <a:ea typeface="宋体" panose="02010600030101010101" pitchFamily="2" charset="-122"/>
                <a:cs typeface="+mn-cs"/>
              </a:defRPr>
            </a:lvl9pPr>
          </a:lstStyle>
          <a:p>
            <a:r>
              <a:rPr lang="en-US" altLang="zh-CN" sz="2000" dirty="0">
                <a:solidFill>
                  <a:schemeClr val="tx1"/>
                </a:solidFill>
                <a:latin typeface="+mn-ea"/>
                <a:ea typeface="+mn-ea"/>
              </a:rPr>
              <a:t>(3)</a:t>
            </a:r>
            <a:r>
              <a:rPr lang="zh-CN" altLang="en-US" sz="2000" dirty="0">
                <a:solidFill>
                  <a:schemeClr val="tx1"/>
                </a:solidFill>
                <a:latin typeface="+mn-ea"/>
                <a:ea typeface="+mn-ea"/>
              </a:rPr>
              <a:t>电路工作在丙类工作状态</a:t>
            </a:r>
          </a:p>
        </p:txBody>
      </p:sp>
      <p:sp>
        <p:nvSpPr>
          <p:cNvPr id="11" name="Text Box 12">
            <a:extLst>
              <a:ext uri="{FF2B5EF4-FFF2-40B4-BE49-F238E27FC236}">
                <a16:creationId xmlns="" xmlns:a16="http://schemas.microsoft.com/office/drawing/2014/main" id="{0EC2963C-C2B7-0B5A-158E-0465CC35238C}"/>
              </a:ext>
            </a:extLst>
          </p:cNvPr>
          <p:cNvSpPr txBox="1">
            <a:spLocks noChangeArrowheads="1"/>
          </p:cNvSpPr>
          <p:nvPr/>
        </p:nvSpPr>
        <p:spPr bwMode="auto">
          <a:xfrm>
            <a:off x="322759" y="4653849"/>
            <a:ext cx="224933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400" b="1" kern="1200">
                <a:solidFill>
                  <a:srgbClr val="FFFF00"/>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400" b="1" kern="1200">
                <a:solidFill>
                  <a:srgbClr val="FFFF00"/>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400" b="1" kern="1200">
                <a:solidFill>
                  <a:srgbClr val="FFFF00"/>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400" b="1" kern="1200">
                <a:solidFill>
                  <a:srgbClr val="FFFF00"/>
                </a:solidFill>
                <a:latin typeface="Times New Roman" panose="02020603050405020304" pitchFamily="18" charset="0"/>
                <a:ea typeface="宋体" panose="02010600030101010101" pitchFamily="2" charset="-122"/>
                <a:cs typeface="+mn-cs"/>
              </a:defRPr>
            </a:lvl9pPr>
          </a:lstStyle>
          <a:p>
            <a:r>
              <a:rPr lang="zh-CN" altLang="en-US" sz="2000" dirty="0">
                <a:solidFill>
                  <a:schemeClr val="tx1"/>
                </a:solidFill>
                <a:latin typeface="+mn-ea"/>
                <a:ea typeface="+mn-ea"/>
              </a:rPr>
              <a:t>外部电路关系式：</a:t>
            </a:r>
          </a:p>
        </p:txBody>
      </p:sp>
      <p:sp>
        <p:nvSpPr>
          <p:cNvPr id="12" name="Text Box 15">
            <a:extLst>
              <a:ext uri="{FF2B5EF4-FFF2-40B4-BE49-F238E27FC236}">
                <a16:creationId xmlns="" xmlns:a16="http://schemas.microsoft.com/office/drawing/2014/main" id="{A1CA270C-66AF-29F9-0104-EB6B467D77C6}"/>
              </a:ext>
            </a:extLst>
          </p:cNvPr>
          <p:cNvSpPr txBox="1">
            <a:spLocks noChangeArrowheads="1"/>
          </p:cNvSpPr>
          <p:nvPr/>
        </p:nvSpPr>
        <p:spPr bwMode="auto">
          <a:xfrm>
            <a:off x="322759" y="5728116"/>
            <a:ext cx="250741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400" b="1" kern="1200">
                <a:solidFill>
                  <a:srgbClr val="FFFF00"/>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400" b="1" kern="1200">
                <a:solidFill>
                  <a:srgbClr val="FFFF00"/>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400" b="1" kern="1200">
                <a:solidFill>
                  <a:srgbClr val="FFFF00"/>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400" b="1" kern="1200">
                <a:solidFill>
                  <a:srgbClr val="FFFF00"/>
                </a:solidFill>
                <a:latin typeface="Times New Roman" panose="02020603050405020304" pitchFamily="18" charset="0"/>
                <a:ea typeface="宋体" panose="02010600030101010101" pitchFamily="2" charset="-122"/>
                <a:cs typeface="+mn-cs"/>
              </a:defRPr>
            </a:lvl9pPr>
          </a:lstStyle>
          <a:p>
            <a:r>
              <a:rPr lang="zh-CN" altLang="en-US" sz="2000">
                <a:solidFill>
                  <a:schemeClr val="tx1"/>
                </a:solidFill>
                <a:latin typeface="+mn-ea"/>
                <a:ea typeface="+mn-ea"/>
              </a:rPr>
              <a:t>晶体管的内部特性：</a:t>
            </a:r>
          </a:p>
        </p:txBody>
      </p:sp>
      <p:pic>
        <p:nvPicPr>
          <p:cNvPr id="13" name="图片 12">
            <a:extLst>
              <a:ext uri="{FF2B5EF4-FFF2-40B4-BE49-F238E27FC236}">
                <a16:creationId xmlns="" xmlns:a16="http://schemas.microsoft.com/office/drawing/2014/main" id="{A402FA7A-5ECE-A83B-762D-005D259D5F37}"/>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29446" y="4569712"/>
            <a:ext cx="3043238" cy="881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pic>
        <p:nvPicPr>
          <p:cNvPr id="14" name="图片 13">
            <a:extLst>
              <a:ext uri="{FF2B5EF4-FFF2-40B4-BE49-F238E27FC236}">
                <a16:creationId xmlns="" xmlns:a16="http://schemas.microsoft.com/office/drawing/2014/main" id="{82796825-CB70-936B-9CBE-747C8FD1261F}"/>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29446" y="5728116"/>
            <a:ext cx="2089150" cy="439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mc:AlternateContent xmlns:mc="http://schemas.openxmlformats.org/markup-compatibility/2006" xmlns:p14="http://schemas.microsoft.com/office/powerpoint/2010/main">
        <mc:Choice Requires="p14">
          <p:contentPart p14:bwMode="auto" r:id="rId5">
            <p14:nvContentPartPr>
              <p14:cNvPr id="15" name="墨迹 14">
                <a:extLst>
                  <a:ext uri="{FF2B5EF4-FFF2-40B4-BE49-F238E27FC236}">
                    <a16:creationId xmlns="" xmlns:a16="http://schemas.microsoft.com/office/drawing/2014/main" id="{DAA862C0-7662-DD51-EB09-551780B4D90B}"/>
                  </a:ext>
                </a:extLst>
              </p14:cNvPr>
              <p14:cNvContentPartPr/>
              <p14:nvPr/>
            </p14:nvContentPartPr>
            <p14:xfrm>
              <a:off x="5720033" y="2549994"/>
              <a:ext cx="71437" cy="128587"/>
            </p14:xfrm>
          </p:contentPart>
        </mc:Choice>
        <mc:Fallback xmlns="">
          <p:pic>
            <p:nvPicPr>
              <p:cNvPr id="15" name="墨迹 14">
                <a:extLst>
                  <a:ext uri="{FF2B5EF4-FFF2-40B4-BE49-F238E27FC236}">
                    <a16:creationId xmlns:a16="http://schemas.microsoft.com/office/drawing/2014/main" xmlns="" xmlns:p14="http://schemas.microsoft.com/office/powerpoint/2010/main" id="{DAA862C0-7662-DD51-EB09-551780B4D90B}"/>
                  </a:ext>
                </a:extLst>
              </p:cNvPr>
              <p:cNvPicPr/>
              <p:nvPr/>
            </p:nvPicPr>
            <p:blipFill>
              <a:blip r:embed="rId6"/>
              <a:stretch>
                <a:fillRect/>
              </a:stretch>
            </p:blipFill>
            <p:spPr>
              <a:xfrm>
                <a:off x="5702354" y="2532394"/>
                <a:ext cx="106795" cy="163787"/>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6" name="墨迹 15">
                <a:extLst>
                  <a:ext uri="{FF2B5EF4-FFF2-40B4-BE49-F238E27FC236}">
                    <a16:creationId xmlns="" xmlns:a16="http://schemas.microsoft.com/office/drawing/2014/main" id="{E6C65320-5D81-BA18-578E-8E70E98BDA57}"/>
                  </a:ext>
                </a:extLst>
              </p14:cNvPr>
              <p14:cNvContentPartPr/>
              <p14:nvPr/>
            </p14:nvContentPartPr>
            <p14:xfrm>
              <a:off x="6555058" y="1999133"/>
              <a:ext cx="87312" cy="130175"/>
            </p14:xfrm>
          </p:contentPart>
        </mc:Choice>
        <mc:Fallback xmlns="">
          <p:pic>
            <p:nvPicPr>
              <p:cNvPr id="16" name="墨迹 15">
                <a:extLst>
                  <a:ext uri="{FF2B5EF4-FFF2-40B4-BE49-F238E27FC236}">
                    <a16:creationId xmlns:a16="http://schemas.microsoft.com/office/drawing/2014/main" xmlns="" xmlns:p14="http://schemas.microsoft.com/office/powerpoint/2010/main" id="{E6C65320-5D81-BA18-578E-8E70E98BDA57}"/>
                  </a:ext>
                </a:extLst>
              </p:cNvPr>
              <p:cNvPicPr/>
              <p:nvPr/>
            </p:nvPicPr>
            <p:blipFill>
              <a:blip r:embed="rId8"/>
              <a:stretch>
                <a:fillRect/>
              </a:stretch>
            </p:blipFill>
            <p:spPr>
              <a:xfrm>
                <a:off x="6537452" y="1981513"/>
                <a:ext cx="122524" cy="165416"/>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7" name="墨迹 16">
                <a:extLst>
                  <a:ext uri="{FF2B5EF4-FFF2-40B4-BE49-F238E27FC236}">
                    <a16:creationId xmlns="" xmlns:a16="http://schemas.microsoft.com/office/drawing/2014/main" id="{35A2712F-75A8-4D40-3411-C50A5A4B8CA8}"/>
                  </a:ext>
                </a:extLst>
              </p14:cNvPr>
              <p14:cNvContentPartPr/>
              <p14:nvPr/>
            </p14:nvContentPartPr>
            <p14:xfrm>
              <a:off x="6555058" y="2935759"/>
              <a:ext cx="87312" cy="7938"/>
            </p14:xfrm>
          </p:contentPart>
        </mc:Choice>
        <mc:Fallback xmlns="">
          <p:pic>
            <p:nvPicPr>
              <p:cNvPr id="17" name="墨迹 16">
                <a:extLst>
                  <a:ext uri="{FF2B5EF4-FFF2-40B4-BE49-F238E27FC236}">
                    <a16:creationId xmlns:a16="http://schemas.microsoft.com/office/drawing/2014/main" xmlns="" xmlns:p14="http://schemas.microsoft.com/office/powerpoint/2010/main" id="{35A2712F-75A8-4D40-3411-C50A5A4B8CA8}"/>
                  </a:ext>
                </a:extLst>
              </p:cNvPr>
              <p:cNvPicPr/>
              <p:nvPr/>
            </p:nvPicPr>
            <p:blipFill>
              <a:blip r:embed="rId10"/>
              <a:stretch>
                <a:fillRect/>
              </a:stretch>
            </p:blipFill>
            <p:spPr>
              <a:xfrm>
                <a:off x="6537452" y="2918079"/>
                <a:ext cx="122524" cy="43298"/>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8" name="墨迹 17">
                <a:extLst>
                  <a:ext uri="{FF2B5EF4-FFF2-40B4-BE49-F238E27FC236}">
                    <a16:creationId xmlns="" xmlns:a16="http://schemas.microsoft.com/office/drawing/2014/main" id="{6BB937D3-9124-AA3B-3695-AA4B7E8A94E6}"/>
                  </a:ext>
                </a:extLst>
              </p14:cNvPr>
              <p14:cNvContentPartPr/>
              <p14:nvPr/>
            </p14:nvContentPartPr>
            <p14:xfrm>
              <a:off x="7399608" y="2842097"/>
              <a:ext cx="100012" cy="130175"/>
            </p14:xfrm>
          </p:contentPart>
        </mc:Choice>
        <mc:Fallback xmlns="">
          <p:pic>
            <p:nvPicPr>
              <p:cNvPr id="18" name="墨迹 17">
                <a:extLst>
                  <a:ext uri="{FF2B5EF4-FFF2-40B4-BE49-F238E27FC236}">
                    <a16:creationId xmlns:a16="http://schemas.microsoft.com/office/drawing/2014/main" xmlns="" xmlns:p14="http://schemas.microsoft.com/office/powerpoint/2010/main" id="{6BB937D3-9124-AA3B-3695-AA4B7E8A94E6}"/>
                  </a:ext>
                </a:extLst>
              </p:cNvPr>
              <p:cNvPicPr/>
              <p:nvPr/>
            </p:nvPicPr>
            <p:blipFill>
              <a:blip r:embed="rId12"/>
              <a:stretch>
                <a:fillRect/>
              </a:stretch>
            </p:blipFill>
            <p:spPr>
              <a:xfrm>
                <a:off x="7381980" y="2824428"/>
                <a:ext cx="135268" cy="165513"/>
              </a:xfrm>
              <a:prstGeom prst="rect">
                <a:avLst/>
              </a:prstGeom>
            </p:spPr>
          </p:pic>
        </mc:Fallback>
      </mc:AlternateContent>
    </p:spTree>
    <p:extLst>
      <p:ext uri="{BB962C8B-B14F-4D97-AF65-F5344CB8AC3E}">
        <p14:creationId xmlns:p14="http://schemas.microsoft.com/office/powerpoint/2010/main" val="4033381068"/>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112</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4.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谐振</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功率</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放大器</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Text Box 3">
            <a:extLst>
              <a:ext uri="{FF2B5EF4-FFF2-40B4-BE49-F238E27FC236}">
                <a16:creationId xmlns="" xmlns:a16="http://schemas.microsoft.com/office/drawing/2014/main" id="{035BB002-EBFC-8C5A-D186-1602C4506044}"/>
              </a:ext>
            </a:extLst>
          </p:cNvPr>
          <p:cNvSpPr txBox="1">
            <a:spLocks noChangeArrowheads="1"/>
          </p:cNvSpPr>
          <p:nvPr/>
        </p:nvSpPr>
        <p:spPr bwMode="auto">
          <a:xfrm>
            <a:off x="205861" y="1410335"/>
            <a:ext cx="405591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400" b="1" kern="1200">
                <a:solidFill>
                  <a:srgbClr val="FFFF00"/>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400" b="1" kern="1200">
                <a:solidFill>
                  <a:srgbClr val="FFFF00"/>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400" b="1" kern="1200">
                <a:solidFill>
                  <a:srgbClr val="FFFF00"/>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400" b="1" kern="1200">
                <a:solidFill>
                  <a:srgbClr val="FFFF00"/>
                </a:solidFill>
                <a:latin typeface="Times New Roman" panose="02020603050405020304" pitchFamily="18" charset="0"/>
                <a:ea typeface="宋体" panose="02010600030101010101" pitchFamily="2" charset="-122"/>
                <a:cs typeface="+mn-cs"/>
              </a:defRPr>
            </a:lvl9pPr>
          </a:lstStyle>
          <a:p>
            <a:r>
              <a:rPr lang="zh-CN" altLang="en-US" sz="2000" dirty="0">
                <a:solidFill>
                  <a:schemeClr val="tx1"/>
                </a:solidFill>
                <a:latin typeface="+mn-ea"/>
                <a:ea typeface="+mn-ea"/>
              </a:rPr>
              <a:t>根据晶体管的转移特性曲线可得：</a:t>
            </a:r>
          </a:p>
        </p:txBody>
      </p:sp>
      <p:pic>
        <p:nvPicPr>
          <p:cNvPr id="6" name="图片 5">
            <a:extLst>
              <a:ext uri="{FF2B5EF4-FFF2-40B4-BE49-F238E27FC236}">
                <a16:creationId xmlns="" xmlns:a16="http://schemas.microsoft.com/office/drawing/2014/main" id="{33E5214C-733B-AF63-2B09-8AC1AA3B7D80}"/>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1486" y="2000359"/>
            <a:ext cx="2743200" cy="474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sp>
        <p:nvSpPr>
          <p:cNvPr id="7" name="Text Box 8">
            <a:extLst>
              <a:ext uri="{FF2B5EF4-FFF2-40B4-BE49-F238E27FC236}">
                <a16:creationId xmlns="" xmlns:a16="http://schemas.microsoft.com/office/drawing/2014/main" id="{DC51BA38-C241-54DE-8380-A78D28E1981E}"/>
              </a:ext>
            </a:extLst>
          </p:cNvPr>
          <p:cNvSpPr txBox="1">
            <a:spLocks noChangeArrowheads="1"/>
          </p:cNvSpPr>
          <p:nvPr/>
        </p:nvSpPr>
        <p:spPr bwMode="auto">
          <a:xfrm>
            <a:off x="5087193" y="5648226"/>
            <a:ext cx="36004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400" b="1" kern="1200">
                <a:solidFill>
                  <a:srgbClr val="FFFF00"/>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400" b="1" kern="1200">
                <a:solidFill>
                  <a:srgbClr val="FFFF00"/>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400" b="1" kern="1200">
                <a:solidFill>
                  <a:srgbClr val="FFFF00"/>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400" b="1" kern="1200">
                <a:solidFill>
                  <a:srgbClr val="FFFF00"/>
                </a:solidFill>
                <a:latin typeface="Times New Roman" panose="02020603050405020304" pitchFamily="18" charset="0"/>
                <a:ea typeface="宋体" panose="02010600030101010101" pitchFamily="2" charset="-122"/>
                <a:cs typeface="+mn-cs"/>
              </a:defRPr>
            </a:lvl9pPr>
          </a:lstStyle>
          <a:p>
            <a:r>
              <a:rPr lang="zh-CN" altLang="en-US" sz="2000" dirty="0">
                <a:solidFill>
                  <a:schemeClr val="accent2"/>
                </a:solidFill>
                <a:latin typeface="+mn-ea"/>
                <a:ea typeface="+mn-ea"/>
              </a:rPr>
              <a:t>谐振功率放大器转移特性曲线</a:t>
            </a:r>
          </a:p>
        </p:txBody>
      </p:sp>
      <p:sp>
        <p:nvSpPr>
          <p:cNvPr id="8" name="Text Box 9">
            <a:extLst>
              <a:ext uri="{FF2B5EF4-FFF2-40B4-BE49-F238E27FC236}">
                <a16:creationId xmlns="" xmlns:a16="http://schemas.microsoft.com/office/drawing/2014/main" id="{39ACAFBF-0B26-9FA2-A29C-238BF6DC4098}"/>
              </a:ext>
            </a:extLst>
          </p:cNvPr>
          <p:cNvSpPr txBox="1">
            <a:spLocks noChangeArrowheads="1"/>
          </p:cNvSpPr>
          <p:nvPr/>
        </p:nvSpPr>
        <p:spPr bwMode="auto">
          <a:xfrm>
            <a:off x="213815" y="2576224"/>
            <a:ext cx="95891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400" b="1" kern="1200">
                <a:solidFill>
                  <a:srgbClr val="FFFF00"/>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400" b="1" kern="1200">
                <a:solidFill>
                  <a:srgbClr val="FFFF00"/>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400" b="1" kern="1200">
                <a:solidFill>
                  <a:srgbClr val="FFFF00"/>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400" b="1" kern="1200">
                <a:solidFill>
                  <a:srgbClr val="FFFF00"/>
                </a:solidFill>
                <a:latin typeface="Times New Roman" panose="02020603050405020304" pitchFamily="18" charset="0"/>
                <a:ea typeface="宋体" panose="02010600030101010101" pitchFamily="2" charset="-122"/>
                <a:cs typeface="+mn-cs"/>
              </a:defRPr>
            </a:lvl9pPr>
          </a:lstStyle>
          <a:p>
            <a:r>
              <a:rPr lang="zh-CN" altLang="en-US" sz="2000" dirty="0">
                <a:solidFill>
                  <a:schemeClr val="tx1"/>
                </a:solidFill>
                <a:latin typeface="+mn-ea"/>
                <a:ea typeface="+mn-ea"/>
              </a:rPr>
              <a:t>故得：</a:t>
            </a:r>
          </a:p>
        </p:txBody>
      </p:sp>
      <p:pic>
        <p:nvPicPr>
          <p:cNvPr id="9" name="图片 8">
            <a:extLst>
              <a:ext uri="{FF2B5EF4-FFF2-40B4-BE49-F238E27FC236}">
                <a16:creationId xmlns="" xmlns:a16="http://schemas.microsoft.com/office/drawing/2014/main" id="{50933EBA-F4FA-8F06-903C-C48F145ED618}"/>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5914" y="2948683"/>
            <a:ext cx="2057400" cy="77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sp>
        <p:nvSpPr>
          <p:cNvPr id="10" name="Text Box 11">
            <a:extLst>
              <a:ext uri="{FF2B5EF4-FFF2-40B4-BE49-F238E27FC236}">
                <a16:creationId xmlns="" xmlns:a16="http://schemas.microsoft.com/office/drawing/2014/main" id="{8C49069D-DB6A-9AAE-D4D1-86DDDC214CC1}"/>
              </a:ext>
            </a:extLst>
          </p:cNvPr>
          <p:cNvSpPr txBox="1">
            <a:spLocks noChangeArrowheads="1"/>
          </p:cNvSpPr>
          <p:nvPr/>
        </p:nvSpPr>
        <p:spPr bwMode="auto">
          <a:xfrm>
            <a:off x="235818" y="4415914"/>
            <a:ext cx="3788273" cy="1015663"/>
          </a:xfrm>
          <a:prstGeom prst="rect">
            <a:avLst/>
          </a:prstGeom>
          <a:noFill/>
          <a:ln w="9525">
            <a:solidFill>
              <a:srgbClr val="0070C0"/>
            </a:solidFill>
            <a:prstDash val="dashDot"/>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defPPr>
              <a:defRPr lang="zh-CN"/>
            </a:defPPr>
            <a:lvl1pPr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400" b="1" kern="1200">
                <a:solidFill>
                  <a:srgbClr val="FFFF00"/>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400" b="1" kern="1200">
                <a:solidFill>
                  <a:srgbClr val="FFFF00"/>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400" b="1" kern="1200">
                <a:solidFill>
                  <a:srgbClr val="FFFF00"/>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400" b="1" kern="1200">
                <a:solidFill>
                  <a:srgbClr val="FFFF00"/>
                </a:solidFill>
                <a:latin typeface="Times New Roman" panose="02020603050405020304" pitchFamily="18" charset="0"/>
                <a:ea typeface="宋体" panose="02010600030101010101" pitchFamily="2" charset="-122"/>
                <a:cs typeface="+mn-cs"/>
              </a:defRPr>
            </a:lvl9pPr>
          </a:lstStyle>
          <a:p>
            <a:pPr eaLnBrk="1"/>
            <a:r>
              <a:rPr lang="zh-CN" altLang="en-US" sz="2000" dirty="0">
                <a:solidFill>
                  <a:srgbClr val="FF0000"/>
                </a:solidFill>
                <a:ea typeface="+mn-ea"/>
                <a:cs typeface="Times New Roman" panose="02020603050405020304" pitchFamily="18" charset="0"/>
              </a:rPr>
              <a:t>   集电极电流</a:t>
            </a:r>
            <a:r>
              <a:rPr lang="en-US" altLang="zh-CN" sz="2000" i="1" dirty="0" err="1">
                <a:solidFill>
                  <a:srgbClr val="FF0000"/>
                </a:solidFill>
                <a:ea typeface="+mn-ea"/>
                <a:cs typeface="Times New Roman" panose="02020603050405020304" pitchFamily="18" charset="0"/>
              </a:rPr>
              <a:t>i</a:t>
            </a:r>
            <a:r>
              <a:rPr lang="en-US" altLang="zh-CN" sz="2000" baseline="-25000" dirty="0" err="1">
                <a:solidFill>
                  <a:srgbClr val="FF0000"/>
                </a:solidFill>
                <a:ea typeface="+mn-ea"/>
                <a:cs typeface="Times New Roman" panose="02020603050405020304" pitchFamily="18" charset="0"/>
              </a:rPr>
              <a:t>c</a:t>
            </a:r>
            <a:r>
              <a:rPr lang="zh-CN" altLang="en-US" sz="2000" dirty="0">
                <a:solidFill>
                  <a:srgbClr val="FF0000"/>
                </a:solidFill>
                <a:ea typeface="+mn-ea"/>
                <a:cs typeface="Times New Roman" panose="02020603050405020304" pitchFamily="18" charset="0"/>
              </a:rPr>
              <a:t>虽然是脉冲状，但由于谐振回路的这种滤波作用，仍然能得到正弦波形的输出。</a:t>
            </a:r>
          </a:p>
        </p:txBody>
      </p:sp>
      <p:pic>
        <p:nvPicPr>
          <p:cNvPr id="11" name="图片 10">
            <a:extLst>
              <a:ext uri="{FF2B5EF4-FFF2-40B4-BE49-F238E27FC236}">
                <a16:creationId xmlns="" xmlns:a16="http://schemas.microsoft.com/office/drawing/2014/main" id="{5A85D313-1D6F-75B9-4AB7-970056DA98F7}"/>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26745" y="1393997"/>
            <a:ext cx="5032375" cy="425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sp>
        <p:nvSpPr>
          <p:cNvPr id="12" name="矩形 11">
            <a:extLst>
              <a:ext uri="{FF2B5EF4-FFF2-40B4-BE49-F238E27FC236}">
                <a16:creationId xmlns="" xmlns:a16="http://schemas.microsoft.com/office/drawing/2014/main" id="{67E37115-4C2D-1F5B-5715-9053CF5920B2}"/>
              </a:ext>
            </a:extLst>
          </p:cNvPr>
          <p:cNvSpPr>
            <a:spLocks noChangeArrowheads="1"/>
          </p:cNvSpPr>
          <p:nvPr/>
        </p:nvSpPr>
        <p:spPr bwMode="auto">
          <a:xfrm>
            <a:off x="205861" y="3788857"/>
            <a:ext cx="198002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sz="2400" b="1" kern="1200">
                <a:solidFill>
                  <a:srgbClr val="FFFF00"/>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400" b="1" kern="1200">
                <a:solidFill>
                  <a:srgbClr val="FFFF00"/>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400" b="1" kern="1200">
                <a:solidFill>
                  <a:srgbClr val="FFFF00"/>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400" b="1" kern="1200">
                <a:solidFill>
                  <a:srgbClr val="FFFF00"/>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400" b="1" kern="1200">
                <a:solidFill>
                  <a:srgbClr val="FFFF00"/>
                </a:solidFill>
                <a:latin typeface="Times New Roman" panose="02020603050405020304" pitchFamily="18" charset="0"/>
                <a:ea typeface="宋体" panose="02010600030101010101" pitchFamily="2" charset="-122"/>
                <a:cs typeface="+mn-cs"/>
              </a:defRPr>
            </a:lvl9pPr>
          </a:lstStyle>
          <a:p>
            <a:r>
              <a:rPr lang="zh-CN" altLang="en-US" sz="2000" dirty="0">
                <a:solidFill>
                  <a:schemeClr val="accent2"/>
                </a:solidFill>
                <a:latin typeface="+mn-ea"/>
                <a:ea typeface="+mn-ea"/>
              </a:rPr>
              <a:t>必须强调指出：</a:t>
            </a:r>
          </a:p>
        </p:txBody>
      </p:sp>
    </p:spTree>
    <p:extLst>
      <p:ext uri="{BB962C8B-B14F-4D97-AF65-F5344CB8AC3E}">
        <p14:creationId xmlns:p14="http://schemas.microsoft.com/office/powerpoint/2010/main" val="2579820683"/>
      </p:ext>
    </p:ext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113</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4.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谐振</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功率</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放大器</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Text Box 4">
            <a:extLst>
              <a:ext uri="{FF2B5EF4-FFF2-40B4-BE49-F238E27FC236}">
                <a16:creationId xmlns="" xmlns:a16="http://schemas.microsoft.com/office/drawing/2014/main" id="{D975038D-9AE9-BDBC-1391-B8F7B86F1E57}"/>
              </a:ext>
            </a:extLst>
          </p:cNvPr>
          <p:cNvSpPr txBox="1">
            <a:spLocks noChangeArrowheads="1"/>
          </p:cNvSpPr>
          <p:nvPr/>
        </p:nvSpPr>
        <p:spPr bwMode="auto">
          <a:xfrm>
            <a:off x="170689" y="1309351"/>
            <a:ext cx="8790432"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200" dirty="0">
                <a:ln w="0"/>
                <a:effectLst>
                  <a:outerShdw blurRad="38100" dist="19050" dir="2700000" algn="tl" rotWithShape="0">
                    <a:schemeClr val="dk1">
                      <a:alpha val="40000"/>
                    </a:schemeClr>
                  </a:outerShdw>
                </a:effectLst>
                <a:latin typeface="+mn-ea"/>
                <a:ea typeface="+mn-ea"/>
              </a:rPr>
              <a:t>    </a:t>
            </a:r>
            <a:r>
              <a:rPr lang="zh-CN" altLang="en-US" sz="2200" dirty="0">
                <a:ln w="0"/>
                <a:effectLst>
                  <a:outerShdw blurRad="38100" dist="19050" dir="2700000" algn="tl" rotWithShape="0">
                    <a:schemeClr val="dk1">
                      <a:alpha val="40000"/>
                    </a:schemeClr>
                  </a:outerShdw>
                </a:effectLst>
                <a:latin typeface="+mn-ea"/>
                <a:ea typeface="+mn-ea"/>
              </a:rPr>
              <a:t>功率放大器的作用原理是利用输入到基极的信号来控制集电极的直流电源所供给的直流功率，使之转变为交流信号功率输出去。</a:t>
            </a:r>
          </a:p>
        </p:txBody>
      </p:sp>
      <p:sp>
        <p:nvSpPr>
          <p:cNvPr id="6" name="Text Box 6">
            <a:extLst>
              <a:ext uri="{FF2B5EF4-FFF2-40B4-BE49-F238E27FC236}">
                <a16:creationId xmlns="" xmlns:a16="http://schemas.microsoft.com/office/drawing/2014/main" id="{906E8C3D-87BD-8541-B7BE-13664E8FE7F9}"/>
              </a:ext>
            </a:extLst>
          </p:cNvPr>
          <p:cNvSpPr txBox="1">
            <a:spLocks noChangeArrowheads="1"/>
          </p:cNvSpPr>
          <p:nvPr/>
        </p:nvSpPr>
        <p:spPr bwMode="auto">
          <a:xfrm>
            <a:off x="132497" y="2081811"/>
            <a:ext cx="8684847"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2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a:t>
            </a:r>
            <a:r>
              <a:rPr lang="zh-CN" altLang="en-US" sz="22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有一部分功率以热能的形式消耗在集电极上，成为集电极耗散功率。为了表示晶体管放大器的转换能力引入集电极效率</a:t>
            </a:r>
            <a:r>
              <a:rPr lang="en-US" altLang="zh-CN" sz="2200" dirty="0" err="1">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ηc</a:t>
            </a:r>
            <a:endParaRPr lang="en-US" altLang="zh-CN" sz="22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7" name="Text Box 7">
            <a:extLst>
              <a:ext uri="{FF2B5EF4-FFF2-40B4-BE49-F238E27FC236}">
                <a16:creationId xmlns="" xmlns:a16="http://schemas.microsoft.com/office/drawing/2014/main" id="{D9F44DB7-E098-0D3C-1D4E-C513636AFD18}"/>
              </a:ext>
            </a:extLst>
          </p:cNvPr>
          <p:cNvSpPr txBox="1">
            <a:spLocks noChangeArrowheads="1"/>
          </p:cNvSpPr>
          <p:nvPr/>
        </p:nvSpPr>
        <p:spPr bwMode="auto">
          <a:xfrm>
            <a:off x="192534" y="2917993"/>
            <a:ext cx="3729732" cy="1257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20000"/>
              </a:lnSpc>
            </a:pPr>
            <a:r>
              <a:rPr lang="en-US" altLang="zh-CN" sz="2200" dirty="0">
                <a:ln w="0"/>
                <a:effectLst>
                  <a:outerShdw blurRad="38100" dist="19050" dir="2700000" algn="tl" rotWithShape="0">
                    <a:schemeClr val="dk1">
                      <a:alpha val="40000"/>
                    </a:schemeClr>
                  </a:outerShdw>
                </a:effectLst>
                <a:latin typeface="+mn-ea"/>
                <a:ea typeface="+mn-ea"/>
              </a:rPr>
              <a:t>P</a:t>
            </a:r>
            <a:r>
              <a:rPr lang="en-US" altLang="zh-CN" sz="2200" baseline="-25000" dirty="0">
                <a:ln w="0"/>
                <a:effectLst>
                  <a:outerShdw blurRad="38100" dist="19050" dir="2700000" algn="tl" rotWithShape="0">
                    <a:schemeClr val="dk1">
                      <a:alpha val="40000"/>
                    </a:schemeClr>
                  </a:outerShdw>
                </a:effectLst>
                <a:latin typeface="+mn-ea"/>
                <a:ea typeface="+mn-ea"/>
              </a:rPr>
              <a:t>=</a:t>
            </a:r>
            <a:r>
              <a:rPr lang="en-US" altLang="zh-CN" sz="2200" dirty="0">
                <a:ln w="0"/>
                <a:effectLst>
                  <a:outerShdw blurRad="38100" dist="19050" dir="2700000" algn="tl" rotWithShape="0">
                    <a:schemeClr val="dk1">
                      <a:alpha val="40000"/>
                    </a:schemeClr>
                  </a:outerShdw>
                </a:effectLst>
                <a:latin typeface="+mn-ea"/>
                <a:ea typeface="+mn-ea"/>
              </a:rPr>
              <a:t>=</a:t>
            </a:r>
            <a:r>
              <a:rPr lang="zh-CN" altLang="en-US" sz="2200" dirty="0">
                <a:ln w="0"/>
                <a:effectLst>
                  <a:outerShdw blurRad="38100" dist="19050" dir="2700000" algn="tl" rotWithShape="0">
                    <a:schemeClr val="dk1">
                      <a:alpha val="40000"/>
                    </a:schemeClr>
                  </a:outerShdw>
                </a:effectLst>
                <a:latin typeface="+mn-ea"/>
                <a:ea typeface="+mn-ea"/>
              </a:rPr>
              <a:t>直流电源供给的直流功率；</a:t>
            </a:r>
          </a:p>
          <a:p>
            <a:pPr>
              <a:lnSpc>
                <a:spcPct val="120000"/>
              </a:lnSpc>
            </a:pPr>
            <a:r>
              <a:rPr lang="en-US" altLang="zh-CN" sz="2200" dirty="0">
                <a:ln w="0"/>
                <a:effectLst>
                  <a:outerShdw blurRad="38100" dist="19050" dir="2700000" algn="tl" rotWithShape="0">
                    <a:schemeClr val="dk1">
                      <a:alpha val="40000"/>
                    </a:schemeClr>
                  </a:outerShdw>
                </a:effectLst>
                <a:latin typeface="+mn-ea"/>
                <a:ea typeface="+mn-ea"/>
              </a:rPr>
              <a:t>P</a:t>
            </a:r>
            <a:r>
              <a:rPr lang="en-US" altLang="zh-CN" sz="2200" baseline="-25000" dirty="0">
                <a:ln w="0"/>
                <a:effectLst>
                  <a:outerShdw blurRad="38100" dist="19050" dir="2700000" algn="tl" rotWithShape="0">
                    <a:schemeClr val="dk1">
                      <a:alpha val="40000"/>
                    </a:schemeClr>
                  </a:outerShdw>
                </a:effectLst>
                <a:latin typeface="+mn-ea"/>
                <a:ea typeface="+mn-ea"/>
              </a:rPr>
              <a:t>o</a:t>
            </a:r>
            <a:r>
              <a:rPr lang="en-US" altLang="zh-CN" sz="2200" dirty="0">
                <a:ln w="0"/>
                <a:effectLst>
                  <a:outerShdw blurRad="38100" dist="19050" dir="2700000" algn="tl" rotWithShape="0">
                    <a:schemeClr val="dk1">
                      <a:alpha val="40000"/>
                    </a:schemeClr>
                  </a:outerShdw>
                </a:effectLst>
                <a:latin typeface="+mn-ea"/>
                <a:ea typeface="+mn-ea"/>
              </a:rPr>
              <a:t>=</a:t>
            </a:r>
            <a:r>
              <a:rPr lang="zh-CN" altLang="en-US" sz="2200" dirty="0">
                <a:ln w="0"/>
                <a:effectLst>
                  <a:outerShdw blurRad="38100" dist="19050" dir="2700000" algn="tl" rotWithShape="0">
                    <a:schemeClr val="dk1">
                      <a:alpha val="40000"/>
                    </a:schemeClr>
                  </a:outerShdw>
                </a:effectLst>
                <a:latin typeface="+mn-ea"/>
                <a:ea typeface="+mn-ea"/>
              </a:rPr>
              <a:t>交流输出信号功率；</a:t>
            </a:r>
          </a:p>
          <a:p>
            <a:pPr>
              <a:lnSpc>
                <a:spcPct val="120000"/>
              </a:lnSpc>
            </a:pPr>
            <a:r>
              <a:rPr lang="en-US" altLang="zh-CN" sz="2200" dirty="0">
                <a:ln w="0"/>
                <a:effectLst>
                  <a:outerShdw blurRad="38100" dist="19050" dir="2700000" algn="tl" rotWithShape="0">
                    <a:schemeClr val="dk1">
                      <a:alpha val="40000"/>
                    </a:schemeClr>
                  </a:outerShdw>
                </a:effectLst>
                <a:latin typeface="+mn-ea"/>
                <a:ea typeface="+mn-ea"/>
              </a:rPr>
              <a:t>P</a:t>
            </a:r>
            <a:r>
              <a:rPr lang="en-US" altLang="zh-CN" sz="2200" baseline="-25000" dirty="0">
                <a:ln w="0"/>
                <a:effectLst>
                  <a:outerShdw blurRad="38100" dist="19050" dir="2700000" algn="tl" rotWithShape="0">
                    <a:schemeClr val="dk1">
                      <a:alpha val="40000"/>
                    </a:schemeClr>
                  </a:outerShdw>
                </a:effectLst>
                <a:latin typeface="+mn-ea"/>
                <a:ea typeface="+mn-ea"/>
              </a:rPr>
              <a:t>c</a:t>
            </a:r>
            <a:r>
              <a:rPr lang="en-US" altLang="zh-CN" sz="2200" dirty="0">
                <a:ln w="0"/>
                <a:effectLst>
                  <a:outerShdw blurRad="38100" dist="19050" dir="2700000" algn="tl" rotWithShape="0">
                    <a:schemeClr val="dk1">
                      <a:alpha val="40000"/>
                    </a:schemeClr>
                  </a:outerShdw>
                </a:effectLst>
                <a:latin typeface="+mn-ea"/>
                <a:ea typeface="+mn-ea"/>
              </a:rPr>
              <a:t>=</a:t>
            </a:r>
            <a:r>
              <a:rPr lang="zh-CN" altLang="en-US" sz="2200" dirty="0">
                <a:ln w="0"/>
                <a:effectLst>
                  <a:outerShdw blurRad="38100" dist="19050" dir="2700000" algn="tl" rotWithShape="0">
                    <a:schemeClr val="dk1">
                      <a:alpha val="40000"/>
                    </a:schemeClr>
                  </a:outerShdw>
                </a:effectLst>
                <a:latin typeface="+mn-ea"/>
                <a:ea typeface="+mn-ea"/>
              </a:rPr>
              <a:t>集电极耗散功率；</a:t>
            </a:r>
          </a:p>
        </p:txBody>
      </p:sp>
      <p:sp>
        <p:nvSpPr>
          <p:cNvPr id="8" name="Text Box 8">
            <a:extLst>
              <a:ext uri="{FF2B5EF4-FFF2-40B4-BE49-F238E27FC236}">
                <a16:creationId xmlns="" xmlns:a16="http://schemas.microsoft.com/office/drawing/2014/main" id="{56FD2D63-FA95-3ABB-41A2-EE06C97DE546}"/>
              </a:ext>
            </a:extLst>
          </p:cNvPr>
          <p:cNvSpPr txBox="1">
            <a:spLocks noChangeArrowheads="1"/>
          </p:cNvSpPr>
          <p:nvPr/>
        </p:nvSpPr>
        <p:spPr bwMode="auto">
          <a:xfrm>
            <a:off x="4015316" y="2986346"/>
            <a:ext cx="2676525"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200" dirty="0">
                <a:ln w="0"/>
                <a:effectLst>
                  <a:outerShdw blurRad="38100" dist="19050" dir="2700000" algn="tl" rotWithShape="0">
                    <a:schemeClr val="dk1">
                      <a:alpha val="40000"/>
                    </a:schemeClr>
                  </a:outerShdw>
                </a:effectLst>
                <a:latin typeface="+mn-ea"/>
                <a:ea typeface="+mn-ea"/>
              </a:rPr>
              <a:t>根据能量守衡定理：</a:t>
            </a:r>
          </a:p>
        </p:txBody>
      </p:sp>
      <p:graphicFrame>
        <p:nvGraphicFramePr>
          <p:cNvPr id="9" name="Object 9">
            <a:extLst>
              <a:ext uri="{FF2B5EF4-FFF2-40B4-BE49-F238E27FC236}">
                <a16:creationId xmlns="" xmlns:a16="http://schemas.microsoft.com/office/drawing/2014/main" id="{E08962AD-13D3-12A6-7498-15FB0BC75520}"/>
              </a:ext>
            </a:extLst>
          </p:cNvPr>
          <p:cNvGraphicFramePr>
            <a:graphicFrameLocks/>
          </p:cNvGraphicFramePr>
          <p:nvPr>
            <p:extLst>
              <p:ext uri="{D42A27DB-BD31-4B8C-83A1-F6EECF244321}">
                <p14:modId xmlns:p14="http://schemas.microsoft.com/office/powerpoint/2010/main" val="342280514"/>
              </p:ext>
            </p:extLst>
          </p:nvPr>
        </p:nvGraphicFramePr>
        <p:xfrm>
          <a:off x="6784891" y="2992239"/>
          <a:ext cx="1666875" cy="419100"/>
        </p:xfrm>
        <a:graphic>
          <a:graphicData uri="http://schemas.openxmlformats.org/presentationml/2006/ole">
            <mc:AlternateContent xmlns:mc="http://schemas.openxmlformats.org/markup-compatibility/2006">
              <mc:Choice xmlns:v="urn:schemas-microsoft-com:vml" Requires="v">
                <p:oleObj spid="_x0000_s81029" r:id="rId3" imgW="939240" imgH="203040" progId="Word.Document.8">
                  <p:embed/>
                </p:oleObj>
              </mc:Choice>
              <mc:Fallback>
                <p:oleObj r:id="rId3" imgW="939240" imgH="203040" progId="Word.Document.8">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84891" y="2992239"/>
                        <a:ext cx="1666875"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0" name="Text Box 10">
            <a:extLst>
              <a:ext uri="{FF2B5EF4-FFF2-40B4-BE49-F238E27FC236}">
                <a16:creationId xmlns="" xmlns:a16="http://schemas.microsoft.com/office/drawing/2014/main" id="{9418F162-CDC9-E67E-B114-7E4B048081FE}"/>
              </a:ext>
            </a:extLst>
          </p:cNvPr>
          <p:cNvSpPr txBox="1">
            <a:spLocks noChangeArrowheads="1"/>
          </p:cNvSpPr>
          <p:nvPr/>
        </p:nvSpPr>
        <p:spPr bwMode="auto">
          <a:xfrm>
            <a:off x="4222484" y="3600226"/>
            <a:ext cx="2262188"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200" dirty="0">
                <a:ln w="0"/>
                <a:effectLst>
                  <a:outerShdw blurRad="38100" dist="19050" dir="2700000" algn="tl" rotWithShape="0">
                    <a:schemeClr val="dk1">
                      <a:alpha val="40000"/>
                    </a:schemeClr>
                  </a:outerShdw>
                </a:effectLst>
                <a:latin typeface="+mn-ea"/>
                <a:ea typeface="+mn-ea"/>
              </a:rPr>
              <a:t>故集电极效率：</a:t>
            </a:r>
          </a:p>
        </p:txBody>
      </p:sp>
      <p:graphicFrame>
        <p:nvGraphicFramePr>
          <p:cNvPr id="11" name="Object 11">
            <a:extLst>
              <a:ext uri="{FF2B5EF4-FFF2-40B4-BE49-F238E27FC236}">
                <a16:creationId xmlns="" xmlns:a16="http://schemas.microsoft.com/office/drawing/2014/main" id="{687CDE90-21C2-6A8C-0218-32621E1E41F5}"/>
              </a:ext>
            </a:extLst>
          </p:cNvPr>
          <p:cNvGraphicFramePr>
            <a:graphicFrameLocks/>
          </p:cNvGraphicFramePr>
          <p:nvPr>
            <p:extLst>
              <p:ext uri="{D42A27DB-BD31-4B8C-83A1-F6EECF244321}">
                <p14:modId xmlns:p14="http://schemas.microsoft.com/office/powerpoint/2010/main" val="2949114307"/>
              </p:ext>
            </p:extLst>
          </p:nvPr>
        </p:nvGraphicFramePr>
        <p:xfrm>
          <a:off x="6327234" y="3516775"/>
          <a:ext cx="2009775" cy="666750"/>
        </p:xfrm>
        <a:graphic>
          <a:graphicData uri="http://schemas.openxmlformats.org/presentationml/2006/ole">
            <mc:AlternateContent xmlns:mc="http://schemas.openxmlformats.org/markup-compatibility/2006">
              <mc:Choice xmlns:v="urn:schemas-microsoft-com:vml" Requires="v">
                <p:oleObj spid="_x0000_s81030" r:id="rId5" imgW="1396440" imgH="507960" progId="Equation.3">
                  <p:embed/>
                </p:oleObj>
              </mc:Choice>
              <mc:Fallback>
                <p:oleObj r:id="rId5" imgW="1396440" imgH="507960" progId="Equation.3">
                  <p:embed/>
                  <p:pic>
                    <p:nvPicPr>
                      <p:cNvPr id="0" name=""/>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27234" y="3516775"/>
                        <a:ext cx="2009775"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2" name="Rectangle 18">
            <a:extLst>
              <a:ext uri="{FF2B5EF4-FFF2-40B4-BE49-F238E27FC236}">
                <a16:creationId xmlns="" xmlns:a16="http://schemas.microsoft.com/office/drawing/2014/main" id="{576C9E07-BC26-3552-C7C5-9B3D92E066C9}"/>
              </a:ext>
            </a:extLst>
          </p:cNvPr>
          <p:cNvSpPr>
            <a:spLocks noChangeArrowheads="1"/>
          </p:cNvSpPr>
          <p:nvPr/>
        </p:nvSpPr>
        <p:spPr bwMode="auto">
          <a:xfrm>
            <a:off x="175458" y="4299639"/>
            <a:ext cx="8785663" cy="8125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spAutoFit/>
          </a:bodyPr>
          <a:lstStyle/>
          <a:p>
            <a:pPr>
              <a:lnSpc>
                <a:spcPct val="120000"/>
              </a:lnSpc>
              <a:spcBef>
                <a:spcPct val="50000"/>
              </a:spcBef>
            </a:pPr>
            <a:r>
              <a:rPr lang="en-US" altLang="zh-CN" sz="2200" dirty="0">
                <a:latin typeface="Times New Roman" panose="02020603050405020304" pitchFamily="18" charset="0"/>
                <a:cs typeface="Times New Roman" panose="02020603050405020304" pitchFamily="18" charset="0"/>
              </a:rPr>
              <a:t>1) </a:t>
            </a:r>
            <a:r>
              <a:rPr lang="zh-CN" altLang="en-US" sz="2200" dirty="0">
                <a:latin typeface="Times New Roman" panose="02020603050405020304" pitchFamily="18" charset="0"/>
                <a:cs typeface="Times New Roman" panose="02020603050405020304" pitchFamily="18" charset="0"/>
              </a:rPr>
              <a:t>设法尽量降低集电极耗散功率</a:t>
            </a:r>
            <a:r>
              <a:rPr lang="en-US" altLang="zh-CN" sz="2200" dirty="0">
                <a:latin typeface="Times New Roman" panose="02020603050405020304" pitchFamily="18" charset="0"/>
                <a:cs typeface="Times New Roman" panose="02020603050405020304" pitchFamily="18" charset="0"/>
              </a:rPr>
              <a:t>P</a:t>
            </a:r>
            <a:r>
              <a:rPr lang="en-US" altLang="zh-CN" sz="2200" baseline="-25000" dirty="0">
                <a:latin typeface="Times New Roman" panose="02020603050405020304" pitchFamily="18" charset="0"/>
                <a:cs typeface="Times New Roman" panose="02020603050405020304" pitchFamily="18" charset="0"/>
              </a:rPr>
              <a:t>c</a:t>
            </a:r>
            <a:r>
              <a:rPr lang="zh-CN" altLang="en-US" sz="2200" dirty="0">
                <a:latin typeface="Times New Roman" panose="02020603050405020304" pitchFamily="18" charset="0"/>
                <a:cs typeface="Times New Roman" panose="02020603050405020304" pitchFamily="18" charset="0"/>
              </a:rPr>
              <a:t>，则集电极效率</a:t>
            </a:r>
            <a:r>
              <a:rPr lang="zh-CN" altLang="en-US" sz="22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200" baseline="-25000" dirty="0">
                <a:latin typeface="Times New Roman" panose="02020603050405020304" pitchFamily="18" charset="0"/>
                <a:cs typeface="Times New Roman" panose="02020603050405020304" pitchFamily="18" charset="0"/>
              </a:rPr>
              <a:t>c</a:t>
            </a:r>
            <a:r>
              <a:rPr lang="zh-CN" altLang="en-US" sz="2200" dirty="0">
                <a:latin typeface="Times New Roman" panose="02020603050405020304" pitchFamily="18" charset="0"/>
                <a:cs typeface="Times New Roman" panose="02020603050405020304" pitchFamily="18" charset="0"/>
              </a:rPr>
              <a:t>自然会提高。这样，在给定</a:t>
            </a:r>
            <a:r>
              <a:rPr lang="en-US" altLang="zh-CN" sz="2200" dirty="0">
                <a:latin typeface="Times New Roman" panose="02020603050405020304" pitchFamily="18" charset="0"/>
                <a:cs typeface="Times New Roman" panose="02020603050405020304" pitchFamily="18" charset="0"/>
              </a:rPr>
              <a:t>P=</a:t>
            </a:r>
            <a:r>
              <a:rPr lang="zh-CN" altLang="en-US" sz="2200" dirty="0">
                <a:latin typeface="Times New Roman" panose="02020603050405020304" pitchFamily="18" charset="0"/>
                <a:cs typeface="Times New Roman" panose="02020603050405020304" pitchFamily="18" charset="0"/>
              </a:rPr>
              <a:t>时，晶体管的交流输出功率</a:t>
            </a:r>
            <a:r>
              <a:rPr lang="en-US" altLang="zh-CN" sz="2200" dirty="0">
                <a:latin typeface="Times New Roman" panose="02020603050405020304" pitchFamily="18" charset="0"/>
                <a:cs typeface="Times New Roman" panose="02020603050405020304" pitchFamily="18" charset="0"/>
              </a:rPr>
              <a:t>P</a:t>
            </a:r>
            <a:r>
              <a:rPr lang="en-US" altLang="zh-CN" sz="2200" baseline="-25000" dirty="0">
                <a:latin typeface="Times New Roman" panose="02020603050405020304" pitchFamily="18" charset="0"/>
                <a:cs typeface="Times New Roman" panose="02020603050405020304" pitchFamily="18" charset="0"/>
              </a:rPr>
              <a:t>o</a:t>
            </a:r>
            <a:r>
              <a:rPr lang="zh-CN" altLang="en-US" sz="2200" dirty="0">
                <a:latin typeface="Times New Roman" panose="02020603050405020304" pitchFamily="18" charset="0"/>
                <a:cs typeface="Times New Roman" panose="02020603050405020304" pitchFamily="18" charset="0"/>
              </a:rPr>
              <a:t>就会增大；</a:t>
            </a:r>
          </a:p>
        </p:txBody>
      </p:sp>
      <p:sp>
        <p:nvSpPr>
          <p:cNvPr id="14" name="Text Box 10">
            <a:extLst>
              <a:ext uri="{FF2B5EF4-FFF2-40B4-BE49-F238E27FC236}">
                <a16:creationId xmlns="" xmlns:a16="http://schemas.microsoft.com/office/drawing/2014/main" id="{AF32C343-DCFC-BB9D-DADC-F2BBFD91699E}"/>
              </a:ext>
            </a:extLst>
          </p:cNvPr>
          <p:cNvSpPr txBox="1">
            <a:spLocks noChangeArrowheads="1"/>
          </p:cNvSpPr>
          <p:nvPr/>
        </p:nvSpPr>
        <p:spPr bwMode="auto">
          <a:xfrm>
            <a:off x="132497" y="5360515"/>
            <a:ext cx="8828624"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200" dirty="0">
                <a:solidFill>
                  <a:schemeClr val="tx1"/>
                </a:solidFill>
                <a:latin typeface="Times New Roman" panose="02020603050405020304" pitchFamily="18" charset="0"/>
                <a:cs typeface="Times New Roman" panose="02020603050405020304" pitchFamily="18" charset="0"/>
              </a:rPr>
              <a:t>2</a:t>
            </a:r>
            <a:r>
              <a:rPr lang="zh-CN" altLang="en-US" sz="2200" dirty="0">
                <a:solidFill>
                  <a:schemeClr val="tx1"/>
                </a:solidFill>
                <a:latin typeface="Times New Roman" panose="02020603050405020304" pitchFamily="18" charset="0"/>
                <a:cs typeface="Times New Roman" panose="02020603050405020304" pitchFamily="18" charset="0"/>
              </a:rPr>
              <a:t>）由</a:t>
            </a:r>
            <a:r>
              <a:rPr lang="zh-CN" altLang="en-US" sz="2200" dirty="0" smtClean="0">
                <a:solidFill>
                  <a:schemeClr val="tx1"/>
                </a:solidFill>
                <a:latin typeface="Times New Roman" panose="02020603050405020304" pitchFamily="18" charset="0"/>
                <a:cs typeface="Times New Roman" panose="02020603050405020304" pitchFamily="18" charset="0"/>
              </a:rPr>
              <a:t>式                   </a:t>
            </a:r>
            <a:r>
              <a:rPr lang="zh-CN" altLang="en-US" sz="2200" dirty="0">
                <a:solidFill>
                  <a:schemeClr val="tx1"/>
                </a:solidFill>
                <a:latin typeface="Times New Roman" panose="02020603050405020304" pitchFamily="18" charset="0"/>
                <a:cs typeface="Times New Roman" panose="02020603050405020304" pitchFamily="18" charset="0"/>
              </a:rPr>
              <a:t>可知，如果维持晶体管的集电极耗散功率</a:t>
            </a:r>
            <a:r>
              <a:rPr lang="en-US" altLang="zh-CN" sz="2200" dirty="0">
                <a:solidFill>
                  <a:schemeClr val="tx1"/>
                </a:solidFill>
                <a:latin typeface="Times New Roman" panose="02020603050405020304" pitchFamily="18" charset="0"/>
                <a:cs typeface="Times New Roman" panose="02020603050405020304" pitchFamily="18" charset="0"/>
              </a:rPr>
              <a:t>P</a:t>
            </a:r>
            <a:r>
              <a:rPr lang="en-US" altLang="zh-CN" sz="2200" baseline="-25000" dirty="0">
                <a:solidFill>
                  <a:schemeClr val="tx1"/>
                </a:solidFill>
                <a:latin typeface="Times New Roman" panose="02020603050405020304" pitchFamily="18" charset="0"/>
                <a:cs typeface="Times New Roman" panose="02020603050405020304" pitchFamily="18" charset="0"/>
              </a:rPr>
              <a:t>c</a:t>
            </a:r>
            <a:r>
              <a:rPr lang="zh-CN" altLang="en-US" sz="2200" dirty="0">
                <a:solidFill>
                  <a:schemeClr val="tx1"/>
                </a:solidFill>
                <a:latin typeface="Times New Roman" panose="02020603050405020304" pitchFamily="18" charset="0"/>
                <a:cs typeface="Times New Roman" panose="02020603050405020304" pitchFamily="18" charset="0"/>
              </a:rPr>
              <a:t>不超过规定值，那么提高集电极效率</a:t>
            </a:r>
            <a:r>
              <a:rPr lang="zh-CN" altLang="en-US" sz="220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200" baseline="-25000" dirty="0">
                <a:solidFill>
                  <a:schemeClr val="tx1"/>
                </a:solidFill>
                <a:latin typeface="Times New Roman" panose="02020603050405020304" pitchFamily="18" charset="0"/>
                <a:cs typeface="Times New Roman" panose="02020603050405020304" pitchFamily="18" charset="0"/>
              </a:rPr>
              <a:t>c</a:t>
            </a:r>
            <a:r>
              <a:rPr lang="zh-CN" altLang="en-US" sz="2200" dirty="0">
                <a:solidFill>
                  <a:schemeClr val="tx1"/>
                </a:solidFill>
                <a:latin typeface="Times New Roman" panose="02020603050405020304" pitchFamily="18" charset="0"/>
                <a:cs typeface="Times New Roman" panose="02020603050405020304" pitchFamily="18" charset="0"/>
              </a:rPr>
              <a:t>，将使交流输出功率</a:t>
            </a:r>
            <a:r>
              <a:rPr lang="en-US" altLang="zh-CN" sz="2200" dirty="0">
                <a:solidFill>
                  <a:schemeClr val="tx1"/>
                </a:solidFill>
                <a:latin typeface="Times New Roman" panose="02020603050405020304" pitchFamily="18" charset="0"/>
                <a:cs typeface="Times New Roman" panose="02020603050405020304" pitchFamily="18" charset="0"/>
              </a:rPr>
              <a:t>P</a:t>
            </a:r>
            <a:r>
              <a:rPr lang="en-US" altLang="zh-CN" sz="2200" baseline="-25000" dirty="0">
                <a:solidFill>
                  <a:schemeClr val="tx1"/>
                </a:solidFill>
                <a:latin typeface="Times New Roman" panose="02020603050405020304" pitchFamily="18" charset="0"/>
                <a:cs typeface="Times New Roman" panose="02020603050405020304" pitchFamily="18" charset="0"/>
              </a:rPr>
              <a:t>o</a:t>
            </a:r>
            <a:r>
              <a:rPr lang="zh-CN" altLang="en-US" sz="2200" dirty="0">
                <a:solidFill>
                  <a:schemeClr val="tx1"/>
                </a:solidFill>
                <a:latin typeface="Times New Roman" panose="02020603050405020304" pitchFamily="18" charset="0"/>
                <a:cs typeface="Times New Roman" panose="02020603050405020304" pitchFamily="18" charset="0"/>
              </a:rPr>
              <a:t>大为增加。谐振功率放大器就是从这方面入手，来提高输出功率与效率的。</a:t>
            </a:r>
          </a:p>
        </p:txBody>
      </p:sp>
      <p:graphicFrame>
        <p:nvGraphicFramePr>
          <p:cNvPr id="13" name="Object 8">
            <a:extLst>
              <a:ext uri="{FF2B5EF4-FFF2-40B4-BE49-F238E27FC236}">
                <a16:creationId xmlns="" xmlns:a16="http://schemas.microsoft.com/office/drawing/2014/main" id="{7EDB18B3-E071-DC0B-BE5F-B06E083B96A3}"/>
              </a:ext>
            </a:extLst>
          </p:cNvPr>
          <p:cNvGraphicFramePr>
            <a:graphicFrameLocks/>
          </p:cNvGraphicFramePr>
          <p:nvPr>
            <p:extLst>
              <p:ext uri="{D42A27DB-BD31-4B8C-83A1-F6EECF244321}">
                <p14:modId xmlns:p14="http://schemas.microsoft.com/office/powerpoint/2010/main" val="839215932"/>
              </p:ext>
            </p:extLst>
          </p:nvPr>
        </p:nvGraphicFramePr>
        <p:xfrm>
          <a:off x="1211580" y="5057603"/>
          <a:ext cx="1348740" cy="730966"/>
        </p:xfrm>
        <a:graphic>
          <a:graphicData uri="http://schemas.openxmlformats.org/presentationml/2006/ole">
            <mc:AlternateContent xmlns:mc="http://schemas.openxmlformats.org/markup-compatibility/2006">
              <mc:Choice xmlns:v="urn:schemas-microsoft-com:vml" Requires="v">
                <p:oleObj spid="_x0000_s81031" name="Equation" r:id="rId7" imgW="1206000" imgH="584280" progId="Equation.DSMT4">
                  <p:embed/>
                </p:oleObj>
              </mc:Choice>
              <mc:Fallback>
                <p:oleObj name="Equation" r:id="rId7" imgW="1206000" imgH="584280" progId="Equation.DSMT4">
                  <p:embed/>
                  <p:pic>
                    <p:nvPicPr>
                      <p:cNvPr id="0" name=""/>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11580" y="5057603"/>
                        <a:ext cx="1348740" cy="730966"/>
                      </a:xfrm>
                      <a:prstGeom prst="rect">
                        <a:avLst/>
                      </a:prstGeom>
                      <a:noFill/>
                      <a:ln>
                        <a:noFill/>
                      </a:ln>
                      <a:extLst/>
                    </p:spPr>
                  </p:pic>
                </p:oleObj>
              </mc:Fallback>
            </mc:AlternateContent>
          </a:graphicData>
        </a:graphic>
      </p:graphicFrame>
    </p:spTree>
    <p:extLst>
      <p:ext uri="{BB962C8B-B14F-4D97-AF65-F5344CB8AC3E}">
        <p14:creationId xmlns:p14="http://schemas.microsoft.com/office/powerpoint/2010/main" val="1500828010"/>
      </p:ext>
    </p:extLst>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114</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4.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谐振</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功率</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放大器</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Text Box 7">
            <a:extLst>
              <a:ext uri="{FF2B5EF4-FFF2-40B4-BE49-F238E27FC236}">
                <a16:creationId xmlns="" xmlns:a16="http://schemas.microsoft.com/office/drawing/2014/main" id="{9A22E282-EA2B-9A78-AE45-B056C18D8364}"/>
              </a:ext>
            </a:extLst>
          </p:cNvPr>
          <p:cNvSpPr txBox="1">
            <a:spLocks noChangeArrowheads="1"/>
          </p:cNvSpPr>
          <p:nvPr/>
        </p:nvSpPr>
        <p:spPr bwMode="auto">
          <a:xfrm>
            <a:off x="332619" y="3032909"/>
            <a:ext cx="14763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chemeClr val="tx1"/>
                </a:solidFill>
                <a:latin typeface="Times New Roman" panose="02020603050405020304" pitchFamily="18" charset="0"/>
                <a:cs typeface="Times New Roman" panose="02020603050405020304" pitchFamily="18" charset="0"/>
              </a:rPr>
              <a:t>直流功率：</a:t>
            </a:r>
          </a:p>
        </p:txBody>
      </p:sp>
      <p:graphicFrame>
        <p:nvGraphicFramePr>
          <p:cNvPr id="6" name="Object 8">
            <a:extLst>
              <a:ext uri="{FF2B5EF4-FFF2-40B4-BE49-F238E27FC236}">
                <a16:creationId xmlns="" xmlns:a16="http://schemas.microsoft.com/office/drawing/2014/main" id="{D9C11049-965B-9C8A-2678-BE7BE14C8015}"/>
              </a:ext>
            </a:extLst>
          </p:cNvPr>
          <p:cNvGraphicFramePr>
            <a:graphicFrameLocks/>
          </p:cNvGraphicFramePr>
          <p:nvPr>
            <p:extLst>
              <p:ext uri="{D42A27DB-BD31-4B8C-83A1-F6EECF244321}">
                <p14:modId xmlns:p14="http://schemas.microsoft.com/office/powerpoint/2010/main" val="3880603680"/>
              </p:ext>
            </p:extLst>
          </p:nvPr>
        </p:nvGraphicFramePr>
        <p:xfrm>
          <a:off x="1640719" y="2999572"/>
          <a:ext cx="1430338" cy="400050"/>
        </p:xfrm>
        <a:graphic>
          <a:graphicData uri="http://schemas.openxmlformats.org/presentationml/2006/ole">
            <mc:AlternateContent xmlns:mc="http://schemas.openxmlformats.org/markup-compatibility/2006">
              <mc:Choice xmlns:v="urn:schemas-microsoft-com:vml" Requires="v">
                <p:oleObj spid="_x0000_s82174" r:id="rId3" imgW="812520" imgH="203040" progId="Word.Document.8">
                  <p:embed/>
                </p:oleObj>
              </mc:Choice>
              <mc:Fallback>
                <p:oleObj r:id="rId3" imgW="812520" imgH="203040" progId="Word.Document.8">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40719" y="2999572"/>
                        <a:ext cx="14303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 name="Text Box 10">
            <a:extLst>
              <a:ext uri="{FF2B5EF4-FFF2-40B4-BE49-F238E27FC236}">
                <a16:creationId xmlns="" xmlns:a16="http://schemas.microsoft.com/office/drawing/2014/main" id="{AEC9E57D-C3B7-0FF4-3A2E-1274373E136D}"/>
              </a:ext>
            </a:extLst>
          </p:cNvPr>
          <p:cNvSpPr txBox="1">
            <a:spLocks noChangeArrowheads="1"/>
          </p:cNvSpPr>
          <p:nvPr/>
        </p:nvSpPr>
        <p:spPr bwMode="auto">
          <a:xfrm>
            <a:off x="3180594" y="3056722"/>
            <a:ext cx="19907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chemeClr val="tx1"/>
                </a:solidFill>
                <a:latin typeface="Times New Roman" panose="02020603050405020304" pitchFamily="18" charset="0"/>
                <a:cs typeface="Times New Roman" panose="02020603050405020304" pitchFamily="18" charset="0"/>
              </a:rPr>
              <a:t>输出交流功率：</a:t>
            </a:r>
          </a:p>
        </p:txBody>
      </p:sp>
      <p:graphicFrame>
        <p:nvGraphicFramePr>
          <p:cNvPr id="8" name="Object 11">
            <a:extLst>
              <a:ext uri="{FF2B5EF4-FFF2-40B4-BE49-F238E27FC236}">
                <a16:creationId xmlns="" xmlns:a16="http://schemas.microsoft.com/office/drawing/2014/main" id="{9C4D9DBD-5A60-1F64-E042-ED90572BD67B}"/>
              </a:ext>
            </a:extLst>
          </p:cNvPr>
          <p:cNvGraphicFramePr>
            <a:graphicFrameLocks/>
          </p:cNvGraphicFramePr>
          <p:nvPr>
            <p:extLst>
              <p:ext uri="{D42A27DB-BD31-4B8C-83A1-F6EECF244321}">
                <p14:modId xmlns:p14="http://schemas.microsoft.com/office/powerpoint/2010/main" val="269886292"/>
              </p:ext>
            </p:extLst>
          </p:nvPr>
        </p:nvGraphicFramePr>
        <p:xfrm>
          <a:off x="4901444" y="2880509"/>
          <a:ext cx="4154488" cy="811213"/>
        </p:xfrm>
        <a:graphic>
          <a:graphicData uri="http://schemas.openxmlformats.org/presentationml/2006/ole">
            <mc:AlternateContent xmlns:mc="http://schemas.openxmlformats.org/markup-compatibility/2006">
              <mc:Choice xmlns:v="urn:schemas-microsoft-com:vml" Requires="v">
                <p:oleObj spid="_x0000_s82175" r:id="rId5" imgW="2970360" imgH="533520" progId="Word.Document.8">
                  <p:embed/>
                </p:oleObj>
              </mc:Choice>
              <mc:Fallback>
                <p:oleObj r:id="rId5" imgW="2970360" imgH="533520" progId="Word.Document.8">
                  <p:embed/>
                  <p:pic>
                    <p:nvPicPr>
                      <p:cNvPr id="0" name=""/>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01444" y="2880509"/>
                        <a:ext cx="4154488" cy="811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 name="Text Box 12">
            <a:extLst>
              <a:ext uri="{FF2B5EF4-FFF2-40B4-BE49-F238E27FC236}">
                <a16:creationId xmlns="" xmlns:a16="http://schemas.microsoft.com/office/drawing/2014/main" id="{3E85BB50-2404-F71B-CC32-075CED23F4D8}"/>
              </a:ext>
            </a:extLst>
          </p:cNvPr>
          <p:cNvSpPr txBox="1">
            <a:spLocks noChangeArrowheads="1"/>
          </p:cNvSpPr>
          <p:nvPr/>
        </p:nvSpPr>
        <p:spPr bwMode="auto">
          <a:xfrm>
            <a:off x="317554" y="3521859"/>
            <a:ext cx="3318341"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000" dirty="0" err="1">
                <a:solidFill>
                  <a:schemeClr val="tx1"/>
                </a:solidFill>
                <a:latin typeface="Times New Roman" panose="02020603050405020304" pitchFamily="18" charset="0"/>
                <a:cs typeface="Times New Roman" panose="02020603050405020304" pitchFamily="18" charset="0"/>
              </a:rPr>
              <a:t>V</a:t>
            </a:r>
            <a:r>
              <a:rPr lang="en-US" altLang="zh-CN" sz="2000" baseline="-25000" dirty="0" err="1">
                <a:solidFill>
                  <a:schemeClr val="tx1"/>
                </a:solidFill>
                <a:latin typeface="Times New Roman" panose="02020603050405020304" pitchFamily="18" charset="0"/>
                <a:cs typeface="Times New Roman" panose="02020603050405020304" pitchFamily="18" charset="0"/>
              </a:rPr>
              <a:t>cm</a:t>
            </a:r>
            <a:r>
              <a:rPr lang="en-US" altLang="zh-CN" sz="2000" baseline="-25000" dirty="0">
                <a:solidFill>
                  <a:schemeClr val="tx1"/>
                </a:solidFill>
                <a:latin typeface="Times New Roman" panose="02020603050405020304" pitchFamily="18" charset="0"/>
                <a:cs typeface="Times New Roman" panose="02020603050405020304" pitchFamily="18" charset="0"/>
              </a:rPr>
              <a:t>  --- </a:t>
            </a:r>
            <a:r>
              <a:rPr lang="zh-CN" altLang="en-US" sz="2000" dirty="0">
                <a:solidFill>
                  <a:schemeClr val="tx1"/>
                </a:solidFill>
                <a:latin typeface="Times New Roman" panose="02020603050405020304" pitchFamily="18" charset="0"/>
                <a:cs typeface="Times New Roman" panose="02020603050405020304" pitchFamily="18" charset="0"/>
              </a:rPr>
              <a:t>回路两端的基频电压             </a:t>
            </a:r>
          </a:p>
          <a:p>
            <a:r>
              <a:rPr lang="en-US" altLang="zh-CN" sz="2000" dirty="0">
                <a:solidFill>
                  <a:schemeClr val="tx1"/>
                </a:solidFill>
                <a:latin typeface="Times New Roman" panose="02020603050405020304" pitchFamily="18" charset="0"/>
                <a:cs typeface="Times New Roman" panose="02020603050405020304" pitchFamily="18" charset="0"/>
              </a:rPr>
              <a:t>I</a:t>
            </a:r>
            <a:r>
              <a:rPr lang="en-US" altLang="zh-CN" sz="2000" baseline="-25000" dirty="0">
                <a:solidFill>
                  <a:schemeClr val="tx1"/>
                </a:solidFill>
                <a:latin typeface="Times New Roman" panose="02020603050405020304" pitchFamily="18" charset="0"/>
                <a:cs typeface="Times New Roman" panose="02020603050405020304" pitchFamily="18" charset="0"/>
              </a:rPr>
              <a:t>cm1 ----</a:t>
            </a:r>
            <a:r>
              <a:rPr lang="zh-CN" altLang="en-US" sz="2000" dirty="0">
                <a:solidFill>
                  <a:schemeClr val="tx1"/>
                </a:solidFill>
                <a:latin typeface="Times New Roman" panose="02020603050405020304" pitchFamily="18" charset="0"/>
                <a:cs typeface="Times New Roman" panose="02020603050405020304" pitchFamily="18" charset="0"/>
              </a:rPr>
              <a:t>基频电流</a:t>
            </a:r>
          </a:p>
          <a:p>
            <a:r>
              <a:rPr lang="en-US" altLang="zh-CN" sz="2000" dirty="0">
                <a:solidFill>
                  <a:schemeClr val="tx1"/>
                </a:solidFill>
                <a:latin typeface="Times New Roman" panose="02020603050405020304" pitchFamily="18" charset="0"/>
                <a:cs typeface="Times New Roman" panose="02020603050405020304" pitchFamily="18" charset="0"/>
              </a:rPr>
              <a:t>R</a:t>
            </a:r>
            <a:r>
              <a:rPr lang="en-US" altLang="zh-CN" sz="2000" baseline="-25000" dirty="0">
                <a:solidFill>
                  <a:schemeClr val="tx1"/>
                </a:solidFill>
                <a:latin typeface="Times New Roman" panose="02020603050405020304" pitchFamily="18" charset="0"/>
                <a:cs typeface="Times New Roman" panose="02020603050405020304" pitchFamily="18" charset="0"/>
              </a:rPr>
              <a:t>p  -----</a:t>
            </a:r>
            <a:r>
              <a:rPr lang="zh-CN" altLang="en-US" sz="2000" dirty="0">
                <a:solidFill>
                  <a:schemeClr val="tx1"/>
                </a:solidFill>
                <a:latin typeface="Times New Roman" panose="02020603050405020304" pitchFamily="18" charset="0"/>
                <a:cs typeface="Times New Roman" panose="02020603050405020304" pitchFamily="18" charset="0"/>
              </a:rPr>
              <a:t>回路的谐振阻抗                        </a:t>
            </a:r>
          </a:p>
        </p:txBody>
      </p:sp>
      <p:sp>
        <p:nvSpPr>
          <p:cNvPr id="10" name="Text Box 13">
            <a:extLst>
              <a:ext uri="{FF2B5EF4-FFF2-40B4-BE49-F238E27FC236}">
                <a16:creationId xmlns="" xmlns:a16="http://schemas.microsoft.com/office/drawing/2014/main" id="{F03F5FA6-17F2-707B-11CA-1E9E2A9BBB12}"/>
              </a:ext>
            </a:extLst>
          </p:cNvPr>
          <p:cNvSpPr txBox="1">
            <a:spLocks noChangeArrowheads="1"/>
          </p:cNvSpPr>
          <p:nvPr/>
        </p:nvSpPr>
        <p:spPr bwMode="auto">
          <a:xfrm>
            <a:off x="3532224" y="3502217"/>
            <a:ext cx="291198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000" dirty="0">
                <a:solidFill>
                  <a:schemeClr val="accent2"/>
                </a:solidFill>
                <a:latin typeface="Times New Roman" panose="02020603050405020304" pitchFamily="18" charset="0"/>
                <a:cs typeface="Times New Roman" panose="02020603050405020304" pitchFamily="18" charset="0"/>
              </a:rPr>
              <a:t>放大器的集电极效率：</a:t>
            </a:r>
          </a:p>
        </p:txBody>
      </p:sp>
      <p:graphicFrame>
        <p:nvGraphicFramePr>
          <p:cNvPr id="11" name="Object 14">
            <a:extLst>
              <a:ext uri="{FF2B5EF4-FFF2-40B4-BE49-F238E27FC236}">
                <a16:creationId xmlns="" xmlns:a16="http://schemas.microsoft.com/office/drawing/2014/main" id="{6FAD060B-DC08-A8B8-458B-4C700F776D69}"/>
              </a:ext>
            </a:extLst>
          </p:cNvPr>
          <p:cNvGraphicFramePr>
            <a:graphicFrameLocks/>
          </p:cNvGraphicFramePr>
          <p:nvPr>
            <p:extLst>
              <p:ext uri="{D42A27DB-BD31-4B8C-83A1-F6EECF244321}">
                <p14:modId xmlns:p14="http://schemas.microsoft.com/office/powerpoint/2010/main" val="2206208626"/>
              </p:ext>
            </p:extLst>
          </p:nvPr>
        </p:nvGraphicFramePr>
        <p:xfrm>
          <a:off x="4788210" y="3947772"/>
          <a:ext cx="3898900" cy="1081087"/>
        </p:xfrm>
        <a:graphic>
          <a:graphicData uri="http://schemas.openxmlformats.org/presentationml/2006/ole">
            <mc:AlternateContent xmlns:mc="http://schemas.openxmlformats.org/markup-compatibility/2006">
              <mc:Choice xmlns:v="urn:schemas-microsoft-com:vml" Requires="v">
                <p:oleObj spid="_x0000_s82176" r:id="rId7" imgW="2665800" imgH="736560" progId="Equation.3">
                  <p:embed/>
                </p:oleObj>
              </mc:Choice>
              <mc:Fallback>
                <p:oleObj r:id="rId7" imgW="2665800" imgH="736560" progId="Equation.3">
                  <p:embed/>
                  <p:pic>
                    <p:nvPicPr>
                      <p:cNvPr id="0" name=""/>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788210" y="3947772"/>
                        <a:ext cx="3898900" cy="1081087"/>
                      </a:xfrm>
                      <a:prstGeom prst="rect">
                        <a:avLst/>
                      </a:prstGeom>
                      <a:noFill/>
                      <a:ln w="9525">
                        <a:solidFill>
                          <a:srgbClr val="0070C0"/>
                        </a:solidFill>
                        <a:prstDash val="lgDash"/>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 name="Object 15">
            <a:extLst>
              <a:ext uri="{FF2B5EF4-FFF2-40B4-BE49-F238E27FC236}">
                <a16:creationId xmlns="" xmlns:a16="http://schemas.microsoft.com/office/drawing/2014/main" id="{F1A26B4B-CF90-FFDA-C138-DD8906695235}"/>
              </a:ext>
            </a:extLst>
          </p:cNvPr>
          <p:cNvGraphicFramePr>
            <a:graphicFrameLocks/>
          </p:cNvGraphicFramePr>
          <p:nvPr>
            <p:extLst>
              <p:ext uri="{D42A27DB-BD31-4B8C-83A1-F6EECF244321}">
                <p14:modId xmlns:p14="http://schemas.microsoft.com/office/powerpoint/2010/main" val="4273085341"/>
              </p:ext>
            </p:extLst>
          </p:nvPr>
        </p:nvGraphicFramePr>
        <p:xfrm>
          <a:off x="3148498" y="4814616"/>
          <a:ext cx="931862" cy="666750"/>
        </p:xfrm>
        <a:graphic>
          <a:graphicData uri="http://schemas.openxmlformats.org/presentationml/2006/ole">
            <mc:AlternateContent xmlns:mc="http://schemas.openxmlformats.org/markup-compatibility/2006">
              <mc:Choice xmlns:v="urn:schemas-microsoft-com:vml" Requires="v">
                <p:oleObj spid="_x0000_s82177" r:id="rId9" imgW="647280" imgH="507960" progId="Equation.3">
                  <p:embed/>
                </p:oleObj>
              </mc:Choice>
              <mc:Fallback>
                <p:oleObj r:id="rId9" imgW="647280" imgH="507960" progId="Equation.3">
                  <p:embed/>
                  <p:pic>
                    <p:nvPicPr>
                      <p:cNvPr id="0" name=""/>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148498" y="4814616"/>
                        <a:ext cx="931862"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3" name="Object 16">
            <a:extLst>
              <a:ext uri="{FF2B5EF4-FFF2-40B4-BE49-F238E27FC236}">
                <a16:creationId xmlns="" xmlns:a16="http://schemas.microsoft.com/office/drawing/2014/main" id="{345850AA-DA19-586D-19AC-A98857D2A6BE}"/>
              </a:ext>
            </a:extLst>
          </p:cNvPr>
          <p:cNvGraphicFramePr>
            <a:graphicFrameLocks/>
          </p:cNvGraphicFramePr>
          <p:nvPr>
            <p:extLst>
              <p:ext uri="{D42A27DB-BD31-4B8C-83A1-F6EECF244321}">
                <p14:modId xmlns:p14="http://schemas.microsoft.com/office/powerpoint/2010/main" val="989537504"/>
              </p:ext>
            </p:extLst>
          </p:nvPr>
        </p:nvGraphicFramePr>
        <p:xfrm>
          <a:off x="1624806" y="5638412"/>
          <a:ext cx="1512888" cy="803275"/>
        </p:xfrm>
        <a:graphic>
          <a:graphicData uri="http://schemas.openxmlformats.org/presentationml/2006/ole">
            <mc:AlternateContent xmlns:mc="http://schemas.openxmlformats.org/markup-compatibility/2006">
              <mc:Choice xmlns:v="urn:schemas-microsoft-com:vml" Requires="v">
                <p:oleObj spid="_x0000_s82178" r:id="rId11" imgW="1015560" imgH="507960" progId="Equation.3">
                  <p:embed/>
                </p:oleObj>
              </mc:Choice>
              <mc:Fallback>
                <p:oleObj r:id="rId11" imgW="1015560" imgH="507960" progId="Equation.3">
                  <p:embed/>
                  <p:pic>
                    <p:nvPicPr>
                      <p:cNvPr id="0" name=""/>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624806" y="5638412"/>
                        <a:ext cx="1512888" cy="803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4" name="Text Box 17">
            <a:extLst>
              <a:ext uri="{FF2B5EF4-FFF2-40B4-BE49-F238E27FC236}">
                <a16:creationId xmlns="" xmlns:a16="http://schemas.microsoft.com/office/drawing/2014/main" id="{21A67CF3-5E89-9CA1-9EE3-69B33B4653EB}"/>
              </a:ext>
            </a:extLst>
          </p:cNvPr>
          <p:cNvSpPr txBox="1">
            <a:spLocks noChangeArrowheads="1"/>
          </p:cNvSpPr>
          <p:nvPr/>
        </p:nvSpPr>
        <p:spPr bwMode="auto">
          <a:xfrm>
            <a:off x="317554" y="4934290"/>
            <a:ext cx="340042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000" dirty="0">
                <a:solidFill>
                  <a:schemeClr val="accent2"/>
                </a:solidFill>
                <a:latin typeface="Times New Roman" panose="02020603050405020304" pitchFamily="18" charset="0"/>
                <a:cs typeface="Times New Roman" panose="02020603050405020304" pitchFamily="18" charset="0"/>
              </a:rPr>
              <a:t>集电极电压利用系数</a:t>
            </a:r>
            <a:r>
              <a:rPr lang="en-US" altLang="zh-CN" sz="2000" dirty="0">
                <a:solidFill>
                  <a:schemeClr val="accent2"/>
                </a:solidFill>
                <a:latin typeface="Times New Roman" panose="02020603050405020304" pitchFamily="18" charset="0"/>
                <a:cs typeface="Times New Roman" panose="02020603050405020304" pitchFamily="18" charset="0"/>
              </a:rPr>
              <a:t>:</a:t>
            </a:r>
          </a:p>
        </p:txBody>
      </p:sp>
      <p:sp>
        <p:nvSpPr>
          <p:cNvPr id="15" name="Text Box 18">
            <a:extLst>
              <a:ext uri="{FF2B5EF4-FFF2-40B4-BE49-F238E27FC236}">
                <a16:creationId xmlns="" xmlns:a16="http://schemas.microsoft.com/office/drawing/2014/main" id="{00A029EF-ECF7-D4E2-E9EC-6BF1848741B1}"/>
              </a:ext>
            </a:extLst>
          </p:cNvPr>
          <p:cNvSpPr txBox="1">
            <a:spLocks noChangeArrowheads="1"/>
          </p:cNvSpPr>
          <p:nvPr/>
        </p:nvSpPr>
        <p:spPr bwMode="auto">
          <a:xfrm>
            <a:off x="3342481" y="5825737"/>
            <a:ext cx="415851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chemeClr val="tx1"/>
                </a:solidFill>
                <a:latin typeface="Times New Roman" panose="02020603050405020304" pitchFamily="18" charset="0"/>
                <a:cs typeface="Times New Roman" panose="02020603050405020304" pitchFamily="18" charset="0"/>
              </a:rPr>
              <a:t>为通角</a:t>
            </a:r>
            <a:r>
              <a:rPr lang="zh-CN" altLang="en-US" sz="200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000" baseline="-25000" dirty="0">
                <a:solidFill>
                  <a:schemeClr val="tx1"/>
                </a:solidFill>
                <a:latin typeface="Times New Roman" panose="02020603050405020304" pitchFamily="18" charset="0"/>
                <a:cs typeface="Times New Roman" panose="02020603050405020304" pitchFamily="18" charset="0"/>
              </a:rPr>
              <a:t>c</a:t>
            </a:r>
            <a:r>
              <a:rPr lang="zh-CN" altLang="en-US" sz="2000" dirty="0">
                <a:solidFill>
                  <a:schemeClr val="tx1"/>
                </a:solidFill>
                <a:latin typeface="Times New Roman" panose="02020603050405020304" pitchFamily="18" charset="0"/>
                <a:cs typeface="Times New Roman" panose="02020603050405020304" pitchFamily="18" charset="0"/>
              </a:rPr>
              <a:t>的函数；</a:t>
            </a:r>
            <a:r>
              <a:rPr lang="zh-CN" altLang="en-US" sz="200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000" baseline="-25000" dirty="0">
                <a:solidFill>
                  <a:schemeClr val="tx1"/>
                </a:solidFill>
                <a:latin typeface="Times New Roman" panose="02020603050405020304" pitchFamily="18" charset="0"/>
                <a:cs typeface="Times New Roman" panose="02020603050405020304" pitchFamily="18" charset="0"/>
              </a:rPr>
              <a:t>c</a:t>
            </a:r>
            <a:r>
              <a:rPr lang="zh-CN" altLang="en-US" sz="2000" dirty="0">
                <a:solidFill>
                  <a:schemeClr val="tx1"/>
                </a:solidFill>
                <a:latin typeface="Times New Roman" panose="02020603050405020304" pitchFamily="18" charset="0"/>
                <a:cs typeface="Times New Roman" panose="02020603050405020304" pitchFamily="18" charset="0"/>
              </a:rPr>
              <a:t>越小</a:t>
            </a:r>
            <a:r>
              <a:rPr lang="en-US" altLang="zh-CN" sz="2000" dirty="0">
                <a:solidFill>
                  <a:schemeClr val="tx1"/>
                </a:solidFill>
                <a:latin typeface="Times New Roman" panose="02020603050405020304" pitchFamily="18" charset="0"/>
                <a:cs typeface="Times New Roman" panose="02020603050405020304" pitchFamily="18" charset="0"/>
              </a:rPr>
              <a:t>g</a:t>
            </a:r>
            <a:r>
              <a:rPr lang="en-US" altLang="zh-CN" sz="2000" baseline="-25000" dirty="0">
                <a:solidFill>
                  <a:schemeClr val="tx1"/>
                </a:solidFill>
                <a:latin typeface="Times New Roman" panose="02020603050405020304" pitchFamily="18" charset="0"/>
                <a:cs typeface="Times New Roman" panose="02020603050405020304" pitchFamily="18" charset="0"/>
              </a:rPr>
              <a:t>1</a:t>
            </a:r>
            <a:r>
              <a:rPr lang="en-US" altLang="zh-CN" sz="2000" dirty="0">
                <a:solidFill>
                  <a:schemeClr val="tx1"/>
                </a:solidFill>
                <a:latin typeface="Times New Roman" panose="02020603050405020304" pitchFamily="18" charset="0"/>
                <a:cs typeface="Times New Roman" panose="02020603050405020304" pitchFamily="18" charset="0"/>
              </a:rPr>
              <a:t>(</a:t>
            </a:r>
            <a:r>
              <a:rPr lang="en-US" altLang="zh-CN" sz="200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000" baseline="-25000" dirty="0">
                <a:solidFill>
                  <a:schemeClr val="tx1"/>
                </a:solidFill>
                <a:latin typeface="Times New Roman" panose="02020603050405020304" pitchFamily="18" charset="0"/>
                <a:cs typeface="Times New Roman" panose="02020603050405020304" pitchFamily="18" charset="0"/>
              </a:rPr>
              <a:t>c</a:t>
            </a:r>
            <a:r>
              <a:rPr lang="en-US" altLang="zh-CN" sz="2000" dirty="0">
                <a:solidFill>
                  <a:schemeClr val="tx1"/>
                </a:solidFill>
                <a:latin typeface="Times New Roman" panose="02020603050405020304" pitchFamily="18" charset="0"/>
                <a:cs typeface="Times New Roman" panose="02020603050405020304" pitchFamily="18" charset="0"/>
              </a:rPr>
              <a:t>)</a:t>
            </a:r>
            <a:r>
              <a:rPr lang="zh-CN" altLang="en-US" sz="2000" dirty="0">
                <a:solidFill>
                  <a:schemeClr val="tx1"/>
                </a:solidFill>
                <a:latin typeface="Times New Roman" panose="02020603050405020304" pitchFamily="18" charset="0"/>
                <a:cs typeface="Times New Roman" panose="02020603050405020304" pitchFamily="18" charset="0"/>
              </a:rPr>
              <a:t>越大</a:t>
            </a:r>
          </a:p>
        </p:txBody>
      </p:sp>
      <p:sp>
        <p:nvSpPr>
          <p:cNvPr id="16" name="Rectangle 19">
            <a:extLst>
              <a:ext uri="{FF2B5EF4-FFF2-40B4-BE49-F238E27FC236}">
                <a16:creationId xmlns="" xmlns:a16="http://schemas.microsoft.com/office/drawing/2014/main" id="{AB6C0E2F-4236-A49D-25D1-924D785FF06F}"/>
              </a:ext>
            </a:extLst>
          </p:cNvPr>
          <p:cNvSpPr>
            <a:spLocks noChangeArrowheads="1"/>
          </p:cNvSpPr>
          <p:nvPr/>
        </p:nvSpPr>
        <p:spPr bwMode="auto">
          <a:xfrm>
            <a:off x="323056" y="5840025"/>
            <a:ext cx="128112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chemeClr val="tx1"/>
                </a:solidFill>
                <a:latin typeface="Times New Roman" panose="02020603050405020304" pitchFamily="18" charset="0"/>
                <a:cs typeface="Times New Roman" panose="02020603050405020304" pitchFamily="18" charset="0"/>
              </a:rPr>
              <a:t>波形系数</a:t>
            </a:r>
            <a:r>
              <a:rPr lang="en-US" altLang="zh-CN" sz="2000" dirty="0">
                <a:solidFill>
                  <a:schemeClr val="tx1"/>
                </a:solidFill>
                <a:latin typeface="Times New Roman" panose="02020603050405020304" pitchFamily="18" charset="0"/>
                <a:cs typeface="Times New Roman" panose="02020603050405020304" pitchFamily="18" charset="0"/>
              </a:rPr>
              <a:t>:</a:t>
            </a:r>
          </a:p>
        </p:txBody>
      </p:sp>
      <p:sp>
        <p:nvSpPr>
          <p:cNvPr id="17" name="Text Box 10">
            <a:extLst>
              <a:ext uri="{FF2B5EF4-FFF2-40B4-BE49-F238E27FC236}">
                <a16:creationId xmlns="" xmlns:a16="http://schemas.microsoft.com/office/drawing/2014/main" id="{362D799A-081A-E80D-D6A8-B7E55A2BBC76}"/>
              </a:ext>
            </a:extLst>
          </p:cNvPr>
          <p:cNvSpPr txBox="1">
            <a:spLocks noChangeArrowheads="1"/>
          </p:cNvSpPr>
          <p:nvPr/>
        </p:nvSpPr>
        <p:spPr bwMode="auto">
          <a:xfrm>
            <a:off x="317554" y="1616597"/>
            <a:ext cx="8367713"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000" dirty="0">
                <a:solidFill>
                  <a:schemeClr val="accent2"/>
                </a:solidFill>
                <a:latin typeface="Times New Roman" panose="02020603050405020304" pitchFamily="18" charset="0"/>
                <a:cs typeface="Times New Roman" panose="02020603050405020304" pitchFamily="18" charset="0"/>
              </a:rPr>
              <a:t>　　谐振功率放大器工作在丙类工作状态时</a:t>
            </a:r>
            <a:r>
              <a:rPr lang="zh-CN" altLang="en-US" sz="2000" dirty="0">
                <a:solidFill>
                  <a:schemeClr val="accent2"/>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000" baseline="-25000" dirty="0">
                <a:solidFill>
                  <a:schemeClr val="accent2"/>
                </a:solidFill>
                <a:latin typeface="Times New Roman" panose="02020603050405020304" pitchFamily="18" charset="0"/>
                <a:cs typeface="Times New Roman" panose="02020603050405020304" pitchFamily="18" charset="0"/>
              </a:rPr>
              <a:t>c</a:t>
            </a:r>
            <a:r>
              <a:rPr lang="zh-CN" altLang="en-US" sz="2000" dirty="0">
                <a:solidFill>
                  <a:schemeClr val="accent2"/>
                </a:solidFill>
                <a:latin typeface="Times New Roman" panose="02020603050405020304" pitchFamily="18" charset="0"/>
                <a:cs typeface="Times New Roman" panose="02020603050405020304" pitchFamily="18" charset="0"/>
              </a:rPr>
              <a:t>＜</a:t>
            </a:r>
            <a:r>
              <a:rPr lang="en-US" altLang="zh-CN" sz="2000" dirty="0">
                <a:solidFill>
                  <a:schemeClr val="accent2"/>
                </a:solidFill>
                <a:latin typeface="Times New Roman" panose="02020603050405020304" pitchFamily="18" charset="0"/>
                <a:cs typeface="Times New Roman" panose="02020603050405020304" pitchFamily="18" charset="0"/>
              </a:rPr>
              <a:t>90</a:t>
            </a:r>
            <a:r>
              <a:rPr lang="en-US" altLang="zh-CN" sz="2000" dirty="0">
                <a:solidFill>
                  <a:schemeClr val="accent2"/>
                </a:solidFill>
                <a:latin typeface="Times New Roman" panose="02020603050405020304" pitchFamily="18" charset="0"/>
                <a:cs typeface="Times New Roman" panose="02020603050405020304" pitchFamily="18" charset="0"/>
                <a:sym typeface="Symbol" panose="05050102010706020507" pitchFamily="18" charset="2"/>
              </a:rPr>
              <a:t></a:t>
            </a:r>
            <a:r>
              <a:rPr lang="zh-CN" altLang="en-US" sz="2000" dirty="0">
                <a:solidFill>
                  <a:schemeClr val="accent2"/>
                </a:solidFill>
                <a:latin typeface="Times New Roman" panose="02020603050405020304" pitchFamily="18" charset="0"/>
                <a:cs typeface="Times New Roman" panose="02020603050405020304" pitchFamily="18" charset="0"/>
              </a:rPr>
              <a:t>，集电极余弦电流脉冲可分解为傅里叶级数：</a:t>
            </a:r>
          </a:p>
        </p:txBody>
      </p:sp>
      <p:graphicFrame>
        <p:nvGraphicFramePr>
          <p:cNvPr id="18" name="Object 11">
            <a:extLst>
              <a:ext uri="{FF2B5EF4-FFF2-40B4-BE49-F238E27FC236}">
                <a16:creationId xmlns="" xmlns:a16="http://schemas.microsoft.com/office/drawing/2014/main" id="{857C45AB-B998-6054-AFD3-9571130278D1}"/>
              </a:ext>
            </a:extLst>
          </p:cNvPr>
          <p:cNvGraphicFramePr>
            <a:graphicFrameLocks/>
          </p:cNvGraphicFramePr>
          <p:nvPr>
            <p:extLst>
              <p:ext uri="{D42A27DB-BD31-4B8C-83A1-F6EECF244321}">
                <p14:modId xmlns:p14="http://schemas.microsoft.com/office/powerpoint/2010/main" val="3368144670"/>
              </p:ext>
            </p:extLst>
          </p:nvPr>
        </p:nvGraphicFramePr>
        <p:xfrm>
          <a:off x="1093788" y="2310860"/>
          <a:ext cx="6769100" cy="509588"/>
        </p:xfrm>
        <a:graphic>
          <a:graphicData uri="http://schemas.openxmlformats.org/presentationml/2006/ole">
            <mc:AlternateContent xmlns:mc="http://schemas.openxmlformats.org/markup-compatibility/2006">
              <mc:Choice xmlns:v="urn:schemas-microsoft-com:vml" Requires="v">
                <p:oleObj spid="_x0000_s82179" r:id="rId13" imgW="3338280" imgH="203040" progId="Word.Document.8">
                  <p:embed/>
                </p:oleObj>
              </mc:Choice>
              <mc:Fallback>
                <p:oleObj r:id="rId13" imgW="3338280" imgH="203040" progId="Word.Document.8">
                  <p:embed/>
                  <p:pic>
                    <p:nvPicPr>
                      <p:cNvPr id="0" name=""/>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093788" y="2310860"/>
                        <a:ext cx="6769100" cy="509588"/>
                      </a:xfrm>
                      <a:prstGeom prst="rect">
                        <a:avLst/>
                      </a:prstGeom>
                      <a:noFill/>
                      <a:ln w="15875">
                        <a:solidFill>
                          <a:srgbClr val="FF66FF"/>
                        </a:solidFill>
                        <a:prstDash val="lgDashDot"/>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 name="矩形 15376">
            <a:extLst>
              <a:ext uri="{FF2B5EF4-FFF2-40B4-BE49-F238E27FC236}">
                <a16:creationId xmlns="" xmlns:a16="http://schemas.microsoft.com/office/drawing/2014/main" id="{7C70C447-E0E8-5C9E-A6D1-EEA37163E9BA}"/>
              </a:ext>
            </a:extLst>
          </p:cNvPr>
          <p:cNvSpPr>
            <a:spLocks noChangeArrowheads="1"/>
          </p:cNvSpPr>
          <p:nvPr/>
        </p:nvSpPr>
        <p:spPr bwMode="auto">
          <a:xfrm>
            <a:off x="1741184" y="1116873"/>
            <a:ext cx="575349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dirty="0">
                <a:solidFill>
                  <a:srgbClr val="FF0000"/>
                </a:solidFill>
                <a:latin typeface="Times New Roman" panose="02020603050405020304" pitchFamily="18" charset="0"/>
                <a:cs typeface="Times New Roman" panose="02020603050405020304" pitchFamily="18" charset="0"/>
              </a:rPr>
              <a:t>谐振功率放大器的功率关系和效率表达式</a:t>
            </a:r>
          </a:p>
        </p:txBody>
      </p:sp>
    </p:spTree>
    <p:extLst>
      <p:ext uri="{BB962C8B-B14F-4D97-AF65-F5344CB8AC3E}">
        <p14:creationId xmlns:p14="http://schemas.microsoft.com/office/powerpoint/2010/main" val="937428086"/>
      </p:ext>
    </p:extLst>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115</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4.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谐振</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功率</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放大器</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5" name="Picture 2">
            <a:extLst>
              <a:ext uri="{FF2B5EF4-FFF2-40B4-BE49-F238E27FC236}">
                <a16:creationId xmlns="" xmlns:a16="http://schemas.microsoft.com/office/drawing/2014/main" id="{8116100E-2DB9-8E58-D91C-E251B62551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3578" y="2385305"/>
            <a:ext cx="4162425" cy="3678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a:extLst>
              <a:ext uri="{FF2B5EF4-FFF2-40B4-BE49-F238E27FC236}">
                <a16:creationId xmlns="" xmlns:a16="http://schemas.microsoft.com/office/drawing/2014/main" id="{559D3EE7-A6B3-152B-2DB5-808BFBE46B23}"/>
              </a:ext>
            </a:extLst>
          </p:cNvPr>
          <p:cNvSpPr>
            <a:spLocks noChangeArrowheads="1"/>
          </p:cNvSpPr>
          <p:nvPr/>
        </p:nvSpPr>
        <p:spPr bwMode="auto">
          <a:xfrm>
            <a:off x="218627" y="1540535"/>
            <a:ext cx="483016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buFontTx/>
              <a:buNone/>
            </a:pPr>
            <a:r>
              <a:rPr lang="zh-CN" altLang="en-US" sz="2000" dirty="0">
                <a:solidFill>
                  <a:schemeClr val="accent2"/>
                </a:solidFill>
                <a:latin typeface="+mn-ea"/>
                <a:ea typeface="+mn-ea"/>
              </a:rPr>
              <a:t>一、晶体管特性曲线的理想化及其解析式</a:t>
            </a:r>
          </a:p>
        </p:txBody>
      </p:sp>
      <p:sp>
        <p:nvSpPr>
          <p:cNvPr id="7" name="Rectangle 6">
            <a:extLst>
              <a:ext uri="{FF2B5EF4-FFF2-40B4-BE49-F238E27FC236}">
                <a16:creationId xmlns="" xmlns:a16="http://schemas.microsoft.com/office/drawing/2014/main" id="{C8AA9767-908C-A73A-B4D4-7B700C7C36A4}"/>
              </a:ext>
            </a:extLst>
          </p:cNvPr>
          <p:cNvSpPr>
            <a:spLocks noChangeArrowheads="1"/>
          </p:cNvSpPr>
          <p:nvPr/>
        </p:nvSpPr>
        <p:spPr bwMode="auto">
          <a:xfrm>
            <a:off x="202752" y="1932863"/>
            <a:ext cx="474662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buFontTx/>
              <a:buNone/>
            </a:pPr>
            <a:r>
              <a:rPr lang="en-US" altLang="zh-CN" sz="2000" dirty="0">
                <a:solidFill>
                  <a:srgbClr val="000000"/>
                </a:solidFill>
                <a:latin typeface="+mn-ea"/>
                <a:ea typeface="+mn-ea"/>
              </a:rPr>
              <a:t>1. </a:t>
            </a:r>
            <a:r>
              <a:rPr lang="zh-CN" altLang="en-US" sz="2000" dirty="0">
                <a:solidFill>
                  <a:srgbClr val="000000"/>
                </a:solidFill>
                <a:latin typeface="+mn-ea"/>
                <a:ea typeface="+mn-ea"/>
              </a:rPr>
              <a:t>转移特性曲线（</a:t>
            </a:r>
            <a:r>
              <a:rPr lang="zh-CN" altLang="en-US" sz="2000" dirty="0">
                <a:solidFill>
                  <a:schemeClr val="accent2"/>
                </a:solidFill>
                <a:latin typeface="+mn-ea"/>
                <a:ea typeface="+mn-ea"/>
              </a:rPr>
              <a:t>正向传输特性曲线</a:t>
            </a:r>
            <a:r>
              <a:rPr lang="en-US" altLang="zh-CN" sz="2000" dirty="0">
                <a:solidFill>
                  <a:srgbClr val="000000"/>
                </a:solidFill>
                <a:latin typeface="+mn-ea"/>
                <a:ea typeface="+mn-ea"/>
              </a:rPr>
              <a:t>)</a:t>
            </a:r>
          </a:p>
        </p:txBody>
      </p:sp>
      <p:sp>
        <p:nvSpPr>
          <p:cNvPr id="8" name="Line 7">
            <a:extLst>
              <a:ext uri="{FF2B5EF4-FFF2-40B4-BE49-F238E27FC236}">
                <a16:creationId xmlns="" xmlns:a16="http://schemas.microsoft.com/office/drawing/2014/main" id="{A0F5E7B2-C6F5-953D-C728-509055DDE8BA}"/>
              </a:ext>
            </a:extLst>
          </p:cNvPr>
          <p:cNvSpPr>
            <a:spLocks noChangeShapeType="1"/>
          </p:cNvSpPr>
          <p:nvPr/>
        </p:nvSpPr>
        <p:spPr bwMode="auto">
          <a:xfrm flipH="1">
            <a:off x="2731640" y="2761542"/>
            <a:ext cx="1365250" cy="2757488"/>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sz="2000">
              <a:latin typeface="+mn-ea"/>
              <a:ea typeface="+mn-ea"/>
            </a:endParaRPr>
          </a:p>
        </p:txBody>
      </p:sp>
      <p:sp>
        <p:nvSpPr>
          <p:cNvPr id="9" name="Line 8">
            <a:extLst>
              <a:ext uri="{FF2B5EF4-FFF2-40B4-BE49-F238E27FC236}">
                <a16:creationId xmlns="" xmlns:a16="http://schemas.microsoft.com/office/drawing/2014/main" id="{6DC00E8A-3842-A06C-1E1D-F089BC8CC617}"/>
              </a:ext>
            </a:extLst>
          </p:cNvPr>
          <p:cNvSpPr>
            <a:spLocks noChangeShapeType="1"/>
          </p:cNvSpPr>
          <p:nvPr/>
        </p:nvSpPr>
        <p:spPr bwMode="auto">
          <a:xfrm>
            <a:off x="680590" y="5504742"/>
            <a:ext cx="2044700" cy="0"/>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sz="2000">
              <a:latin typeface="+mn-ea"/>
              <a:ea typeface="+mn-ea"/>
            </a:endParaRPr>
          </a:p>
        </p:txBody>
      </p:sp>
      <p:grpSp>
        <p:nvGrpSpPr>
          <p:cNvPr id="10" name="Group 9">
            <a:extLst>
              <a:ext uri="{FF2B5EF4-FFF2-40B4-BE49-F238E27FC236}">
                <a16:creationId xmlns="" xmlns:a16="http://schemas.microsoft.com/office/drawing/2014/main" id="{1823F364-1311-211B-F1A0-211255AAF179}"/>
              </a:ext>
            </a:extLst>
          </p:cNvPr>
          <p:cNvGrpSpPr>
            <a:grpSpLocks/>
          </p:cNvGrpSpPr>
          <p:nvPr/>
        </p:nvGrpSpPr>
        <p:grpSpPr bwMode="auto">
          <a:xfrm>
            <a:off x="1988690" y="4425242"/>
            <a:ext cx="698500" cy="863600"/>
            <a:chOff x="1336" y="3112"/>
            <a:chExt cx="440" cy="544"/>
          </a:xfrm>
        </p:grpSpPr>
        <p:sp>
          <p:nvSpPr>
            <p:cNvPr id="11" name="Line 10">
              <a:extLst>
                <a:ext uri="{FF2B5EF4-FFF2-40B4-BE49-F238E27FC236}">
                  <a16:creationId xmlns="" xmlns:a16="http://schemas.microsoft.com/office/drawing/2014/main" id="{48DE1BC3-61E2-1A3C-D67F-C57D0750942D}"/>
                </a:ext>
              </a:extLst>
            </p:cNvPr>
            <p:cNvSpPr>
              <a:spLocks noChangeShapeType="1"/>
            </p:cNvSpPr>
            <p:nvPr/>
          </p:nvSpPr>
          <p:spPr bwMode="auto">
            <a:xfrm>
              <a:off x="1496" y="3384"/>
              <a:ext cx="216" cy="272"/>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000">
                <a:latin typeface="+mn-ea"/>
                <a:ea typeface="+mn-ea"/>
              </a:endParaRPr>
            </a:p>
          </p:txBody>
        </p:sp>
        <p:sp>
          <p:nvSpPr>
            <p:cNvPr id="12" name="Text Box 11">
              <a:extLst>
                <a:ext uri="{FF2B5EF4-FFF2-40B4-BE49-F238E27FC236}">
                  <a16:creationId xmlns="" xmlns:a16="http://schemas.microsoft.com/office/drawing/2014/main" id="{792E685F-3E1F-BFB6-284A-F2F402EDE517}"/>
                </a:ext>
              </a:extLst>
            </p:cNvPr>
            <p:cNvSpPr txBox="1">
              <a:spLocks noChangeArrowheads="1"/>
            </p:cNvSpPr>
            <p:nvPr/>
          </p:nvSpPr>
          <p:spPr bwMode="auto">
            <a:xfrm>
              <a:off x="1336" y="3112"/>
              <a:ext cx="44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t">
                <a:spcBef>
                  <a:spcPct val="50000"/>
                </a:spcBef>
                <a:buFontTx/>
                <a:buNone/>
              </a:pPr>
              <a:r>
                <a:rPr lang="zh-CN" altLang="en-US" sz="2000">
                  <a:solidFill>
                    <a:srgbClr val="000000"/>
                  </a:solidFill>
                  <a:latin typeface="+mn-ea"/>
                  <a:ea typeface="+mn-ea"/>
                </a:rPr>
                <a:t>实际</a:t>
              </a:r>
            </a:p>
          </p:txBody>
        </p:sp>
      </p:grpSp>
      <p:grpSp>
        <p:nvGrpSpPr>
          <p:cNvPr id="13" name="Group 12">
            <a:extLst>
              <a:ext uri="{FF2B5EF4-FFF2-40B4-BE49-F238E27FC236}">
                <a16:creationId xmlns="" xmlns:a16="http://schemas.microsoft.com/office/drawing/2014/main" id="{A11D5E28-FEC6-93D3-3C5B-5C3705C1388E}"/>
              </a:ext>
            </a:extLst>
          </p:cNvPr>
          <p:cNvGrpSpPr>
            <a:grpSpLocks/>
          </p:cNvGrpSpPr>
          <p:nvPr/>
        </p:nvGrpSpPr>
        <p:grpSpPr bwMode="auto">
          <a:xfrm>
            <a:off x="2852290" y="4933242"/>
            <a:ext cx="1549400" cy="396875"/>
            <a:chOff x="1880" y="3432"/>
            <a:chExt cx="976" cy="250"/>
          </a:xfrm>
        </p:grpSpPr>
        <p:sp>
          <p:nvSpPr>
            <p:cNvPr id="14" name="Line 13">
              <a:extLst>
                <a:ext uri="{FF2B5EF4-FFF2-40B4-BE49-F238E27FC236}">
                  <a16:creationId xmlns="" xmlns:a16="http://schemas.microsoft.com/office/drawing/2014/main" id="{2BC3718D-C5C1-093F-F5BA-7B789171266D}"/>
                </a:ext>
              </a:extLst>
            </p:cNvPr>
            <p:cNvSpPr>
              <a:spLocks noChangeShapeType="1"/>
            </p:cNvSpPr>
            <p:nvPr/>
          </p:nvSpPr>
          <p:spPr bwMode="auto">
            <a:xfrm flipH="1">
              <a:off x="1880" y="3576"/>
              <a:ext cx="432" cy="80"/>
            </a:xfrm>
            <a:prstGeom prst="line">
              <a:avLst/>
            </a:prstGeom>
            <a:noFill/>
            <a:ln w="25400">
              <a:solidFill>
                <a:schemeClr val="hlink"/>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000">
                <a:latin typeface="+mn-ea"/>
                <a:ea typeface="+mn-ea"/>
              </a:endParaRPr>
            </a:p>
          </p:txBody>
        </p:sp>
        <p:sp>
          <p:nvSpPr>
            <p:cNvPr id="15" name="Text Box 14">
              <a:extLst>
                <a:ext uri="{FF2B5EF4-FFF2-40B4-BE49-F238E27FC236}">
                  <a16:creationId xmlns="" xmlns:a16="http://schemas.microsoft.com/office/drawing/2014/main" id="{29C4E28C-A5B9-62D6-810D-55848B9B57CF}"/>
                </a:ext>
              </a:extLst>
            </p:cNvPr>
            <p:cNvSpPr txBox="1">
              <a:spLocks noChangeArrowheads="1"/>
            </p:cNvSpPr>
            <p:nvPr/>
          </p:nvSpPr>
          <p:spPr bwMode="auto">
            <a:xfrm>
              <a:off x="2288" y="3432"/>
              <a:ext cx="56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t">
                <a:spcBef>
                  <a:spcPct val="50000"/>
                </a:spcBef>
                <a:buFontTx/>
                <a:buNone/>
              </a:pPr>
              <a:r>
                <a:rPr lang="zh-CN" altLang="en-US" sz="2000">
                  <a:solidFill>
                    <a:srgbClr val="FF0000"/>
                  </a:solidFill>
                  <a:latin typeface="+mn-ea"/>
                  <a:ea typeface="+mn-ea"/>
                </a:rPr>
                <a:t>理想</a:t>
              </a:r>
            </a:p>
          </p:txBody>
        </p:sp>
      </p:grpSp>
      <p:graphicFrame>
        <p:nvGraphicFramePr>
          <p:cNvPr id="16" name="Object 15">
            <a:extLst>
              <a:ext uri="{FF2B5EF4-FFF2-40B4-BE49-F238E27FC236}">
                <a16:creationId xmlns="" xmlns:a16="http://schemas.microsoft.com/office/drawing/2014/main" id="{AAD61387-AFEA-2C0A-17D8-F51190DDF223}"/>
              </a:ext>
            </a:extLst>
          </p:cNvPr>
          <p:cNvGraphicFramePr>
            <a:graphicFrameLocks noChangeAspect="1"/>
          </p:cNvGraphicFramePr>
          <p:nvPr>
            <p:extLst>
              <p:ext uri="{D42A27DB-BD31-4B8C-83A1-F6EECF244321}">
                <p14:modId xmlns:p14="http://schemas.microsoft.com/office/powerpoint/2010/main" val="1771542561"/>
              </p:ext>
            </p:extLst>
          </p:nvPr>
        </p:nvGraphicFramePr>
        <p:xfrm>
          <a:off x="7383419" y="3777765"/>
          <a:ext cx="1266825" cy="430213"/>
        </p:xfrm>
        <a:graphic>
          <a:graphicData uri="http://schemas.openxmlformats.org/presentationml/2006/ole">
            <mc:AlternateContent xmlns:mc="http://schemas.openxmlformats.org/markup-compatibility/2006">
              <mc:Choice xmlns:v="urn:schemas-microsoft-com:vml" Requires="v">
                <p:oleObj spid="_x0000_s83156" r:id="rId4" imgW="634449" imgH="215713" progId="Equation.3">
                  <p:embed/>
                </p:oleObj>
              </mc:Choice>
              <mc:Fallback>
                <p:oleObj r:id="rId4" imgW="634449" imgH="215713"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83419" y="3777765"/>
                        <a:ext cx="1266825" cy="430213"/>
                      </a:xfrm>
                      <a:prstGeom prst="rect">
                        <a:avLst/>
                      </a:prstGeom>
                      <a:solidFill>
                        <a:srgbClr val="FF9900">
                          <a:alpha val="43137"/>
                        </a:srgbClr>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7" name="Object 16">
            <a:extLst>
              <a:ext uri="{FF2B5EF4-FFF2-40B4-BE49-F238E27FC236}">
                <a16:creationId xmlns="" xmlns:a16="http://schemas.microsoft.com/office/drawing/2014/main" id="{ADE3D7E4-92B8-6D7E-597B-3A3473506418}"/>
              </a:ext>
            </a:extLst>
          </p:cNvPr>
          <p:cNvGraphicFramePr>
            <a:graphicFrameLocks noChangeAspect="1"/>
          </p:cNvGraphicFramePr>
          <p:nvPr>
            <p:extLst>
              <p:ext uri="{D42A27DB-BD31-4B8C-83A1-F6EECF244321}">
                <p14:modId xmlns:p14="http://schemas.microsoft.com/office/powerpoint/2010/main" val="426128511"/>
              </p:ext>
            </p:extLst>
          </p:nvPr>
        </p:nvGraphicFramePr>
        <p:xfrm>
          <a:off x="4927557" y="3811103"/>
          <a:ext cx="747712" cy="419100"/>
        </p:xfrm>
        <a:graphic>
          <a:graphicData uri="http://schemas.openxmlformats.org/presentationml/2006/ole">
            <mc:AlternateContent xmlns:mc="http://schemas.openxmlformats.org/markup-compatibility/2006">
              <mc:Choice xmlns:v="urn:schemas-microsoft-com:vml" Requires="v">
                <p:oleObj spid="_x0000_s83157" r:id="rId6" imgW="406224" imgH="228501" progId="Equation.3">
                  <p:embed/>
                </p:oleObj>
              </mc:Choice>
              <mc:Fallback>
                <p:oleObj r:id="rId6" imgW="406224" imgH="228501"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927557" y="3811103"/>
                        <a:ext cx="747712" cy="419100"/>
                      </a:xfrm>
                      <a:prstGeom prst="rect">
                        <a:avLst/>
                      </a:prstGeom>
                      <a:solidFill>
                        <a:srgbClr val="FF9900">
                          <a:alpha val="38823"/>
                        </a:srgbClr>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8" name="Object 17">
            <a:extLst>
              <a:ext uri="{FF2B5EF4-FFF2-40B4-BE49-F238E27FC236}">
                <a16:creationId xmlns="" xmlns:a16="http://schemas.microsoft.com/office/drawing/2014/main" id="{7A5F448E-CF1E-D852-1E59-C6E4F38A9EEC}"/>
              </a:ext>
            </a:extLst>
          </p:cNvPr>
          <p:cNvGraphicFramePr>
            <a:graphicFrameLocks noChangeAspect="1"/>
          </p:cNvGraphicFramePr>
          <p:nvPr>
            <p:extLst>
              <p:ext uri="{D42A27DB-BD31-4B8C-83A1-F6EECF244321}">
                <p14:modId xmlns:p14="http://schemas.microsoft.com/office/powerpoint/2010/main" val="54249569"/>
              </p:ext>
            </p:extLst>
          </p:nvPr>
        </p:nvGraphicFramePr>
        <p:xfrm>
          <a:off x="7465969" y="3123715"/>
          <a:ext cx="1273175" cy="431800"/>
        </p:xfrm>
        <a:graphic>
          <a:graphicData uri="http://schemas.openxmlformats.org/presentationml/2006/ole">
            <mc:AlternateContent xmlns:mc="http://schemas.openxmlformats.org/markup-compatibility/2006">
              <mc:Choice xmlns:v="urn:schemas-microsoft-com:vml" Requires="v">
                <p:oleObj spid="_x0000_s83158" r:id="rId8" imgW="634449" imgH="215713" progId="Equation.3">
                  <p:embed/>
                </p:oleObj>
              </mc:Choice>
              <mc:Fallback>
                <p:oleObj r:id="rId8" imgW="634449" imgH="215713"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465969" y="3123715"/>
                        <a:ext cx="1273175" cy="431800"/>
                      </a:xfrm>
                      <a:prstGeom prst="rect">
                        <a:avLst/>
                      </a:prstGeom>
                      <a:solidFill>
                        <a:srgbClr val="FF9900">
                          <a:alpha val="41960"/>
                        </a:srgbClr>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9" name="Object 18">
            <a:extLst>
              <a:ext uri="{FF2B5EF4-FFF2-40B4-BE49-F238E27FC236}">
                <a16:creationId xmlns="" xmlns:a16="http://schemas.microsoft.com/office/drawing/2014/main" id="{3DC3B9E2-8404-4BA4-E805-559CE7DDE5BA}"/>
              </a:ext>
            </a:extLst>
          </p:cNvPr>
          <p:cNvGraphicFramePr>
            <a:graphicFrameLocks noChangeAspect="1"/>
          </p:cNvGraphicFramePr>
          <p:nvPr>
            <p:extLst>
              <p:ext uri="{D42A27DB-BD31-4B8C-83A1-F6EECF244321}">
                <p14:modId xmlns:p14="http://schemas.microsoft.com/office/powerpoint/2010/main" val="3406454409"/>
              </p:ext>
            </p:extLst>
          </p:nvPr>
        </p:nvGraphicFramePr>
        <p:xfrm>
          <a:off x="4784682" y="3130065"/>
          <a:ext cx="2320925" cy="457200"/>
        </p:xfrm>
        <a:graphic>
          <a:graphicData uri="http://schemas.openxmlformats.org/presentationml/2006/ole">
            <mc:AlternateContent xmlns:mc="http://schemas.openxmlformats.org/markup-compatibility/2006">
              <mc:Choice xmlns:v="urn:schemas-microsoft-com:vml" Requires="v">
                <p:oleObj spid="_x0000_s83159" r:id="rId10" imgW="1155700" imgH="228600" progId="Equation.3">
                  <p:embed/>
                </p:oleObj>
              </mc:Choice>
              <mc:Fallback>
                <p:oleObj r:id="rId10" imgW="1155700" imgH="22860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784682" y="3130065"/>
                        <a:ext cx="2320925" cy="457200"/>
                      </a:xfrm>
                      <a:prstGeom prst="rect">
                        <a:avLst/>
                      </a:prstGeom>
                      <a:solidFill>
                        <a:srgbClr val="FF9900">
                          <a:alpha val="47842"/>
                        </a:srgbClr>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0" name="Object 20">
            <a:extLst>
              <a:ext uri="{FF2B5EF4-FFF2-40B4-BE49-F238E27FC236}">
                <a16:creationId xmlns="" xmlns:a16="http://schemas.microsoft.com/office/drawing/2014/main" id="{08C135D0-77C3-849D-CD52-A1B20CC98837}"/>
              </a:ext>
            </a:extLst>
          </p:cNvPr>
          <p:cNvGraphicFramePr>
            <a:graphicFrameLocks noChangeAspect="1"/>
          </p:cNvGraphicFramePr>
          <p:nvPr>
            <p:extLst>
              <p:ext uri="{D42A27DB-BD31-4B8C-83A1-F6EECF244321}">
                <p14:modId xmlns:p14="http://schemas.microsoft.com/office/powerpoint/2010/main" val="2241031737"/>
              </p:ext>
            </p:extLst>
          </p:nvPr>
        </p:nvGraphicFramePr>
        <p:xfrm>
          <a:off x="5245545" y="4888157"/>
          <a:ext cx="1463675" cy="942975"/>
        </p:xfrm>
        <a:graphic>
          <a:graphicData uri="http://schemas.openxmlformats.org/presentationml/2006/ole">
            <mc:AlternateContent xmlns:mc="http://schemas.openxmlformats.org/markup-compatibility/2006">
              <mc:Choice xmlns:v="urn:schemas-microsoft-com:vml" Requires="v">
                <p:oleObj spid="_x0000_s83160" r:id="rId12" imgW="672808" imgH="431613" progId="Equation.DSMT4">
                  <p:embed/>
                </p:oleObj>
              </mc:Choice>
              <mc:Fallback>
                <p:oleObj r:id="rId12" imgW="672808" imgH="431613" progId="Equation.DSMT4">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245545" y="4888157"/>
                        <a:ext cx="1463675" cy="94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1" name="Rectangle 21">
            <a:extLst>
              <a:ext uri="{FF2B5EF4-FFF2-40B4-BE49-F238E27FC236}">
                <a16:creationId xmlns="" xmlns:a16="http://schemas.microsoft.com/office/drawing/2014/main" id="{CDD17EEF-0290-EC60-8319-A9B497C80824}"/>
              </a:ext>
            </a:extLst>
          </p:cNvPr>
          <p:cNvSpPr>
            <a:spLocks noChangeArrowheads="1"/>
          </p:cNvSpPr>
          <p:nvPr/>
        </p:nvSpPr>
        <p:spPr bwMode="auto">
          <a:xfrm>
            <a:off x="6633020" y="5115933"/>
            <a:ext cx="146706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buFontTx/>
              <a:buNone/>
            </a:pPr>
            <a:r>
              <a:rPr lang="zh-CN" altLang="en-US" sz="2000">
                <a:solidFill>
                  <a:srgbClr val="000000"/>
                </a:solidFill>
                <a:latin typeface="+mn-ea"/>
                <a:ea typeface="+mn-ea"/>
              </a:rPr>
              <a:t>－称为</a:t>
            </a:r>
            <a:r>
              <a:rPr lang="zh-CN" altLang="en-US" sz="2000">
                <a:solidFill>
                  <a:srgbClr val="FF3300"/>
                </a:solidFill>
                <a:latin typeface="+mn-ea"/>
                <a:ea typeface="+mn-ea"/>
              </a:rPr>
              <a:t>跨导</a:t>
            </a:r>
          </a:p>
        </p:txBody>
      </p:sp>
      <p:sp>
        <p:nvSpPr>
          <p:cNvPr id="22" name="Rectangle 22">
            <a:extLst>
              <a:ext uri="{FF2B5EF4-FFF2-40B4-BE49-F238E27FC236}">
                <a16:creationId xmlns="" xmlns:a16="http://schemas.microsoft.com/office/drawing/2014/main" id="{D70A1860-E365-A5F0-FF44-664686AAE858}"/>
              </a:ext>
            </a:extLst>
          </p:cNvPr>
          <p:cNvSpPr>
            <a:spLocks noChangeArrowheads="1"/>
          </p:cNvSpPr>
          <p:nvPr/>
        </p:nvSpPr>
        <p:spPr bwMode="auto">
          <a:xfrm>
            <a:off x="4784682" y="1918555"/>
            <a:ext cx="398145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p>
            <a:pPr>
              <a:buFontTx/>
              <a:buNone/>
            </a:pPr>
            <a:r>
              <a:rPr lang="zh-CN" altLang="en-US" sz="2000" dirty="0">
                <a:solidFill>
                  <a:srgbClr val="000000"/>
                </a:solidFill>
                <a:latin typeface="+mn-ea"/>
                <a:ea typeface="+mn-ea"/>
              </a:rPr>
              <a:t>－ 集电极电压恒定时，集电极电流与基极电压的关系曲线 </a:t>
            </a:r>
          </a:p>
        </p:txBody>
      </p:sp>
      <p:sp>
        <p:nvSpPr>
          <p:cNvPr id="23" name="左大括号 22">
            <a:extLst>
              <a:ext uri="{FF2B5EF4-FFF2-40B4-BE49-F238E27FC236}">
                <a16:creationId xmlns="" xmlns:a16="http://schemas.microsoft.com/office/drawing/2014/main" id="{F6854F4D-20AD-E176-BF72-E3B88F864DEF}"/>
              </a:ext>
            </a:extLst>
          </p:cNvPr>
          <p:cNvSpPr/>
          <p:nvPr/>
        </p:nvSpPr>
        <p:spPr bwMode="auto">
          <a:xfrm>
            <a:off x="4592999" y="3244310"/>
            <a:ext cx="45719" cy="963668"/>
          </a:xfrm>
          <a:prstGeom prst="leftBrac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itchFamily="34" charset="0"/>
              <a:buNone/>
              <a:tabLst/>
            </a:pPr>
            <a:endParaRPr kumimoji="0" lang="zh-CN" altLang="en-US" sz="2400" b="0" i="0" u="none" strike="noStrike" cap="none" normalizeH="0" baseline="0">
              <a:ln>
                <a:noFill/>
              </a:ln>
              <a:solidFill>
                <a:schemeClr val="tx1"/>
              </a:solidFill>
              <a:effectLst/>
              <a:latin typeface="Arial" pitchFamily="34" charset="0"/>
              <a:ea typeface="宋体" pitchFamily="2" charset="-122"/>
            </a:endParaRPr>
          </a:p>
        </p:txBody>
      </p:sp>
    </p:spTree>
    <p:extLst>
      <p:ext uri="{BB962C8B-B14F-4D97-AF65-F5344CB8AC3E}">
        <p14:creationId xmlns:p14="http://schemas.microsoft.com/office/powerpoint/2010/main" val="2294539163"/>
      </p:ext>
    </p:extLst>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116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4.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谐振</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功率</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放大器</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Rectangle 3">
            <a:extLst>
              <a:ext uri="{FF2B5EF4-FFF2-40B4-BE49-F238E27FC236}">
                <a16:creationId xmlns="" xmlns:a16="http://schemas.microsoft.com/office/drawing/2014/main" id="{7B5B55A3-D189-D016-7BEE-93FE5CE43828}"/>
              </a:ext>
            </a:extLst>
          </p:cNvPr>
          <p:cNvSpPr>
            <a:spLocks noChangeArrowheads="1"/>
          </p:cNvSpPr>
          <p:nvPr/>
        </p:nvSpPr>
        <p:spPr bwMode="auto">
          <a:xfrm>
            <a:off x="217487" y="1500478"/>
            <a:ext cx="870902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buFontTx/>
              <a:buNone/>
            </a:pPr>
            <a:r>
              <a:rPr lang="en-US" altLang="zh-CN" sz="2000" dirty="0">
                <a:solidFill>
                  <a:schemeClr val="tx1"/>
                </a:solidFill>
                <a:latin typeface="+mn-ea"/>
                <a:ea typeface="+mn-ea"/>
              </a:rPr>
              <a:t>2.</a:t>
            </a:r>
            <a:r>
              <a:rPr lang="zh-CN" altLang="en-US" sz="2000" dirty="0">
                <a:solidFill>
                  <a:schemeClr val="tx1"/>
                </a:solidFill>
                <a:latin typeface="+mn-ea"/>
                <a:ea typeface="+mn-ea"/>
              </a:rPr>
              <a:t>输出特性曲线－是以基极电压（或基极电流）为参量的集电极电流与集电极电压的关系曲线。  </a:t>
            </a:r>
          </a:p>
        </p:txBody>
      </p:sp>
      <p:graphicFrame>
        <p:nvGraphicFramePr>
          <p:cNvPr id="6" name="Object 5">
            <a:extLst>
              <a:ext uri="{FF2B5EF4-FFF2-40B4-BE49-F238E27FC236}">
                <a16:creationId xmlns="" xmlns:a16="http://schemas.microsoft.com/office/drawing/2014/main" id="{3D5B9516-0010-F678-79F7-C34B1F808444}"/>
              </a:ext>
            </a:extLst>
          </p:cNvPr>
          <p:cNvGraphicFramePr>
            <a:graphicFrameLocks noChangeAspect="1"/>
          </p:cNvGraphicFramePr>
          <p:nvPr>
            <p:extLst>
              <p:ext uri="{D42A27DB-BD31-4B8C-83A1-F6EECF244321}">
                <p14:modId xmlns:p14="http://schemas.microsoft.com/office/powerpoint/2010/main" val="1423397315"/>
              </p:ext>
            </p:extLst>
          </p:nvPr>
        </p:nvGraphicFramePr>
        <p:xfrm>
          <a:off x="1204912" y="2832321"/>
          <a:ext cx="3403600" cy="3613150"/>
        </p:xfrm>
        <a:graphic>
          <a:graphicData uri="http://schemas.openxmlformats.org/presentationml/2006/ole">
            <mc:AlternateContent xmlns:mc="http://schemas.openxmlformats.org/markup-compatibility/2006">
              <mc:Choice xmlns:v="urn:schemas-microsoft-com:vml" Requires="v">
                <p:oleObj spid="_x0000_s84096" r:id="rId3" imgW="3095238" imgH="3285714" progId="Paint.Picture">
                  <p:embed/>
                </p:oleObj>
              </mc:Choice>
              <mc:Fallback>
                <p:oleObj r:id="rId3" imgW="3095238" imgH="3285714" progId="Paint.Picture">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04912" y="2832321"/>
                        <a:ext cx="3403600" cy="361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 name="Line 6">
            <a:extLst>
              <a:ext uri="{FF2B5EF4-FFF2-40B4-BE49-F238E27FC236}">
                <a16:creationId xmlns="" xmlns:a16="http://schemas.microsoft.com/office/drawing/2014/main" id="{3E39E295-6CA9-4D8C-D94C-5D54AC91B5C8}"/>
              </a:ext>
            </a:extLst>
          </p:cNvPr>
          <p:cNvSpPr>
            <a:spLocks noChangeShapeType="1"/>
          </p:cNvSpPr>
          <p:nvPr/>
        </p:nvSpPr>
        <p:spPr bwMode="auto">
          <a:xfrm flipH="1">
            <a:off x="1573212" y="2806921"/>
            <a:ext cx="301625" cy="330200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sz="2000">
              <a:solidFill>
                <a:schemeClr val="tx1"/>
              </a:solidFill>
              <a:latin typeface="+mn-ea"/>
              <a:ea typeface="+mn-ea"/>
            </a:endParaRPr>
          </a:p>
        </p:txBody>
      </p:sp>
      <p:sp>
        <p:nvSpPr>
          <p:cNvPr id="8" name="Line 7">
            <a:extLst>
              <a:ext uri="{FF2B5EF4-FFF2-40B4-BE49-F238E27FC236}">
                <a16:creationId xmlns="" xmlns:a16="http://schemas.microsoft.com/office/drawing/2014/main" id="{A7CC80CD-CEF1-B536-2007-F840B92CDAFE}"/>
              </a:ext>
            </a:extLst>
          </p:cNvPr>
          <p:cNvSpPr>
            <a:spLocks noChangeShapeType="1"/>
          </p:cNvSpPr>
          <p:nvPr/>
        </p:nvSpPr>
        <p:spPr bwMode="auto">
          <a:xfrm flipV="1">
            <a:off x="1849437" y="2981546"/>
            <a:ext cx="2517775" cy="1524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sz="2000">
              <a:solidFill>
                <a:schemeClr val="tx1"/>
              </a:solidFill>
              <a:latin typeface="+mn-ea"/>
              <a:ea typeface="+mn-ea"/>
            </a:endParaRPr>
          </a:p>
        </p:txBody>
      </p:sp>
      <p:sp>
        <p:nvSpPr>
          <p:cNvPr id="9" name="Line 8">
            <a:extLst>
              <a:ext uri="{FF2B5EF4-FFF2-40B4-BE49-F238E27FC236}">
                <a16:creationId xmlns="" xmlns:a16="http://schemas.microsoft.com/office/drawing/2014/main" id="{900E668C-988E-CF4B-43FE-34BF9571E8C5}"/>
              </a:ext>
            </a:extLst>
          </p:cNvPr>
          <p:cNvSpPr>
            <a:spLocks noChangeShapeType="1"/>
          </p:cNvSpPr>
          <p:nvPr/>
        </p:nvSpPr>
        <p:spPr bwMode="auto">
          <a:xfrm flipV="1">
            <a:off x="1747837" y="3541934"/>
            <a:ext cx="2568575" cy="2032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sz="2000">
              <a:solidFill>
                <a:schemeClr val="tx1"/>
              </a:solidFill>
              <a:latin typeface="+mn-ea"/>
              <a:ea typeface="+mn-ea"/>
            </a:endParaRPr>
          </a:p>
        </p:txBody>
      </p:sp>
      <p:sp>
        <p:nvSpPr>
          <p:cNvPr id="10" name="Line 9">
            <a:extLst>
              <a:ext uri="{FF2B5EF4-FFF2-40B4-BE49-F238E27FC236}">
                <a16:creationId xmlns="" xmlns:a16="http://schemas.microsoft.com/office/drawing/2014/main" id="{60B7432B-A414-BA5A-FA19-31061B5D5CCC}"/>
              </a:ext>
            </a:extLst>
          </p:cNvPr>
          <p:cNvSpPr>
            <a:spLocks noChangeShapeType="1"/>
          </p:cNvSpPr>
          <p:nvPr/>
        </p:nvSpPr>
        <p:spPr bwMode="auto">
          <a:xfrm flipV="1">
            <a:off x="1724025" y="4311871"/>
            <a:ext cx="2630487" cy="1524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sz="2000">
              <a:solidFill>
                <a:schemeClr val="tx1"/>
              </a:solidFill>
              <a:latin typeface="+mn-ea"/>
              <a:ea typeface="+mn-ea"/>
            </a:endParaRPr>
          </a:p>
        </p:txBody>
      </p:sp>
      <p:sp>
        <p:nvSpPr>
          <p:cNvPr id="11" name="Line 10">
            <a:extLst>
              <a:ext uri="{FF2B5EF4-FFF2-40B4-BE49-F238E27FC236}">
                <a16:creationId xmlns="" xmlns:a16="http://schemas.microsoft.com/office/drawing/2014/main" id="{9D7D055F-1847-4FCB-7C14-F354C163B6C8}"/>
              </a:ext>
            </a:extLst>
          </p:cNvPr>
          <p:cNvSpPr>
            <a:spLocks noChangeShapeType="1"/>
          </p:cNvSpPr>
          <p:nvPr/>
        </p:nvSpPr>
        <p:spPr bwMode="auto">
          <a:xfrm flipV="1">
            <a:off x="1685925" y="4916709"/>
            <a:ext cx="2668587" cy="1270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sz="2000">
              <a:solidFill>
                <a:schemeClr val="tx1"/>
              </a:solidFill>
              <a:latin typeface="+mn-ea"/>
              <a:ea typeface="+mn-ea"/>
            </a:endParaRPr>
          </a:p>
        </p:txBody>
      </p:sp>
      <p:sp>
        <p:nvSpPr>
          <p:cNvPr id="12" name="Line 11">
            <a:extLst>
              <a:ext uri="{FF2B5EF4-FFF2-40B4-BE49-F238E27FC236}">
                <a16:creationId xmlns="" xmlns:a16="http://schemas.microsoft.com/office/drawing/2014/main" id="{48A9FD3C-4823-0A3B-550A-8EEDB59D9290}"/>
              </a:ext>
            </a:extLst>
          </p:cNvPr>
          <p:cNvSpPr>
            <a:spLocks noChangeShapeType="1"/>
          </p:cNvSpPr>
          <p:nvPr/>
        </p:nvSpPr>
        <p:spPr bwMode="auto">
          <a:xfrm flipV="1">
            <a:off x="1585912" y="5412009"/>
            <a:ext cx="2819400" cy="1905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sz="2000">
              <a:solidFill>
                <a:schemeClr val="tx1"/>
              </a:solidFill>
              <a:latin typeface="+mn-ea"/>
              <a:ea typeface="+mn-ea"/>
            </a:endParaRPr>
          </a:p>
        </p:txBody>
      </p:sp>
      <p:sp>
        <p:nvSpPr>
          <p:cNvPr id="13" name="Text Box 12">
            <a:extLst>
              <a:ext uri="{FF2B5EF4-FFF2-40B4-BE49-F238E27FC236}">
                <a16:creationId xmlns="" xmlns:a16="http://schemas.microsoft.com/office/drawing/2014/main" id="{7D8A6F00-3AC0-D41B-ADF6-8ECCC79BF477}"/>
              </a:ext>
            </a:extLst>
          </p:cNvPr>
          <p:cNvSpPr txBox="1">
            <a:spLocks noChangeArrowheads="1"/>
          </p:cNvSpPr>
          <p:nvPr/>
        </p:nvSpPr>
        <p:spPr bwMode="auto">
          <a:xfrm>
            <a:off x="1116012" y="2438621"/>
            <a:ext cx="17907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t">
              <a:spcBef>
                <a:spcPct val="50000"/>
              </a:spcBef>
              <a:buFontTx/>
              <a:buNone/>
            </a:pPr>
            <a:r>
              <a:rPr lang="zh-CN" altLang="en-US" sz="2000" dirty="0">
                <a:solidFill>
                  <a:schemeClr val="accent2"/>
                </a:solidFill>
                <a:latin typeface="+mn-ea"/>
                <a:ea typeface="+mn-ea"/>
              </a:rPr>
              <a:t>临界饱和线 </a:t>
            </a:r>
          </a:p>
        </p:txBody>
      </p:sp>
      <p:sp>
        <p:nvSpPr>
          <p:cNvPr id="14" name="Text Box 13">
            <a:extLst>
              <a:ext uri="{FF2B5EF4-FFF2-40B4-BE49-F238E27FC236}">
                <a16:creationId xmlns="" xmlns:a16="http://schemas.microsoft.com/office/drawing/2014/main" id="{450860A4-06CD-BBDB-683E-67E3C133F3DA}"/>
              </a:ext>
            </a:extLst>
          </p:cNvPr>
          <p:cNvSpPr txBox="1">
            <a:spLocks noChangeArrowheads="1"/>
          </p:cNvSpPr>
          <p:nvPr/>
        </p:nvSpPr>
        <p:spPr bwMode="auto">
          <a:xfrm>
            <a:off x="3579812" y="3924521"/>
            <a:ext cx="1016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t">
              <a:spcBef>
                <a:spcPct val="50000"/>
              </a:spcBef>
              <a:buFontTx/>
              <a:buNone/>
            </a:pPr>
            <a:r>
              <a:rPr lang="zh-CN" altLang="en-US" sz="2000" dirty="0">
                <a:solidFill>
                  <a:srgbClr val="FF0000"/>
                </a:solidFill>
                <a:latin typeface="+mn-ea"/>
                <a:ea typeface="+mn-ea"/>
              </a:rPr>
              <a:t>放大区</a:t>
            </a:r>
          </a:p>
        </p:txBody>
      </p:sp>
      <p:sp>
        <p:nvSpPr>
          <p:cNvPr id="15" name="Text Box 14">
            <a:extLst>
              <a:ext uri="{FF2B5EF4-FFF2-40B4-BE49-F238E27FC236}">
                <a16:creationId xmlns="" xmlns:a16="http://schemas.microsoft.com/office/drawing/2014/main" id="{9310AB90-6F41-A9C2-17B3-CF71BF259B0A}"/>
              </a:ext>
            </a:extLst>
          </p:cNvPr>
          <p:cNvSpPr txBox="1">
            <a:spLocks noChangeArrowheads="1"/>
          </p:cNvSpPr>
          <p:nvPr/>
        </p:nvSpPr>
        <p:spPr bwMode="auto">
          <a:xfrm>
            <a:off x="736600" y="3748309"/>
            <a:ext cx="1016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t">
              <a:spcBef>
                <a:spcPct val="50000"/>
              </a:spcBef>
              <a:buFontTx/>
              <a:buNone/>
            </a:pPr>
            <a:r>
              <a:rPr lang="zh-CN" altLang="en-US" sz="2000" dirty="0">
                <a:solidFill>
                  <a:srgbClr val="FF0000"/>
                </a:solidFill>
                <a:latin typeface="+mn-ea"/>
                <a:ea typeface="+mn-ea"/>
              </a:rPr>
              <a:t>饱和区</a:t>
            </a:r>
          </a:p>
        </p:txBody>
      </p:sp>
      <p:sp>
        <p:nvSpPr>
          <p:cNvPr id="16" name="Rectangle 15">
            <a:extLst>
              <a:ext uri="{FF2B5EF4-FFF2-40B4-BE49-F238E27FC236}">
                <a16:creationId xmlns="" xmlns:a16="http://schemas.microsoft.com/office/drawing/2014/main" id="{8556CBBD-9F79-35AB-1A42-C8B56C47B4E6}"/>
              </a:ext>
            </a:extLst>
          </p:cNvPr>
          <p:cNvSpPr>
            <a:spLocks noChangeArrowheads="1"/>
          </p:cNvSpPr>
          <p:nvPr/>
        </p:nvSpPr>
        <p:spPr bwMode="auto">
          <a:xfrm>
            <a:off x="4751387" y="3394266"/>
            <a:ext cx="186301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buFontTx/>
              <a:buNone/>
            </a:pPr>
            <a:r>
              <a:rPr lang="zh-CN" altLang="en-US" sz="2000">
                <a:solidFill>
                  <a:schemeClr val="tx1"/>
                </a:solidFill>
                <a:latin typeface="+mn-ea"/>
                <a:ea typeface="+mn-ea"/>
              </a:rPr>
              <a:t>临界线方程： </a:t>
            </a:r>
          </a:p>
        </p:txBody>
      </p:sp>
      <p:graphicFrame>
        <p:nvGraphicFramePr>
          <p:cNvPr id="17" name="Object 16">
            <a:extLst>
              <a:ext uri="{FF2B5EF4-FFF2-40B4-BE49-F238E27FC236}">
                <a16:creationId xmlns="" xmlns:a16="http://schemas.microsoft.com/office/drawing/2014/main" id="{7DC2B5D5-4C86-CEFA-93ED-7705FD074E10}"/>
              </a:ext>
            </a:extLst>
          </p:cNvPr>
          <p:cNvGraphicFramePr>
            <a:graphicFrameLocks noChangeAspect="1"/>
          </p:cNvGraphicFramePr>
          <p:nvPr>
            <p:extLst>
              <p:ext uri="{D42A27DB-BD31-4B8C-83A1-F6EECF244321}">
                <p14:modId xmlns:p14="http://schemas.microsoft.com/office/powerpoint/2010/main" val="992786396"/>
              </p:ext>
            </p:extLst>
          </p:nvPr>
        </p:nvGraphicFramePr>
        <p:xfrm>
          <a:off x="6689725" y="3314921"/>
          <a:ext cx="1511300" cy="515938"/>
        </p:xfrm>
        <a:graphic>
          <a:graphicData uri="http://schemas.openxmlformats.org/presentationml/2006/ole">
            <mc:AlternateContent xmlns:mc="http://schemas.openxmlformats.org/markup-compatibility/2006">
              <mc:Choice xmlns:v="urn:schemas-microsoft-com:vml" Requires="v">
                <p:oleObj spid="_x0000_s84097" r:id="rId5" imgW="672808" imgH="228501" progId="Equation.DSMT4">
                  <p:embed/>
                </p:oleObj>
              </mc:Choice>
              <mc:Fallback>
                <p:oleObj r:id="rId5" imgW="672808" imgH="228501"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89725" y="3314921"/>
                        <a:ext cx="1511300" cy="515938"/>
                      </a:xfrm>
                      <a:prstGeom prst="rect">
                        <a:avLst/>
                      </a:prstGeom>
                      <a:gradFill rotWithShape="1">
                        <a:gsLst>
                          <a:gs pos="0">
                            <a:srgbClr val="FF99FF"/>
                          </a:gs>
                          <a:gs pos="50000">
                            <a:schemeClr val="bg1"/>
                          </a:gs>
                          <a:gs pos="100000">
                            <a:srgbClr val="FF99FF"/>
                          </a:gs>
                        </a:gsLst>
                        <a:lin ang="5400000" scaled="1"/>
                      </a:gra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18" name="Group 17">
            <a:extLst>
              <a:ext uri="{FF2B5EF4-FFF2-40B4-BE49-F238E27FC236}">
                <a16:creationId xmlns="" xmlns:a16="http://schemas.microsoft.com/office/drawing/2014/main" id="{8BEB7BB5-11C5-6D4A-8BCD-E9993276BE41}"/>
              </a:ext>
            </a:extLst>
          </p:cNvPr>
          <p:cNvGrpSpPr>
            <a:grpSpLocks/>
          </p:cNvGrpSpPr>
          <p:nvPr/>
        </p:nvGrpSpPr>
        <p:grpSpPr bwMode="auto">
          <a:xfrm>
            <a:off x="5094286" y="4089621"/>
            <a:ext cx="2552700" cy="571500"/>
            <a:chOff x="3018" y="1888"/>
            <a:chExt cx="1608" cy="360"/>
          </a:xfrm>
        </p:grpSpPr>
        <p:sp>
          <p:nvSpPr>
            <p:cNvPr id="19" name="Rectangle 18">
              <a:extLst>
                <a:ext uri="{FF2B5EF4-FFF2-40B4-BE49-F238E27FC236}">
                  <a16:creationId xmlns="" xmlns:a16="http://schemas.microsoft.com/office/drawing/2014/main" id="{796AD2F9-88F2-3859-3A30-3E99303AFC96}"/>
                </a:ext>
              </a:extLst>
            </p:cNvPr>
            <p:cNvSpPr>
              <a:spLocks noChangeArrowheads="1"/>
            </p:cNvSpPr>
            <p:nvPr/>
          </p:nvSpPr>
          <p:spPr bwMode="auto">
            <a:xfrm>
              <a:off x="3290" y="1994"/>
              <a:ext cx="133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buFontTx/>
                <a:buNone/>
              </a:pPr>
              <a:r>
                <a:rPr lang="zh-CN" altLang="en-US" sz="2000">
                  <a:solidFill>
                    <a:schemeClr val="tx1"/>
                  </a:solidFill>
                  <a:latin typeface="+mn-ea"/>
                  <a:ea typeface="+mn-ea"/>
                </a:rPr>
                <a:t>为临界线的斜率 </a:t>
              </a:r>
            </a:p>
          </p:txBody>
        </p:sp>
        <p:graphicFrame>
          <p:nvGraphicFramePr>
            <p:cNvPr id="20" name="Object 19">
              <a:extLst>
                <a:ext uri="{FF2B5EF4-FFF2-40B4-BE49-F238E27FC236}">
                  <a16:creationId xmlns="" xmlns:a16="http://schemas.microsoft.com/office/drawing/2014/main" id="{298F4C48-EF57-0670-7B9A-843A750EA81C}"/>
                </a:ext>
              </a:extLst>
            </p:cNvPr>
            <p:cNvGraphicFramePr>
              <a:graphicFrameLocks noChangeAspect="1"/>
            </p:cNvGraphicFramePr>
            <p:nvPr/>
          </p:nvGraphicFramePr>
          <p:xfrm>
            <a:off x="3018" y="1888"/>
            <a:ext cx="340" cy="360"/>
          </p:xfrm>
          <a:graphic>
            <a:graphicData uri="http://schemas.openxmlformats.org/presentationml/2006/ole">
              <mc:AlternateContent xmlns:mc="http://schemas.openxmlformats.org/markup-compatibility/2006">
                <mc:Choice xmlns:v="urn:schemas-microsoft-com:vml" Requires="v">
                  <p:oleObj spid="_x0000_s84098" r:id="rId7" imgW="215806" imgH="228501" progId="Equation.DSMT4">
                    <p:embed/>
                  </p:oleObj>
                </mc:Choice>
                <mc:Fallback>
                  <p:oleObj r:id="rId7" imgW="215806" imgH="228501"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18" y="1888"/>
                          <a:ext cx="34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Tree>
    <p:extLst>
      <p:ext uri="{BB962C8B-B14F-4D97-AF65-F5344CB8AC3E}">
        <p14:creationId xmlns:p14="http://schemas.microsoft.com/office/powerpoint/2010/main" val="3174355455"/>
      </p:ext>
    </p:extLst>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117</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4.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谐振</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功率</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放大器</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5" name="Picture 2">
            <a:extLst>
              <a:ext uri="{FF2B5EF4-FFF2-40B4-BE49-F238E27FC236}">
                <a16:creationId xmlns="" xmlns:a16="http://schemas.microsoft.com/office/drawing/2014/main" id="{6076D668-CF53-44D3-4A3A-C4BFDD4AD9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21088" y="1394848"/>
            <a:ext cx="3955363" cy="3550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3">
            <a:extLst>
              <a:ext uri="{FF2B5EF4-FFF2-40B4-BE49-F238E27FC236}">
                <a16:creationId xmlns="" xmlns:a16="http://schemas.microsoft.com/office/drawing/2014/main" id="{DD9D5131-9152-30E2-84AB-25B6D922324F}"/>
              </a:ext>
            </a:extLst>
          </p:cNvPr>
          <p:cNvSpPr txBox="1">
            <a:spLocks noChangeArrowheads="1"/>
          </p:cNvSpPr>
          <p:nvPr/>
        </p:nvSpPr>
        <p:spPr bwMode="auto">
          <a:xfrm>
            <a:off x="398190" y="1168549"/>
            <a:ext cx="4872037" cy="6762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lang="zh-CN" altLang="en-US" sz="3600" b="1" baseline="0" dirty="0" smtClean="0">
                <a:solidFill>
                  <a:schemeClr val="tx2"/>
                </a:solidFill>
                <a:latin typeface="Times New Roman" panose="02020603050405020304" pitchFamily="18" charset="0"/>
                <a:ea typeface="楷体" panose="02010609060101010101" pitchFamily="49" charset="-122"/>
                <a:cs typeface="+mj-cs"/>
              </a:defRPr>
            </a:lvl1pPr>
            <a:lvl2pPr algn="ctr" rtl="0" eaLnBrk="0" fontAlgn="base" hangingPunct="0">
              <a:spcBef>
                <a:spcPct val="0"/>
              </a:spcBef>
              <a:spcAft>
                <a:spcPct val="0"/>
              </a:spcAft>
              <a:defRPr sz="3200">
                <a:solidFill>
                  <a:schemeClr val="tx2"/>
                </a:solidFill>
                <a:latin typeface="Arial" pitchFamily="34" charset="0"/>
                <a:ea typeface="宋体" pitchFamily="2" charset="-122"/>
              </a:defRPr>
            </a:lvl2pPr>
            <a:lvl3pPr algn="ctr" rtl="0" eaLnBrk="0" fontAlgn="base" hangingPunct="0">
              <a:spcBef>
                <a:spcPct val="0"/>
              </a:spcBef>
              <a:spcAft>
                <a:spcPct val="0"/>
              </a:spcAft>
              <a:defRPr sz="3200">
                <a:solidFill>
                  <a:schemeClr val="tx2"/>
                </a:solidFill>
                <a:latin typeface="Arial" pitchFamily="34" charset="0"/>
                <a:ea typeface="宋体" pitchFamily="2" charset="-122"/>
              </a:defRPr>
            </a:lvl3pPr>
            <a:lvl4pPr algn="ctr" rtl="0" eaLnBrk="0" fontAlgn="base" hangingPunct="0">
              <a:spcBef>
                <a:spcPct val="0"/>
              </a:spcBef>
              <a:spcAft>
                <a:spcPct val="0"/>
              </a:spcAft>
              <a:defRPr sz="3200">
                <a:solidFill>
                  <a:schemeClr val="tx2"/>
                </a:solidFill>
                <a:latin typeface="Arial" pitchFamily="34" charset="0"/>
                <a:ea typeface="宋体" pitchFamily="2" charset="-122"/>
              </a:defRPr>
            </a:lvl4pPr>
            <a:lvl5pPr algn="ctr" rtl="0" eaLnBrk="0" fontAlgn="base" hangingPunct="0">
              <a:spcBef>
                <a:spcPct val="0"/>
              </a:spcBef>
              <a:spcAft>
                <a:spcPct val="0"/>
              </a:spcAft>
              <a:defRPr sz="3200">
                <a:solidFill>
                  <a:schemeClr val="tx2"/>
                </a:solidFill>
                <a:latin typeface="Arial" pitchFamily="34" charset="0"/>
                <a:ea typeface="宋体" pitchFamily="2" charset="-122"/>
              </a:defRPr>
            </a:lvl5pPr>
            <a:lvl6pPr marL="457200" algn="ctr" rtl="0" eaLnBrk="0" fontAlgn="base" hangingPunct="0">
              <a:spcBef>
                <a:spcPct val="0"/>
              </a:spcBef>
              <a:spcAft>
                <a:spcPct val="0"/>
              </a:spcAft>
              <a:defRPr sz="3200">
                <a:solidFill>
                  <a:schemeClr val="tx2"/>
                </a:solidFill>
                <a:latin typeface="Arial" pitchFamily="34" charset="0"/>
                <a:ea typeface="宋体" pitchFamily="2" charset="-122"/>
              </a:defRPr>
            </a:lvl6pPr>
            <a:lvl7pPr marL="914400" algn="ctr" rtl="0" eaLnBrk="0" fontAlgn="base" hangingPunct="0">
              <a:spcBef>
                <a:spcPct val="0"/>
              </a:spcBef>
              <a:spcAft>
                <a:spcPct val="0"/>
              </a:spcAft>
              <a:defRPr sz="3200">
                <a:solidFill>
                  <a:schemeClr val="tx2"/>
                </a:solidFill>
                <a:latin typeface="Arial" pitchFamily="34" charset="0"/>
                <a:ea typeface="宋体" pitchFamily="2" charset="-122"/>
              </a:defRPr>
            </a:lvl7pPr>
            <a:lvl8pPr marL="1371600" algn="ctr" rtl="0" eaLnBrk="0" fontAlgn="base" hangingPunct="0">
              <a:spcBef>
                <a:spcPct val="0"/>
              </a:spcBef>
              <a:spcAft>
                <a:spcPct val="0"/>
              </a:spcAft>
              <a:defRPr sz="3200">
                <a:solidFill>
                  <a:schemeClr val="tx2"/>
                </a:solidFill>
                <a:latin typeface="Arial" pitchFamily="34" charset="0"/>
                <a:ea typeface="宋体" pitchFamily="2" charset="-122"/>
              </a:defRPr>
            </a:lvl8pPr>
            <a:lvl9pPr marL="1828800" algn="ctr" rtl="0" eaLnBrk="0" fontAlgn="base" hangingPunct="0">
              <a:spcBef>
                <a:spcPct val="0"/>
              </a:spcBef>
              <a:spcAft>
                <a:spcPct val="0"/>
              </a:spcAft>
              <a:defRPr sz="3200">
                <a:solidFill>
                  <a:schemeClr val="tx2"/>
                </a:solidFill>
                <a:latin typeface="Arial" pitchFamily="34" charset="0"/>
                <a:ea typeface="宋体" pitchFamily="2" charset="-122"/>
              </a:defRPr>
            </a:lvl9pPr>
          </a:lstStyle>
          <a:p>
            <a:pPr eaLnBrk="1" hangingPunct="1"/>
            <a:r>
              <a:rPr lang="zh-CN" altLang="en-US" sz="2000" kern="0">
                <a:solidFill>
                  <a:srgbClr val="0033CC"/>
                </a:solidFill>
                <a:latin typeface="+mn-ea"/>
                <a:ea typeface="+mn-ea"/>
              </a:rPr>
              <a:t>二、 集电极余弦电流脉冲的分解</a:t>
            </a:r>
          </a:p>
        </p:txBody>
      </p:sp>
      <p:graphicFrame>
        <p:nvGraphicFramePr>
          <p:cNvPr id="7" name="Object 4">
            <a:extLst>
              <a:ext uri="{FF2B5EF4-FFF2-40B4-BE49-F238E27FC236}">
                <a16:creationId xmlns="" xmlns:a16="http://schemas.microsoft.com/office/drawing/2014/main" id="{B0FEDE73-CEBC-44C4-8320-A811970AFA4B}"/>
              </a:ext>
            </a:extLst>
          </p:cNvPr>
          <p:cNvGraphicFramePr>
            <a:graphicFrameLocks noChangeAspect="1"/>
          </p:cNvGraphicFramePr>
          <p:nvPr>
            <p:extLst>
              <p:ext uri="{D42A27DB-BD31-4B8C-83A1-F6EECF244321}">
                <p14:modId xmlns:p14="http://schemas.microsoft.com/office/powerpoint/2010/main" val="262272787"/>
              </p:ext>
            </p:extLst>
          </p:nvPr>
        </p:nvGraphicFramePr>
        <p:xfrm>
          <a:off x="1527839" y="6307473"/>
          <a:ext cx="2982913" cy="458788"/>
        </p:xfrm>
        <a:graphic>
          <a:graphicData uri="http://schemas.openxmlformats.org/presentationml/2006/ole">
            <mc:AlternateContent xmlns:mc="http://schemas.openxmlformats.org/markup-compatibility/2006">
              <mc:Choice xmlns:v="urn:schemas-microsoft-com:vml" Requires="v">
                <p:oleObj spid="_x0000_s85498" r:id="rId4" imgW="1485900" imgH="228600" progId="Equation.3">
                  <p:embed/>
                </p:oleObj>
              </mc:Choice>
              <mc:Fallback>
                <p:oleObj r:id="rId4" imgW="1485900" imgH="228600" progId="Equation.3">
                  <p:embed/>
                  <p:pic>
                    <p:nvPicPr>
                      <p:cNvPr id="0" name=""/>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27839" y="6307473"/>
                        <a:ext cx="2982913" cy="458788"/>
                      </a:xfrm>
                      <a:prstGeom prst="rect">
                        <a:avLst/>
                      </a:prstGeom>
                      <a:gradFill rotWithShape="1">
                        <a:gsLst>
                          <a:gs pos="0">
                            <a:srgbClr val="FF99FF"/>
                          </a:gs>
                          <a:gs pos="50000">
                            <a:schemeClr val="bg1"/>
                          </a:gs>
                          <a:gs pos="100000">
                            <a:srgbClr val="FF99FF"/>
                          </a:gs>
                        </a:gsLst>
                        <a:lin ang="5400000" scaled="1"/>
                      </a:gra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 name="Object 5">
            <a:extLst>
              <a:ext uri="{FF2B5EF4-FFF2-40B4-BE49-F238E27FC236}">
                <a16:creationId xmlns="" xmlns:a16="http://schemas.microsoft.com/office/drawing/2014/main" id="{0B338FD6-4815-B95F-594B-9271EEE8C9F9}"/>
              </a:ext>
            </a:extLst>
          </p:cNvPr>
          <p:cNvGraphicFramePr>
            <a:graphicFrameLocks noChangeAspect="1"/>
          </p:cNvGraphicFramePr>
          <p:nvPr>
            <p:extLst>
              <p:ext uri="{D42A27DB-BD31-4B8C-83A1-F6EECF244321}">
                <p14:modId xmlns:p14="http://schemas.microsoft.com/office/powerpoint/2010/main" val="2536665058"/>
              </p:ext>
            </p:extLst>
          </p:nvPr>
        </p:nvGraphicFramePr>
        <p:xfrm>
          <a:off x="653503" y="5426914"/>
          <a:ext cx="3375025" cy="457200"/>
        </p:xfrm>
        <a:graphic>
          <a:graphicData uri="http://schemas.openxmlformats.org/presentationml/2006/ole">
            <mc:AlternateContent xmlns:mc="http://schemas.openxmlformats.org/markup-compatibility/2006">
              <mc:Choice xmlns:v="urn:schemas-microsoft-com:vml" Requires="v">
                <p:oleObj spid="_x0000_s85499" r:id="rId6" imgW="1689100" imgH="228600" progId="Equation.DSMT4">
                  <p:embed/>
                </p:oleObj>
              </mc:Choice>
              <mc:Fallback>
                <p:oleObj r:id="rId6" imgW="1689100" imgH="228600" progId="Equation.DSMT4">
                  <p:embed/>
                  <p:pic>
                    <p:nvPicPr>
                      <p:cNvPr id="0" name=""/>
                      <p:cNvPicPr>
                        <a:picLocks noGrp="1"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53503" y="5426914"/>
                        <a:ext cx="33750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9" name="Group 6">
            <a:extLst>
              <a:ext uri="{FF2B5EF4-FFF2-40B4-BE49-F238E27FC236}">
                <a16:creationId xmlns="" xmlns:a16="http://schemas.microsoft.com/office/drawing/2014/main" id="{28CDFC8E-3F84-E5FF-0C48-5A57EB897DFA}"/>
              </a:ext>
            </a:extLst>
          </p:cNvPr>
          <p:cNvGrpSpPr>
            <a:grpSpLocks/>
          </p:cNvGrpSpPr>
          <p:nvPr/>
        </p:nvGrpSpPr>
        <p:grpSpPr bwMode="auto">
          <a:xfrm>
            <a:off x="417383" y="2273449"/>
            <a:ext cx="3968750" cy="928688"/>
            <a:chOff x="476" y="1062"/>
            <a:chExt cx="2500" cy="585"/>
          </a:xfrm>
        </p:grpSpPr>
        <p:graphicFrame>
          <p:nvGraphicFramePr>
            <p:cNvPr id="10" name="Object 7">
              <a:extLst>
                <a:ext uri="{FF2B5EF4-FFF2-40B4-BE49-F238E27FC236}">
                  <a16:creationId xmlns="" xmlns:a16="http://schemas.microsoft.com/office/drawing/2014/main" id="{AE0423AD-9A52-43C1-DA30-3ECBCCB7952A}"/>
                </a:ext>
              </a:extLst>
            </p:cNvPr>
            <p:cNvGraphicFramePr>
              <a:graphicFrameLocks noChangeAspect="1"/>
            </p:cNvGraphicFramePr>
            <p:nvPr/>
          </p:nvGraphicFramePr>
          <p:xfrm>
            <a:off x="2115" y="1362"/>
            <a:ext cx="822" cy="271"/>
          </p:xfrm>
          <a:graphic>
            <a:graphicData uri="http://schemas.openxmlformats.org/presentationml/2006/ole">
              <mc:AlternateContent xmlns:mc="http://schemas.openxmlformats.org/markup-compatibility/2006">
                <mc:Choice xmlns:v="urn:schemas-microsoft-com:vml" Requires="v">
                  <p:oleObj spid="_x0000_s85500" r:id="rId8" imgW="634449" imgH="215713" progId="Equation.3">
                    <p:embed/>
                  </p:oleObj>
                </mc:Choice>
                <mc:Fallback>
                  <p:oleObj r:id="rId8" imgW="634449" imgH="215713"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115" y="1362"/>
                          <a:ext cx="822"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1" name="Object 8">
              <a:extLst>
                <a:ext uri="{FF2B5EF4-FFF2-40B4-BE49-F238E27FC236}">
                  <a16:creationId xmlns="" xmlns:a16="http://schemas.microsoft.com/office/drawing/2014/main" id="{F81588C1-4E25-6C83-7D1B-81E21AFBAE55}"/>
                </a:ext>
              </a:extLst>
            </p:cNvPr>
            <p:cNvGraphicFramePr>
              <a:graphicFrameLocks noChangeAspect="1"/>
            </p:cNvGraphicFramePr>
            <p:nvPr/>
          </p:nvGraphicFramePr>
          <p:xfrm>
            <a:off x="599" y="1383"/>
            <a:ext cx="454" cy="264"/>
          </p:xfrm>
          <a:graphic>
            <a:graphicData uri="http://schemas.openxmlformats.org/presentationml/2006/ole">
              <mc:AlternateContent xmlns:mc="http://schemas.openxmlformats.org/markup-compatibility/2006">
                <mc:Choice xmlns:v="urn:schemas-microsoft-com:vml" Requires="v">
                  <p:oleObj spid="_x0000_s85501" r:id="rId10" imgW="381000" imgH="228600" progId="Equation.3">
                    <p:embed/>
                  </p:oleObj>
                </mc:Choice>
                <mc:Fallback>
                  <p:oleObj r:id="rId10" imgW="381000" imgH="22860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99" y="1383"/>
                          <a:ext cx="454"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2" name="Object 9">
              <a:extLst>
                <a:ext uri="{FF2B5EF4-FFF2-40B4-BE49-F238E27FC236}">
                  <a16:creationId xmlns="" xmlns:a16="http://schemas.microsoft.com/office/drawing/2014/main" id="{3B78B154-4D31-9FBC-E1D7-40DB5D760F0A}"/>
                </a:ext>
              </a:extLst>
            </p:cNvPr>
            <p:cNvGraphicFramePr>
              <a:graphicFrameLocks noChangeAspect="1"/>
            </p:cNvGraphicFramePr>
            <p:nvPr/>
          </p:nvGraphicFramePr>
          <p:xfrm>
            <a:off x="2152" y="1062"/>
            <a:ext cx="824" cy="272"/>
          </p:xfrm>
          <a:graphic>
            <a:graphicData uri="http://schemas.openxmlformats.org/presentationml/2006/ole">
              <mc:AlternateContent xmlns:mc="http://schemas.openxmlformats.org/markup-compatibility/2006">
                <mc:Choice xmlns:v="urn:schemas-microsoft-com:vml" Requires="v">
                  <p:oleObj spid="_x0000_s85502" r:id="rId12" imgW="634449" imgH="215713" progId="Equation.3">
                    <p:embed/>
                  </p:oleObj>
                </mc:Choice>
                <mc:Fallback>
                  <p:oleObj r:id="rId12" imgW="634449" imgH="215713"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152" y="1062"/>
                          <a:ext cx="824"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3" name="Object 10">
              <a:extLst>
                <a:ext uri="{FF2B5EF4-FFF2-40B4-BE49-F238E27FC236}">
                  <a16:creationId xmlns="" xmlns:a16="http://schemas.microsoft.com/office/drawing/2014/main" id="{E0C4A757-1ADC-AF7C-54C1-741C5EFE92E4}"/>
                </a:ext>
              </a:extLst>
            </p:cNvPr>
            <p:cNvGraphicFramePr>
              <a:graphicFrameLocks noChangeAspect="1"/>
            </p:cNvGraphicFramePr>
            <p:nvPr/>
          </p:nvGraphicFramePr>
          <p:xfrm>
            <a:off x="561" y="1066"/>
            <a:ext cx="1504" cy="288"/>
          </p:xfrm>
          <a:graphic>
            <a:graphicData uri="http://schemas.openxmlformats.org/presentationml/2006/ole">
              <mc:AlternateContent xmlns:mc="http://schemas.openxmlformats.org/markup-compatibility/2006">
                <mc:Choice xmlns:v="urn:schemas-microsoft-com:vml" Requires="v">
                  <p:oleObj spid="_x0000_s85503" r:id="rId14" imgW="1155700" imgH="228600" progId="Equation.DSMT4">
                    <p:embed/>
                  </p:oleObj>
                </mc:Choice>
                <mc:Fallback>
                  <p:oleObj r:id="rId14" imgW="1155700" imgH="228600" progId="Equation.DSMT4">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61" y="1066"/>
                          <a:ext cx="150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4" name="AutoShape 11">
              <a:extLst>
                <a:ext uri="{FF2B5EF4-FFF2-40B4-BE49-F238E27FC236}">
                  <a16:creationId xmlns="" xmlns:a16="http://schemas.microsoft.com/office/drawing/2014/main" id="{62E9BD3B-986A-7A84-58A3-CF6BCC38B430}"/>
                </a:ext>
              </a:extLst>
            </p:cNvPr>
            <p:cNvSpPr>
              <a:spLocks/>
            </p:cNvSpPr>
            <p:nvPr/>
          </p:nvSpPr>
          <p:spPr bwMode="auto">
            <a:xfrm>
              <a:off x="476" y="1252"/>
              <a:ext cx="49" cy="276"/>
            </a:xfrm>
            <a:prstGeom prst="leftBrace">
              <a:avLst>
                <a:gd name="adj1" fmla="val 88670"/>
                <a:gd name="adj2" fmla="val 50000"/>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a:buFontTx/>
                <a:buNone/>
              </a:pPr>
              <a:endParaRPr lang="zh-CN" altLang="en-US" sz="2000" b="0">
                <a:solidFill>
                  <a:srgbClr val="000000"/>
                </a:solidFill>
                <a:latin typeface="+mn-ea"/>
                <a:ea typeface="+mn-ea"/>
              </a:endParaRPr>
            </a:p>
          </p:txBody>
        </p:sp>
      </p:grpSp>
      <p:sp>
        <p:nvSpPr>
          <p:cNvPr id="15" name="Text Box 12">
            <a:extLst>
              <a:ext uri="{FF2B5EF4-FFF2-40B4-BE49-F238E27FC236}">
                <a16:creationId xmlns="" xmlns:a16="http://schemas.microsoft.com/office/drawing/2014/main" id="{DEAA1198-776D-731D-DCC6-B7CF1A6C704A}"/>
              </a:ext>
            </a:extLst>
          </p:cNvPr>
          <p:cNvSpPr txBox="1">
            <a:spLocks noChangeArrowheads="1"/>
          </p:cNvSpPr>
          <p:nvPr/>
        </p:nvSpPr>
        <p:spPr bwMode="auto">
          <a:xfrm>
            <a:off x="431253" y="3817372"/>
            <a:ext cx="3365500" cy="32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spAutoFit/>
          </a:bodyPr>
          <a:lstStyle/>
          <a:p>
            <a:pPr>
              <a:buFontTx/>
              <a:buNone/>
            </a:pPr>
            <a:r>
              <a:rPr lang="en-US" altLang="zh-CN" sz="2000" b="0" dirty="0">
                <a:solidFill>
                  <a:srgbClr val="000000"/>
                </a:solidFill>
                <a:latin typeface="+mn-ea"/>
                <a:ea typeface="+mn-ea"/>
              </a:rPr>
              <a:t> </a:t>
            </a:r>
            <a:r>
              <a:rPr lang="zh-CN" altLang="en-US" sz="2000" b="0" dirty="0">
                <a:solidFill>
                  <a:srgbClr val="000000"/>
                </a:solidFill>
                <a:latin typeface="+mn-ea"/>
                <a:ea typeface="+mn-ea"/>
              </a:rPr>
              <a:t>当</a:t>
            </a:r>
            <a:r>
              <a:rPr lang="zh-CN" altLang="en-US" sz="2000" i="1" dirty="0">
                <a:solidFill>
                  <a:srgbClr val="0033CC"/>
                </a:solidFill>
                <a:latin typeface="+mn-ea"/>
                <a:ea typeface="+mn-ea"/>
                <a:sym typeface="Symbol" panose="05050102010706020507" pitchFamily="18" charset="2"/>
              </a:rPr>
              <a:t> </a:t>
            </a:r>
            <a:r>
              <a:rPr lang="en-US" altLang="zh-CN" sz="2000" i="1" dirty="0">
                <a:solidFill>
                  <a:srgbClr val="0033CC"/>
                </a:solidFill>
                <a:latin typeface="+mn-ea"/>
                <a:ea typeface="+mn-ea"/>
                <a:sym typeface="Symbol" panose="05050102010706020507" pitchFamily="18" charset="2"/>
              </a:rPr>
              <a:t>t</a:t>
            </a:r>
            <a:r>
              <a:rPr lang="en-US" altLang="zh-CN" sz="2000" dirty="0">
                <a:solidFill>
                  <a:srgbClr val="0033CC"/>
                </a:solidFill>
                <a:latin typeface="+mn-ea"/>
                <a:ea typeface="+mn-ea"/>
                <a:sym typeface="Symbol" panose="05050102010706020507" pitchFamily="18" charset="2"/>
              </a:rPr>
              <a:t> </a:t>
            </a:r>
            <a:r>
              <a:rPr lang="en-US" altLang="zh-CN" sz="2000" dirty="0">
                <a:solidFill>
                  <a:srgbClr val="0033CC"/>
                </a:solidFill>
                <a:latin typeface="+mn-ea"/>
                <a:ea typeface="+mn-ea"/>
              </a:rPr>
              <a:t>= </a:t>
            </a:r>
            <a:r>
              <a:rPr lang="en-US" altLang="zh-CN" sz="2000" i="1" dirty="0">
                <a:solidFill>
                  <a:srgbClr val="0033CC"/>
                </a:solidFill>
                <a:latin typeface="+mn-ea"/>
                <a:ea typeface="+mn-ea"/>
                <a:sym typeface="Symbol" panose="05050102010706020507" pitchFamily="18" charset="2"/>
              </a:rPr>
              <a:t></a:t>
            </a:r>
            <a:r>
              <a:rPr lang="en-US" altLang="zh-CN" sz="2000" baseline="-25000" dirty="0">
                <a:solidFill>
                  <a:srgbClr val="0033CC"/>
                </a:solidFill>
                <a:latin typeface="+mn-ea"/>
                <a:ea typeface="+mn-ea"/>
                <a:sym typeface="Symbol" panose="05050102010706020507" pitchFamily="18" charset="2"/>
              </a:rPr>
              <a:t>c</a:t>
            </a:r>
            <a:r>
              <a:rPr lang="en-US" altLang="zh-CN" sz="2000" dirty="0">
                <a:solidFill>
                  <a:srgbClr val="0033CC"/>
                </a:solidFill>
                <a:latin typeface="+mn-ea"/>
                <a:ea typeface="+mn-ea"/>
              </a:rPr>
              <a:t> </a:t>
            </a:r>
            <a:r>
              <a:rPr lang="zh-CN" altLang="en-US" sz="2000" dirty="0">
                <a:solidFill>
                  <a:srgbClr val="0033CC"/>
                </a:solidFill>
                <a:latin typeface="+mn-ea"/>
                <a:ea typeface="+mn-ea"/>
              </a:rPr>
              <a:t>时，</a:t>
            </a:r>
            <a:r>
              <a:rPr lang="en-US" altLang="zh-CN" sz="2000" i="1" dirty="0" err="1">
                <a:solidFill>
                  <a:srgbClr val="0033CC"/>
                </a:solidFill>
                <a:latin typeface="+mn-ea"/>
                <a:ea typeface="+mn-ea"/>
              </a:rPr>
              <a:t>i</a:t>
            </a:r>
            <a:r>
              <a:rPr lang="en-US" altLang="zh-CN" sz="2000" baseline="-25000" dirty="0" err="1">
                <a:solidFill>
                  <a:srgbClr val="0033CC"/>
                </a:solidFill>
                <a:latin typeface="+mn-ea"/>
                <a:ea typeface="+mn-ea"/>
              </a:rPr>
              <a:t>C</a:t>
            </a:r>
            <a:r>
              <a:rPr lang="en-US" altLang="zh-CN" sz="2000" dirty="0">
                <a:solidFill>
                  <a:srgbClr val="0033CC"/>
                </a:solidFill>
                <a:latin typeface="+mn-ea"/>
                <a:ea typeface="+mn-ea"/>
              </a:rPr>
              <a:t>=0</a:t>
            </a:r>
            <a:r>
              <a:rPr lang="zh-CN" altLang="en-US" sz="2000" dirty="0">
                <a:solidFill>
                  <a:srgbClr val="0033CC"/>
                </a:solidFill>
                <a:latin typeface="+mn-ea"/>
                <a:ea typeface="+mn-ea"/>
              </a:rPr>
              <a:t>，</a:t>
            </a:r>
            <a:r>
              <a:rPr lang="zh-CN" altLang="en-US" sz="2000" b="0" dirty="0">
                <a:solidFill>
                  <a:srgbClr val="000000"/>
                </a:solidFill>
                <a:latin typeface="+mn-ea"/>
                <a:ea typeface="+mn-ea"/>
              </a:rPr>
              <a:t>则</a:t>
            </a:r>
          </a:p>
        </p:txBody>
      </p:sp>
      <p:graphicFrame>
        <p:nvGraphicFramePr>
          <p:cNvPr id="16" name="Object 13">
            <a:extLst>
              <a:ext uri="{FF2B5EF4-FFF2-40B4-BE49-F238E27FC236}">
                <a16:creationId xmlns="" xmlns:a16="http://schemas.microsoft.com/office/drawing/2014/main" id="{B24F21E6-E5B9-AD7B-D9CC-C88234EA75A9}"/>
              </a:ext>
            </a:extLst>
          </p:cNvPr>
          <p:cNvGraphicFramePr>
            <a:graphicFrameLocks noChangeAspect="1"/>
          </p:cNvGraphicFramePr>
          <p:nvPr>
            <p:extLst>
              <p:ext uri="{D42A27DB-BD31-4B8C-83A1-F6EECF244321}">
                <p14:modId xmlns:p14="http://schemas.microsoft.com/office/powerpoint/2010/main" val="1700289522"/>
              </p:ext>
            </p:extLst>
          </p:nvPr>
        </p:nvGraphicFramePr>
        <p:xfrm>
          <a:off x="612646" y="4173628"/>
          <a:ext cx="2798762" cy="792162"/>
        </p:xfrm>
        <a:graphic>
          <a:graphicData uri="http://schemas.openxmlformats.org/presentationml/2006/ole">
            <mc:AlternateContent xmlns:mc="http://schemas.openxmlformats.org/markup-compatibility/2006">
              <mc:Choice xmlns:v="urn:schemas-microsoft-com:vml" Requires="v">
                <p:oleObj spid="_x0000_s85504" r:id="rId16" imgW="1524000" imgH="431800" progId="Equation.DSMT4">
                  <p:embed/>
                </p:oleObj>
              </mc:Choice>
              <mc:Fallback>
                <p:oleObj r:id="rId16" imgW="1524000" imgH="431800" progId="Equation.DSMT4">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12646" y="4173628"/>
                        <a:ext cx="2798762" cy="792162"/>
                      </a:xfrm>
                      <a:prstGeom prst="rect">
                        <a:avLst/>
                      </a:prstGeom>
                      <a:gradFill rotWithShape="1">
                        <a:gsLst>
                          <a:gs pos="0">
                            <a:srgbClr val="FF99FF">
                              <a:alpha val="89998"/>
                            </a:srgbClr>
                          </a:gs>
                          <a:gs pos="50000">
                            <a:schemeClr val="bg1"/>
                          </a:gs>
                          <a:gs pos="100000">
                            <a:srgbClr val="FF99FF">
                              <a:alpha val="89998"/>
                            </a:srgbClr>
                          </a:gs>
                        </a:gsLst>
                        <a:lin ang="5400000" scaled="1"/>
                      </a:gra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8" name="Object 17">
            <a:extLst>
              <a:ext uri="{FF2B5EF4-FFF2-40B4-BE49-F238E27FC236}">
                <a16:creationId xmlns="" xmlns:a16="http://schemas.microsoft.com/office/drawing/2014/main" id="{68D5C839-2A8E-6201-A25A-C86DD83E3E5F}"/>
              </a:ext>
            </a:extLst>
          </p:cNvPr>
          <p:cNvGraphicFramePr>
            <a:graphicFrameLocks noChangeAspect="1"/>
          </p:cNvGraphicFramePr>
          <p:nvPr>
            <p:extLst>
              <p:ext uri="{D42A27DB-BD31-4B8C-83A1-F6EECF244321}">
                <p14:modId xmlns:p14="http://schemas.microsoft.com/office/powerpoint/2010/main" val="2187321924"/>
              </p:ext>
            </p:extLst>
          </p:nvPr>
        </p:nvGraphicFramePr>
        <p:xfrm>
          <a:off x="1090340" y="1728872"/>
          <a:ext cx="3016250" cy="501650"/>
        </p:xfrm>
        <a:graphic>
          <a:graphicData uri="http://schemas.openxmlformats.org/presentationml/2006/ole">
            <mc:AlternateContent xmlns:mc="http://schemas.openxmlformats.org/markup-compatibility/2006">
              <mc:Choice xmlns:v="urn:schemas-microsoft-com:vml" Requires="v">
                <p:oleObj spid="_x0000_s85505" r:id="rId18" imgW="1371600" imgH="228600" progId="Equation.DSMT4">
                  <p:embed/>
                </p:oleObj>
              </mc:Choice>
              <mc:Fallback>
                <p:oleObj r:id="rId18" imgW="1371600" imgH="228600" progId="Equation.DSMT4">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090340" y="1728872"/>
                        <a:ext cx="3016250"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0" name="Object 19">
            <a:extLst>
              <a:ext uri="{FF2B5EF4-FFF2-40B4-BE49-F238E27FC236}">
                <a16:creationId xmlns="" xmlns:a16="http://schemas.microsoft.com/office/drawing/2014/main" id="{E1352E2D-B2F0-7946-EF9A-3B66BCB7FFAA}"/>
              </a:ext>
            </a:extLst>
          </p:cNvPr>
          <p:cNvGraphicFramePr>
            <a:graphicFrameLocks noChangeAspect="1"/>
          </p:cNvGraphicFramePr>
          <p:nvPr>
            <p:extLst>
              <p:ext uri="{D42A27DB-BD31-4B8C-83A1-F6EECF244321}">
                <p14:modId xmlns:p14="http://schemas.microsoft.com/office/powerpoint/2010/main" val="2569452886"/>
              </p:ext>
            </p:extLst>
          </p:nvPr>
        </p:nvGraphicFramePr>
        <p:xfrm>
          <a:off x="582912" y="3292493"/>
          <a:ext cx="3922713" cy="469900"/>
        </p:xfrm>
        <a:graphic>
          <a:graphicData uri="http://schemas.openxmlformats.org/presentationml/2006/ole">
            <mc:AlternateContent xmlns:mc="http://schemas.openxmlformats.org/markup-compatibility/2006">
              <mc:Choice xmlns:v="urn:schemas-microsoft-com:vml" Requires="v">
                <p:oleObj spid="_x0000_s85506" r:id="rId20" imgW="1905000" imgH="228600" progId="Equation.DSMT4">
                  <p:embed/>
                </p:oleObj>
              </mc:Choice>
              <mc:Fallback>
                <p:oleObj r:id="rId20" imgW="1905000" imgH="228600" progId="Equation.DSMT4">
                  <p:embed/>
                  <p:pic>
                    <p:nvPicPr>
                      <p:cNvPr id="0" name=""/>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582912" y="3292493"/>
                        <a:ext cx="3922713"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1" name="Text Box 21">
            <a:extLst>
              <a:ext uri="{FF2B5EF4-FFF2-40B4-BE49-F238E27FC236}">
                <a16:creationId xmlns="" xmlns:a16="http://schemas.microsoft.com/office/drawing/2014/main" id="{298659AB-8486-6FF1-445A-6DEC0C700F34}"/>
              </a:ext>
            </a:extLst>
          </p:cNvPr>
          <p:cNvSpPr txBox="1">
            <a:spLocks noChangeArrowheads="1"/>
          </p:cNvSpPr>
          <p:nvPr/>
        </p:nvSpPr>
        <p:spPr bwMode="auto">
          <a:xfrm>
            <a:off x="632600" y="5852857"/>
            <a:ext cx="3508375" cy="32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spAutoFit/>
          </a:bodyPr>
          <a:lstStyle/>
          <a:p>
            <a:pPr>
              <a:buFontTx/>
              <a:buNone/>
            </a:pPr>
            <a:r>
              <a:rPr lang="zh-CN" altLang="en-US" sz="2000" dirty="0">
                <a:solidFill>
                  <a:srgbClr val="000000"/>
                </a:solidFill>
                <a:latin typeface="+mn-ea"/>
                <a:ea typeface="+mn-ea"/>
              </a:rPr>
              <a:t>当</a:t>
            </a:r>
            <a:r>
              <a:rPr lang="zh-CN" altLang="en-US" sz="2000" i="1" dirty="0">
                <a:solidFill>
                  <a:srgbClr val="0033CC"/>
                </a:solidFill>
                <a:latin typeface="+mn-ea"/>
                <a:ea typeface="+mn-ea"/>
                <a:sym typeface="Symbol" panose="05050102010706020507" pitchFamily="18" charset="2"/>
              </a:rPr>
              <a:t> </a:t>
            </a:r>
            <a:r>
              <a:rPr lang="en-US" altLang="zh-CN" sz="2000" i="1" dirty="0">
                <a:solidFill>
                  <a:srgbClr val="0033CC"/>
                </a:solidFill>
                <a:latin typeface="+mn-ea"/>
                <a:ea typeface="+mn-ea"/>
                <a:sym typeface="Symbol" panose="05050102010706020507" pitchFamily="18" charset="2"/>
              </a:rPr>
              <a:t>t</a:t>
            </a:r>
            <a:r>
              <a:rPr lang="en-US" altLang="zh-CN" sz="2000" dirty="0">
                <a:solidFill>
                  <a:srgbClr val="0033CC"/>
                </a:solidFill>
                <a:latin typeface="+mn-ea"/>
                <a:ea typeface="+mn-ea"/>
                <a:sym typeface="Symbol" panose="05050102010706020507" pitchFamily="18" charset="2"/>
              </a:rPr>
              <a:t> </a:t>
            </a:r>
            <a:r>
              <a:rPr lang="en-US" altLang="zh-CN" sz="2000" dirty="0">
                <a:solidFill>
                  <a:srgbClr val="0033CC"/>
                </a:solidFill>
                <a:latin typeface="+mn-ea"/>
                <a:ea typeface="+mn-ea"/>
              </a:rPr>
              <a:t>= </a:t>
            </a:r>
            <a:r>
              <a:rPr lang="en-US" altLang="zh-CN" sz="2000" i="1" dirty="0">
                <a:solidFill>
                  <a:srgbClr val="0033CC"/>
                </a:solidFill>
                <a:latin typeface="+mn-ea"/>
                <a:ea typeface="+mn-ea"/>
                <a:sym typeface="Symbol" panose="05050102010706020507" pitchFamily="18" charset="2"/>
              </a:rPr>
              <a:t>0 </a:t>
            </a:r>
            <a:r>
              <a:rPr lang="zh-CN" altLang="en-US" sz="2000" dirty="0">
                <a:solidFill>
                  <a:srgbClr val="0033CC"/>
                </a:solidFill>
                <a:latin typeface="+mn-ea"/>
                <a:ea typeface="+mn-ea"/>
              </a:rPr>
              <a:t>时，</a:t>
            </a:r>
            <a:r>
              <a:rPr lang="en-US" altLang="zh-CN" sz="2000" i="1" dirty="0" err="1">
                <a:solidFill>
                  <a:srgbClr val="0033CC"/>
                </a:solidFill>
                <a:latin typeface="+mn-ea"/>
                <a:ea typeface="+mn-ea"/>
              </a:rPr>
              <a:t>i</a:t>
            </a:r>
            <a:r>
              <a:rPr lang="en-US" altLang="zh-CN" sz="2000" baseline="-25000" dirty="0" err="1">
                <a:solidFill>
                  <a:srgbClr val="0033CC"/>
                </a:solidFill>
                <a:latin typeface="+mn-ea"/>
                <a:ea typeface="+mn-ea"/>
              </a:rPr>
              <a:t>C</a:t>
            </a:r>
            <a:r>
              <a:rPr lang="en-US" altLang="zh-CN" sz="2000" dirty="0">
                <a:solidFill>
                  <a:srgbClr val="0033CC"/>
                </a:solidFill>
                <a:latin typeface="+mn-ea"/>
                <a:ea typeface="+mn-ea"/>
              </a:rPr>
              <a:t>=</a:t>
            </a:r>
            <a:r>
              <a:rPr lang="en-US" altLang="zh-CN" sz="2000" i="1" dirty="0">
                <a:solidFill>
                  <a:srgbClr val="0033CC"/>
                </a:solidFill>
                <a:latin typeface="+mn-ea"/>
                <a:ea typeface="+mn-ea"/>
              </a:rPr>
              <a:t>I</a:t>
            </a:r>
            <a:r>
              <a:rPr lang="en-US" altLang="zh-CN" sz="2000" i="1" baseline="-25000" dirty="0">
                <a:solidFill>
                  <a:srgbClr val="0033CC"/>
                </a:solidFill>
                <a:latin typeface="+mn-ea"/>
                <a:ea typeface="+mn-ea"/>
              </a:rPr>
              <a:t>CM</a:t>
            </a:r>
            <a:r>
              <a:rPr lang="en-US" altLang="zh-CN" sz="2000" baseline="-25000" dirty="0">
                <a:solidFill>
                  <a:srgbClr val="0033CC"/>
                </a:solidFill>
                <a:latin typeface="+mn-ea"/>
                <a:ea typeface="+mn-ea"/>
              </a:rPr>
              <a:t>   </a:t>
            </a:r>
            <a:r>
              <a:rPr lang="zh-CN" altLang="en-US" sz="2000" dirty="0">
                <a:solidFill>
                  <a:srgbClr val="0033CC"/>
                </a:solidFill>
                <a:latin typeface="+mn-ea"/>
                <a:ea typeface="+mn-ea"/>
              </a:rPr>
              <a:t>，则</a:t>
            </a:r>
            <a:endParaRPr lang="zh-CN" altLang="en-US" sz="2000" dirty="0">
              <a:solidFill>
                <a:srgbClr val="000000"/>
              </a:solidFill>
              <a:latin typeface="+mn-ea"/>
              <a:ea typeface="+mn-ea"/>
            </a:endParaRPr>
          </a:p>
        </p:txBody>
      </p:sp>
      <p:graphicFrame>
        <p:nvGraphicFramePr>
          <p:cNvPr id="23" name="Object 23">
            <a:extLst>
              <a:ext uri="{FF2B5EF4-FFF2-40B4-BE49-F238E27FC236}">
                <a16:creationId xmlns="" xmlns:a16="http://schemas.microsoft.com/office/drawing/2014/main" id="{BBC8287B-8060-E74C-AB65-85B8B381282A}"/>
              </a:ext>
            </a:extLst>
          </p:cNvPr>
          <p:cNvGraphicFramePr>
            <a:graphicFrameLocks noChangeAspect="1"/>
          </p:cNvGraphicFramePr>
          <p:nvPr>
            <p:extLst>
              <p:ext uri="{D42A27DB-BD31-4B8C-83A1-F6EECF244321}">
                <p14:modId xmlns:p14="http://schemas.microsoft.com/office/powerpoint/2010/main" val="2631189700"/>
              </p:ext>
            </p:extLst>
          </p:nvPr>
        </p:nvGraphicFramePr>
        <p:xfrm>
          <a:off x="653503" y="5028455"/>
          <a:ext cx="2554288" cy="425450"/>
        </p:xfrm>
        <a:graphic>
          <a:graphicData uri="http://schemas.openxmlformats.org/presentationml/2006/ole">
            <mc:AlternateContent xmlns:mc="http://schemas.openxmlformats.org/markup-compatibility/2006">
              <mc:Choice xmlns:v="urn:schemas-microsoft-com:vml" Requires="v">
                <p:oleObj spid="_x0000_s85507" r:id="rId22" imgW="1371600" imgH="228600" progId="Equation.DSMT4">
                  <p:embed/>
                </p:oleObj>
              </mc:Choice>
              <mc:Fallback>
                <p:oleObj r:id="rId22" imgW="1371600" imgH="228600" progId="Equation.DSMT4">
                  <p:embed/>
                  <p:pic>
                    <p:nvPicPr>
                      <p:cNvPr id="0" name=""/>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653503" y="5028455"/>
                        <a:ext cx="2554288"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4" name="AutoShape 24">
            <a:extLst>
              <a:ext uri="{FF2B5EF4-FFF2-40B4-BE49-F238E27FC236}">
                <a16:creationId xmlns="" xmlns:a16="http://schemas.microsoft.com/office/drawing/2014/main" id="{51B0E08C-785B-7925-5CB0-65C8456B0714}"/>
              </a:ext>
            </a:extLst>
          </p:cNvPr>
          <p:cNvSpPr>
            <a:spLocks noChangeArrowheads="1"/>
          </p:cNvSpPr>
          <p:nvPr/>
        </p:nvSpPr>
        <p:spPr bwMode="auto">
          <a:xfrm flipV="1">
            <a:off x="4040064" y="5098234"/>
            <a:ext cx="628650" cy="228600"/>
          </a:xfrm>
          <a:custGeom>
            <a:avLst/>
            <a:gdLst>
              <a:gd name="T0" fmla="*/ 16200 w 21600"/>
              <a:gd name="T1" fmla="*/ 0 h 21600"/>
              <a:gd name="T2" fmla="*/ 16200 w 21600"/>
              <a:gd name="T3" fmla="*/ 5400 h 21600"/>
              <a:gd name="T4" fmla="*/ 3375 w 21600"/>
              <a:gd name="T5" fmla="*/ 5400 h 21600"/>
              <a:gd name="T6" fmla="*/ 3375 w 21600"/>
              <a:gd name="T7" fmla="*/ 16200 h 21600"/>
              <a:gd name="T8" fmla="*/ 16200 w 21600"/>
              <a:gd name="T9" fmla="*/ 16200 h 21600"/>
              <a:gd name="T10" fmla="*/ 16200 w 21600"/>
              <a:gd name="T11" fmla="*/ 21600 h 21600"/>
              <a:gd name="T12" fmla="*/ 21600 w 21600"/>
              <a:gd name="T13" fmla="*/ 10800 h 21600"/>
              <a:gd name="T14" fmla="*/ 16200 w 21600"/>
              <a:gd name="T15" fmla="*/ 0 h 21600"/>
              <a:gd name="T16" fmla="*/ 1350 w 21600"/>
              <a:gd name="T17" fmla="*/ 5400 h 21600"/>
              <a:gd name="T18" fmla="*/ 1350 w 21600"/>
              <a:gd name="T19" fmla="*/ 16200 h 21600"/>
              <a:gd name="T20" fmla="*/ 2700 w 21600"/>
              <a:gd name="T21" fmla="*/ 16200 h 21600"/>
              <a:gd name="T22" fmla="*/ 2700 w 21600"/>
              <a:gd name="T23" fmla="*/ 5400 h 21600"/>
              <a:gd name="T24" fmla="*/ 1350 w 21600"/>
              <a:gd name="T25" fmla="*/ 5400 h 21600"/>
              <a:gd name="T26" fmla="*/ 0 w 21600"/>
              <a:gd name="T27" fmla="*/ 5400 h 21600"/>
              <a:gd name="T28" fmla="*/ 0 w 21600"/>
              <a:gd name="T29" fmla="*/ 16200 h 21600"/>
              <a:gd name="T30" fmla="*/ 675 w 21600"/>
              <a:gd name="T31" fmla="*/ 16200 h 21600"/>
              <a:gd name="T32" fmla="*/ 675 w 21600"/>
              <a:gd name="T33" fmla="*/ 5400 h 21600"/>
              <a:gd name="T34" fmla="*/ 0 w 21600"/>
              <a:gd name="T35" fmla="*/ 5400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CC99FF">
              <a:alpha val="50195"/>
            </a:srgbClr>
          </a:solidFill>
          <a:ln w="9525">
            <a:solidFill>
              <a:schemeClr val="tx1"/>
            </a:solidFill>
            <a:miter lim="800000"/>
            <a:headEnd/>
            <a:tailEnd/>
          </a:ln>
        </p:spPr>
        <p:txBody>
          <a:bodyPr/>
          <a:lstStyle/>
          <a:p>
            <a:endParaRPr lang="zh-CN" altLang="en-US" sz="2000">
              <a:latin typeface="+mn-ea"/>
              <a:ea typeface="+mn-ea"/>
            </a:endParaRPr>
          </a:p>
        </p:txBody>
      </p:sp>
      <p:graphicFrame>
        <p:nvGraphicFramePr>
          <p:cNvPr id="26" name="Object 26">
            <a:extLst>
              <a:ext uri="{FF2B5EF4-FFF2-40B4-BE49-F238E27FC236}">
                <a16:creationId xmlns="" xmlns:a16="http://schemas.microsoft.com/office/drawing/2014/main" id="{9A6102C8-EAB2-B3A1-137B-5B16AD112CF7}"/>
              </a:ext>
            </a:extLst>
          </p:cNvPr>
          <p:cNvGraphicFramePr>
            <a:graphicFrameLocks noChangeAspect="1"/>
          </p:cNvGraphicFramePr>
          <p:nvPr>
            <p:extLst>
              <p:ext uri="{D42A27DB-BD31-4B8C-83A1-F6EECF244321}">
                <p14:modId xmlns:p14="http://schemas.microsoft.com/office/powerpoint/2010/main" val="2037990798"/>
              </p:ext>
            </p:extLst>
          </p:nvPr>
        </p:nvGraphicFramePr>
        <p:xfrm>
          <a:off x="4817023" y="4706604"/>
          <a:ext cx="2238375" cy="863600"/>
        </p:xfrm>
        <a:graphic>
          <a:graphicData uri="http://schemas.openxmlformats.org/presentationml/2006/ole">
            <mc:AlternateContent xmlns:mc="http://schemas.openxmlformats.org/markup-compatibility/2006">
              <mc:Choice xmlns:v="urn:schemas-microsoft-com:vml" Requires="v">
                <p:oleObj spid="_x0000_s85508" r:id="rId24" imgW="1129810" imgH="431613" progId="Equation.DSMT4">
                  <p:embed/>
                </p:oleObj>
              </mc:Choice>
              <mc:Fallback>
                <p:oleObj r:id="rId24" imgW="1129810" imgH="431613" progId="Equation.DSMT4">
                  <p:embed/>
                  <p:pic>
                    <p:nvPicPr>
                      <p:cNvPr id="0" name=""/>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4817023" y="4706604"/>
                        <a:ext cx="2238375"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7" name="AutoShape 27">
            <a:extLst>
              <a:ext uri="{FF2B5EF4-FFF2-40B4-BE49-F238E27FC236}">
                <a16:creationId xmlns="" xmlns:a16="http://schemas.microsoft.com/office/drawing/2014/main" id="{95C9FC53-BFF5-363B-68BE-719C4DAFABCD}"/>
              </a:ext>
            </a:extLst>
          </p:cNvPr>
          <p:cNvSpPr>
            <a:spLocks noChangeArrowheads="1"/>
          </p:cNvSpPr>
          <p:nvPr/>
        </p:nvSpPr>
        <p:spPr bwMode="auto">
          <a:xfrm flipV="1">
            <a:off x="4045416" y="5548364"/>
            <a:ext cx="628650" cy="228600"/>
          </a:xfrm>
          <a:custGeom>
            <a:avLst/>
            <a:gdLst>
              <a:gd name="T0" fmla="*/ 16200 w 21600"/>
              <a:gd name="T1" fmla="*/ 0 h 21600"/>
              <a:gd name="T2" fmla="*/ 16200 w 21600"/>
              <a:gd name="T3" fmla="*/ 5400 h 21600"/>
              <a:gd name="T4" fmla="*/ 3375 w 21600"/>
              <a:gd name="T5" fmla="*/ 5400 h 21600"/>
              <a:gd name="T6" fmla="*/ 3375 w 21600"/>
              <a:gd name="T7" fmla="*/ 16200 h 21600"/>
              <a:gd name="T8" fmla="*/ 16200 w 21600"/>
              <a:gd name="T9" fmla="*/ 16200 h 21600"/>
              <a:gd name="T10" fmla="*/ 16200 w 21600"/>
              <a:gd name="T11" fmla="*/ 21600 h 21600"/>
              <a:gd name="T12" fmla="*/ 21600 w 21600"/>
              <a:gd name="T13" fmla="*/ 10800 h 21600"/>
              <a:gd name="T14" fmla="*/ 16200 w 21600"/>
              <a:gd name="T15" fmla="*/ 0 h 21600"/>
              <a:gd name="T16" fmla="*/ 1350 w 21600"/>
              <a:gd name="T17" fmla="*/ 5400 h 21600"/>
              <a:gd name="T18" fmla="*/ 1350 w 21600"/>
              <a:gd name="T19" fmla="*/ 16200 h 21600"/>
              <a:gd name="T20" fmla="*/ 2700 w 21600"/>
              <a:gd name="T21" fmla="*/ 16200 h 21600"/>
              <a:gd name="T22" fmla="*/ 2700 w 21600"/>
              <a:gd name="T23" fmla="*/ 5400 h 21600"/>
              <a:gd name="T24" fmla="*/ 1350 w 21600"/>
              <a:gd name="T25" fmla="*/ 5400 h 21600"/>
              <a:gd name="T26" fmla="*/ 0 w 21600"/>
              <a:gd name="T27" fmla="*/ 5400 h 21600"/>
              <a:gd name="T28" fmla="*/ 0 w 21600"/>
              <a:gd name="T29" fmla="*/ 16200 h 21600"/>
              <a:gd name="T30" fmla="*/ 675 w 21600"/>
              <a:gd name="T31" fmla="*/ 16200 h 21600"/>
              <a:gd name="T32" fmla="*/ 675 w 21600"/>
              <a:gd name="T33" fmla="*/ 5400 h 21600"/>
              <a:gd name="T34" fmla="*/ 0 w 21600"/>
              <a:gd name="T35" fmla="*/ 5400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CC99FF">
              <a:alpha val="50195"/>
            </a:srgbClr>
          </a:solidFill>
          <a:ln w="9525">
            <a:solidFill>
              <a:schemeClr val="tx1"/>
            </a:solidFill>
            <a:miter lim="800000"/>
            <a:headEnd/>
            <a:tailEnd/>
          </a:ln>
        </p:spPr>
        <p:txBody>
          <a:bodyPr/>
          <a:lstStyle/>
          <a:p>
            <a:endParaRPr lang="zh-CN" altLang="en-US" sz="2000">
              <a:latin typeface="+mn-ea"/>
              <a:ea typeface="+mn-ea"/>
            </a:endParaRPr>
          </a:p>
        </p:txBody>
      </p:sp>
      <p:graphicFrame>
        <p:nvGraphicFramePr>
          <p:cNvPr id="28" name="Object 28">
            <a:extLst>
              <a:ext uri="{FF2B5EF4-FFF2-40B4-BE49-F238E27FC236}">
                <a16:creationId xmlns="" xmlns:a16="http://schemas.microsoft.com/office/drawing/2014/main" id="{99078847-E16C-BBFC-7413-CFCA82841B54}"/>
              </a:ext>
            </a:extLst>
          </p:cNvPr>
          <p:cNvGraphicFramePr>
            <a:graphicFrameLocks noChangeAspect="1"/>
          </p:cNvGraphicFramePr>
          <p:nvPr>
            <p:extLst>
              <p:ext uri="{D42A27DB-BD31-4B8C-83A1-F6EECF244321}">
                <p14:modId xmlns:p14="http://schemas.microsoft.com/office/powerpoint/2010/main" val="2379814176"/>
              </p:ext>
            </p:extLst>
          </p:nvPr>
        </p:nvGraphicFramePr>
        <p:xfrm>
          <a:off x="4924945" y="5548364"/>
          <a:ext cx="2598738" cy="788988"/>
        </p:xfrm>
        <a:graphic>
          <a:graphicData uri="http://schemas.openxmlformats.org/presentationml/2006/ole">
            <mc:AlternateContent xmlns:mc="http://schemas.openxmlformats.org/markup-compatibility/2006">
              <mc:Choice xmlns:v="urn:schemas-microsoft-com:vml" Requires="v">
                <p:oleObj spid="_x0000_s85509" r:id="rId26" imgW="1422400" imgH="431800" progId="Equation.DSMT4">
                  <p:embed/>
                </p:oleObj>
              </mc:Choice>
              <mc:Fallback>
                <p:oleObj r:id="rId26" imgW="1422400" imgH="431800" progId="Equation.DSMT4">
                  <p:embed/>
                  <p:pic>
                    <p:nvPicPr>
                      <p:cNvPr id="0" name=""/>
                      <p:cNvPicPr>
                        <a:picLocks noGrp="1"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4924945" y="5548364"/>
                        <a:ext cx="2598738" cy="788988"/>
                      </a:xfrm>
                      <a:prstGeom prst="rect">
                        <a:avLst/>
                      </a:prstGeom>
                      <a:gradFill rotWithShape="1">
                        <a:gsLst>
                          <a:gs pos="0">
                            <a:srgbClr val="FF99FF"/>
                          </a:gs>
                          <a:gs pos="50000">
                            <a:schemeClr val="bg1"/>
                          </a:gs>
                          <a:gs pos="100000">
                            <a:srgbClr val="FF99FF"/>
                          </a:gs>
                        </a:gsLst>
                        <a:lin ang="5400000" scaled="1"/>
                      </a:gra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470155648"/>
      </p:ext>
    </p:extLst>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118</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4.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谐振</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功率</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放大器</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graphicFrame>
        <p:nvGraphicFramePr>
          <p:cNvPr id="5" name="Object 2">
            <a:extLst>
              <a:ext uri="{FF2B5EF4-FFF2-40B4-BE49-F238E27FC236}">
                <a16:creationId xmlns="" xmlns:a16="http://schemas.microsoft.com/office/drawing/2014/main" id="{8AC190AB-1665-DCEE-0093-E176902BFC1E}"/>
              </a:ext>
            </a:extLst>
          </p:cNvPr>
          <p:cNvGraphicFramePr>
            <a:graphicFrameLocks noChangeAspect="1"/>
          </p:cNvGraphicFramePr>
          <p:nvPr>
            <p:extLst>
              <p:ext uri="{D42A27DB-BD31-4B8C-83A1-F6EECF244321}">
                <p14:modId xmlns:p14="http://schemas.microsoft.com/office/powerpoint/2010/main" val="1367395899"/>
              </p:ext>
            </p:extLst>
          </p:nvPr>
        </p:nvGraphicFramePr>
        <p:xfrm>
          <a:off x="501651" y="2374603"/>
          <a:ext cx="2260600" cy="1003300"/>
        </p:xfrm>
        <a:graphic>
          <a:graphicData uri="http://schemas.openxmlformats.org/presentationml/2006/ole">
            <mc:AlternateContent xmlns:mc="http://schemas.openxmlformats.org/markup-compatibility/2006">
              <mc:Choice xmlns:v="urn:schemas-microsoft-com:vml" Requires="v">
                <p:oleObj spid="_x0000_s86438" r:id="rId3" imgW="1054100" imgH="469900" progId="Equation.DSMT4">
                  <p:embed/>
                </p:oleObj>
              </mc:Choice>
              <mc:Fallback>
                <p:oleObj r:id="rId3" imgW="1054100" imgH="4699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1651" y="2374603"/>
                        <a:ext cx="2260600" cy="100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 name="Object 3">
            <a:extLst>
              <a:ext uri="{FF2B5EF4-FFF2-40B4-BE49-F238E27FC236}">
                <a16:creationId xmlns="" xmlns:a16="http://schemas.microsoft.com/office/drawing/2014/main" id="{52109BAB-14CD-88F9-6BAC-5EE7CA8A7716}"/>
              </a:ext>
            </a:extLst>
          </p:cNvPr>
          <p:cNvGraphicFramePr>
            <a:graphicFrameLocks noChangeAspect="1"/>
          </p:cNvGraphicFramePr>
          <p:nvPr>
            <p:extLst>
              <p:ext uri="{D42A27DB-BD31-4B8C-83A1-F6EECF244321}">
                <p14:modId xmlns:p14="http://schemas.microsoft.com/office/powerpoint/2010/main" val="1023230929"/>
              </p:ext>
            </p:extLst>
          </p:nvPr>
        </p:nvGraphicFramePr>
        <p:xfrm>
          <a:off x="585430" y="3572256"/>
          <a:ext cx="3028950" cy="995362"/>
        </p:xfrm>
        <a:graphic>
          <a:graphicData uri="http://schemas.openxmlformats.org/presentationml/2006/ole">
            <mc:AlternateContent xmlns:mc="http://schemas.openxmlformats.org/markup-compatibility/2006">
              <mc:Choice xmlns:v="urn:schemas-microsoft-com:vml" Requires="v">
                <p:oleObj spid="_x0000_s86439" r:id="rId5" imgW="1422400" imgH="469900" progId="Equation.DSMT4">
                  <p:embed/>
                </p:oleObj>
              </mc:Choice>
              <mc:Fallback>
                <p:oleObj r:id="rId5" imgW="1422400" imgH="46990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5430" y="3572256"/>
                        <a:ext cx="3028950" cy="995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 name="Object 4">
            <a:extLst>
              <a:ext uri="{FF2B5EF4-FFF2-40B4-BE49-F238E27FC236}">
                <a16:creationId xmlns="" xmlns:a16="http://schemas.microsoft.com/office/drawing/2014/main" id="{886860DB-57F9-D157-630C-3B4D4955DE1A}"/>
              </a:ext>
            </a:extLst>
          </p:cNvPr>
          <p:cNvGraphicFramePr>
            <a:graphicFrameLocks noChangeAspect="1"/>
          </p:cNvGraphicFramePr>
          <p:nvPr>
            <p:extLst>
              <p:ext uri="{D42A27DB-BD31-4B8C-83A1-F6EECF244321}">
                <p14:modId xmlns:p14="http://schemas.microsoft.com/office/powerpoint/2010/main" val="933864943"/>
              </p:ext>
            </p:extLst>
          </p:nvPr>
        </p:nvGraphicFramePr>
        <p:xfrm>
          <a:off x="5753051" y="2637449"/>
          <a:ext cx="1528762" cy="457200"/>
        </p:xfrm>
        <a:graphic>
          <a:graphicData uri="http://schemas.openxmlformats.org/presentationml/2006/ole">
            <mc:AlternateContent xmlns:mc="http://schemas.openxmlformats.org/markup-compatibility/2006">
              <mc:Choice xmlns:v="urn:schemas-microsoft-com:vml" Requires="v">
                <p:oleObj spid="_x0000_s86440" r:id="rId7" imgW="761669" imgH="228501" progId="Equation.DSMT4">
                  <p:embed/>
                </p:oleObj>
              </mc:Choice>
              <mc:Fallback>
                <p:oleObj r:id="rId7" imgW="761669" imgH="228501"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753051" y="2637449"/>
                        <a:ext cx="15287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 name="Object 5">
            <a:extLst>
              <a:ext uri="{FF2B5EF4-FFF2-40B4-BE49-F238E27FC236}">
                <a16:creationId xmlns="" xmlns:a16="http://schemas.microsoft.com/office/drawing/2014/main" id="{1964C4A4-210C-16FA-1108-D1E0E3791359}"/>
              </a:ext>
            </a:extLst>
          </p:cNvPr>
          <p:cNvGraphicFramePr>
            <a:graphicFrameLocks noChangeAspect="1"/>
          </p:cNvGraphicFramePr>
          <p:nvPr>
            <p:extLst>
              <p:ext uri="{D42A27DB-BD31-4B8C-83A1-F6EECF244321}">
                <p14:modId xmlns:p14="http://schemas.microsoft.com/office/powerpoint/2010/main" val="2926781264"/>
              </p:ext>
            </p:extLst>
          </p:nvPr>
        </p:nvGraphicFramePr>
        <p:xfrm>
          <a:off x="6541730" y="3810381"/>
          <a:ext cx="1431925" cy="436562"/>
        </p:xfrm>
        <a:graphic>
          <a:graphicData uri="http://schemas.openxmlformats.org/presentationml/2006/ole">
            <mc:AlternateContent xmlns:mc="http://schemas.openxmlformats.org/markup-compatibility/2006">
              <mc:Choice xmlns:v="urn:schemas-microsoft-com:vml" Requires="v">
                <p:oleObj spid="_x0000_s86441" r:id="rId9" imgW="749300" imgH="228600" progId="Equation.DSMT4">
                  <p:embed/>
                </p:oleObj>
              </mc:Choice>
              <mc:Fallback>
                <p:oleObj r:id="rId9" imgW="749300" imgH="228600" progId="Equation.DSMT4">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541730" y="3810381"/>
                        <a:ext cx="1431925" cy="43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9" name="Object 6">
            <a:extLst>
              <a:ext uri="{FF2B5EF4-FFF2-40B4-BE49-F238E27FC236}">
                <a16:creationId xmlns="" xmlns:a16="http://schemas.microsoft.com/office/drawing/2014/main" id="{7238931E-820C-EB41-30DD-156B685D0DD0}"/>
              </a:ext>
            </a:extLst>
          </p:cNvPr>
          <p:cNvGraphicFramePr>
            <a:graphicFrameLocks noChangeAspect="1"/>
          </p:cNvGraphicFramePr>
          <p:nvPr>
            <p:extLst>
              <p:ext uri="{D42A27DB-BD31-4B8C-83A1-F6EECF244321}">
                <p14:modId xmlns:p14="http://schemas.microsoft.com/office/powerpoint/2010/main" val="1814700029"/>
              </p:ext>
            </p:extLst>
          </p:nvPr>
        </p:nvGraphicFramePr>
        <p:xfrm>
          <a:off x="458978" y="5824313"/>
          <a:ext cx="5192713" cy="504825"/>
        </p:xfrm>
        <a:graphic>
          <a:graphicData uri="http://schemas.openxmlformats.org/presentationml/2006/ole">
            <mc:AlternateContent xmlns:mc="http://schemas.openxmlformats.org/markup-compatibility/2006">
              <mc:Choice xmlns:v="urn:schemas-microsoft-com:vml" Requires="v">
                <p:oleObj spid="_x0000_s86442" r:id="rId11" imgW="2349500" imgH="228600" progId="Equation.DSMT4">
                  <p:embed/>
                </p:oleObj>
              </mc:Choice>
              <mc:Fallback>
                <p:oleObj r:id="rId11" imgW="2349500" imgH="228600" progId="Equation.DSMT4">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58978" y="5824313"/>
                        <a:ext cx="5192713" cy="504825"/>
                      </a:xfrm>
                      <a:prstGeom prst="rect">
                        <a:avLst/>
                      </a:prstGeom>
                      <a:solidFill>
                        <a:srgbClr val="CCECFF"/>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0" name="Text Box 7">
            <a:extLst>
              <a:ext uri="{FF2B5EF4-FFF2-40B4-BE49-F238E27FC236}">
                <a16:creationId xmlns="" xmlns:a16="http://schemas.microsoft.com/office/drawing/2014/main" id="{9CC4653A-A16A-CCB8-D888-2A949639ABB6}"/>
              </a:ext>
            </a:extLst>
          </p:cNvPr>
          <p:cNvSpPr txBox="1">
            <a:spLocks noChangeArrowheads="1"/>
          </p:cNvSpPr>
          <p:nvPr/>
        </p:nvSpPr>
        <p:spPr bwMode="auto">
          <a:xfrm>
            <a:off x="500807" y="1423690"/>
            <a:ext cx="6569075" cy="32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spAutoFit/>
          </a:bodyPr>
          <a:lstStyle/>
          <a:p>
            <a:pPr>
              <a:buFontTx/>
              <a:buNone/>
            </a:pPr>
            <a:r>
              <a:rPr lang="zh-CN" altLang="en-US" sz="2000" dirty="0">
                <a:solidFill>
                  <a:srgbClr val="000000"/>
                </a:solidFill>
                <a:latin typeface="+mn-ea"/>
                <a:ea typeface="+mn-ea"/>
              </a:rPr>
              <a:t>利用傅里叶级数，可将</a:t>
            </a:r>
            <a:r>
              <a:rPr lang="en-US" altLang="zh-CN" sz="2000" i="1" dirty="0" err="1">
                <a:solidFill>
                  <a:srgbClr val="000000"/>
                </a:solidFill>
                <a:latin typeface="+mn-ea"/>
                <a:ea typeface="+mn-ea"/>
              </a:rPr>
              <a:t>i</a:t>
            </a:r>
            <a:r>
              <a:rPr lang="en-US" altLang="zh-CN" sz="2000" baseline="-25000" dirty="0" err="1">
                <a:solidFill>
                  <a:srgbClr val="000000"/>
                </a:solidFill>
                <a:latin typeface="+mn-ea"/>
                <a:ea typeface="+mn-ea"/>
              </a:rPr>
              <a:t>C</a:t>
            </a:r>
            <a:r>
              <a:rPr lang="zh-CN" altLang="en-US" sz="2000" dirty="0">
                <a:solidFill>
                  <a:srgbClr val="000000"/>
                </a:solidFill>
                <a:latin typeface="+mn-ea"/>
                <a:ea typeface="+mn-ea"/>
              </a:rPr>
              <a:t>的脉冲序列展开为</a:t>
            </a:r>
          </a:p>
        </p:txBody>
      </p:sp>
      <p:graphicFrame>
        <p:nvGraphicFramePr>
          <p:cNvPr id="11" name="Object 8">
            <a:extLst>
              <a:ext uri="{FF2B5EF4-FFF2-40B4-BE49-F238E27FC236}">
                <a16:creationId xmlns="" xmlns:a16="http://schemas.microsoft.com/office/drawing/2014/main" id="{E014E41F-BC53-F159-2202-9866AAD88240}"/>
              </a:ext>
            </a:extLst>
          </p:cNvPr>
          <p:cNvGraphicFramePr>
            <a:graphicFrameLocks noChangeAspect="1"/>
          </p:cNvGraphicFramePr>
          <p:nvPr>
            <p:extLst>
              <p:ext uri="{D42A27DB-BD31-4B8C-83A1-F6EECF244321}">
                <p14:modId xmlns:p14="http://schemas.microsoft.com/office/powerpoint/2010/main" val="4036928539"/>
              </p:ext>
            </p:extLst>
          </p:nvPr>
        </p:nvGraphicFramePr>
        <p:xfrm>
          <a:off x="506246" y="1906321"/>
          <a:ext cx="4737100" cy="488950"/>
        </p:xfrm>
        <a:graphic>
          <a:graphicData uri="http://schemas.openxmlformats.org/presentationml/2006/ole">
            <mc:AlternateContent xmlns:mc="http://schemas.openxmlformats.org/markup-compatibility/2006">
              <mc:Choice xmlns:v="urn:schemas-microsoft-com:vml" Requires="v">
                <p:oleObj spid="_x0000_s86443" r:id="rId13" imgW="2209800" imgH="228600" progId="Equation.DSMT4">
                  <p:embed/>
                </p:oleObj>
              </mc:Choice>
              <mc:Fallback>
                <p:oleObj r:id="rId13" imgW="2209800" imgH="228600" progId="Equation.DSMT4">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06246" y="1906321"/>
                        <a:ext cx="473710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2" name="Object 9">
            <a:extLst>
              <a:ext uri="{FF2B5EF4-FFF2-40B4-BE49-F238E27FC236}">
                <a16:creationId xmlns="" xmlns:a16="http://schemas.microsoft.com/office/drawing/2014/main" id="{83C707D5-0568-F283-5918-5F5D01F7E357}"/>
              </a:ext>
            </a:extLst>
          </p:cNvPr>
          <p:cNvGraphicFramePr>
            <a:graphicFrameLocks noChangeAspect="1"/>
          </p:cNvGraphicFramePr>
          <p:nvPr>
            <p:extLst>
              <p:ext uri="{D42A27DB-BD31-4B8C-83A1-F6EECF244321}">
                <p14:modId xmlns:p14="http://schemas.microsoft.com/office/powerpoint/2010/main" val="2855003196"/>
              </p:ext>
            </p:extLst>
          </p:nvPr>
        </p:nvGraphicFramePr>
        <p:xfrm>
          <a:off x="567368" y="4585735"/>
          <a:ext cx="3360737" cy="787400"/>
        </p:xfrm>
        <a:graphic>
          <a:graphicData uri="http://schemas.openxmlformats.org/presentationml/2006/ole">
            <mc:AlternateContent xmlns:mc="http://schemas.openxmlformats.org/markup-compatibility/2006">
              <mc:Choice xmlns:v="urn:schemas-microsoft-com:vml" Requires="v">
                <p:oleObj spid="_x0000_s86444" r:id="rId15" imgW="1675673" imgH="393529" progId="Equation.DSMT4">
                  <p:embed/>
                </p:oleObj>
              </mc:Choice>
              <mc:Fallback>
                <p:oleObj r:id="rId15" imgW="1675673" imgH="393529" progId="Equation.DSMT4">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67368" y="4585735"/>
                        <a:ext cx="3360737" cy="78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3" name="Object 10">
            <a:extLst>
              <a:ext uri="{FF2B5EF4-FFF2-40B4-BE49-F238E27FC236}">
                <a16:creationId xmlns="" xmlns:a16="http://schemas.microsoft.com/office/drawing/2014/main" id="{3A0B4B4C-81D5-1CD3-9E4E-3C75986A08ED}"/>
              </a:ext>
            </a:extLst>
          </p:cNvPr>
          <p:cNvGraphicFramePr>
            <a:graphicFrameLocks noChangeAspect="1"/>
          </p:cNvGraphicFramePr>
          <p:nvPr>
            <p:extLst>
              <p:ext uri="{D42A27DB-BD31-4B8C-83A1-F6EECF244321}">
                <p14:modId xmlns:p14="http://schemas.microsoft.com/office/powerpoint/2010/main" val="2818585326"/>
              </p:ext>
            </p:extLst>
          </p:nvPr>
        </p:nvGraphicFramePr>
        <p:xfrm>
          <a:off x="2813795" y="2457153"/>
          <a:ext cx="2840037" cy="885825"/>
        </p:xfrm>
        <a:graphic>
          <a:graphicData uri="http://schemas.openxmlformats.org/presentationml/2006/ole">
            <mc:AlternateContent xmlns:mc="http://schemas.openxmlformats.org/markup-compatibility/2006">
              <mc:Choice xmlns:v="urn:schemas-microsoft-com:vml" Requires="v">
                <p:oleObj spid="_x0000_s86445" r:id="rId17" imgW="1384300" imgH="431800" progId="Equation.DSMT4">
                  <p:embed/>
                </p:oleObj>
              </mc:Choice>
              <mc:Fallback>
                <p:oleObj r:id="rId17" imgW="1384300" imgH="431800" progId="Equation.DSMT4">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813795" y="2457153"/>
                        <a:ext cx="2840037" cy="88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4" name="Object 11">
            <a:extLst>
              <a:ext uri="{FF2B5EF4-FFF2-40B4-BE49-F238E27FC236}">
                <a16:creationId xmlns="" xmlns:a16="http://schemas.microsoft.com/office/drawing/2014/main" id="{87E3C987-8250-FC8D-B2D0-30096B5D5BFA}"/>
              </a:ext>
            </a:extLst>
          </p:cNvPr>
          <p:cNvGraphicFramePr>
            <a:graphicFrameLocks noChangeAspect="1"/>
          </p:cNvGraphicFramePr>
          <p:nvPr>
            <p:extLst>
              <p:ext uri="{D42A27DB-BD31-4B8C-83A1-F6EECF244321}">
                <p14:modId xmlns:p14="http://schemas.microsoft.com/office/powerpoint/2010/main" val="3666637815"/>
              </p:ext>
            </p:extLst>
          </p:nvPr>
        </p:nvGraphicFramePr>
        <p:xfrm>
          <a:off x="3695342" y="3692906"/>
          <a:ext cx="2657475" cy="831850"/>
        </p:xfrm>
        <a:graphic>
          <a:graphicData uri="http://schemas.openxmlformats.org/presentationml/2006/ole">
            <mc:AlternateContent xmlns:mc="http://schemas.openxmlformats.org/markup-compatibility/2006">
              <mc:Choice xmlns:v="urn:schemas-microsoft-com:vml" Requires="v">
                <p:oleObj spid="_x0000_s86446" r:id="rId19" imgW="1384300" imgH="431800" progId="Equation.DSMT4">
                  <p:embed/>
                </p:oleObj>
              </mc:Choice>
              <mc:Fallback>
                <p:oleObj r:id="rId19" imgW="1384300" imgH="431800" progId="Equation.DSMT4">
                  <p:embed/>
                  <p:pic>
                    <p:nvPicPr>
                      <p:cNvPr id="0" name=""/>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695342" y="3692906"/>
                        <a:ext cx="2657475"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5" name="Object 12">
            <a:extLst>
              <a:ext uri="{FF2B5EF4-FFF2-40B4-BE49-F238E27FC236}">
                <a16:creationId xmlns="" xmlns:a16="http://schemas.microsoft.com/office/drawing/2014/main" id="{97E2548D-D2A5-A178-3191-50F4A350AE09}"/>
              </a:ext>
            </a:extLst>
          </p:cNvPr>
          <p:cNvGraphicFramePr>
            <a:graphicFrameLocks noChangeAspect="1"/>
          </p:cNvGraphicFramePr>
          <p:nvPr>
            <p:extLst>
              <p:ext uri="{D42A27DB-BD31-4B8C-83A1-F6EECF244321}">
                <p14:modId xmlns:p14="http://schemas.microsoft.com/office/powerpoint/2010/main" val="2603388234"/>
              </p:ext>
            </p:extLst>
          </p:nvPr>
        </p:nvGraphicFramePr>
        <p:xfrm>
          <a:off x="3931280" y="4742897"/>
          <a:ext cx="1489075" cy="455613"/>
        </p:xfrm>
        <a:graphic>
          <a:graphicData uri="http://schemas.openxmlformats.org/presentationml/2006/ole">
            <mc:AlternateContent xmlns:mc="http://schemas.openxmlformats.org/markup-compatibility/2006">
              <mc:Choice xmlns:v="urn:schemas-microsoft-com:vml" Requires="v">
                <p:oleObj spid="_x0000_s86447" r:id="rId21" imgW="749300" imgH="228600" progId="Equation.DSMT4">
                  <p:embed/>
                </p:oleObj>
              </mc:Choice>
              <mc:Fallback>
                <p:oleObj r:id="rId21" imgW="749300" imgH="228600" progId="Equation.DSMT4">
                  <p:embed/>
                  <p:pic>
                    <p:nvPicPr>
                      <p:cNvPr id="0" name=""/>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931280" y="4742897"/>
                        <a:ext cx="1489075"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6" name="Line 13">
            <a:extLst>
              <a:ext uri="{FF2B5EF4-FFF2-40B4-BE49-F238E27FC236}">
                <a16:creationId xmlns="" xmlns:a16="http://schemas.microsoft.com/office/drawing/2014/main" id="{844B83B3-16FF-47F6-A90E-3DC3035F631B}"/>
              </a:ext>
            </a:extLst>
          </p:cNvPr>
          <p:cNvSpPr>
            <a:spLocks noChangeShapeType="1"/>
          </p:cNvSpPr>
          <p:nvPr/>
        </p:nvSpPr>
        <p:spPr bwMode="auto">
          <a:xfrm>
            <a:off x="6464797" y="3093061"/>
            <a:ext cx="676275" cy="3175"/>
          </a:xfrm>
          <a:prstGeom prst="line">
            <a:avLst/>
          </a:prstGeom>
          <a:noFill/>
          <a:ln w="76200" cmpd="tri">
            <a:solidFill>
              <a:srgbClr val="FF0066"/>
            </a:solidFill>
            <a:round/>
            <a:headEnd/>
            <a:tailEnd/>
          </a:ln>
          <a:extLst>
            <a:ext uri="{909E8E84-426E-40DD-AFC4-6F175D3DCCD1}">
              <a14:hiddenFill xmlns:a14="http://schemas.microsoft.com/office/drawing/2010/main">
                <a:noFill/>
              </a14:hiddenFill>
            </a:ext>
          </a:extLst>
        </p:spPr>
        <p:txBody>
          <a:bodyPr/>
          <a:lstStyle/>
          <a:p>
            <a:endParaRPr lang="zh-CN" altLang="en-US" sz="2000">
              <a:latin typeface="+mn-ea"/>
              <a:ea typeface="+mn-ea"/>
            </a:endParaRPr>
          </a:p>
        </p:txBody>
      </p:sp>
      <p:sp>
        <p:nvSpPr>
          <p:cNvPr id="17" name="Line 14">
            <a:extLst>
              <a:ext uri="{FF2B5EF4-FFF2-40B4-BE49-F238E27FC236}">
                <a16:creationId xmlns="" xmlns:a16="http://schemas.microsoft.com/office/drawing/2014/main" id="{71788034-EEAE-C741-F97A-8AB4E55377E9}"/>
              </a:ext>
            </a:extLst>
          </p:cNvPr>
          <p:cNvSpPr>
            <a:spLocks noChangeShapeType="1"/>
          </p:cNvSpPr>
          <p:nvPr/>
        </p:nvSpPr>
        <p:spPr bwMode="auto">
          <a:xfrm flipV="1">
            <a:off x="7209579" y="4266726"/>
            <a:ext cx="688975" cy="9525"/>
          </a:xfrm>
          <a:prstGeom prst="line">
            <a:avLst/>
          </a:prstGeom>
          <a:noFill/>
          <a:ln w="76200" cmpd="tri">
            <a:solidFill>
              <a:srgbClr val="FF0066"/>
            </a:solidFill>
            <a:round/>
            <a:headEnd/>
            <a:tailEnd/>
          </a:ln>
          <a:extLst>
            <a:ext uri="{909E8E84-426E-40DD-AFC4-6F175D3DCCD1}">
              <a14:hiddenFill xmlns:a14="http://schemas.microsoft.com/office/drawing/2010/main">
                <a:noFill/>
              </a14:hiddenFill>
            </a:ext>
          </a:extLst>
        </p:spPr>
        <p:txBody>
          <a:bodyPr/>
          <a:lstStyle/>
          <a:p>
            <a:endParaRPr lang="zh-CN" altLang="en-US" sz="2000">
              <a:latin typeface="+mn-ea"/>
              <a:ea typeface="+mn-ea"/>
            </a:endParaRPr>
          </a:p>
        </p:txBody>
      </p:sp>
      <p:sp>
        <p:nvSpPr>
          <p:cNvPr id="18" name="Text Box 15">
            <a:extLst>
              <a:ext uri="{FF2B5EF4-FFF2-40B4-BE49-F238E27FC236}">
                <a16:creationId xmlns="" xmlns:a16="http://schemas.microsoft.com/office/drawing/2014/main" id="{76BC18AB-18F1-B7F5-19F3-1A745EA9D17D}"/>
              </a:ext>
            </a:extLst>
          </p:cNvPr>
          <p:cNvSpPr txBox="1">
            <a:spLocks noChangeArrowheads="1"/>
          </p:cNvSpPr>
          <p:nvPr/>
        </p:nvSpPr>
        <p:spPr bwMode="auto">
          <a:xfrm>
            <a:off x="5839322" y="3197836"/>
            <a:ext cx="27686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t">
              <a:spcBef>
                <a:spcPct val="50000"/>
              </a:spcBef>
              <a:buFontTx/>
              <a:buNone/>
            </a:pPr>
            <a:r>
              <a:rPr lang="zh-CN" altLang="en-US" sz="2000">
                <a:solidFill>
                  <a:srgbClr val="FF3300"/>
                </a:solidFill>
                <a:latin typeface="+mn-ea"/>
                <a:ea typeface="+mn-ea"/>
              </a:rPr>
              <a:t>直流分量分解系数</a:t>
            </a:r>
          </a:p>
        </p:txBody>
      </p:sp>
      <p:sp>
        <p:nvSpPr>
          <p:cNvPr id="19" name="Text Box 16">
            <a:extLst>
              <a:ext uri="{FF2B5EF4-FFF2-40B4-BE49-F238E27FC236}">
                <a16:creationId xmlns="" xmlns:a16="http://schemas.microsoft.com/office/drawing/2014/main" id="{EC585920-B4B8-53DF-3899-57AF575D7ED7}"/>
              </a:ext>
            </a:extLst>
          </p:cNvPr>
          <p:cNvSpPr txBox="1">
            <a:spLocks noChangeArrowheads="1"/>
          </p:cNvSpPr>
          <p:nvPr/>
        </p:nvSpPr>
        <p:spPr bwMode="auto">
          <a:xfrm>
            <a:off x="6204691" y="4357214"/>
            <a:ext cx="26543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t">
              <a:spcBef>
                <a:spcPct val="50000"/>
              </a:spcBef>
              <a:buFontTx/>
              <a:buNone/>
            </a:pPr>
            <a:r>
              <a:rPr lang="zh-CN" altLang="en-US" sz="2000" dirty="0">
                <a:solidFill>
                  <a:srgbClr val="FF3300"/>
                </a:solidFill>
                <a:latin typeface="+mn-ea"/>
                <a:ea typeface="+mn-ea"/>
              </a:rPr>
              <a:t>基波分量分解系数</a:t>
            </a:r>
          </a:p>
        </p:txBody>
      </p:sp>
      <p:sp>
        <p:nvSpPr>
          <p:cNvPr id="20" name="Line 17">
            <a:extLst>
              <a:ext uri="{FF2B5EF4-FFF2-40B4-BE49-F238E27FC236}">
                <a16:creationId xmlns="" xmlns:a16="http://schemas.microsoft.com/office/drawing/2014/main" id="{28BF8DF1-05A0-A2B1-C81C-13C293F957FE}"/>
              </a:ext>
            </a:extLst>
          </p:cNvPr>
          <p:cNvSpPr>
            <a:spLocks noChangeShapeType="1"/>
          </p:cNvSpPr>
          <p:nvPr/>
        </p:nvSpPr>
        <p:spPr bwMode="auto">
          <a:xfrm flipV="1">
            <a:off x="4731380" y="5225335"/>
            <a:ext cx="688975" cy="9525"/>
          </a:xfrm>
          <a:prstGeom prst="line">
            <a:avLst/>
          </a:prstGeom>
          <a:noFill/>
          <a:ln w="76200" cmpd="tri">
            <a:solidFill>
              <a:srgbClr val="FF0066"/>
            </a:solidFill>
            <a:round/>
            <a:headEnd/>
            <a:tailEnd/>
          </a:ln>
          <a:extLst>
            <a:ext uri="{909E8E84-426E-40DD-AFC4-6F175D3DCCD1}">
              <a14:hiddenFill xmlns:a14="http://schemas.microsoft.com/office/drawing/2010/main">
                <a:noFill/>
              </a14:hiddenFill>
            </a:ext>
          </a:extLst>
        </p:spPr>
        <p:txBody>
          <a:bodyPr/>
          <a:lstStyle/>
          <a:p>
            <a:endParaRPr lang="zh-CN" altLang="en-US" sz="2000">
              <a:latin typeface="+mn-ea"/>
              <a:ea typeface="+mn-ea"/>
            </a:endParaRPr>
          </a:p>
        </p:txBody>
      </p:sp>
      <p:sp>
        <p:nvSpPr>
          <p:cNvPr id="21" name="Text Box 18">
            <a:extLst>
              <a:ext uri="{FF2B5EF4-FFF2-40B4-BE49-F238E27FC236}">
                <a16:creationId xmlns="" xmlns:a16="http://schemas.microsoft.com/office/drawing/2014/main" id="{05A0733C-9D82-37D7-C81E-026E961B6618}"/>
              </a:ext>
            </a:extLst>
          </p:cNvPr>
          <p:cNvSpPr txBox="1">
            <a:spLocks noChangeArrowheads="1"/>
          </p:cNvSpPr>
          <p:nvPr/>
        </p:nvSpPr>
        <p:spPr bwMode="auto">
          <a:xfrm>
            <a:off x="3980493" y="5366622"/>
            <a:ext cx="34417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t">
              <a:spcBef>
                <a:spcPct val="50000"/>
              </a:spcBef>
              <a:buFontTx/>
              <a:buNone/>
            </a:pPr>
            <a:r>
              <a:rPr lang="en-US" altLang="zh-CN" sz="2000" dirty="0">
                <a:solidFill>
                  <a:srgbClr val="FF3300"/>
                </a:solidFill>
                <a:latin typeface="+mn-ea"/>
                <a:ea typeface="+mn-ea"/>
              </a:rPr>
              <a:t>n</a:t>
            </a:r>
            <a:r>
              <a:rPr lang="zh-CN" altLang="en-US" sz="2000" dirty="0">
                <a:solidFill>
                  <a:srgbClr val="FF3300"/>
                </a:solidFill>
                <a:latin typeface="+mn-ea"/>
                <a:ea typeface="+mn-ea"/>
              </a:rPr>
              <a:t>次谐波分量分解系数</a:t>
            </a:r>
          </a:p>
        </p:txBody>
      </p:sp>
    </p:spTree>
    <p:extLst>
      <p:ext uri="{BB962C8B-B14F-4D97-AF65-F5344CB8AC3E}">
        <p14:creationId xmlns:p14="http://schemas.microsoft.com/office/powerpoint/2010/main" val="3744077281"/>
      </p:ext>
    </p:extLst>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119</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4.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谐振</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功率</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放大器</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graphicFrame>
        <p:nvGraphicFramePr>
          <p:cNvPr id="5" name="Object 2">
            <a:extLst>
              <a:ext uri="{FF2B5EF4-FFF2-40B4-BE49-F238E27FC236}">
                <a16:creationId xmlns="" xmlns:a16="http://schemas.microsoft.com/office/drawing/2014/main" id="{3E46FA60-DC3D-0636-AE31-9C9CB9D51254}"/>
              </a:ext>
            </a:extLst>
          </p:cNvPr>
          <p:cNvGraphicFramePr>
            <a:graphicFrameLocks noChangeAspect="1"/>
          </p:cNvGraphicFramePr>
          <p:nvPr>
            <p:extLst>
              <p:ext uri="{D42A27DB-BD31-4B8C-83A1-F6EECF244321}">
                <p14:modId xmlns:p14="http://schemas.microsoft.com/office/powerpoint/2010/main" val="3585902022"/>
              </p:ext>
            </p:extLst>
          </p:nvPr>
        </p:nvGraphicFramePr>
        <p:xfrm>
          <a:off x="972295" y="3397808"/>
          <a:ext cx="1284287" cy="527050"/>
        </p:xfrm>
        <a:graphic>
          <a:graphicData uri="http://schemas.openxmlformats.org/presentationml/2006/ole">
            <mc:AlternateContent xmlns:mc="http://schemas.openxmlformats.org/markup-compatibility/2006">
              <mc:Choice xmlns:v="urn:schemas-microsoft-com:vml" Requires="v">
                <p:oleObj spid="_x0000_s87816" r:id="rId4" imgW="583947" imgH="241195" progId="Equation.3">
                  <p:embed/>
                </p:oleObj>
              </mc:Choice>
              <mc:Fallback>
                <p:oleObj r:id="rId4" imgW="583947" imgH="241195"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72295" y="3397808"/>
                        <a:ext cx="1284287" cy="52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 name="Object 3">
            <a:extLst>
              <a:ext uri="{FF2B5EF4-FFF2-40B4-BE49-F238E27FC236}">
                <a16:creationId xmlns="" xmlns:a16="http://schemas.microsoft.com/office/drawing/2014/main" id="{6AD7DA10-2DC6-E5D5-E3A8-116F9B93B3B9}"/>
              </a:ext>
            </a:extLst>
          </p:cNvPr>
          <p:cNvGraphicFramePr>
            <a:graphicFrameLocks noChangeAspect="1"/>
          </p:cNvGraphicFramePr>
          <p:nvPr>
            <p:extLst>
              <p:ext uri="{D42A27DB-BD31-4B8C-83A1-F6EECF244321}">
                <p14:modId xmlns:p14="http://schemas.microsoft.com/office/powerpoint/2010/main" val="4097050785"/>
              </p:ext>
            </p:extLst>
          </p:nvPr>
        </p:nvGraphicFramePr>
        <p:xfrm>
          <a:off x="2248995" y="3418445"/>
          <a:ext cx="1325562" cy="484188"/>
        </p:xfrm>
        <a:graphic>
          <a:graphicData uri="http://schemas.openxmlformats.org/presentationml/2006/ole">
            <mc:AlternateContent xmlns:mc="http://schemas.openxmlformats.org/markup-compatibility/2006">
              <mc:Choice xmlns:v="urn:schemas-microsoft-com:vml" Requires="v">
                <p:oleObj spid="_x0000_s87817" r:id="rId6" imgW="799560" imgH="279360" progId="Equation.3">
                  <p:embed/>
                </p:oleObj>
              </mc:Choice>
              <mc:Fallback>
                <p:oleObj r:id="rId6" imgW="799560" imgH="279360" progId="Equation.3">
                  <p:embed/>
                  <p:pic>
                    <p:nvPicPr>
                      <p:cNvPr id="0" name=""/>
                      <p:cNvPicPr>
                        <a:picLocks noChangeAspect="1" noChangeArrowheads="1"/>
                      </p:cNvPicPr>
                      <p:nvPr/>
                    </p:nvPicPr>
                    <p:blipFill>
                      <a:blip r:embed="rId7">
                        <a:grayscl/>
                        <a:biLevel thresh="50000"/>
                        <a:extLst>
                          <a:ext uri="{28A0092B-C50C-407E-A947-70E740481C1C}">
                            <a14:useLocalDpi xmlns:a14="http://schemas.microsoft.com/office/drawing/2010/main" val="0"/>
                          </a:ext>
                        </a:extLst>
                      </a:blip>
                      <a:srcRect/>
                      <a:stretch>
                        <a:fillRect/>
                      </a:stretch>
                    </p:blipFill>
                    <p:spPr bwMode="auto">
                      <a:xfrm>
                        <a:off x="2248995" y="3418445"/>
                        <a:ext cx="1325562" cy="48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 name="Object 4">
            <a:extLst>
              <a:ext uri="{FF2B5EF4-FFF2-40B4-BE49-F238E27FC236}">
                <a16:creationId xmlns="" xmlns:a16="http://schemas.microsoft.com/office/drawing/2014/main" id="{51E861B3-67A3-13CD-59F9-56298B7ABE4A}"/>
              </a:ext>
            </a:extLst>
          </p:cNvPr>
          <p:cNvGraphicFramePr>
            <a:graphicFrameLocks noChangeAspect="1"/>
          </p:cNvGraphicFramePr>
          <p:nvPr>
            <p:extLst>
              <p:ext uri="{D42A27DB-BD31-4B8C-83A1-F6EECF244321}">
                <p14:modId xmlns:p14="http://schemas.microsoft.com/office/powerpoint/2010/main" val="2834728638"/>
              </p:ext>
            </p:extLst>
          </p:nvPr>
        </p:nvGraphicFramePr>
        <p:xfrm>
          <a:off x="3869038" y="3404891"/>
          <a:ext cx="1319213" cy="492125"/>
        </p:xfrm>
        <a:graphic>
          <a:graphicData uri="http://schemas.openxmlformats.org/presentationml/2006/ole">
            <mc:AlternateContent xmlns:mc="http://schemas.openxmlformats.org/markup-compatibility/2006">
              <mc:Choice xmlns:v="urn:schemas-microsoft-com:vml" Requires="v">
                <p:oleObj spid="_x0000_s87818" r:id="rId8" imgW="786960" imgH="279360" progId="Equation.DSMT4">
                  <p:embed/>
                </p:oleObj>
              </mc:Choice>
              <mc:Fallback>
                <p:oleObj r:id="rId8" imgW="786960" imgH="279360" progId="Equation.DSMT4">
                  <p:embed/>
                  <p:pic>
                    <p:nvPicPr>
                      <p:cNvPr id="0" name=""/>
                      <p:cNvPicPr>
                        <a:picLocks noChangeAspect="1" noChangeArrowheads="1"/>
                      </p:cNvPicPr>
                      <p:nvPr/>
                    </p:nvPicPr>
                    <p:blipFill>
                      <a:blip r:embed="rId9">
                        <a:grayscl/>
                        <a:biLevel thresh="50000"/>
                        <a:extLst>
                          <a:ext uri="{28A0092B-C50C-407E-A947-70E740481C1C}">
                            <a14:useLocalDpi xmlns:a14="http://schemas.microsoft.com/office/drawing/2010/main" val="0"/>
                          </a:ext>
                        </a:extLst>
                      </a:blip>
                      <a:srcRect/>
                      <a:stretch>
                        <a:fillRect/>
                      </a:stretch>
                    </p:blipFill>
                    <p:spPr bwMode="auto">
                      <a:xfrm>
                        <a:off x="3869038" y="3404891"/>
                        <a:ext cx="1319213"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 name="Object 5">
            <a:extLst>
              <a:ext uri="{FF2B5EF4-FFF2-40B4-BE49-F238E27FC236}">
                <a16:creationId xmlns="" xmlns:a16="http://schemas.microsoft.com/office/drawing/2014/main" id="{5A194B7F-4BD2-F3E9-569B-AC5CC3CE506C}"/>
              </a:ext>
            </a:extLst>
          </p:cNvPr>
          <p:cNvGraphicFramePr>
            <a:graphicFrameLocks noChangeAspect="1"/>
          </p:cNvGraphicFramePr>
          <p:nvPr>
            <p:extLst>
              <p:ext uri="{D42A27DB-BD31-4B8C-83A1-F6EECF244321}">
                <p14:modId xmlns:p14="http://schemas.microsoft.com/office/powerpoint/2010/main" val="1604774053"/>
              </p:ext>
            </p:extLst>
          </p:nvPr>
        </p:nvGraphicFramePr>
        <p:xfrm>
          <a:off x="945307" y="3926660"/>
          <a:ext cx="1114425" cy="512762"/>
        </p:xfrm>
        <a:graphic>
          <a:graphicData uri="http://schemas.openxmlformats.org/presentationml/2006/ole">
            <mc:AlternateContent xmlns:mc="http://schemas.openxmlformats.org/markup-compatibility/2006">
              <mc:Choice xmlns:v="urn:schemas-microsoft-com:vml" Requires="v">
                <p:oleObj spid="_x0000_s87819" r:id="rId10" imgW="520474" imgH="241195" progId="Equation.3">
                  <p:embed/>
                </p:oleObj>
              </mc:Choice>
              <mc:Fallback>
                <p:oleObj r:id="rId10" imgW="520474" imgH="241195"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45307" y="3926660"/>
                        <a:ext cx="1114425" cy="512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9" name="Object 6">
            <a:extLst>
              <a:ext uri="{FF2B5EF4-FFF2-40B4-BE49-F238E27FC236}">
                <a16:creationId xmlns="" xmlns:a16="http://schemas.microsoft.com/office/drawing/2014/main" id="{460D24C0-EE2A-EE0C-49F2-2AD5D567FDEE}"/>
              </a:ext>
            </a:extLst>
          </p:cNvPr>
          <p:cNvGraphicFramePr>
            <a:graphicFrameLocks noChangeAspect="1"/>
          </p:cNvGraphicFramePr>
          <p:nvPr>
            <p:extLst>
              <p:ext uri="{D42A27DB-BD31-4B8C-83A1-F6EECF244321}">
                <p14:modId xmlns:p14="http://schemas.microsoft.com/office/powerpoint/2010/main" val="200605852"/>
              </p:ext>
            </p:extLst>
          </p:nvPr>
        </p:nvGraphicFramePr>
        <p:xfrm>
          <a:off x="2178186" y="3899829"/>
          <a:ext cx="1603375" cy="439737"/>
        </p:xfrm>
        <a:graphic>
          <a:graphicData uri="http://schemas.openxmlformats.org/presentationml/2006/ole">
            <mc:AlternateContent xmlns:mc="http://schemas.openxmlformats.org/markup-compatibility/2006">
              <mc:Choice xmlns:v="urn:schemas-microsoft-com:vml" Requires="v">
                <p:oleObj spid="_x0000_s87820" r:id="rId12" imgW="1078920" imgH="279360" progId="Equation.3">
                  <p:embed/>
                </p:oleObj>
              </mc:Choice>
              <mc:Fallback>
                <p:oleObj r:id="rId12" imgW="1078920" imgH="279360" progId="Equation.3">
                  <p:embed/>
                  <p:pic>
                    <p:nvPicPr>
                      <p:cNvPr id="0" name=""/>
                      <p:cNvPicPr>
                        <a:picLocks noChangeAspect="1" noChangeArrowheads="1"/>
                      </p:cNvPicPr>
                      <p:nvPr/>
                    </p:nvPicPr>
                    <p:blipFill>
                      <a:blip r:embed="rId13">
                        <a:grayscl/>
                        <a:biLevel thresh="50000"/>
                        <a:extLst>
                          <a:ext uri="{28A0092B-C50C-407E-A947-70E740481C1C}">
                            <a14:useLocalDpi xmlns:a14="http://schemas.microsoft.com/office/drawing/2010/main" val="0"/>
                          </a:ext>
                        </a:extLst>
                      </a:blip>
                      <a:srcRect/>
                      <a:stretch>
                        <a:fillRect/>
                      </a:stretch>
                    </p:blipFill>
                    <p:spPr bwMode="auto">
                      <a:xfrm>
                        <a:off x="2178186" y="3899829"/>
                        <a:ext cx="1603375" cy="43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0" name="Object 7">
            <a:extLst>
              <a:ext uri="{FF2B5EF4-FFF2-40B4-BE49-F238E27FC236}">
                <a16:creationId xmlns="" xmlns:a16="http://schemas.microsoft.com/office/drawing/2014/main" id="{98A76E49-B0BB-19B1-0064-AF33B90D4E86}"/>
              </a:ext>
            </a:extLst>
          </p:cNvPr>
          <p:cNvGraphicFramePr>
            <a:graphicFrameLocks noChangeAspect="1"/>
          </p:cNvGraphicFramePr>
          <p:nvPr>
            <p:extLst>
              <p:ext uri="{D42A27DB-BD31-4B8C-83A1-F6EECF244321}">
                <p14:modId xmlns:p14="http://schemas.microsoft.com/office/powerpoint/2010/main" val="1561153862"/>
              </p:ext>
            </p:extLst>
          </p:nvPr>
        </p:nvGraphicFramePr>
        <p:xfrm>
          <a:off x="3869038" y="3869666"/>
          <a:ext cx="1497012" cy="469900"/>
        </p:xfrm>
        <a:graphic>
          <a:graphicData uri="http://schemas.openxmlformats.org/presentationml/2006/ole">
            <mc:AlternateContent xmlns:mc="http://schemas.openxmlformats.org/markup-compatibility/2006">
              <mc:Choice xmlns:v="urn:schemas-microsoft-com:vml" Requires="v">
                <p:oleObj spid="_x0000_s87821" r:id="rId14" imgW="723586" imgH="228501" progId="Equation.DSMT4">
                  <p:embed/>
                </p:oleObj>
              </mc:Choice>
              <mc:Fallback>
                <p:oleObj r:id="rId14" imgW="723586" imgH="228501" progId="Equation.DSMT4">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869038" y="3869666"/>
                        <a:ext cx="1497012"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1" name="Object 8">
            <a:extLst>
              <a:ext uri="{FF2B5EF4-FFF2-40B4-BE49-F238E27FC236}">
                <a16:creationId xmlns="" xmlns:a16="http://schemas.microsoft.com/office/drawing/2014/main" id="{DB298309-D61E-23ED-C1D0-7414E2CA6312}"/>
              </a:ext>
            </a:extLst>
          </p:cNvPr>
          <p:cNvGraphicFramePr>
            <a:graphicFrameLocks noChangeAspect="1"/>
          </p:cNvGraphicFramePr>
          <p:nvPr>
            <p:extLst>
              <p:ext uri="{D42A27DB-BD31-4B8C-83A1-F6EECF244321}">
                <p14:modId xmlns:p14="http://schemas.microsoft.com/office/powerpoint/2010/main" val="2828769344"/>
              </p:ext>
            </p:extLst>
          </p:nvPr>
        </p:nvGraphicFramePr>
        <p:xfrm>
          <a:off x="1012118" y="4453789"/>
          <a:ext cx="1033463" cy="477837"/>
        </p:xfrm>
        <a:graphic>
          <a:graphicData uri="http://schemas.openxmlformats.org/presentationml/2006/ole">
            <mc:AlternateContent xmlns:mc="http://schemas.openxmlformats.org/markup-compatibility/2006">
              <mc:Choice xmlns:v="urn:schemas-microsoft-com:vml" Requires="v">
                <p:oleObj spid="_x0000_s87822" r:id="rId16" imgW="520474" imgH="241195" progId="Equation.3">
                  <p:embed/>
                </p:oleObj>
              </mc:Choice>
              <mc:Fallback>
                <p:oleObj r:id="rId16" imgW="520474" imgH="241195" progId="Equation.3">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012118" y="4453789"/>
                        <a:ext cx="1033463" cy="47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2" name="Rectangle 9">
            <a:extLst>
              <a:ext uri="{FF2B5EF4-FFF2-40B4-BE49-F238E27FC236}">
                <a16:creationId xmlns="" xmlns:a16="http://schemas.microsoft.com/office/drawing/2014/main" id="{AF0E87FF-5660-C250-5B70-A9F09492A489}"/>
              </a:ext>
            </a:extLst>
          </p:cNvPr>
          <p:cNvSpPr>
            <a:spLocks noChangeArrowheads="1"/>
          </p:cNvSpPr>
          <p:nvPr/>
        </p:nvSpPr>
        <p:spPr bwMode="auto">
          <a:xfrm>
            <a:off x="130262" y="3473402"/>
            <a:ext cx="139858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buFontTx/>
              <a:buNone/>
            </a:pPr>
            <a:r>
              <a:rPr lang="zh-CN" altLang="en-US" sz="2000" dirty="0">
                <a:solidFill>
                  <a:srgbClr val="0033CC"/>
                </a:solidFill>
                <a:latin typeface="+mn-ea"/>
                <a:ea typeface="+mn-ea"/>
              </a:rPr>
              <a:t>甲类：</a:t>
            </a:r>
          </a:p>
        </p:txBody>
      </p:sp>
      <p:sp>
        <p:nvSpPr>
          <p:cNvPr id="13" name="Rectangle 10">
            <a:extLst>
              <a:ext uri="{FF2B5EF4-FFF2-40B4-BE49-F238E27FC236}">
                <a16:creationId xmlns="" xmlns:a16="http://schemas.microsoft.com/office/drawing/2014/main" id="{0777F17D-733D-F8B1-D3CF-BF2907430C4E}"/>
              </a:ext>
            </a:extLst>
          </p:cNvPr>
          <p:cNvSpPr>
            <a:spLocks noChangeArrowheads="1"/>
          </p:cNvSpPr>
          <p:nvPr/>
        </p:nvSpPr>
        <p:spPr bwMode="auto">
          <a:xfrm>
            <a:off x="120809" y="3981545"/>
            <a:ext cx="138588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buFontTx/>
              <a:buNone/>
            </a:pPr>
            <a:r>
              <a:rPr lang="zh-CN" altLang="en-US" sz="2000" dirty="0">
                <a:solidFill>
                  <a:srgbClr val="0033CC"/>
                </a:solidFill>
                <a:latin typeface="+mn-ea"/>
                <a:ea typeface="+mn-ea"/>
              </a:rPr>
              <a:t>乙类：</a:t>
            </a:r>
          </a:p>
        </p:txBody>
      </p:sp>
      <p:sp>
        <p:nvSpPr>
          <p:cNvPr id="14" name="Rectangle 11">
            <a:extLst>
              <a:ext uri="{FF2B5EF4-FFF2-40B4-BE49-F238E27FC236}">
                <a16:creationId xmlns="" xmlns:a16="http://schemas.microsoft.com/office/drawing/2014/main" id="{C31B9D4A-9847-81C5-986F-1650D82DCCB7}"/>
              </a:ext>
            </a:extLst>
          </p:cNvPr>
          <p:cNvSpPr>
            <a:spLocks noChangeArrowheads="1"/>
          </p:cNvSpPr>
          <p:nvPr/>
        </p:nvSpPr>
        <p:spPr bwMode="auto">
          <a:xfrm>
            <a:off x="120809" y="4457688"/>
            <a:ext cx="111918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buFontTx/>
              <a:buNone/>
            </a:pPr>
            <a:r>
              <a:rPr lang="zh-CN" altLang="en-US" sz="2000" dirty="0">
                <a:solidFill>
                  <a:srgbClr val="0033CC"/>
                </a:solidFill>
                <a:latin typeface="+mn-ea"/>
                <a:ea typeface="+mn-ea"/>
              </a:rPr>
              <a:t>丙类：</a:t>
            </a:r>
          </a:p>
        </p:txBody>
      </p:sp>
      <p:grpSp>
        <p:nvGrpSpPr>
          <p:cNvPr id="15" name="Group 12">
            <a:extLst>
              <a:ext uri="{FF2B5EF4-FFF2-40B4-BE49-F238E27FC236}">
                <a16:creationId xmlns="" xmlns:a16="http://schemas.microsoft.com/office/drawing/2014/main" id="{D9A632E2-226D-9281-9166-ADBBDE41C6DE}"/>
              </a:ext>
            </a:extLst>
          </p:cNvPr>
          <p:cNvGrpSpPr>
            <a:grpSpLocks/>
          </p:cNvGrpSpPr>
          <p:nvPr/>
        </p:nvGrpSpPr>
        <p:grpSpPr bwMode="auto">
          <a:xfrm>
            <a:off x="17987" y="2631795"/>
            <a:ext cx="2441575" cy="446088"/>
            <a:chOff x="755" y="1460"/>
            <a:chExt cx="1538" cy="281"/>
          </a:xfrm>
        </p:grpSpPr>
        <p:sp>
          <p:nvSpPr>
            <p:cNvPr id="16" name="Rectangle 13">
              <a:extLst>
                <a:ext uri="{FF2B5EF4-FFF2-40B4-BE49-F238E27FC236}">
                  <a16:creationId xmlns="" xmlns:a16="http://schemas.microsoft.com/office/drawing/2014/main" id="{A23C4377-E81E-B227-396F-0E9E49414E7E}"/>
                </a:ext>
              </a:extLst>
            </p:cNvPr>
            <p:cNvSpPr>
              <a:spLocks noChangeArrowheads="1"/>
            </p:cNvSpPr>
            <p:nvPr/>
          </p:nvSpPr>
          <p:spPr bwMode="auto">
            <a:xfrm>
              <a:off x="755" y="1460"/>
              <a:ext cx="1538"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buFontTx/>
                <a:buNone/>
              </a:pPr>
              <a:r>
                <a:rPr lang="zh-CN" altLang="en-US" sz="2200" dirty="0">
                  <a:solidFill>
                    <a:srgbClr val="000000"/>
                  </a:solidFill>
                  <a:latin typeface="+mn-ea"/>
                  <a:ea typeface="+mn-ea"/>
                </a:rPr>
                <a:t>在     条件下， </a:t>
              </a:r>
            </a:p>
          </p:txBody>
        </p:sp>
        <p:graphicFrame>
          <p:nvGraphicFramePr>
            <p:cNvPr id="17" name="Object 14">
              <a:extLst>
                <a:ext uri="{FF2B5EF4-FFF2-40B4-BE49-F238E27FC236}">
                  <a16:creationId xmlns="" xmlns:a16="http://schemas.microsoft.com/office/drawing/2014/main" id="{BC652DEB-08B1-2155-212B-5C8E28861680}"/>
                </a:ext>
              </a:extLst>
            </p:cNvPr>
            <p:cNvGraphicFramePr>
              <a:graphicFrameLocks noChangeAspect="1"/>
            </p:cNvGraphicFramePr>
            <p:nvPr>
              <p:extLst>
                <p:ext uri="{D42A27DB-BD31-4B8C-83A1-F6EECF244321}">
                  <p14:modId xmlns:p14="http://schemas.microsoft.com/office/powerpoint/2010/main" val="1081297020"/>
                </p:ext>
              </p:extLst>
            </p:nvPr>
          </p:nvGraphicFramePr>
          <p:xfrm>
            <a:off x="1040" y="1516"/>
            <a:ext cx="403" cy="225"/>
          </p:xfrm>
          <a:graphic>
            <a:graphicData uri="http://schemas.openxmlformats.org/presentationml/2006/ole">
              <mc:AlternateContent xmlns:mc="http://schemas.openxmlformats.org/markup-compatibility/2006">
                <mc:Choice xmlns:v="urn:schemas-microsoft-com:vml" Requires="v">
                  <p:oleObj spid="_x0000_s87823" r:id="rId18" imgW="355292" imgH="203024" progId="Equation.3">
                    <p:embed/>
                  </p:oleObj>
                </mc:Choice>
                <mc:Fallback>
                  <p:oleObj r:id="rId18" imgW="355292" imgH="203024" progId="Equation.3">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040" y="1516"/>
                          <a:ext cx="403" cy="225"/>
                        </a:xfrm>
                        <a:prstGeom prst="rect">
                          <a:avLst/>
                        </a:prstGeom>
                        <a:noFill/>
                        <a:ln>
                          <a:noFill/>
                        </a:ln>
                        <a:extLst/>
                      </p:spPr>
                    </p:pic>
                  </p:oleObj>
                </mc:Fallback>
              </mc:AlternateContent>
            </a:graphicData>
          </a:graphic>
        </p:graphicFrame>
      </p:grpSp>
      <p:graphicFrame>
        <p:nvGraphicFramePr>
          <p:cNvPr id="18" name="Object 15">
            <a:extLst>
              <a:ext uri="{FF2B5EF4-FFF2-40B4-BE49-F238E27FC236}">
                <a16:creationId xmlns="" xmlns:a16="http://schemas.microsoft.com/office/drawing/2014/main" id="{D76753AA-8CAF-1D8C-7BAD-F6C27984777A}"/>
              </a:ext>
            </a:extLst>
          </p:cNvPr>
          <p:cNvGraphicFramePr>
            <a:graphicFrameLocks noChangeAspect="1"/>
          </p:cNvGraphicFramePr>
          <p:nvPr>
            <p:extLst>
              <p:ext uri="{D42A27DB-BD31-4B8C-83A1-F6EECF244321}">
                <p14:modId xmlns:p14="http://schemas.microsoft.com/office/powerpoint/2010/main" val="1181597500"/>
              </p:ext>
            </p:extLst>
          </p:nvPr>
        </p:nvGraphicFramePr>
        <p:xfrm>
          <a:off x="2181409" y="4453789"/>
          <a:ext cx="1596927" cy="442430"/>
        </p:xfrm>
        <a:graphic>
          <a:graphicData uri="http://schemas.openxmlformats.org/presentationml/2006/ole">
            <mc:AlternateContent xmlns:mc="http://schemas.openxmlformats.org/markup-compatibility/2006">
              <mc:Choice xmlns:v="urn:schemas-microsoft-com:vml" Requires="v">
                <p:oleObj spid="_x0000_s87824" r:id="rId20" imgW="1078920" imgH="279360" progId="Equation.3">
                  <p:embed/>
                </p:oleObj>
              </mc:Choice>
              <mc:Fallback>
                <p:oleObj r:id="rId20" imgW="1078920" imgH="279360" progId="Equation.3">
                  <p:embed/>
                  <p:pic>
                    <p:nvPicPr>
                      <p:cNvPr id="0" name=""/>
                      <p:cNvPicPr>
                        <a:picLocks noGrp="1" noChangeAspect="1" noChangeArrowheads="1"/>
                      </p:cNvPicPr>
                      <p:nvPr/>
                    </p:nvPicPr>
                    <p:blipFill>
                      <a:blip r:embed="rId21">
                        <a:grayscl/>
                        <a:biLevel thresh="50000"/>
                        <a:extLst>
                          <a:ext uri="{28A0092B-C50C-407E-A947-70E740481C1C}">
                            <a14:useLocalDpi xmlns:a14="http://schemas.microsoft.com/office/drawing/2010/main" val="0"/>
                          </a:ext>
                        </a:extLst>
                      </a:blip>
                      <a:srcRect/>
                      <a:stretch>
                        <a:fillRect/>
                      </a:stretch>
                    </p:blipFill>
                    <p:spPr bwMode="auto">
                      <a:xfrm>
                        <a:off x="2181409" y="4453789"/>
                        <a:ext cx="1596927" cy="442430"/>
                      </a:xfrm>
                      <a:prstGeom prst="rect">
                        <a:avLst/>
                      </a:prstGeom>
                      <a:noFill/>
                      <a:ln>
                        <a:noFill/>
                      </a:ln>
                      <a:extLst/>
                    </p:spPr>
                  </p:pic>
                </p:oleObj>
              </mc:Fallback>
            </mc:AlternateContent>
          </a:graphicData>
        </a:graphic>
      </p:graphicFrame>
      <p:sp>
        <p:nvSpPr>
          <p:cNvPr id="20" name="Text Box 36">
            <a:extLst>
              <a:ext uri="{FF2B5EF4-FFF2-40B4-BE49-F238E27FC236}">
                <a16:creationId xmlns="" xmlns:a16="http://schemas.microsoft.com/office/drawing/2014/main" id="{716024C5-EE9E-08FE-05F8-B9CFE751E308}"/>
              </a:ext>
            </a:extLst>
          </p:cNvPr>
          <p:cNvSpPr txBox="1">
            <a:spLocks noChangeArrowheads="1"/>
          </p:cNvSpPr>
          <p:nvPr/>
        </p:nvSpPr>
        <p:spPr bwMode="auto">
          <a:xfrm>
            <a:off x="207836" y="1509749"/>
            <a:ext cx="311150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p>
            <a:pPr fontAlgn="t">
              <a:spcBef>
                <a:spcPct val="50000"/>
              </a:spcBef>
              <a:buFontTx/>
              <a:buNone/>
            </a:pPr>
            <a:r>
              <a:rPr lang="zh-CN" altLang="en-US" sz="2200" dirty="0" smtClean="0">
                <a:solidFill>
                  <a:srgbClr val="000000"/>
                </a:solidFill>
                <a:latin typeface="+mn-ea"/>
                <a:ea typeface="+mn-ea"/>
              </a:rPr>
              <a:t>导</a:t>
            </a:r>
            <a:r>
              <a:rPr lang="zh-CN" altLang="en-US" sz="2200" dirty="0">
                <a:solidFill>
                  <a:srgbClr val="000000"/>
                </a:solidFill>
                <a:latin typeface="+mn-ea"/>
                <a:ea typeface="+mn-ea"/>
              </a:rPr>
              <a:t>通</a:t>
            </a:r>
            <a:r>
              <a:rPr lang="zh-CN" altLang="en-US" sz="2200" dirty="0" smtClean="0">
                <a:solidFill>
                  <a:srgbClr val="000000"/>
                </a:solidFill>
                <a:latin typeface="+mn-ea"/>
                <a:ea typeface="+mn-ea"/>
              </a:rPr>
              <a:t>角的选择：</a:t>
            </a:r>
            <a:endParaRPr lang="zh-CN" altLang="en-US" sz="2200" dirty="0">
              <a:solidFill>
                <a:srgbClr val="000000"/>
              </a:solidFill>
              <a:latin typeface="+mn-ea"/>
              <a:ea typeface="+mn-ea"/>
            </a:endParaRPr>
          </a:p>
        </p:txBody>
      </p:sp>
      <p:pic>
        <p:nvPicPr>
          <p:cNvPr id="21" name="Picture 37">
            <a:extLst>
              <a:ext uri="{FF2B5EF4-FFF2-40B4-BE49-F238E27FC236}">
                <a16:creationId xmlns="" xmlns:a16="http://schemas.microsoft.com/office/drawing/2014/main" id="{A112AA2D-4150-FDE6-A581-9C1176D51224}"/>
              </a:ext>
            </a:extLst>
          </p:cNvPr>
          <p:cNvPicPr>
            <a:picLocks noChangeAspect="1" noChangeArrowheads="1"/>
          </p:cNvPicPr>
          <p:nvPr/>
        </p:nvPicPr>
        <p:blipFill>
          <a:blip r:embed="rId2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187013" y="1054451"/>
            <a:ext cx="3667869" cy="2467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2" name="Object 38">
            <a:extLst>
              <a:ext uri="{FF2B5EF4-FFF2-40B4-BE49-F238E27FC236}">
                <a16:creationId xmlns="" xmlns:a16="http://schemas.microsoft.com/office/drawing/2014/main" id="{1FF39D10-F78A-E2AD-F69B-5D69A633EA9F}"/>
              </a:ext>
            </a:extLst>
          </p:cNvPr>
          <p:cNvGraphicFramePr>
            <a:graphicFrameLocks noChangeAspect="1"/>
          </p:cNvGraphicFramePr>
          <p:nvPr>
            <p:extLst>
              <p:ext uri="{D42A27DB-BD31-4B8C-83A1-F6EECF244321}">
                <p14:modId xmlns:p14="http://schemas.microsoft.com/office/powerpoint/2010/main" val="3564944012"/>
              </p:ext>
            </p:extLst>
          </p:nvPr>
        </p:nvGraphicFramePr>
        <p:xfrm>
          <a:off x="1443496" y="1864359"/>
          <a:ext cx="1800225" cy="785813"/>
        </p:xfrm>
        <a:graphic>
          <a:graphicData uri="http://schemas.openxmlformats.org/presentationml/2006/ole">
            <mc:AlternateContent xmlns:mc="http://schemas.openxmlformats.org/markup-compatibility/2006">
              <mc:Choice xmlns:v="urn:schemas-microsoft-com:vml" Requires="v">
                <p:oleObj spid="_x0000_s87825" r:id="rId23" imgW="901309" imgH="393529" progId="Equation.DSMT4">
                  <p:embed/>
                </p:oleObj>
              </mc:Choice>
              <mc:Fallback>
                <p:oleObj r:id="rId23" imgW="901309" imgH="393529" progId="Equation.DSMT4">
                  <p:embed/>
                  <p:pic>
                    <p:nvPicPr>
                      <p:cNvPr id="0" name=""/>
                      <p:cNvPicPr>
                        <a:picLocks noGrp="1"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1443496" y="1864359"/>
                        <a:ext cx="1800225" cy="785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3" name="Object 39">
            <a:extLst>
              <a:ext uri="{FF2B5EF4-FFF2-40B4-BE49-F238E27FC236}">
                <a16:creationId xmlns="" xmlns:a16="http://schemas.microsoft.com/office/drawing/2014/main" id="{EB01D2EE-9D5F-B276-7B28-3032F3F47929}"/>
              </a:ext>
            </a:extLst>
          </p:cNvPr>
          <p:cNvGraphicFramePr>
            <a:graphicFrameLocks noChangeAspect="1"/>
          </p:cNvGraphicFramePr>
          <p:nvPr>
            <p:extLst>
              <p:ext uri="{D42A27DB-BD31-4B8C-83A1-F6EECF244321}">
                <p14:modId xmlns:p14="http://schemas.microsoft.com/office/powerpoint/2010/main" val="1960867377"/>
              </p:ext>
            </p:extLst>
          </p:nvPr>
        </p:nvGraphicFramePr>
        <p:xfrm>
          <a:off x="2193846" y="2482038"/>
          <a:ext cx="1981200" cy="787400"/>
        </p:xfrm>
        <a:graphic>
          <a:graphicData uri="http://schemas.openxmlformats.org/presentationml/2006/ole">
            <mc:AlternateContent xmlns:mc="http://schemas.openxmlformats.org/markup-compatibility/2006">
              <mc:Choice xmlns:v="urn:schemas-microsoft-com:vml" Requires="v">
                <p:oleObj spid="_x0000_s87826" r:id="rId25" imgW="990170" imgH="393529" progId="Equation.DSMT4">
                  <p:embed/>
                </p:oleObj>
              </mc:Choice>
              <mc:Fallback>
                <p:oleObj r:id="rId25" imgW="990170" imgH="393529" progId="Equation.DSMT4">
                  <p:embed/>
                  <p:pic>
                    <p:nvPicPr>
                      <p:cNvPr id="0" name=""/>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2193846" y="2482038"/>
                        <a:ext cx="1981200" cy="78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4" name="Object 40">
            <a:extLst>
              <a:ext uri="{FF2B5EF4-FFF2-40B4-BE49-F238E27FC236}">
                <a16:creationId xmlns="" xmlns:a16="http://schemas.microsoft.com/office/drawing/2014/main" id="{B7F7BA39-F8D0-95A6-072D-EF62DE9FD714}"/>
              </a:ext>
            </a:extLst>
          </p:cNvPr>
          <p:cNvGraphicFramePr>
            <a:graphicFrameLocks noChangeAspect="1"/>
          </p:cNvGraphicFramePr>
          <p:nvPr>
            <p:extLst>
              <p:ext uri="{D42A27DB-BD31-4B8C-83A1-F6EECF244321}">
                <p14:modId xmlns:p14="http://schemas.microsoft.com/office/powerpoint/2010/main" val="2251369374"/>
              </p:ext>
            </p:extLst>
          </p:nvPr>
        </p:nvGraphicFramePr>
        <p:xfrm>
          <a:off x="3869038" y="4405055"/>
          <a:ext cx="1497013" cy="469900"/>
        </p:xfrm>
        <a:graphic>
          <a:graphicData uri="http://schemas.openxmlformats.org/presentationml/2006/ole">
            <mc:AlternateContent xmlns:mc="http://schemas.openxmlformats.org/markup-compatibility/2006">
              <mc:Choice xmlns:v="urn:schemas-microsoft-com:vml" Requires="v">
                <p:oleObj spid="_x0000_s87827" r:id="rId27" imgW="723586" imgH="228501" progId="Equation.DSMT4">
                  <p:embed/>
                </p:oleObj>
              </mc:Choice>
              <mc:Fallback>
                <p:oleObj r:id="rId27" imgW="723586" imgH="228501" progId="Equation.DSMT4">
                  <p:embed/>
                  <p:pic>
                    <p:nvPicPr>
                      <p:cNvPr id="0" name=""/>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3869038" y="4405055"/>
                        <a:ext cx="1497013"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5" name="Object 17">
            <a:extLst>
              <a:ext uri="{FF2B5EF4-FFF2-40B4-BE49-F238E27FC236}">
                <a16:creationId xmlns="" xmlns:a16="http://schemas.microsoft.com/office/drawing/2014/main" id="{52534991-1C12-CC11-EDE2-EF9C9D974425}"/>
              </a:ext>
            </a:extLst>
          </p:cNvPr>
          <p:cNvGraphicFramePr>
            <a:graphicFrameLocks noChangeAspect="1"/>
          </p:cNvGraphicFramePr>
          <p:nvPr>
            <p:extLst>
              <p:ext uri="{D42A27DB-BD31-4B8C-83A1-F6EECF244321}">
                <p14:modId xmlns:p14="http://schemas.microsoft.com/office/powerpoint/2010/main" val="1484029110"/>
              </p:ext>
            </p:extLst>
          </p:nvPr>
        </p:nvGraphicFramePr>
        <p:xfrm>
          <a:off x="5316086" y="5386462"/>
          <a:ext cx="989012" cy="457200"/>
        </p:xfrm>
        <a:graphic>
          <a:graphicData uri="http://schemas.openxmlformats.org/presentationml/2006/ole">
            <mc:AlternateContent xmlns:mc="http://schemas.openxmlformats.org/markup-compatibility/2006">
              <mc:Choice xmlns:v="urn:schemas-microsoft-com:vml" Requires="v">
                <p:oleObj spid="_x0000_s87828" r:id="rId29" imgW="495085" imgH="228501" progId="Equation.DSMT4">
                  <p:embed/>
                </p:oleObj>
              </mc:Choice>
              <mc:Fallback>
                <p:oleObj r:id="rId29" imgW="495085" imgH="228501" progId="Equation.DSMT4">
                  <p:embed/>
                  <p:pic>
                    <p:nvPicPr>
                      <p:cNvPr id="0" name=""/>
                      <p:cNvPicPr>
                        <a:picLocks noGrp="1"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5316086" y="5386462"/>
                        <a:ext cx="9890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6" name="Rectangle 18">
            <a:extLst>
              <a:ext uri="{FF2B5EF4-FFF2-40B4-BE49-F238E27FC236}">
                <a16:creationId xmlns="" xmlns:a16="http://schemas.microsoft.com/office/drawing/2014/main" id="{FC2A571D-950B-B979-C112-BDD39F5B7898}"/>
              </a:ext>
            </a:extLst>
          </p:cNvPr>
          <p:cNvSpPr>
            <a:spLocks noChangeArrowheads="1"/>
          </p:cNvSpPr>
          <p:nvPr/>
        </p:nvSpPr>
        <p:spPr bwMode="auto">
          <a:xfrm>
            <a:off x="680403" y="4974765"/>
            <a:ext cx="3852337"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buFontTx/>
              <a:buNone/>
            </a:pPr>
            <a:r>
              <a:rPr lang="zh-CN" altLang="en-US" sz="2200" dirty="0">
                <a:solidFill>
                  <a:srgbClr val="000000"/>
                </a:solidFill>
                <a:latin typeface="+mn-ea"/>
                <a:ea typeface="+mn-ea"/>
              </a:rPr>
              <a:t>   导通角越小，效率越高， </a:t>
            </a:r>
          </a:p>
        </p:txBody>
      </p:sp>
      <p:sp>
        <p:nvSpPr>
          <p:cNvPr id="27" name="Rectangle 19">
            <a:extLst>
              <a:ext uri="{FF2B5EF4-FFF2-40B4-BE49-F238E27FC236}">
                <a16:creationId xmlns="" xmlns:a16="http://schemas.microsoft.com/office/drawing/2014/main" id="{818B972B-681E-F608-B30E-E17257F14501}"/>
              </a:ext>
            </a:extLst>
          </p:cNvPr>
          <p:cNvSpPr>
            <a:spLocks noChangeArrowheads="1"/>
          </p:cNvSpPr>
          <p:nvPr/>
        </p:nvSpPr>
        <p:spPr bwMode="auto">
          <a:xfrm>
            <a:off x="4144462" y="4945727"/>
            <a:ext cx="3993401"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buFontTx/>
              <a:buNone/>
            </a:pPr>
            <a:r>
              <a:rPr lang="zh-CN" altLang="en-US" sz="2200" dirty="0">
                <a:solidFill>
                  <a:srgbClr val="000000"/>
                </a:solidFill>
                <a:latin typeface="+mn-ea"/>
                <a:ea typeface="+mn-ea"/>
              </a:rPr>
              <a:t>但导通角不能取得太小，因为 </a:t>
            </a:r>
          </a:p>
        </p:txBody>
      </p:sp>
      <p:graphicFrame>
        <p:nvGraphicFramePr>
          <p:cNvPr id="28" name="Object 22">
            <a:extLst>
              <a:ext uri="{FF2B5EF4-FFF2-40B4-BE49-F238E27FC236}">
                <a16:creationId xmlns="" xmlns:a16="http://schemas.microsoft.com/office/drawing/2014/main" id="{5C3AB9C2-6FB4-4B07-841F-53282B0D55EA}"/>
              </a:ext>
            </a:extLst>
          </p:cNvPr>
          <p:cNvGraphicFramePr>
            <a:graphicFrameLocks noChangeAspect="1"/>
          </p:cNvGraphicFramePr>
          <p:nvPr>
            <p:extLst>
              <p:ext uri="{D42A27DB-BD31-4B8C-83A1-F6EECF244321}">
                <p14:modId xmlns:p14="http://schemas.microsoft.com/office/powerpoint/2010/main" val="335716796"/>
              </p:ext>
            </p:extLst>
          </p:nvPr>
        </p:nvGraphicFramePr>
        <p:xfrm>
          <a:off x="2333717" y="6298827"/>
          <a:ext cx="2116138" cy="454025"/>
        </p:xfrm>
        <a:graphic>
          <a:graphicData uri="http://schemas.openxmlformats.org/presentationml/2006/ole">
            <mc:AlternateContent xmlns:mc="http://schemas.openxmlformats.org/markup-compatibility/2006">
              <mc:Choice xmlns:v="urn:schemas-microsoft-com:vml" Requires="v">
                <p:oleObj spid="_x0000_s87829" r:id="rId31" imgW="1091726" imgH="228501" progId="Equation.3">
                  <p:embed/>
                </p:oleObj>
              </mc:Choice>
              <mc:Fallback>
                <p:oleObj r:id="rId31" imgW="1091726" imgH="228501" progId="Equation.3">
                  <p:embed/>
                  <p:pic>
                    <p:nvPicPr>
                      <p:cNvPr id="0" name=""/>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2333717" y="6298827"/>
                        <a:ext cx="2116138"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9" name="Object 24">
            <a:extLst>
              <a:ext uri="{FF2B5EF4-FFF2-40B4-BE49-F238E27FC236}">
                <a16:creationId xmlns="" xmlns:a16="http://schemas.microsoft.com/office/drawing/2014/main" id="{4D214D06-4B07-4CE5-8C0D-92A390A4C7EB}"/>
              </a:ext>
            </a:extLst>
          </p:cNvPr>
          <p:cNvGraphicFramePr>
            <a:graphicFrameLocks noChangeAspect="1"/>
          </p:cNvGraphicFramePr>
          <p:nvPr>
            <p:extLst>
              <p:ext uri="{D42A27DB-BD31-4B8C-83A1-F6EECF244321}">
                <p14:modId xmlns:p14="http://schemas.microsoft.com/office/powerpoint/2010/main" val="103266763"/>
              </p:ext>
            </p:extLst>
          </p:nvPr>
        </p:nvGraphicFramePr>
        <p:xfrm>
          <a:off x="4751224" y="6208685"/>
          <a:ext cx="2166938" cy="469900"/>
        </p:xfrm>
        <a:graphic>
          <a:graphicData uri="http://schemas.openxmlformats.org/presentationml/2006/ole">
            <mc:AlternateContent xmlns:mc="http://schemas.openxmlformats.org/markup-compatibility/2006">
              <mc:Choice xmlns:v="urn:schemas-microsoft-com:vml" Requires="v">
                <p:oleObj spid="_x0000_s87830" r:id="rId33" imgW="1040948" imgH="228501" progId="Equation.DSMT4">
                  <p:embed/>
                </p:oleObj>
              </mc:Choice>
              <mc:Fallback>
                <p:oleObj r:id="rId33" imgW="1040948" imgH="228501" progId="Equation.DSMT4">
                  <p:embed/>
                  <p:pic>
                    <p:nvPicPr>
                      <p:cNvPr id="0" name=""/>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4751224" y="6208685"/>
                        <a:ext cx="2166938"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0" name="Object 26">
            <a:extLst>
              <a:ext uri="{FF2B5EF4-FFF2-40B4-BE49-F238E27FC236}">
                <a16:creationId xmlns="" xmlns:a16="http://schemas.microsoft.com/office/drawing/2014/main" id="{16227D5D-7D34-7C29-68D2-C20002CA307B}"/>
              </a:ext>
            </a:extLst>
          </p:cNvPr>
          <p:cNvGraphicFramePr>
            <a:graphicFrameLocks noChangeAspect="1"/>
          </p:cNvGraphicFramePr>
          <p:nvPr>
            <p:extLst>
              <p:ext uri="{D42A27DB-BD31-4B8C-83A1-F6EECF244321}">
                <p14:modId xmlns:p14="http://schemas.microsoft.com/office/powerpoint/2010/main" val="2464870434"/>
              </p:ext>
            </p:extLst>
          </p:nvPr>
        </p:nvGraphicFramePr>
        <p:xfrm>
          <a:off x="2066473" y="5419799"/>
          <a:ext cx="625475" cy="457200"/>
        </p:xfrm>
        <a:graphic>
          <a:graphicData uri="http://schemas.openxmlformats.org/presentationml/2006/ole">
            <mc:AlternateContent xmlns:mc="http://schemas.openxmlformats.org/markup-compatibility/2006">
              <mc:Choice xmlns:v="urn:schemas-microsoft-com:vml" Requires="v">
                <p:oleObj spid="_x0000_s87831" r:id="rId35" imgW="304668" imgH="228501" progId="Equation.3">
                  <p:embed/>
                </p:oleObj>
              </mc:Choice>
              <mc:Fallback>
                <p:oleObj r:id="rId35" imgW="304668" imgH="228501" progId="Equation.3">
                  <p:embed/>
                  <p:pic>
                    <p:nvPicPr>
                      <p:cNvPr id="0" name=""/>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2066473" y="5419799"/>
                        <a:ext cx="625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1" name="Object 28">
            <a:extLst>
              <a:ext uri="{FF2B5EF4-FFF2-40B4-BE49-F238E27FC236}">
                <a16:creationId xmlns="" xmlns:a16="http://schemas.microsoft.com/office/drawing/2014/main" id="{DD87311A-64D0-326C-5C62-59FB4C30AE6C}"/>
              </a:ext>
            </a:extLst>
          </p:cNvPr>
          <p:cNvGraphicFramePr>
            <a:graphicFrameLocks noChangeAspect="1"/>
          </p:cNvGraphicFramePr>
          <p:nvPr>
            <p:extLst>
              <p:ext uri="{D42A27DB-BD31-4B8C-83A1-F6EECF244321}">
                <p14:modId xmlns:p14="http://schemas.microsoft.com/office/powerpoint/2010/main" val="4192794411"/>
              </p:ext>
            </p:extLst>
          </p:nvPr>
        </p:nvGraphicFramePr>
        <p:xfrm>
          <a:off x="2647498" y="5381699"/>
          <a:ext cx="1497013" cy="457200"/>
        </p:xfrm>
        <a:graphic>
          <a:graphicData uri="http://schemas.openxmlformats.org/presentationml/2006/ole">
            <mc:AlternateContent xmlns:mc="http://schemas.openxmlformats.org/markup-compatibility/2006">
              <mc:Choice xmlns:v="urn:schemas-microsoft-com:vml" Requires="v">
                <p:oleObj spid="_x0000_s87832" r:id="rId37" imgW="749300" imgH="228600" progId="Equation.3">
                  <p:embed/>
                </p:oleObj>
              </mc:Choice>
              <mc:Fallback>
                <p:oleObj r:id="rId37" imgW="749300" imgH="228600" progId="Equation.3">
                  <p:embed/>
                  <p:pic>
                    <p:nvPicPr>
                      <p:cNvPr id="0" name=""/>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2647498" y="5381699"/>
                        <a:ext cx="14970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2" name="Object 30">
            <a:extLst>
              <a:ext uri="{FF2B5EF4-FFF2-40B4-BE49-F238E27FC236}">
                <a16:creationId xmlns="" xmlns:a16="http://schemas.microsoft.com/office/drawing/2014/main" id="{D4EDAA05-214A-978C-108E-0F53A5186603}"/>
              </a:ext>
            </a:extLst>
          </p:cNvPr>
          <p:cNvGraphicFramePr>
            <a:graphicFrameLocks noChangeAspect="1"/>
          </p:cNvGraphicFramePr>
          <p:nvPr>
            <p:extLst>
              <p:ext uri="{D42A27DB-BD31-4B8C-83A1-F6EECF244321}">
                <p14:modId xmlns:p14="http://schemas.microsoft.com/office/powerpoint/2010/main" val="1184949233"/>
              </p:ext>
            </p:extLst>
          </p:nvPr>
        </p:nvGraphicFramePr>
        <p:xfrm>
          <a:off x="4150861" y="5368999"/>
          <a:ext cx="1195387" cy="457200"/>
        </p:xfrm>
        <a:graphic>
          <a:graphicData uri="http://schemas.openxmlformats.org/presentationml/2006/ole">
            <mc:AlternateContent xmlns:mc="http://schemas.openxmlformats.org/markup-compatibility/2006">
              <mc:Choice xmlns:v="urn:schemas-microsoft-com:vml" Requires="v">
                <p:oleObj spid="_x0000_s87833" r:id="rId39" imgW="596900" imgH="228600" progId="Equation.3">
                  <p:embed/>
                </p:oleObj>
              </mc:Choice>
              <mc:Fallback>
                <p:oleObj r:id="rId39" imgW="596900" imgH="228600" progId="Equation.3">
                  <p:embed/>
                  <p:pic>
                    <p:nvPicPr>
                      <p:cNvPr id="0" name=""/>
                      <p:cNvPicPr>
                        <a:picLocks noChangeAspect="1" noChangeArrowheads="1"/>
                      </p:cNvPicPr>
                      <p:nvPr/>
                    </p:nvPicPr>
                    <p:blipFill>
                      <a:blip r:embed="rId40">
                        <a:extLst>
                          <a:ext uri="{28A0092B-C50C-407E-A947-70E740481C1C}">
                            <a14:useLocalDpi xmlns:a14="http://schemas.microsoft.com/office/drawing/2010/main" val="0"/>
                          </a:ext>
                        </a:extLst>
                      </a:blip>
                      <a:srcRect/>
                      <a:stretch>
                        <a:fillRect/>
                      </a:stretch>
                    </p:blipFill>
                    <p:spPr bwMode="auto">
                      <a:xfrm>
                        <a:off x="4150861" y="5368999"/>
                        <a:ext cx="11953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3" name="Rectangle 20">
            <a:extLst>
              <a:ext uri="{FF2B5EF4-FFF2-40B4-BE49-F238E27FC236}">
                <a16:creationId xmlns="" xmlns:a16="http://schemas.microsoft.com/office/drawing/2014/main" id="{FF5229CE-EE57-9CC5-310E-69DF1B4029A7}"/>
              </a:ext>
            </a:extLst>
          </p:cNvPr>
          <p:cNvSpPr>
            <a:spLocks noChangeArrowheads="1"/>
          </p:cNvSpPr>
          <p:nvPr/>
        </p:nvSpPr>
        <p:spPr bwMode="auto">
          <a:xfrm>
            <a:off x="869856" y="5802246"/>
            <a:ext cx="7196137"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buFontTx/>
              <a:buNone/>
            </a:pPr>
            <a:r>
              <a:rPr lang="zh-CN" altLang="en-US" sz="2200" dirty="0">
                <a:solidFill>
                  <a:srgbClr val="000000"/>
                </a:solidFill>
                <a:latin typeface="Times New Roman" panose="02020603050405020304" pitchFamily="18" charset="0"/>
                <a:cs typeface="Times New Roman" panose="02020603050405020304" pitchFamily="18" charset="0"/>
              </a:rPr>
              <a:t>为了兼顾输出功率和效率，通常导通角取</a:t>
            </a:r>
            <a:r>
              <a:rPr lang="en-US" altLang="zh-CN" sz="2200" dirty="0">
                <a:solidFill>
                  <a:srgbClr val="FF3300"/>
                </a:solidFill>
                <a:latin typeface="Times New Roman" panose="02020603050405020304" pitchFamily="18" charset="0"/>
                <a:cs typeface="Times New Roman" panose="02020603050405020304" pitchFamily="18" charset="0"/>
              </a:rPr>
              <a:t>60</a:t>
            </a:r>
            <a:r>
              <a:rPr lang="en-US" altLang="zh-CN" sz="2200" baseline="42000" dirty="0">
                <a:solidFill>
                  <a:srgbClr val="FF3300"/>
                </a:solidFill>
                <a:latin typeface="Times New Roman" panose="02020603050405020304" pitchFamily="18" charset="0"/>
                <a:cs typeface="Times New Roman" panose="02020603050405020304" pitchFamily="18" charset="0"/>
              </a:rPr>
              <a:t>0</a:t>
            </a:r>
            <a:r>
              <a:rPr lang="zh-CN" altLang="en-US" sz="2200" dirty="0">
                <a:solidFill>
                  <a:srgbClr val="FF3300"/>
                </a:solidFill>
                <a:latin typeface="Times New Roman" panose="02020603050405020304" pitchFamily="18" charset="0"/>
                <a:cs typeface="Times New Roman" panose="02020603050405020304" pitchFamily="18" charset="0"/>
              </a:rPr>
              <a:t>～</a:t>
            </a:r>
            <a:r>
              <a:rPr lang="en-US" altLang="zh-CN" sz="2200" dirty="0">
                <a:solidFill>
                  <a:srgbClr val="FF3300"/>
                </a:solidFill>
                <a:latin typeface="Times New Roman" panose="02020603050405020304" pitchFamily="18" charset="0"/>
                <a:cs typeface="Times New Roman" panose="02020603050405020304" pitchFamily="18" charset="0"/>
              </a:rPr>
              <a:t>80</a:t>
            </a:r>
            <a:r>
              <a:rPr lang="en-US" altLang="zh-CN" sz="2200" baseline="36000" dirty="0">
                <a:solidFill>
                  <a:srgbClr val="FF3300"/>
                </a:solidFill>
                <a:latin typeface="Times New Roman" panose="02020603050405020304" pitchFamily="18" charset="0"/>
                <a:cs typeface="Times New Roman" panose="02020603050405020304" pitchFamily="18" charset="0"/>
              </a:rPr>
              <a:t>0</a:t>
            </a:r>
            <a:r>
              <a:rPr lang="zh-CN" altLang="en-US" sz="2200" dirty="0">
                <a:solidFill>
                  <a:srgbClr val="000000"/>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913950381"/>
      </p:ext>
    </p:extLst>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120</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4.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谐振</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功率</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放大器</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Rectangle 2">
            <a:extLst>
              <a:ext uri="{FF2B5EF4-FFF2-40B4-BE49-F238E27FC236}">
                <a16:creationId xmlns:a16="http://schemas.microsoft.com/office/drawing/2014/main" xmlns="" id="{2C2D9CFF-703B-9B1C-E3F4-AD84E4339BFA}"/>
              </a:ext>
            </a:extLst>
          </p:cNvPr>
          <p:cNvSpPr>
            <a:spLocks noChangeArrowheads="1"/>
          </p:cNvSpPr>
          <p:nvPr/>
        </p:nvSpPr>
        <p:spPr bwMode="auto">
          <a:xfrm>
            <a:off x="299918" y="1774119"/>
            <a:ext cx="3203575" cy="402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90000" tIns="46800" rIns="90000" bIns="46800">
            <a:spAutoFit/>
          </a:bodyPr>
          <a:lstStyle/>
          <a:p>
            <a:pPr>
              <a:buFontTx/>
              <a:buNone/>
            </a:pPr>
            <a:r>
              <a:rPr lang="en-US" altLang="zh-CN" sz="2000" dirty="0">
                <a:solidFill>
                  <a:schemeClr val="tx1"/>
                </a:solidFill>
                <a:latin typeface="+mn-ea"/>
                <a:ea typeface="+mn-ea"/>
              </a:rPr>
              <a:t>1. </a:t>
            </a:r>
            <a:r>
              <a:rPr lang="zh-CN" altLang="en-US" sz="2000" dirty="0">
                <a:solidFill>
                  <a:schemeClr val="tx1"/>
                </a:solidFill>
                <a:latin typeface="+mn-ea"/>
                <a:ea typeface="+mn-ea"/>
              </a:rPr>
              <a:t>什么是静态特性？</a:t>
            </a:r>
          </a:p>
        </p:txBody>
      </p:sp>
      <p:graphicFrame>
        <p:nvGraphicFramePr>
          <p:cNvPr id="6" name="Object 4">
            <a:extLst>
              <a:ext uri="{FF2B5EF4-FFF2-40B4-BE49-F238E27FC236}">
                <a16:creationId xmlns:a16="http://schemas.microsoft.com/office/drawing/2014/main" xmlns="" id="{FFAD3A18-FB9F-ABCD-6F20-34361FEA444D}"/>
              </a:ext>
            </a:extLst>
          </p:cNvPr>
          <p:cNvGraphicFramePr>
            <a:graphicFrameLocks noChangeAspect="1"/>
          </p:cNvGraphicFramePr>
          <p:nvPr>
            <p:extLst>
              <p:ext uri="{D42A27DB-BD31-4B8C-83A1-F6EECF244321}">
                <p14:modId xmlns:p14="http://schemas.microsoft.com/office/powerpoint/2010/main" val="2222844035"/>
              </p:ext>
            </p:extLst>
          </p:nvPr>
        </p:nvGraphicFramePr>
        <p:xfrm>
          <a:off x="3983267" y="2171692"/>
          <a:ext cx="1727200" cy="411162"/>
        </p:xfrm>
        <a:graphic>
          <a:graphicData uri="http://schemas.openxmlformats.org/presentationml/2006/ole">
            <mc:AlternateContent xmlns:mc="http://schemas.openxmlformats.org/markup-compatibility/2006">
              <mc:Choice xmlns:v="urn:schemas-microsoft-com:vml" Requires="v">
                <p:oleObj spid="_x0000_s88146" r:id="rId3" imgW="1002865" imgH="228501" progId="Equation.3">
                  <p:embed/>
                </p:oleObj>
              </mc:Choice>
              <mc:Fallback>
                <p:oleObj r:id="rId3" imgW="1002865" imgH="228501"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83267" y="2171692"/>
                        <a:ext cx="1727200" cy="41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 name="Rectangle 5">
            <a:extLst>
              <a:ext uri="{FF2B5EF4-FFF2-40B4-BE49-F238E27FC236}">
                <a16:creationId xmlns:a16="http://schemas.microsoft.com/office/drawing/2014/main" xmlns="" id="{57DF5EA0-EDA4-7A2C-8B73-FAEB3B2EE733}"/>
              </a:ext>
            </a:extLst>
          </p:cNvPr>
          <p:cNvSpPr>
            <a:spLocks noChangeArrowheads="1"/>
          </p:cNvSpPr>
          <p:nvPr/>
        </p:nvSpPr>
        <p:spPr bwMode="auto">
          <a:xfrm>
            <a:off x="257056" y="2178931"/>
            <a:ext cx="3794926" cy="402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90000" tIns="46800" rIns="90000" bIns="46800">
            <a:spAutoFit/>
          </a:bodyPr>
          <a:lstStyle/>
          <a:p>
            <a:pPr>
              <a:buFontTx/>
              <a:buNone/>
            </a:pPr>
            <a:r>
              <a:rPr lang="zh-CN" altLang="en-US" sz="2000" dirty="0">
                <a:solidFill>
                  <a:schemeClr val="tx1"/>
                </a:solidFill>
                <a:latin typeface="+mn-ea"/>
                <a:ea typeface="+mn-ea"/>
              </a:rPr>
              <a:t>没有带负载阻抗的条件下得到的</a:t>
            </a:r>
          </a:p>
        </p:txBody>
      </p:sp>
      <p:sp>
        <p:nvSpPr>
          <p:cNvPr id="8" name="Rectangle 6">
            <a:extLst>
              <a:ext uri="{FF2B5EF4-FFF2-40B4-BE49-F238E27FC236}">
                <a16:creationId xmlns:a16="http://schemas.microsoft.com/office/drawing/2014/main" xmlns="" id="{EC2A323C-862B-81D1-5303-25CB1B1753DF}"/>
              </a:ext>
            </a:extLst>
          </p:cNvPr>
          <p:cNvSpPr>
            <a:spLocks noChangeArrowheads="1"/>
          </p:cNvSpPr>
          <p:nvPr/>
        </p:nvSpPr>
        <p:spPr bwMode="auto">
          <a:xfrm>
            <a:off x="5229106" y="2183694"/>
            <a:ext cx="4311446" cy="402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lIns="90000" tIns="46800" rIns="90000" bIns="46800">
            <a:spAutoFit/>
          </a:bodyPr>
          <a:lstStyle/>
          <a:p>
            <a:pPr>
              <a:buFontTx/>
              <a:buNone/>
            </a:pPr>
            <a:r>
              <a:rPr lang="zh-CN" altLang="en-US" sz="2000" dirty="0">
                <a:solidFill>
                  <a:schemeClr val="tx1"/>
                </a:solidFill>
                <a:latin typeface="+mn-ea"/>
                <a:ea typeface="+mn-ea"/>
              </a:rPr>
              <a:t>   的关系，是晶体管本身固有的。</a:t>
            </a:r>
          </a:p>
        </p:txBody>
      </p:sp>
      <p:graphicFrame>
        <p:nvGraphicFramePr>
          <p:cNvPr id="9" name="Object 7">
            <a:extLst>
              <a:ext uri="{FF2B5EF4-FFF2-40B4-BE49-F238E27FC236}">
                <a16:creationId xmlns:a16="http://schemas.microsoft.com/office/drawing/2014/main" xmlns="" id="{4FAB9C6D-BF71-5D73-ADBD-A7FD66FE1FFB}"/>
              </a:ext>
            </a:extLst>
          </p:cNvPr>
          <p:cNvGraphicFramePr>
            <a:graphicFrameLocks noChangeAspect="1"/>
          </p:cNvGraphicFramePr>
          <p:nvPr>
            <p:extLst>
              <p:ext uri="{D42A27DB-BD31-4B8C-83A1-F6EECF244321}">
                <p14:modId xmlns:p14="http://schemas.microsoft.com/office/powerpoint/2010/main" val="1964709949"/>
              </p:ext>
            </p:extLst>
          </p:nvPr>
        </p:nvGraphicFramePr>
        <p:xfrm>
          <a:off x="4052176" y="3443955"/>
          <a:ext cx="5054600" cy="2338387"/>
        </p:xfrm>
        <a:graphic>
          <a:graphicData uri="http://schemas.openxmlformats.org/presentationml/2006/ole">
            <mc:AlternateContent xmlns:mc="http://schemas.openxmlformats.org/markup-compatibility/2006">
              <mc:Choice xmlns:v="urn:schemas-microsoft-com:vml" Requires="v">
                <p:oleObj spid="_x0000_s88147" r:id="rId5" imgW="6361905" imgH="2943636" progId="Paint.Picture">
                  <p:embed/>
                </p:oleObj>
              </mc:Choice>
              <mc:Fallback>
                <p:oleObj r:id="rId5" imgW="6361905" imgH="2943636" progId="Paint.Picture">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52176" y="3443955"/>
                        <a:ext cx="5054600" cy="2338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0" name="Rectangle 9">
            <a:extLst>
              <a:ext uri="{FF2B5EF4-FFF2-40B4-BE49-F238E27FC236}">
                <a16:creationId xmlns:a16="http://schemas.microsoft.com/office/drawing/2014/main" xmlns="" id="{93C12C40-08CB-5D0E-BE65-B12B6B6B1493}"/>
              </a:ext>
            </a:extLst>
          </p:cNvPr>
          <p:cNvSpPr>
            <a:spLocks noChangeArrowheads="1"/>
          </p:cNvSpPr>
          <p:nvPr/>
        </p:nvSpPr>
        <p:spPr bwMode="auto">
          <a:xfrm>
            <a:off x="291174" y="2662608"/>
            <a:ext cx="3635375" cy="402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90000" tIns="46800" rIns="90000" bIns="46800">
            <a:spAutoFit/>
          </a:bodyPr>
          <a:lstStyle/>
          <a:p>
            <a:pPr>
              <a:buFontTx/>
              <a:buNone/>
            </a:pPr>
            <a:r>
              <a:rPr lang="en-US" altLang="zh-CN" sz="2000">
                <a:solidFill>
                  <a:schemeClr val="tx1"/>
                </a:solidFill>
                <a:latin typeface="+mn-ea"/>
                <a:ea typeface="+mn-ea"/>
              </a:rPr>
              <a:t>2. </a:t>
            </a:r>
            <a:r>
              <a:rPr lang="zh-CN" altLang="en-US" sz="2000">
                <a:solidFill>
                  <a:schemeClr val="tx1"/>
                </a:solidFill>
                <a:latin typeface="+mn-ea"/>
                <a:ea typeface="+mn-ea"/>
              </a:rPr>
              <a:t>什么是动态特性？</a:t>
            </a:r>
          </a:p>
        </p:txBody>
      </p:sp>
      <p:sp>
        <p:nvSpPr>
          <p:cNvPr id="11" name="Rectangle 10">
            <a:extLst>
              <a:ext uri="{FF2B5EF4-FFF2-40B4-BE49-F238E27FC236}">
                <a16:creationId xmlns:a16="http://schemas.microsoft.com/office/drawing/2014/main" xmlns="" id="{6A4B3EBB-2E85-1F5C-D07F-FC0D3B3ED1C3}"/>
              </a:ext>
            </a:extLst>
          </p:cNvPr>
          <p:cNvSpPr>
            <a:spLocks noChangeArrowheads="1"/>
          </p:cNvSpPr>
          <p:nvPr/>
        </p:nvSpPr>
        <p:spPr bwMode="auto">
          <a:xfrm>
            <a:off x="257055" y="3403943"/>
            <a:ext cx="3726211" cy="1941173"/>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lIns="90000" tIns="46800" rIns="90000" bIns="46800">
            <a:spAutoFit/>
          </a:bodyPr>
          <a:lstStyle/>
          <a:p>
            <a:pPr>
              <a:buFontTx/>
              <a:buNone/>
            </a:pPr>
            <a:r>
              <a:rPr lang="en-US" altLang="zh-CN" sz="2000" dirty="0">
                <a:solidFill>
                  <a:schemeClr val="tx1"/>
                </a:solidFill>
                <a:latin typeface="+mn-ea"/>
                <a:ea typeface="+mn-ea"/>
              </a:rPr>
              <a:t>     </a:t>
            </a:r>
            <a:r>
              <a:rPr lang="zh-CN" altLang="en-US" sz="2000" dirty="0">
                <a:solidFill>
                  <a:schemeClr val="tx1"/>
                </a:solidFill>
                <a:latin typeface="+mn-ea"/>
                <a:ea typeface="+mn-ea"/>
              </a:rPr>
              <a:t>是指在电源电压</a:t>
            </a:r>
            <a:r>
              <a:rPr lang="en-US" altLang="zh-CN" sz="2000" dirty="0">
                <a:solidFill>
                  <a:schemeClr val="tx1"/>
                </a:solidFill>
                <a:latin typeface="+mn-ea"/>
                <a:ea typeface="+mn-ea"/>
              </a:rPr>
              <a:t>(</a:t>
            </a:r>
            <a:r>
              <a:rPr lang="en-US" altLang="zh-CN" sz="2000" i="1" dirty="0">
                <a:solidFill>
                  <a:schemeClr val="tx1"/>
                </a:solidFill>
                <a:latin typeface="+mn-ea"/>
                <a:ea typeface="+mn-ea"/>
              </a:rPr>
              <a:t>V</a:t>
            </a:r>
            <a:r>
              <a:rPr lang="en-US" altLang="zh-CN" sz="2000" baseline="-25000" dirty="0">
                <a:solidFill>
                  <a:schemeClr val="tx1"/>
                </a:solidFill>
                <a:latin typeface="+mn-ea"/>
                <a:ea typeface="+mn-ea"/>
              </a:rPr>
              <a:t>CC</a:t>
            </a:r>
            <a:r>
              <a:rPr lang="zh-CN" altLang="en-US" sz="2000" dirty="0">
                <a:solidFill>
                  <a:schemeClr val="tx1"/>
                </a:solidFill>
                <a:latin typeface="+mn-ea"/>
                <a:ea typeface="+mn-ea"/>
              </a:rPr>
              <a:t>和</a:t>
            </a:r>
            <a:r>
              <a:rPr lang="en-US" altLang="zh-CN" sz="2000" i="1" dirty="0">
                <a:solidFill>
                  <a:schemeClr val="tx1"/>
                </a:solidFill>
                <a:latin typeface="+mn-ea"/>
                <a:ea typeface="+mn-ea"/>
              </a:rPr>
              <a:t>V</a:t>
            </a:r>
            <a:r>
              <a:rPr lang="en-US" altLang="zh-CN" sz="2000" baseline="-25000" dirty="0">
                <a:solidFill>
                  <a:schemeClr val="tx1"/>
                </a:solidFill>
                <a:latin typeface="+mn-ea"/>
                <a:ea typeface="+mn-ea"/>
              </a:rPr>
              <a:t>BB</a:t>
            </a:r>
            <a:r>
              <a:rPr lang="en-US" altLang="zh-CN" sz="2000" dirty="0">
                <a:solidFill>
                  <a:schemeClr val="tx1"/>
                </a:solidFill>
                <a:latin typeface="+mn-ea"/>
                <a:ea typeface="+mn-ea"/>
              </a:rPr>
              <a:t>)</a:t>
            </a:r>
            <a:r>
              <a:rPr lang="zh-CN" altLang="en-US" sz="2000" dirty="0">
                <a:solidFill>
                  <a:schemeClr val="tx1"/>
                </a:solidFill>
                <a:latin typeface="+mn-ea"/>
                <a:ea typeface="+mn-ea"/>
              </a:rPr>
              <a:t>、晶体管</a:t>
            </a:r>
            <a:r>
              <a:rPr lang="en-US" altLang="zh-CN" sz="2000" dirty="0">
                <a:solidFill>
                  <a:schemeClr val="tx1"/>
                </a:solidFill>
                <a:latin typeface="+mn-ea"/>
                <a:ea typeface="+mn-ea"/>
              </a:rPr>
              <a:t>(</a:t>
            </a:r>
            <a:r>
              <a:rPr lang="en-US" altLang="zh-CN" sz="2000" i="1" dirty="0" err="1">
                <a:solidFill>
                  <a:schemeClr val="tx1"/>
                </a:solidFill>
                <a:latin typeface="+mn-ea"/>
                <a:ea typeface="+mn-ea"/>
              </a:rPr>
              <a:t>g</a:t>
            </a:r>
            <a:r>
              <a:rPr lang="en-US" altLang="zh-CN" sz="2000" baseline="-25000" dirty="0" err="1">
                <a:solidFill>
                  <a:schemeClr val="tx1"/>
                </a:solidFill>
                <a:latin typeface="+mn-ea"/>
                <a:ea typeface="+mn-ea"/>
              </a:rPr>
              <a:t>c</a:t>
            </a:r>
            <a:r>
              <a:rPr lang="zh-CN" altLang="en-US" sz="2000" dirty="0">
                <a:solidFill>
                  <a:schemeClr val="tx1"/>
                </a:solidFill>
                <a:latin typeface="+mn-ea"/>
                <a:ea typeface="+mn-ea"/>
              </a:rPr>
              <a:t>、</a:t>
            </a:r>
            <a:r>
              <a:rPr lang="en-US" altLang="zh-CN" sz="2000" i="1" dirty="0">
                <a:solidFill>
                  <a:schemeClr val="tx1"/>
                </a:solidFill>
                <a:latin typeface="+mn-ea"/>
                <a:ea typeface="+mn-ea"/>
              </a:rPr>
              <a:t>U</a:t>
            </a:r>
            <a:r>
              <a:rPr lang="en-US" altLang="zh-CN" sz="2000" baseline="-25000" dirty="0">
                <a:solidFill>
                  <a:schemeClr val="tx1"/>
                </a:solidFill>
                <a:latin typeface="+mn-ea"/>
                <a:ea typeface="+mn-ea"/>
              </a:rPr>
              <a:t>BZ</a:t>
            </a:r>
            <a:r>
              <a:rPr lang="en-US" altLang="zh-CN" sz="2000" dirty="0">
                <a:solidFill>
                  <a:schemeClr val="tx1"/>
                </a:solidFill>
                <a:latin typeface="+mn-ea"/>
                <a:ea typeface="+mn-ea"/>
              </a:rPr>
              <a:t>)</a:t>
            </a:r>
            <a:r>
              <a:rPr lang="zh-CN" altLang="en-US" sz="2000" dirty="0">
                <a:solidFill>
                  <a:schemeClr val="tx1"/>
                </a:solidFill>
                <a:latin typeface="+mn-ea"/>
                <a:ea typeface="+mn-ea"/>
              </a:rPr>
              <a:t>、输入信号</a:t>
            </a:r>
            <a:r>
              <a:rPr lang="en-US" altLang="zh-CN" sz="2000" i="1" dirty="0" err="1">
                <a:solidFill>
                  <a:schemeClr val="tx1"/>
                </a:solidFill>
                <a:latin typeface="+mn-ea"/>
                <a:ea typeface="+mn-ea"/>
              </a:rPr>
              <a:t>U</a:t>
            </a:r>
            <a:r>
              <a:rPr lang="en-US" altLang="zh-CN" sz="2000" baseline="-25000" dirty="0" err="1">
                <a:solidFill>
                  <a:schemeClr val="tx1"/>
                </a:solidFill>
                <a:latin typeface="+mn-ea"/>
                <a:ea typeface="+mn-ea"/>
              </a:rPr>
              <a:t>bm</a:t>
            </a:r>
            <a:r>
              <a:rPr lang="zh-CN" altLang="en-US" sz="2000" dirty="0">
                <a:solidFill>
                  <a:schemeClr val="tx1"/>
                </a:solidFill>
                <a:latin typeface="+mn-ea"/>
                <a:ea typeface="+mn-ea"/>
              </a:rPr>
              <a:t>和输出电压</a:t>
            </a:r>
            <a:r>
              <a:rPr lang="en-US" altLang="zh-CN" sz="2000" i="1" dirty="0" err="1">
                <a:solidFill>
                  <a:schemeClr val="tx1"/>
                </a:solidFill>
                <a:latin typeface="+mn-ea"/>
                <a:ea typeface="+mn-ea"/>
              </a:rPr>
              <a:t>U</a:t>
            </a:r>
            <a:r>
              <a:rPr lang="en-US" altLang="zh-CN" sz="2000" baseline="-25000" dirty="0" err="1">
                <a:solidFill>
                  <a:schemeClr val="tx1"/>
                </a:solidFill>
                <a:latin typeface="+mn-ea"/>
                <a:ea typeface="+mn-ea"/>
              </a:rPr>
              <a:t>cm</a:t>
            </a:r>
            <a:r>
              <a:rPr lang="zh-CN" altLang="en-US" sz="2000" dirty="0">
                <a:solidFill>
                  <a:schemeClr val="tx1"/>
                </a:solidFill>
                <a:latin typeface="+mn-ea"/>
                <a:ea typeface="+mn-ea"/>
              </a:rPr>
              <a:t>（或谐振电阻</a:t>
            </a:r>
            <a:r>
              <a:rPr lang="en-US" altLang="zh-CN" sz="2000" i="1" dirty="0">
                <a:solidFill>
                  <a:schemeClr val="tx1"/>
                </a:solidFill>
                <a:latin typeface="+mn-ea"/>
                <a:ea typeface="+mn-ea"/>
              </a:rPr>
              <a:t>R</a:t>
            </a:r>
            <a:r>
              <a:rPr lang="en-US" altLang="zh-CN" sz="2000" baseline="-25000" dirty="0">
                <a:solidFill>
                  <a:schemeClr val="tx1"/>
                </a:solidFill>
                <a:latin typeface="+mn-ea"/>
                <a:ea typeface="+mn-ea"/>
              </a:rPr>
              <a:t>p</a:t>
            </a:r>
            <a:r>
              <a:rPr lang="en-US" altLang="zh-CN" sz="2000" dirty="0">
                <a:solidFill>
                  <a:schemeClr val="tx1"/>
                </a:solidFill>
                <a:latin typeface="+mn-ea"/>
                <a:ea typeface="+mn-ea"/>
              </a:rPr>
              <a:t> </a:t>
            </a:r>
            <a:r>
              <a:rPr lang="zh-CN" altLang="en-US" sz="2000" dirty="0">
                <a:solidFill>
                  <a:schemeClr val="tx1"/>
                </a:solidFill>
                <a:latin typeface="+mn-ea"/>
                <a:ea typeface="+mn-ea"/>
              </a:rPr>
              <a:t>）一定的条件下，集电极电流</a:t>
            </a:r>
            <a:r>
              <a:rPr lang="en-US" altLang="zh-CN" sz="2000" i="1" dirty="0" err="1">
                <a:solidFill>
                  <a:schemeClr val="tx1"/>
                </a:solidFill>
                <a:latin typeface="+mn-ea"/>
                <a:ea typeface="+mn-ea"/>
              </a:rPr>
              <a:t>i</a:t>
            </a:r>
            <a:r>
              <a:rPr lang="en-US" altLang="zh-CN" sz="2000" baseline="-25000" dirty="0" err="1">
                <a:solidFill>
                  <a:schemeClr val="tx1"/>
                </a:solidFill>
                <a:latin typeface="+mn-ea"/>
                <a:ea typeface="+mn-ea"/>
              </a:rPr>
              <a:t>C</a:t>
            </a:r>
            <a:r>
              <a:rPr lang="en-US" altLang="zh-CN" sz="2000" dirty="0">
                <a:solidFill>
                  <a:schemeClr val="tx1"/>
                </a:solidFill>
                <a:latin typeface="+mn-ea"/>
                <a:ea typeface="+mn-ea"/>
              </a:rPr>
              <a:t> </a:t>
            </a:r>
            <a:r>
              <a:rPr lang="en-US" altLang="zh-CN" sz="2000" i="1" dirty="0">
                <a:solidFill>
                  <a:schemeClr val="tx1"/>
                </a:solidFill>
                <a:latin typeface="+mn-ea"/>
                <a:ea typeface="+mn-ea"/>
              </a:rPr>
              <a:t>= f </a:t>
            </a:r>
            <a:r>
              <a:rPr lang="en-US" altLang="zh-CN" sz="2000" dirty="0">
                <a:solidFill>
                  <a:schemeClr val="tx1"/>
                </a:solidFill>
                <a:latin typeface="+mn-ea"/>
                <a:ea typeface="+mn-ea"/>
              </a:rPr>
              <a:t>(</a:t>
            </a:r>
            <a:r>
              <a:rPr lang="en-US" altLang="zh-CN" sz="2000" i="1" dirty="0" err="1">
                <a:solidFill>
                  <a:schemeClr val="tx1"/>
                </a:solidFill>
                <a:latin typeface="+mn-ea"/>
                <a:ea typeface="+mn-ea"/>
              </a:rPr>
              <a:t>u</a:t>
            </a:r>
            <a:r>
              <a:rPr lang="en-US" altLang="zh-CN" sz="2000" baseline="-25000" dirty="0" err="1">
                <a:solidFill>
                  <a:schemeClr val="tx1"/>
                </a:solidFill>
                <a:latin typeface="+mn-ea"/>
                <a:ea typeface="+mn-ea"/>
              </a:rPr>
              <a:t>BE</a:t>
            </a:r>
            <a:r>
              <a:rPr lang="en-US" altLang="zh-CN" sz="2000" i="1" dirty="0">
                <a:solidFill>
                  <a:schemeClr val="tx1"/>
                </a:solidFill>
                <a:latin typeface="+mn-ea"/>
                <a:ea typeface="+mn-ea"/>
              </a:rPr>
              <a:t>, </a:t>
            </a:r>
            <a:r>
              <a:rPr lang="en-US" altLang="zh-CN" sz="2000" i="1" dirty="0" err="1">
                <a:solidFill>
                  <a:schemeClr val="tx1"/>
                </a:solidFill>
                <a:latin typeface="+mn-ea"/>
                <a:ea typeface="+mn-ea"/>
              </a:rPr>
              <a:t>u</a:t>
            </a:r>
            <a:r>
              <a:rPr lang="en-US" altLang="zh-CN" sz="2000" baseline="-25000" dirty="0" err="1">
                <a:solidFill>
                  <a:schemeClr val="tx1"/>
                </a:solidFill>
                <a:latin typeface="+mn-ea"/>
                <a:ea typeface="+mn-ea"/>
              </a:rPr>
              <a:t>CE</a:t>
            </a:r>
            <a:r>
              <a:rPr lang="en-US" altLang="zh-CN" sz="2000" dirty="0">
                <a:solidFill>
                  <a:schemeClr val="tx1"/>
                </a:solidFill>
                <a:latin typeface="+mn-ea"/>
                <a:ea typeface="+mn-ea"/>
              </a:rPr>
              <a:t>)</a:t>
            </a:r>
            <a:r>
              <a:rPr lang="zh-CN" altLang="en-US" sz="2000" dirty="0">
                <a:solidFill>
                  <a:schemeClr val="tx1"/>
                </a:solidFill>
                <a:latin typeface="+mn-ea"/>
                <a:ea typeface="+mn-ea"/>
              </a:rPr>
              <a:t>的关系称为放大器的动态特性。</a:t>
            </a:r>
          </a:p>
        </p:txBody>
      </p:sp>
      <p:sp>
        <p:nvSpPr>
          <p:cNvPr id="12" name="矩形 26630">
            <a:extLst>
              <a:ext uri="{FF2B5EF4-FFF2-40B4-BE49-F238E27FC236}">
                <a16:creationId xmlns:a16="http://schemas.microsoft.com/office/drawing/2014/main" xmlns="" id="{C0A6F165-9526-7FA0-D54E-5D5BFC07DA9E}"/>
              </a:ext>
            </a:extLst>
          </p:cNvPr>
          <p:cNvSpPr>
            <a:spLocks noChangeArrowheads="1"/>
          </p:cNvSpPr>
          <p:nvPr/>
        </p:nvSpPr>
        <p:spPr bwMode="auto">
          <a:xfrm>
            <a:off x="0" y="1340768"/>
            <a:ext cx="914400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sz="2200" b="1" dirty="0" smtClean="0">
                <a:solidFill>
                  <a:schemeClr val="tx1"/>
                </a:solidFill>
                <a:latin typeface="+mn-ea"/>
                <a:ea typeface="+mn-ea"/>
              </a:rPr>
              <a:t>谐振</a:t>
            </a:r>
            <a:r>
              <a:rPr lang="zh-CN" altLang="en-US" sz="2200" b="1" dirty="0">
                <a:solidFill>
                  <a:schemeClr val="tx1"/>
                </a:solidFill>
                <a:latin typeface="+mn-ea"/>
                <a:ea typeface="+mn-ea"/>
              </a:rPr>
              <a:t>功率放大器的动态特性与负载特性</a:t>
            </a:r>
          </a:p>
        </p:txBody>
      </p:sp>
    </p:spTree>
    <p:extLst>
      <p:ext uri="{BB962C8B-B14F-4D97-AF65-F5344CB8AC3E}">
        <p14:creationId xmlns:p14="http://schemas.microsoft.com/office/powerpoint/2010/main" val="2793552270"/>
      </p:ext>
    </p:extLst>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121</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4.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谐振</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功率</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放大器</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Rectangle 48">
            <a:extLst>
              <a:ext uri="{FF2B5EF4-FFF2-40B4-BE49-F238E27FC236}">
                <a16:creationId xmlns:a16="http://schemas.microsoft.com/office/drawing/2014/main" xmlns="" id="{97B363EA-9CAE-12FC-AA3E-A6C087FFF381}"/>
              </a:ext>
            </a:extLst>
          </p:cNvPr>
          <p:cNvSpPr>
            <a:spLocks noChangeArrowheads="1"/>
          </p:cNvSpPr>
          <p:nvPr/>
        </p:nvSpPr>
        <p:spPr bwMode="auto">
          <a:xfrm>
            <a:off x="247785" y="1656953"/>
            <a:ext cx="24272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buFontTx/>
              <a:buNone/>
            </a:pPr>
            <a:r>
              <a:rPr lang="en-US" altLang="zh-CN" sz="2000" dirty="0">
                <a:solidFill>
                  <a:schemeClr val="accent2"/>
                </a:solidFill>
                <a:latin typeface="+mn-ea"/>
                <a:ea typeface="+mn-ea"/>
              </a:rPr>
              <a:t>(</a:t>
            </a:r>
            <a:r>
              <a:rPr lang="zh-CN" altLang="en-US" sz="2000" dirty="0">
                <a:solidFill>
                  <a:schemeClr val="accent2"/>
                </a:solidFill>
                <a:latin typeface="+mn-ea"/>
                <a:ea typeface="+mn-ea"/>
              </a:rPr>
              <a:t>一） 截距法</a:t>
            </a:r>
          </a:p>
        </p:txBody>
      </p:sp>
      <p:sp>
        <p:nvSpPr>
          <p:cNvPr id="6" name="Rectangle 49">
            <a:extLst>
              <a:ext uri="{FF2B5EF4-FFF2-40B4-BE49-F238E27FC236}">
                <a16:creationId xmlns:a16="http://schemas.microsoft.com/office/drawing/2014/main" xmlns="" id="{E59C2520-A3E0-C349-F8F8-EC3D965FB5A9}"/>
              </a:ext>
            </a:extLst>
          </p:cNvPr>
          <p:cNvSpPr>
            <a:spLocks noChangeArrowheads="1"/>
          </p:cNvSpPr>
          <p:nvPr/>
        </p:nvSpPr>
        <p:spPr bwMode="auto">
          <a:xfrm>
            <a:off x="-6215" y="4083417"/>
            <a:ext cx="18473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buFontTx/>
              <a:buNone/>
            </a:pPr>
            <a:endParaRPr lang="zh-CN" altLang="en-US" sz="2000" b="0">
              <a:solidFill>
                <a:srgbClr val="000000"/>
              </a:solidFill>
              <a:latin typeface="+mn-ea"/>
              <a:ea typeface="+mn-ea"/>
            </a:endParaRPr>
          </a:p>
        </p:txBody>
      </p:sp>
      <p:sp>
        <p:nvSpPr>
          <p:cNvPr id="7" name="Rectangle 50">
            <a:extLst>
              <a:ext uri="{FF2B5EF4-FFF2-40B4-BE49-F238E27FC236}">
                <a16:creationId xmlns:a16="http://schemas.microsoft.com/office/drawing/2014/main" xmlns="" id="{4CE41437-263E-C3DE-9385-29375660BB9A}"/>
              </a:ext>
            </a:extLst>
          </p:cNvPr>
          <p:cNvSpPr>
            <a:spLocks noChangeArrowheads="1"/>
          </p:cNvSpPr>
          <p:nvPr/>
        </p:nvSpPr>
        <p:spPr bwMode="auto">
          <a:xfrm>
            <a:off x="-6215" y="4083417"/>
            <a:ext cx="18473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buFontTx/>
              <a:buNone/>
            </a:pPr>
            <a:endParaRPr lang="zh-CN" altLang="en-US" sz="2000" b="0">
              <a:solidFill>
                <a:srgbClr val="000000"/>
              </a:solidFill>
              <a:latin typeface="+mn-ea"/>
              <a:ea typeface="+mn-ea"/>
            </a:endParaRPr>
          </a:p>
        </p:txBody>
      </p:sp>
      <p:grpSp>
        <p:nvGrpSpPr>
          <p:cNvPr id="8" name="Group 51">
            <a:extLst>
              <a:ext uri="{FF2B5EF4-FFF2-40B4-BE49-F238E27FC236}">
                <a16:creationId xmlns:a16="http://schemas.microsoft.com/office/drawing/2014/main" xmlns="" id="{BDD606BC-F245-A4B6-98D5-80982D11288A}"/>
              </a:ext>
            </a:extLst>
          </p:cNvPr>
          <p:cNvGrpSpPr>
            <a:grpSpLocks/>
          </p:cNvGrpSpPr>
          <p:nvPr/>
        </p:nvGrpSpPr>
        <p:grpSpPr bwMode="auto">
          <a:xfrm>
            <a:off x="173172" y="1892188"/>
            <a:ext cx="4840288" cy="968375"/>
            <a:chOff x="194" y="944"/>
            <a:chExt cx="3049" cy="610"/>
          </a:xfrm>
        </p:grpSpPr>
        <p:sp>
          <p:nvSpPr>
            <p:cNvPr id="9" name="Rectangle 52">
              <a:extLst>
                <a:ext uri="{FF2B5EF4-FFF2-40B4-BE49-F238E27FC236}">
                  <a16:creationId xmlns:a16="http://schemas.microsoft.com/office/drawing/2014/main" xmlns="" id="{A99F23A6-7085-E4BB-E1CC-B62DF00990D3}"/>
                </a:ext>
              </a:extLst>
            </p:cNvPr>
            <p:cNvSpPr>
              <a:spLocks noChangeArrowheads="1"/>
            </p:cNvSpPr>
            <p:nvPr/>
          </p:nvSpPr>
          <p:spPr bwMode="auto">
            <a:xfrm>
              <a:off x="194" y="1018"/>
              <a:ext cx="3049"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marL="457200" indent="-457200">
                <a:defRPr sz="2400" b="1">
                  <a:solidFill>
                    <a:srgbClr val="FFFF00"/>
                  </a:solidFill>
                  <a:latin typeface="Times New Roman" panose="02020603050405020304" pitchFamily="18" charset="0"/>
                  <a:ea typeface="宋体" panose="02010600030101010101" pitchFamily="2" charset="-122"/>
                </a:defRPr>
              </a:lvl1pPr>
              <a:lvl2pPr>
                <a:defRPr sz="2400" b="1">
                  <a:solidFill>
                    <a:srgbClr val="FFFF00"/>
                  </a:solidFill>
                  <a:latin typeface="Times New Roman" panose="02020603050405020304" pitchFamily="18" charset="0"/>
                  <a:ea typeface="宋体" panose="02010600030101010101" pitchFamily="2" charset="-122"/>
                </a:defRPr>
              </a:lvl2pPr>
              <a:lvl3pPr>
                <a:defRPr sz="2400" b="1">
                  <a:solidFill>
                    <a:srgbClr val="FFFF00"/>
                  </a:solidFill>
                  <a:latin typeface="Times New Roman" panose="02020603050405020304" pitchFamily="18" charset="0"/>
                  <a:ea typeface="宋体" panose="02010600030101010101" pitchFamily="2" charset="-122"/>
                </a:defRPr>
              </a:lvl3pPr>
              <a:lvl4pPr>
                <a:defRPr sz="2400" b="1">
                  <a:solidFill>
                    <a:srgbClr val="FFFF00"/>
                  </a:solidFill>
                  <a:latin typeface="Times New Roman" panose="02020603050405020304" pitchFamily="18" charset="0"/>
                  <a:ea typeface="宋体" panose="02010600030101010101" pitchFamily="2" charset="-122"/>
                </a:defRPr>
              </a:lvl4pPr>
              <a:lvl5pPr>
                <a:defRPr sz="2400" b="1">
                  <a:solidFill>
                    <a:srgbClr val="FFFF00"/>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2400" b="1">
                  <a:solidFill>
                    <a:srgbClr val="FFFF00"/>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2400" b="1">
                  <a:solidFill>
                    <a:srgbClr val="FFFF00"/>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2400" b="1">
                  <a:solidFill>
                    <a:srgbClr val="FFFF00"/>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2400" b="1">
                  <a:solidFill>
                    <a:srgbClr val="FFFF00"/>
                  </a:solidFill>
                  <a:latin typeface="Times New Roman" panose="02020603050405020304" pitchFamily="18" charset="0"/>
                  <a:ea typeface="宋体" panose="02010600030101010101" pitchFamily="2" charset="-122"/>
                </a:defRPr>
              </a:lvl9pPr>
            </a:lstStyle>
            <a:p>
              <a:pPr>
                <a:buFontTx/>
                <a:buNone/>
              </a:pPr>
              <a:r>
                <a:rPr lang="en-US" altLang="zh-CN" sz="2000" dirty="0">
                  <a:solidFill>
                    <a:srgbClr val="000000"/>
                  </a:solidFill>
                  <a:latin typeface="+mn-ea"/>
                  <a:ea typeface="+mn-ea"/>
                </a:rPr>
                <a:t> (1)</a:t>
              </a:r>
              <a:r>
                <a:rPr lang="zh-CN" altLang="en-US" sz="2000" dirty="0">
                  <a:solidFill>
                    <a:srgbClr val="000000"/>
                  </a:solidFill>
                  <a:latin typeface="+mn-ea"/>
                  <a:ea typeface="+mn-ea"/>
                </a:rPr>
                <a:t>在输出特性的      轴上取截距为 </a:t>
              </a:r>
            </a:p>
          </p:txBody>
        </p:sp>
        <p:graphicFrame>
          <p:nvGraphicFramePr>
            <p:cNvPr id="10" name="Object 53">
              <a:extLst>
                <a:ext uri="{FF2B5EF4-FFF2-40B4-BE49-F238E27FC236}">
                  <a16:creationId xmlns:a16="http://schemas.microsoft.com/office/drawing/2014/main" xmlns="" id="{D43ABEDF-5025-89FD-AF20-D14429734DFE}"/>
                </a:ext>
              </a:extLst>
            </p:cNvPr>
            <p:cNvGraphicFramePr>
              <a:graphicFrameLocks noChangeAspect="1"/>
            </p:cNvGraphicFramePr>
            <p:nvPr/>
          </p:nvGraphicFramePr>
          <p:xfrm>
            <a:off x="599" y="1272"/>
            <a:ext cx="2103" cy="282"/>
          </p:xfrm>
          <a:graphic>
            <a:graphicData uri="http://schemas.openxmlformats.org/presentationml/2006/ole">
              <mc:AlternateContent xmlns:mc="http://schemas.openxmlformats.org/markup-compatibility/2006">
                <mc:Choice xmlns:v="urn:schemas-microsoft-com:vml" Requires="v">
                  <p:oleObj spid="_x0000_s89370" r:id="rId3" imgW="1701800" imgH="228600" progId="Equation.3">
                    <p:embed/>
                  </p:oleObj>
                </mc:Choice>
                <mc:Fallback>
                  <p:oleObj r:id="rId3" imgW="1701800" imgH="2286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9" y="1272"/>
                          <a:ext cx="2103"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1" name="Object 54">
              <a:extLst>
                <a:ext uri="{FF2B5EF4-FFF2-40B4-BE49-F238E27FC236}">
                  <a16:creationId xmlns:a16="http://schemas.microsoft.com/office/drawing/2014/main" xmlns="" id="{4AA75361-D9B3-3C70-8E45-36F70CE539D9}"/>
                </a:ext>
              </a:extLst>
            </p:cNvPr>
            <p:cNvGraphicFramePr>
              <a:graphicFrameLocks noChangeAspect="1"/>
            </p:cNvGraphicFramePr>
            <p:nvPr/>
          </p:nvGraphicFramePr>
          <p:xfrm>
            <a:off x="1629" y="944"/>
            <a:ext cx="377" cy="353"/>
          </p:xfrm>
          <a:graphic>
            <a:graphicData uri="http://schemas.openxmlformats.org/presentationml/2006/ole">
              <mc:AlternateContent xmlns:mc="http://schemas.openxmlformats.org/markup-compatibility/2006">
                <mc:Choice xmlns:v="urn:schemas-microsoft-com:vml" Requires="v">
                  <p:oleObj spid="_x0000_s89371" r:id="rId5" imgW="241300" imgH="228600" progId="Equation.3">
                    <p:embed/>
                  </p:oleObj>
                </mc:Choice>
                <mc:Fallback>
                  <p:oleObj r:id="rId5" imgW="241300" imgH="2286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29" y="944"/>
                          <a:ext cx="377" cy="3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
        <p:nvSpPr>
          <p:cNvPr id="12" name="Rectangle 55">
            <a:extLst>
              <a:ext uri="{FF2B5EF4-FFF2-40B4-BE49-F238E27FC236}">
                <a16:creationId xmlns:a16="http://schemas.microsoft.com/office/drawing/2014/main" xmlns="" id="{52E87684-2462-123A-E9C3-5049257B461F}"/>
              </a:ext>
            </a:extLst>
          </p:cNvPr>
          <p:cNvSpPr>
            <a:spLocks noChangeArrowheads="1"/>
          </p:cNvSpPr>
          <p:nvPr/>
        </p:nvSpPr>
        <p:spPr bwMode="auto">
          <a:xfrm>
            <a:off x="-6215" y="4083417"/>
            <a:ext cx="18473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buFontTx/>
              <a:buNone/>
            </a:pPr>
            <a:endParaRPr lang="zh-CN" altLang="en-US" sz="2000" b="0">
              <a:solidFill>
                <a:srgbClr val="000000"/>
              </a:solidFill>
              <a:latin typeface="+mn-ea"/>
              <a:ea typeface="+mn-ea"/>
            </a:endParaRPr>
          </a:p>
        </p:txBody>
      </p:sp>
      <p:sp>
        <p:nvSpPr>
          <p:cNvPr id="13" name="Rectangle 56">
            <a:extLst>
              <a:ext uri="{FF2B5EF4-FFF2-40B4-BE49-F238E27FC236}">
                <a16:creationId xmlns:a16="http://schemas.microsoft.com/office/drawing/2014/main" xmlns="" id="{FB31BCAD-8AC7-4EC5-1431-BF729ED9781C}"/>
              </a:ext>
            </a:extLst>
          </p:cNvPr>
          <p:cNvSpPr>
            <a:spLocks noChangeArrowheads="1"/>
          </p:cNvSpPr>
          <p:nvPr/>
        </p:nvSpPr>
        <p:spPr bwMode="auto">
          <a:xfrm>
            <a:off x="-6215" y="4083417"/>
            <a:ext cx="18473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buFontTx/>
              <a:buNone/>
            </a:pPr>
            <a:endParaRPr lang="zh-CN" altLang="en-US" sz="2000" b="0">
              <a:solidFill>
                <a:srgbClr val="000000"/>
              </a:solidFill>
              <a:latin typeface="+mn-ea"/>
              <a:ea typeface="+mn-ea"/>
            </a:endParaRPr>
          </a:p>
        </p:txBody>
      </p:sp>
      <p:grpSp>
        <p:nvGrpSpPr>
          <p:cNvPr id="14" name="Group 57">
            <a:extLst>
              <a:ext uri="{FF2B5EF4-FFF2-40B4-BE49-F238E27FC236}">
                <a16:creationId xmlns:a16="http://schemas.microsoft.com/office/drawing/2014/main" xmlns="" id="{F33C6FCD-79FD-199D-DD26-F95736C3EE80}"/>
              </a:ext>
            </a:extLst>
          </p:cNvPr>
          <p:cNvGrpSpPr>
            <a:grpSpLocks/>
          </p:cNvGrpSpPr>
          <p:nvPr/>
        </p:nvGrpSpPr>
        <p:grpSpPr bwMode="auto">
          <a:xfrm>
            <a:off x="157002" y="2817848"/>
            <a:ext cx="4454525" cy="1136651"/>
            <a:chOff x="216" y="1650"/>
            <a:chExt cx="2806" cy="716"/>
          </a:xfrm>
        </p:grpSpPr>
        <p:sp>
          <p:nvSpPr>
            <p:cNvPr id="15" name="Rectangle 58">
              <a:extLst>
                <a:ext uri="{FF2B5EF4-FFF2-40B4-BE49-F238E27FC236}">
                  <a16:creationId xmlns:a16="http://schemas.microsoft.com/office/drawing/2014/main" xmlns="" id="{CFC67FB2-7636-91E1-10FC-FB5C4305CED4}"/>
                </a:ext>
              </a:extLst>
            </p:cNvPr>
            <p:cNvSpPr>
              <a:spLocks noChangeArrowheads="1"/>
            </p:cNvSpPr>
            <p:nvPr/>
          </p:nvSpPr>
          <p:spPr bwMode="auto">
            <a:xfrm>
              <a:off x="216" y="1650"/>
              <a:ext cx="2806"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buFontTx/>
                <a:buNone/>
              </a:pPr>
              <a:r>
                <a:rPr lang="en-US" altLang="zh-CN" sz="2000" dirty="0">
                  <a:solidFill>
                    <a:srgbClr val="000000"/>
                  </a:solidFill>
                  <a:latin typeface="+mn-ea"/>
                  <a:ea typeface="+mn-ea"/>
                </a:rPr>
                <a:t> (2)</a:t>
              </a:r>
              <a:r>
                <a:rPr lang="zh-CN" altLang="en-US" sz="2000" dirty="0">
                  <a:solidFill>
                    <a:srgbClr val="000000"/>
                  </a:solidFill>
                  <a:latin typeface="+mn-ea"/>
                  <a:ea typeface="+mn-ea"/>
                </a:rPr>
                <a:t>通过</a:t>
              </a:r>
              <a:r>
                <a:rPr lang="en-US" altLang="zh-CN" sz="2000" dirty="0">
                  <a:solidFill>
                    <a:srgbClr val="000000"/>
                  </a:solidFill>
                  <a:latin typeface="+mn-ea"/>
                  <a:ea typeface="+mn-ea"/>
                </a:rPr>
                <a:t>B</a:t>
              </a:r>
              <a:r>
                <a:rPr lang="zh-CN" altLang="en-US" sz="2000" dirty="0">
                  <a:solidFill>
                    <a:srgbClr val="000000"/>
                  </a:solidFill>
                  <a:latin typeface="+mn-ea"/>
                  <a:ea typeface="+mn-ea"/>
                </a:rPr>
                <a:t>点作斜率为 </a:t>
              </a:r>
              <a:r>
                <a:rPr lang="en-US" altLang="zh-CN" sz="2000" i="1" dirty="0" err="1">
                  <a:solidFill>
                    <a:srgbClr val="000000"/>
                  </a:solidFill>
                  <a:latin typeface="+mn-ea"/>
                  <a:ea typeface="+mn-ea"/>
                </a:rPr>
                <a:t>g</a:t>
              </a:r>
              <a:r>
                <a:rPr lang="en-US" altLang="zh-CN" sz="2000" baseline="-25000" dirty="0" err="1">
                  <a:solidFill>
                    <a:srgbClr val="000000"/>
                  </a:solidFill>
                  <a:latin typeface="+mn-ea"/>
                  <a:ea typeface="+mn-ea"/>
                </a:rPr>
                <a:t>d</a:t>
              </a:r>
              <a:r>
                <a:rPr lang="zh-CN" altLang="en-US" sz="2000" dirty="0">
                  <a:solidFill>
                    <a:srgbClr val="000000"/>
                  </a:solidFill>
                  <a:latin typeface="+mn-ea"/>
                  <a:ea typeface="+mn-ea"/>
                </a:rPr>
                <a:t>的直线交</a:t>
              </a:r>
            </a:p>
            <a:p>
              <a:pPr>
                <a:buFontTx/>
                <a:buNone/>
              </a:pPr>
              <a:r>
                <a:rPr lang="zh-CN" altLang="en-US" sz="2000" dirty="0">
                  <a:solidFill>
                    <a:srgbClr val="000000"/>
                  </a:solidFill>
                  <a:latin typeface="+mn-ea"/>
                  <a:ea typeface="+mn-ea"/>
                </a:rPr>
                <a:t>          线于</a:t>
              </a:r>
              <a:r>
                <a:rPr lang="en-US" altLang="zh-CN" sz="2000" dirty="0">
                  <a:solidFill>
                    <a:srgbClr val="000000"/>
                  </a:solidFill>
                  <a:latin typeface="+mn-ea"/>
                  <a:ea typeface="+mn-ea"/>
                </a:rPr>
                <a:t>A</a:t>
              </a:r>
              <a:r>
                <a:rPr lang="zh-CN" altLang="en-US" sz="2000" dirty="0">
                  <a:solidFill>
                    <a:srgbClr val="000000"/>
                  </a:solidFill>
                  <a:latin typeface="+mn-ea"/>
                  <a:ea typeface="+mn-ea"/>
                </a:rPr>
                <a:t>点，则</a:t>
              </a:r>
              <a:r>
                <a:rPr lang="en-US" altLang="zh-CN" sz="2000" dirty="0">
                  <a:solidFill>
                    <a:srgbClr val="000000"/>
                  </a:solidFill>
                  <a:latin typeface="+mn-ea"/>
                  <a:ea typeface="+mn-ea"/>
                </a:rPr>
                <a:t>BA</a:t>
              </a:r>
              <a:r>
                <a:rPr lang="zh-CN" altLang="en-US" sz="2000" dirty="0">
                  <a:solidFill>
                    <a:srgbClr val="000000"/>
                  </a:solidFill>
                  <a:latin typeface="+mn-ea"/>
                  <a:ea typeface="+mn-ea"/>
                </a:rPr>
                <a:t>直线即为  </a:t>
              </a:r>
            </a:p>
          </p:txBody>
        </p:sp>
        <p:graphicFrame>
          <p:nvGraphicFramePr>
            <p:cNvPr id="16" name="Object 59">
              <a:extLst>
                <a:ext uri="{FF2B5EF4-FFF2-40B4-BE49-F238E27FC236}">
                  <a16:creationId xmlns:a16="http://schemas.microsoft.com/office/drawing/2014/main" xmlns="" id="{5CF30E9F-B561-24FD-F411-81B554354F33}"/>
                </a:ext>
              </a:extLst>
            </p:cNvPr>
            <p:cNvGraphicFramePr>
              <a:graphicFrameLocks noChangeAspect="1"/>
            </p:cNvGraphicFramePr>
            <p:nvPr/>
          </p:nvGraphicFramePr>
          <p:xfrm>
            <a:off x="633" y="1776"/>
            <a:ext cx="502" cy="313"/>
          </p:xfrm>
          <a:graphic>
            <a:graphicData uri="http://schemas.openxmlformats.org/presentationml/2006/ole">
              <mc:AlternateContent xmlns:mc="http://schemas.openxmlformats.org/markup-compatibility/2006">
                <mc:Choice xmlns:v="urn:schemas-microsoft-com:vml" Requires="v">
                  <p:oleObj spid="_x0000_s89372" r:id="rId7" imgW="368300" imgH="228600" progId="Equation.3">
                    <p:embed/>
                  </p:oleObj>
                </mc:Choice>
                <mc:Fallback>
                  <p:oleObj r:id="rId7" imgW="368300" imgH="2286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33" y="1776"/>
                          <a:ext cx="502"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7" name="Object 60">
              <a:extLst>
                <a:ext uri="{FF2B5EF4-FFF2-40B4-BE49-F238E27FC236}">
                  <a16:creationId xmlns:a16="http://schemas.microsoft.com/office/drawing/2014/main" xmlns="" id="{1C828015-D1B9-0D24-CE6A-0AB97268954B}"/>
                </a:ext>
              </a:extLst>
            </p:cNvPr>
            <p:cNvGraphicFramePr>
              <a:graphicFrameLocks noChangeAspect="1"/>
            </p:cNvGraphicFramePr>
            <p:nvPr/>
          </p:nvGraphicFramePr>
          <p:xfrm>
            <a:off x="642" y="2103"/>
            <a:ext cx="769" cy="262"/>
          </p:xfrm>
          <a:graphic>
            <a:graphicData uri="http://schemas.openxmlformats.org/presentationml/2006/ole">
              <mc:AlternateContent xmlns:mc="http://schemas.openxmlformats.org/markup-compatibility/2006">
                <mc:Choice xmlns:v="urn:schemas-microsoft-com:vml" Requires="v">
                  <p:oleObj spid="_x0000_s89373" r:id="rId9" imgW="634449" imgH="215713" progId="Equation.3">
                    <p:embed/>
                  </p:oleObj>
                </mc:Choice>
                <mc:Fallback>
                  <p:oleObj r:id="rId9" imgW="634449" imgH="215713"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42" y="2103"/>
                          <a:ext cx="769"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8" name="Rectangle 61">
              <a:extLst>
                <a:ext uri="{FF2B5EF4-FFF2-40B4-BE49-F238E27FC236}">
                  <a16:creationId xmlns:a16="http://schemas.microsoft.com/office/drawing/2014/main" xmlns="" id="{8EE42AA1-A5F9-65EB-1175-3B2C3656E66B}"/>
                </a:ext>
              </a:extLst>
            </p:cNvPr>
            <p:cNvSpPr>
              <a:spLocks noChangeArrowheads="1"/>
            </p:cNvSpPr>
            <p:nvPr/>
          </p:nvSpPr>
          <p:spPr bwMode="auto">
            <a:xfrm>
              <a:off x="1410" y="2114"/>
              <a:ext cx="109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tabLst>
                  <a:tab pos="457200" algn="l"/>
                </a:tabLst>
                <a:defRPr sz="2400" b="1">
                  <a:solidFill>
                    <a:srgbClr val="FFFF00"/>
                  </a:solidFill>
                  <a:latin typeface="Times New Roman" panose="02020603050405020304" pitchFamily="18" charset="0"/>
                  <a:ea typeface="宋体" panose="02010600030101010101" pitchFamily="2" charset="-122"/>
                </a:defRPr>
              </a:lvl1pPr>
              <a:lvl2pPr>
                <a:tabLst>
                  <a:tab pos="457200" algn="l"/>
                </a:tabLst>
                <a:defRPr sz="2400" b="1">
                  <a:solidFill>
                    <a:srgbClr val="FFFF00"/>
                  </a:solidFill>
                  <a:latin typeface="Times New Roman" panose="02020603050405020304" pitchFamily="18" charset="0"/>
                  <a:ea typeface="宋体" panose="02010600030101010101" pitchFamily="2" charset="-122"/>
                </a:defRPr>
              </a:lvl2pPr>
              <a:lvl3pPr>
                <a:tabLst>
                  <a:tab pos="457200" algn="l"/>
                </a:tabLst>
                <a:defRPr sz="2400" b="1">
                  <a:solidFill>
                    <a:srgbClr val="FFFF00"/>
                  </a:solidFill>
                  <a:latin typeface="Times New Roman" panose="02020603050405020304" pitchFamily="18" charset="0"/>
                  <a:ea typeface="宋体" panose="02010600030101010101" pitchFamily="2" charset="-122"/>
                </a:defRPr>
              </a:lvl3pPr>
              <a:lvl4pPr>
                <a:tabLst>
                  <a:tab pos="457200" algn="l"/>
                </a:tabLst>
                <a:defRPr sz="2400" b="1">
                  <a:solidFill>
                    <a:srgbClr val="FFFF00"/>
                  </a:solidFill>
                  <a:latin typeface="Times New Roman" panose="02020603050405020304" pitchFamily="18" charset="0"/>
                  <a:ea typeface="宋体" panose="02010600030101010101" pitchFamily="2" charset="-122"/>
                </a:defRPr>
              </a:lvl4pPr>
              <a:lvl5pPr>
                <a:tabLst>
                  <a:tab pos="457200" algn="l"/>
                </a:tabLst>
                <a:defRPr sz="2400" b="1">
                  <a:solidFill>
                    <a:srgbClr val="FFFF00"/>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tabLst>
                  <a:tab pos="457200" algn="l"/>
                </a:tabLst>
                <a:defRPr sz="2400" b="1">
                  <a:solidFill>
                    <a:srgbClr val="FFFF00"/>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tabLst>
                  <a:tab pos="457200" algn="l"/>
                </a:tabLst>
                <a:defRPr sz="2400" b="1">
                  <a:solidFill>
                    <a:srgbClr val="FFFF00"/>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tabLst>
                  <a:tab pos="457200" algn="l"/>
                </a:tabLst>
                <a:defRPr sz="2400" b="1">
                  <a:solidFill>
                    <a:srgbClr val="FFFF00"/>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tabLst>
                  <a:tab pos="457200" algn="l"/>
                </a:tabLst>
                <a:defRPr sz="2400" b="1">
                  <a:solidFill>
                    <a:srgbClr val="FFFF00"/>
                  </a:solidFill>
                  <a:latin typeface="Times New Roman" panose="02020603050405020304" pitchFamily="18" charset="0"/>
                  <a:ea typeface="宋体" panose="02010600030101010101" pitchFamily="2" charset="-122"/>
                </a:defRPr>
              </a:lvl9pPr>
            </a:lstStyle>
            <a:p>
              <a:pPr>
                <a:buFontTx/>
                <a:buNone/>
              </a:pPr>
              <a:r>
                <a:rPr lang="zh-CN" altLang="en-US" sz="2000">
                  <a:solidFill>
                    <a:srgbClr val="000000"/>
                  </a:solidFill>
                  <a:latin typeface="+mn-ea"/>
                  <a:ea typeface="+mn-ea"/>
                </a:rPr>
                <a:t>段的动态特性</a:t>
              </a:r>
            </a:p>
          </p:txBody>
        </p:sp>
      </p:grpSp>
      <p:sp>
        <p:nvSpPr>
          <p:cNvPr id="19" name="Rectangle 62">
            <a:extLst>
              <a:ext uri="{FF2B5EF4-FFF2-40B4-BE49-F238E27FC236}">
                <a16:creationId xmlns:a16="http://schemas.microsoft.com/office/drawing/2014/main" xmlns="" id="{B97BF0A6-AE25-2813-42A8-2DF477702728}"/>
              </a:ext>
            </a:extLst>
          </p:cNvPr>
          <p:cNvSpPr>
            <a:spLocks noChangeArrowheads="1"/>
          </p:cNvSpPr>
          <p:nvPr/>
        </p:nvSpPr>
        <p:spPr bwMode="auto">
          <a:xfrm>
            <a:off x="-6215" y="4083417"/>
            <a:ext cx="18473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buFontTx/>
              <a:buNone/>
            </a:pPr>
            <a:endParaRPr lang="zh-CN" altLang="en-US" sz="2000" b="0">
              <a:solidFill>
                <a:srgbClr val="000000"/>
              </a:solidFill>
              <a:latin typeface="+mn-ea"/>
              <a:ea typeface="+mn-ea"/>
            </a:endParaRPr>
          </a:p>
        </p:txBody>
      </p:sp>
      <p:grpSp>
        <p:nvGrpSpPr>
          <p:cNvPr id="20" name="Group 63">
            <a:extLst>
              <a:ext uri="{FF2B5EF4-FFF2-40B4-BE49-F238E27FC236}">
                <a16:creationId xmlns:a16="http://schemas.microsoft.com/office/drawing/2014/main" xmlns="" id="{9E86BE10-E5E6-C635-2293-793C6F4E5DBC}"/>
              </a:ext>
            </a:extLst>
          </p:cNvPr>
          <p:cNvGrpSpPr>
            <a:grpSpLocks/>
          </p:cNvGrpSpPr>
          <p:nvPr/>
        </p:nvGrpSpPr>
        <p:grpSpPr bwMode="auto">
          <a:xfrm>
            <a:off x="287744" y="3984329"/>
            <a:ext cx="3833813" cy="1196975"/>
            <a:chOff x="356" y="2433"/>
            <a:chExt cx="2415" cy="754"/>
          </a:xfrm>
        </p:grpSpPr>
        <p:sp>
          <p:nvSpPr>
            <p:cNvPr id="21" name="Rectangle 64">
              <a:extLst>
                <a:ext uri="{FF2B5EF4-FFF2-40B4-BE49-F238E27FC236}">
                  <a16:creationId xmlns:a16="http://schemas.microsoft.com/office/drawing/2014/main" xmlns="" id="{F3856E8D-1282-E755-04C0-868CA9C14E90}"/>
                </a:ext>
              </a:extLst>
            </p:cNvPr>
            <p:cNvSpPr>
              <a:spLocks noChangeArrowheads="1"/>
            </p:cNvSpPr>
            <p:nvPr/>
          </p:nvSpPr>
          <p:spPr bwMode="auto">
            <a:xfrm>
              <a:off x="356" y="2433"/>
              <a:ext cx="2415"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marL="457200" indent="-457200">
                <a:defRPr sz="2400" b="1">
                  <a:solidFill>
                    <a:srgbClr val="FFFF00"/>
                  </a:solidFill>
                  <a:latin typeface="Times New Roman" panose="02020603050405020304" pitchFamily="18" charset="0"/>
                  <a:ea typeface="宋体" panose="02010600030101010101" pitchFamily="2" charset="-122"/>
                </a:defRPr>
              </a:lvl1pPr>
              <a:lvl2pPr>
                <a:defRPr sz="2400" b="1">
                  <a:solidFill>
                    <a:srgbClr val="FFFF00"/>
                  </a:solidFill>
                  <a:latin typeface="Times New Roman" panose="02020603050405020304" pitchFamily="18" charset="0"/>
                  <a:ea typeface="宋体" panose="02010600030101010101" pitchFamily="2" charset="-122"/>
                </a:defRPr>
              </a:lvl2pPr>
              <a:lvl3pPr>
                <a:defRPr sz="2400" b="1">
                  <a:solidFill>
                    <a:srgbClr val="FFFF00"/>
                  </a:solidFill>
                  <a:latin typeface="Times New Roman" panose="02020603050405020304" pitchFamily="18" charset="0"/>
                  <a:ea typeface="宋体" panose="02010600030101010101" pitchFamily="2" charset="-122"/>
                </a:defRPr>
              </a:lvl3pPr>
              <a:lvl4pPr>
                <a:defRPr sz="2400" b="1">
                  <a:solidFill>
                    <a:srgbClr val="FFFF00"/>
                  </a:solidFill>
                  <a:latin typeface="Times New Roman" panose="02020603050405020304" pitchFamily="18" charset="0"/>
                  <a:ea typeface="宋体" panose="02010600030101010101" pitchFamily="2" charset="-122"/>
                </a:defRPr>
              </a:lvl4pPr>
              <a:lvl5pPr>
                <a:defRPr sz="2400" b="1">
                  <a:solidFill>
                    <a:srgbClr val="FFFF00"/>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2400" b="1">
                  <a:solidFill>
                    <a:srgbClr val="FFFF00"/>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2400" b="1">
                  <a:solidFill>
                    <a:srgbClr val="FFFF00"/>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2400" b="1">
                  <a:solidFill>
                    <a:srgbClr val="FFFF00"/>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2400" b="1">
                  <a:solidFill>
                    <a:srgbClr val="FFFF00"/>
                  </a:solidFill>
                  <a:latin typeface="Times New Roman" panose="02020603050405020304" pitchFamily="18" charset="0"/>
                  <a:ea typeface="宋体" panose="02010600030101010101" pitchFamily="2" charset="-122"/>
                </a:defRPr>
              </a:lvl9pPr>
            </a:lstStyle>
            <a:p>
              <a:pPr>
                <a:buFontTx/>
                <a:buAutoNum type="arabicParenBoth" startAt="3"/>
              </a:pPr>
              <a:r>
                <a:rPr lang="zh-CN" altLang="en-US" sz="2000" dirty="0">
                  <a:solidFill>
                    <a:srgbClr val="000000"/>
                  </a:solidFill>
                  <a:latin typeface="+mn-ea"/>
                  <a:ea typeface="+mn-ea"/>
                </a:rPr>
                <a:t>在</a:t>
              </a:r>
              <a:r>
                <a:rPr lang="en-US" altLang="zh-CN" sz="2000" i="1" dirty="0" err="1">
                  <a:solidFill>
                    <a:srgbClr val="000000"/>
                  </a:solidFill>
                  <a:latin typeface="+mn-ea"/>
                  <a:ea typeface="+mn-ea"/>
                </a:rPr>
                <a:t>u</a:t>
              </a:r>
              <a:r>
                <a:rPr lang="en-US" altLang="zh-CN" sz="2000" baseline="-25000" dirty="0" err="1">
                  <a:solidFill>
                    <a:srgbClr val="000000"/>
                  </a:solidFill>
                  <a:latin typeface="+mn-ea"/>
                  <a:ea typeface="+mn-ea"/>
                </a:rPr>
                <a:t>CE</a:t>
              </a:r>
              <a:r>
                <a:rPr lang="zh-CN" altLang="en-US" sz="2000" dirty="0">
                  <a:solidFill>
                    <a:srgbClr val="000000"/>
                  </a:solidFill>
                  <a:latin typeface="+mn-ea"/>
                  <a:ea typeface="+mn-ea"/>
                </a:rPr>
                <a:t>轴上找出相应的</a:t>
              </a:r>
              <a:r>
                <a:rPr lang="en-US" altLang="zh-CN" sz="2000" i="1" dirty="0">
                  <a:solidFill>
                    <a:srgbClr val="000000"/>
                  </a:solidFill>
                  <a:latin typeface="+mn-ea"/>
                  <a:ea typeface="+mn-ea"/>
                </a:rPr>
                <a:t>V</a:t>
              </a:r>
              <a:r>
                <a:rPr lang="en-US" altLang="zh-CN" sz="2000" baseline="-25000" dirty="0">
                  <a:solidFill>
                    <a:srgbClr val="000000"/>
                  </a:solidFill>
                  <a:latin typeface="+mn-ea"/>
                  <a:ea typeface="+mn-ea"/>
                </a:rPr>
                <a:t>CC</a:t>
              </a:r>
              <a:r>
                <a:rPr lang="zh-CN" altLang="en-US" sz="2000" dirty="0">
                  <a:solidFill>
                    <a:srgbClr val="000000"/>
                  </a:solidFill>
                  <a:latin typeface="+mn-ea"/>
                  <a:ea typeface="+mn-ea"/>
                </a:rPr>
                <a:t>点，</a:t>
              </a:r>
            </a:p>
            <a:p>
              <a:pPr>
                <a:buFontTx/>
                <a:buNone/>
              </a:pPr>
              <a:r>
                <a:rPr lang="zh-CN" altLang="en-US" sz="2000" dirty="0">
                  <a:solidFill>
                    <a:srgbClr val="000000"/>
                  </a:solidFill>
                  <a:latin typeface="+mn-ea"/>
                  <a:ea typeface="+mn-ea"/>
                </a:rPr>
                <a:t>      </a:t>
              </a:r>
              <a:r>
                <a:rPr lang="en-US" altLang="zh-CN" sz="2000" dirty="0">
                  <a:solidFill>
                    <a:srgbClr val="000000"/>
                  </a:solidFill>
                  <a:latin typeface="+mn-ea"/>
                  <a:ea typeface="+mn-ea"/>
                </a:rPr>
                <a:t>A</a:t>
              </a:r>
              <a:r>
                <a:rPr lang="zh-CN" altLang="en-US" sz="2000" dirty="0">
                  <a:solidFill>
                    <a:srgbClr val="000000"/>
                  </a:solidFill>
                  <a:latin typeface="+mn-ea"/>
                  <a:ea typeface="+mn-ea"/>
                </a:rPr>
                <a:t>点在</a:t>
              </a:r>
              <a:r>
                <a:rPr lang="en-US" altLang="zh-CN" sz="2000" i="1" dirty="0" err="1">
                  <a:solidFill>
                    <a:srgbClr val="000000"/>
                  </a:solidFill>
                  <a:latin typeface="+mn-ea"/>
                  <a:ea typeface="+mn-ea"/>
                </a:rPr>
                <a:t>u</a:t>
              </a:r>
              <a:r>
                <a:rPr lang="en-US" altLang="zh-CN" sz="2000" baseline="-25000" dirty="0" err="1">
                  <a:solidFill>
                    <a:srgbClr val="000000"/>
                  </a:solidFill>
                  <a:latin typeface="+mn-ea"/>
                  <a:ea typeface="+mn-ea"/>
                </a:rPr>
                <a:t>CE</a:t>
              </a:r>
              <a:r>
                <a:rPr lang="zh-CN" altLang="en-US" sz="2000" dirty="0">
                  <a:solidFill>
                    <a:srgbClr val="000000"/>
                  </a:solidFill>
                  <a:latin typeface="+mn-ea"/>
                  <a:ea typeface="+mn-ea"/>
                </a:rPr>
                <a:t>轴上投影为</a:t>
              </a:r>
              <a:r>
                <a:rPr lang="en-US" altLang="zh-CN" sz="2000" dirty="0">
                  <a:solidFill>
                    <a:srgbClr val="000000"/>
                  </a:solidFill>
                  <a:latin typeface="+mn-ea"/>
                  <a:ea typeface="+mn-ea"/>
                </a:rPr>
                <a:t>: </a:t>
              </a:r>
            </a:p>
          </p:txBody>
        </p:sp>
        <p:graphicFrame>
          <p:nvGraphicFramePr>
            <p:cNvPr id="22" name="Object 65">
              <a:extLst>
                <a:ext uri="{FF2B5EF4-FFF2-40B4-BE49-F238E27FC236}">
                  <a16:creationId xmlns:a16="http://schemas.microsoft.com/office/drawing/2014/main" xmlns="" id="{3689D0D1-790C-9128-5D45-CF73B7699BF8}"/>
                </a:ext>
              </a:extLst>
            </p:cNvPr>
            <p:cNvGraphicFramePr>
              <a:graphicFrameLocks noChangeAspect="1"/>
            </p:cNvGraphicFramePr>
            <p:nvPr/>
          </p:nvGraphicFramePr>
          <p:xfrm>
            <a:off x="697" y="2904"/>
            <a:ext cx="1385" cy="283"/>
          </p:xfrm>
          <a:graphic>
            <a:graphicData uri="http://schemas.openxmlformats.org/presentationml/2006/ole">
              <mc:AlternateContent xmlns:mc="http://schemas.openxmlformats.org/markup-compatibility/2006">
                <mc:Choice xmlns:v="urn:schemas-microsoft-com:vml" Requires="v">
                  <p:oleObj spid="_x0000_s89374" r:id="rId11" imgW="1117600" imgH="228600" progId="Equation.3">
                    <p:embed/>
                  </p:oleObj>
                </mc:Choice>
                <mc:Fallback>
                  <p:oleObj r:id="rId11" imgW="1117600" imgH="22860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97" y="2904"/>
                          <a:ext cx="1385"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grpSp>
        <p:nvGrpSpPr>
          <p:cNvPr id="23" name="Group 74">
            <a:extLst>
              <a:ext uri="{FF2B5EF4-FFF2-40B4-BE49-F238E27FC236}">
                <a16:creationId xmlns:a16="http://schemas.microsoft.com/office/drawing/2014/main" xmlns="" id="{5ADA0CF2-08E0-B286-F8A9-BF02BBC4FD65}"/>
              </a:ext>
            </a:extLst>
          </p:cNvPr>
          <p:cNvGrpSpPr>
            <a:grpSpLocks/>
          </p:cNvGrpSpPr>
          <p:nvPr/>
        </p:nvGrpSpPr>
        <p:grpSpPr bwMode="auto">
          <a:xfrm>
            <a:off x="323850" y="5356871"/>
            <a:ext cx="7485062" cy="812800"/>
            <a:chOff x="315" y="3152"/>
            <a:chExt cx="4715" cy="512"/>
          </a:xfrm>
        </p:grpSpPr>
        <p:sp>
          <p:nvSpPr>
            <p:cNvPr id="24" name="Rectangle 75">
              <a:extLst>
                <a:ext uri="{FF2B5EF4-FFF2-40B4-BE49-F238E27FC236}">
                  <a16:creationId xmlns:a16="http://schemas.microsoft.com/office/drawing/2014/main" xmlns="" id="{022DE94B-2F35-AB3B-35DA-91E953DAD507}"/>
                </a:ext>
              </a:extLst>
            </p:cNvPr>
            <p:cNvSpPr>
              <a:spLocks noChangeArrowheads="1"/>
            </p:cNvSpPr>
            <p:nvPr/>
          </p:nvSpPr>
          <p:spPr bwMode="auto">
            <a:xfrm>
              <a:off x="315" y="3218"/>
              <a:ext cx="4139"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buFontTx/>
                <a:buNone/>
              </a:pPr>
              <a:r>
                <a:rPr lang="en-US" altLang="zh-CN" sz="2000" dirty="0">
                  <a:solidFill>
                    <a:srgbClr val="000000"/>
                  </a:solidFill>
                  <a:latin typeface="+mn-ea"/>
                  <a:ea typeface="+mn-ea"/>
                </a:rPr>
                <a:t>(4)</a:t>
              </a:r>
              <a:r>
                <a:rPr lang="zh-CN" altLang="en-US" sz="2000" dirty="0">
                  <a:solidFill>
                    <a:srgbClr val="000000"/>
                  </a:solidFill>
                  <a:latin typeface="+mn-ea"/>
                  <a:ea typeface="+mn-ea"/>
                </a:rPr>
                <a:t>在</a:t>
              </a:r>
              <a:r>
                <a:rPr lang="en-US" altLang="zh-CN" sz="2000" i="1" dirty="0" err="1">
                  <a:solidFill>
                    <a:srgbClr val="000000"/>
                  </a:solidFill>
                  <a:latin typeface="+mn-ea"/>
                  <a:ea typeface="+mn-ea"/>
                </a:rPr>
                <a:t>u</a:t>
              </a:r>
              <a:r>
                <a:rPr lang="en-US" altLang="zh-CN" sz="2000" baseline="-25000" dirty="0" err="1">
                  <a:solidFill>
                    <a:srgbClr val="000000"/>
                  </a:solidFill>
                  <a:latin typeface="+mn-ea"/>
                  <a:ea typeface="+mn-ea"/>
                </a:rPr>
                <a:t>CE</a:t>
              </a:r>
              <a:r>
                <a:rPr lang="zh-CN" altLang="en-US" sz="2000" dirty="0">
                  <a:solidFill>
                    <a:srgbClr val="000000"/>
                  </a:solidFill>
                  <a:latin typeface="+mn-ea"/>
                  <a:ea typeface="+mn-ea"/>
                </a:rPr>
                <a:t>轴上选取                得</a:t>
              </a:r>
              <a:r>
                <a:rPr lang="en-US" altLang="zh-CN" sz="2000" dirty="0">
                  <a:solidFill>
                    <a:srgbClr val="000000"/>
                  </a:solidFill>
                  <a:latin typeface="+mn-ea"/>
                  <a:ea typeface="+mn-ea"/>
                </a:rPr>
                <a:t>C</a:t>
              </a:r>
              <a:r>
                <a:rPr lang="zh-CN" altLang="en-US" sz="2000" dirty="0">
                  <a:solidFill>
                    <a:srgbClr val="000000"/>
                  </a:solidFill>
                  <a:latin typeface="+mn-ea"/>
                  <a:ea typeface="+mn-ea"/>
                </a:rPr>
                <a:t>点，</a:t>
              </a:r>
              <a:r>
                <a:rPr lang="en-US" altLang="zh-CN" sz="2000" dirty="0">
                  <a:solidFill>
                    <a:srgbClr val="000000"/>
                  </a:solidFill>
                  <a:latin typeface="+mn-ea"/>
                  <a:ea typeface="+mn-ea"/>
                </a:rPr>
                <a:t>BC</a:t>
              </a:r>
              <a:r>
                <a:rPr lang="zh-CN" altLang="en-US" sz="2000" dirty="0">
                  <a:solidFill>
                    <a:srgbClr val="000000"/>
                  </a:solidFill>
                  <a:latin typeface="+mn-ea"/>
                  <a:ea typeface="+mn-ea"/>
                </a:rPr>
                <a:t>直线即为 </a:t>
              </a:r>
            </a:p>
            <a:p>
              <a:pPr>
                <a:buFontTx/>
                <a:buNone/>
              </a:pPr>
              <a:r>
                <a:rPr lang="zh-CN" altLang="en-US" sz="2000" dirty="0">
                  <a:solidFill>
                    <a:srgbClr val="000000"/>
                  </a:solidFill>
                  <a:latin typeface="+mn-ea"/>
                  <a:ea typeface="+mn-ea"/>
                </a:rPr>
                <a:t>段的动态特性，则</a:t>
              </a:r>
              <a:r>
                <a:rPr lang="en-US" altLang="zh-CN" sz="2000" dirty="0">
                  <a:solidFill>
                    <a:srgbClr val="000000"/>
                  </a:solidFill>
                  <a:latin typeface="+mn-ea"/>
                  <a:ea typeface="+mn-ea"/>
                </a:rPr>
                <a:t>AB-BC</a:t>
              </a:r>
              <a:r>
                <a:rPr lang="zh-CN" altLang="en-US" sz="2000" dirty="0">
                  <a:solidFill>
                    <a:srgbClr val="000000"/>
                  </a:solidFill>
                  <a:latin typeface="+mn-ea"/>
                  <a:ea typeface="+mn-ea"/>
                </a:rPr>
                <a:t>为总动态特性 </a:t>
              </a:r>
            </a:p>
          </p:txBody>
        </p:sp>
        <p:graphicFrame>
          <p:nvGraphicFramePr>
            <p:cNvPr id="25" name="Object 76">
              <a:extLst>
                <a:ext uri="{FF2B5EF4-FFF2-40B4-BE49-F238E27FC236}">
                  <a16:creationId xmlns:a16="http://schemas.microsoft.com/office/drawing/2014/main" xmlns="" id="{83A3F6E4-AC29-1776-F0E4-921D6273EB18}"/>
                </a:ext>
              </a:extLst>
            </p:cNvPr>
            <p:cNvGraphicFramePr>
              <a:graphicFrameLocks noChangeAspect="1"/>
            </p:cNvGraphicFramePr>
            <p:nvPr/>
          </p:nvGraphicFramePr>
          <p:xfrm>
            <a:off x="4274" y="3152"/>
            <a:ext cx="756" cy="256"/>
          </p:xfrm>
          <a:graphic>
            <a:graphicData uri="http://schemas.openxmlformats.org/presentationml/2006/ole">
              <mc:AlternateContent xmlns:mc="http://schemas.openxmlformats.org/markup-compatibility/2006">
                <mc:Choice xmlns:v="urn:schemas-microsoft-com:vml" Requires="v">
                  <p:oleObj spid="_x0000_s89375" r:id="rId13" imgW="634449" imgH="215713" progId="Equation.3">
                    <p:embed/>
                  </p:oleObj>
                </mc:Choice>
                <mc:Fallback>
                  <p:oleObj r:id="rId13" imgW="634449" imgH="215713"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274" y="3152"/>
                          <a:ext cx="756" cy="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6" name="Object 77">
              <a:extLst>
                <a:ext uri="{FF2B5EF4-FFF2-40B4-BE49-F238E27FC236}">
                  <a16:creationId xmlns:a16="http://schemas.microsoft.com/office/drawing/2014/main" xmlns="" id="{988A7C9F-AC5D-52B8-A3FD-14E2424A933B}"/>
                </a:ext>
              </a:extLst>
            </p:cNvPr>
            <p:cNvGraphicFramePr>
              <a:graphicFrameLocks noChangeAspect="1"/>
            </p:cNvGraphicFramePr>
            <p:nvPr/>
          </p:nvGraphicFramePr>
          <p:xfrm>
            <a:off x="1609" y="3184"/>
            <a:ext cx="1265" cy="257"/>
          </p:xfrm>
          <a:graphic>
            <a:graphicData uri="http://schemas.openxmlformats.org/presentationml/2006/ole">
              <mc:AlternateContent xmlns:mc="http://schemas.openxmlformats.org/markup-compatibility/2006">
                <mc:Choice xmlns:v="urn:schemas-microsoft-com:vml" Requires="v">
                  <p:oleObj spid="_x0000_s89376" r:id="rId15" imgW="1130300" imgH="228600" progId="Equation.3">
                    <p:embed/>
                  </p:oleObj>
                </mc:Choice>
                <mc:Fallback>
                  <p:oleObj r:id="rId15" imgW="1130300" imgH="228600" progId="Equation.3">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609" y="3184"/>
                          <a:ext cx="1265"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pic>
        <p:nvPicPr>
          <p:cNvPr id="27" name="图片 26">
            <a:extLst>
              <a:ext uri="{FF2B5EF4-FFF2-40B4-BE49-F238E27FC236}">
                <a16:creationId xmlns:a16="http://schemas.microsoft.com/office/drawing/2014/main" xmlns="" id="{9D850301-1C7F-6583-E9C6-C4280D5D1A15}"/>
              </a:ext>
            </a:extLst>
          </p:cNvPr>
          <p:cNvPicPr>
            <a:picLocks noChangeAspect="1"/>
          </p:cNvPicPr>
          <p:nvPr/>
        </p:nvPicPr>
        <p:blipFill>
          <a:blip r:embed="rId17"/>
          <a:stretch>
            <a:fillRect/>
          </a:stretch>
        </p:blipFill>
        <p:spPr>
          <a:xfrm>
            <a:off x="5411701" y="1630340"/>
            <a:ext cx="3533335" cy="4001897"/>
          </a:xfrm>
          <a:prstGeom prst="rect">
            <a:avLst/>
          </a:prstGeom>
        </p:spPr>
      </p:pic>
    </p:spTree>
    <p:extLst>
      <p:ext uri="{BB962C8B-B14F-4D97-AF65-F5344CB8AC3E}">
        <p14:creationId xmlns:p14="http://schemas.microsoft.com/office/powerpoint/2010/main" val="576450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122</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4.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谐振</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功率</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放大器</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Rectangle 60">
            <a:extLst>
              <a:ext uri="{FF2B5EF4-FFF2-40B4-BE49-F238E27FC236}">
                <a16:creationId xmlns:a16="http://schemas.microsoft.com/office/drawing/2014/main" xmlns="" id="{A01C522A-29FC-F56C-CED9-5FB6B102E8C6}"/>
              </a:ext>
            </a:extLst>
          </p:cNvPr>
          <p:cNvSpPr>
            <a:spLocks noChangeArrowheads="1"/>
          </p:cNvSpPr>
          <p:nvPr/>
        </p:nvSpPr>
        <p:spPr bwMode="auto">
          <a:xfrm>
            <a:off x="348711" y="1234644"/>
            <a:ext cx="212109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buFontTx/>
              <a:buNone/>
            </a:pPr>
            <a:r>
              <a:rPr lang="en-US" altLang="zh-CN" sz="2000">
                <a:solidFill>
                  <a:schemeClr val="tx1"/>
                </a:solidFill>
                <a:latin typeface="+mn-ea"/>
                <a:ea typeface="+mn-ea"/>
              </a:rPr>
              <a:t>(</a:t>
            </a:r>
            <a:r>
              <a:rPr lang="zh-CN" altLang="en-US" sz="2000">
                <a:solidFill>
                  <a:schemeClr val="tx1"/>
                </a:solidFill>
                <a:latin typeface="+mn-ea"/>
                <a:ea typeface="+mn-ea"/>
              </a:rPr>
              <a:t>二）虚拟电流法</a:t>
            </a:r>
          </a:p>
        </p:txBody>
      </p:sp>
      <p:graphicFrame>
        <p:nvGraphicFramePr>
          <p:cNvPr id="6" name="Object 69">
            <a:extLst>
              <a:ext uri="{FF2B5EF4-FFF2-40B4-BE49-F238E27FC236}">
                <a16:creationId xmlns:a16="http://schemas.microsoft.com/office/drawing/2014/main" xmlns="" id="{F02B1085-8A3B-D880-00B5-C4FBE7810F89}"/>
              </a:ext>
            </a:extLst>
          </p:cNvPr>
          <p:cNvGraphicFramePr>
            <a:graphicFrameLocks noChangeAspect="1"/>
          </p:cNvGraphicFramePr>
          <p:nvPr>
            <p:extLst>
              <p:ext uri="{D42A27DB-BD31-4B8C-83A1-F6EECF244321}">
                <p14:modId xmlns:p14="http://schemas.microsoft.com/office/powerpoint/2010/main" val="2477084668"/>
              </p:ext>
            </p:extLst>
          </p:nvPr>
        </p:nvGraphicFramePr>
        <p:xfrm>
          <a:off x="324898" y="1864912"/>
          <a:ext cx="2970213" cy="441325"/>
        </p:xfrm>
        <a:graphic>
          <a:graphicData uri="http://schemas.openxmlformats.org/presentationml/2006/ole">
            <mc:AlternateContent xmlns:mc="http://schemas.openxmlformats.org/markup-compatibility/2006">
              <mc:Choice xmlns:v="urn:schemas-microsoft-com:vml" Requires="v">
                <p:oleObj spid="_x0000_s90354" r:id="rId3" imgW="1459866" imgH="241195" progId="Equation.3">
                  <p:embed/>
                </p:oleObj>
              </mc:Choice>
              <mc:Fallback>
                <p:oleObj r:id="rId3" imgW="1459866" imgH="241195"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4898" y="1864912"/>
                        <a:ext cx="2970213"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 name="Object 71">
            <a:extLst>
              <a:ext uri="{FF2B5EF4-FFF2-40B4-BE49-F238E27FC236}">
                <a16:creationId xmlns:a16="http://schemas.microsoft.com/office/drawing/2014/main" xmlns="" id="{DE40B29A-FB6C-7542-13E2-F57362C41E39}"/>
              </a:ext>
            </a:extLst>
          </p:cNvPr>
          <p:cNvGraphicFramePr>
            <a:graphicFrameLocks noChangeAspect="1"/>
          </p:cNvGraphicFramePr>
          <p:nvPr>
            <p:extLst>
              <p:ext uri="{D42A27DB-BD31-4B8C-83A1-F6EECF244321}">
                <p14:modId xmlns:p14="http://schemas.microsoft.com/office/powerpoint/2010/main" val="2890708949"/>
              </p:ext>
            </p:extLst>
          </p:nvPr>
        </p:nvGraphicFramePr>
        <p:xfrm>
          <a:off x="315063" y="3705417"/>
          <a:ext cx="4056062" cy="398463"/>
        </p:xfrm>
        <a:graphic>
          <a:graphicData uri="http://schemas.openxmlformats.org/presentationml/2006/ole">
            <mc:AlternateContent xmlns:mc="http://schemas.openxmlformats.org/markup-compatibility/2006">
              <mc:Choice xmlns:v="urn:schemas-microsoft-com:vml" Requires="v">
                <p:oleObj spid="_x0000_s90355" r:id="rId5" imgW="2425700" imgH="241300" progId="Equation.3">
                  <p:embed/>
                </p:oleObj>
              </mc:Choice>
              <mc:Fallback>
                <p:oleObj r:id="rId5" imgW="2425700" imgH="2413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5063" y="3705417"/>
                        <a:ext cx="4056062"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8" name="Group 74">
            <a:extLst>
              <a:ext uri="{FF2B5EF4-FFF2-40B4-BE49-F238E27FC236}">
                <a16:creationId xmlns:a16="http://schemas.microsoft.com/office/drawing/2014/main" xmlns="" id="{362F20E3-756C-2BEF-B64F-8BF903874863}"/>
              </a:ext>
            </a:extLst>
          </p:cNvPr>
          <p:cNvGrpSpPr>
            <a:grpSpLocks/>
          </p:cNvGrpSpPr>
          <p:nvPr/>
        </p:nvGrpSpPr>
        <p:grpSpPr bwMode="auto">
          <a:xfrm>
            <a:off x="315063" y="4125881"/>
            <a:ext cx="4900612" cy="401638"/>
            <a:chOff x="79" y="2760"/>
            <a:chExt cx="3624" cy="275"/>
          </a:xfrm>
        </p:grpSpPr>
        <p:graphicFrame>
          <p:nvGraphicFramePr>
            <p:cNvPr id="9" name="Object 75">
              <a:extLst>
                <a:ext uri="{FF2B5EF4-FFF2-40B4-BE49-F238E27FC236}">
                  <a16:creationId xmlns:a16="http://schemas.microsoft.com/office/drawing/2014/main" xmlns="" id="{BF953E22-08E4-69C4-F05B-A1FA436267C1}"/>
                </a:ext>
              </a:extLst>
            </p:cNvPr>
            <p:cNvGraphicFramePr>
              <a:graphicFrameLocks noChangeAspect="1"/>
            </p:cNvGraphicFramePr>
            <p:nvPr/>
          </p:nvGraphicFramePr>
          <p:xfrm>
            <a:off x="79" y="2768"/>
            <a:ext cx="1886" cy="256"/>
          </p:xfrm>
          <a:graphic>
            <a:graphicData uri="http://schemas.openxmlformats.org/presentationml/2006/ole">
              <mc:AlternateContent xmlns:mc="http://schemas.openxmlformats.org/markup-compatibility/2006">
                <mc:Choice xmlns:v="urn:schemas-microsoft-com:vml" Requires="v">
                  <p:oleObj spid="_x0000_s90356" r:id="rId7" imgW="1688760" imgH="228600" progId="Equation.3">
                    <p:embed/>
                  </p:oleObj>
                </mc:Choice>
                <mc:Fallback>
                  <p:oleObj r:id="rId7" imgW="1688760" imgH="2286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9" y="2768"/>
                          <a:ext cx="1886" cy="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0" name="Object 76">
              <a:extLst>
                <a:ext uri="{FF2B5EF4-FFF2-40B4-BE49-F238E27FC236}">
                  <a16:creationId xmlns:a16="http://schemas.microsoft.com/office/drawing/2014/main" xmlns="" id="{7D89F62A-8745-CD74-B368-3F37CC77BD43}"/>
                </a:ext>
              </a:extLst>
            </p:cNvPr>
            <p:cNvGraphicFramePr>
              <a:graphicFrameLocks noChangeAspect="1"/>
            </p:cNvGraphicFramePr>
            <p:nvPr/>
          </p:nvGraphicFramePr>
          <p:xfrm>
            <a:off x="1878" y="2760"/>
            <a:ext cx="1825" cy="275"/>
          </p:xfrm>
          <a:graphic>
            <a:graphicData uri="http://schemas.openxmlformats.org/presentationml/2006/ole">
              <mc:AlternateContent xmlns:mc="http://schemas.openxmlformats.org/markup-compatibility/2006">
                <mc:Choice xmlns:v="urn:schemas-microsoft-com:vml" Requires="v">
                  <p:oleObj spid="_x0000_s90357" r:id="rId9" imgW="1511300" imgH="228600" progId="Equation.3">
                    <p:embed/>
                  </p:oleObj>
                </mc:Choice>
                <mc:Fallback>
                  <p:oleObj r:id="rId9" imgW="1511300" imgH="22860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878" y="2760"/>
                          <a:ext cx="1825" cy="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
        <p:nvSpPr>
          <p:cNvPr id="11" name="Rectangle 77">
            <a:extLst>
              <a:ext uri="{FF2B5EF4-FFF2-40B4-BE49-F238E27FC236}">
                <a16:creationId xmlns:a16="http://schemas.microsoft.com/office/drawing/2014/main" xmlns="" id="{B99D9D85-3EB5-BE15-E2E6-4517D75A0641}"/>
              </a:ext>
            </a:extLst>
          </p:cNvPr>
          <p:cNvSpPr>
            <a:spLocks noChangeArrowheads="1"/>
          </p:cNvSpPr>
          <p:nvPr/>
        </p:nvSpPr>
        <p:spPr bwMode="auto">
          <a:xfrm>
            <a:off x="211137" y="4487038"/>
            <a:ext cx="53086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buFontTx/>
              <a:buNone/>
            </a:pPr>
            <a:r>
              <a:rPr lang="en-US" altLang="zh-CN" sz="2000" b="0" dirty="0">
                <a:solidFill>
                  <a:schemeClr val="tx1"/>
                </a:solidFill>
                <a:latin typeface="+mn-ea"/>
                <a:ea typeface="+mn-ea"/>
              </a:rPr>
              <a:t>(3) </a:t>
            </a:r>
            <a:r>
              <a:rPr lang="zh-CN" altLang="en-US" sz="2000" b="0" dirty="0">
                <a:solidFill>
                  <a:schemeClr val="tx1"/>
                </a:solidFill>
                <a:latin typeface="+mn-ea"/>
                <a:ea typeface="+mn-ea"/>
              </a:rPr>
              <a:t>连接</a:t>
            </a:r>
            <a:r>
              <a:rPr lang="en-US" altLang="zh-CN" sz="2000" b="0" dirty="0">
                <a:solidFill>
                  <a:schemeClr val="tx1"/>
                </a:solidFill>
                <a:latin typeface="+mn-ea"/>
                <a:ea typeface="+mn-ea"/>
              </a:rPr>
              <a:t>AQ</a:t>
            </a:r>
            <a:r>
              <a:rPr lang="zh-CN" altLang="en-US" sz="2000" b="0" dirty="0">
                <a:solidFill>
                  <a:schemeClr val="tx1"/>
                </a:solidFill>
                <a:latin typeface="+mn-ea"/>
                <a:ea typeface="+mn-ea"/>
              </a:rPr>
              <a:t>交横轴于</a:t>
            </a:r>
            <a:r>
              <a:rPr lang="en-US" altLang="zh-CN" sz="2000" b="0" dirty="0">
                <a:solidFill>
                  <a:schemeClr val="tx1"/>
                </a:solidFill>
                <a:latin typeface="+mn-ea"/>
                <a:ea typeface="+mn-ea"/>
              </a:rPr>
              <a:t>B</a:t>
            </a:r>
            <a:r>
              <a:rPr lang="zh-CN" altLang="en-US" sz="2000" b="0" dirty="0">
                <a:solidFill>
                  <a:schemeClr val="tx1"/>
                </a:solidFill>
                <a:latin typeface="+mn-ea"/>
                <a:ea typeface="+mn-ea"/>
              </a:rPr>
              <a:t>点（管子导通点）</a:t>
            </a:r>
          </a:p>
        </p:txBody>
      </p:sp>
      <p:grpSp>
        <p:nvGrpSpPr>
          <p:cNvPr id="12" name="Group 78">
            <a:extLst>
              <a:ext uri="{FF2B5EF4-FFF2-40B4-BE49-F238E27FC236}">
                <a16:creationId xmlns:a16="http://schemas.microsoft.com/office/drawing/2014/main" xmlns="" id="{D4A4179B-11ED-40B1-32B8-3AB85B717499}"/>
              </a:ext>
            </a:extLst>
          </p:cNvPr>
          <p:cNvGrpSpPr>
            <a:grpSpLocks/>
          </p:cNvGrpSpPr>
          <p:nvPr/>
        </p:nvGrpSpPr>
        <p:grpSpPr bwMode="auto">
          <a:xfrm>
            <a:off x="211137" y="4872610"/>
            <a:ext cx="5149850" cy="727075"/>
            <a:chOff x="131" y="3421"/>
            <a:chExt cx="3244" cy="458"/>
          </a:xfrm>
        </p:grpSpPr>
        <p:sp>
          <p:nvSpPr>
            <p:cNvPr id="13" name="Rectangle 79">
              <a:extLst>
                <a:ext uri="{FF2B5EF4-FFF2-40B4-BE49-F238E27FC236}">
                  <a16:creationId xmlns:a16="http://schemas.microsoft.com/office/drawing/2014/main" xmlns="" id="{07B4F2E8-E453-A764-0A41-FE8763EAFD62}"/>
                </a:ext>
              </a:extLst>
            </p:cNvPr>
            <p:cNvSpPr>
              <a:spLocks noChangeArrowheads="1"/>
            </p:cNvSpPr>
            <p:nvPr/>
          </p:nvSpPr>
          <p:spPr bwMode="auto">
            <a:xfrm>
              <a:off x="131" y="3433"/>
              <a:ext cx="3244"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buFontTx/>
                <a:buNone/>
              </a:pPr>
              <a:r>
                <a:rPr lang="en-US" altLang="zh-CN" sz="2000" b="0" dirty="0">
                  <a:solidFill>
                    <a:schemeClr val="tx1"/>
                  </a:solidFill>
                  <a:latin typeface="+mn-ea"/>
                  <a:ea typeface="+mn-ea"/>
                </a:rPr>
                <a:t>(4) </a:t>
              </a:r>
              <a:r>
                <a:rPr lang="zh-CN" altLang="en-US" sz="2000" b="0" dirty="0">
                  <a:solidFill>
                    <a:schemeClr val="tx1"/>
                  </a:solidFill>
                  <a:latin typeface="+mn-ea"/>
                  <a:ea typeface="+mn-ea"/>
                </a:rPr>
                <a:t>在</a:t>
              </a:r>
              <a:r>
                <a:rPr lang="en-US" altLang="zh-CN" sz="2000" b="0" dirty="0">
                  <a:solidFill>
                    <a:schemeClr val="tx1"/>
                  </a:solidFill>
                  <a:latin typeface="+mn-ea"/>
                  <a:ea typeface="+mn-ea"/>
                </a:rPr>
                <a:t>U</a:t>
              </a:r>
              <a:r>
                <a:rPr lang="en-US" altLang="zh-CN" sz="2000" b="0" baseline="-25000" dirty="0">
                  <a:solidFill>
                    <a:schemeClr val="tx1"/>
                  </a:solidFill>
                  <a:latin typeface="+mn-ea"/>
                  <a:ea typeface="+mn-ea"/>
                </a:rPr>
                <a:t>CE</a:t>
              </a:r>
              <a:r>
                <a:rPr lang="zh-CN" altLang="en-US" sz="2000" b="0" dirty="0">
                  <a:solidFill>
                    <a:schemeClr val="tx1"/>
                  </a:solidFill>
                  <a:latin typeface="+mn-ea"/>
                  <a:ea typeface="+mn-ea"/>
                </a:rPr>
                <a:t>轴上选取              得</a:t>
              </a:r>
              <a:r>
                <a:rPr lang="en-US" altLang="zh-CN" sz="2000" b="0" dirty="0">
                  <a:solidFill>
                    <a:schemeClr val="tx1"/>
                  </a:solidFill>
                  <a:latin typeface="+mn-ea"/>
                  <a:ea typeface="+mn-ea"/>
                </a:rPr>
                <a:t>C</a:t>
              </a:r>
              <a:r>
                <a:rPr lang="zh-CN" altLang="en-US" sz="2000" b="0" dirty="0">
                  <a:solidFill>
                    <a:schemeClr val="tx1"/>
                  </a:solidFill>
                  <a:latin typeface="+mn-ea"/>
                  <a:ea typeface="+mn-ea"/>
                </a:rPr>
                <a:t>点，</a:t>
              </a:r>
            </a:p>
            <a:p>
              <a:pPr>
                <a:buFontTx/>
                <a:buNone/>
              </a:pPr>
              <a:r>
                <a:rPr lang="zh-CN" altLang="en-US" sz="2000" b="0" dirty="0">
                  <a:solidFill>
                    <a:schemeClr val="tx1"/>
                  </a:solidFill>
                  <a:latin typeface="+mn-ea"/>
                  <a:ea typeface="+mn-ea"/>
                </a:rPr>
                <a:t>       </a:t>
              </a:r>
            </a:p>
          </p:txBody>
        </p:sp>
        <p:graphicFrame>
          <p:nvGraphicFramePr>
            <p:cNvPr id="14" name="Object 80">
              <a:extLst>
                <a:ext uri="{FF2B5EF4-FFF2-40B4-BE49-F238E27FC236}">
                  <a16:creationId xmlns:a16="http://schemas.microsoft.com/office/drawing/2014/main" xmlns="" id="{47100305-0AF2-FE20-1DBE-1FC2673CB3C7}"/>
                </a:ext>
              </a:extLst>
            </p:cNvPr>
            <p:cNvGraphicFramePr>
              <a:graphicFrameLocks noChangeAspect="1"/>
            </p:cNvGraphicFramePr>
            <p:nvPr/>
          </p:nvGraphicFramePr>
          <p:xfrm>
            <a:off x="1562" y="3421"/>
            <a:ext cx="1057" cy="257"/>
          </p:xfrm>
          <a:graphic>
            <a:graphicData uri="http://schemas.openxmlformats.org/presentationml/2006/ole">
              <mc:AlternateContent xmlns:mc="http://schemas.openxmlformats.org/markup-compatibility/2006">
                <mc:Choice xmlns:v="urn:schemas-microsoft-com:vml" Requires="v">
                  <p:oleObj spid="_x0000_s90358" r:id="rId11" imgW="1130040" imgH="228600" progId="Equation.3">
                    <p:embed/>
                  </p:oleObj>
                </mc:Choice>
                <mc:Fallback>
                  <p:oleObj r:id="rId11" imgW="1130040" imgH="22860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562" y="3421"/>
                          <a:ext cx="1057"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graphicFrame>
        <p:nvGraphicFramePr>
          <p:cNvPr id="15" name="Object 89">
            <a:extLst>
              <a:ext uri="{FF2B5EF4-FFF2-40B4-BE49-F238E27FC236}">
                <a16:creationId xmlns:a16="http://schemas.microsoft.com/office/drawing/2014/main" xmlns="" id="{14635BF6-AA25-A1F5-AA84-6CB405562695}"/>
              </a:ext>
            </a:extLst>
          </p:cNvPr>
          <p:cNvGraphicFramePr>
            <a:graphicFrameLocks noChangeAspect="1"/>
          </p:cNvGraphicFramePr>
          <p:nvPr>
            <p:extLst>
              <p:ext uri="{D42A27DB-BD31-4B8C-83A1-F6EECF244321}">
                <p14:modId xmlns:p14="http://schemas.microsoft.com/office/powerpoint/2010/main" val="2045371666"/>
              </p:ext>
            </p:extLst>
          </p:nvPr>
        </p:nvGraphicFramePr>
        <p:xfrm>
          <a:off x="324898" y="2517374"/>
          <a:ext cx="4532313" cy="1169988"/>
        </p:xfrm>
        <a:graphic>
          <a:graphicData uri="http://schemas.openxmlformats.org/presentationml/2006/ole">
            <mc:AlternateContent xmlns:mc="http://schemas.openxmlformats.org/markup-compatibility/2006">
              <mc:Choice xmlns:v="urn:schemas-microsoft-com:vml" Requires="v">
                <p:oleObj spid="_x0000_s90359" r:id="rId13" imgW="2895600" imgH="685800" progId="Equation.3">
                  <p:embed/>
                </p:oleObj>
              </mc:Choice>
              <mc:Fallback>
                <p:oleObj r:id="rId13" imgW="2895600" imgH="685800" progId="Equation.3">
                  <p:embed/>
                  <p:pic>
                    <p:nvPicPr>
                      <p:cNvPr id="0" name=""/>
                      <p:cNvPicPr>
                        <a:picLocks noGrp="1"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24898" y="2517374"/>
                        <a:ext cx="4532313" cy="1169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16" name="Group 92">
            <a:extLst>
              <a:ext uri="{FF2B5EF4-FFF2-40B4-BE49-F238E27FC236}">
                <a16:creationId xmlns:a16="http://schemas.microsoft.com/office/drawing/2014/main" xmlns="" id="{B79C6781-D2C5-12B3-FB26-65505674E66A}"/>
              </a:ext>
            </a:extLst>
          </p:cNvPr>
          <p:cNvGrpSpPr>
            <a:grpSpLocks/>
          </p:cNvGrpSpPr>
          <p:nvPr/>
        </p:nvGrpSpPr>
        <p:grpSpPr bwMode="auto">
          <a:xfrm>
            <a:off x="5095985" y="1434699"/>
            <a:ext cx="3623586" cy="3956968"/>
            <a:chOff x="596" y="1013"/>
            <a:chExt cx="2632" cy="2876"/>
          </a:xfrm>
        </p:grpSpPr>
        <p:sp>
          <p:nvSpPr>
            <p:cNvPr id="17" name="Line 93">
              <a:extLst>
                <a:ext uri="{FF2B5EF4-FFF2-40B4-BE49-F238E27FC236}">
                  <a16:creationId xmlns:a16="http://schemas.microsoft.com/office/drawing/2014/main" xmlns="" id="{FD451D3C-8980-A3B8-2E72-CD5BE3BCB4A4}"/>
                </a:ext>
              </a:extLst>
            </p:cNvPr>
            <p:cNvSpPr>
              <a:spLocks noChangeShapeType="1"/>
            </p:cNvSpPr>
            <p:nvPr/>
          </p:nvSpPr>
          <p:spPr bwMode="auto">
            <a:xfrm flipV="1">
              <a:off x="1114" y="1139"/>
              <a:ext cx="0" cy="1222"/>
            </a:xfrm>
            <a:prstGeom prst="line">
              <a:avLst/>
            </a:prstGeom>
            <a:noFill/>
            <a:ln w="2540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8" name="Line 94">
              <a:extLst>
                <a:ext uri="{FF2B5EF4-FFF2-40B4-BE49-F238E27FC236}">
                  <a16:creationId xmlns:a16="http://schemas.microsoft.com/office/drawing/2014/main" xmlns="" id="{220F4347-C7F0-2B55-C263-29825630631D}"/>
                </a:ext>
              </a:extLst>
            </p:cNvPr>
            <p:cNvSpPr>
              <a:spLocks noChangeShapeType="1"/>
            </p:cNvSpPr>
            <p:nvPr/>
          </p:nvSpPr>
          <p:spPr bwMode="auto">
            <a:xfrm>
              <a:off x="596" y="2368"/>
              <a:ext cx="2368" cy="0"/>
            </a:xfrm>
            <a:prstGeom prst="line">
              <a:avLst/>
            </a:prstGeom>
            <a:noFill/>
            <a:ln w="2540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9" name="Line 95">
              <a:extLst>
                <a:ext uri="{FF2B5EF4-FFF2-40B4-BE49-F238E27FC236}">
                  <a16:creationId xmlns:a16="http://schemas.microsoft.com/office/drawing/2014/main" xmlns="" id="{92D5DCA0-B391-A03F-8C08-60393B1365ED}"/>
                </a:ext>
              </a:extLst>
            </p:cNvPr>
            <p:cNvSpPr>
              <a:spLocks noChangeShapeType="1"/>
            </p:cNvSpPr>
            <p:nvPr/>
          </p:nvSpPr>
          <p:spPr bwMode="auto">
            <a:xfrm flipH="1">
              <a:off x="1106" y="1394"/>
              <a:ext cx="326" cy="982"/>
            </a:xfrm>
            <a:prstGeom prst="line">
              <a:avLst/>
            </a:prstGeom>
            <a:noFill/>
            <a:ln w="25400">
              <a:solidFill>
                <a:schemeClr val="tx1"/>
              </a:solidFill>
              <a:round/>
              <a:headE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20" name="Line 96">
              <a:extLst>
                <a:ext uri="{FF2B5EF4-FFF2-40B4-BE49-F238E27FC236}">
                  <a16:creationId xmlns:a16="http://schemas.microsoft.com/office/drawing/2014/main" xmlns="" id="{1A606D10-23A7-F10A-4234-9F38233E22CA}"/>
                </a:ext>
              </a:extLst>
            </p:cNvPr>
            <p:cNvSpPr>
              <a:spLocks noChangeShapeType="1"/>
            </p:cNvSpPr>
            <p:nvPr/>
          </p:nvSpPr>
          <p:spPr bwMode="auto">
            <a:xfrm flipV="1">
              <a:off x="1431" y="1288"/>
              <a:ext cx="1065" cy="105"/>
            </a:xfrm>
            <a:prstGeom prst="line">
              <a:avLst/>
            </a:prstGeom>
            <a:noFill/>
            <a:ln w="25400">
              <a:solidFill>
                <a:schemeClr val="tx1"/>
              </a:solidFill>
              <a:round/>
              <a:headE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21" name="Line 97">
              <a:extLst>
                <a:ext uri="{FF2B5EF4-FFF2-40B4-BE49-F238E27FC236}">
                  <a16:creationId xmlns:a16="http://schemas.microsoft.com/office/drawing/2014/main" xmlns="" id="{21950C38-1124-C012-954E-3327DF2570DB}"/>
                </a:ext>
              </a:extLst>
            </p:cNvPr>
            <p:cNvSpPr>
              <a:spLocks noChangeShapeType="1"/>
            </p:cNvSpPr>
            <p:nvPr/>
          </p:nvSpPr>
          <p:spPr bwMode="auto">
            <a:xfrm flipV="1">
              <a:off x="1373" y="1499"/>
              <a:ext cx="1147" cy="120"/>
            </a:xfrm>
            <a:prstGeom prst="line">
              <a:avLst/>
            </a:prstGeom>
            <a:noFill/>
            <a:ln w="25400">
              <a:solidFill>
                <a:schemeClr val="tx1"/>
              </a:solidFill>
              <a:round/>
              <a:headE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22" name="Line 98">
              <a:extLst>
                <a:ext uri="{FF2B5EF4-FFF2-40B4-BE49-F238E27FC236}">
                  <a16:creationId xmlns:a16="http://schemas.microsoft.com/office/drawing/2014/main" xmlns="" id="{1EE3AA58-1A12-8594-B065-A7FB273FBEB9}"/>
                </a:ext>
              </a:extLst>
            </p:cNvPr>
            <p:cNvSpPr>
              <a:spLocks noChangeShapeType="1"/>
            </p:cNvSpPr>
            <p:nvPr/>
          </p:nvSpPr>
          <p:spPr bwMode="auto">
            <a:xfrm flipV="1">
              <a:off x="1300" y="1710"/>
              <a:ext cx="1221" cy="127"/>
            </a:xfrm>
            <a:prstGeom prst="line">
              <a:avLst/>
            </a:prstGeom>
            <a:noFill/>
            <a:ln w="25400">
              <a:solidFill>
                <a:schemeClr val="tx1"/>
              </a:solidFill>
              <a:round/>
              <a:headE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23" name="Line 99">
              <a:extLst>
                <a:ext uri="{FF2B5EF4-FFF2-40B4-BE49-F238E27FC236}">
                  <a16:creationId xmlns:a16="http://schemas.microsoft.com/office/drawing/2014/main" xmlns="" id="{9C048286-F312-3DF6-CB92-BD86A3924012}"/>
                </a:ext>
              </a:extLst>
            </p:cNvPr>
            <p:cNvSpPr>
              <a:spLocks noChangeShapeType="1"/>
            </p:cNvSpPr>
            <p:nvPr/>
          </p:nvSpPr>
          <p:spPr bwMode="auto">
            <a:xfrm flipV="1">
              <a:off x="1212" y="1921"/>
              <a:ext cx="1295" cy="120"/>
            </a:xfrm>
            <a:prstGeom prst="line">
              <a:avLst/>
            </a:prstGeom>
            <a:noFill/>
            <a:ln w="25400">
              <a:solidFill>
                <a:schemeClr val="tx1"/>
              </a:solidFill>
              <a:round/>
              <a:headE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24" name="Line 100">
              <a:extLst>
                <a:ext uri="{FF2B5EF4-FFF2-40B4-BE49-F238E27FC236}">
                  <a16:creationId xmlns:a16="http://schemas.microsoft.com/office/drawing/2014/main" xmlns="" id="{6E5BBC0D-0E23-917B-8954-D20EE00301B0}"/>
                </a:ext>
              </a:extLst>
            </p:cNvPr>
            <p:cNvSpPr>
              <a:spLocks noChangeShapeType="1"/>
            </p:cNvSpPr>
            <p:nvPr/>
          </p:nvSpPr>
          <p:spPr bwMode="auto">
            <a:xfrm flipV="1">
              <a:off x="1146" y="2139"/>
              <a:ext cx="1369" cy="97"/>
            </a:xfrm>
            <a:prstGeom prst="line">
              <a:avLst/>
            </a:prstGeom>
            <a:noFill/>
            <a:ln w="25400">
              <a:solidFill>
                <a:schemeClr val="tx1"/>
              </a:solidFill>
              <a:round/>
              <a:headE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25" name="Text Box 101">
              <a:extLst>
                <a:ext uri="{FF2B5EF4-FFF2-40B4-BE49-F238E27FC236}">
                  <a16:creationId xmlns:a16="http://schemas.microsoft.com/office/drawing/2014/main" xmlns="" id="{03F93DB3-D71E-6FCF-F99E-FC5A53C88899}"/>
                </a:ext>
              </a:extLst>
            </p:cNvPr>
            <p:cNvSpPr txBox="1">
              <a:spLocks noChangeArrowheads="1"/>
            </p:cNvSpPr>
            <p:nvPr/>
          </p:nvSpPr>
          <p:spPr bwMode="auto">
            <a:xfrm>
              <a:off x="1003" y="2353"/>
              <a:ext cx="2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p>
              <a:pPr fontAlgn="t">
                <a:spcBef>
                  <a:spcPct val="50000"/>
                </a:spcBef>
                <a:buFontTx/>
                <a:buNone/>
              </a:pPr>
              <a:r>
                <a:rPr lang="en-US" altLang="zh-CN">
                  <a:solidFill>
                    <a:srgbClr val="CC66FF"/>
                  </a:solidFill>
                </a:rPr>
                <a:t>0</a:t>
              </a:r>
            </a:p>
          </p:txBody>
        </p:sp>
        <p:sp>
          <p:nvSpPr>
            <p:cNvPr id="26" name="Rectangle 102">
              <a:extLst>
                <a:ext uri="{FF2B5EF4-FFF2-40B4-BE49-F238E27FC236}">
                  <a16:creationId xmlns:a16="http://schemas.microsoft.com/office/drawing/2014/main" xmlns="" id="{BBAC6664-C3BE-4B20-E6CA-499A14D70FCD}"/>
                </a:ext>
              </a:extLst>
            </p:cNvPr>
            <p:cNvSpPr>
              <a:spLocks noChangeArrowheads="1"/>
            </p:cNvSpPr>
            <p:nvPr/>
          </p:nvSpPr>
          <p:spPr bwMode="auto">
            <a:xfrm>
              <a:off x="2776" y="2261"/>
              <a:ext cx="45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pPr fontAlgn="t">
                <a:spcBef>
                  <a:spcPct val="50000"/>
                </a:spcBef>
                <a:buFontTx/>
                <a:buNone/>
              </a:pPr>
              <a:r>
                <a:rPr lang="en-US" altLang="zh-CN" sz="2800" i="1">
                  <a:solidFill>
                    <a:srgbClr val="CC66FF"/>
                  </a:solidFill>
                </a:rPr>
                <a:t>u</a:t>
              </a:r>
              <a:r>
                <a:rPr lang="en-US" altLang="zh-CN" sz="2800" baseline="-56000">
                  <a:solidFill>
                    <a:srgbClr val="CC66FF"/>
                  </a:solidFill>
                </a:rPr>
                <a:t>CE</a:t>
              </a:r>
            </a:p>
          </p:txBody>
        </p:sp>
        <p:sp>
          <p:nvSpPr>
            <p:cNvPr id="27" name="Line 103">
              <a:extLst>
                <a:ext uri="{FF2B5EF4-FFF2-40B4-BE49-F238E27FC236}">
                  <a16:creationId xmlns:a16="http://schemas.microsoft.com/office/drawing/2014/main" xmlns="" id="{58EF2B91-AD28-3B50-834E-2AE098236DBC}"/>
                </a:ext>
              </a:extLst>
            </p:cNvPr>
            <p:cNvSpPr>
              <a:spLocks noChangeShapeType="1"/>
            </p:cNvSpPr>
            <p:nvPr/>
          </p:nvSpPr>
          <p:spPr bwMode="auto">
            <a:xfrm flipH="1">
              <a:off x="1556" y="1393"/>
              <a:ext cx="7" cy="2255"/>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 name="Line 104">
              <a:extLst>
                <a:ext uri="{FF2B5EF4-FFF2-40B4-BE49-F238E27FC236}">
                  <a16:creationId xmlns:a16="http://schemas.microsoft.com/office/drawing/2014/main" xmlns="" id="{5BDC01FB-C3FE-4469-3720-448FEC1082D8}"/>
                </a:ext>
              </a:extLst>
            </p:cNvPr>
            <p:cNvSpPr>
              <a:spLocks noChangeShapeType="1"/>
            </p:cNvSpPr>
            <p:nvPr/>
          </p:nvSpPr>
          <p:spPr bwMode="auto">
            <a:xfrm>
              <a:off x="2159" y="2365"/>
              <a:ext cx="0" cy="1292"/>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 name="Line 105">
              <a:extLst>
                <a:ext uri="{FF2B5EF4-FFF2-40B4-BE49-F238E27FC236}">
                  <a16:creationId xmlns:a16="http://schemas.microsoft.com/office/drawing/2014/main" xmlns="" id="{3499CEAD-1745-77B0-5D4E-8A59DEA67A30}"/>
                </a:ext>
              </a:extLst>
            </p:cNvPr>
            <p:cNvSpPr>
              <a:spLocks noChangeShapeType="1"/>
            </p:cNvSpPr>
            <p:nvPr/>
          </p:nvSpPr>
          <p:spPr bwMode="auto">
            <a:xfrm>
              <a:off x="1939" y="2373"/>
              <a:ext cx="0" cy="1163"/>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 name="Line 106">
              <a:extLst>
                <a:ext uri="{FF2B5EF4-FFF2-40B4-BE49-F238E27FC236}">
                  <a16:creationId xmlns:a16="http://schemas.microsoft.com/office/drawing/2014/main" xmlns="" id="{A06F6AD6-8348-3793-B5AF-602ACDB712DE}"/>
                </a:ext>
              </a:extLst>
            </p:cNvPr>
            <p:cNvSpPr>
              <a:spLocks noChangeShapeType="1"/>
            </p:cNvSpPr>
            <p:nvPr/>
          </p:nvSpPr>
          <p:spPr bwMode="auto">
            <a:xfrm>
              <a:off x="1131" y="2395"/>
              <a:ext cx="0" cy="1098"/>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31" name="Group 107">
              <a:extLst>
                <a:ext uri="{FF2B5EF4-FFF2-40B4-BE49-F238E27FC236}">
                  <a16:creationId xmlns:a16="http://schemas.microsoft.com/office/drawing/2014/main" xmlns="" id="{89D1AD2C-FE01-4C94-E3B7-F8D569CA1540}"/>
                </a:ext>
              </a:extLst>
            </p:cNvPr>
            <p:cNvGrpSpPr>
              <a:grpSpLocks/>
            </p:cNvGrpSpPr>
            <p:nvPr/>
          </p:nvGrpSpPr>
          <p:grpSpPr bwMode="auto">
            <a:xfrm>
              <a:off x="1131" y="2525"/>
              <a:ext cx="793" cy="231"/>
              <a:chOff x="3498" y="1872"/>
              <a:chExt cx="1170" cy="197"/>
            </a:xfrm>
          </p:grpSpPr>
          <p:sp>
            <p:nvSpPr>
              <p:cNvPr id="69" name="Line 108">
                <a:extLst>
                  <a:ext uri="{FF2B5EF4-FFF2-40B4-BE49-F238E27FC236}">
                    <a16:creationId xmlns:a16="http://schemas.microsoft.com/office/drawing/2014/main" xmlns="" id="{9191D32E-3ED1-2A94-63FA-47284D626860}"/>
                  </a:ext>
                </a:extLst>
              </p:cNvPr>
              <p:cNvSpPr>
                <a:spLocks noChangeShapeType="1"/>
              </p:cNvSpPr>
              <p:nvPr/>
            </p:nvSpPr>
            <p:spPr bwMode="auto">
              <a:xfrm flipH="1">
                <a:off x="3498" y="1969"/>
                <a:ext cx="45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0" name="Line 109">
                <a:extLst>
                  <a:ext uri="{FF2B5EF4-FFF2-40B4-BE49-F238E27FC236}">
                    <a16:creationId xmlns:a16="http://schemas.microsoft.com/office/drawing/2014/main" xmlns="" id="{3EC85137-A17B-7F8A-B6C9-484FF7801124}"/>
                  </a:ext>
                </a:extLst>
              </p:cNvPr>
              <p:cNvSpPr>
                <a:spLocks noChangeShapeType="1"/>
              </p:cNvSpPr>
              <p:nvPr/>
            </p:nvSpPr>
            <p:spPr bwMode="auto">
              <a:xfrm>
                <a:off x="4218" y="1969"/>
                <a:ext cx="45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 name="Rectangle 110">
                <a:extLst>
                  <a:ext uri="{FF2B5EF4-FFF2-40B4-BE49-F238E27FC236}">
                    <a16:creationId xmlns:a16="http://schemas.microsoft.com/office/drawing/2014/main" xmlns="" id="{28BCA1B7-187B-AEA3-7079-FF96F622D0A6}"/>
                  </a:ext>
                </a:extLst>
              </p:cNvPr>
              <p:cNvSpPr>
                <a:spLocks noChangeArrowheads="1"/>
              </p:cNvSpPr>
              <p:nvPr/>
            </p:nvSpPr>
            <p:spPr bwMode="auto">
              <a:xfrm>
                <a:off x="3936" y="1872"/>
                <a:ext cx="396"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buFontTx/>
                  <a:buNone/>
                </a:pPr>
                <a:r>
                  <a:rPr lang="en-US" altLang="zh-CN" sz="1800" i="1">
                    <a:solidFill>
                      <a:srgbClr val="000000"/>
                    </a:solidFill>
                  </a:rPr>
                  <a:t>U</a:t>
                </a:r>
                <a:r>
                  <a:rPr lang="en-US" altLang="zh-CN" sz="1800" baseline="-25000">
                    <a:solidFill>
                      <a:srgbClr val="000000"/>
                    </a:solidFill>
                  </a:rPr>
                  <a:t>0</a:t>
                </a:r>
              </a:p>
            </p:txBody>
          </p:sp>
        </p:grpSp>
        <p:grpSp>
          <p:nvGrpSpPr>
            <p:cNvPr id="32" name="Group 111">
              <a:extLst>
                <a:ext uri="{FF2B5EF4-FFF2-40B4-BE49-F238E27FC236}">
                  <a16:creationId xmlns:a16="http://schemas.microsoft.com/office/drawing/2014/main" xmlns="" id="{78B74F47-DE91-29A6-ECC2-88B0F8104B8A}"/>
                </a:ext>
              </a:extLst>
            </p:cNvPr>
            <p:cNvGrpSpPr>
              <a:grpSpLocks/>
            </p:cNvGrpSpPr>
            <p:nvPr/>
          </p:nvGrpSpPr>
          <p:grpSpPr bwMode="auto">
            <a:xfrm>
              <a:off x="1491" y="1109"/>
              <a:ext cx="301" cy="423"/>
              <a:chOff x="3600" y="672"/>
              <a:chExt cx="325" cy="451"/>
            </a:xfrm>
          </p:grpSpPr>
          <p:sp>
            <p:nvSpPr>
              <p:cNvPr id="67" name="Text Box 112">
                <a:extLst>
                  <a:ext uri="{FF2B5EF4-FFF2-40B4-BE49-F238E27FC236}">
                    <a16:creationId xmlns:a16="http://schemas.microsoft.com/office/drawing/2014/main" xmlns="" id="{94BD7A09-3FDE-26A4-22F5-B6510D790BF2}"/>
                  </a:ext>
                </a:extLst>
              </p:cNvPr>
              <p:cNvSpPr txBox="1">
                <a:spLocks noChangeArrowheads="1"/>
              </p:cNvSpPr>
              <p:nvPr/>
            </p:nvSpPr>
            <p:spPr bwMode="auto">
              <a:xfrm>
                <a:off x="3600" y="816"/>
                <a:ext cx="198"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buFontTx/>
                  <a:buNone/>
                </a:pPr>
                <a:r>
                  <a:rPr lang="en-US" altLang="zh-CN" b="0">
                    <a:solidFill>
                      <a:srgbClr val="000000"/>
                    </a:solidFill>
                  </a:rPr>
                  <a:t>•</a:t>
                </a:r>
              </a:p>
            </p:txBody>
          </p:sp>
          <p:sp>
            <p:nvSpPr>
              <p:cNvPr id="68" name="Rectangle 113">
                <a:extLst>
                  <a:ext uri="{FF2B5EF4-FFF2-40B4-BE49-F238E27FC236}">
                    <a16:creationId xmlns:a16="http://schemas.microsoft.com/office/drawing/2014/main" xmlns="" id="{6C2051D7-4585-F3A0-124C-B51F75C741E0}"/>
                  </a:ext>
                </a:extLst>
              </p:cNvPr>
              <p:cNvSpPr>
                <a:spLocks noChangeArrowheads="1"/>
              </p:cNvSpPr>
              <p:nvPr/>
            </p:nvSpPr>
            <p:spPr bwMode="auto">
              <a:xfrm>
                <a:off x="3696" y="672"/>
                <a:ext cx="229"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buFontTx/>
                  <a:buNone/>
                </a:pPr>
                <a:r>
                  <a:rPr lang="en-US" altLang="zh-CN" sz="1800" i="1">
                    <a:solidFill>
                      <a:srgbClr val="000000"/>
                    </a:solidFill>
                  </a:rPr>
                  <a:t>A</a:t>
                </a:r>
              </a:p>
            </p:txBody>
          </p:sp>
        </p:grpSp>
        <p:grpSp>
          <p:nvGrpSpPr>
            <p:cNvPr id="33" name="Group 114">
              <a:extLst>
                <a:ext uri="{FF2B5EF4-FFF2-40B4-BE49-F238E27FC236}">
                  <a16:creationId xmlns:a16="http://schemas.microsoft.com/office/drawing/2014/main" xmlns="" id="{B9C2EBAF-8808-3B25-84FD-8970BD9C2B54}"/>
                </a:ext>
              </a:extLst>
            </p:cNvPr>
            <p:cNvGrpSpPr>
              <a:grpSpLocks/>
            </p:cNvGrpSpPr>
            <p:nvPr/>
          </p:nvGrpSpPr>
          <p:grpSpPr bwMode="auto">
            <a:xfrm>
              <a:off x="1691" y="2241"/>
              <a:ext cx="339" cy="366"/>
              <a:chOff x="4416" y="1536"/>
              <a:chExt cx="367" cy="391"/>
            </a:xfrm>
          </p:grpSpPr>
          <p:sp>
            <p:nvSpPr>
              <p:cNvPr id="65" name="Text Box 115">
                <a:extLst>
                  <a:ext uri="{FF2B5EF4-FFF2-40B4-BE49-F238E27FC236}">
                    <a16:creationId xmlns:a16="http://schemas.microsoft.com/office/drawing/2014/main" xmlns="" id="{66583461-E740-C1C5-A279-F8E33740EB43}"/>
                  </a:ext>
                </a:extLst>
              </p:cNvPr>
              <p:cNvSpPr txBox="1">
                <a:spLocks noChangeArrowheads="1"/>
              </p:cNvSpPr>
              <p:nvPr/>
            </p:nvSpPr>
            <p:spPr bwMode="auto">
              <a:xfrm>
                <a:off x="4585" y="1536"/>
                <a:ext cx="198" cy="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buFontTx/>
                  <a:buNone/>
                </a:pPr>
                <a:r>
                  <a:rPr lang="en-US" altLang="zh-CN" b="0">
                    <a:solidFill>
                      <a:srgbClr val="000000"/>
                    </a:solidFill>
                  </a:rPr>
                  <a:t>•</a:t>
                </a:r>
              </a:p>
            </p:txBody>
          </p:sp>
          <p:sp>
            <p:nvSpPr>
              <p:cNvPr id="66" name="Rectangle 116">
                <a:extLst>
                  <a:ext uri="{FF2B5EF4-FFF2-40B4-BE49-F238E27FC236}">
                    <a16:creationId xmlns:a16="http://schemas.microsoft.com/office/drawing/2014/main" xmlns="" id="{96321577-FE15-04BE-4A71-024EE9D9CA92}"/>
                  </a:ext>
                </a:extLst>
              </p:cNvPr>
              <p:cNvSpPr>
                <a:spLocks noChangeArrowheads="1"/>
              </p:cNvSpPr>
              <p:nvPr/>
            </p:nvSpPr>
            <p:spPr bwMode="auto">
              <a:xfrm>
                <a:off x="4416" y="1680"/>
                <a:ext cx="229" cy="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buFontTx/>
                  <a:buNone/>
                </a:pPr>
                <a:r>
                  <a:rPr lang="en-US" altLang="zh-CN" sz="1800" i="1">
                    <a:solidFill>
                      <a:srgbClr val="000000"/>
                    </a:solidFill>
                  </a:rPr>
                  <a:t>B</a:t>
                </a:r>
              </a:p>
            </p:txBody>
          </p:sp>
        </p:grpSp>
        <p:grpSp>
          <p:nvGrpSpPr>
            <p:cNvPr id="34" name="Group 117">
              <a:extLst>
                <a:ext uri="{FF2B5EF4-FFF2-40B4-BE49-F238E27FC236}">
                  <a16:creationId xmlns:a16="http://schemas.microsoft.com/office/drawing/2014/main" xmlns="" id="{8D372E57-504A-323E-2429-38AC4841113E}"/>
                </a:ext>
              </a:extLst>
            </p:cNvPr>
            <p:cNvGrpSpPr>
              <a:grpSpLocks/>
            </p:cNvGrpSpPr>
            <p:nvPr/>
          </p:nvGrpSpPr>
          <p:grpSpPr bwMode="auto">
            <a:xfrm>
              <a:off x="2076" y="2230"/>
              <a:ext cx="340" cy="369"/>
              <a:chOff x="4616" y="1548"/>
              <a:chExt cx="368" cy="395"/>
            </a:xfrm>
          </p:grpSpPr>
          <p:sp>
            <p:nvSpPr>
              <p:cNvPr id="63" name="Rectangle 118">
                <a:extLst>
                  <a:ext uri="{FF2B5EF4-FFF2-40B4-BE49-F238E27FC236}">
                    <a16:creationId xmlns:a16="http://schemas.microsoft.com/office/drawing/2014/main" xmlns="" id="{BCD4F402-74AE-9A2D-0D88-3AC067119F51}"/>
                  </a:ext>
                </a:extLst>
              </p:cNvPr>
              <p:cNvSpPr>
                <a:spLocks noChangeArrowheads="1"/>
              </p:cNvSpPr>
              <p:nvPr/>
            </p:nvSpPr>
            <p:spPr bwMode="auto">
              <a:xfrm>
                <a:off x="4616" y="1696"/>
                <a:ext cx="368" cy="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buFontTx/>
                  <a:buNone/>
                </a:pPr>
                <a:r>
                  <a:rPr lang="en-US" altLang="zh-CN" sz="1800" i="1">
                    <a:solidFill>
                      <a:srgbClr val="000000"/>
                    </a:solidFill>
                  </a:rPr>
                  <a:t>V</a:t>
                </a:r>
                <a:r>
                  <a:rPr lang="en-US" altLang="zh-CN" sz="1800" i="1" baseline="-25000">
                    <a:solidFill>
                      <a:srgbClr val="000000"/>
                    </a:solidFill>
                  </a:rPr>
                  <a:t>CC</a:t>
                </a:r>
              </a:p>
            </p:txBody>
          </p:sp>
          <p:sp>
            <p:nvSpPr>
              <p:cNvPr id="64" name="Text Box 119">
                <a:extLst>
                  <a:ext uri="{FF2B5EF4-FFF2-40B4-BE49-F238E27FC236}">
                    <a16:creationId xmlns:a16="http://schemas.microsoft.com/office/drawing/2014/main" xmlns="" id="{87D51374-0020-6165-A541-ECA354E3C641}"/>
                  </a:ext>
                </a:extLst>
              </p:cNvPr>
              <p:cNvSpPr txBox="1">
                <a:spLocks noChangeArrowheads="1"/>
              </p:cNvSpPr>
              <p:nvPr/>
            </p:nvSpPr>
            <p:spPr bwMode="auto">
              <a:xfrm>
                <a:off x="4624" y="1548"/>
                <a:ext cx="198" cy="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buFontTx/>
                  <a:buNone/>
                </a:pPr>
                <a:r>
                  <a:rPr lang="en-US" altLang="zh-CN" b="0">
                    <a:solidFill>
                      <a:srgbClr val="000000"/>
                    </a:solidFill>
                  </a:rPr>
                  <a:t>•</a:t>
                </a:r>
              </a:p>
            </p:txBody>
          </p:sp>
        </p:grpSp>
        <p:grpSp>
          <p:nvGrpSpPr>
            <p:cNvPr id="35" name="Group 120">
              <a:extLst>
                <a:ext uri="{FF2B5EF4-FFF2-40B4-BE49-F238E27FC236}">
                  <a16:creationId xmlns:a16="http://schemas.microsoft.com/office/drawing/2014/main" xmlns="" id="{486264A9-7193-9B78-4CA8-12748CF9EF45}"/>
                </a:ext>
              </a:extLst>
            </p:cNvPr>
            <p:cNvGrpSpPr>
              <a:grpSpLocks/>
            </p:cNvGrpSpPr>
            <p:nvPr/>
          </p:nvGrpSpPr>
          <p:grpSpPr bwMode="auto">
            <a:xfrm>
              <a:off x="1534" y="3215"/>
              <a:ext cx="632" cy="231"/>
              <a:chOff x="3678" y="2592"/>
              <a:chExt cx="1260" cy="198"/>
            </a:xfrm>
          </p:grpSpPr>
          <p:sp>
            <p:nvSpPr>
              <p:cNvPr id="61" name="Line 121">
                <a:extLst>
                  <a:ext uri="{FF2B5EF4-FFF2-40B4-BE49-F238E27FC236}">
                    <a16:creationId xmlns:a16="http://schemas.microsoft.com/office/drawing/2014/main" xmlns="" id="{BBEFA1EA-2D5A-4686-AB54-45750D18B128}"/>
                  </a:ext>
                </a:extLst>
              </p:cNvPr>
              <p:cNvSpPr>
                <a:spLocks noChangeShapeType="1"/>
              </p:cNvSpPr>
              <p:nvPr/>
            </p:nvSpPr>
            <p:spPr bwMode="auto">
              <a:xfrm>
                <a:off x="3678" y="2685"/>
                <a:ext cx="1260" cy="0"/>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2" name="Rectangle 122">
                <a:extLst>
                  <a:ext uri="{FF2B5EF4-FFF2-40B4-BE49-F238E27FC236}">
                    <a16:creationId xmlns:a16="http://schemas.microsoft.com/office/drawing/2014/main" xmlns="" id="{10382337-DD2C-E702-E0F2-FDD836C699DA}"/>
                  </a:ext>
                </a:extLst>
              </p:cNvPr>
              <p:cNvSpPr>
                <a:spLocks noChangeArrowheads="1"/>
              </p:cNvSpPr>
              <p:nvPr/>
            </p:nvSpPr>
            <p:spPr bwMode="auto">
              <a:xfrm>
                <a:off x="4081" y="2592"/>
                <a:ext cx="684" cy="19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buFontTx/>
                  <a:buNone/>
                </a:pPr>
                <a:r>
                  <a:rPr lang="en-US" altLang="zh-CN" sz="1800" i="1">
                    <a:solidFill>
                      <a:srgbClr val="000000"/>
                    </a:solidFill>
                  </a:rPr>
                  <a:t>U</a:t>
                </a:r>
                <a:r>
                  <a:rPr lang="en-US" altLang="zh-CN" sz="1800" baseline="-25000">
                    <a:solidFill>
                      <a:srgbClr val="000000"/>
                    </a:solidFill>
                  </a:rPr>
                  <a:t>cm</a:t>
                </a:r>
              </a:p>
            </p:txBody>
          </p:sp>
        </p:grpSp>
        <p:grpSp>
          <p:nvGrpSpPr>
            <p:cNvPr id="36" name="Group 123">
              <a:extLst>
                <a:ext uri="{FF2B5EF4-FFF2-40B4-BE49-F238E27FC236}">
                  <a16:creationId xmlns:a16="http://schemas.microsoft.com/office/drawing/2014/main" xmlns="" id="{786CB657-BE21-BCE8-F380-522A885167CB}"/>
                </a:ext>
              </a:extLst>
            </p:cNvPr>
            <p:cNvGrpSpPr>
              <a:grpSpLocks/>
            </p:cNvGrpSpPr>
            <p:nvPr/>
          </p:nvGrpSpPr>
          <p:grpSpPr bwMode="auto">
            <a:xfrm>
              <a:off x="1129" y="2660"/>
              <a:ext cx="488" cy="292"/>
              <a:chOff x="3312" y="2008"/>
              <a:chExt cx="405" cy="304"/>
            </a:xfrm>
          </p:grpSpPr>
          <p:sp>
            <p:nvSpPr>
              <p:cNvPr id="59" name="Line 124">
                <a:extLst>
                  <a:ext uri="{FF2B5EF4-FFF2-40B4-BE49-F238E27FC236}">
                    <a16:creationId xmlns:a16="http://schemas.microsoft.com/office/drawing/2014/main" xmlns="" id="{58F50717-F197-75DF-A173-F26ED94EEDF2}"/>
                  </a:ext>
                </a:extLst>
              </p:cNvPr>
              <p:cNvSpPr>
                <a:spLocks noChangeShapeType="1"/>
              </p:cNvSpPr>
              <p:nvPr/>
            </p:nvSpPr>
            <p:spPr bwMode="auto">
              <a:xfrm>
                <a:off x="3314" y="2312"/>
                <a:ext cx="356" cy="0"/>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0" name="Rectangle 125">
                <a:extLst>
                  <a:ext uri="{FF2B5EF4-FFF2-40B4-BE49-F238E27FC236}">
                    <a16:creationId xmlns:a16="http://schemas.microsoft.com/office/drawing/2014/main" xmlns="" id="{09DD7800-3932-3808-7E2E-C70DF64EB8D7}"/>
                  </a:ext>
                </a:extLst>
              </p:cNvPr>
              <p:cNvSpPr>
                <a:spLocks noChangeArrowheads="1"/>
              </p:cNvSpPr>
              <p:nvPr/>
            </p:nvSpPr>
            <p:spPr bwMode="auto">
              <a:xfrm>
                <a:off x="3312" y="2008"/>
                <a:ext cx="405"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buFontTx/>
                  <a:buNone/>
                </a:pPr>
                <a:r>
                  <a:rPr lang="en-US" altLang="zh-CN" sz="1800" i="1">
                    <a:solidFill>
                      <a:srgbClr val="000000"/>
                    </a:solidFill>
                  </a:rPr>
                  <a:t>u</a:t>
                </a:r>
                <a:r>
                  <a:rPr lang="en-US" altLang="zh-CN" sz="1800" baseline="-25000">
                    <a:solidFill>
                      <a:srgbClr val="000000"/>
                    </a:solidFill>
                  </a:rPr>
                  <a:t>CEmin</a:t>
                </a:r>
              </a:p>
            </p:txBody>
          </p:sp>
        </p:grpSp>
        <p:grpSp>
          <p:nvGrpSpPr>
            <p:cNvPr id="37" name="Group 126">
              <a:extLst>
                <a:ext uri="{FF2B5EF4-FFF2-40B4-BE49-F238E27FC236}">
                  <a16:creationId xmlns:a16="http://schemas.microsoft.com/office/drawing/2014/main" xmlns="" id="{B9D9C3C0-C927-608F-CE31-BC761638E3FD}"/>
                </a:ext>
              </a:extLst>
            </p:cNvPr>
            <p:cNvGrpSpPr>
              <a:grpSpLocks/>
            </p:cNvGrpSpPr>
            <p:nvPr/>
          </p:nvGrpSpPr>
          <p:grpSpPr bwMode="auto">
            <a:xfrm>
              <a:off x="1573" y="1387"/>
              <a:ext cx="398" cy="992"/>
              <a:chOff x="4512" y="3072"/>
              <a:chExt cx="1642" cy="1172"/>
            </a:xfrm>
          </p:grpSpPr>
          <p:grpSp>
            <p:nvGrpSpPr>
              <p:cNvPr id="55" name="Group 127">
                <a:extLst>
                  <a:ext uri="{FF2B5EF4-FFF2-40B4-BE49-F238E27FC236}">
                    <a16:creationId xmlns:a16="http://schemas.microsoft.com/office/drawing/2014/main" xmlns="" id="{AC1FDBC1-8C07-5AA4-5DAB-D35349BB4279}"/>
                  </a:ext>
                </a:extLst>
              </p:cNvPr>
              <p:cNvGrpSpPr>
                <a:grpSpLocks/>
              </p:cNvGrpSpPr>
              <p:nvPr/>
            </p:nvGrpSpPr>
            <p:grpSpPr bwMode="auto">
              <a:xfrm>
                <a:off x="4512" y="3072"/>
                <a:ext cx="1642" cy="1172"/>
                <a:chOff x="2400" y="3072"/>
                <a:chExt cx="1642" cy="1172"/>
              </a:xfrm>
            </p:grpSpPr>
            <p:sp>
              <p:nvSpPr>
                <p:cNvPr id="57" name="Line 128">
                  <a:extLst>
                    <a:ext uri="{FF2B5EF4-FFF2-40B4-BE49-F238E27FC236}">
                      <a16:creationId xmlns:a16="http://schemas.microsoft.com/office/drawing/2014/main" xmlns="" id="{45E98074-04D2-F0F3-D3DF-41281961519D}"/>
                    </a:ext>
                  </a:extLst>
                </p:cNvPr>
                <p:cNvSpPr>
                  <a:spLocks noChangeShapeType="1"/>
                </p:cNvSpPr>
                <p:nvPr/>
              </p:nvSpPr>
              <p:spPr bwMode="auto">
                <a:xfrm>
                  <a:off x="2400" y="3072"/>
                  <a:ext cx="1530" cy="1172"/>
                </a:xfrm>
                <a:prstGeom prst="line">
                  <a:avLst/>
                </a:prstGeom>
                <a:noFill/>
                <a:ln w="25400">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 name="Text Box 129">
                  <a:extLst>
                    <a:ext uri="{FF2B5EF4-FFF2-40B4-BE49-F238E27FC236}">
                      <a16:creationId xmlns:a16="http://schemas.microsoft.com/office/drawing/2014/main" xmlns="" id="{D99379D2-52D1-1253-9EE4-C1E48FF44C5D}"/>
                    </a:ext>
                  </a:extLst>
                </p:cNvPr>
                <p:cNvSpPr txBox="1">
                  <a:spLocks noChangeArrowheads="1"/>
                </p:cNvSpPr>
                <p:nvPr/>
              </p:nvSpPr>
              <p:spPr bwMode="auto">
                <a:xfrm>
                  <a:off x="3021" y="3216"/>
                  <a:ext cx="1021"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buFontTx/>
                    <a:buNone/>
                  </a:pPr>
                  <a:r>
                    <a:rPr lang="en-US" altLang="zh-CN" sz="2000" i="1">
                      <a:solidFill>
                        <a:srgbClr val="FF3300"/>
                      </a:solidFill>
                    </a:rPr>
                    <a:t>g</a:t>
                  </a:r>
                  <a:r>
                    <a:rPr lang="en-US" altLang="zh-CN" sz="2000" i="1" baseline="-25000">
                      <a:solidFill>
                        <a:srgbClr val="FF3300"/>
                      </a:solidFill>
                    </a:rPr>
                    <a:t>d</a:t>
                  </a:r>
                  <a:endParaRPr lang="en-US" altLang="zh-CN" sz="2000" i="1">
                    <a:solidFill>
                      <a:srgbClr val="FF3300"/>
                    </a:solidFill>
                  </a:endParaRPr>
                </a:p>
              </p:txBody>
            </p:sp>
          </p:grpSp>
          <p:sp>
            <p:nvSpPr>
              <p:cNvPr id="56" name="Freeform 130">
                <a:extLst>
                  <a:ext uri="{FF2B5EF4-FFF2-40B4-BE49-F238E27FC236}">
                    <a16:creationId xmlns:a16="http://schemas.microsoft.com/office/drawing/2014/main" xmlns="" id="{14C9FF4D-A05B-A599-6CC5-78F54DAC7742}"/>
                  </a:ext>
                </a:extLst>
              </p:cNvPr>
              <p:cNvSpPr>
                <a:spLocks noChangeArrowheads="1"/>
              </p:cNvSpPr>
              <p:nvPr/>
            </p:nvSpPr>
            <p:spPr bwMode="auto">
              <a:xfrm>
                <a:off x="5040" y="3600"/>
                <a:ext cx="144" cy="432"/>
              </a:xfrm>
              <a:custGeom>
                <a:avLst/>
                <a:gdLst>
                  <a:gd name="T0" fmla="*/ 168 w 168"/>
                  <a:gd name="T1" fmla="*/ 0 h 432"/>
                  <a:gd name="T2" fmla="*/ 24 w 168"/>
                  <a:gd name="T3" fmla="*/ 192 h 432"/>
                  <a:gd name="T4" fmla="*/ 24 w 168"/>
                  <a:gd name="T5" fmla="*/ 432 h 432"/>
                </a:gdLst>
                <a:ahLst/>
                <a:cxnLst>
                  <a:cxn ang="0">
                    <a:pos x="T0" y="T1"/>
                  </a:cxn>
                  <a:cxn ang="0">
                    <a:pos x="T2" y="T3"/>
                  </a:cxn>
                  <a:cxn ang="0">
                    <a:pos x="T4" y="T5"/>
                  </a:cxn>
                </a:cxnLst>
                <a:rect l="0" t="0" r="r" b="b"/>
                <a:pathLst>
                  <a:path w="168" h="432">
                    <a:moveTo>
                      <a:pt x="168" y="0"/>
                    </a:moveTo>
                    <a:cubicBezTo>
                      <a:pt x="108" y="60"/>
                      <a:pt x="48" y="120"/>
                      <a:pt x="24" y="192"/>
                    </a:cubicBezTo>
                    <a:cubicBezTo>
                      <a:pt x="0" y="264"/>
                      <a:pt x="12" y="348"/>
                      <a:pt x="24" y="432"/>
                    </a:cubicBezTo>
                  </a:path>
                </a:pathLst>
              </a:custGeom>
              <a:noFill/>
              <a:ln w="952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38" name="Line 131">
              <a:extLst>
                <a:ext uri="{FF2B5EF4-FFF2-40B4-BE49-F238E27FC236}">
                  <a16:creationId xmlns:a16="http://schemas.microsoft.com/office/drawing/2014/main" xmlns="" id="{0F6DA9A3-2764-83C0-B4C6-68D30DEEFA95}"/>
                </a:ext>
              </a:extLst>
            </p:cNvPr>
            <p:cNvSpPr>
              <a:spLocks noChangeShapeType="1"/>
            </p:cNvSpPr>
            <p:nvPr/>
          </p:nvSpPr>
          <p:spPr bwMode="auto">
            <a:xfrm>
              <a:off x="2818" y="2381"/>
              <a:ext cx="0" cy="1292"/>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39" name="Group 132">
              <a:extLst>
                <a:ext uri="{FF2B5EF4-FFF2-40B4-BE49-F238E27FC236}">
                  <a16:creationId xmlns:a16="http://schemas.microsoft.com/office/drawing/2014/main" xmlns="" id="{1248371D-F438-E9BF-1832-0D7FDC42B1AC}"/>
                </a:ext>
              </a:extLst>
            </p:cNvPr>
            <p:cNvGrpSpPr>
              <a:grpSpLocks/>
            </p:cNvGrpSpPr>
            <p:nvPr/>
          </p:nvGrpSpPr>
          <p:grpSpPr bwMode="auto">
            <a:xfrm>
              <a:off x="2572" y="2219"/>
              <a:ext cx="341" cy="366"/>
              <a:chOff x="4416" y="1536"/>
              <a:chExt cx="368" cy="391"/>
            </a:xfrm>
          </p:grpSpPr>
          <p:sp>
            <p:nvSpPr>
              <p:cNvPr id="53" name="Text Box 133">
                <a:extLst>
                  <a:ext uri="{FF2B5EF4-FFF2-40B4-BE49-F238E27FC236}">
                    <a16:creationId xmlns:a16="http://schemas.microsoft.com/office/drawing/2014/main" xmlns="" id="{D3E3853F-A83A-AC92-7944-572C07F3DDFF}"/>
                  </a:ext>
                </a:extLst>
              </p:cNvPr>
              <p:cNvSpPr txBox="1">
                <a:spLocks noChangeArrowheads="1"/>
              </p:cNvSpPr>
              <p:nvPr/>
            </p:nvSpPr>
            <p:spPr bwMode="auto">
              <a:xfrm>
                <a:off x="4586" y="1536"/>
                <a:ext cx="198" cy="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buFontTx/>
                  <a:buNone/>
                </a:pPr>
                <a:r>
                  <a:rPr lang="en-US" altLang="zh-CN" b="0">
                    <a:solidFill>
                      <a:srgbClr val="000000"/>
                    </a:solidFill>
                  </a:rPr>
                  <a:t>•</a:t>
                </a:r>
              </a:p>
            </p:txBody>
          </p:sp>
          <p:sp>
            <p:nvSpPr>
              <p:cNvPr id="54" name="Rectangle 134">
                <a:extLst>
                  <a:ext uri="{FF2B5EF4-FFF2-40B4-BE49-F238E27FC236}">
                    <a16:creationId xmlns:a16="http://schemas.microsoft.com/office/drawing/2014/main" xmlns="" id="{D31CB10B-327D-98FE-3488-EACA4299D364}"/>
                  </a:ext>
                </a:extLst>
              </p:cNvPr>
              <p:cNvSpPr>
                <a:spLocks noChangeArrowheads="1"/>
              </p:cNvSpPr>
              <p:nvPr/>
            </p:nvSpPr>
            <p:spPr bwMode="auto">
              <a:xfrm>
                <a:off x="4416" y="1680"/>
                <a:ext cx="230" cy="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buFontTx/>
                  <a:buNone/>
                </a:pPr>
                <a:r>
                  <a:rPr lang="en-US" altLang="zh-CN" sz="1800" i="1">
                    <a:solidFill>
                      <a:srgbClr val="000000"/>
                    </a:solidFill>
                  </a:rPr>
                  <a:t>C</a:t>
                </a:r>
              </a:p>
            </p:txBody>
          </p:sp>
        </p:grpSp>
        <p:grpSp>
          <p:nvGrpSpPr>
            <p:cNvPr id="40" name="Group 135">
              <a:extLst>
                <a:ext uri="{FF2B5EF4-FFF2-40B4-BE49-F238E27FC236}">
                  <a16:creationId xmlns:a16="http://schemas.microsoft.com/office/drawing/2014/main" xmlns="" id="{EBAF6897-923B-DE85-807F-388801451093}"/>
                </a:ext>
              </a:extLst>
            </p:cNvPr>
            <p:cNvGrpSpPr>
              <a:grpSpLocks/>
            </p:cNvGrpSpPr>
            <p:nvPr/>
          </p:nvGrpSpPr>
          <p:grpSpPr bwMode="auto">
            <a:xfrm>
              <a:off x="1114" y="3042"/>
              <a:ext cx="2027" cy="847"/>
              <a:chOff x="3328" y="2416"/>
              <a:chExt cx="2192" cy="904"/>
            </a:xfrm>
          </p:grpSpPr>
          <p:sp>
            <p:nvSpPr>
              <p:cNvPr id="51" name="Line 136">
                <a:extLst>
                  <a:ext uri="{FF2B5EF4-FFF2-40B4-BE49-F238E27FC236}">
                    <a16:creationId xmlns:a16="http://schemas.microsoft.com/office/drawing/2014/main" xmlns="" id="{41626802-BCE0-14C7-A235-1BEDD8405CBB}"/>
                  </a:ext>
                </a:extLst>
              </p:cNvPr>
              <p:cNvSpPr>
                <a:spLocks noChangeShapeType="1"/>
              </p:cNvSpPr>
              <p:nvPr/>
            </p:nvSpPr>
            <p:spPr bwMode="auto">
              <a:xfrm flipV="1">
                <a:off x="3328" y="2416"/>
                <a:ext cx="2192" cy="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2" name="Line 137">
                <a:extLst>
                  <a:ext uri="{FF2B5EF4-FFF2-40B4-BE49-F238E27FC236}">
                    <a16:creationId xmlns:a16="http://schemas.microsoft.com/office/drawing/2014/main" xmlns="" id="{4CEFDF7F-8054-C04D-3836-7CA6D468ED64}"/>
                  </a:ext>
                </a:extLst>
              </p:cNvPr>
              <p:cNvSpPr>
                <a:spLocks noChangeShapeType="1"/>
              </p:cNvSpPr>
              <p:nvPr/>
            </p:nvSpPr>
            <p:spPr bwMode="auto">
              <a:xfrm>
                <a:off x="3344" y="2440"/>
                <a:ext cx="0" cy="88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41" name="Group 138">
              <a:extLst>
                <a:ext uri="{FF2B5EF4-FFF2-40B4-BE49-F238E27FC236}">
                  <a16:creationId xmlns:a16="http://schemas.microsoft.com/office/drawing/2014/main" xmlns="" id="{C15409DD-FD0D-6AD3-212F-965D44BFD615}"/>
                </a:ext>
              </a:extLst>
            </p:cNvPr>
            <p:cNvGrpSpPr>
              <a:grpSpLocks/>
            </p:cNvGrpSpPr>
            <p:nvPr/>
          </p:nvGrpSpPr>
          <p:grpSpPr bwMode="auto">
            <a:xfrm>
              <a:off x="1503" y="2869"/>
              <a:ext cx="1374" cy="732"/>
              <a:chOff x="3629" y="2231"/>
              <a:chExt cx="1678" cy="782"/>
            </a:xfrm>
          </p:grpSpPr>
          <p:sp>
            <p:nvSpPr>
              <p:cNvPr id="49" name="Freeform 139">
                <a:extLst>
                  <a:ext uri="{FF2B5EF4-FFF2-40B4-BE49-F238E27FC236}">
                    <a16:creationId xmlns:a16="http://schemas.microsoft.com/office/drawing/2014/main" xmlns="" id="{6154F65F-2096-8EBF-401B-A69E27900029}"/>
                  </a:ext>
                </a:extLst>
              </p:cNvPr>
              <p:cNvSpPr>
                <a:spLocks noChangeArrowheads="1"/>
              </p:cNvSpPr>
              <p:nvPr/>
            </p:nvSpPr>
            <p:spPr bwMode="auto">
              <a:xfrm>
                <a:off x="3629" y="2231"/>
                <a:ext cx="829" cy="389"/>
              </a:xfrm>
              <a:custGeom>
                <a:avLst/>
                <a:gdLst>
                  <a:gd name="T0" fmla="*/ 2730 w 2730"/>
                  <a:gd name="T1" fmla="*/ 0 h 1404"/>
                  <a:gd name="T2" fmla="*/ 1470 w 2730"/>
                  <a:gd name="T3" fmla="*/ 312 h 1404"/>
                  <a:gd name="T4" fmla="*/ 210 w 2730"/>
                  <a:gd name="T5" fmla="*/ 780 h 1404"/>
                  <a:gd name="T6" fmla="*/ 2730 w 2730"/>
                  <a:gd name="T7" fmla="*/ 1404 h 1404"/>
                </a:gdLst>
                <a:ahLst/>
                <a:cxnLst>
                  <a:cxn ang="0">
                    <a:pos x="T0" y="T1"/>
                  </a:cxn>
                  <a:cxn ang="0">
                    <a:pos x="T2" y="T3"/>
                  </a:cxn>
                  <a:cxn ang="0">
                    <a:pos x="T4" y="T5"/>
                  </a:cxn>
                  <a:cxn ang="0">
                    <a:pos x="T6" y="T7"/>
                  </a:cxn>
                </a:cxnLst>
                <a:rect l="0" t="0" r="r" b="b"/>
                <a:pathLst>
                  <a:path w="2730" h="1404">
                    <a:moveTo>
                      <a:pt x="2730" y="0"/>
                    </a:moveTo>
                    <a:cubicBezTo>
                      <a:pt x="2310" y="91"/>
                      <a:pt x="1890" y="182"/>
                      <a:pt x="1470" y="312"/>
                    </a:cubicBezTo>
                    <a:cubicBezTo>
                      <a:pt x="1050" y="442"/>
                      <a:pt x="0" y="598"/>
                      <a:pt x="210" y="780"/>
                    </a:cubicBezTo>
                    <a:cubicBezTo>
                      <a:pt x="420" y="962"/>
                      <a:pt x="1575" y="1183"/>
                      <a:pt x="2730" y="1404"/>
                    </a:cubicBezTo>
                  </a:path>
                </a:pathLst>
              </a:cu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0" name="Freeform 140">
                <a:extLst>
                  <a:ext uri="{FF2B5EF4-FFF2-40B4-BE49-F238E27FC236}">
                    <a16:creationId xmlns:a16="http://schemas.microsoft.com/office/drawing/2014/main" xmlns="" id="{268001B7-D457-CF34-57E9-B3FDC90A5791}"/>
                  </a:ext>
                </a:extLst>
              </p:cNvPr>
              <p:cNvSpPr>
                <a:spLocks noChangeArrowheads="1"/>
              </p:cNvSpPr>
              <p:nvPr/>
            </p:nvSpPr>
            <p:spPr bwMode="auto">
              <a:xfrm flipH="1">
                <a:off x="4478" y="2624"/>
                <a:ext cx="829" cy="389"/>
              </a:xfrm>
              <a:custGeom>
                <a:avLst/>
                <a:gdLst>
                  <a:gd name="T0" fmla="*/ 2730 w 2730"/>
                  <a:gd name="T1" fmla="*/ 0 h 1404"/>
                  <a:gd name="T2" fmla="*/ 1470 w 2730"/>
                  <a:gd name="T3" fmla="*/ 312 h 1404"/>
                  <a:gd name="T4" fmla="*/ 210 w 2730"/>
                  <a:gd name="T5" fmla="*/ 780 h 1404"/>
                  <a:gd name="T6" fmla="*/ 2730 w 2730"/>
                  <a:gd name="T7" fmla="*/ 1404 h 1404"/>
                </a:gdLst>
                <a:ahLst/>
                <a:cxnLst>
                  <a:cxn ang="0">
                    <a:pos x="T0" y="T1"/>
                  </a:cxn>
                  <a:cxn ang="0">
                    <a:pos x="T2" y="T3"/>
                  </a:cxn>
                  <a:cxn ang="0">
                    <a:pos x="T4" y="T5"/>
                  </a:cxn>
                  <a:cxn ang="0">
                    <a:pos x="T6" y="T7"/>
                  </a:cxn>
                </a:cxnLst>
                <a:rect l="0" t="0" r="r" b="b"/>
                <a:pathLst>
                  <a:path w="2730" h="1404">
                    <a:moveTo>
                      <a:pt x="2730" y="0"/>
                    </a:moveTo>
                    <a:cubicBezTo>
                      <a:pt x="2310" y="91"/>
                      <a:pt x="1890" y="182"/>
                      <a:pt x="1470" y="312"/>
                    </a:cubicBezTo>
                    <a:cubicBezTo>
                      <a:pt x="1050" y="442"/>
                      <a:pt x="0" y="598"/>
                      <a:pt x="210" y="780"/>
                    </a:cubicBezTo>
                    <a:cubicBezTo>
                      <a:pt x="420" y="962"/>
                      <a:pt x="1575" y="1183"/>
                      <a:pt x="2730" y="1404"/>
                    </a:cubicBezTo>
                  </a:path>
                </a:pathLst>
              </a:cu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42" name="Line 141">
              <a:extLst>
                <a:ext uri="{FF2B5EF4-FFF2-40B4-BE49-F238E27FC236}">
                  <a16:creationId xmlns:a16="http://schemas.microsoft.com/office/drawing/2014/main" xmlns="" id="{B2343FFB-1741-90BC-3661-46F13F8A7E67}"/>
                </a:ext>
              </a:extLst>
            </p:cNvPr>
            <p:cNvSpPr>
              <a:spLocks noChangeShapeType="1"/>
            </p:cNvSpPr>
            <p:nvPr/>
          </p:nvSpPr>
          <p:spPr bwMode="auto">
            <a:xfrm>
              <a:off x="1943" y="2368"/>
              <a:ext cx="954" cy="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 name="Rectangle 142">
              <a:extLst>
                <a:ext uri="{FF2B5EF4-FFF2-40B4-BE49-F238E27FC236}">
                  <a16:creationId xmlns:a16="http://schemas.microsoft.com/office/drawing/2014/main" xmlns="" id="{85D8E140-CCD3-9679-D426-89BB9D127571}"/>
                </a:ext>
              </a:extLst>
            </p:cNvPr>
            <p:cNvSpPr>
              <a:spLocks noChangeArrowheads="1"/>
            </p:cNvSpPr>
            <p:nvPr/>
          </p:nvSpPr>
          <p:spPr bwMode="auto">
            <a:xfrm>
              <a:off x="792" y="1013"/>
              <a:ext cx="28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pPr fontAlgn="t">
                <a:spcBef>
                  <a:spcPct val="50000"/>
                </a:spcBef>
                <a:buFontTx/>
                <a:buNone/>
              </a:pPr>
              <a:r>
                <a:rPr lang="en-US" altLang="zh-CN" sz="2800" i="1">
                  <a:solidFill>
                    <a:srgbClr val="CC66FF"/>
                  </a:solidFill>
                </a:rPr>
                <a:t>i</a:t>
              </a:r>
              <a:r>
                <a:rPr lang="en-US" altLang="zh-CN" sz="2800" baseline="-56000">
                  <a:solidFill>
                    <a:srgbClr val="CC66FF"/>
                  </a:solidFill>
                </a:rPr>
                <a:t>C</a:t>
              </a:r>
            </a:p>
          </p:txBody>
        </p:sp>
        <p:sp>
          <p:nvSpPr>
            <p:cNvPr id="44" name="Rectangle 143">
              <a:extLst>
                <a:ext uri="{FF2B5EF4-FFF2-40B4-BE49-F238E27FC236}">
                  <a16:creationId xmlns:a16="http://schemas.microsoft.com/office/drawing/2014/main" xmlns="" id="{065A31D8-3C60-FA01-2A1E-092BA40CA313}"/>
                </a:ext>
              </a:extLst>
            </p:cNvPr>
            <p:cNvSpPr>
              <a:spLocks noChangeArrowheads="1"/>
            </p:cNvSpPr>
            <p:nvPr/>
          </p:nvSpPr>
          <p:spPr bwMode="auto">
            <a:xfrm>
              <a:off x="2528" y="1045"/>
              <a:ext cx="67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pPr fontAlgn="t">
                <a:spcBef>
                  <a:spcPct val="50000"/>
                </a:spcBef>
                <a:buFontTx/>
                <a:buNone/>
              </a:pPr>
              <a:r>
                <a:rPr lang="en-US" altLang="zh-CN" sz="2800" i="1">
                  <a:solidFill>
                    <a:srgbClr val="CC66FF"/>
                  </a:solidFill>
                </a:rPr>
                <a:t>u</a:t>
              </a:r>
              <a:r>
                <a:rPr lang="en-US" altLang="zh-CN" sz="2800" baseline="-56000">
                  <a:solidFill>
                    <a:srgbClr val="CC66FF"/>
                  </a:solidFill>
                </a:rPr>
                <a:t>bemax</a:t>
              </a:r>
            </a:p>
          </p:txBody>
        </p:sp>
        <p:sp>
          <p:nvSpPr>
            <p:cNvPr id="45" name="Rectangle 144">
              <a:extLst>
                <a:ext uri="{FF2B5EF4-FFF2-40B4-BE49-F238E27FC236}">
                  <a16:creationId xmlns:a16="http://schemas.microsoft.com/office/drawing/2014/main" xmlns="" id="{4C3E9204-2664-979E-1599-2D36DCC6DF60}"/>
                </a:ext>
              </a:extLst>
            </p:cNvPr>
            <p:cNvSpPr>
              <a:spLocks noChangeArrowheads="1"/>
            </p:cNvSpPr>
            <p:nvPr/>
          </p:nvSpPr>
          <p:spPr bwMode="auto">
            <a:xfrm>
              <a:off x="2520" y="1269"/>
              <a:ext cx="46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pPr fontAlgn="t">
                <a:spcBef>
                  <a:spcPct val="50000"/>
                </a:spcBef>
                <a:buFontTx/>
                <a:buNone/>
              </a:pPr>
              <a:r>
                <a:rPr lang="en-US" altLang="zh-CN" sz="2800" i="1">
                  <a:solidFill>
                    <a:srgbClr val="CC66FF"/>
                  </a:solidFill>
                </a:rPr>
                <a:t>u</a:t>
              </a:r>
              <a:r>
                <a:rPr lang="en-US" altLang="zh-CN" sz="2800" baseline="-56000">
                  <a:solidFill>
                    <a:srgbClr val="CC66FF"/>
                  </a:solidFill>
                </a:rPr>
                <a:t>be4</a:t>
              </a:r>
            </a:p>
          </p:txBody>
        </p:sp>
        <p:sp>
          <p:nvSpPr>
            <p:cNvPr id="46" name="Rectangle 145">
              <a:extLst>
                <a:ext uri="{FF2B5EF4-FFF2-40B4-BE49-F238E27FC236}">
                  <a16:creationId xmlns:a16="http://schemas.microsoft.com/office/drawing/2014/main" xmlns="" id="{B5E6C59E-2D78-1C17-CFCD-E36699A6FFD2}"/>
                </a:ext>
              </a:extLst>
            </p:cNvPr>
            <p:cNvSpPr>
              <a:spLocks noChangeArrowheads="1"/>
            </p:cNvSpPr>
            <p:nvPr/>
          </p:nvSpPr>
          <p:spPr bwMode="auto">
            <a:xfrm>
              <a:off x="2512" y="1501"/>
              <a:ext cx="46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pPr fontAlgn="t">
                <a:spcBef>
                  <a:spcPct val="50000"/>
                </a:spcBef>
                <a:buFontTx/>
                <a:buNone/>
              </a:pPr>
              <a:r>
                <a:rPr lang="en-US" altLang="zh-CN" sz="2800" i="1">
                  <a:solidFill>
                    <a:srgbClr val="CC66FF"/>
                  </a:solidFill>
                </a:rPr>
                <a:t>u</a:t>
              </a:r>
              <a:r>
                <a:rPr lang="en-US" altLang="zh-CN" sz="2800" baseline="-56000">
                  <a:solidFill>
                    <a:srgbClr val="CC66FF"/>
                  </a:solidFill>
                </a:rPr>
                <a:t>be3</a:t>
              </a:r>
            </a:p>
          </p:txBody>
        </p:sp>
        <p:sp>
          <p:nvSpPr>
            <p:cNvPr id="47" name="Rectangle 146">
              <a:extLst>
                <a:ext uri="{FF2B5EF4-FFF2-40B4-BE49-F238E27FC236}">
                  <a16:creationId xmlns:a16="http://schemas.microsoft.com/office/drawing/2014/main" xmlns="" id="{86D3B06C-1876-B821-1A12-0F696852F96A}"/>
                </a:ext>
              </a:extLst>
            </p:cNvPr>
            <p:cNvSpPr>
              <a:spLocks noChangeArrowheads="1"/>
            </p:cNvSpPr>
            <p:nvPr/>
          </p:nvSpPr>
          <p:spPr bwMode="auto">
            <a:xfrm>
              <a:off x="2504" y="1717"/>
              <a:ext cx="46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pPr fontAlgn="t">
                <a:spcBef>
                  <a:spcPct val="50000"/>
                </a:spcBef>
                <a:buFontTx/>
                <a:buNone/>
              </a:pPr>
              <a:r>
                <a:rPr lang="en-US" altLang="zh-CN" sz="2800" i="1">
                  <a:solidFill>
                    <a:srgbClr val="CC66FF"/>
                  </a:solidFill>
                </a:rPr>
                <a:t>u</a:t>
              </a:r>
              <a:r>
                <a:rPr lang="en-US" altLang="zh-CN" sz="2800" baseline="-56000">
                  <a:solidFill>
                    <a:srgbClr val="CC66FF"/>
                  </a:solidFill>
                </a:rPr>
                <a:t>be2</a:t>
              </a:r>
            </a:p>
          </p:txBody>
        </p:sp>
        <p:sp>
          <p:nvSpPr>
            <p:cNvPr id="48" name="Rectangle 147">
              <a:extLst>
                <a:ext uri="{FF2B5EF4-FFF2-40B4-BE49-F238E27FC236}">
                  <a16:creationId xmlns:a16="http://schemas.microsoft.com/office/drawing/2014/main" xmlns="" id="{ADA5CFF4-C915-C0E6-1180-4357778A2910}"/>
                </a:ext>
              </a:extLst>
            </p:cNvPr>
            <p:cNvSpPr>
              <a:spLocks noChangeArrowheads="1"/>
            </p:cNvSpPr>
            <p:nvPr/>
          </p:nvSpPr>
          <p:spPr bwMode="auto">
            <a:xfrm>
              <a:off x="2496" y="1925"/>
              <a:ext cx="46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pPr fontAlgn="t">
                <a:spcBef>
                  <a:spcPct val="50000"/>
                </a:spcBef>
                <a:buFontTx/>
                <a:buNone/>
              </a:pPr>
              <a:r>
                <a:rPr lang="en-US" altLang="zh-CN" sz="2800" i="1">
                  <a:solidFill>
                    <a:srgbClr val="CC66FF"/>
                  </a:solidFill>
                </a:rPr>
                <a:t>u</a:t>
              </a:r>
              <a:r>
                <a:rPr lang="en-US" altLang="zh-CN" sz="2800" baseline="-56000">
                  <a:solidFill>
                    <a:srgbClr val="CC66FF"/>
                  </a:solidFill>
                </a:rPr>
                <a:t>be1</a:t>
              </a:r>
            </a:p>
          </p:txBody>
        </p:sp>
      </p:grpSp>
      <p:sp>
        <p:nvSpPr>
          <p:cNvPr id="72" name="Rectangle 84">
            <a:extLst>
              <a:ext uri="{FF2B5EF4-FFF2-40B4-BE49-F238E27FC236}">
                <a16:creationId xmlns:a16="http://schemas.microsoft.com/office/drawing/2014/main" xmlns="" id="{C90D04E9-BE59-144D-076A-EA690DA72E19}"/>
              </a:ext>
            </a:extLst>
          </p:cNvPr>
          <p:cNvSpPr>
            <a:spLocks noChangeArrowheads="1"/>
          </p:cNvSpPr>
          <p:nvPr/>
        </p:nvSpPr>
        <p:spPr bwMode="auto">
          <a:xfrm>
            <a:off x="711304" y="5399660"/>
            <a:ext cx="28559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buFontTx/>
              <a:buNone/>
            </a:pPr>
            <a:r>
              <a:rPr lang="zh-CN" altLang="en-US" sz="2000" dirty="0">
                <a:solidFill>
                  <a:srgbClr val="FF3300"/>
                </a:solidFill>
              </a:rPr>
              <a:t>则</a:t>
            </a:r>
            <a:r>
              <a:rPr lang="en-US" altLang="zh-CN" sz="2000" dirty="0">
                <a:solidFill>
                  <a:srgbClr val="FF3300"/>
                </a:solidFill>
              </a:rPr>
              <a:t>AB-BC</a:t>
            </a:r>
            <a:r>
              <a:rPr lang="zh-CN" altLang="en-US" sz="2000" dirty="0">
                <a:solidFill>
                  <a:srgbClr val="FF3300"/>
                </a:solidFill>
              </a:rPr>
              <a:t>为总动态特性 </a:t>
            </a:r>
          </a:p>
        </p:txBody>
      </p:sp>
    </p:spTree>
    <p:extLst>
      <p:ext uri="{BB962C8B-B14F-4D97-AF65-F5344CB8AC3E}">
        <p14:creationId xmlns:p14="http://schemas.microsoft.com/office/powerpoint/2010/main" val="1709032457"/>
      </p:ext>
    </p:extLst>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123</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4.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谐振</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功率</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放大器</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Rectangle 89">
            <a:extLst>
              <a:ext uri="{FF2B5EF4-FFF2-40B4-BE49-F238E27FC236}">
                <a16:creationId xmlns:a16="http://schemas.microsoft.com/office/drawing/2014/main" xmlns="" id="{F5452480-65A3-4CEB-3606-1722BA99BB4E}"/>
              </a:ext>
            </a:extLst>
          </p:cNvPr>
          <p:cNvSpPr>
            <a:spLocks noChangeArrowheads="1"/>
          </p:cNvSpPr>
          <p:nvPr/>
        </p:nvSpPr>
        <p:spPr bwMode="auto">
          <a:xfrm>
            <a:off x="263319" y="2896810"/>
            <a:ext cx="160492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nchor="ctr">
            <a:spAutoFit/>
          </a:bodyPr>
          <a:lstStyle/>
          <a:p>
            <a:pPr>
              <a:buFontTx/>
              <a:buNone/>
            </a:pPr>
            <a:r>
              <a:rPr lang="zh-CN" altLang="en-US" sz="2000" dirty="0">
                <a:solidFill>
                  <a:schemeClr val="accent2"/>
                </a:solidFill>
                <a:latin typeface="+mn-ea"/>
                <a:ea typeface="+mn-ea"/>
              </a:rPr>
              <a:t>欠压状态： </a:t>
            </a:r>
          </a:p>
        </p:txBody>
      </p:sp>
      <p:grpSp>
        <p:nvGrpSpPr>
          <p:cNvPr id="6" name="Group 91">
            <a:extLst>
              <a:ext uri="{FF2B5EF4-FFF2-40B4-BE49-F238E27FC236}">
                <a16:creationId xmlns:a16="http://schemas.microsoft.com/office/drawing/2014/main" xmlns="" id="{F2AFE66C-CD66-9ECB-24BB-8A4619CF0B4C}"/>
              </a:ext>
            </a:extLst>
          </p:cNvPr>
          <p:cNvGrpSpPr>
            <a:grpSpLocks/>
          </p:cNvGrpSpPr>
          <p:nvPr/>
        </p:nvGrpSpPr>
        <p:grpSpPr bwMode="auto">
          <a:xfrm>
            <a:off x="1615596" y="2907848"/>
            <a:ext cx="3065462" cy="1058863"/>
            <a:chOff x="990" y="1703"/>
            <a:chExt cx="1931" cy="667"/>
          </a:xfrm>
        </p:grpSpPr>
        <p:sp>
          <p:nvSpPr>
            <p:cNvPr id="7" name="Rectangle 92">
              <a:extLst>
                <a:ext uri="{FF2B5EF4-FFF2-40B4-BE49-F238E27FC236}">
                  <a16:creationId xmlns:a16="http://schemas.microsoft.com/office/drawing/2014/main" xmlns="" id="{BEE133F7-EF05-59F8-4123-28A3A3BD5D12}"/>
                </a:ext>
              </a:extLst>
            </p:cNvPr>
            <p:cNvSpPr>
              <a:spLocks noChangeArrowheads="1"/>
            </p:cNvSpPr>
            <p:nvPr/>
          </p:nvSpPr>
          <p:spPr bwMode="auto">
            <a:xfrm>
              <a:off x="990" y="1730"/>
              <a:ext cx="1931" cy="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nchor="ctr">
              <a:spAutoFit/>
            </a:bodyPr>
            <a:lstStyle/>
            <a:p>
              <a:pPr>
                <a:buFontTx/>
                <a:buNone/>
              </a:pPr>
              <a:r>
                <a:rPr lang="en-US" altLang="zh-CN" sz="2000" dirty="0">
                  <a:solidFill>
                    <a:srgbClr val="000000"/>
                  </a:solidFill>
                  <a:latin typeface="+mn-ea"/>
                  <a:ea typeface="+mn-ea"/>
                </a:rPr>
                <a:t>A</a:t>
              </a:r>
              <a:r>
                <a:rPr lang="zh-CN" altLang="en-US" sz="2000" dirty="0">
                  <a:solidFill>
                    <a:srgbClr val="000000"/>
                  </a:solidFill>
                  <a:latin typeface="+mn-ea"/>
                  <a:ea typeface="+mn-ea"/>
                </a:rPr>
                <a:t>点在       线上，但是在放大区，输出电压幅度较小，</a:t>
              </a:r>
              <a:r>
                <a:rPr lang="en-US" altLang="zh-CN" sz="2000" i="1" dirty="0" err="1">
                  <a:solidFill>
                    <a:srgbClr val="000000"/>
                  </a:solidFill>
                  <a:latin typeface="+mn-ea"/>
                  <a:ea typeface="+mn-ea"/>
                </a:rPr>
                <a:t>i</a:t>
              </a:r>
              <a:r>
                <a:rPr lang="en-US" altLang="zh-CN" sz="2000" baseline="-25000" dirty="0" err="1">
                  <a:solidFill>
                    <a:srgbClr val="000000"/>
                  </a:solidFill>
                  <a:latin typeface="+mn-ea"/>
                  <a:ea typeface="+mn-ea"/>
                </a:rPr>
                <a:t>C</a:t>
              </a:r>
              <a:r>
                <a:rPr lang="zh-CN" altLang="en-US" sz="2000" dirty="0">
                  <a:solidFill>
                    <a:srgbClr val="000000"/>
                  </a:solidFill>
                  <a:latin typeface="+mn-ea"/>
                  <a:ea typeface="+mn-ea"/>
                </a:rPr>
                <a:t>为尖顶脉冲。 </a:t>
              </a:r>
            </a:p>
          </p:txBody>
        </p:sp>
        <p:graphicFrame>
          <p:nvGraphicFramePr>
            <p:cNvPr id="8" name="Object 93">
              <a:extLst>
                <a:ext uri="{FF2B5EF4-FFF2-40B4-BE49-F238E27FC236}">
                  <a16:creationId xmlns:a16="http://schemas.microsoft.com/office/drawing/2014/main" xmlns="" id="{B506B758-2975-3B0E-CDD4-CE60BCED2E38}"/>
                </a:ext>
              </a:extLst>
            </p:cNvPr>
            <p:cNvGraphicFramePr>
              <a:graphicFrameLocks noChangeAspect="1"/>
            </p:cNvGraphicFramePr>
            <p:nvPr>
              <p:extLst>
                <p:ext uri="{D42A27DB-BD31-4B8C-83A1-F6EECF244321}">
                  <p14:modId xmlns:p14="http://schemas.microsoft.com/office/powerpoint/2010/main" val="3159486355"/>
                </p:ext>
              </p:extLst>
            </p:nvPr>
          </p:nvGraphicFramePr>
          <p:xfrm>
            <a:off x="1482" y="1703"/>
            <a:ext cx="441" cy="274"/>
          </p:xfrm>
          <a:graphic>
            <a:graphicData uri="http://schemas.openxmlformats.org/presentationml/2006/ole">
              <mc:AlternateContent xmlns:mc="http://schemas.openxmlformats.org/markup-compatibility/2006">
                <mc:Choice xmlns:v="urn:schemas-microsoft-com:vml" Requires="v">
                  <p:oleObj spid="_x0000_s91258" r:id="rId3" imgW="368300" imgH="228600" progId="Equation.3">
                    <p:embed/>
                  </p:oleObj>
                </mc:Choice>
                <mc:Fallback>
                  <p:oleObj r:id="rId3" imgW="368300" imgH="2286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82" y="1703"/>
                          <a:ext cx="441"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
        <p:nvSpPr>
          <p:cNvPr id="9" name="Rectangle 94">
            <a:extLst>
              <a:ext uri="{FF2B5EF4-FFF2-40B4-BE49-F238E27FC236}">
                <a16:creationId xmlns:a16="http://schemas.microsoft.com/office/drawing/2014/main" xmlns="" id="{11A0B794-70DA-2AC8-D141-D0BF3038DD60}"/>
              </a:ext>
            </a:extLst>
          </p:cNvPr>
          <p:cNvSpPr>
            <a:spLocks noChangeArrowheads="1"/>
          </p:cNvSpPr>
          <p:nvPr/>
        </p:nvSpPr>
        <p:spPr bwMode="auto">
          <a:xfrm>
            <a:off x="133476" y="4008307"/>
            <a:ext cx="173477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nchor="ctr">
            <a:spAutoFit/>
          </a:bodyPr>
          <a:lstStyle/>
          <a:p>
            <a:pPr>
              <a:buFontTx/>
              <a:buNone/>
            </a:pPr>
            <a:r>
              <a:rPr lang="en-US" altLang="zh-CN" sz="2000" dirty="0">
                <a:solidFill>
                  <a:schemeClr val="accent2"/>
                </a:solidFill>
                <a:latin typeface="+mn-ea"/>
                <a:ea typeface="+mn-ea"/>
              </a:rPr>
              <a:t> </a:t>
            </a:r>
            <a:r>
              <a:rPr lang="zh-CN" altLang="en-US" sz="2000" dirty="0">
                <a:solidFill>
                  <a:schemeClr val="accent2"/>
                </a:solidFill>
                <a:latin typeface="+mn-ea"/>
                <a:ea typeface="+mn-ea"/>
              </a:rPr>
              <a:t>临界状态： </a:t>
            </a:r>
          </a:p>
        </p:txBody>
      </p:sp>
      <p:grpSp>
        <p:nvGrpSpPr>
          <p:cNvPr id="10" name="Group 96">
            <a:extLst>
              <a:ext uri="{FF2B5EF4-FFF2-40B4-BE49-F238E27FC236}">
                <a16:creationId xmlns:a16="http://schemas.microsoft.com/office/drawing/2014/main" xmlns="" id="{41278576-DB7E-3E2A-82F7-E09EA93D5658}"/>
              </a:ext>
            </a:extLst>
          </p:cNvPr>
          <p:cNvGrpSpPr>
            <a:grpSpLocks/>
          </p:cNvGrpSpPr>
          <p:nvPr/>
        </p:nvGrpSpPr>
        <p:grpSpPr bwMode="auto">
          <a:xfrm>
            <a:off x="1634049" y="3931276"/>
            <a:ext cx="2903538" cy="1392238"/>
            <a:chOff x="1027" y="2488"/>
            <a:chExt cx="1829" cy="877"/>
          </a:xfrm>
        </p:grpSpPr>
        <p:sp>
          <p:nvSpPr>
            <p:cNvPr id="11" name="Rectangle 97">
              <a:extLst>
                <a:ext uri="{FF2B5EF4-FFF2-40B4-BE49-F238E27FC236}">
                  <a16:creationId xmlns:a16="http://schemas.microsoft.com/office/drawing/2014/main" xmlns="" id="{6BF256DD-4BF7-0B4A-5B35-5D026AC67229}"/>
                </a:ext>
              </a:extLst>
            </p:cNvPr>
            <p:cNvSpPr>
              <a:spLocks noChangeArrowheads="1"/>
            </p:cNvSpPr>
            <p:nvPr/>
          </p:nvSpPr>
          <p:spPr bwMode="auto">
            <a:xfrm>
              <a:off x="1027" y="2539"/>
              <a:ext cx="1829" cy="8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nchor="ctr">
              <a:spAutoFit/>
            </a:bodyPr>
            <a:lstStyle/>
            <a:p>
              <a:pPr>
                <a:buFontTx/>
                <a:buNone/>
              </a:pPr>
              <a:r>
                <a:rPr lang="en-US" altLang="zh-CN" sz="2000" dirty="0">
                  <a:solidFill>
                    <a:srgbClr val="000000"/>
                  </a:solidFill>
                  <a:latin typeface="+mn-ea"/>
                  <a:ea typeface="+mn-ea"/>
                </a:rPr>
                <a:t>A</a:t>
              </a:r>
              <a:r>
                <a:rPr lang="zh-CN" altLang="en-US" sz="2000" dirty="0">
                  <a:solidFill>
                    <a:srgbClr val="000000"/>
                  </a:solidFill>
                  <a:latin typeface="+mn-ea"/>
                  <a:ea typeface="+mn-ea"/>
                </a:rPr>
                <a:t>点在      线和临界饱和线的交点上，输出电压幅度较大，</a:t>
              </a:r>
              <a:r>
                <a:rPr lang="en-US" altLang="zh-CN" sz="2000" i="1" dirty="0" err="1">
                  <a:solidFill>
                    <a:srgbClr val="000000"/>
                  </a:solidFill>
                  <a:latin typeface="+mn-ea"/>
                  <a:ea typeface="+mn-ea"/>
                </a:rPr>
                <a:t>i</a:t>
              </a:r>
              <a:r>
                <a:rPr lang="en-US" altLang="zh-CN" sz="2000" baseline="-25000" dirty="0" err="1">
                  <a:solidFill>
                    <a:srgbClr val="000000"/>
                  </a:solidFill>
                  <a:latin typeface="+mn-ea"/>
                  <a:ea typeface="+mn-ea"/>
                </a:rPr>
                <a:t>C</a:t>
              </a:r>
              <a:r>
                <a:rPr lang="zh-CN" altLang="en-US" sz="2000" dirty="0">
                  <a:solidFill>
                    <a:srgbClr val="000000"/>
                  </a:solidFill>
                  <a:latin typeface="+mn-ea"/>
                  <a:ea typeface="+mn-ea"/>
                </a:rPr>
                <a:t>为尖顶脉冲。 </a:t>
              </a:r>
            </a:p>
          </p:txBody>
        </p:sp>
        <p:graphicFrame>
          <p:nvGraphicFramePr>
            <p:cNvPr id="12" name="Object 98">
              <a:extLst>
                <a:ext uri="{FF2B5EF4-FFF2-40B4-BE49-F238E27FC236}">
                  <a16:creationId xmlns:a16="http://schemas.microsoft.com/office/drawing/2014/main" xmlns="" id="{A8BFCA1E-1AE1-0996-BF1B-4740129C5E9A}"/>
                </a:ext>
              </a:extLst>
            </p:cNvPr>
            <p:cNvGraphicFramePr>
              <a:graphicFrameLocks noChangeAspect="1"/>
            </p:cNvGraphicFramePr>
            <p:nvPr/>
          </p:nvGraphicFramePr>
          <p:xfrm>
            <a:off x="1535" y="2488"/>
            <a:ext cx="449" cy="278"/>
          </p:xfrm>
          <a:graphic>
            <a:graphicData uri="http://schemas.openxmlformats.org/presentationml/2006/ole">
              <mc:AlternateContent xmlns:mc="http://schemas.openxmlformats.org/markup-compatibility/2006">
                <mc:Choice xmlns:v="urn:schemas-microsoft-com:vml" Requires="v">
                  <p:oleObj spid="_x0000_s91259" r:id="rId5" imgW="368300" imgH="228600" progId="Equation.3">
                    <p:embed/>
                  </p:oleObj>
                </mc:Choice>
                <mc:Fallback>
                  <p:oleObj r:id="rId5" imgW="368300" imgH="2286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35" y="2488"/>
                          <a:ext cx="449"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
        <p:nvSpPr>
          <p:cNvPr id="13" name="Rectangle 99">
            <a:extLst>
              <a:ext uri="{FF2B5EF4-FFF2-40B4-BE49-F238E27FC236}">
                <a16:creationId xmlns:a16="http://schemas.microsoft.com/office/drawing/2014/main" xmlns="" id="{CBCB21E7-67EC-2565-2BD9-D06C30B23F8A}"/>
              </a:ext>
            </a:extLst>
          </p:cNvPr>
          <p:cNvSpPr>
            <a:spLocks noChangeArrowheads="1"/>
          </p:cNvSpPr>
          <p:nvPr/>
        </p:nvSpPr>
        <p:spPr bwMode="auto">
          <a:xfrm>
            <a:off x="263318" y="5546378"/>
            <a:ext cx="160492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nchor="ctr">
            <a:spAutoFit/>
          </a:bodyPr>
          <a:lstStyle/>
          <a:p>
            <a:pPr>
              <a:buFontTx/>
              <a:buNone/>
            </a:pPr>
            <a:r>
              <a:rPr lang="zh-CN" altLang="en-US" sz="2000">
                <a:solidFill>
                  <a:schemeClr val="accent2"/>
                </a:solidFill>
                <a:latin typeface="+mn-ea"/>
                <a:ea typeface="+mn-ea"/>
              </a:rPr>
              <a:t>过压状态： </a:t>
            </a:r>
          </a:p>
        </p:txBody>
      </p:sp>
      <p:grpSp>
        <p:nvGrpSpPr>
          <p:cNvPr id="14" name="Group 101">
            <a:extLst>
              <a:ext uri="{FF2B5EF4-FFF2-40B4-BE49-F238E27FC236}">
                <a16:creationId xmlns:a16="http://schemas.microsoft.com/office/drawing/2014/main" xmlns="" id="{156226CC-C49F-92F6-DD59-DB21B3056531}"/>
              </a:ext>
            </a:extLst>
          </p:cNvPr>
          <p:cNvGrpSpPr>
            <a:grpSpLocks/>
          </p:cNvGrpSpPr>
          <p:nvPr/>
        </p:nvGrpSpPr>
        <p:grpSpPr bwMode="auto">
          <a:xfrm>
            <a:off x="1636507" y="5441950"/>
            <a:ext cx="3198812" cy="1416050"/>
            <a:chOff x="1009" y="3432"/>
            <a:chExt cx="2015" cy="892"/>
          </a:xfrm>
        </p:grpSpPr>
        <p:sp>
          <p:nvSpPr>
            <p:cNvPr id="15" name="Rectangle 102">
              <a:extLst>
                <a:ext uri="{FF2B5EF4-FFF2-40B4-BE49-F238E27FC236}">
                  <a16:creationId xmlns:a16="http://schemas.microsoft.com/office/drawing/2014/main" xmlns="" id="{C4AC3DFD-5810-3154-1D94-44FA782F6272}"/>
                </a:ext>
              </a:extLst>
            </p:cNvPr>
            <p:cNvSpPr>
              <a:spLocks noChangeArrowheads="1"/>
            </p:cNvSpPr>
            <p:nvPr/>
          </p:nvSpPr>
          <p:spPr bwMode="auto">
            <a:xfrm>
              <a:off x="1009" y="3490"/>
              <a:ext cx="2015" cy="8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nchor="ctr">
              <a:spAutoFit/>
            </a:bodyPr>
            <a:lstStyle/>
            <a:p>
              <a:pPr>
                <a:buFontTx/>
                <a:buNone/>
              </a:pPr>
              <a:r>
                <a:rPr lang="en-US" altLang="zh-CN" sz="2000" dirty="0">
                  <a:solidFill>
                    <a:srgbClr val="000000"/>
                  </a:solidFill>
                  <a:latin typeface="+mn-ea"/>
                  <a:ea typeface="+mn-ea"/>
                </a:rPr>
                <a:t>A</a:t>
              </a:r>
              <a:r>
                <a:rPr lang="zh-CN" altLang="en-US" sz="2000" dirty="0">
                  <a:solidFill>
                    <a:srgbClr val="000000"/>
                  </a:solidFill>
                  <a:latin typeface="+mn-ea"/>
                  <a:ea typeface="+mn-ea"/>
                </a:rPr>
                <a:t>点在       的延长线上（实际上是不存在），进入晶体管饱和区，输出电压幅度大，</a:t>
              </a:r>
              <a:r>
                <a:rPr lang="en-US" altLang="zh-CN" sz="2000" i="1" dirty="0" err="1">
                  <a:solidFill>
                    <a:srgbClr val="000000"/>
                  </a:solidFill>
                  <a:latin typeface="+mn-ea"/>
                  <a:ea typeface="+mn-ea"/>
                </a:rPr>
                <a:t>i</a:t>
              </a:r>
              <a:r>
                <a:rPr lang="en-US" altLang="zh-CN" sz="2000" baseline="-25000" dirty="0" err="1">
                  <a:solidFill>
                    <a:srgbClr val="000000"/>
                  </a:solidFill>
                  <a:latin typeface="+mn-ea"/>
                  <a:ea typeface="+mn-ea"/>
                </a:rPr>
                <a:t>C</a:t>
              </a:r>
              <a:r>
                <a:rPr lang="zh-CN" altLang="en-US" sz="2000" dirty="0">
                  <a:solidFill>
                    <a:srgbClr val="000000"/>
                  </a:solidFill>
                  <a:latin typeface="+mn-ea"/>
                  <a:ea typeface="+mn-ea"/>
                </a:rPr>
                <a:t>为凹顶脉冲 </a:t>
              </a:r>
            </a:p>
          </p:txBody>
        </p:sp>
        <p:graphicFrame>
          <p:nvGraphicFramePr>
            <p:cNvPr id="16" name="Object 103">
              <a:extLst>
                <a:ext uri="{FF2B5EF4-FFF2-40B4-BE49-F238E27FC236}">
                  <a16:creationId xmlns:a16="http://schemas.microsoft.com/office/drawing/2014/main" xmlns="" id="{30B42201-DD1F-AB48-71AB-4DCB39168BE1}"/>
                </a:ext>
              </a:extLst>
            </p:cNvPr>
            <p:cNvGraphicFramePr>
              <a:graphicFrameLocks noChangeAspect="1"/>
            </p:cNvGraphicFramePr>
            <p:nvPr/>
          </p:nvGraphicFramePr>
          <p:xfrm>
            <a:off x="1544" y="3432"/>
            <a:ext cx="479" cy="298"/>
          </p:xfrm>
          <a:graphic>
            <a:graphicData uri="http://schemas.openxmlformats.org/presentationml/2006/ole">
              <mc:AlternateContent xmlns:mc="http://schemas.openxmlformats.org/markup-compatibility/2006">
                <mc:Choice xmlns:v="urn:schemas-microsoft-com:vml" Requires="v">
                  <p:oleObj spid="_x0000_s91260" r:id="rId7" imgW="368300" imgH="228600" progId="Equation.3">
                    <p:embed/>
                  </p:oleObj>
                </mc:Choice>
                <mc:Fallback>
                  <p:oleObj r:id="rId7" imgW="368300" imgH="2286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44" y="3432"/>
                          <a:ext cx="479"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pic>
        <p:nvPicPr>
          <p:cNvPr id="17" name="图片 16">
            <a:extLst>
              <a:ext uri="{FF2B5EF4-FFF2-40B4-BE49-F238E27FC236}">
                <a16:creationId xmlns:a16="http://schemas.microsoft.com/office/drawing/2014/main" xmlns="" id="{41BB7E01-93C1-CC43-8F7C-42CA0807C325}"/>
              </a:ext>
            </a:extLst>
          </p:cNvPr>
          <p:cNvPicPr>
            <a:picLocks noChangeAspect="1"/>
          </p:cNvPicPr>
          <p:nvPr/>
        </p:nvPicPr>
        <p:blipFill>
          <a:blip r:embed="rId9"/>
          <a:stretch>
            <a:fillRect/>
          </a:stretch>
        </p:blipFill>
        <p:spPr>
          <a:xfrm>
            <a:off x="2540399" y="1071846"/>
            <a:ext cx="6572058" cy="5169856"/>
          </a:xfrm>
          <a:prstGeom prst="rect">
            <a:avLst/>
          </a:prstGeom>
        </p:spPr>
      </p:pic>
      <p:sp>
        <p:nvSpPr>
          <p:cNvPr id="18" name="Rectangle 7">
            <a:extLst>
              <a:ext uri="{FF2B5EF4-FFF2-40B4-BE49-F238E27FC236}">
                <a16:creationId xmlns:a16="http://schemas.microsoft.com/office/drawing/2014/main" xmlns="" id="{7B39A916-1BFF-9F35-5B96-52AAC2656B5B}"/>
              </a:ext>
            </a:extLst>
          </p:cNvPr>
          <p:cNvSpPr>
            <a:spLocks noChangeArrowheads="1"/>
          </p:cNvSpPr>
          <p:nvPr/>
        </p:nvSpPr>
        <p:spPr bwMode="auto">
          <a:xfrm>
            <a:off x="31543" y="1799743"/>
            <a:ext cx="328327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buFontTx/>
              <a:buNone/>
            </a:pPr>
            <a:r>
              <a:rPr lang="en-US" altLang="zh-CN" sz="2000">
                <a:solidFill>
                  <a:srgbClr val="FF0000"/>
                </a:solidFill>
                <a:latin typeface="+mn-ea"/>
                <a:ea typeface="+mn-ea"/>
              </a:rPr>
              <a:t>5</a:t>
            </a:r>
            <a:r>
              <a:rPr lang="zh-CN" altLang="en-US" sz="2000">
                <a:solidFill>
                  <a:srgbClr val="FF0000"/>
                </a:solidFill>
                <a:latin typeface="+mn-ea"/>
                <a:ea typeface="+mn-ea"/>
              </a:rPr>
              <a:t>．高功放的三种工作状态 </a:t>
            </a:r>
          </a:p>
        </p:txBody>
      </p:sp>
    </p:spTree>
    <p:extLst>
      <p:ext uri="{BB962C8B-B14F-4D97-AF65-F5344CB8AC3E}">
        <p14:creationId xmlns:p14="http://schemas.microsoft.com/office/powerpoint/2010/main" val="674033983"/>
      </p:ext>
    </p:extLst>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124</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4.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谐振</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功率</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放大器</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5" name="图片 4">
            <a:extLst>
              <a:ext uri="{FF2B5EF4-FFF2-40B4-BE49-F238E27FC236}">
                <a16:creationId xmlns:a16="http://schemas.microsoft.com/office/drawing/2014/main" xmlns="" id="{98D00818-0F44-F6AE-27B3-A1E2F8369D51}"/>
              </a:ext>
            </a:extLst>
          </p:cNvPr>
          <p:cNvPicPr>
            <a:picLocks noChangeAspect="1"/>
          </p:cNvPicPr>
          <p:nvPr/>
        </p:nvPicPr>
        <p:blipFill>
          <a:blip r:embed="rId3"/>
          <a:stretch>
            <a:fillRect/>
          </a:stretch>
        </p:blipFill>
        <p:spPr>
          <a:xfrm>
            <a:off x="635970" y="1166626"/>
            <a:ext cx="7257972" cy="2632254"/>
          </a:xfrm>
          <a:prstGeom prst="rect">
            <a:avLst/>
          </a:prstGeom>
        </p:spPr>
      </p:pic>
      <p:graphicFrame>
        <p:nvGraphicFramePr>
          <p:cNvPr id="6" name="Object 74">
            <a:extLst>
              <a:ext uri="{FF2B5EF4-FFF2-40B4-BE49-F238E27FC236}">
                <a16:creationId xmlns:a16="http://schemas.microsoft.com/office/drawing/2014/main" xmlns="" id="{4D86EDBD-0B93-F4CB-27F3-E8B06763D69A}"/>
              </a:ext>
            </a:extLst>
          </p:cNvPr>
          <p:cNvGraphicFramePr>
            <a:graphicFrameLocks noChangeAspect="1"/>
          </p:cNvGraphicFramePr>
          <p:nvPr>
            <p:extLst>
              <p:ext uri="{D42A27DB-BD31-4B8C-83A1-F6EECF244321}">
                <p14:modId xmlns:p14="http://schemas.microsoft.com/office/powerpoint/2010/main" val="4277647959"/>
              </p:ext>
            </p:extLst>
          </p:nvPr>
        </p:nvGraphicFramePr>
        <p:xfrm>
          <a:off x="2241379" y="4049016"/>
          <a:ext cx="1439862" cy="1419225"/>
        </p:xfrm>
        <a:graphic>
          <a:graphicData uri="http://schemas.openxmlformats.org/presentationml/2006/ole">
            <mc:AlternateContent xmlns:mc="http://schemas.openxmlformats.org/markup-compatibility/2006">
              <mc:Choice xmlns:v="urn:schemas-microsoft-com:vml" Requires="v">
                <p:oleObj spid="_x0000_s92322" r:id="rId4" imgW="1180440" imgH="1155600" progId="Equation.3">
                  <p:embed/>
                </p:oleObj>
              </mc:Choice>
              <mc:Fallback>
                <p:oleObj r:id="rId4" imgW="1180440" imgH="1155600" progId="Equation.3">
                  <p:embed/>
                  <p:pic>
                    <p:nvPicPr>
                      <p:cNvPr id="0" name=""/>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41379" y="4049016"/>
                        <a:ext cx="1439862" cy="141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 name="Object 75">
            <a:extLst>
              <a:ext uri="{FF2B5EF4-FFF2-40B4-BE49-F238E27FC236}">
                <a16:creationId xmlns:a16="http://schemas.microsoft.com/office/drawing/2014/main" xmlns="" id="{5C55FDE1-777D-A6ED-EB82-8B79D8DE219D}"/>
              </a:ext>
            </a:extLst>
          </p:cNvPr>
          <p:cNvGraphicFramePr>
            <a:graphicFrameLocks noChangeAspect="1"/>
          </p:cNvGraphicFramePr>
          <p:nvPr>
            <p:extLst>
              <p:ext uri="{D42A27DB-BD31-4B8C-83A1-F6EECF244321}">
                <p14:modId xmlns:p14="http://schemas.microsoft.com/office/powerpoint/2010/main" val="1096649941"/>
              </p:ext>
            </p:extLst>
          </p:nvPr>
        </p:nvGraphicFramePr>
        <p:xfrm>
          <a:off x="2268366" y="3671191"/>
          <a:ext cx="1336675" cy="385762"/>
        </p:xfrm>
        <a:graphic>
          <a:graphicData uri="http://schemas.openxmlformats.org/presentationml/2006/ole">
            <mc:AlternateContent xmlns:mc="http://schemas.openxmlformats.org/markup-compatibility/2006">
              <mc:Choice xmlns:v="urn:schemas-microsoft-com:vml" Requires="v">
                <p:oleObj spid="_x0000_s92323" r:id="rId6" imgW="990000" imgH="279360" progId="Equation.3">
                  <p:embed/>
                </p:oleObj>
              </mc:Choice>
              <mc:Fallback>
                <p:oleObj r:id="rId6" imgW="990000" imgH="279360" progId="Equation.3">
                  <p:embed/>
                  <p:pic>
                    <p:nvPicPr>
                      <p:cNvPr id="0" name=""/>
                      <p:cNvPicPr>
                        <a:picLocks noGrp="1"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68366" y="3671191"/>
                        <a:ext cx="1336675" cy="385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8" name="Group 76">
            <a:extLst>
              <a:ext uri="{FF2B5EF4-FFF2-40B4-BE49-F238E27FC236}">
                <a16:creationId xmlns:a16="http://schemas.microsoft.com/office/drawing/2014/main" xmlns="" id="{663EC16C-CE47-D99B-6A7A-02610169B73C}"/>
              </a:ext>
            </a:extLst>
          </p:cNvPr>
          <p:cNvGrpSpPr>
            <a:grpSpLocks/>
          </p:cNvGrpSpPr>
          <p:nvPr/>
        </p:nvGrpSpPr>
        <p:grpSpPr bwMode="auto">
          <a:xfrm>
            <a:off x="684908" y="4193448"/>
            <a:ext cx="1568450" cy="1219200"/>
            <a:chOff x="490" y="2776"/>
            <a:chExt cx="988" cy="768"/>
          </a:xfrm>
        </p:grpSpPr>
        <p:sp>
          <p:nvSpPr>
            <p:cNvPr id="9" name="Freeform 77">
              <a:extLst>
                <a:ext uri="{FF2B5EF4-FFF2-40B4-BE49-F238E27FC236}">
                  <a16:creationId xmlns:a16="http://schemas.microsoft.com/office/drawing/2014/main" xmlns="" id="{6020E20F-114F-BA63-0237-DEA3B4B597B5}"/>
                </a:ext>
              </a:extLst>
            </p:cNvPr>
            <p:cNvSpPr>
              <a:spLocks noChangeArrowheads="1"/>
            </p:cNvSpPr>
            <p:nvPr/>
          </p:nvSpPr>
          <p:spPr bwMode="auto">
            <a:xfrm flipH="1" flipV="1">
              <a:off x="490" y="2776"/>
              <a:ext cx="988" cy="768"/>
            </a:xfrm>
            <a:custGeom>
              <a:avLst/>
              <a:gdLst>
                <a:gd name="T0" fmla="*/ 0 w 1020"/>
                <a:gd name="T1" fmla="*/ 0 h 516"/>
                <a:gd name="T2" fmla="*/ 432 w 1020"/>
                <a:gd name="T3" fmla="*/ 48 h 516"/>
                <a:gd name="T4" fmla="*/ 752 w 1020"/>
                <a:gd name="T5" fmla="*/ 180 h 516"/>
                <a:gd name="T6" fmla="*/ 1020 w 1020"/>
                <a:gd name="T7" fmla="*/ 516 h 516"/>
              </a:gdLst>
              <a:ahLst/>
              <a:cxnLst>
                <a:cxn ang="0">
                  <a:pos x="T0" y="T1"/>
                </a:cxn>
                <a:cxn ang="0">
                  <a:pos x="T2" y="T3"/>
                </a:cxn>
                <a:cxn ang="0">
                  <a:pos x="T4" y="T5"/>
                </a:cxn>
                <a:cxn ang="0">
                  <a:pos x="T6" y="T7"/>
                </a:cxn>
              </a:cxnLst>
              <a:rect l="0" t="0" r="r" b="b"/>
              <a:pathLst>
                <a:path w="1020" h="516">
                  <a:moveTo>
                    <a:pt x="0" y="0"/>
                  </a:moveTo>
                  <a:cubicBezTo>
                    <a:pt x="72" y="8"/>
                    <a:pt x="307" y="18"/>
                    <a:pt x="432" y="48"/>
                  </a:cubicBezTo>
                  <a:cubicBezTo>
                    <a:pt x="557" y="78"/>
                    <a:pt x="654" y="102"/>
                    <a:pt x="752" y="180"/>
                  </a:cubicBezTo>
                  <a:cubicBezTo>
                    <a:pt x="850" y="258"/>
                    <a:pt x="938" y="386"/>
                    <a:pt x="1020" y="516"/>
                  </a:cubicBezTo>
                </a:path>
              </a:pathLst>
            </a:custGeom>
            <a:noFill/>
            <a:ln w="38100">
              <a:solidFill>
                <a:srgbClr val="9966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 name="Text Box 78">
              <a:extLst>
                <a:ext uri="{FF2B5EF4-FFF2-40B4-BE49-F238E27FC236}">
                  <a16:creationId xmlns:a16="http://schemas.microsoft.com/office/drawing/2014/main" xmlns="" id="{AC59A199-35FA-B08C-0A8D-C2613FC37F2F}"/>
                </a:ext>
              </a:extLst>
            </p:cNvPr>
            <p:cNvSpPr txBox="1">
              <a:spLocks noChangeArrowheads="1"/>
            </p:cNvSpPr>
            <p:nvPr/>
          </p:nvSpPr>
          <p:spPr bwMode="auto">
            <a:xfrm>
              <a:off x="870" y="3222"/>
              <a:ext cx="47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buFontTx/>
                <a:buNone/>
              </a:pPr>
              <a:r>
                <a:rPr lang="en-US" altLang="zh-CN" sz="2000" i="1">
                  <a:solidFill>
                    <a:srgbClr val="996600"/>
                  </a:solidFill>
                </a:rPr>
                <a:t>P</a:t>
              </a:r>
              <a:r>
                <a:rPr lang="en-US" altLang="zh-CN" sz="2000" baseline="-25000">
                  <a:solidFill>
                    <a:srgbClr val="996600"/>
                  </a:solidFill>
                </a:rPr>
                <a:t>c</a:t>
              </a:r>
            </a:p>
          </p:txBody>
        </p:sp>
      </p:grpSp>
      <p:grpSp>
        <p:nvGrpSpPr>
          <p:cNvPr id="11" name="Group 79">
            <a:extLst>
              <a:ext uri="{FF2B5EF4-FFF2-40B4-BE49-F238E27FC236}">
                <a16:creationId xmlns:a16="http://schemas.microsoft.com/office/drawing/2014/main" xmlns="" id="{FD909249-4B82-3AFF-C36E-56F3487F73E3}"/>
              </a:ext>
            </a:extLst>
          </p:cNvPr>
          <p:cNvGrpSpPr>
            <a:grpSpLocks/>
          </p:cNvGrpSpPr>
          <p:nvPr/>
        </p:nvGrpSpPr>
        <p:grpSpPr bwMode="auto">
          <a:xfrm>
            <a:off x="675383" y="4353785"/>
            <a:ext cx="1625600" cy="1065213"/>
            <a:chOff x="484" y="2909"/>
            <a:chExt cx="1024" cy="671"/>
          </a:xfrm>
        </p:grpSpPr>
        <p:sp>
          <p:nvSpPr>
            <p:cNvPr id="12" name="Text Box 80">
              <a:extLst>
                <a:ext uri="{FF2B5EF4-FFF2-40B4-BE49-F238E27FC236}">
                  <a16:creationId xmlns:a16="http://schemas.microsoft.com/office/drawing/2014/main" xmlns="" id="{500770A4-20E6-B279-89A3-2F522F85FCBE}"/>
                </a:ext>
              </a:extLst>
            </p:cNvPr>
            <p:cNvSpPr txBox="1">
              <a:spLocks noChangeArrowheads="1"/>
            </p:cNvSpPr>
            <p:nvPr/>
          </p:nvSpPr>
          <p:spPr bwMode="auto">
            <a:xfrm>
              <a:off x="949" y="2909"/>
              <a:ext cx="25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buFontTx/>
                <a:buNone/>
              </a:pPr>
              <a:r>
                <a:rPr lang="en-US" altLang="zh-CN" sz="1800" i="1">
                  <a:solidFill>
                    <a:srgbClr val="000000"/>
                  </a:solidFill>
                </a:rPr>
                <a:t>P</a:t>
              </a:r>
              <a:r>
                <a:rPr lang="en-US" altLang="zh-CN" sz="1800" baseline="-25000">
                  <a:solidFill>
                    <a:srgbClr val="000000"/>
                  </a:solidFill>
                </a:rPr>
                <a:t>o</a:t>
              </a:r>
              <a:endParaRPr lang="en-US" altLang="zh-CN" sz="1800">
                <a:solidFill>
                  <a:srgbClr val="000000"/>
                </a:solidFill>
              </a:endParaRPr>
            </a:p>
          </p:txBody>
        </p:sp>
        <p:sp>
          <p:nvSpPr>
            <p:cNvPr id="13" name="Freeform 81">
              <a:extLst>
                <a:ext uri="{FF2B5EF4-FFF2-40B4-BE49-F238E27FC236}">
                  <a16:creationId xmlns:a16="http://schemas.microsoft.com/office/drawing/2014/main" xmlns="" id="{F4CC179D-E82A-40F8-1B79-E7111F824184}"/>
                </a:ext>
              </a:extLst>
            </p:cNvPr>
            <p:cNvSpPr>
              <a:spLocks noChangeArrowheads="1"/>
            </p:cNvSpPr>
            <p:nvPr/>
          </p:nvSpPr>
          <p:spPr bwMode="auto">
            <a:xfrm>
              <a:off x="484" y="3110"/>
              <a:ext cx="1024" cy="470"/>
            </a:xfrm>
            <a:custGeom>
              <a:avLst/>
              <a:gdLst>
                <a:gd name="T0" fmla="*/ 0 w 1104"/>
                <a:gd name="T1" fmla="*/ 578 h 578"/>
                <a:gd name="T2" fmla="*/ 144 w 1104"/>
                <a:gd name="T3" fmla="*/ 422 h 578"/>
                <a:gd name="T4" fmla="*/ 624 w 1104"/>
                <a:gd name="T5" fmla="*/ 2 h 578"/>
                <a:gd name="T6" fmla="*/ 1104 w 1104"/>
                <a:gd name="T7" fmla="*/ 437 h 578"/>
              </a:gdLst>
              <a:ahLst/>
              <a:cxnLst>
                <a:cxn ang="0">
                  <a:pos x="T0" y="T1"/>
                </a:cxn>
                <a:cxn ang="0">
                  <a:pos x="T2" y="T3"/>
                </a:cxn>
                <a:cxn ang="0">
                  <a:pos x="T4" y="T5"/>
                </a:cxn>
                <a:cxn ang="0">
                  <a:pos x="T6" y="T7"/>
                </a:cxn>
              </a:cxnLst>
              <a:rect l="0" t="0" r="r" b="b"/>
              <a:pathLst>
                <a:path w="1104" h="578">
                  <a:moveTo>
                    <a:pt x="0" y="578"/>
                  </a:moveTo>
                  <a:cubicBezTo>
                    <a:pt x="24" y="552"/>
                    <a:pt x="40" y="518"/>
                    <a:pt x="144" y="422"/>
                  </a:cubicBezTo>
                  <a:cubicBezTo>
                    <a:pt x="248" y="326"/>
                    <a:pt x="464" y="0"/>
                    <a:pt x="624" y="2"/>
                  </a:cubicBezTo>
                  <a:cubicBezTo>
                    <a:pt x="784" y="4"/>
                    <a:pt x="1004" y="347"/>
                    <a:pt x="1104" y="437"/>
                  </a:cubicBezTo>
                </a:path>
              </a:pathLst>
            </a:custGeom>
            <a:noFill/>
            <a:ln w="38100">
              <a:solidFill>
                <a:srgbClr val="0033CC"/>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14" name="Group 82">
            <a:extLst>
              <a:ext uri="{FF2B5EF4-FFF2-40B4-BE49-F238E27FC236}">
                <a16:creationId xmlns:a16="http://schemas.microsoft.com/office/drawing/2014/main" xmlns="" id="{03DB7834-9762-5374-3319-A005D869F78B}"/>
              </a:ext>
            </a:extLst>
          </p:cNvPr>
          <p:cNvGrpSpPr>
            <a:grpSpLocks/>
          </p:cNvGrpSpPr>
          <p:nvPr/>
        </p:nvGrpSpPr>
        <p:grpSpPr bwMode="auto">
          <a:xfrm>
            <a:off x="653158" y="3733073"/>
            <a:ext cx="1558925" cy="1158875"/>
            <a:chOff x="470" y="2502"/>
            <a:chExt cx="982" cy="730"/>
          </a:xfrm>
        </p:grpSpPr>
        <p:sp>
          <p:nvSpPr>
            <p:cNvPr id="15" name="Freeform 83">
              <a:extLst>
                <a:ext uri="{FF2B5EF4-FFF2-40B4-BE49-F238E27FC236}">
                  <a16:creationId xmlns:a16="http://schemas.microsoft.com/office/drawing/2014/main" xmlns="" id="{9F469BA3-5919-B1AA-A098-6996E5111797}"/>
                </a:ext>
              </a:extLst>
            </p:cNvPr>
            <p:cNvSpPr>
              <a:spLocks noChangeArrowheads="1"/>
            </p:cNvSpPr>
            <p:nvPr/>
          </p:nvSpPr>
          <p:spPr bwMode="auto">
            <a:xfrm>
              <a:off x="480" y="2768"/>
              <a:ext cx="972" cy="464"/>
            </a:xfrm>
            <a:custGeom>
              <a:avLst/>
              <a:gdLst>
                <a:gd name="T0" fmla="*/ 0 w 1020"/>
                <a:gd name="T1" fmla="*/ 0 h 516"/>
                <a:gd name="T2" fmla="*/ 432 w 1020"/>
                <a:gd name="T3" fmla="*/ 48 h 516"/>
                <a:gd name="T4" fmla="*/ 752 w 1020"/>
                <a:gd name="T5" fmla="*/ 180 h 516"/>
                <a:gd name="T6" fmla="*/ 1020 w 1020"/>
                <a:gd name="T7" fmla="*/ 516 h 516"/>
              </a:gdLst>
              <a:ahLst/>
              <a:cxnLst>
                <a:cxn ang="0">
                  <a:pos x="T0" y="T1"/>
                </a:cxn>
                <a:cxn ang="0">
                  <a:pos x="T2" y="T3"/>
                </a:cxn>
                <a:cxn ang="0">
                  <a:pos x="T4" y="T5"/>
                </a:cxn>
                <a:cxn ang="0">
                  <a:pos x="T6" y="T7"/>
                </a:cxn>
              </a:cxnLst>
              <a:rect l="0" t="0" r="r" b="b"/>
              <a:pathLst>
                <a:path w="1020" h="516">
                  <a:moveTo>
                    <a:pt x="0" y="0"/>
                  </a:moveTo>
                  <a:cubicBezTo>
                    <a:pt x="72" y="8"/>
                    <a:pt x="307" y="18"/>
                    <a:pt x="432" y="48"/>
                  </a:cubicBezTo>
                  <a:cubicBezTo>
                    <a:pt x="557" y="78"/>
                    <a:pt x="654" y="102"/>
                    <a:pt x="752" y="180"/>
                  </a:cubicBezTo>
                  <a:cubicBezTo>
                    <a:pt x="850" y="258"/>
                    <a:pt x="938" y="386"/>
                    <a:pt x="1020" y="516"/>
                  </a:cubicBezTo>
                </a:path>
              </a:pathLst>
            </a:custGeom>
            <a:noFill/>
            <a:ln w="38100">
              <a:solidFill>
                <a:srgbClr val="FF0066"/>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6" name="Text Box 84">
              <a:extLst>
                <a:ext uri="{FF2B5EF4-FFF2-40B4-BE49-F238E27FC236}">
                  <a16:creationId xmlns:a16="http://schemas.microsoft.com/office/drawing/2014/main" xmlns="" id="{9DC9ACD5-4F00-9E9B-EA9F-35F561011301}"/>
                </a:ext>
              </a:extLst>
            </p:cNvPr>
            <p:cNvSpPr txBox="1">
              <a:spLocks noChangeArrowheads="1"/>
            </p:cNvSpPr>
            <p:nvPr/>
          </p:nvSpPr>
          <p:spPr bwMode="auto">
            <a:xfrm>
              <a:off x="470" y="2502"/>
              <a:ext cx="47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buFontTx/>
                <a:buNone/>
              </a:pPr>
              <a:r>
                <a:rPr lang="en-US" altLang="zh-CN" sz="2000" i="1">
                  <a:solidFill>
                    <a:srgbClr val="FF0066"/>
                  </a:solidFill>
                </a:rPr>
                <a:t>P</a:t>
              </a:r>
              <a:r>
                <a:rPr lang="en-US" altLang="zh-CN" sz="2000" baseline="-25000">
                  <a:solidFill>
                    <a:srgbClr val="FF0066"/>
                  </a:solidFill>
                </a:rPr>
                <a:t>=</a:t>
              </a:r>
            </a:p>
          </p:txBody>
        </p:sp>
      </p:grpSp>
      <p:grpSp>
        <p:nvGrpSpPr>
          <p:cNvPr id="17" name="Group 85">
            <a:extLst>
              <a:ext uri="{FF2B5EF4-FFF2-40B4-BE49-F238E27FC236}">
                <a16:creationId xmlns:a16="http://schemas.microsoft.com/office/drawing/2014/main" xmlns="" id="{E47ED8F6-A352-E378-855D-5933668A629B}"/>
              </a:ext>
            </a:extLst>
          </p:cNvPr>
          <p:cNvGrpSpPr>
            <a:grpSpLocks/>
          </p:cNvGrpSpPr>
          <p:nvPr/>
        </p:nvGrpSpPr>
        <p:grpSpPr bwMode="auto">
          <a:xfrm>
            <a:off x="675383" y="3272698"/>
            <a:ext cx="2003425" cy="2139950"/>
            <a:chOff x="484" y="2452"/>
            <a:chExt cx="1070" cy="1140"/>
          </a:xfrm>
        </p:grpSpPr>
        <p:sp>
          <p:nvSpPr>
            <p:cNvPr id="18" name="Freeform 86">
              <a:extLst>
                <a:ext uri="{FF2B5EF4-FFF2-40B4-BE49-F238E27FC236}">
                  <a16:creationId xmlns:a16="http://schemas.microsoft.com/office/drawing/2014/main" xmlns="" id="{937D5022-B38A-2263-5126-A9AC686B57EE}"/>
                </a:ext>
              </a:extLst>
            </p:cNvPr>
            <p:cNvSpPr>
              <a:spLocks noChangeArrowheads="1"/>
            </p:cNvSpPr>
            <p:nvPr/>
          </p:nvSpPr>
          <p:spPr bwMode="auto">
            <a:xfrm>
              <a:off x="484" y="2718"/>
              <a:ext cx="760" cy="874"/>
            </a:xfrm>
            <a:custGeom>
              <a:avLst/>
              <a:gdLst>
                <a:gd name="T0" fmla="*/ 0 w 1080"/>
                <a:gd name="T1" fmla="*/ 834 h 834"/>
                <a:gd name="T2" fmla="*/ 156 w 1080"/>
                <a:gd name="T3" fmla="*/ 510 h 834"/>
                <a:gd name="T4" fmla="*/ 516 w 1080"/>
                <a:gd name="T5" fmla="*/ 114 h 834"/>
                <a:gd name="T6" fmla="*/ 852 w 1080"/>
                <a:gd name="T7" fmla="*/ 6 h 834"/>
                <a:gd name="T8" fmla="*/ 1080 w 1080"/>
                <a:gd name="T9" fmla="*/ 78 h 834"/>
              </a:gdLst>
              <a:ahLst/>
              <a:cxnLst>
                <a:cxn ang="0">
                  <a:pos x="T0" y="T1"/>
                </a:cxn>
                <a:cxn ang="0">
                  <a:pos x="T2" y="T3"/>
                </a:cxn>
                <a:cxn ang="0">
                  <a:pos x="T4" y="T5"/>
                </a:cxn>
                <a:cxn ang="0">
                  <a:pos x="T6" y="T7"/>
                </a:cxn>
                <a:cxn ang="0">
                  <a:pos x="T8" y="T9"/>
                </a:cxn>
              </a:cxnLst>
              <a:rect l="0" t="0" r="r" b="b"/>
              <a:pathLst>
                <a:path w="1080" h="834">
                  <a:moveTo>
                    <a:pt x="0" y="834"/>
                  </a:moveTo>
                  <a:cubicBezTo>
                    <a:pt x="35" y="732"/>
                    <a:pt x="70" y="630"/>
                    <a:pt x="156" y="510"/>
                  </a:cubicBezTo>
                  <a:cubicBezTo>
                    <a:pt x="242" y="390"/>
                    <a:pt x="400" y="198"/>
                    <a:pt x="516" y="114"/>
                  </a:cubicBezTo>
                  <a:cubicBezTo>
                    <a:pt x="632" y="30"/>
                    <a:pt x="758" y="12"/>
                    <a:pt x="852" y="6"/>
                  </a:cubicBezTo>
                  <a:cubicBezTo>
                    <a:pt x="946" y="0"/>
                    <a:pt x="1033" y="63"/>
                    <a:pt x="1080" y="78"/>
                  </a:cubicBezTo>
                </a:path>
              </a:pathLst>
            </a:cu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 name="Rectangle 87">
              <a:extLst>
                <a:ext uri="{FF2B5EF4-FFF2-40B4-BE49-F238E27FC236}">
                  <a16:creationId xmlns:a16="http://schemas.microsoft.com/office/drawing/2014/main" xmlns="" id="{6B202BFC-32C1-4953-2A30-B65BD3D51971}"/>
                </a:ext>
              </a:extLst>
            </p:cNvPr>
            <p:cNvSpPr>
              <a:spLocks noChangeArrowheads="1"/>
            </p:cNvSpPr>
            <p:nvPr/>
          </p:nvSpPr>
          <p:spPr bwMode="auto">
            <a:xfrm flipH="1">
              <a:off x="1042" y="2452"/>
              <a:ext cx="512"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buFontTx/>
                <a:buNone/>
              </a:pPr>
              <a:r>
                <a:rPr lang="en-US" altLang="zh-CN" i="1">
                  <a:solidFill>
                    <a:srgbClr val="000000"/>
                  </a:solidFill>
                  <a:sym typeface="Symbol" panose="05050102010706020507" pitchFamily="18" charset="2"/>
                </a:rPr>
                <a:t></a:t>
              </a:r>
              <a:r>
                <a:rPr lang="en-US" altLang="zh-CN" baseline="-25000">
                  <a:solidFill>
                    <a:srgbClr val="000000"/>
                  </a:solidFill>
                  <a:sym typeface="Symbol" panose="05050102010706020507" pitchFamily="18" charset="2"/>
                </a:rPr>
                <a:t>c</a:t>
              </a:r>
            </a:p>
          </p:txBody>
        </p:sp>
      </p:grpSp>
      <p:graphicFrame>
        <p:nvGraphicFramePr>
          <p:cNvPr id="20" name="Object 88">
            <a:extLst>
              <a:ext uri="{FF2B5EF4-FFF2-40B4-BE49-F238E27FC236}">
                <a16:creationId xmlns:a16="http://schemas.microsoft.com/office/drawing/2014/main" xmlns="" id="{426FA2E3-98E6-726A-CCD2-34F3CF7DCD93}"/>
              </a:ext>
            </a:extLst>
          </p:cNvPr>
          <p:cNvGraphicFramePr>
            <a:graphicFrameLocks noChangeAspect="1"/>
          </p:cNvGraphicFramePr>
          <p:nvPr>
            <p:extLst>
              <p:ext uri="{D42A27DB-BD31-4B8C-83A1-F6EECF244321}">
                <p14:modId xmlns:p14="http://schemas.microsoft.com/office/powerpoint/2010/main" val="2559836963"/>
              </p:ext>
            </p:extLst>
          </p:nvPr>
        </p:nvGraphicFramePr>
        <p:xfrm>
          <a:off x="335658" y="5887310"/>
          <a:ext cx="1247775" cy="387350"/>
        </p:xfrm>
        <a:graphic>
          <a:graphicData uri="http://schemas.openxmlformats.org/presentationml/2006/ole">
            <mc:AlternateContent xmlns:mc="http://schemas.openxmlformats.org/markup-compatibility/2006">
              <mc:Choice xmlns:v="urn:schemas-microsoft-com:vml" Requires="v">
                <p:oleObj spid="_x0000_s92324" r:id="rId8" imgW="952200" imgH="279360" progId="Equation.3">
                  <p:embed/>
                </p:oleObj>
              </mc:Choice>
              <mc:Fallback>
                <p:oleObj r:id="rId8" imgW="952200" imgH="279360" progId="Equation.3">
                  <p:embed/>
                  <p:pic>
                    <p:nvPicPr>
                      <p:cNvPr id="0" name=""/>
                      <p:cNvPicPr>
                        <a:picLocks noGrp="1"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35658" y="5887310"/>
                        <a:ext cx="1247775"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1" name="Object 89">
            <a:extLst>
              <a:ext uri="{FF2B5EF4-FFF2-40B4-BE49-F238E27FC236}">
                <a16:creationId xmlns:a16="http://schemas.microsoft.com/office/drawing/2014/main" xmlns="" id="{618903D6-D96A-BB7C-78E0-FE9C741F930E}"/>
              </a:ext>
            </a:extLst>
          </p:cNvPr>
          <p:cNvGraphicFramePr>
            <a:graphicFrameLocks noChangeAspect="1"/>
          </p:cNvGraphicFramePr>
          <p:nvPr>
            <p:extLst>
              <p:ext uri="{D42A27DB-BD31-4B8C-83A1-F6EECF244321}">
                <p14:modId xmlns:p14="http://schemas.microsoft.com/office/powerpoint/2010/main" val="3794278798"/>
              </p:ext>
            </p:extLst>
          </p:nvPr>
        </p:nvGraphicFramePr>
        <p:xfrm>
          <a:off x="1894583" y="5833335"/>
          <a:ext cx="1401763" cy="458788"/>
        </p:xfrm>
        <a:graphic>
          <a:graphicData uri="http://schemas.openxmlformats.org/presentationml/2006/ole">
            <mc:AlternateContent xmlns:mc="http://schemas.openxmlformats.org/markup-compatibility/2006">
              <mc:Choice xmlns:v="urn:schemas-microsoft-com:vml" Requires="v">
                <p:oleObj spid="_x0000_s92325" r:id="rId10" imgW="901080" imgH="279360" progId="Equation.3">
                  <p:embed/>
                </p:oleObj>
              </mc:Choice>
              <mc:Fallback>
                <p:oleObj r:id="rId10" imgW="901080" imgH="27936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894583" y="5833335"/>
                        <a:ext cx="1401763"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22" name="Group 97">
            <a:extLst>
              <a:ext uri="{FF2B5EF4-FFF2-40B4-BE49-F238E27FC236}">
                <a16:creationId xmlns:a16="http://schemas.microsoft.com/office/drawing/2014/main" xmlns="" id="{1382E1EB-FE9D-312F-C972-42AD7635311C}"/>
              </a:ext>
            </a:extLst>
          </p:cNvPr>
          <p:cNvGrpSpPr>
            <a:grpSpLocks/>
          </p:cNvGrpSpPr>
          <p:nvPr/>
        </p:nvGrpSpPr>
        <p:grpSpPr bwMode="auto">
          <a:xfrm>
            <a:off x="481708" y="3728310"/>
            <a:ext cx="2379663" cy="2085975"/>
            <a:chOff x="362" y="2499"/>
            <a:chExt cx="1499" cy="1314"/>
          </a:xfrm>
        </p:grpSpPr>
        <p:grpSp>
          <p:nvGrpSpPr>
            <p:cNvPr id="23" name="Group 98">
              <a:extLst>
                <a:ext uri="{FF2B5EF4-FFF2-40B4-BE49-F238E27FC236}">
                  <a16:creationId xmlns:a16="http://schemas.microsoft.com/office/drawing/2014/main" xmlns="" id="{E571AE9B-9EF5-4729-E2F2-9F1C7BAA6482}"/>
                </a:ext>
              </a:extLst>
            </p:cNvPr>
            <p:cNvGrpSpPr>
              <a:grpSpLocks/>
            </p:cNvGrpSpPr>
            <p:nvPr/>
          </p:nvGrpSpPr>
          <p:grpSpPr bwMode="auto">
            <a:xfrm>
              <a:off x="482" y="2579"/>
              <a:ext cx="1379" cy="1162"/>
              <a:chOff x="409" y="866"/>
              <a:chExt cx="1379" cy="1162"/>
            </a:xfrm>
          </p:grpSpPr>
          <p:sp>
            <p:nvSpPr>
              <p:cNvPr id="28" name="Line 99">
                <a:extLst>
                  <a:ext uri="{FF2B5EF4-FFF2-40B4-BE49-F238E27FC236}">
                    <a16:creationId xmlns:a16="http://schemas.microsoft.com/office/drawing/2014/main" xmlns="" id="{E34A925E-8256-EB33-899A-3884E31C42F7}"/>
                  </a:ext>
                </a:extLst>
              </p:cNvPr>
              <p:cNvSpPr>
                <a:spLocks noChangeShapeType="1"/>
              </p:cNvSpPr>
              <p:nvPr/>
            </p:nvSpPr>
            <p:spPr bwMode="auto">
              <a:xfrm flipV="1">
                <a:off x="409" y="866"/>
                <a:ext cx="0" cy="100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 name="Line 100">
                <a:extLst>
                  <a:ext uri="{FF2B5EF4-FFF2-40B4-BE49-F238E27FC236}">
                    <a16:creationId xmlns:a16="http://schemas.microsoft.com/office/drawing/2014/main" xmlns="" id="{FF75C427-CDF4-2D90-59BA-EED399FD7766}"/>
                  </a:ext>
                </a:extLst>
              </p:cNvPr>
              <p:cNvSpPr>
                <a:spLocks noChangeShapeType="1"/>
              </p:cNvSpPr>
              <p:nvPr/>
            </p:nvSpPr>
            <p:spPr bwMode="auto">
              <a:xfrm>
                <a:off x="409" y="1874"/>
                <a:ext cx="1104"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 name="Text Box 101">
                <a:extLst>
                  <a:ext uri="{FF2B5EF4-FFF2-40B4-BE49-F238E27FC236}">
                    <a16:creationId xmlns:a16="http://schemas.microsoft.com/office/drawing/2014/main" xmlns="" id="{D52E7ABE-F882-F4D4-8B9A-4753D2E3A574}"/>
                  </a:ext>
                </a:extLst>
              </p:cNvPr>
              <p:cNvSpPr txBox="1">
                <a:spLocks noChangeArrowheads="1"/>
              </p:cNvSpPr>
              <p:nvPr/>
            </p:nvSpPr>
            <p:spPr bwMode="auto">
              <a:xfrm>
                <a:off x="1513" y="1778"/>
                <a:ext cx="27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buFontTx/>
                  <a:buNone/>
                </a:pPr>
                <a:r>
                  <a:rPr lang="en-US" altLang="zh-CN" sz="2000" i="1">
                    <a:solidFill>
                      <a:srgbClr val="000000"/>
                    </a:solidFill>
                  </a:rPr>
                  <a:t>R</a:t>
                </a:r>
                <a:r>
                  <a:rPr lang="en-US" altLang="zh-CN" sz="2000" i="1" baseline="-25000">
                    <a:solidFill>
                      <a:srgbClr val="000000"/>
                    </a:solidFill>
                  </a:rPr>
                  <a:t>p</a:t>
                </a:r>
                <a:endParaRPr lang="en-US" altLang="zh-CN" sz="2000" i="1">
                  <a:solidFill>
                    <a:srgbClr val="000000"/>
                  </a:solidFill>
                </a:endParaRPr>
              </a:p>
            </p:txBody>
          </p:sp>
        </p:grpSp>
        <p:sp>
          <p:nvSpPr>
            <p:cNvPr id="24" name="Line 102">
              <a:extLst>
                <a:ext uri="{FF2B5EF4-FFF2-40B4-BE49-F238E27FC236}">
                  <a16:creationId xmlns:a16="http://schemas.microsoft.com/office/drawing/2014/main" xmlns="" id="{E0BD7925-ACEA-5AF2-8B67-0C327AF8D570}"/>
                </a:ext>
              </a:extLst>
            </p:cNvPr>
            <p:cNvSpPr>
              <a:spLocks noChangeShapeType="1"/>
            </p:cNvSpPr>
            <p:nvPr/>
          </p:nvSpPr>
          <p:spPr bwMode="auto">
            <a:xfrm>
              <a:off x="1058" y="2499"/>
              <a:ext cx="0" cy="1152"/>
            </a:xfrm>
            <a:prstGeom prst="line">
              <a:avLst/>
            </a:prstGeom>
            <a:noFill/>
            <a:ln w="9525">
              <a:solidFill>
                <a:srgbClr val="FF505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 name="Text Box 103">
              <a:extLst>
                <a:ext uri="{FF2B5EF4-FFF2-40B4-BE49-F238E27FC236}">
                  <a16:creationId xmlns:a16="http://schemas.microsoft.com/office/drawing/2014/main" xmlns="" id="{A51BC9B0-CDBE-C9A1-F313-36F4B0389188}"/>
                </a:ext>
              </a:extLst>
            </p:cNvPr>
            <p:cNvSpPr txBox="1">
              <a:spLocks noChangeArrowheads="1"/>
            </p:cNvSpPr>
            <p:nvPr/>
          </p:nvSpPr>
          <p:spPr bwMode="auto">
            <a:xfrm>
              <a:off x="362" y="3554"/>
              <a:ext cx="44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buFontTx/>
                <a:buNone/>
              </a:pPr>
              <a:r>
                <a:rPr lang="zh-CN" altLang="en-US" sz="2000">
                  <a:solidFill>
                    <a:srgbClr val="000000"/>
                  </a:solidFill>
                </a:rPr>
                <a:t>欠压</a:t>
              </a:r>
            </a:p>
          </p:txBody>
        </p:sp>
        <p:sp>
          <p:nvSpPr>
            <p:cNvPr id="26" name="Text Box 104">
              <a:extLst>
                <a:ext uri="{FF2B5EF4-FFF2-40B4-BE49-F238E27FC236}">
                  <a16:creationId xmlns:a16="http://schemas.microsoft.com/office/drawing/2014/main" xmlns="" id="{77015709-15C4-40B8-49D3-31E9594CBB81}"/>
                </a:ext>
              </a:extLst>
            </p:cNvPr>
            <p:cNvSpPr txBox="1">
              <a:spLocks noChangeArrowheads="1"/>
            </p:cNvSpPr>
            <p:nvPr/>
          </p:nvSpPr>
          <p:spPr bwMode="auto">
            <a:xfrm>
              <a:off x="1246" y="3546"/>
              <a:ext cx="44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buFontTx/>
                <a:buNone/>
              </a:pPr>
              <a:r>
                <a:rPr lang="zh-CN" altLang="en-US" sz="2000">
                  <a:solidFill>
                    <a:srgbClr val="000000"/>
                  </a:solidFill>
                </a:rPr>
                <a:t>过压</a:t>
              </a:r>
            </a:p>
          </p:txBody>
        </p:sp>
        <p:sp>
          <p:nvSpPr>
            <p:cNvPr id="27" name="Text Box 105">
              <a:extLst>
                <a:ext uri="{FF2B5EF4-FFF2-40B4-BE49-F238E27FC236}">
                  <a16:creationId xmlns:a16="http://schemas.microsoft.com/office/drawing/2014/main" xmlns="" id="{E7F443FB-EBBA-7C15-1D72-55C6B4FA82F4}"/>
                </a:ext>
              </a:extLst>
            </p:cNvPr>
            <p:cNvSpPr txBox="1">
              <a:spLocks noChangeArrowheads="1"/>
            </p:cNvSpPr>
            <p:nvPr/>
          </p:nvSpPr>
          <p:spPr bwMode="auto">
            <a:xfrm>
              <a:off x="817" y="3561"/>
              <a:ext cx="52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p>
              <a:pPr fontAlgn="t">
                <a:spcBef>
                  <a:spcPct val="50000"/>
                </a:spcBef>
                <a:buFontTx/>
                <a:buNone/>
              </a:pPr>
              <a:r>
                <a:rPr lang="zh-CN" altLang="en-US" sz="2000">
                  <a:solidFill>
                    <a:srgbClr val="000000"/>
                  </a:solidFill>
                </a:rPr>
                <a:t>临界</a:t>
              </a:r>
            </a:p>
          </p:txBody>
        </p:sp>
      </p:grpSp>
      <p:sp>
        <p:nvSpPr>
          <p:cNvPr id="31" name="Text Box 3">
            <a:extLst>
              <a:ext uri="{FF2B5EF4-FFF2-40B4-BE49-F238E27FC236}">
                <a16:creationId xmlns:a16="http://schemas.microsoft.com/office/drawing/2014/main" xmlns="" id="{F4456866-EF55-F76C-A004-B28C879582C4}"/>
              </a:ext>
            </a:extLst>
          </p:cNvPr>
          <p:cNvSpPr txBox="1">
            <a:spLocks noChangeArrowheads="1"/>
          </p:cNvSpPr>
          <p:nvPr/>
        </p:nvSpPr>
        <p:spPr bwMode="auto">
          <a:xfrm>
            <a:off x="7146754" y="2987038"/>
            <a:ext cx="4810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p>
            <a:pPr fontAlgn="t">
              <a:spcBef>
                <a:spcPct val="50000"/>
              </a:spcBef>
              <a:buFontTx/>
              <a:buNone/>
            </a:pPr>
            <a:r>
              <a:rPr lang="en-US" altLang="zh-CN" sz="2000">
                <a:solidFill>
                  <a:srgbClr val="000000"/>
                </a:solidFill>
              </a:rPr>
              <a:t>Q</a:t>
            </a:r>
          </a:p>
        </p:txBody>
      </p:sp>
      <p:sp>
        <p:nvSpPr>
          <p:cNvPr id="32" name="Rectangle 90">
            <a:extLst>
              <a:ext uri="{FF2B5EF4-FFF2-40B4-BE49-F238E27FC236}">
                <a16:creationId xmlns:a16="http://schemas.microsoft.com/office/drawing/2014/main" xmlns="" id="{1A3FE2C8-8163-198E-CE44-276DFC3C8D60}"/>
              </a:ext>
            </a:extLst>
          </p:cNvPr>
          <p:cNvSpPr>
            <a:spLocks noChangeArrowheads="1"/>
          </p:cNvSpPr>
          <p:nvPr/>
        </p:nvSpPr>
        <p:spPr bwMode="auto">
          <a:xfrm>
            <a:off x="3951116" y="3429950"/>
            <a:ext cx="47117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fontAlgn="t">
              <a:spcBef>
                <a:spcPct val="50000"/>
              </a:spcBef>
              <a:buFontTx/>
              <a:buNone/>
            </a:pPr>
            <a:r>
              <a:rPr lang="zh-CN" altLang="en-US" sz="2000">
                <a:solidFill>
                  <a:srgbClr val="FF0000"/>
                </a:solidFill>
                <a:latin typeface="华文楷体" panose="02010600040101010101" pitchFamily="2" charset="-122"/>
                <a:ea typeface="华文楷体" panose="02010600040101010101" pitchFamily="2" charset="-122"/>
              </a:rPr>
              <a:t>临界状态</a:t>
            </a:r>
            <a:r>
              <a:rPr lang="en-US" altLang="zh-CN" sz="2000">
                <a:solidFill>
                  <a:srgbClr val="FF0000"/>
                </a:solidFill>
                <a:latin typeface="华文楷体" panose="02010600040101010101" pitchFamily="2" charset="-122"/>
                <a:ea typeface="华文楷体" panose="02010600040101010101" pitchFamily="2" charset="-122"/>
              </a:rPr>
              <a:t>: </a:t>
            </a:r>
            <a:r>
              <a:rPr lang="zh-CN" altLang="en-US" sz="2000">
                <a:solidFill>
                  <a:srgbClr val="FF3300"/>
                </a:solidFill>
                <a:latin typeface="华文楷体" panose="02010600040101010101" pitchFamily="2" charset="-122"/>
                <a:ea typeface="华文楷体" panose="02010600040101010101" pitchFamily="2" charset="-122"/>
              </a:rPr>
              <a:t>输出功率最大</a:t>
            </a:r>
            <a:r>
              <a:rPr lang="en-US" altLang="zh-CN" sz="2000">
                <a:solidFill>
                  <a:srgbClr val="FF3300"/>
                </a:solidFill>
                <a:latin typeface="华文楷体" panose="02010600040101010101" pitchFamily="2" charset="-122"/>
                <a:ea typeface="华文楷体" panose="02010600040101010101" pitchFamily="2" charset="-122"/>
              </a:rPr>
              <a:t>,</a:t>
            </a:r>
            <a:r>
              <a:rPr lang="zh-CN" altLang="en-US" sz="2000">
                <a:solidFill>
                  <a:srgbClr val="FF3300"/>
                </a:solidFill>
                <a:latin typeface="华文楷体" panose="02010600040101010101" pitchFamily="2" charset="-122"/>
                <a:ea typeface="华文楷体" panose="02010600040101010101" pitchFamily="2" charset="-122"/>
              </a:rPr>
              <a:t>效率也较高</a:t>
            </a:r>
            <a:r>
              <a:rPr lang="zh-CN" altLang="en-US" sz="2000">
                <a:solidFill>
                  <a:srgbClr val="0033CC"/>
                </a:solidFill>
                <a:latin typeface="华文楷体" panose="02010600040101010101" pitchFamily="2" charset="-122"/>
                <a:ea typeface="华文楷体" panose="02010600040101010101" pitchFamily="2" charset="-122"/>
              </a:rPr>
              <a:t>，</a:t>
            </a:r>
            <a:r>
              <a:rPr lang="zh-CN" altLang="en-US" sz="2000">
                <a:solidFill>
                  <a:srgbClr val="000000"/>
                </a:solidFill>
                <a:latin typeface="华文楷体" panose="02010600040101010101" pitchFamily="2" charset="-122"/>
                <a:ea typeface="华文楷体" panose="02010600040101010101" pitchFamily="2" charset="-122"/>
              </a:rPr>
              <a:t>是功率放大器的最佳工作状态 ，一般用于发射机的输出级。 </a:t>
            </a:r>
          </a:p>
        </p:txBody>
      </p:sp>
      <p:sp>
        <p:nvSpPr>
          <p:cNvPr id="33" name="Rectangle 91">
            <a:extLst>
              <a:ext uri="{FF2B5EF4-FFF2-40B4-BE49-F238E27FC236}">
                <a16:creationId xmlns:a16="http://schemas.microsoft.com/office/drawing/2014/main" xmlns="" id="{A287AA2C-3F58-FEA4-E0B7-135632B10988}"/>
              </a:ext>
            </a:extLst>
          </p:cNvPr>
          <p:cNvSpPr>
            <a:spLocks noChangeArrowheads="1"/>
          </p:cNvSpPr>
          <p:nvPr/>
        </p:nvSpPr>
        <p:spPr bwMode="auto">
          <a:xfrm>
            <a:off x="7867479" y="3579175"/>
            <a:ext cx="158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fontAlgn="t">
              <a:spcBef>
                <a:spcPct val="50000"/>
              </a:spcBef>
              <a:buFontTx/>
              <a:buNone/>
            </a:pPr>
            <a:endParaRPr lang="zh-CN" altLang="zh-CN">
              <a:solidFill>
                <a:srgbClr val="000000"/>
              </a:solidFill>
            </a:endParaRPr>
          </a:p>
        </p:txBody>
      </p:sp>
      <p:sp>
        <p:nvSpPr>
          <p:cNvPr id="34" name="Rectangle 92">
            <a:extLst>
              <a:ext uri="{FF2B5EF4-FFF2-40B4-BE49-F238E27FC236}">
                <a16:creationId xmlns:a16="http://schemas.microsoft.com/office/drawing/2014/main" xmlns="" id="{F2FF7377-F421-E130-23C3-070A909A1944}"/>
              </a:ext>
            </a:extLst>
          </p:cNvPr>
          <p:cNvSpPr>
            <a:spLocks noChangeArrowheads="1"/>
          </p:cNvSpPr>
          <p:nvPr/>
        </p:nvSpPr>
        <p:spPr bwMode="auto">
          <a:xfrm>
            <a:off x="7457904" y="3366450"/>
            <a:ext cx="158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fontAlgn="t">
              <a:spcBef>
                <a:spcPct val="50000"/>
              </a:spcBef>
              <a:buFontTx/>
              <a:buNone/>
            </a:pPr>
            <a:endParaRPr lang="zh-CN" altLang="zh-CN">
              <a:solidFill>
                <a:srgbClr val="000000"/>
              </a:solidFill>
            </a:endParaRPr>
          </a:p>
        </p:txBody>
      </p:sp>
      <p:sp>
        <p:nvSpPr>
          <p:cNvPr id="35" name="Rectangle 93">
            <a:extLst>
              <a:ext uri="{FF2B5EF4-FFF2-40B4-BE49-F238E27FC236}">
                <a16:creationId xmlns:a16="http://schemas.microsoft.com/office/drawing/2014/main" xmlns="" id="{F028E16F-4BB8-17BB-6FE3-8F897C23391F}"/>
              </a:ext>
            </a:extLst>
          </p:cNvPr>
          <p:cNvSpPr>
            <a:spLocks noChangeArrowheads="1"/>
          </p:cNvSpPr>
          <p:nvPr/>
        </p:nvSpPr>
        <p:spPr bwMode="auto">
          <a:xfrm>
            <a:off x="3863804" y="4328475"/>
            <a:ext cx="4859337"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nchor="ctr">
            <a:spAutoFit/>
          </a:bodyPr>
          <a:lstStyle>
            <a:lvl1pPr marL="457200" indent="-457200">
              <a:defRPr sz="2400" b="1">
                <a:solidFill>
                  <a:srgbClr val="FFFF00"/>
                </a:solidFill>
                <a:latin typeface="Times New Roman" panose="02020603050405020304" pitchFamily="18" charset="0"/>
                <a:ea typeface="宋体" panose="02010600030101010101" pitchFamily="2" charset="-122"/>
              </a:defRPr>
            </a:lvl1pPr>
            <a:lvl2pPr>
              <a:defRPr sz="2400" b="1">
                <a:solidFill>
                  <a:srgbClr val="FFFF00"/>
                </a:solidFill>
                <a:latin typeface="Times New Roman" panose="02020603050405020304" pitchFamily="18" charset="0"/>
                <a:ea typeface="宋体" panose="02010600030101010101" pitchFamily="2" charset="-122"/>
              </a:defRPr>
            </a:lvl2pPr>
            <a:lvl3pPr>
              <a:defRPr sz="2400" b="1">
                <a:solidFill>
                  <a:srgbClr val="FFFF00"/>
                </a:solidFill>
                <a:latin typeface="Times New Roman" panose="02020603050405020304" pitchFamily="18" charset="0"/>
                <a:ea typeface="宋体" panose="02010600030101010101" pitchFamily="2" charset="-122"/>
              </a:defRPr>
            </a:lvl3pPr>
            <a:lvl4pPr>
              <a:defRPr sz="2400" b="1">
                <a:solidFill>
                  <a:srgbClr val="FFFF00"/>
                </a:solidFill>
                <a:latin typeface="Times New Roman" panose="02020603050405020304" pitchFamily="18" charset="0"/>
                <a:ea typeface="宋体" panose="02010600030101010101" pitchFamily="2" charset="-122"/>
              </a:defRPr>
            </a:lvl4pPr>
            <a:lvl5pPr>
              <a:defRPr sz="2400" b="1">
                <a:solidFill>
                  <a:srgbClr val="FFFF00"/>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2400" b="1">
                <a:solidFill>
                  <a:srgbClr val="FFFF00"/>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2400" b="1">
                <a:solidFill>
                  <a:srgbClr val="FFFF00"/>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2400" b="1">
                <a:solidFill>
                  <a:srgbClr val="FFFF00"/>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2400" b="1">
                <a:solidFill>
                  <a:srgbClr val="FFFF00"/>
                </a:solidFill>
                <a:latin typeface="Times New Roman" panose="02020603050405020304" pitchFamily="18" charset="0"/>
                <a:ea typeface="宋体" panose="02010600030101010101" pitchFamily="2" charset="-122"/>
              </a:defRPr>
            </a:lvl9pPr>
          </a:lstStyle>
          <a:p>
            <a:pPr>
              <a:buFontTx/>
              <a:buNone/>
            </a:pPr>
            <a:r>
              <a:rPr lang="zh-CN" altLang="en-US" sz="2000">
                <a:solidFill>
                  <a:srgbClr val="FF3300"/>
                </a:solidFill>
                <a:latin typeface="华文楷体" panose="02010600040101010101" pitchFamily="2" charset="-122"/>
                <a:ea typeface="华文楷体" panose="02010600040101010101" pitchFamily="2" charset="-122"/>
              </a:rPr>
              <a:t>欠压状态：</a:t>
            </a:r>
            <a:r>
              <a:rPr lang="zh-CN" altLang="en-US" sz="2000">
                <a:solidFill>
                  <a:srgbClr val="1C1C1C"/>
                </a:solidFill>
                <a:latin typeface="华文楷体" panose="02010600040101010101" pitchFamily="2" charset="-122"/>
                <a:ea typeface="华文楷体" panose="02010600040101010101" pitchFamily="2" charset="-122"/>
              </a:rPr>
              <a:t>输出功率和效率</a:t>
            </a:r>
            <a:r>
              <a:rPr lang="zh-CN" altLang="en-US" sz="2000">
                <a:solidFill>
                  <a:srgbClr val="000000"/>
                </a:solidFill>
                <a:latin typeface="华文楷体" panose="02010600040101010101" pitchFamily="2" charset="-122"/>
                <a:ea typeface="华文楷体" panose="02010600040101010101" pitchFamily="2" charset="-122"/>
              </a:rPr>
              <a:t>都较低，</a:t>
            </a:r>
            <a:r>
              <a:rPr lang="en-US" altLang="zh-CN" sz="2000" i="1">
                <a:solidFill>
                  <a:srgbClr val="000000"/>
                </a:solidFill>
                <a:latin typeface="华文楷体" panose="02010600040101010101" pitchFamily="2" charset="-122"/>
                <a:ea typeface="华文楷体" panose="02010600040101010101" pitchFamily="2" charset="-122"/>
              </a:rPr>
              <a:t>P</a:t>
            </a:r>
            <a:r>
              <a:rPr lang="en-US" altLang="zh-CN" sz="2000" baseline="-25000">
                <a:solidFill>
                  <a:srgbClr val="000000"/>
                </a:solidFill>
                <a:latin typeface="华文楷体" panose="02010600040101010101" pitchFamily="2" charset="-122"/>
                <a:ea typeface="华文楷体" panose="02010600040101010101" pitchFamily="2" charset="-122"/>
              </a:rPr>
              <a:t>c</a:t>
            </a:r>
            <a:r>
              <a:rPr lang="zh-CN" altLang="en-US" sz="2000">
                <a:solidFill>
                  <a:srgbClr val="000000"/>
                </a:solidFill>
                <a:latin typeface="华文楷体" panose="02010600040101010101" pitchFamily="2" charset="-122"/>
                <a:ea typeface="华文楷体" panose="02010600040101010101" pitchFamily="2" charset="-122"/>
              </a:rPr>
              <a:t>较</a:t>
            </a:r>
            <a:endParaRPr lang="en-US" altLang="zh-CN" sz="2000">
              <a:solidFill>
                <a:srgbClr val="000000"/>
              </a:solidFill>
              <a:latin typeface="华文楷体" panose="02010600040101010101" pitchFamily="2" charset="-122"/>
              <a:ea typeface="华文楷体" panose="02010600040101010101" pitchFamily="2" charset="-122"/>
            </a:endParaRPr>
          </a:p>
          <a:p>
            <a:pPr>
              <a:buFontTx/>
              <a:buNone/>
            </a:pPr>
            <a:r>
              <a:rPr lang="zh-CN" altLang="en-US" sz="2000">
                <a:solidFill>
                  <a:srgbClr val="000000"/>
                </a:solidFill>
                <a:latin typeface="华文楷体" panose="02010600040101010101" pitchFamily="2" charset="-122"/>
                <a:ea typeface="华文楷体" panose="02010600040101010101" pitchFamily="2" charset="-122"/>
              </a:rPr>
              <a:t>大，</a:t>
            </a:r>
            <a:r>
              <a:rPr lang="en-US" altLang="zh-CN" sz="2000" i="1">
                <a:solidFill>
                  <a:srgbClr val="FF3300"/>
                </a:solidFill>
                <a:latin typeface="华文楷体" panose="02010600040101010101" pitchFamily="2" charset="-122"/>
                <a:ea typeface="华文楷体" panose="02010600040101010101" pitchFamily="2" charset="-122"/>
              </a:rPr>
              <a:t>R</a:t>
            </a:r>
            <a:r>
              <a:rPr lang="en-US" altLang="zh-CN" sz="2000" baseline="-25000">
                <a:solidFill>
                  <a:srgbClr val="FF3300"/>
                </a:solidFill>
                <a:latin typeface="华文楷体" panose="02010600040101010101" pitchFamily="2" charset="-122"/>
                <a:ea typeface="华文楷体" panose="02010600040101010101" pitchFamily="2" charset="-122"/>
              </a:rPr>
              <a:t>p</a:t>
            </a:r>
            <a:r>
              <a:rPr lang="zh-CN" altLang="en-US" sz="2000">
                <a:solidFill>
                  <a:srgbClr val="FF3300"/>
                </a:solidFill>
                <a:latin typeface="华文楷体" panose="02010600040101010101" pitchFamily="2" charset="-122"/>
                <a:ea typeface="华文楷体" panose="02010600040101010101" pitchFamily="2" charset="-122"/>
              </a:rPr>
              <a:t>＝</a:t>
            </a:r>
            <a:r>
              <a:rPr lang="en-US" altLang="zh-CN" sz="2000">
                <a:solidFill>
                  <a:srgbClr val="FF3300"/>
                </a:solidFill>
                <a:latin typeface="华文楷体" panose="02010600040101010101" pitchFamily="2" charset="-122"/>
                <a:ea typeface="华文楷体" panose="02010600040101010101" pitchFamily="2" charset="-122"/>
              </a:rPr>
              <a:t>0</a:t>
            </a:r>
            <a:r>
              <a:rPr lang="zh-CN" altLang="en-US" sz="2000">
                <a:solidFill>
                  <a:srgbClr val="FF3300"/>
                </a:solidFill>
                <a:latin typeface="华文楷体" panose="02010600040101010101" pitchFamily="2" charset="-122"/>
                <a:ea typeface="华文楷体" panose="02010600040101010101" pitchFamily="2" charset="-122"/>
              </a:rPr>
              <a:t>，</a:t>
            </a:r>
            <a:r>
              <a:rPr lang="en-US" altLang="zh-CN" sz="2000" i="1">
                <a:solidFill>
                  <a:srgbClr val="FF3300"/>
                </a:solidFill>
                <a:latin typeface="华文楷体" panose="02010600040101010101" pitchFamily="2" charset="-122"/>
                <a:ea typeface="华文楷体" panose="02010600040101010101" pitchFamily="2" charset="-122"/>
              </a:rPr>
              <a:t>P</a:t>
            </a:r>
            <a:r>
              <a:rPr lang="en-US" altLang="zh-CN" sz="2000" baseline="-25000">
                <a:solidFill>
                  <a:srgbClr val="FF3300"/>
                </a:solidFill>
                <a:latin typeface="华文楷体" panose="02010600040101010101" pitchFamily="2" charset="-122"/>
                <a:ea typeface="华文楷体" panose="02010600040101010101" pitchFamily="2" charset="-122"/>
              </a:rPr>
              <a:t>c</a:t>
            </a:r>
            <a:r>
              <a:rPr lang="zh-CN" altLang="en-US" sz="2000">
                <a:solidFill>
                  <a:srgbClr val="FF3300"/>
                </a:solidFill>
                <a:latin typeface="华文楷体" panose="02010600040101010101" pitchFamily="2" charset="-122"/>
                <a:ea typeface="华文楷体" panose="02010600040101010101" pitchFamily="2" charset="-122"/>
              </a:rPr>
              <a:t>最大，可能烧坏管子，应避</a:t>
            </a:r>
            <a:endParaRPr lang="en-US" altLang="zh-CN" sz="2000">
              <a:solidFill>
                <a:srgbClr val="FF3300"/>
              </a:solidFill>
              <a:latin typeface="华文楷体" panose="02010600040101010101" pitchFamily="2" charset="-122"/>
              <a:ea typeface="华文楷体" panose="02010600040101010101" pitchFamily="2" charset="-122"/>
            </a:endParaRPr>
          </a:p>
          <a:p>
            <a:pPr>
              <a:buFontTx/>
              <a:buNone/>
            </a:pPr>
            <a:r>
              <a:rPr lang="zh-CN" altLang="en-US" sz="2000">
                <a:solidFill>
                  <a:srgbClr val="FF3300"/>
                </a:solidFill>
                <a:latin typeface="华文楷体" panose="02010600040101010101" pitchFamily="2" charset="-122"/>
                <a:ea typeface="华文楷体" panose="02010600040101010101" pitchFamily="2" charset="-122"/>
              </a:rPr>
              <a:t>免。</a:t>
            </a:r>
            <a:r>
              <a:rPr lang="zh-CN" altLang="en-US" sz="2000">
                <a:solidFill>
                  <a:srgbClr val="000000"/>
                </a:solidFill>
                <a:latin typeface="华文楷体" panose="02010600040101010101" pitchFamily="2" charset="-122"/>
                <a:ea typeface="华文楷体" panose="02010600040101010101" pitchFamily="2" charset="-122"/>
              </a:rPr>
              <a:t>但输出电流几乎不随</a:t>
            </a:r>
            <a:r>
              <a:rPr lang="en-US" altLang="zh-CN" sz="2000" i="1">
                <a:solidFill>
                  <a:srgbClr val="000000"/>
                </a:solidFill>
                <a:latin typeface="华文楷体" panose="02010600040101010101" pitchFamily="2" charset="-122"/>
                <a:ea typeface="华文楷体" panose="02010600040101010101" pitchFamily="2" charset="-122"/>
              </a:rPr>
              <a:t>R</a:t>
            </a:r>
            <a:r>
              <a:rPr lang="en-US" altLang="zh-CN" sz="2000" baseline="-25000">
                <a:solidFill>
                  <a:srgbClr val="000000"/>
                </a:solidFill>
                <a:latin typeface="华文楷体" panose="02010600040101010101" pitchFamily="2" charset="-122"/>
                <a:ea typeface="华文楷体" panose="02010600040101010101" pitchFamily="2" charset="-122"/>
              </a:rPr>
              <a:t>p</a:t>
            </a:r>
            <a:r>
              <a:rPr lang="zh-CN" altLang="en-US" sz="2000">
                <a:solidFill>
                  <a:srgbClr val="000000"/>
                </a:solidFill>
                <a:latin typeface="华文楷体" panose="02010600040101010101" pitchFamily="2" charset="-122"/>
                <a:ea typeface="华文楷体" panose="02010600040101010101" pitchFamily="2" charset="-122"/>
              </a:rPr>
              <a:t>变化，放大器</a:t>
            </a:r>
            <a:endParaRPr lang="en-US" altLang="zh-CN" sz="2000">
              <a:solidFill>
                <a:srgbClr val="000000"/>
              </a:solidFill>
              <a:latin typeface="华文楷体" panose="02010600040101010101" pitchFamily="2" charset="-122"/>
              <a:ea typeface="华文楷体" panose="02010600040101010101" pitchFamily="2" charset="-122"/>
            </a:endParaRPr>
          </a:p>
          <a:p>
            <a:pPr>
              <a:buFontTx/>
              <a:buNone/>
            </a:pPr>
            <a:r>
              <a:rPr lang="zh-CN" altLang="en-US" sz="2000">
                <a:solidFill>
                  <a:srgbClr val="000000"/>
                </a:solidFill>
                <a:latin typeface="华文楷体" panose="02010600040101010101" pitchFamily="2" charset="-122"/>
                <a:ea typeface="华文楷体" panose="02010600040101010101" pitchFamily="2" charset="-122"/>
              </a:rPr>
              <a:t>可视为恒流源。  </a:t>
            </a:r>
          </a:p>
        </p:txBody>
      </p:sp>
      <p:sp>
        <p:nvSpPr>
          <p:cNvPr id="36" name="Rectangle 94">
            <a:extLst>
              <a:ext uri="{FF2B5EF4-FFF2-40B4-BE49-F238E27FC236}">
                <a16:creationId xmlns:a16="http://schemas.microsoft.com/office/drawing/2014/main" xmlns="" id="{0B1E8FCF-95A4-D805-1074-A99F8E324FAC}"/>
              </a:ext>
            </a:extLst>
          </p:cNvPr>
          <p:cNvSpPr>
            <a:spLocks noChangeArrowheads="1"/>
          </p:cNvSpPr>
          <p:nvPr/>
        </p:nvSpPr>
        <p:spPr bwMode="auto">
          <a:xfrm>
            <a:off x="3874916" y="5579425"/>
            <a:ext cx="4892675"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nchor="ctr">
            <a:spAutoFit/>
          </a:bodyPr>
          <a:lstStyle/>
          <a:p>
            <a:pPr>
              <a:buFontTx/>
              <a:buNone/>
            </a:pPr>
            <a:r>
              <a:rPr lang="zh-CN" altLang="en-US" sz="2000">
                <a:solidFill>
                  <a:srgbClr val="FF3300"/>
                </a:solidFill>
                <a:latin typeface="华文楷体" panose="02010600040101010101" pitchFamily="2" charset="-122"/>
                <a:ea typeface="华文楷体" panose="02010600040101010101" pitchFamily="2" charset="-122"/>
              </a:rPr>
              <a:t>过压状态</a:t>
            </a:r>
            <a:r>
              <a:rPr lang="zh-CN" altLang="en-US" sz="2000">
                <a:solidFill>
                  <a:srgbClr val="000000"/>
                </a:solidFill>
                <a:latin typeface="华文楷体" panose="02010600040101010101" pitchFamily="2" charset="-122"/>
                <a:ea typeface="华文楷体" panose="02010600040101010101" pitchFamily="2" charset="-122"/>
              </a:rPr>
              <a:t>：在</a:t>
            </a:r>
            <a:r>
              <a:rPr lang="zh-CN" altLang="en-US" sz="2000">
                <a:solidFill>
                  <a:srgbClr val="FF3300"/>
                </a:solidFill>
                <a:latin typeface="华文楷体" panose="02010600040101010101" pitchFamily="2" charset="-122"/>
                <a:ea typeface="华文楷体" panose="02010600040101010101" pitchFamily="2" charset="-122"/>
              </a:rPr>
              <a:t>弱过压区效率最高，</a:t>
            </a:r>
            <a:r>
              <a:rPr lang="zh-CN" altLang="en-US" sz="2000">
                <a:solidFill>
                  <a:srgbClr val="000000"/>
                </a:solidFill>
                <a:latin typeface="华文楷体" panose="02010600040101010101" pitchFamily="2" charset="-122"/>
                <a:ea typeface="华文楷体" panose="02010600040101010101" pitchFamily="2" charset="-122"/>
              </a:rPr>
              <a:t>而输出功率下降不多，且</a:t>
            </a:r>
            <a:r>
              <a:rPr lang="en-US" altLang="zh-CN" sz="2000" i="1">
                <a:solidFill>
                  <a:srgbClr val="000000"/>
                </a:solidFill>
                <a:latin typeface="华文楷体" panose="02010600040101010101" pitchFamily="2" charset="-122"/>
                <a:ea typeface="华文楷体" panose="02010600040101010101" pitchFamily="2" charset="-122"/>
              </a:rPr>
              <a:t>R</a:t>
            </a:r>
            <a:r>
              <a:rPr lang="en-US" altLang="zh-CN" sz="2000" baseline="-25000">
                <a:solidFill>
                  <a:srgbClr val="000000"/>
                </a:solidFill>
                <a:latin typeface="华文楷体" panose="02010600040101010101" pitchFamily="2" charset="-122"/>
                <a:ea typeface="华文楷体" panose="02010600040101010101" pitchFamily="2" charset="-122"/>
              </a:rPr>
              <a:t>p</a:t>
            </a:r>
            <a:r>
              <a:rPr lang="zh-CN" altLang="en-US" sz="2000">
                <a:solidFill>
                  <a:srgbClr val="000000"/>
                </a:solidFill>
                <a:latin typeface="华文楷体" panose="02010600040101010101" pitchFamily="2" charset="-122"/>
                <a:ea typeface="华文楷体" panose="02010600040101010101" pitchFamily="2" charset="-122"/>
              </a:rPr>
              <a:t>变化时，输出电压相对较平稳，常用于发射机的中间级。 </a:t>
            </a:r>
          </a:p>
        </p:txBody>
      </p:sp>
      <p:sp>
        <p:nvSpPr>
          <p:cNvPr id="37" name="Rectangle 95">
            <a:extLst>
              <a:ext uri="{FF2B5EF4-FFF2-40B4-BE49-F238E27FC236}">
                <a16:creationId xmlns:a16="http://schemas.microsoft.com/office/drawing/2014/main" xmlns="" id="{BCFD1CF8-F3EB-FFA2-37F4-A002F0E0A00E}"/>
              </a:ext>
            </a:extLst>
          </p:cNvPr>
          <p:cNvSpPr>
            <a:spLocks noChangeArrowheads="1"/>
          </p:cNvSpPr>
          <p:nvPr/>
        </p:nvSpPr>
        <p:spPr bwMode="auto">
          <a:xfrm>
            <a:off x="3690242" y="3329848"/>
            <a:ext cx="5118100" cy="3314700"/>
          </a:xfrm>
          <a:prstGeom prst="rect">
            <a:avLst/>
          </a:prstGeom>
          <a:noFill/>
          <a:ln w="25400">
            <a:solidFill>
              <a:srgbClr val="FF0000"/>
            </a:solidFill>
            <a:miter lim="800000"/>
            <a:headEnd/>
            <a:tailEnd type="none" w="med" len="lg"/>
          </a:ln>
          <a:extLst>
            <a:ext uri="{909E8E84-426E-40DD-AFC4-6F175D3DCCD1}">
              <a14:hiddenFill xmlns:a14="http://schemas.microsoft.com/office/drawing/2010/main">
                <a:solidFill>
                  <a:srgbClr val="FFFFFF"/>
                </a:solidFill>
              </a14:hiddenFill>
            </a:ext>
          </a:extLst>
        </p:spPr>
        <p:txBody>
          <a:bodyPr wrap="none" anchor="ctr">
            <a:spAutoFit/>
          </a:bodyPr>
          <a:lstStyle/>
          <a:p>
            <a:pPr>
              <a:buFontTx/>
              <a:buNone/>
            </a:pPr>
            <a:endParaRPr lang="zh-CN" altLang="en-US" sz="800" b="0">
              <a:solidFill>
                <a:srgbClr val="000000"/>
              </a:solidFill>
              <a:latin typeface="Tahoma" panose="020B0604030504040204" pitchFamily="34" charset="0"/>
            </a:endParaRPr>
          </a:p>
        </p:txBody>
      </p:sp>
    </p:spTree>
    <p:extLst>
      <p:ext uri="{BB962C8B-B14F-4D97-AF65-F5344CB8AC3E}">
        <p14:creationId xmlns:p14="http://schemas.microsoft.com/office/powerpoint/2010/main" val="1461149482"/>
      </p:ext>
    </p:extLst>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125</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4.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谐振</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功率</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放大器</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Rectangle 5">
            <a:extLst>
              <a:ext uri="{FF2B5EF4-FFF2-40B4-BE49-F238E27FC236}">
                <a16:creationId xmlns:a16="http://schemas.microsoft.com/office/drawing/2014/main" xmlns="" id="{3EC6F473-DFA4-7F00-54C4-C27481E7D2A5}"/>
              </a:ext>
            </a:extLst>
          </p:cNvPr>
          <p:cNvSpPr>
            <a:spLocks noChangeArrowheads="1"/>
          </p:cNvSpPr>
          <p:nvPr/>
        </p:nvSpPr>
        <p:spPr bwMode="auto">
          <a:xfrm>
            <a:off x="602456" y="1868463"/>
            <a:ext cx="7939087" cy="7280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sz="2400" b="1">
                <a:solidFill>
                  <a:srgbClr val="FFFF00"/>
                </a:solidFill>
                <a:latin typeface="Times New Roman" panose="02020603050405020304" pitchFamily="18" charset="0"/>
                <a:ea typeface="宋体" panose="02010600030101010101" pitchFamily="2" charset="-122"/>
              </a:defRPr>
            </a:lvl1pPr>
            <a:lvl2pPr>
              <a:defRPr sz="2400" b="1">
                <a:solidFill>
                  <a:srgbClr val="FFFF00"/>
                </a:solidFill>
                <a:latin typeface="Times New Roman" panose="02020603050405020304" pitchFamily="18" charset="0"/>
                <a:ea typeface="宋体" panose="02010600030101010101" pitchFamily="2" charset="-122"/>
              </a:defRPr>
            </a:lvl2pPr>
            <a:lvl3pPr>
              <a:defRPr sz="2400" b="1">
                <a:solidFill>
                  <a:srgbClr val="FFFF00"/>
                </a:solidFill>
                <a:latin typeface="Times New Roman" panose="02020603050405020304" pitchFamily="18" charset="0"/>
                <a:ea typeface="宋体" panose="02010600030101010101" pitchFamily="2" charset="-122"/>
              </a:defRPr>
            </a:lvl3pPr>
            <a:lvl4pPr>
              <a:defRPr sz="2400" b="1">
                <a:solidFill>
                  <a:srgbClr val="FFFF00"/>
                </a:solidFill>
                <a:latin typeface="Times New Roman" panose="02020603050405020304" pitchFamily="18" charset="0"/>
                <a:ea typeface="宋体" panose="02010600030101010101" pitchFamily="2" charset="-122"/>
              </a:defRPr>
            </a:lvl4pPr>
            <a:lvl5pPr>
              <a:defRPr sz="2400" b="1">
                <a:solidFill>
                  <a:srgbClr val="FFFF00"/>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2400" b="1">
                <a:solidFill>
                  <a:srgbClr val="FFFF00"/>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2400" b="1">
                <a:solidFill>
                  <a:srgbClr val="FFFF00"/>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2400" b="1">
                <a:solidFill>
                  <a:srgbClr val="FFFF00"/>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2400" b="1">
                <a:solidFill>
                  <a:srgbClr val="FFFF00"/>
                </a:solidFill>
                <a:latin typeface="Times New Roman" panose="02020603050405020304" pitchFamily="18" charset="0"/>
                <a:ea typeface="宋体" panose="02010600030101010101" pitchFamily="2" charset="-122"/>
              </a:defRPr>
            </a:lvl9pPr>
          </a:lstStyle>
          <a:p>
            <a:pPr marL="0" indent="0" algn="just">
              <a:lnSpc>
                <a:spcPct val="110000"/>
              </a:lnSpc>
            </a:pPr>
            <a:r>
              <a:rPr lang="zh-CN" altLang="en-US" sz="2000" dirty="0">
                <a:solidFill>
                  <a:schemeClr val="tx1"/>
                </a:solidFill>
                <a:latin typeface="+mn-ea"/>
                <a:ea typeface="+mn-ea"/>
              </a:rPr>
              <a:t>改变</a:t>
            </a:r>
            <a:r>
              <a:rPr lang="en-US" altLang="zh-CN" sz="2000" dirty="0">
                <a:solidFill>
                  <a:schemeClr val="tx1"/>
                </a:solidFill>
                <a:latin typeface="+mn-ea"/>
                <a:ea typeface="+mn-ea"/>
              </a:rPr>
              <a:t>Rp</a:t>
            </a:r>
            <a:r>
              <a:rPr lang="zh-CN" altLang="en-US" sz="2000" dirty="0">
                <a:solidFill>
                  <a:schemeClr val="tx1"/>
                </a:solidFill>
                <a:latin typeface="+mn-ea"/>
                <a:ea typeface="+mn-ea"/>
              </a:rPr>
              <a:t>，但</a:t>
            </a:r>
            <a:r>
              <a:rPr lang="en-US" altLang="zh-CN" sz="2000" dirty="0" err="1">
                <a:solidFill>
                  <a:schemeClr val="tx1"/>
                </a:solidFill>
                <a:latin typeface="+mn-ea"/>
                <a:ea typeface="+mn-ea"/>
              </a:rPr>
              <a:t>Vb</a:t>
            </a:r>
            <a:r>
              <a:rPr lang="zh-CN" altLang="en-US" sz="2000" dirty="0">
                <a:solidFill>
                  <a:schemeClr val="tx1"/>
                </a:solidFill>
                <a:latin typeface="+mn-ea"/>
                <a:ea typeface="+mn-ea"/>
              </a:rPr>
              <a:t>、</a:t>
            </a:r>
            <a:r>
              <a:rPr lang="en-US" altLang="zh-CN" sz="2000" dirty="0">
                <a:solidFill>
                  <a:schemeClr val="tx1"/>
                </a:solidFill>
                <a:latin typeface="+mn-ea"/>
                <a:ea typeface="+mn-ea"/>
              </a:rPr>
              <a:t>VCC</a:t>
            </a:r>
            <a:r>
              <a:rPr lang="zh-CN" altLang="en-US" sz="2000" dirty="0">
                <a:solidFill>
                  <a:schemeClr val="tx1"/>
                </a:solidFill>
                <a:latin typeface="+mn-ea"/>
                <a:ea typeface="+mn-ea"/>
              </a:rPr>
              <a:t>、</a:t>
            </a:r>
            <a:r>
              <a:rPr lang="en-US" altLang="zh-CN" sz="2000" dirty="0">
                <a:solidFill>
                  <a:schemeClr val="tx1"/>
                </a:solidFill>
                <a:latin typeface="+mn-ea"/>
                <a:ea typeface="+mn-ea"/>
              </a:rPr>
              <a:t>VBB</a:t>
            </a:r>
            <a:r>
              <a:rPr lang="zh-CN" altLang="en-US" sz="2000" dirty="0">
                <a:solidFill>
                  <a:schemeClr val="tx1"/>
                </a:solidFill>
                <a:latin typeface="+mn-ea"/>
                <a:ea typeface="+mn-ea"/>
              </a:rPr>
              <a:t>不变  当负载电阻</a:t>
            </a:r>
            <a:r>
              <a:rPr lang="en-US" altLang="zh-CN" sz="2000" dirty="0">
                <a:solidFill>
                  <a:schemeClr val="tx1"/>
                </a:solidFill>
                <a:latin typeface="+mn-ea"/>
                <a:ea typeface="+mn-ea"/>
              </a:rPr>
              <a:t>Rp</a:t>
            </a:r>
            <a:r>
              <a:rPr lang="zh-CN" altLang="en-US" sz="2000" dirty="0">
                <a:solidFill>
                  <a:schemeClr val="tx1"/>
                </a:solidFill>
                <a:latin typeface="+mn-ea"/>
                <a:ea typeface="+mn-ea"/>
              </a:rPr>
              <a:t>由小至大变化，放大器的工作状态由欠压经临界转入过压。在临界状态时输出功率最大。</a:t>
            </a:r>
          </a:p>
        </p:txBody>
      </p:sp>
      <p:sp>
        <p:nvSpPr>
          <p:cNvPr id="6" name="矩形 171133">
            <a:extLst>
              <a:ext uri="{FF2B5EF4-FFF2-40B4-BE49-F238E27FC236}">
                <a16:creationId xmlns:a16="http://schemas.microsoft.com/office/drawing/2014/main" xmlns="" id="{FCE66BD6-D7CA-8BF3-0903-9FBFF7F5E8E2}"/>
              </a:ext>
            </a:extLst>
          </p:cNvPr>
          <p:cNvSpPr>
            <a:spLocks noChangeArrowheads="1"/>
          </p:cNvSpPr>
          <p:nvPr/>
        </p:nvSpPr>
        <p:spPr bwMode="auto">
          <a:xfrm>
            <a:off x="685007" y="1328216"/>
            <a:ext cx="54737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p>
            <a:pPr>
              <a:spcBef>
                <a:spcPct val="50000"/>
              </a:spcBef>
            </a:pPr>
            <a:r>
              <a:rPr lang="en-US" altLang="zh-CN" sz="2400" dirty="0">
                <a:solidFill>
                  <a:schemeClr val="tx1"/>
                </a:solidFill>
                <a:latin typeface="+mn-ea"/>
                <a:ea typeface="+mn-ea"/>
              </a:rPr>
              <a:t>1.</a:t>
            </a:r>
            <a:r>
              <a:rPr lang="zh-CN" altLang="en-US" sz="2400" dirty="0">
                <a:solidFill>
                  <a:schemeClr val="tx1"/>
                </a:solidFill>
                <a:latin typeface="+mn-ea"/>
                <a:ea typeface="+mn-ea"/>
              </a:rPr>
              <a:t>改变 </a:t>
            </a:r>
            <a:r>
              <a:rPr lang="en-US" altLang="zh-CN" sz="2400" dirty="0">
                <a:solidFill>
                  <a:schemeClr val="tx1"/>
                </a:solidFill>
                <a:latin typeface="+mn-ea"/>
                <a:ea typeface="+mn-ea"/>
              </a:rPr>
              <a:t>Rp </a:t>
            </a:r>
            <a:r>
              <a:rPr lang="zh-CN" altLang="en-US" sz="2400" dirty="0">
                <a:solidFill>
                  <a:schemeClr val="tx1"/>
                </a:solidFill>
                <a:latin typeface="+mn-ea"/>
                <a:ea typeface="+mn-ea"/>
              </a:rPr>
              <a:t>对工作状态的影响</a:t>
            </a:r>
          </a:p>
        </p:txBody>
      </p:sp>
      <p:grpSp>
        <p:nvGrpSpPr>
          <p:cNvPr id="7" name="组合 171014">
            <a:extLst>
              <a:ext uri="{FF2B5EF4-FFF2-40B4-BE49-F238E27FC236}">
                <a16:creationId xmlns:a16="http://schemas.microsoft.com/office/drawing/2014/main" xmlns="" id="{E11DB1BB-3E03-76F7-F354-C9DA967D56A4}"/>
              </a:ext>
            </a:extLst>
          </p:cNvPr>
          <p:cNvGrpSpPr>
            <a:grpSpLocks/>
          </p:cNvGrpSpPr>
          <p:nvPr/>
        </p:nvGrpSpPr>
        <p:grpSpPr bwMode="auto">
          <a:xfrm>
            <a:off x="1046163" y="3241675"/>
            <a:ext cx="6700837" cy="2543175"/>
            <a:chOff x="975" y="935"/>
            <a:chExt cx="4221" cy="1602"/>
          </a:xfrm>
        </p:grpSpPr>
        <p:sp>
          <p:nvSpPr>
            <p:cNvPr id="8" name="文本框 171015">
              <a:extLst>
                <a:ext uri="{FF2B5EF4-FFF2-40B4-BE49-F238E27FC236}">
                  <a16:creationId xmlns:a16="http://schemas.microsoft.com/office/drawing/2014/main" xmlns="" id="{3EE87CD1-740D-3E19-E967-33848558D701}"/>
                </a:ext>
              </a:extLst>
            </p:cNvPr>
            <p:cNvSpPr txBox="1">
              <a:spLocks noChangeArrowheads="1"/>
            </p:cNvSpPr>
            <p:nvPr/>
          </p:nvSpPr>
          <p:spPr bwMode="auto">
            <a:xfrm>
              <a:off x="2498" y="2287"/>
              <a:ext cx="11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spcBef>
                  <a:spcPts val="600"/>
                </a:spcBef>
                <a:spcAft>
                  <a:spcPts val="600"/>
                </a:spcAft>
              </a:pPr>
              <a:endParaRPr lang="zh-CN" altLang="en-US" sz="2000">
                <a:solidFill>
                  <a:schemeClr val="tx1"/>
                </a:solidFill>
              </a:endParaRPr>
            </a:p>
          </p:txBody>
        </p:sp>
        <p:grpSp>
          <p:nvGrpSpPr>
            <p:cNvPr id="9" name="组合 171016">
              <a:extLst>
                <a:ext uri="{FF2B5EF4-FFF2-40B4-BE49-F238E27FC236}">
                  <a16:creationId xmlns:a16="http://schemas.microsoft.com/office/drawing/2014/main" xmlns="" id="{F6D6398D-A1CC-8551-A99B-5AB43E03451C}"/>
                </a:ext>
              </a:extLst>
            </p:cNvPr>
            <p:cNvGrpSpPr>
              <a:grpSpLocks/>
            </p:cNvGrpSpPr>
            <p:nvPr/>
          </p:nvGrpSpPr>
          <p:grpSpPr bwMode="auto">
            <a:xfrm>
              <a:off x="975" y="935"/>
              <a:ext cx="4221" cy="1345"/>
              <a:chOff x="431" y="926"/>
              <a:chExt cx="4221" cy="1345"/>
            </a:xfrm>
          </p:grpSpPr>
          <p:grpSp>
            <p:nvGrpSpPr>
              <p:cNvPr id="10" name="组合 171017">
                <a:extLst>
                  <a:ext uri="{FF2B5EF4-FFF2-40B4-BE49-F238E27FC236}">
                    <a16:creationId xmlns:a16="http://schemas.microsoft.com/office/drawing/2014/main" xmlns="" id="{D1F9C012-5AA1-ABD2-F875-E9C428577279}"/>
                  </a:ext>
                </a:extLst>
              </p:cNvPr>
              <p:cNvGrpSpPr>
                <a:grpSpLocks/>
              </p:cNvGrpSpPr>
              <p:nvPr/>
            </p:nvGrpSpPr>
            <p:grpSpPr bwMode="auto">
              <a:xfrm>
                <a:off x="2622" y="954"/>
                <a:ext cx="2030" cy="1281"/>
                <a:chOff x="3305" y="2787"/>
                <a:chExt cx="2030" cy="1281"/>
              </a:xfrm>
            </p:grpSpPr>
            <p:sp>
              <p:nvSpPr>
                <p:cNvPr id="88" name="矩形 171018">
                  <a:extLst>
                    <a:ext uri="{FF2B5EF4-FFF2-40B4-BE49-F238E27FC236}">
                      <a16:creationId xmlns:a16="http://schemas.microsoft.com/office/drawing/2014/main" xmlns="" id="{9A762D16-F416-D5DD-57BE-F81E257E982A}"/>
                    </a:ext>
                  </a:extLst>
                </p:cNvPr>
                <p:cNvSpPr>
                  <a:spLocks noChangeArrowheads="1"/>
                </p:cNvSpPr>
                <p:nvPr/>
              </p:nvSpPr>
              <p:spPr bwMode="auto">
                <a:xfrm>
                  <a:off x="3348" y="2787"/>
                  <a:ext cx="1973" cy="127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nvGrpSpPr>
                <p:cNvPr id="89" name="组合 171019">
                  <a:extLst>
                    <a:ext uri="{FF2B5EF4-FFF2-40B4-BE49-F238E27FC236}">
                      <a16:creationId xmlns:a16="http://schemas.microsoft.com/office/drawing/2014/main" xmlns="" id="{B7A7C577-4ECB-1B13-7DAB-7984179DD671}"/>
                    </a:ext>
                  </a:extLst>
                </p:cNvPr>
                <p:cNvGrpSpPr>
                  <a:grpSpLocks/>
                </p:cNvGrpSpPr>
                <p:nvPr/>
              </p:nvGrpSpPr>
              <p:grpSpPr bwMode="auto">
                <a:xfrm>
                  <a:off x="3305" y="2867"/>
                  <a:ext cx="2030" cy="1201"/>
                  <a:chOff x="3305" y="2867"/>
                  <a:chExt cx="2030" cy="1201"/>
                </a:xfrm>
              </p:grpSpPr>
              <p:grpSp>
                <p:nvGrpSpPr>
                  <p:cNvPr id="90" name="组合 171020">
                    <a:extLst>
                      <a:ext uri="{FF2B5EF4-FFF2-40B4-BE49-F238E27FC236}">
                        <a16:creationId xmlns:a16="http://schemas.microsoft.com/office/drawing/2014/main" xmlns="" id="{0F416DE8-2E6D-C844-F2C7-90CD7479B03F}"/>
                      </a:ext>
                    </a:extLst>
                  </p:cNvPr>
                  <p:cNvGrpSpPr>
                    <a:grpSpLocks/>
                  </p:cNvGrpSpPr>
                  <p:nvPr/>
                </p:nvGrpSpPr>
                <p:grpSpPr bwMode="auto">
                  <a:xfrm>
                    <a:off x="4307" y="3031"/>
                    <a:ext cx="13" cy="735"/>
                    <a:chOff x="1635" y="2629"/>
                    <a:chExt cx="13" cy="735"/>
                  </a:xfrm>
                </p:grpSpPr>
                <p:sp>
                  <p:nvSpPr>
                    <p:cNvPr id="108" name="任意多边形 171021">
                      <a:extLst>
                        <a:ext uri="{FF2B5EF4-FFF2-40B4-BE49-F238E27FC236}">
                          <a16:creationId xmlns:a16="http://schemas.microsoft.com/office/drawing/2014/main" xmlns="" id="{4F8D3DA1-0EB2-F440-23EB-933BE0073065}"/>
                        </a:ext>
                      </a:extLst>
                    </p:cNvPr>
                    <p:cNvSpPr>
                      <a:spLocks noChangeArrowheads="1"/>
                    </p:cNvSpPr>
                    <p:nvPr/>
                  </p:nvSpPr>
                  <p:spPr bwMode="auto">
                    <a:xfrm>
                      <a:off x="1635" y="3334"/>
                      <a:ext cx="13" cy="30"/>
                    </a:xfrm>
                    <a:custGeom>
                      <a:avLst/>
                      <a:gdLst>
                        <a:gd name="T0" fmla="*/ 0 w 13"/>
                        <a:gd name="T1" fmla="*/ 30 h 30"/>
                        <a:gd name="T2" fmla="*/ 5 w 13"/>
                        <a:gd name="T3" fmla="*/ 30 h 30"/>
                        <a:gd name="T4" fmla="*/ 9 w 13"/>
                        <a:gd name="T5" fmla="*/ 28 h 30"/>
                        <a:gd name="T6" fmla="*/ 13 w 13"/>
                        <a:gd name="T7" fmla="*/ 28 h 30"/>
                        <a:gd name="T8" fmla="*/ 13 w 13"/>
                        <a:gd name="T9" fmla="*/ 2 h 30"/>
                        <a:gd name="T10" fmla="*/ 5 w 13"/>
                        <a:gd name="T11" fmla="*/ 0 h 30"/>
                        <a:gd name="T12" fmla="*/ 0 w 13"/>
                        <a:gd name="T13" fmla="*/ 2 h 30"/>
                        <a:gd name="T14" fmla="*/ 0 w 13"/>
                        <a:gd name="T15" fmla="*/ 4 h 30"/>
                        <a:gd name="T16" fmla="*/ 0 w 13"/>
                        <a:gd name="T1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30">
                          <a:moveTo>
                            <a:pt x="0" y="30"/>
                          </a:moveTo>
                          <a:lnTo>
                            <a:pt x="5" y="30"/>
                          </a:lnTo>
                          <a:lnTo>
                            <a:pt x="9" y="28"/>
                          </a:lnTo>
                          <a:lnTo>
                            <a:pt x="13" y="28"/>
                          </a:lnTo>
                          <a:lnTo>
                            <a:pt x="13" y="2"/>
                          </a:lnTo>
                          <a:lnTo>
                            <a:pt x="5" y="0"/>
                          </a:lnTo>
                          <a:lnTo>
                            <a:pt x="0" y="2"/>
                          </a:lnTo>
                          <a:lnTo>
                            <a:pt x="0" y="4"/>
                          </a:lnTo>
                          <a:lnTo>
                            <a:pt x="0" y="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9" name="任意多边形 171022">
                      <a:extLst>
                        <a:ext uri="{FF2B5EF4-FFF2-40B4-BE49-F238E27FC236}">
                          <a16:creationId xmlns:a16="http://schemas.microsoft.com/office/drawing/2014/main" xmlns="" id="{83940E90-62AD-2AFC-DD5C-0BCF9EE80DD2}"/>
                        </a:ext>
                      </a:extLst>
                    </p:cNvPr>
                    <p:cNvSpPr>
                      <a:spLocks noChangeArrowheads="1"/>
                    </p:cNvSpPr>
                    <p:nvPr/>
                  </p:nvSpPr>
                  <p:spPr bwMode="auto">
                    <a:xfrm>
                      <a:off x="1635" y="3288"/>
                      <a:ext cx="13" cy="31"/>
                    </a:xfrm>
                    <a:custGeom>
                      <a:avLst/>
                      <a:gdLst>
                        <a:gd name="T0" fmla="*/ 0 w 13"/>
                        <a:gd name="T1" fmla="*/ 31 h 31"/>
                        <a:gd name="T2" fmla="*/ 5 w 13"/>
                        <a:gd name="T3" fmla="*/ 31 h 31"/>
                        <a:gd name="T4" fmla="*/ 9 w 13"/>
                        <a:gd name="T5" fmla="*/ 28 h 31"/>
                        <a:gd name="T6" fmla="*/ 13 w 13"/>
                        <a:gd name="T7" fmla="*/ 28 h 31"/>
                        <a:gd name="T8" fmla="*/ 13 w 13"/>
                        <a:gd name="T9" fmla="*/ 3 h 31"/>
                        <a:gd name="T10" fmla="*/ 5 w 13"/>
                        <a:gd name="T11" fmla="*/ 0 h 31"/>
                        <a:gd name="T12" fmla="*/ 0 w 13"/>
                        <a:gd name="T13" fmla="*/ 3 h 31"/>
                        <a:gd name="T14" fmla="*/ 0 w 13"/>
                        <a:gd name="T15" fmla="*/ 5 h 31"/>
                        <a:gd name="T16" fmla="*/ 0 w 13"/>
                        <a:gd name="T17" fmla="*/ 3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31">
                          <a:moveTo>
                            <a:pt x="0" y="31"/>
                          </a:moveTo>
                          <a:lnTo>
                            <a:pt x="5" y="31"/>
                          </a:lnTo>
                          <a:lnTo>
                            <a:pt x="9" y="28"/>
                          </a:lnTo>
                          <a:lnTo>
                            <a:pt x="13" y="28"/>
                          </a:lnTo>
                          <a:lnTo>
                            <a:pt x="13" y="3"/>
                          </a:lnTo>
                          <a:lnTo>
                            <a:pt x="5" y="0"/>
                          </a:lnTo>
                          <a:lnTo>
                            <a:pt x="0" y="3"/>
                          </a:lnTo>
                          <a:lnTo>
                            <a:pt x="0" y="5"/>
                          </a:lnTo>
                          <a:lnTo>
                            <a:pt x="0" y="3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0" name="任意多边形 171023">
                      <a:extLst>
                        <a:ext uri="{FF2B5EF4-FFF2-40B4-BE49-F238E27FC236}">
                          <a16:creationId xmlns:a16="http://schemas.microsoft.com/office/drawing/2014/main" xmlns="" id="{23DAEF78-A915-FACF-FA98-0F538007798D}"/>
                        </a:ext>
                      </a:extLst>
                    </p:cNvPr>
                    <p:cNvSpPr>
                      <a:spLocks noChangeArrowheads="1"/>
                    </p:cNvSpPr>
                    <p:nvPr/>
                  </p:nvSpPr>
                  <p:spPr bwMode="auto">
                    <a:xfrm>
                      <a:off x="1635" y="3243"/>
                      <a:ext cx="13" cy="30"/>
                    </a:xfrm>
                    <a:custGeom>
                      <a:avLst/>
                      <a:gdLst>
                        <a:gd name="T0" fmla="*/ 0 w 13"/>
                        <a:gd name="T1" fmla="*/ 30 h 30"/>
                        <a:gd name="T2" fmla="*/ 5 w 13"/>
                        <a:gd name="T3" fmla="*/ 30 h 30"/>
                        <a:gd name="T4" fmla="*/ 9 w 13"/>
                        <a:gd name="T5" fmla="*/ 28 h 30"/>
                        <a:gd name="T6" fmla="*/ 13 w 13"/>
                        <a:gd name="T7" fmla="*/ 28 h 30"/>
                        <a:gd name="T8" fmla="*/ 13 w 13"/>
                        <a:gd name="T9" fmla="*/ 2 h 30"/>
                        <a:gd name="T10" fmla="*/ 5 w 13"/>
                        <a:gd name="T11" fmla="*/ 0 h 30"/>
                        <a:gd name="T12" fmla="*/ 0 w 13"/>
                        <a:gd name="T13" fmla="*/ 2 h 30"/>
                        <a:gd name="T14" fmla="*/ 0 w 13"/>
                        <a:gd name="T15" fmla="*/ 5 h 30"/>
                        <a:gd name="T16" fmla="*/ 0 w 13"/>
                        <a:gd name="T1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30">
                          <a:moveTo>
                            <a:pt x="0" y="30"/>
                          </a:moveTo>
                          <a:lnTo>
                            <a:pt x="5" y="30"/>
                          </a:lnTo>
                          <a:lnTo>
                            <a:pt x="9" y="28"/>
                          </a:lnTo>
                          <a:lnTo>
                            <a:pt x="13" y="28"/>
                          </a:lnTo>
                          <a:lnTo>
                            <a:pt x="13" y="2"/>
                          </a:lnTo>
                          <a:lnTo>
                            <a:pt x="5" y="0"/>
                          </a:lnTo>
                          <a:lnTo>
                            <a:pt x="0" y="2"/>
                          </a:lnTo>
                          <a:lnTo>
                            <a:pt x="0" y="5"/>
                          </a:lnTo>
                          <a:lnTo>
                            <a:pt x="0" y="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 name="任意多边形 171024">
                      <a:extLst>
                        <a:ext uri="{FF2B5EF4-FFF2-40B4-BE49-F238E27FC236}">
                          <a16:creationId xmlns:a16="http://schemas.microsoft.com/office/drawing/2014/main" xmlns="" id="{EE1826C1-519C-C4FE-A8D1-3020BBF15A5C}"/>
                        </a:ext>
                      </a:extLst>
                    </p:cNvPr>
                    <p:cNvSpPr>
                      <a:spLocks noChangeArrowheads="1"/>
                    </p:cNvSpPr>
                    <p:nvPr/>
                  </p:nvSpPr>
                  <p:spPr bwMode="auto">
                    <a:xfrm>
                      <a:off x="1635" y="3198"/>
                      <a:ext cx="13" cy="30"/>
                    </a:xfrm>
                    <a:custGeom>
                      <a:avLst/>
                      <a:gdLst>
                        <a:gd name="T0" fmla="*/ 0 w 13"/>
                        <a:gd name="T1" fmla="*/ 30 h 30"/>
                        <a:gd name="T2" fmla="*/ 5 w 13"/>
                        <a:gd name="T3" fmla="*/ 30 h 30"/>
                        <a:gd name="T4" fmla="*/ 9 w 13"/>
                        <a:gd name="T5" fmla="*/ 28 h 30"/>
                        <a:gd name="T6" fmla="*/ 13 w 13"/>
                        <a:gd name="T7" fmla="*/ 28 h 30"/>
                        <a:gd name="T8" fmla="*/ 13 w 13"/>
                        <a:gd name="T9" fmla="*/ 2 h 30"/>
                        <a:gd name="T10" fmla="*/ 5 w 13"/>
                        <a:gd name="T11" fmla="*/ 0 h 30"/>
                        <a:gd name="T12" fmla="*/ 0 w 13"/>
                        <a:gd name="T13" fmla="*/ 2 h 30"/>
                        <a:gd name="T14" fmla="*/ 0 w 13"/>
                        <a:gd name="T15" fmla="*/ 4 h 30"/>
                        <a:gd name="T16" fmla="*/ 0 w 13"/>
                        <a:gd name="T1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30">
                          <a:moveTo>
                            <a:pt x="0" y="30"/>
                          </a:moveTo>
                          <a:lnTo>
                            <a:pt x="5" y="30"/>
                          </a:lnTo>
                          <a:lnTo>
                            <a:pt x="9" y="28"/>
                          </a:lnTo>
                          <a:lnTo>
                            <a:pt x="13" y="28"/>
                          </a:lnTo>
                          <a:lnTo>
                            <a:pt x="13" y="2"/>
                          </a:lnTo>
                          <a:lnTo>
                            <a:pt x="5" y="0"/>
                          </a:lnTo>
                          <a:lnTo>
                            <a:pt x="0" y="2"/>
                          </a:lnTo>
                          <a:lnTo>
                            <a:pt x="0" y="4"/>
                          </a:lnTo>
                          <a:lnTo>
                            <a:pt x="0" y="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 name="任意多边形 171025">
                      <a:extLst>
                        <a:ext uri="{FF2B5EF4-FFF2-40B4-BE49-F238E27FC236}">
                          <a16:creationId xmlns:a16="http://schemas.microsoft.com/office/drawing/2014/main" xmlns="" id="{876C0C71-06B1-8D84-4FC6-08D268061C24}"/>
                        </a:ext>
                      </a:extLst>
                    </p:cNvPr>
                    <p:cNvSpPr>
                      <a:spLocks noChangeArrowheads="1"/>
                    </p:cNvSpPr>
                    <p:nvPr/>
                  </p:nvSpPr>
                  <p:spPr bwMode="auto">
                    <a:xfrm>
                      <a:off x="1635" y="3153"/>
                      <a:ext cx="13" cy="30"/>
                    </a:xfrm>
                    <a:custGeom>
                      <a:avLst/>
                      <a:gdLst>
                        <a:gd name="T0" fmla="*/ 0 w 13"/>
                        <a:gd name="T1" fmla="*/ 30 h 30"/>
                        <a:gd name="T2" fmla="*/ 5 w 13"/>
                        <a:gd name="T3" fmla="*/ 30 h 30"/>
                        <a:gd name="T4" fmla="*/ 9 w 13"/>
                        <a:gd name="T5" fmla="*/ 28 h 30"/>
                        <a:gd name="T6" fmla="*/ 13 w 13"/>
                        <a:gd name="T7" fmla="*/ 28 h 30"/>
                        <a:gd name="T8" fmla="*/ 13 w 13"/>
                        <a:gd name="T9" fmla="*/ 2 h 30"/>
                        <a:gd name="T10" fmla="*/ 5 w 13"/>
                        <a:gd name="T11" fmla="*/ 0 h 30"/>
                        <a:gd name="T12" fmla="*/ 0 w 13"/>
                        <a:gd name="T13" fmla="*/ 2 h 30"/>
                        <a:gd name="T14" fmla="*/ 0 w 13"/>
                        <a:gd name="T15" fmla="*/ 4 h 30"/>
                        <a:gd name="T16" fmla="*/ 0 w 13"/>
                        <a:gd name="T1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30">
                          <a:moveTo>
                            <a:pt x="0" y="30"/>
                          </a:moveTo>
                          <a:lnTo>
                            <a:pt x="5" y="30"/>
                          </a:lnTo>
                          <a:lnTo>
                            <a:pt x="9" y="28"/>
                          </a:lnTo>
                          <a:lnTo>
                            <a:pt x="13" y="28"/>
                          </a:lnTo>
                          <a:lnTo>
                            <a:pt x="13" y="2"/>
                          </a:lnTo>
                          <a:lnTo>
                            <a:pt x="5" y="0"/>
                          </a:lnTo>
                          <a:lnTo>
                            <a:pt x="0" y="2"/>
                          </a:lnTo>
                          <a:lnTo>
                            <a:pt x="0" y="4"/>
                          </a:lnTo>
                          <a:lnTo>
                            <a:pt x="0" y="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 name="任意多边形 171026">
                      <a:extLst>
                        <a:ext uri="{FF2B5EF4-FFF2-40B4-BE49-F238E27FC236}">
                          <a16:creationId xmlns:a16="http://schemas.microsoft.com/office/drawing/2014/main" xmlns="" id="{09D8AF8E-8B2F-7502-B9A1-3D7ECAD2277A}"/>
                        </a:ext>
                      </a:extLst>
                    </p:cNvPr>
                    <p:cNvSpPr>
                      <a:spLocks noChangeArrowheads="1"/>
                    </p:cNvSpPr>
                    <p:nvPr/>
                  </p:nvSpPr>
                  <p:spPr bwMode="auto">
                    <a:xfrm>
                      <a:off x="1635" y="3107"/>
                      <a:ext cx="13" cy="31"/>
                    </a:xfrm>
                    <a:custGeom>
                      <a:avLst/>
                      <a:gdLst>
                        <a:gd name="T0" fmla="*/ 0 w 13"/>
                        <a:gd name="T1" fmla="*/ 31 h 31"/>
                        <a:gd name="T2" fmla="*/ 5 w 13"/>
                        <a:gd name="T3" fmla="*/ 31 h 31"/>
                        <a:gd name="T4" fmla="*/ 9 w 13"/>
                        <a:gd name="T5" fmla="*/ 28 h 31"/>
                        <a:gd name="T6" fmla="*/ 13 w 13"/>
                        <a:gd name="T7" fmla="*/ 28 h 31"/>
                        <a:gd name="T8" fmla="*/ 13 w 13"/>
                        <a:gd name="T9" fmla="*/ 3 h 31"/>
                        <a:gd name="T10" fmla="*/ 5 w 13"/>
                        <a:gd name="T11" fmla="*/ 0 h 31"/>
                        <a:gd name="T12" fmla="*/ 0 w 13"/>
                        <a:gd name="T13" fmla="*/ 3 h 31"/>
                        <a:gd name="T14" fmla="*/ 0 w 13"/>
                        <a:gd name="T15" fmla="*/ 5 h 31"/>
                        <a:gd name="T16" fmla="*/ 0 w 13"/>
                        <a:gd name="T17" fmla="*/ 3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31">
                          <a:moveTo>
                            <a:pt x="0" y="31"/>
                          </a:moveTo>
                          <a:lnTo>
                            <a:pt x="5" y="31"/>
                          </a:lnTo>
                          <a:lnTo>
                            <a:pt x="9" y="28"/>
                          </a:lnTo>
                          <a:lnTo>
                            <a:pt x="13" y="28"/>
                          </a:lnTo>
                          <a:lnTo>
                            <a:pt x="13" y="3"/>
                          </a:lnTo>
                          <a:lnTo>
                            <a:pt x="5" y="0"/>
                          </a:lnTo>
                          <a:lnTo>
                            <a:pt x="0" y="3"/>
                          </a:lnTo>
                          <a:lnTo>
                            <a:pt x="0" y="5"/>
                          </a:lnTo>
                          <a:lnTo>
                            <a:pt x="0" y="3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 name="任意多边形 171027">
                      <a:extLst>
                        <a:ext uri="{FF2B5EF4-FFF2-40B4-BE49-F238E27FC236}">
                          <a16:creationId xmlns:a16="http://schemas.microsoft.com/office/drawing/2014/main" xmlns="" id="{FBBB8BA2-1346-BB47-500F-19477C640084}"/>
                        </a:ext>
                      </a:extLst>
                    </p:cNvPr>
                    <p:cNvSpPr>
                      <a:spLocks noChangeArrowheads="1"/>
                    </p:cNvSpPr>
                    <p:nvPr/>
                  </p:nvSpPr>
                  <p:spPr bwMode="auto">
                    <a:xfrm>
                      <a:off x="1635" y="3062"/>
                      <a:ext cx="13" cy="30"/>
                    </a:xfrm>
                    <a:custGeom>
                      <a:avLst/>
                      <a:gdLst>
                        <a:gd name="T0" fmla="*/ 0 w 13"/>
                        <a:gd name="T1" fmla="*/ 30 h 30"/>
                        <a:gd name="T2" fmla="*/ 5 w 13"/>
                        <a:gd name="T3" fmla="*/ 30 h 30"/>
                        <a:gd name="T4" fmla="*/ 9 w 13"/>
                        <a:gd name="T5" fmla="*/ 28 h 30"/>
                        <a:gd name="T6" fmla="*/ 13 w 13"/>
                        <a:gd name="T7" fmla="*/ 28 h 30"/>
                        <a:gd name="T8" fmla="*/ 13 w 13"/>
                        <a:gd name="T9" fmla="*/ 2 h 30"/>
                        <a:gd name="T10" fmla="*/ 5 w 13"/>
                        <a:gd name="T11" fmla="*/ 0 h 30"/>
                        <a:gd name="T12" fmla="*/ 0 w 13"/>
                        <a:gd name="T13" fmla="*/ 2 h 30"/>
                        <a:gd name="T14" fmla="*/ 0 w 13"/>
                        <a:gd name="T15" fmla="*/ 5 h 30"/>
                        <a:gd name="T16" fmla="*/ 0 w 13"/>
                        <a:gd name="T1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30">
                          <a:moveTo>
                            <a:pt x="0" y="30"/>
                          </a:moveTo>
                          <a:lnTo>
                            <a:pt x="5" y="30"/>
                          </a:lnTo>
                          <a:lnTo>
                            <a:pt x="9" y="28"/>
                          </a:lnTo>
                          <a:lnTo>
                            <a:pt x="13" y="28"/>
                          </a:lnTo>
                          <a:lnTo>
                            <a:pt x="13" y="2"/>
                          </a:lnTo>
                          <a:lnTo>
                            <a:pt x="5" y="0"/>
                          </a:lnTo>
                          <a:lnTo>
                            <a:pt x="0" y="2"/>
                          </a:lnTo>
                          <a:lnTo>
                            <a:pt x="0" y="5"/>
                          </a:lnTo>
                          <a:lnTo>
                            <a:pt x="0" y="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 name="任意多边形 171028">
                      <a:extLst>
                        <a:ext uri="{FF2B5EF4-FFF2-40B4-BE49-F238E27FC236}">
                          <a16:creationId xmlns:a16="http://schemas.microsoft.com/office/drawing/2014/main" xmlns="" id="{92C1055A-F2DF-36CB-22FD-5B157FB97056}"/>
                        </a:ext>
                      </a:extLst>
                    </p:cNvPr>
                    <p:cNvSpPr>
                      <a:spLocks noChangeArrowheads="1"/>
                    </p:cNvSpPr>
                    <p:nvPr/>
                  </p:nvSpPr>
                  <p:spPr bwMode="auto">
                    <a:xfrm>
                      <a:off x="1635" y="3017"/>
                      <a:ext cx="13" cy="30"/>
                    </a:xfrm>
                    <a:custGeom>
                      <a:avLst/>
                      <a:gdLst>
                        <a:gd name="T0" fmla="*/ 0 w 13"/>
                        <a:gd name="T1" fmla="*/ 30 h 30"/>
                        <a:gd name="T2" fmla="*/ 5 w 13"/>
                        <a:gd name="T3" fmla="*/ 30 h 30"/>
                        <a:gd name="T4" fmla="*/ 9 w 13"/>
                        <a:gd name="T5" fmla="*/ 28 h 30"/>
                        <a:gd name="T6" fmla="*/ 13 w 13"/>
                        <a:gd name="T7" fmla="*/ 28 h 30"/>
                        <a:gd name="T8" fmla="*/ 13 w 13"/>
                        <a:gd name="T9" fmla="*/ 2 h 30"/>
                        <a:gd name="T10" fmla="*/ 5 w 13"/>
                        <a:gd name="T11" fmla="*/ 0 h 30"/>
                        <a:gd name="T12" fmla="*/ 0 w 13"/>
                        <a:gd name="T13" fmla="*/ 2 h 30"/>
                        <a:gd name="T14" fmla="*/ 0 w 13"/>
                        <a:gd name="T15" fmla="*/ 4 h 30"/>
                        <a:gd name="T16" fmla="*/ 0 w 13"/>
                        <a:gd name="T1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30">
                          <a:moveTo>
                            <a:pt x="0" y="30"/>
                          </a:moveTo>
                          <a:lnTo>
                            <a:pt x="5" y="30"/>
                          </a:lnTo>
                          <a:lnTo>
                            <a:pt x="9" y="28"/>
                          </a:lnTo>
                          <a:lnTo>
                            <a:pt x="13" y="28"/>
                          </a:lnTo>
                          <a:lnTo>
                            <a:pt x="13" y="2"/>
                          </a:lnTo>
                          <a:lnTo>
                            <a:pt x="5" y="0"/>
                          </a:lnTo>
                          <a:lnTo>
                            <a:pt x="0" y="2"/>
                          </a:lnTo>
                          <a:lnTo>
                            <a:pt x="0" y="4"/>
                          </a:lnTo>
                          <a:lnTo>
                            <a:pt x="0" y="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6" name="任意多边形 171029">
                      <a:extLst>
                        <a:ext uri="{FF2B5EF4-FFF2-40B4-BE49-F238E27FC236}">
                          <a16:creationId xmlns:a16="http://schemas.microsoft.com/office/drawing/2014/main" xmlns="" id="{2C3A7A5A-2101-A3AF-2F77-E81B9C4D6498}"/>
                        </a:ext>
                      </a:extLst>
                    </p:cNvPr>
                    <p:cNvSpPr>
                      <a:spLocks noChangeArrowheads="1"/>
                    </p:cNvSpPr>
                    <p:nvPr/>
                  </p:nvSpPr>
                  <p:spPr bwMode="auto">
                    <a:xfrm>
                      <a:off x="1635" y="2972"/>
                      <a:ext cx="13" cy="30"/>
                    </a:xfrm>
                    <a:custGeom>
                      <a:avLst/>
                      <a:gdLst>
                        <a:gd name="T0" fmla="*/ 0 w 13"/>
                        <a:gd name="T1" fmla="*/ 30 h 30"/>
                        <a:gd name="T2" fmla="*/ 5 w 13"/>
                        <a:gd name="T3" fmla="*/ 30 h 30"/>
                        <a:gd name="T4" fmla="*/ 9 w 13"/>
                        <a:gd name="T5" fmla="*/ 28 h 30"/>
                        <a:gd name="T6" fmla="*/ 13 w 13"/>
                        <a:gd name="T7" fmla="*/ 28 h 30"/>
                        <a:gd name="T8" fmla="*/ 13 w 13"/>
                        <a:gd name="T9" fmla="*/ 2 h 30"/>
                        <a:gd name="T10" fmla="*/ 5 w 13"/>
                        <a:gd name="T11" fmla="*/ 0 h 30"/>
                        <a:gd name="T12" fmla="*/ 0 w 13"/>
                        <a:gd name="T13" fmla="*/ 2 h 30"/>
                        <a:gd name="T14" fmla="*/ 0 w 13"/>
                        <a:gd name="T15" fmla="*/ 4 h 30"/>
                        <a:gd name="T16" fmla="*/ 0 w 13"/>
                        <a:gd name="T1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30">
                          <a:moveTo>
                            <a:pt x="0" y="30"/>
                          </a:moveTo>
                          <a:lnTo>
                            <a:pt x="5" y="30"/>
                          </a:lnTo>
                          <a:lnTo>
                            <a:pt x="9" y="28"/>
                          </a:lnTo>
                          <a:lnTo>
                            <a:pt x="13" y="28"/>
                          </a:lnTo>
                          <a:lnTo>
                            <a:pt x="13" y="2"/>
                          </a:lnTo>
                          <a:lnTo>
                            <a:pt x="5" y="0"/>
                          </a:lnTo>
                          <a:lnTo>
                            <a:pt x="0" y="2"/>
                          </a:lnTo>
                          <a:lnTo>
                            <a:pt x="0" y="4"/>
                          </a:lnTo>
                          <a:lnTo>
                            <a:pt x="0" y="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7" name="任意多边形 171030">
                      <a:extLst>
                        <a:ext uri="{FF2B5EF4-FFF2-40B4-BE49-F238E27FC236}">
                          <a16:creationId xmlns:a16="http://schemas.microsoft.com/office/drawing/2014/main" xmlns="" id="{46DDD1EA-F90A-37EE-D6B8-FF07381089EF}"/>
                        </a:ext>
                      </a:extLst>
                    </p:cNvPr>
                    <p:cNvSpPr>
                      <a:spLocks noChangeArrowheads="1"/>
                    </p:cNvSpPr>
                    <p:nvPr/>
                  </p:nvSpPr>
                  <p:spPr bwMode="auto">
                    <a:xfrm>
                      <a:off x="1635" y="2927"/>
                      <a:ext cx="13" cy="30"/>
                    </a:xfrm>
                    <a:custGeom>
                      <a:avLst/>
                      <a:gdLst>
                        <a:gd name="T0" fmla="*/ 0 w 13"/>
                        <a:gd name="T1" fmla="*/ 30 h 30"/>
                        <a:gd name="T2" fmla="*/ 5 w 13"/>
                        <a:gd name="T3" fmla="*/ 30 h 30"/>
                        <a:gd name="T4" fmla="*/ 9 w 13"/>
                        <a:gd name="T5" fmla="*/ 28 h 30"/>
                        <a:gd name="T6" fmla="*/ 13 w 13"/>
                        <a:gd name="T7" fmla="*/ 28 h 30"/>
                        <a:gd name="T8" fmla="*/ 13 w 13"/>
                        <a:gd name="T9" fmla="*/ 2 h 30"/>
                        <a:gd name="T10" fmla="*/ 5 w 13"/>
                        <a:gd name="T11" fmla="*/ 0 h 30"/>
                        <a:gd name="T12" fmla="*/ 0 w 13"/>
                        <a:gd name="T13" fmla="*/ 2 h 30"/>
                        <a:gd name="T14" fmla="*/ 0 w 13"/>
                        <a:gd name="T15" fmla="*/ 4 h 30"/>
                        <a:gd name="T16" fmla="*/ 0 w 13"/>
                        <a:gd name="T1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30">
                          <a:moveTo>
                            <a:pt x="0" y="30"/>
                          </a:moveTo>
                          <a:lnTo>
                            <a:pt x="5" y="30"/>
                          </a:lnTo>
                          <a:lnTo>
                            <a:pt x="9" y="28"/>
                          </a:lnTo>
                          <a:lnTo>
                            <a:pt x="13" y="28"/>
                          </a:lnTo>
                          <a:lnTo>
                            <a:pt x="13" y="2"/>
                          </a:lnTo>
                          <a:lnTo>
                            <a:pt x="5" y="0"/>
                          </a:lnTo>
                          <a:lnTo>
                            <a:pt x="0" y="2"/>
                          </a:lnTo>
                          <a:lnTo>
                            <a:pt x="0" y="4"/>
                          </a:lnTo>
                          <a:lnTo>
                            <a:pt x="0" y="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8" name="任意多边形 171031">
                      <a:extLst>
                        <a:ext uri="{FF2B5EF4-FFF2-40B4-BE49-F238E27FC236}">
                          <a16:creationId xmlns:a16="http://schemas.microsoft.com/office/drawing/2014/main" xmlns="" id="{D0F34EA4-9D13-AF39-49AD-D8621CF745BF}"/>
                        </a:ext>
                      </a:extLst>
                    </p:cNvPr>
                    <p:cNvSpPr>
                      <a:spLocks noChangeArrowheads="1"/>
                    </p:cNvSpPr>
                    <p:nvPr/>
                  </p:nvSpPr>
                  <p:spPr bwMode="auto">
                    <a:xfrm>
                      <a:off x="1635" y="2881"/>
                      <a:ext cx="13" cy="30"/>
                    </a:xfrm>
                    <a:custGeom>
                      <a:avLst/>
                      <a:gdLst>
                        <a:gd name="T0" fmla="*/ 0 w 13"/>
                        <a:gd name="T1" fmla="*/ 30 h 30"/>
                        <a:gd name="T2" fmla="*/ 5 w 13"/>
                        <a:gd name="T3" fmla="*/ 30 h 30"/>
                        <a:gd name="T4" fmla="*/ 9 w 13"/>
                        <a:gd name="T5" fmla="*/ 28 h 30"/>
                        <a:gd name="T6" fmla="*/ 13 w 13"/>
                        <a:gd name="T7" fmla="*/ 28 h 30"/>
                        <a:gd name="T8" fmla="*/ 13 w 13"/>
                        <a:gd name="T9" fmla="*/ 2 h 30"/>
                        <a:gd name="T10" fmla="*/ 5 w 13"/>
                        <a:gd name="T11" fmla="*/ 0 h 30"/>
                        <a:gd name="T12" fmla="*/ 0 w 13"/>
                        <a:gd name="T13" fmla="*/ 2 h 30"/>
                        <a:gd name="T14" fmla="*/ 0 w 13"/>
                        <a:gd name="T15" fmla="*/ 5 h 30"/>
                        <a:gd name="T16" fmla="*/ 0 w 13"/>
                        <a:gd name="T1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30">
                          <a:moveTo>
                            <a:pt x="0" y="30"/>
                          </a:moveTo>
                          <a:lnTo>
                            <a:pt x="5" y="30"/>
                          </a:lnTo>
                          <a:lnTo>
                            <a:pt x="9" y="28"/>
                          </a:lnTo>
                          <a:lnTo>
                            <a:pt x="13" y="28"/>
                          </a:lnTo>
                          <a:lnTo>
                            <a:pt x="13" y="2"/>
                          </a:lnTo>
                          <a:lnTo>
                            <a:pt x="5" y="0"/>
                          </a:lnTo>
                          <a:lnTo>
                            <a:pt x="0" y="2"/>
                          </a:lnTo>
                          <a:lnTo>
                            <a:pt x="0" y="5"/>
                          </a:lnTo>
                          <a:lnTo>
                            <a:pt x="0" y="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9" name="任意多边形 171032">
                      <a:extLst>
                        <a:ext uri="{FF2B5EF4-FFF2-40B4-BE49-F238E27FC236}">
                          <a16:creationId xmlns:a16="http://schemas.microsoft.com/office/drawing/2014/main" xmlns="" id="{E00B1857-08CD-0F3C-114C-C72DA58066A5}"/>
                        </a:ext>
                      </a:extLst>
                    </p:cNvPr>
                    <p:cNvSpPr>
                      <a:spLocks noChangeArrowheads="1"/>
                    </p:cNvSpPr>
                    <p:nvPr/>
                  </p:nvSpPr>
                  <p:spPr bwMode="auto">
                    <a:xfrm>
                      <a:off x="1635" y="2836"/>
                      <a:ext cx="13" cy="30"/>
                    </a:xfrm>
                    <a:custGeom>
                      <a:avLst/>
                      <a:gdLst>
                        <a:gd name="T0" fmla="*/ 0 w 13"/>
                        <a:gd name="T1" fmla="*/ 30 h 30"/>
                        <a:gd name="T2" fmla="*/ 5 w 13"/>
                        <a:gd name="T3" fmla="*/ 30 h 30"/>
                        <a:gd name="T4" fmla="*/ 9 w 13"/>
                        <a:gd name="T5" fmla="*/ 28 h 30"/>
                        <a:gd name="T6" fmla="*/ 13 w 13"/>
                        <a:gd name="T7" fmla="*/ 28 h 30"/>
                        <a:gd name="T8" fmla="*/ 13 w 13"/>
                        <a:gd name="T9" fmla="*/ 2 h 30"/>
                        <a:gd name="T10" fmla="*/ 5 w 13"/>
                        <a:gd name="T11" fmla="*/ 0 h 30"/>
                        <a:gd name="T12" fmla="*/ 0 w 13"/>
                        <a:gd name="T13" fmla="*/ 2 h 30"/>
                        <a:gd name="T14" fmla="*/ 0 w 13"/>
                        <a:gd name="T15" fmla="*/ 4 h 30"/>
                        <a:gd name="T16" fmla="*/ 0 w 13"/>
                        <a:gd name="T1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30">
                          <a:moveTo>
                            <a:pt x="0" y="30"/>
                          </a:moveTo>
                          <a:lnTo>
                            <a:pt x="5" y="30"/>
                          </a:lnTo>
                          <a:lnTo>
                            <a:pt x="9" y="28"/>
                          </a:lnTo>
                          <a:lnTo>
                            <a:pt x="13" y="28"/>
                          </a:lnTo>
                          <a:lnTo>
                            <a:pt x="13" y="2"/>
                          </a:lnTo>
                          <a:lnTo>
                            <a:pt x="5" y="0"/>
                          </a:lnTo>
                          <a:lnTo>
                            <a:pt x="0" y="2"/>
                          </a:lnTo>
                          <a:lnTo>
                            <a:pt x="0" y="4"/>
                          </a:lnTo>
                          <a:lnTo>
                            <a:pt x="0" y="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0" name="任意多边形 171033">
                      <a:extLst>
                        <a:ext uri="{FF2B5EF4-FFF2-40B4-BE49-F238E27FC236}">
                          <a16:creationId xmlns:a16="http://schemas.microsoft.com/office/drawing/2014/main" xmlns="" id="{ADFBD263-7E40-63F4-52C1-4C28EE0AD2E6}"/>
                        </a:ext>
                      </a:extLst>
                    </p:cNvPr>
                    <p:cNvSpPr>
                      <a:spLocks noChangeArrowheads="1"/>
                    </p:cNvSpPr>
                    <p:nvPr/>
                  </p:nvSpPr>
                  <p:spPr bwMode="auto">
                    <a:xfrm>
                      <a:off x="1635" y="2791"/>
                      <a:ext cx="13" cy="30"/>
                    </a:xfrm>
                    <a:custGeom>
                      <a:avLst/>
                      <a:gdLst>
                        <a:gd name="T0" fmla="*/ 0 w 13"/>
                        <a:gd name="T1" fmla="*/ 30 h 30"/>
                        <a:gd name="T2" fmla="*/ 5 w 13"/>
                        <a:gd name="T3" fmla="*/ 30 h 30"/>
                        <a:gd name="T4" fmla="*/ 9 w 13"/>
                        <a:gd name="T5" fmla="*/ 28 h 30"/>
                        <a:gd name="T6" fmla="*/ 13 w 13"/>
                        <a:gd name="T7" fmla="*/ 28 h 30"/>
                        <a:gd name="T8" fmla="*/ 13 w 13"/>
                        <a:gd name="T9" fmla="*/ 2 h 30"/>
                        <a:gd name="T10" fmla="*/ 5 w 13"/>
                        <a:gd name="T11" fmla="*/ 0 h 30"/>
                        <a:gd name="T12" fmla="*/ 0 w 13"/>
                        <a:gd name="T13" fmla="*/ 2 h 30"/>
                        <a:gd name="T14" fmla="*/ 0 w 13"/>
                        <a:gd name="T15" fmla="*/ 4 h 30"/>
                        <a:gd name="T16" fmla="*/ 0 w 13"/>
                        <a:gd name="T1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30">
                          <a:moveTo>
                            <a:pt x="0" y="30"/>
                          </a:moveTo>
                          <a:lnTo>
                            <a:pt x="5" y="30"/>
                          </a:lnTo>
                          <a:lnTo>
                            <a:pt x="9" y="28"/>
                          </a:lnTo>
                          <a:lnTo>
                            <a:pt x="13" y="28"/>
                          </a:lnTo>
                          <a:lnTo>
                            <a:pt x="13" y="2"/>
                          </a:lnTo>
                          <a:lnTo>
                            <a:pt x="5" y="0"/>
                          </a:lnTo>
                          <a:lnTo>
                            <a:pt x="0" y="2"/>
                          </a:lnTo>
                          <a:lnTo>
                            <a:pt x="0" y="4"/>
                          </a:lnTo>
                          <a:lnTo>
                            <a:pt x="0" y="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1" name="任意多边形 171034">
                      <a:extLst>
                        <a:ext uri="{FF2B5EF4-FFF2-40B4-BE49-F238E27FC236}">
                          <a16:creationId xmlns:a16="http://schemas.microsoft.com/office/drawing/2014/main" xmlns="" id="{728ACE2A-1BCF-9FA6-C105-E164269D5283}"/>
                        </a:ext>
                      </a:extLst>
                    </p:cNvPr>
                    <p:cNvSpPr>
                      <a:spLocks noChangeArrowheads="1"/>
                    </p:cNvSpPr>
                    <p:nvPr/>
                  </p:nvSpPr>
                  <p:spPr bwMode="auto">
                    <a:xfrm>
                      <a:off x="1635" y="2746"/>
                      <a:ext cx="13" cy="30"/>
                    </a:xfrm>
                    <a:custGeom>
                      <a:avLst/>
                      <a:gdLst>
                        <a:gd name="T0" fmla="*/ 0 w 13"/>
                        <a:gd name="T1" fmla="*/ 30 h 30"/>
                        <a:gd name="T2" fmla="*/ 5 w 13"/>
                        <a:gd name="T3" fmla="*/ 30 h 30"/>
                        <a:gd name="T4" fmla="*/ 9 w 13"/>
                        <a:gd name="T5" fmla="*/ 28 h 30"/>
                        <a:gd name="T6" fmla="*/ 13 w 13"/>
                        <a:gd name="T7" fmla="*/ 28 h 30"/>
                        <a:gd name="T8" fmla="*/ 13 w 13"/>
                        <a:gd name="T9" fmla="*/ 2 h 30"/>
                        <a:gd name="T10" fmla="*/ 5 w 13"/>
                        <a:gd name="T11" fmla="*/ 0 h 30"/>
                        <a:gd name="T12" fmla="*/ 0 w 13"/>
                        <a:gd name="T13" fmla="*/ 2 h 30"/>
                        <a:gd name="T14" fmla="*/ 0 w 13"/>
                        <a:gd name="T15" fmla="*/ 4 h 30"/>
                        <a:gd name="T16" fmla="*/ 0 w 13"/>
                        <a:gd name="T1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30">
                          <a:moveTo>
                            <a:pt x="0" y="30"/>
                          </a:moveTo>
                          <a:lnTo>
                            <a:pt x="5" y="30"/>
                          </a:lnTo>
                          <a:lnTo>
                            <a:pt x="9" y="28"/>
                          </a:lnTo>
                          <a:lnTo>
                            <a:pt x="13" y="28"/>
                          </a:lnTo>
                          <a:lnTo>
                            <a:pt x="13" y="2"/>
                          </a:lnTo>
                          <a:lnTo>
                            <a:pt x="5" y="0"/>
                          </a:lnTo>
                          <a:lnTo>
                            <a:pt x="0" y="2"/>
                          </a:lnTo>
                          <a:lnTo>
                            <a:pt x="0" y="4"/>
                          </a:lnTo>
                          <a:lnTo>
                            <a:pt x="0" y="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2" name="任意多边形 171035">
                      <a:extLst>
                        <a:ext uri="{FF2B5EF4-FFF2-40B4-BE49-F238E27FC236}">
                          <a16:creationId xmlns:a16="http://schemas.microsoft.com/office/drawing/2014/main" xmlns="" id="{CFFF1A17-AC4A-9CC8-5827-2E8A4249ED2D}"/>
                        </a:ext>
                      </a:extLst>
                    </p:cNvPr>
                    <p:cNvSpPr>
                      <a:spLocks noChangeArrowheads="1"/>
                    </p:cNvSpPr>
                    <p:nvPr/>
                  </p:nvSpPr>
                  <p:spPr bwMode="auto">
                    <a:xfrm>
                      <a:off x="1635" y="2700"/>
                      <a:ext cx="13" cy="30"/>
                    </a:xfrm>
                    <a:custGeom>
                      <a:avLst/>
                      <a:gdLst>
                        <a:gd name="T0" fmla="*/ 0 w 13"/>
                        <a:gd name="T1" fmla="*/ 30 h 30"/>
                        <a:gd name="T2" fmla="*/ 5 w 13"/>
                        <a:gd name="T3" fmla="*/ 30 h 30"/>
                        <a:gd name="T4" fmla="*/ 9 w 13"/>
                        <a:gd name="T5" fmla="*/ 28 h 30"/>
                        <a:gd name="T6" fmla="*/ 13 w 13"/>
                        <a:gd name="T7" fmla="*/ 28 h 30"/>
                        <a:gd name="T8" fmla="*/ 13 w 13"/>
                        <a:gd name="T9" fmla="*/ 2 h 30"/>
                        <a:gd name="T10" fmla="*/ 5 w 13"/>
                        <a:gd name="T11" fmla="*/ 0 h 30"/>
                        <a:gd name="T12" fmla="*/ 0 w 13"/>
                        <a:gd name="T13" fmla="*/ 2 h 30"/>
                        <a:gd name="T14" fmla="*/ 0 w 13"/>
                        <a:gd name="T15" fmla="*/ 5 h 30"/>
                        <a:gd name="T16" fmla="*/ 0 w 13"/>
                        <a:gd name="T1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30">
                          <a:moveTo>
                            <a:pt x="0" y="30"/>
                          </a:moveTo>
                          <a:lnTo>
                            <a:pt x="5" y="30"/>
                          </a:lnTo>
                          <a:lnTo>
                            <a:pt x="9" y="28"/>
                          </a:lnTo>
                          <a:lnTo>
                            <a:pt x="13" y="28"/>
                          </a:lnTo>
                          <a:lnTo>
                            <a:pt x="13" y="2"/>
                          </a:lnTo>
                          <a:lnTo>
                            <a:pt x="5" y="0"/>
                          </a:lnTo>
                          <a:lnTo>
                            <a:pt x="0" y="2"/>
                          </a:lnTo>
                          <a:lnTo>
                            <a:pt x="0" y="5"/>
                          </a:lnTo>
                          <a:lnTo>
                            <a:pt x="0" y="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3" name="任意多边形 171036">
                      <a:extLst>
                        <a:ext uri="{FF2B5EF4-FFF2-40B4-BE49-F238E27FC236}">
                          <a16:creationId xmlns:a16="http://schemas.microsoft.com/office/drawing/2014/main" xmlns="" id="{3B5DD7B5-D681-DC95-0732-875D393B9C92}"/>
                        </a:ext>
                      </a:extLst>
                    </p:cNvPr>
                    <p:cNvSpPr>
                      <a:spLocks noChangeArrowheads="1"/>
                    </p:cNvSpPr>
                    <p:nvPr/>
                  </p:nvSpPr>
                  <p:spPr bwMode="auto">
                    <a:xfrm>
                      <a:off x="1635" y="2655"/>
                      <a:ext cx="13" cy="30"/>
                    </a:xfrm>
                    <a:custGeom>
                      <a:avLst/>
                      <a:gdLst>
                        <a:gd name="T0" fmla="*/ 0 w 13"/>
                        <a:gd name="T1" fmla="*/ 30 h 30"/>
                        <a:gd name="T2" fmla="*/ 5 w 13"/>
                        <a:gd name="T3" fmla="*/ 30 h 30"/>
                        <a:gd name="T4" fmla="*/ 9 w 13"/>
                        <a:gd name="T5" fmla="*/ 28 h 30"/>
                        <a:gd name="T6" fmla="*/ 13 w 13"/>
                        <a:gd name="T7" fmla="*/ 28 h 30"/>
                        <a:gd name="T8" fmla="*/ 13 w 13"/>
                        <a:gd name="T9" fmla="*/ 2 h 30"/>
                        <a:gd name="T10" fmla="*/ 5 w 13"/>
                        <a:gd name="T11" fmla="*/ 0 h 30"/>
                        <a:gd name="T12" fmla="*/ 0 w 13"/>
                        <a:gd name="T13" fmla="*/ 2 h 30"/>
                        <a:gd name="T14" fmla="*/ 0 w 13"/>
                        <a:gd name="T15" fmla="*/ 4 h 30"/>
                        <a:gd name="T16" fmla="*/ 0 w 13"/>
                        <a:gd name="T1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30">
                          <a:moveTo>
                            <a:pt x="0" y="30"/>
                          </a:moveTo>
                          <a:lnTo>
                            <a:pt x="5" y="30"/>
                          </a:lnTo>
                          <a:lnTo>
                            <a:pt x="9" y="28"/>
                          </a:lnTo>
                          <a:lnTo>
                            <a:pt x="13" y="28"/>
                          </a:lnTo>
                          <a:lnTo>
                            <a:pt x="13" y="2"/>
                          </a:lnTo>
                          <a:lnTo>
                            <a:pt x="5" y="0"/>
                          </a:lnTo>
                          <a:lnTo>
                            <a:pt x="0" y="2"/>
                          </a:lnTo>
                          <a:lnTo>
                            <a:pt x="0" y="4"/>
                          </a:lnTo>
                          <a:lnTo>
                            <a:pt x="0" y="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4" name="任意多边形 171037">
                      <a:extLst>
                        <a:ext uri="{FF2B5EF4-FFF2-40B4-BE49-F238E27FC236}">
                          <a16:creationId xmlns:a16="http://schemas.microsoft.com/office/drawing/2014/main" xmlns="" id="{48125AF3-A933-1C0B-FD0E-2F2CD2944A82}"/>
                        </a:ext>
                      </a:extLst>
                    </p:cNvPr>
                    <p:cNvSpPr>
                      <a:spLocks noChangeArrowheads="1"/>
                    </p:cNvSpPr>
                    <p:nvPr/>
                  </p:nvSpPr>
                  <p:spPr bwMode="auto">
                    <a:xfrm>
                      <a:off x="1635" y="2629"/>
                      <a:ext cx="13" cy="11"/>
                    </a:xfrm>
                    <a:custGeom>
                      <a:avLst/>
                      <a:gdLst>
                        <a:gd name="T0" fmla="*/ 0 w 13"/>
                        <a:gd name="T1" fmla="*/ 11 h 11"/>
                        <a:gd name="T2" fmla="*/ 5 w 13"/>
                        <a:gd name="T3" fmla="*/ 11 h 11"/>
                        <a:gd name="T4" fmla="*/ 9 w 13"/>
                        <a:gd name="T5" fmla="*/ 9 h 11"/>
                        <a:gd name="T6" fmla="*/ 13 w 13"/>
                        <a:gd name="T7" fmla="*/ 9 h 11"/>
                        <a:gd name="T8" fmla="*/ 13 w 13"/>
                        <a:gd name="T9" fmla="*/ 2 h 11"/>
                        <a:gd name="T10" fmla="*/ 5 w 13"/>
                        <a:gd name="T11" fmla="*/ 0 h 11"/>
                        <a:gd name="T12" fmla="*/ 0 w 13"/>
                        <a:gd name="T13" fmla="*/ 2 h 11"/>
                        <a:gd name="T14" fmla="*/ 0 w 13"/>
                        <a:gd name="T15" fmla="*/ 5 h 11"/>
                        <a:gd name="T16" fmla="*/ 0 w 13"/>
                        <a:gd name="T17" fmla="*/ 11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11">
                          <a:moveTo>
                            <a:pt x="0" y="11"/>
                          </a:moveTo>
                          <a:lnTo>
                            <a:pt x="5" y="11"/>
                          </a:lnTo>
                          <a:lnTo>
                            <a:pt x="9" y="9"/>
                          </a:lnTo>
                          <a:lnTo>
                            <a:pt x="13" y="9"/>
                          </a:lnTo>
                          <a:lnTo>
                            <a:pt x="13" y="2"/>
                          </a:lnTo>
                          <a:lnTo>
                            <a:pt x="5" y="0"/>
                          </a:lnTo>
                          <a:lnTo>
                            <a:pt x="0" y="2"/>
                          </a:lnTo>
                          <a:lnTo>
                            <a:pt x="0" y="5"/>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91" name="矩形 171038">
                    <a:extLst>
                      <a:ext uri="{FF2B5EF4-FFF2-40B4-BE49-F238E27FC236}">
                        <a16:creationId xmlns:a16="http://schemas.microsoft.com/office/drawing/2014/main" xmlns="" id="{730541A1-295A-3D56-79FA-B92B1A40E562}"/>
                      </a:ext>
                    </a:extLst>
                  </p:cNvPr>
                  <p:cNvSpPr>
                    <a:spLocks noChangeArrowheads="1"/>
                  </p:cNvSpPr>
                  <p:nvPr/>
                </p:nvSpPr>
                <p:spPr bwMode="auto">
                  <a:xfrm>
                    <a:off x="3626" y="3783"/>
                    <a:ext cx="497"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92" name="矩形 171039">
                    <a:extLst>
                      <a:ext uri="{FF2B5EF4-FFF2-40B4-BE49-F238E27FC236}">
                        <a16:creationId xmlns:a16="http://schemas.microsoft.com/office/drawing/2014/main" xmlns="" id="{F68DA0C3-2A3F-C2D2-A9AF-F95CD9ACA839}"/>
                      </a:ext>
                    </a:extLst>
                  </p:cNvPr>
                  <p:cNvSpPr>
                    <a:spLocks noChangeArrowheads="1"/>
                  </p:cNvSpPr>
                  <p:nvPr/>
                </p:nvSpPr>
                <p:spPr bwMode="auto">
                  <a:xfrm>
                    <a:off x="3708" y="3792"/>
                    <a:ext cx="25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50000"/>
                      </a:spcBef>
                    </a:pPr>
                    <a:r>
                      <a:rPr lang="zh-CN" altLang="en-US" sz="1600" b="0">
                        <a:solidFill>
                          <a:srgbClr val="000000"/>
                        </a:solidFill>
                        <a:latin typeface="宋体" panose="02010600030101010101" pitchFamily="2" charset="-122"/>
                      </a:rPr>
                      <a:t>欠压</a:t>
                    </a:r>
                    <a:endParaRPr lang="zh-CN" altLang="en-US" sz="1600">
                      <a:solidFill>
                        <a:schemeClr val="tx1"/>
                      </a:solidFill>
                    </a:endParaRPr>
                  </a:p>
                </p:txBody>
              </p:sp>
              <p:sp>
                <p:nvSpPr>
                  <p:cNvPr id="93" name="矩形 171040">
                    <a:extLst>
                      <a:ext uri="{FF2B5EF4-FFF2-40B4-BE49-F238E27FC236}">
                        <a16:creationId xmlns:a16="http://schemas.microsoft.com/office/drawing/2014/main" xmlns="" id="{687007BA-0E2B-F69F-4903-FD73C5F12E82}"/>
                      </a:ext>
                    </a:extLst>
                  </p:cNvPr>
                  <p:cNvSpPr>
                    <a:spLocks noChangeArrowheads="1"/>
                  </p:cNvSpPr>
                  <p:nvPr/>
                </p:nvSpPr>
                <p:spPr bwMode="auto">
                  <a:xfrm>
                    <a:off x="4521" y="3783"/>
                    <a:ext cx="502"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94" name="矩形 171041">
                    <a:extLst>
                      <a:ext uri="{FF2B5EF4-FFF2-40B4-BE49-F238E27FC236}">
                        <a16:creationId xmlns:a16="http://schemas.microsoft.com/office/drawing/2014/main" xmlns="" id="{5D6CF96B-275F-C516-C605-3EDC89B7CB8E}"/>
                      </a:ext>
                    </a:extLst>
                  </p:cNvPr>
                  <p:cNvSpPr>
                    <a:spLocks noChangeArrowheads="1"/>
                  </p:cNvSpPr>
                  <p:nvPr/>
                </p:nvSpPr>
                <p:spPr bwMode="auto">
                  <a:xfrm>
                    <a:off x="4607" y="3792"/>
                    <a:ext cx="25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50000"/>
                      </a:spcBef>
                    </a:pPr>
                    <a:r>
                      <a:rPr lang="zh-CN" altLang="en-US" sz="1600" b="0">
                        <a:solidFill>
                          <a:srgbClr val="000000"/>
                        </a:solidFill>
                        <a:latin typeface="宋体" panose="02010600030101010101" pitchFamily="2" charset="-122"/>
                      </a:rPr>
                      <a:t>过压</a:t>
                    </a:r>
                    <a:endParaRPr lang="zh-CN" altLang="en-US" sz="1600">
                      <a:solidFill>
                        <a:schemeClr val="tx1"/>
                      </a:solidFill>
                    </a:endParaRPr>
                  </a:p>
                </p:txBody>
              </p:sp>
              <p:sp>
                <p:nvSpPr>
                  <p:cNvPr id="95" name="直接连接符 171042">
                    <a:extLst>
                      <a:ext uri="{FF2B5EF4-FFF2-40B4-BE49-F238E27FC236}">
                        <a16:creationId xmlns:a16="http://schemas.microsoft.com/office/drawing/2014/main" xmlns="" id="{6E93520D-5BAC-BCA1-177D-77B594FFB0E0}"/>
                      </a:ext>
                    </a:extLst>
                  </p:cNvPr>
                  <p:cNvSpPr>
                    <a:spLocks noChangeShapeType="1"/>
                  </p:cNvSpPr>
                  <p:nvPr/>
                </p:nvSpPr>
                <p:spPr bwMode="auto">
                  <a:xfrm flipV="1">
                    <a:off x="3476" y="2926"/>
                    <a:ext cx="1" cy="83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 name="任意多边形 171043">
                    <a:extLst>
                      <a:ext uri="{FF2B5EF4-FFF2-40B4-BE49-F238E27FC236}">
                        <a16:creationId xmlns:a16="http://schemas.microsoft.com/office/drawing/2014/main" xmlns="" id="{9751B163-20CD-AEF7-0325-1214CBEC45AE}"/>
                      </a:ext>
                    </a:extLst>
                  </p:cNvPr>
                  <p:cNvSpPr>
                    <a:spLocks noChangeArrowheads="1"/>
                  </p:cNvSpPr>
                  <p:nvPr/>
                </p:nvSpPr>
                <p:spPr bwMode="auto">
                  <a:xfrm>
                    <a:off x="3459" y="2867"/>
                    <a:ext cx="39" cy="72"/>
                  </a:xfrm>
                  <a:custGeom>
                    <a:avLst/>
                    <a:gdLst>
                      <a:gd name="T0" fmla="*/ 17 w 39"/>
                      <a:gd name="T1" fmla="*/ 0 h 72"/>
                      <a:gd name="T2" fmla="*/ 0 w 39"/>
                      <a:gd name="T3" fmla="*/ 72 h 72"/>
                      <a:gd name="T4" fmla="*/ 39 w 39"/>
                      <a:gd name="T5" fmla="*/ 72 h 72"/>
                      <a:gd name="T6" fmla="*/ 17 w 39"/>
                      <a:gd name="T7" fmla="*/ 0 h 72"/>
                    </a:gdLst>
                    <a:ahLst/>
                    <a:cxnLst>
                      <a:cxn ang="0">
                        <a:pos x="T0" y="T1"/>
                      </a:cxn>
                      <a:cxn ang="0">
                        <a:pos x="T2" y="T3"/>
                      </a:cxn>
                      <a:cxn ang="0">
                        <a:pos x="T4" y="T5"/>
                      </a:cxn>
                      <a:cxn ang="0">
                        <a:pos x="T6" y="T7"/>
                      </a:cxn>
                    </a:cxnLst>
                    <a:rect l="0" t="0" r="r" b="b"/>
                    <a:pathLst>
                      <a:path w="39" h="72">
                        <a:moveTo>
                          <a:pt x="17" y="0"/>
                        </a:moveTo>
                        <a:lnTo>
                          <a:pt x="0" y="72"/>
                        </a:lnTo>
                        <a:lnTo>
                          <a:pt x="39" y="72"/>
                        </a:lnTo>
                        <a:lnTo>
                          <a:pt x="17" y="0"/>
                        </a:lnTo>
                        <a:close/>
                      </a:path>
                    </a:pathLst>
                  </a:custGeom>
                  <a:solidFill>
                    <a:srgbClr val="000000"/>
                  </a:solidFill>
                  <a:ln w="6350">
                    <a:solidFill>
                      <a:srgbClr val="000000"/>
                    </a:solidFill>
                    <a:round/>
                    <a:headEnd/>
                    <a:tailEnd/>
                  </a:ln>
                </p:spPr>
                <p:txBody>
                  <a:bodyPr/>
                  <a:lstStyle/>
                  <a:p>
                    <a:endParaRPr lang="zh-CN" altLang="en-US"/>
                  </a:p>
                </p:txBody>
              </p:sp>
              <p:sp>
                <p:nvSpPr>
                  <p:cNvPr id="97" name="直接连接符 171044">
                    <a:extLst>
                      <a:ext uri="{FF2B5EF4-FFF2-40B4-BE49-F238E27FC236}">
                        <a16:creationId xmlns:a16="http://schemas.microsoft.com/office/drawing/2014/main" xmlns="" id="{09041DDA-6EDC-23C7-1050-71C56AA406E0}"/>
                      </a:ext>
                    </a:extLst>
                  </p:cNvPr>
                  <p:cNvSpPr>
                    <a:spLocks noChangeShapeType="1"/>
                  </p:cNvSpPr>
                  <p:nvPr/>
                </p:nvSpPr>
                <p:spPr bwMode="auto">
                  <a:xfrm flipH="1">
                    <a:off x="3481" y="3764"/>
                    <a:ext cx="1661"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 name="任意多边形 171045">
                    <a:extLst>
                      <a:ext uri="{FF2B5EF4-FFF2-40B4-BE49-F238E27FC236}">
                        <a16:creationId xmlns:a16="http://schemas.microsoft.com/office/drawing/2014/main" xmlns="" id="{6567C313-0092-EE3A-B6C5-BAF79AF41807}"/>
                      </a:ext>
                    </a:extLst>
                  </p:cNvPr>
                  <p:cNvSpPr>
                    <a:spLocks noChangeArrowheads="1"/>
                  </p:cNvSpPr>
                  <p:nvPr/>
                </p:nvSpPr>
                <p:spPr bwMode="auto">
                  <a:xfrm>
                    <a:off x="5138" y="3753"/>
                    <a:ext cx="146" cy="21"/>
                  </a:xfrm>
                  <a:custGeom>
                    <a:avLst/>
                    <a:gdLst>
                      <a:gd name="T0" fmla="*/ 146 w 146"/>
                      <a:gd name="T1" fmla="*/ 11 h 21"/>
                      <a:gd name="T2" fmla="*/ 0 w 146"/>
                      <a:gd name="T3" fmla="*/ 21 h 21"/>
                      <a:gd name="T4" fmla="*/ 0 w 146"/>
                      <a:gd name="T5" fmla="*/ 0 h 21"/>
                      <a:gd name="T6" fmla="*/ 146 w 146"/>
                      <a:gd name="T7" fmla="*/ 11 h 21"/>
                    </a:gdLst>
                    <a:ahLst/>
                    <a:cxnLst>
                      <a:cxn ang="0">
                        <a:pos x="T0" y="T1"/>
                      </a:cxn>
                      <a:cxn ang="0">
                        <a:pos x="T2" y="T3"/>
                      </a:cxn>
                      <a:cxn ang="0">
                        <a:pos x="T4" y="T5"/>
                      </a:cxn>
                      <a:cxn ang="0">
                        <a:pos x="T6" y="T7"/>
                      </a:cxn>
                    </a:cxnLst>
                    <a:rect l="0" t="0" r="r" b="b"/>
                    <a:pathLst>
                      <a:path w="146" h="21">
                        <a:moveTo>
                          <a:pt x="146" y="11"/>
                        </a:moveTo>
                        <a:lnTo>
                          <a:pt x="0" y="21"/>
                        </a:lnTo>
                        <a:lnTo>
                          <a:pt x="0" y="0"/>
                        </a:lnTo>
                        <a:lnTo>
                          <a:pt x="146" y="11"/>
                        </a:lnTo>
                        <a:close/>
                      </a:path>
                    </a:pathLst>
                  </a:custGeom>
                  <a:solidFill>
                    <a:srgbClr val="000000"/>
                  </a:solidFill>
                  <a:ln w="6350">
                    <a:solidFill>
                      <a:srgbClr val="000000"/>
                    </a:solidFill>
                    <a:round/>
                    <a:headEnd/>
                    <a:tailEnd/>
                  </a:ln>
                </p:spPr>
                <p:txBody>
                  <a:bodyPr/>
                  <a:lstStyle/>
                  <a:p>
                    <a:endParaRPr lang="zh-CN" altLang="en-US"/>
                  </a:p>
                </p:txBody>
              </p:sp>
              <p:sp>
                <p:nvSpPr>
                  <p:cNvPr id="99" name="矩形 171046">
                    <a:extLst>
                      <a:ext uri="{FF2B5EF4-FFF2-40B4-BE49-F238E27FC236}">
                        <a16:creationId xmlns:a16="http://schemas.microsoft.com/office/drawing/2014/main" xmlns="" id="{1FE012F3-AF99-752A-3E49-2ABD79022744}"/>
                      </a:ext>
                    </a:extLst>
                  </p:cNvPr>
                  <p:cNvSpPr>
                    <a:spLocks noChangeArrowheads="1"/>
                  </p:cNvSpPr>
                  <p:nvPr/>
                </p:nvSpPr>
                <p:spPr bwMode="auto">
                  <a:xfrm>
                    <a:off x="3305" y="3738"/>
                    <a:ext cx="201"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0" name="矩形 171047">
                    <a:extLst>
                      <a:ext uri="{FF2B5EF4-FFF2-40B4-BE49-F238E27FC236}">
                        <a16:creationId xmlns:a16="http://schemas.microsoft.com/office/drawing/2014/main" xmlns="" id="{A495E89D-E6AD-6436-C788-B8B1E1175726}"/>
                      </a:ext>
                    </a:extLst>
                  </p:cNvPr>
                  <p:cNvSpPr>
                    <a:spLocks noChangeArrowheads="1"/>
                  </p:cNvSpPr>
                  <p:nvPr/>
                </p:nvSpPr>
                <p:spPr bwMode="auto">
                  <a:xfrm>
                    <a:off x="3361" y="3740"/>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50000"/>
                      </a:spcBef>
                    </a:pPr>
                    <a:r>
                      <a:rPr lang="en-US" altLang="zh-CN" sz="1400" b="0" i="1">
                        <a:solidFill>
                          <a:srgbClr val="000000"/>
                        </a:solidFill>
                      </a:rPr>
                      <a:t>0</a:t>
                    </a:r>
                    <a:endParaRPr lang="en-US" altLang="zh-CN" sz="1400" i="1">
                      <a:solidFill>
                        <a:schemeClr val="tx1"/>
                      </a:solidFill>
                    </a:endParaRPr>
                  </a:p>
                </p:txBody>
              </p:sp>
              <p:sp>
                <p:nvSpPr>
                  <p:cNvPr id="101" name="矩形 171048">
                    <a:extLst>
                      <a:ext uri="{FF2B5EF4-FFF2-40B4-BE49-F238E27FC236}">
                        <a16:creationId xmlns:a16="http://schemas.microsoft.com/office/drawing/2014/main" xmlns="" id="{AF0056BB-6AE7-A129-1B38-94F99C593465}"/>
                      </a:ext>
                    </a:extLst>
                  </p:cNvPr>
                  <p:cNvSpPr>
                    <a:spLocks noChangeArrowheads="1"/>
                  </p:cNvSpPr>
                  <p:nvPr/>
                </p:nvSpPr>
                <p:spPr bwMode="auto">
                  <a:xfrm>
                    <a:off x="4166" y="3770"/>
                    <a:ext cx="274"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2" name="矩形 171049">
                    <a:extLst>
                      <a:ext uri="{FF2B5EF4-FFF2-40B4-BE49-F238E27FC236}">
                        <a16:creationId xmlns:a16="http://schemas.microsoft.com/office/drawing/2014/main" xmlns="" id="{BEE021F8-39BF-9337-F9B3-95787CDF6502}"/>
                      </a:ext>
                    </a:extLst>
                  </p:cNvPr>
                  <p:cNvSpPr>
                    <a:spLocks noChangeArrowheads="1"/>
                  </p:cNvSpPr>
                  <p:nvPr/>
                </p:nvSpPr>
                <p:spPr bwMode="auto">
                  <a:xfrm>
                    <a:off x="4222" y="3779"/>
                    <a:ext cx="128"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50000"/>
                      </a:spcBef>
                    </a:pPr>
                    <a:r>
                      <a:rPr lang="zh-CN" altLang="en-US" sz="1600" b="0">
                        <a:solidFill>
                          <a:srgbClr val="000000"/>
                        </a:solidFill>
                        <a:latin typeface="宋体" panose="02010600030101010101" pitchFamily="2" charset="-122"/>
                      </a:rPr>
                      <a:t>临</a:t>
                    </a:r>
                    <a:endParaRPr lang="zh-CN" altLang="en-US" sz="1600">
                      <a:solidFill>
                        <a:schemeClr val="tx1"/>
                      </a:solidFill>
                    </a:endParaRPr>
                  </a:p>
                </p:txBody>
              </p:sp>
              <p:sp>
                <p:nvSpPr>
                  <p:cNvPr id="103" name="矩形 171050">
                    <a:extLst>
                      <a:ext uri="{FF2B5EF4-FFF2-40B4-BE49-F238E27FC236}">
                        <a16:creationId xmlns:a16="http://schemas.microsoft.com/office/drawing/2014/main" xmlns="" id="{FE72AF69-3D84-4B66-6A4B-67CEA2AA7325}"/>
                      </a:ext>
                    </a:extLst>
                  </p:cNvPr>
                  <p:cNvSpPr>
                    <a:spLocks noChangeArrowheads="1"/>
                  </p:cNvSpPr>
                  <p:nvPr/>
                </p:nvSpPr>
                <p:spPr bwMode="auto">
                  <a:xfrm>
                    <a:off x="4217" y="3914"/>
                    <a:ext cx="128"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50000"/>
                      </a:spcBef>
                    </a:pPr>
                    <a:r>
                      <a:rPr lang="zh-CN" altLang="en-US" sz="1600" b="0">
                        <a:solidFill>
                          <a:srgbClr val="000000"/>
                        </a:solidFill>
                        <a:latin typeface="宋体" panose="02010600030101010101" pitchFamily="2" charset="-122"/>
                      </a:rPr>
                      <a:t>界</a:t>
                    </a:r>
                    <a:endParaRPr lang="zh-CN" altLang="en-US" sz="1600">
                      <a:solidFill>
                        <a:schemeClr val="tx1"/>
                      </a:solidFill>
                    </a:endParaRPr>
                  </a:p>
                </p:txBody>
              </p:sp>
              <p:sp>
                <p:nvSpPr>
                  <p:cNvPr id="104" name="矩形 171051">
                    <a:extLst>
                      <a:ext uri="{FF2B5EF4-FFF2-40B4-BE49-F238E27FC236}">
                        <a16:creationId xmlns:a16="http://schemas.microsoft.com/office/drawing/2014/main" xmlns="" id="{04C7EFFE-E72C-7AD5-AC17-45EA6EB71E8A}"/>
                      </a:ext>
                    </a:extLst>
                  </p:cNvPr>
                  <p:cNvSpPr>
                    <a:spLocks noChangeArrowheads="1"/>
                  </p:cNvSpPr>
                  <p:nvPr/>
                </p:nvSpPr>
                <p:spPr bwMode="auto">
                  <a:xfrm>
                    <a:off x="5078" y="3783"/>
                    <a:ext cx="257"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nvGrpSpPr>
                  <p:cNvPr id="105" name="组合 171052">
                    <a:extLst>
                      <a:ext uri="{FF2B5EF4-FFF2-40B4-BE49-F238E27FC236}">
                        <a16:creationId xmlns:a16="http://schemas.microsoft.com/office/drawing/2014/main" xmlns="" id="{D9D443E1-7093-18F2-DE34-045DF51DBFF6}"/>
                      </a:ext>
                    </a:extLst>
                  </p:cNvPr>
                  <p:cNvGrpSpPr>
                    <a:grpSpLocks/>
                  </p:cNvGrpSpPr>
                  <p:nvPr/>
                </p:nvGrpSpPr>
                <p:grpSpPr bwMode="auto">
                  <a:xfrm>
                    <a:off x="5121" y="3783"/>
                    <a:ext cx="147" cy="188"/>
                    <a:chOff x="2449" y="3381"/>
                    <a:chExt cx="147" cy="188"/>
                  </a:xfrm>
                </p:grpSpPr>
                <p:sp>
                  <p:nvSpPr>
                    <p:cNvPr id="106" name="矩形 171053">
                      <a:extLst>
                        <a:ext uri="{FF2B5EF4-FFF2-40B4-BE49-F238E27FC236}">
                          <a16:creationId xmlns:a16="http://schemas.microsoft.com/office/drawing/2014/main" xmlns="" id="{F62B9A16-2F44-5E33-C3A1-F062204DDBC4}"/>
                        </a:ext>
                      </a:extLst>
                    </p:cNvPr>
                    <p:cNvSpPr>
                      <a:spLocks noChangeArrowheads="1"/>
                    </p:cNvSpPr>
                    <p:nvPr/>
                  </p:nvSpPr>
                  <p:spPr bwMode="auto">
                    <a:xfrm>
                      <a:off x="2449" y="3381"/>
                      <a:ext cx="88"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50000"/>
                        </a:spcBef>
                      </a:pPr>
                      <a:r>
                        <a:rPr lang="en-US" altLang="zh-CN" sz="1800" b="0" i="1">
                          <a:solidFill>
                            <a:srgbClr val="000000"/>
                          </a:solidFill>
                        </a:rPr>
                        <a:t>R</a:t>
                      </a:r>
                      <a:endParaRPr lang="en-US" altLang="zh-CN" sz="1800" i="1">
                        <a:solidFill>
                          <a:schemeClr val="tx1"/>
                        </a:solidFill>
                      </a:endParaRPr>
                    </a:p>
                  </p:txBody>
                </p:sp>
                <p:sp>
                  <p:nvSpPr>
                    <p:cNvPr id="107" name="矩形 171054">
                      <a:extLst>
                        <a:ext uri="{FF2B5EF4-FFF2-40B4-BE49-F238E27FC236}">
                          <a16:creationId xmlns:a16="http://schemas.microsoft.com/office/drawing/2014/main" xmlns="" id="{E945407C-6362-E3A5-7A19-2578CBA6DCDD}"/>
                        </a:ext>
                      </a:extLst>
                    </p:cNvPr>
                    <p:cNvSpPr>
                      <a:spLocks noChangeArrowheads="1"/>
                    </p:cNvSpPr>
                    <p:nvPr/>
                  </p:nvSpPr>
                  <p:spPr bwMode="auto">
                    <a:xfrm>
                      <a:off x="2556" y="3473"/>
                      <a:ext cx="40"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50000"/>
                        </a:spcBef>
                      </a:pPr>
                      <a:r>
                        <a:rPr lang="en-US" altLang="zh-CN" sz="1000" b="0">
                          <a:solidFill>
                            <a:srgbClr val="000000"/>
                          </a:solidFill>
                        </a:rPr>
                        <a:t>p</a:t>
                      </a:r>
                      <a:endParaRPr lang="en-US" altLang="zh-CN" sz="1000">
                        <a:solidFill>
                          <a:schemeClr val="tx1"/>
                        </a:solidFill>
                      </a:endParaRPr>
                    </a:p>
                  </p:txBody>
                </p:sp>
              </p:grpSp>
            </p:grpSp>
          </p:grpSp>
          <p:sp>
            <p:nvSpPr>
              <p:cNvPr id="11" name="任意多边形 171055">
                <a:extLst>
                  <a:ext uri="{FF2B5EF4-FFF2-40B4-BE49-F238E27FC236}">
                    <a16:creationId xmlns:a16="http://schemas.microsoft.com/office/drawing/2014/main" xmlns="" id="{C6BEF72A-40B8-4CF3-8A5F-0B36E54A9E50}"/>
                  </a:ext>
                </a:extLst>
              </p:cNvPr>
              <p:cNvSpPr>
                <a:spLocks noChangeArrowheads="1"/>
              </p:cNvSpPr>
              <p:nvPr/>
            </p:nvSpPr>
            <p:spPr bwMode="auto">
              <a:xfrm>
                <a:off x="2800" y="1176"/>
                <a:ext cx="1337" cy="752"/>
              </a:xfrm>
              <a:custGeom>
                <a:avLst/>
                <a:gdLst>
                  <a:gd name="T0" fmla="*/ 22 w 1337"/>
                  <a:gd name="T1" fmla="*/ 752 h 752"/>
                  <a:gd name="T2" fmla="*/ 253 w 1337"/>
                  <a:gd name="T3" fmla="*/ 551 h 752"/>
                  <a:gd name="T4" fmla="*/ 394 w 1337"/>
                  <a:gd name="T5" fmla="*/ 431 h 752"/>
                  <a:gd name="T6" fmla="*/ 514 w 1337"/>
                  <a:gd name="T7" fmla="*/ 327 h 752"/>
                  <a:gd name="T8" fmla="*/ 553 w 1337"/>
                  <a:gd name="T9" fmla="*/ 282 h 752"/>
                  <a:gd name="T10" fmla="*/ 587 w 1337"/>
                  <a:gd name="T11" fmla="*/ 267 h 752"/>
                  <a:gd name="T12" fmla="*/ 638 w 1337"/>
                  <a:gd name="T13" fmla="*/ 226 h 752"/>
                  <a:gd name="T14" fmla="*/ 686 w 1337"/>
                  <a:gd name="T15" fmla="*/ 192 h 752"/>
                  <a:gd name="T16" fmla="*/ 724 w 1337"/>
                  <a:gd name="T17" fmla="*/ 166 h 752"/>
                  <a:gd name="T18" fmla="*/ 771 w 1337"/>
                  <a:gd name="T19" fmla="*/ 140 h 752"/>
                  <a:gd name="T20" fmla="*/ 844 w 1337"/>
                  <a:gd name="T21" fmla="*/ 101 h 752"/>
                  <a:gd name="T22" fmla="*/ 908 w 1337"/>
                  <a:gd name="T23" fmla="*/ 58 h 752"/>
                  <a:gd name="T24" fmla="*/ 955 w 1337"/>
                  <a:gd name="T25" fmla="*/ 45 h 752"/>
                  <a:gd name="T26" fmla="*/ 1028 w 1337"/>
                  <a:gd name="T27" fmla="*/ 19 h 752"/>
                  <a:gd name="T28" fmla="*/ 1024 w 1337"/>
                  <a:gd name="T29" fmla="*/ 22 h 752"/>
                  <a:gd name="T30" fmla="*/ 1097 w 1337"/>
                  <a:gd name="T31" fmla="*/ 13 h 752"/>
                  <a:gd name="T32" fmla="*/ 1092 w 1337"/>
                  <a:gd name="T33" fmla="*/ 13 h 752"/>
                  <a:gd name="T34" fmla="*/ 1161 w 1337"/>
                  <a:gd name="T35" fmla="*/ 22 h 752"/>
                  <a:gd name="T36" fmla="*/ 1157 w 1337"/>
                  <a:gd name="T37" fmla="*/ 19 h 752"/>
                  <a:gd name="T38" fmla="*/ 1225 w 1337"/>
                  <a:gd name="T39" fmla="*/ 41 h 752"/>
                  <a:gd name="T40" fmla="*/ 1319 w 1337"/>
                  <a:gd name="T41" fmla="*/ 82 h 752"/>
                  <a:gd name="T42" fmla="*/ 1268 w 1337"/>
                  <a:gd name="T43" fmla="*/ 43 h 752"/>
                  <a:gd name="T44" fmla="*/ 1204 w 1337"/>
                  <a:gd name="T45" fmla="*/ 19 h 752"/>
                  <a:gd name="T46" fmla="*/ 1165 w 1337"/>
                  <a:gd name="T47" fmla="*/ 9 h 752"/>
                  <a:gd name="T48" fmla="*/ 1097 w 1337"/>
                  <a:gd name="T49" fmla="*/ 0 h 752"/>
                  <a:gd name="T50" fmla="*/ 1058 w 1337"/>
                  <a:gd name="T51" fmla="*/ 2 h 752"/>
                  <a:gd name="T52" fmla="*/ 1015 w 1337"/>
                  <a:gd name="T53" fmla="*/ 9 h 752"/>
                  <a:gd name="T54" fmla="*/ 943 w 1337"/>
                  <a:gd name="T55" fmla="*/ 34 h 752"/>
                  <a:gd name="T56" fmla="*/ 900 w 1337"/>
                  <a:gd name="T57" fmla="*/ 56 h 752"/>
                  <a:gd name="T58" fmla="*/ 784 w 1337"/>
                  <a:gd name="T59" fmla="*/ 114 h 752"/>
                  <a:gd name="T60" fmla="*/ 724 w 1337"/>
                  <a:gd name="T61" fmla="*/ 149 h 752"/>
                  <a:gd name="T62" fmla="*/ 681 w 1337"/>
                  <a:gd name="T63" fmla="*/ 172 h 752"/>
                  <a:gd name="T64" fmla="*/ 643 w 1337"/>
                  <a:gd name="T65" fmla="*/ 200 h 752"/>
                  <a:gd name="T66" fmla="*/ 583 w 1337"/>
                  <a:gd name="T67" fmla="*/ 246 h 752"/>
                  <a:gd name="T68" fmla="*/ 544 w 1337"/>
                  <a:gd name="T69" fmla="*/ 280 h 752"/>
                  <a:gd name="T70" fmla="*/ 433 w 1337"/>
                  <a:gd name="T71" fmla="*/ 371 h 752"/>
                  <a:gd name="T72" fmla="*/ 304 w 1337"/>
                  <a:gd name="T73" fmla="*/ 483 h 752"/>
                  <a:gd name="T74" fmla="*/ 154 w 1337"/>
                  <a:gd name="T75" fmla="*/ 612 h 7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337" h="752">
                    <a:moveTo>
                      <a:pt x="0" y="748"/>
                    </a:moveTo>
                    <a:lnTo>
                      <a:pt x="22" y="752"/>
                    </a:lnTo>
                    <a:lnTo>
                      <a:pt x="176" y="618"/>
                    </a:lnTo>
                    <a:lnTo>
                      <a:pt x="253" y="551"/>
                    </a:lnTo>
                    <a:lnTo>
                      <a:pt x="326" y="489"/>
                    </a:lnTo>
                    <a:lnTo>
                      <a:pt x="394" y="431"/>
                    </a:lnTo>
                    <a:lnTo>
                      <a:pt x="454" y="377"/>
                    </a:lnTo>
                    <a:lnTo>
                      <a:pt x="514" y="327"/>
                    </a:lnTo>
                    <a:lnTo>
                      <a:pt x="566" y="284"/>
                    </a:lnTo>
                    <a:lnTo>
                      <a:pt x="553" y="282"/>
                    </a:lnTo>
                    <a:lnTo>
                      <a:pt x="566" y="287"/>
                    </a:lnTo>
                    <a:lnTo>
                      <a:pt x="587" y="267"/>
                    </a:lnTo>
                    <a:lnTo>
                      <a:pt x="604" y="252"/>
                    </a:lnTo>
                    <a:lnTo>
                      <a:pt x="638" y="226"/>
                    </a:lnTo>
                    <a:lnTo>
                      <a:pt x="664" y="207"/>
                    </a:lnTo>
                    <a:lnTo>
                      <a:pt x="686" y="192"/>
                    </a:lnTo>
                    <a:lnTo>
                      <a:pt x="703" y="179"/>
                    </a:lnTo>
                    <a:lnTo>
                      <a:pt x="724" y="166"/>
                    </a:lnTo>
                    <a:lnTo>
                      <a:pt x="746" y="155"/>
                    </a:lnTo>
                    <a:lnTo>
                      <a:pt x="771" y="140"/>
                    </a:lnTo>
                    <a:lnTo>
                      <a:pt x="806" y="121"/>
                    </a:lnTo>
                    <a:lnTo>
                      <a:pt x="844" y="101"/>
                    </a:lnTo>
                    <a:lnTo>
                      <a:pt x="921" y="62"/>
                    </a:lnTo>
                    <a:lnTo>
                      <a:pt x="908" y="58"/>
                    </a:lnTo>
                    <a:lnTo>
                      <a:pt x="917" y="65"/>
                    </a:lnTo>
                    <a:lnTo>
                      <a:pt x="955" y="45"/>
                    </a:lnTo>
                    <a:lnTo>
                      <a:pt x="994" y="30"/>
                    </a:lnTo>
                    <a:lnTo>
                      <a:pt x="1028" y="19"/>
                    </a:lnTo>
                    <a:lnTo>
                      <a:pt x="1024" y="15"/>
                    </a:lnTo>
                    <a:lnTo>
                      <a:pt x="1024" y="22"/>
                    </a:lnTo>
                    <a:lnTo>
                      <a:pt x="1062" y="15"/>
                    </a:lnTo>
                    <a:lnTo>
                      <a:pt x="1097" y="13"/>
                    </a:lnTo>
                    <a:lnTo>
                      <a:pt x="1092" y="6"/>
                    </a:lnTo>
                    <a:lnTo>
                      <a:pt x="1092" y="13"/>
                    </a:lnTo>
                    <a:lnTo>
                      <a:pt x="1127" y="15"/>
                    </a:lnTo>
                    <a:lnTo>
                      <a:pt x="1161" y="22"/>
                    </a:lnTo>
                    <a:lnTo>
                      <a:pt x="1161" y="15"/>
                    </a:lnTo>
                    <a:lnTo>
                      <a:pt x="1157" y="19"/>
                    </a:lnTo>
                    <a:lnTo>
                      <a:pt x="1191" y="30"/>
                    </a:lnTo>
                    <a:lnTo>
                      <a:pt x="1225" y="41"/>
                    </a:lnTo>
                    <a:lnTo>
                      <a:pt x="1255" y="54"/>
                    </a:lnTo>
                    <a:lnTo>
                      <a:pt x="1319" y="82"/>
                    </a:lnTo>
                    <a:lnTo>
                      <a:pt x="1337" y="73"/>
                    </a:lnTo>
                    <a:lnTo>
                      <a:pt x="1268" y="43"/>
                    </a:lnTo>
                    <a:lnTo>
                      <a:pt x="1238" y="30"/>
                    </a:lnTo>
                    <a:lnTo>
                      <a:pt x="1204" y="19"/>
                    </a:lnTo>
                    <a:lnTo>
                      <a:pt x="1170" y="9"/>
                    </a:lnTo>
                    <a:lnTo>
                      <a:pt x="1165" y="9"/>
                    </a:lnTo>
                    <a:lnTo>
                      <a:pt x="1131" y="2"/>
                    </a:lnTo>
                    <a:lnTo>
                      <a:pt x="1097" y="0"/>
                    </a:lnTo>
                    <a:lnTo>
                      <a:pt x="1092" y="0"/>
                    </a:lnTo>
                    <a:lnTo>
                      <a:pt x="1058" y="2"/>
                    </a:lnTo>
                    <a:lnTo>
                      <a:pt x="1020" y="9"/>
                    </a:lnTo>
                    <a:lnTo>
                      <a:pt x="1015" y="9"/>
                    </a:lnTo>
                    <a:lnTo>
                      <a:pt x="981" y="19"/>
                    </a:lnTo>
                    <a:lnTo>
                      <a:pt x="943" y="34"/>
                    </a:lnTo>
                    <a:lnTo>
                      <a:pt x="904" y="54"/>
                    </a:lnTo>
                    <a:lnTo>
                      <a:pt x="900" y="56"/>
                    </a:lnTo>
                    <a:lnTo>
                      <a:pt x="823" y="95"/>
                    </a:lnTo>
                    <a:lnTo>
                      <a:pt x="784" y="114"/>
                    </a:lnTo>
                    <a:lnTo>
                      <a:pt x="754" y="131"/>
                    </a:lnTo>
                    <a:lnTo>
                      <a:pt x="724" y="149"/>
                    </a:lnTo>
                    <a:lnTo>
                      <a:pt x="703" y="159"/>
                    </a:lnTo>
                    <a:lnTo>
                      <a:pt x="681" y="172"/>
                    </a:lnTo>
                    <a:lnTo>
                      <a:pt x="664" y="185"/>
                    </a:lnTo>
                    <a:lnTo>
                      <a:pt x="643" y="200"/>
                    </a:lnTo>
                    <a:lnTo>
                      <a:pt x="617" y="220"/>
                    </a:lnTo>
                    <a:lnTo>
                      <a:pt x="583" y="246"/>
                    </a:lnTo>
                    <a:lnTo>
                      <a:pt x="566" y="261"/>
                    </a:lnTo>
                    <a:lnTo>
                      <a:pt x="544" y="280"/>
                    </a:lnTo>
                    <a:lnTo>
                      <a:pt x="493" y="321"/>
                    </a:lnTo>
                    <a:lnTo>
                      <a:pt x="433" y="371"/>
                    </a:lnTo>
                    <a:lnTo>
                      <a:pt x="373" y="424"/>
                    </a:lnTo>
                    <a:lnTo>
                      <a:pt x="304" y="483"/>
                    </a:lnTo>
                    <a:lnTo>
                      <a:pt x="232" y="545"/>
                    </a:lnTo>
                    <a:lnTo>
                      <a:pt x="154" y="612"/>
                    </a:lnTo>
                    <a:lnTo>
                      <a:pt x="0" y="748"/>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 name="任意多边形 171056">
                <a:extLst>
                  <a:ext uri="{FF2B5EF4-FFF2-40B4-BE49-F238E27FC236}">
                    <a16:creationId xmlns:a16="http://schemas.microsoft.com/office/drawing/2014/main" xmlns="" id="{75C2F874-4F74-51F4-911C-95A2FBB452BC}"/>
                  </a:ext>
                </a:extLst>
              </p:cNvPr>
              <p:cNvSpPr>
                <a:spLocks noChangeArrowheads="1"/>
              </p:cNvSpPr>
              <p:nvPr/>
            </p:nvSpPr>
            <p:spPr bwMode="auto">
              <a:xfrm>
                <a:off x="2796" y="1273"/>
                <a:ext cx="1306" cy="439"/>
              </a:xfrm>
              <a:custGeom>
                <a:avLst/>
                <a:gdLst>
                  <a:gd name="T0" fmla="*/ 0 w 1306"/>
                  <a:gd name="T1" fmla="*/ 13 h 439"/>
                  <a:gd name="T2" fmla="*/ 265 w 1306"/>
                  <a:gd name="T3" fmla="*/ 30 h 439"/>
                  <a:gd name="T4" fmla="*/ 441 w 1306"/>
                  <a:gd name="T5" fmla="*/ 41 h 439"/>
                  <a:gd name="T6" fmla="*/ 535 w 1306"/>
                  <a:gd name="T7" fmla="*/ 47 h 439"/>
                  <a:gd name="T8" fmla="*/ 646 w 1306"/>
                  <a:gd name="T9" fmla="*/ 52 h 439"/>
                  <a:gd name="T10" fmla="*/ 762 w 1306"/>
                  <a:gd name="T11" fmla="*/ 65 h 439"/>
                  <a:gd name="T12" fmla="*/ 822 w 1306"/>
                  <a:gd name="T13" fmla="*/ 71 h 439"/>
                  <a:gd name="T14" fmla="*/ 869 w 1306"/>
                  <a:gd name="T15" fmla="*/ 93 h 439"/>
                  <a:gd name="T16" fmla="*/ 925 w 1306"/>
                  <a:gd name="T17" fmla="*/ 108 h 439"/>
                  <a:gd name="T18" fmla="*/ 959 w 1306"/>
                  <a:gd name="T19" fmla="*/ 133 h 439"/>
                  <a:gd name="T20" fmla="*/ 1023 w 1306"/>
                  <a:gd name="T21" fmla="*/ 187 h 439"/>
                  <a:gd name="T22" fmla="*/ 1023 w 1306"/>
                  <a:gd name="T23" fmla="*/ 185 h 439"/>
                  <a:gd name="T24" fmla="*/ 1092 w 1306"/>
                  <a:gd name="T25" fmla="*/ 256 h 439"/>
                  <a:gd name="T26" fmla="*/ 1139 w 1306"/>
                  <a:gd name="T27" fmla="*/ 302 h 439"/>
                  <a:gd name="T28" fmla="*/ 1220 w 1306"/>
                  <a:gd name="T29" fmla="*/ 381 h 439"/>
                  <a:gd name="T30" fmla="*/ 1267 w 1306"/>
                  <a:gd name="T31" fmla="*/ 424 h 439"/>
                  <a:gd name="T32" fmla="*/ 1263 w 1306"/>
                  <a:gd name="T33" fmla="*/ 422 h 439"/>
                  <a:gd name="T34" fmla="*/ 1306 w 1306"/>
                  <a:gd name="T35" fmla="*/ 435 h 439"/>
                  <a:gd name="T36" fmla="*/ 1289 w 1306"/>
                  <a:gd name="T37" fmla="*/ 418 h 439"/>
                  <a:gd name="T38" fmla="*/ 1242 w 1306"/>
                  <a:gd name="T39" fmla="*/ 375 h 439"/>
                  <a:gd name="T40" fmla="*/ 1160 w 1306"/>
                  <a:gd name="T41" fmla="*/ 295 h 439"/>
                  <a:gd name="T42" fmla="*/ 1113 w 1306"/>
                  <a:gd name="T43" fmla="*/ 252 h 439"/>
                  <a:gd name="T44" fmla="*/ 1049 w 1306"/>
                  <a:gd name="T45" fmla="*/ 183 h 439"/>
                  <a:gd name="T46" fmla="*/ 1015 w 1306"/>
                  <a:gd name="T47" fmla="*/ 153 h 439"/>
                  <a:gd name="T48" fmla="*/ 933 w 1306"/>
                  <a:gd name="T49" fmla="*/ 103 h 439"/>
                  <a:gd name="T50" fmla="*/ 882 w 1306"/>
                  <a:gd name="T51" fmla="*/ 82 h 439"/>
                  <a:gd name="T52" fmla="*/ 822 w 1306"/>
                  <a:gd name="T53" fmla="*/ 65 h 439"/>
                  <a:gd name="T54" fmla="*/ 706 w 1306"/>
                  <a:gd name="T55" fmla="*/ 43 h 439"/>
                  <a:gd name="T56" fmla="*/ 582 w 1306"/>
                  <a:gd name="T57" fmla="*/ 37 h 439"/>
                  <a:gd name="T58" fmla="*/ 492 w 1306"/>
                  <a:gd name="T59" fmla="*/ 32 h 439"/>
                  <a:gd name="T60" fmla="*/ 389 w 1306"/>
                  <a:gd name="T61" fmla="*/ 26 h 439"/>
                  <a:gd name="T62" fmla="*/ 141 w 1306"/>
                  <a:gd name="T63" fmla="*/ 9 h 4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306" h="439">
                    <a:moveTo>
                      <a:pt x="0" y="0"/>
                    </a:moveTo>
                    <a:lnTo>
                      <a:pt x="0" y="13"/>
                    </a:lnTo>
                    <a:lnTo>
                      <a:pt x="137" y="21"/>
                    </a:lnTo>
                    <a:lnTo>
                      <a:pt x="265" y="30"/>
                    </a:lnTo>
                    <a:lnTo>
                      <a:pt x="385" y="39"/>
                    </a:lnTo>
                    <a:lnTo>
                      <a:pt x="441" y="41"/>
                    </a:lnTo>
                    <a:lnTo>
                      <a:pt x="492" y="45"/>
                    </a:lnTo>
                    <a:lnTo>
                      <a:pt x="535" y="47"/>
                    </a:lnTo>
                    <a:lnTo>
                      <a:pt x="578" y="49"/>
                    </a:lnTo>
                    <a:lnTo>
                      <a:pt x="646" y="52"/>
                    </a:lnTo>
                    <a:lnTo>
                      <a:pt x="702" y="56"/>
                    </a:lnTo>
                    <a:lnTo>
                      <a:pt x="762" y="65"/>
                    </a:lnTo>
                    <a:lnTo>
                      <a:pt x="818" y="77"/>
                    </a:lnTo>
                    <a:lnTo>
                      <a:pt x="822" y="71"/>
                    </a:lnTo>
                    <a:lnTo>
                      <a:pt x="813" y="77"/>
                    </a:lnTo>
                    <a:lnTo>
                      <a:pt x="869" y="93"/>
                    </a:lnTo>
                    <a:lnTo>
                      <a:pt x="916" y="112"/>
                    </a:lnTo>
                    <a:lnTo>
                      <a:pt x="925" y="108"/>
                    </a:lnTo>
                    <a:lnTo>
                      <a:pt x="912" y="110"/>
                    </a:lnTo>
                    <a:lnTo>
                      <a:pt x="959" y="133"/>
                    </a:lnTo>
                    <a:lnTo>
                      <a:pt x="993" y="159"/>
                    </a:lnTo>
                    <a:lnTo>
                      <a:pt x="1023" y="187"/>
                    </a:lnTo>
                    <a:lnTo>
                      <a:pt x="1036" y="185"/>
                    </a:lnTo>
                    <a:lnTo>
                      <a:pt x="1023" y="185"/>
                    </a:lnTo>
                    <a:lnTo>
                      <a:pt x="1053" y="218"/>
                    </a:lnTo>
                    <a:lnTo>
                      <a:pt x="1092" y="256"/>
                    </a:lnTo>
                    <a:lnTo>
                      <a:pt x="1113" y="278"/>
                    </a:lnTo>
                    <a:lnTo>
                      <a:pt x="1139" y="302"/>
                    </a:lnTo>
                    <a:lnTo>
                      <a:pt x="1195" y="355"/>
                    </a:lnTo>
                    <a:lnTo>
                      <a:pt x="1220" y="381"/>
                    </a:lnTo>
                    <a:lnTo>
                      <a:pt x="1246" y="405"/>
                    </a:lnTo>
                    <a:lnTo>
                      <a:pt x="1267" y="424"/>
                    </a:lnTo>
                    <a:lnTo>
                      <a:pt x="1276" y="422"/>
                    </a:lnTo>
                    <a:lnTo>
                      <a:pt x="1263" y="422"/>
                    </a:lnTo>
                    <a:lnTo>
                      <a:pt x="1285" y="439"/>
                    </a:lnTo>
                    <a:lnTo>
                      <a:pt x="1306" y="435"/>
                    </a:lnTo>
                    <a:lnTo>
                      <a:pt x="1289" y="420"/>
                    </a:lnTo>
                    <a:lnTo>
                      <a:pt x="1289" y="418"/>
                    </a:lnTo>
                    <a:lnTo>
                      <a:pt x="1267" y="398"/>
                    </a:lnTo>
                    <a:lnTo>
                      <a:pt x="1242" y="375"/>
                    </a:lnTo>
                    <a:lnTo>
                      <a:pt x="1216" y="349"/>
                    </a:lnTo>
                    <a:lnTo>
                      <a:pt x="1160" y="295"/>
                    </a:lnTo>
                    <a:lnTo>
                      <a:pt x="1135" y="271"/>
                    </a:lnTo>
                    <a:lnTo>
                      <a:pt x="1113" y="252"/>
                    </a:lnTo>
                    <a:lnTo>
                      <a:pt x="1079" y="215"/>
                    </a:lnTo>
                    <a:lnTo>
                      <a:pt x="1049" y="183"/>
                    </a:lnTo>
                    <a:lnTo>
                      <a:pt x="1045" y="181"/>
                    </a:lnTo>
                    <a:lnTo>
                      <a:pt x="1015" y="153"/>
                    </a:lnTo>
                    <a:lnTo>
                      <a:pt x="976" y="125"/>
                    </a:lnTo>
                    <a:lnTo>
                      <a:pt x="933" y="103"/>
                    </a:lnTo>
                    <a:lnTo>
                      <a:pt x="929" y="101"/>
                    </a:lnTo>
                    <a:lnTo>
                      <a:pt x="882" y="82"/>
                    </a:lnTo>
                    <a:lnTo>
                      <a:pt x="826" y="67"/>
                    </a:lnTo>
                    <a:lnTo>
                      <a:pt x="822" y="65"/>
                    </a:lnTo>
                    <a:lnTo>
                      <a:pt x="766" y="52"/>
                    </a:lnTo>
                    <a:lnTo>
                      <a:pt x="706" y="43"/>
                    </a:lnTo>
                    <a:lnTo>
                      <a:pt x="651" y="39"/>
                    </a:lnTo>
                    <a:lnTo>
                      <a:pt x="582" y="37"/>
                    </a:lnTo>
                    <a:lnTo>
                      <a:pt x="539" y="34"/>
                    </a:lnTo>
                    <a:lnTo>
                      <a:pt x="492" y="32"/>
                    </a:lnTo>
                    <a:lnTo>
                      <a:pt x="445" y="28"/>
                    </a:lnTo>
                    <a:lnTo>
                      <a:pt x="389" y="26"/>
                    </a:lnTo>
                    <a:lnTo>
                      <a:pt x="269" y="17"/>
                    </a:lnTo>
                    <a:lnTo>
                      <a:pt x="141" y="9"/>
                    </a:lnTo>
                    <a:lnTo>
                      <a:pt x="0"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 name="任意多边形 171057">
                <a:extLst>
                  <a:ext uri="{FF2B5EF4-FFF2-40B4-BE49-F238E27FC236}">
                    <a16:creationId xmlns:a16="http://schemas.microsoft.com/office/drawing/2014/main" xmlns="" id="{911C5396-8A9A-61D5-D60D-DD05289DA32B}"/>
                  </a:ext>
                </a:extLst>
              </p:cNvPr>
              <p:cNvSpPr>
                <a:spLocks noChangeArrowheads="1"/>
              </p:cNvSpPr>
              <p:nvPr/>
            </p:nvSpPr>
            <p:spPr bwMode="auto">
              <a:xfrm>
                <a:off x="2787" y="1275"/>
                <a:ext cx="1323" cy="565"/>
              </a:xfrm>
              <a:custGeom>
                <a:avLst/>
                <a:gdLst>
                  <a:gd name="T0" fmla="*/ 26 w 1323"/>
                  <a:gd name="T1" fmla="*/ 0 h 565"/>
                  <a:gd name="T2" fmla="*/ 0 w 1323"/>
                  <a:gd name="T3" fmla="*/ 2 h 565"/>
                  <a:gd name="T4" fmla="*/ 30 w 1323"/>
                  <a:gd name="T5" fmla="*/ 65 h 565"/>
                  <a:gd name="T6" fmla="*/ 64 w 1323"/>
                  <a:gd name="T7" fmla="*/ 127 h 565"/>
                  <a:gd name="T8" fmla="*/ 111 w 1323"/>
                  <a:gd name="T9" fmla="*/ 185 h 565"/>
                  <a:gd name="T10" fmla="*/ 116 w 1323"/>
                  <a:gd name="T11" fmla="*/ 188 h 565"/>
                  <a:gd name="T12" fmla="*/ 171 w 1323"/>
                  <a:gd name="T13" fmla="*/ 244 h 565"/>
                  <a:gd name="T14" fmla="*/ 236 w 1323"/>
                  <a:gd name="T15" fmla="*/ 295 h 565"/>
                  <a:gd name="T16" fmla="*/ 308 w 1323"/>
                  <a:gd name="T17" fmla="*/ 345 h 565"/>
                  <a:gd name="T18" fmla="*/ 385 w 1323"/>
                  <a:gd name="T19" fmla="*/ 388 h 565"/>
                  <a:gd name="T20" fmla="*/ 390 w 1323"/>
                  <a:gd name="T21" fmla="*/ 390 h 565"/>
                  <a:gd name="T22" fmla="*/ 475 w 1323"/>
                  <a:gd name="T23" fmla="*/ 431 h 565"/>
                  <a:gd name="T24" fmla="*/ 570 w 1323"/>
                  <a:gd name="T25" fmla="*/ 465 h 565"/>
                  <a:gd name="T26" fmla="*/ 664 w 1323"/>
                  <a:gd name="T27" fmla="*/ 496 h 565"/>
                  <a:gd name="T28" fmla="*/ 668 w 1323"/>
                  <a:gd name="T29" fmla="*/ 496 h 565"/>
                  <a:gd name="T30" fmla="*/ 771 w 1323"/>
                  <a:gd name="T31" fmla="*/ 521 h 565"/>
                  <a:gd name="T32" fmla="*/ 874 w 1323"/>
                  <a:gd name="T33" fmla="*/ 541 h 565"/>
                  <a:gd name="T34" fmla="*/ 981 w 1323"/>
                  <a:gd name="T35" fmla="*/ 556 h 565"/>
                  <a:gd name="T36" fmla="*/ 1092 w 1323"/>
                  <a:gd name="T37" fmla="*/ 562 h 565"/>
                  <a:gd name="T38" fmla="*/ 1204 w 1323"/>
                  <a:gd name="T39" fmla="*/ 565 h 565"/>
                  <a:gd name="T40" fmla="*/ 1208 w 1323"/>
                  <a:gd name="T41" fmla="*/ 565 h 565"/>
                  <a:gd name="T42" fmla="*/ 1323 w 1323"/>
                  <a:gd name="T43" fmla="*/ 560 h 565"/>
                  <a:gd name="T44" fmla="*/ 1319 w 1323"/>
                  <a:gd name="T45" fmla="*/ 547 h 565"/>
                  <a:gd name="T46" fmla="*/ 1204 w 1323"/>
                  <a:gd name="T47" fmla="*/ 552 h 565"/>
                  <a:gd name="T48" fmla="*/ 1208 w 1323"/>
                  <a:gd name="T49" fmla="*/ 558 h 565"/>
                  <a:gd name="T50" fmla="*/ 1208 w 1323"/>
                  <a:gd name="T51" fmla="*/ 552 h 565"/>
                  <a:gd name="T52" fmla="*/ 1096 w 1323"/>
                  <a:gd name="T53" fmla="*/ 549 h 565"/>
                  <a:gd name="T54" fmla="*/ 985 w 1323"/>
                  <a:gd name="T55" fmla="*/ 543 h 565"/>
                  <a:gd name="T56" fmla="*/ 878 w 1323"/>
                  <a:gd name="T57" fmla="*/ 528 h 565"/>
                  <a:gd name="T58" fmla="*/ 775 w 1323"/>
                  <a:gd name="T59" fmla="*/ 509 h 565"/>
                  <a:gd name="T60" fmla="*/ 672 w 1323"/>
                  <a:gd name="T61" fmla="*/ 483 h 565"/>
                  <a:gd name="T62" fmla="*/ 672 w 1323"/>
                  <a:gd name="T63" fmla="*/ 489 h 565"/>
                  <a:gd name="T64" fmla="*/ 677 w 1323"/>
                  <a:gd name="T65" fmla="*/ 485 h 565"/>
                  <a:gd name="T66" fmla="*/ 583 w 1323"/>
                  <a:gd name="T67" fmla="*/ 455 h 565"/>
                  <a:gd name="T68" fmla="*/ 488 w 1323"/>
                  <a:gd name="T69" fmla="*/ 420 h 565"/>
                  <a:gd name="T70" fmla="*/ 403 w 1323"/>
                  <a:gd name="T71" fmla="*/ 379 h 565"/>
                  <a:gd name="T72" fmla="*/ 398 w 1323"/>
                  <a:gd name="T73" fmla="*/ 386 h 565"/>
                  <a:gd name="T74" fmla="*/ 407 w 1323"/>
                  <a:gd name="T75" fmla="*/ 381 h 565"/>
                  <a:gd name="T76" fmla="*/ 330 w 1323"/>
                  <a:gd name="T77" fmla="*/ 338 h 565"/>
                  <a:gd name="T78" fmla="*/ 257 w 1323"/>
                  <a:gd name="T79" fmla="*/ 289 h 565"/>
                  <a:gd name="T80" fmla="*/ 193 w 1323"/>
                  <a:gd name="T81" fmla="*/ 237 h 565"/>
                  <a:gd name="T82" fmla="*/ 137 w 1323"/>
                  <a:gd name="T83" fmla="*/ 181 h 565"/>
                  <a:gd name="T84" fmla="*/ 124 w 1323"/>
                  <a:gd name="T85" fmla="*/ 185 h 565"/>
                  <a:gd name="T86" fmla="*/ 137 w 1323"/>
                  <a:gd name="T87" fmla="*/ 183 h 565"/>
                  <a:gd name="T88" fmla="*/ 90 w 1323"/>
                  <a:gd name="T89" fmla="*/ 125 h 565"/>
                  <a:gd name="T90" fmla="*/ 56 w 1323"/>
                  <a:gd name="T91" fmla="*/ 63 h 565"/>
                  <a:gd name="T92" fmla="*/ 26 w 1323"/>
                  <a:gd name="T93" fmla="*/ 0 h 5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323" h="565">
                    <a:moveTo>
                      <a:pt x="26" y="0"/>
                    </a:moveTo>
                    <a:lnTo>
                      <a:pt x="0" y="2"/>
                    </a:lnTo>
                    <a:lnTo>
                      <a:pt x="30" y="65"/>
                    </a:lnTo>
                    <a:lnTo>
                      <a:pt x="64" y="127"/>
                    </a:lnTo>
                    <a:lnTo>
                      <a:pt x="111" y="185"/>
                    </a:lnTo>
                    <a:lnTo>
                      <a:pt x="116" y="188"/>
                    </a:lnTo>
                    <a:lnTo>
                      <a:pt x="171" y="244"/>
                    </a:lnTo>
                    <a:lnTo>
                      <a:pt x="236" y="295"/>
                    </a:lnTo>
                    <a:lnTo>
                      <a:pt x="308" y="345"/>
                    </a:lnTo>
                    <a:lnTo>
                      <a:pt x="385" y="388"/>
                    </a:lnTo>
                    <a:lnTo>
                      <a:pt x="390" y="390"/>
                    </a:lnTo>
                    <a:lnTo>
                      <a:pt x="475" y="431"/>
                    </a:lnTo>
                    <a:lnTo>
                      <a:pt x="570" y="465"/>
                    </a:lnTo>
                    <a:lnTo>
                      <a:pt x="664" y="496"/>
                    </a:lnTo>
                    <a:lnTo>
                      <a:pt x="668" y="496"/>
                    </a:lnTo>
                    <a:lnTo>
                      <a:pt x="771" y="521"/>
                    </a:lnTo>
                    <a:lnTo>
                      <a:pt x="874" y="541"/>
                    </a:lnTo>
                    <a:lnTo>
                      <a:pt x="981" y="556"/>
                    </a:lnTo>
                    <a:lnTo>
                      <a:pt x="1092" y="562"/>
                    </a:lnTo>
                    <a:lnTo>
                      <a:pt x="1204" y="565"/>
                    </a:lnTo>
                    <a:lnTo>
                      <a:pt x="1208" y="565"/>
                    </a:lnTo>
                    <a:lnTo>
                      <a:pt x="1323" y="560"/>
                    </a:lnTo>
                    <a:lnTo>
                      <a:pt x="1319" y="547"/>
                    </a:lnTo>
                    <a:lnTo>
                      <a:pt x="1204" y="552"/>
                    </a:lnTo>
                    <a:lnTo>
                      <a:pt x="1208" y="558"/>
                    </a:lnTo>
                    <a:lnTo>
                      <a:pt x="1208" y="552"/>
                    </a:lnTo>
                    <a:lnTo>
                      <a:pt x="1096" y="549"/>
                    </a:lnTo>
                    <a:lnTo>
                      <a:pt x="985" y="543"/>
                    </a:lnTo>
                    <a:lnTo>
                      <a:pt x="878" y="528"/>
                    </a:lnTo>
                    <a:lnTo>
                      <a:pt x="775" y="509"/>
                    </a:lnTo>
                    <a:lnTo>
                      <a:pt x="672" y="483"/>
                    </a:lnTo>
                    <a:lnTo>
                      <a:pt x="672" y="489"/>
                    </a:lnTo>
                    <a:lnTo>
                      <a:pt x="677" y="485"/>
                    </a:lnTo>
                    <a:lnTo>
                      <a:pt x="583" y="455"/>
                    </a:lnTo>
                    <a:lnTo>
                      <a:pt x="488" y="420"/>
                    </a:lnTo>
                    <a:lnTo>
                      <a:pt x="403" y="379"/>
                    </a:lnTo>
                    <a:lnTo>
                      <a:pt x="398" y="386"/>
                    </a:lnTo>
                    <a:lnTo>
                      <a:pt x="407" y="381"/>
                    </a:lnTo>
                    <a:lnTo>
                      <a:pt x="330" y="338"/>
                    </a:lnTo>
                    <a:lnTo>
                      <a:pt x="257" y="289"/>
                    </a:lnTo>
                    <a:lnTo>
                      <a:pt x="193" y="237"/>
                    </a:lnTo>
                    <a:lnTo>
                      <a:pt x="137" y="181"/>
                    </a:lnTo>
                    <a:lnTo>
                      <a:pt x="124" y="185"/>
                    </a:lnTo>
                    <a:lnTo>
                      <a:pt x="137" y="183"/>
                    </a:lnTo>
                    <a:lnTo>
                      <a:pt x="90" y="125"/>
                    </a:lnTo>
                    <a:lnTo>
                      <a:pt x="56" y="63"/>
                    </a:lnTo>
                    <a:lnTo>
                      <a:pt x="26" y="0"/>
                    </a:lnTo>
                    <a:close/>
                  </a:path>
                </a:pathLst>
              </a:custGeom>
              <a:solidFill>
                <a:srgbClr val="FFCC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矩形 171058">
                <a:extLst>
                  <a:ext uri="{FF2B5EF4-FFF2-40B4-BE49-F238E27FC236}">
                    <a16:creationId xmlns:a16="http://schemas.microsoft.com/office/drawing/2014/main" xmlns="" id="{443DCA73-223D-20E8-9E47-E8B7E806BB0B}"/>
                  </a:ext>
                </a:extLst>
              </p:cNvPr>
              <p:cNvSpPr>
                <a:spLocks noChangeArrowheads="1"/>
              </p:cNvSpPr>
              <p:nvPr/>
            </p:nvSpPr>
            <p:spPr bwMode="auto">
              <a:xfrm>
                <a:off x="3828" y="1322"/>
                <a:ext cx="257" cy="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5" name="任意多边形 171059">
                <a:extLst>
                  <a:ext uri="{FF2B5EF4-FFF2-40B4-BE49-F238E27FC236}">
                    <a16:creationId xmlns:a16="http://schemas.microsoft.com/office/drawing/2014/main" xmlns="" id="{7E22E6B4-1C1E-A690-95A7-BCA1A9516727}"/>
                  </a:ext>
                </a:extLst>
              </p:cNvPr>
              <p:cNvSpPr>
                <a:spLocks noChangeArrowheads="1"/>
              </p:cNvSpPr>
              <p:nvPr/>
            </p:nvSpPr>
            <p:spPr bwMode="auto">
              <a:xfrm>
                <a:off x="2796" y="1579"/>
                <a:ext cx="1323" cy="351"/>
              </a:xfrm>
              <a:custGeom>
                <a:avLst/>
                <a:gdLst>
                  <a:gd name="T0" fmla="*/ 17 w 1323"/>
                  <a:gd name="T1" fmla="*/ 351 h 351"/>
                  <a:gd name="T2" fmla="*/ 150 w 1323"/>
                  <a:gd name="T3" fmla="*/ 276 h 351"/>
                  <a:gd name="T4" fmla="*/ 291 w 1323"/>
                  <a:gd name="T5" fmla="*/ 211 h 351"/>
                  <a:gd name="T6" fmla="*/ 420 w 1323"/>
                  <a:gd name="T7" fmla="*/ 151 h 351"/>
                  <a:gd name="T8" fmla="*/ 535 w 1323"/>
                  <a:gd name="T9" fmla="*/ 101 h 351"/>
                  <a:gd name="T10" fmla="*/ 625 w 1323"/>
                  <a:gd name="T11" fmla="*/ 62 h 351"/>
                  <a:gd name="T12" fmla="*/ 707 w 1323"/>
                  <a:gd name="T13" fmla="*/ 34 h 351"/>
                  <a:gd name="T14" fmla="*/ 737 w 1323"/>
                  <a:gd name="T15" fmla="*/ 19 h 351"/>
                  <a:gd name="T16" fmla="*/ 771 w 1323"/>
                  <a:gd name="T17" fmla="*/ 19 h 351"/>
                  <a:gd name="T18" fmla="*/ 805 w 1323"/>
                  <a:gd name="T19" fmla="*/ 8 h 351"/>
                  <a:gd name="T20" fmla="*/ 839 w 1323"/>
                  <a:gd name="T21" fmla="*/ 13 h 351"/>
                  <a:gd name="T22" fmla="*/ 874 w 1323"/>
                  <a:gd name="T23" fmla="*/ 8 h 351"/>
                  <a:gd name="T24" fmla="*/ 908 w 1323"/>
                  <a:gd name="T25" fmla="*/ 19 h 351"/>
                  <a:gd name="T26" fmla="*/ 942 w 1323"/>
                  <a:gd name="T27" fmla="*/ 21 h 351"/>
                  <a:gd name="T28" fmla="*/ 968 w 1323"/>
                  <a:gd name="T29" fmla="*/ 36 h 351"/>
                  <a:gd name="T30" fmla="*/ 1092 w 1323"/>
                  <a:gd name="T31" fmla="*/ 90 h 351"/>
                  <a:gd name="T32" fmla="*/ 1152 w 1323"/>
                  <a:gd name="T33" fmla="*/ 110 h 351"/>
                  <a:gd name="T34" fmla="*/ 1195 w 1323"/>
                  <a:gd name="T35" fmla="*/ 144 h 351"/>
                  <a:gd name="T36" fmla="*/ 1302 w 1323"/>
                  <a:gd name="T37" fmla="*/ 213 h 351"/>
                  <a:gd name="T38" fmla="*/ 1272 w 1323"/>
                  <a:gd name="T39" fmla="*/ 172 h 351"/>
                  <a:gd name="T40" fmla="*/ 1165 w 1323"/>
                  <a:gd name="T41" fmla="*/ 108 h 351"/>
                  <a:gd name="T42" fmla="*/ 1105 w 1323"/>
                  <a:gd name="T43" fmla="*/ 80 h 351"/>
                  <a:gd name="T44" fmla="*/ 981 w 1323"/>
                  <a:gd name="T45" fmla="*/ 26 h 351"/>
                  <a:gd name="T46" fmla="*/ 942 w 1323"/>
                  <a:gd name="T47" fmla="*/ 15 h 351"/>
                  <a:gd name="T48" fmla="*/ 878 w 1323"/>
                  <a:gd name="T49" fmla="*/ 2 h 351"/>
                  <a:gd name="T50" fmla="*/ 839 w 1323"/>
                  <a:gd name="T51" fmla="*/ 0 h 351"/>
                  <a:gd name="T52" fmla="*/ 801 w 1323"/>
                  <a:gd name="T53" fmla="*/ 2 h 351"/>
                  <a:gd name="T54" fmla="*/ 732 w 1323"/>
                  <a:gd name="T55" fmla="*/ 13 h 351"/>
                  <a:gd name="T56" fmla="*/ 694 w 1323"/>
                  <a:gd name="T57" fmla="*/ 24 h 351"/>
                  <a:gd name="T58" fmla="*/ 612 w 1323"/>
                  <a:gd name="T59" fmla="*/ 52 h 351"/>
                  <a:gd name="T60" fmla="*/ 523 w 1323"/>
                  <a:gd name="T61" fmla="*/ 90 h 351"/>
                  <a:gd name="T62" fmla="*/ 407 w 1323"/>
                  <a:gd name="T63" fmla="*/ 140 h 351"/>
                  <a:gd name="T64" fmla="*/ 278 w 1323"/>
                  <a:gd name="T65" fmla="*/ 200 h 351"/>
                  <a:gd name="T66" fmla="*/ 137 w 1323"/>
                  <a:gd name="T67" fmla="*/ 271 h 3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323" h="351">
                    <a:moveTo>
                      <a:pt x="0" y="342"/>
                    </a:moveTo>
                    <a:lnTo>
                      <a:pt x="17" y="351"/>
                    </a:lnTo>
                    <a:lnTo>
                      <a:pt x="158" y="278"/>
                    </a:lnTo>
                    <a:lnTo>
                      <a:pt x="150" y="276"/>
                    </a:lnTo>
                    <a:lnTo>
                      <a:pt x="154" y="280"/>
                    </a:lnTo>
                    <a:lnTo>
                      <a:pt x="291" y="211"/>
                    </a:lnTo>
                    <a:lnTo>
                      <a:pt x="356" y="181"/>
                    </a:lnTo>
                    <a:lnTo>
                      <a:pt x="420" y="151"/>
                    </a:lnTo>
                    <a:lnTo>
                      <a:pt x="480" y="123"/>
                    </a:lnTo>
                    <a:lnTo>
                      <a:pt x="535" y="101"/>
                    </a:lnTo>
                    <a:lnTo>
                      <a:pt x="583" y="80"/>
                    </a:lnTo>
                    <a:lnTo>
                      <a:pt x="625" y="62"/>
                    </a:lnTo>
                    <a:lnTo>
                      <a:pt x="668" y="47"/>
                    </a:lnTo>
                    <a:lnTo>
                      <a:pt x="707" y="34"/>
                    </a:lnTo>
                    <a:lnTo>
                      <a:pt x="741" y="26"/>
                    </a:lnTo>
                    <a:lnTo>
                      <a:pt x="737" y="19"/>
                    </a:lnTo>
                    <a:lnTo>
                      <a:pt x="737" y="26"/>
                    </a:lnTo>
                    <a:lnTo>
                      <a:pt x="771" y="19"/>
                    </a:lnTo>
                    <a:lnTo>
                      <a:pt x="805" y="15"/>
                    </a:lnTo>
                    <a:lnTo>
                      <a:pt x="805" y="8"/>
                    </a:lnTo>
                    <a:lnTo>
                      <a:pt x="801" y="15"/>
                    </a:lnTo>
                    <a:lnTo>
                      <a:pt x="839" y="13"/>
                    </a:lnTo>
                    <a:lnTo>
                      <a:pt x="878" y="15"/>
                    </a:lnTo>
                    <a:lnTo>
                      <a:pt x="874" y="8"/>
                    </a:lnTo>
                    <a:lnTo>
                      <a:pt x="874" y="15"/>
                    </a:lnTo>
                    <a:lnTo>
                      <a:pt x="908" y="19"/>
                    </a:lnTo>
                    <a:lnTo>
                      <a:pt x="938" y="28"/>
                    </a:lnTo>
                    <a:lnTo>
                      <a:pt x="942" y="21"/>
                    </a:lnTo>
                    <a:lnTo>
                      <a:pt x="934" y="26"/>
                    </a:lnTo>
                    <a:lnTo>
                      <a:pt x="968" y="36"/>
                    </a:lnTo>
                    <a:lnTo>
                      <a:pt x="1032" y="62"/>
                    </a:lnTo>
                    <a:lnTo>
                      <a:pt x="1092" y="90"/>
                    </a:lnTo>
                    <a:lnTo>
                      <a:pt x="1148" y="116"/>
                    </a:lnTo>
                    <a:lnTo>
                      <a:pt x="1152" y="110"/>
                    </a:lnTo>
                    <a:lnTo>
                      <a:pt x="1144" y="114"/>
                    </a:lnTo>
                    <a:lnTo>
                      <a:pt x="1195" y="144"/>
                    </a:lnTo>
                    <a:lnTo>
                      <a:pt x="1251" y="179"/>
                    </a:lnTo>
                    <a:lnTo>
                      <a:pt x="1302" y="213"/>
                    </a:lnTo>
                    <a:lnTo>
                      <a:pt x="1323" y="207"/>
                    </a:lnTo>
                    <a:lnTo>
                      <a:pt x="1272" y="172"/>
                    </a:lnTo>
                    <a:lnTo>
                      <a:pt x="1216" y="138"/>
                    </a:lnTo>
                    <a:lnTo>
                      <a:pt x="1165" y="108"/>
                    </a:lnTo>
                    <a:lnTo>
                      <a:pt x="1161" y="105"/>
                    </a:lnTo>
                    <a:lnTo>
                      <a:pt x="1105" y="80"/>
                    </a:lnTo>
                    <a:lnTo>
                      <a:pt x="1045" y="52"/>
                    </a:lnTo>
                    <a:lnTo>
                      <a:pt x="981" y="26"/>
                    </a:lnTo>
                    <a:lnTo>
                      <a:pt x="947" y="15"/>
                    </a:lnTo>
                    <a:lnTo>
                      <a:pt x="942" y="15"/>
                    </a:lnTo>
                    <a:lnTo>
                      <a:pt x="912" y="6"/>
                    </a:lnTo>
                    <a:lnTo>
                      <a:pt x="878" y="2"/>
                    </a:lnTo>
                    <a:lnTo>
                      <a:pt x="874" y="2"/>
                    </a:lnTo>
                    <a:lnTo>
                      <a:pt x="839" y="0"/>
                    </a:lnTo>
                    <a:lnTo>
                      <a:pt x="805" y="2"/>
                    </a:lnTo>
                    <a:lnTo>
                      <a:pt x="801" y="2"/>
                    </a:lnTo>
                    <a:lnTo>
                      <a:pt x="767" y="6"/>
                    </a:lnTo>
                    <a:lnTo>
                      <a:pt x="732" y="13"/>
                    </a:lnTo>
                    <a:lnTo>
                      <a:pt x="728" y="15"/>
                    </a:lnTo>
                    <a:lnTo>
                      <a:pt x="694" y="24"/>
                    </a:lnTo>
                    <a:lnTo>
                      <a:pt x="655" y="36"/>
                    </a:lnTo>
                    <a:lnTo>
                      <a:pt x="612" y="52"/>
                    </a:lnTo>
                    <a:lnTo>
                      <a:pt x="570" y="69"/>
                    </a:lnTo>
                    <a:lnTo>
                      <a:pt x="523" y="90"/>
                    </a:lnTo>
                    <a:lnTo>
                      <a:pt x="467" y="112"/>
                    </a:lnTo>
                    <a:lnTo>
                      <a:pt x="407" y="140"/>
                    </a:lnTo>
                    <a:lnTo>
                      <a:pt x="343" y="170"/>
                    </a:lnTo>
                    <a:lnTo>
                      <a:pt x="278" y="200"/>
                    </a:lnTo>
                    <a:lnTo>
                      <a:pt x="141" y="269"/>
                    </a:lnTo>
                    <a:lnTo>
                      <a:pt x="137" y="271"/>
                    </a:lnTo>
                    <a:lnTo>
                      <a:pt x="0" y="342"/>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 name="矩形 171060">
                <a:extLst>
                  <a:ext uri="{FF2B5EF4-FFF2-40B4-BE49-F238E27FC236}">
                    <a16:creationId xmlns:a16="http://schemas.microsoft.com/office/drawing/2014/main" xmlns="" id="{AF829158-564C-D338-2C62-068225C51C9E}"/>
                  </a:ext>
                </a:extLst>
              </p:cNvPr>
              <p:cNvSpPr>
                <a:spLocks noChangeArrowheads="1"/>
              </p:cNvSpPr>
              <p:nvPr/>
            </p:nvSpPr>
            <p:spPr bwMode="auto">
              <a:xfrm>
                <a:off x="3661" y="1693"/>
                <a:ext cx="261" cy="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17" name="对象 171061">
                <a:extLst>
                  <a:ext uri="{FF2B5EF4-FFF2-40B4-BE49-F238E27FC236}">
                    <a16:creationId xmlns:a16="http://schemas.microsoft.com/office/drawing/2014/main" xmlns="" id="{AC8A9610-074E-7144-20CC-50B49D45DFE0}"/>
                  </a:ext>
                </a:extLst>
              </p:cNvPr>
              <p:cNvGraphicFramePr>
                <a:graphicFrameLocks/>
              </p:cNvGraphicFramePr>
              <p:nvPr/>
            </p:nvGraphicFramePr>
            <p:xfrm>
              <a:off x="4029" y="926"/>
              <a:ext cx="544" cy="461"/>
            </p:xfrm>
            <a:graphic>
              <a:graphicData uri="http://schemas.openxmlformats.org/presentationml/2006/ole">
                <mc:AlternateContent xmlns:mc="http://schemas.openxmlformats.org/markup-compatibility/2006">
                  <mc:Choice xmlns:v="urn:schemas-microsoft-com:vml" Requires="v">
                    <p:oleObj spid="_x0000_s93466" r:id="rId3" imgW="609480" imgH="507960" progId="Equation.3">
                      <p:embed/>
                    </p:oleObj>
                  </mc:Choice>
                  <mc:Fallback>
                    <p:oleObj r:id="rId3" imgW="609480" imgH="507960" progId="Equation.3">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29" y="926"/>
                            <a:ext cx="544" cy="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8" name="对象 171062">
                <a:extLst>
                  <a:ext uri="{FF2B5EF4-FFF2-40B4-BE49-F238E27FC236}">
                    <a16:creationId xmlns:a16="http://schemas.microsoft.com/office/drawing/2014/main" xmlns="" id="{29A0EEC1-1618-7EF7-213F-0D4638FA2C25}"/>
                  </a:ext>
                </a:extLst>
              </p:cNvPr>
              <p:cNvGraphicFramePr>
                <a:graphicFrameLocks/>
              </p:cNvGraphicFramePr>
              <p:nvPr/>
            </p:nvGraphicFramePr>
            <p:xfrm>
              <a:off x="3870" y="1338"/>
              <a:ext cx="748" cy="245"/>
            </p:xfrm>
            <a:graphic>
              <a:graphicData uri="http://schemas.openxmlformats.org/presentationml/2006/ole">
                <mc:AlternateContent xmlns:mc="http://schemas.openxmlformats.org/markup-compatibility/2006">
                  <mc:Choice xmlns:v="urn:schemas-microsoft-com:vml" Requires="v">
                    <p:oleObj spid="_x0000_s93467" r:id="rId5" imgW="863280" imgH="241200" progId="Equation.3">
                      <p:embed/>
                    </p:oleObj>
                  </mc:Choice>
                  <mc:Fallback>
                    <p:oleObj r:id="rId5" imgW="863280" imgH="241200" progId="Equation.3">
                      <p:embed/>
                      <p:pic>
                        <p:nvPicPr>
                          <p:cNvPr id="0" name=""/>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70" y="1338"/>
                            <a:ext cx="748" cy="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9" name="对象 171063">
                <a:extLst>
                  <a:ext uri="{FF2B5EF4-FFF2-40B4-BE49-F238E27FC236}">
                    <a16:creationId xmlns:a16="http://schemas.microsoft.com/office/drawing/2014/main" xmlns="" id="{2F15B718-4703-A7CC-E0C8-E7E8DAA295A8}"/>
                  </a:ext>
                </a:extLst>
              </p:cNvPr>
              <p:cNvGraphicFramePr>
                <a:graphicFrameLocks/>
              </p:cNvGraphicFramePr>
              <p:nvPr/>
            </p:nvGraphicFramePr>
            <p:xfrm>
              <a:off x="2835" y="1298"/>
              <a:ext cx="807" cy="367"/>
            </p:xfrm>
            <a:graphic>
              <a:graphicData uri="http://schemas.openxmlformats.org/presentationml/2006/ole">
                <mc:AlternateContent xmlns:mc="http://schemas.openxmlformats.org/markup-compatibility/2006">
                  <mc:Choice xmlns:v="urn:schemas-microsoft-com:vml" Requires="v">
                    <p:oleObj spid="_x0000_s93468" r:id="rId7" imgW="1091520" imgH="457200" progId="Equation.3">
                      <p:embed/>
                    </p:oleObj>
                  </mc:Choice>
                  <mc:Fallback>
                    <p:oleObj r:id="rId7" imgW="1091520" imgH="457200" progId="Equation.3">
                      <p:embed/>
                      <p:pic>
                        <p:nvPicPr>
                          <p:cNvPr id="0" name=""/>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35" y="1298"/>
                            <a:ext cx="807" cy="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0" name="对象 171064">
                <a:extLst>
                  <a:ext uri="{FF2B5EF4-FFF2-40B4-BE49-F238E27FC236}">
                    <a16:creationId xmlns:a16="http://schemas.microsoft.com/office/drawing/2014/main" xmlns="" id="{0D9038DE-C270-EE9C-C14F-EBAFD25DD44F}"/>
                  </a:ext>
                </a:extLst>
              </p:cNvPr>
              <p:cNvGraphicFramePr>
                <a:graphicFrameLocks/>
              </p:cNvGraphicFramePr>
              <p:nvPr/>
            </p:nvGraphicFramePr>
            <p:xfrm>
              <a:off x="3717" y="1653"/>
              <a:ext cx="789" cy="245"/>
            </p:xfrm>
            <a:graphic>
              <a:graphicData uri="http://schemas.openxmlformats.org/presentationml/2006/ole">
                <mc:AlternateContent xmlns:mc="http://schemas.openxmlformats.org/markup-compatibility/2006">
                  <mc:Choice xmlns:v="urn:schemas-microsoft-com:vml" Requires="v">
                    <p:oleObj spid="_x0000_s93469" r:id="rId9" imgW="914040" imgH="241200" progId="Equation.3">
                      <p:embed/>
                    </p:oleObj>
                  </mc:Choice>
                  <mc:Fallback>
                    <p:oleObj r:id="rId9" imgW="914040" imgH="241200" progId="Equation.3">
                      <p:embed/>
                      <p:pic>
                        <p:nvPicPr>
                          <p:cNvPr id="0" name=""/>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717" y="1653"/>
                            <a:ext cx="789" cy="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1" name="直接连接符 171065">
                <a:extLst>
                  <a:ext uri="{FF2B5EF4-FFF2-40B4-BE49-F238E27FC236}">
                    <a16:creationId xmlns:a16="http://schemas.microsoft.com/office/drawing/2014/main" xmlns="" id="{993346A2-0669-F10D-DB0E-AB5B586103B0}"/>
                  </a:ext>
                </a:extLst>
              </p:cNvPr>
              <p:cNvSpPr>
                <a:spLocks noChangeShapeType="1"/>
              </p:cNvSpPr>
              <p:nvPr/>
            </p:nvSpPr>
            <p:spPr bwMode="auto">
              <a:xfrm>
                <a:off x="3886" y="1179"/>
                <a:ext cx="0" cy="822"/>
              </a:xfrm>
              <a:prstGeom prst="line">
                <a:avLst/>
              </a:prstGeom>
              <a:noFill/>
              <a:ln w="50800">
                <a:solidFill>
                  <a:schemeClr val="accent1"/>
                </a:solidFill>
                <a:prstDash val="dash"/>
                <a:round/>
                <a:headEnd type="none" w="sm" len="lg"/>
                <a:tailEnd type="none" w="sm" len="lg"/>
              </a:ln>
              <a:extLst>
                <a:ext uri="{909E8E84-426E-40DD-AFC4-6F175D3DCCD1}">
                  <a14:hiddenFill xmlns:a14="http://schemas.microsoft.com/office/drawing/2010/main">
                    <a:noFill/>
                  </a14:hiddenFill>
                </a:ext>
              </a:extLst>
            </p:spPr>
            <p:txBody>
              <a:bodyPr/>
              <a:lstStyle/>
              <a:p>
                <a:endParaRPr lang="zh-CN" altLang="en-US"/>
              </a:p>
            </p:txBody>
          </p:sp>
          <p:grpSp>
            <p:nvGrpSpPr>
              <p:cNvPr id="22" name="组合 171066">
                <a:extLst>
                  <a:ext uri="{FF2B5EF4-FFF2-40B4-BE49-F238E27FC236}">
                    <a16:creationId xmlns:a16="http://schemas.microsoft.com/office/drawing/2014/main" xmlns="" id="{2F61B164-D20D-F136-7B95-235360DE83A6}"/>
                  </a:ext>
                </a:extLst>
              </p:cNvPr>
              <p:cNvGrpSpPr>
                <a:grpSpLocks/>
              </p:cNvGrpSpPr>
              <p:nvPr/>
            </p:nvGrpSpPr>
            <p:grpSpPr bwMode="auto">
              <a:xfrm>
                <a:off x="431" y="990"/>
                <a:ext cx="2030" cy="1281"/>
                <a:chOff x="3305" y="2787"/>
                <a:chExt cx="2030" cy="1281"/>
              </a:xfrm>
            </p:grpSpPr>
            <p:sp>
              <p:nvSpPr>
                <p:cNvPr id="51" name="矩形 171067">
                  <a:extLst>
                    <a:ext uri="{FF2B5EF4-FFF2-40B4-BE49-F238E27FC236}">
                      <a16:creationId xmlns:a16="http://schemas.microsoft.com/office/drawing/2014/main" xmlns="" id="{C29214D6-9980-2F96-0147-0F08849CA5E4}"/>
                    </a:ext>
                  </a:extLst>
                </p:cNvPr>
                <p:cNvSpPr>
                  <a:spLocks noChangeArrowheads="1"/>
                </p:cNvSpPr>
                <p:nvPr/>
              </p:nvSpPr>
              <p:spPr bwMode="auto">
                <a:xfrm>
                  <a:off x="3348" y="2787"/>
                  <a:ext cx="1973" cy="127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nvGrpSpPr>
                <p:cNvPr id="52" name="组合 171068">
                  <a:extLst>
                    <a:ext uri="{FF2B5EF4-FFF2-40B4-BE49-F238E27FC236}">
                      <a16:creationId xmlns:a16="http://schemas.microsoft.com/office/drawing/2014/main" xmlns="" id="{42C15F48-4F04-5C79-00DD-661EA6838BD5}"/>
                    </a:ext>
                  </a:extLst>
                </p:cNvPr>
                <p:cNvGrpSpPr>
                  <a:grpSpLocks/>
                </p:cNvGrpSpPr>
                <p:nvPr/>
              </p:nvGrpSpPr>
              <p:grpSpPr bwMode="auto">
                <a:xfrm>
                  <a:off x="3305" y="2867"/>
                  <a:ext cx="2030" cy="1201"/>
                  <a:chOff x="3305" y="2867"/>
                  <a:chExt cx="2030" cy="1201"/>
                </a:xfrm>
              </p:grpSpPr>
              <p:grpSp>
                <p:nvGrpSpPr>
                  <p:cNvPr id="53" name="组合 171069">
                    <a:extLst>
                      <a:ext uri="{FF2B5EF4-FFF2-40B4-BE49-F238E27FC236}">
                        <a16:creationId xmlns:a16="http://schemas.microsoft.com/office/drawing/2014/main" xmlns="" id="{30745333-8D51-A889-23D0-E4BF3B30BCA1}"/>
                      </a:ext>
                    </a:extLst>
                  </p:cNvPr>
                  <p:cNvGrpSpPr>
                    <a:grpSpLocks/>
                  </p:cNvGrpSpPr>
                  <p:nvPr/>
                </p:nvGrpSpPr>
                <p:grpSpPr bwMode="auto">
                  <a:xfrm>
                    <a:off x="4307" y="3031"/>
                    <a:ext cx="13" cy="735"/>
                    <a:chOff x="1635" y="2629"/>
                    <a:chExt cx="13" cy="735"/>
                  </a:xfrm>
                </p:grpSpPr>
                <p:sp>
                  <p:nvSpPr>
                    <p:cNvPr id="71" name="任意多边形 171070">
                      <a:extLst>
                        <a:ext uri="{FF2B5EF4-FFF2-40B4-BE49-F238E27FC236}">
                          <a16:creationId xmlns:a16="http://schemas.microsoft.com/office/drawing/2014/main" xmlns="" id="{243AD35E-FD1B-53C3-BDF6-28816AC41737}"/>
                        </a:ext>
                      </a:extLst>
                    </p:cNvPr>
                    <p:cNvSpPr>
                      <a:spLocks noChangeArrowheads="1"/>
                    </p:cNvSpPr>
                    <p:nvPr/>
                  </p:nvSpPr>
                  <p:spPr bwMode="auto">
                    <a:xfrm>
                      <a:off x="1635" y="3334"/>
                      <a:ext cx="13" cy="30"/>
                    </a:xfrm>
                    <a:custGeom>
                      <a:avLst/>
                      <a:gdLst>
                        <a:gd name="T0" fmla="*/ 0 w 13"/>
                        <a:gd name="T1" fmla="*/ 30 h 30"/>
                        <a:gd name="T2" fmla="*/ 5 w 13"/>
                        <a:gd name="T3" fmla="*/ 30 h 30"/>
                        <a:gd name="T4" fmla="*/ 9 w 13"/>
                        <a:gd name="T5" fmla="*/ 28 h 30"/>
                        <a:gd name="T6" fmla="*/ 13 w 13"/>
                        <a:gd name="T7" fmla="*/ 28 h 30"/>
                        <a:gd name="T8" fmla="*/ 13 w 13"/>
                        <a:gd name="T9" fmla="*/ 2 h 30"/>
                        <a:gd name="T10" fmla="*/ 5 w 13"/>
                        <a:gd name="T11" fmla="*/ 0 h 30"/>
                        <a:gd name="T12" fmla="*/ 0 w 13"/>
                        <a:gd name="T13" fmla="*/ 2 h 30"/>
                        <a:gd name="T14" fmla="*/ 0 w 13"/>
                        <a:gd name="T15" fmla="*/ 4 h 30"/>
                        <a:gd name="T16" fmla="*/ 0 w 13"/>
                        <a:gd name="T1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30">
                          <a:moveTo>
                            <a:pt x="0" y="30"/>
                          </a:moveTo>
                          <a:lnTo>
                            <a:pt x="5" y="30"/>
                          </a:lnTo>
                          <a:lnTo>
                            <a:pt x="9" y="28"/>
                          </a:lnTo>
                          <a:lnTo>
                            <a:pt x="13" y="28"/>
                          </a:lnTo>
                          <a:lnTo>
                            <a:pt x="13" y="2"/>
                          </a:lnTo>
                          <a:lnTo>
                            <a:pt x="5" y="0"/>
                          </a:lnTo>
                          <a:lnTo>
                            <a:pt x="0" y="2"/>
                          </a:lnTo>
                          <a:lnTo>
                            <a:pt x="0" y="4"/>
                          </a:lnTo>
                          <a:lnTo>
                            <a:pt x="0" y="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 name="任意多边形 171071">
                      <a:extLst>
                        <a:ext uri="{FF2B5EF4-FFF2-40B4-BE49-F238E27FC236}">
                          <a16:creationId xmlns:a16="http://schemas.microsoft.com/office/drawing/2014/main" xmlns="" id="{780EC4F6-5531-DCAE-34F4-FC77B68508AC}"/>
                        </a:ext>
                      </a:extLst>
                    </p:cNvPr>
                    <p:cNvSpPr>
                      <a:spLocks noChangeArrowheads="1"/>
                    </p:cNvSpPr>
                    <p:nvPr/>
                  </p:nvSpPr>
                  <p:spPr bwMode="auto">
                    <a:xfrm>
                      <a:off x="1635" y="3288"/>
                      <a:ext cx="13" cy="31"/>
                    </a:xfrm>
                    <a:custGeom>
                      <a:avLst/>
                      <a:gdLst>
                        <a:gd name="T0" fmla="*/ 0 w 13"/>
                        <a:gd name="T1" fmla="*/ 31 h 31"/>
                        <a:gd name="T2" fmla="*/ 5 w 13"/>
                        <a:gd name="T3" fmla="*/ 31 h 31"/>
                        <a:gd name="T4" fmla="*/ 9 w 13"/>
                        <a:gd name="T5" fmla="*/ 28 h 31"/>
                        <a:gd name="T6" fmla="*/ 13 w 13"/>
                        <a:gd name="T7" fmla="*/ 28 h 31"/>
                        <a:gd name="T8" fmla="*/ 13 w 13"/>
                        <a:gd name="T9" fmla="*/ 3 h 31"/>
                        <a:gd name="T10" fmla="*/ 5 w 13"/>
                        <a:gd name="T11" fmla="*/ 0 h 31"/>
                        <a:gd name="T12" fmla="*/ 0 w 13"/>
                        <a:gd name="T13" fmla="*/ 3 h 31"/>
                        <a:gd name="T14" fmla="*/ 0 w 13"/>
                        <a:gd name="T15" fmla="*/ 5 h 31"/>
                        <a:gd name="T16" fmla="*/ 0 w 13"/>
                        <a:gd name="T17" fmla="*/ 3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31">
                          <a:moveTo>
                            <a:pt x="0" y="31"/>
                          </a:moveTo>
                          <a:lnTo>
                            <a:pt x="5" y="31"/>
                          </a:lnTo>
                          <a:lnTo>
                            <a:pt x="9" y="28"/>
                          </a:lnTo>
                          <a:lnTo>
                            <a:pt x="13" y="28"/>
                          </a:lnTo>
                          <a:lnTo>
                            <a:pt x="13" y="3"/>
                          </a:lnTo>
                          <a:lnTo>
                            <a:pt x="5" y="0"/>
                          </a:lnTo>
                          <a:lnTo>
                            <a:pt x="0" y="3"/>
                          </a:lnTo>
                          <a:lnTo>
                            <a:pt x="0" y="5"/>
                          </a:lnTo>
                          <a:lnTo>
                            <a:pt x="0" y="3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 name="任意多边形 171072">
                      <a:extLst>
                        <a:ext uri="{FF2B5EF4-FFF2-40B4-BE49-F238E27FC236}">
                          <a16:creationId xmlns:a16="http://schemas.microsoft.com/office/drawing/2014/main" xmlns="" id="{A47082B6-CADA-EE08-9C97-89932402DEBB}"/>
                        </a:ext>
                      </a:extLst>
                    </p:cNvPr>
                    <p:cNvSpPr>
                      <a:spLocks noChangeArrowheads="1"/>
                    </p:cNvSpPr>
                    <p:nvPr/>
                  </p:nvSpPr>
                  <p:spPr bwMode="auto">
                    <a:xfrm>
                      <a:off x="1635" y="3243"/>
                      <a:ext cx="13" cy="30"/>
                    </a:xfrm>
                    <a:custGeom>
                      <a:avLst/>
                      <a:gdLst>
                        <a:gd name="T0" fmla="*/ 0 w 13"/>
                        <a:gd name="T1" fmla="*/ 30 h 30"/>
                        <a:gd name="T2" fmla="*/ 5 w 13"/>
                        <a:gd name="T3" fmla="*/ 30 h 30"/>
                        <a:gd name="T4" fmla="*/ 9 w 13"/>
                        <a:gd name="T5" fmla="*/ 28 h 30"/>
                        <a:gd name="T6" fmla="*/ 13 w 13"/>
                        <a:gd name="T7" fmla="*/ 28 h 30"/>
                        <a:gd name="T8" fmla="*/ 13 w 13"/>
                        <a:gd name="T9" fmla="*/ 2 h 30"/>
                        <a:gd name="T10" fmla="*/ 5 w 13"/>
                        <a:gd name="T11" fmla="*/ 0 h 30"/>
                        <a:gd name="T12" fmla="*/ 0 w 13"/>
                        <a:gd name="T13" fmla="*/ 2 h 30"/>
                        <a:gd name="T14" fmla="*/ 0 w 13"/>
                        <a:gd name="T15" fmla="*/ 5 h 30"/>
                        <a:gd name="T16" fmla="*/ 0 w 13"/>
                        <a:gd name="T1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30">
                          <a:moveTo>
                            <a:pt x="0" y="30"/>
                          </a:moveTo>
                          <a:lnTo>
                            <a:pt x="5" y="30"/>
                          </a:lnTo>
                          <a:lnTo>
                            <a:pt x="9" y="28"/>
                          </a:lnTo>
                          <a:lnTo>
                            <a:pt x="13" y="28"/>
                          </a:lnTo>
                          <a:lnTo>
                            <a:pt x="13" y="2"/>
                          </a:lnTo>
                          <a:lnTo>
                            <a:pt x="5" y="0"/>
                          </a:lnTo>
                          <a:lnTo>
                            <a:pt x="0" y="2"/>
                          </a:lnTo>
                          <a:lnTo>
                            <a:pt x="0" y="5"/>
                          </a:lnTo>
                          <a:lnTo>
                            <a:pt x="0" y="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 name="任意多边形 171073">
                      <a:extLst>
                        <a:ext uri="{FF2B5EF4-FFF2-40B4-BE49-F238E27FC236}">
                          <a16:creationId xmlns:a16="http://schemas.microsoft.com/office/drawing/2014/main" xmlns="" id="{80CD6681-9F5C-392A-4CC5-A28D3D11BB07}"/>
                        </a:ext>
                      </a:extLst>
                    </p:cNvPr>
                    <p:cNvSpPr>
                      <a:spLocks noChangeArrowheads="1"/>
                    </p:cNvSpPr>
                    <p:nvPr/>
                  </p:nvSpPr>
                  <p:spPr bwMode="auto">
                    <a:xfrm>
                      <a:off x="1635" y="3198"/>
                      <a:ext cx="13" cy="30"/>
                    </a:xfrm>
                    <a:custGeom>
                      <a:avLst/>
                      <a:gdLst>
                        <a:gd name="T0" fmla="*/ 0 w 13"/>
                        <a:gd name="T1" fmla="*/ 30 h 30"/>
                        <a:gd name="T2" fmla="*/ 5 w 13"/>
                        <a:gd name="T3" fmla="*/ 30 h 30"/>
                        <a:gd name="T4" fmla="*/ 9 w 13"/>
                        <a:gd name="T5" fmla="*/ 28 h 30"/>
                        <a:gd name="T6" fmla="*/ 13 w 13"/>
                        <a:gd name="T7" fmla="*/ 28 h 30"/>
                        <a:gd name="T8" fmla="*/ 13 w 13"/>
                        <a:gd name="T9" fmla="*/ 2 h 30"/>
                        <a:gd name="T10" fmla="*/ 5 w 13"/>
                        <a:gd name="T11" fmla="*/ 0 h 30"/>
                        <a:gd name="T12" fmla="*/ 0 w 13"/>
                        <a:gd name="T13" fmla="*/ 2 h 30"/>
                        <a:gd name="T14" fmla="*/ 0 w 13"/>
                        <a:gd name="T15" fmla="*/ 4 h 30"/>
                        <a:gd name="T16" fmla="*/ 0 w 13"/>
                        <a:gd name="T1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30">
                          <a:moveTo>
                            <a:pt x="0" y="30"/>
                          </a:moveTo>
                          <a:lnTo>
                            <a:pt x="5" y="30"/>
                          </a:lnTo>
                          <a:lnTo>
                            <a:pt x="9" y="28"/>
                          </a:lnTo>
                          <a:lnTo>
                            <a:pt x="13" y="28"/>
                          </a:lnTo>
                          <a:lnTo>
                            <a:pt x="13" y="2"/>
                          </a:lnTo>
                          <a:lnTo>
                            <a:pt x="5" y="0"/>
                          </a:lnTo>
                          <a:lnTo>
                            <a:pt x="0" y="2"/>
                          </a:lnTo>
                          <a:lnTo>
                            <a:pt x="0" y="4"/>
                          </a:lnTo>
                          <a:lnTo>
                            <a:pt x="0" y="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 name="任意多边形 171074">
                      <a:extLst>
                        <a:ext uri="{FF2B5EF4-FFF2-40B4-BE49-F238E27FC236}">
                          <a16:creationId xmlns:a16="http://schemas.microsoft.com/office/drawing/2014/main" xmlns="" id="{EE98F83C-F673-21C1-528E-BEE4E5F40380}"/>
                        </a:ext>
                      </a:extLst>
                    </p:cNvPr>
                    <p:cNvSpPr>
                      <a:spLocks noChangeArrowheads="1"/>
                    </p:cNvSpPr>
                    <p:nvPr/>
                  </p:nvSpPr>
                  <p:spPr bwMode="auto">
                    <a:xfrm>
                      <a:off x="1635" y="3153"/>
                      <a:ext cx="13" cy="30"/>
                    </a:xfrm>
                    <a:custGeom>
                      <a:avLst/>
                      <a:gdLst>
                        <a:gd name="T0" fmla="*/ 0 w 13"/>
                        <a:gd name="T1" fmla="*/ 30 h 30"/>
                        <a:gd name="T2" fmla="*/ 5 w 13"/>
                        <a:gd name="T3" fmla="*/ 30 h 30"/>
                        <a:gd name="T4" fmla="*/ 9 w 13"/>
                        <a:gd name="T5" fmla="*/ 28 h 30"/>
                        <a:gd name="T6" fmla="*/ 13 w 13"/>
                        <a:gd name="T7" fmla="*/ 28 h 30"/>
                        <a:gd name="T8" fmla="*/ 13 w 13"/>
                        <a:gd name="T9" fmla="*/ 2 h 30"/>
                        <a:gd name="T10" fmla="*/ 5 w 13"/>
                        <a:gd name="T11" fmla="*/ 0 h 30"/>
                        <a:gd name="T12" fmla="*/ 0 w 13"/>
                        <a:gd name="T13" fmla="*/ 2 h 30"/>
                        <a:gd name="T14" fmla="*/ 0 w 13"/>
                        <a:gd name="T15" fmla="*/ 4 h 30"/>
                        <a:gd name="T16" fmla="*/ 0 w 13"/>
                        <a:gd name="T1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30">
                          <a:moveTo>
                            <a:pt x="0" y="30"/>
                          </a:moveTo>
                          <a:lnTo>
                            <a:pt x="5" y="30"/>
                          </a:lnTo>
                          <a:lnTo>
                            <a:pt x="9" y="28"/>
                          </a:lnTo>
                          <a:lnTo>
                            <a:pt x="13" y="28"/>
                          </a:lnTo>
                          <a:lnTo>
                            <a:pt x="13" y="2"/>
                          </a:lnTo>
                          <a:lnTo>
                            <a:pt x="5" y="0"/>
                          </a:lnTo>
                          <a:lnTo>
                            <a:pt x="0" y="2"/>
                          </a:lnTo>
                          <a:lnTo>
                            <a:pt x="0" y="4"/>
                          </a:lnTo>
                          <a:lnTo>
                            <a:pt x="0" y="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 name="任意多边形 171075">
                      <a:extLst>
                        <a:ext uri="{FF2B5EF4-FFF2-40B4-BE49-F238E27FC236}">
                          <a16:creationId xmlns:a16="http://schemas.microsoft.com/office/drawing/2014/main" xmlns="" id="{C77B8ED7-0567-136E-0B48-76AE2C98C567}"/>
                        </a:ext>
                      </a:extLst>
                    </p:cNvPr>
                    <p:cNvSpPr>
                      <a:spLocks noChangeArrowheads="1"/>
                    </p:cNvSpPr>
                    <p:nvPr/>
                  </p:nvSpPr>
                  <p:spPr bwMode="auto">
                    <a:xfrm>
                      <a:off x="1635" y="3107"/>
                      <a:ext cx="13" cy="31"/>
                    </a:xfrm>
                    <a:custGeom>
                      <a:avLst/>
                      <a:gdLst>
                        <a:gd name="T0" fmla="*/ 0 w 13"/>
                        <a:gd name="T1" fmla="*/ 31 h 31"/>
                        <a:gd name="T2" fmla="*/ 5 w 13"/>
                        <a:gd name="T3" fmla="*/ 31 h 31"/>
                        <a:gd name="T4" fmla="*/ 9 w 13"/>
                        <a:gd name="T5" fmla="*/ 28 h 31"/>
                        <a:gd name="T6" fmla="*/ 13 w 13"/>
                        <a:gd name="T7" fmla="*/ 28 h 31"/>
                        <a:gd name="T8" fmla="*/ 13 w 13"/>
                        <a:gd name="T9" fmla="*/ 3 h 31"/>
                        <a:gd name="T10" fmla="*/ 5 w 13"/>
                        <a:gd name="T11" fmla="*/ 0 h 31"/>
                        <a:gd name="T12" fmla="*/ 0 w 13"/>
                        <a:gd name="T13" fmla="*/ 3 h 31"/>
                        <a:gd name="T14" fmla="*/ 0 w 13"/>
                        <a:gd name="T15" fmla="*/ 5 h 31"/>
                        <a:gd name="T16" fmla="*/ 0 w 13"/>
                        <a:gd name="T17" fmla="*/ 3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31">
                          <a:moveTo>
                            <a:pt x="0" y="31"/>
                          </a:moveTo>
                          <a:lnTo>
                            <a:pt x="5" y="31"/>
                          </a:lnTo>
                          <a:lnTo>
                            <a:pt x="9" y="28"/>
                          </a:lnTo>
                          <a:lnTo>
                            <a:pt x="13" y="28"/>
                          </a:lnTo>
                          <a:lnTo>
                            <a:pt x="13" y="3"/>
                          </a:lnTo>
                          <a:lnTo>
                            <a:pt x="5" y="0"/>
                          </a:lnTo>
                          <a:lnTo>
                            <a:pt x="0" y="3"/>
                          </a:lnTo>
                          <a:lnTo>
                            <a:pt x="0" y="5"/>
                          </a:lnTo>
                          <a:lnTo>
                            <a:pt x="0" y="3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 name="任意多边形 171076">
                      <a:extLst>
                        <a:ext uri="{FF2B5EF4-FFF2-40B4-BE49-F238E27FC236}">
                          <a16:creationId xmlns:a16="http://schemas.microsoft.com/office/drawing/2014/main" xmlns="" id="{27BD8565-469B-F897-86DC-EDBCCF37F591}"/>
                        </a:ext>
                      </a:extLst>
                    </p:cNvPr>
                    <p:cNvSpPr>
                      <a:spLocks noChangeArrowheads="1"/>
                    </p:cNvSpPr>
                    <p:nvPr/>
                  </p:nvSpPr>
                  <p:spPr bwMode="auto">
                    <a:xfrm>
                      <a:off x="1635" y="3062"/>
                      <a:ext cx="13" cy="30"/>
                    </a:xfrm>
                    <a:custGeom>
                      <a:avLst/>
                      <a:gdLst>
                        <a:gd name="T0" fmla="*/ 0 w 13"/>
                        <a:gd name="T1" fmla="*/ 30 h 30"/>
                        <a:gd name="T2" fmla="*/ 5 w 13"/>
                        <a:gd name="T3" fmla="*/ 30 h 30"/>
                        <a:gd name="T4" fmla="*/ 9 w 13"/>
                        <a:gd name="T5" fmla="*/ 28 h 30"/>
                        <a:gd name="T6" fmla="*/ 13 w 13"/>
                        <a:gd name="T7" fmla="*/ 28 h 30"/>
                        <a:gd name="T8" fmla="*/ 13 w 13"/>
                        <a:gd name="T9" fmla="*/ 2 h 30"/>
                        <a:gd name="T10" fmla="*/ 5 w 13"/>
                        <a:gd name="T11" fmla="*/ 0 h 30"/>
                        <a:gd name="T12" fmla="*/ 0 w 13"/>
                        <a:gd name="T13" fmla="*/ 2 h 30"/>
                        <a:gd name="T14" fmla="*/ 0 w 13"/>
                        <a:gd name="T15" fmla="*/ 5 h 30"/>
                        <a:gd name="T16" fmla="*/ 0 w 13"/>
                        <a:gd name="T1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30">
                          <a:moveTo>
                            <a:pt x="0" y="30"/>
                          </a:moveTo>
                          <a:lnTo>
                            <a:pt x="5" y="30"/>
                          </a:lnTo>
                          <a:lnTo>
                            <a:pt x="9" y="28"/>
                          </a:lnTo>
                          <a:lnTo>
                            <a:pt x="13" y="28"/>
                          </a:lnTo>
                          <a:lnTo>
                            <a:pt x="13" y="2"/>
                          </a:lnTo>
                          <a:lnTo>
                            <a:pt x="5" y="0"/>
                          </a:lnTo>
                          <a:lnTo>
                            <a:pt x="0" y="2"/>
                          </a:lnTo>
                          <a:lnTo>
                            <a:pt x="0" y="5"/>
                          </a:lnTo>
                          <a:lnTo>
                            <a:pt x="0" y="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 name="任意多边形 171077">
                      <a:extLst>
                        <a:ext uri="{FF2B5EF4-FFF2-40B4-BE49-F238E27FC236}">
                          <a16:creationId xmlns:a16="http://schemas.microsoft.com/office/drawing/2014/main" xmlns="" id="{1BD4C342-82AB-B60D-B54A-A8E2D0C82CAB}"/>
                        </a:ext>
                      </a:extLst>
                    </p:cNvPr>
                    <p:cNvSpPr>
                      <a:spLocks noChangeArrowheads="1"/>
                    </p:cNvSpPr>
                    <p:nvPr/>
                  </p:nvSpPr>
                  <p:spPr bwMode="auto">
                    <a:xfrm>
                      <a:off x="1635" y="3017"/>
                      <a:ext cx="13" cy="30"/>
                    </a:xfrm>
                    <a:custGeom>
                      <a:avLst/>
                      <a:gdLst>
                        <a:gd name="T0" fmla="*/ 0 w 13"/>
                        <a:gd name="T1" fmla="*/ 30 h 30"/>
                        <a:gd name="T2" fmla="*/ 5 w 13"/>
                        <a:gd name="T3" fmla="*/ 30 h 30"/>
                        <a:gd name="T4" fmla="*/ 9 w 13"/>
                        <a:gd name="T5" fmla="*/ 28 h 30"/>
                        <a:gd name="T6" fmla="*/ 13 w 13"/>
                        <a:gd name="T7" fmla="*/ 28 h 30"/>
                        <a:gd name="T8" fmla="*/ 13 w 13"/>
                        <a:gd name="T9" fmla="*/ 2 h 30"/>
                        <a:gd name="T10" fmla="*/ 5 w 13"/>
                        <a:gd name="T11" fmla="*/ 0 h 30"/>
                        <a:gd name="T12" fmla="*/ 0 w 13"/>
                        <a:gd name="T13" fmla="*/ 2 h 30"/>
                        <a:gd name="T14" fmla="*/ 0 w 13"/>
                        <a:gd name="T15" fmla="*/ 4 h 30"/>
                        <a:gd name="T16" fmla="*/ 0 w 13"/>
                        <a:gd name="T1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30">
                          <a:moveTo>
                            <a:pt x="0" y="30"/>
                          </a:moveTo>
                          <a:lnTo>
                            <a:pt x="5" y="30"/>
                          </a:lnTo>
                          <a:lnTo>
                            <a:pt x="9" y="28"/>
                          </a:lnTo>
                          <a:lnTo>
                            <a:pt x="13" y="28"/>
                          </a:lnTo>
                          <a:lnTo>
                            <a:pt x="13" y="2"/>
                          </a:lnTo>
                          <a:lnTo>
                            <a:pt x="5" y="0"/>
                          </a:lnTo>
                          <a:lnTo>
                            <a:pt x="0" y="2"/>
                          </a:lnTo>
                          <a:lnTo>
                            <a:pt x="0" y="4"/>
                          </a:lnTo>
                          <a:lnTo>
                            <a:pt x="0" y="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9" name="任意多边形 171078">
                      <a:extLst>
                        <a:ext uri="{FF2B5EF4-FFF2-40B4-BE49-F238E27FC236}">
                          <a16:creationId xmlns:a16="http://schemas.microsoft.com/office/drawing/2014/main" xmlns="" id="{BF04E5A9-F0D9-33B9-43FF-52612DA9A1D6}"/>
                        </a:ext>
                      </a:extLst>
                    </p:cNvPr>
                    <p:cNvSpPr>
                      <a:spLocks noChangeArrowheads="1"/>
                    </p:cNvSpPr>
                    <p:nvPr/>
                  </p:nvSpPr>
                  <p:spPr bwMode="auto">
                    <a:xfrm>
                      <a:off x="1635" y="2972"/>
                      <a:ext cx="13" cy="30"/>
                    </a:xfrm>
                    <a:custGeom>
                      <a:avLst/>
                      <a:gdLst>
                        <a:gd name="T0" fmla="*/ 0 w 13"/>
                        <a:gd name="T1" fmla="*/ 30 h 30"/>
                        <a:gd name="T2" fmla="*/ 5 w 13"/>
                        <a:gd name="T3" fmla="*/ 30 h 30"/>
                        <a:gd name="T4" fmla="*/ 9 w 13"/>
                        <a:gd name="T5" fmla="*/ 28 h 30"/>
                        <a:gd name="T6" fmla="*/ 13 w 13"/>
                        <a:gd name="T7" fmla="*/ 28 h 30"/>
                        <a:gd name="T8" fmla="*/ 13 w 13"/>
                        <a:gd name="T9" fmla="*/ 2 h 30"/>
                        <a:gd name="T10" fmla="*/ 5 w 13"/>
                        <a:gd name="T11" fmla="*/ 0 h 30"/>
                        <a:gd name="T12" fmla="*/ 0 w 13"/>
                        <a:gd name="T13" fmla="*/ 2 h 30"/>
                        <a:gd name="T14" fmla="*/ 0 w 13"/>
                        <a:gd name="T15" fmla="*/ 4 h 30"/>
                        <a:gd name="T16" fmla="*/ 0 w 13"/>
                        <a:gd name="T1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30">
                          <a:moveTo>
                            <a:pt x="0" y="30"/>
                          </a:moveTo>
                          <a:lnTo>
                            <a:pt x="5" y="30"/>
                          </a:lnTo>
                          <a:lnTo>
                            <a:pt x="9" y="28"/>
                          </a:lnTo>
                          <a:lnTo>
                            <a:pt x="13" y="28"/>
                          </a:lnTo>
                          <a:lnTo>
                            <a:pt x="13" y="2"/>
                          </a:lnTo>
                          <a:lnTo>
                            <a:pt x="5" y="0"/>
                          </a:lnTo>
                          <a:lnTo>
                            <a:pt x="0" y="2"/>
                          </a:lnTo>
                          <a:lnTo>
                            <a:pt x="0" y="4"/>
                          </a:lnTo>
                          <a:lnTo>
                            <a:pt x="0" y="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0" name="任意多边形 171079">
                      <a:extLst>
                        <a:ext uri="{FF2B5EF4-FFF2-40B4-BE49-F238E27FC236}">
                          <a16:creationId xmlns:a16="http://schemas.microsoft.com/office/drawing/2014/main" xmlns="" id="{F2057241-5BD5-B1E9-298C-149160058967}"/>
                        </a:ext>
                      </a:extLst>
                    </p:cNvPr>
                    <p:cNvSpPr>
                      <a:spLocks noChangeArrowheads="1"/>
                    </p:cNvSpPr>
                    <p:nvPr/>
                  </p:nvSpPr>
                  <p:spPr bwMode="auto">
                    <a:xfrm>
                      <a:off x="1635" y="2927"/>
                      <a:ext cx="13" cy="30"/>
                    </a:xfrm>
                    <a:custGeom>
                      <a:avLst/>
                      <a:gdLst>
                        <a:gd name="T0" fmla="*/ 0 w 13"/>
                        <a:gd name="T1" fmla="*/ 30 h 30"/>
                        <a:gd name="T2" fmla="*/ 5 w 13"/>
                        <a:gd name="T3" fmla="*/ 30 h 30"/>
                        <a:gd name="T4" fmla="*/ 9 w 13"/>
                        <a:gd name="T5" fmla="*/ 28 h 30"/>
                        <a:gd name="T6" fmla="*/ 13 w 13"/>
                        <a:gd name="T7" fmla="*/ 28 h 30"/>
                        <a:gd name="T8" fmla="*/ 13 w 13"/>
                        <a:gd name="T9" fmla="*/ 2 h 30"/>
                        <a:gd name="T10" fmla="*/ 5 w 13"/>
                        <a:gd name="T11" fmla="*/ 0 h 30"/>
                        <a:gd name="T12" fmla="*/ 0 w 13"/>
                        <a:gd name="T13" fmla="*/ 2 h 30"/>
                        <a:gd name="T14" fmla="*/ 0 w 13"/>
                        <a:gd name="T15" fmla="*/ 4 h 30"/>
                        <a:gd name="T16" fmla="*/ 0 w 13"/>
                        <a:gd name="T1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30">
                          <a:moveTo>
                            <a:pt x="0" y="30"/>
                          </a:moveTo>
                          <a:lnTo>
                            <a:pt x="5" y="30"/>
                          </a:lnTo>
                          <a:lnTo>
                            <a:pt x="9" y="28"/>
                          </a:lnTo>
                          <a:lnTo>
                            <a:pt x="13" y="28"/>
                          </a:lnTo>
                          <a:lnTo>
                            <a:pt x="13" y="2"/>
                          </a:lnTo>
                          <a:lnTo>
                            <a:pt x="5" y="0"/>
                          </a:lnTo>
                          <a:lnTo>
                            <a:pt x="0" y="2"/>
                          </a:lnTo>
                          <a:lnTo>
                            <a:pt x="0" y="4"/>
                          </a:lnTo>
                          <a:lnTo>
                            <a:pt x="0" y="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 name="任意多边形 171080">
                      <a:extLst>
                        <a:ext uri="{FF2B5EF4-FFF2-40B4-BE49-F238E27FC236}">
                          <a16:creationId xmlns:a16="http://schemas.microsoft.com/office/drawing/2014/main" xmlns="" id="{4502003A-E23C-DDA8-4E23-9C19FB1B6E0D}"/>
                        </a:ext>
                      </a:extLst>
                    </p:cNvPr>
                    <p:cNvSpPr>
                      <a:spLocks noChangeArrowheads="1"/>
                    </p:cNvSpPr>
                    <p:nvPr/>
                  </p:nvSpPr>
                  <p:spPr bwMode="auto">
                    <a:xfrm>
                      <a:off x="1635" y="2881"/>
                      <a:ext cx="13" cy="30"/>
                    </a:xfrm>
                    <a:custGeom>
                      <a:avLst/>
                      <a:gdLst>
                        <a:gd name="T0" fmla="*/ 0 w 13"/>
                        <a:gd name="T1" fmla="*/ 30 h 30"/>
                        <a:gd name="T2" fmla="*/ 5 w 13"/>
                        <a:gd name="T3" fmla="*/ 30 h 30"/>
                        <a:gd name="T4" fmla="*/ 9 w 13"/>
                        <a:gd name="T5" fmla="*/ 28 h 30"/>
                        <a:gd name="T6" fmla="*/ 13 w 13"/>
                        <a:gd name="T7" fmla="*/ 28 h 30"/>
                        <a:gd name="T8" fmla="*/ 13 w 13"/>
                        <a:gd name="T9" fmla="*/ 2 h 30"/>
                        <a:gd name="T10" fmla="*/ 5 w 13"/>
                        <a:gd name="T11" fmla="*/ 0 h 30"/>
                        <a:gd name="T12" fmla="*/ 0 w 13"/>
                        <a:gd name="T13" fmla="*/ 2 h 30"/>
                        <a:gd name="T14" fmla="*/ 0 w 13"/>
                        <a:gd name="T15" fmla="*/ 5 h 30"/>
                        <a:gd name="T16" fmla="*/ 0 w 13"/>
                        <a:gd name="T1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30">
                          <a:moveTo>
                            <a:pt x="0" y="30"/>
                          </a:moveTo>
                          <a:lnTo>
                            <a:pt x="5" y="30"/>
                          </a:lnTo>
                          <a:lnTo>
                            <a:pt x="9" y="28"/>
                          </a:lnTo>
                          <a:lnTo>
                            <a:pt x="13" y="28"/>
                          </a:lnTo>
                          <a:lnTo>
                            <a:pt x="13" y="2"/>
                          </a:lnTo>
                          <a:lnTo>
                            <a:pt x="5" y="0"/>
                          </a:lnTo>
                          <a:lnTo>
                            <a:pt x="0" y="2"/>
                          </a:lnTo>
                          <a:lnTo>
                            <a:pt x="0" y="5"/>
                          </a:lnTo>
                          <a:lnTo>
                            <a:pt x="0" y="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 name="任意多边形 171081">
                      <a:extLst>
                        <a:ext uri="{FF2B5EF4-FFF2-40B4-BE49-F238E27FC236}">
                          <a16:creationId xmlns:a16="http://schemas.microsoft.com/office/drawing/2014/main" xmlns="" id="{9B20BED9-A49B-4E56-060F-361E70C4DE05}"/>
                        </a:ext>
                      </a:extLst>
                    </p:cNvPr>
                    <p:cNvSpPr>
                      <a:spLocks noChangeArrowheads="1"/>
                    </p:cNvSpPr>
                    <p:nvPr/>
                  </p:nvSpPr>
                  <p:spPr bwMode="auto">
                    <a:xfrm>
                      <a:off x="1635" y="2836"/>
                      <a:ext cx="13" cy="30"/>
                    </a:xfrm>
                    <a:custGeom>
                      <a:avLst/>
                      <a:gdLst>
                        <a:gd name="T0" fmla="*/ 0 w 13"/>
                        <a:gd name="T1" fmla="*/ 30 h 30"/>
                        <a:gd name="T2" fmla="*/ 5 w 13"/>
                        <a:gd name="T3" fmla="*/ 30 h 30"/>
                        <a:gd name="T4" fmla="*/ 9 w 13"/>
                        <a:gd name="T5" fmla="*/ 28 h 30"/>
                        <a:gd name="T6" fmla="*/ 13 w 13"/>
                        <a:gd name="T7" fmla="*/ 28 h 30"/>
                        <a:gd name="T8" fmla="*/ 13 w 13"/>
                        <a:gd name="T9" fmla="*/ 2 h 30"/>
                        <a:gd name="T10" fmla="*/ 5 w 13"/>
                        <a:gd name="T11" fmla="*/ 0 h 30"/>
                        <a:gd name="T12" fmla="*/ 0 w 13"/>
                        <a:gd name="T13" fmla="*/ 2 h 30"/>
                        <a:gd name="T14" fmla="*/ 0 w 13"/>
                        <a:gd name="T15" fmla="*/ 4 h 30"/>
                        <a:gd name="T16" fmla="*/ 0 w 13"/>
                        <a:gd name="T1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30">
                          <a:moveTo>
                            <a:pt x="0" y="30"/>
                          </a:moveTo>
                          <a:lnTo>
                            <a:pt x="5" y="30"/>
                          </a:lnTo>
                          <a:lnTo>
                            <a:pt x="9" y="28"/>
                          </a:lnTo>
                          <a:lnTo>
                            <a:pt x="13" y="28"/>
                          </a:lnTo>
                          <a:lnTo>
                            <a:pt x="13" y="2"/>
                          </a:lnTo>
                          <a:lnTo>
                            <a:pt x="5" y="0"/>
                          </a:lnTo>
                          <a:lnTo>
                            <a:pt x="0" y="2"/>
                          </a:lnTo>
                          <a:lnTo>
                            <a:pt x="0" y="4"/>
                          </a:lnTo>
                          <a:lnTo>
                            <a:pt x="0" y="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 name="任意多边形 171082">
                      <a:extLst>
                        <a:ext uri="{FF2B5EF4-FFF2-40B4-BE49-F238E27FC236}">
                          <a16:creationId xmlns:a16="http://schemas.microsoft.com/office/drawing/2014/main" xmlns="" id="{46ED72EB-7C83-00F4-535E-64A152D7AB70}"/>
                        </a:ext>
                      </a:extLst>
                    </p:cNvPr>
                    <p:cNvSpPr>
                      <a:spLocks noChangeArrowheads="1"/>
                    </p:cNvSpPr>
                    <p:nvPr/>
                  </p:nvSpPr>
                  <p:spPr bwMode="auto">
                    <a:xfrm>
                      <a:off x="1635" y="2791"/>
                      <a:ext cx="13" cy="30"/>
                    </a:xfrm>
                    <a:custGeom>
                      <a:avLst/>
                      <a:gdLst>
                        <a:gd name="T0" fmla="*/ 0 w 13"/>
                        <a:gd name="T1" fmla="*/ 30 h 30"/>
                        <a:gd name="T2" fmla="*/ 5 w 13"/>
                        <a:gd name="T3" fmla="*/ 30 h 30"/>
                        <a:gd name="T4" fmla="*/ 9 w 13"/>
                        <a:gd name="T5" fmla="*/ 28 h 30"/>
                        <a:gd name="T6" fmla="*/ 13 w 13"/>
                        <a:gd name="T7" fmla="*/ 28 h 30"/>
                        <a:gd name="T8" fmla="*/ 13 w 13"/>
                        <a:gd name="T9" fmla="*/ 2 h 30"/>
                        <a:gd name="T10" fmla="*/ 5 w 13"/>
                        <a:gd name="T11" fmla="*/ 0 h 30"/>
                        <a:gd name="T12" fmla="*/ 0 w 13"/>
                        <a:gd name="T13" fmla="*/ 2 h 30"/>
                        <a:gd name="T14" fmla="*/ 0 w 13"/>
                        <a:gd name="T15" fmla="*/ 4 h 30"/>
                        <a:gd name="T16" fmla="*/ 0 w 13"/>
                        <a:gd name="T1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30">
                          <a:moveTo>
                            <a:pt x="0" y="30"/>
                          </a:moveTo>
                          <a:lnTo>
                            <a:pt x="5" y="30"/>
                          </a:lnTo>
                          <a:lnTo>
                            <a:pt x="9" y="28"/>
                          </a:lnTo>
                          <a:lnTo>
                            <a:pt x="13" y="28"/>
                          </a:lnTo>
                          <a:lnTo>
                            <a:pt x="13" y="2"/>
                          </a:lnTo>
                          <a:lnTo>
                            <a:pt x="5" y="0"/>
                          </a:lnTo>
                          <a:lnTo>
                            <a:pt x="0" y="2"/>
                          </a:lnTo>
                          <a:lnTo>
                            <a:pt x="0" y="4"/>
                          </a:lnTo>
                          <a:lnTo>
                            <a:pt x="0" y="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 name="任意多边形 171083">
                      <a:extLst>
                        <a:ext uri="{FF2B5EF4-FFF2-40B4-BE49-F238E27FC236}">
                          <a16:creationId xmlns:a16="http://schemas.microsoft.com/office/drawing/2014/main" xmlns="" id="{AE0CCB39-F497-4175-E91A-48CA699C1D91}"/>
                        </a:ext>
                      </a:extLst>
                    </p:cNvPr>
                    <p:cNvSpPr>
                      <a:spLocks noChangeArrowheads="1"/>
                    </p:cNvSpPr>
                    <p:nvPr/>
                  </p:nvSpPr>
                  <p:spPr bwMode="auto">
                    <a:xfrm>
                      <a:off x="1635" y="2746"/>
                      <a:ext cx="13" cy="30"/>
                    </a:xfrm>
                    <a:custGeom>
                      <a:avLst/>
                      <a:gdLst>
                        <a:gd name="T0" fmla="*/ 0 w 13"/>
                        <a:gd name="T1" fmla="*/ 30 h 30"/>
                        <a:gd name="T2" fmla="*/ 5 w 13"/>
                        <a:gd name="T3" fmla="*/ 30 h 30"/>
                        <a:gd name="T4" fmla="*/ 9 w 13"/>
                        <a:gd name="T5" fmla="*/ 28 h 30"/>
                        <a:gd name="T6" fmla="*/ 13 w 13"/>
                        <a:gd name="T7" fmla="*/ 28 h 30"/>
                        <a:gd name="T8" fmla="*/ 13 w 13"/>
                        <a:gd name="T9" fmla="*/ 2 h 30"/>
                        <a:gd name="T10" fmla="*/ 5 w 13"/>
                        <a:gd name="T11" fmla="*/ 0 h 30"/>
                        <a:gd name="T12" fmla="*/ 0 w 13"/>
                        <a:gd name="T13" fmla="*/ 2 h 30"/>
                        <a:gd name="T14" fmla="*/ 0 w 13"/>
                        <a:gd name="T15" fmla="*/ 4 h 30"/>
                        <a:gd name="T16" fmla="*/ 0 w 13"/>
                        <a:gd name="T1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30">
                          <a:moveTo>
                            <a:pt x="0" y="30"/>
                          </a:moveTo>
                          <a:lnTo>
                            <a:pt x="5" y="30"/>
                          </a:lnTo>
                          <a:lnTo>
                            <a:pt x="9" y="28"/>
                          </a:lnTo>
                          <a:lnTo>
                            <a:pt x="13" y="28"/>
                          </a:lnTo>
                          <a:lnTo>
                            <a:pt x="13" y="2"/>
                          </a:lnTo>
                          <a:lnTo>
                            <a:pt x="5" y="0"/>
                          </a:lnTo>
                          <a:lnTo>
                            <a:pt x="0" y="2"/>
                          </a:lnTo>
                          <a:lnTo>
                            <a:pt x="0" y="4"/>
                          </a:lnTo>
                          <a:lnTo>
                            <a:pt x="0" y="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 name="任意多边形 171084">
                      <a:extLst>
                        <a:ext uri="{FF2B5EF4-FFF2-40B4-BE49-F238E27FC236}">
                          <a16:creationId xmlns:a16="http://schemas.microsoft.com/office/drawing/2014/main" xmlns="" id="{B4DC09A1-6DE8-6D84-83FC-09048C74C66F}"/>
                        </a:ext>
                      </a:extLst>
                    </p:cNvPr>
                    <p:cNvSpPr>
                      <a:spLocks noChangeArrowheads="1"/>
                    </p:cNvSpPr>
                    <p:nvPr/>
                  </p:nvSpPr>
                  <p:spPr bwMode="auto">
                    <a:xfrm>
                      <a:off x="1635" y="2700"/>
                      <a:ext cx="13" cy="30"/>
                    </a:xfrm>
                    <a:custGeom>
                      <a:avLst/>
                      <a:gdLst>
                        <a:gd name="T0" fmla="*/ 0 w 13"/>
                        <a:gd name="T1" fmla="*/ 30 h 30"/>
                        <a:gd name="T2" fmla="*/ 5 w 13"/>
                        <a:gd name="T3" fmla="*/ 30 h 30"/>
                        <a:gd name="T4" fmla="*/ 9 w 13"/>
                        <a:gd name="T5" fmla="*/ 28 h 30"/>
                        <a:gd name="T6" fmla="*/ 13 w 13"/>
                        <a:gd name="T7" fmla="*/ 28 h 30"/>
                        <a:gd name="T8" fmla="*/ 13 w 13"/>
                        <a:gd name="T9" fmla="*/ 2 h 30"/>
                        <a:gd name="T10" fmla="*/ 5 w 13"/>
                        <a:gd name="T11" fmla="*/ 0 h 30"/>
                        <a:gd name="T12" fmla="*/ 0 w 13"/>
                        <a:gd name="T13" fmla="*/ 2 h 30"/>
                        <a:gd name="T14" fmla="*/ 0 w 13"/>
                        <a:gd name="T15" fmla="*/ 5 h 30"/>
                        <a:gd name="T16" fmla="*/ 0 w 13"/>
                        <a:gd name="T1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30">
                          <a:moveTo>
                            <a:pt x="0" y="30"/>
                          </a:moveTo>
                          <a:lnTo>
                            <a:pt x="5" y="30"/>
                          </a:lnTo>
                          <a:lnTo>
                            <a:pt x="9" y="28"/>
                          </a:lnTo>
                          <a:lnTo>
                            <a:pt x="13" y="28"/>
                          </a:lnTo>
                          <a:lnTo>
                            <a:pt x="13" y="2"/>
                          </a:lnTo>
                          <a:lnTo>
                            <a:pt x="5" y="0"/>
                          </a:lnTo>
                          <a:lnTo>
                            <a:pt x="0" y="2"/>
                          </a:lnTo>
                          <a:lnTo>
                            <a:pt x="0" y="5"/>
                          </a:lnTo>
                          <a:lnTo>
                            <a:pt x="0" y="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 name="任意多边形 171085">
                      <a:extLst>
                        <a:ext uri="{FF2B5EF4-FFF2-40B4-BE49-F238E27FC236}">
                          <a16:creationId xmlns:a16="http://schemas.microsoft.com/office/drawing/2014/main" xmlns="" id="{33318D27-8612-B851-545C-CD94FDC0B578}"/>
                        </a:ext>
                      </a:extLst>
                    </p:cNvPr>
                    <p:cNvSpPr>
                      <a:spLocks noChangeArrowheads="1"/>
                    </p:cNvSpPr>
                    <p:nvPr/>
                  </p:nvSpPr>
                  <p:spPr bwMode="auto">
                    <a:xfrm>
                      <a:off x="1635" y="2655"/>
                      <a:ext cx="13" cy="30"/>
                    </a:xfrm>
                    <a:custGeom>
                      <a:avLst/>
                      <a:gdLst>
                        <a:gd name="T0" fmla="*/ 0 w 13"/>
                        <a:gd name="T1" fmla="*/ 30 h 30"/>
                        <a:gd name="T2" fmla="*/ 5 w 13"/>
                        <a:gd name="T3" fmla="*/ 30 h 30"/>
                        <a:gd name="T4" fmla="*/ 9 w 13"/>
                        <a:gd name="T5" fmla="*/ 28 h 30"/>
                        <a:gd name="T6" fmla="*/ 13 w 13"/>
                        <a:gd name="T7" fmla="*/ 28 h 30"/>
                        <a:gd name="T8" fmla="*/ 13 w 13"/>
                        <a:gd name="T9" fmla="*/ 2 h 30"/>
                        <a:gd name="T10" fmla="*/ 5 w 13"/>
                        <a:gd name="T11" fmla="*/ 0 h 30"/>
                        <a:gd name="T12" fmla="*/ 0 w 13"/>
                        <a:gd name="T13" fmla="*/ 2 h 30"/>
                        <a:gd name="T14" fmla="*/ 0 w 13"/>
                        <a:gd name="T15" fmla="*/ 4 h 30"/>
                        <a:gd name="T16" fmla="*/ 0 w 13"/>
                        <a:gd name="T1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30">
                          <a:moveTo>
                            <a:pt x="0" y="30"/>
                          </a:moveTo>
                          <a:lnTo>
                            <a:pt x="5" y="30"/>
                          </a:lnTo>
                          <a:lnTo>
                            <a:pt x="9" y="28"/>
                          </a:lnTo>
                          <a:lnTo>
                            <a:pt x="13" y="28"/>
                          </a:lnTo>
                          <a:lnTo>
                            <a:pt x="13" y="2"/>
                          </a:lnTo>
                          <a:lnTo>
                            <a:pt x="5" y="0"/>
                          </a:lnTo>
                          <a:lnTo>
                            <a:pt x="0" y="2"/>
                          </a:lnTo>
                          <a:lnTo>
                            <a:pt x="0" y="4"/>
                          </a:lnTo>
                          <a:lnTo>
                            <a:pt x="0" y="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 name="任意多边形 171086">
                      <a:extLst>
                        <a:ext uri="{FF2B5EF4-FFF2-40B4-BE49-F238E27FC236}">
                          <a16:creationId xmlns:a16="http://schemas.microsoft.com/office/drawing/2014/main" xmlns="" id="{E1D2D8DA-8184-97D9-6450-D078B71279D6}"/>
                        </a:ext>
                      </a:extLst>
                    </p:cNvPr>
                    <p:cNvSpPr>
                      <a:spLocks noChangeArrowheads="1"/>
                    </p:cNvSpPr>
                    <p:nvPr/>
                  </p:nvSpPr>
                  <p:spPr bwMode="auto">
                    <a:xfrm>
                      <a:off x="1635" y="2629"/>
                      <a:ext cx="13" cy="11"/>
                    </a:xfrm>
                    <a:custGeom>
                      <a:avLst/>
                      <a:gdLst>
                        <a:gd name="T0" fmla="*/ 0 w 13"/>
                        <a:gd name="T1" fmla="*/ 11 h 11"/>
                        <a:gd name="T2" fmla="*/ 5 w 13"/>
                        <a:gd name="T3" fmla="*/ 11 h 11"/>
                        <a:gd name="T4" fmla="*/ 9 w 13"/>
                        <a:gd name="T5" fmla="*/ 9 h 11"/>
                        <a:gd name="T6" fmla="*/ 13 w 13"/>
                        <a:gd name="T7" fmla="*/ 9 h 11"/>
                        <a:gd name="T8" fmla="*/ 13 w 13"/>
                        <a:gd name="T9" fmla="*/ 2 h 11"/>
                        <a:gd name="T10" fmla="*/ 5 w 13"/>
                        <a:gd name="T11" fmla="*/ 0 h 11"/>
                        <a:gd name="T12" fmla="*/ 0 w 13"/>
                        <a:gd name="T13" fmla="*/ 2 h 11"/>
                        <a:gd name="T14" fmla="*/ 0 w 13"/>
                        <a:gd name="T15" fmla="*/ 5 h 11"/>
                        <a:gd name="T16" fmla="*/ 0 w 13"/>
                        <a:gd name="T17" fmla="*/ 11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11">
                          <a:moveTo>
                            <a:pt x="0" y="11"/>
                          </a:moveTo>
                          <a:lnTo>
                            <a:pt x="5" y="11"/>
                          </a:lnTo>
                          <a:lnTo>
                            <a:pt x="9" y="9"/>
                          </a:lnTo>
                          <a:lnTo>
                            <a:pt x="13" y="9"/>
                          </a:lnTo>
                          <a:lnTo>
                            <a:pt x="13" y="2"/>
                          </a:lnTo>
                          <a:lnTo>
                            <a:pt x="5" y="0"/>
                          </a:lnTo>
                          <a:lnTo>
                            <a:pt x="0" y="2"/>
                          </a:lnTo>
                          <a:lnTo>
                            <a:pt x="0" y="5"/>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54" name="矩形 171087">
                    <a:extLst>
                      <a:ext uri="{FF2B5EF4-FFF2-40B4-BE49-F238E27FC236}">
                        <a16:creationId xmlns:a16="http://schemas.microsoft.com/office/drawing/2014/main" xmlns="" id="{AF23A505-B89B-D91B-696D-B81E2294587B}"/>
                      </a:ext>
                    </a:extLst>
                  </p:cNvPr>
                  <p:cNvSpPr>
                    <a:spLocks noChangeArrowheads="1"/>
                  </p:cNvSpPr>
                  <p:nvPr/>
                </p:nvSpPr>
                <p:spPr bwMode="auto">
                  <a:xfrm>
                    <a:off x="3626" y="3783"/>
                    <a:ext cx="497"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5" name="矩形 171088">
                    <a:extLst>
                      <a:ext uri="{FF2B5EF4-FFF2-40B4-BE49-F238E27FC236}">
                        <a16:creationId xmlns:a16="http://schemas.microsoft.com/office/drawing/2014/main" xmlns="" id="{34C3B5B3-5D13-D096-41CC-030C9B9FB0E1}"/>
                      </a:ext>
                    </a:extLst>
                  </p:cNvPr>
                  <p:cNvSpPr>
                    <a:spLocks noChangeArrowheads="1"/>
                  </p:cNvSpPr>
                  <p:nvPr/>
                </p:nvSpPr>
                <p:spPr bwMode="auto">
                  <a:xfrm>
                    <a:off x="3708" y="3792"/>
                    <a:ext cx="25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50000"/>
                      </a:spcBef>
                    </a:pPr>
                    <a:r>
                      <a:rPr lang="zh-CN" altLang="en-US" sz="1600" b="0">
                        <a:solidFill>
                          <a:srgbClr val="000000"/>
                        </a:solidFill>
                        <a:latin typeface="宋体" panose="02010600030101010101" pitchFamily="2" charset="-122"/>
                      </a:rPr>
                      <a:t>欠压</a:t>
                    </a:r>
                    <a:endParaRPr lang="zh-CN" altLang="en-US" sz="1600">
                      <a:solidFill>
                        <a:schemeClr val="tx1"/>
                      </a:solidFill>
                    </a:endParaRPr>
                  </a:p>
                </p:txBody>
              </p:sp>
              <p:sp>
                <p:nvSpPr>
                  <p:cNvPr id="56" name="矩形 171089">
                    <a:extLst>
                      <a:ext uri="{FF2B5EF4-FFF2-40B4-BE49-F238E27FC236}">
                        <a16:creationId xmlns:a16="http://schemas.microsoft.com/office/drawing/2014/main" xmlns="" id="{BB94688E-641D-A987-0922-D4CBB461CB89}"/>
                      </a:ext>
                    </a:extLst>
                  </p:cNvPr>
                  <p:cNvSpPr>
                    <a:spLocks noChangeArrowheads="1"/>
                  </p:cNvSpPr>
                  <p:nvPr/>
                </p:nvSpPr>
                <p:spPr bwMode="auto">
                  <a:xfrm>
                    <a:off x="4521" y="3783"/>
                    <a:ext cx="502"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7" name="矩形 171090">
                    <a:extLst>
                      <a:ext uri="{FF2B5EF4-FFF2-40B4-BE49-F238E27FC236}">
                        <a16:creationId xmlns:a16="http://schemas.microsoft.com/office/drawing/2014/main" xmlns="" id="{9D1C7B4A-A947-2141-9854-7FB9EF8D359A}"/>
                      </a:ext>
                    </a:extLst>
                  </p:cNvPr>
                  <p:cNvSpPr>
                    <a:spLocks noChangeArrowheads="1"/>
                  </p:cNvSpPr>
                  <p:nvPr/>
                </p:nvSpPr>
                <p:spPr bwMode="auto">
                  <a:xfrm>
                    <a:off x="4607" y="3792"/>
                    <a:ext cx="25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50000"/>
                      </a:spcBef>
                    </a:pPr>
                    <a:r>
                      <a:rPr lang="zh-CN" altLang="en-US" sz="1600" b="0">
                        <a:solidFill>
                          <a:srgbClr val="000000"/>
                        </a:solidFill>
                        <a:latin typeface="宋体" panose="02010600030101010101" pitchFamily="2" charset="-122"/>
                      </a:rPr>
                      <a:t>过压</a:t>
                    </a:r>
                    <a:endParaRPr lang="zh-CN" altLang="en-US" sz="1600">
                      <a:solidFill>
                        <a:schemeClr val="tx1"/>
                      </a:solidFill>
                    </a:endParaRPr>
                  </a:p>
                </p:txBody>
              </p:sp>
              <p:sp>
                <p:nvSpPr>
                  <p:cNvPr id="58" name="直接连接符 171091">
                    <a:extLst>
                      <a:ext uri="{FF2B5EF4-FFF2-40B4-BE49-F238E27FC236}">
                        <a16:creationId xmlns:a16="http://schemas.microsoft.com/office/drawing/2014/main" xmlns="" id="{5C67F474-E6BD-FD56-771E-C8A12444653A}"/>
                      </a:ext>
                    </a:extLst>
                  </p:cNvPr>
                  <p:cNvSpPr>
                    <a:spLocks noChangeShapeType="1"/>
                  </p:cNvSpPr>
                  <p:nvPr/>
                </p:nvSpPr>
                <p:spPr bwMode="auto">
                  <a:xfrm flipV="1">
                    <a:off x="3476" y="2926"/>
                    <a:ext cx="1" cy="83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 name="任意多边形 171092">
                    <a:extLst>
                      <a:ext uri="{FF2B5EF4-FFF2-40B4-BE49-F238E27FC236}">
                        <a16:creationId xmlns:a16="http://schemas.microsoft.com/office/drawing/2014/main" xmlns="" id="{9B586CD6-1024-26E2-AFD9-34E623622968}"/>
                      </a:ext>
                    </a:extLst>
                  </p:cNvPr>
                  <p:cNvSpPr>
                    <a:spLocks noChangeArrowheads="1"/>
                  </p:cNvSpPr>
                  <p:nvPr/>
                </p:nvSpPr>
                <p:spPr bwMode="auto">
                  <a:xfrm>
                    <a:off x="3459" y="2867"/>
                    <a:ext cx="39" cy="72"/>
                  </a:xfrm>
                  <a:custGeom>
                    <a:avLst/>
                    <a:gdLst>
                      <a:gd name="T0" fmla="*/ 17 w 39"/>
                      <a:gd name="T1" fmla="*/ 0 h 72"/>
                      <a:gd name="T2" fmla="*/ 0 w 39"/>
                      <a:gd name="T3" fmla="*/ 72 h 72"/>
                      <a:gd name="T4" fmla="*/ 39 w 39"/>
                      <a:gd name="T5" fmla="*/ 72 h 72"/>
                      <a:gd name="T6" fmla="*/ 17 w 39"/>
                      <a:gd name="T7" fmla="*/ 0 h 72"/>
                    </a:gdLst>
                    <a:ahLst/>
                    <a:cxnLst>
                      <a:cxn ang="0">
                        <a:pos x="T0" y="T1"/>
                      </a:cxn>
                      <a:cxn ang="0">
                        <a:pos x="T2" y="T3"/>
                      </a:cxn>
                      <a:cxn ang="0">
                        <a:pos x="T4" y="T5"/>
                      </a:cxn>
                      <a:cxn ang="0">
                        <a:pos x="T6" y="T7"/>
                      </a:cxn>
                    </a:cxnLst>
                    <a:rect l="0" t="0" r="r" b="b"/>
                    <a:pathLst>
                      <a:path w="39" h="72">
                        <a:moveTo>
                          <a:pt x="17" y="0"/>
                        </a:moveTo>
                        <a:lnTo>
                          <a:pt x="0" y="72"/>
                        </a:lnTo>
                        <a:lnTo>
                          <a:pt x="39" y="72"/>
                        </a:lnTo>
                        <a:lnTo>
                          <a:pt x="17" y="0"/>
                        </a:lnTo>
                        <a:close/>
                      </a:path>
                    </a:pathLst>
                  </a:custGeom>
                  <a:solidFill>
                    <a:srgbClr val="000000"/>
                  </a:solidFill>
                  <a:ln w="6350">
                    <a:solidFill>
                      <a:srgbClr val="000000"/>
                    </a:solidFill>
                    <a:round/>
                    <a:headEnd/>
                    <a:tailEnd/>
                  </a:ln>
                </p:spPr>
                <p:txBody>
                  <a:bodyPr/>
                  <a:lstStyle/>
                  <a:p>
                    <a:endParaRPr lang="zh-CN" altLang="en-US"/>
                  </a:p>
                </p:txBody>
              </p:sp>
              <p:sp>
                <p:nvSpPr>
                  <p:cNvPr id="60" name="直接连接符 171093">
                    <a:extLst>
                      <a:ext uri="{FF2B5EF4-FFF2-40B4-BE49-F238E27FC236}">
                        <a16:creationId xmlns:a16="http://schemas.microsoft.com/office/drawing/2014/main" xmlns="" id="{51D5983D-6B13-BBDB-BDE5-4D7A19B85FA2}"/>
                      </a:ext>
                    </a:extLst>
                  </p:cNvPr>
                  <p:cNvSpPr>
                    <a:spLocks noChangeShapeType="1"/>
                  </p:cNvSpPr>
                  <p:nvPr/>
                </p:nvSpPr>
                <p:spPr bwMode="auto">
                  <a:xfrm flipH="1">
                    <a:off x="3481" y="3764"/>
                    <a:ext cx="1661"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 name="任意多边形 171094">
                    <a:extLst>
                      <a:ext uri="{FF2B5EF4-FFF2-40B4-BE49-F238E27FC236}">
                        <a16:creationId xmlns:a16="http://schemas.microsoft.com/office/drawing/2014/main" xmlns="" id="{E6CA8FED-DB4D-75B6-A7D5-5EBF24FA71CA}"/>
                      </a:ext>
                    </a:extLst>
                  </p:cNvPr>
                  <p:cNvSpPr>
                    <a:spLocks noChangeArrowheads="1"/>
                  </p:cNvSpPr>
                  <p:nvPr/>
                </p:nvSpPr>
                <p:spPr bwMode="auto">
                  <a:xfrm>
                    <a:off x="5138" y="3753"/>
                    <a:ext cx="146" cy="21"/>
                  </a:xfrm>
                  <a:custGeom>
                    <a:avLst/>
                    <a:gdLst>
                      <a:gd name="T0" fmla="*/ 146 w 146"/>
                      <a:gd name="T1" fmla="*/ 11 h 21"/>
                      <a:gd name="T2" fmla="*/ 0 w 146"/>
                      <a:gd name="T3" fmla="*/ 21 h 21"/>
                      <a:gd name="T4" fmla="*/ 0 w 146"/>
                      <a:gd name="T5" fmla="*/ 0 h 21"/>
                      <a:gd name="T6" fmla="*/ 146 w 146"/>
                      <a:gd name="T7" fmla="*/ 11 h 21"/>
                    </a:gdLst>
                    <a:ahLst/>
                    <a:cxnLst>
                      <a:cxn ang="0">
                        <a:pos x="T0" y="T1"/>
                      </a:cxn>
                      <a:cxn ang="0">
                        <a:pos x="T2" y="T3"/>
                      </a:cxn>
                      <a:cxn ang="0">
                        <a:pos x="T4" y="T5"/>
                      </a:cxn>
                      <a:cxn ang="0">
                        <a:pos x="T6" y="T7"/>
                      </a:cxn>
                    </a:cxnLst>
                    <a:rect l="0" t="0" r="r" b="b"/>
                    <a:pathLst>
                      <a:path w="146" h="21">
                        <a:moveTo>
                          <a:pt x="146" y="11"/>
                        </a:moveTo>
                        <a:lnTo>
                          <a:pt x="0" y="21"/>
                        </a:lnTo>
                        <a:lnTo>
                          <a:pt x="0" y="0"/>
                        </a:lnTo>
                        <a:lnTo>
                          <a:pt x="146" y="11"/>
                        </a:lnTo>
                        <a:close/>
                      </a:path>
                    </a:pathLst>
                  </a:custGeom>
                  <a:solidFill>
                    <a:srgbClr val="000000"/>
                  </a:solidFill>
                  <a:ln w="6350">
                    <a:solidFill>
                      <a:srgbClr val="000000"/>
                    </a:solidFill>
                    <a:round/>
                    <a:headEnd/>
                    <a:tailEnd/>
                  </a:ln>
                </p:spPr>
                <p:txBody>
                  <a:bodyPr/>
                  <a:lstStyle/>
                  <a:p>
                    <a:endParaRPr lang="zh-CN" altLang="en-US"/>
                  </a:p>
                </p:txBody>
              </p:sp>
              <p:sp>
                <p:nvSpPr>
                  <p:cNvPr id="62" name="矩形 171095">
                    <a:extLst>
                      <a:ext uri="{FF2B5EF4-FFF2-40B4-BE49-F238E27FC236}">
                        <a16:creationId xmlns:a16="http://schemas.microsoft.com/office/drawing/2014/main" xmlns="" id="{B3B4C8D1-372C-A62B-3CC6-613F11B68C34}"/>
                      </a:ext>
                    </a:extLst>
                  </p:cNvPr>
                  <p:cNvSpPr>
                    <a:spLocks noChangeArrowheads="1"/>
                  </p:cNvSpPr>
                  <p:nvPr/>
                </p:nvSpPr>
                <p:spPr bwMode="auto">
                  <a:xfrm>
                    <a:off x="3305" y="3738"/>
                    <a:ext cx="201"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3" name="矩形 171096">
                    <a:extLst>
                      <a:ext uri="{FF2B5EF4-FFF2-40B4-BE49-F238E27FC236}">
                        <a16:creationId xmlns:a16="http://schemas.microsoft.com/office/drawing/2014/main" xmlns="" id="{515DA127-5836-37FB-F91D-A81E08AAA0A5}"/>
                      </a:ext>
                    </a:extLst>
                  </p:cNvPr>
                  <p:cNvSpPr>
                    <a:spLocks noChangeArrowheads="1"/>
                  </p:cNvSpPr>
                  <p:nvPr/>
                </p:nvSpPr>
                <p:spPr bwMode="auto">
                  <a:xfrm>
                    <a:off x="3361" y="3740"/>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50000"/>
                      </a:spcBef>
                    </a:pPr>
                    <a:r>
                      <a:rPr lang="en-US" altLang="zh-CN" sz="1400" b="0" i="1">
                        <a:solidFill>
                          <a:srgbClr val="000000"/>
                        </a:solidFill>
                      </a:rPr>
                      <a:t>0</a:t>
                    </a:r>
                    <a:endParaRPr lang="en-US" altLang="zh-CN" sz="1400" i="1">
                      <a:solidFill>
                        <a:schemeClr val="tx1"/>
                      </a:solidFill>
                    </a:endParaRPr>
                  </a:p>
                </p:txBody>
              </p:sp>
              <p:sp>
                <p:nvSpPr>
                  <p:cNvPr id="64" name="矩形 171097">
                    <a:extLst>
                      <a:ext uri="{FF2B5EF4-FFF2-40B4-BE49-F238E27FC236}">
                        <a16:creationId xmlns:a16="http://schemas.microsoft.com/office/drawing/2014/main" xmlns="" id="{465B5288-CE23-73E5-2C66-CE8D6F8BC2A8}"/>
                      </a:ext>
                    </a:extLst>
                  </p:cNvPr>
                  <p:cNvSpPr>
                    <a:spLocks noChangeArrowheads="1"/>
                  </p:cNvSpPr>
                  <p:nvPr/>
                </p:nvSpPr>
                <p:spPr bwMode="auto">
                  <a:xfrm>
                    <a:off x="4166" y="3770"/>
                    <a:ext cx="274"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5" name="矩形 171098">
                    <a:extLst>
                      <a:ext uri="{FF2B5EF4-FFF2-40B4-BE49-F238E27FC236}">
                        <a16:creationId xmlns:a16="http://schemas.microsoft.com/office/drawing/2014/main" xmlns="" id="{46CD44DA-C9AD-FCB9-636D-5B80F55852DD}"/>
                      </a:ext>
                    </a:extLst>
                  </p:cNvPr>
                  <p:cNvSpPr>
                    <a:spLocks noChangeArrowheads="1"/>
                  </p:cNvSpPr>
                  <p:nvPr/>
                </p:nvSpPr>
                <p:spPr bwMode="auto">
                  <a:xfrm>
                    <a:off x="4222" y="3779"/>
                    <a:ext cx="128"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50000"/>
                      </a:spcBef>
                    </a:pPr>
                    <a:r>
                      <a:rPr lang="zh-CN" altLang="en-US" sz="1600" b="0">
                        <a:solidFill>
                          <a:srgbClr val="000000"/>
                        </a:solidFill>
                        <a:latin typeface="宋体" panose="02010600030101010101" pitchFamily="2" charset="-122"/>
                      </a:rPr>
                      <a:t>临</a:t>
                    </a:r>
                    <a:endParaRPr lang="zh-CN" altLang="en-US" sz="1600">
                      <a:solidFill>
                        <a:schemeClr val="tx1"/>
                      </a:solidFill>
                    </a:endParaRPr>
                  </a:p>
                </p:txBody>
              </p:sp>
              <p:sp>
                <p:nvSpPr>
                  <p:cNvPr id="66" name="矩形 171099">
                    <a:extLst>
                      <a:ext uri="{FF2B5EF4-FFF2-40B4-BE49-F238E27FC236}">
                        <a16:creationId xmlns:a16="http://schemas.microsoft.com/office/drawing/2014/main" xmlns="" id="{3B87E4B2-1EAC-8BB9-4D33-4D62C1D1746D}"/>
                      </a:ext>
                    </a:extLst>
                  </p:cNvPr>
                  <p:cNvSpPr>
                    <a:spLocks noChangeArrowheads="1"/>
                  </p:cNvSpPr>
                  <p:nvPr/>
                </p:nvSpPr>
                <p:spPr bwMode="auto">
                  <a:xfrm>
                    <a:off x="4217" y="3914"/>
                    <a:ext cx="128"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50000"/>
                      </a:spcBef>
                    </a:pPr>
                    <a:r>
                      <a:rPr lang="zh-CN" altLang="en-US" sz="1600" b="0">
                        <a:solidFill>
                          <a:srgbClr val="000000"/>
                        </a:solidFill>
                        <a:latin typeface="宋体" panose="02010600030101010101" pitchFamily="2" charset="-122"/>
                      </a:rPr>
                      <a:t>界</a:t>
                    </a:r>
                    <a:endParaRPr lang="zh-CN" altLang="en-US" sz="1600">
                      <a:solidFill>
                        <a:schemeClr val="tx1"/>
                      </a:solidFill>
                    </a:endParaRPr>
                  </a:p>
                </p:txBody>
              </p:sp>
              <p:sp>
                <p:nvSpPr>
                  <p:cNvPr id="67" name="矩形 171100">
                    <a:extLst>
                      <a:ext uri="{FF2B5EF4-FFF2-40B4-BE49-F238E27FC236}">
                        <a16:creationId xmlns:a16="http://schemas.microsoft.com/office/drawing/2014/main" xmlns="" id="{CC820501-844A-03FE-177C-1F9ECD98FF8C}"/>
                      </a:ext>
                    </a:extLst>
                  </p:cNvPr>
                  <p:cNvSpPr>
                    <a:spLocks noChangeArrowheads="1"/>
                  </p:cNvSpPr>
                  <p:nvPr/>
                </p:nvSpPr>
                <p:spPr bwMode="auto">
                  <a:xfrm>
                    <a:off x="5078" y="3783"/>
                    <a:ext cx="257"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nvGrpSpPr>
                  <p:cNvPr id="68" name="组合 171101">
                    <a:extLst>
                      <a:ext uri="{FF2B5EF4-FFF2-40B4-BE49-F238E27FC236}">
                        <a16:creationId xmlns:a16="http://schemas.microsoft.com/office/drawing/2014/main" xmlns="" id="{FD084C6C-8F58-7C90-EF67-421D4F6E9CFA}"/>
                      </a:ext>
                    </a:extLst>
                  </p:cNvPr>
                  <p:cNvGrpSpPr>
                    <a:grpSpLocks/>
                  </p:cNvGrpSpPr>
                  <p:nvPr/>
                </p:nvGrpSpPr>
                <p:grpSpPr bwMode="auto">
                  <a:xfrm>
                    <a:off x="5121" y="3783"/>
                    <a:ext cx="147" cy="188"/>
                    <a:chOff x="2449" y="3381"/>
                    <a:chExt cx="147" cy="188"/>
                  </a:xfrm>
                </p:grpSpPr>
                <p:sp>
                  <p:nvSpPr>
                    <p:cNvPr id="69" name="矩形 171102">
                      <a:extLst>
                        <a:ext uri="{FF2B5EF4-FFF2-40B4-BE49-F238E27FC236}">
                          <a16:creationId xmlns:a16="http://schemas.microsoft.com/office/drawing/2014/main" xmlns="" id="{5A31C87A-D30B-85FA-096E-60DC7E9922CC}"/>
                        </a:ext>
                      </a:extLst>
                    </p:cNvPr>
                    <p:cNvSpPr>
                      <a:spLocks noChangeArrowheads="1"/>
                    </p:cNvSpPr>
                    <p:nvPr/>
                  </p:nvSpPr>
                  <p:spPr bwMode="auto">
                    <a:xfrm>
                      <a:off x="2449" y="3381"/>
                      <a:ext cx="88"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50000"/>
                        </a:spcBef>
                      </a:pPr>
                      <a:r>
                        <a:rPr lang="en-US" altLang="zh-CN" sz="1800" b="0" i="1">
                          <a:solidFill>
                            <a:srgbClr val="000000"/>
                          </a:solidFill>
                        </a:rPr>
                        <a:t>R</a:t>
                      </a:r>
                      <a:endParaRPr lang="en-US" altLang="zh-CN" sz="1800" i="1">
                        <a:solidFill>
                          <a:schemeClr val="tx1"/>
                        </a:solidFill>
                      </a:endParaRPr>
                    </a:p>
                  </p:txBody>
                </p:sp>
                <p:sp>
                  <p:nvSpPr>
                    <p:cNvPr id="70" name="矩形 171103">
                      <a:extLst>
                        <a:ext uri="{FF2B5EF4-FFF2-40B4-BE49-F238E27FC236}">
                          <a16:creationId xmlns:a16="http://schemas.microsoft.com/office/drawing/2014/main" xmlns="" id="{4CD9E133-619B-CD44-4BAE-5789F21EE640}"/>
                        </a:ext>
                      </a:extLst>
                    </p:cNvPr>
                    <p:cNvSpPr>
                      <a:spLocks noChangeArrowheads="1"/>
                    </p:cNvSpPr>
                    <p:nvPr/>
                  </p:nvSpPr>
                  <p:spPr bwMode="auto">
                    <a:xfrm>
                      <a:off x="2556" y="3473"/>
                      <a:ext cx="40"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50000"/>
                        </a:spcBef>
                      </a:pPr>
                      <a:r>
                        <a:rPr lang="en-US" altLang="zh-CN" sz="1000" b="0">
                          <a:solidFill>
                            <a:srgbClr val="000000"/>
                          </a:solidFill>
                        </a:rPr>
                        <a:t>p</a:t>
                      </a:r>
                      <a:endParaRPr lang="en-US" altLang="zh-CN" sz="1000">
                        <a:solidFill>
                          <a:schemeClr val="tx1"/>
                        </a:solidFill>
                      </a:endParaRPr>
                    </a:p>
                  </p:txBody>
                </p:sp>
              </p:grpSp>
            </p:grpSp>
          </p:grpSp>
          <p:grpSp>
            <p:nvGrpSpPr>
              <p:cNvPr id="23" name="组合 171104">
                <a:extLst>
                  <a:ext uri="{FF2B5EF4-FFF2-40B4-BE49-F238E27FC236}">
                    <a16:creationId xmlns:a16="http://schemas.microsoft.com/office/drawing/2014/main" xmlns="" id="{1988CE55-0F18-76C3-0FB2-14F036614DE8}"/>
                  </a:ext>
                </a:extLst>
              </p:cNvPr>
              <p:cNvGrpSpPr>
                <a:grpSpLocks/>
              </p:cNvGrpSpPr>
              <p:nvPr/>
            </p:nvGrpSpPr>
            <p:grpSpPr bwMode="auto">
              <a:xfrm>
                <a:off x="1408" y="1219"/>
                <a:ext cx="13" cy="735"/>
                <a:chOff x="1635" y="2629"/>
                <a:chExt cx="13" cy="735"/>
              </a:xfrm>
            </p:grpSpPr>
            <p:sp>
              <p:nvSpPr>
                <p:cNvPr id="34" name="任意多边形 171105">
                  <a:extLst>
                    <a:ext uri="{FF2B5EF4-FFF2-40B4-BE49-F238E27FC236}">
                      <a16:creationId xmlns:a16="http://schemas.microsoft.com/office/drawing/2014/main" xmlns="" id="{D7F592AC-5301-CF17-DC31-1DF288FF004E}"/>
                    </a:ext>
                  </a:extLst>
                </p:cNvPr>
                <p:cNvSpPr>
                  <a:spLocks noChangeArrowheads="1"/>
                </p:cNvSpPr>
                <p:nvPr/>
              </p:nvSpPr>
              <p:spPr bwMode="auto">
                <a:xfrm>
                  <a:off x="1635" y="3334"/>
                  <a:ext cx="13" cy="30"/>
                </a:xfrm>
                <a:custGeom>
                  <a:avLst/>
                  <a:gdLst>
                    <a:gd name="T0" fmla="*/ 0 w 13"/>
                    <a:gd name="T1" fmla="*/ 30 h 30"/>
                    <a:gd name="T2" fmla="*/ 5 w 13"/>
                    <a:gd name="T3" fmla="*/ 30 h 30"/>
                    <a:gd name="T4" fmla="*/ 9 w 13"/>
                    <a:gd name="T5" fmla="*/ 28 h 30"/>
                    <a:gd name="T6" fmla="*/ 13 w 13"/>
                    <a:gd name="T7" fmla="*/ 28 h 30"/>
                    <a:gd name="T8" fmla="*/ 13 w 13"/>
                    <a:gd name="T9" fmla="*/ 2 h 30"/>
                    <a:gd name="T10" fmla="*/ 5 w 13"/>
                    <a:gd name="T11" fmla="*/ 0 h 30"/>
                    <a:gd name="T12" fmla="*/ 0 w 13"/>
                    <a:gd name="T13" fmla="*/ 2 h 30"/>
                    <a:gd name="T14" fmla="*/ 0 w 13"/>
                    <a:gd name="T15" fmla="*/ 4 h 30"/>
                    <a:gd name="T16" fmla="*/ 0 w 13"/>
                    <a:gd name="T1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30">
                      <a:moveTo>
                        <a:pt x="0" y="30"/>
                      </a:moveTo>
                      <a:lnTo>
                        <a:pt x="5" y="30"/>
                      </a:lnTo>
                      <a:lnTo>
                        <a:pt x="9" y="28"/>
                      </a:lnTo>
                      <a:lnTo>
                        <a:pt x="13" y="28"/>
                      </a:lnTo>
                      <a:lnTo>
                        <a:pt x="13" y="2"/>
                      </a:lnTo>
                      <a:lnTo>
                        <a:pt x="5" y="0"/>
                      </a:lnTo>
                      <a:lnTo>
                        <a:pt x="0" y="2"/>
                      </a:lnTo>
                      <a:lnTo>
                        <a:pt x="0" y="4"/>
                      </a:lnTo>
                      <a:lnTo>
                        <a:pt x="0" y="3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 name="任意多边形 171106">
                  <a:extLst>
                    <a:ext uri="{FF2B5EF4-FFF2-40B4-BE49-F238E27FC236}">
                      <a16:creationId xmlns:a16="http://schemas.microsoft.com/office/drawing/2014/main" xmlns="" id="{E5439CEC-3FFC-CA7C-66AD-070EDB220D4A}"/>
                    </a:ext>
                  </a:extLst>
                </p:cNvPr>
                <p:cNvSpPr>
                  <a:spLocks noChangeArrowheads="1"/>
                </p:cNvSpPr>
                <p:nvPr/>
              </p:nvSpPr>
              <p:spPr bwMode="auto">
                <a:xfrm>
                  <a:off x="1635" y="3288"/>
                  <a:ext cx="13" cy="31"/>
                </a:xfrm>
                <a:custGeom>
                  <a:avLst/>
                  <a:gdLst>
                    <a:gd name="T0" fmla="*/ 0 w 13"/>
                    <a:gd name="T1" fmla="*/ 31 h 31"/>
                    <a:gd name="T2" fmla="*/ 5 w 13"/>
                    <a:gd name="T3" fmla="*/ 31 h 31"/>
                    <a:gd name="T4" fmla="*/ 9 w 13"/>
                    <a:gd name="T5" fmla="*/ 28 h 31"/>
                    <a:gd name="T6" fmla="*/ 13 w 13"/>
                    <a:gd name="T7" fmla="*/ 28 h 31"/>
                    <a:gd name="T8" fmla="*/ 13 w 13"/>
                    <a:gd name="T9" fmla="*/ 3 h 31"/>
                    <a:gd name="T10" fmla="*/ 5 w 13"/>
                    <a:gd name="T11" fmla="*/ 0 h 31"/>
                    <a:gd name="T12" fmla="*/ 0 w 13"/>
                    <a:gd name="T13" fmla="*/ 3 h 31"/>
                    <a:gd name="T14" fmla="*/ 0 w 13"/>
                    <a:gd name="T15" fmla="*/ 5 h 31"/>
                    <a:gd name="T16" fmla="*/ 0 w 13"/>
                    <a:gd name="T17" fmla="*/ 3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31">
                      <a:moveTo>
                        <a:pt x="0" y="31"/>
                      </a:moveTo>
                      <a:lnTo>
                        <a:pt x="5" y="31"/>
                      </a:lnTo>
                      <a:lnTo>
                        <a:pt x="9" y="28"/>
                      </a:lnTo>
                      <a:lnTo>
                        <a:pt x="13" y="28"/>
                      </a:lnTo>
                      <a:lnTo>
                        <a:pt x="13" y="3"/>
                      </a:lnTo>
                      <a:lnTo>
                        <a:pt x="5" y="0"/>
                      </a:lnTo>
                      <a:lnTo>
                        <a:pt x="0" y="3"/>
                      </a:lnTo>
                      <a:lnTo>
                        <a:pt x="0" y="5"/>
                      </a:lnTo>
                      <a:lnTo>
                        <a:pt x="0" y="31"/>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 name="任意多边形 171107">
                  <a:extLst>
                    <a:ext uri="{FF2B5EF4-FFF2-40B4-BE49-F238E27FC236}">
                      <a16:creationId xmlns:a16="http://schemas.microsoft.com/office/drawing/2014/main" xmlns="" id="{7019905F-8D1F-BED9-9528-E9F0BA939D80}"/>
                    </a:ext>
                  </a:extLst>
                </p:cNvPr>
                <p:cNvSpPr>
                  <a:spLocks noChangeArrowheads="1"/>
                </p:cNvSpPr>
                <p:nvPr/>
              </p:nvSpPr>
              <p:spPr bwMode="auto">
                <a:xfrm>
                  <a:off x="1635" y="3243"/>
                  <a:ext cx="13" cy="30"/>
                </a:xfrm>
                <a:custGeom>
                  <a:avLst/>
                  <a:gdLst>
                    <a:gd name="T0" fmla="*/ 0 w 13"/>
                    <a:gd name="T1" fmla="*/ 30 h 30"/>
                    <a:gd name="T2" fmla="*/ 5 w 13"/>
                    <a:gd name="T3" fmla="*/ 30 h 30"/>
                    <a:gd name="T4" fmla="*/ 9 w 13"/>
                    <a:gd name="T5" fmla="*/ 28 h 30"/>
                    <a:gd name="T6" fmla="*/ 13 w 13"/>
                    <a:gd name="T7" fmla="*/ 28 h 30"/>
                    <a:gd name="T8" fmla="*/ 13 w 13"/>
                    <a:gd name="T9" fmla="*/ 2 h 30"/>
                    <a:gd name="T10" fmla="*/ 5 w 13"/>
                    <a:gd name="T11" fmla="*/ 0 h 30"/>
                    <a:gd name="T12" fmla="*/ 0 w 13"/>
                    <a:gd name="T13" fmla="*/ 2 h 30"/>
                    <a:gd name="T14" fmla="*/ 0 w 13"/>
                    <a:gd name="T15" fmla="*/ 5 h 30"/>
                    <a:gd name="T16" fmla="*/ 0 w 13"/>
                    <a:gd name="T1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30">
                      <a:moveTo>
                        <a:pt x="0" y="30"/>
                      </a:moveTo>
                      <a:lnTo>
                        <a:pt x="5" y="30"/>
                      </a:lnTo>
                      <a:lnTo>
                        <a:pt x="9" y="28"/>
                      </a:lnTo>
                      <a:lnTo>
                        <a:pt x="13" y="28"/>
                      </a:lnTo>
                      <a:lnTo>
                        <a:pt x="13" y="2"/>
                      </a:lnTo>
                      <a:lnTo>
                        <a:pt x="5" y="0"/>
                      </a:lnTo>
                      <a:lnTo>
                        <a:pt x="0" y="2"/>
                      </a:lnTo>
                      <a:lnTo>
                        <a:pt x="0" y="5"/>
                      </a:lnTo>
                      <a:lnTo>
                        <a:pt x="0" y="3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 name="任意多边形 171108">
                  <a:extLst>
                    <a:ext uri="{FF2B5EF4-FFF2-40B4-BE49-F238E27FC236}">
                      <a16:creationId xmlns:a16="http://schemas.microsoft.com/office/drawing/2014/main" xmlns="" id="{DDD289E2-6195-87F7-033C-2B75CAB26AE1}"/>
                    </a:ext>
                  </a:extLst>
                </p:cNvPr>
                <p:cNvSpPr>
                  <a:spLocks noChangeArrowheads="1"/>
                </p:cNvSpPr>
                <p:nvPr/>
              </p:nvSpPr>
              <p:spPr bwMode="auto">
                <a:xfrm>
                  <a:off x="1635" y="3198"/>
                  <a:ext cx="13" cy="30"/>
                </a:xfrm>
                <a:custGeom>
                  <a:avLst/>
                  <a:gdLst>
                    <a:gd name="T0" fmla="*/ 0 w 13"/>
                    <a:gd name="T1" fmla="*/ 30 h 30"/>
                    <a:gd name="T2" fmla="*/ 5 w 13"/>
                    <a:gd name="T3" fmla="*/ 30 h 30"/>
                    <a:gd name="T4" fmla="*/ 9 w 13"/>
                    <a:gd name="T5" fmla="*/ 28 h 30"/>
                    <a:gd name="T6" fmla="*/ 13 w 13"/>
                    <a:gd name="T7" fmla="*/ 28 h 30"/>
                    <a:gd name="T8" fmla="*/ 13 w 13"/>
                    <a:gd name="T9" fmla="*/ 2 h 30"/>
                    <a:gd name="T10" fmla="*/ 5 w 13"/>
                    <a:gd name="T11" fmla="*/ 0 h 30"/>
                    <a:gd name="T12" fmla="*/ 0 w 13"/>
                    <a:gd name="T13" fmla="*/ 2 h 30"/>
                    <a:gd name="T14" fmla="*/ 0 w 13"/>
                    <a:gd name="T15" fmla="*/ 4 h 30"/>
                    <a:gd name="T16" fmla="*/ 0 w 13"/>
                    <a:gd name="T1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30">
                      <a:moveTo>
                        <a:pt x="0" y="30"/>
                      </a:moveTo>
                      <a:lnTo>
                        <a:pt x="5" y="30"/>
                      </a:lnTo>
                      <a:lnTo>
                        <a:pt x="9" y="28"/>
                      </a:lnTo>
                      <a:lnTo>
                        <a:pt x="13" y="28"/>
                      </a:lnTo>
                      <a:lnTo>
                        <a:pt x="13" y="2"/>
                      </a:lnTo>
                      <a:lnTo>
                        <a:pt x="5" y="0"/>
                      </a:lnTo>
                      <a:lnTo>
                        <a:pt x="0" y="2"/>
                      </a:lnTo>
                      <a:lnTo>
                        <a:pt x="0" y="4"/>
                      </a:lnTo>
                      <a:lnTo>
                        <a:pt x="0" y="3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 name="任意多边形 171109">
                  <a:extLst>
                    <a:ext uri="{FF2B5EF4-FFF2-40B4-BE49-F238E27FC236}">
                      <a16:creationId xmlns:a16="http://schemas.microsoft.com/office/drawing/2014/main" xmlns="" id="{20CE8E48-4270-0E25-84C9-D7B333570A17}"/>
                    </a:ext>
                  </a:extLst>
                </p:cNvPr>
                <p:cNvSpPr>
                  <a:spLocks noChangeArrowheads="1"/>
                </p:cNvSpPr>
                <p:nvPr/>
              </p:nvSpPr>
              <p:spPr bwMode="auto">
                <a:xfrm>
                  <a:off x="1635" y="3153"/>
                  <a:ext cx="13" cy="30"/>
                </a:xfrm>
                <a:custGeom>
                  <a:avLst/>
                  <a:gdLst>
                    <a:gd name="T0" fmla="*/ 0 w 13"/>
                    <a:gd name="T1" fmla="*/ 30 h 30"/>
                    <a:gd name="T2" fmla="*/ 5 w 13"/>
                    <a:gd name="T3" fmla="*/ 30 h 30"/>
                    <a:gd name="T4" fmla="*/ 9 w 13"/>
                    <a:gd name="T5" fmla="*/ 28 h 30"/>
                    <a:gd name="T6" fmla="*/ 13 w 13"/>
                    <a:gd name="T7" fmla="*/ 28 h 30"/>
                    <a:gd name="T8" fmla="*/ 13 w 13"/>
                    <a:gd name="T9" fmla="*/ 2 h 30"/>
                    <a:gd name="T10" fmla="*/ 5 w 13"/>
                    <a:gd name="T11" fmla="*/ 0 h 30"/>
                    <a:gd name="T12" fmla="*/ 0 w 13"/>
                    <a:gd name="T13" fmla="*/ 2 h 30"/>
                    <a:gd name="T14" fmla="*/ 0 w 13"/>
                    <a:gd name="T15" fmla="*/ 4 h 30"/>
                    <a:gd name="T16" fmla="*/ 0 w 13"/>
                    <a:gd name="T1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30">
                      <a:moveTo>
                        <a:pt x="0" y="30"/>
                      </a:moveTo>
                      <a:lnTo>
                        <a:pt x="5" y="30"/>
                      </a:lnTo>
                      <a:lnTo>
                        <a:pt x="9" y="28"/>
                      </a:lnTo>
                      <a:lnTo>
                        <a:pt x="13" y="28"/>
                      </a:lnTo>
                      <a:lnTo>
                        <a:pt x="13" y="2"/>
                      </a:lnTo>
                      <a:lnTo>
                        <a:pt x="5" y="0"/>
                      </a:lnTo>
                      <a:lnTo>
                        <a:pt x="0" y="2"/>
                      </a:lnTo>
                      <a:lnTo>
                        <a:pt x="0" y="4"/>
                      </a:lnTo>
                      <a:lnTo>
                        <a:pt x="0" y="3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 name="任意多边形 171110">
                  <a:extLst>
                    <a:ext uri="{FF2B5EF4-FFF2-40B4-BE49-F238E27FC236}">
                      <a16:creationId xmlns:a16="http://schemas.microsoft.com/office/drawing/2014/main" xmlns="" id="{71753FE1-75C9-492B-C87F-13817EF53361}"/>
                    </a:ext>
                  </a:extLst>
                </p:cNvPr>
                <p:cNvSpPr>
                  <a:spLocks noChangeArrowheads="1"/>
                </p:cNvSpPr>
                <p:nvPr/>
              </p:nvSpPr>
              <p:spPr bwMode="auto">
                <a:xfrm>
                  <a:off x="1635" y="3107"/>
                  <a:ext cx="13" cy="31"/>
                </a:xfrm>
                <a:custGeom>
                  <a:avLst/>
                  <a:gdLst>
                    <a:gd name="T0" fmla="*/ 0 w 13"/>
                    <a:gd name="T1" fmla="*/ 31 h 31"/>
                    <a:gd name="T2" fmla="*/ 5 w 13"/>
                    <a:gd name="T3" fmla="*/ 31 h 31"/>
                    <a:gd name="T4" fmla="*/ 9 w 13"/>
                    <a:gd name="T5" fmla="*/ 28 h 31"/>
                    <a:gd name="T6" fmla="*/ 13 w 13"/>
                    <a:gd name="T7" fmla="*/ 28 h 31"/>
                    <a:gd name="T8" fmla="*/ 13 w 13"/>
                    <a:gd name="T9" fmla="*/ 3 h 31"/>
                    <a:gd name="T10" fmla="*/ 5 w 13"/>
                    <a:gd name="T11" fmla="*/ 0 h 31"/>
                    <a:gd name="T12" fmla="*/ 0 w 13"/>
                    <a:gd name="T13" fmla="*/ 3 h 31"/>
                    <a:gd name="T14" fmla="*/ 0 w 13"/>
                    <a:gd name="T15" fmla="*/ 5 h 31"/>
                    <a:gd name="T16" fmla="*/ 0 w 13"/>
                    <a:gd name="T17" fmla="*/ 3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31">
                      <a:moveTo>
                        <a:pt x="0" y="31"/>
                      </a:moveTo>
                      <a:lnTo>
                        <a:pt x="5" y="31"/>
                      </a:lnTo>
                      <a:lnTo>
                        <a:pt x="9" y="28"/>
                      </a:lnTo>
                      <a:lnTo>
                        <a:pt x="13" y="28"/>
                      </a:lnTo>
                      <a:lnTo>
                        <a:pt x="13" y="3"/>
                      </a:lnTo>
                      <a:lnTo>
                        <a:pt x="5" y="0"/>
                      </a:lnTo>
                      <a:lnTo>
                        <a:pt x="0" y="3"/>
                      </a:lnTo>
                      <a:lnTo>
                        <a:pt x="0" y="5"/>
                      </a:lnTo>
                      <a:lnTo>
                        <a:pt x="0" y="31"/>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 name="任意多边形 171111">
                  <a:extLst>
                    <a:ext uri="{FF2B5EF4-FFF2-40B4-BE49-F238E27FC236}">
                      <a16:creationId xmlns:a16="http://schemas.microsoft.com/office/drawing/2014/main" xmlns="" id="{47447251-63E6-63A0-55D0-683850DD3F87}"/>
                    </a:ext>
                  </a:extLst>
                </p:cNvPr>
                <p:cNvSpPr>
                  <a:spLocks noChangeArrowheads="1"/>
                </p:cNvSpPr>
                <p:nvPr/>
              </p:nvSpPr>
              <p:spPr bwMode="auto">
                <a:xfrm>
                  <a:off x="1635" y="3062"/>
                  <a:ext cx="13" cy="30"/>
                </a:xfrm>
                <a:custGeom>
                  <a:avLst/>
                  <a:gdLst>
                    <a:gd name="T0" fmla="*/ 0 w 13"/>
                    <a:gd name="T1" fmla="*/ 30 h 30"/>
                    <a:gd name="T2" fmla="*/ 5 w 13"/>
                    <a:gd name="T3" fmla="*/ 30 h 30"/>
                    <a:gd name="T4" fmla="*/ 9 w 13"/>
                    <a:gd name="T5" fmla="*/ 28 h 30"/>
                    <a:gd name="T6" fmla="*/ 13 w 13"/>
                    <a:gd name="T7" fmla="*/ 28 h 30"/>
                    <a:gd name="T8" fmla="*/ 13 w 13"/>
                    <a:gd name="T9" fmla="*/ 2 h 30"/>
                    <a:gd name="T10" fmla="*/ 5 w 13"/>
                    <a:gd name="T11" fmla="*/ 0 h 30"/>
                    <a:gd name="T12" fmla="*/ 0 w 13"/>
                    <a:gd name="T13" fmla="*/ 2 h 30"/>
                    <a:gd name="T14" fmla="*/ 0 w 13"/>
                    <a:gd name="T15" fmla="*/ 5 h 30"/>
                    <a:gd name="T16" fmla="*/ 0 w 13"/>
                    <a:gd name="T1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30">
                      <a:moveTo>
                        <a:pt x="0" y="30"/>
                      </a:moveTo>
                      <a:lnTo>
                        <a:pt x="5" y="30"/>
                      </a:lnTo>
                      <a:lnTo>
                        <a:pt x="9" y="28"/>
                      </a:lnTo>
                      <a:lnTo>
                        <a:pt x="13" y="28"/>
                      </a:lnTo>
                      <a:lnTo>
                        <a:pt x="13" y="2"/>
                      </a:lnTo>
                      <a:lnTo>
                        <a:pt x="5" y="0"/>
                      </a:lnTo>
                      <a:lnTo>
                        <a:pt x="0" y="2"/>
                      </a:lnTo>
                      <a:lnTo>
                        <a:pt x="0" y="5"/>
                      </a:lnTo>
                      <a:lnTo>
                        <a:pt x="0" y="3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1" name="任意多边形 171112">
                  <a:extLst>
                    <a:ext uri="{FF2B5EF4-FFF2-40B4-BE49-F238E27FC236}">
                      <a16:creationId xmlns:a16="http://schemas.microsoft.com/office/drawing/2014/main" xmlns="" id="{B4FA421C-3B32-2F59-9F7E-DBFDFAD9F439}"/>
                    </a:ext>
                  </a:extLst>
                </p:cNvPr>
                <p:cNvSpPr>
                  <a:spLocks noChangeArrowheads="1"/>
                </p:cNvSpPr>
                <p:nvPr/>
              </p:nvSpPr>
              <p:spPr bwMode="auto">
                <a:xfrm>
                  <a:off x="1635" y="3017"/>
                  <a:ext cx="13" cy="30"/>
                </a:xfrm>
                <a:custGeom>
                  <a:avLst/>
                  <a:gdLst>
                    <a:gd name="T0" fmla="*/ 0 w 13"/>
                    <a:gd name="T1" fmla="*/ 30 h 30"/>
                    <a:gd name="T2" fmla="*/ 5 w 13"/>
                    <a:gd name="T3" fmla="*/ 30 h 30"/>
                    <a:gd name="T4" fmla="*/ 9 w 13"/>
                    <a:gd name="T5" fmla="*/ 28 h 30"/>
                    <a:gd name="T6" fmla="*/ 13 w 13"/>
                    <a:gd name="T7" fmla="*/ 28 h 30"/>
                    <a:gd name="T8" fmla="*/ 13 w 13"/>
                    <a:gd name="T9" fmla="*/ 2 h 30"/>
                    <a:gd name="T10" fmla="*/ 5 w 13"/>
                    <a:gd name="T11" fmla="*/ 0 h 30"/>
                    <a:gd name="T12" fmla="*/ 0 w 13"/>
                    <a:gd name="T13" fmla="*/ 2 h 30"/>
                    <a:gd name="T14" fmla="*/ 0 w 13"/>
                    <a:gd name="T15" fmla="*/ 4 h 30"/>
                    <a:gd name="T16" fmla="*/ 0 w 13"/>
                    <a:gd name="T1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30">
                      <a:moveTo>
                        <a:pt x="0" y="30"/>
                      </a:moveTo>
                      <a:lnTo>
                        <a:pt x="5" y="30"/>
                      </a:lnTo>
                      <a:lnTo>
                        <a:pt x="9" y="28"/>
                      </a:lnTo>
                      <a:lnTo>
                        <a:pt x="13" y="28"/>
                      </a:lnTo>
                      <a:lnTo>
                        <a:pt x="13" y="2"/>
                      </a:lnTo>
                      <a:lnTo>
                        <a:pt x="5" y="0"/>
                      </a:lnTo>
                      <a:lnTo>
                        <a:pt x="0" y="2"/>
                      </a:lnTo>
                      <a:lnTo>
                        <a:pt x="0" y="4"/>
                      </a:lnTo>
                      <a:lnTo>
                        <a:pt x="0" y="3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2" name="任意多边形 171113">
                  <a:extLst>
                    <a:ext uri="{FF2B5EF4-FFF2-40B4-BE49-F238E27FC236}">
                      <a16:creationId xmlns:a16="http://schemas.microsoft.com/office/drawing/2014/main" xmlns="" id="{7B4211FE-599A-A461-E379-98FB3AF000C1}"/>
                    </a:ext>
                  </a:extLst>
                </p:cNvPr>
                <p:cNvSpPr>
                  <a:spLocks noChangeArrowheads="1"/>
                </p:cNvSpPr>
                <p:nvPr/>
              </p:nvSpPr>
              <p:spPr bwMode="auto">
                <a:xfrm>
                  <a:off x="1635" y="2972"/>
                  <a:ext cx="13" cy="30"/>
                </a:xfrm>
                <a:custGeom>
                  <a:avLst/>
                  <a:gdLst>
                    <a:gd name="T0" fmla="*/ 0 w 13"/>
                    <a:gd name="T1" fmla="*/ 30 h 30"/>
                    <a:gd name="T2" fmla="*/ 5 w 13"/>
                    <a:gd name="T3" fmla="*/ 30 h 30"/>
                    <a:gd name="T4" fmla="*/ 9 w 13"/>
                    <a:gd name="T5" fmla="*/ 28 h 30"/>
                    <a:gd name="T6" fmla="*/ 13 w 13"/>
                    <a:gd name="T7" fmla="*/ 28 h 30"/>
                    <a:gd name="T8" fmla="*/ 13 w 13"/>
                    <a:gd name="T9" fmla="*/ 2 h 30"/>
                    <a:gd name="T10" fmla="*/ 5 w 13"/>
                    <a:gd name="T11" fmla="*/ 0 h 30"/>
                    <a:gd name="T12" fmla="*/ 0 w 13"/>
                    <a:gd name="T13" fmla="*/ 2 h 30"/>
                    <a:gd name="T14" fmla="*/ 0 w 13"/>
                    <a:gd name="T15" fmla="*/ 4 h 30"/>
                    <a:gd name="T16" fmla="*/ 0 w 13"/>
                    <a:gd name="T1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30">
                      <a:moveTo>
                        <a:pt x="0" y="30"/>
                      </a:moveTo>
                      <a:lnTo>
                        <a:pt x="5" y="30"/>
                      </a:lnTo>
                      <a:lnTo>
                        <a:pt x="9" y="28"/>
                      </a:lnTo>
                      <a:lnTo>
                        <a:pt x="13" y="28"/>
                      </a:lnTo>
                      <a:lnTo>
                        <a:pt x="13" y="2"/>
                      </a:lnTo>
                      <a:lnTo>
                        <a:pt x="5" y="0"/>
                      </a:lnTo>
                      <a:lnTo>
                        <a:pt x="0" y="2"/>
                      </a:lnTo>
                      <a:lnTo>
                        <a:pt x="0" y="4"/>
                      </a:lnTo>
                      <a:lnTo>
                        <a:pt x="0" y="3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 name="任意多边形 171114">
                  <a:extLst>
                    <a:ext uri="{FF2B5EF4-FFF2-40B4-BE49-F238E27FC236}">
                      <a16:creationId xmlns:a16="http://schemas.microsoft.com/office/drawing/2014/main" xmlns="" id="{D70C8158-5A9A-3FC9-564F-33BE7FF8D01B}"/>
                    </a:ext>
                  </a:extLst>
                </p:cNvPr>
                <p:cNvSpPr>
                  <a:spLocks noChangeArrowheads="1"/>
                </p:cNvSpPr>
                <p:nvPr/>
              </p:nvSpPr>
              <p:spPr bwMode="auto">
                <a:xfrm>
                  <a:off x="1635" y="2927"/>
                  <a:ext cx="13" cy="30"/>
                </a:xfrm>
                <a:custGeom>
                  <a:avLst/>
                  <a:gdLst>
                    <a:gd name="T0" fmla="*/ 0 w 13"/>
                    <a:gd name="T1" fmla="*/ 30 h 30"/>
                    <a:gd name="T2" fmla="*/ 5 w 13"/>
                    <a:gd name="T3" fmla="*/ 30 h 30"/>
                    <a:gd name="T4" fmla="*/ 9 w 13"/>
                    <a:gd name="T5" fmla="*/ 28 h 30"/>
                    <a:gd name="T6" fmla="*/ 13 w 13"/>
                    <a:gd name="T7" fmla="*/ 28 h 30"/>
                    <a:gd name="T8" fmla="*/ 13 w 13"/>
                    <a:gd name="T9" fmla="*/ 2 h 30"/>
                    <a:gd name="T10" fmla="*/ 5 w 13"/>
                    <a:gd name="T11" fmla="*/ 0 h 30"/>
                    <a:gd name="T12" fmla="*/ 0 w 13"/>
                    <a:gd name="T13" fmla="*/ 2 h 30"/>
                    <a:gd name="T14" fmla="*/ 0 w 13"/>
                    <a:gd name="T15" fmla="*/ 4 h 30"/>
                    <a:gd name="T16" fmla="*/ 0 w 13"/>
                    <a:gd name="T1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30">
                      <a:moveTo>
                        <a:pt x="0" y="30"/>
                      </a:moveTo>
                      <a:lnTo>
                        <a:pt x="5" y="30"/>
                      </a:lnTo>
                      <a:lnTo>
                        <a:pt x="9" y="28"/>
                      </a:lnTo>
                      <a:lnTo>
                        <a:pt x="13" y="28"/>
                      </a:lnTo>
                      <a:lnTo>
                        <a:pt x="13" y="2"/>
                      </a:lnTo>
                      <a:lnTo>
                        <a:pt x="5" y="0"/>
                      </a:lnTo>
                      <a:lnTo>
                        <a:pt x="0" y="2"/>
                      </a:lnTo>
                      <a:lnTo>
                        <a:pt x="0" y="4"/>
                      </a:lnTo>
                      <a:lnTo>
                        <a:pt x="0" y="3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4" name="任意多边形 171115">
                  <a:extLst>
                    <a:ext uri="{FF2B5EF4-FFF2-40B4-BE49-F238E27FC236}">
                      <a16:creationId xmlns:a16="http://schemas.microsoft.com/office/drawing/2014/main" xmlns="" id="{F74FA0E4-8401-FB91-7043-B3CC3EE17F99}"/>
                    </a:ext>
                  </a:extLst>
                </p:cNvPr>
                <p:cNvSpPr>
                  <a:spLocks noChangeArrowheads="1"/>
                </p:cNvSpPr>
                <p:nvPr/>
              </p:nvSpPr>
              <p:spPr bwMode="auto">
                <a:xfrm>
                  <a:off x="1635" y="2881"/>
                  <a:ext cx="13" cy="30"/>
                </a:xfrm>
                <a:custGeom>
                  <a:avLst/>
                  <a:gdLst>
                    <a:gd name="T0" fmla="*/ 0 w 13"/>
                    <a:gd name="T1" fmla="*/ 30 h 30"/>
                    <a:gd name="T2" fmla="*/ 5 w 13"/>
                    <a:gd name="T3" fmla="*/ 30 h 30"/>
                    <a:gd name="T4" fmla="*/ 9 w 13"/>
                    <a:gd name="T5" fmla="*/ 28 h 30"/>
                    <a:gd name="T6" fmla="*/ 13 w 13"/>
                    <a:gd name="T7" fmla="*/ 28 h 30"/>
                    <a:gd name="T8" fmla="*/ 13 w 13"/>
                    <a:gd name="T9" fmla="*/ 2 h 30"/>
                    <a:gd name="T10" fmla="*/ 5 w 13"/>
                    <a:gd name="T11" fmla="*/ 0 h 30"/>
                    <a:gd name="T12" fmla="*/ 0 w 13"/>
                    <a:gd name="T13" fmla="*/ 2 h 30"/>
                    <a:gd name="T14" fmla="*/ 0 w 13"/>
                    <a:gd name="T15" fmla="*/ 5 h 30"/>
                    <a:gd name="T16" fmla="*/ 0 w 13"/>
                    <a:gd name="T1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30">
                      <a:moveTo>
                        <a:pt x="0" y="30"/>
                      </a:moveTo>
                      <a:lnTo>
                        <a:pt x="5" y="30"/>
                      </a:lnTo>
                      <a:lnTo>
                        <a:pt x="9" y="28"/>
                      </a:lnTo>
                      <a:lnTo>
                        <a:pt x="13" y="28"/>
                      </a:lnTo>
                      <a:lnTo>
                        <a:pt x="13" y="2"/>
                      </a:lnTo>
                      <a:lnTo>
                        <a:pt x="5" y="0"/>
                      </a:lnTo>
                      <a:lnTo>
                        <a:pt x="0" y="2"/>
                      </a:lnTo>
                      <a:lnTo>
                        <a:pt x="0" y="5"/>
                      </a:lnTo>
                      <a:lnTo>
                        <a:pt x="0" y="3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 name="任意多边形 171116">
                  <a:extLst>
                    <a:ext uri="{FF2B5EF4-FFF2-40B4-BE49-F238E27FC236}">
                      <a16:creationId xmlns:a16="http://schemas.microsoft.com/office/drawing/2014/main" xmlns="" id="{D969CD72-A079-58FB-D596-E81C330A12A1}"/>
                    </a:ext>
                  </a:extLst>
                </p:cNvPr>
                <p:cNvSpPr>
                  <a:spLocks noChangeArrowheads="1"/>
                </p:cNvSpPr>
                <p:nvPr/>
              </p:nvSpPr>
              <p:spPr bwMode="auto">
                <a:xfrm>
                  <a:off x="1635" y="2836"/>
                  <a:ext cx="13" cy="30"/>
                </a:xfrm>
                <a:custGeom>
                  <a:avLst/>
                  <a:gdLst>
                    <a:gd name="T0" fmla="*/ 0 w 13"/>
                    <a:gd name="T1" fmla="*/ 30 h 30"/>
                    <a:gd name="T2" fmla="*/ 5 w 13"/>
                    <a:gd name="T3" fmla="*/ 30 h 30"/>
                    <a:gd name="T4" fmla="*/ 9 w 13"/>
                    <a:gd name="T5" fmla="*/ 28 h 30"/>
                    <a:gd name="T6" fmla="*/ 13 w 13"/>
                    <a:gd name="T7" fmla="*/ 28 h 30"/>
                    <a:gd name="T8" fmla="*/ 13 w 13"/>
                    <a:gd name="T9" fmla="*/ 2 h 30"/>
                    <a:gd name="T10" fmla="*/ 5 w 13"/>
                    <a:gd name="T11" fmla="*/ 0 h 30"/>
                    <a:gd name="T12" fmla="*/ 0 w 13"/>
                    <a:gd name="T13" fmla="*/ 2 h 30"/>
                    <a:gd name="T14" fmla="*/ 0 w 13"/>
                    <a:gd name="T15" fmla="*/ 4 h 30"/>
                    <a:gd name="T16" fmla="*/ 0 w 13"/>
                    <a:gd name="T1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30">
                      <a:moveTo>
                        <a:pt x="0" y="30"/>
                      </a:moveTo>
                      <a:lnTo>
                        <a:pt x="5" y="30"/>
                      </a:lnTo>
                      <a:lnTo>
                        <a:pt x="9" y="28"/>
                      </a:lnTo>
                      <a:lnTo>
                        <a:pt x="13" y="28"/>
                      </a:lnTo>
                      <a:lnTo>
                        <a:pt x="13" y="2"/>
                      </a:lnTo>
                      <a:lnTo>
                        <a:pt x="5" y="0"/>
                      </a:lnTo>
                      <a:lnTo>
                        <a:pt x="0" y="2"/>
                      </a:lnTo>
                      <a:lnTo>
                        <a:pt x="0" y="4"/>
                      </a:lnTo>
                      <a:lnTo>
                        <a:pt x="0" y="3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 name="任意多边形 171117">
                  <a:extLst>
                    <a:ext uri="{FF2B5EF4-FFF2-40B4-BE49-F238E27FC236}">
                      <a16:creationId xmlns:a16="http://schemas.microsoft.com/office/drawing/2014/main" xmlns="" id="{F4F503C2-F9F1-6DA8-A393-F4CFFE26D4A4}"/>
                    </a:ext>
                  </a:extLst>
                </p:cNvPr>
                <p:cNvSpPr>
                  <a:spLocks noChangeArrowheads="1"/>
                </p:cNvSpPr>
                <p:nvPr/>
              </p:nvSpPr>
              <p:spPr bwMode="auto">
                <a:xfrm>
                  <a:off x="1635" y="2791"/>
                  <a:ext cx="13" cy="30"/>
                </a:xfrm>
                <a:custGeom>
                  <a:avLst/>
                  <a:gdLst>
                    <a:gd name="T0" fmla="*/ 0 w 13"/>
                    <a:gd name="T1" fmla="*/ 30 h 30"/>
                    <a:gd name="T2" fmla="*/ 5 w 13"/>
                    <a:gd name="T3" fmla="*/ 30 h 30"/>
                    <a:gd name="T4" fmla="*/ 9 w 13"/>
                    <a:gd name="T5" fmla="*/ 28 h 30"/>
                    <a:gd name="T6" fmla="*/ 13 w 13"/>
                    <a:gd name="T7" fmla="*/ 28 h 30"/>
                    <a:gd name="T8" fmla="*/ 13 w 13"/>
                    <a:gd name="T9" fmla="*/ 2 h 30"/>
                    <a:gd name="T10" fmla="*/ 5 w 13"/>
                    <a:gd name="T11" fmla="*/ 0 h 30"/>
                    <a:gd name="T12" fmla="*/ 0 w 13"/>
                    <a:gd name="T13" fmla="*/ 2 h 30"/>
                    <a:gd name="T14" fmla="*/ 0 w 13"/>
                    <a:gd name="T15" fmla="*/ 4 h 30"/>
                    <a:gd name="T16" fmla="*/ 0 w 13"/>
                    <a:gd name="T1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30">
                      <a:moveTo>
                        <a:pt x="0" y="30"/>
                      </a:moveTo>
                      <a:lnTo>
                        <a:pt x="5" y="30"/>
                      </a:lnTo>
                      <a:lnTo>
                        <a:pt x="9" y="28"/>
                      </a:lnTo>
                      <a:lnTo>
                        <a:pt x="13" y="28"/>
                      </a:lnTo>
                      <a:lnTo>
                        <a:pt x="13" y="2"/>
                      </a:lnTo>
                      <a:lnTo>
                        <a:pt x="5" y="0"/>
                      </a:lnTo>
                      <a:lnTo>
                        <a:pt x="0" y="2"/>
                      </a:lnTo>
                      <a:lnTo>
                        <a:pt x="0" y="4"/>
                      </a:lnTo>
                      <a:lnTo>
                        <a:pt x="0" y="3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7" name="任意多边形 171118">
                  <a:extLst>
                    <a:ext uri="{FF2B5EF4-FFF2-40B4-BE49-F238E27FC236}">
                      <a16:creationId xmlns:a16="http://schemas.microsoft.com/office/drawing/2014/main" xmlns="" id="{B931CFF0-7213-5970-CEFF-938C2F0B149B}"/>
                    </a:ext>
                  </a:extLst>
                </p:cNvPr>
                <p:cNvSpPr>
                  <a:spLocks noChangeArrowheads="1"/>
                </p:cNvSpPr>
                <p:nvPr/>
              </p:nvSpPr>
              <p:spPr bwMode="auto">
                <a:xfrm>
                  <a:off x="1635" y="2746"/>
                  <a:ext cx="13" cy="30"/>
                </a:xfrm>
                <a:custGeom>
                  <a:avLst/>
                  <a:gdLst>
                    <a:gd name="T0" fmla="*/ 0 w 13"/>
                    <a:gd name="T1" fmla="*/ 30 h 30"/>
                    <a:gd name="T2" fmla="*/ 5 w 13"/>
                    <a:gd name="T3" fmla="*/ 30 h 30"/>
                    <a:gd name="T4" fmla="*/ 9 w 13"/>
                    <a:gd name="T5" fmla="*/ 28 h 30"/>
                    <a:gd name="T6" fmla="*/ 13 w 13"/>
                    <a:gd name="T7" fmla="*/ 28 h 30"/>
                    <a:gd name="T8" fmla="*/ 13 w 13"/>
                    <a:gd name="T9" fmla="*/ 2 h 30"/>
                    <a:gd name="T10" fmla="*/ 5 w 13"/>
                    <a:gd name="T11" fmla="*/ 0 h 30"/>
                    <a:gd name="T12" fmla="*/ 0 w 13"/>
                    <a:gd name="T13" fmla="*/ 2 h 30"/>
                    <a:gd name="T14" fmla="*/ 0 w 13"/>
                    <a:gd name="T15" fmla="*/ 4 h 30"/>
                    <a:gd name="T16" fmla="*/ 0 w 13"/>
                    <a:gd name="T1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30">
                      <a:moveTo>
                        <a:pt x="0" y="30"/>
                      </a:moveTo>
                      <a:lnTo>
                        <a:pt x="5" y="30"/>
                      </a:lnTo>
                      <a:lnTo>
                        <a:pt x="9" y="28"/>
                      </a:lnTo>
                      <a:lnTo>
                        <a:pt x="13" y="28"/>
                      </a:lnTo>
                      <a:lnTo>
                        <a:pt x="13" y="2"/>
                      </a:lnTo>
                      <a:lnTo>
                        <a:pt x="5" y="0"/>
                      </a:lnTo>
                      <a:lnTo>
                        <a:pt x="0" y="2"/>
                      </a:lnTo>
                      <a:lnTo>
                        <a:pt x="0" y="4"/>
                      </a:lnTo>
                      <a:lnTo>
                        <a:pt x="0" y="3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8" name="任意多边形 171119">
                  <a:extLst>
                    <a:ext uri="{FF2B5EF4-FFF2-40B4-BE49-F238E27FC236}">
                      <a16:creationId xmlns:a16="http://schemas.microsoft.com/office/drawing/2014/main" xmlns="" id="{FBDC0E1F-6E96-0A87-5ACB-D0699841A477}"/>
                    </a:ext>
                  </a:extLst>
                </p:cNvPr>
                <p:cNvSpPr>
                  <a:spLocks noChangeArrowheads="1"/>
                </p:cNvSpPr>
                <p:nvPr/>
              </p:nvSpPr>
              <p:spPr bwMode="auto">
                <a:xfrm>
                  <a:off x="1635" y="2700"/>
                  <a:ext cx="13" cy="30"/>
                </a:xfrm>
                <a:custGeom>
                  <a:avLst/>
                  <a:gdLst>
                    <a:gd name="T0" fmla="*/ 0 w 13"/>
                    <a:gd name="T1" fmla="*/ 30 h 30"/>
                    <a:gd name="T2" fmla="*/ 5 w 13"/>
                    <a:gd name="T3" fmla="*/ 30 h 30"/>
                    <a:gd name="T4" fmla="*/ 9 w 13"/>
                    <a:gd name="T5" fmla="*/ 28 h 30"/>
                    <a:gd name="T6" fmla="*/ 13 w 13"/>
                    <a:gd name="T7" fmla="*/ 28 h 30"/>
                    <a:gd name="T8" fmla="*/ 13 w 13"/>
                    <a:gd name="T9" fmla="*/ 2 h 30"/>
                    <a:gd name="T10" fmla="*/ 5 w 13"/>
                    <a:gd name="T11" fmla="*/ 0 h 30"/>
                    <a:gd name="T12" fmla="*/ 0 w 13"/>
                    <a:gd name="T13" fmla="*/ 2 h 30"/>
                    <a:gd name="T14" fmla="*/ 0 w 13"/>
                    <a:gd name="T15" fmla="*/ 5 h 30"/>
                    <a:gd name="T16" fmla="*/ 0 w 13"/>
                    <a:gd name="T1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30">
                      <a:moveTo>
                        <a:pt x="0" y="30"/>
                      </a:moveTo>
                      <a:lnTo>
                        <a:pt x="5" y="30"/>
                      </a:lnTo>
                      <a:lnTo>
                        <a:pt x="9" y="28"/>
                      </a:lnTo>
                      <a:lnTo>
                        <a:pt x="13" y="28"/>
                      </a:lnTo>
                      <a:lnTo>
                        <a:pt x="13" y="2"/>
                      </a:lnTo>
                      <a:lnTo>
                        <a:pt x="5" y="0"/>
                      </a:lnTo>
                      <a:lnTo>
                        <a:pt x="0" y="2"/>
                      </a:lnTo>
                      <a:lnTo>
                        <a:pt x="0" y="5"/>
                      </a:lnTo>
                      <a:lnTo>
                        <a:pt x="0" y="3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 name="任意多边形 171120">
                  <a:extLst>
                    <a:ext uri="{FF2B5EF4-FFF2-40B4-BE49-F238E27FC236}">
                      <a16:creationId xmlns:a16="http://schemas.microsoft.com/office/drawing/2014/main" xmlns="" id="{C9049986-76ED-41A8-932A-7C54B9AC157D}"/>
                    </a:ext>
                  </a:extLst>
                </p:cNvPr>
                <p:cNvSpPr>
                  <a:spLocks noChangeArrowheads="1"/>
                </p:cNvSpPr>
                <p:nvPr/>
              </p:nvSpPr>
              <p:spPr bwMode="auto">
                <a:xfrm>
                  <a:off x="1635" y="2655"/>
                  <a:ext cx="13" cy="30"/>
                </a:xfrm>
                <a:custGeom>
                  <a:avLst/>
                  <a:gdLst>
                    <a:gd name="T0" fmla="*/ 0 w 13"/>
                    <a:gd name="T1" fmla="*/ 30 h 30"/>
                    <a:gd name="T2" fmla="*/ 5 w 13"/>
                    <a:gd name="T3" fmla="*/ 30 h 30"/>
                    <a:gd name="T4" fmla="*/ 9 w 13"/>
                    <a:gd name="T5" fmla="*/ 28 h 30"/>
                    <a:gd name="T6" fmla="*/ 13 w 13"/>
                    <a:gd name="T7" fmla="*/ 28 h 30"/>
                    <a:gd name="T8" fmla="*/ 13 w 13"/>
                    <a:gd name="T9" fmla="*/ 2 h 30"/>
                    <a:gd name="T10" fmla="*/ 5 w 13"/>
                    <a:gd name="T11" fmla="*/ 0 h 30"/>
                    <a:gd name="T12" fmla="*/ 0 w 13"/>
                    <a:gd name="T13" fmla="*/ 2 h 30"/>
                    <a:gd name="T14" fmla="*/ 0 w 13"/>
                    <a:gd name="T15" fmla="*/ 4 h 30"/>
                    <a:gd name="T16" fmla="*/ 0 w 13"/>
                    <a:gd name="T1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30">
                      <a:moveTo>
                        <a:pt x="0" y="30"/>
                      </a:moveTo>
                      <a:lnTo>
                        <a:pt x="5" y="30"/>
                      </a:lnTo>
                      <a:lnTo>
                        <a:pt x="9" y="28"/>
                      </a:lnTo>
                      <a:lnTo>
                        <a:pt x="13" y="28"/>
                      </a:lnTo>
                      <a:lnTo>
                        <a:pt x="13" y="2"/>
                      </a:lnTo>
                      <a:lnTo>
                        <a:pt x="5" y="0"/>
                      </a:lnTo>
                      <a:lnTo>
                        <a:pt x="0" y="2"/>
                      </a:lnTo>
                      <a:lnTo>
                        <a:pt x="0" y="4"/>
                      </a:lnTo>
                      <a:lnTo>
                        <a:pt x="0" y="3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0" name="任意多边形 171121">
                  <a:extLst>
                    <a:ext uri="{FF2B5EF4-FFF2-40B4-BE49-F238E27FC236}">
                      <a16:creationId xmlns:a16="http://schemas.microsoft.com/office/drawing/2014/main" xmlns="" id="{66C52E33-F8E1-6271-D86C-19DF69B371E7}"/>
                    </a:ext>
                  </a:extLst>
                </p:cNvPr>
                <p:cNvSpPr>
                  <a:spLocks noChangeArrowheads="1"/>
                </p:cNvSpPr>
                <p:nvPr/>
              </p:nvSpPr>
              <p:spPr bwMode="auto">
                <a:xfrm>
                  <a:off x="1635" y="2629"/>
                  <a:ext cx="13" cy="11"/>
                </a:xfrm>
                <a:custGeom>
                  <a:avLst/>
                  <a:gdLst>
                    <a:gd name="T0" fmla="*/ 0 w 13"/>
                    <a:gd name="T1" fmla="*/ 11 h 11"/>
                    <a:gd name="T2" fmla="*/ 5 w 13"/>
                    <a:gd name="T3" fmla="*/ 11 h 11"/>
                    <a:gd name="T4" fmla="*/ 9 w 13"/>
                    <a:gd name="T5" fmla="*/ 9 h 11"/>
                    <a:gd name="T6" fmla="*/ 13 w 13"/>
                    <a:gd name="T7" fmla="*/ 9 h 11"/>
                    <a:gd name="T8" fmla="*/ 13 w 13"/>
                    <a:gd name="T9" fmla="*/ 2 h 11"/>
                    <a:gd name="T10" fmla="*/ 5 w 13"/>
                    <a:gd name="T11" fmla="*/ 0 h 11"/>
                    <a:gd name="T12" fmla="*/ 0 w 13"/>
                    <a:gd name="T13" fmla="*/ 2 h 11"/>
                    <a:gd name="T14" fmla="*/ 0 w 13"/>
                    <a:gd name="T15" fmla="*/ 5 h 11"/>
                    <a:gd name="T16" fmla="*/ 0 w 13"/>
                    <a:gd name="T17" fmla="*/ 11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11">
                      <a:moveTo>
                        <a:pt x="0" y="11"/>
                      </a:moveTo>
                      <a:lnTo>
                        <a:pt x="5" y="11"/>
                      </a:lnTo>
                      <a:lnTo>
                        <a:pt x="9" y="9"/>
                      </a:lnTo>
                      <a:lnTo>
                        <a:pt x="13" y="9"/>
                      </a:lnTo>
                      <a:lnTo>
                        <a:pt x="13" y="2"/>
                      </a:lnTo>
                      <a:lnTo>
                        <a:pt x="5" y="0"/>
                      </a:lnTo>
                      <a:lnTo>
                        <a:pt x="0" y="2"/>
                      </a:lnTo>
                      <a:lnTo>
                        <a:pt x="0" y="5"/>
                      </a:lnTo>
                      <a:lnTo>
                        <a:pt x="0" y="11"/>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4" name="组合 171122">
                <a:extLst>
                  <a:ext uri="{FF2B5EF4-FFF2-40B4-BE49-F238E27FC236}">
                    <a16:creationId xmlns:a16="http://schemas.microsoft.com/office/drawing/2014/main" xmlns="" id="{13E80E08-62F6-027E-4BB1-B79BB44DA368}"/>
                  </a:ext>
                </a:extLst>
              </p:cNvPr>
              <p:cNvGrpSpPr>
                <a:grpSpLocks/>
              </p:cNvGrpSpPr>
              <p:nvPr/>
            </p:nvGrpSpPr>
            <p:grpSpPr bwMode="auto">
              <a:xfrm>
                <a:off x="617" y="1054"/>
                <a:ext cx="1448" cy="940"/>
                <a:chOff x="3543" y="2885"/>
                <a:chExt cx="1448" cy="767"/>
              </a:xfrm>
            </p:grpSpPr>
            <p:sp>
              <p:nvSpPr>
                <p:cNvPr id="32" name="任意多边形 171123">
                  <a:extLst>
                    <a:ext uri="{FF2B5EF4-FFF2-40B4-BE49-F238E27FC236}">
                      <a16:creationId xmlns:a16="http://schemas.microsoft.com/office/drawing/2014/main" xmlns="" id="{53C70359-3E75-FB20-0921-718D3E214103}"/>
                    </a:ext>
                  </a:extLst>
                </p:cNvPr>
                <p:cNvSpPr>
                  <a:spLocks noChangeArrowheads="1"/>
                </p:cNvSpPr>
                <p:nvPr/>
              </p:nvSpPr>
              <p:spPr bwMode="auto">
                <a:xfrm>
                  <a:off x="3543" y="2885"/>
                  <a:ext cx="1448" cy="737"/>
                </a:xfrm>
                <a:custGeom>
                  <a:avLst/>
                  <a:gdLst>
                    <a:gd name="T0" fmla="*/ 0 w 1448"/>
                    <a:gd name="T1" fmla="*/ 731 h 737"/>
                    <a:gd name="T2" fmla="*/ 21 w 1448"/>
                    <a:gd name="T3" fmla="*/ 737 h 737"/>
                    <a:gd name="T4" fmla="*/ 137 w 1448"/>
                    <a:gd name="T5" fmla="*/ 647 h 737"/>
                    <a:gd name="T6" fmla="*/ 257 w 1448"/>
                    <a:gd name="T7" fmla="*/ 560 h 737"/>
                    <a:gd name="T8" fmla="*/ 373 w 1448"/>
                    <a:gd name="T9" fmla="*/ 478 h 737"/>
                    <a:gd name="T10" fmla="*/ 484 w 1448"/>
                    <a:gd name="T11" fmla="*/ 401 h 737"/>
                    <a:gd name="T12" fmla="*/ 587 w 1448"/>
                    <a:gd name="T13" fmla="*/ 328 h 737"/>
                    <a:gd name="T14" fmla="*/ 694 w 1448"/>
                    <a:gd name="T15" fmla="*/ 257 h 737"/>
                    <a:gd name="T16" fmla="*/ 745 w 1448"/>
                    <a:gd name="T17" fmla="*/ 224 h 737"/>
                    <a:gd name="T18" fmla="*/ 797 w 1448"/>
                    <a:gd name="T19" fmla="*/ 194 h 737"/>
                    <a:gd name="T20" fmla="*/ 840 w 1448"/>
                    <a:gd name="T21" fmla="*/ 168 h 737"/>
                    <a:gd name="T22" fmla="*/ 882 w 1448"/>
                    <a:gd name="T23" fmla="*/ 145 h 737"/>
                    <a:gd name="T24" fmla="*/ 921 w 1448"/>
                    <a:gd name="T25" fmla="*/ 123 h 737"/>
                    <a:gd name="T26" fmla="*/ 912 w 1448"/>
                    <a:gd name="T27" fmla="*/ 121 h 737"/>
                    <a:gd name="T28" fmla="*/ 917 w 1448"/>
                    <a:gd name="T29" fmla="*/ 125 h 737"/>
                    <a:gd name="T30" fmla="*/ 955 w 1448"/>
                    <a:gd name="T31" fmla="*/ 110 h 737"/>
                    <a:gd name="T32" fmla="*/ 985 w 1448"/>
                    <a:gd name="T33" fmla="*/ 97 h 737"/>
                    <a:gd name="T34" fmla="*/ 1015 w 1448"/>
                    <a:gd name="T35" fmla="*/ 86 h 737"/>
                    <a:gd name="T36" fmla="*/ 1071 w 1448"/>
                    <a:gd name="T37" fmla="*/ 71 h 737"/>
                    <a:gd name="T38" fmla="*/ 1122 w 1448"/>
                    <a:gd name="T39" fmla="*/ 56 h 737"/>
                    <a:gd name="T40" fmla="*/ 1118 w 1448"/>
                    <a:gd name="T41" fmla="*/ 50 h 737"/>
                    <a:gd name="T42" fmla="*/ 1122 w 1448"/>
                    <a:gd name="T43" fmla="*/ 56 h 737"/>
                    <a:gd name="T44" fmla="*/ 1178 w 1448"/>
                    <a:gd name="T45" fmla="*/ 43 h 737"/>
                    <a:gd name="T46" fmla="*/ 1234 w 1448"/>
                    <a:gd name="T47" fmla="*/ 35 h 737"/>
                    <a:gd name="T48" fmla="*/ 1289 w 1448"/>
                    <a:gd name="T49" fmla="*/ 28 h 737"/>
                    <a:gd name="T50" fmla="*/ 1336 w 1448"/>
                    <a:gd name="T51" fmla="*/ 24 h 737"/>
                    <a:gd name="T52" fmla="*/ 1371 w 1448"/>
                    <a:gd name="T53" fmla="*/ 20 h 737"/>
                    <a:gd name="T54" fmla="*/ 1401 w 1448"/>
                    <a:gd name="T55" fmla="*/ 15 h 737"/>
                    <a:gd name="T56" fmla="*/ 1422 w 1448"/>
                    <a:gd name="T57" fmla="*/ 15 h 737"/>
                    <a:gd name="T58" fmla="*/ 1448 w 1448"/>
                    <a:gd name="T59" fmla="*/ 13 h 737"/>
                    <a:gd name="T60" fmla="*/ 1443 w 1448"/>
                    <a:gd name="T61" fmla="*/ 0 h 737"/>
                    <a:gd name="T62" fmla="*/ 1418 w 1448"/>
                    <a:gd name="T63" fmla="*/ 2 h 737"/>
                    <a:gd name="T64" fmla="*/ 1396 w 1448"/>
                    <a:gd name="T65" fmla="*/ 2 h 737"/>
                    <a:gd name="T66" fmla="*/ 1366 w 1448"/>
                    <a:gd name="T67" fmla="*/ 7 h 737"/>
                    <a:gd name="T68" fmla="*/ 1332 w 1448"/>
                    <a:gd name="T69" fmla="*/ 11 h 737"/>
                    <a:gd name="T70" fmla="*/ 1285 w 1448"/>
                    <a:gd name="T71" fmla="*/ 15 h 737"/>
                    <a:gd name="T72" fmla="*/ 1229 w 1448"/>
                    <a:gd name="T73" fmla="*/ 22 h 737"/>
                    <a:gd name="T74" fmla="*/ 1174 w 1448"/>
                    <a:gd name="T75" fmla="*/ 30 h 737"/>
                    <a:gd name="T76" fmla="*/ 1114 w 1448"/>
                    <a:gd name="T77" fmla="*/ 43 h 737"/>
                    <a:gd name="T78" fmla="*/ 1114 w 1448"/>
                    <a:gd name="T79" fmla="*/ 45 h 737"/>
                    <a:gd name="T80" fmla="*/ 1058 w 1448"/>
                    <a:gd name="T81" fmla="*/ 61 h 737"/>
                    <a:gd name="T82" fmla="*/ 1002 w 1448"/>
                    <a:gd name="T83" fmla="*/ 76 h 737"/>
                    <a:gd name="T84" fmla="*/ 972 w 1448"/>
                    <a:gd name="T85" fmla="*/ 86 h 737"/>
                    <a:gd name="T86" fmla="*/ 942 w 1448"/>
                    <a:gd name="T87" fmla="*/ 99 h 737"/>
                    <a:gd name="T88" fmla="*/ 904 w 1448"/>
                    <a:gd name="T89" fmla="*/ 114 h 737"/>
                    <a:gd name="T90" fmla="*/ 899 w 1448"/>
                    <a:gd name="T91" fmla="*/ 117 h 737"/>
                    <a:gd name="T92" fmla="*/ 865 w 1448"/>
                    <a:gd name="T93" fmla="*/ 136 h 737"/>
                    <a:gd name="T94" fmla="*/ 818 w 1448"/>
                    <a:gd name="T95" fmla="*/ 162 h 737"/>
                    <a:gd name="T96" fmla="*/ 775 w 1448"/>
                    <a:gd name="T97" fmla="*/ 188 h 737"/>
                    <a:gd name="T98" fmla="*/ 724 w 1448"/>
                    <a:gd name="T99" fmla="*/ 218 h 737"/>
                    <a:gd name="T100" fmla="*/ 672 w 1448"/>
                    <a:gd name="T101" fmla="*/ 250 h 737"/>
                    <a:gd name="T102" fmla="*/ 565 w 1448"/>
                    <a:gd name="T103" fmla="*/ 321 h 737"/>
                    <a:gd name="T104" fmla="*/ 463 w 1448"/>
                    <a:gd name="T105" fmla="*/ 394 h 737"/>
                    <a:gd name="T106" fmla="*/ 351 w 1448"/>
                    <a:gd name="T107" fmla="*/ 472 h 737"/>
                    <a:gd name="T108" fmla="*/ 236 w 1448"/>
                    <a:gd name="T109" fmla="*/ 554 h 737"/>
                    <a:gd name="T110" fmla="*/ 116 w 1448"/>
                    <a:gd name="T111" fmla="*/ 640 h 737"/>
                    <a:gd name="T112" fmla="*/ 0 w 1448"/>
                    <a:gd name="T113" fmla="*/ 731 h 7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448" h="737">
                      <a:moveTo>
                        <a:pt x="0" y="731"/>
                      </a:moveTo>
                      <a:lnTo>
                        <a:pt x="21" y="737"/>
                      </a:lnTo>
                      <a:lnTo>
                        <a:pt x="137" y="647"/>
                      </a:lnTo>
                      <a:lnTo>
                        <a:pt x="257" y="560"/>
                      </a:lnTo>
                      <a:lnTo>
                        <a:pt x="373" y="478"/>
                      </a:lnTo>
                      <a:lnTo>
                        <a:pt x="484" y="401"/>
                      </a:lnTo>
                      <a:lnTo>
                        <a:pt x="587" y="328"/>
                      </a:lnTo>
                      <a:lnTo>
                        <a:pt x="694" y="257"/>
                      </a:lnTo>
                      <a:lnTo>
                        <a:pt x="745" y="224"/>
                      </a:lnTo>
                      <a:lnTo>
                        <a:pt x="797" y="194"/>
                      </a:lnTo>
                      <a:lnTo>
                        <a:pt x="840" y="168"/>
                      </a:lnTo>
                      <a:lnTo>
                        <a:pt x="882" y="145"/>
                      </a:lnTo>
                      <a:lnTo>
                        <a:pt x="921" y="123"/>
                      </a:lnTo>
                      <a:lnTo>
                        <a:pt x="912" y="121"/>
                      </a:lnTo>
                      <a:lnTo>
                        <a:pt x="917" y="125"/>
                      </a:lnTo>
                      <a:lnTo>
                        <a:pt x="955" y="110"/>
                      </a:lnTo>
                      <a:lnTo>
                        <a:pt x="985" y="97"/>
                      </a:lnTo>
                      <a:lnTo>
                        <a:pt x="1015" y="86"/>
                      </a:lnTo>
                      <a:lnTo>
                        <a:pt x="1071" y="71"/>
                      </a:lnTo>
                      <a:lnTo>
                        <a:pt x="1122" y="56"/>
                      </a:lnTo>
                      <a:lnTo>
                        <a:pt x="1118" y="50"/>
                      </a:lnTo>
                      <a:lnTo>
                        <a:pt x="1122" y="56"/>
                      </a:lnTo>
                      <a:lnTo>
                        <a:pt x="1178" y="43"/>
                      </a:lnTo>
                      <a:lnTo>
                        <a:pt x="1234" y="35"/>
                      </a:lnTo>
                      <a:lnTo>
                        <a:pt x="1289" y="28"/>
                      </a:lnTo>
                      <a:lnTo>
                        <a:pt x="1336" y="24"/>
                      </a:lnTo>
                      <a:lnTo>
                        <a:pt x="1371" y="20"/>
                      </a:lnTo>
                      <a:lnTo>
                        <a:pt x="1401" y="15"/>
                      </a:lnTo>
                      <a:lnTo>
                        <a:pt x="1422" y="15"/>
                      </a:lnTo>
                      <a:lnTo>
                        <a:pt x="1448" y="13"/>
                      </a:lnTo>
                      <a:lnTo>
                        <a:pt x="1443" y="0"/>
                      </a:lnTo>
                      <a:lnTo>
                        <a:pt x="1418" y="2"/>
                      </a:lnTo>
                      <a:lnTo>
                        <a:pt x="1396" y="2"/>
                      </a:lnTo>
                      <a:lnTo>
                        <a:pt x="1366" y="7"/>
                      </a:lnTo>
                      <a:lnTo>
                        <a:pt x="1332" y="11"/>
                      </a:lnTo>
                      <a:lnTo>
                        <a:pt x="1285" y="15"/>
                      </a:lnTo>
                      <a:lnTo>
                        <a:pt x="1229" y="22"/>
                      </a:lnTo>
                      <a:lnTo>
                        <a:pt x="1174" y="30"/>
                      </a:lnTo>
                      <a:lnTo>
                        <a:pt x="1114" y="43"/>
                      </a:lnTo>
                      <a:lnTo>
                        <a:pt x="1114" y="45"/>
                      </a:lnTo>
                      <a:lnTo>
                        <a:pt x="1058" y="61"/>
                      </a:lnTo>
                      <a:lnTo>
                        <a:pt x="1002" y="76"/>
                      </a:lnTo>
                      <a:lnTo>
                        <a:pt x="972" y="86"/>
                      </a:lnTo>
                      <a:lnTo>
                        <a:pt x="942" y="99"/>
                      </a:lnTo>
                      <a:lnTo>
                        <a:pt x="904" y="114"/>
                      </a:lnTo>
                      <a:lnTo>
                        <a:pt x="899" y="117"/>
                      </a:lnTo>
                      <a:lnTo>
                        <a:pt x="865" y="136"/>
                      </a:lnTo>
                      <a:lnTo>
                        <a:pt x="818" y="162"/>
                      </a:lnTo>
                      <a:lnTo>
                        <a:pt x="775" y="188"/>
                      </a:lnTo>
                      <a:lnTo>
                        <a:pt x="724" y="218"/>
                      </a:lnTo>
                      <a:lnTo>
                        <a:pt x="672" y="250"/>
                      </a:lnTo>
                      <a:lnTo>
                        <a:pt x="565" y="321"/>
                      </a:lnTo>
                      <a:lnTo>
                        <a:pt x="463" y="394"/>
                      </a:lnTo>
                      <a:lnTo>
                        <a:pt x="351" y="472"/>
                      </a:lnTo>
                      <a:lnTo>
                        <a:pt x="236" y="554"/>
                      </a:lnTo>
                      <a:lnTo>
                        <a:pt x="116" y="640"/>
                      </a:lnTo>
                      <a:lnTo>
                        <a:pt x="0" y="731"/>
                      </a:lnTo>
                      <a:close/>
                    </a:path>
                  </a:pathLst>
                </a:custGeom>
                <a:solidFill>
                  <a:srgbClr val="FFCC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aphicFrame>
              <p:nvGraphicFramePr>
                <p:cNvPr id="33" name="对象 171124">
                  <a:extLst>
                    <a:ext uri="{FF2B5EF4-FFF2-40B4-BE49-F238E27FC236}">
                      <a16:creationId xmlns:a16="http://schemas.microsoft.com/office/drawing/2014/main" xmlns="" id="{C2572211-DEEF-7D71-64AA-1A6B24D15715}"/>
                    </a:ext>
                  </a:extLst>
                </p:cNvPr>
                <p:cNvGraphicFramePr>
                  <a:graphicFrameLocks/>
                </p:cNvGraphicFramePr>
                <p:nvPr/>
              </p:nvGraphicFramePr>
              <p:xfrm>
                <a:off x="3789" y="3424"/>
                <a:ext cx="228" cy="228"/>
              </p:xfrm>
              <a:graphic>
                <a:graphicData uri="http://schemas.openxmlformats.org/presentationml/2006/ole">
                  <mc:AlternateContent xmlns:mc="http://schemas.openxmlformats.org/markup-compatibility/2006">
                    <mc:Choice xmlns:v="urn:schemas-microsoft-com:vml" Requires="v">
                      <p:oleObj spid="_x0000_s93470" r:id="rId11" imgW="228600" imgH="228600" progId="Equation.3">
                        <p:embed/>
                      </p:oleObj>
                    </mc:Choice>
                    <mc:Fallback>
                      <p:oleObj r:id="rId11" imgW="228600" imgH="228600" progId="Equation.3">
                        <p:embed/>
                        <p:pic>
                          <p:nvPicPr>
                            <p:cNvPr id="0" name=""/>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789" y="3424"/>
                              <a:ext cx="228" cy="228"/>
                            </a:xfrm>
                            <a:prstGeom prst="rect">
                              <a:avLst/>
                            </a:prstGeom>
                            <a:solidFill>
                              <a:srgbClr val="FFFFFF">
                                <a:alpha val="50195"/>
                              </a:srgbClr>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
            <p:nvSpPr>
              <p:cNvPr id="25" name="直接连接符 171125">
                <a:extLst>
                  <a:ext uri="{FF2B5EF4-FFF2-40B4-BE49-F238E27FC236}">
                    <a16:creationId xmlns:a16="http://schemas.microsoft.com/office/drawing/2014/main" xmlns="" id="{4F216224-8627-C282-B41C-10BACC4EEDC7}"/>
                  </a:ext>
                </a:extLst>
              </p:cNvPr>
              <p:cNvSpPr>
                <a:spLocks noChangeShapeType="1"/>
              </p:cNvSpPr>
              <p:nvPr/>
            </p:nvSpPr>
            <p:spPr bwMode="auto">
              <a:xfrm>
                <a:off x="574" y="1995"/>
                <a:ext cx="1763" cy="10"/>
              </a:xfrm>
              <a:prstGeom prst="line">
                <a:avLst/>
              </a:prstGeom>
              <a:noFill/>
              <a:ln w="28575">
                <a:solidFill>
                  <a:srgbClr val="CC99FF"/>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grpSp>
            <p:nvGrpSpPr>
              <p:cNvPr id="26" name="组合 171126">
                <a:extLst>
                  <a:ext uri="{FF2B5EF4-FFF2-40B4-BE49-F238E27FC236}">
                    <a16:creationId xmlns:a16="http://schemas.microsoft.com/office/drawing/2014/main" xmlns="" id="{4DE4569E-97C2-3AA0-180C-C96132DA3E88}"/>
                  </a:ext>
                </a:extLst>
              </p:cNvPr>
              <p:cNvGrpSpPr>
                <a:grpSpLocks/>
              </p:cNvGrpSpPr>
              <p:nvPr/>
            </p:nvGrpSpPr>
            <p:grpSpPr bwMode="auto">
              <a:xfrm>
                <a:off x="608" y="1351"/>
                <a:ext cx="1237" cy="428"/>
                <a:chOff x="3525" y="3081"/>
                <a:chExt cx="1237" cy="428"/>
              </a:xfrm>
            </p:grpSpPr>
            <p:graphicFrame>
              <p:nvGraphicFramePr>
                <p:cNvPr id="30" name="对象 171127">
                  <a:extLst>
                    <a:ext uri="{FF2B5EF4-FFF2-40B4-BE49-F238E27FC236}">
                      <a16:creationId xmlns:a16="http://schemas.microsoft.com/office/drawing/2014/main" xmlns="" id="{BC0863ED-731A-548A-814F-3C2ECDA5A8E7}"/>
                    </a:ext>
                  </a:extLst>
                </p:cNvPr>
                <p:cNvGraphicFramePr>
                  <a:graphicFrameLocks/>
                </p:cNvGraphicFramePr>
                <p:nvPr/>
              </p:nvGraphicFramePr>
              <p:xfrm>
                <a:off x="3560" y="3081"/>
                <a:ext cx="202" cy="227"/>
              </p:xfrm>
              <a:graphic>
                <a:graphicData uri="http://schemas.openxmlformats.org/presentationml/2006/ole">
                  <mc:AlternateContent xmlns:mc="http://schemas.openxmlformats.org/markup-compatibility/2006">
                    <mc:Choice xmlns:v="urn:schemas-microsoft-com:vml" Requires="v">
                      <p:oleObj spid="_x0000_s93471" r:id="rId13" imgW="203024" imgH="228402" progId="Equation.3">
                        <p:embed/>
                      </p:oleObj>
                    </mc:Choice>
                    <mc:Fallback>
                      <p:oleObj r:id="rId13" imgW="203024" imgH="228402" progId="Equation.3">
                        <p:embed/>
                        <p:pic>
                          <p:nvPicPr>
                            <p:cNvPr id="0" name=""/>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560" y="3081"/>
                              <a:ext cx="202" cy="227"/>
                            </a:xfrm>
                            <a:prstGeom prst="rect">
                              <a:avLst/>
                            </a:prstGeom>
                            <a:solidFill>
                              <a:srgbClr val="FFFFFF"/>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1" name="任意多边形 171128">
                  <a:extLst>
                    <a:ext uri="{FF2B5EF4-FFF2-40B4-BE49-F238E27FC236}">
                      <a16:creationId xmlns:a16="http://schemas.microsoft.com/office/drawing/2014/main" xmlns="" id="{E0CE7C5C-13F9-D226-9C76-411A05C0FDC6}"/>
                    </a:ext>
                  </a:extLst>
                </p:cNvPr>
                <p:cNvSpPr>
                  <a:spLocks noChangeArrowheads="1"/>
                </p:cNvSpPr>
                <p:nvPr/>
              </p:nvSpPr>
              <p:spPr bwMode="auto">
                <a:xfrm>
                  <a:off x="3525" y="3300"/>
                  <a:ext cx="1237" cy="209"/>
                </a:xfrm>
                <a:custGeom>
                  <a:avLst/>
                  <a:gdLst>
                    <a:gd name="T0" fmla="*/ 0 w 1237"/>
                    <a:gd name="T1" fmla="*/ 0 h 209"/>
                    <a:gd name="T2" fmla="*/ 0 w 1237"/>
                    <a:gd name="T3" fmla="*/ 13 h 209"/>
                    <a:gd name="T4" fmla="*/ 222 w 1237"/>
                    <a:gd name="T5" fmla="*/ 13 h 209"/>
                    <a:gd name="T6" fmla="*/ 334 w 1237"/>
                    <a:gd name="T7" fmla="*/ 15 h 209"/>
                    <a:gd name="T8" fmla="*/ 436 w 1237"/>
                    <a:gd name="T9" fmla="*/ 15 h 209"/>
                    <a:gd name="T10" fmla="*/ 535 w 1237"/>
                    <a:gd name="T11" fmla="*/ 17 h 209"/>
                    <a:gd name="T12" fmla="*/ 629 w 1237"/>
                    <a:gd name="T13" fmla="*/ 20 h 209"/>
                    <a:gd name="T14" fmla="*/ 711 w 1237"/>
                    <a:gd name="T15" fmla="*/ 22 h 209"/>
                    <a:gd name="T16" fmla="*/ 783 w 1237"/>
                    <a:gd name="T17" fmla="*/ 26 h 209"/>
                    <a:gd name="T18" fmla="*/ 839 w 1237"/>
                    <a:gd name="T19" fmla="*/ 30 h 209"/>
                    <a:gd name="T20" fmla="*/ 886 w 1237"/>
                    <a:gd name="T21" fmla="*/ 37 h 209"/>
                    <a:gd name="T22" fmla="*/ 925 w 1237"/>
                    <a:gd name="T23" fmla="*/ 43 h 209"/>
                    <a:gd name="T24" fmla="*/ 955 w 1237"/>
                    <a:gd name="T25" fmla="*/ 50 h 209"/>
                    <a:gd name="T26" fmla="*/ 955 w 1237"/>
                    <a:gd name="T27" fmla="*/ 43 h 209"/>
                    <a:gd name="T28" fmla="*/ 950 w 1237"/>
                    <a:gd name="T29" fmla="*/ 50 h 209"/>
                    <a:gd name="T30" fmla="*/ 976 w 1237"/>
                    <a:gd name="T31" fmla="*/ 56 h 209"/>
                    <a:gd name="T32" fmla="*/ 998 w 1237"/>
                    <a:gd name="T33" fmla="*/ 65 h 209"/>
                    <a:gd name="T34" fmla="*/ 1040 w 1237"/>
                    <a:gd name="T35" fmla="*/ 78 h 209"/>
                    <a:gd name="T36" fmla="*/ 1045 w 1237"/>
                    <a:gd name="T37" fmla="*/ 71 h 209"/>
                    <a:gd name="T38" fmla="*/ 1040 w 1237"/>
                    <a:gd name="T39" fmla="*/ 78 h 209"/>
                    <a:gd name="T40" fmla="*/ 1058 w 1237"/>
                    <a:gd name="T41" fmla="*/ 82 h 209"/>
                    <a:gd name="T42" fmla="*/ 1070 w 1237"/>
                    <a:gd name="T43" fmla="*/ 86 h 209"/>
                    <a:gd name="T44" fmla="*/ 1088 w 1237"/>
                    <a:gd name="T45" fmla="*/ 95 h 209"/>
                    <a:gd name="T46" fmla="*/ 1092 w 1237"/>
                    <a:gd name="T47" fmla="*/ 88 h 209"/>
                    <a:gd name="T48" fmla="*/ 1083 w 1237"/>
                    <a:gd name="T49" fmla="*/ 93 h 209"/>
                    <a:gd name="T50" fmla="*/ 1096 w 1237"/>
                    <a:gd name="T51" fmla="*/ 101 h 209"/>
                    <a:gd name="T52" fmla="*/ 1113 w 1237"/>
                    <a:gd name="T53" fmla="*/ 116 h 209"/>
                    <a:gd name="T54" fmla="*/ 1122 w 1237"/>
                    <a:gd name="T55" fmla="*/ 125 h 209"/>
                    <a:gd name="T56" fmla="*/ 1139 w 1237"/>
                    <a:gd name="T57" fmla="*/ 138 h 209"/>
                    <a:gd name="T58" fmla="*/ 1165 w 1237"/>
                    <a:gd name="T59" fmla="*/ 164 h 209"/>
                    <a:gd name="T60" fmla="*/ 1195 w 1237"/>
                    <a:gd name="T61" fmla="*/ 190 h 209"/>
                    <a:gd name="T62" fmla="*/ 1203 w 1237"/>
                    <a:gd name="T63" fmla="*/ 203 h 209"/>
                    <a:gd name="T64" fmla="*/ 1216 w 1237"/>
                    <a:gd name="T65" fmla="*/ 209 h 209"/>
                    <a:gd name="T66" fmla="*/ 1237 w 1237"/>
                    <a:gd name="T67" fmla="*/ 205 h 209"/>
                    <a:gd name="T68" fmla="*/ 1225 w 1237"/>
                    <a:gd name="T69" fmla="*/ 196 h 209"/>
                    <a:gd name="T70" fmla="*/ 1216 w 1237"/>
                    <a:gd name="T71" fmla="*/ 183 h 209"/>
                    <a:gd name="T72" fmla="*/ 1186 w 1237"/>
                    <a:gd name="T73" fmla="*/ 157 h 209"/>
                    <a:gd name="T74" fmla="*/ 1160 w 1237"/>
                    <a:gd name="T75" fmla="*/ 132 h 209"/>
                    <a:gd name="T76" fmla="*/ 1143 w 1237"/>
                    <a:gd name="T77" fmla="*/ 119 h 209"/>
                    <a:gd name="T78" fmla="*/ 1135 w 1237"/>
                    <a:gd name="T79" fmla="*/ 110 h 209"/>
                    <a:gd name="T80" fmla="*/ 1117 w 1237"/>
                    <a:gd name="T81" fmla="*/ 95 h 209"/>
                    <a:gd name="T82" fmla="*/ 1105 w 1237"/>
                    <a:gd name="T83" fmla="*/ 86 h 209"/>
                    <a:gd name="T84" fmla="*/ 1100 w 1237"/>
                    <a:gd name="T85" fmla="*/ 84 h 209"/>
                    <a:gd name="T86" fmla="*/ 1083 w 1237"/>
                    <a:gd name="T87" fmla="*/ 76 h 209"/>
                    <a:gd name="T88" fmla="*/ 1070 w 1237"/>
                    <a:gd name="T89" fmla="*/ 71 h 209"/>
                    <a:gd name="T90" fmla="*/ 1049 w 1237"/>
                    <a:gd name="T91" fmla="*/ 67 h 209"/>
                    <a:gd name="T92" fmla="*/ 1049 w 1237"/>
                    <a:gd name="T93" fmla="*/ 65 h 209"/>
                    <a:gd name="T94" fmla="*/ 1010 w 1237"/>
                    <a:gd name="T95" fmla="*/ 54 h 209"/>
                    <a:gd name="T96" fmla="*/ 989 w 1237"/>
                    <a:gd name="T97" fmla="*/ 45 h 209"/>
                    <a:gd name="T98" fmla="*/ 963 w 1237"/>
                    <a:gd name="T99" fmla="*/ 39 h 209"/>
                    <a:gd name="T100" fmla="*/ 959 w 1237"/>
                    <a:gd name="T101" fmla="*/ 37 h 209"/>
                    <a:gd name="T102" fmla="*/ 929 w 1237"/>
                    <a:gd name="T103" fmla="*/ 30 h 209"/>
                    <a:gd name="T104" fmla="*/ 890 w 1237"/>
                    <a:gd name="T105" fmla="*/ 24 h 209"/>
                    <a:gd name="T106" fmla="*/ 843 w 1237"/>
                    <a:gd name="T107" fmla="*/ 17 h 209"/>
                    <a:gd name="T108" fmla="*/ 783 w 1237"/>
                    <a:gd name="T109" fmla="*/ 13 h 209"/>
                    <a:gd name="T110" fmla="*/ 715 w 1237"/>
                    <a:gd name="T111" fmla="*/ 9 h 209"/>
                    <a:gd name="T112" fmla="*/ 634 w 1237"/>
                    <a:gd name="T113" fmla="*/ 7 h 209"/>
                    <a:gd name="T114" fmla="*/ 539 w 1237"/>
                    <a:gd name="T115" fmla="*/ 4 h 209"/>
                    <a:gd name="T116" fmla="*/ 441 w 1237"/>
                    <a:gd name="T117" fmla="*/ 2 h 209"/>
                    <a:gd name="T118" fmla="*/ 338 w 1237"/>
                    <a:gd name="T119" fmla="*/ 2 h 209"/>
                    <a:gd name="T120" fmla="*/ 227 w 1237"/>
                    <a:gd name="T121" fmla="*/ 0 h 209"/>
                    <a:gd name="T122" fmla="*/ 0 w 1237"/>
                    <a:gd name="T123" fmla="*/ 0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237" h="209">
                      <a:moveTo>
                        <a:pt x="0" y="0"/>
                      </a:moveTo>
                      <a:lnTo>
                        <a:pt x="0" y="13"/>
                      </a:lnTo>
                      <a:lnTo>
                        <a:pt x="222" y="13"/>
                      </a:lnTo>
                      <a:lnTo>
                        <a:pt x="334" y="15"/>
                      </a:lnTo>
                      <a:lnTo>
                        <a:pt x="436" y="15"/>
                      </a:lnTo>
                      <a:lnTo>
                        <a:pt x="535" y="17"/>
                      </a:lnTo>
                      <a:lnTo>
                        <a:pt x="629" y="20"/>
                      </a:lnTo>
                      <a:lnTo>
                        <a:pt x="711" y="22"/>
                      </a:lnTo>
                      <a:lnTo>
                        <a:pt x="783" y="26"/>
                      </a:lnTo>
                      <a:lnTo>
                        <a:pt x="839" y="30"/>
                      </a:lnTo>
                      <a:lnTo>
                        <a:pt x="886" y="37"/>
                      </a:lnTo>
                      <a:lnTo>
                        <a:pt x="925" y="43"/>
                      </a:lnTo>
                      <a:lnTo>
                        <a:pt x="955" y="50"/>
                      </a:lnTo>
                      <a:lnTo>
                        <a:pt x="955" y="43"/>
                      </a:lnTo>
                      <a:lnTo>
                        <a:pt x="950" y="50"/>
                      </a:lnTo>
                      <a:lnTo>
                        <a:pt x="976" y="56"/>
                      </a:lnTo>
                      <a:lnTo>
                        <a:pt x="998" y="65"/>
                      </a:lnTo>
                      <a:lnTo>
                        <a:pt x="1040" y="78"/>
                      </a:lnTo>
                      <a:lnTo>
                        <a:pt x="1045" y="71"/>
                      </a:lnTo>
                      <a:lnTo>
                        <a:pt x="1040" y="78"/>
                      </a:lnTo>
                      <a:lnTo>
                        <a:pt x="1058" y="82"/>
                      </a:lnTo>
                      <a:lnTo>
                        <a:pt x="1070" y="86"/>
                      </a:lnTo>
                      <a:lnTo>
                        <a:pt x="1088" y="95"/>
                      </a:lnTo>
                      <a:lnTo>
                        <a:pt x="1092" y="88"/>
                      </a:lnTo>
                      <a:lnTo>
                        <a:pt x="1083" y="93"/>
                      </a:lnTo>
                      <a:lnTo>
                        <a:pt x="1096" y="101"/>
                      </a:lnTo>
                      <a:lnTo>
                        <a:pt x="1113" y="116"/>
                      </a:lnTo>
                      <a:lnTo>
                        <a:pt x="1122" y="125"/>
                      </a:lnTo>
                      <a:lnTo>
                        <a:pt x="1139" y="138"/>
                      </a:lnTo>
                      <a:lnTo>
                        <a:pt x="1165" y="164"/>
                      </a:lnTo>
                      <a:lnTo>
                        <a:pt x="1195" y="190"/>
                      </a:lnTo>
                      <a:lnTo>
                        <a:pt x="1203" y="203"/>
                      </a:lnTo>
                      <a:lnTo>
                        <a:pt x="1216" y="209"/>
                      </a:lnTo>
                      <a:lnTo>
                        <a:pt x="1237" y="205"/>
                      </a:lnTo>
                      <a:lnTo>
                        <a:pt x="1225" y="196"/>
                      </a:lnTo>
                      <a:lnTo>
                        <a:pt x="1216" y="183"/>
                      </a:lnTo>
                      <a:lnTo>
                        <a:pt x="1186" y="157"/>
                      </a:lnTo>
                      <a:lnTo>
                        <a:pt x="1160" y="132"/>
                      </a:lnTo>
                      <a:lnTo>
                        <a:pt x="1143" y="119"/>
                      </a:lnTo>
                      <a:lnTo>
                        <a:pt x="1135" y="110"/>
                      </a:lnTo>
                      <a:lnTo>
                        <a:pt x="1117" y="95"/>
                      </a:lnTo>
                      <a:lnTo>
                        <a:pt x="1105" y="86"/>
                      </a:lnTo>
                      <a:lnTo>
                        <a:pt x="1100" y="84"/>
                      </a:lnTo>
                      <a:lnTo>
                        <a:pt x="1083" y="76"/>
                      </a:lnTo>
                      <a:lnTo>
                        <a:pt x="1070" y="71"/>
                      </a:lnTo>
                      <a:lnTo>
                        <a:pt x="1049" y="67"/>
                      </a:lnTo>
                      <a:lnTo>
                        <a:pt x="1049" y="65"/>
                      </a:lnTo>
                      <a:lnTo>
                        <a:pt x="1010" y="54"/>
                      </a:lnTo>
                      <a:lnTo>
                        <a:pt x="989" y="45"/>
                      </a:lnTo>
                      <a:lnTo>
                        <a:pt x="963" y="39"/>
                      </a:lnTo>
                      <a:lnTo>
                        <a:pt x="959" y="37"/>
                      </a:lnTo>
                      <a:lnTo>
                        <a:pt x="929" y="30"/>
                      </a:lnTo>
                      <a:lnTo>
                        <a:pt x="890" y="24"/>
                      </a:lnTo>
                      <a:lnTo>
                        <a:pt x="843" y="17"/>
                      </a:lnTo>
                      <a:lnTo>
                        <a:pt x="783" y="13"/>
                      </a:lnTo>
                      <a:lnTo>
                        <a:pt x="715" y="9"/>
                      </a:lnTo>
                      <a:lnTo>
                        <a:pt x="634" y="7"/>
                      </a:lnTo>
                      <a:lnTo>
                        <a:pt x="539" y="4"/>
                      </a:lnTo>
                      <a:lnTo>
                        <a:pt x="441" y="2"/>
                      </a:lnTo>
                      <a:lnTo>
                        <a:pt x="338" y="2"/>
                      </a:lnTo>
                      <a:lnTo>
                        <a:pt x="227" y="0"/>
                      </a:lnTo>
                      <a:lnTo>
                        <a:pt x="0"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7" name="组合 171129">
                <a:extLst>
                  <a:ext uri="{FF2B5EF4-FFF2-40B4-BE49-F238E27FC236}">
                    <a16:creationId xmlns:a16="http://schemas.microsoft.com/office/drawing/2014/main" xmlns="" id="{60729DDF-D56D-19CA-9529-409D729AD341}"/>
                  </a:ext>
                </a:extLst>
              </p:cNvPr>
              <p:cNvGrpSpPr>
                <a:grpSpLocks/>
              </p:cNvGrpSpPr>
              <p:nvPr/>
            </p:nvGrpSpPr>
            <p:grpSpPr bwMode="auto">
              <a:xfrm>
                <a:off x="608" y="1082"/>
                <a:ext cx="1310" cy="457"/>
                <a:chOff x="3141" y="2729"/>
                <a:chExt cx="1310" cy="457"/>
              </a:xfrm>
            </p:grpSpPr>
            <p:sp>
              <p:nvSpPr>
                <p:cNvPr id="28" name="任意多边形 171130">
                  <a:extLst>
                    <a:ext uri="{FF2B5EF4-FFF2-40B4-BE49-F238E27FC236}">
                      <a16:creationId xmlns:a16="http://schemas.microsoft.com/office/drawing/2014/main" xmlns="" id="{117721F4-ADA8-5705-7410-5FF5B98EF737}"/>
                    </a:ext>
                  </a:extLst>
                </p:cNvPr>
                <p:cNvSpPr>
                  <a:spLocks noChangeArrowheads="1"/>
                </p:cNvSpPr>
                <p:nvPr/>
              </p:nvSpPr>
              <p:spPr bwMode="auto">
                <a:xfrm>
                  <a:off x="3141" y="2970"/>
                  <a:ext cx="1310" cy="216"/>
                </a:xfrm>
                <a:custGeom>
                  <a:avLst/>
                  <a:gdLst>
                    <a:gd name="T0" fmla="*/ 0 w 1310"/>
                    <a:gd name="T1" fmla="*/ 0 h 216"/>
                    <a:gd name="T2" fmla="*/ 0 w 1310"/>
                    <a:gd name="T3" fmla="*/ 13 h 216"/>
                    <a:gd name="T4" fmla="*/ 235 w 1310"/>
                    <a:gd name="T5" fmla="*/ 15 h 216"/>
                    <a:gd name="T6" fmla="*/ 355 w 1310"/>
                    <a:gd name="T7" fmla="*/ 15 h 216"/>
                    <a:gd name="T8" fmla="*/ 466 w 1310"/>
                    <a:gd name="T9" fmla="*/ 17 h 216"/>
                    <a:gd name="T10" fmla="*/ 569 w 1310"/>
                    <a:gd name="T11" fmla="*/ 17 h 216"/>
                    <a:gd name="T12" fmla="*/ 668 w 1310"/>
                    <a:gd name="T13" fmla="*/ 20 h 216"/>
                    <a:gd name="T14" fmla="*/ 753 w 1310"/>
                    <a:gd name="T15" fmla="*/ 22 h 216"/>
                    <a:gd name="T16" fmla="*/ 831 w 1310"/>
                    <a:gd name="T17" fmla="*/ 26 h 216"/>
                    <a:gd name="T18" fmla="*/ 890 w 1310"/>
                    <a:gd name="T19" fmla="*/ 30 h 216"/>
                    <a:gd name="T20" fmla="*/ 942 w 1310"/>
                    <a:gd name="T21" fmla="*/ 37 h 216"/>
                    <a:gd name="T22" fmla="*/ 980 w 1310"/>
                    <a:gd name="T23" fmla="*/ 43 h 216"/>
                    <a:gd name="T24" fmla="*/ 1010 w 1310"/>
                    <a:gd name="T25" fmla="*/ 52 h 216"/>
                    <a:gd name="T26" fmla="*/ 1015 w 1310"/>
                    <a:gd name="T27" fmla="*/ 45 h 216"/>
                    <a:gd name="T28" fmla="*/ 1006 w 1310"/>
                    <a:gd name="T29" fmla="*/ 50 h 216"/>
                    <a:gd name="T30" fmla="*/ 1032 w 1310"/>
                    <a:gd name="T31" fmla="*/ 58 h 216"/>
                    <a:gd name="T32" fmla="*/ 1058 w 1310"/>
                    <a:gd name="T33" fmla="*/ 65 h 216"/>
                    <a:gd name="T34" fmla="*/ 1100 w 1310"/>
                    <a:gd name="T35" fmla="*/ 80 h 216"/>
                    <a:gd name="T36" fmla="*/ 1105 w 1310"/>
                    <a:gd name="T37" fmla="*/ 74 h 216"/>
                    <a:gd name="T38" fmla="*/ 1100 w 1310"/>
                    <a:gd name="T39" fmla="*/ 80 h 216"/>
                    <a:gd name="T40" fmla="*/ 1117 w 1310"/>
                    <a:gd name="T41" fmla="*/ 84 h 216"/>
                    <a:gd name="T42" fmla="*/ 1135 w 1310"/>
                    <a:gd name="T43" fmla="*/ 89 h 216"/>
                    <a:gd name="T44" fmla="*/ 1152 w 1310"/>
                    <a:gd name="T45" fmla="*/ 97 h 216"/>
                    <a:gd name="T46" fmla="*/ 1160 w 1310"/>
                    <a:gd name="T47" fmla="*/ 93 h 216"/>
                    <a:gd name="T48" fmla="*/ 1147 w 1310"/>
                    <a:gd name="T49" fmla="*/ 95 h 216"/>
                    <a:gd name="T50" fmla="*/ 1160 w 1310"/>
                    <a:gd name="T51" fmla="*/ 106 h 216"/>
                    <a:gd name="T52" fmla="*/ 1182 w 1310"/>
                    <a:gd name="T53" fmla="*/ 121 h 216"/>
                    <a:gd name="T54" fmla="*/ 1195 w 1310"/>
                    <a:gd name="T55" fmla="*/ 130 h 216"/>
                    <a:gd name="T56" fmla="*/ 1207 w 1310"/>
                    <a:gd name="T57" fmla="*/ 142 h 216"/>
                    <a:gd name="T58" fmla="*/ 1237 w 1310"/>
                    <a:gd name="T59" fmla="*/ 170 h 216"/>
                    <a:gd name="T60" fmla="*/ 1267 w 1310"/>
                    <a:gd name="T61" fmla="*/ 196 h 216"/>
                    <a:gd name="T62" fmla="*/ 1276 w 1310"/>
                    <a:gd name="T63" fmla="*/ 207 h 216"/>
                    <a:gd name="T64" fmla="*/ 1289 w 1310"/>
                    <a:gd name="T65" fmla="*/ 216 h 216"/>
                    <a:gd name="T66" fmla="*/ 1310 w 1310"/>
                    <a:gd name="T67" fmla="*/ 211 h 216"/>
                    <a:gd name="T68" fmla="*/ 1297 w 1310"/>
                    <a:gd name="T69" fmla="*/ 201 h 216"/>
                    <a:gd name="T70" fmla="*/ 1289 w 1310"/>
                    <a:gd name="T71" fmla="*/ 190 h 216"/>
                    <a:gd name="T72" fmla="*/ 1259 w 1310"/>
                    <a:gd name="T73" fmla="*/ 164 h 216"/>
                    <a:gd name="T74" fmla="*/ 1229 w 1310"/>
                    <a:gd name="T75" fmla="*/ 136 h 216"/>
                    <a:gd name="T76" fmla="*/ 1216 w 1310"/>
                    <a:gd name="T77" fmla="*/ 123 h 216"/>
                    <a:gd name="T78" fmla="*/ 1203 w 1310"/>
                    <a:gd name="T79" fmla="*/ 114 h 216"/>
                    <a:gd name="T80" fmla="*/ 1182 w 1310"/>
                    <a:gd name="T81" fmla="*/ 99 h 216"/>
                    <a:gd name="T82" fmla="*/ 1169 w 1310"/>
                    <a:gd name="T83" fmla="*/ 89 h 216"/>
                    <a:gd name="T84" fmla="*/ 1165 w 1310"/>
                    <a:gd name="T85" fmla="*/ 86 h 216"/>
                    <a:gd name="T86" fmla="*/ 1147 w 1310"/>
                    <a:gd name="T87" fmla="*/ 78 h 216"/>
                    <a:gd name="T88" fmla="*/ 1130 w 1310"/>
                    <a:gd name="T89" fmla="*/ 74 h 216"/>
                    <a:gd name="T90" fmla="*/ 1109 w 1310"/>
                    <a:gd name="T91" fmla="*/ 69 h 216"/>
                    <a:gd name="T92" fmla="*/ 1109 w 1310"/>
                    <a:gd name="T93" fmla="*/ 67 h 216"/>
                    <a:gd name="T94" fmla="*/ 1070 w 1310"/>
                    <a:gd name="T95" fmla="*/ 54 h 216"/>
                    <a:gd name="T96" fmla="*/ 1045 w 1310"/>
                    <a:gd name="T97" fmla="*/ 48 h 216"/>
                    <a:gd name="T98" fmla="*/ 1019 w 1310"/>
                    <a:gd name="T99" fmla="*/ 39 h 216"/>
                    <a:gd name="T100" fmla="*/ 1015 w 1310"/>
                    <a:gd name="T101" fmla="*/ 39 h 216"/>
                    <a:gd name="T102" fmla="*/ 985 w 1310"/>
                    <a:gd name="T103" fmla="*/ 30 h 216"/>
                    <a:gd name="T104" fmla="*/ 946 w 1310"/>
                    <a:gd name="T105" fmla="*/ 24 h 216"/>
                    <a:gd name="T106" fmla="*/ 895 w 1310"/>
                    <a:gd name="T107" fmla="*/ 17 h 216"/>
                    <a:gd name="T108" fmla="*/ 831 w 1310"/>
                    <a:gd name="T109" fmla="*/ 13 h 216"/>
                    <a:gd name="T110" fmla="*/ 758 w 1310"/>
                    <a:gd name="T111" fmla="*/ 9 h 216"/>
                    <a:gd name="T112" fmla="*/ 672 w 1310"/>
                    <a:gd name="T113" fmla="*/ 7 h 216"/>
                    <a:gd name="T114" fmla="*/ 574 w 1310"/>
                    <a:gd name="T115" fmla="*/ 5 h 216"/>
                    <a:gd name="T116" fmla="*/ 471 w 1310"/>
                    <a:gd name="T117" fmla="*/ 5 h 216"/>
                    <a:gd name="T118" fmla="*/ 359 w 1310"/>
                    <a:gd name="T119" fmla="*/ 2 h 216"/>
                    <a:gd name="T120" fmla="*/ 239 w 1310"/>
                    <a:gd name="T121" fmla="*/ 2 h 216"/>
                    <a:gd name="T122" fmla="*/ 0 w 1310"/>
                    <a:gd name="T123" fmla="*/ 0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310" h="216">
                      <a:moveTo>
                        <a:pt x="0" y="0"/>
                      </a:moveTo>
                      <a:lnTo>
                        <a:pt x="0" y="13"/>
                      </a:lnTo>
                      <a:lnTo>
                        <a:pt x="235" y="15"/>
                      </a:lnTo>
                      <a:lnTo>
                        <a:pt x="355" y="15"/>
                      </a:lnTo>
                      <a:lnTo>
                        <a:pt x="466" y="17"/>
                      </a:lnTo>
                      <a:lnTo>
                        <a:pt x="569" y="17"/>
                      </a:lnTo>
                      <a:lnTo>
                        <a:pt x="668" y="20"/>
                      </a:lnTo>
                      <a:lnTo>
                        <a:pt x="753" y="22"/>
                      </a:lnTo>
                      <a:lnTo>
                        <a:pt x="831" y="26"/>
                      </a:lnTo>
                      <a:lnTo>
                        <a:pt x="890" y="30"/>
                      </a:lnTo>
                      <a:lnTo>
                        <a:pt x="942" y="37"/>
                      </a:lnTo>
                      <a:lnTo>
                        <a:pt x="980" y="43"/>
                      </a:lnTo>
                      <a:lnTo>
                        <a:pt x="1010" y="52"/>
                      </a:lnTo>
                      <a:lnTo>
                        <a:pt x="1015" y="45"/>
                      </a:lnTo>
                      <a:lnTo>
                        <a:pt x="1006" y="50"/>
                      </a:lnTo>
                      <a:lnTo>
                        <a:pt x="1032" y="58"/>
                      </a:lnTo>
                      <a:lnTo>
                        <a:pt x="1058" y="65"/>
                      </a:lnTo>
                      <a:lnTo>
                        <a:pt x="1100" y="80"/>
                      </a:lnTo>
                      <a:lnTo>
                        <a:pt x="1105" y="74"/>
                      </a:lnTo>
                      <a:lnTo>
                        <a:pt x="1100" y="80"/>
                      </a:lnTo>
                      <a:lnTo>
                        <a:pt x="1117" y="84"/>
                      </a:lnTo>
                      <a:lnTo>
                        <a:pt x="1135" y="89"/>
                      </a:lnTo>
                      <a:lnTo>
                        <a:pt x="1152" y="97"/>
                      </a:lnTo>
                      <a:lnTo>
                        <a:pt x="1160" y="93"/>
                      </a:lnTo>
                      <a:lnTo>
                        <a:pt x="1147" y="95"/>
                      </a:lnTo>
                      <a:lnTo>
                        <a:pt x="1160" y="106"/>
                      </a:lnTo>
                      <a:lnTo>
                        <a:pt x="1182" y="121"/>
                      </a:lnTo>
                      <a:lnTo>
                        <a:pt x="1195" y="130"/>
                      </a:lnTo>
                      <a:lnTo>
                        <a:pt x="1207" y="142"/>
                      </a:lnTo>
                      <a:lnTo>
                        <a:pt x="1237" y="170"/>
                      </a:lnTo>
                      <a:lnTo>
                        <a:pt x="1267" y="196"/>
                      </a:lnTo>
                      <a:lnTo>
                        <a:pt x="1276" y="207"/>
                      </a:lnTo>
                      <a:lnTo>
                        <a:pt x="1289" y="216"/>
                      </a:lnTo>
                      <a:lnTo>
                        <a:pt x="1310" y="211"/>
                      </a:lnTo>
                      <a:lnTo>
                        <a:pt x="1297" y="201"/>
                      </a:lnTo>
                      <a:lnTo>
                        <a:pt x="1289" y="190"/>
                      </a:lnTo>
                      <a:lnTo>
                        <a:pt x="1259" y="164"/>
                      </a:lnTo>
                      <a:lnTo>
                        <a:pt x="1229" y="136"/>
                      </a:lnTo>
                      <a:lnTo>
                        <a:pt x="1216" y="123"/>
                      </a:lnTo>
                      <a:lnTo>
                        <a:pt x="1203" y="114"/>
                      </a:lnTo>
                      <a:lnTo>
                        <a:pt x="1182" y="99"/>
                      </a:lnTo>
                      <a:lnTo>
                        <a:pt x="1169" y="89"/>
                      </a:lnTo>
                      <a:lnTo>
                        <a:pt x="1165" y="86"/>
                      </a:lnTo>
                      <a:lnTo>
                        <a:pt x="1147" y="78"/>
                      </a:lnTo>
                      <a:lnTo>
                        <a:pt x="1130" y="74"/>
                      </a:lnTo>
                      <a:lnTo>
                        <a:pt x="1109" y="69"/>
                      </a:lnTo>
                      <a:lnTo>
                        <a:pt x="1109" y="67"/>
                      </a:lnTo>
                      <a:lnTo>
                        <a:pt x="1070" y="54"/>
                      </a:lnTo>
                      <a:lnTo>
                        <a:pt x="1045" y="48"/>
                      </a:lnTo>
                      <a:lnTo>
                        <a:pt x="1019" y="39"/>
                      </a:lnTo>
                      <a:lnTo>
                        <a:pt x="1015" y="39"/>
                      </a:lnTo>
                      <a:lnTo>
                        <a:pt x="985" y="30"/>
                      </a:lnTo>
                      <a:lnTo>
                        <a:pt x="946" y="24"/>
                      </a:lnTo>
                      <a:lnTo>
                        <a:pt x="895" y="17"/>
                      </a:lnTo>
                      <a:lnTo>
                        <a:pt x="831" y="13"/>
                      </a:lnTo>
                      <a:lnTo>
                        <a:pt x="758" y="9"/>
                      </a:lnTo>
                      <a:lnTo>
                        <a:pt x="672" y="7"/>
                      </a:lnTo>
                      <a:lnTo>
                        <a:pt x="574" y="5"/>
                      </a:lnTo>
                      <a:lnTo>
                        <a:pt x="471" y="5"/>
                      </a:lnTo>
                      <a:lnTo>
                        <a:pt x="359" y="2"/>
                      </a:lnTo>
                      <a:lnTo>
                        <a:pt x="239" y="2"/>
                      </a:lnTo>
                      <a:lnTo>
                        <a:pt x="0" y="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aphicFrame>
              <p:nvGraphicFramePr>
                <p:cNvPr id="29" name="对象 171131">
                  <a:extLst>
                    <a:ext uri="{FF2B5EF4-FFF2-40B4-BE49-F238E27FC236}">
                      <a16:creationId xmlns:a16="http://schemas.microsoft.com/office/drawing/2014/main" xmlns="" id="{7841549A-16A5-BED8-7708-CBD82B592F6C}"/>
                    </a:ext>
                  </a:extLst>
                </p:cNvPr>
                <p:cNvGraphicFramePr>
                  <a:graphicFrameLocks/>
                </p:cNvGraphicFramePr>
                <p:nvPr/>
              </p:nvGraphicFramePr>
              <p:xfrm>
                <a:off x="3182" y="2729"/>
                <a:ext cx="252" cy="227"/>
              </p:xfrm>
              <a:graphic>
                <a:graphicData uri="http://schemas.openxmlformats.org/presentationml/2006/ole">
                  <mc:AlternateContent xmlns:mc="http://schemas.openxmlformats.org/markup-compatibility/2006">
                    <mc:Choice xmlns:v="urn:schemas-microsoft-com:vml" Requires="v">
                      <p:oleObj spid="_x0000_s93472" r:id="rId15" imgW="253780" imgH="228402" progId="Equation.3">
                        <p:embed/>
                      </p:oleObj>
                    </mc:Choice>
                    <mc:Fallback>
                      <p:oleObj r:id="rId15" imgW="253780" imgH="228402" progId="Equation.3">
                        <p:embed/>
                        <p:pic>
                          <p:nvPicPr>
                            <p:cNvPr id="0" name=""/>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182" y="2729"/>
                              <a:ext cx="252" cy="227"/>
                            </a:xfrm>
                            <a:prstGeom prst="rect">
                              <a:avLst/>
                            </a:prstGeom>
                            <a:solidFill>
                              <a:srgbClr val="FFFFFF"/>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grpSp>
      </p:grpSp>
    </p:spTree>
    <p:extLst>
      <p:ext uri="{BB962C8B-B14F-4D97-AF65-F5344CB8AC3E}">
        <p14:creationId xmlns:p14="http://schemas.microsoft.com/office/powerpoint/2010/main" val="969184393"/>
      </p:ext>
    </p:extLst>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126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4.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谐振</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功率</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放大器</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矩形 4">
            <a:extLst>
              <a:ext uri="{FF2B5EF4-FFF2-40B4-BE49-F238E27FC236}">
                <a16:creationId xmlns:a16="http://schemas.microsoft.com/office/drawing/2014/main" xmlns="" id="{45EAE693-71E2-4A6B-C7C7-8D9EF7140218}"/>
              </a:ext>
            </a:extLst>
          </p:cNvPr>
          <p:cNvSpPr>
            <a:spLocks noChangeArrowheads="1"/>
          </p:cNvSpPr>
          <p:nvPr/>
        </p:nvSpPr>
        <p:spPr bwMode="auto">
          <a:xfrm>
            <a:off x="3981451" y="2042146"/>
            <a:ext cx="4824412" cy="2667000"/>
          </a:xfrm>
          <a:prstGeom prst="rect">
            <a:avLst/>
          </a:prstGeom>
          <a:solidFill>
            <a:srgbClr val="00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000">
              <a:solidFill>
                <a:schemeClr val="tx1"/>
              </a:solidFill>
              <a:latin typeface="+mn-ea"/>
              <a:ea typeface="+mn-ea"/>
            </a:endParaRPr>
          </a:p>
        </p:txBody>
      </p:sp>
      <p:grpSp>
        <p:nvGrpSpPr>
          <p:cNvPr id="6" name="组合 5">
            <a:extLst>
              <a:ext uri="{FF2B5EF4-FFF2-40B4-BE49-F238E27FC236}">
                <a16:creationId xmlns:a16="http://schemas.microsoft.com/office/drawing/2014/main" xmlns="" id="{F06A341C-AEBA-85FF-75F1-7C32380AFE17}"/>
              </a:ext>
            </a:extLst>
          </p:cNvPr>
          <p:cNvGrpSpPr>
            <a:grpSpLocks/>
          </p:cNvGrpSpPr>
          <p:nvPr/>
        </p:nvGrpSpPr>
        <p:grpSpPr bwMode="auto">
          <a:xfrm>
            <a:off x="5794377" y="2118346"/>
            <a:ext cx="2997865" cy="2209800"/>
            <a:chOff x="3792" y="528"/>
            <a:chExt cx="1548" cy="1392"/>
          </a:xfrm>
        </p:grpSpPr>
        <p:sp>
          <p:nvSpPr>
            <p:cNvPr id="7" name="直接连接符 160776">
              <a:extLst>
                <a:ext uri="{FF2B5EF4-FFF2-40B4-BE49-F238E27FC236}">
                  <a16:creationId xmlns:a16="http://schemas.microsoft.com/office/drawing/2014/main" xmlns="" id="{82FF6B4B-1567-8FC6-B1F7-E0E79A114D07}"/>
                </a:ext>
              </a:extLst>
            </p:cNvPr>
            <p:cNvSpPr>
              <a:spLocks noChangeShapeType="1"/>
            </p:cNvSpPr>
            <p:nvPr/>
          </p:nvSpPr>
          <p:spPr bwMode="auto">
            <a:xfrm flipV="1">
              <a:off x="3792" y="576"/>
              <a:ext cx="0" cy="134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000">
                <a:solidFill>
                  <a:schemeClr val="tx1"/>
                </a:solidFill>
                <a:latin typeface="+mn-ea"/>
                <a:ea typeface="+mn-ea"/>
              </a:endParaRPr>
            </a:p>
          </p:txBody>
        </p:sp>
        <p:sp>
          <p:nvSpPr>
            <p:cNvPr id="8" name="直接连接符 160777">
              <a:extLst>
                <a:ext uri="{FF2B5EF4-FFF2-40B4-BE49-F238E27FC236}">
                  <a16:creationId xmlns:a16="http://schemas.microsoft.com/office/drawing/2014/main" xmlns="" id="{6583BAA4-7986-D070-80E4-3F0EDF433DBF}"/>
                </a:ext>
              </a:extLst>
            </p:cNvPr>
            <p:cNvSpPr>
              <a:spLocks noChangeShapeType="1"/>
            </p:cNvSpPr>
            <p:nvPr/>
          </p:nvSpPr>
          <p:spPr bwMode="auto">
            <a:xfrm>
              <a:off x="3792" y="1872"/>
              <a:ext cx="148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000">
                <a:solidFill>
                  <a:schemeClr val="tx1"/>
                </a:solidFill>
                <a:latin typeface="+mn-ea"/>
                <a:ea typeface="+mn-ea"/>
              </a:endParaRPr>
            </a:p>
          </p:txBody>
        </p:sp>
        <p:sp>
          <p:nvSpPr>
            <p:cNvPr id="9" name="文本框 160778">
              <a:extLst>
                <a:ext uri="{FF2B5EF4-FFF2-40B4-BE49-F238E27FC236}">
                  <a16:creationId xmlns:a16="http://schemas.microsoft.com/office/drawing/2014/main" xmlns="" id="{2C9CDFBF-AA51-7721-BDE0-98A5A7BEAD21}"/>
                </a:ext>
              </a:extLst>
            </p:cNvPr>
            <p:cNvSpPr txBox="1">
              <a:spLocks noChangeArrowheads="1"/>
            </p:cNvSpPr>
            <p:nvPr/>
          </p:nvSpPr>
          <p:spPr bwMode="auto">
            <a:xfrm>
              <a:off x="5088" y="1632"/>
              <a:ext cx="25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i="1">
                  <a:solidFill>
                    <a:schemeClr val="tx1"/>
                  </a:solidFill>
                  <a:latin typeface="+mn-ea"/>
                  <a:ea typeface="+mn-ea"/>
                </a:rPr>
                <a:t>v</a:t>
              </a:r>
              <a:r>
                <a:rPr lang="en-US" altLang="zh-CN" sz="2000" baseline="-25000">
                  <a:solidFill>
                    <a:schemeClr val="tx1"/>
                  </a:solidFill>
                  <a:latin typeface="+mn-ea"/>
                  <a:ea typeface="+mn-ea"/>
                </a:rPr>
                <a:t>ce</a:t>
              </a:r>
              <a:endParaRPr lang="en-US" altLang="zh-CN" sz="2000">
                <a:solidFill>
                  <a:schemeClr val="tx1"/>
                </a:solidFill>
                <a:latin typeface="+mn-ea"/>
                <a:ea typeface="+mn-ea"/>
              </a:endParaRPr>
            </a:p>
          </p:txBody>
        </p:sp>
        <p:sp>
          <p:nvSpPr>
            <p:cNvPr id="10" name="文本框 160779">
              <a:extLst>
                <a:ext uri="{FF2B5EF4-FFF2-40B4-BE49-F238E27FC236}">
                  <a16:creationId xmlns:a16="http://schemas.microsoft.com/office/drawing/2014/main" xmlns="" id="{29717356-BDDE-7616-B21F-514D343139C2}"/>
                </a:ext>
              </a:extLst>
            </p:cNvPr>
            <p:cNvSpPr txBox="1">
              <a:spLocks noChangeArrowheads="1"/>
            </p:cNvSpPr>
            <p:nvPr/>
          </p:nvSpPr>
          <p:spPr bwMode="auto">
            <a:xfrm>
              <a:off x="3840" y="528"/>
              <a:ext cx="20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i="1">
                  <a:solidFill>
                    <a:schemeClr val="tx1"/>
                  </a:solidFill>
                  <a:latin typeface="+mn-ea"/>
                  <a:ea typeface="+mn-ea"/>
                </a:rPr>
                <a:t>i</a:t>
              </a:r>
              <a:r>
                <a:rPr lang="en-US" altLang="zh-CN" sz="2000" baseline="-25000">
                  <a:solidFill>
                    <a:schemeClr val="tx1"/>
                  </a:solidFill>
                  <a:latin typeface="+mn-ea"/>
                  <a:ea typeface="+mn-ea"/>
                </a:rPr>
                <a:t>C</a:t>
              </a:r>
              <a:endParaRPr lang="en-US" altLang="zh-CN" sz="2000">
                <a:solidFill>
                  <a:schemeClr val="tx1"/>
                </a:solidFill>
                <a:latin typeface="+mn-ea"/>
                <a:ea typeface="+mn-ea"/>
              </a:endParaRPr>
            </a:p>
          </p:txBody>
        </p:sp>
      </p:grpSp>
      <p:sp>
        <p:nvSpPr>
          <p:cNvPr id="11" name="直接连接符 10">
            <a:extLst>
              <a:ext uri="{FF2B5EF4-FFF2-40B4-BE49-F238E27FC236}">
                <a16:creationId xmlns:a16="http://schemas.microsoft.com/office/drawing/2014/main" xmlns="" id="{57C34A28-3E2E-78F2-E1B1-5267F3C031EC}"/>
              </a:ext>
            </a:extLst>
          </p:cNvPr>
          <p:cNvSpPr>
            <a:spLocks noChangeShapeType="1"/>
          </p:cNvSpPr>
          <p:nvPr/>
        </p:nvSpPr>
        <p:spPr bwMode="auto">
          <a:xfrm flipV="1">
            <a:off x="5794376" y="2118346"/>
            <a:ext cx="838200" cy="2133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000">
              <a:solidFill>
                <a:schemeClr val="tx1"/>
              </a:solidFill>
              <a:latin typeface="+mn-ea"/>
              <a:ea typeface="+mn-ea"/>
            </a:endParaRPr>
          </a:p>
        </p:txBody>
      </p:sp>
      <p:grpSp>
        <p:nvGrpSpPr>
          <p:cNvPr id="12" name="组合 11">
            <a:extLst>
              <a:ext uri="{FF2B5EF4-FFF2-40B4-BE49-F238E27FC236}">
                <a16:creationId xmlns:a16="http://schemas.microsoft.com/office/drawing/2014/main" xmlns="" id="{04B8D7E1-88E8-71A1-ECBA-F1B870BDDAA5}"/>
              </a:ext>
            </a:extLst>
          </p:cNvPr>
          <p:cNvGrpSpPr>
            <a:grpSpLocks/>
          </p:cNvGrpSpPr>
          <p:nvPr/>
        </p:nvGrpSpPr>
        <p:grpSpPr bwMode="auto">
          <a:xfrm>
            <a:off x="6346826" y="2270746"/>
            <a:ext cx="2266950" cy="574675"/>
            <a:chOff x="4150" y="576"/>
            <a:chExt cx="1428" cy="362"/>
          </a:xfrm>
        </p:grpSpPr>
        <p:sp>
          <p:nvSpPr>
            <p:cNvPr id="13" name="直接连接符 160782">
              <a:extLst>
                <a:ext uri="{FF2B5EF4-FFF2-40B4-BE49-F238E27FC236}">
                  <a16:creationId xmlns:a16="http://schemas.microsoft.com/office/drawing/2014/main" xmlns="" id="{CF20C8AE-24FE-DFB5-8306-D8A5EB43DFCB}"/>
                </a:ext>
              </a:extLst>
            </p:cNvPr>
            <p:cNvSpPr>
              <a:spLocks noChangeShapeType="1"/>
            </p:cNvSpPr>
            <p:nvPr/>
          </p:nvSpPr>
          <p:spPr bwMode="auto">
            <a:xfrm flipV="1">
              <a:off x="4150" y="698"/>
              <a:ext cx="1056"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000">
                <a:solidFill>
                  <a:schemeClr val="tx1"/>
                </a:solidFill>
                <a:latin typeface="+mn-ea"/>
                <a:ea typeface="+mn-ea"/>
              </a:endParaRPr>
            </a:p>
          </p:txBody>
        </p:sp>
        <p:sp>
          <p:nvSpPr>
            <p:cNvPr id="14" name="文本框 160783">
              <a:extLst>
                <a:ext uri="{FF2B5EF4-FFF2-40B4-BE49-F238E27FC236}">
                  <a16:creationId xmlns:a16="http://schemas.microsoft.com/office/drawing/2014/main" xmlns="" id="{23DE4A58-947C-3795-FB25-654BF3678876}"/>
                </a:ext>
              </a:extLst>
            </p:cNvPr>
            <p:cNvSpPr txBox="1">
              <a:spLocks noChangeArrowheads="1"/>
            </p:cNvSpPr>
            <p:nvPr/>
          </p:nvSpPr>
          <p:spPr bwMode="auto">
            <a:xfrm>
              <a:off x="5088" y="576"/>
              <a:ext cx="49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000" i="1">
                  <a:solidFill>
                    <a:schemeClr val="tx1"/>
                  </a:solidFill>
                  <a:latin typeface="+mn-ea"/>
                  <a:ea typeface="+mn-ea"/>
                </a:rPr>
                <a:t>v</a:t>
              </a:r>
              <a:r>
                <a:rPr lang="en-US" altLang="zh-CN" sz="2000" baseline="-25000">
                  <a:solidFill>
                    <a:schemeClr val="tx1"/>
                  </a:solidFill>
                  <a:latin typeface="+mn-ea"/>
                  <a:ea typeface="+mn-ea"/>
                </a:rPr>
                <a:t>bemax</a:t>
              </a:r>
              <a:endParaRPr lang="en-US" altLang="zh-CN" sz="2000">
                <a:solidFill>
                  <a:schemeClr val="tx1"/>
                </a:solidFill>
                <a:latin typeface="+mn-ea"/>
                <a:ea typeface="+mn-ea"/>
              </a:endParaRPr>
            </a:p>
          </p:txBody>
        </p:sp>
      </p:grpSp>
      <p:grpSp>
        <p:nvGrpSpPr>
          <p:cNvPr id="15" name="组合 14">
            <a:extLst>
              <a:ext uri="{FF2B5EF4-FFF2-40B4-BE49-F238E27FC236}">
                <a16:creationId xmlns:a16="http://schemas.microsoft.com/office/drawing/2014/main" xmlns="" id="{7FD68BA8-A760-E1A6-4881-2C4BFCBA6CF7}"/>
              </a:ext>
            </a:extLst>
          </p:cNvPr>
          <p:cNvGrpSpPr>
            <a:grpSpLocks/>
          </p:cNvGrpSpPr>
          <p:nvPr/>
        </p:nvGrpSpPr>
        <p:grpSpPr bwMode="auto">
          <a:xfrm>
            <a:off x="5794376" y="2575546"/>
            <a:ext cx="1752600" cy="1676400"/>
            <a:chOff x="3792" y="768"/>
            <a:chExt cx="1104" cy="1104"/>
          </a:xfrm>
        </p:grpSpPr>
        <p:sp>
          <p:nvSpPr>
            <p:cNvPr id="16" name="任意多边形 160785">
              <a:extLst>
                <a:ext uri="{FF2B5EF4-FFF2-40B4-BE49-F238E27FC236}">
                  <a16:creationId xmlns:a16="http://schemas.microsoft.com/office/drawing/2014/main" xmlns="" id="{BB9E9DE7-1DD1-9D14-B0BD-C018302E1D01}"/>
                </a:ext>
              </a:extLst>
            </p:cNvPr>
            <p:cNvSpPr>
              <a:spLocks noChangeArrowheads="1"/>
            </p:cNvSpPr>
            <p:nvPr/>
          </p:nvSpPr>
          <p:spPr bwMode="auto">
            <a:xfrm>
              <a:off x="3792" y="912"/>
              <a:ext cx="480" cy="960"/>
            </a:xfrm>
            <a:custGeom>
              <a:avLst/>
              <a:gdLst>
                <a:gd name="T0" fmla="*/ 0 w 480"/>
                <a:gd name="T1" fmla="*/ 912 h 912"/>
                <a:gd name="T2" fmla="*/ 288 w 480"/>
                <a:gd name="T3" fmla="*/ 192 h 912"/>
                <a:gd name="T4" fmla="*/ 480 w 480"/>
                <a:gd name="T5" fmla="*/ 0 h 912"/>
              </a:gdLst>
              <a:ahLst/>
              <a:cxnLst>
                <a:cxn ang="0">
                  <a:pos x="T0" y="T1"/>
                </a:cxn>
                <a:cxn ang="0">
                  <a:pos x="T2" y="T3"/>
                </a:cxn>
                <a:cxn ang="0">
                  <a:pos x="T4" y="T5"/>
                </a:cxn>
              </a:cxnLst>
              <a:rect l="0" t="0" r="r" b="b"/>
              <a:pathLst>
                <a:path w="480" h="912">
                  <a:moveTo>
                    <a:pt x="0" y="912"/>
                  </a:moveTo>
                  <a:cubicBezTo>
                    <a:pt x="104" y="628"/>
                    <a:pt x="208" y="344"/>
                    <a:pt x="288" y="192"/>
                  </a:cubicBezTo>
                  <a:cubicBezTo>
                    <a:pt x="368" y="40"/>
                    <a:pt x="424" y="20"/>
                    <a:pt x="480" y="0"/>
                  </a:cubicBezTo>
                </a:path>
              </a:pathLst>
            </a:custGeom>
            <a:noFill/>
            <a:ln w="19050">
              <a:solidFill>
                <a:srgbClr val="FF505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2000">
                <a:solidFill>
                  <a:schemeClr val="tx1"/>
                </a:solidFill>
                <a:latin typeface="+mn-ea"/>
                <a:ea typeface="+mn-ea"/>
              </a:endParaRPr>
            </a:p>
          </p:txBody>
        </p:sp>
        <p:sp>
          <p:nvSpPr>
            <p:cNvPr id="17" name="直接连接符 160786">
              <a:extLst>
                <a:ext uri="{FF2B5EF4-FFF2-40B4-BE49-F238E27FC236}">
                  <a16:creationId xmlns:a16="http://schemas.microsoft.com/office/drawing/2014/main" xmlns="" id="{CBCB9726-89A9-2A24-A146-36A19966A9F6}"/>
                </a:ext>
              </a:extLst>
            </p:cNvPr>
            <p:cNvSpPr>
              <a:spLocks noChangeShapeType="1"/>
            </p:cNvSpPr>
            <p:nvPr/>
          </p:nvSpPr>
          <p:spPr bwMode="auto">
            <a:xfrm flipV="1">
              <a:off x="4272" y="768"/>
              <a:ext cx="624" cy="144"/>
            </a:xfrm>
            <a:prstGeom prst="line">
              <a:avLst/>
            </a:prstGeom>
            <a:noFill/>
            <a:ln w="19050">
              <a:solidFill>
                <a:srgbClr val="FF5050"/>
              </a:solidFill>
              <a:round/>
              <a:headEnd/>
              <a:tailEnd/>
            </a:ln>
            <a:extLst>
              <a:ext uri="{909E8E84-426E-40DD-AFC4-6F175D3DCCD1}">
                <a14:hiddenFill xmlns:a14="http://schemas.microsoft.com/office/drawing/2010/main">
                  <a:noFill/>
                </a14:hiddenFill>
              </a:ext>
            </a:extLst>
          </p:spPr>
          <p:txBody>
            <a:bodyPr/>
            <a:lstStyle/>
            <a:p>
              <a:endParaRPr lang="zh-CN" altLang="en-US" sz="2000">
                <a:solidFill>
                  <a:schemeClr val="tx1"/>
                </a:solidFill>
                <a:latin typeface="+mn-ea"/>
                <a:ea typeface="+mn-ea"/>
              </a:endParaRPr>
            </a:p>
          </p:txBody>
        </p:sp>
      </p:grpSp>
      <p:grpSp>
        <p:nvGrpSpPr>
          <p:cNvPr id="18" name="组合 17">
            <a:extLst>
              <a:ext uri="{FF2B5EF4-FFF2-40B4-BE49-F238E27FC236}">
                <a16:creationId xmlns:a16="http://schemas.microsoft.com/office/drawing/2014/main" xmlns="" id="{3B14E3AE-E481-9A0E-4FC4-C075A06456E2}"/>
              </a:ext>
            </a:extLst>
          </p:cNvPr>
          <p:cNvGrpSpPr>
            <a:grpSpLocks/>
          </p:cNvGrpSpPr>
          <p:nvPr/>
        </p:nvGrpSpPr>
        <p:grpSpPr bwMode="auto">
          <a:xfrm>
            <a:off x="5864225" y="2194546"/>
            <a:ext cx="1986428" cy="2444852"/>
            <a:chOff x="3792" y="720"/>
            <a:chExt cx="1299" cy="1492"/>
          </a:xfrm>
        </p:grpSpPr>
        <p:sp>
          <p:nvSpPr>
            <p:cNvPr id="19" name="直接连接符 160788">
              <a:extLst>
                <a:ext uri="{FF2B5EF4-FFF2-40B4-BE49-F238E27FC236}">
                  <a16:creationId xmlns:a16="http://schemas.microsoft.com/office/drawing/2014/main" xmlns="" id="{F3DD9D29-33EA-13D0-3104-FABBB29A8B1E}"/>
                </a:ext>
              </a:extLst>
            </p:cNvPr>
            <p:cNvSpPr>
              <a:spLocks noChangeShapeType="1"/>
            </p:cNvSpPr>
            <p:nvPr/>
          </p:nvSpPr>
          <p:spPr bwMode="auto">
            <a:xfrm>
              <a:off x="3792" y="720"/>
              <a:ext cx="1104" cy="13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000">
                <a:solidFill>
                  <a:schemeClr val="tx1"/>
                </a:solidFill>
                <a:latin typeface="+mn-ea"/>
                <a:ea typeface="+mn-ea"/>
              </a:endParaRPr>
            </a:p>
          </p:txBody>
        </p:sp>
        <p:sp>
          <p:nvSpPr>
            <p:cNvPr id="20" name="直接连接符 160789">
              <a:extLst>
                <a:ext uri="{FF2B5EF4-FFF2-40B4-BE49-F238E27FC236}">
                  <a16:creationId xmlns:a16="http://schemas.microsoft.com/office/drawing/2014/main" xmlns="" id="{EF95D1D4-54DD-BDB7-F0C5-245424C6DF0E}"/>
                </a:ext>
              </a:extLst>
            </p:cNvPr>
            <p:cNvSpPr>
              <a:spLocks noChangeShapeType="1"/>
            </p:cNvSpPr>
            <p:nvPr/>
          </p:nvSpPr>
          <p:spPr bwMode="auto">
            <a:xfrm>
              <a:off x="4896" y="1776"/>
              <a:ext cx="0" cy="384"/>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2000">
                <a:solidFill>
                  <a:schemeClr val="tx1"/>
                </a:solidFill>
                <a:latin typeface="+mn-ea"/>
                <a:ea typeface="+mn-ea"/>
              </a:endParaRPr>
            </a:p>
          </p:txBody>
        </p:sp>
        <p:sp>
          <p:nvSpPr>
            <p:cNvPr id="21" name="文本框 160790">
              <a:extLst>
                <a:ext uri="{FF2B5EF4-FFF2-40B4-BE49-F238E27FC236}">
                  <a16:creationId xmlns:a16="http://schemas.microsoft.com/office/drawing/2014/main" xmlns="" id="{B6F15C45-2984-F7CD-DFEF-1AF67DCA89A5}"/>
                </a:ext>
              </a:extLst>
            </p:cNvPr>
            <p:cNvSpPr txBox="1">
              <a:spLocks noChangeArrowheads="1"/>
            </p:cNvSpPr>
            <p:nvPr/>
          </p:nvSpPr>
          <p:spPr bwMode="auto">
            <a:xfrm>
              <a:off x="4800" y="1968"/>
              <a:ext cx="291"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i="1">
                  <a:solidFill>
                    <a:schemeClr val="tx1"/>
                  </a:solidFill>
                  <a:latin typeface="+mn-ea"/>
                  <a:ea typeface="+mn-ea"/>
                </a:rPr>
                <a:t>•Q</a:t>
              </a:r>
            </a:p>
          </p:txBody>
        </p:sp>
        <p:sp>
          <p:nvSpPr>
            <p:cNvPr id="22" name="文本框 160791">
              <a:extLst>
                <a:ext uri="{FF2B5EF4-FFF2-40B4-BE49-F238E27FC236}">
                  <a16:creationId xmlns:a16="http://schemas.microsoft.com/office/drawing/2014/main" xmlns="" id="{EC989531-97F4-EB9D-740C-8A4ABC51DE0A}"/>
                </a:ext>
              </a:extLst>
            </p:cNvPr>
            <p:cNvSpPr txBox="1">
              <a:spLocks noChangeArrowheads="1"/>
            </p:cNvSpPr>
            <p:nvPr/>
          </p:nvSpPr>
          <p:spPr bwMode="auto">
            <a:xfrm>
              <a:off x="4705" y="1632"/>
              <a:ext cx="319"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i="1">
                  <a:solidFill>
                    <a:schemeClr val="tx1"/>
                  </a:solidFill>
                  <a:latin typeface="+mn-ea"/>
                  <a:ea typeface="+mn-ea"/>
                </a:rPr>
                <a:t>V</a:t>
              </a:r>
              <a:r>
                <a:rPr lang="en-US" altLang="zh-CN" sz="2000" baseline="-25000">
                  <a:solidFill>
                    <a:schemeClr val="tx1"/>
                  </a:solidFill>
                  <a:latin typeface="+mn-ea"/>
                  <a:ea typeface="+mn-ea"/>
                </a:rPr>
                <a:t>CC</a:t>
              </a:r>
              <a:endParaRPr lang="en-US" altLang="zh-CN" sz="2000">
                <a:solidFill>
                  <a:schemeClr val="tx1"/>
                </a:solidFill>
                <a:latin typeface="+mn-ea"/>
                <a:ea typeface="+mn-ea"/>
              </a:endParaRPr>
            </a:p>
          </p:txBody>
        </p:sp>
      </p:grpSp>
      <p:grpSp>
        <p:nvGrpSpPr>
          <p:cNvPr id="23" name="组合 22">
            <a:extLst>
              <a:ext uri="{FF2B5EF4-FFF2-40B4-BE49-F238E27FC236}">
                <a16:creationId xmlns:a16="http://schemas.microsoft.com/office/drawing/2014/main" xmlns="" id="{88FF2E42-BB82-6F72-72C7-F119FC2FF4FA}"/>
              </a:ext>
            </a:extLst>
          </p:cNvPr>
          <p:cNvGrpSpPr>
            <a:grpSpLocks/>
          </p:cNvGrpSpPr>
          <p:nvPr/>
        </p:nvGrpSpPr>
        <p:grpSpPr bwMode="auto">
          <a:xfrm>
            <a:off x="4498974" y="2651745"/>
            <a:ext cx="2030411" cy="400049"/>
            <a:chOff x="3047" y="720"/>
            <a:chExt cx="1279" cy="252"/>
          </a:xfrm>
        </p:grpSpPr>
        <p:sp>
          <p:nvSpPr>
            <p:cNvPr id="24" name="直接连接符 160793">
              <a:extLst>
                <a:ext uri="{FF2B5EF4-FFF2-40B4-BE49-F238E27FC236}">
                  <a16:creationId xmlns:a16="http://schemas.microsoft.com/office/drawing/2014/main" xmlns="" id="{EAA2E561-17E8-8041-6325-9579924D2DB2}"/>
                </a:ext>
              </a:extLst>
            </p:cNvPr>
            <p:cNvSpPr>
              <a:spLocks noChangeShapeType="1"/>
            </p:cNvSpPr>
            <p:nvPr/>
          </p:nvSpPr>
          <p:spPr bwMode="auto">
            <a:xfrm flipH="1">
              <a:off x="3047" y="838"/>
              <a:ext cx="1152"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2000">
                <a:solidFill>
                  <a:schemeClr val="tx1"/>
                </a:solidFill>
                <a:latin typeface="+mn-ea"/>
                <a:ea typeface="+mn-ea"/>
              </a:endParaRPr>
            </a:p>
          </p:txBody>
        </p:sp>
        <p:sp>
          <p:nvSpPr>
            <p:cNvPr id="25" name="文本框 160794">
              <a:extLst>
                <a:ext uri="{FF2B5EF4-FFF2-40B4-BE49-F238E27FC236}">
                  <a16:creationId xmlns:a16="http://schemas.microsoft.com/office/drawing/2014/main" xmlns="" id="{F1812103-32A6-043C-175B-4CE353FDD3E7}"/>
                </a:ext>
              </a:extLst>
            </p:cNvPr>
            <p:cNvSpPr txBox="1">
              <a:spLocks noChangeArrowheads="1"/>
            </p:cNvSpPr>
            <p:nvPr/>
          </p:nvSpPr>
          <p:spPr bwMode="auto">
            <a:xfrm>
              <a:off x="4128" y="720"/>
              <a:ext cx="19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i="1">
                  <a:solidFill>
                    <a:schemeClr val="tx1"/>
                  </a:solidFill>
                  <a:latin typeface="+mn-ea"/>
                  <a:ea typeface="+mn-ea"/>
                </a:rPr>
                <a:t>•</a:t>
              </a:r>
            </a:p>
          </p:txBody>
        </p:sp>
      </p:grpSp>
      <p:grpSp>
        <p:nvGrpSpPr>
          <p:cNvPr id="26" name="组合 25">
            <a:extLst>
              <a:ext uri="{FF2B5EF4-FFF2-40B4-BE49-F238E27FC236}">
                <a16:creationId xmlns:a16="http://schemas.microsoft.com/office/drawing/2014/main" xmlns="" id="{C43AB313-939D-12C5-425C-BCBF8FBBEAE2}"/>
              </a:ext>
            </a:extLst>
          </p:cNvPr>
          <p:cNvGrpSpPr>
            <a:grpSpLocks/>
          </p:cNvGrpSpPr>
          <p:nvPr/>
        </p:nvGrpSpPr>
        <p:grpSpPr bwMode="auto">
          <a:xfrm>
            <a:off x="6367462" y="2194546"/>
            <a:ext cx="1986429" cy="2444852"/>
            <a:chOff x="3792" y="720"/>
            <a:chExt cx="1299" cy="1492"/>
          </a:xfrm>
        </p:grpSpPr>
        <p:sp>
          <p:nvSpPr>
            <p:cNvPr id="27" name="直接连接符 160796">
              <a:extLst>
                <a:ext uri="{FF2B5EF4-FFF2-40B4-BE49-F238E27FC236}">
                  <a16:creationId xmlns:a16="http://schemas.microsoft.com/office/drawing/2014/main" xmlns="" id="{FF3B8726-3A3E-A640-15BE-062ED0F0A8E3}"/>
                </a:ext>
              </a:extLst>
            </p:cNvPr>
            <p:cNvSpPr>
              <a:spLocks noChangeShapeType="1"/>
            </p:cNvSpPr>
            <p:nvPr/>
          </p:nvSpPr>
          <p:spPr bwMode="auto">
            <a:xfrm>
              <a:off x="3792" y="720"/>
              <a:ext cx="1104" cy="13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000">
                <a:solidFill>
                  <a:schemeClr val="tx1"/>
                </a:solidFill>
                <a:latin typeface="+mn-ea"/>
                <a:ea typeface="+mn-ea"/>
              </a:endParaRPr>
            </a:p>
          </p:txBody>
        </p:sp>
        <p:sp>
          <p:nvSpPr>
            <p:cNvPr id="28" name="直接连接符 160797">
              <a:extLst>
                <a:ext uri="{FF2B5EF4-FFF2-40B4-BE49-F238E27FC236}">
                  <a16:creationId xmlns:a16="http://schemas.microsoft.com/office/drawing/2014/main" xmlns="" id="{42C13221-DFE6-8828-E7DC-FBFCC762126B}"/>
                </a:ext>
              </a:extLst>
            </p:cNvPr>
            <p:cNvSpPr>
              <a:spLocks noChangeShapeType="1"/>
            </p:cNvSpPr>
            <p:nvPr/>
          </p:nvSpPr>
          <p:spPr bwMode="auto">
            <a:xfrm>
              <a:off x="4896" y="1776"/>
              <a:ext cx="0" cy="384"/>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2000">
                <a:solidFill>
                  <a:schemeClr val="tx1"/>
                </a:solidFill>
                <a:latin typeface="+mn-ea"/>
                <a:ea typeface="+mn-ea"/>
              </a:endParaRPr>
            </a:p>
          </p:txBody>
        </p:sp>
        <p:sp>
          <p:nvSpPr>
            <p:cNvPr id="29" name="文本框 160798">
              <a:extLst>
                <a:ext uri="{FF2B5EF4-FFF2-40B4-BE49-F238E27FC236}">
                  <a16:creationId xmlns:a16="http://schemas.microsoft.com/office/drawing/2014/main" xmlns="" id="{B19DE45B-BEA8-65A3-24FF-A9F8F46073EE}"/>
                </a:ext>
              </a:extLst>
            </p:cNvPr>
            <p:cNvSpPr txBox="1">
              <a:spLocks noChangeArrowheads="1"/>
            </p:cNvSpPr>
            <p:nvPr/>
          </p:nvSpPr>
          <p:spPr bwMode="auto">
            <a:xfrm>
              <a:off x="4800" y="1968"/>
              <a:ext cx="291"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i="1">
                  <a:solidFill>
                    <a:schemeClr val="tx1"/>
                  </a:solidFill>
                  <a:latin typeface="+mn-ea"/>
                  <a:ea typeface="+mn-ea"/>
                </a:rPr>
                <a:t>•Q</a:t>
              </a:r>
            </a:p>
          </p:txBody>
        </p:sp>
        <p:sp>
          <p:nvSpPr>
            <p:cNvPr id="30" name="文本框 160799">
              <a:extLst>
                <a:ext uri="{FF2B5EF4-FFF2-40B4-BE49-F238E27FC236}">
                  <a16:creationId xmlns:a16="http://schemas.microsoft.com/office/drawing/2014/main" xmlns="" id="{C54D4F69-98A5-71F3-6231-6063B02D54D5}"/>
                </a:ext>
              </a:extLst>
            </p:cNvPr>
            <p:cNvSpPr txBox="1">
              <a:spLocks noChangeArrowheads="1"/>
            </p:cNvSpPr>
            <p:nvPr/>
          </p:nvSpPr>
          <p:spPr bwMode="auto">
            <a:xfrm>
              <a:off x="4705" y="1632"/>
              <a:ext cx="319"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i="1">
                  <a:solidFill>
                    <a:schemeClr val="tx1"/>
                  </a:solidFill>
                  <a:latin typeface="+mn-ea"/>
                  <a:ea typeface="+mn-ea"/>
                </a:rPr>
                <a:t>V</a:t>
              </a:r>
              <a:r>
                <a:rPr lang="en-US" altLang="zh-CN" sz="2000" baseline="-25000">
                  <a:solidFill>
                    <a:schemeClr val="tx1"/>
                  </a:solidFill>
                  <a:latin typeface="+mn-ea"/>
                  <a:ea typeface="+mn-ea"/>
                </a:rPr>
                <a:t>CC</a:t>
              </a:r>
              <a:endParaRPr lang="en-US" altLang="zh-CN" sz="2000">
                <a:solidFill>
                  <a:schemeClr val="tx1"/>
                </a:solidFill>
                <a:latin typeface="+mn-ea"/>
                <a:ea typeface="+mn-ea"/>
              </a:endParaRPr>
            </a:p>
          </p:txBody>
        </p:sp>
      </p:grpSp>
      <p:grpSp>
        <p:nvGrpSpPr>
          <p:cNvPr id="31" name="组合 30">
            <a:extLst>
              <a:ext uri="{FF2B5EF4-FFF2-40B4-BE49-F238E27FC236}">
                <a16:creationId xmlns:a16="http://schemas.microsoft.com/office/drawing/2014/main" xmlns="" id="{0E019F18-5A94-8737-FC1D-383A7485AB63}"/>
              </a:ext>
            </a:extLst>
          </p:cNvPr>
          <p:cNvGrpSpPr>
            <a:grpSpLocks/>
          </p:cNvGrpSpPr>
          <p:nvPr/>
        </p:nvGrpSpPr>
        <p:grpSpPr bwMode="auto">
          <a:xfrm>
            <a:off x="5453062" y="2194546"/>
            <a:ext cx="1986429" cy="2444852"/>
            <a:chOff x="3792" y="720"/>
            <a:chExt cx="1299" cy="1492"/>
          </a:xfrm>
        </p:grpSpPr>
        <p:sp>
          <p:nvSpPr>
            <p:cNvPr id="32" name="直接连接符 160801">
              <a:extLst>
                <a:ext uri="{FF2B5EF4-FFF2-40B4-BE49-F238E27FC236}">
                  <a16:creationId xmlns:a16="http://schemas.microsoft.com/office/drawing/2014/main" xmlns="" id="{25BAF43D-8D46-D89C-B75D-AEABD576A028}"/>
                </a:ext>
              </a:extLst>
            </p:cNvPr>
            <p:cNvSpPr>
              <a:spLocks noChangeShapeType="1"/>
            </p:cNvSpPr>
            <p:nvPr/>
          </p:nvSpPr>
          <p:spPr bwMode="auto">
            <a:xfrm>
              <a:off x="3792" y="720"/>
              <a:ext cx="1104" cy="13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000">
                <a:solidFill>
                  <a:schemeClr val="tx1"/>
                </a:solidFill>
                <a:latin typeface="+mn-ea"/>
                <a:ea typeface="+mn-ea"/>
              </a:endParaRPr>
            </a:p>
          </p:txBody>
        </p:sp>
        <p:sp>
          <p:nvSpPr>
            <p:cNvPr id="33" name="直接连接符 160802">
              <a:extLst>
                <a:ext uri="{FF2B5EF4-FFF2-40B4-BE49-F238E27FC236}">
                  <a16:creationId xmlns:a16="http://schemas.microsoft.com/office/drawing/2014/main" xmlns="" id="{1D3B4A26-E589-8E9C-71F8-A7A53E6EB503}"/>
                </a:ext>
              </a:extLst>
            </p:cNvPr>
            <p:cNvSpPr>
              <a:spLocks noChangeShapeType="1"/>
            </p:cNvSpPr>
            <p:nvPr/>
          </p:nvSpPr>
          <p:spPr bwMode="auto">
            <a:xfrm>
              <a:off x="4896" y="1776"/>
              <a:ext cx="0" cy="384"/>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2000">
                <a:solidFill>
                  <a:schemeClr val="tx1"/>
                </a:solidFill>
                <a:latin typeface="+mn-ea"/>
                <a:ea typeface="+mn-ea"/>
              </a:endParaRPr>
            </a:p>
          </p:txBody>
        </p:sp>
        <p:sp>
          <p:nvSpPr>
            <p:cNvPr id="34" name="文本框 160803">
              <a:extLst>
                <a:ext uri="{FF2B5EF4-FFF2-40B4-BE49-F238E27FC236}">
                  <a16:creationId xmlns:a16="http://schemas.microsoft.com/office/drawing/2014/main" xmlns="" id="{9E512A60-4CAD-AB49-406D-5AA6E6490ABD}"/>
                </a:ext>
              </a:extLst>
            </p:cNvPr>
            <p:cNvSpPr txBox="1">
              <a:spLocks noChangeArrowheads="1"/>
            </p:cNvSpPr>
            <p:nvPr/>
          </p:nvSpPr>
          <p:spPr bwMode="auto">
            <a:xfrm>
              <a:off x="4800" y="1968"/>
              <a:ext cx="291"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i="1">
                  <a:solidFill>
                    <a:schemeClr val="tx1"/>
                  </a:solidFill>
                  <a:latin typeface="+mn-ea"/>
                  <a:ea typeface="+mn-ea"/>
                </a:rPr>
                <a:t>•Q</a:t>
              </a:r>
            </a:p>
          </p:txBody>
        </p:sp>
        <p:sp>
          <p:nvSpPr>
            <p:cNvPr id="35" name="文本框 160804">
              <a:extLst>
                <a:ext uri="{FF2B5EF4-FFF2-40B4-BE49-F238E27FC236}">
                  <a16:creationId xmlns:a16="http://schemas.microsoft.com/office/drawing/2014/main" xmlns="" id="{325FC802-B489-272B-D94A-67F2FFE714C7}"/>
                </a:ext>
              </a:extLst>
            </p:cNvPr>
            <p:cNvSpPr txBox="1">
              <a:spLocks noChangeArrowheads="1"/>
            </p:cNvSpPr>
            <p:nvPr/>
          </p:nvSpPr>
          <p:spPr bwMode="auto">
            <a:xfrm>
              <a:off x="4705" y="1632"/>
              <a:ext cx="319"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i="1">
                  <a:solidFill>
                    <a:schemeClr val="tx1"/>
                  </a:solidFill>
                  <a:latin typeface="+mn-ea"/>
                  <a:ea typeface="+mn-ea"/>
                </a:rPr>
                <a:t>V</a:t>
              </a:r>
              <a:r>
                <a:rPr lang="en-US" altLang="zh-CN" sz="2000" baseline="-25000">
                  <a:solidFill>
                    <a:schemeClr val="tx1"/>
                  </a:solidFill>
                  <a:latin typeface="+mn-ea"/>
                  <a:ea typeface="+mn-ea"/>
                </a:rPr>
                <a:t>CC</a:t>
              </a:r>
              <a:endParaRPr lang="en-US" altLang="zh-CN" sz="2000">
                <a:solidFill>
                  <a:schemeClr val="tx1"/>
                </a:solidFill>
                <a:latin typeface="+mn-ea"/>
                <a:ea typeface="+mn-ea"/>
              </a:endParaRPr>
            </a:p>
          </p:txBody>
        </p:sp>
      </p:grpSp>
      <p:grpSp>
        <p:nvGrpSpPr>
          <p:cNvPr id="36" name="组合 35">
            <a:extLst>
              <a:ext uri="{FF2B5EF4-FFF2-40B4-BE49-F238E27FC236}">
                <a16:creationId xmlns:a16="http://schemas.microsoft.com/office/drawing/2014/main" xmlns="" id="{8C64AD3E-34D1-4F11-F28B-4713CB7E4DB3}"/>
              </a:ext>
            </a:extLst>
          </p:cNvPr>
          <p:cNvGrpSpPr>
            <a:grpSpLocks/>
          </p:cNvGrpSpPr>
          <p:nvPr/>
        </p:nvGrpSpPr>
        <p:grpSpPr bwMode="auto">
          <a:xfrm>
            <a:off x="4476751" y="2540622"/>
            <a:ext cx="2495178" cy="399271"/>
            <a:chOff x="3047" y="720"/>
            <a:chExt cx="1237" cy="233"/>
          </a:xfrm>
        </p:grpSpPr>
        <p:sp>
          <p:nvSpPr>
            <p:cNvPr id="37" name="直接连接符 160806">
              <a:extLst>
                <a:ext uri="{FF2B5EF4-FFF2-40B4-BE49-F238E27FC236}">
                  <a16:creationId xmlns:a16="http://schemas.microsoft.com/office/drawing/2014/main" xmlns="" id="{BF7E27F8-4030-CC79-8FD2-802357BE7796}"/>
                </a:ext>
              </a:extLst>
            </p:cNvPr>
            <p:cNvSpPr>
              <a:spLocks noChangeShapeType="1"/>
            </p:cNvSpPr>
            <p:nvPr/>
          </p:nvSpPr>
          <p:spPr bwMode="auto">
            <a:xfrm flipH="1">
              <a:off x="3047" y="838"/>
              <a:ext cx="1152"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2000">
                <a:solidFill>
                  <a:schemeClr val="tx1"/>
                </a:solidFill>
                <a:latin typeface="+mn-ea"/>
                <a:ea typeface="+mn-ea"/>
              </a:endParaRPr>
            </a:p>
          </p:txBody>
        </p:sp>
        <p:sp>
          <p:nvSpPr>
            <p:cNvPr id="38" name="文本框 160807">
              <a:extLst>
                <a:ext uri="{FF2B5EF4-FFF2-40B4-BE49-F238E27FC236}">
                  <a16:creationId xmlns:a16="http://schemas.microsoft.com/office/drawing/2014/main" xmlns="" id="{606D7337-CE52-7A47-C1A7-E0AAC0F14C16}"/>
                </a:ext>
              </a:extLst>
            </p:cNvPr>
            <p:cNvSpPr txBox="1">
              <a:spLocks noChangeArrowheads="1"/>
            </p:cNvSpPr>
            <p:nvPr/>
          </p:nvSpPr>
          <p:spPr bwMode="auto">
            <a:xfrm>
              <a:off x="4128" y="720"/>
              <a:ext cx="15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i="1">
                  <a:solidFill>
                    <a:schemeClr val="tx1"/>
                  </a:solidFill>
                  <a:latin typeface="+mn-ea"/>
                  <a:ea typeface="+mn-ea"/>
                </a:rPr>
                <a:t>•</a:t>
              </a:r>
            </a:p>
          </p:txBody>
        </p:sp>
      </p:grpSp>
      <p:grpSp>
        <p:nvGrpSpPr>
          <p:cNvPr id="39" name="组合 38">
            <a:extLst>
              <a:ext uri="{FF2B5EF4-FFF2-40B4-BE49-F238E27FC236}">
                <a16:creationId xmlns:a16="http://schemas.microsoft.com/office/drawing/2014/main" xmlns="" id="{309EABDE-46A3-8A53-E1C5-F6D4D570DDB7}"/>
              </a:ext>
            </a:extLst>
          </p:cNvPr>
          <p:cNvGrpSpPr>
            <a:grpSpLocks/>
          </p:cNvGrpSpPr>
          <p:nvPr/>
        </p:nvGrpSpPr>
        <p:grpSpPr bwMode="auto">
          <a:xfrm>
            <a:off x="4349749" y="3032745"/>
            <a:ext cx="2030411" cy="400049"/>
            <a:chOff x="3047" y="720"/>
            <a:chExt cx="1279" cy="252"/>
          </a:xfrm>
        </p:grpSpPr>
        <p:sp>
          <p:nvSpPr>
            <p:cNvPr id="40" name="直接连接符 160809">
              <a:extLst>
                <a:ext uri="{FF2B5EF4-FFF2-40B4-BE49-F238E27FC236}">
                  <a16:creationId xmlns:a16="http://schemas.microsoft.com/office/drawing/2014/main" xmlns="" id="{7A61EB16-0B9B-E559-CA6E-583B241B3E7D}"/>
                </a:ext>
              </a:extLst>
            </p:cNvPr>
            <p:cNvSpPr>
              <a:spLocks noChangeShapeType="1"/>
            </p:cNvSpPr>
            <p:nvPr/>
          </p:nvSpPr>
          <p:spPr bwMode="auto">
            <a:xfrm flipH="1">
              <a:off x="3047" y="838"/>
              <a:ext cx="1152"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2000">
                <a:solidFill>
                  <a:schemeClr val="tx1"/>
                </a:solidFill>
                <a:latin typeface="+mn-ea"/>
                <a:ea typeface="+mn-ea"/>
              </a:endParaRPr>
            </a:p>
          </p:txBody>
        </p:sp>
        <p:sp>
          <p:nvSpPr>
            <p:cNvPr id="41" name="文本框 160810">
              <a:extLst>
                <a:ext uri="{FF2B5EF4-FFF2-40B4-BE49-F238E27FC236}">
                  <a16:creationId xmlns:a16="http://schemas.microsoft.com/office/drawing/2014/main" xmlns="" id="{537FCD1F-0E2F-496E-7D58-0EE2355501BA}"/>
                </a:ext>
              </a:extLst>
            </p:cNvPr>
            <p:cNvSpPr txBox="1">
              <a:spLocks noChangeArrowheads="1"/>
            </p:cNvSpPr>
            <p:nvPr/>
          </p:nvSpPr>
          <p:spPr bwMode="auto">
            <a:xfrm>
              <a:off x="4128" y="720"/>
              <a:ext cx="19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i="1">
                  <a:solidFill>
                    <a:schemeClr val="tx1"/>
                  </a:solidFill>
                  <a:latin typeface="+mn-ea"/>
                  <a:ea typeface="+mn-ea"/>
                </a:rPr>
                <a:t>•</a:t>
              </a:r>
            </a:p>
          </p:txBody>
        </p:sp>
      </p:grpSp>
      <p:grpSp>
        <p:nvGrpSpPr>
          <p:cNvPr id="42" name="组合 41">
            <a:extLst>
              <a:ext uri="{FF2B5EF4-FFF2-40B4-BE49-F238E27FC236}">
                <a16:creationId xmlns:a16="http://schemas.microsoft.com/office/drawing/2014/main" xmlns="" id="{250F418A-1F02-6831-E18D-642A12FF63D4}"/>
              </a:ext>
            </a:extLst>
          </p:cNvPr>
          <p:cNvGrpSpPr>
            <a:grpSpLocks/>
          </p:cNvGrpSpPr>
          <p:nvPr/>
        </p:nvGrpSpPr>
        <p:grpSpPr bwMode="auto">
          <a:xfrm>
            <a:off x="5757863" y="2727946"/>
            <a:ext cx="990600" cy="1254124"/>
            <a:chOff x="3840" y="768"/>
            <a:chExt cx="624" cy="790"/>
          </a:xfrm>
        </p:grpSpPr>
        <p:sp>
          <p:nvSpPr>
            <p:cNvPr id="43" name="直接连接符 160812">
              <a:extLst>
                <a:ext uri="{FF2B5EF4-FFF2-40B4-BE49-F238E27FC236}">
                  <a16:creationId xmlns:a16="http://schemas.microsoft.com/office/drawing/2014/main" xmlns="" id="{44D99F69-3C8F-3284-B1CB-B4D1128509FE}"/>
                </a:ext>
              </a:extLst>
            </p:cNvPr>
            <p:cNvSpPr>
              <a:spLocks noChangeShapeType="1"/>
            </p:cNvSpPr>
            <p:nvPr/>
          </p:nvSpPr>
          <p:spPr bwMode="auto">
            <a:xfrm flipH="1">
              <a:off x="3840" y="768"/>
              <a:ext cx="624" cy="144"/>
            </a:xfrm>
            <a:prstGeom prst="line">
              <a:avLst/>
            </a:prstGeom>
            <a:noFill/>
            <a:ln w="9525">
              <a:solidFill>
                <a:schemeClr val="accent2"/>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2000">
                <a:solidFill>
                  <a:schemeClr val="tx1"/>
                </a:solidFill>
                <a:latin typeface="+mn-ea"/>
                <a:ea typeface="+mn-ea"/>
              </a:endParaRPr>
            </a:p>
          </p:txBody>
        </p:sp>
        <p:grpSp>
          <p:nvGrpSpPr>
            <p:cNvPr id="44" name="组合 160813">
              <a:extLst>
                <a:ext uri="{FF2B5EF4-FFF2-40B4-BE49-F238E27FC236}">
                  <a16:creationId xmlns:a16="http://schemas.microsoft.com/office/drawing/2014/main" xmlns="" id="{745A9239-70F3-A3BA-8118-D3E126269048}"/>
                </a:ext>
              </a:extLst>
            </p:cNvPr>
            <p:cNvGrpSpPr>
              <a:grpSpLocks/>
            </p:cNvGrpSpPr>
            <p:nvPr/>
          </p:nvGrpSpPr>
          <p:grpSpPr bwMode="auto">
            <a:xfrm>
              <a:off x="3894" y="770"/>
              <a:ext cx="203" cy="788"/>
              <a:chOff x="3888" y="646"/>
              <a:chExt cx="179" cy="973"/>
            </a:xfrm>
          </p:grpSpPr>
          <p:sp>
            <p:nvSpPr>
              <p:cNvPr id="45" name="直接连接符 160814">
                <a:extLst>
                  <a:ext uri="{FF2B5EF4-FFF2-40B4-BE49-F238E27FC236}">
                    <a16:creationId xmlns:a16="http://schemas.microsoft.com/office/drawing/2014/main" xmlns="" id="{053C7F89-BC10-F262-1917-B92441CF1D77}"/>
                  </a:ext>
                </a:extLst>
              </p:cNvPr>
              <p:cNvSpPr>
                <a:spLocks noChangeShapeType="1"/>
              </p:cNvSpPr>
              <p:nvPr/>
            </p:nvSpPr>
            <p:spPr bwMode="auto">
              <a:xfrm>
                <a:off x="3976" y="789"/>
                <a:ext cx="0" cy="617"/>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2000">
                  <a:solidFill>
                    <a:schemeClr val="tx1"/>
                  </a:solidFill>
                  <a:latin typeface="+mn-ea"/>
                  <a:ea typeface="+mn-ea"/>
                </a:endParaRPr>
              </a:p>
            </p:txBody>
          </p:sp>
          <p:sp>
            <p:nvSpPr>
              <p:cNvPr id="46" name="文本框 160815">
                <a:extLst>
                  <a:ext uri="{FF2B5EF4-FFF2-40B4-BE49-F238E27FC236}">
                    <a16:creationId xmlns:a16="http://schemas.microsoft.com/office/drawing/2014/main" xmlns="" id="{1A2ACE03-3153-D78A-E57C-F900E5E84645}"/>
                  </a:ext>
                </a:extLst>
              </p:cNvPr>
              <p:cNvSpPr txBox="1">
                <a:spLocks noChangeArrowheads="1"/>
              </p:cNvSpPr>
              <p:nvPr/>
            </p:nvSpPr>
            <p:spPr bwMode="auto">
              <a:xfrm>
                <a:off x="3892" y="646"/>
                <a:ext cx="175"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i="1">
                    <a:solidFill>
                      <a:schemeClr val="tx1"/>
                    </a:solidFill>
                    <a:latin typeface="+mn-ea"/>
                    <a:ea typeface="+mn-ea"/>
                  </a:rPr>
                  <a:t>•</a:t>
                </a:r>
              </a:p>
            </p:txBody>
          </p:sp>
          <p:sp>
            <p:nvSpPr>
              <p:cNvPr id="47" name="文本框 160816">
                <a:extLst>
                  <a:ext uri="{FF2B5EF4-FFF2-40B4-BE49-F238E27FC236}">
                    <a16:creationId xmlns:a16="http://schemas.microsoft.com/office/drawing/2014/main" xmlns="" id="{BEC2762C-D75E-FD89-5929-D93DF4915C91}"/>
                  </a:ext>
                </a:extLst>
              </p:cNvPr>
              <p:cNvSpPr txBox="1">
                <a:spLocks noChangeArrowheads="1"/>
              </p:cNvSpPr>
              <p:nvPr/>
            </p:nvSpPr>
            <p:spPr bwMode="auto">
              <a:xfrm>
                <a:off x="3888" y="1308"/>
                <a:ext cx="175"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i="1">
                    <a:solidFill>
                      <a:schemeClr val="tx1"/>
                    </a:solidFill>
                    <a:latin typeface="+mn-ea"/>
                    <a:ea typeface="+mn-ea"/>
                  </a:rPr>
                  <a:t>•</a:t>
                </a:r>
              </a:p>
            </p:txBody>
          </p:sp>
        </p:grpSp>
      </p:grpSp>
      <p:sp>
        <p:nvSpPr>
          <p:cNvPr id="48" name="右箭头 160817">
            <a:extLst>
              <a:ext uri="{FF2B5EF4-FFF2-40B4-BE49-F238E27FC236}">
                <a16:creationId xmlns:a16="http://schemas.microsoft.com/office/drawing/2014/main" xmlns="" id="{FF5A85A2-C80B-778F-0576-C69576943CE8}"/>
              </a:ext>
            </a:extLst>
          </p:cNvPr>
          <p:cNvSpPr>
            <a:spLocks noChangeArrowheads="1"/>
          </p:cNvSpPr>
          <p:nvPr/>
        </p:nvSpPr>
        <p:spPr bwMode="auto">
          <a:xfrm>
            <a:off x="6748463" y="3337546"/>
            <a:ext cx="762000" cy="228600"/>
          </a:xfrm>
          <a:prstGeom prst="rightArrow">
            <a:avLst>
              <a:gd name="adj1" fmla="val 50000"/>
              <a:gd name="adj2" fmla="val 83133"/>
            </a:avLst>
          </a:prstGeom>
          <a:solidFill>
            <a:schemeClr val="accent1"/>
          </a:solidFill>
          <a:ln w="9525">
            <a:solidFill>
              <a:schemeClr val="tx1"/>
            </a:solidFill>
            <a:miter lim="800000"/>
            <a:headEnd/>
            <a:tailEnd/>
          </a:ln>
        </p:spPr>
        <p:txBody>
          <a:bodyPr/>
          <a:lstStyle/>
          <a:p>
            <a:endParaRPr lang="zh-CN" altLang="en-US" sz="2000">
              <a:solidFill>
                <a:schemeClr val="tx1"/>
              </a:solidFill>
              <a:latin typeface="+mn-ea"/>
              <a:ea typeface="+mn-ea"/>
            </a:endParaRPr>
          </a:p>
        </p:txBody>
      </p:sp>
      <p:sp>
        <p:nvSpPr>
          <p:cNvPr id="49" name="右箭头 160818">
            <a:extLst>
              <a:ext uri="{FF2B5EF4-FFF2-40B4-BE49-F238E27FC236}">
                <a16:creationId xmlns:a16="http://schemas.microsoft.com/office/drawing/2014/main" xmlns="" id="{F2D92C4B-EE75-B614-5450-976A1F64DE63}"/>
              </a:ext>
            </a:extLst>
          </p:cNvPr>
          <p:cNvSpPr>
            <a:spLocks noChangeArrowheads="1"/>
          </p:cNvSpPr>
          <p:nvPr/>
        </p:nvSpPr>
        <p:spPr bwMode="auto">
          <a:xfrm flipH="1">
            <a:off x="6215063" y="3413746"/>
            <a:ext cx="685800" cy="304800"/>
          </a:xfrm>
          <a:prstGeom prst="rightArrow">
            <a:avLst>
              <a:gd name="adj1" fmla="val 50000"/>
              <a:gd name="adj2" fmla="val 56250"/>
            </a:avLst>
          </a:prstGeom>
          <a:solidFill>
            <a:schemeClr val="accent1"/>
          </a:solidFill>
          <a:ln w="9525">
            <a:solidFill>
              <a:schemeClr val="tx1"/>
            </a:solidFill>
            <a:miter lim="800000"/>
            <a:headEnd/>
            <a:tailEnd/>
          </a:ln>
        </p:spPr>
        <p:txBody>
          <a:bodyPr/>
          <a:lstStyle/>
          <a:p>
            <a:endParaRPr lang="zh-CN" altLang="en-US" sz="2000">
              <a:solidFill>
                <a:schemeClr val="tx1"/>
              </a:solidFill>
              <a:latin typeface="+mn-ea"/>
              <a:ea typeface="+mn-ea"/>
            </a:endParaRPr>
          </a:p>
        </p:txBody>
      </p:sp>
      <p:sp>
        <p:nvSpPr>
          <p:cNvPr id="50" name="任意多边形 160819">
            <a:extLst>
              <a:ext uri="{FF2B5EF4-FFF2-40B4-BE49-F238E27FC236}">
                <a16:creationId xmlns:a16="http://schemas.microsoft.com/office/drawing/2014/main" xmlns="" id="{68C0737D-51DD-0FB9-5F59-B43EE732F4D7}"/>
              </a:ext>
            </a:extLst>
          </p:cNvPr>
          <p:cNvSpPr>
            <a:spLocks noChangeArrowheads="1"/>
          </p:cNvSpPr>
          <p:nvPr/>
        </p:nvSpPr>
        <p:spPr bwMode="auto">
          <a:xfrm>
            <a:off x="4270376" y="3148633"/>
            <a:ext cx="914400" cy="1158875"/>
          </a:xfrm>
          <a:custGeom>
            <a:avLst/>
            <a:gdLst>
              <a:gd name="T0" fmla="*/ 0 w 1080"/>
              <a:gd name="T1" fmla="*/ 1508 h 1508"/>
              <a:gd name="T2" fmla="*/ 360 w 1080"/>
              <a:gd name="T3" fmla="*/ 104 h 1508"/>
              <a:gd name="T4" fmla="*/ 540 w 1080"/>
              <a:gd name="T5" fmla="*/ 884 h 1508"/>
              <a:gd name="T6" fmla="*/ 720 w 1080"/>
              <a:gd name="T7" fmla="*/ 104 h 1508"/>
              <a:gd name="T8" fmla="*/ 1080 w 1080"/>
              <a:gd name="T9" fmla="*/ 1508 h 1508"/>
            </a:gdLst>
            <a:ahLst/>
            <a:cxnLst>
              <a:cxn ang="0">
                <a:pos x="T0" y="T1"/>
              </a:cxn>
              <a:cxn ang="0">
                <a:pos x="T2" y="T3"/>
              </a:cxn>
              <a:cxn ang="0">
                <a:pos x="T4" y="T5"/>
              </a:cxn>
              <a:cxn ang="0">
                <a:pos x="T6" y="T7"/>
              </a:cxn>
              <a:cxn ang="0">
                <a:pos x="T8" y="T9"/>
              </a:cxn>
            </a:cxnLst>
            <a:rect l="0" t="0" r="r" b="b"/>
            <a:pathLst>
              <a:path w="1080" h="1508">
                <a:moveTo>
                  <a:pt x="0" y="1508"/>
                </a:moveTo>
                <a:cubicBezTo>
                  <a:pt x="135" y="858"/>
                  <a:pt x="270" y="208"/>
                  <a:pt x="360" y="104"/>
                </a:cubicBezTo>
                <a:cubicBezTo>
                  <a:pt x="450" y="0"/>
                  <a:pt x="480" y="884"/>
                  <a:pt x="540" y="884"/>
                </a:cubicBezTo>
                <a:cubicBezTo>
                  <a:pt x="600" y="884"/>
                  <a:pt x="630" y="0"/>
                  <a:pt x="720" y="104"/>
                </a:cubicBezTo>
                <a:cubicBezTo>
                  <a:pt x="810" y="208"/>
                  <a:pt x="945" y="858"/>
                  <a:pt x="1080" y="1508"/>
                </a:cubicBezTo>
              </a:path>
            </a:pathLst>
          </a:cu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2000">
              <a:solidFill>
                <a:schemeClr val="tx1"/>
              </a:solidFill>
              <a:latin typeface="+mn-ea"/>
              <a:ea typeface="+mn-ea"/>
            </a:endParaRPr>
          </a:p>
        </p:txBody>
      </p:sp>
      <p:sp>
        <p:nvSpPr>
          <p:cNvPr id="51" name="任意多边形 160820">
            <a:extLst>
              <a:ext uri="{FF2B5EF4-FFF2-40B4-BE49-F238E27FC236}">
                <a16:creationId xmlns:a16="http://schemas.microsoft.com/office/drawing/2014/main" xmlns="" id="{CB47B2C4-B4BE-9B40-FA3A-912FA2F5272F}"/>
              </a:ext>
            </a:extLst>
          </p:cNvPr>
          <p:cNvSpPr>
            <a:spLocks noChangeArrowheads="1"/>
          </p:cNvSpPr>
          <p:nvPr/>
        </p:nvSpPr>
        <p:spPr bwMode="auto">
          <a:xfrm>
            <a:off x="4270376" y="2843833"/>
            <a:ext cx="914400" cy="1422400"/>
          </a:xfrm>
          <a:custGeom>
            <a:avLst/>
            <a:gdLst>
              <a:gd name="T0" fmla="*/ 0 w 720"/>
              <a:gd name="T1" fmla="*/ 1872 h 1872"/>
              <a:gd name="T2" fmla="*/ 360 w 720"/>
              <a:gd name="T3" fmla="*/ 0 h 1872"/>
              <a:gd name="T4" fmla="*/ 720 w 720"/>
              <a:gd name="T5" fmla="*/ 1872 h 1872"/>
            </a:gdLst>
            <a:ahLst/>
            <a:cxnLst>
              <a:cxn ang="0">
                <a:pos x="T0" y="T1"/>
              </a:cxn>
              <a:cxn ang="0">
                <a:pos x="T2" y="T3"/>
              </a:cxn>
              <a:cxn ang="0">
                <a:pos x="T4" y="T5"/>
              </a:cxn>
            </a:cxnLst>
            <a:rect l="0" t="0" r="r" b="b"/>
            <a:pathLst>
              <a:path w="720" h="1872">
                <a:moveTo>
                  <a:pt x="0" y="1872"/>
                </a:moveTo>
                <a:cubicBezTo>
                  <a:pt x="120" y="936"/>
                  <a:pt x="240" y="0"/>
                  <a:pt x="360" y="0"/>
                </a:cubicBezTo>
                <a:cubicBezTo>
                  <a:pt x="480" y="0"/>
                  <a:pt x="600" y="936"/>
                  <a:pt x="720" y="1872"/>
                </a:cubicBez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2000">
              <a:solidFill>
                <a:schemeClr val="tx1"/>
              </a:solidFill>
              <a:latin typeface="+mn-ea"/>
              <a:ea typeface="+mn-ea"/>
            </a:endParaRPr>
          </a:p>
        </p:txBody>
      </p:sp>
      <p:sp>
        <p:nvSpPr>
          <p:cNvPr id="52" name="任意多边形 160821">
            <a:extLst>
              <a:ext uri="{FF2B5EF4-FFF2-40B4-BE49-F238E27FC236}">
                <a16:creationId xmlns:a16="http://schemas.microsoft.com/office/drawing/2014/main" xmlns="" id="{BD8B6D1D-67E1-92F4-4D3E-BF69A27ABEA0}"/>
              </a:ext>
            </a:extLst>
          </p:cNvPr>
          <p:cNvSpPr>
            <a:spLocks noChangeArrowheads="1"/>
          </p:cNvSpPr>
          <p:nvPr/>
        </p:nvSpPr>
        <p:spPr bwMode="auto">
          <a:xfrm>
            <a:off x="4271963" y="2727946"/>
            <a:ext cx="914400" cy="1538287"/>
          </a:xfrm>
          <a:custGeom>
            <a:avLst/>
            <a:gdLst>
              <a:gd name="T0" fmla="*/ 0 w 720"/>
              <a:gd name="T1" fmla="*/ 1872 h 1872"/>
              <a:gd name="T2" fmla="*/ 360 w 720"/>
              <a:gd name="T3" fmla="*/ 0 h 1872"/>
              <a:gd name="T4" fmla="*/ 720 w 720"/>
              <a:gd name="T5" fmla="*/ 1872 h 1872"/>
            </a:gdLst>
            <a:ahLst/>
            <a:cxnLst>
              <a:cxn ang="0">
                <a:pos x="T0" y="T1"/>
              </a:cxn>
              <a:cxn ang="0">
                <a:pos x="T2" y="T3"/>
              </a:cxn>
              <a:cxn ang="0">
                <a:pos x="T4" y="T5"/>
              </a:cxn>
            </a:cxnLst>
            <a:rect l="0" t="0" r="r" b="b"/>
            <a:pathLst>
              <a:path w="720" h="1872">
                <a:moveTo>
                  <a:pt x="0" y="1872"/>
                </a:moveTo>
                <a:cubicBezTo>
                  <a:pt x="120" y="936"/>
                  <a:pt x="240" y="0"/>
                  <a:pt x="360" y="0"/>
                </a:cubicBezTo>
                <a:cubicBezTo>
                  <a:pt x="480" y="0"/>
                  <a:pt x="600" y="936"/>
                  <a:pt x="720" y="1872"/>
                </a:cubicBez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2000">
              <a:solidFill>
                <a:schemeClr val="tx1"/>
              </a:solidFill>
              <a:latin typeface="+mn-ea"/>
              <a:ea typeface="+mn-ea"/>
            </a:endParaRPr>
          </a:p>
        </p:txBody>
      </p:sp>
      <p:sp>
        <p:nvSpPr>
          <p:cNvPr id="53" name="直接连接符 52">
            <a:extLst>
              <a:ext uri="{FF2B5EF4-FFF2-40B4-BE49-F238E27FC236}">
                <a16:creationId xmlns:a16="http://schemas.microsoft.com/office/drawing/2014/main" xmlns="" id="{B2951D77-5741-CFA3-C41D-63DA932402FC}"/>
              </a:ext>
            </a:extLst>
          </p:cNvPr>
          <p:cNvSpPr>
            <a:spLocks noChangeShapeType="1"/>
          </p:cNvSpPr>
          <p:nvPr/>
        </p:nvSpPr>
        <p:spPr bwMode="auto">
          <a:xfrm flipH="1">
            <a:off x="4614863" y="3794746"/>
            <a:ext cx="13716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2000">
              <a:solidFill>
                <a:schemeClr val="tx1"/>
              </a:solidFill>
              <a:latin typeface="+mn-ea"/>
              <a:ea typeface="+mn-ea"/>
            </a:endParaRPr>
          </a:p>
        </p:txBody>
      </p:sp>
      <p:grpSp>
        <p:nvGrpSpPr>
          <p:cNvPr id="54" name="组合 53">
            <a:extLst>
              <a:ext uri="{FF2B5EF4-FFF2-40B4-BE49-F238E27FC236}">
                <a16:creationId xmlns:a16="http://schemas.microsoft.com/office/drawing/2014/main" xmlns="" id="{78073CC5-BD48-B225-2396-82FFA5074CA2}"/>
              </a:ext>
            </a:extLst>
          </p:cNvPr>
          <p:cNvGrpSpPr>
            <a:grpSpLocks/>
          </p:cNvGrpSpPr>
          <p:nvPr/>
        </p:nvGrpSpPr>
        <p:grpSpPr bwMode="auto">
          <a:xfrm>
            <a:off x="3965576" y="2194546"/>
            <a:ext cx="1600200" cy="2378075"/>
            <a:chOff x="2688" y="576"/>
            <a:chExt cx="1008" cy="1498"/>
          </a:xfrm>
        </p:grpSpPr>
        <p:sp>
          <p:nvSpPr>
            <p:cNvPr id="55" name="直接连接符 160824">
              <a:extLst>
                <a:ext uri="{FF2B5EF4-FFF2-40B4-BE49-F238E27FC236}">
                  <a16:creationId xmlns:a16="http://schemas.microsoft.com/office/drawing/2014/main" xmlns="" id="{1FECB030-D7B4-AF02-BD62-25872EFCF73C}"/>
                </a:ext>
              </a:extLst>
            </p:cNvPr>
            <p:cNvSpPr>
              <a:spLocks noChangeShapeType="1"/>
            </p:cNvSpPr>
            <p:nvPr/>
          </p:nvSpPr>
          <p:spPr bwMode="auto">
            <a:xfrm>
              <a:off x="2688" y="1872"/>
              <a:ext cx="100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000">
                <a:solidFill>
                  <a:schemeClr val="tx1"/>
                </a:solidFill>
                <a:latin typeface="+mn-ea"/>
                <a:ea typeface="+mn-ea"/>
              </a:endParaRPr>
            </a:p>
          </p:txBody>
        </p:sp>
        <p:sp>
          <p:nvSpPr>
            <p:cNvPr id="56" name="直接连接符 160825">
              <a:extLst>
                <a:ext uri="{FF2B5EF4-FFF2-40B4-BE49-F238E27FC236}">
                  <a16:creationId xmlns:a16="http://schemas.microsoft.com/office/drawing/2014/main" xmlns="" id="{D23A24CB-F81C-6F5F-9D47-E23CC7F9F394}"/>
                </a:ext>
              </a:extLst>
            </p:cNvPr>
            <p:cNvSpPr>
              <a:spLocks noChangeShapeType="1"/>
            </p:cNvSpPr>
            <p:nvPr/>
          </p:nvSpPr>
          <p:spPr bwMode="auto">
            <a:xfrm flipV="1">
              <a:off x="3168" y="624"/>
              <a:ext cx="0" cy="124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000">
                <a:solidFill>
                  <a:schemeClr val="tx1"/>
                </a:solidFill>
                <a:latin typeface="+mn-ea"/>
                <a:ea typeface="+mn-ea"/>
              </a:endParaRPr>
            </a:p>
          </p:txBody>
        </p:sp>
        <p:graphicFrame>
          <p:nvGraphicFramePr>
            <p:cNvPr id="57" name="对象 160826">
              <a:extLst>
                <a:ext uri="{FF2B5EF4-FFF2-40B4-BE49-F238E27FC236}">
                  <a16:creationId xmlns:a16="http://schemas.microsoft.com/office/drawing/2014/main" xmlns="" id="{734C0A7E-B6EC-7B63-7AF4-D05DFFFEA872}"/>
                </a:ext>
              </a:extLst>
            </p:cNvPr>
            <p:cNvGraphicFramePr>
              <a:graphicFrameLocks/>
            </p:cNvGraphicFramePr>
            <p:nvPr/>
          </p:nvGraphicFramePr>
          <p:xfrm>
            <a:off x="3360" y="1920"/>
            <a:ext cx="336" cy="154"/>
          </p:xfrm>
          <a:graphic>
            <a:graphicData uri="http://schemas.openxmlformats.org/presentationml/2006/ole">
              <mc:AlternateContent xmlns:mc="http://schemas.openxmlformats.org/markup-compatibility/2006">
                <mc:Choice xmlns:v="urn:schemas-microsoft-com:vml" Requires="v">
                  <p:oleObj spid="_x0000_s94290" r:id="rId3" imgW="202936" imgH="164885" progId="Equation.3">
                    <p:embed/>
                  </p:oleObj>
                </mc:Choice>
                <mc:Fallback>
                  <p:oleObj r:id="rId3" imgW="202936" imgH="164885" progId="Equation.3">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60" y="1920"/>
                          <a:ext cx="33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8" name="矩形 160827">
              <a:extLst>
                <a:ext uri="{FF2B5EF4-FFF2-40B4-BE49-F238E27FC236}">
                  <a16:creationId xmlns:a16="http://schemas.microsoft.com/office/drawing/2014/main" xmlns="" id="{C71975CE-F3FB-516C-C024-F041E06C1473}"/>
                </a:ext>
              </a:extLst>
            </p:cNvPr>
            <p:cNvSpPr>
              <a:spLocks noChangeArrowheads="1"/>
            </p:cNvSpPr>
            <p:nvPr/>
          </p:nvSpPr>
          <p:spPr bwMode="auto">
            <a:xfrm>
              <a:off x="3216" y="576"/>
              <a:ext cx="25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i="1">
                  <a:solidFill>
                    <a:schemeClr val="tx1"/>
                  </a:solidFill>
                  <a:latin typeface="+mn-ea"/>
                  <a:ea typeface="+mn-ea"/>
                </a:rPr>
                <a:t>i</a:t>
              </a:r>
              <a:r>
                <a:rPr lang="en-US" altLang="zh-CN" sz="2000" baseline="-25000">
                  <a:solidFill>
                    <a:schemeClr val="tx1"/>
                  </a:solidFill>
                  <a:latin typeface="+mn-ea"/>
                  <a:ea typeface="+mn-ea"/>
                </a:rPr>
                <a:t>C</a:t>
              </a:r>
            </a:p>
          </p:txBody>
        </p:sp>
      </p:grpSp>
      <p:graphicFrame>
        <p:nvGraphicFramePr>
          <p:cNvPr id="59" name="对象 58">
            <a:extLst>
              <a:ext uri="{FF2B5EF4-FFF2-40B4-BE49-F238E27FC236}">
                <a16:creationId xmlns:a16="http://schemas.microsoft.com/office/drawing/2014/main" xmlns="" id="{32A10D70-3D52-0A4E-8B90-29D7E9D45C91}"/>
              </a:ext>
            </a:extLst>
          </p:cNvPr>
          <p:cNvGraphicFramePr>
            <a:graphicFrameLocks/>
          </p:cNvGraphicFramePr>
          <p:nvPr>
            <p:extLst>
              <p:ext uri="{D42A27DB-BD31-4B8C-83A1-F6EECF244321}">
                <p14:modId xmlns:p14="http://schemas.microsoft.com/office/powerpoint/2010/main" val="2725711359"/>
              </p:ext>
            </p:extLst>
          </p:nvPr>
        </p:nvGraphicFramePr>
        <p:xfrm>
          <a:off x="511967" y="1407792"/>
          <a:ext cx="7974013" cy="768350"/>
        </p:xfrm>
        <a:graphic>
          <a:graphicData uri="http://schemas.openxmlformats.org/presentationml/2006/ole">
            <mc:AlternateContent xmlns:mc="http://schemas.openxmlformats.org/markup-compatibility/2006">
              <mc:Choice xmlns:v="urn:schemas-microsoft-com:vml" Requires="v">
                <p:oleObj spid="_x0000_s94291" r:id="rId5" imgW="7159320" imgH="635040" progId="Word.Document.8">
                  <p:embed/>
                </p:oleObj>
              </mc:Choice>
              <mc:Fallback>
                <p:oleObj r:id="rId5" imgW="7159320" imgH="635040" progId="Word.Document.8">
                  <p:embed/>
                  <p:pic>
                    <p:nvPicPr>
                      <p:cNvPr id="0" name=""/>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1967" y="1407792"/>
                        <a:ext cx="7974013"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0" name="矩形 59">
            <a:extLst>
              <a:ext uri="{FF2B5EF4-FFF2-40B4-BE49-F238E27FC236}">
                <a16:creationId xmlns:a16="http://schemas.microsoft.com/office/drawing/2014/main" xmlns="" id="{3C0CA996-0205-FFEE-58DC-805E61CC0B01}"/>
              </a:ext>
            </a:extLst>
          </p:cNvPr>
          <p:cNvSpPr>
            <a:spLocks noChangeArrowheads="1"/>
          </p:cNvSpPr>
          <p:nvPr/>
        </p:nvSpPr>
        <p:spPr bwMode="auto">
          <a:xfrm>
            <a:off x="3784601" y="4818683"/>
            <a:ext cx="4949825"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p>
            <a:r>
              <a:rPr lang="zh-CN" altLang="en-US" sz="2000" dirty="0">
                <a:solidFill>
                  <a:schemeClr val="tx1"/>
                </a:solidFill>
                <a:latin typeface="+mn-ea"/>
                <a:ea typeface="+mn-ea"/>
              </a:rPr>
              <a:t>集电极调幅作用是通过改变</a:t>
            </a:r>
            <a:r>
              <a:rPr lang="en-US" altLang="zh-CN" sz="2000" i="1" dirty="0">
                <a:solidFill>
                  <a:schemeClr val="tx1"/>
                </a:solidFill>
                <a:latin typeface="+mn-ea"/>
                <a:ea typeface="+mn-ea"/>
              </a:rPr>
              <a:t>V</a:t>
            </a:r>
            <a:r>
              <a:rPr lang="en-US" altLang="zh-CN" sz="2000" baseline="-25000" dirty="0">
                <a:solidFill>
                  <a:schemeClr val="tx1"/>
                </a:solidFill>
                <a:latin typeface="+mn-ea"/>
                <a:ea typeface="+mn-ea"/>
              </a:rPr>
              <a:t>CC</a:t>
            </a:r>
            <a:r>
              <a:rPr lang="zh-CN" altLang="en-US" sz="2000" dirty="0">
                <a:solidFill>
                  <a:schemeClr val="tx1"/>
                </a:solidFill>
                <a:latin typeface="+mn-ea"/>
                <a:ea typeface="+mn-ea"/>
              </a:rPr>
              <a:t>来改变</a:t>
            </a:r>
            <a:r>
              <a:rPr lang="zh-CN" altLang="en-US" sz="2000" i="1" dirty="0">
                <a:solidFill>
                  <a:schemeClr val="tx1"/>
                </a:solidFill>
                <a:latin typeface="+mn-ea"/>
                <a:ea typeface="+mn-ea"/>
              </a:rPr>
              <a:t>Ｉ</a:t>
            </a:r>
            <a:r>
              <a:rPr lang="en-US" altLang="zh-CN" sz="2000" baseline="-25000" dirty="0">
                <a:solidFill>
                  <a:schemeClr val="tx1"/>
                </a:solidFill>
                <a:latin typeface="+mn-ea"/>
                <a:ea typeface="+mn-ea"/>
              </a:rPr>
              <a:t>cm1</a:t>
            </a:r>
            <a:r>
              <a:rPr lang="zh-CN" altLang="en-US" sz="2000" dirty="0">
                <a:solidFill>
                  <a:schemeClr val="tx1"/>
                </a:solidFill>
                <a:latin typeface="+mn-ea"/>
                <a:ea typeface="+mn-ea"/>
              </a:rPr>
              <a:t>与</a:t>
            </a:r>
            <a:r>
              <a:rPr lang="zh-CN" altLang="en-US" sz="2000" i="1" dirty="0">
                <a:solidFill>
                  <a:schemeClr val="tx1"/>
                </a:solidFill>
                <a:latin typeface="+mn-ea"/>
                <a:ea typeface="+mn-ea"/>
              </a:rPr>
              <a:t>Ｐ</a:t>
            </a:r>
            <a:r>
              <a:rPr lang="en-US" altLang="zh-CN" sz="2000" baseline="-25000" dirty="0">
                <a:solidFill>
                  <a:schemeClr val="tx1"/>
                </a:solidFill>
                <a:latin typeface="+mn-ea"/>
                <a:ea typeface="+mn-ea"/>
              </a:rPr>
              <a:t>o</a:t>
            </a:r>
            <a:r>
              <a:rPr lang="zh-CN" altLang="en-US" sz="2000" dirty="0">
                <a:solidFill>
                  <a:schemeClr val="tx1"/>
                </a:solidFill>
                <a:latin typeface="+mn-ea"/>
                <a:ea typeface="+mn-ea"/>
              </a:rPr>
              <a:t>才能实现的，因此，必须工作于过压区。</a:t>
            </a:r>
          </a:p>
        </p:txBody>
      </p:sp>
      <p:sp>
        <p:nvSpPr>
          <p:cNvPr id="61" name="矩形 160828">
            <a:extLst>
              <a:ext uri="{FF2B5EF4-FFF2-40B4-BE49-F238E27FC236}">
                <a16:creationId xmlns:a16="http://schemas.microsoft.com/office/drawing/2014/main" xmlns="" id="{FB9E104B-FFA5-F170-F991-42CA5A9BC593}"/>
              </a:ext>
            </a:extLst>
          </p:cNvPr>
          <p:cNvSpPr>
            <a:spLocks noChangeArrowheads="1"/>
          </p:cNvSpPr>
          <p:nvPr/>
        </p:nvSpPr>
        <p:spPr bwMode="auto">
          <a:xfrm>
            <a:off x="500557" y="1157220"/>
            <a:ext cx="54737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p>
            <a:pPr>
              <a:spcBef>
                <a:spcPct val="50000"/>
              </a:spcBef>
            </a:pPr>
            <a:r>
              <a:rPr lang="en-US" altLang="zh-CN" sz="2400" dirty="0">
                <a:solidFill>
                  <a:schemeClr val="tx1"/>
                </a:solidFill>
                <a:latin typeface="+mn-ea"/>
                <a:ea typeface="+mn-ea"/>
              </a:rPr>
              <a:t>2.</a:t>
            </a:r>
            <a:r>
              <a:rPr lang="zh-CN" altLang="en-US" sz="2400" dirty="0">
                <a:solidFill>
                  <a:schemeClr val="tx1"/>
                </a:solidFill>
                <a:latin typeface="+mn-ea"/>
                <a:ea typeface="+mn-ea"/>
              </a:rPr>
              <a:t>改变</a:t>
            </a:r>
            <a:r>
              <a:rPr lang="zh-CN" altLang="en-US" sz="2400" i="1" dirty="0">
                <a:solidFill>
                  <a:schemeClr val="tx1"/>
                </a:solidFill>
                <a:latin typeface="+mn-ea"/>
                <a:ea typeface="+mn-ea"/>
              </a:rPr>
              <a:t>Ｖ</a:t>
            </a:r>
            <a:r>
              <a:rPr lang="en-US" altLang="zh-CN" sz="2400" baseline="-25000" dirty="0">
                <a:solidFill>
                  <a:schemeClr val="tx1"/>
                </a:solidFill>
                <a:latin typeface="+mn-ea"/>
                <a:ea typeface="+mn-ea"/>
              </a:rPr>
              <a:t>CC</a:t>
            </a:r>
            <a:r>
              <a:rPr lang="zh-CN" altLang="en-US" sz="2400" dirty="0">
                <a:solidFill>
                  <a:schemeClr val="tx1"/>
                </a:solidFill>
                <a:latin typeface="+mn-ea"/>
                <a:ea typeface="+mn-ea"/>
              </a:rPr>
              <a:t>对工作状态的影响</a:t>
            </a:r>
          </a:p>
        </p:txBody>
      </p:sp>
      <p:pic>
        <p:nvPicPr>
          <p:cNvPr id="62" name="图片 61">
            <a:extLst>
              <a:ext uri="{FF2B5EF4-FFF2-40B4-BE49-F238E27FC236}">
                <a16:creationId xmlns:a16="http://schemas.microsoft.com/office/drawing/2014/main" xmlns="" id="{04B30C5F-8F69-CCD0-19CC-FD72E1001F53}"/>
              </a:ext>
            </a:extLst>
          </p:cNvPr>
          <p:cNvPicPr>
            <a:picLocks noChangeAspect="1"/>
          </p:cNvPicPr>
          <p:nvPr/>
        </p:nvPicPr>
        <p:blipFill>
          <a:blip r:embed="rId7"/>
          <a:stretch>
            <a:fillRect/>
          </a:stretch>
        </p:blipFill>
        <p:spPr>
          <a:xfrm>
            <a:off x="213474" y="2110772"/>
            <a:ext cx="3322608" cy="4218798"/>
          </a:xfrm>
          <a:prstGeom prst="rect">
            <a:avLst/>
          </a:prstGeom>
        </p:spPr>
      </p:pic>
    </p:spTree>
    <p:extLst>
      <p:ext uri="{BB962C8B-B14F-4D97-AF65-F5344CB8AC3E}">
        <p14:creationId xmlns:p14="http://schemas.microsoft.com/office/powerpoint/2010/main" val="3408558667"/>
      </p:ext>
    </p:extLst>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4" name="组合 153">
            <a:extLst>
              <a:ext uri="{FF2B5EF4-FFF2-40B4-BE49-F238E27FC236}">
                <a16:creationId xmlns:a16="http://schemas.microsoft.com/office/drawing/2014/main" xmlns="" id="{3544E9E6-4040-1C22-4CF2-21EB9147D1B4}"/>
              </a:ext>
            </a:extLst>
          </p:cNvPr>
          <p:cNvGrpSpPr>
            <a:grpSpLocks/>
          </p:cNvGrpSpPr>
          <p:nvPr/>
        </p:nvGrpSpPr>
        <p:grpSpPr bwMode="auto">
          <a:xfrm>
            <a:off x="379219" y="4368800"/>
            <a:ext cx="3248025" cy="2033588"/>
            <a:chOff x="3305" y="2787"/>
            <a:chExt cx="2046" cy="1281"/>
          </a:xfrm>
        </p:grpSpPr>
        <p:sp>
          <p:nvSpPr>
            <p:cNvPr id="155" name="矩形 181385">
              <a:extLst>
                <a:ext uri="{FF2B5EF4-FFF2-40B4-BE49-F238E27FC236}">
                  <a16:creationId xmlns:a16="http://schemas.microsoft.com/office/drawing/2014/main" xmlns="" id="{387FF95A-FDBB-BED0-183D-7FC4F9A163B5}"/>
                </a:ext>
              </a:extLst>
            </p:cNvPr>
            <p:cNvSpPr>
              <a:spLocks noChangeArrowheads="1"/>
            </p:cNvSpPr>
            <p:nvPr/>
          </p:nvSpPr>
          <p:spPr bwMode="auto">
            <a:xfrm>
              <a:off x="3348" y="2787"/>
              <a:ext cx="1973" cy="127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nvGrpSpPr>
            <p:cNvPr id="156" name="组合 181386">
              <a:extLst>
                <a:ext uri="{FF2B5EF4-FFF2-40B4-BE49-F238E27FC236}">
                  <a16:creationId xmlns:a16="http://schemas.microsoft.com/office/drawing/2014/main" xmlns="" id="{3E1209BE-033C-DABC-0AA0-22325F32893D}"/>
                </a:ext>
              </a:extLst>
            </p:cNvPr>
            <p:cNvGrpSpPr>
              <a:grpSpLocks/>
            </p:cNvGrpSpPr>
            <p:nvPr/>
          </p:nvGrpSpPr>
          <p:grpSpPr bwMode="auto">
            <a:xfrm>
              <a:off x="3305" y="2867"/>
              <a:ext cx="2046" cy="1201"/>
              <a:chOff x="3305" y="2867"/>
              <a:chExt cx="2046" cy="1201"/>
            </a:xfrm>
          </p:grpSpPr>
          <p:grpSp>
            <p:nvGrpSpPr>
              <p:cNvPr id="157" name="组合 181387">
                <a:extLst>
                  <a:ext uri="{FF2B5EF4-FFF2-40B4-BE49-F238E27FC236}">
                    <a16:creationId xmlns:a16="http://schemas.microsoft.com/office/drawing/2014/main" xmlns="" id="{B92A9151-C9C1-839C-1488-41F25A5F6F53}"/>
                  </a:ext>
                </a:extLst>
              </p:cNvPr>
              <p:cNvGrpSpPr>
                <a:grpSpLocks/>
              </p:cNvGrpSpPr>
              <p:nvPr/>
            </p:nvGrpSpPr>
            <p:grpSpPr bwMode="auto">
              <a:xfrm>
                <a:off x="4307" y="3031"/>
                <a:ext cx="13" cy="735"/>
                <a:chOff x="1635" y="2629"/>
                <a:chExt cx="13" cy="735"/>
              </a:xfrm>
            </p:grpSpPr>
            <p:sp>
              <p:nvSpPr>
                <p:cNvPr id="175" name="任意多边形 181388">
                  <a:extLst>
                    <a:ext uri="{FF2B5EF4-FFF2-40B4-BE49-F238E27FC236}">
                      <a16:creationId xmlns:a16="http://schemas.microsoft.com/office/drawing/2014/main" xmlns="" id="{D3E64348-7DE9-7AE1-4B6B-E08BD209810D}"/>
                    </a:ext>
                  </a:extLst>
                </p:cNvPr>
                <p:cNvSpPr>
                  <a:spLocks noChangeArrowheads="1"/>
                </p:cNvSpPr>
                <p:nvPr/>
              </p:nvSpPr>
              <p:spPr bwMode="auto">
                <a:xfrm>
                  <a:off x="1635" y="3334"/>
                  <a:ext cx="13" cy="30"/>
                </a:xfrm>
                <a:custGeom>
                  <a:avLst/>
                  <a:gdLst>
                    <a:gd name="T0" fmla="*/ 0 w 13"/>
                    <a:gd name="T1" fmla="*/ 30 h 30"/>
                    <a:gd name="T2" fmla="*/ 5 w 13"/>
                    <a:gd name="T3" fmla="*/ 30 h 30"/>
                    <a:gd name="T4" fmla="*/ 9 w 13"/>
                    <a:gd name="T5" fmla="*/ 28 h 30"/>
                    <a:gd name="T6" fmla="*/ 13 w 13"/>
                    <a:gd name="T7" fmla="*/ 28 h 30"/>
                    <a:gd name="T8" fmla="*/ 13 w 13"/>
                    <a:gd name="T9" fmla="*/ 2 h 30"/>
                    <a:gd name="T10" fmla="*/ 5 w 13"/>
                    <a:gd name="T11" fmla="*/ 0 h 30"/>
                    <a:gd name="T12" fmla="*/ 0 w 13"/>
                    <a:gd name="T13" fmla="*/ 2 h 30"/>
                    <a:gd name="T14" fmla="*/ 0 w 13"/>
                    <a:gd name="T15" fmla="*/ 4 h 30"/>
                    <a:gd name="T16" fmla="*/ 0 w 13"/>
                    <a:gd name="T1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30">
                      <a:moveTo>
                        <a:pt x="0" y="30"/>
                      </a:moveTo>
                      <a:lnTo>
                        <a:pt x="5" y="30"/>
                      </a:lnTo>
                      <a:lnTo>
                        <a:pt x="9" y="28"/>
                      </a:lnTo>
                      <a:lnTo>
                        <a:pt x="13" y="28"/>
                      </a:lnTo>
                      <a:lnTo>
                        <a:pt x="13" y="2"/>
                      </a:lnTo>
                      <a:lnTo>
                        <a:pt x="5" y="0"/>
                      </a:lnTo>
                      <a:lnTo>
                        <a:pt x="0" y="2"/>
                      </a:lnTo>
                      <a:lnTo>
                        <a:pt x="0" y="4"/>
                      </a:lnTo>
                      <a:lnTo>
                        <a:pt x="0" y="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6" name="任意多边形 181389">
                  <a:extLst>
                    <a:ext uri="{FF2B5EF4-FFF2-40B4-BE49-F238E27FC236}">
                      <a16:creationId xmlns:a16="http://schemas.microsoft.com/office/drawing/2014/main" xmlns="" id="{AE79E41E-A842-3186-BEFB-5B78684A299E}"/>
                    </a:ext>
                  </a:extLst>
                </p:cNvPr>
                <p:cNvSpPr>
                  <a:spLocks noChangeArrowheads="1"/>
                </p:cNvSpPr>
                <p:nvPr/>
              </p:nvSpPr>
              <p:spPr bwMode="auto">
                <a:xfrm>
                  <a:off x="1635" y="3288"/>
                  <a:ext cx="13" cy="31"/>
                </a:xfrm>
                <a:custGeom>
                  <a:avLst/>
                  <a:gdLst>
                    <a:gd name="T0" fmla="*/ 0 w 13"/>
                    <a:gd name="T1" fmla="*/ 31 h 31"/>
                    <a:gd name="T2" fmla="*/ 5 w 13"/>
                    <a:gd name="T3" fmla="*/ 31 h 31"/>
                    <a:gd name="T4" fmla="*/ 9 w 13"/>
                    <a:gd name="T5" fmla="*/ 28 h 31"/>
                    <a:gd name="T6" fmla="*/ 13 w 13"/>
                    <a:gd name="T7" fmla="*/ 28 h 31"/>
                    <a:gd name="T8" fmla="*/ 13 w 13"/>
                    <a:gd name="T9" fmla="*/ 3 h 31"/>
                    <a:gd name="T10" fmla="*/ 5 w 13"/>
                    <a:gd name="T11" fmla="*/ 0 h 31"/>
                    <a:gd name="T12" fmla="*/ 0 w 13"/>
                    <a:gd name="T13" fmla="*/ 3 h 31"/>
                    <a:gd name="T14" fmla="*/ 0 w 13"/>
                    <a:gd name="T15" fmla="*/ 5 h 31"/>
                    <a:gd name="T16" fmla="*/ 0 w 13"/>
                    <a:gd name="T17" fmla="*/ 3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31">
                      <a:moveTo>
                        <a:pt x="0" y="31"/>
                      </a:moveTo>
                      <a:lnTo>
                        <a:pt x="5" y="31"/>
                      </a:lnTo>
                      <a:lnTo>
                        <a:pt x="9" y="28"/>
                      </a:lnTo>
                      <a:lnTo>
                        <a:pt x="13" y="28"/>
                      </a:lnTo>
                      <a:lnTo>
                        <a:pt x="13" y="3"/>
                      </a:lnTo>
                      <a:lnTo>
                        <a:pt x="5" y="0"/>
                      </a:lnTo>
                      <a:lnTo>
                        <a:pt x="0" y="3"/>
                      </a:lnTo>
                      <a:lnTo>
                        <a:pt x="0" y="5"/>
                      </a:lnTo>
                      <a:lnTo>
                        <a:pt x="0" y="3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7" name="任意多边形 181390">
                  <a:extLst>
                    <a:ext uri="{FF2B5EF4-FFF2-40B4-BE49-F238E27FC236}">
                      <a16:creationId xmlns:a16="http://schemas.microsoft.com/office/drawing/2014/main" xmlns="" id="{E9051D44-C6FC-A691-8D0C-4BC778E1D089}"/>
                    </a:ext>
                  </a:extLst>
                </p:cNvPr>
                <p:cNvSpPr>
                  <a:spLocks noChangeArrowheads="1"/>
                </p:cNvSpPr>
                <p:nvPr/>
              </p:nvSpPr>
              <p:spPr bwMode="auto">
                <a:xfrm>
                  <a:off x="1635" y="3243"/>
                  <a:ext cx="13" cy="30"/>
                </a:xfrm>
                <a:custGeom>
                  <a:avLst/>
                  <a:gdLst>
                    <a:gd name="T0" fmla="*/ 0 w 13"/>
                    <a:gd name="T1" fmla="*/ 30 h 30"/>
                    <a:gd name="T2" fmla="*/ 5 w 13"/>
                    <a:gd name="T3" fmla="*/ 30 h 30"/>
                    <a:gd name="T4" fmla="*/ 9 w 13"/>
                    <a:gd name="T5" fmla="*/ 28 h 30"/>
                    <a:gd name="T6" fmla="*/ 13 w 13"/>
                    <a:gd name="T7" fmla="*/ 28 h 30"/>
                    <a:gd name="T8" fmla="*/ 13 w 13"/>
                    <a:gd name="T9" fmla="*/ 2 h 30"/>
                    <a:gd name="T10" fmla="*/ 5 w 13"/>
                    <a:gd name="T11" fmla="*/ 0 h 30"/>
                    <a:gd name="T12" fmla="*/ 0 w 13"/>
                    <a:gd name="T13" fmla="*/ 2 h 30"/>
                    <a:gd name="T14" fmla="*/ 0 w 13"/>
                    <a:gd name="T15" fmla="*/ 5 h 30"/>
                    <a:gd name="T16" fmla="*/ 0 w 13"/>
                    <a:gd name="T1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30">
                      <a:moveTo>
                        <a:pt x="0" y="30"/>
                      </a:moveTo>
                      <a:lnTo>
                        <a:pt x="5" y="30"/>
                      </a:lnTo>
                      <a:lnTo>
                        <a:pt x="9" y="28"/>
                      </a:lnTo>
                      <a:lnTo>
                        <a:pt x="13" y="28"/>
                      </a:lnTo>
                      <a:lnTo>
                        <a:pt x="13" y="2"/>
                      </a:lnTo>
                      <a:lnTo>
                        <a:pt x="5" y="0"/>
                      </a:lnTo>
                      <a:lnTo>
                        <a:pt x="0" y="2"/>
                      </a:lnTo>
                      <a:lnTo>
                        <a:pt x="0" y="5"/>
                      </a:lnTo>
                      <a:lnTo>
                        <a:pt x="0" y="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8" name="任意多边形 181391">
                  <a:extLst>
                    <a:ext uri="{FF2B5EF4-FFF2-40B4-BE49-F238E27FC236}">
                      <a16:creationId xmlns:a16="http://schemas.microsoft.com/office/drawing/2014/main" xmlns="" id="{E2F52B53-3500-3991-CAD7-D226880F6706}"/>
                    </a:ext>
                  </a:extLst>
                </p:cNvPr>
                <p:cNvSpPr>
                  <a:spLocks noChangeArrowheads="1"/>
                </p:cNvSpPr>
                <p:nvPr/>
              </p:nvSpPr>
              <p:spPr bwMode="auto">
                <a:xfrm>
                  <a:off x="1635" y="3198"/>
                  <a:ext cx="13" cy="30"/>
                </a:xfrm>
                <a:custGeom>
                  <a:avLst/>
                  <a:gdLst>
                    <a:gd name="T0" fmla="*/ 0 w 13"/>
                    <a:gd name="T1" fmla="*/ 30 h 30"/>
                    <a:gd name="T2" fmla="*/ 5 w 13"/>
                    <a:gd name="T3" fmla="*/ 30 h 30"/>
                    <a:gd name="T4" fmla="*/ 9 w 13"/>
                    <a:gd name="T5" fmla="*/ 28 h 30"/>
                    <a:gd name="T6" fmla="*/ 13 w 13"/>
                    <a:gd name="T7" fmla="*/ 28 h 30"/>
                    <a:gd name="T8" fmla="*/ 13 w 13"/>
                    <a:gd name="T9" fmla="*/ 2 h 30"/>
                    <a:gd name="T10" fmla="*/ 5 w 13"/>
                    <a:gd name="T11" fmla="*/ 0 h 30"/>
                    <a:gd name="T12" fmla="*/ 0 w 13"/>
                    <a:gd name="T13" fmla="*/ 2 h 30"/>
                    <a:gd name="T14" fmla="*/ 0 w 13"/>
                    <a:gd name="T15" fmla="*/ 4 h 30"/>
                    <a:gd name="T16" fmla="*/ 0 w 13"/>
                    <a:gd name="T1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30">
                      <a:moveTo>
                        <a:pt x="0" y="30"/>
                      </a:moveTo>
                      <a:lnTo>
                        <a:pt x="5" y="30"/>
                      </a:lnTo>
                      <a:lnTo>
                        <a:pt x="9" y="28"/>
                      </a:lnTo>
                      <a:lnTo>
                        <a:pt x="13" y="28"/>
                      </a:lnTo>
                      <a:lnTo>
                        <a:pt x="13" y="2"/>
                      </a:lnTo>
                      <a:lnTo>
                        <a:pt x="5" y="0"/>
                      </a:lnTo>
                      <a:lnTo>
                        <a:pt x="0" y="2"/>
                      </a:lnTo>
                      <a:lnTo>
                        <a:pt x="0" y="4"/>
                      </a:lnTo>
                      <a:lnTo>
                        <a:pt x="0" y="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9" name="任意多边形 181392">
                  <a:extLst>
                    <a:ext uri="{FF2B5EF4-FFF2-40B4-BE49-F238E27FC236}">
                      <a16:creationId xmlns:a16="http://schemas.microsoft.com/office/drawing/2014/main" xmlns="" id="{523DE0A1-A40C-1210-022B-BD763BB4C7E4}"/>
                    </a:ext>
                  </a:extLst>
                </p:cNvPr>
                <p:cNvSpPr>
                  <a:spLocks noChangeArrowheads="1"/>
                </p:cNvSpPr>
                <p:nvPr/>
              </p:nvSpPr>
              <p:spPr bwMode="auto">
                <a:xfrm>
                  <a:off x="1635" y="3153"/>
                  <a:ext cx="13" cy="30"/>
                </a:xfrm>
                <a:custGeom>
                  <a:avLst/>
                  <a:gdLst>
                    <a:gd name="T0" fmla="*/ 0 w 13"/>
                    <a:gd name="T1" fmla="*/ 30 h 30"/>
                    <a:gd name="T2" fmla="*/ 5 w 13"/>
                    <a:gd name="T3" fmla="*/ 30 h 30"/>
                    <a:gd name="T4" fmla="*/ 9 w 13"/>
                    <a:gd name="T5" fmla="*/ 28 h 30"/>
                    <a:gd name="T6" fmla="*/ 13 w 13"/>
                    <a:gd name="T7" fmla="*/ 28 h 30"/>
                    <a:gd name="T8" fmla="*/ 13 w 13"/>
                    <a:gd name="T9" fmla="*/ 2 h 30"/>
                    <a:gd name="T10" fmla="*/ 5 w 13"/>
                    <a:gd name="T11" fmla="*/ 0 h 30"/>
                    <a:gd name="T12" fmla="*/ 0 w 13"/>
                    <a:gd name="T13" fmla="*/ 2 h 30"/>
                    <a:gd name="T14" fmla="*/ 0 w 13"/>
                    <a:gd name="T15" fmla="*/ 4 h 30"/>
                    <a:gd name="T16" fmla="*/ 0 w 13"/>
                    <a:gd name="T1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30">
                      <a:moveTo>
                        <a:pt x="0" y="30"/>
                      </a:moveTo>
                      <a:lnTo>
                        <a:pt x="5" y="30"/>
                      </a:lnTo>
                      <a:lnTo>
                        <a:pt x="9" y="28"/>
                      </a:lnTo>
                      <a:lnTo>
                        <a:pt x="13" y="28"/>
                      </a:lnTo>
                      <a:lnTo>
                        <a:pt x="13" y="2"/>
                      </a:lnTo>
                      <a:lnTo>
                        <a:pt x="5" y="0"/>
                      </a:lnTo>
                      <a:lnTo>
                        <a:pt x="0" y="2"/>
                      </a:lnTo>
                      <a:lnTo>
                        <a:pt x="0" y="4"/>
                      </a:lnTo>
                      <a:lnTo>
                        <a:pt x="0" y="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0" name="任意多边形 181393">
                  <a:extLst>
                    <a:ext uri="{FF2B5EF4-FFF2-40B4-BE49-F238E27FC236}">
                      <a16:creationId xmlns:a16="http://schemas.microsoft.com/office/drawing/2014/main" xmlns="" id="{DA2D7EDD-E425-65D0-CE09-ED58B8DAE46F}"/>
                    </a:ext>
                  </a:extLst>
                </p:cNvPr>
                <p:cNvSpPr>
                  <a:spLocks noChangeArrowheads="1"/>
                </p:cNvSpPr>
                <p:nvPr/>
              </p:nvSpPr>
              <p:spPr bwMode="auto">
                <a:xfrm>
                  <a:off x="1635" y="3107"/>
                  <a:ext cx="13" cy="31"/>
                </a:xfrm>
                <a:custGeom>
                  <a:avLst/>
                  <a:gdLst>
                    <a:gd name="T0" fmla="*/ 0 w 13"/>
                    <a:gd name="T1" fmla="*/ 31 h 31"/>
                    <a:gd name="T2" fmla="*/ 5 w 13"/>
                    <a:gd name="T3" fmla="*/ 31 h 31"/>
                    <a:gd name="T4" fmla="*/ 9 w 13"/>
                    <a:gd name="T5" fmla="*/ 28 h 31"/>
                    <a:gd name="T6" fmla="*/ 13 w 13"/>
                    <a:gd name="T7" fmla="*/ 28 h 31"/>
                    <a:gd name="T8" fmla="*/ 13 w 13"/>
                    <a:gd name="T9" fmla="*/ 3 h 31"/>
                    <a:gd name="T10" fmla="*/ 5 w 13"/>
                    <a:gd name="T11" fmla="*/ 0 h 31"/>
                    <a:gd name="T12" fmla="*/ 0 w 13"/>
                    <a:gd name="T13" fmla="*/ 3 h 31"/>
                    <a:gd name="T14" fmla="*/ 0 w 13"/>
                    <a:gd name="T15" fmla="*/ 5 h 31"/>
                    <a:gd name="T16" fmla="*/ 0 w 13"/>
                    <a:gd name="T17" fmla="*/ 3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31">
                      <a:moveTo>
                        <a:pt x="0" y="31"/>
                      </a:moveTo>
                      <a:lnTo>
                        <a:pt x="5" y="31"/>
                      </a:lnTo>
                      <a:lnTo>
                        <a:pt x="9" y="28"/>
                      </a:lnTo>
                      <a:lnTo>
                        <a:pt x="13" y="28"/>
                      </a:lnTo>
                      <a:lnTo>
                        <a:pt x="13" y="3"/>
                      </a:lnTo>
                      <a:lnTo>
                        <a:pt x="5" y="0"/>
                      </a:lnTo>
                      <a:lnTo>
                        <a:pt x="0" y="3"/>
                      </a:lnTo>
                      <a:lnTo>
                        <a:pt x="0" y="5"/>
                      </a:lnTo>
                      <a:lnTo>
                        <a:pt x="0" y="3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1" name="任意多边形 181394">
                  <a:extLst>
                    <a:ext uri="{FF2B5EF4-FFF2-40B4-BE49-F238E27FC236}">
                      <a16:creationId xmlns:a16="http://schemas.microsoft.com/office/drawing/2014/main" xmlns="" id="{016CE085-B29A-A648-44CB-9832EE53BE20}"/>
                    </a:ext>
                  </a:extLst>
                </p:cNvPr>
                <p:cNvSpPr>
                  <a:spLocks noChangeArrowheads="1"/>
                </p:cNvSpPr>
                <p:nvPr/>
              </p:nvSpPr>
              <p:spPr bwMode="auto">
                <a:xfrm>
                  <a:off x="1635" y="3062"/>
                  <a:ext cx="13" cy="30"/>
                </a:xfrm>
                <a:custGeom>
                  <a:avLst/>
                  <a:gdLst>
                    <a:gd name="T0" fmla="*/ 0 w 13"/>
                    <a:gd name="T1" fmla="*/ 30 h 30"/>
                    <a:gd name="T2" fmla="*/ 5 w 13"/>
                    <a:gd name="T3" fmla="*/ 30 h 30"/>
                    <a:gd name="T4" fmla="*/ 9 w 13"/>
                    <a:gd name="T5" fmla="*/ 28 h 30"/>
                    <a:gd name="T6" fmla="*/ 13 w 13"/>
                    <a:gd name="T7" fmla="*/ 28 h 30"/>
                    <a:gd name="T8" fmla="*/ 13 w 13"/>
                    <a:gd name="T9" fmla="*/ 2 h 30"/>
                    <a:gd name="T10" fmla="*/ 5 w 13"/>
                    <a:gd name="T11" fmla="*/ 0 h 30"/>
                    <a:gd name="T12" fmla="*/ 0 w 13"/>
                    <a:gd name="T13" fmla="*/ 2 h 30"/>
                    <a:gd name="T14" fmla="*/ 0 w 13"/>
                    <a:gd name="T15" fmla="*/ 5 h 30"/>
                    <a:gd name="T16" fmla="*/ 0 w 13"/>
                    <a:gd name="T1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30">
                      <a:moveTo>
                        <a:pt x="0" y="30"/>
                      </a:moveTo>
                      <a:lnTo>
                        <a:pt x="5" y="30"/>
                      </a:lnTo>
                      <a:lnTo>
                        <a:pt x="9" y="28"/>
                      </a:lnTo>
                      <a:lnTo>
                        <a:pt x="13" y="28"/>
                      </a:lnTo>
                      <a:lnTo>
                        <a:pt x="13" y="2"/>
                      </a:lnTo>
                      <a:lnTo>
                        <a:pt x="5" y="0"/>
                      </a:lnTo>
                      <a:lnTo>
                        <a:pt x="0" y="2"/>
                      </a:lnTo>
                      <a:lnTo>
                        <a:pt x="0" y="5"/>
                      </a:lnTo>
                      <a:lnTo>
                        <a:pt x="0" y="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2" name="任意多边形 181395">
                  <a:extLst>
                    <a:ext uri="{FF2B5EF4-FFF2-40B4-BE49-F238E27FC236}">
                      <a16:creationId xmlns:a16="http://schemas.microsoft.com/office/drawing/2014/main" xmlns="" id="{0A88192B-792F-906F-6153-CEA1AF25B0A6}"/>
                    </a:ext>
                  </a:extLst>
                </p:cNvPr>
                <p:cNvSpPr>
                  <a:spLocks noChangeArrowheads="1"/>
                </p:cNvSpPr>
                <p:nvPr/>
              </p:nvSpPr>
              <p:spPr bwMode="auto">
                <a:xfrm>
                  <a:off x="1635" y="3017"/>
                  <a:ext cx="13" cy="30"/>
                </a:xfrm>
                <a:custGeom>
                  <a:avLst/>
                  <a:gdLst>
                    <a:gd name="T0" fmla="*/ 0 w 13"/>
                    <a:gd name="T1" fmla="*/ 30 h 30"/>
                    <a:gd name="T2" fmla="*/ 5 w 13"/>
                    <a:gd name="T3" fmla="*/ 30 h 30"/>
                    <a:gd name="T4" fmla="*/ 9 w 13"/>
                    <a:gd name="T5" fmla="*/ 28 h 30"/>
                    <a:gd name="T6" fmla="*/ 13 w 13"/>
                    <a:gd name="T7" fmla="*/ 28 h 30"/>
                    <a:gd name="T8" fmla="*/ 13 w 13"/>
                    <a:gd name="T9" fmla="*/ 2 h 30"/>
                    <a:gd name="T10" fmla="*/ 5 w 13"/>
                    <a:gd name="T11" fmla="*/ 0 h 30"/>
                    <a:gd name="T12" fmla="*/ 0 w 13"/>
                    <a:gd name="T13" fmla="*/ 2 h 30"/>
                    <a:gd name="T14" fmla="*/ 0 w 13"/>
                    <a:gd name="T15" fmla="*/ 4 h 30"/>
                    <a:gd name="T16" fmla="*/ 0 w 13"/>
                    <a:gd name="T1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30">
                      <a:moveTo>
                        <a:pt x="0" y="30"/>
                      </a:moveTo>
                      <a:lnTo>
                        <a:pt x="5" y="30"/>
                      </a:lnTo>
                      <a:lnTo>
                        <a:pt x="9" y="28"/>
                      </a:lnTo>
                      <a:lnTo>
                        <a:pt x="13" y="28"/>
                      </a:lnTo>
                      <a:lnTo>
                        <a:pt x="13" y="2"/>
                      </a:lnTo>
                      <a:lnTo>
                        <a:pt x="5" y="0"/>
                      </a:lnTo>
                      <a:lnTo>
                        <a:pt x="0" y="2"/>
                      </a:lnTo>
                      <a:lnTo>
                        <a:pt x="0" y="4"/>
                      </a:lnTo>
                      <a:lnTo>
                        <a:pt x="0" y="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3" name="任意多边形 181396">
                  <a:extLst>
                    <a:ext uri="{FF2B5EF4-FFF2-40B4-BE49-F238E27FC236}">
                      <a16:creationId xmlns:a16="http://schemas.microsoft.com/office/drawing/2014/main" xmlns="" id="{3B1F2C0D-74C6-9060-ACB2-0DD10889EEEB}"/>
                    </a:ext>
                  </a:extLst>
                </p:cNvPr>
                <p:cNvSpPr>
                  <a:spLocks noChangeArrowheads="1"/>
                </p:cNvSpPr>
                <p:nvPr/>
              </p:nvSpPr>
              <p:spPr bwMode="auto">
                <a:xfrm>
                  <a:off x="1635" y="2972"/>
                  <a:ext cx="13" cy="30"/>
                </a:xfrm>
                <a:custGeom>
                  <a:avLst/>
                  <a:gdLst>
                    <a:gd name="T0" fmla="*/ 0 w 13"/>
                    <a:gd name="T1" fmla="*/ 30 h 30"/>
                    <a:gd name="T2" fmla="*/ 5 w 13"/>
                    <a:gd name="T3" fmla="*/ 30 h 30"/>
                    <a:gd name="T4" fmla="*/ 9 w 13"/>
                    <a:gd name="T5" fmla="*/ 28 h 30"/>
                    <a:gd name="T6" fmla="*/ 13 w 13"/>
                    <a:gd name="T7" fmla="*/ 28 h 30"/>
                    <a:gd name="T8" fmla="*/ 13 w 13"/>
                    <a:gd name="T9" fmla="*/ 2 h 30"/>
                    <a:gd name="T10" fmla="*/ 5 w 13"/>
                    <a:gd name="T11" fmla="*/ 0 h 30"/>
                    <a:gd name="T12" fmla="*/ 0 w 13"/>
                    <a:gd name="T13" fmla="*/ 2 h 30"/>
                    <a:gd name="T14" fmla="*/ 0 w 13"/>
                    <a:gd name="T15" fmla="*/ 4 h 30"/>
                    <a:gd name="T16" fmla="*/ 0 w 13"/>
                    <a:gd name="T1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30">
                      <a:moveTo>
                        <a:pt x="0" y="30"/>
                      </a:moveTo>
                      <a:lnTo>
                        <a:pt x="5" y="30"/>
                      </a:lnTo>
                      <a:lnTo>
                        <a:pt x="9" y="28"/>
                      </a:lnTo>
                      <a:lnTo>
                        <a:pt x="13" y="28"/>
                      </a:lnTo>
                      <a:lnTo>
                        <a:pt x="13" y="2"/>
                      </a:lnTo>
                      <a:lnTo>
                        <a:pt x="5" y="0"/>
                      </a:lnTo>
                      <a:lnTo>
                        <a:pt x="0" y="2"/>
                      </a:lnTo>
                      <a:lnTo>
                        <a:pt x="0" y="4"/>
                      </a:lnTo>
                      <a:lnTo>
                        <a:pt x="0" y="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4" name="任意多边形 181397">
                  <a:extLst>
                    <a:ext uri="{FF2B5EF4-FFF2-40B4-BE49-F238E27FC236}">
                      <a16:creationId xmlns:a16="http://schemas.microsoft.com/office/drawing/2014/main" xmlns="" id="{68F35E60-5C54-772D-35AF-F8AB2E98E56E}"/>
                    </a:ext>
                  </a:extLst>
                </p:cNvPr>
                <p:cNvSpPr>
                  <a:spLocks noChangeArrowheads="1"/>
                </p:cNvSpPr>
                <p:nvPr/>
              </p:nvSpPr>
              <p:spPr bwMode="auto">
                <a:xfrm>
                  <a:off x="1635" y="2927"/>
                  <a:ext cx="13" cy="30"/>
                </a:xfrm>
                <a:custGeom>
                  <a:avLst/>
                  <a:gdLst>
                    <a:gd name="T0" fmla="*/ 0 w 13"/>
                    <a:gd name="T1" fmla="*/ 30 h 30"/>
                    <a:gd name="T2" fmla="*/ 5 w 13"/>
                    <a:gd name="T3" fmla="*/ 30 h 30"/>
                    <a:gd name="T4" fmla="*/ 9 w 13"/>
                    <a:gd name="T5" fmla="*/ 28 h 30"/>
                    <a:gd name="T6" fmla="*/ 13 w 13"/>
                    <a:gd name="T7" fmla="*/ 28 h 30"/>
                    <a:gd name="T8" fmla="*/ 13 w 13"/>
                    <a:gd name="T9" fmla="*/ 2 h 30"/>
                    <a:gd name="T10" fmla="*/ 5 w 13"/>
                    <a:gd name="T11" fmla="*/ 0 h 30"/>
                    <a:gd name="T12" fmla="*/ 0 w 13"/>
                    <a:gd name="T13" fmla="*/ 2 h 30"/>
                    <a:gd name="T14" fmla="*/ 0 w 13"/>
                    <a:gd name="T15" fmla="*/ 4 h 30"/>
                    <a:gd name="T16" fmla="*/ 0 w 13"/>
                    <a:gd name="T1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30">
                      <a:moveTo>
                        <a:pt x="0" y="30"/>
                      </a:moveTo>
                      <a:lnTo>
                        <a:pt x="5" y="30"/>
                      </a:lnTo>
                      <a:lnTo>
                        <a:pt x="9" y="28"/>
                      </a:lnTo>
                      <a:lnTo>
                        <a:pt x="13" y="28"/>
                      </a:lnTo>
                      <a:lnTo>
                        <a:pt x="13" y="2"/>
                      </a:lnTo>
                      <a:lnTo>
                        <a:pt x="5" y="0"/>
                      </a:lnTo>
                      <a:lnTo>
                        <a:pt x="0" y="2"/>
                      </a:lnTo>
                      <a:lnTo>
                        <a:pt x="0" y="4"/>
                      </a:lnTo>
                      <a:lnTo>
                        <a:pt x="0" y="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5" name="任意多边形 181398">
                  <a:extLst>
                    <a:ext uri="{FF2B5EF4-FFF2-40B4-BE49-F238E27FC236}">
                      <a16:creationId xmlns:a16="http://schemas.microsoft.com/office/drawing/2014/main" xmlns="" id="{77252B1D-8D89-3B90-8B51-0BB77F878066}"/>
                    </a:ext>
                  </a:extLst>
                </p:cNvPr>
                <p:cNvSpPr>
                  <a:spLocks noChangeArrowheads="1"/>
                </p:cNvSpPr>
                <p:nvPr/>
              </p:nvSpPr>
              <p:spPr bwMode="auto">
                <a:xfrm>
                  <a:off x="1635" y="2881"/>
                  <a:ext cx="13" cy="30"/>
                </a:xfrm>
                <a:custGeom>
                  <a:avLst/>
                  <a:gdLst>
                    <a:gd name="T0" fmla="*/ 0 w 13"/>
                    <a:gd name="T1" fmla="*/ 30 h 30"/>
                    <a:gd name="T2" fmla="*/ 5 w 13"/>
                    <a:gd name="T3" fmla="*/ 30 h 30"/>
                    <a:gd name="T4" fmla="*/ 9 w 13"/>
                    <a:gd name="T5" fmla="*/ 28 h 30"/>
                    <a:gd name="T6" fmla="*/ 13 w 13"/>
                    <a:gd name="T7" fmla="*/ 28 h 30"/>
                    <a:gd name="T8" fmla="*/ 13 w 13"/>
                    <a:gd name="T9" fmla="*/ 2 h 30"/>
                    <a:gd name="T10" fmla="*/ 5 w 13"/>
                    <a:gd name="T11" fmla="*/ 0 h 30"/>
                    <a:gd name="T12" fmla="*/ 0 w 13"/>
                    <a:gd name="T13" fmla="*/ 2 h 30"/>
                    <a:gd name="T14" fmla="*/ 0 w 13"/>
                    <a:gd name="T15" fmla="*/ 5 h 30"/>
                    <a:gd name="T16" fmla="*/ 0 w 13"/>
                    <a:gd name="T1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30">
                      <a:moveTo>
                        <a:pt x="0" y="30"/>
                      </a:moveTo>
                      <a:lnTo>
                        <a:pt x="5" y="30"/>
                      </a:lnTo>
                      <a:lnTo>
                        <a:pt x="9" y="28"/>
                      </a:lnTo>
                      <a:lnTo>
                        <a:pt x="13" y="28"/>
                      </a:lnTo>
                      <a:lnTo>
                        <a:pt x="13" y="2"/>
                      </a:lnTo>
                      <a:lnTo>
                        <a:pt x="5" y="0"/>
                      </a:lnTo>
                      <a:lnTo>
                        <a:pt x="0" y="2"/>
                      </a:lnTo>
                      <a:lnTo>
                        <a:pt x="0" y="5"/>
                      </a:lnTo>
                      <a:lnTo>
                        <a:pt x="0" y="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6" name="任意多边形 181399">
                  <a:extLst>
                    <a:ext uri="{FF2B5EF4-FFF2-40B4-BE49-F238E27FC236}">
                      <a16:creationId xmlns:a16="http://schemas.microsoft.com/office/drawing/2014/main" xmlns="" id="{1ABF4EFB-FE96-6E5E-EB4D-9D1C77AF6B0F}"/>
                    </a:ext>
                  </a:extLst>
                </p:cNvPr>
                <p:cNvSpPr>
                  <a:spLocks noChangeArrowheads="1"/>
                </p:cNvSpPr>
                <p:nvPr/>
              </p:nvSpPr>
              <p:spPr bwMode="auto">
                <a:xfrm>
                  <a:off x="1635" y="2836"/>
                  <a:ext cx="13" cy="30"/>
                </a:xfrm>
                <a:custGeom>
                  <a:avLst/>
                  <a:gdLst>
                    <a:gd name="T0" fmla="*/ 0 w 13"/>
                    <a:gd name="T1" fmla="*/ 30 h 30"/>
                    <a:gd name="T2" fmla="*/ 5 w 13"/>
                    <a:gd name="T3" fmla="*/ 30 h 30"/>
                    <a:gd name="T4" fmla="*/ 9 w 13"/>
                    <a:gd name="T5" fmla="*/ 28 h 30"/>
                    <a:gd name="T6" fmla="*/ 13 w 13"/>
                    <a:gd name="T7" fmla="*/ 28 h 30"/>
                    <a:gd name="T8" fmla="*/ 13 w 13"/>
                    <a:gd name="T9" fmla="*/ 2 h 30"/>
                    <a:gd name="T10" fmla="*/ 5 w 13"/>
                    <a:gd name="T11" fmla="*/ 0 h 30"/>
                    <a:gd name="T12" fmla="*/ 0 w 13"/>
                    <a:gd name="T13" fmla="*/ 2 h 30"/>
                    <a:gd name="T14" fmla="*/ 0 w 13"/>
                    <a:gd name="T15" fmla="*/ 4 h 30"/>
                    <a:gd name="T16" fmla="*/ 0 w 13"/>
                    <a:gd name="T1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30">
                      <a:moveTo>
                        <a:pt x="0" y="30"/>
                      </a:moveTo>
                      <a:lnTo>
                        <a:pt x="5" y="30"/>
                      </a:lnTo>
                      <a:lnTo>
                        <a:pt x="9" y="28"/>
                      </a:lnTo>
                      <a:lnTo>
                        <a:pt x="13" y="28"/>
                      </a:lnTo>
                      <a:lnTo>
                        <a:pt x="13" y="2"/>
                      </a:lnTo>
                      <a:lnTo>
                        <a:pt x="5" y="0"/>
                      </a:lnTo>
                      <a:lnTo>
                        <a:pt x="0" y="2"/>
                      </a:lnTo>
                      <a:lnTo>
                        <a:pt x="0" y="4"/>
                      </a:lnTo>
                      <a:lnTo>
                        <a:pt x="0" y="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7" name="任意多边形 181400">
                  <a:extLst>
                    <a:ext uri="{FF2B5EF4-FFF2-40B4-BE49-F238E27FC236}">
                      <a16:creationId xmlns:a16="http://schemas.microsoft.com/office/drawing/2014/main" xmlns="" id="{0EAAE1AF-808C-FD1F-E105-0CA3F044A782}"/>
                    </a:ext>
                  </a:extLst>
                </p:cNvPr>
                <p:cNvSpPr>
                  <a:spLocks noChangeArrowheads="1"/>
                </p:cNvSpPr>
                <p:nvPr/>
              </p:nvSpPr>
              <p:spPr bwMode="auto">
                <a:xfrm>
                  <a:off x="1635" y="2791"/>
                  <a:ext cx="13" cy="30"/>
                </a:xfrm>
                <a:custGeom>
                  <a:avLst/>
                  <a:gdLst>
                    <a:gd name="T0" fmla="*/ 0 w 13"/>
                    <a:gd name="T1" fmla="*/ 30 h 30"/>
                    <a:gd name="T2" fmla="*/ 5 w 13"/>
                    <a:gd name="T3" fmla="*/ 30 h 30"/>
                    <a:gd name="T4" fmla="*/ 9 w 13"/>
                    <a:gd name="T5" fmla="*/ 28 h 30"/>
                    <a:gd name="T6" fmla="*/ 13 w 13"/>
                    <a:gd name="T7" fmla="*/ 28 h 30"/>
                    <a:gd name="T8" fmla="*/ 13 w 13"/>
                    <a:gd name="T9" fmla="*/ 2 h 30"/>
                    <a:gd name="T10" fmla="*/ 5 w 13"/>
                    <a:gd name="T11" fmla="*/ 0 h 30"/>
                    <a:gd name="T12" fmla="*/ 0 w 13"/>
                    <a:gd name="T13" fmla="*/ 2 h 30"/>
                    <a:gd name="T14" fmla="*/ 0 w 13"/>
                    <a:gd name="T15" fmla="*/ 4 h 30"/>
                    <a:gd name="T16" fmla="*/ 0 w 13"/>
                    <a:gd name="T1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30">
                      <a:moveTo>
                        <a:pt x="0" y="30"/>
                      </a:moveTo>
                      <a:lnTo>
                        <a:pt x="5" y="30"/>
                      </a:lnTo>
                      <a:lnTo>
                        <a:pt x="9" y="28"/>
                      </a:lnTo>
                      <a:lnTo>
                        <a:pt x="13" y="28"/>
                      </a:lnTo>
                      <a:lnTo>
                        <a:pt x="13" y="2"/>
                      </a:lnTo>
                      <a:lnTo>
                        <a:pt x="5" y="0"/>
                      </a:lnTo>
                      <a:lnTo>
                        <a:pt x="0" y="2"/>
                      </a:lnTo>
                      <a:lnTo>
                        <a:pt x="0" y="4"/>
                      </a:lnTo>
                      <a:lnTo>
                        <a:pt x="0" y="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8" name="任意多边形 181401">
                  <a:extLst>
                    <a:ext uri="{FF2B5EF4-FFF2-40B4-BE49-F238E27FC236}">
                      <a16:creationId xmlns:a16="http://schemas.microsoft.com/office/drawing/2014/main" xmlns="" id="{1460928B-0DFC-9ACC-8CD6-7A0E4E175284}"/>
                    </a:ext>
                  </a:extLst>
                </p:cNvPr>
                <p:cNvSpPr>
                  <a:spLocks noChangeArrowheads="1"/>
                </p:cNvSpPr>
                <p:nvPr/>
              </p:nvSpPr>
              <p:spPr bwMode="auto">
                <a:xfrm>
                  <a:off x="1635" y="2746"/>
                  <a:ext cx="13" cy="30"/>
                </a:xfrm>
                <a:custGeom>
                  <a:avLst/>
                  <a:gdLst>
                    <a:gd name="T0" fmla="*/ 0 w 13"/>
                    <a:gd name="T1" fmla="*/ 30 h 30"/>
                    <a:gd name="T2" fmla="*/ 5 w 13"/>
                    <a:gd name="T3" fmla="*/ 30 h 30"/>
                    <a:gd name="T4" fmla="*/ 9 w 13"/>
                    <a:gd name="T5" fmla="*/ 28 h 30"/>
                    <a:gd name="T6" fmla="*/ 13 w 13"/>
                    <a:gd name="T7" fmla="*/ 28 h 30"/>
                    <a:gd name="T8" fmla="*/ 13 w 13"/>
                    <a:gd name="T9" fmla="*/ 2 h 30"/>
                    <a:gd name="T10" fmla="*/ 5 w 13"/>
                    <a:gd name="T11" fmla="*/ 0 h 30"/>
                    <a:gd name="T12" fmla="*/ 0 w 13"/>
                    <a:gd name="T13" fmla="*/ 2 h 30"/>
                    <a:gd name="T14" fmla="*/ 0 w 13"/>
                    <a:gd name="T15" fmla="*/ 4 h 30"/>
                    <a:gd name="T16" fmla="*/ 0 w 13"/>
                    <a:gd name="T1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30">
                      <a:moveTo>
                        <a:pt x="0" y="30"/>
                      </a:moveTo>
                      <a:lnTo>
                        <a:pt x="5" y="30"/>
                      </a:lnTo>
                      <a:lnTo>
                        <a:pt x="9" y="28"/>
                      </a:lnTo>
                      <a:lnTo>
                        <a:pt x="13" y="28"/>
                      </a:lnTo>
                      <a:lnTo>
                        <a:pt x="13" y="2"/>
                      </a:lnTo>
                      <a:lnTo>
                        <a:pt x="5" y="0"/>
                      </a:lnTo>
                      <a:lnTo>
                        <a:pt x="0" y="2"/>
                      </a:lnTo>
                      <a:lnTo>
                        <a:pt x="0" y="4"/>
                      </a:lnTo>
                      <a:lnTo>
                        <a:pt x="0" y="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9" name="任意多边形 181402">
                  <a:extLst>
                    <a:ext uri="{FF2B5EF4-FFF2-40B4-BE49-F238E27FC236}">
                      <a16:creationId xmlns:a16="http://schemas.microsoft.com/office/drawing/2014/main" xmlns="" id="{332CE411-2BCD-6393-91E4-8AA6AFC0A7DE}"/>
                    </a:ext>
                  </a:extLst>
                </p:cNvPr>
                <p:cNvSpPr>
                  <a:spLocks noChangeArrowheads="1"/>
                </p:cNvSpPr>
                <p:nvPr/>
              </p:nvSpPr>
              <p:spPr bwMode="auto">
                <a:xfrm>
                  <a:off x="1635" y="2700"/>
                  <a:ext cx="13" cy="30"/>
                </a:xfrm>
                <a:custGeom>
                  <a:avLst/>
                  <a:gdLst>
                    <a:gd name="T0" fmla="*/ 0 w 13"/>
                    <a:gd name="T1" fmla="*/ 30 h 30"/>
                    <a:gd name="T2" fmla="*/ 5 w 13"/>
                    <a:gd name="T3" fmla="*/ 30 h 30"/>
                    <a:gd name="T4" fmla="*/ 9 w 13"/>
                    <a:gd name="T5" fmla="*/ 28 h 30"/>
                    <a:gd name="T6" fmla="*/ 13 w 13"/>
                    <a:gd name="T7" fmla="*/ 28 h 30"/>
                    <a:gd name="T8" fmla="*/ 13 w 13"/>
                    <a:gd name="T9" fmla="*/ 2 h 30"/>
                    <a:gd name="T10" fmla="*/ 5 w 13"/>
                    <a:gd name="T11" fmla="*/ 0 h 30"/>
                    <a:gd name="T12" fmla="*/ 0 w 13"/>
                    <a:gd name="T13" fmla="*/ 2 h 30"/>
                    <a:gd name="T14" fmla="*/ 0 w 13"/>
                    <a:gd name="T15" fmla="*/ 5 h 30"/>
                    <a:gd name="T16" fmla="*/ 0 w 13"/>
                    <a:gd name="T1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30">
                      <a:moveTo>
                        <a:pt x="0" y="30"/>
                      </a:moveTo>
                      <a:lnTo>
                        <a:pt x="5" y="30"/>
                      </a:lnTo>
                      <a:lnTo>
                        <a:pt x="9" y="28"/>
                      </a:lnTo>
                      <a:lnTo>
                        <a:pt x="13" y="28"/>
                      </a:lnTo>
                      <a:lnTo>
                        <a:pt x="13" y="2"/>
                      </a:lnTo>
                      <a:lnTo>
                        <a:pt x="5" y="0"/>
                      </a:lnTo>
                      <a:lnTo>
                        <a:pt x="0" y="2"/>
                      </a:lnTo>
                      <a:lnTo>
                        <a:pt x="0" y="5"/>
                      </a:lnTo>
                      <a:lnTo>
                        <a:pt x="0" y="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0" name="任意多边形 181403">
                  <a:extLst>
                    <a:ext uri="{FF2B5EF4-FFF2-40B4-BE49-F238E27FC236}">
                      <a16:creationId xmlns:a16="http://schemas.microsoft.com/office/drawing/2014/main" xmlns="" id="{E68ADD77-AE9F-48B4-03DF-11C7765EE88D}"/>
                    </a:ext>
                  </a:extLst>
                </p:cNvPr>
                <p:cNvSpPr>
                  <a:spLocks noChangeArrowheads="1"/>
                </p:cNvSpPr>
                <p:nvPr/>
              </p:nvSpPr>
              <p:spPr bwMode="auto">
                <a:xfrm>
                  <a:off x="1635" y="2655"/>
                  <a:ext cx="13" cy="30"/>
                </a:xfrm>
                <a:custGeom>
                  <a:avLst/>
                  <a:gdLst>
                    <a:gd name="T0" fmla="*/ 0 w 13"/>
                    <a:gd name="T1" fmla="*/ 30 h 30"/>
                    <a:gd name="T2" fmla="*/ 5 w 13"/>
                    <a:gd name="T3" fmla="*/ 30 h 30"/>
                    <a:gd name="T4" fmla="*/ 9 w 13"/>
                    <a:gd name="T5" fmla="*/ 28 h 30"/>
                    <a:gd name="T6" fmla="*/ 13 w 13"/>
                    <a:gd name="T7" fmla="*/ 28 h 30"/>
                    <a:gd name="T8" fmla="*/ 13 w 13"/>
                    <a:gd name="T9" fmla="*/ 2 h 30"/>
                    <a:gd name="T10" fmla="*/ 5 w 13"/>
                    <a:gd name="T11" fmla="*/ 0 h 30"/>
                    <a:gd name="T12" fmla="*/ 0 w 13"/>
                    <a:gd name="T13" fmla="*/ 2 h 30"/>
                    <a:gd name="T14" fmla="*/ 0 w 13"/>
                    <a:gd name="T15" fmla="*/ 4 h 30"/>
                    <a:gd name="T16" fmla="*/ 0 w 13"/>
                    <a:gd name="T1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30">
                      <a:moveTo>
                        <a:pt x="0" y="30"/>
                      </a:moveTo>
                      <a:lnTo>
                        <a:pt x="5" y="30"/>
                      </a:lnTo>
                      <a:lnTo>
                        <a:pt x="9" y="28"/>
                      </a:lnTo>
                      <a:lnTo>
                        <a:pt x="13" y="28"/>
                      </a:lnTo>
                      <a:lnTo>
                        <a:pt x="13" y="2"/>
                      </a:lnTo>
                      <a:lnTo>
                        <a:pt x="5" y="0"/>
                      </a:lnTo>
                      <a:lnTo>
                        <a:pt x="0" y="2"/>
                      </a:lnTo>
                      <a:lnTo>
                        <a:pt x="0" y="4"/>
                      </a:lnTo>
                      <a:lnTo>
                        <a:pt x="0" y="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1" name="任意多边形 181404">
                  <a:extLst>
                    <a:ext uri="{FF2B5EF4-FFF2-40B4-BE49-F238E27FC236}">
                      <a16:creationId xmlns:a16="http://schemas.microsoft.com/office/drawing/2014/main" xmlns="" id="{997DD424-30BB-35C3-D6E8-A73D6BF840BA}"/>
                    </a:ext>
                  </a:extLst>
                </p:cNvPr>
                <p:cNvSpPr>
                  <a:spLocks noChangeArrowheads="1"/>
                </p:cNvSpPr>
                <p:nvPr/>
              </p:nvSpPr>
              <p:spPr bwMode="auto">
                <a:xfrm>
                  <a:off x="1635" y="2629"/>
                  <a:ext cx="13" cy="11"/>
                </a:xfrm>
                <a:custGeom>
                  <a:avLst/>
                  <a:gdLst>
                    <a:gd name="T0" fmla="*/ 0 w 13"/>
                    <a:gd name="T1" fmla="*/ 11 h 11"/>
                    <a:gd name="T2" fmla="*/ 5 w 13"/>
                    <a:gd name="T3" fmla="*/ 11 h 11"/>
                    <a:gd name="T4" fmla="*/ 9 w 13"/>
                    <a:gd name="T5" fmla="*/ 9 h 11"/>
                    <a:gd name="T6" fmla="*/ 13 w 13"/>
                    <a:gd name="T7" fmla="*/ 9 h 11"/>
                    <a:gd name="T8" fmla="*/ 13 w 13"/>
                    <a:gd name="T9" fmla="*/ 2 h 11"/>
                    <a:gd name="T10" fmla="*/ 5 w 13"/>
                    <a:gd name="T11" fmla="*/ 0 h 11"/>
                    <a:gd name="T12" fmla="*/ 0 w 13"/>
                    <a:gd name="T13" fmla="*/ 2 h 11"/>
                    <a:gd name="T14" fmla="*/ 0 w 13"/>
                    <a:gd name="T15" fmla="*/ 5 h 11"/>
                    <a:gd name="T16" fmla="*/ 0 w 13"/>
                    <a:gd name="T17" fmla="*/ 11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11">
                      <a:moveTo>
                        <a:pt x="0" y="11"/>
                      </a:moveTo>
                      <a:lnTo>
                        <a:pt x="5" y="11"/>
                      </a:lnTo>
                      <a:lnTo>
                        <a:pt x="9" y="9"/>
                      </a:lnTo>
                      <a:lnTo>
                        <a:pt x="13" y="9"/>
                      </a:lnTo>
                      <a:lnTo>
                        <a:pt x="13" y="2"/>
                      </a:lnTo>
                      <a:lnTo>
                        <a:pt x="5" y="0"/>
                      </a:lnTo>
                      <a:lnTo>
                        <a:pt x="0" y="2"/>
                      </a:lnTo>
                      <a:lnTo>
                        <a:pt x="0" y="5"/>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58" name="矩形 181405">
                <a:extLst>
                  <a:ext uri="{FF2B5EF4-FFF2-40B4-BE49-F238E27FC236}">
                    <a16:creationId xmlns:a16="http://schemas.microsoft.com/office/drawing/2014/main" xmlns="" id="{31166493-323B-D0D0-23C9-8FFF5EDC22FF}"/>
                  </a:ext>
                </a:extLst>
              </p:cNvPr>
              <p:cNvSpPr>
                <a:spLocks noChangeArrowheads="1"/>
              </p:cNvSpPr>
              <p:nvPr/>
            </p:nvSpPr>
            <p:spPr bwMode="auto">
              <a:xfrm>
                <a:off x="3626" y="3783"/>
                <a:ext cx="497"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59" name="矩形 181406">
                <a:extLst>
                  <a:ext uri="{FF2B5EF4-FFF2-40B4-BE49-F238E27FC236}">
                    <a16:creationId xmlns:a16="http://schemas.microsoft.com/office/drawing/2014/main" xmlns="" id="{9A887047-32BB-5B57-8C92-D047744B14DA}"/>
                  </a:ext>
                </a:extLst>
              </p:cNvPr>
              <p:cNvSpPr>
                <a:spLocks noChangeArrowheads="1"/>
              </p:cNvSpPr>
              <p:nvPr/>
            </p:nvSpPr>
            <p:spPr bwMode="auto">
              <a:xfrm>
                <a:off x="3708" y="3792"/>
                <a:ext cx="25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50000"/>
                  </a:spcBef>
                </a:pPr>
                <a:r>
                  <a:rPr lang="zh-CN" altLang="en-US" sz="1600" b="0">
                    <a:solidFill>
                      <a:srgbClr val="000000"/>
                    </a:solidFill>
                    <a:latin typeface="宋体" panose="02010600030101010101" pitchFamily="2" charset="-122"/>
                  </a:rPr>
                  <a:t>欠压</a:t>
                </a:r>
                <a:endParaRPr lang="zh-CN" altLang="en-US" sz="1600">
                  <a:solidFill>
                    <a:schemeClr val="tx1"/>
                  </a:solidFill>
                </a:endParaRPr>
              </a:p>
            </p:txBody>
          </p:sp>
          <p:sp>
            <p:nvSpPr>
              <p:cNvPr id="160" name="矩形 181407">
                <a:extLst>
                  <a:ext uri="{FF2B5EF4-FFF2-40B4-BE49-F238E27FC236}">
                    <a16:creationId xmlns:a16="http://schemas.microsoft.com/office/drawing/2014/main" xmlns="" id="{23B59012-63BA-B9A2-3B5A-8D29A042F636}"/>
                  </a:ext>
                </a:extLst>
              </p:cNvPr>
              <p:cNvSpPr>
                <a:spLocks noChangeArrowheads="1"/>
              </p:cNvSpPr>
              <p:nvPr/>
            </p:nvSpPr>
            <p:spPr bwMode="auto">
              <a:xfrm>
                <a:off x="4521" y="3783"/>
                <a:ext cx="502"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61" name="矩形 181408">
                <a:extLst>
                  <a:ext uri="{FF2B5EF4-FFF2-40B4-BE49-F238E27FC236}">
                    <a16:creationId xmlns:a16="http://schemas.microsoft.com/office/drawing/2014/main" xmlns="" id="{8554D49D-910A-5BED-655D-910743F1EE35}"/>
                  </a:ext>
                </a:extLst>
              </p:cNvPr>
              <p:cNvSpPr>
                <a:spLocks noChangeArrowheads="1"/>
              </p:cNvSpPr>
              <p:nvPr/>
            </p:nvSpPr>
            <p:spPr bwMode="auto">
              <a:xfrm>
                <a:off x="4607" y="3792"/>
                <a:ext cx="25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50000"/>
                  </a:spcBef>
                </a:pPr>
                <a:r>
                  <a:rPr lang="zh-CN" altLang="en-US" sz="1600" b="0">
                    <a:solidFill>
                      <a:srgbClr val="000000"/>
                    </a:solidFill>
                    <a:latin typeface="宋体" panose="02010600030101010101" pitchFamily="2" charset="-122"/>
                  </a:rPr>
                  <a:t>过压</a:t>
                </a:r>
                <a:endParaRPr lang="zh-CN" altLang="en-US" sz="1600">
                  <a:solidFill>
                    <a:schemeClr val="tx1"/>
                  </a:solidFill>
                </a:endParaRPr>
              </a:p>
            </p:txBody>
          </p:sp>
          <p:sp>
            <p:nvSpPr>
              <p:cNvPr id="162" name="直接连接符 181409">
                <a:extLst>
                  <a:ext uri="{FF2B5EF4-FFF2-40B4-BE49-F238E27FC236}">
                    <a16:creationId xmlns:a16="http://schemas.microsoft.com/office/drawing/2014/main" xmlns="" id="{500CB9AA-82F2-880C-BBEE-D8586CD98167}"/>
                  </a:ext>
                </a:extLst>
              </p:cNvPr>
              <p:cNvSpPr>
                <a:spLocks noChangeShapeType="1"/>
              </p:cNvSpPr>
              <p:nvPr/>
            </p:nvSpPr>
            <p:spPr bwMode="auto">
              <a:xfrm flipV="1">
                <a:off x="3476" y="2926"/>
                <a:ext cx="1" cy="83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3" name="任意多边形 181410">
                <a:extLst>
                  <a:ext uri="{FF2B5EF4-FFF2-40B4-BE49-F238E27FC236}">
                    <a16:creationId xmlns:a16="http://schemas.microsoft.com/office/drawing/2014/main" xmlns="" id="{62B3DE31-6565-1BA1-A26A-DE346AA16786}"/>
                  </a:ext>
                </a:extLst>
              </p:cNvPr>
              <p:cNvSpPr>
                <a:spLocks noChangeArrowheads="1"/>
              </p:cNvSpPr>
              <p:nvPr/>
            </p:nvSpPr>
            <p:spPr bwMode="auto">
              <a:xfrm>
                <a:off x="3459" y="2867"/>
                <a:ext cx="39" cy="72"/>
              </a:xfrm>
              <a:custGeom>
                <a:avLst/>
                <a:gdLst>
                  <a:gd name="T0" fmla="*/ 17 w 39"/>
                  <a:gd name="T1" fmla="*/ 0 h 72"/>
                  <a:gd name="T2" fmla="*/ 0 w 39"/>
                  <a:gd name="T3" fmla="*/ 72 h 72"/>
                  <a:gd name="T4" fmla="*/ 39 w 39"/>
                  <a:gd name="T5" fmla="*/ 72 h 72"/>
                  <a:gd name="T6" fmla="*/ 17 w 39"/>
                  <a:gd name="T7" fmla="*/ 0 h 72"/>
                </a:gdLst>
                <a:ahLst/>
                <a:cxnLst>
                  <a:cxn ang="0">
                    <a:pos x="T0" y="T1"/>
                  </a:cxn>
                  <a:cxn ang="0">
                    <a:pos x="T2" y="T3"/>
                  </a:cxn>
                  <a:cxn ang="0">
                    <a:pos x="T4" y="T5"/>
                  </a:cxn>
                  <a:cxn ang="0">
                    <a:pos x="T6" y="T7"/>
                  </a:cxn>
                </a:cxnLst>
                <a:rect l="0" t="0" r="r" b="b"/>
                <a:pathLst>
                  <a:path w="39" h="72">
                    <a:moveTo>
                      <a:pt x="17" y="0"/>
                    </a:moveTo>
                    <a:lnTo>
                      <a:pt x="0" y="72"/>
                    </a:lnTo>
                    <a:lnTo>
                      <a:pt x="39" y="72"/>
                    </a:lnTo>
                    <a:lnTo>
                      <a:pt x="17" y="0"/>
                    </a:lnTo>
                    <a:close/>
                  </a:path>
                </a:pathLst>
              </a:custGeom>
              <a:solidFill>
                <a:srgbClr val="000000"/>
              </a:solidFill>
              <a:ln w="6350">
                <a:solidFill>
                  <a:srgbClr val="000000"/>
                </a:solidFill>
                <a:round/>
                <a:headEnd/>
                <a:tailEnd/>
              </a:ln>
            </p:spPr>
            <p:txBody>
              <a:bodyPr/>
              <a:lstStyle/>
              <a:p>
                <a:endParaRPr lang="zh-CN" altLang="en-US"/>
              </a:p>
            </p:txBody>
          </p:sp>
          <p:sp>
            <p:nvSpPr>
              <p:cNvPr id="164" name="直接连接符 181411">
                <a:extLst>
                  <a:ext uri="{FF2B5EF4-FFF2-40B4-BE49-F238E27FC236}">
                    <a16:creationId xmlns:a16="http://schemas.microsoft.com/office/drawing/2014/main" xmlns="" id="{9E3024A0-DE2C-3E90-71F6-638B16FF18F8}"/>
                  </a:ext>
                </a:extLst>
              </p:cNvPr>
              <p:cNvSpPr>
                <a:spLocks noChangeShapeType="1"/>
              </p:cNvSpPr>
              <p:nvPr/>
            </p:nvSpPr>
            <p:spPr bwMode="auto">
              <a:xfrm flipH="1">
                <a:off x="3481" y="3764"/>
                <a:ext cx="1661"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5" name="任意多边形 181412">
                <a:extLst>
                  <a:ext uri="{FF2B5EF4-FFF2-40B4-BE49-F238E27FC236}">
                    <a16:creationId xmlns:a16="http://schemas.microsoft.com/office/drawing/2014/main" xmlns="" id="{BCE422FF-7A4B-61FE-48E1-C1F5166014AB}"/>
                  </a:ext>
                </a:extLst>
              </p:cNvPr>
              <p:cNvSpPr>
                <a:spLocks noChangeArrowheads="1"/>
              </p:cNvSpPr>
              <p:nvPr/>
            </p:nvSpPr>
            <p:spPr bwMode="auto">
              <a:xfrm>
                <a:off x="5138" y="3753"/>
                <a:ext cx="146" cy="21"/>
              </a:xfrm>
              <a:custGeom>
                <a:avLst/>
                <a:gdLst>
                  <a:gd name="T0" fmla="*/ 146 w 146"/>
                  <a:gd name="T1" fmla="*/ 11 h 21"/>
                  <a:gd name="T2" fmla="*/ 0 w 146"/>
                  <a:gd name="T3" fmla="*/ 21 h 21"/>
                  <a:gd name="T4" fmla="*/ 0 w 146"/>
                  <a:gd name="T5" fmla="*/ 0 h 21"/>
                  <a:gd name="T6" fmla="*/ 146 w 146"/>
                  <a:gd name="T7" fmla="*/ 11 h 21"/>
                </a:gdLst>
                <a:ahLst/>
                <a:cxnLst>
                  <a:cxn ang="0">
                    <a:pos x="T0" y="T1"/>
                  </a:cxn>
                  <a:cxn ang="0">
                    <a:pos x="T2" y="T3"/>
                  </a:cxn>
                  <a:cxn ang="0">
                    <a:pos x="T4" y="T5"/>
                  </a:cxn>
                  <a:cxn ang="0">
                    <a:pos x="T6" y="T7"/>
                  </a:cxn>
                </a:cxnLst>
                <a:rect l="0" t="0" r="r" b="b"/>
                <a:pathLst>
                  <a:path w="146" h="21">
                    <a:moveTo>
                      <a:pt x="146" y="11"/>
                    </a:moveTo>
                    <a:lnTo>
                      <a:pt x="0" y="21"/>
                    </a:lnTo>
                    <a:lnTo>
                      <a:pt x="0" y="0"/>
                    </a:lnTo>
                    <a:lnTo>
                      <a:pt x="146" y="11"/>
                    </a:lnTo>
                    <a:close/>
                  </a:path>
                </a:pathLst>
              </a:custGeom>
              <a:solidFill>
                <a:srgbClr val="000000"/>
              </a:solidFill>
              <a:ln w="6350">
                <a:solidFill>
                  <a:srgbClr val="000000"/>
                </a:solidFill>
                <a:round/>
                <a:headEnd/>
                <a:tailEnd/>
              </a:ln>
            </p:spPr>
            <p:txBody>
              <a:bodyPr/>
              <a:lstStyle/>
              <a:p>
                <a:endParaRPr lang="zh-CN" altLang="en-US"/>
              </a:p>
            </p:txBody>
          </p:sp>
          <p:sp>
            <p:nvSpPr>
              <p:cNvPr id="166" name="矩形 181413">
                <a:extLst>
                  <a:ext uri="{FF2B5EF4-FFF2-40B4-BE49-F238E27FC236}">
                    <a16:creationId xmlns:a16="http://schemas.microsoft.com/office/drawing/2014/main" xmlns="" id="{16E7060E-2F45-F2A9-C05C-C7C7C6DA262E}"/>
                  </a:ext>
                </a:extLst>
              </p:cNvPr>
              <p:cNvSpPr>
                <a:spLocks noChangeArrowheads="1"/>
              </p:cNvSpPr>
              <p:nvPr/>
            </p:nvSpPr>
            <p:spPr bwMode="auto">
              <a:xfrm>
                <a:off x="3305" y="3738"/>
                <a:ext cx="201"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67" name="矩形 181414">
                <a:extLst>
                  <a:ext uri="{FF2B5EF4-FFF2-40B4-BE49-F238E27FC236}">
                    <a16:creationId xmlns:a16="http://schemas.microsoft.com/office/drawing/2014/main" xmlns="" id="{B1DB6616-2226-54DA-A8FF-16A899B943A2}"/>
                  </a:ext>
                </a:extLst>
              </p:cNvPr>
              <p:cNvSpPr>
                <a:spLocks noChangeArrowheads="1"/>
              </p:cNvSpPr>
              <p:nvPr/>
            </p:nvSpPr>
            <p:spPr bwMode="auto">
              <a:xfrm>
                <a:off x="3361" y="3740"/>
                <a:ext cx="4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50000"/>
                  </a:spcBef>
                </a:pPr>
                <a:r>
                  <a:rPr lang="en-US" altLang="zh-CN" sz="1200" b="0">
                    <a:solidFill>
                      <a:srgbClr val="000000"/>
                    </a:solidFill>
                  </a:rPr>
                  <a:t>0</a:t>
                </a:r>
                <a:endParaRPr lang="en-US" altLang="zh-CN" sz="1200">
                  <a:solidFill>
                    <a:schemeClr val="tx1"/>
                  </a:solidFill>
                </a:endParaRPr>
              </a:p>
            </p:txBody>
          </p:sp>
          <p:sp>
            <p:nvSpPr>
              <p:cNvPr id="168" name="矩形 181415">
                <a:extLst>
                  <a:ext uri="{FF2B5EF4-FFF2-40B4-BE49-F238E27FC236}">
                    <a16:creationId xmlns:a16="http://schemas.microsoft.com/office/drawing/2014/main" xmlns="" id="{F53BD533-65AA-D05A-EBD9-79F08BF216B4}"/>
                  </a:ext>
                </a:extLst>
              </p:cNvPr>
              <p:cNvSpPr>
                <a:spLocks noChangeArrowheads="1"/>
              </p:cNvSpPr>
              <p:nvPr/>
            </p:nvSpPr>
            <p:spPr bwMode="auto">
              <a:xfrm>
                <a:off x="4166" y="3770"/>
                <a:ext cx="274"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69" name="矩形 181416">
                <a:extLst>
                  <a:ext uri="{FF2B5EF4-FFF2-40B4-BE49-F238E27FC236}">
                    <a16:creationId xmlns:a16="http://schemas.microsoft.com/office/drawing/2014/main" xmlns="" id="{4ABC629D-E024-4155-D97A-A3C3CF69D2C8}"/>
                  </a:ext>
                </a:extLst>
              </p:cNvPr>
              <p:cNvSpPr>
                <a:spLocks noChangeArrowheads="1"/>
              </p:cNvSpPr>
              <p:nvPr/>
            </p:nvSpPr>
            <p:spPr bwMode="auto">
              <a:xfrm>
                <a:off x="4222" y="3779"/>
                <a:ext cx="128"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50000"/>
                  </a:spcBef>
                </a:pPr>
                <a:r>
                  <a:rPr lang="zh-CN" altLang="en-US" sz="1600" b="0">
                    <a:solidFill>
                      <a:srgbClr val="000000"/>
                    </a:solidFill>
                    <a:latin typeface="宋体" panose="02010600030101010101" pitchFamily="2" charset="-122"/>
                  </a:rPr>
                  <a:t>临</a:t>
                </a:r>
                <a:endParaRPr lang="zh-CN" altLang="en-US" sz="1600">
                  <a:solidFill>
                    <a:schemeClr val="tx1"/>
                  </a:solidFill>
                </a:endParaRPr>
              </a:p>
            </p:txBody>
          </p:sp>
          <p:sp>
            <p:nvSpPr>
              <p:cNvPr id="170" name="矩形 181417">
                <a:extLst>
                  <a:ext uri="{FF2B5EF4-FFF2-40B4-BE49-F238E27FC236}">
                    <a16:creationId xmlns:a16="http://schemas.microsoft.com/office/drawing/2014/main" xmlns="" id="{30BDEBD8-9BD1-B41C-18F7-7C8950B47C7D}"/>
                  </a:ext>
                </a:extLst>
              </p:cNvPr>
              <p:cNvSpPr>
                <a:spLocks noChangeArrowheads="1"/>
              </p:cNvSpPr>
              <p:nvPr/>
            </p:nvSpPr>
            <p:spPr bwMode="auto">
              <a:xfrm>
                <a:off x="4217" y="3914"/>
                <a:ext cx="128"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50000"/>
                  </a:spcBef>
                </a:pPr>
                <a:r>
                  <a:rPr lang="zh-CN" altLang="en-US" sz="1600" b="0">
                    <a:solidFill>
                      <a:srgbClr val="000000"/>
                    </a:solidFill>
                    <a:latin typeface="宋体" panose="02010600030101010101" pitchFamily="2" charset="-122"/>
                  </a:rPr>
                  <a:t>界</a:t>
                </a:r>
                <a:endParaRPr lang="zh-CN" altLang="en-US" sz="1600">
                  <a:solidFill>
                    <a:schemeClr val="tx1"/>
                  </a:solidFill>
                </a:endParaRPr>
              </a:p>
            </p:txBody>
          </p:sp>
          <p:sp>
            <p:nvSpPr>
              <p:cNvPr id="171" name="矩形 181418">
                <a:extLst>
                  <a:ext uri="{FF2B5EF4-FFF2-40B4-BE49-F238E27FC236}">
                    <a16:creationId xmlns:a16="http://schemas.microsoft.com/office/drawing/2014/main" xmlns="" id="{9292BB42-7ACA-A47B-4B71-9FB1D0C8900B}"/>
                  </a:ext>
                </a:extLst>
              </p:cNvPr>
              <p:cNvSpPr>
                <a:spLocks noChangeArrowheads="1"/>
              </p:cNvSpPr>
              <p:nvPr/>
            </p:nvSpPr>
            <p:spPr bwMode="auto">
              <a:xfrm>
                <a:off x="5078" y="3783"/>
                <a:ext cx="257"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nvGrpSpPr>
              <p:cNvPr id="172" name="组合 181419">
                <a:extLst>
                  <a:ext uri="{FF2B5EF4-FFF2-40B4-BE49-F238E27FC236}">
                    <a16:creationId xmlns:a16="http://schemas.microsoft.com/office/drawing/2014/main" xmlns="" id="{637BEBC1-0E62-4E9A-2D91-6A5014DAEBA9}"/>
                  </a:ext>
                </a:extLst>
              </p:cNvPr>
              <p:cNvGrpSpPr>
                <a:grpSpLocks/>
              </p:cNvGrpSpPr>
              <p:nvPr/>
            </p:nvGrpSpPr>
            <p:grpSpPr bwMode="auto">
              <a:xfrm>
                <a:off x="5121" y="3783"/>
                <a:ext cx="230" cy="207"/>
                <a:chOff x="2449" y="3381"/>
                <a:chExt cx="230" cy="207"/>
              </a:xfrm>
            </p:grpSpPr>
            <p:sp>
              <p:nvSpPr>
                <p:cNvPr id="173" name="矩形 181420">
                  <a:extLst>
                    <a:ext uri="{FF2B5EF4-FFF2-40B4-BE49-F238E27FC236}">
                      <a16:creationId xmlns:a16="http://schemas.microsoft.com/office/drawing/2014/main" xmlns="" id="{1A988BFC-05A8-5F38-0956-7D4E263D7A50}"/>
                    </a:ext>
                  </a:extLst>
                </p:cNvPr>
                <p:cNvSpPr>
                  <a:spLocks noChangeArrowheads="1"/>
                </p:cNvSpPr>
                <p:nvPr/>
              </p:nvSpPr>
              <p:spPr bwMode="auto">
                <a:xfrm>
                  <a:off x="2449" y="3381"/>
                  <a:ext cx="88"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50000"/>
                    </a:spcBef>
                  </a:pPr>
                  <a:r>
                    <a:rPr lang="en-US" altLang="zh-CN" sz="1800" b="0" i="1">
                      <a:solidFill>
                        <a:srgbClr val="000000"/>
                      </a:solidFill>
                    </a:rPr>
                    <a:t>V</a:t>
                  </a:r>
                  <a:endParaRPr lang="en-US" altLang="zh-CN" sz="1800" i="1">
                    <a:solidFill>
                      <a:schemeClr val="tx1"/>
                    </a:solidFill>
                  </a:endParaRPr>
                </a:p>
              </p:txBody>
            </p:sp>
            <p:sp>
              <p:nvSpPr>
                <p:cNvPr id="174" name="矩形 181421">
                  <a:extLst>
                    <a:ext uri="{FF2B5EF4-FFF2-40B4-BE49-F238E27FC236}">
                      <a16:creationId xmlns:a16="http://schemas.microsoft.com/office/drawing/2014/main" xmlns="" id="{BBA921D4-20EC-1671-69F2-AD53D19F83F5}"/>
                    </a:ext>
                  </a:extLst>
                </p:cNvPr>
                <p:cNvSpPr>
                  <a:spLocks noChangeArrowheads="1"/>
                </p:cNvSpPr>
                <p:nvPr/>
              </p:nvSpPr>
              <p:spPr bwMode="auto">
                <a:xfrm>
                  <a:off x="2556" y="3473"/>
                  <a:ext cx="12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50000"/>
                    </a:spcBef>
                  </a:pPr>
                  <a:r>
                    <a:rPr lang="en-US" altLang="zh-CN" sz="1200" b="0">
                      <a:solidFill>
                        <a:srgbClr val="000000"/>
                      </a:solidFill>
                    </a:rPr>
                    <a:t>bm</a:t>
                  </a:r>
                  <a:endParaRPr lang="en-US" altLang="zh-CN" sz="1200">
                    <a:solidFill>
                      <a:schemeClr val="tx1"/>
                    </a:solidFill>
                  </a:endParaRPr>
                </a:p>
              </p:txBody>
            </p:sp>
          </p:grpSp>
        </p:grpSp>
      </p:grpSp>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127</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4.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谐振</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功率</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放大器</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矩形 181313">
            <a:extLst>
              <a:ext uri="{FF2B5EF4-FFF2-40B4-BE49-F238E27FC236}">
                <a16:creationId xmlns:a16="http://schemas.microsoft.com/office/drawing/2014/main" xmlns="" id="{1547DA78-5DD7-7A2B-7233-951E4DE176C2}"/>
              </a:ext>
            </a:extLst>
          </p:cNvPr>
          <p:cNvSpPr>
            <a:spLocks noChangeArrowheads="1"/>
          </p:cNvSpPr>
          <p:nvPr/>
        </p:nvSpPr>
        <p:spPr bwMode="auto">
          <a:xfrm>
            <a:off x="314325" y="1270298"/>
            <a:ext cx="480536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p>
            <a:pPr>
              <a:spcBef>
                <a:spcPct val="50000"/>
              </a:spcBef>
            </a:pPr>
            <a:r>
              <a:rPr lang="en-US" altLang="zh-CN" sz="2400" dirty="0">
                <a:solidFill>
                  <a:schemeClr val="tx1"/>
                </a:solidFill>
                <a:latin typeface="+mn-ea"/>
                <a:ea typeface="+mn-ea"/>
              </a:rPr>
              <a:t>3.</a:t>
            </a:r>
            <a:r>
              <a:rPr lang="zh-CN" altLang="en-US" sz="2400" dirty="0">
                <a:solidFill>
                  <a:schemeClr val="tx1"/>
                </a:solidFill>
                <a:latin typeface="+mn-ea"/>
                <a:ea typeface="+mn-ea"/>
              </a:rPr>
              <a:t>改变</a:t>
            </a:r>
            <a:r>
              <a:rPr lang="zh-CN" altLang="en-US" sz="2400" i="1" dirty="0">
                <a:solidFill>
                  <a:schemeClr val="tx1"/>
                </a:solidFill>
                <a:latin typeface="+mn-ea"/>
                <a:ea typeface="+mn-ea"/>
              </a:rPr>
              <a:t>Ｖ</a:t>
            </a:r>
            <a:r>
              <a:rPr lang="en-US" altLang="zh-CN" sz="2400" baseline="-25000" dirty="0">
                <a:solidFill>
                  <a:schemeClr val="tx1"/>
                </a:solidFill>
                <a:latin typeface="+mn-ea"/>
                <a:ea typeface="+mn-ea"/>
              </a:rPr>
              <a:t>bm</a:t>
            </a:r>
            <a:r>
              <a:rPr lang="zh-CN" altLang="en-US" sz="2400" dirty="0">
                <a:solidFill>
                  <a:schemeClr val="tx1"/>
                </a:solidFill>
                <a:latin typeface="+mn-ea"/>
                <a:ea typeface="+mn-ea"/>
              </a:rPr>
              <a:t>对工作状态的影响</a:t>
            </a:r>
          </a:p>
        </p:txBody>
      </p:sp>
      <p:sp>
        <p:nvSpPr>
          <p:cNvPr id="6" name="矩形 5">
            <a:extLst>
              <a:ext uri="{FF2B5EF4-FFF2-40B4-BE49-F238E27FC236}">
                <a16:creationId xmlns:a16="http://schemas.microsoft.com/office/drawing/2014/main" xmlns="" id="{6126C697-C2AB-D624-2EF5-05BDFAFC35B7}"/>
              </a:ext>
            </a:extLst>
          </p:cNvPr>
          <p:cNvSpPr>
            <a:spLocks noChangeArrowheads="1"/>
          </p:cNvSpPr>
          <p:nvPr/>
        </p:nvSpPr>
        <p:spPr bwMode="auto">
          <a:xfrm>
            <a:off x="4030469" y="2951163"/>
            <a:ext cx="4876800" cy="2819400"/>
          </a:xfrm>
          <a:prstGeom prst="rect">
            <a:avLst/>
          </a:prstGeom>
          <a:solidFill>
            <a:srgbClr val="00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nvGrpSpPr>
          <p:cNvPr id="7" name="组合 6">
            <a:extLst>
              <a:ext uri="{FF2B5EF4-FFF2-40B4-BE49-F238E27FC236}">
                <a16:creationId xmlns:a16="http://schemas.microsoft.com/office/drawing/2014/main" xmlns="" id="{83BC7411-495D-0C61-5958-6E227CC8CB98}"/>
              </a:ext>
            </a:extLst>
          </p:cNvPr>
          <p:cNvGrpSpPr>
            <a:grpSpLocks/>
          </p:cNvGrpSpPr>
          <p:nvPr/>
        </p:nvGrpSpPr>
        <p:grpSpPr bwMode="auto">
          <a:xfrm>
            <a:off x="5872162" y="3246438"/>
            <a:ext cx="2524125" cy="2209800"/>
            <a:chOff x="3792" y="528"/>
            <a:chExt cx="1590" cy="1392"/>
          </a:xfrm>
        </p:grpSpPr>
        <p:sp>
          <p:nvSpPr>
            <p:cNvPr id="8" name="直接连接符 181253">
              <a:extLst>
                <a:ext uri="{FF2B5EF4-FFF2-40B4-BE49-F238E27FC236}">
                  <a16:creationId xmlns:a16="http://schemas.microsoft.com/office/drawing/2014/main" xmlns="" id="{7955D22E-4387-8D1C-F9BE-15F5D465CFD2}"/>
                </a:ext>
              </a:extLst>
            </p:cNvPr>
            <p:cNvSpPr>
              <a:spLocks noChangeShapeType="1"/>
            </p:cNvSpPr>
            <p:nvPr/>
          </p:nvSpPr>
          <p:spPr bwMode="auto">
            <a:xfrm flipV="1">
              <a:off x="3792" y="576"/>
              <a:ext cx="0" cy="134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 name="直接连接符 181254">
              <a:extLst>
                <a:ext uri="{FF2B5EF4-FFF2-40B4-BE49-F238E27FC236}">
                  <a16:creationId xmlns:a16="http://schemas.microsoft.com/office/drawing/2014/main" xmlns="" id="{55404DD3-C43B-F4F2-5233-BCF7F324ACFD}"/>
                </a:ext>
              </a:extLst>
            </p:cNvPr>
            <p:cNvSpPr>
              <a:spLocks noChangeShapeType="1"/>
            </p:cNvSpPr>
            <p:nvPr/>
          </p:nvSpPr>
          <p:spPr bwMode="auto">
            <a:xfrm>
              <a:off x="3792" y="1872"/>
              <a:ext cx="148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 name="文本框 181255">
              <a:extLst>
                <a:ext uri="{FF2B5EF4-FFF2-40B4-BE49-F238E27FC236}">
                  <a16:creationId xmlns:a16="http://schemas.microsoft.com/office/drawing/2014/main" xmlns="" id="{1B2CE64C-54BF-347E-C180-0B30ACCA07BA}"/>
                </a:ext>
              </a:extLst>
            </p:cNvPr>
            <p:cNvSpPr txBox="1">
              <a:spLocks noChangeArrowheads="1"/>
            </p:cNvSpPr>
            <p:nvPr/>
          </p:nvSpPr>
          <p:spPr bwMode="auto">
            <a:xfrm>
              <a:off x="5088" y="1632"/>
              <a:ext cx="29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i="1">
                  <a:solidFill>
                    <a:schemeClr val="tx1"/>
                  </a:solidFill>
                  <a:latin typeface="Bookman Old Style" panose="02050604050505020204" pitchFamily="18" charset="0"/>
                </a:rPr>
                <a:t>v</a:t>
              </a:r>
              <a:r>
                <a:rPr lang="en-US" altLang="zh-CN" sz="2000" baseline="-25000">
                  <a:solidFill>
                    <a:schemeClr val="tx1"/>
                  </a:solidFill>
                </a:rPr>
                <a:t>ce</a:t>
              </a:r>
              <a:endParaRPr lang="en-US" altLang="zh-CN" sz="2000">
                <a:solidFill>
                  <a:schemeClr val="tx1"/>
                </a:solidFill>
              </a:endParaRPr>
            </a:p>
          </p:txBody>
        </p:sp>
        <p:sp>
          <p:nvSpPr>
            <p:cNvPr id="11" name="文本框 181256">
              <a:extLst>
                <a:ext uri="{FF2B5EF4-FFF2-40B4-BE49-F238E27FC236}">
                  <a16:creationId xmlns:a16="http://schemas.microsoft.com/office/drawing/2014/main" xmlns="" id="{F9A7A046-2FA9-19C5-1A23-88A96B820487}"/>
                </a:ext>
              </a:extLst>
            </p:cNvPr>
            <p:cNvSpPr txBox="1">
              <a:spLocks noChangeArrowheads="1"/>
            </p:cNvSpPr>
            <p:nvPr/>
          </p:nvSpPr>
          <p:spPr bwMode="auto">
            <a:xfrm>
              <a:off x="3840" y="528"/>
              <a:ext cx="22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800" i="1">
                  <a:solidFill>
                    <a:schemeClr val="tx1"/>
                  </a:solidFill>
                </a:rPr>
                <a:t>i</a:t>
              </a:r>
              <a:r>
                <a:rPr lang="en-US" altLang="zh-CN" sz="1800" baseline="-25000">
                  <a:solidFill>
                    <a:schemeClr val="tx1"/>
                  </a:solidFill>
                </a:rPr>
                <a:t>C</a:t>
              </a:r>
              <a:endParaRPr lang="en-US" altLang="zh-CN" sz="1800">
                <a:solidFill>
                  <a:schemeClr val="tx1"/>
                </a:solidFill>
              </a:endParaRPr>
            </a:p>
          </p:txBody>
        </p:sp>
      </p:grpSp>
      <p:sp>
        <p:nvSpPr>
          <p:cNvPr id="12" name="直接连接符 11">
            <a:extLst>
              <a:ext uri="{FF2B5EF4-FFF2-40B4-BE49-F238E27FC236}">
                <a16:creationId xmlns:a16="http://schemas.microsoft.com/office/drawing/2014/main" xmlns="" id="{EA1CA60A-930F-62D9-905A-B6F91348C677}"/>
              </a:ext>
            </a:extLst>
          </p:cNvPr>
          <p:cNvSpPr>
            <a:spLocks noChangeShapeType="1"/>
          </p:cNvSpPr>
          <p:nvPr/>
        </p:nvSpPr>
        <p:spPr bwMode="auto">
          <a:xfrm flipV="1">
            <a:off x="5872162" y="3246438"/>
            <a:ext cx="838200" cy="2133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 name="组合 12">
            <a:extLst>
              <a:ext uri="{FF2B5EF4-FFF2-40B4-BE49-F238E27FC236}">
                <a16:creationId xmlns:a16="http://schemas.microsoft.com/office/drawing/2014/main" xmlns="" id="{74A2BEDE-5407-A4CE-7902-014D4A9B7559}"/>
              </a:ext>
            </a:extLst>
          </p:cNvPr>
          <p:cNvGrpSpPr>
            <a:grpSpLocks/>
          </p:cNvGrpSpPr>
          <p:nvPr/>
        </p:nvGrpSpPr>
        <p:grpSpPr bwMode="auto">
          <a:xfrm>
            <a:off x="6405562" y="3413126"/>
            <a:ext cx="2362200" cy="484187"/>
            <a:chOff x="5532" y="633"/>
            <a:chExt cx="1428" cy="305"/>
          </a:xfrm>
        </p:grpSpPr>
        <p:sp>
          <p:nvSpPr>
            <p:cNvPr id="14" name="直接连接符 181259">
              <a:extLst>
                <a:ext uri="{FF2B5EF4-FFF2-40B4-BE49-F238E27FC236}">
                  <a16:creationId xmlns:a16="http://schemas.microsoft.com/office/drawing/2014/main" xmlns="" id="{D2B3296D-5255-0A45-B2C2-BFE58C84F49D}"/>
                </a:ext>
              </a:extLst>
            </p:cNvPr>
            <p:cNvSpPr>
              <a:spLocks noChangeShapeType="1"/>
            </p:cNvSpPr>
            <p:nvPr/>
          </p:nvSpPr>
          <p:spPr bwMode="auto">
            <a:xfrm flipV="1">
              <a:off x="5532" y="698"/>
              <a:ext cx="1056"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 name="文本框 181260">
              <a:extLst>
                <a:ext uri="{FF2B5EF4-FFF2-40B4-BE49-F238E27FC236}">
                  <a16:creationId xmlns:a16="http://schemas.microsoft.com/office/drawing/2014/main" xmlns="" id="{D284A148-54EF-7D01-0822-5ED7C81C2846}"/>
                </a:ext>
              </a:extLst>
            </p:cNvPr>
            <p:cNvSpPr txBox="1">
              <a:spLocks noChangeArrowheads="1"/>
            </p:cNvSpPr>
            <p:nvPr/>
          </p:nvSpPr>
          <p:spPr bwMode="auto">
            <a:xfrm>
              <a:off x="6470" y="633"/>
              <a:ext cx="49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800" i="1">
                  <a:solidFill>
                    <a:schemeClr val="tx1"/>
                  </a:solidFill>
                  <a:latin typeface="Bookman Old Style" panose="02050604050505020204" pitchFamily="18" charset="0"/>
                </a:rPr>
                <a:t>v</a:t>
              </a:r>
              <a:r>
                <a:rPr lang="en-US" altLang="zh-CN" sz="1600" baseline="-25000">
                  <a:solidFill>
                    <a:schemeClr val="tx1"/>
                  </a:solidFill>
                </a:rPr>
                <a:t>bemax1</a:t>
              </a:r>
              <a:endParaRPr lang="en-US" altLang="zh-CN" sz="1600">
                <a:solidFill>
                  <a:schemeClr val="tx1"/>
                </a:solidFill>
              </a:endParaRPr>
            </a:p>
          </p:txBody>
        </p:sp>
      </p:grpSp>
      <p:grpSp>
        <p:nvGrpSpPr>
          <p:cNvPr id="16" name="组合 15">
            <a:extLst>
              <a:ext uri="{FF2B5EF4-FFF2-40B4-BE49-F238E27FC236}">
                <a16:creationId xmlns:a16="http://schemas.microsoft.com/office/drawing/2014/main" xmlns="" id="{A1316287-CCB2-5E05-9C88-F5FE9A3E64DA}"/>
              </a:ext>
            </a:extLst>
          </p:cNvPr>
          <p:cNvGrpSpPr>
            <a:grpSpLocks/>
          </p:cNvGrpSpPr>
          <p:nvPr/>
        </p:nvGrpSpPr>
        <p:grpSpPr bwMode="auto">
          <a:xfrm>
            <a:off x="6289675" y="3779838"/>
            <a:ext cx="2478087" cy="495300"/>
            <a:chOff x="4055" y="864"/>
            <a:chExt cx="1475" cy="312"/>
          </a:xfrm>
        </p:grpSpPr>
        <p:sp>
          <p:nvSpPr>
            <p:cNvPr id="17" name="直接连接符 181262">
              <a:extLst>
                <a:ext uri="{FF2B5EF4-FFF2-40B4-BE49-F238E27FC236}">
                  <a16:creationId xmlns:a16="http://schemas.microsoft.com/office/drawing/2014/main" xmlns="" id="{4C732CB7-3AC9-A60C-7E25-B3C5A21AC9D9}"/>
                </a:ext>
              </a:extLst>
            </p:cNvPr>
            <p:cNvSpPr>
              <a:spLocks noChangeShapeType="1"/>
            </p:cNvSpPr>
            <p:nvPr/>
          </p:nvSpPr>
          <p:spPr bwMode="auto">
            <a:xfrm flipV="1">
              <a:off x="4055" y="936"/>
              <a:ext cx="1081"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 name="文本框 181263">
              <a:extLst>
                <a:ext uri="{FF2B5EF4-FFF2-40B4-BE49-F238E27FC236}">
                  <a16:creationId xmlns:a16="http://schemas.microsoft.com/office/drawing/2014/main" xmlns="" id="{38DC1216-FF0D-4538-77BC-88237DC7E869}"/>
                </a:ext>
              </a:extLst>
            </p:cNvPr>
            <p:cNvSpPr txBox="1">
              <a:spLocks noChangeArrowheads="1"/>
            </p:cNvSpPr>
            <p:nvPr/>
          </p:nvSpPr>
          <p:spPr bwMode="auto">
            <a:xfrm>
              <a:off x="5040" y="864"/>
              <a:ext cx="49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800" i="1">
                  <a:solidFill>
                    <a:schemeClr val="tx1"/>
                  </a:solidFill>
                  <a:latin typeface="Bookman Old Style" panose="02050604050505020204" pitchFamily="18" charset="0"/>
                </a:rPr>
                <a:t>v</a:t>
              </a:r>
              <a:r>
                <a:rPr lang="en-US" altLang="zh-CN" sz="1800" baseline="-25000">
                  <a:solidFill>
                    <a:schemeClr val="tx1"/>
                  </a:solidFill>
                </a:rPr>
                <a:t>bemax2</a:t>
              </a:r>
              <a:endParaRPr lang="en-US" altLang="zh-CN" sz="1800">
                <a:solidFill>
                  <a:schemeClr val="tx1"/>
                </a:solidFill>
              </a:endParaRPr>
            </a:p>
          </p:txBody>
        </p:sp>
      </p:grpSp>
      <p:grpSp>
        <p:nvGrpSpPr>
          <p:cNvPr id="19" name="组合 18">
            <a:extLst>
              <a:ext uri="{FF2B5EF4-FFF2-40B4-BE49-F238E27FC236}">
                <a16:creationId xmlns:a16="http://schemas.microsoft.com/office/drawing/2014/main" xmlns="" id="{E2491470-784E-5ABC-339F-A29D8B99F78F}"/>
              </a:ext>
            </a:extLst>
          </p:cNvPr>
          <p:cNvGrpSpPr>
            <a:grpSpLocks/>
          </p:cNvGrpSpPr>
          <p:nvPr/>
        </p:nvGrpSpPr>
        <p:grpSpPr bwMode="auto">
          <a:xfrm>
            <a:off x="6024562" y="3398838"/>
            <a:ext cx="2017713" cy="2441575"/>
            <a:chOff x="3792" y="720"/>
            <a:chExt cx="1303" cy="1490"/>
          </a:xfrm>
        </p:grpSpPr>
        <p:sp>
          <p:nvSpPr>
            <p:cNvPr id="20" name="直接连接符 181265">
              <a:extLst>
                <a:ext uri="{FF2B5EF4-FFF2-40B4-BE49-F238E27FC236}">
                  <a16:creationId xmlns:a16="http://schemas.microsoft.com/office/drawing/2014/main" xmlns="" id="{E5F894B3-340F-F265-0879-3FD3A4706430}"/>
                </a:ext>
              </a:extLst>
            </p:cNvPr>
            <p:cNvSpPr>
              <a:spLocks noChangeShapeType="1"/>
            </p:cNvSpPr>
            <p:nvPr/>
          </p:nvSpPr>
          <p:spPr bwMode="auto">
            <a:xfrm>
              <a:off x="3792" y="720"/>
              <a:ext cx="1104" cy="13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 name="直接连接符 181266">
              <a:extLst>
                <a:ext uri="{FF2B5EF4-FFF2-40B4-BE49-F238E27FC236}">
                  <a16:creationId xmlns:a16="http://schemas.microsoft.com/office/drawing/2014/main" xmlns="" id="{1D81CB53-619A-74CB-BB0B-0035C92DA685}"/>
                </a:ext>
              </a:extLst>
            </p:cNvPr>
            <p:cNvSpPr>
              <a:spLocks noChangeShapeType="1"/>
            </p:cNvSpPr>
            <p:nvPr/>
          </p:nvSpPr>
          <p:spPr bwMode="auto">
            <a:xfrm>
              <a:off x="4896" y="1776"/>
              <a:ext cx="0" cy="384"/>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 name="文本框 181267">
              <a:extLst>
                <a:ext uri="{FF2B5EF4-FFF2-40B4-BE49-F238E27FC236}">
                  <a16:creationId xmlns:a16="http://schemas.microsoft.com/office/drawing/2014/main" xmlns="" id="{B9648CE2-E993-EAEE-93FB-4AAD3CF2674B}"/>
                </a:ext>
              </a:extLst>
            </p:cNvPr>
            <p:cNvSpPr txBox="1">
              <a:spLocks noChangeArrowheads="1"/>
            </p:cNvSpPr>
            <p:nvPr/>
          </p:nvSpPr>
          <p:spPr bwMode="auto">
            <a:xfrm>
              <a:off x="4800" y="1968"/>
              <a:ext cx="295"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i="1">
                  <a:solidFill>
                    <a:schemeClr val="tx1"/>
                  </a:solidFill>
                </a:rPr>
                <a:t>•Q</a:t>
              </a:r>
            </a:p>
          </p:txBody>
        </p:sp>
        <p:sp>
          <p:nvSpPr>
            <p:cNvPr id="23" name="文本框 181268">
              <a:extLst>
                <a:ext uri="{FF2B5EF4-FFF2-40B4-BE49-F238E27FC236}">
                  <a16:creationId xmlns:a16="http://schemas.microsoft.com/office/drawing/2014/main" xmlns="" id="{6489295F-0BE2-F570-82CC-2764C67FDA37}"/>
                </a:ext>
              </a:extLst>
            </p:cNvPr>
            <p:cNvSpPr txBox="1">
              <a:spLocks noChangeArrowheads="1"/>
            </p:cNvSpPr>
            <p:nvPr/>
          </p:nvSpPr>
          <p:spPr bwMode="auto">
            <a:xfrm>
              <a:off x="4705" y="1632"/>
              <a:ext cx="349"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800" i="1">
                  <a:solidFill>
                    <a:schemeClr val="tx1"/>
                  </a:solidFill>
                </a:rPr>
                <a:t>V</a:t>
              </a:r>
              <a:r>
                <a:rPr lang="en-US" altLang="zh-CN" sz="1800" i="1" baseline="-25000">
                  <a:solidFill>
                    <a:schemeClr val="tx1"/>
                  </a:solidFill>
                </a:rPr>
                <a:t>CC</a:t>
              </a:r>
              <a:endParaRPr lang="en-US" altLang="zh-CN" sz="1800" i="1">
                <a:solidFill>
                  <a:schemeClr val="tx1"/>
                </a:solidFill>
              </a:endParaRPr>
            </a:p>
          </p:txBody>
        </p:sp>
      </p:grpSp>
      <p:sp>
        <p:nvSpPr>
          <p:cNvPr id="24" name="任意多边形 181269">
            <a:extLst>
              <a:ext uri="{FF2B5EF4-FFF2-40B4-BE49-F238E27FC236}">
                <a16:creationId xmlns:a16="http://schemas.microsoft.com/office/drawing/2014/main" xmlns="" id="{78E008D3-C64F-069C-9CC1-3E7B4C59F44D}"/>
              </a:ext>
            </a:extLst>
          </p:cNvPr>
          <p:cNvSpPr>
            <a:spLocks noChangeArrowheads="1"/>
          </p:cNvSpPr>
          <p:nvPr/>
        </p:nvSpPr>
        <p:spPr bwMode="auto">
          <a:xfrm>
            <a:off x="4424362" y="3894138"/>
            <a:ext cx="914400" cy="1497013"/>
          </a:xfrm>
          <a:custGeom>
            <a:avLst/>
            <a:gdLst>
              <a:gd name="T0" fmla="*/ 0 w 720"/>
              <a:gd name="T1" fmla="*/ 1872 h 1872"/>
              <a:gd name="T2" fmla="*/ 360 w 720"/>
              <a:gd name="T3" fmla="*/ 0 h 1872"/>
              <a:gd name="T4" fmla="*/ 720 w 720"/>
              <a:gd name="T5" fmla="*/ 1872 h 1872"/>
            </a:gdLst>
            <a:ahLst/>
            <a:cxnLst>
              <a:cxn ang="0">
                <a:pos x="T0" y="T1"/>
              </a:cxn>
              <a:cxn ang="0">
                <a:pos x="T2" y="T3"/>
              </a:cxn>
              <a:cxn ang="0">
                <a:pos x="T4" y="T5"/>
              </a:cxn>
            </a:cxnLst>
            <a:rect l="0" t="0" r="r" b="b"/>
            <a:pathLst>
              <a:path w="720" h="1872">
                <a:moveTo>
                  <a:pt x="0" y="1872"/>
                </a:moveTo>
                <a:cubicBezTo>
                  <a:pt x="120" y="936"/>
                  <a:pt x="240" y="0"/>
                  <a:pt x="360" y="0"/>
                </a:cubicBezTo>
                <a:cubicBezTo>
                  <a:pt x="480" y="0"/>
                  <a:pt x="600" y="936"/>
                  <a:pt x="720" y="1872"/>
                </a:cubicBez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5" name="任意多边形 181270">
            <a:extLst>
              <a:ext uri="{FF2B5EF4-FFF2-40B4-BE49-F238E27FC236}">
                <a16:creationId xmlns:a16="http://schemas.microsoft.com/office/drawing/2014/main" xmlns="" id="{D9B58F60-E078-A412-ABB3-9067C94F576D}"/>
              </a:ext>
            </a:extLst>
          </p:cNvPr>
          <p:cNvSpPr>
            <a:spLocks noChangeArrowheads="1"/>
          </p:cNvSpPr>
          <p:nvPr/>
        </p:nvSpPr>
        <p:spPr bwMode="auto">
          <a:xfrm>
            <a:off x="4424362" y="3814763"/>
            <a:ext cx="914400" cy="1620838"/>
          </a:xfrm>
          <a:custGeom>
            <a:avLst/>
            <a:gdLst>
              <a:gd name="T0" fmla="*/ 0 w 1080"/>
              <a:gd name="T1" fmla="*/ 1508 h 1508"/>
              <a:gd name="T2" fmla="*/ 360 w 1080"/>
              <a:gd name="T3" fmla="*/ 104 h 1508"/>
              <a:gd name="T4" fmla="*/ 540 w 1080"/>
              <a:gd name="T5" fmla="*/ 884 h 1508"/>
              <a:gd name="T6" fmla="*/ 720 w 1080"/>
              <a:gd name="T7" fmla="*/ 104 h 1508"/>
              <a:gd name="T8" fmla="*/ 1080 w 1080"/>
              <a:gd name="T9" fmla="*/ 1508 h 1508"/>
            </a:gdLst>
            <a:ahLst/>
            <a:cxnLst>
              <a:cxn ang="0">
                <a:pos x="T0" y="T1"/>
              </a:cxn>
              <a:cxn ang="0">
                <a:pos x="T2" y="T3"/>
              </a:cxn>
              <a:cxn ang="0">
                <a:pos x="T4" y="T5"/>
              </a:cxn>
              <a:cxn ang="0">
                <a:pos x="T6" y="T7"/>
              </a:cxn>
              <a:cxn ang="0">
                <a:pos x="T8" y="T9"/>
              </a:cxn>
            </a:cxnLst>
            <a:rect l="0" t="0" r="r" b="b"/>
            <a:pathLst>
              <a:path w="1080" h="1508">
                <a:moveTo>
                  <a:pt x="0" y="1508"/>
                </a:moveTo>
                <a:cubicBezTo>
                  <a:pt x="135" y="858"/>
                  <a:pt x="270" y="208"/>
                  <a:pt x="360" y="104"/>
                </a:cubicBezTo>
                <a:cubicBezTo>
                  <a:pt x="450" y="0"/>
                  <a:pt x="480" y="884"/>
                  <a:pt x="540" y="884"/>
                </a:cubicBezTo>
                <a:cubicBezTo>
                  <a:pt x="600" y="884"/>
                  <a:pt x="630" y="0"/>
                  <a:pt x="720" y="104"/>
                </a:cubicBezTo>
                <a:cubicBezTo>
                  <a:pt x="810" y="208"/>
                  <a:pt x="945" y="858"/>
                  <a:pt x="1080" y="1508"/>
                </a:cubicBezTo>
              </a:path>
            </a:pathLst>
          </a:custGeom>
          <a:noFill/>
          <a:ln w="19050">
            <a:solidFill>
              <a:srgbClr val="FF33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6" name="任意多边形 181271">
            <a:extLst>
              <a:ext uri="{FF2B5EF4-FFF2-40B4-BE49-F238E27FC236}">
                <a16:creationId xmlns:a16="http://schemas.microsoft.com/office/drawing/2014/main" xmlns="" id="{9D617C98-FCE9-67DD-E05D-99C10A793F78}"/>
              </a:ext>
            </a:extLst>
          </p:cNvPr>
          <p:cNvSpPr>
            <a:spLocks noChangeArrowheads="1"/>
          </p:cNvSpPr>
          <p:nvPr/>
        </p:nvSpPr>
        <p:spPr bwMode="auto">
          <a:xfrm>
            <a:off x="4424362" y="4237038"/>
            <a:ext cx="914400" cy="1192213"/>
          </a:xfrm>
          <a:custGeom>
            <a:avLst/>
            <a:gdLst>
              <a:gd name="T0" fmla="*/ 0 w 720"/>
              <a:gd name="T1" fmla="*/ 1872 h 1872"/>
              <a:gd name="T2" fmla="*/ 360 w 720"/>
              <a:gd name="T3" fmla="*/ 0 h 1872"/>
              <a:gd name="T4" fmla="*/ 720 w 720"/>
              <a:gd name="T5" fmla="*/ 1872 h 1872"/>
            </a:gdLst>
            <a:ahLst/>
            <a:cxnLst>
              <a:cxn ang="0">
                <a:pos x="T0" y="T1"/>
              </a:cxn>
              <a:cxn ang="0">
                <a:pos x="T2" y="T3"/>
              </a:cxn>
              <a:cxn ang="0">
                <a:pos x="T4" y="T5"/>
              </a:cxn>
            </a:cxnLst>
            <a:rect l="0" t="0" r="r" b="b"/>
            <a:pathLst>
              <a:path w="720" h="1872">
                <a:moveTo>
                  <a:pt x="0" y="1872"/>
                </a:moveTo>
                <a:cubicBezTo>
                  <a:pt x="120" y="936"/>
                  <a:pt x="240" y="0"/>
                  <a:pt x="360" y="0"/>
                </a:cubicBezTo>
                <a:cubicBezTo>
                  <a:pt x="480" y="0"/>
                  <a:pt x="600" y="936"/>
                  <a:pt x="720" y="1872"/>
                </a:cubicBez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27" name="组合 26">
            <a:extLst>
              <a:ext uri="{FF2B5EF4-FFF2-40B4-BE49-F238E27FC236}">
                <a16:creationId xmlns:a16="http://schemas.microsoft.com/office/drawing/2014/main" xmlns="" id="{E4F43C17-88C6-A4FF-2F9C-CFA00B4DEB8F}"/>
              </a:ext>
            </a:extLst>
          </p:cNvPr>
          <p:cNvGrpSpPr>
            <a:grpSpLocks/>
          </p:cNvGrpSpPr>
          <p:nvPr/>
        </p:nvGrpSpPr>
        <p:grpSpPr bwMode="auto">
          <a:xfrm>
            <a:off x="5872162" y="3017838"/>
            <a:ext cx="2887663" cy="685800"/>
            <a:chOff x="3792" y="384"/>
            <a:chExt cx="1819" cy="432"/>
          </a:xfrm>
        </p:grpSpPr>
        <p:sp>
          <p:nvSpPr>
            <p:cNvPr id="28" name="直接连接符 181273">
              <a:extLst>
                <a:ext uri="{FF2B5EF4-FFF2-40B4-BE49-F238E27FC236}">
                  <a16:creationId xmlns:a16="http://schemas.microsoft.com/office/drawing/2014/main" xmlns="" id="{A1FAA72D-A8E0-F187-DE07-251FD407DACF}"/>
                </a:ext>
              </a:extLst>
            </p:cNvPr>
            <p:cNvSpPr>
              <a:spLocks noChangeShapeType="1"/>
            </p:cNvSpPr>
            <p:nvPr/>
          </p:nvSpPr>
          <p:spPr bwMode="auto">
            <a:xfrm flipV="1">
              <a:off x="3792" y="528"/>
              <a:ext cx="1344"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 name="文本框 181274">
              <a:extLst>
                <a:ext uri="{FF2B5EF4-FFF2-40B4-BE49-F238E27FC236}">
                  <a16:creationId xmlns:a16="http://schemas.microsoft.com/office/drawing/2014/main" xmlns="" id="{13FCDF59-B7C1-B013-462E-DE47900A1DE5}"/>
                </a:ext>
              </a:extLst>
            </p:cNvPr>
            <p:cNvSpPr txBox="1">
              <a:spLocks noChangeArrowheads="1"/>
            </p:cNvSpPr>
            <p:nvPr/>
          </p:nvSpPr>
          <p:spPr bwMode="auto">
            <a:xfrm>
              <a:off x="5040" y="384"/>
              <a:ext cx="57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800" i="1">
                  <a:solidFill>
                    <a:schemeClr val="tx1"/>
                  </a:solidFill>
                  <a:latin typeface="Bookman Old Style" panose="02050604050505020204" pitchFamily="18" charset="0"/>
                </a:rPr>
                <a:t>v</a:t>
              </a:r>
              <a:r>
                <a:rPr lang="en-US" altLang="zh-CN" sz="1800" baseline="-25000">
                  <a:solidFill>
                    <a:schemeClr val="tx1"/>
                  </a:solidFill>
                </a:rPr>
                <a:t>bemax4</a:t>
              </a:r>
              <a:endParaRPr lang="en-US" altLang="zh-CN" sz="1800">
                <a:solidFill>
                  <a:schemeClr val="tx1"/>
                </a:solidFill>
              </a:endParaRPr>
            </a:p>
          </p:txBody>
        </p:sp>
      </p:grpSp>
      <p:grpSp>
        <p:nvGrpSpPr>
          <p:cNvPr id="30" name="组合 29">
            <a:extLst>
              <a:ext uri="{FF2B5EF4-FFF2-40B4-BE49-F238E27FC236}">
                <a16:creationId xmlns:a16="http://schemas.microsoft.com/office/drawing/2014/main" xmlns="" id="{03D0D2EB-D920-283C-AEC3-744D89DD7D83}"/>
              </a:ext>
            </a:extLst>
          </p:cNvPr>
          <p:cNvGrpSpPr>
            <a:grpSpLocks/>
          </p:cNvGrpSpPr>
          <p:nvPr/>
        </p:nvGrpSpPr>
        <p:grpSpPr bwMode="auto">
          <a:xfrm>
            <a:off x="5872162" y="3932238"/>
            <a:ext cx="1905000" cy="1447800"/>
            <a:chOff x="3792" y="960"/>
            <a:chExt cx="1200" cy="912"/>
          </a:xfrm>
        </p:grpSpPr>
        <p:sp>
          <p:nvSpPr>
            <p:cNvPr id="31" name="任意多边形 181276">
              <a:extLst>
                <a:ext uri="{FF2B5EF4-FFF2-40B4-BE49-F238E27FC236}">
                  <a16:creationId xmlns:a16="http://schemas.microsoft.com/office/drawing/2014/main" xmlns="" id="{A51462A5-23AA-8E14-5E5D-7EDF71AB258B}"/>
                </a:ext>
              </a:extLst>
            </p:cNvPr>
            <p:cNvSpPr>
              <a:spLocks noChangeArrowheads="1"/>
            </p:cNvSpPr>
            <p:nvPr/>
          </p:nvSpPr>
          <p:spPr bwMode="auto">
            <a:xfrm>
              <a:off x="3792" y="1152"/>
              <a:ext cx="384" cy="720"/>
            </a:xfrm>
            <a:custGeom>
              <a:avLst/>
              <a:gdLst>
                <a:gd name="T0" fmla="*/ 0 w 480"/>
                <a:gd name="T1" fmla="*/ 912 h 912"/>
                <a:gd name="T2" fmla="*/ 288 w 480"/>
                <a:gd name="T3" fmla="*/ 192 h 912"/>
                <a:gd name="T4" fmla="*/ 480 w 480"/>
                <a:gd name="T5" fmla="*/ 0 h 912"/>
              </a:gdLst>
              <a:ahLst/>
              <a:cxnLst>
                <a:cxn ang="0">
                  <a:pos x="T0" y="T1"/>
                </a:cxn>
                <a:cxn ang="0">
                  <a:pos x="T2" y="T3"/>
                </a:cxn>
                <a:cxn ang="0">
                  <a:pos x="T4" y="T5"/>
                </a:cxn>
              </a:cxnLst>
              <a:rect l="0" t="0" r="r" b="b"/>
              <a:pathLst>
                <a:path w="480" h="912">
                  <a:moveTo>
                    <a:pt x="0" y="912"/>
                  </a:moveTo>
                  <a:cubicBezTo>
                    <a:pt x="104" y="628"/>
                    <a:pt x="208" y="344"/>
                    <a:pt x="288" y="192"/>
                  </a:cubicBezTo>
                  <a:cubicBezTo>
                    <a:pt x="368" y="40"/>
                    <a:pt x="424" y="20"/>
                    <a:pt x="480" y="0"/>
                  </a:cubicBezTo>
                </a:path>
              </a:pathLst>
            </a:custGeom>
            <a:noFill/>
            <a:ln w="19050">
              <a:solidFill>
                <a:srgbClr val="FF505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2" name="直接连接符 181277">
              <a:extLst>
                <a:ext uri="{FF2B5EF4-FFF2-40B4-BE49-F238E27FC236}">
                  <a16:creationId xmlns:a16="http://schemas.microsoft.com/office/drawing/2014/main" xmlns="" id="{18A47FD4-27F4-2A25-F74F-A1235CAEFFC7}"/>
                </a:ext>
              </a:extLst>
            </p:cNvPr>
            <p:cNvSpPr>
              <a:spLocks noChangeShapeType="1"/>
            </p:cNvSpPr>
            <p:nvPr/>
          </p:nvSpPr>
          <p:spPr bwMode="auto">
            <a:xfrm flipV="1">
              <a:off x="4176" y="960"/>
              <a:ext cx="816" cy="192"/>
            </a:xfrm>
            <a:prstGeom prst="line">
              <a:avLst/>
            </a:prstGeom>
            <a:noFill/>
            <a:ln w="19050">
              <a:solidFill>
                <a:srgbClr val="FF505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3" name="组合 32">
            <a:extLst>
              <a:ext uri="{FF2B5EF4-FFF2-40B4-BE49-F238E27FC236}">
                <a16:creationId xmlns:a16="http://schemas.microsoft.com/office/drawing/2014/main" xmlns="" id="{FF5013EF-3D4A-5D8B-5E49-9649498FDFFC}"/>
              </a:ext>
            </a:extLst>
          </p:cNvPr>
          <p:cNvGrpSpPr>
            <a:grpSpLocks/>
          </p:cNvGrpSpPr>
          <p:nvPr/>
        </p:nvGrpSpPr>
        <p:grpSpPr bwMode="auto">
          <a:xfrm>
            <a:off x="5872162" y="3627438"/>
            <a:ext cx="1752600" cy="1752600"/>
            <a:chOff x="3792" y="768"/>
            <a:chExt cx="1104" cy="1104"/>
          </a:xfrm>
        </p:grpSpPr>
        <p:sp>
          <p:nvSpPr>
            <p:cNvPr id="34" name="任意多边形 181279">
              <a:extLst>
                <a:ext uri="{FF2B5EF4-FFF2-40B4-BE49-F238E27FC236}">
                  <a16:creationId xmlns:a16="http://schemas.microsoft.com/office/drawing/2014/main" xmlns="" id="{3E683C91-7926-EBAF-A644-29FD1F582B69}"/>
                </a:ext>
              </a:extLst>
            </p:cNvPr>
            <p:cNvSpPr>
              <a:spLocks noChangeArrowheads="1"/>
            </p:cNvSpPr>
            <p:nvPr/>
          </p:nvSpPr>
          <p:spPr bwMode="auto">
            <a:xfrm>
              <a:off x="3792" y="912"/>
              <a:ext cx="480" cy="960"/>
            </a:xfrm>
            <a:custGeom>
              <a:avLst/>
              <a:gdLst>
                <a:gd name="T0" fmla="*/ 0 w 480"/>
                <a:gd name="T1" fmla="*/ 912 h 912"/>
                <a:gd name="T2" fmla="*/ 288 w 480"/>
                <a:gd name="T3" fmla="*/ 192 h 912"/>
                <a:gd name="T4" fmla="*/ 480 w 480"/>
                <a:gd name="T5" fmla="*/ 0 h 912"/>
              </a:gdLst>
              <a:ahLst/>
              <a:cxnLst>
                <a:cxn ang="0">
                  <a:pos x="T0" y="T1"/>
                </a:cxn>
                <a:cxn ang="0">
                  <a:pos x="T2" y="T3"/>
                </a:cxn>
                <a:cxn ang="0">
                  <a:pos x="T4" y="T5"/>
                </a:cxn>
              </a:cxnLst>
              <a:rect l="0" t="0" r="r" b="b"/>
              <a:pathLst>
                <a:path w="480" h="912">
                  <a:moveTo>
                    <a:pt x="0" y="912"/>
                  </a:moveTo>
                  <a:cubicBezTo>
                    <a:pt x="104" y="628"/>
                    <a:pt x="208" y="344"/>
                    <a:pt x="288" y="192"/>
                  </a:cubicBezTo>
                  <a:cubicBezTo>
                    <a:pt x="368" y="40"/>
                    <a:pt x="424" y="20"/>
                    <a:pt x="480" y="0"/>
                  </a:cubicBezTo>
                </a:path>
              </a:pathLst>
            </a:custGeom>
            <a:noFill/>
            <a:ln w="19050">
              <a:solidFill>
                <a:srgbClr val="FF505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5" name="直接连接符 181280">
              <a:extLst>
                <a:ext uri="{FF2B5EF4-FFF2-40B4-BE49-F238E27FC236}">
                  <a16:creationId xmlns:a16="http://schemas.microsoft.com/office/drawing/2014/main" xmlns="" id="{7D752FB2-D235-3A65-60C1-08954F3AFC6E}"/>
                </a:ext>
              </a:extLst>
            </p:cNvPr>
            <p:cNvSpPr>
              <a:spLocks noChangeShapeType="1"/>
            </p:cNvSpPr>
            <p:nvPr/>
          </p:nvSpPr>
          <p:spPr bwMode="auto">
            <a:xfrm flipV="1">
              <a:off x="4272" y="768"/>
              <a:ext cx="624" cy="144"/>
            </a:xfrm>
            <a:prstGeom prst="line">
              <a:avLst/>
            </a:prstGeom>
            <a:noFill/>
            <a:ln w="19050">
              <a:solidFill>
                <a:srgbClr val="FF505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6" name="组合 35">
            <a:extLst>
              <a:ext uri="{FF2B5EF4-FFF2-40B4-BE49-F238E27FC236}">
                <a16:creationId xmlns:a16="http://schemas.microsoft.com/office/drawing/2014/main" xmlns="" id="{48E34D95-87D9-199E-1EAA-FE635B1812B4}"/>
              </a:ext>
            </a:extLst>
          </p:cNvPr>
          <p:cNvGrpSpPr>
            <a:grpSpLocks/>
          </p:cNvGrpSpPr>
          <p:nvPr/>
        </p:nvGrpSpPr>
        <p:grpSpPr bwMode="auto">
          <a:xfrm>
            <a:off x="6024562" y="3433763"/>
            <a:ext cx="269875" cy="1417638"/>
            <a:chOff x="3888" y="646"/>
            <a:chExt cx="170" cy="893"/>
          </a:xfrm>
        </p:grpSpPr>
        <p:sp>
          <p:nvSpPr>
            <p:cNvPr id="37" name="直接连接符 181282">
              <a:extLst>
                <a:ext uri="{FF2B5EF4-FFF2-40B4-BE49-F238E27FC236}">
                  <a16:creationId xmlns:a16="http://schemas.microsoft.com/office/drawing/2014/main" xmlns="" id="{7A4246C6-D61A-52D3-5E20-05990AF2911A}"/>
                </a:ext>
              </a:extLst>
            </p:cNvPr>
            <p:cNvSpPr>
              <a:spLocks noChangeShapeType="1"/>
            </p:cNvSpPr>
            <p:nvPr/>
          </p:nvSpPr>
          <p:spPr bwMode="auto">
            <a:xfrm>
              <a:off x="3976" y="789"/>
              <a:ext cx="0" cy="617"/>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 name="文本框 181283">
              <a:extLst>
                <a:ext uri="{FF2B5EF4-FFF2-40B4-BE49-F238E27FC236}">
                  <a16:creationId xmlns:a16="http://schemas.microsoft.com/office/drawing/2014/main" xmlns="" id="{0AD1A64D-ADDE-1014-C2E9-4BA03D0F8D92}"/>
                </a:ext>
              </a:extLst>
            </p:cNvPr>
            <p:cNvSpPr txBox="1">
              <a:spLocks noChangeArrowheads="1"/>
            </p:cNvSpPr>
            <p:nvPr/>
          </p:nvSpPr>
          <p:spPr bwMode="auto">
            <a:xfrm>
              <a:off x="3892" y="646"/>
              <a:ext cx="16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800" i="1">
                  <a:solidFill>
                    <a:schemeClr val="tx1"/>
                  </a:solidFill>
                </a:rPr>
                <a:t>•</a:t>
              </a:r>
            </a:p>
          </p:txBody>
        </p:sp>
        <p:sp>
          <p:nvSpPr>
            <p:cNvPr id="39" name="文本框 181284">
              <a:extLst>
                <a:ext uri="{FF2B5EF4-FFF2-40B4-BE49-F238E27FC236}">
                  <a16:creationId xmlns:a16="http://schemas.microsoft.com/office/drawing/2014/main" xmlns="" id="{8F3DB4E4-E14D-8CBB-D30B-824342D10EF7}"/>
                </a:ext>
              </a:extLst>
            </p:cNvPr>
            <p:cNvSpPr txBox="1">
              <a:spLocks noChangeArrowheads="1"/>
            </p:cNvSpPr>
            <p:nvPr/>
          </p:nvSpPr>
          <p:spPr bwMode="auto">
            <a:xfrm>
              <a:off x="3888" y="1308"/>
              <a:ext cx="16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800" i="1">
                  <a:solidFill>
                    <a:schemeClr val="tx1"/>
                  </a:solidFill>
                </a:rPr>
                <a:t>•</a:t>
              </a:r>
            </a:p>
          </p:txBody>
        </p:sp>
      </p:grpSp>
      <p:sp>
        <p:nvSpPr>
          <p:cNvPr id="40" name="直接连接符 39">
            <a:extLst>
              <a:ext uri="{FF2B5EF4-FFF2-40B4-BE49-F238E27FC236}">
                <a16:creationId xmlns:a16="http://schemas.microsoft.com/office/drawing/2014/main" xmlns="" id="{DEFFBD9F-D27C-15C0-5E43-2736926995EB}"/>
              </a:ext>
            </a:extLst>
          </p:cNvPr>
          <p:cNvSpPr>
            <a:spLocks noChangeShapeType="1"/>
          </p:cNvSpPr>
          <p:nvPr/>
        </p:nvSpPr>
        <p:spPr bwMode="auto">
          <a:xfrm>
            <a:off x="4881562" y="4694238"/>
            <a:ext cx="12954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41" name="组合 40">
            <a:extLst>
              <a:ext uri="{FF2B5EF4-FFF2-40B4-BE49-F238E27FC236}">
                <a16:creationId xmlns:a16="http://schemas.microsoft.com/office/drawing/2014/main" xmlns="" id="{CDE596BD-79FF-F6ED-E968-B79E38B173E4}"/>
              </a:ext>
            </a:extLst>
          </p:cNvPr>
          <p:cNvGrpSpPr>
            <a:grpSpLocks/>
          </p:cNvGrpSpPr>
          <p:nvPr/>
        </p:nvGrpSpPr>
        <p:grpSpPr bwMode="auto">
          <a:xfrm>
            <a:off x="5872162" y="3286126"/>
            <a:ext cx="1905000" cy="2087562"/>
            <a:chOff x="2784" y="2285"/>
            <a:chExt cx="1200" cy="1315"/>
          </a:xfrm>
        </p:grpSpPr>
        <p:sp>
          <p:nvSpPr>
            <p:cNvPr id="42" name="任意多边形 181287">
              <a:extLst>
                <a:ext uri="{FF2B5EF4-FFF2-40B4-BE49-F238E27FC236}">
                  <a16:creationId xmlns:a16="http://schemas.microsoft.com/office/drawing/2014/main" xmlns="" id="{A1467FF1-6EF4-CC8A-AF30-B5CC2815141A}"/>
                </a:ext>
              </a:extLst>
            </p:cNvPr>
            <p:cNvSpPr>
              <a:spLocks noChangeArrowheads="1"/>
            </p:cNvSpPr>
            <p:nvPr/>
          </p:nvSpPr>
          <p:spPr bwMode="auto">
            <a:xfrm>
              <a:off x="2784" y="2400"/>
              <a:ext cx="576" cy="1200"/>
            </a:xfrm>
            <a:custGeom>
              <a:avLst/>
              <a:gdLst>
                <a:gd name="T0" fmla="*/ 0 w 624"/>
                <a:gd name="T1" fmla="*/ 1320 h 1320"/>
                <a:gd name="T2" fmla="*/ 432 w 624"/>
                <a:gd name="T3" fmla="*/ 216 h 1320"/>
                <a:gd name="T4" fmla="*/ 624 w 624"/>
                <a:gd name="T5" fmla="*/ 24 h 1320"/>
              </a:gdLst>
              <a:ahLst/>
              <a:cxnLst>
                <a:cxn ang="0">
                  <a:pos x="T0" y="T1"/>
                </a:cxn>
                <a:cxn ang="0">
                  <a:pos x="T2" y="T3"/>
                </a:cxn>
                <a:cxn ang="0">
                  <a:pos x="T4" y="T5"/>
                </a:cxn>
              </a:cxnLst>
              <a:rect l="0" t="0" r="r" b="b"/>
              <a:pathLst>
                <a:path w="624" h="1320">
                  <a:moveTo>
                    <a:pt x="0" y="1320"/>
                  </a:moveTo>
                  <a:cubicBezTo>
                    <a:pt x="164" y="876"/>
                    <a:pt x="328" y="432"/>
                    <a:pt x="432" y="216"/>
                  </a:cubicBezTo>
                  <a:cubicBezTo>
                    <a:pt x="536" y="0"/>
                    <a:pt x="580" y="12"/>
                    <a:pt x="624" y="24"/>
                  </a:cubicBezTo>
                </a:path>
              </a:pathLst>
            </a:custGeom>
            <a:noFill/>
            <a:ln w="19050">
              <a:solidFill>
                <a:srgbClr val="FF505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3" name="直接连接符 181288">
              <a:extLst>
                <a:ext uri="{FF2B5EF4-FFF2-40B4-BE49-F238E27FC236}">
                  <a16:creationId xmlns:a16="http://schemas.microsoft.com/office/drawing/2014/main" xmlns="" id="{D94D936F-E327-DD0B-7E65-C0B9844437E6}"/>
                </a:ext>
              </a:extLst>
            </p:cNvPr>
            <p:cNvSpPr>
              <a:spLocks noChangeShapeType="1"/>
            </p:cNvSpPr>
            <p:nvPr/>
          </p:nvSpPr>
          <p:spPr bwMode="auto">
            <a:xfrm flipV="1">
              <a:off x="3360" y="2285"/>
              <a:ext cx="624" cy="144"/>
            </a:xfrm>
            <a:prstGeom prst="line">
              <a:avLst/>
            </a:prstGeom>
            <a:noFill/>
            <a:ln w="19050">
              <a:solidFill>
                <a:srgbClr val="FF505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44" name="组合 43">
            <a:extLst>
              <a:ext uri="{FF2B5EF4-FFF2-40B4-BE49-F238E27FC236}">
                <a16:creationId xmlns:a16="http://schemas.microsoft.com/office/drawing/2014/main" xmlns="" id="{D7142A26-18C6-919D-1DC3-B0843B6F86F7}"/>
              </a:ext>
            </a:extLst>
          </p:cNvPr>
          <p:cNvGrpSpPr>
            <a:grpSpLocks/>
          </p:cNvGrpSpPr>
          <p:nvPr/>
        </p:nvGrpSpPr>
        <p:grpSpPr bwMode="auto">
          <a:xfrm>
            <a:off x="4805362" y="4008438"/>
            <a:ext cx="1979613" cy="366713"/>
            <a:chOff x="2999" y="816"/>
            <a:chExt cx="1247" cy="231"/>
          </a:xfrm>
        </p:grpSpPr>
        <p:sp>
          <p:nvSpPr>
            <p:cNvPr id="45" name="直接连接符 181290">
              <a:extLst>
                <a:ext uri="{FF2B5EF4-FFF2-40B4-BE49-F238E27FC236}">
                  <a16:creationId xmlns:a16="http://schemas.microsoft.com/office/drawing/2014/main" xmlns="" id="{13742CD5-0F5C-5792-AB53-5E918D8DB3E4}"/>
                </a:ext>
              </a:extLst>
            </p:cNvPr>
            <p:cNvSpPr>
              <a:spLocks noChangeShapeType="1"/>
            </p:cNvSpPr>
            <p:nvPr/>
          </p:nvSpPr>
          <p:spPr bwMode="auto">
            <a:xfrm flipH="1">
              <a:off x="2999" y="947"/>
              <a:ext cx="1152"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 name="文本框 181291">
              <a:extLst>
                <a:ext uri="{FF2B5EF4-FFF2-40B4-BE49-F238E27FC236}">
                  <a16:creationId xmlns:a16="http://schemas.microsoft.com/office/drawing/2014/main" xmlns="" id="{D2A94691-BBDE-9137-86C2-F45717FBD03A}"/>
                </a:ext>
              </a:extLst>
            </p:cNvPr>
            <p:cNvSpPr txBox="1">
              <a:spLocks noChangeArrowheads="1"/>
            </p:cNvSpPr>
            <p:nvPr/>
          </p:nvSpPr>
          <p:spPr bwMode="auto">
            <a:xfrm>
              <a:off x="4080" y="816"/>
              <a:ext cx="16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800" i="1">
                  <a:solidFill>
                    <a:schemeClr val="tx1"/>
                  </a:solidFill>
                </a:rPr>
                <a:t>•</a:t>
              </a:r>
            </a:p>
          </p:txBody>
        </p:sp>
      </p:grpSp>
      <p:sp>
        <p:nvSpPr>
          <p:cNvPr id="47" name="下箭头 181292">
            <a:extLst>
              <a:ext uri="{FF2B5EF4-FFF2-40B4-BE49-F238E27FC236}">
                <a16:creationId xmlns:a16="http://schemas.microsoft.com/office/drawing/2014/main" xmlns="" id="{1AA41322-96C7-5AA8-19E2-A34DC89A4A68}"/>
              </a:ext>
            </a:extLst>
          </p:cNvPr>
          <p:cNvSpPr>
            <a:spLocks noChangeArrowheads="1"/>
          </p:cNvSpPr>
          <p:nvPr/>
        </p:nvSpPr>
        <p:spPr bwMode="auto">
          <a:xfrm>
            <a:off x="7624762" y="3475038"/>
            <a:ext cx="228600" cy="533400"/>
          </a:xfrm>
          <a:prstGeom prst="downArrow">
            <a:avLst>
              <a:gd name="adj1" fmla="val 50000"/>
              <a:gd name="adj2" fmla="val 58193"/>
            </a:avLst>
          </a:prstGeom>
          <a:solidFill>
            <a:schemeClr val="accent1"/>
          </a:solidFill>
          <a:ln w="9525">
            <a:solidFill>
              <a:schemeClr val="tx1"/>
            </a:solidFill>
            <a:miter lim="800000"/>
            <a:headEnd/>
            <a:tailEnd/>
          </a:ln>
        </p:spPr>
        <p:txBody>
          <a:bodyPr/>
          <a:lstStyle/>
          <a:p>
            <a:endParaRPr lang="zh-CN" altLang="en-US"/>
          </a:p>
        </p:txBody>
      </p:sp>
      <p:sp>
        <p:nvSpPr>
          <p:cNvPr id="48" name="下箭头 181293">
            <a:extLst>
              <a:ext uri="{FF2B5EF4-FFF2-40B4-BE49-F238E27FC236}">
                <a16:creationId xmlns:a16="http://schemas.microsoft.com/office/drawing/2014/main" xmlns="" id="{37EC0FD1-D39F-8B57-BAD6-525232CC1979}"/>
              </a:ext>
            </a:extLst>
          </p:cNvPr>
          <p:cNvSpPr>
            <a:spLocks noChangeArrowheads="1"/>
          </p:cNvSpPr>
          <p:nvPr/>
        </p:nvSpPr>
        <p:spPr bwMode="auto">
          <a:xfrm flipV="1">
            <a:off x="7319962" y="3246438"/>
            <a:ext cx="228600" cy="609600"/>
          </a:xfrm>
          <a:prstGeom prst="downArrow">
            <a:avLst>
              <a:gd name="adj1" fmla="val 50000"/>
              <a:gd name="adj2" fmla="val 66506"/>
            </a:avLst>
          </a:prstGeom>
          <a:solidFill>
            <a:schemeClr val="accent1"/>
          </a:solidFill>
          <a:ln w="9525">
            <a:solidFill>
              <a:schemeClr val="tx1"/>
            </a:solidFill>
            <a:miter lim="800000"/>
            <a:headEnd/>
            <a:tailEnd/>
          </a:ln>
        </p:spPr>
        <p:txBody>
          <a:bodyPr/>
          <a:lstStyle/>
          <a:p>
            <a:endParaRPr lang="zh-CN" altLang="en-US"/>
          </a:p>
        </p:txBody>
      </p:sp>
      <p:grpSp>
        <p:nvGrpSpPr>
          <p:cNvPr id="49" name="组合 48">
            <a:extLst>
              <a:ext uri="{FF2B5EF4-FFF2-40B4-BE49-F238E27FC236}">
                <a16:creationId xmlns:a16="http://schemas.microsoft.com/office/drawing/2014/main" xmlns="" id="{E397B96F-9901-9C22-D502-4EDE5FF79A1B}"/>
              </a:ext>
            </a:extLst>
          </p:cNvPr>
          <p:cNvGrpSpPr>
            <a:grpSpLocks/>
          </p:cNvGrpSpPr>
          <p:nvPr/>
        </p:nvGrpSpPr>
        <p:grpSpPr bwMode="auto">
          <a:xfrm>
            <a:off x="4576762" y="3703638"/>
            <a:ext cx="1979613" cy="366713"/>
            <a:chOff x="2976" y="816"/>
            <a:chExt cx="1247" cy="231"/>
          </a:xfrm>
        </p:grpSpPr>
        <p:sp>
          <p:nvSpPr>
            <p:cNvPr id="50" name="直接连接符 181295">
              <a:extLst>
                <a:ext uri="{FF2B5EF4-FFF2-40B4-BE49-F238E27FC236}">
                  <a16:creationId xmlns:a16="http://schemas.microsoft.com/office/drawing/2014/main" xmlns="" id="{EDBDEB63-17D7-F879-7B2F-C13E98F69E24}"/>
                </a:ext>
              </a:extLst>
            </p:cNvPr>
            <p:cNvSpPr>
              <a:spLocks noChangeShapeType="1"/>
            </p:cNvSpPr>
            <p:nvPr/>
          </p:nvSpPr>
          <p:spPr bwMode="auto">
            <a:xfrm flipH="1">
              <a:off x="2976" y="947"/>
              <a:ext cx="1152"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 name="文本框 181296">
              <a:extLst>
                <a:ext uri="{FF2B5EF4-FFF2-40B4-BE49-F238E27FC236}">
                  <a16:creationId xmlns:a16="http://schemas.microsoft.com/office/drawing/2014/main" xmlns="" id="{DEC67DDF-8465-4C26-5D9C-D996250C0A18}"/>
                </a:ext>
              </a:extLst>
            </p:cNvPr>
            <p:cNvSpPr txBox="1">
              <a:spLocks noChangeArrowheads="1"/>
            </p:cNvSpPr>
            <p:nvPr/>
          </p:nvSpPr>
          <p:spPr bwMode="auto">
            <a:xfrm>
              <a:off x="4057" y="816"/>
              <a:ext cx="16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800" i="1">
                  <a:solidFill>
                    <a:schemeClr val="tx1"/>
                  </a:solidFill>
                </a:rPr>
                <a:t>•</a:t>
              </a:r>
            </a:p>
          </p:txBody>
        </p:sp>
      </p:grpSp>
      <p:grpSp>
        <p:nvGrpSpPr>
          <p:cNvPr id="52" name="组合 51">
            <a:extLst>
              <a:ext uri="{FF2B5EF4-FFF2-40B4-BE49-F238E27FC236}">
                <a16:creationId xmlns:a16="http://schemas.microsoft.com/office/drawing/2014/main" xmlns="" id="{9D577C7E-F52D-523A-72AA-C97BE56F1279}"/>
              </a:ext>
            </a:extLst>
          </p:cNvPr>
          <p:cNvGrpSpPr>
            <a:grpSpLocks/>
          </p:cNvGrpSpPr>
          <p:nvPr/>
        </p:nvGrpSpPr>
        <p:grpSpPr bwMode="auto">
          <a:xfrm>
            <a:off x="4119562" y="3322638"/>
            <a:ext cx="1600200" cy="2378075"/>
            <a:chOff x="2688" y="576"/>
            <a:chExt cx="1008" cy="1498"/>
          </a:xfrm>
        </p:grpSpPr>
        <p:sp>
          <p:nvSpPr>
            <p:cNvPr id="53" name="直接连接符 181298">
              <a:extLst>
                <a:ext uri="{FF2B5EF4-FFF2-40B4-BE49-F238E27FC236}">
                  <a16:creationId xmlns:a16="http://schemas.microsoft.com/office/drawing/2014/main" xmlns="" id="{89DC7F8B-2700-6973-1F5C-55E107455A72}"/>
                </a:ext>
              </a:extLst>
            </p:cNvPr>
            <p:cNvSpPr>
              <a:spLocks noChangeShapeType="1"/>
            </p:cNvSpPr>
            <p:nvPr/>
          </p:nvSpPr>
          <p:spPr bwMode="auto">
            <a:xfrm>
              <a:off x="2688" y="1872"/>
              <a:ext cx="100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4" name="直接连接符 181299">
              <a:extLst>
                <a:ext uri="{FF2B5EF4-FFF2-40B4-BE49-F238E27FC236}">
                  <a16:creationId xmlns:a16="http://schemas.microsoft.com/office/drawing/2014/main" xmlns="" id="{E49B6175-ADCE-3BB5-506C-D4CDED8D6059}"/>
                </a:ext>
              </a:extLst>
            </p:cNvPr>
            <p:cNvSpPr>
              <a:spLocks noChangeShapeType="1"/>
            </p:cNvSpPr>
            <p:nvPr/>
          </p:nvSpPr>
          <p:spPr bwMode="auto">
            <a:xfrm flipV="1">
              <a:off x="3168" y="624"/>
              <a:ext cx="0" cy="124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55" name="对象 181300">
              <a:extLst>
                <a:ext uri="{FF2B5EF4-FFF2-40B4-BE49-F238E27FC236}">
                  <a16:creationId xmlns:a16="http://schemas.microsoft.com/office/drawing/2014/main" xmlns="" id="{B182B896-B1A1-FA1E-B144-F347DECB7645}"/>
                </a:ext>
              </a:extLst>
            </p:cNvPr>
            <p:cNvGraphicFramePr>
              <a:graphicFrameLocks/>
            </p:cNvGraphicFramePr>
            <p:nvPr/>
          </p:nvGraphicFramePr>
          <p:xfrm>
            <a:off x="3360" y="1920"/>
            <a:ext cx="336" cy="154"/>
          </p:xfrm>
          <a:graphic>
            <a:graphicData uri="http://schemas.openxmlformats.org/presentationml/2006/ole">
              <mc:AlternateContent xmlns:mc="http://schemas.openxmlformats.org/markup-compatibility/2006">
                <mc:Choice xmlns:v="urn:schemas-microsoft-com:vml" Requires="v">
                  <p:oleObj spid="_x0000_s95594" r:id="rId3" imgW="202936" imgH="164885" progId="Equation.3">
                    <p:embed/>
                  </p:oleObj>
                </mc:Choice>
                <mc:Fallback>
                  <p:oleObj r:id="rId3" imgW="202936" imgH="164885" progId="Equation.3">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60" y="1920"/>
                          <a:ext cx="33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6" name="矩形 181301">
              <a:extLst>
                <a:ext uri="{FF2B5EF4-FFF2-40B4-BE49-F238E27FC236}">
                  <a16:creationId xmlns:a16="http://schemas.microsoft.com/office/drawing/2014/main" xmlns="" id="{BEA0FA5E-1665-CD7A-E9E1-090BD4CCB73D}"/>
                </a:ext>
              </a:extLst>
            </p:cNvPr>
            <p:cNvSpPr>
              <a:spLocks noChangeArrowheads="1"/>
            </p:cNvSpPr>
            <p:nvPr/>
          </p:nvSpPr>
          <p:spPr bwMode="auto">
            <a:xfrm>
              <a:off x="3216" y="576"/>
              <a:ext cx="22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800" i="1">
                  <a:solidFill>
                    <a:schemeClr val="tx1"/>
                  </a:solidFill>
                </a:rPr>
                <a:t>i</a:t>
              </a:r>
              <a:r>
                <a:rPr lang="en-US" altLang="zh-CN" sz="1800" baseline="-25000">
                  <a:solidFill>
                    <a:schemeClr val="tx1"/>
                  </a:solidFill>
                </a:rPr>
                <a:t>C</a:t>
              </a:r>
            </a:p>
          </p:txBody>
        </p:sp>
      </p:grpSp>
      <p:grpSp>
        <p:nvGrpSpPr>
          <p:cNvPr id="57" name="组合 56">
            <a:extLst>
              <a:ext uri="{FF2B5EF4-FFF2-40B4-BE49-F238E27FC236}">
                <a16:creationId xmlns:a16="http://schemas.microsoft.com/office/drawing/2014/main" xmlns="" id="{F2928E9C-78CD-4B60-8C73-53BDF7FF30C6}"/>
              </a:ext>
            </a:extLst>
          </p:cNvPr>
          <p:cNvGrpSpPr>
            <a:grpSpLocks/>
          </p:cNvGrpSpPr>
          <p:nvPr/>
        </p:nvGrpSpPr>
        <p:grpSpPr bwMode="auto">
          <a:xfrm>
            <a:off x="6292850" y="3203576"/>
            <a:ext cx="2398712" cy="574675"/>
            <a:chOff x="4150" y="576"/>
            <a:chExt cx="1428" cy="362"/>
          </a:xfrm>
        </p:grpSpPr>
        <p:sp>
          <p:nvSpPr>
            <p:cNvPr id="58" name="直接连接符 181303">
              <a:extLst>
                <a:ext uri="{FF2B5EF4-FFF2-40B4-BE49-F238E27FC236}">
                  <a16:creationId xmlns:a16="http://schemas.microsoft.com/office/drawing/2014/main" xmlns="" id="{877F1015-2AB2-DE1A-3CEE-3BF320654C45}"/>
                </a:ext>
              </a:extLst>
            </p:cNvPr>
            <p:cNvSpPr>
              <a:spLocks noChangeShapeType="1"/>
            </p:cNvSpPr>
            <p:nvPr/>
          </p:nvSpPr>
          <p:spPr bwMode="auto">
            <a:xfrm flipV="1">
              <a:off x="4150" y="698"/>
              <a:ext cx="1056" cy="240"/>
            </a:xfrm>
            <a:prstGeom prst="line">
              <a:avLst/>
            </a:prstGeom>
            <a:noFill/>
            <a:ln w="19050">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 name="文本框 181304">
              <a:extLst>
                <a:ext uri="{FF2B5EF4-FFF2-40B4-BE49-F238E27FC236}">
                  <a16:creationId xmlns:a16="http://schemas.microsoft.com/office/drawing/2014/main" xmlns="" id="{A5D3D899-0373-C76E-361F-486FD5C45834}"/>
                </a:ext>
              </a:extLst>
            </p:cNvPr>
            <p:cNvSpPr txBox="1">
              <a:spLocks noChangeArrowheads="1"/>
            </p:cNvSpPr>
            <p:nvPr/>
          </p:nvSpPr>
          <p:spPr bwMode="auto">
            <a:xfrm>
              <a:off x="5088" y="576"/>
              <a:ext cx="49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800" i="1">
                  <a:solidFill>
                    <a:schemeClr val="tx1"/>
                  </a:solidFill>
                  <a:latin typeface="Bookman Old Style" panose="02050604050505020204" pitchFamily="18" charset="0"/>
                </a:rPr>
                <a:t>v</a:t>
              </a:r>
              <a:r>
                <a:rPr lang="en-US" altLang="zh-CN" sz="1800" baseline="-25000">
                  <a:solidFill>
                    <a:schemeClr val="tx1"/>
                  </a:solidFill>
                </a:rPr>
                <a:t>bemax3</a:t>
              </a:r>
              <a:endParaRPr lang="en-US" altLang="zh-CN" sz="1800">
                <a:solidFill>
                  <a:schemeClr val="tx1"/>
                </a:solidFill>
              </a:endParaRPr>
            </a:p>
          </p:txBody>
        </p:sp>
      </p:grpSp>
      <p:grpSp>
        <p:nvGrpSpPr>
          <p:cNvPr id="60" name="组合 59">
            <a:extLst>
              <a:ext uri="{FF2B5EF4-FFF2-40B4-BE49-F238E27FC236}">
                <a16:creationId xmlns:a16="http://schemas.microsoft.com/office/drawing/2014/main" xmlns="" id="{F2C77A54-16B8-D1C1-6B8C-A2CCDFEBEB1D}"/>
              </a:ext>
            </a:extLst>
          </p:cNvPr>
          <p:cNvGrpSpPr>
            <a:grpSpLocks/>
          </p:cNvGrpSpPr>
          <p:nvPr/>
        </p:nvGrpSpPr>
        <p:grpSpPr bwMode="auto">
          <a:xfrm>
            <a:off x="6134100" y="3614738"/>
            <a:ext cx="271462" cy="866775"/>
            <a:chOff x="3888" y="646"/>
            <a:chExt cx="140" cy="1148"/>
          </a:xfrm>
        </p:grpSpPr>
        <p:sp>
          <p:nvSpPr>
            <p:cNvPr id="61" name="直接连接符 181306">
              <a:extLst>
                <a:ext uri="{FF2B5EF4-FFF2-40B4-BE49-F238E27FC236}">
                  <a16:creationId xmlns:a16="http://schemas.microsoft.com/office/drawing/2014/main" xmlns="" id="{308348DB-5919-0A4E-BB87-FD0EF9F7C4A5}"/>
                </a:ext>
              </a:extLst>
            </p:cNvPr>
            <p:cNvSpPr>
              <a:spLocks noChangeShapeType="1"/>
            </p:cNvSpPr>
            <p:nvPr/>
          </p:nvSpPr>
          <p:spPr bwMode="auto">
            <a:xfrm>
              <a:off x="3976" y="789"/>
              <a:ext cx="0" cy="617"/>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 name="文本框 181307">
              <a:extLst>
                <a:ext uri="{FF2B5EF4-FFF2-40B4-BE49-F238E27FC236}">
                  <a16:creationId xmlns:a16="http://schemas.microsoft.com/office/drawing/2014/main" xmlns="" id="{8B92ED54-99E1-35D6-437E-9D11E47FE541}"/>
                </a:ext>
              </a:extLst>
            </p:cNvPr>
            <p:cNvSpPr txBox="1">
              <a:spLocks noChangeArrowheads="1"/>
            </p:cNvSpPr>
            <p:nvPr/>
          </p:nvSpPr>
          <p:spPr bwMode="auto">
            <a:xfrm>
              <a:off x="3892" y="646"/>
              <a:ext cx="136" cy="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800" i="1">
                  <a:solidFill>
                    <a:schemeClr val="tx1"/>
                  </a:solidFill>
                </a:rPr>
                <a:t>•</a:t>
              </a:r>
            </a:p>
          </p:txBody>
        </p:sp>
        <p:sp>
          <p:nvSpPr>
            <p:cNvPr id="63" name="文本框 181308">
              <a:extLst>
                <a:ext uri="{FF2B5EF4-FFF2-40B4-BE49-F238E27FC236}">
                  <a16:creationId xmlns:a16="http://schemas.microsoft.com/office/drawing/2014/main" xmlns="" id="{E3CAAB68-B2D3-172C-B055-4B0D5E7C2850}"/>
                </a:ext>
              </a:extLst>
            </p:cNvPr>
            <p:cNvSpPr txBox="1">
              <a:spLocks noChangeArrowheads="1"/>
            </p:cNvSpPr>
            <p:nvPr/>
          </p:nvSpPr>
          <p:spPr bwMode="auto">
            <a:xfrm>
              <a:off x="3888" y="1308"/>
              <a:ext cx="136" cy="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800" i="1">
                  <a:solidFill>
                    <a:schemeClr val="tx1"/>
                  </a:solidFill>
                </a:rPr>
                <a:t>•</a:t>
              </a:r>
            </a:p>
          </p:txBody>
        </p:sp>
      </p:grpSp>
      <p:sp>
        <p:nvSpPr>
          <p:cNvPr id="64" name="直接连接符 63">
            <a:extLst>
              <a:ext uri="{FF2B5EF4-FFF2-40B4-BE49-F238E27FC236}">
                <a16:creationId xmlns:a16="http://schemas.microsoft.com/office/drawing/2014/main" xmlns="" id="{78F0E34A-829D-925C-283D-F3C42C30FE95}"/>
              </a:ext>
            </a:extLst>
          </p:cNvPr>
          <p:cNvSpPr>
            <a:spLocks noChangeShapeType="1"/>
          </p:cNvSpPr>
          <p:nvPr/>
        </p:nvSpPr>
        <p:spPr bwMode="auto">
          <a:xfrm>
            <a:off x="4652962" y="4302126"/>
            <a:ext cx="1641475"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 name="任意多边形 181310">
            <a:extLst>
              <a:ext uri="{FF2B5EF4-FFF2-40B4-BE49-F238E27FC236}">
                <a16:creationId xmlns:a16="http://schemas.microsoft.com/office/drawing/2014/main" xmlns="" id="{7169B46F-F17E-3455-186A-6BB51EB2714A}"/>
              </a:ext>
            </a:extLst>
          </p:cNvPr>
          <p:cNvSpPr>
            <a:spLocks noChangeArrowheads="1"/>
          </p:cNvSpPr>
          <p:nvPr/>
        </p:nvSpPr>
        <p:spPr bwMode="auto">
          <a:xfrm>
            <a:off x="4424362" y="3779838"/>
            <a:ext cx="914400" cy="1600200"/>
          </a:xfrm>
          <a:custGeom>
            <a:avLst/>
            <a:gdLst>
              <a:gd name="T0" fmla="*/ 0 w 576"/>
              <a:gd name="T1" fmla="*/ 1080 h 1080"/>
              <a:gd name="T2" fmla="*/ 192 w 576"/>
              <a:gd name="T3" fmla="*/ 120 h 1080"/>
              <a:gd name="T4" fmla="*/ 288 w 576"/>
              <a:gd name="T5" fmla="*/ 360 h 1080"/>
              <a:gd name="T6" fmla="*/ 384 w 576"/>
              <a:gd name="T7" fmla="*/ 120 h 1080"/>
              <a:gd name="T8" fmla="*/ 576 w 576"/>
              <a:gd name="T9" fmla="*/ 1080 h 1080"/>
            </a:gdLst>
            <a:ahLst/>
            <a:cxnLst>
              <a:cxn ang="0">
                <a:pos x="T0" y="T1"/>
              </a:cxn>
              <a:cxn ang="0">
                <a:pos x="T2" y="T3"/>
              </a:cxn>
              <a:cxn ang="0">
                <a:pos x="T4" y="T5"/>
              </a:cxn>
              <a:cxn ang="0">
                <a:pos x="T6" y="T7"/>
              </a:cxn>
              <a:cxn ang="0">
                <a:pos x="T8" y="T9"/>
              </a:cxn>
            </a:cxnLst>
            <a:rect l="0" t="0" r="r" b="b"/>
            <a:pathLst>
              <a:path w="576" h="1080">
                <a:moveTo>
                  <a:pt x="0" y="1080"/>
                </a:moveTo>
                <a:cubicBezTo>
                  <a:pt x="72" y="660"/>
                  <a:pt x="144" y="240"/>
                  <a:pt x="192" y="120"/>
                </a:cubicBezTo>
                <a:cubicBezTo>
                  <a:pt x="240" y="0"/>
                  <a:pt x="256" y="360"/>
                  <a:pt x="288" y="360"/>
                </a:cubicBezTo>
                <a:cubicBezTo>
                  <a:pt x="320" y="360"/>
                  <a:pt x="336" y="0"/>
                  <a:pt x="384" y="120"/>
                </a:cubicBezTo>
                <a:cubicBezTo>
                  <a:pt x="432" y="240"/>
                  <a:pt x="552" y="920"/>
                  <a:pt x="576" y="1080"/>
                </a:cubicBezTo>
              </a:path>
            </a:pathLst>
          </a:custGeom>
          <a:noFill/>
          <a:ln w="9525">
            <a:solidFill>
              <a:srgbClr val="FF33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66" name="组合 65">
            <a:extLst>
              <a:ext uri="{FF2B5EF4-FFF2-40B4-BE49-F238E27FC236}">
                <a16:creationId xmlns:a16="http://schemas.microsoft.com/office/drawing/2014/main" xmlns="" id="{4F8E7393-DF0A-473A-7E16-1EE73543B995}"/>
              </a:ext>
            </a:extLst>
          </p:cNvPr>
          <p:cNvGrpSpPr>
            <a:grpSpLocks/>
          </p:cNvGrpSpPr>
          <p:nvPr/>
        </p:nvGrpSpPr>
        <p:grpSpPr bwMode="auto">
          <a:xfrm>
            <a:off x="449069" y="2162175"/>
            <a:ext cx="3248025" cy="2033588"/>
            <a:chOff x="3305" y="2787"/>
            <a:chExt cx="2046" cy="1281"/>
          </a:xfrm>
        </p:grpSpPr>
        <p:sp>
          <p:nvSpPr>
            <p:cNvPr id="67" name="矩形 181315">
              <a:extLst>
                <a:ext uri="{FF2B5EF4-FFF2-40B4-BE49-F238E27FC236}">
                  <a16:creationId xmlns:a16="http://schemas.microsoft.com/office/drawing/2014/main" xmlns="" id="{F930A7C2-E4C2-3663-CB32-5FE21F4F787F}"/>
                </a:ext>
              </a:extLst>
            </p:cNvPr>
            <p:cNvSpPr>
              <a:spLocks noChangeArrowheads="1"/>
            </p:cNvSpPr>
            <p:nvPr/>
          </p:nvSpPr>
          <p:spPr bwMode="auto">
            <a:xfrm>
              <a:off x="3348" y="2787"/>
              <a:ext cx="1973" cy="127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nvGrpSpPr>
            <p:cNvPr id="68" name="组合 181316">
              <a:extLst>
                <a:ext uri="{FF2B5EF4-FFF2-40B4-BE49-F238E27FC236}">
                  <a16:creationId xmlns:a16="http://schemas.microsoft.com/office/drawing/2014/main" xmlns="" id="{F5FC4605-9A46-C748-3CEC-61BE6EC5EE37}"/>
                </a:ext>
              </a:extLst>
            </p:cNvPr>
            <p:cNvGrpSpPr>
              <a:grpSpLocks/>
            </p:cNvGrpSpPr>
            <p:nvPr/>
          </p:nvGrpSpPr>
          <p:grpSpPr bwMode="auto">
            <a:xfrm>
              <a:off x="3305" y="2867"/>
              <a:ext cx="2046" cy="1201"/>
              <a:chOff x="3305" y="2867"/>
              <a:chExt cx="2046" cy="1201"/>
            </a:xfrm>
          </p:grpSpPr>
          <p:grpSp>
            <p:nvGrpSpPr>
              <p:cNvPr id="69" name="组合 181317">
                <a:extLst>
                  <a:ext uri="{FF2B5EF4-FFF2-40B4-BE49-F238E27FC236}">
                    <a16:creationId xmlns:a16="http://schemas.microsoft.com/office/drawing/2014/main" xmlns="" id="{DE6383D8-C1EE-0618-6B63-C0C06FA5E734}"/>
                  </a:ext>
                </a:extLst>
              </p:cNvPr>
              <p:cNvGrpSpPr>
                <a:grpSpLocks/>
              </p:cNvGrpSpPr>
              <p:nvPr/>
            </p:nvGrpSpPr>
            <p:grpSpPr bwMode="auto">
              <a:xfrm>
                <a:off x="4307" y="3031"/>
                <a:ext cx="13" cy="735"/>
                <a:chOff x="1635" y="2629"/>
                <a:chExt cx="13" cy="735"/>
              </a:xfrm>
            </p:grpSpPr>
            <p:sp>
              <p:nvSpPr>
                <p:cNvPr id="87" name="任意多边形 181318">
                  <a:extLst>
                    <a:ext uri="{FF2B5EF4-FFF2-40B4-BE49-F238E27FC236}">
                      <a16:creationId xmlns:a16="http://schemas.microsoft.com/office/drawing/2014/main" xmlns="" id="{A5EB7EC4-F827-9950-B1D1-23ACB94CE382}"/>
                    </a:ext>
                  </a:extLst>
                </p:cNvPr>
                <p:cNvSpPr>
                  <a:spLocks noChangeArrowheads="1"/>
                </p:cNvSpPr>
                <p:nvPr/>
              </p:nvSpPr>
              <p:spPr bwMode="auto">
                <a:xfrm>
                  <a:off x="1635" y="3334"/>
                  <a:ext cx="13" cy="30"/>
                </a:xfrm>
                <a:custGeom>
                  <a:avLst/>
                  <a:gdLst>
                    <a:gd name="T0" fmla="*/ 0 w 13"/>
                    <a:gd name="T1" fmla="*/ 30 h 30"/>
                    <a:gd name="T2" fmla="*/ 5 w 13"/>
                    <a:gd name="T3" fmla="*/ 30 h 30"/>
                    <a:gd name="T4" fmla="*/ 9 w 13"/>
                    <a:gd name="T5" fmla="*/ 28 h 30"/>
                    <a:gd name="T6" fmla="*/ 13 w 13"/>
                    <a:gd name="T7" fmla="*/ 28 h 30"/>
                    <a:gd name="T8" fmla="*/ 13 w 13"/>
                    <a:gd name="T9" fmla="*/ 2 h 30"/>
                    <a:gd name="T10" fmla="*/ 5 w 13"/>
                    <a:gd name="T11" fmla="*/ 0 h 30"/>
                    <a:gd name="T12" fmla="*/ 0 w 13"/>
                    <a:gd name="T13" fmla="*/ 2 h 30"/>
                    <a:gd name="T14" fmla="*/ 0 w 13"/>
                    <a:gd name="T15" fmla="*/ 4 h 30"/>
                    <a:gd name="T16" fmla="*/ 0 w 13"/>
                    <a:gd name="T1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30">
                      <a:moveTo>
                        <a:pt x="0" y="30"/>
                      </a:moveTo>
                      <a:lnTo>
                        <a:pt x="5" y="30"/>
                      </a:lnTo>
                      <a:lnTo>
                        <a:pt x="9" y="28"/>
                      </a:lnTo>
                      <a:lnTo>
                        <a:pt x="13" y="28"/>
                      </a:lnTo>
                      <a:lnTo>
                        <a:pt x="13" y="2"/>
                      </a:lnTo>
                      <a:lnTo>
                        <a:pt x="5" y="0"/>
                      </a:lnTo>
                      <a:lnTo>
                        <a:pt x="0" y="2"/>
                      </a:lnTo>
                      <a:lnTo>
                        <a:pt x="0" y="4"/>
                      </a:lnTo>
                      <a:lnTo>
                        <a:pt x="0" y="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8" name="任意多边形 181319">
                  <a:extLst>
                    <a:ext uri="{FF2B5EF4-FFF2-40B4-BE49-F238E27FC236}">
                      <a16:creationId xmlns:a16="http://schemas.microsoft.com/office/drawing/2014/main" xmlns="" id="{13486529-A4D6-F39A-38C8-535D4714BEFF}"/>
                    </a:ext>
                  </a:extLst>
                </p:cNvPr>
                <p:cNvSpPr>
                  <a:spLocks noChangeArrowheads="1"/>
                </p:cNvSpPr>
                <p:nvPr/>
              </p:nvSpPr>
              <p:spPr bwMode="auto">
                <a:xfrm>
                  <a:off x="1635" y="3288"/>
                  <a:ext cx="13" cy="31"/>
                </a:xfrm>
                <a:custGeom>
                  <a:avLst/>
                  <a:gdLst>
                    <a:gd name="T0" fmla="*/ 0 w 13"/>
                    <a:gd name="T1" fmla="*/ 31 h 31"/>
                    <a:gd name="T2" fmla="*/ 5 w 13"/>
                    <a:gd name="T3" fmla="*/ 31 h 31"/>
                    <a:gd name="T4" fmla="*/ 9 w 13"/>
                    <a:gd name="T5" fmla="*/ 28 h 31"/>
                    <a:gd name="T6" fmla="*/ 13 w 13"/>
                    <a:gd name="T7" fmla="*/ 28 h 31"/>
                    <a:gd name="T8" fmla="*/ 13 w 13"/>
                    <a:gd name="T9" fmla="*/ 3 h 31"/>
                    <a:gd name="T10" fmla="*/ 5 w 13"/>
                    <a:gd name="T11" fmla="*/ 0 h 31"/>
                    <a:gd name="T12" fmla="*/ 0 w 13"/>
                    <a:gd name="T13" fmla="*/ 3 h 31"/>
                    <a:gd name="T14" fmla="*/ 0 w 13"/>
                    <a:gd name="T15" fmla="*/ 5 h 31"/>
                    <a:gd name="T16" fmla="*/ 0 w 13"/>
                    <a:gd name="T17" fmla="*/ 3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31">
                      <a:moveTo>
                        <a:pt x="0" y="31"/>
                      </a:moveTo>
                      <a:lnTo>
                        <a:pt x="5" y="31"/>
                      </a:lnTo>
                      <a:lnTo>
                        <a:pt x="9" y="28"/>
                      </a:lnTo>
                      <a:lnTo>
                        <a:pt x="13" y="28"/>
                      </a:lnTo>
                      <a:lnTo>
                        <a:pt x="13" y="3"/>
                      </a:lnTo>
                      <a:lnTo>
                        <a:pt x="5" y="0"/>
                      </a:lnTo>
                      <a:lnTo>
                        <a:pt x="0" y="3"/>
                      </a:lnTo>
                      <a:lnTo>
                        <a:pt x="0" y="5"/>
                      </a:lnTo>
                      <a:lnTo>
                        <a:pt x="0" y="3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 name="任意多边形 181320">
                  <a:extLst>
                    <a:ext uri="{FF2B5EF4-FFF2-40B4-BE49-F238E27FC236}">
                      <a16:creationId xmlns:a16="http://schemas.microsoft.com/office/drawing/2014/main" xmlns="" id="{253620ED-3BFF-5F0C-AD98-54E5B46DD8CB}"/>
                    </a:ext>
                  </a:extLst>
                </p:cNvPr>
                <p:cNvSpPr>
                  <a:spLocks noChangeArrowheads="1"/>
                </p:cNvSpPr>
                <p:nvPr/>
              </p:nvSpPr>
              <p:spPr bwMode="auto">
                <a:xfrm>
                  <a:off x="1635" y="3243"/>
                  <a:ext cx="13" cy="30"/>
                </a:xfrm>
                <a:custGeom>
                  <a:avLst/>
                  <a:gdLst>
                    <a:gd name="T0" fmla="*/ 0 w 13"/>
                    <a:gd name="T1" fmla="*/ 30 h 30"/>
                    <a:gd name="T2" fmla="*/ 5 w 13"/>
                    <a:gd name="T3" fmla="*/ 30 h 30"/>
                    <a:gd name="T4" fmla="*/ 9 w 13"/>
                    <a:gd name="T5" fmla="*/ 28 h 30"/>
                    <a:gd name="T6" fmla="*/ 13 w 13"/>
                    <a:gd name="T7" fmla="*/ 28 h 30"/>
                    <a:gd name="T8" fmla="*/ 13 w 13"/>
                    <a:gd name="T9" fmla="*/ 2 h 30"/>
                    <a:gd name="T10" fmla="*/ 5 w 13"/>
                    <a:gd name="T11" fmla="*/ 0 h 30"/>
                    <a:gd name="T12" fmla="*/ 0 w 13"/>
                    <a:gd name="T13" fmla="*/ 2 h 30"/>
                    <a:gd name="T14" fmla="*/ 0 w 13"/>
                    <a:gd name="T15" fmla="*/ 5 h 30"/>
                    <a:gd name="T16" fmla="*/ 0 w 13"/>
                    <a:gd name="T1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30">
                      <a:moveTo>
                        <a:pt x="0" y="30"/>
                      </a:moveTo>
                      <a:lnTo>
                        <a:pt x="5" y="30"/>
                      </a:lnTo>
                      <a:lnTo>
                        <a:pt x="9" y="28"/>
                      </a:lnTo>
                      <a:lnTo>
                        <a:pt x="13" y="28"/>
                      </a:lnTo>
                      <a:lnTo>
                        <a:pt x="13" y="2"/>
                      </a:lnTo>
                      <a:lnTo>
                        <a:pt x="5" y="0"/>
                      </a:lnTo>
                      <a:lnTo>
                        <a:pt x="0" y="2"/>
                      </a:lnTo>
                      <a:lnTo>
                        <a:pt x="0" y="5"/>
                      </a:lnTo>
                      <a:lnTo>
                        <a:pt x="0" y="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0" name="任意多边形 181321">
                  <a:extLst>
                    <a:ext uri="{FF2B5EF4-FFF2-40B4-BE49-F238E27FC236}">
                      <a16:creationId xmlns:a16="http://schemas.microsoft.com/office/drawing/2014/main" xmlns="" id="{80841A00-291E-6F3D-F283-5562F0032586}"/>
                    </a:ext>
                  </a:extLst>
                </p:cNvPr>
                <p:cNvSpPr>
                  <a:spLocks noChangeArrowheads="1"/>
                </p:cNvSpPr>
                <p:nvPr/>
              </p:nvSpPr>
              <p:spPr bwMode="auto">
                <a:xfrm>
                  <a:off x="1635" y="3198"/>
                  <a:ext cx="13" cy="30"/>
                </a:xfrm>
                <a:custGeom>
                  <a:avLst/>
                  <a:gdLst>
                    <a:gd name="T0" fmla="*/ 0 w 13"/>
                    <a:gd name="T1" fmla="*/ 30 h 30"/>
                    <a:gd name="T2" fmla="*/ 5 w 13"/>
                    <a:gd name="T3" fmla="*/ 30 h 30"/>
                    <a:gd name="T4" fmla="*/ 9 w 13"/>
                    <a:gd name="T5" fmla="*/ 28 h 30"/>
                    <a:gd name="T6" fmla="*/ 13 w 13"/>
                    <a:gd name="T7" fmla="*/ 28 h 30"/>
                    <a:gd name="T8" fmla="*/ 13 w 13"/>
                    <a:gd name="T9" fmla="*/ 2 h 30"/>
                    <a:gd name="T10" fmla="*/ 5 w 13"/>
                    <a:gd name="T11" fmla="*/ 0 h 30"/>
                    <a:gd name="T12" fmla="*/ 0 w 13"/>
                    <a:gd name="T13" fmla="*/ 2 h 30"/>
                    <a:gd name="T14" fmla="*/ 0 w 13"/>
                    <a:gd name="T15" fmla="*/ 4 h 30"/>
                    <a:gd name="T16" fmla="*/ 0 w 13"/>
                    <a:gd name="T1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30">
                      <a:moveTo>
                        <a:pt x="0" y="30"/>
                      </a:moveTo>
                      <a:lnTo>
                        <a:pt x="5" y="30"/>
                      </a:lnTo>
                      <a:lnTo>
                        <a:pt x="9" y="28"/>
                      </a:lnTo>
                      <a:lnTo>
                        <a:pt x="13" y="28"/>
                      </a:lnTo>
                      <a:lnTo>
                        <a:pt x="13" y="2"/>
                      </a:lnTo>
                      <a:lnTo>
                        <a:pt x="5" y="0"/>
                      </a:lnTo>
                      <a:lnTo>
                        <a:pt x="0" y="2"/>
                      </a:lnTo>
                      <a:lnTo>
                        <a:pt x="0" y="4"/>
                      </a:lnTo>
                      <a:lnTo>
                        <a:pt x="0" y="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1" name="任意多边形 181322">
                  <a:extLst>
                    <a:ext uri="{FF2B5EF4-FFF2-40B4-BE49-F238E27FC236}">
                      <a16:creationId xmlns:a16="http://schemas.microsoft.com/office/drawing/2014/main" xmlns="" id="{F7F4C4A3-0427-28DF-2537-E27AF8B59D06}"/>
                    </a:ext>
                  </a:extLst>
                </p:cNvPr>
                <p:cNvSpPr>
                  <a:spLocks noChangeArrowheads="1"/>
                </p:cNvSpPr>
                <p:nvPr/>
              </p:nvSpPr>
              <p:spPr bwMode="auto">
                <a:xfrm>
                  <a:off x="1635" y="3153"/>
                  <a:ext cx="13" cy="30"/>
                </a:xfrm>
                <a:custGeom>
                  <a:avLst/>
                  <a:gdLst>
                    <a:gd name="T0" fmla="*/ 0 w 13"/>
                    <a:gd name="T1" fmla="*/ 30 h 30"/>
                    <a:gd name="T2" fmla="*/ 5 w 13"/>
                    <a:gd name="T3" fmla="*/ 30 h 30"/>
                    <a:gd name="T4" fmla="*/ 9 w 13"/>
                    <a:gd name="T5" fmla="*/ 28 h 30"/>
                    <a:gd name="T6" fmla="*/ 13 w 13"/>
                    <a:gd name="T7" fmla="*/ 28 h 30"/>
                    <a:gd name="T8" fmla="*/ 13 w 13"/>
                    <a:gd name="T9" fmla="*/ 2 h 30"/>
                    <a:gd name="T10" fmla="*/ 5 w 13"/>
                    <a:gd name="T11" fmla="*/ 0 h 30"/>
                    <a:gd name="T12" fmla="*/ 0 w 13"/>
                    <a:gd name="T13" fmla="*/ 2 h 30"/>
                    <a:gd name="T14" fmla="*/ 0 w 13"/>
                    <a:gd name="T15" fmla="*/ 4 h 30"/>
                    <a:gd name="T16" fmla="*/ 0 w 13"/>
                    <a:gd name="T1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30">
                      <a:moveTo>
                        <a:pt x="0" y="30"/>
                      </a:moveTo>
                      <a:lnTo>
                        <a:pt x="5" y="30"/>
                      </a:lnTo>
                      <a:lnTo>
                        <a:pt x="9" y="28"/>
                      </a:lnTo>
                      <a:lnTo>
                        <a:pt x="13" y="28"/>
                      </a:lnTo>
                      <a:lnTo>
                        <a:pt x="13" y="2"/>
                      </a:lnTo>
                      <a:lnTo>
                        <a:pt x="5" y="0"/>
                      </a:lnTo>
                      <a:lnTo>
                        <a:pt x="0" y="2"/>
                      </a:lnTo>
                      <a:lnTo>
                        <a:pt x="0" y="4"/>
                      </a:lnTo>
                      <a:lnTo>
                        <a:pt x="0" y="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 name="任意多边形 181323">
                  <a:extLst>
                    <a:ext uri="{FF2B5EF4-FFF2-40B4-BE49-F238E27FC236}">
                      <a16:creationId xmlns:a16="http://schemas.microsoft.com/office/drawing/2014/main" xmlns="" id="{744B0C61-A663-482E-9209-AC110C6001C6}"/>
                    </a:ext>
                  </a:extLst>
                </p:cNvPr>
                <p:cNvSpPr>
                  <a:spLocks noChangeArrowheads="1"/>
                </p:cNvSpPr>
                <p:nvPr/>
              </p:nvSpPr>
              <p:spPr bwMode="auto">
                <a:xfrm>
                  <a:off x="1635" y="3107"/>
                  <a:ext cx="13" cy="31"/>
                </a:xfrm>
                <a:custGeom>
                  <a:avLst/>
                  <a:gdLst>
                    <a:gd name="T0" fmla="*/ 0 w 13"/>
                    <a:gd name="T1" fmla="*/ 31 h 31"/>
                    <a:gd name="T2" fmla="*/ 5 w 13"/>
                    <a:gd name="T3" fmla="*/ 31 h 31"/>
                    <a:gd name="T4" fmla="*/ 9 w 13"/>
                    <a:gd name="T5" fmla="*/ 28 h 31"/>
                    <a:gd name="T6" fmla="*/ 13 w 13"/>
                    <a:gd name="T7" fmla="*/ 28 h 31"/>
                    <a:gd name="T8" fmla="*/ 13 w 13"/>
                    <a:gd name="T9" fmla="*/ 3 h 31"/>
                    <a:gd name="T10" fmla="*/ 5 w 13"/>
                    <a:gd name="T11" fmla="*/ 0 h 31"/>
                    <a:gd name="T12" fmla="*/ 0 w 13"/>
                    <a:gd name="T13" fmla="*/ 3 h 31"/>
                    <a:gd name="T14" fmla="*/ 0 w 13"/>
                    <a:gd name="T15" fmla="*/ 5 h 31"/>
                    <a:gd name="T16" fmla="*/ 0 w 13"/>
                    <a:gd name="T17" fmla="*/ 3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31">
                      <a:moveTo>
                        <a:pt x="0" y="31"/>
                      </a:moveTo>
                      <a:lnTo>
                        <a:pt x="5" y="31"/>
                      </a:lnTo>
                      <a:lnTo>
                        <a:pt x="9" y="28"/>
                      </a:lnTo>
                      <a:lnTo>
                        <a:pt x="13" y="28"/>
                      </a:lnTo>
                      <a:lnTo>
                        <a:pt x="13" y="3"/>
                      </a:lnTo>
                      <a:lnTo>
                        <a:pt x="5" y="0"/>
                      </a:lnTo>
                      <a:lnTo>
                        <a:pt x="0" y="3"/>
                      </a:lnTo>
                      <a:lnTo>
                        <a:pt x="0" y="5"/>
                      </a:lnTo>
                      <a:lnTo>
                        <a:pt x="0" y="3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3" name="任意多边形 181324">
                  <a:extLst>
                    <a:ext uri="{FF2B5EF4-FFF2-40B4-BE49-F238E27FC236}">
                      <a16:creationId xmlns:a16="http://schemas.microsoft.com/office/drawing/2014/main" xmlns="" id="{A71DAFFE-EA36-331C-5336-61F4C19B9B0A}"/>
                    </a:ext>
                  </a:extLst>
                </p:cNvPr>
                <p:cNvSpPr>
                  <a:spLocks noChangeArrowheads="1"/>
                </p:cNvSpPr>
                <p:nvPr/>
              </p:nvSpPr>
              <p:spPr bwMode="auto">
                <a:xfrm>
                  <a:off x="1635" y="3062"/>
                  <a:ext cx="13" cy="30"/>
                </a:xfrm>
                <a:custGeom>
                  <a:avLst/>
                  <a:gdLst>
                    <a:gd name="T0" fmla="*/ 0 w 13"/>
                    <a:gd name="T1" fmla="*/ 30 h 30"/>
                    <a:gd name="T2" fmla="*/ 5 w 13"/>
                    <a:gd name="T3" fmla="*/ 30 h 30"/>
                    <a:gd name="T4" fmla="*/ 9 w 13"/>
                    <a:gd name="T5" fmla="*/ 28 h 30"/>
                    <a:gd name="T6" fmla="*/ 13 w 13"/>
                    <a:gd name="T7" fmla="*/ 28 h 30"/>
                    <a:gd name="T8" fmla="*/ 13 w 13"/>
                    <a:gd name="T9" fmla="*/ 2 h 30"/>
                    <a:gd name="T10" fmla="*/ 5 w 13"/>
                    <a:gd name="T11" fmla="*/ 0 h 30"/>
                    <a:gd name="T12" fmla="*/ 0 w 13"/>
                    <a:gd name="T13" fmla="*/ 2 h 30"/>
                    <a:gd name="T14" fmla="*/ 0 w 13"/>
                    <a:gd name="T15" fmla="*/ 5 h 30"/>
                    <a:gd name="T16" fmla="*/ 0 w 13"/>
                    <a:gd name="T1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30">
                      <a:moveTo>
                        <a:pt x="0" y="30"/>
                      </a:moveTo>
                      <a:lnTo>
                        <a:pt x="5" y="30"/>
                      </a:lnTo>
                      <a:lnTo>
                        <a:pt x="9" y="28"/>
                      </a:lnTo>
                      <a:lnTo>
                        <a:pt x="13" y="28"/>
                      </a:lnTo>
                      <a:lnTo>
                        <a:pt x="13" y="2"/>
                      </a:lnTo>
                      <a:lnTo>
                        <a:pt x="5" y="0"/>
                      </a:lnTo>
                      <a:lnTo>
                        <a:pt x="0" y="2"/>
                      </a:lnTo>
                      <a:lnTo>
                        <a:pt x="0" y="5"/>
                      </a:lnTo>
                      <a:lnTo>
                        <a:pt x="0" y="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 name="任意多边形 181325">
                  <a:extLst>
                    <a:ext uri="{FF2B5EF4-FFF2-40B4-BE49-F238E27FC236}">
                      <a16:creationId xmlns:a16="http://schemas.microsoft.com/office/drawing/2014/main" xmlns="" id="{E39422DA-DE54-1A46-97AF-6ABEBB68E356}"/>
                    </a:ext>
                  </a:extLst>
                </p:cNvPr>
                <p:cNvSpPr>
                  <a:spLocks noChangeArrowheads="1"/>
                </p:cNvSpPr>
                <p:nvPr/>
              </p:nvSpPr>
              <p:spPr bwMode="auto">
                <a:xfrm>
                  <a:off x="1635" y="3017"/>
                  <a:ext cx="13" cy="30"/>
                </a:xfrm>
                <a:custGeom>
                  <a:avLst/>
                  <a:gdLst>
                    <a:gd name="T0" fmla="*/ 0 w 13"/>
                    <a:gd name="T1" fmla="*/ 30 h 30"/>
                    <a:gd name="T2" fmla="*/ 5 w 13"/>
                    <a:gd name="T3" fmla="*/ 30 h 30"/>
                    <a:gd name="T4" fmla="*/ 9 w 13"/>
                    <a:gd name="T5" fmla="*/ 28 h 30"/>
                    <a:gd name="T6" fmla="*/ 13 w 13"/>
                    <a:gd name="T7" fmla="*/ 28 h 30"/>
                    <a:gd name="T8" fmla="*/ 13 w 13"/>
                    <a:gd name="T9" fmla="*/ 2 h 30"/>
                    <a:gd name="T10" fmla="*/ 5 w 13"/>
                    <a:gd name="T11" fmla="*/ 0 h 30"/>
                    <a:gd name="T12" fmla="*/ 0 w 13"/>
                    <a:gd name="T13" fmla="*/ 2 h 30"/>
                    <a:gd name="T14" fmla="*/ 0 w 13"/>
                    <a:gd name="T15" fmla="*/ 4 h 30"/>
                    <a:gd name="T16" fmla="*/ 0 w 13"/>
                    <a:gd name="T1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30">
                      <a:moveTo>
                        <a:pt x="0" y="30"/>
                      </a:moveTo>
                      <a:lnTo>
                        <a:pt x="5" y="30"/>
                      </a:lnTo>
                      <a:lnTo>
                        <a:pt x="9" y="28"/>
                      </a:lnTo>
                      <a:lnTo>
                        <a:pt x="13" y="28"/>
                      </a:lnTo>
                      <a:lnTo>
                        <a:pt x="13" y="2"/>
                      </a:lnTo>
                      <a:lnTo>
                        <a:pt x="5" y="0"/>
                      </a:lnTo>
                      <a:lnTo>
                        <a:pt x="0" y="2"/>
                      </a:lnTo>
                      <a:lnTo>
                        <a:pt x="0" y="4"/>
                      </a:lnTo>
                      <a:lnTo>
                        <a:pt x="0" y="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 name="任意多边形 181326">
                  <a:extLst>
                    <a:ext uri="{FF2B5EF4-FFF2-40B4-BE49-F238E27FC236}">
                      <a16:creationId xmlns:a16="http://schemas.microsoft.com/office/drawing/2014/main" xmlns="" id="{7B431950-B507-57C0-091A-B93AF3FE0588}"/>
                    </a:ext>
                  </a:extLst>
                </p:cNvPr>
                <p:cNvSpPr>
                  <a:spLocks noChangeArrowheads="1"/>
                </p:cNvSpPr>
                <p:nvPr/>
              </p:nvSpPr>
              <p:spPr bwMode="auto">
                <a:xfrm>
                  <a:off x="1635" y="2972"/>
                  <a:ext cx="13" cy="30"/>
                </a:xfrm>
                <a:custGeom>
                  <a:avLst/>
                  <a:gdLst>
                    <a:gd name="T0" fmla="*/ 0 w 13"/>
                    <a:gd name="T1" fmla="*/ 30 h 30"/>
                    <a:gd name="T2" fmla="*/ 5 w 13"/>
                    <a:gd name="T3" fmla="*/ 30 h 30"/>
                    <a:gd name="T4" fmla="*/ 9 w 13"/>
                    <a:gd name="T5" fmla="*/ 28 h 30"/>
                    <a:gd name="T6" fmla="*/ 13 w 13"/>
                    <a:gd name="T7" fmla="*/ 28 h 30"/>
                    <a:gd name="T8" fmla="*/ 13 w 13"/>
                    <a:gd name="T9" fmla="*/ 2 h 30"/>
                    <a:gd name="T10" fmla="*/ 5 w 13"/>
                    <a:gd name="T11" fmla="*/ 0 h 30"/>
                    <a:gd name="T12" fmla="*/ 0 w 13"/>
                    <a:gd name="T13" fmla="*/ 2 h 30"/>
                    <a:gd name="T14" fmla="*/ 0 w 13"/>
                    <a:gd name="T15" fmla="*/ 4 h 30"/>
                    <a:gd name="T16" fmla="*/ 0 w 13"/>
                    <a:gd name="T1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30">
                      <a:moveTo>
                        <a:pt x="0" y="30"/>
                      </a:moveTo>
                      <a:lnTo>
                        <a:pt x="5" y="30"/>
                      </a:lnTo>
                      <a:lnTo>
                        <a:pt x="9" y="28"/>
                      </a:lnTo>
                      <a:lnTo>
                        <a:pt x="13" y="28"/>
                      </a:lnTo>
                      <a:lnTo>
                        <a:pt x="13" y="2"/>
                      </a:lnTo>
                      <a:lnTo>
                        <a:pt x="5" y="0"/>
                      </a:lnTo>
                      <a:lnTo>
                        <a:pt x="0" y="2"/>
                      </a:lnTo>
                      <a:lnTo>
                        <a:pt x="0" y="4"/>
                      </a:lnTo>
                      <a:lnTo>
                        <a:pt x="0" y="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 name="任意多边形 181327">
                  <a:extLst>
                    <a:ext uri="{FF2B5EF4-FFF2-40B4-BE49-F238E27FC236}">
                      <a16:creationId xmlns:a16="http://schemas.microsoft.com/office/drawing/2014/main" xmlns="" id="{8D583DD9-88A9-EA99-EA20-EC01462CC450}"/>
                    </a:ext>
                  </a:extLst>
                </p:cNvPr>
                <p:cNvSpPr>
                  <a:spLocks noChangeArrowheads="1"/>
                </p:cNvSpPr>
                <p:nvPr/>
              </p:nvSpPr>
              <p:spPr bwMode="auto">
                <a:xfrm>
                  <a:off x="1635" y="2927"/>
                  <a:ext cx="13" cy="30"/>
                </a:xfrm>
                <a:custGeom>
                  <a:avLst/>
                  <a:gdLst>
                    <a:gd name="T0" fmla="*/ 0 w 13"/>
                    <a:gd name="T1" fmla="*/ 30 h 30"/>
                    <a:gd name="T2" fmla="*/ 5 w 13"/>
                    <a:gd name="T3" fmla="*/ 30 h 30"/>
                    <a:gd name="T4" fmla="*/ 9 w 13"/>
                    <a:gd name="T5" fmla="*/ 28 h 30"/>
                    <a:gd name="T6" fmla="*/ 13 w 13"/>
                    <a:gd name="T7" fmla="*/ 28 h 30"/>
                    <a:gd name="T8" fmla="*/ 13 w 13"/>
                    <a:gd name="T9" fmla="*/ 2 h 30"/>
                    <a:gd name="T10" fmla="*/ 5 w 13"/>
                    <a:gd name="T11" fmla="*/ 0 h 30"/>
                    <a:gd name="T12" fmla="*/ 0 w 13"/>
                    <a:gd name="T13" fmla="*/ 2 h 30"/>
                    <a:gd name="T14" fmla="*/ 0 w 13"/>
                    <a:gd name="T15" fmla="*/ 4 h 30"/>
                    <a:gd name="T16" fmla="*/ 0 w 13"/>
                    <a:gd name="T1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30">
                      <a:moveTo>
                        <a:pt x="0" y="30"/>
                      </a:moveTo>
                      <a:lnTo>
                        <a:pt x="5" y="30"/>
                      </a:lnTo>
                      <a:lnTo>
                        <a:pt x="9" y="28"/>
                      </a:lnTo>
                      <a:lnTo>
                        <a:pt x="13" y="28"/>
                      </a:lnTo>
                      <a:lnTo>
                        <a:pt x="13" y="2"/>
                      </a:lnTo>
                      <a:lnTo>
                        <a:pt x="5" y="0"/>
                      </a:lnTo>
                      <a:lnTo>
                        <a:pt x="0" y="2"/>
                      </a:lnTo>
                      <a:lnTo>
                        <a:pt x="0" y="4"/>
                      </a:lnTo>
                      <a:lnTo>
                        <a:pt x="0" y="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 name="任意多边形 181328">
                  <a:extLst>
                    <a:ext uri="{FF2B5EF4-FFF2-40B4-BE49-F238E27FC236}">
                      <a16:creationId xmlns:a16="http://schemas.microsoft.com/office/drawing/2014/main" xmlns="" id="{613AA04B-C51D-82A7-CE65-43BCA3A8662C}"/>
                    </a:ext>
                  </a:extLst>
                </p:cNvPr>
                <p:cNvSpPr>
                  <a:spLocks noChangeArrowheads="1"/>
                </p:cNvSpPr>
                <p:nvPr/>
              </p:nvSpPr>
              <p:spPr bwMode="auto">
                <a:xfrm>
                  <a:off x="1635" y="2881"/>
                  <a:ext cx="13" cy="30"/>
                </a:xfrm>
                <a:custGeom>
                  <a:avLst/>
                  <a:gdLst>
                    <a:gd name="T0" fmla="*/ 0 w 13"/>
                    <a:gd name="T1" fmla="*/ 30 h 30"/>
                    <a:gd name="T2" fmla="*/ 5 w 13"/>
                    <a:gd name="T3" fmla="*/ 30 h 30"/>
                    <a:gd name="T4" fmla="*/ 9 w 13"/>
                    <a:gd name="T5" fmla="*/ 28 h 30"/>
                    <a:gd name="T6" fmla="*/ 13 w 13"/>
                    <a:gd name="T7" fmla="*/ 28 h 30"/>
                    <a:gd name="T8" fmla="*/ 13 w 13"/>
                    <a:gd name="T9" fmla="*/ 2 h 30"/>
                    <a:gd name="T10" fmla="*/ 5 w 13"/>
                    <a:gd name="T11" fmla="*/ 0 h 30"/>
                    <a:gd name="T12" fmla="*/ 0 w 13"/>
                    <a:gd name="T13" fmla="*/ 2 h 30"/>
                    <a:gd name="T14" fmla="*/ 0 w 13"/>
                    <a:gd name="T15" fmla="*/ 5 h 30"/>
                    <a:gd name="T16" fmla="*/ 0 w 13"/>
                    <a:gd name="T1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30">
                      <a:moveTo>
                        <a:pt x="0" y="30"/>
                      </a:moveTo>
                      <a:lnTo>
                        <a:pt x="5" y="30"/>
                      </a:lnTo>
                      <a:lnTo>
                        <a:pt x="9" y="28"/>
                      </a:lnTo>
                      <a:lnTo>
                        <a:pt x="13" y="28"/>
                      </a:lnTo>
                      <a:lnTo>
                        <a:pt x="13" y="2"/>
                      </a:lnTo>
                      <a:lnTo>
                        <a:pt x="5" y="0"/>
                      </a:lnTo>
                      <a:lnTo>
                        <a:pt x="0" y="2"/>
                      </a:lnTo>
                      <a:lnTo>
                        <a:pt x="0" y="5"/>
                      </a:lnTo>
                      <a:lnTo>
                        <a:pt x="0" y="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 name="任意多边形 181329">
                  <a:extLst>
                    <a:ext uri="{FF2B5EF4-FFF2-40B4-BE49-F238E27FC236}">
                      <a16:creationId xmlns:a16="http://schemas.microsoft.com/office/drawing/2014/main" xmlns="" id="{62011EC4-50C5-4E52-13C5-FB38D34912FA}"/>
                    </a:ext>
                  </a:extLst>
                </p:cNvPr>
                <p:cNvSpPr>
                  <a:spLocks noChangeArrowheads="1"/>
                </p:cNvSpPr>
                <p:nvPr/>
              </p:nvSpPr>
              <p:spPr bwMode="auto">
                <a:xfrm>
                  <a:off x="1635" y="2836"/>
                  <a:ext cx="13" cy="30"/>
                </a:xfrm>
                <a:custGeom>
                  <a:avLst/>
                  <a:gdLst>
                    <a:gd name="T0" fmla="*/ 0 w 13"/>
                    <a:gd name="T1" fmla="*/ 30 h 30"/>
                    <a:gd name="T2" fmla="*/ 5 w 13"/>
                    <a:gd name="T3" fmla="*/ 30 h 30"/>
                    <a:gd name="T4" fmla="*/ 9 w 13"/>
                    <a:gd name="T5" fmla="*/ 28 h 30"/>
                    <a:gd name="T6" fmla="*/ 13 w 13"/>
                    <a:gd name="T7" fmla="*/ 28 h 30"/>
                    <a:gd name="T8" fmla="*/ 13 w 13"/>
                    <a:gd name="T9" fmla="*/ 2 h 30"/>
                    <a:gd name="T10" fmla="*/ 5 w 13"/>
                    <a:gd name="T11" fmla="*/ 0 h 30"/>
                    <a:gd name="T12" fmla="*/ 0 w 13"/>
                    <a:gd name="T13" fmla="*/ 2 h 30"/>
                    <a:gd name="T14" fmla="*/ 0 w 13"/>
                    <a:gd name="T15" fmla="*/ 4 h 30"/>
                    <a:gd name="T16" fmla="*/ 0 w 13"/>
                    <a:gd name="T1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30">
                      <a:moveTo>
                        <a:pt x="0" y="30"/>
                      </a:moveTo>
                      <a:lnTo>
                        <a:pt x="5" y="30"/>
                      </a:lnTo>
                      <a:lnTo>
                        <a:pt x="9" y="28"/>
                      </a:lnTo>
                      <a:lnTo>
                        <a:pt x="13" y="28"/>
                      </a:lnTo>
                      <a:lnTo>
                        <a:pt x="13" y="2"/>
                      </a:lnTo>
                      <a:lnTo>
                        <a:pt x="5" y="0"/>
                      </a:lnTo>
                      <a:lnTo>
                        <a:pt x="0" y="2"/>
                      </a:lnTo>
                      <a:lnTo>
                        <a:pt x="0" y="4"/>
                      </a:lnTo>
                      <a:lnTo>
                        <a:pt x="0" y="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9" name="任意多边形 181330">
                  <a:extLst>
                    <a:ext uri="{FF2B5EF4-FFF2-40B4-BE49-F238E27FC236}">
                      <a16:creationId xmlns:a16="http://schemas.microsoft.com/office/drawing/2014/main" xmlns="" id="{DC57FCBA-BB41-5248-A15F-3329BB2B2527}"/>
                    </a:ext>
                  </a:extLst>
                </p:cNvPr>
                <p:cNvSpPr>
                  <a:spLocks noChangeArrowheads="1"/>
                </p:cNvSpPr>
                <p:nvPr/>
              </p:nvSpPr>
              <p:spPr bwMode="auto">
                <a:xfrm>
                  <a:off x="1635" y="2791"/>
                  <a:ext cx="13" cy="30"/>
                </a:xfrm>
                <a:custGeom>
                  <a:avLst/>
                  <a:gdLst>
                    <a:gd name="T0" fmla="*/ 0 w 13"/>
                    <a:gd name="T1" fmla="*/ 30 h 30"/>
                    <a:gd name="T2" fmla="*/ 5 w 13"/>
                    <a:gd name="T3" fmla="*/ 30 h 30"/>
                    <a:gd name="T4" fmla="*/ 9 w 13"/>
                    <a:gd name="T5" fmla="*/ 28 h 30"/>
                    <a:gd name="T6" fmla="*/ 13 w 13"/>
                    <a:gd name="T7" fmla="*/ 28 h 30"/>
                    <a:gd name="T8" fmla="*/ 13 w 13"/>
                    <a:gd name="T9" fmla="*/ 2 h 30"/>
                    <a:gd name="T10" fmla="*/ 5 w 13"/>
                    <a:gd name="T11" fmla="*/ 0 h 30"/>
                    <a:gd name="T12" fmla="*/ 0 w 13"/>
                    <a:gd name="T13" fmla="*/ 2 h 30"/>
                    <a:gd name="T14" fmla="*/ 0 w 13"/>
                    <a:gd name="T15" fmla="*/ 4 h 30"/>
                    <a:gd name="T16" fmla="*/ 0 w 13"/>
                    <a:gd name="T1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30">
                      <a:moveTo>
                        <a:pt x="0" y="30"/>
                      </a:moveTo>
                      <a:lnTo>
                        <a:pt x="5" y="30"/>
                      </a:lnTo>
                      <a:lnTo>
                        <a:pt x="9" y="28"/>
                      </a:lnTo>
                      <a:lnTo>
                        <a:pt x="13" y="28"/>
                      </a:lnTo>
                      <a:lnTo>
                        <a:pt x="13" y="2"/>
                      </a:lnTo>
                      <a:lnTo>
                        <a:pt x="5" y="0"/>
                      </a:lnTo>
                      <a:lnTo>
                        <a:pt x="0" y="2"/>
                      </a:lnTo>
                      <a:lnTo>
                        <a:pt x="0" y="4"/>
                      </a:lnTo>
                      <a:lnTo>
                        <a:pt x="0" y="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0" name="任意多边形 181331">
                  <a:extLst>
                    <a:ext uri="{FF2B5EF4-FFF2-40B4-BE49-F238E27FC236}">
                      <a16:creationId xmlns:a16="http://schemas.microsoft.com/office/drawing/2014/main" xmlns="" id="{FDAAD863-AF8F-945C-D7AE-3479F287ABC7}"/>
                    </a:ext>
                  </a:extLst>
                </p:cNvPr>
                <p:cNvSpPr>
                  <a:spLocks noChangeArrowheads="1"/>
                </p:cNvSpPr>
                <p:nvPr/>
              </p:nvSpPr>
              <p:spPr bwMode="auto">
                <a:xfrm>
                  <a:off x="1635" y="2746"/>
                  <a:ext cx="13" cy="30"/>
                </a:xfrm>
                <a:custGeom>
                  <a:avLst/>
                  <a:gdLst>
                    <a:gd name="T0" fmla="*/ 0 w 13"/>
                    <a:gd name="T1" fmla="*/ 30 h 30"/>
                    <a:gd name="T2" fmla="*/ 5 w 13"/>
                    <a:gd name="T3" fmla="*/ 30 h 30"/>
                    <a:gd name="T4" fmla="*/ 9 w 13"/>
                    <a:gd name="T5" fmla="*/ 28 h 30"/>
                    <a:gd name="T6" fmla="*/ 13 w 13"/>
                    <a:gd name="T7" fmla="*/ 28 h 30"/>
                    <a:gd name="T8" fmla="*/ 13 w 13"/>
                    <a:gd name="T9" fmla="*/ 2 h 30"/>
                    <a:gd name="T10" fmla="*/ 5 w 13"/>
                    <a:gd name="T11" fmla="*/ 0 h 30"/>
                    <a:gd name="T12" fmla="*/ 0 w 13"/>
                    <a:gd name="T13" fmla="*/ 2 h 30"/>
                    <a:gd name="T14" fmla="*/ 0 w 13"/>
                    <a:gd name="T15" fmla="*/ 4 h 30"/>
                    <a:gd name="T16" fmla="*/ 0 w 13"/>
                    <a:gd name="T1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30">
                      <a:moveTo>
                        <a:pt x="0" y="30"/>
                      </a:moveTo>
                      <a:lnTo>
                        <a:pt x="5" y="30"/>
                      </a:lnTo>
                      <a:lnTo>
                        <a:pt x="9" y="28"/>
                      </a:lnTo>
                      <a:lnTo>
                        <a:pt x="13" y="28"/>
                      </a:lnTo>
                      <a:lnTo>
                        <a:pt x="13" y="2"/>
                      </a:lnTo>
                      <a:lnTo>
                        <a:pt x="5" y="0"/>
                      </a:lnTo>
                      <a:lnTo>
                        <a:pt x="0" y="2"/>
                      </a:lnTo>
                      <a:lnTo>
                        <a:pt x="0" y="4"/>
                      </a:lnTo>
                      <a:lnTo>
                        <a:pt x="0" y="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1" name="任意多边形 181332">
                  <a:extLst>
                    <a:ext uri="{FF2B5EF4-FFF2-40B4-BE49-F238E27FC236}">
                      <a16:creationId xmlns:a16="http://schemas.microsoft.com/office/drawing/2014/main" xmlns="" id="{BD085633-9E1F-0AB3-6463-CFA147170E65}"/>
                    </a:ext>
                  </a:extLst>
                </p:cNvPr>
                <p:cNvSpPr>
                  <a:spLocks noChangeArrowheads="1"/>
                </p:cNvSpPr>
                <p:nvPr/>
              </p:nvSpPr>
              <p:spPr bwMode="auto">
                <a:xfrm>
                  <a:off x="1635" y="2700"/>
                  <a:ext cx="13" cy="30"/>
                </a:xfrm>
                <a:custGeom>
                  <a:avLst/>
                  <a:gdLst>
                    <a:gd name="T0" fmla="*/ 0 w 13"/>
                    <a:gd name="T1" fmla="*/ 30 h 30"/>
                    <a:gd name="T2" fmla="*/ 5 w 13"/>
                    <a:gd name="T3" fmla="*/ 30 h 30"/>
                    <a:gd name="T4" fmla="*/ 9 w 13"/>
                    <a:gd name="T5" fmla="*/ 28 h 30"/>
                    <a:gd name="T6" fmla="*/ 13 w 13"/>
                    <a:gd name="T7" fmla="*/ 28 h 30"/>
                    <a:gd name="T8" fmla="*/ 13 w 13"/>
                    <a:gd name="T9" fmla="*/ 2 h 30"/>
                    <a:gd name="T10" fmla="*/ 5 w 13"/>
                    <a:gd name="T11" fmla="*/ 0 h 30"/>
                    <a:gd name="T12" fmla="*/ 0 w 13"/>
                    <a:gd name="T13" fmla="*/ 2 h 30"/>
                    <a:gd name="T14" fmla="*/ 0 w 13"/>
                    <a:gd name="T15" fmla="*/ 5 h 30"/>
                    <a:gd name="T16" fmla="*/ 0 w 13"/>
                    <a:gd name="T1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30">
                      <a:moveTo>
                        <a:pt x="0" y="30"/>
                      </a:moveTo>
                      <a:lnTo>
                        <a:pt x="5" y="30"/>
                      </a:lnTo>
                      <a:lnTo>
                        <a:pt x="9" y="28"/>
                      </a:lnTo>
                      <a:lnTo>
                        <a:pt x="13" y="28"/>
                      </a:lnTo>
                      <a:lnTo>
                        <a:pt x="13" y="2"/>
                      </a:lnTo>
                      <a:lnTo>
                        <a:pt x="5" y="0"/>
                      </a:lnTo>
                      <a:lnTo>
                        <a:pt x="0" y="2"/>
                      </a:lnTo>
                      <a:lnTo>
                        <a:pt x="0" y="5"/>
                      </a:lnTo>
                      <a:lnTo>
                        <a:pt x="0" y="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 name="任意多边形 181333">
                  <a:extLst>
                    <a:ext uri="{FF2B5EF4-FFF2-40B4-BE49-F238E27FC236}">
                      <a16:creationId xmlns:a16="http://schemas.microsoft.com/office/drawing/2014/main" xmlns="" id="{75F11145-0694-C5D1-33C8-B38ACC56F0E2}"/>
                    </a:ext>
                  </a:extLst>
                </p:cNvPr>
                <p:cNvSpPr>
                  <a:spLocks noChangeArrowheads="1"/>
                </p:cNvSpPr>
                <p:nvPr/>
              </p:nvSpPr>
              <p:spPr bwMode="auto">
                <a:xfrm>
                  <a:off x="1635" y="2655"/>
                  <a:ext cx="13" cy="30"/>
                </a:xfrm>
                <a:custGeom>
                  <a:avLst/>
                  <a:gdLst>
                    <a:gd name="T0" fmla="*/ 0 w 13"/>
                    <a:gd name="T1" fmla="*/ 30 h 30"/>
                    <a:gd name="T2" fmla="*/ 5 w 13"/>
                    <a:gd name="T3" fmla="*/ 30 h 30"/>
                    <a:gd name="T4" fmla="*/ 9 w 13"/>
                    <a:gd name="T5" fmla="*/ 28 h 30"/>
                    <a:gd name="T6" fmla="*/ 13 w 13"/>
                    <a:gd name="T7" fmla="*/ 28 h 30"/>
                    <a:gd name="T8" fmla="*/ 13 w 13"/>
                    <a:gd name="T9" fmla="*/ 2 h 30"/>
                    <a:gd name="T10" fmla="*/ 5 w 13"/>
                    <a:gd name="T11" fmla="*/ 0 h 30"/>
                    <a:gd name="T12" fmla="*/ 0 w 13"/>
                    <a:gd name="T13" fmla="*/ 2 h 30"/>
                    <a:gd name="T14" fmla="*/ 0 w 13"/>
                    <a:gd name="T15" fmla="*/ 4 h 30"/>
                    <a:gd name="T16" fmla="*/ 0 w 13"/>
                    <a:gd name="T1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30">
                      <a:moveTo>
                        <a:pt x="0" y="30"/>
                      </a:moveTo>
                      <a:lnTo>
                        <a:pt x="5" y="30"/>
                      </a:lnTo>
                      <a:lnTo>
                        <a:pt x="9" y="28"/>
                      </a:lnTo>
                      <a:lnTo>
                        <a:pt x="13" y="28"/>
                      </a:lnTo>
                      <a:lnTo>
                        <a:pt x="13" y="2"/>
                      </a:lnTo>
                      <a:lnTo>
                        <a:pt x="5" y="0"/>
                      </a:lnTo>
                      <a:lnTo>
                        <a:pt x="0" y="2"/>
                      </a:lnTo>
                      <a:lnTo>
                        <a:pt x="0" y="4"/>
                      </a:lnTo>
                      <a:lnTo>
                        <a:pt x="0" y="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 name="任意多边形 181334">
                  <a:extLst>
                    <a:ext uri="{FF2B5EF4-FFF2-40B4-BE49-F238E27FC236}">
                      <a16:creationId xmlns:a16="http://schemas.microsoft.com/office/drawing/2014/main" xmlns="" id="{E60A4519-A8E5-ECF2-235A-1541C63E45ED}"/>
                    </a:ext>
                  </a:extLst>
                </p:cNvPr>
                <p:cNvSpPr>
                  <a:spLocks noChangeArrowheads="1"/>
                </p:cNvSpPr>
                <p:nvPr/>
              </p:nvSpPr>
              <p:spPr bwMode="auto">
                <a:xfrm>
                  <a:off x="1635" y="2629"/>
                  <a:ext cx="13" cy="11"/>
                </a:xfrm>
                <a:custGeom>
                  <a:avLst/>
                  <a:gdLst>
                    <a:gd name="T0" fmla="*/ 0 w 13"/>
                    <a:gd name="T1" fmla="*/ 11 h 11"/>
                    <a:gd name="T2" fmla="*/ 5 w 13"/>
                    <a:gd name="T3" fmla="*/ 11 h 11"/>
                    <a:gd name="T4" fmla="*/ 9 w 13"/>
                    <a:gd name="T5" fmla="*/ 9 h 11"/>
                    <a:gd name="T6" fmla="*/ 13 w 13"/>
                    <a:gd name="T7" fmla="*/ 9 h 11"/>
                    <a:gd name="T8" fmla="*/ 13 w 13"/>
                    <a:gd name="T9" fmla="*/ 2 h 11"/>
                    <a:gd name="T10" fmla="*/ 5 w 13"/>
                    <a:gd name="T11" fmla="*/ 0 h 11"/>
                    <a:gd name="T12" fmla="*/ 0 w 13"/>
                    <a:gd name="T13" fmla="*/ 2 h 11"/>
                    <a:gd name="T14" fmla="*/ 0 w 13"/>
                    <a:gd name="T15" fmla="*/ 5 h 11"/>
                    <a:gd name="T16" fmla="*/ 0 w 13"/>
                    <a:gd name="T17" fmla="*/ 11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11">
                      <a:moveTo>
                        <a:pt x="0" y="11"/>
                      </a:moveTo>
                      <a:lnTo>
                        <a:pt x="5" y="11"/>
                      </a:lnTo>
                      <a:lnTo>
                        <a:pt x="9" y="9"/>
                      </a:lnTo>
                      <a:lnTo>
                        <a:pt x="13" y="9"/>
                      </a:lnTo>
                      <a:lnTo>
                        <a:pt x="13" y="2"/>
                      </a:lnTo>
                      <a:lnTo>
                        <a:pt x="5" y="0"/>
                      </a:lnTo>
                      <a:lnTo>
                        <a:pt x="0" y="2"/>
                      </a:lnTo>
                      <a:lnTo>
                        <a:pt x="0" y="5"/>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70" name="矩形 181335">
                <a:extLst>
                  <a:ext uri="{FF2B5EF4-FFF2-40B4-BE49-F238E27FC236}">
                    <a16:creationId xmlns:a16="http://schemas.microsoft.com/office/drawing/2014/main" xmlns="" id="{2989AE06-49BC-3824-3D82-997951AC6F45}"/>
                  </a:ext>
                </a:extLst>
              </p:cNvPr>
              <p:cNvSpPr>
                <a:spLocks noChangeArrowheads="1"/>
              </p:cNvSpPr>
              <p:nvPr/>
            </p:nvSpPr>
            <p:spPr bwMode="auto">
              <a:xfrm>
                <a:off x="3626" y="3783"/>
                <a:ext cx="497"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1" name="矩形 181336">
                <a:extLst>
                  <a:ext uri="{FF2B5EF4-FFF2-40B4-BE49-F238E27FC236}">
                    <a16:creationId xmlns:a16="http://schemas.microsoft.com/office/drawing/2014/main" xmlns="" id="{8D09F48A-8E7C-3241-7037-5F6178188593}"/>
                  </a:ext>
                </a:extLst>
              </p:cNvPr>
              <p:cNvSpPr>
                <a:spLocks noChangeArrowheads="1"/>
              </p:cNvSpPr>
              <p:nvPr/>
            </p:nvSpPr>
            <p:spPr bwMode="auto">
              <a:xfrm>
                <a:off x="3708" y="3792"/>
                <a:ext cx="25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50000"/>
                  </a:spcBef>
                </a:pPr>
                <a:r>
                  <a:rPr lang="zh-CN" altLang="en-US" sz="1600" b="0">
                    <a:solidFill>
                      <a:srgbClr val="000000"/>
                    </a:solidFill>
                    <a:latin typeface="宋体" panose="02010600030101010101" pitchFamily="2" charset="-122"/>
                  </a:rPr>
                  <a:t>欠压</a:t>
                </a:r>
                <a:endParaRPr lang="zh-CN" altLang="en-US" sz="1600">
                  <a:solidFill>
                    <a:schemeClr val="tx1"/>
                  </a:solidFill>
                </a:endParaRPr>
              </a:p>
            </p:txBody>
          </p:sp>
          <p:sp>
            <p:nvSpPr>
              <p:cNvPr id="72" name="矩形 181337">
                <a:extLst>
                  <a:ext uri="{FF2B5EF4-FFF2-40B4-BE49-F238E27FC236}">
                    <a16:creationId xmlns:a16="http://schemas.microsoft.com/office/drawing/2014/main" xmlns="" id="{951E4B1F-629F-4B75-44A1-569A4EF92CEC}"/>
                  </a:ext>
                </a:extLst>
              </p:cNvPr>
              <p:cNvSpPr>
                <a:spLocks noChangeArrowheads="1"/>
              </p:cNvSpPr>
              <p:nvPr/>
            </p:nvSpPr>
            <p:spPr bwMode="auto">
              <a:xfrm>
                <a:off x="4521" y="3783"/>
                <a:ext cx="502"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3" name="矩形 181338">
                <a:extLst>
                  <a:ext uri="{FF2B5EF4-FFF2-40B4-BE49-F238E27FC236}">
                    <a16:creationId xmlns:a16="http://schemas.microsoft.com/office/drawing/2014/main" xmlns="" id="{546E1927-4964-2609-5242-E6FA2BB10646}"/>
                  </a:ext>
                </a:extLst>
              </p:cNvPr>
              <p:cNvSpPr>
                <a:spLocks noChangeArrowheads="1"/>
              </p:cNvSpPr>
              <p:nvPr/>
            </p:nvSpPr>
            <p:spPr bwMode="auto">
              <a:xfrm>
                <a:off x="4607" y="3792"/>
                <a:ext cx="25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50000"/>
                  </a:spcBef>
                </a:pPr>
                <a:r>
                  <a:rPr lang="zh-CN" altLang="en-US" sz="1600" b="0">
                    <a:solidFill>
                      <a:srgbClr val="000000"/>
                    </a:solidFill>
                    <a:latin typeface="宋体" panose="02010600030101010101" pitchFamily="2" charset="-122"/>
                  </a:rPr>
                  <a:t>过压</a:t>
                </a:r>
                <a:endParaRPr lang="zh-CN" altLang="en-US" sz="1600">
                  <a:solidFill>
                    <a:schemeClr val="tx1"/>
                  </a:solidFill>
                </a:endParaRPr>
              </a:p>
            </p:txBody>
          </p:sp>
          <p:sp>
            <p:nvSpPr>
              <p:cNvPr id="74" name="直接连接符 181339">
                <a:extLst>
                  <a:ext uri="{FF2B5EF4-FFF2-40B4-BE49-F238E27FC236}">
                    <a16:creationId xmlns:a16="http://schemas.microsoft.com/office/drawing/2014/main" xmlns="" id="{AB465421-5498-2DB0-A3F0-42F44B804BE5}"/>
                  </a:ext>
                </a:extLst>
              </p:cNvPr>
              <p:cNvSpPr>
                <a:spLocks noChangeShapeType="1"/>
              </p:cNvSpPr>
              <p:nvPr/>
            </p:nvSpPr>
            <p:spPr bwMode="auto">
              <a:xfrm flipV="1">
                <a:off x="3476" y="2926"/>
                <a:ext cx="1" cy="83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 name="任意多边形 181340">
                <a:extLst>
                  <a:ext uri="{FF2B5EF4-FFF2-40B4-BE49-F238E27FC236}">
                    <a16:creationId xmlns:a16="http://schemas.microsoft.com/office/drawing/2014/main" xmlns="" id="{5D01A64F-2545-4F78-4497-33533A2DE015}"/>
                  </a:ext>
                </a:extLst>
              </p:cNvPr>
              <p:cNvSpPr>
                <a:spLocks noChangeArrowheads="1"/>
              </p:cNvSpPr>
              <p:nvPr/>
            </p:nvSpPr>
            <p:spPr bwMode="auto">
              <a:xfrm>
                <a:off x="3459" y="2867"/>
                <a:ext cx="39" cy="72"/>
              </a:xfrm>
              <a:custGeom>
                <a:avLst/>
                <a:gdLst>
                  <a:gd name="T0" fmla="*/ 17 w 39"/>
                  <a:gd name="T1" fmla="*/ 0 h 72"/>
                  <a:gd name="T2" fmla="*/ 0 w 39"/>
                  <a:gd name="T3" fmla="*/ 72 h 72"/>
                  <a:gd name="T4" fmla="*/ 39 w 39"/>
                  <a:gd name="T5" fmla="*/ 72 h 72"/>
                  <a:gd name="T6" fmla="*/ 17 w 39"/>
                  <a:gd name="T7" fmla="*/ 0 h 72"/>
                </a:gdLst>
                <a:ahLst/>
                <a:cxnLst>
                  <a:cxn ang="0">
                    <a:pos x="T0" y="T1"/>
                  </a:cxn>
                  <a:cxn ang="0">
                    <a:pos x="T2" y="T3"/>
                  </a:cxn>
                  <a:cxn ang="0">
                    <a:pos x="T4" y="T5"/>
                  </a:cxn>
                  <a:cxn ang="0">
                    <a:pos x="T6" y="T7"/>
                  </a:cxn>
                </a:cxnLst>
                <a:rect l="0" t="0" r="r" b="b"/>
                <a:pathLst>
                  <a:path w="39" h="72">
                    <a:moveTo>
                      <a:pt x="17" y="0"/>
                    </a:moveTo>
                    <a:lnTo>
                      <a:pt x="0" y="72"/>
                    </a:lnTo>
                    <a:lnTo>
                      <a:pt x="39" y="72"/>
                    </a:lnTo>
                    <a:lnTo>
                      <a:pt x="17" y="0"/>
                    </a:lnTo>
                    <a:close/>
                  </a:path>
                </a:pathLst>
              </a:custGeom>
              <a:solidFill>
                <a:srgbClr val="000000"/>
              </a:solidFill>
              <a:ln w="6350">
                <a:solidFill>
                  <a:srgbClr val="000000"/>
                </a:solidFill>
                <a:round/>
                <a:headEnd/>
                <a:tailEnd/>
              </a:ln>
            </p:spPr>
            <p:txBody>
              <a:bodyPr/>
              <a:lstStyle/>
              <a:p>
                <a:endParaRPr lang="zh-CN" altLang="en-US"/>
              </a:p>
            </p:txBody>
          </p:sp>
          <p:sp>
            <p:nvSpPr>
              <p:cNvPr id="76" name="直接连接符 181341">
                <a:extLst>
                  <a:ext uri="{FF2B5EF4-FFF2-40B4-BE49-F238E27FC236}">
                    <a16:creationId xmlns:a16="http://schemas.microsoft.com/office/drawing/2014/main" xmlns="" id="{C3EF9F6C-AD8A-304B-A494-16A4BAECC4A3}"/>
                  </a:ext>
                </a:extLst>
              </p:cNvPr>
              <p:cNvSpPr>
                <a:spLocks noChangeShapeType="1"/>
              </p:cNvSpPr>
              <p:nvPr/>
            </p:nvSpPr>
            <p:spPr bwMode="auto">
              <a:xfrm flipH="1">
                <a:off x="3481" y="3764"/>
                <a:ext cx="1661"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 name="任意多边形 181342">
                <a:extLst>
                  <a:ext uri="{FF2B5EF4-FFF2-40B4-BE49-F238E27FC236}">
                    <a16:creationId xmlns:a16="http://schemas.microsoft.com/office/drawing/2014/main" xmlns="" id="{7279F465-9F5A-4A79-9140-3632112DEA66}"/>
                  </a:ext>
                </a:extLst>
              </p:cNvPr>
              <p:cNvSpPr>
                <a:spLocks noChangeArrowheads="1"/>
              </p:cNvSpPr>
              <p:nvPr/>
            </p:nvSpPr>
            <p:spPr bwMode="auto">
              <a:xfrm>
                <a:off x="5138" y="3753"/>
                <a:ext cx="146" cy="21"/>
              </a:xfrm>
              <a:custGeom>
                <a:avLst/>
                <a:gdLst>
                  <a:gd name="T0" fmla="*/ 146 w 146"/>
                  <a:gd name="T1" fmla="*/ 11 h 21"/>
                  <a:gd name="T2" fmla="*/ 0 w 146"/>
                  <a:gd name="T3" fmla="*/ 21 h 21"/>
                  <a:gd name="T4" fmla="*/ 0 w 146"/>
                  <a:gd name="T5" fmla="*/ 0 h 21"/>
                  <a:gd name="T6" fmla="*/ 146 w 146"/>
                  <a:gd name="T7" fmla="*/ 11 h 21"/>
                </a:gdLst>
                <a:ahLst/>
                <a:cxnLst>
                  <a:cxn ang="0">
                    <a:pos x="T0" y="T1"/>
                  </a:cxn>
                  <a:cxn ang="0">
                    <a:pos x="T2" y="T3"/>
                  </a:cxn>
                  <a:cxn ang="0">
                    <a:pos x="T4" y="T5"/>
                  </a:cxn>
                  <a:cxn ang="0">
                    <a:pos x="T6" y="T7"/>
                  </a:cxn>
                </a:cxnLst>
                <a:rect l="0" t="0" r="r" b="b"/>
                <a:pathLst>
                  <a:path w="146" h="21">
                    <a:moveTo>
                      <a:pt x="146" y="11"/>
                    </a:moveTo>
                    <a:lnTo>
                      <a:pt x="0" y="21"/>
                    </a:lnTo>
                    <a:lnTo>
                      <a:pt x="0" y="0"/>
                    </a:lnTo>
                    <a:lnTo>
                      <a:pt x="146" y="11"/>
                    </a:lnTo>
                    <a:close/>
                  </a:path>
                </a:pathLst>
              </a:custGeom>
              <a:solidFill>
                <a:srgbClr val="000000"/>
              </a:solidFill>
              <a:ln w="6350">
                <a:solidFill>
                  <a:srgbClr val="000000"/>
                </a:solidFill>
                <a:round/>
                <a:headEnd/>
                <a:tailEnd/>
              </a:ln>
            </p:spPr>
            <p:txBody>
              <a:bodyPr/>
              <a:lstStyle/>
              <a:p>
                <a:endParaRPr lang="zh-CN" altLang="en-US"/>
              </a:p>
            </p:txBody>
          </p:sp>
          <p:sp>
            <p:nvSpPr>
              <p:cNvPr id="78" name="矩形 181343">
                <a:extLst>
                  <a:ext uri="{FF2B5EF4-FFF2-40B4-BE49-F238E27FC236}">
                    <a16:creationId xmlns:a16="http://schemas.microsoft.com/office/drawing/2014/main" xmlns="" id="{E9DE6C48-A206-166B-3649-C9BEBA4325DF}"/>
                  </a:ext>
                </a:extLst>
              </p:cNvPr>
              <p:cNvSpPr>
                <a:spLocks noChangeArrowheads="1"/>
              </p:cNvSpPr>
              <p:nvPr/>
            </p:nvSpPr>
            <p:spPr bwMode="auto">
              <a:xfrm>
                <a:off x="3305" y="3738"/>
                <a:ext cx="201"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9" name="矩形 181344">
                <a:extLst>
                  <a:ext uri="{FF2B5EF4-FFF2-40B4-BE49-F238E27FC236}">
                    <a16:creationId xmlns:a16="http://schemas.microsoft.com/office/drawing/2014/main" xmlns="" id="{DAE3856B-3A09-B59D-3619-C7A6B89C64FB}"/>
                  </a:ext>
                </a:extLst>
              </p:cNvPr>
              <p:cNvSpPr>
                <a:spLocks noChangeArrowheads="1"/>
              </p:cNvSpPr>
              <p:nvPr/>
            </p:nvSpPr>
            <p:spPr bwMode="auto">
              <a:xfrm>
                <a:off x="3361" y="3740"/>
                <a:ext cx="40"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50000"/>
                  </a:spcBef>
                </a:pPr>
                <a:r>
                  <a:rPr lang="en-US" altLang="zh-CN" sz="1000" b="0">
                    <a:solidFill>
                      <a:srgbClr val="000000"/>
                    </a:solidFill>
                  </a:rPr>
                  <a:t>0</a:t>
                </a:r>
                <a:endParaRPr lang="en-US" altLang="zh-CN">
                  <a:solidFill>
                    <a:schemeClr val="tx1"/>
                  </a:solidFill>
                </a:endParaRPr>
              </a:p>
            </p:txBody>
          </p:sp>
          <p:sp>
            <p:nvSpPr>
              <p:cNvPr id="80" name="矩形 181345">
                <a:extLst>
                  <a:ext uri="{FF2B5EF4-FFF2-40B4-BE49-F238E27FC236}">
                    <a16:creationId xmlns:a16="http://schemas.microsoft.com/office/drawing/2014/main" xmlns="" id="{1047E69B-35AF-E39D-5010-1E89A759BA08}"/>
                  </a:ext>
                </a:extLst>
              </p:cNvPr>
              <p:cNvSpPr>
                <a:spLocks noChangeArrowheads="1"/>
              </p:cNvSpPr>
              <p:nvPr/>
            </p:nvSpPr>
            <p:spPr bwMode="auto">
              <a:xfrm>
                <a:off x="4166" y="3770"/>
                <a:ext cx="274"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1" name="矩形 181346">
                <a:extLst>
                  <a:ext uri="{FF2B5EF4-FFF2-40B4-BE49-F238E27FC236}">
                    <a16:creationId xmlns:a16="http://schemas.microsoft.com/office/drawing/2014/main" xmlns="" id="{0EB5BBED-17D7-969A-4541-04735E28E6FF}"/>
                  </a:ext>
                </a:extLst>
              </p:cNvPr>
              <p:cNvSpPr>
                <a:spLocks noChangeArrowheads="1"/>
              </p:cNvSpPr>
              <p:nvPr/>
            </p:nvSpPr>
            <p:spPr bwMode="auto">
              <a:xfrm>
                <a:off x="4222" y="3779"/>
                <a:ext cx="128"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50000"/>
                  </a:spcBef>
                </a:pPr>
                <a:r>
                  <a:rPr lang="zh-CN" altLang="en-US" sz="1600" b="0">
                    <a:solidFill>
                      <a:srgbClr val="000000"/>
                    </a:solidFill>
                    <a:latin typeface="宋体" panose="02010600030101010101" pitchFamily="2" charset="-122"/>
                  </a:rPr>
                  <a:t>临</a:t>
                </a:r>
                <a:endParaRPr lang="zh-CN" altLang="en-US" sz="1600">
                  <a:solidFill>
                    <a:schemeClr val="tx1"/>
                  </a:solidFill>
                </a:endParaRPr>
              </a:p>
            </p:txBody>
          </p:sp>
          <p:sp>
            <p:nvSpPr>
              <p:cNvPr id="82" name="矩形 181347">
                <a:extLst>
                  <a:ext uri="{FF2B5EF4-FFF2-40B4-BE49-F238E27FC236}">
                    <a16:creationId xmlns:a16="http://schemas.microsoft.com/office/drawing/2014/main" xmlns="" id="{59420039-3A13-2B5D-9890-14AE6F02F574}"/>
                  </a:ext>
                </a:extLst>
              </p:cNvPr>
              <p:cNvSpPr>
                <a:spLocks noChangeArrowheads="1"/>
              </p:cNvSpPr>
              <p:nvPr/>
            </p:nvSpPr>
            <p:spPr bwMode="auto">
              <a:xfrm>
                <a:off x="4217" y="3914"/>
                <a:ext cx="128"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50000"/>
                  </a:spcBef>
                </a:pPr>
                <a:r>
                  <a:rPr lang="zh-CN" altLang="en-US" sz="1600" b="0">
                    <a:solidFill>
                      <a:srgbClr val="000000"/>
                    </a:solidFill>
                    <a:latin typeface="宋体" panose="02010600030101010101" pitchFamily="2" charset="-122"/>
                  </a:rPr>
                  <a:t>界</a:t>
                </a:r>
                <a:endParaRPr lang="zh-CN" altLang="en-US" sz="1600">
                  <a:solidFill>
                    <a:schemeClr val="tx1"/>
                  </a:solidFill>
                </a:endParaRPr>
              </a:p>
            </p:txBody>
          </p:sp>
          <p:sp>
            <p:nvSpPr>
              <p:cNvPr id="83" name="矩形 181348">
                <a:extLst>
                  <a:ext uri="{FF2B5EF4-FFF2-40B4-BE49-F238E27FC236}">
                    <a16:creationId xmlns:a16="http://schemas.microsoft.com/office/drawing/2014/main" xmlns="" id="{E8721AFA-F631-1FE1-67C6-532CC74F08B6}"/>
                  </a:ext>
                </a:extLst>
              </p:cNvPr>
              <p:cNvSpPr>
                <a:spLocks noChangeArrowheads="1"/>
              </p:cNvSpPr>
              <p:nvPr/>
            </p:nvSpPr>
            <p:spPr bwMode="auto">
              <a:xfrm>
                <a:off x="5078" y="3783"/>
                <a:ext cx="257"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nvGrpSpPr>
              <p:cNvPr id="84" name="组合 181349">
                <a:extLst>
                  <a:ext uri="{FF2B5EF4-FFF2-40B4-BE49-F238E27FC236}">
                    <a16:creationId xmlns:a16="http://schemas.microsoft.com/office/drawing/2014/main" xmlns="" id="{0A72E9C2-3A47-AE39-2419-FD7CF1024003}"/>
                  </a:ext>
                </a:extLst>
              </p:cNvPr>
              <p:cNvGrpSpPr>
                <a:grpSpLocks/>
              </p:cNvGrpSpPr>
              <p:nvPr/>
            </p:nvGrpSpPr>
            <p:grpSpPr bwMode="auto">
              <a:xfrm>
                <a:off x="5121" y="3783"/>
                <a:ext cx="230" cy="207"/>
                <a:chOff x="2449" y="3381"/>
                <a:chExt cx="230" cy="207"/>
              </a:xfrm>
            </p:grpSpPr>
            <p:sp>
              <p:nvSpPr>
                <p:cNvPr id="85" name="矩形 181350">
                  <a:extLst>
                    <a:ext uri="{FF2B5EF4-FFF2-40B4-BE49-F238E27FC236}">
                      <a16:creationId xmlns:a16="http://schemas.microsoft.com/office/drawing/2014/main" xmlns="" id="{9F5ABD6E-760B-1CA0-FDAE-6F53F6C1CDC8}"/>
                    </a:ext>
                  </a:extLst>
                </p:cNvPr>
                <p:cNvSpPr>
                  <a:spLocks noChangeArrowheads="1"/>
                </p:cNvSpPr>
                <p:nvPr/>
              </p:nvSpPr>
              <p:spPr bwMode="auto">
                <a:xfrm>
                  <a:off x="2449" y="3381"/>
                  <a:ext cx="88"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50000"/>
                    </a:spcBef>
                  </a:pPr>
                  <a:r>
                    <a:rPr lang="en-US" altLang="zh-CN" sz="1800" b="0" i="1">
                      <a:solidFill>
                        <a:srgbClr val="000000"/>
                      </a:solidFill>
                    </a:rPr>
                    <a:t>V</a:t>
                  </a:r>
                  <a:endParaRPr lang="en-US" altLang="zh-CN" sz="1800" i="1">
                    <a:solidFill>
                      <a:schemeClr val="tx1"/>
                    </a:solidFill>
                  </a:endParaRPr>
                </a:p>
              </p:txBody>
            </p:sp>
            <p:sp>
              <p:nvSpPr>
                <p:cNvPr id="86" name="矩形 181351">
                  <a:extLst>
                    <a:ext uri="{FF2B5EF4-FFF2-40B4-BE49-F238E27FC236}">
                      <a16:creationId xmlns:a16="http://schemas.microsoft.com/office/drawing/2014/main" xmlns="" id="{07FCDD2B-F90C-E29E-DC5D-3A9C78B9C9C3}"/>
                    </a:ext>
                  </a:extLst>
                </p:cNvPr>
                <p:cNvSpPr>
                  <a:spLocks noChangeArrowheads="1"/>
                </p:cNvSpPr>
                <p:nvPr/>
              </p:nvSpPr>
              <p:spPr bwMode="auto">
                <a:xfrm>
                  <a:off x="2556" y="3473"/>
                  <a:ext cx="12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50000"/>
                    </a:spcBef>
                  </a:pPr>
                  <a:r>
                    <a:rPr lang="en-US" altLang="zh-CN" sz="1200" b="0">
                      <a:solidFill>
                        <a:srgbClr val="000000"/>
                      </a:solidFill>
                    </a:rPr>
                    <a:t>bm</a:t>
                  </a:r>
                  <a:endParaRPr lang="en-US" altLang="zh-CN" sz="1200">
                    <a:solidFill>
                      <a:schemeClr val="tx1"/>
                    </a:solidFill>
                  </a:endParaRPr>
                </a:p>
              </p:txBody>
            </p:sp>
          </p:grpSp>
        </p:grpSp>
      </p:grpSp>
      <p:grpSp>
        <p:nvGrpSpPr>
          <p:cNvPr id="104" name="组合 181352">
            <a:extLst>
              <a:ext uri="{FF2B5EF4-FFF2-40B4-BE49-F238E27FC236}">
                <a16:creationId xmlns:a16="http://schemas.microsoft.com/office/drawing/2014/main" xmlns="" id="{B99B29B5-D3F0-CC17-3183-0B7CF5069EA5}"/>
              </a:ext>
            </a:extLst>
          </p:cNvPr>
          <p:cNvGrpSpPr>
            <a:grpSpLocks/>
          </p:cNvGrpSpPr>
          <p:nvPr/>
        </p:nvGrpSpPr>
        <p:grpSpPr bwMode="auto">
          <a:xfrm>
            <a:off x="2015931" y="2509838"/>
            <a:ext cx="20638" cy="1166812"/>
            <a:chOff x="1635" y="2629"/>
            <a:chExt cx="13" cy="735"/>
          </a:xfrm>
        </p:grpSpPr>
        <p:sp>
          <p:nvSpPr>
            <p:cNvPr id="105" name="任意多边形 181353">
              <a:extLst>
                <a:ext uri="{FF2B5EF4-FFF2-40B4-BE49-F238E27FC236}">
                  <a16:creationId xmlns:a16="http://schemas.microsoft.com/office/drawing/2014/main" xmlns="" id="{1BD2B4D1-1A3A-32EE-5616-39A6DFC0EFD4}"/>
                </a:ext>
              </a:extLst>
            </p:cNvPr>
            <p:cNvSpPr>
              <a:spLocks noChangeArrowheads="1"/>
            </p:cNvSpPr>
            <p:nvPr/>
          </p:nvSpPr>
          <p:spPr bwMode="auto">
            <a:xfrm>
              <a:off x="1635" y="3334"/>
              <a:ext cx="13" cy="30"/>
            </a:xfrm>
            <a:custGeom>
              <a:avLst/>
              <a:gdLst>
                <a:gd name="T0" fmla="*/ 0 w 13"/>
                <a:gd name="T1" fmla="*/ 30 h 30"/>
                <a:gd name="T2" fmla="*/ 5 w 13"/>
                <a:gd name="T3" fmla="*/ 30 h 30"/>
                <a:gd name="T4" fmla="*/ 9 w 13"/>
                <a:gd name="T5" fmla="*/ 28 h 30"/>
                <a:gd name="T6" fmla="*/ 13 w 13"/>
                <a:gd name="T7" fmla="*/ 28 h 30"/>
                <a:gd name="T8" fmla="*/ 13 w 13"/>
                <a:gd name="T9" fmla="*/ 2 h 30"/>
                <a:gd name="T10" fmla="*/ 5 w 13"/>
                <a:gd name="T11" fmla="*/ 0 h 30"/>
                <a:gd name="T12" fmla="*/ 0 w 13"/>
                <a:gd name="T13" fmla="*/ 2 h 30"/>
                <a:gd name="T14" fmla="*/ 0 w 13"/>
                <a:gd name="T15" fmla="*/ 4 h 30"/>
                <a:gd name="T16" fmla="*/ 0 w 13"/>
                <a:gd name="T1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30">
                  <a:moveTo>
                    <a:pt x="0" y="30"/>
                  </a:moveTo>
                  <a:lnTo>
                    <a:pt x="5" y="30"/>
                  </a:lnTo>
                  <a:lnTo>
                    <a:pt x="9" y="28"/>
                  </a:lnTo>
                  <a:lnTo>
                    <a:pt x="13" y="28"/>
                  </a:lnTo>
                  <a:lnTo>
                    <a:pt x="13" y="2"/>
                  </a:lnTo>
                  <a:lnTo>
                    <a:pt x="5" y="0"/>
                  </a:lnTo>
                  <a:lnTo>
                    <a:pt x="0" y="2"/>
                  </a:lnTo>
                  <a:lnTo>
                    <a:pt x="0" y="4"/>
                  </a:lnTo>
                  <a:lnTo>
                    <a:pt x="0" y="3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6" name="任意多边形 181354">
              <a:extLst>
                <a:ext uri="{FF2B5EF4-FFF2-40B4-BE49-F238E27FC236}">
                  <a16:creationId xmlns:a16="http://schemas.microsoft.com/office/drawing/2014/main" xmlns="" id="{3F1680E0-BF77-87D4-3236-05101E444B92}"/>
                </a:ext>
              </a:extLst>
            </p:cNvPr>
            <p:cNvSpPr>
              <a:spLocks noChangeArrowheads="1"/>
            </p:cNvSpPr>
            <p:nvPr/>
          </p:nvSpPr>
          <p:spPr bwMode="auto">
            <a:xfrm>
              <a:off x="1635" y="3288"/>
              <a:ext cx="13" cy="31"/>
            </a:xfrm>
            <a:custGeom>
              <a:avLst/>
              <a:gdLst>
                <a:gd name="T0" fmla="*/ 0 w 13"/>
                <a:gd name="T1" fmla="*/ 31 h 31"/>
                <a:gd name="T2" fmla="*/ 5 w 13"/>
                <a:gd name="T3" fmla="*/ 31 h 31"/>
                <a:gd name="T4" fmla="*/ 9 w 13"/>
                <a:gd name="T5" fmla="*/ 28 h 31"/>
                <a:gd name="T6" fmla="*/ 13 w 13"/>
                <a:gd name="T7" fmla="*/ 28 h 31"/>
                <a:gd name="T8" fmla="*/ 13 w 13"/>
                <a:gd name="T9" fmla="*/ 3 h 31"/>
                <a:gd name="T10" fmla="*/ 5 w 13"/>
                <a:gd name="T11" fmla="*/ 0 h 31"/>
                <a:gd name="T12" fmla="*/ 0 w 13"/>
                <a:gd name="T13" fmla="*/ 3 h 31"/>
                <a:gd name="T14" fmla="*/ 0 w 13"/>
                <a:gd name="T15" fmla="*/ 5 h 31"/>
                <a:gd name="T16" fmla="*/ 0 w 13"/>
                <a:gd name="T17" fmla="*/ 3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31">
                  <a:moveTo>
                    <a:pt x="0" y="31"/>
                  </a:moveTo>
                  <a:lnTo>
                    <a:pt x="5" y="31"/>
                  </a:lnTo>
                  <a:lnTo>
                    <a:pt x="9" y="28"/>
                  </a:lnTo>
                  <a:lnTo>
                    <a:pt x="13" y="28"/>
                  </a:lnTo>
                  <a:lnTo>
                    <a:pt x="13" y="3"/>
                  </a:lnTo>
                  <a:lnTo>
                    <a:pt x="5" y="0"/>
                  </a:lnTo>
                  <a:lnTo>
                    <a:pt x="0" y="3"/>
                  </a:lnTo>
                  <a:lnTo>
                    <a:pt x="0" y="5"/>
                  </a:lnTo>
                  <a:lnTo>
                    <a:pt x="0" y="31"/>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7" name="任意多边形 181355">
              <a:extLst>
                <a:ext uri="{FF2B5EF4-FFF2-40B4-BE49-F238E27FC236}">
                  <a16:creationId xmlns:a16="http://schemas.microsoft.com/office/drawing/2014/main" xmlns="" id="{5270C0CA-AD15-EC10-8DD7-1A94EBC99399}"/>
                </a:ext>
              </a:extLst>
            </p:cNvPr>
            <p:cNvSpPr>
              <a:spLocks noChangeArrowheads="1"/>
            </p:cNvSpPr>
            <p:nvPr/>
          </p:nvSpPr>
          <p:spPr bwMode="auto">
            <a:xfrm>
              <a:off x="1635" y="3243"/>
              <a:ext cx="13" cy="30"/>
            </a:xfrm>
            <a:custGeom>
              <a:avLst/>
              <a:gdLst>
                <a:gd name="T0" fmla="*/ 0 w 13"/>
                <a:gd name="T1" fmla="*/ 30 h 30"/>
                <a:gd name="T2" fmla="*/ 5 w 13"/>
                <a:gd name="T3" fmla="*/ 30 h 30"/>
                <a:gd name="T4" fmla="*/ 9 w 13"/>
                <a:gd name="T5" fmla="*/ 28 h 30"/>
                <a:gd name="T6" fmla="*/ 13 w 13"/>
                <a:gd name="T7" fmla="*/ 28 h 30"/>
                <a:gd name="T8" fmla="*/ 13 w 13"/>
                <a:gd name="T9" fmla="*/ 2 h 30"/>
                <a:gd name="T10" fmla="*/ 5 w 13"/>
                <a:gd name="T11" fmla="*/ 0 h 30"/>
                <a:gd name="T12" fmla="*/ 0 w 13"/>
                <a:gd name="T13" fmla="*/ 2 h 30"/>
                <a:gd name="T14" fmla="*/ 0 w 13"/>
                <a:gd name="T15" fmla="*/ 5 h 30"/>
                <a:gd name="T16" fmla="*/ 0 w 13"/>
                <a:gd name="T1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30">
                  <a:moveTo>
                    <a:pt x="0" y="30"/>
                  </a:moveTo>
                  <a:lnTo>
                    <a:pt x="5" y="30"/>
                  </a:lnTo>
                  <a:lnTo>
                    <a:pt x="9" y="28"/>
                  </a:lnTo>
                  <a:lnTo>
                    <a:pt x="13" y="28"/>
                  </a:lnTo>
                  <a:lnTo>
                    <a:pt x="13" y="2"/>
                  </a:lnTo>
                  <a:lnTo>
                    <a:pt x="5" y="0"/>
                  </a:lnTo>
                  <a:lnTo>
                    <a:pt x="0" y="2"/>
                  </a:lnTo>
                  <a:lnTo>
                    <a:pt x="0" y="5"/>
                  </a:lnTo>
                  <a:lnTo>
                    <a:pt x="0" y="3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 name="任意多边形 181356">
              <a:extLst>
                <a:ext uri="{FF2B5EF4-FFF2-40B4-BE49-F238E27FC236}">
                  <a16:creationId xmlns:a16="http://schemas.microsoft.com/office/drawing/2014/main" xmlns="" id="{642238EE-8257-65D1-E657-1EDF7EF8AE75}"/>
                </a:ext>
              </a:extLst>
            </p:cNvPr>
            <p:cNvSpPr>
              <a:spLocks noChangeArrowheads="1"/>
            </p:cNvSpPr>
            <p:nvPr/>
          </p:nvSpPr>
          <p:spPr bwMode="auto">
            <a:xfrm>
              <a:off x="1635" y="3198"/>
              <a:ext cx="13" cy="30"/>
            </a:xfrm>
            <a:custGeom>
              <a:avLst/>
              <a:gdLst>
                <a:gd name="T0" fmla="*/ 0 w 13"/>
                <a:gd name="T1" fmla="*/ 30 h 30"/>
                <a:gd name="T2" fmla="*/ 5 w 13"/>
                <a:gd name="T3" fmla="*/ 30 h 30"/>
                <a:gd name="T4" fmla="*/ 9 w 13"/>
                <a:gd name="T5" fmla="*/ 28 h 30"/>
                <a:gd name="T6" fmla="*/ 13 w 13"/>
                <a:gd name="T7" fmla="*/ 28 h 30"/>
                <a:gd name="T8" fmla="*/ 13 w 13"/>
                <a:gd name="T9" fmla="*/ 2 h 30"/>
                <a:gd name="T10" fmla="*/ 5 w 13"/>
                <a:gd name="T11" fmla="*/ 0 h 30"/>
                <a:gd name="T12" fmla="*/ 0 w 13"/>
                <a:gd name="T13" fmla="*/ 2 h 30"/>
                <a:gd name="T14" fmla="*/ 0 w 13"/>
                <a:gd name="T15" fmla="*/ 4 h 30"/>
                <a:gd name="T16" fmla="*/ 0 w 13"/>
                <a:gd name="T1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30">
                  <a:moveTo>
                    <a:pt x="0" y="30"/>
                  </a:moveTo>
                  <a:lnTo>
                    <a:pt x="5" y="30"/>
                  </a:lnTo>
                  <a:lnTo>
                    <a:pt x="9" y="28"/>
                  </a:lnTo>
                  <a:lnTo>
                    <a:pt x="13" y="28"/>
                  </a:lnTo>
                  <a:lnTo>
                    <a:pt x="13" y="2"/>
                  </a:lnTo>
                  <a:lnTo>
                    <a:pt x="5" y="0"/>
                  </a:lnTo>
                  <a:lnTo>
                    <a:pt x="0" y="2"/>
                  </a:lnTo>
                  <a:lnTo>
                    <a:pt x="0" y="4"/>
                  </a:lnTo>
                  <a:lnTo>
                    <a:pt x="0" y="3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9" name="任意多边形 181357">
              <a:extLst>
                <a:ext uri="{FF2B5EF4-FFF2-40B4-BE49-F238E27FC236}">
                  <a16:creationId xmlns:a16="http://schemas.microsoft.com/office/drawing/2014/main" xmlns="" id="{BD27D3B1-00FE-181E-9EE1-B4D7307B2416}"/>
                </a:ext>
              </a:extLst>
            </p:cNvPr>
            <p:cNvSpPr>
              <a:spLocks noChangeArrowheads="1"/>
            </p:cNvSpPr>
            <p:nvPr/>
          </p:nvSpPr>
          <p:spPr bwMode="auto">
            <a:xfrm>
              <a:off x="1635" y="3153"/>
              <a:ext cx="13" cy="30"/>
            </a:xfrm>
            <a:custGeom>
              <a:avLst/>
              <a:gdLst>
                <a:gd name="T0" fmla="*/ 0 w 13"/>
                <a:gd name="T1" fmla="*/ 30 h 30"/>
                <a:gd name="T2" fmla="*/ 5 w 13"/>
                <a:gd name="T3" fmla="*/ 30 h 30"/>
                <a:gd name="T4" fmla="*/ 9 w 13"/>
                <a:gd name="T5" fmla="*/ 28 h 30"/>
                <a:gd name="T6" fmla="*/ 13 w 13"/>
                <a:gd name="T7" fmla="*/ 28 h 30"/>
                <a:gd name="T8" fmla="*/ 13 w 13"/>
                <a:gd name="T9" fmla="*/ 2 h 30"/>
                <a:gd name="T10" fmla="*/ 5 w 13"/>
                <a:gd name="T11" fmla="*/ 0 h 30"/>
                <a:gd name="T12" fmla="*/ 0 w 13"/>
                <a:gd name="T13" fmla="*/ 2 h 30"/>
                <a:gd name="T14" fmla="*/ 0 w 13"/>
                <a:gd name="T15" fmla="*/ 4 h 30"/>
                <a:gd name="T16" fmla="*/ 0 w 13"/>
                <a:gd name="T1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30">
                  <a:moveTo>
                    <a:pt x="0" y="30"/>
                  </a:moveTo>
                  <a:lnTo>
                    <a:pt x="5" y="30"/>
                  </a:lnTo>
                  <a:lnTo>
                    <a:pt x="9" y="28"/>
                  </a:lnTo>
                  <a:lnTo>
                    <a:pt x="13" y="28"/>
                  </a:lnTo>
                  <a:lnTo>
                    <a:pt x="13" y="2"/>
                  </a:lnTo>
                  <a:lnTo>
                    <a:pt x="5" y="0"/>
                  </a:lnTo>
                  <a:lnTo>
                    <a:pt x="0" y="2"/>
                  </a:lnTo>
                  <a:lnTo>
                    <a:pt x="0" y="4"/>
                  </a:lnTo>
                  <a:lnTo>
                    <a:pt x="0" y="3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0" name="任意多边形 181358">
              <a:extLst>
                <a:ext uri="{FF2B5EF4-FFF2-40B4-BE49-F238E27FC236}">
                  <a16:creationId xmlns:a16="http://schemas.microsoft.com/office/drawing/2014/main" xmlns="" id="{E5C9B06D-1C26-8949-E7B1-AFA9C46DCFD8}"/>
                </a:ext>
              </a:extLst>
            </p:cNvPr>
            <p:cNvSpPr>
              <a:spLocks noChangeArrowheads="1"/>
            </p:cNvSpPr>
            <p:nvPr/>
          </p:nvSpPr>
          <p:spPr bwMode="auto">
            <a:xfrm>
              <a:off x="1635" y="3107"/>
              <a:ext cx="13" cy="31"/>
            </a:xfrm>
            <a:custGeom>
              <a:avLst/>
              <a:gdLst>
                <a:gd name="T0" fmla="*/ 0 w 13"/>
                <a:gd name="T1" fmla="*/ 31 h 31"/>
                <a:gd name="T2" fmla="*/ 5 w 13"/>
                <a:gd name="T3" fmla="*/ 31 h 31"/>
                <a:gd name="T4" fmla="*/ 9 w 13"/>
                <a:gd name="T5" fmla="*/ 28 h 31"/>
                <a:gd name="T6" fmla="*/ 13 w 13"/>
                <a:gd name="T7" fmla="*/ 28 h 31"/>
                <a:gd name="T8" fmla="*/ 13 w 13"/>
                <a:gd name="T9" fmla="*/ 3 h 31"/>
                <a:gd name="T10" fmla="*/ 5 w 13"/>
                <a:gd name="T11" fmla="*/ 0 h 31"/>
                <a:gd name="T12" fmla="*/ 0 w 13"/>
                <a:gd name="T13" fmla="*/ 3 h 31"/>
                <a:gd name="T14" fmla="*/ 0 w 13"/>
                <a:gd name="T15" fmla="*/ 5 h 31"/>
                <a:gd name="T16" fmla="*/ 0 w 13"/>
                <a:gd name="T17" fmla="*/ 3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31">
                  <a:moveTo>
                    <a:pt x="0" y="31"/>
                  </a:moveTo>
                  <a:lnTo>
                    <a:pt x="5" y="31"/>
                  </a:lnTo>
                  <a:lnTo>
                    <a:pt x="9" y="28"/>
                  </a:lnTo>
                  <a:lnTo>
                    <a:pt x="13" y="28"/>
                  </a:lnTo>
                  <a:lnTo>
                    <a:pt x="13" y="3"/>
                  </a:lnTo>
                  <a:lnTo>
                    <a:pt x="5" y="0"/>
                  </a:lnTo>
                  <a:lnTo>
                    <a:pt x="0" y="3"/>
                  </a:lnTo>
                  <a:lnTo>
                    <a:pt x="0" y="5"/>
                  </a:lnTo>
                  <a:lnTo>
                    <a:pt x="0" y="31"/>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 name="任意多边形 181359">
              <a:extLst>
                <a:ext uri="{FF2B5EF4-FFF2-40B4-BE49-F238E27FC236}">
                  <a16:creationId xmlns:a16="http://schemas.microsoft.com/office/drawing/2014/main" xmlns="" id="{D07F48BF-6F4C-7354-46B9-B083F79EA5AF}"/>
                </a:ext>
              </a:extLst>
            </p:cNvPr>
            <p:cNvSpPr>
              <a:spLocks noChangeArrowheads="1"/>
            </p:cNvSpPr>
            <p:nvPr/>
          </p:nvSpPr>
          <p:spPr bwMode="auto">
            <a:xfrm>
              <a:off x="1635" y="3062"/>
              <a:ext cx="13" cy="30"/>
            </a:xfrm>
            <a:custGeom>
              <a:avLst/>
              <a:gdLst>
                <a:gd name="T0" fmla="*/ 0 w 13"/>
                <a:gd name="T1" fmla="*/ 30 h 30"/>
                <a:gd name="T2" fmla="*/ 5 w 13"/>
                <a:gd name="T3" fmla="*/ 30 h 30"/>
                <a:gd name="T4" fmla="*/ 9 w 13"/>
                <a:gd name="T5" fmla="*/ 28 h 30"/>
                <a:gd name="T6" fmla="*/ 13 w 13"/>
                <a:gd name="T7" fmla="*/ 28 h 30"/>
                <a:gd name="T8" fmla="*/ 13 w 13"/>
                <a:gd name="T9" fmla="*/ 2 h 30"/>
                <a:gd name="T10" fmla="*/ 5 w 13"/>
                <a:gd name="T11" fmla="*/ 0 h 30"/>
                <a:gd name="T12" fmla="*/ 0 w 13"/>
                <a:gd name="T13" fmla="*/ 2 h 30"/>
                <a:gd name="T14" fmla="*/ 0 w 13"/>
                <a:gd name="T15" fmla="*/ 5 h 30"/>
                <a:gd name="T16" fmla="*/ 0 w 13"/>
                <a:gd name="T1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30">
                  <a:moveTo>
                    <a:pt x="0" y="30"/>
                  </a:moveTo>
                  <a:lnTo>
                    <a:pt x="5" y="30"/>
                  </a:lnTo>
                  <a:lnTo>
                    <a:pt x="9" y="28"/>
                  </a:lnTo>
                  <a:lnTo>
                    <a:pt x="13" y="28"/>
                  </a:lnTo>
                  <a:lnTo>
                    <a:pt x="13" y="2"/>
                  </a:lnTo>
                  <a:lnTo>
                    <a:pt x="5" y="0"/>
                  </a:lnTo>
                  <a:lnTo>
                    <a:pt x="0" y="2"/>
                  </a:lnTo>
                  <a:lnTo>
                    <a:pt x="0" y="5"/>
                  </a:lnTo>
                  <a:lnTo>
                    <a:pt x="0" y="3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 name="任意多边形 181360">
              <a:extLst>
                <a:ext uri="{FF2B5EF4-FFF2-40B4-BE49-F238E27FC236}">
                  <a16:creationId xmlns:a16="http://schemas.microsoft.com/office/drawing/2014/main" xmlns="" id="{489E1FDC-210B-08F6-4041-FDDF78C7FB98}"/>
                </a:ext>
              </a:extLst>
            </p:cNvPr>
            <p:cNvSpPr>
              <a:spLocks noChangeArrowheads="1"/>
            </p:cNvSpPr>
            <p:nvPr/>
          </p:nvSpPr>
          <p:spPr bwMode="auto">
            <a:xfrm>
              <a:off x="1635" y="3017"/>
              <a:ext cx="13" cy="30"/>
            </a:xfrm>
            <a:custGeom>
              <a:avLst/>
              <a:gdLst>
                <a:gd name="T0" fmla="*/ 0 w 13"/>
                <a:gd name="T1" fmla="*/ 30 h 30"/>
                <a:gd name="T2" fmla="*/ 5 w 13"/>
                <a:gd name="T3" fmla="*/ 30 h 30"/>
                <a:gd name="T4" fmla="*/ 9 w 13"/>
                <a:gd name="T5" fmla="*/ 28 h 30"/>
                <a:gd name="T6" fmla="*/ 13 w 13"/>
                <a:gd name="T7" fmla="*/ 28 h 30"/>
                <a:gd name="T8" fmla="*/ 13 w 13"/>
                <a:gd name="T9" fmla="*/ 2 h 30"/>
                <a:gd name="T10" fmla="*/ 5 w 13"/>
                <a:gd name="T11" fmla="*/ 0 h 30"/>
                <a:gd name="T12" fmla="*/ 0 w 13"/>
                <a:gd name="T13" fmla="*/ 2 h 30"/>
                <a:gd name="T14" fmla="*/ 0 w 13"/>
                <a:gd name="T15" fmla="*/ 4 h 30"/>
                <a:gd name="T16" fmla="*/ 0 w 13"/>
                <a:gd name="T1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30">
                  <a:moveTo>
                    <a:pt x="0" y="30"/>
                  </a:moveTo>
                  <a:lnTo>
                    <a:pt x="5" y="30"/>
                  </a:lnTo>
                  <a:lnTo>
                    <a:pt x="9" y="28"/>
                  </a:lnTo>
                  <a:lnTo>
                    <a:pt x="13" y="28"/>
                  </a:lnTo>
                  <a:lnTo>
                    <a:pt x="13" y="2"/>
                  </a:lnTo>
                  <a:lnTo>
                    <a:pt x="5" y="0"/>
                  </a:lnTo>
                  <a:lnTo>
                    <a:pt x="0" y="2"/>
                  </a:lnTo>
                  <a:lnTo>
                    <a:pt x="0" y="4"/>
                  </a:lnTo>
                  <a:lnTo>
                    <a:pt x="0" y="3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 name="任意多边形 181361">
              <a:extLst>
                <a:ext uri="{FF2B5EF4-FFF2-40B4-BE49-F238E27FC236}">
                  <a16:creationId xmlns:a16="http://schemas.microsoft.com/office/drawing/2014/main" xmlns="" id="{EBD35621-6845-693C-DDA3-DBCA97565CF0}"/>
                </a:ext>
              </a:extLst>
            </p:cNvPr>
            <p:cNvSpPr>
              <a:spLocks noChangeArrowheads="1"/>
            </p:cNvSpPr>
            <p:nvPr/>
          </p:nvSpPr>
          <p:spPr bwMode="auto">
            <a:xfrm>
              <a:off x="1635" y="2972"/>
              <a:ext cx="13" cy="30"/>
            </a:xfrm>
            <a:custGeom>
              <a:avLst/>
              <a:gdLst>
                <a:gd name="T0" fmla="*/ 0 w 13"/>
                <a:gd name="T1" fmla="*/ 30 h 30"/>
                <a:gd name="T2" fmla="*/ 5 w 13"/>
                <a:gd name="T3" fmla="*/ 30 h 30"/>
                <a:gd name="T4" fmla="*/ 9 w 13"/>
                <a:gd name="T5" fmla="*/ 28 h 30"/>
                <a:gd name="T6" fmla="*/ 13 w 13"/>
                <a:gd name="T7" fmla="*/ 28 h 30"/>
                <a:gd name="T8" fmla="*/ 13 w 13"/>
                <a:gd name="T9" fmla="*/ 2 h 30"/>
                <a:gd name="T10" fmla="*/ 5 w 13"/>
                <a:gd name="T11" fmla="*/ 0 h 30"/>
                <a:gd name="T12" fmla="*/ 0 w 13"/>
                <a:gd name="T13" fmla="*/ 2 h 30"/>
                <a:gd name="T14" fmla="*/ 0 w 13"/>
                <a:gd name="T15" fmla="*/ 4 h 30"/>
                <a:gd name="T16" fmla="*/ 0 w 13"/>
                <a:gd name="T1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30">
                  <a:moveTo>
                    <a:pt x="0" y="30"/>
                  </a:moveTo>
                  <a:lnTo>
                    <a:pt x="5" y="30"/>
                  </a:lnTo>
                  <a:lnTo>
                    <a:pt x="9" y="28"/>
                  </a:lnTo>
                  <a:lnTo>
                    <a:pt x="13" y="28"/>
                  </a:lnTo>
                  <a:lnTo>
                    <a:pt x="13" y="2"/>
                  </a:lnTo>
                  <a:lnTo>
                    <a:pt x="5" y="0"/>
                  </a:lnTo>
                  <a:lnTo>
                    <a:pt x="0" y="2"/>
                  </a:lnTo>
                  <a:lnTo>
                    <a:pt x="0" y="4"/>
                  </a:lnTo>
                  <a:lnTo>
                    <a:pt x="0" y="3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 name="任意多边形 181362">
              <a:extLst>
                <a:ext uri="{FF2B5EF4-FFF2-40B4-BE49-F238E27FC236}">
                  <a16:creationId xmlns:a16="http://schemas.microsoft.com/office/drawing/2014/main" xmlns="" id="{B2CA2F86-80D7-AE65-CA92-D57F92C55563}"/>
                </a:ext>
              </a:extLst>
            </p:cNvPr>
            <p:cNvSpPr>
              <a:spLocks noChangeArrowheads="1"/>
            </p:cNvSpPr>
            <p:nvPr/>
          </p:nvSpPr>
          <p:spPr bwMode="auto">
            <a:xfrm>
              <a:off x="1635" y="2927"/>
              <a:ext cx="13" cy="30"/>
            </a:xfrm>
            <a:custGeom>
              <a:avLst/>
              <a:gdLst>
                <a:gd name="T0" fmla="*/ 0 w 13"/>
                <a:gd name="T1" fmla="*/ 30 h 30"/>
                <a:gd name="T2" fmla="*/ 5 w 13"/>
                <a:gd name="T3" fmla="*/ 30 h 30"/>
                <a:gd name="T4" fmla="*/ 9 w 13"/>
                <a:gd name="T5" fmla="*/ 28 h 30"/>
                <a:gd name="T6" fmla="*/ 13 w 13"/>
                <a:gd name="T7" fmla="*/ 28 h 30"/>
                <a:gd name="T8" fmla="*/ 13 w 13"/>
                <a:gd name="T9" fmla="*/ 2 h 30"/>
                <a:gd name="T10" fmla="*/ 5 w 13"/>
                <a:gd name="T11" fmla="*/ 0 h 30"/>
                <a:gd name="T12" fmla="*/ 0 w 13"/>
                <a:gd name="T13" fmla="*/ 2 h 30"/>
                <a:gd name="T14" fmla="*/ 0 w 13"/>
                <a:gd name="T15" fmla="*/ 4 h 30"/>
                <a:gd name="T16" fmla="*/ 0 w 13"/>
                <a:gd name="T1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30">
                  <a:moveTo>
                    <a:pt x="0" y="30"/>
                  </a:moveTo>
                  <a:lnTo>
                    <a:pt x="5" y="30"/>
                  </a:lnTo>
                  <a:lnTo>
                    <a:pt x="9" y="28"/>
                  </a:lnTo>
                  <a:lnTo>
                    <a:pt x="13" y="28"/>
                  </a:lnTo>
                  <a:lnTo>
                    <a:pt x="13" y="2"/>
                  </a:lnTo>
                  <a:lnTo>
                    <a:pt x="5" y="0"/>
                  </a:lnTo>
                  <a:lnTo>
                    <a:pt x="0" y="2"/>
                  </a:lnTo>
                  <a:lnTo>
                    <a:pt x="0" y="4"/>
                  </a:lnTo>
                  <a:lnTo>
                    <a:pt x="0" y="3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 name="任意多边形 181363">
              <a:extLst>
                <a:ext uri="{FF2B5EF4-FFF2-40B4-BE49-F238E27FC236}">
                  <a16:creationId xmlns:a16="http://schemas.microsoft.com/office/drawing/2014/main" xmlns="" id="{4A1AFAB6-F0C2-40C9-6898-E5F4162352FF}"/>
                </a:ext>
              </a:extLst>
            </p:cNvPr>
            <p:cNvSpPr>
              <a:spLocks noChangeArrowheads="1"/>
            </p:cNvSpPr>
            <p:nvPr/>
          </p:nvSpPr>
          <p:spPr bwMode="auto">
            <a:xfrm>
              <a:off x="1635" y="2881"/>
              <a:ext cx="13" cy="30"/>
            </a:xfrm>
            <a:custGeom>
              <a:avLst/>
              <a:gdLst>
                <a:gd name="T0" fmla="*/ 0 w 13"/>
                <a:gd name="T1" fmla="*/ 30 h 30"/>
                <a:gd name="T2" fmla="*/ 5 w 13"/>
                <a:gd name="T3" fmla="*/ 30 h 30"/>
                <a:gd name="T4" fmla="*/ 9 w 13"/>
                <a:gd name="T5" fmla="*/ 28 h 30"/>
                <a:gd name="T6" fmla="*/ 13 w 13"/>
                <a:gd name="T7" fmla="*/ 28 h 30"/>
                <a:gd name="T8" fmla="*/ 13 w 13"/>
                <a:gd name="T9" fmla="*/ 2 h 30"/>
                <a:gd name="T10" fmla="*/ 5 w 13"/>
                <a:gd name="T11" fmla="*/ 0 h 30"/>
                <a:gd name="T12" fmla="*/ 0 w 13"/>
                <a:gd name="T13" fmla="*/ 2 h 30"/>
                <a:gd name="T14" fmla="*/ 0 w 13"/>
                <a:gd name="T15" fmla="*/ 5 h 30"/>
                <a:gd name="T16" fmla="*/ 0 w 13"/>
                <a:gd name="T1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30">
                  <a:moveTo>
                    <a:pt x="0" y="30"/>
                  </a:moveTo>
                  <a:lnTo>
                    <a:pt x="5" y="30"/>
                  </a:lnTo>
                  <a:lnTo>
                    <a:pt x="9" y="28"/>
                  </a:lnTo>
                  <a:lnTo>
                    <a:pt x="13" y="28"/>
                  </a:lnTo>
                  <a:lnTo>
                    <a:pt x="13" y="2"/>
                  </a:lnTo>
                  <a:lnTo>
                    <a:pt x="5" y="0"/>
                  </a:lnTo>
                  <a:lnTo>
                    <a:pt x="0" y="2"/>
                  </a:lnTo>
                  <a:lnTo>
                    <a:pt x="0" y="5"/>
                  </a:lnTo>
                  <a:lnTo>
                    <a:pt x="0" y="3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6" name="任意多边形 181364">
              <a:extLst>
                <a:ext uri="{FF2B5EF4-FFF2-40B4-BE49-F238E27FC236}">
                  <a16:creationId xmlns:a16="http://schemas.microsoft.com/office/drawing/2014/main" xmlns="" id="{85C7B49A-35B2-89FD-517C-D6E9726DE9C9}"/>
                </a:ext>
              </a:extLst>
            </p:cNvPr>
            <p:cNvSpPr>
              <a:spLocks noChangeArrowheads="1"/>
            </p:cNvSpPr>
            <p:nvPr/>
          </p:nvSpPr>
          <p:spPr bwMode="auto">
            <a:xfrm>
              <a:off x="1635" y="2836"/>
              <a:ext cx="13" cy="30"/>
            </a:xfrm>
            <a:custGeom>
              <a:avLst/>
              <a:gdLst>
                <a:gd name="T0" fmla="*/ 0 w 13"/>
                <a:gd name="T1" fmla="*/ 30 h 30"/>
                <a:gd name="T2" fmla="*/ 5 w 13"/>
                <a:gd name="T3" fmla="*/ 30 h 30"/>
                <a:gd name="T4" fmla="*/ 9 w 13"/>
                <a:gd name="T5" fmla="*/ 28 h 30"/>
                <a:gd name="T6" fmla="*/ 13 w 13"/>
                <a:gd name="T7" fmla="*/ 28 h 30"/>
                <a:gd name="T8" fmla="*/ 13 w 13"/>
                <a:gd name="T9" fmla="*/ 2 h 30"/>
                <a:gd name="T10" fmla="*/ 5 w 13"/>
                <a:gd name="T11" fmla="*/ 0 h 30"/>
                <a:gd name="T12" fmla="*/ 0 w 13"/>
                <a:gd name="T13" fmla="*/ 2 h 30"/>
                <a:gd name="T14" fmla="*/ 0 w 13"/>
                <a:gd name="T15" fmla="*/ 4 h 30"/>
                <a:gd name="T16" fmla="*/ 0 w 13"/>
                <a:gd name="T1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30">
                  <a:moveTo>
                    <a:pt x="0" y="30"/>
                  </a:moveTo>
                  <a:lnTo>
                    <a:pt x="5" y="30"/>
                  </a:lnTo>
                  <a:lnTo>
                    <a:pt x="9" y="28"/>
                  </a:lnTo>
                  <a:lnTo>
                    <a:pt x="13" y="28"/>
                  </a:lnTo>
                  <a:lnTo>
                    <a:pt x="13" y="2"/>
                  </a:lnTo>
                  <a:lnTo>
                    <a:pt x="5" y="0"/>
                  </a:lnTo>
                  <a:lnTo>
                    <a:pt x="0" y="2"/>
                  </a:lnTo>
                  <a:lnTo>
                    <a:pt x="0" y="4"/>
                  </a:lnTo>
                  <a:lnTo>
                    <a:pt x="0" y="3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7" name="任意多边形 181365">
              <a:extLst>
                <a:ext uri="{FF2B5EF4-FFF2-40B4-BE49-F238E27FC236}">
                  <a16:creationId xmlns:a16="http://schemas.microsoft.com/office/drawing/2014/main" xmlns="" id="{B8E093DD-85B4-9978-32B1-05810A35D71E}"/>
                </a:ext>
              </a:extLst>
            </p:cNvPr>
            <p:cNvSpPr>
              <a:spLocks noChangeArrowheads="1"/>
            </p:cNvSpPr>
            <p:nvPr/>
          </p:nvSpPr>
          <p:spPr bwMode="auto">
            <a:xfrm>
              <a:off x="1635" y="2791"/>
              <a:ext cx="13" cy="30"/>
            </a:xfrm>
            <a:custGeom>
              <a:avLst/>
              <a:gdLst>
                <a:gd name="T0" fmla="*/ 0 w 13"/>
                <a:gd name="T1" fmla="*/ 30 h 30"/>
                <a:gd name="T2" fmla="*/ 5 w 13"/>
                <a:gd name="T3" fmla="*/ 30 h 30"/>
                <a:gd name="T4" fmla="*/ 9 w 13"/>
                <a:gd name="T5" fmla="*/ 28 h 30"/>
                <a:gd name="T6" fmla="*/ 13 w 13"/>
                <a:gd name="T7" fmla="*/ 28 h 30"/>
                <a:gd name="T8" fmla="*/ 13 w 13"/>
                <a:gd name="T9" fmla="*/ 2 h 30"/>
                <a:gd name="T10" fmla="*/ 5 w 13"/>
                <a:gd name="T11" fmla="*/ 0 h 30"/>
                <a:gd name="T12" fmla="*/ 0 w 13"/>
                <a:gd name="T13" fmla="*/ 2 h 30"/>
                <a:gd name="T14" fmla="*/ 0 w 13"/>
                <a:gd name="T15" fmla="*/ 4 h 30"/>
                <a:gd name="T16" fmla="*/ 0 w 13"/>
                <a:gd name="T1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30">
                  <a:moveTo>
                    <a:pt x="0" y="30"/>
                  </a:moveTo>
                  <a:lnTo>
                    <a:pt x="5" y="30"/>
                  </a:lnTo>
                  <a:lnTo>
                    <a:pt x="9" y="28"/>
                  </a:lnTo>
                  <a:lnTo>
                    <a:pt x="13" y="28"/>
                  </a:lnTo>
                  <a:lnTo>
                    <a:pt x="13" y="2"/>
                  </a:lnTo>
                  <a:lnTo>
                    <a:pt x="5" y="0"/>
                  </a:lnTo>
                  <a:lnTo>
                    <a:pt x="0" y="2"/>
                  </a:lnTo>
                  <a:lnTo>
                    <a:pt x="0" y="4"/>
                  </a:lnTo>
                  <a:lnTo>
                    <a:pt x="0" y="3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8" name="任意多边形 181366">
              <a:extLst>
                <a:ext uri="{FF2B5EF4-FFF2-40B4-BE49-F238E27FC236}">
                  <a16:creationId xmlns:a16="http://schemas.microsoft.com/office/drawing/2014/main" xmlns="" id="{07D2EA60-7CC4-9021-794C-68995C643115}"/>
                </a:ext>
              </a:extLst>
            </p:cNvPr>
            <p:cNvSpPr>
              <a:spLocks noChangeArrowheads="1"/>
            </p:cNvSpPr>
            <p:nvPr/>
          </p:nvSpPr>
          <p:spPr bwMode="auto">
            <a:xfrm>
              <a:off x="1635" y="2746"/>
              <a:ext cx="13" cy="30"/>
            </a:xfrm>
            <a:custGeom>
              <a:avLst/>
              <a:gdLst>
                <a:gd name="T0" fmla="*/ 0 w 13"/>
                <a:gd name="T1" fmla="*/ 30 h 30"/>
                <a:gd name="T2" fmla="*/ 5 w 13"/>
                <a:gd name="T3" fmla="*/ 30 h 30"/>
                <a:gd name="T4" fmla="*/ 9 w 13"/>
                <a:gd name="T5" fmla="*/ 28 h 30"/>
                <a:gd name="T6" fmla="*/ 13 w 13"/>
                <a:gd name="T7" fmla="*/ 28 h 30"/>
                <a:gd name="T8" fmla="*/ 13 w 13"/>
                <a:gd name="T9" fmla="*/ 2 h 30"/>
                <a:gd name="T10" fmla="*/ 5 w 13"/>
                <a:gd name="T11" fmla="*/ 0 h 30"/>
                <a:gd name="T12" fmla="*/ 0 w 13"/>
                <a:gd name="T13" fmla="*/ 2 h 30"/>
                <a:gd name="T14" fmla="*/ 0 w 13"/>
                <a:gd name="T15" fmla="*/ 4 h 30"/>
                <a:gd name="T16" fmla="*/ 0 w 13"/>
                <a:gd name="T1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30">
                  <a:moveTo>
                    <a:pt x="0" y="30"/>
                  </a:moveTo>
                  <a:lnTo>
                    <a:pt x="5" y="30"/>
                  </a:lnTo>
                  <a:lnTo>
                    <a:pt x="9" y="28"/>
                  </a:lnTo>
                  <a:lnTo>
                    <a:pt x="13" y="28"/>
                  </a:lnTo>
                  <a:lnTo>
                    <a:pt x="13" y="2"/>
                  </a:lnTo>
                  <a:lnTo>
                    <a:pt x="5" y="0"/>
                  </a:lnTo>
                  <a:lnTo>
                    <a:pt x="0" y="2"/>
                  </a:lnTo>
                  <a:lnTo>
                    <a:pt x="0" y="4"/>
                  </a:lnTo>
                  <a:lnTo>
                    <a:pt x="0" y="3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9" name="任意多边形 181367">
              <a:extLst>
                <a:ext uri="{FF2B5EF4-FFF2-40B4-BE49-F238E27FC236}">
                  <a16:creationId xmlns:a16="http://schemas.microsoft.com/office/drawing/2014/main" xmlns="" id="{230DB810-E2EA-635C-1224-4BC10A078576}"/>
                </a:ext>
              </a:extLst>
            </p:cNvPr>
            <p:cNvSpPr>
              <a:spLocks noChangeArrowheads="1"/>
            </p:cNvSpPr>
            <p:nvPr/>
          </p:nvSpPr>
          <p:spPr bwMode="auto">
            <a:xfrm>
              <a:off x="1635" y="2700"/>
              <a:ext cx="13" cy="30"/>
            </a:xfrm>
            <a:custGeom>
              <a:avLst/>
              <a:gdLst>
                <a:gd name="T0" fmla="*/ 0 w 13"/>
                <a:gd name="T1" fmla="*/ 30 h 30"/>
                <a:gd name="T2" fmla="*/ 5 w 13"/>
                <a:gd name="T3" fmla="*/ 30 h 30"/>
                <a:gd name="T4" fmla="*/ 9 w 13"/>
                <a:gd name="T5" fmla="*/ 28 h 30"/>
                <a:gd name="T6" fmla="*/ 13 w 13"/>
                <a:gd name="T7" fmla="*/ 28 h 30"/>
                <a:gd name="T8" fmla="*/ 13 w 13"/>
                <a:gd name="T9" fmla="*/ 2 h 30"/>
                <a:gd name="T10" fmla="*/ 5 w 13"/>
                <a:gd name="T11" fmla="*/ 0 h 30"/>
                <a:gd name="T12" fmla="*/ 0 w 13"/>
                <a:gd name="T13" fmla="*/ 2 h 30"/>
                <a:gd name="T14" fmla="*/ 0 w 13"/>
                <a:gd name="T15" fmla="*/ 5 h 30"/>
                <a:gd name="T16" fmla="*/ 0 w 13"/>
                <a:gd name="T1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30">
                  <a:moveTo>
                    <a:pt x="0" y="30"/>
                  </a:moveTo>
                  <a:lnTo>
                    <a:pt x="5" y="30"/>
                  </a:lnTo>
                  <a:lnTo>
                    <a:pt x="9" y="28"/>
                  </a:lnTo>
                  <a:lnTo>
                    <a:pt x="13" y="28"/>
                  </a:lnTo>
                  <a:lnTo>
                    <a:pt x="13" y="2"/>
                  </a:lnTo>
                  <a:lnTo>
                    <a:pt x="5" y="0"/>
                  </a:lnTo>
                  <a:lnTo>
                    <a:pt x="0" y="2"/>
                  </a:lnTo>
                  <a:lnTo>
                    <a:pt x="0" y="5"/>
                  </a:lnTo>
                  <a:lnTo>
                    <a:pt x="0" y="3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0" name="任意多边形 181368">
              <a:extLst>
                <a:ext uri="{FF2B5EF4-FFF2-40B4-BE49-F238E27FC236}">
                  <a16:creationId xmlns:a16="http://schemas.microsoft.com/office/drawing/2014/main" xmlns="" id="{E350F60C-6A68-D194-200D-70A40A6246AF}"/>
                </a:ext>
              </a:extLst>
            </p:cNvPr>
            <p:cNvSpPr>
              <a:spLocks noChangeArrowheads="1"/>
            </p:cNvSpPr>
            <p:nvPr/>
          </p:nvSpPr>
          <p:spPr bwMode="auto">
            <a:xfrm>
              <a:off x="1635" y="2655"/>
              <a:ext cx="13" cy="30"/>
            </a:xfrm>
            <a:custGeom>
              <a:avLst/>
              <a:gdLst>
                <a:gd name="T0" fmla="*/ 0 w 13"/>
                <a:gd name="T1" fmla="*/ 30 h 30"/>
                <a:gd name="T2" fmla="*/ 5 w 13"/>
                <a:gd name="T3" fmla="*/ 30 h 30"/>
                <a:gd name="T4" fmla="*/ 9 w 13"/>
                <a:gd name="T5" fmla="*/ 28 h 30"/>
                <a:gd name="T6" fmla="*/ 13 w 13"/>
                <a:gd name="T7" fmla="*/ 28 h 30"/>
                <a:gd name="T8" fmla="*/ 13 w 13"/>
                <a:gd name="T9" fmla="*/ 2 h 30"/>
                <a:gd name="T10" fmla="*/ 5 w 13"/>
                <a:gd name="T11" fmla="*/ 0 h 30"/>
                <a:gd name="T12" fmla="*/ 0 w 13"/>
                <a:gd name="T13" fmla="*/ 2 h 30"/>
                <a:gd name="T14" fmla="*/ 0 w 13"/>
                <a:gd name="T15" fmla="*/ 4 h 30"/>
                <a:gd name="T16" fmla="*/ 0 w 13"/>
                <a:gd name="T1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30">
                  <a:moveTo>
                    <a:pt x="0" y="30"/>
                  </a:moveTo>
                  <a:lnTo>
                    <a:pt x="5" y="30"/>
                  </a:lnTo>
                  <a:lnTo>
                    <a:pt x="9" y="28"/>
                  </a:lnTo>
                  <a:lnTo>
                    <a:pt x="13" y="28"/>
                  </a:lnTo>
                  <a:lnTo>
                    <a:pt x="13" y="2"/>
                  </a:lnTo>
                  <a:lnTo>
                    <a:pt x="5" y="0"/>
                  </a:lnTo>
                  <a:lnTo>
                    <a:pt x="0" y="2"/>
                  </a:lnTo>
                  <a:lnTo>
                    <a:pt x="0" y="4"/>
                  </a:lnTo>
                  <a:lnTo>
                    <a:pt x="0" y="3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1" name="任意多边形 181369">
              <a:extLst>
                <a:ext uri="{FF2B5EF4-FFF2-40B4-BE49-F238E27FC236}">
                  <a16:creationId xmlns:a16="http://schemas.microsoft.com/office/drawing/2014/main" xmlns="" id="{FE268B9F-997A-B045-9247-DEA2461BFAA5}"/>
                </a:ext>
              </a:extLst>
            </p:cNvPr>
            <p:cNvSpPr>
              <a:spLocks noChangeArrowheads="1"/>
            </p:cNvSpPr>
            <p:nvPr/>
          </p:nvSpPr>
          <p:spPr bwMode="auto">
            <a:xfrm>
              <a:off x="1635" y="2629"/>
              <a:ext cx="13" cy="11"/>
            </a:xfrm>
            <a:custGeom>
              <a:avLst/>
              <a:gdLst>
                <a:gd name="T0" fmla="*/ 0 w 13"/>
                <a:gd name="T1" fmla="*/ 11 h 11"/>
                <a:gd name="T2" fmla="*/ 5 w 13"/>
                <a:gd name="T3" fmla="*/ 11 h 11"/>
                <a:gd name="T4" fmla="*/ 9 w 13"/>
                <a:gd name="T5" fmla="*/ 9 h 11"/>
                <a:gd name="T6" fmla="*/ 13 w 13"/>
                <a:gd name="T7" fmla="*/ 9 h 11"/>
                <a:gd name="T8" fmla="*/ 13 w 13"/>
                <a:gd name="T9" fmla="*/ 2 h 11"/>
                <a:gd name="T10" fmla="*/ 5 w 13"/>
                <a:gd name="T11" fmla="*/ 0 h 11"/>
                <a:gd name="T12" fmla="*/ 0 w 13"/>
                <a:gd name="T13" fmla="*/ 2 h 11"/>
                <a:gd name="T14" fmla="*/ 0 w 13"/>
                <a:gd name="T15" fmla="*/ 5 h 11"/>
                <a:gd name="T16" fmla="*/ 0 w 13"/>
                <a:gd name="T17" fmla="*/ 11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11">
                  <a:moveTo>
                    <a:pt x="0" y="11"/>
                  </a:moveTo>
                  <a:lnTo>
                    <a:pt x="5" y="11"/>
                  </a:lnTo>
                  <a:lnTo>
                    <a:pt x="9" y="9"/>
                  </a:lnTo>
                  <a:lnTo>
                    <a:pt x="13" y="9"/>
                  </a:lnTo>
                  <a:lnTo>
                    <a:pt x="13" y="2"/>
                  </a:lnTo>
                  <a:lnTo>
                    <a:pt x="5" y="0"/>
                  </a:lnTo>
                  <a:lnTo>
                    <a:pt x="0" y="2"/>
                  </a:lnTo>
                  <a:lnTo>
                    <a:pt x="0" y="5"/>
                  </a:lnTo>
                  <a:lnTo>
                    <a:pt x="0" y="11"/>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22" name="直接连接符 121">
            <a:extLst>
              <a:ext uri="{FF2B5EF4-FFF2-40B4-BE49-F238E27FC236}">
                <a16:creationId xmlns:a16="http://schemas.microsoft.com/office/drawing/2014/main" xmlns="" id="{D05AEF12-71E6-7519-6EF7-073CFC1ED955}"/>
              </a:ext>
            </a:extLst>
          </p:cNvPr>
          <p:cNvSpPr>
            <a:spLocks noChangeShapeType="1"/>
          </p:cNvSpPr>
          <p:nvPr/>
        </p:nvSpPr>
        <p:spPr bwMode="auto">
          <a:xfrm flipV="1">
            <a:off x="818956" y="3775075"/>
            <a:ext cx="2782888" cy="15875"/>
          </a:xfrm>
          <a:prstGeom prst="line">
            <a:avLst/>
          </a:prstGeom>
          <a:noFill/>
          <a:ln w="28575">
            <a:solidFill>
              <a:srgbClr val="FF0000"/>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grpSp>
        <p:nvGrpSpPr>
          <p:cNvPr id="123" name="组合 122">
            <a:extLst>
              <a:ext uri="{FF2B5EF4-FFF2-40B4-BE49-F238E27FC236}">
                <a16:creationId xmlns:a16="http://schemas.microsoft.com/office/drawing/2014/main" xmlns="" id="{5553983D-4252-031C-2E1A-4F50E6C7C606}"/>
              </a:ext>
            </a:extLst>
          </p:cNvPr>
          <p:cNvGrpSpPr>
            <a:grpSpLocks/>
          </p:cNvGrpSpPr>
          <p:nvPr/>
        </p:nvGrpSpPr>
        <p:grpSpPr bwMode="auto">
          <a:xfrm>
            <a:off x="714181" y="2609850"/>
            <a:ext cx="3006725" cy="1109663"/>
            <a:chOff x="981" y="3113"/>
            <a:chExt cx="1894" cy="699"/>
          </a:xfrm>
        </p:grpSpPr>
        <p:grpSp>
          <p:nvGrpSpPr>
            <p:cNvPr id="124" name="组合 181372">
              <a:extLst>
                <a:ext uri="{FF2B5EF4-FFF2-40B4-BE49-F238E27FC236}">
                  <a16:creationId xmlns:a16="http://schemas.microsoft.com/office/drawing/2014/main" xmlns="" id="{30CFB044-32DC-9890-33BA-3FB021F8B5E2}"/>
                </a:ext>
              </a:extLst>
            </p:cNvPr>
            <p:cNvGrpSpPr>
              <a:grpSpLocks/>
            </p:cNvGrpSpPr>
            <p:nvPr/>
          </p:nvGrpSpPr>
          <p:grpSpPr bwMode="auto">
            <a:xfrm>
              <a:off x="1825" y="3113"/>
              <a:ext cx="1050" cy="227"/>
              <a:chOff x="2966" y="3276"/>
              <a:chExt cx="1050" cy="227"/>
            </a:xfrm>
          </p:grpSpPr>
          <p:sp>
            <p:nvSpPr>
              <p:cNvPr id="126" name="直接连接符 181373">
                <a:extLst>
                  <a:ext uri="{FF2B5EF4-FFF2-40B4-BE49-F238E27FC236}">
                    <a16:creationId xmlns:a16="http://schemas.microsoft.com/office/drawing/2014/main" xmlns="" id="{8890C9EB-7C2D-8FBB-125A-713E1CCD5275}"/>
                  </a:ext>
                </a:extLst>
              </p:cNvPr>
              <p:cNvSpPr>
                <a:spLocks noChangeShapeType="1"/>
              </p:cNvSpPr>
              <p:nvPr/>
            </p:nvSpPr>
            <p:spPr bwMode="auto">
              <a:xfrm>
                <a:off x="2966" y="3312"/>
                <a:ext cx="768" cy="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27" name="对象 181374">
                <a:extLst>
                  <a:ext uri="{FF2B5EF4-FFF2-40B4-BE49-F238E27FC236}">
                    <a16:creationId xmlns:a16="http://schemas.microsoft.com/office/drawing/2014/main" xmlns="" id="{5FD6AD54-6CA0-335B-484B-16F6EB299AB2}"/>
                  </a:ext>
                </a:extLst>
              </p:cNvPr>
              <p:cNvGraphicFramePr>
                <a:graphicFrameLocks/>
              </p:cNvGraphicFramePr>
              <p:nvPr/>
            </p:nvGraphicFramePr>
            <p:xfrm>
              <a:off x="3752" y="3276"/>
              <a:ext cx="264" cy="227"/>
            </p:xfrm>
            <a:graphic>
              <a:graphicData uri="http://schemas.openxmlformats.org/presentationml/2006/ole">
                <mc:AlternateContent xmlns:mc="http://schemas.openxmlformats.org/markup-compatibility/2006">
                  <mc:Choice xmlns:v="urn:schemas-microsoft-com:vml" Requires="v">
                    <p:oleObj spid="_x0000_s95595" r:id="rId5" imgW="266353" imgH="228303" progId="Equation.3">
                      <p:embed/>
                    </p:oleObj>
                  </mc:Choice>
                  <mc:Fallback>
                    <p:oleObj r:id="rId5" imgW="266353" imgH="228303" progId="Equation.3">
                      <p:embed/>
                      <p:pic>
                        <p:nvPicPr>
                          <p:cNvPr id="0" name=""/>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52" y="3276"/>
                            <a:ext cx="264" cy="227"/>
                          </a:xfrm>
                          <a:prstGeom prst="rect">
                            <a:avLst/>
                          </a:prstGeom>
                          <a:solidFill>
                            <a:srgbClr val="FFFFFF"/>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
          <p:nvSpPr>
            <p:cNvPr id="125" name="直接连接符 181375">
              <a:extLst>
                <a:ext uri="{FF2B5EF4-FFF2-40B4-BE49-F238E27FC236}">
                  <a16:creationId xmlns:a16="http://schemas.microsoft.com/office/drawing/2014/main" xmlns="" id="{523D4151-7A05-6373-3ED0-B1F12B84D5A9}"/>
                </a:ext>
              </a:extLst>
            </p:cNvPr>
            <p:cNvSpPr>
              <a:spLocks noChangeShapeType="1"/>
            </p:cNvSpPr>
            <p:nvPr/>
          </p:nvSpPr>
          <p:spPr bwMode="auto">
            <a:xfrm flipV="1">
              <a:off x="981" y="3149"/>
              <a:ext cx="844" cy="663"/>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28" name="组合 127">
            <a:extLst>
              <a:ext uri="{FF2B5EF4-FFF2-40B4-BE49-F238E27FC236}">
                <a16:creationId xmlns:a16="http://schemas.microsoft.com/office/drawing/2014/main" xmlns="" id="{C4BA5BF4-B7D6-2666-B17F-547BFA0A0638}"/>
              </a:ext>
            </a:extLst>
          </p:cNvPr>
          <p:cNvGrpSpPr>
            <a:grpSpLocks/>
          </p:cNvGrpSpPr>
          <p:nvPr/>
        </p:nvGrpSpPr>
        <p:grpSpPr bwMode="auto">
          <a:xfrm>
            <a:off x="714181" y="2911475"/>
            <a:ext cx="2922588" cy="823913"/>
            <a:chOff x="981" y="3303"/>
            <a:chExt cx="1841" cy="519"/>
          </a:xfrm>
        </p:grpSpPr>
        <p:sp>
          <p:nvSpPr>
            <p:cNvPr id="129" name="直接连接符 181377">
              <a:extLst>
                <a:ext uri="{FF2B5EF4-FFF2-40B4-BE49-F238E27FC236}">
                  <a16:creationId xmlns:a16="http://schemas.microsoft.com/office/drawing/2014/main" xmlns="" id="{55FB4868-642D-0497-BD11-8F219787E169}"/>
                </a:ext>
              </a:extLst>
            </p:cNvPr>
            <p:cNvSpPr>
              <a:spLocks noChangeShapeType="1"/>
            </p:cNvSpPr>
            <p:nvPr/>
          </p:nvSpPr>
          <p:spPr bwMode="auto">
            <a:xfrm>
              <a:off x="1801" y="3305"/>
              <a:ext cx="768" cy="0"/>
            </a:xfrm>
            <a:prstGeom prst="line">
              <a:avLst/>
            </a:prstGeom>
            <a:noFill/>
            <a:ln w="38100">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30" name="对象 181378">
              <a:extLst>
                <a:ext uri="{FF2B5EF4-FFF2-40B4-BE49-F238E27FC236}">
                  <a16:creationId xmlns:a16="http://schemas.microsoft.com/office/drawing/2014/main" xmlns="" id="{57FEF0E6-2D02-FFA5-1FDC-3A38415AC9A1}"/>
                </a:ext>
              </a:extLst>
            </p:cNvPr>
            <p:cNvGraphicFramePr>
              <a:graphicFrameLocks/>
            </p:cNvGraphicFramePr>
            <p:nvPr/>
          </p:nvGraphicFramePr>
          <p:xfrm>
            <a:off x="2620" y="3354"/>
            <a:ext cx="202" cy="227"/>
          </p:xfrm>
          <a:graphic>
            <a:graphicData uri="http://schemas.openxmlformats.org/presentationml/2006/ole">
              <mc:AlternateContent xmlns:mc="http://schemas.openxmlformats.org/markup-compatibility/2006">
                <mc:Choice xmlns:v="urn:schemas-microsoft-com:vml" Requires="v">
                  <p:oleObj spid="_x0000_s95596" r:id="rId7" imgW="203024" imgH="228402" progId="Equation.3">
                    <p:embed/>
                  </p:oleObj>
                </mc:Choice>
                <mc:Fallback>
                  <p:oleObj r:id="rId7" imgW="203024" imgH="228402" progId="Equation.3">
                    <p:embed/>
                    <p:pic>
                      <p:nvPicPr>
                        <p:cNvPr id="0" name=""/>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620" y="3354"/>
                          <a:ext cx="202" cy="227"/>
                        </a:xfrm>
                        <a:prstGeom prst="rect">
                          <a:avLst/>
                        </a:prstGeom>
                        <a:solidFill>
                          <a:srgbClr val="FFFFFF"/>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31" name="直接连接符 181379">
              <a:extLst>
                <a:ext uri="{FF2B5EF4-FFF2-40B4-BE49-F238E27FC236}">
                  <a16:creationId xmlns:a16="http://schemas.microsoft.com/office/drawing/2014/main" xmlns="" id="{A99218A8-E994-6361-22AA-139979B1BD99}"/>
                </a:ext>
              </a:extLst>
            </p:cNvPr>
            <p:cNvSpPr>
              <a:spLocks noChangeShapeType="1"/>
            </p:cNvSpPr>
            <p:nvPr/>
          </p:nvSpPr>
          <p:spPr bwMode="auto">
            <a:xfrm flipV="1">
              <a:off x="981" y="3303"/>
              <a:ext cx="835" cy="519"/>
            </a:xfrm>
            <a:prstGeom prst="line">
              <a:avLst/>
            </a:prstGeom>
            <a:noFill/>
            <a:ln w="38100">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2" name="组合 131">
            <a:extLst>
              <a:ext uri="{FF2B5EF4-FFF2-40B4-BE49-F238E27FC236}">
                <a16:creationId xmlns:a16="http://schemas.microsoft.com/office/drawing/2014/main" xmlns="" id="{93272605-BE57-027B-4B58-7CBE4FBEDFCE}"/>
              </a:ext>
            </a:extLst>
          </p:cNvPr>
          <p:cNvGrpSpPr>
            <a:grpSpLocks/>
          </p:cNvGrpSpPr>
          <p:nvPr/>
        </p:nvGrpSpPr>
        <p:grpSpPr bwMode="auto">
          <a:xfrm>
            <a:off x="655444" y="2219325"/>
            <a:ext cx="2727325" cy="1535113"/>
            <a:chOff x="971" y="3007"/>
            <a:chExt cx="1718" cy="967"/>
          </a:xfrm>
        </p:grpSpPr>
        <p:graphicFrame>
          <p:nvGraphicFramePr>
            <p:cNvPr id="133" name="对象 181381">
              <a:extLst>
                <a:ext uri="{FF2B5EF4-FFF2-40B4-BE49-F238E27FC236}">
                  <a16:creationId xmlns:a16="http://schemas.microsoft.com/office/drawing/2014/main" xmlns="" id="{B3EF91F7-A5E7-B8BF-2F6A-30A05DA1B749}"/>
                </a:ext>
              </a:extLst>
            </p:cNvPr>
            <p:cNvGraphicFramePr>
              <a:graphicFrameLocks/>
            </p:cNvGraphicFramePr>
            <p:nvPr/>
          </p:nvGraphicFramePr>
          <p:xfrm>
            <a:off x="1433" y="3007"/>
            <a:ext cx="240" cy="279"/>
          </p:xfrm>
          <a:graphic>
            <a:graphicData uri="http://schemas.openxmlformats.org/presentationml/2006/ole">
              <mc:AlternateContent xmlns:mc="http://schemas.openxmlformats.org/markup-compatibility/2006">
                <mc:Choice xmlns:v="urn:schemas-microsoft-com:vml" Requires="v">
                  <p:oleObj spid="_x0000_s95597" r:id="rId9" imgW="241195" imgH="228501" progId="Equation.3">
                    <p:embed/>
                  </p:oleObj>
                </mc:Choice>
                <mc:Fallback>
                  <p:oleObj r:id="rId9" imgW="241195" imgH="228501" progId="Equation.3">
                    <p:embed/>
                    <p:pic>
                      <p:nvPicPr>
                        <p:cNvPr id="0" name=""/>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433" y="3007"/>
                          <a:ext cx="240" cy="279"/>
                        </a:xfrm>
                        <a:prstGeom prst="rect">
                          <a:avLst/>
                        </a:prstGeom>
                        <a:solidFill>
                          <a:srgbClr val="FFFFFF">
                            <a:alpha val="50195"/>
                          </a:srgbClr>
                        </a:solidFill>
                        <a:ln w="9525">
                          <a:solidFill>
                            <a:srgbClr val="FF3300"/>
                          </a:solidFill>
                          <a:miter lim="800000"/>
                          <a:headEnd/>
                          <a:tailEnd/>
                        </a:ln>
                      </p:spPr>
                    </p:pic>
                  </p:oleObj>
                </mc:Fallback>
              </mc:AlternateContent>
            </a:graphicData>
          </a:graphic>
        </p:graphicFrame>
        <p:sp>
          <p:nvSpPr>
            <p:cNvPr id="134" name="直接连接符 181382">
              <a:extLst>
                <a:ext uri="{FF2B5EF4-FFF2-40B4-BE49-F238E27FC236}">
                  <a16:creationId xmlns:a16="http://schemas.microsoft.com/office/drawing/2014/main" xmlns="" id="{259F1CBA-50F8-6D32-DD00-9C02EA1C9AEE}"/>
                </a:ext>
              </a:extLst>
            </p:cNvPr>
            <p:cNvSpPr>
              <a:spLocks noChangeShapeType="1"/>
            </p:cNvSpPr>
            <p:nvPr/>
          </p:nvSpPr>
          <p:spPr bwMode="auto">
            <a:xfrm flipV="1">
              <a:off x="971" y="3206"/>
              <a:ext cx="854" cy="768"/>
            </a:xfrm>
            <a:prstGeom prst="line">
              <a:avLst/>
            </a:prstGeom>
            <a:noFill/>
            <a:ln w="38100">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 name="直接连接符 181383">
              <a:extLst>
                <a:ext uri="{FF2B5EF4-FFF2-40B4-BE49-F238E27FC236}">
                  <a16:creationId xmlns:a16="http://schemas.microsoft.com/office/drawing/2014/main" xmlns="" id="{47CED00D-3828-6422-1E5E-586AA8C23828}"/>
                </a:ext>
              </a:extLst>
            </p:cNvPr>
            <p:cNvSpPr>
              <a:spLocks noChangeShapeType="1"/>
            </p:cNvSpPr>
            <p:nvPr/>
          </p:nvSpPr>
          <p:spPr bwMode="auto">
            <a:xfrm flipV="1">
              <a:off x="1806" y="3160"/>
              <a:ext cx="883" cy="57"/>
            </a:xfrm>
            <a:prstGeom prst="line">
              <a:avLst/>
            </a:prstGeom>
            <a:noFill/>
            <a:ln w="38100">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36" name="矩形 181422">
            <a:extLst>
              <a:ext uri="{FF2B5EF4-FFF2-40B4-BE49-F238E27FC236}">
                <a16:creationId xmlns:a16="http://schemas.microsoft.com/office/drawing/2014/main" xmlns="" id="{AA40C3A1-B108-C626-3A98-BACAFAEF3050}"/>
              </a:ext>
            </a:extLst>
          </p:cNvPr>
          <p:cNvSpPr>
            <a:spLocks noChangeArrowheads="1"/>
          </p:cNvSpPr>
          <p:nvPr/>
        </p:nvSpPr>
        <p:spPr bwMode="auto">
          <a:xfrm>
            <a:off x="2293744" y="4953000"/>
            <a:ext cx="407987" cy="188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37" name="矩形 181423">
            <a:extLst>
              <a:ext uri="{FF2B5EF4-FFF2-40B4-BE49-F238E27FC236}">
                <a16:creationId xmlns:a16="http://schemas.microsoft.com/office/drawing/2014/main" xmlns="" id="{C754E12A-A557-A2A4-5BC6-4F08BD600FBC}"/>
              </a:ext>
            </a:extLst>
          </p:cNvPr>
          <p:cNvSpPr>
            <a:spLocks noChangeArrowheads="1"/>
          </p:cNvSpPr>
          <p:nvPr/>
        </p:nvSpPr>
        <p:spPr bwMode="auto">
          <a:xfrm>
            <a:off x="2028631" y="5541963"/>
            <a:ext cx="414338" cy="188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138" name="对象 137">
            <a:extLst>
              <a:ext uri="{FF2B5EF4-FFF2-40B4-BE49-F238E27FC236}">
                <a16:creationId xmlns:a16="http://schemas.microsoft.com/office/drawing/2014/main" xmlns="" id="{1226FED1-1A16-74C0-57E6-0A0B9DC4E62D}"/>
              </a:ext>
            </a:extLst>
          </p:cNvPr>
          <p:cNvGraphicFramePr>
            <a:graphicFrameLocks/>
          </p:cNvGraphicFramePr>
          <p:nvPr>
            <p:extLst>
              <p:ext uri="{D42A27DB-BD31-4B8C-83A1-F6EECF244321}">
                <p14:modId xmlns:p14="http://schemas.microsoft.com/office/powerpoint/2010/main" val="1942205071"/>
              </p:ext>
            </p:extLst>
          </p:nvPr>
        </p:nvGraphicFramePr>
        <p:xfrm>
          <a:off x="709419" y="4279900"/>
          <a:ext cx="865187" cy="731838"/>
        </p:xfrm>
        <a:graphic>
          <a:graphicData uri="http://schemas.openxmlformats.org/presentationml/2006/ole">
            <mc:AlternateContent xmlns:mc="http://schemas.openxmlformats.org/markup-compatibility/2006">
              <mc:Choice xmlns:v="urn:schemas-microsoft-com:vml" Requires="v">
                <p:oleObj spid="_x0000_s95598" r:id="rId11" imgW="507780" imgH="431613" progId="Equation.3">
                  <p:embed/>
                </p:oleObj>
              </mc:Choice>
              <mc:Fallback>
                <p:oleObj r:id="rId11" imgW="507780" imgH="431613" progId="Equation.3">
                  <p:embed/>
                  <p:pic>
                    <p:nvPicPr>
                      <p:cNvPr id="0" name=""/>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09419" y="4279900"/>
                        <a:ext cx="865187" cy="731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39" name="对象 138">
            <a:extLst>
              <a:ext uri="{FF2B5EF4-FFF2-40B4-BE49-F238E27FC236}">
                <a16:creationId xmlns:a16="http://schemas.microsoft.com/office/drawing/2014/main" xmlns="" id="{4C52D048-715B-F581-A2F6-86FB71585B32}"/>
              </a:ext>
            </a:extLst>
          </p:cNvPr>
          <p:cNvGraphicFramePr>
            <a:graphicFrameLocks/>
          </p:cNvGraphicFramePr>
          <p:nvPr>
            <p:extLst>
              <p:ext uri="{D42A27DB-BD31-4B8C-83A1-F6EECF244321}">
                <p14:modId xmlns:p14="http://schemas.microsoft.com/office/powerpoint/2010/main" val="759487481"/>
              </p:ext>
            </p:extLst>
          </p:nvPr>
        </p:nvGraphicFramePr>
        <p:xfrm>
          <a:off x="2366769" y="4713288"/>
          <a:ext cx="1189037" cy="388937"/>
        </p:xfrm>
        <a:graphic>
          <a:graphicData uri="http://schemas.openxmlformats.org/presentationml/2006/ole">
            <mc:AlternateContent xmlns:mc="http://schemas.openxmlformats.org/markup-compatibility/2006">
              <mc:Choice xmlns:v="urn:schemas-microsoft-com:vml" Requires="v">
                <p:oleObj spid="_x0000_s95599" r:id="rId13" imgW="698500" imgH="228600" progId="Equation.3">
                  <p:embed/>
                </p:oleObj>
              </mc:Choice>
              <mc:Fallback>
                <p:oleObj r:id="rId13" imgW="698500" imgH="228600" progId="Equation.3">
                  <p:embed/>
                  <p:pic>
                    <p:nvPicPr>
                      <p:cNvPr id="0" name=""/>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366769" y="4713288"/>
                        <a:ext cx="1189037" cy="388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40" name="对象 139">
            <a:extLst>
              <a:ext uri="{FF2B5EF4-FFF2-40B4-BE49-F238E27FC236}">
                <a16:creationId xmlns:a16="http://schemas.microsoft.com/office/drawing/2014/main" xmlns="" id="{316CFCDB-72D8-9AC2-A3A5-94A04332E7EA}"/>
              </a:ext>
            </a:extLst>
          </p:cNvPr>
          <p:cNvGraphicFramePr>
            <a:graphicFrameLocks/>
          </p:cNvGraphicFramePr>
          <p:nvPr>
            <p:extLst>
              <p:ext uri="{D42A27DB-BD31-4B8C-83A1-F6EECF244321}">
                <p14:modId xmlns:p14="http://schemas.microsoft.com/office/powerpoint/2010/main" val="3251247990"/>
              </p:ext>
            </p:extLst>
          </p:nvPr>
        </p:nvGraphicFramePr>
        <p:xfrm>
          <a:off x="2252469" y="5511800"/>
          <a:ext cx="1252537" cy="388938"/>
        </p:xfrm>
        <a:graphic>
          <a:graphicData uri="http://schemas.openxmlformats.org/presentationml/2006/ole">
            <mc:AlternateContent xmlns:mc="http://schemas.openxmlformats.org/markup-compatibility/2006">
              <mc:Choice xmlns:v="urn:schemas-microsoft-com:vml" Requires="v">
                <p:oleObj spid="_x0000_s95600" r:id="rId15" imgW="736600" imgH="228600" progId="Equation.3">
                  <p:embed/>
                </p:oleObj>
              </mc:Choice>
              <mc:Fallback>
                <p:oleObj r:id="rId15" imgW="736600" imgH="228600" progId="Equation.3">
                  <p:embed/>
                  <p:pic>
                    <p:nvPicPr>
                      <p:cNvPr id="0" name=""/>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252469" y="5511800"/>
                        <a:ext cx="1252537" cy="388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141" name="组合 140">
            <a:extLst>
              <a:ext uri="{FF2B5EF4-FFF2-40B4-BE49-F238E27FC236}">
                <a16:creationId xmlns:a16="http://schemas.microsoft.com/office/drawing/2014/main" xmlns="" id="{A70C1581-A140-1A60-5103-28D9379259A9}"/>
              </a:ext>
            </a:extLst>
          </p:cNvPr>
          <p:cNvGrpSpPr>
            <a:grpSpLocks/>
          </p:cNvGrpSpPr>
          <p:nvPr/>
        </p:nvGrpSpPr>
        <p:grpSpPr bwMode="auto">
          <a:xfrm>
            <a:off x="655444" y="5099050"/>
            <a:ext cx="2520950" cy="823913"/>
            <a:chOff x="2871" y="3256"/>
            <a:chExt cx="1588" cy="519"/>
          </a:xfrm>
        </p:grpSpPr>
        <p:sp>
          <p:nvSpPr>
            <p:cNvPr id="142" name="直接连接符 181428">
              <a:extLst>
                <a:ext uri="{FF2B5EF4-FFF2-40B4-BE49-F238E27FC236}">
                  <a16:creationId xmlns:a16="http://schemas.microsoft.com/office/drawing/2014/main" xmlns="" id="{95CC760A-C767-8F4F-7D26-11800090FC02}"/>
                </a:ext>
              </a:extLst>
            </p:cNvPr>
            <p:cNvSpPr>
              <a:spLocks noChangeShapeType="1"/>
            </p:cNvSpPr>
            <p:nvPr/>
          </p:nvSpPr>
          <p:spPr bwMode="auto">
            <a:xfrm>
              <a:off x="3691" y="3258"/>
              <a:ext cx="768" cy="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 name="直接连接符 181429">
              <a:extLst>
                <a:ext uri="{FF2B5EF4-FFF2-40B4-BE49-F238E27FC236}">
                  <a16:creationId xmlns:a16="http://schemas.microsoft.com/office/drawing/2014/main" xmlns="" id="{28C3671B-B728-F8FA-F777-3C7E082B9D7D}"/>
                </a:ext>
              </a:extLst>
            </p:cNvPr>
            <p:cNvSpPr>
              <a:spLocks noChangeShapeType="1"/>
            </p:cNvSpPr>
            <p:nvPr/>
          </p:nvSpPr>
          <p:spPr bwMode="auto">
            <a:xfrm flipV="1">
              <a:off x="2871" y="3256"/>
              <a:ext cx="835" cy="519"/>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44" name="组合 143">
            <a:extLst>
              <a:ext uri="{FF2B5EF4-FFF2-40B4-BE49-F238E27FC236}">
                <a16:creationId xmlns:a16="http://schemas.microsoft.com/office/drawing/2014/main" xmlns="" id="{16B76816-111E-BC1D-51C3-60A5BE7B5FBF}"/>
              </a:ext>
            </a:extLst>
          </p:cNvPr>
          <p:cNvGrpSpPr>
            <a:grpSpLocks/>
          </p:cNvGrpSpPr>
          <p:nvPr/>
        </p:nvGrpSpPr>
        <p:grpSpPr bwMode="auto">
          <a:xfrm>
            <a:off x="639569" y="4729163"/>
            <a:ext cx="2527300" cy="1208087"/>
            <a:chOff x="3178" y="2535"/>
            <a:chExt cx="1592" cy="761"/>
          </a:xfrm>
        </p:grpSpPr>
        <p:sp>
          <p:nvSpPr>
            <p:cNvPr id="145" name="直接连接符 181431">
              <a:extLst>
                <a:ext uri="{FF2B5EF4-FFF2-40B4-BE49-F238E27FC236}">
                  <a16:creationId xmlns:a16="http://schemas.microsoft.com/office/drawing/2014/main" xmlns="" id="{A80C0321-68B8-F605-AE05-40ECD92077C7}"/>
                </a:ext>
              </a:extLst>
            </p:cNvPr>
            <p:cNvSpPr>
              <a:spLocks noChangeShapeType="1"/>
            </p:cNvSpPr>
            <p:nvPr/>
          </p:nvSpPr>
          <p:spPr bwMode="auto">
            <a:xfrm flipV="1">
              <a:off x="4002" y="2535"/>
              <a:ext cx="768" cy="24"/>
            </a:xfrm>
            <a:prstGeom prst="line">
              <a:avLst/>
            </a:prstGeom>
            <a:noFill/>
            <a:ln w="38100">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6" name="直接连接符 181432">
              <a:extLst>
                <a:ext uri="{FF2B5EF4-FFF2-40B4-BE49-F238E27FC236}">
                  <a16:creationId xmlns:a16="http://schemas.microsoft.com/office/drawing/2014/main" xmlns="" id="{4887364F-DFDD-CB20-E444-2F12ECA6490B}"/>
                </a:ext>
              </a:extLst>
            </p:cNvPr>
            <p:cNvSpPr>
              <a:spLocks noChangeShapeType="1"/>
            </p:cNvSpPr>
            <p:nvPr/>
          </p:nvSpPr>
          <p:spPr bwMode="auto">
            <a:xfrm flipV="1">
              <a:off x="3178" y="2559"/>
              <a:ext cx="824" cy="737"/>
            </a:xfrm>
            <a:prstGeom prst="line">
              <a:avLst/>
            </a:prstGeom>
            <a:noFill/>
            <a:ln w="38100">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47" name="任意多边形 181433">
            <a:extLst>
              <a:ext uri="{FF2B5EF4-FFF2-40B4-BE49-F238E27FC236}">
                <a16:creationId xmlns:a16="http://schemas.microsoft.com/office/drawing/2014/main" xmlns="" id="{16807148-B775-3450-587D-C7CA3AC2F390}"/>
              </a:ext>
            </a:extLst>
          </p:cNvPr>
          <p:cNvSpPr>
            <a:spLocks noChangeArrowheads="1"/>
          </p:cNvSpPr>
          <p:nvPr/>
        </p:nvSpPr>
        <p:spPr bwMode="auto">
          <a:xfrm>
            <a:off x="645919" y="4435475"/>
            <a:ext cx="1787525" cy="1514475"/>
          </a:xfrm>
          <a:custGeom>
            <a:avLst/>
            <a:gdLst>
              <a:gd name="T0" fmla="*/ 22 w 1337"/>
              <a:gd name="T1" fmla="*/ 752 h 752"/>
              <a:gd name="T2" fmla="*/ 253 w 1337"/>
              <a:gd name="T3" fmla="*/ 551 h 752"/>
              <a:gd name="T4" fmla="*/ 394 w 1337"/>
              <a:gd name="T5" fmla="*/ 431 h 752"/>
              <a:gd name="T6" fmla="*/ 514 w 1337"/>
              <a:gd name="T7" fmla="*/ 327 h 752"/>
              <a:gd name="T8" fmla="*/ 553 w 1337"/>
              <a:gd name="T9" fmla="*/ 282 h 752"/>
              <a:gd name="T10" fmla="*/ 587 w 1337"/>
              <a:gd name="T11" fmla="*/ 267 h 752"/>
              <a:gd name="T12" fmla="*/ 638 w 1337"/>
              <a:gd name="T13" fmla="*/ 226 h 752"/>
              <a:gd name="T14" fmla="*/ 686 w 1337"/>
              <a:gd name="T15" fmla="*/ 192 h 752"/>
              <a:gd name="T16" fmla="*/ 724 w 1337"/>
              <a:gd name="T17" fmla="*/ 166 h 752"/>
              <a:gd name="T18" fmla="*/ 771 w 1337"/>
              <a:gd name="T19" fmla="*/ 140 h 752"/>
              <a:gd name="T20" fmla="*/ 844 w 1337"/>
              <a:gd name="T21" fmla="*/ 101 h 752"/>
              <a:gd name="T22" fmla="*/ 908 w 1337"/>
              <a:gd name="T23" fmla="*/ 58 h 752"/>
              <a:gd name="T24" fmla="*/ 955 w 1337"/>
              <a:gd name="T25" fmla="*/ 45 h 752"/>
              <a:gd name="T26" fmla="*/ 1028 w 1337"/>
              <a:gd name="T27" fmla="*/ 19 h 752"/>
              <a:gd name="T28" fmla="*/ 1024 w 1337"/>
              <a:gd name="T29" fmla="*/ 22 h 752"/>
              <a:gd name="T30" fmla="*/ 1097 w 1337"/>
              <a:gd name="T31" fmla="*/ 13 h 752"/>
              <a:gd name="T32" fmla="*/ 1092 w 1337"/>
              <a:gd name="T33" fmla="*/ 13 h 752"/>
              <a:gd name="T34" fmla="*/ 1161 w 1337"/>
              <a:gd name="T35" fmla="*/ 22 h 752"/>
              <a:gd name="T36" fmla="*/ 1157 w 1337"/>
              <a:gd name="T37" fmla="*/ 19 h 752"/>
              <a:gd name="T38" fmla="*/ 1225 w 1337"/>
              <a:gd name="T39" fmla="*/ 41 h 752"/>
              <a:gd name="T40" fmla="*/ 1319 w 1337"/>
              <a:gd name="T41" fmla="*/ 82 h 752"/>
              <a:gd name="T42" fmla="*/ 1268 w 1337"/>
              <a:gd name="T43" fmla="*/ 43 h 752"/>
              <a:gd name="T44" fmla="*/ 1204 w 1337"/>
              <a:gd name="T45" fmla="*/ 19 h 752"/>
              <a:gd name="T46" fmla="*/ 1165 w 1337"/>
              <a:gd name="T47" fmla="*/ 9 h 752"/>
              <a:gd name="T48" fmla="*/ 1097 w 1337"/>
              <a:gd name="T49" fmla="*/ 0 h 752"/>
              <a:gd name="T50" fmla="*/ 1058 w 1337"/>
              <a:gd name="T51" fmla="*/ 2 h 752"/>
              <a:gd name="T52" fmla="*/ 1015 w 1337"/>
              <a:gd name="T53" fmla="*/ 9 h 752"/>
              <a:gd name="T54" fmla="*/ 943 w 1337"/>
              <a:gd name="T55" fmla="*/ 34 h 752"/>
              <a:gd name="T56" fmla="*/ 900 w 1337"/>
              <a:gd name="T57" fmla="*/ 56 h 752"/>
              <a:gd name="T58" fmla="*/ 784 w 1337"/>
              <a:gd name="T59" fmla="*/ 114 h 752"/>
              <a:gd name="T60" fmla="*/ 724 w 1337"/>
              <a:gd name="T61" fmla="*/ 149 h 752"/>
              <a:gd name="T62" fmla="*/ 681 w 1337"/>
              <a:gd name="T63" fmla="*/ 172 h 752"/>
              <a:gd name="T64" fmla="*/ 643 w 1337"/>
              <a:gd name="T65" fmla="*/ 200 h 752"/>
              <a:gd name="T66" fmla="*/ 583 w 1337"/>
              <a:gd name="T67" fmla="*/ 246 h 752"/>
              <a:gd name="T68" fmla="*/ 544 w 1337"/>
              <a:gd name="T69" fmla="*/ 280 h 752"/>
              <a:gd name="T70" fmla="*/ 433 w 1337"/>
              <a:gd name="T71" fmla="*/ 371 h 752"/>
              <a:gd name="T72" fmla="*/ 304 w 1337"/>
              <a:gd name="T73" fmla="*/ 483 h 752"/>
              <a:gd name="T74" fmla="*/ 154 w 1337"/>
              <a:gd name="T75" fmla="*/ 612 h 7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337" h="752">
                <a:moveTo>
                  <a:pt x="0" y="748"/>
                </a:moveTo>
                <a:lnTo>
                  <a:pt x="22" y="752"/>
                </a:lnTo>
                <a:lnTo>
                  <a:pt x="176" y="618"/>
                </a:lnTo>
                <a:lnTo>
                  <a:pt x="253" y="551"/>
                </a:lnTo>
                <a:lnTo>
                  <a:pt x="326" y="489"/>
                </a:lnTo>
                <a:lnTo>
                  <a:pt x="394" y="431"/>
                </a:lnTo>
                <a:lnTo>
                  <a:pt x="454" y="377"/>
                </a:lnTo>
                <a:lnTo>
                  <a:pt x="514" y="327"/>
                </a:lnTo>
                <a:lnTo>
                  <a:pt x="566" y="284"/>
                </a:lnTo>
                <a:lnTo>
                  <a:pt x="553" y="282"/>
                </a:lnTo>
                <a:lnTo>
                  <a:pt x="566" y="287"/>
                </a:lnTo>
                <a:lnTo>
                  <a:pt x="587" y="267"/>
                </a:lnTo>
                <a:lnTo>
                  <a:pt x="604" y="252"/>
                </a:lnTo>
                <a:lnTo>
                  <a:pt x="638" y="226"/>
                </a:lnTo>
                <a:lnTo>
                  <a:pt x="664" y="207"/>
                </a:lnTo>
                <a:lnTo>
                  <a:pt x="686" y="192"/>
                </a:lnTo>
                <a:lnTo>
                  <a:pt x="703" y="179"/>
                </a:lnTo>
                <a:lnTo>
                  <a:pt x="724" y="166"/>
                </a:lnTo>
                <a:lnTo>
                  <a:pt x="746" y="155"/>
                </a:lnTo>
                <a:lnTo>
                  <a:pt x="771" y="140"/>
                </a:lnTo>
                <a:lnTo>
                  <a:pt x="806" y="121"/>
                </a:lnTo>
                <a:lnTo>
                  <a:pt x="844" y="101"/>
                </a:lnTo>
                <a:lnTo>
                  <a:pt x="921" y="62"/>
                </a:lnTo>
                <a:lnTo>
                  <a:pt x="908" y="58"/>
                </a:lnTo>
                <a:lnTo>
                  <a:pt x="917" y="65"/>
                </a:lnTo>
                <a:lnTo>
                  <a:pt x="955" y="45"/>
                </a:lnTo>
                <a:lnTo>
                  <a:pt x="994" y="30"/>
                </a:lnTo>
                <a:lnTo>
                  <a:pt x="1028" y="19"/>
                </a:lnTo>
                <a:lnTo>
                  <a:pt x="1024" y="15"/>
                </a:lnTo>
                <a:lnTo>
                  <a:pt x="1024" y="22"/>
                </a:lnTo>
                <a:lnTo>
                  <a:pt x="1062" y="15"/>
                </a:lnTo>
                <a:lnTo>
                  <a:pt x="1097" y="13"/>
                </a:lnTo>
                <a:lnTo>
                  <a:pt x="1092" y="6"/>
                </a:lnTo>
                <a:lnTo>
                  <a:pt x="1092" y="13"/>
                </a:lnTo>
                <a:lnTo>
                  <a:pt x="1127" y="15"/>
                </a:lnTo>
                <a:lnTo>
                  <a:pt x="1161" y="22"/>
                </a:lnTo>
                <a:lnTo>
                  <a:pt x="1161" y="15"/>
                </a:lnTo>
                <a:lnTo>
                  <a:pt x="1157" y="19"/>
                </a:lnTo>
                <a:lnTo>
                  <a:pt x="1191" y="30"/>
                </a:lnTo>
                <a:lnTo>
                  <a:pt x="1225" y="41"/>
                </a:lnTo>
                <a:lnTo>
                  <a:pt x="1255" y="54"/>
                </a:lnTo>
                <a:lnTo>
                  <a:pt x="1319" y="82"/>
                </a:lnTo>
                <a:lnTo>
                  <a:pt x="1337" y="73"/>
                </a:lnTo>
                <a:lnTo>
                  <a:pt x="1268" y="43"/>
                </a:lnTo>
                <a:lnTo>
                  <a:pt x="1238" y="30"/>
                </a:lnTo>
                <a:lnTo>
                  <a:pt x="1204" y="19"/>
                </a:lnTo>
                <a:lnTo>
                  <a:pt x="1170" y="9"/>
                </a:lnTo>
                <a:lnTo>
                  <a:pt x="1165" y="9"/>
                </a:lnTo>
                <a:lnTo>
                  <a:pt x="1131" y="2"/>
                </a:lnTo>
                <a:lnTo>
                  <a:pt x="1097" y="0"/>
                </a:lnTo>
                <a:lnTo>
                  <a:pt x="1092" y="0"/>
                </a:lnTo>
                <a:lnTo>
                  <a:pt x="1058" y="2"/>
                </a:lnTo>
                <a:lnTo>
                  <a:pt x="1020" y="9"/>
                </a:lnTo>
                <a:lnTo>
                  <a:pt x="1015" y="9"/>
                </a:lnTo>
                <a:lnTo>
                  <a:pt x="981" y="19"/>
                </a:lnTo>
                <a:lnTo>
                  <a:pt x="943" y="34"/>
                </a:lnTo>
                <a:lnTo>
                  <a:pt x="904" y="54"/>
                </a:lnTo>
                <a:lnTo>
                  <a:pt x="900" y="56"/>
                </a:lnTo>
                <a:lnTo>
                  <a:pt x="823" y="95"/>
                </a:lnTo>
                <a:lnTo>
                  <a:pt x="784" y="114"/>
                </a:lnTo>
                <a:lnTo>
                  <a:pt x="754" y="131"/>
                </a:lnTo>
                <a:lnTo>
                  <a:pt x="724" y="149"/>
                </a:lnTo>
                <a:lnTo>
                  <a:pt x="703" y="159"/>
                </a:lnTo>
                <a:lnTo>
                  <a:pt x="681" y="172"/>
                </a:lnTo>
                <a:lnTo>
                  <a:pt x="664" y="185"/>
                </a:lnTo>
                <a:lnTo>
                  <a:pt x="643" y="200"/>
                </a:lnTo>
                <a:lnTo>
                  <a:pt x="617" y="220"/>
                </a:lnTo>
                <a:lnTo>
                  <a:pt x="583" y="246"/>
                </a:lnTo>
                <a:lnTo>
                  <a:pt x="566" y="261"/>
                </a:lnTo>
                <a:lnTo>
                  <a:pt x="544" y="280"/>
                </a:lnTo>
                <a:lnTo>
                  <a:pt x="493" y="321"/>
                </a:lnTo>
                <a:lnTo>
                  <a:pt x="433" y="371"/>
                </a:lnTo>
                <a:lnTo>
                  <a:pt x="373" y="424"/>
                </a:lnTo>
                <a:lnTo>
                  <a:pt x="304" y="483"/>
                </a:lnTo>
                <a:lnTo>
                  <a:pt x="232" y="545"/>
                </a:lnTo>
                <a:lnTo>
                  <a:pt x="154" y="612"/>
                </a:lnTo>
                <a:lnTo>
                  <a:pt x="0" y="748"/>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8" name="直接连接符 147">
            <a:extLst>
              <a:ext uri="{FF2B5EF4-FFF2-40B4-BE49-F238E27FC236}">
                <a16:creationId xmlns:a16="http://schemas.microsoft.com/office/drawing/2014/main" xmlns="" id="{FD261DFC-68E2-EE51-B625-70811ECDADE0}"/>
              </a:ext>
            </a:extLst>
          </p:cNvPr>
          <p:cNvSpPr>
            <a:spLocks noChangeShapeType="1"/>
          </p:cNvSpPr>
          <p:nvPr/>
        </p:nvSpPr>
        <p:spPr bwMode="auto">
          <a:xfrm>
            <a:off x="2100069" y="4473575"/>
            <a:ext cx="1587" cy="1655763"/>
          </a:xfrm>
          <a:prstGeom prst="line">
            <a:avLst/>
          </a:prstGeom>
          <a:noFill/>
          <a:ln w="50800">
            <a:solidFill>
              <a:schemeClr val="accent1"/>
            </a:solidFill>
            <a:prstDash val="dash"/>
            <a:round/>
            <a:headEnd type="none" w="sm" len="lg"/>
            <a:tailEnd type="none" w="sm" len="lg"/>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49" name="对象 148">
            <a:extLst>
              <a:ext uri="{FF2B5EF4-FFF2-40B4-BE49-F238E27FC236}">
                <a16:creationId xmlns:a16="http://schemas.microsoft.com/office/drawing/2014/main" xmlns="" id="{D8AE5763-5B7B-58E1-8519-4579CDA92638}"/>
              </a:ext>
            </a:extLst>
          </p:cNvPr>
          <p:cNvGraphicFramePr>
            <a:graphicFrameLocks/>
          </p:cNvGraphicFramePr>
          <p:nvPr>
            <p:extLst>
              <p:ext uri="{D42A27DB-BD31-4B8C-83A1-F6EECF244321}">
                <p14:modId xmlns:p14="http://schemas.microsoft.com/office/powerpoint/2010/main" val="3357396076"/>
              </p:ext>
            </p:extLst>
          </p:nvPr>
        </p:nvGraphicFramePr>
        <p:xfrm>
          <a:off x="2323906" y="5057775"/>
          <a:ext cx="1263650" cy="487363"/>
        </p:xfrm>
        <a:graphic>
          <a:graphicData uri="http://schemas.openxmlformats.org/presentationml/2006/ole">
            <mc:AlternateContent xmlns:mc="http://schemas.openxmlformats.org/markup-compatibility/2006">
              <mc:Choice xmlns:v="urn:schemas-microsoft-com:vml" Requires="v">
                <p:oleObj spid="_x0000_s95601" r:id="rId17" imgW="850531" imgH="330057" progId="Equation.3">
                  <p:embed/>
                </p:oleObj>
              </mc:Choice>
              <mc:Fallback>
                <p:oleObj r:id="rId17" imgW="850531" imgH="330057" progId="Equation.3">
                  <p:embed/>
                  <p:pic>
                    <p:nvPicPr>
                      <p:cNvPr id="0" name=""/>
                      <p:cNvPicPr>
                        <a:picLocks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323906" y="5057775"/>
                        <a:ext cx="1263650"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150" name="组合 149">
            <a:extLst>
              <a:ext uri="{FF2B5EF4-FFF2-40B4-BE49-F238E27FC236}">
                <a16:creationId xmlns:a16="http://schemas.microsoft.com/office/drawing/2014/main" xmlns="" id="{D1F6538C-EDB8-185C-7403-C0AB277EB8A6}"/>
              </a:ext>
            </a:extLst>
          </p:cNvPr>
          <p:cNvGrpSpPr>
            <a:grpSpLocks/>
          </p:cNvGrpSpPr>
          <p:nvPr/>
        </p:nvGrpSpPr>
        <p:grpSpPr bwMode="auto">
          <a:xfrm>
            <a:off x="669731" y="5432425"/>
            <a:ext cx="2692400" cy="501650"/>
            <a:chOff x="3197" y="2978"/>
            <a:chExt cx="1696" cy="316"/>
          </a:xfrm>
        </p:grpSpPr>
        <p:sp>
          <p:nvSpPr>
            <p:cNvPr id="151" name="直接连接符 181437">
              <a:extLst>
                <a:ext uri="{FF2B5EF4-FFF2-40B4-BE49-F238E27FC236}">
                  <a16:creationId xmlns:a16="http://schemas.microsoft.com/office/drawing/2014/main" xmlns="" id="{6F4EB28E-7D85-8977-A712-B0F545073819}"/>
                </a:ext>
              </a:extLst>
            </p:cNvPr>
            <p:cNvSpPr>
              <a:spLocks noChangeShapeType="1"/>
            </p:cNvSpPr>
            <p:nvPr/>
          </p:nvSpPr>
          <p:spPr bwMode="auto">
            <a:xfrm flipV="1">
              <a:off x="3197" y="2997"/>
              <a:ext cx="365" cy="297"/>
            </a:xfrm>
            <a:prstGeom prst="line">
              <a:avLst/>
            </a:prstGeom>
            <a:noFill/>
            <a:ln w="38100">
              <a:solidFill>
                <a:srgbClr val="FF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2" name="直接连接符 181438">
              <a:extLst>
                <a:ext uri="{FF2B5EF4-FFF2-40B4-BE49-F238E27FC236}">
                  <a16:creationId xmlns:a16="http://schemas.microsoft.com/office/drawing/2014/main" xmlns="" id="{78780F99-56A8-3CFE-9F8B-CE15DDAD2723}"/>
                </a:ext>
              </a:extLst>
            </p:cNvPr>
            <p:cNvSpPr>
              <a:spLocks noChangeShapeType="1"/>
            </p:cNvSpPr>
            <p:nvPr/>
          </p:nvSpPr>
          <p:spPr bwMode="auto">
            <a:xfrm flipH="1" flipV="1">
              <a:off x="3560" y="2978"/>
              <a:ext cx="1333" cy="9"/>
            </a:xfrm>
            <a:prstGeom prst="line">
              <a:avLst/>
            </a:prstGeom>
            <a:noFill/>
            <a:ln w="38100">
              <a:solidFill>
                <a:srgbClr val="FF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aphicFrame>
        <p:nvGraphicFramePr>
          <p:cNvPr id="153" name="对象 152">
            <a:extLst>
              <a:ext uri="{FF2B5EF4-FFF2-40B4-BE49-F238E27FC236}">
                <a16:creationId xmlns:a16="http://schemas.microsoft.com/office/drawing/2014/main" xmlns="" id="{F70183EB-314F-2C55-670E-71E5B4F74E6A}"/>
              </a:ext>
            </a:extLst>
          </p:cNvPr>
          <p:cNvGraphicFramePr>
            <a:graphicFrameLocks/>
          </p:cNvGraphicFramePr>
          <p:nvPr>
            <p:extLst>
              <p:ext uri="{D42A27DB-BD31-4B8C-83A1-F6EECF244321}">
                <p14:modId xmlns:p14="http://schemas.microsoft.com/office/powerpoint/2010/main" val="3753552117"/>
              </p:ext>
            </p:extLst>
          </p:nvPr>
        </p:nvGraphicFramePr>
        <p:xfrm>
          <a:off x="645919" y="1489077"/>
          <a:ext cx="8045450" cy="790575"/>
        </p:xfrm>
        <a:graphic>
          <a:graphicData uri="http://schemas.openxmlformats.org/presentationml/2006/ole">
            <mc:AlternateContent xmlns:mc="http://schemas.openxmlformats.org/markup-compatibility/2006">
              <mc:Choice xmlns:v="urn:schemas-microsoft-com:vml" Requires="v">
                <p:oleObj spid="_x0000_s95602" r:id="rId19" imgW="7133760" imgH="647640" progId="Word.Document.8">
                  <p:embed/>
                </p:oleObj>
              </mc:Choice>
              <mc:Fallback>
                <p:oleObj r:id="rId19" imgW="7133760" imgH="647640" progId="Word.Document.8">
                  <p:embed/>
                  <p:pic>
                    <p:nvPicPr>
                      <p:cNvPr id="0" name=""/>
                      <p:cNvPicPr>
                        <a:picLocks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45919" y="1489077"/>
                        <a:ext cx="8045450" cy="790575"/>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468026354"/>
      </p:ext>
    </p:extLst>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128</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4.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谐振</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功率</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放大器</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矩形 162820">
            <a:extLst>
              <a:ext uri="{FF2B5EF4-FFF2-40B4-BE49-F238E27FC236}">
                <a16:creationId xmlns:a16="http://schemas.microsoft.com/office/drawing/2014/main" xmlns="" id="{A906435C-2B30-7D4E-C62D-43A5ACAACF30}"/>
              </a:ext>
            </a:extLst>
          </p:cNvPr>
          <p:cNvSpPr>
            <a:spLocks noChangeArrowheads="1"/>
          </p:cNvSpPr>
          <p:nvPr/>
        </p:nvSpPr>
        <p:spPr bwMode="auto">
          <a:xfrm>
            <a:off x="345232" y="1340768"/>
            <a:ext cx="4953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p>
            <a:pPr>
              <a:spcBef>
                <a:spcPct val="50000"/>
              </a:spcBef>
            </a:pPr>
            <a:r>
              <a:rPr lang="en-US" altLang="zh-CN" sz="2400" dirty="0">
                <a:solidFill>
                  <a:schemeClr val="tx1"/>
                </a:solidFill>
                <a:latin typeface="+mn-ea"/>
                <a:ea typeface="+mn-ea"/>
              </a:rPr>
              <a:t>4.</a:t>
            </a:r>
            <a:r>
              <a:rPr lang="zh-CN" altLang="en-US" sz="2400" dirty="0">
                <a:solidFill>
                  <a:schemeClr val="tx1"/>
                </a:solidFill>
                <a:latin typeface="+mn-ea"/>
                <a:ea typeface="+mn-ea"/>
              </a:rPr>
              <a:t>改变Ｖ</a:t>
            </a:r>
            <a:r>
              <a:rPr lang="en-US" altLang="zh-CN" sz="2400" baseline="-25000" dirty="0">
                <a:solidFill>
                  <a:schemeClr val="tx1"/>
                </a:solidFill>
                <a:latin typeface="+mn-ea"/>
                <a:ea typeface="+mn-ea"/>
              </a:rPr>
              <a:t>BB</a:t>
            </a:r>
            <a:r>
              <a:rPr lang="zh-CN" altLang="en-US" sz="2400" dirty="0">
                <a:solidFill>
                  <a:schemeClr val="tx1"/>
                </a:solidFill>
                <a:latin typeface="+mn-ea"/>
                <a:ea typeface="+mn-ea"/>
              </a:rPr>
              <a:t>对工作状态的影响</a:t>
            </a:r>
          </a:p>
        </p:txBody>
      </p:sp>
      <p:graphicFrame>
        <p:nvGraphicFramePr>
          <p:cNvPr id="6" name="对象 5">
            <a:extLst>
              <a:ext uri="{FF2B5EF4-FFF2-40B4-BE49-F238E27FC236}">
                <a16:creationId xmlns:a16="http://schemas.microsoft.com/office/drawing/2014/main" xmlns="" id="{BB126E27-3543-3467-6CF3-AAA667AA5843}"/>
              </a:ext>
            </a:extLst>
          </p:cNvPr>
          <p:cNvGraphicFramePr>
            <a:graphicFrameLocks/>
          </p:cNvGraphicFramePr>
          <p:nvPr>
            <p:extLst>
              <p:ext uri="{D42A27DB-BD31-4B8C-83A1-F6EECF244321}">
                <p14:modId xmlns:p14="http://schemas.microsoft.com/office/powerpoint/2010/main" val="1490297550"/>
              </p:ext>
            </p:extLst>
          </p:nvPr>
        </p:nvGraphicFramePr>
        <p:xfrm>
          <a:off x="345232" y="1571600"/>
          <a:ext cx="7974013" cy="768350"/>
        </p:xfrm>
        <a:graphic>
          <a:graphicData uri="http://schemas.openxmlformats.org/presentationml/2006/ole">
            <mc:AlternateContent xmlns:mc="http://schemas.openxmlformats.org/markup-compatibility/2006">
              <mc:Choice xmlns:v="urn:schemas-microsoft-com:vml" Requires="v">
                <p:oleObj spid="_x0000_s96338" r:id="rId3" imgW="7159320" imgH="635040" progId="Word.Document.8">
                  <p:embed/>
                </p:oleObj>
              </mc:Choice>
              <mc:Fallback>
                <p:oleObj r:id="rId3" imgW="7159320" imgH="635040" progId="Word.Document.8">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5232" y="1571600"/>
                        <a:ext cx="7974013"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 name="对象 6">
            <a:extLst>
              <a:ext uri="{FF2B5EF4-FFF2-40B4-BE49-F238E27FC236}">
                <a16:creationId xmlns:a16="http://schemas.microsoft.com/office/drawing/2014/main" xmlns="" id="{948B3FA2-E59D-0938-6D27-1C528A26CC0A}"/>
              </a:ext>
            </a:extLst>
          </p:cNvPr>
          <p:cNvGraphicFramePr>
            <a:graphicFrameLocks noChangeAspect="1"/>
          </p:cNvGraphicFramePr>
          <p:nvPr>
            <p:extLst>
              <p:ext uri="{D42A27DB-BD31-4B8C-83A1-F6EECF244321}">
                <p14:modId xmlns:p14="http://schemas.microsoft.com/office/powerpoint/2010/main" val="766704442"/>
              </p:ext>
            </p:extLst>
          </p:nvPr>
        </p:nvGraphicFramePr>
        <p:xfrm>
          <a:off x="5076056" y="1351583"/>
          <a:ext cx="3036887" cy="450850"/>
        </p:xfrm>
        <a:graphic>
          <a:graphicData uri="http://schemas.openxmlformats.org/presentationml/2006/ole">
            <mc:AlternateContent xmlns:mc="http://schemas.openxmlformats.org/markup-compatibility/2006">
              <mc:Choice xmlns:v="urn:schemas-microsoft-com:vml" Requires="v">
                <p:oleObj spid="_x0000_s96339" name="Equation" r:id="rId5" imgW="3037547" imgH="451096" progId="Equation.DSMT4">
                  <p:embed/>
                </p:oleObj>
              </mc:Choice>
              <mc:Fallback>
                <p:oleObj name="Equation" r:id="rId5" imgW="3037547" imgH="451096" progId="Equation.DSMT4">
                  <p:embed/>
                  <p:pic>
                    <p:nvPicPr>
                      <p:cNvPr id="0" name=""/>
                      <p:cNvPicPr/>
                      <p:nvPr/>
                    </p:nvPicPr>
                    <p:blipFill>
                      <a:blip r:embed="rId6"/>
                      <a:stretch>
                        <a:fillRect/>
                      </a:stretch>
                    </p:blipFill>
                    <p:spPr>
                      <a:xfrm>
                        <a:off x="5076056" y="1351583"/>
                        <a:ext cx="3036887" cy="450850"/>
                      </a:xfrm>
                      <a:prstGeom prst="rect">
                        <a:avLst/>
                      </a:prstGeom>
                    </p:spPr>
                  </p:pic>
                </p:oleObj>
              </mc:Fallback>
            </mc:AlternateContent>
          </a:graphicData>
        </a:graphic>
      </p:graphicFrame>
      <p:sp>
        <p:nvSpPr>
          <p:cNvPr id="8" name="文本框 7">
            <a:extLst>
              <a:ext uri="{FF2B5EF4-FFF2-40B4-BE49-F238E27FC236}">
                <a16:creationId xmlns:a16="http://schemas.microsoft.com/office/drawing/2014/main" xmlns="" id="{15278415-A63E-3107-4C01-23F682919EA8}"/>
              </a:ext>
            </a:extLst>
          </p:cNvPr>
          <p:cNvSpPr txBox="1">
            <a:spLocks noChangeArrowheads="1"/>
          </p:cNvSpPr>
          <p:nvPr/>
        </p:nvSpPr>
        <p:spPr bwMode="auto">
          <a:xfrm>
            <a:off x="795810" y="5171222"/>
            <a:ext cx="80645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000" i="1" dirty="0">
                <a:solidFill>
                  <a:srgbClr val="FF0000"/>
                </a:solidFill>
                <a:latin typeface="+mn-ea"/>
                <a:ea typeface="+mn-ea"/>
              </a:rPr>
              <a:t>V</a:t>
            </a:r>
            <a:r>
              <a:rPr lang="en-US" altLang="zh-CN" sz="2000" baseline="-25000" dirty="0">
                <a:solidFill>
                  <a:srgbClr val="FF0000"/>
                </a:solidFill>
                <a:latin typeface="+mn-ea"/>
                <a:ea typeface="+mn-ea"/>
              </a:rPr>
              <a:t>BB</a:t>
            </a:r>
            <a:r>
              <a:rPr lang="zh-CN" altLang="en-US" sz="2000" dirty="0">
                <a:solidFill>
                  <a:srgbClr val="FF0000"/>
                </a:solidFill>
                <a:latin typeface="+mn-ea"/>
                <a:ea typeface="+mn-ea"/>
              </a:rPr>
              <a:t>绝对值的增加等效于减少 </a:t>
            </a:r>
            <a:r>
              <a:rPr lang="en-US" altLang="zh-CN" sz="2000" i="1" dirty="0" err="1">
                <a:solidFill>
                  <a:srgbClr val="FF0000"/>
                </a:solidFill>
                <a:latin typeface="+mn-ea"/>
                <a:ea typeface="+mn-ea"/>
              </a:rPr>
              <a:t>V</a:t>
            </a:r>
            <a:r>
              <a:rPr lang="en-US" altLang="zh-CN" sz="2000" baseline="-25000" dirty="0" err="1">
                <a:solidFill>
                  <a:srgbClr val="FF0000"/>
                </a:solidFill>
                <a:latin typeface="+mn-ea"/>
                <a:ea typeface="+mn-ea"/>
              </a:rPr>
              <a:t>bm</a:t>
            </a:r>
            <a:r>
              <a:rPr lang="zh-CN" altLang="en-US" sz="2000" dirty="0">
                <a:solidFill>
                  <a:srgbClr val="FF0000"/>
                </a:solidFill>
                <a:latin typeface="+mn-ea"/>
                <a:ea typeface="+mn-ea"/>
              </a:rPr>
              <a:t>，两者都会使</a:t>
            </a:r>
            <a:r>
              <a:rPr lang="en-US" altLang="zh-CN" sz="2000" i="1" dirty="0" err="1">
                <a:solidFill>
                  <a:srgbClr val="FF0000"/>
                </a:solidFill>
                <a:latin typeface="+mn-ea"/>
                <a:ea typeface="+mn-ea"/>
              </a:rPr>
              <a:t>v</a:t>
            </a:r>
            <a:r>
              <a:rPr lang="en-US" altLang="zh-CN" sz="2000" baseline="-25000" dirty="0" err="1">
                <a:solidFill>
                  <a:srgbClr val="FF0000"/>
                </a:solidFill>
                <a:latin typeface="+mn-ea"/>
                <a:ea typeface="+mn-ea"/>
              </a:rPr>
              <a:t>bemax</a:t>
            </a:r>
            <a:r>
              <a:rPr lang="zh-CN" altLang="en-US" sz="2000" dirty="0">
                <a:solidFill>
                  <a:srgbClr val="FF0000"/>
                </a:solidFill>
                <a:latin typeface="+mn-ea"/>
                <a:ea typeface="+mn-ea"/>
              </a:rPr>
              <a:t>产生相同的变化</a:t>
            </a:r>
          </a:p>
        </p:txBody>
      </p:sp>
      <p:pic>
        <p:nvPicPr>
          <p:cNvPr id="9" name="图片 8">
            <a:extLst>
              <a:ext uri="{FF2B5EF4-FFF2-40B4-BE49-F238E27FC236}">
                <a16:creationId xmlns:a16="http://schemas.microsoft.com/office/drawing/2014/main" xmlns="" id="{23ED5A0C-0169-A298-7C2B-9257B8A7A862}"/>
              </a:ext>
            </a:extLst>
          </p:cNvPr>
          <p:cNvPicPr>
            <a:picLocks noChangeAspect="1"/>
          </p:cNvPicPr>
          <p:nvPr/>
        </p:nvPicPr>
        <p:blipFill>
          <a:blip r:embed="rId7"/>
          <a:stretch>
            <a:fillRect/>
          </a:stretch>
        </p:blipFill>
        <p:spPr>
          <a:xfrm>
            <a:off x="750888" y="2263506"/>
            <a:ext cx="7703766" cy="3028227"/>
          </a:xfrm>
          <a:prstGeom prst="rect">
            <a:avLst/>
          </a:prstGeom>
        </p:spPr>
      </p:pic>
      <p:sp>
        <p:nvSpPr>
          <p:cNvPr id="10" name="矩形 9">
            <a:extLst>
              <a:ext uri="{FF2B5EF4-FFF2-40B4-BE49-F238E27FC236}">
                <a16:creationId xmlns:a16="http://schemas.microsoft.com/office/drawing/2014/main" xmlns="" id="{12D7903D-A54E-884B-0FAE-2B277F6D1645}"/>
              </a:ext>
            </a:extLst>
          </p:cNvPr>
          <p:cNvSpPr>
            <a:spLocks noChangeArrowheads="1"/>
          </p:cNvSpPr>
          <p:nvPr/>
        </p:nvSpPr>
        <p:spPr bwMode="auto">
          <a:xfrm>
            <a:off x="283690" y="5583119"/>
            <a:ext cx="869473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p>
            <a:r>
              <a:rPr lang="zh-CN" altLang="en-US" sz="2000" dirty="0">
                <a:solidFill>
                  <a:srgbClr val="000000"/>
                </a:solidFill>
                <a:latin typeface="+mn-ea"/>
                <a:ea typeface="+mn-ea"/>
              </a:rPr>
              <a:t>    基极调幅作用是通过改变</a:t>
            </a:r>
            <a:r>
              <a:rPr lang="zh-CN" altLang="en-US" sz="2000" i="1" dirty="0">
                <a:solidFill>
                  <a:srgbClr val="000000"/>
                </a:solidFill>
                <a:latin typeface="+mn-ea"/>
                <a:ea typeface="+mn-ea"/>
              </a:rPr>
              <a:t>Ｖ</a:t>
            </a:r>
            <a:r>
              <a:rPr lang="en-US" altLang="zh-CN" sz="2000" baseline="-25000" dirty="0">
                <a:solidFill>
                  <a:srgbClr val="000000"/>
                </a:solidFill>
                <a:latin typeface="+mn-ea"/>
                <a:ea typeface="+mn-ea"/>
              </a:rPr>
              <a:t>BB</a:t>
            </a:r>
            <a:r>
              <a:rPr lang="zh-CN" altLang="en-US" sz="2000" dirty="0">
                <a:solidFill>
                  <a:srgbClr val="000000"/>
                </a:solidFill>
                <a:latin typeface="+mn-ea"/>
                <a:ea typeface="+mn-ea"/>
              </a:rPr>
              <a:t>来改变</a:t>
            </a:r>
            <a:r>
              <a:rPr lang="zh-CN" altLang="en-US" sz="2000" i="1" dirty="0">
                <a:solidFill>
                  <a:srgbClr val="000000"/>
                </a:solidFill>
                <a:latin typeface="+mn-ea"/>
                <a:ea typeface="+mn-ea"/>
              </a:rPr>
              <a:t>Ｉ</a:t>
            </a:r>
            <a:r>
              <a:rPr lang="en-US" altLang="zh-CN" sz="2000" baseline="-25000" dirty="0">
                <a:solidFill>
                  <a:srgbClr val="000000"/>
                </a:solidFill>
                <a:latin typeface="+mn-ea"/>
                <a:ea typeface="+mn-ea"/>
              </a:rPr>
              <a:t>cm1</a:t>
            </a:r>
            <a:r>
              <a:rPr lang="zh-CN" altLang="en-US" sz="2000" dirty="0">
                <a:solidFill>
                  <a:srgbClr val="000000"/>
                </a:solidFill>
                <a:latin typeface="+mn-ea"/>
                <a:ea typeface="+mn-ea"/>
              </a:rPr>
              <a:t>与</a:t>
            </a:r>
            <a:r>
              <a:rPr lang="zh-CN" altLang="en-US" sz="2000" i="1" dirty="0">
                <a:solidFill>
                  <a:srgbClr val="000000"/>
                </a:solidFill>
                <a:latin typeface="+mn-ea"/>
                <a:ea typeface="+mn-ea"/>
              </a:rPr>
              <a:t>Ｐ</a:t>
            </a:r>
            <a:r>
              <a:rPr lang="en-US" altLang="zh-CN" sz="2000" baseline="-25000" dirty="0">
                <a:solidFill>
                  <a:srgbClr val="000000"/>
                </a:solidFill>
                <a:latin typeface="+mn-ea"/>
                <a:ea typeface="+mn-ea"/>
              </a:rPr>
              <a:t>o</a:t>
            </a:r>
            <a:r>
              <a:rPr lang="zh-CN" altLang="en-US" sz="2000" dirty="0">
                <a:solidFill>
                  <a:srgbClr val="000000"/>
                </a:solidFill>
                <a:latin typeface="+mn-ea"/>
                <a:ea typeface="+mn-ea"/>
              </a:rPr>
              <a:t>才能实现的，因此，必须工作于欠压区。</a:t>
            </a:r>
          </a:p>
        </p:txBody>
      </p:sp>
    </p:spTree>
    <p:extLst>
      <p:ext uri="{BB962C8B-B14F-4D97-AF65-F5344CB8AC3E}">
        <p14:creationId xmlns:p14="http://schemas.microsoft.com/office/powerpoint/2010/main" val="1348851989"/>
      </p:ext>
    </p:extLst>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129</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4.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谐振</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功率</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放大器</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Rectangle 28">
            <a:extLst>
              <a:ext uri="{FF2B5EF4-FFF2-40B4-BE49-F238E27FC236}">
                <a16:creationId xmlns:a16="http://schemas.microsoft.com/office/drawing/2014/main" xmlns="" id="{65770371-F0C5-3832-9D90-43CA5DC3BB08}"/>
              </a:ext>
            </a:extLst>
          </p:cNvPr>
          <p:cNvSpPr>
            <a:spLocks noChangeArrowheads="1"/>
          </p:cNvSpPr>
          <p:nvPr/>
        </p:nvSpPr>
        <p:spPr bwMode="auto">
          <a:xfrm>
            <a:off x="323850" y="1623542"/>
            <a:ext cx="8509000" cy="1231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p>
            <a:pPr algn="just"/>
            <a:r>
              <a:rPr lang="zh-CN" altLang="en-US" sz="2000" dirty="0">
                <a:solidFill>
                  <a:schemeClr val="tx1"/>
                </a:solidFill>
                <a:latin typeface="Times New Roman" panose="02020603050405020304" pitchFamily="18" charset="0"/>
                <a:cs typeface="Times New Roman" panose="02020603050405020304" pitchFamily="18" charset="0"/>
              </a:rPr>
              <a:t>某谐振功率放大器的转移特性如图所示。已知该放大器采用晶体管的参数为：</a:t>
            </a:r>
            <a:r>
              <a:rPr lang="en-US" altLang="zh-CN" sz="2000" dirty="0">
                <a:solidFill>
                  <a:schemeClr val="tx1"/>
                </a:solidFill>
                <a:latin typeface="Times New Roman" panose="02020603050405020304" pitchFamily="18" charset="0"/>
                <a:cs typeface="Times New Roman" panose="02020603050405020304" pitchFamily="18" charset="0"/>
              </a:rPr>
              <a:t>f</a:t>
            </a:r>
            <a:r>
              <a:rPr lang="en-US" altLang="zh-CN" sz="2000" baseline="-30000" dirty="0">
                <a:solidFill>
                  <a:schemeClr val="tx1"/>
                </a:solidFill>
                <a:latin typeface="Times New Roman" panose="02020603050405020304" pitchFamily="18" charset="0"/>
                <a:cs typeface="Times New Roman" panose="02020603050405020304" pitchFamily="18" charset="0"/>
              </a:rPr>
              <a:t>T</a:t>
            </a:r>
            <a:r>
              <a:rPr lang="en-US" altLang="zh-CN" sz="2000" dirty="0">
                <a:solidFill>
                  <a:schemeClr val="tx1"/>
                </a:solidFill>
                <a:latin typeface="Times New Roman" panose="02020603050405020304" pitchFamily="18" charset="0"/>
                <a:cs typeface="Times New Roman" panose="02020603050405020304" pitchFamily="18" charset="0"/>
              </a:rPr>
              <a:t>≥150MHz</a:t>
            </a:r>
            <a:r>
              <a:rPr lang="zh-CN" altLang="en-US" sz="2000" dirty="0">
                <a:solidFill>
                  <a:schemeClr val="tx1"/>
                </a:solidFill>
                <a:latin typeface="Times New Roman" panose="02020603050405020304" pitchFamily="18" charset="0"/>
                <a:cs typeface="Times New Roman" panose="02020603050405020304" pitchFamily="18" charset="0"/>
              </a:rPr>
              <a:t>，功率增益</a:t>
            </a:r>
            <a:r>
              <a:rPr lang="en-US" altLang="zh-CN" sz="2000" dirty="0">
                <a:solidFill>
                  <a:schemeClr val="tx1"/>
                </a:solidFill>
                <a:latin typeface="Times New Roman" panose="02020603050405020304" pitchFamily="18" charset="0"/>
                <a:cs typeface="Times New Roman" panose="02020603050405020304" pitchFamily="18" charset="0"/>
              </a:rPr>
              <a:t>A</a:t>
            </a:r>
            <a:r>
              <a:rPr lang="en-US" altLang="zh-CN" sz="2000" baseline="-30000" dirty="0">
                <a:solidFill>
                  <a:schemeClr val="tx1"/>
                </a:solidFill>
                <a:latin typeface="Times New Roman" panose="02020603050405020304" pitchFamily="18" charset="0"/>
                <a:cs typeface="Times New Roman" panose="02020603050405020304" pitchFamily="18" charset="0"/>
              </a:rPr>
              <a:t>p</a:t>
            </a:r>
            <a:r>
              <a:rPr lang="en-US" altLang="zh-CN" sz="2000" dirty="0">
                <a:solidFill>
                  <a:schemeClr val="tx1"/>
                </a:solidFill>
                <a:latin typeface="Times New Roman" panose="02020603050405020304" pitchFamily="18" charset="0"/>
                <a:cs typeface="Times New Roman" panose="02020603050405020304" pitchFamily="18" charset="0"/>
              </a:rPr>
              <a:t>≥13dB</a:t>
            </a:r>
            <a:r>
              <a:rPr lang="zh-CN" altLang="en-US" sz="2000" dirty="0">
                <a:solidFill>
                  <a:schemeClr val="tx1"/>
                </a:solidFill>
                <a:latin typeface="Times New Roman" panose="02020603050405020304" pitchFamily="18" charset="0"/>
                <a:cs typeface="Times New Roman" panose="02020603050405020304" pitchFamily="18" charset="0"/>
              </a:rPr>
              <a:t>，管子允许通过的最大电流</a:t>
            </a:r>
            <a:r>
              <a:rPr lang="en-US" altLang="zh-CN" sz="2000" dirty="0" err="1">
                <a:solidFill>
                  <a:schemeClr val="tx1"/>
                </a:solidFill>
                <a:latin typeface="Times New Roman" panose="02020603050405020304" pitchFamily="18" charset="0"/>
                <a:cs typeface="Times New Roman" panose="02020603050405020304" pitchFamily="18" charset="0"/>
              </a:rPr>
              <a:t>I</a:t>
            </a:r>
            <a:r>
              <a:rPr lang="en-US" altLang="zh-CN" sz="2000" baseline="-30000" dirty="0" err="1">
                <a:solidFill>
                  <a:schemeClr val="tx1"/>
                </a:solidFill>
                <a:latin typeface="Times New Roman" panose="02020603050405020304" pitchFamily="18" charset="0"/>
                <a:cs typeface="Times New Roman" panose="02020603050405020304" pitchFamily="18" charset="0"/>
              </a:rPr>
              <a:t>cM</a:t>
            </a:r>
            <a:r>
              <a:rPr lang="en-US" altLang="zh-CN" sz="2000" dirty="0">
                <a:solidFill>
                  <a:schemeClr val="tx1"/>
                </a:solidFill>
                <a:latin typeface="Times New Roman" panose="02020603050405020304" pitchFamily="18" charset="0"/>
                <a:cs typeface="Times New Roman" panose="02020603050405020304" pitchFamily="18" charset="0"/>
              </a:rPr>
              <a:t>=3A</a:t>
            </a:r>
            <a:r>
              <a:rPr lang="zh-CN" altLang="en-US" sz="2000" dirty="0">
                <a:solidFill>
                  <a:schemeClr val="tx1"/>
                </a:solidFill>
                <a:latin typeface="Times New Roman" panose="02020603050405020304" pitchFamily="18" charset="0"/>
                <a:cs typeface="Times New Roman" panose="02020603050405020304" pitchFamily="18" charset="0"/>
              </a:rPr>
              <a:t>，最大集电极功耗为</a:t>
            </a:r>
            <a:r>
              <a:rPr lang="en-US" altLang="zh-CN" sz="2000" dirty="0">
                <a:solidFill>
                  <a:schemeClr val="tx1"/>
                </a:solidFill>
                <a:latin typeface="Times New Roman" panose="02020603050405020304" pitchFamily="18" charset="0"/>
                <a:cs typeface="Times New Roman" panose="02020603050405020304" pitchFamily="18" charset="0"/>
              </a:rPr>
              <a:t>P</a:t>
            </a:r>
            <a:r>
              <a:rPr lang="en-US" altLang="zh-CN" sz="2000" baseline="-30000" dirty="0">
                <a:solidFill>
                  <a:schemeClr val="tx1"/>
                </a:solidFill>
                <a:latin typeface="Times New Roman" panose="02020603050405020304" pitchFamily="18" charset="0"/>
                <a:cs typeface="Times New Roman" panose="02020603050405020304" pitchFamily="18" charset="0"/>
              </a:rPr>
              <a:t>c max</a:t>
            </a:r>
            <a:r>
              <a:rPr lang="en-US" altLang="zh-CN" sz="2000" dirty="0">
                <a:solidFill>
                  <a:schemeClr val="tx1"/>
                </a:solidFill>
                <a:latin typeface="Times New Roman" panose="02020603050405020304" pitchFamily="18" charset="0"/>
                <a:cs typeface="Times New Roman" panose="02020603050405020304" pitchFamily="18" charset="0"/>
              </a:rPr>
              <a:t>=5W</a:t>
            </a:r>
            <a:r>
              <a:rPr lang="zh-CN" altLang="en-US" sz="2000" dirty="0">
                <a:solidFill>
                  <a:schemeClr val="tx1"/>
                </a:solidFill>
                <a:latin typeface="Times New Roman" panose="02020603050405020304" pitchFamily="18" charset="0"/>
                <a:cs typeface="Times New Roman" panose="02020603050405020304" pitchFamily="18" charset="0"/>
              </a:rPr>
              <a:t>。管子的</a:t>
            </a:r>
            <a:r>
              <a:rPr lang="en-US" altLang="zh-CN" sz="2000" dirty="0">
                <a:solidFill>
                  <a:schemeClr val="tx1"/>
                </a:solidFill>
                <a:latin typeface="Times New Roman" panose="02020603050405020304" pitchFamily="18" charset="0"/>
                <a:cs typeface="Times New Roman" panose="02020603050405020304" pitchFamily="18" charset="0"/>
              </a:rPr>
              <a:t>V</a:t>
            </a:r>
            <a:r>
              <a:rPr lang="en-US" altLang="zh-CN" sz="2000" baseline="-30000" dirty="0">
                <a:solidFill>
                  <a:schemeClr val="tx1"/>
                </a:solidFill>
                <a:latin typeface="Times New Roman" panose="02020603050405020304" pitchFamily="18" charset="0"/>
                <a:cs typeface="Times New Roman" panose="02020603050405020304" pitchFamily="18" charset="0"/>
              </a:rPr>
              <a:t>BZ</a:t>
            </a:r>
            <a:r>
              <a:rPr lang="en-US" altLang="zh-CN" sz="2000" dirty="0">
                <a:solidFill>
                  <a:schemeClr val="tx1"/>
                </a:solidFill>
                <a:latin typeface="Times New Roman" panose="02020603050405020304" pitchFamily="18" charset="0"/>
                <a:cs typeface="Times New Roman" panose="02020603050405020304" pitchFamily="18" charset="0"/>
              </a:rPr>
              <a:t>=0.6V</a:t>
            </a:r>
            <a:r>
              <a:rPr lang="zh-CN" altLang="en-US" sz="2000" dirty="0">
                <a:solidFill>
                  <a:schemeClr val="tx1"/>
                </a:solidFill>
                <a:latin typeface="Times New Roman" panose="02020603050405020304" pitchFamily="18" charset="0"/>
                <a:cs typeface="Times New Roman" panose="02020603050405020304" pitchFamily="18" charset="0"/>
              </a:rPr>
              <a:t>，放大器的负偏置</a:t>
            </a:r>
            <a:r>
              <a:rPr lang="zh-CN" altLang="en-US" sz="200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000" dirty="0">
                <a:solidFill>
                  <a:schemeClr val="tx1"/>
                </a:solidFill>
                <a:latin typeface="Times New Roman" panose="02020603050405020304" pitchFamily="18" charset="0"/>
                <a:cs typeface="Times New Roman" panose="02020603050405020304" pitchFamily="18" charset="0"/>
              </a:rPr>
              <a:t>V</a:t>
            </a:r>
            <a:r>
              <a:rPr lang="en-US" altLang="zh-CN" sz="2000" baseline="-3000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BB</a:t>
            </a:r>
            <a:r>
              <a:rPr lang="en-US" altLang="zh-CN" sz="200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000" dirty="0">
                <a:solidFill>
                  <a:schemeClr val="tx1"/>
                </a:solidFill>
                <a:latin typeface="Times New Roman" panose="02020603050405020304" pitchFamily="18" charset="0"/>
                <a:cs typeface="Times New Roman" panose="02020603050405020304" pitchFamily="18" charset="0"/>
              </a:rPr>
              <a:t>=1.4V</a:t>
            </a:r>
            <a:r>
              <a:rPr lang="zh-CN" altLang="en-US" sz="200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000" baseline="-30000" dirty="0">
                <a:solidFill>
                  <a:schemeClr val="tx1"/>
                </a:solidFill>
                <a:latin typeface="Times New Roman" panose="02020603050405020304" pitchFamily="18" charset="0"/>
                <a:cs typeface="Times New Roman" panose="02020603050405020304" pitchFamily="18" charset="0"/>
              </a:rPr>
              <a:t>c</a:t>
            </a:r>
            <a:r>
              <a:rPr lang="en-US" altLang="zh-CN" sz="200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=70</a:t>
            </a:r>
            <a:r>
              <a:rPr lang="zh-CN" altLang="en-US" sz="2000" dirty="0">
                <a:solidFill>
                  <a:schemeClr val="tx1"/>
                </a:solidFill>
                <a:latin typeface="Times New Roman" panose="02020603050405020304" pitchFamily="18" charset="0"/>
                <a:cs typeface="Times New Roman" panose="02020603050405020304" pitchFamily="18" charset="0"/>
              </a:rPr>
              <a:t>，</a:t>
            </a:r>
            <a:r>
              <a:rPr lang="en-US" altLang="zh-CN" sz="200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V</a:t>
            </a:r>
            <a:r>
              <a:rPr lang="en-US" altLang="zh-CN" sz="2000" baseline="-3000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CC</a:t>
            </a:r>
            <a:r>
              <a:rPr lang="en-US" altLang="zh-CN" sz="200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=24V</a:t>
            </a:r>
            <a:r>
              <a:rPr lang="zh-CN" altLang="en-US" sz="200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000" dirty="0">
                <a:solidFill>
                  <a:schemeClr val="tx1"/>
                </a:solidFill>
                <a:latin typeface="Times New Roman" panose="02020603050405020304" pitchFamily="18" charset="0"/>
                <a:cs typeface="Times New Roman" panose="02020603050405020304" pitchFamily="18" charset="0"/>
              </a:rPr>
              <a:t>= 0.9</a:t>
            </a:r>
            <a:r>
              <a:rPr lang="zh-CN" altLang="en-US" sz="200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，试计算放大器的各参数。</a:t>
            </a:r>
          </a:p>
        </p:txBody>
      </p:sp>
      <p:graphicFrame>
        <p:nvGraphicFramePr>
          <p:cNvPr id="6" name="Object 5">
            <a:extLst>
              <a:ext uri="{FF2B5EF4-FFF2-40B4-BE49-F238E27FC236}">
                <a16:creationId xmlns:a16="http://schemas.microsoft.com/office/drawing/2014/main" xmlns="" id="{42505981-6C6C-354F-A375-2385D3960778}"/>
              </a:ext>
            </a:extLst>
          </p:cNvPr>
          <p:cNvGraphicFramePr>
            <a:graphicFrameLocks/>
          </p:cNvGraphicFramePr>
          <p:nvPr>
            <p:extLst>
              <p:ext uri="{D42A27DB-BD31-4B8C-83A1-F6EECF244321}">
                <p14:modId xmlns:p14="http://schemas.microsoft.com/office/powerpoint/2010/main" val="505413820"/>
              </p:ext>
            </p:extLst>
          </p:nvPr>
        </p:nvGraphicFramePr>
        <p:xfrm>
          <a:off x="354756" y="3254757"/>
          <a:ext cx="2109583" cy="2192731"/>
        </p:xfrm>
        <a:graphic>
          <a:graphicData uri="http://schemas.openxmlformats.org/presentationml/2006/ole">
            <mc:AlternateContent xmlns:mc="http://schemas.openxmlformats.org/markup-compatibility/2006">
              <mc:Choice xmlns:v="urn:schemas-microsoft-com:vml" Requires="v">
                <p:oleObj spid="_x0000_s97323" r:id="rId3" imgW="1333500" imgH="1362456" progId="Word.Picture.8">
                  <p:embed/>
                </p:oleObj>
              </mc:Choice>
              <mc:Fallback>
                <p:oleObj r:id="rId3" imgW="1333500" imgH="1362456" progId="Word.Picture.8">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4756" y="3254757"/>
                        <a:ext cx="2109583" cy="2192731"/>
                      </a:xfrm>
                      <a:prstGeom prst="rect">
                        <a:avLst/>
                      </a:prstGeom>
                      <a:noFill/>
                      <a:ln>
                        <a:noFill/>
                      </a:ln>
                      <a:extLst/>
                    </p:spPr>
                  </p:pic>
                </p:oleObj>
              </mc:Fallback>
            </mc:AlternateContent>
          </a:graphicData>
        </a:graphic>
      </p:graphicFrame>
    </p:spTree>
    <p:extLst>
      <p:ext uri="{BB962C8B-B14F-4D97-AF65-F5344CB8AC3E}">
        <p14:creationId xmlns:p14="http://schemas.microsoft.com/office/powerpoint/2010/main" val="4268205340"/>
      </p:ext>
    </p:extLst>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130</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Rectangle 28">
            <a:extLst>
              <a:ext uri="{FF2B5EF4-FFF2-40B4-BE49-F238E27FC236}">
                <a16:creationId xmlns:a16="http://schemas.microsoft.com/office/drawing/2014/main" xmlns="" id="{E7DCA716-375E-A016-0CCC-46D9F48782F4}"/>
              </a:ext>
            </a:extLst>
          </p:cNvPr>
          <p:cNvSpPr>
            <a:spLocks noChangeArrowheads="1"/>
          </p:cNvSpPr>
          <p:nvPr/>
        </p:nvSpPr>
        <p:spPr bwMode="auto">
          <a:xfrm>
            <a:off x="635000" y="1509042"/>
            <a:ext cx="85090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p>
            <a:pPr algn="just"/>
            <a:r>
              <a:rPr lang="en-US" altLang="zh-CN" sz="2000" dirty="0">
                <a:solidFill>
                  <a:schemeClr val="tx1"/>
                </a:solidFill>
                <a:latin typeface="Times New Roman" panose="02020603050405020304" pitchFamily="18" charset="0"/>
                <a:cs typeface="Times New Roman" panose="02020603050405020304" pitchFamily="18" charset="0"/>
              </a:rPr>
              <a:t>1) </a:t>
            </a:r>
            <a:r>
              <a:rPr lang="zh-CN" altLang="en-US" sz="2000" dirty="0">
                <a:solidFill>
                  <a:schemeClr val="tx1"/>
                </a:solidFill>
                <a:latin typeface="Times New Roman" panose="02020603050405020304" pitchFamily="18" charset="0"/>
                <a:cs typeface="Times New Roman" panose="02020603050405020304" pitchFamily="18" charset="0"/>
              </a:rPr>
              <a:t>根据图可求得转移特性的斜率</a:t>
            </a:r>
            <a:r>
              <a:rPr lang="en-US" altLang="zh-CN" sz="2000" dirty="0" err="1">
                <a:solidFill>
                  <a:schemeClr val="tx1"/>
                </a:solidFill>
                <a:latin typeface="Times New Roman" panose="02020603050405020304" pitchFamily="18" charset="0"/>
                <a:cs typeface="Times New Roman" panose="02020603050405020304" pitchFamily="18" charset="0"/>
              </a:rPr>
              <a:t>gc</a:t>
            </a:r>
            <a:endParaRPr lang="zh-CN" altLang="en-US" sz="2000" dirty="0">
              <a:solidFill>
                <a:schemeClr val="tx1"/>
              </a:solidFill>
              <a:latin typeface="Times New Roman" panose="02020603050405020304" pitchFamily="18" charset="0"/>
              <a:cs typeface="Times New Roman" panose="02020603050405020304" pitchFamily="18" charset="0"/>
              <a:sym typeface="Symbol" panose="05050102010706020507" pitchFamily="18" charset="2"/>
            </a:endParaRPr>
          </a:p>
        </p:txBody>
      </p:sp>
      <p:sp>
        <p:nvSpPr>
          <p:cNvPr id="5" name="Rectangle 23">
            <a:extLst>
              <a:ext uri="{FF2B5EF4-FFF2-40B4-BE49-F238E27FC236}">
                <a16:creationId xmlns:a16="http://schemas.microsoft.com/office/drawing/2014/main" xmlns="" id="{0D26BB1A-F7CC-3A65-BCF9-DA776322D129}"/>
              </a:ext>
            </a:extLst>
          </p:cNvPr>
          <p:cNvSpPr>
            <a:spLocks noChangeArrowheads="1"/>
          </p:cNvSpPr>
          <p:nvPr/>
        </p:nvSpPr>
        <p:spPr bwMode="auto">
          <a:xfrm>
            <a:off x="3717954" y="2076089"/>
            <a:ext cx="3448297" cy="287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eaLnBrk="0" hangingPunct="0"/>
            <a:r>
              <a:rPr lang="en-US" altLang="zh-CN" sz="2800" b="0" baseline="-2500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800" b="0" baseline="-25000" dirty="0">
                <a:solidFill>
                  <a:schemeClr val="tx1"/>
                </a:solidFill>
                <a:latin typeface="Times New Roman" panose="02020603050405020304" pitchFamily="18" charset="0"/>
                <a:cs typeface="Times New Roman" panose="02020603050405020304" pitchFamily="18" charset="0"/>
              </a:rPr>
              <a:t>c</a:t>
            </a:r>
            <a:r>
              <a:rPr lang="en-US" altLang="zh-CN" sz="2800" b="0" baseline="-2500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=70</a:t>
            </a:r>
            <a:r>
              <a:rPr lang="zh-CN" altLang="en-US" sz="2800" b="0" baseline="-25000" dirty="0">
                <a:solidFill>
                  <a:schemeClr val="tx1"/>
                </a:solidFill>
                <a:latin typeface="Times New Roman" panose="02020603050405020304" pitchFamily="18" charset="0"/>
                <a:cs typeface="Times New Roman" panose="02020603050405020304" pitchFamily="18" charset="0"/>
              </a:rPr>
              <a:t>，</a:t>
            </a:r>
            <a:r>
              <a:rPr lang="en-US" altLang="zh-CN" sz="2800" b="0" baseline="-2500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cos70</a:t>
            </a:r>
            <a:r>
              <a:rPr lang="en-US" altLang="zh-CN" sz="2800" b="0" baseline="-25000" dirty="0">
                <a:solidFill>
                  <a:schemeClr val="tx1"/>
                </a:solidFill>
                <a:latin typeface="Times New Roman" panose="02020603050405020304" pitchFamily="18" charset="0"/>
                <a:cs typeface="Times New Roman" panose="02020603050405020304" pitchFamily="18" charset="0"/>
              </a:rPr>
              <a:t>=0.342</a:t>
            </a:r>
            <a:r>
              <a:rPr lang="zh-CN" altLang="en-US" sz="2800" b="0" baseline="-2500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p>
        </p:txBody>
      </p:sp>
      <p:graphicFrame>
        <p:nvGraphicFramePr>
          <p:cNvPr id="6" name="Object 14">
            <a:extLst>
              <a:ext uri="{FF2B5EF4-FFF2-40B4-BE49-F238E27FC236}">
                <a16:creationId xmlns:a16="http://schemas.microsoft.com/office/drawing/2014/main" xmlns="" id="{A1BC1C58-A509-329E-4200-490EB03CF57D}"/>
              </a:ext>
            </a:extLst>
          </p:cNvPr>
          <p:cNvGraphicFramePr>
            <a:graphicFrameLocks/>
          </p:cNvGraphicFramePr>
          <p:nvPr>
            <p:extLst>
              <p:ext uri="{D42A27DB-BD31-4B8C-83A1-F6EECF244321}">
                <p14:modId xmlns:p14="http://schemas.microsoft.com/office/powerpoint/2010/main" val="490294683"/>
              </p:ext>
            </p:extLst>
          </p:nvPr>
        </p:nvGraphicFramePr>
        <p:xfrm>
          <a:off x="1343748" y="1938337"/>
          <a:ext cx="2519363" cy="603250"/>
        </p:xfrm>
        <a:graphic>
          <a:graphicData uri="http://schemas.openxmlformats.org/presentationml/2006/ole">
            <mc:AlternateContent xmlns:mc="http://schemas.openxmlformats.org/markup-compatibility/2006">
              <mc:Choice xmlns:v="urn:schemas-microsoft-com:vml" Requires="v">
                <p:oleObj spid="_x0000_s98470" r:id="rId3" imgW="1587500" imgH="381000" progId="Equation.3">
                  <p:embed/>
                </p:oleObj>
              </mc:Choice>
              <mc:Fallback>
                <p:oleObj r:id="rId3" imgW="1587500" imgH="381000" progId="Equation.3">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43748" y="1938337"/>
                        <a:ext cx="2519363" cy="60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 name="Rectangle 16">
            <a:extLst>
              <a:ext uri="{FF2B5EF4-FFF2-40B4-BE49-F238E27FC236}">
                <a16:creationId xmlns:a16="http://schemas.microsoft.com/office/drawing/2014/main" xmlns="" id="{CB25ACFB-FAE1-20F5-4AE3-F3CD433D0E44}"/>
              </a:ext>
            </a:extLst>
          </p:cNvPr>
          <p:cNvSpPr>
            <a:spLocks noChangeArrowheads="1"/>
          </p:cNvSpPr>
          <p:nvPr/>
        </p:nvSpPr>
        <p:spPr bwMode="auto">
          <a:xfrm>
            <a:off x="498442" y="2460314"/>
            <a:ext cx="1049967"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tabLst>
                <a:tab pos="5249863" algn="r"/>
              </a:tabLst>
              <a:defRPr sz="2400" b="1">
                <a:solidFill>
                  <a:srgbClr val="FFFF00"/>
                </a:solidFill>
                <a:latin typeface="Times New Roman" panose="02020603050405020304" pitchFamily="18" charset="0"/>
                <a:ea typeface="宋体" panose="02010600030101010101" pitchFamily="2" charset="-122"/>
              </a:defRPr>
            </a:lvl1pPr>
            <a:lvl2pPr>
              <a:tabLst>
                <a:tab pos="5249863" algn="r"/>
              </a:tabLst>
              <a:defRPr sz="2400" b="1">
                <a:solidFill>
                  <a:srgbClr val="FFFF00"/>
                </a:solidFill>
                <a:latin typeface="Times New Roman" panose="02020603050405020304" pitchFamily="18" charset="0"/>
                <a:ea typeface="宋体" panose="02010600030101010101" pitchFamily="2" charset="-122"/>
              </a:defRPr>
            </a:lvl2pPr>
            <a:lvl3pPr>
              <a:tabLst>
                <a:tab pos="5249863" algn="r"/>
              </a:tabLst>
              <a:defRPr sz="2400" b="1">
                <a:solidFill>
                  <a:srgbClr val="FFFF00"/>
                </a:solidFill>
                <a:latin typeface="Times New Roman" panose="02020603050405020304" pitchFamily="18" charset="0"/>
                <a:ea typeface="宋体" panose="02010600030101010101" pitchFamily="2" charset="-122"/>
              </a:defRPr>
            </a:lvl3pPr>
            <a:lvl4pPr>
              <a:tabLst>
                <a:tab pos="5249863" algn="r"/>
              </a:tabLst>
              <a:defRPr sz="2400" b="1">
                <a:solidFill>
                  <a:srgbClr val="FFFF00"/>
                </a:solidFill>
                <a:latin typeface="Times New Roman" panose="02020603050405020304" pitchFamily="18" charset="0"/>
                <a:ea typeface="宋体" panose="02010600030101010101" pitchFamily="2" charset="-122"/>
              </a:defRPr>
            </a:lvl4pPr>
            <a:lvl5pPr>
              <a:tabLst>
                <a:tab pos="5249863" algn="r"/>
              </a:tabLst>
              <a:defRPr sz="2400" b="1">
                <a:solidFill>
                  <a:srgbClr val="FFFF00"/>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tabLst>
                <a:tab pos="5249863" algn="r"/>
              </a:tabLst>
              <a:defRPr sz="2400" b="1">
                <a:solidFill>
                  <a:srgbClr val="FFFF00"/>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tabLst>
                <a:tab pos="5249863" algn="r"/>
              </a:tabLst>
              <a:defRPr sz="2400" b="1">
                <a:solidFill>
                  <a:srgbClr val="FFFF00"/>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tabLst>
                <a:tab pos="5249863" algn="r"/>
              </a:tabLst>
              <a:defRPr sz="2400" b="1">
                <a:solidFill>
                  <a:srgbClr val="FFFF00"/>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tabLst>
                <a:tab pos="5249863" algn="r"/>
              </a:tabLst>
              <a:defRPr sz="2400" b="1">
                <a:solidFill>
                  <a:srgbClr val="FFFF00"/>
                </a:solidFill>
                <a:latin typeface="Times New Roman" panose="02020603050405020304" pitchFamily="18" charset="0"/>
                <a:ea typeface="宋体" panose="02010600030101010101" pitchFamily="2" charset="-122"/>
              </a:defRPr>
            </a:lvl9pPr>
          </a:lstStyle>
          <a:p>
            <a:r>
              <a:rPr lang="en-US" altLang="zh-CN" sz="2000" b="0" dirty="0">
                <a:solidFill>
                  <a:schemeClr val="tx1"/>
                </a:solidFill>
                <a:ea typeface="楷体_GB2312" panose="02010609030101010101" pitchFamily="49" charset="-122"/>
                <a:cs typeface="Times New Roman" panose="02020603050405020304" pitchFamily="18" charset="0"/>
              </a:rPr>
              <a:t> </a:t>
            </a:r>
          </a:p>
          <a:p>
            <a:pPr eaLnBrk="0" hangingPunct="0"/>
            <a:r>
              <a:rPr lang="en-US" altLang="zh-CN" sz="2000" b="0" dirty="0">
                <a:solidFill>
                  <a:schemeClr val="tx1"/>
                </a:solidFill>
                <a:ea typeface="楷体_GB2312" panose="02010609030101010101" pitchFamily="49" charset="-122"/>
                <a:cs typeface="Times New Roman" panose="02020603050405020304" pitchFamily="18" charset="0"/>
              </a:rPr>
              <a:t>    </a:t>
            </a:r>
            <a:r>
              <a:rPr lang="en-US" altLang="zh-CN" sz="2000" b="0" dirty="0">
                <a:solidFill>
                  <a:schemeClr val="tx1"/>
                </a:solidFill>
                <a:ea typeface="+mn-ea"/>
                <a:cs typeface="Times New Roman" panose="02020603050405020304" pitchFamily="18" charset="0"/>
              </a:rPr>
              <a:t>2) </a:t>
            </a:r>
            <a:r>
              <a:rPr lang="zh-CN" altLang="en-US" sz="2000" b="0" dirty="0">
                <a:solidFill>
                  <a:schemeClr val="tx1"/>
                </a:solidFill>
                <a:ea typeface="+mn-ea"/>
                <a:cs typeface="Times New Roman" panose="02020603050405020304" pitchFamily="18" charset="0"/>
              </a:rPr>
              <a:t>根据</a:t>
            </a:r>
          </a:p>
        </p:txBody>
      </p:sp>
      <p:graphicFrame>
        <p:nvGraphicFramePr>
          <p:cNvPr id="8" name="对象 7">
            <a:extLst>
              <a:ext uri="{FF2B5EF4-FFF2-40B4-BE49-F238E27FC236}">
                <a16:creationId xmlns:a16="http://schemas.microsoft.com/office/drawing/2014/main" xmlns="" id="{F2AFCE60-2A40-1892-BF52-C09FF22B75E5}"/>
              </a:ext>
            </a:extLst>
          </p:cNvPr>
          <p:cNvGraphicFramePr>
            <a:graphicFrameLocks noChangeAspect="1"/>
          </p:cNvGraphicFramePr>
          <p:nvPr>
            <p:extLst>
              <p:ext uri="{D42A27DB-BD31-4B8C-83A1-F6EECF244321}">
                <p14:modId xmlns:p14="http://schemas.microsoft.com/office/powerpoint/2010/main" val="2973255129"/>
              </p:ext>
            </p:extLst>
          </p:nvPr>
        </p:nvGraphicFramePr>
        <p:xfrm>
          <a:off x="1635054" y="2609067"/>
          <a:ext cx="1936750" cy="644525"/>
        </p:xfrm>
        <a:graphic>
          <a:graphicData uri="http://schemas.openxmlformats.org/presentationml/2006/ole">
            <mc:AlternateContent xmlns:mc="http://schemas.openxmlformats.org/markup-compatibility/2006">
              <mc:Choice xmlns:v="urn:schemas-microsoft-com:vml" Requires="v">
                <p:oleObj spid="_x0000_s98471" name="Equation" r:id="rId5" imgW="1937305" imgH="644783" progId="Equation.DSMT4">
                  <p:embed/>
                </p:oleObj>
              </mc:Choice>
              <mc:Fallback>
                <p:oleObj name="Equation" r:id="rId5" imgW="1937305" imgH="644783" progId="Equation.DSMT4">
                  <p:embed/>
                  <p:pic>
                    <p:nvPicPr>
                      <p:cNvPr id="0" name=""/>
                      <p:cNvPicPr/>
                      <p:nvPr/>
                    </p:nvPicPr>
                    <p:blipFill>
                      <a:blip r:embed="rId6"/>
                      <a:stretch>
                        <a:fillRect/>
                      </a:stretch>
                    </p:blipFill>
                    <p:spPr>
                      <a:xfrm>
                        <a:off x="1635054" y="2609067"/>
                        <a:ext cx="1936750" cy="644525"/>
                      </a:xfrm>
                      <a:prstGeom prst="rect">
                        <a:avLst/>
                      </a:prstGeom>
                    </p:spPr>
                  </p:pic>
                </p:oleObj>
              </mc:Fallback>
            </mc:AlternateContent>
          </a:graphicData>
        </a:graphic>
      </p:graphicFrame>
      <p:sp>
        <p:nvSpPr>
          <p:cNvPr id="9" name="Rectangle 16">
            <a:extLst>
              <a:ext uri="{FF2B5EF4-FFF2-40B4-BE49-F238E27FC236}">
                <a16:creationId xmlns:a16="http://schemas.microsoft.com/office/drawing/2014/main" xmlns="" id="{D6225438-6004-580D-0F75-2E638D09B38D}"/>
              </a:ext>
            </a:extLst>
          </p:cNvPr>
          <p:cNvSpPr>
            <a:spLocks noChangeArrowheads="1"/>
          </p:cNvSpPr>
          <p:nvPr/>
        </p:nvSpPr>
        <p:spPr bwMode="auto">
          <a:xfrm>
            <a:off x="3717954" y="2433195"/>
            <a:ext cx="796693"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tabLst>
                <a:tab pos="5249863" algn="r"/>
              </a:tabLst>
              <a:defRPr sz="2400" b="1">
                <a:solidFill>
                  <a:srgbClr val="FFFF00"/>
                </a:solidFill>
                <a:latin typeface="Times New Roman" panose="02020603050405020304" pitchFamily="18" charset="0"/>
                <a:ea typeface="宋体" panose="02010600030101010101" pitchFamily="2" charset="-122"/>
              </a:defRPr>
            </a:lvl1pPr>
            <a:lvl2pPr>
              <a:tabLst>
                <a:tab pos="5249863" algn="r"/>
              </a:tabLst>
              <a:defRPr sz="2400" b="1">
                <a:solidFill>
                  <a:srgbClr val="FFFF00"/>
                </a:solidFill>
                <a:latin typeface="Times New Roman" panose="02020603050405020304" pitchFamily="18" charset="0"/>
                <a:ea typeface="宋体" panose="02010600030101010101" pitchFamily="2" charset="-122"/>
              </a:defRPr>
            </a:lvl2pPr>
            <a:lvl3pPr>
              <a:tabLst>
                <a:tab pos="5249863" algn="r"/>
              </a:tabLst>
              <a:defRPr sz="2400" b="1">
                <a:solidFill>
                  <a:srgbClr val="FFFF00"/>
                </a:solidFill>
                <a:latin typeface="Times New Roman" panose="02020603050405020304" pitchFamily="18" charset="0"/>
                <a:ea typeface="宋体" panose="02010600030101010101" pitchFamily="2" charset="-122"/>
              </a:defRPr>
            </a:lvl3pPr>
            <a:lvl4pPr>
              <a:tabLst>
                <a:tab pos="5249863" algn="r"/>
              </a:tabLst>
              <a:defRPr sz="2400" b="1">
                <a:solidFill>
                  <a:srgbClr val="FFFF00"/>
                </a:solidFill>
                <a:latin typeface="Times New Roman" panose="02020603050405020304" pitchFamily="18" charset="0"/>
                <a:ea typeface="宋体" panose="02010600030101010101" pitchFamily="2" charset="-122"/>
              </a:defRPr>
            </a:lvl4pPr>
            <a:lvl5pPr>
              <a:tabLst>
                <a:tab pos="5249863" algn="r"/>
              </a:tabLst>
              <a:defRPr sz="2400" b="1">
                <a:solidFill>
                  <a:srgbClr val="FFFF00"/>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tabLst>
                <a:tab pos="5249863" algn="r"/>
              </a:tabLst>
              <a:defRPr sz="2400" b="1">
                <a:solidFill>
                  <a:srgbClr val="FFFF00"/>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tabLst>
                <a:tab pos="5249863" algn="r"/>
              </a:tabLst>
              <a:defRPr sz="2400" b="1">
                <a:solidFill>
                  <a:srgbClr val="FFFF00"/>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tabLst>
                <a:tab pos="5249863" algn="r"/>
              </a:tabLst>
              <a:defRPr sz="2400" b="1">
                <a:solidFill>
                  <a:srgbClr val="FFFF00"/>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tabLst>
                <a:tab pos="5249863" algn="r"/>
              </a:tabLst>
              <a:defRPr sz="2400" b="1">
                <a:solidFill>
                  <a:srgbClr val="FFFF00"/>
                </a:solidFill>
                <a:latin typeface="Times New Roman" panose="02020603050405020304" pitchFamily="18" charset="0"/>
                <a:ea typeface="宋体" panose="02010600030101010101" pitchFamily="2" charset="-122"/>
              </a:defRPr>
            </a:lvl9pPr>
          </a:lstStyle>
          <a:p>
            <a:r>
              <a:rPr lang="en-US" altLang="zh-CN" sz="2000" b="0" dirty="0">
                <a:solidFill>
                  <a:schemeClr val="tx1"/>
                </a:solidFill>
                <a:ea typeface="楷体_GB2312" panose="02010609030101010101" pitchFamily="49" charset="-122"/>
                <a:cs typeface="Times New Roman" panose="02020603050405020304" pitchFamily="18" charset="0"/>
              </a:rPr>
              <a:t> </a:t>
            </a:r>
          </a:p>
          <a:p>
            <a:r>
              <a:rPr lang="zh-CN" altLang="en-US" sz="2000" b="0" dirty="0">
                <a:solidFill>
                  <a:schemeClr val="tx1"/>
                </a:solidFill>
                <a:ea typeface="+mn-ea"/>
                <a:cs typeface="Times New Roman" panose="02020603050405020304" pitchFamily="18" charset="0"/>
              </a:rPr>
              <a:t>求得</a:t>
            </a:r>
            <a:r>
              <a:rPr lang="en-US" altLang="zh-CN" sz="2000" b="0" dirty="0" err="1">
                <a:solidFill>
                  <a:schemeClr val="tx1"/>
                </a:solidFill>
                <a:ea typeface="+mn-ea"/>
                <a:cs typeface="Times New Roman" panose="02020603050405020304" pitchFamily="18" charset="0"/>
              </a:rPr>
              <a:t>V</a:t>
            </a:r>
            <a:r>
              <a:rPr lang="en-US" altLang="zh-CN" sz="2000" b="0" baseline="-30000" dirty="0" err="1">
                <a:solidFill>
                  <a:schemeClr val="tx1"/>
                </a:solidFill>
                <a:ea typeface="+mn-ea"/>
                <a:cs typeface="Times New Roman" panose="02020603050405020304" pitchFamily="18" charset="0"/>
              </a:rPr>
              <a:t>b</a:t>
            </a:r>
            <a:endParaRPr lang="en-US" altLang="zh-CN" sz="2000" b="0" baseline="-25000" dirty="0">
              <a:solidFill>
                <a:schemeClr val="tx1"/>
              </a:solidFill>
              <a:ea typeface="+mn-ea"/>
              <a:cs typeface="Times New Roman" panose="02020603050405020304" pitchFamily="18" charset="0"/>
            </a:endParaRPr>
          </a:p>
          <a:p>
            <a:pPr eaLnBrk="0" hangingPunct="0"/>
            <a:endParaRPr lang="zh-CN" altLang="en-US" sz="2000" b="0" dirty="0">
              <a:solidFill>
                <a:schemeClr val="tx1"/>
              </a:solidFill>
              <a:ea typeface="+mn-ea"/>
              <a:cs typeface="Times New Roman" panose="02020603050405020304" pitchFamily="18" charset="0"/>
            </a:endParaRPr>
          </a:p>
        </p:txBody>
      </p:sp>
      <p:graphicFrame>
        <p:nvGraphicFramePr>
          <p:cNvPr id="10" name="对象 9">
            <a:extLst>
              <a:ext uri="{FF2B5EF4-FFF2-40B4-BE49-F238E27FC236}">
                <a16:creationId xmlns:a16="http://schemas.microsoft.com/office/drawing/2014/main" xmlns="" id="{833322F1-3757-2E23-8075-6E74AEC1F398}"/>
              </a:ext>
            </a:extLst>
          </p:cNvPr>
          <p:cNvGraphicFramePr>
            <a:graphicFrameLocks noChangeAspect="1"/>
          </p:cNvGraphicFramePr>
          <p:nvPr>
            <p:extLst>
              <p:ext uri="{D42A27DB-BD31-4B8C-83A1-F6EECF244321}">
                <p14:modId xmlns:p14="http://schemas.microsoft.com/office/powerpoint/2010/main" val="3844154890"/>
              </p:ext>
            </p:extLst>
          </p:nvPr>
        </p:nvGraphicFramePr>
        <p:xfrm>
          <a:off x="4685905" y="2607399"/>
          <a:ext cx="2169072" cy="625557"/>
        </p:xfrm>
        <a:graphic>
          <a:graphicData uri="http://schemas.openxmlformats.org/presentationml/2006/ole">
            <mc:AlternateContent xmlns:mc="http://schemas.openxmlformats.org/markup-compatibility/2006">
              <mc:Choice xmlns:v="urn:schemas-microsoft-com:vml" Requires="v">
                <p:oleObj spid="_x0000_s98472" name="Equation" r:id="rId7" imgW="1943065" imgH="560900" progId="Equation.DSMT4">
                  <p:embed/>
                </p:oleObj>
              </mc:Choice>
              <mc:Fallback>
                <p:oleObj name="Equation" r:id="rId7" imgW="1943065" imgH="560900" progId="Equation.DSMT4">
                  <p:embed/>
                  <p:pic>
                    <p:nvPicPr>
                      <p:cNvPr id="0" name=""/>
                      <p:cNvPicPr/>
                      <p:nvPr/>
                    </p:nvPicPr>
                    <p:blipFill>
                      <a:blip r:embed="rId8"/>
                      <a:stretch>
                        <a:fillRect/>
                      </a:stretch>
                    </p:blipFill>
                    <p:spPr>
                      <a:xfrm>
                        <a:off x="4685905" y="2607399"/>
                        <a:ext cx="2169072" cy="625557"/>
                      </a:xfrm>
                      <a:prstGeom prst="rect">
                        <a:avLst/>
                      </a:prstGeom>
                    </p:spPr>
                  </p:pic>
                </p:oleObj>
              </mc:Fallback>
            </mc:AlternateContent>
          </a:graphicData>
        </a:graphic>
      </p:graphicFrame>
      <p:sp>
        <p:nvSpPr>
          <p:cNvPr id="11" name="Rectangle 18">
            <a:extLst>
              <a:ext uri="{FF2B5EF4-FFF2-40B4-BE49-F238E27FC236}">
                <a16:creationId xmlns:a16="http://schemas.microsoft.com/office/drawing/2014/main" xmlns="" id="{0FEC6CD3-F20B-D35D-BFB7-3C4DD85E56F9}"/>
              </a:ext>
            </a:extLst>
          </p:cNvPr>
          <p:cNvSpPr/>
          <p:nvPr/>
        </p:nvSpPr>
        <p:spPr>
          <a:xfrm>
            <a:off x="508661" y="3530008"/>
            <a:ext cx="4943661" cy="615553"/>
          </a:xfrm>
          <a:prstGeom prst="rect">
            <a:avLst/>
          </a:prstGeom>
          <a:noFill/>
          <a:ln w="9525">
            <a:noFill/>
          </a:ln>
        </p:spPr>
        <p:txBody>
          <a:bodyPr wrap="none" lIns="0" tIns="0" rIns="0" bIns="0" anchor="ctr">
            <a:spAutoFit/>
          </a:bodyPr>
          <a:lstStyle/>
          <a:p>
            <a:pPr>
              <a:tabLst>
                <a:tab pos="5250180" algn="r"/>
              </a:tabLst>
            </a:pPr>
            <a:r>
              <a:rPr lang="en-US" altLang="zh-CN" sz="2000" noProof="1">
                <a:solidFill>
                  <a:schemeClr val="tx1"/>
                </a:solidFill>
                <a:latin typeface="Times New Roman" panose="02020603050405020304" pitchFamily="18" charset="0"/>
                <a:cs typeface="Times New Roman" panose="02020603050405020304" pitchFamily="18" charset="0"/>
              </a:rPr>
              <a:t>    3) </a:t>
            </a:r>
            <a:r>
              <a:rPr lang="zh-CN" altLang="en-US" sz="2000" noProof="1">
                <a:solidFill>
                  <a:schemeClr val="tx1"/>
                </a:solidFill>
                <a:latin typeface="Times New Roman" panose="02020603050405020304" pitchFamily="18" charset="0"/>
                <a:cs typeface="Times New Roman" panose="02020603050405020304" pitchFamily="18" charset="0"/>
              </a:rPr>
              <a:t>根据</a:t>
            </a:r>
            <a:r>
              <a:rPr lang="en-US" altLang="zh-CN" sz="2000" i="1" noProof="1">
                <a:solidFill>
                  <a:schemeClr val="tx1"/>
                </a:solidFill>
                <a:latin typeface="Times New Roman" panose="02020603050405020304" pitchFamily="18" charset="0"/>
                <a:cs typeface="Times New Roman" panose="02020603050405020304" pitchFamily="18" charset="0"/>
              </a:rPr>
              <a:t>i</a:t>
            </a:r>
            <a:r>
              <a:rPr lang="en-US" altLang="zh-CN" sz="2000" baseline="-30000" noProof="1">
                <a:solidFill>
                  <a:schemeClr val="tx1"/>
                </a:solidFill>
                <a:latin typeface="Times New Roman" panose="02020603050405020304" pitchFamily="18" charset="0"/>
                <a:cs typeface="Times New Roman" panose="02020603050405020304" pitchFamily="18" charset="0"/>
              </a:rPr>
              <a:t>c max</a:t>
            </a:r>
            <a:r>
              <a:rPr lang="en-US" altLang="zh-CN" sz="2000" baseline="-25000" noProof="1">
                <a:solidFill>
                  <a:schemeClr val="tx1"/>
                </a:solidFill>
                <a:latin typeface="Times New Roman" panose="02020603050405020304" pitchFamily="18" charset="0"/>
                <a:cs typeface="Times New Roman" panose="02020603050405020304" pitchFamily="18" charset="0"/>
              </a:rPr>
              <a:t>=</a:t>
            </a:r>
            <a:r>
              <a:rPr lang="en-US" altLang="zh-CN" sz="2000" noProof="1">
                <a:solidFill>
                  <a:schemeClr val="tx1"/>
                </a:solidFill>
                <a:latin typeface="Times New Roman" panose="02020603050405020304" pitchFamily="18" charset="0"/>
                <a:cs typeface="Times New Roman" panose="02020603050405020304" pitchFamily="18" charset="0"/>
              </a:rPr>
              <a:t>g</a:t>
            </a:r>
            <a:r>
              <a:rPr lang="en-US" altLang="zh-CN" sz="2000" baseline="-30000" noProof="1">
                <a:solidFill>
                  <a:schemeClr val="tx1"/>
                </a:solidFill>
                <a:latin typeface="Times New Roman" panose="02020603050405020304" pitchFamily="18" charset="0"/>
                <a:cs typeface="Times New Roman" panose="02020603050405020304" pitchFamily="18" charset="0"/>
              </a:rPr>
              <a:t>c</a:t>
            </a:r>
            <a:r>
              <a:rPr lang="en-US" altLang="zh-CN" sz="2000" noProof="1">
                <a:solidFill>
                  <a:schemeClr val="tx1"/>
                </a:solidFill>
                <a:latin typeface="Times New Roman" panose="02020603050405020304" pitchFamily="18" charset="0"/>
                <a:cs typeface="Times New Roman" panose="02020603050405020304" pitchFamily="18" charset="0"/>
              </a:rPr>
              <a:t>V</a:t>
            </a:r>
            <a:r>
              <a:rPr lang="en-US" altLang="zh-CN" sz="2000" baseline="-30000" noProof="1">
                <a:solidFill>
                  <a:schemeClr val="tx1"/>
                </a:solidFill>
                <a:latin typeface="Times New Roman" panose="02020603050405020304" pitchFamily="18" charset="0"/>
                <a:cs typeface="Times New Roman" panose="02020603050405020304" pitchFamily="18" charset="0"/>
              </a:rPr>
              <a:t>b</a:t>
            </a:r>
            <a:r>
              <a:rPr lang="en-US" altLang="zh-CN" sz="2000" noProof="1">
                <a:solidFill>
                  <a:schemeClr val="tx1"/>
                </a:solidFill>
                <a:latin typeface="Times New Roman" panose="02020603050405020304" pitchFamily="18" charset="0"/>
                <a:cs typeface="Times New Roman" panose="02020603050405020304" pitchFamily="18" charset="0"/>
              </a:rPr>
              <a:t>(1–cos</a:t>
            </a:r>
            <a:r>
              <a:rPr lang="en-US" altLang="zh-CN" sz="2000" noProof="1">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000" noProof="1">
                <a:solidFill>
                  <a:schemeClr val="tx1"/>
                </a:solidFill>
                <a:latin typeface="Times New Roman" panose="02020603050405020304" pitchFamily="18" charset="0"/>
                <a:cs typeface="Times New Roman" panose="02020603050405020304" pitchFamily="18" charset="0"/>
              </a:rPr>
              <a:t>c</a:t>
            </a:r>
            <a:r>
              <a:rPr lang="en-US" altLang="zh-CN" sz="2000" noProof="1">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zh-CN" altLang="en-US" sz="2000" noProof="1">
                <a:solidFill>
                  <a:schemeClr val="tx1"/>
                </a:solidFill>
                <a:latin typeface="Times New Roman" panose="02020603050405020304" pitchFamily="18" charset="0"/>
                <a:cs typeface="Times New Roman" panose="02020603050405020304" pitchFamily="18" charset="0"/>
                <a:sym typeface="Symbol" panose="05050102010706020507" pitchFamily="18" charset="2"/>
              </a:rPr>
              <a:t>求得</a:t>
            </a:r>
            <a:r>
              <a:rPr lang="en-US" altLang="zh-CN" sz="2000" i="1" noProof="1">
                <a:solidFill>
                  <a:schemeClr val="tx1"/>
                </a:solidFill>
                <a:latin typeface="Times New Roman" panose="02020603050405020304" pitchFamily="18" charset="0"/>
                <a:cs typeface="Times New Roman" panose="02020603050405020304" pitchFamily="18" charset="0"/>
                <a:sym typeface="Symbol" panose="05050102010706020507" pitchFamily="18" charset="2"/>
              </a:rPr>
              <a:t>i</a:t>
            </a:r>
            <a:r>
              <a:rPr lang="en-US" altLang="zh-CN" sz="2000" baseline="-30000" noProof="1">
                <a:solidFill>
                  <a:schemeClr val="tx1"/>
                </a:solidFill>
                <a:latin typeface="Times New Roman" panose="02020603050405020304" pitchFamily="18" charset="0"/>
                <a:cs typeface="Times New Roman" panose="02020603050405020304" pitchFamily="18" charset="0"/>
                <a:sym typeface="Symbol" panose="05050102010706020507" pitchFamily="18" charset="2"/>
              </a:rPr>
              <a:t>c max</a:t>
            </a:r>
            <a:r>
              <a:rPr lang="zh-CN" altLang="en-US" sz="2000" baseline="-25000" noProof="1">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000" noProof="1">
                <a:solidFill>
                  <a:schemeClr val="tx1"/>
                </a:solidFill>
                <a:latin typeface="Times New Roman" panose="02020603050405020304" pitchFamily="18" charset="0"/>
                <a:cs typeface="Times New Roman" panose="02020603050405020304" pitchFamily="18" charset="0"/>
                <a:sym typeface="Symbol" panose="05050102010706020507" pitchFamily="18" charset="2"/>
              </a:rPr>
              <a:t>I</a:t>
            </a:r>
            <a:r>
              <a:rPr lang="en-US" altLang="zh-CN" sz="2000" baseline="-30000" noProof="1">
                <a:solidFill>
                  <a:schemeClr val="tx1"/>
                </a:solidFill>
                <a:latin typeface="Times New Roman" panose="02020603050405020304" pitchFamily="18" charset="0"/>
                <a:cs typeface="Times New Roman" panose="02020603050405020304" pitchFamily="18" charset="0"/>
                <a:sym typeface="Symbol" panose="05050102010706020507" pitchFamily="18" charset="2"/>
              </a:rPr>
              <a:t>c1</a:t>
            </a:r>
            <a:r>
              <a:rPr lang="zh-CN" altLang="en-US" sz="2000" baseline="-25000" noProof="1">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000" noProof="1">
                <a:solidFill>
                  <a:schemeClr val="tx1"/>
                </a:solidFill>
                <a:latin typeface="Times New Roman" panose="02020603050405020304" pitchFamily="18" charset="0"/>
                <a:cs typeface="Times New Roman" panose="02020603050405020304" pitchFamily="18" charset="0"/>
                <a:sym typeface="Symbol" panose="05050102010706020507" pitchFamily="18" charset="2"/>
              </a:rPr>
              <a:t>I</a:t>
            </a:r>
            <a:r>
              <a:rPr lang="en-US" altLang="zh-CN" sz="2000" baseline="-30000" noProof="1">
                <a:solidFill>
                  <a:schemeClr val="tx1"/>
                </a:solidFill>
                <a:latin typeface="Times New Roman" panose="02020603050405020304" pitchFamily="18" charset="0"/>
                <a:cs typeface="Times New Roman" panose="02020603050405020304" pitchFamily="18" charset="0"/>
                <a:sym typeface="Symbol" panose="05050102010706020507" pitchFamily="18" charset="2"/>
              </a:rPr>
              <a:t>c0</a:t>
            </a:r>
            <a:endParaRPr lang="en-US" altLang="zh-CN" sz="2000" baseline="-25000" noProof="1">
              <a:solidFill>
                <a:schemeClr val="tx1"/>
              </a:solidFill>
              <a:latin typeface="Times New Roman" panose="02020603050405020304" pitchFamily="18" charset="0"/>
              <a:cs typeface="Times New Roman" panose="02020603050405020304" pitchFamily="18" charset="0"/>
              <a:sym typeface="Symbol" panose="05050102010706020507" pitchFamily="18" charset="2"/>
            </a:endParaRPr>
          </a:p>
          <a:p>
            <a:pPr eaLnBrk="0" hangingPunct="0">
              <a:tabLst>
                <a:tab pos="5250180" algn="r"/>
              </a:tabLst>
            </a:pPr>
            <a:r>
              <a:rPr lang="en-US" altLang="zh-CN" sz="2000" noProof="1">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p>
        </p:txBody>
      </p:sp>
      <p:graphicFrame>
        <p:nvGraphicFramePr>
          <p:cNvPr id="12" name="对象 11">
            <a:extLst>
              <a:ext uri="{FF2B5EF4-FFF2-40B4-BE49-F238E27FC236}">
                <a16:creationId xmlns:a16="http://schemas.microsoft.com/office/drawing/2014/main" xmlns="" id="{FE0955F8-6BBE-27C1-63D5-D11E92404B3A}"/>
              </a:ext>
            </a:extLst>
          </p:cNvPr>
          <p:cNvGraphicFramePr>
            <a:graphicFrameLocks noChangeAspect="1"/>
          </p:cNvGraphicFramePr>
          <p:nvPr>
            <p:extLst>
              <p:ext uri="{D42A27DB-BD31-4B8C-83A1-F6EECF244321}">
                <p14:modId xmlns:p14="http://schemas.microsoft.com/office/powerpoint/2010/main" val="2344856280"/>
              </p:ext>
            </p:extLst>
          </p:nvPr>
        </p:nvGraphicFramePr>
        <p:xfrm>
          <a:off x="1063476" y="3894971"/>
          <a:ext cx="6157912" cy="673100"/>
        </p:xfrm>
        <a:graphic>
          <a:graphicData uri="http://schemas.openxmlformats.org/presentationml/2006/ole">
            <mc:AlternateContent xmlns:mc="http://schemas.openxmlformats.org/markup-compatibility/2006">
              <mc:Choice xmlns:v="urn:schemas-microsoft-com:vml" Requires="v">
                <p:oleObj spid="_x0000_s98473" name="Equation" r:id="rId9" imgW="6158619" imgH="673584" progId="Equation.DSMT4">
                  <p:embed/>
                </p:oleObj>
              </mc:Choice>
              <mc:Fallback>
                <p:oleObj name="Equation" r:id="rId9" imgW="6158619" imgH="673584" progId="Equation.DSMT4">
                  <p:embed/>
                  <p:pic>
                    <p:nvPicPr>
                      <p:cNvPr id="0" name=""/>
                      <p:cNvPicPr/>
                      <p:nvPr/>
                    </p:nvPicPr>
                    <p:blipFill>
                      <a:blip r:embed="rId10"/>
                      <a:stretch>
                        <a:fillRect/>
                      </a:stretch>
                    </p:blipFill>
                    <p:spPr>
                      <a:xfrm>
                        <a:off x="1063476" y="3894971"/>
                        <a:ext cx="6157912" cy="673100"/>
                      </a:xfrm>
                      <a:prstGeom prst="rect">
                        <a:avLst/>
                      </a:prstGeom>
                    </p:spPr>
                  </p:pic>
                </p:oleObj>
              </mc:Fallback>
            </mc:AlternateContent>
          </a:graphicData>
        </a:graphic>
      </p:graphicFrame>
      <p:sp>
        <p:nvSpPr>
          <p:cNvPr id="13" name="矩形 12">
            <a:extLst>
              <a:ext uri="{FF2B5EF4-FFF2-40B4-BE49-F238E27FC236}">
                <a16:creationId xmlns:a16="http://schemas.microsoft.com/office/drawing/2014/main" xmlns="" id="{89032FE5-99A1-C312-7166-D1F4FB8D366F}"/>
              </a:ext>
            </a:extLst>
          </p:cNvPr>
          <p:cNvSpPr>
            <a:spLocks noChangeArrowheads="1"/>
          </p:cNvSpPr>
          <p:nvPr/>
        </p:nvSpPr>
        <p:spPr bwMode="auto">
          <a:xfrm>
            <a:off x="1277781" y="5144330"/>
            <a:ext cx="423866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Ic0=</a:t>
            </a:r>
            <a:r>
              <a:rPr lang="en-US" altLang="zh-CN" sz="2000" b="0" i="1" dirty="0" err="1">
                <a:solidFill>
                  <a:schemeClr val="tx1"/>
                </a:solidFill>
                <a:latin typeface="Times New Roman" panose="02020603050405020304" pitchFamily="18" charset="0"/>
                <a:cs typeface="Times New Roman" panose="02020603050405020304" pitchFamily="18" charset="0"/>
                <a:sym typeface="Symbol" panose="05050102010706020507" pitchFamily="18" charset="2"/>
              </a:rPr>
              <a:t>i</a:t>
            </a:r>
            <a:r>
              <a:rPr lang="en-US" altLang="zh-CN" sz="2000" b="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 c max</a:t>
            </a:r>
            <a:r>
              <a:rPr lang="en-US" altLang="zh-CN" sz="2000" b="0" dirty="0">
                <a:solidFill>
                  <a:schemeClr val="tx1"/>
                </a:solidFill>
                <a:latin typeface="Times New Roman" panose="02020603050405020304" pitchFamily="18" charset="0"/>
                <a:cs typeface="Times New Roman" panose="02020603050405020304" pitchFamily="18" charset="0"/>
              </a:rPr>
              <a:t>0</a:t>
            </a:r>
            <a:r>
              <a:rPr lang="en-US" altLang="zh-CN" sz="2000" b="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(70</a:t>
            </a:r>
            <a:r>
              <a:rPr lang="en-US" altLang="zh-CN" sz="2000" b="0" dirty="0">
                <a:solidFill>
                  <a:schemeClr val="tx1"/>
                </a:solidFill>
                <a:latin typeface="Times New Roman" panose="02020603050405020304" pitchFamily="18" charset="0"/>
                <a:cs typeface="Times New Roman" panose="02020603050405020304" pitchFamily="18" charset="0"/>
              </a:rPr>
              <a:t>)=2</a:t>
            </a:r>
            <a:r>
              <a:rPr lang="en-US" altLang="zh-CN" sz="2000" b="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000" b="0" dirty="0">
                <a:solidFill>
                  <a:schemeClr val="tx1"/>
                </a:solidFill>
                <a:latin typeface="Times New Roman" panose="02020603050405020304" pitchFamily="18" charset="0"/>
                <a:cs typeface="Times New Roman" panose="02020603050405020304" pitchFamily="18" charset="0"/>
              </a:rPr>
              <a:t>0.253=</a:t>
            </a:r>
            <a:r>
              <a:rPr lang="en-US" altLang="zh-CN" sz="2000" b="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0.506A</a:t>
            </a:r>
            <a:endParaRPr lang="zh-CN" altLang="en-US" sz="2000" b="0" dirty="0">
              <a:solidFill>
                <a:schemeClr val="tx1"/>
              </a:solidFill>
              <a:latin typeface="Times New Roman" panose="02020603050405020304" pitchFamily="18" charset="0"/>
              <a:cs typeface="Times New Roman" panose="02020603050405020304" pitchFamily="18" charset="0"/>
              <a:sym typeface="Symbol" panose="05050102010706020507" pitchFamily="18" charset="2"/>
            </a:endParaRPr>
          </a:p>
        </p:txBody>
      </p:sp>
      <p:sp>
        <p:nvSpPr>
          <p:cNvPr id="14" name="矩形 13">
            <a:extLst>
              <a:ext uri="{FF2B5EF4-FFF2-40B4-BE49-F238E27FC236}">
                <a16:creationId xmlns:a16="http://schemas.microsoft.com/office/drawing/2014/main" xmlns="" id="{17C65CC9-51CF-2C58-8F77-F93BDD3071A9}"/>
              </a:ext>
            </a:extLst>
          </p:cNvPr>
          <p:cNvSpPr>
            <a:spLocks noChangeArrowheads="1"/>
          </p:cNvSpPr>
          <p:nvPr/>
        </p:nvSpPr>
        <p:spPr bwMode="auto">
          <a:xfrm>
            <a:off x="1267561" y="4667142"/>
            <a:ext cx="417454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0" dirty="0">
                <a:solidFill>
                  <a:schemeClr val="tx1"/>
                </a:solidFill>
                <a:latin typeface="Times New Roman" panose="02020603050405020304" pitchFamily="18" charset="0"/>
                <a:cs typeface="Times New Roman" panose="02020603050405020304" pitchFamily="18" charset="0"/>
              </a:rPr>
              <a:t>Ic1=</a:t>
            </a:r>
            <a:r>
              <a:rPr lang="en-US" altLang="zh-CN" sz="2000" b="0" i="1" dirty="0" err="1">
                <a:solidFill>
                  <a:schemeClr val="tx1"/>
                </a:solidFill>
                <a:latin typeface="Times New Roman" panose="02020603050405020304" pitchFamily="18" charset="0"/>
                <a:cs typeface="Times New Roman" panose="02020603050405020304" pitchFamily="18" charset="0"/>
              </a:rPr>
              <a:t>i</a:t>
            </a:r>
            <a:r>
              <a:rPr lang="en-US" altLang="zh-CN" sz="2000" b="0" dirty="0" err="1">
                <a:solidFill>
                  <a:schemeClr val="tx1"/>
                </a:solidFill>
                <a:latin typeface="Times New Roman" panose="02020603050405020304" pitchFamily="18" charset="0"/>
                <a:cs typeface="Times New Roman" panose="02020603050405020304" pitchFamily="18" charset="0"/>
              </a:rPr>
              <a:t>c</a:t>
            </a:r>
            <a:r>
              <a:rPr lang="en-US" altLang="zh-CN" sz="2000" b="0" dirty="0">
                <a:solidFill>
                  <a:schemeClr val="tx1"/>
                </a:solidFill>
                <a:latin typeface="Times New Roman" panose="02020603050405020304" pitchFamily="18" charset="0"/>
                <a:cs typeface="Times New Roman" panose="02020603050405020304" pitchFamily="18" charset="0"/>
              </a:rPr>
              <a:t> max</a:t>
            </a:r>
            <a:r>
              <a:rPr lang="en-US" altLang="zh-CN" sz="2000" b="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000" b="0" dirty="0">
                <a:solidFill>
                  <a:schemeClr val="tx1"/>
                </a:solidFill>
                <a:latin typeface="Times New Roman" panose="02020603050405020304" pitchFamily="18" charset="0"/>
                <a:cs typeface="Times New Roman" panose="02020603050405020304" pitchFamily="18" charset="0"/>
              </a:rPr>
              <a:t>1</a:t>
            </a:r>
            <a:r>
              <a:rPr lang="en-US" altLang="zh-CN" sz="2000" b="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(70</a:t>
            </a:r>
            <a:r>
              <a:rPr lang="en-US" altLang="zh-CN" sz="2000" b="0" dirty="0">
                <a:solidFill>
                  <a:schemeClr val="tx1"/>
                </a:solidFill>
                <a:latin typeface="Times New Roman" panose="02020603050405020304" pitchFamily="18" charset="0"/>
                <a:cs typeface="Times New Roman" panose="02020603050405020304" pitchFamily="18" charset="0"/>
              </a:rPr>
              <a:t>)=2</a:t>
            </a:r>
            <a:r>
              <a:rPr lang="en-US" altLang="zh-CN" sz="2000" b="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000" b="0" dirty="0">
                <a:solidFill>
                  <a:schemeClr val="tx1"/>
                </a:solidFill>
                <a:latin typeface="Times New Roman" panose="02020603050405020304" pitchFamily="18" charset="0"/>
                <a:cs typeface="Times New Roman" panose="02020603050405020304" pitchFamily="18" charset="0"/>
              </a:rPr>
              <a:t>0.436=</a:t>
            </a:r>
            <a:r>
              <a:rPr lang="en-US" altLang="zh-CN" sz="2000" b="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0.872A</a:t>
            </a:r>
            <a:endParaRPr lang="zh-CN" altLang="en-US" sz="2000" b="0" dirty="0">
              <a:solidFill>
                <a:schemeClr val="tx1"/>
              </a:solidFill>
              <a:latin typeface="Times New Roman" panose="02020603050405020304" pitchFamily="18" charset="0"/>
              <a:cs typeface="Times New Roman" panose="02020603050405020304" pitchFamily="18" charset="0"/>
              <a:sym typeface="Symbol" panose="05050102010706020507" pitchFamily="18" charset="2"/>
            </a:endParaRPr>
          </a:p>
        </p:txBody>
      </p:sp>
      <p:sp>
        <p:nvSpPr>
          <p:cNvPr id="23"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4.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谐振</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功率</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放大器</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464185584"/>
      </p:ext>
    </p:extLst>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131</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Rectangle 4">
            <a:extLst>
              <a:ext uri="{FF2B5EF4-FFF2-40B4-BE49-F238E27FC236}">
                <a16:creationId xmlns:a16="http://schemas.microsoft.com/office/drawing/2014/main" xmlns="" id="{31E4408D-FBAA-84E9-E06C-32520A55237C}"/>
              </a:ext>
            </a:extLst>
          </p:cNvPr>
          <p:cNvSpPr>
            <a:spLocks noChangeArrowheads="1"/>
          </p:cNvSpPr>
          <p:nvPr/>
        </p:nvSpPr>
        <p:spPr bwMode="auto">
          <a:xfrm>
            <a:off x="585198" y="1547043"/>
            <a:ext cx="8424862"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tabLst>
                <a:tab pos="5249863" algn="r"/>
              </a:tabLst>
              <a:defRPr sz="2400" b="1">
                <a:solidFill>
                  <a:srgbClr val="FFFF00"/>
                </a:solidFill>
                <a:latin typeface="Times New Roman" panose="02020603050405020304" pitchFamily="18" charset="0"/>
                <a:ea typeface="宋体" panose="02010600030101010101" pitchFamily="2" charset="-122"/>
              </a:defRPr>
            </a:lvl1pPr>
            <a:lvl2pPr>
              <a:tabLst>
                <a:tab pos="5249863" algn="r"/>
              </a:tabLst>
              <a:defRPr sz="2400" b="1">
                <a:solidFill>
                  <a:srgbClr val="FFFF00"/>
                </a:solidFill>
                <a:latin typeface="Times New Roman" panose="02020603050405020304" pitchFamily="18" charset="0"/>
                <a:ea typeface="宋体" panose="02010600030101010101" pitchFamily="2" charset="-122"/>
              </a:defRPr>
            </a:lvl2pPr>
            <a:lvl3pPr>
              <a:tabLst>
                <a:tab pos="5249863" algn="r"/>
              </a:tabLst>
              <a:defRPr sz="2400" b="1">
                <a:solidFill>
                  <a:srgbClr val="FFFF00"/>
                </a:solidFill>
                <a:latin typeface="Times New Roman" panose="02020603050405020304" pitchFamily="18" charset="0"/>
                <a:ea typeface="宋体" panose="02010600030101010101" pitchFamily="2" charset="-122"/>
              </a:defRPr>
            </a:lvl3pPr>
            <a:lvl4pPr>
              <a:tabLst>
                <a:tab pos="5249863" algn="r"/>
              </a:tabLst>
              <a:defRPr sz="2400" b="1">
                <a:solidFill>
                  <a:srgbClr val="FFFF00"/>
                </a:solidFill>
                <a:latin typeface="Times New Roman" panose="02020603050405020304" pitchFamily="18" charset="0"/>
                <a:ea typeface="宋体" panose="02010600030101010101" pitchFamily="2" charset="-122"/>
              </a:defRPr>
            </a:lvl4pPr>
            <a:lvl5pPr>
              <a:tabLst>
                <a:tab pos="5249863" algn="r"/>
              </a:tabLst>
              <a:defRPr sz="2400" b="1">
                <a:solidFill>
                  <a:srgbClr val="FFFF00"/>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tabLst>
                <a:tab pos="5249863" algn="r"/>
              </a:tabLst>
              <a:defRPr sz="2400" b="1">
                <a:solidFill>
                  <a:srgbClr val="FFFF00"/>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tabLst>
                <a:tab pos="5249863" algn="r"/>
              </a:tabLst>
              <a:defRPr sz="2400" b="1">
                <a:solidFill>
                  <a:srgbClr val="FFFF00"/>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tabLst>
                <a:tab pos="5249863" algn="r"/>
              </a:tabLst>
              <a:defRPr sz="2400" b="1">
                <a:solidFill>
                  <a:srgbClr val="FFFF00"/>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tabLst>
                <a:tab pos="5249863" algn="r"/>
              </a:tabLst>
              <a:defRPr sz="2400" b="1">
                <a:solidFill>
                  <a:srgbClr val="FFFF00"/>
                </a:solidFill>
                <a:latin typeface="Times New Roman" panose="02020603050405020304" pitchFamily="18" charset="0"/>
                <a:ea typeface="宋体" panose="02010600030101010101" pitchFamily="2" charset="-122"/>
              </a:defRPr>
            </a:lvl9pPr>
          </a:lstStyle>
          <a:p>
            <a:pPr>
              <a:lnSpc>
                <a:spcPct val="120000"/>
              </a:lnSpc>
            </a:pPr>
            <a:r>
              <a:rPr lang="zh-CN" altLang="en-US" sz="2000" b="0" dirty="0">
                <a:solidFill>
                  <a:schemeClr val="tx1"/>
                </a:solidFill>
                <a:ea typeface="+mn-ea"/>
                <a:cs typeface="Times New Roman" panose="02020603050405020304" pitchFamily="18" charset="0"/>
                <a:sym typeface="Symbol" panose="05050102010706020507" pitchFamily="18" charset="2"/>
              </a:rPr>
              <a:t>（</a:t>
            </a:r>
            <a:r>
              <a:rPr lang="en-US" altLang="zh-CN" sz="2000" b="0" dirty="0">
                <a:solidFill>
                  <a:schemeClr val="tx1"/>
                </a:solidFill>
                <a:ea typeface="+mn-ea"/>
                <a:cs typeface="Times New Roman" panose="02020603050405020304" pitchFamily="18" charset="0"/>
                <a:sym typeface="Symbol" panose="05050102010706020507" pitchFamily="18" charset="2"/>
              </a:rPr>
              <a:t>4</a:t>
            </a:r>
            <a:r>
              <a:rPr lang="zh-CN" altLang="en-US" sz="2000" b="0" dirty="0">
                <a:solidFill>
                  <a:schemeClr val="tx1"/>
                </a:solidFill>
                <a:ea typeface="+mn-ea"/>
                <a:cs typeface="Times New Roman" panose="02020603050405020304" pitchFamily="18" charset="0"/>
                <a:sym typeface="Symbol" panose="05050102010706020507" pitchFamily="18" charset="2"/>
              </a:rPr>
              <a:t>）求交流电压振幅： </a:t>
            </a:r>
            <a:r>
              <a:rPr lang="en-US" altLang="zh-CN" sz="2000" b="0" dirty="0" err="1">
                <a:solidFill>
                  <a:schemeClr val="tx1"/>
                </a:solidFill>
                <a:ea typeface="+mn-ea"/>
                <a:cs typeface="Times New Roman" panose="02020603050405020304" pitchFamily="18" charset="0"/>
                <a:sym typeface="Symbol" panose="05050102010706020507" pitchFamily="18" charset="2"/>
              </a:rPr>
              <a:t>Vcm</a:t>
            </a:r>
            <a:r>
              <a:rPr lang="en-US" altLang="zh-CN" sz="2000" b="0" dirty="0">
                <a:solidFill>
                  <a:schemeClr val="tx1"/>
                </a:solidFill>
                <a:ea typeface="+mn-ea"/>
                <a:cs typeface="Times New Roman" panose="02020603050405020304" pitchFamily="18" charset="0"/>
                <a:sym typeface="Symbol" panose="05050102010706020507" pitchFamily="18" charset="2"/>
              </a:rPr>
              <a:t>=VCC</a:t>
            </a:r>
            <a:r>
              <a:rPr lang="en-US" altLang="zh-CN" sz="2000" b="0" dirty="0">
                <a:solidFill>
                  <a:schemeClr val="tx1"/>
                </a:solidFill>
                <a:ea typeface="+mn-ea"/>
                <a:cs typeface="Times New Roman" panose="02020603050405020304" pitchFamily="18" charset="0"/>
              </a:rPr>
              <a:t>=24</a:t>
            </a:r>
            <a:r>
              <a:rPr lang="en-US" altLang="zh-CN" sz="2000" b="0" dirty="0">
                <a:solidFill>
                  <a:schemeClr val="tx1"/>
                </a:solidFill>
                <a:ea typeface="+mn-ea"/>
                <a:cs typeface="Times New Roman" panose="02020603050405020304" pitchFamily="18" charset="0"/>
                <a:sym typeface="Symbol" panose="05050102010706020507" pitchFamily="18" charset="2"/>
              </a:rPr>
              <a:t></a:t>
            </a:r>
            <a:r>
              <a:rPr lang="en-US" altLang="zh-CN" sz="2000" b="0" dirty="0">
                <a:solidFill>
                  <a:schemeClr val="tx1"/>
                </a:solidFill>
                <a:ea typeface="+mn-ea"/>
                <a:cs typeface="Times New Roman" panose="02020603050405020304" pitchFamily="18" charset="0"/>
              </a:rPr>
              <a:t>0.9=21.6V</a:t>
            </a:r>
            <a:endParaRPr lang="en-US" altLang="zh-CN" sz="2000" b="0" dirty="0">
              <a:solidFill>
                <a:schemeClr val="tx1"/>
              </a:solidFill>
              <a:ea typeface="+mn-ea"/>
              <a:cs typeface="Times New Roman" panose="02020603050405020304" pitchFamily="18" charset="0"/>
              <a:sym typeface="Symbol" panose="05050102010706020507" pitchFamily="18" charset="2"/>
            </a:endParaRPr>
          </a:p>
          <a:p>
            <a:pPr eaLnBrk="0" hangingPunct="0">
              <a:lnSpc>
                <a:spcPct val="120000"/>
              </a:lnSpc>
            </a:pPr>
            <a:r>
              <a:rPr lang="en-US" altLang="zh-CN" sz="2000" b="0" dirty="0">
                <a:solidFill>
                  <a:schemeClr val="tx1"/>
                </a:solidFill>
                <a:ea typeface="+mn-ea"/>
                <a:cs typeface="Times New Roman" panose="02020603050405020304" pitchFamily="18" charset="0"/>
                <a:sym typeface="Symbol" panose="05050102010706020507" pitchFamily="18" charset="2"/>
              </a:rPr>
              <a:t>     </a:t>
            </a:r>
            <a:r>
              <a:rPr lang="zh-CN" altLang="en-US" sz="2000" b="0" dirty="0">
                <a:solidFill>
                  <a:schemeClr val="tx1"/>
                </a:solidFill>
                <a:ea typeface="+mn-ea"/>
                <a:cs typeface="Times New Roman" panose="02020603050405020304" pitchFamily="18" charset="0"/>
                <a:sym typeface="Symbol" panose="05050102010706020507" pitchFamily="18" charset="2"/>
              </a:rPr>
              <a:t>对应功率、效率</a:t>
            </a:r>
            <a:r>
              <a:rPr lang="en-US" altLang="zh-CN" sz="2000" b="0" dirty="0">
                <a:solidFill>
                  <a:schemeClr val="tx1"/>
                </a:solidFill>
                <a:ea typeface="+mn-ea"/>
                <a:cs typeface="Times New Roman" panose="02020603050405020304" pitchFamily="18" charset="0"/>
                <a:sym typeface="Symbol" panose="05050102010706020507" pitchFamily="18" charset="2"/>
              </a:rPr>
              <a:t>:  P==VCC</a:t>
            </a:r>
            <a:r>
              <a:rPr lang="en-US" altLang="zh-CN" sz="2000" b="0" dirty="0">
                <a:solidFill>
                  <a:schemeClr val="tx1"/>
                </a:solidFill>
                <a:ea typeface="+mn-ea"/>
                <a:cs typeface="Times New Roman" panose="02020603050405020304" pitchFamily="18" charset="0"/>
              </a:rPr>
              <a:t>I</a:t>
            </a:r>
            <a:r>
              <a:rPr lang="en-US" altLang="zh-CN" sz="2000" b="0" dirty="0">
                <a:solidFill>
                  <a:schemeClr val="tx1"/>
                </a:solidFill>
                <a:ea typeface="+mn-ea"/>
                <a:cs typeface="Times New Roman" panose="02020603050405020304" pitchFamily="18" charset="0"/>
                <a:sym typeface="Symbol" panose="05050102010706020507" pitchFamily="18" charset="2"/>
              </a:rPr>
              <a:t>C0=24</a:t>
            </a:r>
            <a:r>
              <a:rPr lang="en-US" altLang="zh-CN" sz="2000" b="0" dirty="0">
                <a:solidFill>
                  <a:schemeClr val="tx1"/>
                </a:solidFill>
                <a:ea typeface="+mn-ea"/>
                <a:cs typeface="Times New Roman" panose="02020603050405020304" pitchFamily="18" charset="0"/>
              </a:rPr>
              <a:t>0.506=12W</a:t>
            </a:r>
            <a:endParaRPr lang="en-US" altLang="zh-CN" sz="2000" b="0" baseline="-25000" dirty="0">
              <a:solidFill>
                <a:schemeClr val="tx1"/>
              </a:solidFill>
              <a:ea typeface="+mn-ea"/>
              <a:cs typeface="Times New Roman" panose="02020603050405020304" pitchFamily="18" charset="0"/>
              <a:sym typeface="Symbol" panose="05050102010706020507" pitchFamily="18" charset="2"/>
            </a:endParaRPr>
          </a:p>
        </p:txBody>
      </p:sp>
      <p:graphicFrame>
        <p:nvGraphicFramePr>
          <p:cNvPr id="5" name="Object 5">
            <a:extLst>
              <a:ext uri="{FF2B5EF4-FFF2-40B4-BE49-F238E27FC236}">
                <a16:creationId xmlns:a16="http://schemas.microsoft.com/office/drawing/2014/main" xmlns="" id="{B4464223-25A1-7DC0-4BD8-4DD393E3678D}"/>
              </a:ext>
            </a:extLst>
          </p:cNvPr>
          <p:cNvGraphicFramePr>
            <a:graphicFrameLocks/>
          </p:cNvGraphicFramePr>
          <p:nvPr>
            <p:extLst>
              <p:ext uri="{D42A27DB-BD31-4B8C-83A1-F6EECF244321}">
                <p14:modId xmlns:p14="http://schemas.microsoft.com/office/powerpoint/2010/main" val="166698001"/>
              </p:ext>
            </p:extLst>
          </p:nvPr>
        </p:nvGraphicFramePr>
        <p:xfrm>
          <a:off x="1139755" y="2314837"/>
          <a:ext cx="6923088" cy="709612"/>
        </p:xfrm>
        <a:graphic>
          <a:graphicData uri="http://schemas.openxmlformats.org/presentationml/2006/ole">
            <mc:AlternateContent xmlns:mc="http://schemas.openxmlformats.org/markup-compatibility/2006">
              <mc:Choice xmlns:v="urn:schemas-microsoft-com:vml" Requires="v">
                <p:oleObj spid="_x0000_s99490" r:id="rId3" imgW="3148234" imgH="330057" progId="Equation.3">
                  <p:embed/>
                </p:oleObj>
              </mc:Choice>
              <mc:Fallback>
                <p:oleObj r:id="rId3" imgW="3148234" imgH="330057" progId="Equation.3">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39755" y="2314837"/>
                        <a:ext cx="6923088" cy="709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 name="Object 6">
            <a:extLst>
              <a:ext uri="{FF2B5EF4-FFF2-40B4-BE49-F238E27FC236}">
                <a16:creationId xmlns:a16="http://schemas.microsoft.com/office/drawing/2014/main" xmlns="" id="{E21BF7DF-BC0A-CBCC-9A69-F196D7EB6677}"/>
              </a:ext>
            </a:extLst>
          </p:cNvPr>
          <p:cNvGraphicFramePr>
            <a:graphicFrameLocks/>
          </p:cNvGraphicFramePr>
          <p:nvPr>
            <p:extLst>
              <p:ext uri="{D42A27DB-BD31-4B8C-83A1-F6EECF244321}">
                <p14:modId xmlns:p14="http://schemas.microsoft.com/office/powerpoint/2010/main" val="1539981259"/>
              </p:ext>
            </p:extLst>
          </p:nvPr>
        </p:nvGraphicFramePr>
        <p:xfrm>
          <a:off x="2535160" y="3473008"/>
          <a:ext cx="2452687" cy="803275"/>
        </p:xfrm>
        <a:graphic>
          <a:graphicData uri="http://schemas.openxmlformats.org/presentationml/2006/ole">
            <mc:AlternateContent xmlns:mc="http://schemas.openxmlformats.org/markup-compatibility/2006">
              <mc:Choice xmlns:v="urn:schemas-microsoft-com:vml" Requires="v">
                <p:oleObj spid="_x0000_s99491" r:id="rId5" imgW="1193800" imgH="393700" progId="Equation.3">
                  <p:embed/>
                </p:oleObj>
              </mc:Choice>
              <mc:Fallback>
                <p:oleObj r:id="rId5" imgW="1193800" imgH="393700" progId="Equation.3">
                  <p:embed/>
                  <p:pic>
                    <p:nvPicPr>
                      <p:cNvPr id="0" name=""/>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35160" y="3473008"/>
                        <a:ext cx="2452687" cy="803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 name="Object 7">
            <a:extLst>
              <a:ext uri="{FF2B5EF4-FFF2-40B4-BE49-F238E27FC236}">
                <a16:creationId xmlns:a16="http://schemas.microsoft.com/office/drawing/2014/main" xmlns="" id="{F0712269-D705-6AF5-6D18-63A253F5B3BD}"/>
              </a:ext>
            </a:extLst>
          </p:cNvPr>
          <p:cNvGraphicFramePr>
            <a:graphicFrameLocks/>
          </p:cNvGraphicFramePr>
          <p:nvPr>
            <p:extLst>
              <p:ext uri="{D42A27DB-BD31-4B8C-83A1-F6EECF244321}">
                <p14:modId xmlns:p14="http://schemas.microsoft.com/office/powerpoint/2010/main" val="835481241"/>
              </p:ext>
            </p:extLst>
          </p:nvPr>
        </p:nvGraphicFramePr>
        <p:xfrm>
          <a:off x="4529291" y="4112076"/>
          <a:ext cx="2016125" cy="738188"/>
        </p:xfrm>
        <a:graphic>
          <a:graphicData uri="http://schemas.openxmlformats.org/presentationml/2006/ole">
            <mc:AlternateContent xmlns:mc="http://schemas.openxmlformats.org/markup-compatibility/2006">
              <mc:Choice xmlns:v="urn:schemas-microsoft-com:vml" Requires="v">
                <p:oleObj spid="_x0000_s99492" r:id="rId7" imgW="1066337" imgH="393529" progId="Equation.3">
                  <p:embed/>
                </p:oleObj>
              </mc:Choice>
              <mc:Fallback>
                <p:oleObj r:id="rId7" imgW="1066337" imgH="393529" progId="Equation.3">
                  <p:embed/>
                  <p:pic>
                    <p:nvPicPr>
                      <p:cNvPr id="0" name=""/>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29291" y="4112076"/>
                        <a:ext cx="2016125"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 name="Object 8">
            <a:extLst>
              <a:ext uri="{FF2B5EF4-FFF2-40B4-BE49-F238E27FC236}">
                <a16:creationId xmlns:a16="http://schemas.microsoft.com/office/drawing/2014/main" xmlns="" id="{2CE4985B-0FCC-C23D-AD2D-BDA8C1154CFB}"/>
              </a:ext>
            </a:extLst>
          </p:cNvPr>
          <p:cNvGraphicFramePr>
            <a:graphicFrameLocks/>
          </p:cNvGraphicFramePr>
          <p:nvPr>
            <p:extLst>
              <p:ext uri="{D42A27DB-BD31-4B8C-83A1-F6EECF244321}">
                <p14:modId xmlns:p14="http://schemas.microsoft.com/office/powerpoint/2010/main" val="1377497929"/>
              </p:ext>
            </p:extLst>
          </p:nvPr>
        </p:nvGraphicFramePr>
        <p:xfrm>
          <a:off x="2155061" y="4966649"/>
          <a:ext cx="3970751" cy="1165233"/>
        </p:xfrm>
        <a:graphic>
          <a:graphicData uri="http://schemas.openxmlformats.org/presentationml/2006/ole">
            <mc:AlternateContent xmlns:mc="http://schemas.openxmlformats.org/markup-compatibility/2006">
              <mc:Choice xmlns:v="urn:schemas-microsoft-com:vml" Requires="v">
                <p:oleObj spid="_x0000_s99493" r:id="rId9" imgW="2247900" imgH="635000" progId="Equation.3">
                  <p:embed/>
                </p:oleObj>
              </mc:Choice>
              <mc:Fallback>
                <p:oleObj r:id="rId9" imgW="2247900" imgH="635000" progId="Equation.3">
                  <p:embed/>
                  <p:pic>
                    <p:nvPicPr>
                      <p:cNvPr id="0" name=""/>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155061" y="4966649"/>
                        <a:ext cx="3970751" cy="1165233"/>
                      </a:xfrm>
                      <a:prstGeom prst="rect">
                        <a:avLst/>
                      </a:prstGeom>
                      <a:noFill/>
                      <a:ln>
                        <a:noFill/>
                      </a:ln>
                      <a:extLst/>
                    </p:spPr>
                  </p:pic>
                </p:oleObj>
              </mc:Fallback>
            </mc:AlternateContent>
          </a:graphicData>
        </a:graphic>
      </p:graphicFrame>
      <p:sp>
        <p:nvSpPr>
          <p:cNvPr id="9" name="Rectangle 9">
            <a:extLst>
              <a:ext uri="{FF2B5EF4-FFF2-40B4-BE49-F238E27FC236}">
                <a16:creationId xmlns:a16="http://schemas.microsoft.com/office/drawing/2014/main" xmlns="" id="{8C142CF7-EB23-4E68-2D0E-CD0B6E444B4B}"/>
              </a:ext>
            </a:extLst>
          </p:cNvPr>
          <p:cNvSpPr>
            <a:spLocks noChangeArrowheads="1"/>
          </p:cNvSpPr>
          <p:nvPr/>
        </p:nvSpPr>
        <p:spPr bwMode="auto">
          <a:xfrm>
            <a:off x="1197179" y="3056348"/>
            <a:ext cx="72009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tabLst>
                <a:tab pos="5249863" algn="r"/>
              </a:tabLst>
              <a:defRPr sz="2400" b="1">
                <a:solidFill>
                  <a:srgbClr val="FFFF00"/>
                </a:solidFill>
                <a:latin typeface="Times New Roman" panose="02020603050405020304" pitchFamily="18" charset="0"/>
                <a:ea typeface="宋体" panose="02010600030101010101" pitchFamily="2" charset="-122"/>
              </a:defRPr>
            </a:lvl1pPr>
            <a:lvl2pPr>
              <a:tabLst>
                <a:tab pos="5249863" algn="r"/>
              </a:tabLst>
              <a:defRPr sz="2400" b="1">
                <a:solidFill>
                  <a:srgbClr val="FFFF00"/>
                </a:solidFill>
                <a:latin typeface="Times New Roman" panose="02020603050405020304" pitchFamily="18" charset="0"/>
                <a:ea typeface="宋体" panose="02010600030101010101" pitchFamily="2" charset="-122"/>
              </a:defRPr>
            </a:lvl2pPr>
            <a:lvl3pPr>
              <a:tabLst>
                <a:tab pos="5249863" algn="r"/>
              </a:tabLst>
              <a:defRPr sz="2400" b="1">
                <a:solidFill>
                  <a:srgbClr val="FFFF00"/>
                </a:solidFill>
                <a:latin typeface="Times New Roman" panose="02020603050405020304" pitchFamily="18" charset="0"/>
                <a:ea typeface="宋体" panose="02010600030101010101" pitchFamily="2" charset="-122"/>
              </a:defRPr>
            </a:lvl3pPr>
            <a:lvl4pPr>
              <a:tabLst>
                <a:tab pos="5249863" algn="r"/>
              </a:tabLst>
              <a:defRPr sz="2400" b="1">
                <a:solidFill>
                  <a:srgbClr val="FFFF00"/>
                </a:solidFill>
                <a:latin typeface="Times New Roman" panose="02020603050405020304" pitchFamily="18" charset="0"/>
                <a:ea typeface="宋体" panose="02010600030101010101" pitchFamily="2" charset="-122"/>
              </a:defRPr>
            </a:lvl4pPr>
            <a:lvl5pPr>
              <a:tabLst>
                <a:tab pos="5249863" algn="r"/>
              </a:tabLst>
              <a:defRPr sz="2400" b="1">
                <a:solidFill>
                  <a:srgbClr val="FFFF00"/>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tabLst>
                <a:tab pos="5249863" algn="r"/>
              </a:tabLst>
              <a:defRPr sz="2400" b="1">
                <a:solidFill>
                  <a:srgbClr val="FFFF00"/>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tabLst>
                <a:tab pos="5249863" algn="r"/>
              </a:tabLst>
              <a:defRPr sz="2400" b="1">
                <a:solidFill>
                  <a:srgbClr val="FFFF00"/>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tabLst>
                <a:tab pos="5249863" algn="r"/>
              </a:tabLst>
              <a:defRPr sz="2400" b="1">
                <a:solidFill>
                  <a:srgbClr val="FFFF00"/>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tabLst>
                <a:tab pos="5249863" algn="r"/>
              </a:tabLst>
              <a:defRPr sz="2400" b="1">
                <a:solidFill>
                  <a:srgbClr val="FFFF00"/>
                </a:solidFill>
                <a:latin typeface="Times New Roman" panose="02020603050405020304" pitchFamily="18" charset="0"/>
                <a:ea typeface="宋体" panose="02010600030101010101" pitchFamily="2" charset="-122"/>
              </a:defRPr>
            </a:lvl9pPr>
          </a:lstStyle>
          <a:p>
            <a:r>
              <a:rPr lang="en-US" altLang="zh-CN" sz="2000" b="0" dirty="0">
                <a:solidFill>
                  <a:schemeClr val="tx1"/>
                </a:solidFill>
                <a:ea typeface="+mn-ea"/>
                <a:cs typeface="Times New Roman" panose="02020603050405020304" pitchFamily="18" charset="0"/>
              </a:rPr>
              <a:t>P</a:t>
            </a:r>
            <a:r>
              <a:rPr lang="en-US" altLang="zh-CN" sz="2000" b="0" baseline="-30000" dirty="0">
                <a:solidFill>
                  <a:schemeClr val="tx1"/>
                </a:solidFill>
                <a:ea typeface="+mn-ea"/>
                <a:cs typeface="Times New Roman" panose="02020603050405020304" pitchFamily="18" charset="0"/>
              </a:rPr>
              <a:t>c</a:t>
            </a:r>
            <a:r>
              <a:rPr lang="en-US" altLang="zh-CN" sz="2000" b="0" baseline="-25000" dirty="0">
                <a:solidFill>
                  <a:schemeClr val="tx1"/>
                </a:solidFill>
                <a:ea typeface="+mn-ea"/>
                <a:cs typeface="Times New Roman" panose="02020603050405020304" pitchFamily="18" charset="0"/>
              </a:rPr>
              <a:t> </a:t>
            </a:r>
            <a:r>
              <a:rPr lang="en-US" altLang="zh-CN" sz="2000" b="0" dirty="0">
                <a:solidFill>
                  <a:schemeClr val="tx1"/>
                </a:solidFill>
                <a:ea typeface="+mn-ea"/>
                <a:cs typeface="Times New Roman" panose="02020603050405020304" pitchFamily="18" charset="0"/>
              </a:rPr>
              <a:t>=P</a:t>
            </a:r>
            <a:r>
              <a:rPr lang="en-US" altLang="zh-CN" sz="2000" b="0" baseline="-30000" dirty="0">
                <a:solidFill>
                  <a:schemeClr val="tx1"/>
                </a:solidFill>
                <a:ea typeface="+mn-ea"/>
                <a:cs typeface="Times New Roman" panose="02020603050405020304" pitchFamily="18" charset="0"/>
              </a:rPr>
              <a:t>=</a:t>
            </a:r>
            <a:r>
              <a:rPr lang="en-US" altLang="zh-CN" sz="2000" b="0" dirty="0">
                <a:solidFill>
                  <a:schemeClr val="tx1"/>
                </a:solidFill>
                <a:ea typeface="+mn-ea"/>
                <a:cs typeface="Times New Roman" panose="02020603050405020304" pitchFamily="18" charset="0"/>
              </a:rPr>
              <a:t>-P</a:t>
            </a:r>
            <a:r>
              <a:rPr lang="en-US" altLang="zh-CN" sz="2000" b="0" baseline="-30000" dirty="0">
                <a:solidFill>
                  <a:schemeClr val="tx1"/>
                </a:solidFill>
                <a:ea typeface="+mn-ea"/>
                <a:cs typeface="Times New Roman" panose="02020603050405020304" pitchFamily="18" charset="0"/>
              </a:rPr>
              <a:t>o</a:t>
            </a:r>
            <a:r>
              <a:rPr lang="en-US" altLang="zh-CN" sz="2000" b="0" baseline="-25000" dirty="0">
                <a:solidFill>
                  <a:schemeClr val="tx1"/>
                </a:solidFill>
                <a:ea typeface="+mn-ea"/>
                <a:cs typeface="Times New Roman" panose="02020603050405020304" pitchFamily="18" charset="0"/>
              </a:rPr>
              <a:t> </a:t>
            </a:r>
            <a:r>
              <a:rPr lang="en-US" altLang="zh-CN" sz="2000" b="0" dirty="0">
                <a:solidFill>
                  <a:schemeClr val="tx1"/>
                </a:solidFill>
                <a:ea typeface="+mn-ea"/>
                <a:cs typeface="Times New Roman" panose="02020603050405020304" pitchFamily="18" charset="0"/>
              </a:rPr>
              <a:t>= 2.6W&lt;</a:t>
            </a:r>
            <a:r>
              <a:rPr lang="en-US" altLang="zh-CN" sz="2000" b="0" dirty="0" err="1">
                <a:solidFill>
                  <a:schemeClr val="tx1"/>
                </a:solidFill>
                <a:ea typeface="+mn-ea"/>
                <a:cs typeface="Times New Roman" panose="02020603050405020304" pitchFamily="18" charset="0"/>
              </a:rPr>
              <a:t>Pcmax</a:t>
            </a:r>
            <a:r>
              <a:rPr lang="en-US" altLang="zh-CN" sz="2000" b="0" baseline="-25000" dirty="0">
                <a:solidFill>
                  <a:schemeClr val="tx1"/>
                </a:solidFill>
                <a:ea typeface="+mn-ea"/>
                <a:cs typeface="Times New Roman" panose="02020603050405020304" pitchFamily="18" charset="0"/>
              </a:rPr>
              <a:t> </a:t>
            </a:r>
            <a:r>
              <a:rPr lang="en-US" altLang="zh-CN" sz="2000" b="0" dirty="0">
                <a:solidFill>
                  <a:schemeClr val="tx1"/>
                </a:solidFill>
                <a:ea typeface="+mn-ea"/>
                <a:cs typeface="Times New Roman" panose="02020603050405020304" pitchFamily="18" charset="0"/>
              </a:rPr>
              <a:t>(</a:t>
            </a:r>
            <a:r>
              <a:rPr lang="en-US" altLang="zh-CN" sz="2000" b="0" dirty="0" err="1">
                <a:solidFill>
                  <a:schemeClr val="tx1"/>
                </a:solidFill>
                <a:ea typeface="+mn-ea"/>
                <a:cs typeface="Times New Roman" panose="02020603050405020304" pitchFamily="18" charset="0"/>
              </a:rPr>
              <a:t>Pcmax</a:t>
            </a:r>
            <a:r>
              <a:rPr lang="en-US" altLang="zh-CN" sz="2000" b="0" dirty="0">
                <a:solidFill>
                  <a:schemeClr val="tx1"/>
                </a:solidFill>
                <a:ea typeface="+mn-ea"/>
                <a:cs typeface="Times New Roman" panose="02020603050405020304" pitchFamily="18" charset="0"/>
              </a:rPr>
              <a:t>=5W </a:t>
            </a:r>
            <a:r>
              <a:rPr lang="zh-CN" altLang="en-US" sz="2000" b="0" dirty="0">
                <a:solidFill>
                  <a:schemeClr val="tx1"/>
                </a:solidFill>
                <a:ea typeface="+mn-ea"/>
                <a:cs typeface="Times New Roman" panose="02020603050405020304" pitchFamily="18" charset="0"/>
              </a:rPr>
              <a:t>安全工作</a:t>
            </a:r>
            <a:r>
              <a:rPr lang="en-US" altLang="zh-CN" sz="2000" b="0" dirty="0">
                <a:solidFill>
                  <a:schemeClr val="tx1"/>
                </a:solidFill>
                <a:ea typeface="+mn-ea"/>
                <a:cs typeface="Times New Roman" panose="02020603050405020304" pitchFamily="18" charset="0"/>
              </a:rPr>
              <a:t>)                </a:t>
            </a:r>
          </a:p>
        </p:txBody>
      </p:sp>
      <p:sp>
        <p:nvSpPr>
          <p:cNvPr id="10" name="Rectangle 10">
            <a:extLst>
              <a:ext uri="{FF2B5EF4-FFF2-40B4-BE49-F238E27FC236}">
                <a16:creationId xmlns:a16="http://schemas.microsoft.com/office/drawing/2014/main" xmlns="" id="{0637B2C0-119E-5587-1EF7-571A896A38F0}"/>
              </a:ext>
            </a:extLst>
          </p:cNvPr>
          <p:cNvSpPr>
            <a:spLocks noChangeArrowheads="1"/>
          </p:cNvSpPr>
          <p:nvPr/>
        </p:nvSpPr>
        <p:spPr bwMode="auto">
          <a:xfrm>
            <a:off x="1000899" y="5115611"/>
            <a:ext cx="115416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p>
            <a:r>
              <a:rPr lang="en-US" altLang="zh-CN" sz="2000" dirty="0">
                <a:solidFill>
                  <a:schemeClr val="tx1"/>
                </a:solidFill>
                <a:latin typeface="Times New Roman" panose="02020603050405020304" pitchFamily="18" charset="0"/>
                <a:cs typeface="Times New Roman" panose="02020603050405020304" pitchFamily="18" charset="0"/>
              </a:rPr>
              <a:t>    </a:t>
            </a:r>
            <a:r>
              <a:rPr lang="zh-CN" altLang="en-US" sz="2000" dirty="0">
                <a:solidFill>
                  <a:schemeClr val="tx1"/>
                </a:solidFill>
                <a:latin typeface="Times New Roman" panose="02020603050405020304" pitchFamily="18" charset="0"/>
                <a:cs typeface="Times New Roman" panose="02020603050405020304" pitchFamily="18" charset="0"/>
              </a:rPr>
              <a:t>则          </a:t>
            </a:r>
          </a:p>
        </p:txBody>
      </p:sp>
      <p:sp>
        <p:nvSpPr>
          <p:cNvPr id="11" name="Rectangle 11">
            <a:extLst>
              <a:ext uri="{FF2B5EF4-FFF2-40B4-BE49-F238E27FC236}">
                <a16:creationId xmlns:a16="http://schemas.microsoft.com/office/drawing/2014/main" xmlns="" id="{C776DB4F-D410-44E8-4F0D-08E5DB93B1DD}"/>
              </a:ext>
            </a:extLst>
          </p:cNvPr>
          <p:cNvSpPr/>
          <p:nvPr/>
        </p:nvSpPr>
        <p:spPr>
          <a:xfrm>
            <a:off x="424835" y="4306067"/>
            <a:ext cx="4746626" cy="615553"/>
          </a:xfrm>
          <a:prstGeom prst="rect">
            <a:avLst/>
          </a:prstGeom>
          <a:noFill/>
          <a:ln w="9525">
            <a:noFill/>
          </a:ln>
        </p:spPr>
        <p:txBody>
          <a:bodyPr lIns="0" tIns="0" rIns="0" bIns="0" anchor="ctr">
            <a:spAutoFit/>
          </a:bodyPr>
          <a:lstStyle/>
          <a:p>
            <a:pPr>
              <a:tabLst>
                <a:tab pos="5250180" algn="r"/>
              </a:tabLst>
            </a:pPr>
            <a:r>
              <a:rPr lang="en-US" altLang="zh-CN" sz="2000" noProof="1">
                <a:solidFill>
                  <a:schemeClr val="tx1"/>
                </a:solidFill>
                <a:latin typeface="Times New Roman" panose="02020603050405020304" pitchFamily="18" charset="0"/>
                <a:cs typeface="Times New Roman" panose="02020603050405020304" pitchFamily="18" charset="0"/>
              </a:rPr>
              <a:t> </a:t>
            </a:r>
            <a:r>
              <a:rPr lang="zh-CN" altLang="en-US" sz="200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00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5</a:t>
            </a:r>
            <a:r>
              <a:rPr lang="zh-CN" altLang="en-US" sz="200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zh-CN" altLang="en-US" sz="2000" noProof="1">
                <a:solidFill>
                  <a:schemeClr val="tx1"/>
                </a:solidFill>
                <a:latin typeface="Times New Roman" panose="02020603050405020304" pitchFamily="18" charset="0"/>
                <a:cs typeface="Times New Roman" panose="02020603050405020304" pitchFamily="18" charset="0"/>
              </a:rPr>
              <a:t>激励功率  因为</a:t>
            </a:r>
            <a:r>
              <a:rPr lang="en-US" altLang="zh-CN" sz="2000" noProof="1">
                <a:solidFill>
                  <a:schemeClr val="tx1"/>
                </a:solidFill>
                <a:latin typeface="Times New Roman" panose="02020603050405020304" pitchFamily="18" charset="0"/>
                <a:cs typeface="Times New Roman" panose="02020603050405020304" pitchFamily="18" charset="0"/>
              </a:rPr>
              <a:t>A</a:t>
            </a:r>
            <a:r>
              <a:rPr lang="en-US" altLang="zh-CN" sz="2000" baseline="-30000" noProof="1">
                <a:solidFill>
                  <a:schemeClr val="tx1"/>
                </a:solidFill>
                <a:latin typeface="Times New Roman" panose="02020603050405020304" pitchFamily="18" charset="0"/>
                <a:cs typeface="Times New Roman" panose="02020603050405020304" pitchFamily="18" charset="0"/>
              </a:rPr>
              <a:t>p</a:t>
            </a:r>
            <a:r>
              <a:rPr lang="en-US" altLang="zh-CN" sz="2000" noProof="1">
                <a:solidFill>
                  <a:schemeClr val="tx1"/>
                </a:solidFill>
                <a:latin typeface="Times New Roman" panose="02020603050405020304" pitchFamily="18" charset="0"/>
                <a:cs typeface="Times New Roman" panose="02020603050405020304" pitchFamily="18" charset="0"/>
              </a:rPr>
              <a:t>=13dB</a:t>
            </a:r>
            <a:r>
              <a:rPr lang="zh-CN" altLang="en-US" sz="2000" noProof="1">
                <a:solidFill>
                  <a:schemeClr val="tx1"/>
                </a:solidFill>
                <a:latin typeface="Times New Roman" panose="02020603050405020304" pitchFamily="18" charset="0"/>
                <a:cs typeface="Times New Roman" panose="02020603050405020304" pitchFamily="18" charset="0"/>
              </a:rPr>
              <a:t>，即</a:t>
            </a:r>
          </a:p>
          <a:p>
            <a:pPr eaLnBrk="0" hangingPunct="0">
              <a:tabLst>
                <a:tab pos="5250180" algn="r"/>
              </a:tabLst>
            </a:pPr>
            <a:r>
              <a:rPr lang="zh-CN" altLang="en-US" sz="2000" noProof="1">
                <a:solidFill>
                  <a:schemeClr val="tx1"/>
                </a:solidFill>
                <a:latin typeface="Times New Roman" panose="02020603050405020304" pitchFamily="18" charset="0"/>
                <a:cs typeface="Times New Roman" panose="02020603050405020304" pitchFamily="18" charset="0"/>
              </a:rPr>
              <a:t>                      </a:t>
            </a:r>
          </a:p>
        </p:txBody>
      </p:sp>
      <p:sp>
        <p:nvSpPr>
          <p:cNvPr id="12"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4.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谐振</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功率</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放大器</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263800037"/>
      </p:ext>
    </p:extLst>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132</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12"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4.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谐振</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功率</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放大器</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3" name="矩形 12">
            <a:extLst>
              <a:ext uri="{FF2B5EF4-FFF2-40B4-BE49-F238E27FC236}">
                <a16:creationId xmlns:a16="http://schemas.microsoft.com/office/drawing/2014/main" xmlns="" id="{6EB2FF06-2DD2-A79E-CFFC-1F4A928274B8}"/>
              </a:ext>
            </a:extLst>
          </p:cNvPr>
          <p:cNvSpPr>
            <a:spLocks noChangeArrowheads="1"/>
          </p:cNvSpPr>
          <p:nvPr/>
        </p:nvSpPr>
        <p:spPr bwMode="auto">
          <a:xfrm>
            <a:off x="360430" y="1420002"/>
            <a:ext cx="8383587"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p>
            <a:r>
              <a:rPr lang="zh-CN" altLang="en-US" sz="2000" dirty="0">
                <a:solidFill>
                  <a:srgbClr val="000000"/>
                </a:solidFill>
                <a:latin typeface="+mn-ea"/>
                <a:ea typeface="+mn-ea"/>
              </a:rPr>
              <a:t>欲使高频功率放大器正常工作于丙类某一最佳状态，与小信号谐振放大器同样，必须有正确的直流通路和交流通路。除此之外，还要尽量减少功率传输中的损耗。这就涉及其馈电线路的实现问题。</a:t>
            </a:r>
          </a:p>
        </p:txBody>
      </p:sp>
      <p:sp>
        <p:nvSpPr>
          <p:cNvPr id="14" name="Text Box 3">
            <a:extLst>
              <a:ext uri="{FF2B5EF4-FFF2-40B4-BE49-F238E27FC236}">
                <a16:creationId xmlns:a16="http://schemas.microsoft.com/office/drawing/2014/main" xmlns="" id="{0167BD70-0C85-8FD6-499A-6A5533AF29E5}"/>
              </a:ext>
            </a:extLst>
          </p:cNvPr>
          <p:cNvSpPr txBox="1">
            <a:spLocks noChangeArrowheads="1"/>
          </p:cNvSpPr>
          <p:nvPr/>
        </p:nvSpPr>
        <p:spPr bwMode="auto">
          <a:xfrm>
            <a:off x="1443740" y="2517350"/>
            <a:ext cx="312777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dirty="0">
                <a:solidFill>
                  <a:schemeClr val="tx1"/>
                </a:solidFill>
                <a:latin typeface="+mn-ea"/>
                <a:ea typeface="+mn-ea"/>
              </a:rPr>
              <a:t>4.4.1</a:t>
            </a:r>
            <a:r>
              <a:rPr lang="zh-CN" altLang="en-US" sz="2400" dirty="0">
                <a:solidFill>
                  <a:schemeClr val="tx1"/>
                </a:solidFill>
                <a:latin typeface="+mn-ea"/>
                <a:ea typeface="+mn-ea"/>
              </a:rPr>
              <a:t>　直流馈电电路</a:t>
            </a:r>
          </a:p>
        </p:txBody>
      </p:sp>
      <p:sp>
        <p:nvSpPr>
          <p:cNvPr id="15" name="Text Box 4">
            <a:extLst>
              <a:ext uri="{FF2B5EF4-FFF2-40B4-BE49-F238E27FC236}">
                <a16:creationId xmlns:a16="http://schemas.microsoft.com/office/drawing/2014/main" xmlns="" id="{3D91BFAE-3748-8459-F0AB-1EE828CD68F9}"/>
              </a:ext>
            </a:extLst>
          </p:cNvPr>
          <p:cNvSpPr txBox="1">
            <a:spLocks noChangeArrowheads="1"/>
          </p:cNvSpPr>
          <p:nvPr/>
        </p:nvSpPr>
        <p:spPr bwMode="auto">
          <a:xfrm>
            <a:off x="1443740" y="4698575"/>
            <a:ext cx="467467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a:solidFill>
                  <a:schemeClr val="tx1"/>
                </a:solidFill>
                <a:latin typeface="+mn-ea"/>
                <a:ea typeface="+mn-ea"/>
              </a:rPr>
              <a:t>4.4.2</a:t>
            </a:r>
            <a:r>
              <a:rPr lang="zh-CN" altLang="en-US" sz="2400">
                <a:solidFill>
                  <a:schemeClr val="tx1"/>
                </a:solidFill>
                <a:latin typeface="+mn-ea"/>
                <a:ea typeface="+mn-ea"/>
              </a:rPr>
              <a:t>　输出回路和级间耦合回路</a:t>
            </a:r>
          </a:p>
        </p:txBody>
      </p:sp>
      <p:sp>
        <p:nvSpPr>
          <p:cNvPr id="16" name="Text Box 5">
            <a:extLst>
              <a:ext uri="{FF2B5EF4-FFF2-40B4-BE49-F238E27FC236}">
                <a16:creationId xmlns:a16="http://schemas.microsoft.com/office/drawing/2014/main" xmlns="" id="{ACF8923A-89F7-2186-7996-E96D96B4BDFB}"/>
              </a:ext>
            </a:extLst>
          </p:cNvPr>
          <p:cNvSpPr txBox="1">
            <a:spLocks noChangeArrowheads="1"/>
          </p:cNvSpPr>
          <p:nvPr/>
        </p:nvSpPr>
        <p:spPr bwMode="auto">
          <a:xfrm>
            <a:off x="3459865" y="3142825"/>
            <a:ext cx="235032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u="sng">
                <a:solidFill>
                  <a:schemeClr val="tx1"/>
                </a:solidFill>
                <a:latin typeface="+mn-ea"/>
                <a:ea typeface="+mn-ea"/>
              </a:rPr>
              <a:t>集电极馈电电路</a:t>
            </a:r>
          </a:p>
        </p:txBody>
      </p:sp>
      <p:sp>
        <p:nvSpPr>
          <p:cNvPr id="17" name="Text Box 6">
            <a:extLst>
              <a:ext uri="{FF2B5EF4-FFF2-40B4-BE49-F238E27FC236}">
                <a16:creationId xmlns:a16="http://schemas.microsoft.com/office/drawing/2014/main" xmlns="" id="{FB2DD1C9-2E7C-19C6-F72C-DE9AE3ED42B4}"/>
              </a:ext>
            </a:extLst>
          </p:cNvPr>
          <p:cNvSpPr txBox="1">
            <a:spLocks noChangeArrowheads="1"/>
          </p:cNvSpPr>
          <p:nvPr/>
        </p:nvSpPr>
        <p:spPr bwMode="auto">
          <a:xfrm>
            <a:off x="3459865" y="3801637"/>
            <a:ext cx="204094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u="sng">
                <a:solidFill>
                  <a:schemeClr val="tx1"/>
                </a:solidFill>
                <a:latin typeface="+mn-ea"/>
                <a:ea typeface="+mn-ea"/>
              </a:rPr>
              <a:t>基极馈电电路</a:t>
            </a:r>
          </a:p>
        </p:txBody>
      </p:sp>
      <p:sp>
        <p:nvSpPr>
          <p:cNvPr id="18" name="Text Box 7">
            <a:extLst>
              <a:ext uri="{FF2B5EF4-FFF2-40B4-BE49-F238E27FC236}">
                <a16:creationId xmlns:a16="http://schemas.microsoft.com/office/drawing/2014/main" xmlns="" id="{A3E41893-F89A-CF59-2456-C4193423A0E6}"/>
              </a:ext>
            </a:extLst>
          </p:cNvPr>
          <p:cNvSpPr txBox="1">
            <a:spLocks noChangeArrowheads="1"/>
          </p:cNvSpPr>
          <p:nvPr/>
        </p:nvSpPr>
        <p:spPr bwMode="auto">
          <a:xfrm>
            <a:off x="3459865" y="5252612"/>
            <a:ext cx="204094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u="sng">
                <a:solidFill>
                  <a:schemeClr val="tx1"/>
                </a:solidFill>
                <a:latin typeface="+mn-ea"/>
                <a:ea typeface="+mn-ea"/>
              </a:rPr>
              <a:t>级间耦合网络</a:t>
            </a:r>
          </a:p>
        </p:txBody>
      </p:sp>
      <p:sp>
        <p:nvSpPr>
          <p:cNvPr id="19" name="Text Box 8">
            <a:extLst>
              <a:ext uri="{FF2B5EF4-FFF2-40B4-BE49-F238E27FC236}">
                <a16:creationId xmlns:a16="http://schemas.microsoft.com/office/drawing/2014/main" xmlns="" id="{867D84DC-8AC2-157C-DB8E-643AB0ECC444}"/>
              </a:ext>
            </a:extLst>
          </p:cNvPr>
          <p:cNvSpPr txBox="1">
            <a:spLocks noChangeArrowheads="1"/>
          </p:cNvSpPr>
          <p:nvPr/>
        </p:nvSpPr>
        <p:spPr bwMode="auto">
          <a:xfrm>
            <a:off x="3459865" y="5949525"/>
            <a:ext cx="204094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u="sng">
                <a:solidFill>
                  <a:schemeClr val="tx1"/>
                </a:solidFill>
                <a:latin typeface="+mn-ea"/>
                <a:ea typeface="+mn-ea"/>
              </a:rPr>
              <a:t>输出匹配网络</a:t>
            </a:r>
            <a:endParaRPr lang="zh-CN" altLang="en-US" sz="2400" b="0" u="sng">
              <a:solidFill>
                <a:schemeClr val="tx1"/>
              </a:solidFill>
              <a:latin typeface="+mn-ea"/>
              <a:ea typeface="+mn-ea"/>
            </a:endParaRPr>
          </a:p>
        </p:txBody>
      </p:sp>
    </p:spTree>
    <p:extLst>
      <p:ext uri="{BB962C8B-B14F-4D97-AF65-F5344CB8AC3E}">
        <p14:creationId xmlns:p14="http://schemas.microsoft.com/office/powerpoint/2010/main" val="3741998929"/>
      </p:ext>
    </p:extLst>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133</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12"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4.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谐振</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功率</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放大器</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Text Box 3">
            <a:extLst>
              <a:ext uri="{FF2B5EF4-FFF2-40B4-BE49-F238E27FC236}">
                <a16:creationId xmlns:a16="http://schemas.microsoft.com/office/drawing/2014/main" xmlns="" id="{37FE4EDA-D1B6-F6A7-8905-8B4A0A5CAB78}"/>
              </a:ext>
            </a:extLst>
          </p:cNvPr>
          <p:cNvSpPr txBox="1">
            <a:spLocks noChangeArrowheads="1"/>
          </p:cNvSpPr>
          <p:nvPr/>
        </p:nvSpPr>
        <p:spPr bwMode="auto">
          <a:xfrm>
            <a:off x="492309" y="1518548"/>
            <a:ext cx="521493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000" dirty="0">
                <a:solidFill>
                  <a:schemeClr val="tx1"/>
                </a:solidFill>
                <a:latin typeface="+mn-ea"/>
                <a:ea typeface="+mn-ea"/>
              </a:rPr>
              <a:t>1. </a:t>
            </a:r>
            <a:r>
              <a:rPr lang="zh-CN" altLang="en-US" sz="2000" dirty="0">
                <a:solidFill>
                  <a:schemeClr val="tx1"/>
                </a:solidFill>
                <a:latin typeface="+mn-ea"/>
                <a:ea typeface="+mn-ea"/>
              </a:rPr>
              <a:t>集电极馈电电路</a:t>
            </a:r>
            <a:endParaRPr lang="zh-CN" altLang="en-US" sz="2000" b="0" dirty="0">
              <a:solidFill>
                <a:schemeClr val="tx1"/>
              </a:solidFill>
              <a:latin typeface="+mn-ea"/>
              <a:ea typeface="+mn-ea"/>
            </a:endParaRPr>
          </a:p>
        </p:txBody>
      </p:sp>
      <p:sp>
        <p:nvSpPr>
          <p:cNvPr id="6" name="Text Box 4">
            <a:extLst>
              <a:ext uri="{FF2B5EF4-FFF2-40B4-BE49-F238E27FC236}">
                <a16:creationId xmlns:a16="http://schemas.microsoft.com/office/drawing/2014/main" xmlns="" id="{AD165B13-7309-824A-0D20-E22C5B58D8B6}"/>
              </a:ext>
            </a:extLst>
          </p:cNvPr>
          <p:cNvSpPr txBox="1">
            <a:spLocks noChangeArrowheads="1"/>
          </p:cNvSpPr>
          <p:nvPr/>
        </p:nvSpPr>
        <p:spPr bwMode="auto">
          <a:xfrm>
            <a:off x="478022" y="2060807"/>
            <a:ext cx="7993062" cy="799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0000"/>
              </a:lnSpc>
            </a:pPr>
            <a:r>
              <a:rPr lang="en-US" altLang="zh-CN" sz="2000" dirty="0">
                <a:solidFill>
                  <a:schemeClr val="tx1"/>
                </a:solidFill>
                <a:latin typeface="+mn-ea"/>
                <a:ea typeface="+mn-ea"/>
              </a:rPr>
              <a:t>    </a:t>
            </a:r>
            <a:r>
              <a:rPr lang="zh-CN" altLang="en-US" sz="2000" dirty="0">
                <a:solidFill>
                  <a:schemeClr val="tx1"/>
                </a:solidFill>
                <a:latin typeface="+mn-ea"/>
                <a:ea typeface="+mn-ea"/>
              </a:rPr>
              <a:t>根据直流电源连接方式的不同，集电极馈电电路又分为串联馈电和并联馈电两种。</a:t>
            </a:r>
          </a:p>
        </p:txBody>
      </p:sp>
      <p:graphicFrame>
        <p:nvGraphicFramePr>
          <p:cNvPr id="7" name="Object 7">
            <a:extLst>
              <a:ext uri="{FF2B5EF4-FFF2-40B4-BE49-F238E27FC236}">
                <a16:creationId xmlns:a16="http://schemas.microsoft.com/office/drawing/2014/main" xmlns="" id="{A626A5D3-9C9B-0069-8FE3-F5B9D37C81E8}"/>
              </a:ext>
            </a:extLst>
          </p:cNvPr>
          <p:cNvGraphicFramePr>
            <a:graphicFrameLocks/>
          </p:cNvGraphicFramePr>
          <p:nvPr>
            <p:extLst>
              <p:ext uri="{D42A27DB-BD31-4B8C-83A1-F6EECF244321}">
                <p14:modId xmlns:p14="http://schemas.microsoft.com/office/powerpoint/2010/main" val="3539955486"/>
              </p:ext>
            </p:extLst>
          </p:nvPr>
        </p:nvGraphicFramePr>
        <p:xfrm>
          <a:off x="1185525" y="2917150"/>
          <a:ext cx="6246812" cy="2976563"/>
        </p:xfrm>
        <a:graphic>
          <a:graphicData uri="http://schemas.openxmlformats.org/presentationml/2006/ole">
            <mc:AlternateContent xmlns:mc="http://schemas.openxmlformats.org/markup-compatibility/2006">
              <mc:Choice xmlns:v="urn:schemas-microsoft-com:vml" Requires="v">
                <p:oleObj spid="_x0000_s100394" r:id="rId3" imgW="3998520" imgH="2273400" progId="Word.Picture.8">
                  <p:embed/>
                </p:oleObj>
              </mc:Choice>
              <mc:Fallback>
                <p:oleObj r:id="rId3" imgW="3998520" imgH="2273400" progId="Word.Picture.8">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5525" y="2917150"/>
                        <a:ext cx="6246812" cy="2976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484020629"/>
      </p:ext>
    </p:extLst>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134</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12"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4.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谐振</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功率</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放大器</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Text Box 4">
            <a:extLst>
              <a:ext uri="{FF2B5EF4-FFF2-40B4-BE49-F238E27FC236}">
                <a16:creationId xmlns:a16="http://schemas.microsoft.com/office/drawing/2014/main" xmlns="" id="{FD401EEF-6E2D-DEBB-5CE8-4C1B01B0C9F9}"/>
              </a:ext>
            </a:extLst>
          </p:cNvPr>
          <p:cNvSpPr txBox="1">
            <a:spLocks noChangeArrowheads="1"/>
          </p:cNvSpPr>
          <p:nvPr/>
        </p:nvSpPr>
        <p:spPr bwMode="auto">
          <a:xfrm>
            <a:off x="624681" y="1292086"/>
            <a:ext cx="7894637" cy="1907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sz="2400" b="1">
                <a:solidFill>
                  <a:srgbClr val="FFFF00"/>
                </a:solidFill>
                <a:latin typeface="Times New Roman" panose="02020603050405020304" pitchFamily="18" charset="0"/>
                <a:ea typeface="宋体" panose="02010600030101010101" pitchFamily="2" charset="-122"/>
              </a:defRPr>
            </a:lvl1pPr>
            <a:lvl2pPr>
              <a:defRPr sz="2400" b="1">
                <a:solidFill>
                  <a:srgbClr val="FFFF00"/>
                </a:solidFill>
                <a:latin typeface="Times New Roman" panose="02020603050405020304" pitchFamily="18" charset="0"/>
                <a:ea typeface="宋体" panose="02010600030101010101" pitchFamily="2" charset="-122"/>
              </a:defRPr>
            </a:lvl2pPr>
            <a:lvl3pPr>
              <a:defRPr sz="2400" b="1">
                <a:solidFill>
                  <a:srgbClr val="FFFF00"/>
                </a:solidFill>
                <a:latin typeface="Times New Roman" panose="02020603050405020304" pitchFamily="18" charset="0"/>
                <a:ea typeface="宋体" panose="02010600030101010101" pitchFamily="2" charset="-122"/>
              </a:defRPr>
            </a:lvl3pPr>
            <a:lvl4pPr>
              <a:defRPr sz="2400" b="1">
                <a:solidFill>
                  <a:srgbClr val="FFFF00"/>
                </a:solidFill>
                <a:latin typeface="Times New Roman" panose="02020603050405020304" pitchFamily="18" charset="0"/>
                <a:ea typeface="宋体" panose="02010600030101010101" pitchFamily="2" charset="-122"/>
              </a:defRPr>
            </a:lvl4pPr>
            <a:lvl5pPr>
              <a:defRPr sz="2400" b="1">
                <a:solidFill>
                  <a:srgbClr val="FFFF00"/>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2400" b="1">
                <a:solidFill>
                  <a:srgbClr val="FFFF00"/>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2400" b="1">
                <a:solidFill>
                  <a:srgbClr val="FFFF00"/>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2400" b="1">
                <a:solidFill>
                  <a:srgbClr val="FFFF00"/>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2400" b="1">
                <a:solidFill>
                  <a:srgbClr val="FFFF00"/>
                </a:solidFill>
                <a:latin typeface="Times New Roman" panose="02020603050405020304" pitchFamily="18" charset="0"/>
                <a:ea typeface="宋体" panose="02010600030101010101" pitchFamily="2" charset="-122"/>
              </a:defRPr>
            </a:lvl9pPr>
          </a:lstStyle>
          <a:p>
            <a:pPr algn="just">
              <a:lnSpc>
                <a:spcPct val="120000"/>
              </a:lnSpc>
            </a:pPr>
            <a:r>
              <a:rPr lang="en-US" altLang="zh-CN" sz="2000" dirty="0">
                <a:solidFill>
                  <a:schemeClr val="tx1"/>
                </a:solidFill>
                <a:latin typeface="+mn-ea"/>
                <a:ea typeface="+mn-ea"/>
              </a:rPr>
              <a:t>(1)</a:t>
            </a:r>
            <a:r>
              <a:rPr lang="zh-CN" altLang="en-US" sz="2000" dirty="0">
                <a:solidFill>
                  <a:srgbClr val="FF0000"/>
                </a:solidFill>
                <a:latin typeface="+mn-ea"/>
                <a:ea typeface="+mn-ea"/>
              </a:rPr>
              <a:t>串馈电路</a:t>
            </a:r>
            <a:r>
              <a:rPr lang="zh-CN" altLang="en-US" sz="2000" dirty="0">
                <a:solidFill>
                  <a:schemeClr val="tx1"/>
                </a:solidFill>
                <a:latin typeface="+mn-ea"/>
                <a:ea typeface="+mn-ea"/>
              </a:rPr>
              <a:t>指直流电源</a:t>
            </a:r>
            <a:r>
              <a:rPr lang="en-US" altLang="zh-CN" sz="2000" dirty="0">
                <a:solidFill>
                  <a:schemeClr val="tx1"/>
                </a:solidFill>
                <a:latin typeface="+mn-ea"/>
                <a:ea typeface="+mn-ea"/>
              </a:rPr>
              <a:t>V</a:t>
            </a:r>
            <a:r>
              <a:rPr lang="en-US" altLang="zh-CN" sz="2000" baseline="-25000" dirty="0">
                <a:solidFill>
                  <a:schemeClr val="tx1"/>
                </a:solidFill>
                <a:latin typeface="+mn-ea"/>
                <a:ea typeface="+mn-ea"/>
              </a:rPr>
              <a:t>CC</a:t>
            </a:r>
            <a:r>
              <a:rPr lang="zh-CN" altLang="en-US" sz="2000" dirty="0">
                <a:solidFill>
                  <a:schemeClr val="tx1"/>
                </a:solidFill>
                <a:latin typeface="+mn-ea"/>
                <a:ea typeface="+mn-ea"/>
              </a:rPr>
              <a:t>、负载回路</a:t>
            </a:r>
            <a:r>
              <a:rPr lang="en-US" altLang="zh-CN" sz="2000" dirty="0">
                <a:solidFill>
                  <a:schemeClr val="tx1"/>
                </a:solidFill>
                <a:latin typeface="+mn-ea"/>
                <a:ea typeface="+mn-ea"/>
              </a:rPr>
              <a:t>(</a:t>
            </a:r>
            <a:r>
              <a:rPr lang="zh-CN" altLang="en-US" sz="2000" dirty="0">
                <a:solidFill>
                  <a:schemeClr val="tx1"/>
                </a:solidFill>
                <a:latin typeface="+mn-ea"/>
                <a:ea typeface="+mn-ea"/>
              </a:rPr>
              <a:t>匹配网络</a:t>
            </a:r>
            <a:r>
              <a:rPr lang="en-US" altLang="zh-CN" sz="2000" dirty="0">
                <a:solidFill>
                  <a:schemeClr val="tx1"/>
                </a:solidFill>
                <a:latin typeface="+mn-ea"/>
                <a:ea typeface="+mn-ea"/>
              </a:rPr>
              <a:t>)</a:t>
            </a:r>
            <a:r>
              <a:rPr lang="zh-CN" altLang="en-US" sz="2000" dirty="0">
                <a:solidFill>
                  <a:schemeClr val="tx1"/>
                </a:solidFill>
                <a:latin typeface="+mn-ea"/>
                <a:ea typeface="+mn-ea"/>
              </a:rPr>
              <a:t>、功率管三者首尾相接的一种直流馈电电路。</a:t>
            </a:r>
          </a:p>
          <a:p>
            <a:pPr algn="just">
              <a:lnSpc>
                <a:spcPct val="120000"/>
              </a:lnSpc>
            </a:pPr>
            <a:r>
              <a:rPr lang="en-US" altLang="zh-CN" sz="2000" dirty="0">
                <a:solidFill>
                  <a:schemeClr val="tx1"/>
                </a:solidFill>
                <a:latin typeface="+mn-ea"/>
                <a:ea typeface="+mn-ea"/>
              </a:rPr>
              <a:t>   C</a:t>
            </a:r>
            <a:r>
              <a:rPr lang="en-US" altLang="zh-CN" sz="2000" baseline="-25000" dirty="0">
                <a:solidFill>
                  <a:schemeClr val="tx1"/>
                </a:solidFill>
                <a:latin typeface="+mn-ea"/>
                <a:ea typeface="+mn-ea"/>
              </a:rPr>
              <a:t>1</a:t>
            </a:r>
            <a:r>
              <a:rPr lang="zh-CN" altLang="en-US" sz="2000" dirty="0">
                <a:solidFill>
                  <a:schemeClr val="tx1"/>
                </a:solidFill>
                <a:latin typeface="+mn-ea"/>
                <a:ea typeface="+mn-ea"/>
              </a:rPr>
              <a:t>、</a:t>
            </a:r>
            <a:r>
              <a:rPr lang="en-US" altLang="zh-CN" sz="2000" dirty="0">
                <a:solidFill>
                  <a:schemeClr val="tx1"/>
                </a:solidFill>
                <a:latin typeface="+mn-ea"/>
                <a:ea typeface="+mn-ea"/>
              </a:rPr>
              <a:t>L</a:t>
            </a:r>
            <a:r>
              <a:rPr lang="en-US" altLang="zh-CN" sz="2000" baseline="-25000" dirty="0">
                <a:solidFill>
                  <a:schemeClr val="tx1"/>
                </a:solidFill>
                <a:latin typeface="+mn-ea"/>
                <a:ea typeface="+mn-ea"/>
              </a:rPr>
              <a:t>C</a:t>
            </a:r>
            <a:r>
              <a:rPr lang="zh-CN" altLang="en-US" sz="2000" dirty="0">
                <a:solidFill>
                  <a:schemeClr val="tx1"/>
                </a:solidFill>
                <a:latin typeface="+mn-ea"/>
                <a:ea typeface="+mn-ea"/>
              </a:rPr>
              <a:t>为低通滤波电路，</a:t>
            </a:r>
            <a:r>
              <a:rPr lang="en-US" altLang="zh-CN" sz="2000" dirty="0">
                <a:solidFill>
                  <a:schemeClr val="tx1"/>
                </a:solidFill>
                <a:latin typeface="+mn-ea"/>
                <a:ea typeface="+mn-ea"/>
              </a:rPr>
              <a:t>A</a:t>
            </a:r>
            <a:r>
              <a:rPr lang="zh-CN" altLang="en-US" sz="2000" dirty="0">
                <a:solidFill>
                  <a:schemeClr val="tx1"/>
                </a:solidFill>
                <a:latin typeface="+mn-ea"/>
                <a:ea typeface="+mn-ea"/>
              </a:rPr>
              <a:t>点为高频地电位，既阻止电源</a:t>
            </a:r>
            <a:r>
              <a:rPr lang="en-US" altLang="zh-CN" sz="2000" dirty="0">
                <a:solidFill>
                  <a:schemeClr val="tx1"/>
                </a:solidFill>
                <a:latin typeface="+mn-ea"/>
                <a:ea typeface="+mn-ea"/>
              </a:rPr>
              <a:t>V</a:t>
            </a:r>
            <a:r>
              <a:rPr lang="en-US" altLang="zh-CN" sz="2000" baseline="-25000" dirty="0">
                <a:solidFill>
                  <a:schemeClr val="tx1"/>
                </a:solidFill>
                <a:latin typeface="+mn-ea"/>
                <a:ea typeface="+mn-ea"/>
              </a:rPr>
              <a:t>CC</a:t>
            </a:r>
            <a:r>
              <a:rPr lang="zh-CN" altLang="en-US" sz="2000" dirty="0">
                <a:solidFill>
                  <a:schemeClr val="tx1"/>
                </a:solidFill>
                <a:latin typeface="+mn-ea"/>
                <a:ea typeface="+mn-ea"/>
              </a:rPr>
              <a:t>中的高频成分影响放大器的工作，又避免高频信号在</a:t>
            </a:r>
            <a:r>
              <a:rPr lang="en-US" altLang="zh-CN" sz="2000" dirty="0">
                <a:solidFill>
                  <a:schemeClr val="tx1"/>
                </a:solidFill>
                <a:latin typeface="+mn-ea"/>
                <a:ea typeface="+mn-ea"/>
              </a:rPr>
              <a:t>LC</a:t>
            </a:r>
            <a:r>
              <a:rPr lang="zh-CN" altLang="en-US" sz="2000" dirty="0">
                <a:solidFill>
                  <a:schemeClr val="tx1"/>
                </a:solidFill>
                <a:latin typeface="+mn-ea"/>
                <a:ea typeface="+mn-ea"/>
              </a:rPr>
              <a:t>负载回路以外不必要的损耗。</a:t>
            </a:r>
          </a:p>
        </p:txBody>
      </p:sp>
      <p:graphicFrame>
        <p:nvGraphicFramePr>
          <p:cNvPr id="6" name="Object 7">
            <a:extLst>
              <a:ext uri="{FF2B5EF4-FFF2-40B4-BE49-F238E27FC236}">
                <a16:creationId xmlns:a16="http://schemas.microsoft.com/office/drawing/2014/main" xmlns="" id="{0AD5F574-206A-D041-6C19-1389CD3CEEA9}"/>
              </a:ext>
            </a:extLst>
          </p:cNvPr>
          <p:cNvGraphicFramePr>
            <a:graphicFrameLocks/>
          </p:cNvGraphicFramePr>
          <p:nvPr>
            <p:extLst>
              <p:ext uri="{D42A27DB-BD31-4B8C-83A1-F6EECF244321}">
                <p14:modId xmlns:p14="http://schemas.microsoft.com/office/powerpoint/2010/main" val="3663331239"/>
              </p:ext>
            </p:extLst>
          </p:nvPr>
        </p:nvGraphicFramePr>
        <p:xfrm>
          <a:off x="899766" y="3439318"/>
          <a:ext cx="3941762" cy="3017838"/>
        </p:xfrm>
        <a:graphic>
          <a:graphicData uri="http://schemas.openxmlformats.org/presentationml/2006/ole">
            <mc:AlternateContent xmlns:mc="http://schemas.openxmlformats.org/markup-compatibility/2006">
              <mc:Choice xmlns:v="urn:schemas-microsoft-com:vml" Requires="v">
                <p:oleObj spid="_x0000_s101418" r:id="rId3" imgW="2691000" imgH="2273400" progId="Word.Picture.8">
                  <p:embed/>
                </p:oleObj>
              </mc:Choice>
              <mc:Fallback>
                <p:oleObj r:id="rId3" imgW="2691000" imgH="2273400" progId="Word.Picture.8">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9766" y="3439318"/>
                        <a:ext cx="3941762" cy="301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 name="矩形 6">
            <a:extLst>
              <a:ext uri="{FF2B5EF4-FFF2-40B4-BE49-F238E27FC236}">
                <a16:creationId xmlns:a16="http://schemas.microsoft.com/office/drawing/2014/main" xmlns="" id="{09994C72-1DF5-4BA1-0A3B-8555535591E0}"/>
              </a:ext>
            </a:extLst>
          </p:cNvPr>
          <p:cNvSpPr>
            <a:spLocks noChangeArrowheads="1"/>
          </p:cNvSpPr>
          <p:nvPr/>
        </p:nvSpPr>
        <p:spPr bwMode="auto">
          <a:xfrm>
            <a:off x="2058641" y="5093493"/>
            <a:ext cx="1282700" cy="962025"/>
          </a:xfrm>
          <a:prstGeom prst="rect">
            <a:avLst/>
          </a:prstGeom>
          <a:noFill/>
          <a:ln w="28575">
            <a:solidFill>
              <a:srgbClr val="FF0000"/>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sz="2000">
              <a:latin typeface="+mn-ea"/>
              <a:ea typeface="+mn-ea"/>
            </a:endParaRPr>
          </a:p>
        </p:txBody>
      </p:sp>
      <p:sp>
        <p:nvSpPr>
          <p:cNvPr id="8" name="矩形 7">
            <a:extLst>
              <a:ext uri="{FF2B5EF4-FFF2-40B4-BE49-F238E27FC236}">
                <a16:creationId xmlns:a16="http://schemas.microsoft.com/office/drawing/2014/main" xmlns="" id="{4FBB73BC-F8A3-8D6F-B2C5-C6527A37F9CC}"/>
              </a:ext>
            </a:extLst>
          </p:cNvPr>
          <p:cNvSpPr>
            <a:spLocks noChangeArrowheads="1"/>
          </p:cNvSpPr>
          <p:nvPr/>
        </p:nvSpPr>
        <p:spPr bwMode="auto">
          <a:xfrm>
            <a:off x="2385666" y="4047331"/>
            <a:ext cx="1219200" cy="982662"/>
          </a:xfrm>
          <a:prstGeom prst="rect">
            <a:avLst/>
          </a:prstGeom>
          <a:noFill/>
          <a:ln w="28575">
            <a:solidFill>
              <a:srgbClr val="FF6600"/>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sz="2000">
              <a:latin typeface="+mn-ea"/>
              <a:ea typeface="+mn-ea"/>
            </a:endParaRPr>
          </a:p>
        </p:txBody>
      </p:sp>
      <p:sp>
        <p:nvSpPr>
          <p:cNvPr id="9" name="矩形 8">
            <a:extLst>
              <a:ext uri="{FF2B5EF4-FFF2-40B4-BE49-F238E27FC236}">
                <a16:creationId xmlns:a16="http://schemas.microsoft.com/office/drawing/2014/main" xmlns="" id="{CC95F11F-C915-FD9E-2670-65B791D76C58}"/>
              </a:ext>
            </a:extLst>
          </p:cNvPr>
          <p:cNvSpPr>
            <a:spLocks noChangeArrowheads="1"/>
          </p:cNvSpPr>
          <p:nvPr/>
        </p:nvSpPr>
        <p:spPr bwMode="auto">
          <a:xfrm>
            <a:off x="1064866" y="3999706"/>
            <a:ext cx="715962" cy="1460500"/>
          </a:xfrm>
          <a:prstGeom prst="rect">
            <a:avLst/>
          </a:prstGeom>
          <a:noFill/>
          <a:ln w="28575">
            <a:solidFill>
              <a:srgbClr val="00FF00"/>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sz="2000">
              <a:latin typeface="+mn-ea"/>
              <a:ea typeface="+mn-ea"/>
            </a:endParaRPr>
          </a:p>
        </p:txBody>
      </p:sp>
      <p:sp>
        <p:nvSpPr>
          <p:cNvPr id="10" name="矩形 9">
            <a:extLst>
              <a:ext uri="{FF2B5EF4-FFF2-40B4-BE49-F238E27FC236}">
                <a16:creationId xmlns:a16="http://schemas.microsoft.com/office/drawing/2014/main" xmlns="" id="{BDD7D1AF-658F-3434-C130-78D4FA808102}"/>
              </a:ext>
            </a:extLst>
          </p:cNvPr>
          <p:cNvSpPr>
            <a:spLocks noChangeArrowheads="1"/>
          </p:cNvSpPr>
          <p:nvPr/>
        </p:nvSpPr>
        <p:spPr bwMode="auto">
          <a:xfrm>
            <a:off x="4264471" y="3777471"/>
            <a:ext cx="4260850" cy="12525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30000"/>
              </a:lnSpc>
            </a:pPr>
            <a:r>
              <a:rPr lang="en-US" altLang="zh-CN" sz="2000" dirty="0">
                <a:solidFill>
                  <a:schemeClr val="tx1"/>
                </a:solidFill>
                <a:latin typeface="+mn-ea"/>
                <a:ea typeface="+mn-ea"/>
              </a:rPr>
              <a:t>C</a:t>
            </a:r>
            <a:r>
              <a:rPr lang="en-US" altLang="zh-CN" sz="2000" baseline="-25000" dirty="0">
                <a:solidFill>
                  <a:schemeClr val="tx1"/>
                </a:solidFill>
                <a:latin typeface="+mn-ea"/>
                <a:ea typeface="+mn-ea"/>
              </a:rPr>
              <a:t>1</a:t>
            </a:r>
            <a:r>
              <a:rPr lang="zh-CN" altLang="en-US" sz="2000" dirty="0">
                <a:solidFill>
                  <a:schemeClr val="tx1"/>
                </a:solidFill>
                <a:latin typeface="+mn-ea"/>
                <a:ea typeface="+mn-ea"/>
              </a:rPr>
              <a:t>、</a:t>
            </a:r>
            <a:r>
              <a:rPr lang="en-US" altLang="zh-CN" sz="2000" dirty="0">
                <a:solidFill>
                  <a:schemeClr val="tx1"/>
                </a:solidFill>
                <a:latin typeface="+mn-ea"/>
                <a:ea typeface="+mn-ea"/>
              </a:rPr>
              <a:t>L</a:t>
            </a:r>
            <a:r>
              <a:rPr lang="en-US" altLang="zh-CN" sz="2000" baseline="-25000" dirty="0">
                <a:solidFill>
                  <a:schemeClr val="tx1"/>
                </a:solidFill>
                <a:latin typeface="+mn-ea"/>
                <a:ea typeface="+mn-ea"/>
              </a:rPr>
              <a:t>C</a:t>
            </a:r>
            <a:r>
              <a:rPr lang="zh-CN" altLang="en-US" sz="2000" dirty="0">
                <a:solidFill>
                  <a:schemeClr val="tx1"/>
                </a:solidFill>
                <a:latin typeface="+mn-ea"/>
                <a:ea typeface="+mn-ea"/>
              </a:rPr>
              <a:t>的选取原则为：</a:t>
            </a:r>
          </a:p>
          <a:p>
            <a:pPr>
              <a:lnSpc>
                <a:spcPct val="130000"/>
              </a:lnSpc>
            </a:pPr>
            <a:r>
              <a:rPr lang="zh-CN" altLang="en-US" sz="2000" dirty="0">
                <a:solidFill>
                  <a:schemeClr val="tx1"/>
                </a:solidFill>
                <a:latin typeface="+mn-ea"/>
                <a:ea typeface="+mn-ea"/>
                <a:sym typeface="Symbol" panose="05050102010706020507" pitchFamily="18" charset="2"/>
              </a:rPr>
              <a:t></a:t>
            </a:r>
            <a:r>
              <a:rPr lang="en-US" altLang="zh-CN" sz="2000" dirty="0">
                <a:solidFill>
                  <a:schemeClr val="tx1"/>
                </a:solidFill>
                <a:latin typeface="+mn-ea"/>
                <a:ea typeface="+mn-ea"/>
              </a:rPr>
              <a:t>L</a:t>
            </a:r>
            <a:r>
              <a:rPr lang="en-US" altLang="zh-CN" sz="2000" baseline="-25000" dirty="0">
                <a:solidFill>
                  <a:schemeClr val="tx1"/>
                </a:solidFill>
                <a:latin typeface="+mn-ea"/>
                <a:ea typeface="+mn-ea"/>
              </a:rPr>
              <a:t>C</a:t>
            </a:r>
            <a:r>
              <a:rPr lang="en-US" altLang="zh-CN" sz="2000" dirty="0">
                <a:solidFill>
                  <a:schemeClr val="tx1"/>
                </a:solidFill>
                <a:latin typeface="+mn-ea"/>
                <a:ea typeface="+mn-ea"/>
              </a:rPr>
              <a:t> </a:t>
            </a:r>
            <a:r>
              <a:rPr lang="zh-CN" altLang="en-US" sz="2000" dirty="0">
                <a:solidFill>
                  <a:schemeClr val="tx1"/>
                </a:solidFill>
                <a:latin typeface="+mn-ea"/>
                <a:ea typeface="+mn-ea"/>
              </a:rPr>
              <a:t>＞ </a:t>
            </a:r>
            <a:r>
              <a:rPr lang="en-US" altLang="zh-CN" sz="2000" dirty="0">
                <a:solidFill>
                  <a:schemeClr val="tx1"/>
                </a:solidFill>
                <a:latin typeface="+mn-ea"/>
                <a:ea typeface="+mn-ea"/>
                <a:sym typeface="Symbol" panose="05050102010706020507" pitchFamily="18" charset="2"/>
              </a:rPr>
              <a:t>10 </a:t>
            </a:r>
            <a:r>
              <a:rPr lang="zh-CN" altLang="en-US" sz="2000" dirty="0">
                <a:solidFill>
                  <a:schemeClr val="tx1"/>
                </a:solidFill>
                <a:latin typeface="+mn-ea"/>
                <a:ea typeface="+mn-ea"/>
              </a:rPr>
              <a:t>回路阻抗    </a:t>
            </a:r>
          </a:p>
          <a:p>
            <a:pPr>
              <a:lnSpc>
                <a:spcPct val="130000"/>
              </a:lnSpc>
            </a:pPr>
            <a:r>
              <a:rPr lang="en-US" altLang="zh-CN" sz="2000" dirty="0">
                <a:solidFill>
                  <a:schemeClr val="tx1"/>
                </a:solidFill>
                <a:latin typeface="+mn-ea"/>
                <a:ea typeface="+mn-ea"/>
              </a:rPr>
              <a:t>1 / </a:t>
            </a:r>
            <a:r>
              <a:rPr lang="en-US" altLang="zh-CN" sz="2000" dirty="0">
                <a:solidFill>
                  <a:schemeClr val="tx1"/>
                </a:solidFill>
                <a:latin typeface="+mn-ea"/>
                <a:ea typeface="+mn-ea"/>
                <a:sym typeface="Symbol" panose="05050102010706020507" pitchFamily="18" charset="2"/>
              </a:rPr>
              <a:t></a:t>
            </a:r>
            <a:r>
              <a:rPr lang="en-US" altLang="zh-CN" sz="2000" dirty="0">
                <a:solidFill>
                  <a:schemeClr val="tx1"/>
                </a:solidFill>
                <a:latin typeface="+mn-ea"/>
                <a:ea typeface="+mn-ea"/>
              </a:rPr>
              <a:t>c</a:t>
            </a:r>
            <a:r>
              <a:rPr lang="en-US" altLang="zh-CN" sz="2000" baseline="-25000" dirty="0">
                <a:solidFill>
                  <a:schemeClr val="tx1"/>
                </a:solidFill>
                <a:latin typeface="+mn-ea"/>
                <a:ea typeface="+mn-ea"/>
              </a:rPr>
              <a:t>1</a:t>
            </a:r>
            <a:r>
              <a:rPr lang="en-US" altLang="zh-CN" sz="2000" dirty="0">
                <a:solidFill>
                  <a:schemeClr val="tx1"/>
                </a:solidFill>
                <a:latin typeface="+mn-ea"/>
                <a:ea typeface="+mn-ea"/>
              </a:rPr>
              <a:t> </a:t>
            </a:r>
            <a:r>
              <a:rPr lang="zh-CN" altLang="en-US" sz="2000" dirty="0">
                <a:solidFill>
                  <a:schemeClr val="tx1"/>
                </a:solidFill>
                <a:latin typeface="+mn-ea"/>
                <a:ea typeface="+mn-ea"/>
              </a:rPr>
              <a:t>＜ </a:t>
            </a:r>
            <a:r>
              <a:rPr lang="en-US" altLang="zh-CN" sz="2000" dirty="0">
                <a:solidFill>
                  <a:schemeClr val="tx1"/>
                </a:solidFill>
                <a:latin typeface="+mn-ea"/>
                <a:ea typeface="+mn-ea"/>
              </a:rPr>
              <a:t>1/10</a:t>
            </a:r>
            <a:r>
              <a:rPr lang="en-US" altLang="zh-CN" sz="2000" dirty="0">
                <a:solidFill>
                  <a:schemeClr val="tx1"/>
                </a:solidFill>
                <a:latin typeface="+mn-ea"/>
                <a:ea typeface="+mn-ea"/>
                <a:sym typeface="Symbol" panose="05050102010706020507" pitchFamily="18" charset="2"/>
              </a:rPr>
              <a:t></a:t>
            </a:r>
            <a:r>
              <a:rPr lang="zh-CN" altLang="en-US" sz="2000" dirty="0">
                <a:solidFill>
                  <a:schemeClr val="tx1"/>
                </a:solidFill>
                <a:latin typeface="+mn-ea"/>
                <a:ea typeface="+mn-ea"/>
              </a:rPr>
              <a:t>回路阻抗</a:t>
            </a:r>
          </a:p>
        </p:txBody>
      </p:sp>
    </p:spTree>
    <p:extLst>
      <p:ext uri="{BB962C8B-B14F-4D97-AF65-F5344CB8AC3E}">
        <p14:creationId xmlns:p14="http://schemas.microsoft.com/office/powerpoint/2010/main" val="1424892932"/>
      </p:ext>
    </p:extLst>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135</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12"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4.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谐振</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功率</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放大器</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Text Box 5">
            <a:extLst>
              <a:ext uri="{FF2B5EF4-FFF2-40B4-BE49-F238E27FC236}">
                <a16:creationId xmlns:a16="http://schemas.microsoft.com/office/drawing/2014/main" xmlns="" id="{5106AB2F-3CC9-BE8E-D44C-84C27528DE38}"/>
              </a:ext>
            </a:extLst>
          </p:cNvPr>
          <p:cNvSpPr txBox="1">
            <a:spLocks noChangeArrowheads="1"/>
          </p:cNvSpPr>
          <p:nvPr/>
        </p:nvSpPr>
        <p:spPr bwMode="auto">
          <a:xfrm>
            <a:off x="395288" y="1334865"/>
            <a:ext cx="8207375" cy="1151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20000"/>
              </a:lnSpc>
            </a:pPr>
            <a:r>
              <a:rPr lang="en-US" altLang="zh-CN" sz="2000" dirty="0">
                <a:solidFill>
                  <a:schemeClr val="tx1"/>
                </a:solidFill>
                <a:latin typeface="+mn-ea"/>
                <a:ea typeface="+mn-ea"/>
              </a:rPr>
              <a:t>(2)</a:t>
            </a:r>
            <a:r>
              <a:rPr lang="zh-CN" altLang="en-US" sz="2000" dirty="0">
                <a:solidFill>
                  <a:srgbClr val="FF0000"/>
                </a:solidFill>
                <a:latin typeface="+mn-ea"/>
                <a:ea typeface="+mn-ea"/>
              </a:rPr>
              <a:t>并馈电路</a:t>
            </a:r>
            <a:r>
              <a:rPr lang="zh-CN" altLang="en-US" sz="2000" dirty="0">
                <a:solidFill>
                  <a:schemeClr val="tx1"/>
                </a:solidFill>
                <a:latin typeface="+mn-ea"/>
                <a:ea typeface="+mn-ea"/>
              </a:rPr>
              <a:t>指直流电源</a:t>
            </a:r>
            <a:r>
              <a:rPr lang="en-US" altLang="zh-CN" sz="2000" dirty="0">
                <a:solidFill>
                  <a:schemeClr val="tx1"/>
                </a:solidFill>
                <a:latin typeface="+mn-ea"/>
                <a:ea typeface="+mn-ea"/>
              </a:rPr>
              <a:t>V</a:t>
            </a:r>
            <a:r>
              <a:rPr lang="en-US" altLang="zh-CN" sz="2000" baseline="-25000" dirty="0">
                <a:solidFill>
                  <a:schemeClr val="tx1"/>
                </a:solidFill>
                <a:latin typeface="+mn-ea"/>
                <a:ea typeface="+mn-ea"/>
              </a:rPr>
              <a:t>CC</a:t>
            </a:r>
            <a:r>
              <a:rPr lang="zh-CN" altLang="en-US" sz="2000" dirty="0">
                <a:solidFill>
                  <a:schemeClr val="tx1"/>
                </a:solidFill>
                <a:latin typeface="+mn-ea"/>
                <a:ea typeface="+mn-ea"/>
              </a:rPr>
              <a:t>、负载回路</a:t>
            </a:r>
            <a:r>
              <a:rPr lang="en-US" altLang="zh-CN" sz="2000" dirty="0">
                <a:solidFill>
                  <a:schemeClr val="tx1"/>
                </a:solidFill>
                <a:latin typeface="+mn-ea"/>
                <a:ea typeface="+mn-ea"/>
              </a:rPr>
              <a:t>(</a:t>
            </a:r>
            <a:r>
              <a:rPr lang="zh-CN" altLang="en-US" sz="2000" dirty="0">
                <a:solidFill>
                  <a:schemeClr val="tx1"/>
                </a:solidFill>
                <a:latin typeface="+mn-ea"/>
                <a:ea typeface="+mn-ea"/>
              </a:rPr>
              <a:t>匹配网络</a:t>
            </a:r>
            <a:r>
              <a:rPr lang="en-US" altLang="zh-CN" sz="2000" dirty="0">
                <a:solidFill>
                  <a:schemeClr val="tx1"/>
                </a:solidFill>
                <a:latin typeface="+mn-ea"/>
                <a:ea typeface="+mn-ea"/>
              </a:rPr>
              <a:t>)</a:t>
            </a:r>
            <a:r>
              <a:rPr lang="zh-CN" altLang="en-US" sz="2000" dirty="0">
                <a:solidFill>
                  <a:schemeClr val="tx1"/>
                </a:solidFill>
                <a:latin typeface="+mn-ea"/>
                <a:ea typeface="+mn-ea"/>
              </a:rPr>
              <a:t>、功率管三者为并联连接的一种馈电电路。如图</a:t>
            </a:r>
            <a:r>
              <a:rPr lang="en-US" altLang="zh-CN" sz="2000" dirty="0">
                <a:solidFill>
                  <a:schemeClr val="tx1"/>
                </a:solidFill>
                <a:latin typeface="+mn-ea"/>
                <a:ea typeface="+mn-ea"/>
              </a:rPr>
              <a:t>L</a:t>
            </a:r>
            <a:r>
              <a:rPr lang="en-US" altLang="zh-CN" sz="2000" baseline="-25000" dirty="0">
                <a:solidFill>
                  <a:schemeClr val="tx1"/>
                </a:solidFill>
                <a:latin typeface="+mn-ea"/>
                <a:ea typeface="+mn-ea"/>
              </a:rPr>
              <a:t>C</a:t>
            </a:r>
            <a:r>
              <a:rPr lang="zh-CN" altLang="en-US" sz="2000" dirty="0">
                <a:solidFill>
                  <a:schemeClr val="tx1"/>
                </a:solidFill>
                <a:latin typeface="+mn-ea"/>
                <a:ea typeface="+mn-ea"/>
              </a:rPr>
              <a:t>为高频扼流圈，</a:t>
            </a:r>
            <a:r>
              <a:rPr lang="en-US" altLang="zh-CN" sz="2000" dirty="0">
                <a:solidFill>
                  <a:schemeClr val="tx1"/>
                </a:solidFill>
                <a:latin typeface="+mn-ea"/>
                <a:ea typeface="+mn-ea"/>
              </a:rPr>
              <a:t>C</a:t>
            </a:r>
            <a:r>
              <a:rPr lang="en-US" altLang="zh-CN" sz="2000" baseline="-25000" dirty="0">
                <a:solidFill>
                  <a:schemeClr val="tx1"/>
                </a:solidFill>
                <a:latin typeface="+mn-ea"/>
                <a:ea typeface="+mn-ea"/>
              </a:rPr>
              <a:t>1</a:t>
            </a:r>
            <a:r>
              <a:rPr lang="zh-CN" altLang="en-US" sz="2000" dirty="0">
                <a:solidFill>
                  <a:schemeClr val="tx1"/>
                </a:solidFill>
                <a:latin typeface="+mn-ea"/>
                <a:ea typeface="+mn-ea"/>
              </a:rPr>
              <a:t>为高频旁路电容，</a:t>
            </a:r>
            <a:r>
              <a:rPr lang="en-US" altLang="zh-CN" sz="2000" dirty="0">
                <a:solidFill>
                  <a:schemeClr val="tx1"/>
                </a:solidFill>
                <a:latin typeface="+mn-ea"/>
                <a:ea typeface="+mn-ea"/>
              </a:rPr>
              <a:t>C</a:t>
            </a:r>
            <a:r>
              <a:rPr lang="en-US" altLang="zh-CN" sz="2000" baseline="-25000" dirty="0">
                <a:solidFill>
                  <a:schemeClr val="tx1"/>
                </a:solidFill>
                <a:latin typeface="+mn-ea"/>
                <a:ea typeface="+mn-ea"/>
              </a:rPr>
              <a:t>2</a:t>
            </a:r>
            <a:r>
              <a:rPr lang="zh-CN" altLang="en-US" sz="2000" dirty="0">
                <a:solidFill>
                  <a:schemeClr val="tx1"/>
                </a:solidFill>
                <a:latin typeface="+mn-ea"/>
                <a:ea typeface="+mn-ea"/>
              </a:rPr>
              <a:t>为隔直流通高频电容，</a:t>
            </a:r>
            <a:r>
              <a:rPr lang="en-US" altLang="zh-CN" sz="2000" dirty="0">
                <a:solidFill>
                  <a:schemeClr val="tx1"/>
                </a:solidFill>
                <a:latin typeface="+mn-ea"/>
                <a:ea typeface="+mn-ea"/>
              </a:rPr>
              <a:t>L</a:t>
            </a:r>
            <a:r>
              <a:rPr lang="en-US" altLang="zh-CN" sz="2000" baseline="-25000" dirty="0">
                <a:solidFill>
                  <a:schemeClr val="tx1"/>
                </a:solidFill>
                <a:latin typeface="+mn-ea"/>
                <a:ea typeface="+mn-ea"/>
              </a:rPr>
              <a:t>C</a:t>
            </a:r>
            <a:r>
              <a:rPr lang="zh-CN" altLang="en-US" sz="2000" dirty="0">
                <a:solidFill>
                  <a:schemeClr val="tx1"/>
                </a:solidFill>
                <a:latin typeface="+mn-ea"/>
                <a:ea typeface="+mn-ea"/>
              </a:rPr>
              <a:t>、</a:t>
            </a:r>
            <a:r>
              <a:rPr lang="en-US" altLang="zh-CN" sz="2000" dirty="0">
                <a:solidFill>
                  <a:schemeClr val="tx1"/>
                </a:solidFill>
                <a:latin typeface="+mn-ea"/>
                <a:ea typeface="+mn-ea"/>
              </a:rPr>
              <a:t>C</a:t>
            </a:r>
            <a:r>
              <a:rPr lang="en-US" altLang="zh-CN" sz="2000" baseline="-25000" dirty="0">
                <a:solidFill>
                  <a:schemeClr val="tx1"/>
                </a:solidFill>
                <a:latin typeface="+mn-ea"/>
                <a:ea typeface="+mn-ea"/>
              </a:rPr>
              <a:t>1</a:t>
            </a:r>
            <a:r>
              <a:rPr lang="zh-CN" altLang="en-US" sz="2000" dirty="0">
                <a:solidFill>
                  <a:schemeClr val="tx1"/>
                </a:solidFill>
                <a:latin typeface="+mn-ea"/>
                <a:ea typeface="+mn-ea"/>
              </a:rPr>
              <a:t>、</a:t>
            </a:r>
            <a:r>
              <a:rPr lang="en-US" altLang="zh-CN" sz="2000" dirty="0">
                <a:solidFill>
                  <a:schemeClr val="tx1"/>
                </a:solidFill>
                <a:latin typeface="+mn-ea"/>
                <a:ea typeface="+mn-ea"/>
              </a:rPr>
              <a:t>C</a:t>
            </a:r>
            <a:r>
              <a:rPr lang="en-US" altLang="zh-CN" sz="2000" baseline="-25000" dirty="0">
                <a:solidFill>
                  <a:schemeClr val="tx1"/>
                </a:solidFill>
                <a:latin typeface="+mn-ea"/>
                <a:ea typeface="+mn-ea"/>
              </a:rPr>
              <a:t>2</a:t>
            </a:r>
            <a:r>
              <a:rPr lang="zh-CN" altLang="en-US" sz="2000" dirty="0">
                <a:solidFill>
                  <a:schemeClr val="tx1"/>
                </a:solidFill>
                <a:latin typeface="+mn-ea"/>
                <a:ea typeface="+mn-ea"/>
              </a:rPr>
              <a:t>的选取原则与串馈电路基本相同。</a:t>
            </a:r>
          </a:p>
        </p:txBody>
      </p:sp>
      <p:sp>
        <p:nvSpPr>
          <p:cNvPr id="6" name="矩形 5">
            <a:extLst>
              <a:ext uri="{FF2B5EF4-FFF2-40B4-BE49-F238E27FC236}">
                <a16:creationId xmlns:a16="http://schemas.microsoft.com/office/drawing/2014/main" xmlns="" id="{C800B31B-0D61-111F-C56A-0CCBDDB10D32}"/>
              </a:ext>
            </a:extLst>
          </p:cNvPr>
          <p:cNvSpPr>
            <a:spLocks noChangeArrowheads="1"/>
          </p:cNvSpPr>
          <p:nvPr/>
        </p:nvSpPr>
        <p:spPr bwMode="auto">
          <a:xfrm>
            <a:off x="5005388" y="3411315"/>
            <a:ext cx="966788" cy="2576512"/>
          </a:xfrm>
          <a:prstGeom prst="rect">
            <a:avLst/>
          </a:prstGeom>
          <a:noFill/>
          <a:ln w="28575">
            <a:solidFill>
              <a:srgbClr val="FF0000"/>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sz="2000">
              <a:solidFill>
                <a:schemeClr val="tx1"/>
              </a:solidFill>
              <a:latin typeface="+mn-ea"/>
              <a:ea typeface="+mn-ea"/>
            </a:endParaRPr>
          </a:p>
        </p:txBody>
      </p:sp>
      <p:sp>
        <p:nvSpPr>
          <p:cNvPr id="7" name="矩形 6">
            <a:extLst>
              <a:ext uri="{FF2B5EF4-FFF2-40B4-BE49-F238E27FC236}">
                <a16:creationId xmlns:a16="http://schemas.microsoft.com/office/drawing/2014/main" xmlns="" id="{B46EEDCD-7DD1-6EB0-54E2-2CEB43CCF5B0}"/>
              </a:ext>
            </a:extLst>
          </p:cNvPr>
          <p:cNvSpPr>
            <a:spLocks noChangeArrowheads="1"/>
          </p:cNvSpPr>
          <p:nvPr/>
        </p:nvSpPr>
        <p:spPr bwMode="auto">
          <a:xfrm>
            <a:off x="6119813" y="3835177"/>
            <a:ext cx="1081088" cy="1525588"/>
          </a:xfrm>
          <a:prstGeom prst="rect">
            <a:avLst/>
          </a:prstGeom>
          <a:noFill/>
          <a:ln w="28575">
            <a:solidFill>
              <a:srgbClr val="FF6600"/>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sz="2000">
              <a:solidFill>
                <a:schemeClr val="tx1"/>
              </a:solidFill>
              <a:latin typeface="+mn-ea"/>
              <a:ea typeface="+mn-ea"/>
            </a:endParaRPr>
          </a:p>
        </p:txBody>
      </p:sp>
      <p:sp>
        <p:nvSpPr>
          <p:cNvPr id="8" name="矩形 7">
            <a:extLst>
              <a:ext uri="{FF2B5EF4-FFF2-40B4-BE49-F238E27FC236}">
                <a16:creationId xmlns:a16="http://schemas.microsoft.com/office/drawing/2014/main" xmlns="" id="{BD6FD4A7-E91A-6B73-8FEE-0DB7C0E96FC3}"/>
              </a:ext>
            </a:extLst>
          </p:cNvPr>
          <p:cNvSpPr>
            <a:spLocks noChangeArrowheads="1"/>
          </p:cNvSpPr>
          <p:nvPr/>
        </p:nvSpPr>
        <p:spPr bwMode="auto">
          <a:xfrm>
            <a:off x="4081463" y="4005040"/>
            <a:ext cx="715963" cy="1525587"/>
          </a:xfrm>
          <a:prstGeom prst="rect">
            <a:avLst/>
          </a:prstGeom>
          <a:noFill/>
          <a:ln w="28575">
            <a:solidFill>
              <a:srgbClr val="00FF00"/>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sz="2000">
              <a:solidFill>
                <a:schemeClr val="tx1"/>
              </a:solidFill>
              <a:latin typeface="+mn-ea"/>
              <a:ea typeface="+mn-ea"/>
            </a:endParaRPr>
          </a:p>
        </p:txBody>
      </p:sp>
      <p:sp>
        <p:nvSpPr>
          <p:cNvPr id="9" name="矩形 8">
            <a:extLst>
              <a:ext uri="{FF2B5EF4-FFF2-40B4-BE49-F238E27FC236}">
                <a16:creationId xmlns:a16="http://schemas.microsoft.com/office/drawing/2014/main" xmlns="" id="{2B0B225B-D37C-6F8C-5F66-B2A6DE4D535C}"/>
              </a:ext>
            </a:extLst>
          </p:cNvPr>
          <p:cNvSpPr>
            <a:spLocks noChangeArrowheads="1"/>
          </p:cNvSpPr>
          <p:nvPr/>
        </p:nvSpPr>
        <p:spPr bwMode="auto">
          <a:xfrm>
            <a:off x="395288" y="2802739"/>
            <a:ext cx="4260850" cy="12525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30000"/>
              </a:lnSpc>
            </a:pPr>
            <a:r>
              <a:rPr lang="en-US" altLang="zh-CN" sz="2000" dirty="0">
                <a:solidFill>
                  <a:schemeClr val="tx1"/>
                </a:solidFill>
                <a:latin typeface="+mn-ea"/>
                <a:ea typeface="+mn-ea"/>
              </a:rPr>
              <a:t>C</a:t>
            </a:r>
            <a:r>
              <a:rPr lang="en-US" altLang="zh-CN" sz="2000" baseline="-25000" dirty="0">
                <a:solidFill>
                  <a:schemeClr val="tx1"/>
                </a:solidFill>
                <a:latin typeface="+mn-ea"/>
                <a:ea typeface="+mn-ea"/>
              </a:rPr>
              <a:t>1</a:t>
            </a:r>
            <a:r>
              <a:rPr lang="zh-CN" altLang="en-US" sz="2000" dirty="0">
                <a:solidFill>
                  <a:schemeClr val="tx1"/>
                </a:solidFill>
                <a:latin typeface="+mn-ea"/>
                <a:ea typeface="+mn-ea"/>
              </a:rPr>
              <a:t>、</a:t>
            </a:r>
            <a:r>
              <a:rPr lang="en-US" altLang="zh-CN" sz="2000" dirty="0">
                <a:solidFill>
                  <a:schemeClr val="tx1"/>
                </a:solidFill>
                <a:latin typeface="+mn-ea"/>
                <a:ea typeface="+mn-ea"/>
              </a:rPr>
              <a:t>L</a:t>
            </a:r>
            <a:r>
              <a:rPr lang="en-US" altLang="zh-CN" sz="2000" baseline="-25000" dirty="0">
                <a:solidFill>
                  <a:schemeClr val="tx1"/>
                </a:solidFill>
                <a:latin typeface="+mn-ea"/>
                <a:ea typeface="+mn-ea"/>
              </a:rPr>
              <a:t>C</a:t>
            </a:r>
            <a:r>
              <a:rPr lang="zh-CN" altLang="en-US" sz="2000" dirty="0">
                <a:solidFill>
                  <a:schemeClr val="tx1"/>
                </a:solidFill>
                <a:latin typeface="+mn-ea"/>
                <a:ea typeface="+mn-ea"/>
              </a:rPr>
              <a:t>的选取原则为：</a:t>
            </a:r>
          </a:p>
          <a:p>
            <a:pPr>
              <a:lnSpc>
                <a:spcPct val="130000"/>
              </a:lnSpc>
            </a:pPr>
            <a:r>
              <a:rPr lang="zh-CN" altLang="en-US" sz="2000" dirty="0">
                <a:solidFill>
                  <a:schemeClr val="tx1"/>
                </a:solidFill>
                <a:latin typeface="+mn-ea"/>
                <a:ea typeface="+mn-ea"/>
                <a:sym typeface="Symbol" panose="05050102010706020507" pitchFamily="18" charset="2"/>
              </a:rPr>
              <a:t></a:t>
            </a:r>
            <a:r>
              <a:rPr lang="en-US" altLang="zh-CN" sz="2000" dirty="0">
                <a:solidFill>
                  <a:schemeClr val="tx1"/>
                </a:solidFill>
                <a:latin typeface="+mn-ea"/>
                <a:ea typeface="+mn-ea"/>
              </a:rPr>
              <a:t>L</a:t>
            </a:r>
            <a:r>
              <a:rPr lang="en-US" altLang="zh-CN" sz="2000" baseline="-25000" dirty="0">
                <a:solidFill>
                  <a:schemeClr val="tx1"/>
                </a:solidFill>
                <a:latin typeface="+mn-ea"/>
                <a:ea typeface="+mn-ea"/>
              </a:rPr>
              <a:t>C</a:t>
            </a:r>
            <a:r>
              <a:rPr lang="en-US" altLang="zh-CN" sz="2000" dirty="0">
                <a:solidFill>
                  <a:schemeClr val="tx1"/>
                </a:solidFill>
                <a:latin typeface="+mn-ea"/>
                <a:ea typeface="+mn-ea"/>
              </a:rPr>
              <a:t> </a:t>
            </a:r>
            <a:r>
              <a:rPr lang="zh-CN" altLang="en-US" sz="2000" dirty="0">
                <a:solidFill>
                  <a:schemeClr val="tx1"/>
                </a:solidFill>
                <a:latin typeface="+mn-ea"/>
                <a:ea typeface="+mn-ea"/>
              </a:rPr>
              <a:t>＞ </a:t>
            </a:r>
            <a:r>
              <a:rPr lang="en-US" altLang="zh-CN" sz="2000" dirty="0">
                <a:solidFill>
                  <a:schemeClr val="tx1"/>
                </a:solidFill>
                <a:latin typeface="+mn-ea"/>
                <a:ea typeface="+mn-ea"/>
                <a:sym typeface="Symbol" panose="05050102010706020507" pitchFamily="18" charset="2"/>
              </a:rPr>
              <a:t>10 </a:t>
            </a:r>
            <a:r>
              <a:rPr lang="zh-CN" altLang="en-US" sz="2000" dirty="0">
                <a:solidFill>
                  <a:schemeClr val="tx1"/>
                </a:solidFill>
                <a:latin typeface="+mn-ea"/>
                <a:ea typeface="+mn-ea"/>
              </a:rPr>
              <a:t>回路阻抗    </a:t>
            </a:r>
          </a:p>
          <a:p>
            <a:pPr>
              <a:lnSpc>
                <a:spcPct val="130000"/>
              </a:lnSpc>
            </a:pPr>
            <a:r>
              <a:rPr lang="en-US" altLang="zh-CN" sz="2000" dirty="0">
                <a:solidFill>
                  <a:schemeClr val="tx1"/>
                </a:solidFill>
                <a:latin typeface="+mn-ea"/>
                <a:ea typeface="+mn-ea"/>
              </a:rPr>
              <a:t>1 / </a:t>
            </a:r>
            <a:r>
              <a:rPr lang="en-US" altLang="zh-CN" sz="2000" dirty="0">
                <a:solidFill>
                  <a:schemeClr val="tx1"/>
                </a:solidFill>
                <a:latin typeface="+mn-ea"/>
                <a:ea typeface="+mn-ea"/>
                <a:sym typeface="Symbol" panose="05050102010706020507" pitchFamily="18" charset="2"/>
              </a:rPr>
              <a:t></a:t>
            </a:r>
            <a:r>
              <a:rPr lang="en-US" altLang="zh-CN" sz="2000" dirty="0">
                <a:solidFill>
                  <a:schemeClr val="tx1"/>
                </a:solidFill>
                <a:latin typeface="+mn-ea"/>
                <a:ea typeface="+mn-ea"/>
              </a:rPr>
              <a:t>c</a:t>
            </a:r>
            <a:r>
              <a:rPr lang="en-US" altLang="zh-CN" sz="2000" baseline="-25000" dirty="0">
                <a:solidFill>
                  <a:schemeClr val="tx1"/>
                </a:solidFill>
                <a:latin typeface="+mn-ea"/>
                <a:ea typeface="+mn-ea"/>
              </a:rPr>
              <a:t>1</a:t>
            </a:r>
            <a:r>
              <a:rPr lang="en-US" altLang="zh-CN" sz="2000" dirty="0">
                <a:solidFill>
                  <a:schemeClr val="tx1"/>
                </a:solidFill>
                <a:latin typeface="+mn-ea"/>
                <a:ea typeface="+mn-ea"/>
              </a:rPr>
              <a:t> </a:t>
            </a:r>
            <a:r>
              <a:rPr lang="zh-CN" altLang="en-US" sz="2000" dirty="0">
                <a:solidFill>
                  <a:schemeClr val="tx1"/>
                </a:solidFill>
                <a:latin typeface="+mn-ea"/>
                <a:ea typeface="+mn-ea"/>
              </a:rPr>
              <a:t>＜ </a:t>
            </a:r>
            <a:r>
              <a:rPr lang="en-US" altLang="zh-CN" sz="2000" dirty="0">
                <a:solidFill>
                  <a:schemeClr val="tx1"/>
                </a:solidFill>
                <a:latin typeface="+mn-ea"/>
                <a:ea typeface="+mn-ea"/>
              </a:rPr>
              <a:t>1/10</a:t>
            </a:r>
            <a:r>
              <a:rPr lang="en-US" altLang="zh-CN" sz="2000" dirty="0">
                <a:solidFill>
                  <a:schemeClr val="tx1"/>
                </a:solidFill>
                <a:latin typeface="+mn-ea"/>
                <a:ea typeface="+mn-ea"/>
                <a:sym typeface="Symbol" panose="05050102010706020507" pitchFamily="18" charset="2"/>
              </a:rPr>
              <a:t></a:t>
            </a:r>
            <a:r>
              <a:rPr lang="zh-CN" altLang="en-US" sz="2000" dirty="0">
                <a:solidFill>
                  <a:schemeClr val="tx1"/>
                </a:solidFill>
                <a:latin typeface="+mn-ea"/>
                <a:ea typeface="+mn-ea"/>
              </a:rPr>
              <a:t>回路阻抗</a:t>
            </a:r>
          </a:p>
        </p:txBody>
      </p:sp>
      <p:graphicFrame>
        <p:nvGraphicFramePr>
          <p:cNvPr id="10" name="Object 7">
            <a:extLst>
              <a:ext uri="{FF2B5EF4-FFF2-40B4-BE49-F238E27FC236}">
                <a16:creationId xmlns:a16="http://schemas.microsoft.com/office/drawing/2014/main" xmlns="" id="{91364569-BEEF-07D6-1777-0AEBB4C493B5}"/>
              </a:ext>
            </a:extLst>
          </p:cNvPr>
          <p:cNvGraphicFramePr>
            <a:graphicFrameLocks/>
          </p:cNvGraphicFramePr>
          <p:nvPr>
            <p:extLst>
              <p:ext uri="{D42A27DB-BD31-4B8C-83A1-F6EECF244321}">
                <p14:modId xmlns:p14="http://schemas.microsoft.com/office/powerpoint/2010/main" val="298750626"/>
              </p:ext>
            </p:extLst>
          </p:nvPr>
        </p:nvGraphicFramePr>
        <p:xfrm>
          <a:off x="663500" y="3451754"/>
          <a:ext cx="8462963" cy="2913062"/>
        </p:xfrm>
        <a:graphic>
          <a:graphicData uri="http://schemas.openxmlformats.org/presentationml/2006/ole">
            <mc:AlternateContent xmlns:mc="http://schemas.openxmlformats.org/markup-compatibility/2006">
              <mc:Choice xmlns:v="urn:schemas-microsoft-com:vml" Requires="v">
                <p:oleObj spid="_x0000_s102442" r:id="rId3" imgW="5242680" imgH="2273400" progId="Word.Picture.8">
                  <p:embed/>
                </p:oleObj>
              </mc:Choice>
              <mc:Fallback>
                <p:oleObj r:id="rId3" imgW="5242680" imgH="2273400" progId="Word.Picture.8">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3500" y="3451754"/>
                        <a:ext cx="8462963" cy="2913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223092901"/>
      </p:ext>
    </p:extLst>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136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12"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4.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谐振</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功率</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放大器</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Text Box 4">
            <a:extLst>
              <a:ext uri="{FF2B5EF4-FFF2-40B4-BE49-F238E27FC236}">
                <a16:creationId xmlns:a16="http://schemas.microsoft.com/office/drawing/2014/main" xmlns="" id="{500DE36F-7DAF-AD59-D679-EB36B62B7E4E}"/>
              </a:ext>
            </a:extLst>
          </p:cNvPr>
          <p:cNvSpPr txBox="1">
            <a:spLocks noChangeArrowheads="1"/>
          </p:cNvSpPr>
          <p:nvPr/>
        </p:nvSpPr>
        <p:spPr bwMode="auto">
          <a:xfrm>
            <a:off x="565593" y="1588569"/>
            <a:ext cx="8195820"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000" dirty="0">
                <a:solidFill>
                  <a:srgbClr val="FF0000"/>
                </a:solidFill>
                <a:latin typeface="+mn-ea"/>
                <a:ea typeface="+mn-ea"/>
              </a:rPr>
              <a:t>优点：</a:t>
            </a:r>
            <a:r>
              <a:rPr lang="zh-CN" altLang="en-US" sz="2000" dirty="0">
                <a:solidFill>
                  <a:schemeClr val="tx1"/>
                </a:solidFill>
                <a:latin typeface="+mn-ea"/>
                <a:ea typeface="+mn-ea"/>
              </a:rPr>
              <a:t>在并馈电路中，信号回路两端均处于直流地电位，即零电位。对高频而言，回路的一端又直接接地，因此回路安装比较方便，调谐电容</a:t>
            </a:r>
            <a:r>
              <a:rPr lang="en-US" altLang="zh-CN" sz="2000" dirty="0">
                <a:solidFill>
                  <a:schemeClr val="tx1"/>
                </a:solidFill>
                <a:latin typeface="+mn-ea"/>
                <a:ea typeface="+mn-ea"/>
              </a:rPr>
              <a:t>C</a:t>
            </a:r>
            <a:r>
              <a:rPr lang="zh-CN" altLang="en-US" sz="2000" dirty="0">
                <a:solidFill>
                  <a:schemeClr val="tx1"/>
                </a:solidFill>
                <a:latin typeface="+mn-ea"/>
                <a:ea typeface="+mn-ea"/>
              </a:rPr>
              <a:t>上无高压，安全可靠；</a:t>
            </a:r>
          </a:p>
        </p:txBody>
      </p:sp>
      <p:graphicFrame>
        <p:nvGraphicFramePr>
          <p:cNvPr id="6" name="Object 6">
            <a:extLst>
              <a:ext uri="{FF2B5EF4-FFF2-40B4-BE49-F238E27FC236}">
                <a16:creationId xmlns:a16="http://schemas.microsoft.com/office/drawing/2014/main" xmlns="" id="{59567F16-C13F-2140-A3FD-555940705F23}"/>
              </a:ext>
            </a:extLst>
          </p:cNvPr>
          <p:cNvGraphicFramePr>
            <a:graphicFrameLocks/>
          </p:cNvGraphicFramePr>
          <p:nvPr>
            <p:extLst>
              <p:ext uri="{D42A27DB-BD31-4B8C-83A1-F6EECF244321}">
                <p14:modId xmlns:p14="http://schemas.microsoft.com/office/powerpoint/2010/main" val="3938820911"/>
              </p:ext>
            </p:extLst>
          </p:nvPr>
        </p:nvGraphicFramePr>
        <p:xfrm>
          <a:off x="2035617" y="4492625"/>
          <a:ext cx="5351463" cy="2365375"/>
        </p:xfrm>
        <a:graphic>
          <a:graphicData uri="http://schemas.openxmlformats.org/presentationml/2006/ole">
            <mc:AlternateContent xmlns:mc="http://schemas.openxmlformats.org/markup-compatibility/2006">
              <mc:Choice xmlns:v="urn:schemas-microsoft-com:vml" Requires="v">
                <p:oleObj spid="_x0000_s103466" r:id="rId3" imgW="3998520" imgH="2273400" progId="Word.Picture.8">
                  <p:embed/>
                </p:oleObj>
              </mc:Choice>
              <mc:Fallback>
                <p:oleObj r:id="rId3" imgW="3998520" imgH="2273400" progId="Word.Picture.8">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35617" y="4492625"/>
                        <a:ext cx="5351463" cy="2365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 name="矩形 56327">
            <a:extLst>
              <a:ext uri="{FF2B5EF4-FFF2-40B4-BE49-F238E27FC236}">
                <a16:creationId xmlns:a16="http://schemas.microsoft.com/office/drawing/2014/main" xmlns="" id="{0A8D4ED4-45E7-D7E0-B833-DC9CFA47EC10}"/>
              </a:ext>
            </a:extLst>
          </p:cNvPr>
          <p:cNvSpPr>
            <a:spLocks noChangeArrowheads="1"/>
          </p:cNvSpPr>
          <p:nvPr/>
        </p:nvSpPr>
        <p:spPr bwMode="auto">
          <a:xfrm>
            <a:off x="570150" y="1265382"/>
            <a:ext cx="326243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smtClean="0">
                <a:solidFill>
                  <a:schemeClr val="tx1"/>
                </a:solidFill>
                <a:latin typeface="+mn-ea"/>
                <a:ea typeface="+mn-ea"/>
              </a:rPr>
              <a:t>串</a:t>
            </a:r>
            <a:r>
              <a:rPr lang="zh-CN" altLang="en-US" sz="2000" dirty="0">
                <a:solidFill>
                  <a:schemeClr val="tx1"/>
                </a:solidFill>
                <a:latin typeface="+mn-ea"/>
                <a:ea typeface="+mn-ea"/>
              </a:rPr>
              <a:t>并馈直流供电路的优缺点</a:t>
            </a:r>
          </a:p>
        </p:txBody>
      </p:sp>
      <p:sp>
        <p:nvSpPr>
          <p:cNvPr id="8" name="矩形 7">
            <a:extLst>
              <a:ext uri="{FF2B5EF4-FFF2-40B4-BE49-F238E27FC236}">
                <a16:creationId xmlns:a16="http://schemas.microsoft.com/office/drawing/2014/main" xmlns="" id="{960C469B-FD26-3889-F156-274825F6EE61}"/>
              </a:ext>
            </a:extLst>
          </p:cNvPr>
          <p:cNvSpPr>
            <a:spLocks noChangeArrowheads="1"/>
          </p:cNvSpPr>
          <p:nvPr/>
        </p:nvSpPr>
        <p:spPr bwMode="auto">
          <a:xfrm>
            <a:off x="565593" y="2600301"/>
            <a:ext cx="8291513"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000" dirty="0">
                <a:solidFill>
                  <a:srgbClr val="FF0000"/>
                </a:solidFill>
                <a:latin typeface="+mn-ea"/>
                <a:ea typeface="+mn-ea"/>
              </a:rPr>
              <a:t>缺点</a:t>
            </a:r>
            <a:r>
              <a:rPr lang="en-US" altLang="zh-CN" sz="2000" dirty="0">
                <a:solidFill>
                  <a:srgbClr val="FF0000"/>
                </a:solidFill>
                <a:latin typeface="+mn-ea"/>
                <a:ea typeface="+mn-ea"/>
              </a:rPr>
              <a:t>:</a:t>
            </a:r>
            <a:r>
              <a:rPr lang="zh-CN" altLang="en-US" sz="2000" dirty="0">
                <a:solidFill>
                  <a:schemeClr val="tx1"/>
                </a:solidFill>
                <a:latin typeface="+mn-ea"/>
                <a:ea typeface="+mn-ea"/>
              </a:rPr>
              <a:t>在并馈电路中，</a:t>
            </a:r>
            <a:r>
              <a:rPr lang="en-US" altLang="zh-CN" sz="2000" dirty="0">
                <a:solidFill>
                  <a:schemeClr val="tx1"/>
                </a:solidFill>
                <a:latin typeface="+mn-ea"/>
                <a:ea typeface="+mn-ea"/>
              </a:rPr>
              <a:t>LC</a:t>
            </a:r>
            <a:r>
              <a:rPr lang="zh-CN" altLang="en-US" sz="2000" dirty="0">
                <a:solidFill>
                  <a:schemeClr val="tx1"/>
                </a:solidFill>
                <a:latin typeface="+mn-ea"/>
                <a:ea typeface="+mn-ea"/>
              </a:rPr>
              <a:t>处于高频高电位上，它对地的分布电容较大，将会直接影响回路谐振频率的稳定性；</a:t>
            </a:r>
          </a:p>
        </p:txBody>
      </p:sp>
      <p:sp>
        <p:nvSpPr>
          <p:cNvPr id="9" name="矩形 8">
            <a:extLst>
              <a:ext uri="{FF2B5EF4-FFF2-40B4-BE49-F238E27FC236}">
                <a16:creationId xmlns:a16="http://schemas.microsoft.com/office/drawing/2014/main" xmlns="" id="{0993E9BA-399A-20A2-1CA9-FB7135D7A35F}"/>
              </a:ext>
            </a:extLst>
          </p:cNvPr>
          <p:cNvSpPr>
            <a:spLocks noChangeArrowheads="1"/>
          </p:cNvSpPr>
          <p:nvPr/>
        </p:nvSpPr>
        <p:spPr bwMode="auto">
          <a:xfrm>
            <a:off x="565593" y="3338986"/>
            <a:ext cx="454483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chemeClr val="tx1"/>
                </a:solidFill>
                <a:latin typeface="+mn-ea"/>
                <a:ea typeface="+mn-ea"/>
              </a:rPr>
              <a:t>串联电路的特点正好与并馈电路相反。</a:t>
            </a:r>
          </a:p>
        </p:txBody>
      </p:sp>
      <p:sp>
        <p:nvSpPr>
          <p:cNvPr id="10" name="Rectangle 4">
            <a:extLst>
              <a:ext uri="{FF2B5EF4-FFF2-40B4-BE49-F238E27FC236}">
                <a16:creationId xmlns:a16="http://schemas.microsoft.com/office/drawing/2014/main" xmlns="" id="{BA48B6F7-2EBF-4144-5175-F2F467FAA2F5}"/>
              </a:ext>
            </a:extLst>
          </p:cNvPr>
          <p:cNvSpPr>
            <a:spLocks noChangeArrowheads="1"/>
          </p:cNvSpPr>
          <p:nvPr/>
        </p:nvSpPr>
        <p:spPr bwMode="auto">
          <a:xfrm>
            <a:off x="565593" y="3845606"/>
            <a:ext cx="742632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p>
            <a:pPr>
              <a:spcBef>
                <a:spcPct val="50000"/>
              </a:spcBef>
            </a:pPr>
            <a:r>
              <a:rPr lang="zh-CN" altLang="en-US" sz="2000" dirty="0">
                <a:solidFill>
                  <a:schemeClr val="tx1"/>
                </a:solidFill>
                <a:latin typeface="+mn-ea"/>
                <a:ea typeface="+mn-ea"/>
              </a:rPr>
              <a:t>无论是串馈还是并馈都必须满足外部电路方程：</a:t>
            </a:r>
          </a:p>
        </p:txBody>
      </p:sp>
      <p:sp>
        <p:nvSpPr>
          <p:cNvPr id="11" name="Text Box 6">
            <a:extLst>
              <a:ext uri="{FF2B5EF4-FFF2-40B4-BE49-F238E27FC236}">
                <a16:creationId xmlns:a16="http://schemas.microsoft.com/office/drawing/2014/main" xmlns="" id="{D5E4826E-6442-83E6-421D-FD59FC3466EC}"/>
              </a:ext>
            </a:extLst>
          </p:cNvPr>
          <p:cNvSpPr txBox="1">
            <a:spLocks noChangeArrowheads="1"/>
          </p:cNvSpPr>
          <p:nvPr/>
        </p:nvSpPr>
        <p:spPr bwMode="auto">
          <a:xfrm>
            <a:off x="613353" y="4319919"/>
            <a:ext cx="68770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000" dirty="0">
                <a:solidFill>
                  <a:schemeClr val="tx1"/>
                </a:solidFill>
                <a:latin typeface="+mn-ea"/>
                <a:ea typeface="+mn-ea"/>
              </a:rPr>
              <a:t>输出回路满足：</a:t>
            </a:r>
            <a:r>
              <a:rPr lang="en-US" altLang="zh-CN" sz="2000" dirty="0" err="1">
                <a:solidFill>
                  <a:schemeClr val="tx1"/>
                </a:solidFill>
                <a:latin typeface="+mn-ea"/>
                <a:ea typeface="+mn-ea"/>
              </a:rPr>
              <a:t>v</a:t>
            </a:r>
            <a:r>
              <a:rPr lang="en-US" altLang="zh-CN" sz="2000" baseline="-25000" dirty="0" err="1">
                <a:solidFill>
                  <a:schemeClr val="tx1"/>
                </a:solidFill>
                <a:latin typeface="+mn-ea"/>
                <a:ea typeface="+mn-ea"/>
              </a:rPr>
              <a:t>cE</a:t>
            </a:r>
            <a:r>
              <a:rPr lang="en-US" altLang="zh-CN" sz="2000" dirty="0">
                <a:solidFill>
                  <a:schemeClr val="tx1"/>
                </a:solidFill>
                <a:latin typeface="+mn-ea"/>
                <a:ea typeface="+mn-ea"/>
              </a:rPr>
              <a:t>= V</a:t>
            </a:r>
            <a:r>
              <a:rPr lang="en-US" altLang="zh-CN" sz="2000" baseline="-25000" dirty="0">
                <a:solidFill>
                  <a:schemeClr val="tx1"/>
                </a:solidFill>
                <a:latin typeface="+mn-ea"/>
                <a:ea typeface="+mn-ea"/>
              </a:rPr>
              <a:t>CC</a:t>
            </a:r>
            <a:r>
              <a:rPr lang="en-US" altLang="zh-CN" sz="2000" dirty="0">
                <a:solidFill>
                  <a:schemeClr val="tx1"/>
                </a:solidFill>
                <a:latin typeface="+mn-ea"/>
                <a:ea typeface="+mn-ea"/>
              </a:rPr>
              <a:t>–</a:t>
            </a:r>
            <a:r>
              <a:rPr lang="en-US" altLang="zh-CN" sz="2000" dirty="0" err="1">
                <a:solidFill>
                  <a:schemeClr val="tx1"/>
                </a:solidFill>
                <a:latin typeface="+mn-ea"/>
                <a:ea typeface="+mn-ea"/>
              </a:rPr>
              <a:t>V</a:t>
            </a:r>
            <a:r>
              <a:rPr lang="en-US" altLang="zh-CN" sz="2000" baseline="-25000" dirty="0" err="1">
                <a:solidFill>
                  <a:schemeClr val="tx1"/>
                </a:solidFill>
                <a:latin typeface="+mn-ea"/>
                <a:ea typeface="+mn-ea"/>
              </a:rPr>
              <a:t>cm</a:t>
            </a:r>
            <a:r>
              <a:rPr lang="en-US" altLang="zh-CN" sz="2000" dirty="0" err="1">
                <a:solidFill>
                  <a:schemeClr val="tx1"/>
                </a:solidFill>
                <a:latin typeface="+mn-ea"/>
                <a:ea typeface="+mn-ea"/>
              </a:rPr>
              <a:t>cos</a:t>
            </a:r>
            <a:r>
              <a:rPr lang="en-US" altLang="zh-CN" sz="2000" dirty="0" err="1">
                <a:solidFill>
                  <a:schemeClr val="tx1"/>
                </a:solidFill>
                <a:latin typeface="+mn-ea"/>
                <a:ea typeface="+mn-ea"/>
                <a:sym typeface="Symbol" panose="05050102010706020507" pitchFamily="18" charset="2"/>
              </a:rPr>
              <a:t></a:t>
            </a:r>
            <a:r>
              <a:rPr lang="en-US" altLang="zh-CN" sz="2000" dirty="0" err="1">
                <a:solidFill>
                  <a:schemeClr val="tx1"/>
                </a:solidFill>
                <a:latin typeface="+mn-ea"/>
                <a:ea typeface="+mn-ea"/>
              </a:rPr>
              <a:t>t</a:t>
            </a:r>
            <a:endParaRPr lang="en-US" altLang="zh-CN" sz="2000" dirty="0">
              <a:solidFill>
                <a:schemeClr val="tx1"/>
              </a:solidFill>
              <a:latin typeface="+mn-ea"/>
              <a:ea typeface="+mn-ea"/>
            </a:endParaRPr>
          </a:p>
        </p:txBody>
      </p:sp>
    </p:spTree>
    <p:extLst>
      <p:ext uri="{BB962C8B-B14F-4D97-AF65-F5344CB8AC3E}">
        <p14:creationId xmlns:p14="http://schemas.microsoft.com/office/powerpoint/2010/main" val="3805307098"/>
      </p:ext>
    </p:extLst>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137</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12"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4.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谐振</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功率</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放大器</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Rectangle 6">
            <a:extLst>
              <a:ext uri="{FF2B5EF4-FFF2-40B4-BE49-F238E27FC236}">
                <a16:creationId xmlns:a16="http://schemas.microsoft.com/office/drawing/2014/main" xmlns="" id="{997B2D2E-C52E-B7CE-2A08-1FA9EF42FDBD}"/>
              </a:ext>
            </a:extLst>
          </p:cNvPr>
          <p:cNvSpPr>
            <a:spLocks noChangeArrowheads="1"/>
          </p:cNvSpPr>
          <p:nvPr/>
        </p:nvSpPr>
        <p:spPr bwMode="auto">
          <a:xfrm>
            <a:off x="983102" y="6017858"/>
            <a:ext cx="436403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p>
            <a:pPr>
              <a:spcBef>
                <a:spcPct val="50000"/>
              </a:spcBef>
            </a:pPr>
            <a:r>
              <a:rPr lang="zh-CN" altLang="en-US" sz="2000" dirty="0">
                <a:solidFill>
                  <a:schemeClr val="tx1"/>
                </a:solidFill>
                <a:latin typeface="Times New Roman" panose="02020603050405020304" pitchFamily="18" charset="0"/>
                <a:cs typeface="Times New Roman" panose="02020603050405020304" pitchFamily="18" charset="0"/>
              </a:rPr>
              <a:t> 串联馈电如图（</a:t>
            </a:r>
            <a:r>
              <a:rPr lang="en-US" altLang="zh-CN" sz="2000" dirty="0">
                <a:solidFill>
                  <a:schemeClr val="tx1"/>
                </a:solidFill>
                <a:latin typeface="Times New Roman" panose="02020603050405020304" pitchFamily="18" charset="0"/>
                <a:cs typeface="Times New Roman" panose="02020603050405020304" pitchFamily="18" charset="0"/>
              </a:rPr>
              <a:t>a</a:t>
            </a:r>
            <a:r>
              <a:rPr lang="zh-CN" altLang="en-US" sz="2000" dirty="0">
                <a:solidFill>
                  <a:schemeClr val="tx1"/>
                </a:solidFill>
                <a:latin typeface="Times New Roman" panose="02020603050405020304" pitchFamily="18" charset="0"/>
                <a:cs typeface="Times New Roman" panose="02020603050405020304" pitchFamily="18" charset="0"/>
              </a:rPr>
              <a:t>）所示</a:t>
            </a:r>
          </a:p>
        </p:txBody>
      </p:sp>
      <p:sp>
        <p:nvSpPr>
          <p:cNvPr id="6" name="Rectangle 14">
            <a:extLst>
              <a:ext uri="{FF2B5EF4-FFF2-40B4-BE49-F238E27FC236}">
                <a16:creationId xmlns:a16="http://schemas.microsoft.com/office/drawing/2014/main" xmlns="" id="{4DDD254A-BC12-5904-DE2D-73D0BED8F91E}"/>
              </a:ext>
            </a:extLst>
          </p:cNvPr>
          <p:cNvSpPr>
            <a:spLocks noChangeArrowheads="1"/>
          </p:cNvSpPr>
          <p:nvPr/>
        </p:nvSpPr>
        <p:spPr bwMode="auto">
          <a:xfrm>
            <a:off x="4924070" y="6017858"/>
            <a:ext cx="382587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p>
            <a:pPr>
              <a:spcBef>
                <a:spcPct val="50000"/>
              </a:spcBef>
            </a:pPr>
            <a:r>
              <a:rPr lang="zh-CN" altLang="en-US" sz="2000" dirty="0">
                <a:solidFill>
                  <a:schemeClr val="tx1"/>
                </a:solidFill>
                <a:latin typeface="Times New Roman" panose="02020603050405020304" pitchFamily="18" charset="0"/>
                <a:cs typeface="Times New Roman" panose="02020603050405020304" pitchFamily="18" charset="0"/>
              </a:rPr>
              <a:t>并联馈电如图（</a:t>
            </a:r>
            <a:r>
              <a:rPr lang="en-US" altLang="zh-CN" sz="2000" dirty="0">
                <a:solidFill>
                  <a:schemeClr val="tx1"/>
                </a:solidFill>
                <a:latin typeface="Times New Roman" panose="02020603050405020304" pitchFamily="18" charset="0"/>
                <a:cs typeface="Times New Roman" panose="02020603050405020304" pitchFamily="18" charset="0"/>
              </a:rPr>
              <a:t>b</a:t>
            </a:r>
            <a:r>
              <a:rPr lang="zh-CN" altLang="en-US" sz="2000" dirty="0">
                <a:solidFill>
                  <a:schemeClr val="tx1"/>
                </a:solidFill>
                <a:latin typeface="Times New Roman" panose="02020603050405020304" pitchFamily="18" charset="0"/>
                <a:cs typeface="Times New Roman" panose="02020603050405020304" pitchFamily="18" charset="0"/>
              </a:rPr>
              <a:t>）所示</a:t>
            </a:r>
          </a:p>
        </p:txBody>
      </p:sp>
      <p:sp>
        <p:nvSpPr>
          <p:cNvPr id="7" name="Text Box 16">
            <a:extLst>
              <a:ext uri="{FF2B5EF4-FFF2-40B4-BE49-F238E27FC236}">
                <a16:creationId xmlns:a16="http://schemas.microsoft.com/office/drawing/2014/main" xmlns="" id="{904372A0-FF0C-7860-FFFB-6E1897803CA2}"/>
              </a:ext>
            </a:extLst>
          </p:cNvPr>
          <p:cNvSpPr txBox="1">
            <a:spLocks noChangeArrowheads="1"/>
          </p:cNvSpPr>
          <p:nvPr/>
        </p:nvSpPr>
        <p:spPr bwMode="auto">
          <a:xfrm>
            <a:off x="3088126" y="1855505"/>
            <a:ext cx="367188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000" dirty="0" err="1">
                <a:solidFill>
                  <a:schemeClr val="tx1"/>
                </a:solidFill>
                <a:latin typeface="Times New Roman" panose="02020603050405020304" pitchFamily="18" charset="0"/>
                <a:cs typeface="Times New Roman" panose="02020603050405020304" pitchFamily="18" charset="0"/>
              </a:rPr>
              <a:t>v</a:t>
            </a:r>
            <a:r>
              <a:rPr lang="en-US" altLang="zh-CN" sz="2000" baseline="-25000" dirty="0" err="1">
                <a:solidFill>
                  <a:schemeClr val="tx1"/>
                </a:solidFill>
                <a:latin typeface="Times New Roman" panose="02020603050405020304" pitchFamily="18" charset="0"/>
                <a:cs typeface="Times New Roman" panose="02020603050405020304" pitchFamily="18" charset="0"/>
              </a:rPr>
              <a:t>BE</a:t>
            </a:r>
            <a:r>
              <a:rPr lang="en-US" altLang="zh-CN" sz="2000" dirty="0">
                <a:solidFill>
                  <a:schemeClr val="tx1"/>
                </a:solidFill>
                <a:latin typeface="Times New Roman" panose="02020603050405020304" pitchFamily="18" charset="0"/>
                <a:cs typeface="Times New Roman" panose="02020603050405020304" pitchFamily="18" charset="0"/>
              </a:rPr>
              <a:t>= –</a:t>
            </a:r>
            <a:r>
              <a:rPr lang="en-US" altLang="zh-CN" sz="2000" dirty="0" err="1">
                <a:solidFill>
                  <a:schemeClr val="tx1"/>
                </a:solidFill>
                <a:latin typeface="Times New Roman" panose="02020603050405020304" pitchFamily="18" charset="0"/>
                <a:cs typeface="Times New Roman" panose="02020603050405020304" pitchFamily="18" charset="0"/>
              </a:rPr>
              <a:t>V</a:t>
            </a:r>
            <a:r>
              <a:rPr lang="en-US" altLang="zh-CN" sz="2000" baseline="-25000" dirty="0" err="1">
                <a:solidFill>
                  <a:schemeClr val="tx1"/>
                </a:solidFill>
                <a:latin typeface="Times New Roman" panose="02020603050405020304" pitchFamily="18" charset="0"/>
                <a:cs typeface="Times New Roman" panose="02020603050405020304" pitchFamily="18" charset="0"/>
              </a:rPr>
              <a:t>BB</a:t>
            </a:r>
            <a:r>
              <a:rPr lang="en-US" altLang="zh-CN" sz="2000" dirty="0" err="1">
                <a:solidFill>
                  <a:schemeClr val="tx1"/>
                </a:solidFill>
                <a:latin typeface="Times New Roman" panose="02020603050405020304" pitchFamily="18" charset="0"/>
                <a:cs typeface="Times New Roman" panose="02020603050405020304" pitchFamily="18" charset="0"/>
              </a:rPr>
              <a:t>+V</a:t>
            </a:r>
            <a:r>
              <a:rPr lang="en-US" altLang="zh-CN" sz="2000" baseline="-25000" dirty="0" err="1">
                <a:solidFill>
                  <a:schemeClr val="tx1"/>
                </a:solidFill>
                <a:latin typeface="Times New Roman" panose="02020603050405020304" pitchFamily="18" charset="0"/>
                <a:cs typeface="Times New Roman" panose="02020603050405020304" pitchFamily="18" charset="0"/>
              </a:rPr>
              <a:t>bm</a:t>
            </a:r>
            <a:r>
              <a:rPr lang="en-US" altLang="zh-CN" sz="2000" dirty="0" err="1">
                <a:solidFill>
                  <a:schemeClr val="tx1"/>
                </a:solidFill>
                <a:latin typeface="Times New Roman" panose="02020603050405020304" pitchFamily="18" charset="0"/>
                <a:cs typeface="Times New Roman" panose="02020603050405020304" pitchFamily="18" charset="0"/>
              </a:rPr>
              <a:t>cos</a:t>
            </a:r>
            <a:r>
              <a:rPr lang="en-US" altLang="zh-CN" sz="2000" dirty="0" err="1">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000" dirty="0" err="1">
                <a:solidFill>
                  <a:schemeClr val="tx1"/>
                </a:solidFill>
                <a:latin typeface="Times New Roman" panose="02020603050405020304" pitchFamily="18" charset="0"/>
                <a:cs typeface="Times New Roman" panose="02020603050405020304" pitchFamily="18" charset="0"/>
              </a:rPr>
              <a:t>t</a:t>
            </a:r>
            <a:endParaRPr lang="en-US" altLang="zh-CN" sz="2000" dirty="0">
              <a:solidFill>
                <a:schemeClr val="tx1"/>
              </a:solidFill>
              <a:latin typeface="Times New Roman" panose="02020603050405020304" pitchFamily="18" charset="0"/>
              <a:cs typeface="Times New Roman" panose="02020603050405020304" pitchFamily="18" charset="0"/>
            </a:endParaRPr>
          </a:p>
        </p:txBody>
      </p:sp>
      <p:sp>
        <p:nvSpPr>
          <p:cNvPr id="8" name="Rectangle 17">
            <a:extLst>
              <a:ext uri="{FF2B5EF4-FFF2-40B4-BE49-F238E27FC236}">
                <a16:creationId xmlns:a16="http://schemas.microsoft.com/office/drawing/2014/main" xmlns="" id="{3A6DA30A-AA7D-A925-3D3F-5BE4586111AA}"/>
              </a:ext>
            </a:extLst>
          </p:cNvPr>
          <p:cNvSpPr>
            <a:spLocks noChangeArrowheads="1"/>
          </p:cNvSpPr>
          <p:nvPr/>
        </p:nvSpPr>
        <p:spPr bwMode="auto">
          <a:xfrm>
            <a:off x="1267165" y="1899626"/>
            <a:ext cx="185948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zh-CN" altLang="en-US" sz="2000" dirty="0">
                <a:solidFill>
                  <a:schemeClr val="tx1"/>
                </a:solidFill>
                <a:latin typeface="Times New Roman" panose="02020603050405020304" pitchFamily="18" charset="0"/>
                <a:cs typeface="Times New Roman" panose="02020603050405020304" pitchFamily="18" charset="0"/>
              </a:rPr>
              <a:t>输入回路满足 ：</a:t>
            </a:r>
          </a:p>
        </p:txBody>
      </p:sp>
      <p:pic>
        <p:nvPicPr>
          <p:cNvPr id="9" name="图片 94232" descr="60503">
            <a:extLst>
              <a:ext uri="{FF2B5EF4-FFF2-40B4-BE49-F238E27FC236}">
                <a16:creationId xmlns:a16="http://schemas.microsoft.com/office/drawing/2014/main" xmlns="" id="{58C28BCA-5448-1F8F-0585-18E9459D39EB}"/>
              </a:ext>
            </a:extLst>
          </p:cNvPr>
          <p:cNvPicPr preferRelativeResize="0">
            <a:picLocks noChangeAspect="1" noChangeArrowheads="1"/>
          </p:cNvPicPr>
          <p:nvPr/>
        </p:nvPicPr>
        <p:blipFill>
          <a:blip r:embed="rId2">
            <a:lum contrast="-36000"/>
            <a:extLst>
              <a:ext uri="{28A0092B-C50C-407E-A947-70E740481C1C}">
                <a14:useLocalDpi xmlns:a14="http://schemas.microsoft.com/office/drawing/2010/main" val="0"/>
              </a:ext>
            </a:extLst>
          </a:blip>
          <a:srcRect/>
          <a:stretch>
            <a:fillRect/>
          </a:stretch>
        </p:blipFill>
        <p:spPr bwMode="auto">
          <a:xfrm>
            <a:off x="1102313" y="2371093"/>
            <a:ext cx="7021512" cy="3417887"/>
          </a:xfrm>
          <a:prstGeom prst="rect">
            <a:avLst/>
          </a:prstGeom>
          <a:noFill/>
          <a:ln w="38100">
            <a:solidFill>
              <a:srgbClr val="00FFFF"/>
            </a:solidFill>
            <a:miter lim="800000"/>
            <a:headEnd/>
            <a:tailEnd/>
          </a:ln>
          <a:extLst>
            <a:ext uri="{909E8E84-426E-40DD-AFC4-6F175D3DCCD1}">
              <a14:hiddenFill xmlns:a14="http://schemas.microsoft.com/office/drawing/2010/main">
                <a:solidFill>
                  <a:srgbClr val="FFFFFF"/>
                </a:solidFill>
              </a14:hiddenFill>
            </a:ext>
          </a:extLst>
        </p:spPr>
      </p:pic>
      <p:sp>
        <p:nvSpPr>
          <p:cNvPr id="10" name="Text Box 3">
            <a:extLst>
              <a:ext uri="{FF2B5EF4-FFF2-40B4-BE49-F238E27FC236}">
                <a16:creationId xmlns:a16="http://schemas.microsoft.com/office/drawing/2014/main" xmlns="" id="{4D28E3A8-D4B4-1A64-12D2-282CA424A25D}"/>
              </a:ext>
            </a:extLst>
          </p:cNvPr>
          <p:cNvSpPr txBox="1">
            <a:spLocks noChangeArrowheads="1"/>
          </p:cNvSpPr>
          <p:nvPr/>
        </p:nvSpPr>
        <p:spPr bwMode="auto">
          <a:xfrm>
            <a:off x="1065435" y="1154080"/>
            <a:ext cx="4314001"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dirty="0">
                <a:solidFill>
                  <a:schemeClr val="tx1"/>
                </a:solidFill>
                <a:latin typeface="Times New Roman" panose="02020603050405020304" pitchFamily="18" charset="0"/>
                <a:cs typeface="Times New Roman" panose="02020603050405020304" pitchFamily="18" charset="0"/>
              </a:rPr>
              <a:t>2. </a:t>
            </a:r>
            <a:r>
              <a:rPr lang="zh-CN" altLang="en-US" sz="2000" dirty="0">
                <a:solidFill>
                  <a:schemeClr val="tx1"/>
                </a:solidFill>
                <a:latin typeface="Times New Roman" panose="02020603050405020304" pitchFamily="18" charset="0"/>
                <a:cs typeface="Times New Roman" panose="02020603050405020304" pitchFamily="18" charset="0"/>
              </a:rPr>
              <a:t>基极馈电</a:t>
            </a:r>
            <a:r>
              <a:rPr lang="zh-CN" altLang="en-US" sz="2000" dirty="0" smtClean="0">
                <a:solidFill>
                  <a:schemeClr val="tx1"/>
                </a:solidFill>
                <a:latin typeface="Times New Roman" panose="02020603050405020304" pitchFamily="18" charset="0"/>
                <a:cs typeface="Times New Roman" panose="02020603050405020304" pitchFamily="18" charset="0"/>
              </a:rPr>
              <a:t>电路</a:t>
            </a:r>
            <a:endParaRPr lang="en-US" altLang="zh-CN" sz="2000" dirty="0" smtClean="0">
              <a:solidFill>
                <a:schemeClr val="tx1"/>
              </a:solidFill>
              <a:latin typeface="Times New Roman" panose="02020603050405020304" pitchFamily="18" charset="0"/>
              <a:cs typeface="Times New Roman" panose="02020603050405020304" pitchFamily="18" charset="0"/>
            </a:endParaRPr>
          </a:p>
          <a:p>
            <a:r>
              <a:rPr lang="zh-CN" altLang="en-US" sz="2000" dirty="0" smtClean="0">
                <a:solidFill>
                  <a:schemeClr val="tx1"/>
                </a:solidFill>
                <a:latin typeface="Times New Roman" panose="02020603050405020304" pitchFamily="18" charset="0"/>
                <a:cs typeface="Times New Roman" panose="02020603050405020304" pitchFamily="18" charset="0"/>
              </a:rPr>
              <a:t>基极</a:t>
            </a:r>
            <a:r>
              <a:rPr lang="zh-CN" altLang="en-US" sz="2000" dirty="0">
                <a:solidFill>
                  <a:schemeClr val="tx1"/>
                </a:solidFill>
                <a:latin typeface="Times New Roman" panose="02020603050405020304" pitchFamily="18" charset="0"/>
                <a:cs typeface="Times New Roman" panose="02020603050405020304" pitchFamily="18" charset="0"/>
              </a:rPr>
              <a:t>馈电电路也分串馈和并馈两种</a:t>
            </a:r>
            <a:r>
              <a:rPr lang="zh-CN" altLang="en-US" sz="2000" dirty="0" smtClean="0">
                <a:solidFill>
                  <a:schemeClr val="tx1"/>
                </a:solidFill>
                <a:latin typeface="Times New Roman" panose="02020603050405020304" pitchFamily="18" charset="0"/>
                <a:cs typeface="Times New Roman" panose="02020603050405020304" pitchFamily="18" charset="0"/>
              </a:rPr>
              <a:t>。</a:t>
            </a:r>
            <a:endParaRPr lang="zh-CN" alt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67571466"/>
      </p:ext>
    </p:extLst>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138</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12"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4.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谐振</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功率</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放大器</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Text Box 3">
            <a:extLst>
              <a:ext uri="{FF2B5EF4-FFF2-40B4-BE49-F238E27FC236}">
                <a16:creationId xmlns:a16="http://schemas.microsoft.com/office/drawing/2014/main" xmlns="" id="{F34098E7-4AE7-82D1-556D-E47B28327AE4}"/>
              </a:ext>
            </a:extLst>
          </p:cNvPr>
          <p:cNvSpPr txBox="1">
            <a:spLocks noChangeArrowheads="1"/>
          </p:cNvSpPr>
          <p:nvPr/>
        </p:nvSpPr>
        <p:spPr bwMode="auto">
          <a:xfrm>
            <a:off x="745927" y="1318791"/>
            <a:ext cx="212269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a:solidFill>
                  <a:schemeClr val="tx1"/>
                </a:solidFill>
                <a:latin typeface="+mn-ea"/>
                <a:ea typeface="+mn-ea"/>
              </a:rPr>
              <a:t>2. </a:t>
            </a:r>
            <a:r>
              <a:rPr lang="zh-CN" altLang="en-US" sz="2000">
                <a:solidFill>
                  <a:schemeClr val="tx1"/>
                </a:solidFill>
                <a:latin typeface="+mn-ea"/>
                <a:ea typeface="+mn-ea"/>
              </a:rPr>
              <a:t>输出匹配网络</a:t>
            </a:r>
          </a:p>
        </p:txBody>
      </p:sp>
      <p:sp>
        <p:nvSpPr>
          <p:cNvPr id="6" name="Text Box 5">
            <a:extLst>
              <a:ext uri="{FF2B5EF4-FFF2-40B4-BE49-F238E27FC236}">
                <a16:creationId xmlns:a16="http://schemas.microsoft.com/office/drawing/2014/main" xmlns="" id="{E64AA187-C376-8745-086D-FE2ED70AE90D}"/>
              </a:ext>
            </a:extLst>
          </p:cNvPr>
          <p:cNvSpPr txBox="1">
            <a:spLocks noChangeArrowheads="1"/>
          </p:cNvSpPr>
          <p:nvPr/>
        </p:nvSpPr>
        <p:spPr bwMode="auto">
          <a:xfrm>
            <a:off x="539552" y="1772816"/>
            <a:ext cx="7959725" cy="373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20000"/>
              </a:lnSpc>
            </a:pPr>
            <a:r>
              <a:rPr lang="zh-CN" altLang="en-US" sz="2000" dirty="0">
                <a:solidFill>
                  <a:schemeClr val="tx1"/>
                </a:solidFill>
                <a:latin typeface="+mn-ea"/>
                <a:ea typeface="+mn-ea"/>
              </a:rPr>
              <a:t>　　输出匹配网络常常是指设备中末级功放与天线或其他负载间的网络，这种匹配网络有</a:t>
            </a:r>
            <a:r>
              <a:rPr lang="en-US" altLang="zh-CN" sz="2000" dirty="0">
                <a:solidFill>
                  <a:schemeClr val="tx1"/>
                </a:solidFill>
                <a:latin typeface="+mn-ea"/>
                <a:ea typeface="+mn-ea"/>
              </a:rPr>
              <a:t>L</a:t>
            </a:r>
            <a:r>
              <a:rPr lang="zh-CN" altLang="en-US" sz="2000" dirty="0">
                <a:solidFill>
                  <a:schemeClr val="tx1"/>
                </a:solidFill>
                <a:latin typeface="+mn-ea"/>
                <a:ea typeface="+mn-ea"/>
              </a:rPr>
              <a:t>型、</a:t>
            </a:r>
            <a:r>
              <a:rPr lang="zh-CN" altLang="en-US" sz="2000" dirty="0">
                <a:solidFill>
                  <a:schemeClr val="tx1"/>
                </a:solidFill>
                <a:latin typeface="+mn-ea"/>
                <a:ea typeface="+mn-ea"/>
                <a:sym typeface="Symbol" panose="05050102010706020507" pitchFamily="18" charset="2"/>
              </a:rPr>
              <a:t></a:t>
            </a:r>
            <a:r>
              <a:rPr lang="zh-CN" altLang="en-US" sz="2000" dirty="0">
                <a:solidFill>
                  <a:schemeClr val="tx1"/>
                </a:solidFill>
                <a:latin typeface="+mn-ea"/>
                <a:ea typeface="+mn-ea"/>
              </a:rPr>
              <a:t>型、</a:t>
            </a:r>
            <a:r>
              <a:rPr lang="en-US" altLang="zh-CN" sz="2000" dirty="0">
                <a:solidFill>
                  <a:schemeClr val="tx1"/>
                </a:solidFill>
                <a:latin typeface="+mn-ea"/>
                <a:ea typeface="+mn-ea"/>
              </a:rPr>
              <a:t>T</a:t>
            </a:r>
            <a:r>
              <a:rPr lang="zh-CN" altLang="en-US" sz="2000" dirty="0">
                <a:solidFill>
                  <a:schemeClr val="tx1"/>
                </a:solidFill>
                <a:latin typeface="+mn-ea"/>
                <a:ea typeface="+mn-ea"/>
              </a:rPr>
              <a:t>型网络及由它们组成的多级网络，也有用双调谐耦合回路的。</a:t>
            </a:r>
          </a:p>
          <a:p>
            <a:pPr algn="just">
              <a:lnSpc>
                <a:spcPct val="120000"/>
              </a:lnSpc>
            </a:pPr>
            <a:r>
              <a:rPr lang="zh-CN" altLang="en-US" sz="2000" dirty="0">
                <a:solidFill>
                  <a:schemeClr val="tx1"/>
                </a:solidFill>
                <a:latin typeface="+mn-ea"/>
                <a:ea typeface="+mn-ea"/>
              </a:rPr>
              <a:t>　　</a:t>
            </a:r>
            <a:r>
              <a:rPr lang="zh-CN" altLang="en-US" sz="2000" dirty="0">
                <a:solidFill>
                  <a:schemeClr val="accent2"/>
                </a:solidFill>
                <a:latin typeface="+mn-ea"/>
                <a:ea typeface="+mn-ea"/>
              </a:rPr>
              <a:t>输出匹配网络的主要功能与要求是</a:t>
            </a:r>
          </a:p>
          <a:p>
            <a:pPr algn="just">
              <a:lnSpc>
                <a:spcPct val="120000"/>
              </a:lnSpc>
            </a:pPr>
            <a:r>
              <a:rPr lang="zh-CN" altLang="en-US" sz="2000" dirty="0">
                <a:solidFill>
                  <a:schemeClr val="accent2"/>
                </a:solidFill>
                <a:latin typeface="+mn-ea"/>
                <a:ea typeface="+mn-ea"/>
              </a:rPr>
              <a:t>                    </a:t>
            </a:r>
            <a:r>
              <a:rPr lang="zh-CN" altLang="en-US" sz="2000" dirty="0">
                <a:solidFill>
                  <a:srgbClr val="FF0000"/>
                </a:solidFill>
                <a:latin typeface="+mn-ea"/>
                <a:ea typeface="+mn-ea"/>
              </a:rPr>
              <a:t>匹配、滤波、隔离。</a:t>
            </a:r>
          </a:p>
          <a:p>
            <a:pPr algn="just">
              <a:lnSpc>
                <a:spcPct val="120000"/>
              </a:lnSpc>
            </a:pPr>
            <a:r>
              <a:rPr lang="zh-CN" altLang="en-US" sz="2000" dirty="0">
                <a:solidFill>
                  <a:schemeClr val="accent2"/>
                </a:solidFill>
                <a:latin typeface="+mn-ea"/>
                <a:ea typeface="+mn-ea"/>
              </a:rPr>
              <a:t>　　高频调谐功率放大器的阻抗匹配：</a:t>
            </a:r>
          </a:p>
          <a:p>
            <a:pPr algn="just">
              <a:lnSpc>
                <a:spcPct val="120000"/>
              </a:lnSpc>
            </a:pPr>
            <a:r>
              <a:rPr lang="zh-CN" altLang="en-US" sz="2000" dirty="0">
                <a:solidFill>
                  <a:schemeClr val="tx1"/>
                </a:solidFill>
                <a:latin typeface="+mn-ea"/>
                <a:ea typeface="+mn-ea"/>
              </a:rPr>
              <a:t>  在给定的电路条件下，改变负载回路的可调元件，将负载阻抗</a:t>
            </a:r>
            <a:r>
              <a:rPr lang="en-US" altLang="zh-CN" sz="2000" dirty="0">
                <a:solidFill>
                  <a:schemeClr val="tx1"/>
                </a:solidFill>
                <a:latin typeface="+mn-ea"/>
                <a:ea typeface="+mn-ea"/>
              </a:rPr>
              <a:t>Z</a:t>
            </a:r>
            <a:r>
              <a:rPr lang="en-US" altLang="zh-CN" sz="2000" baseline="-25000" dirty="0">
                <a:solidFill>
                  <a:schemeClr val="tx1"/>
                </a:solidFill>
                <a:latin typeface="+mn-ea"/>
                <a:ea typeface="+mn-ea"/>
              </a:rPr>
              <a:t>L</a:t>
            </a:r>
            <a:r>
              <a:rPr lang="zh-CN" altLang="en-US" sz="2000" dirty="0">
                <a:solidFill>
                  <a:schemeClr val="tx1"/>
                </a:solidFill>
                <a:latin typeface="+mn-ea"/>
                <a:ea typeface="+mn-ea"/>
              </a:rPr>
              <a:t>转换成放大管所要求的最佳负载阻抗</a:t>
            </a:r>
            <a:r>
              <a:rPr lang="en-US" altLang="zh-CN" sz="2000" dirty="0">
                <a:solidFill>
                  <a:schemeClr val="tx1"/>
                </a:solidFill>
                <a:latin typeface="+mn-ea"/>
                <a:ea typeface="+mn-ea"/>
              </a:rPr>
              <a:t>R</a:t>
            </a:r>
            <a:r>
              <a:rPr lang="en-US" altLang="zh-CN" sz="2000" baseline="-25000" dirty="0">
                <a:solidFill>
                  <a:schemeClr val="tx1"/>
                </a:solidFill>
                <a:latin typeface="+mn-ea"/>
                <a:ea typeface="+mn-ea"/>
              </a:rPr>
              <a:t>p</a:t>
            </a:r>
            <a:r>
              <a:rPr lang="zh-CN" altLang="en-US" sz="2000" dirty="0">
                <a:solidFill>
                  <a:schemeClr val="tx1"/>
                </a:solidFill>
                <a:latin typeface="+mn-ea"/>
                <a:ea typeface="+mn-ea"/>
              </a:rPr>
              <a:t>，使管子送出的功率</a:t>
            </a:r>
            <a:r>
              <a:rPr lang="en-US" altLang="zh-CN" sz="2000" dirty="0">
                <a:solidFill>
                  <a:schemeClr val="tx1"/>
                </a:solidFill>
                <a:latin typeface="+mn-ea"/>
                <a:ea typeface="+mn-ea"/>
              </a:rPr>
              <a:t>P</a:t>
            </a:r>
            <a:r>
              <a:rPr lang="en-US" altLang="zh-CN" sz="2000" baseline="-25000" dirty="0">
                <a:solidFill>
                  <a:schemeClr val="tx1"/>
                </a:solidFill>
                <a:latin typeface="+mn-ea"/>
                <a:ea typeface="+mn-ea"/>
              </a:rPr>
              <a:t>0</a:t>
            </a:r>
            <a:r>
              <a:rPr lang="zh-CN" altLang="en-US" sz="2000" dirty="0">
                <a:solidFill>
                  <a:schemeClr val="tx1"/>
                </a:solidFill>
                <a:latin typeface="+mn-ea"/>
                <a:ea typeface="+mn-ea"/>
              </a:rPr>
              <a:t>能尽可能多的馈至负载。</a:t>
            </a:r>
          </a:p>
          <a:p>
            <a:pPr algn="just">
              <a:lnSpc>
                <a:spcPct val="120000"/>
              </a:lnSpc>
            </a:pPr>
            <a:r>
              <a:rPr lang="zh-CN" altLang="en-US" sz="2000" dirty="0">
                <a:solidFill>
                  <a:schemeClr val="tx1"/>
                </a:solidFill>
                <a:latin typeface="+mn-ea"/>
                <a:ea typeface="+mn-ea"/>
              </a:rPr>
              <a:t>这就叫做达到了匹配状态，或简称匹配。</a:t>
            </a:r>
          </a:p>
        </p:txBody>
      </p:sp>
    </p:spTree>
    <p:extLst>
      <p:ext uri="{BB962C8B-B14F-4D97-AF65-F5344CB8AC3E}">
        <p14:creationId xmlns:p14="http://schemas.microsoft.com/office/powerpoint/2010/main" val="948423140"/>
      </p:ext>
    </p:extLst>
  </p:cSld>
  <p:clrMapOvr>
    <a:masterClrMapping/>
  </p:clrMapOvr>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139</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12"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4.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谐振</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功率</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放大器</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矩形 4">
            <a:extLst>
              <a:ext uri="{FF2B5EF4-FFF2-40B4-BE49-F238E27FC236}">
                <a16:creationId xmlns:a16="http://schemas.microsoft.com/office/drawing/2014/main" xmlns="" id="{FD7174AA-8B20-42F5-CD6E-E3FD10C9243F}"/>
              </a:ext>
            </a:extLst>
          </p:cNvPr>
          <p:cNvSpPr/>
          <p:nvPr/>
        </p:nvSpPr>
        <p:spPr>
          <a:xfrm>
            <a:off x="1115616" y="5907306"/>
            <a:ext cx="6727536" cy="396875"/>
          </a:xfrm>
          <a:prstGeom prst="rect">
            <a:avLst/>
          </a:prstGeom>
          <a:noFill/>
          <a:ln w="9525">
            <a:noFill/>
          </a:ln>
        </p:spPr>
        <p:txBody>
          <a:bodyPr wrap="square">
            <a:spAutoFit/>
          </a:bodyPr>
          <a:lstStyle>
            <a:lvl1pPr marL="342900" indent="-342900">
              <a:defRPr sz="2400" b="1">
                <a:solidFill>
                  <a:srgbClr val="FFFF00"/>
                </a:solidFill>
                <a:latin typeface="Times New Roman" panose="02020603050405020304" pitchFamily="18" charset="0"/>
                <a:ea typeface="宋体" panose="02010600030101010101" pitchFamily="2" charset="-122"/>
              </a:defRPr>
            </a:lvl1pPr>
            <a:lvl2pPr>
              <a:defRPr sz="2400" b="1">
                <a:solidFill>
                  <a:srgbClr val="FFFF00"/>
                </a:solidFill>
                <a:latin typeface="Times New Roman" panose="02020603050405020304" pitchFamily="18" charset="0"/>
                <a:ea typeface="宋体" panose="02010600030101010101" pitchFamily="2" charset="-122"/>
              </a:defRPr>
            </a:lvl2pPr>
            <a:lvl3pPr>
              <a:defRPr sz="2400" b="1">
                <a:solidFill>
                  <a:srgbClr val="FFFF00"/>
                </a:solidFill>
                <a:latin typeface="Times New Roman" panose="02020603050405020304" pitchFamily="18" charset="0"/>
                <a:ea typeface="宋体" panose="02010600030101010101" pitchFamily="2" charset="-122"/>
              </a:defRPr>
            </a:lvl3pPr>
            <a:lvl4pPr>
              <a:defRPr sz="2400" b="1">
                <a:solidFill>
                  <a:srgbClr val="FFFF00"/>
                </a:solidFill>
                <a:latin typeface="Times New Roman" panose="02020603050405020304" pitchFamily="18" charset="0"/>
                <a:ea typeface="宋体" panose="02010600030101010101" pitchFamily="2" charset="-122"/>
              </a:defRPr>
            </a:lvl4pPr>
            <a:lvl5pPr>
              <a:defRPr sz="2400" b="1">
                <a:solidFill>
                  <a:srgbClr val="FFFF00"/>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2400" b="1">
                <a:solidFill>
                  <a:srgbClr val="FFFF00"/>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2400" b="1">
                <a:solidFill>
                  <a:srgbClr val="FFFF00"/>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2400" b="1">
                <a:solidFill>
                  <a:srgbClr val="FFFF00"/>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2400" b="1">
                <a:solidFill>
                  <a:srgbClr val="FFFF00"/>
                </a:solidFill>
                <a:latin typeface="Times New Roman" panose="02020603050405020304" pitchFamily="18" charset="0"/>
                <a:ea typeface="宋体" panose="02010600030101010101" pitchFamily="2" charset="-122"/>
              </a:defRPr>
            </a:lvl9pPr>
          </a:lstStyle>
          <a:p>
            <a:pPr algn="ctr">
              <a:buClr>
                <a:schemeClr val="hlink"/>
              </a:buClr>
              <a:buFont typeface="Wingdings" panose="05000000000000000000" pitchFamily="2" charset="2"/>
              <a:buNone/>
              <a:defRPr/>
            </a:pPr>
            <a:r>
              <a:rPr lang="zh-CN" altLang="en-US" sz="2000" dirty="0">
                <a:solidFill>
                  <a:schemeClr val="tx1"/>
                </a:solidFill>
                <a:effectLst>
                  <a:outerShdw blurRad="38100" dist="38100" dir="2700000" algn="tl">
                    <a:srgbClr val="FFFFFF"/>
                  </a:outerShdw>
                </a:effectLst>
                <a:ea typeface="+mn-ea"/>
                <a:cs typeface="Times New Roman" panose="02020603050405020304" pitchFamily="18" charset="0"/>
              </a:rPr>
              <a:t>放大器与负载之间用四端网络耦合</a:t>
            </a:r>
          </a:p>
        </p:txBody>
      </p:sp>
      <p:pic>
        <p:nvPicPr>
          <p:cNvPr id="6" name="图片 176136" descr="60505">
            <a:extLst>
              <a:ext uri="{FF2B5EF4-FFF2-40B4-BE49-F238E27FC236}">
                <a16:creationId xmlns:a16="http://schemas.microsoft.com/office/drawing/2014/main" xmlns="" id="{DD4824A0-86AA-39E8-659C-4A3253AEB385}"/>
              </a:ext>
            </a:extLst>
          </p:cNvPr>
          <p:cNvPicPr>
            <a:picLocks noChangeAspect="1" noChangeArrowheads="1"/>
          </p:cNvPicPr>
          <p:nvPr/>
        </p:nvPicPr>
        <p:blipFill>
          <a:blip r:embed="rId2" cstate="print">
            <a:lum contrast="-36000"/>
            <a:extLst>
              <a:ext uri="{28A0092B-C50C-407E-A947-70E740481C1C}">
                <a14:useLocalDpi xmlns:a14="http://schemas.microsoft.com/office/drawing/2010/main" val="0"/>
              </a:ext>
            </a:extLst>
          </a:blip>
          <a:srcRect/>
          <a:stretch>
            <a:fillRect/>
          </a:stretch>
        </p:blipFill>
        <p:spPr bwMode="auto">
          <a:xfrm>
            <a:off x="2066076" y="3580537"/>
            <a:ext cx="5011848" cy="2073275"/>
          </a:xfrm>
          <a:prstGeom prst="rect">
            <a:avLst/>
          </a:prstGeom>
          <a:noFill/>
          <a:ln w="38100">
            <a:solidFill>
              <a:srgbClr val="00FFFF"/>
            </a:solidFill>
            <a:miter lim="800000"/>
            <a:headEnd/>
            <a:tailEnd/>
          </a:ln>
          <a:extLst>
            <a:ext uri="{909E8E84-426E-40DD-AFC4-6F175D3DCCD1}">
              <a14:hiddenFill xmlns:a14="http://schemas.microsoft.com/office/drawing/2010/main">
                <a:solidFill>
                  <a:srgbClr val="FFFFFF"/>
                </a:solidFill>
              </a14:hiddenFill>
            </a:ext>
          </a:extLst>
        </p:spPr>
      </p:pic>
      <p:sp>
        <p:nvSpPr>
          <p:cNvPr id="7" name="矩形 6">
            <a:extLst>
              <a:ext uri="{FF2B5EF4-FFF2-40B4-BE49-F238E27FC236}">
                <a16:creationId xmlns:a16="http://schemas.microsoft.com/office/drawing/2014/main" xmlns="" id="{8D89D52B-D949-49F8-1E98-B20BE866B442}"/>
              </a:ext>
            </a:extLst>
          </p:cNvPr>
          <p:cNvSpPr>
            <a:spLocks noChangeArrowheads="1"/>
          </p:cNvSpPr>
          <p:nvPr/>
        </p:nvSpPr>
        <p:spPr bwMode="auto">
          <a:xfrm>
            <a:off x="899593" y="1496740"/>
            <a:ext cx="784855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square">
            <a:spAutoFit/>
          </a:bodyPr>
          <a:lstStyle/>
          <a:p>
            <a:pPr>
              <a:buClr>
                <a:schemeClr val="hlink"/>
              </a:buClr>
              <a:buFont typeface="Wingdings" panose="05000000000000000000" pitchFamily="2" charset="2"/>
              <a:buNone/>
            </a:pPr>
            <a:r>
              <a:rPr lang="zh-CN" altLang="en-US" sz="2000" dirty="0">
                <a:solidFill>
                  <a:schemeClr val="tx1"/>
                </a:solidFill>
                <a:latin typeface="Times New Roman" panose="02020603050405020304" pitchFamily="18" charset="0"/>
                <a:cs typeface="Times New Roman" panose="02020603050405020304" pitchFamily="18" charset="0"/>
              </a:rPr>
              <a:t>①使负载阻抗与放大器所需要的最佳阻抗相匹配，以保证放大器传输到负载的功率最大，即它起着匹配网络的作用。</a:t>
            </a:r>
          </a:p>
        </p:txBody>
      </p:sp>
      <p:sp>
        <p:nvSpPr>
          <p:cNvPr id="8" name="矩形 7">
            <a:extLst>
              <a:ext uri="{FF2B5EF4-FFF2-40B4-BE49-F238E27FC236}">
                <a16:creationId xmlns:a16="http://schemas.microsoft.com/office/drawing/2014/main" xmlns="" id="{8C737D24-D6B6-869A-C952-F1A8ACB9E969}"/>
              </a:ext>
            </a:extLst>
          </p:cNvPr>
          <p:cNvSpPr>
            <a:spLocks noChangeArrowheads="1"/>
          </p:cNvSpPr>
          <p:nvPr/>
        </p:nvSpPr>
        <p:spPr bwMode="auto">
          <a:xfrm>
            <a:off x="894644" y="2239273"/>
            <a:ext cx="789165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square">
            <a:spAutoFit/>
          </a:bodyPr>
          <a:lstStyle/>
          <a:p>
            <a:pPr>
              <a:buClr>
                <a:schemeClr val="hlink"/>
              </a:buClr>
              <a:buFont typeface="Wingdings" panose="05000000000000000000" pitchFamily="2" charset="2"/>
              <a:buNone/>
            </a:pPr>
            <a:r>
              <a:rPr lang="en-US" altLang="en-US" sz="2000" dirty="0">
                <a:solidFill>
                  <a:schemeClr val="tx1"/>
                </a:solidFill>
                <a:latin typeface="+mn-ea"/>
                <a:cs typeface="Times New Roman" panose="02020603050405020304" pitchFamily="18" charset="0"/>
              </a:rPr>
              <a:t>②</a:t>
            </a:r>
            <a:r>
              <a:rPr lang="en-US" altLang="en-US" sz="2000" dirty="0" err="1">
                <a:solidFill>
                  <a:schemeClr val="tx1"/>
                </a:solidFill>
                <a:latin typeface="+mn-ea"/>
                <a:cs typeface="Times New Roman" panose="02020603050405020304" pitchFamily="18" charset="0"/>
              </a:rPr>
              <a:t>抑制工作频率范围以外的不需要频率，即它应有良好的滤波作用</a:t>
            </a:r>
            <a:r>
              <a:rPr lang="en-US" altLang="en-US" sz="2000" dirty="0">
                <a:solidFill>
                  <a:schemeClr val="tx1"/>
                </a:solidFill>
                <a:latin typeface="+mn-ea"/>
                <a:cs typeface="Times New Roman" panose="02020603050405020304" pitchFamily="18" charset="0"/>
              </a:rPr>
              <a:t>。</a:t>
            </a:r>
            <a:endParaRPr lang="zh-CN" altLang="en-US" sz="2000" dirty="0">
              <a:solidFill>
                <a:schemeClr val="tx1"/>
              </a:solidFill>
              <a:latin typeface="+mn-ea"/>
              <a:cs typeface="Times New Roman" panose="02020603050405020304" pitchFamily="18" charset="0"/>
            </a:endParaRPr>
          </a:p>
        </p:txBody>
      </p:sp>
      <p:sp>
        <p:nvSpPr>
          <p:cNvPr id="9" name="矩形 8">
            <a:extLst>
              <a:ext uri="{FF2B5EF4-FFF2-40B4-BE49-F238E27FC236}">
                <a16:creationId xmlns:a16="http://schemas.microsoft.com/office/drawing/2014/main" xmlns="" id="{4605D9F4-26C2-7F5B-084A-86D33CF424B7}"/>
              </a:ext>
            </a:extLst>
          </p:cNvPr>
          <p:cNvSpPr>
            <a:spLocks noChangeArrowheads="1"/>
          </p:cNvSpPr>
          <p:nvPr/>
        </p:nvSpPr>
        <p:spPr bwMode="auto">
          <a:xfrm>
            <a:off x="894644" y="2816890"/>
            <a:ext cx="7678436"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square">
            <a:spAutoFit/>
          </a:bodyPr>
          <a:lstStyle/>
          <a:p>
            <a:pPr>
              <a:buClr>
                <a:schemeClr val="hlink"/>
              </a:buClr>
              <a:buFont typeface="Wingdings" panose="05000000000000000000" pitchFamily="2" charset="2"/>
              <a:buNone/>
            </a:pPr>
            <a:r>
              <a:rPr lang="zh-CN" altLang="en-US" sz="2000" dirty="0">
                <a:solidFill>
                  <a:schemeClr val="tx1"/>
                </a:solidFill>
                <a:latin typeface="Times New Roman" panose="02020603050405020304" pitchFamily="18" charset="0"/>
                <a:cs typeface="Times New Roman" panose="02020603050405020304" pitchFamily="18" charset="0"/>
              </a:rPr>
              <a:t>③有效地传送功率到负载，但同时又应尽可能地使这几个电子器件彼此隔离，互不影响。</a:t>
            </a:r>
          </a:p>
        </p:txBody>
      </p:sp>
    </p:spTree>
    <p:extLst>
      <p:ext uri="{BB962C8B-B14F-4D97-AF65-F5344CB8AC3E}">
        <p14:creationId xmlns:p14="http://schemas.microsoft.com/office/powerpoint/2010/main" val="1685437275"/>
      </p:ext>
    </p:extLst>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140</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12"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4.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谐振</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功率</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放大器</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graphicFrame>
        <p:nvGraphicFramePr>
          <p:cNvPr id="5" name="Object 6">
            <a:extLst>
              <a:ext uri="{FF2B5EF4-FFF2-40B4-BE49-F238E27FC236}">
                <a16:creationId xmlns:a16="http://schemas.microsoft.com/office/drawing/2014/main" xmlns="" id="{C0C55218-45E1-EF16-3183-B399F4A3A28B}"/>
              </a:ext>
            </a:extLst>
          </p:cNvPr>
          <p:cNvGraphicFramePr>
            <a:graphicFrameLocks/>
          </p:cNvGraphicFramePr>
          <p:nvPr>
            <p:extLst>
              <p:ext uri="{D42A27DB-BD31-4B8C-83A1-F6EECF244321}">
                <p14:modId xmlns:p14="http://schemas.microsoft.com/office/powerpoint/2010/main" val="80007473"/>
              </p:ext>
            </p:extLst>
          </p:nvPr>
        </p:nvGraphicFramePr>
        <p:xfrm>
          <a:off x="358936" y="2817443"/>
          <a:ext cx="3154363" cy="2727325"/>
        </p:xfrm>
        <a:graphic>
          <a:graphicData uri="http://schemas.openxmlformats.org/presentationml/2006/ole">
            <mc:AlternateContent xmlns:mc="http://schemas.openxmlformats.org/markup-compatibility/2006">
              <mc:Choice xmlns:v="urn:schemas-microsoft-com:vml" Requires="v">
                <p:oleObj spid="_x0000_s104528" r:id="rId3" imgW="1739160" imgH="1359000" progId="Word.Picture.8">
                  <p:embed/>
                </p:oleObj>
              </mc:Choice>
              <mc:Fallback>
                <p:oleObj r:id="rId3" imgW="1739160" imgH="1359000" progId="Word.Picture.8">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8936" y="2817443"/>
                        <a:ext cx="3154363" cy="272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 name="Object 7">
            <a:extLst>
              <a:ext uri="{FF2B5EF4-FFF2-40B4-BE49-F238E27FC236}">
                <a16:creationId xmlns:a16="http://schemas.microsoft.com/office/drawing/2014/main" xmlns="" id="{F6C2DA4C-2358-328E-CA8A-516DAF206707}"/>
              </a:ext>
            </a:extLst>
          </p:cNvPr>
          <p:cNvGraphicFramePr>
            <a:graphicFrameLocks/>
          </p:cNvGraphicFramePr>
          <p:nvPr>
            <p:extLst>
              <p:ext uri="{D42A27DB-BD31-4B8C-83A1-F6EECF244321}">
                <p14:modId xmlns:p14="http://schemas.microsoft.com/office/powerpoint/2010/main" val="3501722218"/>
              </p:ext>
            </p:extLst>
          </p:nvPr>
        </p:nvGraphicFramePr>
        <p:xfrm>
          <a:off x="3835996" y="2564904"/>
          <a:ext cx="3616325" cy="3671888"/>
        </p:xfrm>
        <a:graphic>
          <a:graphicData uri="http://schemas.openxmlformats.org/presentationml/2006/ole">
            <mc:AlternateContent xmlns:mc="http://schemas.openxmlformats.org/markup-compatibility/2006">
              <mc:Choice xmlns:v="urn:schemas-microsoft-com:vml" Requires="v">
                <p:oleObj spid="_x0000_s104529" r:id="rId5" imgW="1638300" imgH="1663700" progId="Equation.3">
                  <p:embed/>
                </p:oleObj>
              </mc:Choice>
              <mc:Fallback>
                <p:oleObj r:id="rId5" imgW="1638300" imgH="1663700" progId="Equation.3">
                  <p:embed/>
                  <p:pic>
                    <p:nvPicPr>
                      <p:cNvPr id="0" name=""/>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35996" y="2564904"/>
                        <a:ext cx="3616325" cy="3671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 name="Text Box 8">
            <a:extLst>
              <a:ext uri="{FF2B5EF4-FFF2-40B4-BE49-F238E27FC236}">
                <a16:creationId xmlns:a16="http://schemas.microsoft.com/office/drawing/2014/main" xmlns="" id="{5123F6C0-9BA7-D1AC-E6AC-EB8B4A2BB580}"/>
              </a:ext>
            </a:extLst>
          </p:cNvPr>
          <p:cNvSpPr txBox="1">
            <a:spLocks noChangeArrowheads="1"/>
          </p:cNvSpPr>
          <p:nvPr/>
        </p:nvSpPr>
        <p:spPr bwMode="auto">
          <a:xfrm>
            <a:off x="375582" y="1392210"/>
            <a:ext cx="182101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fontAlgn="b"/>
            <a:r>
              <a:rPr lang="en-US" altLang="zh-CN" sz="2000" dirty="0">
                <a:solidFill>
                  <a:srgbClr val="0033CC"/>
                </a:solidFill>
                <a:latin typeface="+mn-ea"/>
                <a:ea typeface="+mn-ea"/>
              </a:rPr>
              <a:t>1) </a:t>
            </a:r>
            <a:r>
              <a:rPr lang="en-US" altLang="zh-CN" sz="2000" dirty="0">
                <a:solidFill>
                  <a:srgbClr val="0033CC"/>
                </a:solidFill>
                <a:latin typeface="+mn-ea"/>
                <a:ea typeface="+mn-ea"/>
                <a:sym typeface="Symbol" panose="05050102010706020507" pitchFamily="18" charset="2"/>
              </a:rPr>
              <a:t></a:t>
            </a:r>
            <a:r>
              <a:rPr lang="zh-CN" altLang="en-US" sz="2000" dirty="0">
                <a:solidFill>
                  <a:srgbClr val="0033CC"/>
                </a:solidFill>
                <a:latin typeface="+mn-ea"/>
                <a:ea typeface="+mn-ea"/>
              </a:rPr>
              <a:t>形匹配网络</a:t>
            </a:r>
          </a:p>
        </p:txBody>
      </p:sp>
      <p:sp>
        <p:nvSpPr>
          <p:cNvPr id="8" name="Rectangle 9">
            <a:extLst>
              <a:ext uri="{FF2B5EF4-FFF2-40B4-BE49-F238E27FC236}">
                <a16:creationId xmlns:a16="http://schemas.microsoft.com/office/drawing/2014/main" xmlns="" id="{9BFB64E9-7A13-9086-0F61-75824D116852}"/>
              </a:ext>
            </a:extLst>
          </p:cNvPr>
          <p:cNvSpPr>
            <a:spLocks noChangeArrowheads="1"/>
          </p:cNvSpPr>
          <p:nvPr/>
        </p:nvSpPr>
        <p:spPr bwMode="auto">
          <a:xfrm>
            <a:off x="358936" y="1753565"/>
            <a:ext cx="8178800"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p>
            <a:r>
              <a:rPr lang="zh-CN" altLang="en-US" sz="2000">
                <a:solidFill>
                  <a:schemeClr val="tx1"/>
                </a:solidFill>
                <a:latin typeface="+mn-ea"/>
                <a:ea typeface="+mn-ea"/>
              </a:rPr>
              <a:t>　　下图是两种</a:t>
            </a:r>
            <a:r>
              <a:rPr lang="zh-CN" altLang="en-US" sz="2000">
                <a:solidFill>
                  <a:schemeClr val="tx1"/>
                </a:solidFill>
                <a:latin typeface="+mn-ea"/>
                <a:ea typeface="+mn-ea"/>
                <a:sym typeface="Symbol" panose="05050102010706020507" pitchFamily="18" charset="2"/>
              </a:rPr>
              <a:t></a:t>
            </a:r>
            <a:r>
              <a:rPr lang="zh-CN" altLang="en-US" sz="2000">
                <a:solidFill>
                  <a:schemeClr val="tx1"/>
                </a:solidFill>
                <a:latin typeface="+mn-ea"/>
                <a:ea typeface="+mn-ea"/>
              </a:rPr>
              <a:t>形网络是其中的形式之一</a:t>
            </a:r>
            <a:r>
              <a:rPr lang="en-US" altLang="zh-CN" sz="2000">
                <a:solidFill>
                  <a:schemeClr val="tx1"/>
                </a:solidFill>
                <a:latin typeface="+mn-ea"/>
                <a:ea typeface="+mn-ea"/>
              </a:rPr>
              <a:t>(</a:t>
            </a:r>
            <a:r>
              <a:rPr lang="zh-CN" altLang="en-US" sz="2000">
                <a:solidFill>
                  <a:schemeClr val="tx1"/>
                </a:solidFill>
                <a:latin typeface="+mn-ea"/>
                <a:ea typeface="+mn-ea"/>
              </a:rPr>
              <a:t>也可以用</a:t>
            </a:r>
            <a:r>
              <a:rPr lang="en-US" altLang="zh-CN" sz="2000">
                <a:solidFill>
                  <a:schemeClr val="tx1"/>
                </a:solidFill>
                <a:latin typeface="+mn-ea"/>
                <a:ea typeface="+mn-ea"/>
              </a:rPr>
              <a:t>T</a:t>
            </a:r>
            <a:r>
              <a:rPr lang="zh-CN" altLang="en-US" sz="2000">
                <a:solidFill>
                  <a:schemeClr val="tx1"/>
                </a:solidFill>
                <a:latin typeface="+mn-ea"/>
                <a:ea typeface="+mn-ea"/>
              </a:rPr>
              <a:t>型网络</a:t>
            </a:r>
            <a:r>
              <a:rPr lang="en-US" altLang="zh-CN" sz="2000">
                <a:solidFill>
                  <a:schemeClr val="tx1"/>
                </a:solidFill>
                <a:latin typeface="+mn-ea"/>
                <a:ea typeface="+mn-ea"/>
              </a:rPr>
              <a:t>)</a:t>
            </a:r>
            <a:r>
              <a:rPr lang="zh-CN" altLang="en-US" sz="2000">
                <a:solidFill>
                  <a:schemeClr val="tx1"/>
                </a:solidFill>
                <a:latin typeface="+mn-ea"/>
                <a:ea typeface="+mn-ea"/>
              </a:rPr>
              <a:t>。图中</a:t>
            </a:r>
            <a:r>
              <a:rPr lang="en-US" altLang="zh-CN" sz="2000">
                <a:solidFill>
                  <a:schemeClr val="tx1"/>
                </a:solidFill>
                <a:latin typeface="+mn-ea"/>
                <a:ea typeface="+mn-ea"/>
              </a:rPr>
              <a:t>R</a:t>
            </a:r>
            <a:r>
              <a:rPr lang="en-US" altLang="zh-CN" sz="2000" baseline="-25000">
                <a:solidFill>
                  <a:schemeClr val="tx1"/>
                </a:solidFill>
                <a:latin typeface="+mn-ea"/>
                <a:ea typeface="+mn-ea"/>
              </a:rPr>
              <a:t>2</a:t>
            </a:r>
            <a:r>
              <a:rPr lang="zh-CN" altLang="en-US" sz="2000">
                <a:solidFill>
                  <a:schemeClr val="tx1"/>
                </a:solidFill>
                <a:latin typeface="+mn-ea"/>
                <a:ea typeface="+mn-ea"/>
              </a:rPr>
              <a:t>代表终端</a:t>
            </a:r>
            <a:r>
              <a:rPr lang="en-US" altLang="zh-CN" sz="2000">
                <a:solidFill>
                  <a:schemeClr val="tx1"/>
                </a:solidFill>
                <a:latin typeface="+mn-ea"/>
                <a:ea typeface="+mn-ea"/>
              </a:rPr>
              <a:t>(</a:t>
            </a:r>
            <a:r>
              <a:rPr lang="zh-CN" altLang="en-US" sz="2000">
                <a:solidFill>
                  <a:schemeClr val="tx1"/>
                </a:solidFill>
                <a:latin typeface="+mn-ea"/>
                <a:ea typeface="+mn-ea"/>
              </a:rPr>
              <a:t>负载</a:t>
            </a:r>
            <a:r>
              <a:rPr lang="en-US" altLang="zh-CN" sz="2000">
                <a:solidFill>
                  <a:schemeClr val="tx1"/>
                </a:solidFill>
                <a:latin typeface="+mn-ea"/>
                <a:ea typeface="+mn-ea"/>
              </a:rPr>
              <a:t>)</a:t>
            </a:r>
            <a:r>
              <a:rPr lang="zh-CN" altLang="en-US" sz="2000">
                <a:solidFill>
                  <a:schemeClr val="tx1"/>
                </a:solidFill>
                <a:latin typeface="+mn-ea"/>
                <a:ea typeface="+mn-ea"/>
              </a:rPr>
              <a:t>电阻，</a:t>
            </a:r>
            <a:r>
              <a:rPr lang="en-US" altLang="zh-CN" sz="2000">
                <a:solidFill>
                  <a:schemeClr val="tx1"/>
                </a:solidFill>
                <a:latin typeface="+mn-ea"/>
                <a:ea typeface="+mn-ea"/>
              </a:rPr>
              <a:t>R</a:t>
            </a:r>
            <a:r>
              <a:rPr lang="en-US" altLang="zh-CN" sz="2000" baseline="-25000">
                <a:solidFill>
                  <a:schemeClr val="tx1"/>
                </a:solidFill>
                <a:latin typeface="+mn-ea"/>
                <a:ea typeface="+mn-ea"/>
              </a:rPr>
              <a:t>1</a:t>
            </a:r>
            <a:r>
              <a:rPr lang="zh-CN" altLang="en-US" sz="2000">
                <a:solidFill>
                  <a:schemeClr val="tx1"/>
                </a:solidFill>
                <a:latin typeface="+mn-ea"/>
                <a:ea typeface="+mn-ea"/>
              </a:rPr>
              <a:t>代表由</a:t>
            </a:r>
            <a:r>
              <a:rPr lang="en-US" altLang="zh-CN" sz="2000">
                <a:solidFill>
                  <a:schemeClr val="tx1"/>
                </a:solidFill>
                <a:latin typeface="+mn-ea"/>
                <a:ea typeface="+mn-ea"/>
              </a:rPr>
              <a:t>R</a:t>
            </a:r>
            <a:r>
              <a:rPr lang="en-US" altLang="zh-CN" sz="2000" baseline="-25000">
                <a:solidFill>
                  <a:schemeClr val="tx1"/>
                </a:solidFill>
                <a:latin typeface="+mn-ea"/>
                <a:ea typeface="+mn-ea"/>
              </a:rPr>
              <a:t>2</a:t>
            </a:r>
            <a:r>
              <a:rPr lang="zh-CN" altLang="en-US" sz="2000">
                <a:solidFill>
                  <a:schemeClr val="tx1"/>
                </a:solidFill>
                <a:latin typeface="+mn-ea"/>
                <a:ea typeface="+mn-ea"/>
              </a:rPr>
              <a:t>折合到左端的等效电阻，故接线用虚线表示。</a:t>
            </a:r>
          </a:p>
        </p:txBody>
      </p:sp>
    </p:spTree>
    <p:extLst>
      <p:ext uri="{BB962C8B-B14F-4D97-AF65-F5344CB8AC3E}">
        <p14:creationId xmlns:p14="http://schemas.microsoft.com/office/powerpoint/2010/main" val="542957224"/>
      </p:ext>
    </p:extLst>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141</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12"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4.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谐振</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功率</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放大器</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Text Box 3">
            <a:extLst>
              <a:ext uri="{FF2B5EF4-FFF2-40B4-BE49-F238E27FC236}">
                <a16:creationId xmlns:a16="http://schemas.microsoft.com/office/drawing/2014/main" xmlns="" id="{FCA776F8-011D-89FA-19DB-90CBF54EFBB0}"/>
              </a:ext>
            </a:extLst>
          </p:cNvPr>
          <p:cNvSpPr txBox="1">
            <a:spLocks noChangeArrowheads="1"/>
          </p:cNvSpPr>
          <p:nvPr/>
        </p:nvSpPr>
        <p:spPr bwMode="auto">
          <a:xfrm>
            <a:off x="467544" y="1500908"/>
            <a:ext cx="7904163" cy="116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0000"/>
              </a:lnSpc>
            </a:pPr>
            <a:r>
              <a:rPr lang="zh-CN" altLang="en-US" sz="2000" dirty="0">
                <a:solidFill>
                  <a:schemeClr val="tx1"/>
                </a:solidFill>
                <a:latin typeface="+mn-ea"/>
                <a:ea typeface="+mn-ea"/>
              </a:rPr>
              <a:t>　　下图是两种</a:t>
            </a:r>
            <a:r>
              <a:rPr lang="zh-CN" altLang="en-US" sz="2000" dirty="0">
                <a:solidFill>
                  <a:schemeClr val="tx1"/>
                </a:solidFill>
                <a:latin typeface="+mn-ea"/>
                <a:ea typeface="+mn-ea"/>
                <a:sym typeface="Symbol" panose="05050102010706020507" pitchFamily="18" charset="2"/>
              </a:rPr>
              <a:t></a:t>
            </a:r>
            <a:r>
              <a:rPr lang="zh-CN" altLang="en-US" sz="2000" dirty="0">
                <a:solidFill>
                  <a:schemeClr val="tx1"/>
                </a:solidFill>
                <a:latin typeface="+mn-ea"/>
                <a:ea typeface="+mn-ea"/>
              </a:rPr>
              <a:t>形网络其中的形式之一</a:t>
            </a:r>
            <a:r>
              <a:rPr lang="en-US" altLang="zh-CN" sz="2000" dirty="0">
                <a:solidFill>
                  <a:schemeClr val="tx1"/>
                </a:solidFill>
                <a:latin typeface="+mn-ea"/>
                <a:ea typeface="+mn-ea"/>
              </a:rPr>
              <a:t>(</a:t>
            </a:r>
            <a:r>
              <a:rPr lang="zh-CN" altLang="en-US" sz="2000" dirty="0">
                <a:solidFill>
                  <a:schemeClr val="tx1"/>
                </a:solidFill>
                <a:latin typeface="+mn-ea"/>
                <a:ea typeface="+mn-ea"/>
              </a:rPr>
              <a:t>也可以用</a:t>
            </a:r>
            <a:r>
              <a:rPr lang="en-US" altLang="zh-CN" sz="2000" dirty="0">
                <a:solidFill>
                  <a:schemeClr val="tx1"/>
                </a:solidFill>
                <a:latin typeface="+mn-ea"/>
                <a:ea typeface="+mn-ea"/>
              </a:rPr>
              <a:t>T</a:t>
            </a:r>
            <a:r>
              <a:rPr lang="zh-CN" altLang="en-US" sz="2000" dirty="0">
                <a:solidFill>
                  <a:schemeClr val="tx1"/>
                </a:solidFill>
                <a:latin typeface="+mn-ea"/>
                <a:ea typeface="+mn-ea"/>
              </a:rPr>
              <a:t>型网络</a:t>
            </a:r>
            <a:r>
              <a:rPr lang="en-US" altLang="zh-CN" sz="2000" dirty="0">
                <a:solidFill>
                  <a:schemeClr val="tx1"/>
                </a:solidFill>
                <a:latin typeface="+mn-ea"/>
                <a:ea typeface="+mn-ea"/>
              </a:rPr>
              <a:t>)</a:t>
            </a:r>
            <a:r>
              <a:rPr lang="zh-CN" altLang="en-US" sz="2000" dirty="0">
                <a:solidFill>
                  <a:schemeClr val="tx1"/>
                </a:solidFill>
                <a:latin typeface="+mn-ea"/>
                <a:ea typeface="+mn-ea"/>
              </a:rPr>
              <a:t>。图中</a:t>
            </a:r>
            <a:r>
              <a:rPr lang="en-US" altLang="zh-CN" sz="2000" dirty="0">
                <a:solidFill>
                  <a:schemeClr val="tx1"/>
                </a:solidFill>
                <a:latin typeface="+mn-ea"/>
                <a:ea typeface="+mn-ea"/>
              </a:rPr>
              <a:t>R</a:t>
            </a:r>
            <a:r>
              <a:rPr lang="en-US" altLang="zh-CN" sz="2000" baseline="-25000" dirty="0">
                <a:solidFill>
                  <a:schemeClr val="tx1"/>
                </a:solidFill>
                <a:latin typeface="+mn-ea"/>
                <a:ea typeface="+mn-ea"/>
              </a:rPr>
              <a:t>2</a:t>
            </a:r>
            <a:r>
              <a:rPr lang="zh-CN" altLang="en-US" sz="2000" dirty="0">
                <a:solidFill>
                  <a:schemeClr val="tx1"/>
                </a:solidFill>
                <a:latin typeface="+mn-ea"/>
                <a:ea typeface="+mn-ea"/>
              </a:rPr>
              <a:t>代表终端</a:t>
            </a:r>
            <a:r>
              <a:rPr lang="en-US" altLang="zh-CN" sz="2000" dirty="0">
                <a:solidFill>
                  <a:schemeClr val="tx1"/>
                </a:solidFill>
                <a:latin typeface="+mn-ea"/>
                <a:ea typeface="+mn-ea"/>
              </a:rPr>
              <a:t>(</a:t>
            </a:r>
            <a:r>
              <a:rPr lang="zh-CN" altLang="en-US" sz="2000" dirty="0">
                <a:solidFill>
                  <a:schemeClr val="tx1"/>
                </a:solidFill>
                <a:latin typeface="+mn-ea"/>
                <a:ea typeface="+mn-ea"/>
              </a:rPr>
              <a:t>负载</a:t>
            </a:r>
            <a:r>
              <a:rPr lang="en-US" altLang="zh-CN" sz="2000" dirty="0">
                <a:solidFill>
                  <a:schemeClr val="tx1"/>
                </a:solidFill>
                <a:latin typeface="+mn-ea"/>
                <a:ea typeface="+mn-ea"/>
              </a:rPr>
              <a:t>)</a:t>
            </a:r>
            <a:r>
              <a:rPr lang="zh-CN" altLang="en-US" sz="2000" dirty="0">
                <a:solidFill>
                  <a:schemeClr val="tx1"/>
                </a:solidFill>
                <a:latin typeface="+mn-ea"/>
                <a:ea typeface="+mn-ea"/>
              </a:rPr>
              <a:t>电阻，</a:t>
            </a:r>
            <a:r>
              <a:rPr lang="en-US" altLang="zh-CN" sz="2000" dirty="0">
                <a:solidFill>
                  <a:schemeClr val="tx1"/>
                </a:solidFill>
                <a:latin typeface="+mn-ea"/>
                <a:ea typeface="+mn-ea"/>
              </a:rPr>
              <a:t>R</a:t>
            </a:r>
            <a:r>
              <a:rPr lang="en-US" altLang="zh-CN" sz="2000" baseline="-25000" dirty="0">
                <a:solidFill>
                  <a:schemeClr val="tx1"/>
                </a:solidFill>
                <a:latin typeface="+mn-ea"/>
                <a:ea typeface="+mn-ea"/>
              </a:rPr>
              <a:t>1</a:t>
            </a:r>
            <a:r>
              <a:rPr lang="zh-CN" altLang="en-US" sz="2000" dirty="0">
                <a:solidFill>
                  <a:schemeClr val="tx1"/>
                </a:solidFill>
                <a:latin typeface="+mn-ea"/>
                <a:ea typeface="+mn-ea"/>
              </a:rPr>
              <a:t>代表由</a:t>
            </a:r>
            <a:r>
              <a:rPr lang="en-US" altLang="zh-CN" sz="2000" dirty="0">
                <a:solidFill>
                  <a:schemeClr val="tx1"/>
                </a:solidFill>
                <a:latin typeface="+mn-ea"/>
                <a:ea typeface="+mn-ea"/>
              </a:rPr>
              <a:t>R</a:t>
            </a:r>
            <a:r>
              <a:rPr lang="en-US" altLang="zh-CN" sz="2000" baseline="-25000" dirty="0">
                <a:solidFill>
                  <a:schemeClr val="tx1"/>
                </a:solidFill>
                <a:latin typeface="+mn-ea"/>
                <a:ea typeface="+mn-ea"/>
              </a:rPr>
              <a:t>2</a:t>
            </a:r>
            <a:r>
              <a:rPr lang="zh-CN" altLang="en-US" sz="2000" dirty="0">
                <a:solidFill>
                  <a:schemeClr val="tx1"/>
                </a:solidFill>
                <a:latin typeface="+mn-ea"/>
                <a:ea typeface="+mn-ea"/>
              </a:rPr>
              <a:t>折合到左端的等效电阻，故接线用虚线表示。</a:t>
            </a:r>
          </a:p>
        </p:txBody>
      </p:sp>
      <p:graphicFrame>
        <p:nvGraphicFramePr>
          <p:cNvPr id="6" name="Object 5">
            <a:extLst>
              <a:ext uri="{FF2B5EF4-FFF2-40B4-BE49-F238E27FC236}">
                <a16:creationId xmlns:a16="http://schemas.microsoft.com/office/drawing/2014/main" xmlns="" id="{B595F45A-B814-1E5A-8431-D6192B9875F6}"/>
              </a:ext>
            </a:extLst>
          </p:cNvPr>
          <p:cNvGraphicFramePr>
            <a:graphicFrameLocks/>
          </p:cNvGraphicFramePr>
          <p:nvPr>
            <p:extLst>
              <p:ext uri="{D42A27DB-BD31-4B8C-83A1-F6EECF244321}">
                <p14:modId xmlns:p14="http://schemas.microsoft.com/office/powerpoint/2010/main" val="2787679810"/>
              </p:ext>
            </p:extLst>
          </p:nvPr>
        </p:nvGraphicFramePr>
        <p:xfrm>
          <a:off x="683568" y="3085728"/>
          <a:ext cx="2971800" cy="2682875"/>
        </p:xfrm>
        <a:graphic>
          <a:graphicData uri="http://schemas.openxmlformats.org/presentationml/2006/ole">
            <mc:AlternateContent xmlns:mc="http://schemas.openxmlformats.org/markup-compatibility/2006">
              <mc:Choice xmlns:v="urn:schemas-microsoft-com:vml" Requires="v">
                <p:oleObj spid="_x0000_s105552" r:id="rId3" imgW="1510560" imgH="1359000" progId="Word.Picture.8">
                  <p:embed/>
                </p:oleObj>
              </mc:Choice>
              <mc:Fallback>
                <p:oleObj r:id="rId3" imgW="1510560" imgH="1359000" progId="Word.Picture.8">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3568" y="3085728"/>
                        <a:ext cx="2971800" cy="268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 name="Object 6">
            <a:extLst>
              <a:ext uri="{FF2B5EF4-FFF2-40B4-BE49-F238E27FC236}">
                <a16:creationId xmlns:a16="http://schemas.microsoft.com/office/drawing/2014/main" xmlns="" id="{A2812EA8-E262-C363-FD90-2E9B2888CA9D}"/>
              </a:ext>
            </a:extLst>
          </p:cNvPr>
          <p:cNvGraphicFramePr>
            <a:graphicFrameLocks/>
          </p:cNvGraphicFramePr>
          <p:nvPr>
            <p:extLst>
              <p:ext uri="{D42A27DB-BD31-4B8C-83A1-F6EECF244321}">
                <p14:modId xmlns:p14="http://schemas.microsoft.com/office/powerpoint/2010/main" val="2683460554"/>
              </p:ext>
            </p:extLst>
          </p:nvPr>
        </p:nvGraphicFramePr>
        <p:xfrm>
          <a:off x="3995936" y="2813177"/>
          <a:ext cx="3600450" cy="3600450"/>
        </p:xfrm>
        <a:graphic>
          <a:graphicData uri="http://schemas.openxmlformats.org/presentationml/2006/ole">
            <mc:AlternateContent xmlns:mc="http://schemas.openxmlformats.org/markup-compatibility/2006">
              <mc:Choice xmlns:v="urn:schemas-microsoft-com:vml" Requires="v">
                <p:oleObj spid="_x0000_s105553" r:id="rId5" imgW="1663700" imgH="1663700" progId="Equation.3">
                  <p:embed/>
                </p:oleObj>
              </mc:Choice>
              <mc:Fallback>
                <p:oleObj r:id="rId5" imgW="1663700" imgH="1663700" progId="Equation.3">
                  <p:embed/>
                  <p:pic>
                    <p:nvPicPr>
                      <p:cNvPr id="0" name=""/>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95936" y="2813177"/>
                        <a:ext cx="3600450"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100169348"/>
      </p:ext>
    </p:extLst>
  </p:cSld>
  <p:clrMapOvr>
    <a:masterClrMapping/>
  </p:clrMapOvr>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142</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12"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4.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谐振</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功率</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放大器</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8" name="Text Box 3">
            <a:extLst>
              <a:ext uri="{FF2B5EF4-FFF2-40B4-BE49-F238E27FC236}">
                <a16:creationId xmlns:a16="http://schemas.microsoft.com/office/drawing/2014/main" xmlns="" id="{A0B54E32-635D-4019-7E28-72F12674F76D}"/>
              </a:ext>
            </a:extLst>
          </p:cNvPr>
          <p:cNvSpPr txBox="1">
            <a:spLocks noChangeArrowheads="1"/>
          </p:cNvSpPr>
          <p:nvPr/>
        </p:nvSpPr>
        <p:spPr bwMode="auto">
          <a:xfrm>
            <a:off x="609972" y="1515896"/>
            <a:ext cx="662463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000">
                <a:solidFill>
                  <a:schemeClr val="tx1"/>
                </a:solidFill>
                <a:latin typeface="+mn-ea"/>
                <a:ea typeface="+mn-ea"/>
              </a:rPr>
              <a:t>最常见的输出回路是复合输出回路，如图所示。</a:t>
            </a:r>
          </a:p>
        </p:txBody>
      </p:sp>
      <p:sp>
        <p:nvSpPr>
          <p:cNvPr id="9" name="Text Box 4">
            <a:extLst>
              <a:ext uri="{FF2B5EF4-FFF2-40B4-BE49-F238E27FC236}">
                <a16:creationId xmlns:a16="http://schemas.microsoft.com/office/drawing/2014/main" xmlns="" id="{B7DA11A6-0E95-EEAA-B988-148E280DCDB2}"/>
              </a:ext>
            </a:extLst>
          </p:cNvPr>
          <p:cNvSpPr txBox="1">
            <a:spLocks noChangeArrowheads="1"/>
          </p:cNvSpPr>
          <p:nvPr/>
        </p:nvSpPr>
        <p:spPr bwMode="auto">
          <a:xfrm>
            <a:off x="4381991" y="2570551"/>
            <a:ext cx="4361135" cy="31700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000" dirty="0">
                <a:solidFill>
                  <a:schemeClr val="tx1"/>
                </a:solidFill>
                <a:latin typeface="+mn-ea"/>
                <a:ea typeface="+mn-ea"/>
              </a:rPr>
              <a:t>图中，介于电子器件与天线回路之间的</a:t>
            </a:r>
            <a:r>
              <a:rPr lang="en-US" altLang="zh-CN" sz="2000" dirty="0">
                <a:solidFill>
                  <a:schemeClr val="tx1"/>
                </a:solidFill>
                <a:latin typeface="+mn-ea"/>
                <a:ea typeface="+mn-ea"/>
              </a:rPr>
              <a:t>L</a:t>
            </a:r>
            <a:r>
              <a:rPr lang="en-US" altLang="zh-CN" sz="2000" baseline="-25000" dirty="0">
                <a:solidFill>
                  <a:schemeClr val="tx1"/>
                </a:solidFill>
                <a:latin typeface="+mn-ea"/>
                <a:ea typeface="+mn-ea"/>
              </a:rPr>
              <a:t>1</a:t>
            </a:r>
            <a:r>
              <a:rPr lang="en-US" altLang="zh-CN" sz="2000" dirty="0">
                <a:solidFill>
                  <a:schemeClr val="tx1"/>
                </a:solidFill>
                <a:latin typeface="+mn-ea"/>
                <a:ea typeface="+mn-ea"/>
              </a:rPr>
              <a:t>C</a:t>
            </a:r>
            <a:r>
              <a:rPr lang="en-US" altLang="zh-CN" sz="2000" baseline="-25000" dirty="0">
                <a:solidFill>
                  <a:schemeClr val="tx1"/>
                </a:solidFill>
                <a:latin typeface="+mn-ea"/>
                <a:ea typeface="+mn-ea"/>
              </a:rPr>
              <a:t>1</a:t>
            </a:r>
            <a:r>
              <a:rPr lang="zh-CN" altLang="en-US" sz="2000" dirty="0">
                <a:solidFill>
                  <a:schemeClr val="tx1"/>
                </a:solidFill>
                <a:latin typeface="+mn-ea"/>
                <a:ea typeface="+mn-ea"/>
              </a:rPr>
              <a:t>回路就叫做中介回路</a:t>
            </a:r>
          </a:p>
          <a:p>
            <a:endParaRPr lang="zh-CN" altLang="en-US" sz="2000" dirty="0">
              <a:solidFill>
                <a:schemeClr val="tx1"/>
              </a:solidFill>
              <a:latin typeface="+mn-ea"/>
              <a:ea typeface="+mn-ea"/>
            </a:endParaRPr>
          </a:p>
          <a:p>
            <a:r>
              <a:rPr lang="en-US" altLang="zh-CN" sz="2000" dirty="0">
                <a:solidFill>
                  <a:schemeClr val="tx1"/>
                </a:solidFill>
                <a:latin typeface="+mn-ea"/>
                <a:ea typeface="+mn-ea"/>
              </a:rPr>
              <a:t>R</a:t>
            </a:r>
            <a:r>
              <a:rPr lang="en-US" altLang="zh-CN" sz="2000" baseline="-25000" dirty="0">
                <a:solidFill>
                  <a:schemeClr val="tx1"/>
                </a:solidFill>
                <a:latin typeface="+mn-ea"/>
                <a:ea typeface="+mn-ea"/>
              </a:rPr>
              <a:t>A</a:t>
            </a:r>
            <a:r>
              <a:rPr lang="en-US" altLang="zh-CN" sz="2000" dirty="0">
                <a:solidFill>
                  <a:schemeClr val="tx1"/>
                </a:solidFill>
                <a:latin typeface="+mn-ea"/>
                <a:ea typeface="+mn-ea"/>
              </a:rPr>
              <a:t>C</a:t>
            </a:r>
            <a:r>
              <a:rPr lang="en-US" altLang="zh-CN" sz="2000" baseline="-25000" dirty="0">
                <a:solidFill>
                  <a:schemeClr val="tx1"/>
                </a:solidFill>
                <a:latin typeface="+mn-ea"/>
                <a:ea typeface="+mn-ea"/>
              </a:rPr>
              <a:t>A</a:t>
            </a:r>
            <a:r>
              <a:rPr lang="zh-CN" altLang="en-US" sz="2000" dirty="0">
                <a:solidFill>
                  <a:schemeClr val="tx1"/>
                </a:solidFill>
                <a:latin typeface="+mn-ea"/>
                <a:ea typeface="+mn-ea"/>
              </a:rPr>
              <a:t>分别代表天线的辐射电阻与等效电容；</a:t>
            </a:r>
          </a:p>
          <a:p>
            <a:endParaRPr lang="zh-CN" altLang="en-US" sz="2000" dirty="0">
              <a:solidFill>
                <a:schemeClr val="tx1"/>
              </a:solidFill>
              <a:latin typeface="+mn-ea"/>
              <a:ea typeface="+mn-ea"/>
            </a:endParaRPr>
          </a:p>
          <a:p>
            <a:r>
              <a:rPr lang="en-US" altLang="zh-CN" sz="2000" dirty="0">
                <a:solidFill>
                  <a:schemeClr val="tx1"/>
                </a:solidFill>
                <a:latin typeface="+mn-ea"/>
                <a:ea typeface="+mn-ea"/>
              </a:rPr>
              <a:t>L</a:t>
            </a:r>
            <a:r>
              <a:rPr lang="en-US" altLang="zh-CN" sz="2000" baseline="-25000" dirty="0">
                <a:solidFill>
                  <a:schemeClr val="tx1"/>
                </a:solidFill>
                <a:latin typeface="+mn-ea"/>
                <a:ea typeface="+mn-ea"/>
              </a:rPr>
              <a:t>n</a:t>
            </a:r>
            <a:r>
              <a:rPr lang="zh-CN" altLang="en-US" sz="2000" dirty="0">
                <a:solidFill>
                  <a:schemeClr val="tx1"/>
                </a:solidFill>
                <a:latin typeface="+mn-ea"/>
                <a:ea typeface="+mn-ea"/>
              </a:rPr>
              <a:t>、</a:t>
            </a:r>
            <a:r>
              <a:rPr lang="en-US" altLang="zh-CN" sz="2000" dirty="0" err="1">
                <a:solidFill>
                  <a:schemeClr val="tx1"/>
                </a:solidFill>
                <a:latin typeface="+mn-ea"/>
                <a:ea typeface="+mn-ea"/>
              </a:rPr>
              <a:t>c</a:t>
            </a:r>
            <a:r>
              <a:rPr lang="en-US" altLang="zh-CN" sz="2000" baseline="-25000" dirty="0" err="1">
                <a:solidFill>
                  <a:schemeClr val="tx1"/>
                </a:solidFill>
                <a:latin typeface="+mn-ea"/>
                <a:ea typeface="+mn-ea"/>
              </a:rPr>
              <a:t>n</a:t>
            </a:r>
            <a:r>
              <a:rPr lang="zh-CN" altLang="en-US" sz="2000" dirty="0">
                <a:solidFill>
                  <a:schemeClr val="tx1"/>
                </a:solidFill>
                <a:latin typeface="+mn-ea"/>
                <a:ea typeface="+mn-ea"/>
              </a:rPr>
              <a:t>为天线回路的调谐元件，它们的作用是使天线回路处于串联谐振状态，以获得最大的天线回路电流</a:t>
            </a:r>
            <a:r>
              <a:rPr lang="en-US" altLang="zh-CN" sz="2000" i="1" dirty="0">
                <a:solidFill>
                  <a:schemeClr val="tx1"/>
                </a:solidFill>
                <a:latin typeface="+mn-ea"/>
                <a:ea typeface="+mn-ea"/>
              </a:rPr>
              <a:t>i</a:t>
            </a:r>
            <a:r>
              <a:rPr lang="en-US" altLang="zh-CN" sz="2000" baseline="-25000" dirty="0">
                <a:solidFill>
                  <a:schemeClr val="tx1"/>
                </a:solidFill>
                <a:latin typeface="+mn-ea"/>
                <a:ea typeface="+mn-ea"/>
              </a:rPr>
              <a:t>A</a:t>
            </a:r>
            <a:r>
              <a:rPr lang="zh-CN" altLang="en-US" sz="2000" dirty="0">
                <a:solidFill>
                  <a:schemeClr val="tx1"/>
                </a:solidFill>
                <a:latin typeface="+mn-ea"/>
                <a:ea typeface="+mn-ea"/>
              </a:rPr>
              <a:t>，亦即使天线辐射功率达到最大。</a:t>
            </a:r>
          </a:p>
        </p:txBody>
      </p:sp>
      <p:sp>
        <p:nvSpPr>
          <p:cNvPr id="10" name="Text Box 9">
            <a:extLst>
              <a:ext uri="{FF2B5EF4-FFF2-40B4-BE49-F238E27FC236}">
                <a16:creationId xmlns:a16="http://schemas.microsoft.com/office/drawing/2014/main" xmlns="" id="{9569A8F4-CA46-BBDF-9DFC-4DBE5FED3816}"/>
              </a:ext>
            </a:extLst>
          </p:cNvPr>
          <p:cNvSpPr txBox="1">
            <a:spLocks noChangeArrowheads="1"/>
          </p:cNvSpPr>
          <p:nvPr/>
        </p:nvSpPr>
        <p:spPr bwMode="auto">
          <a:xfrm>
            <a:off x="121599" y="5509018"/>
            <a:ext cx="444384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chemeClr val="tx1"/>
                </a:solidFill>
                <a:latin typeface="+mn-ea"/>
                <a:ea typeface="+mn-ea"/>
              </a:rPr>
              <a:t>复合输出回路</a:t>
            </a:r>
            <a:r>
              <a:rPr lang="en-US" altLang="zh-CN" sz="2000" dirty="0">
                <a:solidFill>
                  <a:schemeClr val="tx1"/>
                </a:solidFill>
                <a:latin typeface="+mn-ea"/>
                <a:ea typeface="+mn-ea"/>
              </a:rPr>
              <a:t>(</a:t>
            </a:r>
            <a:r>
              <a:rPr lang="zh-CN" altLang="en-US" sz="2000" dirty="0">
                <a:solidFill>
                  <a:schemeClr val="tx1"/>
                </a:solidFill>
                <a:latin typeface="+mn-ea"/>
                <a:ea typeface="+mn-ea"/>
              </a:rPr>
              <a:t>为了简化电路，省略了</a:t>
            </a:r>
          </a:p>
          <a:p>
            <a:r>
              <a:rPr lang="zh-CN" altLang="en-US" sz="2000" dirty="0">
                <a:solidFill>
                  <a:schemeClr val="tx1"/>
                </a:solidFill>
                <a:latin typeface="+mn-ea"/>
                <a:ea typeface="+mn-ea"/>
              </a:rPr>
              <a:t> 直流电源及辅助元件</a:t>
            </a:r>
            <a:r>
              <a:rPr lang="en-US" altLang="zh-CN" sz="2000" dirty="0">
                <a:solidFill>
                  <a:schemeClr val="tx1"/>
                </a:solidFill>
                <a:latin typeface="+mn-ea"/>
                <a:ea typeface="+mn-ea"/>
              </a:rPr>
              <a:t>L</a:t>
            </a:r>
            <a:r>
              <a:rPr lang="en-US" altLang="zh-CN" sz="2000" dirty="0">
                <a:solidFill>
                  <a:schemeClr val="tx1"/>
                </a:solidFill>
                <a:latin typeface="+mn-ea"/>
                <a:ea typeface="+mn-ea"/>
                <a:sym typeface="Symbol" panose="05050102010706020507" pitchFamily="18" charset="2"/>
              </a:rPr>
              <a:t></a:t>
            </a:r>
            <a:r>
              <a:rPr lang="zh-CN" altLang="en-US" sz="2000" dirty="0">
                <a:solidFill>
                  <a:schemeClr val="tx1"/>
                </a:solidFill>
                <a:latin typeface="+mn-ea"/>
                <a:ea typeface="+mn-ea"/>
              </a:rPr>
              <a:t>、</a:t>
            </a:r>
            <a:r>
              <a:rPr lang="en-US" altLang="zh-CN" sz="2000" dirty="0">
                <a:solidFill>
                  <a:schemeClr val="tx1"/>
                </a:solidFill>
                <a:latin typeface="+mn-ea"/>
                <a:ea typeface="+mn-ea"/>
              </a:rPr>
              <a:t>C</a:t>
            </a:r>
            <a:r>
              <a:rPr lang="en-US" altLang="zh-CN" sz="2000" dirty="0">
                <a:solidFill>
                  <a:schemeClr val="tx1"/>
                </a:solidFill>
                <a:latin typeface="+mn-ea"/>
                <a:ea typeface="+mn-ea"/>
                <a:sym typeface="Symbol" panose="05050102010706020507" pitchFamily="18" charset="2"/>
              </a:rPr>
              <a:t></a:t>
            </a:r>
            <a:r>
              <a:rPr lang="zh-CN" altLang="en-US" sz="2000" dirty="0">
                <a:solidFill>
                  <a:schemeClr val="tx1"/>
                </a:solidFill>
                <a:latin typeface="+mn-ea"/>
                <a:ea typeface="+mn-ea"/>
              </a:rPr>
              <a:t>、</a:t>
            </a:r>
            <a:r>
              <a:rPr lang="en-US" altLang="zh-CN" sz="2000" dirty="0">
                <a:solidFill>
                  <a:schemeClr val="tx1"/>
                </a:solidFill>
                <a:latin typeface="+mn-ea"/>
                <a:ea typeface="+mn-ea"/>
              </a:rPr>
              <a:t>C</a:t>
            </a:r>
            <a:r>
              <a:rPr lang="en-US" altLang="zh-CN" sz="2000" dirty="0">
                <a:solidFill>
                  <a:schemeClr val="tx1"/>
                </a:solidFill>
                <a:latin typeface="+mn-ea"/>
                <a:ea typeface="+mn-ea"/>
                <a:sym typeface="Symbol" panose="05050102010706020507" pitchFamily="18" charset="2"/>
              </a:rPr>
              <a:t></a:t>
            </a:r>
            <a:r>
              <a:rPr lang="zh-CN" altLang="en-US" sz="2000" dirty="0">
                <a:solidFill>
                  <a:schemeClr val="tx1"/>
                </a:solidFill>
                <a:latin typeface="+mn-ea"/>
                <a:ea typeface="+mn-ea"/>
              </a:rPr>
              <a:t>等</a:t>
            </a:r>
            <a:r>
              <a:rPr lang="en-US" altLang="zh-CN" sz="2000" dirty="0">
                <a:solidFill>
                  <a:schemeClr val="tx1"/>
                </a:solidFill>
                <a:latin typeface="+mn-ea"/>
                <a:ea typeface="+mn-ea"/>
              </a:rPr>
              <a:t>)</a:t>
            </a:r>
          </a:p>
        </p:txBody>
      </p:sp>
      <p:sp>
        <p:nvSpPr>
          <p:cNvPr id="11" name="Text Box 10">
            <a:extLst>
              <a:ext uri="{FF2B5EF4-FFF2-40B4-BE49-F238E27FC236}">
                <a16:creationId xmlns:a16="http://schemas.microsoft.com/office/drawing/2014/main" xmlns="" id="{5FF1D9A1-BEFB-BAB2-542E-5102A6D4F7C4}"/>
              </a:ext>
            </a:extLst>
          </p:cNvPr>
          <p:cNvSpPr txBox="1">
            <a:spLocks noChangeArrowheads="1"/>
          </p:cNvSpPr>
          <p:nvPr/>
        </p:nvSpPr>
        <p:spPr bwMode="auto">
          <a:xfrm>
            <a:off x="609972" y="1994514"/>
            <a:ext cx="6638356"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chemeClr val="tx1"/>
                </a:solidFill>
                <a:latin typeface="+mn-ea"/>
                <a:ea typeface="+mn-ea"/>
              </a:rPr>
              <a:t>这种电路是将天线</a:t>
            </a:r>
            <a:r>
              <a:rPr lang="en-US" altLang="zh-CN" sz="2000" dirty="0">
                <a:solidFill>
                  <a:schemeClr val="tx1"/>
                </a:solidFill>
                <a:latin typeface="+mn-ea"/>
                <a:ea typeface="+mn-ea"/>
              </a:rPr>
              <a:t>(</a:t>
            </a:r>
            <a:r>
              <a:rPr lang="zh-CN" altLang="en-US" sz="2000" dirty="0">
                <a:solidFill>
                  <a:schemeClr val="tx1"/>
                </a:solidFill>
                <a:latin typeface="+mn-ea"/>
                <a:ea typeface="+mn-ea"/>
              </a:rPr>
              <a:t>负载</a:t>
            </a:r>
            <a:r>
              <a:rPr lang="en-US" altLang="zh-CN" sz="2000" dirty="0">
                <a:solidFill>
                  <a:schemeClr val="tx1"/>
                </a:solidFill>
                <a:latin typeface="+mn-ea"/>
                <a:ea typeface="+mn-ea"/>
              </a:rPr>
              <a:t>)</a:t>
            </a:r>
            <a:r>
              <a:rPr lang="zh-CN" altLang="en-US" sz="2000" dirty="0">
                <a:solidFill>
                  <a:schemeClr val="tx1"/>
                </a:solidFill>
                <a:latin typeface="+mn-ea"/>
                <a:ea typeface="+mn-ea"/>
              </a:rPr>
              <a:t>回路通过互感或其他形式与集电</a:t>
            </a:r>
          </a:p>
          <a:p>
            <a:r>
              <a:rPr lang="zh-CN" altLang="en-US" sz="2000" dirty="0">
                <a:solidFill>
                  <a:schemeClr val="tx1"/>
                </a:solidFill>
                <a:latin typeface="+mn-ea"/>
                <a:ea typeface="+mn-ea"/>
              </a:rPr>
              <a:t>极调谐回路相耦合。</a:t>
            </a:r>
          </a:p>
        </p:txBody>
      </p:sp>
      <p:sp>
        <p:nvSpPr>
          <p:cNvPr id="13" name="Text Box 11">
            <a:extLst>
              <a:ext uri="{FF2B5EF4-FFF2-40B4-BE49-F238E27FC236}">
                <a16:creationId xmlns:a16="http://schemas.microsoft.com/office/drawing/2014/main" xmlns="" id="{58F18586-078F-72E9-CB8B-4E254A0C3D01}"/>
              </a:ext>
            </a:extLst>
          </p:cNvPr>
          <p:cNvSpPr txBox="1">
            <a:spLocks noChangeArrowheads="1"/>
          </p:cNvSpPr>
          <p:nvPr/>
        </p:nvSpPr>
        <p:spPr bwMode="auto">
          <a:xfrm>
            <a:off x="880802" y="1171408"/>
            <a:ext cx="193642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fontAlgn="b"/>
            <a:r>
              <a:rPr lang="zh-CN" altLang="en-US" sz="2000">
                <a:solidFill>
                  <a:srgbClr val="0033CC"/>
                </a:solidFill>
                <a:latin typeface="+mn-ea"/>
                <a:ea typeface="+mn-ea"/>
              </a:rPr>
              <a:t>２</a:t>
            </a:r>
            <a:r>
              <a:rPr lang="en-US" altLang="zh-CN" sz="2000">
                <a:solidFill>
                  <a:srgbClr val="0033CC"/>
                </a:solidFill>
                <a:latin typeface="+mn-ea"/>
                <a:ea typeface="+mn-ea"/>
              </a:rPr>
              <a:t>)</a:t>
            </a:r>
            <a:r>
              <a:rPr lang="zh-CN" altLang="en-US" sz="2000">
                <a:solidFill>
                  <a:srgbClr val="0033CC"/>
                </a:solidFill>
                <a:latin typeface="+mn-ea"/>
                <a:ea typeface="+mn-ea"/>
              </a:rPr>
              <a:t>复合输出回路</a:t>
            </a:r>
          </a:p>
        </p:txBody>
      </p:sp>
      <p:grpSp>
        <p:nvGrpSpPr>
          <p:cNvPr id="14" name="组合 60425">
            <a:extLst>
              <a:ext uri="{FF2B5EF4-FFF2-40B4-BE49-F238E27FC236}">
                <a16:creationId xmlns:a16="http://schemas.microsoft.com/office/drawing/2014/main" xmlns="" id="{CB03CCB5-C4F4-03F0-3FFD-1702184D30EF}"/>
              </a:ext>
            </a:extLst>
          </p:cNvPr>
          <p:cNvGrpSpPr>
            <a:grpSpLocks/>
          </p:cNvGrpSpPr>
          <p:nvPr/>
        </p:nvGrpSpPr>
        <p:grpSpPr bwMode="auto">
          <a:xfrm>
            <a:off x="609973" y="2777959"/>
            <a:ext cx="3240087" cy="2420937"/>
            <a:chOff x="376" y="1496"/>
            <a:chExt cx="2041" cy="1525"/>
          </a:xfrm>
        </p:grpSpPr>
        <p:graphicFrame>
          <p:nvGraphicFramePr>
            <p:cNvPr id="15" name="Object 8">
              <a:extLst>
                <a:ext uri="{FF2B5EF4-FFF2-40B4-BE49-F238E27FC236}">
                  <a16:creationId xmlns:a16="http://schemas.microsoft.com/office/drawing/2014/main" xmlns="" id="{9B96EB48-5CF8-7CCF-2C99-8A75C09579C4}"/>
                </a:ext>
              </a:extLst>
            </p:cNvPr>
            <p:cNvGraphicFramePr>
              <a:graphicFrameLocks/>
            </p:cNvGraphicFramePr>
            <p:nvPr>
              <p:extLst>
                <p:ext uri="{D42A27DB-BD31-4B8C-83A1-F6EECF244321}">
                  <p14:modId xmlns:p14="http://schemas.microsoft.com/office/powerpoint/2010/main" val="3668691510"/>
                </p:ext>
              </p:extLst>
            </p:nvPr>
          </p:nvGraphicFramePr>
          <p:xfrm>
            <a:off x="376" y="1496"/>
            <a:ext cx="2041" cy="1525"/>
          </p:xfrm>
          <a:graphic>
            <a:graphicData uri="http://schemas.openxmlformats.org/presentationml/2006/ole">
              <mc:AlternateContent xmlns:mc="http://schemas.openxmlformats.org/markup-compatibility/2006">
                <mc:Choice xmlns:v="urn:schemas-microsoft-com:vml" Requires="v">
                  <p:oleObj spid="_x0000_s106537" r:id="rId3" imgW="2310120" imgH="1447920" progId="Word.Picture.8">
                    <p:embed/>
                  </p:oleObj>
                </mc:Choice>
                <mc:Fallback>
                  <p:oleObj r:id="rId3" imgW="2310120" imgH="1447920" progId="Word.Picture.8">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6" y="1496"/>
                          <a:ext cx="2041" cy="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6" name="文本框 60424">
              <a:extLst>
                <a:ext uri="{FF2B5EF4-FFF2-40B4-BE49-F238E27FC236}">
                  <a16:creationId xmlns:a16="http://schemas.microsoft.com/office/drawing/2014/main" xmlns="" id="{AAA4F49E-E402-955D-9A45-D21897A75F07}"/>
                </a:ext>
              </a:extLst>
            </p:cNvPr>
            <p:cNvSpPr txBox="1">
              <a:spLocks noChangeArrowheads="1"/>
            </p:cNvSpPr>
            <p:nvPr/>
          </p:nvSpPr>
          <p:spPr bwMode="auto">
            <a:xfrm>
              <a:off x="1369" y="1810"/>
              <a:ext cx="19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a:solidFill>
                    <a:schemeClr val="tx1"/>
                  </a:solidFill>
                  <a:latin typeface="+mn-ea"/>
                  <a:ea typeface="+mn-ea"/>
                </a:rPr>
                <a:t>M</a:t>
              </a:r>
            </a:p>
          </p:txBody>
        </p:sp>
      </p:grpSp>
    </p:spTree>
    <p:extLst>
      <p:ext uri="{BB962C8B-B14F-4D97-AF65-F5344CB8AC3E}">
        <p14:creationId xmlns:p14="http://schemas.microsoft.com/office/powerpoint/2010/main" val="1599899250"/>
      </p:ext>
    </p:extLst>
  </p:cSld>
  <p:clrMapOvr>
    <a:masterClrMapping/>
  </p:clrMapOvr>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143</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12"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4.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谐振</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功率</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放大器</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Text Box 3">
            <a:extLst>
              <a:ext uri="{FF2B5EF4-FFF2-40B4-BE49-F238E27FC236}">
                <a16:creationId xmlns:a16="http://schemas.microsoft.com/office/drawing/2014/main" xmlns="" id="{61535BF6-F4CA-FD85-EFC3-D54E5683EBDC}"/>
              </a:ext>
            </a:extLst>
          </p:cNvPr>
          <p:cNvSpPr txBox="1">
            <a:spLocks noChangeArrowheads="1"/>
          </p:cNvSpPr>
          <p:nvPr/>
        </p:nvSpPr>
        <p:spPr bwMode="auto">
          <a:xfrm>
            <a:off x="442367" y="1238523"/>
            <a:ext cx="84978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000">
                <a:solidFill>
                  <a:schemeClr val="tx1"/>
                </a:solidFill>
                <a:latin typeface="+mn-ea"/>
                <a:ea typeface="+mn-ea"/>
              </a:rPr>
              <a:t>　　可以看到：从晶体管集电极向右方看去，等效为一个并联谐振回路，如图所示。</a:t>
            </a:r>
          </a:p>
        </p:txBody>
      </p:sp>
      <p:graphicFrame>
        <p:nvGraphicFramePr>
          <p:cNvPr id="6" name="Object 7">
            <a:extLst>
              <a:ext uri="{FF2B5EF4-FFF2-40B4-BE49-F238E27FC236}">
                <a16:creationId xmlns:a16="http://schemas.microsoft.com/office/drawing/2014/main" xmlns="" id="{9417B8AD-6E3A-B16F-0567-D8CEF6A4BFA9}"/>
              </a:ext>
            </a:extLst>
          </p:cNvPr>
          <p:cNvGraphicFramePr>
            <a:graphicFrameLocks/>
          </p:cNvGraphicFramePr>
          <p:nvPr>
            <p:extLst>
              <p:ext uri="{D42A27DB-BD31-4B8C-83A1-F6EECF244321}">
                <p14:modId xmlns:p14="http://schemas.microsoft.com/office/powerpoint/2010/main" val="971788920"/>
              </p:ext>
            </p:extLst>
          </p:nvPr>
        </p:nvGraphicFramePr>
        <p:xfrm>
          <a:off x="7452321" y="1837735"/>
          <a:ext cx="1171575" cy="1889125"/>
        </p:xfrm>
        <a:graphic>
          <a:graphicData uri="http://schemas.openxmlformats.org/presentationml/2006/ole">
            <mc:AlternateContent xmlns:mc="http://schemas.openxmlformats.org/markup-compatibility/2006">
              <mc:Choice xmlns:v="urn:schemas-microsoft-com:vml" Requires="v">
                <p:oleObj spid="_x0000_s107678" r:id="rId3" imgW="1332720" imgH="1676520" progId="Word.Picture.8">
                  <p:embed/>
                </p:oleObj>
              </mc:Choice>
              <mc:Fallback>
                <p:oleObj r:id="rId3" imgW="1332720" imgH="1676520" progId="Word.Picture.8">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2321" y="1837735"/>
                        <a:ext cx="1171575" cy="188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 name="Text Box 8">
            <a:extLst>
              <a:ext uri="{FF2B5EF4-FFF2-40B4-BE49-F238E27FC236}">
                <a16:creationId xmlns:a16="http://schemas.microsoft.com/office/drawing/2014/main" xmlns="" id="{34FDDDDA-A749-8B91-469C-5408EE5969A6}"/>
              </a:ext>
            </a:extLst>
          </p:cNvPr>
          <p:cNvSpPr txBox="1">
            <a:spLocks noChangeArrowheads="1"/>
          </p:cNvSpPr>
          <p:nvPr/>
        </p:nvSpPr>
        <p:spPr bwMode="auto">
          <a:xfrm>
            <a:off x="7549315" y="3890372"/>
            <a:ext cx="12065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a:solidFill>
                  <a:schemeClr val="tx1"/>
                </a:solidFill>
                <a:latin typeface="+mn-ea"/>
                <a:ea typeface="+mn-ea"/>
              </a:rPr>
              <a:t>等效电路</a:t>
            </a:r>
          </a:p>
        </p:txBody>
      </p:sp>
      <p:grpSp>
        <p:nvGrpSpPr>
          <p:cNvPr id="8" name="组合 7">
            <a:extLst>
              <a:ext uri="{FF2B5EF4-FFF2-40B4-BE49-F238E27FC236}">
                <a16:creationId xmlns:a16="http://schemas.microsoft.com/office/drawing/2014/main" xmlns="" id="{8D2C08CA-58C5-AA51-A986-1C85152E415A}"/>
              </a:ext>
            </a:extLst>
          </p:cNvPr>
          <p:cNvGrpSpPr>
            <a:grpSpLocks/>
          </p:cNvGrpSpPr>
          <p:nvPr/>
        </p:nvGrpSpPr>
        <p:grpSpPr bwMode="auto">
          <a:xfrm>
            <a:off x="2734271" y="1861355"/>
            <a:ext cx="4557713" cy="1468438"/>
            <a:chOff x="1720" y="966"/>
            <a:chExt cx="2871" cy="925"/>
          </a:xfrm>
        </p:grpSpPr>
        <p:sp>
          <p:nvSpPr>
            <p:cNvPr id="9" name="Text Box 9">
              <a:extLst>
                <a:ext uri="{FF2B5EF4-FFF2-40B4-BE49-F238E27FC236}">
                  <a16:creationId xmlns:a16="http://schemas.microsoft.com/office/drawing/2014/main" xmlns="" id="{0917C5BA-542B-57D6-A1E1-50EE977E3F51}"/>
                </a:ext>
              </a:extLst>
            </p:cNvPr>
            <p:cNvSpPr txBox="1">
              <a:spLocks noChangeArrowheads="1"/>
            </p:cNvSpPr>
            <p:nvPr/>
          </p:nvSpPr>
          <p:spPr bwMode="auto">
            <a:xfrm>
              <a:off x="1720" y="966"/>
              <a:ext cx="2871" cy="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chemeClr val="tx1"/>
                  </a:solidFill>
                  <a:latin typeface="+mn-ea"/>
                  <a:ea typeface="+mn-ea"/>
                </a:rPr>
                <a:t>由耦合电路的理论可知，当天线回路调</a:t>
              </a:r>
            </a:p>
            <a:p>
              <a:r>
                <a:rPr lang="zh-CN" altLang="en-US" sz="2000" dirty="0">
                  <a:solidFill>
                    <a:schemeClr val="tx1"/>
                  </a:solidFill>
                  <a:latin typeface="+mn-ea"/>
                  <a:ea typeface="+mn-ea"/>
                </a:rPr>
                <a:t>谐到串联谐振状态时，它反映到</a:t>
              </a:r>
              <a:r>
                <a:rPr lang="en-US" altLang="zh-CN" sz="2000" dirty="0">
                  <a:solidFill>
                    <a:schemeClr val="tx1"/>
                  </a:solidFill>
                  <a:latin typeface="+mn-ea"/>
                  <a:ea typeface="+mn-ea"/>
                </a:rPr>
                <a:t>L</a:t>
              </a:r>
              <a:r>
                <a:rPr lang="en-US" altLang="zh-CN" sz="2000" baseline="-25000" dirty="0">
                  <a:solidFill>
                    <a:schemeClr val="tx1"/>
                  </a:solidFill>
                  <a:latin typeface="+mn-ea"/>
                  <a:ea typeface="+mn-ea"/>
                </a:rPr>
                <a:t>1</a:t>
              </a:r>
              <a:r>
                <a:rPr lang="en-US" altLang="zh-CN" sz="2000" dirty="0">
                  <a:solidFill>
                    <a:schemeClr val="tx1"/>
                  </a:solidFill>
                  <a:latin typeface="+mn-ea"/>
                  <a:ea typeface="+mn-ea"/>
                </a:rPr>
                <a:t>C</a:t>
              </a:r>
              <a:r>
                <a:rPr lang="en-US" altLang="zh-CN" sz="2000" baseline="-25000" dirty="0">
                  <a:solidFill>
                    <a:schemeClr val="tx1"/>
                  </a:solidFill>
                  <a:latin typeface="+mn-ea"/>
                  <a:ea typeface="+mn-ea"/>
                </a:rPr>
                <a:t>1</a:t>
              </a:r>
              <a:r>
                <a:rPr lang="zh-CN" altLang="en-US" sz="2000" dirty="0">
                  <a:solidFill>
                    <a:schemeClr val="tx1"/>
                  </a:solidFill>
                  <a:latin typeface="+mn-ea"/>
                  <a:ea typeface="+mn-ea"/>
                </a:rPr>
                <a:t>中</a:t>
              </a:r>
            </a:p>
            <a:p>
              <a:r>
                <a:rPr lang="zh-CN" altLang="en-US" sz="2000" dirty="0">
                  <a:solidFill>
                    <a:schemeClr val="tx1"/>
                  </a:solidFill>
                  <a:latin typeface="+mn-ea"/>
                  <a:ea typeface="+mn-ea"/>
                </a:rPr>
                <a:t>介回路的等效电阻为</a:t>
              </a:r>
            </a:p>
          </p:txBody>
        </p:sp>
        <p:graphicFrame>
          <p:nvGraphicFramePr>
            <p:cNvPr id="10" name="Object 10">
              <a:extLst>
                <a:ext uri="{FF2B5EF4-FFF2-40B4-BE49-F238E27FC236}">
                  <a16:creationId xmlns:a16="http://schemas.microsoft.com/office/drawing/2014/main" xmlns="" id="{A99FF4BC-04AD-EA8F-180E-A9F51AB2D210}"/>
                </a:ext>
              </a:extLst>
            </p:cNvPr>
            <p:cNvGraphicFramePr>
              <a:graphicFrameLocks/>
            </p:cNvGraphicFramePr>
            <p:nvPr/>
          </p:nvGraphicFramePr>
          <p:xfrm>
            <a:off x="3640" y="1413"/>
            <a:ext cx="716" cy="478"/>
          </p:xfrm>
          <a:graphic>
            <a:graphicData uri="http://schemas.openxmlformats.org/presentationml/2006/ole">
              <mc:AlternateContent xmlns:mc="http://schemas.openxmlformats.org/markup-compatibility/2006">
                <mc:Choice xmlns:v="urn:schemas-microsoft-com:vml" Requires="v">
                  <p:oleObj spid="_x0000_s107679" r:id="rId5" imgW="686098" imgH="457399" progId="Equation.3">
                    <p:embed/>
                  </p:oleObj>
                </mc:Choice>
                <mc:Fallback>
                  <p:oleObj r:id="rId5" imgW="686098" imgH="457399" progId="Equation.3">
                    <p:embed/>
                    <p:pic>
                      <p:nvPicPr>
                        <p:cNvPr id="0" name=""/>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40" y="1413"/>
                          <a:ext cx="716" cy="4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
        <p:nvSpPr>
          <p:cNvPr id="11" name="Text Box 11">
            <a:extLst>
              <a:ext uri="{FF2B5EF4-FFF2-40B4-BE49-F238E27FC236}">
                <a16:creationId xmlns:a16="http://schemas.microsoft.com/office/drawing/2014/main" xmlns="" id="{9126316D-A251-245B-F8C7-6A0BE4DC2D09}"/>
              </a:ext>
            </a:extLst>
          </p:cNvPr>
          <p:cNvSpPr txBox="1">
            <a:spLocks noChangeArrowheads="1"/>
          </p:cNvSpPr>
          <p:nvPr/>
        </p:nvSpPr>
        <p:spPr bwMode="auto">
          <a:xfrm>
            <a:off x="2761830" y="2964667"/>
            <a:ext cx="326243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chemeClr val="tx1"/>
                </a:solidFill>
                <a:latin typeface="+mn-ea"/>
                <a:ea typeface="+mn-ea"/>
              </a:rPr>
              <a:t>因而等效回路的谐振阻抗为</a:t>
            </a:r>
          </a:p>
        </p:txBody>
      </p:sp>
      <p:graphicFrame>
        <p:nvGraphicFramePr>
          <p:cNvPr id="13" name="Object 12">
            <a:extLst>
              <a:ext uri="{FF2B5EF4-FFF2-40B4-BE49-F238E27FC236}">
                <a16:creationId xmlns:a16="http://schemas.microsoft.com/office/drawing/2014/main" xmlns="" id="{433398AF-D176-9767-12E2-E1D86C689CAF}"/>
              </a:ext>
            </a:extLst>
          </p:cNvPr>
          <p:cNvGraphicFramePr>
            <a:graphicFrameLocks/>
          </p:cNvGraphicFramePr>
          <p:nvPr>
            <p:extLst>
              <p:ext uri="{D42A27DB-BD31-4B8C-83A1-F6EECF244321}">
                <p14:modId xmlns:p14="http://schemas.microsoft.com/office/powerpoint/2010/main" val="1574054397"/>
              </p:ext>
            </p:extLst>
          </p:nvPr>
        </p:nvGraphicFramePr>
        <p:xfrm>
          <a:off x="2813298" y="3452089"/>
          <a:ext cx="3756025" cy="1182688"/>
        </p:xfrm>
        <a:graphic>
          <a:graphicData uri="http://schemas.openxmlformats.org/presentationml/2006/ole">
            <mc:AlternateContent xmlns:mc="http://schemas.openxmlformats.org/markup-compatibility/2006">
              <mc:Choice xmlns:v="urn:schemas-microsoft-com:vml" Requires="v">
                <p:oleObj spid="_x0000_s107680" r:id="rId7" imgW="2094591" imgH="660113" progId="Equation.3">
                  <p:embed/>
                </p:oleObj>
              </mc:Choice>
              <mc:Fallback>
                <p:oleObj r:id="rId7" imgW="2094591" imgH="660113" progId="Equation.3">
                  <p:embed/>
                  <p:pic>
                    <p:nvPicPr>
                      <p:cNvPr id="0" name=""/>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13298" y="3452089"/>
                        <a:ext cx="3756025" cy="1182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4" name="Text Box 13">
            <a:extLst>
              <a:ext uri="{FF2B5EF4-FFF2-40B4-BE49-F238E27FC236}">
                <a16:creationId xmlns:a16="http://schemas.microsoft.com/office/drawing/2014/main" xmlns="" id="{4E0E2F96-0FF8-81F0-A8D9-3694764E528C}"/>
              </a:ext>
            </a:extLst>
          </p:cNvPr>
          <p:cNvSpPr txBox="1">
            <a:spLocks noChangeArrowheads="1"/>
          </p:cNvSpPr>
          <p:nvPr/>
        </p:nvSpPr>
        <p:spPr bwMode="auto">
          <a:xfrm>
            <a:off x="442367" y="5051698"/>
            <a:ext cx="813593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000" dirty="0">
                <a:solidFill>
                  <a:schemeClr val="tx1"/>
                </a:solidFill>
                <a:latin typeface="+mn-ea"/>
                <a:ea typeface="+mn-ea"/>
              </a:rPr>
              <a:t>    </a:t>
            </a:r>
            <a:r>
              <a:rPr lang="zh-CN" altLang="en-US" sz="2000" dirty="0">
                <a:solidFill>
                  <a:schemeClr val="tx1"/>
                </a:solidFill>
                <a:latin typeface="+mn-ea"/>
                <a:ea typeface="+mn-ea"/>
              </a:rPr>
              <a:t>改变</a:t>
            </a:r>
            <a:r>
              <a:rPr lang="en-US" altLang="zh-CN" sz="2000" dirty="0">
                <a:solidFill>
                  <a:schemeClr val="tx1"/>
                </a:solidFill>
                <a:latin typeface="+mn-ea"/>
                <a:ea typeface="+mn-ea"/>
              </a:rPr>
              <a:t>M</a:t>
            </a:r>
            <a:r>
              <a:rPr lang="zh-CN" altLang="en-US" sz="2000" dirty="0">
                <a:solidFill>
                  <a:schemeClr val="tx1"/>
                </a:solidFill>
                <a:latin typeface="+mn-ea"/>
                <a:ea typeface="+mn-ea"/>
              </a:rPr>
              <a:t>就可以在不影响回路调谐的情况下，调整中介回路的等效阻抗，以达到阻抗匹配的目的。</a:t>
            </a:r>
          </a:p>
        </p:txBody>
      </p:sp>
      <p:sp>
        <p:nvSpPr>
          <p:cNvPr id="15" name="Text Box 14">
            <a:extLst>
              <a:ext uri="{FF2B5EF4-FFF2-40B4-BE49-F238E27FC236}">
                <a16:creationId xmlns:a16="http://schemas.microsoft.com/office/drawing/2014/main" xmlns="" id="{0508E5A2-26A6-95C5-FE75-3AAB02FC4307}"/>
              </a:ext>
            </a:extLst>
          </p:cNvPr>
          <p:cNvSpPr txBox="1">
            <a:spLocks noChangeArrowheads="1"/>
          </p:cNvSpPr>
          <p:nvPr/>
        </p:nvSpPr>
        <p:spPr bwMode="auto">
          <a:xfrm>
            <a:off x="449912" y="5670823"/>
            <a:ext cx="7993063"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000" dirty="0">
                <a:solidFill>
                  <a:schemeClr val="tx1"/>
                </a:solidFill>
                <a:latin typeface="+mn-ea"/>
                <a:ea typeface="+mn-ea"/>
              </a:rPr>
              <a:t>    </a:t>
            </a:r>
            <a:r>
              <a:rPr lang="zh-CN" altLang="en-US" sz="2000" dirty="0">
                <a:solidFill>
                  <a:schemeClr val="tx1"/>
                </a:solidFill>
                <a:latin typeface="+mn-ea"/>
                <a:ea typeface="+mn-ea"/>
              </a:rPr>
              <a:t>耦合越紧，即互感</a:t>
            </a:r>
            <a:r>
              <a:rPr lang="en-US" altLang="zh-CN" sz="2000" dirty="0">
                <a:solidFill>
                  <a:schemeClr val="tx1"/>
                </a:solidFill>
                <a:latin typeface="+mn-ea"/>
                <a:ea typeface="+mn-ea"/>
              </a:rPr>
              <a:t>M</a:t>
            </a:r>
            <a:r>
              <a:rPr lang="zh-CN" altLang="en-US" sz="2000" dirty="0">
                <a:solidFill>
                  <a:schemeClr val="tx1"/>
                </a:solidFill>
                <a:latin typeface="+mn-ea"/>
                <a:ea typeface="+mn-ea"/>
              </a:rPr>
              <a:t>越大，则反映等效电阻越大，回路的等效阻抗也就下降越多。</a:t>
            </a:r>
          </a:p>
        </p:txBody>
      </p:sp>
      <p:grpSp>
        <p:nvGrpSpPr>
          <p:cNvPr id="16" name="组合 61453">
            <a:extLst>
              <a:ext uri="{FF2B5EF4-FFF2-40B4-BE49-F238E27FC236}">
                <a16:creationId xmlns:a16="http://schemas.microsoft.com/office/drawing/2014/main" xmlns="" id="{313152B6-713A-5BBC-84CA-E18D61A4C0B0}"/>
              </a:ext>
            </a:extLst>
          </p:cNvPr>
          <p:cNvGrpSpPr>
            <a:grpSpLocks/>
          </p:cNvGrpSpPr>
          <p:nvPr/>
        </p:nvGrpSpPr>
        <p:grpSpPr bwMode="auto">
          <a:xfrm>
            <a:off x="231955" y="2159487"/>
            <a:ext cx="2247900" cy="1951038"/>
            <a:chOff x="377" y="1663"/>
            <a:chExt cx="2041" cy="1525"/>
          </a:xfrm>
        </p:grpSpPr>
        <p:graphicFrame>
          <p:nvGraphicFramePr>
            <p:cNvPr id="17" name="Object 8">
              <a:extLst>
                <a:ext uri="{FF2B5EF4-FFF2-40B4-BE49-F238E27FC236}">
                  <a16:creationId xmlns:a16="http://schemas.microsoft.com/office/drawing/2014/main" xmlns="" id="{DE3C3184-430B-EB79-EEA2-A3515529363E}"/>
                </a:ext>
              </a:extLst>
            </p:cNvPr>
            <p:cNvGraphicFramePr>
              <a:graphicFrameLocks/>
            </p:cNvGraphicFramePr>
            <p:nvPr/>
          </p:nvGraphicFramePr>
          <p:xfrm>
            <a:off x="377" y="1663"/>
            <a:ext cx="2041" cy="1525"/>
          </p:xfrm>
          <a:graphic>
            <a:graphicData uri="http://schemas.openxmlformats.org/presentationml/2006/ole">
              <mc:AlternateContent xmlns:mc="http://schemas.openxmlformats.org/markup-compatibility/2006">
                <mc:Choice xmlns:v="urn:schemas-microsoft-com:vml" Requires="v">
                  <p:oleObj spid="_x0000_s107681" r:id="rId9" imgW="2310120" imgH="1447920" progId="Word.Picture.8">
                    <p:embed/>
                  </p:oleObj>
                </mc:Choice>
                <mc:Fallback>
                  <p:oleObj r:id="rId9" imgW="2310120" imgH="1447920" progId="Word.Picture.8">
                    <p:embed/>
                    <p:pic>
                      <p:nvPicPr>
                        <p:cNvPr id="0" name=""/>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77" y="1663"/>
                          <a:ext cx="2041" cy="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8" name="文本框 61455">
              <a:extLst>
                <a:ext uri="{FF2B5EF4-FFF2-40B4-BE49-F238E27FC236}">
                  <a16:creationId xmlns:a16="http://schemas.microsoft.com/office/drawing/2014/main" xmlns="" id="{239FAC81-1AD6-81BD-B82A-694A3327E149}"/>
                </a:ext>
              </a:extLst>
            </p:cNvPr>
            <p:cNvSpPr txBox="1">
              <a:spLocks noChangeArrowheads="1"/>
            </p:cNvSpPr>
            <p:nvPr/>
          </p:nvSpPr>
          <p:spPr bwMode="auto">
            <a:xfrm>
              <a:off x="1370" y="1812"/>
              <a:ext cx="286"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a:solidFill>
                    <a:schemeClr val="tx1"/>
                  </a:solidFill>
                  <a:latin typeface="+mn-ea"/>
                  <a:ea typeface="+mn-ea"/>
                </a:rPr>
                <a:t>M</a:t>
              </a:r>
            </a:p>
          </p:txBody>
        </p:sp>
      </p:grpSp>
    </p:spTree>
    <p:extLst>
      <p:ext uri="{BB962C8B-B14F-4D97-AF65-F5344CB8AC3E}">
        <p14:creationId xmlns:p14="http://schemas.microsoft.com/office/powerpoint/2010/main" val="389504192"/>
      </p:ext>
    </p:extLst>
  </p:cSld>
  <p:clrMapOvr>
    <a:masterClrMapping/>
  </p:clrMapOvr>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144</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12"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4.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谐振</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功率</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放大器</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Text Box 3">
            <a:extLst>
              <a:ext uri="{FF2B5EF4-FFF2-40B4-BE49-F238E27FC236}">
                <a16:creationId xmlns:a16="http://schemas.microsoft.com/office/drawing/2014/main" xmlns="" id="{82E73B7C-C2AA-A394-883F-3354C19F2850}"/>
              </a:ext>
            </a:extLst>
          </p:cNvPr>
          <p:cNvSpPr txBox="1">
            <a:spLocks noChangeArrowheads="1"/>
          </p:cNvSpPr>
          <p:nvPr/>
        </p:nvSpPr>
        <p:spPr bwMode="auto">
          <a:xfrm>
            <a:off x="487299" y="1395800"/>
            <a:ext cx="8170863"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000" dirty="0">
                <a:solidFill>
                  <a:schemeClr val="tx1"/>
                </a:solidFill>
                <a:latin typeface="+mn-ea"/>
                <a:ea typeface="+mn-ea"/>
              </a:rPr>
              <a:t>为了使器件的输出功率绝大部分能送到负载</a:t>
            </a:r>
            <a:r>
              <a:rPr lang="en-US" altLang="zh-CN" sz="2000" dirty="0">
                <a:solidFill>
                  <a:schemeClr val="tx1"/>
                </a:solidFill>
                <a:latin typeface="+mn-ea"/>
                <a:ea typeface="+mn-ea"/>
              </a:rPr>
              <a:t>R</a:t>
            </a:r>
            <a:r>
              <a:rPr lang="en-US" altLang="zh-CN" sz="2000" baseline="-25000" dirty="0">
                <a:solidFill>
                  <a:schemeClr val="tx1"/>
                </a:solidFill>
                <a:latin typeface="+mn-ea"/>
                <a:ea typeface="+mn-ea"/>
              </a:rPr>
              <a:t>A</a:t>
            </a:r>
            <a:r>
              <a:rPr lang="zh-CN" altLang="en-US" sz="2000" dirty="0">
                <a:solidFill>
                  <a:schemeClr val="tx1"/>
                </a:solidFill>
                <a:latin typeface="+mn-ea"/>
                <a:ea typeface="+mn-ea"/>
              </a:rPr>
              <a:t>上就希望</a:t>
            </a:r>
          </a:p>
          <a:p>
            <a:r>
              <a:rPr lang="zh-CN" altLang="en-US" sz="2000" dirty="0">
                <a:solidFill>
                  <a:schemeClr val="tx1"/>
                </a:solidFill>
                <a:latin typeface="+mn-ea"/>
                <a:ea typeface="+mn-ea"/>
              </a:rPr>
              <a:t>           </a:t>
            </a:r>
          </a:p>
          <a:p>
            <a:r>
              <a:rPr lang="zh-CN" altLang="en-US" sz="2000" dirty="0">
                <a:solidFill>
                  <a:schemeClr val="tx1"/>
                </a:solidFill>
                <a:latin typeface="+mn-ea"/>
                <a:ea typeface="+mn-ea"/>
              </a:rPr>
              <a:t>　　　　  反射电阻</a:t>
            </a:r>
            <a:r>
              <a:rPr lang="en-US" altLang="zh-CN" sz="2000" i="1" dirty="0">
                <a:solidFill>
                  <a:schemeClr val="tx1"/>
                </a:solidFill>
                <a:latin typeface="+mn-ea"/>
                <a:ea typeface="+mn-ea"/>
              </a:rPr>
              <a:t>r</a:t>
            </a:r>
            <a:r>
              <a:rPr lang="en-US" altLang="zh-CN" sz="2000" dirty="0">
                <a:solidFill>
                  <a:schemeClr val="tx1"/>
                </a:solidFill>
                <a:latin typeface="+mn-ea"/>
                <a:ea typeface="+mn-ea"/>
                <a:sym typeface="Symbol" panose="05050102010706020507" pitchFamily="18" charset="2"/>
              </a:rPr>
              <a:t></a:t>
            </a:r>
            <a:r>
              <a:rPr lang="en-US" altLang="zh-CN" sz="2000" dirty="0">
                <a:solidFill>
                  <a:schemeClr val="tx1"/>
                </a:solidFill>
                <a:latin typeface="+mn-ea"/>
                <a:ea typeface="+mn-ea"/>
              </a:rPr>
              <a:t>&gt;&gt;</a:t>
            </a:r>
            <a:r>
              <a:rPr lang="zh-CN" altLang="en-US" sz="2000" dirty="0">
                <a:solidFill>
                  <a:schemeClr val="tx1"/>
                </a:solidFill>
                <a:latin typeface="+mn-ea"/>
                <a:ea typeface="+mn-ea"/>
              </a:rPr>
              <a:t>回路损耗电阻</a:t>
            </a:r>
            <a:r>
              <a:rPr lang="en-US" altLang="zh-CN" sz="2000" i="1" dirty="0">
                <a:solidFill>
                  <a:schemeClr val="tx1"/>
                </a:solidFill>
                <a:latin typeface="+mn-ea"/>
                <a:ea typeface="+mn-ea"/>
              </a:rPr>
              <a:t>r</a:t>
            </a:r>
            <a:r>
              <a:rPr lang="en-US" altLang="zh-CN" sz="2000" baseline="-25000" dirty="0">
                <a:solidFill>
                  <a:schemeClr val="tx1"/>
                </a:solidFill>
                <a:latin typeface="+mn-ea"/>
                <a:ea typeface="+mn-ea"/>
              </a:rPr>
              <a:t>1  </a:t>
            </a:r>
          </a:p>
        </p:txBody>
      </p:sp>
      <p:graphicFrame>
        <p:nvGraphicFramePr>
          <p:cNvPr id="6" name="Object 4">
            <a:extLst>
              <a:ext uri="{FF2B5EF4-FFF2-40B4-BE49-F238E27FC236}">
                <a16:creationId xmlns:a16="http://schemas.microsoft.com/office/drawing/2014/main" xmlns="" id="{92048640-F9AF-BCBE-B438-111CB7CEC338}"/>
              </a:ext>
            </a:extLst>
          </p:cNvPr>
          <p:cNvGraphicFramePr>
            <a:graphicFrameLocks/>
          </p:cNvGraphicFramePr>
          <p:nvPr>
            <p:extLst>
              <p:ext uri="{D42A27DB-BD31-4B8C-83A1-F6EECF244321}">
                <p14:modId xmlns:p14="http://schemas.microsoft.com/office/powerpoint/2010/main" val="2207623071"/>
              </p:ext>
            </p:extLst>
          </p:nvPr>
        </p:nvGraphicFramePr>
        <p:xfrm>
          <a:off x="2843808" y="3894718"/>
          <a:ext cx="5103813" cy="1831975"/>
        </p:xfrm>
        <a:graphic>
          <a:graphicData uri="http://schemas.openxmlformats.org/presentationml/2006/ole">
            <mc:AlternateContent xmlns:mc="http://schemas.openxmlformats.org/markup-compatibility/2006">
              <mc:Choice xmlns:v="urn:schemas-microsoft-com:vml" Requires="v">
                <p:oleObj spid="_x0000_s108624" r:id="rId3" imgW="2476500" imgH="889000" progId="Equation.3">
                  <p:embed/>
                </p:oleObj>
              </mc:Choice>
              <mc:Fallback>
                <p:oleObj r:id="rId3" imgW="2476500" imgH="889000" progId="Equation.3">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43808" y="3894718"/>
                        <a:ext cx="5103813" cy="183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 name="Text Box 5">
            <a:extLst>
              <a:ext uri="{FF2B5EF4-FFF2-40B4-BE49-F238E27FC236}">
                <a16:creationId xmlns:a16="http://schemas.microsoft.com/office/drawing/2014/main" xmlns="" id="{C261A4DE-716A-2CED-294C-35DB2856D1B8}"/>
              </a:ext>
            </a:extLst>
          </p:cNvPr>
          <p:cNvSpPr txBox="1">
            <a:spLocks noChangeArrowheads="1"/>
          </p:cNvSpPr>
          <p:nvPr/>
        </p:nvSpPr>
        <p:spPr bwMode="auto">
          <a:xfrm>
            <a:off x="455723" y="2583780"/>
            <a:ext cx="8135937"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r>
              <a:rPr lang="zh-CN" altLang="en-US" sz="2000" dirty="0">
                <a:solidFill>
                  <a:schemeClr val="accent2"/>
                </a:solidFill>
                <a:latin typeface="+mn-ea"/>
                <a:ea typeface="+mn-ea"/>
              </a:rPr>
              <a:t>中介回路效率</a:t>
            </a:r>
            <a:r>
              <a:rPr lang="zh-CN" altLang="en-US" sz="2000" dirty="0">
                <a:solidFill>
                  <a:schemeClr val="accent2"/>
                </a:solidFill>
                <a:latin typeface="+mn-ea"/>
                <a:ea typeface="+mn-ea"/>
                <a:sym typeface="Symbol" panose="05050102010706020507" pitchFamily="18" charset="2"/>
              </a:rPr>
              <a:t></a:t>
            </a:r>
            <a:r>
              <a:rPr lang="en-US" altLang="zh-CN" sz="2000" baseline="-25000" dirty="0">
                <a:solidFill>
                  <a:schemeClr val="accent2"/>
                </a:solidFill>
                <a:latin typeface="+mn-ea"/>
                <a:ea typeface="+mn-ea"/>
              </a:rPr>
              <a:t>k</a:t>
            </a:r>
            <a:r>
              <a:rPr lang="zh-CN" altLang="en-US" sz="2000" dirty="0">
                <a:solidFill>
                  <a:schemeClr val="accent2"/>
                </a:solidFill>
                <a:latin typeface="+mn-ea"/>
                <a:ea typeface="+mn-ea"/>
              </a:rPr>
              <a:t> ：</a:t>
            </a:r>
          </a:p>
          <a:p>
            <a:pPr algn="just"/>
            <a:r>
              <a:rPr lang="zh-CN" altLang="en-US" sz="2000" dirty="0">
                <a:solidFill>
                  <a:schemeClr val="accent2"/>
                </a:solidFill>
                <a:latin typeface="+mn-ea"/>
                <a:ea typeface="+mn-ea"/>
              </a:rPr>
              <a:t>衡量回路传输能力优劣的标准，通常以输出至负载的有效功率与输入到回路的总交流功率之比来代表。这比值叫做中介回路的传输效率。</a:t>
            </a:r>
          </a:p>
        </p:txBody>
      </p:sp>
      <p:graphicFrame>
        <p:nvGraphicFramePr>
          <p:cNvPr id="8" name="Object 10">
            <a:extLst>
              <a:ext uri="{FF2B5EF4-FFF2-40B4-BE49-F238E27FC236}">
                <a16:creationId xmlns:a16="http://schemas.microsoft.com/office/drawing/2014/main" xmlns="" id="{3D061410-018A-DAA0-9938-93867104D2C1}"/>
              </a:ext>
            </a:extLst>
          </p:cNvPr>
          <p:cNvGraphicFramePr>
            <a:graphicFrameLocks/>
          </p:cNvGraphicFramePr>
          <p:nvPr>
            <p:extLst>
              <p:ext uri="{D42A27DB-BD31-4B8C-83A1-F6EECF244321}">
                <p14:modId xmlns:p14="http://schemas.microsoft.com/office/powerpoint/2010/main" val="572070860"/>
              </p:ext>
            </p:extLst>
          </p:nvPr>
        </p:nvGraphicFramePr>
        <p:xfrm>
          <a:off x="435195" y="3599443"/>
          <a:ext cx="2057400" cy="2127250"/>
        </p:xfrm>
        <a:graphic>
          <a:graphicData uri="http://schemas.openxmlformats.org/presentationml/2006/ole">
            <mc:AlternateContent xmlns:mc="http://schemas.openxmlformats.org/markup-compatibility/2006">
              <mc:Choice xmlns:v="urn:schemas-microsoft-com:vml" Requires="v">
                <p:oleObj spid="_x0000_s108625" r:id="rId5" imgW="1332720" imgH="1676520" progId="Word.Picture.8">
                  <p:embed/>
                </p:oleObj>
              </mc:Choice>
              <mc:Fallback>
                <p:oleObj r:id="rId5" imgW="1332720" imgH="1676520" progId="Word.Picture.8">
                  <p:embed/>
                  <p:pic>
                    <p:nvPicPr>
                      <p:cNvPr id="0" name=""/>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5195" y="3599443"/>
                        <a:ext cx="2057400" cy="212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421342415"/>
      </p:ext>
    </p:extLst>
  </p:cSld>
  <p:clrMapOvr>
    <a:masterClrMapping/>
  </p:clrMapOvr>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145</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12"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4.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谐振</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功率</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放大器</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Text Box 4">
            <a:extLst>
              <a:ext uri="{FF2B5EF4-FFF2-40B4-BE49-F238E27FC236}">
                <a16:creationId xmlns:a16="http://schemas.microsoft.com/office/drawing/2014/main" xmlns="" id="{74FA52D2-C804-A516-8038-625CB6D2B166}"/>
              </a:ext>
            </a:extLst>
          </p:cNvPr>
          <p:cNvSpPr txBox="1">
            <a:spLocks noChangeArrowheads="1"/>
          </p:cNvSpPr>
          <p:nvPr/>
        </p:nvSpPr>
        <p:spPr bwMode="auto">
          <a:xfrm>
            <a:off x="611186" y="4381752"/>
            <a:ext cx="7921625" cy="15378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1">
              <a:lnSpc>
                <a:spcPct val="120000"/>
              </a:lnSpc>
            </a:pPr>
            <a:r>
              <a:rPr lang="zh-CN" altLang="en-US" sz="2000" dirty="0">
                <a:solidFill>
                  <a:schemeClr val="tx1"/>
                </a:solidFill>
                <a:latin typeface="+mn-ea"/>
                <a:ea typeface="+mn-ea"/>
              </a:rPr>
              <a:t>　　从回路传输效率高的观点来看，应使</a:t>
            </a:r>
            <a:r>
              <a:rPr lang="en-US" altLang="zh-CN" sz="2000" dirty="0">
                <a:solidFill>
                  <a:schemeClr val="tx1"/>
                </a:solidFill>
                <a:latin typeface="+mn-ea"/>
                <a:ea typeface="+mn-ea"/>
              </a:rPr>
              <a:t>Q</a:t>
            </a:r>
            <a:r>
              <a:rPr lang="en-US" altLang="zh-CN" sz="2000" baseline="-25000" dirty="0">
                <a:solidFill>
                  <a:schemeClr val="tx1"/>
                </a:solidFill>
                <a:latin typeface="+mn-ea"/>
                <a:ea typeface="+mn-ea"/>
              </a:rPr>
              <a:t>L</a:t>
            </a:r>
            <a:r>
              <a:rPr lang="zh-CN" altLang="en-US" sz="2000" dirty="0">
                <a:solidFill>
                  <a:schemeClr val="tx1"/>
                </a:solidFill>
                <a:latin typeface="+mn-ea"/>
                <a:ea typeface="+mn-ea"/>
              </a:rPr>
              <a:t>尽可能地小。但从要求回路滤波作用良好来考虑，则</a:t>
            </a:r>
            <a:r>
              <a:rPr lang="en-US" altLang="zh-CN" sz="2000" dirty="0">
                <a:solidFill>
                  <a:schemeClr val="tx1"/>
                </a:solidFill>
                <a:latin typeface="+mn-ea"/>
                <a:ea typeface="+mn-ea"/>
              </a:rPr>
              <a:t>Q</a:t>
            </a:r>
            <a:r>
              <a:rPr lang="en-US" altLang="zh-CN" sz="2000" baseline="-25000" dirty="0">
                <a:solidFill>
                  <a:schemeClr val="tx1"/>
                </a:solidFill>
                <a:latin typeface="+mn-ea"/>
                <a:ea typeface="+mn-ea"/>
              </a:rPr>
              <a:t>L</a:t>
            </a:r>
            <a:r>
              <a:rPr lang="zh-CN" altLang="en-US" sz="2000" dirty="0">
                <a:solidFill>
                  <a:schemeClr val="tx1"/>
                </a:solidFill>
                <a:latin typeface="+mn-ea"/>
                <a:ea typeface="+mn-ea"/>
              </a:rPr>
              <a:t>值又应该足够大。从兼顾这两方面出发，</a:t>
            </a:r>
            <a:r>
              <a:rPr lang="en-US" altLang="zh-CN" sz="2000" dirty="0">
                <a:solidFill>
                  <a:schemeClr val="tx1"/>
                </a:solidFill>
                <a:latin typeface="+mn-ea"/>
                <a:ea typeface="+mn-ea"/>
              </a:rPr>
              <a:t>Q</a:t>
            </a:r>
            <a:r>
              <a:rPr lang="en-US" altLang="zh-CN" sz="2000" baseline="-25000" dirty="0">
                <a:solidFill>
                  <a:schemeClr val="tx1"/>
                </a:solidFill>
                <a:latin typeface="+mn-ea"/>
                <a:ea typeface="+mn-ea"/>
              </a:rPr>
              <a:t>L</a:t>
            </a:r>
            <a:r>
              <a:rPr lang="zh-CN" altLang="en-US" sz="2000" dirty="0">
                <a:solidFill>
                  <a:schemeClr val="tx1"/>
                </a:solidFill>
                <a:latin typeface="+mn-ea"/>
                <a:ea typeface="+mn-ea"/>
              </a:rPr>
              <a:t>值一般不应小于</a:t>
            </a:r>
            <a:r>
              <a:rPr lang="en-US" altLang="zh-CN" sz="2000" dirty="0">
                <a:solidFill>
                  <a:schemeClr val="tx1"/>
                </a:solidFill>
                <a:latin typeface="+mn-ea"/>
                <a:ea typeface="+mn-ea"/>
              </a:rPr>
              <a:t>10</a:t>
            </a:r>
            <a:r>
              <a:rPr lang="zh-CN" altLang="en-US" sz="2000" dirty="0">
                <a:solidFill>
                  <a:schemeClr val="tx1"/>
                </a:solidFill>
                <a:latin typeface="+mn-ea"/>
                <a:ea typeface="+mn-ea"/>
              </a:rPr>
              <a:t>。在功率很大的放大器中，</a:t>
            </a:r>
            <a:r>
              <a:rPr lang="en-US" altLang="zh-CN" sz="2000" dirty="0">
                <a:solidFill>
                  <a:schemeClr val="tx1"/>
                </a:solidFill>
                <a:latin typeface="+mn-ea"/>
                <a:ea typeface="+mn-ea"/>
              </a:rPr>
              <a:t>Q</a:t>
            </a:r>
            <a:r>
              <a:rPr lang="en-US" altLang="zh-CN" sz="2000" baseline="-25000" dirty="0">
                <a:solidFill>
                  <a:schemeClr val="tx1"/>
                </a:solidFill>
                <a:latin typeface="+mn-ea"/>
                <a:ea typeface="+mn-ea"/>
              </a:rPr>
              <a:t>L</a:t>
            </a:r>
            <a:r>
              <a:rPr lang="zh-CN" altLang="en-US" sz="2000" dirty="0">
                <a:solidFill>
                  <a:schemeClr val="tx1"/>
                </a:solidFill>
                <a:latin typeface="+mn-ea"/>
                <a:ea typeface="+mn-ea"/>
              </a:rPr>
              <a:t>也有低到</a:t>
            </a:r>
            <a:r>
              <a:rPr lang="en-US" altLang="zh-CN" sz="2000" dirty="0">
                <a:solidFill>
                  <a:schemeClr val="tx1"/>
                </a:solidFill>
                <a:latin typeface="+mn-ea"/>
                <a:ea typeface="+mn-ea"/>
              </a:rPr>
              <a:t>10</a:t>
            </a:r>
            <a:r>
              <a:rPr lang="zh-CN" altLang="en-US" sz="2000" dirty="0">
                <a:solidFill>
                  <a:schemeClr val="tx1"/>
                </a:solidFill>
                <a:latin typeface="+mn-ea"/>
                <a:ea typeface="+mn-ea"/>
              </a:rPr>
              <a:t>以下的。</a:t>
            </a:r>
          </a:p>
        </p:txBody>
      </p:sp>
      <p:graphicFrame>
        <p:nvGraphicFramePr>
          <p:cNvPr id="6" name="Object 5">
            <a:extLst>
              <a:ext uri="{FF2B5EF4-FFF2-40B4-BE49-F238E27FC236}">
                <a16:creationId xmlns:a16="http://schemas.microsoft.com/office/drawing/2014/main" xmlns="" id="{DC6135CE-6438-B40C-ABD4-8F8A6F61B1AD}"/>
              </a:ext>
            </a:extLst>
          </p:cNvPr>
          <p:cNvGraphicFramePr>
            <a:graphicFrameLocks/>
          </p:cNvGraphicFramePr>
          <p:nvPr>
            <p:extLst>
              <p:ext uri="{D42A27DB-BD31-4B8C-83A1-F6EECF244321}">
                <p14:modId xmlns:p14="http://schemas.microsoft.com/office/powerpoint/2010/main" val="173052099"/>
              </p:ext>
            </p:extLst>
          </p:nvPr>
        </p:nvGraphicFramePr>
        <p:xfrm>
          <a:off x="3347864" y="2963936"/>
          <a:ext cx="5197475" cy="995362"/>
        </p:xfrm>
        <a:graphic>
          <a:graphicData uri="http://schemas.openxmlformats.org/presentationml/2006/ole">
            <mc:AlternateContent xmlns:mc="http://schemas.openxmlformats.org/markup-compatibility/2006">
              <mc:Choice xmlns:v="urn:schemas-microsoft-com:vml" Requires="v">
                <p:oleObj spid="_x0000_s109687" r:id="rId3" imgW="2463800" imgH="469900" progId="Equation.3">
                  <p:embed/>
                </p:oleObj>
              </mc:Choice>
              <mc:Fallback>
                <p:oleObj r:id="rId3" imgW="2463800" imgH="469900" progId="Equation.3">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47864" y="2963936"/>
                        <a:ext cx="5197475" cy="995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 name="Text Box 6">
            <a:extLst>
              <a:ext uri="{FF2B5EF4-FFF2-40B4-BE49-F238E27FC236}">
                <a16:creationId xmlns:a16="http://schemas.microsoft.com/office/drawing/2014/main" xmlns="" id="{C31B8D57-F101-99DD-41B1-A22BA7D78F46}"/>
              </a:ext>
            </a:extLst>
          </p:cNvPr>
          <p:cNvSpPr txBox="1">
            <a:spLocks noChangeArrowheads="1"/>
          </p:cNvSpPr>
          <p:nvPr/>
        </p:nvSpPr>
        <p:spPr bwMode="auto">
          <a:xfrm>
            <a:off x="2449339" y="3287786"/>
            <a:ext cx="83067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a:solidFill>
                  <a:schemeClr val="tx1"/>
                </a:solidFill>
                <a:latin typeface="+mn-ea"/>
                <a:ea typeface="+mn-ea"/>
              </a:rPr>
              <a:t>故有</a:t>
            </a:r>
            <a:r>
              <a:rPr lang="en-US" altLang="zh-CN" sz="2000">
                <a:solidFill>
                  <a:schemeClr val="tx1"/>
                </a:solidFill>
                <a:latin typeface="+mn-ea"/>
                <a:ea typeface="+mn-ea"/>
              </a:rPr>
              <a:t>:</a:t>
            </a:r>
          </a:p>
        </p:txBody>
      </p:sp>
      <p:graphicFrame>
        <p:nvGraphicFramePr>
          <p:cNvPr id="8" name="Object 8">
            <a:extLst>
              <a:ext uri="{FF2B5EF4-FFF2-40B4-BE49-F238E27FC236}">
                <a16:creationId xmlns:a16="http://schemas.microsoft.com/office/drawing/2014/main" xmlns="" id="{C442F20C-4884-2B68-5092-07A3C5BFADCD}"/>
              </a:ext>
            </a:extLst>
          </p:cNvPr>
          <p:cNvGraphicFramePr>
            <a:graphicFrameLocks/>
          </p:cNvGraphicFramePr>
          <p:nvPr>
            <p:extLst>
              <p:ext uri="{D42A27DB-BD31-4B8C-83A1-F6EECF244321}">
                <p14:modId xmlns:p14="http://schemas.microsoft.com/office/powerpoint/2010/main" val="2245636820"/>
              </p:ext>
            </p:extLst>
          </p:nvPr>
        </p:nvGraphicFramePr>
        <p:xfrm>
          <a:off x="243681" y="1370110"/>
          <a:ext cx="8656637" cy="2273300"/>
        </p:xfrm>
        <a:graphic>
          <a:graphicData uri="http://schemas.openxmlformats.org/presentationml/2006/ole">
            <mc:AlternateContent xmlns:mc="http://schemas.openxmlformats.org/markup-compatibility/2006">
              <mc:Choice xmlns:v="urn:schemas-microsoft-com:vml" Requires="v">
                <p:oleObj spid="_x0000_s109688" r:id="rId5" imgW="4965700" imgH="1346200" progId="Equation.3">
                  <p:embed/>
                </p:oleObj>
              </mc:Choice>
              <mc:Fallback>
                <p:oleObj r:id="rId5" imgW="4965700" imgH="1346200" progId="Equation.3">
                  <p:embed/>
                  <p:pic>
                    <p:nvPicPr>
                      <p:cNvPr id="0" name=""/>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3681" y="1370110"/>
                        <a:ext cx="8656637" cy="227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9" name="Object 10">
            <a:extLst>
              <a:ext uri="{FF2B5EF4-FFF2-40B4-BE49-F238E27FC236}">
                <a16:creationId xmlns:a16="http://schemas.microsoft.com/office/drawing/2014/main" xmlns="" id="{1BABB595-D703-7C0A-4067-BEE1219DFE6A}"/>
              </a:ext>
            </a:extLst>
          </p:cNvPr>
          <p:cNvGraphicFramePr>
            <a:graphicFrameLocks/>
          </p:cNvGraphicFramePr>
          <p:nvPr>
            <p:extLst>
              <p:ext uri="{D42A27DB-BD31-4B8C-83A1-F6EECF244321}">
                <p14:modId xmlns:p14="http://schemas.microsoft.com/office/powerpoint/2010/main" val="3238097006"/>
              </p:ext>
            </p:extLst>
          </p:nvPr>
        </p:nvGraphicFramePr>
        <p:xfrm>
          <a:off x="420514" y="2621036"/>
          <a:ext cx="1489075" cy="1539875"/>
        </p:xfrm>
        <a:graphic>
          <a:graphicData uri="http://schemas.openxmlformats.org/presentationml/2006/ole">
            <mc:AlternateContent xmlns:mc="http://schemas.openxmlformats.org/markup-compatibility/2006">
              <mc:Choice xmlns:v="urn:schemas-microsoft-com:vml" Requires="v">
                <p:oleObj spid="_x0000_s109689" r:id="rId7" imgW="1332720" imgH="1676520" progId="Word.Picture.8">
                  <p:embed/>
                </p:oleObj>
              </mc:Choice>
              <mc:Fallback>
                <p:oleObj r:id="rId7" imgW="1332720" imgH="1676520" progId="Word.Picture.8">
                  <p:embed/>
                  <p:pic>
                    <p:nvPicPr>
                      <p:cNvPr id="0" name=""/>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0514" y="2621036"/>
                        <a:ext cx="1489075" cy="153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024312658"/>
      </p:ext>
    </p:extLst>
  </p:cSld>
  <p:clrMapOvr>
    <a:masterClrMapping/>
  </p:clrMapOvr>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146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12"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4.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谐振</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功率</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放大器</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graphicFrame>
        <p:nvGraphicFramePr>
          <p:cNvPr id="5" name="Object 6">
            <a:extLst>
              <a:ext uri="{FF2B5EF4-FFF2-40B4-BE49-F238E27FC236}">
                <a16:creationId xmlns:a16="http://schemas.microsoft.com/office/drawing/2014/main" xmlns="" id="{0C422425-F911-975A-96EF-4412E7DF424F}"/>
              </a:ext>
            </a:extLst>
          </p:cNvPr>
          <p:cNvGraphicFramePr>
            <a:graphicFrameLocks/>
          </p:cNvGraphicFramePr>
          <p:nvPr>
            <p:extLst>
              <p:ext uri="{D42A27DB-BD31-4B8C-83A1-F6EECF244321}">
                <p14:modId xmlns:p14="http://schemas.microsoft.com/office/powerpoint/2010/main" val="2460820092"/>
              </p:ext>
            </p:extLst>
          </p:nvPr>
        </p:nvGraphicFramePr>
        <p:xfrm>
          <a:off x="681314" y="1844097"/>
          <a:ext cx="3673200" cy="1137457"/>
        </p:xfrm>
        <a:graphic>
          <a:graphicData uri="http://schemas.openxmlformats.org/presentationml/2006/ole">
            <mc:AlternateContent xmlns:mc="http://schemas.openxmlformats.org/markup-compatibility/2006">
              <mc:Choice xmlns:v="urn:schemas-microsoft-com:vml" Requires="v">
                <p:oleObj spid="_x0000_s110711" r:id="rId3" imgW="2094591" imgH="660113" progId="Equation.3">
                  <p:embed/>
                </p:oleObj>
              </mc:Choice>
              <mc:Fallback>
                <p:oleObj r:id="rId3" imgW="2094591" imgH="660113" progId="Equation.3">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1314" y="1844097"/>
                        <a:ext cx="3673200" cy="1137457"/>
                      </a:xfrm>
                      <a:prstGeom prst="rect">
                        <a:avLst/>
                      </a:prstGeom>
                      <a:noFill/>
                      <a:ln>
                        <a:noFill/>
                      </a:ln>
                    </p:spPr>
                  </p:pic>
                </p:oleObj>
              </mc:Fallback>
            </mc:AlternateContent>
          </a:graphicData>
        </a:graphic>
      </p:graphicFrame>
      <p:graphicFrame>
        <p:nvGraphicFramePr>
          <p:cNvPr id="6" name="Object 7">
            <a:extLst>
              <a:ext uri="{FF2B5EF4-FFF2-40B4-BE49-F238E27FC236}">
                <a16:creationId xmlns:a16="http://schemas.microsoft.com/office/drawing/2014/main" xmlns="" id="{4E6DDF31-2A66-A8C7-D113-DC75B7043EBD}"/>
              </a:ext>
            </a:extLst>
          </p:cNvPr>
          <p:cNvGraphicFramePr>
            <a:graphicFrameLocks/>
          </p:cNvGraphicFramePr>
          <p:nvPr>
            <p:extLst>
              <p:ext uri="{D42A27DB-BD31-4B8C-83A1-F6EECF244321}">
                <p14:modId xmlns:p14="http://schemas.microsoft.com/office/powerpoint/2010/main" val="1409323644"/>
              </p:ext>
            </p:extLst>
          </p:nvPr>
        </p:nvGraphicFramePr>
        <p:xfrm>
          <a:off x="4838266" y="1838674"/>
          <a:ext cx="1246574" cy="817547"/>
        </p:xfrm>
        <a:graphic>
          <a:graphicData uri="http://schemas.openxmlformats.org/presentationml/2006/ole">
            <mc:AlternateContent xmlns:mc="http://schemas.openxmlformats.org/markup-compatibility/2006">
              <mc:Choice xmlns:v="urn:schemas-microsoft-com:vml" Requires="v">
                <p:oleObj spid="_x0000_s110712" r:id="rId5" imgW="686098" imgH="457399" progId="Equation.3">
                  <p:embed/>
                </p:oleObj>
              </mc:Choice>
              <mc:Fallback>
                <p:oleObj r:id="rId5" imgW="686098" imgH="457399" progId="Equation.3">
                  <p:embed/>
                  <p:pic>
                    <p:nvPicPr>
                      <p:cNvPr id="0" name=""/>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38266" y="1838674"/>
                        <a:ext cx="1246574" cy="817547"/>
                      </a:xfrm>
                      <a:prstGeom prst="rect">
                        <a:avLst/>
                      </a:prstGeom>
                      <a:noFill/>
                      <a:ln>
                        <a:noFill/>
                      </a:ln>
                    </p:spPr>
                  </p:pic>
                </p:oleObj>
              </mc:Fallback>
            </mc:AlternateContent>
          </a:graphicData>
        </a:graphic>
      </p:graphicFrame>
      <p:grpSp>
        <p:nvGrpSpPr>
          <p:cNvPr id="7" name="Group 8">
            <a:extLst>
              <a:ext uri="{FF2B5EF4-FFF2-40B4-BE49-F238E27FC236}">
                <a16:creationId xmlns:a16="http://schemas.microsoft.com/office/drawing/2014/main" xmlns="" id="{7CC88837-96DC-F144-AC1E-5E8D52AEF68B}"/>
              </a:ext>
            </a:extLst>
          </p:cNvPr>
          <p:cNvGrpSpPr>
            <a:grpSpLocks/>
          </p:cNvGrpSpPr>
          <p:nvPr/>
        </p:nvGrpSpPr>
        <p:grpSpPr bwMode="auto">
          <a:xfrm>
            <a:off x="829737" y="3112839"/>
            <a:ext cx="6992937" cy="2528320"/>
            <a:chOff x="275" y="731"/>
            <a:chExt cx="4176" cy="1355"/>
          </a:xfrm>
        </p:grpSpPr>
        <p:graphicFrame>
          <p:nvGraphicFramePr>
            <p:cNvPr id="8" name="Object 9">
              <a:extLst>
                <a:ext uri="{FF2B5EF4-FFF2-40B4-BE49-F238E27FC236}">
                  <a16:creationId xmlns:a16="http://schemas.microsoft.com/office/drawing/2014/main" xmlns="" id="{39B5A5CF-4F48-2EC2-261E-E624D384ED7F}"/>
                </a:ext>
              </a:extLst>
            </p:cNvPr>
            <p:cNvGraphicFramePr>
              <a:graphicFrameLocks/>
            </p:cNvGraphicFramePr>
            <p:nvPr>
              <p:extLst>
                <p:ext uri="{D42A27DB-BD31-4B8C-83A1-F6EECF244321}">
                  <p14:modId xmlns:p14="http://schemas.microsoft.com/office/powerpoint/2010/main" val="3015934222"/>
                </p:ext>
              </p:extLst>
            </p:nvPr>
          </p:nvGraphicFramePr>
          <p:xfrm>
            <a:off x="275" y="731"/>
            <a:ext cx="4176" cy="1144"/>
          </p:xfrm>
          <a:graphic>
            <a:graphicData uri="http://schemas.openxmlformats.org/presentationml/2006/ole">
              <mc:AlternateContent xmlns:mc="http://schemas.openxmlformats.org/markup-compatibility/2006">
                <mc:Choice xmlns:v="urn:schemas-microsoft-com:vml" Requires="v">
                  <p:oleObj spid="_x0000_s110713" r:id="rId7" imgW="2971800" imgH="1618488" progId="Word.Picture.8">
                    <p:embed/>
                  </p:oleObj>
                </mc:Choice>
                <mc:Fallback>
                  <p:oleObj r:id="rId7" imgW="2971800" imgH="1618488" progId="Word.Picture.8">
                    <p:embed/>
                    <p:pic>
                      <p:nvPicPr>
                        <p:cNvPr id="0" name=""/>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5" y="731"/>
                          <a:ext cx="4176" cy="1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 name="Text Box 10">
              <a:extLst>
                <a:ext uri="{FF2B5EF4-FFF2-40B4-BE49-F238E27FC236}">
                  <a16:creationId xmlns:a16="http://schemas.microsoft.com/office/drawing/2014/main" xmlns="" id="{CC03C715-5A5F-9047-82F1-C6C4E6673681}"/>
                </a:ext>
              </a:extLst>
            </p:cNvPr>
            <p:cNvSpPr txBox="1">
              <a:spLocks noChangeArrowheads="1"/>
            </p:cNvSpPr>
            <p:nvPr/>
          </p:nvSpPr>
          <p:spPr bwMode="auto">
            <a:xfrm>
              <a:off x="1912" y="1873"/>
              <a:ext cx="1025"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spcBef>
                  <a:spcPts val="600"/>
                </a:spcBef>
                <a:spcAft>
                  <a:spcPts val="600"/>
                </a:spcAft>
              </a:pPr>
              <a:r>
                <a:rPr lang="zh-CN" altLang="en-US" sz="2000" dirty="0">
                  <a:solidFill>
                    <a:schemeClr val="tx1"/>
                  </a:solidFill>
                  <a:latin typeface="+mn-ea"/>
                  <a:ea typeface="+mn-ea"/>
                </a:rPr>
                <a:t>负载特性曲线</a:t>
              </a:r>
            </a:p>
          </p:txBody>
        </p:sp>
      </p:grpSp>
      <p:sp>
        <p:nvSpPr>
          <p:cNvPr id="10" name="矩形 64520">
            <a:extLst>
              <a:ext uri="{FF2B5EF4-FFF2-40B4-BE49-F238E27FC236}">
                <a16:creationId xmlns:a16="http://schemas.microsoft.com/office/drawing/2014/main" xmlns="" id="{BE1D7314-7CEC-B1D6-C5FD-C1DA798B7A4B}"/>
              </a:ext>
            </a:extLst>
          </p:cNvPr>
          <p:cNvSpPr>
            <a:spLocks noChangeArrowheads="1"/>
          </p:cNvSpPr>
          <p:nvPr/>
        </p:nvSpPr>
        <p:spPr bwMode="auto">
          <a:xfrm>
            <a:off x="624843" y="1476554"/>
            <a:ext cx="296267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fontAlgn="b"/>
            <a:r>
              <a:rPr lang="en-US" altLang="zh-CN" sz="2000" dirty="0">
                <a:solidFill>
                  <a:schemeClr val="accent2"/>
                </a:solidFill>
                <a:latin typeface="+mn-ea"/>
                <a:ea typeface="+mn-ea"/>
              </a:rPr>
              <a:t>M</a:t>
            </a:r>
            <a:r>
              <a:rPr lang="zh-CN" altLang="en-US" sz="2000" dirty="0">
                <a:solidFill>
                  <a:schemeClr val="accent2"/>
                </a:solidFill>
                <a:latin typeface="+mn-ea"/>
                <a:ea typeface="+mn-ea"/>
              </a:rPr>
              <a:t>变化对工作状态的影响</a:t>
            </a:r>
          </a:p>
        </p:txBody>
      </p:sp>
      <p:sp>
        <p:nvSpPr>
          <p:cNvPr id="11" name="文本框 64521">
            <a:extLst>
              <a:ext uri="{FF2B5EF4-FFF2-40B4-BE49-F238E27FC236}">
                <a16:creationId xmlns:a16="http://schemas.microsoft.com/office/drawing/2014/main" xmlns="" id="{9D5DB625-A2CF-6DAF-4398-556340FC7634}"/>
              </a:ext>
            </a:extLst>
          </p:cNvPr>
          <p:cNvSpPr txBox="1">
            <a:spLocks noChangeArrowheads="1"/>
          </p:cNvSpPr>
          <p:nvPr/>
        </p:nvSpPr>
        <p:spPr bwMode="auto">
          <a:xfrm>
            <a:off x="1710463" y="5257356"/>
            <a:ext cx="57259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dirty="0">
                <a:solidFill>
                  <a:srgbClr val="0033CC"/>
                </a:solidFill>
                <a:latin typeface="+mn-ea"/>
                <a:ea typeface="+mn-ea"/>
              </a:rPr>
              <a:t>M</a:t>
            </a:r>
            <a:r>
              <a:rPr lang="zh-CN" altLang="en-US" sz="2000" dirty="0">
                <a:solidFill>
                  <a:srgbClr val="0033CC"/>
                </a:solidFill>
                <a:latin typeface="+mn-ea"/>
                <a:ea typeface="+mn-ea"/>
              </a:rPr>
              <a:t>大</a:t>
            </a:r>
            <a:endParaRPr lang="en-US" altLang="zh-CN" sz="2000" dirty="0">
              <a:solidFill>
                <a:srgbClr val="0033CC"/>
              </a:solidFill>
              <a:latin typeface="+mn-ea"/>
              <a:ea typeface="+mn-ea"/>
            </a:endParaRPr>
          </a:p>
        </p:txBody>
      </p:sp>
      <p:sp>
        <p:nvSpPr>
          <p:cNvPr id="13" name="文本框 64522">
            <a:extLst>
              <a:ext uri="{FF2B5EF4-FFF2-40B4-BE49-F238E27FC236}">
                <a16:creationId xmlns:a16="http://schemas.microsoft.com/office/drawing/2014/main" xmlns="" id="{9E157657-25D0-2E10-03E9-8F62143F909C}"/>
              </a:ext>
            </a:extLst>
          </p:cNvPr>
          <p:cNvSpPr txBox="1">
            <a:spLocks noChangeArrowheads="1"/>
          </p:cNvSpPr>
          <p:nvPr/>
        </p:nvSpPr>
        <p:spPr bwMode="auto">
          <a:xfrm>
            <a:off x="5351190" y="5257356"/>
            <a:ext cx="57259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a:solidFill>
                  <a:srgbClr val="0033CC"/>
                </a:solidFill>
                <a:latin typeface="+mn-ea"/>
                <a:ea typeface="+mn-ea"/>
              </a:rPr>
              <a:t>M</a:t>
            </a:r>
            <a:r>
              <a:rPr lang="zh-CN" altLang="en-US" sz="2000">
                <a:solidFill>
                  <a:srgbClr val="0033CC"/>
                </a:solidFill>
                <a:latin typeface="+mn-ea"/>
                <a:ea typeface="+mn-ea"/>
              </a:rPr>
              <a:t>大</a:t>
            </a:r>
            <a:endParaRPr lang="en-US" altLang="zh-CN" sz="2000">
              <a:solidFill>
                <a:srgbClr val="0033CC"/>
              </a:solidFill>
              <a:latin typeface="+mn-ea"/>
              <a:ea typeface="+mn-ea"/>
            </a:endParaRPr>
          </a:p>
        </p:txBody>
      </p:sp>
      <p:sp>
        <p:nvSpPr>
          <p:cNvPr id="14" name="文本框 64523">
            <a:extLst>
              <a:ext uri="{FF2B5EF4-FFF2-40B4-BE49-F238E27FC236}">
                <a16:creationId xmlns:a16="http://schemas.microsoft.com/office/drawing/2014/main" xmlns="" id="{0C5E02B5-7CC4-880B-64F5-3BA602EFCFBB}"/>
              </a:ext>
            </a:extLst>
          </p:cNvPr>
          <p:cNvSpPr txBox="1">
            <a:spLocks noChangeArrowheads="1"/>
          </p:cNvSpPr>
          <p:nvPr/>
        </p:nvSpPr>
        <p:spPr bwMode="auto">
          <a:xfrm>
            <a:off x="2934599" y="5278330"/>
            <a:ext cx="57259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dirty="0">
                <a:solidFill>
                  <a:srgbClr val="0033CC"/>
                </a:solidFill>
                <a:latin typeface="+mn-ea"/>
                <a:ea typeface="+mn-ea"/>
              </a:rPr>
              <a:t>M</a:t>
            </a:r>
            <a:r>
              <a:rPr lang="zh-CN" altLang="zh-CN" sz="2000" dirty="0">
                <a:solidFill>
                  <a:srgbClr val="0033CC"/>
                </a:solidFill>
                <a:latin typeface="+mn-ea"/>
                <a:ea typeface="+mn-ea"/>
              </a:rPr>
              <a:t>小</a:t>
            </a:r>
            <a:endParaRPr lang="en-US" altLang="zh-CN" sz="2000" dirty="0">
              <a:solidFill>
                <a:srgbClr val="0033CC"/>
              </a:solidFill>
              <a:latin typeface="+mn-ea"/>
              <a:ea typeface="+mn-ea"/>
            </a:endParaRPr>
          </a:p>
        </p:txBody>
      </p:sp>
      <p:sp>
        <p:nvSpPr>
          <p:cNvPr id="15" name="文本框 64524">
            <a:extLst>
              <a:ext uri="{FF2B5EF4-FFF2-40B4-BE49-F238E27FC236}">
                <a16:creationId xmlns:a16="http://schemas.microsoft.com/office/drawing/2014/main" xmlns="" id="{D4A037CF-F093-DF4A-A53F-27F29FFB29C1}"/>
              </a:ext>
            </a:extLst>
          </p:cNvPr>
          <p:cNvSpPr txBox="1">
            <a:spLocks noChangeArrowheads="1"/>
          </p:cNvSpPr>
          <p:nvPr/>
        </p:nvSpPr>
        <p:spPr bwMode="auto">
          <a:xfrm>
            <a:off x="6578180" y="5278330"/>
            <a:ext cx="57259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dirty="0">
                <a:solidFill>
                  <a:srgbClr val="0033CC"/>
                </a:solidFill>
                <a:latin typeface="+mn-ea"/>
                <a:ea typeface="+mn-ea"/>
              </a:rPr>
              <a:t>M</a:t>
            </a:r>
            <a:r>
              <a:rPr lang="zh-CN" altLang="zh-CN" sz="2000" dirty="0">
                <a:solidFill>
                  <a:srgbClr val="0033CC"/>
                </a:solidFill>
                <a:latin typeface="+mn-ea"/>
                <a:ea typeface="+mn-ea"/>
              </a:rPr>
              <a:t>小</a:t>
            </a:r>
            <a:endParaRPr lang="en-US" altLang="zh-CN" sz="2000" dirty="0">
              <a:solidFill>
                <a:srgbClr val="0033CC"/>
              </a:solidFill>
              <a:latin typeface="+mn-ea"/>
              <a:ea typeface="+mn-ea"/>
            </a:endParaRPr>
          </a:p>
        </p:txBody>
      </p:sp>
    </p:spTree>
    <p:extLst>
      <p:ext uri="{BB962C8B-B14F-4D97-AF65-F5344CB8AC3E}">
        <p14:creationId xmlns:p14="http://schemas.microsoft.com/office/powerpoint/2010/main" val="1643365523"/>
      </p:ext>
    </p:extLst>
  </p:cSld>
  <p:clrMapOvr>
    <a:masterClrMapping/>
  </p:clrMapOvr>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147</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12"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4.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谐振</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功率</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放大器</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Rectangle 12">
            <a:extLst>
              <a:ext uri="{FF2B5EF4-FFF2-40B4-BE49-F238E27FC236}">
                <a16:creationId xmlns:a16="http://schemas.microsoft.com/office/drawing/2014/main" xmlns="" id="{E894AA15-F2EC-5356-5A48-10E2B4448137}"/>
              </a:ext>
            </a:extLst>
          </p:cNvPr>
          <p:cNvSpPr>
            <a:spLocks noChangeArrowheads="1"/>
          </p:cNvSpPr>
          <p:nvPr/>
        </p:nvSpPr>
        <p:spPr bwMode="auto">
          <a:xfrm>
            <a:off x="611759" y="1469329"/>
            <a:ext cx="203132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2000">
                <a:solidFill>
                  <a:schemeClr val="tx1"/>
                </a:solidFill>
                <a:latin typeface="+mn-ea"/>
                <a:ea typeface="+mn-ea"/>
              </a:rPr>
              <a:t>反射电阻	</a:t>
            </a:r>
          </a:p>
        </p:txBody>
      </p:sp>
      <p:graphicFrame>
        <p:nvGraphicFramePr>
          <p:cNvPr id="6" name="Object 11">
            <a:extLst>
              <a:ext uri="{FF2B5EF4-FFF2-40B4-BE49-F238E27FC236}">
                <a16:creationId xmlns:a16="http://schemas.microsoft.com/office/drawing/2014/main" xmlns="" id="{515A8DE0-C377-74E9-7175-45C123FC9ACE}"/>
              </a:ext>
            </a:extLst>
          </p:cNvPr>
          <p:cNvGraphicFramePr>
            <a:graphicFrameLocks/>
          </p:cNvGraphicFramePr>
          <p:nvPr>
            <p:extLst>
              <p:ext uri="{D42A27DB-BD31-4B8C-83A1-F6EECF244321}">
                <p14:modId xmlns:p14="http://schemas.microsoft.com/office/powerpoint/2010/main" val="2831061383"/>
              </p:ext>
            </p:extLst>
          </p:nvPr>
        </p:nvGraphicFramePr>
        <p:xfrm>
          <a:off x="2154809" y="1420146"/>
          <a:ext cx="1160463" cy="723900"/>
        </p:xfrm>
        <a:graphic>
          <a:graphicData uri="http://schemas.openxmlformats.org/presentationml/2006/ole">
            <mc:AlternateContent xmlns:mc="http://schemas.openxmlformats.org/markup-compatibility/2006">
              <mc:Choice xmlns:v="urn:schemas-microsoft-com:vml" Requires="v">
                <p:oleObj spid="_x0000_s111891" r:id="rId3" imgW="736600" imgH="457200" progId="Equation.3">
                  <p:embed/>
                </p:oleObj>
              </mc:Choice>
              <mc:Fallback>
                <p:oleObj r:id="rId3" imgW="736600" imgH="457200" progId="Equation.3">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54809" y="1420146"/>
                        <a:ext cx="1160463"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 name="Object 10">
            <a:extLst>
              <a:ext uri="{FF2B5EF4-FFF2-40B4-BE49-F238E27FC236}">
                <a16:creationId xmlns:a16="http://schemas.microsoft.com/office/drawing/2014/main" xmlns="" id="{665F5E35-B86F-E511-2181-E2DBFAD2EAA0}"/>
              </a:ext>
            </a:extLst>
          </p:cNvPr>
          <p:cNvGraphicFramePr>
            <a:graphicFrameLocks/>
          </p:cNvGraphicFramePr>
          <p:nvPr>
            <p:extLst>
              <p:ext uri="{D42A27DB-BD31-4B8C-83A1-F6EECF244321}">
                <p14:modId xmlns:p14="http://schemas.microsoft.com/office/powerpoint/2010/main" val="3756633334"/>
              </p:ext>
            </p:extLst>
          </p:nvPr>
        </p:nvGraphicFramePr>
        <p:xfrm>
          <a:off x="5688584" y="1440784"/>
          <a:ext cx="2352675" cy="477837"/>
        </p:xfrm>
        <a:graphic>
          <a:graphicData uri="http://schemas.openxmlformats.org/presentationml/2006/ole">
            <mc:AlternateContent xmlns:mc="http://schemas.openxmlformats.org/markup-compatibility/2006">
              <mc:Choice xmlns:v="urn:schemas-microsoft-com:vml" Requires="v">
                <p:oleObj spid="_x0000_s111892" r:id="rId5" imgW="1168400" imgH="241300" progId="Equation.3">
                  <p:embed/>
                </p:oleObj>
              </mc:Choice>
              <mc:Fallback>
                <p:oleObj r:id="rId5" imgW="1168400" imgH="241300" progId="Equation.3">
                  <p:embed/>
                  <p:pic>
                    <p:nvPicPr>
                      <p:cNvPr id="0" name=""/>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88584" y="1440784"/>
                        <a:ext cx="2352675" cy="47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 name="Rectangle 14">
            <a:extLst>
              <a:ext uri="{FF2B5EF4-FFF2-40B4-BE49-F238E27FC236}">
                <a16:creationId xmlns:a16="http://schemas.microsoft.com/office/drawing/2014/main" xmlns="" id="{F6D02108-1C8D-ED80-73DD-AB6CA82169C8}"/>
              </a:ext>
            </a:extLst>
          </p:cNvPr>
          <p:cNvSpPr>
            <a:spLocks noChangeArrowheads="1"/>
          </p:cNvSpPr>
          <p:nvPr/>
        </p:nvSpPr>
        <p:spPr bwMode="auto">
          <a:xfrm>
            <a:off x="590582" y="2097264"/>
            <a:ext cx="2547492"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tabLst>
                <a:tab pos="2339975" algn="ctr"/>
                <a:tab pos="4860925" algn="r"/>
                <a:tab pos="5249863" algn="r"/>
              </a:tabLst>
              <a:defRPr sz="2400" b="1">
                <a:solidFill>
                  <a:srgbClr val="FFFF00"/>
                </a:solidFill>
                <a:latin typeface="Times New Roman" panose="02020603050405020304" pitchFamily="18" charset="0"/>
                <a:ea typeface="宋体" panose="02010600030101010101" pitchFamily="2" charset="-122"/>
              </a:defRPr>
            </a:lvl1pPr>
            <a:lvl2pPr>
              <a:tabLst>
                <a:tab pos="2339975" algn="ctr"/>
                <a:tab pos="4860925" algn="r"/>
                <a:tab pos="5249863" algn="r"/>
              </a:tabLst>
              <a:defRPr sz="2400" b="1">
                <a:solidFill>
                  <a:srgbClr val="FFFF00"/>
                </a:solidFill>
                <a:latin typeface="Times New Roman" panose="02020603050405020304" pitchFamily="18" charset="0"/>
                <a:ea typeface="宋体" panose="02010600030101010101" pitchFamily="2" charset="-122"/>
              </a:defRPr>
            </a:lvl2pPr>
            <a:lvl3pPr>
              <a:tabLst>
                <a:tab pos="2339975" algn="ctr"/>
                <a:tab pos="4860925" algn="r"/>
                <a:tab pos="5249863" algn="r"/>
              </a:tabLst>
              <a:defRPr sz="2400" b="1">
                <a:solidFill>
                  <a:srgbClr val="FFFF00"/>
                </a:solidFill>
                <a:latin typeface="Times New Roman" panose="02020603050405020304" pitchFamily="18" charset="0"/>
                <a:ea typeface="宋体" panose="02010600030101010101" pitchFamily="2" charset="-122"/>
              </a:defRPr>
            </a:lvl3pPr>
            <a:lvl4pPr>
              <a:tabLst>
                <a:tab pos="2339975" algn="ctr"/>
                <a:tab pos="4860925" algn="r"/>
                <a:tab pos="5249863" algn="r"/>
              </a:tabLst>
              <a:defRPr sz="2400" b="1">
                <a:solidFill>
                  <a:srgbClr val="FFFF00"/>
                </a:solidFill>
                <a:latin typeface="Times New Roman" panose="02020603050405020304" pitchFamily="18" charset="0"/>
                <a:ea typeface="宋体" panose="02010600030101010101" pitchFamily="2" charset="-122"/>
              </a:defRPr>
            </a:lvl4pPr>
            <a:lvl5pPr>
              <a:tabLst>
                <a:tab pos="2339975" algn="ctr"/>
                <a:tab pos="4860925" algn="r"/>
                <a:tab pos="5249863" algn="r"/>
              </a:tabLst>
              <a:defRPr sz="2400" b="1">
                <a:solidFill>
                  <a:srgbClr val="FFFF00"/>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tabLst>
                <a:tab pos="2339975" algn="ctr"/>
                <a:tab pos="4860925" algn="r"/>
                <a:tab pos="5249863" algn="r"/>
              </a:tabLst>
              <a:defRPr sz="2400" b="1">
                <a:solidFill>
                  <a:srgbClr val="FFFF00"/>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tabLst>
                <a:tab pos="2339975" algn="ctr"/>
                <a:tab pos="4860925" algn="r"/>
                <a:tab pos="5249863" algn="r"/>
              </a:tabLst>
              <a:defRPr sz="2400" b="1">
                <a:solidFill>
                  <a:srgbClr val="FFFF00"/>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tabLst>
                <a:tab pos="2339975" algn="ctr"/>
                <a:tab pos="4860925" algn="r"/>
                <a:tab pos="5249863" algn="r"/>
              </a:tabLst>
              <a:defRPr sz="2400" b="1">
                <a:solidFill>
                  <a:srgbClr val="FFFF00"/>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tabLst>
                <a:tab pos="2339975" algn="ctr"/>
                <a:tab pos="4860925" algn="r"/>
                <a:tab pos="5249863" algn="r"/>
              </a:tabLst>
              <a:defRPr sz="2400" b="1">
                <a:solidFill>
                  <a:srgbClr val="FFFF00"/>
                </a:solidFill>
                <a:latin typeface="Times New Roman" panose="02020603050405020304" pitchFamily="18" charset="0"/>
                <a:ea typeface="宋体" panose="02010600030101010101" pitchFamily="2" charset="-122"/>
              </a:defRPr>
            </a:lvl9pPr>
          </a:lstStyle>
          <a:p>
            <a:endParaRPr lang="en-US" altLang="zh-CN" sz="2000" dirty="0">
              <a:solidFill>
                <a:schemeClr val="tx1"/>
              </a:solidFill>
              <a:latin typeface="+mn-ea"/>
              <a:ea typeface="+mn-ea"/>
            </a:endParaRPr>
          </a:p>
          <a:p>
            <a:pPr eaLnBrk="0" hangingPunct="0"/>
            <a:r>
              <a:rPr lang="zh-CN" altLang="en-US" sz="2000" dirty="0">
                <a:solidFill>
                  <a:schemeClr val="tx1"/>
                </a:solidFill>
                <a:latin typeface="+mn-ea"/>
                <a:ea typeface="+mn-ea"/>
              </a:rPr>
              <a:t>初级回路</a:t>
            </a:r>
            <a:r>
              <a:rPr lang="en-US" altLang="zh-CN" sz="2000" dirty="0">
                <a:solidFill>
                  <a:schemeClr val="tx1"/>
                </a:solidFill>
                <a:latin typeface="+mn-ea"/>
                <a:ea typeface="+mn-ea"/>
              </a:rPr>
              <a:t>Q</a:t>
            </a:r>
            <a:r>
              <a:rPr lang="zh-CN" altLang="en-US" sz="2000" dirty="0">
                <a:solidFill>
                  <a:schemeClr val="tx1"/>
                </a:solidFill>
                <a:latin typeface="+mn-ea"/>
                <a:ea typeface="+mn-ea"/>
              </a:rPr>
              <a:t>值	</a:t>
            </a:r>
          </a:p>
        </p:txBody>
      </p:sp>
      <p:graphicFrame>
        <p:nvGraphicFramePr>
          <p:cNvPr id="9" name="Object 9">
            <a:extLst>
              <a:ext uri="{FF2B5EF4-FFF2-40B4-BE49-F238E27FC236}">
                <a16:creationId xmlns:a16="http://schemas.microsoft.com/office/drawing/2014/main" xmlns="" id="{61AE58E7-A925-9665-D902-15EC039AECFE}"/>
              </a:ext>
            </a:extLst>
          </p:cNvPr>
          <p:cNvGraphicFramePr>
            <a:graphicFrameLocks/>
          </p:cNvGraphicFramePr>
          <p:nvPr>
            <p:extLst>
              <p:ext uri="{D42A27DB-BD31-4B8C-83A1-F6EECF244321}">
                <p14:modId xmlns:p14="http://schemas.microsoft.com/office/powerpoint/2010/main" val="677384359"/>
              </p:ext>
            </p:extLst>
          </p:nvPr>
        </p:nvGraphicFramePr>
        <p:xfrm>
          <a:off x="2262283" y="2272231"/>
          <a:ext cx="1254125" cy="709612"/>
        </p:xfrm>
        <a:graphic>
          <a:graphicData uri="http://schemas.openxmlformats.org/presentationml/2006/ole">
            <mc:AlternateContent xmlns:mc="http://schemas.openxmlformats.org/markup-compatibility/2006">
              <mc:Choice xmlns:v="urn:schemas-microsoft-com:vml" Requires="v">
                <p:oleObj spid="_x0000_s111893" r:id="rId7" imgW="787058" imgH="444307" progId="Equation.3">
                  <p:embed/>
                </p:oleObj>
              </mc:Choice>
              <mc:Fallback>
                <p:oleObj r:id="rId7" imgW="787058" imgH="444307" progId="Equation.3">
                  <p:embed/>
                  <p:pic>
                    <p:nvPicPr>
                      <p:cNvPr id="0" name=""/>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62283" y="2272231"/>
                        <a:ext cx="1254125" cy="709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0" name="Rectangle 15">
            <a:extLst>
              <a:ext uri="{FF2B5EF4-FFF2-40B4-BE49-F238E27FC236}">
                <a16:creationId xmlns:a16="http://schemas.microsoft.com/office/drawing/2014/main" xmlns="" id="{21B5BABE-1F2D-A22D-3413-24966C3CC607}"/>
              </a:ext>
            </a:extLst>
          </p:cNvPr>
          <p:cNvSpPr>
            <a:spLocks noChangeArrowheads="1"/>
          </p:cNvSpPr>
          <p:nvPr/>
        </p:nvSpPr>
        <p:spPr bwMode="auto">
          <a:xfrm>
            <a:off x="3706311" y="2405040"/>
            <a:ext cx="166584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tabLst>
                <a:tab pos="2339975" algn="ctr"/>
                <a:tab pos="4860925" algn="r"/>
                <a:tab pos="5249863" algn="r"/>
              </a:tabLst>
              <a:defRPr sz="2400" b="1">
                <a:solidFill>
                  <a:srgbClr val="FFFF00"/>
                </a:solidFill>
                <a:latin typeface="Times New Roman" panose="02020603050405020304" pitchFamily="18" charset="0"/>
                <a:ea typeface="宋体" panose="02010600030101010101" pitchFamily="2" charset="-122"/>
              </a:defRPr>
            </a:lvl1pPr>
            <a:lvl2pPr>
              <a:tabLst>
                <a:tab pos="2339975" algn="ctr"/>
                <a:tab pos="4860925" algn="r"/>
                <a:tab pos="5249863" algn="r"/>
              </a:tabLst>
              <a:defRPr sz="2400" b="1">
                <a:solidFill>
                  <a:srgbClr val="FFFF00"/>
                </a:solidFill>
                <a:latin typeface="Times New Roman" panose="02020603050405020304" pitchFamily="18" charset="0"/>
                <a:ea typeface="宋体" panose="02010600030101010101" pitchFamily="2" charset="-122"/>
              </a:defRPr>
            </a:lvl2pPr>
            <a:lvl3pPr>
              <a:tabLst>
                <a:tab pos="2339975" algn="ctr"/>
                <a:tab pos="4860925" algn="r"/>
                <a:tab pos="5249863" algn="r"/>
              </a:tabLst>
              <a:defRPr sz="2400" b="1">
                <a:solidFill>
                  <a:srgbClr val="FFFF00"/>
                </a:solidFill>
                <a:latin typeface="Times New Roman" panose="02020603050405020304" pitchFamily="18" charset="0"/>
                <a:ea typeface="宋体" panose="02010600030101010101" pitchFamily="2" charset="-122"/>
              </a:defRPr>
            </a:lvl3pPr>
            <a:lvl4pPr>
              <a:tabLst>
                <a:tab pos="2339975" algn="ctr"/>
                <a:tab pos="4860925" algn="r"/>
                <a:tab pos="5249863" algn="r"/>
              </a:tabLst>
              <a:defRPr sz="2400" b="1">
                <a:solidFill>
                  <a:srgbClr val="FFFF00"/>
                </a:solidFill>
                <a:latin typeface="Times New Roman" panose="02020603050405020304" pitchFamily="18" charset="0"/>
                <a:ea typeface="宋体" panose="02010600030101010101" pitchFamily="2" charset="-122"/>
              </a:defRPr>
            </a:lvl4pPr>
            <a:lvl5pPr>
              <a:tabLst>
                <a:tab pos="2339975" algn="ctr"/>
                <a:tab pos="4860925" algn="r"/>
                <a:tab pos="5249863" algn="r"/>
              </a:tabLst>
              <a:defRPr sz="2400" b="1">
                <a:solidFill>
                  <a:srgbClr val="FFFF00"/>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tabLst>
                <a:tab pos="2339975" algn="ctr"/>
                <a:tab pos="4860925" algn="r"/>
                <a:tab pos="5249863" algn="r"/>
              </a:tabLst>
              <a:defRPr sz="2400" b="1">
                <a:solidFill>
                  <a:srgbClr val="FFFF00"/>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tabLst>
                <a:tab pos="2339975" algn="ctr"/>
                <a:tab pos="4860925" algn="r"/>
                <a:tab pos="5249863" algn="r"/>
              </a:tabLst>
              <a:defRPr sz="2400" b="1">
                <a:solidFill>
                  <a:srgbClr val="FFFF00"/>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tabLst>
                <a:tab pos="2339975" algn="ctr"/>
                <a:tab pos="4860925" algn="r"/>
                <a:tab pos="5249863" algn="r"/>
              </a:tabLst>
              <a:defRPr sz="2400" b="1">
                <a:solidFill>
                  <a:srgbClr val="FFFF00"/>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tabLst>
                <a:tab pos="2339975" algn="ctr"/>
                <a:tab pos="4860925" algn="r"/>
                <a:tab pos="5249863" algn="r"/>
              </a:tabLst>
              <a:defRPr sz="2400" b="1">
                <a:solidFill>
                  <a:srgbClr val="FFFF00"/>
                </a:solidFill>
                <a:latin typeface="Times New Roman" panose="02020603050405020304" pitchFamily="18" charset="0"/>
                <a:ea typeface="宋体" panose="02010600030101010101" pitchFamily="2" charset="-122"/>
              </a:defRPr>
            </a:lvl9pPr>
          </a:lstStyle>
          <a:p>
            <a:r>
              <a:rPr lang="zh-CN" altLang="en-US" sz="2000">
                <a:solidFill>
                  <a:schemeClr val="tx1"/>
                </a:solidFill>
                <a:latin typeface="+mn-ea"/>
                <a:ea typeface="+mn-ea"/>
              </a:rPr>
              <a:t>次级回路</a:t>
            </a:r>
            <a:r>
              <a:rPr lang="en-US" altLang="zh-CN" sz="2000">
                <a:solidFill>
                  <a:schemeClr val="tx1"/>
                </a:solidFill>
                <a:latin typeface="+mn-ea"/>
                <a:ea typeface="+mn-ea"/>
              </a:rPr>
              <a:t>Q</a:t>
            </a:r>
            <a:r>
              <a:rPr lang="zh-CN" altLang="en-US" sz="2000">
                <a:solidFill>
                  <a:schemeClr val="tx1"/>
                </a:solidFill>
                <a:latin typeface="+mn-ea"/>
                <a:ea typeface="+mn-ea"/>
              </a:rPr>
              <a:t>值</a:t>
            </a:r>
          </a:p>
        </p:txBody>
      </p:sp>
      <p:graphicFrame>
        <p:nvGraphicFramePr>
          <p:cNvPr id="11" name="Object 8">
            <a:extLst>
              <a:ext uri="{FF2B5EF4-FFF2-40B4-BE49-F238E27FC236}">
                <a16:creationId xmlns:a16="http://schemas.microsoft.com/office/drawing/2014/main" xmlns="" id="{B6B8758F-66C3-5E99-7ED1-ACF2A847496B}"/>
              </a:ext>
            </a:extLst>
          </p:cNvPr>
          <p:cNvGraphicFramePr>
            <a:graphicFrameLocks/>
          </p:cNvGraphicFramePr>
          <p:nvPr>
            <p:extLst>
              <p:ext uri="{D42A27DB-BD31-4B8C-83A1-F6EECF244321}">
                <p14:modId xmlns:p14="http://schemas.microsoft.com/office/powerpoint/2010/main" val="481678293"/>
              </p:ext>
            </p:extLst>
          </p:nvPr>
        </p:nvGraphicFramePr>
        <p:xfrm>
          <a:off x="5716914" y="2230763"/>
          <a:ext cx="2047875" cy="769937"/>
        </p:xfrm>
        <a:graphic>
          <a:graphicData uri="http://schemas.openxmlformats.org/presentationml/2006/ole">
            <mc:AlternateContent xmlns:mc="http://schemas.openxmlformats.org/markup-compatibility/2006">
              <mc:Choice xmlns:v="urn:schemas-microsoft-com:vml" Requires="v">
                <p:oleObj spid="_x0000_s111894" r:id="rId9" imgW="1193800" imgH="444500" progId="Equation.3">
                  <p:embed/>
                </p:oleObj>
              </mc:Choice>
              <mc:Fallback>
                <p:oleObj r:id="rId9" imgW="1193800" imgH="444500" progId="Equation.3">
                  <p:embed/>
                  <p:pic>
                    <p:nvPicPr>
                      <p:cNvPr id="0" name=""/>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716914" y="2230763"/>
                        <a:ext cx="2047875" cy="769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3" name="Rectangle 16">
            <a:extLst>
              <a:ext uri="{FF2B5EF4-FFF2-40B4-BE49-F238E27FC236}">
                <a16:creationId xmlns:a16="http://schemas.microsoft.com/office/drawing/2014/main" xmlns="" id="{2641FA64-6846-3D33-485A-8A3090059FA4}"/>
              </a:ext>
            </a:extLst>
          </p:cNvPr>
          <p:cNvSpPr>
            <a:spLocks noChangeArrowheads="1"/>
          </p:cNvSpPr>
          <p:nvPr/>
        </p:nvSpPr>
        <p:spPr bwMode="auto">
          <a:xfrm>
            <a:off x="590582" y="3100063"/>
            <a:ext cx="172354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tabLst>
                <a:tab pos="2339975" algn="ctr"/>
                <a:tab pos="4860925" algn="r"/>
                <a:tab pos="5249863" algn="r"/>
              </a:tabLst>
              <a:defRPr sz="2400" b="1">
                <a:solidFill>
                  <a:srgbClr val="FFFF00"/>
                </a:solidFill>
                <a:latin typeface="Times New Roman" panose="02020603050405020304" pitchFamily="18" charset="0"/>
                <a:ea typeface="宋体" panose="02010600030101010101" pitchFamily="2" charset="-122"/>
              </a:defRPr>
            </a:lvl1pPr>
            <a:lvl2pPr>
              <a:tabLst>
                <a:tab pos="2339975" algn="ctr"/>
                <a:tab pos="4860925" algn="r"/>
                <a:tab pos="5249863" algn="r"/>
              </a:tabLst>
              <a:defRPr sz="2400" b="1">
                <a:solidFill>
                  <a:srgbClr val="FFFF00"/>
                </a:solidFill>
                <a:latin typeface="Times New Roman" panose="02020603050405020304" pitchFamily="18" charset="0"/>
                <a:ea typeface="宋体" panose="02010600030101010101" pitchFamily="2" charset="-122"/>
              </a:defRPr>
            </a:lvl2pPr>
            <a:lvl3pPr>
              <a:tabLst>
                <a:tab pos="2339975" algn="ctr"/>
                <a:tab pos="4860925" algn="r"/>
                <a:tab pos="5249863" algn="r"/>
              </a:tabLst>
              <a:defRPr sz="2400" b="1">
                <a:solidFill>
                  <a:srgbClr val="FFFF00"/>
                </a:solidFill>
                <a:latin typeface="Times New Roman" panose="02020603050405020304" pitchFamily="18" charset="0"/>
                <a:ea typeface="宋体" panose="02010600030101010101" pitchFamily="2" charset="-122"/>
              </a:defRPr>
            </a:lvl3pPr>
            <a:lvl4pPr>
              <a:tabLst>
                <a:tab pos="2339975" algn="ctr"/>
                <a:tab pos="4860925" algn="r"/>
                <a:tab pos="5249863" algn="r"/>
              </a:tabLst>
              <a:defRPr sz="2400" b="1">
                <a:solidFill>
                  <a:srgbClr val="FFFF00"/>
                </a:solidFill>
                <a:latin typeface="Times New Roman" panose="02020603050405020304" pitchFamily="18" charset="0"/>
                <a:ea typeface="宋体" panose="02010600030101010101" pitchFamily="2" charset="-122"/>
              </a:defRPr>
            </a:lvl4pPr>
            <a:lvl5pPr>
              <a:tabLst>
                <a:tab pos="2339975" algn="ctr"/>
                <a:tab pos="4860925" algn="r"/>
                <a:tab pos="5249863" algn="r"/>
              </a:tabLst>
              <a:defRPr sz="2400" b="1">
                <a:solidFill>
                  <a:srgbClr val="FFFF00"/>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tabLst>
                <a:tab pos="2339975" algn="ctr"/>
                <a:tab pos="4860925" algn="r"/>
                <a:tab pos="5249863" algn="r"/>
              </a:tabLst>
              <a:defRPr sz="2400" b="1">
                <a:solidFill>
                  <a:srgbClr val="FFFF00"/>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tabLst>
                <a:tab pos="2339975" algn="ctr"/>
                <a:tab pos="4860925" algn="r"/>
                <a:tab pos="5249863" algn="r"/>
              </a:tabLst>
              <a:defRPr sz="2400" b="1">
                <a:solidFill>
                  <a:srgbClr val="FFFF00"/>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tabLst>
                <a:tab pos="2339975" algn="ctr"/>
                <a:tab pos="4860925" algn="r"/>
                <a:tab pos="5249863" algn="r"/>
              </a:tabLst>
              <a:defRPr sz="2400" b="1">
                <a:solidFill>
                  <a:srgbClr val="FFFF00"/>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tabLst>
                <a:tab pos="2339975" algn="ctr"/>
                <a:tab pos="4860925" algn="r"/>
                <a:tab pos="5249863" algn="r"/>
              </a:tabLst>
              <a:defRPr sz="2400" b="1">
                <a:solidFill>
                  <a:srgbClr val="FFFF00"/>
                </a:solidFill>
                <a:latin typeface="Times New Roman" panose="02020603050405020304" pitchFamily="18" charset="0"/>
                <a:ea typeface="宋体" panose="02010600030101010101" pitchFamily="2" charset="-122"/>
              </a:defRPr>
            </a:lvl9pPr>
          </a:lstStyle>
          <a:p>
            <a:r>
              <a:rPr lang="zh-CN" altLang="en-US" sz="2000" dirty="0">
                <a:solidFill>
                  <a:schemeClr val="tx1"/>
                </a:solidFill>
                <a:latin typeface="+mn-ea"/>
                <a:ea typeface="+mn-ea"/>
              </a:rPr>
              <a:t>临界耦合系数</a:t>
            </a:r>
          </a:p>
        </p:txBody>
      </p:sp>
      <p:graphicFrame>
        <p:nvGraphicFramePr>
          <p:cNvPr id="14" name="Object 7">
            <a:extLst>
              <a:ext uri="{FF2B5EF4-FFF2-40B4-BE49-F238E27FC236}">
                <a16:creationId xmlns:a16="http://schemas.microsoft.com/office/drawing/2014/main" xmlns="" id="{E778F5B2-7097-96DD-C4E5-2FB629CD840A}"/>
              </a:ext>
            </a:extLst>
          </p:cNvPr>
          <p:cNvGraphicFramePr>
            <a:graphicFrameLocks/>
          </p:cNvGraphicFramePr>
          <p:nvPr>
            <p:extLst>
              <p:ext uri="{D42A27DB-BD31-4B8C-83A1-F6EECF244321}">
                <p14:modId xmlns:p14="http://schemas.microsoft.com/office/powerpoint/2010/main" val="211716153"/>
              </p:ext>
            </p:extLst>
          </p:nvPr>
        </p:nvGraphicFramePr>
        <p:xfrm>
          <a:off x="2283490" y="3023476"/>
          <a:ext cx="1835150" cy="847725"/>
        </p:xfrm>
        <a:graphic>
          <a:graphicData uri="http://schemas.openxmlformats.org/presentationml/2006/ole">
            <mc:AlternateContent xmlns:mc="http://schemas.openxmlformats.org/markup-compatibility/2006">
              <mc:Choice xmlns:v="urn:schemas-microsoft-com:vml" Requires="v">
                <p:oleObj spid="_x0000_s111895" r:id="rId11" imgW="990600" imgH="457200" progId="Equation.3">
                  <p:embed/>
                </p:oleObj>
              </mc:Choice>
              <mc:Fallback>
                <p:oleObj r:id="rId11" imgW="990600" imgH="457200" progId="Equation.3">
                  <p:embed/>
                  <p:pic>
                    <p:nvPicPr>
                      <p:cNvPr id="0" name=""/>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283490" y="3023476"/>
                        <a:ext cx="183515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5" name="Rectangle 17">
            <a:extLst>
              <a:ext uri="{FF2B5EF4-FFF2-40B4-BE49-F238E27FC236}">
                <a16:creationId xmlns:a16="http://schemas.microsoft.com/office/drawing/2014/main" xmlns="" id="{01E44FB8-D8EC-7859-C12B-B9E43A90992A}"/>
              </a:ext>
            </a:extLst>
          </p:cNvPr>
          <p:cNvSpPr>
            <a:spLocks noChangeArrowheads="1"/>
          </p:cNvSpPr>
          <p:nvPr/>
        </p:nvSpPr>
        <p:spPr bwMode="auto">
          <a:xfrm>
            <a:off x="307956" y="3975029"/>
            <a:ext cx="500201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indent="269875">
              <a:tabLst>
                <a:tab pos="4770438" algn="r"/>
                <a:tab pos="5249863" algn="r"/>
              </a:tabLst>
              <a:defRPr sz="2400" b="1">
                <a:solidFill>
                  <a:srgbClr val="FFFF00"/>
                </a:solidFill>
                <a:latin typeface="Times New Roman" panose="02020603050405020304" pitchFamily="18" charset="0"/>
                <a:ea typeface="宋体" panose="02010600030101010101" pitchFamily="2" charset="-122"/>
              </a:defRPr>
            </a:lvl1pPr>
            <a:lvl2pPr>
              <a:tabLst>
                <a:tab pos="4770438" algn="r"/>
                <a:tab pos="5249863" algn="r"/>
              </a:tabLst>
              <a:defRPr sz="2400" b="1">
                <a:solidFill>
                  <a:srgbClr val="FFFF00"/>
                </a:solidFill>
                <a:latin typeface="Times New Roman" panose="02020603050405020304" pitchFamily="18" charset="0"/>
                <a:ea typeface="宋体" panose="02010600030101010101" pitchFamily="2" charset="-122"/>
              </a:defRPr>
            </a:lvl2pPr>
            <a:lvl3pPr>
              <a:tabLst>
                <a:tab pos="4770438" algn="r"/>
                <a:tab pos="5249863" algn="r"/>
              </a:tabLst>
              <a:defRPr sz="2400" b="1">
                <a:solidFill>
                  <a:srgbClr val="FFFF00"/>
                </a:solidFill>
                <a:latin typeface="Times New Roman" panose="02020603050405020304" pitchFamily="18" charset="0"/>
                <a:ea typeface="宋体" panose="02010600030101010101" pitchFamily="2" charset="-122"/>
              </a:defRPr>
            </a:lvl3pPr>
            <a:lvl4pPr>
              <a:tabLst>
                <a:tab pos="4770438" algn="r"/>
                <a:tab pos="5249863" algn="r"/>
              </a:tabLst>
              <a:defRPr sz="2400" b="1">
                <a:solidFill>
                  <a:srgbClr val="FFFF00"/>
                </a:solidFill>
                <a:latin typeface="Times New Roman" panose="02020603050405020304" pitchFamily="18" charset="0"/>
                <a:ea typeface="宋体" panose="02010600030101010101" pitchFamily="2" charset="-122"/>
              </a:defRPr>
            </a:lvl4pPr>
            <a:lvl5pPr>
              <a:tabLst>
                <a:tab pos="4770438" algn="r"/>
                <a:tab pos="5249863" algn="r"/>
              </a:tabLst>
              <a:defRPr sz="2400" b="1">
                <a:solidFill>
                  <a:srgbClr val="FFFF00"/>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tabLst>
                <a:tab pos="4770438" algn="r"/>
                <a:tab pos="5249863" algn="r"/>
              </a:tabLst>
              <a:defRPr sz="2400" b="1">
                <a:solidFill>
                  <a:srgbClr val="FFFF00"/>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tabLst>
                <a:tab pos="4770438" algn="r"/>
                <a:tab pos="5249863" algn="r"/>
              </a:tabLst>
              <a:defRPr sz="2400" b="1">
                <a:solidFill>
                  <a:srgbClr val="FFFF00"/>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tabLst>
                <a:tab pos="4770438" algn="r"/>
                <a:tab pos="5249863" algn="r"/>
              </a:tabLst>
              <a:defRPr sz="2400" b="1">
                <a:solidFill>
                  <a:srgbClr val="FFFF00"/>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tabLst>
                <a:tab pos="4770438" algn="r"/>
                <a:tab pos="5249863" algn="r"/>
              </a:tabLst>
              <a:defRPr sz="2400" b="1">
                <a:solidFill>
                  <a:srgbClr val="FFFF00"/>
                </a:solidFill>
                <a:latin typeface="Times New Roman" panose="02020603050405020304" pitchFamily="18" charset="0"/>
                <a:ea typeface="宋体" panose="02010600030101010101" pitchFamily="2" charset="-122"/>
              </a:defRPr>
            </a:lvl9pPr>
          </a:lstStyle>
          <a:p>
            <a:r>
              <a:rPr lang="zh-CN" altLang="en-US" sz="2000" dirty="0">
                <a:solidFill>
                  <a:schemeClr val="tx1"/>
                </a:solidFill>
                <a:latin typeface="+mn-ea"/>
                <a:ea typeface="+mn-ea"/>
              </a:rPr>
              <a:t>因此中介回路效率可用耦合系数表示</a:t>
            </a:r>
            <a:r>
              <a:rPr lang="en-US" altLang="zh-CN" sz="2000" dirty="0">
                <a:solidFill>
                  <a:schemeClr val="tx1"/>
                </a:solidFill>
                <a:latin typeface="+mn-ea"/>
                <a:ea typeface="+mn-ea"/>
              </a:rPr>
              <a:t>:	</a:t>
            </a:r>
          </a:p>
        </p:txBody>
      </p:sp>
      <p:graphicFrame>
        <p:nvGraphicFramePr>
          <p:cNvPr id="16" name="Object 6">
            <a:extLst>
              <a:ext uri="{FF2B5EF4-FFF2-40B4-BE49-F238E27FC236}">
                <a16:creationId xmlns:a16="http://schemas.microsoft.com/office/drawing/2014/main" xmlns="" id="{5B8B292D-0170-DC11-6B28-2C64D86A7EF2}"/>
              </a:ext>
            </a:extLst>
          </p:cNvPr>
          <p:cNvGraphicFramePr>
            <a:graphicFrameLocks/>
          </p:cNvGraphicFramePr>
          <p:nvPr>
            <p:extLst>
              <p:ext uri="{D42A27DB-BD31-4B8C-83A1-F6EECF244321}">
                <p14:modId xmlns:p14="http://schemas.microsoft.com/office/powerpoint/2010/main" val="3793874961"/>
              </p:ext>
            </p:extLst>
          </p:nvPr>
        </p:nvGraphicFramePr>
        <p:xfrm>
          <a:off x="1768855" y="4540337"/>
          <a:ext cx="2738438" cy="1316038"/>
        </p:xfrm>
        <a:graphic>
          <a:graphicData uri="http://schemas.openxmlformats.org/presentationml/2006/ole">
            <mc:AlternateContent xmlns:mc="http://schemas.openxmlformats.org/markup-compatibility/2006">
              <mc:Choice xmlns:v="urn:schemas-microsoft-com:vml" Requires="v">
                <p:oleObj spid="_x0000_s111896" r:id="rId13" imgW="1435100" imgH="685800" progId="Equation.3">
                  <p:embed/>
                </p:oleObj>
              </mc:Choice>
              <mc:Fallback>
                <p:oleObj r:id="rId13" imgW="1435100" imgH="685800" progId="Equation.3">
                  <p:embed/>
                  <p:pic>
                    <p:nvPicPr>
                      <p:cNvPr id="0" name=""/>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768855" y="4540337"/>
                        <a:ext cx="2738438" cy="1316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7" name="Rectangle 21">
            <a:extLst>
              <a:ext uri="{FF2B5EF4-FFF2-40B4-BE49-F238E27FC236}">
                <a16:creationId xmlns:a16="http://schemas.microsoft.com/office/drawing/2014/main" xmlns="" id="{CA930C5C-9393-63C3-8930-1A19E47A2779}"/>
              </a:ext>
            </a:extLst>
          </p:cNvPr>
          <p:cNvSpPr>
            <a:spLocks noChangeArrowheads="1"/>
          </p:cNvSpPr>
          <p:nvPr/>
        </p:nvSpPr>
        <p:spPr bwMode="auto">
          <a:xfrm>
            <a:off x="3675634" y="1440784"/>
            <a:ext cx="172354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chemeClr val="tx1"/>
                </a:solidFill>
                <a:latin typeface="+mn-ea"/>
                <a:ea typeface="+mn-ea"/>
              </a:rPr>
              <a:t>复合输出回路</a:t>
            </a:r>
          </a:p>
        </p:txBody>
      </p:sp>
      <p:grpSp>
        <p:nvGrpSpPr>
          <p:cNvPr id="18" name="组合 65556">
            <a:extLst>
              <a:ext uri="{FF2B5EF4-FFF2-40B4-BE49-F238E27FC236}">
                <a16:creationId xmlns:a16="http://schemas.microsoft.com/office/drawing/2014/main" xmlns="" id="{0980E75B-E803-66E6-2592-ACB2FE2D5741}"/>
              </a:ext>
            </a:extLst>
          </p:cNvPr>
          <p:cNvGrpSpPr>
            <a:grpSpLocks/>
          </p:cNvGrpSpPr>
          <p:nvPr/>
        </p:nvGrpSpPr>
        <p:grpSpPr bwMode="auto">
          <a:xfrm>
            <a:off x="5698109" y="3471196"/>
            <a:ext cx="2771775" cy="1951038"/>
            <a:chOff x="377" y="1663"/>
            <a:chExt cx="2041" cy="1525"/>
          </a:xfrm>
        </p:grpSpPr>
        <p:graphicFrame>
          <p:nvGraphicFramePr>
            <p:cNvPr id="19" name="Object 8">
              <a:extLst>
                <a:ext uri="{FF2B5EF4-FFF2-40B4-BE49-F238E27FC236}">
                  <a16:creationId xmlns:a16="http://schemas.microsoft.com/office/drawing/2014/main" xmlns="" id="{6FB69668-3AF8-344B-E8C2-3A9F2ABAA327}"/>
                </a:ext>
              </a:extLst>
            </p:cNvPr>
            <p:cNvGraphicFramePr>
              <a:graphicFrameLocks/>
            </p:cNvGraphicFramePr>
            <p:nvPr/>
          </p:nvGraphicFramePr>
          <p:xfrm>
            <a:off x="377" y="1663"/>
            <a:ext cx="2041" cy="1525"/>
          </p:xfrm>
          <a:graphic>
            <a:graphicData uri="http://schemas.openxmlformats.org/presentationml/2006/ole">
              <mc:AlternateContent xmlns:mc="http://schemas.openxmlformats.org/markup-compatibility/2006">
                <mc:Choice xmlns:v="urn:schemas-microsoft-com:vml" Requires="v">
                  <p:oleObj spid="_x0000_s111897" r:id="rId15" imgW="2310120" imgH="1447920" progId="Word.Picture.8">
                    <p:embed/>
                  </p:oleObj>
                </mc:Choice>
                <mc:Fallback>
                  <p:oleObj r:id="rId15" imgW="2310120" imgH="1447920" progId="Word.Picture.8">
                    <p:embed/>
                    <p:pic>
                      <p:nvPicPr>
                        <p:cNvPr id="0" name=""/>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77" y="1663"/>
                          <a:ext cx="2041" cy="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0" name="文本框 65558">
              <a:extLst>
                <a:ext uri="{FF2B5EF4-FFF2-40B4-BE49-F238E27FC236}">
                  <a16:creationId xmlns:a16="http://schemas.microsoft.com/office/drawing/2014/main" xmlns="" id="{5291B66D-30C9-D584-650B-0301D83D4D01}"/>
                </a:ext>
              </a:extLst>
            </p:cNvPr>
            <p:cNvSpPr txBox="1">
              <a:spLocks noChangeArrowheads="1"/>
            </p:cNvSpPr>
            <p:nvPr/>
          </p:nvSpPr>
          <p:spPr bwMode="auto">
            <a:xfrm>
              <a:off x="1369" y="1812"/>
              <a:ext cx="232"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a:solidFill>
                    <a:schemeClr val="tx1"/>
                  </a:solidFill>
                  <a:latin typeface="+mn-ea"/>
                  <a:ea typeface="+mn-ea"/>
                </a:rPr>
                <a:t>M</a:t>
              </a:r>
            </a:p>
          </p:txBody>
        </p:sp>
      </p:grpSp>
    </p:spTree>
    <p:extLst>
      <p:ext uri="{BB962C8B-B14F-4D97-AF65-F5344CB8AC3E}">
        <p14:creationId xmlns:p14="http://schemas.microsoft.com/office/powerpoint/2010/main" val="1776605155"/>
      </p:ext>
    </p:extLst>
  </p:cSld>
  <p:clrMapOvr>
    <a:masterClrMapping/>
  </p:clrMapOvr>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148</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12"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4.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谐振</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功率</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放大器</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Rectangle 18">
            <a:extLst>
              <a:ext uri="{FF2B5EF4-FFF2-40B4-BE49-F238E27FC236}">
                <a16:creationId xmlns:a16="http://schemas.microsoft.com/office/drawing/2014/main" xmlns="" id="{023A8637-E58C-B560-086A-735316FD62B1}"/>
              </a:ext>
            </a:extLst>
          </p:cNvPr>
          <p:cNvSpPr>
            <a:spLocks noChangeArrowheads="1"/>
          </p:cNvSpPr>
          <p:nvPr/>
        </p:nvSpPr>
        <p:spPr bwMode="auto">
          <a:xfrm>
            <a:off x="229774" y="1803940"/>
            <a:ext cx="533030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indent="269875">
              <a:tabLst>
                <a:tab pos="2339975" algn="ctr"/>
                <a:tab pos="4860925" algn="r"/>
                <a:tab pos="5249863" algn="r"/>
              </a:tabLst>
              <a:defRPr sz="2400" b="1">
                <a:solidFill>
                  <a:srgbClr val="FFFF00"/>
                </a:solidFill>
                <a:latin typeface="Times New Roman" panose="02020603050405020304" pitchFamily="18" charset="0"/>
                <a:ea typeface="宋体" panose="02010600030101010101" pitchFamily="2" charset="-122"/>
              </a:defRPr>
            </a:lvl1pPr>
            <a:lvl2pPr>
              <a:tabLst>
                <a:tab pos="2339975" algn="ctr"/>
                <a:tab pos="4860925" algn="r"/>
                <a:tab pos="5249863" algn="r"/>
              </a:tabLst>
              <a:defRPr sz="2400" b="1">
                <a:solidFill>
                  <a:srgbClr val="FFFF00"/>
                </a:solidFill>
                <a:latin typeface="Times New Roman" panose="02020603050405020304" pitchFamily="18" charset="0"/>
                <a:ea typeface="宋体" panose="02010600030101010101" pitchFamily="2" charset="-122"/>
              </a:defRPr>
            </a:lvl2pPr>
            <a:lvl3pPr>
              <a:tabLst>
                <a:tab pos="2339975" algn="ctr"/>
                <a:tab pos="4860925" algn="r"/>
                <a:tab pos="5249863" algn="r"/>
              </a:tabLst>
              <a:defRPr sz="2400" b="1">
                <a:solidFill>
                  <a:srgbClr val="FFFF00"/>
                </a:solidFill>
                <a:latin typeface="Times New Roman" panose="02020603050405020304" pitchFamily="18" charset="0"/>
                <a:ea typeface="宋体" panose="02010600030101010101" pitchFamily="2" charset="-122"/>
              </a:defRPr>
            </a:lvl3pPr>
            <a:lvl4pPr>
              <a:tabLst>
                <a:tab pos="2339975" algn="ctr"/>
                <a:tab pos="4860925" algn="r"/>
                <a:tab pos="5249863" algn="r"/>
              </a:tabLst>
              <a:defRPr sz="2400" b="1">
                <a:solidFill>
                  <a:srgbClr val="FFFF00"/>
                </a:solidFill>
                <a:latin typeface="Times New Roman" panose="02020603050405020304" pitchFamily="18" charset="0"/>
                <a:ea typeface="宋体" panose="02010600030101010101" pitchFamily="2" charset="-122"/>
              </a:defRPr>
            </a:lvl4pPr>
            <a:lvl5pPr>
              <a:tabLst>
                <a:tab pos="2339975" algn="ctr"/>
                <a:tab pos="4860925" algn="r"/>
                <a:tab pos="5249863" algn="r"/>
              </a:tabLst>
              <a:defRPr sz="2400" b="1">
                <a:solidFill>
                  <a:srgbClr val="FFFF00"/>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tabLst>
                <a:tab pos="2339975" algn="ctr"/>
                <a:tab pos="4860925" algn="r"/>
                <a:tab pos="5249863" algn="r"/>
              </a:tabLst>
              <a:defRPr sz="2400" b="1">
                <a:solidFill>
                  <a:srgbClr val="FFFF00"/>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tabLst>
                <a:tab pos="2339975" algn="ctr"/>
                <a:tab pos="4860925" algn="r"/>
                <a:tab pos="5249863" algn="r"/>
              </a:tabLst>
              <a:defRPr sz="2400" b="1">
                <a:solidFill>
                  <a:srgbClr val="FFFF00"/>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tabLst>
                <a:tab pos="2339975" algn="ctr"/>
                <a:tab pos="4860925" algn="r"/>
                <a:tab pos="5249863" algn="r"/>
              </a:tabLst>
              <a:defRPr sz="2400" b="1">
                <a:solidFill>
                  <a:srgbClr val="FFFF00"/>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tabLst>
                <a:tab pos="2339975" algn="ctr"/>
                <a:tab pos="4860925" algn="r"/>
                <a:tab pos="5249863" algn="r"/>
              </a:tabLst>
              <a:defRPr sz="2400" b="1">
                <a:solidFill>
                  <a:srgbClr val="FFFF00"/>
                </a:solidFill>
                <a:latin typeface="Times New Roman" panose="02020603050405020304" pitchFamily="18" charset="0"/>
                <a:ea typeface="宋体" panose="02010600030101010101" pitchFamily="2" charset="-122"/>
              </a:defRPr>
            </a:lvl9pPr>
          </a:lstStyle>
          <a:p>
            <a:r>
              <a:rPr lang="zh-CN" altLang="en-US" sz="2000" dirty="0">
                <a:solidFill>
                  <a:schemeClr val="tx1"/>
                </a:solidFill>
                <a:latin typeface="+mn-ea"/>
                <a:ea typeface="+mn-ea"/>
              </a:rPr>
              <a:t>在考虑天线回路后，中介回路的谐振电阻为</a:t>
            </a:r>
          </a:p>
        </p:txBody>
      </p:sp>
      <p:graphicFrame>
        <p:nvGraphicFramePr>
          <p:cNvPr id="6" name="Object 5">
            <a:extLst>
              <a:ext uri="{FF2B5EF4-FFF2-40B4-BE49-F238E27FC236}">
                <a16:creationId xmlns:a16="http://schemas.microsoft.com/office/drawing/2014/main" xmlns="" id="{DC987842-A3D8-2E74-87C4-D48C84610A7D}"/>
              </a:ext>
            </a:extLst>
          </p:cNvPr>
          <p:cNvGraphicFramePr>
            <a:graphicFrameLocks/>
          </p:cNvGraphicFramePr>
          <p:nvPr>
            <p:extLst>
              <p:ext uri="{D42A27DB-BD31-4B8C-83A1-F6EECF244321}">
                <p14:modId xmlns:p14="http://schemas.microsoft.com/office/powerpoint/2010/main" val="3388108325"/>
              </p:ext>
            </p:extLst>
          </p:nvPr>
        </p:nvGraphicFramePr>
        <p:xfrm>
          <a:off x="5514042" y="1735737"/>
          <a:ext cx="512762" cy="468313"/>
        </p:xfrm>
        <a:graphic>
          <a:graphicData uri="http://schemas.openxmlformats.org/presentationml/2006/ole">
            <mc:AlternateContent xmlns:mc="http://schemas.openxmlformats.org/markup-compatibility/2006">
              <mc:Choice xmlns:v="urn:schemas-microsoft-com:vml" Requires="v">
                <p:oleObj spid="_x0000_s112876" r:id="rId3" imgW="215713" imgH="203024" progId="Equation.3">
                  <p:embed/>
                </p:oleObj>
              </mc:Choice>
              <mc:Fallback>
                <p:oleObj r:id="rId3" imgW="215713" imgH="203024" progId="Equation.3">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14042" y="1735737"/>
                        <a:ext cx="512762" cy="46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 name="Rectangle 19">
            <a:extLst>
              <a:ext uri="{FF2B5EF4-FFF2-40B4-BE49-F238E27FC236}">
                <a16:creationId xmlns:a16="http://schemas.microsoft.com/office/drawing/2014/main" xmlns="" id="{D5A957A7-D441-F65E-5B51-1381FA969F8A}"/>
              </a:ext>
            </a:extLst>
          </p:cNvPr>
          <p:cNvSpPr>
            <a:spLocks noChangeArrowheads="1"/>
          </p:cNvSpPr>
          <p:nvPr/>
        </p:nvSpPr>
        <p:spPr bwMode="auto">
          <a:xfrm>
            <a:off x="5652120" y="5131650"/>
            <a:ext cx="268446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tabLst>
                <a:tab pos="4770438" algn="r"/>
                <a:tab pos="5249863" algn="r"/>
              </a:tabLst>
              <a:defRPr sz="2400" b="1">
                <a:solidFill>
                  <a:srgbClr val="FFFF00"/>
                </a:solidFill>
                <a:latin typeface="Times New Roman" panose="02020603050405020304" pitchFamily="18" charset="0"/>
                <a:ea typeface="宋体" panose="02010600030101010101" pitchFamily="2" charset="-122"/>
              </a:defRPr>
            </a:lvl1pPr>
            <a:lvl2pPr>
              <a:tabLst>
                <a:tab pos="4770438" algn="r"/>
                <a:tab pos="5249863" algn="r"/>
              </a:tabLst>
              <a:defRPr sz="2400" b="1">
                <a:solidFill>
                  <a:srgbClr val="FFFF00"/>
                </a:solidFill>
                <a:latin typeface="Times New Roman" panose="02020603050405020304" pitchFamily="18" charset="0"/>
                <a:ea typeface="宋体" panose="02010600030101010101" pitchFamily="2" charset="-122"/>
              </a:defRPr>
            </a:lvl2pPr>
            <a:lvl3pPr>
              <a:tabLst>
                <a:tab pos="4770438" algn="r"/>
                <a:tab pos="5249863" algn="r"/>
              </a:tabLst>
              <a:defRPr sz="2400" b="1">
                <a:solidFill>
                  <a:srgbClr val="FFFF00"/>
                </a:solidFill>
                <a:latin typeface="Times New Roman" panose="02020603050405020304" pitchFamily="18" charset="0"/>
                <a:ea typeface="宋体" panose="02010600030101010101" pitchFamily="2" charset="-122"/>
              </a:defRPr>
            </a:lvl3pPr>
            <a:lvl4pPr>
              <a:tabLst>
                <a:tab pos="4770438" algn="r"/>
                <a:tab pos="5249863" algn="r"/>
              </a:tabLst>
              <a:defRPr sz="2400" b="1">
                <a:solidFill>
                  <a:srgbClr val="FFFF00"/>
                </a:solidFill>
                <a:latin typeface="Times New Roman" panose="02020603050405020304" pitchFamily="18" charset="0"/>
                <a:ea typeface="宋体" panose="02010600030101010101" pitchFamily="2" charset="-122"/>
              </a:defRPr>
            </a:lvl4pPr>
            <a:lvl5pPr>
              <a:tabLst>
                <a:tab pos="4770438" algn="r"/>
                <a:tab pos="5249863" algn="r"/>
              </a:tabLst>
              <a:defRPr sz="2400" b="1">
                <a:solidFill>
                  <a:srgbClr val="FFFF00"/>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tabLst>
                <a:tab pos="4770438" algn="r"/>
                <a:tab pos="5249863" algn="r"/>
              </a:tabLst>
              <a:defRPr sz="2400" b="1">
                <a:solidFill>
                  <a:srgbClr val="FFFF00"/>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tabLst>
                <a:tab pos="4770438" algn="r"/>
                <a:tab pos="5249863" algn="r"/>
              </a:tabLst>
              <a:defRPr sz="2400" b="1">
                <a:solidFill>
                  <a:srgbClr val="FFFF00"/>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tabLst>
                <a:tab pos="4770438" algn="r"/>
                <a:tab pos="5249863" algn="r"/>
              </a:tabLst>
              <a:defRPr sz="2400" b="1">
                <a:solidFill>
                  <a:srgbClr val="FFFF00"/>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tabLst>
                <a:tab pos="4770438" algn="r"/>
                <a:tab pos="5249863" algn="r"/>
              </a:tabLst>
              <a:defRPr sz="2400" b="1">
                <a:solidFill>
                  <a:srgbClr val="FFFF00"/>
                </a:solidFill>
                <a:latin typeface="Times New Roman" panose="02020603050405020304" pitchFamily="18" charset="0"/>
                <a:ea typeface="宋体" panose="02010600030101010101" pitchFamily="2" charset="-122"/>
              </a:defRPr>
            </a:lvl9pPr>
          </a:lstStyle>
          <a:p>
            <a:r>
              <a:rPr lang="zh-CN" altLang="en-US" sz="2000" dirty="0">
                <a:solidFill>
                  <a:schemeClr val="tx1"/>
                </a:solidFill>
                <a:latin typeface="+mn-ea"/>
                <a:ea typeface="+mn-ea"/>
              </a:rPr>
              <a:t>   对工作状态的影响	</a:t>
            </a:r>
          </a:p>
        </p:txBody>
      </p:sp>
      <p:graphicFrame>
        <p:nvGraphicFramePr>
          <p:cNvPr id="8" name="Object 4">
            <a:extLst>
              <a:ext uri="{FF2B5EF4-FFF2-40B4-BE49-F238E27FC236}">
                <a16:creationId xmlns:a16="http://schemas.microsoft.com/office/drawing/2014/main" xmlns="" id="{5BAA28A1-81EB-45A2-FA7E-5474243A8A9B}"/>
              </a:ext>
            </a:extLst>
          </p:cNvPr>
          <p:cNvGraphicFramePr>
            <a:graphicFrameLocks/>
          </p:cNvGraphicFramePr>
          <p:nvPr>
            <p:extLst>
              <p:ext uri="{D42A27DB-BD31-4B8C-83A1-F6EECF244321}">
                <p14:modId xmlns:p14="http://schemas.microsoft.com/office/powerpoint/2010/main" val="3832324880"/>
              </p:ext>
            </p:extLst>
          </p:nvPr>
        </p:nvGraphicFramePr>
        <p:xfrm>
          <a:off x="2360007" y="3429000"/>
          <a:ext cx="2133600" cy="596900"/>
        </p:xfrm>
        <a:graphic>
          <a:graphicData uri="http://schemas.openxmlformats.org/presentationml/2006/ole">
            <mc:AlternateContent xmlns:mc="http://schemas.openxmlformats.org/markup-compatibility/2006">
              <mc:Choice xmlns:v="urn:schemas-microsoft-com:vml" Requires="v">
                <p:oleObj spid="_x0000_s112877" r:id="rId5" imgW="710891" imgH="203112" progId="Equation.3">
                  <p:embed/>
                </p:oleObj>
              </mc:Choice>
              <mc:Fallback>
                <p:oleObj r:id="rId5" imgW="710891" imgH="203112" progId="Equation.3">
                  <p:embed/>
                  <p:pic>
                    <p:nvPicPr>
                      <p:cNvPr id="0" name=""/>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60007" y="3429000"/>
                        <a:ext cx="2133600" cy="59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 name="Rectangle 20">
            <a:extLst>
              <a:ext uri="{FF2B5EF4-FFF2-40B4-BE49-F238E27FC236}">
                <a16:creationId xmlns:a16="http://schemas.microsoft.com/office/drawing/2014/main" xmlns="" id="{0C08956B-1D12-634F-089F-A59E230EB86A}"/>
              </a:ext>
            </a:extLst>
          </p:cNvPr>
          <p:cNvSpPr>
            <a:spLocks noChangeArrowheads="1"/>
          </p:cNvSpPr>
          <p:nvPr/>
        </p:nvSpPr>
        <p:spPr bwMode="auto">
          <a:xfrm>
            <a:off x="557888" y="4850740"/>
            <a:ext cx="379482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tabLst>
                <a:tab pos="2339975" algn="ctr"/>
                <a:tab pos="4770438" algn="r"/>
                <a:tab pos="4860925" algn="r"/>
                <a:tab pos="5249863" algn="r"/>
              </a:tabLst>
              <a:defRPr sz="2400" b="1">
                <a:solidFill>
                  <a:srgbClr val="FFFF00"/>
                </a:solidFill>
                <a:latin typeface="Times New Roman" panose="02020603050405020304" pitchFamily="18" charset="0"/>
                <a:ea typeface="宋体" panose="02010600030101010101" pitchFamily="2" charset="-122"/>
              </a:defRPr>
            </a:lvl1pPr>
            <a:lvl2pPr>
              <a:tabLst>
                <a:tab pos="2339975" algn="ctr"/>
                <a:tab pos="4770438" algn="r"/>
                <a:tab pos="4860925" algn="r"/>
                <a:tab pos="5249863" algn="r"/>
              </a:tabLst>
              <a:defRPr sz="2400" b="1">
                <a:solidFill>
                  <a:srgbClr val="FFFF00"/>
                </a:solidFill>
                <a:latin typeface="Times New Roman" panose="02020603050405020304" pitchFamily="18" charset="0"/>
                <a:ea typeface="宋体" panose="02010600030101010101" pitchFamily="2" charset="-122"/>
              </a:defRPr>
            </a:lvl2pPr>
            <a:lvl3pPr>
              <a:tabLst>
                <a:tab pos="2339975" algn="ctr"/>
                <a:tab pos="4770438" algn="r"/>
                <a:tab pos="4860925" algn="r"/>
                <a:tab pos="5249863" algn="r"/>
              </a:tabLst>
              <a:defRPr sz="2400" b="1">
                <a:solidFill>
                  <a:srgbClr val="FFFF00"/>
                </a:solidFill>
                <a:latin typeface="Times New Roman" panose="02020603050405020304" pitchFamily="18" charset="0"/>
                <a:ea typeface="宋体" panose="02010600030101010101" pitchFamily="2" charset="-122"/>
              </a:defRPr>
            </a:lvl3pPr>
            <a:lvl4pPr>
              <a:tabLst>
                <a:tab pos="2339975" algn="ctr"/>
                <a:tab pos="4770438" algn="r"/>
                <a:tab pos="4860925" algn="r"/>
                <a:tab pos="5249863" algn="r"/>
              </a:tabLst>
              <a:defRPr sz="2400" b="1">
                <a:solidFill>
                  <a:srgbClr val="FFFF00"/>
                </a:solidFill>
                <a:latin typeface="Times New Roman" panose="02020603050405020304" pitchFamily="18" charset="0"/>
                <a:ea typeface="宋体" panose="02010600030101010101" pitchFamily="2" charset="-122"/>
              </a:defRPr>
            </a:lvl4pPr>
            <a:lvl5pPr>
              <a:tabLst>
                <a:tab pos="2339975" algn="ctr"/>
                <a:tab pos="4770438" algn="r"/>
                <a:tab pos="4860925" algn="r"/>
                <a:tab pos="5249863" algn="r"/>
              </a:tabLst>
              <a:defRPr sz="2400" b="1">
                <a:solidFill>
                  <a:srgbClr val="FFFF00"/>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tabLst>
                <a:tab pos="2339975" algn="ctr"/>
                <a:tab pos="4770438" algn="r"/>
                <a:tab pos="4860925" algn="r"/>
                <a:tab pos="5249863" algn="r"/>
              </a:tabLst>
              <a:defRPr sz="2400" b="1">
                <a:solidFill>
                  <a:srgbClr val="FFFF00"/>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tabLst>
                <a:tab pos="2339975" algn="ctr"/>
                <a:tab pos="4770438" algn="r"/>
                <a:tab pos="4860925" algn="r"/>
                <a:tab pos="5249863" algn="r"/>
              </a:tabLst>
              <a:defRPr sz="2400" b="1">
                <a:solidFill>
                  <a:srgbClr val="FFFF00"/>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tabLst>
                <a:tab pos="2339975" algn="ctr"/>
                <a:tab pos="4770438" algn="r"/>
                <a:tab pos="4860925" algn="r"/>
                <a:tab pos="5249863" algn="r"/>
              </a:tabLst>
              <a:defRPr sz="2400" b="1">
                <a:solidFill>
                  <a:srgbClr val="FFFF00"/>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tabLst>
                <a:tab pos="2339975" algn="ctr"/>
                <a:tab pos="4770438" algn="r"/>
                <a:tab pos="4860925" algn="r"/>
                <a:tab pos="5249863" algn="r"/>
              </a:tabLst>
              <a:defRPr sz="2400" b="1">
                <a:solidFill>
                  <a:srgbClr val="FFFF00"/>
                </a:solidFill>
                <a:latin typeface="Times New Roman" panose="02020603050405020304" pitchFamily="18" charset="0"/>
                <a:ea typeface="宋体" panose="02010600030101010101" pitchFamily="2" charset="-122"/>
              </a:defRPr>
            </a:lvl9pPr>
          </a:lstStyle>
          <a:p>
            <a:r>
              <a:rPr lang="en-US" altLang="zh-CN" sz="2000" dirty="0">
                <a:solidFill>
                  <a:schemeClr val="tx1"/>
                </a:solidFill>
                <a:latin typeface="+mn-ea"/>
                <a:ea typeface="+mn-ea"/>
              </a:rPr>
              <a:t>P</a:t>
            </a:r>
            <a:r>
              <a:rPr lang="en-US" altLang="zh-CN" sz="2000" baseline="-30000" dirty="0">
                <a:solidFill>
                  <a:schemeClr val="tx1"/>
                </a:solidFill>
                <a:latin typeface="+mn-ea"/>
                <a:ea typeface="+mn-ea"/>
              </a:rPr>
              <a:t>A</a:t>
            </a:r>
            <a:r>
              <a:rPr lang="zh-CN" altLang="en-US" sz="2000" dirty="0">
                <a:solidFill>
                  <a:schemeClr val="tx1"/>
                </a:solidFill>
                <a:latin typeface="+mn-ea"/>
                <a:ea typeface="+mn-ea"/>
              </a:rPr>
              <a:t>在微欠压时获得最大输出功率</a:t>
            </a:r>
          </a:p>
        </p:txBody>
      </p:sp>
      <p:graphicFrame>
        <p:nvGraphicFramePr>
          <p:cNvPr id="10" name="Object 22">
            <a:extLst>
              <a:ext uri="{FF2B5EF4-FFF2-40B4-BE49-F238E27FC236}">
                <a16:creationId xmlns:a16="http://schemas.microsoft.com/office/drawing/2014/main" xmlns="" id="{9B4A66CF-EC68-817C-899B-931C39F09FFA}"/>
              </a:ext>
            </a:extLst>
          </p:cNvPr>
          <p:cNvGraphicFramePr>
            <a:graphicFrameLocks/>
          </p:cNvGraphicFramePr>
          <p:nvPr>
            <p:extLst>
              <p:ext uri="{D42A27DB-BD31-4B8C-83A1-F6EECF244321}">
                <p14:modId xmlns:p14="http://schemas.microsoft.com/office/powerpoint/2010/main" val="143007791"/>
              </p:ext>
            </p:extLst>
          </p:nvPr>
        </p:nvGraphicFramePr>
        <p:xfrm>
          <a:off x="5047786" y="2322444"/>
          <a:ext cx="3176588" cy="2690812"/>
        </p:xfrm>
        <a:graphic>
          <a:graphicData uri="http://schemas.openxmlformats.org/presentationml/2006/ole">
            <mc:AlternateContent xmlns:mc="http://schemas.openxmlformats.org/markup-compatibility/2006">
              <mc:Choice xmlns:v="urn:schemas-microsoft-com:vml" Requires="v">
                <p:oleObj spid="_x0000_s112878" r:id="rId7" imgW="1703294" imgH="1452282" progId="Word.Picture.8">
                  <p:embed/>
                </p:oleObj>
              </mc:Choice>
              <mc:Fallback>
                <p:oleObj r:id="rId7" imgW="1703294" imgH="1452282" progId="Word.Picture.8">
                  <p:embed/>
                  <p:pic>
                    <p:nvPicPr>
                      <p:cNvPr id="0" name=""/>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047786" y="2322444"/>
                        <a:ext cx="3176588" cy="2690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1" name="Object 10">
            <a:extLst>
              <a:ext uri="{FF2B5EF4-FFF2-40B4-BE49-F238E27FC236}">
                <a16:creationId xmlns:a16="http://schemas.microsoft.com/office/drawing/2014/main" xmlns="" id="{B1C73467-8FBA-CDDE-F053-BFD8BDCBB7EF}"/>
              </a:ext>
            </a:extLst>
          </p:cNvPr>
          <p:cNvGraphicFramePr>
            <a:graphicFrameLocks/>
          </p:cNvGraphicFramePr>
          <p:nvPr>
            <p:extLst>
              <p:ext uri="{D42A27DB-BD31-4B8C-83A1-F6EECF244321}">
                <p14:modId xmlns:p14="http://schemas.microsoft.com/office/powerpoint/2010/main" val="3330526437"/>
              </p:ext>
            </p:extLst>
          </p:nvPr>
        </p:nvGraphicFramePr>
        <p:xfrm>
          <a:off x="395288" y="2774850"/>
          <a:ext cx="1778000" cy="1838325"/>
        </p:xfrm>
        <a:graphic>
          <a:graphicData uri="http://schemas.openxmlformats.org/presentationml/2006/ole">
            <mc:AlternateContent xmlns:mc="http://schemas.openxmlformats.org/markup-compatibility/2006">
              <mc:Choice xmlns:v="urn:schemas-microsoft-com:vml" Requires="v">
                <p:oleObj spid="_x0000_s112879" r:id="rId9" imgW="1332720" imgH="1676520" progId="Word.Picture.8">
                  <p:embed/>
                </p:oleObj>
              </mc:Choice>
              <mc:Fallback>
                <p:oleObj r:id="rId9" imgW="1332720" imgH="1676520" progId="Word.Picture.8">
                  <p:embed/>
                  <p:pic>
                    <p:nvPicPr>
                      <p:cNvPr id="0" name=""/>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95288" y="2774850"/>
                        <a:ext cx="1778000" cy="183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3" name="Object 5">
            <a:extLst>
              <a:ext uri="{FF2B5EF4-FFF2-40B4-BE49-F238E27FC236}">
                <a16:creationId xmlns:a16="http://schemas.microsoft.com/office/drawing/2014/main" xmlns="" id="{3626B182-ADD8-6316-A312-AE65E1B3D97C}"/>
              </a:ext>
            </a:extLst>
          </p:cNvPr>
          <p:cNvGraphicFramePr>
            <a:graphicFrameLocks/>
          </p:cNvGraphicFramePr>
          <p:nvPr>
            <p:extLst>
              <p:ext uri="{D42A27DB-BD31-4B8C-83A1-F6EECF244321}">
                <p14:modId xmlns:p14="http://schemas.microsoft.com/office/powerpoint/2010/main" val="2448229915"/>
              </p:ext>
            </p:extLst>
          </p:nvPr>
        </p:nvGraphicFramePr>
        <p:xfrm>
          <a:off x="2292531" y="2023778"/>
          <a:ext cx="1600200" cy="987425"/>
        </p:xfrm>
        <a:graphic>
          <a:graphicData uri="http://schemas.openxmlformats.org/presentationml/2006/ole">
            <mc:AlternateContent xmlns:mc="http://schemas.openxmlformats.org/markup-compatibility/2006">
              <mc:Choice xmlns:v="urn:schemas-microsoft-com:vml" Requires="v">
                <p:oleObj spid="_x0000_s112880" r:id="rId11" imgW="659827" imgH="406048" progId="Equation.3">
                  <p:embed/>
                </p:oleObj>
              </mc:Choice>
              <mc:Fallback>
                <p:oleObj r:id="rId11" imgW="659827" imgH="406048" progId="Equation.3">
                  <p:embed/>
                  <p:pic>
                    <p:nvPicPr>
                      <p:cNvPr id="0" name=""/>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292531" y="2023778"/>
                        <a:ext cx="1600200" cy="98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4" name="Object 5">
            <a:extLst>
              <a:ext uri="{FF2B5EF4-FFF2-40B4-BE49-F238E27FC236}">
                <a16:creationId xmlns:a16="http://schemas.microsoft.com/office/drawing/2014/main" xmlns="" id="{BED0D233-DC9F-DEEB-2F8D-1E1AD13F873B}"/>
              </a:ext>
            </a:extLst>
          </p:cNvPr>
          <p:cNvGraphicFramePr>
            <a:graphicFrameLocks/>
          </p:cNvGraphicFramePr>
          <p:nvPr>
            <p:extLst>
              <p:ext uri="{D42A27DB-BD31-4B8C-83A1-F6EECF244321}">
                <p14:modId xmlns:p14="http://schemas.microsoft.com/office/powerpoint/2010/main" val="557589587"/>
              </p:ext>
            </p:extLst>
          </p:nvPr>
        </p:nvGraphicFramePr>
        <p:xfrm>
          <a:off x="5652120" y="5107584"/>
          <a:ext cx="512762" cy="468313"/>
        </p:xfrm>
        <a:graphic>
          <a:graphicData uri="http://schemas.openxmlformats.org/presentationml/2006/ole">
            <mc:AlternateContent xmlns:mc="http://schemas.openxmlformats.org/markup-compatibility/2006">
              <mc:Choice xmlns:v="urn:schemas-microsoft-com:vml" Requires="v">
                <p:oleObj spid="_x0000_s112881" r:id="rId13" imgW="215713" imgH="203024" progId="Equation.3">
                  <p:embed/>
                </p:oleObj>
              </mc:Choice>
              <mc:Fallback>
                <p:oleObj r:id="rId13" imgW="215713" imgH="203024" progId="Equation.3">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52120" y="5107584"/>
                        <a:ext cx="512762" cy="46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5" name="矩形 183309">
            <a:extLst>
              <a:ext uri="{FF2B5EF4-FFF2-40B4-BE49-F238E27FC236}">
                <a16:creationId xmlns:a16="http://schemas.microsoft.com/office/drawing/2014/main" xmlns="" id="{CE6B64C5-3702-2BDA-5501-873B69969414}"/>
              </a:ext>
            </a:extLst>
          </p:cNvPr>
          <p:cNvSpPr>
            <a:spLocks noChangeArrowheads="1"/>
          </p:cNvSpPr>
          <p:nvPr/>
        </p:nvSpPr>
        <p:spPr bwMode="auto">
          <a:xfrm>
            <a:off x="549097" y="2322444"/>
            <a:ext cx="172354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a:solidFill>
                  <a:schemeClr val="tx1"/>
                </a:solidFill>
                <a:latin typeface="+mn-ea"/>
                <a:ea typeface="+mn-ea"/>
              </a:rPr>
              <a:t>中介回路效率</a:t>
            </a:r>
          </a:p>
        </p:txBody>
      </p:sp>
      <p:sp>
        <p:nvSpPr>
          <p:cNvPr id="16" name="矩形 183310">
            <a:extLst>
              <a:ext uri="{FF2B5EF4-FFF2-40B4-BE49-F238E27FC236}">
                <a16:creationId xmlns:a16="http://schemas.microsoft.com/office/drawing/2014/main" xmlns="" id="{D0D64D04-2A75-A2A2-88EA-832E4AD99458}"/>
              </a:ext>
            </a:extLst>
          </p:cNvPr>
          <p:cNvSpPr>
            <a:spLocks noChangeArrowheads="1"/>
          </p:cNvSpPr>
          <p:nvPr/>
        </p:nvSpPr>
        <p:spPr bwMode="auto">
          <a:xfrm>
            <a:off x="490719" y="1365805"/>
            <a:ext cx="186653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a:solidFill>
                  <a:schemeClr val="accent2"/>
                </a:solidFill>
                <a:latin typeface="+mn-ea"/>
                <a:ea typeface="+mn-ea"/>
              </a:rPr>
              <a:t>天线功率</a:t>
            </a:r>
            <a:r>
              <a:rPr lang="en-US" altLang="zh-CN" sz="2000">
                <a:solidFill>
                  <a:schemeClr val="accent2"/>
                </a:solidFill>
                <a:latin typeface="+mn-ea"/>
                <a:ea typeface="+mn-ea"/>
              </a:rPr>
              <a:t>PA</a:t>
            </a:r>
            <a:r>
              <a:rPr lang="zh-CN" altLang="en-US" sz="2000">
                <a:solidFill>
                  <a:schemeClr val="accent2"/>
                </a:solidFill>
                <a:latin typeface="+mn-ea"/>
                <a:ea typeface="+mn-ea"/>
              </a:rPr>
              <a:t> ：</a:t>
            </a:r>
          </a:p>
        </p:txBody>
      </p:sp>
    </p:spTree>
    <p:extLst>
      <p:ext uri="{BB962C8B-B14F-4D97-AF65-F5344CB8AC3E}">
        <p14:creationId xmlns:p14="http://schemas.microsoft.com/office/powerpoint/2010/main" val="4109339821"/>
      </p:ext>
    </p:extLst>
  </p:cSld>
  <p:clrMapOvr>
    <a:masterClrMapping/>
  </p:clrMapOvr>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149</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12"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4.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谐振</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功率</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放大器</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graphicFrame>
        <p:nvGraphicFramePr>
          <p:cNvPr id="5" name="Object 5">
            <a:extLst>
              <a:ext uri="{FF2B5EF4-FFF2-40B4-BE49-F238E27FC236}">
                <a16:creationId xmlns:a16="http://schemas.microsoft.com/office/drawing/2014/main" xmlns="" id="{478D9CFA-4EA4-2BAC-D339-2C5D8009AECD}"/>
              </a:ext>
            </a:extLst>
          </p:cNvPr>
          <p:cNvGraphicFramePr>
            <a:graphicFrameLocks/>
          </p:cNvGraphicFramePr>
          <p:nvPr>
            <p:extLst>
              <p:ext uri="{D42A27DB-BD31-4B8C-83A1-F6EECF244321}">
                <p14:modId xmlns:p14="http://schemas.microsoft.com/office/powerpoint/2010/main" val="3106411136"/>
              </p:ext>
            </p:extLst>
          </p:nvPr>
        </p:nvGraphicFramePr>
        <p:xfrm>
          <a:off x="2627784" y="2065821"/>
          <a:ext cx="3455987" cy="838200"/>
        </p:xfrm>
        <a:graphic>
          <a:graphicData uri="http://schemas.openxmlformats.org/presentationml/2006/ole">
            <mc:AlternateContent xmlns:mc="http://schemas.openxmlformats.org/markup-compatibility/2006">
              <mc:Choice xmlns:v="urn:schemas-microsoft-com:vml" Requires="v">
                <p:oleObj spid="_x0000_s113705" r:id="rId3" imgW="1674946" imgH="406048" progId="Equation.3">
                  <p:embed/>
                </p:oleObj>
              </mc:Choice>
              <mc:Fallback>
                <p:oleObj r:id="rId3" imgW="1674946" imgH="406048" progId="Equation.3">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27784" y="2065821"/>
                        <a:ext cx="3455987"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 name="Rectangle 9">
            <a:extLst>
              <a:ext uri="{FF2B5EF4-FFF2-40B4-BE49-F238E27FC236}">
                <a16:creationId xmlns:a16="http://schemas.microsoft.com/office/drawing/2014/main" xmlns="" id="{637D5BF1-D375-9A75-9A7A-B850BFE791AE}"/>
              </a:ext>
            </a:extLst>
          </p:cNvPr>
          <p:cNvSpPr>
            <a:spLocks noChangeArrowheads="1"/>
          </p:cNvSpPr>
          <p:nvPr/>
        </p:nvSpPr>
        <p:spPr bwMode="auto">
          <a:xfrm>
            <a:off x="1088182" y="3259497"/>
            <a:ext cx="159409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fontAlgn="b"/>
            <a:r>
              <a:rPr lang="en-US" altLang="zh-CN" sz="2000" dirty="0">
                <a:solidFill>
                  <a:schemeClr val="tx1"/>
                </a:solidFill>
                <a:latin typeface="+mn-ea"/>
                <a:ea typeface="+mn-ea"/>
              </a:rPr>
              <a:t>PA--</a:t>
            </a:r>
            <a:r>
              <a:rPr lang="zh-CN" altLang="en-US" sz="2000" dirty="0">
                <a:solidFill>
                  <a:schemeClr val="tx1"/>
                </a:solidFill>
                <a:latin typeface="+mn-ea"/>
                <a:ea typeface="+mn-ea"/>
              </a:rPr>
              <a:t>天线功率</a:t>
            </a:r>
          </a:p>
        </p:txBody>
      </p:sp>
      <p:sp>
        <p:nvSpPr>
          <p:cNvPr id="7" name="Rectangle 11">
            <a:extLst>
              <a:ext uri="{FF2B5EF4-FFF2-40B4-BE49-F238E27FC236}">
                <a16:creationId xmlns:a16="http://schemas.microsoft.com/office/drawing/2014/main" xmlns="" id="{327D11D2-1B5E-CD77-38A7-81D8D20E3510}"/>
              </a:ext>
            </a:extLst>
          </p:cNvPr>
          <p:cNvSpPr>
            <a:spLocks noChangeArrowheads="1"/>
          </p:cNvSpPr>
          <p:nvPr/>
        </p:nvSpPr>
        <p:spPr bwMode="auto">
          <a:xfrm>
            <a:off x="1088182" y="3862225"/>
            <a:ext cx="237994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fontAlgn="b"/>
            <a:r>
              <a:rPr lang="en-US" altLang="zh-CN" sz="2000" dirty="0">
                <a:solidFill>
                  <a:schemeClr val="tx1"/>
                </a:solidFill>
                <a:latin typeface="+mn-ea"/>
                <a:ea typeface="+mn-ea"/>
              </a:rPr>
              <a:t>Po—</a:t>
            </a:r>
            <a:r>
              <a:rPr lang="zh-CN" altLang="en-US" sz="2000" dirty="0">
                <a:solidFill>
                  <a:schemeClr val="tx1"/>
                </a:solidFill>
                <a:latin typeface="+mn-ea"/>
                <a:ea typeface="+mn-ea"/>
              </a:rPr>
              <a:t>集电极输出功率</a:t>
            </a:r>
          </a:p>
        </p:txBody>
      </p:sp>
      <p:sp>
        <p:nvSpPr>
          <p:cNvPr id="8" name="Rectangle 12">
            <a:extLst>
              <a:ext uri="{FF2B5EF4-FFF2-40B4-BE49-F238E27FC236}">
                <a16:creationId xmlns:a16="http://schemas.microsoft.com/office/drawing/2014/main" xmlns="" id="{9C2BD70C-5F2A-D4F5-A029-C0671AC5AAC2}"/>
              </a:ext>
            </a:extLst>
          </p:cNvPr>
          <p:cNvSpPr>
            <a:spLocks noChangeArrowheads="1"/>
          </p:cNvSpPr>
          <p:nvPr/>
        </p:nvSpPr>
        <p:spPr bwMode="auto">
          <a:xfrm>
            <a:off x="467544" y="4347114"/>
            <a:ext cx="337026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fontAlgn="b"/>
            <a:r>
              <a:rPr lang="en-US" altLang="zh-CN" sz="2000" dirty="0">
                <a:solidFill>
                  <a:schemeClr val="tx1"/>
                </a:solidFill>
                <a:latin typeface="+mn-ea"/>
                <a:ea typeface="+mn-ea"/>
              </a:rPr>
              <a:t>P=--</a:t>
            </a:r>
            <a:r>
              <a:rPr lang="zh-CN" altLang="en-US" sz="2000" dirty="0">
                <a:solidFill>
                  <a:schemeClr val="tx1"/>
                </a:solidFill>
                <a:latin typeface="+mn-ea"/>
                <a:ea typeface="+mn-ea"/>
              </a:rPr>
              <a:t>电源供给功率</a:t>
            </a:r>
          </a:p>
        </p:txBody>
      </p:sp>
      <p:sp>
        <p:nvSpPr>
          <p:cNvPr id="9" name="Rectangle 13">
            <a:extLst>
              <a:ext uri="{FF2B5EF4-FFF2-40B4-BE49-F238E27FC236}">
                <a16:creationId xmlns:a16="http://schemas.microsoft.com/office/drawing/2014/main" xmlns="" id="{C6527928-D23E-F2FE-B59D-2E017A368C9B}"/>
              </a:ext>
            </a:extLst>
          </p:cNvPr>
          <p:cNvSpPr>
            <a:spLocks noChangeArrowheads="1"/>
          </p:cNvSpPr>
          <p:nvPr/>
        </p:nvSpPr>
        <p:spPr bwMode="auto">
          <a:xfrm>
            <a:off x="1126665" y="4812042"/>
            <a:ext cx="218008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fontAlgn="b"/>
            <a:r>
              <a:rPr lang="en-US" altLang="zh-CN" sz="2000" dirty="0">
                <a:solidFill>
                  <a:schemeClr val="tx1"/>
                </a:solidFill>
                <a:latin typeface="+mn-ea"/>
                <a:ea typeface="+mn-ea"/>
                <a:sym typeface="Symbol" panose="05050102010706020507" pitchFamily="18" charset="2"/>
              </a:rPr>
              <a:t></a:t>
            </a:r>
            <a:r>
              <a:rPr lang="en-US" altLang="zh-CN" sz="2000" baseline="-25000" dirty="0">
                <a:solidFill>
                  <a:schemeClr val="tx1"/>
                </a:solidFill>
                <a:latin typeface="+mn-ea"/>
                <a:ea typeface="+mn-ea"/>
              </a:rPr>
              <a:t>k</a:t>
            </a:r>
            <a:r>
              <a:rPr lang="en-US" altLang="zh-CN" sz="2000" dirty="0">
                <a:solidFill>
                  <a:schemeClr val="tx1"/>
                </a:solidFill>
                <a:latin typeface="+mn-ea"/>
                <a:ea typeface="+mn-ea"/>
              </a:rPr>
              <a:t> --</a:t>
            </a:r>
            <a:r>
              <a:rPr lang="zh-CN" altLang="en-US" sz="2000" dirty="0">
                <a:solidFill>
                  <a:schemeClr val="tx1"/>
                </a:solidFill>
                <a:latin typeface="+mn-ea"/>
                <a:ea typeface="+mn-ea"/>
              </a:rPr>
              <a:t>中介回路效率</a:t>
            </a:r>
          </a:p>
        </p:txBody>
      </p:sp>
      <p:sp>
        <p:nvSpPr>
          <p:cNvPr id="10" name="Rectangle 14">
            <a:extLst>
              <a:ext uri="{FF2B5EF4-FFF2-40B4-BE49-F238E27FC236}">
                <a16:creationId xmlns:a16="http://schemas.microsoft.com/office/drawing/2014/main" xmlns="" id="{82E48A25-3FCD-B06A-7819-5856124F51D9}"/>
              </a:ext>
            </a:extLst>
          </p:cNvPr>
          <p:cNvSpPr>
            <a:spLocks noChangeArrowheads="1"/>
          </p:cNvSpPr>
          <p:nvPr/>
        </p:nvSpPr>
        <p:spPr bwMode="auto">
          <a:xfrm>
            <a:off x="1126665" y="5313709"/>
            <a:ext cx="196528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fontAlgn="b"/>
            <a:r>
              <a:rPr lang="en-US" altLang="zh-CN" sz="2000" dirty="0">
                <a:solidFill>
                  <a:schemeClr val="tx1"/>
                </a:solidFill>
                <a:latin typeface="+mn-ea"/>
                <a:ea typeface="+mn-ea"/>
                <a:sym typeface="Symbol" panose="05050102010706020507" pitchFamily="18" charset="2"/>
              </a:rPr>
              <a:t>c</a:t>
            </a:r>
            <a:r>
              <a:rPr lang="en-US" altLang="zh-CN" sz="2000" dirty="0">
                <a:solidFill>
                  <a:schemeClr val="tx1"/>
                </a:solidFill>
                <a:latin typeface="+mn-ea"/>
                <a:ea typeface="+mn-ea"/>
              </a:rPr>
              <a:t> --</a:t>
            </a:r>
            <a:r>
              <a:rPr lang="zh-CN" altLang="en-US" sz="2000" dirty="0">
                <a:solidFill>
                  <a:schemeClr val="tx1"/>
                </a:solidFill>
                <a:latin typeface="+mn-ea"/>
                <a:ea typeface="+mn-ea"/>
              </a:rPr>
              <a:t>集电极效率</a:t>
            </a:r>
          </a:p>
        </p:txBody>
      </p:sp>
      <p:sp>
        <p:nvSpPr>
          <p:cNvPr id="11" name="Rectangle 15">
            <a:extLst>
              <a:ext uri="{FF2B5EF4-FFF2-40B4-BE49-F238E27FC236}">
                <a16:creationId xmlns:a16="http://schemas.microsoft.com/office/drawing/2014/main" xmlns="" id="{48F10FA6-891C-940C-43EB-17C2C0D46C30}"/>
              </a:ext>
            </a:extLst>
          </p:cNvPr>
          <p:cNvSpPr>
            <a:spLocks noChangeArrowheads="1"/>
          </p:cNvSpPr>
          <p:nvPr/>
        </p:nvSpPr>
        <p:spPr bwMode="auto">
          <a:xfrm>
            <a:off x="934305" y="1487355"/>
            <a:ext cx="256480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r>
              <a:rPr lang="zh-CN" altLang="en-US" sz="2000" dirty="0">
                <a:solidFill>
                  <a:schemeClr val="accent2"/>
                </a:solidFill>
                <a:latin typeface="+mn-ea"/>
                <a:ea typeface="+mn-ea"/>
              </a:rPr>
              <a:t>谐振功率放大器总效率</a:t>
            </a:r>
          </a:p>
        </p:txBody>
      </p:sp>
    </p:spTree>
    <p:extLst>
      <p:ext uri="{BB962C8B-B14F-4D97-AF65-F5344CB8AC3E}">
        <p14:creationId xmlns:p14="http://schemas.microsoft.com/office/powerpoint/2010/main" val="1046420828"/>
      </p:ext>
    </p:extLst>
  </p:cSld>
  <p:clrMapOvr>
    <a:masterClrMapping/>
  </p:clrMapOvr>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150</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12"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4.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谐振</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功率</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放大器</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grpSp>
        <p:nvGrpSpPr>
          <p:cNvPr id="15" name="组合 98376">
            <a:extLst>
              <a:ext uri="{FF2B5EF4-FFF2-40B4-BE49-F238E27FC236}">
                <a16:creationId xmlns:a16="http://schemas.microsoft.com/office/drawing/2014/main" xmlns="" id="{0749EEF6-3130-B533-A3D3-7E098F606A8E}"/>
              </a:ext>
            </a:extLst>
          </p:cNvPr>
          <p:cNvGrpSpPr>
            <a:grpSpLocks/>
          </p:cNvGrpSpPr>
          <p:nvPr/>
        </p:nvGrpSpPr>
        <p:grpSpPr bwMode="auto">
          <a:xfrm>
            <a:off x="200025" y="1329432"/>
            <a:ext cx="8620125" cy="4202113"/>
            <a:chOff x="47" y="556"/>
            <a:chExt cx="5430" cy="2647"/>
          </a:xfrm>
        </p:grpSpPr>
        <p:pic>
          <p:nvPicPr>
            <p:cNvPr id="16" name="图片 98311" descr="未命名">
              <a:extLst>
                <a:ext uri="{FF2B5EF4-FFF2-40B4-BE49-F238E27FC236}">
                  <a16:creationId xmlns:a16="http://schemas.microsoft.com/office/drawing/2014/main" xmlns="" id="{27F3C6C2-619C-CE30-70DA-2A6479EE825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20" y="581"/>
              <a:ext cx="1410" cy="1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矩形 1">
              <a:extLst>
                <a:ext uri="{FF2B5EF4-FFF2-40B4-BE49-F238E27FC236}">
                  <a16:creationId xmlns:a16="http://schemas.microsoft.com/office/drawing/2014/main" xmlns="" id="{D8AFEE9B-4D97-7A00-6E90-7ABEB8887D11}"/>
                </a:ext>
              </a:extLst>
            </p:cNvPr>
            <p:cNvSpPr>
              <a:spLocks noChangeArrowheads="1"/>
            </p:cNvSpPr>
            <p:nvPr/>
          </p:nvSpPr>
          <p:spPr bwMode="auto">
            <a:xfrm>
              <a:off x="152" y="556"/>
              <a:ext cx="3728"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sz="2400" b="1">
                  <a:solidFill>
                    <a:srgbClr val="FFFF00"/>
                  </a:solidFill>
                  <a:latin typeface="Times New Roman" panose="02020603050405020304" pitchFamily="18" charset="0"/>
                  <a:ea typeface="宋体" panose="02010600030101010101" pitchFamily="2" charset="-122"/>
                </a:defRPr>
              </a:lvl1pPr>
              <a:lvl2pPr>
                <a:defRPr sz="2400" b="1">
                  <a:solidFill>
                    <a:srgbClr val="FFFF00"/>
                  </a:solidFill>
                  <a:latin typeface="Times New Roman" panose="02020603050405020304" pitchFamily="18" charset="0"/>
                  <a:ea typeface="宋体" panose="02010600030101010101" pitchFamily="2" charset="-122"/>
                </a:defRPr>
              </a:lvl2pPr>
              <a:lvl3pPr>
                <a:defRPr sz="2400" b="1">
                  <a:solidFill>
                    <a:srgbClr val="FFFF00"/>
                  </a:solidFill>
                  <a:latin typeface="Times New Roman" panose="02020603050405020304" pitchFamily="18" charset="0"/>
                  <a:ea typeface="宋体" panose="02010600030101010101" pitchFamily="2" charset="-122"/>
                </a:defRPr>
              </a:lvl3pPr>
              <a:lvl4pPr>
                <a:defRPr sz="2400" b="1">
                  <a:solidFill>
                    <a:srgbClr val="FFFF00"/>
                  </a:solidFill>
                  <a:latin typeface="Times New Roman" panose="02020603050405020304" pitchFamily="18" charset="0"/>
                  <a:ea typeface="宋体" panose="02010600030101010101" pitchFamily="2" charset="-122"/>
                </a:defRPr>
              </a:lvl4pPr>
              <a:lvl5pPr>
                <a:defRPr sz="2400" b="1">
                  <a:solidFill>
                    <a:srgbClr val="FFFF00"/>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2400" b="1">
                  <a:solidFill>
                    <a:srgbClr val="FFFF00"/>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2400" b="1">
                  <a:solidFill>
                    <a:srgbClr val="FFFF00"/>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2400" b="1">
                  <a:solidFill>
                    <a:srgbClr val="FFFF00"/>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2400" b="1">
                  <a:solidFill>
                    <a:srgbClr val="FFFF00"/>
                  </a:solidFill>
                  <a:latin typeface="Times New Roman" panose="02020603050405020304" pitchFamily="18" charset="0"/>
                  <a:ea typeface="宋体" panose="02010600030101010101" pitchFamily="2" charset="-122"/>
                </a:defRPr>
              </a:lvl9pPr>
            </a:lstStyle>
            <a:p>
              <a:r>
                <a:rPr lang="zh-CN" altLang="en-US" sz="2000" dirty="0">
                  <a:solidFill>
                    <a:schemeClr val="tx1"/>
                  </a:solidFill>
                  <a:latin typeface="+mn-ea"/>
                  <a:ea typeface="+mn-ea"/>
                </a:rPr>
                <a:t>例</a:t>
              </a:r>
              <a:r>
                <a:rPr lang="en-US" altLang="zh-CN" sz="2000" dirty="0">
                  <a:solidFill>
                    <a:schemeClr val="tx1"/>
                  </a:solidFill>
                  <a:latin typeface="+mn-ea"/>
                  <a:ea typeface="+mn-ea"/>
                </a:rPr>
                <a:t>4-4 </a:t>
              </a:r>
              <a:r>
                <a:rPr lang="zh-CN" altLang="en-US" sz="2000" dirty="0">
                  <a:solidFill>
                    <a:schemeClr val="tx1"/>
                  </a:solidFill>
                  <a:latin typeface="+mn-ea"/>
                  <a:ea typeface="+mn-ea"/>
                </a:rPr>
                <a:t>某功率放大器如图所示，设中介回路与负载回路均以调谐好，放大器处于临界工作状态。</a:t>
              </a:r>
            </a:p>
            <a:p>
              <a:r>
                <a:rPr lang="en-US" altLang="zh-CN" sz="2000" dirty="0">
                  <a:solidFill>
                    <a:schemeClr val="tx1"/>
                  </a:solidFill>
                  <a:latin typeface="+mn-ea"/>
                  <a:ea typeface="+mn-ea"/>
                </a:rPr>
                <a:t>1.</a:t>
              </a:r>
              <a:r>
                <a:rPr lang="zh-CN" altLang="en-US" sz="2000" dirty="0">
                  <a:solidFill>
                    <a:schemeClr val="tx1"/>
                  </a:solidFill>
                  <a:latin typeface="+mn-ea"/>
                  <a:ea typeface="+mn-ea"/>
                </a:rPr>
                <a:t>当</a:t>
              </a:r>
            </a:p>
          </p:txBody>
        </p:sp>
        <p:graphicFrame>
          <p:nvGraphicFramePr>
            <p:cNvPr id="18" name="对象 98313">
              <a:extLst>
                <a:ext uri="{FF2B5EF4-FFF2-40B4-BE49-F238E27FC236}">
                  <a16:creationId xmlns:a16="http://schemas.microsoft.com/office/drawing/2014/main" xmlns="" id="{E589C4ED-E510-20E1-9AAA-C6CADFD144EE}"/>
                </a:ext>
              </a:extLst>
            </p:cNvPr>
            <p:cNvGraphicFramePr>
              <a:graphicFrameLocks/>
            </p:cNvGraphicFramePr>
            <p:nvPr/>
          </p:nvGraphicFramePr>
          <p:xfrm>
            <a:off x="622" y="1021"/>
            <a:ext cx="212" cy="221"/>
          </p:xfrm>
          <a:graphic>
            <a:graphicData uri="http://schemas.openxmlformats.org/presentationml/2006/ole">
              <mc:AlternateContent xmlns:mc="http://schemas.openxmlformats.org/markup-compatibility/2006">
                <mc:Choice xmlns:v="urn:schemas-microsoft-com:vml" Requires="v">
                  <p:oleObj spid="_x0000_s115392" r:id="rId4" imgW="215806" imgH="228501" progId="Equation.3">
                    <p:embed/>
                  </p:oleObj>
                </mc:Choice>
                <mc:Fallback>
                  <p:oleObj r:id="rId4" imgW="215806" imgH="228501" progId="Equation.3">
                    <p:embed/>
                    <p:pic>
                      <p:nvPicPr>
                        <p:cNvPr id="0" name=""/>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2" y="1021"/>
                          <a:ext cx="21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9" name="对象 98314">
              <a:extLst>
                <a:ext uri="{FF2B5EF4-FFF2-40B4-BE49-F238E27FC236}">
                  <a16:creationId xmlns:a16="http://schemas.microsoft.com/office/drawing/2014/main" xmlns="" id="{B9BAF7E7-0D8C-E231-D347-E8355E2DB248}"/>
                </a:ext>
              </a:extLst>
            </p:cNvPr>
            <p:cNvGraphicFramePr>
              <a:graphicFrameLocks/>
            </p:cNvGraphicFramePr>
            <p:nvPr/>
          </p:nvGraphicFramePr>
          <p:xfrm>
            <a:off x="913" y="1027"/>
            <a:ext cx="194" cy="179"/>
          </p:xfrm>
          <a:graphic>
            <a:graphicData uri="http://schemas.openxmlformats.org/presentationml/2006/ole">
              <mc:AlternateContent xmlns:mc="http://schemas.openxmlformats.org/markup-compatibility/2006">
                <mc:Choice xmlns:v="urn:schemas-microsoft-com:vml" Requires="v">
                  <p:oleObj spid="_x0000_s115393" r:id="rId6" imgW="241091" imgH="215713" progId="Equation.3">
                    <p:embed/>
                  </p:oleObj>
                </mc:Choice>
                <mc:Fallback>
                  <p:oleObj r:id="rId6" imgW="241091" imgH="215713" progId="Equation.3">
                    <p:embed/>
                    <p:pic>
                      <p:nvPicPr>
                        <p:cNvPr id="0" name=""/>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13" y="1027"/>
                          <a:ext cx="194"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0" name="对象 98315">
              <a:extLst>
                <a:ext uri="{FF2B5EF4-FFF2-40B4-BE49-F238E27FC236}">
                  <a16:creationId xmlns:a16="http://schemas.microsoft.com/office/drawing/2014/main" xmlns="" id="{13C8082B-F8CE-D04C-AACF-9811F6EE7F18}"/>
                </a:ext>
              </a:extLst>
            </p:cNvPr>
            <p:cNvGraphicFramePr>
              <a:graphicFrameLocks/>
            </p:cNvGraphicFramePr>
            <p:nvPr/>
          </p:nvGraphicFramePr>
          <p:xfrm>
            <a:off x="1184" y="1027"/>
            <a:ext cx="183" cy="176"/>
          </p:xfrm>
          <a:graphic>
            <a:graphicData uri="http://schemas.openxmlformats.org/presentationml/2006/ole">
              <mc:AlternateContent xmlns:mc="http://schemas.openxmlformats.org/markup-compatibility/2006">
                <mc:Choice xmlns:v="urn:schemas-microsoft-com:vml" Requires="v">
                  <p:oleObj spid="_x0000_s115394" r:id="rId8" imgW="228501" imgH="215806" progId="Equation.3">
                    <p:embed/>
                  </p:oleObj>
                </mc:Choice>
                <mc:Fallback>
                  <p:oleObj r:id="rId8" imgW="228501" imgH="215806" progId="Equation.3">
                    <p:embed/>
                    <p:pic>
                      <p:nvPicPr>
                        <p:cNvPr id="0" name=""/>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84" y="1027"/>
                          <a:ext cx="183"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1" name="矩形 98317">
              <a:extLst>
                <a:ext uri="{FF2B5EF4-FFF2-40B4-BE49-F238E27FC236}">
                  <a16:creationId xmlns:a16="http://schemas.microsoft.com/office/drawing/2014/main" xmlns="" id="{7FF9EC85-CF52-D4D8-A35A-AD79B33424AB}"/>
                </a:ext>
              </a:extLst>
            </p:cNvPr>
            <p:cNvSpPr>
              <a:spLocks noChangeArrowheads="1"/>
            </p:cNvSpPr>
            <p:nvPr/>
          </p:nvSpPr>
          <p:spPr bwMode="auto">
            <a:xfrm>
              <a:off x="760" y="981"/>
              <a:ext cx="22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r>
                <a:rPr lang="en-US" altLang="zh-CN" sz="2000" dirty="0">
                  <a:solidFill>
                    <a:schemeClr val="tx1"/>
                  </a:solidFill>
                  <a:latin typeface="+mn-ea"/>
                  <a:ea typeface="+mn-ea"/>
                </a:rPr>
                <a:t>﹑</a:t>
              </a:r>
            </a:p>
          </p:txBody>
        </p:sp>
        <p:sp>
          <p:nvSpPr>
            <p:cNvPr id="22" name="矩形 98318">
              <a:extLst>
                <a:ext uri="{FF2B5EF4-FFF2-40B4-BE49-F238E27FC236}">
                  <a16:creationId xmlns:a16="http://schemas.microsoft.com/office/drawing/2014/main" xmlns="" id="{F16E5FE1-EE9B-BEA6-0D70-849A9FFE0B53}"/>
                </a:ext>
              </a:extLst>
            </p:cNvPr>
            <p:cNvSpPr>
              <a:spLocks noChangeArrowheads="1"/>
            </p:cNvSpPr>
            <p:nvPr/>
          </p:nvSpPr>
          <p:spPr bwMode="auto">
            <a:xfrm>
              <a:off x="1048" y="991"/>
              <a:ext cx="279"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r>
                <a:rPr lang="en-US" altLang="zh-CN" sz="2000">
                  <a:solidFill>
                    <a:schemeClr val="tx1"/>
                  </a:solidFill>
                  <a:latin typeface="+mn-ea"/>
                  <a:ea typeface="+mn-ea"/>
                </a:rPr>
                <a:t>﹑</a:t>
              </a:r>
            </a:p>
          </p:txBody>
        </p:sp>
        <p:sp>
          <p:nvSpPr>
            <p:cNvPr id="23" name="矩形 98319">
              <a:extLst>
                <a:ext uri="{FF2B5EF4-FFF2-40B4-BE49-F238E27FC236}">
                  <a16:creationId xmlns:a16="http://schemas.microsoft.com/office/drawing/2014/main" xmlns="" id="{4503F927-4833-6DCD-CDB6-AE6693BC77B3}"/>
                </a:ext>
              </a:extLst>
            </p:cNvPr>
            <p:cNvSpPr>
              <a:spLocks noChangeArrowheads="1"/>
            </p:cNvSpPr>
            <p:nvPr/>
          </p:nvSpPr>
          <p:spPr bwMode="auto">
            <a:xfrm>
              <a:off x="1367" y="992"/>
              <a:ext cx="76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r>
                <a:rPr lang="zh-CN" altLang="en-US" sz="2000">
                  <a:solidFill>
                    <a:schemeClr val="tx1"/>
                  </a:solidFill>
                  <a:latin typeface="+mn-ea"/>
                  <a:ea typeface="+mn-ea"/>
                </a:rPr>
                <a:t>不变时，</a:t>
              </a:r>
            </a:p>
          </p:txBody>
        </p:sp>
        <p:graphicFrame>
          <p:nvGraphicFramePr>
            <p:cNvPr id="24" name="对象 98329">
              <a:extLst>
                <a:ext uri="{FF2B5EF4-FFF2-40B4-BE49-F238E27FC236}">
                  <a16:creationId xmlns:a16="http://schemas.microsoft.com/office/drawing/2014/main" xmlns="" id="{8DF2D16F-32ED-1301-A150-30901630B007}"/>
                </a:ext>
              </a:extLst>
            </p:cNvPr>
            <p:cNvGraphicFramePr>
              <a:graphicFrameLocks/>
            </p:cNvGraphicFramePr>
            <p:nvPr/>
          </p:nvGraphicFramePr>
          <p:xfrm>
            <a:off x="310" y="1242"/>
            <a:ext cx="234" cy="216"/>
          </p:xfrm>
          <a:graphic>
            <a:graphicData uri="http://schemas.openxmlformats.org/presentationml/2006/ole">
              <mc:AlternateContent xmlns:mc="http://schemas.openxmlformats.org/markup-compatibility/2006">
                <mc:Choice xmlns:v="urn:schemas-microsoft-com:vml" Requires="v">
                  <p:oleObj spid="_x0000_s115395" r:id="rId10" imgW="241091" imgH="215713" progId="Equation.3">
                    <p:embed/>
                  </p:oleObj>
                </mc:Choice>
                <mc:Fallback>
                  <p:oleObj r:id="rId10" imgW="241091" imgH="215713" progId="Equation.3">
                    <p:embed/>
                    <p:pic>
                      <p:nvPicPr>
                        <p:cNvPr id="0" name=""/>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10" y="1242"/>
                          <a:ext cx="234"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5" name="矩形 98331">
              <a:extLst>
                <a:ext uri="{FF2B5EF4-FFF2-40B4-BE49-F238E27FC236}">
                  <a16:creationId xmlns:a16="http://schemas.microsoft.com/office/drawing/2014/main" xmlns="" id="{6396F98B-A6CC-2D8A-518C-7B2F85CDD664}"/>
                </a:ext>
              </a:extLst>
            </p:cNvPr>
            <p:cNvSpPr>
              <a:spLocks noChangeArrowheads="1"/>
            </p:cNvSpPr>
            <p:nvPr/>
          </p:nvSpPr>
          <p:spPr bwMode="auto">
            <a:xfrm>
              <a:off x="544" y="1226"/>
              <a:ext cx="33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a:solidFill>
                    <a:schemeClr val="tx1"/>
                  </a:solidFill>
                  <a:latin typeface="+mn-ea"/>
                  <a:ea typeface="+mn-ea"/>
                </a:rPr>
                <a:t>增大时放大器的工作状态如何变化？为什么？</a:t>
              </a:r>
            </a:p>
          </p:txBody>
        </p:sp>
        <p:graphicFrame>
          <p:nvGraphicFramePr>
            <p:cNvPr id="26" name="对象 98335">
              <a:extLst>
                <a:ext uri="{FF2B5EF4-FFF2-40B4-BE49-F238E27FC236}">
                  <a16:creationId xmlns:a16="http://schemas.microsoft.com/office/drawing/2014/main" xmlns="" id="{E7C005BF-89D7-4511-28BE-DEE9257A75C3}"/>
                </a:ext>
              </a:extLst>
            </p:cNvPr>
            <p:cNvGraphicFramePr>
              <a:graphicFrameLocks/>
            </p:cNvGraphicFramePr>
            <p:nvPr/>
          </p:nvGraphicFramePr>
          <p:xfrm>
            <a:off x="868" y="1585"/>
            <a:ext cx="197" cy="181"/>
          </p:xfrm>
          <a:graphic>
            <a:graphicData uri="http://schemas.openxmlformats.org/presentationml/2006/ole">
              <mc:AlternateContent xmlns:mc="http://schemas.openxmlformats.org/markup-compatibility/2006">
                <mc:Choice xmlns:v="urn:schemas-microsoft-com:vml" Requires="v">
                  <p:oleObj spid="_x0000_s115396" r:id="rId12" imgW="241091" imgH="215713" progId="Equation.3">
                    <p:embed/>
                  </p:oleObj>
                </mc:Choice>
                <mc:Fallback>
                  <p:oleObj r:id="rId12" imgW="241091" imgH="215713" progId="Equation.3">
                    <p:embed/>
                    <p:pic>
                      <p:nvPicPr>
                        <p:cNvPr id="0" name=""/>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68" y="1585"/>
                          <a:ext cx="197"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7" name="对象 98334">
              <a:extLst>
                <a:ext uri="{FF2B5EF4-FFF2-40B4-BE49-F238E27FC236}">
                  <a16:creationId xmlns:a16="http://schemas.microsoft.com/office/drawing/2014/main" xmlns="" id="{BF2D0A23-B2C2-3AE8-10E7-60064E05EA8E}"/>
                </a:ext>
              </a:extLst>
            </p:cNvPr>
            <p:cNvGraphicFramePr>
              <a:graphicFrameLocks/>
            </p:cNvGraphicFramePr>
            <p:nvPr/>
          </p:nvGraphicFramePr>
          <p:xfrm>
            <a:off x="827" y="1807"/>
            <a:ext cx="204" cy="213"/>
          </p:xfrm>
          <a:graphic>
            <a:graphicData uri="http://schemas.openxmlformats.org/presentationml/2006/ole">
              <mc:AlternateContent xmlns:mc="http://schemas.openxmlformats.org/markup-compatibility/2006">
                <mc:Choice xmlns:v="urn:schemas-microsoft-com:vml" Requires="v">
                  <p:oleObj spid="_x0000_s115397" r:id="rId13" imgW="215806" imgH="228501" progId="Equation.3">
                    <p:embed/>
                  </p:oleObj>
                </mc:Choice>
                <mc:Fallback>
                  <p:oleObj r:id="rId13" imgW="215806" imgH="228501" progId="Equation.3">
                    <p:embed/>
                    <p:pic>
                      <p:nvPicPr>
                        <p:cNvPr id="0" name=""/>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7" y="1807"/>
                          <a:ext cx="204"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8" name="对象 98333">
              <a:extLst>
                <a:ext uri="{FF2B5EF4-FFF2-40B4-BE49-F238E27FC236}">
                  <a16:creationId xmlns:a16="http://schemas.microsoft.com/office/drawing/2014/main" xmlns="" id="{F3D0D563-5A4E-CFFB-81B3-F00EA119624A}"/>
                </a:ext>
              </a:extLst>
            </p:cNvPr>
            <p:cNvGraphicFramePr>
              <a:graphicFrameLocks/>
            </p:cNvGraphicFramePr>
            <p:nvPr/>
          </p:nvGraphicFramePr>
          <p:xfrm>
            <a:off x="1184" y="1841"/>
            <a:ext cx="183" cy="168"/>
          </p:xfrm>
          <a:graphic>
            <a:graphicData uri="http://schemas.openxmlformats.org/presentationml/2006/ole">
              <mc:AlternateContent xmlns:mc="http://schemas.openxmlformats.org/markup-compatibility/2006">
                <mc:Choice xmlns:v="urn:schemas-microsoft-com:vml" Requires="v">
                  <p:oleObj spid="_x0000_s115398" r:id="rId14" imgW="241091" imgH="215713" progId="Equation.3">
                    <p:embed/>
                  </p:oleObj>
                </mc:Choice>
                <mc:Fallback>
                  <p:oleObj r:id="rId14" imgW="241091" imgH="215713" progId="Equation.3">
                    <p:embed/>
                    <p:pic>
                      <p:nvPicPr>
                        <p:cNvPr id="0" name=""/>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84" y="1841"/>
                          <a:ext cx="183" cy="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9" name="对象 98332">
              <a:extLst>
                <a:ext uri="{FF2B5EF4-FFF2-40B4-BE49-F238E27FC236}">
                  <a16:creationId xmlns:a16="http://schemas.microsoft.com/office/drawing/2014/main" xmlns="" id="{2E9FA428-69A7-9CA4-DE67-F4D1132F7767}"/>
                </a:ext>
              </a:extLst>
            </p:cNvPr>
            <p:cNvGraphicFramePr>
              <a:graphicFrameLocks/>
            </p:cNvGraphicFramePr>
            <p:nvPr/>
          </p:nvGraphicFramePr>
          <p:xfrm>
            <a:off x="2300" y="1871"/>
            <a:ext cx="171" cy="164"/>
          </p:xfrm>
          <a:graphic>
            <a:graphicData uri="http://schemas.openxmlformats.org/presentationml/2006/ole">
              <mc:AlternateContent xmlns:mc="http://schemas.openxmlformats.org/markup-compatibility/2006">
                <mc:Choice xmlns:v="urn:schemas-microsoft-com:vml" Requires="v">
                  <p:oleObj spid="_x0000_s115399" r:id="rId15" imgW="228501" imgH="215806" progId="Equation.3">
                    <p:embed/>
                  </p:oleObj>
                </mc:Choice>
                <mc:Fallback>
                  <p:oleObj r:id="rId15" imgW="228501" imgH="215806" progId="Equation.3">
                    <p:embed/>
                    <p:pic>
                      <p:nvPicPr>
                        <p:cNvPr id="0" name=""/>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300" y="1871"/>
                          <a:ext cx="171"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0" name="矩形 98337">
              <a:extLst>
                <a:ext uri="{FF2B5EF4-FFF2-40B4-BE49-F238E27FC236}">
                  <a16:creationId xmlns:a16="http://schemas.microsoft.com/office/drawing/2014/main" xmlns="" id="{AAD3312F-2EE3-89C0-A785-8D3BACA08E0B}"/>
                </a:ext>
              </a:extLst>
            </p:cNvPr>
            <p:cNvSpPr>
              <a:spLocks noChangeArrowheads="1"/>
            </p:cNvSpPr>
            <p:nvPr/>
          </p:nvSpPr>
          <p:spPr bwMode="auto">
            <a:xfrm>
              <a:off x="1048" y="1554"/>
              <a:ext cx="285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r>
                <a:rPr lang="zh-CN" altLang="en-US" sz="2000" dirty="0">
                  <a:solidFill>
                    <a:schemeClr val="tx1"/>
                  </a:solidFill>
                  <a:latin typeface="+mn-ea"/>
                  <a:ea typeface="+mn-ea"/>
                </a:rPr>
                <a:t>后，为了维护放大器仍工作于临界状态</a:t>
              </a:r>
            </a:p>
          </p:txBody>
        </p:sp>
        <p:sp>
          <p:nvSpPr>
            <p:cNvPr id="31" name="矩形 98338">
              <a:extLst>
                <a:ext uri="{FF2B5EF4-FFF2-40B4-BE49-F238E27FC236}">
                  <a16:creationId xmlns:a16="http://schemas.microsoft.com/office/drawing/2014/main" xmlns="" id="{BC7B5A90-64BC-E213-AE2A-0E2519ADBE22}"/>
                </a:ext>
              </a:extLst>
            </p:cNvPr>
            <p:cNvSpPr>
              <a:spLocks noChangeArrowheads="1"/>
            </p:cNvSpPr>
            <p:nvPr/>
          </p:nvSpPr>
          <p:spPr bwMode="auto">
            <a:xfrm>
              <a:off x="1026" y="1798"/>
              <a:ext cx="279"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r>
                <a:rPr lang="en-US" altLang="zh-CN" sz="2000">
                  <a:solidFill>
                    <a:schemeClr val="tx1"/>
                  </a:solidFill>
                  <a:latin typeface="+mn-ea"/>
                  <a:ea typeface="+mn-ea"/>
                </a:rPr>
                <a:t>﹑</a:t>
              </a:r>
            </a:p>
          </p:txBody>
        </p:sp>
        <p:sp>
          <p:nvSpPr>
            <p:cNvPr id="32" name="矩形 98339">
              <a:extLst>
                <a:ext uri="{FF2B5EF4-FFF2-40B4-BE49-F238E27FC236}">
                  <a16:creationId xmlns:a16="http://schemas.microsoft.com/office/drawing/2014/main" xmlns="" id="{1A0B3792-1C37-3284-BCBE-E086A47EBDAF}"/>
                </a:ext>
              </a:extLst>
            </p:cNvPr>
            <p:cNvSpPr>
              <a:spLocks noChangeArrowheads="1"/>
            </p:cNvSpPr>
            <p:nvPr/>
          </p:nvSpPr>
          <p:spPr bwMode="auto">
            <a:xfrm>
              <a:off x="1451" y="1799"/>
              <a:ext cx="92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r>
                <a:rPr lang="zh-CN" altLang="en-US" sz="2000">
                  <a:solidFill>
                    <a:schemeClr val="tx1"/>
                  </a:solidFill>
                  <a:latin typeface="+mn-ea"/>
                  <a:ea typeface="+mn-ea"/>
                </a:rPr>
                <a:t>仍不变），</a:t>
              </a:r>
            </a:p>
          </p:txBody>
        </p:sp>
        <p:sp>
          <p:nvSpPr>
            <p:cNvPr id="33" name="矩形 98340">
              <a:extLst>
                <a:ext uri="{FF2B5EF4-FFF2-40B4-BE49-F238E27FC236}">
                  <a16:creationId xmlns:a16="http://schemas.microsoft.com/office/drawing/2014/main" xmlns="" id="{EC88CEC9-2421-D9F3-9864-6CA12F732C62}"/>
                </a:ext>
              </a:extLst>
            </p:cNvPr>
            <p:cNvSpPr>
              <a:spLocks noChangeArrowheads="1"/>
            </p:cNvSpPr>
            <p:nvPr/>
          </p:nvSpPr>
          <p:spPr bwMode="auto">
            <a:xfrm>
              <a:off x="2507" y="1814"/>
              <a:ext cx="172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tabLst>
                  <a:tab pos="457200" algn="l"/>
                </a:tabLst>
                <a:defRPr sz="2400" b="1">
                  <a:solidFill>
                    <a:srgbClr val="FFFF00"/>
                  </a:solidFill>
                  <a:latin typeface="Times New Roman" panose="02020603050405020304" pitchFamily="18" charset="0"/>
                  <a:ea typeface="宋体" panose="02010600030101010101" pitchFamily="2" charset="-122"/>
                </a:defRPr>
              </a:lvl1pPr>
              <a:lvl2pPr>
                <a:tabLst>
                  <a:tab pos="457200" algn="l"/>
                </a:tabLst>
                <a:defRPr sz="2400" b="1">
                  <a:solidFill>
                    <a:srgbClr val="FFFF00"/>
                  </a:solidFill>
                  <a:latin typeface="Times New Roman" panose="02020603050405020304" pitchFamily="18" charset="0"/>
                  <a:ea typeface="宋体" panose="02010600030101010101" pitchFamily="2" charset="-122"/>
                </a:defRPr>
              </a:lvl2pPr>
              <a:lvl3pPr>
                <a:tabLst>
                  <a:tab pos="457200" algn="l"/>
                </a:tabLst>
                <a:defRPr sz="2400" b="1">
                  <a:solidFill>
                    <a:srgbClr val="FFFF00"/>
                  </a:solidFill>
                  <a:latin typeface="Times New Roman" panose="02020603050405020304" pitchFamily="18" charset="0"/>
                  <a:ea typeface="宋体" panose="02010600030101010101" pitchFamily="2" charset="-122"/>
                </a:defRPr>
              </a:lvl3pPr>
              <a:lvl4pPr>
                <a:tabLst>
                  <a:tab pos="457200" algn="l"/>
                </a:tabLst>
                <a:defRPr sz="2400" b="1">
                  <a:solidFill>
                    <a:srgbClr val="FFFF00"/>
                  </a:solidFill>
                  <a:latin typeface="Times New Roman" panose="02020603050405020304" pitchFamily="18" charset="0"/>
                  <a:ea typeface="宋体" panose="02010600030101010101" pitchFamily="2" charset="-122"/>
                </a:defRPr>
              </a:lvl4pPr>
              <a:lvl5pPr>
                <a:tabLst>
                  <a:tab pos="457200" algn="l"/>
                </a:tabLst>
                <a:defRPr sz="2400" b="1">
                  <a:solidFill>
                    <a:srgbClr val="FFFF00"/>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tabLst>
                  <a:tab pos="457200" algn="l"/>
                </a:tabLst>
                <a:defRPr sz="2400" b="1">
                  <a:solidFill>
                    <a:srgbClr val="FFFF00"/>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tabLst>
                  <a:tab pos="457200" algn="l"/>
                </a:tabLst>
                <a:defRPr sz="2400" b="1">
                  <a:solidFill>
                    <a:srgbClr val="FFFF00"/>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tabLst>
                  <a:tab pos="457200" algn="l"/>
                </a:tabLst>
                <a:defRPr sz="2400" b="1">
                  <a:solidFill>
                    <a:srgbClr val="FFFF00"/>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tabLst>
                  <a:tab pos="457200" algn="l"/>
                </a:tabLst>
                <a:defRPr sz="2400" b="1">
                  <a:solidFill>
                    <a:srgbClr val="FFFF00"/>
                  </a:solidFill>
                  <a:latin typeface="Times New Roman" panose="02020603050405020304" pitchFamily="18" charset="0"/>
                  <a:ea typeface="宋体" panose="02010600030101010101" pitchFamily="2" charset="-122"/>
                </a:defRPr>
              </a:lvl9pPr>
            </a:lstStyle>
            <a:p>
              <a:pPr eaLnBrk="0" hangingPunct="0"/>
              <a:r>
                <a:rPr lang="zh-CN" altLang="en-US" sz="2000" b="0" dirty="0">
                  <a:solidFill>
                    <a:schemeClr val="tx1"/>
                  </a:solidFill>
                  <a:latin typeface="+mn-ea"/>
                  <a:ea typeface="+mn-ea"/>
                </a:rPr>
                <a:t>应如何变化？为什么？</a:t>
              </a:r>
            </a:p>
          </p:txBody>
        </p:sp>
        <p:sp>
          <p:nvSpPr>
            <p:cNvPr id="34" name="矩形 98342">
              <a:extLst>
                <a:ext uri="{FF2B5EF4-FFF2-40B4-BE49-F238E27FC236}">
                  <a16:creationId xmlns:a16="http://schemas.microsoft.com/office/drawing/2014/main" xmlns="" id="{1F2BDD8F-7492-86F0-D8F1-B7C305D16169}"/>
                </a:ext>
              </a:extLst>
            </p:cNvPr>
            <p:cNvSpPr>
              <a:spLocks noChangeArrowheads="1"/>
            </p:cNvSpPr>
            <p:nvPr/>
          </p:nvSpPr>
          <p:spPr bwMode="auto">
            <a:xfrm>
              <a:off x="152" y="1549"/>
              <a:ext cx="849"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a:solidFill>
                    <a:schemeClr val="tx1"/>
                  </a:solidFill>
                  <a:latin typeface="+mn-ea"/>
                  <a:ea typeface="+mn-ea"/>
                </a:rPr>
                <a:t>2. </a:t>
              </a:r>
              <a:r>
                <a:rPr lang="zh-CN" altLang="en-US" sz="2000">
                  <a:solidFill>
                    <a:schemeClr val="tx1"/>
                  </a:solidFill>
                  <a:latin typeface="+mn-ea"/>
                  <a:ea typeface="+mn-ea"/>
                </a:rPr>
                <a:t>在增大</a:t>
              </a:r>
            </a:p>
          </p:txBody>
        </p:sp>
        <p:sp>
          <p:nvSpPr>
            <p:cNvPr id="35" name="矩形 98343">
              <a:extLst>
                <a:ext uri="{FF2B5EF4-FFF2-40B4-BE49-F238E27FC236}">
                  <a16:creationId xmlns:a16="http://schemas.microsoft.com/office/drawing/2014/main" xmlns="" id="{D947AC5A-AF76-C2D8-653C-7E01116063DD}"/>
                </a:ext>
              </a:extLst>
            </p:cNvPr>
            <p:cNvSpPr>
              <a:spLocks noChangeArrowheads="1"/>
            </p:cNvSpPr>
            <p:nvPr/>
          </p:nvSpPr>
          <p:spPr bwMode="auto">
            <a:xfrm>
              <a:off x="235" y="1759"/>
              <a:ext cx="59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a:solidFill>
                    <a:schemeClr val="tx1"/>
                  </a:solidFill>
                  <a:latin typeface="+mn-ea"/>
                  <a:ea typeface="+mn-ea"/>
                </a:rPr>
                <a:t>（此时</a:t>
              </a:r>
            </a:p>
          </p:txBody>
        </p:sp>
        <p:graphicFrame>
          <p:nvGraphicFramePr>
            <p:cNvPr id="36" name="对象 98355">
              <a:extLst>
                <a:ext uri="{FF2B5EF4-FFF2-40B4-BE49-F238E27FC236}">
                  <a16:creationId xmlns:a16="http://schemas.microsoft.com/office/drawing/2014/main" xmlns="" id="{8E29112F-6771-0524-DB14-8478FE5B22E9}"/>
                </a:ext>
              </a:extLst>
            </p:cNvPr>
            <p:cNvGraphicFramePr>
              <a:graphicFrameLocks/>
            </p:cNvGraphicFramePr>
            <p:nvPr/>
          </p:nvGraphicFramePr>
          <p:xfrm>
            <a:off x="133" y="2419"/>
            <a:ext cx="780" cy="210"/>
          </p:xfrm>
          <a:graphic>
            <a:graphicData uri="http://schemas.openxmlformats.org/presentationml/2006/ole">
              <mc:AlternateContent xmlns:mc="http://schemas.openxmlformats.org/markup-compatibility/2006">
                <mc:Choice xmlns:v="urn:schemas-microsoft-com:vml" Requires="v">
                  <p:oleObj spid="_x0000_s115400" r:id="rId16" imgW="850900" imgH="228600" progId="Equation.3">
                    <p:embed/>
                  </p:oleObj>
                </mc:Choice>
                <mc:Fallback>
                  <p:oleObj r:id="rId16" imgW="850900" imgH="228600" progId="Equation.3">
                    <p:embed/>
                    <p:pic>
                      <p:nvPicPr>
                        <p:cNvPr id="0" name=""/>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33" y="2419"/>
                          <a:ext cx="780"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7" name="对象 98354">
              <a:extLst>
                <a:ext uri="{FF2B5EF4-FFF2-40B4-BE49-F238E27FC236}">
                  <a16:creationId xmlns:a16="http://schemas.microsoft.com/office/drawing/2014/main" xmlns="" id="{CAD689D4-FC93-608D-2B1E-4C7E07626DA8}"/>
                </a:ext>
              </a:extLst>
            </p:cNvPr>
            <p:cNvGraphicFramePr>
              <a:graphicFrameLocks/>
            </p:cNvGraphicFramePr>
            <p:nvPr/>
          </p:nvGraphicFramePr>
          <p:xfrm>
            <a:off x="2047" y="2419"/>
            <a:ext cx="494" cy="205"/>
          </p:xfrm>
          <a:graphic>
            <a:graphicData uri="http://schemas.openxmlformats.org/presentationml/2006/ole">
              <mc:AlternateContent xmlns:mc="http://schemas.openxmlformats.org/markup-compatibility/2006">
                <mc:Choice xmlns:v="urn:schemas-microsoft-com:vml" Requires="v">
                  <p:oleObj spid="_x0000_s115401" r:id="rId18" imgW="622030" imgH="253890" progId="Equation.3">
                    <p:embed/>
                  </p:oleObj>
                </mc:Choice>
                <mc:Fallback>
                  <p:oleObj r:id="rId18" imgW="622030" imgH="253890" progId="Equation.3">
                    <p:embed/>
                    <p:pic>
                      <p:nvPicPr>
                        <p:cNvPr id="0" name=""/>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047" y="2419"/>
                          <a:ext cx="494"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8" name="对象 98353">
              <a:extLst>
                <a:ext uri="{FF2B5EF4-FFF2-40B4-BE49-F238E27FC236}">
                  <a16:creationId xmlns:a16="http://schemas.microsoft.com/office/drawing/2014/main" xmlns="" id="{1C8F1380-02BB-8A3F-D3A7-4A0EF5A3C9D7}"/>
                </a:ext>
              </a:extLst>
            </p:cNvPr>
            <p:cNvGraphicFramePr>
              <a:graphicFrameLocks/>
            </p:cNvGraphicFramePr>
            <p:nvPr/>
          </p:nvGraphicFramePr>
          <p:xfrm>
            <a:off x="1107" y="2429"/>
            <a:ext cx="606" cy="183"/>
          </p:xfrm>
          <a:graphic>
            <a:graphicData uri="http://schemas.openxmlformats.org/presentationml/2006/ole">
              <mc:AlternateContent xmlns:mc="http://schemas.openxmlformats.org/markup-compatibility/2006">
                <mc:Choice xmlns:v="urn:schemas-microsoft-com:vml" Requires="v">
                  <p:oleObj spid="_x0000_s115402" r:id="rId20" imgW="723586" imgH="215806" progId="Equation.3">
                    <p:embed/>
                  </p:oleObj>
                </mc:Choice>
                <mc:Fallback>
                  <p:oleObj r:id="rId20" imgW="723586" imgH="215806" progId="Equation.3">
                    <p:embed/>
                    <p:pic>
                      <p:nvPicPr>
                        <p:cNvPr id="0" name=""/>
                        <p:cNvPicPr>
                          <a:picLocks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107" y="2429"/>
                          <a:ext cx="606"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9" name="对象 98352">
              <a:extLst>
                <a:ext uri="{FF2B5EF4-FFF2-40B4-BE49-F238E27FC236}">
                  <a16:creationId xmlns:a16="http://schemas.microsoft.com/office/drawing/2014/main" xmlns="" id="{05FFEE45-692C-3E97-94DA-68C8FF8C9922}"/>
                </a:ext>
              </a:extLst>
            </p:cNvPr>
            <p:cNvGraphicFramePr>
              <a:graphicFrameLocks/>
            </p:cNvGraphicFramePr>
            <p:nvPr/>
          </p:nvGraphicFramePr>
          <p:xfrm>
            <a:off x="2816" y="2415"/>
            <a:ext cx="446" cy="196"/>
          </p:xfrm>
          <a:graphic>
            <a:graphicData uri="http://schemas.openxmlformats.org/presentationml/2006/ole">
              <mc:AlternateContent xmlns:mc="http://schemas.openxmlformats.org/markup-compatibility/2006">
                <mc:Choice xmlns:v="urn:schemas-microsoft-com:vml" Requires="v">
                  <p:oleObj spid="_x0000_s115403" r:id="rId22" imgW="545863" imgH="241195" progId="Equation.3">
                    <p:embed/>
                  </p:oleObj>
                </mc:Choice>
                <mc:Fallback>
                  <p:oleObj r:id="rId22" imgW="545863" imgH="241195" progId="Equation.3">
                    <p:embed/>
                    <p:pic>
                      <p:nvPicPr>
                        <p:cNvPr id="0" name=""/>
                        <p:cNvPicPr>
                          <a:picLocks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2816" y="2415"/>
                          <a:ext cx="446"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0" name="对象 98351">
              <a:extLst>
                <a:ext uri="{FF2B5EF4-FFF2-40B4-BE49-F238E27FC236}">
                  <a16:creationId xmlns:a16="http://schemas.microsoft.com/office/drawing/2014/main" xmlns="" id="{9A15994C-FA05-531E-0011-62200296D008}"/>
                </a:ext>
              </a:extLst>
            </p:cNvPr>
            <p:cNvGraphicFramePr>
              <a:graphicFrameLocks/>
            </p:cNvGraphicFramePr>
            <p:nvPr/>
          </p:nvGraphicFramePr>
          <p:xfrm>
            <a:off x="3472" y="2429"/>
            <a:ext cx="554" cy="196"/>
          </p:xfrm>
          <a:graphic>
            <a:graphicData uri="http://schemas.openxmlformats.org/presentationml/2006/ole">
              <mc:AlternateContent xmlns:mc="http://schemas.openxmlformats.org/markup-compatibility/2006">
                <mc:Choice xmlns:v="urn:schemas-microsoft-com:vml" Requires="v">
                  <p:oleObj spid="_x0000_s115404" r:id="rId24" imgW="647700" imgH="228600" progId="Equation.3">
                    <p:embed/>
                  </p:oleObj>
                </mc:Choice>
                <mc:Fallback>
                  <p:oleObj r:id="rId24" imgW="647700" imgH="228600" progId="Equation.3">
                    <p:embed/>
                    <p:pic>
                      <p:nvPicPr>
                        <p:cNvPr id="0" name=""/>
                        <p:cNvPicPr>
                          <a:picLocks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3472" y="2429"/>
                          <a:ext cx="554"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1" name="对象 98350">
              <a:extLst>
                <a:ext uri="{FF2B5EF4-FFF2-40B4-BE49-F238E27FC236}">
                  <a16:creationId xmlns:a16="http://schemas.microsoft.com/office/drawing/2014/main" xmlns="" id="{50850968-BCF0-AE08-E903-37EF1F169971}"/>
                </a:ext>
              </a:extLst>
            </p:cNvPr>
            <p:cNvGraphicFramePr>
              <a:graphicFrameLocks/>
            </p:cNvGraphicFramePr>
            <p:nvPr/>
          </p:nvGraphicFramePr>
          <p:xfrm>
            <a:off x="152" y="2688"/>
            <a:ext cx="470" cy="194"/>
          </p:xfrm>
          <a:graphic>
            <a:graphicData uri="http://schemas.openxmlformats.org/presentationml/2006/ole">
              <mc:AlternateContent xmlns:mc="http://schemas.openxmlformats.org/markup-compatibility/2006">
                <mc:Choice xmlns:v="urn:schemas-microsoft-com:vml" Requires="v">
                  <p:oleObj spid="_x0000_s115405" r:id="rId26" imgW="482391" imgH="203112" progId="Equation.3">
                    <p:embed/>
                  </p:oleObj>
                </mc:Choice>
                <mc:Fallback>
                  <p:oleObj r:id="rId26" imgW="482391" imgH="203112" progId="Equation.3">
                    <p:embed/>
                    <p:pic>
                      <p:nvPicPr>
                        <p:cNvPr id="0" name=""/>
                        <p:cNvPicPr>
                          <a:picLocks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152" y="2688"/>
                          <a:ext cx="470"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2" name="对象 98349">
              <a:extLst>
                <a:ext uri="{FF2B5EF4-FFF2-40B4-BE49-F238E27FC236}">
                  <a16:creationId xmlns:a16="http://schemas.microsoft.com/office/drawing/2014/main" xmlns="" id="{F33E72DB-570C-CE0A-39F4-CCEC37CB87CC}"/>
                </a:ext>
              </a:extLst>
            </p:cNvPr>
            <p:cNvGraphicFramePr>
              <a:graphicFrameLocks/>
            </p:cNvGraphicFramePr>
            <p:nvPr/>
          </p:nvGraphicFramePr>
          <p:xfrm>
            <a:off x="1523" y="2686"/>
            <a:ext cx="513" cy="195"/>
          </p:xfrm>
          <a:graphic>
            <a:graphicData uri="http://schemas.openxmlformats.org/presentationml/2006/ole">
              <mc:AlternateContent xmlns:mc="http://schemas.openxmlformats.org/markup-compatibility/2006">
                <mc:Choice xmlns:v="urn:schemas-microsoft-com:vml" Requires="v">
                  <p:oleObj spid="_x0000_s115406" r:id="rId28" imgW="596900" imgH="228600" progId="Equation.3">
                    <p:embed/>
                  </p:oleObj>
                </mc:Choice>
                <mc:Fallback>
                  <p:oleObj r:id="rId28" imgW="596900" imgH="228600" progId="Equation.3">
                    <p:embed/>
                    <p:pic>
                      <p:nvPicPr>
                        <p:cNvPr id="0" name=""/>
                        <p:cNvPicPr>
                          <a:picLocks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1523" y="2686"/>
                          <a:ext cx="513"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3" name="对象 98348">
              <a:extLst>
                <a:ext uri="{FF2B5EF4-FFF2-40B4-BE49-F238E27FC236}">
                  <a16:creationId xmlns:a16="http://schemas.microsoft.com/office/drawing/2014/main" xmlns="" id="{EA24178F-4223-2FC2-F79F-B6FB37B1165D}"/>
                </a:ext>
              </a:extLst>
            </p:cNvPr>
            <p:cNvGraphicFramePr>
              <a:graphicFrameLocks/>
            </p:cNvGraphicFramePr>
            <p:nvPr/>
          </p:nvGraphicFramePr>
          <p:xfrm>
            <a:off x="2268" y="2686"/>
            <a:ext cx="477" cy="196"/>
          </p:xfrm>
          <a:graphic>
            <a:graphicData uri="http://schemas.openxmlformats.org/presentationml/2006/ole">
              <mc:AlternateContent xmlns:mc="http://schemas.openxmlformats.org/markup-compatibility/2006">
                <mc:Choice xmlns:v="urn:schemas-microsoft-com:vml" Requires="v">
                  <p:oleObj spid="_x0000_s115407" r:id="rId30" imgW="532937" imgH="215713" progId="Equation.3">
                    <p:embed/>
                  </p:oleObj>
                </mc:Choice>
                <mc:Fallback>
                  <p:oleObj r:id="rId30" imgW="532937" imgH="215713" progId="Equation.3">
                    <p:embed/>
                    <p:pic>
                      <p:nvPicPr>
                        <p:cNvPr id="0" name=""/>
                        <p:cNvPicPr>
                          <a:picLocks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2268" y="2686"/>
                          <a:ext cx="477"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4" name="矩形 98356">
              <a:extLst>
                <a:ext uri="{FF2B5EF4-FFF2-40B4-BE49-F238E27FC236}">
                  <a16:creationId xmlns:a16="http://schemas.microsoft.com/office/drawing/2014/main" xmlns="" id="{E3257451-076D-0734-6850-C948BB93A2EE}"/>
                </a:ext>
              </a:extLst>
            </p:cNvPr>
            <p:cNvSpPr>
              <a:spLocks noChangeArrowheads="1"/>
            </p:cNvSpPr>
            <p:nvPr/>
          </p:nvSpPr>
          <p:spPr bwMode="auto">
            <a:xfrm>
              <a:off x="47" y="2119"/>
              <a:ext cx="543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r>
                <a:rPr lang="en-US" altLang="zh-CN" sz="2000" dirty="0">
                  <a:solidFill>
                    <a:schemeClr val="tx1"/>
                  </a:solidFill>
                  <a:latin typeface="+mn-ea"/>
                  <a:ea typeface="+mn-ea"/>
                </a:rPr>
                <a:t>3.</a:t>
              </a:r>
              <a:r>
                <a:rPr lang="zh-CN" altLang="en-US" sz="2000" dirty="0">
                  <a:solidFill>
                    <a:schemeClr val="tx1"/>
                  </a:solidFill>
                  <a:latin typeface="+mn-ea"/>
                  <a:ea typeface="+mn-ea"/>
                </a:rPr>
                <a:t>若电路均已调谐好，工作在临界工作状态，已知晶体管的转移特性的斜率</a:t>
              </a:r>
            </a:p>
          </p:txBody>
        </p:sp>
        <p:sp>
          <p:nvSpPr>
            <p:cNvPr id="45" name="矩形 98357">
              <a:extLst>
                <a:ext uri="{FF2B5EF4-FFF2-40B4-BE49-F238E27FC236}">
                  <a16:creationId xmlns:a16="http://schemas.microsoft.com/office/drawing/2014/main" xmlns="" id="{C296FD02-AD2D-4F23-B03A-AD710E711ED3}"/>
                </a:ext>
              </a:extLst>
            </p:cNvPr>
            <p:cNvSpPr>
              <a:spLocks noChangeArrowheads="1"/>
            </p:cNvSpPr>
            <p:nvPr/>
          </p:nvSpPr>
          <p:spPr bwMode="auto">
            <a:xfrm>
              <a:off x="956" y="2389"/>
              <a:ext cx="27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r>
                <a:rPr lang="zh-CN" altLang="en-US" sz="2000">
                  <a:solidFill>
                    <a:schemeClr val="tx1"/>
                  </a:solidFill>
                  <a:latin typeface="+mn-ea"/>
                  <a:ea typeface="+mn-ea"/>
                </a:rPr>
                <a:t>，</a:t>
              </a:r>
            </a:p>
          </p:txBody>
        </p:sp>
        <p:sp>
          <p:nvSpPr>
            <p:cNvPr id="46" name="矩形 98358">
              <a:extLst>
                <a:ext uri="{FF2B5EF4-FFF2-40B4-BE49-F238E27FC236}">
                  <a16:creationId xmlns:a16="http://schemas.microsoft.com/office/drawing/2014/main" xmlns="" id="{FE0908FC-441D-7B1C-B763-437FAE317099}"/>
                </a:ext>
              </a:extLst>
            </p:cNvPr>
            <p:cNvSpPr>
              <a:spLocks noChangeArrowheads="1"/>
            </p:cNvSpPr>
            <p:nvPr/>
          </p:nvSpPr>
          <p:spPr bwMode="auto">
            <a:xfrm>
              <a:off x="1802" y="2389"/>
              <a:ext cx="27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r>
                <a:rPr lang="zh-CN" altLang="en-US" sz="2000">
                  <a:solidFill>
                    <a:schemeClr val="tx1"/>
                  </a:solidFill>
                  <a:latin typeface="+mn-ea"/>
                  <a:ea typeface="+mn-ea"/>
                </a:rPr>
                <a:t>，</a:t>
              </a:r>
            </a:p>
          </p:txBody>
        </p:sp>
        <p:sp>
          <p:nvSpPr>
            <p:cNvPr id="47" name="矩形 98359">
              <a:extLst>
                <a:ext uri="{FF2B5EF4-FFF2-40B4-BE49-F238E27FC236}">
                  <a16:creationId xmlns:a16="http://schemas.microsoft.com/office/drawing/2014/main" xmlns="" id="{CCEE49C6-D508-85BF-8449-69D93A270A28}"/>
                </a:ext>
              </a:extLst>
            </p:cNvPr>
            <p:cNvSpPr>
              <a:spLocks noChangeArrowheads="1"/>
            </p:cNvSpPr>
            <p:nvPr/>
          </p:nvSpPr>
          <p:spPr bwMode="auto">
            <a:xfrm>
              <a:off x="2588" y="2407"/>
              <a:ext cx="27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r>
                <a:rPr lang="zh-CN" altLang="en-US" sz="2000">
                  <a:solidFill>
                    <a:schemeClr val="tx1"/>
                  </a:solidFill>
                  <a:latin typeface="+mn-ea"/>
                  <a:ea typeface="+mn-ea"/>
                </a:rPr>
                <a:t>，</a:t>
              </a:r>
            </a:p>
          </p:txBody>
        </p:sp>
        <p:sp>
          <p:nvSpPr>
            <p:cNvPr id="48" name="矩形 98360">
              <a:extLst>
                <a:ext uri="{FF2B5EF4-FFF2-40B4-BE49-F238E27FC236}">
                  <a16:creationId xmlns:a16="http://schemas.microsoft.com/office/drawing/2014/main" xmlns="" id="{779EBA0A-2006-6777-9C2E-A9F0BE54DC10}"/>
                </a:ext>
              </a:extLst>
            </p:cNvPr>
            <p:cNvSpPr>
              <a:spLocks noChangeArrowheads="1"/>
            </p:cNvSpPr>
            <p:nvPr/>
          </p:nvSpPr>
          <p:spPr bwMode="auto">
            <a:xfrm>
              <a:off x="3262" y="2407"/>
              <a:ext cx="27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r>
                <a:rPr lang="zh-CN" altLang="en-US" sz="2000">
                  <a:solidFill>
                    <a:schemeClr val="tx1"/>
                  </a:solidFill>
                  <a:latin typeface="+mn-ea"/>
                  <a:ea typeface="+mn-ea"/>
                </a:rPr>
                <a:t>，</a:t>
              </a:r>
            </a:p>
          </p:txBody>
        </p:sp>
        <p:sp>
          <p:nvSpPr>
            <p:cNvPr id="49" name="矩形 98361">
              <a:extLst>
                <a:ext uri="{FF2B5EF4-FFF2-40B4-BE49-F238E27FC236}">
                  <a16:creationId xmlns:a16="http://schemas.microsoft.com/office/drawing/2014/main" xmlns="" id="{BA4C3E79-1F3D-7105-B6BF-A17E090A4ED9}"/>
                </a:ext>
              </a:extLst>
            </p:cNvPr>
            <p:cNvSpPr>
              <a:spLocks noChangeArrowheads="1"/>
            </p:cNvSpPr>
            <p:nvPr/>
          </p:nvSpPr>
          <p:spPr bwMode="auto">
            <a:xfrm>
              <a:off x="4026" y="2391"/>
              <a:ext cx="124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r>
                <a:rPr lang="zh-CN" altLang="en-US" sz="2000">
                  <a:solidFill>
                    <a:schemeClr val="tx1"/>
                  </a:solidFill>
                  <a:latin typeface="+mn-ea"/>
                  <a:ea typeface="+mn-ea"/>
                </a:rPr>
                <a:t>，电压利用系数</a:t>
              </a:r>
            </a:p>
          </p:txBody>
        </p:sp>
        <p:sp>
          <p:nvSpPr>
            <p:cNvPr id="50" name="矩形 98362">
              <a:extLst>
                <a:ext uri="{FF2B5EF4-FFF2-40B4-BE49-F238E27FC236}">
                  <a16:creationId xmlns:a16="http://schemas.microsoft.com/office/drawing/2014/main" xmlns="" id="{6B7E2BC9-51D8-89FF-14A5-8DA3D37BA8C3}"/>
                </a:ext>
              </a:extLst>
            </p:cNvPr>
            <p:cNvSpPr>
              <a:spLocks noChangeArrowheads="1"/>
            </p:cNvSpPr>
            <p:nvPr/>
          </p:nvSpPr>
          <p:spPr bwMode="auto">
            <a:xfrm>
              <a:off x="622" y="2659"/>
              <a:ext cx="92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r>
                <a:rPr lang="zh-CN" altLang="en-US" sz="2000">
                  <a:solidFill>
                    <a:schemeClr val="tx1"/>
                  </a:solidFill>
                  <a:latin typeface="+mn-ea"/>
                  <a:ea typeface="+mn-ea"/>
                </a:rPr>
                <a:t>，中介回路</a:t>
              </a:r>
            </a:p>
          </p:txBody>
        </p:sp>
        <p:sp>
          <p:nvSpPr>
            <p:cNvPr id="51" name="矩形 98363">
              <a:extLst>
                <a:ext uri="{FF2B5EF4-FFF2-40B4-BE49-F238E27FC236}">
                  <a16:creationId xmlns:a16="http://schemas.microsoft.com/office/drawing/2014/main" xmlns="" id="{CF800CFE-1B66-7D5C-0FB5-B2C227483E6D}"/>
                </a:ext>
              </a:extLst>
            </p:cNvPr>
            <p:cNvSpPr>
              <a:spLocks noChangeArrowheads="1"/>
            </p:cNvSpPr>
            <p:nvPr/>
          </p:nvSpPr>
          <p:spPr bwMode="auto">
            <a:xfrm>
              <a:off x="2074" y="2660"/>
              <a:ext cx="27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r>
                <a:rPr lang="zh-CN" altLang="en-US" sz="2000">
                  <a:solidFill>
                    <a:schemeClr val="tx1"/>
                  </a:solidFill>
                  <a:latin typeface="+mn-ea"/>
                  <a:ea typeface="+mn-ea"/>
                </a:rPr>
                <a:t>，</a:t>
              </a:r>
            </a:p>
          </p:txBody>
        </p:sp>
        <p:sp>
          <p:nvSpPr>
            <p:cNvPr id="52" name="矩形 98364">
              <a:extLst>
                <a:ext uri="{FF2B5EF4-FFF2-40B4-BE49-F238E27FC236}">
                  <a16:creationId xmlns:a16="http://schemas.microsoft.com/office/drawing/2014/main" xmlns="" id="{BD50C054-B302-7573-B306-9CEBD93F4849}"/>
                </a:ext>
              </a:extLst>
            </p:cNvPr>
            <p:cNvSpPr>
              <a:spLocks noChangeArrowheads="1"/>
            </p:cNvSpPr>
            <p:nvPr/>
          </p:nvSpPr>
          <p:spPr bwMode="auto">
            <a:xfrm>
              <a:off x="2745" y="2659"/>
              <a:ext cx="172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r>
                <a:rPr lang="zh-CN" altLang="en-US" sz="2000">
                  <a:solidFill>
                    <a:schemeClr val="tx1"/>
                  </a:solidFill>
                  <a:latin typeface="+mn-ea"/>
                  <a:ea typeface="+mn-ea"/>
                </a:rPr>
                <a:t>，求出集电极输出功率</a:t>
              </a:r>
            </a:p>
          </p:txBody>
        </p:sp>
        <p:graphicFrame>
          <p:nvGraphicFramePr>
            <p:cNvPr id="53" name="对象 98368">
              <a:extLst>
                <a:ext uri="{FF2B5EF4-FFF2-40B4-BE49-F238E27FC236}">
                  <a16:creationId xmlns:a16="http://schemas.microsoft.com/office/drawing/2014/main" xmlns="" id="{AA5A1109-9DBD-2F9D-2E9B-EE0902AF96FA}"/>
                </a:ext>
              </a:extLst>
            </p:cNvPr>
            <p:cNvGraphicFramePr>
              <a:graphicFrameLocks/>
            </p:cNvGraphicFramePr>
            <p:nvPr/>
          </p:nvGraphicFramePr>
          <p:xfrm>
            <a:off x="4471" y="2710"/>
            <a:ext cx="158" cy="199"/>
          </p:xfrm>
          <a:graphic>
            <a:graphicData uri="http://schemas.openxmlformats.org/presentationml/2006/ole">
              <mc:AlternateContent xmlns:mc="http://schemas.openxmlformats.org/markup-compatibility/2006">
                <mc:Choice xmlns:v="urn:schemas-microsoft-com:vml" Requires="v">
                  <p:oleObj spid="_x0000_s115408" r:id="rId32" imgW="177646" imgH="228402" progId="Equation.3">
                    <p:embed/>
                  </p:oleObj>
                </mc:Choice>
                <mc:Fallback>
                  <p:oleObj r:id="rId32" imgW="177646" imgH="228402" progId="Equation.3">
                    <p:embed/>
                    <p:pic>
                      <p:nvPicPr>
                        <p:cNvPr id="0" name=""/>
                        <p:cNvPicPr>
                          <a:picLocks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4471" y="2710"/>
                          <a:ext cx="158"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4" name="对象 98367">
              <a:extLst>
                <a:ext uri="{FF2B5EF4-FFF2-40B4-BE49-F238E27FC236}">
                  <a16:creationId xmlns:a16="http://schemas.microsoft.com/office/drawing/2014/main" xmlns="" id="{3BCF6A35-F13D-58CF-4BCD-BBE5872E1CD8}"/>
                </a:ext>
              </a:extLst>
            </p:cNvPr>
            <p:cNvGraphicFramePr>
              <a:graphicFrameLocks/>
            </p:cNvGraphicFramePr>
            <p:nvPr/>
          </p:nvGraphicFramePr>
          <p:xfrm>
            <a:off x="1026" y="2981"/>
            <a:ext cx="180" cy="207"/>
          </p:xfrm>
          <a:graphic>
            <a:graphicData uri="http://schemas.openxmlformats.org/presentationml/2006/ole">
              <mc:AlternateContent xmlns:mc="http://schemas.openxmlformats.org/markup-compatibility/2006">
                <mc:Choice xmlns:v="urn:schemas-microsoft-com:vml" Requires="v">
                  <p:oleObj spid="_x0000_s115409" r:id="rId34" imgW="190335" imgH="215713" progId="Equation.3">
                    <p:embed/>
                  </p:oleObj>
                </mc:Choice>
                <mc:Fallback>
                  <p:oleObj r:id="rId34" imgW="190335" imgH="215713" progId="Equation.3">
                    <p:embed/>
                    <p:pic>
                      <p:nvPicPr>
                        <p:cNvPr id="0" name=""/>
                        <p:cNvPicPr>
                          <a:picLocks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1026" y="2981"/>
                          <a:ext cx="180"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5" name="矩形 98370">
              <a:extLst>
                <a:ext uri="{FF2B5EF4-FFF2-40B4-BE49-F238E27FC236}">
                  <a16:creationId xmlns:a16="http://schemas.microsoft.com/office/drawing/2014/main" xmlns="" id="{DA2EBDEE-46D9-50A4-16B9-E19042162A5E}"/>
                </a:ext>
              </a:extLst>
            </p:cNvPr>
            <p:cNvSpPr>
              <a:spLocks noChangeArrowheads="1"/>
            </p:cNvSpPr>
            <p:nvPr/>
          </p:nvSpPr>
          <p:spPr bwMode="auto">
            <a:xfrm>
              <a:off x="127" y="2938"/>
              <a:ext cx="92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r>
                <a:rPr lang="zh-CN" altLang="en-US" sz="2000">
                  <a:solidFill>
                    <a:schemeClr val="tx1"/>
                  </a:solidFill>
                  <a:latin typeface="+mn-ea"/>
                  <a:ea typeface="+mn-ea"/>
                </a:rPr>
                <a:t>与天线功率</a:t>
              </a:r>
            </a:p>
          </p:txBody>
        </p:sp>
        <p:sp>
          <p:nvSpPr>
            <p:cNvPr id="56" name="矩形 98371">
              <a:extLst>
                <a:ext uri="{FF2B5EF4-FFF2-40B4-BE49-F238E27FC236}">
                  <a16:creationId xmlns:a16="http://schemas.microsoft.com/office/drawing/2014/main" xmlns="" id="{55AA025B-73DF-C1FC-1821-F3580B790E43}"/>
                </a:ext>
              </a:extLst>
            </p:cNvPr>
            <p:cNvSpPr>
              <a:spLocks noChangeArrowheads="1"/>
            </p:cNvSpPr>
            <p:nvPr/>
          </p:nvSpPr>
          <p:spPr bwMode="auto">
            <a:xfrm>
              <a:off x="1254" y="2951"/>
              <a:ext cx="36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r>
                <a:rPr lang="zh-CN" altLang="en-US" sz="2000">
                  <a:solidFill>
                    <a:schemeClr val="tx1"/>
                  </a:solidFill>
                  <a:latin typeface="+mn-ea"/>
                  <a:ea typeface="+mn-ea"/>
                </a:rPr>
                <a:t>。 </a:t>
              </a:r>
            </a:p>
          </p:txBody>
        </p:sp>
      </p:grpSp>
    </p:spTree>
    <p:extLst>
      <p:ext uri="{BB962C8B-B14F-4D97-AF65-F5344CB8AC3E}">
        <p14:creationId xmlns:p14="http://schemas.microsoft.com/office/powerpoint/2010/main" val="4147196368"/>
      </p:ext>
    </p:extLst>
  </p:cSld>
  <p:clrMapOvr>
    <a:masterClrMapping/>
  </p:clrMapOvr>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151</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12"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4.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谐振</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功率</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放大器</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grpSp>
        <p:nvGrpSpPr>
          <p:cNvPr id="5" name="组合 4">
            <a:extLst>
              <a:ext uri="{FF2B5EF4-FFF2-40B4-BE49-F238E27FC236}">
                <a16:creationId xmlns:a16="http://schemas.microsoft.com/office/drawing/2014/main" xmlns="" id="{F0F75323-6FF9-4043-1515-14EA185964AB}"/>
              </a:ext>
            </a:extLst>
          </p:cNvPr>
          <p:cNvGrpSpPr>
            <a:grpSpLocks/>
          </p:cNvGrpSpPr>
          <p:nvPr/>
        </p:nvGrpSpPr>
        <p:grpSpPr bwMode="auto">
          <a:xfrm>
            <a:off x="595281" y="1382862"/>
            <a:ext cx="5846763" cy="785813"/>
            <a:chOff x="197" y="981"/>
            <a:chExt cx="3683" cy="495"/>
          </a:xfrm>
        </p:grpSpPr>
        <p:graphicFrame>
          <p:nvGraphicFramePr>
            <p:cNvPr id="6" name="对象 119851">
              <a:extLst>
                <a:ext uri="{FF2B5EF4-FFF2-40B4-BE49-F238E27FC236}">
                  <a16:creationId xmlns:a16="http://schemas.microsoft.com/office/drawing/2014/main" xmlns="" id="{B042F697-A8D5-3F3E-4B08-74CD62025F13}"/>
                </a:ext>
              </a:extLst>
            </p:cNvPr>
            <p:cNvGraphicFramePr>
              <a:graphicFrameLocks/>
            </p:cNvGraphicFramePr>
            <p:nvPr/>
          </p:nvGraphicFramePr>
          <p:xfrm>
            <a:off x="622" y="1021"/>
            <a:ext cx="212" cy="221"/>
          </p:xfrm>
          <a:graphic>
            <a:graphicData uri="http://schemas.openxmlformats.org/presentationml/2006/ole">
              <mc:AlternateContent xmlns:mc="http://schemas.openxmlformats.org/markup-compatibility/2006">
                <mc:Choice xmlns:v="urn:schemas-microsoft-com:vml" Requires="v">
                  <p:oleObj spid="_x0000_s116143" r:id="rId3" imgW="215806" imgH="228501" progId="Equation.3">
                    <p:embed/>
                  </p:oleObj>
                </mc:Choice>
                <mc:Fallback>
                  <p:oleObj r:id="rId3" imgW="215806" imgH="228501" progId="Equation.3">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2" y="1021"/>
                          <a:ext cx="21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 name="对象 119852">
              <a:extLst>
                <a:ext uri="{FF2B5EF4-FFF2-40B4-BE49-F238E27FC236}">
                  <a16:creationId xmlns:a16="http://schemas.microsoft.com/office/drawing/2014/main" xmlns="" id="{CD6AD2FE-0B75-7626-FF6B-0115C14B23F5}"/>
                </a:ext>
              </a:extLst>
            </p:cNvPr>
            <p:cNvGraphicFramePr>
              <a:graphicFrameLocks/>
            </p:cNvGraphicFramePr>
            <p:nvPr/>
          </p:nvGraphicFramePr>
          <p:xfrm>
            <a:off x="913" y="1027"/>
            <a:ext cx="194" cy="179"/>
          </p:xfrm>
          <a:graphic>
            <a:graphicData uri="http://schemas.openxmlformats.org/presentationml/2006/ole">
              <mc:AlternateContent xmlns:mc="http://schemas.openxmlformats.org/markup-compatibility/2006">
                <mc:Choice xmlns:v="urn:schemas-microsoft-com:vml" Requires="v">
                  <p:oleObj spid="_x0000_s116144" r:id="rId5" imgW="241091" imgH="215713" progId="Equation.3">
                    <p:embed/>
                  </p:oleObj>
                </mc:Choice>
                <mc:Fallback>
                  <p:oleObj r:id="rId5" imgW="241091" imgH="215713" progId="Equation.3">
                    <p:embed/>
                    <p:pic>
                      <p:nvPicPr>
                        <p:cNvPr id="0" name=""/>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13" y="1027"/>
                          <a:ext cx="194"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 name="对象 119853">
              <a:extLst>
                <a:ext uri="{FF2B5EF4-FFF2-40B4-BE49-F238E27FC236}">
                  <a16:creationId xmlns:a16="http://schemas.microsoft.com/office/drawing/2014/main" xmlns="" id="{7BA1C78A-6388-78DA-C5AC-CBE93F5FA78A}"/>
                </a:ext>
              </a:extLst>
            </p:cNvPr>
            <p:cNvGraphicFramePr>
              <a:graphicFrameLocks/>
            </p:cNvGraphicFramePr>
            <p:nvPr/>
          </p:nvGraphicFramePr>
          <p:xfrm>
            <a:off x="1184" y="1027"/>
            <a:ext cx="183" cy="176"/>
          </p:xfrm>
          <a:graphic>
            <a:graphicData uri="http://schemas.openxmlformats.org/presentationml/2006/ole">
              <mc:AlternateContent xmlns:mc="http://schemas.openxmlformats.org/markup-compatibility/2006">
                <mc:Choice xmlns:v="urn:schemas-microsoft-com:vml" Requires="v">
                  <p:oleObj spid="_x0000_s116145" r:id="rId7" imgW="228501" imgH="215806" progId="Equation.3">
                    <p:embed/>
                  </p:oleObj>
                </mc:Choice>
                <mc:Fallback>
                  <p:oleObj r:id="rId7" imgW="228501" imgH="215806" progId="Equation.3">
                    <p:embed/>
                    <p:pic>
                      <p:nvPicPr>
                        <p:cNvPr id="0" name=""/>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84" y="1027"/>
                          <a:ext cx="183"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 name="矩形 119854">
              <a:extLst>
                <a:ext uri="{FF2B5EF4-FFF2-40B4-BE49-F238E27FC236}">
                  <a16:creationId xmlns:a16="http://schemas.microsoft.com/office/drawing/2014/main" xmlns="" id="{23860D76-4F9E-B894-0152-8C761DAA88EA}"/>
                </a:ext>
              </a:extLst>
            </p:cNvPr>
            <p:cNvSpPr>
              <a:spLocks noChangeArrowheads="1"/>
            </p:cNvSpPr>
            <p:nvPr/>
          </p:nvSpPr>
          <p:spPr bwMode="auto">
            <a:xfrm>
              <a:off x="760" y="981"/>
              <a:ext cx="22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r>
                <a:rPr lang="en-US" altLang="zh-CN" sz="2000">
                  <a:solidFill>
                    <a:schemeClr val="tx1"/>
                  </a:solidFill>
                  <a:latin typeface="+mn-ea"/>
                  <a:ea typeface="+mn-ea"/>
                </a:rPr>
                <a:t>﹑</a:t>
              </a:r>
            </a:p>
          </p:txBody>
        </p:sp>
        <p:sp>
          <p:nvSpPr>
            <p:cNvPr id="10" name="矩形 119855">
              <a:extLst>
                <a:ext uri="{FF2B5EF4-FFF2-40B4-BE49-F238E27FC236}">
                  <a16:creationId xmlns:a16="http://schemas.microsoft.com/office/drawing/2014/main" xmlns="" id="{57C2B492-D660-AF6B-FC1A-3D6E40D04C83}"/>
                </a:ext>
              </a:extLst>
            </p:cNvPr>
            <p:cNvSpPr>
              <a:spLocks noChangeArrowheads="1"/>
            </p:cNvSpPr>
            <p:nvPr/>
          </p:nvSpPr>
          <p:spPr bwMode="auto">
            <a:xfrm>
              <a:off x="1048" y="991"/>
              <a:ext cx="279"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r>
                <a:rPr lang="en-US" altLang="zh-CN" sz="2000">
                  <a:solidFill>
                    <a:schemeClr val="tx1"/>
                  </a:solidFill>
                  <a:latin typeface="+mn-ea"/>
                  <a:ea typeface="+mn-ea"/>
                </a:rPr>
                <a:t>﹑</a:t>
              </a:r>
            </a:p>
          </p:txBody>
        </p:sp>
        <p:sp>
          <p:nvSpPr>
            <p:cNvPr id="11" name="矩形 119856">
              <a:extLst>
                <a:ext uri="{FF2B5EF4-FFF2-40B4-BE49-F238E27FC236}">
                  <a16:creationId xmlns:a16="http://schemas.microsoft.com/office/drawing/2014/main" xmlns="" id="{429B57BD-89C3-9471-0C8E-AAAAE2FA4D53}"/>
                </a:ext>
              </a:extLst>
            </p:cNvPr>
            <p:cNvSpPr>
              <a:spLocks noChangeArrowheads="1"/>
            </p:cNvSpPr>
            <p:nvPr/>
          </p:nvSpPr>
          <p:spPr bwMode="auto">
            <a:xfrm>
              <a:off x="1367" y="992"/>
              <a:ext cx="76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r>
                <a:rPr lang="zh-CN" altLang="en-US" sz="2000">
                  <a:solidFill>
                    <a:schemeClr val="tx1"/>
                  </a:solidFill>
                  <a:latin typeface="+mn-ea"/>
                  <a:ea typeface="+mn-ea"/>
                </a:rPr>
                <a:t>不变时，</a:t>
              </a:r>
            </a:p>
          </p:txBody>
        </p:sp>
        <p:graphicFrame>
          <p:nvGraphicFramePr>
            <p:cNvPr id="13" name="对象 119857">
              <a:extLst>
                <a:ext uri="{FF2B5EF4-FFF2-40B4-BE49-F238E27FC236}">
                  <a16:creationId xmlns:a16="http://schemas.microsoft.com/office/drawing/2014/main" xmlns="" id="{3817072F-A842-1FCA-E141-22D2FE794EFA}"/>
                </a:ext>
              </a:extLst>
            </p:cNvPr>
            <p:cNvGraphicFramePr>
              <a:graphicFrameLocks/>
            </p:cNvGraphicFramePr>
            <p:nvPr/>
          </p:nvGraphicFramePr>
          <p:xfrm>
            <a:off x="310" y="1242"/>
            <a:ext cx="234" cy="216"/>
          </p:xfrm>
          <a:graphic>
            <a:graphicData uri="http://schemas.openxmlformats.org/presentationml/2006/ole">
              <mc:AlternateContent xmlns:mc="http://schemas.openxmlformats.org/markup-compatibility/2006">
                <mc:Choice xmlns:v="urn:schemas-microsoft-com:vml" Requires="v">
                  <p:oleObj spid="_x0000_s116146" r:id="rId9" imgW="241091" imgH="215713" progId="Equation.3">
                    <p:embed/>
                  </p:oleObj>
                </mc:Choice>
                <mc:Fallback>
                  <p:oleObj r:id="rId9" imgW="241091" imgH="215713" progId="Equation.3">
                    <p:embed/>
                    <p:pic>
                      <p:nvPicPr>
                        <p:cNvPr id="0" name=""/>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10" y="1242"/>
                          <a:ext cx="234"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4" name="矩形 119858">
              <a:extLst>
                <a:ext uri="{FF2B5EF4-FFF2-40B4-BE49-F238E27FC236}">
                  <a16:creationId xmlns:a16="http://schemas.microsoft.com/office/drawing/2014/main" xmlns="" id="{8E49F618-FC58-8FA8-A58F-25DA1980DA69}"/>
                </a:ext>
              </a:extLst>
            </p:cNvPr>
            <p:cNvSpPr>
              <a:spLocks noChangeArrowheads="1"/>
            </p:cNvSpPr>
            <p:nvPr/>
          </p:nvSpPr>
          <p:spPr bwMode="auto">
            <a:xfrm>
              <a:off x="544" y="1226"/>
              <a:ext cx="33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chemeClr val="tx1"/>
                  </a:solidFill>
                  <a:latin typeface="+mn-ea"/>
                  <a:ea typeface="+mn-ea"/>
                </a:rPr>
                <a:t>增大时放大器的工作状态如何变化？为什么？</a:t>
              </a:r>
            </a:p>
          </p:txBody>
        </p:sp>
        <p:sp>
          <p:nvSpPr>
            <p:cNvPr id="15" name="矩形 119859">
              <a:extLst>
                <a:ext uri="{FF2B5EF4-FFF2-40B4-BE49-F238E27FC236}">
                  <a16:creationId xmlns:a16="http://schemas.microsoft.com/office/drawing/2014/main" xmlns="" id="{94A566DD-0F58-9AA1-802E-6652B900AC6E}"/>
                </a:ext>
              </a:extLst>
            </p:cNvPr>
            <p:cNvSpPr>
              <a:spLocks noChangeArrowheads="1"/>
            </p:cNvSpPr>
            <p:nvPr/>
          </p:nvSpPr>
          <p:spPr bwMode="auto">
            <a:xfrm>
              <a:off x="197" y="984"/>
              <a:ext cx="43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a:solidFill>
                    <a:schemeClr val="tx1"/>
                  </a:solidFill>
                  <a:latin typeface="+mn-ea"/>
                  <a:ea typeface="+mn-ea"/>
                </a:rPr>
                <a:t>1.</a:t>
              </a:r>
              <a:r>
                <a:rPr lang="zh-CN" altLang="en-US" sz="2000">
                  <a:solidFill>
                    <a:schemeClr val="tx1"/>
                  </a:solidFill>
                  <a:latin typeface="+mn-ea"/>
                  <a:ea typeface="+mn-ea"/>
                </a:rPr>
                <a:t>当</a:t>
              </a:r>
            </a:p>
          </p:txBody>
        </p:sp>
      </p:grpSp>
      <p:grpSp>
        <p:nvGrpSpPr>
          <p:cNvPr id="16" name="组合 15">
            <a:extLst>
              <a:ext uri="{FF2B5EF4-FFF2-40B4-BE49-F238E27FC236}">
                <a16:creationId xmlns:a16="http://schemas.microsoft.com/office/drawing/2014/main" xmlns="" id="{26037E8F-8264-8117-A6A3-E5A26C1E4FF6}"/>
              </a:ext>
            </a:extLst>
          </p:cNvPr>
          <p:cNvGrpSpPr>
            <a:grpSpLocks/>
          </p:cNvGrpSpPr>
          <p:nvPr/>
        </p:nvGrpSpPr>
        <p:grpSpPr bwMode="auto">
          <a:xfrm>
            <a:off x="404781" y="2263924"/>
            <a:ext cx="7891463" cy="1793875"/>
            <a:chOff x="362" y="1190"/>
            <a:chExt cx="4971" cy="1130"/>
          </a:xfrm>
        </p:grpSpPr>
        <p:graphicFrame>
          <p:nvGraphicFramePr>
            <p:cNvPr id="17" name="对象 119899">
              <a:extLst>
                <a:ext uri="{FF2B5EF4-FFF2-40B4-BE49-F238E27FC236}">
                  <a16:creationId xmlns:a16="http://schemas.microsoft.com/office/drawing/2014/main" xmlns="" id="{35C4838F-76FF-6248-62CA-95CD5A52D223}"/>
                </a:ext>
              </a:extLst>
            </p:cNvPr>
            <p:cNvGraphicFramePr>
              <a:graphicFrameLocks/>
            </p:cNvGraphicFramePr>
            <p:nvPr/>
          </p:nvGraphicFramePr>
          <p:xfrm>
            <a:off x="3403" y="1324"/>
            <a:ext cx="160" cy="148"/>
          </p:xfrm>
          <a:graphic>
            <a:graphicData uri="http://schemas.openxmlformats.org/presentationml/2006/ole">
              <mc:AlternateContent xmlns:mc="http://schemas.openxmlformats.org/markup-compatibility/2006">
                <mc:Choice xmlns:v="urn:schemas-microsoft-com:vml" Requires="v">
                  <p:oleObj spid="_x0000_s116147" r:id="rId11" imgW="241091" imgH="215713" progId="Equation.3">
                    <p:embed/>
                  </p:oleObj>
                </mc:Choice>
                <mc:Fallback>
                  <p:oleObj r:id="rId11" imgW="241091" imgH="215713" progId="Equation.3">
                    <p:embed/>
                    <p:pic>
                      <p:nvPicPr>
                        <p:cNvPr id="0" name=""/>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403" y="1324"/>
                          <a:ext cx="160" cy="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8" name="对象 119898">
              <a:extLst>
                <a:ext uri="{FF2B5EF4-FFF2-40B4-BE49-F238E27FC236}">
                  <a16:creationId xmlns:a16="http://schemas.microsoft.com/office/drawing/2014/main" xmlns="" id="{7C84B2B5-DF8B-6FFB-5AA3-0825B7E70436}"/>
                </a:ext>
              </a:extLst>
            </p:cNvPr>
            <p:cNvGraphicFramePr>
              <a:graphicFrameLocks/>
            </p:cNvGraphicFramePr>
            <p:nvPr/>
          </p:nvGraphicFramePr>
          <p:xfrm>
            <a:off x="4277" y="1190"/>
            <a:ext cx="1056" cy="506"/>
          </p:xfrm>
          <a:graphic>
            <a:graphicData uri="http://schemas.openxmlformats.org/presentationml/2006/ole">
              <mc:AlternateContent xmlns:mc="http://schemas.openxmlformats.org/markup-compatibility/2006">
                <mc:Choice xmlns:v="urn:schemas-microsoft-com:vml" Requires="v">
                  <p:oleObj spid="_x0000_s116148" r:id="rId13" imgW="1371600" imgH="660400" progId="Equation.3">
                    <p:embed/>
                  </p:oleObj>
                </mc:Choice>
                <mc:Fallback>
                  <p:oleObj r:id="rId13" imgW="1371600" imgH="660400" progId="Equation.3">
                    <p:embed/>
                    <p:pic>
                      <p:nvPicPr>
                        <p:cNvPr id="0" name=""/>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277" y="1190"/>
                          <a:ext cx="1056" cy="5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9" name="对象 119897">
              <a:extLst>
                <a:ext uri="{FF2B5EF4-FFF2-40B4-BE49-F238E27FC236}">
                  <a16:creationId xmlns:a16="http://schemas.microsoft.com/office/drawing/2014/main" xmlns="" id="{47A0EE1B-6D7F-6433-552B-53E44E1B1FCF}"/>
                </a:ext>
              </a:extLst>
            </p:cNvPr>
            <p:cNvGraphicFramePr>
              <a:graphicFrameLocks/>
            </p:cNvGraphicFramePr>
            <p:nvPr/>
          </p:nvGraphicFramePr>
          <p:xfrm>
            <a:off x="1273" y="1523"/>
            <a:ext cx="188" cy="173"/>
          </p:xfrm>
          <a:graphic>
            <a:graphicData uri="http://schemas.openxmlformats.org/presentationml/2006/ole">
              <mc:AlternateContent xmlns:mc="http://schemas.openxmlformats.org/markup-compatibility/2006">
                <mc:Choice xmlns:v="urn:schemas-microsoft-com:vml" Requires="v">
                  <p:oleObj spid="_x0000_s116149" r:id="rId15" imgW="241091" imgH="215713" progId="Equation.3">
                    <p:embed/>
                  </p:oleObj>
                </mc:Choice>
                <mc:Fallback>
                  <p:oleObj r:id="rId15" imgW="241091" imgH="215713" progId="Equation.3">
                    <p:embed/>
                    <p:pic>
                      <p:nvPicPr>
                        <p:cNvPr id="0" name=""/>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273" y="1523"/>
                          <a:ext cx="188"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0" name="对象 119896">
              <a:extLst>
                <a:ext uri="{FF2B5EF4-FFF2-40B4-BE49-F238E27FC236}">
                  <a16:creationId xmlns:a16="http://schemas.microsoft.com/office/drawing/2014/main" xmlns="" id="{60554491-4461-7496-D708-27209AC7DE43}"/>
                </a:ext>
              </a:extLst>
            </p:cNvPr>
            <p:cNvGraphicFramePr>
              <a:graphicFrameLocks/>
            </p:cNvGraphicFramePr>
            <p:nvPr/>
          </p:nvGraphicFramePr>
          <p:xfrm>
            <a:off x="2093" y="1782"/>
            <a:ext cx="342" cy="288"/>
          </p:xfrm>
          <a:graphic>
            <a:graphicData uri="http://schemas.openxmlformats.org/presentationml/2006/ole">
              <mc:AlternateContent xmlns:mc="http://schemas.openxmlformats.org/markup-compatibility/2006">
                <mc:Choice xmlns:v="urn:schemas-microsoft-com:vml" Requires="v">
                  <p:oleObj spid="_x0000_s116150" r:id="rId16" imgW="545863" imgH="457002" progId="Equation.3">
                    <p:embed/>
                  </p:oleObj>
                </mc:Choice>
                <mc:Fallback>
                  <p:oleObj r:id="rId16" imgW="545863" imgH="457002" progId="Equation.3">
                    <p:embed/>
                    <p:pic>
                      <p:nvPicPr>
                        <p:cNvPr id="0" name=""/>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093" y="1782"/>
                          <a:ext cx="34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1" name="对象 119895">
              <a:extLst>
                <a:ext uri="{FF2B5EF4-FFF2-40B4-BE49-F238E27FC236}">
                  <a16:creationId xmlns:a16="http://schemas.microsoft.com/office/drawing/2014/main" xmlns="" id="{F32B1A77-C588-272F-A804-7E1AA407480C}"/>
                </a:ext>
              </a:extLst>
            </p:cNvPr>
            <p:cNvGraphicFramePr>
              <a:graphicFrameLocks/>
            </p:cNvGraphicFramePr>
            <p:nvPr/>
          </p:nvGraphicFramePr>
          <p:xfrm>
            <a:off x="2678" y="1490"/>
            <a:ext cx="160" cy="206"/>
          </p:xfrm>
          <a:graphic>
            <a:graphicData uri="http://schemas.openxmlformats.org/presentationml/2006/ole">
              <mc:AlternateContent xmlns:mc="http://schemas.openxmlformats.org/markup-compatibility/2006">
                <mc:Choice xmlns:v="urn:schemas-microsoft-com:vml" Requires="v">
                  <p:oleObj spid="_x0000_s116151" r:id="rId18" imgW="203024" imgH="253780" progId="Equation.3">
                    <p:embed/>
                  </p:oleObj>
                </mc:Choice>
                <mc:Fallback>
                  <p:oleObj r:id="rId18" imgW="203024" imgH="253780" progId="Equation.3">
                    <p:embed/>
                    <p:pic>
                      <p:nvPicPr>
                        <p:cNvPr id="0" name=""/>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678" y="1490"/>
                          <a:ext cx="160" cy="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 name="对象 119894">
              <a:extLst>
                <a:ext uri="{FF2B5EF4-FFF2-40B4-BE49-F238E27FC236}">
                  <a16:creationId xmlns:a16="http://schemas.microsoft.com/office/drawing/2014/main" xmlns="" id="{D2C4A020-E13C-C438-F6C4-C6EE9AAFA848}"/>
                </a:ext>
              </a:extLst>
            </p:cNvPr>
            <p:cNvGraphicFramePr>
              <a:graphicFrameLocks/>
            </p:cNvGraphicFramePr>
            <p:nvPr/>
          </p:nvGraphicFramePr>
          <p:xfrm>
            <a:off x="4840" y="1782"/>
            <a:ext cx="194" cy="250"/>
          </p:xfrm>
          <a:graphic>
            <a:graphicData uri="http://schemas.openxmlformats.org/presentationml/2006/ole">
              <mc:AlternateContent xmlns:mc="http://schemas.openxmlformats.org/markup-compatibility/2006">
                <mc:Choice xmlns:v="urn:schemas-microsoft-com:vml" Requires="v">
                  <p:oleObj spid="_x0000_s116152" r:id="rId20" imgW="203024" imgH="253780" progId="Equation.3">
                    <p:embed/>
                  </p:oleObj>
                </mc:Choice>
                <mc:Fallback>
                  <p:oleObj r:id="rId20" imgW="203024" imgH="253780" progId="Equation.3">
                    <p:embed/>
                    <p:pic>
                      <p:nvPicPr>
                        <p:cNvPr id="0" name=""/>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840" y="1782"/>
                          <a:ext cx="19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3" name="矩形 119900">
              <a:extLst>
                <a:ext uri="{FF2B5EF4-FFF2-40B4-BE49-F238E27FC236}">
                  <a16:creationId xmlns:a16="http://schemas.microsoft.com/office/drawing/2014/main" xmlns="" id="{578DC505-6F21-EBA2-3517-B9006FFC81C3}"/>
                </a:ext>
              </a:extLst>
            </p:cNvPr>
            <p:cNvSpPr>
              <a:spLocks noChangeArrowheads="1"/>
            </p:cNvSpPr>
            <p:nvPr/>
          </p:nvSpPr>
          <p:spPr bwMode="auto">
            <a:xfrm>
              <a:off x="362" y="1255"/>
              <a:ext cx="444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r>
                <a:rPr lang="zh-CN" altLang="en-US" sz="2000" dirty="0">
                  <a:solidFill>
                    <a:schemeClr val="tx1"/>
                  </a:solidFill>
                  <a:latin typeface="+mn-ea"/>
                  <a:ea typeface="+mn-ea"/>
                </a:rPr>
                <a:t>解 </a:t>
              </a:r>
              <a:r>
                <a:rPr lang="en-US" altLang="zh-CN" sz="2000" dirty="0">
                  <a:solidFill>
                    <a:schemeClr val="tx1"/>
                  </a:solidFill>
                  <a:latin typeface="+mn-ea"/>
                  <a:ea typeface="+mn-ea"/>
                </a:rPr>
                <a:t>: </a:t>
              </a:r>
              <a:r>
                <a:rPr lang="zh-CN" altLang="en-US" sz="2000" dirty="0">
                  <a:solidFill>
                    <a:schemeClr val="tx1"/>
                  </a:solidFill>
                  <a:latin typeface="+mn-ea"/>
                  <a:ea typeface="+mn-ea"/>
                </a:rPr>
                <a:t>根据复合输出回路中等效负载电阻与  的关系式</a:t>
              </a:r>
            </a:p>
          </p:txBody>
        </p:sp>
        <p:sp>
          <p:nvSpPr>
            <p:cNvPr id="24" name="矩形 119902">
              <a:extLst>
                <a:ext uri="{FF2B5EF4-FFF2-40B4-BE49-F238E27FC236}">
                  <a16:creationId xmlns:a16="http://schemas.microsoft.com/office/drawing/2014/main" xmlns="" id="{511DDBDB-839A-D6E8-B175-1260E41110E6}"/>
                </a:ext>
              </a:extLst>
            </p:cNvPr>
            <p:cNvSpPr>
              <a:spLocks noChangeArrowheads="1"/>
            </p:cNvSpPr>
            <p:nvPr/>
          </p:nvSpPr>
          <p:spPr bwMode="auto">
            <a:xfrm>
              <a:off x="674" y="1459"/>
              <a:ext cx="59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r>
                <a:rPr lang="zh-CN" altLang="en-US" sz="2000">
                  <a:solidFill>
                    <a:schemeClr val="tx1"/>
                  </a:solidFill>
                  <a:latin typeface="+mn-ea"/>
                  <a:ea typeface="+mn-ea"/>
                </a:rPr>
                <a:t>可知当</a:t>
              </a:r>
              <a:endParaRPr lang="en-US" altLang="zh-CN" sz="2000">
                <a:solidFill>
                  <a:schemeClr val="tx1"/>
                </a:solidFill>
                <a:latin typeface="+mn-ea"/>
                <a:ea typeface="+mn-ea"/>
              </a:endParaRPr>
            </a:p>
          </p:txBody>
        </p:sp>
        <p:sp>
          <p:nvSpPr>
            <p:cNvPr id="25" name="矩形 119903">
              <a:extLst>
                <a:ext uri="{FF2B5EF4-FFF2-40B4-BE49-F238E27FC236}">
                  <a16:creationId xmlns:a16="http://schemas.microsoft.com/office/drawing/2014/main" xmlns="" id="{B5B13053-B9CF-FB86-FB6F-EAC573720E1F}"/>
                </a:ext>
              </a:extLst>
            </p:cNvPr>
            <p:cNvSpPr>
              <a:spLocks noChangeArrowheads="1"/>
            </p:cNvSpPr>
            <p:nvPr/>
          </p:nvSpPr>
          <p:spPr bwMode="auto">
            <a:xfrm>
              <a:off x="1425" y="1459"/>
              <a:ext cx="124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r>
                <a:rPr lang="zh-CN" altLang="en-US" sz="2000">
                  <a:solidFill>
                    <a:schemeClr val="tx1"/>
                  </a:solidFill>
                  <a:latin typeface="+mn-ea"/>
                  <a:ea typeface="+mn-ea"/>
                </a:rPr>
                <a:t>增大时反射电阻</a:t>
              </a:r>
            </a:p>
          </p:txBody>
        </p:sp>
        <p:sp>
          <p:nvSpPr>
            <p:cNvPr id="26" name="矩形 119904">
              <a:extLst>
                <a:ext uri="{FF2B5EF4-FFF2-40B4-BE49-F238E27FC236}">
                  <a16:creationId xmlns:a16="http://schemas.microsoft.com/office/drawing/2014/main" xmlns="" id="{6C03E087-AAAE-B16E-95B7-025F1D3284CB}"/>
                </a:ext>
              </a:extLst>
            </p:cNvPr>
            <p:cNvSpPr>
              <a:spLocks noChangeArrowheads="1"/>
            </p:cNvSpPr>
            <p:nvPr/>
          </p:nvSpPr>
          <p:spPr bwMode="auto">
            <a:xfrm>
              <a:off x="2435" y="1760"/>
              <a:ext cx="237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r>
                <a:rPr lang="zh-CN" altLang="en-US" sz="2000">
                  <a:solidFill>
                    <a:schemeClr val="tx1"/>
                  </a:solidFill>
                  <a:latin typeface="+mn-ea"/>
                  <a:ea typeface="+mn-ea"/>
                </a:rPr>
                <a:t>增大，中介回路的等效负载电阻</a:t>
              </a:r>
            </a:p>
          </p:txBody>
        </p:sp>
        <p:sp>
          <p:nvSpPr>
            <p:cNvPr id="27" name="矩形 119905">
              <a:extLst>
                <a:ext uri="{FF2B5EF4-FFF2-40B4-BE49-F238E27FC236}">
                  <a16:creationId xmlns:a16="http://schemas.microsoft.com/office/drawing/2014/main" xmlns="" id="{4088EA88-2EE4-93F6-4FDD-B229F5996DEC}"/>
                </a:ext>
              </a:extLst>
            </p:cNvPr>
            <p:cNvSpPr>
              <a:spLocks noChangeArrowheads="1"/>
            </p:cNvSpPr>
            <p:nvPr/>
          </p:nvSpPr>
          <p:spPr bwMode="auto">
            <a:xfrm>
              <a:off x="482" y="1760"/>
              <a:ext cx="156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r>
                <a:rPr lang="zh-CN" altLang="en-US" sz="2000">
                  <a:solidFill>
                    <a:schemeClr val="tx1"/>
                  </a:solidFill>
                  <a:latin typeface="+mn-ea"/>
                  <a:ea typeface="+mn-ea"/>
                </a:rPr>
                <a:t>根据负载特性可知当</a:t>
              </a:r>
            </a:p>
          </p:txBody>
        </p:sp>
        <p:sp>
          <p:nvSpPr>
            <p:cNvPr id="28" name="矩形 119906">
              <a:extLst>
                <a:ext uri="{FF2B5EF4-FFF2-40B4-BE49-F238E27FC236}">
                  <a16:creationId xmlns:a16="http://schemas.microsoft.com/office/drawing/2014/main" xmlns="" id="{E87A57BF-910D-2683-037D-568710788BBE}"/>
                </a:ext>
              </a:extLst>
            </p:cNvPr>
            <p:cNvSpPr>
              <a:spLocks noChangeArrowheads="1"/>
            </p:cNvSpPr>
            <p:nvPr/>
          </p:nvSpPr>
          <p:spPr bwMode="auto">
            <a:xfrm>
              <a:off x="683" y="2070"/>
              <a:ext cx="33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r>
                <a:rPr lang="zh-CN" altLang="en-US" sz="2000">
                  <a:solidFill>
                    <a:schemeClr val="tx1"/>
                  </a:solidFill>
                  <a:latin typeface="+mn-ea"/>
                  <a:ea typeface="+mn-ea"/>
                </a:rPr>
                <a:t>减小时其工作状态由临界进入欠压工作状态。</a:t>
              </a:r>
            </a:p>
          </p:txBody>
        </p:sp>
        <p:sp>
          <p:nvSpPr>
            <p:cNvPr id="29" name="矩形 119909">
              <a:extLst>
                <a:ext uri="{FF2B5EF4-FFF2-40B4-BE49-F238E27FC236}">
                  <a16:creationId xmlns:a16="http://schemas.microsoft.com/office/drawing/2014/main" xmlns="" id="{081010C9-7FF3-E916-0549-2330CFB229AB}"/>
                </a:ext>
              </a:extLst>
            </p:cNvPr>
            <p:cNvSpPr>
              <a:spLocks noChangeArrowheads="1"/>
            </p:cNvSpPr>
            <p:nvPr/>
          </p:nvSpPr>
          <p:spPr bwMode="auto">
            <a:xfrm>
              <a:off x="2804" y="1459"/>
              <a:ext cx="59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a:solidFill>
                    <a:schemeClr val="tx1"/>
                  </a:solidFill>
                  <a:latin typeface="+mn-ea"/>
                  <a:ea typeface="+mn-ea"/>
                </a:rPr>
                <a:t>减小，</a:t>
              </a:r>
            </a:p>
          </p:txBody>
        </p:sp>
      </p:grpSp>
      <p:graphicFrame>
        <p:nvGraphicFramePr>
          <p:cNvPr id="30" name="Object 22">
            <a:extLst>
              <a:ext uri="{FF2B5EF4-FFF2-40B4-BE49-F238E27FC236}">
                <a16:creationId xmlns:a16="http://schemas.microsoft.com/office/drawing/2014/main" xmlns="" id="{8189790E-1E54-9847-05F9-65617A1003A6}"/>
              </a:ext>
            </a:extLst>
          </p:cNvPr>
          <p:cNvGraphicFramePr>
            <a:graphicFrameLocks/>
          </p:cNvGraphicFramePr>
          <p:nvPr>
            <p:extLst>
              <p:ext uri="{D42A27DB-BD31-4B8C-83A1-F6EECF244321}">
                <p14:modId xmlns:p14="http://schemas.microsoft.com/office/powerpoint/2010/main" val="2598803030"/>
              </p:ext>
            </p:extLst>
          </p:nvPr>
        </p:nvGraphicFramePr>
        <p:xfrm>
          <a:off x="2836831" y="4562624"/>
          <a:ext cx="3097213" cy="1795463"/>
        </p:xfrm>
        <a:graphic>
          <a:graphicData uri="http://schemas.openxmlformats.org/presentationml/2006/ole">
            <mc:AlternateContent xmlns:mc="http://schemas.openxmlformats.org/markup-compatibility/2006">
              <mc:Choice xmlns:v="urn:schemas-microsoft-com:vml" Requires="v">
                <p:oleObj spid="_x0000_s116153" r:id="rId21" imgW="1711842" imgH="1458179" progId="Word.Picture.8">
                  <p:embed/>
                </p:oleObj>
              </mc:Choice>
              <mc:Fallback>
                <p:oleObj r:id="rId21" imgW="1711842" imgH="1458179" progId="Word.Picture.8">
                  <p:embed/>
                  <p:pic>
                    <p:nvPicPr>
                      <p:cNvPr id="0" name=""/>
                      <p:cNvPicPr>
                        <a:picLocks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836831" y="4562624"/>
                        <a:ext cx="3097213" cy="1795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487182189"/>
      </p:ext>
    </p:extLst>
  </p:cSld>
  <p:clrMapOvr>
    <a:masterClrMapping/>
  </p:clrMapOvr>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152</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12"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4.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谐振</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功率</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放大器</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grpSp>
        <p:nvGrpSpPr>
          <p:cNvPr id="57" name="组合 56">
            <a:extLst>
              <a:ext uri="{FF2B5EF4-FFF2-40B4-BE49-F238E27FC236}">
                <a16:creationId xmlns:a16="http://schemas.microsoft.com/office/drawing/2014/main" xmlns="" id="{700E7204-F8C8-4C03-B7CF-E7E9F2348767}"/>
              </a:ext>
            </a:extLst>
          </p:cNvPr>
          <p:cNvGrpSpPr>
            <a:grpSpLocks/>
          </p:cNvGrpSpPr>
          <p:nvPr/>
        </p:nvGrpSpPr>
        <p:grpSpPr bwMode="auto">
          <a:xfrm>
            <a:off x="369348" y="1466680"/>
            <a:ext cx="6488113" cy="819149"/>
            <a:chOff x="152" y="1549"/>
            <a:chExt cx="4087" cy="516"/>
          </a:xfrm>
        </p:grpSpPr>
        <p:graphicFrame>
          <p:nvGraphicFramePr>
            <p:cNvPr id="58" name="对象 182276">
              <a:extLst>
                <a:ext uri="{FF2B5EF4-FFF2-40B4-BE49-F238E27FC236}">
                  <a16:creationId xmlns:a16="http://schemas.microsoft.com/office/drawing/2014/main" xmlns="" id="{DEA16ECA-CBB8-6E22-EA2F-8578DA923056}"/>
                </a:ext>
              </a:extLst>
            </p:cNvPr>
            <p:cNvGraphicFramePr>
              <a:graphicFrameLocks/>
            </p:cNvGraphicFramePr>
            <p:nvPr/>
          </p:nvGraphicFramePr>
          <p:xfrm>
            <a:off x="868" y="1585"/>
            <a:ext cx="197" cy="181"/>
          </p:xfrm>
          <a:graphic>
            <a:graphicData uri="http://schemas.openxmlformats.org/presentationml/2006/ole">
              <mc:AlternateContent xmlns:mc="http://schemas.openxmlformats.org/markup-compatibility/2006">
                <mc:Choice xmlns:v="urn:schemas-microsoft-com:vml" Requires="v">
                  <p:oleObj spid="_x0000_s117206" r:id="rId3" imgW="241091" imgH="215713" progId="Equation.3">
                    <p:embed/>
                  </p:oleObj>
                </mc:Choice>
                <mc:Fallback>
                  <p:oleObj r:id="rId3" imgW="241091" imgH="215713" progId="Equation.3">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8" y="1585"/>
                          <a:ext cx="197"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9" name="对象 182277">
              <a:extLst>
                <a:ext uri="{FF2B5EF4-FFF2-40B4-BE49-F238E27FC236}">
                  <a16:creationId xmlns:a16="http://schemas.microsoft.com/office/drawing/2014/main" xmlns="" id="{A026DA15-4272-0F6C-0E9C-78DC5A908FF5}"/>
                </a:ext>
              </a:extLst>
            </p:cNvPr>
            <p:cNvGraphicFramePr>
              <a:graphicFrameLocks/>
            </p:cNvGraphicFramePr>
            <p:nvPr/>
          </p:nvGraphicFramePr>
          <p:xfrm>
            <a:off x="827" y="1807"/>
            <a:ext cx="204" cy="213"/>
          </p:xfrm>
          <a:graphic>
            <a:graphicData uri="http://schemas.openxmlformats.org/presentationml/2006/ole">
              <mc:AlternateContent xmlns:mc="http://schemas.openxmlformats.org/markup-compatibility/2006">
                <mc:Choice xmlns:v="urn:schemas-microsoft-com:vml" Requires="v">
                  <p:oleObj spid="_x0000_s117207" r:id="rId5" imgW="215806" imgH="228501" progId="Equation.3">
                    <p:embed/>
                  </p:oleObj>
                </mc:Choice>
                <mc:Fallback>
                  <p:oleObj r:id="rId5" imgW="215806" imgH="228501" progId="Equation.3">
                    <p:embed/>
                    <p:pic>
                      <p:nvPicPr>
                        <p:cNvPr id="0" name=""/>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7" y="1807"/>
                          <a:ext cx="204"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0" name="对象 182278">
              <a:extLst>
                <a:ext uri="{FF2B5EF4-FFF2-40B4-BE49-F238E27FC236}">
                  <a16:creationId xmlns:a16="http://schemas.microsoft.com/office/drawing/2014/main" xmlns="" id="{C50A3823-3F73-26FA-46F0-F1BCFACAAA78}"/>
                </a:ext>
              </a:extLst>
            </p:cNvPr>
            <p:cNvGraphicFramePr>
              <a:graphicFrameLocks/>
            </p:cNvGraphicFramePr>
            <p:nvPr/>
          </p:nvGraphicFramePr>
          <p:xfrm>
            <a:off x="1184" y="1841"/>
            <a:ext cx="183" cy="168"/>
          </p:xfrm>
          <a:graphic>
            <a:graphicData uri="http://schemas.openxmlformats.org/presentationml/2006/ole">
              <mc:AlternateContent xmlns:mc="http://schemas.openxmlformats.org/markup-compatibility/2006">
                <mc:Choice xmlns:v="urn:schemas-microsoft-com:vml" Requires="v">
                  <p:oleObj spid="_x0000_s117208" r:id="rId7" imgW="241091" imgH="215713" progId="Equation.3">
                    <p:embed/>
                  </p:oleObj>
                </mc:Choice>
                <mc:Fallback>
                  <p:oleObj r:id="rId7" imgW="241091" imgH="215713" progId="Equation.3">
                    <p:embed/>
                    <p:pic>
                      <p:nvPicPr>
                        <p:cNvPr id="0" name=""/>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84" y="1841"/>
                          <a:ext cx="183" cy="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1" name="对象 182279">
              <a:extLst>
                <a:ext uri="{FF2B5EF4-FFF2-40B4-BE49-F238E27FC236}">
                  <a16:creationId xmlns:a16="http://schemas.microsoft.com/office/drawing/2014/main" xmlns="" id="{222220C0-28F1-4F2F-7AE5-C0F7C4427E5A}"/>
                </a:ext>
              </a:extLst>
            </p:cNvPr>
            <p:cNvGraphicFramePr>
              <a:graphicFrameLocks/>
            </p:cNvGraphicFramePr>
            <p:nvPr/>
          </p:nvGraphicFramePr>
          <p:xfrm>
            <a:off x="2300" y="1871"/>
            <a:ext cx="171" cy="164"/>
          </p:xfrm>
          <a:graphic>
            <a:graphicData uri="http://schemas.openxmlformats.org/presentationml/2006/ole">
              <mc:AlternateContent xmlns:mc="http://schemas.openxmlformats.org/markup-compatibility/2006">
                <mc:Choice xmlns:v="urn:schemas-microsoft-com:vml" Requires="v">
                  <p:oleObj spid="_x0000_s117209" r:id="rId9" imgW="228501" imgH="215806" progId="Equation.3">
                    <p:embed/>
                  </p:oleObj>
                </mc:Choice>
                <mc:Fallback>
                  <p:oleObj r:id="rId9" imgW="228501" imgH="215806" progId="Equation.3">
                    <p:embed/>
                    <p:pic>
                      <p:nvPicPr>
                        <p:cNvPr id="0" name=""/>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300" y="1871"/>
                          <a:ext cx="171"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2" name="矩形 182280">
              <a:extLst>
                <a:ext uri="{FF2B5EF4-FFF2-40B4-BE49-F238E27FC236}">
                  <a16:creationId xmlns:a16="http://schemas.microsoft.com/office/drawing/2014/main" xmlns="" id="{DAD35C56-39D4-9BCB-AB95-EC0A211F7DD9}"/>
                </a:ext>
              </a:extLst>
            </p:cNvPr>
            <p:cNvSpPr>
              <a:spLocks noChangeArrowheads="1"/>
            </p:cNvSpPr>
            <p:nvPr/>
          </p:nvSpPr>
          <p:spPr bwMode="auto">
            <a:xfrm>
              <a:off x="1048" y="1553"/>
              <a:ext cx="286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r>
                <a:rPr lang="zh-CN" altLang="en-US" sz="2000">
                  <a:solidFill>
                    <a:schemeClr val="tx1"/>
                  </a:solidFill>
                  <a:latin typeface="+mn-ea"/>
                  <a:ea typeface="+mn-ea"/>
                </a:rPr>
                <a:t>后，为了维护放大器仍工作于临界状态</a:t>
              </a:r>
            </a:p>
          </p:txBody>
        </p:sp>
        <p:sp>
          <p:nvSpPr>
            <p:cNvPr id="63" name="矩形 182281">
              <a:extLst>
                <a:ext uri="{FF2B5EF4-FFF2-40B4-BE49-F238E27FC236}">
                  <a16:creationId xmlns:a16="http://schemas.microsoft.com/office/drawing/2014/main" xmlns="" id="{160FF3D5-1725-1661-AE37-497339AC579B}"/>
                </a:ext>
              </a:extLst>
            </p:cNvPr>
            <p:cNvSpPr>
              <a:spLocks noChangeArrowheads="1"/>
            </p:cNvSpPr>
            <p:nvPr/>
          </p:nvSpPr>
          <p:spPr bwMode="auto">
            <a:xfrm>
              <a:off x="1026" y="1798"/>
              <a:ext cx="279"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r>
                <a:rPr lang="en-US" altLang="zh-CN" sz="2000">
                  <a:solidFill>
                    <a:schemeClr val="tx1"/>
                  </a:solidFill>
                  <a:latin typeface="+mn-ea"/>
                  <a:ea typeface="+mn-ea"/>
                </a:rPr>
                <a:t>﹑</a:t>
              </a:r>
            </a:p>
          </p:txBody>
        </p:sp>
        <p:sp>
          <p:nvSpPr>
            <p:cNvPr id="64" name="矩形 182282">
              <a:extLst>
                <a:ext uri="{FF2B5EF4-FFF2-40B4-BE49-F238E27FC236}">
                  <a16:creationId xmlns:a16="http://schemas.microsoft.com/office/drawing/2014/main" xmlns="" id="{25FDE30B-F2B2-F06A-F227-0B0BEFC8BE9B}"/>
                </a:ext>
              </a:extLst>
            </p:cNvPr>
            <p:cNvSpPr>
              <a:spLocks noChangeArrowheads="1"/>
            </p:cNvSpPr>
            <p:nvPr/>
          </p:nvSpPr>
          <p:spPr bwMode="auto">
            <a:xfrm>
              <a:off x="1451" y="1798"/>
              <a:ext cx="92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r>
                <a:rPr lang="zh-CN" altLang="en-US" sz="2000">
                  <a:solidFill>
                    <a:schemeClr val="tx1"/>
                  </a:solidFill>
                  <a:latin typeface="+mn-ea"/>
                  <a:ea typeface="+mn-ea"/>
                </a:rPr>
                <a:t>仍不变），</a:t>
              </a:r>
            </a:p>
          </p:txBody>
        </p:sp>
        <p:sp>
          <p:nvSpPr>
            <p:cNvPr id="65" name="矩形 182283">
              <a:extLst>
                <a:ext uri="{FF2B5EF4-FFF2-40B4-BE49-F238E27FC236}">
                  <a16:creationId xmlns:a16="http://schemas.microsoft.com/office/drawing/2014/main" xmlns="" id="{A17D7971-E4E5-D31B-1160-9818BD3BF4B8}"/>
                </a:ext>
              </a:extLst>
            </p:cNvPr>
            <p:cNvSpPr>
              <a:spLocks noChangeArrowheads="1"/>
            </p:cNvSpPr>
            <p:nvPr/>
          </p:nvSpPr>
          <p:spPr bwMode="auto">
            <a:xfrm>
              <a:off x="2507" y="1813"/>
              <a:ext cx="173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tabLst>
                  <a:tab pos="457200" algn="l"/>
                </a:tabLst>
                <a:defRPr sz="2400" b="1">
                  <a:solidFill>
                    <a:srgbClr val="FFFF00"/>
                  </a:solidFill>
                  <a:latin typeface="Times New Roman" panose="02020603050405020304" pitchFamily="18" charset="0"/>
                  <a:ea typeface="宋体" panose="02010600030101010101" pitchFamily="2" charset="-122"/>
                </a:defRPr>
              </a:lvl1pPr>
              <a:lvl2pPr>
                <a:tabLst>
                  <a:tab pos="457200" algn="l"/>
                </a:tabLst>
                <a:defRPr sz="2400" b="1">
                  <a:solidFill>
                    <a:srgbClr val="FFFF00"/>
                  </a:solidFill>
                  <a:latin typeface="Times New Roman" panose="02020603050405020304" pitchFamily="18" charset="0"/>
                  <a:ea typeface="宋体" panose="02010600030101010101" pitchFamily="2" charset="-122"/>
                </a:defRPr>
              </a:lvl2pPr>
              <a:lvl3pPr>
                <a:tabLst>
                  <a:tab pos="457200" algn="l"/>
                </a:tabLst>
                <a:defRPr sz="2400" b="1">
                  <a:solidFill>
                    <a:srgbClr val="FFFF00"/>
                  </a:solidFill>
                  <a:latin typeface="Times New Roman" panose="02020603050405020304" pitchFamily="18" charset="0"/>
                  <a:ea typeface="宋体" panose="02010600030101010101" pitchFamily="2" charset="-122"/>
                </a:defRPr>
              </a:lvl3pPr>
              <a:lvl4pPr>
                <a:tabLst>
                  <a:tab pos="457200" algn="l"/>
                </a:tabLst>
                <a:defRPr sz="2400" b="1">
                  <a:solidFill>
                    <a:srgbClr val="FFFF00"/>
                  </a:solidFill>
                  <a:latin typeface="Times New Roman" panose="02020603050405020304" pitchFamily="18" charset="0"/>
                  <a:ea typeface="宋体" panose="02010600030101010101" pitchFamily="2" charset="-122"/>
                </a:defRPr>
              </a:lvl4pPr>
              <a:lvl5pPr>
                <a:tabLst>
                  <a:tab pos="457200" algn="l"/>
                </a:tabLst>
                <a:defRPr sz="2400" b="1">
                  <a:solidFill>
                    <a:srgbClr val="FFFF00"/>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tabLst>
                  <a:tab pos="457200" algn="l"/>
                </a:tabLst>
                <a:defRPr sz="2400" b="1">
                  <a:solidFill>
                    <a:srgbClr val="FFFF00"/>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tabLst>
                  <a:tab pos="457200" algn="l"/>
                </a:tabLst>
                <a:defRPr sz="2400" b="1">
                  <a:solidFill>
                    <a:srgbClr val="FFFF00"/>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tabLst>
                  <a:tab pos="457200" algn="l"/>
                </a:tabLst>
                <a:defRPr sz="2400" b="1">
                  <a:solidFill>
                    <a:srgbClr val="FFFF00"/>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tabLst>
                  <a:tab pos="457200" algn="l"/>
                </a:tabLst>
                <a:defRPr sz="2400" b="1">
                  <a:solidFill>
                    <a:srgbClr val="FFFF00"/>
                  </a:solidFill>
                  <a:latin typeface="Times New Roman" panose="02020603050405020304" pitchFamily="18" charset="0"/>
                  <a:ea typeface="宋体" panose="02010600030101010101" pitchFamily="2" charset="-122"/>
                </a:defRPr>
              </a:lvl9pPr>
            </a:lstStyle>
            <a:p>
              <a:pPr eaLnBrk="0" hangingPunct="0"/>
              <a:r>
                <a:rPr lang="zh-CN" altLang="en-US" sz="2000">
                  <a:solidFill>
                    <a:schemeClr val="tx1"/>
                  </a:solidFill>
                  <a:latin typeface="+mn-ea"/>
                  <a:ea typeface="+mn-ea"/>
                </a:rPr>
                <a:t>应如何变化？为什么？</a:t>
              </a:r>
            </a:p>
          </p:txBody>
        </p:sp>
        <p:sp>
          <p:nvSpPr>
            <p:cNvPr id="66" name="矩形 182284">
              <a:extLst>
                <a:ext uri="{FF2B5EF4-FFF2-40B4-BE49-F238E27FC236}">
                  <a16:creationId xmlns:a16="http://schemas.microsoft.com/office/drawing/2014/main" xmlns="" id="{CA7C6D29-B5F6-8304-A830-43862E32E765}"/>
                </a:ext>
              </a:extLst>
            </p:cNvPr>
            <p:cNvSpPr>
              <a:spLocks noChangeArrowheads="1"/>
            </p:cNvSpPr>
            <p:nvPr/>
          </p:nvSpPr>
          <p:spPr bwMode="auto">
            <a:xfrm>
              <a:off x="152" y="1549"/>
              <a:ext cx="849"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a:solidFill>
                    <a:schemeClr val="tx1"/>
                  </a:solidFill>
                  <a:latin typeface="+mn-ea"/>
                  <a:ea typeface="+mn-ea"/>
                </a:rPr>
                <a:t>2. </a:t>
              </a:r>
              <a:r>
                <a:rPr lang="zh-CN" altLang="en-US" sz="2000">
                  <a:solidFill>
                    <a:schemeClr val="tx1"/>
                  </a:solidFill>
                  <a:latin typeface="+mn-ea"/>
                  <a:ea typeface="+mn-ea"/>
                </a:rPr>
                <a:t>在增大</a:t>
              </a:r>
            </a:p>
          </p:txBody>
        </p:sp>
        <p:sp>
          <p:nvSpPr>
            <p:cNvPr id="67" name="矩形 182285">
              <a:extLst>
                <a:ext uri="{FF2B5EF4-FFF2-40B4-BE49-F238E27FC236}">
                  <a16:creationId xmlns:a16="http://schemas.microsoft.com/office/drawing/2014/main" xmlns="" id="{47EC7A5A-2D61-305A-AD23-E939666EE181}"/>
                </a:ext>
              </a:extLst>
            </p:cNvPr>
            <p:cNvSpPr>
              <a:spLocks noChangeArrowheads="1"/>
            </p:cNvSpPr>
            <p:nvPr/>
          </p:nvSpPr>
          <p:spPr bwMode="auto">
            <a:xfrm>
              <a:off x="235" y="1759"/>
              <a:ext cx="60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a:solidFill>
                    <a:schemeClr val="tx1"/>
                  </a:solidFill>
                  <a:latin typeface="+mn-ea"/>
                  <a:ea typeface="+mn-ea"/>
                </a:rPr>
                <a:t>（此时</a:t>
              </a:r>
            </a:p>
          </p:txBody>
        </p:sp>
      </p:grpSp>
      <p:grpSp>
        <p:nvGrpSpPr>
          <p:cNvPr id="68" name="组合 67">
            <a:extLst>
              <a:ext uri="{FF2B5EF4-FFF2-40B4-BE49-F238E27FC236}">
                <a16:creationId xmlns:a16="http://schemas.microsoft.com/office/drawing/2014/main" xmlns="" id="{8946F175-C25B-1952-D8D6-B624BD9E770F}"/>
              </a:ext>
            </a:extLst>
          </p:cNvPr>
          <p:cNvGrpSpPr>
            <a:grpSpLocks/>
          </p:cNvGrpSpPr>
          <p:nvPr/>
        </p:nvGrpSpPr>
        <p:grpSpPr bwMode="auto">
          <a:xfrm>
            <a:off x="491239" y="2290904"/>
            <a:ext cx="8027988" cy="1260475"/>
            <a:chOff x="230" y="1153"/>
            <a:chExt cx="5057" cy="794"/>
          </a:xfrm>
        </p:grpSpPr>
        <p:graphicFrame>
          <p:nvGraphicFramePr>
            <p:cNvPr id="69" name="对象 182287">
              <a:extLst>
                <a:ext uri="{FF2B5EF4-FFF2-40B4-BE49-F238E27FC236}">
                  <a16:creationId xmlns:a16="http://schemas.microsoft.com/office/drawing/2014/main" xmlns="" id="{414068CA-7598-CF3C-10B4-BE41456601D1}"/>
                </a:ext>
              </a:extLst>
            </p:cNvPr>
            <p:cNvGraphicFramePr>
              <a:graphicFrameLocks/>
            </p:cNvGraphicFramePr>
            <p:nvPr/>
          </p:nvGraphicFramePr>
          <p:xfrm>
            <a:off x="1145" y="1212"/>
            <a:ext cx="194" cy="169"/>
          </p:xfrm>
          <a:graphic>
            <a:graphicData uri="http://schemas.openxmlformats.org/presentationml/2006/ole">
              <mc:AlternateContent xmlns:mc="http://schemas.openxmlformats.org/markup-compatibility/2006">
                <mc:Choice xmlns:v="urn:schemas-microsoft-com:vml" Requires="v">
                  <p:oleObj spid="_x0000_s117210" r:id="rId11" imgW="241091" imgH="215713" progId="Equation.3">
                    <p:embed/>
                  </p:oleObj>
                </mc:Choice>
                <mc:Fallback>
                  <p:oleObj r:id="rId11" imgW="241091" imgH="215713" progId="Equation.3">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5" y="1212"/>
                          <a:ext cx="194" cy="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0" name="对象 182288">
              <a:extLst>
                <a:ext uri="{FF2B5EF4-FFF2-40B4-BE49-F238E27FC236}">
                  <a16:creationId xmlns:a16="http://schemas.microsoft.com/office/drawing/2014/main" xmlns="" id="{3C71E36F-4B03-133A-FDE5-9311124732D3}"/>
                </a:ext>
              </a:extLst>
            </p:cNvPr>
            <p:cNvGraphicFramePr>
              <a:graphicFrameLocks/>
            </p:cNvGraphicFramePr>
            <p:nvPr/>
          </p:nvGraphicFramePr>
          <p:xfrm>
            <a:off x="4676" y="1237"/>
            <a:ext cx="134" cy="144"/>
          </p:xfrm>
          <a:graphic>
            <a:graphicData uri="http://schemas.openxmlformats.org/presentationml/2006/ole">
              <mc:AlternateContent xmlns:mc="http://schemas.openxmlformats.org/markup-compatibility/2006">
                <mc:Choice xmlns:v="urn:schemas-microsoft-com:vml" Requires="v">
                  <p:oleObj spid="_x0000_s117211" r:id="rId12" imgW="215806" imgH="228501" progId="Equation.3">
                    <p:embed/>
                  </p:oleObj>
                </mc:Choice>
                <mc:Fallback>
                  <p:oleObj r:id="rId12" imgW="215806" imgH="228501" progId="Equation.3">
                    <p:embed/>
                    <p:pic>
                      <p:nvPicPr>
                        <p:cNvPr id="0" name=""/>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76" y="1237"/>
                          <a:ext cx="13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1" name="对象 182289">
              <a:extLst>
                <a:ext uri="{FF2B5EF4-FFF2-40B4-BE49-F238E27FC236}">
                  <a16:creationId xmlns:a16="http://schemas.microsoft.com/office/drawing/2014/main" xmlns="" id="{A3B153A1-1F85-8F69-88D3-E13E8FC1F14D}"/>
                </a:ext>
              </a:extLst>
            </p:cNvPr>
            <p:cNvGraphicFramePr>
              <a:graphicFrameLocks/>
            </p:cNvGraphicFramePr>
            <p:nvPr/>
          </p:nvGraphicFramePr>
          <p:xfrm>
            <a:off x="4971" y="1247"/>
            <a:ext cx="154" cy="134"/>
          </p:xfrm>
          <a:graphic>
            <a:graphicData uri="http://schemas.openxmlformats.org/presentationml/2006/ole">
              <mc:AlternateContent xmlns:mc="http://schemas.openxmlformats.org/markup-compatibility/2006">
                <mc:Choice xmlns:v="urn:schemas-microsoft-com:vml" Requires="v">
                  <p:oleObj spid="_x0000_s117212" r:id="rId13" imgW="241091" imgH="215713" progId="Equation.3">
                    <p:embed/>
                  </p:oleObj>
                </mc:Choice>
                <mc:Fallback>
                  <p:oleObj r:id="rId13" imgW="241091" imgH="215713" progId="Equation.3">
                    <p:embed/>
                    <p:pic>
                      <p:nvPicPr>
                        <p:cNvPr id="0" name=""/>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971" y="1247"/>
                          <a:ext cx="15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2" name="对象 182290">
              <a:extLst>
                <a:ext uri="{FF2B5EF4-FFF2-40B4-BE49-F238E27FC236}">
                  <a16:creationId xmlns:a16="http://schemas.microsoft.com/office/drawing/2014/main" xmlns="" id="{40E17E95-BD10-E4F8-F5CE-B0F1B4F0D445}"/>
                </a:ext>
              </a:extLst>
            </p:cNvPr>
            <p:cNvGraphicFramePr>
              <a:graphicFrameLocks/>
            </p:cNvGraphicFramePr>
            <p:nvPr/>
          </p:nvGraphicFramePr>
          <p:xfrm>
            <a:off x="2305" y="1480"/>
            <a:ext cx="191" cy="178"/>
          </p:xfrm>
          <a:graphic>
            <a:graphicData uri="http://schemas.openxmlformats.org/presentationml/2006/ole">
              <mc:AlternateContent xmlns:mc="http://schemas.openxmlformats.org/markup-compatibility/2006">
                <mc:Choice xmlns:v="urn:schemas-microsoft-com:vml" Requires="v">
                  <p:oleObj spid="_x0000_s117213" r:id="rId14" imgW="228501" imgH="215806" progId="Equation.3">
                    <p:embed/>
                  </p:oleObj>
                </mc:Choice>
                <mc:Fallback>
                  <p:oleObj r:id="rId14" imgW="228501" imgH="215806" progId="Equation.3">
                    <p:embed/>
                    <p:pic>
                      <p:nvPicPr>
                        <p:cNvPr id="0" name=""/>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305" y="1480"/>
                          <a:ext cx="191"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3" name="对象 182291">
              <a:extLst>
                <a:ext uri="{FF2B5EF4-FFF2-40B4-BE49-F238E27FC236}">
                  <a16:creationId xmlns:a16="http://schemas.microsoft.com/office/drawing/2014/main" xmlns="" id="{7CA09CF8-A679-BB43-D0E7-A98C8A40032A}"/>
                </a:ext>
              </a:extLst>
            </p:cNvPr>
            <p:cNvGraphicFramePr>
              <a:graphicFrameLocks/>
            </p:cNvGraphicFramePr>
            <p:nvPr/>
          </p:nvGraphicFramePr>
          <p:xfrm>
            <a:off x="3192" y="1498"/>
            <a:ext cx="201" cy="187"/>
          </p:xfrm>
          <a:graphic>
            <a:graphicData uri="http://schemas.openxmlformats.org/presentationml/2006/ole">
              <mc:AlternateContent xmlns:mc="http://schemas.openxmlformats.org/markup-compatibility/2006">
                <mc:Choice xmlns:v="urn:schemas-microsoft-com:vml" Requires="v">
                  <p:oleObj spid="_x0000_s117214" r:id="rId15" imgW="228501" imgH="215806" progId="Equation.3">
                    <p:embed/>
                  </p:oleObj>
                </mc:Choice>
                <mc:Fallback>
                  <p:oleObj r:id="rId15" imgW="228501" imgH="215806" progId="Equation.3">
                    <p:embed/>
                    <p:pic>
                      <p:nvPicPr>
                        <p:cNvPr id="0" name=""/>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192" y="1498"/>
                          <a:ext cx="201" cy="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4" name="对象 182292">
              <a:extLst>
                <a:ext uri="{FF2B5EF4-FFF2-40B4-BE49-F238E27FC236}">
                  <a16:creationId xmlns:a16="http://schemas.microsoft.com/office/drawing/2014/main" xmlns="" id="{C6FC42CD-6852-5884-8167-3ED741E3C29B}"/>
                </a:ext>
              </a:extLst>
            </p:cNvPr>
            <p:cNvGraphicFramePr>
              <a:graphicFrameLocks/>
            </p:cNvGraphicFramePr>
            <p:nvPr/>
          </p:nvGraphicFramePr>
          <p:xfrm>
            <a:off x="454" y="1660"/>
            <a:ext cx="192" cy="180"/>
          </p:xfrm>
          <a:graphic>
            <a:graphicData uri="http://schemas.openxmlformats.org/presentationml/2006/ole">
              <mc:AlternateContent xmlns:mc="http://schemas.openxmlformats.org/markup-compatibility/2006">
                <mc:Choice xmlns:v="urn:schemas-microsoft-com:vml" Requires="v">
                  <p:oleObj spid="_x0000_s117215" r:id="rId16" imgW="241300" imgH="228600" progId="Equation.3">
                    <p:embed/>
                  </p:oleObj>
                </mc:Choice>
                <mc:Fallback>
                  <p:oleObj r:id="rId16" imgW="241300" imgH="228600" progId="Equation.3">
                    <p:embed/>
                    <p:pic>
                      <p:nvPicPr>
                        <p:cNvPr id="0" name=""/>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54" y="1660"/>
                          <a:ext cx="192"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5" name="对象 182293">
              <a:extLst>
                <a:ext uri="{FF2B5EF4-FFF2-40B4-BE49-F238E27FC236}">
                  <a16:creationId xmlns:a16="http://schemas.microsoft.com/office/drawing/2014/main" xmlns="" id="{6AAB3ECF-9D63-A8F3-5231-AF69734DA8D7}"/>
                </a:ext>
              </a:extLst>
            </p:cNvPr>
            <p:cNvGraphicFramePr>
              <a:graphicFrameLocks/>
            </p:cNvGraphicFramePr>
            <p:nvPr/>
          </p:nvGraphicFramePr>
          <p:xfrm>
            <a:off x="1564" y="1696"/>
            <a:ext cx="161" cy="151"/>
          </p:xfrm>
          <a:graphic>
            <a:graphicData uri="http://schemas.openxmlformats.org/presentationml/2006/ole">
              <mc:AlternateContent xmlns:mc="http://schemas.openxmlformats.org/markup-compatibility/2006">
                <mc:Choice xmlns:v="urn:schemas-microsoft-com:vml" Requires="v">
                  <p:oleObj spid="_x0000_s117216" r:id="rId18" imgW="241300" imgH="228600" progId="Equation.3">
                    <p:embed/>
                  </p:oleObj>
                </mc:Choice>
                <mc:Fallback>
                  <p:oleObj r:id="rId18" imgW="241300" imgH="228600" progId="Equation.3">
                    <p:embed/>
                    <p:pic>
                      <p:nvPicPr>
                        <p:cNvPr id="0" name=""/>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564" y="1696"/>
                          <a:ext cx="161" cy="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6" name="矩形 182294">
              <a:extLst>
                <a:ext uri="{FF2B5EF4-FFF2-40B4-BE49-F238E27FC236}">
                  <a16:creationId xmlns:a16="http://schemas.microsoft.com/office/drawing/2014/main" xmlns="" id="{39F67DB9-8333-7A3D-777B-A9AEAD427AA2}"/>
                </a:ext>
              </a:extLst>
            </p:cNvPr>
            <p:cNvSpPr>
              <a:spLocks noChangeArrowheads="1"/>
            </p:cNvSpPr>
            <p:nvPr/>
          </p:nvSpPr>
          <p:spPr bwMode="auto">
            <a:xfrm>
              <a:off x="586" y="1153"/>
              <a:ext cx="60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r>
                <a:rPr lang="zh-CN" altLang="en-US" sz="2000" dirty="0">
                  <a:solidFill>
                    <a:schemeClr val="tx1"/>
                  </a:solidFill>
                  <a:latin typeface="+mn-ea"/>
                  <a:ea typeface="+mn-ea"/>
                </a:rPr>
                <a:t>当增大</a:t>
              </a:r>
            </a:p>
          </p:txBody>
        </p:sp>
        <p:sp>
          <p:nvSpPr>
            <p:cNvPr id="77" name="矩形 182295">
              <a:extLst>
                <a:ext uri="{FF2B5EF4-FFF2-40B4-BE49-F238E27FC236}">
                  <a16:creationId xmlns:a16="http://schemas.microsoft.com/office/drawing/2014/main" xmlns="" id="{5A292F4C-62A8-C96D-6B57-872F9F68D8AB}"/>
                </a:ext>
              </a:extLst>
            </p:cNvPr>
            <p:cNvSpPr>
              <a:spLocks noChangeArrowheads="1"/>
            </p:cNvSpPr>
            <p:nvPr/>
          </p:nvSpPr>
          <p:spPr bwMode="auto">
            <a:xfrm>
              <a:off x="1185" y="1173"/>
              <a:ext cx="351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r>
                <a:rPr lang="zh-CN" altLang="en-US" sz="2000">
                  <a:solidFill>
                    <a:schemeClr val="tx1"/>
                  </a:solidFill>
                  <a:latin typeface="+mn-ea"/>
                  <a:ea typeface="+mn-ea"/>
                </a:rPr>
                <a:t>  后，为了维持放大器仍工作于临界状态，同时</a:t>
              </a:r>
            </a:p>
          </p:txBody>
        </p:sp>
        <p:sp>
          <p:nvSpPr>
            <p:cNvPr id="78" name="矩形 182296">
              <a:extLst>
                <a:ext uri="{FF2B5EF4-FFF2-40B4-BE49-F238E27FC236}">
                  <a16:creationId xmlns:a16="http://schemas.microsoft.com/office/drawing/2014/main" xmlns="" id="{15B52E76-01F6-B896-B58C-8D5C063D91AF}"/>
                </a:ext>
              </a:extLst>
            </p:cNvPr>
            <p:cNvSpPr>
              <a:spLocks noChangeArrowheads="1"/>
            </p:cNvSpPr>
            <p:nvPr/>
          </p:nvSpPr>
          <p:spPr bwMode="auto">
            <a:xfrm>
              <a:off x="4766" y="1215"/>
              <a:ext cx="319"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r>
                <a:rPr lang="en-US" altLang="zh-CN" sz="2000">
                  <a:solidFill>
                    <a:schemeClr val="tx1"/>
                  </a:solidFill>
                  <a:latin typeface="+mn-ea"/>
                  <a:ea typeface="+mn-ea"/>
                </a:rPr>
                <a:t>﹑</a:t>
              </a:r>
            </a:p>
          </p:txBody>
        </p:sp>
        <p:sp>
          <p:nvSpPr>
            <p:cNvPr id="79" name="矩形 182297">
              <a:extLst>
                <a:ext uri="{FF2B5EF4-FFF2-40B4-BE49-F238E27FC236}">
                  <a16:creationId xmlns:a16="http://schemas.microsoft.com/office/drawing/2014/main" xmlns="" id="{A5F62FF6-0B8E-2582-9368-C1FCBA025EC8}"/>
                </a:ext>
              </a:extLst>
            </p:cNvPr>
            <p:cNvSpPr>
              <a:spLocks noChangeArrowheads="1"/>
            </p:cNvSpPr>
            <p:nvPr/>
          </p:nvSpPr>
          <p:spPr bwMode="auto">
            <a:xfrm>
              <a:off x="450" y="1409"/>
              <a:ext cx="189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r>
                <a:rPr lang="zh-CN" altLang="en-US" sz="2000">
                  <a:solidFill>
                    <a:schemeClr val="tx1"/>
                  </a:solidFill>
                  <a:latin typeface="+mn-ea"/>
                  <a:ea typeface="+mn-ea"/>
                </a:rPr>
                <a:t>又不能变，此时只能增加</a:t>
              </a:r>
            </a:p>
          </p:txBody>
        </p:sp>
        <p:sp>
          <p:nvSpPr>
            <p:cNvPr id="80" name="矩形 182298">
              <a:extLst>
                <a:ext uri="{FF2B5EF4-FFF2-40B4-BE49-F238E27FC236}">
                  <a16:creationId xmlns:a16="http://schemas.microsoft.com/office/drawing/2014/main" xmlns="" id="{0589BF1F-9569-E2A3-7E97-0FD3F8159C51}"/>
                </a:ext>
              </a:extLst>
            </p:cNvPr>
            <p:cNvSpPr>
              <a:spLocks noChangeArrowheads="1"/>
            </p:cNvSpPr>
            <p:nvPr/>
          </p:nvSpPr>
          <p:spPr bwMode="auto">
            <a:xfrm>
              <a:off x="2496" y="1436"/>
              <a:ext cx="76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r>
                <a:rPr lang="zh-CN" altLang="en-US" sz="2000">
                  <a:solidFill>
                    <a:schemeClr val="tx1"/>
                  </a:solidFill>
                  <a:latin typeface="+mn-ea"/>
                  <a:ea typeface="+mn-ea"/>
                </a:rPr>
                <a:t>。因为当</a:t>
              </a:r>
            </a:p>
          </p:txBody>
        </p:sp>
        <p:sp>
          <p:nvSpPr>
            <p:cNvPr id="81" name="矩形 182299">
              <a:extLst>
                <a:ext uri="{FF2B5EF4-FFF2-40B4-BE49-F238E27FC236}">
                  <a16:creationId xmlns:a16="http://schemas.microsoft.com/office/drawing/2014/main" xmlns="" id="{000D58EE-4A67-BA4B-919D-7189E9C9E359}"/>
                </a:ext>
              </a:extLst>
            </p:cNvPr>
            <p:cNvSpPr>
              <a:spLocks noChangeArrowheads="1"/>
            </p:cNvSpPr>
            <p:nvPr/>
          </p:nvSpPr>
          <p:spPr bwMode="auto">
            <a:xfrm>
              <a:off x="3393" y="1445"/>
              <a:ext cx="189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r>
                <a:rPr lang="zh-CN" altLang="en-US" sz="2000">
                  <a:solidFill>
                    <a:schemeClr val="tx1"/>
                  </a:solidFill>
                  <a:latin typeface="+mn-ea"/>
                  <a:ea typeface="+mn-ea"/>
                </a:rPr>
                <a:t>增大时输入到管子的电压</a:t>
              </a:r>
            </a:p>
          </p:txBody>
        </p:sp>
        <p:sp>
          <p:nvSpPr>
            <p:cNvPr id="82" name="矩形 182300">
              <a:extLst>
                <a:ext uri="{FF2B5EF4-FFF2-40B4-BE49-F238E27FC236}">
                  <a16:creationId xmlns:a16="http://schemas.microsoft.com/office/drawing/2014/main" xmlns="" id="{40077A37-1A2C-BC76-9933-98FD9FA1CD71}"/>
                </a:ext>
              </a:extLst>
            </p:cNvPr>
            <p:cNvSpPr>
              <a:spLocks noChangeArrowheads="1"/>
            </p:cNvSpPr>
            <p:nvPr/>
          </p:nvSpPr>
          <p:spPr bwMode="auto">
            <a:xfrm>
              <a:off x="669" y="1659"/>
              <a:ext cx="92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r>
                <a:rPr lang="zh-CN" altLang="en-US" sz="2000">
                  <a:solidFill>
                    <a:schemeClr val="tx1"/>
                  </a:solidFill>
                  <a:latin typeface="+mn-ea"/>
                  <a:ea typeface="+mn-ea"/>
                </a:rPr>
                <a:t>也增加，当</a:t>
              </a:r>
            </a:p>
          </p:txBody>
        </p:sp>
        <p:sp>
          <p:nvSpPr>
            <p:cNvPr id="83" name="矩形 182301">
              <a:extLst>
                <a:ext uri="{FF2B5EF4-FFF2-40B4-BE49-F238E27FC236}">
                  <a16:creationId xmlns:a16="http://schemas.microsoft.com/office/drawing/2014/main" xmlns="" id="{6766F0F8-A8ED-4950-3C80-617DA6FED451}"/>
                </a:ext>
              </a:extLst>
            </p:cNvPr>
            <p:cNvSpPr>
              <a:spLocks noChangeArrowheads="1"/>
            </p:cNvSpPr>
            <p:nvPr/>
          </p:nvSpPr>
          <p:spPr bwMode="auto">
            <a:xfrm>
              <a:off x="1725" y="1695"/>
              <a:ext cx="318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r>
                <a:rPr lang="zh-CN" altLang="en-US" sz="2000">
                  <a:solidFill>
                    <a:schemeClr val="tx1"/>
                  </a:solidFill>
                  <a:latin typeface="+mn-ea"/>
                  <a:ea typeface="+mn-ea"/>
                </a:rPr>
                <a:t>增加时功效管的工作状态由欠压进入临界。</a:t>
              </a:r>
            </a:p>
          </p:txBody>
        </p:sp>
        <p:sp>
          <p:nvSpPr>
            <p:cNvPr id="84" name="矩形 182302">
              <a:extLst>
                <a:ext uri="{FF2B5EF4-FFF2-40B4-BE49-F238E27FC236}">
                  <a16:creationId xmlns:a16="http://schemas.microsoft.com/office/drawing/2014/main" xmlns="" id="{F5763342-FA10-CF8F-2115-EF3BF8896B8E}"/>
                </a:ext>
              </a:extLst>
            </p:cNvPr>
            <p:cNvSpPr>
              <a:spLocks noChangeArrowheads="1"/>
            </p:cNvSpPr>
            <p:nvPr/>
          </p:nvSpPr>
          <p:spPr bwMode="auto">
            <a:xfrm>
              <a:off x="230" y="1154"/>
              <a:ext cx="44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a:solidFill>
                    <a:schemeClr val="tx1"/>
                  </a:solidFill>
                  <a:latin typeface="+mn-ea"/>
                  <a:ea typeface="+mn-ea"/>
                </a:rPr>
                <a:t>解 </a:t>
              </a:r>
              <a:r>
                <a:rPr lang="en-US" altLang="zh-CN" sz="2000">
                  <a:solidFill>
                    <a:schemeClr val="tx1"/>
                  </a:solidFill>
                  <a:latin typeface="+mn-ea"/>
                  <a:ea typeface="+mn-ea"/>
                </a:rPr>
                <a:t>:</a:t>
              </a:r>
              <a:endParaRPr lang="zh-CN" altLang="en-US" sz="2000">
                <a:solidFill>
                  <a:schemeClr val="tx1"/>
                </a:solidFill>
                <a:latin typeface="+mn-ea"/>
                <a:ea typeface="+mn-ea"/>
              </a:endParaRPr>
            </a:p>
          </p:txBody>
        </p:sp>
      </p:grpSp>
      <p:graphicFrame>
        <p:nvGraphicFramePr>
          <p:cNvPr id="85" name="Object 5">
            <a:extLst>
              <a:ext uri="{FF2B5EF4-FFF2-40B4-BE49-F238E27FC236}">
                <a16:creationId xmlns:a16="http://schemas.microsoft.com/office/drawing/2014/main" xmlns="" id="{97183D72-0D24-2585-FFCE-97B5C7871051}"/>
              </a:ext>
            </a:extLst>
          </p:cNvPr>
          <p:cNvGraphicFramePr>
            <a:graphicFrameLocks/>
          </p:cNvGraphicFramePr>
          <p:nvPr>
            <p:extLst>
              <p:ext uri="{D42A27DB-BD31-4B8C-83A1-F6EECF244321}">
                <p14:modId xmlns:p14="http://schemas.microsoft.com/office/powerpoint/2010/main" val="2707485447"/>
              </p:ext>
            </p:extLst>
          </p:nvPr>
        </p:nvGraphicFramePr>
        <p:xfrm>
          <a:off x="861626" y="3871912"/>
          <a:ext cx="3694113" cy="1862138"/>
        </p:xfrm>
        <a:graphic>
          <a:graphicData uri="http://schemas.openxmlformats.org/presentationml/2006/ole">
            <mc:AlternateContent xmlns:mc="http://schemas.openxmlformats.org/markup-compatibility/2006">
              <mc:Choice xmlns:v="urn:schemas-microsoft-com:vml" Requires="v">
                <p:oleObj spid="_x0000_s117217" r:id="rId20" imgW="3038856" imgH="1533144" progId="Word.Picture.8">
                  <p:embed/>
                </p:oleObj>
              </mc:Choice>
              <mc:Fallback>
                <p:oleObj r:id="rId20" imgW="3038856" imgH="1533144" progId="Word.Picture.8">
                  <p:embed/>
                  <p:pic>
                    <p:nvPicPr>
                      <p:cNvPr id="0" name=""/>
                      <p:cNvPicPr>
                        <a:picLocks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861626" y="3871912"/>
                        <a:ext cx="3694113" cy="186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pic>
        <p:nvPicPr>
          <p:cNvPr id="86" name="图片 182304" descr="未命名">
            <a:extLst>
              <a:ext uri="{FF2B5EF4-FFF2-40B4-BE49-F238E27FC236}">
                <a16:creationId xmlns:a16="http://schemas.microsoft.com/office/drawing/2014/main" xmlns="" id="{3871A763-B105-4A68-F3D7-DA08548F2A19}"/>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208201" y="3725862"/>
            <a:ext cx="3005138" cy="27670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62380121"/>
      </p:ext>
    </p:extLst>
  </p:cSld>
  <p:clrMapOvr>
    <a:masterClrMapping/>
  </p:clrMapOvr>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153</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12"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4.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谐振</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功率</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放大器</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grpSp>
        <p:nvGrpSpPr>
          <p:cNvPr id="5" name="组合 179203">
            <a:extLst>
              <a:ext uri="{FF2B5EF4-FFF2-40B4-BE49-F238E27FC236}">
                <a16:creationId xmlns:a16="http://schemas.microsoft.com/office/drawing/2014/main" xmlns="" id="{4FFC9774-654C-B713-B0A4-2B8C7A3BB241}"/>
              </a:ext>
            </a:extLst>
          </p:cNvPr>
          <p:cNvGrpSpPr>
            <a:grpSpLocks/>
          </p:cNvGrpSpPr>
          <p:nvPr/>
        </p:nvGrpSpPr>
        <p:grpSpPr bwMode="auto">
          <a:xfrm>
            <a:off x="216542" y="1267911"/>
            <a:ext cx="8620125" cy="1720849"/>
            <a:chOff x="152" y="2244"/>
            <a:chExt cx="5430" cy="1084"/>
          </a:xfrm>
        </p:grpSpPr>
        <p:graphicFrame>
          <p:nvGraphicFramePr>
            <p:cNvPr id="6" name="对象 179204">
              <a:extLst>
                <a:ext uri="{FF2B5EF4-FFF2-40B4-BE49-F238E27FC236}">
                  <a16:creationId xmlns:a16="http://schemas.microsoft.com/office/drawing/2014/main" xmlns="" id="{3910DD2D-8829-01EF-D454-B60BD8D10A8C}"/>
                </a:ext>
              </a:extLst>
            </p:cNvPr>
            <p:cNvGraphicFramePr>
              <a:graphicFrameLocks/>
            </p:cNvGraphicFramePr>
            <p:nvPr/>
          </p:nvGraphicFramePr>
          <p:xfrm>
            <a:off x="238" y="2544"/>
            <a:ext cx="780" cy="210"/>
          </p:xfrm>
          <a:graphic>
            <a:graphicData uri="http://schemas.openxmlformats.org/presentationml/2006/ole">
              <mc:AlternateContent xmlns:mc="http://schemas.openxmlformats.org/markup-compatibility/2006">
                <mc:Choice xmlns:v="urn:schemas-microsoft-com:vml" Requires="v">
                  <p:oleObj spid="_x0000_s118503" r:id="rId3" imgW="850900" imgH="228600" progId="Equation.3">
                    <p:embed/>
                  </p:oleObj>
                </mc:Choice>
                <mc:Fallback>
                  <p:oleObj r:id="rId3" imgW="850900" imgH="228600" progId="Equation.3">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8" y="2544"/>
                          <a:ext cx="780"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 name="对象 179205">
              <a:extLst>
                <a:ext uri="{FF2B5EF4-FFF2-40B4-BE49-F238E27FC236}">
                  <a16:creationId xmlns:a16="http://schemas.microsoft.com/office/drawing/2014/main" xmlns="" id="{C7A9FCA4-680B-E8E3-6ED8-17073F3B145A}"/>
                </a:ext>
              </a:extLst>
            </p:cNvPr>
            <p:cNvGraphicFramePr>
              <a:graphicFrameLocks/>
            </p:cNvGraphicFramePr>
            <p:nvPr/>
          </p:nvGraphicFramePr>
          <p:xfrm>
            <a:off x="2152" y="2544"/>
            <a:ext cx="494" cy="205"/>
          </p:xfrm>
          <a:graphic>
            <a:graphicData uri="http://schemas.openxmlformats.org/presentationml/2006/ole">
              <mc:AlternateContent xmlns:mc="http://schemas.openxmlformats.org/markup-compatibility/2006">
                <mc:Choice xmlns:v="urn:schemas-microsoft-com:vml" Requires="v">
                  <p:oleObj spid="_x0000_s118504" r:id="rId5" imgW="622030" imgH="253890" progId="Equation.3">
                    <p:embed/>
                  </p:oleObj>
                </mc:Choice>
                <mc:Fallback>
                  <p:oleObj r:id="rId5" imgW="622030" imgH="253890" progId="Equation.3">
                    <p:embed/>
                    <p:pic>
                      <p:nvPicPr>
                        <p:cNvPr id="0" name=""/>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52" y="2544"/>
                          <a:ext cx="494"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 name="对象 179206">
              <a:extLst>
                <a:ext uri="{FF2B5EF4-FFF2-40B4-BE49-F238E27FC236}">
                  <a16:creationId xmlns:a16="http://schemas.microsoft.com/office/drawing/2014/main" xmlns="" id="{5C718AA9-569C-581E-44BD-31A142FF4F06}"/>
                </a:ext>
              </a:extLst>
            </p:cNvPr>
            <p:cNvGraphicFramePr>
              <a:graphicFrameLocks/>
            </p:cNvGraphicFramePr>
            <p:nvPr/>
          </p:nvGraphicFramePr>
          <p:xfrm>
            <a:off x="1212" y="2554"/>
            <a:ext cx="606" cy="183"/>
          </p:xfrm>
          <a:graphic>
            <a:graphicData uri="http://schemas.openxmlformats.org/presentationml/2006/ole">
              <mc:AlternateContent xmlns:mc="http://schemas.openxmlformats.org/markup-compatibility/2006">
                <mc:Choice xmlns:v="urn:schemas-microsoft-com:vml" Requires="v">
                  <p:oleObj spid="_x0000_s118505" name="Equation" r:id="rId7" imgW="723586" imgH="215806" progId="Equation.DSMT4">
                    <p:embed/>
                  </p:oleObj>
                </mc:Choice>
                <mc:Fallback>
                  <p:oleObj name="Equation" r:id="rId7" imgW="723586" imgH="215806" progId="Equation.DSMT4">
                    <p:embed/>
                    <p:pic>
                      <p:nvPicPr>
                        <p:cNvPr id="0" name=""/>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12" y="2554"/>
                          <a:ext cx="606"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9" name="对象 179207">
              <a:extLst>
                <a:ext uri="{FF2B5EF4-FFF2-40B4-BE49-F238E27FC236}">
                  <a16:creationId xmlns:a16="http://schemas.microsoft.com/office/drawing/2014/main" xmlns="" id="{B22D06CF-7A1C-E221-0A45-DA68FA160C6F}"/>
                </a:ext>
              </a:extLst>
            </p:cNvPr>
            <p:cNvGraphicFramePr>
              <a:graphicFrameLocks/>
            </p:cNvGraphicFramePr>
            <p:nvPr/>
          </p:nvGraphicFramePr>
          <p:xfrm>
            <a:off x="2921" y="2540"/>
            <a:ext cx="446" cy="196"/>
          </p:xfrm>
          <a:graphic>
            <a:graphicData uri="http://schemas.openxmlformats.org/presentationml/2006/ole">
              <mc:AlternateContent xmlns:mc="http://schemas.openxmlformats.org/markup-compatibility/2006">
                <mc:Choice xmlns:v="urn:schemas-microsoft-com:vml" Requires="v">
                  <p:oleObj spid="_x0000_s118506" r:id="rId9" imgW="545863" imgH="241195" progId="Equation.3">
                    <p:embed/>
                  </p:oleObj>
                </mc:Choice>
                <mc:Fallback>
                  <p:oleObj r:id="rId9" imgW="545863" imgH="241195" progId="Equation.3">
                    <p:embed/>
                    <p:pic>
                      <p:nvPicPr>
                        <p:cNvPr id="0" name=""/>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921" y="2540"/>
                          <a:ext cx="446"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0" name="对象 179208">
              <a:extLst>
                <a:ext uri="{FF2B5EF4-FFF2-40B4-BE49-F238E27FC236}">
                  <a16:creationId xmlns:a16="http://schemas.microsoft.com/office/drawing/2014/main" xmlns="" id="{0B411B63-0037-59C9-FF00-519ECB7728F6}"/>
                </a:ext>
              </a:extLst>
            </p:cNvPr>
            <p:cNvGraphicFramePr>
              <a:graphicFrameLocks/>
            </p:cNvGraphicFramePr>
            <p:nvPr/>
          </p:nvGraphicFramePr>
          <p:xfrm>
            <a:off x="3577" y="2554"/>
            <a:ext cx="554" cy="196"/>
          </p:xfrm>
          <a:graphic>
            <a:graphicData uri="http://schemas.openxmlformats.org/presentationml/2006/ole">
              <mc:AlternateContent xmlns:mc="http://schemas.openxmlformats.org/markup-compatibility/2006">
                <mc:Choice xmlns:v="urn:schemas-microsoft-com:vml" Requires="v">
                  <p:oleObj spid="_x0000_s118507" r:id="rId11" imgW="647700" imgH="228600" progId="Equation.3">
                    <p:embed/>
                  </p:oleObj>
                </mc:Choice>
                <mc:Fallback>
                  <p:oleObj r:id="rId11" imgW="647700" imgH="228600" progId="Equation.3">
                    <p:embed/>
                    <p:pic>
                      <p:nvPicPr>
                        <p:cNvPr id="0" name=""/>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577" y="2554"/>
                          <a:ext cx="554"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1" name="对象 179209">
              <a:extLst>
                <a:ext uri="{FF2B5EF4-FFF2-40B4-BE49-F238E27FC236}">
                  <a16:creationId xmlns:a16="http://schemas.microsoft.com/office/drawing/2014/main" xmlns="" id="{70A86397-7BDA-D3CD-E16C-D5A0A25E5F4D}"/>
                </a:ext>
              </a:extLst>
            </p:cNvPr>
            <p:cNvGraphicFramePr>
              <a:graphicFrameLocks/>
            </p:cNvGraphicFramePr>
            <p:nvPr/>
          </p:nvGraphicFramePr>
          <p:xfrm>
            <a:off x="257" y="2813"/>
            <a:ext cx="470" cy="194"/>
          </p:xfrm>
          <a:graphic>
            <a:graphicData uri="http://schemas.openxmlformats.org/presentationml/2006/ole">
              <mc:AlternateContent xmlns:mc="http://schemas.openxmlformats.org/markup-compatibility/2006">
                <mc:Choice xmlns:v="urn:schemas-microsoft-com:vml" Requires="v">
                  <p:oleObj spid="_x0000_s118508" r:id="rId13" imgW="482391" imgH="203112" progId="Equation.3">
                    <p:embed/>
                  </p:oleObj>
                </mc:Choice>
                <mc:Fallback>
                  <p:oleObj r:id="rId13" imgW="482391" imgH="203112" progId="Equation.3">
                    <p:embed/>
                    <p:pic>
                      <p:nvPicPr>
                        <p:cNvPr id="0" name=""/>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57" y="2813"/>
                          <a:ext cx="470"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3" name="对象 179210">
              <a:extLst>
                <a:ext uri="{FF2B5EF4-FFF2-40B4-BE49-F238E27FC236}">
                  <a16:creationId xmlns:a16="http://schemas.microsoft.com/office/drawing/2014/main" xmlns="" id="{376B1865-C1C5-C55E-956C-0DF75B9A6ADF}"/>
                </a:ext>
              </a:extLst>
            </p:cNvPr>
            <p:cNvGraphicFramePr>
              <a:graphicFrameLocks/>
            </p:cNvGraphicFramePr>
            <p:nvPr/>
          </p:nvGraphicFramePr>
          <p:xfrm>
            <a:off x="1628" y="2811"/>
            <a:ext cx="513" cy="195"/>
          </p:xfrm>
          <a:graphic>
            <a:graphicData uri="http://schemas.openxmlformats.org/presentationml/2006/ole">
              <mc:AlternateContent xmlns:mc="http://schemas.openxmlformats.org/markup-compatibility/2006">
                <mc:Choice xmlns:v="urn:schemas-microsoft-com:vml" Requires="v">
                  <p:oleObj spid="_x0000_s118509" r:id="rId15" imgW="596900" imgH="228600" progId="Equation.3">
                    <p:embed/>
                  </p:oleObj>
                </mc:Choice>
                <mc:Fallback>
                  <p:oleObj r:id="rId15" imgW="596900" imgH="228600" progId="Equation.3">
                    <p:embed/>
                    <p:pic>
                      <p:nvPicPr>
                        <p:cNvPr id="0" name=""/>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628" y="2811"/>
                          <a:ext cx="513"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4" name="对象 179211">
              <a:extLst>
                <a:ext uri="{FF2B5EF4-FFF2-40B4-BE49-F238E27FC236}">
                  <a16:creationId xmlns:a16="http://schemas.microsoft.com/office/drawing/2014/main" xmlns="" id="{A877912D-0566-E5E4-D22B-8F4E21387316}"/>
                </a:ext>
              </a:extLst>
            </p:cNvPr>
            <p:cNvGraphicFramePr>
              <a:graphicFrameLocks/>
            </p:cNvGraphicFramePr>
            <p:nvPr/>
          </p:nvGraphicFramePr>
          <p:xfrm>
            <a:off x="2373" y="2811"/>
            <a:ext cx="477" cy="196"/>
          </p:xfrm>
          <a:graphic>
            <a:graphicData uri="http://schemas.openxmlformats.org/presentationml/2006/ole">
              <mc:AlternateContent xmlns:mc="http://schemas.openxmlformats.org/markup-compatibility/2006">
                <mc:Choice xmlns:v="urn:schemas-microsoft-com:vml" Requires="v">
                  <p:oleObj spid="_x0000_s118510" r:id="rId17" imgW="532937" imgH="215713" progId="Equation.3">
                    <p:embed/>
                  </p:oleObj>
                </mc:Choice>
                <mc:Fallback>
                  <p:oleObj r:id="rId17" imgW="532937" imgH="215713" progId="Equation.3">
                    <p:embed/>
                    <p:pic>
                      <p:nvPicPr>
                        <p:cNvPr id="0" name=""/>
                        <p:cNvPicPr>
                          <a:picLocks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373" y="2811"/>
                          <a:ext cx="477"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5" name="矩形 179212">
              <a:extLst>
                <a:ext uri="{FF2B5EF4-FFF2-40B4-BE49-F238E27FC236}">
                  <a16:creationId xmlns:a16="http://schemas.microsoft.com/office/drawing/2014/main" xmlns="" id="{02E21DDA-901D-15EB-0838-8B5F3683616B}"/>
                </a:ext>
              </a:extLst>
            </p:cNvPr>
            <p:cNvSpPr>
              <a:spLocks noChangeArrowheads="1"/>
            </p:cNvSpPr>
            <p:nvPr/>
          </p:nvSpPr>
          <p:spPr bwMode="auto">
            <a:xfrm>
              <a:off x="152" y="2244"/>
              <a:ext cx="543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r>
                <a:rPr lang="en-US" altLang="zh-CN" sz="2000">
                  <a:solidFill>
                    <a:schemeClr val="tx1"/>
                  </a:solidFill>
                  <a:latin typeface="+mn-ea"/>
                  <a:ea typeface="+mn-ea"/>
                </a:rPr>
                <a:t>3.</a:t>
              </a:r>
              <a:r>
                <a:rPr lang="zh-CN" altLang="en-US" sz="2000">
                  <a:solidFill>
                    <a:schemeClr val="tx1"/>
                  </a:solidFill>
                  <a:latin typeface="+mn-ea"/>
                  <a:ea typeface="+mn-ea"/>
                </a:rPr>
                <a:t>若电路均已调谐好，工作在临界工作状态，已知晶体管的转移特性的斜率</a:t>
              </a:r>
            </a:p>
          </p:txBody>
        </p:sp>
        <p:sp>
          <p:nvSpPr>
            <p:cNvPr id="16" name="矩形 179213">
              <a:extLst>
                <a:ext uri="{FF2B5EF4-FFF2-40B4-BE49-F238E27FC236}">
                  <a16:creationId xmlns:a16="http://schemas.microsoft.com/office/drawing/2014/main" xmlns="" id="{E5278276-6E10-AED2-B967-9ADA9059B49F}"/>
                </a:ext>
              </a:extLst>
            </p:cNvPr>
            <p:cNvSpPr>
              <a:spLocks noChangeArrowheads="1"/>
            </p:cNvSpPr>
            <p:nvPr/>
          </p:nvSpPr>
          <p:spPr bwMode="auto">
            <a:xfrm>
              <a:off x="1061" y="2514"/>
              <a:ext cx="27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r>
                <a:rPr lang="zh-CN" altLang="en-US" sz="2000">
                  <a:solidFill>
                    <a:schemeClr val="tx1"/>
                  </a:solidFill>
                  <a:latin typeface="+mn-ea"/>
                  <a:ea typeface="+mn-ea"/>
                </a:rPr>
                <a:t>，</a:t>
              </a:r>
            </a:p>
          </p:txBody>
        </p:sp>
        <p:sp>
          <p:nvSpPr>
            <p:cNvPr id="17" name="矩形 179214">
              <a:extLst>
                <a:ext uri="{FF2B5EF4-FFF2-40B4-BE49-F238E27FC236}">
                  <a16:creationId xmlns:a16="http://schemas.microsoft.com/office/drawing/2014/main" xmlns="" id="{D4C67D5E-6AD9-314F-227A-3AABD96ECCAE}"/>
                </a:ext>
              </a:extLst>
            </p:cNvPr>
            <p:cNvSpPr>
              <a:spLocks noChangeArrowheads="1"/>
            </p:cNvSpPr>
            <p:nvPr/>
          </p:nvSpPr>
          <p:spPr bwMode="auto">
            <a:xfrm>
              <a:off x="1907" y="2514"/>
              <a:ext cx="27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r>
                <a:rPr lang="zh-CN" altLang="en-US" sz="2000">
                  <a:solidFill>
                    <a:schemeClr val="tx1"/>
                  </a:solidFill>
                  <a:latin typeface="+mn-ea"/>
                  <a:ea typeface="+mn-ea"/>
                </a:rPr>
                <a:t>，</a:t>
              </a:r>
            </a:p>
          </p:txBody>
        </p:sp>
        <p:sp>
          <p:nvSpPr>
            <p:cNvPr id="18" name="矩形 179215">
              <a:extLst>
                <a:ext uri="{FF2B5EF4-FFF2-40B4-BE49-F238E27FC236}">
                  <a16:creationId xmlns:a16="http://schemas.microsoft.com/office/drawing/2014/main" xmlns="" id="{CA9AF3BE-9DB9-D344-4ED2-148F47830A01}"/>
                </a:ext>
              </a:extLst>
            </p:cNvPr>
            <p:cNvSpPr>
              <a:spLocks noChangeArrowheads="1"/>
            </p:cNvSpPr>
            <p:nvPr/>
          </p:nvSpPr>
          <p:spPr bwMode="auto">
            <a:xfrm>
              <a:off x="2693" y="2532"/>
              <a:ext cx="27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r>
                <a:rPr lang="zh-CN" altLang="en-US" sz="2000">
                  <a:solidFill>
                    <a:schemeClr val="tx1"/>
                  </a:solidFill>
                  <a:latin typeface="+mn-ea"/>
                  <a:ea typeface="+mn-ea"/>
                </a:rPr>
                <a:t>，</a:t>
              </a:r>
            </a:p>
          </p:txBody>
        </p:sp>
        <p:sp>
          <p:nvSpPr>
            <p:cNvPr id="19" name="矩形 179216">
              <a:extLst>
                <a:ext uri="{FF2B5EF4-FFF2-40B4-BE49-F238E27FC236}">
                  <a16:creationId xmlns:a16="http://schemas.microsoft.com/office/drawing/2014/main" xmlns="" id="{72126B03-639A-09B2-E606-DDB104859993}"/>
                </a:ext>
              </a:extLst>
            </p:cNvPr>
            <p:cNvSpPr>
              <a:spLocks noChangeArrowheads="1"/>
            </p:cNvSpPr>
            <p:nvPr/>
          </p:nvSpPr>
          <p:spPr bwMode="auto">
            <a:xfrm>
              <a:off x="3367" y="2532"/>
              <a:ext cx="27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r>
                <a:rPr lang="zh-CN" altLang="en-US" sz="2000">
                  <a:solidFill>
                    <a:schemeClr val="tx1"/>
                  </a:solidFill>
                  <a:latin typeface="+mn-ea"/>
                  <a:ea typeface="+mn-ea"/>
                </a:rPr>
                <a:t>，</a:t>
              </a:r>
            </a:p>
          </p:txBody>
        </p:sp>
        <p:sp>
          <p:nvSpPr>
            <p:cNvPr id="20" name="矩形 179217">
              <a:extLst>
                <a:ext uri="{FF2B5EF4-FFF2-40B4-BE49-F238E27FC236}">
                  <a16:creationId xmlns:a16="http://schemas.microsoft.com/office/drawing/2014/main" xmlns="" id="{5A1A1DF3-693E-3154-67E4-6318FF68931F}"/>
                </a:ext>
              </a:extLst>
            </p:cNvPr>
            <p:cNvSpPr>
              <a:spLocks noChangeArrowheads="1"/>
            </p:cNvSpPr>
            <p:nvPr/>
          </p:nvSpPr>
          <p:spPr bwMode="auto">
            <a:xfrm>
              <a:off x="4131" y="2516"/>
              <a:ext cx="124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r>
                <a:rPr lang="zh-CN" altLang="en-US" sz="2000">
                  <a:solidFill>
                    <a:schemeClr val="tx1"/>
                  </a:solidFill>
                  <a:latin typeface="+mn-ea"/>
                  <a:ea typeface="+mn-ea"/>
                </a:rPr>
                <a:t>，电压利用系数</a:t>
              </a:r>
            </a:p>
          </p:txBody>
        </p:sp>
        <p:sp>
          <p:nvSpPr>
            <p:cNvPr id="21" name="矩形 179218">
              <a:extLst>
                <a:ext uri="{FF2B5EF4-FFF2-40B4-BE49-F238E27FC236}">
                  <a16:creationId xmlns:a16="http://schemas.microsoft.com/office/drawing/2014/main" xmlns="" id="{D38400A7-0DD5-38B0-5F11-AF61D482DFC4}"/>
                </a:ext>
              </a:extLst>
            </p:cNvPr>
            <p:cNvSpPr>
              <a:spLocks noChangeArrowheads="1"/>
            </p:cNvSpPr>
            <p:nvPr/>
          </p:nvSpPr>
          <p:spPr bwMode="auto">
            <a:xfrm>
              <a:off x="727" y="2784"/>
              <a:ext cx="92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r>
                <a:rPr lang="zh-CN" altLang="en-US" sz="2000">
                  <a:solidFill>
                    <a:schemeClr val="tx1"/>
                  </a:solidFill>
                  <a:latin typeface="+mn-ea"/>
                  <a:ea typeface="+mn-ea"/>
                </a:rPr>
                <a:t>，中介回路</a:t>
              </a:r>
            </a:p>
          </p:txBody>
        </p:sp>
        <p:sp>
          <p:nvSpPr>
            <p:cNvPr id="22" name="矩形 179219">
              <a:extLst>
                <a:ext uri="{FF2B5EF4-FFF2-40B4-BE49-F238E27FC236}">
                  <a16:creationId xmlns:a16="http://schemas.microsoft.com/office/drawing/2014/main" xmlns="" id="{87916147-79C1-5C28-B284-4E58BAC6CBB1}"/>
                </a:ext>
              </a:extLst>
            </p:cNvPr>
            <p:cNvSpPr>
              <a:spLocks noChangeArrowheads="1"/>
            </p:cNvSpPr>
            <p:nvPr/>
          </p:nvSpPr>
          <p:spPr bwMode="auto">
            <a:xfrm>
              <a:off x="2179" y="2785"/>
              <a:ext cx="27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r>
                <a:rPr lang="zh-CN" altLang="en-US" sz="2000">
                  <a:solidFill>
                    <a:schemeClr val="tx1"/>
                  </a:solidFill>
                  <a:latin typeface="+mn-ea"/>
                  <a:ea typeface="+mn-ea"/>
                </a:rPr>
                <a:t>，</a:t>
              </a:r>
            </a:p>
          </p:txBody>
        </p:sp>
        <p:sp>
          <p:nvSpPr>
            <p:cNvPr id="23" name="矩形 179220">
              <a:extLst>
                <a:ext uri="{FF2B5EF4-FFF2-40B4-BE49-F238E27FC236}">
                  <a16:creationId xmlns:a16="http://schemas.microsoft.com/office/drawing/2014/main" xmlns="" id="{E3F3BDF6-6764-5FC5-057F-513384CDD94D}"/>
                </a:ext>
              </a:extLst>
            </p:cNvPr>
            <p:cNvSpPr>
              <a:spLocks noChangeArrowheads="1"/>
            </p:cNvSpPr>
            <p:nvPr/>
          </p:nvSpPr>
          <p:spPr bwMode="auto">
            <a:xfrm>
              <a:off x="2850" y="2784"/>
              <a:ext cx="172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r>
                <a:rPr lang="zh-CN" altLang="en-US" sz="2000">
                  <a:solidFill>
                    <a:schemeClr val="tx1"/>
                  </a:solidFill>
                  <a:latin typeface="+mn-ea"/>
                  <a:ea typeface="+mn-ea"/>
                </a:rPr>
                <a:t>，求出集电极输出功率</a:t>
              </a:r>
            </a:p>
          </p:txBody>
        </p:sp>
        <p:graphicFrame>
          <p:nvGraphicFramePr>
            <p:cNvPr id="24" name="对象 179221">
              <a:extLst>
                <a:ext uri="{FF2B5EF4-FFF2-40B4-BE49-F238E27FC236}">
                  <a16:creationId xmlns:a16="http://schemas.microsoft.com/office/drawing/2014/main" xmlns="" id="{7EB138E4-39E4-4D31-C837-042383BA339D}"/>
                </a:ext>
              </a:extLst>
            </p:cNvPr>
            <p:cNvGraphicFramePr>
              <a:graphicFrameLocks/>
            </p:cNvGraphicFramePr>
            <p:nvPr/>
          </p:nvGraphicFramePr>
          <p:xfrm>
            <a:off x="4576" y="2835"/>
            <a:ext cx="158" cy="199"/>
          </p:xfrm>
          <a:graphic>
            <a:graphicData uri="http://schemas.openxmlformats.org/presentationml/2006/ole">
              <mc:AlternateContent xmlns:mc="http://schemas.openxmlformats.org/markup-compatibility/2006">
                <mc:Choice xmlns:v="urn:schemas-microsoft-com:vml" Requires="v">
                  <p:oleObj spid="_x0000_s118511" r:id="rId19" imgW="177646" imgH="228402" progId="Equation.3">
                    <p:embed/>
                  </p:oleObj>
                </mc:Choice>
                <mc:Fallback>
                  <p:oleObj r:id="rId19" imgW="177646" imgH="228402" progId="Equation.3">
                    <p:embed/>
                    <p:pic>
                      <p:nvPicPr>
                        <p:cNvPr id="0" name=""/>
                        <p:cNvPicPr>
                          <a:picLocks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576" y="2835"/>
                          <a:ext cx="158"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5" name="对象 179222">
              <a:extLst>
                <a:ext uri="{FF2B5EF4-FFF2-40B4-BE49-F238E27FC236}">
                  <a16:creationId xmlns:a16="http://schemas.microsoft.com/office/drawing/2014/main" xmlns="" id="{F1A3AAC3-0934-594E-1CD4-F6418037D9DE}"/>
                </a:ext>
              </a:extLst>
            </p:cNvPr>
            <p:cNvGraphicFramePr>
              <a:graphicFrameLocks/>
            </p:cNvGraphicFramePr>
            <p:nvPr/>
          </p:nvGraphicFramePr>
          <p:xfrm>
            <a:off x="1131" y="3106"/>
            <a:ext cx="180" cy="207"/>
          </p:xfrm>
          <a:graphic>
            <a:graphicData uri="http://schemas.openxmlformats.org/presentationml/2006/ole">
              <mc:AlternateContent xmlns:mc="http://schemas.openxmlformats.org/markup-compatibility/2006">
                <mc:Choice xmlns:v="urn:schemas-microsoft-com:vml" Requires="v">
                  <p:oleObj spid="_x0000_s118512" r:id="rId21" imgW="190335" imgH="215713" progId="Equation.3">
                    <p:embed/>
                  </p:oleObj>
                </mc:Choice>
                <mc:Fallback>
                  <p:oleObj r:id="rId21" imgW="190335" imgH="215713" progId="Equation.3">
                    <p:embed/>
                    <p:pic>
                      <p:nvPicPr>
                        <p:cNvPr id="0" name=""/>
                        <p:cNvPicPr>
                          <a:picLocks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131" y="3106"/>
                          <a:ext cx="180"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6" name="矩形 179223">
              <a:extLst>
                <a:ext uri="{FF2B5EF4-FFF2-40B4-BE49-F238E27FC236}">
                  <a16:creationId xmlns:a16="http://schemas.microsoft.com/office/drawing/2014/main" xmlns="" id="{C253A6F8-A099-789B-1A96-2E2EB162E306}"/>
                </a:ext>
              </a:extLst>
            </p:cNvPr>
            <p:cNvSpPr>
              <a:spLocks noChangeArrowheads="1"/>
            </p:cNvSpPr>
            <p:nvPr/>
          </p:nvSpPr>
          <p:spPr bwMode="auto">
            <a:xfrm>
              <a:off x="232" y="3063"/>
              <a:ext cx="92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r>
                <a:rPr lang="zh-CN" altLang="en-US" sz="2000">
                  <a:solidFill>
                    <a:schemeClr val="tx1"/>
                  </a:solidFill>
                  <a:latin typeface="+mn-ea"/>
                  <a:ea typeface="+mn-ea"/>
                </a:rPr>
                <a:t>与天线功率</a:t>
              </a:r>
            </a:p>
          </p:txBody>
        </p:sp>
        <p:sp>
          <p:nvSpPr>
            <p:cNvPr id="27" name="矩形 179224">
              <a:extLst>
                <a:ext uri="{FF2B5EF4-FFF2-40B4-BE49-F238E27FC236}">
                  <a16:creationId xmlns:a16="http://schemas.microsoft.com/office/drawing/2014/main" xmlns="" id="{09ECDE2A-6AAB-AB9B-B336-A5EED874F053}"/>
                </a:ext>
              </a:extLst>
            </p:cNvPr>
            <p:cNvSpPr>
              <a:spLocks noChangeArrowheads="1"/>
            </p:cNvSpPr>
            <p:nvPr/>
          </p:nvSpPr>
          <p:spPr bwMode="auto">
            <a:xfrm>
              <a:off x="1359" y="3076"/>
              <a:ext cx="36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r>
                <a:rPr lang="zh-CN" altLang="en-US" sz="2000">
                  <a:solidFill>
                    <a:schemeClr val="tx1"/>
                  </a:solidFill>
                  <a:latin typeface="+mn-ea"/>
                  <a:ea typeface="+mn-ea"/>
                </a:rPr>
                <a:t>。 </a:t>
              </a:r>
            </a:p>
          </p:txBody>
        </p:sp>
      </p:grpSp>
      <p:graphicFrame>
        <p:nvGraphicFramePr>
          <p:cNvPr id="28" name="对象 27">
            <a:extLst>
              <a:ext uri="{FF2B5EF4-FFF2-40B4-BE49-F238E27FC236}">
                <a16:creationId xmlns:a16="http://schemas.microsoft.com/office/drawing/2014/main" xmlns="" id="{ECF43FA2-0246-7B04-6F88-4C5918553E4A}"/>
              </a:ext>
            </a:extLst>
          </p:cNvPr>
          <p:cNvGraphicFramePr>
            <a:graphicFrameLocks/>
          </p:cNvGraphicFramePr>
          <p:nvPr>
            <p:extLst>
              <p:ext uri="{D42A27DB-BD31-4B8C-83A1-F6EECF244321}">
                <p14:modId xmlns:p14="http://schemas.microsoft.com/office/powerpoint/2010/main" val="2936996620"/>
              </p:ext>
            </p:extLst>
          </p:nvPr>
        </p:nvGraphicFramePr>
        <p:xfrm>
          <a:off x="1353192" y="2956217"/>
          <a:ext cx="244475" cy="320675"/>
        </p:xfrm>
        <a:graphic>
          <a:graphicData uri="http://schemas.openxmlformats.org/presentationml/2006/ole">
            <mc:AlternateContent xmlns:mc="http://schemas.openxmlformats.org/markup-compatibility/2006">
              <mc:Choice xmlns:v="urn:schemas-microsoft-com:vml" Requires="v">
                <p:oleObj spid="_x0000_s118513" r:id="rId23" imgW="177646" imgH="228402" progId="Equation.3">
                  <p:embed/>
                </p:oleObj>
              </mc:Choice>
              <mc:Fallback>
                <p:oleObj r:id="rId23" imgW="177646" imgH="228402" progId="Equation.3">
                  <p:embed/>
                  <p:pic>
                    <p:nvPicPr>
                      <p:cNvPr id="0" name=""/>
                      <p:cNvPicPr>
                        <a:picLocks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1353192" y="2956217"/>
                        <a:ext cx="244475"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9" name="对象 28">
            <a:extLst>
              <a:ext uri="{FF2B5EF4-FFF2-40B4-BE49-F238E27FC236}">
                <a16:creationId xmlns:a16="http://schemas.microsoft.com/office/drawing/2014/main" xmlns="" id="{1B41E17B-1446-109A-EF64-D15F6C8AFCEB}"/>
              </a:ext>
            </a:extLst>
          </p:cNvPr>
          <p:cNvGraphicFramePr>
            <a:graphicFrameLocks/>
          </p:cNvGraphicFramePr>
          <p:nvPr>
            <p:extLst>
              <p:ext uri="{D42A27DB-BD31-4B8C-83A1-F6EECF244321}">
                <p14:modId xmlns:p14="http://schemas.microsoft.com/office/powerpoint/2010/main" val="3097674777"/>
              </p:ext>
            </p:extLst>
          </p:nvPr>
        </p:nvGraphicFramePr>
        <p:xfrm>
          <a:off x="2600967" y="2980030"/>
          <a:ext cx="2227262" cy="333375"/>
        </p:xfrm>
        <a:graphic>
          <a:graphicData uri="http://schemas.openxmlformats.org/presentationml/2006/ole">
            <mc:AlternateContent xmlns:mc="http://schemas.openxmlformats.org/markup-compatibility/2006">
              <mc:Choice xmlns:v="urn:schemas-microsoft-com:vml" Requires="v">
                <p:oleObj spid="_x0000_s118514" r:id="rId25" imgW="1524000" imgH="228600" progId="Equation.3">
                  <p:embed/>
                </p:oleObj>
              </mc:Choice>
              <mc:Fallback>
                <p:oleObj r:id="rId25" imgW="1524000" imgH="228600" progId="Equation.3">
                  <p:embed/>
                  <p:pic>
                    <p:nvPicPr>
                      <p:cNvPr id="0" name=""/>
                      <p:cNvPicPr>
                        <a:picLocks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2600967" y="2980030"/>
                        <a:ext cx="222726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0" name="对象 29">
            <a:extLst>
              <a:ext uri="{FF2B5EF4-FFF2-40B4-BE49-F238E27FC236}">
                <a16:creationId xmlns:a16="http://schemas.microsoft.com/office/drawing/2014/main" xmlns="" id="{2949D85B-29C0-1079-95A6-45EB1F95F845}"/>
              </a:ext>
            </a:extLst>
          </p:cNvPr>
          <p:cNvGraphicFramePr>
            <a:graphicFrameLocks/>
          </p:cNvGraphicFramePr>
          <p:nvPr>
            <p:extLst>
              <p:ext uri="{D42A27DB-BD31-4B8C-83A1-F6EECF244321}">
                <p14:modId xmlns:p14="http://schemas.microsoft.com/office/powerpoint/2010/main" val="2100627108"/>
              </p:ext>
            </p:extLst>
          </p:nvPr>
        </p:nvGraphicFramePr>
        <p:xfrm>
          <a:off x="2600967" y="3464217"/>
          <a:ext cx="1925637" cy="325438"/>
        </p:xfrm>
        <a:graphic>
          <a:graphicData uri="http://schemas.openxmlformats.org/presentationml/2006/ole">
            <mc:AlternateContent xmlns:mc="http://schemas.openxmlformats.org/markup-compatibility/2006">
              <mc:Choice xmlns:v="urn:schemas-microsoft-com:vml" Requires="v">
                <p:oleObj spid="_x0000_s118515" r:id="rId27" imgW="1358900" imgH="228600" progId="Equation.3">
                  <p:embed/>
                </p:oleObj>
              </mc:Choice>
              <mc:Fallback>
                <p:oleObj r:id="rId27" imgW="1358900" imgH="228600" progId="Equation.3">
                  <p:embed/>
                  <p:pic>
                    <p:nvPicPr>
                      <p:cNvPr id="0" name=""/>
                      <p:cNvPicPr>
                        <a:picLocks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2600967" y="3464217"/>
                        <a:ext cx="1925637" cy="325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1" name="对象 30">
            <a:extLst>
              <a:ext uri="{FF2B5EF4-FFF2-40B4-BE49-F238E27FC236}">
                <a16:creationId xmlns:a16="http://schemas.microsoft.com/office/drawing/2014/main" xmlns="" id="{C48AEB3E-611C-301E-6423-B63FEACA24C6}"/>
              </a:ext>
            </a:extLst>
          </p:cNvPr>
          <p:cNvGraphicFramePr>
            <a:graphicFrameLocks/>
          </p:cNvGraphicFramePr>
          <p:nvPr>
            <p:extLst>
              <p:ext uri="{D42A27DB-BD31-4B8C-83A1-F6EECF244321}">
                <p14:modId xmlns:p14="http://schemas.microsoft.com/office/powerpoint/2010/main" val="559379385"/>
              </p:ext>
            </p:extLst>
          </p:nvPr>
        </p:nvGraphicFramePr>
        <p:xfrm>
          <a:off x="3086743" y="3827914"/>
          <a:ext cx="3275012" cy="700087"/>
        </p:xfrm>
        <a:graphic>
          <a:graphicData uri="http://schemas.openxmlformats.org/presentationml/2006/ole">
            <mc:AlternateContent xmlns:mc="http://schemas.openxmlformats.org/markup-compatibility/2006">
              <mc:Choice xmlns:v="urn:schemas-microsoft-com:vml" Requires="v">
                <p:oleObj spid="_x0000_s118516" r:id="rId29" imgW="2209800" imgH="469900" progId="Equation.3">
                  <p:embed/>
                </p:oleObj>
              </mc:Choice>
              <mc:Fallback>
                <p:oleObj r:id="rId29" imgW="2209800" imgH="469900" progId="Equation.3">
                  <p:embed/>
                  <p:pic>
                    <p:nvPicPr>
                      <p:cNvPr id="0" name=""/>
                      <p:cNvPicPr>
                        <a:picLocks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3086743" y="3827914"/>
                        <a:ext cx="3275012" cy="700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2" name="对象 31">
            <a:extLst>
              <a:ext uri="{FF2B5EF4-FFF2-40B4-BE49-F238E27FC236}">
                <a16:creationId xmlns:a16="http://schemas.microsoft.com/office/drawing/2014/main" xmlns="" id="{922BBD33-5469-B14C-7C50-2514B837A187}"/>
              </a:ext>
            </a:extLst>
          </p:cNvPr>
          <p:cNvGraphicFramePr>
            <a:graphicFrameLocks/>
          </p:cNvGraphicFramePr>
          <p:nvPr>
            <p:extLst>
              <p:ext uri="{D42A27DB-BD31-4B8C-83A1-F6EECF244321}">
                <p14:modId xmlns:p14="http://schemas.microsoft.com/office/powerpoint/2010/main" val="1059158348"/>
              </p:ext>
            </p:extLst>
          </p:nvPr>
        </p:nvGraphicFramePr>
        <p:xfrm>
          <a:off x="541979" y="4461042"/>
          <a:ext cx="6483350" cy="433388"/>
        </p:xfrm>
        <a:graphic>
          <a:graphicData uri="http://schemas.openxmlformats.org/presentationml/2006/ole">
            <mc:AlternateContent xmlns:mc="http://schemas.openxmlformats.org/markup-compatibility/2006">
              <mc:Choice xmlns:v="urn:schemas-microsoft-com:vml" Requires="v">
                <p:oleObj spid="_x0000_s118517" r:id="rId31" imgW="3657600" imgH="241300" progId="Equation.3">
                  <p:embed/>
                </p:oleObj>
              </mc:Choice>
              <mc:Fallback>
                <p:oleObj r:id="rId31" imgW="3657600" imgH="241300" progId="Equation.3">
                  <p:embed/>
                  <p:pic>
                    <p:nvPicPr>
                      <p:cNvPr id="0" name=""/>
                      <p:cNvPicPr>
                        <a:picLocks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541979" y="4461042"/>
                        <a:ext cx="6483350"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3" name="对象 32">
            <a:extLst>
              <a:ext uri="{FF2B5EF4-FFF2-40B4-BE49-F238E27FC236}">
                <a16:creationId xmlns:a16="http://schemas.microsoft.com/office/drawing/2014/main" xmlns="" id="{1FEC7ED9-69E0-F071-427E-8D81802C3960}"/>
              </a:ext>
            </a:extLst>
          </p:cNvPr>
          <p:cNvGraphicFramePr>
            <a:graphicFrameLocks/>
          </p:cNvGraphicFramePr>
          <p:nvPr>
            <p:extLst>
              <p:ext uri="{D42A27DB-BD31-4B8C-83A1-F6EECF244321}">
                <p14:modId xmlns:p14="http://schemas.microsoft.com/office/powerpoint/2010/main" val="3019825137"/>
              </p:ext>
            </p:extLst>
          </p:nvPr>
        </p:nvGraphicFramePr>
        <p:xfrm>
          <a:off x="561030" y="4985048"/>
          <a:ext cx="3079750" cy="400050"/>
        </p:xfrm>
        <a:graphic>
          <a:graphicData uri="http://schemas.openxmlformats.org/presentationml/2006/ole">
            <mc:AlternateContent xmlns:mc="http://schemas.openxmlformats.org/markup-compatibility/2006">
              <mc:Choice xmlns:v="urn:schemas-microsoft-com:vml" Requires="v">
                <p:oleObj spid="_x0000_s118518" r:id="rId33" imgW="1879600" imgH="241300" progId="Equation.3">
                  <p:embed/>
                </p:oleObj>
              </mc:Choice>
              <mc:Fallback>
                <p:oleObj r:id="rId33" imgW="1879600" imgH="241300" progId="Equation.3">
                  <p:embed/>
                  <p:pic>
                    <p:nvPicPr>
                      <p:cNvPr id="0" name=""/>
                      <p:cNvPicPr>
                        <a:picLocks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561030" y="4985048"/>
                        <a:ext cx="30797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4" name="对象 33">
            <a:extLst>
              <a:ext uri="{FF2B5EF4-FFF2-40B4-BE49-F238E27FC236}">
                <a16:creationId xmlns:a16="http://schemas.microsoft.com/office/drawing/2014/main" xmlns="" id="{76432279-D97E-29B7-59CB-54586B4C6321}"/>
              </a:ext>
            </a:extLst>
          </p:cNvPr>
          <p:cNvGraphicFramePr>
            <a:graphicFrameLocks/>
          </p:cNvGraphicFramePr>
          <p:nvPr>
            <p:extLst>
              <p:ext uri="{D42A27DB-BD31-4B8C-83A1-F6EECF244321}">
                <p14:modId xmlns:p14="http://schemas.microsoft.com/office/powerpoint/2010/main" val="1332847836"/>
              </p:ext>
            </p:extLst>
          </p:nvPr>
        </p:nvGraphicFramePr>
        <p:xfrm>
          <a:off x="560871" y="5411082"/>
          <a:ext cx="3441700" cy="404812"/>
        </p:xfrm>
        <a:graphic>
          <a:graphicData uri="http://schemas.openxmlformats.org/presentationml/2006/ole">
            <mc:AlternateContent xmlns:mc="http://schemas.openxmlformats.org/markup-compatibility/2006">
              <mc:Choice xmlns:v="urn:schemas-microsoft-com:vml" Requires="v">
                <p:oleObj spid="_x0000_s118519" r:id="rId35" imgW="1943100" imgH="228600" progId="Equation.3">
                  <p:embed/>
                </p:oleObj>
              </mc:Choice>
              <mc:Fallback>
                <p:oleObj r:id="rId35" imgW="1943100" imgH="228600" progId="Equation.3">
                  <p:embed/>
                  <p:pic>
                    <p:nvPicPr>
                      <p:cNvPr id="0" name=""/>
                      <p:cNvPicPr>
                        <a:picLocks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560871" y="5411082"/>
                        <a:ext cx="3441700"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5" name="对象 34">
            <a:extLst>
              <a:ext uri="{FF2B5EF4-FFF2-40B4-BE49-F238E27FC236}">
                <a16:creationId xmlns:a16="http://schemas.microsoft.com/office/drawing/2014/main" xmlns="" id="{80FCA3E4-E186-42B3-4DCB-40E7F8DC1AEF}"/>
              </a:ext>
            </a:extLst>
          </p:cNvPr>
          <p:cNvGraphicFramePr>
            <a:graphicFrameLocks/>
          </p:cNvGraphicFramePr>
          <p:nvPr>
            <p:extLst>
              <p:ext uri="{D42A27DB-BD31-4B8C-83A1-F6EECF244321}">
                <p14:modId xmlns:p14="http://schemas.microsoft.com/office/powerpoint/2010/main" val="3937719367"/>
              </p:ext>
            </p:extLst>
          </p:nvPr>
        </p:nvGraphicFramePr>
        <p:xfrm>
          <a:off x="1160946" y="5768269"/>
          <a:ext cx="4418012" cy="627063"/>
        </p:xfrm>
        <a:graphic>
          <a:graphicData uri="http://schemas.openxmlformats.org/presentationml/2006/ole">
            <mc:AlternateContent xmlns:mc="http://schemas.openxmlformats.org/markup-compatibility/2006">
              <mc:Choice xmlns:v="urn:schemas-microsoft-com:vml" Requires="v">
                <p:oleObj spid="_x0000_s118520" r:id="rId37" imgW="2794000" imgH="393700" progId="Equation.3">
                  <p:embed/>
                </p:oleObj>
              </mc:Choice>
              <mc:Fallback>
                <p:oleObj r:id="rId37" imgW="2794000" imgH="393700" progId="Equation.3">
                  <p:embed/>
                  <p:pic>
                    <p:nvPicPr>
                      <p:cNvPr id="0" name=""/>
                      <p:cNvPicPr>
                        <a:picLocks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1160946" y="5768269"/>
                        <a:ext cx="4418012" cy="627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6" name="对象 35">
            <a:extLst>
              <a:ext uri="{FF2B5EF4-FFF2-40B4-BE49-F238E27FC236}">
                <a16:creationId xmlns:a16="http://schemas.microsoft.com/office/drawing/2014/main" xmlns="" id="{86A00E47-6370-A595-D53F-473E09F7AAD7}"/>
              </a:ext>
            </a:extLst>
          </p:cNvPr>
          <p:cNvGraphicFramePr>
            <a:graphicFrameLocks/>
          </p:cNvGraphicFramePr>
          <p:nvPr>
            <p:extLst>
              <p:ext uri="{D42A27DB-BD31-4B8C-83A1-F6EECF244321}">
                <p14:modId xmlns:p14="http://schemas.microsoft.com/office/powerpoint/2010/main" val="3318646918"/>
              </p:ext>
            </p:extLst>
          </p:nvPr>
        </p:nvGraphicFramePr>
        <p:xfrm>
          <a:off x="2890686" y="6210300"/>
          <a:ext cx="4629150" cy="647700"/>
        </p:xfrm>
        <a:graphic>
          <a:graphicData uri="http://schemas.openxmlformats.org/presentationml/2006/ole">
            <mc:AlternateContent xmlns:mc="http://schemas.openxmlformats.org/markup-compatibility/2006">
              <mc:Choice xmlns:v="urn:schemas-microsoft-com:vml" Requires="v">
                <p:oleObj spid="_x0000_s118521" r:id="rId39" imgW="3149600" imgH="444500" progId="Equation.3">
                  <p:embed/>
                </p:oleObj>
              </mc:Choice>
              <mc:Fallback>
                <p:oleObj r:id="rId39" imgW="3149600" imgH="444500" progId="Equation.3">
                  <p:embed/>
                  <p:pic>
                    <p:nvPicPr>
                      <p:cNvPr id="0" name=""/>
                      <p:cNvPicPr>
                        <a:picLocks noChangeArrowheads="1"/>
                      </p:cNvPicPr>
                      <p:nvPr/>
                    </p:nvPicPr>
                    <p:blipFill>
                      <a:blip r:embed="rId40">
                        <a:extLst>
                          <a:ext uri="{28A0092B-C50C-407E-A947-70E740481C1C}">
                            <a14:useLocalDpi xmlns:a14="http://schemas.microsoft.com/office/drawing/2010/main" val="0"/>
                          </a:ext>
                        </a:extLst>
                      </a:blip>
                      <a:srcRect/>
                      <a:stretch>
                        <a:fillRect/>
                      </a:stretch>
                    </p:blipFill>
                    <p:spPr bwMode="auto">
                      <a:xfrm>
                        <a:off x="2890686" y="6210300"/>
                        <a:ext cx="462915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7" name="矩形 36">
            <a:extLst>
              <a:ext uri="{FF2B5EF4-FFF2-40B4-BE49-F238E27FC236}">
                <a16:creationId xmlns:a16="http://schemas.microsoft.com/office/drawing/2014/main" xmlns="" id="{51507AF2-64BD-1108-834E-1BCCA8BB2E14}"/>
              </a:ext>
            </a:extLst>
          </p:cNvPr>
          <p:cNvSpPr>
            <a:spLocks noChangeArrowheads="1"/>
          </p:cNvSpPr>
          <p:nvPr/>
        </p:nvSpPr>
        <p:spPr bwMode="auto">
          <a:xfrm>
            <a:off x="432442" y="2926055"/>
            <a:ext cx="6953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r>
              <a:rPr lang="zh-CN" altLang="en-US" sz="2000">
                <a:solidFill>
                  <a:schemeClr val="tx1"/>
                </a:solidFill>
                <a:latin typeface="+mn-ea"/>
                <a:ea typeface="+mn-ea"/>
              </a:rPr>
              <a:t>已知</a:t>
            </a:r>
          </a:p>
        </p:txBody>
      </p:sp>
      <p:sp>
        <p:nvSpPr>
          <p:cNvPr id="38" name="矩形 37">
            <a:extLst>
              <a:ext uri="{FF2B5EF4-FFF2-40B4-BE49-F238E27FC236}">
                <a16:creationId xmlns:a16="http://schemas.microsoft.com/office/drawing/2014/main" xmlns="" id="{7C227F62-18BB-04DF-2870-2B3F820867F4}"/>
              </a:ext>
            </a:extLst>
          </p:cNvPr>
          <p:cNvSpPr>
            <a:spLocks noChangeArrowheads="1"/>
          </p:cNvSpPr>
          <p:nvPr/>
        </p:nvSpPr>
        <p:spPr bwMode="auto">
          <a:xfrm>
            <a:off x="1342079" y="2916530"/>
            <a:ext cx="12176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indent="266700">
              <a:defRPr sz="2400" b="1">
                <a:solidFill>
                  <a:srgbClr val="FFFF00"/>
                </a:solidFill>
                <a:latin typeface="Times New Roman" panose="02020603050405020304" pitchFamily="18" charset="0"/>
                <a:ea typeface="宋体" panose="02010600030101010101" pitchFamily="2" charset="-122"/>
              </a:defRPr>
            </a:lvl1pPr>
            <a:lvl2pPr>
              <a:defRPr sz="2400" b="1">
                <a:solidFill>
                  <a:srgbClr val="FFFF00"/>
                </a:solidFill>
                <a:latin typeface="Times New Roman" panose="02020603050405020304" pitchFamily="18" charset="0"/>
                <a:ea typeface="宋体" panose="02010600030101010101" pitchFamily="2" charset="-122"/>
              </a:defRPr>
            </a:lvl2pPr>
            <a:lvl3pPr>
              <a:defRPr sz="2400" b="1">
                <a:solidFill>
                  <a:srgbClr val="FFFF00"/>
                </a:solidFill>
                <a:latin typeface="Times New Roman" panose="02020603050405020304" pitchFamily="18" charset="0"/>
                <a:ea typeface="宋体" panose="02010600030101010101" pitchFamily="2" charset="-122"/>
              </a:defRPr>
            </a:lvl3pPr>
            <a:lvl4pPr>
              <a:defRPr sz="2400" b="1">
                <a:solidFill>
                  <a:srgbClr val="FFFF00"/>
                </a:solidFill>
                <a:latin typeface="Times New Roman" panose="02020603050405020304" pitchFamily="18" charset="0"/>
                <a:ea typeface="宋体" panose="02010600030101010101" pitchFamily="2" charset="-122"/>
              </a:defRPr>
            </a:lvl4pPr>
            <a:lvl5pPr>
              <a:defRPr sz="2400" b="1">
                <a:solidFill>
                  <a:srgbClr val="FFFF00"/>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2400" b="1">
                <a:solidFill>
                  <a:srgbClr val="FFFF00"/>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2400" b="1">
                <a:solidFill>
                  <a:srgbClr val="FFFF00"/>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2400" b="1">
                <a:solidFill>
                  <a:srgbClr val="FFFF00"/>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2400" b="1">
                <a:solidFill>
                  <a:srgbClr val="FFFF00"/>
                </a:solidFill>
                <a:latin typeface="Times New Roman" panose="02020603050405020304" pitchFamily="18" charset="0"/>
                <a:ea typeface="宋体" panose="02010600030101010101" pitchFamily="2" charset="-122"/>
              </a:defRPr>
            </a:lvl9pPr>
          </a:lstStyle>
          <a:p>
            <a:pPr eaLnBrk="0" hangingPunct="0"/>
            <a:r>
              <a:rPr lang="zh-CN" altLang="en-US" sz="2000" dirty="0">
                <a:solidFill>
                  <a:schemeClr val="tx1"/>
                </a:solidFill>
                <a:latin typeface="+mn-ea"/>
                <a:ea typeface="+mn-ea"/>
              </a:rPr>
              <a:t>，所以</a:t>
            </a:r>
          </a:p>
        </p:txBody>
      </p:sp>
      <p:sp>
        <p:nvSpPr>
          <p:cNvPr id="39" name="矩形 38">
            <a:extLst>
              <a:ext uri="{FF2B5EF4-FFF2-40B4-BE49-F238E27FC236}">
                <a16:creationId xmlns:a16="http://schemas.microsoft.com/office/drawing/2014/main" xmlns="" id="{8F0DA5DA-2757-6A4E-6CAE-4216D58E0935}"/>
              </a:ext>
            </a:extLst>
          </p:cNvPr>
          <p:cNvSpPr>
            <a:spLocks noChangeArrowheads="1"/>
          </p:cNvSpPr>
          <p:nvPr/>
        </p:nvSpPr>
        <p:spPr bwMode="auto">
          <a:xfrm>
            <a:off x="443555" y="3980314"/>
            <a:ext cx="33258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r>
              <a:rPr lang="zh-CN" altLang="en-US" sz="2000" dirty="0">
                <a:solidFill>
                  <a:schemeClr val="tx1"/>
                </a:solidFill>
                <a:latin typeface="+mn-ea"/>
                <a:ea typeface="+mn-ea"/>
              </a:rPr>
              <a:t>联立解式①、②可知	</a:t>
            </a:r>
          </a:p>
        </p:txBody>
      </p:sp>
      <p:sp>
        <p:nvSpPr>
          <p:cNvPr id="40" name="矩形 39">
            <a:extLst>
              <a:ext uri="{FF2B5EF4-FFF2-40B4-BE49-F238E27FC236}">
                <a16:creationId xmlns:a16="http://schemas.microsoft.com/office/drawing/2014/main" xmlns="" id="{1847B9C7-9B9D-BB01-2B76-77E95148D4A9}"/>
              </a:ext>
            </a:extLst>
          </p:cNvPr>
          <p:cNvSpPr>
            <a:spLocks noChangeArrowheads="1"/>
          </p:cNvSpPr>
          <p:nvPr/>
        </p:nvSpPr>
        <p:spPr bwMode="auto">
          <a:xfrm>
            <a:off x="1543465" y="6335713"/>
            <a:ext cx="29273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r>
              <a:rPr lang="zh-CN" altLang="en-US" sz="2000" dirty="0">
                <a:solidFill>
                  <a:schemeClr val="tx1"/>
                </a:solidFill>
                <a:latin typeface="+mn-ea"/>
                <a:ea typeface="+mn-ea"/>
              </a:rPr>
              <a:t>天线功率		</a:t>
            </a:r>
          </a:p>
        </p:txBody>
      </p:sp>
      <p:sp>
        <p:nvSpPr>
          <p:cNvPr id="41" name="矩形 40">
            <a:extLst>
              <a:ext uri="{FF2B5EF4-FFF2-40B4-BE49-F238E27FC236}">
                <a16:creationId xmlns:a16="http://schemas.microsoft.com/office/drawing/2014/main" xmlns="" id="{CF148F7F-5A86-819E-6F54-5CEEA64CF04D}"/>
              </a:ext>
            </a:extLst>
          </p:cNvPr>
          <p:cNvSpPr>
            <a:spLocks noChangeArrowheads="1"/>
          </p:cNvSpPr>
          <p:nvPr/>
        </p:nvSpPr>
        <p:spPr bwMode="auto">
          <a:xfrm>
            <a:off x="5047304" y="2926055"/>
            <a:ext cx="4397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a:solidFill>
                  <a:schemeClr val="tx1"/>
                </a:solidFill>
                <a:latin typeface="+mn-ea"/>
                <a:ea typeface="+mn-ea"/>
              </a:rPr>
              <a:t>①</a:t>
            </a:r>
          </a:p>
        </p:txBody>
      </p:sp>
      <p:sp>
        <p:nvSpPr>
          <p:cNvPr id="42" name="矩形 41">
            <a:extLst>
              <a:ext uri="{FF2B5EF4-FFF2-40B4-BE49-F238E27FC236}">
                <a16:creationId xmlns:a16="http://schemas.microsoft.com/office/drawing/2014/main" xmlns="" id="{7407308D-0BDC-3613-3A2E-B0E4E89EEC21}"/>
              </a:ext>
            </a:extLst>
          </p:cNvPr>
          <p:cNvSpPr>
            <a:spLocks noChangeArrowheads="1"/>
          </p:cNvSpPr>
          <p:nvPr/>
        </p:nvSpPr>
        <p:spPr bwMode="auto">
          <a:xfrm>
            <a:off x="4780604" y="346421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a:solidFill>
                  <a:schemeClr val="tx1"/>
                </a:solidFill>
                <a:latin typeface="+mn-ea"/>
                <a:ea typeface="+mn-ea"/>
              </a:rPr>
              <a:t>②</a:t>
            </a:r>
          </a:p>
        </p:txBody>
      </p:sp>
      <p:sp>
        <p:nvSpPr>
          <p:cNvPr id="43" name="矩形 42">
            <a:extLst>
              <a:ext uri="{FF2B5EF4-FFF2-40B4-BE49-F238E27FC236}">
                <a16:creationId xmlns:a16="http://schemas.microsoft.com/office/drawing/2014/main" xmlns="" id="{76D2C203-1BFF-A3FA-B766-938AEBE561C4}"/>
              </a:ext>
            </a:extLst>
          </p:cNvPr>
          <p:cNvSpPr>
            <a:spLocks noChangeArrowheads="1"/>
          </p:cNvSpPr>
          <p:nvPr/>
        </p:nvSpPr>
        <p:spPr bwMode="auto">
          <a:xfrm>
            <a:off x="432442" y="3464217"/>
            <a:ext cx="22288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chemeClr val="tx1"/>
                </a:solidFill>
                <a:latin typeface="+mn-ea"/>
                <a:ea typeface="+mn-ea"/>
              </a:rPr>
              <a:t>根据转移特性，有</a:t>
            </a:r>
          </a:p>
        </p:txBody>
      </p:sp>
      <p:sp>
        <p:nvSpPr>
          <p:cNvPr id="44" name="矩形 43">
            <a:extLst>
              <a:ext uri="{FF2B5EF4-FFF2-40B4-BE49-F238E27FC236}">
                <a16:creationId xmlns:a16="http://schemas.microsoft.com/office/drawing/2014/main" xmlns="" id="{7147849A-714C-EB13-12FB-303E42BB7210}"/>
              </a:ext>
            </a:extLst>
          </p:cNvPr>
          <p:cNvSpPr>
            <a:spLocks noChangeArrowheads="1"/>
          </p:cNvSpPr>
          <p:nvPr/>
        </p:nvSpPr>
        <p:spPr bwMode="auto">
          <a:xfrm>
            <a:off x="727968" y="5850815"/>
            <a:ext cx="4397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chemeClr val="tx1"/>
                </a:solidFill>
                <a:latin typeface="+mn-ea"/>
                <a:ea typeface="+mn-ea"/>
              </a:rPr>
              <a:t>故</a:t>
            </a:r>
          </a:p>
        </p:txBody>
      </p:sp>
    </p:spTree>
    <p:extLst>
      <p:ext uri="{BB962C8B-B14F-4D97-AF65-F5344CB8AC3E}">
        <p14:creationId xmlns:p14="http://schemas.microsoft.com/office/powerpoint/2010/main" val="830785592"/>
      </p:ext>
    </p:extLst>
  </p:cSld>
  <p:clrMapOvr>
    <a:masterClrMapping/>
  </p:clrMapOvr>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154</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12"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4.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谐振</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功率</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放大器</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graphicFrame>
        <p:nvGraphicFramePr>
          <p:cNvPr id="45" name="Object 3">
            <a:extLst>
              <a:ext uri="{FF2B5EF4-FFF2-40B4-BE49-F238E27FC236}">
                <a16:creationId xmlns:a16="http://schemas.microsoft.com/office/drawing/2014/main" xmlns="" id="{6527669D-4354-E58D-AA5A-C68064DF7F14}"/>
              </a:ext>
            </a:extLst>
          </p:cNvPr>
          <p:cNvGraphicFramePr>
            <a:graphicFrameLocks/>
          </p:cNvGraphicFramePr>
          <p:nvPr>
            <p:extLst>
              <p:ext uri="{D42A27DB-BD31-4B8C-83A1-F6EECF244321}">
                <p14:modId xmlns:p14="http://schemas.microsoft.com/office/powerpoint/2010/main" val="4281944432"/>
              </p:ext>
            </p:extLst>
          </p:nvPr>
        </p:nvGraphicFramePr>
        <p:xfrm>
          <a:off x="1043608" y="4212958"/>
          <a:ext cx="7251700" cy="1014412"/>
        </p:xfrm>
        <a:graphic>
          <a:graphicData uri="http://schemas.openxmlformats.org/presentationml/2006/ole">
            <mc:AlternateContent xmlns:mc="http://schemas.openxmlformats.org/markup-compatibility/2006">
              <mc:Choice xmlns:v="urn:schemas-microsoft-com:vml" Requires="v">
                <p:oleObj spid="_x0000_s118824" r:id="rId3" imgW="3067812" imgH="428244" progId="Word.Picture.8">
                  <p:embed/>
                </p:oleObj>
              </mc:Choice>
              <mc:Fallback>
                <p:oleObj r:id="rId3" imgW="3067812" imgH="428244" progId="Word.Picture.8">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3608" y="4212958"/>
                        <a:ext cx="7251700" cy="1014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6" name="Rectangle 4">
            <a:extLst>
              <a:ext uri="{FF2B5EF4-FFF2-40B4-BE49-F238E27FC236}">
                <a16:creationId xmlns:a16="http://schemas.microsoft.com/office/drawing/2014/main" xmlns="" id="{C2B5A32E-93A2-B552-3FCA-0FAC2A1EAC0F}"/>
              </a:ext>
            </a:extLst>
          </p:cNvPr>
          <p:cNvSpPr>
            <a:spLocks noChangeArrowheads="1"/>
          </p:cNvSpPr>
          <p:nvPr/>
        </p:nvSpPr>
        <p:spPr bwMode="auto">
          <a:xfrm>
            <a:off x="2429943" y="1228203"/>
            <a:ext cx="40957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fontAlgn="b"/>
            <a:r>
              <a:rPr lang="zh-CN" altLang="en-US" sz="2400" dirty="0">
                <a:solidFill>
                  <a:schemeClr val="tx1"/>
                </a:solidFill>
                <a:latin typeface="+mn-ea"/>
                <a:ea typeface="+mn-ea"/>
              </a:rPr>
              <a:t>丙类倍频器</a:t>
            </a:r>
          </a:p>
        </p:txBody>
      </p:sp>
      <p:sp>
        <p:nvSpPr>
          <p:cNvPr id="47" name="Rectangle 6">
            <a:extLst>
              <a:ext uri="{FF2B5EF4-FFF2-40B4-BE49-F238E27FC236}">
                <a16:creationId xmlns:a16="http://schemas.microsoft.com/office/drawing/2014/main" xmlns="" id="{839EB8F7-F6D3-CD16-1E1B-15E879CCD714}"/>
              </a:ext>
            </a:extLst>
          </p:cNvPr>
          <p:cNvSpPr>
            <a:spLocks noChangeArrowheads="1"/>
          </p:cNvSpPr>
          <p:nvPr/>
        </p:nvSpPr>
        <p:spPr bwMode="auto">
          <a:xfrm>
            <a:off x="427661" y="1859280"/>
            <a:ext cx="358775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p>
            <a:r>
              <a:rPr lang="en-US" altLang="zh-CN" sz="2000" dirty="0">
                <a:solidFill>
                  <a:srgbClr val="FF3300"/>
                </a:solidFill>
                <a:latin typeface="+mn-ea"/>
                <a:ea typeface="+mn-ea"/>
              </a:rPr>
              <a:t>4.6.1</a:t>
            </a:r>
            <a:r>
              <a:rPr lang="zh-CN" altLang="en-US" sz="2000" dirty="0">
                <a:solidFill>
                  <a:srgbClr val="FF3300"/>
                </a:solidFill>
                <a:latin typeface="+mn-ea"/>
                <a:ea typeface="+mn-ea"/>
              </a:rPr>
              <a:t>　原理框图</a:t>
            </a:r>
          </a:p>
        </p:txBody>
      </p:sp>
      <p:sp>
        <p:nvSpPr>
          <p:cNvPr id="48" name="Rectangle 7">
            <a:extLst>
              <a:ext uri="{FF2B5EF4-FFF2-40B4-BE49-F238E27FC236}">
                <a16:creationId xmlns:a16="http://schemas.microsoft.com/office/drawing/2014/main" xmlns="" id="{81812A0D-6557-8F47-187A-9BBE7A6CD76D}"/>
              </a:ext>
            </a:extLst>
          </p:cNvPr>
          <p:cNvSpPr>
            <a:spLocks noChangeArrowheads="1"/>
          </p:cNvSpPr>
          <p:nvPr/>
        </p:nvSpPr>
        <p:spPr bwMode="auto">
          <a:xfrm>
            <a:off x="427661" y="2351238"/>
            <a:ext cx="8143875" cy="1245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p>
            <a:pPr>
              <a:lnSpc>
                <a:spcPct val="140000"/>
              </a:lnSpc>
            </a:pPr>
            <a:r>
              <a:rPr lang="zh-CN" altLang="en-US" sz="2000" dirty="0">
                <a:solidFill>
                  <a:schemeClr val="tx1"/>
                </a:solidFill>
                <a:latin typeface="+mn-ea"/>
                <a:ea typeface="+mn-ea"/>
              </a:rPr>
              <a:t>　　某系统发射信号频率为</a:t>
            </a:r>
            <a:r>
              <a:rPr lang="en-US" altLang="zh-CN" sz="2000" dirty="0">
                <a:solidFill>
                  <a:schemeClr val="tx1"/>
                </a:solidFill>
                <a:latin typeface="+mn-ea"/>
                <a:ea typeface="+mn-ea"/>
              </a:rPr>
              <a:t>49MHz</a:t>
            </a:r>
            <a:r>
              <a:rPr lang="zh-CN" altLang="en-US" sz="2000" dirty="0">
                <a:solidFill>
                  <a:schemeClr val="tx1"/>
                </a:solidFill>
                <a:latin typeface="+mn-ea"/>
                <a:ea typeface="+mn-ea"/>
              </a:rPr>
              <a:t>，该频率由</a:t>
            </a:r>
            <a:r>
              <a:rPr lang="en-US" altLang="zh-CN" sz="2000" dirty="0">
                <a:solidFill>
                  <a:schemeClr val="tx1"/>
                </a:solidFill>
                <a:latin typeface="+mn-ea"/>
                <a:ea typeface="+mn-ea"/>
              </a:rPr>
              <a:t>16.333MHz</a:t>
            </a:r>
            <a:r>
              <a:rPr lang="zh-CN" altLang="en-US" sz="2000" dirty="0">
                <a:solidFill>
                  <a:schemeClr val="tx1"/>
                </a:solidFill>
                <a:latin typeface="+mn-ea"/>
                <a:ea typeface="+mn-ea"/>
              </a:rPr>
              <a:t>三倍频而来。</a:t>
            </a:r>
            <a:r>
              <a:rPr lang="en-US" altLang="zh-CN" sz="2000" dirty="0">
                <a:solidFill>
                  <a:schemeClr val="tx1"/>
                </a:solidFill>
                <a:latin typeface="+mn-ea"/>
                <a:ea typeface="+mn-ea"/>
              </a:rPr>
              <a:t>16.333MHz</a:t>
            </a:r>
            <a:r>
              <a:rPr lang="zh-CN" altLang="en-US" sz="2000" dirty="0">
                <a:solidFill>
                  <a:schemeClr val="tx1"/>
                </a:solidFill>
                <a:latin typeface="+mn-ea"/>
                <a:ea typeface="+mn-ea"/>
              </a:rPr>
              <a:t>振荡器输出接激励级，若将输出负载回路调谐在三次谐波频率上即可得到</a:t>
            </a:r>
            <a:r>
              <a:rPr lang="en-US" altLang="zh-CN" sz="2000" dirty="0">
                <a:solidFill>
                  <a:schemeClr val="tx1"/>
                </a:solidFill>
                <a:latin typeface="+mn-ea"/>
                <a:ea typeface="+mn-ea"/>
              </a:rPr>
              <a:t>49MHz</a:t>
            </a:r>
            <a:r>
              <a:rPr lang="zh-CN" altLang="en-US" sz="2000" dirty="0">
                <a:solidFill>
                  <a:schemeClr val="tx1"/>
                </a:solidFill>
                <a:latin typeface="+mn-ea"/>
                <a:ea typeface="+mn-ea"/>
              </a:rPr>
              <a:t>的发射频率。其如图所示。</a:t>
            </a:r>
          </a:p>
        </p:txBody>
      </p:sp>
    </p:spTree>
    <p:extLst>
      <p:ext uri="{BB962C8B-B14F-4D97-AF65-F5344CB8AC3E}">
        <p14:creationId xmlns:p14="http://schemas.microsoft.com/office/powerpoint/2010/main" val="2145807181"/>
      </p:ext>
    </p:extLst>
  </p:cSld>
  <p:clrMapOvr>
    <a:masterClrMapping/>
  </p:clrMapOvr>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155</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12"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4.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谐振</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功率</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放大器</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graphicFrame>
        <p:nvGraphicFramePr>
          <p:cNvPr id="5" name="Object 4">
            <a:extLst>
              <a:ext uri="{FF2B5EF4-FFF2-40B4-BE49-F238E27FC236}">
                <a16:creationId xmlns:a16="http://schemas.microsoft.com/office/drawing/2014/main" xmlns="" id="{7540725F-6F72-3C11-F1D4-8D4400B4E1E1}"/>
              </a:ext>
            </a:extLst>
          </p:cNvPr>
          <p:cNvGraphicFramePr>
            <a:graphicFrameLocks/>
          </p:cNvGraphicFramePr>
          <p:nvPr>
            <p:extLst>
              <p:ext uri="{D42A27DB-BD31-4B8C-83A1-F6EECF244321}">
                <p14:modId xmlns:p14="http://schemas.microsoft.com/office/powerpoint/2010/main" val="1114506545"/>
              </p:ext>
            </p:extLst>
          </p:nvPr>
        </p:nvGraphicFramePr>
        <p:xfrm>
          <a:off x="577850" y="1998253"/>
          <a:ext cx="3994150" cy="2459037"/>
        </p:xfrm>
        <a:graphic>
          <a:graphicData uri="http://schemas.openxmlformats.org/presentationml/2006/ole">
            <mc:AlternateContent xmlns:mc="http://schemas.openxmlformats.org/markup-compatibility/2006">
              <mc:Choice xmlns:v="urn:schemas-microsoft-com:vml" Requires="v">
                <p:oleObj spid="_x0000_s119848" r:id="rId3" imgW="2907000" imgH="1765440" progId="Word.Picture.8">
                  <p:embed/>
                </p:oleObj>
              </mc:Choice>
              <mc:Fallback>
                <p:oleObj r:id="rId3" imgW="2907000" imgH="1765440" progId="Word.Picture.8">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7850" y="1998253"/>
                        <a:ext cx="3994150" cy="2459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 name="Rectangle 12">
            <a:extLst>
              <a:ext uri="{FF2B5EF4-FFF2-40B4-BE49-F238E27FC236}">
                <a16:creationId xmlns:a16="http://schemas.microsoft.com/office/drawing/2014/main" xmlns="" id="{7A273B80-7BDD-DFC2-9AE8-075695C14445}"/>
              </a:ext>
            </a:extLst>
          </p:cNvPr>
          <p:cNvSpPr>
            <a:spLocks noChangeArrowheads="1"/>
          </p:cNvSpPr>
          <p:nvPr/>
        </p:nvSpPr>
        <p:spPr bwMode="auto">
          <a:xfrm>
            <a:off x="528638" y="5282879"/>
            <a:ext cx="8220075"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p>
            <a:pPr>
              <a:spcBef>
                <a:spcPct val="50000"/>
              </a:spcBef>
            </a:pPr>
            <a:r>
              <a:rPr lang="en-US" altLang="zh-CN" sz="2000" dirty="0">
                <a:solidFill>
                  <a:schemeClr val="tx1"/>
                </a:solidFill>
                <a:latin typeface="+mn-ea"/>
                <a:ea typeface="+mn-ea"/>
              </a:rPr>
              <a:t>Rb_</a:t>
            </a:r>
            <a:r>
              <a:rPr lang="zh-CN" altLang="en-US" sz="2000" dirty="0">
                <a:solidFill>
                  <a:schemeClr val="tx1"/>
                </a:solidFill>
                <a:latin typeface="+mn-ea"/>
                <a:ea typeface="+mn-ea"/>
              </a:rPr>
              <a:t>自偏电阻，也可用高频扼流圈代之，</a:t>
            </a:r>
            <a:r>
              <a:rPr lang="en-US" altLang="zh-CN" sz="2000" dirty="0">
                <a:solidFill>
                  <a:schemeClr val="tx1"/>
                </a:solidFill>
                <a:latin typeface="+mn-ea"/>
                <a:ea typeface="+mn-ea"/>
              </a:rPr>
              <a:t>C2</a:t>
            </a:r>
            <a:r>
              <a:rPr lang="zh-CN" altLang="en-US" sz="2000" dirty="0">
                <a:solidFill>
                  <a:schemeClr val="tx1"/>
                </a:solidFill>
                <a:latin typeface="+mn-ea"/>
                <a:ea typeface="+mn-ea"/>
              </a:rPr>
              <a:t>是高频旁路电容</a:t>
            </a:r>
            <a:r>
              <a:rPr lang="zh-CN" altLang="en-US" sz="2000" dirty="0">
                <a:latin typeface="+mn-ea"/>
                <a:ea typeface="+mn-ea"/>
              </a:rPr>
              <a:t> </a:t>
            </a:r>
            <a:r>
              <a:rPr lang="en-US" altLang="zh-CN" sz="2000" dirty="0">
                <a:solidFill>
                  <a:schemeClr val="accent2"/>
                </a:solidFill>
                <a:latin typeface="+mn-ea"/>
                <a:ea typeface="+mn-ea"/>
              </a:rPr>
              <a:t>, L</a:t>
            </a:r>
            <a:r>
              <a:rPr lang="zh-CN" altLang="en-US" sz="2000" dirty="0">
                <a:solidFill>
                  <a:schemeClr val="accent2"/>
                </a:solidFill>
                <a:latin typeface="+mn-ea"/>
                <a:ea typeface="+mn-ea"/>
              </a:rPr>
              <a:t>、</a:t>
            </a:r>
            <a:r>
              <a:rPr lang="en-US" altLang="zh-CN" sz="2000" dirty="0">
                <a:solidFill>
                  <a:schemeClr val="accent2"/>
                </a:solidFill>
                <a:latin typeface="+mn-ea"/>
                <a:ea typeface="+mn-ea"/>
              </a:rPr>
              <a:t>C</a:t>
            </a:r>
            <a:r>
              <a:rPr lang="zh-CN" altLang="en-US" sz="2000" dirty="0">
                <a:solidFill>
                  <a:schemeClr val="accent2"/>
                </a:solidFill>
                <a:latin typeface="+mn-ea"/>
                <a:ea typeface="+mn-ea"/>
              </a:rPr>
              <a:t>是调谐回路，调谐在输入信号的某次谐波频率上。</a:t>
            </a:r>
          </a:p>
        </p:txBody>
      </p:sp>
      <p:sp>
        <p:nvSpPr>
          <p:cNvPr id="7" name="矩形 70661">
            <a:extLst>
              <a:ext uri="{FF2B5EF4-FFF2-40B4-BE49-F238E27FC236}">
                <a16:creationId xmlns:a16="http://schemas.microsoft.com/office/drawing/2014/main" xmlns="" id="{3702865E-B960-A1A0-CC35-34A4E595A058}"/>
              </a:ext>
            </a:extLst>
          </p:cNvPr>
          <p:cNvSpPr>
            <a:spLocks noChangeArrowheads="1"/>
          </p:cNvSpPr>
          <p:nvPr/>
        </p:nvSpPr>
        <p:spPr bwMode="auto">
          <a:xfrm>
            <a:off x="577850" y="1403661"/>
            <a:ext cx="470513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dirty="0">
                <a:solidFill>
                  <a:srgbClr val="FF3300"/>
                </a:solidFill>
                <a:latin typeface="+mn-ea"/>
                <a:ea typeface="+mn-ea"/>
              </a:rPr>
              <a:t>4.6.2</a:t>
            </a:r>
            <a:r>
              <a:rPr lang="zh-CN" altLang="en-US" sz="2000" dirty="0">
                <a:solidFill>
                  <a:srgbClr val="FF3300"/>
                </a:solidFill>
                <a:latin typeface="+mn-ea"/>
                <a:ea typeface="+mn-ea"/>
              </a:rPr>
              <a:t>　晶体管丙类倍频电路与工作原理</a:t>
            </a:r>
          </a:p>
        </p:txBody>
      </p:sp>
      <p:sp>
        <p:nvSpPr>
          <p:cNvPr id="8" name="矩形 7">
            <a:extLst>
              <a:ext uri="{FF2B5EF4-FFF2-40B4-BE49-F238E27FC236}">
                <a16:creationId xmlns:a16="http://schemas.microsoft.com/office/drawing/2014/main" xmlns="" id="{07ADCB9E-D7CF-3E93-445E-FA48D1AA5645}"/>
              </a:ext>
            </a:extLst>
          </p:cNvPr>
          <p:cNvSpPr>
            <a:spLocks noChangeArrowheads="1"/>
          </p:cNvSpPr>
          <p:nvPr/>
        </p:nvSpPr>
        <p:spPr bwMode="auto">
          <a:xfrm>
            <a:off x="4911725" y="2431114"/>
            <a:ext cx="3789363"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r>
              <a:rPr lang="zh-CN" altLang="en-US" sz="2000">
                <a:solidFill>
                  <a:schemeClr val="tx1"/>
                </a:solidFill>
                <a:latin typeface="+mn-ea"/>
                <a:ea typeface="+mn-ea"/>
              </a:rPr>
              <a:t>    晶体管倍频器与谐振功放的线路基本相同，唯一不同之处是它的集电极回路对输入信号的某次谐波频率</a:t>
            </a:r>
            <a:r>
              <a:rPr lang="en-US" altLang="zh-CN" sz="2000">
                <a:solidFill>
                  <a:schemeClr val="tx1"/>
                </a:solidFill>
                <a:latin typeface="+mn-ea"/>
                <a:ea typeface="+mn-ea"/>
              </a:rPr>
              <a:t>nf</a:t>
            </a:r>
            <a:r>
              <a:rPr lang="zh-CN" altLang="en-US" sz="2000">
                <a:solidFill>
                  <a:schemeClr val="tx1"/>
                </a:solidFill>
                <a:latin typeface="+mn-ea"/>
                <a:ea typeface="+mn-ea"/>
              </a:rPr>
              <a:t>调谐。 </a:t>
            </a:r>
          </a:p>
        </p:txBody>
      </p:sp>
      <p:sp>
        <p:nvSpPr>
          <p:cNvPr id="9" name="矩形 70663">
            <a:extLst>
              <a:ext uri="{FF2B5EF4-FFF2-40B4-BE49-F238E27FC236}">
                <a16:creationId xmlns:a16="http://schemas.microsoft.com/office/drawing/2014/main" xmlns="" id="{6F3DB70C-23C6-F87C-01C1-1C3413AB6A61}"/>
              </a:ext>
            </a:extLst>
          </p:cNvPr>
          <p:cNvSpPr>
            <a:spLocks noChangeArrowheads="1"/>
          </p:cNvSpPr>
          <p:nvPr/>
        </p:nvSpPr>
        <p:spPr bwMode="auto">
          <a:xfrm>
            <a:off x="1374775" y="4608103"/>
            <a:ext cx="27400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spcBef>
                <a:spcPct val="50000"/>
              </a:spcBef>
            </a:pPr>
            <a:r>
              <a:rPr lang="zh-CN" altLang="en-US" sz="2000" dirty="0">
                <a:solidFill>
                  <a:schemeClr val="tx1"/>
                </a:solidFill>
                <a:latin typeface="+mn-ea"/>
                <a:ea typeface="+mn-ea"/>
              </a:rPr>
              <a:t>丙类倍频器的基本电路</a:t>
            </a:r>
          </a:p>
        </p:txBody>
      </p:sp>
    </p:spTree>
    <p:extLst>
      <p:ext uri="{BB962C8B-B14F-4D97-AF65-F5344CB8AC3E}">
        <p14:creationId xmlns:p14="http://schemas.microsoft.com/office/powerpoint/2010/main" val="558147018"/>
      </p:ext>
    </p:extLst>
  </p:cSld>
  <p:clrMapOvr>
    <a:masterClrMapping/>
  </p:clrMapOvr>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156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12"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4.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谐振</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功率</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放大器</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graphicFrame>
        <p:nvGraphicFramePr>
          <p:cNvPr id="5" name="对象 4">
            <a:extLst>
              <a:ext uri="{FF2B5EF4-FFF2-40B4-BE49-F238E27FC236}">
                <a16:creationId xmlns:a16="http://schemas.microsoft.com/office/drawing/2014/main" xmlns="" id="{D1021D49-E90D-FDEB-D0EC-B96DE4A1CF08}"/>
              </a:ext>
            </a:extLst>
          </p:cNvPr>
          <p:cNvGraphicFramePr>
            <a:graphicFrameLocks/>
          </p:cNvGraphicFramePr>
          <p:nvPr>
            <p:extLst>
              <p:ext uri="{D42A27DB-BD31-4B8C-83A1-F6EECF244321}">
                <p14:modId xmlns:p14="http://schemas.microsoft.com/office/powerpoint/2010/main" val="1208999238"/>
              </p:ext>
            </p:extLst>
          </p:nvPr>
        </p:nvGraphicFramePr>
        <p:xfrm>
          <a:off x="422275" y="1609614"/>
          <a:ext cx="4149725" cy="698500"/>
        </p:xfrm>
        <a:graphic>
          <a:graphicData uri="http://schemas.openxmlformats.org/presentationml/2006/ole">
            <mc:AlternateContent xmlns:mc="http://schemas.openxmlformats.org/markup-compatibility/2006">
              <mc:Choice xmlns:v="urn:schemas-microsoft-com:vml" Requires="v">
                <p:oleObj spid="_x0000_s120986" r:id="rId3" imgW="2419560" imgH="407520" progId="Word.Document.8">
                  <p:embed/>
                </p:oleObj>
              </mc:Choice>
              <mc:Fallback>
                <p:oleObj r:id="rId3" imgW="2419560" imgH="407520" progId="Word.Document.8">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2275" y="1609614"/>
                        <a:ext cx="4149725" cy="69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 name="对象 5">
            <a:extLst>
              <a:ext uri="{FF2B5EF4-FFF2-40B4-BE49-F238E27FC236}">
                <a16:creationId xmlns:a16="http://schemas.microsoft.com/office/drawing/2014/main" xmlns="" id="{D0B138E1-A1E5-CAA2-798B-266FBD7C1248}"/>
              </a:ext>
            </a:extLst>
          </p:cNvPr>
          <p:cNvGraphicFramePr>
            <a:graphicFrameLocks/>
          </p:cNvGraphicFramePr>
          <p:nvPr>
            <p:extLst>
              <p:ext uri="{D42A27DB-BD31-4B8C-83A1-F6EECF244321}">
                <p14:modId xmlns:p14="http://schemas.microsoft.com/office/powerpoint/2010/main" val="4173080082"/>
              </p:ext>
            </p:extLst>
          </p:nvPr>
        </p:nvGraphicFramePr>
        <p:xfrm>
          <a:off x="402576" y="2120069"/>
          <a:ext cx="8388350" cy="760413"/>
        </p:xfrm>
        <a:graphic>
          <a:graphicData uri="http://schemas.openxmlformats.org/presentationml/2006/ole">
            <mc:AlternateContent xmlns:mc="http://schemas.openxmlformats.org/markup-compatibility/2006">
              <mc:Choice xmlns:v="urn:schemas-microsoft-com:vml" Requires="v">
                <p:oleObj spid="_x0000_s120987" r:id="rId5" imgW="4664520" imgH="421920" progId="Word.Document.8">
                  <p:embed/>
                </p:oleObj>
              </mc:Choice>
              <mc:Fallback>
                <p:oleObj r:id="rId5" imgW="4664520" imgH="421920" progId="Word.Document.8">
                  <p:embed/>
                  <p:pic>
                    <p:nvPicPr>
                      <p:cNvPr id="0" name=""/>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2576" y="2120069"/>
                        <a:ext cx="8388350" cy="76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 name="对象 6">
            <a:extLst>
              <a:ext uri="{FF2B5EF4-FFF2-40B4-BE49-F238E27FC236}">
                <a16:creationId xmlns:a16="http://schemas.microsoft.com/office/drawing/2014/main" xmlns="" id="{7A2A143A-68D5-F641-E669-F61CF3AB441F}"/>
              </a:ext>
            </a:extLst>
          </p:cNvPr>
          <p:cNvGraphicFramePr>
            <a:graphicFrameLocks/>
          </p:cNvGraphicFramePr>
          <p:nvPr>
            <p:extLst>
              <p:ext uri="{D42A27DB-BD31-4B8C-83A1-F6EECF244321}">
                <p14:modId xmlns:p14="http://schemas.microsoft.com/office/powerpoint/2010/main" val="3150883518"/>
              </p:ext>
            </p:extLst>
          </p:nvPr>
        </p:nvGraphicFramePr>
        <p:xfrm>
          <a:off x="395288" y="2759173"/>
          <a:ext cx="8153400" cy="457200"/>
        </p:xfrm>
        <a:graphic>
          <a:graphicData uri="http://schemas.openxmlformats.org/presentationml/2006/ole">
            <mc:AlternateContent xmlns:mc="http://schemas.openxmlformats.org/markup-compatibility/2006">
              <mc:Choice xmlns:v="urn:schemas-microsoft-com:vml" Requires="v">
                <p:oleObj spid="_x0000_s120988" r:id="rId7" imgW="3479800" imgH="228600" progId="Equation.3">
                  <p:embed/>
                </p:oleObj>
              </mc:Choice>
              <mc:Fallback>
                <p:oleObj r:id="rId7" imgW="3479800" imgH="228600" progId="Equation.3">
                  <p:embed/>
                  <p:pic>
                    <p:nvPicPr>
                      <p:cNvPr id="0" name=""/>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5288" y="2759173"/>
                        <a:ext cx="815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 name="对象 7">
            <a:extLst>
              <a:ext uri="{FF2B5EF4-FFF2-40B4-BE49-F238E27FC236}">
                <a16:creationId xmlns:a16="http://schemas.microsoft.com/office/drawing/2014/main" xmlns="" id="{FB1CB0BA-62C8-DFFB-CB06-F409EC2154E2}"/>
              </a:ext>
            </a:extLst>
          </p:cNvPr>
          <p:cNvGraphicFramePr>
            <a:graphicFrameLocks/>
          </p:cNvGraphicFramePr>
          <p:nvPr>
            <p:extLst>
              <p:ext uri="{D42A27DB-BD31-4B8C-83A1-F6EECF244321}">
                <p14:modId xmlns:p14="http://schemas.microsoft.com/office/powerpoint/2010/main" val="1922353475"/>
              </p:ext>
            </p:extLst>
          </p:nvPr>
        </p:nvGraphicFramePr>
        <p:xfrm>
          <a:off x="395288" y="3599545"/>
          <a:ext cx="8072438" cy="1828800"/>
        </p:xfrm>
        <a:graphic>
          <a:graphicData uri="http://schemas.openxmlformats.org/presentationml/2006/ole">
            <mc:AlternateContent xmlns:mc="http://schemas.openxmlformats.org/markup-compatibility/2006">
              <mc:Choice xmlns:v="urn:schemas-microsoft-com:vml" Requires="v">
                <p:oleObj spid="_x0000_s120989" r:id="rId9" imgW="4764240" imgH="1036800" progId="Word.Document.8">
                  <p:embed/>
                </p:oleObj>
              </mc:Choice>
              <mc:Fallback>
                <p:oleObj r:id="rId9" imgW="4764240" imgH="1036800" progId="Word.Document.8">
                  <p:embed/>
                  <p:pic>
                    <p:nvPicPr>
                      <p:cNvPr id="0" name=""/>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95288" y="3599545"/>
                        <a:ext cx="8072438"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952705565"/>
      </p:ext>
    </p:extLst>
  </p:cSld>
  <p:clrMapOvr>
    <a:masterClrMapping/>
  </p:clrMapOvr>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157</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12"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4.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谐振</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功率</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放大器</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矩形 188419">
            <a:extLst>
              <a:ext uri="{FF2B5EF4-FFF2-40B4-BE49-F238E27FC236}">
                <a16:creationId xmlns:a16="http://schemas.microsoft.com/office/drawing/2014/main" xmlns="" id="{85B89736-D21F-42B8-971E-7D397352E29B}"/>
              </a:ext>
            </a:extLst>
          </p:cNvPr>
          <p:cNvSpPr>
            <a:spLocks noChangeArrowheads="1"/>
          </p:cNvSpPr>
          <p:nvPr/>
        </p:nvSpPr>
        <p:spPr bwMode="auto">
          <a:xfrm>
            <a:off x="519113" y="1980332"/>
            <a:ext cx="419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lang="zh-CN" altLang="en-US" sz="3200">
                <a:solidFill>
                  <a:schemeClr val="tx1"/>
                </a:solidFill>
              </a:rPr>
              <a:t/>
            </a:r>
            <a:br>
              <a:rPr lang="zh-CN" altLang="en-US" sz="3200">
                <a:solidFill>
                  <a:schemeClr val="tx1"/>
                </a:solidFill>
              </a:rPr>
            </a:br>
            <a:r>
              <a:rPr lang="zh-CN" altLang="en-US" sz="3200">
                <a:solidFill>
                  <a:schemeClr val="tx1"/>
                </a:solidFill>
              </a:rPr>
              <a:t/>
            </a:r>
            <a:br>
              <a:rPr lang="zh-CN" altLang="en-US" sz="3200">
                <a:solidFill>
                  <a:schemeClr val="tx1"/>
                </a:solidFill>
              </a:rPr>
            </a:br>
            <a:endParaRPr lang="zh-CN" altLang="en-US" sz="3200">
              <a:solidFill>
                <a:schemeClr val="tx1"/>
              </a:solidFill>
            </a:endParaRPr>
          </a:p>
        </p:txBody>
      </p:sp>
      <p:graphicFrame>
        <p:nvGraphicFramePr>
          <p:cNvPr id="6" name="对象 188420">
            <a:extLst>
              <a:ext uri="{FF2B5EF4-FFF2-40B4-BE49-F238E27FC236}">
                <a16:creationId xmlns:a16="http://schemas.microsoft.com/office/drawing/2014/main" xmlns="" id="{EBDABB6B-EC99-AD4E-EB10-81FAA5A715FB}"/>
              </a:ext>
            </a:extLst>
          </p:cNvPr>
          <p:cNvGraphicFramePr>
            <a:graphicFrameLocks/>
          </p:cNvGraphicFramePr>
          <p:nvPr>
            <p:extLst>
              <p:ext uri="{D42A27DB-BD31-4B8C-83A1-F6EECF244321}">
                <p14:modId xmlns:p14="http://schemas.microsoft.com/office/powerpoint/2010/main" val="1624032136"/>
              </p:ext>
            </p:extLst>
          </p:nvPr>
        </p:nvGraphicFramePr>
        <p:xfrm>
          <a:off x="366713" y="1407244"/>
          <a:ext cx="8382000" cy="533400"/>
        </p:xfrm>
        <a:graphic>
          <a:graphicData uri="http://schemas.openxmlformats.org/presentationml/2006/ole">
            <mc:AlternateContent xmlns:mc="http://schemas.openxmlformats.org/markup-compatibility/2006">
              <mc:Choice xmlns:v="urn:schemas-microsoft-com:vml" Requires="v">
                <p:oleObj spid="_x0000_s122086" r:id="rId3" imgW="4600956" imgH="316992" progId="Word.Document.8">
                  <p:embed/>
                </p:oleObj>
              </mc:Choice>
              <mc:Fallback>
                <p:oleObj r:id="rId3" imgW="4600956" imgH="316992" progId="Word.Document.8">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6713" y="1407244"/>
                        <a:ext cx="83820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 name="矩形 6">
            <a:extLst>
              <a:ext uri="{FF2B5EF4-FFF2-40B4-BE49-F238E27FC236}">
                <a16:creationId xmlns:a16="http://schemas.microsoft.com/office/drawing/2014/main" xmlns="" id="{917DBF95-24C2-4A37-4141-4FF127DA42E4}"/>
              </a:ext>
            </a:extLst>
          </p:cNvPr>
          <p:cNvSpPr>
            <a:spLocks noChangeArrowheads="1"/>
          </p:cNvSpPr>
          <p:nvPr/>
        </p:nvSpPr>
        <p:spPr bwMode="auto">
          <a:xfrm>
            <a:off x="7432676" y="2558182"/>
            <a:ext cx="1135062" cy="1281112"/>
          </a:xfrm>
          <a:prstGeom prst="rect">
            <a:avLst/>
          </a:prstGeom>
          <a:noFill/>
          <a:ln w="15875">
            <a:solidFill>
              <a:srgbClr val="FF0000"/>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8" name="组合 7">
            <a:extLst>
              <a:ext uri="{FF2B5EF4-FFF2-40B4-BE49-F238E27FC236}">
                <a16:creationId xmlns:a16="http://schemas.microsoft.com/office/drawing/2014/main" xmlns="" id="{F9252B81-78A6-6027-8B29-186CE383EDEC}"/>
              </a:ext>
            </a:extLst>
          </p:cNvPr>
          <p:cNvGrpSpPr>
            <a:grpSpLocks/>
          </p:cNvGrpSpPr>
          <p:nvPr/>
        </p:nvGrpSpPr>
        <p:grpSpPr bwMode="auto">
          <a:xfrm>
            <a:off x="7189788" y="2896319"/>
            <a:ext cx="450850" cy="450850"/>
            <a:chOff x="4272" y="864"/>
            <a:chExt cx="249" cy="397"/>
          </a:xfrm>
        </p:grpSpPr>
        <p:sp>
          <p:nvSpPr>
            <p:cNvPr id="9" name="任意多边形 188424">
              <a:extLst>
                <a:ext uri="{FF2B5EF4-FFF2-40B4-BE49-F238E27FC236}">
                  <a16:creationId xmlns:a16="http://schemas.microsoft.com/office/drawing/2014/main" xmlns="" id="{8F3B0E79-6D38-3836-22DB-55893CC25CC8}"/>
                </a:ext>
              </a:extLst>
            </p:cNvPr>
            <p:cNvSpPr>
              <a:spLocks noChangeArrowheads="1"/>
            </p:cNvSpPr>
            <p:nvPr/>
          </p:nvSpPr>
          <p:spPr bwMode="auto">
            <a:xfrm>
              <a:off x="4272" y="864"/>
              <a:ext cx="240" cy="240"/>
            </a:xfrm>
            <a:custGeom>
              <a:avLst/>
              <a:gdLst>
                <a:gd name="T0" fmla="*/ 240 w 240"/>
                <a:gd name="T1" fmla="*/ 0 h 240"/>
                <a:gd name="T2" fmla="*/ 48 w 240"/>
                <a:gd name="T3" fmla="*/ 48 h 240"/>
                <a:gd name="T4" fmla="*/ 0 w 240"/>
                <a:gd name="T5" fmla="*/ 240 h 240"/>
              </a:gdLst>
              <a:ahLst/>
              <a:cxnLst>
                <a:cxn ang="0">
                  <a:pos x="T0" y="T1"/>
                </a:cxn>
                <a:cxn ang="0">
                  <a:pos x="T2" y="T3"/>
                </a:cxn>
                <a:cxn ang="0">
                  <a:pos x="T4" y="T5"/>
                </a:cxn>
              </a:cxnLst>
              <a:rect l="0" t="0" r="r" b="b"/>
              <a:pathLst>
                <a:path w="240" h="240">
                  <a:moveTo>
                    <a:pt x="240" y="0"/>
                  </a:moveTo>
                  <a:cubicBezTo>
                    <a:pt x="164" y="4"/>
                    <a:pt x="88" y="8"/>
                    <a:pt x="48" y="48"/>
                  </a:cubicBezTo>
                  <a:cubicBezTo>
                    <a:pt x="8" y="88"/>
                    <a:pt x="4" y="164"/>
                    <a:pt x="0" y="240"/>
                  </a:cubicBezTo>
                </a:path>
              </a:pathLst>
            </a:custGeom>
            <a:noFill/>
            <a:ln w="952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 name="文本框 188425">
              <a:extLst>
                <a:ext uri="{FF2B5EF4-FFF2-40B4-BE49-F238E27FC236}">
                  <a16:creationId xmlns:a16="http://schemas.microsoft.com/office/drawing/2014/main" xmlns="" id="{7475F840-B9C8-72C0-6517-DF05E4C9F2B6}"/>
                </a:ext>
              </a:extLst>
            </p:cNvPr>
            <p:cNvSpPr txBox="1">
              <a:spLocks noChangeArrowheads="1"/>
            </p:cNvSpPr>
            <p:nvPr/>
          </p:nvSpPr>
          <p:spPr bwMode="auto">
            <a:xfrm>
              <a:off x="4320" y="911"/>
              <a:ext cx="201" cy="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i="1">
                  <a:solidFill>
                    <a:schemeClr val="tx1"/>
                  </a:solidFill>
                </a:rPr>
                <a:t>i</a:t>
              </a:r>
              <a:r>
                <a:rPr lang="en-US" altLang="zh-CN" sz="2000" i="1" baseline="-25000">
                  <a:solidFill>
                    <a:schemeClr val="tx1"/>
                  </a:solidFill>
                </a:rPr>
                <a:t>C</a:t>
              </a:r>
              <a:endParaRPr lang="en-US" altLang="zh-CN" sz="2000" i="1">
                <a:solidFill>
                  <a:schemeClr val="tx1"/>
                </a:solidFill>
              </a:endParaRPr>
            </a:p>
          </p:txBody>
        </p:sp>
      </p:grpSp>
      <p:sp>
        <p:nvSpPr>
          <p:cNvPr id="11" name="文本框 10">
            <a:extLst>
              <a:ext uri="{FF2B5EF4-FFF2-40B4-BE49-F238E27FC236}">
                <a16:creationId xmlns:a16="http://schemas.microsoft.com/office/drawing/2014/main" xmlns="" id="{936D9B18-1811-CEAC-E4AB-F503F3A8244E}"/>
              </a:ext>
            </a:extLst>
          </p:cNvPr>
          <p:cNvSpPr txBox="1">
            <a:spLocks noChangeArrowheads="1"/>
          </p:cNvSpPr>
          <p:nvPr/>
        </p:nvSpPr>
        <p:spPr bwMode="auto">
          <a:xfrm>
            <a:off x="8404226" y="2969344"/>
            <a:ext cx="487362"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000" i="1">
                <a:solidFill>
                  <a:schemeClr val="tx1"/>
                </a:solidFill>
              </a:rPr>
              <a:t>-</a:t>
            </a:r>
          </a:p>
          <a:p>
            <a:r>
              <a:rPr lang="en-US" altLang="zh-CN" sz="2000" i="1">
                <a:solidFill>
                  <a:schemeClr val="tx1"/>
                </a:solidFill>
              </a:rPr>
              <a:t>v</a:t>
            </a:r>
            <a:r>
              <a:rPr lang="en-US" altLang="zh-CN" sz="2000" i="1" baseline="-25000">
                <a:solidFill>
                  <a:schemeClr val="tx1"/>
                </a:solidFill>
              </a:rPr>
              <a:t>c2</a:t>
            </a:r>
          </a:p>
          <a:p>
            <a:r>
              <a:rPr lang="en-US" altLang="zh-CN" sz="2000" i="1" baseline="-25000">
                <a:solidFill>
                  <a:schemeClr val="tx1"/>
                </a:solidFill>
              </a:rPr>
              <a:t>+</a:t>
            </a:r>
            <a:endParaRPr lang="en-US" altLang="zh-CN" sz="2000" i="1">
              <a:solidFill>
                <a:schemeClr val="tx1"/>
              </a:solidFill>
            </a:endParaRPr>
          </a:p>
        </p:txBody>
      </p:sp>
      <p:grpSp>
        <p:nvGrpSpPr>
          <p:cNvPr id="13" name="组合 12">
            <a:extLst>
              <a:ext uri="{FF2B5EF4-FFF2-40B4-BE49-F238E27FC236}">
                <a16:creationId xmlns:a16="http://schemas.microsoft.com/office/drawing/2014/main" xmlns="" id="{436ABA77-FEBB-B39B-02BA-FCBF758F44FC}"/>
              </a:ext>
            </a:extLst>
          </p:cNvPr>
          <p:cNvGrpSpPr>
            <a:grpSpLocks/>
          </p:cNvGrpSpPr>
          <p:nvPr/>
        </p:nvGrpSpPr>
        <p:grpSpPr bwMode="auto">
          <a:xfrm>
            <a:off x="1419226" y="2340694"/>
            <a:ext cx="3189287" cy="2008188"/>
            <a:chOff x="927" y="873"/>
            <a:chExt cx="2009" cy="1123"/>
          </a:xfrm>
        </p:grpSpPr>
        <p:sp>
          <p:nvSpPr>
            <p:cNvPr id="14" name="直接连接符 188430">
              <a:extLst>
                <a:ext uri="{FF2B5EF4-FFF2-40B4-BE49-F238E27FC236}">
                  <a16:creationId xmlns:a16="http://schemas.microsoft.com/office/drawing/2014/main" xmlns="" id="{CDE70344-4A72-7B77-F516-E4ECFD7EAA6E}"/>
                </a:ext>
              </a:extLst>
            </p:cNvPr>
            <p:cNvSpPr>
              <a:spLocks noChangeShapeType="1"/>
            </p:cNvSpPr>
            <p:nvPr/>
          </p:nvSpPr>
          <p:spPr bwMode="auto">
            <a:xfrm>
              <a:off x="1110" y="1248"/>
              <a:ext cx="0" cy="686"/>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 name="直接连接符 188431">
              <a:extLst>
                <a:ext uri="{FF2B5EF4-FFF2-40B4-BE49-F238E27FC236}">
                  <a16:creationId xmlns:a16="http://schemas.microsoft.com/office/drawing/2014/main" xmlns="" id="{9E9558C2-74FC-FB5D-1213-FB8FEFDA069F}"/>
                </a:ext>
              </a:extLst>
            </p:cNvPr>
            <p:cNvSpPr>
              <a:spLocks noChangeShapeType="1"/>
            </p:cNvSpPr>
            <p:nvPr/>
          </p:nvSpPr>
          <p:spPr bwMode="auto">
            <a:xfrm>
              <a:off x="1840" y="1248"/>
              <a:ext cx="0" cy="686"/>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 name="直接连接符 188432">
              <a:extLst>
                <a:ext uri="{FF2B5EF4-FFF2-40B4-BE49-F238E27FC236}">
                  <a16:creationId xmlns:a16="http://schemas.microsoft.com/office/drawing/2014/main" xmlns="" id="{D27CC441-817E-E951-0B6C-833E7B658026}"/>
                </a:ext>
              </a:extLst>
            </p:cNvPr>
            <p:cNvSpPr>
              <a:spLocks noChangeShapeType="1"/>
            </p:cNvSpPr>
            <p:nvPr/>
          </p:nvSpPr>
          <p:spPr bwMode="auto">
            <a:xfrm>
              <a:off x="2571" y="1248"/>
              <a:ext cx="0" cy="748"/>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 name="直接连接符 188433">
              <a:extLst>
                <a:ext uri="{FF2B5EF4-FFF2-40B4-BE49-F238E27FC236}">
                  <a16:creationId xmlns:a16="http://schemas.microsoft.com/office/drawing/2014/main" xmlns="" id="{D29495D4-A73C-4EDF-0FCB-9447865FC952}"/>
                </a:ext>
              </a:extLst>
            </p:cNvPr>
            <p:cNvSpPr>
              <a:spLocks noChangeShapeType="1"/>
            </p:cNvSpPr>
            <p:nvPr/>
          </p:nvSpPr>
          <p:spPr bwMode="auto">
            <a:xfrm>
              <a:off x="1475" y="873"/>
              <a:ext cx="0" cy="1061"/>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 name="直接连接符 188434">
              <a:extLst>
                <a:ext uri="{FF2B5EF4-FFF2-40B4-BE49-F238E27FC236}">
                  <a16:creationId xmlns:a16="http://schemas.microsoft.com/office/drawing/2014/main" xmlns="" id="{1B1C8F94-0F2D-88B5-0116-42A7A359E17B}"/>
                </a:ext>
              </a:extLst>
            </p:cNvPr>
            <p:cNvSpPr>
              <a:spLocks noChangeShapeType="1"/>
            </p:cNvSpPr>
            <p:nvPr/>
          </p:nvSpPr>
          <p:spPr bwMode="auto">
            <a:xfrm>
              <a:off x="2206" y="873"/>
              <a:ext cx="0" cy="1061"/>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 name="直接连接符 188435">
              <a:extLst>
                <a:ext uri="{FF2B5EF4-FFF2-40B4-BE49-F238E27FC236}">
                  <a16:creationId xmlns:a16="http://schemas.microsoft.com/office/drawing/2014/main" xmlns="" id="{5BC8B2DF-134D-45BE-8C15-F179529B0537}"/>
                </a:ext>
              </a:extLst>
            </p:cNvPr>
            <p:cNvSpPr>
              <a:spLocks noChangeShapeType="1"/>
            </p:cNvSpPr>
            <p:nvPr/>
          </p:nvSpPr>
          <p:spPr bwMode="auto">
            <a:xfrm>
              <a:off x="2936" y="873"/>
              <a:ext cx="0" cy="1061"/>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 name="直接连接符 188436">
              <a:extLst>
                <a:ext uri="{FF2B5EF4-FFF2-40B4-BE49-F238E27FC236}">
                  <a16:creationId xmlns:a16="http://schemas.microsoft.com/office/drawing/2014/main" xmlns="" id="{8ED9F7F4-DCAA-EEEA-7E01-B575FE94A530}"/>
                </a:ext>
              </a:extLst>
            </p:cNvPr>
            <p:cNvSpPr>
              <a:spLocks noChangeShapeType="1"/>
            </p:cNvSpPr>
            <p:nvPr/>
          </p:nvSpPr>
          <p:spPr bwMode="auto">
            <a:xfrm>
              <a:off x="927" y="1253"/>
              <a:ext cx="0" cy="623"/>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1" name="组合 20">
            <a:extLst>
              <a:ext uri="{FF2B5EF4-FFF2-40B4-BE49-F238E27FC236}">
                <a16:creationId xmlns:a16="http://schemas.microsoft.com/office/drawing/2014/main" xmlns="" id="{4343E8C6-8663-CB09-7A70-B0F53BD8EFB9}"/>
              </a:ext>
            </a:extLst>
          </p:cNvPr>
          <p:cNvGrpSpPr>
            <a:grpSpLocks/>
          </p:cNvGrpSpPr>
          <p:nvPr/>
        </p:nvGrpSpPr>
        <p:grpSpPr bwMode="auto">
          <a:xfrm>
            <a:off x="549276" y="3121744"/>
            <a:ext cx="4638675" cy="1014413"/>
            <a:chOff x="379" y="1310"/>
            <a:chExt cx="2922" cy="567"/>
          </a:xfrm>
        </p:grpSpPr>
        <p:sp>
          <p:nvSpPr>
            <p:cNvPr id="22" name="直接连接符 188438">
              <a:extLst>
                <a:ext uri="{FF2B5EF4-FFF2-40B4-BE49-F238E27FC236}">
                  <a16:creationId xmlns:a16="http://schemas.microsoft.com/office/drawing/2014/main" xmlns="" id="{5C0E1081-C66B-AEF4-1893-26C240DEFD8B}"/>
                </a:ext>
              </a:extLst>
            </p:cNvPr>
            <p:cNvSpPr>
              <a:spLocks noChangeShapeType="1"/>
            </p:cNvSpPr>
            <p:nvPr/>
          </p:nvSpPr>
          <p:spPr bwMode="auto">
            <a:xfrm>
              <a:off x="379" y="1690"/>
              <a:ext cx="2922"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 name="直接连接符 188439">
              <a:extLst>
                <a:ext uri="{FF2B5EF4-FFF2-40B4-BE49-F238E27FC236}">
                  <a16:creationId xmlns:a16="http://schemas.microsoft.com/office/drawing/2014/main" xmlns="" id="{6B2D3514-6545-5351-88B3-D40C56DD820E}"/>
                </a:ext>
              </a:extLst>
            </p:cNvPr>
            <p:cNvSpPr>
              <a:spLocks noChangeShapeType="1"/>
            </p:cNvSpPr>
            <p:nvPr/>
          </p:nvSpPr>
          <p:spPr bwMode="auto">
            <a:xfrm flipV="1">
              <a:off x="745" y="1310"/>
              <a:ext cx="0" cy="56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24" name="组合 23">
            <a:extLst>
              <a:ext uri="{FF2B5EF4-FFF2-40B4-BE49-F238E27FC236}">
                <a16:creationId xmlns:a16="http://schemas.microsoft.com/office/drawing/2014/main" xmlns="" id="{240D4AB5-5E2F-F3E2-74E2-0139AED464A0}"/>
              </a:ext>
            </a:extLst>
          </p:cNvPr>
          <p:cNvGrpSpPr>
            <a:grpSpLocks/>
          </p:cNvGrpSpPr>
          <p:nvPr/>
        </p:nvGrpSpPr>
        <p:grpSpPr bwMode="auto">
          <a:xfrm>
            <a:off x="549276" y="1940644"/>
            <a:ext cx="4638675" cy="1030288"/>
            <a:chOff x="379" y="672"/>
            <a:chExt cx="2922" cy="576"/>
          </a:xfrm>
        </p:grpSpPr>
        <p:sp>
          <p:nvSpPr>
            <p:cNvPr id="25" name="直接连接符 188441">
              <a:extLst>
                <a:ext uri="{FF2B5EF4-FFF2-40B4-BE49-F238E27FC236}">
                  <a16:creationId xmlns:a16="http://schemas.microsoft.com/office/drawing/2014/main" xmlns="" id="{7022062D-BF01-EAED-B656-6F5629F392AB}"/>
                </a:ext>
              </a:extLst>
            </p:cNvPr>
            <p:cNvSpPr>
              <a:spLocks noChangeShapeType="1"/>
            </p:cNvSpPr>
            <p:nvPr/>
          </p:nvSpPr>
          <p:spPr bwMode="auto">
            <a:xfrm>
              <a:off x="379" y="1248"/>
              <a:ext cx="2922"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 name="直接连接符 188442">
              <a:extLst>
                <a:ext uri="{FF2B5EF4-FFF2-40B4-BE49-F238E27FC236}">
                  <a16:creationId xmlns:a16="http://schemas.microsoft.com/office/drawing/2014/main" xmlns="" id="{94EE7C18-2E4C-EDA5-CC02-9D4ABBC0B788}"/>
                </a:ext>
              </a:extLst>
            </p:cNvPr>
            <p:cNvSpPr>
              <a:spLocks noChangeShapeType="1"/>
            </p:cNvSpPr>
            <p:nvPr/>
          </p:nvSpPr>
          <p:spPr bwMode="auto">
            <a:xfrm flipV="1">
              <a:off x="745" y="748"/>
              <a:ext cx="0" cy="5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 name="文本框 188443">
              <a:extLst>
                <a:ext uri="{FF2B5EF4-FFF2-40B4-BE49-F238E27FC236}">
                  <a16:creationId xmlns:a16="http://schemas.microsoft.com/office/drawing/2014/main" xmlns="" id="{EBA41C46-3192-2DE5-2910-6D2432713376}"/>
                </a:ext>
              </a:extLst>
            </p:cNvPr>
            <p:cNvSpPr txBox="1">
              <a:spLocks noChangeArrowheads="1"/>
            </p:cNvSpPr>
            <p:nvPr/>
          </p:nvSpPr>
          <p:spPr bwMode="auto">
            <a:xfrm>
              <a:off x="768" y="672"/>
              <a:ext cx="199"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800" i="1">
                  <a:solidFill>
                    <a:schemeClr val="tx1"/>
                  </a:solidFill>
                </a:rPr>
                <a:t>i</a:t>
              </a:r>
              <a:r>
                <a:rPr lang="en-US" altLang="zh-CN" sz="1800" i="1" baseline="-25000">
                  <a:solidFill>
                    <a:schemeClr val="tx1"/>
                  </a:solidFill>
                </a:rPr>
                <a:t>c</a:t>
              </a:r>
              <a:endParaRPr lang="en-US" altLang="zh-CN" sz="1800" i="1">
                <a:solidFill>
                  <a:schemeClr val="tx1"/>
                </a:solidFill>
              </a:endParaRPr>
            </a:p>
          </p:txBody>
        </p:sp>
      </p:grpSp>
      <p:grpSp>
        <p:nvGrpSpPr>
          <p:cNvPr id="28" name="组合 27">
            <a:extLst>
              <a:ext uri="{FF2B5EF4-FFF2-40B4-BE49-F238E27FC236}">
                <a16:creationId xmlns:a16="http://schemas.microsoft.com/office/drawing/2014/main" xmlns="" id="{00F3A2FD-7CBB-BBA8-5B09-D628D554F765}"/>
              </a:ext>
            </a:extLst>
          </p:cNvPr>
          <p:cNvGrpSpPr>
            <a:grpSpLocks/>
          </p:cNvGrpSpPr>
          <p:nvPr/>
        </p:nvGrpSpPr>
        <p:grpSpPr bwMode="auto">
          <a:xfrm>
            <a:off x="862013" y="3183657"/>
            <a:ext cx="4083050" cy="1171575"/>
            <a:chOff x="576" y="2833"/>
            <a:chExt cx="2572" cy="655"/>
          </a:xfrm>
        </p:grpSpPr>
        <p:sp>
          <p:nvSpPr>
            <p:cNvPr id="29" name="任意多边形 188445">
              <a:extLst>
                <a:ext uri="{FF2B5EF4-FFF2-40B4-BE49-F238E27FC236}">
                  <a16:creationId xmlns:a16="http://schemas.microsoft.com/office/drawing/2014/main" xmlns="" id="{8255E218-E5CF-8AC1-38AC-DF06B7891C69}"/>
                </a:ext>
              </a:extLst>
            </p:cNvPr>
            <p:cNvSpPr>
              <a:spLocks noChangeArrowheads="1"/>
            </p:cNvSpPr>
            <p:nvPr/>
          </p:nvSpPr>
          <p:spPr bwMode="auto">
            <a:xfrm>
              <a:off x="576" y="2880"/>
              <a:ext cx="2572" cy="608"/>
            </a:xfrm>
            <a:custGeom>
              <a:avLst/>
              <a:gdLst>
                <a:gd name="T0" fmla="*/ 0 w 2640"/>
                <a:gd name="T1" fmla="*/ 280 h 608"/>
                <a:gd name="T2" fmla="*/ 192 w 2640"/>
                <a:gd name="T3" fmla="*/ 40 h 608"/>
                <a:gd name="T4" fmla="*/ 384 w 2640"/>
                <a:gd name="T5" fmla="*/ 280 h 608"/>
                <a:gd name="T6" fmla="*/ 576 w 2640"/>
                <a:gd name="T7" fmla="*/ 568 h 608"/>
                <a:gd name="T8" fmla="*/ 912 w 2640"/>
                <a:gd name="T9" fmla="*/ 40 h 608"/>
                <a:gd name="T10" fmla="*/ 1296 w 2640"/>
                <a:gd name="T11" fmla="*/ 568 h 608"/>
                <a:gd name="T12" fmla="*/ 1680 w 2640"/>
                <a:gd name="T13" fmla="*/ 40 h 608"/>
                <a:gd name="T14" fmla="*/ 2064 w 2640"/>
                <a:gd name="T15" fmla="*/ 568 h 608"/>
                <a:gd name="T16" fmla="*/ 2400 w 2640"/>
                <a:gd name="T17" fmla="*/ 40 h 608"/>
                <a:gd name="T18" fmla="*/ 2640 w 2640"/>
                <a:gd name="T19" fmla="*/ 328 h 6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40" h="608">
                  <a:moveTo>
                    <a:pt x="0" y="280"/>
                  </a:moveTo>
                  <a:cubicBezTo>
                    <a:pt x="64" y="160"/>
                    <a:pt x="128" y="40"/>
                    <a:pt x="192" y="40"/>
                  </a:cubicBezTo>
                  <a:cubicBezTo>
                    <a:pt x="256" y="40"/>
                    <a:pt x="320" y="192"/>
                    <a:pt x="384" y="280"/>
                  </a:cubicBezTo>
                  <a:cubicBezTo>
                    <a:pt x="448" y="368"/>
                    <a:pt x="488" y="608"/>
                    <a:pt x="576" y="568"/>
                  </a:cubicBezTo>
                  <a:cubicBezTo>
                    <a:pt x="664" y="528"/>
                    <a:pt x="792" y="40"/>
                    <a:pt x="912" y="40"/>
                  </a:cubicBezTo>
                  <a:cubicBezTo>
                    <a:pt x="1032" y="40"/>
                    <a:pt x="1168" y="568"/>
                    <a:pt x="1296" y="568"/>
                  </a:cubicBezTo>
                  <a:cubicBezTo>
                    <a:pt x="1424" y="568"/>
                    <a:pt x="1552" y="40"/>
                    <a:pt x="1680" y="40"/>
                  </a:cubicBezTo>
                  <a:cubicBezTo>
                    <a:pt x="1808" y="40"/>
                    <a:pt x="1944" y="568"/>
                    <a:pt x="2064" y="568"/>
                  </a:cubicBezTo>
                  <a:cubicBezTo>
                    <a:pt x="2184" y="568"/>
                    <a:pt x="2304" y="80"/>
                    <a:pt x="2400" y="40"/>
                  </a:cubicBezTo>
                  <a:cubicBezTo>
                    <a:pt x="2496" y="0"/>
                    <a:pt x="2568" y="164"/>
                    <a:pt x="2640" y="328"/>
                  </a:cubicBezTo>
                </a:path>
              </a:pathLst>
            </a:custGeom>
            <a:noFill/>
            <a:ln w="9525">
              <a:solidFill>
                <a:srgbClr val="FF33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0" name="文本框 188446">
              <a:extLst>
                <a:ext uri="{FF2B5EF4-FFF2-40B4-BE49-F238E27FC236}">
                  <a16:creationId xmlns:a16="http://schemas.microsoft.com/office/drawing/2014/main" xmlns="" id="{2C942AA4-80C9-F1AF-1323-CED5D65F1AD1}"/>
                </a:ext>
              </a:extLst>
            </p:cNvPr>
            <p:cNvSpPr txBox="1">
              <a:spLocks noChangeArrowheads="1"/>
            </p:cNvSpPr>
            <p:nvPr/>
          </p:nvSpPr>
          <p:spPr bwMode="auto">
            <a:xfrm>
              <a:off x="2274" y="2833"/>
              <a:ext cx="268"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800" i="1">
                  <a:solidFill>
                    <a:srgbClr val="FF3300"/>
                  </a:solidFill>
                </a:rPr>
                <a:t>i</a:t>
              </a:r>
              <a:r>
                <a:rPr lang="en-US" altLang="zh-CN" sz="1800" i="1" baseline="-25000">
                  <a:solidFill>
                    <a:srgbClr val="FF3300"/>
                  </a:solidFill>
                </a:rPr>
                <a:t>C1</a:t>
              </a:r>
              <a:endParaRPr lang="en-US" altLang="zh-CN" sz="1800" i="1">
                <a:solidFill>
                  <a:srgbClr val="FF3300"/>
                </a:solidFill>
              </a:endParaRPr>
            </a:p>
          </p:txBody>
        </p:sp>
      </p:grpSp>
      <p:grpSp>
        <p:nvGrpSpPr>
          <p:cNvPr id="31" name="组合 30">
            <a:extLst>
              <a:ext uri="{FF2B5EF4-FFF2-40B4-BE49-F238E27FC236}">
                <a16:creationId xmlns:a16="http://schemas.microsoft.com/office/drawing/2014/main" xmlns="" id="{1272B455-5EE2-8F4C-3334-615800B8E351}"/>
              </a:ext>
            </a:extLst>
          </p:cNvPr>
          <p:cNvGrpSpPr>
            <a:grpSpLocks/>
          </p:cNvGrpSpPr>
          <p:nvPr/>
        </p:nvGrpSpPr>
        <p:grpSpPr bwMode="auto">
          <a:xfrm>
            <a:off x="976313" y="3269382"/>
            <a:ext cx="3624263" cy="741362"/>
            <a:chOff x="576" y="3120"/>
            <a:chExt cx="2283" cy="415"/>
          </a:xfrm>
        </p:grpSpPr>
        <p:sp>
          <p:nvSpPr>
            <p:cNvPr id="32" name="任意多边形 188448">
              <a:extLst>
                <a:ext uri="{FF2B5EF4-FFF2-40B4-BE49-F238E27FC236}">
                  <a16:creationId xmlns:a16="http://schemas.microsoft.com/office/drawing/2014/main" xmlns="" id="{5D3189C5-CFBF-5BE3-ECB9-D3192D1DF8BF}"/>
                </a:ext>
              </a:extLst>
            </p:cNvPr>
            <p:cNvSpPr>
              <a:spLocks noChangeArrowheads="1"/>
            </p:cNvSpPr>
            <p:nvPr/>
          </p:nvSpPr>
          <p:spPr bwMode="auto">
            <a:xfrm>
              <a:off x="576" y="3264"/>
              <a:ext cx="2283" cy="271"/>
            </a:xfrm>
            <a:custGeom>
              <a:avLst/>
              <a:gdLst>
                <a:gd name="T0" fmla="*/ 0 w 4500"/>
                <a:gd name="T1" fmla="*/ 364 h 676"/>
                <a:gd name="T2" fmla="*/ 180 w 4500"/>
                <a:gd name="T3" fmla="*/ 52 h 676"/>
                <a:gd name="T4" fmla="*/ 540 w 4500"/>
                <a:gd name="T5" fmla="*/ 676 h 676"/>
                <a:gd name="T6" fmla="*/ 900 w 4500"/>
                <a:gd name="T7" fmla="*/ 52 h 676"/>
                <a:gd name="T8" fmla="*/ 1260 w 4500"/>
                <a:gd name="T9" fmla="*/ 676 h 676"/>
                <a:gd name="T10" fmla="*/ 1620 w 4500"/>
                <a:gd name="T11" fmla="*/ 52 h 676"/>
                <a:gd name="T12" fmla="*/ 1980 w 4500"/>
                <a:gd name="T13" fmla="*/ 676 h 676"/>
                <a:gd name="T14" fmla="*/ 2340 w 4500"/>
                <a:gd name="T15" fmla="*/ 52 h 676"/>
                <a:gd name="T16" fmla="*/ 2700 w 4500"/>
                <a:gd name="T17" fmla="*/ 676 h 676"/>
                <a:gd name="T18" fmla="*/ 3060 w 4500"/>
                <a:gd name="T19" fmla="*/ 52 h 676"/>
                <a:gd name="T20" fmla="*/ 3420 w 4500"/>
                <a:gd name="T21" fmla="*/ 676 h 676"/>
                <a:gd name="T22" fmla="*/ 3780 w 4500"/>
                <a:gd name="T23" fmla="*/ 52 h 676"/>
                <a:gd name="T24" fmla="*/ 4140 w 4500"/>
                <a:gd name="T25" fmla="*/ 676 h 676"/>
                <a:gd name="T26" fmla="*/ 4500 w 4500"/>
                <a:gd name="T27" fmla="*/ 52 h 6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500" h="676">
                  <a:moveTo>
                    <a:pt x="0" y="364"/>
                  </a:moveTo>
                  <a:cubicBezTo>
                    <a:pt x="45" y="182"/>
                    <a:pt x="90" y="0"/>
                    <a:pt x="180" y="52"/>
                  </a:cubicBezTo>
                  <a:cubicBezTo>
                    <a:pt x="270" y="104"/>
                    <a:pt x="420" y="676"/>
                    <a:pt x="540" y="676"/>
                  </a:cubicBezTo>
                  <a:cubicBezTo>
                    <a:pt x="660" y="676"/>
                    <a:pt x="780" y="52"/>
                    <a:pt x="900" y="52"/>
                  </a:cubicBezTo>
                  <a:cubicBezTo>
                    <a:pt x="1020" y="52"/>
                    <a:pt x="1140" y="676"/>
                    <a:pt x="1260" y="676"/>
                  </a:cubicBezTo>
                  <a:cubicBezTo>
                    <a:pt x="1380" y="676"/>
                    <a:pt x="1500" y="52"/>
                    <a:pt x="1620" y="52"/>
                  </a:cubicBezTo>
                  <a:cubicBezTo>
                    <a:pt x="1740" y="52"/>
                    <a:pt x="1860" y="676"/>
                    <a:pt x="1980" y="676"/>
                  </a:cubicBezTo>
                  <a:cubicBezTo>
                    <a:pt x="2100" y="676"/>
                    <a:pt x="2220" y="52"/>
                    <a:pt x="2340" y="52"/>
                  </a:cubicBezTo>
                  <a:cubicBezTo>
                    <a:pt x="2460" y="52"/>
                    <a:pt x="2580" y="676"/>
                    <a:pt x="2700" y="676"/>
                  </a:cubicBezTo>
                  <a:cubicBezTo>
                    <a:pt x="2820" y="676"/>
                    <a:pt x="2940" y="52"/>
                    <a:pt x="3060" y="52"/>
                  </a:cubicBezTo>
                  <a:cubicBezTo>
                    <a:pt x="3180" y="52"/>
                    <a:pt x="3300" y="676"/>
                    <a:pt x="3420" y="676"/>
                  </a:cubicBezTo>
                  <a:cubicBezTo>
                    <a:pt x="3540" y="676"/>
                    <a:pt x="3660" y="52"/>
                    <a:pt x="3780" y="52"/>
                  </a:cubicBezTo>
                  <a:cubicBezTo>
                    <a:pt x="3900" y="52"/>
                    <a:pt x="4020" y="676"/>
                    <a:pt x="4140" y="676"/>
                  </a:cubicBezTo>
                  <a:cubicBezTo>
                    <a:pt x="4260" y="676"/>
                    <a:pt x="4440" y="156"/>
                    <a:pt x="4500" y="52"/>
                  </a:cubicBez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3" name="文本框 188449">
              <a:extLst>
                <a:ext uri="{FF2B5EF4-FFF2-40B4-BE49-F238E27FC236}">
                  <a16:creationId xmlns:a16="http://schemas.microsoft.com/office/drawing/2014/main" xmlns="" id="{4654158F-479B-2B51-D3CF-891C6A589871}"/>
                </a:ext>
              </a:extLst>
            </p:cNvPr>
            <p:cNvSpPr txBox="1">
              <a:spLocks noChangeArrowheads="1"/>
            </p:cNvSpPr>
            <p:nvPr/>
          </p:nvSpPr>
          <p:spPr bwMode="auto">
            <a:xfrm>
              <a:off x="1008" y="3120"/>
              <a:ext cx="268"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800" i="1">
                  <a:solidFill>
                    <a:schemeClr val="accent2"/>
                  </a:solidFill>
                </a:rPr>
                <a:t>i</a:t>
              </a:r>
              <a:r>
                <a:rPr lang="en-US" altLang="zh-CN" sz="1800" i="1" baseline="-25000">
                  <a:solidFill>
                    <a:schemeClr val="accent2"/>
                  </a:solidFill>
                </a:rPr>
                <a:t>C2</a:t>
              </a:r>
              <a:endParaRPr lang="en-US" altLang="zh-CN" sz="1800" i="1">
                <a:solidFill>
                  <a:schemeClr val="accent2"/>
                </a:solidFill>
              </a:endParaRPr>
            </a:p>
          </p:txBody>
        </p:sp>
      </p:grpSp>
      <p:grpSp>
        <p:nvGrpSpPr>
          <p:cNvPr id="34" name="组合 33">
            <a:extLst>
              <a:ext uri="{FF2B5EF4-FFF2-40B4-BE49-F238E27FC236}">
                <a16:creationId xmlns:a16="http://schemas.microsoft.com/office/drawing/2014/main" xmlns="" id="{2B609E49-ACC5-21A0-B849-9E70C13660D1}"/>
              </a:ext>
            </a:extLst>
          </p:cNvPr>
          <p:cNvGrpSpPr>
            <a:grpSpLocks/>
          </p:cNvGrpSpPr>
          <p:nvPr/>
        </p:nvGrpSpPr>
        <p:grpSpPr bwMode="auto">
          <a:xfrm>
            <a:off x="519113" y="4477469"/>
            <a:ext cx="5297488" cy="1509713"/>
            <a:chOff x="288" y="2304"/>
            <a:chExt cx="3337" cy="824"/>
          </a:xfrm>
        </p:grpSpPr>
        <p:sp>
          <p:nvSpPr>
            <p:cNvPr id="35" name="直接连接符 188451">
              <a:extLst>
                <a:ext uri="{FF2B5EF4-FFF2-40B4-BE49-F238E27FC236}">
                  <a16:creationId xmlns:a16="http://schemas.microsoft.com/office/drawing/2014/main" xmlns="" id="{F82EC4B1-3C27-AF9E-9B83-3FE45F688D09}"/>
                </a:ext>
              </a:extLst>
            </p:cNvPr>
            <p:cNvSpPr>
              <a:spLocks noChangeShapeType="1"/>
            </p:cNvSpPr>
            <p:nvPr/>
          </p:nvSpPr>
          <p:spPr bwMode="auto">
            <a:xfrm>
              <a:off x="288" y="2913"/>
              <a:ext cx="3337"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6" name="直接连接符 188452">
              <a:extLst>
                <a:ext uri="{FF2B5EF4-FFF2-40B4-BE49-F238E27FC236}">
                  <a16:creationId xmlns:a16="http://schemas.microsoft.com/office/drawing/2014/main" xmlns="" id="{26922EF8-8AA3-9222-9AA5-0069A5CB7773}"/>
                </a:ext>
              </a:extLst>
            </p:cNvPr>
            <p:cNvSpPr>
              <a:spLocks noChangeShapeType="1"/>
            </p:cNvSpPr>
            <p:nvPr/>
          </p:nvSpPr>
          <p:spPr bwMode="auto">
            <a:xfrm>
              <a:off x="653" y="2788"/>
              <a:ext cx="0" cy="125"/>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 name="直接连接符 188453">
              <a:extLst>
                <a:ext uri="{FF2B5EF4-FFF2-40B4-BE49-F238E27FC236}">
                  <a16:creationId xmlns:a16="http://schemas.microsoft.com/office/drawing/2014/main" xmlns="" id="{39511401-D3EF-0C3B-2F27-DF296E38204B}"/>
                </a:ext>
              </a:extLst>
            </p:cNvPr>
            <p:cNvSpPr>
              <a:spLocks noChangeShapeType="1"/>
            </p:cNvSpPr>
            <p:nvPr/>
          </p:nvSpPr>
          <p:spPr bwMode="auto">
            <a:xfrm>
              <a:off x="1110" y="2476"/>
              <a:ext cx="0" cy="437"/>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 name="直接连接符 188454">
              <a:extLst>
                <a:ext uri="{FF2B5EF4-FFF2-40B4-BE49-F238E27FC236}">
                  <a16:creationId xmlns:a16="http://schemas.microsoft.com/office/drawing/2014/main" xmlns="" id="{885BAE7C-5DCA-0577-0F41-72183C30D678}"/>
                </a:ext>
              </a:extLst>
            </p:cNvPr>
            <p:cNvSpPr>
              <a:spLocks noChangeShapeType="1"/>
            </p:cNvSpPr>
            <p:nvPr/>
          </p:nvSpPr>
          <p:spPr bwMode="auto">
            <a:xfrm>
              <a:off x="1566" y="2601"/>
              <a:ext cx="0" cy="312"/>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 name="直接连接符 188455">
              <a:extLst>
                <a:ext uri="{FF2B5EF4-FFF2-40B4-BE49-F238E27FC236}">
                  <a16:creationId xmlns:a16="http://schemas.microsoft.com/office/drawing/2014/main" xmlns="" id="{404BAA4F-DBCC-8978-9E28-D3DA41A978CA}"/>
                </a:ext>
              </a:extLst>
            </p:cNvPr>
            <p:cNvSpPr>
              <a:spLocks noChangeShapeType="1"/>
            </p:cNvSpPr>
            <p:nvPr/>
          </p:nvSpPr>
          <p:spPr bwMode="auto">
            <a:xfrm>
              <a:off x="2023" y="2726"/>
              <a:ext cx="0" cy="187"/>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 name="直接连接符 188456">
              <a:extLst>
                <a:ext uri="{FF2B5EF4-FFF2-40B4-BE49-F238E27FC236}">
                  <a16:creationId xmlns:a16="http://schemas.microsoft.com/office/drawing/2014/main" xmlns="" id="{E9230E1D-7327-4947-B6A9-C86B9C852811}"/>
                </a:ext>
              </a:extLst>
            </p:cNvPr>
            <p:cNvSpPr>
              <a:spLocks noChangeShapeType="1"/>
            </p:cNvSpPr>
            <p:nvPr/>
          </p:nvSpPr>
          <p:spPr bwMode="auto">
            <a:xfrm>
              <a:off x="2480" y="2788"/>
              <a:ext cx="0" cy="125"/>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 name="直接连接符 188457">
              <a:extLst>
                <a:ext uri="{FF2B5EF4-FFF2-40B4-BE49-F238E27FC236}">
                  <a16:creationId xmlns:a16="http://schemas.microsoft.com/office/drawing/2014/main" xmlns="" id="{EE58B31D-19F8-55B5-BAD5-398689414257}"/>
                </a:ext>
              </a:extLst>
            </p:cNvPr>
            <p:cNvSpPr>
              <a:spLocks noChangeShapeType="1"/>
            </p:cNvSpPr>
            <p:nvPr/>
          </p:nvSpPr>
          <p:spPr bwMode="auto">
            <a:xfrm>
              <a:off x="2936" y="2851"/>
              <a:ext cx="0" cy="62"/>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 name="文本框 188458">
              <a:extLst>
                <a:ext uri="{FF2B5EF4-FFF2-40B4-BE49-F238E27FC236}">
                  <a16:creationId xmlns:a16="http://schemas.microsoft.com/office/drawing/2014/main" xmlns="" id="{F07D6304-318B-378E-CF4F-9D460AB11CC4}"/>
                </a:ext>
              </a:extLst>
            </p:cNvPr>
            <p:cNvSpPr txBox="1">
              <a:spLocks noChangeArrowheads="1"/>
            </p:cNvSpPr>
            <p:nvPr/>
          </p:nvSpPr>
          <p:spPr bwMode="auto">
            <a:xfrm>
              <a:off x="528" y="2304"/>
              <a:ext cx="489" cy="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800" i="1">
                  <a:solidFill>
                    <a:schemeClr val="tx1"/>
                  </a:solidFill>
                </a:rPr>
                <a:t>i</a:t>
              </a:r>
              <a:r>
                <a:rPr lang="en-US" altLang="zh-CN" sz="1800" i="1" baseline="-25000">
                  <a:solidFill>
                    <a:schemeClr val="tx1"/>
                  </a:solidFill>
                </a:rPr>
                <a:t>c</a:t>
              </a:r>
              <a:r>
                <a:rPr lang="zh-CN" altLang="en-US" sz="1800">
                  <a:solidFill>
                    <a:schemeClr val="tx1"/>
                  </a:solidFill>
                </a:rPr>
                <a:t>频谱</a:t>
              </a:r>
              <a:endParaRPr lang="zh-CN" altLang="en-US">
                <a:solidFill>
                  <a:schemeClr val="tx1"/>
                </a:solidFill>
              </a:endParaRPr>
            </a:p>
          </p:txBody>
        </p:sp>
        <p:sp>
          <p:nvSpPr>
            <p:cNvPr id="43" name="文本框 188459">
              <a:extLst>
                <a:ext uri="{FF2B5EF4-FFF2-40B4-BE49-F238E27FC236}">
                  <a16:creationId xmlns:a16="http://schemas.microsoft.com/office/drawing/2014/main" xmlns="" id="{A7F19EFB-164D-B2FF-6191-7EE860BD098D}"/>
                </a:ext>
              </a:extLst>
            </p:cNvPr>
            <p:cNvSpPr txBox="1">
              <a:spLocks noChangeArrowheads="1"/>
            </p:cNvSpPr>
            <p:nvPr/>
          </p:nvSpPr>
          <p:spPr bwMode="auto">
            <a:xfrm>
              <a:off x="528" y="2928"/>
              <a:ext cx="188" cy="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800" i="1">
                  <a:solidFill>
                    <a:schemeClr val="tx1"/>
                  </a:solidFill>
                </a:rPr>
                <a:t>0</a:t>
              </a:r>
            </a:p>
          </p:txBody>
        </p:sp>
        <p:graphicFrame>
          <p:nvGraphicFramePr>
            <p:cNvPr id="44" name="对象 188460">
              <a:extLst>
                <a:ext uri="{FF2B5EF4-FFF2-40B4-BE49-F238E27FC236}">
                  <a16:creationId xmlns:a16="http://schemas.microsoft.com/office/drawing/2014/main" xmlns="" id="{53503716-AB1B-DCAC-7AF5-5F948ACF0A79}"/>
                </a:ext>
              </a:extLst>
            </p:cNvPr>
            <p:cNvGraphicFramePr>
              <a:graphicFrameLocks/>
            </p:cNvGraphicFramePr>
            <p:nvPr/>
          </p:nvGraphicFramePr>
          <p:xfrm>
            <a:off x="1008" y="2976"/>
            <a:ext cx="148" cy="126"/>
          </p:xfrm>
          <a:graphic>
            <a:graphicData uri="http://schemas.openxmlformats.org/presentationml/2006/ole">
              <mc:AlternateContent xmlns:mc="http://schemas.openxmlformats.org/markup-compatibility/2006">
                <mc:Choice xmlns:v="urn:schemas-microsoft-com:vml" Requires="v">
                  <p:oleObj spid="_x0000_s122087" r:id="rId5" imgW="164885" imgH="139518" progId="Equation.3">
                    <p:embed/>
                  </p:oleObj>
                </mc:Choice>
                <mc:Fallback>
                  <p:oleObj r:id="rId5" imgW="164885" imgH="139518" progId="Equation.3">
                    <p:embed/>
                    <p:pic>
                      <p:nvPicPr>
                        <p:cNvPr id="0" name=""/>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08" y="2976"/>
                          <a:ext cx="148" cy="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5" name="对象 188461">
              <a:extLst>
                <a:ext uri="{FF2B5EF4-FFF2-40B4-BE49-F238E27FC236}">
                  <a16:creationId xmlns:a16="http://schemas.microsoft.com/office/drawing/2014/main" xmlns="" id="{1C4B236F-543B-030F-56D9-155CF6CF1E4C}"/>
                </a:ext>
              </a:extLst>
            </p:cNvPr>
            <p:cNvGraphicFramePr>
              <a:graphicFrameLocks/>
            </p:cNvGraphicFramePr>
            <p:nvPr/>
          </p:nvGraphicFramePr>
          <p:xfrm>
            <a:off x="1454" y="2960"/>
            <a:ext cx="217" cy="159"/>
          </p:xfrm>
          <a:graphic>
            <a:graphicData uri="http://schemas.openxmlformats.org/presentationml/2006/ole">
              <mc:AlternateContent xmlns:mc="http://schemas.openxmlformats.org/markup-compatibility/2006">
                <mc:Choice xmlns:v="urn:schemas-microsoft-com:vml" Requires="v">
                  <p:oleObj spid="_x0000_s122088" r:id="rId7" imgW="240882" imgH="177492" progId="Equation.3">
                    <p:embed/>
                  </p:oleObj>
                </mc:Choice>
                <mc:Fallback>
                  <p:oleObj r:id="rId7" imgW="240882" imgH="177492" progId="Equation.3">
                    <p:embed/>
                    <p:pic>
                      <p:nvPicPr>
                        <p:cNvPr id="0" name=""/>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54" y="2960"/>
                          <a:ext cx="217" cy="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6" name="对象 188462">
              <a:extLst>
                <a:ext uri="{FF2B5EF4-FFF2-40B4-BE49-F238E27FC236}">
                  <a16:creationId xmlns:a16="http://schemas.microsoft.com/office/drawing/2014/main" xmlns="" id="{C5AC1D65-CA30-C7AA-B607-589A48A0F82C}"/>
                </a:ext>
              </a:extLst>
            </p:cNvPr>
            <p:cNvGraphicFramePr>
              <a:graphicFrameLocks/>
            </p:cNvGraphicFramePr>
            <p:nvPr/>
          </p:nvGraphicFramePr>
          <p:xfrm>
            <a:off x="1934" y="2960"/>
            <a:ext cx="217" cy="159"/>
          </p:xfrm>
          <a:graphic>
            <a:graphicData uri="http://schemas.openxmlformats.org/presentationml/2006/ole">
              <mc:AlternateContent xmlns:mc="http://schemas.openxmlformats.org/markup-compatibility/2006">
                <mc:Choice xmlns:v="urn:schemas-microsoft-com:vml" Requires="v">
                  <p:oleObj spid="_x0000_s122089" r:id="rId9" imgW="240882" imgH="177492" progId="Equation.3">
                    <p:embed/>
                  </p:oleObj>
                </mc:Choice>
                <mc:Fallback>
                  <p:oleObj r:id="rId9" imgW="240882" imgH="177492" progId="Equation.3">
                    <p:embed/>
                    <p:pic>
                      <p:nvPicPr>
                        <p:cNvPr id="0" name=""/>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934" y="2960"/>
                          <a:ext cx="217" cy="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7" name="对象 188463">
              <a:extLst>
                <a:ext uri="{FF2B5EF4-FFF2-40B4-BE49-F238E27FC236}">
                  <a16:creationId xmlns:a16="http://schemas.microsoft.com/office/drawing/2014/main" xmlns="" id="{67F9A8C4-CF94-97A2-DC77-3AC1CA8495DA}"/>
                </a:ext>
              </a:extLst>
            </p:cNvPr>
            <p:cNvGraphicFramePr>
              <a:graphicFrameLocks/>
            </p:cNvGraphicFramePr>
            <p:nvPr/>
          </p:nvGraphicFramePr>
          <p:xfrm>
            <a:off x="2366" y="2960"/>
            <a:ext cx="217" cy="159"/>
          </p:xfrm>
          <a:graphic>
            <a:graphicData uri="http://schemas.openxmlformats.org/presentationml/2006/ole">
              <mc:AlternateContent xmlns:mc="http://schemas.openxmlformats.org/markup-compatibility/2006">
                <mc:Choice xmlns:v="urn:schemas-microsoft-com:vml" Requires="v">
                  <p:oleObj spid="_x0000_s122090" r:id="rId11" imgW="240882" imgH="177492" progId="Equation.3">
                    <p:embed/>
                  </p:oleObj>
                </mc:Choice>
                <mc:Fallback>
                  <p:oleObj r:id="rId11" imgW="240882" imgH="177492" progId="Equation.3">
                    <p:embed/>
                    <p:pic>
                      <p:nvPicPr>
                        <p:cNvPr id="0" name=""/>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366" y="2960"/>
                          <a:ext cx="217" cy="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8" name="文本框 188464">
              <a:extLst>
                <a:ext uri="{FF2B5EF4-FFF2-40B4-BE49-F238E27FC236}">
                  <a16:creationId xmlns:a16="http://schemas.microsoft.com/office/drawing/2014/main" xmlns="" id="{49D9D832-E777-F359-EE08-F36A859DE8F1}"/>
                </a:ext>
              </a:extLst>
            </p:cNvPr>
            <p:cNvSpPr txBox="1">
              <a:spLocks noChangeArrowheads="1"/>
            </p:cNvSpPr>
            <p:nvPr/>
          </p:nvSpPr>
          <p:spPr bwMode="auto">
            <a:xfrm>
              <a:off x="528" y="2592"/>
              <a:ext cx="289"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600" i="1">
                  <a:solidFill>
                    <a:schemeClr val="tx1"/>
                  </a:solidFill>
                </a:rPr>
                <a:t>I</a:t>
              </a:r>
              <a:r>
                <a:rPr lang="en-US" altLang="zh-CN" sz="1600" i="1" baseline="-25000">
                  <a:solidFill>
                    <a:schemeClr val="tx1"/>
                  </a:solidFill>
                </a:rPr>
                <a:t>CO</a:t>
              </a:r>
              <a:endParaRPr lang="en-US" altLang="zh-CN" sz="1600" i="1">
                <a:solidFill>
                  <a:schemeClr val="tx1"/>
                </a:solidFill>
              </a:endParaRPr>
            </a:p>
          </p:txBody>
        </p:sp>
        <p:sp>
          <p:nvSpPr>
            <p:cNvPr id="49" name="文本框 188465">
              <a:extLst>
                <a:ext uri="{FF2B5EF4-FFF2-40B4-BE49-F238E27FC236}">
                  <a16:creationId xmlns:a16="http://schemas.microsoft.com/office/drawing/2014/main" xmlns="" id="{71CB7338-7BF9-AC9B-FF93-C41A6CFE944E}"/>
                </a:ext>
              </a:extLst>
            </p:cNvPr>
            <p:cNvSpPr txBox="1">
              <a:spLocks noChangeArrowheads="1"/>
            </p:cNvSpPr>
            <p:nvPr/>
          </p:nvSpPr>
          <p:spPr bwMode="auto">
            <a:xfrm>
              <a:off x="1104" y="2400"/>
              <a:ext cx="269"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600" i="1">
                  <a:solidFill>
                    <a:schemeClr val="tx1"/>
                  </a:solidFill>
                </a:rPr>
                <a:t>I</a:t>
              </a:r>
              <a:r>
                <a:rPr lang="en-US" altLang="zh-CN" sz="1600" i="1" baseline="-25000">
                  <a:solidFill>
                    <a:schemeClr val="tx1"/>
                  </a:solidFill>
                </a:rPr>
                <a:t>C1</a:t>
              </a:r>
              <a:endParaRPr lang="en-US" altLang="zh-CN" sz="1600" i="1">
                <a:solidFill>
                  <a:schemeClr val="tx1"/>
                </a:solidFill>
              </a:endParaRPr>
            </a:p>
          </p:txBody>
        </p:sp>
        <p:sp>
          <p:nvSpPr>
            <p:cNvPr id="50" name="文本框 188466">
              <a:extLst>
                <a:ext uri="{FF2B5EF4-FFF2-40B4-BE49-F238E27FC236}">
                  <a16:creationId xmlns:a16="http://schemas.microsoft.com/office/drawing/2014/main" xmlns="" id="{A7008B27-6192-CB8B-1B20-4110B3075D92}"/>
                </a:ext>
              </a:extLst>
            </p:cNvPr>
            <p:cNvSpPr txBox="1">
              <a:spLocks noChangeArrowheads="1"/>
            </p:cNvSpPr>
            <p:nvPr/>
          </p:nvSpPr>
          <p:spPr bwMode="auto">
            <a:xfrm>
              <a:off x="1440" y="2400"/>
              <a:ext cx="269"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600" i="1">
                  <a:solidFill>
                    <a:schemeClr val="tx1"/>
                  </a:solidFill>
                </a:rPr>
                <a:t>I</a:t>
              </a:r>
              <a:r>
                <a:rPr lang="en-US" altLang="zh-CN" sz="1600" i="1" baseline="-25000">
                  <a:solidFill>
                    <a:schemeClr val="tx1"/>
                  </a:solidFill>
                </a:rPr>
                <a:t>C2</a:t>
              </a:r>
              <a:endParaRPr lang="en-US" altLang="zh-CN" sz="1600" i="1">
                <a:solidFill>
                  <a:schemeClr val="tx1"/>
                </a:solidFill>
              </a:endParaRPr>
            </a:p>
          </p:txBody>
        </p:sp>
        <p:sp>
          <p:nvSpPr>
            <p:cNvPr id="51" name="文本框 188467">
              <a:extLst>
                <a:ext uri="{FF2B5EF4-FFF2-40B4-BE49-F238E27FC236}">
                  <a16:creationId xmlns:a16="http://schemas.microsoft.com/office/drawing/2014/main" xmlns="" id="{E21E3E93-A136-7655-2A1F-10236BB14F60}"/>
                </a:ext>
              </a:extLst>
            </p:cNvPr>
            <p:cNvSpPr txBox="1">
              <a:spLocks noChangeArrowheads="1"/>
            </p:cNvSpPr>
            <p:nvPr/>
          </p:nvSpPr>
          <p:spPr bwMode="auto">
            <a:xfrm>
              <a:off x="1872" y="2544"/>
              <a:ext cx="269"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600" i="1">
                  <a:solidFill>
                    <a:schemeClr val="tx1"/>
                  </a:solidFill>
                </a:rPr>
                <a:t>I</a:t>
              </a:r>
              <a:r>
                <a:rPr lang="en-US" altLang="zh-CN" sz="1600" i="1" baseline="-25000">
                  <a:solidFill>
                    <a:schemeClr val="tx1"/>
                  </a:solidFill>
                </a:rPr>
                <a:t>C3</a:t>
              </a:r>
              <a:endParaRPr lang="en-US" altLang="zh-CN" sz="1600" i="1">
                <a:solidFill>
                  <a:schemeClr val="tx1"/>
                </a:solidFill>
              </a:endParaRPr>
            </a:p>
          </p:txBody>
        </p:sp>
        <p:sp>
          <p:nvSpPr>
            <p:cNvPr id="52" name="文本框 188468">
              <a:extLst>
                <a:ext uri="{FF2B5EF4-FFF2-40B4-BE49-F238E27FC236}">
                  <a16:creationId xmlns:a16="http://schemas.microsoft.com/office/drawing/2014/main" xmlns="" id="{F5FC6342-C83F-C71E-9BE5-CE6F57A94105}"/>
                </a:ext>
              </a:extLst>
            </p:cNvPr>
            <p:cNvSpPr txBox="1">
              <a:spLocks noChangeArrowheads="1"/>
            </p:cNvSpPr>
            <p:nvPr/>
          </p:nvSpPr>
          <p:spPr bwMode="auto">
            <a:xfrm>
              <a:off x="2352" y="2592"/>
              <a:ext cx="269"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600" i="1">
                  <a:solidFill>
                    <a:schemeClr val="tx1"/>
                  </a:solidFill>
                </a:rPr>
                <a:t>I</a:t>
              </a:r>
              <a:r>
                <a:rPr lang="en-US" altLang="zh-CN" sz="1600" i="1" baseline="-25000">
                  <a:solidFill>
                    <a:schemeClr val="tx1"/>
                  </a:solidFill>
                </a:rPr>
                <a:t>C4</a:t>
              </a:r>
              <a:endParaRPr lang="en-US" altLang="zh-CN" sz="1600" i="1">
                <a:solidFill>
                  <a:schemeClr val="tx1"/>
                </a:solidFill>
              </a:endParaRPr>
            </a:p>
          </p:txBody>
        </p:sp>
      </p:grpSp>
      <p:grpSp>
        <p:nvGrpSpPr>
          <p:cNvPr id="53" name="组合 52">
            <a:extLst>
              <a:ext uri="{FF2B5EF4-FFF2-40B4-BE49-F238E27FC236}">
                <a16:creationId xmlns:a16="http://schemas.microsoft.com/office/drawing/2014/main" xmlns="" id="{591F7FEE-BC41-FB38-F809-3483A657F6D8}"/>
              </a:ext>
            </a:extLst>
          </p:cNvPr>
          <p:cNvGrpSpPr>
            <a:grpSpLocks/>
          </p:cNvGrpSpPr>
          <p:nvPr/>
        </p:nvGrpSpPr>
        <p:grpSpPr bwMode="auto">
          <a:xfrm>
            <a:off x="2195513" y="4536207"/>
            <a:ext cx="1854200" cy="1055687"/>
            <a:chOff x="1584" y="3072"/>
            <a:chExt cx="1168" cy="576"/>
          </a:xfrm>
        </p:grpSpPr>
        <p:sp>
          <p:nvSpPr>
            <p:cNvPr id="54" name="任意多边形 188470">
              <a:extLst>
                <a:ext uri="{FF2B5EF4-FFF2-40B4-BE49-F238E27FC236}">
                  <a16:creationId xmlns:a16="http://schemas.microsoft.com/office/drawing/2014/main" xmlns="" id="{F7E8F879-3A9A-6656-064E-66F7D131A165}"/>
                </a:ext>
              </a:extLst>
            </p:cNvPr>
            <p:cNvSpPr>
              <a:spLocks noChangeArrowheads="1"/>
            </p:cNvSpPr>
            <p:nvPr/>
          </p:nvSpPr>
          <p:spPr bwMode="auto">
            <a:xfrm>
              <a:off x="1584" y="3072"/>
              <a:ext cx="432" cy="576"/>
            </a:xfrm>
            <a:custGeom>
              <a:avLst/>
              <a:gdLst>
                <a:gd name="T0" fmla="*/ 0 w 1080"/>
                <a:gd name="T1" fmla="*/ 936 h 936"/>
                <a:gd name="T2" fmla="*/ 540 w 1080"/>
                <a:gd name="T3" fmla="*/ 0 h 936"/>
                <a:gd name="T4" fmla="*/ 1080 w 1080"/>
                <a:gd name="T5" fmla="*/ 936 h 936"/>
              </a:gdLst>
              <a:ahLst/>
              <a:cxnLst>
                <a:cxn ang="0">
                  <a:pos x="T0" y="T1"/>
                </a:cxn>
                <a:cxn ang="0">
                  <a:pos x="T2" y="T3"/>
                </a:cxn>
                <a:cxn ang="0">
                  <a:pos x="T4" y="T5"/>
                </a:cxn>
              </a:cxnLst>
              <a:rect l="0" t="0" r="r" b="b"/>
              <a:pathLst>
                <a:path w="1080" h="936">
                  <a:moveTo>
                    <a:pt x="0" y="936"/>
                  </a:moveTo>
                  <a:cubicBezTo>
                    <a:pt x="180" y="468"/>
                    <a:pt x="360" y="0"/>
                    <a:pt x="540" y="0"/>
                  </a:cubicBezTo>
                  <a:cubicBezTo>
                    <a:pt x="720" y="0"/>
                    <a:pt x="900" y="468"/>
                    <a:pt x="1080" y="936"/>
                  </a:cubicBez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5" name="文本框 188471">
              <a:extLst>
                <a:ext uri="{FF2B5EF4-FFF2-40B4-BE49-F238E27FC236}">
                  <a16:creationId xmlns:a16="http://schemas.microsoft.com/office/drawing/2014/main" xmlns="" id="{FA14FEDC-EDF1-8019-3C3E-16BAFFA1085F}"/>
                </a:ext>
              </a:extLst>
            </p:cNvPr>
            <p:cNvSpPr txBox="1">
              <a:spLocks noChangeArrowheads="1"/>
            </p:cNvSpPr>
            <p:nvPr/>
          </p:nvSpPr>
          <p:spPr bwMode="auto">
            <a:xfrm>
              <a:off x="1872" y="3142"/>
              <a:ext cx="880" cy="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800" i="1">
                  <a:solidFill>
                    <a:srgbClr val="FF3300"/>
                  </a:solidFill>
                </a:rPr>
                <a:t>LC</a:t>
              </a:r>
              <a:r>
                <a:rPr lang="zh-CN" altLang="en-US" sz="1800">
                  <a:solidFill>
                    <a:srgbClr val="FF3300"/>
                  </a:solidFill>
                </a:rPr>
                <a:t>谐振特性</a:t>
              </a:r>
              <a:endParaRPr lang="zh-CN" altLang="en-US" sz="1800">
                <a:solidFill>
                  <a:schemeClr val="tx1"/>
                </a:solidFill>
              </a:endParaRPr>
            </a:p>
          </p:txBody>
        </p:sp>
      </p:grpSp>
      <p:grpSp>
        <p:nvGrpSpPr>
          <p:cNvPr id="56" name="组合 55">
            <a:extLst>
              <a:ext uri="{FF2B5EF4-FFF2-40B4-BE49-F238E27FC236}">
                <a16:creationId xmlns:a16="http://schemas.microsoft.com/office/drawing/2014/main" xmlns="" id="{F4815021-E531-97AF-216F-DC790F900C78}"/>
              </a:ext>
            </a:extLst>
          </p:cNvPr>
          <p:cNvGrpSpPr>
            <a:grpSpLocks/>
          </p:cNvGrpSpPr>
          <p:nvPr/>
        </p:nvGrpSpPr>
        <p:grpSpPr bwMode="auto">
          <a:xfrm>
            <a:off x="841376" y="2208932"/>
            <a:ext cx="4059237" cy="784225"/>
            <a:chOff x="552" y="792"/>
            <a:chExt cx="2557" cy="422"/>
          </a:xfrm>
        </p:grpSpPr>
        <p:grpSp>
          <p:nvGrpSpPr>
            <p:cNvPr id="57" name="组合 188473">
              <a:extLst>
                <a:ext uri="{FF2B5EF4-FFF2-40B4-BE49-F238E27FC236}">
                  <a16:creationId xmlns:a16="http://schemas.microsoft.com/office/drawing/2014/main" xmlns="" id="{76555994-C76C-E63C-5563-73057B31766B}"/>
                </a:ext>
              </a:extLst>
            </p:cNvPr>
            <p:cNvGrpSpPr>
              <a:grpSpLocks/>
            </p:cNvGrpSpPr>
            <p:nvPr/>
          </p:nvGrpSpPr>
          <p:grpSpPr bwMode="auto">
            <a:xfrm>
              <a:off x="552" y="792"/>
              <a:ext cx="2557" cy="422"/>
              <a:chOff x="562" y="873"/>
              <a:chExt cx="2557" cy="375"/>
            </a:xfrm>
          </p:grpSpPr>
          <p:sp>
            <p:nvSpPr>
              <p:cNvPr id="61" name="任意多边形 188474">
                <a:extLst>
                  <a:ext uri="{FF2B5EF4-FFF2-40B4-BE49-F238E27FC236}">
                    <a16:creationId xmlns:a16="http://schemas.microsoft.com/office/drawing/2014/main" xmlns="" id="{32278152-4E15-82A9-18DE-5A5FD24D1F80}"/>
                  </a:ext>
                </a:extLst>
              </p:cNvPr>
              <p:cNvSpPr>
                <a:spLocks noChangeArrowheads="1"/>
              </p:cNvSpPr>
              <p:nvPr/>
            </p:nvSpPr>
            <p:spPr bwMode="auto">
              <a:xfrm>
                <a:off x="562" y="873"/>
                <a:ext cx="365" cy="375"/>
              </a:xfrm>
              <a:custGeom>
                <a:avLst/>
                <a:gdLst>
                  <a:gd name="T0" fmla="*/ 0 w 720"/>
                  <a:gd name="T1" fmla="*/ 936 h 936"/>
                  <a:gd name="T2" fmla="*/ 360 w 720"/>
                  <a:gd name="T3" fmla="*/ 0 h 936"/>
                  <a:gd name="T4" fmla="*/ 720 w 720"/>
                  <a:gd name="T5" fmla="*/ 936 h 936"/>
                </a:gdLst>
                <a:ahLst/>
                <a:cxnLst>
                  <a:cxn ang="0">
                    <a:pos x="T0" y="T1"/>
                  </a:cxn>
                  <a:cxn ang="0">
                    <a:pos x="T2" y="T3"/>
                  </a:cxn>
                  <a:cxn ang="0">
                    <a:pos x="T4" y="T5"/>
                  </a:cxn>
                </a:cxnLst>
                <a:rect l="0" t="0" r="r" b="b"/>
                <a:pathLst>
                  <a:path w="720" h="936">
                    <a:moveTo>
                      <a:pt x="0" y="936"/>
                    </a:moveTo>
                    <a:cubicBezTo>
                      <a:pt x="120" y="468"/>
                      <a:pt x="240" y="0"/>
                      <a:pt x="360" y="0"/>
                    </a:cubicBezTo>
                    <a:cubicBezTo>
                      <a:pt x="480" y="0"/>
                      <a:pt x="600" y="468"/>
                      <a:pt x="720" y="936"/>
                    </a:cubicBezTo>
                  </a:path>
                </a:pathLst>
              </a:cu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2" name="任意多边形 188475">
                <a:extLst>
                  <a:ext uri="{FF2B5EF4-FFF2-40B4-BE49-F238E27FC236}">
                    <a16:creationId xmlns:a16="http://schemas.microsoft.com/office/drawing/2014/main" xmlns="" id="{F6138FE8-3739-6610-D3C3-F3B8CFFE54F7}"/>
                  </a:ext>
                </a:extLst>
              </p:cNvPr>
              <p:cNvSpPr>
                <a:spLocks noChangeArrowheads="1"/>
              </p:cNvSpPr>
              <p:nvPr/>
            </p:nvSpPr>
            <p:spPr bwMode="auto">
              <a:xfrm>
                <a:off x="1292" y="873"/>
                <a:ext cx="366" cy="375"/>
              </a:xfrm>
              <a:custGeom>
                <a:avLst/>
                <a:gdLst>
                  <a:gd name="T0" fmla="*/ 0 w 720"/>
                  <a:gd name="T1" fmla="*/ 936 h 936"/>
                  <a:gd name="T2" fmla="*/ 360 w 720"/>
                  <a:gd name="T3" fmla="*/ 0 h 936"/>
                  <a:gd name="T4" fmla="*/ 720 w 720"/>
                  <a:gd name="T5" fmla="*/ 936 h 936"/>
                </a:gdLst>
                <a:ahLst/>
                <a:cxnLst>
                  <a:cxn ang="0">
                    <a:pos x="T0" y="T1"/>
                  </a:cxn>
                  <a:cxn ang="0">
                    <a:pos x="T2" y="T3"/>
                  </a:cxn>
                  <a:cxn ang="0">
                    <a:pos x="T4" y="T5"/>
                  </a:cxn>
                </a:cxnLst>
                <a:rect l="0" t="0" r="r" b="b"/>
                <a:pathLst>
                  <a:path w="720" h="936">
                    <a:moveTo>
                      <a:pt x="0" y="936"/>
                    </a:moveTo>
                    <a:cubicBezTo>
                      <a:pt x="120" y="468"/>
                      <a:pt x="240" y="0"/>
                      <a:pt x="360" y="0"/>
                    </a:cubicBezTo>
                    <a:cubicBezTo>
                      <a:pt x="480" y="0"/>
                      <a:pt x="600" y="468"/>
                      <a:pt x="720" y="936"/>
                    </a:cubicBezTo>
                  </a:path>
                </a:pathLst>
              </a:cu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3" name="任意多边形 188476">
                <a:extLst>
                  <a:ext uri="{FF2B5EF4-FFF2-40B4-BE49-F238E27FC236}">
                    <a16:creationId xmlns:a16="http://schemas.microsoft.com/office/drawing/2014/main" xmlns="" id="{8CCDB866-CEDD-EC67-41AF-6DC12B77EDE0}"/>
                  </a:ext>
                </a:extLst>
              </p:cNvPr>
              <p:cNvSpPr>
                <a:spLocks noChangeArrowheads="1"/>
              </p:cNvSpPr>
              <p:nvPr/>
            </p:nvSpPr>
            <p:spPr bwMode="auto">
              <a:xfrm>
                <a:off x="2023" y="873"/>
                <a:ext cx="365" cy="375"/>
              </a:xfrm>
              <a:custGeom>
                <a:avLst/>
                <a:gdLst>
                  <a:gd name="T0" fmla="*/ 0 w 720"/>
                  <a:gd name="T1" fmla="*/ 936 h 936"/>
                  <a:gd name="T2" fmla="*/ 360 w 720"/>
                  <a:gd name="T3" fmla="*/ 0 h 936"/>
                  <a:gd name="T4" fmla="*/ 720 w 720"/>
                  <a:gd name="T5" fmla="*/ 936 h 936"/>
                </a:gdLst>
                <a:ahLst/>
                <a:cxnLst>
                  <a:cxn ang="0">
                    <a:pos x="T0" y="T1"/>
                  </a:cxn>
                  <a:cxn ang="0">
                    <a:pos x="T2" y="T3"/>
                  </a:cxn>
                  <a:cxn ang="0">
                    <a:pos x="T4" y="T5"/>
                  </a:cxn>
                </a:cxnLst>
                <a:rect l="0" t="0" r="r" b="b"/>
                <a:pathLst>
                  <a:path w="720" h="936">
                    <a:moveTo>
                      <a:pt x="0" y="936"/>
                    </a:moveTo>
                    <a:cubicBezTo>
                      <a:pt x="120" y="468"/>
                      <a:pt x="240" y="0"/>
                      <a:pt x="360" y="0"/>
                    </a:cubicBezTo>
                    <a:cubicBezTo>
                      <a:pt x="480" y="0"/>
                      <a:pt x="600" y="468"/>
                      <a:pt x="720" y="936"/>
                    </a:cubicBezTo>
                  </a:path>
                </a:pathLst>
              </a:cu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4" name="任意多边形 188477">
                <a:extLst>
                  <a:ext uri="{FF2B5EF4-FFF2-40B4-BE49-F238E27FC236}">
                    <a16:creationId xmlns:a16="http://schemas.microsoft.com/office/drawing/2014/main" xmlns="" id="{BF5B80E4-8A03-AC06-614E-78008FBB5848}"/>
                  </a:ext>
                </a:extLst>
              </p:cNvPr>
              <p:cNvSpPr>
                <a:spLocks noChangeArrowheads="1"/>
              </p:cNvSpPr>
              <p:nvPr/>
            </p:nvSpPr>
            <p:spPr bwMode="auto">
              <a:xfrm>
                <a:off x="2754" y="873"/>
                <a:ext cx="365" cy="375"/>
              </a:xfrm>
              <a:custGeom>
                <a:avLst/>
                <a:gdLst>
                  <a:gd name="T0" fmla="*/ 0 w 720"/>
                  <a:gd name="T1" fmla="*/ 936 h 936"/>
                  <a:gd name="T2" fmla="*/ 360 w 720"/>
                  <a:gd name="T3" fmla="*/ 0 h 936"/>
                  <a:gd name="T4" fmla="*/ 720 w 720"/>
                  <a:gd name="T5" fmla="*/ 936 h 936"/>
                </a:gdLst>
                <a:ahLst/>
                <a:cxnLst>
                  <a:cxn ang="0">
                    <a:pos x="T0" y="T1"/>
                  </a:cxn>
                  <a:cxn ang="0">
                    <a:pos x="T2" y="T3"/>
                  </a:cxn>
                  <a:cxn ang="0">
                    <a:pos x="T4" y="T5"/>
                  </a:cxn>
                </a:cxnLst>
                <a:rect l="0" t="0" r="r" b="b"/>
                <a:pathLst>
                  <a:path w="720" h="936">
                    <a:moveTo>
                      <a:pt x="0" y="936"/>
                    </a:moveTo>
                    <a:cubicBezTo>
                      <a:pt x="120" y="468"/>
                      <a:pt x="240" y="0"/>
                      <a:pt x="360" y="0"/>
                    </a:cubicBezTo>
                    <a:cubicBezTo>
                      <a:pt x="480" y="0"/>
                      <a:pt x="600" y="468"/>
                      <a:pt x="720" y="936"/>
                    </a:cubicBezTo>
                  </a:path>
                </a:pathLst>
              </a:cu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5" name="直接连接符 188478">
                <a:extLst>
                  <a:ext uri="{FF2B5EF4-FFF2-40B4-BE49-F238E27FC236}">
                    <a16:creationId xmlns:a16="http://schemas.microsoft.com/office/drawing/2014/main" xmlns="" id="{50E2936B-F371-CAEB-B2BB-45DB6551F92A}"/>
                  </a:ext>
                </a:extLst>
              </p:cNvPr>
              <p:cNvSpPr>
                <a:spLocks noChangeShapeType="1"/>
              </p:cNvSpPr>
              <p:nvPr/>
            </p:nvSpPr>
            <p:spPr bwMode="auto">
              <a:xfrm>
                <a:off x="1840" y="1248"/>
                <a:ext cx="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8" name="直接连接符 188479">
              <a:extLst>
                <a:ext uri="{FF2B5EF4-FFF2-40B4-BE49-F238E27FC236}">
                  <a16:creationId xmlns:a16="http://schemas.microsoft.com/office/drawing/2014/main" xmlns="" id="{AE00848D-AFFF-9FE1-3E12-A73915021DFD}"/>
                </a:ext>
              </a:extLst>
            </p:cNvPr>
            <p:cNvSpPr>
              <a:spLocks noChangeShapeType="1"/>
            </p:cNvSpPr>
            <p:nvPr/>
          </p:nvSpPr>
          <p:spPr bwMode="auto">
            <a:xfrm>
              <a:off x="912" y="1206"/>
              <a:ext cx="384" cy="0"/>
            </a:xfrm>
            <a:prstGeom prst="line">
              <a:avLst/>
            </a:prstGeom>
            <a:noFill/>
            <a:ln w="19050">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 name="直接连接符 188480">
              <a:extLst>
                <a:ext uri="{FF2B5EF4-FFF2-40B4-BE49-F238E27FC236}">
                  <a16:creationId xmlns:a16="http://schemas.microsoft.com/office/drawing/2014/main" xmlns="" id="{DFE207B3-272A-6DA7-B88F-7F8071752436}"/>
                </a:ext>
              </a:extLst>
            </p:cNvPr>
            <p:cNvSpPr>
              <a:spLocks noChangeShapeType="1"/>
            </p:cNvSpPr>
            <p:nvPr/>
          </p:nvSpPr>
          <p:spPr bwMode="auto">
            <a:xfrm>
              <a:off x="1632" y="1200"/>
              <a:ext cx="384" cy="0"/>
            </a:xfrm>
            <a:prstGeom prst="line">
              <a:avLst/>
            </a:prstGeom>
            <a:noFill/>
            <a:ln w="19050">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 name="直接连接符 188481">
              <a:extLst>
                <a:ext uri="{FF2B5EF4-FFF2-40B4-BE49-F238E27FC236}">
                  <a16:creationId xmlns:a16="http://schemas.microsoft.com/office/drawing/2014/main" xmlns="" id="{6C853BDA-77B6-E736-CBEA-BC39587853BC}"/>
                </a:ext>
              </a:extLst>
            </p:cNvPr>
            <p:cNvSpPr>
              <a:spLocks noChangeShapeType="1"/>
            </p:cNvSpPr>
            <p:nvPr/>
          </p:nvSpPr>
          <p:spPr bwMode="auto">
            <a:xfrm>
              <a:off x="2373" y="1200"/>
              <a:ext cx="383" cy="0"/>
            </a:xfrm>
            <a:prstGeom prst="line">
              <a:avLst/>
            </a:prstGeom>
            <a:noFill/>
            <a:ln w="19050">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66" name="组合 65">
            <a:extLst>
              <a:ext uri="{FF2B5EF4-FFF2-40B4-BE49-F238E27FC236}">
                <a16:creationId xmlns:a16="http://schemas.microsoft.com/office/drawing/2014/main" xmlns="" id="{5265B742-BE40-071A-7DAF-6809E11CCB6A}"/>
              </a:ext>
            </a:extLst>
          </p:cNvPr>
          <p:cNvGrpSpPr>
            <a:grpSpLocks/>
          </p:cNvGrpSpPr>
          <p:nvPr/>
        </p:nvGrpSpPr>
        <p:grpSpPr bwMode="auto">
          <a:xfrm>
            <a:off x="823913" y="2208932"/>
            <a:ext cx="4059238" cy="784225"/>
            <a:chOff x="552" y="792"/>
            <a:chExt cx="2557" cy="422"/>
          </a:xfrm>
        </p:grpSpPr>
        <p:grpSp>
          <p:nvGrpSpPr>
            <p:cNvPr id="67" name="组合 188484">
              <a:extLst>
                <a:ext uri="{FF2B5EF4-FFF2-40B4-BE49-F238E27FC236}">
                  <a16:creationId xmlns:a16="http://schemas.microsoft.com/office/drawing/2014/main" xmlns="" id="{62112101-4350-3F89-01B6-57327EB50F57}"/>
                </a:ext>
              </a:extLst>
            </p:cNvPr>
            <p:cNvGrpSpPr>
              <a:grpSpLocks/>
            </p:cNvGrpSpPr>
            <p:nvPr/>
          </p:nvGrpSpPr>
          <p:grpSpPr bwMode="auto">
            <a:xfrm>
              <a:off x="552" y="792"/>
              <a:ext cx="2557" cy="422"/>
              <a:chOff x="562" y="873"/>
              <a:chExt cx="2557" cy="375"/>
            </a:xfrm>
          </p:grpSpPr>
          <p:sp>
            <p:nvSpPr>
              <p:cNvPr id="71" name="任意多边形 188485">
                <a:extLst>
                  <a:ext uri="{FF2B5EF4-FFF2-40B4-BE49-F238E27FC236}">
                    <a16:creationId xmlns:a16="http://schemas.microsoft.com/office/drawing/2014/main" xmlns="" id="{8770FD06-97E7-45D2-2950-024AEDA486F9}"/>
                  </a:ext>
                </a:extLst>
              </p:cNvPr>
              <p:cNvSpPr>
                <a:spLocks noChangeArrowheads="1"/>
              </p:cNvSpPr>
              <p:nvPr/>
            </p:nvSpPr>
            <p:spPr bwMode="auto">
              <a:xfrm>
                <a:off x="562" y="873"/>
                <a:ext cx="365" cy="375"/>
              </a:xfrm>
              <a:custGeom>
                <a:avLst/>
                <a:gdLst>
                  <a:gd name="T0" fmla="*/ 0 w 720"/>
                  <a:gd name="T1" fmla="*/ 936 h 936"/>
                  <a:gd name="T2" fmla="*/ 360 w 720"/>
                  <a:gd name="T3" fmla="*/ 0 h 936"/>
                  <a:gd name="T4" fmla="*/ 720 w 720"/>
                  <a:gd name="T5" fmla="*/ 936 h 936"/>
                </a:gdLst>
                <a:ahLst/>
                <a:cxnLst>
                  <a:cxn ang="0">
                    <a:pos x="T0" y="T1"/>
                  </a:cxn>
                  <a:cxn ang="0">
                    <a:pos x="T2" y="T3"/>
                  </a:cxn>
                  <a:cxn ang="0">
                    <a:pos x="T4" y="T5"/>
                  </a:cxn>
                </a:cxnLst>
                <a:rect l="0" t="0" r="r" b="b"/>
                <a:pathLst>
                  <a:path w="720" h="936">
                    <a:moveTo>
                      <a:pt x="0" y="936"/>
                    </a:moveTo>
                    <a:cubicBezTo>
                      <a:pt x="120" y="468"/>
                      <a:pt x="240" y="0"/>
                      <a:pt x="360" y="0"/>
                    </a:cubicBezTo>
                    <a:cubicBezTo>
                      <a:pt x="480" y="0"/>
                      <a:pt x="600" y="468"/>
                      <a:pt x="720" y="936"/>
                    </a:cubicBezTo>
                  </a:path>
                </a:pathLst>
              </a:cu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2" name="任意多边形 188486">
                <a:extLst>
                  <a:ext uri="{FF2B5EF4-FFF2-40B4-BE49-F238E27FC236}">
                    <a16:creationId xmlns:a16="http://schemas.microsoft.com/office/drawing/2014/main" xmlns="" id="{ECF623A7-F546-620C-A392-CAE0C0BE2099}"/>
                  </a:ext>
                </a:extLst>
              </p:cNvPr>
              <p:cNvSpPr>
                <a:spLocks noChangeArrowheads="1"/>
              </p:cNvSpPr>
              <p:nvPr/>
            </p:nvSpPr>
            <p:spPr bwMode="auto">
              <a:xfrm>
                <a:off x="1292" y="873"/>
                <a:ext cx="366" cy="375"/>
              </a:xfrm>
              <a:custGeom>
                <a:avLst/>
                <a:gdLst>
                  <a:gd name="T0" fmla="*/ 0 w 720"/>
                  <a:gd name="T1" fmla="*/ 936 h 936"/>
                  <a:gd name="T2" fmla="*/ 360 w 720"/>
                  <a:gd name="T3" fmla="*/ 0 h 936"/>
                  <a:gd name="T4" fmla="*/ 720 w 720"/>
                  <a:gd name="T5" fmla="*/ 936 h 936"/>
                </a:gdLst>
                <a:ahLst/>
                <a:cxnLst>
                  <a:cxn ang="0">
                    <a:pos x="T0" y="T1"/>
                  </a:cxn>
                  <a:cxn ang="0">
                    <a:pos x="T2" y="T3"/>
                  </a:cxn>
                  <a:cxn ang="0">
                    <a:pos x="T4" y="T5"/>
                  </a:cxn>
                </a:cxnLst>
                <a:rect l="0" t="0" r="r" b="b"/>
                <a:pathLst>
                  <a:path w="720" h="936">
                    <a:moveTo>
                      <a:pt x="0" y="936"/>
                    </a:moveTo>
                    <a:cubicBezTo>
                      <a:pt x="120" y="468"/>
                      <a:pt x="240" y="0"/>
                      <a:pt x="360" y="0"/>
                    </a:cubicBezTo>
                    <a:cubicBezTo>
                      <a:pt x="480" y="0"/>
                      <a:pt x="600" y="468"/>
                      <a:pt x="720" y="936"/>
                    </a:cubicBezTo>
                  </a:path>
                </a:pathLst>
              </a:cu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3" name="任意多边形 188487">
                <a:extLst>
                  <a:ext uri="{FF2B5EF4-FFF2-40B4-BE49-F238E27FC236}">
                    <a16:creationId xmlns:a16="http://schemas.microsoft.com/office/drawing/2014/main" xmlns="" id="{EBEDAF11-E4F0-25EC-010E-68798B373930}"/>
                  </a:ext>
                </a:extLst>
              </p:cNvPr>
              <p:cNvSpPr>
                <a:spLocks noChangeArrowheads="1"/>
              </p:cNvSpPr>
              <p:nvPr/>
            </p:nvSpPr>
            <p:spPr bwMode="auto">
              <a:xfrm>
                <a:off x="2023" y="873"/>
                <a:ext cx="365" cy="375"/>
              </a:xfrm>
              <a:custGeom>
                <a:avLst/>
                <a:gdLst>
                  <a:gd name="T0" fmla="*/ 0 w 720"/>
                  <a:gd name="T1" fmla="*/ 936 h 936"/>
                  <a:gd name="T2" fmla="*/ 360 w 720"/>
                  <a:gd name="T3" fmla="*/ 0 h 936"/>
                  <a:gd name="T4" fmla="*/ 720 w 720"/>
                  <a:gd name="T5" fmla="*/ 936 h 936"/>
                </a:gdLst>
                <a:ahLst/>
                <a:cxnLst>
                  <a:cxn ang="0">
                    <a:pos x="T0" y="T1"/>
                  </a:cxn>
                  <a:cxn ang="0">
                    <a:pos x="T2" y="T3"/>
                  </a:cxn>
                  <a:cxn ang="0">
                    <a:pos x="T4" y="T5"/>
                  </a:cxn>
                </a:cxnLst>
                <a:rect l="0" t="0" r="r" b="b"/>
                <a:pathLst>
                  <a:path w="720" h="936">
                    <a:moveTo>
                      <a:pt x="0" y="936"/>
                    </a:moveTo>
                    <a:cubicBezTo>
                      <a:pt x="120" y="468"/>
                      <a:pt x="240" y="0"/>
                      <a:pt x="360" y="0"/>
                    </a:cubicBezTo>
                    <a:cubicBezTo>
                      <a:pt x="480" y="0"/>
                      <a:pt x="600" y="468"/>
                      <a:pt x="720" y="936"/>
                    </a:cubicBezTo>
                  </a:path>
                </a:pathLst>
              </a:cu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4" name="任意多边形 188488">
                <a:extLst>
                  <a:ext uri="{FF2B5EF4-FFF2-40B4-BE49-F238E27FC236}">
                    <a16:creationId xmlns:a16="http://schemas.microsoft.com/office/drawing/2014/main" xmlns="" id="{8AC0ED28-F32C-CA74-D272-E270C295EBF2}"/>
                  </a:ext>
                </a:extLst>
              </p:cNvPr>
              <p:cNvSpPr>
                <a:spLocks noChangeArrowheads="1"/>
              </p:cNvSpPr>
              <p:nvPr/>
            </p:nvSpPr>
            <p:spPr bwMode="auto">
              <a:xfrm>
                <a:off x="2754" y="873"/>
                <a:ext cx="365" cy="375"/>
              </a:xfrm>
              <a:custGeom>
                <a:avLst/>
                <a:gdLst>
                  <a:gd name="T0" fmla="*/ 0 w 720"/>
                  <a:gd name="T1" fmla="*/ 936 h 936"/>
                  <a:gd name="T2" fmla="*/ 360 w 720"/>
                  <a:gd name="T3" fmla="*/ 0 h 936"/>
                  <a:gd name="T4" fmla="*/ 720 w 720"/>
                  <a:gd name="T5" fmla="*/ 936 h 936"/>
                </a:gdLst>
                <a:ahLst/>
                <a:cxnLst>
                  <a:cxn ang="0">
                    <a:pos x="T0" y="T1"/>
                  </a:cxn>
                  <a:cxn ang="0">
                    <a:pos x="T2" y="T3"/>
                  </a:cxn>
                  <a:cxn ang="0">
                    <a:pos x="T4" y="T5"/>
                  </a:cxn>
                </a:cxnLst>
                <a:rect l="0" t="0" r="r" b="b"/>
                <a:pathLst>
                  <a:path w="720" h="936">
                    <a:moveTo>
                      <a:pt x="0" y="936"/>
                    </a:moveTo>
                    <a:cubicBezTo>
                      <a:pt x="120" y="468"/>
                      <a:pt x="240" y="0"/>
                      <a:pt x="360" y="0"/>
                    </a:cubicBezTo>
                    <a:cubicBezTo>
                      <a:pt x="480" y="0"/>
                      <a:pt x="600" y="468"/>
                      <a:pt x="720" y="936"/>
                    </a:cubicBezTo>
                  </a:path>
                </a:pathLst>
              </a:cu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5" name="直接连接符 188489">
                <a:extLst>
                  <a:ext uri="{FF2B5EF4-FFF2-40B4-BE49-F238E27FC236}">
                    <a16:creationId xmlns:a16="http://schemas.microsoft.com/office/drawing/2014/main" xmlns="" id="{11CB77E0-20B2-EC69-501B-A3E1810095AB}"/>
                  </a:ext>
                </a:extLst>
              </p:cNvPr>
              <p:cNvSpPr>
                <a:spLocks noChangeShapeType="1"/>
              </p:cNvSpPr>
              <p:nvPr/>
            </p:nvSpPr>
            <p:spPr bwMode="auto">
              <a:xfrm>
                <a:off x="1840" y="1248"/>
                <a:ext cx="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68" name="直接连接符 188490">
              <a:extLst>
                <a:ext uri="{FF2B5EF4-FFF2-40B4-BE49-F238E27FC236}">
                  <a16:creationId xmlns:a16="http://schemas.microsoft.com/office/drawing/2014/main" xmlns="" id="{6C713628-815D-79FF-C6C0-57C6C441A2CE}"/>
                </a:ext>
              </a:extLst>
            </p:cNvPr>
            <p:cNvSpPr>
              <a:spLocks noChangeShapeType="1"/>
            </p:cNvSpPr>
            <p:nvPr/>
          </p:nvSpPr>
          <p:spPr bwMode="auto">
            <a:xfrm>
              <a:off x="912" y="1206"/>
              <a:ext cx="384" cy="0"/>
            </a:xfrm>
            <a:prstGeom prst="line">
              <a:avLst/>
            </a:prstGeom>
            <a:noFill/>
            <a:ln w="19050">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 name="直接连接符 188491">
              <a:extLst>
                <a:ext uri="{FF2B5EF4-FFF2-40B4-BE49-F238E27FC236}">
                  <a16:creationId xmlns:a16="http://schemas.microsoft.com/office/drawing/2014/main" xmlns="" id="{6F1D033C-445B-E9FD-DB4A-0EB6353A3CD1}"/>
                </a:ext>
              </a:extLst>
            </p:cNvPr>
            <p:cNvSpPr>
              <a:spLocks noChangeShapeType="1"/>
            </p:cNvSpPr>
            <p:nvPr/>
          </p:nvSpPr>
          <p:spPr bwMode="auto">
            <a:xfrm>
              <a:off x="1632" y="1200"/>
              <a:ext cx="384" cy="0"/>
            </a:xfrm>
            <a:prstGeom prst="line">
              <a:avLst/>
            </a:prstGeom>
            <a:noFill/>
            <a:ln w="19050">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 name="直接连接符 188492">
              <a:extLst>
                <a:ext uri="{FF2B5EF4-FFF2-40B4-BE49-F238E27FC236}">
                  <a16:creationId xmlns:a16="http://schemas.microsoft.com/office/drawing/2014/main" xmlns="" id="{722087AD-756D-F105-C4B8-9C435D002D99}"/>
                </a:ext>
              </a:extLst>
            </p:cNvPr>
            <p:cNvSpPr>
              <a:spLocks noChangeShapeType="1"/>
            </p:cNvSpPr>
            <p:nvPr/>
          </p:nvSpPr>
          <p:spPr bwMode="auto">
            <a:xfrm>
              <a:off x="2373" y="1200"/>
              <a:ext cx="383" cy="0"/>
            </a:xfrm>
            <a:prstGeom prst="line">
              <a:avLst/>
            </a:prstGeom>
            <a:noFill/>
            <a:ln w="19050">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76" name="组合 75">
            <a:extLst>
              <a:ext uri="{FF2B5EF4-FFF2-40B4-BE49-F238E27FC236}">
                <a16:creationId xmlns:a16="http://schemas.microsoft.com/office/drawing/2014/main" xmlns="" id="{8F9BD286-11D7-41B1-980C-D866C34F5254}"/>
              </a:ext>
            </a:extLst>
          </p:cNvPr>
          <p:cNvGrpSpPr>
            <a:grpSpLocks/>
          </p:cNvGrpSpPr>
          <p:nvPr/>
        </p:nvGrpSpPr>
        <p:grpSpPr bwMode="auto">
          <a:xfrm>
            <a:off x="823913" y="2208932"/>
            <a:ext cx="4059238" cy="784225"/>
            <a:chOff x="552" y="792"/>
            <a:chExt cx="2557" cy="422"/>
          </a:xfrm>
        </p:grpSpPr>
        <p:grpSp>
          <p:nvGrpSpPr>
            <p:cNvPr id="77" name="组合 188494">
              <a:extLst>
                <a:ext uri="{FF2B5EF4-FFF2-40B4-BE49-F238E27FC236}">
                  <a16:creationId xmlns:a16="http://schemas.microsoft.com/office/drawing/2014/main" xmlns="" id="{BAF80023-1746-55B6-652D-48F5A927815F}"/>
                </a:ext>
              </a:extLst>
            </p:cNvPr>
            <p:cNvGrpSpPr>
              <a:grpSpLocks/>
            </p:cNvGrpSpPr>
            <p:nvPr/>
          </p:nvGrpSpPr>
          <p:grpSpPr bwMode="auto">
            <a:xfrm>
              <a:off x="552" y="792"/>
              <a:ext cx="2557" cy="422"/>
              <a:chOff x="562" y="873"/>
              <a:chExt cx="2557" cy="375"/>
            </a:xfrm>
          </p:grpSpPr>
          <p:sp>
            <p:nvSpPr>
              <p:cNvPr id="81" name="任意多边形 188495">
                <a:extLst>
                  <a:ext uri="{FF2B5EF4-FFF2-40B4-BE49-F238E27FC236}">
                    <a16:creationId xmlns:a16="http://schemas.microsoft.com/office/drawing/2014/main" xmlns="" id="{6E5A62E3-157E-82F3-767E-7E1BEA5F22DD}"/>
                  </a:ext>
                </a:extLst>
              </p:cNvPr>
              <p:cNvSpPr>
                <a:spLocks noChangeArrowheads="1"/>
              </p:cNvSpPr>
              <p:nvPr/>
            </p:nvSpPr>
            <p:spPr bwMode="auto">
              <a:xfrm>
                <a:off x="562" y="873"/>
                <a:ext cx="365" cy="375"/>
              </a:xfrm>
              <a:custGeom>
                <a:avLst/>
                <a:gdLst>
                  <a:gd name="T0" fmla="*/ 0 w 720"/>
                  <a:gd name="T1" fmla="*/ 936 h 936"/>
                  <a:gd name="T2" fmla="*/ 360 w 720"/>
                  <a:gd name="T3" fmla="*/ 0 h 936"/>
                  <a:gd name="T4" fmla="*/ 720 w 720"/>
                  <a:gd name="T5" fmla="*/ 936 h 936"/>
                </a:gdLst>
                <a:ahLst/>
                <a:cxnLst>
                  <a:cxn ang="0">
                    <a:pos x="T0" y="T1"/>
                  </a:cxn>
                  <a:cxn ang="0">
                    <a:pos x="T2" y="T3"/>
                  </a:cxn>
                  <a:cxn ang="0">
                    <a:pos x="T4" y="T5"/>
                  </a:cxn>
                </a:cxnLst>
                <a:rect l="0" t="0" r="r" b="b"/>
                <a:pathLst>
                  <a:path w="720" h="936">
                    <a:moveTo>
                      <a:pt x="0" y="936"/>
                    </a:moveTo>
                    <a:cubicBezTo>
                      <a:pt x="120" y="468"/>
                      <a:pt x="240" y="0"/>
                      <a:pt x="360" y="0"/>
                    </a:cubicBezTo>
                    <a:cubicBezTo>
                      <a:pt x="480" y="0"/>
                      <a:pt x="600" y="468"/>
                      <a:pt x="720" y="936"/>
                    </a:cubicBezTo>
                  </a:path>
                </a:pathLst>
              </a:cu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 name="任意多边形 188496">
                <a:extLst>
                  <a:ext uri="{FF2B5EF4-FFF2-40B4-BE49-F238E27FC236}">
                    <a16:creationId xmlns:a16="http://schemas.microsoft.com/office/drawing/2014/main" xmlns="" id="{DAE9678B-C1AB-8512-D28C-12A403B009D4}"/>
                  </a:ext>
                </a:extLst>
              </p:cNvPr>
              <p:cNvSpPr>
                <a:spLocks noChangeArrowheads="1"/>
              </p:cNvSpPr>
              <p:nvPr/>
            </p:nvSpPr>
            <p:spPr bwMode="auto">
              <a:xfrm>
                <a:off x="1292" y="873"/>
                <a:ext cx="366" cy="375"/>
              </a:xfrm>
              <a:custGeom>
                <a:avLst/>
                <a:gdLst>
                  <a:gd name="T0" fmla="*/ 0 w 720"/>
                  <a:gd name="T1" fmla="*/ 936 h 936"/>
                  <a:gd name="T2" fmla="*/ 360 w 720"/>
                  <a:gd name="T3" fmla="*/ 0 h 936"/>
                  <a:gd name="T4" fmla="*/ 720 w 720"/>
                  <a:gd name="T5" fmla="*/ 936 h 936"/>
                </a:gdLst>
                <a:ahLst/>
                <a:cxnLst>
                  <a:cxn ang="0">
                    <a:pos x="T0" y="T1"/>
                  </a:cxn>
                  <a:cxn ang="0">
                    <a:pos x="T2" y="T3"/>
                  </a:cxn>
                  <a:cxn ang="0">
                    <a:pos x="T4" y="T5"/>
                  </a:cxn>
                </a:cxnLst>
                <a:rect l="0" t="0" r="r" b="b"/>
                <a:pathLst>
                  <a:path w="720" h="936">
                    <a:moveTo>
                      <a:pt x="0" y="936"/>
                    </a:moveTo>
                    <a:cubicBezTo>
                      <a:pt x="120" y="468"/>
                      <a:pt x="240" y="0"/>
                      <a:pt x="360" y="0"/>
                    </a:cubicBezTo>
                    <a:cubicBezTo>
                      <a:pt x="480" y="0"/>
                      <a:pt x="600" y="468"/>
                      <a:pt x="720" y="936"/>
                    </a:cubicBezTo>
                  </a:path>
                </a:pathLst>
              </a:cu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 name="任意多边形 188497">
                <a:extLst>
                  <a:ext uri="{FF2B5EF4-FFF2-40B4-BE49-F238E27FC236}">
                    <a16:creationId xmlns:a16="http://schemas.microsoft.com/office/drawing/2014/main" xmlns="" id="{8BF8EC12-555F-DC45-008C-2C5CE61AAD7F}"/>
                  </a:ext>
                </a:extLst>
              </p:cNvPr>
              <p:cNvSpPr>
                <a:spLocks noChangeArrowheads="1"/>
              </p:cNvSpPr>
              <p:nvPr/>
            </p:nvSpPr>
            <p:spPr bwMode="auto">
              <a:xfrm>
                <a:off x="2023" y="873"/>
                <a:ext cx="365" cy="375"/>
              </a:xfrm>
              <a:custGeom>
                <a:avLst/>
                <a:gdLst>
                  <a:gd name="T0" fmla="*/ 0 w 720"/>
                  <a:gd name="T1" fmla="*/ 936 h 936"/>
                  <a:gd name="T2" fmla="*/ 360 w 720"/>
                  <a:gd name="T3" fmla="*/ 0 h 936"/>
                  <a:gd name="T4" fmla="*/ 720 w 720"/>
                  <a:gd name="T5" fmla="*/ 936 h 936"/>
                </a:gdLst>
                <a:ahLst/>
                <a:cxnLst>
                  <a:cxn ang="0">
                    <a:pos x="T0" y="T1"/>
                  </a:cxn>
                  <a:cxn ang="0">
                    <a:pos x="T2" y="T3"/>
                  </a:cxn>
                  <a:cxn ang="0">
                    <a:pos x="T4" y="T5"/>
                  </a:cxn>
                </a:cxnLst>
                <a:rect l="0" t="0" r="r" b="b"/>
                <a:pathLst>
                  <a:path w="720" h="936">
                    <a:moveTo>
                      <a:pt x="0" y="936"/>
                    </a:moveTo>
                    <a:cubicBezTo>
                      <a:pt x="120" y="468"/>
                      <a:pt x="240" y="0"/>
                      <a:pt x="360" y="0"/>
                    </a:cubicBezTo>
                    <a:cubicBezTo>
                      <a:pt x="480" y="0"/>
                      <a:pt x="600" y="468"/>
                      <a:pt x="720" y="936"/>
                    </a:cubicBezTo>
                  </a:path>
                </a:pathLst>
              </a:cu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 name="任意多边形 188498">
                <a:extLst>
                  <a:ext uri="{FF2B5EF4-FFF2-40B4-BE49-F238E27FC236}">
                    <a16:creationId xmlns:a16="http://schemas.microsoft.com/office/drawing/2014/main" xmlns="" id="{B0413EBD-1142-1107-2AE8-6F7D8B3D8FF1}"/>
                  </a:ext>
                </a:extLst>
              </p:cNvPr>
              <p:cNvSpPr>
                <a:spLocks noChangeArrowheads="1"/>
              </p:cNvSpPr>
              <p:nvPr/>
            </p:nvSpPr>
            <p:spPr bwMode="auto">
              <a:xfrm>
                <a:off x="2754" y="873"/>
                <a:ext cx="365" cy="375"/>
              </a:xfrm>
              <a:custGeom>
                <a:avLst/>
                <a:gdLst>
                  <a:gd name="T0" fmla="*/ 0 w 720"/>
                  <a:gd name="T1" fmla="*/ 936 h 936"/>
                  <a:gd name="T2" fmla="*/ 360 w 720"/>
                  <a:gd name="T3" fmla="*/ 0 h 936"/>
                  <a:gd name="T4" fmla="*/ 720 w 720"/>
                  <a:gd name="T5" fmla="*/ 936 h 936"/>
                </a:gdLst>
                <a:ahLst/>
                <a:cxnLst>
                  <a:cxn ang="0">
                    <a:pos x="T0" y="T1"/>
                  </a:cxn>
                  <a:cxn ang="0">
                    <a:pos x="T2" y="T3"/>
                  </a:cxn>
                  <a:cxn ang="0">
                    <a:pos x="T4" y="T5"/>
                  </a:cxn>
                </a:cxnLst>
                <a:rect l="0" t="0" r="r" b="b"/>
                <a:pathLst>
                  <a:path w="720" h="936">
                    <a:moveTo>
                      <a:pt x="0" y="936"/>
                    </a:moveTo>
                    <a:cubicBezTo>
                      <a:pt x="120" y="468"/>
                      <a:pt x="240" y="0"/>
                      <a:pt x="360" y="0"/>
                    </a:cubicBezTo>
                    <a:cubicBezTo>
                      <a:pt x="480" y="0"/>
                      <a:pt x="600" y="468"/>
                      <a:pt x="720" y="936"/>
                    </a:cubicBezTo>
                  </a:path>
                </a:pathLst>
              </a:cu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5" name="直接连接符 188499">
                <a:extLst>
                  <a:ext uri="{FF2B5EF4-FFF2-40B4-BE49-F238E27FC236}">
                    <a16:creationId xmlns:a16="http://schemas.microsoft.com/office/drawing/2014/main" xmlns="" id="{DBA1BF30-672E-56E5-8ADD-0465BDECF660}"/>
                  </a:ext>
                </a:extLst>
              </p:cNvPr>
              <p:cNvSpPr>
                <a:spLocks noChangeShapeType="1"/>
              </p:cNvSpPr>
              <p:nvPr/>
            </p:nvSpPr>
            <p:spPr bwMode="auto">
              <a:xfrm>
                <a:off x="1840" y="1248"/>
                <a:ext cx="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78" name="直接连接符 188500">
              <a:extLst>
                <a:ext uri="{FF2B5EF4-FFF2-40B4-BE49-F238E27FC236}">
                  <a16:creationId xmlns:a16="http://schemas.microsoft.com/office/drawing/2014/main" xmlns="" id="{A3F572AC-4106-46E1-4E04-D662FF3A35AC}"/>
                </a:ext>
              </a:extLst>
            </p:cNvPr>
            <p:cNvSpPr>
              <a:spLocks noChangeShapeType="1"/>
            </p:cNvSpPr>
            <p:nvPr/>
          </p:nvSpPr>
          <p:spPr bwMode="auto">
            <a:xfrm>
              <a:off x="912" y="1206"/>
              <a:ext cx="384" cy="0"/>
            </a:xfrm>
            <a:prstGeom prst="line">
              <a:avLst/>
            </a:prstGeom>
            <a:noFill/>
            <a:ln w="19050">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 name="直接连接符 188501">
              <a:extLst>
                <a:ext uri="{FF2B5EF4-FFF2-40B4-BE49-F238E27FC236}">
                  <a16:creationId xmlns:a16="http://schemas.microsoft.com/office/drawing/2014/main" xmlns="" id="{740FB814-3331-58D0-8F62-6C97CD69087A}"/>
                </a:ext>
              </a:extLst>
            </p:cNvPr>
            <p:cNvSpPr>
              <a:spLocks noChangeShapeType="1"/>
            </p:cNvSpPr>
            <p:nvPr/>
          </p:nvSpPr>
          <p:spPr bwMode="auto">
            <a:xfrm>
              <a:off x="1632" y="1200"/>
              <a:ext cx="384" cy="0"/>
            </a:xfrm>
            <a:prstGeom prst="line">
              <a:avLst/>
            </a:prstGeom>
            <a:noFill/>
            <a:ln w="19050">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 name="直接连接符 188502">
              <a:extLst>
                <a:ext uri="{FF2B5EF4-FFF2-40B4-BE49-F238E27FC236}">
                  <a16:creationId xmlns:a16="http://schemas.microsoft.com/office/drawing/2014/main" xmlns="" id="{839459F8-9B22-8812-4D2F-3D20CEC8CDA6}"/>
                </a:ext>
              </a:extLst>
            </p:cNvPr>
            <p:cNvSpPr>
              <a:spLocks noChangeShapeType="1"/>
            </p:cNvSpPr>
            <p:nvPr/>
          </p:nvSpPr>
          <p:spPr bwMode="auto">
            <a:xfrm>
              <a:off x="2373" y="1200"/>
              <a:ext cx="383" cy="0"/>
            </a:xfrm>
            <a:prstGeom prst="line">
              <a:avLst/>
            </a:prstGeom>
            <a:noFill/>
            <a:ln w="19050">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86" name="组合 85">
            <a:extLst>
              <a:ext uri="{FF2B5EF4-FFF2-40B4-BE49-F238E27FC236}">
                <a16:creationId xmlns:a16="http://schemas.microsoft.com/office/drawing/2014/main" xmlns="" id="{ED4A6F28-070F-684E-506A-53A9E3B06667}"/>
              </a:ext>
            </a:extLst>
          </p:cNvPr>
          <p:cNvGrpSpPr>
            <a:grpSpLocks/>
          </p:cNvGrpSpPr>
          <p:nvPr/>
        </p:nvGrpSpPr>
        <p:grpSpPr bwMode="auto">
          <a:xfrm>
            <a:off x="823913" y="2208932"/>
            <a:ext cx="4059238" cy="784225"/>
            <a:chOff x="552" y="792"/>
            <a:chExt cx="2557" cy="422"/>
          </a:xfrm>
        </p:grpSpPr>
        <p:grpSp>
          <p:nvGrpSpPr>
            <p:cNvPr id="87" name="组合 188504">
              <a:extLst>
                <a:ext uri="{FF2B5EF4-FFF2-40B4-BE49-F238E27FC236}">
                  <a16:creationId xmlns:a16="http://schemas.microsoft.com/office/drawing/2014/main" xmlns="" id="{BAFE74A9-778D-C0AB-DF2D-B15D4F67BAD2}"/>
                </a:ext>
              </a:extLst>
            </p:cNvPr>
            <p:cNvGrpSpPr>
              <a:grpSpLocks/>
            </p:cNvGrpSpPr>
            <p:nvPr/>
          </p:nvGrpSpPr>
          <p:grpSpPr bwMode="auto">
            <a:xfrm>
              <a:off x="552" y="792"/>
              <a:ext cx="2557" cy="422"/>
              <a:chOff x="562" y="873"/>
              <a:chExt cx="2557" cy="375"/>
            </a:xfrm>
          </p:grpSpPr>
          <p:sp>
            <p:nvSpPr>
              <p:cNvPr id="91" name="任意多边形 188505">
                <a:extLst>
                  <a:ext uri="{FF2B5EF4-FFF2-40B4-BE49-F238E27FC236}">
                    <a16:creationId xmlns:a16="http://schemas.microsoft.com/office/drawing/2014/main" xmlns="" id="{D624F0F6-98BB-EDF4-C06F-31D0A199D70D}"/>
                  </a:ext>
                </a:extLst>
              </p:cNvPr>
              <p:cNvSpPr>
                <a:spLocks noChangeArrowheads="1"/>
              </p:cNvSpPr>
              <p:nvPr/>
            </p:nvSpPr>
            <p:spPr bwMode="auto">
              <a:xfrm>
                <a:off x="562" y="873"/>
                <a:ext cx="365" cy="375"/>
              </a:xfrm>
              <a:custGeom>
                <a:avLst/>
                <a:gdLst>
                  <a:gd name="T0" fmla="*/ 0 w 720"/>
                  <a:gd name="T1" fmla="*/ 936 h 936"/>
                  <a:gd name="T2" fmla="*/ 360 w 720"/>
                  <a:gd name="T3" fmla="*/ 0 h 936"/>
                  <a:gd name="T4" fmla="*/ 720 w 720"/>
                  <a:gd name="T5" fmla="*/ 936 h 936"/>
                </a:gdLst>
                <a:ahLst/>
                <a:cxnLst>
                  <a:cxn ang="0">
                    <a:pos x="T0" y="T1"/>
                  </a:cxn>
                  <a:cxn ang="0">
                    <a:pos x="T2" y="T3"/>
                  </a:cxn>
                  <a:cxn ang="0">
                    <a:pos x="T4" y="T5"/>
                  </a:cxn>
                </a:cxnLst>
                <a:rect l="0" t="0" r="r" b="b"/>
                <a:pathLst>
                  <a:path w="720" h="936">
                    <a:moveTo>
                      <a:pt x="0" y="936"/>
                    </a:moveTo>
                    <a:cubicBezTo>
                      <a:pt x="120" y="468"/>
                      <a:pt x="240" y="0"/>
                      <a:pt x="360" y="0"/>
                    </a:cubicBezTo>
                    <a:cubicBezTo>
                      <a:pt x="480" y="0"/>
                      <a:pt x="600" y="468"/>
                      <a:pt x="720" y="936"/>
                    </a:cubicBezTo>
                  </a:path>
                </a:pathLst>
              </a:cu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2" name="任意多边形 188506">
                <a:extLst>
                  <a:ext uri="{FF2B5EF4-FFF2-40B4-BE49-F238E27FC236}">
                    <a16:creationId xmlns:a16="http://schemas.microsoft.com/office/drawing/2014/main" xmlns="" id="{18C0695F-D0FF-29C1-BD74-15D788C3BF5F}"/>
                  </a:ext>
                </a:extLst>
              </p:cNvPr>
              <p:cNvSpPr>
                <a:spLocks noChangeArrowheads="1"/>
              </p:cNvSpPr>
              <p:nvPr/>
            </p:nvSpPr>
            <p:spPr bwMode="auto">
              <a:xfrm>
                <a:off x="1292" y="873"/>
                <a:ext cx="366" cy="375"/>
              </a:xfrm>
              <a:custGeom>
                <a:avLst/>
                <a:gdLst>
                  <a:gd name="T0" fmla="*/ 0 w 720"/>
                  <a:gd name="T1" fmla="*/ 936 h 936"/>
                  <a:gd name="T2" fmla="*/ 360 w 720"/>
                  <a:gd name="T3" fmla="*/ 0 h 936"/>
                  <a:gd name="T4" fmla="*/ 720 w 720"/>
                  <a:gd name="T5" fmla="*/ 936 h 936"/>
                </a:gdLst>
                <a:ahLst/>
                <a:cxnLst>
                  <a:cxn ang="0">
                    <a:pos x="T0" y="T1"/>
                  </a:cxn>
                  <a:cxn ang="0">
                    <a:pos x="T2" y="T3"/>
                  </a:cxn>
                  <a:cxn ang="0">
                    <a:pos x="T4" y="T5"/>
                  </a:cxn>
                </a:cxnLst>
                <a:rect l="0" t="0" r="r" b="b"/>
                <a:pathLst>
                  <a:path w="720" h="936">
                    <a:moveTo>
                      <a:pt x="0" y="936"/>
                    </a:moveTo>
                    <a:cubicBezTo>
                      <a:pt x="120" y="468"/>
                      <a:pt x="240" y="0"/>
                      <a:pt x="360" y="0"/>
                    </a:cubicBezTo>
                    <a:cubicBezTo>
                      <a:pt x="480" y="0"/>
                      <a:pt x="600" y="468"/>
                      <a:pt x="720" y="936"/>
                    </a:cubicBezTo>
                  </a:path>
                </a:pathLst>
              </a:cu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3" name="任意多边形 188507">
                <a:extLst>
                  <a:ext uri="{FF2B5EF4-FFF2-40B4-BE49-F238E27FC236}">
                    <a16:creationId xmlns:a16="http://schemas.microsoft.com/office/drawing/2014/main" xmlns="" id="{96CC1857-63DF-B3EB-7AF1-D349BB7924CA}"/>
                  </a:ext>
                </a:extLst>
              </p:cNvPr>
              <p:cNvSpPr>
                <a:spLocks noChangeArrowheads="1"/>
              </p:cNvSpPr>
              <p:nvPr/>
            </p:nvSpPr>
            <p:spPr bwMode="auto">
              <a:xfrm>
                <a:off x="2023" y="873"/>
                <a:ext cx="365" cy="375"/>
              </a:xfrm>
              <a:custGeom>
                <a:avLst/>
                <a:gdLst>
                  <a:gd name="T0" fmla="*/ 0 w 720"/>
                  <a:gd name="T1" fmla="*/ 936 h 936"/>
                  <a:gd name="T2" fmla="*/ 360 w 720"/>
                  <a:gd name="T3" fmla="*/ 0 h 936"/>
                  <a:gd name="T4" fmla="*/ 720 w 720"/>
                  <a:gd name="T5" fmla="*/ 936 h 936"/>
                </a:gdLst>
                <a:ahLst/>
                <a:cxnLst>
                  <a:cxn ang="0">
                    <a:pos x="T0" y="T1"/>
                  </a:cxn>
                  <a:cxn ang="0">
                    <a:pos x="T2" y="T3"/>
                  </a:cxn>
                  <a:cxn ang="0">
                    <a:pos x="T4" y="T5"/>
                  </a:cxn>
                </a:cxnLst>
                <a:rect l="0" t="0" r="r" b="b"/>
                <a:pathLst>
                  <a:path w="720" h="936">
                    <a:moveTo>
                      <a:pt x="0" y="936"/>
                    </a:moveTo>
                    <a:cubicBezTo>
                      <a:pt x="120" y="468"/>
                      <a:pt x="240" y="0"/>
                      <a:pt x="360" y="0"/>
                    </a:cubicBezTo>
                    <a:cubicBezTo>
                      <a:pt x="480" y="0"/>
                      <a:pt x="600" y="468"/>
                      <a:pt x="720" y="936"/>
                    </a:cubicBezTo>
                  </a:path>
                </a:pathLst>
              </a:cu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4" name="任意多边形 188508">
                <a:extLst>
                  <a:ext uri="{FF2B5EF4-FFF2-40B4-BE49-F238E27FC236}">
                    <a16:creationId xmlns:a16="http://schemas.microsoft.com/office/drawing/2014/main" xmlns="" id="{D00358D7-363E-0C95-0A1C-DD51A171A66B}"/>
                  </a:ext>
                </a:extLst>
              </p:cNvPr>
              <p:cNvSpPr>
                <a:spLocks noChangeArrowheads="1"/>
              </p:cNvSpPr>
              <p:nvPr/>
            </p:nvSpPr>
            <p:spPr bwMode="auto">
              <a:xfrm>
                <a:off x="2754" y="873"/>
                <a:ext cx="365" cy="375"/>
              </a:xfrm>
              <a:custGeom>
                <a:avLst/>
                <a:gdLst>
                  <a:gd name="T0" fmla="*/ 0 w 720"/>
                  <a:gd name="T1" fmla="*/ 936 h 936"/>
                  <a:gd name="T2" fmla="*/ 360 w 720"/>
                  <a:gd name="T3" fmla="*/ 0 h 936"/>
                  <a:gd name="T4" fmla="*/ 720 w 720"/>
                  <a:gd name="T5" fmla="*/ 936 h 936"/>
                </a:gdLst>
                <a:ahLst/>
                <a:cxnLst>
                  <a:cxn ang="0">
                    <a:pos x="T0" y="T1"/>
                  </a:cxn>
                  <a:cxn ang="0">
                    <a:pos x="T2" y="T3"/>
                  </a:cxn>
                  <a:cxn ang="0">
                    <a:pos x="T4" y="T5"/>
                  </a:cxn>
                </a:cxnLst>
                <a:rect l="0" t="0" r="r" b="b"/>
                <a:pathLst>
                  <a:path w="720" h="936">
                    <a:moveTo>
                      <a:pt x="0" y="936"/>
                    </a:moveTo>
                    <a:cubicBezTo>
                      <a:pt x="120" y="468"/>
                      <a:pt x="240" y="0"/>
                      <a:pt x="360" y="0"/>
                    </a:cubicBezTo>
                    <a:cubicBezTo>
                      <a:pt x="480" y="0"/>
                      <a:pt x="600" y="468"/>
                      <a:pt x="720" y="936"/>
                    </a:cubicBezTo>
                  </a:path>
                </a:pathLst>
              </a:cu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5" name="直接连接符 188509">
                <a:extLst>
                  <a:ext uri="{FF2B5EF4-FFF2-40B4-BE49-F238E27FC236}">
                    <a16:creationId xmlns:a16="http://schemas.microsoft.com/office/drawing/2014/main" xmlns="" id="{BE354AC9-5939-B576-C072-D9477F82AD43}"/>
                  </a:ext>
                </a:extLst>
              </p:cNvPr>
              <p:cNvSpPr>
                <a:spLocks noChangeShapeType="1"/>
              </p:cNvSpPr>
              <p:nvPr/>
            </p:nvSpPr>
            <p:spPr bwMode="auto">
              <a:xfrm>
                <a:off x="1840" y="1248"/>
                <a:ext cx="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88" name="直接连接符 188510">
              <a:extLst>
                <a:ext uri="{FF2B5EF4-FFF2-40B4-BE49-F238E27FC236}">
                  <a16:creationId xmlns:a16="http://schemas.microsoft.com/office/drawing/2014/main" xmlns="" id="{C29892C6-9AA4-4FB8-4DE8-74EBC60124AE}"/>
                </a:ext>
              </a:extLst>
            </p:cNvPr>
            <p:cNvSpPr>
              <a:spLocks noChangeShapeType="1"/>
            </p:cNvSpPr>
            <p:nvPr/>
          </p:nvSpPr>
          <p:spPr bwMode="auto">
            <a:xfrm>
              <a:off x="912" y="1206"/>
              <a:ext cx="384" cy="0"/>
            </a:xfrm>
            <a:prstGeom prst="line">
              <a:avLst/>
            </a:prstGeom>
            <a:noFill/>
            <a:ln w="19050">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9" name="直接连接符 188511">
              <a:extLst>
                <a:ext uri="{FF2B5EF4-FFF2-40B4-BE49-F238E27FC236}">
                  <a16:creationId xmlns:a16="http://schemas.microsoft.com/office/drawing/2014/main" xmlns="" id="{4493294D-6AD7-04C8-FE71-C27022D25FBB}"/>
                </a:ext>
              </a:extLst>
            </p:cNvPr>
            <p:cNvSpPr>
              <a:spLocks noChangeShapeType="1"/>
            </p:cNvSpPr>
            <p:nvPr/>
          </p:nvSpPr>
          <p:spPr bwMode="auto">
            <a:xfrm>
              <a:off x="1632" y="1200"/>
              <a:ext cx="384" cy="0"/>
            </a:xfrm>
            <a:prstGeom prst="line">
              <a:avLst/>
            </a:prstGeom>
            <a:noFill/>
            <a:ln w="19050">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0" name="直接连接符 188512">
              <a:extLst>
                <a:ext uri="{FF2B5EF4-FFF2-40B4-BE49-F238E27FC236}">
                  <a16:creationId xmlns:a16="http://schemas.microsoft.com/office/drawing/2014/main" xmlns="" id="{2AF16937-9ECE-78B9-DAA6-6E2A391BFE49}"/>
                </a:ext>
              </a:extLst>
            </p:cNvPr>
            <p:cNvSpPr>
              <a:spLocks noChangeShapeType="1"/>
            </p:cNvSpPr>
            <p:nvPr/>
          </p:nvSpPr>
          <p:spPr bwMode="auto">
            <a:xfrm>
              <a:off x="2373" y="1200"/>
              <a:ext cx="383" cy="0"/>
            </a:xfrm>
            <a:prstGeom prst="line">
              <a:avLst/>
            </a:prstGeom>
            <a:noFill/>
            <a:ln w="19050">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96" name="组合 95">
            <a:extLst>
              <a:ext uri="{FF2B5EF4-FFF2-40B4-BE49-F238E27FC236}">
                <a16:creationId xmlns:a16="http://schemas.microsoft.com/office/drawing/2014/main" xmlns="" id="{15A05286-DA28-38B8-B448-A9EC73FD5986}"/>
              </a:ext>
            </a:extLst>
          </p:cNvPr>
          <p:cNvGrpSpPr>
            <a:grpSpLocks/>
          </p:cNvGrpSpPr>
          <p:nvPr/>
        </p:nvGrpSpPr>
        <p:grpSpPr bwMode="auto">
          <a:xfrm>
            <a:off x="823913" y="3199532"/>
            <a:ext cx="4083050" cy="1171575"/>
            <a:chOff x="576" y="2833"/>
            <a:chExt cx="2572" cy="655"/>
          </a:xfrm>
        </p:grpSpPr>
        <p:sp>
          <p:nvSpPr>
            <p:cNvPr id="97" name="任意多边形 188514">
              <a:extLst>
                <a:ext uri="{FF2B5EF4-FFF2-40B4-BE49-F238E27FC236}">
                  <a16:creationId xmlns:a16="http://schemas.microsoft.com/office/drawing/2014/main" xmlns="" id="{4981F997-B2C9-5AAA-6854-2A7580271A7A}"/>
                </a:ext>
              </a:extLst>
            </p:cNvPr>
            <p:cNvSpPr>
              <a:spLocks noChangeArrowheads="1"/>
            </p:cNvSpPr>
            <p:nvPr/>
          </p:nvSpPr>
          <p:spPr bwMode="auto">
            <a:xfrm>
              <a:off x="576" y="2880"/>
              <a:ext cx="2572" cy="608"/>
            </a:xfrm>
            <a:custGeom>
              <a:avLst/>
              <a:gdLst>
                <a:gd name="T0" fmla="*/ 0 w 2640"/>
                <a:gd name="T1" fmla="*/ 280 h 608"/>
                <a:gd name="T2" fmla="*/ 192 w 2640"/>
                <a:gd name="T3" fmla="*/ 40 h 608"/>
                <a:gd name="T4" fmla="*/ 384 w 2640"/>
                <a:gd name="T5" fmla="*/ 280 h 608"/>
                <a:gd name="T6" fmla="*/ 576 w 2640"/>
                <a:gd name="T7" fmla="*/ 568 h 608"/>
                <a:gd name="T8" fmla="*/ 912 w 2640"/>
                <a:gd name="T9" fmla="*/ 40 h 608"/>
                <a:gd name="T10" fmla="*/ 1296 w 2640"/>
                <a:gd name="T11" fmla="*/ 568 h 608"/>
                <a:gd name="T12" fmla="*/ 1680 w 2640"/>
                <a:gd name="T13" fmla="*/ 40 h 608"/>
                <a:gd name="T14" fmla="*/ 2064 w 2640"/>
                <a:gd name="T15" fmla="*/ 568 h 608"/>
                <a:gd name="T16" fmla="*/ 2400 w 2640"/>
                <a:gd name="T17" fmla="*/ 40 h 608"/>
                <a:gd name="T18" fmla="*/ 2640 w 2640"/>
                <a:gd name="T19" fmla="*/ 328 h 6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40" h="608">
                  <a:moveTo>
                    <a:pt x="0" y="280"/>
                  </a:moveTo>
                  <a:cubicBezTo>
                    <a:pt x="64" y="160"/>
                    <a:pt x="128" y="40"/>
                    <a:pt x="192" y="40"/>
                  </a:cubicBezTo>
                  <a:cubicBezTo>
                    <a:pt x="256" y="40"/>
                    <a:pt x="320" y="192"/>
                    <a:pt x="384" y="280"/>
                  </a:cubicBezTo>
                  <a:cubicBezTo>
                    <a:pt x="448" y="368"/>
                    <a:pt x="488" y="608"/>
                    <a:pt x="576" y="568"/>
                  </a:cubicBezTo>
                  <a:cubicBezTo>
                    <a:pt x="664" y="528"/>
                    <a:pt x="792" y="40"/>
                    <a:pt x="912" y="40"/>
                  </a:cubicBezTo>
                  <a:cubicBezTo>
                    <a:pt x="1032" y="40"/>
                    <a:pt x="1168" y="568"/>
                    <a:pt x="1296" y="568"/>
                  </a:cubicBezTo>
                  <a:cubicBezTo>
                    <a:pt x="1424" y="568"/>
                    <a:pt x="1552" y="40"/>
                    <a:pt x="1680" y="40"/>
                  </a:cubicBezTo>
                  <a:cubicBezTo>
                    <a:pt x="1808" y="40"/>
                    <a:pt x="1944" y="568"/>
                    <a:pt x="2064" y="568"/>
                  </a:cubicBezTo>
                  <a:cubicBezTo>
                    <a:pt x="2184" y="568"/>
                    <a:pt x="2304" y="80"/>
                    <a:pt x="2400" y="40"/>
                  </a:cubicBezTo>
                  <a:cubicBezTo>
                    <a:pt x="2496" y="0"/>
                    <a:pt x="2568" y="164"/>
                    <a:pt x="2640" y="328"/>
                  </a:cubicBezTo>
                </a:path>
              </a:pathLst>
            </a:custGeom>
            <a:noFill/>
            <a:ln w="9525">
              <a:solidFill>
                <a:srgbClr val="FF33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8" name="文本框 188515">
              <a:extLst>
                <a:ext uri="{FF2B5EF4-FFF2-40B4-BE49-F238E27FC236}">
                  <a16:creationId xmlns:a16="http://schemas.microsoft.com/office/drawing/2014/main" xmlns="" id="{E1ED976A-7E59-5D5B-04D6-CC7A25D393E3}"/>
                </a:ext>
              </a:extLst>
            </p:cNvPr>
            <p:cNvSpPr txBox="1">
              <a:spLocks noChangeArrowheads="1"/>
            </p:cNvSpPr>
            <p:nvPr/>
          </p:nvSpPr>
          <p:spPr bwMode="auto">
            <a:xfrm>
              <a:off x="2274" y="2833"/>
              <a:ext cx="268"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800" i="1">
                  <a:solidFill>
                    <a:srgbClr val="FF3300"/>
                  </a:solidFill>
                </a:rPr>
                <a:t>i</a:t>
              </a:r>
              <a:r>
                <a:rPr lang="en-US" altLang="zh-CN" sz="1800" i="1" baseline="-25000">
                  <a:solidFill>
                    <a:srgbClr val="FF3300"/>
                  </a:solidFill>
                </a:rPr>
                <a:t>C1</a:t>
              </a:r>
              <a:endParaRPr lang="en-US" altLang="zh-CN" sz="1800" i="1">
                <a:solidFill>
                  <a:srgbClr val="FF3300"/>
                </a:solidFill>
              </a:endParaRPr>
            </a:p>
          </p:txBody>
        </p:sp>
      </p:grpSp>
      <p:grpSp>
        <p:nvGrpSpPr>
          <p:cNvPr id="99" name="组合 98">
            <a:extLst>
              <a:ext uri="{FF2B5EF4-FFF2-40B4-BE49-F238E27FC236}">
                <a16:creationId xmlns:a16="http://schemas.microsoft.com/office/drawing/2014/main" xmlns="" id="{18F73F61-B747-3EFC-669F-42F382779FA5}"/>
              </a:ext>
            </a:extLst>
          </p:cNvPr>
          <p:cNvGrpSpPr>
            <a:grpSpLocks/>
          </p:cNvGrpSpPr>
          <p:nvPr/>
        </p:nvGrpSpPr>
        <p:grpSpPr bwMode="auto">
          <a:xfrm>
            <a:off x="823913" y="3199532"/>
            <a:ext cx="4083050" cy="1171575"/>
            <a:chOff x="576" y="2833"/>
            <a:chExt cx="2572" cy="655"/>
          </a:xfrm>
        </p:grpSpPr>
        <p:sp>
          <p:nvSpPr>
            <p:cNvPr id="100" name="任意多边形 188517">
              <a:extLst>
                <a:ext uri="{FF2B5EF4-FFF2-40B4-BE49-F238E27FC236}">
                  <a16:creationId xmlns:a16="http://schemas.microsoft.com/office/drawing/2014/main" xmlns="" id="{85BC4591-373A-0404-D114-BBF6D7E95B8B}"/>
                </a:ext>
              </a:extLst>
            </p:cNvPr>
            <p:cNvSpPr>
              <a:spLocks noChangeArrowheads="1"/>
            </p:cNvSpPr>
            <p:nvPr/>
          </p:nvSpPr>
          <p:spPr bwMode="auto">
            <a:xfrm>
              <a:off x="576" y="2880"/>
              <a:ext cx="2572" cy="608"/>
            </a:xfrm>
            <a:custGeom>
              <a:avLst/>
              <a:gdLst>
                <a:gd name="T0" fmla="*/ 0 w 2640"/>
                <a:gd name="T1" fmla="*/ 280 h 608"/>
                <a:gd name="T2" fmla="*/ 192 w 2640"/>
                <a:gd name="T3" fmla="*/ 40 h 608"/>
                <a:gd name="T4" fmla="*/ 384 w 2640"/>
                <a:gd name="T5" fmla="*/ 280 h 608"/>
                <a:gd name="T6" fmla="*/ 576 w 2640"/>
                <a:gd name="T7" fmla="*/ 568 h 608"/>
                <a:gd name="T8" fmla="*/ 912 w 2640"/>
                <a:gd name="T9" fmla="*/ 40 h 608"/>
                <a:gd name="T10" fmla="*/ 1296 w 2640"/>
                <a:gd name="T11" fmla="*/ 568 h 608"/>
                <a:gd name="T12" fmla="*/ 1680 w 2640"/>
                <a:gd name="T13" fmla="*/ 40 h 608"/>
                <a:gd name="T14" fmla="*/ 2064 w 2640"/>
                <a:gd name="T15" fmla="*/ 568 h 608"/>
                <a:gd name="T16" fmla="*/ 2400 w 2640"/>
                <a:gd name="T17" fmla="*/ 40 h 608"/>
                <a:gd name="T18" fmla="*/ 2640 w 2640"/>
                <a:gd name="T19" fmla="*/ 328 h 6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40" h="608">
                  <a:moveTo>
                    <a:pt x="0" y="280"/>
                  </a:moveTo>
                  <a:cubicBezTo>
                    <a:pt x="64" y="160"/>
                    <a:pt x="128" y="40"/>
                    <a:pt x="192" y="40"/>
                  </a:cubicBezTo>
                  <a:cubicBezTo>
                    <a:pt x="256" y="40"/>
                    <a:pt x="320" y="192"/>
                    <a:pt x="384" y="280"/>
                  </a:cubicBezTo>
                  <a:cubicBezTo>
                    <a:pt x="448" y="368"/>
                    <a:pt x="488" y="608"/>
                    <a:pt x="576" y="568"/>
                  </a:cubicBezTo>
                  <a:cubicBezTo>
                    <a:pt x="664" y="528"/>
                    <a:pt x="792" y="40"/>
                    <a:pt x="912" y="40"/>
                  </a:cubicBezTo>
                  <a:cubicBezTo>
                    <a:pt x="1032" y="40"/>
                    <a:pt x="1168" y="568"/>
                    <a:pt x="1296" y="568"/>
                  </a:cubicBezTo>
                  <a:cubicBezTo>
                    <a:pt x="1424" y="568"/>
                    <a:pt x="1552" y="40"/>
                    <a:pt x="1680" y="40"/>
                  </a:cubicBezTo>
                  <a:cubicBezTo>
                    <a:pt x="1808" y="40"/>
                    <a:pt x="1944" y="568"/>
                    <a:pt x="2064" y="568"/>
                  </a:cubicBezTo>
                  <a:cubicBezTo>
                    <a:pt x="2184" y="568"/>
                    <a:pt x="2304" y="80"/>
                    <a:pt x="2400" y="40"/>
                  </a:cubicBezTo>
                  <a:cubicBezTo>
                    <a:pt x="2496" y="0"/>
                    <a:pt x="2568" y="164"/>
                    <a:pt x="2640" y="328"/>
                  </a:cubicBezTo>
                </a:path>
              </a:pathLst>
            </a:custGeom>
            <a:noFill/>
            <a:ln w="9525">
              <a:solidFill>
                <a:srgbClr val="FF33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1" name="文本框 188518">
              <a:extLst>
                <a:ext uri="{FF2B5EF4-FFF2-40B4-BE49-F238E27FC236}">
                  <a16:creationId xmlns:a16="http://schemas.microsoft.com/office/drawing/2014/main" xmlns="" id="{0591B225-64CD-E440-A756-E3830B3E956F}"/>
                </a:ext>
              </a:extLst>
            </p:cNvPr>
            <p:cNvSpPr txBox="1">
              <a:spLocks noChangeArrowheads="1"/>
            </p:cNvSpPr>
            <p:nvPr/>
          </p:nvSpPr>
          <p:spPr bwMode="auto">
            <a:xfrm>
              <a:off x="2274" y="2833"/>
              <a:ext cx="268"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800" i="1">
                  <a:solidFill>
                    <a:srgbClr val="FF3300"/>
                  </a:solidFill>
                </a:rPr>
                <a:t>i</a:t>
              </a:r>
              <a:r>
                <a:rPr lang="en-US" altLang="zh-CN" sz="1800" i="1" baseline="-25000">
                  <a:solidFill>
                    <a:srgbClr val="FF3300"/>
                  </a:solidFill>
                </a:rPr>
                <a:t>C1</a:t>
              </a:r>
              <a:endParaRPr lang="en-US" altLang="zh-CN" sz="1800" i="1">
                <a:solidFill>
                  <a:srgbClr val="FF3300"/>
                </a:solidFill>
              </a:endParaRPr>
            </a:p>
          </p:txBody>
        </p:sp>
      </p:grpSp>
      <p:grpSp>
        <p:nvGrpSpPr>
          <p:cNvPr id="102" name="组合 101">
            <a:extLst>
              <a:ext uri="{FF2B5EF4-FFF2-40B4-BE49-F238E27FC236}">
                <a16:creationId xmlns:a16="http://schemas.microsoft.com/office/drawing/2014/main" xmlns="" id="{926608C8-67B5-E2D4-8D0E-DC7092668B56}"/>
              </a:ext>
            </a:extLst>
          </p:cNvPr>
          <p:cNvGrpSpPr>
            <a:grpSpLocks/>
          </p:cNvGrpSpPr>
          <p:nvPr/>
        </p:nvGrpSpPr>
        <p:grpSpPr bwMode="auto">
          <a:xfrm>
            <a:off x="823913" y="3199532"/>
            <a:ext cx="4083050" cy="1171575"/>
            <a:chOff x="576" y="2833"/>
            <a:chExt cx="2572" cy="655"/>
          </a:xfrm>
        </p:grpSpPr>
        <p:sp>
          <p:nvSpPr>
            <p:cNvPr id="103" name="任意多边形 188520">
              <a:extLst>
                <a:ext uri="{FF2B5EF4-FFF2-40B4-BE49-F238E27FC236}">
                  <a16:creationId xmlns:a16="http://schemas.microsoft.com/office/drawing/2014/main" xmlns="" id="{71797641-1766-F2B6-E1A5-27E502AD2DF0}"/>
                </a:ext>
              </a:extLst>
            </p:cNvPr>
            <p:cNvSpPr>
              <a:spLocks noChangeArrowheads="1"/>
            </p:cNvSpPr>
            <p:nvPr/>
          </p:nvSpPr>
          <p:spPr bwMode="auto">
            <a:xfrm>
              <a:off x="576" y="2880"/>
              <a:ext cx="2572" cy="608"/>
            </a:xfrm>
            <a:custGeom>
              <a:avLst/>
              <a:gdLst>
                <a:gd name="T0" fmla="*/ 0 w 2640"/>
                <a:gd name="T1" fmla="*/ 280 h 608"/>
                <a:gd name="T2" fmla="*/ 192 w 2640"/>
                <a:gd name="T3" fmla="*/ 40 h 608"/>
                <a:gd name="T4" fmla="*/ 384 w 2640"/>
                <a:gd name="T5" fmla="*/ 280 h 608"/>
                <a:gd name="T6" fmla="*/ 576 w 2640"/>
                <a:gd name="T7" fmla="*/ 568 h 608"/>
                <a:gd name="T8" fmla="*/ 912 w 2640"/>
                <a:gd name="T9" fmla="*/ 40 h 608"/>
                <a:gd name="T10" fmla="*/ 1296 w 2640"/>
                <a:gd name="T11" fmla="*/ 568 h 608"/>
                <a:gd name="T12" fmla="*/ 1680 w 2640"/>
                <a:gd name="T13" fmla="*/ 40 h 608"/>
                <a:gd name="T14" fmla="*/ 2064 w 2640"/>
                <a:gd name="T15" fmla="*/ 568 h 608"/>
                <a:gd name="T16" fmla="*/ 2400 w 2640"/>
                <a:gd name="T17" fmla="*/ 40 h 608"/>
                <a:gd name="T18" fmla="*/ 2640 w 2640"/>
                <a:gd name="T19" fmla="*/ 328 h 6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40" h="608">
                  <a:moveTo>
                    <a:pt x="0" y="280"/>
                  </a:moveTo>
                  <a:cubicBezTo>
                    <a:pt x="64" y="160"/>
                    <a:pt x="128" y="40"/>
                    <a:pt x="192" y="40"/>
                  </a:cubicBezTo>
                  <a:cubicBezTo>
                    <a:pt x="256" y="40"/>
                    <a:pt x="320" y="192"/>
                    <a:pt x="384" y="280"/>
                  </a:cubicBezTo>
                  <a:cubicBezTo>
                    <a:pt x="448" y="368"/>
                    <a:pt x="488" y="608"/>
                    <a:pt x="576" y="568"/>
                  </a:cubicBezTo>
                  <a:cubicBezTo>
                    <a:pt x="664" y="528"/>
                    <a:pt x="792" y="40"/>
                    <a:pt x="912" y="40"/>
                  </a:cubicBezTo>
                  <a:cubicBezTo>
                    <a:pt x="1032" y="40"/>
                    <a:pt x="1168" y="568"/>
                    <a:pt x="1296" y="568"/>
                  </a:cubicBezTo>
                  <a:cubicBezTo>
                    <a:pt x="1424" y="568"/>
                    <a:pt x="1552" y="40"/>
                    <a:pt x="1680" y="40"/>
                  </a:cubicBezTo>
                  <a:cubicBezTo>
                    <a:pt x="1808" y="40"/>
                    <a:pt x="1944" y="568"/>
                    <a:pt x="2064" y="568"/>
                  </a:cubicBezTo>
                  <a:cubicBezTo>
                    <a:pt x="2184" y="568"/>
                    <a:pt x="2304" y="80"/>
                    <a:pt x="2400" y="40"/>
                  </a:cubicBezTo>
                  <a:cubicBezTo>
                    <a:pt x="2496" y="0"/>
                    <a:pt x="2568" y="164"/>
                    <a:pt x="2640" y="328"/>
                  </a:cubicBezTo>
                </a:path>
              </a:pathLst>
            </a:custGeom>
            <a:noFill/>
            <a:ln w="9525">
              <a:solidFill>
                <a:srgbClr val="FF33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4" name="文本框 188521">
              <a:extLst>
                <a:ext uri="{FF2B5EF4-FFF2-40B4-BE49-F238E27FC236}">
                  <a16:creationId xmlns:a16="http://schemas.microsoft.com/office/drawing/2014/main" xmlns="" id="{2932954A-B2F7-05C2-05AB-BEAEE34598A1}"/>
                </a:ext>
              </a:extLst>
            </p:cNvPr>
            <p:cNvSpPr txBox="1">
              <a:spLocks noChangeArrowheads="1"/>
            </p:cNvSpPr>
            <p:nvPr/>
          </p:nvSpPr>
          <p:spPr bwMode="auto">
            <a:xfrm>
              <a:off x="2274" y="2833"/>
              <a:ext cx="268"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800" i="1">
                  <a:solidFill>
                    <a:srgbClr val="FF3300"/>
                  </a:solidFill>
                </a:rPr>
                <a:t>i</a:t>
              </a:r>
              <a:r>
                <a:rPr lang="en-US" altLang="zh-CN" sz="1800" i="1" baseline="-25000">
                  <a:solidFill>
                    <a:srgbClr val="FF3300"/>
                  </a:solidFill>
                </a:rPr>
                <a:t>C1</a:t>
              </a:r>
              <a:endParaRPr lang="en-US" altLang="zh-CN" sz="1800" i="1">
                <a:solidFill>
                  <a:srgbClr val="FF3300"/>
                </a:solidFill>
              </a:endParaRPr>
            </a:p>
          </p:txBody>
        </p:sp>
      </p:grpSp>
      <p:grpSp>
        <p:nvGrpSpPr>
          <p:cNvPr id="105" name="组合 104">
            <a:extLst>
              <a:ext uri="{FF2B5EF4-FFF2-40B4-BE49-F238E27FC236}">
                <a16:creationId xmlns:a16="http://schemas.microsoft.com/office/drawing/2014/main" xmlns="" id="{07AAAB4C-EC34-AA78-2898-4EC7170CB6E5}"/>
              </a:ext>
            </a:extLst>
          </p:cNvPr>
          <p:cNvGrpSpPr>
            <a:grpSpLocks/>
          </p:cNvGrpSpPr>
          <p:nvPr/>
        </p:nvGrpSpPr>
        <p:grpSpPr bwMode="auto">
          <a:xfrm>
            <a:off x="976313" y="3275732"/>
            <a:ext cx="3624263" cy="741362"/>
            <a:chOff x="576" y="3120"/>
            <a:chExt cx="2283" cy="415"/>
          </a:xfrm>
        </p:grpSpPr>
        <p:sp>
          <p:nvSpPr>
            <p:cNvPr id="106" name="任意多边形 188523">
              <a:extLst>
                <a:ext uri="{FF2B5EF4-FFF2-40B4-BE49-F238E27FC236}">
                  <a16:creationId xmlns:a16="http://schemas.microsoft.com/office/drawing/2014/main" xmlns="" id="{1242B419-4E6E-65F0-D7F9-BEEC925F314A}"/>
                </a:ext>
              </a:extLst>
            </p:cNvPr>
            <p:cNvSpPr>
              <a:spLocks noChangeArrowheads="1"/>
            </p:cNvSpPr>
            <p:nvPr/>
          </p:nvSpPr>
          <p:spPr bwMode="auto">
            <a:xfrm>
              <a:off x="576" y="3264"/>
              <a:ext cx="2283" cy="271"/>
            </a:xfrm>
            <a:custGeom>
              <a:avLst/>
              <a:gdLst>
                <a:gd name="T0" fmla="*/ 0 w 4500"/>
                <a:gd name="T1" fmla="*/ 364 h 676"/>
                <a:gd name="T2" fmla="*/ 180 w 4500"/>
                <a:gd name="T3" fmla="*/ 52 h 676"/>
                <a:gd name="T4" fmla="*/ 540 w 4500"/>
                <a:gd name="T5" fmla="*/ 676 h 676"/>
                <a:gd name="T6" fmla="*/ 900 w 4500"/>
                <a:gd name="T7" fmla="*/ 52 h 676"/>
                <a:gd name="T8" fmla="*/ 1260 w 4500"/>
                <a:gd name="T9" fmla="*/ 676 h 676"/>
                <a:gd name="T10" fmla="*/ 1620 w 4500"/>
                <a:gd name="T11" fmla="*/ 52 h 676"/>
                <a:gd name="T12" fmla="*/ 1980 w 4500"/>
                <a:gd name="T13" fmla="*/ 676 h 676"/>
                <a:gd name="T14" fmla="*/ 2340 w 4500"/>
                <a:gd name="T15" fmla="*/ 52 h 676"/>
                <a:gd name="T16" fmla="*/ 2700 w 4500"/>
                <a:gd name="T17" fmla="*/ 676 h 676"/>
                <a:gd name="T18" fmla="*/ 3060 w 4500"/>
                <a:gd name="T19" fmla="*/ 52 h 676"/>
                <a:gd name="T20" fmla="*/ 3420 w 4500"/>
                <a:gd name="T21" fmla="*/ 676 h 676"/>
                <a:gd name="T22" fmla="*/ 3780 w 4500"/>
                <a:gd name="T23" fmla="*/ 52 h 676"/>
                <a:gd name="T24" fmla="*/ 4140 w 4500"/>
                <a:gd name="T25" fmla="*/ 676 h 676"/>
                <a:gd name="T26" fmla="*/ 4500 w 4500"/>
                <a:gd name="T27" fmla="*/ 52 h 6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500" h="676">
                  <a:moveTo>
                    <a:pt x="0" y="364"/>
                  </a:moveTo>
                  <a:cubicBezTo>
                    <a:pt x="45" y="182"/>
                    <a:pt x="90" y="0"/>
                    <a:pt x="180" y="52"/>
                  </a:cubicBezTo>
                  <a:cubicBezTo>
                    <a:pt x="270" y="104"/>
                    <a:pt x="420" y="676"/>
                    <a:pt x="540" y="676"/>
                  </a:cubicBezTo>
                  <a:cubicBezTo>
                    <a:pt x="660" y="676"/>
                    <a:pt x="780" y="52"/>
                    <a:pt x="900" y="52"/>
                  </a:cubicBezTo>
                  <a:cubicBezTo>
                    <a:pt x="1020" y="52"/>
                    <a:pt x="1140" y="676"/>
                    <a:pt x="1260" y="676"/>
                  </a:cubicBezTo>
                  <a:cubicBezTo>
                    <a:pt x="1380" y="676"/>
                    <a:pt x="1500" y="52"/>
                    <a:pt x="1620" y="52"/>
                  </a:cubicBezTo>
                  <a:cubicBezTo>
                    <a:pt x="1740" y="52"/>
                    <a:pt x="1860" y="676"/>
                    <a:pt x="1980" y="676"/>
                  </a:cubicBezTo>
                  <a:cubicBezTo>
                    <a:pt x="2100" y="676"/>
                    <a:pt x="2220" y="52"/>
                    <a:pt x="2340" y="52"/>
                  </a:cubicBezTo>
                  <a:cubicBezTo>
                    <a:pt x="2460" y="52"/>
                    <a:pt x="2580" y="676"/>
                    <a:pt x="2700" y="676"/>
                  </a:cubicBezTo>
                  <a:cubicBezTo>
                    <a:pt x="2820" y="676"/>
                    <a:pt x="2940" y="52"/>
                    <a:pt x="3060" y="52"/>
                  </a:cubicBezTo>
                  <a:cubicBezTo>
                    <a:pt x="3180" y="52"/>
                    <a:pt x="3300" y="676"/>
                    <a:pt x="3420" y="676"/>
                  </a:cubicBezTo>
                  <a:cubicBezTo>
                    <a:pt x="3540" y="676"/>
                    <a:pt x="3660" y="52"/>
                    <a:pt x="3780" y="52"/>
                  </a:cubicBezTo>
                  <a:cubicBezTo>
                    <a:pt x="3900" y="52"/>
                    <a:pt x="4020" y="676"/>
                    <a:pt x="4140" y="676"/>
                  </a:cubicBezTo>
                  <a:cubicBezTo>
                    <a:pt x="4260" y="676"/>
                    <a:pt x="4440" y="156"/>
                    <a:pt x="4500" y="52"/>
                  </a:cubicBez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7" name="文本框 188524">
              <a:extLst>
                <a:ext uri="{FF2B5EF4-FFF2-40B4-BE49-F238E27FC236}">
                  <a16:creationId xmlns:a16="http://schemas.microsoft.com/office/drawing/2014/main" xmlns="" id="{BF207F92-55FD-771D-A68C-3803BB4E5460}"/>
                </a:ext>
              </a:extLst>
            </p:cNvPr>
            <p:cNvSpPr txBox="1">
              <a:spLocks noChangeArrowheads="1"/>
            </p:cNvSpPr>
            <p:nvPr/>
          </p:nvSpPr>
          <p:spPr bwMode="auto">
            <a:xfrm>
              <a:off x="1008" y="3120"/>
              <a:ext cx="268"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800" i="1">
                  <a:solidFill>
                    <a:schemeClr val="accent2"/>
                  </a:solidFill>
                </a:rPr>
                <a:t>i</a:t>
              </a:r>
              <a:r>
                <a:rPr lang="en-US" altLang="zh-CN" sz="1800" i="1" baseline="-25000">
                  <a:solidFill>
                    <a:schemeClr val="accent2"/>
                  </a:solidFill>
                </a:rPr>
                <a:t>C2</a:t>
              </a:r>
              <a:endParaRPr lang="en-US" altLang="zh-CN" sz="1800" i="1">
                <a:solidFill>
                  <a:schemeClr val="accent2"/>
                </a:solidFill>
              </a:endParaRPr>
            </a:p>
          </p:txBody>
        </p:sp>
      </p:grpSp>
      <p:grpSp>
        <p:nvGrpSpPr>
          <p:cNvPr id="108" name="组合 107">
            <a:extLst>
              <a:ext uri="{FF2B5EF4-FFF2-40B4-BE49-F238E27FC236}">
                <a16:creationId xmlns:a16="http://schemas.microsoft.com/office/drawing/2014/main" xmlns="" id="{1242DE5A-C7B2-304F-96E8-FE869D7157B5}"/>
              </a:ext>
            </a:extLst>
          </p:cNvPr>
          <p:cNvGrpSpPr>
            <a:grpSpLocks/>
          </p:cNvGrpSpPr>
          <p:nvPr/>
        </p:nvGrpSpPr>
        <p:grpSpPr bwMode="auto">
          <a:xfrm>
            <a:off x="976313" y="3275732"/>
            <a:ext cx="3624263" cy="741362"/>
            <a:chOff x="576" y="3120"/>
            <a:chExt cx="2283" cy="415"/>
          </a:xfrm>
        </p:grpSpPr>
        <p:sp>
          <p:nvSpPr>
            <p:cNvPr id="109" name="任意多边形 188526">
              <a:extLst>
                <a:ext uri="{FF2B5EF4-FFF2-40B4-BE49-F238E27FC236}">
                  <a16:creationId xmlns:a16="http://schemas.microsoft.com/office/drawing/2014/main" xmlns="" id="{A980F896-6ADE-7A4B-9037-F91363A2C69A}"/>
                </a:ext>
              </a:extLst>
            </p:cNvPr>
            <p:cNvSpPr>
              <a:spLocks noChangeArrowheads="1"/>
            </p:cNvSpPr>
            <p:nvPr/>
          </p:nvSpPr>
          <p:spPr bwMode="auto">
            <a:xfrm>
              <a:off x="576" y="3264"/>
              <a:ext cx="2283" cy="271"/>
            </a:xfrm>
            <a:custGeom>
              <a:avLst/>
              <a:gdLst>
                <a:gd name="T0" fmla="*/ 0 w 4500"/>
                <a:gd name="T1" fmla="*/ 364 h 676"/>
                <a:gd name="T2" fmla="*/ 180 w 4500"/>
                <a:gd name="T3" fmla="*/ 52 h 676"/>
                <a:gd name="T4" fmla="*/ 540 w 4500"/>
                <a:gd name="T5" fmla="*/ 676 h 676"/>
                <a:gd name="T6" fmla="*/ 900 w 4500"/>
                <a:gd name="T7" fmla="*/ 52 h 676"/>
                <a:gd name="T8" fmla="*/ 1260 w 4500"/>
                <a:gd name="T9" fmla="*/ 676 h 676"/>
                <a:gd name="T10" fmla="*/ 1620 w 4500"/>
                <a:gd name="T11" fmla="*/ 52 h 676"/>
                <a:gd name="T12" fmla="*/ 1980 w 4500"/>
                <a:gd name="T13" fmla="*/ 676 h 676"/>
                <a:gd name="T14" fmla="*/ 2340 w 4500"/>
                <a:gd name="T15" fmla="*/ 52 h 676"/>
                <a:gd name="T16" fmla="*/ 2700 w 4500"/>
                <a:gd name="T17" fmla="*/ 676 h 676"/>
                <a:gd name="T18" fmla="*/ 3060 w 4500"/>
                <a:gd name="T19" fmla="*/ 52 h 676"/>
                <a:gd name="T20" fmla="*/ 3420 w 4500"/>
                <a:gd name="T21" fmla="*/ 676 h 676"/>
                <a:gd name="T22" fmla="*/ 3780 w 4500"/>
                <a:gd name="T23" fmla="*/ 52 h 676"/>
                <a:gd name="T24" fmla="*/ 4140 w 4500"/>
                <a:gd name="T25" fmla="*/ 676 h 676"/>
                <a:gd name="T26" fmla="*/ 4500 w 4500"/>
                <a:gd name="T27" fmla="*/ 52 h 6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500" h="676">
                  <a:moveTo>
                    <a:pt x="0" y="364"/>
                  </a:moveTo>
                  <a:cubicBezTo>
                    <a:pt x="45" y="182"/>
                    <a:pt x="90" y="0"/>
                    <a:pt x="180" y="52"/>
                  </a:cubicBezTo>
                  <a:cubicBezTo>
                    <a:pt x="270" y="104"/>
                    <a:pt x="420" y="676"/>
                    <a:pt x="540" y="676"/>
                  </a:cubicBezTo>
                  <a:cubicBezTo>
                    <a:pt x="660" y="676"/>
                    <a:pt x="780" y="52"/>
                    <a:pt x="900" y="52"/>
                  </a:cubicBezTo>
                  <a:cubicBezTo>
                    <a:pt x="1020" y="52"/>
                    <a:pt x="1140" y="676"/>
                    <a:pt x="1260" y="676"/>
                  </a:cubicBezTo>
                  <a:cubicBezTo>
                    <a:pt x="1380" y="676"/>
                    <a:pt x="1500" y="52"/>
                    <a:pt x="1620" y="52"/>
                  </a:cubicBezTo>
                  <a:cubicBezTo>
                    <a:pt x="1740" y="52"/>
                    <a:pt x="1860" y="676"/>
                    <a:pt x="1980" y="676"/>
                  </a:cubicBezTo>
                  <a:cubicBezTo>
                    <a:pt x="2100" y="676"/>
                    <a:pt x="2220" y="52"/>
                    <a:pt x="2340" y="52"/>
                  </a:cubicBezTo>
                  <a:cubicBezTo>
                    <a:pt x="2460" y="52"/>
                    <a:pt x="2580" y="676"/>
                    <a:pt x="2700" y="676"/>
                  </a:cubicBezTo>
                  <a:cubicBezTo>
                    <a:pt x="2820" y="676"/>
                    <a:pt x="2940" y="52"/>
                    <a:pt x="3060" y="52"/>
                  </a:cubicBezTo>
                  <a:cubicBezTo>
                    <a:pt x="3180" y="52"/>
                    <a:pt x="3300" y="676"/>
                    <a:pt x="3420" y="676"/>
                  </a:cubicBezTo>
                  <a:cubicBezTo>
                    <a:pt x="3540" y="676"/>
                    <a:pt x="3660" y="52"/>
                    <a:pt x="3780" y="52"/>
                  </a:cubicBezTo>
                  <a:cubicBezTo>
                    <a:pt x="3900" y="52"/>
                    <a:pt x="4020" y="676"/>
                    <a:pt x="4140" y="676"/>
                  </a:cubicBezTo>
                  <a:cubicBezTo>
                    <a:pt x="4260" y="676"/>
                    <a:pt x="4440" y="156"/>
                    <a:pt x="4500" y="52"/>
                  </a:cubicBez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0" name="文本框 188527">
              <a:extLst>
                <a:ext uri="{FF2B5EF4-FFF2-40B4-BE49-F238E27FC236}">
                  <a16:creationId xmlns:a16="http://schemas.microsoft.com/office/drawing/2014/main" xmlns="" id="{745C0D6C-9224-E08C-19C4-5097B55197A2}"/>
                </a:ext>
              </a:extLst>
            </p:cNvPr>
            <p:cNvSpPr txBox="1">
              <a:spLocks noChangeArrowheads="1"/>
            </p:cNvSpPr>
            <p:nvPr/>
          </p:nvSpPr>
          <p:spPr bwMode="auto">
            <a:xfrm>
              <a:off x="1008" y="3120"/>
              <a:ext cx="268"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800" i="1">
                  <a:solidFill>
                    <a:schemeClr val="accent2"/>
                  </a:solidFill>
                </a:rPr>
                <a:t>i</a:t>
              </a:r>
              <a:r>
                <a:rPr lang="en-US" altLang="zh-CN" sz="1800" i="1" baseline="-25000">
                  <a:solidFill>
                    <a:schemeClr val="accent2"/>
                  </a:solidFill>
                </a:rPr>
                <a:t>C2</a:t>
              </a:r>
              <a:endParaRPr lang="en-US" altLang="zh-CN" sz="1800" i="1">
                <a:solidFill>
                  <a:schemeClr val="accent2"/>
                </a:solidFill>
              </a:endParaRPr>
            </a:p>
          </p:txBody>
        </p:sp>
      </p:grpSp>
      <p:grpSp>
        <p:nvGrpSpPr>
          <p:cNvPr id="111" name="组合 110">
            <a:extLst>
              <a:ext uri="{FF2B5EF4-FFF2-40B4-BE49-F238E27FC236}">
                <a16:creationId xmlns:a16="http://schemas.microsoft.com/office/drawing/2014/main" xmlns="" id="{E6FA39BC-16A4-207A-469A-85D0ACF82122}"/>
              </a:ext>
            </a:extLst>
          </p:cNvPr>
          <p:cNvGrpSpPr>
            <a:grpSpLocks/>
          </p:cNvGrpSpPr>
          <p:nvPr/>
        </p:nvGrpSpPr>
        <p:grpSpPr bwMode="auto">
          <a:xfrm>
            <a:off x="976313" y="3275732"/>
            <a:ext cx="3624263" cy="741362"/>
            <a:chOff x="576" y="3120"/>
            <a:chExt cx="2283" cy="415"/>
          </a:xfrm>
        </p:grpSpPr>
        <p:sp>
          <p:nvSpPr>
            <p:cNvPr id="112" name="任意多边形 188529">
              <a:extLst>
                <a:ext uri="{FF2B5EF4-FFF2-40B4-BE49-F238E27FC236}">
                  <a16:creationId xmlns:a16="http://schemas.microsoft.com/office/drawing/2014/main" xmlns="" id="{85B65EC3-888F-B3D0-58A2-DFA00DD0B12E}"/>
                </a:ext>
              </a:extLst>
            </p:cNvPr>
            <p:cNvSpPr>
              <a:spLocks noChangeArrowheads="1"/>
            </p:cNvSpPr>
            <p:nvPr/>
          </p:nvSpPr>
          <p:spPr bwMode="auto">
            <a:xfrm>
              <a:off x="576" y="3264"/>
              <a:ext cx="2283" cy="271"/>
            </a:xfrm>
            <a:custGeom>
              <a:avLst/>
              <a:gdLst>
                <a:gd name="T0" fmla="*/ 0 w 4500"/>
                <a:gd name="T1" fmla="*/ 364 h 676"/>
                <a:gd name="T2" fmla="*/ 180 w 4500"/>
                <a:gd name="T3" fmla="*/ 52 h 676"/>
                <a:gd name="T4" fmla="*/ 540 w 4500"/>
                <a:gd name="T5" fmla="*/ 676 h 676"/>
                <a:gd name="T6" fmla="*/ 900 w 4500"/>
                <a:gd name="T7" fmla="*/ 52 h 676"/>
                <a:gd name="T8" fmla="*/ 1260 w 4500"/>
                <a:gd name="T9" fmla="*/ 676 h 676"/>
                <a:gd name="T10" fmla="*/ 1620 w 4500"/>
                <a:gd name="T11" fmla="*/ 52 h 676"/>
                <a:gd name="T12" fmla="*/ 1980 w 4500"/>
                <a:gd name="T13" fmla="*/ 676 h 676"/>
                <a:gd name="T14" fmla="*/ 2340 w 4500"/>
                <a:gd name="T15" fmla="*/ 52 h 676"/>
                <a:gd name="T16" fmla="*/ 2700 w 4500"/>
                <a:gd name="T17" fmla="*/ 676 h 676"/>
                <a:gd name="T18" fmla="*/ 3060 w 4500"/>
                <a:gd name="T19" fmla="*/ 52 h 676"/>
                <a:gd name="T20" fmla="*/ 3420 w 4500"/>
                <a:gd name="T21" fmla="*/ 676 h 676"/>
                <a:gd name="T22" fmla="*/ 3780 w 4500"/>
                <a:gd name="T23" fmla="*/ 52 h 676"/>
                <a:gd name="T24" fmla="*/ 4140 w 4500"/>
                <a:gd name="T25" fmla="*/ 676 h 676"/>
                <a:gd name="T26" fmla="*/ 4500 w 4500"/>
                <a:gd name="T27" fmla="*/ 52 h 6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500" h="676">
                  <a:moveTo>
                    <a:pt x="0" y="364"/>
                  </a:moveTo>
                  <a:cubicBezTo>
                    <a:pt x="45" y="182"/>
                    <a:pt x="90" y="0"/>
                    <a:pt x="180" y="52"/>
                  </a:cubicBezTo>
                  <a:cubicBezTo>
                    <a:pt x="270" y="104"/>
                    <a:pt x="420" y="676"/>
                    <a:pt x="540" y="676"/>
                  </a:cubicBezTo>
                  <a:cubicBezTo>
                    <a:pt x="660" y="676"/>
                    <a:pt x="780" y="52"/>
                    <a:pt x="900" y="52"/>
                  </a:cubicBezTo>
                  <a:cubicBezTo>
                    <a:pt x="1020" y="52"/>
                    <a:pt x="1140" y="676"/>
                    <a:pt x="1260" y="676"/>
                  </a:cubicBezTo>
                  <a:cubicBezTo>
                    <a:pt x="1380" y="676"/>
                    <a:pt x="1500" y="52"/>
                    <a:pt x="1620" y="52"/>
                  </a:cubicBezTo>
                  <a:cubicBezTo>
                    <a:pt x="1740" y="52"/>
                    <a:pt x="1860" y="676"/>
                    <a:pt x="1980" y="676"/>
                  </a:cubicBezTo>
                  <a:cubicBezTo>
                    <a:pt x="2100" y="676"/>
                    <a:pt x="2220" y="52"/>
                    <a:pt x="2340" y="52"/>
                  </a:cubicBezTo>
                  <a:cubicBezTo>
                    <a:pt x="2460" y="52"/>
                    <a:pt x="2580" y="676"/>
                    <a:pt x="2700" y="676"/>
                  </a:cubicBezTo>
                  <a:cubicBezTo>
                    <a:pt x="2820" y="676"/>
                    <a:pt x="2940" y="52"/>
                    <a:pt x="3060" y="52"/>
                  </a:cubicBezTo>
                  <a:cubicBezTo>
                    <a:pt x="3180" y="52"/>
                    <a:pt x="3300" y="676"/>
                    <a:pt x="3420" y="676"/>
                  </a:cubicBezTo>
                  <a:cubicBezTo>
                    <a:pt x="3540" y="676"/>
                    <a:pt x="3660" y="52"/>
                    <a:pt x="3780" y="52"/>
                  </a:cubicBezTo>
                  <a:cubicBezTo>
                    <a:pt x="3900" y="52"/>
                    <a:pt x="4020" y="676"/>
                    <a:pt x="4140" y="676"/>
                  </a:cubicBezTo>
                  <a:cubicBezTo>
                    <a:pt x="4260" y="676"/>
                    <a:pt x="4440" y="156"/>
                    <a:pt x="4500" y="52"/>
                  </a:cubicBez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3" name="文本框 188530">
              <a:extLst>
                <a:ext uri="{FF2B5EF4-FFF2-40B4-BE49-F238E27FC236}">
                  <a16:creationId xmlns:a16="http://schemas.microsoft.com/office/drawing/2014/main" xmlns="" id="{7AB0C1F9-4846-855A-9C04-C7008741271C}"/>
                </a:ext>
              </a:extLst>
            </p:cNvPr>
            <p:cNvSpPr txBox="1">
              <a:spLocks noChangeArrowheads="1"/>
            </p:cNvSpPr>
            <p:nvPr/>
          </p:nvSpPr>
          <p:spPr bwMode="auto">
            <a:xfrm>
              <a:off x="1008" y="3120"/>
              <a:ext cx="268"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800" i="1">
                  <a:solidFill>
                    <a:schemeClr val="accent2"/>
                  </a:solidFill>
                </a:rPr>
                <a:t>i</a:t>
              </a:r>
              <a:r>
                <a:rPr lang="en-US" altLang="zh-CN" sz="1800" i="1" baseline="-25000">
                  <a:solidFill>
                    <a:schemeClr val="accent2"/>
                  </a:solidFill>
                </a:rPr>
                <a:t>C2</a:t>
              </a:r>
              <a:endParaRPr lang="en-US" altLang="zh-CN" sz="1800" i="1">
                <a:solidFill>
                  <a:schemeClr val="accent2"/>
                </a:solidFill>
              </a:endParaRPr>
            </a:p>
          </p:txBody>
        </p:sp>
      </p:grpSp>
      <p:graphicFrame>
        <p:nvGraphicFramePr>
          <p:cNvPr id="114" name="Object 4">
            <a:extLst>
              <a:ext uri="{FF2B5EF4-FFF2-40B4-BE49-F238E27FC236}">
                <a16:creationId xmlns:a16="http://schemas.microsoft.com/office/drawing/2014/main" xmlns="" id="{E4A87E67-2F29-5D52-FA93-4D33117FD392}"/>
              </a:ext>
            </a:extLst>
          </p:cNvPr>
          <p:cNvGraphicFramePr>
            <a:graphicFrameLocks/>
          </p:cNvGraphicFramePr>
          <p:nvPr>
            <p:extLst>
              <p:ext uri="{D42A27DB-BD31-4B8C-83A1-F6EECF244321}">
                <p14:modId xmlns:p14="http://schemas.microsoft.com/office/powerpoint/2010/main" val="1754574997"/>
              </p:ext>
            </p:extLst>
          </p:nvPr>
        </p:nvGraphicFramePr>
        <p:xfrm>
          <a:off x="5621338" y="2767732"/>
          <a:ext cx="3270250" cy="2012950"/>
        </p:xfrm>
        <a:graphic>
          <a:graphicData uri="http://schemas.openxmlformats.org/presentationml/2006/ole">
            <mc:AlternateContent xmlns:mc="http://schemas.openxmlformats.org/markup-compatibility/2006">
              <mc:Choice xmlns:v="urn:schemas-microsoft-com:vml" Requires="v">
                <p:oleObj spid="_x0000_s122091" r:id="rId13" imgW="2907000" imgH="1765440" progId="Word.Picture.8">
                  <p:embed/>
                </p:oleObj>
              </mc:Choice>
              <mc:Fallback>
                <p:oleObj r:id="rId13" imgW="2907000" imgH="1765440" progId="Word.Picture.8">
                  <p:embed/>
                  <p:pic>
                    <p:nvPicPr>
                      <p:cNvPr id="0" name=""/>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621338" y="2767732"/>
                        <a:ext cx="3270250" cy="201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771853328"/>
      </p:ext>
    </p:extLst>
  </p:cSld>
  <p:clrMapOvr>
    <a:masterClrMapping/>
  </p:clrMapOvr>
  <p:timing>
    <p:tnLst>
      <p:par>
        <p:cTn id="1" dur="indefinite" restart="never" nodeType="tmRoot"/>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158</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Rectangle 7"/>
          <p:cNvSpPr>
            <a:spLocks noChangeArrowheads="1"/>
          </p:cNvSpPr>
          <p:nvPr/>
        </p:nvSpPr>
        <p:spPr bwMode="auto">
          <a:xfrm>
            <a:off x="635000" y="1557338"/>
            <a:ext cx="7848600" cy="4228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defRPr/>
            </a:pPr>
            <a:r>
              <a:rPr lang="en-US" altLang="zh-CN" sz="3200" dirty="0" smtClean="0">
                <a:ln w="0"/>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1  </a:t>
            </a:r>
            <a:r>
              <a:rPr lang="zh-CN" altLang="en-US" sz="3200" dirty="0" smtClean="0">
                <a:ln w="0"/>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通信电子线路概论</a:t>
            </a:r>
            <a:endParaRPr lang="en-US" altLang="zh-CN" sz="3200" dirty="0" smtClean="0">
              <a:ln w="0"/>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endParaRPr>
          </a:p>
          <a:p>
            <a:pPr fontAlgn="base">
              <a:lnSpc>
                <a:spcPct val="120000"/>
              </a:lnSpc>
              <a:spcBef>
                <a:spcPct val="0"/>
              </a:spcBef>
              <a:spcAft>
                <a:spcPct val="0"/>
              </a:spcAft>
              <a:buFontTx/>
              <a:buNone/>
              <a:defRPr/>
            </a:pPr>
            <a:r>
              <a:rPr lang="en-US" altLang="zh-CN" sz="3200" dirty="0">
                <a:ln w="0"/>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2  </a:t>
            </a:r>
            <a:r>
              <a:rPr lang="zh-CN" altLang="en-US" sz="3200" dirty="0">
                <a:ln w="0"/>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高频基础电路</a:t>
            </a:r>
          </a:p>
          <a:p>
            <a:pPr fontAlgn="base">
              <a:lnSpc>
                <a:spcPct val="120000"/>
              </a:lnSpc>
              <a:spcBef>
                <a:spcPct val="0"/>
              </a:spcBef>
              <a:spcAft>
                <a:spcPct val="0"/>
              </a:spcAft>
              <a:buNone/>
              <a:defRPr/>
            </a:pPr>
            <a:r>
              <a:rPr lang="en-US" altLang="zh-CN" sz="3200" dirty="0" smtClean="0">
                <a:ln w="0"/>
                <a:solidFill>
                  <a:srgbClr val="00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3  </a:t>
            </a:r>
            <a:r>
              <a:rPr lang="zh-CN" altLang="en-US" sz="3200" dirty="0" smtClean="0">
                <a:ln w="0"/>
                <a:solidFill>
                  <a:srgbClr val="00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高频</a:t>
            </a:r>
            <a:r>
              <a:rPr lang="zh-CN" altLang="en-US" sz="3200" dirty="0">
                <a:ln w="0"/>
                <a:solidFill>
                  <a:srgbClr val="00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小信号</a:t>
            </a:r>
            <a:r>
              <a:rPr lang="zh-CN" altLang="en-US" sz="3200" dirty="0" smtClean="0">
                <a:ln w="0"/>
                <a:solidFill>
                  <a:srgbClr val="00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放大器</a:t>
            </a:r>
          </a:p>
          <a:p>
            <a:pPr fontAlgn="base">
              <a:lnSpc>
                <a:spcPct val="120000"/>
              </a:lnSpc>
              <a:spcBef>
                <a:spcPct val="0"/>
              </a:spcBef>
              <a:spcAft>
                <a:spcPct val="0"/>
              </a:spcAft>
              <a:buFontTx/>
              <a:buNone/>
              <a:defRPr/>
            </a:pPr>
            <a:r>
              <a:rPr lang="en-US" altLang="zh-CN" sz="3200" dirty="0" smtClean="0">
                <a:ln w="0"/>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4  </a:t>
            </a:r>
            <a:r>
              <a:rPr lang="zh-CN" altLang="en-US" sz="3200" dirty="0" smtClean="0">
                <a:ln w="0"/>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谐振功率放大器</a:t>
            </a:r>
          </a:p>
          <a:p>
            <a:pPr fontAlgn="base">
              <a:lnSpc>
                <a:spcPct val="120000"/>
              </a:lnSpc>
              <a:spcBef>
                <a:spcPct val="0"/>
              </a:spcBef>
              <a:spcAft>
                <a:spcPct val="0"/>
              </a:spcAft>
              <a:buFontTx/>
              <a:buNone/>
              <a:defRPr/>
            </a:pPr>
            <a:r>
              <a:rPr lang="en-US" altLang="zh-CN" sz="3200" dirty="0" smtClean="0">
                <a:ln w="0"/>
                <a:solidFill>
                  <a:srgbClr val="FF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5  </a:t>
            </a:r>
            <a:r>
              <a:rPr lang="zh-CN" altLang="en-US" sz="3200" dirty="0" smtClean="0">
                <a:ln w="0"/>
                <a:solidFill>
                  <a:srgbClr val="FF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正弦波振荡器</a:t>
            </a:r>
          </a:p>
          <a:p>
            <a:pPr fontAlgn="base">
              <a:lnSpc>
                <a:spcPct val="120000"/>
              </a:lnSpc>
              <a:spcBef>
                <a:spcPct val="0"/>
              </a:spcBef>
              <a:spcAft>
                <a:spcPct val="0"/>
              </a:spcAft>
              <a:buNone/>
              <a:defRPr/>
            </a:pPr>
            <a:r>
              <a:rPr lang="en-US" altLang="zh-CN" sz="3200" dirty="0" smtClean="0">
                <a:ln w="0"/>
                <a:solidFill>
                  <a:srgbClr val="00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6  </a:t>
            </a:r>
            <a:r>
              <a:rPr lang="zh-CN" altLang="en-US" sz="3200" dirty="0" smtClean="0">
                <a:ln w="0"/>
                <a:solidFill>
                  <a:srgbClr val="00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振幅调制</a:t>
            </a:r>
            <a:r>
              <a:rPr lang="zh-CN" altLang="en-US" sz="3200" dirty="0">
                <a:ln w="0"/>
                <a:solidFill>
                  <a:srgbClr val="00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与</a:t>
            </a:r>
            <a:r>
              <a:rPr lang="zh-CN" altLang="en-US" sz="3200" dirty="0" smtClean="0">
                <a:ln w="0"/>
                <a:solidFill>
                  <a:srgbClr val="00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解调</a:t>
            </a:r>
            <a:endParaRPr lang="en-US" altLang="zh-CN" sz="3200" dirty="0" smtClean="0">
              <a:ln w="0"/>
              <a:solidFill>
                <a:srgbClr val="00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endParaRPr>
          </a:p>
          <a:p>
            <a:pPr fontAlgn="base">
              <a:lnSpc>
                <a:spcPct val="120000"/>
              </a:lnSpc>
              <a:spcBef>
                <a:spcPct val="0"/>
              </a:spcBef>
              <a:spcAft>
                <a:spcPct val="0"/>
              </a:spcAft>
              <a:buNone/>
              <a:defRPr/>
            </a:pPr>
            <a:r>
              <a:rPr lang="en-US" altLang="zh-CN" sz="3200" dirty="0" smtClean="0">
                <a:ln w="0"/>
                <a:solidFill>
                  <a:srgbClr val="00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7  </a:t>
            </a:r>
            <a:r>
              <a:rPr lang="zh-CN" altLang="en-US" sz="3200" dirty="0" smtClean="0">
                <a:ln w="0"/>
                <a:solidFill>
                  <a:srgbClr val="00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角度</a:t>
            </a:r>
            <a:r>
              <a:rPr lang="zh-CN" altLang="en-US" sz="3200" dirty="0">
                <a:ln w="0"/>
                <a:solidFill>
                  <a:srgbClr val="00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调制与</a:t>
            </a:r>
            <a:r>
              <a:rPr lang="zh-CN" altLang="en-US" sz="3200" dirty="0" smtClean="0">
                <a:ln w="0"/>
                <a:solidFill>
                  <a:srgbClr val="00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解调</a:t>
            </a:r>
          </a:p>
        </p:txBody>
      </p:sp>
      <p:sp>
        <p:nvSpPr>
          <p:cNvPr id="5"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目录</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810475461"/>
      </p:ext>
    </p:extLst>
  </p:cSld>
  <p:clrMapOvr>
    <a:masterClrMapping/>
  </p:clrMapOvr>
  <p:timing>
    <p:tnLst>
      <p:par>
        <p:cT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159</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Rectangle 7">
            <a:extLst>
              <a:ext uri="{FF2B5EF4-FFF2-40B4-BE49-F238E27FC236}">
                <a16:creationId xmlns:a16="http://schemas.microsoft.com/office/drawing/2014/main" xmlns="" id="{FBEB9E99-6AE6-09D2-F6FA-ABDB234CCA20}"/>
              </a:ext>
            </a:extLst>
          </p:cNvPr>
          <p:cNvSpPr>
            <a:spLocks noChangeArrowheads="1"/>
          </p:cNvSpPr>
          <p:nvPr/>
        </p:nvSpPr>
        <p:spPr bwMode="auto">
          <a:xfrm>
            <a:off x="460374" y="1287895"/>
            <a:ext cx="3247529"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fontAlgn="t">
              <a:spcBef>
                <a:spcPct val="50000"/>
              </a:spcBef>
            </a:pPr>
            <a:r>
              <a:rPr lang="zh-CN" altLang="en-US" sz="2200" b="1" dirty="0">
                <a:solidFill>
                  <a:schemeClr val="tx1"/>
                </a:solidFill>
                <a:latin typeface="+mn-ea"/>
                <a:ea typeface="+mn-ea"/>
              </a:rPr>
              <a:t>一、振荡器的功能</a:t>
            </a:r>
          </a:p>
        </p:txBody>
      </p:sp>
      <p:sp>
        <p:nvSpPr>
          <p:cNvPr id="5" name="Rectangle 8">
            <a:extLst>
              <a:ext uri="{FF2B5EF4-FFF2-40B4-BE49-F238E27FC236}">
                <a16:creationId xmlns:a16="http://schemas.microsoft.com/office/drawing/2014/main" xmlns="" id="{6F3F3E20-0992-05E5-9201-D5C069BBA6F6}"/>
              </a:ext>
            </a:extLst>
          </p:cNvPr>
          <p:cNvSpPr>
            <a:spLocks noChangeArrowheads="1"/>
          </p:cNvSpPr>
          <p:nvPr/>
        </p:nvSpPr>
        <p:spPr bwMode="auto">
          <a:xfrm>
            <a:off x="51881" y="1653346"/>
            <a:ext cx="9020783" cy="892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800">
                <a:solidFill>
                  <a:schemeClr val="tx1"/>
                </a:solidFill>
                <a:latin typeface="Tahoma" panose="020B0604030504040204" pitchFamily="34" charset="0"/>
                <a:ea typeface="宋体" panose="02010600030101010101" pitchFamily="2" charset="-122"/>
              </a:defRPr>
            </a:lvl1pPr>
            <a:lvl2pPr>
              <a:defRPr sz="800">
                <a:solidFill>
                  <a:schemeClr val="tx1"/>
                </a:solidFill>
                <a:latin typeface="Tahoma" panose="020B0604030504040204" pitchFamily="34" charset="0"/>
                <a:ea typeface="宋体" panose="02010600030101010101" pitchFamily="2" charset="-122"/>
              </a:defRPr>
            </a:lvl2pPr>
            <a:lvl3pPr>
              <a:defRPr sz="800">
                <a:solidFill>
                  <a:schemeClr val="tx1"/>
                </a:solidFill>
                <a:latin typeface="Tahoma" panose="020B0604030504040204" pitchFamily="34" charset="0"/>
                <a:ea typeface="宋体" panose="02010600030101010101" pitchFamily="2" charset="-122"/>
              </a:defRPr>
            </a:lvl3pPr>
            <a:lvl4pPr>
              <a:defRPr sz="800">
                <a:solidFill>
                  <a:schemeClr val="tx1"/>
                </a:solidFill>
                <a:latin typeface="Tahoma" panose="020B0604030504040204" pitchFamily="34" charset="0"/>
                <a:ea typeface="宋体" panose="02010600030101010101" pitchFamily="2" charset="-122"/>
              </a:defRPr>
            </a:lvl4pPr>
            <a:lvl5pPr>
              <a:defRPr sz="800">
                <a:solidFill>
                  <a:schemeClr val="tx1"/>
                </a:solidFill>
                <a:latin typeface="Tahoma" panose="020B0604030504040204" pitchFamily="34" charset="0"/>
                <a:ea typeface="宋体" panose="02010600030101010101" pitchFamily="2" charset="-122"/>
              </a:defRPr>
            </a:lvl5pPr>
            <a:lvl6pPr fontAlgn="base">
              <a:spcBef>
                <a:spcPct val="0"/>
              </a:spcBef>
              <a:spcAft>
                <a:spcPct val="0"/>
              </a:spcAft>
              <a:defRPr sz="800">
                <a:solidFill>
                  <a:schemeClr val="tx1"/>
                </a:solidFill>
                <a:latin typeface="Tahoma" panose="020B0604030504040204" pitchFamily="34" charset="0"/>
                <a:ea typeface="宋体" panose="02010600030101010101" pitchFamily="2" charset="-122"/>
              </a:defRPr>
            </a:lvl6pPr>
            <a:lvl7pPr fontAlgn="base">
              <a:spcBef>
                <a:spcPct val="0"/>
              </a:spcBef>
              <a:spcAft>
                <a:spcPct val="0"/>
              </a:spcAft>
              <a:defRPr sz="800">
                <a:solidFill>
                  <a:schemeClr val="tx1"/>
                </a:solidFill>
                <a:latin typeface="Tahoma" panose="020B0604030504040204" pitchFamily="34" charset="0"/>
                <a:ea typeface="宋体" panose="02010600030101010101" pitchFamily="2" charset="-122"/>
              </a:defRPr>
            </a:lvl7pPr>
            <a:lvl8pPr fontAlgn="base">
              <a:spcBef>
                <a:spcPct val="0"/>
              </a:spcBef>
              <a:spcAft>
                <a:spcPct val="0"/>
              </a:spcAft>
              <a:defRPr sz="800">
                <a:solidFill>
                  <a:schemeClr val="tx1"/>
                </a:solidFill>
                <a:latin typeface="Tahoma" panose="020B0604030504040204" pitchFamily="34" charset="0"/>
                <a:ea typeface="宋体" panose="02010600030101010101" pitchFamily="2" charset="-122"/>
              </a:defRPr>
            </a:lvl8pPr>
            <a:lvl9pPr fontAlgn="base">
              <a:spcBef>
                <a:spcPct val="0"/>
              </a:spcBef>
              <a:spcAft>
                <a:spcPct val="0"/>
              </a:spcAft>
              <a:defRPr sz="800">
                <a:solidFill>
                  <a:schemeClr val="tx1"/>
                </a:solidFill>
                <a:latin typeface="Tahoma" panose="020B0604030504040204" pitchFamily="34" charset="0"/>
                <a:ea typeface="宋体" panose="02010600030101010101" pitchFamily="2" charset="-122"/>
              </a:defRPr>
            </a:lvl9pPr>
          </a:lstStyle>
          <a:p>
            <a:pPr lvl="1" eaLnBrk="1" latinLnBrk="1" hangingPunct="1">
              <a:lnSpc>
                <a:spcPct val="130000"/>
              </a:lnSpc>
              <a:spcBef>
                <a:spcPct val="50000"/>
              </a:spcBef>
              <a:buClr>
                <a:schemeClr val="accent2"/>
              </a:buClr>
              <a:buSzPct val="80000"/>
              <a:buFont typeface="Wingdings" panose="05000000000000000000" pitchFamily="2" charset="2"/>
              <a:buNone/>
            </a:pPr>
            <a:r>
              <a:rPr lang="zh-CN" altLang="en-US" sz="2000" b="1" dirty="0">
                <a:latin typeface="+mn-ea"/>
                <a:ea typeface="+mn-ea"/>
              </a:rPr>
              <a:t>在无输入信号情况下，将电源的直流能量转换成具有一定频率、一定波形和一定振幅的交流信号能量输出。</a:t>
            </a:r>
          </a:p>
        </p:txBody>
      </p:sp>
      <p:sp>
        <p:nvSpPr>
          <p:cNvPr id="6" name="Text Box 8">
            <a:extLst>
              <a:ext uri="{FF2B5EF4-FFF2-40B4-BE49-F238E27FC236}">
                <a16:creationId xmlns:a16="http://schemas.microsoft.com/office/drawing/2014/main" xmlns="" id="{53074B6E-51D0-98F6-6A07-A81B819B8E11}"/>
              </a:ext>
            </a:extLst>
          </p:cNvPr>
          <p:cNvSpPr txBox="1">
            <a:spLocks noChangeArrowheads="1"/>
          </p:cNvSpPr>
          <p:nvPr/>
        </p:nvSpPr>
        <p:spPr bwMode="auto">
          <a:xfrm>
            <a:off x="460374" y="2496673"/>
            <a:ext cx="502920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200" b="1" dirty="0">
                <a:solidFill>
                  <a:schemeClr val="tx1"/>
                </a:solidFill>
                <a:latin typeface="+mn-ea"/>
                <a:ea typeface="+mn-ea"/>
              </a:rPr>
              <a:t>二、振荡器与放大器的区别 </a:t>
            </a:r>
          </a:p>
        </p:txBody>
      </p:sp>
      <p:sp>
        <p:nvSpPr>
          <p:cNvPr id="7" name="Text Box 4">
            <a:extLst>
              <a:ext uri="{FF2B5EF4-FFF2-40B4-BE49-F238E27FC236}">
                <a16:creationId xmlns:a16="http://schemas.microsoft.com/office/drawing/2014/main" xmlns="" id="{E12926CE-0AC9-E84E-46A5-F24219F47F78}"/>
              </a:ext>
            </a:extLst>
          </p:cNvPr>
          <p:cNvSpPr txBox="1">
            <a:spLocks noChangeArrowheads="1"/>
          </p:cNvSpPr>
          <p:nvPr/>
        </p:nvSpPr>
        <p:spPr bwMode="auto">
          <a:xfrm>
            <a:off x="2365464" y="3765424"/>
            <a:ext cx="51435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r>
              <a:rPr lang="zh-CN" altLang="en-US" sz="2000" b="1" dirty="0">
                <a:solidFill>
                  <a:schemeClr val="tx1"/>
                </a:solidFill>
                <a:latin typeface="+mn-ea"/>
                <a:ea typeface="+mn-ea"/>
              </a:rPr>
              <a:t>振荡器：不需外加激励信号</a:t>
            </a:r>
            <a:endParaRPr lang="zh-CN" altLang="en-US" sz="2000" b="1" dirty="0">
              <a:solidFill>
                <a:schemeClr val="tx1"/>
              </a:solidFill>
              <a:latin typeface="+mn-ea"/>
              <a:ea typeface="+mn-ea"/>
              <a:cs typeface="Times New Roman" panose="02020603050405020304" pitchFamily="18" charset="0"/>
            </a:endParaRPr>
          </a:p>
        </p:txBody>
      </p:sp>
      <p:sp>
        <p:nvSpPr>
          <p:cNvPr id="8" name="Text Box 11">
            <a:extLst>
              <a:ext uri="{FF2B5EF4-FFF2-40B4-BE49-F238E27FC236}">
                <a16:creationId xmlns:a16="http://schemas.microsoft.com/office/drawing/2014/main" xmlns="" id="{98195B85-EDEB-E568-20F5-B4BF8C3B22C2}"/>
              </a:ext>
            </a:extLst>
          </p:cNvPr>
          <p:cNvSpPr txBox="1">
            <a:spLocks noChangeArrowheads="1"/>
          </p:cNvSpPr>
          <p:nvPr/>
        </p:nvSpPr>
        <p:spPr bwMode="auto">
          <a:xfrm>
            <a:off x="1028700" y="2923860"/>
            <a:ext cx="1905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t">
              <a:spcBef>
                <a:spcPct val="50000"/>
              </a:spcBef>
            </a:pPr>
            <a:r>
              <a:rPr lang="zh-CN" altLang="en-US" sz="2000" b="1" dirty="0">
                <a:solidFill>
                  <a:schemeClr val="tx1"/>
                </a:solidFill>
                <a:latin typeface="+mn-ea"/>
                <a:ea typeface="+mn-ea"/>
              </a:rPr>
              <a:t>相同点：</a:t>
            </a:r>
          </a:p>
        </p:txBody>
      </p:sp>
      <p:grpSp>
        <p:nvGrpSpPr>
          <p:cNvPr id="9" name="Group 12">
            <a:extLst>
              <a:ext uri="{FF2B5EF4-FFF2-40B4-BE49-F238E27FC236}">
                <a16:creationId xmlns:a16="http://schemas.microsoft.com/office/drawing/2014/main" xmlns="" id="{A8A251A4-CD54-1720-7ACC-74C288972DC0}"/>
              </a:ext>
            </a:extLst>
          </p:cNvPr>
          <p:cNvGrpSpPr>
            <a:grpSpLocks/>
          </p:cNvGrpSpPr>
          <p:nvPr/>
        </p:nvGrpSpPr>
        <p:grpSpPr bwMode="auto">
          <a:xfrm>
            <a:off x="2335213" y="2954023"/>
            <a:ext cx="4673600" cy="400050"/>
            <a:chOff x="1535" y="2355"/>
            <a:chExt cx="2944" cy="252"/>
          </a:xfrm>
        </p:grpSpPr>
        <p:sp>
          <p:nvSpPr>
            <p:cNvPr id="10" name="Text Box 13">
              <a:extLst>
                <a:ext uri="{FF2B5EF4-FFF2-40B4-BE49-F238E27FC236}">
                  <a16:creationId xmlns:a16="http://schemas.microsoft.com/office/drawing/2014/main" xmlns="" id="{74CD59AF-65EC-F417-8098-6C9124F2987C}"/>
                </a:ext>
              </a:extLst>
            </p:cNvPr>
            <p:cNvSpPr txBox="1">
              <a:spLocks noChangeArrowheads="1"/>
            </p:cNvSpPr>
            <p:nvPr/>
          </p:nvSpPr>
          <p:spPr bwMode="auto">
            <a:xfrm>
              <a:off x="1535" y="2355"/>
              <a:ext cx="294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t">
                <a:spcBef>
                  <a:spcPct val="50000"/>
                </a:spcBef>
              </a:pPr>
              <a:r>
                <a:rPr lang="zh-CN" altLang="en-US" sz="2000" b="1" dirty="0">
                  <a:solidFill>
                    <a:schemeClr val="tx1"/>
                  </a:solidFill>
                  <a:latin typeface="+mn-ea"/>
                  <a:ea typeface="+mn-ea"/>
                </a:rPr>
                <a:t>直流能量        交流能量</a:t>
              </a:r>
            </a:p>
          </p:txBody>
        </p:sp>
        <p:sp>
          <p:nvSpPr>
            <p:cNvPr id="11" name="Line 14">
              <a:extLst>
                <a:ext uri="{FF2B5EF4-FFF2-40B4-BE49-F238E27FC236}">
                  <a16:creationId xmlns:a16="http://schemas.microsoft.com/office/drawing/2014/main" xmlns="" id="{E49E203E-2ACF-DA7E-A13F-2BFB7DC2422A}"/>
                </a:ext>
              </a:extLst>
            </p:cNvPr>
            <p:cNvSpPr>
              <a:spLocks noChangeShapeType="1"/>
            </p:cNvSpPr>
            <p:nvPr/>
          </p:nvSpPr>
          <p:spPr bwMode="auto">
            <a:xfrm>
              <a:off x="2413" y="2459"/>
              <a:ext cx="32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000">
                <a:solidFill>
                  <a:schemeClr val="tx1"/>
                </a:solidFill>
                <a:latin typeface="+mn-ea"/>
                <a:ea typeface="+mn-ea"/>
              </a:endParaRPr>
            </a:p>
          </p:txBody>
        </p:sp>
      </p:grpSp>
      <p:sp>
        <p:nvSpPr>
          <p:cNvPr id="12" name="Text Box 15">
            <a:extLst>
              <a:ext uri="{FF2B5EF4-FFF2-40B4-BE49-F238E27FC236}">
                <a16:creationId xmlns:a16="http://schemas.microsoft.com/office/drawing/2014/main" xmlns="" id="{68339AAF-4E8A-BB1F-ED31-6A6BA5CA86D9}"/>
              </a:ext>
            </a:extLst>
          </p:cNvPr>
          <p:cNvSpPr txBox="1">
            <a:spLocks noChangeArrowheads="1"/>
          </p:cNvSpPr>
          <p:nvPr/>
        </p:nvSpPr>
        <p:spPr bwMode="auto">
          <a:xfrm>
            <a:off x="1046252" y="3354073"/>
            <a:ext cx="1905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t">
              <a:spcBef>
                <a:spcPct val="50000"/>
              </a:spcBef>
            </a:pPr>
            <a:r>
              <a:rPr lang="zh-CN" altLang="en-US" sz="2000" b="1">
                <a:solidFill>
                  <a:schemeClr val="tx1"/>
                </a:solidFill>
                <a:latin typeface="+mn-ea"/>
                <a:ea typeface="+mn-ea"/>
              </a:rPr>
              <a:t>不同点：</a:t>
            </a:r>
          </a:p>
        </p:txBody>
      </p:sp>
      <p:sp>
        <p:nvSpPr>
          <p:cNvPr id="13" name="Rectangle 16">
            <a:extLst>
              <a:ext uri="{FF2B5EF4-FFF2-40B4-BE49-F238E27FC236}">
                <a16:creationId xmlns:a16="http://schemas.microsoft.com/office/drawing/2014/main" xmlns="" id="{A77499EB-D681-FA71-FED7-FDAD56637EE1}"/>
              </a:ext>
            </a:extLst>
          </p:cNvPr>
          <p:cNvSpPr>
            <a:spLocks noChangeArrowheads="1"/>
          </p:cNvSpPr>
          <p:nvPr/>
        </p:nvSpPr>
        <p:spPr bwMode="auto">
          <a:xfrm>
            <a:off x="2365464" y="3378884"/>
            <a:ext cx="328166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fontAlgn="t">
              <a:spcBef>
                <a:spcPct val="50000"/>
              </a:spcBef>
            </a:pPr>
            <a:r>
              <a:rPr lang="zh-CN" altLang="en-US" sz="2000" b="1" dirty="0">
                <a:solidFill>
                  <a:schemeClr val="tx1"/>
                </a:solidFill>
                <a:latin typeface="+mn-ea"/>
                <a:ea typeface="+mn-ea"/>
              </a:rPr>
              <a:t>放大器：需外加的激励信号</a:t>
            </a:r>
          </a:p>
        </p:txBody>
      </p:sp>
      <p:sp>
        <p:nvSpPr>
          <p:cNvPr id="1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5.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正弦波</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振荡器</a:t>
            </a:r>
          </a:p>
        </p:txBody>
      </p:sp>
      <p:sp>
        <p:nvSpPr>
          <p:cNvPr id="63" name="Text Box 2">
            <a:extLst>
              <a:ext uri="{FF2B5EF4-FFF2-40B4-BE49-F238E27FC236}">
                <a16:creationId xmlns:a16="http://schemas.microsoft.com/office/drawing/2014/main" xmlns="" id="{B3FB71ED-D111-2FDA-9FE9-69C5A8EB3586}"/>
              </a:ext>
            </a:extLst>
          </p:cNvPr>
          <p:cNvSpPr txBox="1">
            <a:spLocks noChangeArrowheads="1"/>
          </p:cNvSpPr>
          <p:nvPr/>
        </p:nvSpPr>
        <p:spPr bwMode="auto">
          <a:xfrm>
            <a:off x="1190796" y="5710171"/>
            <a:ext cx="103128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defRPr/>
            </a:pPr>
            <a:r>
              <a:rPr lang="zh-CN" altLang="en-US" sz="2000" b="1" dirty="0">
                <a:solidFill>
                  <a:schemeClr val="tx1"/>
                </a:solidFill>
                <a:latin typeface="+mn-ea"/>
                <a:ea typeface="+mn-ea"/>
              </a:rPr>
              <a:t>振荡器</a:t>
            </a:r>
          </a:p>
        </p:txBody>
      </p:sp>
      <p:sp>
        <p:nvSpPr>
          <p:cNvPr id="64" name="AutoShape 3">
            <a:extLst>
              <a:ext uri="{FF2B5EF4-FFF2-40B4-BE49-F238E27FC236}">
                <a16:creationId xmlns:a16="http://schemas.microsoft.com/office/drawing/2014/main" xmlns="" id="{3BC33120-8669-BA44-BB87-7F2F021B8B55}"/>
              </a:ext>
            </a:extLst>
          </p:cNvPr>
          <p:cNvSpPr>
            <a:spLocks/>
          </p:cNvSpPr>
          <p:nvPr/>
        </p:nvSpPr>
        <p:spPr bwMode="auto">
          <a:xfrm>
            <a:off x="2222079" y="5287262"/>
            <a:ext cx="213934" cy="1245928"/>
          </a:xfrm>
          <a:prstGeom prst="leftBrace">
            <a:avLst>
              <a:gd name="adj1" fmla="val 109135"/>
              <a:gd name="adj2" fmla="val 50000"/>
            </a:avLst>
          </a:prstGeom>
          <a:noFill/>
          <a:ln w="25400">
            <a:solidFill>
              <a:srgbClr val="FF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000">
              <a:solidFill>
                <a:schemeClr val="tx1"/>
              </a:solidFill>
              <a:latin typeface="+mn-ea"/>
              <a:ea typeface="+mn-ea"/>
            </a:endParaRPr>
          </a:p>
        </p:txBody>
      </p:sp>
      <p:sp>
        <p:nvSpPr>
          <p:cNvPr id="65" name="Text Box 4">
            <a:extLst>
              <a:ext uri="{FF2B5EF4-FFF2-40B4-BE49-F238E27FC236}">
                <a16:creationId xmlns:a16="http://schemas.microsoft.com/office/drawing/2014/main" xmlns="" id="{58182F37-BDB4-C37A-6250-1D7CE54609E5}"/>
              </a:ext>
            </a:extLst>
          </p:cNvPr>
          <p:cNvSpPr txBox="1">
            <a:spLocks noChangeArrowheads="1"/>
          </p:cNvSpPr>
          <p:nvPr/>
        </p:nvSpPr>
        <p:spPr bwMode="auto">
          <a:xfrm>
            <a:off x="2359186" y="5062726"/>
            <a:ext cx="125571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lang="zh-CN" altLang="en-US" sz="2000" b="1">
                <a:solidFill>
                  <a:schemeClr val="tx1"/>
                </a:solidFill>
                <a:latin typeface="+mn-ea"/>
                <a:ea typeface="+mn-ea"/>
              </a:rPr>
              <a:t>正弦波</a:t>
            </a:r>
          </a:p>
        </p:txBody>
      </p:sp>
      <p:sp>
        <p:nvSpPr>
          <p:cNvPr id="66" name="Text Box 5">
            <a:extLst>
              <a:ext uri="{FF2B5EF4-FFF2-40B4-BE49-F238E27FC236}">
                <a16:creationId xmlns:a16="http://schemas.microsoft.com/office/drawing/2014/main" xmlns="" id="{F8B6D5EF-11FE-58D6-2374-821C44CCB5C9}"/>
              </a:ext>
            </a:extLst>
          </p:cNvPr>
          <p:cNvSpPr txBox="1">
            <a:spLocks noChangeArrowheads="1"/>
          </p:cNvSpPr>
          <p:nvPr/>
        </p:nvSpPr>
        <p:spPr bwMode="auto">
          <a:xfrm>
            <a:off x="2343397" y="6292820"/>
            <a:ext cx="1475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2000" b="1" dirty="0">
                <a:solidFill>
                  <a:schemeClr val="tx1"/>
                </a:solidFill>
                <a:latin typeface="+mn-ea"/>
                <a:ea typeface="+mn-ea"/>
              </a:rPr>
              <a:t>非正弦波：</a:t>
            </a:r>
          </a:p>
        </p:txBody>
      </p:sp>
      <p:sp>
        <p:nvSpPr>
          <p:cNvPr id="67" name="AutoShape 6">
            <a:extLst>
              <a:ext uri="{FF2B5EF4-FFF2-40B4-BE49-F238E27FC236}">
                <a16:creationId xmlns:a16="http://schemas.microsoft.com/office/drawing/2014/main" xmlns="" id="{C8D35E7E-C234-9272-811A-4DF1A2CD88CE}"/>
              </a:ext>
            </a:extLst>
          </p:cNvPr>
          <p:cNvSpPr>
            <a:spLocks/>
          </p:cNvSpPr>
          <p:nvPr/>
        </p:nvSpPr>
        <p:spPr bwMode="auto">
          <a:xfrm>
            <a:off x="3250405" y="4567967"/>
            <a:ext cx="181221" cy="1413868"/>
          </a:xfrm>
          <a:prstGeom prst="leftBrace">
            <a:avLst>
              <a:gd name="adj1" fmla="val 139244"/>
              <a:gd name="adj2" fmla="val 50000"/>
            </a:avLst>
          </a:prstGeom>
          <a:noFill/>
          <a:ln w="25400">
            <a:solidFill>
              <a:srgbClr val="FF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000">
              <a:solidFill>
                <a:schemeClr val="tx1"/>
              </a:solidFill>
              <a:latin typeface="+mn-ea"/>
              <a:ea typeface="+mn-ea"/>
            </a:endParaRPr>
          </a:p>
        </p:txBody>
      </p:sp>
      <p:sp>
        <p:nvSpPr>
          <p:cNvPr id="68" name="Text Box 7">
            <a:extLst>
              <a:ext uri="{FF2B5EF4-FFF2-40B4-BE49-F238E27FC236}">
                <a16:creationId xmlns:a16="http://schemas.microsoft.com/office/drawing/2014/main" xmlns="" id="{02A90DA9-3429-78C7-108E-7BB99D29071D}"/>
              </a:ext>
            </a:extLst>
          </p:cNvPr>
          <p:cNvSpPr txBox="1">
            <a:spLocks noChangeArrowheads="1"/>
          </p:cNvSpPr>
          <p:nvPr/>
        </p:nvSpPr>
        <p:spPr bwMode="auto">
          <a:xfrm>
            <a:off x="3371424" y="4387387"/>
            <a:ext cx="176210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defRPr/>
            </a:pPr>
            <a:r>
              <a:rPr lang="zh-CN" altLang="en-US" sz="2000" b="1" dirty="0">
                <a:solidFill>
                  <a:schemeClr val="tx1"/>
                </a:solidFill>
                <a:latin typeface="+mn-ea"/>
                <a:ea typeface="+mn-ea"/>
              </a:rPr>
              <a:t>反馈</a:t>
            </a:r>
            <a:r>
              <a:rPr lang="zh-CN" altLang="en-US" sz="2000" b="1" dirty="0" smtClean="0">
                <a:solidFill>
                  <a:schemeClr val="tx1"/>
                </a:solidFill>
                <a:latin typeface="+mn-ea"/>
                <a:ea typeface="+mn-ea"/>
              </a:rPr>
              <a:t>型振荡器</a:t>
            </a:r>
            <a:endParaRPr lang="zh-CN" altLang="en-US" sz="2000" b="1" dirty="0">
              <a:solidFill>
                <a:schemeClr val="tx1"/>
              </a:solidFill>
              <a:latin typeface="+mn-ea"/>
              <a:ea typeface="+mn-ea"/>
            </a:endParaRPr>
          </a:p>
        </p:txBody>
      </p:sp>
      <p:sp>
        <p:nvSpPr>
          <p:cNvPr id="69" name="Text Box 8">
            <a:extLst>
              <a:ext uri="{FF2B5EF4-FFF2-40B4-BE49-F238E27FC236}">
                <a16:creationId xmlns:a16="http://schemas.microsoft.com/office/drawing/2014/main" xmlns="" id="{1F6372B1-E835-7549-9701-EC5D31670AD0}"/>
              </a:ext>
            </a:extLst>
          </p:cNvPr>
          <p:cNvSpPr txBox="1">
            <a:spLocks noChangeArrowheads="1"/>
          </p:cNvSpPr>
          <p:nvPr/>
        </p:nvSpPr>
        <p:spPr bwMode="auto">
          <a:xfrm>
            <a:off x="3341016" y="5708945"/>
            <a:ext cx="173316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2000" b="1" dirty="0">
                <a:solidFill>
                  <a:schemeClr val="tx1"/>
                </a:solidFill>
                <a:latin typeface="+mn-ea"/>
                <a:ea typeface="+mn-ea"/>
              </a:rPr>
              <a:t>负阻型振荡器</a:t>
            </a:r>
          </a:p>
        </p:txBody>
      </p:sp>
      <p:sp>
        <p:nvSpPr>
          <p:cNvPr id="70" name="Text Box 9">
            <a:extLst>
              <a:ext uri="{FF2B5EF4-FFF2-40B4-BE49-F238E27FC236}">
                <a16:creationId xmlns:a16="http://schemas.microsoft.com/office/drawing/2014/main" xmlns="" id="{07828F23-C3EA-6C1A-1160-ACC852769104}"/>
              </a:ext>
            </a:extLst>
          </p:cNvPr>
          <p:cNvSpPr txBox="1">
            <a:spLocks noChangeArrowheads="1"/>
          </p:cNvSpPr>
          <p:nvPr/>
        </p:nvSpPr>
        <p:spPr bwMode="auto">
          <a:xfrm>
            <a:off x="5053885" y="4030557"/>
            <a:ext cx="175765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defRPr/>
            </a:pPr>
            <a:r>
              <a:rPr lang="en-US" altLang="zh-CN" sz="2000" b="1" i="1" dirty="0" smtClean="0">
                <a:solidFill>
                  <a:schemeClr val="tx1"/>
                </a:solidFill>
                <a:latin typeface="Times New Roman" panose="02020603050405020304" pitchFamily="18" charset="0"/>
                <a:cs typeface="Times New Roman" panose="02020603050405020304" pitchFamily="18" charset="0"/>
              </a:rPr>
              <a:t>LC</a:t>
            </a:r>
            <a:r>
              <a:rPr lang="zh-CN" altLang="en-US" sz="2000" b="1" dirty="0">
                <a:solidFill>
                  <a:schemeClr val="tx1"/>
                </a:solidFill>
                <a:latin typeface="+mn-ea"/>
                <a:ea typeface="+mn-ea"/>
              </a:rPr>
              <a:t>振荡器</a:t>
            </a:r>
          </a:p>
        </p:txBody>
      </p:sp>
      <p:sp>
        <p:nvSpPr>
          <p:cNvPr id="71" name="Text Box 10">
            <a:extLst>
              <a:ext uri="{FF2B5EF4-FFF2-40B4-BE49-F238E27FC236}">
                <a16:creationId xmlns:a16="http://schemas.microsoft.com/office/drawing/2014/main" xmlns="" id="{B179664F-7478-8493-1174-C5AA4CC344F8}"/>
              </a:ext>
            </a:extLst>
          </p:cNvPr>
          <p:cNvSpPr txBox="1">
            <a:spLocks noChangeArrowheads="1"/>
          </p:cNvSpPr>
          <p:nvPr/>
        </p:nvSpPr>
        <p:spPr bwMode="auto">
          <a:xfrm>
            <a:off x="5053885" y="4375838"/>
            <a:ext cx="175765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defRPr/>
            </a:pPr>
            <a:r>
              <a:rPr lang="zh-CN" altLang="en-US" sz="2000" b="1" dirty="0" smtClean="0">
                <a:solidFill>
                  <a:schemeClr val="tx1"/>
                </a:solidFill>
                <a:latin typeface="+mn-ea"/>
                <a:ea typeface="+mn-ea"/>
              </a:rPr>
              <a:t>晶体振荡器</a:t>
            </a:r>
            <a:endParaRPr lang="zh-CN" altLang="en-US" sz="2000" b="1" dirty="0">
              <a:solidFill>
                <a:schemeClr val="tx1"/>
              </a:solidFill>
              <a:latin typeface="+mn-ea"/>
              <a:ea typeface="+mn-ea"/>
            </a:endParaRPr>
          </a:p>
        </p:txBody>
      </p:sp>
      <p:sp>
        <p:nvSpPr>
          <p:cNvPr id="72" name="Text Box 11">
            <a:extLst>
              <a:ext uri="{FF2B5EF4-FFF2-40B4-BE49-F238E27FC236}">
                <a16:creationId xmlns:a16="http://schemas.microsoft.com/office/drawing/2014/main" xmlns="" id="{5A35AF16-E211-5F2C-4D1C-72268A413DFD}"/>
              </a:ext>
            </a:extLst>
          </p:cNvPr>
          <p:cNvSpPr txBox="1">
            <a:spLocks noChangeArrowheads="1"/>
          </p:cNvSpPr>
          <p:nvPr/>
        </p:nvSpPr>
        <p:spPr bwMode="auto">
          <a:xfrm>
            <a:off x="5053885" y="4712500"/>
            <a:ext cx="177835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defRPr/>
            </a:pPr>
            <a:r>
              <a:rPr lang="en-US" altLang="zh-CN" sz="2000" b="1" i="1" dirty="0" smtClean="0">
                <a:solidFill>
                  <a:schemeClr val="tx1"/>
                </a:solidFill>
                <a:latin typeface="Times New Roman" panose="02020603050405020304" pitchFamily="18" charset="0"/>
                <a:cs typeface="Times New Roman" panose="02020603050405020304" pitchFamily="18" charset="0"/>
              </a:rPr>
              <a:t>RC</a:t>
            </a:r>
            <a:r>
              <a:rPr lang="zh-CN" altLang="en-US" sz="2000" b="1" dirty="0">
                <a:solidFill>
                  <a:schemeClr val="tx1"/>
                </a:solidFill>
                <a:latin typeface="Times New Roman" panose="02020603050405020304" pitchFamily="18" charset="0"/>
                <a:cs typeface="Times New Roman" panose="02020603050405020304" pitchFamily="18" charset="0"/>
              </a:rPr>
              <a:t>振荡器</a:t>
            </a:r>
          </a:p>
        </p:txBody>
      </p:sp>
      <p:sp>
        <p:nvSpPr>
          <p:cNvPr id="73" name="AutoShape 12">
            <a:extLst>
              <a:ext uri="{FF2B5EF4-FFF2-40B4-BE49-F238E27FC236}">
                <a16:creationId xmlns:a16="http://schemas.microsoft.com/office/drawing/2014/main" xmlns="" id="{036EB3F0-68B9-68F9-1399-E957E92AE454}"/>
              </a:ext>
            </a:extLst>
          </p:cNvPr>
          <p:cNvSpPr>
            <a:spLocks/>
          </p:cNvSpPr>
          <p:nvPr/>
        </p:nvSpPr>
        <p:spPr bwMode="auto">
          <a:xfrm>
            <a:off x="5053885" y="4237463"/>
            <a:ext cx="221961" cy="726634"/>
          </a:xfrm>
          <a:prstGeom prst="leftBrace">
            <a:avLst>
              <a:gd name="adj1" fmla="val 64931"/>
              <a:gd name="adj2" fmla="val 50000"/>
            </a:avLst>
          </a:prstGeom>
          <a:noFill/>
          <a:ln w="25400">
            <a:solidFill>
              <a:srgbClr val="FF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000">
              <a:solidFill>
                <a:schemeClr val="tx1"/>
              </a:solidFill>
              <a:latin typeface="+mn-ea"/>
              <a:ea typeface="+mn-ea"/>
            </a:endParaRPr>
          </a:p>
        </p:txBody>
      </p:sp>
      <p:sp>
        <p:nvSpPr>
          <p:cNvPr id="74" name="Rectangle 14">
            <a:extLst>
              <a:ext uri="{FF2B5EF4-FFF2-40B4-BE49-F238E27FC236}">
                <a16:creationId xmlns:a16="http://schemas.microsoft.com/office/drawing/2014/main" xmlns="" id="{438A23A9-DCF6-870A-6AAE-5BEF511C59A7}"/>
              </a:ext>
            </a:extLst>
          </p:cNvPr>
          <p:cNvSpPr>
            <a:spLocks noChangeArrowheads="1"/>
          </p:cNvSpPr>
          <p:nvPr/>
        </p:nvSpPr>
        <p:spPr bwMode="auto">
          <a:xfrm>
            <a:off x="460374" y="4278522"/>
            <a:ext cx="3123218"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fontAlgn="t">
              <a:spcBef>
                <a:spcPct val="50000"/>
              </a:spcBef>
            </a:pPr>
            <a:r>
              <a:rPr lang="zh-CN" altLang="en-US" sz="2200" b="1" dirty="0">
                <a:solidFill>
                  <a:schemeClr val="tx1"/>
                </a:solidFill>
                <a:latin typeface="+mn-ea"/>
                <a:ea typeface="+mn-ea"/>
              </a:rPr>
              <a:t>三、  振荡器的分类</a:t>
            </a:r>
          </a:p>
        </p:txBody>
      </p:sp>
      <p:sp>
        <p:nvSpPr>
          <p:cNvPr id="75" name="Rectangle 15">
            <a:extLst>
              <a:ext uri="{FF2B5EF4-FFF2-40B4-BE49-F238E27FC236}">
                <a16:creationId xmlns:a16="http://schemas.microsoft.com/office/drawing/2014/main" xmlns="" id="{5E4822A8-A292-3695-ECAC-889E54C39263}"/>
              </a:ext>
            </a:extLst>
          </p:cNvPr>
          <p:cNvSpPr>
            <a:spLocks noChangeArrowheads="1"/>
          </p:cNvSpPr>
          <p:nvPr/>
        </p:nvSpPr>
        <p:spPr bwMode="auto">
          <a:xfrm>
            <a:off x="3583592" y="6292820"/>
            <a:ext cx="379783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2000" b="1">
                <a:solidFill>
                  <a:schemeClr val="tx1"/>
                </a:solidFill>
                <a:latin typeface="+mn-ea"/>
                <a:ea typeface="+mn-ea"/>
              </a:rPr>
              <a:t>产生三角波、锯齿波、矩形波等</a:t>
            </a:r>
          </a:p>
        </p:txBody>
      </p:sp>
      <p:sp>
        <p:nvSpPr>
          <p:cNvPr id="76" name="AutoShape 16">
            <a:extLst>
              <a:ext uri="{FF2B5EF4-FFF2-40B4-BE49-F238E27FC236}">
                <a16:creationId xmlns:a16="http://schemas.microsoft.com/office/drawing/2014/main" xmlns="" id="{19AC20AC-ECF9-2681-1CE1-4EFD75B241EB}"/>
              </a:ext>
            </a:extLst>
          </p:cNvPr>
          <p:cNvSpPr>
            <a:spLocks noChangeArrowheads="1"/>
          </p:cNvSpPr>
          <p:nvPr/>
        </p:nvSpPr>
        <p:spPr bwMode="auto">
          <a:xfrm flipH="1">
            <a:off x="5053885" y="5767017"/>
            <a:ext cx="857250" cy="304800"/>
          </a:xfrm>
          <a:custGeom>
            <a:avLst/>
            <a:gdLst>
              <a:gd name="T0" fmla="*/ 16200 w 21600"/>
              <a:gd name="T1" fmla="*/ 0 h 21600"/>
              <a:gd name="T2" fmla="*/ 16200 w 21600"/>
              <a:gd name="T3" fmla="*/ 5400 h 21600"/>
              <a:gd name="T4" fmla="*/ 3375 w 21600"/>
              <a:gd name="T5" fmla="*/ 5400 h 21600"/>
              <a:gd name="T6" fmla="*/ 3375 w 21600"/>
              <a:gd name="T7" fmla="*/ 16200 h 21600"/>
              <a:gd name="T8" fmla="*/ 16200 w 21600"/>
              <a:gd name="T9" fmla="*/ 16200 h 21600"/>
              <a:gd name="T10" fmla="*/ 16200 w 21600"/>
              <a:gd name="T11" fmla="*/ 21600 h 21600"/>
              <a:gd name="T12" fmla="*/ 21600 w 21600"/>
              <a:gd name="T13" fmla="*/ 10800 h 21600"/>
              <a:gd name="T14" fmla="*/ 16200 w 21600"/>
              <a:gd name="T15" fmla="*/ 0 h 21600"/>
              <a:gd name="T16" fmla="*/ 1350 w 21600"/>
              <a:gd name="T17" fmla="*/ 5400 h 21600"/>
              <a:gd name="T18" fmla="*/ 1350 w 21600"/>
              <a:gd name="T19" fmla="*/ 16200 h 21600"/>
              <a:gd name="T20" fmla="*/ 2700 w 21600"/>
              <a:gd name="T21" fmla="*/ 16200 h 21600"/>
              <a:gd name="T22" fmla="*/ 2700 w 21600"/>
              <a:gd name="T23" fmla="*/ 5400 h 21600"/>
              <a:gd name="T24" fmla="*/ 1350 w 21600"/>
              <a:gd name="T25" fmla="*/ 5400 h 21600"/>
              <a:gd name="T26" fmla="*/ 0 w 21600"/>
              <a:gd name="T27" fmla="*/ 5400 h 21600"/>
              <a:gd name="T28" fmla="*/ 0 w 21600"/>
              <a:gd name="T29" fmla="*/ 16200 h 21600"/>
              <a:gd name="T30" fmla="*/ 675 w 21600"/>
              <a:gd name="T31" fmla="*/ 16200 h 21600"/>
              <a:gd name="T32" fmla="*/ 675 w 21600"/>
              <a:gd name="T33" fmla="*/ 5400 h 21600"/>
              <a:gd name="T34" fmla="*/ 0 w 21600"/>
              <a:gd name="T35" fmla="*/ 5400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CC99FF">
              <a:alpha val="50195"/>
            </a:srgbClr>
          </a:solidFill>
          <a:ln w="9525">
            <a:solidFill>
              <a:schemeClr val="tx1"/>
            </a:solidFill>
            <a:miter lim="800000"/>
            <a:headEnd/>
            <a:tailEnd/>
          </a:ln>
        </p:spPr>
        <p:txBody>
          <a:bodyPr/>
          <a:lstStyle/>
          <a:p>
            <a:endParaRPr lang="zh-CN" altLang="en-US" sz="2000">
              <a:solidFill>
                <a:schemeClr val="tx1"/>
              </a:solidFill>
              <a:latin typeface="+mn-ea"/>
              <a:ea typeface="+mn-ea"/>
            </a:endParaRPr>
          </a:p>
        </p:txBody>
      </p:sp>
      <p:sp>
        <p:nvSpPr>
          <p:cNvPr id="77" name="Text Box 17">
            <a:extLst>
              <a:ext uri="{FF2B5EF4-FFF2-40B4-BE49-F238E27FC236}">
                <a16:creationId xmlns:a16="http://schemas.microsoft.com/office/drawing/2014/main" xmlns="" id="{F1A474B6-325D-2D73-EE21-646EB29A064A}"/>
              </a:ext>
            </a:extLst>
          </p:cNvPr>
          <p:cNvSpPr txBox="1">
            <a:spLocks noChangeArrowheads="1"/>
          </p:cNvSpPr>
          <p:nvPr/>
        </p:nvSpPr>
        <p:spPr bwMode="auto">
          <a:xfrm>
            <a:off x="6041144" y="5702715"/>
            <a:ext cx="2984500" cy="400110"/>
          </a:xfrm>
          <a:prstGeom prst="rect">
            <a:avLst/>
          </a:prstGeom>
          <a:solidFill>
            <a:srgbClr val="FFCC99"/>
          </a:solidFill>
          <a:ln w="9525">
            <a:solidFill>
              <a:schemeClr val="tx1"/>
            </a:solidFill>
            <a:miter lim="800000"/>
            <a:headEnd/>
            <a:tailEnd/>
          </a:ln>
        </p:spPr>
        <p:txBody>
          <a:bodyPr>
            <a:spAutoFit/>
          </a:bodyPr>
          <a:lstStyle/>
          <a:p>
            <a:pPr fontAlgn="t">
              <a:spcBef>
                <a:spcPct val="50000"/>
              </a:spcBef>
            </a:pPr>
            <a:r>
              <a:rPr lang="zh-CN" altLang="en-US" sz="2000" b="1" dirty="0">
                <a:solidFill>
                  <a:schemeClr val="tx1"/>
                </a:solidFill>
                <a:latin typeface="+mn-ea"/>
                <a:ea typeface="+mn-ea"/>
              </a:rPr>
              <a:t>负阻器件</a:t>
            </a:r>
            <a:r>
              <a:rPr lang="en-US" altLang="zh-CN" sz="2000" b="1" dirty="0">
                <a:solidFill>
                  <a:schemeClr val="tx1"/>
                </a:solidFill>
                <a:latin typeface="+mn-ea"/>
                <a:ea typeface="+mn-ea"/>
              </a:rPr>
              <a:t>+</a:t>
            </a:r>
            <a:r>
              <a:rPr lang="zh-CN" altLang="en-US" sz="2000" b="1" dirty="0">
                <a:solidFill>
                  <a:schemeClr val="tx1"/>
                </a:solidFill>
                <a:latin typeface="+mn-ea"/>
                <a:ea typeface="+mn-ea"/>
              </a:rPr>
              <a:t>振荡回路</a:t>
            </a:r>
          </a:p>
        </p:txBody>
      </p:sp>
      <p:sp>
        <p:nvSpPr>
          <p:cNvPr id="78" name="Text Box 18">
            <a:extLst>
              <a:ext uri="{FF2B5EF4-FFF2-40B4-BE49-F238E27FC236}">
                <a16:creationId xmlns:a16="http://schemas.microsoft.com/office/drawing/2014/main" xmlns="" id="{28E73BD4-AEDF-304F-4A75-1A34F2699740}"/>
              </a:ext>
            </a:extLst>
          </p:cNvPr>
          <p:cNvSpPr txBox="1">
            <a:spLocks noChangeArrowheads="1"/>
          </p:cNvSpPr>
          <p:nvPr/>
        </p:nvSpPr>
        <p:spPr bwMode="auto">
          <a:xfrm>
            <a:off x="3371424" y="5045051"/>
            <a:ext cx="30353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t">
              <a:spcBef>
                <a:spcPct val="50000"/>
              </a:spcBef>
            </a:pPr>
            <a:r>
              <a:rPr lang="zh-CN" altLang="en-US" sz="2000" b="1" dirty="0">
                <a:solidFill>
                  <a:schemeClr val="tx1"/>
                </a:solidFill>
                <a:latin typeface="+mn-ea"/>
                <a:ea typeface="+mn-ea"/>
              </a:rPr>
              <a:t>（正反馈原理）</a:t>
            </a:r>
          </a:p>
        </p:txBody>
      </p:sp>
    </p:spTree>
    <p:extLst>
      <p:ext uri="{BB962C8B-B14F-4D97-AF65-F5344CB8AC3E}">
        <p14:creationId xmlns:p14="http://schemas.microsoft.com/office/powerpoint/2010/main" val="2292616779"/>
      </p:ext>
    </p:extLst>
  </p:cSld>
  <p:clrMapOvr>
    <a:masterClrMapping/>
  </p:clrMapOvr>
  <p:timing>
    <p:tnLst>
      <p:par>
        <p:cTn id="1" dur="indefinite" restart="never" nodeType="tmRoot"/>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160</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20" name="Rectangle 14">
            <a:extLst>
              <a:ext uri="{FF2B5EF4-FFF2-40B4-BE49-F238E27FC236}">
                <a16:creationId xmlns:a16="http://schemas.microsoft.com/office/drawing/2014/main" xmlns="" id="{55B97DCD-F327-27D4-6EB7-9454BC7C908D}"/>
              </a:ext>
            </a:extLst>
          </p:cNvPr>
          <p:cNvSpPr>
            <a:spLocks noChangeArrowheads="1"/>
          </p:cNvSpPr>
          <p:nvPr/>
        </p:nvSpPr>
        <p:spPr bwMode="auto">
          <a:xfrm>
            <a:off x="440582" y="2064469"/>
            <a:ext cx="4427538"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000" b="1" dirty="0">
                <a:solidFill>
                  <a:schemeClr val="tx1"/>
                </a:solidFill>
                <a:latin typeface="+mn-ea"/>
                <a:ea typeface="+mn-ea"/>
              </a:rPr>
              <a:t>定义：从放大器的输出信号中取出一部分反馈到输入端作为输入信号，无需外部提供激励信号，能产生等幅正弦波输出称为反馈型振荡器。</a:t>
            </a:r>
          </a:p>
        </p:txBody>
      </p:sp>
      <p:sp>
        <p:nvSpPr>
          <p:cNvPr id="21" name="Rectangle 15">
            <a:extLst>
              <a:ext uri="{FF2B5EF4-FFF2-40B4-BE49-F238E27FC236}">
                <a16:creationId xmlns:a16="http://schemas.microsoft.com/office/drawing/2014/main" xmlns="" id="{31641C1E-5D75-0B51-FF4C-C8863810439B}"/>
              </a:ext>
            </a:extLst>
          </p:cNvPr>
          <p:cNvSpPr>
            <a:spLocks noChangeArrowheads="1"/>
          </p:cNvSpPr>
          <p:nvPr/>
        </p:nvSpPr>
        <p:spPr bwMode="auto">
          <a:xfrm>
            <a:off x="346920" y="1515194"/>
            <a:ext cx="477386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400" b="1" dirty="0">
                <a:solidFill>
                  <a:schemeClr val="tx1"/>
                </a:solidFill>
                <a:latin typeface="+mn-ea"/>
                <a:ea typeface="+mn-ea"/>
              </a:rPr>
              <a:t>一、 反馈型正弦波振荡器的组成</a:t>
            </a:r>
          </a:p>
        </p:txBody>
      </p:sp>
      <p:sp>
        <p:nvSpPr>
          <p:cNvPr id="22" name="Text Box 16">
            <a:extLst>
              <a:ext uri="{FF2B5EF4-FFF2-40B4-BE49-F238E27FC236}">
                <a16:creationId xmlns:a16="http://schemas.microsoft.com/office/drawing/2014/main" xmlns="" id="{3CD815AF-59F2-6BAF-D799-55515D21CE02}"/>
              </a:ext>
            </a:extLst>
          </p:cNvPr>
          <p:cNvSpPr txBox="1">
            <a:spLocks noChangeArrowheads="1"/>
          </p:cNvSpPr>
          <p:nvPr/>
        </p:nvSpPr>
        <p:spPr bwMode="auto">
          <a:xfrm>
            <a:off x="6145982" y="2730765"/>
            <a:ext cx="1649413" cy="863600"/>
          </a:xfrm>
          <a:prstGeom prst="rect">
            <a:avLst/>
          </a:prstGeom>
          <a:solidFill>
            <a:srgbClr val="FFFF00"/>
          </a:solidFill>
          <a:ln w="9525">
            <a:solidFill>
              <a:srgbClr val="000000"/>
            </a:solidFill>
            <a:miter lim="800000"/>
            <a:headEnd/>
            <a:tailEnd/>
          </a:ln>
        </p:spPr>
        <p:txBody>
          <a:bodyPr/>
          <a:lstStyle/>
          <a:p>
            <a:pPr algn="ctr"/>
            <a:r>
              <a:rPr lang="zh-CN" altLang="en-US" sz="2000" b="1" dirty="0">
                <a:solidFill>
                  <a:schemeClr val="tx1"/>
                </a:solidFill>
                <a:latin typeface="+mn-ea"/>
                <a:ea typeface="+mn-ea"/>
              </a:rPr>
              <a:t>正反馈</a:t>
            </a:r>
          </a:p>
          <a:p>
            <a:pPr algn="ctr"/>
            <a:r>
              <a:rPr lang="zh-CN" altLang="en-US" sz="2000" b="1" dirty="0">
                <a:solidFill>
                  <a:schemeClr val="tx1"/>
                </a:solidFill>
                <a:latin typeface="+mn-ea"/>
                <a:ea typeface="+mn-ea"/>
              </a:rPr>
              <a:t>网络</a:t>
            </a:r>
          </a:p>
          <a:p>
            <a:pPr algn="just"/>
            <a:r>
              <a:rPr lang="zh-CN" altLang="en-US" sz="2000" b="1" dirty="0">
                <a:solidFill>
                  <a:schemeClr val="tx1"/>
                </a:solidFill>
                <a:latin typeface="+mn-ea"/>
                <a:ea typeface="+mn-ea"/>
              </a:rPr>
              <a:t>   </a:t>
            </a:r>
          </a:p>
        </p:txBody>
      </p:sp>
      <p:grpSp>
        <p:nvGrpSpPr>
          <p:cNvPr id="23" name="Group 17">
            <a:extLst>
              <a:ext uri="{FF2B5EF4-FFF2-40B4-BE49-F238E27FC236}">
                <a16:creationId xmlns:a16="http://schemas.microsoft.com/office/drawing/2014/main" xmlns="" id="{F25FE461-6298-3D0E-91E3-077E26C12AC2}"/>
              </a:ext>
            </a:extLst>
          </p:cNvPr>
          <p:cNvGrpSpPr>
            <a:grpSpLocks/>
          </p:cNvGrpSpPr>
          <p:nvPr/>
        </p:nvGrpSpPr>
        <p:grpSpPr bwMode="auto">
          <a:xfrm>
            <a:off x="5480820" y="1563953"/>
            <a:ext cx="3046412" cy="698500"/>
            <a:chOff x="852" y="714"/>
            <a:chExt cx="1919" cy="440"/>
          </a:xfrm>
        </p:grpSpPr>
        <p:sp>
          <p:nvSpPr>
            <p:cNvPr id="24" name="Text Box 18">
              <a:extLst>
                <a:ext uri="{FF2B5EF4-FFF2-40B4-BE49-F238E27FC236}">
                  <a16:creationId xmlns:a16="http://schemas.microsoft.com/office/drawing/2014/main" xmlns="" id="{F5DBED5A-C1D3-ED6B-567C-80A95382FAF3}"/>
                </a:ext>
              </a:extLst>
            </p:cNvPr>
            <p:cNvSpPr txBox="1">
              <a:spLocks noChangeArrowheads="1"/>
            </p:cNvSpPr>
            <p:nvPr/>
          </p:nvSpPr>
          <p:spPr bwMode="auto">
            <a:xfrm>
              <a:off x="1273" y="714"/>
              <a:ext cx="853" cy="440"/>
            </a:xfrm>
            <a:prstGeom prst="rect">
              <a:avLst/>
            </a:prstGeom>
            <a:solidFill>
              <a:srgbClr val="FFFF00"/>
            </a:solidFill>
            <a:ln w="9525">
              <a:solidFill>
                <a:srgbClr val="000000"/>
              </a:solidFill>
              <a:miter lim="800000"/>
              <a:headEnd/>
              <a:tailEnd/>
            </a:ln>
          </p:spPr>
          <p:txBody>
            <a:bodyPr/>
            <a:lstStyle/>
            <a:p>
              <a:pPr algn="ctr"/>
              <a:r>
                <a:rPr lang="en-US" altLang="zh-CN" sz="2000" b="1" dirty="0">
                  <a:solidFill>
                    <a:schemeClr val="tx1"/>
                  </a:solidFill>
                  <a:latin typeface="+mn-ea"/>
                  <a:ea typeface="+mn-ea"/>
                </a:rPr>
                <a:t> </a:t>
              </a:r>
              <a:r>
                <a:rPr lang="zh-CN" altLang="en-US" sz="2000" b="1" dirty="0">
                  <a:solidFill>
                    <a:schemeClr val="tx1"/>
                  </a:solidFill>
                  <a:latin typeface="+mn-ea"/>
                  <a:ea typeface="+mn-ea"/>
                </a:rPr>
                <a:t>放大器</a:t>
              </a:r>
            </a:p>
          </p:txBody>
        </p:sp>
        <p:sp>
          <p:nvSpPr>
            <p:cNvPr id="25" name="Line 19">
              <a:extLst>
                <a:ext uri="{FF2B5EF4-FFF2-40B4-BE49-F238E27FC236}">
                  <a16:creationId xmlns:a16="http://schemas.microsoft.com/office/drawing/2014/main" xmlns="" id="{CDC55358-B8F5-EDB7-3851-E20B289B17AF}"/>
                </a:ext>
              </a:extLst>
            </p:cNvPr>
            <p:cNvSpPr>
              <a:spLocks noChangeShapeType="1"/>
            </p:cNvSpPr>
            <p:nvPr/>
          </p:nvSpPr>
          <p:spPr bwMode="auto">
            <a:xfrm>
              <a:off x="852" y="966"/>
              <a:ext cx="421"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000">
                <a:solidFill>
                  <a:schemeClr val="tx1"/>
                </a:solidFill>
                <a:latin typeface="+mn-ea"/>
                <a:ea typeface="+mn-ea"/>
              </a:endParaRPr>
            </a:p>
          </p:txBody>
        </p:sp>
        <p:sp>
          <p:nvSpPr>
            <p:cNvPr id="26" name="Line 20">
              <a:extLst>
                <a:ext uri="{FF2B5EF4-FFF2-40B4-BE49-F238E27FC236}">
                  <a16:creationId xmlns:a16="http://schemas.microsoft.com/office/drawing/2014/main" xmlns="" id="{6089F41C-898D-D546-3947-DBCA25189292}"/>
                </a:ext>
              </a:extLst>
            </p:cNvPr>
            <p:cNvSpPr>
              <a:spLocks noChangeShapeType="1"/>
            </p:cNvSpPr>
            <p:nvPr/>
          </p:nvSpPr>
          <p:spPr bwMode="auto">
            <a:xfrm>
              <a:off x="2126" y="934"/>
              <a:ext cx="645"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000">
                <a:solidFill>
                  <a:schemeClr val="tx1"/>
                </a:solidFill>
                <a:latin typeface="+mn-ea"/>
                <a:ea typeface="+mn-ea"/>
              </a:endParaRPr>
            </a:p>
          </p:txBody>
        </p:sp>
      </p:grpSp>
      <p:grpSp>
        <p:nvGrpSpPr>
          <p:cNvPr id="27" name="Group 21">
            <a:extLst>
              <a:ext uri="{FF2B5EF4-FFF2-40B4-BE49-F238E27FC236}">
                <a16:creationId xmlns:a16="http://schemas.microsoft.com/office/drawing/2014/main" xmlns="" id="{8ABD3088-3FCA-FFA6-CCA9-F577EA77352E}"/>
              </a:ext>
            </a:extLst>
          </p:cNvPr>
          <p:cNvGrpSpPr>
            <a:grpSpLocks/>
          </p:cNvGrpSpPr>
          <p:nvPr/>
        </p:nvGrpSpPr>
        <p:grpSpPr bwMode="auto">
          <a:xfrm>
            <a:off x="7800157" y="1917965"/>
            <a:ext cx="503238" cy="1209675"/>
            <a:chOff x="2304" y="942"/>
            <a:chExt cx="317" cy="922"/>
          </a:xfrm>
        </p:grpSpPr>
        <p:sp>
          <p:nvSpPr>
            <p:cNvPr id="28" name="Line 22">
              <a:extLst>
                <a:ext uri="{FF2B5EF4-FFF2-40B4-BE49-F238E27FC236}">
                  <a16:creationId xmlns:a16="http://schemas.microsoft.com/office/drawing/2014/main" xmlns="" id="{E72073F0-6784-5A14-3F99-4815B614E91F}"/>
                </a:ext>
              </a:extLst>
            </p:cNvPr>
            <p:cNvSpPr>
              <a:spLocks noChangeShapeType="1"/>
            </p:cNvSpPr>
            <p:nvPr/>
          </p:nvSpPr>
          <p:spPr bwMode="auto">
            <a:xfrm>
              <a:off x="2621" y="942"/>
              <a:ext cx="0" cy="92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000">
                <a:solidFill>
                  <a:schemeClr val="tx1"/>
                </a:solidFill>
                <a:latin typeface="+mn-ea"/>
                <a:ea typeface="+mn-ea"/>
              </a:endParaRPr>
            </a:p>
          </p:txBody>
        </p:sp>
        <p:sp>
          <p:nvSpPr>
            <p:cNvPr id="29" name="Line 23">
              <a:extLst>
                <a:ext uri="{FF2B5EF4-FFF2-40B4-BE49-F238E27FC236}">
                  <a16:creationId xmlns:a16="http://schemas.microsoft.com/office/drawing/2014/main" xmlns="" id="{4B4E3AED-AE41-967F-50A6-2A1824B8F527}"/>
                </a:ext>
              </a:extLst>
            </p:cNvPr>
            <p:cNvSpPr>
              <a:spLocks noChangeShapeType="1"/>
            </p:cNvSpPr>
            <p:nvPr/>
          </p:nvSpPr>
          <p:spPr bwMode="auto">
            <a:xfrm flipH="1">
              <a:off x="2304" y="1856"/>
              <a:ext cx="317"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000">
                <a:solidFill>
                  <a:schemeClr val="tx1"/>
                </a:solidFill>
                <a:latin typeface="+mn-ea"/>
                <a:ea typeface="+mn-ea"/>
              </a:endParaRPr>
            </a:p>
          </p:txBody>
        </p:sp>
      </p:grpSp>
      <p:grpSp>
        <p:nvGrpSpPr>
          <p:cNvPr id="30" name="Group 24">
            <a:extLst>
              <a:ext uri="{FF2B5EF4-FFF2-40B4-BE49-F238E27FC236}">
                <a16:creationId xmlns:a16="http://schemas.microsoft.com/office/drawing/2014/main" xmlns="" id="{53A866A6-AEDC-4144-7282-54F841C9BED5}"/>
              </a:ext>
            </a:extLst>
          </p:cNvPr>
          <p:cNvGrpSpPr>
            <a:grpSpLocks/>
          </p:cNvGrpSpPr>
          <p:nvPr/>
        </p:nvGrpSpPr>
        <p:grpSpPr bwMode="auto">
          <a:xfrm>
            <a:off x="5490345" y="1975115"/>
            <a:ext cx="658812" cy="1103312"/>
            <a:chOff x="842" y="953"/>
            <a:chExt cx="423" cy="911"/>
          </a:xfrm>
        </p:grpSpPr>
        <p:sp>
          <p:nvSpPr>
            <p:cNvPr id="31" name="Line 25">
              <a:extLst>
                <a:ext uri="{FF2B5EF4-FFF2-40B4-BE49-F238E27FC236}">
                  <a16:creationId xmlns:a16="http://schemas.microsoft.com/office/drawing/2014/main" xmlns="" id="{DDE0351D-CA7C-7570-C49F-E284CE3B6167}"/>
                </a:ext>
              </a:extLst>
            </p:cNvPr>
            <p:cNvSpPr>
              <a:spLocks noChangeShapeType="1"/>
            </p:cNvSpPr>
            <p:nvPr/>
          </p:nvSpPr>
          <p:spPr bwMode="auto">
            <a:xfrm flipH="1">
              <a:off x="842" y="1864"/>
              <a:ext cx="42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000">
                <a:solidFill>
                  <a:schemeClr val="tx1"/>
                </a:solidFill>
                <a:latin typeface="+mn-ea"/>
                <a:ea typeface="+mn-ea"/>
              </a:endParaRPr>
            </a:p>
          </p:txBody>
        </p:sp>
        <p:sp>
          <p:nvSpPr>
            <p:cNvPr id="32" name="Line 26">
              <a:extLst>
                <a:ext uri="{FF2B5EF4-FFF2-40B4-BE49-F238E27FC236}">
                  <a16:creationId xmlns:a16="http://schemas.microsoft.com/office/drawing/2014/main" xmlns="" id="{14B8118C-99C0-DAE2-1A80-F518621C8877}"/>
                </a:ext>
              </a:extLst>
            </p:cNvPr>
            <p:cNvSpPr>
              <a:spLocks noChangeShapeType="1"/>
            </p:cNvSpPr>
            <p:nvPr/>
          </p:nvSpPr>
          <p:spPr bwMode="auto">
            <a:xfrm flipV="1">
              <a:off x="842" y="953"/>
              <a:ext cx="0" cy="91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000">
                <a:solidFill>
                  <a:schemeClr val="tx1"/>
                </a:solidFill>
                <a:latin typeface="+mn-ea"/>
                <a:ea typeface="+mn-ea"/>
              </a:endParaRPr>
            </a:p>
          </p:txBody>
        </p:sp>
      </p:grpSp>
      <p:graphicFrame>
        <p:nvGraphicFramePr>
          <p:cNvPr id="33" name="Object 29">
            <a:extLst>
              <a:ext uri="{FF2B5EF4-FFF2-40B4-BE49-F238E27FC236}">
                <a16:creationId xmlns:a16="http://schemas.microsoft.com/office/drawing/2014/main" xmlns="" id="{F88DD0C5-D4E2-646E-FCBF-9D59780C9ED4}"/>
              </a:ext>
            </a:extLst>
          </p:cNvPr>
          <p:cNvGraphicFramePr>
            <a:graphicFrameLocks noChangeAspect="1"/>
          </p:cNvGraphicFramePr>
          <p:nvPr>
            <p:extLst>
              <p:ext uri="{D42A27DB-BD31-4B8C-83A1-F6EECF244321}">
                <p14:modId xmlns:p14="http://schemas.microsoft.com/office/powerpoint/2010/main" val="3499465627"/>
              </p:ext>
            </p:extLst>
          </p:nvPr>
        </p:nvGraphicFramePr>
        <p:xfrm>
          <a:off x="5639570" y="2449777"/>
          <a:ext cx="438150" cy="615950"/>
        </p:xfrm>
        <a:graphic>
          <a:graphicData uri="http://schemas.openxmlformats.org/presentationml/2006/ole">
            <mc:AlternateContent xmlns:mc="http://schemas.openxmlformats.org/markup-compatibility/2006">
              <mc:Choice xmlns:v="urn:schemas-microsoft-com:vml" Requires="v">
                <p:oleObj spid="_x0000_s122984" r:id="rId3" imgW="215713" imgH="304536" progId="Equation.3">
                  <p:embed/>
                </p:oleObj>
              </mc:Choice>
              <mc:Fallback>
                <p:oleObj r:id="rId3" imgW="215713" imgH="304536"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39570" y="2449777"/>
                        <a:ext cx="438150"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4" name="Text Box 31">
            <a:extLst>
              <a:ext uri="{FF2B5EF4-FFF2-40B4-BE49-F238E27FC236}">
                <a16:creationId xmlns:a16="http://schemas.microsoft.com/office/drawing/2014/main" xmlns="" id="{2653DA60-7260-4719-1B49-38A6567E8170}"/>
              </a:ext>
            </a:extLst>
          </p:cNvPr>
          <p:cNvSpPr txBox="1">
            <a:spLocks noChangeArrowheads="1"/>
          </p:cNvSpPr>
          <p:nvPr/>
        </p:nvSpPr>
        <p:spPr bwMode="auto">
          <a:xfrm>
            <a:off x="5980882" y="2251340"/>
            <a:ext cx="2768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t">
              <a:spcBef>
                <a:spcPct val="50000"/>
              </a:spcBef>
            </a:pPr>
            <a:r>
              <a:rPr lang="zh-CN" altLang="en-US" sz="2000" b="1">
                <a:solidFill>
                  <a:schemeClr val="tx1"/>
                </a:solidFill>
                <a:latin typeface="+mn-ea"/>
                <a:ea typeface="+mn-ea"/>
              </a:rPr>
              <a:t>（选频网络）</a:t>
            </a:r>
          </a:p>
        </p:txBody>
      </p:sp>
      <p:graphicFrame>
        <p:nvGraphicFramePr>
          <p:cNvPr id="35" name="Object 27">
            <a:extLst>
              <a:ext uri="{FF2B5EF4-FFF2-40B4-BE49-F238E27FC236}">
                <a16:creationId xmlns:a16="http://schemas.microsoft.com/office/drawing/2014/main" xmlns="" id="{AF08A304-01A2-3110-E7BA-D0B3614C16A9}"/>
              </a:ext>
            </a:extLst>
          </p:cNvPr>
          <p:cNvGraphicFramePr>
            <a:graphicFrameLocks noChangeAspect="1"/>
          </p:cNvGraphicFramePr>
          <p:nvPr>
            <p:extLst>
              <p:ext uri="{D42A27DB-BD31-4B8C-83A1-F6EECF244321}">
                <p14:modId xmlns:p14="http://schemas.microsoft.com/office/powerpoint/2010/main" val="835163065"/>
              </p:ext>
            </p:extLst>
          </p:nvPr>
        </p:nvGraphicFramePr>
        <p:xfrm>
          <a:off x="5607654" y="1317890"/>
          <a:ext cx="412750" cy="615950"/>
        </p:xfrm>
        <a:graphic>
          <a:graphicData uri="http://schemas.openxmlformats.org/presentationml/2006/ole">
            <mc:AlternateContent xmlns:mc="http://schemas.openxmlformats.org/markup-compatibility/2006">
              <mc:Choice xmlns:v="urn:schemas-microsoft-com:vml" Requires="v">
                <p:oleObj spid="_x0000_s122985" r:id="rId5" imgW="203024" imgH="304536" progId="Equation.3">
                  <p:embed/>
                </p:oleObj>
              </mc:Choice>
              <mc:Fallback>
                <p:oleObj r:id="rId5" imgW="203024" imgH="304536"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07654" y="1317890"/>
                        <a:ext cx="412750"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6" name="Object 28">
            <a:extLst>
              <a:ext uri="{FF2B5EF4-FFF2-40B4-BE49-F238E27FC236}">
                <a16:creationId xmlns:a16="http://schemas.microsoft.com/office/drawing/2014/main" xmlns="" id="{E5A281AE-11A9-0587-BFD5-FFBA8BE105AF}"/>
              </a:ext>
            </a:extLst>
          </p:cNvPr>
          <p:cNvGraphicFramePr>
            <a:graphicFrameLocks noChangeAspect="1"/>
          </p:cNvGraphicFramePr>
          <p:nvPr>
            <p:extLst>
              <p:ext uri="{D42A27DB-BD31-4B8C-83A1-F6EECF244321}">
                <p14:modId xmlns:p14="http://schemas.microsoft.com/office/powerpoint/2010/main" val="3123729564"/>
              </p:ext>
            </p:extLst>
          </p:nvPr>
        </p:nvGraphicFramePr>
        <p:xfrm>
          <a:off x="7599966" y="1319477"/>
          <a:ext cx="436563" cy="641350"/>
        </p:xfrm>
        <a:graphic>
          <a:graphicData uri="http://schemas.openxmlformats.org/presentationml/2006/ole">
            <mc:AlternateContent xmlns:mc="http://schemas.openxmlformats.org/markup-compatibility/2006">
              <mc:Choice xmlns:v="urn:schemas-microsoft-com:vml" Requires="v">
                <p:oleObj spid="_x0000_s122986" r:id="rId7" imgW="215619" imgH="317087" progId="Equation.3">
                  <p:embed/>
                </p:oleObj>
              </mc:Choice>
              <mc:Fallback>
                <p:oleObj r:id="rId7" imgW="215619" imgH="317087"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599966" y="1319477"/>
                        <a:ext cx="436563"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7" name="Text Box 19">
            <a:extLst>
              <a:ext uri="{FF2B5EF4-FFF2-40B4-BE49-F238E27FC236}">
                <a16:creationId xmlns:a16="http://schemas.microsoft.com/office/drawing/2014/main" xmlns="" id="{FC1A0A6F-5EAB-F949-BF85-433DB7AB85E5}"/>
              </a:ext>
            </a:extLst>
          </p:cNvPr>
          <p:cNvSpPr txBox="1">
            <a:spLocks noChangeArrowheads="1"/>
          </p:cNvSpPr>
          <p:nvPr/>
        </p:nvSpPr>
        <p:spPr bwMode="auto">
          <a:xfrm>
            <a:off x="220689" y="4616130"/>
            <a:ext cx="786383" cy="400110"/>
          </a:xfrm>
          <a:prstGeom prst="rect">
            <a:avLst/>
          </a:prstGeom>
          <a:solidFill>
            <a:srgbClr val="FF99FF">
              <a:alpha val="56078"/>
            </a:srgbClr>
          </a:solidFill>
          <a:ln w="9525">
            <a:solidFill>
              <a:schemeClr val="tx1"/>
            </a:solidFill>
            <a:miter lim="800000"/>
            <a:headEnd/>
            <a:tailEnd/>
          </a:ln>
        </p:spPr>
        <p:txBody>
          <a:bodyPr wrap="square">
            <a:spAutoFit/>
          </a:bodyPr>
          <a:lstStyle/>
          <a:p>
            <a:pPr algn="ctr" fontAlgn="t">
              <a:spcBef>
                <a:spcPct val="50000"/>
              </a:spcBef>
            </a:pPr>
            <a:r>
              <a:rPr lang="zh-CN" altLang="en-US" sz="2000" b="1" dirty="0">
                <a:solidFill>
                  <a:schemeClr val="tx1"/>
                </a:solidFill>
                <a:latin typeface="+mn-ea"/>
                <a:ea typeface="+mn-ea"/>
              </a:rPr>
              <a:t>组成</a:t>
            </a:r>
          </a:p>
        </p:txBody>
      </p:sp>
      <p:sp>
        <p:nvSpPr>
          <p:cNvPr id="38" name="Rectangle 20">
            <a:extLst>
              <a:ext uri="{FF2B5EF4-FFF2-40B4-BE49-F238E27FC236}">
                <a16:creationId xmlns:a16="http://schemas.microsoft.com/office/drawing/2014/main" xmlns="" id="{32BC7235-3A39-10DF-852F-91B25A20994A}"/>
              </a:ext>
            </a:extLst>
          </p:cNvPr>
          <p:cNvSpPr>
            <a:spLocks noChangeArrowheads="1"/>
          </p:cNvSpPr>
          <p:nvPr/>
        </p:nvSpPr>
        <p:spPr bwMode="auto">
          <a:xfrm>
            <a:off x="1258145" y="3536950"/>
            <a:ext cx="52641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t">
              <a:spcBef>
                <a:spcPct val="50000"/>
              </a:spcBef>
            </a:pPr>
            <a:r>
              <a:rPr lang="zh-CN" altLang="en-US" sz="2000" b="1" dirty="0">
                <a:solidFill>
                  <a:schemeClr val="tx1"/>
                </a:solidFill>
                <a:latin typeface="+mn-ea"/>
                <a:ea typeface="+mn-ea"/>
              </a:rPr>
              <a:t>放大器──是对反馈信号进行放大；</a:t>
            </a:r>
          </a:p>
        </p:txBody>
      </p:sp>
      <p:sp>
        <p:nvSpPr>
          <p:cNvPr id="39" name="Rectangle 21">
            <a:extLst>
              <a:ext uri="{FF2B5EF4-FFF2-40B4-BE49-F238E27FC236}">
                <a16:creationId xmlns:a16="http://schemas.microsoft.com/office/drawing/2014/main" xmlns="" id="{90151128-94D5-D442-B342-1F308623D165}"/>
              </a:ext>
            </a:extLst>
          </p:cNvPr>
          <p:cNvSpPr>
            <a:spLocks noChangeArrowheads="1"/>
          </p:cNvSpPr>
          <p:nvPr/>
        </p:nvSpPr>
        <p:spPr bwMode="auto">
          <a:xfrm>
            <a:off x="1226395" y="4178979"/>
            <a:ext cx="6702697"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000" b="1" dirty="0">
                <a:solidFill>
                  <a:schemeClr val="tx1"/>
                </a:solidFill>
                <a:latin typeface="+mn-ea"/>
                <a:ea typeface="+mn-ea"/>
              </a:rPr>
              <a:t>正反馈网络──是将输出回路中的能量取出一部分加到放大器的输入端；</a:t>
            </a:r>
          </a:p>
        </p:txBody>
      </p:sp>
      <p:sp>
        <p:nvSpPr>
          <p:cNvPr id="40" name="Rectangle 22">
            <a:extLst>
              <a:ext uri="{FF2B5EF4-FFF2-40B4-BE49-F238E27FC236}">
                <a16:creationId xmlns:a16="http://schemas.microsoft.com/office/drawing/2014/main" xmlns="" id="{A17EE174-BFDF-1DA8-0015-DD40F9939EC0}"/>
              </a:ext>
            </a:extLst>
          </p:cNvPr>
          <p:cNvSpPr>
            <a:spLocks noChangeArrowheads="1"/>
          </p:cNvSpPr>
          <p:nvPr/>
        </p:nvSpPr>
        <p:spPr bwMode="auto">
          <a:xfrm>
            <a:off x="1258145" y="5057588"/>
            <a:ext cx="521809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fontAlgn="t">
              <a:spcBef>
                <a:spcPct val="50000"/>
              </a:spcBef>
            </a:pPr>
            <a:r>
              <a:rPr lang="zh-CN" altLang="en-US" sz="2000" b="1" dirty="0">
                <a:solidFill>
                  <a:schemeClr val="tx1"/>
                </a:solidFill>
                <a:latin typeface="+mn-ea"/>
                <a:ea typeface="+mn-ea"/>
              </a:rPr>
              <a:t>选频网络── 是获得单一确定的振荡频率；</a:t>
            </a:r>
          </a:p>
        </p:txBody>
      </p:sp>
      <p:sp>
        <p:nvSpPr>
          <p:cNvPr id="41" name="Rectangle 23">
            <a:extLst>
              <a:ext uri="{FF2B5EF4-FFF2-40B4-BE49-F238E27FC236}">
                <a16:creationId xmlns:a16="http://schemas.microsoft.com/office/drawing/2014/main" xmlns="" id="{0D470FC7-F404-F0F7-17AC-5DC087C4E6A2}"/>
              </a:ext>
            </a:extLst>
          </p:cNvPr>
          <p:cNvSpPr>
            <a:spLocks noChangeArrowheads="1"/>
          </p:cNvSpPr>
          <p:nvPr/>
        </p:nvSpPr>
        <p:spPr bwMode="auto">
          <a:xfrm>
            <a:off x="1271435" y="5783672"/>
            <a:ext cx="405591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fontAlgn="t">
              <a:spcBef>
                <a:spcPct val="50000"/>
              </a:spcBef>
            </a:pPr>
            <a:r>
              <a:rPr lang="zh-CN" altLang="en-US" sz="2000" b="1" dirty="0">
                <a:solidFill>
                  <a:schemeClr val="tx1"/>
                </a:solidFill>
                <a:latin typeface="+mn-ea"/>
                <a:ea typeface="+mn-ea"/>
              </a:rPr>
              <a:t>稳幅环节──使振荡的输出稳定。</a:t>
            </a:r>
          </a:p>
        </p:txBody>
      </p:sp>
      <p:sp>
        <p:nvSpPr>
          <p:cNvPr id="42" name="Rectangle 24">
            <a:extLst>
              <a:ext uri="{FF2B5EF4-FFF2-40B4-BE49-F238E27FC236}">
                <a16:creationId xmlns:a16="http://schemas.microsoft.com/office/drawing/2014/main" xmlns="" id="{B546E83B-1371-1758-E56B-190BB86857B5}"/>
              </a:ext>
            </a:extLst>
          </p:cNvPr>
          <p:cNvSpPr>
            <a:spLocks noChangeArrowheads="1"/>
          </p:cNvSpPr>
          <p:nvPr/>
        </p:nvSpPr>
        <p:spPr bwMode="auto">
          <a:xfrm>
            <a:off x="5191875" y="5550112"/>
            <a:ext cx="954107" cy="314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70000"/>
              </a:lnSpc>
            </a:pPr>
            <a:r>
              <a:rPr lang="zh-CN" altLang="en-US" sz="2000" b="1" dirty="0">
                <a:solidFill>
                  <a:schemeClr val="tx1"/>
                </a:solidFill>
                <a:latin typeface="+mn-ea"/>
                <a:ea typeface="+mn-ea"/>
              </a:rPr>
              <a:t>内稳幅</a:t>
            </a:r>
          </a:p>
        </p:txBody>
      </p:sp>
      <p:sp>
        <p:nvSpPr>
          <p:cNvPr id="43" name="AutoShape 25">
            <a:extLst>
              <a:ext uri="{FF2B5EF4-FFF2-40B4-BE49-F238E27FC236}">
                <a16:creationId xmlns:a16="http://schemas.microsoft.com/office/drawing/2014/main" xmlns="" id="{7DE682F2-8C78-9E5D-2CB5-F7428D1B89A6}"/>
              </a:ext>
            </a:extLst>
          </p:cNvPr>
          <p:cNvSpPr>
            <a:spLocks/>
          </p:cNvSpPr>
          <p:nvPr/>
        </p:nvSpPr>
        <p:spPr bwMode="auto">
          <a:xfrm>
            <a:off x="1056533" y="3648644"/>
            <a:ext cx="169862" cy="2335083"/>
          </a:xfrm>
          <a:prstGeom prst="leftBrace">
            <a:avLst>
              <a:gd name="adj1" fmla="val 99599"/>
              <a:gd name="adj2" fmla="val 50000"/>
            </a:avLst>
          </a:prstGeom>
          <a:noFill/>
          <a:ln w="25400">
            <a:solidFill>
              <a:srgbClr val="CC66FF"/>
            </a:solidFill>
            <a:round/>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p>
            <a:endParaRPr lang="zh-CN" altLang="en-US" sz="2000">
              <a:solidFill>
                <a:schemeClr val="tx1"/>
              </a:solidFill>
              <a:latin typeface="+mn-ea"/>
              <a:ea typeface="+mn-ea"/>
            </a:endParaRPr>
          </a:p>
        </p:txBody>
      </p:sp>
      <p:sp>
        <p:nvSpPr>
          <p:cNvPr id="44" name="AutoShape 26">
            <a:extLst>
              <a:ext uri="{FF2B5EF4-FFF2-40B4-BE49-F238E27FC236}">
                <a16:creationId xmlns:a16="http://schemas.microsoft.com/office/drawing/2014/main" xmlns="" id="{2FC4115D-9081-3467-7F02-51ECDB9A734A}"/>
              </a:ext>
            </a:extLst>
          </p:cNvPr>
          <p:cNvSpPr>
            <a:spLocks/>
          </p:cNvSpPr>
          <p:nvPr/>
        </p:nvSpPr>
        <p:spPr bwMode="auto">
          <a:xfrm>
            <a:off x="5075079" y="5750781"/>
            <a:ext cx="174873" cy="465892"/>
          </a:xfrm>
          <a:prstGeom prst="leftBrace">
            <a:avLst>
              <a:gd name="adj1" fmla="val 70199"/>
              <a:gd name="adj2" fmla="val 50000"/>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p>
            <a:endParaRPr lang="zh-CN" altLang="en-US" sz="2000">
              <a:solidFill>
                <a:schemeClr val="tx1"/>
              </a:solidFill>
              <a:latin typeface="+mn-ea"/>
              <a:ea typeface="+mn-ea"/>
            </a:endParaRPr>
          </a:p>
        </p:txBody>
      </p:sp>
      <p:sp>
        <p:nvSpPr>
          <p:cNvPr id="45" name="Rectangle 27">
            <a:extLst>
              <a:ext uri="{FF2B5EF4-FFF2-40B4-BE49-F238E27FC236}">
                <a16:creationId xmlns:a16="http://schemas.microsoft.com/office/drawing/2014/main" xmlns="" id="{3A9FE1CB-E517-4293-0E86-F5A10B5A891A}"/>
              </a:ext>
            </a:extLst>
          </p:cNvPr>
          <p:cNvSpPr>
            <a:spLocks noChangeArrowheads="1"/>
          </p:cNvSpPr>
          <p:nvPr/>
        </p:nvSpPr>
        <p:spPr bwMode="auto">
          <a:xfrm>
            <a:off x="5187132" y="6092825"/>
            <a:ext cx="958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fontAlgn="t">
              <a:spcBef>
                <a:spcPct val="50000"/>
              </a:spcBef>
            </a:pPr>
            <a:r>
              <a:rPr lang="zh-CN" altLang="en-US" sz="2000" b="1">
                <a:solidFill>
                  <a:schemeClr val="tx1"/>
                </a:solidFill>
                <a:latin typeface="+mn-ea"/>
                <a:ea typeface="+mn-ea"/>
              </a:rPr>
              <a:t>外稳幅</a:t>
            </a:r>
          </a:p>
        </p:txBody>
      </p:sp>
      <p:sp>
        <p:nvSpPr>
          <p:cNvPr id="46" name="AutoShape 28">
            <a:extLst>
              <a:ext uri="{FF2B5EF4-FFF2-40B4-BE49-F238E27FC236}">
                <a16:creationId xmlns:a16="http://schemas.microsoft.com/office/drawing/2014/main" xmlns="" id="{470ACB0B-F4DF-61E5-2A67-E3F50A52FBAF}"/>
              </a:ext>
            </a:extLst>
          </p:cNvPr>
          <p:cNvSpPr>
            <a:spLocks noChangeArrowheads="1"/>
          </p:cNvSpPr>
          <p:nvPr/>
        </p:nvSpPr>
        <p:spPr bwMode="auto">
          <a:xfrm>
            <a:off x="6511935" y="5451380"/>
            <a:ext cx="1512888" cy="822325"/>
          </a:xfrm>
          <a:prstGeom prst="wedgeRectCallout">
            <a:avLst>
              <a:gd name="adj1" fmla="val -73204"/>
              <a:gd name="adj2" fmla="val -17139"/>
            </a:avLst>
          </a:prstGeom>
          <a:solidFill>
            <a:srgbClr val="CCCCFF">
              <a:alpha val="50195"/>
            </a:srgbClr>
          </a:solidFill>
          <a:ln w="9525">
            <a:solidFill>
              <a:srgbClr val="FF3300"/>
            </a:solidFill>
            <a:miter lim="800000"/>
            <a:headEnd/>
            <a:tailEnd/>
          </a:ln>
        </p:spPr>
        <p:txBody>
          <a:bodyPr lIns="72000" tIns="72000" rIns="72000" bIns="72000">
            <a:spAutoFit/>
          </a:bodyPr>
          <a:lstStyle/>
          <a:p>
            <a:pPr>
              <a:spcBef>
                <a:spcPct val="20000"/>
              </a:spcBef>
            </a:pPr>
            <a:r>
              <a:rPr lang="zh-CN" altLang="en-US" sz="2000" b="1" dirty="0">
                <a:solidFill>
                  <a:schemeClr val="tx1"/>
                </a:solidFill>
                <a:latin typeface="+mn-ea"/>
                <a:ea typeface="+mn-ea"/>
              </a:rPr>
              <a:t>利用放大器</a:t>
            </a:r>
          </a:p>
          <a:p>
            <a:pPr>
              <a:spcBef>
                <a:spcPct val="20000"/>
              </a:spcBef>
            </a:pPr>
            <a:r>
              <a:rPr lang="zh-CN" altLang="en-US" sz="2000" b="1" dirty="0">
                <a:solidFill>
                  <a:schemeClr val="tx1"/>
                </a:solidFill>
                <a:latin typeface="+mn-ea"/>
                <a:ea typeface="+mn-ea"/>
              </a:rPr>
              <a:t>件的非线性</a:t>
            </a:r>
          </a:p>
        </p:txBody>
      </p:sp>
      <p:sp>
        <p:nvSpPr>
          <p:cNvPr id="47"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5.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正弦波</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振荡器</a:t>
            </a:r>
          </a:p>
        </p:txBody>
      </p:sp>
    </p:spTree>
    <p:extLst>
      <p:ext uri="{BB962C8B-B14F-4D97-AF65-F5344CB8AC3E}">
        <p14:creationId xmlns:p14="http://schemas.microsoft.com/office/powerpoint/2010/main" val="2525723679"/>
      </p:ext>
    </p:extLst>
  </p:cSld>
  <p:clrMapOvr>
    <a:masterClrMapping/>
  </p:clrMapOvr>
  <p:timing>
    <p:tnLst>
      <p:par>
        <p:cTn id="1" dur="indefinite" restart="never" nodeType="tmRoot"/>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161</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5.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正弦波</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振荡器</a:t>
            </a:r>
          </a:p>
        </p:txBody>
      </p:sp>
      <p:sp>
        <p:nvSpPr>
          <p:cNvPr id="5" name="Rectangle 3">
            <a:extLst>
              <a:ext uri="{FF2B5EF4-FFF2-40B4-BE49-F238E27FC236}">
                <a16:creationId xmlns:a16="http://schemas.microsoft.com/office/drawing/2014/main" xmlns="" id="{2BDC56BC-CD09-968F-DA03-AA52DBFF82D3}"/>
              </a:ext>
            </a:extLst>
          </p:cNvPr>
          <p:cNvSpPr txBox="1">
            <a:spLocks noChangeArrowheads="1"/>
          </p:cNvSpPr>
          <p:nvPr/>
        </p:nvSpPr>
        <p:spPr>
          <a:xfrm>
            <a:off x="353883" y="1412776"/>
            <a:ext cx="4114800" cy="546100"/>
          </a:xfrm>
          <a:prstGeom prst="rect">
            <a:avLst/>
          </a:prstGeom>
        </p:spPr>
        <p:txBody>
          <a:bodyPr/>
          <a:lstStyle>
            <a:lvl1pPr algn="l" rtl="0" eaLnBrk="0" fontAlgn="base" hangingPunct="0">
              <a:spcBef>
                <a:spcPct val="0"/>
              </a:spcBef>
              <a:spcAft>
                <a:spcPct val="0"/>
              </a:spcAft>
              <a:defRPr lang="zh-CN" altLang="en-US" sz="3600" b="1" baseline="0" dirty="0">
                <a:solidFill>
                  <a:schemeClr val="tx2"/>
                </a:solidFill>
                <a:latin typeface="Times New Roman" panose="02020603050405020304" pitchFamily="18" charset="0"/>
                <a:ea typeface="楷体" panose="02010609060101010101" pitchFamily="49" charset="-122"/>
                <a:cs typeface="+mj-cs"/>
              </a:defRPr>
            </a:lvl1pPr>
            <a:lvl2pPr algn="ctr" rtl="0" eaLnBrk="0" fontAlgn="base" hangingPunct="0">
              <a:spcBef>
                <a:spcPct val="0"/>
              </a:spcBef>
              <a:spcAft>
                <a:spcPct val="0"/>
              </a:spcAft>
              <a:defRPr sz="3200">
                <a:solidFill>
                  <a:schemeClr val="tx2"/>
                </a:solidFill>
                <a:latin typeface="Arial" pitchFamily="34" charset="0"/>
                <a:ea typeface="宋体" pitchFamily="2" charset="-122"/>
              </a:defRPr>
            </a:lvl2pPr>
            <a:lvl3pPr algn="ctr" rtl="0" eaLnBrk="0" fontAlgn="base" hangingPunct="0">
              <a:spcBef>
                <a:spcPct val="0"/>
              </a:spcBef>
              <a:spcAft>
                <a:spcPct val="0"/>
              </a:spcAft>
              <a:defRPr sz="3200">
                <a:solidFill>
                  <a:schemeClr val="tx2"/>
                </a:solidFill>
                <a:latin typeface="Arial" pitchFamily="34" charset="0"/>
                <a:ea typeface="宋体" pitchFamily="2" charset="-122"/>
              </a:defRPr>
            </a:lvl3pPr>
            <a:lvl4pPr algn="ctr" rtl="0" eaLnBrk="0" fontAlgn="base" hangingPunct="0">
              <a:spcBef>
                <a:spcPct val="0"/>
              </a:spcBef>
              <a:spcAft>
                <a:spcPct val="0"/>
              </a:spcAft>
              <a:defRPr sz="3200">
                <a:solidFill>
                  <a:schemeClr val="tx2"/>
                </a:solidFill>
                <a:latin typeface="Arial" pitchFamily="34" charset="0"/>
                <a:ea typeface="宋体" pitchFamily="2" charset="-122"/>
              </a:defRPr>
            </a:lvl4pPr>
            <a:lvl5pPr algn="ctr" rtl="0" eaLnBrk="0" fontAlgn="base" hangingPunct="0">
              <a:spcBef>
                <a:spcPct val="0"/>
              </a:spcBef>
              <a:spcAft>
                <a:spcPct val="0"/>
              </a:spcAft>
              <a:defRPr sz="3200">
                <a:solidFill>
                  <a:schemeClr val="tx2"/>
                </a:solidFill>
                <a:latin typeface="Arial" pitchFamily="34" charset="0"/>
                <a:ea typeface="宋体" pitchFamily="2" charset="-122"/>
              </a:defRPr>
            </a:lvl5pPr>
            <a:lvl6pPr marL="457200" algn="ctr" rtl="0" eaLnBrk="0" fontAlgn="base" hangingPunct="0">
              <a:spcBef>
                <a:spcPct val="0"/>
              </a:spcBef>
              <a:spcAft>
                <a:spcPct val="0"/>
              </a:spcAft>
              <a:defRPr sz="3200">
                <a:solidFill>
                  <a:schemeClr val="tx2"/>
                </a:solidFill>
                <a:latin typeface="Arial" pitchFamily="34" charset="0"/>
                <a:ea typeface="宋体" pitchFamily="2" charset="-122"/>
              </a:defRPr>
            </a:lvl6pPr>
            <a:lvl7pPr marL="914400" algn="ctr" rtl="0" eaLnBrk="0" fontAlgn="base" hangingPunct="0">
              <a:spcBef>
                <a:spcPct val="0"/>
              </a:spcBef>
              <a:spcAft>
                <a:spcPct val="0"/>
              </a:spcAft>
              <a:defRPr sz="3200">
                <a:solidFill>
                  <a:schemeClr val="tx2"/>
                </a:solidFill>
                <a:latin typeface="Arial" pitchFamily="34" charset="0"/>
                <a:ea typeface="宋体" pitchFamily="2" charset="-122"/>
              </a:defRPr>
            </a:lvl7pPr>
            <a:lvl8pPr marL="1371600" algn="ctr" rtl="0" eaLnBrk="0" fontAlgn="base" hangingPunct="0">
              <a:spcBef>
                <a:spcPct val="0"/>
              </a:spcBef>
              <a:spcAft>
                <a:spcPct val="0"/>
              </a:spcAft>
              <a:defRPr sz="3200">
                <a:solidFill>
                  <a:schemeClr val="tx2"/>
                </a:solidFill>
                <a:latin typeface="Arial" pitchFamily="34" charset="0"/>
                <a:ea typeface="宋体" pitchFamily="2" charset="-122"/>
              </a:defRPr>
            </a:lvl8pPr>
            <a:lvl9pPr marL="1828800" algn="ctr" rtl="0" eaLnBrk="0" fontAlgn="base" hangingPunct="0">
              <a:spcBef>
                <a:spcPct val="0"/>
              </a:spcBef>
              <a:spcAft>
                <a:spcPct val="0"/>
              </a:spcAft>
              <a:defRPr sz="3200">
                <a:solidFill>
                  <a:schemeClr val="tx2"/>
                </a:solidFill>
                <a:latin typeface="Arial" pitchFamily="34" charset="0"/>
                <a:ea typeface="宋体" pitchFamily="2" charset="-122"/>
              </a:defRPr>
            </a:lvl9pPr>
          </a:lstStyle>
          <a:p>
            <a:pPr eaLnBrk="1" hangingPunct="1"/>
            <a:r>
              <a:rPr lang="zh-CN" altLang="en-US" sz="2400" kern="0">
                <a:solidFill>
                  <a:schemeClr val="tx1"/>
                </a:solidFill>
                <a:latin typeface="+mn-ea"/>
                <a:ea typeface="+mn-ea"/>
              </a:rPr>
              <a:t>二、振荡的建立与起振条件</a:t>
            </a:r>
          </a:p>
        </p:txBody>
      </p:sp>
      <p:graphicFrame>
        <p:nvGraphicFramePr>
          <p:cNvPr id="6" name="Object 4">
            <a:extLst>
              <a:ext uri="{FF2B5EF4-FFF2-40B4-BE49-F238E27FC236}">
                <a16:creationId xmlns:a16="http://schemas.microsoft.com/office/drawing/2014/main" xmlns="" id="{71032617-909F-12DB-F627-EF4E8A056313}"/>
              </a:ext>
            </a:extLst>
          </p:cNvPr>
          <p:cNvGraphicFramePr>
            <a:graphicFrameLocks noChangeAspect="1"/>
          </p:cNvGraphicFramePr>
          <p:nvPr>
            <p:extLst>
              <p:ext uri="{D42A27DB-BD31-4B8C-83A1-F6EECF244321}">
                <p14:modId xmlns:p14="http://schemas.microsoft.com/office/powerpoint/2010/main" val="2734131890"/>
              </p:ext>
            </p:extLst>
          </p:nvPr>
        </p:nvGraphicFramePr>
        <p:xfrm>
          <a:off x="1507158" y="3628976"/>
          <a:ext cx="1722438" cy="1003300"/>
        </p:xfrm>
        <a:graphic>
          <a:graphicData uri="http://schemas.openxmlformats.org/presentationml/2006/ole">
            <mc:AlternateContent xmlns:mc="http://schemas.openxmlformats.org/markup-compatibility/2006">
              <mc:Choice xmlns:v="urn:schemas-microsoft-com:vml" Requires="v">
                <p:oleObj spid="_x0000_s124104" r:id="rId3" imgW="1002865" imgH="583947" progId="Equation.3">
                  <p:embed/>
                </p:oleObj>
              </mc:Choice>
              <mc:Fallback>
                <p:oleObj r:id="rId3" imgW="1002865" imgH="583947" progId="Equation.3">
                  <p:embed/>
                  <p:pic>
                    <p:nvPicPr>
                      <p:cNvPr id="0" name=""/>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7158" y="3628976"/>
                        <a:ext cx="1722438" cy="1003300"/>
                      </a:xfrm>
                      <a:prstGeom prst="rect">
                        <a:avLst/>
                      </a:prstGeom>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 name="Object 29">
            <a:extLst>
              <a:ext uri="{FF2B5EF4-FFF2-40B4-BE49-F238E27FC236}">
                <a16:creationId xmlns:a16="http://schemas.microsoft.com/office/drawing/2014/main" xmlns="" id="{44582F22-9B25-B5DF-4BFF-B9B5D5A35D14}"/>
              </a:ext>
            </a:extLst>
          </p:cNvPr>
          <p:cNvGraphicFramePr>
            <a:graphicFrameLocks noChangeAspect="1"/>
          </p:cNvGraphicFramePr>
          <p:nvPr>
            <p:extLst>
              <p:ext uri="{D42A27DB-BD31-4B8C-83A1-F6EECF244321}">
                <p14:modId xmlns:p14="http://schemas.microsoft.com/office/powerpoint/2010/main" val="3132633380"/>
              </p:ext>
            </p:extLst>
          </p:nvPr>
        </p:nvGraphicFramePr>
        <p:xfrm>
          <a:off x="1043608" y="2236738"/>
          <a:ext cx="2052638" cy="1071563"/>
        </p:xfrm>
        <a:graphic>
          <a:graphicData uri="http://schemas.openxmlformats.org/presentationml/2006/ole">
            <mc:AlternateContent xmlns:mc="http://schemas.openxmlformats.org/markup-compatibility/2006">
              <mc:Choice xmlns:v="urn:schemas-microsoft-com:vml" Requires="v">
                <p:oleObj spid="_x0000_s124105" r:id="rId5" imgW="1066800" imgH="558800" progId="Equation.3">
                  <p:embed/>
                </p:oleObj>
              </mc:Choice>
              <mc:Fallback>
                <p:oleObj r:id="rId5" imgW="1066800" imgH="5588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43608" y="2236738"/>
                        <a:ext cx="2052638" cy="1071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 name="Text Box 31">
            <a:extLst>
              <a:ext uri="{FF2B5EF4-FFF2-40B4-BE49-F238E27FC236}">
                <a16:creationId xmlns:a16="http://schemas.microsoft.com/office/drawing/2014/main" xmlns="" id="{124F980E-D8B2-9E31-F89E-8B2C2CBC6431}"/>
              </a:ext>
            </a:extLst>
          </p:cNvPr>
          <p:cNvSpPr txBox="1">
            <a:spLocks noChangeArrowheads="1"/>
          </p:cNvSpPr>
          <p:nvPr/>
        </p:nvSpPr>
        <p:spPr bwMode="auto">
          <a:xfrm>
            <a:off x="478458" y="3347988"/>
            <a:ext cx="20574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t">
              <a:spcBef>
                <a:spcPct val="50000"/>
              </a:spcBef>
            </a:pPr>
            <a:r>
              <a:rPr lang="zh-CN" altLang="en-US" sz="2000" b="1" dirty="0">
                <a:solidFill>
                  <a:schemeClr val="tx1"/>
                </a:solidFill>
                <a:latin typeface="+mn-ea"/>
                <a:ea typeface="+mn-ea"/>
              </a:rPr>
              <a:t>反馈系数：</a:t>
            </a:r>
          </a:p>
        </p:txBody>
      </p:sp>
      <p:graphicFrame>
        <p:nvGraphicFramePr>
          <p:cNvPr id="9" name="Object 35">
            <a:extLst>
              <a:ext uri="{FF2B5EF4-FFF2-40B4-BE49-F238E27FC236}">
                <a16:creationId xmlns:a16="http://schemas.microsoft.com/office/drawing/2014/main" xmlns="" id="{2199B04B-F005-0AB2-4FF4-0392805E98B2}"/>
              </a:ext>
            </a:extLst>
          </p:cNvPr>
          <p:cNvGraphicFramePr>
            <a:graphicFrameLocks noChangeAspect="1"/>
          </p:cNvGraphicFramePr>
          <p:nvPr>
            <p:extLst>
              <p:ext uri="{D42A27DB-BD31-4B8C-83A1-F6EECF244321}">
                <p14:modId xmlns:p14="http://schemas.microsoft.com/office/powerpoint/2010/main" val="3489759318"/>
              </p:ext>
            </p:extLst>
          </p:nvPr>
        </p:nvGraphicFramePr>
        <p:xfrm>
          <a:off x="486396" y="4578301"/>
          <a:ext cx="2274887" cy="1046162"/>
        </p:xfrm>
        <a:graphic>
          <a:graphicData uri="http://schemas.openxmlformats.org/presentationml/2006/ole">
            <mc:AlternateContent xmlns:mc="http://schemas.openxmlformats.org/markup-compatibility/2006">
              <mc:Choice xmlns:v="urn:schemas-microsoft-com:vml" Requires="v">
                <p:oleObj spid="_x0000_s124106" r:id="rId7" imgW="1269449" imgH="583947" progId="Equation.3">
                  <p:embed/>
                </p:oleObj>
              </mc:Choice>
              <mc:Fallback>
                <p:oleObj r:id="rId7" imgW="1269449" imgH="583947"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6396" y="4578301"/>
                        <a:ext cx="2274887" cy="1046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0" name="AutoShape 36">
            <a:extLst>
              <a:ext uri="{FF2B5EF4-FFF2-40B4-BE49-F238E27FC236}">
                <a16:creationId xmlns:a16="http://schemas.microsoft.com/office/drawing/2014/main" xmlns="" id="{80FDE55D-DB6C-B88A-ACE3-246C037D9724}"/>
              </a:ext>
            </a:extLst>
          </p:cNvPr>
          <p:cNvSpPr>
            <a:spLocks noChangeArrowheads="1"/>
          </p:cNvSpPr>
          <p:nvPr/>
        </p:nvSpPr>
        <p:spPr bwMode="auto">
          <a:xfrm>
            <a:off x="557833" y="5730826"/>
            <a:ext cx="1270000" cy="336550"/>
          </a:xfrm>
          <a:prstGeom prst="wedgeRectCallout">
            <a:avLst>
              <a:gd name="adj1" fmla="val -28977"/>
              <a:gd name="adj2" fmla="val -197097"/>
            </a:avLst>
          </a:prstGeom>
          <a:solidFill>
            <a:schemeClr val="accent1">
              <a:alpha val="41960"/>
            </a:schemeClr>
          </a:solidFill>
          <a:ln w="9525">
            <a:solidFill>
              <a:schemeClr val="tx1"/>
            </a:solidFill>
            <a:miter lim="800000"/>
            <a:headEnd/>
            <a:tailEnd/>
          </a:ln>
        </p:spPr>
        <p:txBody>
          <a:bodyPr/>
          <a:lstStyle/>
          <a:p>
            <a:pPr algn="ctr" fontAlgn="t">
              <a:spcBef>
                <a:spcPct val="50000"/>
              </a:spcBef>
            </a:pPr>
            <a:r>
              <a:rPr lang="zh-CN" altLang="en-US" sz="2000" b="1">
                <a:solidFill>
                  <a:schemeClr val="tx1"/>
                </a:solidFill>
                <a:latin typeface="+mn-ea"/>
                <a:ea typeface="+mn-ea"/>
              </a:rPr>
              <a:t>环路增益</a:t>
            </a:r>
          </a:p>
        </p:txBody>
      </p:sp>
      <p:graphicFrame>
        <p:nvGraphicFramePr>
          <p:cNvPr id="11" name="Object 37">
            <a:extLst>
              <a:ext uri="{FF2B5EF4-FFF2-40B4-BE49-F238E27FC236}">
                <a16:creationId xmlns:a16="http://schemas.microsoft.com/office/drawing/2014/main" xmlns="" id="{816FDAA6-6B71-EB74-F0B1-2BBE7E63E9C6}"/>
              </a:ext>
            </a:extLst>
          </p:cNvPr>
          <p:cNvGraphicFramePr>
            <a:graphicFrameLocks noChangeAspect="1"/>
          </p:cNvGraphicFramePr>
          <p:nvPr>
            <p:extLst>
              <p:ext uri="{D42A27DB-BD31-4B8C-83A1-F6EECF244321}">
                <p14:modId xmlns:p14="http://schemas.microsoft.com/office/powerpoint/2010/main" val="2479485493"/>
              </p:ext>
            </p:extLst>
          </p:nvPr>
        </p:nvGraphicFramePr>
        <p:xfrm>
          <a:off x="2712071" y="4718001"/>
          <a:ext cx="795337" cy="522287"/>
        </p:xfrm>
        <a:graphic>
          <a:graphicData uri="http://schemas.openxmlformats.org/presentationml/2006/ole">
            <mc:AlternateContent xmlns:mc="http://schemas.openxmlformats.org/markup-compatibility/2006">
              <mc:Choice xmlns:v="urn:schemas-microsoft-com:vml" Requires="v">
                <p:oleObj spid="_x0000_s124107" r:id="rId9" imgW="406048" imgH="266469" progId="Equation.3">
                  <p:embed/>
                </p:oleObj>
              </mc:Choice>
              <mc:Fallback>
                <p:oleObj r:id="rId9" imgW="406048" imgH="266469" progId="Equation.3">
                  <p:embed/>
                  <p:pic>
                    <p:nvPicPr>
                      <p:cNvPr id="0" name=""/>
                      <p:cNvPicPr>
                        <a:picLocks noGrp="1"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712071" y="4718001"/>
                        <a:ext cx="795337" cy="522287"/>
                      </a:xfrm>
                      <a:prstGeom prst="rect">
                        <a:avLst/>
                      </a:prstGeom>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2" name="Object 6">
            <a:extLst>
              <a:ext uri="{FF2B5EF4-FFF2-40B4-BE49-F238E27FC236}">
                <a16:creationId xmlns:a16="http://schemas.microsoft.com/office/drawing/2014/main" xmlns="" id="{BFCD575F-B691-7A4D-01C2-43CD9B1BE0E9}"/>
              </a:ext>
            </a:extLst>
          </p:cNvPr>
          <p:cNvGraphicFramePr>
            <a:graphicFrameLocks noChangeAspect="1"/>
          </p:cNvGraphicFramePr>
          <p:nvPr>
            <p:extLst>
              <p:ext uri="{D42A27DB-BD31-4B8C-83A1-F6EECF244321}">
                <p14:modId xmlns:p14="http://schemas.microsoft.com/office/powerpoint/2010/main" val="3081157730"/>
              </p:ext>
            </p:extLst>
          </p:nvPr>
        </p:nvGraphicFramePr>
        <p:xfrm>
          <a:off x="3426446" y="4887863"/>
          <a:ext cx="517525" cy="381000"/>
        </p:xfrm>
        <a:graphic>
          <a:graphicData uri="http://schemas.openxmlformats.org/presentationml/2006/ole">
            <mc:AlternateContent xmlns:mc="http://schemas.openxmlformats.org/markup-compatibility/2006">
              <mc:Choice xmlns:v="urn:schemas-microsoft-com:vml" Requires="v">
                <p:oleObj spid="_x0000_s124108" r:id="rId11" imgW="215619" imgH="164885" progId="Equation.3">
                  <p:embed/>
                </p:oleObj>
              </mc:Choice>
              <mc:Fallback>
                <p:oleObj r:id="rId11" imgW="215619" imgH="164885" progId="Equation.3">
                  <p:embed/>
                  <p:pic>
                    <p:nvPicPr>
                      <p:cNvPr id="0" name=""/>
                      <p:cNvPicPr>
                        <a:picLocks noGrp="1"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426446" y="4887863"/>
                        <a:ext cx="517525" cy="381000"/>
                      </a:xfrm>
                      <a:prstGeom prst="rect">
                        <a:avLst/>
                      </a:prstGeom>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3" name="Text Box 30">
            <a:extLst>
              <a:ext uri="{FF2B5EF4-FFF2-40B4-BE49-F238E27FC236}">
                <a16:creationId xmlns:a16="http://schemas.microsoft.com/office/drawing/2014/main" xmlns="" id="{3EF9DB23-AB41-A580-7D14-0BC51F77A321}"/>
              </a:ext>
            </a:extLst>
          </p:cNvPr>
          <p:cNvSpPr txBox="1">
            <a:spLocks noChangeArrowheads="1"/>
          </p:cNvSpPr>
          <p:nvPr/>
        </p:nvSpPr>
        <p:spPr bwMode="auto">
          <a:xfrm>
            <a:off x="478458" y="1869399"/>
            <a:ext cx="31242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t">
              <a:spcBef>
                <a:spcPct val="50000"/>
              </a:spcBef>
            </a:pPr>
            <a:r>
              <a:rPr lang="zh-CN" altLang="en-US" sz="2000" b="1" dirty="0">
                <a:solidFill>
                  <a:srgbClr val="000000"/>
                </a:solidFill>
                <a:latin typeface="+mn-ea"/>
                <a:ea typeface="+mn-ea"/>
              </a:rPr>
              <a:t>放大器的电压增益：</a:t>
            </a:r>
          </a:p>
        </p:txBody>
      </p:sp>
      <p:pic>
        <p:nvPicPr>
          <p:cNvPr id="14" name="图片 13">
            <a:extLst>
              <a:ext uri="{FF2B5EF4-FFF2-40B4-BE49-F238E27FC236}">
                <a16:creationId xmlns:a16="http://schemas.microsoft.com/office/drawing/2014/main" xmlns="" id="{C9910C69-4127-B1B8-577F-AE68507E74A6}"/>
              </a:ext>
            </a:extLst>
          </p:cNvPr>
          <p:cNvPicPr>
            <a:picLocks noChangeAspect="1"/>
          </p:cNvPicPr>
          <p:nvPr/>
        </p:nvPicPr>
        <p:blipFill>
          <a:blip r:embed="rId13"/>
          <a:stretch>
            <a:fillRect/>
          </a:stretch>
        </p:blipFill>
        <p:spPr>
          <a:xfrm>
            <a:off x="4098076" y="1841142"/>
            <a:ext cx="4434203" cy="3175715"/>
          </a:xfrm>
          <a:prstGeom prst="rect">
            <a:avLst/>
          </a:prstGeom>
        </p:spPr>
      </p:pic>
      <p:graphicFrame>
        <p:nvGraphicFramePr>
          <p:cNvPr id="15" name="Object 33">
            <a:extLst>
              <a:ext uri="{FF2B5EF4-FFF2-40B4-BE49-F238E27FC236}">
                <a16:creationId xmlns:a16="http://schemas.microsoft.com/office/drawing/2014/main" xmlns="" id="{21E99B13-D128-CDCC-C167-947B39F5B4A9}"/>
              </a:ext>
            </a:extLst>
          </p:cNvPr>
          <p:cNvGraphicFramePr>
            <a:graphicFrameLocks noChangeAspect="1"/>
          </p:cNvGraphicFramePr>
          <p:nvPr>
            <p:extLst>
              <p:ext uri="{D42A27DB-BD31-4B8C-83A1-F6EECF244321}">
                <p14:modId xmlns:p14="http://schemas.microsoft.com/office/powerpoint/2010/main" val="254630302"/>
              </p:ext>
            </p:extLst>
          </p:nvPr>
        </p:nvGraphicFramePr>
        <p:xfrm>
          <a:off x="1947942" y="5637213"/>
          <a:ext cx="1404938" cy="647700"/>
        </p:xfrm>
        <a:graphic>
          <a:graphicData uri="http://schemas.openxmlformats.org/presentationml/2006/ole">
            <mc:AlternateContent xmlns:mc="http://schemas.openxmlformats.org/markup-compatibility/2006">
              <mc:Choice xmlns:v="urn:schemas-microsoft-com:vml" Requires="v">
                <p:oleObj spid="_x0000_s124109" r:id="rId14" imgW="660113" imgH="304668" progId="Equation.3">
                  <p:embed/>
                </p:oleObj>
              </mc:Choice>
              <mc:Fallback>
                <p:oleObj r:id="rId14" imgW="660113" imgH="304668"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947942" y="5637213"/>
                        <a:ext cx="1404938" cy="647700"/>
                      </a:xfrm>
                      <a:prstGeom prst="rect">
                        <a:avLst/>
                      </a:prstGeom>
                      <a:solidFill>
                        <a:srgbClr val="FFCC00">
                          <a:alpha val="65097"/>
                        </a:srgbClr>
                      </a:solidFill>
                      <a:ln>
                        <a:noFill/>
                      </a:ln>
                    </p:spPr>
                  </p:pic>
                </p:oleObj>
              </mc:Fallback>
            </mc:AlternateContent>
          </a:graphicData>
        </a:graphic>
      </p:graphicFrame>
      <p:sp>
        <p:nvSpPr>
          <p:cNvPr id="16" name="Rectangle 34">
            <a:extLst>
              <a:ext uri="{FF2B5EF4-FFF2-40B4-BE49-F238E27FC236}">
                <a16:creationId xmlns:a16="http://schemas.microsoft.com/office/drawing/2014/main" xmlns="" id="{9D0BF29A-BEFC-E5DE-4A85-5186F082A6E6}"/>
              </a:ext>
            </a:extLst>
          </p:cNvPr>
          <p:cNvSpPr>
            <a:spLocks noChangeArrowheads="1"/>
          </p:cNvSpPr>
          <p:nvPr/>
        </p:nvSpPr>
        <p:spPr bwMode="auto">
          <a:xfrm>
            <a:off x="3352880" y="5925924"/>
            <a:ext cx="695007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000" b="1" dirty="0">
                <a:solidFill>
                  <a:srgbClr val="FF3300"/>
                </a:solidFill>
                <a:latin typeface="+mn-ea"/>
                <a:ea typeface="+mn-ea"/>
              </a:rPr>
              <a:t>这时调谐放大器与反馈网络就构成了自激振荡器。</a:t>
            </a:r>
          </a:p>
        </p:txBody>
      </p:sp>
    </p:spTree>
    <p:extLst>
      <p:ext uri="{BB962C8B-B14F-4D97-AF65-F5344CB8AC3E}">
        <p14:creationId xmlns:p14="http://schemas.microsoft.com/office/powerpoint/2010/main" val="731523396"/>
      </p:ext>
    </p:extLst>
  </p:cSld>
  <p:clrMapOvr>
    <a:masterClrMapping/>
  </p:clrMapOvr>
  <p:timing>
    <p:tnLst>
      <p:par>
        <p:cTn id="1" dur="indefinite" restart="never" nodeType="tmRoot"/>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162</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5.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正弦波</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振荡器</a:t>
            </a:r>
          </a:p>
        </p:txBody>
      </p:sp>
      <p:sp>
        <p:nvSpPr>
          <p:cNvPr id="5" name="Rectangle 2">
            <a:extLst>
              <a:ext uri="{FF2B5EF4-FFF2-40B4-BE49-F238E27FC236}">
                <a16:creationId xmlns:a16="http://schemas.microsoft.com/office/drawing/2014/main" xmlns="" id="{78E97F15-DAA9-C687-0E47-F39F2481C4AB}"/>
              </a:ext>
            </a:extLst>
          </p:cNvPr>
          <p:cNvSpPr>
            <a:spLocks noChangeArrowheads="1"/>
          </p:cNvSpPr>
          <p:nvPr/>
        </p:nvSpPr>
        <p:spPr bwMode="auto">
          <a:xfrm>
            <a:off x="307352" y="1260794"/>
            <a:ext cx="35179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dirty="0">
                <a:solidFill>
                  <a:schemeClr val="tx1"/>
                </a:solidFill>
                <a:latin typeface="+mn-ea"/>
                <a:ea typeface="+mn-ea"/>
              </a:rPr>
              <a:t>三、 振荡的平衡条件</a:t>
            </a:r>
          </a:p>
        </p:txBody>
      </p:sp>
      <p:graphicFrame>
        <p:nvGraphicFramePr>
          <p:cNvPr id="6" name="Object 5">
            <a:extLst>
              <a:ext uri="{FF2B5EF4-FFF2-40B4-BE49-F238E27FC236}">
                <a16:creationId xmlns:a16="http://schemas.microsoft.com/office/drawing/2014/main" xmlns="" id="{B19C12F1-807E-7D96-8DE1-445F590DFFA2}"/>
              </a:ext>
            </a:extLst>
          </p:cNvPr>
          <p:cNvGraphicFramePr>
            <a:graphicFrameLocks noChangeAspect="1"/>
          </p:cNvGraphicFramePr>
          <p:nvPr>
            <p:extLst>
              <p:ext uri="{D42A27DB-BD31-4B8C-83A1-F6EECF244321}">
                <p14:modId xmlns:p14="http://schemas.microsoft.com/office/powerpoint/2010/main" val="2261893525"/>
              </p:ext>
            </p:extLst>
          </p:nvPr>
        </p:nvGraphicFramePr>
        <p:xfrm>
          <a:off x="5000625" y="4221904"/>
          <a:ext cx="3290888" cy="350838"/>
        </p:xfrm>
        <a:graphic>
          <a:graphicData uri="http://schemas.openxmlformats.org/presentationml/2006/ole">
            <mc:AlternateContent xmlns:mc="http://schemas.openxmlformats.org/markup-compatibility/2006">
              <mc:Choice xmlns:v="urn:schemas-microsoft-com:vml" Requires="v">
                <p:oleObj spid="_x0000_s125194" r:id="rId3" imgW="2477880" imgH="264600" progId="Word.Document.8">
                  <p:embed/>
                </p:oleObj>
              </mc:Choice>
              <mc:Fallback>
                <p:oleObj r:id="rId3" imgW="2477880" imgH="264600" progId="Word.Document.8">
                  <p:embed/>
                  <p:pic>
                    <p:nvPicPr>
                      <p:cNvPr id="0" name=""/>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00625" y="4221904"/>
                        <a:ext cx="3290888" cy="350838"/>
                      </a:xfrm>
                      <a:prstGeom prst="rect">
                        <a:avLst/>
                      </a:prstGeom>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 name="Text Box 7">
            <a:extLst>
              <a:ext uri="{FF2B5EF4-FFF2-40B4-BE49-F238E27FC236}">
                <a16:creationId xmlns:a16="http://schemas.microsoft.com/office/drawing/2014/main" xmlns="" id="{90248403-F561-B84C-E74E-582A5C9119B8}"/>
              </a:ext>
            </a:extLst>
          </p:cNvPr>
          <p:cNvSpPr txBox="1">
            <a:spLocks noChangeArrowheads="1"/>
          </p:cNvSpPr>
          <p:nvPr/>
        </p:nvSpPr>
        <p:spPr bwMode="auto">
          <a:xfrm>
            <a:off x="781050" y="4872779"/>
            <a:ext cx="43815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t">
              <a:spcBef>
                <a:spcPct val="50000"/>
              </a:spcBef>
            </a:pPr>
            <a:r>
              <a:rPr lang="zh-CN" altLang="en-US" sz="2000" b="1" dirty="0">
                <a:solidFill>
                  <a:srgbClr val="000000"/>
                </a:solidFill>
                <a:latin typeface="+mn-ea"/>
                <a:ea typeface="+mn-ea"/>
              </a:rPr>
              <a:t>刚起振时，起始偏压为正偏置</a:t>
            </a:r>
          </a:p>
        </p:txBody>
      </p:sp>
      <p:graphicFrame>
        <p:nvGraphicFramePr>
          <p:cNvPr id="8" name="Object 9">
            <a:extLst>
              <a:ext uri="{FF2B5EF4-FFF2-40B4-BE49-F238E27FC236}">
                <a16:creationId xmlns:a16="http://schemas.microsoft.com/office/drawing/2014/main" xmlns="" id="{C15E83CF-C89A-8590-DCB9-61FCF9B37885}"/>
              </a:ext>
            </a:extLst>
          </p:cNvPr>
          <p:cNvGraphicFramePr>
            <a:graphicFrameLocks noChangeAspect="1"/>
          </p:cNvGraphicFramePr>
          <p:nvPr>
            <p:extLst>
              <p:ext uri="{D42A27DB-BD31-4B8C-83A1-F6EECF244321}">
                <p14:modId xmlns:p14="http://schemas.microsoft.com/office/powerpoint/2010/main" val="494179306"/>
              </p:ext>
            </p:extLst>
          </p:nvPr>
        </p:nvGraphicFramePr>
        <p:xfrm>
          <a:off x="852488" y="3920279"/>
          <a:ext cx="3775075" cy="895350"/>
        </p:xfrm>
        <a:graphic>
          <a:graphicData uri="http://schemas.openxmlformats.org/presentationml/2006/ole">
            <mc:AlternateContent xmlns:mc="http://schemas.openxmlformats.org/markup-compatibility/2006">
              <mc:Choice xmlns:v="urn:schemas-microsoft-com:vml" Requires="v">
                <p:oleObj spid="_x0000_s125195" r:id="rId5" imgW="1752600" imgH="444500" progId="Equation.3">
                  <p:embed/>
                </p:oleObj>
              </mc:Choice>
              <mc:Fallback>
                <p:oleObj r:id="rId5" imgW="1752600" imgH="4445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52488" y="3920279"/>
                        <a:ext cx="3775075" cy="89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9" name="Object 16">
            <a:extLst>
              <a:ext uri="{FF2B5EF4-FFF2-40B4-BE49-F238E27FC236}">
                <a16:creationId xmlns:a16="http://schemas.microsoft.com/office/drawing/2014/main" xmlns="" id="{9DD1B49F-1732-A597-F77E-0911DCEC741B}"/>
              </a:ext>
            </a:extLst>
          </p:cNvPr>
          <p:cNvGraphicFramePr>
            <a:graphicFrameLocks noChangeAspect="1"/>
          </p:cNvGraphicFramePr>
          <p:nvPr>
            <p:extLst>
              <p:ext uri="{D42A27DB-BD31-4B8C-83A1-F6EECF244321}">
                <p14:modId xmlns:p14="http://schemas.microsoft.com/office/powerpoint/2010/main" val="3679560723"/>
              </p:ext>
            </p:extLst>
          </p:nvPr>
        </p:nvGraphicFramePr>
        <p:xfrm>
          <a:off x="4494213" y="4853729"/>
          <a:ext cx="4097337" cy="636588"/>
        </p:xfrm>
        <a:graphic>
          <a:graphicData uri="http://schemas.openxmlformats.org/presentationml/2006/ole">
            <mc:AlternateContent xmlns:mc="http://schemas.openxmlformats.org/markup-compatibility/2006">
              <mc:Choice xmlns:v="urn:schemas-microsoft-com:vml" Requires="v">
                <p:oleObj spid="_x0000_s125196" r:id="rId7" imgW="2988000" imgH="488520" progId="Word.Document.8">
                  <p:embed/>
                </p:oleObj>
              </mc:Choice>
              <mc:Fallback>
                <p:oleObj r:id="rId7" imgW="2988000" imgH="488520" progId="Word.Document.8">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94213" y="4853729"/>
                        <a:ext cx="4097337" cy="636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0" name="Object 17">
            <a:extLst>
              <a:ext uri="{FF2B5EF4-FFF2-40B4-BE49-F238E27FC236}">
                <a16:creationId xmlns:a16="http://schemas.microsoft.com/office/drawing/2014/main" xmlns="" id="{24C60CB4-1349-2454-3B4E-8CEBD4DCB0EB}"/>
              </a:ext>
            </a:extLst>
          </p:cNvPr>
          <p:cNvGraphicFramePr>
            <a:graphicFrameLocks noChangeAspect="1"/>
          </p:cNvGraphicFramePr>
          <p:nvPr>
            <p:extLst>
              <p:ext uri="{D42A27DB-BD31-4B8C-83A1-F6EECF244321}">
                <p14:modId xmlns:p14="http://schemas.microsoft.com/office/powerpoint/2010/main" val="2208500732"/>
              </p:ext>
            </p:extLst>
          </p:nvPr>
        </p:nvGraphicFramePr>
        <p:xfrm>
          <a:off x="871538" y="5472854"/>
          <a:ext cx="7775575" cy="939800"/>
        </p:xfrm>
        <a:graphic>
          <a:graphicData uri="http://schemas.openxmlformats.org/presentationml/2006/ole">
            <mc:AlternateContent xmlns:mc="http://schemas.openxmlformats.org/markup-compatibility/2006">
              <mc:Choice xmlns:v="urn:schemas-microsoft-com:vml" Requires="v">
                <p:oleObj spid="_x0000_s125197" r:id="rId9" imgW="3581400" imgH="508000" progId="Equation.3">
                  <p:embed/>
                </p:oleObj>
              </mc:Choice>
              <mc:Fallback>
                <p:oleObj r:id="rId9" imgW="3581400" imgH="50800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71538" y="5472854"/>
                        <a:ext cx="7775575" cy="939800"/>
                      </a:xfrm>
                      <a:prstGeom prst="rect">
                        <a:avLst/>
                      </a:prstGeom>
                      <a:noFill/>
                      <a:ln>
                        <a:noFill/>
                      </a:ln>
                    </p:spPr>
                  </p:pic>
                </p:oleObj>
              </mc:Fallback>
            </mc:AlternateContent>
          </a:graphicData>
        </a:graphic>
      </p:graphicFrame>
      <p:sp>
        <p:nvSpPr>
          <p:cNvPr id="11" name="Text Box 18">
            <a:extLst>
              <a:ext uri="{FF2B5EF4-FFF2-40B4-BE49-F238E27FC236}">
                <a16:creationId xmlns:a16="http://schemas.microsoft.com/office/drawing/2014/main" xmlns="" id="{19A5850B-D8D5-5B44-5886-2ABBA67EAFB2}"/>
              </a:ext>
            </a:extLst>
          </p:cNvPr>
          <p:cNvSpPr txBox="1">
            <a:spLocks noChangeArrowheads="1"/>
          </p:cNvSpPr>
          <p:nvPr/>
        </p:nvSpPr>
        <p:spPr bwMode="auto">
          <a:xfrm>
            <a:off x="622300" y="2577254"/>
            <a:ext cx="35179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t">
              <a:spcBef>
                <a:spcPct val="50000"/>
              </a:spcBef>
            </a:pPr>
            <a:r>
              <a:rPr lang="zh-CN" altLang="en-US" sz="2000" b="1" dirty="0">
                <a:solidFill>
                  <a:srgbClr val="000000"/>
                </a:solidFill>
                <a:latin typeface="+mn-ea"/>
                <a:ea typeface="+mn-ea"/>
              </a:rPr>
              <a:t>电路的偏置电压为：</a:t>
            </a:r>
          </a:p>
        </p:txBody>
      </p:sp>
      <p:graphicFrame>
        <p:nvGraphicFramePr>
          <p:cNvPr id="12" name="Object 19">
            <a:extLst>
              <a:ext uri="{FF2B5EF4-FFF2-40B4-BE49-F238E27FC236}">
                <a16:creationId xmlns:a16="http://schemas.microsoft.com/office/drawing/2014/main" xmlns="" id="{944EC59E-7FBF-D669-F130-F86315C35986}"/>
              </a:ext>
            </a:extLst>
          </p:cNvPr>
          <p:cNvGraphicFramePr>
            <a:graphicFrameLocks noChangeAspect="1"/>
          </p:cNvGraphicFramePr>
          <p:nvPr>
            <p:extLst>
              <p:ext uri="{D42A27DB-BD31-4B8C-83A1-F6EECF244321}">
                <p14:modId xmlns:p14="http://schemas.microsoft.com/office/powerpoint/2010/main" val="3403784834"/>
              </p:ext>
            </p:extLst>
          </p:nvPr>
        </p:nvGraphicFramePr>
        <p:xfrm>
          <a:off x="911225" y="2918567"/>
          <a:ext cx="2722563" cy="746125"/>
        </p:xfrm>
        <a:graphic>
          <a:graphicData uri="http://schemas.openxmlformats.org/presentationml/2006/ole">
            <mc:AlternateContent xmlns:mc="http://schemas.openxmlformats.org/markup-compatibility/2006">
              <mc:Choice xmlns:v="urn:schemas-microsoft-com:vml" Requires="v">
                <p:oleObj spid="_x0000_s125198" r:id="rId11" imgW="1624895" imgH="444307" progId="Equation.3">
                  <p:embed/>
                </p:oleObj>
              </mc:Choice>
              <mc:Fallback>
                <p:oleObj r:id="rId11" imgW="1624895" imgH="444307" progId="Equation.3">
                  <p:embed/>
                  <p:pic>
                    <p:nvPicPr>
                      <p:cNvPr id="0" name=""/>
                      <p:cNvPicPr>
                        <a:picLocks noGrp="1"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11225" y="2918567"/>
                        <a:ext cx="2722563" cy="746125"/>
                      </a:xfrm>
                      <a:prstGeom prst="rect">
                        <a:avLst/>
                      </a:prstGeom>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3" name="Object 22">
            <a:extLst>
              <a:ext uri="{FF2B5EF4-FFF2-40B4-BE49-F238E27FC236}">
                <a16:creationId xmlns:a16="http://schemas.microsoft.com/office/drawing/2014/main" xmlns="" id="{8C7C7E72-1EC6-53D2-80F6-D5A4D7191E7F}"/>
              </a:ext>
            </a:extLst>
          </p:cNvPr>
          <p:cNvGraphicFramePr>
            <a:graphicFrameLocks noChangeAspect="1"/>
          </p:cNvGraphicFramePr>
          <p:nvPr>
            <p:extLst>
              <p:ext uri="{D42A27DB-BD31-4B8C-83A1-F6EECF244321}">
                <p14:modId xmlns:p14="http://schemas.microsoft.com/office/powerpoint/2010/main" val="2996599501"/>
              </p:ext>
            </p:extLst>
          </p:nvPr>
        </p:nvGraphicFramePr>
        <p:xfrm>
          <a:off x="844550" y="3663104"/>
          <a:ext cx="7640638" cy="641350"/>
        </p:xfrm>
        <a:graphic>
          <a:graphicData uri="http://schemas.openxmlformats.org/presentationml/2006/ole">
            <mc:AlternateContent xmlns:mc="http://schemas.openxmlformats.org/markup-compatibility/2006">
              <mc:Choice xmlns:v="urn:schemas-microsoft-com:vml" Requires="v">
                <p:oleObj spid="_x0000_s125199" r:id="rId13" imgW="5757840" imgH="488520" progId="Word.Document.8">
                  <p:embed/>
                </p:oleObj>
              </mc:Choice>
              <mc:Fallback>
                <p:oleObj r:id="rId13" imgW="5757840" imgH="488520" progId="Word.Document.8">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44550" y="3663104"/>
                        <a:ext cx="7640638"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4" name="Object 21">
            <a:extLst>
              <a:ext uri="{FF2B5EF4-FFF2-40B4-BE49-F238E27FC236}">
                <a16:creationId xmlns:a16="http://schemas.microsoft.com/office/drawing/2014/main" xmlns="" id="{055AAD38-B9DA-8929-605E-7096569465B6}"/>
              </a:ext>
            </a:extLst>
          </p:cNvPr>
          <p:cNvGraphicFramePr>
            <a:graphicFrameLocks noChangeAspect="1"/>
          </p:cNvGraphicFramePr>
          <p:nvPr>
            <p:extLst>
              <p:ext uri="{D42A27DB-BD31-4B8C-83A1-F6EECF244321}">
                <p14:modId xmlns:p14="http://schemas.microsoft.com/office/powerpoint/2010/main" val="3938814050"/>
              </p:ext>
            </p:extLst>
          </p:nvPr>
        </p:nvGraphicFramePr>
        <p:xfrm>
          <a:off x="3883025" y="3180504"/>
          <a:ext cx="2784475" cy="365125"/>
        </p:xfrm>
        <a:graphic>
          <a:graphicData uri="http://schemas.openxmlformats.org/presentationml/2006/ole">
            <mc:AlternateContent xmlns:mc="http://schemas.openxmlformats.org/markup-compatibility/2006">
              <mc:Choice xmlns:v="urn:schemas-microsoft-com:vml" Requires="v">
                <p:oleObj spid="_x0000_s125200" r:id="rId15" imgW="2306880" imgH="281160" progId="Word.Document.8">
                  <p:embed/>
                </p:oleObj>
              </mc:Choice>
              <mc:Fallback>
                <p:oleObj r:id="rId15" imgW="2306880" imgH="281160" progId="Word.Document.8">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883025" y="3180504"/>
                        <a:ext cx="278447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15" name="Group 56">
            <a:extLst>
              <a:ext uri="{FF2B5EF4-FFF2-40B4-BE49-F238E27FC236}">
                <a16:creationId xmlns:a16="http://schemas.microsoft.com/office/drawing/2014/main" xmlns="" id="{0FC4A6B0-04F5-3067-3DA8-1EB1949D0E73}"/>
              </a:ext>
            </a:extLst>
          </p:cNvPr>
          <p:cNvGrpSpPr>
            <a:grpSpLocks/>
          </p:cNvGrpSpPr>
          <p:nvPr/>
        </p:nvGrpSpPr>
        <p:grpSpPr bwMode="auto">
          <a:xfrm>
            <a:off x="764540" y="1557760"/>
            <a:ext cx="2058812" cy="1117347"/>
            <a:chOff x="597" y="2351"/>
            <a:chExt cx="1995" cy="1030"/>
          </a:xfrm>
        </p:grpSpPr>
        <p:pic>
          <p:nvPicPr>
            <p:cNvPr id="16" name="Picture 57">
              <a:extLst>
                <a:ext uri="{FF2B5EF4-FFF2-40B4-BE49-F238E27FC236}">
                  <a16:creationId xmlns:a16="http://schemas.microsoft.com/office/drawing/2014/main" xmlns="" id="{AFECDB55-7CD7-E58F-5693-045FADF408B6}"/>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97" y="2447"/>
              <a:ext cx="1995" cy="9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7" name="Object 58">
              <a:extLst>
                <a:ext uri="{FF2B5EF4-FFF2-40B4-BE49-F238E27FC236}">
                  <a16:creationId xmlns:a16="http://schemas.microsoft.com/office/drawing/2014/main" xmlns="" id="{68EF984E-CD04-40C6-5838-44205BB012AE}"/>
                </a:ext>
              </a:extLst>
            </p:cNvPr>
            <p:cNvGraphicFramePr>
              <a:graphicFrameLocks noChangeAspect="1"/>
            </p:cNvGraphicFramePr>
            <p:nvPr/>
          </p:nvGraphicFramePr>
          <p:xfrm>
            <a:off x="704" y="2351"/>
            <a:ext cx="190" cy="214"/>
          </p:xfrm>
          <a:graphic>
            <a:graphicData uri="http://schemas.openxmlformats.org/presentationml/2006/ole">
              <mc:AlternateContent xmlns:mc="http://schemas.openxmlformats.org/markup-compatibility/2006">
                <mc:Choice xmlns:v="urn:schemas-microsoft-com:vml" Requires="v">
                  <p:oleObj spid="_x0000_s125201" r:id="rId18" imgW="203112" imgH="228501" progId="Equation.DSMT4">
                    <p:embed/>
                  </p:oleObj>
                </mc:Choice>
                <mc:Fallback>
                  <p:oleObj r:id="rId18" imgW="203112" imgH="228501" progId="Equation.DSMT4">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704" y="2351"/>
                          <a:ext cx="190"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pic>
        <p:nvPicPr>
          <p:cNvPr id="18" name="图片 17">
            <a:extLst>
              <a:ext uri="{FF2B5EF4-FFF2-40B4-BE49-F238E27FC236}">
                <a16:creationId xmlns:a16="http://schemas.microsoft.com/office/drawing/2014/main" xmlns="" id="{B272E6EA-AAFD-DF29-3F0D-6F8A101B219C}"/>
              </a:ext>
            </a:extLst>
          </p:cNvPr>
          <p:cNvPicPr>
            <a:picLocks noChangeAspect="1"/>
          </p:cNvPicPr>
          <p:nvPr/>
        </p:nvPicPr>
        <p:blipFill>
          <a:blip r:embed="rId20"/>
          <a:stretch>
            <a:fillRect/>
          </a:stretch>
        </p:blipFill>
        <p:spPr>
          <a:xfrm>
            <a:off x="3633788" y="1174957"/>
            <a:ext cx="3504424" cy="2039110"/>
          </a:xfrm>
          <a:prstGeom prst="rect">
            <a:avLst/>
          </a:prstGeom>
        </p:spPr>
      </p:pic>
    </p:spTree>
    <p:extLst>
      <p:ext uri="{BB962C8B-B14F-4D97-AF65-F5344CB8AC3E}">
        <p14:creationId xmlns:p14="http://schemas.microsoft.com/office/powerpoint/2010/main" val="3524087350"/>
      </p:ext>
    </p:extLst>
  </p:cSld>
  <p:clrMapOvr>
    <a:masterClrMapping/>
  </p:clrMapOvr>
  <p:timing>
    <p:tnLst>
      <p:par>
        <p:cTn id="1" dur="indefinite" restart="never" nodeType="tmRoot"/>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163</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5.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正弦波</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振荡器</a:t>
            </a:r>
          </a:p>
        </p:txBody>
      </p:sp>
      <p:pic>
        <p:nvPicPr>
          <p:cNvPr id="5" name="Picture 29">
            <a:extLst>
              <a:ext uri="{FF2B5EF4-FFF2-40B4-BE49-F238E27FC236}">
                <a16:creationId xmlns:a16="http://schemas.microsoft.com/office/drawing/2014/main" xmlns="" id="{1CCEB5EB-88A0-96C6-341C-3A2E28454D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5656" y="1227988"/>
            <a:ext cx="5173663" cy="3409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图片 5">
            <a:extLst>
              <a:ext uri="{FF2B5EF4-FFF2-40B4-BE49-F238E27FC236}">
                <a16:creationId xmlns:a16="http://schemas.microsoft.com/office/drawing/2014/main" xmlns="" id="{5C3C438F-62C1-4BE7-91B9-8A57F1BCE4AD}"/>
              </a:ext>
            </a:extLst>
          </p:cNvPr>
          <p:cNvPicPr>
            <a:picLocks noChangeAspect="1"/>
          </p:cNvPicPr>
          <p:nvPr/>
        </p:nvPicPr>
        <p:blipFill>
          <a:blip r:embed="rId3"/>
          <a:stretch>
            <a:fillRect/>
          </a:stretch>
        </p:blipFill>
        <p:spPr>
          <a:xfrm>
            <a:off x="2385672" y="4637543"/>
            <a:ext cx="5663675" cy="2072820"/>
          </a:xfrm>
          <a:prstGeom prst="rect">
            <a:avLst/>
          </a:prstGeom>
        </p:spPr>
      </p:pic>
    </p:spTree>
    <p:extLst>
      <p:ext uri="{BB962C8B-B14F-4D97-AF65-F5344CB8AC3E}">
        <p14:creationId xmlns:p14="http://schemas.microsoft.com/office/powerpoint/2010/main" val="1435541929"/>
      </p:ext>
    </p:extLst>
  </p:cSld>
  <p:clrMapOvr>
    <a:masterClrMapping/>
  </p:clrMapOvr>
  <p:timing>
    <p:tnLst>
      <p:par>
        <p:cTn id="1" dur="indefinite" restart="never" nodeType="tmRoot"/>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164</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5.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正弦波</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振荡器</a:t>
            </a:r>
          </a:p>
        </p:txBody>
      </p:sp>
      <p:graphicFrame>
        <p:nvGraphicFramePr>
          <p:cNvPr id="5" name="Object 3">
            <a:extLst>
              <a:ext uri="{FF2B5EF4-FFF2-40B4-BE49-F238E27FC236}">
                <a16:creationId xmlns:a16="http://schemas.microsoft.com/office/drawing/2014/main" xmlns="" id="{AF604E3F-05A6-EE32-F616-61EF701627F2}"/>
              </a:ext>
            </a:extLst>
          </p:cNvPr>
          <p:cNvGraphicFramePr>
            <a:graphicFrameLocks noChangeAspect="1"/>
          </p:cNvGraphicFramePr>
          <p:nvPr>
            <p:extLst>
              <p:ext uri="{D42A27DB-BD31-4B8C-83A1-F6EECF244321}">
                <p14:modId xmlns:p14="http://schemas.microsoft.com/office/powerpoint/2010/main" val="2742230888"/>
              </p:ext>
            </p:extLst>
          </p:nvPr>
        </p:nvGraphicFramePr>
        <p:xfrm>
          <a:off x="3055418" y="3983750"/>
          <a:ext cx="1858963" cy="639762"/>
        </p:xfrm>
        <a:graphic>
          <a:graphicData uri="http://schemas.openxmlformats.org/presentationml/2006/ole">
            <mc:AlternateContent xmlns:mc="http://schemas.openxmlformats.org/markup-compatibility/2006">
              <mc:Choice xmlns:v="urn:schemas-microsoft-com:vml" Requires="v">
                <p:oleObj spid="_x0000_s126053" r:id="rId3" imgW="1002960" imgH="330120" progId="Equation.3">
                  <p:embed/>
                </p:oleObj>
              </mc:Choice>
              <mc:Fallback>
                <p:oleObj r:id="rId3" imgW="1002960" imgH="33012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55418" y="3983750"/>
                        <a:ext cx="1858963" cy="639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 name="AutoShape 4">
            <a:extLst>
              <a:ext uri="{FF2B5EF4-FFF2-40B4-BE49-F238E27FC236}">
                <a16:creationId xmlns:a16="http://schemas.microsoft.com/office/drawing/2014/main" xmlns="" id="{110D9824-9678-37CA-0C1C-B6101D648918}"/>
              </a:ext>
            </a:extLst>
          </p:cNvPr>
          <p:cNvSpPr>
            <a:spLocks/>
          </p:cNvSpPr>
          <p:nvPr/>
        </p:nvSpPr>
        <p:spPr bwMode="auto">
          <a:xfrm>
            <a:off x="1574662" y="5033155"/>
            <a:ext cx="114300" cy="1047750"/>
          </a:xfrm>
          <a:prstGeom prst="leftBrace">
            <a:avLst>
              <a:gd name="adj1" fmla="val 76346"/>
              <a:gd name="adj2" fmla="val 50000"/>
            </a:avLst>
          </a:prstGeom>
          <a:noFill/>
          <a:ln w="9525">
            <a:solidFill>
              <a:srgbClr val="FF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000">
              <a:solidFill>
                <a:schemeClr val="tx1"/>
              </a:solidFill>
              <a:latin typeface="+mn-ea"/>
              <a:ea typeface="+mn-ea"/>
            </a:endParaRPr>
          </a:p>
        </p:txBody>
      </p:sp>
      <p:graphicFrame>
        <p:nvGraphicFramePr>
          <p:cNvPr id="7" name="Object 5">
            <a:extLst>
              <a:ext uri="{FF2B5EF4-FFF2-40B4-BE49-F238E27FC236}">
                <a16:creationId xmlns:a16="http://schemas.microsoft.com/office/drawing/2014/main" xmlns="" id="{5A0DD634-4899-D691-07E3-70BBF61C6EE1}"/>
              </a:ext>
            </a:extLst>
          </p:cNvPr>
          <p:cNvGraphicFramePr>
            <a:graphicFrameLocks noChangeAspect="1"/>
          </p:cNvGraphicFramePr>
          <p:nvPr>
            <p:extLst>
              <p:ext uri="{D42A27DB-BD31-4B8C-83A1-F6EECF244321}">
                <p14:modId xmlns:p14="http://schemas.microsoft.com/office/powerpoint/2010/main" val="9878248"/>
              </p:ext>
            </p:extLst>
          </p:nvPr>
        </p:nvGraphicFramePr>
        <p:xfrm>
          <a:off x="1647687" y="5515755"/>
          <a:ext cx="2873375" cy="560387"/>
        </p:xfrm>
        <a:graphic>
          <a:graphicData uri="http://schemas.openxmlformats.org/presentationml/2006/ole">
            <mc:AlternateContent xmlns:mc="http://schemas.openxmlformats.org/markup-compatibility/2006">
              <mc:Choice xmlns:v="urn:schemas-microsoft-com:vml" Requires="v">
                <p:oleObj spid="_x0000_s126054" r:id="rId5" imgW="1447200" imgH="266760" progId="Equation.3">
                  <p:embed/>
                </p:oleObj>
              </mc:Choice>
              <mc:Fallback>
                <p:oleObj r:id="rId5" imgW="1447200" imgH="26676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47687" y="5515755"/>
                        <a:ext cx="2873375" cy="560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 name="Text Box 6">
            <a:extLst>
              <a:ext uri="{FF2B5EF4-FFF2-40B4-BE49-F238E27FC236}">
                <a16:creationId xmlns:a16="http://schemas.microsoft.com/office/drawing/2014/main" xmlns="" id="{3A3D97C0-1BE4-6EBB-8425-34D749B8D4A5}"/>
              </a:ext>
            </a:extLst>
          </p:cNvPr>
          <p:cNvSpPr txBox="1">
            <a:spLocks noChangeArrowheads="1"/>
          </p:cNvSpPr>
          <p:nvPr/>
        </p:nvSpPr>
        <p:spPr bwMode="auto">
          <a:xfrm>
            <a:off x="4738654" y="5579255"/>
            <a:ext cx="135165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i="1">
                <a:solidFill>
                  <a:schemeClr val="tx1"/>
                </a:solidFill>
                <a:latin typeface="+mn-ea"/>
                <a:ea typeface="+mn-ea"/>
              </a:rPr>
              <a:t>n</a:t>
            </a:r>
            <a:r>
              <a:rPr lang="en-US" altLang="zh-CN" sz="2000" b="1">
                <a:solidFill>
                  <a:schemeClr val="tx1"/>
                </a:solidFill>
                <a:latin typeface="+mn-ea"/>
                <a:ea typeface="+mn-ea"/>
              </a:rPr>
              <a:t>=0,1,2…</a:t>
            </a:r>
          </a:p>
        </p:txBody>
      </p:sp>
      <p:graphicFrame>
        <p:nvGraphicFramePr>
          <p:cNvPr id="9" name="Object 7">
            <a:extLst>
              <a:ext uri="{FF2B5EF4-FFF2-40B4-BE49-F238E27FC236}">
                <a16:creationId xmlns:a16="http://schemas.microsoft.com/office/drawing/2014/main" xmlns="" id="{E3982744-B19C-3054-7586-D21D1FF24C25}"/>
              </a:ext>
            </a:extLst>
          </p:cNvPr>
          <p:cNvGraphicFramePr>
            <a:graphicFrameLocks noChangeAspect="1"/>
          </p:cNvGraphicFramePr>
          <p:nvPr>
            <p:extLst>
              <p:ext uri="{D42A27DB-BD31-4B8C-83A1-F6EECF244321}">
                <p14:modId xmlns:p14="http://schemas.microsoft.com/office/powerpoint/2010/main" val="1617576538"/>
              </p:ext>
            </p:extLst>
          </p:nvPr>
        </p:nvGraphicFramePr>
        <p:xfrm>
          <a:off x="1715949" y="4614055"/>
          <a:ext cx="2041525" cy="747712"/>
        </p:xfrm>
        <a:graphic>
          <a:graphicData uri="http://schemas.openxmlformats.org/presentationml/2006/ole">
            <mc:AlternateContent xmlns:mc="http://schemas.openxmlformats.org/markup-compatibility/2006">
              <mc:Choice xmlns:v="urn:schemas-microsoft-com:vml" Requires="v">
                <p:oleObj spid="_x0000_s126055" r:id="rId7" imgW="990000" imgH="343080" progId="Equation.3">
                  <p:embed/>
                </p:oleObj>
              </mc:Choice>
              <mc:Fallback>
                <p:oleObj r:id="rId7" imgW="990000" imgH="34308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15949" y="4614055"/>
                        <a:ext cx="2041525" cy="747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0" name="AutoShape 8">
            <a:extLst>
              <a:ext uri="{FF2B5EF4-FFF2-40B4-BE49-F238E27FC236}">
                <a16:creationId xmlns:a16="http://schemas.microsoft.com/office/drawing/2014/main" xmlns="" id="{8585396F-1AF2-F55F-92D7-1DE5ED42623E}"/>
              </a:ext>
            </a:extLst>
          </p:cNvPr>
          <p:cNvSpPr>
            <a:spLocks noChangeArrowheads="1"/>
          </p:cNvSpPr>
          <p:nvPr/>
        </p:nvSpPr>
        <p:spPr bwMode="auto">
          <a:xfrm>
            <a:off x="4072593" y="4909696"/>
            <a:ext cx="1647825" cy="307975"/>
          </a:xfrm>
          <a:prstGeom prst="wedgeRectCallout">
            <a:avLst>
              <a:gd name="adj1" fmla="val -64208"/>
              <a:gd name="adj2" fmla="val 26694"/>
            </a:avLst>
          </a:prstGeom>
          <a:solidFill>
            <a:srgbClr val="CCCCFF"/>
          </a:solidFill>
          <a:ln w="9525">
            <a:solidFill>
              <a:schemeClr val="tx1"/>
            </a:solidFill>
            <a:miter lim="800000"/>
            <a:headEnd/>
            <a:tailEnd/>
          </a:ln>
        </p:spPr>
        <p:txBody>
          <a:bodyPr lIns="0" tIns="0" rIns="0" bIns="0">
            <a:spAutoFit/>
          </a:bodyPr>
          <a:lstStyle/>
          <a:p>
            <a:pPr>
              <a:spcBef>
                <a:spcPct val="20000"/>
              </a:spcBef>
            </a:pPr>
            <a:r>
              <a:rPr lang="zh-CN" altLang="zh-CN" sz="2000" b="1">
                <a:solidFill>
                  <a:schemeClr val="tx1"/>
                </a:solidFill>
                <a:latin typeface="+mn-ea"/>
                <a:ea typeface="+mn-ea"/>
              </a:rPr>
              <a:t>振幅平衡条件</a:t>
            </a:r>
            <a:endParaRPr lang="zh-CN" altLang="en-US" sz="2000" b="1">
              <a:solidFill>
                <a:schemeClr val="tx1"/>
              </a:solidFill>
              <a:latin typeface="+mn-ea"/>
              <a:ea typeface="+mn-ea"/>
            </a:endParaRPr>
          </a:p>
        </p:txBody>
      </p:sp>
      <p:sp>
        <p:nvSpPr>
          <p:cNvPr id="11" name="AutoShape 9">
            <a:extLst>
              <a:ext uri="{FF2B5EF4-FFF2-40B4-BE49-F238E27FC236}">
                <a16:creationId xmlns:a16="http://schemas.microsoft.com/office/drawing/2014/main" xmlns="" id="{C8B244B3-D5A1-B17D-4BFB-9B94059A17F7}"/>
              </a:ext>
            </a:extLst>
          </p:cNvPr>
          <p:cNvSpPr>
            <a:spLocks noChangeArrowheads="1"/>
          </p:cNvSpPr>
          <p:nvPr/>
        </p:nvSpPr>
        <p:spPr bwMode="auto">
          <a:xfrm>
            <a:off x="4319861" y="6310637"/>
            <a:ext cx="1590675" cy="307975"/>
          </a:xfrm>
          <a:prstGeom prst="wedgeRectCallout">
            <a:avLst>
              <a:gd name="adj1" fmla="val -44005"/>
              <a:gd name="adj2" fmla="val -131778"/>
            </a:avLst>
          </a:prstGeom>
          <a:solidFill>
            <a:srgbClr val="CCCCFF"/>
          </a:solidFill>
          <a:ln w="9525">
            <a:solidFill>
              <a:schemeClr val="tx1"/>
            </a:solidFill>
            <a:miter lim="800000"/>
            <a:headEnd/>
            <a:tailEnd/>
          </a:ln>
        </p:spPr>
        <p:txBody>
          <a:bodyPr lIns="0" tIns="0" rIns="0" bIns="0">
            <a:spAutoFit/>
          </a:bodyPr>
          <a:lstStyle/>
          <a:p>
            <a:pPr>
              <a:spcBef>
                <a:spcPct val="20000"/>
              </a:spcBef>
            </a:pPr>
            <a:r>
              <a:rPr lang="zh-CN" altLang="en-US" sz="2000" b="1" dirty="0">
                <a:solidFill>
                  <a:schemeClr val="tx1"/>
                </a:solidFill>
                <a:latin typeface="+mn-ea"/>
                <a:ea typeface="+mn-ea"/>
              </a:rPr>
              <a:t>相位</a:t>
            </a:r>
            <a:r>
              <a:rPr lang="zh-CN" altLang="zh-CN" sz="2000" b="1" dirty="0">
                <a:solidFill>
                  <a:schemeClr val="tx1"/>
                </a:solidFill>
                <a:latin typeface="+mn-ea"/>
                <a:ea typeface="+mn-ea"/>
              </a:rPr>
              <a:t>平衡条件</a:t>
            </a:r>
            <a:endParaRPr lang="zh-CN" altLang="en-US" sz="2000" b="1" dirty="0">
              <a:solidFill>
                <a:schemeClr val="tx1"/>
              </a:solidFill>
              <a:latin typeface="+mn-ea"/>
              <a:ea typeface="+mn-ea"/>
            </a:endParaRPr>
          </a:p>
        </p:txBody>
      </p:sp>
      <p:sp>
        <p:nvSpPr>
          <p:cNvPr id="12" name="Rectangle 11">
            <a:extLst>
              <a:ext uri="{FF2B5EF4-FFF2-40B4-BE49-F238E27FC236}">
                <a16:creationId xmlns:a16="http://schemas.microsoft.com/office/drawing/2014/main" xmlns="" id="{AFD23FDA-0547-59A9-1361-13A43B2719F8}"/>
              </a:ext>
            </a:extLst>
          </p:cNvPr>
          <p:cNvSpPr>
            <a:spLocks noChangeArrowheads="1"/>
          </p:cNvSpPr>
          <p:nvPr/>
        </p:nvSpPr>
        <p:spPr bwMode="auto">
          <a:xfrm>
            <a:off x="899593" y="4199650"/>
            <a:ext cx="25908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buClr>
                <a:schemeClr val="accent1"/>
              </a:buClr>
              <a:buFont typeface="Wingdings" panose="05000000000000000000" pitchFamily="2" charset="2"/>
              <a:buChar char="u"/>
            </a:pPr>
            <a:r>
              <a:rPr lang="en-US" altLang="zh-CN" sz="2000" b="1" dirty="0">
                <a:solidFill>
                  <a:schemeClr val="tx1"/>
                </a:solidFill>
                <a:latin typeface="+mn-ea"/>
                <a:ea typeface="+mn-ea"/>
              </a:rPr>
              <a:t> </a:t>
            </a:r>
            <a:r>
              <a:rPr lang="zh-CN" altLang="en-US" sz="2000" b="1" dirty="0">
                <a:solidFill>
                  <a:schemeClr val="tx1"/>
                </a:solidFill>
                <a:latin typeface="+mn-ea"/>
                <a:ea typeface="+mn-ea"/>
              </a:rPr>
              <a:t>平衡条件：</a:t>
            </a:r>
          </a:p>
        </p:txBody>
      </p:sp>
      <p:sp>
        <p:nvSpPr>
          <p:cNvPr id="13" name="AutoShape 12">
            <a:extLst>
              <a:ext uri="{FF2B5EF4-FFF2-40B4-BE49-F238E27FC236}">
                <a16:creationId xmlns:a16="http://schemas.microsoft.com/office/drawing/2014/main" xmlns="" id="{A665A858-F777-289D-6AEC-F3E30B590FC0}"/>
              </a:ext>
            </a:extLst>
          </p:cNvPr>
          <p:cNvSpPr>
            <a:spLocks noChangeArrowheads="1"/>
          </p:cNvSpPr>
          <p:nvPr/>
        </p:nvSpPr>
        <p:spPr bwMode="auto">
          <a:xfrm>
            <a:off x="909499" y="5426855"/>
            <a:ext cx="539750" cy="304800"/>
          </a:xfrm>
          <a:custGeom>
            <a:avLst/>
            <a:gdLst>
              <a:gd name="T0" fmla="*/ 16200 w 21600"/>
              <a:gd name="T1" fmla="*/ 0 h 21600"/>
              <a:gd name="T2" fmla="*/ 16200 w 21600"/>
              <a:gd name="T3" fmla="*/ 5400 h 21600"/>
              <a:gd name="T4" fmla="*/ 3375 w 21600"/>
              <a:gd name="T5" fmla="*/ 5400 h 21600"/>
              <a:gd name="T6" fmla="*/ 3375 w 21600"/>
              <a:gd name="T7" fmla="*/ 16200 h 21600"/>
              <a:gd name="T8" fmla="*/ 16200 w 21600"/>
              <a:gd name="T9" fmla="*/ 16200 h 21600"/>
              <a:gd name="T10" fmla="*/ 16200 w 21600"/>
              <a:gd name="T11" fmla="*/ 21600 h 21600"/>
              <a:gd name="T12" fmla="*/ 21600 w 21600"/>
              <a:gd name="T13" fmla="*/ 10800 h 21600"/>
              <a:gd name="T14" fmla="*/ 16200 w 21600"/>
              <a:gd name="T15" fmla="*/ 0 h 21600"/>
              <a:gd name="T16" fmla="*/ 1350 w 21600"/>
              <a:gd name="T17" fmla="*/ 5400 h 21600"/>
              <a:gd name="T18" fmla="*/ 1350 w 21600"/>
              <a:gd name="T19" fmla="*/ 16200 h 21600"/>
              <a:gd name="T20" fmla="*/ 2700 w 21600"/>
              <a:gd name="T21" fmla="*/ 16200 h 21600"/>
              <a:gd name="T22" fmla="*/ 2700 w 21600"/>
              <a:gd name="T23" fmla="*/ 5400 h 21600"/>
              <a:gd name="T24" fmla="*/ 1350 w 21600"/>
              <a:gd name="T25" fmla="*/ 5400 h 21600"/>
              <a:gd name="T26" fmla="*/ 0 w 21600"/>
              <a:gd name="T27" fmla="*/ 5400 h 21600"/>
              <a:gd name="T28" fmla="*/ 0 w 21600"/>
              <a:gd name="T29" fmla="*/ 16200 h 21600"/>
              <a:gd name="T30" fmla="*/ 675 w 21600"/>
              <a:gd name="T31" fmla="*/ 16200 h 21600"/>
              <a:gd name="T32" fmla="*/ 675 w 21600"/>
              <a:gd name="T33" fmla="*/ 5400 h 21600"/>
              <a:gd name="T34" fmla="*/ 0 w 21600"/>
              <a:gd name="T35" fmla="*/ 5400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CC99FF">
              <a:alpha val="50195"/>
            </a:srgbClr>
          </a:solidFill>
          <a:ln w="9525">
            <a:solidFill>
              <a:schemeClr val="tx1"/>
            </a:solidFill>
            <a:miter lim="800000"/>
            <a:headEnd/>
            <a:tailEnd/>
          </a:ln>
        </p:spPr>
        <p:txBody>
          <a:bodyPr/>
          <a:lstStyle/>
          <a:p>
            <a:endParaRPr lang="zh-CN" altLang="en-US" sz="2000">
              <a:solidFill>
                <a:schemeClr val="tx1"/>
              </a:solidFill>
              <a:latin typeface="+mn-ea"/>
              <a:ea typeface="+mn-ea"/>
            </a:endParaRPr>
          </a:p>
        </p:txBody>
      </p:sp>
      <p:sp>
        <p:nvSpPr>
          <p:cNvPr id="14" name="Line 13">
            <a:extLst>
              <a:ext uri="{FF2B5EF4-FFF2-40B4-BE49-F238E27FC236}">
                <a16:creationId xmlns:a16="http://schemas.microsoft.com/office/drawing/2014/main" xmlns="" id="{33CBA36A-C1E0-0573-754A-26C97F4E1554}"/>
              </a:ext>
            </a:extLst>
          </p:cNvPr>
          <p:cNvSpPr>
            <a:spLocks noChangeShapeType="1"/>
          </p:cNvSpPr>
          <p:nvPr/>
        </p:nvSpPr>
        <p:spPr bwMode="auto">
          <a:xfrm>
            <a:off x="6008826" y="5125596"/>
            <a:ext cx="711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000">
              <a:solidFill>
                <a:schemeClr val="tx1"/>
              </a:solidFill>
              <a:latin typeface="+mn-ea"/>
              <a:ea typeface="+mn-ea"/>
            </a:endParaRPr>
          </a:p>
        </p:txBody>
      </p:sp>
      <p:sp>
        <p:nvSpPr>
          <p:cNvPr id="15" name="Text Box 14">
            <a:extLst>
              <a:ext uri="{FF2B5EF4-FFF2-40B4-BE49-F238E27FC236}">
                <a16:creationId xmlns:a16="http://schemas.microsoft.com/office/drawing/2014/main" xmlns="" id="{4449D525-AC51-F68A-3177-203F8E5DD637}"/>
              </a:ext>
            </a:extLst>
          </p:cNvPr>
          <p:cNvSpPr txBox="1">
            <a:spLocks noChangeArrowheads="1"/>
          </p:cNvSpPr>
          <p:nvPr/>
        </p:nvSpPr>
        <p:spPr bwMode="auto">
          <a:xfrm>
            <a:off x="6783526" y="4909696"/>
            <a:ext cx="1289050" cy="400050"/>
          </a:xfrm>
          <a:prstGeom prst="rect">
            <a:avLst/>
          </a:prstGeom>
          <a:solidFill>
            <a:srgbClr val="00CCFF">
              <a:alpha val="3803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t">
              <a:spcBef>
                <a:spcPct val="50000"/>
              </a:spcBef>
            </a:pPr>
            <a:r>
              <a:rPr lang="zh-CN" altLang="en-US" sz="2000" b="1">
                <a:solidFill>
                  <a:schemeClr val="tx1"/>
                </a:solidFill>
                <a:latin typeface="+mn-ea"/>
                <a:ea typeface="+mn-ea"/>
              </a:rPr>
              <a:t>等幅振荡</a:t>
            </a:r>
          </a:p>
        </p:txBody>
      </p:sp>
      <p:sp>
        <p:nvSpPr>
          <p:cNvPr id="16" name="Rectangle 15">
            <a:extLst>
              <a:ext uri="{FF2B5EF4-FFF2-40B4-BE49-F238E27FC236}">
                <a16:creationId xmlns:a16="http://schemas.microsoft.com/office/drawing/2014/main" xmlns="" id="{115CB322-6059-3387-8E84-973EC31F30DF}"/>
              </a:ext>
            </a:extLst>
          </p:cNvPr>
          <p:cNvSpPr>
            <a:spLocks noChangeArrowheads="1"/>
          </p:cNvSpPr>
          <p:nvPr/>
        </p:nvSpPr>
        <p:spPr bwMode="auto">
          <a:xfrm>
            <a:off x="5271156" y="3594249"/>
            <a:ext cx="736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fontAlgn="t">
              <a:spcBef>
                <a:spcPct val="50000"/>
              </a:spcBef>
            </a:pPr>
            <a:r>
              <a:rPr lang="zh-CN" altLang="en-US" sz="2000" b="1">
                <a:solidFill>
                  <a:schemeClr val="tx1"/>
                </a:solidFill>
                <a:latin typeface="+mn-ea"/>
                <a:ea typeface="+mn-ea"/>
              </a:rPr>
              <a:t>丙类</a:t>
            </a:r>
          </a:p>
        </p:txBody>
      </p:sp>
      <p:sp>
        <p:nvSpPr>
          <p:cNvPr id="17" name="Rectangle 16">
            <a:extLst>
              <a:ext uri="{FF2B5EF4-FFF2-40B4-BE49-F238E27FC236}">
                <a16:creationId xmlns:a16="http://schemas.microsoft.com/office/drawing/2014/main" xmlns="" id="{AE162384-FC55-8CE7-5CED-94DBCA97DC7C}"/>
              </a:ext>
            </a:extLst>
          </p:cNvPr>
          <p:cNvSpPr>
            <a:spLocks noChangeArrowheads="1"/>
          </p:cNvSpPr>
          <p:nvPr/>
        </p:nvSpPr>
        <p:spPr bwMode="auto">
          <a:xfrm>
            <a:off x="4172606" y="3594249"/>
            <a:ext cx="7239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fontAlgn="t">
              <a:spcBef>
                <a:spcPct val="50000"/>
              </a:spcBef>
            </a:pPr>
            <a:r>
              <a:rPr lang="zh-CN" altLang="en-US" sz="2000" b="1">
                <a:solidFill>
                  <a:schemeClr val="tx1"/>
                </a:solidFill>
                <a:latin typeface="+mn-ea"/>
                <a:ea typeface="+mn-ea"/>
              </a:rPr>
              <a:t>乙类</a:t>
            </a:r>
          </a:p>
        </p:txBody>
      </p:sp>
      <p:sp>
        <p:nvSpPr>
          <p:cNvPr id="18" name="Rectangle 17">
            <a:extLst>
              <a:ext uri="{FF2B5EF4-FFF2-40B4-BE49-F238E27FC236}">
                <a16:creationId xmlns:a16="http://schemas.microsoft.com/office/drawing/2014/main" xmlns="" id="{DAE5D897-2E3B-6CD8-F342-C81D1D224038}"/>
              </a:ext>
            </a:extLst>
          </p:cNvPr>
          <p:cNvSpPr>
            <a:spLocks noChangeArrowheads="1"/>
          </p:cNvSpPr>
          <p:nvPr/>
        </p:nvSpPr>
        <p:spPr bwMode="auto">
          <a:xfrm>
            <a:off x="2777194" y="3594249"/>
            <a:ext cx="10414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fontAlgn="t">
              <a:spcBef>
                <a:spcPct val="50000"/>
              </a:spcBef>
            </a:pPr>
            <a:r>
              <a:rPr lang="zh-CN" altLang="en-US" sz="2000" b="1">
                <a:solidFill>
                  <a:schemeClr val="tx1"/>
                </a:solidFill>
                <a:latin typeface="+mn-ea"/>
                <a:ea typeface="+mn-ea"/>
              </a:rPr>
              <a:t>甲乙类</a:t>
            </a:r>
          </a:p>
        </p:txBody>
      </p:sp>
      <p:sp>
        <p:nvSpPr>
          <p:cNvPr id="19" name="Rectangle 18">
            <a:extLst>
              <a:ext uri="{FF2B5EF4-FFF2-40B4-BE49-F238E27FC236}">
                <a16:creationId xmlns:a16="http://schemas.microsoft.com/office/drawing/2014/main" xmlns="" id="{F5A328B3-52AC-096E-AA3E-29261303D802}"/>
              </a:ext>
            </a:extLst>
          </p:cNvPr>
          <p:cNvSpPr>
            <a:spLocks noChangeArrowheads="1"/>
          </p:cNvSpPr>
          <p:nvPr/>
        </p:nvSpPr>
        <p:spPr bwMode="auto">
          <a:xfrm>
            <a:off x="1715156" y="3594249"/>
            <a:ext cx="8001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fontAlgn="t">
              <a:spcBef>
                <a:spcPct val="50000"/>
              </a:spcBef>
            </a:pPr>
            <a:r>
              <a:rPr lang="zh-CN" altLang="en-US" sz="2000" b="1" dirty="0">
                <a:solidFill>
                  <a:schemeClr val="tx1"/>
                </a:solidFill>
                <a:latin typeface="+mn-ea"/>
                <a:ea typeface="+mn-ea"/>
              </a:rPr>
              <a:t>甲类</a:t>
            </a:r>
          </a:p>
        </p:txBody>
      </p:sp>
      <p:sp>
        <p:nvSpPr>
          <p:cNvPr id="20" name="Text Box 22">
            <a:extLst>
              <a:ext uri="{FF2B5EF4-FFF2-40B4-BE49-F238E27FC236}">
                <a16:creationId xmlns:a16="http://schemas.microsoft.com/office/drawing/2014/main" xmlns="" id="{9DC572D7-2114-F1AF-BCDD-1419FA8E0469}"/>
              </a:ext>
            </a:extLst>
          </p:cNvPr>
          <p:cNvSpPr txBox="1">
            <a:spLocks noChangeArrowheads="1"/>
          </p:cNvSpPr>
          <p:nvPr/>
        </p:nvSpPr>
        <p:spPr bwMode="auto">
          <a:xfrm>
            <a:off x="900769" y="1235224"/>
            <a:ext cx="4025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t">
              <a:spcBef>
                <a:spcPct val="50000"/>
              </a:spcBef>
              <a:buClr>
                <a:schemeClr val="accent1"/>
              </a:buClr>
              <a:buFont typeface="Wingdings" panose="05000000000000000000" pitchFamily="2" charset="2"/>
              <a:buChar char="u"/>
            </a:pPr>
            <a:r>
              <a:rPr lang="en-US" altLang="zh-CN" sz="2000" b="1">
                <a:solidFill>
                  <a:schemeClr val="tx1"/>
                </a:solidFill>
                <a:latin typeface="+mn-ea"/>
                <a:ea typeface="+mn-ea"/>
              </a:rPr>
              <a:t>  </a:t>
            </a:r>
            <a:r>
              <a:rPr lang="zh-CN" altLang="en-US" sz="2000" b="1">
                <a:solidFill>
                  <a:schemeClr val="tx1"/>
                </a:solidFill>
                <a:latin typeface="+mn-ea"/>
                <a:ea typeface="+mn-ea"/>
              </a:rPr>
              <a:t>放大器进入平衡的原因：</a:t>
            </a:r>
          </a:p>
        </p:txBody>
      </p:sp>
      <p:sp>
        <p:nvSpPr>
          <p:cNvPr id="21" name="Text Box 23">
            <a:extLst>
              <a:ext uri="{FF2B5EF4-FFF2-40B4-BE49-F238E27FC236}">
                <a16:creationId xmlns:a16="http://schemas.microsoft.com/office/drawing/2014/main" xmlns="" id="{A9EBF674-81B3-035A-F61E-6CC0E80EE0CB}"/>
              </a:ext>
            </a:extLst>
          </p:cNvPr>
          <p:cNvSpPr txBox="1">
            <a:spLocks noChangeArrowheads="1"/>
          </p:cNvSpPr>
          <p:nvPr/>
        </p:nvSpPr>
        <p:spPr bwMode="auto">
          <a:xfrm>
            <a:off x="1416706" y="1844824"/>
            <a:ext cx="45847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t">
              <a:spcBef>
                <a:spcPct val="50000"/>
              </a:spcBef>
            </a:pPr>
            <a:r>
              <a:rPr lang="zh-CN" altLang="en-US" sz="2000" b="1" dirty="0">
                <a:solidFill>
                  <a:schemeClr val="tx1"/>
                </a:solidFill>
                <a:latin typeface="+mn-ea"/>
                <a:ea typeface="+mn-ea"/>
              </a:rPr>
              <a:t>（</a:t>
            </a:r>
            <a:r>
              <a:rPr lang="en-US" altLang="zh-CN" sz="2000" b="1" dirty="0">
                <a:solidFill>
                  <a:schemeClr val="tx1"/>
                </a:solidFill>
                <a:latin typeface="+mn-ea"/>
                <a:ea typeface="+mn-ea"/>
              </a:rPr>
              <a:t>1</a:t>
            </a:r>
            <a:r>
              <a:rPr lang="zh-CN" altLang="en-US" sz="2000" b="1" dirty="0">
                <a:solidFill>
                  <a:schemeClr val="tx1"/>
                </a:solidFill>
                <a:latin typeface="+mn-ea"/>
                <a:ea typeface="+mn-ea"/>
              </a:rPr>
              <a:t>）放大器固有的非线性特性</a:t>
            </a:r>
          </a:p>
        </p:txBody>
      </p:sp>
      <p:sp>
        <p:nvSpPr>
          <p:cNvPr id="22" name="Text Box 24">
            <a:extLst>
              <a:ext uri="{FF2B5EF4-FFF2-40B4-BE49-F238E27FC236}">
                <a16:creationId xmlns:a16="http://schemas.microsoft.com/office/drawing/2014/main" xmlns="" id="{8120D07F-5A69-47AE-4F75-9BBB9CDA7DE8}"/>
              </a:ext>
            </a:extLst>
          </p:cNvPr>
          <p:cNvSpPr txBox="1">
            <a:spLocks noChangeArrowheads="1"/>
          </p:cNvSpPr>
          <p:nvPr/>
        </p:nvSpPr>
        <p:spPr bwMode="auto">
          <a:xfrm>
            <a:off x="1454806" y="2314724"/>
            <a:ext cx="34798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t">
              <a:spcBef>
                <a:spcPct val="50000"/>
              </a:spcBef>
            </a:pPr>
            <a:r>
              <a:rPr lang="zh-CN" altLang="en-US" sz="2000" b="1" dirty="0">
                <a:solidFill>
                  <a:schemeClr val="tx1"/>
                </a:solidFill>
                <a:latin typeface="+mn-ea"/>
                <a:ea typeface="+mn-ea"/>
              </a:rPr>
              <a:t>（</a:t>
            </a:r>
            <a:r>
              <a:rPr lang="en-US" altLang="zh-CN" sz="2000" b="1" dirty="0">
                <a:solidFill>
                  <a:schemeClr val="tx1"/>
                </a:solidFill>
                <a:latin typeface="+mn-ea"/>
                <a:ea typeface="+mn-ea"/>
              </a:rPr>
              <a:t>2</a:t>
            </a:r>
            <a:r>
              <a:rPr lang="zh-CN" altLang="en-US" sz="2000" b="1" dirty="0">
                <a:solidFill>
                  <a:schemeClr val="tx1"/>
                </a:solidFill>
                <a:latin typeface="+mn-ea"/>
                <a:ea typeface="+mn-ea"/>
              </a:rPr>
              <a:t>）自给偏压效应</a:t>
            </a:r>
          </a:p>
        </p:txBody>
      </p:sp>
      <p:sp>
        <p:nvSpPr>
          <p:cNvPr id="23" name="AutoShape 25">
            <a:extLst>
              <a:ext uri="{FF2B5EF4-FFF2-40B4-BE49-F238E27FC236}">
                <a16:creationId xmlns:a16="http://schemas.microsoft.com/office/drawing/2014/main" xmlns="" id="{6A837416-9F07-B53C-37D3-69801DAE7D9C}"/>
              </a:ext>
            </a:extLst>
          </p:cNvPr>
          <p:cNvSpPr>
            <a:spLocks/>
          </p:cNvSpPr>
          <p:nvPr/>
        </p:nvSpPr>
        <p:spPr bwMode="auto">
          <a:xfrm>
            <a:off x="1346973" y="2023864"/>
            <a:ext cx="139466" cy="465892"/>
          </a:xfrm>
          <a:prstGeom prst="leftBrace">
            <a:avLst>
              <a:gd name="adj1" fmla="val 67819"/>
              <a:gd name="adj2" fmla="val 50000"/>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p>
            <a:endParaRPr lang="zh-CN" altLang="en-US" sz="2000">
              <a:solidFill>
                <a:schemeClr val="tx1"/>
              </a:solidFill>
              <a:latin typeface="+mn-ea"/>
              <a:ea typeface="+mn-ea"/>
            </a:endParaRPr>
          </a:p>
        </p:txBody>
      </p:sp>
      <p:sp>
        <p:nvSpPr>
          <p:cNvPr id="24" name="Text Box 26">
            <a:extLst>
              <a:ext uri="{FF2B5EF4-FFF2-40B4-BE49-F238E27FC236}">
                <a16:creationId xmlns:a16="http://schemas.microsoft.com/office/drawing/2014/main" xmlns="" id="{24C18AD7-00A4-0926-002B-D5BF12D8812F}"/>
              </a:ext>
            </a:extLst>
          </p:cNvPr>
          <p:cNvSpPr txBox="1">
            <a:spLocks noChangeArrowheads="1"/>
          </p:cNvSpPr>
          <p:nvPr/>
        </p:nvSpPr>
        <p:spPr bwMode="auto">
          <a:xfrm>
            <a:off x="899593" y="2828295"/>
            <a:ext cx="68453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t">
              <a:spcBef>
                <a:spcPct val="50000"/>
              </a:spcBef>
              <a:buClr>
                <a:schemeClr val="accent1"/>
              </a:buClr>
              <a:buFont typeface="Wingdings" panose="05000000000000000000" pitchFamily="2" charset="2"/>
              <a:buChar char="u"/>
            </a:pPr>
            <a:r>
              <a:rPr lang="en-US" altLang="zh-CN" sz="2000" b="1" dirty="0">
                <a:solidFill>
                  <a:schemeClr val="tx1"/>
                </a:solidFill>
                <a:latin typeface="+mn-ea"/>
                <a:ea typeface="+mn-ea"/>
              </a:rPr>
              <a:t> </a:t>
            </a:r>
            <a:r>
              <a:rPr lang="zh-CN" altLang="en-US" sz="2000" b="1" dirty="0">
                <a:solidFill>
                  <a:schemeClr val="tx1"/>
                </a:solidFill>
                <a:latin typeface="+mn-ea"/>
                <a:ea typeface="+mn-ea"/>
              </a:rPr>
              <a:t>从起振到平衡，放大器工作状态的变化</a:t>
            </a:r>
            <a:r>
              <a:rPr lang="en-US" altLang="zh-CN" sz="2000" b="1" dirty="0">
                <a:solidFill>
                  <a:schemeClr val="tx1"/>
                </a:solidFill>
                <a:latin typeface="+mn-ea"/>
                <a:ea typeface="+mn-ea"/>
              </a:rPr>
              <a:t>:</a:t>
            </a:r>
          </a:p>
        </p:txBody>
      </p:sp>
      <p:sp>
        <p:nvSpPr>
          <p:cNvPr id="25" name="Rectangle 20">
            <a:extLst>
              <a:ext uri="{FF2B5EF4-FFF2-40B4-BE49-F238E27FC236}">
                <a16:creationId xmlns:a16="http://schemas.microsoft.com/office/drawing/2014/main" xmlns="" id="{425D6C7F-3831-8A18-00A1-1C11A2425637}"/>
              </a:ext>
            </a:extLst>
          </p:cNvPr>
          <p:cNvSpPr>
            <a:spLocks noChangeArrowheads="1"/>
          </p:cNvSpPr>
          <p:nvPr/>
        </p:nvSpPr>
        <p:spPr bwMode="auto">
          <a:xfrm>
            <a:off x="2364443" y="3496392"/>
            <a:ext cx="30162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fontAlgn="t">
              <a:spcBef>
                <a:spcPct val="50000"/>
              </a:spcBef>
            </a:pPr>
            <a:r>
              <a:rPr lang="en-US" altLang="zh-CN" sz="2400" b="1" dirty="0">
                <a:solidFill>
                  <a:srgbClr val="000000"/>
                </a:solidFill>
                <a:latin typeface="Symbol" panose="05050102010706020507" pitchFamily="18" charset="2"/>
              </a:rPr>
              <a:t>®</a:t>
            </a:r>
            <a:endParaRPr lang="en-US" altLang="zh-CN" sz="2400" b="1" dirty="0">
              <a:solidFill>
                <a:srgbClr val="000000"/>
              </a:solidFill>
              <a:latin typeface="Times New Roman" panose="02020603050405020304" pitchFamily="18" charset="0"/>
            </a:endParaRPr>
          </a:p>
        </p:txBody>
      </p:sp>
      <p:sp>
        <p:nvSpPr>
          <p:cNvPr id="26" name="Rectangle 20">
            <a:extLst>
              <a:ext uri="{FF2B5EF4-FFF2-40B4-BE49-F238E27FC236}">
                <a16:creationId xmlns:a16="http://schemas.microsoft.com/office/drawing/2014/main" xmlns="" id="{D0B6771D-C304-B3BD-85D2-95483797D450}"/>
              </a:ext>
            </a:extLst>
          </p:cNvPr>
          <p:cNvSpPr>
            <a:spLocks noChangeArrowheads="1"/>
          </p:cNvSpPr>
          <p:nvPr/>
        </p:nvSpPr>
        <p:spPr bwMode="auto">
          <a:xfrm>
            <a:off x="3683656" y="3486718"/>
            <a:ext cx="30162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fontAlgn="t">
              <a:spcBef>
                <a:spcPct val="50000"/>
              </a:spcBef>
            </a:pPr>
            <a:r>
              <a:rPr lang="en-US" altLang="zh-CN" sz="2400" b="1" dirty="0">
                <a:solidFill>
                  <a:srgbClr val="000000"/>
                </a:solidFill>
                <a:latin typeface="Symbol" panose="05050102010706020507" pitchFamily="18" charset="2"/>
              </a:rPr>
              <a:t>®</a:t>
            </a:r>
            <a:endParaRPr lang="en-US" altLang="zh-CN" sz="2400" b="1" dirty="0">
              <a:solidFill>
                <a:srgbClr val="000000"/>
              </a:solidFill>
              <a:latin typeface="Times New Roman" panose="02020603050405020304" pitchFamily="18" charset="0"/>
            </a:endParaRPr>
          </a:p>
        </p:txBody>
      </p:sp>
      <p:sp>
        <p:nvSpPr>
          <p:cNvPr id="27" name="Rectangle 20">
            <a:extLst>
              <a:ext uri="{FF2B5EF4-FFF2-40B4-BE49-F238E27FC236}">
                <a16:creationId xmlns:a16="http://schemas.microsoft.com/office/drawing/2014/main" xmlns="" id="{CCD3EDD0-33BB-B855-CFE6-224AEE01A9C9}"/>
              </a:ext>
            </a:extLst>
          </p:cNvPr>
          <p:cNvSpPr>
            <a:spLocks noChangeArrowheads="1"/>
          </p:cNvSpPr>
          <p:nvPr/>
        </p:nvSpPr>
        <p:spPr bwMode="auto">
          <a:xfrm>
            <a:off x="4849763" y="3504133"/>
            <a:ext cx="30162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fontAlgn="t">
              <a:spcBef>
                <a:spcPct val="50000"/>
              </a:spcBef>
            </a:pPr>
            <a:r>
              <a:rPr lang="en-US" altLang="zh-CN" sz="2400" b="1" dirty="0">
                <a:solidFill>
                  <a:srgbClr val="000000"/>
                </a:solidFill>
                <a:latin typeface="Symbol" panose="05050102010706020507" pitchFamily="18" charset="2"/>
              </a:rPr>
              <a:t>®</a:t>
            </a:r>
            <a:endParaRPr lang="en-US" altLang="zh-CN" sz="2400" b="1" dirty="0">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4024596365"/>
      </p:ext>
    </p:extLst>
  </p:cSld>
  <p:clrMapOvr>
    <a:masterClrMapping/>
  </p:clrMapOvr>
  <p:timing>
    <p:tnLst>
      <p:par>
        <p:cTn id="1" dur="indefinite" restart="never" nodeType="tmRoot"/>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165</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5.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正弦波</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振荡器</a:t>
            </a:r>
          </a:p>
        </p:txBody>
      </p:sp>
      <p:graphicFrame>
        <p:nvGraphicFramePr>
          <p:cNvPr id="5" name="Object 21">
            <a:extLst>
              <a:ext uri="{FF2B5EF4-FFF2-40B4-BE49-F238E27FC236}">
                <a16:creationId xmlns:a16="http://schemas.microsoft.com/office/drawing/2014/main" xmlns="" id="{F014E658-D15B-632A-7B3C-0B0D884258FD}"/>
              </a:ext>
            </a:extLst>
          </p:cNvPr>
          <p:cNvGraphicFramePr>
            <a:graphicFrameLocks noChangeAspect="1"/>
          </p:cNvGraphicFramePr>
          <p:nvPr>
            <p:extLst>
              <p:ext uri="{D42A27DB-BD31-4B8C-83A1-F6EECF244321}">
                <p14:modId xmlns:p14="http://schemas.microsoft.com/office/powerpoint/2010/main" val="4111415534"/>
              </p:ext>
            </p:extLst>
          </p:nvPr>
        </p:nvGraphicFramePr>
        <p:xfrm>
          <a:off x="2503617" y="3893917"/>
          <a:ext cx="1513496" cy="504499"/>
        </p:xfrm>
        <a:graphic>
          <a:graphicData uri="http://schemas.openxmlformats.org/presentationml/2006/ole">
            <mc:AlternateContent xmlns:mc="http://schemas.openxmlformats.org/markup-compatibility/2006">
              <mc:Choice xmlns:v="urn:schemas-microsoft-com:vml" Requires="v">
                <p:oleObj spid="_x0000_s127407" r:id="rId3" imgW="710891" imgH="241195" progId="Equation.DSMT4">
                  <p:embed/>
                </p:oleObj>
              </mc:Choice>
              <mc:Fallback>
                <p:oleObj r:id="rId3" imgW="710891" imgH="241195"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03617" y="3893917"/>
                        <a:ext cx="1513496" cy="504499"/>
                      </a:xfrm>
                      <a:prstGeom prst="rect">
                        <a:avLst/>
                      </a:prstGeom>
                      <a:noFill/>
                      <a:ln>
                        <a:noFill/>
                      </a:ln>
                      <a:extLst/>
                    </p:spPr>
                  </p:pic>
                </p:oleObj>
              </mc:Fallback>
            </mc:AlternateContent>
          </a:graphicData>
        </a:graphic>
      </p:graphicFrame>
      <p:graphicFrame>
        <p:nvGraphicFramePr>
          <p:cNvPr id="6" name="Object 22">
            <a:extLst>
              <a:ext uri="{FF2B5EF4-FFF2-40B4-BE49-F238E27FC236}">
                <a16:creationId xmlns:a16="http://schemas.microsoft.com/office/drawing/2014/main" xmlns="" id="{61910364-1862-EF43-AB7A-9C17850277B0}"/>
              </a:ext>
            </a:extLst>
          </p:cNvPr>
          <p:cNvGraphicFramePr>
            <a:graphicFrameLocks noChangeAspect="1"/>
          </p:cNvGraphicFramePr>
          <p:nvPr>
            <p:extLst>
              <p:ext uri="{D42A27DB-BD31-4B8C-83A1-F6EECF244321}">
                <p14:modId xmlns:p14="http://schemas.microsoft.com/office/powerpoint/2010/main" val="116611739"/>
              </p:ext>
            </p:extLst>
          </p:nvPr>
        </p:nvGraphicFramePr>
        <p:xfrm>
          <a:off x="2428848" y="4537546"/>
          <a:ext cx="2505075" cy="474662"/>
        </p:xfrm>
        <a:graphic>
          <a:graphicData uri="http://schemas.openxmlformats.org/presentationml/2006/ole">
            <mc:AlternateContent xmlns:mc="http://schemas.openxmlformats.org/markup-compatibility/2006">
              <mc:Choice xmlns:v="urn:schemas-microsoft-com:vml" Requires="v">
                <p:oleObj spid="_x0000_s127408" r:id="rId5" imgW="1206500" imgH="228600" progId="Equation.DSMT4">
                  <p:embed/>
                </p:oleObj>
              </mc:Choice>
              <mc:Fallback>
                <p:oleObj r:id="rId5" imgW="1206500" imgH="22860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28848" y="4537546"/>
                        <a:ext cx="2505075" cy="47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 name="Rectangle 23">
            <a:extLst>
              <a:ext uri="{FF2B5EF4-FFF2-40B4-BE49-F238E27FC236}">
                <a16:creationId xmlns:a16="http://schemas.microsoft.com/office/drawing/2014/main" xmlns="" id="{CF450567-008C-C312-60AB-5553AB1FEF96}"/>
              </a:ext>
            </a:extLst>
          </p:cNvPr>
          <p:cNvSpPr>
            <a:spLocks noChangeArrowheads="1"/>
          </p:cNvSpPr>
          <p:nvPr/>
        </p:nvSpPr>
        <p:spPr bwMode="auto">
          <a:xfrm>
            <a:off x="373129" y="1704589"/>
            <a:ext cx="4826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buClr>
                <a:schemeClr val="accent1"/>
              </a:buClr>
              <a:buFont typeface="Wingdings" panose="05000000000000000000" pitchFamily="2" charset="2"/>
              <a:buChar char="u"/>
            </a:pPr>
            <a:r>
              <a:rPr lang="zh-CN" altLang="en-US" sz="2000" b="1">
                <a:solidFill>
                  <a:schemeClr val="tx1"/>
                </a:solidFill>
                <a:latin typeface="+mn-ea"/>
                <a:ea typeface="+mn-ea"/>
              </a:rPr>
              <a:t>平衡条件的另一种表示形式：</a:t>
            </a:r>
          </a:p>
        </p:txBody>
      </p:sp>
      <p:grpSp>
        <p:nvGrpSpPr>
          <p:cNvPr id="8" name="Group 25">
            <a:extLst>
              <a:ext uri="{FF2B5EF4-FFF2-40B4-BE49-F238E27FC236}">
                <a16:creationId xmlns:a16="http://schemas.microsoft.com/office/drawing/2014/main" xmlns="" id="{8ACA7078-6A89-BE6F-7EDF-16E6E9D242B5}"/>
              </a:ext>
            </a:extLst>
          </p:cNvPr>
          <p:cNvGrpSpPr>
            <a:grpSpLocks/>
          </p:cNvGrpSpPr>
          <p:nvPr/>
        </p:nvGrpSpPr>
        <p:grpSpPr bwMode="auto">
          <a:xfrm>
            <a:off x="365191" y="2103051"/>
            <a:ext cx="5029200" cy="1765300"/>
            <a:chOff x="2736" y="1536"/>
            <a:chExt cx="2448" cy="624"/>
          </a:xfrm>
        </p:grpSpPr>
        <p:grpSp>
          <p:nvGrpSpPr>
            <p:cNvPr id="9" name="Group 26">
              <a:extLst>
                <a:ext uri="{FF2B5EF4-FFF2-40B4-BE49-F238E27FC236}">
                  <a16:creationId xmlns:a16="http://schemas.microsoft.com/office/drawing/2014/main" xmlns="" id="{CFEBF7BB-B129-6E47-989E-FC8C5C2D97E0}"/>
                </a:ext>
              </a:extLst>
            </p:cNvPr>
            <p:cNvGrpSpPr>
              <a:grpSpLocks noChangeAspect="1"/>
            </p:cNvGrpSpPr>
            <p:nvPr/>
          </p:nvGrpSpPr>
          <p:grpSpPr bwMode="auto">
            <a:xfrm>
              <a:off x="2736" y="1536"/>
              <a:ext cx="2448" cy="624"/>
              <a:chOff x="2700" y="1907"/>
              <a:chExt cx="6120" cy="1560"/>
            </a:xfrm>
          </p:grpSpPr>
          <p:sp>
            <p:nvSpPr>
              <p:cNvPr id="14" name="AutoShape 27">
                <a:extLst>
                  <a:ext uri="{FF2B5EF4-FFF2-40B4-BE49-F238E27FC236}">
                    <a16:creationId xmlns:a16="http://schemas.microsoft.com/office/drawing/2014/main" xmlns="" id="{F1E6B883-ADF1-DCFC-9B06-3515A894E807}"/>
                  </a:ext>
                </a:extLst>
              </p:cNvPr>
              <p:cNvSpPr>
                <a:spLocks noChangeAspect="1" noChangeArrowheads="1"/>
              </p:cNvSpPr>
              <p:nvPr/>
            </p:nvSpPr>
            <p:spPr bwMode="auto">
              <a:xfrm>
                <a:off x="2700" y="1907"/>
                <a:ext cx="6120" cy="1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000">
                  <a:solidFill>
                    <a:schemeClr val="tx1"/>
                  </a:solidFill>
                  <a:latin typeface="+mn-ea"/>
                  <a:ea typeface="+mn-ea"/>
                </a:endParaRPr>
              </a:p>
            </p:txBody>
          </p:sp>
          <p:sp>
            <p:nvSpPr>
              <p:cNvPr id="15" name="Text Box 28">
                <a:extLst>
                  <a:ext uri="{FF2B5EF4-FFF2-40B4-BE49-F238E27FC236}">
                    <a16:creationId xmlns:a16="http://schemas.microsoft.com/office/drawing/2014/main" xmlns="" id="{2679B28B-FA35-0E26-E8C1-738CE7D275F2}"/>
                  </a:ext>
                </a:extLst>
              </p:cNvPr>
              <p:cNvSpPr txBox="1">
                <a:spLocks noChangeArrowheads="1"/>
              </p:cNvSpPr>
              <p:nvPr/>
            </p:nvSpPr>
            <p:spPr bwMode="auto">
              <a:xfrm>
                <a:off x="3240" y="1907"/>
                <a:ext cx="1009" cy="93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lstStyle/>
              <a:p>
                <a:pPr algn="just" eaLnBrk="0" hangingPunct="0"/>
                <a:endParaRPr lang="zh-CN" altLang="zh-CN" sz="2000" b="1">
                  <a:solidFill>
                    <a:schemeClr val="tx1"/>
                  </a:solidFill>
                  <a:latin typeface="+mn-ea"/>
                  <a:ea typeface="+mn-ea"/>
                </a:endParaRPr>
              </a:p>
            </p:txBody>
          </p:sp>
          <p:sp>
            <p:nvSpPr>
              <p:cNvPr id="16" name="Text Box 29">
                <a:extLst>
                  <a:ext uri="{FF2B5EF4-FFF2-40B4-BE49-F238E27FC236}">
                    <a16:creationId xmlns:a16="http://schemas.microsoft.com/office/drawing/2014/main" xmlns="" id="{C57931E8-702F-A7A9-D511-F6AA10EFC562}"/>
                  </a:ext>
                </a:extLst>
              </p:cNvPr>
              <p:cNvSpPr txBox="1">
                <a:spLocks noChangeArrowheads="1"/>
              </p:cNvSpPr>
              <p:nvPr/>
            </p:nvSpPr>
            <p:spPr bwMode="auto">
              <a:xfrm>
                <a:off x="4680" y="1907"/>
                <a:ext cx="989" cy="93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lstStyle/>
              <a:p>
                <a:pPr algn="just" eaLnBrk="0" hangingPunct="0"/>
                <a:endParaRPr lang="zh-CN" altLang="zh-CN" sz="2000" b="1">
                  <a:solidFill>
                    <a:schemeClr val="tx1"/>
                  </a:solidFill>
                  <a:latin typeface="+mn-ea"/>
                  <a:ea typeface="+mn-ea"/>
                </a:endParaRPr>
              </a:p>
            </p:txBody>
          </p:sp>
          <p:sp>
            <p:nvSpPr>
              <p:cNvPr id="17" name="Text Box 30">
                <a:extLst>
                  <a:ext uri="{FF2B5EF4-FFF2-40B4-BE49-F238E27FC236}">
                    <a16:creationId xmlns:a16="http://schemas.microsoft.com/office/drawing/2014/main" xmlns="" id="{51A56ABF-361C-B1AA-5BCD-A402C33B2781}"/>
                  </a:ext>
                </a:extLst>
              </p:cNvPr>
              <p:cNvSpPr txBox="1">
                <a:spLocks noChangeArrowheads="1"/>
              </p:cNvSpPr>
              <p:nvPr/>
            </p:nvSpPr>
            <p:spPr bwMode="auto">
              <a:xfrm>
                <a:off x="6120" y="1907"/>
                <a:ext cx="1024" cy="93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lstStyle/>
              <a:p>
                <a:pPr algn="just" eaLnBrk="0" hangingPunct="0"/>
                <a:endParaRPr lang="zh-CN" altLang="zh-CN" sz="2000" b="1">
                  <a:solidFill>
                    <a:schemeClr val="tx1"/>
                  </a:solidFill>
                  <a:latin typeface="+mn-ea"/>
                  <a:ea typeface="+mn-ea"/>
                </a:endParaRPr>
              </a:p>
            </p:txBody>
          </p:sp>
          <p:sp>
            <p:nvSpPr>
              <p:cNvPr id="18" name="Text Box 31">
                <a:extLst>
                  <a:ext uri="{FF2B5EF4-FFF2-40B4-BE49-F238E27FC236}">
                    <a16:creationId xmlns:a16="http://schemas.microsoft.com/office/drawing/2014/main" xmlns="" id="{DB874454-A77B-B0CA-4029-B7F1BEDFC04C}"/>
                  </a:ext>
                </a:extLst>
              </p:cNvPr>
              <p:cNvSpPr txBox="1">
                <a:spLocks noChangeArrowheads="1"/>
              </p:cNvSpPr>
              <p:nvPr/>
            </p:nvSpPr>
            <p:spPr bwMode="auto">
              <a:xfrm>
                <a:off x="7631" y="2063"/>
                <a:ext cx="649" cy="62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lstStyle/>
              <a:p>
                <a:pPr algn="just" eaLnBrk="0" hangingPunct="0"/>
                <a:endParaRPr lang="zh-CN" altLang="zh-CN" sz="2000" b="1">
                  <a:solidFill>
                    <a:schemeClr val="tx1"/>
                  </a:solidFill>
                  <a:latin typeface="+mn-ea"/>
                  <a:ea typeface="+mn-ea"/>
                </a:endParaRPr>
              </a:p>
            </p:txBody>
          </p:sp>
          <p:sp>
            <p:nvSpPr>
              <p:cNvPr id="19" name="Line 32">
                <a:extLst>
                  <a:ext uri="{FF2B5EF4-FFF2-40B4-BE49-F238E27FC236}">
                    <a16:creationId xmlns:a16="http://schemas.microsoft.com/office/drawing/2014/main" xmlns="" id="{44B679DA-8EFB-33AE-A954-7C19AF31C188}"/>
                  </a:ext>
                </a:extLst>
              </p:cNvPr>
              <p:cNvSpPr>
                <a:spLocks noChangeShapeType="1"/>
              </p:cNvSpPr>
              <p:nvPr/>
            </p:nvSpPr>
            <p:spPr bwMode="auto">
              <a:xfrm>
                <a:off x="4320" y="2375"/>
                <a:ext cx="360" cy="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000">
                  <a:solidFill>
                    <a:schemeClr val="tx1"/>
                  </a:solidFill>
                  <a:latin typeface="+mn-ea"/>
                  <a:ea typeface="+mn-ea"/>
                </a:endParaRPr>
              </a:p>
            </p:txBody>
          </p:sp>
          <p:sp>
            <p:nvSpPr>
              <p:cNvPr id="20" name="Line 33">
                <a:extLst>
                  <a:ext uri="{FF2B5EF4-FFF2-40B4-BE49-F238E27FC236}">
                    <a16:creationId xmlns:a16="http://schemas.microsoft.com/office/drawing/2014/main" xmlns="" id="{804DCC8F-56C4-4BF9-0C18-6D36E75E36DF}"/>
                  </a:ext>
                </a:extLst>
              </p:cNvPr>
              <p:cNvSpPr>
                <a:spLocks noChangeShapeType="1"/>
              </p:cNvSpPr>
              <p:nvPr/>
            </p:nvSpPr>
            <p:spPr bwMode="auto">
              <a:xfrm>
                <a:off x="5760" y="2375"/>
                <a:ext cx="360" cy="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000">
                  <a:solidFill>
                    <a:schemeClr val="tx1"/>
                  </a:solidFill>
                  <a:latin typeface="+mn-ea"/>
                  <a:ea typeface="+mn-ea"/>
                </a:endParaRPr>
              </a:p>
            </p:txBody>
          </p:sp>
          <p:sp>
            <p:nvSpPr>
              <p:cNvPr id="21" name="Line 34">
                <a:extLst>
                  <a:ext uri="{FF2B5EF4-FFF2-40B4-BE49-F238E27FC236}">
                    <a16:creationId xmlns:a16="http://schemas.microsoft.com/office/drawing/2014/main" xmlns="" id="{FD2FE023-97C1-C7BE-5F6C-DCE0110E1C78}"/>
                  </a:ext>
                </a:extLst>
              </p:cNvPr>
              <p:cNvSpPr>
                <a:spLocks noChangeShapeType="1"/>
              </p:cNvSpPr>
              <p:nvPr/>
            </p:nvSpPr>
            <p:spPr bwMode="auto">
              <a:xfrm>
                <a:off x="7200" y="2375"/>
                <a:ext cx="360" cy="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000">
                  <a:solidFill>
                    <a:schemeClr val="tx1"/>
                  </a:solidFill>
                  <a:latin typeface="+mn-ea"/>
                  <a:ea typeface="+mn-ea"/>
                </a:endParaRPr>
              </a:p>
            </p:txBody>
          </p:sp>
          <p:sp>
            <p:nvSpPr>
              <p:cNvPr id="22" name="Line 35">
                <a:extLst>
                  <a:ext uri="{FF2B5EF4-FFF2-40B4-BE49-F238E27FC236}">
                    <a16:creationId xmlns:a16="http://schemas.microsoft.com/office/drawing/2014/main" xmlns="" id="{4BA8B7FB-BFE8-4C52-AF7F-8F5A1BA8DC21}"/>
                  </a:ext>
                </a:extLst>
              </p:cNvPr>
              <p:cNvSpPr>
                <a:spLocks noChangeShapeType="1"/>
              </p:cNvSpPr>
              <p:nvPr/>
            </p:nvSpPr>
            <p:spPr bwMode="auto">
              <a:xfrm>
                <a:off x="8280" y="2375"/>
                <a:ext cx="360" cy="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000">
                  <a:solidFill>
                    <a:schemeClr val="tx1"/>
                  </a:solidFill>
                  <a:latin typeface="+mn-ea"/>
                  <a:ea typeface="+mn-ea"/>
                </a:endParaRPr>
              </a:p>
            </p:txBody>
          </p:sp>
          <p:sp>
            <p:nvSpPr>
              <p:cNvPr id="23" name="Line 36">
                <a:extLst>
                  <a:ext uri="{FF2B5EF4-FFF2-40B4-BE49-F238E27FC236}">
                    <a16:creationId xmlns:a16="http://schemas.microsoft.com/office/drawing/2014/main" xmlns="" id="{84241EF0-E33A-CB2B-D707-1B82459F8134}"/>
                  </a:ext>
                </a:extLst>
              </p:cNvPr>
              <p:cNvSpPr>
                <a:spLocks noChangeShapeType="1"/>
              </p:cNvSpPr>
              <p:nvPr/>
            </p:nvSpPr>
            <p:spPr bwMode="auto">
              <a:xfrm>
                <a:off x="2880" y="2375"/>
                <a:ext cx="360" cy="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000">
                  <a:solidFill>
                    <a:schemeClr val="tx1"/>
                  </a:solidFill>
                  <a:latin typeface="+mn-ea"/>
                  <a:ea typeface="+mn-ea"/>
                </a:endParaRPr>
              </a:p>
            </p:txBody>
          </p:sp>
          <p:sp>
            <p:nvSpPr>
              <p:cNvPr id="24" name="Line 37">
                <a:extLst>
                  <a:ext uri="{FF2B5EF4-FFF2-40B4-BE49-F238E27FC236}">
                    <a16:creationId xmlns:a16="http://schemas.microsoft.com/office/drawing/2014/main" xmlns="" id="{D257E035-A217-0755-082A-FA96BF296D0B}"/>
                  </a:ext>
                </a:extLst>
              </p:cNvPr>
              <p:cNvSpPr>
                <a:spLocks noChangeShapeType="1"/>
              </p:cNvSpPr>
              <p:nvPr/>
            </p:nvSpPr>
            <p:spPr bwMode="auto">
              <a:xfrm>
                <a:off x="2880" y="2375"/>
                <a:ext cx="0" cy="93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000">
                  <a:solidFill>
                    <a:schemeClr val="tx1"/>
                  </a:solidFill>
                  <a:latin typeface="+mn-ea"/>
                  <a:ea typeface="+mn-ea"/>
                </a:endParaRPr>
              </a:p>
            </p:txBody>
          </p:sp>
          <p:sp>
            <p:nvSpPr>
              <p:cNvPr id="25" name="Line 38">
                <a:extLst>
                  <a:ext uri="{FF2B5EF4-FFF2-40B4-BE49-F238E27FC236}">
                    <a16:creationId xmlns:a16="http://schemas.microsoft.com/office/drawing/2014/main" xmlns="" id="{21B3B101-BFCD-EB46-2FAB-C867D4967300}"/>
                  </a:ext>
                </a:extLst>
              </p:cNvPr>
              <p:cNvSpPr>
                <a:spLocks noChangeShapeType="1"/>
              </p:cNvSpPr>
              <p:nvPr/>
            </p:nvSpPr>
            <p:spPr bwMode="auto">
              <a:xfrm>
                <a:off x="2880" y="3311"/>
                <a:ext cx="576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000">
                  <a:solidFill>
                    <a:schemeClr val="tx1"/>
                  </a:solidFill>
                  <a:latin typeface="+mn-ea"/>
                  <a:ea typeface="+mn-ea"/>
                </a:endParaRPr>
              </a:p>
            </p:txBody>
          </p:sp>
          <p:sp>
            <p:nvSpPr>
              <p:cNvPr id="26" name="Line 39">
                <a:extLst>
                  <a:ext uri="{FF2B5EF4-FFF2-40B4-BE49-F238E27FC236}">
                    <a16:creationId xmlns:a16="http://schemas.microsoft.com/office/drawing/2014/main" xmlns="" id="{95154D4C-E9D0-217A-117C-123E289EBA70}"/>
                  </a:ext>
                </a:extLst>
              </p:cNvPr>
              <p:cNvSpPr>
                <a:spLocks noChangeShapeType="1"/>
              </p:cNvSpPr>
              <p:nvPr/>
            </p:nvSpPr>
            <p:spPr bwMode="auto">
              <a:xfrm>
                <a:off x="8640" y="2375"/>
                <a:ext cx="0" cy="93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000">
                  <a:solidFill>
                    <a:schemeClr val="tx1"/>
                  </a:solidFill>
                  <a:latin typeface="+mn-ea"/>
                  <a:ea typeface="+mn-ea"/>
                </a:endParaRPr>
              </a:p>
            </p:txBody>
          </p:sp>
        </p:grpSp>
        <p:graphicFrame>
          <p:nvGraphicFramePr>
            <p:cNvPr id="10" name="Object 40">
              <a:extLst>
                <a:ext uri="{FF2B5EF4-FFF2-40B4-BE49-F238E27FC236}">
                  <a16:creationId xmlns:a16="http://schemas.microsoft.com/office/drawing/2014/main" xmlns="" id="{F2E18F38-823A-8A8D-F24D-AE09C803400A}"/>
                </a:ext>
              </a:extLst>
            </p:cNvPr>
            <p:cNvGraphicFramePr>
              <a:graphicFrameLocks noChangeAspect="1"/>
            </p:cNvGraphicFramePr>
            <p:nvPr/>
          </p:nvGraphicFramePr>
          <p:xfrm>
            <a:off x="3032" y="1592"/>
            <a:ext cx="271" cy="272"/>
          </p:xfrm>
          <a:graphic>
            <a:graphicData uri="http://schemas.openxmlformats.org/presentationml/2006/ole">
              <mc:AlternateContent xmlns:mc="http://schemas.openxmlformats.org/markup-compatibility/2006">
                <mc:Choice xmlns:v="urn:schemas-microsoft-com:vml" Requires="v">
                  <p:oleObj spid="_x0000_s127409" r:id="rId7" imgW="431613" imgH="431613" progId="Equation.3">
                    <p:embed/>
                  </p:oleObj>
                </mc:Choice>
                <mc:Fallback>
                  <p:oleObj r:id="rId7" imgW="431613" imgH="431613"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32" y="1592"/>
                          <a:ext cx="271"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1" name="Object 41">
              <a:extLst>
                <a:ext uri="{FF2B5EF4-FFF2-40B4-BE49-F238E27FC236}">
                  <a16:creationId xmlns:a16="http://schemas.microsoft.com/office/drawing/2014/main" xmlns="" id="{FB1DB14E-9CED-6E5C-B99D-F98073264C66}"/>
                </a:ext>
              </a:extLst>
            </p:cNvPr>
            <p:cNvGraphicFramePr>
              <a:graphicFrameLocks noChangeAspect="1"/>
            </p:cNvGraphicFramePr>
            <p:nvPr/>
          </p:nvGraphicFramePr>
          <p:xfrm>
            <a:off x="3600" y="1584"/>
            <a:ext cx="281" cy="288"/>
          </p:xfrm>
          <a:graphic>
            <a:graphicData uri="http://schemas.openxmlformats.org/presentationml/2006/ole">
              <mc:AlternateContent xmlns:mc="http://schemas.openxmlformats.org/markup-compatibility/2006">
                <mc:Choice xmlns:v="urn:schemas-microsoft-com:vml" Requires="v">
                  <p:oleObj spid="_x0000_s127410" r:id="rId9" imgW="444307" imgH="457002" progId="Equation.3">
                    <p:embed/>
                  </p:oleObj>
                </mc:Choice>
                <mc:Fallback>
                  <p:oleObj r:id="rId9" imgW="444307" imgH="457002"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600" y="1584"/>
                          <a:ext cx="28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2" name="Object 42">
              <a:extLst>
                <a:ext uri="{FF2B5EF4-FFF2-40B4-BE49-F238E27FC236}">
                  <a16:creationId xmlns:a16="http://schemas.microsoft.com/office/drawing/2014/main" xmlns="" id="{C61B7AA6-F68A-5236-0EEA-D903E7CF7CE4}"/>
                </a:ext>
              </a:extLst>
            </p:cNvPr>
            <p:cNvGraphicFramePr>
              <a:graphicFrameLocks noChangeAspect="1"/>
            </p:cNvGraphicFramePr>
            <p:nvPr/>
          </p:nvGraphicFramePr>
          <p:xfrm>
            <a:off x="4180" y="1584"/>
            <a:ext cx="285" cy="270"/>
          </p:xfrm>
          <a:graphic>
            <a:graphicData uri="http://schemas.openxmlformats.org/presentationml/2006/ole">
              <mc:AlternateContent xmlns:mc="http://schemas.openxmlformats.org/markup-compatibility/2006">
                <mc:Choice xmlns:v="urn:schemas-microsoft-com:vml" Requires="v">
                  <p:oleObj spid="_x0000_s127411" r:id="rId11" imgW="469696" imgH="431613" progId="Equation.3">
                    <p:embed/>
                  </p:oleObj>
                </mc:Choice>
                <mc:Fallback>
                  <p:oleObj r:id="rId11" imgW="469696" imgH="431613"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180" y="1584"/>
                          <a:ext cx="285"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3" name="Object 43">
              <a:extLst>
                <a:ext uri="{FF2B5EF4-FFF2-40B4-BE49-F238E27FC236}">
                  <a16:creationId xmlns:a16="http://schemas.microsoft.com/office/drawing/2014/main" xmlns="" id="{82F24874-ACE7-3E8C-7B83-F51B88BDF408}"/>
                </a:ext>
              </a:extLst>
            </p:cNvPr>
            <p:cNvGraphicFramePr>
              <a:graphicFrameLocks noChangeAspect="1"/>
            </p:cNvGraphicFramePr>
            <p:nvPr/>
          </p:nvGraphicFramePr>
          <p:xfrm>
            <a:off x="4760" y="1640"/>
            <a:ext cx="127" cy="146"/>
          </p:xfrm>
          <a:graphic>
            <a:graphicData uri="http://schemas.openxmlformats.org/presentationml/2006/ole">
              <mc:AlternateContent xmlns:mc="http://schemas.openxmlformats.org/markup-compatibility/2006">
                <mc:Choice xmlns:v="urn:schemas-microsoft-com:vml" Requires="v">
                  <p:oleObj spid="_x0000_s127412" r:id="rId13" imgW="203112" imgH="228501" progId="Equation.3">
                    <p:embed/>
                  </p:oleObj>
                </mc:Choice>
                <mc:Fallback>
                  <p:oleObj r:id="rId13" imgW="203112" imgH="228501"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760" y="1640"/>
                          <a:ext cx="127" cy="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
        <p:nvSpPr>
          <p:cNvPr id="27" name="Rectangle 44">
            <a:extLst>
              <a:ext uri="{FF2B5EF4-FFF2-40B4-BE49-F238E27FC236}">
                <a16:creationId xmlns:a16="http://schemas.microsoft.com/office/drawing/2014/main" xmlns="" id="{D89EDA6A-8510-A1C4-FF61-455AB656F4A7}"/>
              </a:ext>
            </a:extLst>
          </p:cNvPr>
          <p:cNvSpPr>
            <a:spLocks noChangeArrowheads="1"/>
          </p:cNvSpPr>
          <p:nvPr/>
        </p:nvSpPr>
        <p:spPr bwMode="auto">
          <a:xfrm>
            <a:off x="382216" y="3926987"/>
            <a:ext cx="186301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fontAlgn="t">
              <a:spcBef>
                <a:spcPct val="50000"/>
              </a:spcBef>
            </a:pPr>
            <a:r>
              <a:rPr lang="zh-CN" altLang="en-US" sz="2000" b="1" dirty="0">
                <a:solidFill>
                  <a:schemeClr val="tx1"/>
                </a:solidFill>
                <a:latin typeface="+mn-ea"/>
                <a:ea typeface="+mn-ea"/>
              </a:rPr>
              <a:t>振幅平衡条件</a:t>
            </a:r>
            <a:r>
              <a:rPr lang="en-US" altLang="zh-CN" sz="2000" b="1" dirty="0">
                <a:solidFill>
                  <a:schemeClr val="tx1"/>
                </a:solidFill>
                <a:latin typeface="+mn-ea"/>
                <a:ea typeface="+mn-ea"/>
              </a:rPr>
              <a:t>:</a:t>
            </a:r>
          </a:p>
        </p:txBody>
      </p:sp>
      <p:sp>
        <p:nvSpPr>
          <p:cNvPr id="28" name="Rectangle 45">
            <a:extLst>
              <a:ext uri="{FF2B5EF4-FFF2-40B4-BE49-F238E27FC236}">
                <a16:creationId xmlns:a16="http://schemas.microsoft.com/office/drawing/2014/main" xmlns="" id="{5C095B31-44CF-8CCA-D5CF-02832E6F02EA}"/>
              </a:ext>
            </a:extLst>
          </p:cNvPr>
          <p:cNvSpPr>
            <a:spLocks noChangeArrowheads="1"/>
          </p:cNvSpPr>
          <p:nvPr/>
        </p:nvSpPr>
        <p:spPr bwMode="auto">
          <a:xfrm>
            <a:off x="365191" y="4635072"/>
            <a:ext cx="186301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fontAlgn="t">
              <a:spcBef>
                <a:spcPct val="50000"/>
              </a:spcBef>
            </a:pPr>
            <a:r>
              <a:rPr lang="zh-CN" altLang="en-US" sz="2000" b="1">
                <a:solidFill>
                  <a:schemeClr val="tx1"/>
                </a:solidFill>
                <a:latin typeface="+mn-ea"/>
                <a:ea typeface="+mn-ea"/>
              </a:rPr>
              <a:t>相位平衡条件</a:t>
            </a:r>
            <a:r>
              <a:rPr lang="en-US" altLang="zh-CN" sz="2000" b="1">
                <a:solidFill>
                  <a:schemeClr val="tx1"/>
                </a:solidFill>
                <a:latin typeface="+mn-ea"/>
                <a:ea typeface="+mn-ea"/>
              </a:rPr>
              <a:t>:</a:t>
            </a:r>
          </a:p>
        </p:txBody>
      </p:sp>
      <p:grpSp>
        <p:nvGrpSpPr>
          <p:cNvPr id="29" name="Group 3">
            <a:extLst>
              <a:ext uri="{FF2B5EF4-FFF2-40B4-BE49-F238E27FC236}">
                <a16:creationId xmlns:a16="http://schemas.microsoft.com/office/drawing/2014/main" xmlns="" id="{56CFC8CE-CAA1-CFEC-52CA-DCA7D8EFD4B6}"/>
              </a:ext>
            </a:extLst>
          </p:cNvPr>
          <p:cNvGrpSpPr>
            <a:grpSpLocks/>
          </p:cNvGrpSpPr>
          <p:nvPr/>
        </p:nvGrpSpPr>
        <p:grpSpPr bwMode="auto">
          <a:xfrm>
            <a:off x="5617089" y="2279581"/>
            <a:ext cx="3098800" cy="1676400"/>
            <a:chOff x="3472" y="2064"/>
            <a:chExt cx="1952" cy="1056"/>
          </a:xfrm>
        </p:grpSpPr>
        <p:sp>
          <p:nvSpPr>
            <p:cNvPr id="30" name="Line 4">
              <a:extLst>
                <a:ext uri="{FF2B5EF4-FFF2-40B4-BE49-F238E27FC236}">
                  <a16:creationId xmlns:a16="http://schemas.microsoft.com/office/drawing/2014/main" xmlns="" id="{3F2A1F36-B8D1-6D34-3A8B-680B2E5A935D}"/>
                </a:ext>
              </a:extLst>
            </p:cNvPr>
            <p:cNvSpPr>
              <a:spLocks noChangeShapeType="1"/>
            </p:cNvSpPr>
            <p:nvPr/>
          </p:nvSpPr>
          <p:spPr bwMode="auto">
            <a:xfrm>
              <a:off x="4455" y="2256"/>
              <a:ext cx="249" cy="0"/>
            </a:xfrm>
            <a:prstGeom prst="line">
              <a:avLst/>
            </a:prstGeom>
            <a:noFill/>
            <a:ln w="9525">
              <a:solidFill>
                <a:srgbClr val="000000"/>
              </a:solidFill>
              <a:round/>
              <a:headEnd/>
              <a:tailEnd type="triangle" w="sm" len="sm"/>
            </a:ln>
            <a:extLst>
              <a:ext uri="{909E8E84-426E-40DD-AFC4-6F175D3DCCD1}">
                <a14:hiddenFill xmlns:a14="http://schemas.microsoft.com/office/drawing/2010/main">
                  <a:noFill/>
                </a14:hiddenFill>
              </a:ext>
            </a:extLst>
          </p:spPr>
          <p:txBody>
            <a:bodyPr/>
            <a:lstStyle/>
            <a:p>
              <a:endParaRPr lang="zh-CN" altLang="en-US">
                <a:solidFill>
                  <a:schemeClr val="tx1"/>
                </a:solidFill>
              </a:endParaRPr>
            </a:p>
          </p:txBody>
        </p:sp>
        <p:grpSp>
          <p:nvGrpSpPr>
            <p:cNvPr id="31" name="Group 5">
              <a:extLst>
                <a:ext uri="{FF2B5EF4-FFF2-40B4-BE49-F238E27FC236}">
                  <a16:creationId xmlns:a16="http://schemas.microsoft.com/office/drawing/2014/main" xmlns="" id="{E030D724-8157-93CA-1813-6636BCF5C515}"/>
                </a:ext>
              </a:extLst>
            </p:cNvPr>
            <p:cNvGrpSpPr>
              <a:grpSpLocks/>
            </p:cNvGrpSpPr>
            <p:nvPr/>
          </p:nvGrpSpPr>
          <p:grpSpPr bwMode="auto">
            <a:xfrm>
              <a:off x="3472" y="2064"/>
              <a:ext cx="1568" cy="1056"/>
              <a:chOff x="3472" y="2064"/>
              <a:chExt cx="1568" cy="1056"/>
            </a:xfrm>
          </p:grpSpPr>
          <p:sp>
            <p:nvSpPr>
              <p:cNvPr id="33" name="Text Box 6">
                <a:extLst>
                  <a:ext uri="{FF2B5EF4-FFF2-40B4-BE49-F238E27FC236}">
                    <a16:creationId xmlns:a16="http://schemas.microsoft.com/office/drawing/2014/main" xmlns="" id="{F7DF6DD0-D907-E211-97C4-F6DCCA892F07}"/>
                  </a:ext>
                </a:extLst>
              </p:cNvPr>
              <p:cNvSpPr txBox="1">
                <a:spLocks noChangeArrowheads="1"/>
              </p:cNvSpPr>
              <p:nvPr/>
            </p:nvSpPr>
            <p:spPr bwMode="auto">
              <a:xfrm>
                <a:off x="3719" y="2064"/>
                <a:ext cx="736" cy="384"/>
              </a:xfrm>
              <a:prstGeom prst="rect">
                <a:avLst/>
              </a:prstGeom>
              <a:solidFill>
                <a:srgbClr val="FFFF00"/>
              </a:solidFill>
              <a:ln w="9525">
                <a:solidFill>
                  <a:srgbClr val="000000"/>
                </a:solidFill>
                <a:miter lim="800000"/>
                <a:headEnd/>
                <a:tailEnd/>
              </a:ln>
            </p:spPr>
            <p:txBody>
              <a:bodyPr/>
              <a:lstStyle/>
              <a:p>
                <a:pPr algn="just"/>
                <a:r>
                  <a:rPr lang="en-US" altLang="zh-CN" sz="1800" b="1">
                    <a:solidFill>
                      <a:schemeClr val="tx1"/>
                    </a:solidFill>
                    <a:latin typeface="Times New Roman" panose="02020603050405020304" pitchFamily="18" charset="0"/>
                  </a:rPr>
                  <a:t>  </a:t>
                </a:r>
                <a:r>
                  <a:rPr lang="zh-CN" altLang="en-US" sz="1800" b="1">
                    <a:solidFill>
                      <a:schemeClr val="tx1"/>
                    </a:solidFill>
                    <a:latin typeface="Times New Roman" panose="02020603050405020304" pitchFamily="18" charset="0"/>
                  </a:rPr>
                  <a:t>晶体管</a:t>
                </a:r>
              </a:p>
            </p:txBody>
          </p:sp>
          <p:sp>
            <p:nvSpPr>
              <p:cNvPr id="34" name="Line 7">
                <a:extLst>
                  <a:ext uri="{FF2B5EF4-FFF2-40B4-BE49-F238E27FC236}">
                    <a16:creationId xmlns:a16="http://schemas.microsoft.com/office/drawing/2014/main" xmlns="" id="{766725B7-6B55-D0BF-FA48-704A810D1CF2}"/>
                  </a:ext>
                </a:extLst>
              </p:cNvPr>
              <p:cNvSpPr>
                <a:spLocks noChangeShapeType="1"/>
              </p:cNvSpPr>
              <p:nvPr/>
            </p:nvSpPr>
            <p:spPr bwMode="auto">
              <a:xfrm>
                <a:off x="3472" y="2256"/>
                <a:ext cx="24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solidFill>
                    <a:schemeClr val="tx1"/>
                  </a:solidFill>
                </a:endParaRPr>
              </a:p>
            </p:txBody>
          </p:sp>
          <p:sp>
            <p:nvSpPr>
              <p:cNvPr id="35" name="Line 8">
                <a:extLst>
                  <a:ext uri="{FF2B5EF4-FFF2-40B4-BE49-F238E27FC236}">
                    <a16:creationId xmlns:a16="http://schemas.microsoft.com/office/drawing/2014/main" xmlns="" id="{86C69237-F7F3-18BD-7AA3-6271125678B1}"/>
                  </a:ext>
                </a:extLst>
              </p:cNvPr>
              <p:cNvSpPr>
                <a:spLocks noChangeShapeType="1"/>
              </p:cNvSpPr>
              <p:nvPr/>
            </p:nvSpPr>
            <p:spPr bwMode="auto">
              <a:xfrm>
                <a:off x="5040" y="2352"/>
                <a:ext cx="0" cy="57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solidFill>
                    <a:schemeClr val="tx1"/>
                  </a:solidFill>
                </a:endParaRPr>
              </a:p>
            </p:txBody>
          </p:sp>
          <p:sp>
            <p:nvSpPr>
              <p:cNvPr id="36" name="Line 9">
                <a:extLst>
                  <a:ext uri="{FF2B5EF4-FFF2-40B4-BE49-F238E27FC236}">
                    <a16:creationId xmlns:a16="http://schemas.microsoft.com/office/drawing/2014/main" xmlns="" id="{03F8D518-B2E7-ED5A-AB13-8FD58CD48F1A}"/>
                  </a:ext>
                </a:extLst>
              </p:cNvPr>
              <p:cNvSpPr>
                <a:spLocks noChangeShapeType="1"/>
              </p:cNvSpPr>
              <p:nvPr/>
            </p:nvSpPr>
            <p:spPr bwMode="auto">
              <a:xfrm flipH="1">
                <a:off x="4560" y="2928"/>
                <a:ext cx="48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solidFill>
                    <a:schemeClr val="tx1"/>
                  </a:solidFill>
                </a:endParaRPr>
              </a:p>
            </p:txBody>
          </p:sp>
          <p:sp>
            <p:nvSpPr>
              <p:cNvPr id="37" name="Line 10">
                <a:extLst>
                  <a:ext uri="{FF2B5EF4-FFF2-40B4-BE49-F238E27FC236}">
                    <a16:creationId xmlns:a16="http://schemas.microsoft.com/office/drawing/2014/main" xmlns="" id="{CA917B28-4950-C5CB-BB2C-CF6C961AB609}"/>
                  </a:ext>
                </a:extLst>
              </p:cNvPr>
              <p:cNvSpPr>
                <a:spLocks noChangeShapeType="1"/>
              </p:cNvSpPr>
              <p:nvPr/>
            </p:nvSpPr>
            <p:spPr bwMode="auto">
              <a:xfrm flipV="1">
                <a:off x="3472" y="2256"/>
                <a:ext cx="0" cy="67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solidFill>
                    <a:schemeClr val="tx1"/>
                  </a:solidFill>
                </a:endParaRPr>
              </a:p>
            </p:txBody>
          </p:sp>
          <p:sp>
            <p:nvSpPr>
              <p:cNvPr id="38" name="Text Box 11">
                <a:extLst>
                  <a:ext uri="{FF2B5EF4-FFF2-40B4-BE49-F238E27FC236}">
                    <a16:creationId xmlns:a16="http://schemas.microsoft.com/office/drawing/2014/main" xmlns="" id="{B7BA87D2-77B8-D616-6949-6EA216B33E4B}"/>
                  </a:ext>
                </a:extLst>
              </p:cNvPr>
              <p:cNvSpPr txBox="1">
                <a:spLocks noChangeArrowheads="1"/>
              </p:cNvSpPr>
              <p:nvPr/>
            </p:nvSpPr>
            <p:spPr bwMode="auto">
              <a:xfrm>
                <a:off x="3856" y="2736"/>
                <a:ext cx="841" cy="384"/>
              </a:xfrm>
              <a:prstGeom prst="rect">
                <a:avLst/>
              </a:prstGeom>
              <a:solidFill>
                <a:srgbClr val="FFFF00"/>
              </a:solidFill>
              <a:ln w="9525">
                <a:solidFill>
                  <a:srgbClr val="000000"/>
                </a:solidFill>
                <a:miter lim="800000"/>
                <a:headEnd/>
                <a:tailEnd/>
              </a:ln>
            </p:spPr>
            <p:txBody>
              <a:bodyPr/>
              <a:lstStyle/>
              <a:p>
                <a:pPr algn="just"/>
                <a:r>
                  <a:rPr lang="en-US" altLang="zh-CN" sz="1800" b="1">
                    <a:solidFill>
                      <a:schemeClr val="tx1"/>
                    </a:solidFill>
                    <a:latin typeface="Times New Roman" panose="02020603050405020304" pitchFamily="18" charset="0"/>
                  </a:rPr>
                  <a:t>  </a:t>
                </a:r>
                <a:r>
                  <a:rPr lang="zh-CN" altLang="en-US" sz="1800" b="1">
                    <a:solidFill>
                      <a:schemeClr val="tx1"/>
                    </a:solidFill>
                    <a:latin typeface="Times New Roman" panose="02020603050405020304" pitchFamily="18" charset="0"/>
                  </a:rPr>
                  <a:t>反馈网络</a:t>
                </a:r>
              </a:p>
            </p:txBody>
          </p:sp>
          <p:sp>
            <p:nvSpPr>
              <p:cNvPr id="39" name="Line 12">
                <a:extLst>
                  <a:ext uri="{FF2B5EF4-FFF2-40B4-BE49-F238E27FC236}">
                    <a16:creationId xmlns:a16="http://schemas.microsoft.com/office/drawing/2014/main" xmlns="" id="{4E244405-656D-03B2-1728-94B8690E62AF}"/>
                  </a:ext>
                </a:extLst>
              </p:cNvPr>
              <p:cNvSpPr>
                <a:spLocks noChangeShapeType="1"/>
              </p:cNvSpPr>
              <p:nvPr/>
            </p:nvSpPr>
            <p:spPr bwMode="auto">
              <a:xfrm flipH="1">
                <a:off x="3472" y="2928"/>
                <a:ext cx="38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solidFill>
                    <a:schemeClr val="tx1"/>
                  </a:solidFill>
                </a:endParaRPr>
              </a:p>
            </p:txBody>
          </p:sp>
        </p:grpSp>
        <p:sp>
          <p:nvSpPr>
            <p:cNvPr id="32" name="Text Box 13">
              <a:extLst>
                <a:ext uri="{FF2B5EF4-FFF2-40B4-BE49-F238E27FC236}">
                  <a16:creationId xmlns:a16="http://schemas.microsoft.com/office/drawing/2014/main" xmlns="" id="{B5E70A21-97FB-55BE-6442-A4AF9480BFE8}"/>
                </a:ext>
              </a:extLst>
            </p:cNvPr>
            <p:cNvSpPr txBox="1">
              <a:spLocks noChangeArrowheads="1"/>
            </p:cNvSpPr>
            <p:nvPr/>
          </p:nvSpPr>
          <p:spPr bwMode="auto">
            <a:xfrm>
              <a:off x="4704" y="2064"/>
              <a:ext cx="720" cy="384"/>
            </a:xfrm>
            <a:prstGeom prst="rect">
              <a:avLst/>
            </a:prstGeom>
            <a:solidFill>
              <a:srgbClr val="FFFF00"/>
            </a:solidFill>
            <a:ln w="9525">
              <a:solidFill>
                <a:srgbClr val="000000"/>
              </a:solidFill>
              <a:miter lim="800000"/>
              <a:headEnd/>
              <a:tailEnd/>
            </a:ln>
          </p:spPr>
          <p:txBody>
            <a:bodyPr/>
            <a:lstStyle/>
            <a:p>
              <a:pPr algn="just"/>
              <a:r>
                <a:rPr lang="en-US" altLang="zh-CN" sz="1800" b="1">
                  <a:solidFill>
                    <a:schemeClr val="tx1"/>
                  </a:solidFill>
                  <a:latin typeface="Times New Roman" panose="02020603050405020304" pitchFamily="18" charset="0"/>
                </a:rPr>
                <a:t>  </a:t>
              </a:r>
              <a:r>
                <a:rPr lang="en-US" altLang="zh-CN" sz="1800" b="1" i="1">
                  <a:solidFill>
                    <a:schemeClr val="tx1"/>
                  </a:solidFill>
                  <a:latin typeface="Times New Roman" panose="02020603050405020304" pitchFamily="18" charset="0"/>
                </a:rPr>
                <a:t>LC</a:t>
              </a:r>
              <a:r>
                <a:rPr lang="zh-CN" altLang="en-US" sz="1800" b="1">
                  <a:solidFill>
                    <a:schemeClr val="tx1"/>
                  </a:solidFill>
                  <a:latin typeface="Times New Roman" panose="02020603050405020304" pitchFamily="18" charset="0"/>
                </a:rPr>
                <a:t>选频网络</a:t>
              </a:r>
            </a:p>
          </p:txBody>
        </p:sp>
      </p:grpSp>
      <p:graphicFrame>
        <p:nvGraphicFramePr>
          <p:cNvPr id="40" name="Object 14">
            <a:extLst>
              <a:ext uri="{FF2B5EF4-FFF2-40B4-BE49-F238E27FC236}">
                <a16:creationId xmlns:a16="http://schemas.microsoft.com/office/drawing/2014/main" xmlns="" id="{ECBA5366-2D7C-3EDB-5002-52A192005BF6}"/>
              </a:ext>
            </a:extLst>
          </p:cNvPr>
          <p:cNvGraphicFramePr>
            <a:graphicFrameLocks noChangeAspect="1"/>
          </p:cNvGraphicFramePr>
          <p:nvPr>
            <p:extLst>
              <p:ext uri="{D42A27DB-BD31-4B8C-83A1-F6EECF244321}">
                <p14:modId xmlns:p14="http://schemas.microsoft.com/office/powerpoint/2010/main" val="2482205243"/>
              </p:ext>
            </p:extLst>
          </p:nvPr>
        </p:nvGraphicFramePr>
        <p:xfrm>
          <a:off x="6506089" y="2505006"/>
          <a:ext cx="381000" cy="381000"/>
        </p:xfrm>
        <a:graphic>
          <a:graphicData uri="http://schemas.openxmlformats.org/presentationml/2006/ole">
            <mc:AlternateContent xmlns:mc="http://schemas.openxmlformats.org/markup-compatibility/2006">
              <mc:Choice xmlns:v="urn:schemas-microsoft-com:vml" Requires="v">
                <p:oleObj spid="_x0000_s127413" r:id="rId15" imgW="190417" imgH="190417" progId="Equation.3">
                  <p:embed/>
                </p:oleObj>
              </mc:Choice>
              <mc:Fallback>
                <p:oleObj r:id="rId15" imgW="190417" imgH="190417" progId="Equation.3">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506089" y="2505006"/>
                        <a:ext cx="381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1" name="Object 15">
            <a:extLst>
              <a:ext uri="{FF2B5EF4-FFF2-40B4-BE49-F238E27FC236}">
                <a16:creationId xmlns:a16="http://schemas.microsoft.com/office/drawing/2014/main" xmlns="" id="{B2A005B8-9BA1-8878-2E2C-ACA727F92B58}"/>
              </a:ext>
            </a:extLst>
          </p:cNvPr>
          <p:cNvGraphicFramePr>
            <a:graphicFrameLocks noChangeAspect="1"/>
          </p:cNvGraphicFramePr>
          <p:nvPr>
            <p:extLst>
              <p:ext uri="{D42A27DB-BD31-4B8C-83A1-F6EECF244321}">
                <p14:modId xmlns:p14="http://schemas.microsoft.com/office/powerpoint/2010/main" val="282063817"/>
              </p:ext>
            </p:extLst>
          </p:nvPr>
        </p:nvGraphicFramePr>
        <p:xfrm>
          <a:off x="8296789" y="2578031"/>
          <a:ext cx="336550" cy="361950"/>
        </p:xfrm>
        <a:graphic>
          <a:graphicData uri="http://schemas.openxmlformats.org/presentationml/2006/ole">
            <mc:AlternateContent xmlns:mc="http://schemas.openxmlformats.org/markup-compatibility/2006">
              <mc:Choice xmlns:v="urn:schemas-microsoft-com:vml" Requires="v">
                <p:oleObj spid="_x0000_s127414" r:id="rId17" imgW="177646" imgH="190335" progId="Equation.3">
                  <p:embed/>
                </p:oleObj>
              </mc:Choice>
              <mc:Fallback>
                <p:oleObj r:id="rId17" imgW="177646" imgH="190335" progId="Equation.3">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8296789" y="2578031"/>
                        <a:ext cx="33655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2" name="Object 16">
            <a:extLst>
              <a:ext uri="{FF2B5EF4-FFF2-40B4-BE49-F238E27FC236}">
                <a16:creationId xmlns:a16="http://schemas.microsoft.com/office/drawing/2014/main" xmlns="" id="{EBDCFD13-F4EE-1709-991D-928ED09447E3}"/>
              </a:ext>
            </a:extLst>
          </p:cNvPr>
          <p:cNvGraphicFramePr>
            <a:graphicFrameLocks noChangeAspect="1"/>
          </p:cNvGraphicFramePr>
          <p:nvPr>
            <p:extLst>
              <p:ext uri="{D42A27DB-BD31-4B8C-83A1-F6EECF244321}">
                <p14:modId xmlns:p14="http://schemas.microsoft.com/office/powerpoint/2010/main" val="3343449133"/>
              </p:ext>
            </p:extLst>
          </p:nvPr>
        </p:nvGraphicFramePr>
        <p:xfrm>
          <a:off x="6714052" y="3594031"/>
          <a:ext cx="336550" cy="361950"/>
        </p:xfrm>
        <a:graphic>
          <a:graphicData uri="http://schemas.openxmlformats.org/presentationml/2006/ole">
            <mc:AlternateContent xmlns:mc="http://schemas.openxmlformats.org/markup-compatibility/2006">
              <mc:Choice xmlns:v="urn:schemas-microsoft-com:vml" Requires="v">
                <p:oleObj spid="_x0000_s127415" r:id="rId19" imgW="177646" imgH="190335" progId="Equation.3">
                  <p:embed/>
                </p:oleObj>
              </mc:Choice>
              <mc:Fallback>
                <p:oleObj r:id="rId19" imgW="177646" imgH="190335" progId="Equation.3">
                  <p:embed/>
                  <p:pic>
                    <p:nvPicPr>
                      <p:cNvPr id="0" name=""/>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714052" y="3594031"/>
                        <a:ext cx="33655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3" name="Object 46">
            <a:extLst>
              <a:ext uri="{FF2B5EF4-FFF2-40B4-BE49-F238E27FC236}">
                <a16:creationId xmlns:a16="http://schemas.microsoft.com/office/drawing/2014/main" xmlns="" id="{26A8FBBF-838A-AB7E-277D-1CE4AC66D44F}"/>
              </a:ext>
            </a:extLst>
          </p:cNvPr>
          <p:cNvGraphicFramePr>
            <a:graphicFrameLocks noChangeAspect="1"/>
          </p:cNvGraphicFramePr>
          <p:nvPr>
            <p:extLst>
              <p:ext uri="{D42A27DB-BD31-4B8C-83A1-F6EECF244321}">
                <p14:modId xmlns:p14="http://schemas.microsoft.com/office/powerpoint/2010/main" val="2090555396"/>
              </p:ext>
            </p:extLst>
          </p:nvPr>
        </p:nvGraphicFramePr>
        <p:xfrm>
          <a:off x="5604389" y="2220843"/>
          <a:ext cx="266700" cy="361950"/>
        </p:xfrm>
        <a:graphic>
          <a:graphicData uri="http://schemas.openxmlformats.org/presentationml/2006/ole">
            <mc:AlternateContent xmlns:mc="http://schemas.openxmlformats.org/markup-compatibility/2006">
              <mc:Choice xmlns:v="urn:schemas-microsoft-com:vml" Requires="v">
                <p:oleObj spid="_x0000_s127416" r:id="rId21" imgW="177646" imgH="241091" progId="Equation.DSMT4">
                  <p:embed/>
                </p:oleObj>
              </mc:Choice>
              <mc:Fallback>
                <p:oleObj r:id="rId21" imgW="177646" imgH="241091" progId="Equation.DSMT4">
                  <p:embed/>
                  <p:pic>
                    <p:nvPicPr>
                      <p:cNvPr id="0" name=""/>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604389" y="2220843"/>
                        <a:ext cx="26670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4" name="Object 47">
            <a:extLst>
              <a:ext uri="{FF2B5EF4-FFF2-40B4-BE49-F238E27FC236}">
                <a16:creationId xmlns:a16="http://schemas.microsoft.com/office/drawing/2014/main" xmlns="" id="{801AE064-1BFF-22A9-8BF7-1F03249C7ECC}"/>
              </a:ext>
            </a:extLst>
          </p:cNvPr>
          <p:cNvGraphicFramePr>
            <a:graphicFrameLocks noChangeAspect="1"/>
          </p:cNvGraphicFramePr>
          <p:nvPr>
            <p:extLst>
              <p:ext uri="{D42A27DB-BD31-4B8C-83A1-F6EECF244321}">
                <p14:modId xmlns:p14="http://schemas.microsoft.com/office/powerpoint/2010/main" val="2801210018"/>
              </p:ext>
            </p:extLst>
          </p:nvPr>
        </p:nvGraphicFramePr>
        <p:xfrm>
          <a:off x="7223639" y="2233543"/>
          <a:ext cx="287338" cy="363538"/>
        </p:xfrm>
        <a:graphic>
          <a:graphicData uri="http://schemas.openxmlformats.org/presentationml/2006/ole">
            <mc:AlternateContent xmlns:mc="http://schemas.openxmlformats.org/markup-compatibility/2006">
              <mc:Choice xmlns:v="urn:schemas-microsoft-com:vml" Requires="v">
                <p:oleObj spid="_x0000_s127417" r:id="rId23" imgW="190417" imgH="241195" progId="Equation.DSMT4">
                  <p:embed/>
                </p:oleObj>
              </mc:Choice>
              <mc:Fallback>
                <p:oleObj r:id="rId23" imgW="190417" imgH="241195" progId="Equation.DSMT4">
                  <p:embed/>
                  <p:pic>
                    <p:nvPicPr>
                      <p:cNvPr id="0" name=""/>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7223639" y="2233543"/>
                        <a:ext cx="287338"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5" name="Object 48">
            <a:extLst>
              <a:ext uri="{FF2B5EF4-FFF2-40B4-BE49-F238E27FC236}">
                <a16:creationId xmlns:a16="http://schemas.microsoft.com/office/drawing/2014/main" xmlns="" id="{04512065-9584-80CA-1376-5A515C6AD0BF}"/>
              </a:ext>
            </a:extLst>
          </p:cNvPr>
          <p:cNvGraphicFramePr>
            <a:graphicFrameLocks noChangeAspect="1"/>
          </p:cNvGraphicFramePr>
          <p:nvPr>
            <p:extLst>
              <p:ext uri="{D42A27DB-BD31-4B8C-83A1-F6EECF244321}">
                <p14:modId xmlns:p14="http://schemas.microsoft.com/office/powerpoint/2010/main" val="1467440352"/>
              </p:ext>
            </p:extLst>
          </p:nvPr>
        </p:nvGraphicFramePr>
        <p:xfrm>
          <a:off x="8118989" y="2970143"/>
          <a:ext cx="346075" cy="365125"/>
        </p:xfrm>
        <a:graphic>
          <a:graphicData uri="http://schemas.openxmlformats.org/presentationml/2006/ole">
            <mc:AlternateContent xmlns:mc="http://schemas.openxmlformats.org/markup-compatibility/2006">
              <mc:Choice xmlns:v="urn:schemas-microsoft-com:vml" Requires="v">
                <p:oleObj spid="_x0000_s127418" r:id="rId25" imgW="228600" imgH="241300" progId="Equation.DSMT4">
                  <p:embed/>
                </p:oleObj>
              </mc:Choice>
              <mc:Fallback>
                <p:oleObj r:id="rId25" imgW="228600" imgH="241300" progId="Equation.DSMT4">
                  <p:embed/>
                  <p:pic>
                    <p:nvPicPr>
                      <p:cNvPr id="0" name=""/>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8118989" y="2970143"/>
                        <a:ext cx="34607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6" name="Object 49">
            <a:extLst>
              <a:ext uri="{FF2B5EF4-FFF2-40B4-BE49-F238E27FC236}">
                <a16:creationId xmlns:a16="http://schemas.microsoft.com/office/drawing/2014/main" xmlns="" id="{F7C879F6-32A1-738E-9243-3C7207875E2E}"/>
              </a:ext>
            </a:extLst>
          </p:cNvPr>
          <p:cNvGraphicFramePr>
            <a:graphicFrameLocks noChangeAspect="1"/>
          </p:cNvGraphicFramePr>
          <p:nvPr>
            <p:extLst>
              <p:ext uri="{D42A27DB-BD31-4B8C-83A1-F6EECF244321}">
                <p14:modId xmlns:p14="http://schemas.microsoft.com/office/powerpoint/2010/main" val="4020128874"/>
              </p:ext>
            </p:extLst>
          </p:nvPr>
        </p:nvGraphicFramePr>
        <p:xfrm>
          <a:off x="5718689" y="3274943"/>
          <a:ext cx="306388" cy="363538"/>
        </p:xfrm>
        <a:graphic>
          <a:graphicData uri="http://schemas.openxmlformats.org/presentationml/2006/ole">
            <mc:AlternateContent xmlns:mc="http://schemas.openxmlformats.org/markup-compatibility/2006">
              <mc:Choice xmlns:v="urn:schemas-microsoft-com:vml" Requires="v">
                <p:oleObj spid="_x0000_s127419" r:id="rId27" imgW="203112" imgH="241195" progId="Equation.DSMT4">
                  <p:embed/>
                </p:oleObj>
              </mc:Choice>
              <mc:Fallback>
                <p:oleObj r:id="rId27" imgW="203112" imgH="241195" progId="Equation.DSMT4">
                  <p:embed/>
                  <p:pic>
                    <p:nvPicPr>
                      <p:cNvPr id="0" name=""/>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5718689" y="3274943"/>
                        <a:ext cx="306388"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669486903"/>
      </p:ext>
    </p:extLst>
  </p:cSld>
  <p:clrMapOvr>
    <a:masterClrMapping/>
  </p:clrMapOvr>
  <p:timing>
    <p:tnLst>
      <p:par>
        <p:cTn id="1" dur="indefinite" restart="never" nodeType="tmRoot"/>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dirty="0">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166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5.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正弦波</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振荡器</a:t>
            </a:r>
          </a:p>
        </p:txBody>
      </p:sp>
      <p:sp>
        <p:nvSpPr>
          <p:cNvPr id="5" name="Rectangle 2">
            <a:extLst>
              <a:ext uri="{FF2B5EF4-FFF2-40B4-BE49-F238E27FC236}">
                <a16:creationId xmlns:a16="http://schemas.microsoft.com/office/drawing/2014/main" xmlns="" id="{E8CA8F9B-AEF7-D013-A9CC-BB679E022ED6}"/>
              </a:ext>
            </a:extLst>
          </p:cNvPr>
          <p:cNvSpPr>
            <a:spLocks noChangeArrowheads="1"/>
          </p:cNvSpPr>
          <p:nvPr/>
        </p:nvSpPr>
        <p:spPr bwMode="auto">
          <a:xfrm>
            <a:off x="0" y="1164490"/>
            <a:ext cx="9040238"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fontAlgn="t">
              <a:spcBef>
                <a:spcPct val="50000"/>
              </a:spcBef>
            </a:pPr>
            <a:r>
              <a:rPr lang="zh-CN" altLang="en-US" sz="2200" b="1" dirty="0" smtClean="0">
                <a:solidFill>
                  <a:schemeClr val="tx1"/>
                </a:solidFill>
                <a:latin typeface="+mn-ea"/>
                <a:ea typeface="+mn-ea"/>
              </a:rPr>
              <a:t>振荡器</a:t>
            </a:r>
            <a:r>
              <a:rPr lang="zh-CN" altLang="en-US" sz="2200" b="1" dirty="0">
                <a:solidFill>
                  <a:schemeClr val="tx1"/>
                </a:solidFill>
                <a:latin typeface="+mn-ea"/>
                <a:ea typeface="+mn-ea"/>
              </a:rPr>
              <a:t>平衡状态的稳定条件</a:t>
            </a:r>
          </a:p>
        </p:txBody>
      </p:sp>
      <p:sp>
        <p:nvSpPr>
          <p:cNvPr id="6" name="Text Box 4">
            <a:extLst>
              <a:ext uri="{FF2B5EF4-FFF2-40B4-BE49-F238E27FC236}">
                <a16:creationId xmlns:a16="http://schemas.microsoft.com/office/drawing/2014/main" xmlns="" id="{8E8E1BF5-110E-2DD8-D63F-A248B8DDB57E}"/>
              </a:ext>
            </a:extLst>
          </p:cNvPr>
          <p:cNvSpPr txBox="1">
            <a:spLocks noChangeArrowheads="1"/>
          </p:cNvSpPr>
          <p:nvPr/>
        </p:nvSpPr>
        <p:spPr bwMode="auto">
          <a:xfrm>
            <a:off x="431067" y="1526613"/>
            <a:ext cx="452913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000" b="1" dirty="0">
                <a:solidFill>
                  <a:schemeClr val="tx1"/>
                </a:solidFill>
                <a:latin typeface="Times New Roman" panose="02020603050405020304" pitchFamily="18" charset="0"/>
                <a:cs typeface="Times New Roman" panose="02020603050405020304" pitchFamily="18" charset="0"/>
              </a:rPr>
              <a:t>1)  </a:t>
            </a:r>
            <a:r>
              <a:rPr lang="zh-CN" altLang="en-US" sz="2000" b="1" dirty="0">
                <a:solidFill>
                  <a:schemeClr val="tx1"/>
                </a:solidFill>
                <a:latin typeface="Times New Roman" panose="02020603050405020304" pitchFamily="18" charset="0"/>
                <a:cs typeface="Times New Roman" panose="02020603050405020304" pitchFamily="18" charset="0"/>
              </a:rPr>
              <a:t>稳定平衡与不稳定平衡</a:t>
            </a:r>
          </a:p>
        </p:txBody>
      </p:sp>
      <p:sp>
        <p:nvSpPr>
          <p:cNvPr id="7" name="Freeform 6">
            <a:extLst>
              <a:ext uri="{FF2B5EF4-FFF2-40B4-BE49-F238E27FC236}">
                <a16:creationId xmlns:a16="http://schemas.microsoft.com/office/drawing/2014/main" xmlns="" id="{A267E064-3917-6133-011A-8955A855F36B}"/>
              </a:ext>
            </a:extLst>
          </p:cNvPr>
          <p:cNvSpPr>
            <a:spLocks noChangeArrowheads="1"/>
          </p:cNvSpPr>
          <p:nvPr/>
        </p:nvSpPr>
        <p:spPr bwMode="auto">
          <a:xfrm>
            <a:off x="1738954" y="2012874"/>
            <a:ext cx="1905676" cy="801662"/>
          </a:xfrm>
          <a:custGeom>
            <a:avLst/>
            <a:gdLst>
              <a:gd name="T0" fmla="*/ 0 w 932"/>
              <a:gd name="T1" fmla="*/ 0 h 452"/>
              <a:gd name="T2" fmla="*/ 471 w 932"/>
              <a:gd name="T3" fmla="*/ 450 h 452"/>
              <a:gd name="T4" fmla="*/ 932 w 932"/>
              <a:gd name="T5" fmla="*/ 11 h 452"/>
            </a:gdLst>
            <a:ahLst/>
            <a:cxnLst>
              <a:cxn ang="0">
                <a:pos x="T0" y="T1"/>
              </a:cxn>
              <a:cxn ang="0">
                <a:pos x="T2" y="T3"/>
              </a:cxn>
              <a:cxn ang="0">
                <a:pos x="T4" y="T5"/>
              </a:cxn>
            </a:cxnLst>
            <a:rect l="0" t="0" r="r" b="b"/>
            <a:pathLst>
              <a:path w="932" h="452">
                <a:moveTo>
                  <a:pt x="0" y="0"/>
                </a:moveTo>
                <a:cubicBezTo>
                  <a:pt x="158" y="224"/>
                  <a:pt x="316" y="448"/>
                  <a:pt x="471" y="450"/>
                </a:cubicBezTo>
                <a:cubicBezTo>
                  <a:pt x="626" y="452"/>
                  <a:pt x="779" y="231"/>
                  <a:pt x="932" y="11"/>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2000">
              <a:solidFill>
                <a:schemeClr val="tx1"/>
              </a:solidFill>
            </a:endParaRPr>
          </a:p>
        </p:txBody>
      </p:sp>
      <p:sp>
        <p:nvSpPr>
          <p:cNvPr id="8" name="Freeform 7">
            <a:extLst>
              <a:ext uri="{FF2B5EF4-FFF2-40B4-BE49-F238E27FC236}">
                <a16:creationId xmlns:a16="http://schemas.microsoft.com/office/drawing/2014/main" xmlns="" id="{17C3F5BD-7871-EEA2-6DFC-30F042372455}"/>
              </a:ext>
            </a:extLst>
          </p:cNvPr>
          <p:cNvSpPr>
            <a:spLocks noChangeArrowheads="1"/>
          </p:cNvSpPr>
          <p:nvPr/>
        </p:nvSpPr>
        <p:spPr bwMode="auto">
          <a:xfrm flipV="1">
            <a:off x="4747098" y="1957500"/>
            <a:ext cx="1640732" cy="841248"/>
          </a:xfrm>
          <a:custGeom>
            <a:avLst/>
            <a:gdLst>
              <a:gd name="T0" fmla="*/ 0 w 932"/>
              <a:gd name="T1" fmla="*/ 0 h 452"/>
              <a:gd name="T2" fmla="*/ 471 w 932"/>
              <a:gd name="T3" fmla="*/ 450 h 452"/>
              <a:gd name="T4" fmla="*/ 932 w 932"/>
              <a:gd name="T5" fmla="*/ 11 h 452"/>
            </a:gdLst>
            <a:ahLst/>
            <a:cxnLst>
              <a:cxn ang="0">
                <a:pos x="T0" y="T1"/>
              </a:cxn>
              <a:cxn ang="0">
                <a:pos x="T2" y="T3"/>
              </a:cxn>
              <a:cxn ang="0">
                <a:pos x="T4" y="T5"/>
              </a:cxn>
            </a:cxnLst>
            <a:rect l="0" t="0" r="r" b="b"/>
            <a:pathLst>
              <a:path w="932" h="452">
                <a:moveTo>
                  <a:pt x="0" y="0"/>
                </a:moveTo>
                <a:cubicBezTo>
                  <a:pt x="158" y="224"/>
                  <a:pt x="316" y="448"/>
                  <a:pt x="471" y="450"/>
                </a:cubicBezTo>
                <a:cubicBezTo>
                  <a:pt x="626" y="452"/>
                  <a:pt x="779" y="231"/>
                  <a:pt x="932" y="11"/>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2000">
              <a:solidFill>
                <a:schemeClr val="tx1"/>
              </a:solidFill>
            </a:endParaRPr>
          </a:p>
        </p:txBody>
      </p:sp>
      <p:sp>
        <p:nvSpPr>
          <p:cNvPr id="9" name="Oval 8">
            <a:extLst>
              <a:ext uri="{FF2B5EF4-FFF2-40B4-BE49-F238E27FC236}">
                <a16:creationId xmlns:a16="http://schemas.microsoft.com/office/drawing/2014/main" xmlns="" id="{7F7AC2DF-5557-6D10-9A7D-76CC903AFEF4}"/>
              </a:ext>
            </a:extLst>
          </p:cNvPr>
          <p:cNvSpPr>
            <a:spLocks noChangeArrowheads="1"/>
          </p:cNvSpPr>
          <p:nvPr/>
        </p:nvSpPr>
        <p:spPr bwMode="auto">
          <a:xfrm>
            <a:off x="5459514" y="1730260"/>
            <a:ext cx="215900" cy="215900"/>
          </a:xfrm>
          <a:prstGeom prst="ellipse">
            <a:avLst/>
          </a:prstGeom>
          <a:solidFill>
            <a:srgbClr val="CC0000"/>
          </a:solidFill>
          <a:ln w="9525">
            <a:solidFill>
              <a:schemeClr val="tx1"/>
            </a:solidFill>
            <a:round/>
            <a:headEnd/>
            <a:tailEnd/>
          </a:ln>
        </p:spPr>
        <p:txBody>
          <a:bodyPr wrap="none" anchor="ctr"/>
          <a:lstStyle/>
          <a:p>
            <a:endParaRPr lang="zh-CN" altLang="en-US" sz="2000">
              <a:solidFill>
                <a:schemeClr val="tx1"/>
              </a:solidFill>
            </a:endParaRPr>
          </a:p>
        </p:txBody>
      </p:sp>
      <p:sp>
        <p:nvSpPr>
          <p:cNvPr id="10" name="Oval 9">
            <a:extLst>
              <a:ext uri="{FF2B5EF4-FFF2-40B4-BE49-F238E27FC236}">
                <a16:creationId xmlns:a16="http://schemas.microsoft.com/office/drawing/2014/main" xmlns="" id="{11557A74-FDE4-BF10-CCA5-8F7833AA5762}"/>
              </a:ext>
            </a:extLst>
          </p:cNvPr>
          <p:cNvSpPr>
            <a:spLocks noChangeArrowheads="1"/>
          </p:cNvSpPr>
          <p:nvPr/>
        </p:nvSpPr>
        <p:spPr bwMode="auto">
          <a:xfrm>
            <a:off x="2583842" y="2572481"/>
            <a:ext cx="215900" cy="215900"/>
          </a:xfrm>
          <a:prstGeom prst="ellipse">
            <a:avLst/>
          </a:prstGeom>
          <a:solidFill>
            <a:srgbClr val="CC0000"/>
          </a:solidFill>
          <a:ln w="9525">
            <a:solidFill>
              <a:schemeClr val="tx1"/>
            </a:solidFill>
            <a:round/>
            <a:headEnd/>
            <a:tailEnd/>
          </a:ln>
        </p:spPr>
        <p:txBody>
          <a:bodyPr wrap="none" anchor="ctr"/>
          <a:lstStyle/>
          <a:p>
            <a:endParaRPr lang="zh-CN" altLang="en-US" sz="2000">
              <a:solidFill>
                <a:schemeClr val="tx1"/>
              </a:solidFill>
            </a:endParaRPr>
          </a:p>
        </p:txBody>
      </p:sp>
      <p:sp>
        <p:nvSpPr>
          <p:cNvPr id="11" name="Text Box 10">
            <a:extLst>
              <a:ext uri="{FF2B5EF4-FFF2-40B4-BE49-F238E27FC236}">
                <a16:creationId xmlns:a16="http://schemas.microsoft.com/office/drawing/2014/main" xmlns="" id="{B55EC3F8-2F5C-4424-B40D-635BCCCBBE44}"/>
              </a:ext>
            </a:extLst>
          </p:cNvPr>
          <p:cNvSpPr txBox="1">
            <a:spLocks noChangeArrowheads="1"/>
          </p:cNvSpPr>
          <p:nvPr/>
        </p:nvSpPr>
        <p:spPr bwMode="auto">
          <a:xfrm>
            <a:off x="431067" y="2788381"/>
            <a:ext cx="347503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000" b="1" dirty="0">
                <a:solidFill>
                  <a:schemeClr val="tx1"/>
                </a:solidFill>
                <a:latin typeface="Times New Roman" panose="02020603050405020304" pitchFamily="18" charset="0"/>
                <a:cs typeface="Times New Roman" panose="02020603050405020304" pitchFamily="18" charset="0"/>
              </a:rPr>
              <a:t>2) </a:t>
            </a:r>
            <a:r>
              <a:rPr lang="zh-CN" altLang="en-US" sz="2000" b="1" dirty="0">
                <a:solidFill>
                  <a:schemeClr val="tx1"/>
                </a:solidFill>
                <a:latin typeface="Times New Roman" panose="02020603050405020304" pitchFamily="18" charset="0"/>
                <a:cs typeface="Times New Roman" panose="02020603050405020304" pitchFamily="18" charset="0"/>
              </a:rPr>
              <a:t>振荡器的稳定平衡</a:t>
            </a:r>
          </a:p>
        </p:txBody>
      </p:sp>
      <p:sp>
        <p:nvSpPr>
          <p:cNvPr id="12" name="Rectangle 11">
            <a:extLst>
              <a:ext uri="{FF2B5EF4-FFF2-40B4-BE49-F238E27FC236}">
                <a16:creationId xmlns:a16="http://schemas.microsoft.com/office/drawing/2014/main" xmlns="" id="{B1628D84-09CC-4EC9-4106-EEB313B05DC5}"/>
              </a:ext>
            </a:extLst>
          </p:cNvPr>
          <p:cNvSpPr>
            <a:spLocks noChangeArrowheads="1"/>
          </p:cNvSpPr>
          <p:nvPr/>
        </p:nvSpPr>
        <p:spPr bwMode="auto">
          <a:xfrm>
            <a:off x="431067" y="3234676"/>
            <a:ext cx="8396288" cy="1015663"/>
          </a:xfrm>
          <a:prstGeom prst="rect">
            <a:avLst/>
          </a:prstGeom>
          <a:solidFill>
            <a:srgbClr val="FFF9E7"/>
          </a:solidFill>
          <a:ln>
            <a:noFill/>
          </a:ln>
          <a:extLst/>
        </p:spPr>
        <p:txBody>
          <a:bodyPr>
            <a:spAutoFit/>
          </a:bodyPr>
          <a:lstStyle/>
          <a:p>
            <a:pPr eaLnBrk="0" hangingPunct="0"/>
            <a:r>
              <a:rPr lang="zh-CN" altLang="en-US" sz="2000" b="1" dirty="0" smtClean="0">
                <a:solidFill>
                  <a:schemeClr val="tx1"/>
                </a:solidFill>
                <a:latin typeface="+mn-ea"/>
                <a:ea typeface="+mn-ea"/>
              </a:rPr>
              <a:t>因</a:t>
            </a:r>
            <a:r>
              <a:rPr lang="zh-CN" altLang="en-US" sz="2000" b="1" dirty="0">
                <a:solidFill>
                  <a:schemeClr val="tx1"/>
                </a:solidFill>
                <a:latin typeface="+mn-ea"/>
                <a:ea typeface="+mn-ea"/>
              </a:rPr>
              <a:t>某一外因的变化，振荡的原平衡条件遭到破坏，振荡器能在新的条件下建立新的平衡，当外因去掉后，电路能自动返回原平衡状态。满足这样条件的平衡称为稳定平衡。</a:t>
            </a:r>
          </a:p>
        </p:txBody>
      </p:sp>
      <p:sp>
        <p:nvSpPr>
          <p:cNvPr id="95" name="Rectangle 3">
            <a:extLst>
              <a:ext uri="{FF2B5EF4-FFF2-40B4-BE49-F238E27FC236}">
                <a16:creationId xmlns:a16="http://schemas.microsoft.com/office/drawing/2014/main" xmlns="" id="{58DF0992-46AC-93CA-00BA-25A6EC85D8F9}"/>
              </a:ext>
            </a:extLst>
          </p:cNvPr>
          <p:cNvSpPr>
            <a:spLocks noChangeArrowheads="1"/>
          </p:cNvSpPr>
          <p:nvPr/>
        </p:nvSpPr>
        <p:spPr bwMode="auto">
          <a:xfrm>
            <a:off x="368030" y="4250339"/>
            <a:ext cx="60198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000" b="1">
                <a:solidFill>
                  <a:schemeClr val="tx1"/>
                </a:solidFill>
                <a:latin typeface="Times New Roman" panose="02020603050405020304" pitchFamily="18" charset="0"/>
                <a:cs typeface="Times New Roman" panose="02020603050405020304" pitchFamily="18" charset="0"/>
              </a:rPr>
              <a:t>3</a:t>
            </a:r>
            <a:r>
              <a:rPr lang="zh-CN" altLang="en-US" sz="2000" b="1">
                <a:solidFill>
                  <a:schemeClr val="tx1"/>
                </a:solidFill>
                <a:latin typeface="Times New Roman" panose="02020603050405020304" pitchFamily="18" charset="0"/>
                <a:cs typeface="Times New Roman" panose="02020603050405020304" pitchFamily="18" charset="0"/>
              </a:rPr>
              <a:t>） 振幅平衡的稳定条件</a:t>
            </a:r>
          </a:p>
        </p:txBody>
      </p:sp>
      <p:sp>
        <p:nvSpPr>
          <p:cNvPr id="96" name="Text Box 22">
            <a:extLst>
              <a:ext uri="{FF2B5EF4-FFF2-40B4-BE49-F238E27FC236}">
                <a16:creationId xmlns:a16="http://schemas.microsoft.com/office/drawing/2014/main" xmlns="" id="{10FD2FB3-BA32-E744-9E5F-2E9B995CD323}"/>
              </a:ext>
            </a:extLst>
          </p:cNvPr>
          <p:cNvSpPr txBox="1">
            <a:spLocks noChangeArrowheads="1"/>
          </p:cNvSpPr>
          <p:nvPr/>
        </p:nvSpPr>
        <p:spPr bwMode="auto">
          <a:xfrm>
            <a:off x="310608" y="5086921"/>
            <a:ext cx="12065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t">
              <a:spcBef>
                <a:spcPct val="50000"/>
              </a:spcBef>
            </a:pPr>
            <a:r>
              <a:rPr lang="zh-CN" altLang="en-US" sz="2000" b="1" dirty="0">
                <a:solidFill>
                  <a:schemeClr val="tx1"/>
                </a:solidFill>
                <a:latin typeface="Times New Roman" panose="02020603050405020304" pitchFamily="18" charset="0"/>
                <a:cs typeface="Times New Roman" panose="02020603050405020304" pitchFamily="18" charset="0"/>
              </a:rPr>
              <a:t>外因变化</a:t>
            </a:r>
          </a:p>
        </p:txBody>
      </p:sp>
      <p:grpSp>
        <p:nvGrpSpPr>
          <p:cNvPr id="97" name="Group 23">
            <a:extLst>
              <a:ext uri="{FF2B5EF4-FFF2-40B4-BE49-F238E27FC236}">
                <a16:creationId xmlns:a16="http://schemas.microsoft.com/office/drawing/2014/main" xmlns="" id="{9327F66B-1E56-0A63-E8BA-B7A7938F2310}"/>
              </a:ext>
            </a:extLst>
          </p:cNvPr>
          <p:cNvGrpSpPr>
            <a:grpSpLocks/>
          </p:cNvGrpSpPr>
          <p:nvPr/>
        </p:nvGrpSpPr>
        <p:grpSpPr bwMode="auto">
          <a:xfrm>
            <a:off x="1415508" y="5088509"/>
            <a:ext cx="1614487" cy="396875"/>
            <a:chOff x="952" y="865"/>
            <a:chExt cx="1017" cy="250"/>
          </a:xfrm>
        </p:grpSpPr>
        <p:sp>
          <p:nvSpPr>
            <p:cNvPr id="98" name="Line 24">
              <a:extLst>
                <a:ext uri="{FF2B5EF4-FFF2-40B4-BE49-F238E27FC236}">
                  <a16:creationId xmlns:a16="http://schemas.microsoft.com/office/drawing/2014/main" xmlns="" id="{A229F2DE-30F6-E9A8-8605-73D2531ECD04}"/>
                </a:ext>
              </a:extLst>
            </p:cNvPr>
            <p:cNvSpPr>
              <a:spLocks noChangeShapeType="1"/>
            </p:cNvSpPr>
            <p:nvPr/>
          </p:nvSpPr>
          <p:spPr bwMode="auto">
            <a:xfrm flipV="1">
              <a:off x="952" y="992"/>
              <a:ext cx="256" cy="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000">
                <a:solidFill>
                  <a:schemeClr val="tx1"/>
                </a:solidFill>
                <a:latin typeface="Times New Roman" panose="02020603050405020304" pitchFamily="18" charset="0"/>
                <a:cs typeface="Times New Roman" panose="02020603050405020304" pitchFamily="18" charset="0"/>
              </a:endParaRPr>
            </a:p>
          </p:txBody>
        </p:sp>
        <p:sp>
          <p:nvSpPr>
            <p:cNvPr id="99" name="Text Box 25">
              <a:extLst>
                <a:ext uri="{FF2B5EF4-FFF2-40B4-BE49-F238E27FC236}">
                  <a16:creationId xmlns:a16="http://schemas.microsoft.com/office/drawing/2014/main" xmlns="" id="{8046EE54-85FD-34B3-D420-1748E105224F}"/>
                </a:ext>
              </a:extLst>
            </p:cNvPr>
            <p:cNvSpPr txBox="1">
              <a:spLocks noChangeArrowheads="1"/>
            </p:cNvSpPr>
            <p:nvPr/>
          </p:nvSpPr>
          <p:spPr bwMode="auto">
            <a:xfrm>
              <a:off x="1209" y="865"/>
              <a:ext cx="76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t">
                <a:spcBef>
                  <a:spcPct val="50000"/>
                </a:spcBef>
              </a:pPr>
              <a:r>
                <a:rPr lang="en-US" altLang="zh-CN" sz="2000" b="1" i="1">
                  <a:solidFill>
                    <a:schemeClr val="tx1"/>
                  </a:solidFill>
                  <a:latin typeface="Times New Roman" panose="02020603050405020304" pitchFamily="18" charset="0"/>
                  <a:cs typeface="Times New Roman" panose="02020603050405020304" pitchFamily="18" charset="0"/>
                </a:rPr>
                <a:t>F</a:t>
              </a:r>
            </a:p>
          </p:txBody>
        </p:sp>
        <p:sp>
          <p:nvSpPr>
            <p:cNvPr id="100" name="Line 26">
              <a:extLst>
                <a:ext uri="{FF2B5EF4-FFF2-40B4-BE49-F238E27FC236}">
                  <a16:creationId xmlns:a16="http://schemas.microsoft.com/office/drawing/2014/main" xmlns="" id="{8B48721A-583A-4C3E-80EC-8530BF3C2C99}"/>
                </a:ext>
              </a:extLst>
            </p:cNvPr>
            <p:cNvSpPr>
              <a:spLocks noChangeShapeType="1"/>
            </p:cNvSpPr>
            <p:nvPr/>
          </p:nvSpPr>
          <p:spPr bwMode="auto">
            <a:xfrm flipH="1" flipV="1">
              <a:off x="1416" y="912"/>
              <a:ext cx="8" cy="15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000">
                <a:solidFill>
                  <a:schemeClr val="tx1"/>
                </a:solidFill>
                <a:latin typeface="Times New Roman" panose="02020603050405020304" pitchFamily="18" charset="0"/>
                <a:cs typeface="Times New Roman" panose="02020603050405020304" pitchFamily="18" charset="0"/>
              </a:endParaRPr>
            </a:p>
          </p:txBody>
        </p:sp>
      </p:grpSp>
      <p:grpSp>
        <p:nvGrpSpPr>
          <p:cNvPr id="101" name="Group 27">
            <a:extLst>
              <a:ext uri="{FF2B5EF4-FFF2-40B4-BE49-F238E27FC236}">
                <a16:creationId xmlns:a16="http://schemas.microsoft.com/office/drawing/2014/main" xmlns="" id="{7EB58764-E2C8-BECA-AA25-4AAE09F8B3FB}"/>
              </a:ext>
            </a:extLst>
          </p:cNvPr>
          <p:cNvGrpSpPr>
            <a:grpSpLocks/>
          </p:cNvGrpSpPr>
          <p:nvPr/>
        </p:nvGrpSpPr>
        <p:grpSpPr bwMode="auto">
          <a:xfrm>
            <a:off x="2255296" y="5091684"/>
            <a:ext cx="1044576" cy="400050"/>
            <a:chOff x="1481" y="867"/>
            <a:chExt cx="658" cy="252"/>
          </a:xfrm>
        </p:grpSpPr>
        <p:sp>
          <p:nvSpPr>
            <p:cNvPr id="102" name="Line 28">
              <a:extLst>
                <a:ext uri="{FF2B5EF4-FFF2-40B4-BE49-F238E27FC236}">
                  <a16:creationId xmlns:a16="http://schemas.microsoft.com/office/drawing/2014/main" xmlns="" id="{B7824552-8C1D-649E-B9A9-301EF9844E7B}"/>
                </a:ext>
              </a:extLst>
            </p:cNvPr>
            <p:cNvSpPr>
              <a:spLocks noChangeShapeType="1"/>
            </p:cNvSpPr>
            <p:nvPr/>
          </p:nvSpPr>
          <p:spPr bwMode="auto">
            <a:xfrm flipV="1">
              <a:off x="1481" y="985"/>
              <a:ext cx="256" cy="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000">
                <a:solidFill>
                  <a:schemeClr val="tx1"/>
                </a:solidFill>
                <a:latin typeface="Times New Roman" panose="02020603050405020304" pitchFamily="18" charset="0"/>
                <a:cs typeface="Times New Roman" panose="02020603050405020304" pitchFamily="18" charset="0"/>
              </a:endParaRPr>
            </a:p>
          </p:txBody>
        </p:sp>
        <p:sp>
          <p:nvSpPr>
            <p:cNvPr id="103" name="Rectangle 29">
              <a:extLst>
                <a:ext uri="{FF2B5EF4-FFF2-40B4-BE49-F238E27FC236}">
                  <a16:creationId xmlns:a16="http://schemas.microsoft.com/office/drawing/2014/main" xmlns="" id="{050AED71-0B46-11BB-DB7B-A602AA9963E9}"/>
                </a:ext>
              </a:extLst>
            </p:cNvPr>
            <p:cNvSpPr>
              <a:spLocks noChangeArrowheads="1"/>
            </p:cNvSpPr>
            <p:nvPr/>
          </p:nvSpPr>
          <p:spPr bwMode="auto">
            <a:xfrm>
              <a:off x="1777" y="867"/>
              <a:ext cx="36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fontAlgn="t">
                <a:spcBef>
                  <a:spcPct val="50000"/>
                </a:spcBef>
              </a:pPr>
              <a:r>
                <a:rPr lang="en-US" altLang="zh-CN" sz="2000">
                  <a:solidFill>
                    <a:schemeClr val="tx1"/>
                  </a:solidFill>
                  <a:latin typeface="Times New Roman" panose="02020603050405020304" pitchFamily="18" charset="0"/>
                  <a:cs typeface="Times New Roman" panose="02020603050405020304" pitchFamily="18" charset="0"/>
                </a:rPr>
                <a:t>1/</a:t>
              </a:r>
              <a:r>
                <a:rPr lang="en-US" altLang="zh-CN" sz="2000" b="1" i="1">
                  <a:solidFill>
                    <a:schemeClr val="tx1"/>
                  </a:solidFill>
                  <a:latin typeface="Times New Roman" panose="02020603050405020304" pitchFamily="18" charset="0"/>
                  <a:cs typeface="Times New Roman" panose="02020603050405020304" pitchFamily="18" charset="0"/>
                </a:rPr>
                <a:t>F</a:t>
              </a:r>
            </a:p>
          </p:txBody>
        </p:sp>
        <p:sp>
          <p:nvSpPr>
            <p:cNvPr id="104" name="Line 30">
              <a:extLst>
                <a:ext uri="{FF2B5EF4-FFF2-40B4-BE49-F238E27FC236}">
                  <a16:creationId xmlns:a16="http://schemas.microsoft.com/office/drawing/2014/main" xmlns="" id="{B291BCB6-C55A-E883-9121-1CAF1DE83F1C}"/>
                </a:ext>
              </a:extLst>
            </p:cNvPr>
            <p:cNvSpPr>
              <a:spLocks noChangeShapeType="1"/>
            </p:cNvSpPr>
            <p:nvPr/>
          </p:nvSpPr>
          <p:spPr bwMode="auto">
            <a:xfrm>
              <a:off x="2120" y="920"/>
              <a:ext cx="0" cy="14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000">
                <a:solidFill>
                  <a:schemeClr val="tx1"/>
                </a:solidFill>
                <a:latin typeface="Times New Roman" panose="02020603050405020304" pitchFamily="18" charset="0"/>
                <a:cs typeface="Times New Roman" panose="02020603050405020304" pitchFamily="18" charset="0"/>
              </a:endParaRPr>
            </a:p>
          </p:txBody>
        </p:sp>
      </p:grpSp>
      <p:grpSp>
        <p:nvGrpSpPr>
          <p:cNvPr id="105" name="Group 37">
            <a:extLst>
              <a:ext uri="{FF2B5EF4-FFF2-40B4-BE49-F238E27FC236}">
                <a16:creationId xmlns:a16="http://schemas.microsoft.com/office/drawing/2014/main" xmlns="" id="{63AE99E8-FD4A-D59D-41BF-3518980F39FF}"/>
              </a:ext>
            </a:extLst>
          </p:cNvPr>
          <p:cNvGrpSpPr>
            <a:grpSpLocks/>
          </p:cNvGrpSpPr>
          <p:nvPr/>
        </p:nvGrpSpPr>
        <p:grpSpPr bwMode="auto">
          <a:xfrm>
            <a:off x="3412583" y="5067871"/>
            <a:ext cx="1265237" cy="396875"/>
            <a:chOff x="2210" y="852"/>
            <a:chExt cx="797" cy="250"/>
          </a:xfrm>
        </p:grpSpPr>
        <p:sp>
          <p:nvSpPr>
            <p:cNvPr id="106" name="Line 38">
              <a:extLst>
                <a:ext uri="{FF2B5EF4-FFF2-40B4-BE49-F238E27FC236}">
                  <a16:creationId xmlns:a16="http://schemas.microsoft.com/office/drawing/2014/main" xmlns="" id="{843F4205-DF00-D1C3-B2AB-7B8FCC1B517A}"/>
                </a:ext>
              </a:extLst>
            </p:cNvPr>
            <p:cNvSpPr>
              <a:spLocks noChangeShapeType="1"/>
            </p:cNvSpPr>
            <p:nvPr/>
          </p:nvSpPr>
          <p:spPr bwMode="auto">
            <a:xfrm flipV="1">
              <a:off x="2210" y="970"/>
              <a:ext cx="256" cy="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000">
                <a:solidFill>
                  <a:schemeClr val="tx1"/>
                </a:solidFill>
                <a:latin typeface="Times New Roman" panose="02020603050405020304" pitchFamily="18" charset="0"/>
                <a:cs typeface="Times New Roman" panose="02020603050405020304" pitchFamily="18" charset="0"/>
              </a:endParaRPr>
            </a:p>
          </p:txBody>
        </p:sp>
        <p:sp>
          <p:nvSpPr>
            <p:cNvPr id="107" name="Rectangle 39">
              <a:extLst>
                <a:ext uri="{FF2B5EF4-FFF2-40B4-BE49-F238E27FC236}">
                  <a16:creationId xmlns:a16="http://schemas.microsoft.com/office/drawing/2014/main" xmlns="" id="{B5648E2B-78AB-BF43-3F27-9B574AC65AC7}"/>
                </a:ext>
              </a:extLst>
            </p:cNvPr>
            <p:cNvSpPr>
              <a:spLocks noChangeArrowheads="1"/>
            </p:cNvSpPr>
            <p:nvPr/>
          </p:nvSpPr>
          <p:spPr bwMode="auto">
            <a:xfrm>
              <a:off x="2466" y="852"/>
              <a:ext cx="54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fontAlgn="t">
                <a:spcBef>
                  <a:spcPct val="50000"/>
                </a:spcBef>
              </a:pPr>
              <a:r>
                <a:rPr lang="en-US" altLang="zh-CN" sz="2000" b="1" i="1">
                  <a:solidFill>
                    <a:schemeClr val="tx1"/>
                  </a:solidFill>
                  <a:latin typeface="Times New Roman" panose="02020603050405020304" pitchFamily="18" charset="0"/>
                  <a:cs typeface="Times New Roman" panose="02020603050405020304" pitchFamily="18" charset="0"/>
                </a:rPr>
                <a:t>AF </a:t>
              </a:r>
              <a:r>
                <a:rPr lang="en-US" altLang="zh-CN" sz="2000" b="1">
                  <a:solidFill>
                    <a:schemeClr val="tx1"/>
                  </a:solidFill>
                  <a:latin typeface="Times New Roman" panose="02020603050405020304" pitchFamily="18" charset="0"/>
                  <a:cs typeface="Times New Roman" panose="02020603050405020304" pitchFamily="18" charset="0"/>
                </a:rPr>
                <a:t>&gt;1</a:t>
              </a:r>
            </a:p>
          </p:txBody>
        </p:sp>
      </p:grpSp>
      <p:sp>
        <p:nvSpPr>
          <p:cNvPr id="108" name="Rectangle 40">
            <a:extLst>
              <a:ext uri="{FF2B5EF4-FFF2-40B4-BE49-F238E27FC236}">
                <a16:creationId xmlns:a16="http://schemas.microsoft.com/office/drawing/2014/main" xmlns="" id="{0FB77B77-2ED2-9647-1416-B0070D25B40D}"/>
              </a:ext>
            </a:extLst>
          </p:cNvPr>
          <p:cNvSpPr>
            <a:spLocks noChangeArrowheads="1"/>
          </p:cNvSpPr>
          <p:nvPr/>
        </p:nvSpPr>
        <p:spPr bwMode="auto">
          <a:xfrm>
            <a:off x="112170" y="5507023"/>
            <a:ext cx="173316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fontAlgn="t">
              <a:spcBef>
                <a:spcPct val="50000"/>
              </a:spcBef>
            </a:pPr>
            <a:r>
              <a:rPr lang="zh-CN" altLang="en-US" sz="2000" b="1">
                <a:solidFill>
                  <a:schemeClr val="tx1"/>
                </a:solidFill>
                <a:latin typeface="Times New Roman" panose="02020603050405020304" pitchFamily="18" charset="0"/>
                <a:cs typeface="Times New Roman" panose="02020603050405020304" pitchFamily="18" charset="0"/>
              </a:rPr>
              <a:t>（增幅振荡）</a:t>
            </a:r>
          </a:p>
        </p:txBody>
      </p:sp>
      <p:grpSp>
        <p:nvGrpSpPr>
          <p:cNvPr id="109" name="Group 41">
            <a:extLst>
              <a:ext uri="{FF2B5EF4-FFF2-40B4-BE49-F238E27FC236}">
                <a16:creationId xmlns:a16="http://schemas.microsoft.com/office/drawing/2014/main" xmlns="" id="{7B183F83-76E2-C211-17E0-8BA10A6A6814}"/>
              </a:ext>
            </a:extLst>
          </p:cNvPr>
          <p:cNvGrpSpPr>
            <a:grpSpLocks/>
          </p:cNvGrpSpPr>
          <p:nvPr/>
        </p:nvGrpSpPr>
        <p:grpSpPr bwMode="auto">
          <a:xfrm>
            <a:off x="1696496" y="5483210"/>
            <a:ext cx="1552576" cy="400050"/>
            <a:chOff x="1129" y="1158"/>
            <a:chExt cx="978" cy="252"/>
          </a:xfrm>
        </p:grpSpPr>
        <p:sp>
          <p:nvSpPr>
            <p:cNvPr id="110" name="Line 42">
              <a:extLst>
                <a:ext uri="{FF2B5EF4-FFF2-40B4-BE49-F238E27FC236}">
                  <a16:creationId xmlns:a16="http://schemas.microsoft.com/office/drawing/2014/main" xmlns="" id="{7FECA516-C44C-5626-EF79-D4A3A806E0E5}"/>
                </a:ext>
              </a:extLst>
            </p:cNvPr>
            <p:cNvSpPr>
              <a:spLocks noChangeShapeType="1"/>
            </p:cNvSpPr>
            <p:nvPr/>
          </p:nvSpPr>
          <p:spPr bwMode="auto">
            <a:xfrm flipV="1">
              <a:off x="1129" y="1281"/>
              <a:ext cx="256" cy="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000">
                <a:solidFill>
                  <a:schemeClr val="tx1"/>
                </a:solidFill>
                <a:latin typeface="Times New Roman" panose="02020603050405020304" pitchFamily="18" charset="0"/>
                <a:cs typeface="Times New Roman" panose="02020603050405020304" pitchFamily="18" charset="0"/>
              </a:endParaRPr>
            </a:p>
          </p:txBody>
        </p:sp>
        <p:sp>
          <p:nvSpPr>
            <p:cNvPr id="111" name="Rectangle 43">
              <a:extLst>
                <a:ext uri="{FF2B5EF4-FFF2-40B4-BE49-F238E27FC236}">
                  <a16:creationId xmlns:a16="http://schemas.microsoft.com/office/drawing/2014/main" xmlns="" id="{C91C376B-401C-B9FE-74F6-09537BC648A7}"/>
                </a:ext>
              </a:extLst>
            </p:cNvPr>
            <p:cNvSpPr>
              <a:spLocks noChangeArrowheads="1"/>
            </p:cNvSpPr>
            <p:nvPr/>
          </p:nvSpPr>
          <p:spPr bwMode="auto">
            <a:xfrm>
              <a:off x="1340" y="1158"/>
              <a:ext cx="76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fontAlgn="t">
                <a:spcBef>
                  <a:spcPct val="50000"/>
                </a:spcBef>
              </a:pPr>
              <a:r>
                <a:rPr lang="zh-CN" altLang="en-US" sz="2000" b="1">
                  <a:solidFill>
                    <a:schemeClr val="tx1"/>
                  </a:solidFill>
                  <a:latin typeface="Times New Roman" panose="02020603050405020304" pitchFamily="18" charset="0"/>
                  <a:cs typeface="Times New Roman" panose="02020603050405020304" pitchFamily="18" charset="0"/>
                </a:rPr>
                <a:t>输出增大</a:t>
              </a:r>
            </a:p>
          </p:txBody>
        </p:sp>
      </p:grpSp>
      <p:grpSp>
        <p:nvGrpSpPr>
          <p:cNvPr id="112" name="Group 44">
            <a:extLst>
              <a:ext uri="{FF2B5EF4-FFF2-40B4-BE49-F238E27FC236}">
                <a16:creationId xmlns:a16="http://schemas.microsoft.com/office/drawing/2014/main" xmlns="" id="{766731A3-A5E8-B6D2-1B4B-EA310960D69C}"/>
              </a:ext>
            </a:extLst>
          </p:cNvPr>
          <p:cNvGrpSpPr>
            <a:grpSpLocks/>
          </p:cNvGrpSpPr>
          <p:nvPr/>
        </p:nvGrpSpPr>
        <p:grpSpPr bwMode="auto">
          <a:xfrm>
            <a:off x="3222083" y="5484798"/>
            <a:ext cx="2716212" cy="400050"/>
            <a:chOff x="2090" y="1159"/>
            <a:chExt cx="1711" cy="252"/>
          </a:xfrm>
        </p:grpSpPr>
        <p:sp>
          <p:nvSpPr>
            <p:cNvPr id="113" name="Line 45">
              <a:extLst>
                <a:ext uri="{FF2B5EF4-FFF2-40B4-BE49-F238E27FC236}">
                  <a16:creationId xmlns:a16="http://schemas.microsoft.com/office/drawing/2014/main" xmlns="" id="{08873395-57E7-4144-1468-98AB3088DFC8}"/>
                </a:ext>
              </a:extLst>
            </p:cNvPr>
            <p:cNvSpPr>
              <a:spLocks noChangeShapeType="1"/>
            </p:cNvSpPr>
            <p:nvPr/>
          </p:nvSpPr>
          <p:spPr bwMode="auto">
            <a:xfrm flipV="1">
              <a:off x="2090" y="1266"/>
              <a:ext cx="256" cy="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000">
                <a:solidFill>
                  <a:schemeClr val="tx1"/>
                </a:solidFill>
                <a:latin typeface="Times New Roman" panose="02020603050405020304" pitchFamily="18" charset="0"/>
                <a:cs typeface="Times New Roman" panose="02020603050405020304" pitchFamily="18" charset="0"/>
              </a:endParaRPr>
            </a:p>
          </p:txBody>
        </p:sp>
        <p:sp>
          <p:nvSpPr>
            <p:cNvPr id="114" name="Rectangle 46">
              <a:extLst>
                <a:ext uri="{FF2B5EF4-FFF2-40B4-BE49-F238E27FC236}">
                  <a16:creationId xmlns:a16="http://schemas.microsoft.com/office/drawing/2014/main" xmlns="" id="{5DC8AC1F-1EC0-DB5D-B83E-807AEA36BCC1}"/>
                </a:ext>
              </a:extLst>
            </p:cNvPr>
            <p:cNvSpPr>
              <a:spLocks noChangeArrowheads="1"/>
            </p:cNvSpPr>
            <p:nvPr/>
          </p:nvSpPr>
          <p:spPr bwMode="auto">
            <a:xfrm>
              <a:off x="2349" y="1159"/>
              <a:ext cx="145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fontAlgn="t">
                <a:spcBef>
                  <a:spcPct val="50000"/>
                </a:spcBef>
              </a:pPr>
              <a:r>
                <a:rPr lang="en-US" altLang="zh-CN" sz="2000" b="1" i="1">
                  <a:solidFill>
                    <a:schemeClr val="tx1"/>
                  </a:solidFill>
                  <a:latin typeface="Times New Roman" panose="02020603050405020304" pitchFamily="18" charset="0"/>
                  <a:cs typeface="Times New Roman" panose="02020603050405020304" pitchFamily="18" charset="0"/>
                </a:rPr>
                <a:t>Q</a:t>
              </a:r>
              <a:r>
                <a:rPr lang="en-US" altLang="zh-CN" sz="2000" b="1">
                  <a:solidFill>
                    <a:schemeClr val="tx1"/>
                  </a:solidFill>
                  <a:latin typeface="Times New Roman" panose="02020603050405020304" pitchFamily="18" charset="0"/>
                  <a:cs typeface="Times New Roman" panose="02020603050405020304" pitchFamily="18" charset="0"/>
                </a:rPr>
                <a:t>1</a:t>
              </a:r>
              <a:r>
                <a:rPr lang="zh-CN" altLang="en-US" sz="2000" b="1">
                  <a:solidFill>
                    <a:schemeClr val="tx1"/>
                  </a:solidFill>
                  <a:latin typeface="Times New Roman" panose="02020603050405020304" pitchFamily="18" charset="0"/>
                  <a:cs typeface="Times New Roman" panose="02020603050405020304" pitchFamily="18" charset="0"/>
                </a:rPr>
                <a:t>点达到新的平衡</a:t>
              </a:r>
            </a:p>
          </p:txBody>
        </p:sp>
      </p:grpSp>
      <p:sp>
        <p:nvSpPr>
          <p:cNvPr id="115" name="Text Box 47">
            <a:extLst>
              <a:ext uri="{FF2B5EF4-FFF2-40B4-BE49-F238E27FC236}">
                <a16:creationId xmlns:a16="http://schemas.microsoft.com/office/drawing/2014/main" xmlns="" id="{516E4265-8F8C-F1CD-6DB0-209BA53E2441}"/>
              </a:ext>
            </a:extLst>
          </p:cNvPr>
          <p:cNvSpPr txBox="1">
            <a:spLocks noChangeArrowheads="1"/>
          </p:cNvSpPr>
          <p:nvPr/>
        </p:nvSpPr>
        <p:spPr bwMode="auto">
          <a:xfrm>
            <a:off x="294734" y="5878408"/>
            <a:ext cx="12065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t">
              <a:spcBef>
                <a:spcPct val="50000"/>
              </a:spcBef>
            </a:pPr>
            <a:r>
              <a:rPr lang="zh-CN" altLang="en-US" sz="2000" b="1">
                <a:solidFill>
                  <a:schemeClr val="tx1"/>
                </a:solidFill>
                <a:latin typeface="Times New Roman" panose="02020603050405020304" pitchFamily="18" charset="0"/>
                <a:cs typeface="Times New Roman" panose="02020603050405020304" pitchFamily="18" charset="0"/>
              </a:rPr>
              <a:t>外因消失</a:t>
            </a:r>
          </a:p>
        </p:txBody>
      </p:sp>
      <p:grpSp>
        <p:nvGrpSpPr>
          <p:cNvPr id="116" name="Group 48">
            <a:extLst>
              <a:ext uri="{FF2B5EF4-FFF2-40B4-BE49-F238E27FC236}">
                <a16:creationId xmlns:a16="http://schemas.microsoft.com/office/drawing/2014/main" xmlns="" id="{102E58C2-3F34-B085-DE75-144351CB61C3}"/>
              </a:ext>
            </a:extLst>
          </p:cNvPr>
          <p:cNvGrpSpPr>
            <a:grpSpLocks/>
          </p:cNvGrpSpPr>
          <p:nvPr/>
        </p:nvGrpSpPr>
        <p:grpSpPr bwMode="auto">
          <a:xfrm>
            <a:off x="1463134" y="5867296"/>
            <a:ext cx="1614487" cy="396875"/>
            <a:chOff x="1009" y="1554"/>
            <a:chExt cx="1017" cy="250"/>
          </a:xfrm>
        </p:grpSpPr>
        <p:grpSp>
          <p:nvGrpSpPr>
            <p:cNvPr id="117" name="Group 49">
              <a:extLst>
                <a:ext uri="{FF2B5EF4-FFF2-40B4-BE49-F238E27FC236}">
                  <a16:creationId xmlns:a16="http://schemas.microsoft.com/office/drawing/2014/main" xmlns="" id="{10B9394F-7171-ABD2-4DA6-FBAC256BC4DD}"/>
                </a:ext>
              </a:extLst>
            </p:cNvPr>
            <p:cNvGrpSpPr>
              <a:grpSpLocks/>
            </p:cNvGrpSpPr>
            <p:nvPr/>
          </p:nvGrpSpPr>
          <p:grpSpPr bwMode="auto">
            <a:xfrm>
              <a:off x="1009" y="1554"/>
              <a:ext cx="1017" cy="250"/>
              <a:chOff x="1009" y="1554"/>
              <a:chExt cx="1017" cy="250"/>
            </a:xfrm>
          </p:grpSpPr>
          <p:sp>
            <p:nvSpPr>
              <p:cNvPr id="119" name="Line 50">
                <a:extLst>
                  <a:ext uri="{FF2B5EF4-FFF2-40B4-BE49-F238E27FC236}">
                    <a16:creationId xmlns:a16="http://schemas.microsoft.com/office/drawing/2014/main" xmlns="" id="{5DD1D227-692C-0394-A44C-A123985E815F}"/>
                  </a:ext>
                </a:extLst>
              </p:cNvPr>
              <p:cNvSpPr>
                <a:spLocks noChangeShapeType="1"/>
              </p:cNvSpPr>
              <p:nvPr/>
            </p:nvSpPr>
            <p:spPr bwMode="auto">
              <a:xfrm flipV="1">
                <a:off x="1009" y="1681"/>
                <a:ext cx="256" cy="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000">
                  <a:solidFill>
                    <a:schemeClr val="tx1"/>
                  </a:solidFill>
                  <a:latin typeface="Times New Roman" panose="02020603050405020304" pitchFamily="18" charset="0"/>
                  <a:cs typeface="Times New Roman" panose="02020603050405020304" pitchFamily="18" charset="0"/>
                </a:endParaRPr>
              </a:p>
            </p:txBody>
          </p:sp>
          <p:sp>
            <p:nvSpPr>
              <p:cNvPr id="120" name="Text Box 51">
                <a:extLst>
                  <a:ext uri="{FF2B5EF4-FFF2-40B4-BE49-F238E27FC236}">
                    <a16:creationId xmlns:a16="http://schemas.microsoft.com/office/drawing/2014/main" xmlns="" id="{D975E8A3-B8B5-62D4-9FA8-97A3E158F26A}"/>
                  </a:ext>
                </a:extLst>
              </p:cNvPr>
              <p:cNvSpPr txBox="1">
                <a:spLocks noChangeArrowheads="1"/>
              </p:cNvSpPr>
              <p:nvPr/>
            </p:nvSpPr>
            <p:spPr bwMode="auto">
              <a:xfrm>
                <a:off x="1266" y="1554"/>
                <a:ext cx="76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t">
                  <a:spcBef>
                    <a:spcPct val="50000"/>
                  </a:spcBef>
                </a:pPr>
                <a:r>
                  <a:rPr lang="en-US" altLang="zh-CN" sz="2000" b="1" i="1">
                    <a:solidFill>
                      <a:schemeClr val="tx1"/>
                    </a:solidFill>
                    <a:latin typeface="Times New Roman" panose="02020603050405020304" pitchFamily="18" charset="0"/>
                    <a:cs typeface="Times New Roman" panose="02020603050405020304" pitchFamily="18" charset="0"/>
                  </a:rPr>
                  <a:t>F</a:t>
                </a:r>
              </a:p>
            </p:txBody>
          </p:sp>
        </p:grpSp>
        <p:sp>
          <p:nvSpPr>
            <p:cNvPr id="118" name="Line 52">
              <a:extLst>
                <a:ext uri="{FF2B5EF4-FFF2-40B4-BE49-F238E27FC236}">
                  <a16:creationId xmlns:a16="http://schemas.microsoft.com/office/drawing/2014/main" xmlns="" id="{72FD12CE-E033-4F08-6B8A-99040BC8641F}"/>
                </a:ext>
              </a:extLst>
            </p:cNvPr>
            <p:cNvSpPr>
              <a:spLocks noChangeShapeType="1"/>
            </p:cNvSpPr>
            <p:nvPr/>
          </p:nvSpPr>
          <p:spPr bwMode="auto">
            <a:xfrm>
              <a:off x="1473" y="1601"/>
              <a:ext cx="0" cy="14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000">
                <a:solidFill>
                  <a:schemeClr val="tx1"/>
                </a:solidFill>
                <a:latin typeface="Times New Roman" panose="02020603050405020304" pitchFamily="18" charset="0"/>
                <a:cs typeface="Times New Roman" panose="02020603050405020304" pitchFamily="18" charset="0"/>
              </a:endParaRPr>
            </a:p>
          </p:txBody>
        </p:sp>
      </p:grpSp>
      <p:grpSp>
        <p:nvGrpSpPr>
          <p:cNvPr id="121" name="Group 53">
            <a:extLst>
              <a:ext uri="{FF2B5EF4-FFF2-40B4-BE49-F238E27FC236}">
                <a16:creationId xmlns:a16="http://schemas.microsoft.com/office/drawing/2014/main" xmlns="" id="{6CE84E44-4F30-9097-5438-667E4557D7A4}"/>
              </a:ext>
            </a:extLst>
          </p:cNvPr>
          <p:cNvGrpSpPr>
            <a:grpSpLocks/>
          </p:cNvGrpSpPr>
          <p:nvPr/>
        </p:nvGrpSpPr>
        <p:grpSpPr bwMode="auto">
          <a:xfrm>
            <a:off x="3460209" y="5846658"/>
            <a:ext cx="1265237" cy="396875"/>
            <a:chOff x="2267" y="1541"/>
            <a:chExt cx="797" cy="250"/>
          </a:xfrm>
        </p:grpSpPr>
        <p:sp>
          <p:nvSpPr>
            <p:cNvPr id="122" name="Line 54">
              <a:extLst>
                <a:ext uri="{FF2B5EF4-FFF2-40B4-BE49-F238E27FC236}">
                  <a16:creationId xmlns:a16="http://schemas.microsoft.com/office/drawing/2014/main" xmlns="" id="{C380B2B8-0DD6-E5D8-F859-1CBBBC0467BD}"/>
                </a:ext>
              </a:extLst>
            </p:cNvPr>
            <p:cNvSpPr>
              <a:spLocks noChangeShapeType="1"/>
            </p:cNvSpPr>
            <p:nvPr/>
          </p:nvSpPr>
          <p:spPr bwMode="auto">
            <a:xfrm flipV="1">
              <a:off x="2267" y="1659"/>
              <a:ext cx="256" cy="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000">
                <a:solidFill>
                  <a:schemeClr val="tx1"/>
                </a:solidFill>
                <a:latin typeface="Times New Roman" panose="02020603050405020304" pitchFamily="18" charset="0"/>
                <a:cs typeface="Times New Roman" panose="02020603050405020304" pitchFamily="18" charset="0"/>
              </a:endParaRPr>
            </a:p>
          </p:txBody>
        </p:sp>
        <p:sp>
          <p:nvSpPr>
            <p:cNvPr id="123" name="Rectangle 55">
              <a:extLst>
                <a:ext uri="{FF2B5EF4-FFF2-40B4-BE49-F238E27FC236}">
                  <a16:creationId xmlns:a16="http://schemas.microsoft.com/office/drawing/2014/main" xmlns="" id="{5D231F84-ABEE-B848-054B-D5857BC97B23}"/>
                </a:ext>
              </a:extLst>
            </p:cNvPr>
            <p:cNvSpPr>
              <a:spLocks noChangeArrowheads="1"/>
            </p:cNvSpPr>
            <p:nvPr/>
          </p:nvSpPr>
          <p:spPr bwMode="auto">
            <a:xfrm>
              <a:off x="2523" y="1541"/>
              <a:ext cx="54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fontAlgn="t">
                <a:spcBef>
                  <a:spcPct val="50000"/>
                </a:spcBef>
              </a:pPr>
              <a:r>
                <a:rPr lang="en-US" altLang="zh-CN" sz="2000" b="1" i="1">
                  <a:solidFill>
                    <a:schemeClr val="tx1"/>
                  </a:solidFill>
                  <a:latin typeface="Times New Roman" panose="02020603050405020304" pitchFamily="18" charset="0"/>
                  <a:cs typeface="Times New Roman" panose="02020603050405020304" pitchFamily="18" charset="0"/>
                </a:rPr>
                <a:t>AF </a:t>
              </a:r>
              <a:r>
                <a:rPr lang="en-US" altLang="zh-CN" sz="2000" b="1">
                  <a:solidFill>
                    <a:schemeClr val="tx1"/>
                  </a:solidFill>
                  <a:latin typeface="Times New Roman" panose="02020603050405020304" pitchFamily="18" charset="0"/>
                  <a:cs typeface="Times New Roman" panose="02020603050405020304" pitchFamily="18" charset="0"/>
                </a:rPr>
                <a:t>&lt;1</a:t>
              </a:r>
            </a:p>
          </p:txBody>
        </p:sp>
      </p:grpSp>
      <p:sp>
        <p:nvSpPr>
          <p:cNvPr id="124" name="Rectangle 56">
            <a:extLst>
              <a:ext uri="{FF2B5EF4-FFF2-40B4-BE49-F238E27FC236}">
                <a16:creationId xmlns:a16="http://schemas.microsoft.com/office/drawing/2014/main" xmlns="" id="{F1CF2DD0-864B-56D6-E423-E9208317D282}"/>
              </a:ext>
            </a:extLst>
          </p:cNvPr>
          <p:cNvSpPr>
            <a:spLocks noChangeArrowheads="1"/>
          </p:cNvSpPr>
          <p:nvPr/>
        </p:nvSpPr>
        <p:spPr bwMode="auto">
          <a:xfrm>
            <a:off x="132013" y="6273605"/>
            <a:ext cx="173316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fontAlgn="t">
              <a:spcBef>
                <a:spcPct val="50000"/>
              </a:spcBef>
            </a:pPr>
            <a:r>
              <a:rPr lang="zh-CN" altLang="en-US" sz="2000" b="1">
                <a:solidFill>
                  <a:schemeClr val="tx1"/>
                </a:solidFill>
                <a:latin typeface="Times New Roman" panose="02020603050405020304" pitchFamily="18" charset="0"/>
                <a:cs typeface="Times New Roman" panose="02020603050405020304" pitchFamily="18" charset="0"/>
              </a:rPr>
              <a:t>（减幅振荡）</a:t>
            </a:r>
          </a:p>
        </p:txBody>
      </p:sp>
      <p:grpSp>
        <p:nvGrpSpPr>
          <p:cNvPr id="125" name="Group 57">
            <a:extLst>
              <a:ext uri="{FF2B5EF4-FFF2-40B4-BE49-F238E27FC236}">
                <a16:creationId xmlns:a16="http://schemas.microsoft.com/office/drawing/2014/main" xmlns="" id="{6DE7E63C-F839-97F2-5A8A-F98632DD1794}"/>
              </a:ext>
            </a:extLst>
          </p:cNvPr>
          <p:cNvGrpSpPr>
            <a:grpSpLocks/>
          </p:cNvGrpSpPr>
          <p:nvPr/>
        </p:nvGrpSpPr>
        <p:grpSpPr bwMode="auto">
          <a:xfrm>
            <a:off x="1716339" y="6249792"/>
            <a:ext cx="1552576" cy="400050"/>
            <a:chOff x="1186" y="1847"/>
            <a:chExt cx="978" cy="252"/>
          </a:xfrm>
        </p:grpSpPr>
        <p:sp>
          <p:nvSpPr>
            <p:cNvPr id="126" name="Line 58">
              <a:extLst>
                <a:ext uri="{FF2B5EF4-FFF2-40B4-BE49-F238E27FC236}">
                  <a16:creationId xmlns:a16="http://schemas.microsoft.com/office/drawing/2014/main" xmlns="" id="{695D6C83-058F-DBB8-0231-921FD74220DA}"/>
                </a:ext>
              </a:extLst>
            </p:cNvPr>
            <p:cNvSpPr>
              <a:spLocks noChangeShapeType="1"/>
            </p:cNvSpPr>
            <p:nvPr/>
          </p:nvSpPr>
          <p:spPr bwMode="auto">
            <a:xfrm flipV="1">
              <a:off x="1186" y="1970"/>
              <a:ext cx="256" cy="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000">
                <a:solidFill>
                  <a:schemeClr val="tx1"/>
                </a:solidFill>
                <a:latin typeface="Times New Roman" panose="02020603050405020304" pitchFamily="18" charset="0"/>
                <a:cs typeface="Times New Roman" panose="02020603050405020304" pitchFamily="18" charset="0"/>
              </a:endParaRPr>
            </a:p>
          </p:txBody>
        </p:sp>
        <p:sp>
          <p:nvSpPr>
            <p:cNvPr id="127" name="Rectangle 59">
              <a:extLst>
                <a:ext uri="{FF2B5EF4-FFF2-40B4-BE49-F238E27FC236}">
                  <a16:creationId xmlns:a16="http://schemas.microsoft.com/office/drawing/2014/main" xmlns="" id="{BE20AF59-5EF2-B93A-1881-21DA9EDB8D25}"/>
                </a:ext>
              </a:extLst>
            </p:cNvPr>
            <p:cNvSpPr>
              <a:spLocks noChangeArrowheads="1"/>
            </p:cNvSpPr>
            <p:nvPr/>
          </p:nvSpPr>
          <p:spPr bwMode="auto">
            <a:xfrm>
              <a:off x="1397" y="1847"/>
              <a:ext cx="76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fontAlgn="t">
                <a:spcBef>
                  <a:spcPct val="50000"/>
                </a:spcBef>
              </a:pPr>
              <a:r>
                <a:rPr lang="zh-CN" altLang="en-US" sz="2000" b="1">
                  <a:solidFill>
                    <a:schemeClr val="tx1"/>
                  </a:solidFill>
                  <a:latin typeface="Times New Roman" panose="02020603050405020304" pitchFamily="18" charset="0"/>
                  <a:cs typeface="Times New Roman" panose="02020603050405020304" pitchFamily="18" charset="0"/>
                </a:rPr>
                <a:t>输出减小</a:t>
              </a:r>
            </a:p>
          </p:txBody>
        </p:sp>
      </p:grpSp>
      <p:grpSp>
        <p:nvGrpSpPr>
          <p:cNvPr id="128" name="Group 60">
            <a:extLst>
              <a:ext uri="{FF2B5EF4-FFF2-40B4-BE49-F238E27FC236}">
                <a16:creationId xmlns:a16="http://schemas.microsoft.com/office/drawing/2014/main" xmlns="" id="{25C2E62B-4F1B-7242-5DF0-4E64AA46FB51}"/>
              </a:ext>
            </a:extLst>
          </p:cNvPr>
          <p:cNvGrpSpPr>
            <a:grpSpLocks/>
          </p:cNvGrpSpPr>
          <p:nvPr/>
        </p:nvGrpSpPr>
        <p:grpSpPr bwMode="auto">
          <a:xfrm>
            <a:off x="3241926" y="6213280"/>
            <a:ext cx="2871787" cy="400050"/>
            <a:chOff x="2147" y="1824"/>
            <a:chExt cx="1809" cy="252"/>
          </a:xfrm>
        </p:grpSpPr>
        <p:sp>
          <p:nvSpPr>
            <p:cNvPr id="129" name="Line 61">
              <a:extLst>
                <a:ext uri="{FF2B5EF4-FFF2-40B4-BE49-F238E27FC236}">
                  <a16:creationId xmlns:a16="http://schemas.microsoft.com/office/drawing/2014/main" xmlns="" id="{A223256E-5C37-F700-87AC-C75D164A9B02}"/>
                </a:ext>
              </a:extLst>
            </p:cNvPr>
            <p:cNvSpPr>
              <a:spLocks noChangeShapeType="1"/>
            </p:cNvSpPr>
            <p:nvPr/>
          </p:nvSpPr>
          <p:spPr bwMode="auto">
            <a:xfrm flipV="1">
              <a:off x="2147" y="1955"/>
              <a:ext cx="256" cy="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000">
                <a:solidFill>
                  <a:schemeClr val="tx1"/>
                </a:solidFill>
                <a:latin typeface="Times New Roman" panose="02020603050405020304" pitchFamily="18" charset="0"/>
                <a:cs typeface="Times New Roman" panose="02020603050405020304" pitchFamily="18" charset="0"/>
              </a:endParaRPr>
            </a:p>
          </p:txBody>
        </p:sp>
        <p:sp>
          <p:nvSpPr>
            <p:cNvPr id="130" name="Rectangle 62">
              <a:extLst>
                <a:ext uri="{FF2B5EF4-FFF2-40B4-BE49-F238E27FC236}">
                  <a16:creationId xmlns:a16="http://schemas.microsoft.com/office/drawing/2014/main" xmlns="" id="{2C5D331F-C13B-B0B3-A48F-3D9FEB16C804}"/>
                </a:ext>
              </a:extLst>
            </p:cNvPr>
            <p:cNvSpPr>
              <a:spLocks noChangeArrowheads="1"/>
            </p:cNvSpPr>
            <p:nvPr/>
          </p:nvSpPr>
          <p:spPr bwMode="auto">
            <a:xfrm>
              <a:off x="2422" y="1824"/>
              <a:ext cx="153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fontAlgn="t">
                <a:spcBef>
                  <a:spcPct val="50000"/>
                </a:spcBef>
              </a:pPr>
              <a:r>
                <a:rPr lang="zh-CN" altLang="en-US" sz="2000" b="1" dirty="0">
                  <a:solidFill>
                    <a:schemeClr val="tx1"/>
                  </a:solidFill>
                  <a:latin typeface="Times New Roman" panose="02020603050405020304" pitchFamily="18" charset="0"/>
                  <a:cs typeface="Times New Roman" panose="02020603050405020304" pitchFamily="18" charset="0"/>
                </a:rPr>
                <a:t>回到原平衡状态</a:t>
              </a:r>
              <a:r>
                <a:rPr lang="en-US" altLang="zh-CN" sz="2000" b="1" i="1" dirty="0">
                  <a:solidFill>
                    <a:schemeClr val="tx1"/>
                  </a:solidFill>
                  <a:latin typeface="Times New Roman" panose="02020603050405020304" pitchFamily="18" charset="0"/>
                  <a:cs typeface="Times New Roman" panose="02020603050405020304" pitchFamily="18" charset="0"/>
                </a:rPr>
                <a:t>Q</a:t>
              </a:r>
              <a:r>
                <a:rPr lang="zh-CN" altLang="en-US" sz="2000" b="1" dirty="0">
                  <a:solidFill>
                    <a:schemeClr val="tx1"/>
                  </a:solidFill>
                  <a:latin typeface="Times New Roman" panose="02020603050405020304" pitchFamily="18" charset="0"/>
                  <a:cs typeface="Times New Roman" panose="02020603050405020304" pitchFamily="18" charset="0"/>
                </a:rPr>
                <a:t>点</a:t>
              </a:r>
            </a:p>
          </p:txBody>
        </p:sp>
      </p:grpSp>
      <p:grpSp>
        <p:nvGrpSpPr>
          <p:cNvPr id="131" name="Group 63">
            <a:extLst>
              <a:ext uri="{FF2B5EF4-FFF2-40B4-BE49-F238E27FC236}">
                <a16:creationId xmlns:a16="http://schemas.microsoft.com/office/drawing/2014/main" xmlns="" id="{E12C4340-6057-A6D8-A872-1FF1D33DF877}"/>
              </a:ext>
            </a:extLst>
          </p:cNvPr>
          <p:cNvGrpSpPr>
            <a:grpSpLocks/>
          </p:cNvGrpSpPr>
          <p:nvPr/>
        </p:nvGrpSpPr>
        <p:grpSpPr bwMode="auto">
          <a:xfrm>
            <a:off x="2302922" y="5819671"/>
            <a:ext cx="1006476" cy="400050"/>
            <a:chOff x="1538" y="1524"/>
            <a:chExt cx="634" cy="252"/>
          </a:xfrm>
        </p:grpSpPr>
        <p:sp>
          <p:nvSpPr>
            <p:cNvPr id="132" name="Line 64">
              <a:extLst>
                <a:ext uri="{FF2B5EF4-FFF2-40B4-BE49-F238E27FC236}">
                  <a16:creationId xmlns:a16="http://schemas.microsoft.com/office/drawing/2014/main" xmlns="" id="{E45D183E-B719-9359-0126-9CB274FD976F}"/>
                </a:ext>
              </a:extLst>
            </p:cNvPr>
            <p:cNvSpPr>
              <a:spLocks noChangeShapeType="1"/>
            </p:cNvSpPr>
            <p:nvPr/>
          </p:nvSpPr>
          <p:spPr bwMode="auto">
            <a:xfrm flipH="1" flipV="1">
              <a:off x="2153" y="1561"/>
              <a:ext cx="8" cy="15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000">
                <a:solidFill>
                  <a:schemeClr val="tx1"/>
                </a:solidFill>
                <a:latin typeface="Times New Roman" panose="02020603050405020304" pitchFamily="18" charset="0"/>
                <a:cs typeface="Times New Roman" panose="02020603050405020304" pitchFamily="18" charset="0"/>
              </a:endParaRPr>
            </a:p>
          </p:txBody>
        </p:sp>
        <p:sp>
          <p:nvSpPr>
            <p:cNvPr id="133" name="Line 65">
              <a:extLst>
                <a:ext uri="{FF2B5EF4-FFF2-40B4-BE49-F238E27FC236}">
                  <a16:creationId xmlns:a16="http://schemas.microsoft.com/office/drawing/2014/main" xmlns="" id="{323EF3E9-322A-4C3E-573A-E0A9FEED111B}"/>
                </a:ext>
              </a:extLst>
            </p:cNvPr>
            <p:cNvSpPr>
              <a:spLocks noChangeShapeType="1"/>
            </p:cNvSpPr>
            <p:nvPr/>
          </p:nvSpPr>
          <p:spPr bwMode="auto">
            <a:xfrm flipV="1">
              <a:off x="1538" y="1674"/>
              <a:ext cx="256" cy="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000">
                <a:solidFill>
                  <a:schemeClr val="tx1"/>
                </a:solidFill>
                <a:latin typeface="Times New Roman" panose="02020603050405020304" pitchFamily="18" charset="0"/>
                <a:cs typeface="Times New Roman" panose="02020603050405020304" pitchFamily="18" charset="0"/>
              </a:endParaRPr>
            </a:p>
          </p:txBody>
        </p:sp>
        <p:sp>
          <p:nvSpPr>
            <p:cNvPr id="134" name="Rectangle 66">
              <a:extLst>
                <a:ext uri="{FF2B5EF4-FFF2-40B4-BE49-F238E27FC236}">
                  <a16:creationId xmlns:a16="http://schemas.microsoft.com/office/drawing/2014/main" xmlns="" id="{9C06176C-A299-9CFB-D43A-A700729C97FC}"/>
                </a:ext>
              </a:extLst>
            </p:cNvPr>
            <p:cNvSpPr>
              <a:spLocks noChangeArrowheads="1"/>
            </p:cNvSpPr>
            <p:nvPr/>
          </p:nvSpPr>
          <p:spPr bwMode="auto">
            <a:xfrm>
              <a:off x="1810" y="1524"/>
              <a:ext cx="36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fontAlgn="t">
                <a:spcBef>
                  <a:spcPct val="50000"/>
                </a:spcBef>
              </a:pPr>
              <a:r>
                <a:rPr lang="en-US" altLang="zh-CN" sz="2000" b="1">
                  <a:solidFill>
                    <a:schemeClr val="tx1"/>
                  </a:solidFill>
                  <a:latin typeface="Times New Roman" panose="02020603050405020304" pitchFamily="18" charset="0"/>
                  <a:cs typeface="Times New Roman" panose="02020603050405020304" pitchFamily="18" charset="0"/>
                </a:rPr>
                <a:t>1/</a:t>
              </a:r>
              <a:r>
                <a:rPr lang="en-US" altLang="zh-CN" sz="2000" b="1" i="1">
                  <a:solidFill>
                    <a:schemeClr val="tx1"/>
                  </a:solidFill>
                  <a:latin typeface="Times New Roman" panose="02020603050405020304" pitchFamily="18" charset="0"/>
                  <a:cs typeface="Times New Roman" panose="02020603050405020304" pitchFamily="18" charset="0"/>
                </a:rPr>
                <a:t>F</a:t>
              </a:r>
            </a:p>
          </p:txBody>
        </p:sp>
      </p:grpSp>
      <p:sp>
        <p:nvSpPr>
          <p:cNvPr id="135" name="Text Box 120">
            <a:extLst>
              <a:ext uri="{FF2B5EF4-FFF2-40B4-BE49-F238E27FC236}">
                <a16:creationId xmlns:a16="http://schemas.microsoft.com/office/drawing/2014/main" xmlns="" id="{0E6CB131-9599-2575-D514-64F94EE0D907}"/>
              </a:ext>
            </a:extLst>
          </p:cNvPr>
          <p:cNvSpPr txBox="1">
            <a:spLocks noChangeArrowheads="1"/>
          </p:cNvSpPr>
          <p:nvPr/>
        </p:nvSpPr>
        <p:spPr bwMode="auto">
          <a:xfrm>
            <a:off x="448915" y="4666998"/>
            <a:ext cx="1479550" cy="400110"/>
          </a:xfrm>
          <a:prstGeom prst="rect">
            <a:avLst/>
          </a:prstGeom>
          <a:solidFill>
            <a:srgbClr val="CCFFFF">
              <a:alpha val="7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fontAlgn="t">
              <a:spcBef>
                <a:spcPct val="50000"/>
              </a:spcBef>
            </a:pPr>
            <a:r>
              <a:rPr lang="en-US" altLang="zh-CN" sz="2000" b="1" i="1" dirty="0">
                <a:solidFill>
                  <a:schemeClr val="tx1"/>
                </a:solidFill>
                <a:latin typeface="Times New Roman" panose="02020603050405020304" pitchFamily="18" charset="0"/>
                <a:cs typeface="Times New Roman" panose="02020603050405020304" pitchFamily="18" charset="0"/>
              </a:rPr>
              <a:t>Q</a:t>
            </a:r>
            <a:r>
              <a:rPr lang="zh-CN" altLang="en-US" sz="2000" b="1" dirty="0">
                <a:solidFill>
                  <a:schemeClr val="tx1"/>
                </a:solidFill>
                <a:latin typeface="Times New Roman" panose="02020603050405020304" pitchFamily="18" charset="0"/>
                <a:cs typeface="Times New Roman" panose="02020603050405020304" pitchFamily="18" charset="0"/>
              </a:rPr>
              <a:t>点稳定：</a:t>
            </a:r>
          </a:p>
        </p:txBody>
      </p:sp>
      <p:pic>
        <p:nvPicPr>
          <p:cNvPr id="136" name="图片 135">
            <a:extLst>
              <a:ext uri="{FF2B5EF4-FFF2-40B4-BE49-F238E27FC236}">
                <a16:creationId xmlns:a16="http://schemas.microsoft.com/office/drawing/2014/main" xmlns="" id="{1CB50F41-61AA-052A-A41B-DD8BCD08EFE5}"/>
              </a:ext>
            </a:extLst>
          </p:cNvPr>
          <p:cNvPicPr>
            <a:picLocks noChangeAspect="1"/>
          </p:cNvPicPr>
          <p:nvPr/>
        </p:nvPicPr>
        <p:blipFill>
          <a:blip r:embed="rId3"/>
          <a:stretch>
            <a:fillRect/>
          </a:stretch>
        </p:blipFill>
        <p:spPr>
          <a:xfrm>
            <a:off x="6190366" y="4138852"/>
            <a:ext cx="2823111" cy="1980857"/>
          </a:xfrm>
          <a:prstGeom prst="rect">
            <a:avLst/>
          </a:prstGeom>
        </p:spPr>
      </p:pic>
      <p:graphicFrame>
        <p:nvGraphicFramePr>
          <p:cNvPr id="137" name="Object 124">
            <a:extLst>
              <a:ext uri="{FF2B5EF4-FFF2-40B4-BE49-F238E27FC236}">
                <a16:creationId xmlns:a16="http://schemas.microsoft.com/office/drawing/2014/main" xmlns="" id="{C28472C5-D8F6-4EF5-F1BA-C148F6F210C9}"/>
              </a:ext>
            </a:extLst>
          </p:cNvPr>
          <p:cNvGraphicFramePr>
            <a:graphicFrameLocks noChangeAspect="1"/>
          </p:cNvGraphicFramePr>
          <p:nvPr>
            <p:extLst>
              <p:ext uri="{D42A27DB-BD31-4B8C-83A1-F6EECF244321}">
                <p14:modId xmlns:p14="http://schemas.microsoft.com/office/powerpoint/2010/main" val="3281061522"/>
              </p:ext>
            </p:extLst>
          </p:nvPr>
        </p:nvGraphicFramePr>
        <p:xfrm>
          <a:off x="7398059" y="5989805"/>
          <a:ext cx="1403350" cy="798512"/>
        </p:xfrm>
        <a:graphic>
          <a:graphicData uri="http://schemas.openxmlformats.org/presentationml/2006/ole">
            <mc:AlternateContent xmlns:mc="http://schemas.openxmlformats.org/markup-compatibility/2006">
              <mc:Choice xmlns:v="urn:schemas-microsoft-com:vml" Requires="v">
                <p:oleObj spid="_x0000_s128033" r:id="rId4" imgW="914400" imgH="520700" progId="Equation.3">
                  <p:embed/>
                </p:oleObj>
              </mc:Choice>
              <mc:Fallback>
                <p:oleObj r:id="rId4" imgW="914400" imgH="520700" progId="Equation.3">
                  <p:embed/>
                  <p:pic>
                    <p:nvPicPr>
                      <p:cNvPr id="0" name=""/>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98059" y="5989805"/>
                        <a:ext cx="1403350" cy="798512"/>
                      </a:xfrm>
                      <a:prstGeom prst="rect">
                        <a:avLst/>
                      </a:prstGeom>
                      <a:gradFill rotWithShape="1">
                        <a:gsLst>
                          <a:gs pos="0">
                            <a:srgbClr val="FF99FF"/>
                          </a:gs>
                          <a:gs pos="50000">
                            <a:schemeClr val="bg1"/>
                          </a:gs>
                          <a:gs pos="100000">
                            <a:srgbClr val="FF99FF"/>
                          </a:gs>
                        </a:gsLst>
                        <a:lin ang="5400000" scaled="1"/>
                      </a:gra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38" name="Rectangle 125">
            <a:extLst>
              <a:ext uri="{FF2B5EF4-FFF2-40B4-BE49-F238E27FC236}">
                <a16:creationId xmlns:a16="http://schemas.microsoft.com/office/drawing/2014/main" xmlns="" id="{748ABC7F-E6B6-F6A4-8F2D-1D40F4252C07}"/>
              </a:ext>
            </a:extLst>
          </p:cNvPr>
          <p:cNvSpPr>
            <a:spLocks noChangeArrowheads="1"/>
          </p:cNvSpPr>
          <p:nvPr/>
        </p:nvSpPr>
        <p:spPr bwMode="auto">
          <a:xfrm>
            <a:off x="6283091" y="6008701"/>
            <a:ext cx="145672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fontAlgn="t"/>
            <a:r>
              <a:rPr lang="zh-CN" altLang="en-US" sz="2000" b="1" dirty="0">
                <a:solidFill>
                  <a:schemeClr val="tx1"/>
                </a:solidFill>
                <a:latin typeface="+mn-ea"/>
                <a:ea typeface="+mn-ea"/>
              </a:rPr>
              <a:t>振幅的稳定条件：</a:t>
            </a:r>
          </a:p>
        </p:txBody>
      </p:sp>
    </p:spTree>
    <p:extLst>
      <p:ext uri="{BB962C8B-B14F-4D97-AF65-F5344CB8AC3E}">
        <p14:creationId xmlns:p14="http://schemas.microsoft.com/office/powerpoint/2010/main" val="2601152447"/>
      </p:ext>
    </p:extLst>
  </p:cSld>
  <p:clrMapOvr>
    <a:masterClrMapping/>
  </p:clrMapOvr>
  <p:timing>
    <p:tnLst>
      <p:par>
        <p:cTn id="1" dur="indefinite" restart="never" nodeType="tmRoot"/>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27687"/>
            <a:ext cx="2057400" cy="365125"/>
          </a:xfrm>
        </p:spPr>
        <p:txBody>
          <a:bodyPr vert="horz" lIns="91440" tIns="45720" rIns="91440" bIns="45720" rtlCol="0" anchor="ctr"/>
          <a:lstStyle/>
          <a:p>
            <a:fld id="{3F289F66-8020-4753-9271-1F269025EE3F}"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dirty="0">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35124" y="6427688"/>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167</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5.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正弦波</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振荡器</a:t>
            </a:r>
          </a:p>
        </p:txBody>
      </p:sp>
      <p:sp>
        <p:nvSpPr>
          <p:cNvPr id="5" name="Rectangle 18">
            <a:extLst>
              <a:ext uri="{FF2B5EF4-FFF2-40B4-BE49-F238E27FC236}">
                <a16:creationId xmlns:a16="http://schemas.microsoft.com/office/drawing/2014/main" xmlns="" id="{89219DBD-C7CE-5830-1C90-65DB4A422325}"/>
              </a:ext>
            </a:extLst>
          </p:cNvPr>
          <p:cNvSpPr>
            <a:spLocks noChangeArrowheads="1"/>
          </p:cNvSpPr>
          <p:nvPr/>
        </p:nvSpPr>
        <p:spPr bwMode="auto">
          <a:xfrm>
            <a:off x="254794" y="1268338"/>
            <a:ext cx="370840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200" b="1" dirty="0">
                <a:solidFill>
                  <a:srgbClr val="FF3300"/>
                </a:solidFill>
                <a:latin typeface="+mn-ea"/>
                <a:ea typeface="+mn-ea"/>
              </a:rPr>
              <a:t>4</a:t>
            </a:r>
            <a:r>
              <a:rPr lang="zh-CN" altLang="en-US" sz="2200" b="1" dirty="0">
                <a:solidFill>
                  <a:srgbClr val="FF3300"/>
                </a:solidFill>
                <a:latin typeface="+mn-ea"/>
                <a:ea typeface="+mn-ea"/>
              </a:rPr>
              <a:t>） 相位平衡的稳定条件</a:t>
            </a:r>
          </a:p>
        </p:txBody>
      </p:sp>
      <p:sp>
        <p:nvSpPr>
          <p:cNvPr id="6" name="Text Box 20">
            <a:extLst>
              <a:ext uri="{FF2B5EF4-FFF2-40B4-BE49-F238E27FC236}">
                <a16:creationId xmlns:a16="http://schemas.microsoft.com/office/drawing/2014/main" xmlns="" id="{7DAA18ED-EEE3-66CD-CFBF-EAD85A81664E}"/>
              </a:ext>
            </a:extLst>
          </p:cNvPr>
          <p:cNvSpPr txBox="1">
            <a:spLocks noChangeArrowheads="1"/>
          </p:cNvSpPr>
          <p:nvPr/>
        </p:nvSpPr>
        <p:spPr bwMode="auto">
          <a:xfrm>
            <a:off x="4637881" y="2474044"/>
            <a:ext cx="3022600" cy="400050"/>
          </a:xfrm>
          <a:prstGeom prst="rect">
            <a:avLst/>
          </a:prstGeom>
          <a:noFill/>
          <a:ln>
            <a:noFill/>
          </a:ln>
        </p:spPr>
        <p:txBody>
          <a:bodyPr>
            <a:spAutoFit/>
          </a:bodyPr>
          <a:lstStyle/>
          <a:p>
            <a:pPr fontAlgn="t">
              <a:spcBef>
                <a:spcPct val="50000"/>
              </a:spcBef>
            </a:pPr>
            <a:r>
              <a:rPr lang="zh-CN" altLang="en-US" sz="2000" b="1" dirty="0">
                <a:solidFill>
                  <a:schemeClr val="tx1"/>
                </a:solidFill>
                <a:latin typeface="+mn-ea"/>
                <a:ea typeface="+mn-ea"/>
              </a:rPr>
              <a:t>频率与相位的关系：</a:t>
            </a:r>
          </a:p>
        </p:txBody>
      </p:sp>
      <p:graphicFrame>
        <p:nvGraphicFramePr>
          <p:cNvPr id="7" name="Object 21">
            <a:extLst>
              <a:ext uri="{FF2B5EF4-FFF2-40B4-BE49-F238E27FC236}">
                <a16:creationId xmlns:a16="http://schemas.microsoft.com/office/drawing/2014/main" xmlns="" id="{BD4703B8-D173-5BDA-C006-0CA235CC7369}"/>
              </a:ext>
            </a:extLst>
          </p:cNvPr>
          <p:cNvGraphicFramePr>
            <a:graphicFrameLocks noChangeAspect="1"/>
          </p:cNvGraphicFramePr>
          <p:nvPr>
            <p:extLst>
              <p:ext uri="{D42A27DB-BD31-4B8C-83A1-F6EECF244321}">
                <p14:modId xmlns:p14="http://schemas.microsoft.com/office/powerpoint/2010/main" val="2624844145"/>
              </p:ext>
            </p:extLst>
          </p:nvPr>
        </p:nvGraphicFramePr>
        <p:xfrm>
          <a:off x="7112794" y="2247032"/>
          <a:ext cx="952500" cy="742950"/>
        </p:xfrm>
        <a:graphic>
          <a:graphicData uri="http://schemas.openxmlformats.org/presentationml/2006/ole">
            <mc:AlternateContent xmlns:mc="http://schemas.openxmlformats.org/markup-compatibility/2006">
              <mc:Choice xmlns:v="urn:schemas-microsoft-com:vml" Requires="v">
                <p:oleObj spid="_x0000_s130350" r:id="rId3" imgW="520474" imgH="406224" progId="Equation.3">
                  <p:embed/>
                </p:oleObj>
              </mc:Choice>
              <mc:Fallback>
                <p:oleObj r:id="rId3" imgW="520474" imgH="406224" progId="Equation.3">
                  <p:embed/>
                  <p:pic>
                    <p:nvPicPr>
                      <p:cNvPr id="0" name=""/>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12794" y="2247032"/>
                        <a:ext cx="952500" cy="742950"/>
                      </a:xfrm>
                      <a:prstGeom prst="rect">
                        <a:avLst/>
                      </a:prstGeom>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 name="Rectangle 24">
            <a:extLst>
              <a:ext uri="{FF2B5EF4-FFF2-40B4-BE49-F238E27FC236}">
                <a16:creationId xmlns:a16="http://schemas.microsoft.com/office/drawing/2014/main" xmlns="" id="{06E2E941-0E77-8A86-A4DA-AB90719CDDA2}"/>
              </a:ext>
            </a:extLst>
          </p:cNvPr>
          <p:cNvSpPr>
            <a:spLocks noChangeArrowheads="1"/>
          </p:cNvSpPr>
          <p:nvPr/>
        </p:nvSpPr>
        <p:spPr bwMode="auto">
          <a:xfrm>
            <a:off x="3145631" y="1257151"/>
            <a:ext cx="3708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000" b="1">
                <a:solidFill>
                  <a:srgbClr val="FF3300"/>
                </a:solidFill>
                <a:latin typeface="+mn-ea"/>
                <a:ea typeface="+mn-ea"/>
              </a:rPr>
              <a:t>（频率的稳定条件）</a:t>
            </a:r>
          </a:p>
        </p:txBody>
      </p:sp>
      <p:graphicFrame>
        <p:nvGraphicFramePr>
          <p:cNvPr id="9" name="Object 27">
            <a:extLst>
              <a:ext uri="{FF2B5EF4-FFF2-40B4-BE49-F238E27FC236}">
                <a16:creationId xmlns:a16="http://schemas.microsoft.com/office/drawing/2014/main" xmlns="" id="{754D88F7-E6D0-1DCE-A487-D130A5D0CA4D}"/>
              </a:ext>
            </a:extLst>
          </p:cNvPr>
          <p:cNvGraphicFramePr>
            <a:graphicFrameLocks noChangeAspect="1"/>
          </p:cNvGraphicFramePr>
          <p:nvPr>
            <p:extLst>
              <p:ext uri="{D42A27DB-BD31-4B8C-83A1-F6EECF244321}">
                <p14:modId xmlns:p14="http://schemas.microsoft.com/office/powerpoint/2010/main" val="1858554006"/>
              </p:ext>
            </p:extLst>
          </p:nvPr>
        </p:nvGraphicFramePr>
        <p:xfrm>
          <a:off x="302156" y="1756210"/>
          <a:ext cx="7983800" cy="633662"/>
        </p:xfrm>
        <a:graphic>
          <a:graphicData uri="http://schemas.openxmlformats.org/presentationml/2006/ole">
            <mc:AlternateContent xmlns:mc="http://schemas.openxmlformats.org/markup-compatibility/2006">
              <mc:Choice xmlns:v="urn:schemas-microsoft-com:vml" Requires="v">
                <p:oleObj spid="_x0000_s130351" r:id="rId5" imgW="5486400" imgH="495300" progId="Word.Document.8">
                  <p:embed/>
                </p:oleObj>
              </mc:Choice>
              <mc:Fallback>
                <p:oleObj r:id="rId5" imgW="5486400" imgH="495300" progId="Word.Document.8">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2156" y="1756210"/>
                        <a:ext cx="7983800" cy="633662"/>
                      </a:xfrm>
                      <a:prstGeom prst="rect">
                        <a:avLst/>
                      </a:prstGeom>
                      <a:noFill/>
                      <a:ln>
                        <a:noFill/>
                      </a:ln>
                      <a:extLst/>
                    </p:spPr>
                  </p:pic>
                </p:oleObj>
              </mc:Fallback>
            </mc:AlternateContent>
          </a:graphicData>
        </a:graphic>
      </p:graphicFrame>
      <p:graphicFrame>
        <p:nvGraphicFramePr>
          <p:cNvPr id="10" name="Object 51">
            <a:extLst>
              <a:ext uri="{FF2B5EF4-FFF2-40B4-BE49-F238E27FC236}">
                <a16:creationId xmlns:a16="http://schemas.microsoft.com/office/drawing/2014/main" xmlns="" id="{78152573-FCEF-4D1F-AF40-DE0ABD11B249}"/>
              </a:ext>
            </a:extLst>
          </p:cNvPr>
          <p:cNvGraphicFramePr>
            <a:graphicFrameLocks noChangeAspect="1"/>
          </p:cNvGraphicFramePr>
          <p:nvPr>
            <p:extLst>
              <p:ext uri="{D42A27DB-BD31-4B8C-83A1-F6EECF244321}">
                <p14:modId xmlns:p14="http://schemas.microsoft.com/office/powerpoint/2010/main" val="1775940122"/>
              </p:ext>
            </p:extLst>
          </p:nvPr>
        </p:nvGraphicFramePr>
        <p:xfrm>
          <a:off x="3514138" y="2443033"/>
          <a:ext cx="458788" cy="354012"/>
        </p:xfrm>
        <a:graphic>
          <a:graphicData uri="http://schemas.openxmlformats.org/presentationml/2006/ole">
            <mc:AlternateContent xmlns:mc="http://schemas.openxmlformats.org/markup-compatibility/2006">
              <mc:Choice xmlns:v="urn:schemas-microsoft-com:vml" Requires="v">
                <p:oleObj spid="_x0000_s130352" r:id="rId7" imgW="253780" imgH="203024" progId="Equation.3">
                  <p:embed/>
                </p:oleObj>
              </mc:Choice>
              <mc:Fallback>
                <p:oleObj r:id="rId7" imgW="253780" imgH="203024" progId="Equation.3">
                  <p:embed/>
                  <p:pic>
                    <p:nvPicPr>
                      <p:cNvPr id="0" name=""/>
                      <p:cNvPicPr>
                        <a:picLocks noGrp="1"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14138" y="2443033"/>
                        <a:ext cx="458788" cy="354012"/>
                      </a:xfrm>
                      <a:prstGeom prst="rect">
                        <a:avLst/>
                      </a:prstGeom>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11" name="Group 53">
            <a:extLst>
              <a:ext uri="{FF2B5EF4-FFF2-40B4-BE49-F238E27FC236}">
                <a16:creationId xmlns:a16="http://schemas.microsoft.com/office/drawing/2014/main" xmlns="" id="{DDDAB16B-4BAF-C3B5-7D39-A656C739A12B}"/>
              </a:ext>
            </a:extLst>
          </p:cNvPr>
          <p:cNvGrpSpPr>
            <a:grpSpLocks/>
          </p:cNvGrpSpPr>
          <p:nvPr/>
        </p:nvGrpSpPr>
        <p:grpSpPr bwMode="auto">
          <a:xfrm>
            <a:off x="364538" y="2319208"/>
            <a:ext cx="3109913" cy="2436812"/>
            <a:chOff x="1451" y="2447"/>
            <a:chExt cx="1959" cy="1535"/>
          </a:xfrm>
        </p:grpSpPr>
        <p:pic>
          <p:nvPicPr>
            <p:cNvPr id="12" name="Picture 54">
              <a:extLst>
                <a:ext uri="{FF2B5EF4-FFF2-40B4-BE49-F238E27FC236}">
                  <a16:creationId xmlns:a16="http://schemas.microsoft.com/office/drawing/2014/main" xmlns="" id="{A123CC8B-E8C3-4EC7-9323-412AA7321DDD}"/>
                </a:ext>
              </a:extLst>
            </p:cNvPr>
            <p:cNvPicPr>
              <a:picLocks noChangeAspect="1" noChangeArrowheads="1"/>
            </p:cNvPicPr>
            <p:nvPr/>
          </p:nvPicPr>
          <p:blipFill>
            <a:blip r:embed="rId9">
              <a:clrChange>
                <a:clrFrom>
                  <a:srgbClr val="FEFEFE"/>
                </a:clrFrom>
                <a:clrTo>
                  <a:srgbClr val="FEFEFE">
                    <a:alpha val="0"/>
                  </a:srgbClr>
                </a:clrTo>
              </a:clrChange>
              <a:extLst>
                <a:ext uri="{28A0092B-C50C-407E-A947-70E740481C1C}">
                  <a14:useLocalDpi xmlns:a14="http://schemas.microsoft.com/office/drawing/2010/main" val="0"/>
                </a:ext>
              </a:extLst>
            </a:blip>
            <a:srcRect/>
            <a:stretch>
              <a:fillRect/>
            </a:stretch>
          </p:blipFill>
          <p:spPr bwMode="auto">
            <a:xfrm>
              <a:off x="1451" y="2447"/>
              <a:ext cx="1959" cy="15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3" name="Object 55">
              <a:extLst>
                <a:ext uri="{FF2B5EF4-FFF2-40B4-BE49-F238E27FC236}">
                  <a16:creationId xmlns:a16="http://schemas.microsoft.com/office/drawing/2014/main" xmlns="" id="{1DD29B62-BF42-4D32-D871-A5938787F707}"/>
                </a:ext>
              </a:extLst>
            </p:cNvPr>
            <p:cNvGraphicFramePr>
              <a:graphicFrameLocks noChangeAspect="1"/>
            </p:cNvGraphicFramePr>
            <p:nvPr/>
          </p:nvGraphicFramePr>
          <p:xfrm>
            <a:off x="1648" y="2571"/>
            <a:ext cx="224" cy="304"/>
          </p:xfrm>
          <a:graphic>
            <a:graphicData uri="http://schemas.openxmlformats.org/presentationml/2006/ole">
              <mc:AlternateContent xmlns:mc="http://schemas.openxmlformats.org/markup-compatibility/2006">
                <mc:Choice xmlns:v="urn:schemas-microsoft-com:vml" Requires="v">
                  <p:oleObj spid="_x0000_s130353" r:id="rId10" imgW="177646" imgH="241091" progId="Equation.DSMT4">
                    <p:embed/>
                  </p:oleObj>
                </mc:Choice>
                <mc:Fallback>
                  <p:oleObj r:id="rId10" imgW="177646" imgH="241091"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648" y="2571"/>
                          <a:ext cx="224"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4" name="Object 56">
              <a:extLst>
                <a:ext uri="{FF2B5EF4-FFF2-40B4-BE49-F238E27FC236}">
                  <a16:creationId xmlns:a16="http://schemas.microsoft.com/office/drawing/2014/main" xmlns="" id="{4067275C-09C2-62BA-BC97-23F3A650F3E7}"/>
                </a:ext>
              </a:extLst>
            </p:cNvPr>
            <p:cNvGraphicFramePr>
              <a:graphicFrameLocks noChangeAspect="1"/>
            </p:cNvGraphicFramePr>
            <p:nvPr/>
          </p:nvGraphicFramePr>
          <p:xfrm>
            <a:off x="1648" y="3403"/>
            <a:ext cx="256" cy="304"/>
          </p:xfrm>
          <a:graphic>
            <a:graphicData uri="http://schemas.openxmlformats.org/presentationml/2006/ole">
              <mc:AlternateContent xmlns:mc="http://schemas.openxmlformats.org/markup-compatibility/2006">
                <mc:Choice xmlns:v="urn:schemas-microsoft-com:vml" Requires="v">
                  <p:oleObj spid="_x0000_s130354" r:id="rId12" imgW="203112" imgH="241195" progId="Equation.DSMT4">
                    <p:embed/>
                  </p:oleObj>
                </mc:Choice>
                <mc:Fallback>
                  <p:oleObj r:id="rId12" imgW="203112" imgH="241195" progId="Equation.DSMT4">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648" y="3403"/>
                          <a:ext cx="256"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5" name="Object 57">
              <a:extLst>
                <a:ext uri="{FF2B5EF4-FFF2-40B4-BE49-F238E27FC236}">
                  <a16:creationId xmlns:a16="http://schemas.microsoft.com/office/drawing/2014/main" xmlns="" id="{99EA93C5-71CB-5DAA-137B-3E50B954C860}"/>
                </a:ext>
              </a:extLst>
            </p:cNvPr>
            <p:cNvGraphicFramePr>
              <a:graphicFrameLocks noChangeAspect="1"/>
            </p:cNvGraphicFramePr>
            <p:nvPr/>
          </p:nvGraphicFramePr>
          <p:xfrm>
            <a:off x="2912" y="2555"/>
            <a:ext cx="256" cy="304"/>
          </p:xfrm>
          <a:graphic>
            <a:graphicData uri="http://schemas.openxmlformats.org/presentationml/2006/ole">
              <mc:AlternateContent xmlns:mc="http://schemas.openxmlformats.org/markup-compatibility/2006">
                <mc:Choice xmlns:v="urn:schemas-microsoft-com:vml" Requires="v">
                  <p:oleObj spid="_x0000_s130355" r:id="rId14" imgW="203112" imgH="241195" progId="Equation.DSMT4">
                    <p:embed/>
                  </p:oleObj>
                </mc:Choice>
                <mc:Fallback>
                  <p:oleObj r:id="rId14" imgW="203112" imgH="241195" progId="Equation.DSMT4">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912" y="2555"/>
                          <a:ext cx="256"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
        <p:nvSpPr>
          <p:cNvPr id="16" name="Line 26">
            <a:extLst>
              <a:ext uri="{FF2B5EF4-FFF2-40B4-BE49-F238E27FC236}">
                <a16:creationId xmlns:a16="http://schemas.microsoft.com/office/drawing/2014/main" xmlns="" id="{1AC03A38-6B5E-A164-2149-BAA14C9CD659}"/>
              </a:ext>
            </a:extLst>
          </p:cNvPr>
          <p:cNvSpPr>
            <a:spLocks noChangeShapeType="1"/>
          </p:cNvSpPr>
          <p:nvPr/>
        </p:nvSpPr>
        <p:spPr bwMode="auto">
          <a:xfrm flipH="1">
            <a:off x="3155363" y="2649408"/>
            <a:ext cx="342900" cy="215900"/>
          </a:xfrm>
          <a:prstGeom prst="line">
            <a:avLst/>
          </a:prstGeom>
          <a:noFill/>
          <a:ln w="25400">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000">
              <a:latin typeface="+mn-ea"/>
              <a:ea typeface="+mn-ea"/>
            </a:endParaRPr>
          </a:p>
        </p:txBody>
      </p:sp>
      <p:sp>
        <p:nvSpPr>
          <p:cNvPr id="17" name="Rectangle 51">
            <a:extLst>
              <a:ext uri="{FF2B5EF4-FFF2-40B4-BE49-F238E27FC236}">
                <a16:creationId xmlns:a16="http://schemas.microsoft.com/office/drawing/2014/main" xmlns="" id="{8CC051F9-E674-35B3-9775-E775ADD0073F}"/>
              </a:ext>
            </a:extLst>
          </p:cNvPr>
          <p:cNvSpPr>
            <a:spLocks noChangeArrowheads="1"/>
          </p:cNvSpPr>
          <p:nvPr/>
        </p:nvSpPr>
        <p:spPr bwMode="auto">
          <a:xfrm>
            <a:off x="4084644" y="3245111"/>
            <a:ext cx="319087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fontAlgn="t">
              <a:spcBef>
                <a:spcPct val="50000"/>
              </a:spcBef>
            </a:pPr>
            <a:r>
              <a:rPr lang="zh-CN" altLang="en-US" sz="2000" b="1" dirty="0">
                <a:solidFill>
                  <a:srgbClr val="FF0000"/>
                </a:solidFill>
                <a:latin typeface="+mn-ea"/>
                <a:ea typeface="+mn-ea"/>
              </a:rPr>
              <a:t>相位平衡的稳定条件：</a:t>
            </a:r>
            <a:endParaRPr lang="zh-CN" altLang="en-US" sz="2000" b="1" dirty="0">
              <a:solidFill>
                <a:srgbClr val="000000"/>
              </a:solidFill>
              <a:latin typeface="+mn-ea"/>
              <a:ea typeface="+mn-ea"/>
            </a:endParaRPr>
          </a:p>
        </p:txBody>
      </p:sp>
      <p:graphicFrame>
        <p:nvGraphicFramePr>
          <p:cNvPr id="18" name="Object 55">
            <a:extLst>
              <a:ext uri="{FF2B5EF4-FFF2-40B4-BE49-F238E27FC236}">
                <a16:creationId xmlns:a16="http://schemas.microsoft.com/office/drawing/2014/main" xmlns="" id="{AB8E1542-3556-12A7-9A6C-8795064EB4DB}"/>
              </a:ext>
            </a:extLst>
          </p:cNvPr>
          <p:cNvGraphicFramePr>
            <a:graphicFrameLocks noChangeAspect="1"/>
          </p:cNvGraphicFramePr>
          <p:nvPr>
            <p:extLst>
              <p:ext uri="{D42A27DB-BD31-4B8C-83A1-F6EECF244321}">
                <p14:modId xmlns:p14="http://schemas.microsoft.com/office/powerpoint/2010/main" val="345966439"/>
              </p:ext>
            </p:extLst>
          </p:nvPr>
        </p:nvGraphicFramePr>
        <p:xfrm>
          <a:off x="6580086" y="3008047"/>
          <a:ext cx="1098550" cy="750888"/>
        </p:xfrm>
        <a:graphic>
          <a:graphicData uri="http://schemas.openxmlformats.org/presentationml/2006/ole">
            <mc:AlternateContent xmlns:mc="http://schemas.openxmlformats.org/markup-compatibility/2006">
              <mc:Choice xmlns:v="urn:schemas-microsoft-com:vml" Requires="v">
                <p:oleObj spid="_x0000_s130356" r:id="rId16" imgW="520474" imgH="406224" progId="Equation.3">
                  <p:embed/>
                </p:oleObj>
              </mc:Choice>
              <mc:Fallback>
                <p:oleObj r:id="rId16" imgW="520474" imgH="406224" progId="Equation.3">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580086" y="3008047"/>
                        <a:ext cx="1098550" cy="750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9" name="Object 57">
            <a:extLst>
              <a:ext uri="{FF2B5EF4-FFF2-40B4-BE49-F238E27FC236}">
                <a16:creationId xmlns:a16="http://schemas.microsoft.com/office/drawing/2014/main" xmlns="" id="{F617E741-25E2-7CC6-41E4-D0E1BF27A5FB}"/>
              </a:ext>
            </a:extLst>
          </p:cNvPr>
          <p:cNvGraphicFramePr>
            <a:graphicFrameLocks noChangeAspect="1"/>
          </p:cNvGraphicFramePr>
          <p:nvPr>
            <p:extLst>
              <p:ext uri="{D42A27DB-BD31-4B8C-83A1-F6EECF244321}">
                <p14:modId xmlns:p14="http://schemas.microsoft.com/office/powerpoint/2010/main" val="1394689199"/>
              </p:ext>
            </p:extLst>
          </p:nvPr>
        </p:nvGraphicFramePr>
        <p:xfrm>
          <a:off x="4830084" y="3725208"/>
          <a:ext cx="3814564" cy="469715"/>
        </p:xfrm>
        <a:graphic>
          <a:graphicData uri="http://schemas.openxmlformats.org/presentationml/2006/ole">
            <mc:AlternateContent xmlns:mc="http://schemas.openxmlformats.org/markup-compatibility/2006">
              <mc:Choice xmlns:v="urn:schemas-microsoft-com:vml" Requires="v">
                <p:oleObj spid="_x0000_s130357" r:id="rId18" imgW="1752600" imgH="215900" progId="Equation.3">
                  <p:embed/>
                </p:oleObj>
              </mc:Choice>
              <mc:Fallback>
                <p:oleObj r:id="rId18" imgW="1752600" imgH="215900" progId="Equation.3">
                  <p:embed/>
                  <p:pic>
                    <p:nvPicPr>
                      <p:cNvPr id="0" name=""/>
                      <p:cNvPicPr>
                        <a:picLocks noGrp="1"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830084" y="3725208"/>
                        <a:ext cx="3814564" cy="469715"/>
                      </a:xfrm>
                      <a:prstGeom prst="rect">
                        <a:avLst/>
                      </a:prstGeom>
                      <a:ln>
                        <a:noFill/>
                      </a:ln>
                      <a:extLst/>
                    </p:spPr>
                  </p:pic>
                </p:oleObj>
              </mc:Fallback>
            </mc:AlternateContent>
          </a:graphicData>
        </a:graphic>
      </p:graphicFrame>
      <p:graphicFrame>
        <p:nvGraphicFramePr>
          <p:cNvPr id="20" name="Object 58">
            <a:extLst>
              <a:ext uri="{FF2B5EF4-FFF2-40B4-BE49-F238E27FC236}">
                <a16:creationId xmlns:a16="http://schemas.microsoft.com/office/drawing/2014/main" xmlns="" id="{FBC1662D-0DB5-9282-1910-0EC858179BFB}"/>
              </a:ext>
            </a:extLst>
          </p:cNvPr>
          <p:cNvGraphicFramePr>
            <a:graphicFrameLocks noChangeAspect="1"/>
          </p:cNvGraphicFramePr>
          <p:nvPr>
            <p:extLst>
              <p:ext uri="{D42A27DB-BD31-4B8C-83A1-F6EECF244321}">
                <p14:modId xmlns:p14="http://schemas.microsoft.com/office/powerpoint/2010/main" val="989104251"/>
              </p:ext>
            </p:extLst>
          </p:nvPr>
        </p:nvGraphicFramePr>
        <p:xfrm>
          <a:off x="7786815" y="3033128"/>
          <a:ext cx="1116013" cy="687388"/>
        </p:xfrm>
        <a:graphic>
          <a:graphicData uri="http://schemas.openxmlformats.org/presentationml/2006/ole">
            <mc:AlternateContent xmlns:mc="http://schemas.openxmlformats.org/markup-compatibility/2006">
              <mc:Choice xmlns:v="urn:schemas-microsoft-com:vml" Requires="v">
                <p:oleObj spid="_x0000_s130358" r:id="rId20" imgW="660113" imgH="406224" progId="Equation.3">
                  <p:embed/>
                </p:oleObj>
              </mc:Choice>
              <mc:Fallback>
                <p:oleObj r:id="rId20" imgW="660113" imgH="406224" progId="Equation.3">
                  <p:embed/>
                  <p:pic>
                    <p:nvPicPr>
                      <p:cNvPr id="0" name=""/>
                      <p:cNvPicPr>
                        <a:picLocks noGrp="1"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7786815" y="3033128"/>
                        <a:ext cx="1116013" cy="687388"/>
                      </a:xfrm>
                      <a:prstGeom prst="rect">
                        <a:avLst/>
                      </a:prstGeom>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1" name="Object 59">
            <a:extLst>
              <a:ext uri="{FF2B5EF4-FFF2-40B4-BE49-F238E27FC236}">
                <a16:creationId xmlns:a16="http://schemas.microsoft.com/office/drawing/2014/main" xmlns="" id="{87A451E6-99F5-9A7A-57A2-2055A98D6BE9}"/>
              </a:ext>
            </a:extLst>
          </p:cNvPr>
          <p:cNvGraphicFramePr>
            <a:graphicFrameLocks noChangeAspect="1"/>
          </p:cNvGraphicFramePr>
          <p:nvPr>
            <p:extLst>
              <p:ext uri="{D42A27DB-BD31-4B8C-83A1-F6EECF244321}">
                <p14:modId xmlns:p14="http://schemas.microsoft.com/office/powerpoint/2010/main" val="1909422860"/>
              </p:ext>
            </p:extLst>
          </p:nvPr>
        </p:nvGraphicFramePr>
        <p:xfrm>
          <a:off x="1043456" y="4626220"/>
          <a:ext cx="7188849" cy="1061851"/>
        </p:xfrm>
        <a:graphic>
          <a:graphicData uri="http://schemas.openxmlformats.org/presentationml/2006/ole">
            <mc:AlternateContent xmlns:mc="http://schemas.openxmlformats.org/markup-compatibility/2006">
              <mc:Choice xmlns:v="urn:schemas-microsoft-com:vml" Requires="v">
                <p:oleObj spid="_x0000_s130359" r:id="rId22" imgW="4986020" imgH="736600" progId="Word.Document.8">
                  <p:embed/>
                </p:oleObj>
              </mc:Choice>
              <mc:Fallback>
                <p:oleObj r:id="rId22" imgW="4986020" imgH="736600" progId="Word.Document.8">
                  <p:embed/>
                  <p:pic>
                    <p:nvPicPr>
                      <p:cNvPr id="0" name=""/>
                      <p:cNvPicPr>
                        <a:picLocks noGrp="1"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1043456" y="4626220"/>
                        <a:ext cx="7188849" cy="1061851"/>
                      </a:xfrm>
                      <a:prstGeom prst="rect">
                        <a:avLst/>
                      </a:prstGeom>
                      <a:ln>
                        <a:noFill/>
                      </a:ln>
                    </p:spPr>
                  </p:pic>
                </p:oleObj>
              </mc:Fallback>
            </mc:AlternateContent>
          </a:graphicData>
        </a:graphic>
      </p:graphicFrame>
      <p:grpSp>
        <p:nvGrpSpPr>
          <p:cNvPr id="22" name="Group 22">
            <a:extLst>
              <a:ext uri="{FF2B5EF4-FFF2-40B4-BE49-F238E27FC236}">
                <a16:creationId xmlns:a16="http://schemas.microsoft.com/office/drawing/2014/main" xmlns="" id="{5574EBA8-BC28-B2E6-D52F-07DD9C57AECB}"/>
              </a:ext>
            </a:extLst>
          </p:cNvPr>
          <p:cNvGrpSpPr>
            <a:grpSpLocks/>
          </p:cNvGrpSpPr>
          <p:nvPr/>
        </p:nvGrpSpPr>
        <p:grpSpPr bwMode="auto">
          <a:xfrm>
            <a:off x="468322" y="5718790"/>
            <a:ext cx="4300537" cy="752475"/>
            <a:chOff x="455" y="2479"/>
            <a:chExt cx="2661" cy="426"/>
          </a:xfrm>
        </p:grpSpPr>
        <p:sp>
          <p:nvSpPr>
            <p:cNvPr id="23" name="Rectangle 23">
              <a:extLst>
                <a:ext uri="{FF2B5EF4-FFF2-40B4-BE49-F238E27FC236}">
                  <a16:creationId xmlns:a16="http://schemas.microsoft.com/office/drawing/2014/main" xmlns="" id="{FCADD04D-61F1-AD72-8455-2B59D71AFFB8}"/>
                </a:ext>
              </a:extLst>
            </p:cNvPr>
            <p:cNvSpPr>
              <a:spLocks noChangeArrowheads="1"/>
            </p:cNvSpPr>
            <p:nvPr/>
          </p:nvSpPr>
          <p:spPr bwMode="auto">
            <a:xfrm>
              <a:off x="455" y="2479"/>
              <a:ext cx="2660" cy="425"/>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4" name="Rectangle 24">
              <a:extLst>
                <a:ext uri="{FF2B5EF4-FFF2-40B4-BE49-F238E27FC236}">
                  <a16:creationId xmlns:a16="http://schemas.microsoft.com/office/drawing/2014/main" xmlns="" id="{3FC124E2-4E0F-72A0-D10D-1877FB1BCF91}"/>
                </a:ext>
              </a:extLst>
            </p:cNvPr>
            <p:cNvSpPr>
              <a:spLocks noChangeArrowheads="1"/>
            </p:cNvSpPr>
            <p:nvPr/>
          </p:nvSpPr>
          <p:spPr bwMode="auto">
            <a:xfrm>
              <a:off x="456" y="2480"/>
              <a:ext cx="2660" cy="425"/>
            </a:xfrm>
            <a:prstGeom prst="rect">
              <a:avLst/>
            </a:prstGeom>
            <a:gradFill rotWithShape="1">
              <a:gsLst>
                <a:gs pos="0">
                  <a:srgbClr val="FF99FF"/>
                </a:gs>
                <a:gs pos="50000">
                  <a:srgbClr val="FFFFFF"/>
                </a:gs>
                <a:gs pos="100000">
                  <a:srgbClr val="FF99FF"/>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5" name="Line 25">
              <a:extLst>
                <a:ext uri="{FF2B5EF4-FFF2-40B4-BE49-F238E27FC236}">
                  <a16:creationId xmlns:a16="http://schemas.microsoft.com/office/drawing/2014/main" xmlns="" id="{73366E4D-3CF1-CAE3-3A5D-485F178B3710}"/>
                </a:ext>
              </a:extLst>
            </p:cNvPr>
            <p:cNvSpPr>
              <a:spLocks noChangeShapeType="1"/>
            </p:cNvSpPr>
            <p:nvPr/>
          </p:nvSpPr>
          <p:spPr bwMode="auto">
            <a:xfrm>
              <a:off x="872" y="2706"/>
              <a:ext cx="1323"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 name="Line 26">
              <a:extLst>
                <a:ext uri="{FF2B5EF4-FFF2-40B4-BE49-F238E27FC236}">
                  <a16:creationId xmlns:a16="http://schemas.microsoft.com/office/drawing/2014/main" xmlns="" id="{38972FF1-518F-43A7-C52B-AB8CDEE8D001}"/>
                </a:ext>
              </a:extLst>
            </p:cNvPr>
            <p:cNvSpPr>
              <a:spLocks noChangeShapeType="1"/>
            </p:cNvSpPr>
            <p:nvPr/>
          </p:nvSpPr>
          <p:spPr bwMode="auto">
            <a:xfrm>
              <a:off x="2413" y="2706"/>
              <a:ext cx="368"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 name="Rectangle 27">
              <a:extLst>
                <a:ext uri="{FF2B5EF4-FFF2-40B4-BE49-F238E27FC236}">
                  <a16:creationId xmlns:a16="http://schemas.microsoft.com/office/drawing/2014/main" xmlns="" id="{E6978AD1-D471-13D9-E1D3-A3D3F3DD04BD}"/>
                </a:ext>
              </a:extLst>
            </p:cNvPr>
            <p:cNvSpPr>
              <a:spLocks noChangeArrowheads="1"/>
            </p:cNvSpPr>
            <p:nvPr/>
          </p:nvSpPr>
          <p:spPr bwMode="auto">
            <a:xfrm>
              <a:off x="2990" y="2604"/>
              <a:ext cx="79"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fontAlgn="t">
                <a:spcBef>
                  <a:spcPct val="50000"/>
                </a:spcBef>
              </a:pPr>
              <a:r>
                <a:rPr lang="en-US" altLang="zh-CN" sz="2000" b="1">
                  <a:solidFill>
                    <a:srgbClr val="000000"/>
                  </a:solidFill>
                  <a:latin typeface="Times New Roman" panose="02020603050405020304" pitchFamily="18" charset="0"/>
                </a:rPr>
                <a:t>0</a:t>
              </a:r>
              <a:endParaRPr lang="en-US" altLang="zh-CN" sz="2800" b="1">
                <a:solidFill>
                  <a:srgbClr val="000000"/>
                </a:solidFill>
                <a:latin typeface="Times New Roman" panose="02020603050405020304" pitchFamily="18" charset="0"/>
              </a:endParaRPr>
            </a:p>
          </p:txBody>
        </p:sp>
        <p:sp>
          <p:nvSpPr>
            <p:cNvPr id="28" name="Rectangle 28">
              <a:extLst>
                <a:ext uri="{FF2B5EF4-FFF2-40B4-BE49-F238E27FC236}">
                  <a16:creationId xmlns:a16="http://schemas.microsoft.com/office/drawing/2014/main" xmlns="" id="{10B4BA07-D0FA-E077-67F8-4B068D05D0AA}"/>
                </a:ext>
              </a:extLst>
            </p:cNvPr>
            <p:cNvSpPr>
              <a:spLocks noChangeArrowheads="1"/>
            </p:cNvSpPr>
            <p:nvPr/>
          </p:nvSpPr>
          <p:spPr bwMode="auto">
            <a:xfrm>
              <a:off x="2121" y="2500"/>
              <a:ext cx="52"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fontAlgn="t">
                <a:spcBef>
                  <a:spcPct val="50000"/>
                </a:spcBef>
              </a:pPr>
              <a:r>
                <a:rPr lang="en-US" altLang="zh-CN" sz="2000" b="1">
                  <a:solidFill>
                    <a:srgbClr val="000000"/>
                  </a:solidFill>
                  <a:latin typeface="Times New Roman" panose="02020603050405020304" pitchFamily="18" charset="0"/>
                </a:rPr>
                <a:t>)</a:t>
              </a:r>
              <a:endParaRPr lang="en-US" altLang="zh-CN" sz="2800" b="1">
                <a:solidFill>
                  <a:srgbClr val="000000"/>
                </a:solidFill>
                <a:latin typeface="Times New Roman" panose="02020603050405020304" pitchFamily="18" charset="0"/>
              </a:endParaRPr>
            </a:p>
          </p:txBody>
        </p:sp>
        <p:sp>
          <p:nvSpPr>
            <p:cNvPr id="29" name="Rectangle 29">
              <a:extLst>
                <a:ext uri="{FF2B5EF4-FFF2-40B4-BE49-F238E27FC236}">
                  <a16:creationId xmlns:a16="http://schemas.microsoft.com/office/drawing/2014/main" xmlns="" id="{B5259D78-1F05-36FE-E524-07BEECF48425}"/>
                </a:ext>
              </a:extLst>
            </p:cNvPr>
            <p:cNvSpPr>
              <a:spLocks noChangeArrowheads="1"/>
            </p:cNvSpPr>
            <p:nvPr/>
          </p:nvSpPr>
          <p:spPr bwMode="auto">
            <a:xfrm>
              <a:off x="990" y="2500"/>
              <a:ext cx="52"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fontAlgn="t">
                <a:spcBef>
                  <a:spcPct val="50000"/>
                </a:spcBef>
              </a:pPr>
              <a:r>
                <a:rPr lang="en-US" altLang="zh-CN" sz="2000" b="1">
                  <a:solidFill>
                    <a:srgbClr val="000000"/>
                  </a:solidFill>
                  <a:latin typeface="Times New Roman" panose="02020603050405020304" pitchFamily="18" charset="0"/>
                </a:rPr>
                <a:t>(</a:t>
              </a:r>
              <a:endParaRPr lang="en-US" altLang="zh-CN" sz="2800" b="1">
                <a:solidFill>
                  <a:srgbClr val="000000"/>
                </a:solidFill>
                <a:latin typeface="Times New Roman" panose="02020603050405020304" pitchFamily="18" charset="0"/>
              </a:endParaRPr>
            </a:p>
          </p:txBody>
        </p:sp>
        <p:sp>
          <p:nvSpPr>
            <p:cNvPr id="30" name="Rectangle 30">
              <a:extLst>
                <a:ext uri="{FF2B5EF4-FFF2-40B4-BE49-F238E27FC236}">
                  <a16:creationId xmlns:a16="http://schemas.microsoft.com/office/drawing/2014/main" xmlns="" id="{C1C3E6FB-85A5-2493-8461-29CAAA789D70}"/>
                </a:ext>
              </a:extLst>
            </p:cNvPr>
            <p:cNvSpPr>
              <a:spLocks noChangeArrowheads="1"/>
            </p:cNvSpPr>
            <p:nvPr/>
          </p:nvSpPr>
          <p:spPr bwMode="auto">
            <a:xfrm>
              <a:off x="2832" y="2590"/>
              <a:ext cx="87"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fontAlgn="t">
                <a:spcBef>
                  <a:spcPct val="50000"/>
                </a:spcBef>
              </a:pPr>
              <a:r>
                <a:rPr lang="en-US" altLang="zh-CN" sz="2000" b="1">
                  <a:solidFill>
                    <a:srgbClr val="000000"/>
                  </a:solidFill>
                  <a:latin typeface="Symbol" panose="05050102010706020507" pitchFamily="18" charset="2"/>
                </a:rPr>
                <a:t>&lt;</a:t>
              </a:r>
              <a:endParaRPr lang="en-US" altLang="zh-CN" sz="2800" b="1">
                <a:solidFill>
                  <a:srgbClr val="000000"/>
                </a:solidFill>
                <a:latin typeface="Times New Roman" panose="02020603050405020304" pitchFamily="18" charset="0"/>
              </a:endParaRPr>
            </a:p>
          </p:txBody>
        </p:sp>
        <p:sp>
          <p:nvSpPr>
            <p:cNvPr id="31" name="Rectangle 31">
              <a:extLst>
                <a:ext uri="{FF2B5EF4-FFF2-40B4-BE49-F238E27FC236}">
                  <a16:creationId xmlns:a16="http://schemas.microsoft.com/office/drawing/2014/main" xmlns="" id="{2B96F3EC-D2A5-5A3B-5FD1-791177BD9383}"/>
                </a:ext>
              </a:extLst>
            </p:cNvPr>
            <p:cNvSpPr>
              <a:spLocks noChangeArrowheads="1"/>
            </p:cNvSpPr>
            <p:nvPr/>
          </p:nvSpPr>
          <p:spPr bwMode="auto">
            <a:xfrm>
              <a:off x="2475" y="2712"/>
              <a:ext cx="77"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fontAlgn="t">
                <a:spcBef>
                  <a:spcPct val="50000"/>
                </a:spcBef>
              </a:pPr>
              <a:r>
                <a:rPr lang="en-US" altLang="zh-CN" sz="2000" b="1">
                  <a:solidFill>
                    <a:srgbClr val="000000"/>
                  </a:solidFill>
                  <a:latin typeface="Symbol" panose="05050102010706020507" pitchFamily="18" charset="2"/>
                </a:rPr>
                <a:t>¶</a:t>
              </a:r>
              <a:endParaRPr lang="en-US" altLang="zh-CN" sz="2800" b="1">
                <a:solidFill>
                  <a:srgbClr val="000000"/>
                </a:solidFill>
                <a:latin typeface="Times New Roman" panose="02020603050405020304" pitchFamily="18" charset="0"/>
              </a:endParaRPr>
            </a:p>
          </p:txBody>
        </p:sp>
        <p:sp>
          <p:nvSpPr>
            <p:cNvPr id="32" name="Rectangle 32">
              <a:extLst>
                <a:ext uri="{FF2B5EF4-FFF2-40B4-BE49-F238E27FC236}">
                  <a16:creationId xmlns:a16="http://schemas.microsoft.com/office/drawing/2014/main" xmlns="" id="{3C71DA91-BA7E-4057-E228-DEE8B8191018}"/>
                </a:ext>
              </a:extLst>
            </p:cNvPr>
            <p:cNvSpPr>
              <a:spLocks noChangeArrowheads="1"/>
            </p:cNvSpPr>
            <p:nvPr/>
          </p:nvSpPr>
          <p:spPr bwMode="auto">
            <a:xfrm>
              <a:off x="2426" y="2486"/>
              <a:ext cx="78"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fontAlgn="t">
                <a:spcBef>
                  <a:spcPct val="50000"/>
                </a:spcBef>
              </a:pPr>
              <a:r>
                <a:rPr lang="en-US" altLang="zh-CN" sz="2000" b="1">
                  <a:solidFill>
                    <a:srgbClr val="000000"/>
                  </a:solidFill>
                  <a:latin typeface="Symbol" panose="05050102010706020507" pitchFamily="18" charset="2"/>
                </a:rPr>
                <a:t>¶</a:t>
              </a:r>
              <a:endParaRPr lang="en-US" altLang="zh-CN" sz="2800" b="1">
                <a:solidFill>
                  <a:srgbClr val="000000"/>
                </a:solidFill>
                <a:latin typeface="Times New Roman" panose="02020603050405020304" pitchFamily="18" charset="0"/>
              </a:endParaRPr>
            </a:p>
          </p:txBody>
        </p:sp>
        <p:sp>
          <p:nvSpPr>
            <p:cNvPr id="33" name="Rectangle 33">
              <a:extLst>
                <a:ext uri="{FF2B5EF4-FFF2-40B4-BE49-F238E27FC236}">
                  <a16:creationId xmlns:a16="http://schemas.microsoft.com/office/drawing/2014/main" xmlns="" id="{A23B20E6-A597-2354-4AA0-851CC422A1BE}"/>
                </a:ext>
              </a:extLst>
            </p:cNvPr>
            <p:cNvSpPr>
              <a:spLocks noChangeArrowheads="1"/>
            </p:cNvSpPr>
            <p:nvPr/>
          </p:nvSpPr>
          <p:spPr bwMode="auto">
            <a:xfrm>
              <a:off x="2250" y="2590"/>
              <a:ext cx="8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fontAlgn="t">
                <a:spcBef>
                  <a:spcPct val="50000"/>
                </a:spcBef>
              </a:pPr>
              <a:r>
                <a:rPr lang="en-US" altLang="zh-CN" sz="2000" b="1" dirty="0">
                  <a:solidFill>
                    <a:srgbClr val="000000"/>
                  </a:solidFill>
                  <a:latin typeface="Symbol" panose="05050102010706020507" pitchFamily="18" charset="2"/>
                </a:rPr>
                <a:t>@</a:t>
              </a:r>
              <a:endParaRPr lang="en-US" altLang="zh-CN" sz="2800" b="1" dirty="0">
                <a:solidFill>
                  <a:srgbClr val="000000"/>
                </a:solidFill>
                <a:latin typeface="Times New Roman" panose="02020603050405020304" pitchFamily="18" charset="0"/>
              </a:endParaRPr>
            </a:p>
          </p:txBody>
        </p:sp>
        <p:sp>
          <p:nvSpPr>
            <p:cNvPr id="34" name="Rectangle 34">
              <a:extLst>
                <a:ext uri="{FF2B5EF4-FFF2-40B4-BE49-F238E27FC236}">
                  <a16:creationId xmlns:a16="http://schemas.microsoft.com/office/drawing/2014/main" xmlns="" id="{818B082B-5E92-EDAD-C341-5DCEF36365C6}"/>
                </a:ext>
              </a:extLst>
            </p:cNvPr>
            <p:cNvSpPr>
              <a:spLocks noChangeArrowheads="1"/>
            </p:cNvSpPr>
            <p:nvPr/>
          </p:nvSpPr>
          <p:spPr bwMode="auto">
            <a:xfrm>
              <a:off x="1411" y="2712"/>
              <a:ext cx="77"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fontAlgn="t">
                <a:spcBef>
                  <a:spcPct val="50000"/>
                </a:spcBef>
              </a:pPr>
              <a:r>
                <a:rPr lang="en-US" altLang="zh-CN" sz="2000" b="1">
                  <a:solidFill>
                    <a:srgbClr val="000000"/>
                  </a:solidFill>
                  <a:latin typeface="Symbol" panose="05050102010706020507" pitchFamily="18" charset="2"/>
                </a:rPr>
                <a:t>¶</a:t>
              </a:r>
              <a:endParaRPr lang="en-US" altLang="zh-CN" sz="2800" b="1">
                <a:solidFill>
                  <a:srgbClr val="000000"/>
                </a:solidFill>
                <a:latin typeface="Times New Roman" panose="02020603050405020304" pitchFamily="18" charset="0"/>
              </a:endParaRPr>
            </a:p>
          </p:txBody>
        </p:sp>
        <p:sp>
          <p:nvSpPr>
            <p:cNvPr id="35" name="Rectangle 35">
              <a:extLst>
                <a:ext uri="{FF2B5EF4-FFF2-40B4-BE49-F238E27FC236}">
                  <a16:creationId xmlns:a16="http://schemas.microsoft.com/office/drawing/2014/main" xmlns="" id="{DD24E9A6-4903-5A93-D227-1F6A6AF87414}"/>
                </a:ext>
              </a:extLst>
            </p:cNvPr>
            <p:cNvSpPr>
              <a:spLocks noChangeArrowheads="1"/>
            </p:cNvSpPr>
            <p:nvPr/>
          </p:nvSpPr>
          <p:spPr bwMode="auto">
            <a:xfrm>
              <a:off x="1731" y="2486"/>
              <a:ext cx="8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fontAlgn="t">
                <a:spcBef>
                  <a:spcPct val="50000"/>
                </a:spcBef>
              </a:pPr>
              <a:r>
                <a:rPr lang="en-US" altLang="zh-CN" sz="2000" b="1">
                  <a:solidFill>
                    <a:srgbClr val="000000"/>
                  </a:solidFill>
                  <a:latin typeface="Symbol" panose="05050102010706020507" pitchFamily="18" charset="2"/>
                </a:rPr>
                <a:t>+</a:t>
              </a:r>
              <a:endParaRPr lang="en-US" altLang="zh-CN" sz="2800" b="1">
                <a:solidFill>
                  <a:srgbClr val="000000"/>
                </a:solidFill>
                <a:latin typeface="Times New Roman" panose="02020603050405020304" pitchFamily="18" charset="0"/>
              </a:endParaRPr>
            </a:p>
          </p:txBody>
        </p:sp>
        <p:sp>
          <p:nvSpPr>
            <p:cNvPr id="36" name="Rectangle 36">
              <a:extLst>
                <a:ext uri="{FF2B5EF4-FFF2-40B4-BE49-F238E27FC236}">
                  <a16:creationId xmlns:a16="http://schemas.microsoft.com/office/drawing/2014/main" xmlns="" id="{FC4DFDA1-1A5F-F872-1EB5-C2DE2B137C28}"/>
                </a:ext>
              </a:extLst>
            </p:cNvPr>
            <p:cNvSpPr>
              <a:spLocks noChangeArrowheads="1"/>
            </p:cNvSpPr>
            <p:nvPr/>
          </p:nvSpPr>
          <p:spPr bwMode="auto">
            <a:xfrm>
              <a:off x="1318" y="2486"/>
              <a:ext cx="87"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fontAlgn="t">
                <a:spcBef>
                  <a:spcPct val="50000"/>
                </a:spcBef>
              </a:pPr>
              <a:r>
                <a:rPr lang="en-US" altLang="zh-CN" sz="2000" b="1">
                  <a:solidFill>
                    <a:srgbClr val="000000"/>
                  </a:solidFill>
                  <a:latin typeface="Symbol" panose="05050102010706020507" pitchFamily="18" charset="2"/>
                </a:rPr>
                <a:t>+</a:t>
              </a:r>
              <a:endParaRPr lang="en-US" altLang="zh-CN" sz="2800" b="1">
                <a:solidFill>
                  <a:srgbClr val="000000"/>
                </a:solidFill>
                <a:latin typeface="Times New Roman" panose="02020603050405020304" pitchFamily="18" charset="0"/>
              </a:endParaRPr>
            </a:p>
          </p:txBody>
        </p:sp>
        <p:sp>
          <p:nvSpPr>
            <p:cNvPr id="37" name="Rectangle 37">
              <a:extLst>
                <a:ext uri="{FF2B5EF4-FFF2-40B4-BE49-F238E27FC236}">
                  <a16:creationId xmlns:a16="http://schemas.microsoft.com/office/drawing/2014/main" xmlns="" id="{201B4862-C95E-AEEB-D578-8EDB5191FB14}"/>
                </a:ext>
              </a:extLst>
            </p:cNvPr>
            <p:cNvSpPr>
              <a:spLocks noChangeArrowheads="1"/>
            </p:cNvSpPr>
            <p:nvPr/>
          </p:nvSpPr>
          <p:spPr bwMode="auto">
            <a:xfrm>
              <a:off x="885" y="2486"/>
              <a:ext cx="78"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fontAlgn="t">
                <a:spcBef>
                  <a:spcPct val="50000"/>
                </a:spcBef>
              </a:pPr>
              <a:r>
                <a:rPr lang="en-US" altLang="zh-CN" sz="2000" b="1">
                  <a:solidFill>
                    <a:srgbClr val="000000"/>
                  </a:solidFill>
                  <a:latin typeface="Symbol" panose="05050102010706020507" pitchFamily="18" charset="2"/>
                </a:rPr>
                <a:t>¶</a:t>
              </a:r>
              <a:endParaRPr lang="en-US" altLang="zh-CN" sz="2800" b="1">
                <a:solidFill>
                  <a:srgbClr val="000000"/>
                </a:solidFill>
                <a:latin typeface="Times New Roman" panose="02020603050405020304" pitchFamily="18" charset="0"/>
              </a:endParaRPr>
            </a:p>
          </p:txBody>
        </p:sp>
        <p:sp>
          <p:nvSpPr>
            <p:cNvPr id="38" name="Rectangle 38">
              <a:extLst>
                <a:ext uri="{FF2B5EF4-FFF2-40B4-BE49-F238E27FC236}">
                  <a16:creationId xmlns:a16="http://schemas.microsoft.com/office/drawing/2014/main" xmlns="" id="{DE4DD75E-2E81-724A-00F7-AE0948BBAD62}"/>
                </a:ext>
              </a:extLst>
            </p:cNvPr>
            <p:cNvSpPr>
              <a:spLocks noChangeArrowheads="1"/>
            </p:cNvSpPr>
            <p:nvPr/>
          </p:nvSpPr>
          <p:spPr bwMode="auto">
            <a:xfrm>
              <a:off x="461" y="2590"/>
              <a:ext cx="135"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fontAlgn="t">
                <a:spcBef>
                  <a:spcPct val="50000"/>
                </a:spcBef>
              </a:pPr>
              <a:r>
                <a:rPr lang="en-US" altLang="zh-CN" sz="2000" b="1">
                  <a:solidFill>
                    <a:srgbClr val="000000"/>
                  </a:solidFill>
                  <a:latin typeface="Symbol" panose="05050102010706020507" pitchFamily="18" charset="2"/>
                </a:rPr>
                <a:t>\</a:t>
              </a:r>
              <a:endParaRPr lang="en-US" altLang="zh-CN" sz="2800" b="1">
                <a:solidFill>
                  <a:srgbClr val="000000"/>
                </a:solidFill>
                <a:latin typeface="Times New Roman" panose="02020603050405020304" pitchFamily="18" charset="0"/>
              </a:endParaRPr>
            </a:p>
          </p:txBody>
        </p:sp>
        <p:sp>
          <p:nvSpPr>
            <p:cNvPr id="39" name="Rectangle 39">
              <a:extLst>
                <a:ext uri="{FF2B5EF4-FFF2-40B4-BE49-F238E27FC236}">
                  <a16:creationId xmlns:a16="http://schemas.microsoft.com/office/drawing/2014/main" xmlns="" id="{86B89EE0-34C2-9CD8-399E-3C444FC882E5}"/>
                </a:ext>
              </a:extLst>
            </p:cNvPr>
            <p:cNvSpPr>
              <a:spLocks noChangeArrowheads="1"/>
            </p:cNvSpPr>
            <p:nvPr/>
          </p:nvSpPr>
          <p:spPr bwMode="auto">
            <a:xfrm>
              <a:off x="2571" y="2712"/>
              <a:ext cx="108"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fontAlgn="t">
                <a:spcBef>
                  <a:spcPct val="50000"/>
                </a:spcBef>
              </a:pPr>
              <a:r>
                <a:rPr lang="en-US" altLang="zh-CN" sz="2000" b="1" i="1">
                  <a:solidFill>
                    <a:srgbClr val="000000"/>
                  </a:solidFill>
                  <a:latin typeface="Symbol" panose="05050102010706020507" pitchFamily="18" charset="2"/>
                </a:rPr>
                <a:t>w</a:t>
              </a:r>
              <a:endParaRPr lang="en-US" altLang="zh-CN" sz="2800" b="1">
                <a:solidFill>
                  <a:srgbClr val="000000"/>
                </a:solidFill>
                <a:latin typeface="Times New Roman" panose="02020603050405020304" pitchFamily="18" charset="0"/>
              </a:endParaRPr>
            </a:p>
          </p:txBody>
        </p:sp>
        <p:sp>
          <p:nvSpPr>
            <p:cNvPr id="40" name="Rectangle 40">
              <a:extLst>
                <a:ext uri="{FF2B5EF4-FFF2-40B4-BE49-F238E27FC236}">
                  <a16:creationId xmlns:a16="http://schemas.microsoft.com/office/drawing/2014/main" xmlns="" id="{8500944E-D466-A265-C580-B437B5931972}"/>
                </a:ext>
              </a:extLst>
            </p:cNvPr>
            <p:cNvSpPr>
              <a:spLocks noChangeArrowheads="1"/>
            </p:cNvSpPr>
            <p:nvPr/>
          </p:nvSpPr>
          <p:spPr bwMode="auto">
            <a:xfrm>
              <a:off x="2522" y="2486"/>
              <a:ext cx="95"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fontAlgn="t">
                <a:spcBef>
                  <a:spcPct val="50000"/>
                </a:spcBef>
              </a:pPr>
              <a:r>
                <a:rPr lang="en-US" altLang="zh-CN" sz="2000" b="1" i="1">
                  <a:solidFill>
                    <a:srgbClr val="000000"/>
                  </a:solidFill>
                  <a:latin typeface="Symbol" panose="05050102010706020507" pitchFamily="18" charset="2"/>
                </a:rPr>
                <a:t>j</a:t>
              </a:r>
              <a:endParaRPr lang="en-US" altLang="zh-CN" sz="2800" b="1">
                <a:solidFill>
                  <a:srgbClr val="000000"/>
                </a:solidFill>
                <a:latin typeface="Times New Roman" panose="02020603050405020304" pitchFamily="18" charset="0"/>
              </a:endParaRPr>
            </a:p>
          </p:txBody>
        </p:sp>
        <p:sp>
          <p:nvSpPr>
            <p:cNvPr id="41" name="Rectangle 41">
              <a:extLst>
                <a:ext uri="{FF2B5EF4-FFF2-40B4-BE49-F238E27FC236}">
                  <a16:creationId xmlns:a16="http://schemas.microsoft.com/office/drawing/2014/main" xmlns="" id="{E5D9E00F-CBDB-46E5-F05D-EAC6979BC194}"/>
                </a:ext>
              </a:extLst>
            </p:cNvPr>
            <p:cNvSpPr>
              <a:spLocks noChangeArrowheads="1"/>
            </p:cNvSpPr>
            <p:nvPr/>
          </p:nvSpPr>
          <p:spPr bwMode="auto">
            <a:xfrm>
              <a:off x="1508" y="2712"/>
              <a:ext cx="108"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fontAlgn="t">
                <a:spcBef>
                  <a:spcPct val="50000"/>
                </a:spcBef>
              </a:pPr>
              <a:r>
                <a:rPr lang="en-US" altLang="zh-CN" sz="2000" b="1" i="1">
                  <a:solidFill>
                    <a:srgbClr val="000000"/>
                  </a:solidFill>
                  <a:latin typeface="Symbol" panose="05050102010706020507" pitchFamily="18" charset="2"/>
                </a:rPr>
                <a:t>w</a:t>
              </a:r>
              <a:endParaRPr lang="en-US" altLang="zh-CN" sz="2800" b="1">
                <a:solidFill>
                  <a:srgbClr val="000000"/>
                </a:solidFill>
                <a:latin typeface="Times New Roman" panose="02020603050405020304" pitchFamily="18" charset="0"/>
              </a:endParaRPr>
            </a:p>
          </p:txBody>
        </p:sp>
        <p:sp>
          <p:nvSpPr>
            <p:cNvPr id="42" name="Rectangle 42">
              <a:extLst>
                <a:ext uri="{FF2B5EF4-FFF2-40B4-BE49-F238E27FC236}">
                  <a16:creationId xmlns:a16="http://schemas.microsoft.com/office/drawing/2014/main" xmlns="" id="{CD58A23B-AEF5-FBF1-728D-540B7E577BEE}"/>
                </a:ext>
              </a:extLst>
            </p:cNvPr>
            <p:cNvSpPr>
              <a:spLocks noChangeArrowheads="1"/>
            </p:cNvSpPr>
            <p:nvPr/>
          </p:nvSpPr>
          <p:spPr bwMode="auto">
            <a:xfrm>
              <a:off x="1865" y="2486"/>
              <a:ext cx="95"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fontAlgn="t">
                <a:spcBef>
                  <a:spcPct val="50000"/>
                </a:spcBef>
              </a:pPr>
              <a:r>
                <a:rPr lang="en-US" altLang="zh-CN" sz="2000" b="1" i="1">
                  <a:solidFill>
                    <a:srgbClr val="000000"/>
                  </a:solidFill>
                  <a:latin typeface="Symbol" panose="05050102010706020507" pitchFamily="18" charset="2"/>
                </a:rPr>
                <a:t>j</a:t>
              </a:r>
              <a:endParaRPr lang="en-US" altLang="zh-CN" sz="2800" b="1">
                <a:solidFill>
                  <a:srgbClr val="000000"/>
                </a:solidFill>
                <a:latin typeface="Times New Roman" panose="02020603050405020304" pitchFamily="18" charset="0"/>
              </a:endParaRPr>
            </a:p>
          </p:txBody>
        </p:sp>
        <p:sp>
          <p:nvSpPr>
            <p:cNvPr id="43" name="Rectangle 43">
              <a:extLst>
                <a:ext uri="{FF2B5EF4-FFF2-40B4-BE49-F238E27FC236}">
                  <a16:creationId xmlns:a16="http://schemas.microsoft.com/office/drawing/2014/main" xmlns="" id="{E5E36539-CF3B-299C-F993-E2CEDDC864C0}"/>
                </a:ext>
              </a:extLst>
            </p:cNvPr>
            <p:cNvSpPr>
              <a:spLocks noChangeArrowheads="1"/>
            </p:cNvSpPr>
            <p:nvPr/>
          </p:nvSpPr>
          <p:spPr bwMode="auto">
            <a:xfrm>
              <a:off x="1452" y="2486"/>
              <a:ext cx="95"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fontAlgn="t">
                <a:spcBef>
                  <a:spcPct val="50000"/>
                </a:spcBef>
              </a:pPr>
              <a:r>
                <a:rPr lang="en-US" altLang="zh-CN" sz="2000" b="1" i="1">
                  <a:solidFill>
                    <a:srgbClr val="000000"/>
                  </a:solidFill>
                  <a:latin typeface="Symbol" panose="05050102010706020507" pitchFamily="18" charset="2"/>
                </a:rPr>
                <a:t>j</a:t>
              </a:r>
              <a:endParaRPr lang="en-US" altLang="zh-CN" sz="2800" b="1">
                <a:solidFill>
                  <a:srgbClr val="000000"/>
                </a:solidFill>
                <a:latin typeface="Times New Roman" panose="02020603050405020304" pitchFamily="18" charset="0"/>
              </a:endParaRPr>
            </a:p>
          </p:txBody>
        </p:sp>
        <p:sp>
          <p:nvSpPr>
            <p:cNvPr id="44" name="Rectangle 44">
              <a:extLst>
                <a:ext uri="{FF2B5EF4-FFF2-40B4-BE49-F238E27FC236}">
                  <a16:creationId xmlns:a16="http://schemas.microsoft.com/office/drawing/2014/main" xmlns="" id="{66C16BCC-9E03-D311-1031-A2C4574C62A8}"/>
                </a:ext>
              </a:extLst>
            </p:cNvPr>
            <p:cNvSpPr>
              <a:spLocks noChangeArrowheads="1"/>
            </p:cNvSpPr>
            <p:nvPr/>
          </p:nvSpPr>
          <p:spPr bwMode="auto">
            <a:xfrm>
              <a:off x="1047" y="2486"/>
              <a:ext cx="9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fontAlgn="t">
                <a:spcBef>
                  <a:spcPct val="50000"/>
                </a:spcBef>
              </a:pPr>
              <a:r>
                <a:rPr lang="en-US" altLang="zh-CN" sz="2000" b="1" i="1">
                  <a:solidFill>
                    <a:srgbClr val="000000"/>
                  </a:solidFill>
                  <a:latin typeface="Symbol" panose="05050102010706020507" pitchFamily="18" charset="2"/>
                </a:rPr>
                <a:t>j</a:t>
              </a:r>
              <a:endParaRPr lang="en-US" altLang="zh-CN" sz="2800" b="1">
                <a:solidFill>
                  <a:srgbClr val="000000"/>
                </a:solidFill>
                <a:latin typeface="Times New Roman" panose="02020603050405020304" pitchFamily="18" charset="0"/>
              </a:endParaRPr>
            </a:p>
          </p:txBody>
        </p:sp>
        <p:sp>
          <p:nvSpPr>
            <p:cNvPr id="45" name="Rectangle 45">
              <a:extLst>
                <a:ext uri="{FF2B5EF4-FFF2-40B4-BE49-F238E27FC236}">
                  <a16:creationId xmlns:a16="http://schemas.microsoft.com/office/drawing/2014/main" xmlns="" id="{68FAC090-385E-9868-FF8D-2166BAE716B6}"/>
                </a:ext>
              </a:extLst>
            </p:cNvPr>
            <p:cNvSpPr>
              <a:spLocks noChangeArrowheads="1"/>
            </p:cNvSpPr>
            <p:nvPr/>
          </p:nvSpPr>
          <p:spPr bwMode="auto">
            <a:xfrm>
              <a:off x="2662" y="2598"/>
              <a:ext cx="58" cy="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fontAlgn="t">
                <a:spcBef>
                  <a:spcPct val="50000"/>
                </a:spcBef>
              </a:pPr>
              <a:r>
                <a:rPr lang="en-US" altLang="zh-CN" sz="1200" b="1" i="1">
                  <a:solidFill>
                    <a:srgbClr val="000000"/>
                  </a:solidFill>
                  <a:latin typeface="Times New Roman" panose="02020603050405020304" pitchFamily="18" charset="0"/>
                </a:rPr>
                <a:t>Z</a:t>
              </a:r>
              <a:endParaRPr lang="en-US" altLang="zh-CN" sz="2800" b="1">
                <a:solidFill>
                  <a:srgbClr val="000000"/>
                </a:solidFill>
                <a:latin typeface="Times New Roman" panose="02020603050405020304" pitchFamily="18" charset="0"/>
              </a:endParaRPr>
            </a:p>
          </p:txBody>
        </p:sp>
        <p:sp>
          <p:nvSpPr>
            <p:cNvPr id="46" name="Rectangle 46">
              <a:extLst>
                <a:ext uri="{FF2B5EF4-FFF2-40B4-BE49-F238E27FC236}">
                  <a16:creationId xmlns:a16="http://schemas.microsoft.com/office/drawing/2014/main" xmlns="" id="{288EFD00-50D4-348B-AAE9-362BF1DF14F0}"/>
                </a:ext>
              </a:extLst>
            </p:cNvPr>
            <p:cNvSpPr>
              <a:spLocks noChangeArrowheads="1"/>
            </p:cNvSpPr>
            <p:nvPr/>
          </p:nvSpPr>
          <p:spPr bwMode="auto">
            <a:xfrm>
              <a:off x="2001" y="2598"/>
              <a:ext cx="63" cy="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fontAlgn="t">
                <a:spcBef>
                  <a:spcPct val="50000"/>
                </a:spcBef>
              </a:pPr>
              <a:r>
                <a:rPr lang="en-US" altLang="zh-CN" sz="1200" b="1" i="1" dirty="0">
                  <a:solidFill>
                    <a:srgbClr val="000000"/>
                  </a:solidFill>
                  <a:latin typeface="Times New Roman" panose="02020603050405020304" pitchFamily="18" charset="0"/>
                </a:rPr>
                <a:t>F</a:t>
              </a:r>
              <a:endParaRPr lang="en-US" altLang="zh-CN" sz="2800" b="1" dirty="0">
                <a:solidFill>
                  <a:srgbClr val="000000"/>
                </a:solidFill>
                <a:latin typeface="Times New Roman" panose="02020603050405020304" pitchFamily="18" charset="0"/>
              </a:endParaRPr>
            </a:p>
          </p:txBody>
        </p:sp>
        <p:sp>
          <p:nvSpPr>
            <p:cNvPr id="47" name="Rectangle 47">
              <a:extLst>
                <a:ext uri="{FF2B5EF4-FFF2-40B4-BE49-F238E27FC236}">
                  <a16:creationId xmlns:a16="http://schemas.microsoft.com/office/drawing/2014/main" xmlns="" id="{24AADD43-5545-E951-035E-5424CB4EB60F}"/>
                </a:ext>
              </a:extLst>
            </p:cNvPr>
            <p:cNvSpPr>
              <a:spLocks noChangeArrowheads="1"/>
            </p:cNvSpPr>
            <p:nvPr/>
          </p:nvSpPr>
          <p:spPr bwMode="auto">
            <a:xfrm>
              <a:off x="1591" y="2598"/>
              <a:ext cx="57" cy="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fontAlgn="t">
                <a:spcBef>
                  <a:spcPct val="50000"/>
                </a:spcBef>
              </a:pPr>
              <a:r>
                <a:rPr lang="en-US" altLang="zh-CN" sz="1200" b="1" i="1">
                  <a:solidFill>
                    <a:srgbClr val="000000"/>
                  </a:solidFill>
                  <a:latin typeface="Times New Roman" panose="02020603050405020304" pitchFamily="18" charset="0"/>
                </a:rPr>
                <a:t>Z</a:t>
              </a:r>
              <a:endParaRPr lang="en-US" altLang="zh-CN" sz="2800" b="1">
                <a:solidFill>
                  <a:srgbClr val="000000"/>
                </a:solidFill>
                <a:latin typeface="Times New Roman" panose="02020603050405020304" pitchFamily="18" charset="0"/>
              </a:endParaRPr>
            </a:p>
          </p:txBody>
        </p:sp>
        <p:sp>
          <p:nvSpPr>
            <p:cNvPr id="48" name="Rectangle 48">
              <a:extLst>
                <a:ext uri="{FF2B5EF4-FFF2-40B4-BE49-F238E27FC236}">
                  <a16:creationId xmlns:a16="http://schemas.microsoft.com/office/drawing/2014/main" xmlns="" id="{FD37797E-5F22-D626-6461-33A6E9A2F372}"/>
                </a:ext>
              </a:extLst>
            </p:cNvPr>
            <p:cNvSpPr>
              <a:spLocks noChangeArrowheads="1"/>
            </p:cNvSpPr>
            <p:nvPr/>
          </p:nvSpPr>
          <p:spPr bwMode="auto">
            <a:xfrm>
              <a:off x="1173" y="2598"/>
              <a:ext cx="58" cy="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fontAlgn="t">
                <a:spcBef>
                  <a:spcPct val="50000"/>
                </a:spcBef>
              </a:pPr>
              <a:r>
                <a:rPr lang="en-US" altLang="zh-CN" sz="1200" b="1" i="1">
                  <a:solidFill>
                    <a:srgbClr val="000000"/>
                  </a:solidFill>
                  <a:latin typeface="Times New Roman" panose="02020603050405020304" pitchFamily="18" charset="0"/>
                </a:rPr>
                <a:t>Y</a:t>
              </a:r>
              <a:endParaRPr lang="en-US" altLang="zh-CN" sz="2800" b="1">
                <a:solidFill>
                  <a:srgbClr val="000000"/>
                </a:solidFill>
                <a:latin typeface="Times New Roman" panose="02020603050405020304" pitchFamily="18" charset="0"/>
              </a:endParaRPr>
            </a:p>
          </p:txBody>
        </p:sp>
        <p:sp>
          <p:nvSpPr>
            <p:cNvPr id="49" name="Rectangle 49">
              <a:extLst>
                <a:ext uri="{FF2B5EF4-FFF2-40B4-BE49-F238E27FC236}">
                  <a16:creationId xmlns:a16="http://schemas.microsoft.com/office/drawing/2014/main" xmlns="" id="{63127F95-FBF9-141F-110C-C35A32673ACE}"/>
                </a:ext>
              </a:extLst>
            </p:cNvPr>
            <p:cNvSpPr>
              <a:spLocks noChangeArrowheads="1"/>
            </p:cNvSpPr>
            <p:nvPr/>
          </p:nvSpPr>
          <p:spPr bwMode="auto">
            <a:xfrm>
              <a:off x="649" y="2612"/>
              <a:ext cx="1"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fontAlgn="t">
                <a:spcBef>
                  <a:spcPct val="50000"/>
                </a:spcBef>
              </a:pPr>
              <a:endParaRPr lang="zh-CN" altLang="zh-CN" sz="2800" b="1">
                <a:solidFill>
                  <a:srgbClr val="000000"/>
                </a:solidFill>
                <a:latin typeface="Times New Roman" panose="02020603050405020304" pitchFamily="18" charset="0"/>
              </a:endParaRPr>
            </a:p>
          </p:txBody>
        </p:sp>
      </p:grpSp>
      <p:sp>
        <p:nvSpPr>
          <p:cNvPr id="50" name="Rectangle 53">
            <a:extLst>
              <a:ext uri="{FF2B5EF4-FFF2-40B4-BE49-F238E27FC236}">
                <a16:creationId xmlns:a16="http://schemas.microsoft.com/office/drawing/2014/main" xmlns="" id="{AF374634-265C-BE93-C7A2-0AA40C6ED803}"/>
              </a:ext>
            </a:extLst>
          </p:cNvPr>
          <p:cNvSpPr>
            <a:spLocks noChangeArrowheads="1"/>
          </p:cNvSpPr>
          <p:nvPr/>
        </p:nvSpPr>
        <p:spPr bwMode="auto">
          <a:xfrm>
            <a:off x="4999831" y="5822578"/>
            <a:ext cx="4303712"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fontAlgn="t">
              <a:spcBef>
                <a:spcPct val="50000"/>
              </a:spcBef>
            </a:pPr>
            <a:r>
              <a:rPr lang="zh-CN" altLang="en-US" sz="2000" b="1" dirty="0">
                <a:solidFill>
                  <a:srgbClr val="FF0000"/>
                </a:solidFill>
                <a:latin typeface="+mn-ea"/>
                <a:ea typeface="+mn-ea"/>
              </a:rPr>
              <a:t>即要求选频网络的相频特性曲线在工作频率附近应具有负斜率。</a:t>
            </a:r>
          </a:p>
        </p:txBody>
      </p:sp>
    </p:spTree>
    <p:extLst>
      <p:ext uri="{BB962C8B-B14F-4D97-AF65-F5344CB8AC3E}">
        <p14:creationId xmlns:p14="http://schemas.microsoft.com/office/powerpoint/2010/main" val="1887216673"/>
      </p:ext>
    </p:extLst>
  </p:cSld>
  <p:clrMapOvr>
    <a:masterClrMapping/>
  </p:clrMapOvr>
  <p:timing>
    <p:tnLst>
      <p:par>
        <p:cTn id="1" dur="indefinite" restart="never" nodeType="tmRoot"/>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168</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5.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正弦波</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振荡器</a:t>
            </a:r>
          </a:p>
        </p:txBody>
      </p:sp>
      <p:sp>
        <p:nvSpPr>
          <p:cNvPr id="48" name="Rectangle 3">
            <a:extLst>
              <a:ext uri="{FF2B5EF4-FFF2-40B4-BE49-F238E27FC236}">
                <a16:creationId xmlns:a16="http://schemas.microsoft.com/office/drawing/2014/main" xmlns="" id="{96BE8BE8-1399-24E2-BEA7-BF9AFFE347C3}"/>
              </a:ext>
            </a:extLst>
          </p:cNvPr>
          <p:cNvSpPr txBox="1">
            <a:spLocks noChangeArrowheads="1"/>
          </p:cNvSpPr>
          <p:nvPr/>
        </p:nvSpPr>
        <p:spPr>
          <a:xfrm>
            <a:off x="186994" y="1324960"/>
            <a:ext cx="4521200" cy="398463"/>
          </a:xfrm>
          <a:prstGeom prst="rect">
            <a:avLst/>
          </a:prstGeom>
        </p:spPr>
        <p:txBody>
          <a:bodyPr/>
          <a:lstStyle>
            <a:lvl1pPr marL="342900" indent="-342900" algn="l" rtl="0" eaLnBrk="0" fontAlgn="base" hangingPunct="0">
              <a:spcBef>
                <a:spcPct val="20000"/>
              </a:spcBef>
              <a:spcAft>
                <a:spcPct val="0"/>
              </a:spcAft>
              <a:buChar char="•"/>
              <a:defRPr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eaLnBrk="1" hangingPunct="1">
              <a:buFont typeface="Wingdings" panose="05000000000000000000" pitchFamily="2" charset="2"/>
              <a:buNone/>
            </a:pPr>
            <a:r>
              <a:rPr lang="en-US" altLang="zh-CN" sz="2000" b="1" kern="0" dirty="0">
                <a:latin typeface="Times New Roman" panose="02020603050405020304" pitchFamily="18" charset="0"/>
                <a:cs typeface="Times New Roman" panose="02020603050405020304" pitchFamily="18" charset="0"/>
              </a:rPr>
              <a:t>1)  </a:t>
            </a:r>
            <a:r>
              <a:rPr lang="zh-CN" altLang="en-US" sz="2000" b="1" kern="0" dirty="0">
                <a:latin typeface="Times New Roman" panose="02020603050405020304" pitchFamily="18" charset="0"/>
                <a:cs typeface="Times New Roman" panose="02020603050405020304" pitchFamily="18" charset="0"/>
              </a:rPr>
              <a:t>正弦振荡器工作条件包括</a:t>
            </a:r>
          </a:p>
        </p:txBody>
      </p:sp>
      <p:graphicFrame>
        <p:nvGraphicFramePr>
          <p:cNvPr id="49" name="Object 4">
            <a:extLst>
              <a:ext uri="{FF2B5EF4-FFF2-40B4-BE49-F238E27FC236}">
                <a16:creationId xmlns:a16="http://schemas.microsoft.com/office/drawing/2014/main" xmlns="" id="{7E08B06C-C221-DB34-C41B-F125E321326B}"/>
              </a:ext>
            </a:extLst>
          </p:cNvPr>
          <p:cNvGraphicFramePr>
            <a:graphicFrameLocks noChangeAspect="1"/>
          </p:cNvGraphicFramePr>
          <p:nvPr>
            <p:extLst>
              <p:ext uri="{D42A27DB-BD31-4B8C-83A1-F6EECF244321}">
                <p14:modId xmlns:p14="http://schemas.microsoft.com/office/powerpoint/2010/main" val="1426563115"/>
              </p:ext>
            </p:extLst>
          </p:nvPr>
        </p:nvGraphicFramePr>
        <p:xfrm>
          <a:off x="5417143" y="1644363"/>
          <a:ext cx="1457440" cy="588581"/>
        </p:xfrm>
        <a:graphic>
          <a:graphicData uri="http://schemas.openxmlformats.org/presentationml/2006/ole">
            <mc:AlternateContent xmlns:mc="http://schemas.openxmlformats.org/markup-compatibility/2006">
              <mc:Choice xmlns:v="urn:schemas-microsoft-com:vml" Requires="v">
                <p:oleObj spid="_x0000_s129150" r:id="rId3" imgW="1028160" imgH="393840" progId="Equation.3">
                  <p:embed/>
                </p:oleObj>
              </mc:Choice>
              <mc:Fallback>
                <p:oleObj r:id="rId3" imgW="1028160" imgH="393840" progId="Equation.3">
                  <p:embed/>
                  <p:pic>
                    <p:nvPicPr>
                      <p:cNvPr id="0" name=""/>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17143" y="1644363"/>
                        <a:ext cx="1457440" cy="588581"/>
                      </a:xfrm>
                      <a:prstGeom prst="rect">
                        <a:avLst/>
                      </a:prstGeom>
                      <a:ln>
                        <a:noFill/>
                      </a:ln>
                      <a:extLst/>
                    </p:spPr>
                  </p:pic>
                </p:oleObj>
              </mc:Fallback>
            </mc:AlternateContent>
          </a:graphicData>
        </a:graphic>
      </p:graphicFrame>
      <p:sp>
        <p:nvSpPr>
          <p:cNvPr id="50" name="Rectangle 5">
            <a:extLst>
              <a:ext uri="{FF2B5EF4-FFF2-40B4-BE49-F238E27FC236}">
                <a16:creationId xmlns:a16="http://schemas.microsoft.com/office/drawing/2014/main" xmlns="" id="{3DBE4FD9-49B6-FB35-B502-3B55E36A7397}"/>
              </a:ext>
            </a:extLst>
          </p:cNvPr>
          <p:cNvSpPr>
            <a:spLocks noChangeArrowheads="1"/>
          </p:cNvSpPr>
          <p:nvPr/>
        </p:nvSpPr>
        <p:spPr bwMode="auto">
          <a:xfrm>
            <a:off x="433665" y="1812340"/>
            <a:ext cx="213042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000" b="1" dirty="0">
                <a:solidFill>
                  <a:schemeClr val="tx1"/>
                </a:solidFill>
                <a:latin typeface="+mn-ea"/>
                <a:ea typeface="+mn-ea"/>
              </a:rPr>
              <a:t>起振条件： </a:t>
            </a:r>
          </a:p>
        </p:txBody>
      </p:sp>
      <p:sp>
        <p:nvSpPr>
          <p:cNvPr id="51" name="Rectangle 6">
            <a:extLst>
              <a:ext uri="{FF2B5EF4-FFF2-40B4-BE49-F238E27FC236}">
                <a16:creationId xmlns:a16="http://schemas.microsoft.com/office/drawing/2014/main" xmlns="" id="{ADA4D1A4-C84A-0B0E-72D7-D7BA7981ECD7}"/>
              </a:ext>
            </a:extLst>
          </p:cNvPr>
          <p:cNvSpPr>
            <a:spLocks noChangeArrowheads="1"/>
          </p:cNvSpPr>
          <p:nvPr/>
        </p:nvSpPr>
        <p:spPr bwMode="auto">
          <a:xfrm>
            <a:off x="433662" y="2198123"/>
            <a:ext cx="241617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000" b="1" dirty="0">
                <a:solidFill>
                  <a:schemeClr val="tx1"/>
                </a:solidFill>
                <a:latin typeface="+mn-ea"/>
                <a:ea typeface="+mn-ea"/>
              </a:rPr>
              <a:t>平衡条件：</a:t>
            </a:r>
          </a:p>
        </p:txBody>
      </p:sp>
      <p:sp>
        <p:nvSpPr>
          <p:cNvPr id="52" name="Rectangle 7">
            <a:extLst>
              <a:ext uri="{FF2B5EF4-FFF2-40B4-BE49-F238E27FC236}">
                <a16:creationId xmlns:a16="http://schemas.microsoft.com/office/drawing/2014/main" xmlns="" id="{45887124-DBB6-D2B4-0464-FE18A7D317FA}"/>
              </a:ext>
            </a:extLst>
          </p:cNvPr>
          <p:cNvSpPr>
            <a:spLocks noChangeArrowheads="1"/>
          </p:cNvSpPr>
          <p:nvPr/>
        </p:nvSpPr>
        <p:spPr bwMode="auto">
          <a:xfrm>
            <a:off x="433662" y="2574865"/>
            <a:ext cx="241617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000" b="1" dirty="0">
                <a:solidFill>
                  <a:schemeClr val="tx1"/>
                </a:solidFill>
                <a:latin typeface="+mn-ea"/>
                <a:ea typeface="+mn-ea"/>
              </a:rPr>
              <a:t>稳定条件：</a:t>
            </a:r>
          </a:p>
        </p:txBody>
      </p:sp>
      <p:graphicFrame>
        <p:nvGraphicFramePr>
          <p:cNvPr id="53" name="Object 9">
            <a:extLst>
              <a:ext uri="{FF2B5EF4-FFF2-40B4-BE49-F238E27FC236}">
                <a16:creationId xmlns:a16="http://schemas.microsoft.com/office/drawing/2014/main" xmlns="" id="{89C9D648-93C0-94E1-CE29-1B56EC93BA3C}"/>
              </a:ext>
            </a:extLst>
          </p:cNvPr>
          <p:cNvGraphicFramePr>
            <a:graphicFrameLocks noChangeAspect="1"/>
          </p:cNvGraphicFramePr>
          <p:nvPr>
            <p:extLst>
              <p:ext uri="{D42A27DB-BD31-4B8C-83A1-F6EECF244321}">
                <p14:modId xmlns:p14="http://schemas.microsoft.com/office/powerpoint/2010/main" val="2772955586"/>
              </p:ext>
            </p:extLst>
          </p:nvPr>
        </p:nvGraphicFramePr>
        <p:xfrm>
          <a:off x="7129960" y="2120291"/>
          <a:ext cx="1356325" cy="448538"/>
        </p:xfrm>
        <a:graphic>
          <a:graphicData uri="http://schemas.openxmlformats.org/presentationml/2006/ole">
            <mc:AlternateContent xmlns:mc="http://schemas.openxmlformats.org/markup-compatibility/2006">
              <mc:Choice xmlns:v="urn:schemas-microsoft-com:vml" Requires="v">
                <p:oleObj spid="_x0000_s129151" r:id="rId5" imgW="1002960" imgH="330120" progId="Equation.3">
                  <p:embed/>
                </p:oleObj>
              </mc:Choice>
              <mc:Fallback>
                <p:oleObj r:id="rId5" imgW="1002960" imgH="330120" progId="Equation.3">
                  <p:embed/>
                  <p:pic>
                    <p:nvPicPr>
                      <p:cNvPr id="0" name=""/>
                      <p:cNvPicPr>
                        <a:picLocks noGrp="1"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29960" y="2120291"/>
                        <a:ext cx="1356325" cy="448538"/>
                      </a:xfrm>
                      <a:prstGeom prst="rect">
                        <a:avLst/>
                      </a:prstGeom>
                      <a:ln>
                        <a:noFill/>
                      </a:ln>
                      <a:extLst/>
                    </p:spPr>
                  </p:pic>
                </p:oleObj>
              </mc:Fallback>
            </mc:AlternateContent>
          </a:graphicData>
        </a:graphic>
      </p:graphicFrame>
      <p:graphicFrame>
        <p:nvGraphicFramePr>
          <p:cNvPr id="54" name="Object 10">
            <a:extLst>
              <a:ext uri="{FF2B5EF4-FFF2-40B4-BE49-F238E27FC236}">
                <a16:creationId xmlns:a16="http://schemas.microsoft.com/office/drawing/2014/main" xmlns="" id="{DA463B4E-4FB4-2B44-FD00-970D45AE1777}"/>
              </a:ext>
            </a:extLst>
          </p:cNvPr>
          <p:cNvGraphicFramePr>
            <a:graphicFrameLocks noChangeAspect="1"/>
          </p:cNvGraphicFramePr>
          <p:nvPr>
            <p:extLst>
              <p:ext uri="{D42A27DB-BD31-4B8C-83A1-F6EECF244321}">
                <p14:modId xmlns:p14="http://schemas.microsoft.com/office/powerpoint/2010/main" val="57750332"/>
              </p:ext>
            </p:extLst>
          </p:nvPr>
        </p:nvGraphicFramePr>
        <p:xfrm>
          <a:off x="2216213" y="2937524"/>
          <a:ext cx="1651000" cy="939800"/>
        </p:xfrm>
        <a:graphic>
          <a:graphicData uri="http://schemas.openxmlformats.org/presentationml/2006/ole">
            <mc:AlternateContent xmlns:mc="http://schemas.openxmlformats.org/markup-compatibility/2006">
              <mc:Choice xmlns:v="urn:schemas-microsoft-com:vml" Requires="v">
                <p:oleObj spid="_x0000_s129152" r:id="rId7" imgW="914400" imgH="520700" progId="Equation.3">
                  <p:embed/>
                </p:oleObj>
              </mc:Choice>
              <mc:Fallback>
                <p:oleObj r:id="rId7" imgW="914400" imgH="5207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16213" y="2937524"/>
                        <a:ext cx="1651000" cy="93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5" name="Object 11">
            <a:extLst>
              <a:ext uri="{FF2B5EF4-FFF2-40B4-BE49-F238E27FC236}">
                <a16:creationId xmlns:a16="http://schemas.microsoft.com/office/drawing/2014/main" xmlns="" id="{A72ED7D3-DDEF-2277-41AE-1DAF96F74239}"/>
              </a:ext>
            </a:extLst>
          </p:cNvPr>
          <p:cNvGraphicFramePr>
            <a:graphicFrameLocks noChangeAspect="1"/>
          </p:cNvGraphicFramePr>
          <p:nvPr>
            <p:extLst>
              <p:ext uri="{D42A27DB-BD31-4B8C-83A1-F6EECF244321}">
                <p14:modId xmlns:p14="http://schemas.microsoft.com/office/powerpoint/2010/main" val="587992638"/>
              </p:ext>
            </p:extLst>
          </p:nvPr>
        </p:nvGraphicFramePr>
        <p:xfrm>
          <a:off x="5954757" y="3026264"/>
          <a:ext cx="1571795" cy="680667"/>
        </p:xfrm>
        <a:graphic>
          <a:graphicData uri="http://schemas.openxmlformats.org/presentationml/2006/ole">
            <mc:AlternateContent xmlns:mc="http://schemas.openxmlformats.org/markup-compatibility/2006">
              <mc:Choice xmlns:v="urn:schemas-microsoft-com:vml" Requires="v">
                <p:oleObj spid="_x0000_s129153" r:id="rId9" imgW="939392" imgH="406224" progId="Equation.3">
                  <p:embed/>
                </p:oleObj>
              </mc:Choice>
              <mc:Fallback>
                <p:oleObj r:id="rId9" imgW="939392" imgH="406224"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954757" y="3026264"/>
                        <a:ext cx="1571795" cy="680667"/>
                      </a:xfrm>
                      <a:prstGeom prst="rect">
                        <a:avLst/>
                      </a:prstGeom>
                      <a:noFill/>
                      <a:ln>
                        <a:noFill/>
                      </a:ln>
                      <a:extLst/>
                    </p:spPr>
                  </p:pic>
                </p:oleObj>
              </mc:Fallback>
            </mc:AlternateContent>
          </a:graphicData>
        </a:graphic>
      </p:graphicFrame>
      <p:sp>
        <p:nvSpPr>
          <p:cNvPr id="56" name="Rectangle 12">
            <a:extLst>
              <a:ext uri="{FF2B5EF4-FFF2-40B4-BE49-F238E27FC236}">
                <a16:creationId xmlns:a16="http://schemas.microsoft.com/office/drawing/2014/main" xmlns="" id="{2518D96E-5653-459C-F4DE-FA77BE1C0A92}"/>
              </a:ext>
            </a:extLst>
          </p:cNvPr>
          <p:cNvSpPr>
            <a:spLocks noChangeArrowheads="1"/>
          </p:cNvSpPr>
          <p:nvPr/>
        </p:nvSpPr>
        <p:spPr bwMode="auto">
          <a:xfrm>
            <a:off x="1641750" y="1835464"/>
            <a:ext cx="377539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fontAlgn="t">
              <a:spcBef>
                <a:spcPct val="50000"/>
              </a:spcBef>
            </a:pPr>
            <a:r>
              <a:rPr lang="zh-CN" altLang="en-US" sz="2000" b="1" dirty="0">
                <a:solidFill>
                  <a:schemeClr val="tx1"/>
                </a:solidFill>
                <a:latin typeface="+mn-ea"/>
                <a:ea typeface="+mn-ea"/>
              </a:rPr>
              <a:t>保证振荡器从无到有建立起振荡</a:t>
            </a:r>
          </a:p>
        </p:txBody>
      </p:sp>
      <p:sp>
        <p:nvSpPr>
          <p:cNvPr id="57" name="Rectangle 13">
            <a:extLst>
              <a:ext uri="{FF2B5EF4-FFF2-40B4-BE49-F238E27FC236}">
                <a16:creationId xmlns:a16="http://schemas.microsoft.com/office/drawing/2014/main" xmlns="" id="{4370D04A-2BE3-C712-73CA-FB341E588BB6}"/>
              </a:ext>
            </a:extLst>
          </p:cNvPr>
          <p:cNvSpPr>
            <a:spLocks noChangeArrowheads="1"/>
          </p:cNvSpPr>
          <p:nvPr/>
        </p:nvSpPr>
        <p:spPr bwMode="auto">
          <a:xfrm>
            <a:off x="1641749" y="2208340"/>
            <a:ext cx="557075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spcBef>
                <a:spcPct val="20000"/>
              </a:spcBef>
              <a:buClr>
                <a:schemeClr val="tx2"/>
              </a:buClr>
              <a:buSzPct val="70000"/>
              <a:buFont typeface="Wingdings" panose="05000000000000000000" pitchFamily="2" charset="2"/>
              <a:buNone/>
            </a:pPr>
            <a:r>
              <a:rPr lang="zh-CN" altLang="en-US" sz="2000" b="1" dirty="0">
                <a:solidFill>
                  <a:schemeClr val="tx1"/>
                </a:solidFill>
                <a:latin typeface="+mn-ea"/>
                <a:ea typeface="+mn-ea"/>
              </a:rPr>
              <a:t>保证振荡器进入平衡状态，产生持续的等幅振荡</a:t>
            </a:r>
          </a:p>
        </p:txBody>
      </p:sp>
      <p:sp>
        <p:nvSpPr>
          <p:cNvPr id="58" name="Rectangle 14">
            <a:extLst>
              <a:ext uri="{FF2B5EF4-FFF2-40B4-BE49-F238E27FC236}">
                <a16:creationId xmlns:a16="http://schemas.microsoft.com/office/drawing/2014/main" xmlns="" id="{D3205845-8B93-6B13-FA2C-3A6A835CD8F4}"/>
              </a:ext>
            </a:extLst>
          </p:cNvPr>
          <p:cNvSpPr>
            <a:spLocks noChangeArrowheads="1"/>
          </p:cNvSpPr>
          <p:nvPr/>
        </p:nvSpPr>
        <p:spPr bwMode="auto">
          <a:xfrm>
            <a:off x="1647099" y="2587414"/>
            <a:ext cx="612218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spcBef>
                <a:spcPct val="20000"/>
              </a:spcBef>
              <a:buClr>
                <a:schemeClr val="tx2"/>
              </a:buClr>
              <a:buSzPct val="70000"/>
              <a:buFont typeface="Wingdings" panose="05000000000000000000" pitchFamily="2" charset="2"/>
              <a:buNone/>
            </a:pPr>
            <a:r>
              <a:rPr lang="zh-CN" altLang="en-US" sz="2000" b="1" dirty="0">
                <a:solidFill>
                  <a:schemeClr val="tx1"/>
                </a:solidFill>
                <a:latin typeface="+mn-ea"/>
                <a:ea typeface="+mn-ea"/>
              </a:rPr>
              <a:t>保证平衡状态不因外界不稳定因素影响而受到破坏  </a:t>
            </a:r>
          </a:p>
        </p:txBody>
      </p:sp>
      <p:sp>
        <p:nvSpPr>
          <p:cNvPr id="59" name="Text Box 15">
            <a:extLst>
              <a:ext uri="{FF2B5EF4-FFF2-40B4-BE49-F238E27FC236}">
                <a16:creationId xmlns:a16="http://schemas.microsoft.com/office/drawing/2014/main" xmlns="" id="{A3C64847-F525-D161-A3A9-7FA4458CAD1D}"/>
              </a:ext>
            </a:extLst>
          </p:cNvPr>
          <p:cNvSpPr txBox="1">
            <a:spLocks noChangeArrowheads="1"/>
          </p:cNvSpPr>
          <p:nvPr/>
        </p:nvSpPr>
        <p:spPr bwMode="auto">
          <a:xfrm>
            <a:off x="498439" y="3172427"/>
            <a:ext cx="2159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t">
              <a:spcBef>
                <a:spcPct val="50000"/>
              </a:spcBef>
            </a:pPr>
            <a:r>
              <a:rPr lang="zh-CN" altLang="en-US" sz="2000" b="1" dirty="0">
                <a:solidFill>
                  <a:schemeClr val="tx1"/>
                </a:solidFill>
                <a:latin typeface="+mn-ea"/>
                <a:ea typeface="+mn-ea"/>
              </a:rPr>
              <a:t>振幅稳定条件</a:t>
            </a:r>
          </a:p>
        </p:txBody>
      </p:sp>
      <p:sp>
        <p:nvSpPr>
          <p:cNvPr id="60" name="Text Box 16">
            <a:extLst>
              <a:ext uri="{FF2B5EF4-FFF2-40B4-BE49-F238E27FC236}">
                <a16:creationId xmlns:a16="http://schemas.microsoft.com/office/drawing/2014/main" xmlns="" id="{3F388A07-94D3-CC0C-C7B7-C5B2E93BEDD8}"/>
              </a:ext>
            </a:extLst>
          </p:cNvPr>
          <p:cNvSpPr txBox="1">
            <a:spLocks noChangeArrowheads="1"/>
          </p:cNvSpPr>
          <p:nvPr/>
        </p:nvSpPr>
        <p:spPr bwMode="auto">
          <a:xfrm>
            <a:off x="4224434" y="3172427"/>
            <a:ext cx="2159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t">
              <a:spcBef>
                <a:spcPct val="50000"/>
              </a:spcBef>
            </a:pPr>
            <a:r>
              <a:rPr lang="zh-CN" altLang="en-US" sz="2000" b="1" dirty="0">
                <a:solidFill>
                  <a:schemeClr val="tx1"/>
                </a:solidFill>
                <a:latin typeface="+mn-ea"/>
                <a:ea typeface="+mn-ea"/>
              </a:rPr>
              <a:t>相位稳定条件</a:t>
            </a:r>
          </a:p>
        </p:txBody>
      </p:sp>
      <p:sp>
        <p:nvSpPr>
          <p:cNvPr id="61" name="AutoShape 17">
            <a:extLst>
              <a:ext uri="{FF2B5EF4-FFF2-40B4-BE49-F238E27FC236}">
                <a16:creationId xmlns:a16="http://schemas.microsoft.com/office/drawing/2014/main" xmlns="" id="{D132A67F-0EB9-A8BA-9A4F-3DA2E808EAB0}"/>
              </a:ext>
            </a:extLst>
          </p:cNvPr>
          <p:cNvSpPr>
            <a:spLocks/>
          </p:cNvSpPr>
          <p:nvPr/>
        </p:nvSpPr>
        <p:spPr bwMode="auto">
          <a:xfrm>
            <a:off x="367969" y="1978975"/>
            <a:ext cx="130470" cy="858272"/>
          </a:xfrm>
          <a:prstGeom prst="leftBrace">
            <a:avLst>
              <a:gd name="adj1" fmla="val 69156"/>
              <a:gd name="adj2" fmla="val 50000"/>
            </a:avLst>
          </a:prstGeom>
          <a:noFill/>
          <a:ln w="2222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p>
            <a:endParaRPr lang="zh-CN" altLang="en-US" sz="2000">
              <a:solidFill>
                <a:schemeClr val="tx1"/>
              </a:solidFill>
              <a:latin typeface="+mn-ea"/>
              <a:ea typeface="+mn-ea"/>
            </a:endParaRPr>
          </a:p>
        </p:txBody>
      </p:sp>
      <p:sp>
        <p:nvSpPr>
          <p:cNvPr id="62" name="Rectangle 3">
            <a:extLst>
              <a:ext uri="{FF2B5EF4-FFF2-40B4-BE49-F238E27FC236}">
                <a16:creationId xmlns:a16="http://schemas.microsoft.com/office/drawing/2014/main" xmlns="" id="{C539EBF8-3E92-F819-5F96-61653450456A}"/>
              </a:ext>
            </a:extLst>
          </p:cNvPr>
          <p:cNvSpPr>
            <a:spLocks noChangeArrowheads="1"/>
          </p:cNvSpPr>
          <p:nvPr/>
        </p:nvSpPr>
        <p:spPr bwMode="auto">
          <a:xfrm>
            <a:off x="99771" y="3895604"/>
            <a:ext cx="64198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000" b="1" dirty="0">
                <a:solidFill>
                  <a:schemeClr val="tx1"/>
                </a:solidFill>
                <a:latin typeface="Times New Roman" panose="02020603050405020304" pitchFamily="18" charset="0"/>
                <a:cs typeface="Times New Roman" panose="02020603050405020304" pitchFamily="18" charset="0"/>
              </a:rPr>
              <a:t>2)  </a:t>
            </a:r>
            <a:r>
              <a:rPr lang="en-US" altLang="en-US" sz="2000" b="1" dirty="0" err="1">
                <a:solidFill>
                  <a:schemeClr val="tx1"/>
                </a:solidFill>
                <a:latin typeface="Times New Roman" panose="02020603050405020304" pitchFamily="18" charset="0"/>
                <a:cs typeface="Times New Roman" panose="02020603050405020304" pitchFamily="18" charset="0"/>
              </a:rPr>
              <a:t>振荡器的静态工作点应设计在</a:t>
            </a:r>
            <a:r>
              <a:rPr lang="en-US" altLang="en-US" sz="2000" b="1" dirty="0" err="1">
                <a:solidFill>
                  <a:srgbClr val="FF0000"/>
                </a:solidFill>
                <a:latin typeface="Times New Roman" panose="02020603050405020304" pitchFamily="18" charset="0"/>
                <a:cs typeface="Times New Roman" panose="02020603050405020304" pitchFamily="18" charset="0"/>
              </a:rPr>
              <a:t>软激励状</a:t>
            </a:r>
            <a:r>
              <a:rPr lang="zh-CN" altLang="en-US" sz="2000" b="1" dirty="0">
                <a:solidFill>
                  <a:srgbClr val="FF0000"/>
                </a:solidFill>
                <a:latin typeface="Times New Roman" panose="02020603050405020304" pitchFamily="18" charset="0"/>
                <a:cs typeface="Times New Roman" panose="02020603050405020304" pitchFamily="18" charset="0"/>
              </a:rPr>
              <a:t>态</a:t>
            </a:r>
          </a:p>
        </p:txBody>
      </p:sp>
      <p:sp>
        <p:nvSpPr>
          <p:cNvPr id="63" name="Rectangle 5">
            <a:extLst>
              <a:ext uri="{FF2B5EF4-FFF2-40B4-BE49-F238E27FC236}">
                <a16:creationId xmlns:a16="http://schemas.microsoft.com/office/drawing/2014/main" xmlns="" id="{ACBFE5F9-9FAA-B7A4-7D95-F4E3510A7F43}"/>
              </a:ext>
            </a:extLst>
          </p:cNvPr>
          <p:cNvSpPr>
            <a:spLocks noChangeArrowheads="1"/>
          </p:cNvSpPr>
          <p:nvPr/>
        </p:nvSpPr>
        <p:spPr bwMode="auto">
          <a:xfrm>
            <a:off x="99770" y="4926121"/>
            <a:ext cx="8713489"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fontAlgn="t"/>
            <a:r>
              <a:rPr lang="en-US" altLang="zh-CN" sz="2000" b="1" dirty="0">
                <a:solidFill>
                  <a:schemeClr val="tx1"/>
                </a:solidFill>
                <a:latin typeface="Times New Roman" panose="02020603050405020304" pitchFamily="18" charset="0"/>
                <a:cs typeface="Times New Roman" panose="02020603050405020304" pitchFamily="18" charset="0"/>
              </a:rPr>
              <a:t>4)  </a:t>
            </a:r>
            <a:r>
              <a:rPr lang="zh-CN" altLang="en-US" sz="2000" b="1" dirty="0">
                <a:solidFill>
                  <a:schemeClr val="tx1"/>
                </a:solidFill>
                <a:latin typeface="Times New Roman" panose="02020603050405020304" pitchFamily="18" charset="0"/>
                <a:cs typeface="Times New Roman" panose="02020603050405020304" pitchFamily="18" charset="0"/>
              </a:rPr>
              <a:t>判断能否产生正弦振荡的方法</a:t>
            </a:r>
          </a:p>
          <a:p>
            <a:pPr fontAlgn="t"/>
            <a:r>
              <a:rPr lang="en-US" altLang="zh-CN" sz="2000" b="1" dirty="0">
                <a:solidFill>
                  <a:schemeClr val="tx1"/>
                </a:solidFill>
                <a:latin typeface="Times New Roman" panose="02020603050405020304" pitchFamily="18" charset="0"/>
                <a:cs typeface="Times New Roman" panose="02020603050405020304" pitchFamily="18" charset="0"/>
              </a:rPr>
              <a:t>a) </a:t>
            </a:r>
            <a:r>
              <a:rPr lang="zh-CN" altLang="en-US" sz="2000" b="1" dirty="0">
                <a:solidFill>
                  <a:schemeClr val="tx1"/>
                </a:solidFill>
                <a:latin typeface="Times New Roman" panose="02020603050405020304" pitchFamily="18" charset="0"/>
                <a:cs typeface="Times New Roman" panose="02020603050405020304" pitchFamily="18" charset="0"/>
              </a:rPr>
              <a:t>是否可能振荡</a:t>
            </a:r>
            <a:r>
              <a:rPr lang="en-US" altLang="zh-CN" sz="2000" b="1" dirty="0">
                <a:solidFill>
                  <a:schemeClr val="tx1"/>
                </a:solidFill>
                <a:latin typeface="Times New Roman" panose="02020603050405020304" pitchFamily="18" charset="0"/>
                <a:cs typeface="Times New Roman" panose="02020603050405020304" pitchFamily="18" charset="0"/>
              </a:rPr>
              <a:t>——</a:t>
            </a:r>
            <a:r>
              <a:rPr lang="zh-CN" altLang="en-US" sz="2000" b="1" dirty="0">
                <a:solidFill>
                  <a:schemeClr val="tx1"/>
                </a:solidFill>
                <a:latin typeface="Times New Roman" panose="02020603050405020304" pitchFamily="18" charset="0"/>
                <a:cs typeface="Times New Roman" panose="02020603050405020304" pitchFamily="18" charset="0"/>
              </a:rPr>
              <a:t>首先看电路供电是否正确；二是看是否满足</a:t>
            </a:r>
            <a:r>
              <a:rPr lang="zh-CN" altLang="en-US" sz="2000" b="1" dirty="0" smtClean="0">
                <a:solidFill>
                  <a:schemeClr val="tx1"/>
                </a:solidFill>
                <a:latin typeface="Times New Roman" panose="02020603050405020304" pitchFamily="18" charset="0"/>
                <a:cs typeface="Times New Roman" panose="02020603050405020304" pitchFamily="18" charset="0"/>
              </a:rPr>
              <a:t>相位</a:t>
            </a:r>
            <a:r>
              <a:rPr lang="zh-CN" altLang="en-US" sz="2000" b="1" dirty="0">
                <a:solidFill>
                  <a:schemeClr val="tx1"/>
                </a:solidFill>
                <a:latin typeface="Times New Roman" panose="02020603050405020304" pitchFamily="18" charset="0"/>
                <a:cs typeface="Times New Roman" panose="02020603050405020304" pitchFamily="18" charset="0"/>
              </a:rPr>
              <a:t>平衡条件</a:t>
            </a:r>
            <a:r>
              <a:rPr lang="zh-CN" altLang="en-US" sz="2000" b="1" dirty="0">
                <a:solidFill>
                  <a:srgbClr val="FF0000"/>
                </a:solidFill>
                <a:latin typeface="Times New Roman" panose="02020603050405020304" pitchFamily="18" charset="0"/>
                <a:cs typeface="Times New Roman" panose="02020603050405020304" pitchFamily="18" charset="0"/>
              </a:rPr>
              <a:t>（正反馈）</a:t>
            </a:r>
          </a:p>
          <a:p>
            <a:pPr fontAlgn="t"/>
            <a:r>
              <a:rPr lang="en-US" altLang="zh-CN" sz="2000" b="1" dirty="0">
                <a:solidFill>
                  <a:schemeClr val="tx1"/>
                </a:solidFill>
                <a:latin typeface="Times New Roman" panose="02020603050405020304" pitchFamily="18" charset="0"/>
                <a:cs typeface="Times New Roman" panose="02020603050405020304" pitchFamily="18" charset="0"/>
              </a:rPr>
              <a:t>b) </a:t>
            </a:r>
            <a:r>
              <a:rPr lang="zh-CN" altLang="en-US" sz="2000" b="1" dirty="0">
                <a:solidFill>
                  <a:schemeClr val="tx1"/>
                </a:solidFill>
                <a:latin typeface="Times New Roman" panose="02020603050405020304" pitchFamily="18" charset="0"/>
                <a:cs typeface="Times New Roman" panose="02020603050405020304" pitchFamily="18" charset="0"/>
              </a:rPr>
              <a:t>是否起振</a:t>
            </a:r>
            <a:r>
              <a:rPr lang="en-US" altLang="zh-CN" sz="2000" b="1" dirty="0">
                <a:solidFill>
                  <a:schemeClr val="tx1"/>
                </a:solidFill>
                <a:latin typeface="Times New Roman" panose="02020603050405020304" pitchFamily="18" charset="0"/>
                <a:cs typeface="Times New Roman" panose="02020603050405020304" pitchFamily="18" charset="0"/>
              </a:rPr>
              <a:t>——</a:t>
            </a:r>
            <a:r>
              <a:rPr lang="zh-CN" altLang="en-US" sz="2000" b="1" dirty="0">
                <a:solidFill>
                  <a:schemeClr val="tx1"/>
                </a:solidFill>
                <a:latin typeface="Times New Roman" panose="02020603050405020304" pitchFamily="18" charset="0"/>
                <a:cs typeface="Times New Roman" panose="02020603050405020304" pitchFamily="18" charset="0"/>
              </a:rPr>
              <a:t>看是否满足振幅起振条件</a:t>
            </a:r>
          </a:p>
          <a:p>
            <a:pPr fontAlgn="t"/>
            <a:r>
              <a:rPr lang="en-US" altLang="zh-CN" sz="2000" b="1" dirty="0">
                <a:solidFill>
                  <a:schemeClr val="tx1"/>
                </a:solidFill>
                <a:latin typeface="Times New Roman" panose="02020603050405020304" pitchFamily="18" charset="0"/>
                <a:cs typeface="Times New Roman" panose="02020603050405020304" pitchFamily="18" charset="0"/>
              </a:rPr>
              <a:t>c) </a:t>
            </a:r>
            <a:r>
              <a:rPr lang="zh-CN" altLang="en-US" sz="2000" b="1" dirty="0">
                <a:solidFill>
                  <a:schemeClr val="tx1"/>
                </a:solidFill>
                <a:latin typeface="Times New Roman" panose="02020603050405020304" pitchFamily="18" charset="0"/>
                <a:cs typeface="Times New Roman" panose="02020603050405020304" pitchFamily="18" charset="0"/>
              </a:rPr>
              <a:t>是否产生正弦波</a:t>
            </a:r>
            <a:r>
              <a:rPr lang="en-US" altLang="zh-CN" sz="2000" b="1" dirty="0">
                <a:solidFill>
                  <a:schemeClr val="tx1"/>
                </a:solidFill>
                <a:latin typeface="Times New Roman" panose="02020603050405020304" pitchFamily="18" charset="0"/>
                <a:cs typeface="Times New Roman" panose="02020603050405020304" pitchFamily="18" charset="0"/>
              </a:rPr>
              <a:t>——</a:t>
            </a:r>
            <a:r>
              <a:rPr lang="zh-CN" altLang="en-US" sz="2000" b="1" dirty="0">
                <a:solidFill>
                  <a:schemeClr val="tx1"/>
                </a:solidFill>
                <a:latin typeface="Times New Roman" panose="02020603050405020304" pitchFamily="18" charset="0"/>
                <a:cs typeface="Times New Roman" panose="02020603050405020304" pitchFamily="18" charset="0"/>
              </a:rPr>
              <a:t>看是否有正弦选频网络</a:t>
            </a:r>
          </a:p>
        </p:txBody>
      </p:sp>
      <p:sp>
        <p:nvSpPr>
          <p:cNvPr id="64" name="Rectangle 6">
            <a:extLst>
              <a:ext uri="{FF2B5EF4-FFF2-40B4-BE49-F238E27FC236}">
                <a16:creationId xmlns:a16="http://schemas.microsoft.com/office/drawing/2014/main" xmlns="" id="{AE7AD653-812D-F160-B1C4-953A1A3D24D9}"/>
              </a:ext>
            </a:extLst>
          </p:cNvPr>
          <p:cNvSpPr>
            <a:spLocks noChangeArrowheads="1"/>
          </p:cNvSpPr>
          <p:nvPr/>
        </p:nvSpPr>
        <p:spPr bwMode="auto">
          <a:xfrm>
            <a:off x="99771" y="4274595"/>
            <a:ext cx="8799162"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49263" indent="-449263">
              <a:defRPr sz="800">
                <a:solidFill>
                  <a:schemeClr val="tx1"/>
                </a:solidFill>
                <a:latin typeface="Tahoma" panose="020B0604030504040204" pitchFamily="34" charset="0"/>
                <a:ea typeface="宋体" panose="02010600030101010101" pitchFamily="2" charset="-122"/>
              </a:defRPr>
            </a:lvl1pPr>
            <a:lvl2pPr>
              <a:defRPr sz="800">
                <a:solidFill>
                  <a:schemeClr val="tx1"/>
                </a:solidFill>
                <a:latin typeface="Tahoma" panose="020B0604030504040204" pitchFamily="34" charset="0"/>
                <a:ea typeface="宋体" panose="02010600030101010101" pitchFamily="2" charset="-122"/>
              </a:defRPr>
            </a:lvl2pPr>
            <a:lvl3pPr>
              <a:defRPr sz="800">
                <a:solidFill>
                  <a:schemeClr val="tx1"/>
                </a:solidFill>
                <a:latin typeface="Tahoma" panose="020B0604030504040204" pitchFamily="34" charset="0"/>
                <a:ea typeface="宋体" panose="02010600030101010101" pitchFamily="2" charset="-122"/>
              </a:defRPr>
            </a:lvl3pPr>
            <a:lvl4pPr>
              <a:defRPr sz="800">
                <a:solidFill>
                  <a:schemeClr val="tx1"/>
                </a:solidFill>
                <a:latin typeface="Tahoma" panose="020B0604030504040204" pitchFamily="34" charset="0"/>
                <a:ea typeface="宋体" panose="02010600030101010101" pitchFamily="2" charset="-122"/>
              </a:defRPr>
            </a:lvl4pPr>
            <a:lvl5pPr>
              <a:defRPr sz="800">
                <a:solidFill>
                  <a:schemeClr val="tx1"/>
                </a:solidFill>
                <a:latin typeface="Tahoma" panose="020B0604030504040204" pitchFamily="34" charset="0"/>
                <a:ea typeface="宋体" panose="02010600030101010101" pitchFamily="2" charset="-122"/>
              </a:defRPr>
            </a:lvl5pPr>
            <a:lvl6pPr fontAlgn="base">
              <a:spcBef>
                <a:spcPct val="0"/>
              </a:spcBef>
              <a:spcAft>
                <a:spcPct val="0"/>
              </a:spcAft>
              <a:defRPr sz="800">
                <a:solidFill>
                  <a:schemeClr val="tx1"/>
                </a:solidFill>
                <a:latin typeface="Tahoma" panose="020B0604030504040204" pitchFamily="34" charset="0"/>
                <a:ea typeface="宋体" panose="02010600030101010101" pitchFamily="2" charset="-122"/>
              </a:defRPr>
            </a:lvl6pPr>
            <a:lvl7pPr fontAlgn="base">
              <a:spcBef>
                <a:spcPct val="0"/>
              </a:spcBef>
              <a:spcAft>
                <a:spcPct val="0"/>
              </a:spcAft>
              <a:defRPr sz="800">
                <a:solidFill>
                  <a:schemeClr val="tx1"/>
                </a:solidFill>
                <a:latin typeface="Tahoma" panose="020B0604030504040204" pitchFamily="34" charset="0"/>
                <a:ea typeface="宋体" panose="02010600030101010101" pitchFamily="2" charset="-122"/>
              </a:defRPr>
            </a:lvl7pPr>
            <a:lvl8pPr fontAlgn="base">
              <a:spcBef>
                <a:spcPct val="0"/>
              </a:spcBef>
              <a:spcAft>
                <a:spcPct val="0"/>
              </a:spcAft>
              <a:defRPr sz="800">
                <a:solidFill>
                  <a:schemeClr val="tx1"/>
                </a:solidFill>
                <a:latin typeface="Tahoma" panose="020B0604030504040204" pitchFamily="34" charset="0"/>
                <a:ea typeface="宋体" panose="02010600030101010101" pitchFamily="2" charset="-122"/>
              </a:defRPr>
            </a:lvl8pPr>
            <a:lvl9pPr fontAlgn="base">
              <a:spcBef>
                <a:spcPct val="0"/>
              </a:spcBef>
              <a:spcAft>
                <a:spcPct val="0"/>
              </a:spcAft>
              <a:defRPr sz="800">
                <a:solidFill>
                  <a:schemeClr val="tx1"/>
                </a:solidFill>
                <a:latin typeface="Tahoma" panose="020B0604030504040204" pitchFamily="34" charset="0"/>
                <a:ea typeface="宋体" panose="02010600030101010101" pitchFamily="2" charset="-122"/>
              </a:defRPr>
            </a:lvl9pPr>
          </a:lstStyle>
          <a:p>
            <a:r>
              <a:rPr lang="en-US" altLang="zh-CN" sz="2000" b="1" dirty="0">
                <a:latin typeface="Times New Roman" panose="02020603050405020304" pitchFamily="18" charset="0"/>
                <a:ea typeface="+mn-ea"/>
                <a:cs typeface="Times New Roman" panose="02020603050405020304" pitchFamily="18" charset="0"/>
              </a:rPr>
              <a:t>3)  </a:t>
            </a:r>
            <a:r>
              <a:rPr lang="zh-CN" altLang="en-US" sz="2000" b="1" dirty="0">
                <a:latin typeface="Times New Roman" panose="02020603050405020304" pitchFamily="18" charset="0"/>
                <a:ea typeface="+mn-ea"/>
                <a:cs typeface="Times New Roman" panose="02020603050405020304" pitchFamily="18" charset="0"/>
              </a:rPr>
              <a:t>从振荡到平衡是由晶体管非线性与自给反偏压共同作用的结果，称为</a:t>
            </a:r>
            <a:r>
              <a:rPr lang="zh-CN" altLang="en-US" sz="2000" b="1" dirty="0">
                <a:solidFill>
                  <a:srgbClr val="FF0000"/>
                </a:solidFill>
                <a:latin typeface="Times New Roman" panose="02020603050405020304" pitchFamily="18" charset="0"/>
                <a:ea typeface="+mn-ea"/>
                <a:cs typeface="Times New Roman" panose="02020603050405020304" pitchFamily="18" charset="0"/>
              </a:rPr>
              <a:t>内稳幅；</a:t>
            </a:r>
            <a:r>
              <a:rPr lang="zh-CN" altLang="en-US" sz="2000" b="1" dirty="0">
                <a:latin typeface="Times New Roman" panose="02020603050405020304" pitchFamily="18" charset="0"/>
                <a:ea typeface="+mn-ea"/>
                <a:cs typeface="Times New Roman" panose="02020603050405020304" pitchFamily="18" charset="0"/>
              </a:rPr>
              <a:t>需要外加稳幅电路的称为</a:t>
            </a:r>
            <a:r>
              <a:rPr lang="zh-CN" altLang="en-US" sz="2000" b="1" dirty="0">
                <a:solidFill>
                  <a:srgbClr val="FF0000"/>
                </a:solidFill>
                <a:latin typeface="Times New Roman" panose="02020603050405020304" pitchFamily="18" charset="0"/>
                <a:ea typeface="+mn-ea"/>
                <a:cs typeface="Times New Roman" panose="02020603050405020304" pitchFamily="18" charset="0"/>
              </a:rPr>
              <a:t>外稳幅</a:t>
            </a:r>
          </a:p>
        </p:txBody>
      </p:sp>
    </p:spTree>
    <p:extLst>
      <p:ext uri="{BB962C8B-B14F-4D97-AF65-F5344CB8AC3E}">
        <p14:creationId xmlns:p14="http://schemas.microsoft.com/office/powerpoint/2010/main" val="1223441020"/>
      </p:ext>
    </p:extLst>
  </p:cSld>
  <p:clrMapOvr>
    <a:masterClrMapping/>
  </p:clrMapOvr>
  <p:timing>
    <p:tnLst>
      <p:par>
        <p:cTn id="1" dur="indefinite" restart="never" nodeType="tmRoot"/>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169</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5.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正弦波</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振荡器</a:t>
            </a:r>
          </a:p>
        </p:txBody>
      </p:sp>
      <p:sp>
        <p:nvSpPr>
          <p:cNvPr id="5" name="Rectangle 6">
            <a:extLst>
              <a:ext uri="{FF2B5EF4-FFF2-40B4-BE49-F238E27FC236}">
                <a16:creationId xmlns:a16="http://schemas.microsoft.com/office/drawing/2014/main" xmlns="" id="{834F6AAE-8B2A-F32D-9C3B-536A784C6231}"/>
              </a:ext>
            </a:extLst>
          </p:cNvPr>
          <p:cNvSpPr>
            <a:spLocks noChangeArrowheads="1"/>
          </p:cNvSpPr>
          <p:nvPr/>
        </p:nvSpPr>
        <p:spPr bwMode="auto">
          <a:xfrm>
            <a:off x="352425" y="1484784"/>
            <a:ext cx="84391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fontAlgn="base" hangingPunct="0">
              <a:spcBef>
                <a:spcPct val="0"/>
              </a:spcBef>
              <a:spcAft>
                <a:spcPct val="0"/>
              </a:spcAft>
            </a:pPr>
            <a:r>
              <a:rPr lang="zh-CN" altLang="en-US" sz="2000" b="1">
                <a:solidFill>
                  <a:srgbClr val="000000"/>
                </a:solidFill>
                <a:latin typeface="宋体"/>
              </a:rPr>
              <a:t>以</a:t>
            </a:r>
            <a:r>
              <a:rPr lang="en-US" altLang="zh-CN" sz="2000" b="1" i="1">
                <a:solidFill>
                  <a:srgbClr val="000000"/>
                </a:solidFill>
                <a:latin typeface="宋体"/>
              </a:rPr>
              <a:t>LC</a:t>
            </a:r>
            <a:r>
              <a:rPr lang="zh-CN" altLang="en-US" sz="2000" b="1">
                <a:solidFill>
                  <a:srgbClr val="000000"/>
                </a:solidFill>
                <a:latin typeface="宋体"/>
              </a:rPr>
              <a:t>谐振回路作选频网络的反馈振荡器称为</a:t>
            </a:r>
            <a:r>
              <a:rPr lang="en-US" altLang="zh-CN" sz="2000" b="1">
                <a:solidFill>
                  <a:srgbClr val="000000"/>
                </a:solidFill>
                <a:latin typeface="宋体"/>
              </a:rPr>
              <a:t>LC</a:t>
            </a:r>
            <a:r>
              <a:rPr lang="zh-CN" altLang="en-US" sz="2000" b="1">
                <a:solidFill>
                  <a:srgbClr val="000000"/>
                </a:solidFill>
                <a:latin typeface="宋体"/>
              </a:rPr>
              <a:t>正弦波振荡器</a:t>
            </a:r>
          </a:p>
        </p:txBody>
      </p:sp>
      <p:grpSp>
        <p:nvGrpSpPr>
          <p:cNvPr id="6" name="Group 7">
            <a:extLst>
              <a:ext uri="{FF2B5EF4-FFF2-40B4-BE49-F238E27FC236}">
                <a16:creationId xmlns:a16="http://schemas.microsoft.com/office/drawing/2014/main" xmlns="" id="{F5FFDF0F-1AE1-6B1E-8C7B-156158892C6D}"/>
              </a:ext>
            </a:extLst>
          </p:cNvPr>
          <p:cNvGrpSpPr>
            <a:grpSpLocks/>
          </p:cNvGrpSpPr>
          <p:nvPr/>
        </p:nvGrpSpPr>
        <p:grpSpPr bwMode="auto">
          <a:xfrm>
            <a:off x="793750" y="1941983"/>
            <a:ext cx="5451475" cy="1278440"/>
            <a:chOff x="802" y="3273"/>
            <a:chExt cx="3381" cy="687"/>
          </a:xfrm>
        </p:grpSpPr>
        <p:sp>
          <p:nvSpPr>
            <p:cNvPr id="7" name="Rectangle 8">
              <a:extLst>
                <a:ext uri="{FF2B5EF4-FFF2-40B4-BE49-F238E27FC236}">
                  <a16:creationId xmlns:a16="http://schemas.microsoft.com/office/drawing/2014/main" xmlns="" id="{F464AAD3-22B2-ECC8-1D0E-0BC9FB0EB258}"/>
                </a:ext>
              </a:extLst>
            </p:cNvPr>
            <p:cNvSpPr>
              <a:spLocks noChangeArrowheads="1"/>
            </p:cNvSpPr>
            <p:nvPr/>
          </p:nvSpPr>
          <p:spPr bwMode="auto">
            <a:xfrm>
              <a:off x="802" y="3500"/>
              <a:ext cx="928" cy="215"/>
            </a:xfrm>
            <a:prstGeom prst="rect">
              <a:avLst/>
            </a:prstGeom>
            <a:solidFill>
              <a:srgbClr val="CCCCFF">
                <a:alpha val="4901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zh-CN" sz="2000" b="1" i="1" u="none" strike="noStrike" kern="0" cap="none" spc="0" normalizeH="0" baseline="0" noProof="0" smtClean="0">
                  <a:ln>
                    <a:noFill/>
                  </a:ln>
                  <a:solidFill>
                    <a:srgbClr val="000000"/>
                  </a:solidFill>
                  <a:effectLst/>
                  <a:uLnTx/>
                  <a:uFillTx/>
                  <a:latin typeface="宋体"/>
                </a:rPr>
                <a:t>LC</a:t>
              </a:r>
              <a:r>
                <a:rPr kumimoji="0" lang="zh-CN" altLang="en-US" sz="2000" b="1" i="0" u="none" strike="noStrike" kern="0" cap="none" spc="0" normalizeH="0" baseline="0" noProof="0" smtClean="0">
                  <a:ln>
                    <a:noFill/>
                  </a:ln>
                  <a:solidFill>
                    <a:srgbClr val="000000"/>
                  </a:solidFill>
                  <a:effectLst/>
                  <a:uLnTx/>
                  <a:uFillTx/>
                  <a:latin typeface="宋体"/>
                </a:rPr>
                <a:t>振荡器</a:t>
              </a:r>
            </a:p>
          </p:txBody>
        </p:sp>
        <p:sp>
          <p:nvSpPr>
            <p:cNvPr id="8" name="AutoShape 9">
              <a:extLst>
                <a:ext uri="{FF2B5EF4-FFF2-40B4-BE49-F238E27FC236}">
                  <a16:creationId xmlns:a16="http://schemas.microsoft.com/office/drawing/2014/main" xmlns="" id="{E5B0896F-FB70-E92B-A2A8-DEB3BA46D9A9}"/>
                </a:ext>
              </a:extLst>
            </p:cNvPr>
            <p:cNvSpPr>
              <a:spLocks/>
            </p:cNvSpPr>
            <p:nvPr/>
          </p:nvSpPr>
          <p:spPr bwMode="auto">
            <a:xfrm>
              <a:off x="1800" y="3324"/>
              <a:ext cx="183" cy="600"/>
            </a:xfrm>
            <a:prstGeom prst="leftBrace">
              <a:avLst>
                <a:gd name="adj1" fmla="val 37690"/>
                <a:gd name="adj2" fmla="val 50000"/>
              </a:avLst>
            </a:prstGeom>
            <a:noFill/>
            <a:ln w="9525">
              <a:solidFill>
                <a:srgbClr val="BBE0E3"/>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zh-CN" sz="2000" b="1" i="0" u="none" strike="noStrike" kern="0" cap="none" spc="0" normalizeH="0" baseline="0" noProof="0" smtClean="0">
                <a:ln>
                  <a:noFill/>
                </a:ln>
                <a:solidFill>
                  <a:srgbClr val="000000"/>
                </a:solidFill>
                <a:effectLst/>
                <a:uLnTx/>
                <a:uFillTx/>
                <a:latin typeface="宋体"/>
              </a:endParaRPr>
            </a:p>
          </p:txBody>
        </p:sp>
        <p:sp>
          <p:nvSpPr>
            <p:cNvPr id="9" name="Rectangle 10">
              <a:extLst>
                <a:ext uri="{FF2B5EF4-FFF2-40B4-BE49-F238E27FC236}">
                  <a16:creationId xmlns:a16="http://schemas.microsoft.com/office/drawing/2014/main" xmlns="" id="{534C5228-85FC-B203-1B01-27CC13F0C88B}"/>
                </a:ext>
              </a:extLst>
            </p:cNvPr>
            <p:cNvSpPr>
              <a:spLocks noChangeArrowheads="1"/>
            </p:cNvSpPr>
            <p:nvPr/>
          </p:nvSpPr>
          <p:spPr bwMode="auto">
            <a:xfrm>
              <a:off x="1980" y="3273"/>
              <a:ext cx="2196"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000" b="1" i="0" u="none" strike="noStrike" kern="0" cap="none" spc="0" normalizeH="0" baseline="0" noProof="0" smtClean="0">
                  <a:ln>
                    <a:noFill/>
                  </a:ln>
                  <a:solidFill>
                    <a:srgbClr val="000000"/>
                  </a:solidFill>
                  <a:effectLst/>
                  <a:uLnTx/>
                  <a:uFillTx/>
                  <a:latin typeface="宋体"/>
                </a:rPr>
                <a:t>互感耦合</a:t>
              </a:r>
            </a:p>
          </p:txBody>
        </p:sp>
        <p:sp>
          <p:nvSpPr>
            <p:cNvPr id="10" name="Rectangle 11">
              <a:extLst>
                <a:ext uri="{FF2B5EF4-FFF2-40B4-BE49-F238E27FC236}">
                  <a16:creationId xmlns:a16="http://schemas.microsoft.com/office/drawing/2014/main" xmlns="" id="{F41843DF-6AC4-CB40-BA30-9BD52F0C3CC5}"/>
                </a:ext>
              </a:extLst>
            </p:cNvPr>
            <p:cNvSpPr>
              <a:spLocks noChangeArrowheads="1"/>
            </p:cNvSpPr>
            <p:nvPr/>
          </p:nvSpPr>
          <p:spPr bwMode="auto">
            <a:xfrm>
              <a:off x="1975" y="3505"/>
              <a:ext cx="2196"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000" b="1" i="0" u="none" strike="noStrike" kern="0" cap="none" spc="0" normalizeH="0" baseline="0" noProof="0" smtClean="0">
                  <a:ln>
                    <a:noFill/>
                  </a:ln>
                  <a:solidFill>
                    <a:srgbClr val="000000"/>
                  </a:solidFill>
                  <a:effectLst/>
                  <a:uLnTx/>
                  <a:uFillTx/>
                  <a:latin typeface="宋体"/>
                </a:rPr>
                <a:t>电感三点式</a:t>
              </a:r>
            </a:p>
          </p:txBody>
        </p:sp>
        <p:sp>
          <p:nvSpPr>
            <p:cNvPr id="11" name="Rectangle 12">
              <a:extLst>
                <a:ext uri="{FF2B5EF4-FFF2-40B4-BE49-F238E27FC236}">
                  <a16:creationId xmlns:a16="http://schemas.microsoft.com/office/drawing/2014/main" xmlns="" id="{2A5ECB27-8A84-E610-10FC-1E52D56195A4}"/>
                </a:ext>
              </a:extLst>
            </p:cNvPr>
            <p:cNvSpPr>
              <a:spLocks noChangeArrowheads="1"/>
            </p:cNvSpPr>
            <p:nvPr/>
          </p:nvSpPr>
          <p:spPr bwMode="auto">
            <a:xfrm>
              <a:off x="1987" y="3745"/>
              <a:ext cx="2196"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000" b="1" i="0" u="none" strike="noStrike" kern="0" cap="none" spc="0" normalizeH="0" baseline="0" noProof="0" smtClean="0">
                  <a:ln>
                    <a:noFill/>
                  </a:ln>
                  <a:solidFill>
                    <a:srgbClr val="000000"/>
                  </a:solidFill>
                  <a:effectLst/>
                  <a:uLnTx/>
                  <a:uFillTx/>
                  <a:latin typeface="宋体"/>
                </a:rPr>
                <a:t>电容三点式</a:t>
              </a:r>
            </a:p>
          </p:txBody>
        </p:sp>
      </p:grpSp>
      <p:sp>
        <p:nvSpPr>
          <p:cNvPr id="12" name="Text Box 2">
            <a:extLst>
              <a:ext uri="{FF2B5EF4-FFF2-40B4-BE49-F238E27FC236}">
                <a16:creationId xmlns:a16="http://schemas.microsoft.com/office/drawing/2014/main" xmlns="" id="{7E827D46-134F-B1C8-D40A-712B877113F8}"/>
              </a:ext>
            </a:extLst>
          </p:cNvPr>
          <p:cNvSpPr txBox="1">
            <a:spLocks noChangeArrowheads="1"/>
          </p:cNvSpPr>
          <p:nvPr/>
        </p:nvSpPr>
        <p:spPr bwMode="auto">
          <a:xfrm>
            <a:off x="467544" y="3186678"/>
            <a:ext cx="328006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fontAlgn="base" hangingPunct="0">
              <a:spcBef>
                <a:spcPct val="0"/>
              </a:spcBef>
              <a:spcAft>
                <a:spcPct val="0"/>
              </a:spcAft>
            </a:pPr>
            <a:r>
              <a:rPr lang="zh-CN" altLang="en-US" sz="2400" b="1" dirty="0">
                <a:solidFill>
                  <a:srgbClr val="000000"/>
                </a:solidFill>
                <a:latin typeface="宋体"/>
              </a:rPr>
              <a:t>一、互感耦合</a:t>
            </a:r>
            <a:r>
              <a:rPr lang="en-US" altLang="zh-CN" sz="2400" b="1" i="1" dirty="0">
                <a:solidFill>
                  <a:srgbClr val="000000"/>
                </a:solidFill>
                <a:latin typeface="宋体"/>
              </a:rPr>
              <a:t>LC</a:t>
            </a:r>
            <a:r>
              <a:rPr lang="zh-CN" altLang="en-US" sz="2400" b="1" dirty="0">
                <a:solidFill>
                  <a:srgbClr val="000000"/>
                </a:solidFill>
                <a:latin typeface="宋体"/>
              </a:rPr>
              <a:t>振荡器</a:t>
            </a:r>
          </a:p>
        </p:txBody>
      </p:sp>
      <p:sp>
        <p:nvSpPr>
          <p:cNvPr id="13" name="Text Box 3">
            <a:extLst>
              <a:ext uri="{FF2B5EF4-FFF2-40B4-BE49-F238E27FC236}">
                <a16:creationId xmlns:a16="http://schemas.microsoft.com/office/drawing/2014/main" xmlns="" id="{B8B32BA7-CB12-2D84-8A5F-8F2D17079B94}"/>
              </a:ext>
            </a:extLst>
          </p:cNvPr>
          <p:cNvSpPr txBox="1">
            <a:spLocks noChangeArrowheads="1"/>
          </p:cNvSpPr>
          <p:nvPr/>
        </p:nvSpPr>
        <p:spPr bwMode="auto">
          <a:xfrm>
            <a:off x="571500" y="3774922"/>
            <a:ext cx="8280400" cy="1014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fontAlgn="base" hangingPunct="0">
              <a:spcBef>
                <a:spcPct val="0"/>
              </a:spcBef>
              <a:spcAft>
                <a:spcPct val="0"/>
              </a:spcAft>
            </a:pPr>
            <a:r>
              <a:rPr lang="en-US" altLang="zh-CN" sz="2000" b="1" dirty="0">
                <a:solidFill>
                  <a:srgbClr val="000000"/>
                </a:solidFill>
                <a:latin typeface="宋体"/>
              </a:rPr>
              <a:t>    </a:t>
            </a:r>
            <a:r>
              <a:rPr lang="zh-CN" altLang="en-US" sz="2000" b="1" dirty="0">
                <a:solidFill>
                  <a:srgbClr val="000000"/>
                </a:solidFill>
                <a:latin typeface="宋体"/>
              </a:rPr>
              <a:t>互感耦合振荡器是依靠</a:t>
            </a:r>
            <a:r>
              <a:rPr lang="zh-CN" altLang="en-US" sz="2000" b="1" dirty="0">
                <a:solidFill>
                  <a:srgbClr val="FF0000"/>
                </a:solidFill>
                <a:latin typeface="宋体"/>
              </a:rPr>
              <a:t>线圈之间的互感耦合</a:t>
            </a:r>
            <a:r>
              <a:rPr lang="zh-CN" altLang="en-US" sz="2000" b="1" dirty="0">
                <a:solidFill>
                  <a:srgbClr val="000000"/>
                </a:solidFill>
                <a:latin typeface="宋体"/>
              </a:rPr>
              <a:t>实现正反馈的，耦合线圈同名端的正确位置的放置，选择合适的耦合量</a:t>
            </a:r>
            <a:r>
              <a:rPr lang="en-US" altLang="zh-CN" sz="2000" b="1" i="1" dirty="0">
                <a:solidFill>
                  <a:srgbClr val="000000"/>
                </a:solidFill>
                <a:latin typeface="宋体"/>
              </a:rPr>
              <a:t>M</a:t>
            </a:r>
            <a:r>
              <a:rPr lang="zh-CN" altLang="en-US" sz="2000" b="1" dirty="0">
                <a:solidFill>
                  <a:srgbClr val="000000"/>
                </a:solidFill>
                <a:latin typeface="宋体"/>
              </a:rPr>
              <a:t>，使之满足振幅起振条件很重要。</a:t>
            </a:r>
          </a:p>
        </p:txBody>
      </p:sp>
      <p:sp>
        <p:nvSpPr>
          <p:cNvPr id="14" name="Text Box 4">
            <a:extLst>
              <a:ext uri="{FF2B5EF4-FFF2-40B4-BE49-F238E27FC236}">
                <a16:creationId xmlns:a16="http://schemas.microsoft.com/office/drawing/2014/main" xmlns="" id="{C3E11FF6-9B43-61AD-6130-A1BA640527F2}"/>
              </a:ext>
            </a:extLst>
          </p:cNvPr>
          <p:cNvSpPr txBox="1">
            <a:spLocks noChangeArrowheads="1"/>
          </p:cNvSpPr>
          <p:nvPr/>
        </p:nvSpPr>
        <p:spPr bwMode="auto">
          <a:xfrm>
            <a:off x="596900" y="4915914"/>
            <a:ext cx="82550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fontAlgn="base" hangingPunct="0">
              <a:spcBef>
                <a:spcPct val="0"/>
              </a:spcBef>
              <a:spcAft>
                <a:spcPct val="0"/>
              </a:spcAft>
            </a:pPr>
            <a:r>
              <a:rPr lang="en-US" altLang="zh-CN" sz="2000" b="1" dirty="0">
                <a:solidFill>
                  <a:srgbClr val="000000"/>
                </a:solidFill>
                <a:latin typeface="宋体"/>
              </a:rPr>
              <a:t>    </a:t>
            </a:r>
            <a:r>
              <a:rPr lang="zh-CN" altLang="en-US" sz="2000" b="1" dirty="0">
                <a:solidFill>
                  <a:srgbClr val="000000"/>
                </a:solidFill>
                <a:latin typeface="宋体"/>
              </a:rPr>
              <a:t>互感耦合振荡器有三种形式：</a:t>
            </a:r>
            <a:r>
              <a:rPr lang="zh-CN" altLang="en-US" sz="2000" b="1" dirty="0">
                <a:solidFill>
                  <a:srgbClr val="FF0000"/>
                </a:solidFill>
                <a:latin typeface="宋体"/>
              </a:rPr>
              <a:t>调基电路、调集电路和调射电路，</a:t>
            </a:r>
            <a:r>
              <a:rPr lang="zh-CN" altLang="en-US" sz="2000" b="1" dirty="0">
                <a:solidFill>
                  <a:srgbClr val="000000"/>
                </a:solidFill>
                <a:latin typeface="宋体"/>
              </a:rPr>
              <a:t>这是根据振荡回路是在集电极电路、基极电路和发射极电路来区分的。</a:t>
            </a:r>
          </a:p>
        </p:txBody>
      </p:sp>
      <p:sp>
        <p:nvSpPr>
          <p:cNvPr id="15" name="Rectangle 5">
            <a:extLst>
              <a:ext uri="{FF2B5EF4-FFF2-40B4-BE49-F238E27FC236}">
                <a16:creationId xmlns:a16="http://schemas.microsoft.com/office/drawing/2014/main" xmlns="" id="{AF6949FB-D2CF-A225-9EA6-657171F1A9F7}"/>
              </a:ext>
            </a:extLst>
          </p:cNvPr>
          <p:cNvSpPr>
            <a:spLocks noChangeArrowheads="1"/>
          </p:cNvSpPr>
          <p:nvPr/>
        </p:nvSpPr>
        <p:spPr bwMode="auto">
          <a:xfrm>
            <a:off x="1136650" y="5778500"/>
            <a:ext cx="6950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fontAlgn="t" hangingPunct="0">
              <a:spcBef>
                <a:spcPct val="50000"/>
              </a:spcBef>
              <a:spcAft>
                <a:spcPct val="0"/>
              </a:spcAft>
            </a:pPr>
            <a:r>
              <a:rPr lang="zh-CN" altLang="en-US" sz="2000" b="1" dirty="0">
                <a:solidFill>
                  <a:srgbClr val="000000"/>
                </a:solidFill>
                <a:latin typeface="宋体"/>
              </a:rPr>
              <a:t>判断相位平衡条件是否满足的方法：通常采用</a:t>
            </a:r>
            <a:r>
              <a:rPr lang="zh-CN" altLang="en-US" sz="2000" b="1" dirty="0">
                <a:solidFill>
                  <a:srgbClr val="FF0000"/>
                </a:solidFill>
                <a:latin typeface="宋体"/>
              </a:rPr>
              <a:t>瞬时极性法。</a:t>
            </a:r>
          </a:p>
        </p:txBody>
      </p:sp>
    </p:spTree>
    <p:extLst>
      <p:ext uri="{BB962C8B-B14F-4D97-AF65-F5344CB8AC3E}">
        <p14:creationId xmlns:p14="http://schemas.microsoft.com/office/powerpoint/2010/main" val="1542322876"/>
      </p:ext>
    </p:extLst>
  </p:cSld>
  <p:clrMapOvr>
    <a:masterClrMapping/>
  </p:clrMapOvr>
  <p:timing>
    <p:tnLst>
      <p:par>
        <p:cTn id="1" dur="indefinite" restart="never" nodeType="tmRoot"/>
      </p:par>
    </p:tn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170</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5.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正弦波</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振荡器</a:t>
            </a:r>
          </a:p>
        </p:txBody>
      </p:sp>
      <p:pic>
        <p:nvPicPr>
          <p:cNvPr id="5" name="图片 4">
            <a:extLst>
              <a:ext uri="{FF2B5EF4-FFF2-40B4-BE49-F238E27FC236}">
                <a16:creationId xmlns:a16="http://schemas.microsoft.com/office/drawing/2014/main" xmlns="" id="{595FAB02-FC72-5FF8-DBA5-EBA3F1F1ABFF}"/>
              </a:ext>
            </a:extLst>
          </p:cNvPr>
          <p:cNvPicPr>
            <a:picLocks noChangeAspect="1"/>
          </p:cNvPicPr>
          <p:nvPr/>
        </p:nvPicPr>
        <p:blipFill>
          <a:blip r:embed="rId3"/>
          <a:stretch>
            <a:fillRect/>
          </a:stretch>
        </p:blipFill>
        <p:spPr>
          <a:xfrm>
            <a:off x="698555" y="1269431"/>
            <a:ext cx="4780512" cy="3496990"/>
          </a:xfrm>
          <a:prstGeom prst="rect">
            <a:avLst/>
          </a:prstGeom>
        </p:spPr>
      </p:pic>
      <p:sp>
        <p:nvSpPr>
          <p:cNvPr id="6" name="Rectangle 16">
            <a:extLst>
              <a:ext uri="{FF2B5EF4-FFF2-40B4-BE49-F238E27FC236}">
                <a16:creationId xmlns:a16="http://schemas.microsoft.com/office/drawing/2014/main" xmlns="" id="{458831A3-3A97-A89A-B778-BA57926D156B}"/>
              </a:ext>
            </a:extLst>
          </p:cNvPr>
          <p:cNvSpPr>
            <a:spLocks noChangeArrowheads="1"/>
          </p:cNvSpPr>
          <p:nvPr/>
        </p:nvSpPr>
        <p:spPr bwMode="auto">
          <a:xfrm>
            <a:off x="5248194" y="1621244"/>
            <a:ext cx="160492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fontAlgn="t" hangingPunct="0">
              <a:spcBef>
                <a:spcPct val="50000"/>
              </a:spcBef>
              <a:spcAft>
                <a:spcPct val="0"/>
              </a:spcAft>
            </a:pPr>
            <a:r>
              <a:rPr lang="zh-CN" altLang="en-US" sz="2000" b="1" dirty="0">
                <a:solidFill>
                  <a:srgbClr val="000000"/>
                </a:solidFill>
                <a:latin typeface="宋体"/>
              </a:rPr>
              <a:t>正反馈系数</a:t>
            </a:r>
            <a:r>
              <a:rPr lang="en-US" altLang="zh-CN" sz="2000" b="1" dirty="0">
                <a:solidFill>
                  <a:srgbClr val="000000"/>
                </a:solidFill>
                <a:latin typeface="宋体"/>
              </a:rPr>
              <a:t>:</a:t>
            </a:r>
          </a:p>
        </p:txBody>
      </p:sp>
      <p:graphicFrame>
        <p:nvGraphicFramePr>
          <p:cNvPr id="7" name="Object 17">
            <a:extLst>
              <a:ext uri="{FF2B5EF4-FFF2-40B4-BE49-F238E27FC236}">
                <a16:creationId xmlns:a16="http://schemas.microsoft.com/office/drawing/2014/main" xmlns="" id="{56DBE2D0-F951-8D6C-1F5B-6FF592DBD39B}"/>
              </a:ext>
            </a:extLst>
          </p:cNvPr>
          <p:cNvGraphicFramePr>
            <a:graphicFrameLocks noChangeAspect="1"/>
          </p:cNvGraphicFramePr>
          <p:nvPr>
            <p:extLst>
              <p:ext uri="{D42A27DB-BD31-4B8C-83A1-F6EECF244321}">
                <p14:modId xmlns:p14="http://schemas.microsoft.com/office/powerpoint/2010/main" val="1316452412"/>
              </p:ext>
            </p:extLst>
          </p:nvPr>
        </p:nvGraphicFramePr>
        <p:xfrm>
          <a:off x="6881708" y="1388954"/>
          <a:ext cx="1541463" cy="844550"/>
        </p:xfrm>
        <a:graphic>
          <a:graphicData uri="http://schemas.openxmlformats.org/presentationml/2006/ole">
            <mc:AlternateContent xmlns:mc="http://schemas.openxmlformats.org/markup-compatibility/2006">
              <mc:Choice xmlns:v="urn:schemas-microsoft-com:vml" Requires="v">
                <p:oleObj spid="_x0000_s131130" r:id="rId4" imgW="812447" imgH="444307" progId="Equation.3">
                  <p:embed/>
                </p:oleObj>
              </mc:Choice>
              <mc:Fallback>
                <p:oleObj r:id="rId4" imgW="812447" imgH="444307"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81708" y="1388954"/>
                        <a:ext cx="1541463" cy="84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 name="Object 18">
            <a:extLst>
              <a:ext uri="{FF2B5EF4-FFF2-40B4-BE49-F238E27FC236}">
                <a16:creationId xmlns:a16="http://schemas.microsoft.com/office/drawing/2014/main" xmlns="" id="{17CAB3AF-6BB8-5EDC-7CA4-9522E9C230A0}"/>
              </a:ext>
            </a:extLst>
          </p:cNvPr>
          <p:cNvGraphicFramePr>
            <a:graphicFrameLocks noChangeAspect="1"/>
          </p:cNvGraphicFramePr>
          <p:nvPr>
            <p:extLst>
              <p:ext uri="{D42A27DB-BD31-4B8C-83A1-F6EECF244321}">
                <p14:modId xmlns:p14="http://schemas.microsoft.com/office/powerpoint/2010/main" val="1262129473"/>
              </p:ext>
            </p:extLst>
          </p:nvPr>
        </p:nvGraphicFramePr>
        <p:xfrm>
          <a:off x="6315178" y="2264863"/>
          <a:ext cx="1582738" cy="892175"/>
        </p:xfrm>
        <a:graphic>
          <a:graphicData uri="http://schemas.openxmlformats.org/presentationml/2006/ole">
            <mc:AlternateContent xmlns:mc="http://schemas.openxmlformats.org/markup-compatibility/2006">
              <mc:Choice xmlns:v="urn:schemas-microsoft-com:vml" Requires="v">
                <p:oleObj spid="_x0000_s131131" r:id="rId6" imgW="965200" imgH="469900" progId="Equation.3">
                  <p:embed/>
                </p:oleObj>
              </mc:Choice>
              <mc:Fallback>
                <p:oleObj r:id="rId6" imgW="965200" imgH="4699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315178" y="2264863"/>
                        <a:ext cx="1582738" cy="89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 name="Rectangle 19">
            <a:extLst>
              <a:ext uri="{FF2B5EF4-FFF2-40B4-BE49-F238E27FC236}">
                <a16:creationId xmlns:a16="http://schemas.microsoft.com/office/drawing/2014/main" xmlns="" id="{F8C2D966-B84A-0029-ECC7-8FFA5ED12E97}"/>
              </a:ext>
            </a:extLst>
          </p:cNvPr>
          <p:cNvSpPr>
            <a:spLocks noChangeArrowheads="1"/>
          </p:cNvSpPr>
          <p:nvPr/>
        </p:nvSpPr>
        <p:spPr bwMode="auto">
          <a:xfrm>
            <a:off x="5248194" y="2461516"/>
            <a:ext cx="134684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fontAlgn="t" hangingPunct="0">
              <a:spcBef>
                <a:spcPct val="50000"/>
              </a:spcBef>
              <a:spcAft>
                <a:spcPct val="0"/>
              </a:spcAft>
            </a:pPr>
            <a:r>
              <a:rPr lang="zh-CN" altLang="en-US" sz="2000" b="1" dirty="0">
                <a:solidFill>
                  <a:srgbClr val="000000"/>
                </a:solidFill>
                <a:latin typeface="宋体"/>
              </a:rPr>
              <a:t>振荡频率</a:t>
            </a:r>
            <a:r>
              <a:rPr lang="en-US" altLang="zh-CN" sz="2000" b="1" dirty="0">
                <a:solidFill>
                  <a:srgbClr val="000000"/>
                </a:solidFill>
                <a:latin typeface="宋体"/>
              </a:rPr>
              <a:t>:</a:t>
            </a:r>
          </a:p>
        </p:txBody>
      </p:sp>
      <p:sp>
        <p:nvSpPr>
          <p:cNvPr id="10" name="Rectangle 15">
            <a:extLst>
              <a:ext uri="{FF2B5EF4-FFF2-40B4-BE49-F238E27FC236}">
                <a16:creationId xmlns:a16="http://schemas.microsoft.com/office/drawing/2014/main" xmlns="" id="{7978279E-707F-B418-898C-2046201E1AA4}"/>
              </a:ext>
            </a:extLst>
          </p:cNvPr>
          <p:cNvSpPr>
            <a:spLocks noChangeArrowheads="1"/>
          </p:cNvSpPr>
          <p:nvPr/>
        </p:nvSpPr>
        <p:spPr bwMode="auto">
          <a:xfrm>
            <a:off x="394275" y="4824513"/>
            <a:ext cx="75565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fontAlgn="t" hangingPunct="0">
              <a:spcBef>
                <a:spcPct val="50000"/>
              </a:spcBef>
              <a:spcAft>
                <a:spcPct val="0"/>
              </a:spcAft>
            </a:pPr>
            <a:r>
              <a:rPr lang="en-US" altLang="zh-CN" sz="2000" b="1">
                <a:solidFill>
                  <a:srgbClr val="000000"/>
                </a:solidFill>
                <a:latin typeface="宋体"/>
              </a:rPr>
              <a:t>1) </a:t>
            </a:r>
            <a:r>
              <a:rPr lang="zh-CN" altLang="en-US" sz="2000" b="1">
                <a:solidFill>
                  <a:srgbClr val="000000"/>
                </a:solidFill>
                <a:latin typeface="宋体"/>
              </a:rPr>
              <a:t>判断是否可能振荡的基本准则：是否是正反馈。</a:t>
            </a:r>
          </a:p>
        </p:txBody>
      </p:sp>
      <p:sp>
        <p:nvSpPr>
          <p:cNvPr id="11" name="Rectangle 20">
            <a:extLst>
              <a:ext uri="{FF2B5EF4-FFF2-40B4-BE49-F238E27FC236}">
                <a16:creationId xmlns:a16="http://schemas.microsoft.com/office/drawing/2014/main" xmlns="" id="{7A26ACEB-C0C5-12AD-02B3-FAB29E1EFD49}"/>
              </a:ext>
            </a:extLst>
          </p:cNvPr>
          <p:cNvSpPr>
            <a:spLocks noChangeArrowheads="1"/>
          </p:cNvSpPr>
          <p:nvPr/>
        </p:nvSpPr>
        <p:spPr bwMode="auto">
          <a:xfrm>
            <a:off x="394275" y="5518793"/>
            <a:ext cx="6061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pPr eaLnBrk="0" fontAlgn="t" hangingPunct="0">
              <a:spcBef>
                <a:spcPct val="50000"/>
              </a:spcBef>
              <a:spcAft>
                <a:spcPct val="0"/>
              </a:spcAft>
            </a:pPr>
            <a:r>
              <a:rPr lang="en-US" altLang="zh-CN" sz="2000" b="1">
                <a:solidFill>
                  <a:srgbClr val="000000"/>
                </a:solidFill>
                <a:latin typeface="宋体"/>
              </a:rPr>
              <a:t>2)</a:t>
            </a:r>
            <a:r>
              <a:rPr lang="zh-CN" altLang="en-US" sz="2000" b="1">
                <a:solidFill>
                  <a:srgbClr val="000000"/>
                </a:solidFill>
                <a:latin typeface="宋体"/>
              </a:rPr>
              <a:t>是否能起振：取决于变压器是否有足够的耦合量</a:t>
            </a:r>
            <a:r>
              <a:rPr lang="en-US" altLang="zh-CN" sz="2000" b="1">
                <a:solidFill>
                  <a:srgbClr val="000000"/>
                </a:solidFill>
                <a:latin typeface="宋体"/>
              </a:rPr>
              <a:t>M</a:t>
            </a:r>
          </a:p>
        </p:txBody>
      </p:sp>
      <p:sp>
        <p:nvSpPr>
          <p:cNvPr id="12" name="Text Box 21">
            <a:extLst>
              <a:ext uri="{FF2B5EF4-FFF2-40B4-BE49-F238E27FC236}">
                <a16:creationId xmlns:a16="http://schemas.microsoft.com/office/drawing/2014/main" xmlns="" id="{3957EE12-2CA6-5130-F601-2D4FBB2A4FAE}"/>
              </a:ext>
            </a:extLst>
          </p:cNvPr>
          <p:cNvSpPr txBox="1">
            <a:spLocks noChangeArrowheads="1"/>
          </p:cNvSpPr>
          <p:nvPr/>
        </p:nvSpPr>
        <p:spPr bwMode="auto">
          <a:xfrm>
            <a:off x="6082287" y="4808638"/>
            <a:ext cx="23431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p>
            <a:pPr eaLnBrk="0" fontAlgn="t" hangingPunct="0">
              <a:spcBef>
                <a:spcPct val="50000"/>
              </a:spcBef>
              <a:spcAft>
                <a:spcPct val="0"/>
              </a:spcAft>
            </a:pPr>
            <a:r>
              <a:rPr lang="zh-CN" altLang="en-US" sz="2000" b="1">
                <a:solidFill>
                  <a:srgbClr val="000000"/>
                </a:solidFill>
                <a:latin typeface="宋体"/>
              </a:rPr>
              <a:t>方法：瞬时极性法</a:t>
            </a:r>
          </a:p>
        </p:txBody>
      </p:sp>
    </p:spTree>
    <p:extLst>
      <p:ext uri="{BB962C8B-B14F-4D97-AF65-F5344CB8AC3E}">
        <p14:creationId xmlns:p14="http://schemas.microsoft.com/office/powerpoint/2010/main" val="1094878325"/>
      </p:ext>
    </p:extLst>
  </p:cSld>
  <p:clrMapOvr>
    <a:masterClrMapping/>
  </p:clrMapOvr>
  <p:timing>
    <p:tnLst>
      <p:par>
        <p:cTn id="1" dur="indefinite" restart="never" nodeType="tmRoot"/>
      </p:par>
    </p:tn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171</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5.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正弦波</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振荡器</a:t>
            </a:r>
          </a:p>
        </p:txBody>
      </p:sp>
      <p:pic>
        <p:nvPicPr>
          <p:cNvPr id="5" name="图片 4">
            <a:extLst>
              <a:ext uri="{FF2B5EF4-FFF2-40B4-BE49-F238E27FC236}">
                <a16:creationId xmlns:a16="http://schemas.microsoft.com/office/drawing/2014/main" xmlns="" id="{8FCFF964-33BA-20CC-BD3E-0B6225B9EC72}"/>
              </a:ext>
            </a:extLst>
          </p:cNvPr>
          <p:cNvPicPr>
            <a:picLocks noChangeAspect="1"/>
          </p:cNvPicPr>
          <p:nvPr/>
        </p:nvPicPr>
        <p:blipFill>
          <a:blip r:embed="rId2"/>
          <a:stretch>
            <a:fillRect/>
          </a:stretch>
        </p:blipFill>
        <p:spPr>
          <a:xfrm>
            <a:off x="467544" y="1340768"/>
            <a:ext cx="6851459" cy="3633811"/>
          </a:xfrm>
          <a:prstGeom prst="rect">
            <a:avLst/>
          </a:prstGeom>
        </p:spPr>
      </p:pic>
      <p:sp>
        <p:nvSpPr>
          <p:cNvPr id="6" name="Rectangle 39">
            <a:extLst>
              <a:ext uri="{FF2B5EF4-FFF2-40B4-BE49-F238E27FC236}">
                <a16:creationId xmlns:a16="http://schemas.microsoft.com/office/drawing/2014/main" xmlns="" id="{0537FBBC-409F-DEA0-373C-4DFDE75A3A0A}"/>
              </a:ext>
            </a:extLst>
          </p:cNvPr>
          <p:cNvSpPr>
            <a:spLocks noChangeArrowheads="1"/>
          </p:cNvSpPr>
          <p:nvPr/>
        </p:nvSpPr>
        <p:spPr bwMode="auto">
          <a:xfrm>
            <a:off x="486568" y="5010026"/>
            <a:ext cx="8170863" cy="1014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fontAlgn="base" hangingPunct="0">
              <a:spcBef>
                <a:spcPct val="0"/>
              </a:spcBef>
              <a:spcAft>
                <a:spcPct val="0"/>
              </a:spcAft>
            </a:pPr>
            <a:r>
              <a:rPr lang="zh-CN" altLang="en-US" sz="2000" b="1" dirty="0">
                <a:solidFill>
                  <a:srgbClr val="000000"/>
                </a:solidFill>
                <a:latin typeface="宋体"/>
              </a:rPr>
              <a:t>    互感耦合振荡器在调整反馈</a:t>
            </a:r>
            <a:r>
              <a:rPr lang="en-US" altLang="zh-CN" sz="2000" b="1" dirty="0">
                <a:solidFill>
                  <a:srgbClr val="000000"/>
                </a:solidFill>
                <a:latin typeface="宋体"/>
              </a:rPr>
              <a:t>(</a:t>
            </a:r>
            <a:r>
              <a:rPr lang="zh-CN" altLang="en-US" sz="2000" b="1" dirty="0">
                <a:solidFill>
                  <a:srgbClr val="000000"/>
                </a:solidFill>
                <a:latin typeface="宋体"/>
              </a:rPr>
              <a:t>改变</a:t>
            </a:r>
            <a:r>
              <a:rPr lang="en-US" altLang="zh-CN" sz="2000" b="1" dirty="0">
                <a:solidFill>
                  <a:srgbClr val="000000"/>
                </a:solidFill>
                <a:latin typeface="宋体"/>
              </a:rPr>
              <a:t>M)</a:t>
            </a:r>
            <a:r>
              <a:rPr lang="zh-CN" altLang="en-US" sz="2000" b="1" dirty="0">
                <a:solidFill>
                  <a:srgbClr val="000000"/>
                </a:solidFill>
                <a:latin typeface="宋体"/>
              </a:rPr>
              <a:t>时，基本上不影响振荡频率。但由于分布电容的存在，在频率较高时，难于做出稳定性高的变压器。因此，它们的工作频率不宜过高，</a:t>
            </a:r>
            <a:r>
              <a:rPr lang="zh-CN" altLang="en-US" sz="2000" b="1" dirty="0">
                <a:solidFill>
                  <a:srgbClr val="FF0000"/>
                </a:solidFill>
                <a:latin typeface="宋体"/>
              </a:rPr>
              <a:t>一般应用于中、短波波段。</a:t>
            </a:r>
          </a:p>
        </p:txBody>
      </p:sp>
    </p:spTree>
    <p:extLst>
      <p:ext uri="{BB962C8B-B14F-4D97-AF65-F5344CB8AC3E}">
        <p14:creationId xmlns:p14="http://schemas.microsoft.com/office/powerpoint/2010/main" val="2189003426"/>
      </p:ext>
    </p:extLst>
  </p:cSld>
  <p:clrMapOvr>
    <a:masterClrMapping/>
  </p:clrMapOvr>
  <p:timing>
    <p:tnLst>
      <p:par>
        <p:cTn id="1" dur="indefinite" restart="never" nodeType="tmRoot"/>
      </p:par>
    </p:tn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172</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5.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正弦波</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振荡器</a:t>
            </a:r>
          </a:p>
        </p:txBody>
      </p:sp>
      <p:sp>
        <p:nvSpPr>
          <p:cNvPr id="5" name="Rectangle 4">
            <a:extLst>
              <a:ext uri="{FF2B5EF4-FFF2-40B4-BE49-F238E27FC236}">
                <a16:creationId xmlns:a16="http://schemas.microsoft.com/office/drawing/2014/main" xmlns="" id="{19DB1F9B-2EAE-AA52-318A-A15477B151D8}"/>
              </a:ext>
            </a:extLst>
          </p:cNvPr>
          <p:cNvSpPr>
            <a:spLocks noChangeArrowheads="1"/>
          </p:cNvSpPr>
          <p:nvPr/>
        </p:nvSpPr>
        <p:spPr bwMode="auto">
          <a:xfrm>
            <a:off x="179512" y="1238472"/>
            <a:ext cx="71628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400" b="1" dirty="0">
                <a:solidFill>
                  <a:schemeClr val="tx1"/>
                </a:solidFill>
                <a:latin typeface="+mn-ea"/>
                <a:ea typeface="+mn-ea"/>
              </a:rPr>
              <a:t>二、电容反馈式振荡器</a:t>
            </a:r>
            <a:r>
              <a:rPr lang="en-US" altLang="zh-CN" sz="2400" b="1" dirty="0">
                <a:solidFill>
                  <a:schemeClr val="tx1"/>
                </a:solidFill>
                <a:latin typeface="+mn-ea"/>
                <a:ea typeface="+mn-ea"/>
              </a:rPr>
              <a:t>(</a:t>
            </a:r>
            <a:r>
              <a:rPr lang="zh-CN" altLang="en-US" sz="2400" b="1" dirty="0">
                <a:solidFill>
                  <a:schemeClr val="tx1"/>
                </a:solidFill>
                <a:latin typeface="+mn-ea"/>
                <a:ea typeface="+mn-ea"/>
              </a:rPr>
              <a:t>考毕兹电路</a:t>
            </a:r>
            <a:r>
              <a:rPr lang="en-US" altLang="zh-CN" sz="2400" b="1" dirty="0">
                <a:solidFill>
                  <a:schemeClr val="tx1"/>
                </a:solidFill>
                <a:latin typeface="+mn-ea"/>
                <a:ea typeface="+mn-ea"/>
              </a:rPr>
              <a:t>)</a:t>
            </a:r>
          </a:p>
        </p:txBody>
      </p:sp>
      <p:sp>
        <p:nvSpPr>
          <p:cNvPr id="6" name="Text Box 5">
            <a:extLst>
              <a:ext uri="{FF2B5EF4-FFF2-40B4-BE49-F238E27FC236}">
                <a16:creationId xmlns:a16="http://schemas.microsoft.com/office/drawing/2014/main" xmlns="" id="{EC9CDBB0-E79F-ACE8-17B1-B00E076CBDC5}"/>
              </a:ext>
            </a:extLst>
          </p:cNvPr>
          <p:cNvSpPr txBox="1">
            <a:spLocks noChangeArrowheads="1"/>
          </p:cNvSpPr>
          <p:nvPr/>
        </p:nvSpPr>
        <p:spPr bwMode="auto">
          <a:xfrm>
            <a:off x="320090" y="1777268"/>
            <a:ext cx="26162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t">
              <a:spcBef>
                <a:spcPct val="50000"/>
              </a:spcBef>
            </a:pPr>
            <a:r>
              <a:rPr lang="en-US" altLang="zh-CN" sz="2000" b="1" dirty="0">
                <a:solidFill>
                  <a:srgbClr val="FF3300"/>
                </a:solidFill>
                <a:latin typeface="+mn-ea"/>
                <a:ea typeface="+mn-ea"/>
              </a:rPr>
              <a:t>1</a:t>
            </a:r>
            <a:r>
              <a:rPr lang="zh-CN" altLang="en-US" sz="2000" b="1" dirty="0">
                <a:solidFill>
                  <a:srgbClr val="FF3300"/>
                </a:solidFill>
                <a:latin typeface="+mn-ea"/>
                <a:ea typeface="+mn-ea"/>
              </a:rPr>
              <a:t>、电路结构</a:t>
            </a:r>
          </a:p>
        </p:txBody>
      </p:sp>
      <p:graphicFrame>
        <p:nvGraphicFramePr>
          <p:cNvPr id="7" name="Object 6">
            <a:extLst>
              <a:ext uri="{FF2B5EF4-FFF2-40B4-BE49-F238E27FC236}">
                <a16:creationId xmlns:a16="http://schemas.microsoft.com/office/drawing/2014/main" xmlns="" id="{41589744-07E2-0ECB-541D-8204630AA1C1}"/>
              </a:ext>
            </a:extLst>
          </p:cNvPr>
          <p:cNvGraphicFramePr>
            <a:graphicFrameLocks noChangeAspect="1"/>
          </p:cNvGraphicFramePr>
          <p:nvPr>
            <p:extLst>
              <p:ext uri="{D42A27DB-BD31-4B8C-83A1-F6EECF244321}">
                <p14:modId xmlns:p14="http://schemas.microsoft.com/office/powerpoint/2010/main" val="4125330466"/>
              </p:ext>
            </p:extLst>
          </p:nvPr>
        </p:nvGraphicFramePr>
        <p:xfrm>
          <a:off x="683628" y="2286856"/>
          <a:ext cx="2738437" cy="334962"/>
        </p:xfrm>
        <a:graphic>
          <a:graphicData uri="http://schemas.openxmlformats.org/presentationml/2006/ole">
            <mc:AlternateContent xmlns:mc="http://schemas.openxmlformats.org/markup-compatibility/2006">
              <mc:Choice xmlns:v="urn:schemas-microsoft-com:vml" Requires="v">
                <p:oleObj spid="_x0000_s132238" r:id="rId3" imgW="1803400" imgH="228600" progId="Equation.3">
                  <p:embed/>
                </p:oleObj>
              </mc:Choice>
              <mc:Fallback>
                <p:oleObj r:id="rId3" imgW="1803400" imgH="228600" progId="Equation.3">
                  <p:embed/>
                  <p:pic>
                    <p:nvPicPr>
                      <p:cNvPr id="0" name=""/>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3628" y="2286856"/>
                        <a:ext cx="2738437" cy="334962"/>
                      </a:xfrm>
                      <a:prstGeom prst="rect">
                        <a:avLst/>
                      </a:prstGeom>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 name="Object 7">
            <a:extLst>
              <a:ext uri="{FF2B5EF4-FFF2-40B4-BE49-F238E27FC236}">
                <a16:creationId xmlns:a16="http://schemas.microsoft.com/office/drawing/2014/main" xmlns="" id="{94C3FB8D-548C-DFA5-3EC0-A0C9E1D2D4F3}"/>
              </a:ext>
            </a:extLst>
          </p:cNvPr>
          <p:cNvGraphicFramePr>
            <a:graphicFrameLocks noChangeAspect="1"/>
          </p:cNvGraphicFramePr>
          <p:nvPr>
            <p:extLst>
              <p:ext uri="{D42A27DB-BD31-4B8C-83A1-F6EECF244321}">
                <p14:modId xmlns:p14="http://schemas.microsoft.com/office/powerpoint/2010/main" val="3130606153"/>
              </p:ext>
            </p:extLst>
          </p:nvPr>
        </p:nvGraphicFramePr>
        <p:xfrm>
          <a:off x="674103" y="2721831"/>
          <a:ext cx="3946525" cy="339725"/>
        </p:xfrm>
        <a:graphic>
          <a:graphicData uri="http://schemas.openxmlformats.org/presentationml/2006/ole">
            <mc:AlternateContent xmlns:mc="http://schemas.openxmlformats.org/markup-compatibility/2006">
              <mc:Choice xmlns:v="urn:schemas-microsoft-com:vml" Requires="v">
                <p:oleObj spid="_x0000_s132239" r:id="rId5" imgW="2565400" imgH="228600" progId="Equation.3">
                  <p:embed/>
                </p:oleObj>
              </mc:Choice>
              <mc:Fallback>
                <p:oleObj r:id="rId5" imgW="2565400" imgH="228600" progId="Equation.3">
                  <p:embed/>
                  <p:pic>
                    <p:nvPicPr>
                      <p:cNvPr id="0" name=""/>
                      <p:cNvPicPr>
                        <a:picLocks noGrp="1"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4103" y="2721831"/>
                        <a:ext cx="3946525" cy="339725"/>
                      </a:xfrm>
                      <a:prstGeom prst="rect">
                        <a:avLst/>
                      </a:prstGeom>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9" name="Object 8">
            <a:extLst>
              <a:ext uri="{FF2B5EF4-FFF2-40B4-BE49-F238E27FC236}">
                <a16:creationId xmlns:a16="http://schemas.microsoft.com/office/drawing/2014/main" xmlns="" id="{C9D31D38-F7F0-9E41-F416-F465351BC126}"/>
              </a:ext>
            </a:extLst>
          </p:cNvPr>
          <p:cNvGraphicFramePr>
            <a:graphicFrameLocks noChangeAspect="1"/>
          </p:cNvGraphicFramePr>
          <p:nvPr>
            <p:extLst>
              <p:ext uri="{D42A27DB-BD31-4B8C-83A1-F6EECF244321}">
                <p14:modId xmlns:p14="http://schemas.microsoft.com/office/powerpoint/2010/main" val="3974643481"/>
              </p:ext>
            </p:extLst>
          </p:nvPr>
        </p:nvGraphicFramePr>
        <p:xfrm>
          <a:off x="677278" y="3123468"/>
          <a:ext cx="4041775" cy="346075"/>
        </p:xfrm>
        <a:graphic>
          <a:graphicData uri="http://schemas.openxmlformats.org/presentationml/2006/ole">
            <mc:AlternateContent xmlns:mc="http://schemas.openxmlformats.org/markup-compatibility/2006">
              <mc:Choice xmlns:v="urn:schemas-microsoft-com:vml" Requires="v">
                <p:oleObj spid="_x0000_s132240" r:id="rId7" imgW="2578100" imgH="228600" progId="Equation.3">
                  <p:embed/>
                </p:oleObj>
              </mc:Choice>
              <mc:Fallback>
                <p:oleObj r:id="rId7" imgW="2578100" imgH="228600" progId="Equation.3">
                  <p:embed/>
                  <p:pic>
                    <p:nvPicPr>
                      <p:cNvPr id="0" name=""/>
                      <p:cNvPicPr>
                        <a:picLocks noGrp="1"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77278" y="3123468"/>
                        <a:ext cx="4041775" cy="346075"/>
                      </a:xfrm>
                      <a:prstGeom prst="rect">
                        <a:avLst/>
                      </a:prstGeom>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0" name="Object 10">
            <a:extLst>
              <a:ext uri="{FF2B5EF4-FFF2-40B4-BE49-F238E27FC236}">
                <a16:creationId xmlns:a16="http://schemas.microsoft.com/office/drawing/2014/main" xmlns="" id="{4E8CECBB-3F9F-ECAA-D5E9-925A2563716C}"/>
              </a:ext>
            </a:extLst>
          </p:cNvPr>
          <p:cNvGraphicFramePr>
            <a:graphicFrameLocks noChangeAspect="1"/>
          </p:cNvGraphicFramePr>
          <p:nvPr>
            <p:extLst>
              <p:ext uri="{D42A27DB-BD31-4B8C-83A1-F6EECF244321}">
                <p14:modId xmlns:p14="http://schemas.microsoft.com/office/powerpoint/2010/main" val="4116864140"/>
              </p:ext>
            </p:extLst>
          </p:nvPr>
        </p:nvGraphicFramePr>
        <p:xfrm>
          <a:off x="669340" y="3545743"/>
          <a:ext cx="3705225" cy="336550"/>
        </p:xfrm>
        <a:graphic>
          <a:graphicData uri="http://schemas.openxmlformats.org/presentationml/2006/ole">
            <mc:AlternateContent xmlns:mc="http://schemas.openxmlformats.org/markup-compatibility/2006">
              <mc:Choice xmlns:v="urn:schemas-microsoft-com:vml" Requires="v">
                <p:oleObj spid="_x0000_s132241" r:id="rId9" imgW="2413000" imgH="228600" progId="Equation.3">
                  <p:embed/>
                </p:oleObj>
              </mc:Choice>
              <mc:Fallback>
                <p:oleObj r:id="rId9" imgW="2413000" imgH="228600" progId="Equation.3">
                  <p:embed/>
                  <p:pic>
                    <p:nvPicPr>
                      <p:cNvPr id="0" name=""/>
                      <p:cNvPicPr>
                        <a:picLocks noGrp="1"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69340" y="3545743"/>
                        <a:ext cx="3705225" cy="336550"/>
                      </a:xfrm>
                      <a:prstGeom prst="rect">
                        <a:avLst/>
                      </a:prstGeom>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1" name="Object 11">
            <a:extLst>
              <a:ext uri="{FF2B5EF4-FFF2-40B4-BE49-F238E27FC236}">
                <a16:creationId xmlns:a16="http://schemas.microsoft.com/office/drawing/2014/main" xmlns="" id="{5F00C3B7-0EC3-A137-6500-9DECC6609B35}"/>
              </a:ext>
            </a:extLst>
          </p:cNvPr>
          <p:cNvGraphicFramePr>
            <a:graphicFrameLocks noChangeAspect="1"/>
          </p:cNvGraphicFramePr>
          <p:nvPr>
            <p:extLst>
              <p:ext uri="{D42A27DB-BD31-4B8C-83A1-F6EECF244321}">
                <p14:modId xmlns:p14="http://schemas.microsoft.com/office/powerpoint/2010/main" val="345271618"/>
              </p:ext>
            </p:extLst>
          </p:nvPr>
        </p:nvGraphicFramePr>
        <p:xfrm>
          <a:off x="673313" y="3935315"/>
          <a:ext cx="2935287" cy="381000"/>
        </p:xfrm>
        <a:graphic>
          <a:graphicData uri="http://schemas.openxmlformats.org/presentationml/2006/ole">
            <mc:AlternateContent xmlns:mc="http://schemas.openxmlformats.org/markup-compatibility/2006">
              <mc:Choice xmlns:v="urn:schemas-microsoft-com:vml" Requires="v">
                <p:oleObj spid="_x0000_s132242" r:id="rId11" imgW="1663700" imgH="215900" progId="Equation.3">
                  <p:embed/>
                </p:oleObj>
              </mc:Choice>
              <mc:Fallback>
                <p:oleObj r:id="rId11" imgW="1663700" imgH="21590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73313" y="3935315"/>
                        <a:ext cx="2935287"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pic>
        <p:nvPicPr>
          <p:cNvPr id="12" name="图片 11">
            <a:extLst>
              <a:ext uri="{FF2B5EF4-FFF2-40B4-BE49-F238E27FC236}">
                <a16:creationId xmlns:a16="http://schemas.microsoft.com/office/drawing/2014/main" xmlns="" id="{EC0C37C1-E1E5-61FE-E5C9-943DE1889DE1}"/>
              </a:ext>
            </a:extLst>
          </p:cNvPr>
          <p:cNvPicPr>
            <a:picLocks noChangeAspect="1"/>
          </p:cNvPicPr>
          <p:nvPr/>
        </p:nvPicPr>
        <p:blipFill>
          <a:blip r:embed="rId13"/>
          <a:stretch>
            <a:fillRect/>
          </a:stretch>
        </p:blipFill>
        <p:spPr>
          <a:xfrm>
            <a:off x="5566501" y="1740968"/>
            <a:ext cx="2784724" cy="2301233"/>
          </a:xfrm>
          <a:prstGeom prst="rect">
            <a:avLst/>
          </a:prstGeom>
        </p:spPr>
      </p:pic>
      <p:sp>
        <p:nvSpPr>
          <p:cNvPr id="13" name="Text Box 65">
            <a:extLst>
              <a:ext uri="{FF2B5EF4-FFF2-40B4-BE49-F238E27FC236}">
                <a16:creationId xmlns:a16="http://schemas.microsoft.com/office/drawing/2014/main" xmlns="" id="{754BDEA0-3330-44A9-FBB1-5833CC5EB250}"/>
              </a:ext>
            </a:extLst>
          </p:cNvPr>
          <p:cNvSpPr txBox="1">
            <a:spLocks noChangeArrowheads="1"/>
          </p:cNvSpPr>
          <p:nvPr/>
        </p:nvSpPr>
        <p:spPr bwMode="auto">
          <a:xfrm>
            <a:off x="2785140" y="4502156"/>
            <a:ext cx="2667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p>
            <a:pPr fontAlgn="t">
              <a:spcBef>
                <a:spcPct val="50000"/>
              </a:spcBef>
            </a:pPr>
            <a:r>
              <a:rPr lang="zh-CN" altLang="en-US" sz="2000" b="1" dirty="0">
                <a:solidFill>
                  <a:srgbClr val="0000FF"/>
                </a:solidFill>
                <a:latin typeface="+mn-ea"/>
                <a:ea typeface="+mn-ea"/>
              </a:rPr>
              <a:t>反馈信号取自</a:t>
            </a:r>
            <a:r>
              <a:rPr lang="en-US" altLang="zh-CN" sz="2000" b="1" dirty="0">
                <a:solidFill>
                  <a:srgbClr val="0000FF"/>
                </a:solidFill>
                <a:latin typeface="+mn-ea"/>
                <a:ea typeface="+mn-ea"/>
              </a:rPr>
              <a:t>C</a:t>
            </a:r>
            <a:r>
              <a:rPr lang="en-US" altLang="zh-CN" sz="2000" b="1" baseline="-25000" dirty="0">
                <a:solidFill>
                  <a:srgbClr val="0000FF"/>
                </a:solidFill>
                <a:latin typeface="+mn-ea"/>
                <a:ea typeface="+mn-ea"/>
              </a:rPr>
              <a:t>2</a:t>
            </a:r>
            <a:r>
              <a:rPr lang="zh-CN" altLang="en-US" sz="2000" b="1" dirty="0">
                <a:solidFill>
                  <a:srgbClr val="0000FF"/>
                </a:solidFill>
                <a:latin typeface="+mn-ea"/>
                <a:ea typeface="+mn-ea"/>
              </a:rPr>
              <a:t>两端</a:t>
            </a:r>
          </a:p>
        </p:txBody>
      </p:sp>
      <p:pic>
        <p:nvPicPr>
          <p:cNvPr id="14" name="Picture 17">
            <a:extLst>
              <a:ext uri="{FF2B5EF4-FFF2-40B4-BE49-F238E27FC236}">
                <a16:creationId xmlns:a16="http://schemas.microsoft.com/office/drawing/2014/main" xmlns="" id="{20A1C771-8FAD-693E-E59F-FC1F57A610D7}"/>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02237" y="4336046"/>
            <a:ext cx="1693374" cy="1873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Text Box 19">
            <a:extLst>
              <a:ext uri="{FF2B5EF4-FFF2-40B4-BE49-F238E27FC236}">
                <a16:creationId xmlns:a16="http://schemas.microsoft.com/office/drawing/2014/main" xmlns="" id="{E3DE9D7F-5891-D3E5-BC51-16F1250B7D8E}"/>
              </a:ext>
            </a:extLst>
          </p:cNvPr>
          <p:cNvSpPr txBox="1">
            <a:spLocks noChangeArrowheads="1"/>
          </p:cNvSpPr>
          <p:nvPr/>
        </p:nvSpPr>
        <p:spPr bwMode="auto">
          <a:xfrm>
            <a:off x="1501825" y="6329362"/>
            <a:ext cx="1803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p>
            <a:pPr fontAlgn="t">
              <a:spcBef>
                <a:spcPct val="50000"/>
              </a:spcBef>
            </a:pPr>
            <a:r>
              <a:rPr lang="zh-CN" altLang="en-US" sz="2000" b="1" dirty="0">
                <a:solidFill>
                  <a:srgbClr val="000000"/>
                </a:solidFill>
                <a:latin typeface="+mn-ea"/>
                <a:ea typeface="+mn-ea"/>
              </a:rPr>
              <a:t>直流通路</a:t>
            </a:r>
          </a:p>
        </p:txBody>
      </p:sp>
      <p:pic>
        <p:nvPicPr>
          <p:cNvPr id="16" name="图片 15">
            <a:extLst>
              <a:ext uri="{FF2B5EF4-FFF2-40B4-BE49-F238E27FC236}">
                <a16:creationId xmlns:a16="http://schemas.microsoft.com/office/drawing/2014/main" xmlns="" id="{D5330588-FE2C-4E55-F197-EAFF4304012F}"/>
              </a:ext>
            </a:extLst>
          </p:cNvPr>
          <p:cNvPicPr>
            <a:picLocks noChangeAspect="1"/>
          </p:cNvPicPr>
          <p:nvPr/>
        </p:nvPicPr>
        <p:blipFill>
          <a:blip r:embed="rId15"/>
          <a:stretch>
            <a:fillRect/>
          </a:stretch>
        </p:blipFill>
        <p:spPr>
          <a:xfrm>
            <a:off x="5566501" y="4256261"/>
            <a:ext cx="2939939" cy="2073101"/>
          </a:xfrm>
          <a:prstGeom prst="rect">
            <a:avLst/>
          </a:prstGeom>
        </p:spPr>
      </p:pic>
      <p:sp>
        <p:nvSpPr>
          <p:cNvPr id="17" name="Text Box 21">
            <a:extLst>
              <a:ext uri="{FF2B5EF4-FFF2-40B4-BE49-F238E27FC236}">
                <a16:creationId xmlns:a16="http://schemas.microsoft.com/office/drawing/2014/main" xmlns="" id="{265F268C-C7BD-64EE-9BFC-FB6C45399856}"/>
              </a:ext>
            </a:extLst>
          </p:cNvPr>
          <p:cNvSpPr txBox="1">
            <a:spLocks noChangeArrowheads="1"/>
          </p:cNvSpPr>
          <p:nvPr/>
        </p:nvSpPr>
        <p:spPr bwMode="auto">
          <a:xfrm>
            <a:off x="5676834" y="1360612"/>
            <a:ext cx="236871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a:spAutoFit/>
          </a:bodyPr>
          <a:lstStyle/>
          <a:p>
            <a:pPr fontAlgn="t">
              <a:spcBef>
                <a:spcPct val="50000"/>
              </a:spcBef>
            </a:pPr>
            <a:r>
              <a:rPr lang="zh-CN" altLang="en-US" sz="2000" b="1" dirty="0">
                <a:solidFill>
                  <a:srgbClr val="FF3300"/>
                </a:solidFill>
                <a:latin typeface="+mn-ea"/>
                <a:ea typeface="+mn-ea"/>
              </a:rPr>
              <a:t>电容三点式振荡器</a:t>
            </a:r>
          </a:p>
        </p:txBody>
      </p:sp>
      <p:sp>
        <p:nvSpPr>
          <p:cNvPr id="18" name="Text Box 20">
            <a:extLst>
              <a:ext uri="{FF2B5EF4-FFF2-40B4-BE49-F238E27FC236}">
                <a16:creationId xmlns:a16="http://schemas.microsoft.com/office/drawing/2014/main" xmlns="" id="{CA734F09-D8A4-C50C-C079-2C2CCA2AA1D5}"/>
              </a:ext>
            </a:extLst>
          </p:cNvPr>
          <p:cNvSpPr txBox="1">
            <a:spLocks noChangeArrowheads="1"/>
          </p:cNvSpPr>
          <p:nvPr/>
        </p:nvSpPr>
        <p:spPr bwMode="auto">
          <a:xfrm>
            <a:off x="5867768" y="6453336"/>
            <a:ext cx="1803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p>
            <a:pPr fontAlgn="t">
              <a:spcBef>
                <a:spcPct val="50000"/>
              </a:spcBef>
            </a:pPr>
            <a:r>
              <a:rPr lang="zh-CN" altLang="en-US" sz="2000" b="1" dirty="0">
                <a:solidFill>
                  <a:srgbClr val="000000"/>
                </a:solidFill>
                <a:latin typeface="+mn-ea"/>
                <a:ea typeface="+mn-ea"/>
              </a:rPr>
              <a:t>交流等效电路</a:t>
            </a:r>
          </a:p>
        </p:txBody>
      </p:sp>
    </p:spTree>
    <p:extLst>
      <p:ext uri="{BB962C8B-B14F-4D97-AF65-F5344CB8AC3E}">
        <p14:creationId xmlns:p14="http://schemas.microsoft.com/office/powerpoint/2010/main" val="2519182578"/>
      </p:ext>
    </p:extLst>
  </p:cSld>
  <p:clrMapOvr>
    <a:masterClrMapping/>
  </p:clrMapOvr>
  <p:timing>
    <p:tnLst>
      <p:par>
        <p:cTn id="1" dur="indefinite" restart="never" nodeType="tmRoot"/>
      </p:par>
    </p:tn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173</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5.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正弦波</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振荡器</a:t>
            </a:r>
          </a:p>
        </p:txBody>
      </p:sp>
      <p:sp>
        <p:nvSpPr>
          <p:cNvPr id="5" name="Text Box 6">
            <a:extLst>
              <a:ext uri="{FF2B5EF4-FFF2-40B4-BE49-F238E27FC236}">
                <a16:creationId xmlns:a16="http://schemas.microsoft.com/office/drawing/2014/main" xmlns="" id="{83FE52A1-937D-47AA-7A9D-AEDA09F23057}"/>
              </a:ext>
            </a:extLst>
          </p:cNvPr>
          <p:cNvSpPr txBox="1">
            <a:spLocks noChangeArrowheads="1"/>
          </p:cNvSpPr>
          <p:nvPr/>
        </p:nvSpPr>
        <p:spPr bwMode="auto">
          <a:xfrm>
            <a:off x="571925" y="1340075"/>
            <a:ext cx="32131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t">
              <a:spcBef>
                <a:spcPct val="50000"/>
              </a:spcBef>
            </a:pPr>
            <a:r>
              <a:rPr lang="en-US" altLang="zh-CN" sz="2000" b="1" dirty="0">
                <a:solidFill>
                  <a:schemeClr val="tx1"/>
                </a:solidFill>
                <a:latin typeface="+mn-ea"/>
                <a:ea typeface="+mn-ea"/>
              </a:rPr>
              <a:t>2</a:t>
            </a:r>
            <a:r>
              <a:rPr lang="zh-CN" altLang="en-US" sz="2000" b="1" dirty="0">
                <a:solidFill>
                  <a:schemeClr val="tx1"/>
                </a:solidFill>
                <a:latin typeface="+mn-ea"/>
                <a:ea typeface="+mn-ea"/>
              </a:rPr>
              <a:t>、相位平衡条件</a:t>
            </a:r>
          </a:p>
        </p:txBody>
      </p:sp>
      <p:sp>
        <p:nvSpPr>
          <p:cNvPr id="6" name="Rectangle 7">
            <a:extLst>
              <a:ext uri="{FF2B5EF4-FFF2-40B4-BE49-F238E27FC236}">
                <a16:creationId xmlns:a16="http://schemas.microsoft.com/office/drawing/2014/main" xmlns="" id="{DD231A35-0944-8587-B001-4F075ED7B443}"/>
              </a:ext>
            </a:extLst>
          </p:cNvPr>
          <p:cNvSpPr>
            <a:spLocks noChangeArrowheads="1"/>
          </p:cNvSpPr>
          <p:nvPr/>
        </p:nvSpPr>
        <p:spPr bwMode="auto">
          <a:xfrm>
            <a:off x="611560" y="1847776"/>
            <a:ext cx="4968552" cy="7100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lIns="90000" tIns="46800" rIns="90000" bIns="46800">
            <a:spAutoFit/>
          </a:bodyPr>
          <a:lstStyle/>
          <a:p>
            <a:r>
              <a:rPr lang="en-US" altLang="zh-CN" sz="2000" b="1" dirty="0">
                <a:solidFill>
                  <a:schemeClr val="tx1"/>
                </a:solidFill>
                <a:latin typeface="+mn-ea"/>
                <a:ea typeface="+mn-ea"/>
              </a:rPr>
              <a:t>    </a:t>
            </a:r>
            <a:r>
              <a:rPr lang="zh-CN" altLang="en-US" sz="2000" b="1" dirty="0">
                <a:solidFill>
                  <a:schemeClr val="tx1"/>
                </a:solidFill>
                <a:latin typeface="+mn-ea"/>
                <a:ea typeface="+mn-ea"/>
              </a:rPr>
              <a:t>用</a:t>
            </a:r>
            <a:r>
              <a:rPr lang="zh-CN" altLang="en-US" sz="2000" b="1" dirty="0">
                <a:solidFill>
                  <a:srgbClr val="FF0000"/>
                </a:solidFill>
                <a:latin typeface="+mn-ea"/>
                <a:ea typeface="+mn-ea"/>
              </a:rPr>
              <a:t>矢量法</a:t>
            </a:r>
            <a:r>
              <a:rPr lang="zh-CN" altLang="en-US" sz="2000" b="1" dirty="0">
                <a:solidFill>
                  <a:schemeClr val="tx1"/>
                </a:solidFill>
                <a:latin typeface="+mn-ea"/>
                <a:ea typeface="+mn-ea"/>
              </a:rPr>
              <a:t>分析其交流通路是否满足相位平衡条件，即分析电路是否为正反馈。</a:t>
            </a:r>
          </a:p>
        </p:txBody>
      </p:sp>
      <p:graphicFrame>
        <p:nvGraphicFramePr>
          <p:cNvPr id="7" name="Object 36">
            <a:extLst>
              <a:ext uri="{FF2B5EF4-FFF2-40B4-BE49-F238E27FC236}">
                <a16:creationId xmlns:a16="http://schemas.microsoft.com/office/drawing/2014/main" xmlns="" id="{A63B7BFC-1405-C986-320C-04453214F78B}"/>
              </a:ext>
            </a:extLst>
          </p:cNvPr>
          <p:cNvGraphicFramePr>
            <a:graphicFrameLocks noChangeAspect="1"/>
          </p:cNvGraphicFramePr>
          <p:nvPr>
            <p:extLst>
              <p:ext uri="{D42A27DB-BD31-4B8C-83A1-F6EECF244321}">
                <p14:modId xmlns:p14="http://schemas.microsoft.com/office/powerpoint/2010/main" val="957098712"/>
              </p:ext>
            </p:extLst>
          </p:nvPr>
        </p:nvGraphicFramePr>
        <p:xfrm>
          <a:off x="1155278" y="2580101"/>
          <a:ext cx="3476625" cy="819150"/>
        </p:xfrm>
        <a:graphic>
          <a:graphicData uri="http://schemas.openxmlformats.org/presentationml/2006/ole">
            <mc:AlternateContent xmlns:mc="http://schemas.openxmlformats.org/markup-compatibility/2006">
              <mc:Choice xmlns:v="urn:schemas-microsoft-com:vml" Requires="v">
                <p:oleObj spid="_x0000_s133178" r:id="rId3" imgW="1815312" imgH="444307" progId="Equation.3">
                  <p:embed/>
                </p:oleObj>
              </mc:Choice>
              <mc:Fallback>
                <p:oleObj r:id="rId3" imgW="1815312" imgH="444307" progId="Equation.3">
                  <p:embed/>
                  <p:pic>
                    <p:nvPicPr>
                      <p:cNvPr id="0" name=""/>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5278" y="2580101"/>
                        <a:ext cx="3476625" cy="819150"/>
                      </a:xfrm>
                      <a:prstGeom prst="rect">
                        <a:avLst/>
                      </a:prstGeom>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 name="Object 37">
            <a:extLst>
              <a:ext uri="{FF2B5EF4-FFF2-40B4-BE49-F238E27FC236}">
                <a16:creationId xmlns:a16="http://schemas.microsoft.com/office/drawing/2014/main" xmlns="" id="{BDF5D2CC-DCB2-F3F6-D5AD-D2552A1DC825}"/>
              </a:ext>
            </a:extLst>
          </p:cNvPr>
          <p:cNvGraphicFramePr>
            <a:graphicFrameLocks noChangeAspect="1"/>
          </p:cNvGraphicFramePr>
          <p:nvPr>
            <p:extLst>
              <p:ext uri="{D42A27DB-BD31-4B8C-83A1-F6EECF244321}">
                <p14:modId xmlns:p14="http://schemas.microsoft.com/office/powerpoint/2010/main" val="3791209374"/>
              </p:ext>
            </p:extLst>
          </p:nvPr>
        </p:nvGraphicFramePr>
        <p:xfrm>
          <a:off x="614170" y="3546442"/>
          <a:ext cx="4564063" cy="812800"/>
        </p:xfrm>
        <a:graphic>
          <a:graphicData uri="http://schemas.openxmlformats.org/presentationml/2006/ole">
            <mc:AlternateContent xmlns:mc="http://schemas.openxmlformats.org/markup-compatibility/2006">
              <mc:Choice xmlns:v="urn:schemas-microsoft-com:vml" Requires="v">
                <p:oleObj spid="_x0000_s133179" r:id="rId5" imgW="2603500" imgH="482600" progId="Equation.3">
                  <p:embed/>
                </p:oleObj>
              </mc:Choice>
              <mc:Fallback>
                <p:oleObj r:id="rId5" imgW="2603500" imgH="482600" progId="Equation.3">
                  <p:embed/>
                  <p:pic>
                    <p:nvPicPr>
                      <p:cNvPr id="0" name=""/>
                      <p:cNvPicPr>
                        <a:picLocks noGrp="1"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4170" y="3546442"/>
                        <a:ext cx="4564063" cy="812800"/>
                      </a:xfrm>
                      <a:prstGeom prst="rect">
                        <a:avLst/>
                      </a:prstGeom>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pic>
        <p:nvPicPr>
          <p:cNvPr id="9" name="图片 8">
            <a:extLst>
              <a:ext uri="{FF2B5EF4-FFF2-40B4-BE49-F238E27FC236}">
                <a16:creationId xmlns:a16="http://schemas.microsoft.com/office/drawing/2014/main" xmlns="" id="{D148E433-6C20-FBA1-FD6F-1B77064938C2}"/>
              </a:ext>
            </a:extLst>
          </p:cNvPr>
          <p:cNvPicPr>
            <a:picLocks noChangeAspect="1"/>
          </p:cNvPicPr>
          <p:nvPr/>
        </p:nvPicPr>
        <p:blipFill>
          <a:blip r:embed="rId7"/>
          <a:stretch>
            <a:fillRect/>
          </a:stretch>
        </p:blipFill>
        <p:spPr>
          <a:xfrm>
            <a:off x="5436096" y="1772816"/>
            <a:ext cx="3462828" cy="2737341"/>
          </a:xfrm>
          <a:prstGeom prst="rect">
            <a:avLst/>
          </a:prstGeom>
        </p:spPr>
      </p:pic>
      <p:pic>
        <p:nvPicPr>
          <p:cNvPr id="10" name="图片 9">
            <a:extLst>
              <a:ext uri="{FF2B5EF4-FFF2-40B4-BE49-F238E27FC236}">
                <a16:creationId xmlns:a16="http://schemas.microsoft.com/office/drawing/2014/main" xmlns="" id="{E031FAC0-1174-C3DB-983E-0510628CC319}"/>
              </a:ext>
            </a:extLst>
          </p:cNvPr>
          <p:cNvPicPr>
            <a:picLocks noChangeAspect="1"/>
          </p:cNvPicPr>
          <p:nvPr/>
        </p:nvPicPr>
        <p:blipFill>
          <a:blip r:embed="rId8"/>
          <a:stretch>
            <a:fillRect/>
          </a:stretch>
        </p:blipFill>
        <p:spPr>
          <a:xfrm>
            <a:off x="1475656" y="4580505"/>
            <a:ext cx="3792041" cy="1609483"/>
          </a:xfrm>
          <a:prstGeom prst="rect">
            <a:avLst/>
          </a:prstGeom>
        </p:spPr>
      </p:pic>
    </p:spTree>
    <p:extLst>
      <p:ext uri="{BB962C8B-B14F-4D97-AF65-F5344CB8AC3E}">
        <p14:creationId xmlns:p14="http://schemas.microsoft.com/office/powerpoint/2010/main" val="1718353852"/>
      </p:ext>
    </p:extLst>
  </p:cSld>
  <p:clrMapOvr>
    <a:masterClrMapping/>
  </p:clrMapOvr>
  <p:timing>
    <p:tnLst>
      <p:par>
        <p:cTn id="1" dur="indefinite" restart="never" nodeType="tmRoot"/>
      </p:par>
    </p:tn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174</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5.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正弦波</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振荡器</a:t>
            </a:r>
          </a:p>
        </p:txBody>
      </p:sp>
      <p:sp>
        <p:nvSpPr>
          <p:cNvPr id="5" name="Text Box 7">
            <a:extLst>
              <a:ext uri="{FF2B5EF4-FFF2-40B4-BE49-F238E27FC236}">
                <a16:creationId xmlns:a16="http://schemas.microsoft.com/office/drawing/2014/main" xmlns="" id="{A21C06CB-664E-0FED-62E2-A0CECF9135E1}"/>
              </a:ext>
            </a:extLst>
          </p:cNvPr>
          <p:cNvSpPr txBox="1">
            <a:spLocks noChangeArrowheads="1"/>
          </p:cNvSpPr>
          <p:nvPr/>
        </p:nvSpPr>
        <p:spPr bwMode="auto">
          <a:xfrm>
            <a:off x="430814" y="1535632"/>
            <a:ext cx="32131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t">
              <a:spcBef>
                <a:spcPct val="50000"/>
              </a:spcBef>
            </a:pPr>
            <a:r>
              <a:rPr lang="en-US" altLang="zh-CN" sz="2000" b="1">
                <a:solidFill>
                  <a:schemeClr val="tx1"/>
                </a:solidFill>
                <a:latin typeface="+mn-ea"/>
                <a:ea typeface="+mn-ea"/>
              </a:rPr>
              <a:t>3</a:t>
            </a:r>
            <a:r>
              <a:rPr lang="zh-CN" altLang="en-US" sz="2000" b="1">
                <a:solidFill>
                  <a:schemeClr val="tx1"/>
                </a:solidFill>
                <a:latin typeface="+mn-ea"/>
                <a:ea typeface="+mn-ea"/>
              </a:rPr>
              <a:t>、起振条件</a:t>
            </a:r>
          </a:p>
        </p:txBody>
      </p:sp>
      <p:graphicFrame>
        <p:nvGraphicFramePr>
          <p:cNvPr id="6" name="Object 8">
            <a:extLst>
              <a:ext uri="{FF2B5EF4-FFF2-40B4-BE49-F238E27FC236}">
                <a16:creationId xmlns:a16="http://schemas.microsoft.com/office/drawing/2014/main" xmlns="" id="{F1FCE890-8C2B-CADE-5870-70267B044D9C}"/>
              </a:ext>
            </a:extLst>
          </p:cNvPr>
          <p:cNvGraphicFramePr>
            <a:graphicFrameLocks noChangeAspect="1"/>
          </p:cNvGraphicFramePr>
          <p:nvPr>
            <p:extLst>
              <p:ext uri="{D42A27DB-BD31-4B8C-83A1-F6EECF244321}">
                <p14:modId xmlns:p14="http://schemas.microsoft.com/office/powerpoint/2010/main" val="689633628"/>
              </p:ext>
            </p:extLst>
          </p:nvPr>
        </p:nvGraphicFramePr>
        <p:xfrm>
          <a:off x="2018391" y="1476132"/>
          <a:ext cx="1155700" cy="433387"/>
        </p:xfrm>
        <a:graphic>
          <a:graphicData uri="http://schemas.openxmlformats.org/presentationml/2006/ole">
            <mc:AlternateContent xmlns:mc="http://schemas.openxmlformats.org/markup-compatibility/2006">
              <mc:Choice xmlns:v="urn:schemas-microsoft-com:vml" Requires="v">
                <p:oleObj spid="_x0000_s134342" r:id="rId3" imgW="609600" imgH="228600" progId="Equation.3">
                  <p:embed/>
                </p:oleObj>
              </mc:Choice>
              <mc:Fallback>
                <p:oleObj r:id="rId3" imgW="609600" imgH="228600" progId="Equation.3">
                  <p:embed/>
                  <p:pic>
                    <p:nvPicPr>
                      <p:cNvPr id="0" name=""/>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18391" y="1476132"/>
                        <a:ext cx="1155700" cy="433387"/>
                      </a:xfrm>
                      <a:prstGeom prst="rect">
                        <a:avLst/>
                      </a:prstGeom>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 name="Rectangle 10">
            <a:extLst>
              <a:ext uri="{FF2B5EF4-FFF2-40B4-BE49-F238E27FC236}">
                <a16:creationId xmlns:a16="http://schemas.microsoft.com/office/drawing/2014/main" xmlns="" id="{3BE2544B-5EB7-9B0A-7AD9-CCD8E0DDBF77}"/>
              </a:ext>
            </a:extLst>
          </p:cNvPr>
          <p:cNvSpPr>
            <a:spLocks noChangeArrowheads="1"/>
          </p:cNvSpPr>
          <p:nvPr/>
        </p:nvSpPr>
        <p:spPr bwMode="auto">
          <a:xfrm>
            <a:off x="860010" y="2057325"/>
            <a:ext cx="3681412"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fontAlgn="t">
              <a:spcBef>
                <a:spcPct val="50000"/>
              </a:spcBef>
            </a:pPr>
            <a:r>
              <a:rPr lang="zh-CN" altLang="en-US" sz="2000" b="1" dirty="0">
                <a:solidFill>
                  <a:schemeClr val="tx1"/>
                </a:solidFill>
                <a:latin typeface="+mn-ea"/>
                <a:ea typeface="+mn-ea"/>
              </a:rPr>
              <a:t>分析起振条件时可以利用</a:t>
            </a:r>
            <a:r>
              <a:rPr lang="zh-CN" altLang="en-US" sz="2000" b="1" dirty="0">
                <a:solidFill>
                  <a:srgbClr val="FF0000"/>
                </a:solidFill>
                <a:latin typeface="+mn-ea"/>
                <a:ea typeface="+mn-ea"/>
              </a:rPr>
              <a:t>高频小信号放大器的分析法。</a:t>
            </a:r>
          </a:p>
        </p:txBody>
      </p:sp>
      <p:sp>
        <p:nvSpPr>
          <p:cNvPr id="8" name="Rectangle 11">
            <a:extLst>
              <a:ext uri="{FF2B5EF4-FFF2-40B4-BE49-F238E27FC236}">
                <a16:creationId xmlns:a16="http://schemas.microsoft.com/office/drawing/2014/main" xmlns="" id="{ECD84109-A5F5-D7B0-9FF5-EFD6307D4F1E}"/>
              </a:ext>
            </a:extLst>
          </p:cNvPr>
          <p:cNvSpPr>
            <a:spLocks noChangeArrowheads="1"/>
          </p:cNvSpPr>
          <p:nvPr/>
        </p:nvSpPr>
        <p:spPr bwMode="auto">
          <a:xfrm>
            <a:off x="1237264" y="2846907"/>
            <a:ext cx="12984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fontAlgn="t">
              <a:spcBef>
                <a:spcPct val="50000"/>
              </a:spcBef>
            </a:pPr>
            <a:r>
              <a:rPr lang="en-US" altLang="zh-CN" sz="2000">
                <a:solidFill>
                  <a:schemeClr val="tx1"/>
                </a:solidFill>
                <a:latin typeface="+mn-ea"/>
                <a:ea typeface="+mn-ea"/>
              </a:rPr>
              <a:t> </a:t>
            </a:r>
            <a:endParaRPr lang="en-US" altLang="zh-CN" sz="2000" b="1">
              <a:solidFill>
                <a:schemeClr val="tx1"/>
              </a:solidFill>
              <a:latin typeface="+mn-ea"/>
              <a:ea typeface="+mn-ea"/>
            </a:endParaRPr>
          </a:p>
        </p:txBody>
      </p:sp>
      <p:grpSp>
        <p:nvGrpSpPr>
          <p:cNvPr id="9" name="Group 2">
            <a:extLst>
              <a:ext uri="{FF2B5EF4-FFF2-40B4-BE49-F238E27FC236}">
                <a16:creationId xmlns:a16="http://schemas.microsoft.com/office/drawing/2014/main" xmlns="" id="{3DC03544-D89E-0B38-7F3B-AA03CA05A12A}"/>
              </a:ext>
            </a:extLst>
          </p:cNvPr>
          <p:cNvGrpSpPr>
            <a:grpSpLocks/>
          </p:cNvGrpSpPr>
          <p:nvPr/>
        </p:nvGrpSpPr>
        <p:grpSpPr bwMode="auto">
          <a:xfrm>
            <a:off x="4761668" y="1293608"/>
            <a:ext cx="2563459" cy="1707187"/>
            <a:chOff x="2923" y="2377"/>
            <a:chExt cx="1850" cy="1425"/>
          </a:xfrm>
        </p:grpSpPr>
        <p:pic>
          <p:nvPicPr>
            <p:cNvPr id="10" name="Picture 3">
              <a:extLst>
                <a:ext uri="{FF2B5EF4-FFF2-40B4-BE49-F238E27FC236}">
                  <a16:creationId xmlns:a16="http://schemas.microsoft.com/office/drawing/2014/main" xmlns="" id="{88D88990-F65E-0445-DB55-22EBC680C8B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23" y="2377"/>
              <a:ext cx="1850" cy="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Oval 4">
              <a:extLst>
                <a:ext uri="{FF2B5EF4-FFF2-40B4-BE49-F238E27FC236}">
                  <a16:creationId xmlns:a16="http://schemas.microsoft.com/office/drawing/2014/main" xmlns="" id="{3B8C8E89-3D30-92E5-265F-A703CB96577C}"/>
                </a:ext>
              </a:extLst>
            </p:cNvPr>
            <p:cNvSpPr>
              <a:spLocks noChangeArrowheads="1"/>
            </p:cNvSpPr>
            <p:nvPr/>
          </p:nvSpPr>
          <p:spPr bwMode="auto">
            <a:xfrm>
              <a:off x="3552" y="3096"/>
              <a:ext cx="32" cy="27"/>
            </a:xfrm>
            <a:prstGeom prst="ellipse">
              <a:avLst/>
            </a:prstGeom>
            <a:solidFill>
              <a:srgbClr val="000000"/>
            </a:solidFill>
            <a:ln w="25400">
              <a:solidFill>
                <a:schemeClr val="tx1"/>
              </a:solidFill>
              <a:round/>
              <a:headEnd/>
              <a:tailEnd/>
            </a:ln>
          </p:spPr>
          <p:txBody>
            <a:bodyPr anchor="ctr">
              <a:spAutoFit/>
            </a:bodyPr>
            <a:lstStyle/>
            <a:p>
              <a:endParaRPr lang="zh-CN" altLang="en-US"/>
            </a:p>
          </p:txBody>
        </p:sp>
        <p:sp>
          <p:nvSpPr>
            <p:cNvPr id="12" name="Oval 5">
              <a:extLst>
                <a:ext uri="{FF2B5EF4-FFF2-40B4-BE49-F238E27FC236}">
                  <a16:creationId xmlns:a16="http://schemas.microsoft.com/office/drawing/2014/main" xmlns="" id="{DE1C5461-CE91-A8C8-E42C-E7007F54924F}"/>
                </a:ext>
              </a:extLst>
            </p:cNvPr>
            <p:cNvSpPr>
              <a:spLocks noChangeArrowheads="1"/>
            </p:cNvSpPr>
            <p:nvPr/>
          </p:nvSpPr>
          <p:spPr bwMode="auto">
            <a:xfrm>
              <a:off x="4017" y="3097"/>
              <a:ext cx="32" cy="27"/>
            </a:xfrm>
            <a:prstGeom prst="ellipse">
              <a:avLst/>
            </a:prstGeom>
            <a:solidFill>
              <a:srgbClr val="000000"/>
            </a:solidFill>
            <a:ln w="25400">
              <a:solidFill>
                <a:schemeClr val="tx1"/>
              </a:solidFill>
              <a:round/>
              <a:headEnd/>
              <a:tailEnd/>
            </a:ln>
          </p:spPr>
          <p:txBody>
            <a:bodyPr anchor="ctr">
              <a:spAutoFit/>
            </a:bodyPr>
            <a:lstStyle/>
            <a:p>
              <a:endParaRPr lang="zh-CN" altLang="en-US"/>
            </a:p>
          </p:txBody>
        </p:sp>
      </p:grpSp>
      <p:pic>
        <p:nvPicPr>
          <p:cNvPr id="13" name="图片 12">
            <a:extLst>
              <a:ext uri="{FF2B5EF4-FFF2-40B4-BE49-F238E27FC236}">
                <a16:creationId xmlns:a16="http://schemas.microsoft.com/office/drawing/2014/main" xmlns="" id="{0D76F41E-8EEB-8574-AEEE-073DFAE0F154}"/>
              </a:ext>
            </a:extLst>
          </p:cNvPr>
          <p:cNvPicPr>
            <a:picLocks noChangeAspect="1"/>
          </p:cNvPicPr>
          <p:nvPr/>
        </p:nvPicPr>
        <p:blipFill>
          <a:blip r:embed="rId6"/>
          <a:stretch>
            <a:fillRect/>
          </a:stretch>
        </p:blipFill>
        <p:spPr>
          <a:xfrm>
            <a:off x="484764" y="2506746"/>
            <a:ext cx="4135237" cy="3986129"/>
          </a:xfrm>
          <a:prstGeom prst="rect">
            <a:avLst/>
          </a:prstGeom>
        </p:spPr>
      </p:pic>
      <p:graphicFrame>
        <p:nvGraphicFramePr>
          <p:cNvPr id="14" name="Object 9">
            <a:extLst>
              <a:ext uri="{FF2B5EF4-FFF2-40B4-BE49-F238E27FC236}">
                <a16:creationId xmlns:a16="http://schemas.microsoft.com/office/drawing/2014/main" xmlns="" id="{DD8F5F41-0B39-5DF8-EC8A-7174C040792E}"/>
              </a:ext>
            </a:extLst>
          </p:cNvPr>
          <p:cNvGraphicFramePr>
            <a:graphicFrameLocks noChangeAspect="1"/>
          </p:cNvGraphicFramePr>
          <p:nvPr>
            <p:extLst>
              <p:ext uri="{D42A27DB-BD31-4B8C-83A1-F6EECF244321}">
                <p14:modId xmlns:p14="http://schemas.microsoft.com/office/powerpoint/2010/main" val="3667846155"/>
              </p:ext>
            </p:extLst>
          </p:nvPr>
        </p:nvGraphicFramePr>
        <p:xfrm>
          <a:off x="4977702" y="3018208"/>
          <a:ext cx="3086100" cy="487362"/>
        </p:xfrm>
        <a:graphic>
          <a:graphicData uri="http://schemas.openxmlformats.org/presentationml/2006/ole">
            <mc:AlternateContent xmlns:mc="http://schemas.openxmlformats.org/markup-compatibility/2006">
              <mc:Choice xmlns:v="urn:schemas-microsoft-com:vml" Requires="v">
                <p:oleObj spid="_x0000_s134343" r:id="rId7" imgW="1777229" imgH="291973" progId="Equation.3">
                  <p:embed/>
                </p:oleObj>
              </mc:Choice>
              <mc:Fallback>
                <p:oleObj r:id="rId7" imgW="1777229" imgH="291973" progId="Equation.3">
                  <p:embed/>
                  <p:pic>
                    <p:nvPicPr>
                      <p:cNvPr id="0" name=""/>
                      <p:cNvPicPr>
                        <a:picLocks noGrp="1"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977702" y="3018208"/>
                        <a:ext cx="3086100" cy="487362"/>
                      </a:xfrm>
                      <a:prstGeom prst="rect">
                        <a:avLst/>
                      </a:prstGeom>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5" name="Object 16">
            <a:extLst>
              <a:ext uri="{FF2B5EF4-FFF2-40B4-BE49-F238E27FC236}">
                <a16:creationId xmlns:a16="http://schemas.microsoft.com/office/drawing/2014/main" xmlns="" id="{B6F5B150-ECEF-E250-F56F-82B7BE262810}"/>
              </a:ext>
            </a:extLst>
          </p:cNvPr>
          <p:cNvGraphicFramePr>
            <a:graphicFrameLocks noChangeAspect="1"/>
          </p:cNvGraphicFramePr>
          <p:nvPr>
            <p:extLst>
              <p:ext uri="{D42A27DB-BD31-4B8C-83A1-F6EECF244321}">
                <p14:modId xmlns:p14="http://schemas.microsoft.com/office/powerpoint/2010/main" val="1260715561"/>
              </p:ext>
            </p:extLst>
          </p:nvPr>
        </p:nvGraphicFramePr>
        <p:xfrm>
          <a:off x="4536026" y="3564458"/>
          <a:ext cx="1549400" cy="577850"/>
        </p:xfrm>
        <a:graphic>
          <a:graphicData uri="http://schemas.openxmlformats.org/presentationml/2006/ole">
            <mc:AlternateContent xmlns:mc="http://schemas.openxmlformats.org/markup-compatibility/2006">
              <mc:Choice xmlns:v="urn:schemas-microsoft-com:vml" Requires="v">
                <p:oleObj spid="_x0000_s134344" r:id="rId9" imgW="634725" imgH="241195" progId="Equation.DSMT4">
                  <p:embed/>
                </p:oleObj>
              </mc:Choice>
              <mc:Fallback>
                <p:oleObj r:id="rId9" imgW="634725" imgH="241195" progId="Equation.DSMT4">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536026" y="3564458"/>
                        <a:ext cx="1549400"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6" name="Object 17">
            <a:extLst>
              <a:ext uri="{FF2B5EF4-FFF2-40B4-BE49-F238E27FC236}">
                <a16:creationId xmlns:a16="http://schemas.microsoft.com/office/drawing/2014/main" xmlns="" id="{46A743C2-C219-5E65-43E6-245237796CB3}"/>
              </a:ext>
            </a:extLst>
          </p:cNvPr>
          <p:cNvGraphicFramePr>
            <a:graphicFrameLocks noChangeAspect="1"/>
          </p:cNvGraphicFramePr>
          <p:nvPr>
            <p:extLst>
              <p:ext uri="{D42A27DB-BD31-4B8C-83A1-F6EECF244321}">
                <p14:modId xmlns:p14="http://schemas.microsoft.com/office/powerpoint/2010/main" val="757151055"/>
              </p:ext>
            </p:extLst>
          </p:nvPr>
        </p:nvGraphicFramePr>
        <p:xfrm>
          <a:off x="6353769" y="3441766"/>
          <a:ext cx="1689100" cy="893762"/>
        </p:xfrm>
        <a:graphic>
          <a:graphicData uri="http://schemas.openxmlformats.org/presentationml/2006/ole">
            <mc:AlternateContent xmlns:mc="http://schemas.openxmlformats.org/markup-compatibility/2006">
              <mc:Choice xmlns:v="urn:schemas-microsoft-com:vml" Requires="v">
                <p:oleObj spid="_x0000_s134345" r:id="rId11" imgW="800100" imgH="457200" progId="Equation.DSMT4">
                  <p:embed/>
                </p:oleObj>
              </mc:Choice>
              <mc:Fallback>
                <p:oleObj r:id="rId11" imgW="800100" imgH="457200" progId="Equation.DSMT4">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353769" y="3441766"/>
                        <a:ext cx="1689100" cy="893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7" name="Object 18">
            <a:extLst>
              <a:ext uri="{FF2B5EF4-FFF2-40B4-BE49-F238E27FC236}">
                <a16:creationId xmlns:a16="http://schemas.microsoft.com/office/drawing/2014/main" xmlns="" id="{4CBE3814-E990-2E15-BC95-B61EBBA1F0CD}"/>
              </a:ext>
            </a:extLst>
          </p:cNvPr>
          <p:cNvGraphicFramePr>
            <a:graphicFrameLocks noChangeAspect="1"/>
          </p:cNvGraphicFramePr>
          <p:nvPr>
            <p:extLst>
              <p:ext uri="{D42A27DB-BD31-4B8C-83A1-F6EECF244321}">
                <p14:modId xmlns:p14="http://schemas.microsoft.com/office/powerpoint/2010/main" val="3305303100"/>
              </p:ext>
            </p:extLst>
          </p:nvPr>
        </p:nvGraphicFramePr>
        <p:xfrm>
          <a:off x="5317827" y="4664396"/>
          <a:ext cx="2016125" cy="1009650"/>
        </p:xfrm>
        <a:graphic>
          <a:graphicData uri="http://schemas.openxmlformats.org/presentationml/2006/ole">
            <mc:AlternateContent xmlns:mc="http://schemas.openxmlformats.org/markup-compatibility/2006">
              <mc:Choice xmlns:v="urn:schemas-microsoft-com:vml" Requires="v">
                <p:oleObj spid="_x0000_s134346" r:id="rId13" imgW="952087" imgH="495085" progId="Equation.3">
                  <p:embed/>
                </p:oleObj>
              </mc:Choice>
              <mc:Fallback>
                <p:oleObj r:id="rId13" imgW="952087" imgH="495085" progId="Equation.3">
                  <p:embed/>
                  <p:pic>
                    <p:nvPicPr>
                      <p:cNvPr id="0" name=""/>
                      <p:cNvPicPr>
                        <a:picLocks noGrp="1"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317827" y="4664396"/>
                        <a:ext cx="2016125" cy="1009650"/>
                      </a:xfrm>
                      <a:prstGeom prst="rect">
                        <a:avLst/>
                      </a:prstGeom>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8" name="Object 19">
            <a:extLst>
              <a:ext uri="{FF2B5EF4-FFF2-40B4-BE49-F238E27FC236}">
                <a16:creationId xmlns:a16="http://schemas.microsoft.com/office/drawing/2014/main" xmlns="" id="{F567AE00-2B32-CC2C-5F59-CD4B99592D1E}"/>
              </a:ext>
            </a:extLst>
          </p:cNvPr>
          <p:cNvGraphicFramePr>
            <a:graphicFrameLocks noChangeAspect="1"/>
          </p:cNvGraphicFramePr>
          <p:nvPr>
            <p:extLst>
              <p:ext uri="{D42A27DB-BD31-4B8C-83A1-F6EECF244321}">
                <p14:modId xmlns:p14="http://schemas.microsoft.com/office/powerpoint/2010/main" val="2495036069"/>
              </p:ext>
            </p:extLst>
          </p:nvPr>
        </p:nvGraphicFramePr>
        <p:xfrm>
          <a:off x="4611389" y="5543871"/>
          <a:ext cx="3376613" cy="514350"/>
        </p:xfrm>
        <a:graphic>
          <a:graphicData uri="http://schemas.openxmlformats.org/presentationml/2006/ole">
            <mc:AlternateContent xmlns:mc="http://schemas.openxmlformats.org/markup-compatibility/2006">
              <mc:Choice xmlns:v="urn:schemas-microsoft-com:vml" Requires="v">
                <p:oleObj spid="_x0000_s134347" r:id="rId15" imgW="1574800" imgH="241300" progId="Equation.DSMT4">
                  <p:embed/>
                </p:oleObj>
              </mc:Choice>
              <mc:Fallback>
                <p:oleObj r:id="rId15" imgW="1574800" imgH="241300" progId="Equation.DSMT4">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611389" y="5543871"/>
                        <a:ext cx="3376613"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9" name="Object 20">
            <a:extLst>
              <a:ext uri="{FF2B5EF4-FFF2-40B4-BE49-F238E27FC236}">
                <a16:creationId xmlns:a16="http://schemas.microsoft.com/office/drawing/2014/main" xmlns="" id="{22EB19F7-877E-787A-CCB9-0C6078E69DAC}"/>
              </a:ext>
            </a:extLst>
          </p:cNvPr>
          <p:cNvGraphicFramePr>
            <a:graphicFrameLocks noChangeAspect="1"/>
          </p:cNvGraphicFramePr>
          <p:nvPr>
            <p:extLst>
              <p:ext uri="{D42A27DB-BD31-4B8C-83A1-F6EECF244321}">
                <p14:modId xmlns:p14="http://schemas.microsoft.com/office/powerpoint/2010/main" val="997419462"/>
              </p:ext>
            </p:extLst>
          </p:nvPr>
        </p:nvGraphicFramePr>
        <p:xfrm>
          <a:off x="5195589" y="6229671"/>
          <a:ext cx="1397000" cy="487363"/>
        </p:xfrm>
        <a:graphic>
          <a:graphicData uri="http://schemas.openxmlformats.org/presentationml/2006/ole">
            <mc:AlternateContent xmlns:mc="http://schemas.openxmlformats.org/markup-compatibility/2006">
              <mc:Choice xmlns:v="urn:schemas-microsoft-com:vml" Requires="v">
                <p:oleObj spid="_x0000_s134348" r:id="rId17" imgW="672808" imgH="241195" progId="Equation.DSMT4">
                  <p:embed/>
                </p:oleObj>
              </mc:Choice>
              <mc:Fallback>
                <p:oleObj r:id="rId17" imgW="672808" imgH="241195" progId="Equation.DSMT4">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195589" y="6229671"/>
                        <a:ext cx="1397000"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0" name="Text Box 21">
            <a:extLst>
              <a:ext uri="{FF2B5EF4-FFF2-40B4-BE49-F238E27FC236}">
                <a16:creationId xmlns:a16="http://schemas.microsoft.com/office/drawing/2014/main" xmlns="" id="{EEE46328-5594-17BF-6AF5-089B58C0DF00}"/>
              </a:ext>
            </a:extLst>
          </p:cNvPr>
          <p:cNvSpPr txBox="1">
            <a:spLocks noChangeArrowheads="1"/>
          </p:cNvSpPr>
          <p:nvPr/>
        </p:nvSpPr>
        <p:spPr bwMode="auto">
          <a:xfrm>
            <a:off x="4210735" y="4367018"/>
            <a:ext cx="29337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p>
            <a:pPr fontAlgn="t">
              <a:spcBef>
                <a:spcPct val="50000"/>
              </a:spcBef>
            </a:pPr>
            <a:r>
              <a:rPr lang="zh-CN" altLang="en-US" sz="2000" b="1" dirty="0">
                <a:solidFill>
                  <a:srgbClr val="000000"/>
                </a:solidFill>
                <a:latin typeface="+mn-ea"/>
                <a:ea typeface="+mn-ea"/>
              </a:rPr>
              <a:t>（</a:t>
            </a:r>
            <a:r>
              <a:rPr lang="en-US" altLang="zh-CN" sz="2000" b="1" dirty="0">
                <a:solidFill>
                  <a:srgbClr val="000000"/>
                </a:solidFill>
                <a:latin typeface="+mn-ea"/>
                <a:ea typeface="+mn-ea"/>
              </a:rPr>
              <a:t>1</a:t>
            </a:r>
            <a:r>
              <a:rPr lang="zh-CN" altLang="en-US" sz="2000" b="1" dirty="0">
                <a:solidFill>
                  <a:srgbClr val="000000"/>
                </a:solidFill>
                <a:latin typeface="+mn-ea"/>
                <a:ea typeface="+mn-ea"/>
              </a:rPr>
              <a:t>） 电压增益</a:t>
            </a:r>
          </a:p>
        </p:txBody>
      </p:sp>
    </p:spTree>
    <p:extLst>
      <p:ext uri="{BB962C8B-B14F-4D97-AF65-F5344CB8AC3E}">
        <p14:creationId xmlns:p14="http://schemas.microsoft.com/office/powerpoint/2010/main" val="986568216"/>
      </p:ext>
    </p:extLst>
  </p:cSld>
  <p:clrMapOvr>
    <a:masterClrMapping/>
  </p:clrMapOvr>
  <p:timing>
    <p:tnLst>
      <p:par>
        <p:cTn id="1" dur="indefinite" restart="never" nodeType="tmRoot"/>
      </p:par>
    </p:tn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175</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5.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正弦波</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振荡器</a:t>
            </a:r>
          </a:p>
        </p:txBody>
      </p:sp>
      <p:sp>
        <p:nvSpPr>
          <p:cNvPr id="5" name="Rectangle 3">
            <a:extLst>
              <a:ext uri="{FF2B5EF4-FFF2-40B4-BE49-F238E27FC236}">
                <a16:creationId xmlns:a16="http://schemas.microsoft.com/office/drawing/2014/main" xmlns="" id="{371A4E2F-6A96-8102-FD5D-052F6411AB0D}"/>
              </a:ext>
            </a:extLst>
          </p:cNvPr>
          <p:cNvSpPr>
            <a:spLocks noChangeArrowheads="1"/>
          </p:cNvSpPr>
          <p:nvPr/>
        </p:nvSpPr>
        <p:spPr bwMode="auto">
          <a:xfrm>
            <a:off x="1211508" y="2454653"/>
            <a:ext cx="13680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fontAlgn="t">
              <a:spcBef>
                <a:spcPct val="50000"/>
              </a:spcBef>
            </a:pPr>
            <a:r>
              <a:rPr lang="en-US" altLang="zh-CN" sz="2000">
                <a:solidFill>
                  <a:schemeClr val="tx1"/>
                </a:solidFill>
                <a:latin typeface="+mn-ea"/>
                <a:ea typeface="+mn-ea"/>
              </a:rPr>
              <a:t> </a:t>
            </a:r>
            <a:endParaRPr lang="en-US" altLang="zh-CN" sz="2000" b="1">
              <a:solidFill>
                <a:schemeClr val="tx1"/>
              </a:solidFill>
              <a:latin typeface="+mn-ea"/>
              <a:ea typeface="+mn-ea"/>
            </a:endParaRPr>
          </a:p>
        </p:txBody>
      </p:sp>
      <p:sp>
        <p:nvSpPr>
          <p:cNvPr id="6" name="Rectangle 5">
            <a:extLst>
              <a:ext uri="{FF2B5EF4-FFF2-40B4-BE49-F238E27FC236}">
                <a16:creationId xmlns:a16="http://schemas.microsoft.com/office/drawing/2014/main" xmlns="" id="{9A02998F-9EA9-C8C1-4276-F487F3D30DE9}"/>
              </a:ext>
            </a:extLst>
          </p:cNvPr>
          <p:cNvSpPr>
            <a:spLocks noChangeArrowheads="1"/>
          </p:cNvSpPr>
          <p:nvPr/>
        </p:nvSpPr>
        <p:spPr bwMode="auto">
          <a:xfrm>
            <a:off x="216146" y="1370391"/>
            <a:ext cx="442920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pPr>
            <a:r>
              <a:rPr lang="zh-CN" altLang="en-US" sz="2000" b="1">
                <a:solidFill>
                  <a:schemeClr val="tx1"/>
                </a:solidFill>
                <a:latin typeface="+mn-ea"/>
                <a:ea typeface="+mn-ea"/>
              </a:rPr>
              <a:t>（</a:t>
            </a:r>
            <a:r>
              <a:rPr lang="en-US" altLang="zh-CN" sz="2000" b="1">
                <a:solidFill>
                  <a:schemeClr val="tx1"/>
                </a:solidFill>
                <a:latin typeface="+mn-ea"/>
                <a:ea typeface="+mn-ea"/>
              </a:rPr>
              <a:t>2</a:t>
            </a:r>
            <a:r>
              <a:rPr lang="zh-CN" altLang="en-US" sz="2000" b="1">
                <a:solidFill>
                  <a:schemeClr val="tx1"/>
                </a:solidFill>
                <a:latin typeface="+mn-ea"/>
                <a:ea typeface="+mn-ea"/>
              </a:rPr>
              <a:t>）反馈系数（忽略各个</a:t>
            </a:r>
            <a:r>
              <a:rPr lang="en-US" altLang="zh-CN" sz="2000" b="1">
                <a:solidFill>
                  <a:schemeClr val="tx1"/>
                </a:solidFill>
                <a:latin typeface="+mn-ea"/>
                <a:ea typeface="+mn-ea"/>
              </a:rPr>
              <a:t>g</a:t>
            </a:r>
            <a:r>
              <a:rPr lang="zh-CN" altLang="en-US" sz="2000" b="1">
                <a:solidFill>
                  <a:schemeClr val="tx1"/>
                </a:solidFill>
                <a:latin typeface="+mn-ea"/>
                <a:ea typeface="+mn-ea"/>
              </a:rPr>
              <a:t>的影响）</a:t>
            </a:r>
          </a:p>
        </p:txBody>
      </p:sp>
      <p:graphicFrame>
        <p:nvGraphicFramePr>
          <p:cNvPr id="7" name="Object 6">
            <a:extLst>
              <a:ext uri="{FF2B5EF4-FFF2-40B4-BE49-F238E27FC236}">
                <a16:creationId xmlns:a16="http://schemas.microsoft.com/office/drawing/2014/main" xmlns="" id="{A45C8692-045D-0E8A-1AFF-7D3EE54A4799}"/>
              </a:ext>
            </a:extLst>
          </p:cNvPr>
          <p:cNvGraphicFramePr>
            <a:graphicFrameLocks noChangeAspect="1"/>
          </p:cNvGraphicFramePr>
          <p:nvPr>
            <p:extLst>
              <p:ext uri="{D42A27DB-BD31-4B8C-83A1-F6EECF244321}">
                <p14:modId xmlns:p14="http://schemas.microsoft.com/office/powerpoint/2010/main" val="688372294"/>
              </p:ext>
            </p:extLst>
          </p:nvPr>
        </p:nvGraphicFramePr>
        <p:xfrm>
          <a:off x="619442" y="1700859"/>
          <a:ext cx="3238271" cy="1687512"/>
        </p:xfrm>
        <a:graphic>
          <a:graphicData uri="http://schemas.openxmlformats.org/presentationml/2006/ole">
            <mc:AlternateContent xmlns:mc="http://schemas.openxmlformats.org/markup-compatibility/2006">
              <mc:Choice xmlns:v="urn:schemas-microsoft-com:vml" Requires="v">
                <p:oleObj spid="_x0000_s135282" r:id="rId3" imgW="1663700" imgH="914400" progId="Equation.3">
                  <p:embed/>
                </p:oleObj>
              </mc:Choice>
              <mc:Fallback>
                <p:oleObj r:id="rId3" imgW="1663700" imgH="9144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9442" y="1700859"/>
                        <a:ext cx="3238271" cy="1687512"/>
                      </a:xfrm>
                      <a:prstGeom prst="rect">
                        <a:avLst/>
                      </a:prstGeom>
                      <a:noFill/>
                      <a:ln>
                        <a:noFill/>
                      </a:ln>
                    </p:spPr>
                  </p:pic>
                </p:oleObj>
              </mc:Fallback>
            </mc:AlternateContent>
          </a:graphicData>
        </a:graphic>
      </p:graphicFrame>
      <p:pic>
        <p:nvPicPr>
          <p:cNvPr id="8" name="图片 7">
            <a:extLst>
              <a:ext uri="{FF2B5EF4-FFF2-40B4-BE49-F238E27FC236}">
                <a16:creationId xmlns:a16="http://schemas.microsoft.com/office/drawing/2014/main" xmlns="" id="{42979129-5EB5-AD2D-8170-425A42A44BCE}"/>
              </a:ext>
            </a:extLst>
          </p:cNvPr>
          <p:cNvPicPr>
            <a:picLocks noChangeAspect="1"/>
          </p:cNvPicPr>
          <p:nvPr/>
        </p:nvPicPr>
        <p:blipFill>
          <a:blip r:embed="rId5"/>
          <a:stretch>
            <a:fillRect/>
          </a:stretch>
        </p:blipFill>
        <p:spPr>
          <a:xfrm>
            <a:off x="4261009" y="1711096"/>
            <a:ext cx="4334926" cy="1773629"/>
          </a:xfrm>
          <a:prstGeom prst="rect">
            <a:avLst/>
          </a:prstGeom>
        </p:spPr>
      </p:pic>
      <p:graphicFrame>
        <p:nvGraphicFramePr>
          <p:cNvPr id="9" name="Object 10">
            <a:extLst>
              <a:ext uri="{FF2B5EF4-FFF2-40B4-BE49-F238E27FC236}">
                <a16:creationId xmlns:a16="http://schemas.microsoft.com/office/drawing/2014/main" xmlns="" id="{36CF903F-A05F-E71E-7094-7ACDB579E2F8}"/>
              </a:ext>
            </a:extLst>
          </p:cNvPr>
          <p:cNvGraphicFramePr>
            <a:graphicFrameLocks noChangeAspect="1"/>
          </p:cNvGraphicFramePr>
          <p:nvPr>
            <p:extLst>
              <p:ext uri="{D42A27DB-BD31-4B8C-83A1-F6EECF244321}">
                <p14:modId xmlns:p14="http://schemas.microsoft.com/office/powerpoint/2010/main" val="961745261"/>
              </p:ext>
            </p:extLst>
          </p:nvPr>
        </p:nvGraphicFramePr>
        <p:xfrm>
          <a:off x="2845702" y="3144727"/>
          <a:ext cx="2159000" cy="927100"/>
        </p:xfrm>
        <a:graphic>
          <a:graphicData uri="http://schemas.openxmlformats.org/presentationml/2006/ole">
            <mc:AlternateContent xmlns:mc="http://schemas.openxmlformats.org/markup-compatibility/2006">
              <mc:Choice xmlns:v="urn:schemas-microsoft-com:vml" Requires="v">
                <p:oleObj spid="_x0000_s135283" r:id="rId6" imgW="1155199" imgH="495085" progId="Equation.DSMT4">
                  <p:embed/>
                </p:oleObj>
              </mc:Choice>
              <mc:Fallback>
                <p:oleObj r:id="rId6" imgW="1155199" imgH="495085"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45702" y="3144727"/>
                        <a:ext cx="2159000" cy="927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0" name="Object 11">
            <a:extLst>
              <a:ext uri="{FF2B5EF4-FFF2-40B4-BE49-F238E27FC236}">
                <a16:creationId xmlns:a16="http://schemas.microsoft.com/office/drawing/2014/main" xmlns="" id="{8DA9EF0E-81F2-0835-FC69-22D182DCC55B}"/>
              </a:ext>
            </a:extLst>
          </p:cNvPr>
          <p:cNvGraphicFramePr>
            <a:graphicFrameLocks noChangeAspect="1"/>
          </p:cNvGraphicFramePr>
          <p:nvPr>
            <p:extLst>
              <p:ext uri="{D42A27DB-BD31-4B8C-83A1-F6EECF244321}">
                <p14:modId xmlns:p14="http://schemas.microsoft.com/office/powerpoint/2010/main" val="57489549"/>
              </p:ext>
            </p:extLst>
          </p:nvPr>
        </p:nvGraphicFramePr>
        <p:xfrm>
          <a:off x="765284" y="3990865"/>
          <a:ext cx="7658100" cy="877887"/>
        </p:xfrm>
        <a:graphic>
          <a:graphicData uri="http://schemas.openxmlformats.org/presentationml/2006/ole">
            <mc:AlternateContent xmlns:mc="http://schemas.openxmlformats.org/markup-compatibility/2006">
              <mc:Choice xmlns:v="urn:schemas-microsoft-com:vml" Requires="v">
                <p:oleObj spid="_x0000_s135284" r:id="rId8" imgW="4000500" imgH="457200" progId="Equation.DSMT4">
                  <p:embed/>
                </p:oleObj>
              </mc:Choice>
              <mc:Fallback>
                <p:oleObj r:id="rId8" imgW="4000500" imgH="457200"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65284" y="3990865"/>
                        <a:ext cx="7658100" cy="877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1" name="Rectangle 12">
            <a:extLst>
              <a:ext uri="{FF2B5EF4-FFF2-40B4-BE49-F238E27FC236}">
                <a16:creationId xmlns:a16="http://schemas.microsoft.com/office/drawing/2014/main" xmlns="" id="{9EA14AB1-4FB0-25D9-5C41-5EBAE7526E98}"/>
              </a:ext>
            </a:extLst>
          </p:cNvPr>
          <p:cNvSpPr>
            <a:spLocks noChangeArrowheads="1"/>
          </p:cNvSpPr>
          <p:nvPr/>
        </p:nvSpPr>
        <p:spPr bwMode="auto">
          <a:xfrm>
            <a:off x="194577" y="3311414"/>
            <a:ext cx="4572000" cy="400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2075" tIns="46038" rIns="92075" bIns="46038">
            <a:spAutoFit/>
          </a:bodyPr>
          <a:lstStyle/>
          <a:p>
            <a:pPr eaLnBrk="0" hangingPunct="0"/>
            <a:r>
              <a:rPr lang="zh-CN" altLang="en-US" sz="2000" b="1">
                <a:solidFill>
                  <a:schemeClr val="tx1"/>
                </a:solidFill>
                <a:latin typeface="+mn-ea"/>
                <a:ea typeface="+mn-ea"/>
              </a:rPr>
              <a:t>（</a:t>
            </a:r>
            <a:r>
              <a:rPr lang="en-US" altLang="zh-CN" sz="2000" b="1">
                <a:solidFill>
                  <a:schemeClr val="tx1"/>
                </a:solidFill>
                <a:latin typeface="+mn-ea"/>
                <a:ea typeface="+mn-ea"/>
              </a:rPr>
              <a:t>3</a:t>
            </a:r>
            <a:r>
              <a:rPr lang="zh-CN" altLang="en-US" sz="2000" b="1">
                <a:solidFill>
                  <a:schemeClr val="tx1"/>
                </a:solidFill>
                <a:latin typeface="+mn-ea"/>
                <a:ea typeface="+mn-ea"/>
              </a:rPr>
              <a:t>）起振条件</a:t>
            </a:r>
          </a:p>
        </p:txBody>
      </p:sp>
      <p:graphicFrame>
        <p:nvGraphicFramePr>
          <p:cNvPr id="12" name="Object 13">
            <a:extLst>
              <a:ext uri="{FF2B5EF4-FFF2-40B4-BE49-F238E27FC236}">
                <a16:creationId xmlns:a16="http://schemas.microsoft.com/office/drawing/2014/main" xmlns="" id="{836789D9-00C5-5F87-E3D8-A893D51AADA5}"/>
              </a:ext>
            </a:extLst>
          </p:cNvPr>
          <p:cNvGraphicFramePr>
            <a:graphicFrameLocks noChangeAspect="1"/>
          </p:cNvGraphicFramePr>
          <p:nvPr>
            <p:extLst>
              <p:ext uri="{D42A27DB-BD31-4B8C-83A1-F6EECF244321}">
                <p14:modId xmlns:p14="http://schemas.microsoft.com/office/powerpoint/2010/main" val="240912774"/>
              </p:ext>
            </p:extLst>
          </p:nvPr>
        </p:nvGraphicFramePr>
        <p:xfrm>
          <a:off x="4643918" y="4789205"/>
          <a:ext cx="3944938" cy="674687"/>
        </p:xfrm>
        <a:graphic>
          <a:graphicData uri="http://schemas.openxmlformats.org/presentationml/2006/ole">
            <mc:AlternateContent xmlns:mc="http://schemas.openxmlformats.org/markup-compatibility/2006">
              <mc:Choice xmlns:v="urn:schemas-microsoft-com:vml" Requires="v">
                <p:oleObj spid="_x0000_s135285" r:id="rId10" imgW="1841500" imgH="393700" progId="Equation.DSMT4">
                  <p:embed/>
                </p:oleObj>
              </mc:Choice>
              <mc:Fallback>
                <p:oleObj r:id="rId10" imgW="1841500" imgH="393700"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643918" y="4789205"/>
                        <a:ext cx="3944938" cy="674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3" name="Rectangle 14">
            <a:extLst>
              <a:ext uri="{FF2B5EF4-FFF2-40B4-BE49-F238E27FC236}">
                <a16:creationId xmlns:a16="http://schemas.microsoft.com/office/drawing/2014/main" xmlns="" id="{525EF85B-4CE4-527B-C69B-E5E825E8399B}"/>
              </a:ext>
            </a:extLst>
          </p:cNvPr>
          <p:cNvSpPr>
            <a:spLocks noChangeArrowheads="1"/>
          </p:cNvSpPr>
          <p:nvPr/>
        </p:nvSpPr>
        <p:spPr bwMode="auto">
          <a:xfrm>
            <a:off x="324872" y="4867933"/>
            <a:ext cx="7620000" cy="954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2075" tIns="46038" rIns="92075" bIns="46038">
            <a:spAutoFit/>
          </a:bodyPr>
          <a:lstStyle/>
          <a:p>
            <a:pPr eaLnBrk="0" hangingPunct="0">
              <a:lnSpc>
                <a:spcPct val="150000"/>
              </a:lnSpc>
            </a:pPr>
            <a:r>
              <a:rPr lang="en-US" altLang="zh-CN" sz="2000" b="1" dirty="0">
                <a:solidFill>
                  <a:schemeClr val="tx1"/>
                </a:solidFill>
                <a:latin typeface="+mn-ea"/>
                <a:ea typeface="+mn-ea"/>
              </a:rPr>
              <a:t>  ① </a:t>
            </a:r>
            <a:r>
              <a:rPr lang="zh-CN" altLang="en-US" sz="2000" b="1" dirty="0">
                <a:solidFill>
                  <a:schemeClr val="tx1"/>
                </a:solidFill>
                <a:latin typeface="+mn-ea"/>
                <a:ea typeface="+mn-ea"/>
              </a:rPr>
              <a:t>满足起振条件是选取晶体管的  </a:t>
            </a:r>
          </a:p>
          <a:p>
            <a:pPr eaLnBrk="0" hangingPunct="0">
              <a:lnSpc>
                <a:spcPct val="80000"/>
              </a:lnSpc>
              <a:spcBef>
                <a:spcPct val="50000"/>
              </a:spcBef>
            </a:pPr>
            <a:r>
              <a:rPr lang="zh-CN" altLang="en-US" sz="2000" b="1" dirty="0">
                <a:solidFill>
                  <a:schemeClr val="tx1"/>
                </a:solidFill>
                <a:latin typeface="+mn-ea"/>
                <a:ea typeface="+mn-ea"/>
              </a:rPr>
              <a:t> </a:t>
            </a:r>
          </a:p>
        </p:txBody>
      </p:sp>
      <p:sp>
        <p:nvSpPr>
          <p:cNvPr id="14" name="Rectangle 15">
            <a:extLst>
              <a:ext uri="{FF2B5EF4-FFF2-40B4-BE49-F238E27FC236}">
                <a16:creationId xmlns:a16="http://schemas.microsoft.com/office/drawing/2014/main" xmlns="" id="{ABCBAA74-F4A0-2AB0-9175-66CA75BAFDEB}"/>
              </a:ext>
            </a:extLst>
          </p:cNvPr>
          <p:cNvSpPr>
            <a:spLocks noChangeArrowheads="1"/>
          </p:cNvSpPr>
          <p:nvPr/>
        </p:nvSpPr>
        <p:spPr bwMode="auto">
          <a:xfrm>
            <a:off x="601770" y="5651062"/>
            <a:ext cx="8329613"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p>
            <a:pPr fontAlgn="t">
              <a:spcBef>
                <a:spcPct val="50000"/>
              </a:spcBef>
            </a:pPr>
            <a:r>
              <a:rPr lang="en-US" altLang="zh-CN" sz="2000" b="1" dirty="0">
                <a:solidFill>
                  <a:schemeClr val="tx1"/>
                </a:solidFill>
                <a:latin typeface="+mn-ea"/>
                <a:ea typeface="+mn-ea"/>
              </a:rPr>
              <a:t>②</a:t>
            </a:r>
            <a:r>
              <a:rPr lang="zh-CN" altLang="en-US" sz="2000" b="1" dirty="0">
                <a:solidFill>
                  <a:schemeClr val="tx1"/>
                </a:solidFill>
                <a:latin typeface="+mn-ea"/>
                <a:ea typeface="+mn-ea"/>
              </a:rPr>
              <a:t>从输出电导和负载电导的影响看，</a:t>
            </a:r>
            <a:r>
              <a:rPr lang="en-US" altLang="zh-CN" sz="2000" b="1" dirty="0">
                <a:solidFill>
                  <a:schemeClr val="tx1"/>
                </a:solidFill>
                <a:latin typeface="+mn-ea"/>
                <a:ea typeface="+mn-ea"/>
              </a:rPr>
              <a:t>F</a:t>
            </a:r>
            <a:r>
              <a:rPr lang="zh-CN" altLang="en-US" sz="2000" b="1" dirty="0">
                <a:solidFill>
                  <a:schemeClr val="tx1"/>
                </a:solidFill>
                <a:latin typeface="+mn-ea"/>
                <a:ea typeface="+mn-ea"/>
              </a:rPr>
              <a:t>越大越容易起振，从输入电导看，</a:t>
            </a:r>
            <a:r>
              <a:rPr lang="en-US" altLang="zh-CN" sz="2000" b="1" dirty="0">
                <a:solidFill>
                  <a:schemeClr val="tx1"/>
                </a:solidFill>
                <a:latin typeface="+mn-ea"/>
                <a:ea typeface="+mn-ea"/>
              </a:rPr>
              <a:t>F</a:t>
            </a:r>
            <a:r>
              <a:rPr lang="zh-CN" altLang="en-US" sz="2000" b="1" dirty="0">
                <a:solidFill>
                  <a:schemeClr val="tx1"/>
                </a:solidFill>
                <a:latin typeface="+mn-ea"/>
                <a:ea typeface="+mn-ea"/>
              </a:rPr>
              <a:t>不能太大。因而兼顾二者，</a:t>
            </a:r>
            <a:r>
              <a:rPr lang="en-US" altLang="zh-CN" sz="2000" b="1" dirty="0">
                <a:solidFill>
                  <a:srgbClr val="FF0000"/>
                </a:solidFill>
                <a:latin typeface="+mn-ea"/>
                <a:ea typeface="+mn-ea"/>
              </a:rPr>
              <a:t>F</a:t>
            </a:r>
            <a:r>
              <a:rPr lang="zh-CN" altLang="en-US" sz="2000" b="1" dirty="0">
                <a:solidFill>
                  <a:srgbClr val="FF0000"/>
                </a:solidFill>
                <a:latin typeface="+mn-ea"/>
                <a:ea typeface="+mn-ea"/>
              </a:rPr>
              <a:t>一般选取</a:t>
            </a:r>
            <a:r>
              <a:rPr lang="en-US" altLang="zh-CN" sz="2000" b="1" dirty="0">
                <a:solidFill>
                  <a:srgbClr val="FF0000"/>
                </a:solidFill>
                <a:latin typeface="+mn-ea"/>
                <a:ea typeface="+mn-ea"/>
              </a:rPr>
              <a:t>0.1-0.5</a:t>
            </a:r>
            <a:r>
              <a:rPr lang="zh-CN" altLang="en-US" sz="2000" b="1" dirty="0">
                <a:solidFill>
                  <a:srgbClr val="FF0000"/>
                </a:solidFill>
                <a:latin typeface="+mn-ea"/>
                <a:ea typeface="+mn-ea"/>
              </a:rPr>
              <a:t>。</a:t>
            </a:r>
          </a:p>
        </p:txBody>
      </p:sp>
    </p:spTree>
    <p:extLst>
      <p:ext uri="{BB962C8B-B14F-4D97-AF65-F5344CB8AC3E}">
        <p14:creationId xmlns:p14="http://schemas.microsoft.com/office/powerpoint/2010/main" val="2181149268"/>
      </p:ext>
    </p:extLst>
  </p:cSld>
  <p:clrMapOvr>
    <a:masterClrMapping/>
  </p:clrMapOvr>
  <p:timing>
    <p:tnLst>
      <p:par>
        <p:cTn id="1" dur="indefinite" restart="never" nodeType="tmRoot"/>
      </p:par>
    </p:tn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176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5.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正弦波</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振荡器</a:t>
            </a:r>
          </a:p>
        </p:txBody>
      </p:sp>
      <p:sp>
        <p:nvSpPr>
          <p:cNvPr id="5" name="Text Box 3">
            <a:extLst>
              <a:ext uri="{FF2B5EF4-FFF2-40B4-BE49-F238E27FC236}">
                <a16:creationId xmlns:a16="http://schemas.microsoft.com/office/drawing/2014/main" xmlns="" id="{A28BB3B2-3F54-5119-E29D-E80300682D8E}"/>
              </a:ext>
            </a:extLst>
          </p:cNvPr>
          <p:cNvSpPr txBox="1">
            <a:spLocks noChangeArrowheads="1"/>
          </p:cNvSpPr>
          <p:nvPr/>
        </p:nvSpPr>
        <p:spPr bwMode="auto">
          <a:xfrm>
            <a:off x="544512" y="1295921"/>
            <a:ext cx="32131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t">
              <a:spcBef>
                <a:spcPct val="50000"/>
              </a:spcBef>
            </a:pPr>
            <a:r>
              <a:rPr lang="en-US" altLang="zh-CN" sz="2000" b="1">
                <a:solidFill>
                  <a:schemeClr val="tx1"/>
                </a:solidFill>
                <a:latin typeface="+mn-ea"/>
                <a:ea typeface="+mn-ea"/>
              </a:rPr>
              <a:t>4</a:t>
            </a:r>
            <a:r>
              <a:rPr lang="zh-CN" altLang="en-US" sz="2000" b="1">
                <a:solidFill>
                  <a:schemeClr val="tx1"/>
                </a:solidFill>
                <a:latin typeface="+mn-ea"/>
                <a:ea typeface="+mn-ea"/>
              </a:rPr>
              <a:t>、振荡频率</a:t>
            </a:r>
          </a:p>
        </p:txBody>
      </p:sp>
      <p:graphicFrame>
        <p:nvGraphicFramePr>
          <p:cNvPr id="6" name="Object 4">
            <a:extLst>
              <a:ext uri="{FF2B5EF4-FFF2-40B4-BE49-F238E27FC236}">
                <a16:creationId xmlns:a16="http://schemas.microsoft.com/office/drawing/2014/main" xmlns="" id="{4B9306F6-1731-7F96-8852-0799FF2FA4F2}"/>
              </a:ext>
            </a:extLst>
          </p:cNvPr>
          <p:cNvGraphicFramePr>
            <a:graphicFrameLocks noChangeAspect="1"/>
          </p:cNvGraphicFramePr>
          <p:nvPr>
            <p:extLst>
              <p:ext uri="{D42A27DB-BD31-4B8C-83A1-F6EECF244321}">
                <p14:modId xmlns:p14="http://schemas.microsoft.com/office/powerpoint/2010/main" val="3051926879"/>
              </p:ext>
            </p:extLst>
          </p:nvPr>
        </p:nvGraphicFramePr>
        <p:xfrm>
          <a:off x="1043608" y="2949602"/>
          <a:ext cx="1473200" cy="846138"/>
        </p:xfrm>
        <a:graphic>
          <a:graphicData uri="http://schemas.openxmlformats.org/presentationml/2006/ole">
            <mc:AlternateContent xmlns:mc="http://schemas.openxmlformats.org/markup-compatibility/2006">
              <mc:Choice xmlns:v="urn:schemas-microsoft-com:vml" Requires="v">
                <p:oleObj spid="_x0000_s136390" r:id="rId3" imgW="787400" imgH="469900" progId="Equation.3">
                  <p:embed/>
                </p:oleObj>
              </mc:Choice>
              <mc:Fallback>
                <p:oleObj r:id="rId3" imgW="787400" imgH="469900" progId="Equation.3">
                  <p:embed/>
                  <p:pic>
                    <p:nvPicPr>
                      <p:cNvPr id="0" name=""/>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3608" y="2949602"/>
                        <a:ext cx="1473200" cy="846138"/>
                      </a:xfrm>
                      <a:prstGeom prst="rect">
                        <a:avLst/>
                      </a:prstGeom>
                      <a:gradFill rotWithShape="1">
                        <a:gsLst>
                          <a:gs pos="0">
                            <a:srgbClr val="FF99FF"/>
                          </a:gs>
                          <a:gs pos="50000">
                            <a:schemeClr val="bg1"/>
                          </a:gs>
                          <a:gs pos="100000">
                            <a:srgbClr val="FF99FF"/>
                          </a:gs>
                        </a:gsLst>
                        <a:lin ang="5400000" scaled="1"/>
                      </a:gra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 name="Rectangle 5">
            <a:extLst>
              <a:ext uri="{FF2B5EF4-FFF2-40B4-BE49-F238E27FC236}">
                <a16:creationId xmlns:a16="http://schemas.microsoft.com/office/drawing/2014/main" xmlns="" id="{144A3CE1-E1F9-CF73-F128-87F897023167}"/>
              </a:ext>
            </a:extLst>
          </p:cNvPr>
          <p:cNvSpPr>
            <a:spLocks noChangeArrowheads="1"/>
          </p:cNvSpPr>
          <p:nvPr/>
        </p:nvSpPr>
        <p:spPr bwMode="auto">
          <a:xfrm>
            <a:off x="1043608" y="1793036"/>
            <a:ext cx="48731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fontAlgn="t">
              <a:spcBef>
                <a:spcPct val="50000"/>
              </a:spcBef>
            </a:pPr>
            <a:r>
              <a:rPr lang="zh-CN" altLang="en-US" sz="2000" b="1" dirty="0">
                <a:solidFill>
                  <a:schemeClr val="tx1"/>
                </a:solidFill>
                <a:latin typeface="+mn-ea"/>
                <a:ea typeface="+mn-ea"/>
              </a:rPr>
              <a:t>振荡频率一般可以利用</a:t>
            </a:r>
            <a:r>
              <a:rPr lang="zh-CN" altLang="en-US" sz="2000" b="1" dirty="0">
                <a:solidFill>
                  <a:srgbClr val="FF0000"/>
                </a:solidFill>
                <a:latin typeface="+mn-ea"/>
                <a:ea typeface="+mn-ea"/>
              </a:rPr>
              <a:t>相位平衡条件</a:t>
            </a:r>
            <a:r>
              <a:rPr lang="zh-CN" altLang="en-US" sz="2000" b="1" dirty="0">
                <a:solidFill>
                  <a:schemeClr val="tx1"/>
                </a:solidFill>
                <a:latin typeface="+mn-ea"/>
                <a:ea typeface="+mn-ea"/>
              </a:rPr>
              <a:t>求解。</a:t>
            </a:r>
          </a:p>
        </p:txBody>
      </p:sp>
      <p:grpSp>
        <p:nvGrpSpPr>
          <p:cNvPr id="8" name="Group 6">
            <a:extLst>
              <a:ext uri="{FF2B5EF4-FFF2-40B4-BE49-F238E27FC236}">
                <a16:creationId xmlns:a16="http://schemas.microsoft.com/office/drawing/2014/main" xmlns="" id="{3C52A5C6-0561-B1F9-4042-D74887B3FD7A}"/>
              </a:ext>
            </a:extLst>
          </p:cNvPr>
          <p:cNvGrpSpPr>
            <a:grpSpLocks/>
          </p:cNvGrpSpPr>
          <p:nvPr/>
        </p:nvGrpSpPr>
        <p:grpSpPr bwMode="auto">
          <a:xfrm>
            <a:off x="308768" y="2175079"/>
            <a:ext cx="6523038" cy="566738"/>
            <a:chOff x="44" y="1083"/>
            <a:chExt cx="4109" cy="357"/>
          </a:xfrm>
        </p:grpSpPr>
        <p:sp>
          <p:nvSpPr>
            <p:cNvPr id="9" name="Rectangle 7">
              <a:extLst>
                <a:ext uri="{FF2B5EF4-FFF2-40B4-BE49-F238E27FC236}">
                  <a16:creationId xmlns:a16="http://schemas.microsoft.com/office/drawing/2014/main" xmlns="" id="{EB34247F-218E-370C-D2B6-C1AFAA04347E}"/>
                </a:ext>
              </a:extLst>
            </p:cNvPr>
            <p:cNvSpPr>
              <a:spLocks noChangeArrowheads="1"/>
            </p:cNvSpPr>
            <p:nvPr/>
          </p:nvSpPr>
          <p:spPr bwMode="auto">
            <a:xfrm>
              <a:off x="44" y="1146"/>
              <a:ext cx="4109"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2075" tIns="46038" rIns="92075" bIns="46038">
              <a:spAutoFit/>
            </a:bodyPr>
            <a:lstStyle/>
            <a:p>
              <a:pPr eaLnBrk="0" hangingPunct="0">
                <a:spcBef>
                  <a:spcPct val="20000"/>
                </a:spcBef>
              </a:pPr>
              <a:r>
                <a:rPr lang="en-US" altLang="zh-CN" sz="2000" b="1" dirty="0">
                  <a:solidFill>
                    <a:schemeClr val="tx1"/>
                  </a:solidFill>
                  <a:latin typeface="+mn-ea"/>
                  <a:ea typeface="+mn-ea"/>
                </a:rPr>
                <a:t>     </a:t>
              </a:r>
              <a:r>
                <a:rPr lang="zh-CN" altLang="en-US" sz="2000" b="1" dirty="0">
                  <a:solidFill>
                    <a:schemeClr val="tx1"/>
                  </a:solidFill>
                  <a:latin typeface="+mn-ea"/>
                  <a:ea typeface="+mn-ea"/>
                </a:rPr>
                <a:t>在忽略        、   、等的影响，可得近似式为</a:t>
              </a:r>
            </a:p>
          </p:txBody>
        </p:sp>
        <p:graphicFrame>
          <p:nvGraphicFramePr>
            <p:cNvPr id="10" name="Object 8">
              <a:extLst>
                <a:ext uri="{FF2B5EF4-FFF2-40B4-BE49-F238E27FC236}">
                  <a16:creationId xmlns:a16="http://schemas.microsoft.com/office/drawing/2014/main" xmlns="" id="{579F8715-C444-0C9D-EDC1-1F6131D33D90}"/>
                </a:ext>
              </a:extLst>
            </p:cNvPr>
            <p:cNvGraphicFramePr>
              <a:graphicFrameLocks noChangeAspect="1"/>
            </p:cNvGraphicFramePr>
            <p:nvPr>
              <p:extLst>
                <p:ext uri="{D42A27DB-BD31-4B8C-83A1-F6EECF244321}">
                  <p14:modId xmlns:p14="http://schemas.microsoft.com/office/powerpoint/2010/main" val="736391929"/>
                </p:ext>
              </p:extLst>
            </p:nvPr>
          </p:nvGraphicFramePr>
          <p:xfrm>
            <a:off x="1026" y="1115"/>
            <a:ext cx="304" cy="304"/>
          </p:xfrm>
          <a:graphic>
            <a:graphicData uri="http://schemas.openxmlformats.org/presentationml/2006/ole">
              <mc:AlternateContent xmlns:mc="http://schemas.openxmlformats.org/markup-compatibility/2006">
                <mc:Choice xmlns:v="urn:schemas-microsoft-com:vml" Requires="v">
                  <p:oleObj spid="_x0000_s136391" r:id="rId5" imgW="228600" imgH="228600" progId="Equation.DSMT4">
                    <p:embed/>
                  </p:oleObj>
                </mc:Choice>
                <mc:Fallback>
                  <p:oleObj r:id="rId5" imgW="228600" imgH="22860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26" y="1115"/>
                          <a:ext cx="304"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1" name="Object 9">
              <a:extLst>
                <a:ext uri="{FF2B5EF4-FFF2-40B4-BE49-F238E27FC236}">
                  <a16:creationId xmlns:a16="http://schemas.microsoft.com/office/drawing/2014/main" xmlns="" id="{610EAF5B-1E25-E0F9-82EB-D36D68CDEABF}"/>
                </a:ext>
              </a:extLst>
            </p:cNvPr>
            <p:cNvGraphicFramePr>
              <a:graphicFrameLocks noChangeAspect="1"/>
            </p:cNvGraphicFramePr>
            <p:nvPr>
              <p:extLst>
                <p:ext uri="{D42A27DB-BD31-4B8C-83A1-F6EECF244321}">
                  <p14:modId xmlns:p14="http://schemas.microsoft.com/office/powerpoint/2010/main" val="253123712"/>
                </p:ext>
              </p:extLst>
            </p:nvPr>
          </p:nvGraphicFramePr>
          <p:xfrm>
            <a:off x="1354" y="1083"/>
            <a:ext cx="312" cy="357"/>
          </p:xfrm>
          <a:graphic>
            <a:graphicData uri="http://schemas.openxmlformats.org/presentationml/2006/ole">
              <mc:AlternateContent xmlns:mc="http://schemas.openxmlformats.org/markup-compatibility/2006">
                <mc:Choice xmlns:v="urn:schemas-microsoft-com:vml" Requires="v">
                  <p:oleObj spid="_x0000_s136392" r:id="rId7" imgW="203112" imgH="228501" progId="Equation.DSMT4">
                    <p:embed/>
                  </p:oleObj>
                </mc:Choice>
                <mc:Fallback>
                  <p:oleObj r:id="rId7" imgW="203112" imgH="228501"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54" y="1083"/>
                          <a:ext cx="312"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2" name="Object 10">
              <a:extLst>
                <a:ext uri="{FF2B5EF4-FFF2-40B4-BE49-F238E27FC236}">
                  <a16:creationId xmlns:a16="http://schemas.microsoft.com/office/drawing/2014/main" xmlns="" id="{0229A0E0-E0AF-433F-3C19-B29CDB6258EA}"/>
                </a:ext>
              </a:extLst>
            </p:cNvPr>
            <p:cNvGraphicFramePr>
              <a:graphicFrameLocks noChangeAspect="1"/>
            </p:cNvGraphicFramePr>
            <p:nvPr>
              <p:extLst>
                <p:ext uri="{D42A27DB-BD31-4B8C-83A1-F6EECF244321}">
                  <p14:modId xmlns:p14="http://schemas.microsoft.com/office/powerpoint/2010/main" val="3028288831"/>
                </p:ext>
              </p:extLst>
            </p:nvPr>
          </p:nvGraphicFramePr>
          <p:xfrm>
            <a:off x="1778" y="1091"/>
            <a:ext cx="210" cy="336"/>
          </p:xfrm>
          <a:graphic>
            <a:graphicData uri="http://schemas.openxmlformats.org/presentationml/2006/ole">
              <mc:AlternateContent xmlns:mc="http://schemas.openxmlformats.org/markup-compatibility/2006">
                <mc:Choice xmlns:v="urn:schemas-microsoft-com:vml" Requires="v">
                  <p:oleObj spid="_x0000_s136393" r:id="rId9" imgW="190500" imgH="228600" progId="Equation.DSMT4">
                    <p:embed/>
                  </p:oleObj>
                </mc:Choice>
                <mc:Fallback>
                  <p:oleObj r:id="rId9" imgW="190500" imgH="228600" progId="Equation.DSMT4">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778" y="1091"/>
                          <a:ext cx="210"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graphicFrame>
        <p:nvGraphicFramePr>
          <p:cNvPr id="13" name="Object 11">
            <a:extLst>
              <a:ext uri="{FF2B5EF4-FFF2-40B4-BE49-F238E27FC236}">
                <a16:creationId xmlns:a16="http://schemas.microsoft.com/office/drawing/2014/main" xmlns="" id="{16086E35-7084-DA5A-0899-BCB3977CAAC8}"/>
              </a:ext>
            </a:extLst>
          </p:cNvPr>
          <p:cNvGraphicFramePr>
            <a:graphicFrameLocks noChangeAspect="1"/>
          </p:cNvGraphicFramePr>
          <p:nvPr>
            <p:extLst>
              <p:ext uri="{D42A27DB-BD31-4B8C-83A1-F6EECF244321}">
                <p14:modId xmlns:p14="http://schemas.microsoft.com/office/powerpoint/2010/main" val="4215536926"/>
              </p:ext>
            </p:extLst>
          </p:nvPr>
        </p:nvGraphicFramePr>
        <p:xfrm>
          <a:off x="2883693" y="2799972"/>
          <a:ext cx="1612900" cy="1074738"/>
        </p:xfrm>
        <a:graphic>
          <a:graphicData uri="http://schemas.openxmlformats.org/presentationml/2006/ole">
            <mc:AlternateContent xmlns:mc="http://schemas.openxmlformats.org/markup-compatibility/2006">
              <mc:Choice xmlns:v="urn:schemas-microsoft-com:vml" Requires="v">
                <p:oleObj spid="_x0000_s136394" r:id="rId11" imgW="838200" imgH="457200" progId="Equation.DSMT4">
                  <p:embed/>
                </p:oleObj>
              </mc:Choice>
              <mc:Fallback>
                <p:oleObj r:id="rId11" imgW="838200" imgH="457200" progId="Equation.DSMT4">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883693" y="2799972"/>
                        <a:ext cx="1612900" cy="1074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4" name="Rectangle 12">
            <a:extLst>
              <a:ext uri="{FF2B5EF4-FFF2-40B4-BE49-F238E27FC236}">
                <a16:creationId xmlns:a16="http://schemas.microsoft.com/office/drawing/2014/main" xmlns="" id="{CE2E906F-36A3-A21F-DB75-A4BC25A08CCE}"/>
              </a:ext>
            </a:extLst>
          </p:cNvPr>
          <p:cNvSpPr>
            <a:spLocks noChangeArrowheads="1"/>
          </p:cNvSpPr>
          <p:nvPr/>
        </p:nvSpPr>
        <p:spPr bwMode="auto">
          <a:xfrm>
            <a:off x="899593" y="4946327"/>
            <a:ext cx="6267450" cy="7100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90000" tIns="46800" rIns="90000" bIns="46800">
            <a:spAutoFit/>
          </a:bodyPr>
          <a:lstStyle/>
          <a:p>
            <a:r>
              <a:rPr lang="zh-CN" altLang="en-US" sz="2000" b="1" dirty="0">
                <a:solidFill>
                  <a:schemeClr val="tx1"/>
                </a:solidFill>
                <a:latin typeface="+mn-ea"/>
                <a:ea typeface="+mn-ea"/>
              </a:rPr>
              <a:t>若忽略晶体管输入电容和输出电容的影响</a:t>
            </a:r>
          </a:p>
          <a:p>
            <a:endParaRPr lang="en-US" altLang="zh-CN" sz="2000" b="1" dirty="0">
              <a:solidFill>
                <a:schemeClr val="tx1"/>
              </a:solidFill>
              <a:latin typeface="+mn-ea"/>
              <a:ea typeface="+mn-ea"/>
            </a:endParaRPr>
          </a:p>
        </p:txBody>
      </p:sp>
      <p:graphicFrame>
        <p:nvGraphicFramePr>
          <p:cNvPr id="15" name="Object 13">
            <a:extLst>
              <a:ext uri="{FF2B5EF4-FFF2-40B4-BE49-F238E27FC236}">
                <a16:creationId xmlns:a16="http://schemas.microsoft.com/office/drawing/2014/main" xmlns="" id="{614ED25E-0F04-2526-7490-EAEF3CEFC5DC}"/>
              </a:ext>
            </a:extLst>
          </p:cNvPr>
          <p:cNvGraphicFramePr>
            <a:graphicFrameLocks noChangeAspect="1"/>
          </p:cNvGraphicFramePr>
          <p:nvPr>
            <p:extLst>
              <p:ext uri="{D42A27DB-BD31-4B8C-83A1-F6EECF244321}">
                <p14:modId xmlns:p14="http://schemas.microsoft.com/office/powerpoint/2010/main" val="3656618297"/>
              </p:ext>
            </p:extLst>
          </p:nvPr>
        </p:nvGraphicFramePr>
        <p:xfrm>
          <a:off x="3611176" y="5416513"/>
          <a:ext cx="1854200" cy="939800"/>
        </p:xfrm>
        <a:graphic>
          <a:graphicData uri="http://schemas.openxmlformats.org/presentationml/2006/ole">
            <mc:AlternateContent xmlns:mc="http://schemas.openxmlformats.org/markup-compatibility/2006">
              <mc:Choice xmlns:v="urn:schemas-microsoft-com:vml" Requires="v">
                <p:oleObj spid="_x0000_s136395" r:id="rId13" imgW="875920" imgH="444307" progId="Equation.3">
                  <p:embed/>
                </p:oleObj>
              </mc:Choice>
              <mc:Fallback>
                <p:oleObj r:id="rId13" imgW="875920" imgH="444307" progId="Equation.3">
                  <p:embed/>
                  <p:pic>
                    <p:nvPicPr>
                      <p:cNvPr id="0" name=""/>
                      <p:cNvPicPr>
                        <a:picLocks noGrp="1"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611176" y="5416513"/>
                        <a:ext cx="1854200" cy="939800"/>
                      </a:xfrm>
                      <a:prstGeom prst="rect">
                        <a:avLst/>
                      </a:prstGeom>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6" name="Object 15">
            <a:extLst>
              <a:ext uri="{FF2B5EF4-FFF2-40B4-BE49-F238E27FC236}">
                <a16:creationId xmlns:a16="http://schemas.microsoft.com/office/drawing/2014/main" xmlns="" id="{10AB928D-091D-8832-C5FB-111D4B7131F1}"/>
              </a:ext>
            </a:extLst>
          </p:cNvPr>
          <p:cNvGraphicFramePr>
            <a:graphicFrameLocks noChangeAspect="1"/>
          </p:cNvGraphicFramePr>
          <p:nvPr>
            <p:extLst>
              <p:ext uri="{D42A27DB-BD31-4B8C-83A1-F6EECF244321}">
                <p14:modId xmlns:p14="http://schemas.microsoft.com/office/powerpoint/2010/main" val="869677498"/>
              </p:ext>
            </p:extLst>
          </p:nvPr>
        </p:nvGraphicFramePr>
        <p:xfrm>
          <a:off x="1043608" y="4082495"/>
          <a:ext cx="3625850" cy="561975"/>
        </p:xfrm>
        <a:graphic>
          <a:graphicData uri="http://schemas.openxmlformats.org/presentationml/2006/ole">
            <mc:AlternateContent xmlns:mc="http://schemas.openxmlformats.org/markup-compatibility/2006">
              <mc:Choice xmlns:v="urn:schemas-microsoft-com:vml" Requires="v">
                <p:oleObj spid="_x0000_s136396" r:id="rId15" imgW="1816100" imgH="292100" progId="Equation.3">
                  <p:embed/>
                </p:oleObj>
              </mc:Choice>
              <mc:Fallback>
                <p:oleObj r:id="rId15" imgW="1816100" imgH="292100" progId="Equation.3">
                  <p:embed/>
                  <p:pic>
                    <p:nvPicPr>
                      <p:cNvPr id="0" name=""/>
                      <p:cNvPicPr>
                        <a:picLocks noGrp="1"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043608" y="4082495"/>
                        <a:ext cx="3625850" cy="561975"/>
                      </a:xfrm>
                      <a:prstGeom prst="rect">
                        <a:avLst/>
                      </a:prstGeom>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pic>
        <p:nvPicPr>
          <p:cNvPr id="17" name="图片 16">
            <a:extLst>
              <a:ext uri="{FF2B5EF4-FFF2-40B4-BE49-F238E27FC236}">
                <a16:creationId xmlns:a16="http://schemas.microsoft.com/office/drawing/2014/main" xmlns="" id="{4AACFBFF-3B08-5E9B-2BE3-5843D6532D97}"/>
              </a:ext>
            </a:extLst>
          </p:cNvPr>
          <p:cNvPicPr>
            <a:picLocks noChangeAspect="1"/>
          </p:cNvPicPr>
          <p:nvPr/>
        </p:nvPicPr>
        <p:blipFill>
          <a:blip r:embed="rId17"/>
          <a:stretch>
            <a:fillRect/>
          </a:stretch>
        </p:blipFill>
        <p:spPr>
          <a:xfrm>
            <a:off x="4790345" y="2787720"/>
            <a:ext cx="4029805" cy="1664352"/>
          </a:xfrm>
          <a:prstGeom prst="rect">
            <a:avLst/>
          </a:prstGeom>
        </p:spPr>
      </p:pic>
    </p:spTree>
    <p:extLst>
      <p:ext uri="{BB962C8B-B14F-4D97-AF65-F5344CB8AC3E}">
        <p14:creationId xmlns:p14="http://schemas.microsoft.com/office/powerpoint/2010/main" val="2361211519"/>
      </p:ext>
    </p:extLst>
  </p:cSld>
  <p:clrMapOvr>
    <a:masterClrMapping/>
  </p:clrMapOvr>
  <p:timing>
    <p:tnLst>
      <p:par>
        <p:cTn id="1" dur="indefinite" restart="never" nodeType="tmRoot"/>
      </p:par>
    </p:tn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177</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5.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正弦波</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振荡器</a:t>
            </a:r>
          </a:p>
        </p:txBody>
      </p:sp>
      <p:sp>
        <p:nvSpPr>
          <p:cNvPr id="5" name="Rectangle 4">
            <a:extLst>
              <a:ext uri="{FF2B5EF4-FFF2-40B4-BE49-F238E27FC236}">
                <a16:creationId xmlns:a16="http://schemas.microsoft.com/office/drawing/2014/main" xmlns="" id="{CFD4D073-9084-AEB8-AEAE-EC67C41CB9AB}"/>
              </a:ext>
            </a:extLst>
          </p:cNvPr>
          <p:cNvSpPr>
            <a:spLocks noChangeArrowheads="1"/>
          </p:cNvSpPr>
          <p:nvPr/>
        </p:nvSpPr>
        <p:spPr bwMode="auto">
          <a:xfrm>
            <a:off x="0" y="1340768"/>
            <a:ext cx="9014297" cy="512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lang="zh-CN" altLang="en-US" sz="2200" b="1" dirty="0" smtClean="0">
                <a:solidFill>
                  <a:schemeClr val="tx1"/>
                </a:solidFill>
                <a:latin typeface="+mn-ea"/>
                <a:ea typeface="+mn-ea"/>
              </a:rPr>
              <a:t>电感</a:t>
            </a:r>
            <a:r>
              <a:rPr lang="zh-CN" altLang="en-US" sz="2200" b="1" dirty="0">
                <a:solidFill>
                  <a:schemeClr val="tx1"/>
                </a:solidFill>
                <a:latin typeface="+mn-ea"/>
                <a:ea typeface="+mn-ea"/>
              </a:rPr>
              <a:t>反馈式振荡器</a:t>
            </a:r>
            <a:r>
              <a:rPr lang="en-US" altLang="zh-CN" sz="2200" b="1" dirty="0">
                <a:solidFill>
                  <a:schemeClr val="tx1"/>
                </a:solidFill>
                <a:latin typeface="+mn-ea"/>
                <a:ea typeface="+mn-ea"/>
              </a:rPr>
              <a:t>(</a:t>
            </a:r>
            <a:r>
              <a:rPr lang="zh-CN" altLang="en-US" sz="2200" b="1" dirty="0">
                <a:solidFill>
                  <a:schemeClr val="tx1"/>
                </a:solidFill>
                <a:latin typeface="+mn-ea"/>
                <a:ea typeface="+mn-ea"/>
              </a:rPr>
              <a:t>哈特莱电路</a:t>
            </a:r>
            <a:r>
              <a:rPr lang="en-US" altLang="zh-CN" sz="2200" b="1" dirty="0">
                <a:solidFill>
                  <a:schemeClr val="tx1"/>
                </a:solidFill>
                <a:latin typeface="+mn-ea"/>
                <a:ea typeface="+mn-ea"/>
              </a:rPr>
              <a:t>)</a:t>
            </a:r>
          </a:p>
        </p:txBody>
      </p:sp>
      <p:sp>
        <p:nvSpPr>
          <p:cNvPr id="6" name="Text Box 5">
            <a:extLst>
              <a:ext uri="{FF2B5EF4-FFF2-40B4-BE49-F238E27FC236}">
                <a16:creationId xmlns:a16="http://schemas.microsoft.com/office/drawing/2014/main" xmlns="" id="{D0A252A3-BBD7-3D3C-921F-01C254116B86}"/>
              </a:ext>
            </a:extLst>
          </p:cNvPr>
          <p:cNvSpPr txBox="1">
            <a:spLocks noChangeArrowheads="1"/>
          </p:cNvSpPr>
          <p:nvPr/>
        </p:nvSpPr>
        <p:spPr bwMode="auto">
          <a:xfrm>
            <a:off x="313639" y="1671930"/>
            <a:ext cx="26162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t">
              <a:spcBef>
                <a:spcPct val="50000"/>
              </a:spcBef>
            </a:pPr>
            <a:r>
              <a:rPr lang="en-US" altLang="zh-CN" sz="2000" b="1" dirty="0">
                <a:solidFill>
                  <a:schemeClr val="tx1"/>
                </a:solidFill>
                <a:latin typeface="Times New Roman" panose="02020603050405020304" pitchFamily="18" charset="0"/>
                <a:cs typeface="Times New Roman" panose="02020603050405020304" pitchFamily="18" charset="0"/>
              </a:rPr>
              <a:t>1</a:t>
            </a:r>
            <a:r>
              <a:rPr lang="zh-CN" altLang="en-US" sz="2000" b="1" dirty="0">
                <a:solidFill>
                  <a:schemeClr val="tx1"/>
                </a:solidFill>
                <a:latin typeface="Times New Roman" panose="02020603050405020304" pitchFamily="18" charset="0"/>
                <a:cs typeface="Times New Roman" panose="02020603050405020304" pitchFamily="18" charset="0"/>
              </a:rPr>
              <a:t>、电路结构</a:t>
            </a:r>
          </a:p>
        </p:txBody>
      </p:sp>
      <p:sp>
        <p:nvSpPr>
          <p:cNvPr id="8" name="Text Box 8">
            <a:extLst>
              <a:ext uri="{FF2B5EF4-FFF2-40B4-BE49-F238E27FC236}">
                <a16:creationId xmlns:a16="http://schemas.microsoft.com/office/drawing/2014/main" xmlns="" id="{D10A01E6-EF2A-A8CE-9BBF-7B5571647C11}"/>
              </a:ext>
            </a:extLst>
          </p:cNvPr>
          <p:cNvSpPr txBox="1">
            <a:spLocks noChangeArrowheads="1"/>
          </p:cNvSpPr>
          <p:nvPr/>
        </p:nvSpPr>
        <p:spPr bwMode="auto">
          <a:xfrm>
            <a:off x="5887888" y="4096075"/>
            <a:ext cx="2667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p>
            <a:pPr fontAlgn="t">
              <a:spcBef>
                <a:spcPct val="50000"/>
              </a:spcBef>
            </a:pPr>
            <a:r>
              <a:rPr lang="zh-CN" altLang="en-US" sz="2000" b="1" dirty="0">
                <a:solidFill>
                  <a:srgbClr val="FF0000"/>
                </a:solidFill>
                <a:latin typeface="+mn-ea"/>
                <a:ea typeface="+mn-ea"/>
              </a:rPr>
              <a:t>电感三点式振荡器</a:t>
            </a:r>
          </a:p>
        </p:txBody>
      </p:sp>
      <p:grpSp>
        <p:nvGrpSpPr>
          <p:cNvPr id="9" name="Group 9">
            <a:extLst>
              <a:ext uri="{FF2B5EF4-FFF2-40B4-BE49-F238E27FC236}">
                <a16:creationId xmlns:a16="http://schemas.microsoft.com/office/drawing/2014/main" xmlns="" id="{906D7EEB-78DB-BEE5-E337-09F21FCECBEB}"/>
              </a:ext>
            </a:extLst>
          </p:cNvPr>
          <p:cNvGrpSpPr>
            <a:grpSpLocks/>
          </p:cNvGrpSpPr>
          <p:nvPr/>
        </p:nvGrpSpPr>
        <p:grpSpPr bwMode="auto">
          <a:xfrm>
            <a:off x="5798988" y="1907299"/>
            <a:ext cx="827088" cy="1495425"/>
            <a:chOff x="2848" y="2706"/>
            <a:chExt cx="521" cy="942"/>
          </a:xfrm>
        </p:grpSpPr>
        <p:grpSp>
          <p:nvGrpSpPr>
            <p:cNvPr id="10" name="Group 10">
              <a:extLst>
                <a:ext uri="{FF2B5EF4-FFF2-40B4-BE49-F238E27FC236}">
                  <a16:creationId xmlns:a16="http://schemas.microsoft.com/office/drawing/2014/main" xmlns="" id="{C1CFB1AD-B74F-3BA2-BE25-68D620BF35E0}"/>
                </a:ext>
              </a:extLst>
            </p:cNvPr>
            <p:cNvGrpSpPr>
              <a:grpSpLocks/>
            </p:cNvGrpSpPr>
            <p:nvPr/>
          </p:nvGrpSpPr>
          <p:grpSpPr bwMode="auto">
            <a:xfrm>
              <a:off x="2864" y="2888"/>
              <a:ext cx="496" cy="760"/>
              <a:chOff x="2768" y="2712"/>
              <a:chExt cx="496" cy="760"/>
            </a:xfrm>
          </p:grpSpPr>
          <p:sp>
            <p:nvSpPr>
              <p:cNvPr id="14" name="Line 11">
                <a:extLst>
                  <a:ext uri="{FF2B5EF4-FFF2-40B4-BE49-F238E27FC236}">
                    <a16:creationId xmlns:a16="http://schemas.microsoft.com/office/drawing/2014/main" xmlns="" id="{99F15A35-11B2-A769-BD2F-8C8381F43198}"/>
                  </a:ext>
                </a:extLst>
              </p:cNvPr>
              <p:cNvSpPr>
                <a:spLocks noChangeShapeType="1"/>
              </p:cNvSpPr>
              <p:nvPr/>
            </p:nvSpPr>
            <p:spPr bwMode="auto">
              <a:xfrm>
                <a:off x="2768" y="2856"/>
                <a:ext cx="1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 name="Line 12">
                <a:extLst>
                  <a:ext uri="{FF2B5EF4-FFF2-40B4-BE49-F238E27FC236}">
                    <a16:creationId xmlns:a16="http://schemas.microsoft.com/office/drawing/2014/main" xmlns="" id="{95A13217-7C57-9EFA-F138-DA8EE3FCC40E}"/>
                  </a:ext>
                </a:extLst>
              </p:cNvPr>
              <p:cNvSpPr>
                <a:spLocks noChangeShapeType="1"/>
              </p:cNvSpPr>
              <p:nvPr/>
            </p:nvSpPr>
            <p:spPr bwMode="auto">
              <a:xfrm>
                <a:off x="2968" y="2712"/>
                <a:ext cx="0" cy="3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 name="Line 13">
                <a:extLst>
                  <a:ext uri="{FF2B5EF4-FFF2-40B4-BE49-F238E27FC236}">
                    <a16:creationId xmlns:a16="http://schemas.microsoft.com/office/drawing/2014/main" xmlns="" id="{6C031BE0-C446-8ED1-99B7-F6D9BF98CDE0}"/>
                  </a:ext>
                </a:extLst>
              </p:cNvPr>
              <p:cNvSpPr>
                <a:spLocks noChangeShapeType="1"/>
              </p:cNvSpPr>
              <p:nvPr/>
            </p:nvSpPr>
            <p:spPr bwMode="auto">
              <a:xfrm flipV="1">
                <a:off x="2960" y="2718"/>
                <a:ext cx="240" cy="13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 name="Line 14">
                <a:extLst>
                  <a:ext uri="{FF2B5EF4-FFF2-40B4-BE49-F238E27FC236}">
                    <a16:creationId xmlns:a16="http://schemas.microsoft.com/office/drawing/2014/main" xmlns="" id="{84D49C47-1B6C-6451-F50E-53248ED5D169}"/>
                  </a:ext>
                </a:extLst>
              </p:cNvPr>
              <p:cNvSpPr>
                <a:spLocks noChangeShapeType="1"/>
              </p:cNvSpPr>
              <p:nvPr/>
            </p:nvSpPr>
            <p:spPr bwMode="auto">
              <a:xfrm>
                <a:off x="2960" y="2864"/>
                <a:ext cx="240" cy="139"/>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 name="Line 15">
                <a:extLst>
                  <a:ext uri="{FF2B5EF4-FFF2-40B4-BE49-F238E27FC236}">
                    <a16:creationId xmlns:a16="http://schemas.microsoft.com/office/drawing/2014/main" xmlns="" id="{FEB9A84F-6EE3-5C4A-F79B-D862E2452D63}"/>
                  </a:ext>
                </a:extLst>
              </p:cNvPr>
              <p:cNvSpPr>
                <a:spLocks noChangeShapeType="1"/>
              </p:cNvSpPr>
              <p:nvPr/>
            </p:nvSpPr>
            <p:spPr bwMode="auto">
              <a:xfrm>
                <a:off x="3184" y="3000"/>
                <a:ext cx="0" cy="46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 name="Line 16">
                <a:extLst>
                  <a:ext uri="{FF2B5EF4-FFF2-40B4-BE49-F238E27FC236}">
                    <a16:creationId xmlns:a16="http://schemas.microsoft.com/office/drawing/2014/main" xmlns="" id="{247D8E6B-516A-BBBC-4C7E-FE6062A617DE}"/>
                  </a:ext>
                </a:extLst>
              </p:cNvPr>
              <p:cNvSpPr>
                <a:spLocks noChangeShapeType="1"/>
              </p:cNvSpPr>
              <p:nvPr/>
            </p:nvSpPr>
            <p:spPr bwMode="auto">
              <a:xfrm>
                <a:off x="3008" y="3472"/>
                <a:ext cx="25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1" name="Text Box 17">
              <a:extLst>
                <a:ext uri="{FF2B5EF4-FFF2-40B4-BE49-F238E27FC236}">
                  <a16:creationId xmlns:a16="http://schemas.microsoft.com/office/drawing/2014/main" xmlns="" id="{149472D5-24BF-7B09-C5CF-3FA2B592705D}"/>
                </a:ext>
              </a:extLst>
            </p:cNvPr>
            <p:cNvSpPr txBox="1">
              <a:spLocks noChangeArrowheads="1"/>
            </p:cNvSpPr>
            <p:nvPr/>
          </p:nvSpPr>
          <p:spPr bwMode="auto">
            <a:xfrm>
              <a:off x="2848" y="2800"/>
              <a:ext cx="25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p>
              <a:pPr fontAlgn="t">
                <a:spcBef>
                  <a:spcPct val="50000"/>
                </a:spcBef>
              </a:pPr>
              <a:r>
                <a:rPr lang="en-US" altLang="zh-CN" sz="1800" b="1">
                  <a:solidFill>
                    <a:srgbClr val="FF3300"/>
                  </a:solidFill>
                  <a:latin typeface="Times New Roman" panose="02020603050405020304" pitchFamily="18" charset="0"/>
                </a:rPr>
                <a:t>b</a:t>
              </a:r>
            </a:p>
          </p:txBody>
        </p:sp>
        <p:sp>
          <p:nvSpPr>
            <p:cNvPr id="12" name="Text Box 18">
              <a:extLst>
                <a:ext uri="{FF2B5EF4-FFF2-40B4-BE49-F238E27FC236}">
                  <a16:creationId xmlns:a16="http://schemas.microsoft.com/office/drawing/2014/main" xmlns="" id="{CF1A3C2A-3456-4E17-10D7-6C03BE036BA7}"/>
                </a:ext>
              </a:extLst>
            </p:cNvPr>
            <p:cNvSpPr txBox="1">
              <a:spLocks noChangeArrowheads="1"/>
            </p:cNvSpPr>
            <p:nvPr/>
          </p:nvSpPr>
          <p:spPr bwMode="auto">
            <a:xfrm>
              <a:off x="3113" y="3185"/>
              <a:ext cx="25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p>
              <a:pPr fontAlgn="t">
                <a:spcBef>
                  <a:spcPct val="50000"/>
                </a:spcBef>
              </a:pPr>
              <a:r>
                <a:rPr lang="en-US" altLang="zh-CN" sz="1800" b="1" dirty="0">
                  <a:solidFill>
                    <a:srgbClr val="FF3300"/>
                  </a:solidFill>
                  <a:latin typeface="Times New Roman" panose="02020603050405020304" pitchFamily="18" charset="0"/>
                </a:rPr>
                <a:t>e</a:t>
              </a:r>
            </a:p>
          </p:txBody>
        </p:sp>
        <p:sp>
          <p:nvSpPr>
            <p:cNvPr id="13" name="Text Box 19">
              <a:extLst>
                <a:ext uri="{FF2B5EF4-FFF2-40B4-BE49-F238E27FC236}">
                  <a16:creationId xmlns:a16="http://schemas.microsoft.com/office/drawing/2014/main" xmlns="" id="{24024FA7-0D40-0333-67DC-7EBD953C7721}"/>
                </a:ext>
              </a:extLst>
            </p:cNvPr>
            <p:cNvSpPr txBox="1">
              <a:spLocks noChangeArrowheads="1"/>
            </p:cNvSpPr>
            <p:nvPr/>
          </p:nvSpPr>
          <p:spPr bwMode="auto">
            <a:xfrm>
              <a:off x="3130" y="2706"/>
              <a:ext cx="21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p>
              <a:pPr fontAlgn="t">
                <a:spcBef>
                  <a:spcPct val="50000"/>
                </a:spcBef>
              </a:pPr>
              <a:r>
                <a:rPr lang="en-US" altLang="zh-CN" sz="1800" b="1">
                  <a:solidFill>
                    <a:srgbClr val="FF3300"/>
                  </a:solidFill>
                  <a:latin typeface="Times New Roman" panose="02020603050405020304" pitchFamily="18" charset="0"/>
                </a:rPr>
                <a:t>c</a:t>
              </a:r>
            </a:p>
          </p:txBody>
        </p:sp>
      </p:grpSp>
      <p:grpSp>
        <p:nvGrpSpPr>
          <p:cNvPr id="20" name="Group 20">
            <a:extLst>
              <a:ext uri="{FF2B5EF4-FFF2-40B4-BE49-F238E27FC236}">
                <a16:creationId xmlns:a16="http://schemas.microsoft.com/office/drawing/2014/main" xmlns="" id="{D3A64F59-B61B-4680-B527-F96D5ED0531B}"/>
              </a:ext>
            </a:extLst>
          </p:cNvPr>
          <p:cNvGrpSpPr>
            <a:grpSpLocks/>
          </p:cNvGrpSpPr>
          <p:nvPr/>
        </p:nvGrpSpPr>
        <p:grpSpPr bwMode="auto">
          <a:xfrm>
            <a:off x="7284888" y="1861261"/>
            <a:ext cx="1790700" cy="2184400"/>
            <a:chOff x="4632" y="1384"/>
            <a:chExt cx="1128" cy="1376"/>
          </a:xfrm>
        </p:grpSpPr>
        <p:grpSp>
          <p:nvGrpSpPr>
            <p:cNvPr id="21" name="Group 21">
              <a:extLst>
                <a:ext uri="{FF2B5EF4-FFF2-40B4-BE49-F238E27FC236}">
                  <a16:creationId xmlns:a16="http://schemas.microsoft.com/office/drawing/2014/main" xmlns="" id="{DB5D4088-C651-D476-7EE7-9D0B3DECBB5D}"/>
                </a:ext>
              </a:extLst>
            </p:cNvPr>
            <p:cNvGrpSpPr>
              <a:grpSpLocks/>
            </p:cNvGrpSpPr>
            <p:nvPr/>
          </p:nvGrpSpPr>
          <p:grpSpPr bwMode="auto">
            <a:xfrm>
              <a:off x="5184" y="1963"/>
              <a:ext cx="153" cy="59"/>
              <a:chOff x="3752" y="2944"/>
              <a:chExt cx="153" cy="65"/>
            </a:xfrm>
          </p:grpSpPr>
          <p:sp>
            <p:nvSpPr>
              <p:cNvPr id="27" name="Line 22">
                <a:extLst>
                  <a:ext uri="{FF2B5EF4-FFF2-40B4-BE49-F238E27FC236}">
                    <a16:creationId xmlns:a16="http://schemas.microsoft.com/office/drawing/2014/main" xmlns="" id="{4723B6E9-C9B8-2AE0-A20C-E44779AC47F6}"/>
                  </a:ext>
                </a:extLst>
              </p:cNvPr>
              <p:cNvSpPr>
                <a:spLocks noChangeShapeType="1"/>
              </p:cNvSpPr>
              <p:nvPr/>
            </p:nvSpPr>
            <p:spPr bwMode="auto">
              <a:xfrm>
                <a:off x="3752" y="2944"/>
                <a:ext cx="15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 name="Line 23">
                <a:extLst>
                  <a:ext uri="{FF2B5EF4-FFF2-40B4-BE49-F238E27FC236}">
                    <a16:creationId xmlns:a16="http://schemas.microsoft.com/office/drawing/2014/main" xmlns="" id="{0AFADF45-5440-C8BA-0251-1F8B0E7D84C8}"/>
                  </a:ext>
                </a:extLst>
              </p:cNvPr>
              <p:cNvSpPr>
                <a:spLocks noChangeShapeType="1"/>
              </p:cNvSpPr>
              <p:nvPr/>
            </p:nvSpPr>
            <p:spPr bwMode="auto">
              <a:xfrm>
                <a:off x="3753" y="3009"/>
                <a:ext cx="15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2" name="Text Box 24">
              <a:extLst>
                <a:ext uri="{FF2B5EF4-FFF2-40B4-BE49-F238E27FC236}">
                  <a16:creationId xmlns:a16="http://schemas.microsoft.com/office/drawing/2014/main" xmlns="" id="{A0AC7830-50F8-31F5-0754-7F0F90067B0F}"/>
                </a:ext>
              </a:extLst>
            </p:cNvPr>
            <p:cNvSpPr txBox="1">
              <a:spLocks noChangeArrowheads="1"/>
            </p:cNvSpPr>
            <p:nvPr/>
          </p:nvSpPr>
          <p:spPr bwMode="auto">
            <a:xfrm>
              <a:off x="5304" y="1859"/>
              <a:ext cx="45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p>
              <a:pPr fontAlgn="t">
                <a:spcBef>
                  <a:spcPct val="50000"/>
                </a:spcBef>
              </a:pPr>
              <a:r>
                <a:rPr lang="en-US" altLang="zh-CN" sz="2400" b="1" i="1">
                  <a:solidFill>
                    <a:srgbClr val="000000"/>
                  </a:solidFill>
                  <a:latin typeface="Times New Roman" panose="02020603050405020304" pitchFamily="18" charset="0"/>
                </a:rPr>
                <a:t>C</a:t>
              </a:r>
              <a:endParaRPr lang="en-US" altLang="zh-CN" sz="2800" b="1" baseline="-25000">
                <a:solidFill>
                  <a:srgbClr val="000000"/>
                </a:solidFill>
                <a:latin typeface="Times New Roman" panose="02020603050405020304" pitchFamily="18" charset="0"/>
              </a:endParaRPr>
            </a:p>
          </p:txBody>
        </p:sp>
        <p:sp>
          <p:nvSpPr>
            <p:cNvPr id="23" name="Line 25">
              <a:extLst>
                <a:ext uri="{FF2B5EF4-FFF2-40B4-BE49-F238E27FC236}">
                  <a16:creationId xmlns:a16="http://schemas.microsoft.com/office/drawing/2014/main" xmlns="" id="{A0B3E8BE-3708-EC44-A737-2E61157FEA43}"/>
                </a:ext>
              </a:extLst>
            </p:cNvPr>
            <p:cNvSpPr>
              <a:spLocks noChangeShapeType="1"/>
            </p:cNvSpPr>
            <p:nvPr/>
          </p:nvSpPr>
          <p:spPr bwMode="auto">
            <a:xfrm>
              <a:off x="4632" y="1392"/>
              <a:ext cx="64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 name="Line 26">
              <a:extLst>
                <a:ext uri="{FF2B5EF4-FFF2-40B4-BE49-F238E27FC236}">
                  <a16:creationId xmlns:a16="http://schemas.microsoft.com/office/drawing/2014/main" xmlns="" id="{511666DD-12EA-8F20-5499-377E77B4EE21}"/>
                </a:ext>
              </a:extLst>
            </p:cNvPr>
            <p:cNvSpPr>
              <a:spLocks noChangeShapeType="1"/>
            </p:cNvSpPr>
            <p:nvPr/>
          </p:nvSpPr>
          <p:spPr bwMode="auto">
            <a:xfrm>
              <a:off x="5262" y="1384"/>
              <a:ext cx="0" cy="56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 name="Line 27">
              <a:extLst>
                <a:ext uri="{FF2B5EF4-FFF2-40B4-BE49-F238E27FC236}">
                  <a16:creationId xmlns:a16="http://schemas.microsoft.com/office/drawing/2014/main" xmlns="" id="{B7FC24C8-5835-D650-B63D-5EF4A3CCA4B0}"/>
                </a:ext>
              </a:extLst>
            </p:cNvPr>
            <p:cNvSpPr>
              <a:spLocks noChangeShapeType="1"/>
            </p:cNvSpPr>
            <p:nvPr/>
          </p:nvSpPr>
          <p:spPr bwMode="auto">
            <a:xfrm>
              <a:off x="5262" y="2016"/>
              <a:ext cx="0" cy="7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 name="Line 28">
              <a:extLst>
                <a:ext uri="{FF2B5EF4-FFF2-40B4-BE49-F238E27FC236}">
                  <a16:creationId xmlns:a16="http://schemas.microsoft.com/office/drawing/2014/main" xmlns="" id="{CFB782A8-ABE1-EA90-EDE7-06D0E88A92C1}"/>
                </a:ext>
              </a:extLst>
            </p:cNvPr>
            <p:cNvSpPr>
              <a:spLocks noChangeShapeType="1"/>
            </p:cNvSpPr>
            <p:nvPr/>
          </p:nvSpPr>
          <p:spPr bwMode="auto">
            <a:xfrm>
              <a:off x="4709" y="2760"/>
              <a:ext cx="57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9" name="Group 34">
            <a:extLst>
              <a:ext uri="{FF2B5EF4-FFF2-40B4-BE49-F238E27FC236}">
                <a16:creationId xmlns:a16="http://schemas.microsoft.com/office/drawing/2014/main" xmlns="" id="{051BBB3F-38DB-9419-EE1A-A27E610966E5}"/>
              </a:ext>
            </a:extLst>
          </p:cNvPr>
          <p:cNvGrpSpPr>
            <a:grpSpLocks/>
          </p:cNvGrpSpPr>
          <p:nvPr/>
        </p:nvGrpSpPr>
        <p:grpSpPr bwMode="auto">
          <a:xfrm>
            <a:off x="5825976" y="2462924"/>
            <a:ext cx="2387600" cy="1587500"/>
            <a:chOff x="3705" y="1771"/>
            <a:chExt cx="1504" cy="1000"/>
          </a:xfrm>
        </p:grpSpPr>
        <p:sp>
          <p:nvSpPr>
            <p:cNvPr id="30" name="Oval 35">
              <a:extLst>
                <a:ext uri="{FF2B5EF4-FFF2-40B4-BE49-F238E27FC236}">
                  <a16:creationId xmlns:a16="http://schemas.microsoft.com/office/drawing/2014/main" xmlns="" id="{9DD7452F-CB37-BAA4-B195-6B6E087143E5}"/>
                </a:ext>
              </a:extLst>
            </p:cNvPr>
            <p:cNvSpPr>
              <a:spLocks noChangeArrowheads="1"/>
            </p:cNvSpPr>
            <p:nvPr/>
          </p:nvSpPr>
          <p:spPr bwMode="auto">
            <a:xfrm>
              <a:off x="4673" y="2135"/>
              <a:ext cx="27" cy="24"/>
            </a:xfrm>
            <a:prstGeom prst="ellipse">
              <a:avLst/>
            </a:prstGeom>
            <a:solidFill>
              <a:srgbClr val="FF6600"/>
            </a:solidFill>
            <a:ln w="25400">
              <a:solidFill>
                <a:schemeClr val="tx1"/>
              </a:solidFill>
              <a:round/>
              <a:headEnd/>
              <a:tailEnd/>
            </a:ln>
          </p:spPr>
          <p:txBody>
            <a:bodyPr anchor="ctr">
              <a:spAutoFit/>
            </a:bodyPr>
            <a:lstStyle/>
            <a:p>
              <a:endParaRPr lang="zh-CN" altLang="en-US"/>
            </a:p>
          </p:txBody>
        </p:sp>
        <p:sp>
          <p:nvSpPr>
            <p:cNvPr id="31" name="Text Box 36">
              <a:extLst>
                <a:ext uri="{FF2B5EF4-FFF2-40B4-BE49-F238E27FC236}">
                  <a16:creationId xmlns:a16="http://schemas.microsoft.com/office/drawing/2014/main" xmlns="" id="{12E809A3-209B-FB6A-242C-E3906FE46FC0}"/>
                </a:ext>
              </a:extLst>
            </p:cNvPr>
            <p:cNvSpPr txBox="1">
              <a:spLocks noChangeArrowheads="1"/>
            </p:cNvSpPr>
            <p:nvPr/>
          </p:nvSpPr>
          <p:spPr bwMode="auto">
            <a:xfrm>
              <a:off x="4753" y="2284"/>
              <a:ext cx="45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p>
              <a:pPr fontAlgn="t">
                <a:spcBef>
                  <a:spcPct val="50000"/>
                </a:spcBef>
              </a:pPr>
              <a:r>
                <a:rPr lang="en-US" altLang="zh-CN" sz="2400" b="1" i="1">
                  <a:solidFill>
                    <a:srgbClr val="000000"/>
                  </a:solidFill>
                  <a:latin typeface="Times New Roman" panose="02020603050405020304" pitchFamily="18" charset="0"/>
                </a:rPr>
                <a:t>L</a:t>
              </a:r>
              <a:r>
                <a:rPr lang="en-US" altLang="zh-CN" sz="2800" b="1" baseline="-25000">
                  <a:solidFill>
                    <a:srgbClr val="000000"/>
                  </a:solidFill>
                  <a:latin typeface="Times New Roman" panose="02020603050405020304" pitchFamily="18" charset="0"/>
                </a:rPr>
                <a:t>2</a:t>
              </a:r>
            </a:p>
          </p:txBody>
        </p:sp>
        <p:grpSp>
          <p:nvGrpSpPr>
            <p:cNvPr id="32" name="Group 37">
              <a:extLst>
                <a:ext uri="{FF2B5EF4-FFF2-40B4-BE49-F238E27FC236}">
                  <a16:creationId xmlns:a16="http://schemas.microsoft.com/office/drawing/2014/main" xmlns="" id="{24113831-05E7-7EDB-2283-7875FB4874B8}"/>
                </a:ext>
              </a:extLst>
            </p:cNvPr>
            <p:cNvGrpSpPr>
              <a:grpSpLocks/>
            </p:cNvGrpSpPr>
            <p:nvPr/>
          </p:nvGrpSpPr>
          <p:grpSpPr bwMode="auto">
            <a:xfrm>
              <a:off x="3705" y="1771"/>
              <a:ext cx="1116" cy="1000"/>
              <a:chOff x="3705" y="1771"/>
              <a:chExt cx="1116" cy="1000"/>
            </a:xfrm>
          </p:grpSpPr>
          <p:sp>
            <p:nvSpPr>
              <p:cNvPr id="33" name="Line 38">
                <a:extLst>
                  <a:ext uri="{FF2B5EF4-FFF2-40B4-BE49-F238E27FC236}">
                    <a16:creationId xmlns:a16="http://schemas.microsoft.com/office/drawing/2014/main" xmlns="" id="{DF94F03D-04A2-2245-21CC-59CD887F5869}"/>
                  </a:ext>
                </a:extLst>
              </p:cNvPr>
              <p:cNvSpPr>
                <a:spLocks noChangeShapeType="1"/>
              </p:cNvSpPr>
              <p:nvPr/>
            </p:nvSpPr>
            <p:spPr bwMode="auto">
              <a:xfrm flipH="1">
                <a:off x="3705" y="2765"/>
                <a:ext cx="9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 name="Line 39">
                <a:extLst>
                  <a:ext uri="{FF2B5EF4-FFF2-40B4-BE49-F238E27FC236}">
                    <a16:creationId xmlns:a16="http://schemas.microsoft.com/office/drawing/2014/main" xmlns="" id="{97BDB2EB-FE53-6360-52A1-C6D1971B664E}"/>
                  </a:ext>
                </a:extLst>
              </p:cNvPr>
              <p:cNvSpPr>
                <a:spLocks noChangeShapeType="1"/>
              </p:cNvSpPr>
              <p:nvPr/>
            </p:nvSpPr>
            <p:spPr bwMode="auto">
              <a:xfrm>
                <a:off x="4688" y="2619"/>
                <a:ext cx="0" cy="1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 name="Line 40">
                <a:extLst>
                  <a:ext uri="{FF2B5EF4-FFF2-40B4-BE49-F238E27FC236}">
                    <a16:creationId xmlns:a16="http://schemas.microsoft.com/office/drawing/2014/main" xmlns="" id="{F07140D0-E6FE-69DE-ED80-1880E2E40FB8}"/>
                  </a:ext>
                </a:extLst>
              </p:cNvPr>
              <p:cNvSpPr>
                <a:spLocks noChangeShapeType="1"/>
              </p:cNvSpPr>
              <p:nvPr/>
            </p:nvSpPr>
            <p:spPr bwMode="auto">
              <a:xfrm>
                <a:off x="3712" y="1771"/>
                <a:ext cx="0" cy="10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36" name="Picture 41">
                <a:extLst>
                  <a:ext uri="{FF2B5EF4-FFF2-40B4-BE49-F238E27FC236}">
                    <a16:creationId xmlns:a16="http://schemas.microsoft.com/office/drawing/2014/main" xmlns="" id="{DB664E4F-B166-451D-CBDF-5CF0D8217B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52" y="2287"/>
                <a:ext cx="169" cy="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 name="Line 42">
                <a:extLst>
                  <a:ext uri="{FF2B5EF4-FFF2-40B4-BE49-F238E27FC236}">
                    <a16:creationId xmlns:a16="http://schemas.microsoft.com/office/drawing/2014/main" xmlns="" id="{C4BA8F57-5394-B28E-147B-2554F4DD73D2}"/>
                  </a:ext>
                </a:extLst>
              </p:cNvPr>
              <p:cNvSpPr>
                <a:spLocks noChangeShapeType="1"/>
              </p:cNvSpPr>
              <p:nvPr/>
            </p:nvSpPr>
            <p:spPr bwMode="auto">
              <a:xfrm>
                <a:off x="4688" y="2136"/>
                <a:ext cx="0" cy="17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38" name="Group 43">
            <a:extLst>
              <a:ext uri="{FF2B5EF4-FFF2-40B4-BE49-F238E27FC236}">
                <a16:creationId xmlns:a16="http://schemas.microsoft.com/office/drawing/2014/main" xmlns="" id="{55B20BA8-73C6-C3FA-AEA3-ED6203D5AD58}"/>
              </a:ext>
            </a:extLst>
          </p:cNvPr>
          <p:cNvGrpSpPr>
            <a:grpSpLocks/>
          </p:cNvGrpSpPr>
          <p:nvPr/>
        </p:nvGrpSpPr>
        <p:grpSpPr bwMode="auto">
          <a:xfrm>
            <a:off x="6459388" y="1853324"/>
            <a:ext cx="1743075" cy="1223962"/>
            <a:chOff x="4104" y="1387"/>
            <a:chExt cx="1098" cy="771"/>
          </a:xfrm>
        </p:grpSpPr>
        <p:grpSp>
          <p:nvGrpSpPr>
            <p:cNvPr id="39" name="Group 44">
              <a:extLst>
                <a:ext uri="{FF2B5EF4-FFF2-40B4-BE49-F238E27FC236}">
                  <a16:creationId xmlns:a16="http://schemas.microsoft.com/office/drawing/2014/main" xmlns="" id="{243D8D97-A193-B211-7CE5-252F0EF07669}"/>
                </a:ext>
              </a:extLst>
            </p:cNvPr>
            <p:cNvGrpSpPr>
              <a:grpSpLocks/>
            </p:cNvGrpSpPr>
            <p:nvPr/>
          </p:nvGrpSpPr>
          <p:grpSpPr bwMode="auto">
            <a:xfrm>
              <a:off x="4104" y="1387"/>
              <a:ext cx="1098" cy="771"/>
              <a:chOff x="4112" y="1371"/>
              <a:chExt cx="1098" cy="771"/>
            </a:xfrm>
          </p:grpSpPr>
          <p:sp>
            <p:nvSpPr>
              <p:cNvPr id="41" name="Line 45">
                <a:extLst>
                  <a:ext uri="{FF2B5EF4-FFF2-40B4-BE49-F238E27FC236}">
                    <a16:creationId xmlns:a16="http://schemas.microsoft.com/office/drawing/2014/main" xmlns="" id="{0F766EE8-FAF5-BB31-A116-6B059545C4CC}"/>
                  </a:ext>
                </a:extLst>
              </p:cNvPr>
              <p:cNvSpPr>
                <a:spLocks noChangeShapeType="1"/>
              </p:cNvSpPr>
              <p:nvPr/>
            </p:nvSpPr>
            <p:spPr bwMode="auto">
              <a:xfrm>
                <a:off x="4144" y="1371"/>
                <a:ext cx="0" cy="23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 name="Line 46">
                <a:extLst>
                  <a:ext uri="{FF2B5EF4-FFF2-40B4-BE49-F238E27FC236}">
                    <a16:creationId xmlns:a16="http://schemas.microsoft.com/office/drawing/2014/main" xmlns="" id="{B3BB7EF8-3FE2-A253-94BF-B94983E364C9}"/>
                  </a:ext>
                </a:extLst>
              </p:cNvPr>
              <p:cNvSpPr>
                <a:spLocks noChangeShapeType="1"/>
              </p:cNvSpPr>
              <p:nvPr/>
            </p:nvSpPr>
            <p:spPr bwMode="auto">
              <a:xfrm>
                <a:off x="4144" y="1378"/>
                <a:ext cx="52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 name="Line 47">
                <a:extLst>
                  <a:ext uri="{FF2B5EF4-FFF2-40B4-BE49-F238E27FC236}">
                    <a16:creationId xmlns:a16="http://schemas.microsoft.com/office/drawing/2014/main" xmlns="" id="{77A33EA5-6634-D1FA-63DD-C3360DF66302}"/>
                  </a:ext>
                </a:extLst>
              </p:cNvPr>
              <p:cNvSpPr>
                <a:spLocks noChangeShapeType="1"/>
              </p:cNvSpPr>
              <p:nvPr/>
            </p:nvSpPr>
            <p:spPr bwMode="auto">
              <a:xfrm>
                <a:off x="4688" y="1876"/>
                <a:ext cx="0" cy="24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 name="Line 48">
                <a:extLst>
                  <a:ext uri="{FF2B5EF4-FFF2-40B4-BE49-F238E27FC236}">
                    <a16:creationId xmlns:a16="http://schemas.microsoft.com/office/drawing/2014/main" xmlns="" id="{4320E66C-2E2B-2EDF-FFD6-1CC233BF2702}"/>
                  </a:ext>
                </a:extLst>
              </p:cNvPr>
              <p:cNvSpPr>
                <a:spLocks noChangeShapeType="1"/>
              </p:cNvSpPr>
              <p:nvPr/>
            </p:nvSpPr>
            <p:spPr bwMode="auto">
              <a:xfrm flipH="1">
                <a:off x="4112" y="2132"/>
                <a:ext cx="57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 name="Oval 49">
                <a:extLst>
                  <a:ext uri="{FF2B5EF4-FFF2-40B4-BE49-F238E27FC236}">
                    <a16:creationId xmlns:a16="http://schemas.microsoft.com/office/drawing/2014/main" xmlns="" id="{04C93E82-98A5-355C-778A-A7F68ACEABF0}"/>
                  </a:ext>
                </a:extLst>
              </p:cNvPr>
              <p:cNvSpPr>
                <a:spLocks noChangeArrowheads="1"/>
              </p:cNvSpPr>
              <p:nvPr/>
            </p:nvSpPr>
            <p:spPr bwMode="auto">
              <a:xfrm>
                <a:off x="4112" y="2118"/>
                <a:ext cx="27" cy="24"/>
              </a:xfrm>
              <a:prstGeom prst="ellipse">
                <a:avLst/>
              </a:prstGeom>
              <a:solidFill>
                <a:srgbClr val="FF6600"/>
              </a:solidFill>
              <a:ln w="25400">
                <a:solidFill>
                  <a:schemeClr val="tx1"/>
                </a:solidFill>
                <a:round/>
                <a:headEnd/>
                <a:tailEnd/>
              </a:ln>
            </p:spPr>
            <p:txBody>
              <a:bodyPr anchor="ctr">
                <a:spAutoFit/>
              </a:bodyPr>
              <a:lstStyle/>
              <a:p>
                <a:endParaRPr lang="zh-CN" altLang="en-US"/>
              </a:p>
            </p:txBody>
          </p:sp>
          <p:pic>
            <p:nvPicPr>
              <p:cNvPr id="46" name="Picture 50">
                <a:extLst>
                  <a:ext uri="{FF2B5EF4-FFF2-40B4-BE49-F238E27FC236}">
                    <a16:creationId xmlns:a16="http://schemas.microsoft.com/office/drawing/2014/main" xmlns="" id="{16950943-E245-0DA7-447F-02777CD594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35" y="1534"/>
                <a:ext cx="169" cy="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 name="Text Box 51">
                <a:extLst>
                  <a:ext uri="{FF2B5EF4-FFF2-40B4-BE49-F238E27FC236}">
                    <a16:creationId xmlns:a16="http://schemas.microsoft.com/office/drawing/2014/main" xmlns="" id="{2B5240D3-D9BC-AF56-C8DE-E0372511C426}"/>
                  </a:ext>
                </a:extLst>
              </p:cNvPr>
              <p:cNvSpPr txBox="1">
                <a:spLocks noChangeArrowheads="1"/>
              </p:cNvSpPr>
              <p:nvPr/>
            </p:nvSpPr>
            <p:spPr bwMode="auto">
              <a:xfrm>
                <a:off x="4754" y="1586"/>
                <a:ext cx="45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p>
                <a:pPr fontAlgn="t">
                  <a:spcBef>
                    <a:spcPct val="50000"/>
                  </a:spcBef>
                </a:pPr>
                <a:r>
                  <a:rPr lang="en-US" altLang="zh-CN" sz="2400" b="1" i="1">
                    <a:solidFill>
                      <a:srgbClr val="000000"/>
                    </a:solidFill>
                    <a:latin typeface="Times New Roman" panose="02020603050405020304" pitchFamily="18" charset="0"/>
                  </a:rPr>
                  <a:t>L</a:t>
                </a:r>
                <a:r>
                  <a:rPr lang="en-US" altLang="zh-CN" sz="2400" b="1" baseline="-25000">
                    <a:solidFill>
                      <a:srgbClr val="000000"/>
                    </a:solidFill>
                    <a:latin typeface="Times New Roman" panose="02020603050405020304" pitchFamily="18" charset="0"/>
                  </a:rPr>
                  <a:t>1</a:t>
                </a:r>
              </a:p>
            </p:txBody>
          </p:sp>
        </p:grpSp>
        <p:sp>
          <p:nvSpPr>
            <p:cNvPr id="40" name="Line 52">
              <a:extLst>
                <a:ext uri="{FF2B5EF4-FFF2-40B4-BE49-F238E27FC236}">
                  <a16:creationId xmlns:a16="http://schemas.microsoft.com/office/drawing/2014/main" xmlns="" id="{23EFF2D5-7B06-6977-7437-CB13915DCA9E}"/>
                </a:ext>
              </a:extLst>
            </p:cNvPr>
            <p:cNvSpPr>
              <a:spLocks noChangeShapeType="1"/>
            </p:cNvSpPr>
            <p:nvPr/>
          </p:nvSpPr>
          <p:spPr bwMode="auto">
            <a:xfrm>
              <a:off x="4656" y="1392"/>
              <a:ext cx="0" cy="18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48" name="Text Box 44">
            <a:extLst>
              <a:ext uri="{FF2B5EF4-FFF2-40B4-BE49-F238E27FC236}">
                <a16:creationId xmlns:a16="http://schemas.microsoft.com/office/drawing/2014/main" xmlns="" id="{051FD1E5-9C8D-5511-20CA-9B1C588E6190}"/>
              </a:ext>
            </a:extLst>
          </p:cNvPr>
          <p:cNvSpPr txBox="1">
            <a:spLocks noChangeArrowheads="1"/>
          </p:cNvSpPr>
          <p:nvPr/>
        </p:nvSpPr>
        <p:spPr bwMode="auto">
          <a:xfrm>
            <a:off x="289432" y="2157252"/>
            <a:ext cx="32131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t">
              <a:spcBef>
                <a:spcPct val="50000"/>
              </a:spcBef>
            </a:pPr>
            <a:r>
              <a:rPr lang="en-US" altLang="zh-CN" sz="2000" b="1" dirty="0">
                <a:solidFill>
                  <a:schemeClr val="tx1"/>
                </a:solidFill>
                <a:latin typeface="Times New Roman" panose="02020603050405020304" pitchFamily="18" charset="0"/>
                <a:cs typeface="Times New Roman" panose="02020603050405020304" pitchFamily="18" charset="0"/>
              </a:rPr>
              <a:t>2</a:t>
            </a:r>
            <a:r>
              <a:rPr lang="zh-CN" altLang="en-US" sz="2000" dirty="0">
                <a:solidFill>
                  <a:schemeClr val="tx1"/>
                </a:solidFill>
                <a:latin typeface="Times New Roman" panose="02020603050405020304" pitchFamily="18" charset="0"/>
                <a:cs typeface="Times New Roman" panose="02020603050405020304" pitchFamily="18" charset="0"/>
              </a:rPr>
              <a:t>、</a:t>
            </a:r>
            <a:r>
              <a:rPr lang="zh-CN" altLang="en-US" sz="2000" b="1" dirty="0">
                <a:solidFill>
                  <a:schemeClr val="tx1"/>
                </a:solidFill>
                <a:latin typeface="Times New Roman" panose="02020603050405020304" pitchFamily="18" charset="0"/>
                <a:cs typeface="Times New Roman" panose="02020603050405020304" pitchFamily="18" charset="0"/>
              </a:rPr>
              <a:t>相位平衡条件</a:t>
            </a:r>
          </a:p>
        </p:txBody>
      </p:sp>
      <p:sp>
        <p:nvSpPr>
          <p:cNvPr id="49" name="Text Box 73">
            <a:extLst>
              <a:ext uri="{FF2B5EF4-FFF2-40B4-BE49-F238E27FC236}">
                <a16:creationId xmlns:a16="http://schemas.microsoft.com/office/drawing/2014/main" xmlns="" id="{CE2DAC9F-B7BF-8506-1871-924F104B4C28}"/>
              </a:ext>
            </a:extLst>
          </p:cNvPr>
          <p:cNvSpPr txBox="1">
            <a:spLocks noChangeArrowheads="1"/>
          </p:cNvSpPr>
          <p:nvPr/>
        </p:nvSpPr>
        <p:spPr bwMode="auto">
          <a:xfrm>
            <a:off x="313639" y="4377506"/>
            <a:ext cx="32131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t">
              <a:spcBef>
                <a:spcPct val="50000"/>
              </a:spcBef>
            </a:pPr>
            <a:r>
              <a:rPr lang="en-US" altLang="zh-CN" sz="2000" b="1" dirty="0">
                <a:solidFill>
                  <a:schemeClr val="tx1"/>
                </a:solidFill>
                <a:latin typeface="Times New Roman" panose="02020603050405020304" pitchFamily="18" charset="0"/>
                <a:cs typeface="Times New Roman" panose="02020603050405020304" pitchFamily="18" charset="0"/>
              </a:rPr>
              <a:t>3</a:t>
            </a:r>
            <a:r>
              <a:rPr lang="zh-CN" altLang="en-US" sz="2000" b="1" dirty="0">
                <a:solidFill>
                  <a:schemeClr val="tx1"/>
                </a:solidFill>
                <a:latin typeface="Times New Roman" panose="02020603050405020304" pitchFamily="18" charset="0"/>
                <a:cs typeface="Times New Roman" panose="02020603050405020304" pitchFamily="18" charset="0"/>
              </a:rPr>
              <a:t>、起振条件</a:t>
            </a:r>
          </a:p>
        </p:txBody>
      </p:sp>
      <p:graphicFrame>
        <p:nvGraphicFramePr>
          <p:cNvPr id="50" name="Object 75">
            <a:extLst>
              <a:ext uri="{FF2B5EF4-FFF2-40B4-BE49-F238E27FC236}">
                <a16:creationId xmlns:a16="http://schemas.microsoft.com/office/drawing/2014/main" xmlns="" id="{79F3A528-E2BC-1483-9B1B-B9B94A472BAF}"/>
              </a:ext>
            </a:extLst>
          </p:cNvPr>
          <p:cNvGraphicFramePr>
            <a:graphicFrameLocks noChangeAspect="1"/>
          </p:cNvGraphicFramePr>
          <p:nvPr>
            <p:extLst>
              <p:ext uri="{D42A27DB-BD31-4B8C-83A1-F6EECF244321}">
                <p14:modId xmlns:p14="http://schemas.microsoft.com/office/powerpoint/2010/main" val="1065526340"/>
              </p:ext>
            </p:extLst>
          </p:nvPr>
        </p:nvGraphicFramePr>
        <p:xfrm>
          <a:off x="1518551" y="4932178"/>
          <a:ext cx="2014538" cy="742950"/>
        </p:xfrm>
        <a:graphic>
          <a:graphicData uri="http://schemas.openxmlformats.org/presentationml/2006/ole">
            <mc:AlternateContent xmlns:mc="http://schemas.openxmlformats.org/markup-compatibility/2006">
              <mc:Choice xmlns:v="urn:schemas-microsoft-com:vml" Requires="v">
                <p:oleObj spid="_x0000_s137386" r:id="rId4" imgW="1193800" imgH="457200" progId="Equation.3">
                  <p:embed/>
                </p:oleObj>
              </mc:Choice>
              <mc:Fallback>
                <p:oleObj r:id="rId4" imgW="1193800" imgH="457200" progId="Equation.3">
                  <p:embed/>
                  <p:pic>
                    <p:nvPicPr>
                      <p:cNvPr id="0" name=""/>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18551" y="4932178"/>
                        <a:ext cx="2014538" cy="742950"/>
                      </a:xfrm>
                      <a:prstGeom prst="rect">
                        <a:avLst/>
                      </a:prstGeom>
                      <a:gradFill rotWithShape="1">
                        <a:gsLst>
                          <a:gs pos="0">
                            <a:srgbClr val="FF99FF"/>
                          </a:gs>
                          <a:gs pos="50000">
                            <a:schemeClr val="bg1"/>
                          </a:gs>
                          <a:gs pos="100000">
                            <a:srgbClr val="FF99FF"/>
                          </a:gs>
                        </a:gsLst>
                        <a:lin ang="5400000" scaled="1"/>
                      </a:gradFill>
                      <a:ln>
                        <a:noFill/>
                      </a:ln>
                      <a:extLst/>
                    </p:spPr>
                  </p:pic>
                </p:oleObj>
              </mc:Fallback>
            </mc:AlternateContent>
          </a:graphicData>
        </a:graphic>
      </p:graphicFrame>
      <p:sp>
        <p:nvSpPr>
          <p:cNvPr id="51" name="Rectangle 77">
            <a:extLst>
              <a:ext uri="{FF2B5EF4-FFF2-40B4-BE49-F238E27FC236}">
                <a16:creationId xmlns:a16="http://schemas.microsoft.com/office/drawing/2014/main" xmlns="" id="{2CB8B553-4715-9B09-8ED4-E9F0F6C8761F}"/>
              </a:ext>
            </a:extLst>
          </p:cNvPr>
          <p:cNvSpPr>
            <a:spLocks noChangeArrowheads="1"/>
          </p:cNvSpPr>
          <p:nvPr/>
        </p:nvSpPr>
        <p:spPr bwMode="auto">
          <a:xfrm>
            <a:off x="295782" y="5046409"/>
            <a:ext cx="134684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pPr fontAlgn="t">
              <a:spcBef>
                <a:spcPct val="50000"/>
              </a:spcBef>
            </a:pPr>
            <a:r>
              <a:rPr lang="zh-CN" altLang="en-US" sz="2000" b="1" dirty="0">
                <a:solidFill>
                  <a:schemeClr val="tx1"/>
                </a:solidFill>
                <a:latin typeface="Times New Roman" panose="02020603050405020304" pitchFamily="18" charset="0"/>
                <a:cs typeface="Times New Roman" panose="02020603050405020304" pitchFamily="18" charset="0"/>
              </a:rPr>
              <a:t>反馈系数</a:t>
            </a:r>
            <a:r>
              <a:rPr lang="en-US" altLang="zh-CN" sz="2000" b="1" dirty="0">
                <a:solidFill>
                  <a:schemeClr val="tx1"/>
                </a:solidFill>
                <a:latin typeface="Times New Roman" panose="02020603050405020304" pitchFamily="18" charset="0"/>
                <a:cs typeface="Times New Roman" panose="02020603050405020304" pitchFamily="18" charset="0"/>
              </a:rPr>
              <a:t>:</a:t>
            </a:r>
          </a:p>
        </p:txBody>
      </p:sp>
      <p:sp>
        <p:nvSpPr>
          <p:cNvPr id="52" name="Rectangle 78">
            <a:extLst>
              <a:ext uri="{FF2B5EF4-FFF2-40B4-BE49-F238E27FC236}">
                <a16:creationId xmlns:a16="http://schemas.microsoft.com/office/drawing/2014/main" xmlns="" id="{2F423058-AA0E-F5ED-ADE8-7B55BA0E81DA}"/>
              </a:ext>
            </a:extLst>
          </p:cNvPr>
          <p:cNvSpPr>
            <a:spLocks noChangeArrowheads="1"/>
          </p:cNvSpPr>
          <p:nvPr/>
        </p:nvSpPr>
        <p:spPr bwMode="auto">
          <a:xfrm>
            <a:off x="3668583" y="5076689"/>
            <a:ext cx="324800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pPr fontAlgn="t">
              <a:spcBef>
                <a:spcPct val="50000"/>
              </a:spcBef>
            </a:pPr>
            <a:r>
              <a:rPr lang="zh-CN" altLang="en-US" sz="2000" b="1" dirty="0">
                <a:solidFill>
                  <a:schemeClr val="tx1"/>
                </a:solidFill>
                <a:latin typeface="+mn-ea"/>
                <a:ea typeface="+mn-ea"/>
              </a:rPr>
              <a:t>若忽略互感</a:t>
            </a:r>
            <a:r>
              <a:rPr lang="en-US" altLang="zh-CN" sz="2000" b="1" dirty="0">
                <a:solidFill>
                  <a:schemeClr val="tx1"/>
                </a:solidFill>
                <a:latin typeface="+mn-ea"/>
                <a:ea typeface="+mn-ea"/>
              </a:rPr>
              <a:t>M</a:t>
            </a:r>
            <a:r>
              <a:rPr lang="zh-CN" altLang="en-US" sz="2000" b="1" dirty="0">
                <a:solidFill>
                  <a:schemeClr val="tx1"/>
                </a:solidFill>
                <a:latin typeface="+mn-ea"/>
                <a:ea typeface="+mn-ea"/>
              </a:rPr>
              <a:t>的影响则有：</a:t>
            </a:r>
          </a:p>
        </p:txBody>
      </p:sp>
      <p:graphicFrame>
        <p:nvGraphicFramePr>
          <p:cNvPr id="53" name="Object 82">
            <a:extLst>
              <a:ext uri="{FF2B5EF4-FFF2-40B4-BE49-F238E27FC236}">
                <a16:creationId xmlns:a16="http://schemas.microsoft.com/office/drawing/2014/main" xmlns="" id="{0DD13496-BE74-1EC3-2F8F-D24CD67BC79D}"/>
              </a:ext>
            </a:extLst>
          </p:cNvPr>
          <p:cNvGraphicFramePr>
            <a:graphicFrameLocks noChangeAspect="1"/>
          </p:cNvGraphicFramePr>
          <p:nvPr>
            <p:extLst>
              <p:ext uri="{D42A27DB-BD31-4B8C-83A1-F6EECF244321}">
                <p14:modId xmlns:p14="http://schemas.microsoft.com/office/powerpoint/2010/main" val="322381084"/>
              </p:ext>
            </p:extLst>
          </p:nvPr>
        </p:nvGraphicFramePr>
        <p:xfrm>
          <a:off x="1991232" y="4215785"/>
          <a:ext cx="3706813" cy="762000"/>
        </p:xfrm>
        <a:graphic>
          <a:graphicData uri="http://schemas.openxmlformats.org/presentationml/2006/ole">
            <mc:AlternateContent xmlns:mc="http://schemas.openxmlformats.org/markup-compatibility/2006">
              <mc:Choice xmlns:v="urn:schemas-microsoft-com:vml" Requires="v">
                <p:oleObj spid="_x0000_s137387" r:id="rId6" imgW="1841500" imgH="393700" progId="Equation.DSMT4">
                  <p:embed/>
                </p:oleObj>
              </mc:Choice>
              <mc:Fallback>
                <p:oleObj r:id="rId6" imgW="1841500" imgH="393700" progId="Equation.DSMT4">
                  <p:embed/>
                  <p:pic>
                    <p:nvPicPr>
                      <p:cNvPr id="0" name=""/>
                      <p:cNvPicPr>
                        <a:picLocks noGrp="1"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91232" y="4215785"/>
                        <a:ext cx="3706813" cy="762000"/>
                      </a:xfrm>
                      <a:prstGeom prst="rect">
                        <a:avLst/>
                      </a:prstGeom>
                      <a:ln>
                        <a:noFill/>
                      </a:ln>
                      <a:extLst/>
                    </p:spPr>
                  </p:pic>
                </p:oleObj>
              </mc:Fallback>
            </mc:AlternateContent>
          </a:graphicData>
        </a:graphic>
      </p:graphicFrame>
      <p:pic>
        <p:nvPicPr>
          <p:cNvPr id="54" name="图片 53">
            <a:extLst>
              <a:ext uri="{FF2B5EF4-FFF2-40B4-BE49-F238E27FC236}">
                <a16:creationId xmlns:a16="http://schemas.microsoft.com/office/drawing/2014/main" xmlns="" id="{68D09F04-9A9F-696C-0906-E34707BA4BB0}"/>
              </a:ext>
            </a:extLst>
          </p:cNvPr>
          <p:cNvPicPr>
            <a:picLocks noChangeAspect="1"/>
          </p:cNvPicPr>
          <p:nvPr/>
        </p:nvPicPr>
        <p:blipFill>
          <a:blip r:embed="rId8"/>
          <a:stretch>
            <a:fillRect/>
          </a:stretch>
        </p:blipFill>
        <p:spPr>
          <a:xfrm>
            <a:off x="422803" y="2616619"/>
            <a:ext cx="2620432" cy="1836055"/>
          </a:xfrm>
          <a:prstGeom prst="rect">
            <a:avLst/>
          </a:prstGeom>
        </p:spPr>
      </p:pic>
      <p:pic>
        <p:nvPicPr>
          <p:cNvPr id="55" name="图片 54">
            <a:extLst>
              <a:ext uri="{FF2B5EF4-FFF2-40B4-BE49-F238E27FC236}">
                <a16:creationId xmlns:a16="http://schemas.microsoft.com/office/drawing/2014/main" xmlns="" id="{E687FD05-0C1A-3EA6-2459-393AB8EA726F}"/>
              </a:ext>
            </a:extLst>
          </p:cNvPr>
          <p:cNvPicPr>
            <a:picLocks noChangeAspect="1"/>
          </p:cNvPicPr>
          <p:nvPr/>
        </p:nvPicPr>
        <p:blipFill>
          <a:blip r:embed="rId9"/>
          <a:stretch>
            <a:fillRect/>
          </a:stretch>
        </p:blipFill>
        <p:spPr>
          <a:xfrm>
            <a:off x="2886739" y="2957297"/>
            <a:ext cx="2861450" cy="1200705"/>
          </a:xfrm>
          <a:prstGeom prst="rect">
            <a:avLst/>
          </a:prstGeom>
        </p:spPr>
      </p:pic>
      <p:graphicFrame>
        <p:nvGraphicFramePr>
          <p:cNvPr id="56" name="Object 74">
            <a:extLst>
              <a:ext uri="{FF2B5EF4-FFF2-40B4-BE49-F238E27FC236}">
                <a16:creationId xmlns:a16="http://schemas.microsoft.com/office/drawing/2014/main" xmlns="" id="{3D36030C-8D2A-EC63-011F-89A44F37CFE7}"/>
              </a:ext>
            </a:extLst>
          </p:cNvPr>
          <p:cNvGraphicFramePr>
            <a:graphicFrameLocks noChangeAspect="1"/>
          </p:cNvGraphicFramePr>
          <p:nvPr>
            <p:extLst>
              <p:ext uri="{D42A27DB-BD31-4B8C-83A1-F6EECF244321}">
                <p14:modId xmlns:p14="http://schemas.microsoft.com/office/powerpoint/2010/main" val="3651055397"/>
              </p:ext>
            </p:extLst>
          </p:nvPr>
        </p:nvGraphicFramePr>
        <p:xfrm>
          <a:off x="6657033" y="4820715"/>
          <a:ext cx="1801812" cy="892175"/>
        </p:xfrm>
        <a:graphic>
          <a:graphicData uri="http://schemas.openxmlformats.org/presentationml/2006/ole">
            <mc:AlternateContent xmlns:mc="http://schemas.openxmlformats.org/markup-compatibility/2006">
              <mc:Choice xmlns:v="urn:schemas-microsoft-com:vml" Requires="v">
                <p:oleObj spid="_x0000_s137388" r:id="rId10" imgW="889000" imgH="457200" progId="Equation.3">
                  <p:embed/>
                </p:oleObj>
              </mc:Choice>
              <mc:Fallback>
                <p:oleObj r:id="rId10" imgW="889000" imgH="457200" progId="Equation.3">
                  <p:embed/>
                  <p:pic>
                    <p:nvPicPr>
                      <p:cNvPr id="0" name=""/>
                      <p:cNvPicPr>
                        <a:picLocks noGrp="1"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657033" y="4820715"/>
                        <a:ext cx="1801812" cy="892175"/>
                      </a:xfrm>
                      <a:prstGeom prst="rect">
                        <a:avLst/>
                      </a:prstGeom>
                      <a:ln>
                        <a:noFill/>
                      </a:ln>
                      <a:extLst/>
                    </p:spPr>
                  </p:pic>
                </p:oleObj>
              </mc:Fallback>
            </mc:AlternateContent>
          </a:graphicData>
        </a:graphic>
      </p:graphicFrame>
      <p:graphicFrame>
        <p:nvGraphicFramePr>
          <p:cNvPr id="57" name="Object 76">
            <a:extLst>
              <a:ext uri="{FF2B5EF4-FFF2-40B4-BE49-F238E27FC236}">
                <a16:creationId xmlns:a16="http://schemas.microsoft.com/office/drawing/2014/main" xmlns="" id="{DF50CF4F-86F4-48A2-3552-2C253EBE415E}"/>
              </a:ext>
            </a:extLst>
          </p:cNvPr>
          <p:cNvGraphicFramePr>
            <a:graphicFrameLocks noChangeAspect="1"/>
          </p:cNvGraphicFramePr>
          <p:nvPr>
            <p:extLst>
              <p:ext uri="{D42A27DB-BD31-4B8C-83A1-F6EECF244321}">
                <p14:modId xmlns:p14="http://schemas.microsoft.com/office/powerpoint/2010/main" val="326228826"/>
              </p:ext>
            </p:extLst>
          </p:nvPr>
        </p:nvGraphicFramePr>
        <p:xfrm>
          <a:off x="1875483" y="5713522"/>
          <a:ext cx="1511300" cy="884238"/>
        </p:xfrm>
        <a:graphic>
          <a:graphicData uri="http://schemas.openxmlformats.org/presentationml/2006/ole">
            <mc:AlternateContent xmlns:mc="http://schemas.openxmlformats.org/markup-compatibility/2006">
              <mc:Choice xmlns:v="urn:schemas-microsoft-com:vml" Requires="v">
                <p:oleObj spid="_x0000_s137389" r:id="rId12" imgW="825500" imgH="482600" progId="Equation.3">
                  <p:embed/>
                </p:oleObj>
              </mc:Choice>
              <mc:Fallback>
                <p:oleObj r:id="rId12" imgW="825500" imgH="482600" progId="Equation.3">
                  <p:embed/>
                  <p:pic>
                    <p:nvPicPr>
                      <p:cNvPr id="0" name=""/>
                      <p:cNvPicPr>
                        <a:picLocks noGrp="1"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875483" y="5713522"/>
                        <a:ext cx="1511300" cy="884238"/>
                      </a:xfrm>
                      <a:prstGeom prst="rect">
                        <a:avLst/>
                      </a:prstGeom>
                      <a:gradFill rotWithShape="1">
                        <a:gsLst>
                          <a:gs pos="0">
                            <a:srgbClr val="FF99FF"/>
                          </a:gs>
                          <a:gs pos="50000">
                            <a:schemeClr val="bg1"/>
                          </a:gs>
                          <a:gs pos="100000">
                            <a:srgbClr val="FF99FF"/>
                          </a:gs>
                        </a:gsLst>
                        <a:lin ang="5400000" scaled="1"/>
                      </a:gradFill>
                      <a:ln>
                        <a:noFill/>
                      </a:ln>
                      <a:extLst/>
                    </p:spPr>
                  </p:pic>
                </p:oleObj>
              </mc:Fallback>
            </mc:AlternateContent>
          </a:graphicData>
        </a:graphic>
      </p:graphicFrame>
      <p:sp>
        <p:nvSpPr>
          <p:cNvPr id="58" name="Text Box 79">
            <a:extLst>
              <a:ext uri="{FF2B5EF4-FFF2-40B4-BE49-F238E27FC236}">
                <a16:creationId xmlns:a16="http://schemas.microsoft.com/office/drawing/2014/main" xmlns="" id="{17D11D57-425C-F7C8-D861-5D6BA391B124}"/>
              </a:ext>
            </a:extLst>
          </p:cNvPr>
          <p:cNvSpPr txBox="1">
            <a:spLocks noChangeArrowheads="1"/>
          </p:cNvSpPr>
          <p:nvPr/>
        </p:nvSpPr>
        <p:spPr bwMode="auto">
          <a:xfrm>
            <a:off x="295782" y="5723086"/>
            <a:ext cx="23241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t">
              <a:spcBef>
                <a:spcPct val="50000"/>
              </a:spcBef>
            </a:pPr>
            <a:r>
              <a:rPr lang="en-US" altLang="zh-CN" sz="2000" b="1" dirty="0">
                <a:solidFill>
                  <a:schemeClr val="tx1"/>
                </a:solidFill>
                <a:latin typeface="Times New Roman" panose="02020603050405020304" pitchFamily="18" charset="0"/>
                <a:cs typeface="Times New Roman" panose="02020603050405020304" pitchFamily="18" charset="0"/>
              </a:rPr>
              <a:t>4</a:t>
            </a:r>
            <a:r>
              <a:rPr lang="zh-CN" altLang="en-US" sz="2000" b="1" dirty="0">
                <a:solidFill>
                  <a:schemeClr val="tx1"/>
                </a:solidFill>
                <a:latin typeface="Times New Roman" panose="02020603050405020304" pitchFamily="18" charset="0"/>
                <a:cs typeface="Times New Roman" panose="02020603050405020304" pitchFamily="18" charset="0"/>
              </a:rPr>
              <a:t>、振荡频率</a:t>
            </a:r>
          </a:p>
        </p:txBody>
      </p:sp>
      <p:graphicFrame>
        <p:nvGraphicFramePr>
          <p:cNvPr id="59" name="Object 80">
            <a:extLst>
              <a:ext uri="{FF2B5EF4-FFF2-40B4-BE49-F238E27FC236}">
                <a16:creationId xmlns:a16="http://schemas.microsoft.com/office/drawing/2014/main" xmlns="" id="{0787EAA3-17A6-0A45-2168-A72E113F91CE}"/>
              </a:ext>
            </a:extLst>
          </p:cNvPr>
          <p:cNvGraphicFramePr>
            <a:graphicFrameLocks noChangeAspect="1"/>
          </p:cNvGraphicFramePr>
          <p:nvPr>
            <p:extLst>
              <p:ext uri="{D42A27DB-BD31-4B8C-83A1-F6EECF244321}">
                <p14:modId xmlns:p14="http://schemas.microsoft.com/office/powerpoint/2010/main" val="90805515"/>
              </p:ext>
            </p:extLst>
          </p:nvPr>
        </p:nvGraphicFramePr>
        <p:xfrm>
          <a:off x="3533089" y="5935155"/>
          <a:ext cx="2173417" cy="391756"/>
        </p:xfrm>
        <a:graphic>
          <a:graphicData uri="http://schemas.openxmlformats.org/presentationml/2006/ole">
            <mc:AlternateContent xmlns:mc="http://schemas.openxmlformats.org/markup-compatibility/2006">
              <mc:Choice xmlns:v="urn:schemas-microsoft-com:vml" Requires="v">
                <p:oleObj spid="_x0000_s137390" r:id="rId14" imgW="1193800" imgH="215900" progId="Equation.3">
                  <p:embed/>
                </p:oleObj>
              </mc:Choice>
              <mc:Fallback>
                <p:oleObj r:id="rId14" imgW="1193800" imgH="215900"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533089" y="5935155"/>
                        <a:ext cx="2173417" cy="391756"/>
                      </a:xfrm>
                      <a:prstGeom prst="rect">
                        <a:avLst/>
                      </a:prstGeom>
                      <a:noFill/>
                      <a:ln>
                        <a:noFill/>
                      </a:ln>
                      <a:extLst/>
                    </p:spPr>
                  </p:pic>
                </p:oleObj>
              </mc:Fallback>
            </mc:AlternateContent>
          </a:graphicData>
        </a:graphic>
      </p:graphicFrame>
      <p:graphicFrame>
        <p:nvGraphicFramePr>
          <p:cNvPr id="60" name="Object 81">
            <a:extLst>
              <a:ext uri="{FF2B5EF4-FFF2-40B4-BE49-F238E27FC236}">
                <a16:creationId xmlns:a16="http://schemas.microsoft.com/office/drawing/2014/main" xmlns="" id="{2C36E440-3ECD-95F6-65C8-25347D7D463E}"/>
              </a:ext>
            </a:extLst>
          </p:cNvPr>
          <p:cNvGraphicFramePr>
            <a:graphicFrameLocks noChangeAspect="1"/>
          </p:cNvGraphicFramePr>
          <p:nvPr>
            <p:extLst>
              <p:ext uri="{D42A27DB-BD31-4B8C-83A1-F6EECF244321}">
                <p14:modId xmlns:p14="http://schemas.microsoft.com/office/powerpoint/2010/main" val="1742947782"/>
              </p:ext>
            </p:extLst>
          </p:nvPr>
        </p:nvGraphicFramePr>
        <p:xfrm>
          <a:off x="6689731" y="5807916"/>
          <a:ext cx="1628620" cy="439425"/>
        </p:xfrm>
        <a:graphic>
          <a:graphicData uri="http://schemas.openxmlformats.org/presentationml/2006/ole">
            <mc:AlternateContent xmlns:mc="http://schemas.openxmlformats.org/markup-compatibility/2006">
              <mc:Choice xmlns:v="urn:schemas-microsoft-com:vml" Requires="v">
                <p:oleObj spid="_x0000_s137391" r:id="rId16" imgW="799753" imgH="215806" progId="Equation.3">
                  <p:embed/>
                </p:oleObj>
              </mc:Choice>
              <mc:Fallback>
                <p:oleObj r:id="rId16" imgW="799753" imgH="215806" progId="Equation.3">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689731" y="5807916"/>
                        <a:ext cx="1628620" cy="439425"/>
                      </a:xfrm>
                      <a:prstGeom prst="rect">
                        <a:avLst/>
                      </a:prstGeom>
                      <a:noFill/>
                      <a:ln>
                        <a:noFill/>
                      </a:ln>
                      <a:extLst/>
                    </p:spPr>
                  </p:pic>
                </p:oleObj>
              </mc:Fallback>
            </mc:AlternateContent>
          </a:graphicData>
        </a:graphic>
      </p:graphicFrame>
    </p:spTree>
    <p:extLst>
      <p:ext uri="{BB962C8B-B14F-4D97-AF65-F5344CB8AC3E}">
        <p14:creationId xmlns:p14="http://schemas.microsoft.com/office/powerpoint/2010/main" val="1948031314"/>
      </p:ext>
    </p:extLst>
  </p:cSld>
  <p:clrMapOvr>
    <a:masterClrMapping/>
  </p:clrMapOvr>
  <p:timing>
    <p:tnLst>
      <p:par>
        <p:cTn id="1" dur="indefinite" restart="never" nodeType="tmRoot"/>
      </p:par>
    </p:tn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178</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5.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正弦波</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振荡器</a:t>
            </a:r>
          </a:p>
        </p:txBody>
      </p:sp>
      <p:sp>
        <p:nvSpPr>
          <p:cNvPr id="5" name="Rectangle 2">
            <a:extLst>
              <a:ext uri="{FF2B5EF4-FFF2-40B4-BE49-F238E27FC236}">
                <a16:creationId xmlns:a16="http://schemas.microsoft.com/office/drawing/2014/main" xmlns="" id="{FAC7BB83-3AB7-9EFA-056E-8E308FB9A404}"/>
              </a:ext>
            </a:extLst>
          </p:cNvPr>
          <p:cNvSpPr txBox="1">
            <a:spLocks/>
          </p:cNvSpPr>
          <p:nvPr/>
        </p:nvSpPr>
        <p:spPr>
          <a:xfrm>
            <a:off x="194553" y="1231194"/>
            <a:ext cx="8897566" cy="421648"/>
          </a:xfrm>
          <a:prstGeom prst="rect">
            <a:avLst/>
          </a:prstGeom>
        </p:spPr>
        <p:txBody>
          <a:bodyPr/>
          <a:lstStyle>
            <a:lvl1pPr marL="342900" indent="-342900" algn="l" rtl="0" eaLnBrk="0" fontAlgn="base" hangingPunct="0">
              <a:spcBef>
                <a:spcPct val="20000"/>
              </a:spcBef>
              <a:spcAft>
                <a:spcPct val="0"/>
              </a:spcAft>
              <a:buChar char="•"/>
              <a:defRPr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algn="ctr" eaLnBrk="1" hangingPunct="1">
              <a:spcBef>
                <a:spcPct val="0"/>
              </a:spcBef>
              <a:buNone/>
            </a:pPr>
            <a:r>
              <a:rPr lang="zh-CN" altLang="en-US" sz="2200" b="1" kern="0" noProof="1" smtClean="0">
                <a:latin typeface="Times New Roman" panose="02020603050405020304" pitchFamily="18" charset="0"/>
                <a:cs typeface="Times New Roman" panose="02020603050405020304" pitchFamily="18" charset="0"/>
              </a:rPr>
              <a:t>电感</a:t>
            </a:r>
            <a:r>
              <a:rPr lang="zh-CN" altLang="en-US" sz="2200" b="1" kern="0" noProof="1">
                <a:latin typeface="Times New Roman" panose="02020603050405020304" pitchFamily="18" charset="0"/>
                <a:cs typeface="Times New Roman" panose="02020603050405020304" pitchFamily="18" charset="0"/>
              </a:rPr>
              <a:t>三点式与电容三点式的比较</a:t>
            </a:r>
          </a:p>
        </p:txBody>
      </p:sp>
      <p:pic>
        <p:nvPicPr>
          <p:cNvPr id="6" name="图片 5">
            <a:extLst>
              <a:ext uri="{FF2B5EF4-FFF2-40B4-BE49-F238E27FC236}">
                <a16:creationId xmlns:a16="http://schemas.microsoft.com/office/drawing/2014/main" xmlns="" id="{337CC794-CDBB-CFF9-0FEE-35156FBFDED3}"/>
              </a:ext>
            </a:extLst>
          </p:cNvPr>
          <p:cNvPicPr>
            <a:picLocks noChangeAspect="1"/>
          </p:cNvPicPr>
          <p:nvPr/>
        </p:nvPicPr>
        <p:blipFill>
          <a:blip r:embed="rId2"/>
          <a:stretch>
            <a:fillRect/>
          </a:stretch>
        </p:blipFill>
        <p:spPr>
          <a:xfrm>
            <a:off x="1009840" y="1856777"/>
            <a:ext cx="2010466" cy="2503417"/>
          </a:xfrm>
          <a:prstGeom prst="rect">
            <a:avLst/>
          </a:prstGeom>
        </p:spPr>
      </p:pic>
      <p:pic>
        <p:nvPicPr>
          <p:cNvPr id="7" name="图片 6">
            <a:extLst>
              <a:ext uri="{FF2B5EF4-FFF2-40B4-BE49-F238E27FC236}">
                <a16:creationId xmlns:a16="http://schemas.microsoft.com/office/drawing/2014/main" xmlns="" id="{571D4BE8-CF8A-70AB-3966-26A3B3BE93C1}"/>
              </a:ext>
            </a:extLst>
          </p:cNvPr>
          <p:cNvPicPr>
            <a:picLocks noChangeAspect="1"/>
          </p:cNvPicPr>
          <p:nvPr/>
        </p:nvPicPr>
        <p:blipFill>
          <a:blip r:embed="rId3"/>
          <a:stretch>
            <a:fillRect/>
          </a:stretch>
        </p:blipFill>
        <p:spPr>
          <a:xfrm>
            <a:off x="4682247" y="1873707"/>
            <a:ext cx="2162953" cy="2503418"/>
          </a:xfrm>
          <a:prstGeom prst="rect">
            <a:avLst/>
          </a:prstGeom>
        </p:spPr>
      </p:pic>
      <p:sp>
        <p:nvSpPr>
          <p:cNvPr id="8" name="Rectangle 3">
            <a:extLst>
              <a:ext uri="{FF2B5EF4-FFF2-40B4-BE49-F238E27FC236}">
                <a16:creationId xmlns:a16="http://schemas.microsoft.com/office/drawing/2014/main" xmlns="" id="{E0C06F32-6A6B-E219-9583-7973970AEB8B}"/>
              </a:ext>
            </a:extLst>
          </p:cNvPr>
          <p:cNvSpPr>
            <a:spLocks noChangeArrowheads="1"/>
          </p:cNvSpPr>
          <p:nvPr/>
        </p:nvSpPr>
        <p:spPr bwMode="auto">
          <a:xfrm>
            <a:off x="560923" y="5758512"/>
            <a:ext cx="49403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p>
            <a:pPr fontAlgn="t">
              <a:spcBef>
                <a:spcPct val="50000"/>
              </a:spcBef>
            </a:pPr>
            <a:r>
              <a:rPr lang="zh-CN" altLang="en-US" sz="2000" b="1" dirty="0">
                <a:solidFill>
                  <a:schemeClr val="tx1"/>
                </a:solidFill>
                <a:latin typeface="Times New Roman" panose="02020603050405020304" pitchFamily="18" charset="0"/>
                <a:cs typeface="Times New Roman" panose="02020603050405020304" pitchFamily="18" charset="0"/>
              </a:rPr>
              <a:t>频率不易调（调</a:t>
            </a:r>
            <a:r>
              <a:rPr lang="en-US" altLang="zh-CN" sz="2000" b="1" dirty="0">
                <a:solidFill>
                  <a:schemeClr val="tx1"/>
                </a:solidFill>
                <a:latin typeface="Times New Roman" panose="02020603050405020304" pitchFamily="18" charset="0"/>
                <a:cs typeface="Times New Roman" panose="02020603050405020304" pitchFamily="18" charset="0"/>
              </a:rPr>
              <a:t>L</a:t>
            </a:r>
            <a:r>
              <a:rPr lang="zh-CN" altLang="en-US" sz="2000" b="1" dirty="0">
                <a:solidFill>
                  <a:schemeClr val="tx1"/>
                </a:solidFill>
                <a:latin typeface="Times New Roman" panose="02020603050405020304" pitchFamily="18" charset="0"/>
                <a:cs typeface="Times New Roman" panose="02020603050405020304" pitchFamily="18" charset="0"/>
              </a:rPr>
              <a:t>，调节范围小）</a:t>
            </a:r>
          </a:p>
        </p:txBody>
      </p:sp>
      <p:sp>
        <p:nvSpPr>
          <p:cNvPr id="9" name="Text Box 4">
            <a:extLst>
              <a:ext uri="{FF2B5EF4-FFF2-40B4-BE49-F238E27FC236}">
                <a16:creationId xmlns:a16="http://schemas.microsoft.com/office/drawing/2014/main" xmlns="" id="{AFB706F1-E404-23C6-5DEF-2DA390C201C8}"/>
              </a:ext>
            </a:extLst>
          </p:cNvPr>
          <p:cNvSpPr txBox="1">
            <a:spLocks noChangeArrowheads="1"/>
          </p:cNvSpPr>
          <p:nvPr/>
        </p:nvSpPr>
        <p:spPr bwMode="auto">
          <a:xfrm>
            <a:off x="560923" y="5377405"/>
            <a:ext cx="1676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000" b="1" dirty="0">
                <a:solidFill>
                  <a:srgbClr val="FF0000"/>
                </a:solidFill>
                <a:latin typeface="Times New Roman" panose="02020603050405020304" pitchFamily="18" charset="0"/>
                <a:cs typeface="Times New Roman" panose="02020603050405020304" pitchFamily="18" charset="0"/>
              </a:rPr>
              <a:t>缺点：</a:t>
            </a:r>
          </a:p>
        </p:txBody>
      </p:sp>
      <p:sp>
        <p:nvSpPr>
          <p:cNvPr id="10" name="Rectangle 5">
            <a:extLst>
              <a:ext uri="{FF2B5EF4-FFF2-40B4-BE49-F238E27FC236}">
                <a16:creationId xmlns:a16="http://schemas.microsoft.com/office/drawing/2014/main" xmlns="" id="{72DD01BB-A7CA-0F31-2A53-95BF3626D2D9}"/>
              </a:ext>
            </a:extLst>
          </p:cNvPr>
          <p:cNvSpPr>
            <a:spLocks noChangeArrowheads="1"/>
          </p:cNvSpPr>
          <p:nvPr/>
        </p:nvSpPr>
        <p:spPr bwMode="auto">
          <a:xfrm>
            <a:off x="560923" y="4293645"/>
            <a:ext cx="14541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p>
            <a:pPr fontAlgn="t">
              <a:spcBef>
                <a:spcPct val="50000"/>
              </a:spcBef>
            </a:pPr>
            <a:r>
              <a:rPr lang="zh-CN" altLang="en-US" sz="2000" b="1" dirty="0">
                <a:solidFill>
                  <a:srgbClr val="FF0000"/>
                </a:solidFill>
                <a:latin typeface="Times New Roman" panose="02020603050405020304" pitchFamily="18" charset="0"/>
                <a:cs typeface="Times New Roman" panose="02020603050405020304" pitchFamily="18" charset="0"/>
              </a:rPr>
              <a:t>优点：</a:t>
            </a:r>
          </a:p>
        </p:txBody>
      </p:sp>
      <p:sp>
        <p:nvSpPr>
          <p:cNvPr id="11" name="Rectangle 6">
            <a:extLst>
              <a:ext uri="{FF2B5EF4-FFF2-40B4-BE49-F238E27FC236}">
                <a16:creationId xmlns:a16="http://schemas.microsoft.com/office/drawing/2014/main" xmlns="" id="{7A274246-09A0-F781-6CE5-88696D8B48B7}"/>
              </a:ext>
            </a:extLst>
          </p:cNvPr>
          <p:cNvSpPr>
            <a:spLocks noChangeArrowheads="1"/>
          </p:cNvSpPr>
          <p:nvPr/>
        </p:nvSpPr>
        <p:spPr bwMode="auto">
          <a:xfrm>
            <a:off x="560923" y="4677240"/>
            <a:ext cx="45847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p>
            <a:pPr fontAlgn="t">
              <a:spcBef>
                <a:spcPct val="50000"/>
              </a:spcBef>
            </a:pPr>
            <a:r>
              <a:rPr lang="en-US" altLang="zh-CN" sz="2000" b="1" dirty="0">
                <a:solidFill>
                  <a:schemeClr val="tx1"/>
                </a:solidFill>
                <a:latin typeface="Times New Roman" panose="02020603050405020304" pitchFamily="18" charset="0"/>
                <a:cs typeface="Times New Roman" panose="02020603050405020304" pitchFamily="18" charset="0"/>
              </a:rPr>
              <a:t>(1)</a:t>
            </a:r>
            <a:r>
              <a:rPr lang="zh-CN" altLang="en-US" sz="2000" b="1" dirty="0">
                <a:solidFill>
                  <a:schemeClr val="tx1"/>
                </a:solidFill>
                <a:latin typeface="Times New Roman" panose="02020603050405020304" pitchFamily="18" charset="0"/>
                <a:cs typeface="Times New Roman" panose="02020603050405020304" pitchFamily="18" charset="0"/>
              </a:rPr>
              <a:t>高次谐波成分小，输出波形好</a:t>
            </a:r>
          </a:p>
        </p:txBody>
      </p:sp>
      <p:sp>
        <p:nvSpPr>
          <p:cNvPr id="12" name="Rectangle 7">
            <a:extLst>
              <a:ext uri="{FF2B5EF4-FFF2-40B4-BE49-F238E27FC236}">
                <a16:creationId xmlns:a16="http://schemas.microsoft.com/office/drawing/2014/main" xmlns="" id="{A5357C58-23BB-5942-EF50-85B852B6841B}"/>
              </a:ext>
            </a:extLst>
          </p:cNvPr>
          <p:cNvSpPr>
            <a:spLocks noChangeArrowheads="1"/>
          </p:cNvSpPr>
          <p:nvPr/>
        </p:nvSpPr>
        <p:spPr bwMode="auto">
          <a:xfrm>
            <a:off x="561842" y="5038916"/>
            <a:ext cx="315503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pPr fontAlgn="t">
              <a:spcBef>
                <a:spcPct val="50000"/>
              </a:spcBef>
            </a:pPr>
            <a:r>
              <a:rPr lang="en-US" altLang="zh-CN" sz="2000" b="1" dirty="0">
                <a:solidFill>
                  <a:schemeClr val="tx1"/>
                </a:solidFill>
                <a:latin typeface="Times New Roman" panose="02020603050405020304" pitchFamily="18" charset="0"/>
                <a:cs typeface="Times New Roman" panose="02020603050405020304" pitchFamily="18" charset="0"/>
              </a:rPr>
              <a:t>(2)</a:t>
            </a:r>
            <a:r>
              <a:rPr lang="zh-CN" altLang="en-US" sz="2000" b="1" dirty="0">
                <a:solidFill>
                  <a:schemeClr val="tx1"/>
                </a:solidFill>
                <a:latin typeface="Times New Roman" panose="02020603050405020304" pitchFamily="18" charset="0"/>
                <a:cs typeface="Times New Roman" panose="02020603050405020304" pitchFamily="18" charset="0"/>
              </a:rPr>
              <a:t>振荡频率可以做得很高</a:t>
            </a:r>
          </a:p>
        </p:txBody>
      </p:sp>
      <p:sp>
        <p:nvSpPr>
          <p:cNvPr id="13" name="Text Box 8">
            <a:extLst>
              <a:ext uri="{FF2B5EF4-FFF2-40B4-BE49-F238E27FC236}">
                <a16:creationId xmlns:a16="http://schemas.microsoft.com/office/drawing/2014/main" xmlns="" id="{4A832EDE-CCFD-9611-BA19-75A2C2B198CF}"/>
              </a:ext>
            </a:extLst>
          </p:cNvPr>
          <p:cNvSpPr txBox="1">
            <a:spLocks noChangeArrowheads="1"/>
          </p:cNvSpPr>
          <p:nvPr/>
        </p:nvSpPr>
        <p:spPr bwMode="auto">
          <a:xfrm>
            <a:off x="5144841" y="5072372"/>
            <a:ext cx="11049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000" b="1" dirty="0">
                <a:solidFill>
                  <a:srgbClr val="FF0000"/>
                </a:solidFill>
                <a:latin typeface="Times New Roman" panose="02020603050405020304" pitchFamily="18" charset="0"/>
                <a:cs typeface="Times New Roman" panose="02020603050405020304" pitchFamily="18" charset="0"/>
              </a:rPr>
              <a:t>缺点：</a:t>
            </a:r>
          </a:p>
        </p:txBody>
      </p:sp>
      <p:sp>
        <p:nvSpPr>
          <p:cNvPr id="14" name="Rectangle 9">
            <a:extLst>
              <a:ext uri="{FF2B5EF4-FFF2-40B4-BE49-F238E27FC236}">
                <a16:creationId xmlns:a16="http://schemas.microsoft.com/office/drawing/2014/main" xmlns="" id="{545977CF-393A-403F-6FC1-B45F5EACE930}"/>
              </a:ext>
            </a:extLst>
          </p:cNvPr>
          <p:cNvSpPr>
            <a:spLocks noChangeArrowheads="1"/>
          </p:cNvSpPr>
          <p:nvPr/>
        </p:nvSpPr>
        <p:spPr bwMode="auto">
          <a:xfrm>
            <a:off x="5107729" y="5800511"/>
            <a:ext cx="32956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p>
            <a:pPr fontAlgn="t">
              <a:spcBef>
                <a:spcPct val="50000"/>
              </a:spcBef>
            </a:pPr>
            <a:r>
              <a:rPr lang="en-US" altLang="zh-CN" sz="2000" dirty="0">
                <a:solidFill>
                  <a:schemeClr val="tx1"/>
                </a:solidFill>
                <a:latin typeface="Times New Roman" panose="02020603050405020304" pitchFamily="18" charset="0"/>
                <a:cs typeface="Times New Roman" panose="02020603050405020304" pitchFamily="18" charset="0"/>
              </a:rPr>
              <a:t>(2) </a:t>
            </a:r>
            <a:r>
              <a:rPr lang="zh-CN" altLang="en-US" sz="2000" dirty="0">
                <a:solidFill>
                  <a:schemeClr val="tx1"/>
                </a:solidFill>
                <a:latin typeface="Times New Roman" panose="02020603050405020304" pitchFamily="18" charset="0"/>
                <a:cs typeface="Times New Roman" panose="02020603050405020304" pitchFamily="18" charset="0"/>
              </a:rPr>
              <a:t>振荡频率不能太高</a:t>
            </a:r>
          </a:p>
        </p:txBody>
      </p:sp>
      <p:sp>
        <p:nvSpPr>
          <p:cNvPr id="15" name="Rectangle 10">
            <a:extLst>
              <a:ext uri="{FF2B5EF4-FFF2-40B4-BE49-F238E27FC236}">
                <a16:creationId xmlns:a16="http://schemas.microsoft.com/office/drawing/2014/main" xmlns="" id="{7E044F2F-00A8-CDDB-17D8-4116560C354E}"/>
              </a:ext>
            </a:extLst>
          </p:cNvPr>
          <p:cNvSpPr>
            <a:spLocks noChangeArrowheads="1"/>
          </p:cNvSpPr>
          <p:nvPr/>
        </p:nvSpPr>
        <p:spPr bwMode="auto">
          <a:xfrm>
            <a:off x="5085494" y="5440644"/>
            <a:ext cx="29527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p>
            <a:pPr fontAlgn="t">
              <a:spcBef>
                <a:spcPct val="50000"/>
              </a:spcBef>
            </a:pPr>
            <a:r>
              <a:rPr lang="en-US" altLang="zh-CN" sz="2000" dirty="0">
                <a:solidFill>
                  <a:schemeClr val="tx1"/>
                </a:solidFill>
                <a:latin typeface="Times New Roman" panose="02020603050405020304" pitchFamily="18" charset="0"/>
                <a:cs typeface="Times New Roman" panose="02020603050405020304" pitchFamily="18" charset="0"/>
              </a:rPr>
              <a:t>(1)</a:t>
            </a:r>
            <a:r>
              <a:rPr lang="zh-CN" altLang="en-US" sz="2000" b="1" dirty="0">
                <a:solidFill>
                  <a:schemeClr val="tx1"/>
                </a:solidFill>
                <a:latin typeface="Times New Roman" panose="02020603050405020304" pitchFamily="18" charset="0"/>
                <a:cs typeface="Times New Roman" panose="02020603050405020304" pitchFamily="18" charset="0"/>
              </a:rPr>
              <a:t>输出波形差</a:t>
            </a:r>
          </a:p>
        </p:txBody>
      </p:sp>
      <p:sp>
        <p:nvSpPr>
          <p:cNvPr id="16" name="Rectangle 11">
            <a:extLst>
              <a:ext uri="{FF2B5EF4-FFF2-40B4-BE49-F238E27FC236}">
                <a16:creationId xmlns:a16="http://schemas.microsoft.com/office/drawing/2014/main" xmlns="" id="{54027503-F686-98AD-D48B-E9BF6123F01E}"/>
              </a:ext>
            </a:extLst>
          </p:cNvPr>
          <p:cNvSpPr>
            <a:spLocks noChangeArrowheads="1"/>
          </p:cNvSpPr>
          <p:nvPr/>
        </p:nvSpPr>
        <p:spPr bwMode="auto">
          <a:xfrm>
            <a:off x="5081652" y="4324843"/>
            <a:ext cx="17081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p>
            <a:pPr fontAlgn="t">
              <a:spcBef>
                <a:spcPct val="50000"/>
              </a:spcBef>
            </a:pPr>
            <a:r>
              <a:rPr lang="zh-CN" altLang="en-US" sz="2000" b="1" dirty="0">
                <a:solidFill>
                  <a:srgbClr val="FF0000"/>
                </a:solidFill>
                <a:latin typeface="Times New Roman" panose="02020603050405020304" pitchFamily="18" charset="0"/>
                <a:cs typeface="Times New Roman" panose="02020603050405020304" pitchFamily="18" charset="0"/>
              </a:rPr>
              <a:t>优点：</a:t>
            </a:r>
          </a:p>
        </p:txBody>
      </p:sp>
      <p:sp>
        <p:nvSpPr>
          <p:cNvPr id="17" name="Rectangle 12">
            <a:extLst>
              <a:ext uri="{FF2B5EF4-FFF2-40B4-BE49-F238E27FC236}">
                <a16:creationId xmlns:a16="http://schemas.microsoft.com/office/drawing/2014/main" xmlns="" id="{C9F8EE06-3A36-6134-DF0D-21F7884F9A53}"/>
              </a:ext>
            </a:extLst>
          </p:cNvPr>
          <p:cNvSpPr>
            <a:spLocks noChangeArrowheads="1"/>
          </p:cNvSpPr>
          <p:nvPr/>
        </p:nvSpPr>
        <p:spPr bwMode="auto">
          <a:xfrm>
            <a:off x="5081652" y="4677240"/>
            <a:ext cx="31861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p>
            <a:pPr fontAlgn="t">
              <a:spcBef>
                <a:spcPct val="50000"/>
              </a:spcBef>
            </a:pPr>
            <a:r>
              <a:rPr lang="zh-CN" altLang="en-US" sz="2000" b="1" dirty="0">
                <a:solidFill>
                  <a:schemeClr val="tx1"/>
                </a:solidFill>
                <a:latin typeface="Times New Roman" panose="02020603050405020304" pitchFamily="18" charset="0"/>
                <a:cs typeface="Times New Roman" panose="02020603050405020304" pitchFamily="18" charset="0"/>
              </a:rPr>
              <a:t>频率易调（调</a:t>
            </a:r>
            <a:r>
              <a:rPr lang="en-US" altLang="zh-CN" sz="2000" b="1" dirty="0">
                <a:solidFill>
                  <a:schemeClr val="tx1"/>
                </a:solidFill>
                <a:latin typeface="Times New Roman" panose="02020603050405020304" pitchFamily="18" charset="0"/>
                <a:cs typeface="Times New Roman" panose="02020603050405020304" pitchFamily="18" charset="0"/>
              </a:rPr>
              <a:t>C</a:t>
            </a:r>
            <a:r>
              <a:rPr lang="zh-CN" altLang="en-US" sz="2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158592407"/>
      </p:ext>
    </p:extLst>
  </p:cSld>
  <p:clrMapOvr>
    <a:masterClrMapping/>
  </p:clrMapOvr>
  <p:timing>
    <p:tnLst>
      <p:par>
        <p:cTn id="1" dur="indefinite" restart="never" nodeType="tmRoot"/>
      </p:par>
    </p:tn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179</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5.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正弦波</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振荡器</a:t>
            </a:r>
          </a:p>
        </p:txBody>
      </p:sp>
      <p:sp>
        <p:nvSpPr>
          <p:cNvPr id="5" name="Rectangle 2">
            <a:extLst>
              <a:ext uri="{FF2B5EF4-FFF2-40B4-BE49-F238E27FC236}">
                <a16:creationId xmlns:a16="http://schemas.microsoft.com/office/drawing/2014/main" xmlns="" id="{D84EFC79-39F4-04D7-B1F3-5D55CEBECEB3}"/>
              </a:ext>
            </a:extLst>
          </p:cNvPr>
          <p:cNvSpPr txBox="1">
            <a:spLocks/>
          </p:cNvSpPr>
          <p:nvPr/>
        </p:nvSpPr>
        <p:spPr>
          <a:xfrm>
            <a:off x="71336" y="1316533"/>
            <a:ext cx="9001328" cy="508000"/>
          </a:xfrm>
          <a:prstGeom prst="rect">
            <a:avLst/>
          </a:prstGeom>
        </p:spPr>
        <p:txBody>
          <a:bodyPr/>
          <a:lstStyle>
            <a:lvl1pPr marL="342900" indent="-342900" algn="l" rtl="0" eaLnBrk="0" fontAlgn="base" hangingPunct="0">
              <a:spcBef>
                <a:spcPct val="20000"/>
              </a:spcBef>
              <a:spcAft>
                <a:spcPct val="0"/>
              </a:spcAft>
              <a:buChar char="•"/>
              <a:defRPr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algn="ctr" eaLnBrk="1" hangingPunct="1">
              <a:spcBef>
                <a:spcPct val="0"/>
              </a:spcBef>
              <a:buNone/>
            </a:pPr>
            <a:r>
              <a:rPr lang="en-US" altLang="zh-CN" sz="2200" b="1" kern="0" noProof="1" smtClean="0">
                <a:latin typeface="Times New Roman" panose="02020603050405020304" pitchFamily="18" charset="0"/>
                <a:cs typeface="Times New Roman" panose="02020603050405020304" pitchFamily="18" charset="0"/>
              </a:rPr>
              <a:t>LC</a:t>
            </a:r>
            <a:r>
              <a:rPr lang="zh-CN" altLang="en-US" sz="2200" b="1" kern="0" noProof="1">
                <a:latin typeface="Times New Roman" panose="02020603050405020304" pitchFamily="18" charset="0"/>
                <a:cs typeface="Times New Roman" panose="02020603050405020304" pitchFamily="18" charset="0"/>
              </a:rPr>
              <a:t>三点式振荡器相位平衡条件的判断准则</a:t>
            </a:r>
          </a:p>
        </p:txBody>
      </p:sp>
      <p:grpSp>
        <p:nvGrpSpPr>
          <p:cNvPr id="6" name="Group 3">
            <a:extLst>
              <a:ext uri="{FF2B5EF4-FFF2-40B4-BE49-F238E27FC236}">
                <a16:creationId xmlns:a16="http://schemas.microsoft.com/office/drawing/2014/main" xmlns="" id="{CBD8743E-0F7F-B084-370E-65F1B5613975}"/>
              </a:ext>
            </a:extLst>
          </p:cNvPr>
          <p:cNvGrpSpPr>
            <a:grpSpLocks/>
          </p:cNvGrpSpPr>
          <p:nvPr/>
        </p:nvGrpSpPr>
        <p:grpSpPr bwMode="auto">
          <a:xfrm>
            <a:off x="5202479" y="2207035"/>
            <a:ext cx="2768113" cy="2610988"/>
            <a:chOff x="3619" y="629"/>
            <a:chExt cx="2088" cy="1935"/>
          </a:xfrm>
        </p:grpSpPr>
        <p:graphicFrame>
          <p:nvGraphicFramePr>
            <p:cNvPr id="7" name="Object 4">
              <a:extLst>
                <a:ext uri="{FF2B5EF4-FFF2-40B4-BE49-F238E27FC236}">
                  <a16:creationId xmlns:a16="http://schemas.microsoft.com/office/drawing/2014/main" xmlns="" id="{A2B6E7F6-E2F3-277C-A094-D6216F6D74CE}"/>
                </a:ext>
              </a:extLst>
            </p:cNvPr>
            <p:cNvGraphicFramePr>
              <a:graphicFrameLocks noChangeAspect="1"/>
            </p:cNvGraphicFramePr>
            <p:nvPr>
              <p:extLst>
                <p:ext uri="{D42A27DB-BD31-4B8C-83A1-F6EECF244321}">
                  <p14:modId xmlns:p14="http://schemas.microsoft.com/office/powerpoint/2010/main" val="1588432198"/>
                </p:ext>
              </p:extLst>
            </p:nvPr>
          </p:nvGraphicFramePr>
          <p:xfrm>
            <a:off x="3619" y="629"/>
            <a:ext cx="2088" cy="1935"/>
          </p:xfrm>
          <a:graphic>
            <a:graphicData uri="http://schemas.openxmlformats.org/presentationml/2006/ole">
              <mc:AlternateContent xmlns:mc="http://schemas.openxmlformats.org/markup-compatibility/2006">
                <mc:Choice xmlns:v="urn:schemas-microsoft-com:vml" Requires="v">
                  <p:oleObj spid="_x0000_s138300" r:id="rId3" imgW="3000000" imgH="2781688" progId="Paint.Picture">
                    <p:embed/>
                  </p:oleObj>
                </mc:Choice>
                <mc:Fallback>
                  <p:oleObj r:id="rId3" imgW="3000000" imgH="2781688" progId="Paint.Picture">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19" y="629"/>
                          <a:ext cx="2088" cy="1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 name="Text Box 5">
              <a:extLst>
                <a:ext uri="{FF2B5EF4-FFF2-40B4-BE49-F238E27FC236}">
                  <a16:creationId xmlns:a16="http://schemas.microsoft.com/office/drawing/2014/main" xmlns="" id="{EC7B4E2E-AE37-000E-0BEA-094D94A3E636}"/>
                </a:ext>
              </a:extLst>
            </p:cNvPr>
            <p:cNvSpPr txBox="1">
              <a:spLocks noChangeArrowheads="1"/>
            </p:cNvSpPr>
            <p:nvPr/>
          </p:nvSpPr>
          <p:spPr bwMode="auto">
            <a:xfrm>
              <a:off x="4160" y="944"/>
              <a:ext cx="16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p>
              <a:pPr fontAlgn="t">
                <a:spcBef>
                  <a:spcPct val="50000"/>
                </a:spcBef>
              </a:pPr>
              <a:r>
                <a:rPr lang="en-US" altLang="zh-CN" sz="2000" b="1" dirty="0">
                  <a:solidFill>
                    <a:srgbClr val="FF0000"/>
                  </a:solidFill>
                  <a:latin typeface="Times New Roman" panose="02020603050405020304" pitchFamily="18" charset="0"/>
                  <a:cs typeface="Times New Roman" panose="02020603050405020304" pitchFamily="18" charset="0"/>
                </a:rPr>
                <a:t>b</a:t>
              </a:r>
            </a:p>
          </p:txBody>
        </p:sp>
        <p:sp>
          <p:nvSpPr>
            <p:cNvPr id="9" name="Text Box 6">
              <a:extLst>
                <a:ext uri="{FF2B5EF4-FFF2-40B4-BE49-F238E27FC236}">
                  <a16:creationId xmlns:a16="http://schemas.microsoft.com/office/drawing/2014/main" xmlns="" id="{17EFD4B9-3CBC-D419-0AE7-FBBAA258B497}"/>
                </a:ext>
              </a:extLst>
            </p:cNvPr>
            <p:cNvSpPr txBox="1">
              <a:spLocks noChangeArrowheads="1"/>
            </p:cNvSpPr>
            <p:nvPr/>
          </p:nvSpPr>
          <p:spPr bwMode="auto">
            <a:xfrm>
              <a:off x="4625" y="833"/>
              <a:ext cx="16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p>
              <a:pPr fontAlgn="t">
                <a:spcBef>
                  <a:spcPct val="50000"/>
                </a:spcBef>
              </a:pPr>
              <a:r>
                <a:rPr lang="en-US" altLang="zh-CN" sz="2000" b="1" dirty="0">
                  <a:solidFill>
                    <a:srgbClr val="FF0000"/>
                  </a:solidFill>
                  <a:latin typeface="Times New Roman" panose="02020603050405020304" pitchFamily="18" charset="0"/>
                  <a:cs typeface="Times New Roman" panose="02020603050405020304" pitchFamily="18" charset="0"/>
                </a:rPr>
                <a:t>c</a:t>
              </a:r>
            </a:p>
          </p:txBody>
        </p:sp>
        <p:sp>
          <p:nvSpPr>
            <p:cNvPr id="10" name="Text Box 7">
              <a:extLst>
                <a:ext uri="{FF2B5EF4-FFF2-40B4-BE49-F238E27FC236}">
                  <a16:creationId xmlns:a16="http://schemas.microsoft.com/office/drawing/2014/main" xmlns="" id="{D51B9B9C-0243-B5FC-AB96-C1B94407DBCD}"/>
                </a:ext>
              </a:extLst>
            </p:cNvPr>
            <p:cNvSpPr txBox="1">
              <a:spLocks noChangeArrowheads="1"/>
            </p:cNvSpPr>
            <p:nvPr/>
          </p:nvSpPr>
          <p:spPr bwMode="auto">
            <a:xfrm>
              <a:off x="4601" y="1241"/>
              <a:ext cx="16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p>
              <a:pPr fontAlgn="t">
                <a:spcBef>
                  <a:spcPct val="50000"/>
                </a:spcBef>
              </a:pPr>
              <a:r>
                <a:rPr lang="en-US" altLang="zh-CN" sz="2000" b="1" dirty="0">
                  <a:solidFill>
                    <a:srgbClr val="FF0000"/>
                  </a:solidFill>
                  <a:latin typeface="Times New Roman" panose="02020603050405020304" pitchFamily="18" charset="0"/>
                  <a:cs typeface="Times New Roman" panose="02020603050405020304" pitchFamily="18" charset="0"/>
                </a:rPr>
                <a:t>e</a:t>
              </a:r>
            </a:p>
          </p:txBody>
        </p:sp>
      </p:grpSp>
      <p:sp>
        <p:nvSpPr>
          <p:cNvPr id="11" name="Rectangle 8">
            <a:extLst>
              <a:ext uri="{FF2B5EF4-FFF2-40B4-BE49-F238E27FC236}">
                <a16:creationId xmlns:a16="http://schemas.microsoft.com/office/drawing/2014/main" xmlns="" id="{37F4F9BE-D57F-960C-D68A-7E5BBF4B8A87}"/>
              </a:ext>
            </a:extLst>
          </p:cNvPr>
          <p:cNvSpPr>
            <a:spLocks noChangeArrowheads="1"/>
          </p:cNvSpPr>
          <p:nvPr/>
        </p:nvSpPr>
        <p:spPr bwMode="auto">
          <a:xfrm>
            <a:off x="501732" y="1880033"/>
            <a:ext cx="440697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pPr fontAlgn="t">
              <a:spcBef>
                <a:spcPct val="50000"/>
              </a:spcBef>
            </a:pPr>
            <a:r>
              <a:rPr lang="en-US" altLang="zh-CN" sz="2000" b="1">
                <a:solidFill>
                  <a:schemeClr val="tx1"/>
                </a:solidFill>
                <a:latin typeface="Times New Roman" panose="02020603050405020304" pitchFamily="18" charset="0"/>
                <a:cs typeface="Times New Roman" panose="02020603050405020304" pitchFamily="18" charset="0"/>
              </a:rPr>
              <a:t>(1)</a:t>
            </a:r>
            <a:r>
              <a:rPr lang="en-US" altLang="zh-CN" sz="2000" b="1" i="1">
                <a:solidFill>
                  <a:schemeClr val="tx1"/>
                </a:solidFill>
                <a:latin typeface="Times New Roman" panose="02020603050405020304" pitchFamily="18" charset="0"/>
                <a:cs typeface="Times New Roman" panose="02020603050405020304" pitchFamily="18" charset="0"/>
              </a:rPr>
              <a:t>X</a:t>
            </a:r>
            <a:r>
              <a:rPr lang="en-US" altLang="zh-CN" sz="2000" b="1" baseline="-25000">
                <a:solidFill>
                  <a:schemeClr val="tx1"/>
                </a:solidFill>
                <a:latin typeface="Times New Roman" panose="02020603050405020304" pitchFamily="18" charset="0"/>
                <a:cs typeface="Times New Roman" panose="02020603050405020304" pitchFamily="18" charset="0"/>
              </a:rPr>
              <a:t>be</a:t>
            </a:r>
            <a:r>
              <a:rPr lang="zh-CN" altLang="en-US" sz="2000" b="1">
                <a:solidFill>
                  <a:schemeClr val="tx1"/>
                </a:solidFill>
                <a:latin typeface="Times New Roman" panose="02020603050405020304" pitchFamily="18" charset="0"/>
                <a:cs typeface="Times New Roman" panose="02020603050405020304" pitchFamily="18" charset="0"/>
              </a:rPr>
              <a:t>、 </a:t>
            </a:r>
            <a:r>
              <a:rPr lang="en-US" altLang="zh-CN" sz="2000" b="1" i="1">
                <a:solidFill>
                  <a:schemeClr val="tx1"/>
                </a:solidFill>
                <a:latin typeface="Times New Roman" panose="02020603050405020304" pitchFamily="18" charset="0"/>
                <a:cs typeface="Times New Roman" panose="02020603050405020304" pitchFamily="18" charset="0"/>
              </a:rPr>
              <a:t>X</a:t>
            </a:r>
            <a:r>
              <a:rPr lang="en-US" altLang="zh-CN" sz="2000" b="1" baseline="-25000">
                <a:solidFill>
                  <a:schemeClr val="tx1"/>
                </a:solidFill>
                <a:latin typeface="Times New Roman" panose="02020603050405020304" pitchFamily="18" charset="0"/>
                <a:cs typeface="Times New Roman" panose="02020603050405020304" pitchFamily="18" charset="0"/>
              </a:rPr>
              <a:t>ce</a:t>
            </a:r>
            <a:r>
              <a:rPr lang="zh-CN" altLang="en-US" sz="2000" b="1">
                <a:solidFill>
                  <a:schemeClr val="tx1"/>
                </a:solidFill>
                <a:latin typeface="Times New Roman" panose="02020603050405020304" pitchFamily="18" charset="0"/>
                <a:cs typeface="Times New Roman" panose="02020603050405020304" pitchFamily="18" charset="0"/>
              </a:rPr>
              <a:t>应为同性质的电抗元件；</a:t>
            </a:r>
          </a:p>
        </p:txBody>
      </p:sp>
      <p:sp>
        <p:nvSpPr>
          <p:cNvPr id="12" name="Rectangle 9">
            <a:extLst>
              <a:ext uri="{FF2B5EF4-FFF2-40B4-BE49-F238E27FC236}">
                <a16:creationId xmlns:a16="http://schemas.microsoft.com/office/drawing/2014/main" xmlns="" id="{147641DB-2B5D-8E49-2B1A-86C41740D505}"/>
              </a:ext>
            </a:extLst>
          </p:cNvPr>
          <p:cNvSpPr>
            <a:spLocks noChangeArrowheads="1"/>
          </p:cNvSpPr>
          <p:nvPr/>
        </p:nvSpPr>
        <p:spPr bwMode="auto">
          <a:xfrm>
            <a:off x="501732" y="2489654"/>
            <a:ext cx="424026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pPr fontAlgn="t">
              <a:spcBef>
                <a:spcPct val="50000"/>
              </a:spcBef>
            </a:pPr>
            <a:r>
              <a:rPr lang="en-US" altLang="zh-CN" sz="2000" b="1" dirty="0">
                <a:solidFill>
                  <a:schemeClr val="tx1"/>
                </a:solidFill>
                <a:latin typeface="Times New Roman" panose="02020603050405020304" pitchFamily="18" charset="0"/>
                <a:cs typeface="Times New Roman" panose="02020603050405020304" pitchFamily="18" charset="0"/>
              </a:rPr>
              <a:t>(2)</a:t>
            </a:r>
            <a:r>
              <a:rPr lang="en-US" altLang="zh-CN" sz="2000" b="1" i="1" dirty="0">
                <a:solidFill>
                  <a:schemeClr val="tx1"/>
                </a:solidFill>
                <a:latin typeface="Times New Roman" panose="02020603050405020304" pitchFamily="18" charset="0"/>
                <a:cs typeface="Times New Roman" panose="02020603050405020304" pitchFamily="18" charset="0"/>
              </a:rPr>
              <a:t> </a:t>
            </a:r>
            <a:r>
              <a:rPr lang="en-US" altLang="zh-CN" sz="2000" b="1" i="1" dirty="0" err="1">
                <a:solidFill>
                  <a:schemeClr val="tx1"/>
                </a:solidFill>
                <a:latin typeface="Times New Roman" panose="02020603050405020304" pitchFamily="18" charset="0"/>
                <a:cs typeface="Times New Roman" panose="02020603050405020304" pitchFamily="18" charset="0"/>
              </a:rPr>
              <a:t>X</a:t>
            </a:r>
            <a:r>
              <a:rPr lang="en-US" altLang="zh-CN" sz="2000" b="1" baseline="-25000" dirty="0" err="1">
                <a:solidFill>
                  <a:schemeClr val="tx1"/>
                </a:solidFill>
                <a:latin typeface="Times New Roman" panose="02020603050405020304" pitchFamily="18" charset="0"/>
                <a:cs typeface="Times New Roman" panose="02020603050405020304" pitchFamily="18" charset="0"/>
              </a:rPr>
              <a:t>cb</a:t>
            </a:r>
            <a:r>
              <a:rPr lang="en-US" altLang="zh-CN" sz="2000" b="1" i="1" baseline="-25000" dirty="0">
                <a:solidFill>
                  <a:schemeClr val="tx1"/>
                </a:solidFill>
                <a:latin typeface="Times New Roman" panose="02020603050405020304" pitchFamily="18" charset="0"/>
                <a:cs typeface="Times New Roman" panose="02020603050405020304" pitchFamily="18" charset="0"/>
              </a:rPr>
              <a:t> </a:t>
            </a:r>
            <a:r>
              <a:rPr lang="zh-CN" altLang="en-US" sz="2000" b="1" i="1" dirty="0">
                <a:solidFill>
                  <a:schemeClr val="tx1"/>
                </a:solidFill>
                <a:latin typeface="Times New Roman" panose="02020603050405020304" pitchFamily="18" charset="0"/>
                <a:cs typeface="Times New Roman" panose="02020603050405020304" pitchFamily="18" charset="0"/>
              </a:rPr>
              <a:t>与</a:t>
            </a:r>
            <a:r>
              <a:rPr lang="en-US" altLang="zh-CN" sz="2000" b="1" i="1" dirty="0" err="1">
                <a:solidFill>
                  <a:schemeClr val="tx1"/>
                </a:solidFill>
                <a:latin typeface="Times New Roman" panose="02020603050405020304" pitchFamily="18" charset="0"/>
                <a:cs typeface="Times New Roman" panose="02020603050405020304" pitchFamily="18" charset="0"/>
              </a:rPr>
              <a:t>X</a:t>
            </a:r>
            <a:r>
              <a:rPr lang="en-US" altLang="zh-CN" sz="2000" b="1" baseline="-25000" dirty="0" err="1">
                <a:solidFill>
                  <a:schemeClr val="tx1"/>
                </a:solidFill>
                <a:latin typeface="Times New Roman" panose="02020603050405020304" pitchFamily="18" charset="0"/>
                <a:cs typeface="Times New Roman" panose="02020603050405020304" pitchFamily="18" charset="0"/>
              </a:rPr>
              <a:t>ce</a:t>
            </a:r>
            <a:r>
              <a:rPr lang="zh-CN" altLang="en-US" sz="2000" b="1" dirty="0">
                <a:solidFill>
                  <a:schemeClr val="tx1"/>
                </a:solidFill>
                <a:latin typeface="Times New Roman" panose="02020603050405020304" pitchFamily="18" charset="0"/>
                <a:cs typeface="Times New Roman" panose="02020603050405020304" pitchFamily="18" charset="0"/>
              </a:rPr>
              <a:t>、 </a:t>
            </a:r>
            <a:r>
              <a:rPr lang="en-US" altLang="zh-CN" sz="2000" b="1" i="1" dirty="0" err="1">
                <a:solidFill>
                  <a:schemeClr val="tx1"/>
                </a:solidFill>
                <a:latin typeface="Times New Roman" panose="02020603050405020304" pitchFamily="18" charset="0"/>
                <a:cs typeface="Times New Roman" panose="02020603050405020304" pitchFamily="18" charset="0"/>
              </a:rPr>
              <a:t>X</a:t>
            </a:r>
            <a:r>
              <a:rPr lang="en-US" altLang="zh-CN" sz="2000" b="1" baseline="-25000" dirty="0" err="1">
                <a:solidFill>
                  <a:schemeClr val="tx1"/>
                </a:solidFill>
                <a:latin typeface="Times New Roman" panose="02020603050405020304" pitchFamily="18" charset="0"/>
                <a:cs typeface="Times New Roman" panose="02020603050405020304" pitchFamily="18" charset="0"/>
              </a:rPr>
              <a:t>be</a:t>
            </a:r>
            <a:r>
              <a:rPr lang="zh-CN" altLang="en-US" sz="2000" b="1" dirty="0">
                <a:solidFill>
                  <a:schemeClr val="tx1"/>
                </a:solidFill>
                <a:latin typeface="Times New Roman" panose="02020603050405020304" pitchFamily="18" charset="0"/>
                <a:cs typeface="Times New Roman" panose="02020603050405020304" pitchFamily="18" charset="0"/>
              </a:rPr>
              <a:t>的电抗性质相反。</a:t>
            </a:r>
          </a:p>
        </p:txBody>
      </p:sp>
      <p:sp>
        <p:nvSpPr>
          <p:cNvPr id="13" name="Rectangle 10">
            <a:extLst>
              <a:ext uri="{FF2B5EF4-FFF2-40B4-BE49-F238E27FC236}">
                <a16:creationId xmlns:a16="http://schemas.microsoft.com/office/drawing/2014/main" xmlns="" id="{624C2944-9C00-0A8D-9CFE-7651AE57756B}"/>
              </a:ext>
            </a:extLst>
          </p:cNvPr>
          <p:cNvSpPr>
            <a:spLocks noChangeArrowheads="1"/>
          </p:cNvSpPr>
          <p:nvPr/>
        </p:nvSpPr>
        <p:spPr bwMode="auto">
          <a:xfrm>
            <a:off x="1123692" y="3032836"/>
            <a:ext cx="2749471" cy="400110"/>
          </a:xfrm>
          <a:prstGeom prst="rect">
            <a:avLst/>
          </a:prstGeom>
          <a:solidFill>
            <a:srgbClr val="FFCC00">
              <a:alpha val="47842"/>
            </a:srgbClr>
          </a:solidFill>
          <a:ln>
            <a:noFill/>
          </a:ln>
          <a:extLs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r>
              <a:rPr lang="zh-CN" altLang="en-US" sz="2000" b="1" dirty="0">
                <a:solidFill>
                  <a:schemeClr val="tx1"/>
                </a:solidFill>
                <a:latin typeface="Times New Roman" panose="02020603050405020304" pitchFamily="18" charset="0"/>
                <a:cs typeface="Times New Roman" panose="02020603050405020304" pitchFamily="18" charset="0"/>
              </a:rPr>
              <a:t>结论：射同集（基）反</a:t>
            </a:r>
          </a:p>
        </p:txBody>
      </p:sp>
      <p:sp>
        <p:nvSpPr>
          <p:cNvPr id="14" name="Text Box 11">
            <a:extLst>
              <a:ext uri="{FF2B5EF4-FFF2-40B4-BE49-F238E27FC236}">
                <a16:creationId xmlns:a16="http://schemas.microsoft.com/office/drawing/2014/main" xmlns="" id="{3A271BFA-0332-764E-4E90-A3E857FE74F9}"/>
              </a:ext>
            </a:extLst>
          </p:cNvPr>
          <p:cNvSpPr txBox="1">
            <a:spLocks noChangeArrowheads="1"/>
          </p:cNvSpPr>
          <p:nvPr/>
        </p:nvSpPr>
        <p:spPr bwMode="auto">
          <a:xfrm>
            <a:off x="501732" y="3584284"/>
            <a:ext cx="48387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p>
            <a:pPr fontAlgn="t">
              <a:spcBef>
                <a:spcPct val="50000"/>
              </a:spcBef>
            </a:pPr>
            <a:r>
              <a:rPr lang="en-US" altLang="zh-CN" sz="2000" b="1" dirty="0">
                <a:solidFill>
                  <a:schemeClr val="tx1"/>
                </a:solidFill>
                <a:latin typeface="Times New Roman" panose="02020603050405020304" pitchFamily="18" charset="0"/>
                <a:cs typeface="Times New Roman" panose="02020603050405020304" pitchFamily="18" charset="0"/>
              </a:rPr>
              <a:t>(3) </a:t>
            </a:r>
            <a:r>
              <a:rPr lang="zh-CN" altLang="en-US" sz="2000" b="1" dirty="0">
                <a:solidFill>
                  <a:schemeClr val="tx1"/>
                </a:solidFill>
                <a:latin typeface="Times New Roman" panose="02020603050405020304" pitchFamily="18" charset="0"/>
                <a:cs typeface="Times New Roman" panose="02020603050405020304" pitchFamily="18" charset="0"/>
              </a:rPr>
              <a:t>对于振荡频率，应满足：</a:t>
            </a:r>
          </a:p>
        </p:txBody>
      </p:sp>
      <p:graphicFrame>
        <p:nvGraphicFramePr>
          <p:cNvPr id="15" name="Object 12">
            <a:extLst>
              <a:ext uri="{FF2B5EF4-FFF2-40B4-BE49-F238E27FC236}">
                <a16:creationId xmlns:a16="http://schemas.microsoft.com/office/drawing/2014/main" xmlns="" id="{55C1C6E1-9188-52CE-216C-6FDF9741AA21}"/>
              </a:ext>
            </a:extLst>
          </p:cNvPr>
          <p:cNvGraphicFramePr>
            <a:graphicFrameLocks noChangeAspect="1"/>
          </p:cNvGraphicFramePr>
          <p:nvPr>
            <p:extLst>
              <p:ext uri="{D42A27DB-BD31-4B8C-83A1-F6EECF244321}">
                <p14:modId xmlns:p14="http://schemas.microsoft.com/office/powerpoint/2010/main" val="2165481554"/>
              </p:ext>
            </p:extLst>
          </p:nvPr>
        </p:nvGraphicFramePr>
        <p:xfrm>
          <a:off x="1160570" y="4022765"/>
          <a:ext cx="2675713" cy="501696"/>
        </p:xfrm>
        <a:graphic>
          <a:graphicData uri="http://schemas.openxmlformats.org/presentationml/2006/ole">
            <mc:AlternateContent xmlns:mc="http://schemas.openxmlformats.org/markup-compatibility/2006">
              <mc:Choice xmlns:v="urn:schemas-microsoft-com:vml" Requires="v">
                <p:oleObj spid="_x0000_s138301" r:id="rId5" imgW="1219200" imgH="228600" progId="Equation.3">
                  <p:embed/>
                </p:oleObj>
              </mc:Choice>
              <mc:Fallback>
                <p:oleObj r:id="rId5" imgW="1219200" imgH="2286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60570" y="4022765"/>
                        <a:ext cx="2675713" cy="501696"/>
                      </a:xfrm>
                      <a:prstGeom prst="rect">
                        <a:avLst/>
                      </a:prstGeom>
                      <a:noFill/>
                      <a:ln>
                        <a:noFill/>
                      </a:ln>
                      <a:extLst/>
                    </p:spPr>
                  </p:pic>
                </p:oleObj>
              </mc:Fallback>
            </mc:AlternateContent>
          </a:graphicData>
        </a:graphic>
      </p:graphicFrame>
    </p:spTree>
    <p:extLst>
      <p:ext uri="{BB962C8B-B14F-4D97-AF65-F5344CB8AC3E}">
        <p14:creationId xmlns:p14="http://schemas.microsoft.com/office/powerpoint/2010/main" val="2149694383"/>
      </p:ext>
    </p:extLst>
  </p:cSld>
  <p:clrMapOvr>
    <a:masterClrMapping/>
  </p:clrMapOvr>
  <p:timing>
    <p:tnLst>
      <p:par>
        <p:cTn id="1" dur="indefinite" restart="never" nodeType="tmRoot"/>
      </p:par>
    </p:tn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180</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5.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正弦波</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振荡器</a:t>
            </a:r>
          </a:p>
        </p:txBody>
      </p:sp>
      <p:sp>
        <p:nvSpPr>
          <p:cNvPr id="5" name="Rectangle 2">
            <a:extLst>
              <a:ext uri="{FF2B5EF4-FFF2-40B4-BE49-F238E27FC236}">
                <a16:creationId xmlns:a16="http://schemas.microsoft.com/office/drawing/2014/main" xmlns="" id="{34E82783-E500-3221-3E6C-3337C8A448B3}"/>
              </a:ext>
            </a:extLst>
          </p:cNvPr>
          <p:cNvSpPr txBox="1">
            <a:spLocks noChangeArrowheads="1"/>
          </p:cNvSpPr>
          <p:nvPr/>
        </p:nvSpPr>
        <p:spPr>
          <a:xfrm>
            <a:off x="310083" y="1484784"/>
            <a:ext cx="8686800" cy="482600"/>
          </a:xfrm>
          <a:prstGeom prst="rect">
            <a:avLst/>
          </a:prstGeom>
        </p:spPr>
        <p:txBody>
          <a:bodyPr/>
          <a:lstStyle>
            <a:lvl1pPr algn="l" rtl="0" eaLnBrk="0" fontAlgn="base" hangingPunct="0">
              <a:spcBef>
                <a:spcPct val="0"/>
              </a:spcBef>
              <a:spcAft>
                <a:spcPct val="0"/>
              </a:spcAft>
              <a:defRPr lang="zh-CN" altLang="en-US" sz="3600" b="1" baseline="0" dirty="0" smtClean="0">
                <a:solidFill>
                  <a:schemeClr val="tx2"/>
                </a:solidFill>
                <a:latin typeface="Times New Roman" panose="02020603050405020304" pitchFamily="18" charset="0"/>
                <a:ea typeface="楷体" panose="02010609060101010101" pitchFamily="49" charset="-122"/>
                <a:cs typeface="+mj-cs"/>
              </a:defRPr>
            </a:lvl1pPr>
            <a:lvl2pPr algn="ctr" rtl="0" eaLnBrk="0" fontAlgn="base" hangingPunct="0">
              <a:spcBef>
                <a:spcPct val="0"/>
              </a:spcBef>
              <a:spcAft>
                <a:spcPct val="0"/>
              </a:spcAft>
              <a:defRPr sz="3200">
                <a:solidFill>
                  <a:schemeClr val="tx2"/>
                </a:solidFill>
                <a:latin typeface="Arial" pitchFamily="34" charset="0"/>
                <a:ea typeface="宋体" pitchFamily="2" charset="-122"/>
              </a:defRPr>
            </a:lvl2pPr>
            <a:lvl3pPr algn="ctr" rtl="0" eaLnBrk="0" fontAlgn="base" hangingPunct="0">
              <a:spcBef>
                <a:spcPct val="0"/>
              </a:spcBef>
              <a:spcAft>
                <a:spcPct val="0"/>
              </a:spcAft>
              <a:defRPr sz="3200">
                <a:solidFill>
                  <a:schemeClr val="tx2"/>
                </a:solidFill>
                <a:latin typeface="Arial" pitchFamily="34" charset="0"/>
                <a:ea typeface="宋体" pitchFamily="2" charset="-122"/>
              </a:defRPr>
            </a:lvl3pPr>
            <a:lvl4pPr algn="ctr" rtl="0" eaLnBrk="0" fontAlgn="base" hangingPunct="0">
              <a:spcBef>
                <a:spcPct val="0"/>
              </a:spcBef>
              <a:spcAft>
                <a:spcPct val="0"/>
              </a:spcAft>
              <a:defRPr sz="3200">
                <a:solidFill>
                  <a:schemeClr val="tx2"/>
                </a:solidFill>
                <a:latin typeface="Arial" pitchFamily="34" charset="0"/>
                <a:ea typeface="宋体" pitchFamily="2" charset="-122"/>
              </a:defRPr>
            </a:lvl4pPr>
            <a:lvl5pPr algn="ctr" rtl="0" eaLnBrk="0" fontAlgn="base" hangingPunct="0">
              <a:spcBef>
                <a:spcPct val="0"/>
              </a:spcBef>
              <a:spcAft>
                <a:spcPct val="0"/>
              </a:spcAft>
              <a:defRPr sz="3200">
                <a:solidFill>
                  <a:schemeClr val="tx2"/>
                </a:solidFill>
                <a:latin typeface="Arial" pitchFamily="34" charset="0"/>
                <a:ea typeface="宋体" pitchFamily="2" charset="-122"/>
              </a:defRPr>
            </a:lvl5pPr>
            <a:lvl6pPr marL="457200" algn="ctr" rtl="0" eaLnBrk="0" fontAlgn="base" hangingPunct="0">
              <a:spcBef>
                <a:spcPct val="0"/>
              </a:spcBef>
              <a:spcAft>
                <a:spcPct val="0"/>
              </a:spcAft>
              <a:defRPr sz="3200">
                <a:solidFill>
                  <a:schemeClr val="tx2"/>
                </a:solidFill>
                <a:latin typeface="Arial" pitchFamily="34" charset="0"/>
                <a:ea typeface="宋体" pitchFamily="2" charset="-122"/>
              </a:defRPr>
            </a:lvl6pPr>
            <a:lvl7pPr marL="914400" algn="ctr" rtl="0" eaLnBrk="0" fontAlgn="base" hangingPunct="0">
              <a:spcBef>
                <a:spcPct val="0"/>
              </a:spcBef>
              <a:spcAft>
                <a:spcPct val="0"/>
              </a:spcAft>
              <a:defRPr sz="3200">
                <a:solidFill>
                  <a:schemeClr val="tx2"/>
                </a:solidFill>
                <a:latin typeface="Arial" pitchFamily="34" charset="0"/>
                <a:ea typeface="宋体" pitchFamily="2" charset="-122"/>
              </a:defRPr>
            </a:lvl7pPr>
            <a:lvl8pPr marL="1371600" algn="ctr" rtl="0" eaLnBrk="0" fontAlgn="base" hangingPunct="0">
              <a:spcBef>
                <a:spcPct val="0"/>
              </a:spcBef>
              <a:spcAft>
                <a:spcPct val="0"/>
              </a:spcAft>
              <a:defRPr sz="3200">
                <a:solidFill>
                  <a:schemeClr val="tx2"/>
                </a:solidFill>
                <a:latin typeface="Arial" pitchFamily="34" charset="0"/>
                <a:ea typeface="宋体" pitchFamily="2" charset="-122"/>
              </a:defRPr>
            </a:lvl8pPr>
            <a:lvl9pPr marL="1828800" algn="ctr" rtl="0" eaLnBrk="0" fontAlgn="base" hangingPunct="0">
              <a:spcBef>
                <a:spcPct val="0"/>
              </a:spcBef>
              <a:spcAft>
                <a:spcPct val="0"/>
              </a:spcAft>
              <a:defRPr sz="3200">
                <a:solidFill>
                  <a:schemeClr val="tx2"/>
                </a:solidFill>
                <a:latin typeface="Arial" pitchFamily="34" charset="0"/>
                <a:ea typeface="宋体" pitchFamily="2" charset="-122"/>
              </a:defRPr>
            </a:lvl9pPr>
          </a:lstStyle>
          <a:p>
            <a:pPr eaLnBrk="1" hangingPunct="1"/>
            <a:r>
              <a:rPr lang="zh-CN" altLang="en-US" sz="2400" kern="0" dirty="0">
                <a:solidFill>
                  <a:srgbClr val="FF0000"/>
                </a:solidFill>
                <a:ea typeface="+mn-ea"/>
                <a:cs typeface="Times New Roman" panose="02020603050405020304" pitchFamily="18" charset="0"/>
              </a:rPr>
              <a:t>例</a:t>
            </a:r>
            <a:r>
              <a:rPr lang="en-US" altLang="zh-CN" sz="2400" kern="0" dirty="0">
                <a:solidFill>
                  <a:srgbClr val="FF0000"/>
                </a:solidFill>
                <a:ea typeface="+mn-ea"/>
                <a:cs typeface="Times New Roman" panose="02020603050405020304" pitchFamily="18" charset="0"/>
              </a:rPr>
              <a:t>1</a:t>
            </a:r>
            <a:r>
              <a:rPr lang="zh-CN" altLang="en-US" sz="2400" kern="0" dirty="0">
                <a:solidFill>
                  <a:srgbClr val="FF0000"/>
                </a:solidFill>
                <a:ea typeface="+mn-ea"/>
                <a:cs typeface="Times New Roman" panose="02020603050405020304" pitchFamily="18" charset="0"/>
              </a:rPr>
              <a:t> </a:t>
            </a:r>
            <a:r>
              <a:rPr lang="zh-CN" altLang="en-US" sz="2400" kern="0" dirty="0">
                <a:solidFill>
                  <a:schemeClr val="tx1"/>
                </a:solidFill>
                <a:latin typeface="+mn-ea"/>
                <a:ea typeface="+mn-ea"/>
              </a:rPr>
              <a:t>判断下图电路能否振荡，能振荡的属于哪种类型振荡器。</a:t>
            </a:r>
          </a:p>
        </p:txBody>
      </p:sp>
      <p:graphicFrame>
        <p:nvGraphicFramePr>
          <p:cNvPr id="6" name="Object 3">
            <a:extLst>
              <a:ext uri="{FF2B5EF4-FFF2-40B4-BE49-F238E27FC236}">
                <a16:creationId xmlns:a16="http://schemas.microsoft.com/office/drawing/2014/main" xmlns="" id="{DB967CFB-8FB8-2893-453C-BE4AF1B3436B}"/>
              </a:ext>
            </a:extLst>
          </p:cNvPr>
          <p:cNvGraphicFramePr>
            <a:graphicFrameLocks noChangeAspect="1"/>
          </p:cNvGraphicFramePr>
          <p:nvPr>
            <p:extLst>
              <p:ext uri="{D42A27DB-BD31-4B8C-83A1-F6EECF244321}">
                <p14:modId xmlns:p14="http://schemas.microsoft.com/office/powerpoint/2010/main" val="1066787595"/>
              </p:ext>
            </p:extLst>
          </p:nvPr>
        </p:nvGraphicFramePr>
        <p:xfrm>
          <a:off x="1043608" y="2095150"/>
          <a:ext cx="6859736" cy="4041712"/>
        </p:xfrm>
        <a:graphic>
          <a:graphicData uri="http://schemas.openxmlformats.org/presentationml/2006/ole">
            <mc:AlternateContent xmlns:mc="http://schemas.openxmlformats.org/markup-compatibility/2006">
              <mc:Choice xmlns:v="urn:schemas-microsoft-com:vml" Requires="v">
                <p:oleObj spid="_x0000_s139294" r:id="rId3" imgW="6563641" imgH="3866667" progId="Paint.Picture">
                  <p:embed/>
                </p:oleObj>
              </mc:Choice>
              <mc:Fallback>
                <p:oleObj r:id="rId3" imgW="6563641" imgH="3866667" progId="Paint.Picture">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3608" y="2095150"/>
                        <a:ext cx="6859736" cy="4041712"/>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1517955362"/>
      </p:ext>
    </p:extLst>
  </p:cSld>
  <p:clrMapOvr>
    <a:masterClrMapping/>
  </p:clrMapOvr>
  <p:timing>
    <p:tnLst>
      <p:par>
        <p:cTn id="1" dur="indefinite" restart="never" nodeType="tmRoot"/>
      </p:par>
    </p:tn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181</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5.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正弦波</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振荡器</a:t>
            </a:r>
          </a:p>
        </p:txBody>
      </p:sp>
      <p:sp>
        <p:nvSpPr>
          <p:cNvPr id="5" name="Rectangle 2">
            <a:extLst>
              <a:ext uri="{FF2B5EF4-FFF2-40B4-BE49-F238E27FC236}">
                <a16:creationId xmlns:a16="http://schemas.microsoft.com/office/drawing/2014/main" xmlns="" id="{C485D5E7-81D0-11EA-54ED-954C83F9E487}"/>
              </a:ext>
            </a:extLst>
          </p:cNvPr>
          <p:cNvSpPr>
            <a:spLocks noChangeArrowheads="1"/>
          </p:cNvSpPr>
          <p:nvPr/>
        </p:nvSpPr>
        <p:spPr bwMode="auto">
          <a:xfrm>
            <a:off x="347936" y="1484784"/>
            <a:ext cx="11033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dirty="0">
                <a:solidFill>
                  <a:schemeClr val="tx1"/>
                </a:solidFill>
                <a:latin typeface="+mn-ea"/>
                <a:ea typeface="+mn-ea"/>
              </a:rPr>
              <a:t>分析：</a:t>
            </a:r>
          </a:p>
        </p:txBody>
      </p:sp>
      <p:graphicFrame>
        <p:nvGraphicFramePr>
          <p:cNvPr id="6" name="Object 4">
            <a:extLst>
              <a:ext uri="{FF2B5EF4-FFF2-40B4-BE49-F238E27FC236}">
                <a16:creationId xmlns:a16="http://schemas.microsoft.com/office/drawing/2014/main" xmlns="" id="{63DE4B83-8356-46CA-5922-6C61D9258E09}"/>
              </a:ext>
            </a:extLst>
          </p:cNvPr>
          <p:cNvGraphicFramePr>
            <a:graphicFrameLocks noChangeAspect="1"/>
          </p:cNvGraphicFramePr>
          <p:nvPr>
            <p:extLst>
              <p:ext uri="{D42A27DB-BD31-4B8C-83A1-F6EECF244321}">
                <p14:modId xmlns:p14="http://schemas.microsoft.com/office/powerpoint/2010/main" val="1324047925"/>
              </p:ext>
            </p:extLst>
          </p:nvPr>
        </p:nvGraphicFramePr>
        <p:xfrm>
          <a:off x="1691680" y="1328552"/>
          <a:ext cx="2250257" cy="2427943"/>
        </p:xfrm>
        <a:graphic>
          <a:graphicData uri="http://schemas.openxmlformats.org/presentationml/2006/ole">
            <mc:AlternateContent xmlns:mc="http://schemas.openxmlformats.org/markup-compatibility/2006">
              <mc:Choice xmlns:v="urn:schemas-microsoft-com:vml" Requires="v">
                <p:oleObj spid="_x0000_s140514" r:id="rId3" imgW="2523810" imgH="2723810" progId="Paint.Picture">
                  <p:embed/>
                </p:oleObj>
              </mc:Choice>
              <mc:Fallback>
                <p:oleObj r:id="rId3" imgW="2523810" imgH="2723810" progId="Paint.Picture">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91680" y="1328552"/>
                        <a:ext cx="2250257" cy="2427943"/>
                      </a:xfrm>
                      <a:prstGeom prst="rect">
                        <a:avLst/>
                      </a:prstGeom>
                      <a:noFill/>
                      <a:ln>
                        <a:noFill/>
                      </a:ln>
                    </p:spPr>
                  </p:pic>
                </p:oleObj>
              </mc:Fallback>
            </mc:AlternateContent>
          </a:graphicData>
        </a:graphic>
      </p:graphicFrame>
      <p:graphicFrame>
        <p:nvGraphicFramePr>
          <p:cNvPr id="7" name="Object 5">
            <a:extLst>
              <a:ext uri="{FF2B5EF4-FFF2-40B4-BE49-F238E27FC236}">
                <a16:creationId xmlns:a16="http://schemas.microsoft.com/office/drawing/2014/main" xmlns="" id="{D0966BF6-4583-3FC4-2440-41CDEB9F9E6B}"/>
              </a:ext>
            </a:extLst>
          </p:cNvPr>
          <p:cNvGraphicFramePr>
            <a:graphicFrameLocks noChangeAspect="1"/>
          </p:cNvGraphicFramePr>
          <p:nvPr>
            <p:extLst>
              <p:ext uri="{D42A27DB-BD31-4B8C-83A1-F6EECF244321}">
                <p14:modId xmlns:p14="http://schemas.microsoft.com/office/powerpoint/2010/main" val="2356443447"/>
              </p:ext>
            </p:extLst>
          </p:nvPr>
        </p:nvGraphicFramePr>
        <p:xfrm>
          <a:off x="1668438" y="4225398"/>
          <a:ext cx="2146499" cy="2490198"/>
        </p:xfrm>
        <a:graphic>
          <a:graphicData uri="http://schemas.openxmlformats.org/presentationml/2006/ole">
            <mc:AlternateContent xmlns:mc="http://schemas.openxmlformats.org/markup-compatibility/2006">
              <mc:Choice xmlns:v="urn:schemas-microsoft-com:vml" Requires="v">
                <p:oleObj spid="_x0000_s140515" r:id="rId5" imgW="2324424" imgH="2695951" progId="Paint.Picture">
                  <p:embed/>
                </p:oleObj>
              </mc:Choice>
              <mc:Fallback>
                <p:oleObj r:id="rId5" imgW="2324424" imgH="2695951" progId="Paint.Picture">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68438" y="4225398"/>
                        <a:ext cx="2146499" cy="2490198"/>
                      </a:xfrm>
                      <a:prstGeom prst="rect">
                        <a:avLst/>
                      </a:prstGeom>
                      <a:noFill/>
                      <a:ln>
                        <a:noFill/>
                      </a:ln>
                    </p:spPr>
                  </p:pic>
                </p:oleObj>
              </mc:Fallback>
            </mc:AlternateContent>
          </a:graphicData>
        </a:graphic>
      </p:graphicFrame>
      <p:graphicFrame>
        <p:nvGraphicFramePr>
          <p:cNvPr id="8" name="Object 3">
            <a:extLst>
              <a:ext uri="{FF2B5EF4-FFF2-40B4-BE49-F238E27FC236}">
                <a16:creationId xmlns:a16="http://schemas.microsoft.com/office/drawing/2014/main" xmlns="" id="{0A25605B-CBAE-6ED4-99B8-9508B0F660C9}"/>
              </a:ext>
            </a:extLst>
          </p:cNvPr>
          <p:cNvGraphicFramePr>
            <a:graphicFrameLocks noChangeAspect="1"/>
          </p:cNvGraphicFramePr>
          <p:nvPr>
            <p:extLst>
              <p:ext uri="{D42A27DB-BD31-4B8C-83A1-F6EECF244321}">
                <p14:modId xmlns:p14="http://schemas.microsoft.com/office/powerpoint/2010/main" val="3781359434"/>
              </p:ext>
            </p:extLst>
          </p:nvPr>
        </p:nvGraphicFramePr>
        <p:xfrm>
          <a:off x="4230513" y="1441214"/>
          <a:ext cx="3300413" cy="871538"/>
        </p:xfrm>
        <a:graphic>
          <a:graphicData uri="http://schemas.openxmlformats.org/presentationml/2006/ole">
            <mc:AlternateContent xmlns:mc="http://schemas.openxmlformats.org/markup-compatibility/2006">
              <mc:Choice xmlns:v="urn:schemas-microsoft-com:vml" Requires="v">
                <p:oleObj spid="_x0000_s140516" r:id="rId7" imgW="1651000" imgH="457200" progId="Equation.3">
                  <p:embed/>
                </p:oleObj>
              </mc:Choice>
              <mc:Fallback>
                <p:oleObj r:id="rId7" imgW="1651000" imgH="4572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30513" y="1441214"/>
                        <a:ext cx="3300413" cy="871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9" name="Object 6">
            <a:extLst>
              <a:ext uri="{FF2B5EF4-FFF2-40B4-BE49-F238E27FC236}">
                <a16:creationId xmlns:a16="http://schemas.microsoft.com/office/drawing/2014/main" xmlns="" id="{5FE4A9D3-1144-0238-5649-F169B8E4BDDA}"/>
              </a:ext>
            </a:extLst>
          </p:cNvPr>
          <p:cNvGraphicFramePr>
            <a:graphicFrameLocks noChangeAspect="1"/>
          </p:cNvGraphicFramePr>
          <p:nvPr>
            <p:extLst>
              <p:ext uri="{D42A27DB-BD31-4B8C-83A1-F6EECF244321}">
                <p14:modId xmlns:p14="http://schemas.microsoft.com/office/powerpoint/2010/main" val="506824116"/>
              </p:ext>
            </p:extLst>
          </p:nvPr>
        </p:nvGraphicFramePr>
        <p:xfrm>
          <a:off x="4331939" y="4198419"/>
          <a:ext cx="3736975" cy="890587"/>
        </p:xfrm>
        <a:graphic>
          <a:graphicData uri="http://schemas.openxmlformats.org/presentationml/2006/ole">
            <mc:AlternateContent xmlns:mc="http://schemas.openxmlformats.org/markup-compatibility/2006">
              <mc:Choice xmlns:v="urn:schemas-microsoft-com:vml" Requires="v">
                <p:oleObj spid="_x0000_s140517" r:id="rId9" imgW="1638300" imgH="457200" progId="Equation.3">
                  <p:embed/>
                </p:oleObj>
              </mc:Choice>
              <mc:Fallback>
                <p:oleObj r:id="rId9" imgW="1638300" imgH="45720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331939" y="4198419"/>
                        <a:ext cx="3736975" cy="890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0" name="Object 7">
            <a:extLst>
              <a:ext uri="{FF2B5EF4-FFF2-40B4-BE49-F238E27FC236}">
                <a16:creationId xmlns:a16="http://schemas.microsoft.com/office/drawing/2014/main" xmlns="" id="{D00EBBA9-2E2C-1220-9F99-B33BE8906B2C}"/>
              </a:ext>
            </a:extLst>
          </p:cNvPr>
          <p:cNvGraphicFramePr>
            <a:graphicFrameLocks noChangeAspect="1"/>
          </p:cNvGraphicFramePr>
          <p:nvPr>
            <p:extLst>
              <p:ext uri="{D42A27DB-BD31-4B8C-83A1-F6EECF244321}">
                <p14:modId xmlns:p14="http://schemas.microsoft.com/office/powerpoint/2010/main" val="1620829972"/>
              </p:ext>
            </p:extLst>
          </p:nvPr>
        </p:nvGraphicFramePr>
        <p:xfrm>
          <a:off x="4262263" y="2463564"/>
          <a:ext cx="3236913" cy="412750"/>
        </p:xfrm>
        <a:graphic>
          <a:graphicData uri="http://schemas.openxmlformats.org/presentationml/2006/ole">
            <mc:AlternateContent xmlns:mc="http://schemas.openxmlformats.org/markup-compatibility/2006">
              <mc:Choice xmlns:v="urn:schemas-microsoft-com:vml" Requires="v">
                <p:oleObj spid="_x0000_s140518" r:id="rId11" imgW="1790700" imgH="228600" progId="Equation.3">
                  <p:embed/>
                </p:oleObj>
              </mc:Choice>
              <mc:Fallback>
                <p:oleObj r:id="rId11" imgW="1790700" imgH="22860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262263" y="2463564"/>
                        <a:ext cx="3236913"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1" name="Object 8">
            <a:extLst>
              <a:ext uri="{FF2B5EF4-FFF2-40B4-BE49-F238E27FC236}">
                <a16:creationId xmlns:a16="http://schemas.microsoft.com/office/drawing/2014/main" xmlns="" id="{D94EFF25-C4A0-AE6D-ED2E-6F0ABE0E99D0}"/>
              </a:ext>
            </a:extLst>
          </p:cNvPr>
          <p:cNvGraphicFramePr>
            <a:graphicFrameLocks noChangeAspect="1"/>
          </p:cNvGraphicFramePr>
          <p:nvPr>
            <p:extLst>
              <p:ext uri="{D42A27DB-BD31-4B8C-83A1-F6EECF244321}">
                <p14:modId xmlns:p14="http://schemas.microsoft.com/office/powerpoint/2010/main" val="380088104"/>
              </p:ext>
            </p:extLst>
          </p:nvPr>
        </p:nvGraphicFramePr>
        <p:xfrm>
          <a:off x="4331939" y="5264748"/>
          <a:ext cx="3826325" cy="481155"/>
        </p:xfrm>
        <a:graphic>
          <a:graphicData uri="http://schemas.openxmlformats.org/presentationml/2006/ole">
            <mc:AlternateContent xmlns:mc="http://schemas.openxmlformats.org/markup-compatibility/2006">
              <mc:Choice xmlns:v="urn:schemas-microsoft-com:vml" Requires="v">
                <p:oleObj spid="_x0000_s140519" r:id="rId13" imgW="1816100" imgH="228600" progId="Equation.3">
                  <p:embed/>
                </p:oleObj>
              </mc:Choice>
              <mc:Fallback>
                <p:oleObj r:id="rId13" imgW="1816100" imgH="228600"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331939" y="5264748"/>
                        <a:ext cx="3826325" cy="481155"/>
                      </a:xfrm>
                      <a:prstGeom prst="rect">
                        <a:avLst/>
                      </a:prstGeom>
                      <a:noFill/>
                      <a:ln>
                        <a:noFill/>
                      </a:ln>
                    </p:spPr>
                  </p:pic>
                </p:oleObj>
              </mc:Fallback>
            </mc:AlternateContent>
          </a:graphicData>
        </a:graphic>
      </p:graphicFrame>
      <p:graphicFrame>
        <p:nvGraphicFramePr>
          <p:cNvPr id="12" name="Object 9">
            <a:extLst>
              <a:ext uri="{FF2B5EF4-FFF2-40B4-BE49-F238E27FC236}">
                <a16:creationId xmlns:a16="http://schemas.microsoft.com/office/drawing/2014/main" xmlns="" id="{E6F1A515-5C6C-0246-2AB7-FC809055C2F2}"/>
              </a:ext>
            </a:extLst>
          </p:cNvPr>
          <p:cNvGraphicFramePr>
            <a:graphicFrameLocks noChangeAspect="1"/>
          </p:cNvGraphicFramePr>
          <p:nvPr>
            <p:extLst>
              <p:ext uri="{D42A27DB-BD31-4B8C-83A1-F6EECF244321}">
                <p14:modId xmlns:p14="http://schemas.microsoft.com/office/powerpoint/2010/main" val="714017745"/>
              </p:ext>
            </p:extLst>
          </p:nvPr>
        </p:nvGraphicFramePr>
        <p:xfrm>
          <a:off x="4306630" y="2929622"/>
          <a:ext cx="2914650" cy="420688"/>
        </p:xfrm>
        <a:graphic>
          <a:graphicData uri="http://schemas.openxmlformats.org/presentationml/2006/ole">
            <mc:AlternateContent xmlns:mc="http://schemas.openxmlformats.org/markup-compatibility/2006">
              <mc:Choice xmlns:v="urn:schemas-microsoft-com:vml" Requires="v">
                <p:oleObj spid="_x0000_s140520" r:id="rId15" imgW="1409088" imgH="203112" progId="Equation.3">
                  <p:embed/>
                </p:oleObj>
              </mc:Choice>
              <mc:Fallback>
                <p:oleObj r:id="rId15" imgW="1409088" imgH="203112" progId="Equation.3">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306630" y="2929622"/>
                        <a:ext cx="2914650" cy="42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3" name="Object 10">
            <a:extLst>
              <a:ext uri="{FF2B5EF4-FFF2-40B4-BE49-F238E27FC236}">
                <a16:creationId xmlns:a16="http://schemas.microsoft.com/office/drawing/2014/main" xmlns="" id="{9AD4C30B-42E2-4A46-CDF1-72B508FD19C9}"/>
              </a:ext>
            </a:extLst>
          </p:cNvPr>
          <p:cNvGraphicFramePr>
            <a:graphicFrameLocks noChangeAspect="1"/>
          </p:cNvGraphicFramePr>
          <p:nvPr>
            <p:extLst>
              <p:ext uri="{D42A27DB-BD31-4B8C-83A1-F6EECF244321}">
                <p14:modId xmlns:p14="http://schemas.microsoft.com/office/powerpoint/2010/main" val="1403031746"/>
              </p:ext>
            </p:extLst>
          </p:nvPr>
        </p:nvGraphicFramePr>
        <p:xfrm>
          <a:off x="4331939" y="5892800"/>
          <a:ext cx="3151187" cy="452438"/>
        </p:xfrm>
        <a:graphic>
          <a:graphicData uri="http://schemas.openxmlformats.org/presentationml/2006/ole">
            <mc:AlternateContent xmlns:mc="http://schemas.openxmlformats.org/markup-compatibility/2006">
              <mc:Choice xmlns:v="urn:schemas-microsoft-com:vml" Requires="v">
                <p:oleObj spid="_x0000_s140521" r:id="rId17" imgW="1409088" imgH="203112" progId="Equation.3">
                  <p:embed/>
                </p:oleObj>
              </mc:Choice>
              <mc:Fallback>
                <p:oleObj r:id="rId17" imgW="1409088" imgH="203112" progId="Equation.3">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331939" y="5892800"/>
                        <a:ext cx="3151187" cy="452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656235130"/>
      </p:ext>
    </p:extLst>
  </p:cSld>
  <p:clrMapOvr>
    <a:masterClrMapping/>
  </p:clrMapOvr>
  <p:timing>
    <p:tnLst>
      <p:par>
        <p:cTn id="1" dur="indefinite" restart="never" nodeType="tmRoot"/>
      </p:par>
    </p:tn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182</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5.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正弦波</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振荡器</a:t>
            </a:r>
          </a:p>
        </p:txBody>
      </p:sp>
      <p:pic>
        <p:nvPicPr>
          <p:cNvPr id="5" name="图片 4">
            <a:extLst>
              <a:ext uri="{FF2B5EF4-FFF2-40B4-BE49-F238E27FC236}">
                <a16:creationId xmlns:a16="http://schemas.microsoft.com/office/drawing/2014/main" xmlns="" id="{81F426B4-AEE9-DA61-2934-7F1C0841F59B}"/>
              </a:ext>
            </a:extLst>
          </p:cNvPr>
          <p:cNvPicPr>
            <a:picLocks noChangeAspect="1"/>
          </p:cNvPicPr>
          <p:nvPr/>
        </p:nvPicPr>
        <p:blipFill>
          <a:blip r:embed="rId3"/>
          <a:stretch>
            <a:fillRect/>
          </a:stretch>
        </p:blipFill>
        <p:spPr>
          <a:xfrm>
            <a:off x="611560" y="1556792"/>
            <a:ext cx="3082134" cy="4631354"/>
          </a:xfrm>
          <a:prstGeom prst="rect">
            <a:avLst/>
          </a:prstGeom>
        </p:spPr>
      </p:pic>
      <p:graphicFrame>
        <p:nvGraphicFramePr>
          <p:cNvPr id="6" name="Object 3">
            <a:extLst>
              <a:ext uri="{FF2B5EF4-FFF2-40B4-BE49-F238E27FC236}">
                <a16:creationId xmlns:a16="http://schemas.microsoft.com/office/drawing/2014/main" xmlns="" id="{FB7EDA46-6374-0E37-4588-229CE6EB9BC8}"/>
              </a:ext>
            </a:extLst>
          </p:cNvPr>
          <p:cNvGraphicFramePr>
            <a:graphicFrameLocks noChangeAspect="1"/>
          </p:cNvGraphicFramePr>
          <p:nvPr>
            <p:extLst>
              <p:ext uri="{D42A27DB-BD31-4B8C-83A1-F6EECF244321}">
                <p14:modId xmlns:p14="http://schemas.microsoft.com/office/powerpoint/2010/main" val="2629912254"/>
              </p:ext>
            </p:extLst>
          </p:nvPr>
        </p:nvGraphicFramePr>
        <p:xfrm>
          <a:off x="3859283" y="1319212"/>
          <a:ext cx="3781425" cy="1055688"/>
        </p:xfrm>
        <a:graphic>
          <a:graphicData uri="http://schemas.openxmlformats.org/presentationml/2006/ole">
            <mc:AlternateContent xmlns:mc="http://schemas.openxmlformats.org/markup-compatibility/2006">
              <mc:Choice xmlns:v="urn:schemas-microsoft-com:vml" Requires="v">
                <p:oleObj spid="_x0000_s141482" r:id="rId4" imgW="1638300" imgH="457200" progId="Equation.3">
                  <p:embed/>
                </p:oleObj>
              </mc:Choice>
              <mc:Fallback>
                <p:oleObj r:id="rId4" imgW="1638300" imgH="4572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59283" y="1319212"/>
                        <a:ext cx="3781425" cy="1055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 name="Object 4">
            <a:extLst>
              <a:ext uri="{FF2B5EF4-FFF2-40B4-BE49-F238E27FC236}">
                <a16:creationId xmlns:a16="http://schemas.microsoft.com/office/drawing/2014/main" xmlns="" id="{AD7E3527-D176-7932-6C40-3395F70A9B48}"/>
              </a:ext>
            </a:extLst>
          </p:cNvPr>
          <p:cNvGraphicFramePr>
            <a:graphicFrameLocks noChangeAspect="1"/>
          </p:cNvGraphicFramePr>
          <p:nvPr>
            <p:extLst>
              <p:ext uri="{D42A27DB-BD31-4B8C-83A1-F6EECF244321}">
                <p14:modId xmlns:p14="http://schemas.microsoft.com/office/powerpoint/2010/main" val="3178441765"/>
              </p:ext>
            </p:extLst>
          </p:nvPr>
        </p:nvGraphicFramePr>
        <p:xfrm>
          <a:off x="3673545" y="2395537"/>
          <a:ext cx="4197350" cy="531813"/>
        </p:xfrm>
        <a:graphic>
          <a:graphicData uri="http://schemas.openxmlformats.org/presentationml/2006/ole">
            <mc:AlternateContent xmlns:mc="http://schemas.openxmlformats.org/markup-compatibility/2006">
              <mc:Choice xmlns:v="urn:schemas-microsoft-com:vml" Requires="v">
                <p:oleObj spid="_x0000_s141483" r:id="rId6" imgW="1803400" imgH="228600" progId="Equation.3">
                  <p:embed/>
                </p:oleObj>
              </mc:Choice>
              <mc:Fallback>
                <p:oleObj r:id="rId6" imgW="1803400" imgH="2286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73545" y="2395537"/>
                        <a:ext cx="4197350" cy="531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 name="Object 13">
            <a:extLst>
              <a:ext uri="{FF2B5EF4-FFF2-40B4-BE49-F238E27FC236}">
                <a16:creationId xmlns:a16="http://schemas.microsoft.com/office/drawing/2014/main" xmlns="" id="{2F86C8C5-DC03-C169-67DA-90D8B45293AA}"/>
              </a:ext>
            </a:extLst>
          </p:cNvPr>
          <p:cNvGraphicFramePr>
            <a:graphicFrameLocks noChangeAspect="1"/>
          </p:cNvGraphicFramePr>
          <p:nvPr>
            <p:extLst>
              <p:ext uri="{D42A27DB-BD31-4B8C-83A1-F6EECF244321}">
                <p14:modId xmlns:p14="http://schemas.microsoft.com/office/powerpoint/2010/main" val="128804759"/>
              </p:ext>
            </p:extLst>
          </p:nvPr>
        </p:nvGraphicFramePr>
        <p:xfrm>
          <a:off x="3822770" y="3944937"/>
          <a:ext cx="3679825" cy="1003300"/>
        </p:xfrm>
        <a:graphic>
          <a:graphicData uri="http://schemas.openxmlformats.org/presentationml/2006/ole">
            <mc:AlternateContent xmlns:mc="http://schemas.openxmlformats.org/markup-compatibility/2006">
              <mc:Choice xmlns:v="urn:schemas-microsoft-com:vml" Requires="v">
                <p:oleObj spid="_x0000_s141484" r:id="rId8" imgW="1676400" imgH="457200" progId="Equation.3">
                  <p:embed/>
                </p:oleObj>
              </mc:Choice>
              <mc:Fallback>
                <p:oleObj r:id="rId8" imgW="1676400" imgH="45720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822770" y="3944937"/>
                        <a:ext cx="3679825" cy="100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9" name="Object 14">
            <a:extLst>
              <a:ext uri="{FF2B5EF4-FFF2-40B4-BE49-F238E27FC236}">
                <a16:creationId xmlns:a16="http://schemas.microsoft.com/office/drawing/2014/main" xmlns="" id="{8368EEE0-7A81-6D07-FF92-4F755BA2F252}"/>
              </a:ext>
            </a:extLst>
          </p:cNvPr>
          <p:cNvGraphicFramePr>
            <a:graphicFrameLocks noChangeAspect="1"/>
          </p:cNvGraphicFramePr>
          <p:nvPr>
            <p:extLst>
              <p:ext uri="{D42A27DB-BD31-4B8C-83A1-F6EECF244321}">
                <p14:modId xmlns:p14="http://schemas.microsoft.com/office/powerpoint/2010/main" val="3490180747"/>
              </p:ext>
            </p:extLst>
          </p:nvPr>
        </p:nvGraphicFramePr>
        <p:xfrm>
          <a:off x="3932308" y="4984750"/>
          <a:ext cx="2928937" cy="912812"/>
        </p:xfrm>
        <a:graphic>
          <a:graphicData uri="http://schemas.openxmlformats.org/presentationml/2006/ole">
            <mc:AlternateContent xmlns:mc="http://schemas.openxmlformats.org/markup-compatibility/2006">
              <mc:Choice xmlns:v="urn:schemas-microsoft-com:vml" Requires="v">
                <p:oleObj spid="_x0000_s141485" r:id="rId10" imgW="1180588" imgH="444307" progId="Equation.3">
                  <p:embed/>
                </p:oleObj>
              </mc:Choice>
              <mc:Fallback>
                <p:oleObj r:id="rId10" imgW="1180588" imgH="444307"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932308" y="4984750"/>
                        <a:ext cx="2928937" cy="912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0" name="Object 15">
            <a:extLst>
              <a:ext uri="{FF2B5EF4-FFF2-40B4-BE49-F238E27FC236}">
                <a16:creationId xmlns:a16="http://schemas.microsoft.com/office/drawing/2014/main" xmlns="" id="{4809710D-220E-6F3D-AC02-CF05C5CEC277}"/>
              </a:ext>
            </a:extLst>
          </p:cNvPr>
          <p:cNvGraphicFramePr>
            <a:graphicFrameLocks noChangeAspect="1"/>
          </p:cNvGraphicFramePr>
          <p:nvPr>
            <p:extLst>
              <p:ext uri="{D42A27DB-BD31-4B8C-83A1-F6EECF244321}">
                <p14:modId xmlns:p14="http://schemas.microsoft.com/office/powerpoint/2010/main" val="708150078"/>
              </p:ext>
            </p:extLst>
          </p:nvPr>
        </p:nvGraphicFramePr>
        <p:xfrm>
          <a:off x="3945008" y="6030912"/>
          <a:ext cx="2992437" cy="430213"/>
        </p:xfrm>
        <a:graphic>
          <a:graphicData uri="http://schemas.openxmlformats.org/presentationml/2006/ole">
            <mc:AlternateContent xmlns:mc="http://schemas.openxmlformats.org/markup-compatibility/2006">
              <mc:Choice xmlns:v="urn:schemas-microsoft-com:vml" Requires="v">
                <p:oleObj spid="_x0000_s141486" r:id="rId12" imgW="1409088" imgH="203112" progId="Equation.3">
                  <p:embed/>
                </p:oleObj>
              </mc:Choice>
              <mc:Fallback>
                <p:oleObj r:id="rId12" imgW="1409088" imgH="203112"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945008" y="6030912"/>
                        <a:ext cx="2992437"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1" name="Object 16">
            <a:extLst>
              <a:ext uri="{FF2B5EF4-FFF2-40B4-BE49-F238E27FC236}">
                <a16:creationId xmlns:a16="http://schemas.microsoft.com/office/drawing/2014/main" xmlns="" id="{D7E8652E-DC86-732A-ADE7-D8352FF5B520}"/>
              </a:ext>
            </a:extLst>
          </p:cNvPr>
          <p:cNvGraphicFramePr>
            <a:graphicFrameLocks noChangeAspect="1"/>
          </p:cNvGraphicFramePr>
          <p:nvPr>
            <p:extLst>
              <p:ext uri="{D42A27DB-BD31-4B8C-83A1-F6EECF244321}">
                <p14:modId xmlns:p14="http://schemas.microsoft.com/office/powerpoint/2010/main" val="10581002"/>
              </p:ext>
            </p:extLst>
          </p:nvPr>
        </p:nvGraphicFramePr>
        <p:xfrm>
          <a:off x="4105345" y="2916237"/>
          <a:ext cx="3559175" cy="512763"/>
        </p:xfrm>
        <a:graphic>
          <a:graphicData uri="http://schemas.openxmlformats.org/presentationml/2006/ole">
            <mc:AlternateContent xmlns:mc="http://schemas.openxmlformats.org/markup-compatibility/2006">
              <mc:Choice xmlns:v="urn:schemas-microsoft-com:vml" Requires="v">
                <p:oleObj spid="_x0000_s141487" r:id="rId14" imgW="1409088" imgH="203112" progId="Equation.3">
                  <p:embed/>
                </p:oleObj>
              </mc:Choice>
              <mc:Fallback>
                <p:oleObj r:id="rId14" imgW="1409088" imgH="203112"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105345" y="2916237"/>
                        <a:ext cx="3559175" cy="51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628984930"/>
      </p:ext>
    </p:extLst>
  </p:cSld>
  <p:clrMapOvr>
    <a:masterClrMapping/>
  </p:clrMapOvr>
  <p:timing>
    <p:tnLst>
      <p:par>
        <p:cTn id="1" dur="indefinite" restart="never" nodeType="tmRoot"/>
      </p:par>
    </p:tn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183</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5.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正弦波</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振荡器</a:t>
            </a:r>
          </a:p>
        </p:txBody>
      </p:sp>
      <p:pic>
        <p:nvPicPr>
          <p:cNvPr id="5" name="图片 4">
            <a:extLst>
              <a:ext uri="{FF2B5EF4-FFF2-40B4-BE49-F238E27FC236}">
                <a16:creationId xmlns:a16="http://schemas.microsoft.com/office/drawing/2014/main" xmlns="" id="{CF638F9E-C8F2-2C58-9D27-D44C642475B4}"/>
              </a:ext>
            </a:extLst>
          </p:cNvPr>
          <p:cNvPicPr>
            <a:picLocks noChangeAspect="1"/>
          </p:cNvPicPr>
          <p:nvPr/>
        </p:nvPicPr>
        <p:blipFill>
          <a:blip r:embed="rId2"/>
          <a:stretch>
            <a:fillRect/>
          </a:stretch>
        </p:blipFill>
        <p:spPr>
          <a:xfrm>
            <a:off x="899592" y="1219877"/>
            <a:ext cx="2907826" cy="5229200"/>
          </a:xfrm>
          <a:prstGeom prst="rect">
            <a:avLst/>
          </a:prstGeom>
        </p:spPr>
      </p:pic>
      <p:sp>
        <p:nvSpPr>
          <p:cNvPr id="6" name="Rectangle 4">
            <a:extLst>
              <a:ext uri="{FF2B5EF4-FFF2-40B4-BE49-F238E27FC236}">
                <a16:creationId xmlns:a16="http://schemas.microsoft.com/office/drawing/2014/main" xmlns="" id="{AD12A78A-D3D3-F53A-052C-48366B69249B}"/>
              </a:ext>
            </a:extLst>
          </p:cNvPr>
          <p:cNvSpPr>
            <a:spLocks noChangeArrowheads="1"/>
          </p:cNvSpPr>
          <p:nvPr/>
        </p:nvSpPr>
        <p:spPr bwMode="auto">
          <a:xfrm>
            <a:off x="3672408" y="1772816"/>
            <a:ext cx="4572000" cy="7100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90000" tIns="46800" rIns="90000" bIns="46800">
            <a:spAutoFit/>
          </a:bodyPr>
          <a:lstStyle/>
          <a:p>
            <a:r>
              <a:rPr lang="en-US" altLang="zh-CN" sz="2000" b="1">
                <a:solidFill>
                  <a:schemeClr val="tx1"/>
                </a:solidFill>
                <a:latin typeface="Times New Roman" panose="02020603050405020304" pitchFamily="18" charset="0"/>
                <a:cs typeface="Times New Roman" panose="02020603050405020304" pitchFamily="18" charset="0"/>
              </a:rPr>
              <a:t>(e)</a:t>
            </a:r>
            <a:r>
              <a:rPr lang="zh-CN" altLang="en-US" sz="2000" b="1">
                <a:solidFill>
                  <a:schemeClr val="tx1"/>
                </a:solidFill>
                <a:latin typeface="Times New Roman" panose="02020603050405020304" pitchFamily="18" charset="0"/>
                <a:cs typeface="Times New Roman" panose="02020603050405020304" pitchFamily="18" charset="0"/>
              </a:rPr>
              <a:t>经判断满足相位平衡条件，故可能振荡，为共基调射型互感耦合振荡器。</a:t>
            </a:r>
          </a:p>
        </p:txBody>
      </p:sp>
      <p:sp>
        <p:nvSpPr>
          <p:cNvPr id="7" name="Rectangle 28">
            <a:extLst>
              <a:ext uri="{FF2B5EF4-FFF2-40B4-BE49-F238E27FC236}">
                <a16:creationId xmlns:a16="http://schemas.microsoft.com/office/drawing/2014/main" xmlns="" id="{F68C0138-27C4-5CBD-C2A3-E015D24E145D}"/>
              </a:ext>
            </a:extLst>
          </p:cNvPr>
          <p:cNvSpPr>
            <a:spLocks noChangeArrowheads="1"/>
          </p:cNvSpPr>
          <p:nvPr/>
        </p:nvSpPr>
        <p:spPr bwMode="auto">
          <a:xfrm>
            <a:off x="3839913" y="5085184"/>
            <a:ext cx="4572000" cy="7100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90000" tIns="46800" rIns="90000" bIns="46800">
            <a:spAutoFit/>
          </a:bodyPr>
          <a:lstStyle/>
          <a:p>
            <a:r>
              <a:rPr lang="en-US" altLang="zh-CN" sz="2000" b="1" dirty="0">
                <a:solidFill>
                  <a:schemeClr val="tx1"/>
                </a:solidFill>
                <a:latin typeface="Times New Roman" panose="02020603050405020304" pitchFamily="18" charset="0"/>
                <a:cs typeface="Times New Roman" panose="02020603050405020304" pitchFamily="18" charset="0"/>
              </a:rPr>
              <a:t>(f)</a:t>
            </a:r>
            <a:r>
              <a:rPr lang="zh-CN" altLang="en-US" sz="2000" b="1" dirty="0">
                <a:solidFill>
                  <a:schemeClr val="tx1"/>
                </a:solidFill>
                <a:latin typeface="Times New Roman" panose="02020603050405020304" pitchFamily="18" charset="0"/>
                <a:cs typeface="Times New Roman" panose="02020603050405020304" pitchFamily="18" charset="0"/>
              </a:rPr>
              <a:t>经判断满足相位平衡条件，故可能振荡，为共射调基型互感耦合振荡器。</a:t>
            </a:r>
          </a:p>
        </p:txBody>
      </p:sp>
    </p:spTree>
    <p:extLst>
      <p:ext uri="{BB962C8B-B14F-4D97-AF65-F5344CB8AC3E}">
        <p14:creationId xmlns:p14="http://schemas.microsoft.com/office/powerpoint/2010/main" val="1699168032"/>
      </p:ext>
    </p:extLst>
  </p:cSld>
  <p:clrMapOvr>
    <a:masterClrMapping/>
  </p:clrMapOvr>
  <p:timing>
    <p:tnLst>
      <p:par>
        <p:cTn id="1" dur="indefinite" restart="never" nodeType="tmRoot"/>
      </p:par>
    </p:tn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184</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5.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正弦波</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振荡器</a:t>
            </a:r>
          </a:p>
        </p:txBody>
      </p:sp>
      <p:sp>
        <p:nvSpPr>
          <p:cNvPr id="5" name="Rectangle 3">
            <a:extLst>
              <a:ext uri="{FF2B5EF4-FFF2-40B4-BE49-F238E27FC236}">
                <a16:creationId xmlns:a16="http://schemas.microsoft.com/office/drawing/2014/main" xmlns="" id="{585263D2-A657-BC2D-994A-DBD94A36B9D5}"/>
              </a:ext>
            </a:extLst>
          </p:cNvPr>
          <p:cNvSpPr txBox="1">
            <a:spLocks noChangeArrowheads="1"/>
          </p:cNvSpPr>
          <p:nvPr/>
        </p:nvSpPr>
        <p:spPr>
          <a:xfrm>
            <a:off x="487958" y="1364705"/>
            <a:ext cx="8229600" cy="584200"/>
          </a:xfrm>
          <a:prstGeom prst="rect">
            <a:avLst/>
          </a:prstGeom>
        </p:spPr>
        <p:txBody>
          <a:bodyPr/>
          <a:lstStyle>
            <a:lvl1pPr algn="l" rtl="0" eaLnBrk="0" fontAlgn="base" hangingPunct="0">
              <a:spcBef>
                <a:spcPct val="0"/>
              </a:spcBef>
              <a:spcAft>
                <a:spcPct val="0"/>
              </a:spcAft>
              <a:defRPr lang="zh-CN" altLang="en-US" sz="3600" b="1" baseline="0" dirty="0" smtClean="0">
                <a:solidFill>
                  <a:schemeClr val="tx2"/>
                </a:solidFill>
                <a:latin typeface="Times New Roman" panose="02020603050405020304" pitchFamily="18" charset="0"/>
                <a:ea typeface="楷体" panose="02010609060101010101" pitchFamily="49" charset="-122"/>
                <a:cs typeface="+mj-cs"/>
              </a:defRPr>
            </a:lvl1pPr>
            <a:lvl2pPr algn="ctr" rtl="0" eaLnBrk="0" fontAlgn="base" hangingPunct="0">
              <a:spcBef>
                <a:spcPct val="0"/>
              </a:spcBef>
              <a:spcAft>
                <a:spcPct val="0"/>
              </a:spcAft>
              <a:defRPr sz="3200">
                <a:solidFill>
                  <a:schemeClr val="tx2"/>
                </a:solidFill>
                <a:latin typeface="Arial" pitchFamily="34" charset="0"/>
                <a:ea typeface="宋体" pitchFamily="2" charset="-122"/>
              </a:defRPr>
            </a:lvl2pPr>
            <a:lvl3pPr algn="ctr" rtl="0" eaLnBrk="0" fontAlgn="base" hangingPunct="0">
              <a:spcBef>
                <a:spcPct val="0"/>
              </a:spcBef>
              <a:spcAft>
                <a:spcPct val="0"/>
              </a:spcAft>
              <a:defRPr sz="3200">
                <a:solidFill>
                  <a:schemeClr val="tx2"/>
                </a:solidFill>
                <a:latin typeface="Arial" pitchFamily="34" charset="0"/>
                <a:ea typeface="宋体" pitchFamily="2" charset="-122"/>
              </a:defRPr>
            </a:lvl3pPr>
            <a:lvl4pPr algn="ctr" rtl="0" eaLnBrk="0" fontAlgn="base" hangingPunct="0">
              <a:spcBef>
                <a:spcPct val="0"/>
              </a:spcBef>
              <a:spcAft>
                <a:spcPct val="0"/>
              </a:spcAft>
              <a:defRPr sz="3200">
                <a:solidFill>
                  <a:schemeClr val="tx2"/>
                </a:solidFill>
                <a:latin typeface="Arial" pitchFamily="34" charset="0"/>
                <a:ea typeface="宋体" pitchFamily="2" charset="-122"/>
              </a:defRPr>
            </a:lvl4pPr>
            <a:lvl5pPr algn="ctr" rtl="0" eaLnBrk="0" fontAlgn="base" hangingPunct="0">
              <a:spcBef>
                <a:spcPct val="0"/>
              </a:spcBef>
              <a:spcAft>
                <a:spcPct val="0"/>
              </a:spcAft>
              <a:defRPr sz="3200">
                <a:solidFill>
                  <a:schemeClr val="tx2"/>
                </a:solidFill>
                <a:latin typeface="Arial" pitchFamily="34" charset="0"/>
                <a:ea typeface="宋体" pitchFamily="2" charset="-122"/>
              </a:defRPr>
            </a:lvl5pPr>
            <a:lvl6pPr marL="457200" algn="ctr" rtl="0" eaLnBrk="0" fontAlgn="base" hangingPunct="0">
              <a:spcBef>
                <a:spcPct val="0"/>
              </a:spcBef>
              <a:spcAft>
                <a:spcPct val="0"/>
              </a:spcAft>
              <a:defRPr sz="3200">
                <a:solidFill>
                  <a:schemeClr val="tx2"/>
                </a:solidFill>
                <a:latin typeface="Arial" pitchFamily="34" charset="0"/>
                <a:ea typeface="宋体" pitchFamily="2" charset="-122"/>
              </a:defRPr>
            </a:lvl6pPr>
            <a:lvl7pPr marL="914400" algn="ctr" rtl="0" eaLnBrk="0" fontAlgn="base" hangingPunct="0">
              <a:spcBef>
                <a:spcPct val="0"/>
              </a:spcBef>
              <a:spcAft>
                <a:spcPct val="0"/>
              </a:spcAft>
              <a:defRPr sz="3200">
                <a:solidFill>
                  <a:schemeClr val="tx2"/>
                </a:solidFill>
                <a:latin typeface="Arial" pitchFamily="34" charset="0"/>
                <a:ea typeface="宋体" pitchFamily="2" charset="-122"/>
              </a:defRPr>
            </a:lvl7pPr>
            <a:lvl8pPr marL="1371600" algn="ctr" rtl="0" eaLnBrk="0" fontAlgn="base" hangingPunct="0">
              <a:spcBef>
                <a:spcPct val="0"/>
              </a:spcBef>
              <a:spcAft>
                <a:spcPct val="0"/>
              </a:spcAft>
              <a:defRPr sz="3200">
                <a:solidFill>
                  <a:schemeClr val="tx2"/>
                </a:solidFill>
                <a:latin typeface="Arial" pitchFamily="34" charset="0"/>
                <a:ea typeface="宋体" pitchFamily="2" charset="-122"/>
              </a:defRPr>
            </a:lvl8pPr>
            <a:lvl9pPr marL="1828800" algn="ctr" rtl="0" eaLnBrk="0" fontAlgn="base" hangingPunct="0">
              <a:spcBef>
                <a:spcPct val="0"/>
              </a:spcBef>
              <a:spcAft>
                <a:spcPct val="0"/>
              </a:spcAft>
              <a:defRPr sz="3200">
                <a:solidFill>
                  <a:schemeClr val="tx2"/>
                </a:solidFill>
                <a:latin typeface="Arial" pitchFamily="34" charset="0"/>
                <a:ea typeface="宋体" pitchFamily="2" charset="-122"/>
              </a:defRPr>
            </a:lvl9pPr>
          </a:lstStyle>
          <a:p>
            <a:pPr eaLnBrk="1" hangingPunct="1"/>
            <a:r>
              <a:rPr lang="zh-CN" altLang="en-US" sz="2400" kern="0" dirty="0">
                <a:solidFill>
                  <a:srgbClr val="FF0000"/>
                </a:solidFill>
                <a:latin typeface="+mn-ea"/>
                <a:ea typeface="+mn-ea"/>
              </a:rPr>
              <a:t>例</a:t>
            </a:r>
            <a:r>
              <a:rPr lang="en-US" altLang="zh-CN" sz="2400" kern="0" dirty="0">
                <a:solidFill>
                  <a:srgbClr val="FF0000"/>
                </a:solidFill>
                <a:latin typeface="+mn-ea"/>
                <a:ea typeface="+mn-ea"/>
              </a:rPr>
              <a:t>2</a:t>
            </a:r>
          </a:p>
        </p:txBody>
      </p:sp>
      <p:graphicFrame>
        <p:nvGraphicFramePr>
          <p:cNvPr id="6" name="Object 4">
            <a:extLst>
              <a:ext uri="{FF2B5EF4-FFF2-40B4-BE49-F238E27FC236}">
                <a16:creationId xmlns:a16="http://schemas.microsoft.com/office/drawing/2014/main" xmlns="" id="{367D0BB5-2EE1-11DB-4C82-CEBC3F868954}"/>
              </a:ext>
            </a:extLst>
          </p:cNvPr>
          <p:cNvGraphicFramePr>
            <a:graphicFrameLocks noChangeAspect="1"/>
          </p:cNvGraphicFramePr>
          <p:nvPr>
            <p:extLst>
              <p:ext uri="{D42A27DB-BD31-4B8C-83A1-F6EECF244321}">
                <p14:modId xmlns:p14="http://schemas.microsoft.com/office/powerpoint/2010/main" val="308287066"/>
              </p:ext>
            </p:extLst>
          </p:nvPr>
        </p:nvGraphicFramePr>
        <p:xfrm>
          <a:off x="1187624" y="1457525"/>
          <a:ext cx="5760640" cy="1203325"/>
        </p:xfrm>
        <a:graphic>
          <a:graphicData uri="http://schemas.openxmlformats.org/presentationml/2006/ole">
            <mc:AlternateContent xmlns:mc="http://schemas.openxmlformats.org/markup-compatibility/2006">
              <mc:Choice xmlns:v="urn:schemas-microsoft-com:vml" Requires="v">
                <p:oleObj spid="_x0000_s142394" name="Equation" r:id="rId3" imgW="3035300" imgH="698500" progId="Equation.DSMT4">
                  <p:embed/>
                </p:oleObj>
              </mc:Choice>
              <mc:Fallback>
                <p:oleObj name="Equation" r:id="rId3" imgW="3035300" imgH="6985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7624" y="1457525"/>
                        <a:ext cx="5760640" cy="1203325"/>
                      </a:xfrm>
                      <a:prstGeom prst="rect">
                        <a:avLst/>
                      </a:prstGeom>
                      <a:noFill/>
                      <a:ln>
                        <a:noFill/>
                      </a:ln>
                      <a:extLst/>
                    </p:spPr>
                  </p:pic>
                </p:oleObj>
              </mc:Fallback>
            </mc:AlternateContent>
          </a:graphicData>
        </a:graphic>
      </p:graphicFrame>
      <p:graphicFrame>
        <p:nvGraphicFramePr>
          <p:cNvPr id="7" name="Object 2">
            <a:extLst>
              <a:ext uri="{FF2B5EF4-FFF2-40B4-BE49-F238E27FC236}">
                <a16:creationId xmlns:a16="http://schemas.microsoft.com/office/drawing/2014/main" xmlns="" id="{E6C46E6E-AA99-1F2E-AA55-BD80EBADB5EE}"/>
              </a:ext>
            </a:extLst>
          </p:cNvPr>
          <p:cNvGraphicFramePr>
            <a:graphicFrameLocks noChangeAspect="1"/>
          </p:cNvGraphicFramePr>
          <p:nvPr>
            <p:extLst>
              <p:ext uri="{D42A27DB-BD31-4B8C-83A1-F6EECF244321}">
                <p14:modId xmlns:p14="http://schemas.microsoft.com/office/powerpoint/2010/main" val="2804626653"/>
              </p:ext>
            </p:extLst>
          </p:nvPr>
        </p:nvGraphicFramePr>
        <p:xfrm>
          <a:off x="5724128" y="2492896"/>
          <a:ext cx="3282947" cy="3087601"/>
        </p:xfrm>
        <a:graphic>
          <a:graphicData uri="http://schemas.openxmlformats.org/presentationml/2006/ole">
            <mc:AlternateContent xmlns:mc="http://schemas.openxmlformats.org/markup-compatibility/2006">
              <mc:Choice xmlns:v="urn:schemas-microsoft-com:vml" Requires="v">
                <p:oleObj spid="_x0000_s142395" r:id="rId5" imgW="3381847" imgH="3057143" progId="Paint.Picture">
                  <p:embed/>
                </p:oleObj>
              </mc:Choice>
              <mc:Fallback>
                <p:oleObj r:id="rId5" imgW="3381847" imgH="3057143" progId="Paint.Picture">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24128" y="2492896"/>
                        <a:ext cx="3282947" cy="3087601"/>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2317525720"/>
      </p:ext>
    </p:extLst>
  </p:cSld>
  <p:clrMapOvr>
    <a:masterClrMapping/>
  </p:clrMapOvr>
  <p:timing>
    <p:tnLst>
      <p:par>
        <p:cTn id="1" dur="indefinite" restart="never" nodeType="tmRoot"/>
      </p:par>
    </p:tn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185</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5.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正弦波</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振荡器</a:t>
            </a:r>
          </a:p>
        </p:txBody>
      </p:sp>
      <p:sp>
        <p:nvSpPr>
          <p:cNvPr id="5" name="Rectangle 3">
            <a:extLst>
              <a:ext uri="{FF2B5EF4-FFF2-40B4-BE49-F238E27FC236}">
                <a16:creationId xmlns:a16="http://schemas.microsoft.com/office/drawing/2014/main" xmlns="" id="{585263D2-A657-BC2D-994A-DBD94A36B9D5}"/>
              </a:ext>
            </a:extLst>
          </p:cNvPr>
          <p:cNvSpPr txBox="1">
            <a:spLocks noChangeArrowheads="1"/>
          </p:cNvSpPr>
          <p:nvPr/>
        </p:nvSpPr>
        <p:spPr>
          <a:xfrm>
            <a:off x="487958" y="1364705"/>
            <a:ext cx="8229600" cy="584200"/>
          </a:xfrm>
          <a:prstGeom prst="rect">
            <a:avLst/>
          </a:prstGeom>
        </p:spPr>
        <p:txBody>
          <a:bodyPr/>
          <a:lstStyle>
            <a:lvl1pPr algn="l" rtl="0" eaLnBrk="0" fontAlgn="base" hangingPunct="0">
              <a:spcBef>
                <a:spcPct val="0"/>
              </a:spcBef>
              <a:spcAft>
                <a:spcPct val="0"/>
              </a:spcAft>
              <a:defRPr lang="zh-CN" altLang="en-US" sz="3600" b="1" baseline="0" dirty="0" smtClean="0">
                <a:solidFill>
                  <a:schemeClr val="tx2"/>
                </a:solidFill>
                <a:latin typeface="Times New Roman" panose="02020603050405020304" pitchFamily="18" charset="0"/>
                <a:ea typeface="楷体" panose="02010609060101010101" pitchFamily="49" charset="-122"/>
                <a:cs typeface="+mj-cs"/>
              </a:defRPr>
            </a:lvl1pPr>
            <a:lvl2pPr algn="ctr" rtl="0" eaLnBrk="0" fontAlgn="base" hangingPunct="0">
              <a:spcBef>
                <a:spcPct val="0"/>
              </a:spcBef>
              <a:spcAft>
                <a:spcPct val="0"/>
              </a:spcAft>
              <a:defRPr sz="3200">
                <a:solidFill>
                  <a:schemeClr val="tx2"/>
                </a:solidFill>
                <a:latin typeface="Arial" pitchFamily="34" charset="0"/>
                <a:ea typeface="宋体" pitchFamily="2" charset="-122"/>
              </a:defRPr>
            </a:lvl2pPr>
            <a:lvl3pPr algn="ctr" rtl="0" eaLnBrk="0" fontAlgn="base" hangingPunct="0">
              <a:spcBef>
                <a:spcPct val="0"/>
              </a:spcBef>
              <a:spcAft>
                <a:spcPct val="0"/>
              </a:spcAft>
              <a:defRPr sz="3200">
                <a:solidFill>
                  <a:schemeClr val="tx2"/>
                </a:solidFill>
                <a:latin typeface="Arial" pitchFamily="34" charset="0"/>
                <a:ea typeface="宋体" pitchFamily="2" charset="-122"/>
              </a:defRPr>
            </a:lvl3pPr>
            <a:lvl4pPr algn="ctr" rtl="0" eaLnBrk="0" fontAlgn="base" hangingPunct="0">
              <a:spcBef>
                <a:spcPct val="0"/>
              </a:spcBef>
              <a:spcAft>
                <a:spcPct val="0"/>
              </a:spcAft>
              <a:defRPr sz="3200">
                <a:solidFill>
                  <a:schemeClr val="tx2"/>
                </a:solidFill>
                <a:latin typeface="Arial" pitchFamily="34" charset="0"/>
                <a:ea typeface="宋体" pitchFamily="2" charset="-122"/>
              </a:defRPr>
            </a:lvl4pPr>
            <a:lvl5pPr algn="ctr" rtl="0" eaLnBrk="0" fontAlgn="base" hangingPunct="0">
              <a:spcBef>
                <a:spcPct val="0"/>
              </a:spcBef>
              <a:spcAft>
                <a:spcPct val="0"/>
              </a:spcAft>
              <a:defRPr sz="3200">
                <a:solidFill>
                  <a:schemeClr val="tx2"/>
                </a:solidFill>
                <a:latin typeface="Arial" pitchFamily="34" charset="0"/>
                <a:ea typeface="宋体" pitchFamily="2" charset="-122"/>
              </a:defRPr>
            </a:lvl5pPr>
            <a:lvl6pPr marL="457200" algn="ctr" rtl="0" eaLnBrk="0" fontAlgn="base" hangingPunct="0">
              <a:spcBef>
                <a:spcPct val="0"/>
              </a:spcBef>
              <a:spcAft>
                <a:spcPct val="0"/>
              </a:spcAft>
              <a:defRPr sz="3200">
                <a:solidFill>
                  <a:schemeClr val="tx2"/>
                </a:solidFill>
                <a:latin typeface="Arial" pitchFamily="34" charset="0"/>
                <a:ea typeface="宋体" pitchFamily="2" charset="-122"/>
              </a:defRPr>
            </a:lvl6pPr>
            <a:lvl7pPr marL="914400" algn="ctr" rtl="0" eaLnBrk="0" fontAlgn="base" hangingPunct="0">
              <a:spcBef>
                <a:spcPct val="0"/>
              </a:spcBef>
              <a:spcAft>
                <a:spcPct val="0"/>
              </a:spcAft>
              <a:defRPr sz="3200">
                <a:solidFill>
                  <a:schemeClr val="tx2"/>
                </a:solidFill>
                <a:latin typeface="Arial" pitchFamily="34" charset="0"/>
                <a:ea typeface="宋体" pitchFamily="2" charset="-122"/>
              </a:defRPr>
            </a:lvl7pPr>
            <a:lvl8pPr marL="1371600" algn="ctr" rtl="0" eaLnBrk="0" fontAlgn="base" hangingPunct="0">
              <a:spcBef>
                <a:spcPct val="0"/>
              </a:spcBef>
              <a:spcAft>
                <a:spcPct val="0"/>
              </a:spcAft>
              <a:defRPr sz="3200">
                <a:solidFill>
                  <a:schemeClr val="tx2"/>
                </a:solidFill>
                <a:latin typeface="Arial" pitchFamily="34" charset="0"/>
                <a:ea typeface="宋体" pitchFamily="2" charset="-122"/>
              </a:defRPr>
            </a:lvl8pPr>
            <a:lvl9pPr marL="1828800" algn="ctr" rtl="0" eaLnBrk="0" fontAlgn="base" hangingPunct="0">
              <a:spcBef>
                <a:spcPct val="0"/>
              </a:spcBef>
              <a:spcAft>
                <a:spcPct val="0"/>
              </a:spcAft>
              <a:defRPr sz="3200">
                <a:solidFill>
                  <a:schemeClr val="tx2"/>
                </a:solidFill>
                <a:latin typeface="Arial" pitchFamily="34" charset="0"/>
                <a:ea typeface="宋体" pitchFamily="2" charset="-122"/>
              </a:defRPr>
            </a:lvl9pPr>
          </a:lstStyle>
          <a:p>
            <a:pPr eaLnBrk="1" hangingPunct="1"/>
            <a:r>
              <a:rPr lang="zh-CN" altLang="en-US" sz="2400" kern="0" dirty="0">
                <a:solidFill>
                  <a:srgbClr val="FF0000"/>
                </a:solidFill>
                <a:ea typeface="+mn-ea"/>
                <a:cs typeface="Times New Roman" panose="02020603050405020304" pitchFamily="18" charset="0"/>
              </a:rPr>
              <a:t>例</a:t>
            </a:r>
            <a:r>
              <a:rPr lang="en-US" altLang="zh-CN" sz="2400" kern="0" dirty="0">
                <a:solidFill>
                  <a:srgbClr val="FF0000"/>
                </a:solidFill>
                <a:ea typeface="+mn-ea"/>
                <a:cs typeface="Times New Roman" panose="02020603050405020304" pitchFamily="18" charset="0"/>
              </a:rPr>
              <a:t>2</a:t>
            </a:r>
          </a:p>
        </p:txBody>
      </p:sp>
      <p:graphicFrame>
        <p:nvGraphicFramePr>
          <p:cNvPr id="6" name="Object 4">
            <a:extLst>
              <a:ext uri="{FF2B5EF4-FFF2-40B4-BE49-F238E27FC236}">
                <a16:creationId xmlns:a16="http://schemas.microsoft.com/office/drawing/2014/main" xmlns="" id="{367D0BB5-2EE1-11DB-4C82-CEBC3F868954}"/>
              </a:ext>
            </a:extLst>
          </p:cNvPr>
          <p:cNvGraphicFramePr>
            <a:graphicFrameLocks noChangeAspect="1"/>
          </p:cNvGraphicFramePr>
          <p:nvPr>
            <p:extLst>
              <p:ext uri="{D42A27DB-BD31-4B8C-83A1-F6EECF244321}">
                <p14:modId xmlns:p14="http://schemas.microsoft.com/office/powerpoint/2010/main" val="991925491"/>
              </p:ext>
            </p:extLst>
          </p:nvPr>
        </p:nvGraphicFramePr>
        <p:xfrm>
          <a:off x="1187624" y="1457525"/>
          <a:ext cx="5760640" cy="1203325"/>
        </p:xfrm>
        <a:graphic>
          <a:graphicData uri="http://schemas.openxmlformats.org/presentationml/2006/ole">
            <mc:AlternateContent xmlns:mc="http://schemas.openxmlformats.org/markup-compatibility/2006">
              <mc:Choice xmlns:v="urn:schemas-microsoft-com:vml" Requires="v">
                <p:oleObj spid="_x0000_s143502" name="Equation" r:id="rId3" imgW="3035300" imgH="698500" progId="Equation.DSMT4">
                  <p:embed/>
                </p:oleObj>
              </mc:Choice>
              <mc:Fallback>
                <p:oleObj name="Equation" r:id="rId3" imgW="3035300" imgH="6985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7624" y="1457525"/>
                        <a:ext cx="5760640" cy="1203325"/>
                      </a:xfrm>
                      <a:prstGeom prst="rect">
                        <a:avLst/>
                      </a:prstGeom>
                      <a:noFill/>
                      <a:ln>
                        <a:noFill/>
                      </a:ln>
                      <a:extLst/>
                    </p:spPr>
                  </p:pic>
                </p:oleObj>
              </mc:Fallback>
            </mc:AlternateContent>
          </a:graphicData>
        </a:graphic>
      </p:graphicFrame>
      <p:graphicFrame>
        <p:nvGraphicFramePr>
          <p:cNvPr id="7" name="Object 5">
            <a:extLst>
              <a:ext uri="{FF2B5EF4-FFF2-40B4-BE49-F238E27FC236}">
                <a16:creationId xmlns:a16="http://schemas.microsoft.com/office/drawing/2014/main" xmlns="" id="{0E1A4848-1EAF-5A7A-A8BB-072311406E26}"/>
              </a:ext>
            </a:extLst>
          </p:cNvPr>
          <p:cNvGraphicFramePr>
            <a:graphicFrameLocks noChangeAspect="1"/>
          </p:cNvGraphicFramePr>
          <p:nvPr>
            <p:extLst>
              <p:ext uri="{D42A27DB-BD31-4B8C-83A1-F6EECF244321}">
                <p14:modId xmlns:p14="http://schemas.microsoft.com/office/powerpoint/2010/main" val="916699111"/>
              </p:ext>
            </p:extLst>
          </p:nvPr>
        </p:nvGraphicFramePr>
        <p:xfrm>
          <a:off x="566155" y="2616401"/>
          <a:ext cx="5080000" cy="2174875"/>
        </p:xfrm>
        <a:graphic>
          <a:graphicData uri="http://schemas.openxmlformats.org/presentationml/2006/ole">
            <mc:AlternateContent xmlns:mc="http://schemas.openxmlformats.org/markup-compatibility/2006">
              <mc:Choice xmlns:v="urn:schemas-microsoft-com:vml" Requires="v">
                <p:oleObj spid="_x0000_s143503" r:id="rId5" imgW="3086100" imgH="1320800" progId="Equation.3">
                  <p:embed/>
                </p:oleObj>
              </mc:Choice>
              <mc:Fallback>
                <p:oleObj r:id="rId5" imgW="3086100" imgH="13208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6155" y="2616401"/>
                        <a:ext cx="5080000" cy="217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 name="Object 6">
            <a:extLst>
              <a:ext uri="{FF2B5EF4-FFF2-40B4-BE49-F238E27FC236}">
                <a16:creationId xmlns:a16="http://schemas.microsoft.com/office/drawing/2014/main" xmlns="" id="{D1471465-3FCD-AEB9-98FC-0BE68C17E45C}"/>
              </a:ext>
            </a:extLst>
          </p:cNvPr>
          <p:cNvGraphicFramePr>
            <a:graphicFrameLocks noChangeAspect="1"/>
          </p:cNvGraphicFramePr>
          <p:nvPr>
            <p:extLst>
              <p:ext uri="{D42A27DB-BD31-4B8C-83A1-F6EECF244321}">
                <p14:modId xmlns:p14="http://schemas.microsoft.com/office/powerpoint/2010/main" val="340155052"/>
              </p:ext>
            </p:extLst>
          </p:nvPr>
        </p:nvGraphicFramePr>
        <p:xfrm>
          <a:off x="566155" y="4943776"/>
          <a:ext cx="3744913" cy="735012"/>
        </p:xfrm>
        <a:graphic>
          <a:graphicData uri="http://schemas.openxmlformats.org/presentationml/2006/ole">
            <mc:AlternateContent xmlns:mc="http://schemas.openxmlformats.org/markup-compatibility/2006">
              <mc:Choice xmlns:v="urn:schemas-microsoft-com:vml" Requires="v">
                <p:oleObj spid="_x0000_s143504" r:id="rId7" imgW="2260600" imgH="444500" progId="Equation.3">
                  <p:embed/>
                </p:oleObj>
              </mc:Choice>
              <mc:Fallback>
                <p:oleObj r:id="rId7" imgW="2260600" imgH="4445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66155" y="4943776"/>
                        <a:ext cx="3744913" cy="735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9" name="Object 7">
            <a:extLst>
              <a:ext uri="{FF2B5EF4-FFF2-40B4-BE49-F238E27FC236}">
                <a16:creationId xmlns:a16="http://schemas.microsoft.com/office/drawing/2014/main" xmlns="" id="{E219297C-5EC7-DE87-59A3-C1C6ABF42AA2}"/>
              </a:ext>
            </a:extLst>
          </p:cNvPr>
          <p:cNvGraphicFramePr>
            <a:graphicFrameLocks noChangeAspect="1"/>
          </p:cNvGraphicFramePr>
          <p:nvPr>
            <p:extLst>
              <p:ext uri="{D42A27DB-BD31-4B8C-83A1-F6EECF244321}">
                <p14:modId xmlns:p14="http://schemas.microsoft.com/office/powerpoint/2010/main" val="1913289006"/>
              </p:ext>
            </p:extLst>
          </p:nvPr>
        </p:nvGraphicFramePr>
        <p:xfrm>
          <a:off x="1691680" y="5745162"/>
          <a:ext cx="2081212" cy="782638"/>
        </p:xfrm>
        <a:graphic>
          <a:graphicData uri="http://schemas.openxmlformats.org/presentationml/2006/ole">
            <mc:AlternateContent xmlns:mc="http://schemas.openxmlformats.org/markup-compatibility/2006">
              <mc:Choice xmlns:v="urn:schemas-microsoft-com:vml" Requires="v">
                <p:oleObj spid="_x0000_s143505" r:id="rId9" imgW="1079032" imgH="406224" progId="Equation.3">
                  <p:embed/>
                </p:oleObj>
              </mc:Choice>
              <mc:Fallback>
                <p:oleObj r:id="rId9" imgW="1079032" imgH="406224" progId="Equation.3">
                  <p:embed/>
                  <p:pic>
                    <p:nvPicPr>
                      <p:cNvPr id="0" name=""/>
                      <p:cNvPicPr>
                        <a:picLocks noGrp="1"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91680" y="5745162"/>
                        <a:ext cx="2081212" cy="782638"/>
                      </a:xfrm>
                      <a:prstGeom prst="rect">
                        <a:avLst/>
                      </a:prstGeom>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0" name="Object 2">
            <a:extLst>
              <a:ext uri="{FF2B5EF4-FFF2-40B4-BE49-F238E27FC236}">
                <a16:creationId xmlns:a16="http://schemas.microsoft.com/office/drawing/2014/main" xmlns="" id="{E6C46E6E-AA99-1F2E-AA55-BD80EBADB5EE}"/>
              </a:ext>
            </a:extLst>
          </p:cNvPr>
          <p:cNvGraphicFramePr>
            <a:graphicFrameLocks noChangeAspect="1"/>
          </p:cNvGraphicFramePr>
          <p:nvPr>
            <p:extLst>
              <p:ext uri="{D42A27DB-BD31-4B8C-83A1-F6EECF244321}">
                <p14:modId xmlns:p14="http://schemas.microsoft.com/office/powerpoint/2010/main" val="1536788404"/>
              </p:ext>
            </p:extLst>
          </p:nvPr>
        </p:nvGraphicFramePr>
        <p:xfrm>
          <a:off x="5724128" y="2492896"/>
          <a:ext cx="3282947" cy="3087601"/>
        </p:xfrm>
        <a:graphic>
          <a:graphicData uri="http://schemas.openxmlformats.org/presentationml/2006/ole">
            <mc:AlternateContent xmlns:mc="http://schemas.openxmlformats.org/markup-compatibility/2006">
              <mc:Choice xmlns:v="urn:schemas-microsoft-com:vml" Requires="v">
                <p:oleObj spid="_x0000_s143506" r:id="rId11" imgW="3381847" imgH="3057143" progId="Paint.Picture">
                  <p:embed/>
                </p:oleObj>
              </mc:Choice>
              <mc:Fallback>
                <p:oleObj r:id="rId11" imgW="3381847" imgH="3057143" progId="Paint.Picture">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724128" y="2492896"/>
                        <a:ext cx="3282947" cy="3087601"/>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50287871"/>
      </p:ext>
    </p:extLst>
  </p:cSld>
  <p:clrMapOvr>
    <a:masterClrMapping/>
  </p:clrMapOvr>
  <p:timing>
    <p:tnLst>
      <p:par>
        <p:cTn id="1" dur="indefinite" restart="never" nodeType="tmRoot"/>
      </p:par>
    </p:tn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186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5.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正弦波</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振荡器</a:t>
            </a:r>
          </a:p>
        </p:txBody>
      </p:sp>
      <p:sp>
        <p:nvSpPr>
          <p:cNvPr id="5" name="Rectangle 2">
            <a:extLst>
              <a:ext uri="{FF2B5EF4-FFF2-40B4-BE49-F238E27FC236}">
                <a16:creationId xmlns:a16="http://schemas.microsoft.com/office/drawing/2014/main" xmlns="" id="{97C873C3-1721-E626-B209-E1E988E1A8CE}"/>
              </a:ext>
            </a:extLst>
          </p:cNvPr>
          <p:cNvSpPr txBox="1">
            <a:spLocks noChangeArrowheads="1"/>
          </p:cNvSpPr>
          <p:nvPr/>
        </p:nvSpPr>
        <p:spPr>
          <a:xfrm>
            <a:off x="191557" y="1385887"/>
            <a:ext cx="842963" cy="396875"/>
          </a:xfrm>
          <a:prstGeom prst="rect">
            <a:avLst/>
          </a:prstGeom>
        </p:spPr>
        <p:txBody>
          <a:bodyPr/>
          <a:lstStyle>
            <a:lvl1pPr algn="l" rtl="0" eaLnBrk="0" fontAlgn="base" hangingPunct="0">
              <a:spcBef>
                <a:spcPct val="0"/>
              </a:spcBef>
              <a:spcAft>
                <a:spcPct val="0"/>
              </a:spcAft>
              <a:defRPr lang="zh-CN" altLang="en-US" sz="3600" b="1" baseline="0" dirty="0" smtClean="0">
                <a:solidFill>
                  <a:schemeClr val="tx2"/>
                </a:solidFill>
                <a:latin typeface="Times New Roman" panose="02020603050405020304" pitchFamily="18" charset="0"/>
                <a:ea typeface="楷体" panose="02010609060101010101" pitchFamily="49" charset="-122"/>
                <a:cs typeface="+mj-cs"/>
              </a:defRPr>
            </a:lvl1pPr>
            <a:lvl2pPr algn="ctr" rtl="0" eaLnBrk="0" fontAlgn="base" hangingPunct="0">
              <a:spcBef>
                <a:spcPct val="0"/>
              </a:spcBef>
              <a:spcAft>
                <a:spcPct val="0"/>
              </a:spcAft>
              <a:defRPr sz="3200">
                <a:solidFill>
                  <a:schemeClr val="tx2"/>
                </a:solidFill>
                <a:latin typeface="Arial" pitchFamily="34" charset="0"/>
                <a:ea typeface="宋体" pitchFamily="2" charset="-122"/>
              </a:defRPr>
            </a:lvl2pPr>
            <a:lvl3pPr algn="ctr" rtl="0" eaLnBrk="0" fontAlgn="base" hangingPunct="0">
              <a:spcBef>
                <a:spcPct val="0"/>
              </a:spcBef>
              <a:spcAft>
                <a:spcPct val="0"/>
              </a:spcAft>
              <a:defRPr sz="3200">
                <a:solidFill>
                  <a:schemeClr val="tx2"/>
                </a:solidFill>
                <a:latin typeface="Arial" pitchFamily="34" charset="0"/>
                <a:ea typeface="宋体" pitchFamily="2" charset="-122"/>
              </a:defRPr>
            </a:lvl3pPr>
            <a:lvl4pPr algn="ctr" rtl="0" eaLnBrk="0" fontAlgn="base" hangingPunct="0">
              <a:spcBef>
                <a:spcPct val="0"/>
              </a:spcBef>
              <a:spcAft>
                <a:spcPct val="0"/>
              </a:spcAft>
              <a:defRPr sz="3200">
                <a:solidFill>
                  <a:schemeClr val="tx2"/>
                </a:solidFill>
                <a:latin typeface="Arial" pitchFamily="34" charset="0"/>
                <a:ea typeface="宋体" pitchFamily="2" charset="-122"/>
              </a:defRPr>
            </a:lvl4pPr>
            <a:lvl5pPr algn="ctr" rtl="0" eaLnBrk="0" fontAlgn="base" hangingPunct="0">
              <a:spcBef>
                <a:spcPct val="0"/>
              </a:spcBef>
              <a:spcAft>
                <a:spcPct val="0"/>
              </a:spcAft>
              <a:defRPr sz="3200">
                <a:solidFill>
                  <a:schemeClr val="tx2"/>
                </a:solidFill>
                <a:latin typeface="Arial" pitchFamily="34" charset="0"/>
                <a:ea typeface="宋体" pitchFamily="2" charset="-122"/>
              </a:defRPr>
            </a:lvl5pPr>
            <a:lvl6pPr marL="457200" algn="ctr" rtl="0" eaLnBrk="0" fontAlgn="base" hangingPunct="0">
              <a:spcBef>
                <a:spcPct val="0"/>
              </a:spcBef>
              <a:spcAft>
                <a:spcPct val="0"/>
              </a:spcAft>
              <a:defRPr sz="3200">
                <a:solidFill>
                  <a:schemeClr val="tx2"/>
                </a:solidFill>
                <a:latin typeface="Arial" pitchFamily="34" charset="0"/>
                <a:ea typeface="宋体" pitchFamily="2" charset="-122"/>
              </a:defRPr>
            </a:lvl6pPr>
            <a:lvl7pPr marL="914400" algn="ctr" rtl="0" eaLnBrk="0" fontAlgn="base" hangingPunct="0">
              <a:spcBef>
                <a:spcPct val="0"/>
              </a:spcBef>
              <a:spcAft>
                <a:spcPct val="0"/>
              </a:spcAft>
              <a:defRPr sz="3200">
                <a:solidFill>
                  <a:schemeClr val="tx2"/>
                </a:solidFill>
                <a:latin typeface="Arial" pitchFamily="34" charset="0"/>
                <a:ea typeface="宋体" pitchFamily="2" charset="-122"/>
              </a:defRPr>
            </a:lvl7pPr>
            <a:lvl8pPr marL="1371600" algn="ctr" rtl="0" eaLnBrk="0" fontAlgn="base" hangingPunct="0">
              <a:spcBef>
                <a:spcPct val="0"/>
              </a:spcBef>
              <a:spcAft>
                <a:spcPct val="0"/>
              </a:spcAft>
              <a:defRPr sz="3200">
                <a:solidFill>
                  <a:schemeClr val="tx2"/>
                </a:solidFill>
                <a:latin typeface="Arial" pitchFamily="34" charset="0"/>
                <a:ea typeface="宋体" pitchFamily="2" charset="-122"/>
              </a:defRPr>
            </a:lvl8pPr>
            <a:lvl9pPr marL="1828800" algn="ctr" rtl="0" eaLnBrk="0" fontAlgn="base" hangingPunct="0">
              <a:spcBef>
                <a:spcPct val="0"/>
              </a:spcBef>
              <a:spcAft>
                <a:spcPct val="0"/>
              </a:spcAft>
              <a:defRPr sz="3200">
                <a:solidFill>
                  <a:schemeClr val="tx2"/>
                </a:solidFill>
                <a:latin typeface="Arial" pitchFamily="34" charset="0"/>
                <a:ea typeface="宋体" pitchFamily="2" charset="-122"/>
              </a:defRPr>
            </a:lvl9pPr>
          </a:lstStyle>
          <a:p>
            <a:pPr eaLnBrk="1" hangingPunct="1"/>
            <a:r>
              <a:rPr lang="zh-CN" altLang="en-US" sz="2400" kern="0" dirty="0">
                <a:solidFill>
                  <a:srgbClr val="FF0000"/>
                </a:solidFill>
                <a:latin typeface="+mn-ea"/>
                <a:ea typeface="+mn-ea"/>
              </a:rPr>
              <a:t>例</a:t>
            </a:r>
            <a:r>
              <a:rPr lang="en-US" altLang="zh-CN" sz="2400" kern="0" dirty="0">
                <a:solidFill>
                  <a:srgbClr val="FF0000"/>
                </a:solidFill>
                <a:latin typeface="+mn-ea"/>
                <a:ea typeface="+mn-ea"/>
              </a:rPr>
              <a:t>3</a:t>
            </a:r>
          </a:p>
        </p:txBody>
      </p:sp>
      <p:graphicFrame>
        <p:nvGraphicFramePr>
          <p:cNvPr id="6" name="Object 3">
            <a:extLst>
              <a:ext uri="{FF2B5EF4-FFF2-40B4-BE49-F238E27FC236}">
                <a16:creationId xmlns:a16="http://schemas.microsoft.com/office/drawing/2014/main" xmlns="" id="{D7B7C10B-132D-9F8E-B968-B9EB8D2320A7}"/>
              </a:ext>
            </a:extLst>
          </p:cNvPr>
          <p:cNvGraphicFramePr>
            <a:graphicFrameLocks noChangeAspect="1"/>
          </p:cNvGraphicFramePr>
          <p:nvPr>
            <p:extLst>
              <p:ext uri="{D42A27DB-BD31-4B8C-83A1-F6EECF244321}">
                <p14:modId xmlns:p14="http://schemas.microsoft.com/office/powerpoint/2010/main" val="2394790708"/>
              </p:ext>
            </p:extLst>
          </p:nvPr>
        </p:nvGraphicFramePr>
        <p:xfrm>
          <a:off x="910433" y="1489532"/>
          <a:ext cx="5295900" cy="1844675"/>
        </p:xfrm>
        <a:graphic>
          <a:graphicData uri="http://schemas.openxmlformats.org/presentationml/2006/ole">
            <mc:AlternateContent xmlns:mc="http://schemas.openxmlformats.org/markup-compatibility/2006">
              <mc:Choice xmlns:v="urn:schemas-microsoft-com:vml" Requires="v">
                <p:oleObj spid="_x0000_s144442" r:id="rId3" imgW="3124200" imgH="1143000" progId="Equation.3">
                  <p:embed/>
                </p:oleObj>
              </mc:Choice>
              <mc:Fallback>
                <p:oleObj r:id="rId3" imgW="3124200" imgH="11430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0433" y="1489532"/>
                        <a:ext cx="5295900" cy="184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pic>
        <p:nvPicPr>
          <p:cNvPr id="7" name="图片 6">
            <a:extLst>
              <a:ext uri="{FF2B5EF4-FFF2-40B4-BE49-F238E27FC236}">
                <a16:creationId xmlns:a16="http://schemas.microsoft.com/office/drawing/2014/main" xmlns="" id="{2791041C-278A-F59D-5EE7-870DCADFA4E0}"/>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6100632" y="1488017"/>
            <a:ext cx="2942670" cy="2117702"/>
          </a:xfrm>
          <a:prstGeom prst="rect">
            <a:avLst/>
          </a:prstGeom>
        </p:spPr>
      </p:pic>
      <p:graphicFrame>
        <p:nvGraphicFramePr>
          <p:cNvPr id="8" name="对象 7">
            <a:extLst>
              <a:ext uri="{FF2B5EF4-FFF2-40B4-BE49-F238E27FC236}">
                <a16:creationId xmlns:a16="http://schemas.microsoft.com/office/drawing/2014/main" xmlns="" id="{F013C8A1-B34A-FC72-6F11-EFA733FFBA53}"/>
              </a:ext>
            </a:extLst>
          </p:cNvPr>
          <p:cNvGraphicFramePr>
            <a:graphicFrameLocks noChangeAspect="1"/>
          </p:cNvGraphicFramePr>
          <p:nvPr>
            <p:extLst>
              <p:ext uri="{D42A27DB-BD31-4B8C-83A1-F6EECF244321}">
                <p14:modId xmlns:p14="http://schemas.microsoft.com/office/powerpoint/2010/main" val="2254761813"/>
              </p:ext>
            </p:extLst>
          </p:nvPr>
        </p:nvGraphicFramePr>
        <p:xfrm>
          <a:off x="878683" y="4000498"/>
          <a:ext cx="5327650" cy="755650"/>
        </p:xfrm>
        <a:graphic>
          <a:graphicData uri="http://schemas.openxmlformats.org/presentationml/2006/ole">
            <mc:AlternateContent xmlns:mc="http://schemas.openxmlformats.org/markup-compatibility/2006">
              <mc:Choice xmlns:v="urn:schemas-microsoft-com:vml" Requires="v">
                <p:oleObj spid="_x0000_s144443" name="Equation" r:id="rId6" imgW="5328037" imgH="756027" progId="Equation.DSMT4">
                  <p:embed/>
                </p:oleObj>
              </mc:Choice>
              <mc:Fallback>
                <p:oleObj name="Equation" r:id="rId6" imgW="5328037" imgH="756027" progId="Equation.DSMT4">
                  <p:embed/>
                  <p:pic>
                    <p:nvPicPr>
                      <p:cNvPr id="0" name=""/>
                      <p:cNvPicPr/>
                      <p:nvPr/>
                    </p:nvPicPr>
                    <p:blipFill>
                      <a:blip r:embed="rId7"/>
                      <a:stretch>
                        <a:fillRect/>
                      </a:stretch>
                    </p:blipFill>
                    <p:spPr>
                      <a:xfrm>
                        <a:off x="878683" y="4000498"/>
                        <a:ext cx="5327650" cy="755650"/>
                      </a:xfrm>
                      <a:prstGeom prst="rect">
                        <a:avLst/>
                      </a:prstGeom>
                    </p:spPr>
                  </p:pic>
                </p:oleObj>
              </mc:Fallback>
            </mc:AlternateContent>
          </a:graphicData>
        </a:graphic>
      </p:graphicFrame>
      <p:pic>
        <p:nvPicPr>
          <p:cNvPr id="9" name="图片 8">
            <a:extLst>
              <a:ext uri="{FF2B5EF4-FFF2-40B4-BE49-F238E27FC236}">
                <a16:creationId xmlns:a16="http://schemas.microsoft.com/office/drawing/2014/main" xmlns="" id="{ACF6DD9A-9D5A-9F94-AB15-F1C5A0B71400}"/>
              </a:ext>
            </a:extLst>
          </p:cNvPr>
          <p:cNvPicPr>
            <a:picLocks noChangeAspect="1"/>
          </p:cNvPicPr>
          <p:nvPr/>
        </p:nvPicPr>
        <p:blipFill>
          <a:blip r:embed="rId8"/>
          <a:stretch>
            <a:fillRect/>
          </a:stretch>
        </p:blipFill>
        <p:spPr>
          <a:xfrm>
            <a:off x="6519098" y="3334207"/>
            <a:ext cx="2426692" cy="2088232"/>
          </a:xfrm>
          <a:prstGeom prst="rect">
            <a:avLst/>
          </a:prstGeom>
        </p:spPr>
      </p:pic>
    </p:spTree>
    <p:extLst>
      <p:ext uri="{BB962C8B-B14F-4D97-AF65-F5344CB8AC3E}">
        <p14:creationId xmlns:p14="http://schemas.microsoft.com/office/powerpoint/2010/main" val="939243535"/>
      </p:ext>
    </p:extLst>
  </p:cSld>
  <p:clrMapOvr>
    <a:masterClrMapping/>
  </p:clrMapOvr>
  <p:timing>
    <p:tnLst>
      <p:par>
        <p:cTn id="1" dur="indefinite" restart="never" nodeType="tmRoot"/>
      </p:par>
    </p:tnLst>
  </p:timing>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187</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5.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正弦波</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振荡器</a:t>
            </a:r>
          </a:p>
        </p:txBody>
      </p:sp>
      <p:graphicFrame>
        <p:nvGraphicFramePr>
          <p:cNvPr id="7" name="对象 6">
            <a:extLst>
              <a:ext uri="{FF2B5EF4-FFF2-40B4-BE49-F238E27FC236}">
                <a16:creationId xmlns:a16="http://schemas.microsoft.com/office/drawing/2014/main" xmlns="" id="{C19F750E-F284-AD01-07DF-CD08B907639E}"/>
              </a:ext>
            </a:extLst>
          </p:cNvPr>
          <p:cNvGraphicFramePr>
            <a:graphicFrameLocks noChangeAspect="1"/>
          </p:cNvGraphicFramePr>
          <p:nvPr>
            <p:extLst>
              <p:ext uri="{D42A27DB-BD31-4B8C-83A1-F6EECF244321}">
                <p14:modId xmlns:p14="http://schemas.microsoft.com/office/powerpoint/2010/main" val="308907506"/>
              </p:ext>
            </p:extLst>
          </p:nvPr>
        </p:nvGraphicFramePr>
        <p:xfrm>
          <a:off x="386439" y="1275550"/>
          <a:ext cx="6118123" cy="809283"/>
        </p:xfrm>
        <a:graphic>
          <a:graphicData uri="http://schemas.openxmlformats.org/presentationml/2006/ole">
            <mc:AlternateContent xmlns:mc="http://schemas.openxmlformats.org/markup-compatibility/2006">
              <mc:Choice xmlns:v="urn:schemas-microsoft-com:vml" Requires="v">
                <p:oleObj spid="_x0000_s145526" r:id="rId3" imgW="3543300" imgH="469900" progId="Equation.3">
                  <p:embed/>
                </p:oleObj>
              </mc:Choice>
              <mc:Fallback>
                <p:oleObj r:id="rId3" imgW="3543300" imgH="4699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6439" y="1275550"/>
                        <a:ext cx="6118123" cy="809283"/>
                      </a:xfrm>
                      <a:prstGeom prst="rect">
                        <a:avLst/>
                      </a:prstGeom>
                      <a:noFill/>
                      <a:ln>
                        <a:noFill/>
                      </a:ln>
                      <a:extLst/>
                    </p:spPr>
                  </p:pic>
                </p:oleObj>
              </mc:Fallback>
            </mc:AlternateContent>
          </a:graphicData>
        </a:graphic>
      </p:graphicFrame>
      <p:graphicFrame>
        <p:nvGraphicFramePr>
          <p:cNvPr id="8" name="对象 7">
            <a:extLst>
              <a:ext uri="{FF2B5EF4-FFF2-40B4-BE49-F238E27FC236}">
                <a16:creationId xmlns:a16="http://schemas.microsoft.com/office/drawing/2014/main" xmlns="" id="{55CBC244-7D30-D511-E446-C59B7A5B68A4}"/>
              </a:ext>
            </a:extLst>
          </p:cNvPr>
          <p:cNvGraphicFramePr>
            <a:graphicFrameLocks noChangeAspect="1"/>
          </p:cNvGraphicFramePr>
          <p:nvPr>
            <p:extLst>
              <p:ext uri="{D42A27DB-BD31-4B8C-83A1-F6EECF244321}">
                <p14:modId xmlns:p14="http://schemas.microsoft.com/office/powerpoint/2010/main" val="4137371477"/>
              </p:ext>
            </p:extLst>
          </p:nvPr>
        </p:nvGraphicFramePr>
        <p:xfrm>
          <a:off x="828635" y="2019514"/>
          <a:ext cx="5416522" cy="1145970"/>
        </p:xfrm>
        <a:graphic>
          <a:graphicData uri="http://schemas.openxmlformats.org/presentationml/2006/ole">
            <mc:AlternateContent xmlns:mc="http://schemas.openxmlformats.org/markup-compatibility/2006">
              <mc:Choice xmlns:v="urn:schemas-microsoft-com:vml" Requires="v">
                <p:oleObj spid="_x0000_s145527" r:id="rId5" imgW="3187700" imgH="698500" progId="Equation.3">
                  <p:embed/>
                </p:oleObj>
              </mc:Choice>
              <mc:Fallback>
                <p:oleObj r:id="rId5" imgW="3187700" imgH="6985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8635" y="2019514"/>
                        <a:ext cx="5416522" cy="1145970"/>
                      </a:xfrm>
                      <a:prstGeom prst="rect">
                        <a:avLst/>
                      </a:prstGeom>
                      <a:noFill/>
                      <a:ln>
                        <a:noFill/>
                      </a:ln>
                      <a:extLst/>
                    </p:spPr>
                  </p:pic>
                </p:oleObj>
              </mc:Fallback>
            </mc:AlternateContent>
          </a:graphicData>
        </a:graphic>
      </p:graphicFrame>
      <p:graphicFrame>
        <p:nvGraphicFramePr>
          <p:cNvPr id="32" name="Object 3">
            <a:extLst>
              <a:ext uri="{FF2B5EF4-FFF2-40B4-BE49-F238E27FC236}">
                <a16:creationId xmlns:a16="http://schemas.microsoft.com/office/drawing/2014/main" xmlns="" id="{D4E9C1B2-BD56-2768-6A4D-802274BF1875}"/>
              </a:ext>
            </a:extLst>
          </p:cNvPr>
          <p:cNvGraphicFramePr>
            <a:graphicFrameLocks noChangeAspect="1"/>
          </p:cNvGraphicFramePr>
          <p:nvPr>
            <p:extLst>
              <p:ext uri="{D42A27DB-BD31-4B8C-83A1-F6EECF244321}">
                <p14:modId xmlns:p14="http://schemas.microsoft.com/office/powerpoint/2010/main" val="451300581"/>
              </p:ext>
            </p:extLst>
          </p:nvPr>
        </p:nvGraphicFramePr>
        <p:xfrm>
          <a:off x="828635" y="3267058"/>
          <a:ext cx="5346700" cy="1209199"/>
        </p:xfrm>
        <a:graphic>
          <a:graphicData uri="http://schemas.openxmlformats.org/presentationml/2006/ole">
            <mc:AlternateContent xmlns:mc="http://schemas.openxmlformats.org/markup-compatibility/2006">
              <mc:Choice xmlns:v="urn:schemas-microsoft-com:vml" Requires="v">
                <p:oleObj spid="_x0000_s145528" r:id="rId7" imgW="3086100" imgH="698500" progId="Equation.3">
                  <p:embed/>
                </p:oleObj>
              </mc:Choice>
              <mc:Fallback>
                <p:oleObj r:id="rId7" imgW="3086100" imgH="6985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28635" y="3267058"/>
                        <a:ext cx="5346700" cy="1209199"/>
                      </a:xfrm>
                      <a:prstGeom prst="rect">
                        <a:avLst/>
                      </a:prstGeom>
                      <a:noFill/>
                      <a:ln>
                        <a:noFill/>
                      </a:ln>
                      <a:extLst/>
                    </p:spPr>
                  </p:pic>
                </p:oleObj>
              </mc:Fallback>
            </mc:AlternateContent>
          </a:graphicData>
        </a:graphic>
      </p:graphicFrame>
      <p:graphicFrame>
        <p:nvGraphicFramePr>
          <p:cNvPr id="33" name="Object 5">
            <a:extLst>
              <a:ext uri="{FF2B5EF4-FFF2-40B4-BE49-F238E27FC236}">
                <a16:creationId xmlns:a16="http://schemas.microsoft.com/office/drawing/2014/main" xmlns="" id="{A8B6CF40-2543-9DC6-1A8D-A5A3BF271A6A}"/>
              </a:ext>
            </a:extLst>
          </p:cNvPr>
          <p:cNvGraphicFramePr>
            <a:graphicFrameLocks noChangeAspect="1"/>
          </p:cNvGraphicFramePr>
          <p:nvPr>
            <p:extLst>
              <p:ext uri="{D42A27DB-BD31-4B8C-83A1-F6EECF244321}">
                <p14:modId xmlns:p14="http://schemas.microsoft.com/office/powerpoint/2010/main" val="3056415150"/>
              </p:ext>
            </p:extLst>
          </p:nvPr>
        </p:nvGraphicFramePr>
        <p:xfrm>
          <a:off x="1147941" y="4557220"/>
          <a:ext cx="2590800" cy="1863725"/>
        </p:xfrm>
        <a:graphic>
          <a:graphicData uri="http://schemas.openxmlformats.org/presentationml/2006/ole">
            <mc:AlternateContent xmlns:mc="http://schemas.openxmlformats.org/markup-compatibility/2006">
              <mc:Choice xmlns:v="urn:schemas-microsoft-com:vml" Requires="v">
                <p:oleObj spid="_x0000_s145529" r:id="rId9" imgW="2610214" imgH="1876190" progId="Paint.Picture">
                  <p:embed/>
                </p:oleObj>
              </mc:Choice>
              <mc:Fallback>
                <p:oleObj r:id="rId9" imgW="2610214" imgH="1876190" progId="Paint.Picture">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47941" y="4557220"/>
                        <a:ext cx="2590800" cy="186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34" name="Group 6">
            <a:extLst>
              <a:ext uri="{FF2B5EF4-FFF2-40B4-BE49-F238E27FC236}">
                <a16:creationId xmlns:a16="http://schemas.microsoft.com/office/drawing/2014/main" xmlns="" id="{CB7120C9-C610-8CE2-FABE-3F9D5621DC32}"/>
              </a:ext>
            </a:extLst>
          </p:cNvPr>
          <p:cNvGrpSpPr>
            <a:grpSpLocks/>
          </p:cNvGrpSpPr>
          <p:nvPr/>
        </p:nvGrpSpPr>
        <p:grpSpPr bwMode="auto">
          <a:xfrm>
            <a:off x="-151681" y="4476257"/>
            <a:ext cx="8553450" cy="1803400"/>
            <a:chOff x="0" y="1649"/>
            <a:chExt cx="5388" cy="1136"/>
          </a:xfrm>
        </p:grpSpPr>
        <p:grpSp>
          <p:nvGrpSpPr>
            <p:cNvPr id="35" name="Group 7">
              <a:extLst>
                <a:ext uri="{FF2B5EF4-FFF2-40B4-BE49-F238E27FC236}">
                  <a16:creationId xmlns:a16="http://schemas.microsoft.com/office/drawing/2014/main" xmlns="" id="{35CB3FDC-02D7-9701-9695-32FCF5B32759}"/>
                </a:ext>
              </a:extLst>
            </p:cNvPr>
            <p:cNvGrpSpPr>
              <a:grpSpLocks/>
            </p:cNvGrpSpPr>
            <p:nvPr/>
          </p:nvGrpSpPr>
          <p:grpSpPr bwMode="auto">
            <a:xfrm>
              <a:off x="0" y="1649"/>
              <a:ext cx="5388" cy="1136"/>
              <a:chOff x="0" y="1649"/>
              <a:chExt cx="5388" cy="1136"/>
            </a:xfrm>
          </p:grpSpPr>
          <p:grpSp>
            <p:nvGrpSpPr>
              <p:cNvPr id="39" name="Group 8">
                <a:extLst>
                  <a:ext uri="{FF2B5EF4-FFF2-40B4-BE49-F238E27FC236}">
                    <a16:creationId xmlns:a16="http://schemas.microsoft.com/office/drawing/2014/main" xmlns="" id="{F53788CD-A893-6779-6860-08EA9B62EBAA}"/>
                  </a:ext>
                </a:extLst>
              </p:cNvPr>
              <p:cNvGrpSpPr>
                <a:grpSpLocks/>
              </p:cNvGrpSpPr>
              <p:nvPr/>
            </p:nvGrpSpPr>
            <p:grpSpPr bwMode="auto">
              <a:xfrm>
                <a:off x="0" y="1649"/>
                <a:ext cx="5388" cy="1136"/>
                <a:chOff x="0" y="2640"/>
                <a:chExt cx="5388" cy="1136"/>
              </a:xfrm>
            </p:grpSpPr>
            <p:sp>
              <p:nvSpPr>
                <p:cNvPr id="42" name="Rectangle 9">
                  <a:extLst>
                    <a:ext uri="{FF2B5EF4-FFF2-40B4-BE49-F238E27FC236}">
                      <a16:creationId xmlns:a16="http://schemas.microsoft.com/office/drawing/2014/main" xmlns="" id="{F62F1A9F-91DD-6E0B-8AFF-87CE0463B280}"/>
                    </a:ext>
                  </a:extLst>
                </p:cNvPr>
                <p:cNvSpPr>
                  <a:spLocks noChangeArrowheads="1"/>
                </p:cNvSpPr>
                <p:nvPr/>
              </p:nvSpPr>
              <p:spPr bwMode="auto">
                <a:xfrm>
                  <a:off x="0" y="2959"/>
                  <a:ext cx="5388"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p>
              </p:txBody>
            </p:sp>
            <p:grpSp>
              <p:nvGrpSpPr>
                <p:cNvPr id="43" name="Group 10">
                  <a:extLst>
                    <a:ext uri="{FF2B5EF4-FFF2-40B4-BE49-F238E27FC236}">
                      <a16:creationId xmlns:a16="http://schemas.microsoft.com/office/drawing/2014/main" xmlns="" id="{DF492F2A-518A-2AD1-C6E5-4674B03B9E01}"/>
                    </a:ext>
                  </a:extLst>
                </p:cNvPr>
                <p:cNvGrpSpPr>
                  <a:grpSpLocks/>
                </p:cNvGrpSpPr>
                <p:nvPr/>
              </p:nvGrpSpPr>
              <p:grpSpPr bwMode="auto">
                <a:xfrm>
                  <a:off x="3187" y="2640"/>
                  <a:ext cx="1346" cy="1136"/>
                  <a:chOff x="3187" y="2640"/>
                  <a:chExt cx="1346" cy="1136"/>
                </a:xfrm>
              </p:grpSpPr>
              <p:grpSp>
                <p:nvGrpSpPr>
                  <p:cNvPr id="45" name="Group 11">
                    <a:extLst>
                      <a:ext uri="{FF2B5EF4-FFF2-40B4-BE49-F238E27FC236}">
                        <a16:creationId xmlns:a16="http://schemas.microsoft.com/office/drawing/2014/main" xmlns="" id="{313D7741-3F6E-5B70-B0AE-7982BE7AE59E}"/>
                      </a:ext>
                    </a:extLst>
                  </p:cNvPr>
                  <p:cNvGrpSpPr>
                    <a:grpSpLocks/>
                  </p:cNvGrpSpPr>
                  <p:nvPr/>
                </p:nvGrpSpPr>
                <p:grpSpPr bwMode="auto">
                  <a:xfrm>
                    <a:off x="3187" y="2640"/>
                    <a:ext cx="1346" cy="1136"/>
                    <a:chOff x="3187" y="2640"/>
                    <a:chExt cx="1346" cy="1136"/>
                  </a:xfrm>
                </p:grpSpPr>
                <p:sp>
                  <p:nvSpPr>
                    <p:cNvPr id="47" name="Line 12">
                      <a:extLst>
                        <a:ext uri="{FF2B5EF4-FFF2-40B4-BE49-F238E27FC236}">
                          <a16:creationId xmlns:a16="http://schemas.microsoft.com/office/drawing/2014/main" xmlns="" id="{37018734-3D85-0153-9491-427F8352767B}"/>
                        </a:ext>
                      </a:extLst>
                    </p:cNvPr>
                    <p:cNvSpPr>
                      <a:spLocks noChangeShapeType="1"/>
                    </p:cNvSpPr>
                    <p:nvPr/>
                  </p:nvSpPr>
                  <p:spPr bwMode="auto">
                    <a:xfrm>
                      <a:off x="3187" y="3384"/>
                      <a:ext cx="1248" cy="0"/>
                    </a:xfrm>
                    <a:prstGeom prst="line">
                      <a:avLst/>
                    </a:prstGeom>
                    <a:noFill/>
                    <a:ln w="25400">
                      <a:solidFill>
                        <a:schemeClr val="tx1"/>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48" name="Text Box 13">
                      <a:extLst>
                        <a:ext uri="{FF2B5EF4-FFF2-40B4-BE49-F238E27FC236}">
                          <a16:creationId xmlns:a16="http://schemas.microsoft.com/office/drawing/2014/main" xmlns="" id="{666C6C6F-19A2-CE37-2675-07A238469838}"/>
                        </a:ext>
                      </a:extLst>
                    </p:cNvPr>
                    <p:cNvSpPr txBox="1">
                      <a:spLocks noChangeArrowheads="1"/>
                    </p:cNvSpPr>
                    <p:nvPr/>
                  </p:nvSpPr>
                  <p:spPr bwMode="auto">
                    <a:xfrm>
                      <a:off x="4307" y="3295"/>
                      <a:ext cx="22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i="1">
                          <a:latin typeface="Times New Roman" panose="02020603050405020304" pitchFamily="18" charset="0"/>
                          <a:sym typeface="Symbol" panose="05050102010706020507" pitchFamily="18" charset="2"/>
                        </a:rPr>
                        <a:t></a:t>
                      </a:r>
                    </a:p>
                  </p:txBody>
                </p:sp>
                <p:sp>
                  <p:nvSpPr>
                    <p:cNvPr id="49" name="Text Box 14">
                      <a:extLst>
                        <a:ext uri="{FF2B5EF4-FFF2-40B4-BE49-F238E27FC236}">
                          <a16:creationId xmlns:a16="http://schemas.microsoft.com/office/drawing/2014/main" xmlns="" id="{3B24B52F-7B43-160C-0C0A-373E2F13FA03}"/>
                        </a:ext>
                      </a:extLst>
                    </p:cNvPr>
                    <p:cNvSpPr txBox="1">
                      <a:spLocks noChangeArrowheads="1"/>
                    </p:cNvSpPr>
                    <p:nvPr/>
                  </p:nvSpPr>
                  <p:spPr bwMode="auto">
                    <a:xfrm>
                      <a:off x="3795" y="2640"/>
                      <a:ext cx="3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b="1">
                          <a:latin typeface="Times New Roman" panose="02020603050405020304" pitchFamily="18" charset="0"/>
                          <a:sym typeface="Symbol" panose="05050102010706020507" pitchFamily="18" charset="2"/>
                        </a:rPr>
                        <a:t></a:t>
                      </a:r>
                      <a:r>
                        <a:rPr lang="en-US" altLang="zh-CN" sz="2400" b="1" baseline="-25000">
                          <a:latin typeface="Times New Roman" panose="02020603050405020304" pitchFamily="18" charset="0"/>
                          <a:sym typeface="Symbol" panose="05050102010706020507" pitchFamily="18" charset="2"/>
                        </a:rPr>
                        <a:t>z</a:t>
                      </a:r>
                    </a:p>
                  </p:txBody>
                </p:sp>
                <p:sp>
                  <p:nvSpPr>
                    <p:cNvPr id="50" name="Line 15">
                      <a:extLst>
                        <a:ext uri="{FF2B5EF4-FFF2-40B4-BE49-F238E27FC236}">
                          <a16:creationId xmlns:a16="http://schemas.microsoft.com/office/drawing/2014/main" xmlns="" id="{CF576C1C-56C9-8C31-925A-16302965A7BA}"/>
                        </a:ext>
                      </a:extLst>
                    </p:cNvPr>
                    <p:cNvSpPr>
                      <a:spLocks noChangeShapeType="1"/>
                    </p:cNvSpPr>
                    <p:nvPr/>
                  </p:nvSpPr>
                  <p:spPr bwMode="auto">
                    <a:xfrm>
                      <a:off x="3235" y="3040"/>
                      <a:ext cx="1176" cy="8"/>
                    </a:xfrm>
                    <a:prstGeom prst="line">
                      <a:avLst/>
                    </a:prstGeom>
                    <a:noFill/>
                    <a:ln w="28575">
                      <a:solidFill>
                        <a:schemeClr val="accent2"/>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 name="Line 16">
                      <a:extLst>
                        <a:ext uri="{FF2B5EF4-FFF2-40B4-BE49-F238E27FC236}">
                          <a16:creationId xmlns:a16="http://schemas.microsoft.com/office/drawing/2014/main" xmlns="" id="{F7A51137-7776-F048-2FAA-840FE98AFB2D}"/>
                        </a:ext>
                      </a:extLst>
                    </p:cNvPr>
                    <p:cNvSpPr>
                      <a:spLocks noChangeShapeType="1"/>
                    </p:cNvSpPr>
                    <p:nvPr/>
                  </p:nvSpPr>
                  <p:spPr bwMode="auto">
                    <a:xfrm flipV="1">
                      <a:off x="3243" y="3624"/>
                      <a:ext cx="992" cy="16"/>
                    </a:xfrm>
                    <a:prstGeom prst="line">
                      <a:avLst/>
                    </a:prstGeom>
                    <a:noFill/>
                    <a:ln w="28575">
                      <a:solidFill>
                        <a:schemeClr val="accent2"/>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 name="Text Box 17">
                      <a:extLst>
                        <a:ext uri="{FF2B5EF4-FFF2-40B4-BE49-F238E27FC236}">
                          <a16:creationId xmlns:a16="http://schemas.microsoft.com/office/drawing/2014/main" xmlns="" id="{A1890FA2-AEDC-F92F-A51D-469BF6586EAB}"/>
                        </a:ext>
                      </a:extLst>
                    </p:cNvPr>
                    <p:cNvSpPr txBox="1">
                      <a:spLocks noChangeArrowheads="1"/>
                    </p:cNvSpPr>
                    <p:nvPr/>
                  </p:nvSpPr>
                  <p:spPr bwMode="auto">
                    <a:xfrm>
                      <a:off x="3691" y="2912"/>
                      <a:ext cx="37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p>
                      <a:r>
                        <a:rPr lang="en-US" altLang="zh-CN" sz="2400" b="1">
                          <a:solidFill>
                            <a:srgbClr val="FF0066"/>
                          </a:solidFill>
                          <a:latin typeface="Times New Roman" panose="02020603050405020304" pitchFamily="18" charset="0"/>
                        </a:rPr>
                        <a:t>90º</a:t>
                      </a:r>
                    </a:p>
                  </p:txBody>
                </p:sp>
                <p:sp>
                  <p:nvSpPr>
                    <p:cNvPr id="53" name="Text Box 18">
                      <a:extLst>
                        <a:ext uri="{FF2B5EF4-FFF2-40B4-BE49-F238E27FC236}">
                          <a16:creationId xmlns:a16="http://schemas.microsoft.com/office/drawing/2014/main" xmlns="" id="{F2299654-A623-6DB5-9B29-3FFAD3E8BF47}"/>
                        </a:ext>
                      </a:extLst>
                    </p:cNvPr>
                    <p:cNvSpPr txBox="1">
                      <a:spLocks noChangeArrowheads="1"/>
                    </p:cNvSpPr>
                    <p:nvPr/>
                  </p:nvSpPr>
                  <p:spPr bwMode="auto">
                    <a:xfrm>
                      <a:off x="3307" y="3488"/>
                      <a:ext cx="43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p>
                      <a:r>
                        <a:rPr lang="en-US" altLang="zh-CN" sz="2400" b="1">
                          <a:solidFill>
                            <a:srgbClr val="FF0066"/>
                          </a:solidFill>
                          <a:latin typeface="Times New Roman" panose="02020603050405020304" pitchFamily="18" charset="0"/>
                        </a:rPr>
                        <a:t>-90º</a:t>
                      </a:r>
                    </a:p>
                  </p:txBody>
                </p:sp>
                <p:sp>
                  <p:nvSpPr>
                    <p:cNvPr id="54" name="Text Box 19">
                      <a:extLst>
                        <a:ext uri="{FF2B5EF4-FFF2-40B4-BE49-F238E27FC236}">
                          <a16:creationId xmlns:a16="http://schemas.microsoft.com/office/drawing/2014/main" xmlns="" id="{FE15C4A4-5711-5E73-422C-D0EC15C9F2E9}"/>
                        </a:ext>
                      </a:extLst>
                    </p:cNvPr>
                    <p:cNvSpPr txBox="1">
                      <a:spLocks noChangeArrowheads="1"/>
                    </p:cNvSpPr>
                    <p:nvPr/>
                  </p:nvSpPr>
                  <p:spPr bwMode="auto">
                    <a:xfrm>
                      <a:off x="3715" y="3128"/>
                      <a:ext cx="27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p>
                      <a:r>
                        <a:rPr lang="en-US" altLang="zh-CN" sz="2400" b="1">
                          <a:solidFill>
                            <a:srgbClr val="FF0066"/>
                          </a:solidFill>
                          <a:latin typeface="Times New Roman" panose="02020603050405020304" pitchFamily="18" charset="0"/>
                        </a:rPr>
                        <a:t>0º</a:t>
                      </a:r>
                    </a:p>
                  </p:txBody>
                </p:sp>
              </p:grpSp>
              <p:sp>
                <p:nvSpPr>
                  <p:cNvPr id="46" name="Line 20">
                    <a:extLst>
                      <a:ext uri="{FF2B5EF4-FFF2-40B4-BE49-F238E27FC236}">
                        <a16:creationId xmlns:a16="http://schemas.microsoft.com/office/drawing/2014/main" xmlns="" id="{80D38316-D926-4F6A-6F3A-93A7E3CB088F}"/>
                      </a:ext>
                    </a:extLst>
                  </p:cNvPr>
                  <p:cNvSpPr>
                    <a:spLocks noChangeShapeType="1"/>
                  </p:cNvSpPr>
                  <p:nvPr/>
                </p:nvSpPr>
                <p:spPr bwMode="auto">
                  <a:xfrm rot="-5400000">
                    <a:off x="3304" y="3296"/>
                    <a:ext cx="912" cy="0"/>
                  </a:xfrm>
                  <a:prstGeom prst="line">
                    <a:avLst/>
                  </a:prstGeom>
                  <a:noFill/>
                  <a:ln w="25400">
                    <a:solidFill>
                      <a:schemeClr val="tx1"/>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grpSp>
            <p:sp>
              <p:nvSpPr>
                <p:cNvPr id="44" name="Rectangle 21">
                  <a:extLst>
                    <a:ext uri="{FF2B5EF4-FFF2-40B4-BE49-F238E27FC236}">
                      <a16:creationId xmlns:a16="http://schemas.microsoft.com/office/drawing/2014/main" xmlns="" id="{51F313B2-48BC-6B6C-9CE4-E2845768F936}"/>
                    </a:ext>
                  </a:extLst>
                </p:cNvPr>
                <p:cNvSpPr>
                  <a:spLocks noChangeArrowheads="1"/>
                </p:cNvSpPr>
                <p:nvPr/>
              </p:nvSpPr>
              <p:spPr bwMode="auto">
                <a:xfrm>
                  <a:off x="3435" y="3312"/>
                  <a:ext cx="34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000" b="1" i="1">
                      <a:latin typeface="Times New Roman" panose="02020603050405020304" pitchFamily="18" charset="0"/>
                      <a:ea typeface="黑体" panose="02010609060101010101" pitchFamily="49" charset="-122"/>
                      <a:sym typeface="Symbol" panose="05050102010706020507" pitchFamily="18" charset="2"/>
                    </a:rPr>
                    <a:t></a:t>
                  </a:r>
                  <a:r>
                    <a:rPr lang="en-US" altLang="zh-CN" sz="2000" b="1" i="1" baseline="-25000">
                      <a:latin typeface="Times New Roman" panose="02020603050405020304" pitchFamily="18" charset="0"/>
                      <a:ea typeface="黑体" panose="02010609060101010101" pitchFamily="49" charset="-122"/>
                      <a:sym typeface="Symbol" panose="05050102010706020507" pitchFamily="18" charset="2"/>
                    </a:rPr>
                    <a:t>0</a:t>
                  </a:r>
                </a:p>
              </p:txBody>
            </p:sp>
          </p:grpSp>
          <p:sp>
            <p:nvSpPr>
              <p:cNvPr id="40" name="Text Box 22">
                <a:extLst>
                  <a:ext uri="{FF2B5EF4-FFF2-40B4-BE49-F238E27FC236}">
                    <a16:creationId xmlns:a16="http://schemas.microsoft.com/office/drawing/2014/main" xmlns="" id="{6F812021-4FEF-CF9B-46B5-97C1D029F0BF}"/>
                  </a:ext>
                </a:extLst>
              </p:cNvPr>
              <p:cNvSpPr txBox="1">
                <a:spLocks noChangeArrowheads="1"/>
              </p:cNvSpPr>
              <p:nvPr/>
            </p:nvSpPr>
            <p:spPr bwMode="auto">
              <a:xfrm>
                <a:off x="4056" y="2113"/>
                <a:ext cx="2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spcBef>
                    <a:spcPct val="50000"/>
                  </a:spcBef>
                </a:pPr>
                <a:r>
                  <a:rPr lang="en-US" altLang="zh-CN" sz="2000" b="1">
                    <a:solidFill>
                      <a:srgbClr val="0033CC"/>
                    </a:solidFill>
                    <a:latin typeface="Times New Roman" panose="02020603050405020304" pitchFamily="18" charset="0"/>
                    <a:ea typeface="黑体" panose="02010609060101010101" pitchFamily="49" charset="-122"/>
                  </a:rPr>
                  <a:t>L</a:t>
                </a:r>
              </a:p>
            </p:txBody>
          </p:sp>
          <p:sp>
            <p:nvSpPr>
              <p:cNvPr id="41" name="Text Box 23">
                <a:extLst>
                  <a:ext uri="{FF2B5EF4-FFF2-40B4-BE49-F238E27FC236}">
                    <a16:creationId xmlns:a16="http://schemas.microsoft.com/office/drawing/2014/main" xmlns="" id="{C0FC6378-A313-265D-4961-22FE9F9653F6}"/>
                  </a:ext>
                </a:extLst>
              </p:cNvPr>
              <p:cNvSpPr txBox="1">
                <a:spLocks noChangeArrowheads="1"/>
              </p:cNvSpPr>
              <p:nvPr/>
            </p:nvSpPr>
            <p:spPr bwMode="auto">
              <a:xfrm>
                <a:off x="3184" y="2377"/>
                <a:ext cx="32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spcBef>
                    <a:spcPct val="50000"/>
                  </a:spcBef>
                </a:pPr>
                <a:r>
                  <a:rPr lang="en-US" altLang="zh-CN" sz="2000" b="1">
                    <a:solidFill>
                      <a:srgbClr val="0033CC"/>
                    </a:solidFill>
                    <a:latin typeface="Times New Roman" panose="02020603050405020304" pitchFamily="18" charset="0"/>
                    <a:ea typeface="黑体" panose="02010609060101010101" pitchFamily="49" charset="-122"/>
                  </a:rPr>
                  <a:t>C</a:t>
                </a:r>
              </a:p>
            </p:txBody>
          </p:sp>
        </p:grpSp>
        <p:grpSp>
          <p:nvGrpSpPr>
            <p:cNvPr id="36" name="Group 24">
              <a:extLst>
                <a:ext uri="{FF2B5EF4-FFF2-40B4-BE49-F238E27FC236}">
                  <a16:creationId xmlns:a16="http://schemas.microsoft.com/office/drawing/2014/main" xmlns="" id="{3FB9EE82-3C18-5786-732A-E971E57D10B2}"/>
                </a:ext>
              </a:extLst>
            </p:cNvPr>
            <p:cNvGrpSpPr>
              <a:grpSpLocks/>
            </p:cNvGrpSpPr>
            <p:nvPr/>
          </p:nvGrpSpPr>
          <p:grpSpPr bwMode="auto">
            <a:xfrm flipH="1">
              <a:off x="3111" y="2124"/>
              <a:ext cx="1320" cy="492"/>
              <a:chOff x="2064" y="2064"/>
              <a:chExt cx="1248" cy="384"/>
            </a:xfrm>
          </p:grpSpPr>
          <p:sp>
            <p:nvSpPr>
              <p:cNvPr id="37" name="Freeform 25">
                <a:extLst>
                  <a:ext uri="{FF2B5EF4-FFF2-40B4-BE49-F238E27FC236}">
                    <a16:creationId xmlns:a16="http://schemas.microsoft.com/office/drawing/2014/main" xmlns="" id="{6EDE9AF6-13D9-F52A-A212-F7DF91B8A04A}"/>
                  </a:ext>
                </a:extLst>
              </p:cNvPr>
              <p:cNvSpPr>
                <a:spLocks noChangeArrowheads="1"/>
              </p:cNvSpPr>
              <p:nvPr/>
            </p:nvSpPr>
            <p:spPr bwMode="auto">
              <a:xfrm>
                <a:off x="2064" y="2064"/>
                <a:ext cx="624" cy="192"/>
              </a:xfrm>
              <a:custGeom>
                <a:avLst/>
                <a:gdLst>
                  <a:gd name="T0" fmla="*/ 0 w 672"/>
                  <a:gd name="T1" fmla="*/ 0 h 240"/>
                  <a:gd name="T2" fmla="*/ 384 w 672"/>
                  <a:gd name="T3" fmla="*/ 48 h 240"/>
                  <a:gd name="T4" fmla="*/ 672 w 672"/>
                  <a:gd name="T5" fmla="*/ 240 h 240"/>
                </a:gdLst>
                <a:ahLst/>
                <a:cxnLst>
                  <a:cxn ang="0">
                    <a:pos x="T0" y="T1"/>
                  </a:cxn>
                  <a:cxn ang="0">
                    <a:pos x="T2" y="T3"/>
                  </a:cxn>
                  <a:cxn ang="0">
                    <a:pos x="T4" y="T5"/>
                  </a:cxn>
                </a:cxnLst>
                <a:rect l="0" t="0" r="r" b="b"/>
                <a:pathLst>
                  <a:path w="672" h="240">
                    <a:moveTo>
                      <a:pt x="0" y="0"/>
                    </a:moveTo>
                    <a:cubicBezTo>
                      <a:pt x="136" y="4"/>
                      <a:pt x="272" y="8"/>
                      <a:pt x="384" y="48"/>
                    </a:cubicBezTo>
                    <a:cubicBezTo>
                      <a:pt x="496" y="88"/>
                      <a:pt x="584" y="164"/>
                      <a:pt x="672" y="240"/>
                    </a:cubicBezTo>
                  </a:path>
                </a:pathLst>
              </a:custGeom>
              <a:noFill/>
              <a:ln w="28575">
                <a:solidFill>
                  <a:srgbClr val="0033CC"/>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8" name="Freeform 26">
                <a:extLst>
                  <a:ext uri="{FF2B5EF4-FFF2-40B4-BE49-F238E27FC236}">
                    <a16:creationId xmlns:a16="http://schemas.microsoft.com/office/drawing/2014/main" xmlns="" id="{EA20C703-B113-2EC8-13D5-48D554A2E6FF}"/>
                  </a:ext>
                </a:extLst>
              </p:cNvPr>
              <p:cNvSpPr>
                <a:spLocks noChangeArrowheads="1"/>
              </p:cNvSpPr>
              <p:nvPr/>
            </p:nvSpPr>
            <p:spPr bwMode="auto">
              <a:xfrm flipH="1" flipV="1">
                <a:off x="2688" y="2256"/>
                <a:ext cx="624" cy="192"/>
              </a:xfrm>
              <a:custGeom>
                <a:avLst/>
                <a:gdLst>
                  <a:gd name="T0" fmla="*/ 0 w 672"/>
                  <a:gd name="T1" fmla="*/ 0 h 240"/>
                  <a:gd name="T2" fmla="*/ 384 w 672"/>
                  <a:gd name="T3" fmla="*/ 48 h 240"/>
                  <a:gd name="T4" fmla="*/ 672 w 672"/>
                  <a:gd name="T5" fmla="*/ 240 h 240"/>
                </a:gdLst>
                <a:ahLst/>
                <a:cxnLst>
                  <a:cxn ang="0">
                    <a:pos x="T0" y="T1"/>
                  </a:cxn>
                  <a:cxn ang="0">
                    <a:pos x="T2" y="T3"/>
                  </a:cxn>
                  <a:cxn ang="0">
                    <a:pos x="T4" y="T5"/>
                  </a:cxn>
                </a:cxnLst>
                <a:rect l="0" t="0" r="r" b="b"/>
                <a:pathLst>
                  <a:path w="672" h="240">
                    <a:moveTo>
                      <a:pt x="0" y="0"/>
                    </a:moveTo>
                    <a:cubicBezTo>
                      <a:pt x="136" y="4"/>
                      <a:pt x="272" y="8"/>
                      <a:pt x="384" y="48"/>
                    </a:cubicBezTo>
                    <a:cubicBezTo>
                      <a:pt x="496" y="88"/>
                      <a:pt x="584" y="164"/>
                      <a:pt x="672" y="240"/>
                    </a:cubicBezTo>
                  </a:path>
                </a:pathLst>
              </a:custGeom>
              <a:noFill/>
              <a:ln w="28575">
                <a:solidFill>
                  <a:srgbClr val="0033CC"/>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spTree>
    <p:extLst>
      <p:ext uri="{BB962C8B-B14F-4D97-AF65-F5344CB8AC3E}">
        <p14:creationId xmlns:p14="http://schemas.microsoft.com/office/powerpoint/2010/main" val="1136404137"/>
      </p:ext>
    </p:extLst>
  </p:cSld>
  <p:clrMapOvr>
    <a:masterClrMapping/>
  </p:clrMapOvr>
  <p:timing>
    <p:tnLst>
      <p:par>
        <p:cTn id="1" dur="indefinite" restart="never" nodeType="tmRoot"/>
      </p:par>
    </p:tnLst>
  </p:timing>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188</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5.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正弦波</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振荡器</a:t>
            </a:r>
          </a:p>
        </p:txBody>
      </p:sp>
      <p:graphicFrame>
        <p:nvGraphicFramePr>
          <p:cNvPr id="5" name="Object 5">
            <a:extLst>
              <a:ext uri="{FF2B5EF4-FFF2-40B4-BE49-F238E27FC236}">
                <a16:creationId xmlns:a16="http://schemas.microsoft.com/office/drawing/2014/main" xmlns="" id="{B2D91455-2FDD-7D62-A473-F88668561940}"/>
              </a:ext>
            </a:extLst>
          </p:cNvPr>
          <p:cNvGraphicFramePr>
            <a:graphicFrameLocks noChangeAspect="1"/>
          </p:cNvGraphicFramePr>
          <p:nvPr>
            <p:extLst>
              <p:ext uri="{D42A27DB-BD31-4B8C-83A1-F6EECF244321}">
                <p14:modId xmlns:p14="http://schemas.microsoft.com/office/powerpoint/2010/main" val="11458051"/>
              </p:ext>
            </p:extLst>
          </p:nvPr>
        </p:nvGraphicFramePr>
        <p:xfrm>
          <a:off x="743632" y="1772816"/>
          <a:ext cx="7353300" cy="657225"/>
        </p:xfrm>
        <a:graphic>
          <a:graphicData uri="http://schemas.openxmlformats.org/presentationml/2006/ole">
            <mc:AlternateContent xmlns:mc="http://schemas.openxmlformats.org/markup-compatibility/2006">
              <mc:Choice xmlns:v="urn:schemas-microsoft-com:vml" Requires="v">
                <p:oleObj spid="_x0000_s146596" r:id="rId3" imgW="5466960" imgH="495000" progId="Word.Document.8">
                  <p:embed/>
                </p:oleObj>
              </mc:Choice>
              <mc:Fallback>
                <p:oleObj r:id="rId3" imgW="5466960" imgH="495000" progId="Word.Document.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3632" y="1772816"/>
                        <a:ext cx="7353300" cy="65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 name="Object 6">
            <a:extLst>
              <a:ext uri="{FF2B5EF4-FFF2-40B4-BE49-F238E27FC236}">
                <a16:creationId xmlns:a16="http://schemas.microsoft.com/office/drawing/2014/main" xmlns="" id="{51CB114C-2A6A-8DCB-1D98-408EC1009B9B}"/>
              </a:ext>
            </a:extLst>
          </p:cNvPr>
          <p:cNvGraphicFramePr>
            <a:graphicFrameLocks noChangeAspect="1"/>
          </p:cNvGraphicFramePr>
          <p:nvPr>
            <p:extLst>
              <p:ext uri="{D42A27DB-BD31-4B8C-83A1-F6EECF244321}">
                <p14:modId xmlns:p14="http://schemas.microsoft.com/office/powerpoint/2010/main" val="2322209464"/>
              </p:ext>
            </p:extLst>
          </p:nvPr>
        </p:nvGraphicFramePr>
        <p:xfrm>
          <a:off x="729473" y="2581436"/>
          <a:ext cx="4803775" cy="458787"/>
        </p:xfrm>
        <a:graphic>
          <a:graphicData uri="http://schemas.openxmlformats.org/presentationml/2006/ole">
            <mc:AlternateContent xmlns:mc="http://schemas.openxmlformats.org/markup-compatibility/2006">
              <mc:Choice xmlns:v="urn:schemas-microsoft-com:vml" Requires="v">
                <p:oleObj spid="_x0000_s146597" r:id="rId5" imgW="3405600" imgH="328320" progId="Word.Document.8">
                  <p:embed/>
                </p:oleObj>
              </mc:Choice>
              <mc:Fallback>
                <p:oleObj r:id="rId5" imgW="3405600" imgH="328320" progId="Word.Document.8">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9473" y="2581436"/>
                        <a:ext cx="4803775"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 name="Object 7">
            <a:extLst>
              <a:ext uri="{FF2B5EF4-FFF2-40B4-BE49-F238E27FC236}">
                <a16:creationId xmlns:a16="http://schemas.microsoft.com/office/drawing/2014/main" xmlns="" id="{EEE787F9-E5B0-821C-99F4-21883AF60798}"/>
              </a:ext>
            </a:extLst>
          </p:cNvPr>
          <p:cNvGraphicFramePr>
            <a:graphicFrameLocks noChangeAspect="1"/>
          </p:cNvGraphicFramePr>
          <p:nvPr>
            <p:extLst>
              <p:ext uri="{D42A27DB-BD31-4B8C-83A1-F6EECF244321}">
                <p14:modId xmlns:p14="http://schemas.microsoft.com/office/powerpoint/2010/main" val="4016063228"/>
              </p:ext>
            </p:extLst>
          </p:nvPr>
        </p:nvGraphicFramePr>
        <p:xfrm>
          <a:off x="714395" y="3072898"/>
          <a:ext cx="6843712" cy="673100"/>
        </p:xfrm>
        <a:graphic>
          <a:graphicData uri="http://schemas.openxmlformats.org/presentationml/2006/ole">
            <mc:AlternateContent xmlns:mc="http://schemas.openxmlformats.org/markup-compatibility/2006">
              <mc:Choice xmlns:v="urn:schemas-microsoft-com:vml" Requires="v">
                <p:oleObj spid="_x0000_s146598" r:id="rId7" imgW="5505120" imgH="545760" progId="Word.Document.8">
                  <p:embed/>
                </p:oleObj>
              </mc:Choice>
              <mc:Fallback>
                <p:oleObj r:id="rId7" imgW="5505120" imgH="545760" progId="Word.Document.8">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14395" y="3072898"/>
                        <a:ext cx="6843712"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 name="Object 8">
            <a:extLst>
              <a:ext uri="{FF2B5EF4-FFF2-40B4-BE49-F238E27FC236}">
                <a16:creationId xmlns:a16="http://schemas.microsoft.com/office/drawing/2014/main" xmlns="" id="{028BEA83-6C30-7727-8EE1-086C1EF41032}"/>
              </a:ext>
            </a:extLst>
          </p:cNvPr>
          <p:cNvGraphicFramePr>
            <a:graphicFrameLocks noChangeAspect="1"/>
          </p:cNvGraphicFramePr>
          <p:nvPr>
            <p:extLst>
              <p:ext uri="{D42A27DB-BD31-4B8C-83A1-F6EECF244321}">
                <p14:modId xmlns:p14="http://schemas.microsoft.com/office/powerpoint/2010/main" val="3863750387"/>
              </p:ext>
            </p:extLst>
          </p:nvPr>
        </p:nvGraphicFramePr>
        <p:xfrm>
          <a:off x="710177" y="3915692"/>
          <a:ext cx="4536274" cy="358410"/>
        </p:xfrm>
        <a:graphic>
          <a:graphicData uri="http://schemas.openxmlformats.org/presentationml/2006/ole">
            <mc:AlternateContent xmlns:mc="http://schemas.openxmlformats.org/markup-compatibility/2006">
              <mc:Choice xmlns:v="urn:schemas-microsoft-com:vml" Requires="v">
                <p:oleObj spid="_x0000_s146599" r:id="rId9" imgW="3400200" imgH="268200" progId="Word.Document.8">
                  <p:embed/>
                </p:oleObj>
              </mc:Choice>
              <mc:Fallback>
                <p:oleObj r:id="rId9" imgW="3400200" imgH="268200" progId="Word.Document.8">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10177" y="3915692"/>
                        <a:ext cx="4536274" cy="358410"/>
                      </a:xfrm>
                      <a:prstGeom prst="rect">
                        <a:avLst/>
                      </a:prstGeom>
                      <a:noFill/>
                      <a:ln>
                        <a:noFill/>
                      </a:ln>
                      <a:extLst/>
                    </p:spPr>
                  </p:pic>
                </p:oleObj>
              </mc:Fallback>
            </mc:AlternateContent>
          </a:graphicData>
        </a:graphic>
      </p:graphicFrame>
      <p:graphicFrame>
        <p:nvGraphicFramePr>
          <p:cNvPr id="9" name="Object 9">
            <a:extLst>
              <a:ext uri="{FF2B5EF4-FFF2-40B4-BE49-F238E27FC236}">
                <a16:creationId xmlns:a16="http://schemas.microsoft.com/office/drawing/2014/main" xmlns="" id="{E1D95FB2-ECBB-349E-FE87-E9053B7DFAFC}"/>
              </a:ext>
            </a:extLst>
          </p:cNvPr>
          <p:cNvGraphicFramePr>
            <a:graphicFrameLocks noChangeAspect="1"/>
          </p:cNvGraphicFramePr>
          <p:nvPr>
            <p:extLst>
              <p:ext uri="{D42A27DB-BD31-4B8C-83A1-F6EECF244321}">
                <p14:modId xmlns:p14="http://schemas.microsoft.com/office/powerpoint/2010/main" val="2538173770"/>
              </p:ext>
            </p:extLst>
          </p:nvPr>
        </p:nvGraphicFramePr>
        <p:xfrm>
          <a:off x="3488421" y="4434508"/>
          <a:ext cx="5798252" cy="1005171"/>
        </p:xfrm>
        <a:graphic>
          <a:graphicData uri="http://schemas.openxmlformats.org/presentationml/2006/ole">
            <mc:AlternateContent xmlns:mc="http://schemas.openxmlformats.org/markup-compatibility/2006">
              <mc:Choice xmlns:v="urn:schemas-microsoft-com:vml" Requires="v">
                <p:oleObj spid="_x0000_s146600" r:id="rId11" imgW="4281480" imgH="748800" progId="Word.Document.8">
                  <p:embed/>
                </p:oleObj>
              </mc:Choice>
              <mc:Fallback>
                <p:oleObj r:id="rId11" imgW="4281480" imgH="748800" progId="Word.Document.8">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488421" y="4434508"/>
                        <a:ext cx="5798252" cy="1005171"/>
                      </a:xfrm>
                      <a:prstGeom prst="rect">
                        <a:avLst/>
                      </a:prstGeom>
                      <a:noFill/>
                      <a:ln>
                        <a:noFill/>
                      </a:ln>
                      <a:extLst/>
                    </p:spPr>
                  </p:pic>
                </p:oleObj>
              </mc:Fallback>
            </mc:AlternateContent>
          </a:graphicData>
        </a:graphic>
      </p:graphicFrame>
      <p:graphicFrame>
        <p:nvGraphicFramePr>
          <p:cNvPr id="10" name="Object 10">
            <a:extLst>
              <a:ext uri="{FF2B5EF4-FFF2-40B4-BE49-F238E27FC236}">
                <a16:creationId xmlns:a16="http://schemas.microsoft.com/office/drawing/2014/main" xmlns="" id="{A99D44B9-A6F0-05D3-358B-A26A4ED6C4C1}"/>
              </a:ext>
            </a:extLst>
          </p:cNvPr>
          <p:cNvGraphicFramePr>
            <a:graphicFrameLocks noChangeAspect="1"/>
          </p:cNvGraphicFramePr>
          <p:nvPr>
            <p:extLst>
              <p:ext uri="{D42A27DB-BD31-4B8C-83A1-F6EECF244321}">
                <p14:modId xmlns:p14="http://schemas.microsoft.com/office/powerpoint/2010/main" val="2282943635"/>
              </p:ext>
            </p:extLst>
          </p:nvPr>
        </p:nvGraphicFramePr>
        <p:xfrm>
          <a:off x="662416" y="5575723"/>
          <a:ext cx="6424184" cy="715020"/>
        </p:xfrm>
        <a:graphic>
          <a:graphicData uri="http://schemas.openxmlformats.org/presentationml/2006/ole">
            <mc:AlternateContent xmlns:mc="http://schemas.openxmlformats.org/markup-compatibility/2006">
              <mc:Choice xmlns:v="urn:schemas-microsoft-com:vml" Requires="v">
                <p:oleObj spid="_x0000_s146601" name="Document" r:id="rId13" imgW="4552812" imgH="511831" progId="Word.Document.8">
                  <p:embed/>
                </p:oleObj>
              </mc:Choice>
              <mc:Fallback>
                <p:oleObj name="Document" r:id="rId13" imgW="4552812" imgH="511831" progId="Word.Document.8">
                  <p:embed/>
                  <p:pic>
                    <p:nvPicPr>
                      <p:cNvPr id="0" name=""/>
                      <p:cNvPicPr>
                        <a:picLocks noChangeAspect="1" noChangeArrowheads="1"/>
                      </p:cNvPicPr>
                      <p:nvPr/>
                    </p:nvPicPr>
                    <p:blipFill>
                      <a:blip r:embed="rId14"/>
                      <a:srcRect/>
                      <a:stretch>
                        <a:fillRect/>
                      </a:stretch>
                    </p:blipFill>
                    <p:spPr bwMode="auto">
                      <a:xfrm>
                        <a:off x="662416" y="5575723"/>
                        <a:ext cx="6424184" cy="715020"/>
                      </a:xfrm>
                      <a:prstGeom prst="rect">
                        <a:avLst/>
                      </a:prstGeom>
                      <a:noFill/>
                      <a:ln>
                        <a:noFill/>
                      </a:ln>
                      <a:extLst/>
                    </p:spPr>
                  </p:pic>
                </p:oleObj>
              </mc:Fallback>
            </mc:AlternateContent>
          </a:graphicData>
        </a:graphic>
      </p:graphicFrame>
      <p:grpSp>
        <p:nvGrpSpPr>
          <p:cNvPr id="11" name="Group 12">
            <a:extLst>
              <a:ext uri="{FF2B5EF4-FFF2-40B4-BE49-F238E27FC236}">
                <a16:creationId xmlns:a16="http://schemas.microsoft.com/office/drawing/2014/main" xmlns="" id="{73FB1DF4-17F7-5791-064F-491537C5019A}"/>
              </a:ext>
            </a:extLst>
          </p:cNvPr>
          <p:cNvGrpSpPr>
            <a:grpSpLocks noChangeAspect="1"/>
          </p:cNvGrpSpPr>
          <p:nvPr/>
        </p:nvGrpSpPr>
        <p:grpSpPr bwMode="auto">
          <a:xfrm>
            <a:off x="394382" y="1236241"/>
            <a:ext cx="4040188" cy="420687"/>
            <a:chOff x="264" y="712"/>
            <a:chExt cx="2545" cy="265"/>
          </a:xfrm>
        </p:grpSpPr>
        <p:sp>
          <p:nvSpPr>
            <p:cNvPr id="12" name="AutoShape 13">
              <a:extLst>
                <a:ext uri="{FF2B5EF4-FFF2-40B4-BE49-F238E27FC236}">
                  <a16:creationId xmlns:a16="http://schemas.microsoft.com/office/drawing/2014/main" xmlns="" id="{05BC7045-528F-2ADB-2B9B-173CE41C2523}"/>
                </a:ext>
              </a:extLst>
            </p:cNvPr>
            <p:cNvSpPr>
              <a:spLocks noChangeAspect="1" noChangeArrowheads="1" noTextEdit="1"/>
            </p:cNvSpPr>
            <p:nvPr/>
          </p:nvSpPr>
          <p:spPr bwMode="auto">
            <a:xfrm>
              <a:off x="264" y="712"/>
              <a:ext cx="2536" cy="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3" name="Rectangle 14">
              <a:extLst>
                <a:ext uri="{FF2B5EF4-FFF2-40B4-BE49-F238E27FC236}">
                  <a16:creationId xmlns:a16="http://schemas.microsoft.com/office/drawing/2014/main" xmlns="" id="{C0FE6BDC-5D31-0538-8331-B592F5F3342A}"/>
                </a:ext>
              </a:extLst>
            </p:cNvPr>
            <p:cNvSpPr>
              <a:spLocks noChangeArrowheads="1"/>
            </p:cNvSpPr>
            <p:nvPr/>
          </p:nvSpPr>
          <p:spPr bwMode="auto">
            <a:xfrm>
              <a:off x="264" y="741"/>
              <a:ext cx="194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fontAlgn="t">
                <a:spcBef>
                  <a:spcPct val="50000"/>
                </a:spcBef>
              </a:pPr>
              <a:r>
                <a:rPr lang="zh-CN" altLang="en-US" sz="2400" b="1" dirty="0">
                  <a:solidFill>
                    <a:schemeClr val="tx1"/>
                  </a:solidFill>
                  <a:latin typeface="+mn-ea"/>
                  <a:ea typeface="+mn-ea"/>
                </a:rPr>
                <a:t>一、频率稳定度的定义</a:t>
              </a:r>
            </a:p>
          </p:txBody>
        </p:sp>
        <p:sp>
          <p:nvSpPr>
            <p:cNvPr id="14" name="Rectangle 15">
              <a:extLst>
                <a:ext uri="{FF2B5EF4-FFF2-40B4-BE49-F238E27FC236}">
                  <a16:creationId xmlns:a16="http://schemas.microsoft.com/office/drawing/2014/main" xmlns="" id="{C80BE412-55C9-F86F-69BB-CAB849D001B0}"/>
                </a:ext>
              </a:extLst>
            </p:cNvPr>
            <p:cNvSpPr>
              <a:spLocks noChangeArrowheads="1"/>
            </p:cNvSpPr>
            <p:nvPr/>
          </p:nvSpPr>
          <p:spPr bwMode="auto">
            <a:xfrm>
              <a:off x="2727" y="741"/>
              <a:ext cx="8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fontAlgn="t">
                <a:spcBef>
                  <a:spcPct val="50000"/>
                </a:spcBef>
              </a:pPr>
              <a:r>
                <a:rPr lang="en-US" altLang="zh-CN" sz="2000" b="1">
                  <a:solidFill>
                    <a:schemeClr val="tx1"/>
                  </a:solidFill>
                  <a:latin typeface="+mn-ea"/>
                  <a:ea typeface="+mn-ea"/>
                </a:rPr>
                <a:t> </a:t>
              </a:r>
            </a:p>
          </p:txBody>
        </p:sp>
      </p:grpSp>
      <p:sp>
        <p:nvSpPr>
          <p:cNvPr id="15" name="Rectangle 16">
            <a:extLst>
              <a:ext uri="{FF2B5EF4-FFF2-40B4-BE49-F238E27FC236}">
                <a16:creationId xmlns:a16="http://schemas.microsoft.com/office/drawing/2014/main" xmlns="" id="{93E05BDA-326D-BCCB-1D1B-E58E2213701E}"/>
              </a:ext>
            </a:extLst>
          </p:cNvPr>
          <p:cNvSpPr>
            <a:spLocks noChangeArrowheads="1"/>
          </p:cNvSpPr>
          <p:nvPr/>
        </p:nvSpPr>
        <p:spPr bwMode="auto">
          <a:xfrm>
            <a:off x="700236" y="4595763"/>
            <a:ext cx="2587713" cy="400110"/>
          </a:xfrm>
          <a:prstGeom prst="rect">
            <a:avLst/>
          </a:prstGeom>
          <a:noFill/>
          <a:ln>
            <a:noFill/>
          </a:ln>
          <a:extLst/>
        </p:spPr>
        <p:txBody>
          <a:bodyPr wrap="square">
            <a:spAutoFit/>
          </a:bodyPr>
          <a:lstStyle/>
          <a:p>
            <a:pPr fontAlgn="t">
              <a:spcBef>
                <a:spcPct val="50000"/>
              </a:spcBef>
            </a:pPr>
            <a:r>
              <a:rPr lang="zh-CN" altLang="en-US" sz="2000" b="1" dirty="0">
                <a:solidFill>
                  <a:schemeClr val="tx1"/>
                </a:solidFill>
                <a:latin typeface="+mn-ea"/>
                <a:ea typeface="+mn-ea"/>
              </a:rPr>
              <a:t>频率稳定度的定义：</a:t>
            </a:r>
          </a:p>
        </p:txBody>
      </p:sp>
    </p:spTree>
    <p:extLst>
      <p:ext uri="{BB962C8B-B14F-4D97-AF65-F5344CB8AC3E}">
        <p14:creationId xmlns:p14="http://schemas.microsoft.com/office/powerpoint/2010/main" val="964789553"/>
      </p:ext>
    </p:extLst>
  </p:cSld>
  <p:clrMapOvr>
    <a:masterClrMapping/>
  </p:clrMapOvr>
  <p:timing>
    <p:tnLst>
      <p:par>
        <p:cTn id="1" dur="indefinite" restart="never" nodeType="tmRoot"/>
      </p:par>
    </p:tn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189</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5.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正弦波</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振荡器</a:t>
            </a:r>
          </a:p>
        </p:txBody>
      </p:sp>
      <p:sp>
        <p:nvSpPr>
          <p:cNvPr id="22" name="Rectangle 2">
            <a:extLst>
              <a:ext uri="{FF2B5EF4-FFF2-40B4-BE49-F238E27FC236}">
                <a16:creationId xmlns:a16="http://schemas.microsoft.com/office/drawing/2014/main" xmlns="" id="{F10AA572-3FC5-A4CD-987D-A86174A406F3}"/>
              </a:ext>
            </a:extLst>
          </p:cNvPr>
          <p:cNvSpPr>
            <a:spLocks noChangeArrowheads="1"/>
          </p:cNvSpPr>
          <p:nvPr/>
        </p:nvSpPr>
        <p:spPr bwMode="auto">
          <a:xfrm>
            <a:off x="352922" y="1407939"/>
            <a:ext cx="593725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z="2000" b="1">
                <a:solidFill>
                  <a:schemeClr val="tx1"/>
                </a:solidFill>
                <a:latin typeface="Times New Roman" panose="02020603050405020304" pitchFamily="18" charset="0"/>
                <a:cs typeface="Times New Roman" panose="02020603050405020304" pitchFamily="18" charset="0"/>
              </a:rPr>
              <a:t>具体分析导致频率不稳定的因素：</a:t>
            </a:r>
          </a:p>
        </p:txBody>
      </p:sp>
      <p:sp>
        <p:nvSpPr>
          <p:cNvPr id="23" name="Rectangle 3">
            <a:extLst>
              <a:ext uri="{FF2B5EF4-FFF2-40B4-BE49-F238E27FC236}">
                <a16:creationId xmlns:a16="http://schemas.microsoft.com/office/drawing/2014/main" xmlns="" id="{841CD7BD-72A6-EB35-C86B-33D8F90AB991}"/>
              </a:ext>
            </a:extLst>
          </p:cNvPr>
          <p:cNvSpPr>
            <a:spLocks noChangeArrowheads="1"/>
          </p:cNvSpPr>
          <p:nvPr/>
        </p:nvSpPr>
        <p:spPr bwMode="auto">
          <a:xfrm>
            <a:off x="765672" y="5012445"/>
            <a:ext cx="670718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p>
            <a:pPr fontAlgn="t">
              <a:spcBef>
                <a:spcPct val="50000"/>
              </a:spcBef>
            </a:pPr>
            <a:r>
              <a:rPr lang="zh-CN" altLang="en-US" sz="2000" dirty="0">
                <a:solidFill>
                  <a:srgbClr val="FF0000"/>
                </a:solidFill>
                <a:latin typeface="Times New Roman" panose="02020603050405020304" pitchFamily="18" charset="0"/>
                <a:cs typeface="Times New Roman" panose="02020603050405020304" pitchFamily="18" charset="0"/>
              </a:rPr>
              <a:t>（</a:t>
            </a:r>
            <a:r>
              <a:rPr lang="en-US" altLang="zh-CN" sz="2000" dirty="0">
                <a:solidFill>
                  <a:srgbClr val="FF0000"/>
                </a:solidFill>
                <a:latin typeface="Times New Roman" panose="02020603050405020304" pitchFamily="18" charset="0"/>
                <a:cs typeface="Times New Roman" panose="02020603050405020304" pitchFamily="18" charset="0"/>
              </a:rPr>
              <a:t>3</a:t>
            </a:r>
            <a:r>
              <a:rPr lang="zh-CN" altLang="en-US" sz="2000" dirty="0">
                <a:solidFill>
                  <a:srgbClr val="FF0000"/>
                </a:solidFill>
                <a:latin typeface="Times New Roman" panose="02020603050405020304" pitchFamily="18" charset="0"/>
                <a:cs typeface="Times New Roman" panose="02020603050405020304" pitchFamily="18" charset="0"/>
              </a:rPr>
              <a:t>）</a:t>
            </a:r>
            <a:r>
              <a:rPr lang="zh-CN" altLang="en-US" sz="2000" b="1" dirty="0">
                <a:solidFill>
                  <a:srgbClr val="FF0000"/>
                </a:solidFill>
                <a:latin typeface="Times New Roman" panose="02020603050405020304" pitchFamily="18" charset="0"/>
                <a:cs typeface="Times New Roman" panose="02020603050405020304" pitchFamily="18" charset="0"/>
              </a:rPr>
              <a:t>负载变化 </a:t>
            </a:r>
            <a:r>
              <a:rPr lang="en-US" altLang="zh-CN" sz="2000" b="1" dirty="0">
                <a:solidFill>
                  <a:srgbClr val="FF0000"/>
                </a:solidFill>
                <a:latin typeface="Times New Roman" panose="02020603050405020304" pitchFamily="18" charset="0"/>
                <a:cs typeface="Times New Roman" panose="02020603050405020304" pitchFamily="18" charset="0"/>
              </a:rPr>
              <a:t>——  </a:t>
            </a:r>
            <a:r>
              <a:rPr lang="zh-CN" altLang="en-US" sz="2000" b="1" dirty="0">
                <a:solidFill>
                  <a:srgbClr val="FF0000"/>
                </a:solidFill>
                <a:latin typeface="Times New Roman" panose="02020603050405020304" pitchFamily="18" charset="0"/>
                <a:cs typeface="Times New Roman" panose="02020603050405020304" pitchFamily="18" charset="0"/>
              </a:rPr>
              <a:t>影响回路</a:t>
            </a:r>
            <a:r>
              <a:rPr lang="en-US" altLang="zh-CN" sz="2000" b="1" dirty="0">
                <a:solidFill>
                  <a:srgbClr val="FF0000"/>
                </a:solidFill>
                <a:latin typeface="Times New Roman" panose="02020603050405020304" pitchFamily="18" charset="0"/>
                <a:cs typeface="Times New Roman" panose="02020603050405020304" pitchFamily="18" charset="0"/>
              </a:rPr>
              <a:t>Q</a:t>
            </a:r>
            <a:r>
              <a:rPr lang="zh-CN" altLang="en-US" sz="2000" b="1" dirty="0">
                <a:solidFill>
                  <a:srgbClr val="FF0000"/>
                </a:solidFill>
                <a:latin typeface="Times New Roman" panose="02020603050405020304" pitchFamily="18" charset="0"/>
                <a:cs typeface="Times New Roman" panose="02020603050405020304" pitchFamily="18" charset="0"/>
              </a:rPr>
              <a:t>值</a:t>
            </a:r>
          </a:p>
        </p:txBody>
      </p:sp>
      <p:sp>
        <p:nvSpPr>
          <p:cNvPr id="24" name="Text Box 5">
            <a:extLst>
              <a:ext uri="{FF2B5EF4-FFF2-40B4-BE49-F238E27FC236}">
                <a16:creationId xmlns:a16="http://schemas.microsoft.com/office/drawing/2014/main" xmlns="" id="{F1045CEF-0982-29F6-D452-FD917503B5D3}"/>
              </a:ext>
            </a:extLst>
          </p:cNvPr>
          <p:cNvSpPr txBox="1">
            <a:spLocks noChangeArrowheads="1"/>
          </p:cNvSpPr>
          <p:nvPr/>
        </p:nvSpPr>
        <p:spPr bwMode="auto">
          <a:xfrm>
            <a:off x="765672" y="2205068"/>
            <a:ext cx="78105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p>
            <a:pPr fontAlgn="t">
              <a:spcBef>
                <a:spcPct val="50000"/>
              </a:spcBef>
            </a:pPr>
            <a:r>
              <a:rPr lang="zh-CN" altLang="en-US" sz="2000" b="1" dirty="0">
                <a:solidFill>
                  <a:schemeClr val="tx1"/>
                </a:solidFill>
                <a:latin typeface="Times New Roman" panose="02020603050405020304" pitchFamily="18" charset="0"/>
                <a:cs typeface="Times New Roman" panose="02020603050405020304" pitchFamily="18" charset="0"/>
              </a:rPr>
              <a:t>（</a:t>
            </a:r>
            <a:r>
              <a:rPr lang="en-US" altLang="zh-CN" sz="2000" b="1" dirty="0">
                <a:solidFill>
                  <a:schemeClr val="tx1"/>
                </a:solidFill>
                <a:latin typeface="Times New Roman" panose="02020603050405020304" pitchFamily="18" charset="0"/>
                <a:cs typeface="Times New Roman" panose="02020603050405020304" pitchFamily="18" charset="0"/>
              </a:rPr>
              <a:t>1</a:t>
            </a:r>
            <a:r>
              <a:rPr lang="zh-CN" altLang="en-US" sz="2000" b="1" dirty="0">
                <a:solidFill>
                  <a:schemeClr val="tx1"/>
                </a:solidFill>
                <a:latin typeface="Times New Roman" panose="02020603050405020304" pitchFamily="18" charset="0"/>
                <a:cs typeface="Times New Roman" panose="02020603050405020304" pitchFamily="18" charset="0"/>
              </a:rPr>
              <a:t>）</a:t>
            </a:r>
            <a:r>
              <a:rPr lang="en-US" altLang="zh-CN" sz="2000" b="1" dirty="0">
                <a:solidFill>
                  <a:schemeClr val="tx1"/>
                </a:solidFill>
                <a:latin typeface="Times New Roman" panose="02020603050405020304" pitchFamily="18" charset="0"/>
                <a:cs typeface="Times New Roman" panose="02020603050405020304" pitchFamily="18" charset="0"/>
              </a:rPr>
              <a:t>LC</a:t>
            </a:r>
            <a:r>
              <a:rPr lang="zh-CN" altLang="en-US" sz="2000" b="1" dirty="0">
                <a:solidFill>
                  <a:schemeClr val="tx1"/>
                </a:solidFill>
                <a:latin typeface="Times New Roman" panose="02020603050405020304" pitchFamily="18" charset="0"/>
                <a:cs typeface="Times New Roman" panose="02020603050405020304" pitchFamily="18" charset="0"/>
              </a:rPr>
              <a:t>回路参数不稳定</a:t>
            </a:r>
          </a:p>
        </p:txBody>
      </p:sp>
      <p:sp>
        <p:nvSpPr>
          <p:cNvPr id="25" name="AutoShape 6">
            <a:extLst>
              <a:ext uri="{FF2B5EF4-FFF2-40B4-BE49-F238E27FC236}">
                <a16:creationId xmlns:a16="http://schemas.microsoft.com/office/drawing/2014/main" xmlns="" id="{C6116667-C79F-6F84-3D97-FC36E903953C}"/>
              </a:ext>
            </a:extLst>
          </p:cNvPr>
          <p:cNvSpPr>
            <a:spLocks/>
          </p:cNvSpPr>
          <p:nvPr/>
        </p:nvSpPr>
        <p:spPr bwMode="auto">
          <a:xfrm>
            <a:off x="3793749" y="2118774"/>
            <a:ext cx="252571" cy="465892"/>
          </a:xfrm>
          <a:prstGeom prst="leftBrace">
            <a:avLst>
              <a:gd name="adj1" fmla="val 86856"/>
              <a:gd name="adj2" fmla="val 50000"/>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p>
            <a:endParaRPr lang="zh-CN" altLang="en-US" sz="2000">
              <a:solidFill>
                <a:schemeClr val="tx1"/>
              </a:solidFill>
              <a:latin typeface="Times New Roman" panose="02020603050405020304" pitchFamily="18" charset="0"/>
              <a:cs typeface="Times New Roman" panose="02020603050405020304" pitchFamily="18" charset="0"/>
            </a:endParaRPr>
          </a:p>
        </p:txBody>
      </p:sp>
      <p:sp>
        <p:nvSpPr>
          <p:cNvPr id="26" name="Rectangle 7">
            <a:extLst>
              <a:ext uri="{FF2B5EF4-FFF2-40B4-BE49-F238E27FC236}">
                <a16:creationId xmlns:a16="http://schemas.microsoft.com/office/drawing/2014/main" xmlns="" id="{B6D983E2-8EFA-48B8-E690-AE0946E5F605}"/>
              </a:ext>
            </a:extLst>
          </p:cNvPr>
          <p:cNvSpPr>
            <a:spLocks noChangeArrowheads="1"/>
          </p:cNvSpPr>
          <p:nvPr/>
        </p:nvSpPr>
        <p:spPr bwMode="auto">
          <a:xfrm>
            <a:off x="4030134" y="1926232"/>
            <a:ext cx="69762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pPr fontAlgn="t">
              <a:spcBef>
                <a:spcPct val="50000"/>
              </a:spcBef>
            </a:pPr>
            <a:r>
              <a:rPr lang="zh-CN" altLang="en-US" sz="2000" b="1" dirty="0">
                <a:solidFill>
                  <a:schemeClr val="tx1"/>
                </a:solidFill>
                <a:latin typeface="Times New Roman" panose="02020603050405020304" pitchFamily="18" charset="0"/>
                <a:cs typeface="Times New Roman" panose="02020603050405020304" pitchFamily="18" charset="0"/>
              </a:rPr>
              <a:t>温度</a:t>
            </a:r>
          </a:p>
        </p:txBody>
      </p:sp>
      <p:sp>
        <p:nvSpPr>
          <p:cNvPr id="27" name="Text Box 8">
            <a:extLst>
              <a:ext uri="{FF2B5EF4-FFF2-40B4-BE49-F238E27FC236}">
                <a16:creationId xmlns:a16="http://schemas.microsoft.com/office/drawing/2014/main" xmlns="" id="{70584ED4-C7A7-5C50-99AD-30CD19B43F7C}"/>
              </a:ext>
            </a:extLst>
          </p:cNvPr>
          <p:cNvSpPr txBox="1">
            <a:spLocks noChangeArrowheads="1"/>
          </p:cNvSpPr>
          <p:nvPr/>
        </p:nvSpPr>
        <p:spPr bwMode="auto">
          <a:xfrm>
            <a:off x="4030134" y="2447616"/>
            <a:ext cx="17272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p>
            <a:pPr fontAlgn="t">
              <a:spcBef>
                <a:spcPct val="50000"/>
              </a:spcBef>
            </a:pPr>
            <a:r>
              <a:rPr lang="zh-CN" altLang="en-US" sz="2000" b="1" dirty="0">
                <a:solidFill>
                  <a:schemeClr val="tx1"/>
                </a:solidFill>
                <a:latin typeface="Times New Roman" panose="02020603050405020304" pitchFamily="18" charset="0"/>
                <a:cs typeface="Times New Roman" panose="02020603050405020304" pitchFamily="18" charset="0"/>
              </a:rPr>
              <a:t>机械振动</a:t>
            </a:r>
          </a:p>
        </p:txBody>
      </p:sp>
      <p:sp>
        <p:nvSpPr>
          <p:cNvPr id="28" name="Text Box 9">
            <a:extLst>
              <a:ext uri="{FF2B5EF4-FFF2-40B4-BE49-F238E27FC236}">
                <a16:creationId xmlns:a16="http://schemas.microsoft.com/office/drawing/2014/main" xmlns="" id="{F3A267D7-18EB-8E2F-A245-93447B4D29B8}"/>
              </a:ext>
            </a:extLst>
          </p:cNvPr>
          <p:cNvSpPr txBox="1">
            <a:spLocks noChangeArrowheads="1"/>
          </p:cNvSpPr>
          <p:nvPr/>
        </p:nvSpPr>
        <p:spPr bwMode="auto">
          <a:xfrm>
            <a:off x="765672" y="3772833"/>
            <a:ext cx="37084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p>
            <a:pPr fontAlgn="t">
              <a:spcBef>
                <a:spcPct val="50000"/>
              </a:spcBef>
            </a:pPr>
            <a:r>
              <a:rPr lang="zh-CN" altLang="en-US" sz="2000" b="1" dirty="0">
                <a:solidFill>
                  <a:schemeClr val="tx1"/>
                </a:solidFill>
                <a:latin typeface="Times New Roman" panose="02020603050405020304" pitchFamily="18" charset="0"/>
                <a:cs typeface="Times New Roman" panose="02020603050405020304" pitchFamily="18" charset="0"/>
              </a:rPr>
              <a:t>（</a:t>
            </a:r>
            <a:r>
              <a:rPr lang="en-US" altLang="zh-CN" sz="2000" b="1" dirty="0">
                <a:solidFill>
                  <a:schemeClr val="tx1"/>
                </a:solidFill>
                <a:latin typeface="Times New Roman" panose="02020603050405020304" pitchFamily="18" charset="0"/>
                <a:cs typeface="Times New Roman" panose="02020603050405020304" pitchFamily="18" charset="0"/>
              </a:rPr>
              <a:t>2</a:t>
            </a:r>
            <a:r>
              <a:rPr lang="zh-CN" altLang="en-US" sz="2000" b="1" dirty="0">
                <a:solidFill>
                  <a:schemeClr val="tx1"/>
                </a:solidFill>
                <a:latin typeface="Times New Roman" panose="02020603050405020304" pitchFamily="18" charset="0"/>
                <a:cs typeface="Times New Roman" panose="02020603050405020304" pitchFamily="18" charset="0"/>
              </a:rPr>
              <a:t>）晶体管参数不稳定</a:t>
            </a:r>
          </a:p>
        </p:txBody>
      </p:sp>
      <p:sp>
        <p:nvSpPr>
          <p:cNvPr id="29" name="Rectangle 11">
            <a:extLst>
              <a:ext uri="{FF2B5EF4-FFF2-40B4-BE49-F238E27FC236}">
                <a16:creationId xmlns:a16="http://schemas.microsoft.com/office/drawing/2014/main" xmlns="" id="{EE868323-393B-863D-1C7E-4B39083B004D}"/>
              </a:ext>
            </a:extLst>
          </p:cNvPr>
          <p:cNvSpPr>
            <a:spLocks noChangeArrowheads="1"/>
          </p:cNvSpPr>
          <p:nvPr/>
        </p:nvSpPr>
        <p:spPr bwMode="auto">
          <a:xfrm>
            <a:off x="4119266" y="3490384"/>
            <a:ext cx="69762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pPr fontAlgn="t">
              <a:spcBef>
                <a:spcPct val="50000"/>
              </a:spcBef>
            </a:pPr>
            <a:r>
              <a:rPr lang="zh-CN" altLang="en-US" sz="2000" b="1" dirty="0">
                <a:solidFill>
                  <a:schemeClr val="tx1"/>
                </a:solidFill>
                <a:latin typeface="Times New Roman" panose="02020603050405020304" pitchFamily="18" charset="0"/>
                <a:cs typeface="Times New Roman" panose="02020603050405020304" pitchFamily="18" charset="0"/>
              </a:rPr>
              <a:t>温度</a:t>
            </a:r>
          </a:p>
        </p:txBody>
      </p:sp>
      <p:sp>
        <p:nvSpPr>
          <p:cNvPr id="30" name="Rectangle 12">
            <a:extLst>
              <a:ext uri="{FF2B5EF4-FFF2-40B4-BE49-F238E27FC236}">
                <a16:creationId xmlns:a16="http://schemas.microsoft.com/office/drawing/2014/main" xmlns="" id="{E4B8472D-FE47-EFC4-23C3-C551820BD842}"/>
              </a:ext>
            </a:extLst>
          </p:cNvPr>
          <p:cNvSpPr>
            <a:spLocks noChangeArrowheads="1"/>
          </p:cNvSpPr>
          <p:nvPr/>
        </p:nvSpPr>
        <p:spPr bwMode="auto">
          <a:xfrm>
            <a:off x="4030134" y="4091825"/>
            <a:ext cx="121058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pPr fontAlgn="t">
              <a:spcBef>
                <a:spcPct val="50000"/>
              </a:spcBef>
            </a:pPr>
            <a:r>
              <a:rPr lang="zh-CN" altLang="en-US" sz="2000" b="1" dirty="0">
                <a:solidFill>
                  <a:schemeClr val="tx1"/>
                </a:solidFill>
                <a:latin typeface="Times New Roman" panose="02020603050405020304" pitchFamily="18" charset="0"/>
                <a:cs typeface="Times New Roman" panose="02020603050405020304" pitchFamily="18" charset="0"/>
              </a:rPr>
              <a:t>电源电压</a:t>
            </a:r>
          </a:p>
        </p:txBody>
      </p:sp>
      <p:sp>
        <p:nvSpPr>
          <p:cNvPr id="31" name="AutoShape 6">
            <a:extLst>
              <a:ext uri="{FF2B5EF4-FFF2-40B4-BE49-F238E27FC236}">
                <a16:creationId xmlns:a16="http://schemas.microsoft.com/office/drawing/2014/main" xmlns="" id="{97D9648D-74B5-F5F5-2662-E89DC656079C}"/>
              </a:ext>
            </a:extLst>
          </p:cNvPr>
          <p:cNvSpPr>
            <a:spLocks/>
          </p:cNvSpPr>
          <p:nvPr/>
        </p:nvSpPr>
        <p:spPr bwMode="auto">
          <a:xfrm>
            <a:off x="3776445" y="3691546"/>
            <a:ext cx="269875" cy="562684"/>
          </a:xfrm>
          <a:prstGeom prst="leftBrace">
            <a:avLst>
              <a:gd name="adj1" fmla="val 86856"/>
              <a:gd name="adj2" fmla="val 50000"/>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p>
            <a:endParaRPr lang="zh-CN" altLang="en-US" sz="200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83180321"/>
      </p:ext>
    </p:extLst>
  </p:cSld>
  <p:clrMapOvr>
    <a:masterClrMapping/>
  </p:clrMapOvr>
  <p:timing>
    <p:tnLst>
      <p:par>
        <p:cTn id="1" dur="indefinite" restart="never" nodeType="tmRoot"/>
      </p:par>
    </p:tnLst>
  </p:timing>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190</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5.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正弦波</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振荡器</a:t>
            </a:r>
          </a:p>
        </p:txBody>
      </p:sp>
      <p:sp>
        <p:nvSpPr>
          <p:cNvPr id="5" name="Rectangle 4">
            <a:extLst>
              <a:ext uri="{FF2B5EF4-FFF2-40B4-BE49-F238E27FC236}">
                <a16:creationId xmlns:a16="http://schemas.microsoft.com/office/drawing/2014/main" xmlns="" id="{F6A8127A-677E-5317-9400-FC880E426B20}"/>
              </a:ext>
            </a:extLst>
          </p:cNvPr>
          <p:cNvSpPr>
            <a:spLocks noChangeArrowheads="1"/>
          </p:cNvSpPr>
          <p:nvPr/>
        </p:nvSpPr>
        <p:spPr bwMode="auto">
          <a:xfrm>
            <a:off x="0" y="1266162"/>
            <a:ext cx="914399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fontAlgn="t">
              <a:spcBef>
                <a:spcPct val="50000"/>
              </a:spcBef>
            </a:pPr>
            <a:r>
              <a:rPr lang="zh-CN" altLang="en-US" sz="2200" b="1" dirty="0" smtClean="0">
                <a:solidFill>
                  <a:schemeClr val="tx1"/>
                </a:solidFill>
                <a:latin typeface="+mn-ea"/>
                <a:ea typeface="+mn-ea"/>
              </a:rPr>
              <a:t>振荡器</a:t>
            </a:r>
            <a:r>
              <a:rPr lang="zh-CN" altLang="en-US" sz="2200" b="1" dirty="0">
                <a:solidFill>
                  <a:schemeClr val="tx1"/>
                </a:solidFill>
                <a:latin typeface="+mn-ea"/>
                <a:ea typeface="+mn-ea"/>
              </a:rPr>
              <a:t>的稳频措施</a:t>
            </a:r>
          </a:p>
        </p:txBody>
      </p:sp>
      <p:graphicFrame>
        <p:nvGraphicFramePr>
          <p:cNvPr id="6" name="Object 2">
            <a:extLst>
              <a:ext uri="{FF2B5EF4-FFF2-40B4-BE49-F238E27FC236}">
                <a16:creationId xmlns:a16="http://schemas.microsoft.com/office/drawing/2014/main" xmlns="" id="{985DED57-4DA0-1B3C-3F4B-78F028586FAE}"/>
              </a:ext>
            </a:extLst>
          </p:cNvPr>
          <p:cNvGraphicFramePr>
            <a:graphicFrameLocks noChangeAspect="1"/>
          </p:cNvGraphicFramePr>
          <p:nvPr>
            <p:extLst>
              <p:ext uri="{D42A27DB-BD31-4B8C-83A1-F6EECF244321}">
                <p14:modId xmlns:p14="http://schemas.microsoft.com/office/powerpoint/2010/main" val="3748769836"/>
              </p:ext>
            </p:extLst>
          </p:nvPr>
        </p:nvGraphicFramePr>
        <p:xfrm>
          <a:off x="563621" y="2404936"/>
          <a:ext cx="7244448" cy="664628"/>
        </p:xfrm>
        <a:graphic>
          <a:graphicData uri="http://schemas.openxmlformats.org/presentationml/2006/ole">
            <mc:AlternateContent xmlns:mc="http://schemas.openxmlformats.org/markup-compatibility/2006">
              <mc:Choice xmlns:v="urn:schemas-microsoft-com:vml" Requires="v">
                <p:oleObj spid="_x0000_s147485" r:id="rId3" imgW="5486040" imgH="495000" progId="Word.Document.8">
                  <p:embed/>
                </p:oleObj>
              </mc:Choice>
              <mc:Fallback>
                <p:oleObj r:id="rId3" imgW="5486040" imgH="495000" progId="Word.Document.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3621" y="2404936"/>
                        <a:ext cx="7244448" cy="664628"/>
                      </a:xfrm>
                      <a:prstGeom prst="rect">
                        <a:avLst/>
                      </a:prstGeom>
                      <a:noFill/>
                      <a:ln>
                        <a:noFill/>
                      </a:ln>
                    </p:spPr>
                  </p:pic>
                </p:oleObj>
              </mc:Fallback>
            </mc:AlternateContent>
          </a:graphicData>
        </a:graphic>
      </p:graphicFrame>
      <p:sp>
        <p:nvSpPr>
          <p:cNvPr id="7" name="Rectangle 5">
            <a:extLst>
              <a:ext uri="{FF2B5EF4-FFF2-40B4-BE49-F238E27FC236}">
                <a16:creationId xmlns:a16="http://schemas.microsoft.com/office/drawing/2014/main" xmlns="" id="{D128C565-B264-5993-B538-7423CEC033CD}"/>
              </a:ext>
            </a:extLst>
          </p:cNvPr>
          <p:cNvSpPr>
            <a:spLocks noChangeArrowheads="1"/>
          </p:cNvSpPr>
          <p:nvPr/>
        </p:nvSpPr>
        <p:spPr bwMode="auto">
          <a:xfrm>
            <a:off x="419100" y="2004826"/>
            <a:ext cx="38290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p>
            <a:pPr fontAlgn="t">
              <a:spcBef>
                <a:spcPct val="50000"/>
              </a:spcBef>
            </a:pPr>
            <a:r>
              <a:rPr lang="en-US" altLang="zh-CN" sz="2000" b="1" dirty="0">
                <a:solidFill>
                  <a:srgbClr val="FF0000"/>
                </a:solidFill>
                <a:latin typeface="Times New Roman" panose="02020603050405020304" pitchFamily="18" charset="0"/>
                <a:cs typeface="Times New Roman" panose="02020603050405020304" pitchFamily="18" charset="0"/>
              </a:rPr>
              <a:t>2</a:t>
            </a:r>
            <a:r>
              <a:rPr lang="zh-CN" altLang="en-US" sz="2000" b="1" dirty="0">
                <a:solidFill>
                  <a:srgbClr val="FF0000"/>
                </a:solidFill>
                <a:latin typeface="Times New Roman" panose="02020603050405020304" pitchFamily="18" charset="0"/>
                <a:cs typeface="Times New Roman" panose="02020603050405020304" pitchFamily="18" charset="0"/>
              </a:rPr>
              <a:t>、提高振荡回路的标准性</a:t>
            </a:r>
          </a:p>
        </p:txBody>
      </p:sp>
      <p:sp>
        <p:nvSpPr>
          <p:cNvPr id="8" name="Rectangle 6">
            <a:extLst>
              <a:ext uri="{FF2B5EF4-FFF2-40B4-BE49-F238E27FC236}">
                <a16:creationId xmlns:a16="http://schemas.microsoft.com/office/drawing/2014/main" xmlns="" id="{E8FAFEF1-0A1E-0481-C6AF-55D3087D3E69}"/>
              </a:ext>
            </a:extLst>
          </p:cNvPr>
          <p:cNvSpPr>
            <a:spLocks noChangeArrowheads="1"/>
          </p:cNvSpPr>
          <p:nvPr/>
        </p:nvSpPr>
        <p:spPr bwMode="auto">
          <a:xfrm>
            <a:off x="419100" y="1604716"/>
            <a:ext cx="66675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p>
            <a:r>
              <a:rPr lang="en-US" altLang="zh-CN" sz="2000" b="1" dirty="0">
                <a:solidFill>
                  <a:srgbClr val="FF0000"/>
                </a:solidFill>
                <a:latin typeface="Times New Roman" panose="02020603050405020304" pitchFamily="18" charset="0"/>
                <a:cs typeface="Times New Roman" panose="02020603050405020304" pitchFamily="18" charset="0"/>
              </a:rPr>
              <a:t>1</a:t>
            </a:r>
            <a:r>
              <a:rPr lang="zh-CN" altLang="en-US" sz="2000" b="1" dirty="0">
                <a:solidFill>
                  <a:srgbClr val="FF0000"/>
                </a:solidFill>
                <a:latin typeface="Times New Roman" panose="02020603050405020304" pitchFamily="18" charset="0"/>
                <a:cs typeface="Times New Roman" panose="02020603050405020304" pitchFamily="18" charset="0"/>
              </a:rPr>
              <a:t>、减小外界因素变化的影响</a:t>
            </a:r>
          </a:p>
        </p:txBody>
      </p:sp>
      <p:sp>
        <p:nvSpPr>
          <p:cNvPr id="9" name="Rectangle 11">
            <a:extLst>
              <a:ext uri="{FF2B5EF4-FFF2-40B4-BE49-F238E27FC236}">
                <a16:creationId xmlns:a16="http://schemas.microsoft.com/office/drawing/2014/main" xmlns="" id="{7720BA2E-FAC5-E842-5E96-1B20572ABAC8}"/>
              </a:ext>
            </a:extLst>
          </p:cNvPr>
          <p:cNvSpPr>
            <a:spLocks noChangeArrowheads="1"/>
          </p:cNvSpPr>
          <p:nvPr/>
        </p:nvSpPr>
        <p:spPr bwMode="auto">
          <a:xfrm>
            <a:off x="419100" y="3008288"/>
            <a:ext cx="820102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p>
            <a:pPr fontAlgn="t">
              <a:spcBef>
                <a:spcPct val="50000"/>
              </a:spcBef>
            </a:pPr>
            <a:r>
              <a:rPr lang="en-US" altLang="zh-CN" sz="2000" b="1" dirty="0">
                <a:solidFill>
                  <a:srgbClr val="FF0000"/>
                </a:solidFill>
                <a:latin typeface="Times New Roman" panose="02020603050405020304" pitchFamily="18" charset="0"/>
                <a:cs typeface="Times New Roman" panose="02020603050405020304" pitchFamily="18" charset="0"/>
              </a:rPr>
              <a:t>3</a:t>
            </a:r>
            <a:r>
              <a:rPr lang="zh-CN" altLang="en-US" sz="2000" b="1" dirty="0">
                <a:solidFill>
                  <a:srgbClr val="FF0000"/>
                </a:solidFill>
                <a:latin typeface="Times New Roman" panose="02020603050405020304" pitchFamily="18" charset="0"/>
                <a:cs typeface="Times New Roman" panose="02020603050405020304" pitchFamily="18" charset="0"/>
              </a:rPr>
              <a:t>、提高回路的品质因数</a:t>
            </a:r>
          </a:p>
        </p:txBody>
      </p:sp>
      <p:sp>
        <p:nvSpPr>
          <p:cNvPr id="10" name="Rectangle 12">
            <a:extLst>
              <a:ext uri="{FF2B5EF4-FFF2-40B4-BE49-F238E27FC236}">
                <a16:creationId xmlns:a16="http://schemas.microsoft.com/office/drawing/2014/main" xmlns="" id="{3C70344B-998A-2BE4-6F92-FC79265D8BAC}"/>
              </a:ext>
            </a:extLst>
          </p:cNvPr>
          <p:cNvSpPr>
            <a:spLocks noChangeArrowheads="1"/>
          </p:cNvSpPr>
          <p:nvPr/>
        </p:nvSpPr>
        <p:spPr bwMode="auto">
          <a:xfrm>
            <a:off x="419100" y="5753140"/>
            <a:ext cx="7202487"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p>
            <a:pPr>
              <a:lnSpc>
                <a:spcPct val="130000"/>
              </a:lnSpc>
              <a:spcBef>
                <a:spcPct val="20000"/>
              </a:spcBef>
            </a:pPr>
            <a:r>
              <a:rPr lang="en-US" altLang="zh-CN" sz="2000" b="1" dirty="0">
                <a:solidFill>
                  <a:srgbClr val="FF0000"/>
                </a:solidFill>
                <a:latin typeface="Times New Roman" panose="02020603050405020304" pitchFamily="18" charset="0"/>
                <a:cs typeface="Times New Roman" panose="02020603050405020304" pitchFamily="18" charset="0"/>
              </a:rPr>
              <a:t>4</a:t>
            </a:r>
            <a:r>
              <a:rPr lang="zh-CN" altLang="en-US" sz="2000" b="1" dirty="0">
                <a:solidFill>
                  <a:srgbClr val="FF0000"/>
                </a:solidFill>
                <a:latin typeface="Times New Roman" panose="02020603050405020304" pitchFamily="18" charset="0"/>
                <a:cs typeface="Times New Roman" panose="02020603050405020304" pitchFamily="18" charset="0"/>
              </a:rPr>
              <a:t>、选用高稳定度的振荡电路</a:t>
            </a:r>
          </a:p>
        </p:txBody>
      </p:sp>
      <p:sp>
        <p:nvSpPr>
          <p:cNvPr id="11" name="Rectangle 13">
            <a:extLst>
              <a:ext uri="{FF2B5EF4-FFF2-40B4-BE49-F238E27FC236}">
                <a16:creationId xmlns:a16="http://schemas.microsoft.com/office/drawing/2014/main" xmlns="" id="{A9CD0CDE-A065-C47F-5872-4BDA0BDCE9F9}"/>
              </a:ext>
            </a:extLst>
          </p:cNvPr>
          <p:cNvSpPr>
            <a:spLocks noChangeArrowheads="1"/>
          </p:cNvSpPr>
          <p:nvPr/>
        </p:nvSpPr>
        <p:spPr bwMode="auto">
          <a:xfrm>
            <a:off x="481258" y="3347009"/>
            <a:ext cx="728757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pPr fontAlgn="t">
              <a:spcBef>
                <a:spcPct val="50000"/>
              </a:spcBef>
            </a:pPr>
            <a:r>
              <a:rPr lang="zh-CN" altLang="en-US" sz="2000" b="1" dirty="0">
                <a:solidFill>
                  <a:schemeClr val="tx1"/>
                </a:solidFill>
                <a:latin typeface="+mn-ea"/>
                <a:ea typeface="+mn-ea"/>
              </a:rPr>
              <a:t>据</a:t>
            </a:r>
            <a:r>
              <a:rPr lang="en-US" altLang="zh-CN" sz="2000" b="1" dirty="0">
                <a:solidFill>
                  <a:schemeClr val="tx1"/>
                </a:solidFill>
                <a:latin typeface="+mn-ea"/>
                <a:ea typeface="+mn-ea"/>
              </a:rPr>
              <a:t>LC</a:t>
            </a:r>
            <a:r>
              <a:rPr lang="zh-CN" altLang="en-US" sz="2000" b="1" dirty="0">
                <a:solidFill>
                  <a:schemeClr val="tx1"/>
                </a:solidFill>
                <a:latin typeface="+mn-ea"/>
                <a:ea typeface="+mn-ea"/>
              </a:rPr>
              <a:t>回路的特性</a:t>
            </a:r>
            <a:r>
              <a:rPr lang="en-US" altLang="zh-CN" sz="2000" b="1" dirty="0">
                <a:solidFill>
                  <a:schemeClr val="tx1"/>
                </a:solidFill>
                <a:latin typeface="+mn-ea"/>
                <a:ea typeface="+mn-ea"/>
              </a:rPr>
              <a:t>,Q</a:t>
            </a:r>
            <a:r>
              <a:rPr lang="zh-CN" altLang="en-US" sz="2000" b="1" dirty="0">
                <a:solidFill>
                  <a:schemeClr val="tx1"/>
                </a:solidFill>
                <a:latin typeface="+mn-ea"/>
                <a:ea typeface="+mn-ea"/>
              </a:rPr>
              <a:t>值越大</a:t>
            </a:r>
            <a:r>
              <a:rPr lang="en-US" altLang="zh-CN" sz="2000" b="1" dirty="0">
                <a:solidFill>
                  <a:schemeClr val="tx1"/>
                </a:solidFill>
                <a:latin typeface="+mn-ea"/>
                <a:ea typeface="+mn-ea"/>
              </a:rPr>
              <a:t>, </a:t>
            </a:r>
            <a:r>
              <a:rPr lang="zh-CN" altLang="en-US" sz="2000" b="1" dirty="0">
                <a:solidFill>
                  <a:schemeClr val="tx1"/>
                </a:solidFill>
                <a:latin typeface="+mn-ea"/>
                <a:ea typeface="+mn-ea"/>
              </a:rPr>
              <a:t>相频特性曲线越陡峭</a:t>
            </a:r>
            <a:r>
              <a:rPr lang="en-US" altLang="zh-CN" sz="2000" b="1" dirty="0">
                <a:solidFill>
                  <a:schemeClr val="tx1"/>
                </a:solidFill>
                <a:latin typeface="+mn-ea"/>
                <a:ea typeface="+mn-ea"/>
              </a:rPr>
              <a:t>,</a:t>
            </a:r>
            <a:r>
              <a:rPr lang="zh-CN" altLang="en-US" sz="2000" b="1" dirty="0">
                <a:solidFill>
                  <a:schemeClr val="tx1"/>
                </a:solidFill>
                <a:latin typeface="+mn-ea"/>
                <a:ea typeface="+mn-ea"/>
              </a:rPr>
              <a:t>相位越稳定。</a:t>
            </a:r>
          </a:p>
        </p:txBody>
      </p:sp>
      <p:sp>
        <p:nvSpPr>
          <p:cNvPr id="12" name="Rectangle 14">
            <a:extLst>
              <a:ext uri="{FF2B5EF4-FFF2-40B4-BE49-F238E27FC236}">
                <a16:creationId xmlns:a16="http://schemas.microsoft.com/office/drawing/2014/main" xmlns="" id="{792BA290-8892-56D2-F2AF-7787657EFBFF}"/>
              </a:ext>
            </a:extLst>
          </p:cNvPr>
          <p:cNvSpPr>
            <a:spLocks noChangeArrowheads="1"/>
          </p:cNvSpPr>
          <p:nvPr/>
        </p:nvSpPr>
        <p:spPr bwMode="auto">
          <a:xfrm>
            <a:off x="806667" y="6116957"/>
            <a:ext cx="6636753" cy="4356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pPr>
              <a:lnSpc>
                <a:spcPct val="130000"/>
              </a:lnSpc>
              <a:spcBef>
                <a:spcPct val="20000"/>
              </a:spcBef>
            </a:pPr>
            <a:r>
              <a:rPr lang="zh-CN" altLang="en-US" sz="2000" b="1" dirty="0">
                <a:solidFill>
                  <a:schemeClr val="tx1"/>
                </a:solidFill>
                <a:latin typeface="+mn-ea"/>
                <a:ea typeface="+mn-ea"/>
              </a:rPr>
              <a:t>如克拉波振荡电路、西勒振荡电路、石英晶体振荡电路。</a:t>
            </a:r>
          </a:p>
        </p:txBody>
      </p:sp>
      <p:pic>
        <p:nvPicPr>
          <p:cNvPr id="13" name="图片 12">
            <a:extLst>
              <a:ext uri="{FF2B5EF4-FFF2-40B4-BE49-F238E27FC236}">
                <a16:creationId xmlns:a16="http://schemas.microsoft.com/office/drawing/2014/main" xmlns="" id="{5E7A2DA8-596C-DF69-A23F-DC5410E0CB8D}"/>
              </a:ext>
            </a:extLst>
          </p:cNvPr>
          <p:cNvPicPr>
            <a:picLocks noChangeAspect="1"/>
          </p:cNvPicPr>
          <p:nvPr/>
        </p:nvPicPr>
        <p:blipFill>
          <a:blip r:embed="rId5">
            <a:clrChange>
              <a:clrFrom>
                <a:srgbClr val="FEFEFE"/>
              </a:clrFrom>
              <a:clrTo>
                <a:srgbClr val="FEFEFE">
                  <a:alpha val="0"/>
                </a:srgbClr>
              </a:clrTo>
            </a:clrChange>
          </a:blip>
          <a:stretch>
            <a:fillRect/>
          </a:stretch>
        </p:blipFill>
        <p:spPr>
          <a:xfrm>
            <a:off x="2212637" y="3685843"/>
            <a:ext cx="4071026" cy="2153669"/>
          </a:xfrm>
          <a:prstGeom prst="rect">
            <a:avLst/>
          </a:prstGeom>
        </p:spPr>
      </p:pic>
    </p:spTree>
    <p:extLst>
      <p:ext uri="{BB962C8B-B14F-4D97-AF65-F5344CB8AC3E}">
        <p14:creationId xmlns:p14="http://schemas.microsoft.com/office/powerpoint/2010/main" val="1764871775"/>
      </p:ext>
    </p:extLst>
  </p:cSld>
  <p:clrMapOvr>
    <a:masterClrMapping/>
  </p:clrMapOvr>
  <p:timing>
    <p:tnLst>
      <p:par>
        <p:cTn id="1" dur="indefinite" restart="never" nodeType="tmRoot"/>
      </p:par>
    </p:tnLst>
  </p:timing>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191</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5.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正弦波</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振荡器</a:t>
            </a:r>
          </a:p>
        </p:txBody>
      </p:sp>
      <p:sp>
        <p:nvSpPr>
          <p:cNvPr id="5" name="Rectangle 6">
            <a:extLst>
              <a:ext uri="{FF2B5EF4-FFF2-40B4-BE49-F238E27FC236}">
                <a16:creationId xmlns:a16="http://schemas.microsoft.com/office/drawing/2014/main" xmlns="" id="{B0B06BA4-C731-75D2-D13C-633454660F46}"/>
              </a:ext>
            </a:extLst>
          </p:cNvPr>
          <p:cNvSpPr>
            <a:spLocks noChangeArrowheads="1"/>
          </p:cNvSpPr>
          <p:nvPr/>
        </p:nvSpPr>
        <p:spPr bwMode="auto">
          <a:xfrm>
            <a:off x="179512" y="1286122"/>
            <a:ext cx="7620000" cy="6096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800">
                <a:solidFill>
                  <a:schemeClr val="tx1"/>
                </a:solidFill>
                <a:latin typeface="Tahoma" panose="020B0604030504040204" pitchFamily="34" charset="0"/>
                <a:ea typeface="宋体" panose="02010600030101010101" pitchFamily="2" charset="-122"/>
              </a:defRPr>
            </a:lvl1pPr>
            <a:lvl2pPr>
              <a:defRPr sz="800">
                <a:solidFill>
                  <a:schemeClr val="tx1"/>
                </a:solidFill>
                <a:latin typeface="Tahoma" panose="020B0604030504040204" pitchFamily="34" charset="0"/>
                <a:ea typeface="宋体" panose="02010600030101010101" pitchFamily="2" charset="-122"/>
              </a:defRPr>
            </a:lvl2pPr>
            <a:lvl3pPr>
              <a:defRPr sz="800">
                <a:solidFill>
                  <a:schemeClr val="tx1"/>
                </a:solidFill>
                <a:latin typeface="Tahoma" panose="020B0604030504040204" pitchFamily="34" charset="0"/>
                <a:ea typeface="宋体" panose="02010600030101010101" pitchFamily="2" charset="-122"/>
              </a:defRPr>
            </a:lvl3pPr>
            <a:lvl4pPr>
              <a:defRPr sz="800">
                <a:solidFill>
                  <a:schemeClr val="tx1"/>
                </a:solidFill>
                <a:latin typeface="Tahoma" panose="020B0604030504040204" pitchFamily="34" charset="0"/>
                <a:ea typeface="宋体" panose="02010600030101010101" pitchFamily="2" charset="-122"/>
              </a:defRPr>
            </a:lvl4pPr>
            <a:lvl5pPr>
              <a:defRPr sz="800">
                <a:solidFill>
                  <a:schemeClr val="tx1"/>
                </a:solidFill>
                <a:latin typeface="Tahoma" panose="020B0604030504040204" pitchFamily="34" charset="0"/>
                <a:ea typeface="宋体" panose="02010600030101010101" pitchFamily="2" charset="-122"/>
              </a:defRPr>
            </a:lvl5pPr>
            <a:lvl6pPr fontAlgn="base">
              <a:spcBef>
                <a:spcPct val="0"/>
              </a:spcBef>
              <a:spcAft>
                <a:spcPct val="0"/>
              </a:spcAft>
              <a:defRPr sz="800">
                <a:solidFill>
                  <a:schemeClr val="tx1"/>
                </a:solidFill>
                <a:latin typeface="Tahoma" panose="020B0604030504040204" pitchFamily="34" charset="0"/>
                <a:ea typeface="宋体" panose="02010600030101010101" pitchFamily="2" charset="-122"/>
              </a:defRPr>
            </a:lvl6pPr>
            <a:lvl7pPr fontAlgn="base">
              <a:spcBef>
                <a:spcPct val="0"/>
              </a:spcBef>
              <a:spcAft>
                <a:spcPct val="0"/>
              </a:spcAft>
              <a:defRPr sz="800">
                <a:solidFill>
                  <a:schemeClr val="tx1"/>
                </a:solidFill>
                <a:latin typeface="Tahoma" panose="020B0604030504040204" pitchFamily="34" charset="0"/>
                <a:ea typeface="宋体" panose="02010600030101010101" pitchFamily="2" charset="-122"/>
              </a:defRPr>
            </a:lvl7pPr>
            <a:lvl8pPr fontAlgn="base">
              <a:spcBef>
                <a:spcPct val="0"/>
              </a:spcBef>
              <a:spcAft>
                <a:spcPct val="0"/>
              </a:spcAft>
              <a:defRPr sz="800">
                <a:solidFill>
                  <a:schemeClr val="tx1"/>
                </a:solidFill>
                <a:latin typeface="Tahoma" panose="020B0604030504040204" pitchFamily="34" charset="0"/>
                <a:ea typeface="宋体" panose="02010600030101010101" pitchFamily="2" charset="-122"/>
              </a:defRPr>
            </a:lvl8pPr>
            <a:lvl9pPr fontAlgn="base">
              <a:spcBef>
                <a:spcPct val="0"/>
              </a:spcBef>
              <a:spcAft>
                <a:spcPct val="0"/>
              </a:spcAft>
              <a:defRPr sz="800">
                <a:solidFill>
                  <a:schemeClr val="tx1"/>
                </a:solidFill>
                <a:latin typeface="Tahoma" panose="020B0604030504040204" pitchFamily="34" charset="0"/>
                <a:ea typeface="宋体" panose="02010600030101010101" pitchFamily="2" charset="-122"/>
              </a:defRPr>
            </a:lvl9pPr>
          </a:lstStyle>
          <a:p>
            <a:pPr>
              <a:buClr>
                <a:schemeClr val="folHlink"/>
              </a:buClr>
              <a:buSzPct val="60000"/>
              <a:buFont typeface="Wingdings" panose="05000000000000000000" pitchFamily="2" charset="2"/>
              <a:buNone/>
            </a:pPr>
            <a:r>
              <a:rPr lang="zh-CN" altLang="en-US" sz="2400" b="1" dirty="0">
                <a:latin typeface="+mn-ea"/>
                <a:ea typeface="+mn-ea"/>
              </a:rPr>
              <a:t>一、一般电容三点式振荡电路的稳定性分析</a:t>
            </a:r>
          </a:p>
        </p:txBody>
      </p:sp>
      <p:graphicFrame>
        <p:nvGraphicFramePr>
          <p:cNvPr id="6" name="Object 7">
            <a:extLst>
              <a:ext uri="{FF2B5EF4-FFF2-40B4-BE49-F238E27FC236}">
                <a16:creationId xmlns:a16="http://schemas.microsoft.com/office/drawing/2014/main" xmlns="" id="{33AA88EC-5C00-19E3-27A7-60458FC08C67}"/>
              </a:ext>
            </a:extLst>
          </p:cNvPr>
          <p:cNvGraphicFramePr>
            <a:graphicFrameLocks noChangeAspect="1"/>
          </p:cNvGraphicFramePr>
          <p:nvPr>
            <p:extLst>
              <p:ext uri="{D42A27DB-BD31-4B8C-83A1-F6EECF244321}">
                <p14:modId xmlns:p14="http://schemas.microsoft.com/office/powerpoint/2010/main" val="2357797565"/>
              </p:ext>
            </p:extLst>
          </p:nvPr>
        </p:nvGraphicFramePr>
        <p:xfrm>
          <a:off x="4424477" y="3035305"/>
          <a:ext cx="3176067" cy="1279366"/>
        </p:xfrm>
        <a:graphic>
          <a:graphicData uri="http://schemas.openxmlformats.org/presentationml/2006/ole">
            <mc:AlternateContent xmlns:mc="http://schemas.openxmlformats.org/markup-compatibility/2006">
              <mc:Choice xmlns:v="urn:schemas-microsoft-com:vml" Requires="v">
                <p:oleObj spid="_x0000_s148510" r:id="rId3" imgW="1765300" imgH="711200" progId="Equation.3">
                  <p:embed/>
                </p:oleObj>
              </mc:Choice>
              <mc:Fallback>
                <p:oleObj r:id="rId3" imgW="1765300" imgH="711200" progId="Equation.3">
                  <p:embed/>
                  <p:pic>
                    <p:nvPicPr>
                      <p:cNvPr id="0" name=""/>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24477" y="3035305"/>
                        <a:ext cx="3176067" cy="1279366"/>
                      </a:xfrm>
                      <a:prstGeom prst="rect">
                        <a:avLst/>
                      </a:prstGeom>
                      <a:ln>
                        <a:noFill/>
                      </a:ln>
                      <a:extLst/>
                    </p:spPr>
                  </p:pic>
                </p:oleObj>
              </mc:Fallback>
            </mc:AlternateContent>
          </a:graphicData>
        </a:graphic>
      </p:graphicFrame>
      <p:sp>
        <p:nvSpPr>
          <p:cNvPr id="7" name="Rectangle 8">
            <a:extLst>
              <a:ext uri="{FF2B5EF4-FFF2-40B4-BE49-F238E27FC236}">
                <a16:creationId xmlns:a16="http://schemas.microsoft.com/office/drawing/2014/main" xmlns="" id="{6FFDD00E-6470-D212-CB02-AEE3DC781602}"/>
              </a:ext>
            </a:extLst>
          </p:cNvPr>
          <p:cNvSpPr>
            <a:spLocks noChangeArrowheads="1"/>
          </p:cNvSpPr>
          <p:nvPr/>
        </p:nvSpPr>
        <p:spPr bwMode="auto">
          <a:xfrm>
            <a:off x="3529533" y="2224276"/>
            <a:ext cx="5235730" cy="7100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lIns="90000" tIns="46800" rIns="90000" bIns="46800">
            <a:spAutoFit/>
          </a:bodyPr>
          <a:lstStyle/>
          <a:p>
            <a:r>
              <a:rPr lang="en-US" altLang="zh-CN" sz="2000" b="1" dirty="0">
                <a:solidFill>
                  <a:schemeClr val="tx1"/>
                </a:solidFill>
                <a:latin typeface="Times New Roman" panose="02020603050405020304" pitchFamily="18" charset="0"/>
                <a:cs typeface="Times New Roman" panose="02020603050405020304" pitchFamily="18" charset="0"/>
              </a:rPr>
              <a:t>    </a:t>
            </a:r>
            <a:r>
              <a:rPr lang="zh-CN" altLang="en-US" sz="2000" b="1" dirty="0">
                <a:solidFill>
                  <a:schemeClr val="tx1"/>
                </a:solidFill>
                <a:latin typeface="Times New Roman" panose="02020603050405020304" pitchFamily="18" charset="0"/>
                <a:cs typeface="Times New Roman" panose="02020603050405020304" pitchFamily="18" charset="0"/>
              </a:rPr>
              <a:t>工作状态和外界条件的变化都会改变</a:t>
            </a:r>
            <a:r>
              <a:rPr lang="en-US" altLang="zh-CN" sz="2000" b="1" i="1" dirty="0">
                <a:solidFill>
                  <a:schemeClr val="tx1"/>
                </a:solidFill>
                <a:latin typeface="Times New Roman" panose="02020603050405020304" pitchFamily="18" charset="0"/>
                <a:cs typeface="Times New Roman" panose="02020603050405020304" pitchFamily="18" charset="0"/>
              </a:rPr>
              <a:t>C</a:t>
            </a:r>
            <a:r>
              <a:rPr lang="en-US" altLang="zh-CN" sz="2000" b="1" i="1" baseline="-25000" dirty="0">
                <a:solidFill>
                  <a:schemeClr val="tx1"/>
                </a:solidFill>
                <a:latin typeface="Times New Roman" panose="02020603050405020304" pitchFamily="18" charset="0"/>
                <a:cs typeface="Times New Roman" panose="02020603050405020304" pitchFamily="18" charset="0"/>
              </a:rPr>
              <a:t>ie</a:t>
            </a:r>
            <a:r>
              <a:rPr lang="zh-CN" altLang="en-US" sz="2000" b="1" dirty="0">
                <a:solidFill>
                  <a:schemeClr val="tx1"/>
                </a:solidFill>
                <a:latin typeface="Times New Roman" panose="02020603050405020304" pitchFamily="18" charset="0"/>
                <a:cs typeface="Times New Roman" panose="02020603050405020304" pitchFamily="18" charset="0"/>
              </a:rPr>
              <a:t>和</a:t>
            </a:r>
            <a:r>
              <a:rPr lang="en-US" altLang="zh-CN" sz="2000" b="1" i="1" dirty="0">
                <a:solidFill>
                  <a:schemeClr val="tx1"/>
                </a:solidFill>
                <a:latin typeface="Times New Roman" panose="02020603050405020304" pitchFamily="18" charset="0"/>
                <a:cs typeface="Times New Roman" panose="02020603050405020304" pitchFamily="18" charset="0"/>
              </a:rPr>
              <a:t>C</a:t>
            </a:r>
            <a:r>
              <a:rPr lang="en-US" altLang="zh-CN" sz="2000" b="1" i="1" baseline="-25000" dirty="0">
                <a:solidFill>
                  <a:schemeClr val="tx1"/>
                </a:solidFill>
                <a:latin typeface="Times New Roman" panose="02020603050405020304" pitchFamily="18" charset="0"/>
                <a:cs typeface="Times New Roman" panose="02020603050405020304" pitchFamily="18" charset="0"/>
              </a:rPr>
              <a:t>oe</a:t>
            </a:r>
            <a:r>
              <a:rPr lang="zh-CN" altLang="en-US" sz="2000" b="1" dirty="0">
                <a:solidFill>
                  <a:schemeClr val="tx1"/>
                </a:solidFill>
                <a:latin typeface="Times New Roman" panose="02020603050405020304" pitchFamily="18" charset="0"/>
                <a:cs typeface="Times New Roman" panose="02020603050405020304" pitchFamily="18" charset="0"/>
              </a:rPr>
              <a:t>的值，从而改变振荡频率</a:t>
            </a:r>
            <a:r>
              <a:rPr lang="en-US" altLang="zh-CN" sz="2000" b="1" i="1" dirty="0">
                <a:solidFill>
                  <a:schemeClr val="tx1"/>
                </a:solidFill>
                <a:latin typeface="Times New Roman" panose="02020603050405020304" pitchFamily="18" charset="0"/>
                <a:cs typeface="Times New Roman" panose="02020603050405020304" pitchFamily="18" charset="0"/>
              </a:rPr>
              <a:t>f</a:t>
            </a:r>
            <a:r>
              <a:rPr lang="en-US" altLang="zh-CN" sz="2000" b="1" i="1" baseline="-25000" dirty="0">
                <a:solidFill>
                  <a:schemeClr val="tx1"/>
                </a:solidFill>
                <a:latin typeface="Times New Roman" panose="02020603050405020304" pitchFamily="18" charset="0"/>
                <a:cs typeface="Times New Roman" panose="02020603050405020304" pitchFamily="18" charset="0"/>
              </a:rPr>
              <a:t>0</a:t>
            </a:r>
            <a:r>
              <a:rPr lang="zh-CN" altLang="en-US" sz="2000" b="1" dirty="0">
                <a:solidFill>
                  <a:schemeClr val="tx1"/>
                </a:solidFill>
                <a:latin typeface="Times New Roman" panose="02020603050405020304" pitchFamily="18" charset="0"/>
                <a:cs typeface="Times New Roman" panose="02020603050405020304" pitchFamily="18" charset="0"/>
              </a:rPr>
              <a:t>，导致</a:t>
            </a:r>
            <a:r>
              <a:rPr lang="en-US" altLang="zh-CN" sz="2000" b="1" i="1" dirty="0">
                <a:solidFill>
                  <a:schemeClr val="tx1"/>
                </a:solidFill>
                <a:latin typeface="Times New Roman" panose="02020603050405020304" pitchFamily="18" charset="0"/>
                <a:cs typeface="Times New Roman" panose="02020603050405020304" pitchFamily="18" charset="0"/>
              </a:rPr>
              <a:t>f</a:t>
            </a:r>
            <a:r>
              <a:rPr lang="en-US" altLang="zh-CN" sz="2000" b="1" i="1" baseline="-25000" dirty="0">
                <a:solidFill>
                  <a:schemeClr val="tx1"/>
                </a:solidFill>
                <a:latin typeface="Times New Roman" panose="02020603050405020304" pitchFamily="18" charset="0"/>
                <a:cs typeface="Times New Roman" panose="02020603050405020304" pitchFamily="18" charset="0"/>
              </a:rPr>
              <a:t>0</a:t>
            </a:r>
            <a:r>
              <a:rPr lang="zh-CN" altLang="en-US" sz="2000" b="1" dirty="0">
                <a:solidFill>
                  <a:schemeClr val="tx1"/>
                </a:solidFill>
                <a:latin typeface="Times New Roman" panose="02020603050405020304" pitchFamily="18" charset="0"/>
                <a:cs typeface="Times New Roman" panose="02020603050405020304" pitchFamily="18" charset="0"/>
              </a:rPr>
              <a:t>不稳定。</a:t>
            </a:r>
          </a:p>
        </p:txBody>
      </p:sp>
      <p:pic>
        <p:nvPicPr>
          <p:cNvPr id="8" name="Picture 9">
            <a:extLst>
              <a:ext uri="{FF2B5EF4-FFF2-40B4-BE49-F238E27FC236}">
                <a16:creationId xmlns:a16="http://schemas.microsoft.com/office/drawing/2014/main" xmlns="" id="{591DBC01-94AF-50A5-F959-3D45805021E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1487" y="1758573"/>
            <a:ext cx="2536825" cy="3157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74346961"/>
      </p:ext>
    </p:extLst>
  </p:cSld>
  <p:clrMapOvr>
    <a:masterClrMapping/>
  </p:clrMapOvr>
  <p:timing>
    <p:tnLst>
      <p:par>
        <p:cTn id="1" dur="indefinite" restart="never" nodeType="tmRoot"/>
      </p:par>
    </p:tnLst>
  </p:timing>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192</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5.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正弦波</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振荡器</a:t>
            </a:r>
          </a:p>
        </p:txBody>
      </p:sp>
      <p:sp>
        <p:nvSpPr>
          <p:cNvPr id="5" name="Rectangle 3">
            <a:extLst>
              <a:ext uri="{FF2B5EF4-FFF2-40B4-BE49-F238E27FC236}">
                <a16:creationId xmlns:a16="http://schemas.microsoft.com/office/drawing/2014/main" xmlns="" id="{D51AB0CA-420C-2036-E9BC-00BB16D43799}"/>
              </a:ext>
            </a:extLst>
          </p:cNvPr>
          <p:cNvSpPr txBox="1">
            <a:spLocks/>
          </p:cNvSpPr>
          <p:nvPr/>
        </p:nvSpPr>
        <p:spPr>
          <a:xfrm>
            <a:off x="279202" y="1239591"/>
            <a:ext cx="8242300" cy="609600"/>
          </a:xfrm>
          <a:prstGeom prst="rect">
            <a:avLst/>
          </a:prstGeom>
        </p:spPr>
        <p:txBody>
          <a:bodyPr/>
          <a:lstStyle>
            <a:lvl1pPr marL="342900" indent="-342900" algn="l" rtl="0" eaLnBrk="0" fontAlgn="base" hangingPunct="0">
              <a:spcBef>
                <a:spcPct val="20000"/>
              </a:spcBef>
              <a:spcAft>
                <a:spcPct val="0"/>
              </a:spcAft>
              <a:buChar char="•"/>
              <a:defRPr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algn="ctr" eaLnBrk="1" hangingPunct="1">
              <a:spcBef>
                <a:spcPct val="0"/>
              </a:spcBef>
              <a:buNone/>
            </a:pPr>
            <a:r>
              <a:rPr lang="zh-CN" altLang="en-US" sz="2200" b="1" kern="0" noProof="1">
                <a:latin typeface="宋体" panose="02010600030101010101" pitchFamily="2" charset="-122"/>
              </a:rPr>
              <a:t>二 、串联改进型电容三点式振荡器（克拉泼振荡器</a:t>
            </a:r>
            <a:r>
              <a:rPr lang="en-US" altLang="zh-CN" sz="2200" b="1" kern="0" noProof="1">
                <a:latin typeface="宋体" panose="02010600030101010101" pitchFamily="2" charset="-122"/>
              </a:rPr>
              <a:t>CLAPP</a:t>
            </a:r>
            <a:r>
              <a:rPr lang="zh-CN" altLang="en-US" sz="2200" b="1" kern="0" noProof="1">
                <a:latin typeface="宋体" panose="02010600030101010101" pitchFamily="2" charset="-122"/>
              </a:rPr>
              <a:t>）</a:t>
            </a:r>
          </a:p>
        </p:txBody>
      </p:sp>
      <p:pic>
        <p:nvPicPr>
          <p:cNvPr id="6" name="Picture 2">
            <a:extLst>
              <a:ext uri="{FF2B5EF4-FFF2-40B4-BE49-F238E27FC236}">
                <a16:creationId xmlns:a16="http://schemas.microsoft.com/office/drawing/2014/main" xmlns="" id="{08C1CD7A-C8C7-AFB0-5659-96B93A3F78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26956" y="1977579"/>
            <a:ext cx="2749550" cy="290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7" name="Object 4">
            <a:extLst>
              <a:ext uri="{FF2B5EF4-FFF2-40B4-BE49-F238E27FC236}">
                <a16:creationId xmlns:a16="http://schemas.microsoft.com/office/drawing/2014/main" xmlns="" id="{E75CCD67-E5E9-51A7-9C95-62386E4A5F3A}"/>
              </a:ext>
            </a:extLst>
          </p:cNvPr>
          <p:cNvGraphicFramePr>
            <a:graphicFrameLocks noChangeAspect="1"/>
          </p:cNvGraphicFramePr>
          <p:nvPr>
            <p:extLst>
              <p:ext uri="{D42A27DB-BD31-4B8C-83A1-F6EECF244321}">
                <p14:modId xmlns:p14="http://schemas.microsoft.com/office/powerpoint/2010/main" val="850468641"/>
              </p:ext>
            </p:extLst>
          </p:nvPr>
        </p:nvGraphicFramePr>
        <p:xfrm>
          <a:off x="426331" y="1964879"/>
          <a:ext cx="3378200" cy="3006725"/>
        </p:xfrm>
        <a:graphic>
          <a:graphicData uri="http://schemas.openxmlformats.org/presentationml/2006/ole">
            <mc:AlternateContent xmlns:mc="http://schemas.openxmlformats.org/markup-compatibility/2006">
              <mc:Choice xmlns:v="urn:schemas-microsoft-com:vml" Requires="v">
                <p:oleObj spid="_x0000_s149749" r:id="rId4" imgW="7078063" imgH="4067743" progId="Paint.Picture">
                  <p:embed/>
                </p:oleObj>
              </mc:Choice>
              <mc:Fallback>
                <p:oleObj r:id="rId4" imgW="7078063" imgH="4067743" progId="Paint.Picture">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t="4422" r="44080" b="18367"/>
                      <a:stretch>
                        <a:fillRect/>
                      </a:stretch>
                    </p:blipFill>
                    <p:spPr bwMode="auto">
                      <a:xfrm>
                        <a:off x="426331" y="1964879"/>
                        <a:ext cx="3378200" cy="300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 name="Rectangle 6">
            <a:extLst>
              <a:ext uri="{FF2B5EF4-FFF2-40B4-BE49-F238E27FC236}">
                <a16:creationId xmlns:a16="http://schemas.microsoft.com/office/drawing/2014/main" xmlns="" id="{98206C3E-E3B0-96E5-134F-6ABC8DC8765A}"/>
              </a:ext>
            </a:extLst>
          </p:cNvPr>
          <p:cNvSpPr>
            <a:spLocks noChangeArrowheads="1"/>
          </p:cNvSpPr>
          <p:nvPr/>
        </p:nvSpPr>
        <p:spPr bwMode="auto">
          <a:xfrm>
            <a:off x="2699631" y="2853879"/>
            <a:ext cx="609600" cy="939800"/>
          </a:xfrm>
          <a:prstGeom prst="rect">
            <a:avLst/>
          </a:prstGeom>
          <a:noFill/>
          <a:ln w="19050">
            <a:solidFill>
              <a:srgbClr val="FF0000"/>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 name="AutoShape 7">
            <a:extLst>
              <a:ext uri="{FF2B5EF4-FFF2-40B4-BE49-F238E27FC236}">
                <a16:creationId xmlns:a16="http://schemas.microsoft.com/office/drawing/2014/main" xmlns="" id="{E2400BD1-FC82-FDC6-7D28-D9CC0EE9CEE8}"/>
              </a:ext>
            </a:extLst>
          </p:cNvPr>
          <p:cNvSpPr>
            <a:spLocks noChangeArrowheads="1"/>
          </p:cNvSpPr>
          <p:nvPr/>
        </p:nvSpPr>
        <p:spPr bwMode="auto">
          <a:xfrm>
            <a:off x="3028244" y="2463354"/>
            <a:ext cx="2430462" cy="452437"/>
          </a:xfrm>
          <a:prstGeom prst="wedgeRectCallout">
            <a:avLst>
              <a:gd name="adj1" fmla="val -47153"/>
              <a:gd name="adj2" fmla="val 114111"/>
            </a:avLst>
          </a:prstGeom>
          <a:solidFill>
            <a:srgbClr val="CCCCFF">
              <a:alpha val="47842"/>
            </a:srgbClr>
          </a:solidFill>
          <a:ln w="9525">
            <a:solidFill>
              <a:schemeClr val="tx1"/>
            </a:solidFill>
            <a:miter lim="800000"/>
            <a:headEnd/>
            <a:tailEnd/>
          </a:ln>
        </p:spPr>
        <p:txBody>
          <a:bodyPr lIns="0" tIns="72000" rIns="0" bIns="72000">
            <a:spAutoFit/>
          </a:bodyPr>
          <a:lstStyle/>
          <a:p>
            <a:pPr fontAlgn="t">
              <a:spcBef>
                <a:spcPct val="50000"/>
              </a:spcBef>
            </a:pPr>
            <a:r>
              <a:rPr lang="en-US" altLang="zh-CN" sz="2000" b="1" i="1">
                <a:solidFill>
                  <a:srgbClr val="FF3300"/>
                </a:solidFill>
                <a:latin typeface="Times New Roman" panose="02020603050405020304" pitchFamily="18" charset="0"/>
              </a:rPr>
              <a:t>C</a:t>
            </a:r>
            <a:r>
              <a:rPr lang="en-US" altLang="zh-CN" sz="2000" b="1" baseline="-25000">
                <a:solidFill>
                  <a:srgbClr val="FF3300"/>
                </a:solidFill>
                <a:latin typeface="Times New Roman" panose="02020603050405020304" pitchFamily="18" charset="0"/>
              </a:rPr>
              <a:t>3</a:t>
            </a:r>
            <a:r>
              <a:rPr lang="en-US" altLang="zh-CN" sz="2000" b="1">
                <a:solidFill>
                  <a:srgbClr val="FF3300"/>
                </a:solidFill>
                <a:latin typeface="Times New Roman" panose="02020603050405020304" pitchFamily="18" charset="0"/>
              </a:rPr>
              <a:t> &lt;&lt; </a:t>
            </a:r>
            <a:r>
              <a:rPr lang="en-US" altLang="zh-CN" sz="2000" b="1" i="1">
                <a:solidFill>
                  <a:srgbClr val="FF3300"/>
                </a:solidFill>
                <a:latin typeface="Times New Roman" panose="02020603050405020304" pitchFamily="18" charset="0"/>
              </a:rPr>
              <a:t>C</a:t>
            </a:r>
            <a:r>
              <a:rPr lang="en-US" altLang="zh-CN" sz="2000" b="1" baseline="-25000">
                <a:solidFill>
                  <a:srgbClr val="FF3300"/>
                </a:solidFill>
                <a:latin typeface="Times New Roman" panose="02020603050405020304" pitchFamily="18" charset="0"/>
              </a:rPr>
              <a:t>1</a:t>
            </a:r>
            <a:r>
              <a:rPr lang="en-US" altLang="zh-CN" sz="2000" b="1">
                <a:solidFill>
                  <a:srgbClr val="FF3300"/>
                </a:solidFill>
                <a:latin typeface="Times New Roman" panose="02020603050405020304" pitchFamily="18" charset="0"/>
              </a:rPr>
              <a:t>  </a:t>
            </a:r>
            <a:r>
              <a:rPr lang="zh-CN" altLang="en-US" sz="2000" b="1">
                <a:solidFill>
                  <a:srgbClr val="FF3300"/>
                </a:solidFill>
                <a:latin typeface="Times New Roman" panose="02020603050405020304" pitchFamily="18" charset="0"/>
              </a:rPr>
              <a:t>， </a:t>
            </a:r>
            <a:r>
              <a:rPr lang="en-US" altLang="zh-CN" sz="2000" b="1" i="1">
                <a:solidFill>
                  <a:srgbClr val="FF3300"/>
                </a:solidFill>
                <a:latin typeface="Times New Roman" panose="02020603050405020304" pitchFamily="18" charset="0"/>
              </a:rPr>
              <a:t>C</a:t>
            </a:r>
            <a:r>
              <a:rPr lang="en-US" altLang="zh-CN" sz="2000" b="1" baseline="-25000">
                <a:solidFill>
                  <a:srgbClr val="FF3300"/>
                </a:solidFill>
                <a:latin typeface="Times New Roman" panose="02020603050405020304" pitchFamily="18" charset="0"/>
              </a:rPr>
              <a:t>3</a:t>
            </a:r>
            <a:r>
              <a:rPr lang="en-US" altLang="zh-CN" sz="2000" b="1">
                <a:solidFill>
                  <a:srgbClr val="FF3300"/>
                </a:solidFill>
                <a:latin typeface="Times New Roman" panose="02020603050405020304" pitchFamily="18" charset="0"/>
              </a:rPr>
              <a:t> &lt;&lt; </a:t>
            </a:r>
            <a:r>
              <a:rPr lang="en-US" altLang="zh-CN" sz="2000" b="1" i="1">
                <a:solidFill>
                  <a:srgbClr val="FF3300"/>
                </a:solidFill>
                <a:latin typeface="Times New Roman" panose="02020603050405020304" pitchFamily="18" charset="0"/>
              </a:rPr>
              <a:t>C</a:t>
            </a:r>
            <a:r>
              <a:rPr lang="en-US" altLang="zh-CN" sz="2000" b="1" baseline="-25000">
                <a:solidFill>
                  <a:srgbClr val="FF3300"/>
                </a:solidFill>
                <a:latin typeface="Times New Roman" panose="02020603050405020304" pitchFamily="18" charset="0"/>
              </a:rPr>
              <a:t>2</a:t>
            </a:r>
            <a:r>
              <a:rPr lang="en-US" altLang="zh-CN" sz="2000" b="1">
                <a:latin typeface="Times New Roman" panose="02020603050405020304" pitchFamily="18" charset="0"/>
              </a:rPr>
              <a:t> </a:t>
            </a:r>
          </a:p>
        </p:txBody>
      </p:sp>
      <p:grpSp>
        <p:nvGrpSpPr>
          <p:cNvPr id="10" name="Group 11">
            <a:extLst>
              <a:ext uri="{FF2B5EF4-FFF2-40B4-BE49-F238E27FC236}">
                <a16:creationId xmlns:a16="http://schemas.microsoft.com/office/drawing/2014/main" xmlns="" id="{A3F72C89-443D-2C40-D372-FC77F8818331}"/>
              </a:ext>
            </a:extLst>
          </p:cNvPr>
          <p:cNvGrpSpPr>
            <a:grpSpLocks/>
          </p:cNvGrpSpPr>
          <p:nvPr/>
        </p:nvGrpSpPr>
        <p:grpSpPr bwMode="auto">
          <a:xfrm>
            <a:off x="1728081" y="2968179"/>
            <a:ext cx="579438" cy="776287"/>
            <a:chOff x="2484" y="928"/>
            <a:chExt cx="365" cy="489"/>
          </a:xfrm>
        </p:grpSpPr>
        <p:sp>
          <p:nvSpPr>
            <p:cNvPr id="11" name="Line 12">
              <a:extLst>
                <a:ext uri="{FF2B5EF4-FFF2-40B4-BE49-F238E27FC236}">
                  <a16:creationId xmlns:a16="http://schemas.microsoft.com/office/drawing/2014/main" xmlns="" id="{C6803300-09B0-0367-F4F5-9FE6C0C20859}"/>
                </a:ext>
              </a:extLst>
            </p:cNvPr>
            <p:cNvSpPr>
              <a:spLocks noChangeShapeType="1"/>
            </p:cNvSpPr>
            <p:nvPr/>
          </p:nvSpPr>
          <p:spPr bwMode="auto">
            <a:xfrm>
              <a:off x="2768" y="928"/>
              <a:ext cx="0" cy="231"/>
            </a:xfrm>
            <a:prstGeom prst="line">
              <a:avLst/>
            </a:prstGeom>
            <a:noFill/>
            <a:ln w="25400">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 name="Line 13">
              <a:extLst>
                <a:ext uri="{FF2B5EF4-FFF2-40B4-BE49-F238E27FC236}">
                  <a16:creationId xmlns:a16="http://schemas.microsoft.com/office/drawing/2014/main" xmlns="" id="{0BBF667F-86B2-BE8E-1FF6-FDE5DC24E8E3}"/>
                </a:ext>
              </a:extLst>
            </p:cNvPr>
            <p:cNvSpPr>
              <a:spLocks noChangeShapeType="1"/>
            </p:cNvSpPr>
            <p:nvPr/>
          </p:nvSpPr>
          <p:spPr bwMode="auto">
            <a:xfrm>
              <a:off x="2688" y="1172"/>
              <a:ext cx="16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 name="Line 14">
              <a:extLst>
                <a:ext uri="{FF2B5EF4-FFF2-40B4-BE49-F238E27FC236}">
                  <a16:creationId xmlns:a16="http://schemas.microsoft.com/office/drawing/2014/main" xmlns="" id="{9E35D47E-2B3F-C599-A90A-848C529AC5DC}"/>
                </a:ext>
              </a:extLst>
            </p:cNvPr>
            <p:cNvSpPr>
              <a:spLocks noChangeShapeType="1"/>
            </p:cNvSpPr>
            <p:nvPr/>
          </p:nvSpPr>
          <p:spPr bwMode="auto">
            <a:xfrm>
              <a:off x="2689" y="1216"/>
              <a:ext cx="16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 name="Line 15">
              <a:extLst>
                <a:ext uri="{FF2B5EF4-FFF2-40B4-BE49-F238E27FC236}">
                  <a16:creationId xmlns:a16="http://schemas.microsoft.com/office/drawing/2014/main" xmlns="" id="{E61D5D10-CC57-5FC3-F9E1-A5EE77253B26}"/>
                </a:ext>
              </a:extLst>
            </p:cNvPr>
            <p:cNvSpPr>
              <a:spLocks noChangeShapeType="1"/>
            </p:cNvSpPr>
            <p:nvPr/>
          </p:nvSpPr>
          <p:spPr bwMode="auto">
            <a:xfrm>
              <a:off x="2769" y="1229"/>
              <a:ext cx="0" cy="188"/>
            </a:xfrm>
            <a:prstGeom prst="line">
              <a:avLst/>
            </a:prstGeom>
            <a:noFill/>
            <a:ln w="25400">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5" name="Object 16">
              <a:extLst>
                <a:ext uri="{FF2B5EF4-FFF2-40B4-BE49-F238E27FC236}">
                  <a16:creationId xmlns:a16="http://schemas.microsoft.com/office/drawing/2014/main" xmlns="" id="{920E6E8D-D7D9-9E02-D562-AFCE82F7D138}"/>
                </a:ext>
              </a:extLst>
            </p:cNvPr>
            <p:cNvGraphicFramePr>
              <a:graphicFrameLocks noChangeAspect="1"/>
            </p:cNvGraphicFramePr>
            <p:nvPr/>
          </p:nvGraphicFramePr>
          <p:xfrm>
            <a:off x="2484" y="1115"/>
            <a:ext cx="241" cy="179"/>
          </p:xfrm>
          <a:graphic>
            <a:graphicData uri="http://schemas.openxmlformats.org/presentationml/2006/ole">
              <mc:AlternateContent xmlns:mc="http://schemas.openxmlformats.org/markup-compatibility/2006">
                <mc:Choice xmlns:v="urn:schemas-microsoft-com:vml" Requires="v">
                  <p:oleObj spid="_x0000_s149750" r:id="rId6" imgW="241300" imgH="228600" progId="Equation.3">
                    <p:embed/>
                  </p:oleObj>
                </mc:Choice>
                <mc:Fallback>
                  <p:oleObj r:id="rId6" imgW="241300" imgH="2286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84" y="1115"/>
                          <a:ext cx="241"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grpSp>
        <p:nvGrpSpPr>
          <p:cNvPr id="16" name="Group 17">
            <a:extLst>
              <a:ext uri="{FF2B5EF4-FFF2-40B4-BE49-F238E27FC236}">
                <a16:creationId xmlns:a16="http://schemas.microsoft.com/office/drawing/2014/main" xmlns="" id="{399C6E61-3843-66AA-8233-F64AAEDCFAA9}"/>
              </a:ext>
            </a:extLst>
          </p:cNvPr>
          <p:cNvGrpSpPr>
            <a:grpSpLocks/>
          </p:cNvGrpSpPr>
          <p:nvPr/>
        </p:nvGrpSpPr>
        <p:grpSpPr bwMode="auto">
          <a:xfrm>
            <a:off x="1899531" y="3782566"/>
            <a:ext cx="396875" cy="839788"/>
            <a:chOff x="1400" y="1825"/>
            <a:chExt cx="250" cy="529"/>
          </a:xfrm>
        </p:grpSpPr>
        <p:grpSp>
          <p:nvGrpSpPr>
            <p:cNvPr id="17" name="Group 18">
              <a:extLst>
                <a:ext uri="{FF2B5EF4-FFF2-40B4-BE49-F238E27FC236}">
                  <a16:creationId xmlns:a16="http://schemas.microsoft.com/office/drawing/2014/main" xmlns="" id="{A0ED4BF4-01CD-9451-44B4-2602ADB41FE7}"/>
                </a:ext>
              </a:extLst>
            </p:cNvPr>
            <p:cNvGrpSpPr>
              <a:grpSpLocks/>
            </p:cNvGrpSpPr>
            <p:nvPr/>
          </p:nvGrpSpPr>
          <p:grpSpPr bwMode="auto">
            <a:xfrm>
              <a:off x="1502" y="1825"/>
              <a:ext cx="148" cy="529"/>
              <a:chOff x="2830" y="1905"/>
              <a:chExt cx="148" cy="497"/>
            </a:xfrm>
          </p:grpSpPr>
          <p:sp>
            <p:nvSpPr>
              <p:cNvPr id="19" name="Line 19">
                <a:extLst>
                  <a:ext uri="{FF2B5EF4-FFF2-40B4-BE49-F238E27FC236}">
                    <a16:creationId xmlns:a16="http://schemas.microsoft.com/office/drawing/2014/main" xmlns="" id="{45724DE1-CE60-9375-8D3D-AF8F33547962}"/>
                  </a:ext>
                </a:extLst>
              </p:cNvPr>
              <p:cNvSpPr>
                <a:spLocks noChangeShapeType="1"/>
              </p:cNvSpPr>
              <p:nvPr/>
            </p:nvSpPr>
            <p:spPr bwMode="auto">
              <a:xfrm>
                <a:off x="2903" y="1905"/>
                <a:ext cx="0" cy="209"/>
              </a:xfrm>
              <a:prstGeom prst="line">
                <a:avLst/>
              </a:prstGeom>
              <a:noFill/>
              <a:ln w="25400">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 name="Line 20">
                <a:extLst>
                  <a:ext uri="{FF2B5EF4-FFF2-40B4-BE49-F238E27FC236}">
                    <a16:creationId xmlns:a16="http://schemas.microsoft.com/office/drawing/2014/main" xmlns="" id="{87D5A43E-F9E0-9149-5E46-BF5F0C50ED00}"/>
                  </a:ext>
                </a:extLst>
              </p:cNvPr>
              <p:cNvSpPr>
                <a:spLocks noChangeShapeType="1"/>
              </p:cNvSpPr>
              <p:nvPr/>
            </p:nvSpPr>
            <p:spPr bwMode="auto">
              <a:xfrm>
                <a:off x="2830" y="2128"/>
                <a:ext cx="14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 name="Line 21">
                <a:extLst>
                  <a:ext uri="{FF2B5EF4-FFF2-40B4-BE49-F238E27FC236}">
                    <a16:creationId xmlns:a16="http://schemas.microsoft.com/office/drawing/2014/main" xmlns="" id="{4BE8B0F1-7F6F-E11B-AE39-36496A2FB519}"/>
                  </a:ext>
                </a:extLst>
              </p:cNvPr>
              <p:cNvSpPr>
                <a:spLocks noChangeShapeType="1"/>
              </p:cNvSpPr>
              <p:nvPr/>
            </p:nvSpPr>
            <p:spPr bwMode="auto">
              <a:xfrm>
                <a:off x="2830" y="2179"/>
                <a:ext cx="1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 name="Line 22">
                <a:extLst>
                  <a:ext uri="{FF2B5EF4-FFF2-40B4-BE49-F238E27FC236}">
                    <a16:creationId xmlns:a16="http://schemas.microsoft.com/office/drawing/2014/main" xmlns="" id="{92B14F98-7E25-3DD0-9967-10D612026CF0}"/>
                  </a:ext>
                </a:extLst>
              </p:cNvPr>
              <p:cNvSpPr>
                <a:spLocks noChangeShapeType="1"/>
              </p:cNvSpPr>
              <p:nvPr/>
            </p:nvSpPr>
            <p:spPr bwMode="auto">
              <a:xfrm>
                <a:off x="2904" y="2193"/>
                <a:ext cx="0" cy="209"/>
              </a:xfrm>
              <a:prstGeom prst="line">
                <a:avLst/>
              </a:prstGeom>
              <a:noFill/>
              <a:ln w="25400">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pSp>
        <p:graphicFrame>
          <p:nvGraphicFramePr>
            <p:cNvPr id="18" name="Object 23">
              <a:extLst>
                <a:ext uri="{FF2B5EF4-FFF2-40B4-BE49-F238E27FC236}">
                  <a16:creationId xmlns:a16="http://schemas.microsoft.com/office/drawing/2014/main" xmlns="" id="{988F66B9-8A3F-E101-AB01-A5256BBD59B0}"/>
                </a:ext>
              </a:extLst>
            </p:cNvPr>
            <p:cNvGraphicFramePr>
              <a:graphicFrameLocks noChangeAspect="1"/>
            </p:cNvGraphicFramePr>
            <p:nvPr/>
          </p:nvGraphicFramePr>
          <p:xfrm>
            <a:off x="1400" y="2131"/>
            <a:ext cx="190" cy="185"/>
          </p:xfrm>
          <a:graphic>
            <a:graphicData uri="http://schemas.openxmlformats.org/presentationml/2006/ole">
              <mc:AlternateContent xmlns:mc="http://schemas.openxmlformats.org/markup-compatibility/2006">
                <mc:Choice xmlns:v="urn:schemas-microsoft-com:vml" Requires="v">
                  <p:oleObj spid="_x0000_s149751" r:id="rId8" imgW="228600" imgH="228600" progId="Equation.3">
                    <p:embed/>
                  </p:oleObj>
                </mc:Choice>
                <mc:Fallback>
                  <p:oleObj r:id="rId8" imgW="228600" imgH="22860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400" y="2131"/>
                          <a:ext cx="190" cy="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graphicFrame>
        <p:nvGraphicFramePr>
          <p:cNvPr id="23" name="Object 24">
            <a:extLst>
              <a:ext uri="{FF2B5EF4-FFF2-40B4-BE49-F238E27FC236}">
                <a16:creationId xmlns:a16="http://schemas.microsoft.com/office/drawing/2014/main" xmlns="" id="{A3937D38-8535-3CBC-7E68-67402532A548}"/>
              </a:ext>
            </a:extLst>
          </p:cNvPr>
          <p:cNvGraphicFramePr>
            <a:graphicFrameLocks noChangeAspect="1"/>
          </p:cNvGraphicFramePr>
          <p:nvPr>
            <p:extLst>
              <p:ext uri="{D42A27DB-BD31-4B8C-83A1-F6EECF244321}">
                <p14:modId xmlns:p14="http://schemas.microsoft.com/office/powerpoint/2010/main" val="3049852820"/>
              </p:ext>
            </p:extLst>
          </p:nvPr>
        </p:nvGraphicFramePr>
        <p:xfrm>
          <a:off x="3596569" y="3268216"/>
          <a:ext cx="1812925" cy="587375"/>
        </p:xfrm>
        <a:graphic>
          <a:graphicData uri="http://schemas.openxmlformats.org/presentationml/2006/ole">
            <mc:AlternateContent xmlns:mc="http://schemas.openxmlformats.org/markup-compatibility/2006">
              <mc:Choice xmlns:v="urn:schemas-microsoft-com:vml" Requires="v">
                <p:oleObj spid="_x0000_s149752" r:id="rId10" imgW="901309" imgH="291973" progId="Equation.3">
                  <p:embed/>
                </p:oleObj>
              </mc:Choice>
              <mc:Fallback>
                <p:oleObj r:id="rId10" imgW="901309" imgH="291973"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596569" y="3268216"/>
                        <a:ext cx="1812925"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4" name="Object 26">
            <a:extLst>
              <a:ext uri="{FF2B5EF4-FFF2-40B4-BE49-F238E27FC236}">
                <a16:creationId xmlns:a16="http://schemas.microsoft.com/office/drawing/2014/main" xmlns="" id="{EFEAAC08-38DF-A724-9606-8C87B48E1F9A}"/>
              </a:ext>
            </a:extLst>
          </p:cNvPr>
          <p:cNvGraphicFramePr>
            <a:graphicFrameLocks noChangeAspect="1"/>
          </p:cNvGraphicFramePr>
          <p:nvPr>
            <p:extLst>
              <p:ext uri="{D42A27DB-BD31-4B8C-83A1-F6EECF244321}">
                <p14:modId xmlns:p14="http://schemas.microsoft.com/office/powerpoint/2010/main" val="4164712978"/>
              </p:ext>
            </p:extLst>
          </p:nvPr>
        </p:nvGraphicFramePr>
        <p:xfrm>
          <a:off x="3585456" y="3892104"/>
          <a:ext cx="1787525" cy="587375"/>
        </p:xfrm>
        <a:graphic>
          <a:graphicData uri="http://schemas.openxmlformats.org/presentationml/2006/ole">
            <mc:AlternateContent xmlns:mc="http://schemas.openxmlformats.org/markup-compatibility/2006">
              <mc:Choice xmlns:v="urn:schemas-microsoft-com:vml" Requires="v">
                <p:oleObj spid="_x0000_s149753" r:id="rId12" imgW="888614" imgH="291973" progId="Equation.3">
                  <p:embed/>
                </p:oleObj>
              </mc:Choice>
              <mc:Fallback>
                <p:oleObj r:id="rId12" imgW="888614" imgH="291973"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585456" y="3892104"/>
                        <a:ext cx="1787525"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5" name="Rectangle 27">
            <a:extLst>
              <a:ext uri="{FF2B5EF4-FFF2-40B4-BE49-F238E27FC236}">
                <a16:creationId xmlns:a16="http://schemas.microsoft.com/office/drawing/2014/main" xmlns="" id="{341EEE26-5232-9D38-012B-DEA810472DA9}"/>
              </a:ext>
            </a:extLst>
          </p:cNvPr>
          <p:cNvSpPr>
            <a:spLocks noChangeArrowheads="1"/>
          </p:cNvSpPr>
          <p:nvPr/>
        </p:nvSpPr>
        <p:spPr bwMode="auto">
          <a:xfrm>
            <a:off x="3509256" y="4489773"/>
            <a:ext cx="1987550"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90000" tIns="46800" rIns="90000" bIns="46800">
            <a:spAutoFit/>
          </a:bodyPr>
          <a:lstStyle/>
          <a:p>
            <a:r>
              <a:rPr lang="zh-CN" altLang="en-US" sz="2000" b="1" dirty="0">
                <a:solidFill>
                  <a:srgbClr val="FF3300"/>
                </a:solidFill>
                <a:latin typeface="+mn-ea"/>
                <a:ea typeface="+mn-ea"/>
              </a:rPr>
              <a:t>优点：频率可调</a:t>
            </a:r>
          </a:p>
        </p:txBody>
      </p:sp>
      <p:sp>
        <p:nvSpPr>
          <p:cNvPr id="26" name="Rectangle 28">
            <a:extLst>
              <a:ext uri="{FF2B5EF4-FFF2-40B4-BE49-F238E27FC236}">
                <a16:creationId xmlns:a16="http://schemas.microsoft.com/office/drawing/2014/main" xmlns="" id="{604CB666-A03B-916F-04BC-619DD203B579}"/>
              </a:ext>
            </a:extLst>
          </p:cNvPr>
          <p:cNvSpPr>
            <a:spLocks noChangeArrowheads="1"/>
          </p:cNvSpPr>
          <p:nvPr/>
        </p:nvSpPr>
        <p:spPr bwMode="auto">
          <a:xfrm>
            <a:off x="1611501" y="6432104"/>
            <a:ext cx="491352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pPr fontAlgn="t">
              <a:spcBef>
                <a:spcPct val="50000"/>
              </a:spcBef>
            </a:pPr>
            <a:r>
              <a:rPr lang="en-US" altLang="zh-CN" sz="2000" b="1" dirty="0">
                <a:solidFill>
                  <a:srgbClr val="000000"/>
                </a:solidFill>
                <a:latin typeface="Times New Roman" panose="02020603050405020304" pitchFamily="18" charset="0"/>
                <a:cs typeface="Times New Roman" panose="02020603050405020304" pitchFamily="18" charset="0"/>
              </a:rPr>
              <a:t>CLAPP</a:t>
            </a:r>
            <a:r>
              <a:rPr lang="zh-CN" altLang="en-US" sz="2000" b="1" dirty="0">
                <a:solidFill>
                  <a:srgbClr val="000000"/>
                </a:solidFill>
                <a:latin typeface="Times New Roman" panose="02020603050405020304" pitchFamily="18" charset="0"/>
                <a:cs typeface="Times New Roman" panose="02020603050405020304" pitchFamily="18" charset="0"/>
              </a:rPr>
              <a:t>电路的</a:t>
            </a:r>
            <a:r>
              <a:rPr lang="zh-CN" altLang="en-US" sz="2000" b="1" dirty="0">
                <a:solidFill>
                  <a:srgbClr val="FF0000"/>
                </a:solidFill>
                <a:latin typeface="Times New Roman" panose="02020603050405020304" pitchFamily="18" charset="0"/>
                <a:cs typeface="Times New Roman" panose="02020603050405020304" pitchFamily="18" charset="0"/>
              </a:rPr>
              <a:t>主要缺点是：频率不能太</a:t>
            </a:r>
            <a:r>
              <a:rPr lang="zh-CN" altLang="en-US" sz="2000" b="1" dirty="0" smtClean="0">
                <a:solidFill>
                  <a:srgbClr val="FF0000"/>
                </a:solidFill>
                <a:latin typeface="Times New Roman" panose="02020603050405020304" pitchFamily="18" charset="0"/>
                <a:cs typeface="Times New Roman" panose="02020603050405020304" pitchFamily="18" charset="0"/>
              </a:rPr>
              <a:t>高</a:t>
            </a:r>
            <a:endParaRPr lang="zh-CN" altLang="en-US" sz="2000" b="1" dirty="0">
              <a:solidFill>
                <a:srgbClr val="FF0000"/>
              </a:solidFill>
              <a:latin typeface="Times New Roman" panose="02020603050405020304" pitchFamily="18" charset="0"/>
              <a:cs typeface="Times New Roman" panose="02020603050405020304" pitchFamily="18" charset="0"/>
            </a:endParaRPr>
          </a:p>
        </p:txBody>
      </p:sp>
      <p:sp>
        <p:nvSpPr>
          <p:cNvPr id="27" name="Rectangle 10">
            <a:extLst>
              <a:ext uri="{FF2B5EF4-FFF2-40B4-BE49-F238E27FC236}">
                <a16:creationId xmlns:a16="http://schemas.microsoft.com/office/drawing/2014/main" xmlns="" id="{06AAF85F-C5F8-AB69-0E39-A4AA60B317FA}"/>
              </a:ext>
            </a:extLst>
          </p:cNvPr>
          <p:cNvSpPr>
            <a:spLocks noChangeArrowheads="1"/>
          </p:cNvSpPr>
          <p:nvPr/>
        </p:nvSpPr>
        <p:spPr bwMode="auto">
          <a:xfrm>
            <a:off x="3102724" y="5072161"/>
            <a:ext cx="1600416" cy="433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90000" tIns="46800" rIns="90000" bIns="46800">
            <a:spAutoFit/>
          </a:bodyPr>
          <a:lstStyle/>
          <a:p>
            <a:r>
              <a:rPr lang="zh-CN" altLang="en-US" sz="2200" b="1" dirty="0">
                <a:solidFill>
                  <a:srgbClr val="FF3300"/>
                </a:solidFill>
                <a:latin typeface="+mn-ea"/>
                <a:ea typeface="+mn-ea"/>
              </a:rPr>
              <a:t>振荡频率：</a:t>
            </a:r>
          </a:p>
        </p:txBody>
      </p:sp>
      <p:graphicFrame>
        <p:nvGraphicFramePr>
          <p:cNvPr id="28" name="对象 27">
            <a:extLst>
              <a:ext uri="{FF2B5EF4-FFF2-40B4-BE49-F238E27FC236}">
                <a16:creationId xmlns:a16="http://schemas.microsoft.com/office/drawing/2014/main" xmlns="" id="{B36CE5A2-E19A-10CE-0CEE-B7582FE799C3}"/>
              </a:ext>
            </a:extLst>
          </p:cNvPr>
          <p:cNvGraphicFramePr>
            <a:graphicFrameLocks noChangeAspect="1"/>
          </p:cNvGraphicFramePr>
          <p:nvPr>
            <p:extLst>
              <p:ext uri="{D42A27DB-BD31-4B8C-83A1-F6EECF244321}">
                <p14:modId xmlns:p14="http://schemas.microsoft.com/office/powerpoint/2010/main" val="2200755200"/>
              </p:ext>
            </p:extLst>
          </p:nvPr>
        </p:nvGraphicFramePr>
        <p:xfrm>
          <a:off x="4523645" y="4947545"/>
          <a:ext cx="2609750" cy="716454"/>
        </p:xfrm>
        <a:graphic>
          <a:graphicData uri="http://schemas.openxmlformats.org/presentationml/2006/ole">
            <mc:AlternateContent xmlns:mc="http://schemas.openxmlformats.org/markup-compatibility/2006">
              <mc:Choice xmlns:v="urn:schemas-microsoft-com:vml" Requires="v">
                <p:oleObj spid="_x0000_s149754" name="Equation" r:id="rId14" imgW="3122873" imgH="856471" progId="Equation.DSMT4">
                  <p:embed/>
                </p:oleObj>
              </mc:Choice>
              <mc:Fallback>
                <p:oleObj name="Equation" r:id="rId14" imgW="3122873" imgH="856471" progId="Equation.DSMT4">
                  <p:embed/>
                  <p:pic>
                    <p:nvPicPr>
                      <p:cNvPr id="0" name=""/>
                      <p:cNvPicPr/>
                      <p:nvPr/>
                    </p:nvPicPr>
                    <p:blipFill>
                      <a:blip r:embed="rId15"/>
                      <a:stretch>
                        <a:fillRect/>
                      </a:stretch>
                    </p:blipFill>
                    <p:spPr>
                      <a:xfrm>
                        <a:off x="4523645" y="4947545"/>
                        <a:ext cx="2609750" cy="716454"/>
                      </a:xfrm>
                      <a:prstGeom prst="rect">
                        <a:avLst/>
                      </a:prstGeom>
                    </p:spPr>
                  </p:pic>
                </p:oleObj>
              </mc:Fallback>
            </mc:AlternateContent>
          </a:graphicData>
        </a:graphic>
      </p:graphicFrame>
      <p:graphicFrame>
        <p:nvGraphicFramePr>
          <p:cNvPr id="29" name="对象 28">
            <a:extLst>
              <a:ext uri="{FF2B5EF4-FFF2-40B4-BE49-F238E27FC236}">
                <a16:creationId xmlns:a16="http://schemas.microsoft.com/office/drawing/2014/main" xmlns="" id="{56FF90C3-D843-A79E-EDA3-5B2BEA3D1696}"/>
              </a:ext>
            </a:extLst>
          </p:cNvPr>
          <p:cNvGraphicFramePr>
            <a:graphicFrameLocks noChangeAspect="1"/>
          </p:cNvGraphicFramePr>
          <p:nvPr>
            <p:extLst>
              <p:ext uri="{D42A27DB-BD31-4B8C-83A1-F6EECF244321}">
                <p14:modId xmlns:p14="http://schemas.microsoft.com/office/powerpoint/2010/main" val="3634629011"/>
              </p:ext>
            </p:extLst>
          </p:nvPr>
        </p:nvGraphicFramePr>
        <p:xfrm>
          <a:off x="7429500" y="4953347"/>
          <a:ext cx="1714500" cy="725487"/>
        </p:xfrm>
        <a:graphic>
          <a:graphicData uri="http://schemas.openxmlformats.org/presentationml/2006/ole">
            <mc:AlternateContent xmlns:mc="http://schemas.openxmlformats.org/markup-compatibility/2006">
              <mc:Choice xmlns:v="urn:schemas-microsoft-com:vml" Requires="v">
                <p:oleObj spid="_x0000_s149755" name="Equation" r:id="rId16" imgW="1714808" imgH="725426" progId="Equation.DSMT4">
                  <p:embed/>
                </p:oleObj>
              </mc:Choice>
              <mc:Fallback>
                <p:oleObj name="Equation" r:id="rId16" imgW="1714808" imgH="725426" progId="Equation.DSMT4">
                  <p:embed/>
                  <p:pic>
                    <p:nvPicPr>
                      <p:cNvPr id="0" name=""/>
                      <p:cNvPicPr/>
                      <p:nvPr/>
                    </p:nvPicPr>
                    <p:blipFill>
                      <a:blip r:embed="rId17"/>
                      <a:stretch>
                        <a:fillRect/>
                      </a:stretch>
                    </p:blipFill>
                    <p:spPr>
                      <a:xfrm>
                        <a:off x="7429500" y="4953347"/>
                        <a:ext cx="1714500" cy="725487"/>
                      </a:xfrm>
                      <a:prstGeom prst="rect">
                        <a:avLst/>
                      </a:prstGeom>
                    </p:spPr>
                  </p:pic>
                </p:oleObj>
              </mc:Fallback>
            </mc:AlternateContent>
          </a:graphicData>
        </a:graphic>
      </p:graphicFrame>
      <p:graphicFrame>
        <p:nvGraphicFramePr>
          <p:cNvPr id="30" name="Object 5">
            <a:extLst>
              <a:ext uri="{FF2B5EF4-FFF2-40B4-BE49-F238E27FC236}">
                <a16:creationId xmlns:a16="http://schemas.microsoft.com/office/drawing/2014/main" xmlns="" id="{8D688900-FC0B-D09B-B568-2C06202961DB}"/>
              </a:ext>
            </a:extLst>
          </p:cNvPr>
          <p:cNvGraphicFramePr>
            <a:graphicFrameLocks noChangeAspect="1"/>
          </p:cNvGraphicFramePr>
          <p:nvPr>
            <p:extLst>
              <p:ext uri="{D42A27DB-BD31-4B8C-83A1-F6EECF244321}">
                <p14:modId xmlns:p14="http://schemas.microsoft.com/office/powerpoint/2010/main" val="560972282"/>
              </p:ext>
            </p:extLst>
          </p:nvPr>
        </p:nvGraphicFramePr>
        <p:xfrm>
          <a:off x="2463953" y="4970142"/>
          <a:ext cx="536575" cy="385762"/>
        </p:xfrm>
        <a:graphic>
          <a:graphicData uri="http://schemas.openxmlformats.org/presentationml/2006/ole">
            <mc:AlternateContent xmlns:mc="http://schemas.openxmlformats.org/markup-compatibility/2006">
              <mc:Choice xmlns:v="urn:schemas-microsoft-com:vml" Requires="v">
                <p:oleObj spid="_x0000_s149756" r:id="rId18" imgW="317362" imgH="228501" progId="Equation.3">
                  <p:embed/>
                </p:oleObj>
              </mc:Choice>
              <mc:Fallback>
                <p:oleObj r:id="rId18" imgW="317362" imgH="228501" progId="Equation.3">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463953" y="4970142"/>
                        <a:ext cx="536575" cy="385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1" name="Object 8">
            <a:extLst>
              <a:ext uri="{FF2B5EF4-FFF2-40B4-BE49-F238E27FC236}">
                <a16:creationId xmlns:a16="http://schemas.microsoft.com/office/drawing/2014/main" xmlns="" id="{4263D9F0-B430-CE35-189F-F3653ACA3867}"/>
              </a:ext>
            </a:extLst>
          </p:cNvPr>
          <p:cNvGraphicFramePr>
            <a:graphicFrameLocks noChangeAspect="1"/>
          </p:cNvGraphicFramePr>
          <p:nvPr>
            <p:extLst>
              <p:ext uri="{D42A27DB-BD31-4B8C-83A1-F6EECF244321}">
                <p14:modId xmlns:p14="http://schemas.microsoft.com/office/powerpoint/2010/main" val="3001319026"/>
              </p:ext>
            </p:extLst>
          </p:nvPr>
        </p:nvGraphicFramePr>
        <p:xfrm>
          <a:off x="114453" y="4825679"/>
          <a:ext cx="2265362" cy="1044575"/>
        </p:xfrm>
        <a:graphic>
          <a:graphicData uri="http://schemas.openxmlformats.org/presentationml/2006/ole">
            <mc:AlternateContent xmlns:mc="http://schemas.openxmlformats.org/markup-compatibility/2006">
              <mc:Choice xmlns:v="urn:schemas-microsoft-com:vml" Requires="v">
                <p:oleObj spid="_x0000_s149757" r:id="rId20" imgW="1308100" imgH="647700" progId="Equation.3">
                  <p:embed/>
                </p:oleObj>
              </mc:Choice>
              <mc:Fallback>
                <p:oleObj r:id="rId20" imgW="1308100" imgH="647700" progId="Equation.3">
                  <p:embed/>
                  <p:pic>
                    <p:nvPicPr>
                      <p:cNvPr id="0" name=""/>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14453" y="4825679"/>
                        <a:ext cx="2265362" cy="1044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pic>
        <p:nvPicPr>
          <p:cNvPr id="32" name="图片 31"/>
          <p:cNvPicPr>
            <a:picLocks noChangeAspect="1"/>
          </p:cNvPicPr>
          <p:nvPr/>
        </p:nvPicPr>
        <p:blipFill>
          <a:blip r:embed="rId22"/>
          <a:stretch>
            <a:fillRect/>
          </a:stretch>
        </p:blipFill>
        <p:spPr>
          <a:xfrm>
            <a:off x="1507230" y="5981135"/>
            <a:ext cx="5191886" cy="377317"/>
          </a:xfrm>
          <a:prstGeom prst="rect">
            <a:avLst/>
          </a:prstGeom>
        </p:spPr>
      </p:pic>
    </p:spTree>
    <p:extLst>
      <p:ext uri="{BB962C8B-B14F-4D97-AF65-F5344CB8AC3E}">
        <p14:creationId xmlns:p14="http://schemas.microsoft.com/office/powerpoint/2010/main" val="3645464883"/>
      </p:ext>
    </p:extLst>
  </p:cSld>
  <p:clrMapOvr>
    <a:masterClrMapping/>
  </p:clrMapOvr>
  <p:timing>
    <p:tnLst>
      <p:par>
        <p:cTn id="1" dur="indefinite" restart="never" nodeType="tmRoot"/>
      </p:par>
    </p:tnLst>
  </p:timing>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193</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5.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正弦波</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振荡器</a:t>
            </a:r>
          </a:p>
        </p:txBody>
      </p:sp>
      <p:sp>
        <p:nvSpPr>
          <p:cNvPr id="5" name="Rectangle 5">
            <a:extLst>
              <a:ext uri="{FF2B5EF4-FFF2-40B4-BE49-F238E27FC236}">
                <a16:creationId xmlns:a16="http://schemas.microsoft.com/office/drawing/2014/main" xmlns="" id="{F134AA1A-3928-1030-7CA5-DB84DC257089}"/>
              </a:ext>
            </a:extLst>
          </p:cNvPr>
          <p:cNvSpPr>
            <a:spLocks noChangeArrowheads="1"/>
          </p:cNvSpPr>
          <p:nvPr/>
        </p:nvSpPr>
        <p:spPr bwMode="auto">
          <a:xfrm>
            <a:off x="251520" y="1340768"/>
            <a:ext cx="8374223" cy="6096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buClr>
                <a:schemeClr val="folHlink"/>
              </a:buClr>
              <a:buSzPct val="60000"/>
              <a:buFont typeface="Wingdings" panose="05000000000000000000" pitchFamily="2" charset="2"/>
              <a:buNone/>
            </a:pPr>
            <a:r>
              <a:rPr lang="zh-CN" altLang="en-US" sz="2400" b="1" dirty="0">
                <a:solidFill>
                  <a:schemeClr val="tx1"/>
                </a:solidFill>
                <a:latin typeface="+mn-ea"/>
                <a:ea typeface="+mn-ea"/>
              </a:rPr>
              <a:t>三 、并联改进型电容三点式振荡器（西勒振荡器</a:t>
            </a:r>
            <a:r>
              <a:rPr lang="en-US" altLang="zh-CN" sz="2400" b="1" dirty="0">
                <a:solidFill>
                  <a:schemeClr val="tx1"/>
                </a:solidFill>
                <a:latin typeface="+mn-ea"/>
                <a:ea typeface="+mn-ea"/>
              </a:rPr>
              <a:t>Seiler</a:t>
            </a:r>
            <a:r>
              <a:rPr lang="zh-CN" altLang="en-US" sz="2400" b="1" dirty="0">
                <a:solidFill>
                  <a:schemeClr val="tx1"/>
                </a:solidFill>
                <a:latin typeface="+mn-ea"/>
                <a:ea typeface="+mn-ea"/>
              </a:rPr>
              <a:t>）</a:t>
            </a:r>
          </a:p>
        </p:txBody>
      </p:sp>
      <p:pic>
        <p:nvPicPr>
          <p:cNvPr id="6" name="图片 5">
            <a:extLst>
              <a:ext uri="{FF2B5EF4-FFF2-40B4-BE49-F238E27FC236}">
                <a16:creationId xmlns:a16="http://schemas.microsoft.com/office/drawing/2014/main" xmlns="" id="{ECB9B968-5716-1540-4AB7-836C1A3EF7D8}"/>
              </a:ext>
            </a:extLst>
          </p:cNvPr>
          <p:cNvPicPr>
            <a:picLocks noChangeAspect="1"/>
          </p:cNvPicPr>
          <p:nvPr/>
        </p:nvPicPr>
        <p:blipFill>
          <a:blip r:embed="rId3"/>
          <a:stretch>
            <a:fillRect/>
          </a:stretch>
        </p:blipFill>
        <p:spPr>
          <a:xfrm>
            <a:off x="755576" y="1844824"/>
            <a:ext cx="2791887" cy="2414737"/>
          </a:xfrm>
          <a:prstGeom prst="rect">
            <a:avLst/>
          </a:prstGeom>
        </p:spPr>
      </p:pic>
      <p:pic>
        <p:nvPicPr>
          <p:cNvPr id="7" name="图片 6">
            <a:extLst>
              <a:ext uri="{FF2B5EF4-FFF2-40B4-BE49-F238E27FC236}">
                <a16:creationId xmlns:a16="http://schemas.microsoft.com/office/drawing/2014/main" xmlns="" id="{666304FE-3FFD-2E69-E735-B5890B288361}"/>
              </a:ext>
            </a:extLst>
          </p:cNvPr>
          <p:cNvPicPr>
            <a:picLocks noChangeAspect="1"/>
          </p:cNvPicPr>
          <p:nvPr/>
        </p:nvPicPr>
        <p:blipFill>
          <a:blip r:embed="rId4"/>
          <a:stretch>
            <a:fillRect/>
          </a:stretch>
        </p:blipFill>
        <p:spPr>
          <a:xfrm>
            <a:off x="4820121" y="1844824"/>
            <a:ext cx="2316914" cy="2250424"/>
          </a:xfrm>
          <a:prstGeom prst="rect">
            <a:avLst/>
          </a:prstGeom>
        </p:spPr>
      </p:pic>
      <p:graphicFrame>
        <p:nvGraphicFramePr>
          <p:cNvPr id="8" name="Object 3">
            <a:extLst>
              <a:ext uri="{FF2B5EF4-FFF2-40B4-BE49-F238E27FC236}">
                <a16:creationId xmlns:a16="http://schemas.microsoft.com/office/drawing/2014/main" xmlns="" id="{977CCB79-A7A0-1E75-51E4-6989ADD786DE}"/>
              </a:ext>
            </a:extLst>
          </p:cNvPr>
          <p:cNvGraphicFramePr>
            <a:graphicFrameLocks noChangeAspect="1"/>
          </p:cNvGraphicFramePr>
          <p:nvPr/>
        </p:nvGraphicFramePr>
        <p:xfrm>
          <a:off x="620713" y="4583113"/>
          <a:ext cx="3773487" cy="407987"/>
        </p:xfrm>
        <a:graphic>
          <a:graphicData uri="http://schemas.openxmlformats.org/presentationml/2006/ole">
            <mc:AlternateContent xmlns:mc="http://schemas.openxmlformats.org/markup-compatibility/2006">
              <mc:Choice xmlns:v="urn:schemas-microsoft-com:vml" Requires="v">
                <p:oleObj spid="_x0000_s150665" r:id="rId5" imgW="2108200" imgH="228600" progId="Equation.3">
                  <p:embed/>
                </p:oleObj>
              </mc:Choice>
              <mc:Fallback>
                <p:oleObj r:id="rId5" imgW="2108200" imgH="2286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0713" y="4583113"/>
                        <a:ext cx="3773487" cy="407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9" name="Object 4">
            <a:extLst>
              <a:ext uri="{FF2B5EF4-FFF2-40B4-BE49-F238E27FC236}">
                <a16:creationId xmlns:a16="http://schemas.microsoft.com/office/drawing/2014/main" xmlns="" id="{2D88798A-ACC8-CAB6-9607-2BF651B483BA}"/>
              </a:ext>
            </a:extLst>
          </p:cNvPr>
          <p:cNvGraphicFramePr>
            <a:graphicFrameLocks noChangeAspect="1"/>
          </p:cNvGraphicFramePr>
          <p:nvPr/>
        </p:nvGraphicFramePr>
        <p:xfrm>
          <a:off x="679450" y="4921250"/>
          <a:ext cx="3351213" cy="1123950"/>
        </p:xfrm>
        <a:graphic>
          <a:graphicData uri="http://schemas.openxmlformats.org/presentationml/2006/ole">
            <mc:AlternateContent xmlns:mc="http://schemas.openxmlformats.org/markup-compatibility/2006">
              <mc:Choice xmlns:v="urn:schemas-microsoft-com:vml" Requires="v">
                <p:oleObj spid="_x0000_s150666" r:id="rId7" imgW="1625600" imgH="673100" progId="Equation.3">
                  <p:embed/>
                </p:oleObj>
              </mc:Choice>
              <mc:Fallback>
                <p:oleObj r:id="rId7" imgW="1625600" imgH="6731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79450" y="4921250"/>
                        <a:ext cx="3351213" cy="112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0" name="Rectangle 19">
            <a:extLst>
              <a:ext uri="{FF2B5EF4-FFF2-40B4-BE49-F238E27FC236}">
                <a16:creationId xmlns:a16="http://schemas.microsoft.com/office/drawing/2014/main" xmlns="" id="{FA6146B9-EC27-8126-1BCF-47B78D25B6AF}"/>
              </a:ext>
            </a:extLst>
          </p:cNvPr>
          <p:cNvSpPr>
            <a:spLocks noChangeArrowheads="1"/>
          </p:cNvSpPr>
          <p:nvPr/>
        </p:nvSpPr>
        <p:spPr bwMode="auto">
          <a:xfrm>
            <a:off x="539552" y="4148436"/>
            <a:ext cx="29352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pPr fontAlgn="t">
              <a:spcBef>
                <a:spcPct val="50000"/>
              </a:spcBef>
            </a:pPr>
            <a:r>
              <a:rPr lang="en-US" altLang="zh-CN" sz="2400" b="1" i="1" dirty="0">
                <a:solidFill>
                  <a:srgbClr val="FF3300"/>
                </a:solidFill>
                <a:latin typeface="Times New Roman" panose="02020603050405020304" pitchFamily="18" charset="0"/>
              </a:rPr>
              <a:t>C</a:t>
            </a:r>
            <a:r>
              <a:rPr lang="en-US" altLang="zh-CN" sz="2400" b="1" baseline="-25000" dirty="0">
                <a:solidFill>
                  <a:srgbClr val="FF3300"/>
                </a:solidFill>
                <a:latin typeface="Times New Roman" panose="02020603050405020304" pitchFamily="18" charset="0"/>
              </a:rPr>
              <a:t>3</a:t>
            </a:r>
            <a:r>
              <a:rPr lang="en-US" altLang="zh-CN" sz="2400" b="1" dirty="0">
                <a:solidFill>
                  <a:srgbClr val="FF3300"/>
                </a:solidFill>
                <a:latin typeface="Times New Roman" panose="02020603050405020304" pitchFamily="18" charset="0"/>
              </a:rPr>
              <a:t> &lt;&lt; </a:t>
            </a:r>
            <a:r>
              <a:rPr lang="en-US" altLang="zh-CN" sz="2400" b="1" i="1" dirty="0">
                <a:solidFill>
                  <a:srgbClr val="FF3300"/>
                </a:solidFill>
                <a:latin typeface="Times New Roman" panose="02020603050405020304" pitchFamily="18" charset="0"/>
              </a:rPr>
              <a:t>C</a:t>
            </a:r>
            <a:r>
              <a:rPr lang="en-US" altLang="zh-CN" sz="2400" b="1" baseline="-25000" dirty="0">
                <a:solidFill>
                  <a:srgbClr val="FF3300"/>
                </a:solidFill>
                <a:latin typeface="Times New Roman" panose="02020603050405020304" pitchFamily="18" charset="0"/>
              </a:rPr>
              <a:t>1</a:t>
            </a:r>
            <a:r>
              <a:rPr lang="en-US" altLang="zh-CN" sz="2400" b="1" dirty="0">
                <a:solidFill>
                  <a:srgbClr val="FF3300"/>
                </a:solidFill>
                <a:latin typeface="Times New Roman" panose="02020603050405020304" pitchFamily="18" charset="0"/>
              </a:rPr>
              <a:t>  </a:t>
            </a:r>
            <a:r>
              <a:rPr lang="zh-CN" altLang="en-US" sz="2400" b="1" dirty="0">
                <a:solidFill>
                  <a:srgbClr val="FF3300"/>
                </a:solidFill>
                <a:latin typeface="Times New Roman" panose="02020603050405020304" pitchFamily="18" charset="0"/>
              </a:rPr>
              <a:t>， </a:t>
            </a:r>
            <a:r>
              <a:rPr lang="en-US" altLang="zh-CN" sz="2400" b="1" i="1" dirty="0">
                <a:solidFill>
                  <a:srgbClr val="FF3300"/>
                </a:solidFill>
                <a:latin typeface="Times New Roman" panose="02020603050405020304" pitchFamily="18" charset="0"/>
              </a:rPr>
              <a:t>C</a:t>
            </a:r>
            <a:r>
              <a:rPr lang="en-US" altLang="zh-CN" sz="2400" b="1" baseline="-25000" dirty="0">
                <a:solidFill>
                  <a:srgbClr val="FF3300"/>
                </a:solidFill>
                <a:latin typeface="Times New Roman" panose="02020603050405020304" pitchFamily="18" charset="0"/>
              </a:rPr>
              <a:t>3</a:t>
            </a:r>
            <a:r>
              <a:rPr lang="en-US" altLang="zh-CN" sz="2400" b="1" dirty="0">
                <a:solidFill>
                  <a:srgbClr val="FF3300"/>
                </a:solidFill>
                <a:latin typeface="Times New Roman" panose="02020603050405020304" pitchFamily="18" charset="0"/>
              </a:rPr>
              <a:t> &lt;&lt; </a:t>
            </a:r>
            <a:r>
              <a:rPr lang="en-US" altLang="zh-CN" sz="2400" b="1" i="1" dirty="0">
                <a:solidFill>
                  <a:srgbClr val="FF3300"/>
                </a:solidFill>
                <a:latin typeface="Times New Roman" panose="02020603050405020304" pitchFamily="18" charset="0"/>
              </a:rPr>
              <a:t>C</a:t>
            </a:r>
            <a:r>
              <a:rPr lang="en-US" altLang="zh-CN" sz="2400" b="1" baseline="-25000" dirty="0">
                <a:solidFill>
                  <a:srgbClr val="FF3300"/>
                </a:solidFill>
                <a:latin typeface="Times New Roman" panose="02020603050405020304" pitchFamily="18" charset="0"/>
              </a:rPr>
              <a:t>2</a:t>
            </a:r>
          </a:p>
        </p:txBody>
      </p:sp>
      <p:graphicFrame>
        <p:nvGraphicFramePr>
          <p:cNvPr id="11" name="Object 30">
            <a:extLst>
              <a:ext uri="{FF2B5EF4-FFF2-40B4-BE49-F238E27FC236}">
                <a16:creationId xmlns:a16="http://schemas.microsoft.com/office/drawing/2014/main" xmlns="" id="{7A93B51B-499B-9987-4C11-76CBC6878060}"/>
              </a:ext>
            </a:extLst>
          </p:cNvPr>
          <p:cNvGraphicFramePr>
            <a:graphicFrameLocks noChangeAspect="1"/>
          </p:cNvGraphicFramePr>
          <p:nvPr>
            <p:extLst>
              <p:ext uri="{D42A27DB-BD31-4B8C-83A1-F6EECF244321}">
                <p14:modId xmlns:p14="http://schemas.microsoft.com/office/powerpoint/2010/main" val="2726387824"/>
              </p:ext>
            </p:extLst>
          </p:nvPr>
        </p:nvGraphicFramePr>
        <p:xfrm>
          <a:off x="1133673" y="6008687"/>
          <a:ext cx="1389063" cy="412750"/>
        </p:xfrm>
        <a:graphic>
          <a:graphicData uri="http://schemas.openxmlformats.org/presentationml/2006/ole">
            <mc:AlternateContent xmlns:mc="http://schemas.openxmlformats.org/markup-compatibility/2006">
              <mc:Choice xmlns:v="urn:schemas-microsoft-com:vml" Requires="v">
                <p:oleObj spid="_x0000_s150667" r:id="rId9" imgW="622030" imgH="228501" progId="Equation.3">
                  <p:embed/>
                </p:oleObj>
              </mc:Choice>
              <mc:Fallback>
                <p:oleObj r:id="rId9" imgW="622030" imgH="228501"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33673" y="6008687"/>
                        <a:ext cx="1389063"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2" name="Rectangle 32">
            <a:extLst>
              <a:ext uri="{FF2B5EF4-FFF2-40B4-BE49-F238E27FC236}">
                <a16:creationId xmlns:a16="http://schemas.microsoft.com/office/drawing/2014/main" xmlns="" id="{F1456423-7D97-15D2-D07F-568262AA3E62}"/>
              </a:ext>
            </a:extLst>
          </p:cNvPr>
          <p:cNvSpPr>
            <a:spLocks noChangeArrowheads="1"/>
          </p:cNvSpPr>
          <p:nvPr/>
        </p:nvSpPr>
        <p:spPr bwMode="auto">
          <a:xfrm>
            <a:off x="4732211" y="4148436"/>
            <a:ext cx="1728656" cy="463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90000" tIns="46800" rIns="90000" bIns="46800">
            <a:spAutoFit/>
          </a:bodyPr>
          <a:lstStyle/>
          <a:p>
            <a:r>
              <a:rPr lang="zh-CN" altLang="en-US" sz="2400" b="1" dirty="0">
                <a:solidFill>
                  <a:srgbClr val="FF3300"/>
                </a:solidFill>
                <a:latin typeface="+mn-ea"/>
                <a:ea typeface="+mn-ea"/>
              </a:rPr>
              <a:t>振荡频率：</a:t>
            </a:r>
          </a:p>
        </p:txBody>
      </p:sp>
      <p:graphicFrame>
        <p:nvGraphicFramePr>
          <p:cNvPr id="13" name="Object 31">
            <a:extLst>
              <a:ext uri="{FF2B5EF4-FFF2-40B4-BE49-F238E27FC236}">
                <a16:creationId xmlns:a16="http://schemas.microsoft.com/office/drawing/2014/main" xmlns="" id="{2921E45C-71DF-EAEC-39F8-9401B4890C4F}"/>
              </a:ext>
            </a:extLst>
          </p:cNvPr>
          <p:cNvGraphicFramePr>
            <a:graphicFrameLocks noChangeAspect="1"/>
          </p:cNvGraphicFramePr>
          <p:nvPr>
            <p:extLst>
              <p:ext uri="{D42A27DB-BD31-4B8C-83A1-F6EECF244321}">
                <p14:modId xmlns:p14="http://schemas.microsoft.com/office/powerpoint/2010/main" val="589156801"/>
              </p:ext>
            </p:extLst>
          </p:nvPr>
        </p:nvGraphicFramePr>
        <p:xfrm>
          <a:off x="4810199" y="4637639"/>
          <a:ext cx="2795587" cy="890587"/>
        </p:xfrm>
        <a:graphic>
          <a:graphicData uri="http://schemas.openxmlformats.org/presentationml/2006/ole">
            <mc:AlternateContent xmlns:mc="http://schemas.openxmlformats.org/markup-compatibility/2006">
              <mc:Choice xmlns:v="urn:schemas-microsoft-com:vml" Requires="v">
                <p:oleObj spid="_x0000_s150668" r:id="rId11" imgW="1714500" imgH="482600" progId="Equation.3">
                  <p:embed/>
                </p:oleObj>
              </mc:Choice>
              <mc:Fallback>
                <p:oleObj r:id="rId11" imgW="1714500" imgH="48260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810199" y="4637639"/>
                        <a:ext cx="2795587" cy="890587"/>
                      </a:xfrm>
                      <a:prstGeom prst="rect">
                        <a:avLst/>
                      </a:prstGeom>
                      <a:gradFill rotWithShape="1">
                        <a:gsLst>
                          <a:gs pos="0">
                            <a:srgbClr val="FF99FF"/>
                          </a:gs>
                          <a:gs pos="50000">
                            <a:schemeClr val="bg1"/>
                          </a:gs>
                          <a:gs pos="100000">
                            <a:srgbClr val="FF99FF"/>
                          </a:gs>
                        </a:gsLst>
                        <a:lin ang="5400000" scaled="1"/>
                      </a:gra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4" name="Object 34">
            <a:extLst>
              <a:ext uri="{FF2B5EF4-FFF2-40B4-BE49-F238E27FC236}">
                <a16:creationId xmlns:a16="http://schemas.microsoft.com/office/drawing/2014/main" xmlns="" id="{89D2E725-9841-942A-2669-6E0DF07A2F51}"/>
              </a:ext>
            </a:extLst>
          </p:cNvPr>
          <p:cNvGraphicFramePr>
            <a:graphicFrameLocks noChangeAspect="1"/>
          </p:cNvGraphicFramePr>
          <p:nvPr>
            <p:extLst>
              <p:ext uri="{D42A27DB-BD31-4B8C-83A1-F6EECF244321}">
                <p14:modId xmlns:p14="http://schemas.microsoft.com/office/powerpoint/2010/main" val="3955215000"/>
              </p:ext>
            </p:extLst>
          </p:nvPr>
        </p:nvGraphicFramePr>
        <p:xfrm>
          <a:off x="4820121" y="5757862"/>
          <a:ext cx="1835150" cy="768350"/>
        </p:xfrm>
        <a:graphic>
          <a:graphicData uri="http://schemas.openxmlformats.org/presentationml/2006/ole">
            <mc:AlternateContent xmlns:mc="http://schemas.openxmlformats.org/markup-compatibility/2006">
              <mc:Choice xmlns:v="urn:schemas-microsoft-com:vml" Requires="v">
                <p:oleObj spid="_x0000_s150669" r:id="rId13" imgW="1091726" imgH="444307" progId="Equation.3">
                  <p:embed/>
                </p:oleObj>
              </mc:Choice>
              <mc:Fallback>
                <p:oleObj r:id="rId13" imgW="1091726" imgH="444307"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820121" y="5757862"/>
                        <a:ext cx="1835150" cy="768350"/>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4112936286"/>
      </p:ext>
    </p:extLst>
  </p:cSld>
  <p:clrMapOvr>
    <a:masterClrMapping/>
  </p:clrMapOvr>
  <p:timing>
    <p:tnLst>
      <p:par>
        <p:cTn id="1" dur="indefinite" restart="never" nodeType="tmRoot"/>
      </p:par>
    </p:tnLst>
  </p:timing>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194</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5.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正弦波</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振荡器</a:t>
            </a:r>
          </a:p>
        </p:txBody>
      </p:sp>
      <p:graphicFrame>
        <p:nvGraphicFramePr>
          <p:cNvPr id="5" name="Object 3">
            <a:extLst>
              <a:ext uri="{FF2B5EF4-FFF2-40B4-BE49-F238E27FC236}">
                <a16:creationId xmlns:a16="http://schemas.microsoft.com/office/drawing/2014/main" xmlns="" id="{1A33FD28-DAD1-E6A6-9566-CFC44253CA2E}"/>
              </a:ext>
            </a:extLst>
          </p:cNvPr>
          <p:cNvGraphicFramePr>
            <a:graphicFrameLocks noChangeAspect="1"/>
          </p:cNvGraphicFramePr>
          <p:nvPr>
            <p:extLst>
              <p:ext uri="{D42A27DB-BD31-4B8C-83A1-F6EECF244321}">
                <p14:modId xmlns:p14="http://schemas.microsoft.com/office/powerpoint/2010/main" val="3888356699"/>
              </p:ext>
            </p:extLst>
          </p:nvPr>
        </p:nvGraphicFramePr>
        <p:xfrm>
          <a:off x="422545" y="2488287"/>
          <a:ext cx="4194725" cy="1325161"/>
        </p:xfrm>
        <a:graphic>
          <a:graphicData uri="http://schemas.openxmlformats.org/presentationml/2006/ole">
            <mc:AlternateContent xmlns:mc="http://schemas.openxmlformats.org/markup-compatibility/2006">
              <mc:Choice xmlns:v="urn:schemas-microsoft-com:vml" Requires="v">
                <p:oleObj spid="_x0000_s151716" r:id="rId3" imgW="2425700" imgH="787400" progId="Equation.3">
                  <p:embed/>
                </p:oleObj>
              </mc:Choice>
              <mc:Fallback>
                <p:oleObj r:id="rId3" imgW="2425700" imgH="7874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2545" y="2488287"/>
                        <a:ext cx="4194725" cy="1325161"/>
                      </a:xfrm>
                      <a:prstGeom prst="rect">
                        <a:avLst/>
                      </a:prstGeom>
                      <a:noFill/>
                      <a:ln>
                        <a:noFill/>
                      </a:ln>
                    </p:spPr>
                  </p:pic>
                </p:oleObj>
              </mc:Fallback>
            </mc:AlternateContent>
          </a:graphicData>
        </a:graphic>
      </p:graphicFrame>
      <p:sp>
        <p:nvSpPr>
          <p:cNvPr id="6" name="Rectangle 4">
            <a:extLst>
              <a:ext uri="{FF2B5EF4-FFF2-40B4-BE49-F238E27FC236}">
                <a16:creationId xmlns:a16="http://schemas.microsoft.com/office/drawing/2014/main" xmlns="" id="{24F8AF93-B3C6-5E24-C822-17A6DF35B29A}"/>
              </a:ext>
            </a:extLst>
          </p:cNvPr>
          <p:cNvSpPr>
            <a:spLocks noChangeArrowheads="1"/>
          </p:cNvSpPr>
          <p:nvPr/>
        </p:nvSpPr>
        <p:spPr bwMode="auto">
          <a:xfrm>
            <a:off x="302915" y="1554436"/>
            <a:ext cx="4470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90000" tIns="46800" rIns="90000" bIns="46800">
            <a:spAutoFit/>
          </a:bodyPr>
          <a:lstStyle/>
          <a:p>
            <a:pPr>
              <a:spcBef>
                <a:spcPct val="20000"/>
              </a:spcBef>
            </a:pPr>
            <a:r>
              <a:rPr lang="zh-CN" altLang="en-US" sz="2400" b="1">
                <a:solidFill>
                  <a:srgbClr val="FF3300"/>
                </a:solidFill>
                <a:latin typeface="Times New Roman" panose="02020603050405020304" pitchFamily="18" charset="0"/>
              </a:rPr>
              <a:t>相对克拉泼振荡器的改进之处</a:t>
            </a:r>
            <a:r>
              <a:rPr lang="zh-CN" altLang="en-US" sz="2400" b="1">
                <a:solidFill>
                  <a:srgbClr val="FF3300"/>
                </a:solidFill>
                <a:latin typeface="Times New Roman" panose="02020603050405020304" pitchFamily="18" charset="0"/>
                <a:sym typeface="Wingdings" panose="05000000000000000000" pitchFamily="2" charset="2"/>
              </a:rPr>
              <a:t>：</a:t>
            </a:r>
          </a:p>
        </p:txBody>
      </p:sp>
      <p:graphicFrame>
        <p:nvGraphicFramePr>
          <p:cNvPr id="7" name="Object 5">
            <a:extLst>
              <a:ext uri="{FF2B5EF4-FFF2-40B4-BE49-F238E27FC236}">
                <a16:creationId xmlns:a16="http://schemas.microsoft.com/office/drawing/2014/main" xmlns="" id="{215E9BB1-539C-0BEA-7C7C-4F0A02EA8185}"/>
              </a:ext>
            </a:extLst>
          </p:cNvPr>
          <p:cNvGraphicFramePr>
            <a:graphicFrameLocks noChangeAspect="1"/>
          </p:cNvGraphicFramePr>
          <p:nvPr>
            <p:extLst>
              <p:ext uri="{D42A27DB-BD31-4B8C-83A1-F6EECF244321}">
                <p14:modId xmlns:p14="http://schemas.microsoft.com/office/powerpoint/2010/main" val="2305285127"/>
              </p:ext>
            </p:extLst>
          </p:nvPr>
        </p:nvGraphicFramePr>
        <p:xfrm>
          <a:off x="5700415" y="1451248"/>
          <a:ext cx="2695575" cy="2514600"/>
        </p:xfrm>
        <a:graphic>
          <a:graphicData uri="http://schemas.openxmlformats.org/presentationml/2006/ole">
            <mc:AlternateContent xmlns:mc="http://schemas.openxmlformats.org/markup-compatibility/2006">
              <mc:Choice xmlns:v="urn:schemas-microsoft-com:vml" Requires="v">
                <p:oleObj spid="_x0000_s151717" r:id="rId5" imgW="2467319" imgH="2104762" progId="Paint.Picture">
                  <p:embed/>
                </p:oleObj>
              </mc:Choice>
              <mc:Fallback>
                <p:oleObj r:id="rId5" imgW="2467319" imgH="2104762" progId="Paint.Picture">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00415" y="1451248"/>
                        <a:ext cx="2695575"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8" name="Group 6">
            <a:extLst>
              <a:ext uri="{FF2B5EF4-FFF2-40B4-BE49-F238E27FC236}">
                <a16:creationId xmlns:a16="http://schemas.microsoft.com/office/drawing/2014/main" xmlns="" id="{8E34D66A-CE6A-2A85-FB58-614FB328F868}"/>
              </a:ext>
            </a:extLst>
          </p:cNvPr>
          <p:cNvGrpSpPr>
            <a:grpSpLocks/>
          </p:cNvGrpSpPr>
          <p:nvPr/>
        </p:nvGrpSpPr>
        <p:grpSpPr bwMode="auto">
          <a:xfrm>
            <a:off x="7986415" y="1527448"/>
            <a:ext cx="1066800" cy="2286000"/>
            <a:chOff x="3312" y="1488"/>
            <a:chExt cx="672" cy="1536"/>
          </a:xfrm>
        </p:grpSpPr>
        <p:sp>
          <p:nvSpPr>
            <p:cNvPr id="9" name="Line 7">
              <a:extLst>
                <a:ext uri="{FF2B5EF4-FFF2-40B4-BE49-F238E27FC236}">
                  <a16:creationId xmlns:a16="http://schemas.microsoft.com/office/drawing/2014/main" xmlns="" id="{5658DCC9-A1A5-445D-DBF7-D889915FCD16}"/>
                </a:ext>
              </a:extLst>
            </p:cNvPr>
            <p:cNvSpPr>
              <a:spLocks noChangeShapeType="1"/>
            </p:cNvSpPr>
            <p:nvPr/>
          </p:nvSpPr>
          <p:spPr bwMode="auto">
            <a:xfrm>
              <a:off x="3670" y="1488"/>
              <a:ext cx="0" cy="587"/>
            </a:xfrm>
            <a:prstGeom prst="line">
              <a:avLst/>
            </a:prstGeom>
            <a:noFill/>
            <a:ln w="38100">
              <a:solidFill>
                <a:srgbClr val="FF00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 name="Line 8">
              <a:extLst>
                <a:ext uri="{FF2B5EF4-FFF2-40B4-BE49-F238E27FC236}">
                  <a16:creationId xmlns:a16="http://schemas.microsoft.com/office/drawing/2014/main" xmlns="" id="{01E36F8E-F69F-B61C-B5FC-3C47FF1519A5}"/>
                </a:ext>
              </a:extLst>
            </p:cNvPr>
            <p:cNvSpPr>
              <a:spLocks noChangeShapeType="1"/>
            </p:cNvSpPr>
            <p:nvPr/>
          </p:nvSpPr>
          <p:spPr bwMode="auto">
            <a:xfrm>
              <a:off x="3670" y="2392"/>
              <a:ext cx="0" cy="632"/>
            </a:xfrm>
            <a:prstGeom prst="line">
              <a:avLst/>
            </a:prstGeom>
            <a:noFill/>
            <a:ln w="38100">
              <a:solidFill>
                <a:srgbClr val="FF00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 name="Rectangle 9">
              <a:extLst>
                <a:ext uri="{FF2B5EF4-FFF2-40B4-BE49-F238E27FC236}">
                  <a16:creationId xmlns:a16="http://schemas.microsoft.com/office/drawing/2014/main" xmlns="" id="{7BA2C823-0E91-141A-2A23-3095BF011626}"/>
                </a:ext>
              </a:extLst>
            </p:cNvPr>
            <p:cNvSpPr>
              <a:spLocks noChangeArrowheads="1"/>
            </p:cNvSpPr>
            <p:nvPr/>
          </p:nvSpPr>
          <p:spPr bwMode="auto">
            <a:xfrm>
              <a:off x="3626" y="2075"/>
              <a:ext cx="89" cy="317"/>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p>
              <a:endParaRPr lang="zh-CN" altLang="en-US"/>
            </a:p>
          </p:txBody>
        </p:sp>
        <p:graphicFrame>
          <p:nvGraphicFramePr>
            <p:cNvPr id="12" name="Object 10">
              <a:extLst>
                <a:ext uri="{FF2B5EF4-FFF2-40B4-BE49-F238E27FC236}">
                  <a16:creationId xmlns:a16="http://schemas.microsoft.com/office/drawing/2014/main" xmlns="" id="{57833C55-108D-1FB0-E667-FD827B50EA23}"/>
                </a:ext>
              </a:extLst>
            </p:cNvPr>
            <p:cNvGraphicFramePr>
              <a:graphicFrameLocks noChangeAspect="1"/>
            </p:cNvGraphicFramePr>
            <p:nvPr/>
          </p:nvGraphicFramePr>
          <p:xfrm>
            <a:off x="3670" y="2030"/>
            <a:ext cx="314" cy="368"/>
          </p:xfrm>
          <a:graphic>
            <a:graphicData uri="http://schemas.openxmlformats.org/presentationml/2006/ole">
              <mc:AlternateContent xmlns:mc="http://schemas.openxmlformats.org/markup-compatibility/2006">
                <mc:Choice xmlns:v="urn:schemas-microsoft-com:vml" Requires="v">
                  <p:oleObj spid="_x0000_s151718" r:id="rId7" imgW="190500" imgH="228600" progId="Equation.3">
                    <p:embed/>
                  </p:oleObj>
                </mc:Choice>
                <mc:Fallback>
                  <p:oleObj r:id="rId7" imgW="190500" imgH="2286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70" y="2030"/>
                          <a:ext cx="314"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3" name="Line 11">
              <a:extLst>
                <a:ext uri="{FF2B5EF4-FFF2-40B4-BE49-F238E27FC236}">
                  <a16:creationId xmlns:a16="http://schemas.microsoft.com/office/drawing/2014/main" xmlns="" id="{9EAC31C8-A974-2EF8-9BC2-1E014F98D6EF}"/>
                </a:ext>
              </a:extLst>
            </p:cNvPr>
            <p:cNvSpPr>
              <a:spLocks noChangeShapeType="1"/>
            </p:cNvSpPr>
            <p:nvPr/>
          </p:nvSpPr>
          <p:spPr bwMode="auto">
            <a:xfrm>
              <a:off x="3312" y="1488"/>
              <a:ext cx="358" cy="0"/>
            </a:xfrm>
            <a:prstGeom prst="line">
              <a:avLst/>
            </a:prstGeom>
            <a:noFill/>
            <a:ln w="38100">
              <a:solidFill>
                <a:srgbClr val="FF00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 name="Line 12">
              <a:extLst>
                <a:ext uri="{FF2B5EF4-FFF2-40B4-BE49-F238E27FC236}">
                  <a16:creationId xmlns:a16="http://schemas.microsoft.com/office/drawing/2014/main" xmlns="" id="{67D38C82-A571-158F-3E81-00E45B79D782}"/>
                </a:ext>
              </a:extLst>
            </p:cNvPr>
            <p:cNvSpPr>
              <a:spLocks noChangeShapeType="1"/>
            </p:cNvSpPr>
            <p:nvPr/>
          </p:nvSpPr>
          <p:spPr bwMode="auto">
            <a:xfrm flipH="1">
              <a:off x="3312" y="3024"/>
              <a:ext cx="358" cy="0"/>
            </a:xfrm>
            <a:prstGeom prst="line">
              <a:avLst/>
            </a:prstGeom>
            <a:noFill/>
            <a:ln w="38100">
              <a:solidFill>
                <a:srgbClr val="FF00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5" name="Group 13">
            <a:extLst>
              <a:ext uri="{FF2B5EF4-FFF2-40B4-BE49-F238E27FC236}">
                <a16:creationId xmlns:a16="http://schemas.microsoft.com/office/drawing/2014/main" xmlns="" id="{16CB226E-0DE7-FF78-42CB-EA71549A5635}"/>
              </a:ext>
            </a:extLst>
          </p:cNvPr>
          <p:cNvGrpSpPr>
            <a:grpSpLocks/>
          </p:cNvGrpSpPr>
          <p:nvPr/>
        </p:nvGrpSpPr>
        <p:grpSpPr bwMode="auto">
          <a:xfrm>
            <a:off x="6310015" y="1451248"/>
            <a:ext cx="476250" cy="1752600"/>
            <a:chOff x="3792" y="1968"/>
            <a:chExt cx="300" cy="1104"/>
          </a:xfrm>
        </p:grpSpPr>
        <p:sp>
          <p:nvSpPr>
            <p:cNvPr id="16" name="Rectangle 14">
              <a:extLst>
                <a:ext uri="{FF2B5EF4-FFF2-40B4-BE49-F238E27FC236}">
                  <a16:creationId xmlns:a16="http://schemas.microsoft.com/office/drawing/2014/main" xmlns="" id="{821E96FC-7836-ABB8-D7B9-B15F771B0D1B}"/>
                </a:ext>
              </a:extLst>
            </p:cNvPr>
            <p:cNvSpPr>
              <a:spLocks noChangeArrowheads="1"/>
            </p:cNvSpPr>
            <p:nvPr/>
          </p:nvSpPr>
          <p:spPr bwMode="auto">
            <a:xfrm>
              <a:off x="3888" y="2555"/>
              <a:ext cx="76" cy="317"/>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p>
              <a:endParaRPr lang="zh-CN" altLang="en-US"/>
            </a:p>
          </p:txBody>
        </p:sp>
        <p:graphicFrame>
          <p:nvGraphicFramePr>
            <p:cNvPr id="17" name="Object 15">
              <a:extLst>
                <a:ext uri="{FF2B5EF4-FFF2-40B4-BE49-F238E27FC236}">
                  <a16:creationId xmlns:a16="http://schemas.microsoft.com/office/drawing/2014/main" xmlns="" id="{A1783FE3-44DB-78A4-0D0F-B562A9D032AC}"/>
                </a:ext>
              </a:extLst>
            </p:cNvPr>
            <p:cNvGraphicFramePr>
              <a:graphicFrameLocks noChangeAspect="1"/>
            </p:cNvGraphicFramePr>
            <p:nvPr/>
          </p:nvGraphicFramePr>
          <p:xfrm>
            <a:off x="3792" y="1968"/>
            <a:ext cx="300" cy="470"/>
          </p:xfrm>
          <a:graphic>
            <a:graphicData uri="http://schemas.openxmlformats.org/presentationml/2006/ole">
              <mc:AlternateContent xmlns:mc="http://schemas.openxmlformats.org/markup-compatibility/2006">
                <mc:Choice xmlns:v="urn:schemas-microsoft-com:vml" Requires="v">
                  <p:oleObj spid="_x0000_s151719" r:id="rId9" imgW="215713" imgH="291847" progId="Equation.3">
                    <p:embed/>
                  </p:oleObj>
                </mc:Choice>
                <mc:Fallback>
                  <p:oleObj r:id="rId9" imgW="215713" imgH="291847"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792" y="1968"/>
                          <a:ext cx="300" cy="4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8" name="Line 16">
              <a:extLst>
                <a:ext uri="{FF2B5EF4-FFF2-40B4-BE49-F238E27FC236}">
                  <a16:creationId xmlns:a16="http://schemas.microsoft.com/office/drawing/2014/main" xmlns="" id="{E79D1A50-57CB-BFF0-E8A9-5DFE07924DFD}"/>
                </a:ext>
              </a:extLst>
            </p:cNvPr>
            <p:cNvSpPr>
              <a:spLocks noChangeShapeType="1"/>
            </p:cNvSpPr>
            <p:nvPr/>
          </p:nvSpPr>
          <p:spPr bwMode="auto">
            <a:xfrm flipV="1">
              <a:off x="3936" y="2400"/>
              <a:ext cx="0" cy="144"/>
            </a:xfrm>
            <a:prstGeom prst="line">
              <a:avLst/>
            </a:prstGeom>
            <a:noFill/>
            <a:ln w="38100">
              <a:solidFill>
                <a:srgbClr val="FF00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 name="Line 17">
              <a:extLst>
                <a:ext uri="{FF2B5EF4-FFF2-40B4-BE49-F238E27FC236}">
                  <a16:creationId xmlns:a16="http://schemas.microsoft.com/office/drawing/2014/main" xmlns="" id="{7A890AAF-CEA9-92CA-44D8-969DD79C2AE9}"/>
                </a:ext>
              </a:extLst>
            </p:cNvPr>
            <p:cNvSpPr>
              <a:spLocks noChangeShapeType="1"/>
            </p:cNvSpPr>
            <p:nvPr/>
          </p:nvSpPr>
          <p:spPr bwMode="auto">
            <a:xfrm>
              <a:off x="3936" y="2880"/>
              <a:ext cx="0" cy="192"/>
            </a:xfrm>
            <a:prstGeom prst="line">
              <a:avLst/>
            </a:prstGeom>
            <a:noFill/>
            <a:ln w="38100">
              <a:solidFill>
                <a:srgbClr val="FF00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grpSp>
      <p:graphicFrame>
        <p:nvGraphicFramePr>
          <p:cNvPr id="20" name="Object 18">
            <a:extLst>
              <a:ext uri="{FF2B5EF4-FFF2-40B4-BE49-F238E27FC236}">
                <a16:creationId xmlns:a16="http://schemas.microsoft.com/office/drawing/2014/main" xmlns="" id="{601918F5-A611-F339-2867-6AD3D70B0A07}"/>
              </a:ext>
            </a:extLst>
          </p:cNvPr>
          <p:cNvGraphicFramePr>
            <a:graphicFrameLocks noChangeAspect="1"/>
          </p:cNvGraphicFramePr>
          <p:nvPr>
            <p:extLst>
              <p:ext uri="{D42A27DB-BD31-4B8C-83A1-F6EECF244321}">
                <p14:modId xmlns:p14="http://schemas.microsoft.com/office/powerpoint/2010/main" val="1991979611"/>
              </p:ext>
            </p:extLst>
          </p:nvPr>
        </p:nvGraphicFramePr>
        <p:xfrm>
          <a:off x="465914" y="1966192"/>
          <a:ext cx="4040701" cy="566143"/>
        </p:xfrm>
        <a:graphic>
          <a:graphicData uri="http://schemas.openxmlformats.org/presentationml/2006/ole">
            <mc:AlternateContent xmlns:mc="http://schemas.openxmlformats.org/markup-compatibility/2006">
              <mc:Choice xmlns:v="urn:schemas-microsoft-com:vml" Requires="v">
                <p:oleObj spid="_x0000_s151720" r:id="rId11" imgW="2019300" imgH="292100" progId="Equation.3">
                  <p:embed/>
                </p:oleObj>
              </mc:Choice>
              <mc:Fallback>
                <p:oleObj r:id="rId11" imgW="2019300" imgH="29210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65914" y="1966192"/>
                        <a:ext cx="4040701" cy="566143"/>
                      </a:xfrm>
                      <a:prstGeom prst="rect">
                        <a:avLst/>
                      </a:prstGeom>
                      <a:noFill/>
                      <a:ln>
                        <a:noFill/>
                      </a:ln>
                    </p:spPr>
                  </p:pic>
                </p:oleObj>
              </mc:Fallback>
            </mc:AlternateContent>
          </a:graphicData>
        </a:graphic>
      </p:graphicFrame>
      <p:graphicFrame>
        <p:nvGraphicFramePr>
          <p:cNvPr id="21" name="Object 19">
            <a:extLst>
              <a:ext uri="{FF2B5EF4-FFF2-40B4-BE49-F238E27FC236}">
                <a16:creationId xmlns:a16="http://schemas.microsoft.com/office/drawing/2014/main" xmlns="" id="{6377FF0E-1D86-5C65-16D5-D7B30C4E973E}"/>
              </a:ext>
            </a:extLst>
          </p:cNvPr>
          <p:cNvGraphicFramePr>
            <a:graphicFrameLocks noChangeAspect="1"/>
          </p:cNvGraphicFramePr>
          <p:nvPr>
            <p:extLst>
              <p:ext uri="{D42A27DB-BD31-4B8C-83A1-F6EECF244321}">
                <p14:modId xmlns:p14="http://schemas.microsoft.com/office/powerpoint/2010/main" val="125073598"/>
              </p:ext>
            </p:extLst>
          </p:nvPr>
        </p:nvGraphicFramePr>
        <p:xfrm>
          <a:off x="420684" y="3690479"/>
          <a:ext cx="3667437" cy="1003238"/>
        </p:xfrm>
        <a:graphic>
          <a:graphicData uri="http://schemas.openxmlformats.org/presentationml/2006/ole">
            <mc:AlternateContent xmlns:mc="http://schemas.openxmlformats.org/markup-compatibility/2006">
              <mc:Choice xmlns:v="urn:schemas-microsoft-com:vml" Requires="v">
                <p:oleObj spid="_x0000_s151721" r:id="rId13" imgW="2044700" imgH="558800" progId="Equation.3">
                  <p:embed/>
                </p:oleObj>
              </mc:Choice>
              <mc:Fallback>
                <p:oleObj r:id="rId13" imgW="2044700" imgH="558800"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20684" y="3690479"/>
                        <a:ext cx="3667437" cy="1003238"/>
                      </a:xfrm>
                      <a:prstGeom prst="rect">
                        <a:avLst/>
                      </a:prstGeom>
                      <a:noFill/>
                      <a:ln>
                        <a:noFill/>
                      </a:ln>
                    </p:spPr>
                  </p:pic>
                </p:oleObj>
              </mc:Fallback>
            </mc:AlternateContent>
          </a:graphicData>
        </a:graphic>
      </p:graphicFrame>
      <p:sp>
        <p:nvSpPr>
          <p:cNvPr id="22" name="Line 20">
            <a:extLst>
              <a:ext uri="{FF2B5EF4-FFF2-40B4-BE49-F238E27FC236}">
                <a16:creationId xmlns:a16="http://schemas.microsoft.com/office/drawing/2014/main" xmlns="" id="{436FA7CF-30BC-D1B6-23F7-EE945349024C}"/>
              </a:ext>
            </a:extLst>
          </p:cNvPr>
          <p:cNvSpPr>
            <a:spLocks noChangeShapeType="1"/>
          </p:cNvSpPr>
          <p:nvPr/>
        </p:nvSpPr>
        <p:spPr bwMode="auto">
          <a:xfrm flipV="1">
            <a:off x="7834015" y="2429148"/>
            <a:ext cx="279400" cy="495300"/>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 name="Rectangle 2">
            <a:extLst>
              <a:ext uri="{FF2B5EF4-FFF2-40B4-BE49-F238E27FC236}">
                <a16:creationId xmlns:a16="http://schemas.microsoft.com/office/drawing/2014/main" xmlns="" id="{B9E5760B-7A9E-FCBE-D608-E11F0C2FA4D2}"/>
              </a:ext>
            </a:extLst>
          </p:cNvPr>
          <p:cNvSpPr>
            <a:spLocks noChangeArrowheads="1"/>
          </p:cNvSpPr>
          <p:nvPr/>
        </p:nvSpPr>
        <p:spPr bwMode="auto">
          <a:xfrm>
            <a:off x="320378" y="4646096"/>
            <a:ext cx="8305800"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latinLnBrk="1" hangingPunct="1">
              <a:spcBef>
                <a:spcPct val="20000"/>
              </a:spcBef>
            </a:pPr>
            <a:r>
              <a:rPr lang="zh-CN" altLang="en-US" sz="2000" b="1" dirty="0">
                <a:solidFill>
                  <a:schemeClr val="tx1"/>
                </a:solidFill>
                <a:latin typeface="+mn-ea"/>
                <a:ea typeface="+mn-ea"/>
              </a:rPr>
              <a:t>改进</a:t>
            </a:r>
            <a:r>
              <a:rPr lang="zh-CN" altLang="en-US" sz="2000" b="1" dirty="0">
                <a:solidFill>
                  <a:schemeClr val="tx1"/>
                </a:solidFill>
                <a:latin typeface="+mn-ea"/>
                <a:ea typeface="+mn-ea"/>
                <a:sym typeface="Wingdings" panose="05000000000000000000" pitchFamily="2" charset="2"/>
              </a:rPr>
              <a:t>：克拉波电路中是改变</a:t>
            </a:r>
            <a:r>
              <a:rPr lang="en-US" altLang="zh-CN" sz="2000" b="1" dirty="0">
                <a:solidFill>
                  <a:schemeClr val="tx1"/>
                </a:solidFill>
                <a:latin typeface="+mn-ea"/>
                <a:ea typeface="+mn-ea"/>
                <a:sym typeface="Wingdings" panose="05000000000000000000" pitchFamily="2" charset="2"/>
              </a:rPr>
              <a:t>C</a:t>
            </a:r>
            <a:r>
              <a:rPr lang="en-US" altLang="zh-CN" sz="2000" b="1" baseline="-25000" dirty="0">
                <a:solidFill>
                  <a:schemeClr val="tx1"/>
                </a:solidFill>
                <a:latin typeface="+mn-ea"/>
                <a:ea typeface="+mn-ea"/>
                <a:sym typeface="Wingdings" panose="05000000000000000000" pitchFamily="2" charset="2"/>
              </a:rPr>
              <a:t>3</a:t>
            </a:r>
            <a:r>
              <a:rPr lang="zh-CN" altLang="en-US" sz="2000" b="1" dirty="0">
                <a:solidFill>
                  <a:schemeClr val="tx1"/>
                </a:solidFill>
                <a:latin typeface="+mn-ea"/>
                <a:ea typeface="+mn-ea"/>
                <a:sym typeface="Wingdings" panose="05000000000000000000" pitchFamily="2" charset="2"/>
              </a:rPr>
              <a:t>来调节频率，而</a:t>
            </a:r>
            <a:r>
              <a:rPr lang="en-US" altLang="zh-CN" sz="2000" b="1" dirty="0">
                <a:solidFill>
                  <a:schemeClr val="tx1"/>
                </a:solidFill>
                <a:latin typeface="+mn-ea"/>
                <a:ea typeface="+mn-ea"/>
                <a:sym typeface="Wingdings" panose="05000000000000000000" pitchFamily="2" charset="2"/>
              </a:rPr>
              <a:t>C</a:t>
            </a:r>
            <a:r>
              <a:rPr lang="en-US" altLang="zh-CN" sz="2000" b="1" baseline="-25000" dirty="0">
                <a:solidFill>
                  <a:schemeClr val="tx1"/>
                </a:solidFill>
                <a:latin typeface="+mn-ea"/>
                <a:ea typeface="+mn-ea"/>
                <a:sym typeface="Wingdings" panose="05000000000000000000" pitchFamily="2" charset="2"/>
              </a:rPr>
              <a:t>3</a:t>
            </a:r>
            <a:r>
              <a:rPr lang="zh-CN" altLang="en-US" sz="2000" b="1" dirty="0">
                <a:solidFill>
                  <a:schemeClr val="tx1"/>
                </a:solidFill>
                <a:latin typeface="+mn-ea"/>
                <a:ea typeface="+mn-ea"/>
                <a:sym typeface="Wingdings" panose="05000000000000000000" pitchFamily="2" charset="2"/>
              </a:rPr>
              <a:t>的改变会影响接入系数</a:t>
            </a:r>
            <a:r>
              <a:rPr lang="en-US" altLang="zh-CN" sz="2000" b="1" dirty="0">
                <a:solidFill>
                  <a:schemeClr val="tx1"/>
                </a:solidFill>
                <a:latin typeface="+mn-ea"/>
                <a:ea typeface="+mn-ea"/>
                <a:sym typeface="Wingdings" panose="05000000000000000000" pitchFamily="2" charset="2"/>
              </a:rPr>
              <a:t>P</a:t>
            </a:r>
            <a:r>
              <a:rPr lang="zh-CN" altLang="en-US" sz="2000" b="1" dirty="0">
                <a:solidFill>
                  <a:schemeClr val="tx1"/>
                </a:solidFill>
                <a:latin typeface="+mn-ea"/>
                <a:ea typeface="+mn-ea"/>
                <a:sym typeface="Wingdings" panose="05000000000000000000" pitchFamily="2" charset="2"/>
              </a:rPr>
              <a:t>， 从而可能导致停振。但西勒电路中，改变</a:t>
            </a:r>
            <a:r>
              <a:rPr lang="en-US" altLang="zh-CN" sz="2000" b="1" dirty="0">
                <a:solidFill>
                  <a:schemeClr val="tx1"/>
                </a:solidFill>
                <a:latin typeface="+mn-ea"/>
                <a:ea typeface="+mn-ea"/>
                <a:sym typeface="Wingdings" panose="05000000000000000000" pitchFamily="2" charset="2"/>
              </a:rPr>
              <a:t>C</a:t>
            </a:r>
            <a:r>
              <a:rPr lang="en-US" altLang="zh-CN" sz="2000" b="1" baseline="-25000" dirty="0">
                <a:solidFill>
                  <a:schemeClr val="tx1"/>
                </a:solidFill>
                <a:latin typeface="+mn-ea"/>
                <a:ea typeface="+mn-ea"/>
                <a:sym typeface="Wingdings" panose="05000000000000000000" pitchFamily="2" charset="2"/>
              </a:rPr>
              <a:t>4</a:t>
            </a:r>
            <a:r>
              <a:rPr lang="zh-CN" altLang="en-US" sz="2000" b="1" dirty="0">
                <a:solidFill>
                  <a:schemeClr val="tx1"/>
                </a:solidFill>
                <a:latin typeface="+mn-ea"/>
                <a:ea typeface="+mn-ea"/>
                <a:sym typeface="Wingdings" panose="05000000000000000000" pitchFamily="2" charset="2"/>
              </a:rPr>
              <a:t>来调节频率，而</a:t>
            </a:r>
            <a:r>
              <a:rPr lang="en-US" altLang="zh-CN" sz="2000" b="1" dirty="0">
                <a:solidFill>
                  <a:schemeClr val="tx1"/>
                </a:solidFill>
                <a:latin typeface="+mn-ea"/>
                <a:ea typeface="+mn-ea"/>
                <a:sym typeface="Wingdings" panose="05000000000000000000" pitchFamily="2" charset="2"/>
              </a:rPr>
              <a:t>C</a:t>
            </a:r>
            <a:r>
              <a:rPr lang="en-US" altLang="zh-CN" sz="2000" b="1" baseline="-25000" dirty="0">
                <a:solidFill>
                  <a:schemeClr val="tx1"/>
                </a:solidFill>
                <a:latin typeface="+mn-ea"/>
                <a:ea typeface="+mn-ea"/>
                <a:sym typeface="Wingdings" panose="05000000000000000000" pitchFamily="2" charset="2"/>
              </a:rPr>
              <a:t>4</a:t>
            </a:r>
            <a:r>
              <a:rPr lang="zh-CN" altLang="en-US" sz="2000" b="1" dirty="0">
                <a:solidFill>
                  <a:schemeClr val="tx1"/>
                </a:solidFill>
                <a:latin typeface="+mn-ea"/>
                <a:ea typeface="+mn-ea"/>
                <a:sym typeface="Wingdings" panose="05000000000000000000" pitchFamily="2" charset="2"/>
              </a:rPr>
              <a:t>的改变不会影响接入系数</a:t>
            </a:r>
            <a:r>
              <a:rPr lang="en-US" altLang="zh-CN" sz="2000" b="1" dirty="0">
                <a:solidFill>
                  <a:schemeClr val="tx1"/>
                </a:solidFill>
                <a:latin typeface="+mn-ea"/>
                <a:ea typeface="+mn-ea"/>
                <a:sym typeface="Wingdings" panose="05000000000000000000" pitchFamily="2" charset="2"/>
              </a:rPr>
              <a:t>P</a:t>
            </a:r>
            <a:r>
              <a:rPr lang="zh-CN" altLang="en-US" sz="2000" b="1" dirty="0">
                <a:solidFill>
                  <a:schemeClr val="tx1"/>
                </a:solidFill>
                <a:latin typeface="+mn-ea"/>
                <a:ea typeface="+mn-ea"/>
                <a:sym typeface="Wingdings" panose="05000000000000000000" pitchFamily="2" charset="2"/>
              </a:rPr>
              <a:t>。</a:t>
            </a:r>
          </a:p>
        </p:txBody>
      </p:sp>
      <p:sp>
        <p:nvSpPr>
          <p:cNvPr id="24" name="Rectangle 25">
            <a:extLst>
              <a:ext uri="{FF2B5EF4-FFF2-40B4-BE49-F238E27FC236}">
                <a16:creationId xmlns:a16="http://schemas.microsoft.com/office/drawing/2014/main" xmlns="" id="{F047778D-676A-A8BF-1EC2-6613A4A947E6}"/>
              </a:ext>
            </a:extLst>
          </p:cNvPr>
          <p:cNvSpPr>
            <a:spLocks noChangeArrowheads="1"/>
          </p:cNvSpPr>
          <p:nvPr/>
        </p:nvSpPr>
        <p:spPr bwMode="auto">
          <a:xfrm>
            <a:off x="275927" y="5670436"/>
            <a:ext cx="8208963"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p>
            <a:pPr>
              <a:spcBef>
                <a:spcPct val="20000"/>
              </a:spcBef>
            </a:pPr>
            <a:r>
              <a:rPr lang="zh-CN" altLang="en-US" sz="2000" b="1" dirty="0">
                <a:solidFill>
                  <a:srgbClr val="FF3300"/>
                </a:solidFill>
                <a:latin typeface="+mn-ea"/>
                <a:ea typeface="+mn-ea"/>
                <a:sym typeface="Wingdings" panose="05000000000000000000" pitchFamily="2" charset="2"/>
              </a:rPr>
              <a:t>故西勒电路的优点：振荡频率可以很高，且</a:t>
            </a:r>
            <a:r>
              <a:rPr lang="zh-CN" altLang="en-US" sz="2000" b="1" dirty="0">
                <a:solidFill>
                  <a:srgbClr val="FF3300"/>
                </a:solidFill>
                <a:latin typeface="+mn-ea"/>
                <a:ea typeface="+mn-ea"/>
              </a:rPr>
              <a:t>在波段内振幅比较稳定，</a:t>
            </a:r>
            <a:r>
              <a:rPr lang="zh-CN" altLang="en-US" sz="2000" b="1" dirty="0">
                <a:solidFill>
                  <a:srgbClr val="FF0000"/>
                </a:solidFill>
                <a:latin typeface="+mn-ea"/>
                <a:ea typeface="+mn-ea"/>
              </a:rPr>
              <a:t>调谐范围比较宽，实际中常用于波段振荡器</a:t>
            </a:r>
            <a:r>
              <a:rPr lang="zh-CN" altLang="en-US" sz="2000" b="1" dirty="0">
                <a:latin typeface="+mn-ea"/>
                <a:ea typeface="+mn-ea"/>
                <a:sym typeface="Wingdings" panose="05000000000000000000" pitchFamily="2" charset="2"/>
              </a:rPr>
              <a:t>。</a:t>
            </a:r>
          </a:p>
        </p:txBody>
      </p:sp>
    </p:spTree>
    <p:extLst>
      <p:ext uri="{BB962C8B-B14F-4D97-AF65-F5344CB8AC3E}">
        <p14:creationId xmlns:p14="http://schemas.microsoft.com/office/powerpoint/2010/main" val="1306670460"/>
      </p:ext>
    </p:extLst>
  </p:cSld>
  <p:clrMapOvr>
    <a:masterClrMapping/>
  </p:clrMapOvr>
  <p:timing>
    <p:tnLst>
      <p:par>
        <p:cTn id="1" dur="indefinite" restart="never" nodeType="tmRoot"/>
      </p:par>
    </p:tnLst>
  </p:timing>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195</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5.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正弦波</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振荡器</a:t>
            </a:r>
          </a:p>
        </p:txBody>
      </p:sp>
      <p:sp>
        <p:nvSpPr>
          <p:cNvPr id="5" name="Rectangle 3">
            <a:extLst>
              <a:ext uri="{FF2B5EF4-FFF2-40B4-BE49-F238E27FC236}">
                <a16:creationId xmlns:a16="http://schemas.microsoft.com/office/drawing/2014/main" xmlns="" id="{431A6022-318D-63FB-5C20-7EA9B5A6DBF4}"/>
              </a:ext>
            </a:extLst>
          </p:cNvPr>
          <p:cNvSpPr txBox="1">
            <a:spLocks noChangeArrowheads="1"/>
          </p:cNvSpPr>
          <p:nvPr/>
        </p:nvSpPr>
        <p:spPr>
          <a:xfrm>
            <a:off x="288826" y="1285206"/>
            <a:ext cx="914400" cy="508000"/>
          </a:xfrm>
          <a:prstGeom prst="rect">
            <a:avLst/>
          </a:prstGeom>
        </p:spPr>
        <p:txBody>
          <a:bodyPr/>
          <a:lstStyle>
            <a:lvl1pPr algn="l" rtl="0" eaLnBrk="0" fontAlgn="base" hangingPunct="0">
              <a:spcBef>
                <a:spcPct val="0"/>
              </a:spcBef>
              <a:spcAft>
                <a:spcPct val="0"/>
              </a:spcAft>
              <a:defRPr lang="zh-CN" altLang="en-US" sz="3600" b="1" baseline="0" dirty="0" smtClean="0">
                <a:solidFill>
                  <a:schemeClr val="tx2"/>
                </a:solidFill>
                <a:latin typeface="Times New Roman" panose="02020603050405020304" pitchFamily="18" charset="0"/>
                <a:ea typeface="楷体" panose="02010609060101010101" pitchFamily="49" charset="-122"/>
                <a:cs typeface="+mj-cs"/>
              </a:defRPr>
            </a:lvl1pPr>
            <a:lvl2pPr algn="ctr" rtl="0" eaLnBrk="0" fontAlgn="base" hangingPunct="0">
              <a:spcBef>
                <a:spcPct val="0"/>
              </a:spcBef>
              <a:spcAft>
                <a:spcPct val="0"/>
              </a:spcAft>
              <a:defRPr sz="3200">
                <a:solidFill>
                  <a:schemeClr val="tx2"/>
                </a:solidFill>
                <a:latin typeface="Arial" pitchFamily="34" charset="0"/>
                <a:ea typeface="宋体" pitchFamily="2" charset="-122"/>
              </a:defRPr>
            </a:lvl2pPr>
            <a:lvl3pPr algn="ctr" rtl="0" eaLnBrk="0" fontAlgn="base" hangingPunct="0">
              <a:spcBef>
                <a:spcPct val="0"/>
              </a:spcBef>
              <a:spcAft>
                <a:spcPct val="0"/>
              </a:spcAft>
              <a:defRPr sz="3200">
                <a:solidFill>
                  <a:schemeClr val="tx2"/>
                </a:solidFill>
                <a:latin typeface="Arial" pitchFamily="34" charset="0"/>
                <a:ea typeface="宋体" pitchFamily="2" charset="-122"/>
              </a:defRPr>
            </a:lvl3pPr>
            <a:lvl4pPr algn="ctr" rtl="0" eaLnBrk="0" fontAlgn="base" hangingPunct="0">
              <a:spcBef>
                <a:spcPct val="0"/>
              </a:spcBef>
              <a:spcAft>
                <a:spcPct val="0"/>
              </a:spcAft>
              <a:defRPr sz="3200">
                <a:solidFill>
                  <a:schemeClr val="tx2"/>
                </a:solidFill>
                <a:latin typeface="Arial" pitchFamily="34" charset="0"/>
                <a:ea typeface="宋体" pitchFamily="2" charset="-122"/>
              </a:defRPr>
            </a:lvl4pPr>
            <a:lvl5pPr algn="ctr" rtl="0" eaLnBrk="0" fontAlgn="base" hangingPunct="0">
              <a:spcBef>
                <a:spcPct val="0"/>
              </a:spcBef>
              <a:spcAft>
                <a:spcPct val="0"/>
              </a:spcAft>
              <a:defRPr sz="3200">
                <a:solidFill>
                  <a:schemeClr val="tx2"/>
                </a:solidFill>
                <a:latin typeface="Arial" pitchFamily="34" charset="0"/>
                <a:ea typeface="宋体" pitchFamily="2" charset="-122"/>
              </a:defRPr>
            </a:lvl5pPr>
            <a:lvl6pPr marL="457200" algn="ctr" rtl="0" eaLnBrk="0" fontAlgn="base" hangingPunct="0">
              <a:spcBef>
                <a:spcPct val="0"/>
              </a:spcBef>
              <a:spcAft>
                <a:spcPct val="0"/>
              </a:spcAft>
              <a:defRPr sz="3200">
                <a:solidFill>
                  <a:schemeClr val="tx2"/>
                </a:solidFill>
                <a:latin typeface="Arial" pitchFamily="34" charset="0"/>
                <a:ea typeface="宋体" pitchFamily="2" charset="-122"/>
              </a:defRPr>
            </a:lvl6pPr>
            <a:lvl7pPr marL="914400" algn="ctr" rtl="0" eaLnBrk="0" fontAlgn="base" hangingPunct="0">
              <a:spcBef>
                <a:spcPct val="0"/>
              </a:spcBef>
              <a:spcAft>
                <a:spcPct val="0"/>
              </a:spcAft>
              <a:defRPr sz="3200">
                <a:solidFill>
                  <a:schemeClr val="tx2"/>
                </a:solidFill>
                <a:latin typeface="Arial" pitchFamily="34" charset="0"/>
                <a:ea typeface="宋体" pitchFamily="2" charset="-122"/>
              </a:defRPr>
            </a:lvl7pPr>
            <a:lvl8pPr marL="1371600" algn="ctr" rtl="0" eaLnBrk="0" fontAlgn="base" hangingPunct="0">
              <a:spcBef>
                <a:spcPct val="0"/>
              </a:spcBef>
              <a:spcAft>
                <a:spcPct val="0"/>
              </a:spcAft>
              <a:defRPr sz="3200">
                <a:solidFill>
                  <a:schemeClr val="tx2"/>
                </a:solidFill>
                <a:latin typeface="Arial" pitchFamily="34" charset="0"/>
                <a:ea typeface="宋体" pitchFamily="2" charset="-122"/>
              </a:defRPr>
            </a:lvl8pPr>
            <a:lvl9pPr marL="1828800" algn="ctr" rtl="0" eaLnBrk="0" fontAlgn="base" hangingPunct="0">
              <a:spcBef>
                <a:spcPct val="0"/>
              </a:spcBef>
              <a:spcAft>
                <a:spcPct val="0"/>
              </a:spcAft>
              <a:defRPr sz="3200">
                <a:solidFill>
                  <a:schemeClr val="tx2"/>
                </a:solidFill>
                <a:latin typeface="Arial" pitchFamily="34" charset="0"/>
                <a:ea typeface="宋体" pitchFamily="2" charset="-122"/>
              </a:defRPr>
            </a:lvl9pPr>
          </a:lstStyle>
          <a:p>
            <a:pPr eaLnBrk="1" hangingPunct="1"/>
            <a:r>
              <a:rPr lang="zh-CN" altLang="en-US" sz="2400" kern="0" dirty="0">
                <a:solidFill>
                  <a:srgbClr val="FF0000"/>
                </a:solidFill>
                <a:latin typeface="+mn-ea"/>
                <a:ea typeface="+mn-ea"/>
              </a:rPr>
              <a:t>例：</a:t>
            </a:r>
          </a:p>
        </p:txBody>
      </p:sp>
      <p:graphicFrame>
        <p:nvGraphicFramePr>
          <p:cNvPr id="6" name="Object 4">
            <a:extLst>
              <a:ext uri="{FF2B5EF4-FFF2-40B4-BE49-F238E27FC236}">
                <a16:creationId xmlns:a16="http://schemas.microsoft.com/office/drawing/2014/main" xmlns="" id="{0611C85E-09C8-29C6-2B97-A30F57ABDC64}"/>
              </a:ext>
            </a:extLst>
          </p:cNvPr>
          <p:cNvGraphicFramePr>
            <a:graphicFrameLocks noChangeAspect="1"/>
          </p:cNvGraphicFramePr>
          <p:nvPr>
            <p:extLst>
              <p:ext uri="{D42A27DB-BD31-4B8C-83A1-F6EECF244321}">
                <p14:modId xmlns:p14="http://schemas.microsoft.com/office/powerpoint/2010/main" val="619557160"/>
              </p:ext>
            </p:extLst>
          </p:nvPr>
        </p:nvGraphicFramePr>
        <p:xfrm>
          <a:off x="1043781" y="1285206"/>
          <a:ext cx="5478463" cy="1747401"/>
        </p:xfrm>
        <a:graphic>
          <a:graphicData uri="http://schemas.openxmlformats.org/presentationml/2006/ole">
            <mc:AlternateContent xmlns:mc="http://schemas.openxmlformats.org/markup-compatibility/2006">
              <mc:Choice xmlns:v="urn:schemas-microsoft-com:vml" Requires="v">
                <p:oleObj spid="_x0000_s152686" r:id="rId3" imgW="2946400" imgH="939800" progId="Equation.3">
                  <p:embed/>
                </p:oleObj>
              </mc:Choice>
              <mc:Fallback>
                <p:oleObj r:id="rId3" imgW="2946400" imgH="9398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3781" y="1285206"/>
                        <a:ext cx="5478463" cy="1747401"/>
                      </a:xfrm>
                      <a:prstGeom prst="rect">
                        <a:avLst/>
                      </a:prstGeom>
                      <a:noFill/>
                      <a:ln>
                        <a:noFill/>
                      </a:ln>
                    </p:spPr>
                  </p:pic>
                </p:oleObj>
              </mc:Fallback>
            </mc:AlternateContent>
          </a:graphicData>
        </a:graphic>
      </p:graphicFrame>
      <p:sp>
        <p:nvSpPr>
          <p:cNvPr id="8" name="Rectangle 14">
            <a:extLst>
              <a:ext uri="{FF2B5EF4-FFF2-40B4-BE49-F238E27FC236}">
                <a16:creationId xmlns:a16="http://schemas.microsoft.com/office/drawing/2014/main" xmlns="" id="{B86EAE4E-341E-A80F-E11F-FFA22F45DF5F}"/>
              </a:ext>
            </a:extLst>
          </p:cNvPr>
          <p:cNvSpPr>
            <a:spLocks noChangeArrowheads="1"/>
          </p:cNvSpPr>
          <p:nvPr/>
        </p:nvSpPr>
        <p:spPr bwMode="auto">
          <a:xfrm>
            <a:off x="601899" y="3181988"/>
            <a:ext cx="51371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000" b="1" dirty="0">
                <a:solidFill>
                  <a:schemeClr val="tx1"/>
                </a:solidFill>
                <a:latin typeface="+mn-ea"/>
                <a:ea typeface="+mn-ea"/>
                <a:sym typeface="Wingdings" panose="05000000000000000000" pitchFamily="2" charset="2"/>
              </a:rPr>
              <a:t>分析：本题是一个西勒电路。</a:t>
            </a:r>
          </a:p>
        </p:txBody>
      </p:sp>
      <p:graphicFrame>
        <p:nvGraphicFramePr>
          <p:cNvPr id="9" name="Object 2">
            <a:extLst>
              <a:ext uri="{FF2B5EF4-FFF2-40B4-BE49-F238E27FC236}">
                <a16:creationId xmlns:a16="http://schemas.microsoft.com/office/drawing/2014/main" xmlns="" id="{367C5913-8A0B-B2AA-E243-FC01AEF1B110}"/>
              </a:ext>
            </a:extLst>
          </p:cNvPr>
          <p:cNvGraphicFramePr>
            <a:graphicFrameLocks noChangeAspect="1"/>
          </p:cNvGraphicFramePr>
          <p:nvPr>
            <p:extLst>
              <p:ext uri="{D42A27DB-BD31-4B8C-83A1-F6EECF244321}">
                <p14:modId xmlns:p14="http://schemas.microsoft.com/office/powerpoint/2010/main" val="503572695"/>
              </p:ext>
            </p:extLst>
          </p:nvPr>
        </p:nvGraphicFramePr>
        <p:xfrm>
          <a:off x="4743883" y="2770856"/>
          <a:ext cx="3810000" cy="2801938"/>
        </p:xfrm>
        <a:graphic>
          <a:graphicData uri="http://schemas.openxmlformats.org/presentationml/2006/ole">
            <mc:AlternateContent xmlns:mc="http://schemas.openxmlformats.org/markup-compatibility/2006">
              <mc:Choice xmlns:v="urn:schemas-microsoft-com:vml" Requires="v">
                <p:oleObj spid="_x0000_s152687" r:id="rId5" imgW="3277057" imgH="2409524" progId="Paint.Picture">
                  <p:embed/>
                </p:oleObj>
              </mc:Choice>
              <mc:Fallback>
                <p:oleObj r:id="rId5" imgW="3277057" imgH="2409524" progId="Paint.Picture">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43883" y="2770856"/>
                        <a:ext cx="3810000" cy="280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10" name="Group 6">
            <a:extLst>
              <a:ext uri="{FF2B5EF4-FFF2-40B4-BE49-F238E27FC236}">
                <a16:creationId xmlns:a16="http://schemas.microsoft.com/office/drawing/2014/main" xmlns="" id="{C96ED012-5FC8-50BF-45F3-5963A5BBEA27}"/>
              </a:ext>
            </a:extLst>
          </p:cNvPr>
          <p:cNvGrpSpPr>
            <a:grpSpLocks/>
          </p:cNvGrpSpPr>
          <p:nvPr/>
        </p:nvGrpSpPr>
        <p:grpSpPr bwMode="auto">
          <a:xfrm>
            <a:off x="5563033" y="3272507"/>
            <a:ext cx="469900" cy="1126511"/>
            <a:chOff x="2016" y="3072"/>
            <a:chExt cx="480" cy="821"/>
          </a:xfrm>
        </p:grpSpPr>
        <p:sp>
          <p:nvSpPr>
            <p:cNvPr id="11" name="Rectangle 7">
              <a:extLst>
                <a:ext uri="{FF2B5EF4-FFF2-40B4-BE49-F238E27FC236}">
                  <a16:creationId xmlns:a16="http://schemas.microsoft.com/office/drawing/2014/main" xmlns="" id="{42C06A96-8AD9-B3B9-8C10-EA1BAB00DECE}"/>
                </a:ext>
              </a:extLst>
            </p:cNvPr>
            <p:cNvSpPr>
              <a:spLocks noChangeArrowheads="1"/>
            </p:cNvSpPr>
            <p:nvPr/>
          </p:nvSpPr>
          <p:spPr bwMode="auto">
            <a:xfrm>
              <a:off x="2064" y="3600"/>
              <a:ext cx="318"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90000" tIns="46800" rIns="90000" bIns="46800">
              <a:spAutoFit/>
            </a:bodyPr>
            <a:lstStyle/>
            <a:p>
              <a:r>
                <a:rPr lang="en-US" altLang="zh-CN" sz="2000" b="1" i="1">
                  <a:solidFill>
                    <a:schemeClr val="tx1"/>
                  </a:solidFill>
                  <a:latin typeface="+mn-ea"/>
                  <a:ea typeface="+mn-ea"/>
                </a:rPr>
                <a:t>-</a:t>
              </a:r>
            </a:p>
          </p:txBody>
        </p:sp>
        <p:sp>
          <p:nvSpPr>
            <p:cNvPr id="12" name="Rectangle 8">
              <a:extLst>
                <a:ext uri="{FF2B5EF4-FFF2-40B4-BE49-F238E27FC236}">
                  <a16:creationId xmlns:a16="http://schemas.microsoft.com/office/drawing/2014/main" xmlns="" id="{67EBDD0B-DFE8-A7AC-A8B1-D502E4C067FB}"/>
                </a:ext>
              </a:extLst>
            </p:cNvPr>
            <p:cNvSpPr>
              <a:spLocks noChangeArrowheads="1"/>
            </p:cNvSpPr>
            <p:nvPr/>
          </p:nvSpPr>
          <p:spPr bwMode="auto">
            <a:xfrm>
              <a:off x="2057" y="3072"/>
              <a:ext cx="318"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90000" tIns="46800" rIns="90000" bIns="46800">
              <a:spAutoFit/>
            </a:bodyPr>
            <a:lstStyle/>
            <a:p>
              <a:r>
                <a:rPr lang="en-US" altLang="zh-CN" sz="2000" b="1" i="1">
                  <a:solidFill>
                    <a:schemeClr val="tx1"/>
                  </a:solidFill>
                  <a:latin typeface="+mn-ea"/>
                  <a:ea typeface="+mn-ea"/>
                </a:rPr>
                <a:t>+</a:t>
              </a:r>
            </a:p>
          </p:txBody>
        </p:sp>
        <p:graphicFrame>
          <p:nvGraphicFramePr>
            <p:cNvPr id="13" name="Object 9">
              <a:extLst>
                <a:ext uri="{FF2B5EF4-FFF2-40B4-BE49-F238E27FC236}">
                  <a16:creationId xmlns:a16="http://schemas.microsoft.com/office/drawing/2014/main" xmlns="" id="{F57EBB6F-4AA6-20BC-114E-F8CB5A2D42EA}"/>
                </a:ext>
              </a:extLst>
            </p:cNvPr>
            <p:cNvGraphicFramePr>
              <a:graphicFrameLocks noChangeAspect="1"/>
            </p:cNvGraphicFramePr>
            <p:nvPr/>
          </p:nvGraphicFramePr>
          <p:xfrm>
            <a:off x="2016" y="3360"/>
            <a:ext cx="480" cy="384"/>
          </p:xfrm>
          <a:graphic>
            <a:graphicData uri="http://schemas.openxmlformats.org/presentationml/2006/ole">
              <mc:AlternateContent xmlns:mc="http://schemas.openxmlformats.org/markup-compatibility/2006">
                <mc:Choice xmlns:v="urn:schemas-microsoft-com:vml" Requires="v">
                  <p:oleObj spid="_x0000_s152688" r:id="rId7" imgW="291960" imgH="291960" progId="Equation.3">
                    <p:embed/>
                  </p:oleObj>
                </mc:Choice>
                <mc:Fallback>
                  <p:oleObj r:id="rId7" imgW="291960" imgH="29196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16" y="3360"/>
                          <a:ext cx="48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grpSp>
        <p:nvGrpSpPr>
          <p:cNvPr id="14" name="Group 10">
            <a:extLst>
              <a:ext uri="{FF2B5EF4-FFF2-40B4-BE49-F238E27FC236}">
                <a16:creationId xmlns:a16="http://schemas.microsoft.com/office/drawing/2014/main" xmlns="" id="{735C0E41-B2DC-F277-BC1C-F94EAC04965F}"/>
              </a:ext>
            </a:extLst>
          </p:cNvPr>
          <p:cNvGrpSpPr>
            <a:grpSpLocks/>
          </p:cNvGrpSpPr>
          <p:nvPr/>
        </p:nvGrpSpPr>
        <p:grpSpPr bwMode="auto">
          <a:xfrm>
            <a:off x="5536046" y="4310730"/>
            <a:ext cx="461962" cy="1010948"/>
            <a:chOff x="3744" y="3024"/>
            <a:chExt cx="301" cy="798"/>
          </a:xfrm>
        </p:grpSpPr>
        <p:sp>
          <p:nvSpPr>
            <p:cNvPr id="15" name="Rectangle 11">
              <a:extLst>
                <a:ext uri="{FF2B5EF4-FFF2-40B4-BE49-F238E27FC236}">
                  <a16:creationId xmlns:a16="http://schemas.microsoft.com/office/drawing/2014/main" xmlns="" id="{6CD8BB31-8993-AE35-9CDA-963A75F4F978}"/>
                </a:ext>
              </a:extLst>
            </p:cNvPr>
            <p:cNvSpPr>
              <a:spLocks noChangeArrowheads="1"/>
            </p:cNvSpPr>
            <p:nvPr/>
          </p:nvSpPr>
          <p:spPr bwMode="auto">
            <a:xfrm>
              <a:off x="3792" y="3024"/>
              <a:ext cx="203" cy="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90000" tIns="46800" rIns="90000" bIns="46800">
              <a:spAutoFit/>
            </a:bodyPr>
            <a:lstStyle/>
            <a:p>
              <a:r>
                <a:rPr lang="en-US" altLang="zh-CN" sz="2000" b="1" i="1">
                  <a:solidFill>
                    <a:schemeClr val="tx1"/>
                  </a:solidFill>
                  <a:latin typeface="+mn-ea"/>
                  <a:ea typeface="+mn-ea"/>
                </a:rPr>
                <a:t>-</a:t>
              </a:r>
            </a:p>
          </p:txBody>
        </p:sp>
        <p:sp>
          <p:nvSpPr>
            <p:cNvPr id="16" name="Rectangle 12">
              <a:extLst>
                <a:ext uri="{FF2B5EF4-FFF2-40B4-BE49-F238E27FC236}">
                  <a16:creationId xmlns:a16="http://schemas.microsoft.com/office/drawing/2014/main" xmlns="" id="{A2C8FE4B-6B43-0726-B14F-6391B3A63C7B}"/>
                </a:ext>
              </a:extLst>
            </p:cNvPr>
            <p:cNvSpPr>
              <a:spLocks noChangeArrowheads="1"/>
            </p:cNvSpPr>
            <p:nvPr/>
          </p:nvSpPr>
          <p:spPr bwMode="auto">
            <a:xfrm>
              <a:off x="3744" y="3504"/>
              <a:ext cx="203" cy="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90000" tIns="46800" rIns="90000" bIns="46800">
              <a:spAutoFit/>
            </a:bodyPr>
            <a:lstStyle/>
            <a:p>
              <a:r>
                <a:rPr lang="en-US" altLang="zh-CN" sz="2000" b="1" i="1">
                  <a:solidFill>
                    <a:schemeClr val="tx1"/>
                  </a:solidFill>
                  <a:latin typeface="+mn-ea"/>
                  <a:ea typeface="+mn-ea"/>
                </a:rPr>
                <a:t>+</a:t>
              </a:r>
            </a:p>
          </p:txBody>
        </p:sp>
        <p:graphicFrame>
          <p:nvGraphicFramePr>
            <p:cNvPr id="17" name="Object 13">
              <a:extLst>
                <a:ext uri="{FF2B5EF4-FFF2-40B4-BE49-F238E27FC236}">
                  <a16:creationId xmlns:a16="http://schemas.microsoft.com/office/drawing/2014/main" xmlns="" id="{E4500D12-1ABA-8A38-A053-7C6B8C5CE142}"/>
                </a:ext>
              </a:extLst>
            </p:cNvPr>
            <p:cNvGraphicFramePr>
              <a:graphicFrameLocks noChangeAspect="1"/>
            </p:cNvGraphicFramePr>
            <p:nvPr/>
          </p:nvGraphicFramePr>
          <p:xfrm>
            <a:off x="3744" y="3312"/>
            <a:ext cx="301" cy="352"/>
          </p:xfrm>
          <a:graphic>
            <a:graphicData uri="http://schemas.openxmlformats.org/presentationml/2006/ole">
              <mc:AlternateContent xmlns:mc="http://schemas.openxmlformats.org/markup-compatibility/2006">
                <mc:Choice xmlns:v="urn:schemas-microsoft-com:vml" Requires="v">
                  <p:oleObj spid="_x0000_s152689" r:id="rId9" imgW="266400" imgH="317520" progId="Equation.3">
                    <p:embed/>
                  </p:oleObj>
                </mc:Choice>
                <mc:Fallback>
                  <p:oleObj r:id="rId9" imgW="266400" imgH="31752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744" y="3312"/>
                          <a:ext cx="301" cy="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Tree>
    <p:extLst>
      <p:ext uri="{BB962C8B-B14F-4D97-AF65-F5344CB8AC3E}">
        <p14:creationId xmlns:p14="http://schemas.microsoft.com/office/powerpoint/2010/main" val="796862236"/>
      </p:ext>
    </p:extLst>
  </p:cSld>
  <p:clrMapOvr>
    <a:masterClrMapping/>
  </p:clrMapOvr>
  <p:timing>
    <p:tnLst>
      <p:par>
        <p:cTn id="1" dur="indefinite" restart="never" nodeType="tmRoot"/>
      </p:par>
    </p:tnLst>
  </p:timing>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196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5.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正弦波</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振荡器</a:t>
            </a:r>
          </a:p>
        </p:txBody>
      </p:sp>
      <p:graphicFrame>
        <p:nvGraphicFramePr>
          <p:cNvPr id="5" name="Object 5">
            <a:extLst>
              <a:ext uri="{FF2B5EF4-FFF2-40B4-BE49-F238E27FC236}">
                <a16:creationId xmlns:a16="http://schemas.microsoft.com/office/drawing/2014/main" xmlns="" id="{9E829CE0-8192-8550-DB96-E5B67BFFF3FE}"/>
              </a:ext>
            </a:extLst>
          </p:cNvPr>
          <p:cNvGraphicFramePr>
            <a:graphicFrameLocks noChangeAspect="1"/>
          </p:cNvGraphicFramePr>
          <p:nvPr>
            <p:extLst>
              <p:ext uri="{D42A27DB-BD31-4B8C-83A1-F6EECF244321}">
                <p14:modId xmlns:p14="http://schemas.microsoft.com/office/powerpoint/2010/main" val="2998191336"/>
              </p:ext>
            </p:extLst>
          </p:nvPr>
        </p:nvGraphicFramePr>
        <p:xfrm>
          <a:off x="1340164" y="1409161"/>
          <a:ext cx="2682090" cy="1292456"/>
        </p:xfrm>
        <a:graphic>
          <a:graphicData uri="http://schemas.openxmlformats.org/presentationml/2006/ole">
            <mc:AlternateContent xmlns:mc="http://schemas.openxmlformats.org/markup-compatibility/2006">
              <mc:Choice xmlns:v="urn:schemas-microsoft-com:vml" Requires="v">
                <p:oleObj spid="_x0000_s153710" r:id="rId3" imgW="1765300" imgH="850900" progId="Equation.3">
                  <p:embed/>
                </p:oleObj>
              </mc:Choice>
              <mc:Fallback>
                <p:oleObj r:id="rId3" imgW="1765300" imgH="8509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40164" y="1409161"/>
                        <a:ext cx="2682090" cy="1292456"/>
                      </a:xfrm>
                      <a:prstGeom prst="rect">
                        <a:avLst/>
                      </a:prstGeom>
                      <a:noFill/>
                      <a:ln>
                        <a:noFill/>
                      </a:ln>
                      <a:extLst/>
                    </p:spPr>
                  </p:pic>
                </p:oleObj>
              </mc:Fallback>
            </mc:AlternateContent>
          </a:graphicData>
        </a:graphic>
      </p:graphicFrame>
      <p:graphicFrame>
        <p:nvGraphicFramePr>
          <p:cNvPr id="6" name="Object 4">
            <a:extLst>
              <a:ext uri="{FF2B5EF4-FFF2-40B4-BE49-F238E27FC236}">
                <a16:creationId xmlns:a16="http://schemas.microsoft.com/office/drawing/2014/main" xmlns="" id="{9E0C8F66-95B7-FB94-5627-3474B795C4E5}"/>
              </a:ext>
            </a:extLst>
          </p:cNvPr>
          <p:cNvGraphicFramePr>
            <a:graphicFrameLocks noChangeAspect="1"/>
          </p:cNvGraphicFramePr>
          <p:nvPr>
            <p:extLst>
              <p:ext uri="{D42A27DB-BD31-4B8C-83A1-F6EECF244321}">
                <p14:modId xmlns:p14="http://schemas.microsoft.com/office/powerpoint/2010/main" val="2941044884"/>
              </p:ext>
            </p:extLst>
          </p:nvPr>
        </p:nvGraphicFramePr>
        <p:xfrm>
          <a:off x="1340164" y="2701617"/>
          <a:ext cx="3385663" cy="1418410"/>
        </p:xfrm>
        <a:graphic>
          <a:graphicData uri="http://schemas.openxmlformats.org/presentationml/2006/ole">
            <mc:AlternateContent xmlns:mc="http://schemas.openxmlformats.org/markup-compatibility/2006">
              <mc:Choice xmlns:v="urn:schemas-microsoft-com:vml" Requires="v">
                <p:oleObj spid="_x0000_s153711" r:id="rId5" imgW="2209800" imgH="927100" progId="Equation.3">
                  <p:embed/>
                </p:oleObj>
              </mc:Choice>
              <mc:Fallback>
                <p:oleObj r:id="rId5" imgW="2209800" imgH="9271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40164" y="2701617"/>
                        <a:ext cx="3385663" cy="1418410"/>
                      </a:xfrm>
                      <a:prstGeom prst="rect">
                        <a:avLst/>
                      </a:prstGeom>
                      <a:noFill/>
                      <a:ln>
                        <a:noFill/>
                      </a:ln>
                    </p:spPr>
                  </p:pic>
                </p:oleObj>
              </mc:Fallback>
            </mc:AlternateContent>
          </a:graphicData>
        </a:graphic>
      </p:graphicFrame>
      <p:graphicFrame>
        <p:nvGraphicFramePr>
          <p:cNvPr id="7" name="对象 6">
            <a:extLst>
              <a:ext uri="{FF2B5EF4-FFF2-40B4-BE49-F238E27FC236}">
                <a16:creationId xmlns:a16="http://schemas.microsoft.com/office/drawing/2014/main" xmlns="" id="{7660D3CC-E940-0DF3-A8E1-8310B9D312B9}"/>
              </a:ext>
            </a:extLst>
          </p:cNvPr>
          <p:cNvGraphicFramePr>
            <a:graphicFrameLocks noChangeAspect="1"/>
          </p:cNvGraphicFramePr>
          <p:nvPr>
            <p:extLst>
              <p:ext uri="{D42A27DB-BD31-4B8C-83A1-F6EECF244321}">
                <p14:modId xmlns:p14="http://schemas.microsoft.com/office/powerpoint/2010/main" val="4103915107"/>
              </p:ext>
            </p:extLst>
          </p:nvPr>
        </p:nvGraphicFramePr>
        <p:xfrm>
          <a:off x="1340164" y="4193256"/>
          <a:ext cx="6370628" cy="2664744"/>
        </p:xfrm>
        <a:graphic>
          <a:graphicData uri="http://schemas.openxmlformats.org/presentationml/2006/ole">
            <mc:AlternateContent xmlns:mc="http://schemas.openxmlformats.org/markup-compatibility/2006">
              <mc:Choice xmlns:v="urn:schemas-microsoft-com:vml" Requires="v">
                <p:oleObj spid="_x0000_s153712" name="Equation" r:id="rId7" imgW="7761819" imgH="3246237" progId="Equation.DSMT4">
                  <p:embed/>
                </p:oleObj>
              </mc:Choice>
              <mc:Fallback>
                <p:oleObj name="Equation" r:id="rId7" imgW="7761819" imgH="3246237" progId="Equation.DSMT4">
                  <p:embed/>
                  <p:pic>
                    <p:nvPicPr>
                      <p:cNvPr id="0" name=""/>
                      <p:cNvPicPr/>
                      <p:nvPr/>
                    </p:nvPicPr>
                    <p:blipFill>
                      <a:blip r:embed="rId8"/>
                      <a:stretch>
                        <a:fillRect/>
                      </a:stretch>
                    </p:blipFill>
                    <p:spPr>
                      <a:xfrm>
                        <a:off x="1340164" y="4193256"/>
                        <a:ext cx="6370628" cy="2664744"/>
                      </a:xfrm>
                      <a:prstGeom prst="rect">
                        <a:avLst/>
                      </a:prstGeom>
                    </p:spPr>
                  </p:pic>
                </p:oleObj>
              </mc:Fallback>
            </mc:AlternateContent>
          </a:graphicData>
        </a:graphic>
      </p:graphicFrame>
      <p:graphicFrame>
        <p:nvGraphicFramePr>
          <p:cNvPr id="8" name="Object 2">
            <a:extLst>
              <a:ext uri="{FF2B5EF4-FFF2-40B4-BE49-F238E27FC236}">
                <a16:creationId xmlns:a16="http://schemas.microsoft.com/office/drawing/2014/main" xmlns="" id="{367C5913-8A0B-B2AA-E243-FC01AEF1B110}"/>
              </a:ext>
            </a:extLst>
          </p:cNvPr>
          <p:cNvGraphicFramePr>
            <a:graphicFrameLocks noChangeAspect="1"/>
          </p:cNvGraphicFramePr>
          <p:nvPr>
            <p:extLst>
              <p:ext uri="{D42A27DB-BD31-4B8C-83A1-F6EECF244321}">
                <p14:modId xmlns:p14="http://schemas.microsoft.com/office/powerpoint/2010/main" val="801356745"/>
              </p:ext>
            </p:extLst>
          </p:nvPr>
        </p:nvGraphicFramePr>
        <p:xfrm>
          <a:off x="5120019" y="1227419"/>
          <a:ext cx="3810000" cy="2801938"/>
        </p:xfrm>
        <a:graphic>
          <a:graphicData uri="http://schemas.openxmlformats.org/presentationml/2006/ole">
            <mc:AlternateContent xmlns:mc="http://schemas.openxmlformats.org/markup-compatibility/2006">
              <mc:Choice xmlns:v="urn:schemas-microsoft-com:vml" Requires="v">
                <p:oleObj spid="_x0000_s153713" r:id="rId9" imgW="3277057" imgH="2409524" progId="Paint.Picture">
                  <p:embed/>
                </p:oleObj>
              </mc:Choice>
              <mc:Fallback>
                <p:oleObj r:id="rId9" imgW="3277057" imgH="2409524" progId="Paint.Picture">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120019" y="1227419"/>
                        <a:ext cx="3810000" cy="280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907406628"/>
      </p:ext>
    </p:extLst>
  </p:cSld>
  <p:clrMapOvr>
    <a:masterClrMapping/>
  </p:clrMapOvr>
  <p:timing>
    <p:tnLst>
      <p:par>
        <p:cTn id="1" dur="indefinite" restart="never" nodeType="tmRoot"/>
      </p:par>
    </p:tnLst>
  </p:timing>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197</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5.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正弦波</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振荡器</a:t>
            </a:r>
          </a:p>
        </p:txBody>
      </p:sp>
      <p:sp>
        <p:nvSpPr>
          <p:cNvPr id="5" name="Rectangle 6">
            <a:extLst>
              <a:ext uri="{FF2B5EF4-FFF2-40B4-BE49-F238E27FC236}">
                <a16:creationId xmlns:a16="http://schemas.microsoft.com/office/drawing/2014/main" xmlns="" id="{8C352E2C-4AFC-4157-5322-6133A6E2FEDF}"/>
              </a:ext>
            </a:extLst>
          </p:cNvPr>
          <p:cNvSpPr>
            <a:spLocks noChangeArrowheads="1"/>
          </p:cNvSpPr>
          <p:nvPr/>
        </p:nvSpPr>
        <p:spPr bwMode="auto">
          <a:xfrm>
            <a:off x="490841" y="1439390"/>
            <a:ext cx="843915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200" b="1" dirty="0">
                <a:solidFill>
                  <a:srgbClr val="FF0000"/>
                </a:solidFill>
                <a:latin typeface="+mn-ea"/>
                <a:ea typeface="+mn-ea"/>
              </a:rPr>
              <a:t>以石英谐振器作选频网络</a:t>
            </a:r>
            <a:r>
              <a:rPr lang="zh-CN" altLang="en-US" sz="2200" b="1" dirty="0">
                <a:solidFill>
                  <a:schemeClr val="tx1"/>
                </a:solidFill>
                <a:latin typeface="+mn-ea"/>
                <a:ea typeface="+mn-ea"/>
              </a:rPr>
              <a:t>的反馈振荡器称为石英晶体振荡器</a:t>
            </a:r>
          </a:p>
        </p:txBody>
      </p:sp>
      <p:sp>
        <p:nvSpPr>
          <p:cNvPr id="6" name="Rectangle 2">
            <a:extLst>
              <a:ext uri="{FF2B5EF4-FFF2-40B4-BE49-F238E27FC236}">
                <a16:creationId xmlns:a16="http://schemas.microsoft.com/office/drawing/2014/main" xmlns="" id="{CB013F01-14FA-9EB8-5D63-E4DAB8759147}"/>
              </a:ext>
            </a:extLst>
          </p:cNvPr>
          <p:cNvSpPr>
            <a:spLocks noChangeArrowheads="1"/>
          </p:cNvSpPr>
          <p:nvPr/>
        </p:nvSpPr>
        <p:spPr bwMode="auto">
          <a:xfrm>
            <a:off x="444849" y="1819227"/>
            <a:ext cx="6692900" cy="464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algn="just">
              <a:lnSpc>
                <a:spcPct val="110000"/>
              </a:lnSpc>
              <a:spcBef>
                <a:spcPct val="20000"/>
              </a:spcBef>
              <a:buClr>
                <a:schemeClr val="folHlink"/>
              </a:buClr>
              <a:buSzPct val="60000"/>
              <a:buFont typeface="Wingdings" panose="05000000000000000000" pitchFamily="2" charset="2"/>
              <a:buNone/>
            </a:pPr>
            <a:r>
              <a:rPr lang="zh-CN" altLang="en-US" sz="2200" b="1" dirty="0" smtClean="0">
                <a:solidFill>
                  <a:schemeClr val="tx1"/>
                </a:solidFill>
                <a:latin typeface="Times New Roman" panose="02020603050405020304" pitchFamily="18" charset="0"/>
                <a:cs typeface="Times New Roman" panose="02020603050405020304" pitchFamily="18" charset="0"/>
              </a:rPr>
              <a:t>石英晶体</a:t>
            </a:r>
            <a:r>
              <a:rPr lang="zh-CN" altLang="en-US" sz="2200" b="1" dirty="0">
                <a:solidFill>
                  <a:schemeClr val="tx1"/>
                </a:solidFill>
                <a:latin typeface="Times New Roman" panose="02020603050405020304" pitchFamily="18" charset="0"/>
                <a:cs typeface="Times New Roman" panose="02020603050405020304" pitchFamily="18" charset="0"/>
              </a:rPr>
              <a:t>的等效电路</a:t>
            </a:r>
          </a:p>
        </p:txBody>
      </p:sp>
      <p:pic>
        <p:nvPicPr>
          <p:cNvPr id="7" name="Picture 3">
            <a:extLst>
              <a:ext uri="{FF2B5EF4-FFF2-40B4-BE49-F238E27FC236}">
                <a16:creationId xmlns:a16="http://schemas.microsoft.com/office/drawing/2014/main" xmlns="" id="{AB942FF6-2774-CE2D-8722-3885AE00F1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6067" y="2679409"/>
            <a:ext cx="1981762" cy="2621330"/>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8" name="Rectangle 4">
            <a:extLst>
              <a:ext uri="{FF2B5EF4-FFF2-40B4-BE49-F238E27FC236}">
                <a16:creationId xmlns:a16="http://schemas.microsoft.com/office/drawing/2014/main" xmlns="" id="{CA7C4FA9-608E-9E2B-982D-AB87F01FB854}"/>
              </a:ext>
            </a:extLst>
          </p:cNvPr>
          <p:cNvSpPr>
            <a:spLocks noChangeArrowheads="1"/>
          </p:cNvSpPr>
          <p:nvPr/>
        </p:nvSpPr>
        <p:spPr bwMode="auto">
          <a:xfrm>
            <a:off x="3283479" y="3084106"/>
            <a:ext cx="5938837" cy="433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90000" tIns="46800" rIns="90000" bIns="46800">
            <a:spAutoFit/>
          </a:bodyPr>
          <a:lstStyle/>
          <a:p>
            <a:r>
              <a:rPr lang="en-US" altLang="zh-CN" sz="2200" b="1" dirty="0">
                <a:solidFill>
                  <a:schemeClr val="tx1"/>
                </a:solidFill>
                <a:latin typeface="Times New Roman" panose="02020603050405020304" pitchFamily="18" charset="0"/>
                <a:cs typeface="Times New Roman" panose="02020603050405020304" pitchFamily="18" charset="0"/>
              </a:rPr>
              <a:t> </a:t>
            </a:r>
            <a:r>
              <a:rPr lang="en-US" altLang="zh-CN" sz="2200" b="1" i="1" dirty="0" err="1">
                <a:solidFill>
                  <a:schemeClr val="tx1"/>
                </a:solidFill>
                <a:latin typeface="Times New Roman" panose="02020603050405020304" pitchFamily="18" charset="0"/>
                <a:cs typeface="Times New Roman" panose="02020603050405020304" pitchFamily="18" charset="0"/>
              </a:rPr>
              <a:t>L</a:t>
            </a:r>
            <a:r>
              <a:rPr lang="en-US" altLang="zh-CN" sz="2200" b="1" i="1" baseline="-16000" dirty="0" err="1">
                <a:solidFill>
                  <a:schemeClr val="tx1"/>
                </a:solidFill>
                <a:latin typeface="Times New Roman" panose="02020603050405020304" pitchFamily="18" charset="0"/>
                <a:cs typeface="Times New Roman" panose="02020603050405020304" pitchFamily="18" charset="0"/>
              </a:rPr>
              <a:t>q</a:t>
            </a:r>
            <a:r>
              <a:rPr lang="en-US" altLang="zh-CN" sz="2200" b="1" dirty="0">
                <a:solidFill>
                  <a:schemeClr val="tx1"/>
                </a:solidFill>
                <a:latin typeface="Times New Roman" panose="02020603050405020304" pitchFamily="18" charset="0"/>
                <a:cs typeface="Times New Roman" panose="02020603050405020304" pitchFamily="18" charset="0"/>
              </a:rPr>
              <a:t> :</a:t>
            </a:r>
            <a:r>
              <a:rPr lang="zh-CN" altLang="en-US" sz="2200" b="1" dirty="0">
                <a:solidFill>
                  <a:schemeClr val="tx1"/>
                </a:solidFill>
                <a:latin typeface="Times New Roman" panose="02020603050405020304" pitchFamily="18" charset="0"/>
                <a:cs typeface="Times New Roman" panose="02020603050405020304" pitchFamily="18" charset="0"/>
              </a:rPr>
              <a:t>动态电感</a:t>
            </a:r>
            <a:r>
              <a:rPr lang="en-US" altLang="zh-CN" sz="2200" b="1" dirty="0">
                <a:solidFill>
                  <a:schemeClr val="tx1"/>
                </a:solidFill>
                <a:latin typeface="Times New Roman" panose="02020603050405020304" pitchFamily="18" charset="0"/>
                <a:cs typeface="Times New Roman" panose="02020603050405020304" pitchFamily="18" charset="0"/>
              </a:rPr>
              <a:t>,</a:t>
            </a:r>
            <a:r>
              <a:rPr lang="zh-CN" altLang="en-US" sz="2200" b="1" dirty="0">
                <a:solidFill>
                  <a:schemeClr val="tx1"/>
                </a:solidFill>
                <a:latin typeface="Times New Roman" panose="02020603050405020304" pitchFamily="18" charset="0"/>
                <a:cs typeface="Times New Roman" panose="02020603050405020304" pitchFamily="18" charset="0"/>
              </a:rPr>
              <a:t>表征质量 </a:t>
            </a:r>
            <a:r>
              <a:rPr lang="zh-CN" altLang="en-US" sz="2200" b="1" dirty="0">
                <a:solidFill>
                  <a:schemeClr val="accent2"/>
                </a:solidFill>
                <a:latin typeface="Times New Roman" panose="02020603050405020304" pitchFamily="18" charset="0"/>
                <a:cs typeface="Times New Roman" panose="02020603050405020304" pitchFamily="18" charset="0"/>
              </a:rPr>
              <a:t>几十</a:t>
            </a:r>
            <a:r>
              <a:rPr lang="en-US" altLang="zh-CN" sz="2200" b="1" dirty="0" err="1">
                <a:solidFill>
                  <a:schemeClr val="accent2"/>
                </a:solidFill>
                <a:latin typeface="Times New Roman" panose="02020603050405020304" pitchFamily="18" charset="0"/>
                <a:cs typeface="Times New Roman" panose="02020603050405020304" pitchFamily="18" charset="0"/>
              </a:rPr>
              <a:t>mH</a:t>
            </a:r>
            <a:r>
              <a:rPr lang="en-US" altLang="zh-CN" sz="2200" b="1" dirty="0">
                <a:solidFill>
                  <a:schemeClr val="accent2"/>
                </a:solidFill>
                <a:latin typeface="Times New Roman" panose="02020603050405020304" pitchFamily="18" charset="0"/>
                <a:cs typeface="Times New Roman" panose="02020603050405020304" pitchFamily="18" charset="0"/>
              </a:rPr>
              <a:t> </a:t>
            </a:r>
            <a:r>
              <a:rPr lang="zh-CN" altLang="en-US" sz="2200" b="1" dirty="0">
                <a:solidFill>
                  <a:schemeClr val="accent2"/>
                </a:solidFill>
                <a:latin typeface="Times New Roman" panose="02020603050405020304" pitchFamily="18" charset="0"/>
                <a:cs typeface="Times New Roman" panose="02020603050405020304" pitchFamily="18" charset="0"/>
              </a:rPr>
              <a:t>～几百</a:t>
            </a:r>
            <a:r>
              <a:rPr lang="en-US" altLang="zh-CN" sz="2200" b="1" dirty="0">
                <a:solidFill>
                  <a:schemeClr val="accent2"/>
                </a:solidFill>
                <a:latin typeface="Times New Roman" panose="02020603050405020304" pitchFamily="18" charset="0"/>
                <a:cs typeface="Times New Roman" panose="02020603050405020304" pitchFamily="18" charset="0"/>
              </a:rPr>
              <a:t>H</a:t>
            </a:r>
          </a:p>
        </p:txBody>
      </p:sp>
      <p:sp>
        <p:nvSpPr>
          <p:cNvPr id="9" name="Rectangle 5">
            <a:extLst>
              <a:ext uri="{FF2B5EF4-FFF2-40B4-BE49-F238E27FC236}">
                <a16:creationId xmlns:a16="http://schemas.microsoft.com/office/drawing/2014/main" xmlns="" id="{1B5512E6-1247-4CD5-BD63-36C246A93A0D}"/>
              </a:ext>
            </a:extLst>
          </p:cNvPr>
          <p:cNvSpPr>
            <a:spLocks noChangeArrowheads="1"/>
          </p:cNvSpPr>
          <p:nvPr/>
        </p:nvSpPr>
        <p:spPr bwMode="auto">
          <a:xfrm>
            <a:off x="3283479" y="4125628"/>
            <a:ext cx="5088550" cy="433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90000" tIns="46800" rIns="90000" bIns="46800">
            <a:spAutoFit/>
          </a:bodyPr>
          <a:lstStyle/>
          <a:p>
            <a:r>
              <a:rPr lang="en-US" altLang="zh-CN" sz="2200" b="1" i="1" dirty="0" err="1">
                <a:solidFill>
                  <a:schemeClr val="tx1"/>
                </a:solidFill>
                <a:latin typeface="Times New Roman" panose="02020603050405020304" pitchFamily="18" charset="0"/>
                <a:cs typeface="Times New Roman" panose="02020603050405020304" pitchFamily="18" charset="0"/>
              </a:rPr>
              <a:t>r</a:t>
            </a:r>
            <a:r>
              <a:rPr lang="en-US" altLang="zh-CN" sz="2200" b="1" i="1" baseline="-16000" dirty="0" err="1">
                <a:solidFill>
                  <a:schemeClr val="tx1"/>
                </a:solidFill>
                <a:latin typeface="Times New Roman" panose="02020603050405020304" pitchFamily="18" charset="0"/>
                <a:cs typeface="Times New Roman" panose="02020603050405020304" pitchFamily="18" charset="0"/>
              </a:rPr>
              <a:t>q</a:t>
            </a:r>
            <a:r>
              <a:rPr lang="en-US" altLang="zh-CN" sz="2200" b="1" dirty="0">
                <a:solidFill>
                  <a:schemeClr val="tx1"/>
                </a:solidFill>
                <a:latin typeface="Times New Roman" panose="02020603050405020304" pitchFamily="18" charset="0"/>
                <a:cs typeface="Times New Roman" panose="02020603050405020304" pitchFamily="18" charset="0"/>
              </a:rPr>
              <a:t> :</a:t>
            </a:r>
            <a:r>
              <a:rPr lang="zh-CN" altLang="en-US" sz="2200" b="1" dirty="0">
                <a:solidFill>
                  <a:schemeClr val="tx1"/>
                </a:solidFill>
                <a:latin typeface="Times New Roman" panose="02020603050405020304" pitchFamily="18" charset="0"/>
                <a:cs typeface="Times New Roman" panose="02020603050405020304" pitchFamily="18" charset="0"/>
              </a:rPr>
              <a:t>动态电阻</a:t>
            </a:r>
            <a:r>
              <a:rPr lang="en-US" altLang="zh-CN" sz="2200" b="1" dirty="0">
                <a:solidFill>
                  <a:schemeClr val="tx1"/>
                </a:solidFill>
                <a:latin typeface="Times New Roman" panose="02020603050405020304" pitchFamily="18" charset="0"/>
                <a:cs typeface="Times New Roman" panose="02020603050405020304" pitchFamily="18" charset="0"/>
              </a:rPr>
              <a:t>,</a:t>
            </a:r>
            <a:r>
              <a:rPr lang="zh-CN" altLang="en-US" sz="2200" b="1" dirty="0">
                <a:solidFill>
                  <a:schemeClr val="tx1"/>
                </a:solidFill>
                <a:latin typeface="Times New Roman" panose="02020603050405020304" pitchFamily="18" charset="0"/>
                <a:cs typeface="Times New Roman" panose="02020603050405020304" pitchFamily="18" charset="0"/>
              </a:rPr>
              <a:t>表征摩擦损耗   </a:t>
            </a:r>
            <a:r>
              <a:rPr lang="zh-CN" altLang="en-US" sz="2200" b="1" dirty="0">
                <a:solidFill>
                  <a:schemeClr val="accent2"/>
                </a:solidFill>
                <a:latin typeface="Times New Roman" panose="02020603050405020304" pitchFamily="18" charset="0"/>
                <a:cs typeface="Times New Roman" panose="02020603050405020304" pitchFamily="18" charset="0"/>
              </a:rPr>
              <a:t>几～几百欧</a:t>
            </a:r>
          </a:p>
        </p:txBody>
      </p:sp>
      <p:grpSp>
        <p:nvGrpSpPr>
          <p:cNvPr id="10" name="Group 6">
            <a:extLst>
              <a:ext uri="{FF2B5EF4-FFF2-40B4-BE49-F238E27FC236}">
                <a16:creationId xmlns:a16="http://schemas.microsoft.com/office/drawing/2014/main" xmlns="" id="{D9375172-DAE6-E6F1-3487-3A8D6C0BDC3A}"/>
              </a:ext>
            </a:extLst>
          </p:cNvPr>
          <p:cNvGrpSpPr>
            <a:grpSpLocks/>
          </p:cNvGrpSpPr>
          <p:nvPr/>
        </p:nvGrpSpPr>
        <p:grpSpPr bwMode="auto">
          <a:xfrm>
            <a:off x="99517" y="3177431"/>
            <a:ext cx="1206500" cy="2474913"/>
            <a:chOff x="216" y="840"/>
            <a:chExt cx="760" cy="1559"/>
          </a:xfrm>
        </p:grpSpPr>
        <p:grpSp>
          <p:nvGrpSpPr>
            <p:cNvPr id="11" name="Group 7">
              <a:extLst>
                <a:ext uri="{FF2B5EF4-FFF2-40B4-BE49-F238E27FC236}">
                  <a16:creationId xmlns:a16="http://schemas.microsoft.com/office/drawing/2014/main" xmlns="" id="{ED1260B2-53F2-5893-AD8F-E4A160E06AD7}"/>
                </a:ext>
              </a:extLst>
            </p:cNvPr>
            <p:cNvGrpSpPr>
              <a:grpSpLocks/>
            </p:cNvGrpSpPr>
            <p:nvPr/>
          </p:nvGrpSpPr>
          <p:grpSpPr bwMode="auto">
            <a:xfrm>
              <a:off x="216" y="840"/>
              <a:ext cx="760" cy="1154"/>
              <a:chOff x="3016" y="640"/>
              <a:chExt cx="760" cy="1154"/>
            </a:xfrm>
          </p:grpSpPr>
          <p:pic>
            <p:nvPicPr>
              <p:cNvPr id="13" name="Picture 8">
                <a:extLst>
                  <a:ext uri="{FF2B5EF4-FFF2-40B4-BE49-F238E27FC236}">
                    <a16:creationId xmlns:a16="http://schemas.microsoft.com/office/drawing/2014/main" xmlns="" id="{B41AC757-977A-36FF-4B99-96CE5720330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12857" t="4163" r="67999" b="41240"/>
              <a:stretch>
                <a:fillRect/>
              </a:stretch>
            </p:blipFill>
            <p:spPr bwMode="auto">
              <a:xfrm>
                <a:off x="3016" y="640"/>
                <a:ext cx="536" cy="1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ext Box 9">
                <a:extLst>
                  <a:ext uri="{FF2B5EF4-FFF2-40B4-BE49-F238E27FC236}">
                    <a16:creationId xmlns:a16="http://schemas.microsoft.com/office/drawing/2014/main" xmlns="" id="{510E711A-8C88-65D7-287C-F76EAF5FE929}"/>
                  </a:ext>
                </a:extLst>
              </p:cNvPr>
              <p:cNvSpPr txBox="1">
                <a:spLocks noChangeArrowheads="1"/>
              </p:cNvSpPr>
              <p:nvPr/>
            </p:nvSpPr>
            <p:spPr bwMode="auto">
              <a:xfrm>
                <a:off x="3384" y="1040"/>
                <a:ext cx="392"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t">
                  <a:spcBef>
                    <a:spcPct val="50000"/>
                  </a:spcBef>
                </a:pPr>
                <a:r>
                  <a:rPr lang="en-US" altLang="zh-CN" sz="2200" b="1">
                    <a:solidFill>
                      <a:schemeClr val="tx1"/>
                    </a:solidFill>
                    <a:latin typeface="Times New Roman" panose="02020603050405020304" pitchFamily="18" charset="0"/>
                    <a:cs typeface="Times New Roman" panose="02020603050405020304" pitchFamily="18" charset="0"/>
                  </a:rPr>
                  <a:t>JT</a:t>
                </a:r>
              </a:p>
            </p:txBody>
          </p:sp>
        </p:grpSp>
        <p:sp>
          <p:nvSpPr>
            <p:cNvPr id="12" name="Text Box 10">
              <a:extLst>
                <a:ext uri="{FF2B5EF4-FFF2-40B4-BE49-F238E27FC236}">
                  <a16:creationId xmlns:a16="http://schemas.microsoft.com/office/drawing/2014/main" xmlns="" id="{4F741C16-CA41-41F7-FC9A-A26CC8C3DEEE}"/>
                </a:ext>
              </a:extLst>
            </p:cNvPr>
            <p:cNvSpPr txBox="1">
              <a:spLocks noChangeArrowheads="1"/>
            </p:cNvSpPr>
            <p:nvPr/>
          </p:nvSpPr>
          <p:spPr bwMode="auto">
            <a:xfrm>
              <a:off x="232" y="2128"/>
              <a:ext cx="696"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t">
                <a:spcBef>
                  <a:spcPct val="50000"/>
                </a:spcBef>
              </a:pPr>
              <a:r>
                <a:rPr lang="zh-CN" altLang="en-US" sz="2200" b="1" dirty="0">
                  <a:solidFill>
                    <a:schemeClr val="tx1"/>
                  </a:solidFill>
                  <a:latin typeface="Times New Roman" panose="02020603050405020304" pitchFamily="18" charset="0"/>
                  <a:cs typeface="Times New Roman" panose="02020603050405020304" pitchFamily="18" charset="0"/>
                </a:rPr>
                <a:t>符号</a:t>
              </a:r>
            </a:p>
          </p:txBody>
        </p:sp>
      </p:grpSp>
      <p:sp>
        <p:nvSpPr>
          <p:cNvPr id="15" name="Rectangle 11">
            <a:extLst>
              <a:ext uri="{FF2B5EF4-FFF2-40B4-BE49-F238E27FC236}">
                <a16:creationId xmlns:a16="http://schemas.microsoft.com/office/drawing/2014/main" xmlns="" id="{CABE7CEB-7B4E-4D7E-628B-6289541B205C}"/>
              </a:ext>
            </a:extLst>
          </p:cNvPr>
          <p:cNvSpPr>
            <a:spLocks noChangeArrowheads="1"/>
          </p:cNvSpPr>
          <p:nvPr/>
        </p:nvSpPr>
        <p:spPr bwMode="auto">
          <a:xfrm>
            <a:off x="1306017" y="5192248"/>
            <a:ext cx="1319592" cy="464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10000"/>
              </a:lnSpc>
              <a:spcBef>
                <a:spcPct val="20000"/>
              </a:spcBef>
            </a:pPr>
            <a:r>
              <a:rPr lang="zh-CN" altLang="en-US" sz="2200" b="1" dirty="0">
                <a:solidFill>
                  <a:schemeClr val="tx1"/>
                </a:solidFill>
                <a:latin typeface="Times New Roman" panose="02020603050405020304" pitchFamily="18" charset="0"/>
                <a:cs typeface="Times New Roman" panose="02020603050405020304" pitchFamily="18" charset="0"/>
              </a:rPr>
              <a:t>等效电路</a:t>
            </a:r>
          </a:p>
        </p:txBody>
      </p:sp>
      <p:sp>
        <p:nvSpPr>
          <p:cNvPr id="16" name="Rectangle 12">
            <a:extLst>
              <a:ext uri="{FF2B5EF4-FFF2-40B4-BE49-F238E27FC236}">
                <a16:creationId xmlns:a16="http://schemas.microsoft.com/office/drawing/2014/main" xmlns="" id="{C0B7340B-C098-4DD5-68BC-1462A0339DF5}"/>
              </a:ext>
            </a:extLst>
          </p:cNvPr>
          <p:cNvSpPr>
            <a:spLocks noChangeArrowheads="1"/>
          </p:cNvSpPr>
          <p:nvPr/>
        </p:nvSpPr>
        <p:spPr bwMode="auto">
          <a:xfrm>
            <a:off x="3204013" y="2551591"/>
            <a:ext cx="3065561" cy="433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90000" tIns="46800" rIns="90000" bIns="46800">
            <a:spAutoFit/>
          </a:bodyPr>
          <a:lstStyle/>
          <a:p>
            <a:r>
              <a:rPr lang="en-US" altLang="zh-CN" sz="2200" b="1" dirty="0">
                <a:solidFill>
                  <a:schemeClr val="tx1"/>
                </a:solidFill>
                <a:latin typeface="Times New Roman" panose="02020603050405020304" pitchFamily="18" charset="0"/>
                <a:cs typeface="Times New Roman" panose="02020603050405020304" pitchFamily="18" charset="0"/>
              </a:rPr>
              <a:t> </a:t>
            </a:r>
            <a:r>
              <a:rPr lang="en-US" altLang="zh-CN" sz="2200" b="1" i="1" dirty="0">
                <a:solidFill>
                  <a:schemeClr val="tx1"/>
                </a:solidFill>
                <a:latin typeface="Times New Roman" panose="02020603050405020304" pitchFamily="18" charset="0"/>
                <a:cs typeface="Times New Roman" panose="02020603050405020304" pitchFamily="18" charset="0"/>
              </a:rPr>
              <a:t>C</a:t>
            </a:r>
            <a:r>
              <a:rPr lang="en-US" altLang="zh-CN" sz="2200" b="1" i="1" baseline="-16000" dirty="0">
                <a:solidFill>
                  <a:schemeClr val="tx1"/>
                </a:solidFill>
                <a:latin typeface="Times New Roman" panose="02020603050405020304" pitchFamily="18" charset="0"/>
                <a:cs typeface="Times New Roman" panose="02020603050405020304" pitchFamily="18" charset="0"/>
              </a:rPr>
              <a:t>0</a:t>
            </a:r>
            <a:r>
              <a:rPr lang="en-US" altLang="zh-CN" sz="2200" b="1" dirty="0">
                <a:solidFill>
                  <a:schemeClr val="tx1"/>
                </a:solidFill>
                <a:latin typeface="Times New Roman" panose="02020603050405020304" pitchFamily="18" charset="0"/>
                <a:cs typeface="Times New Roman" panose="02020603050405020304" pitchFamily="18" charset="0"/>
              </a:rPr>
              <a:t> :</a:t>
            </a:r>
            <a:r>
              <a:rPr lang="zh-CN" altLang="en-US" sz="2200" b="1" dirty="0">
                <a:solidFill>
                  <a:schemeClr val="tx1"/>
                </a:solidFill>
                <a:latin typeface="Times New Roman" panose="02020603050405020304" pitchFamily="18" charset="0"/>
                <a:cs typeface="Times New Roman" panose="02020603050405020304" pitchFamily="18" charset="0"/>
              </a:rPr>
              <a:t>静态电容</a:t>
            </a:r>
            <a:r>
              <a:rPr lang="en-US" altLang="zh-CN" sz="2200" b="1" dirty="0">
                <a:solidFill>
                  <a:schemeClr val="tx1"/>
                </a:solidFill>
                <a:latin typeface="Times New Roman" panose="02020603050405020304" pitchFamily="18" charset="0"/>
                <a:cs typeface="Times New Roman" panose="02020603050405020304" pitchFamily="18" charset="0"/>
              </a:rPr>
              <a:t>,</a:t>
            </a:r>
            <a:r>
              <a:rPr lang="zh-CN" altLang="en-US" sz="2200" dirty="0">
                <a:solidFill>
                  <a:schemeClr val="tx1"/>
                </a:solidFill>
                <a:latin typeface="Times New Roman" panose="02020603050405020304" pitchFamily="18" charset="0"/>
                <a:cs typeface="Times New Roman" panose="02020603050405020304" pitchFamily="18" charset="0"/>
              </a:rPr>
              <a:t>约</a:t>
            </a:r>
            <a:r>
              <a:rPr lang="en-US" altLang="zh-CN" sz="2200" dirty="0">
                <a:solidFill>
                  <a:schemeClr val="accent2"/>
                </a:solidFill>
                <a:latin typeface="Times New Roman" panose="02020603050405020304" pitchFamily="18" charset="0"/>
                <a:cs typeface="Times New Roman" panose="02020603050405020304" pitchFamily="18" charset="0"/>
              </a:rPr>
              <a:t>2</a:t>
            </a:r>
            <a:r>
              <a:rPr lang="zh-CN" altLang="en-US" sz="2200" dirty="0">
                <a:solidFill>
                  <a:schemeClr val="accent2"/>
                </a:solidFill>
                <a:latin typeface="Times New Roman" panose="02020603050405020304" pitchFamily="18" charset="0"/>
                <a:cs typeface="Times New Roman" panose="02020603050405020304" pitchFamily="18" charset="0"/>
              </a:rPr>
              <a:t>～</a:t>
            </a:r>
            <a:r>
              <a:rPr lang="en-US" altLang="zh-CN" sz="2200" dirty="0">
                <a:solidFill>
                  <a:schemeClr val="accent2"/>
                </a:solidFill>
                <a:latin typeface="Times New Roman" panose="02020603050405020304" pitchFamily="18" charset="0"/>
                <a:cs typeface="Times New Roman" panose="02020603050405020304" pitchFamily="18" charset="0"/>
              </a:rPr>
              <a:t>5PF</a:t>
            </a:r>
          </a:p>
        </p:txBody>
      </p:sp>
      <p:graphicFrame>
        <p:nvGraphicFramePr>
          <p:cNvPr id="17" name="Object 13">
            <a:extLst>
              <a:ext uri="{FF2B5EF4-FFF2-40B4-BE49-F238E27FC236}">
                <a16:creationId xmlns:a16="http://schemas.microsoft.com/office/drawing/2014/main" xmlns="" id="{4A660E7B-1A72-2A87-22B5-78F0FAD057CE}"/>
              </a:ext>
            </a:extLst>
          </p:cNvPr>
          <p:cNvGraphicFramePr>
            <a:graphicFrameLocks noChangeAspect="1"/>
          </p:cNvGraphicFramePr>
          <p:nvPr>
            <p:extLst>
              <p:ext uri="{D42A27DB-BD31-4B8C-83A1-F6EECF244321}">
                <p14:modId xmlns:p14="http://schemas.microsoft.com/office/powerpoint/2010/main" val="963767968"/>
              </p:ext>
            </p:extLst>
          </p:nvPr>
        </p:nvGraphicFramePr>
        <p:xfrm>
          <a:off x="4125044" y="4623351"/>
          <a:ext cx="3017838" cy="1133475"/>
        </p:xfrm>
        <a:graphic>
          <a:graphicData uri="http://schemas.openxmlformats.org/presentationml/2006/ole">
            <mc:AlternateContent xmlns:mc="http://schemas.openxmlformats.org/markup-compatibility/2006">
              <mc:Choice xmlns:v="urn:schemas-microsoft-com:vml" Requires="v">
                <p:oleObj spid="_x0000_s154680" r:id="rId5" imgW="1295400" imgH="508000" progId="Equation.3">
                  <p:embed/>
                </p:oleObj>
              </mc:Choice>
              <mc:Fallback>
                <p:oleObj r:id="rId5" imgW="1295400" imgH="5080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25044" y="4623351"/>
                        <a:ext cx="3017838" cy="113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8" name="Rectangle 14">
            <a:extLst>
              <a:ext uri="{FF2B5EF4-FFF2-40B4-BE49-F238E27FC236}">
                <a16:creationId xmlns:a16="http://schemas.microsoft.com/office/drawing/2014/main" xmlns="" id="{808AE171-3852-1E62-C8F5-E7C3B6A55622}"/>
              </a:ext>
            </a:extLst>
          </p:cNvPr>
          <p:cNvSpPr>
            <a:spLocks noChangeArrowheads="1"/>
          </p:cNvSpPr>
          <p:nvPr/>
        </p:nvSpPr>
        <p:spPr bwMode="auto">
          <a:xfrm>
            <a:off x="1375867" y="5914578"/>
            <a:ext cx="6637338"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t">
              <a:spcBef>
                <a:spcPct val="50000"/>
              </a:spcBef>
            </a:pPr>
            <a:r>
              <a:rPr lang="en-US" altLang="zh-CN" sz="2200" b="1" dirty="0">
                <a:solidFill>
                  <a:srgbClr val="FF0000"/>
                </a:solidFill>
                <a:latin typeface="Times New Roman" panose="02020603050405020304" pitchFamily="18" charset="0"/>
                <a:cs typeface="Times New Roman" panose="02020603050405020304" pitchFamily="18" charset="0"/>
              </a:rPr>
              <a:t>  </a:t>
            </a:r>
            <a:r>
              <a:rPr lang="zh-CN" altLang="en-US" sz="2200" b="1" dirty="0">
                <a:solidFill>
                  <a:srgbClr val="FF0000"/>
                </a:solidFill>
                <a:latin typeface="Times New Roman" panose="02020603050405020304" pitchFamily="18" charset="0"/>
                <a:cs typeface="Times New Roman" panose="02020603050405020304" pitchFamily="18" charset="0"/>
              </a:rPr>
              <a:t>故晶体 </a:t>
            </a:r>
            <a:r>
              <a:rPr lang="en-US" altLang="zh-CN" sz="2200" b="1" dirty="0">
                <a:solidFill>
                  <a:srgbClr val="FF0000"/>
                </a:solidFill>
                <a:latin typeface="Times New Roman" panose="02020603050405020304" pitchFamily="18" charset="0"/>
                <a:cs typeface="Times New Roman" panose="02020603050405020304" pitchFamily="18" charset="0"/>
              </a:rPr>
              <a:t>Q</a:t>
            </a:r>
            <a:r>
              <a:rPr lang="zh-CN" altLang="en-US" sz="2200" b="1" dirty="0">
                <a:solidFill>
                  <a:srgbClr val="FF0000"/>
                </a:solidFill>
                <a:latin typeface="Times New Roman" panose="02020603050405020304" pitchFamily="18" charset="0"/>
                <a:cs typeface="Times New Roman" panose="02020603050405020304" pitchFamily="18" charset="0"/>
              </a:rPr>
              <a:t>值很高，一般为几万至几百万</a:t>
            </a:r>
          </a:p>
        </p:txBody>
      </p:sp>
      <p:grpSp>
        <p:nvGrpSpPr>
          <p:cNvPr id="19" name="Group 15">
            <a:extLst>
              <a:ext uri="{FF2B5EF4-FFF2-40B4-BE49-F238E27FC236}">
                <a16:creationId xmlns:a16="http://schemas.microsoft.com/office/drawing/2014/main" xmlns="" id="{4DC8ACE1-FFEA-CFB8-3FC9-02126999F07C}"/>
              </a:ext>
            </a:extLst>
          </p:cNvPr>
          <p:cNvGrpSpPr>
            <a:grpSpLocks/>
          </p:cNvGrpSpPr>
          <p:nvPr/>
        </p:nvGrpSpPr>
        <p:grpSpPr bwMode="auto">
          <a:xfrm>
            <a:off x="3187192" y="3606666"/>
            <a:ext cx="5491163" cy="433388"/>
            <a:chOff x="2019" y="1371"/>
            <a:chExt cx="3459" cy="273"/>
          </a:xfrm>
        </p:grpSpPr>
        <p:sp>
          <p:nvSpPr>
            <p:cNvPr id="20" name="Rectangle 16">
              <a:extLst>
                <a:ext uri="{FF2B5EF4-FFF2-40B4-BE49-F238E27FC236}">
                  <a16:creationId xmlns:a16="http://schemas.microsoft.com/office/drawing/2014/main" xmlns="" id="{4CA4B87A-B200-1719-4BA0-966181D9E0BE}"/>
                </a:ext>
              </a:extLst>
            </p:cNvPr>
            <p:cNvSpPr>
              <a:spLocks noChangeArrowheads="1"/>
            </p:cNvSpPr>
            <p:nvPr/>
          </p:nvSpPr>
          <p:spPr bwMode="auto">
            <a:xfrm>
              <a:off x="2019" y="1371"/>
              <a:ext cx="3459" cy="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90000" tIns="46800" rIns="90000" bIns="46800">
              <a:spAutoFit/>
            </a:bodyPr>
            <a:lstStyle/>
            <a:p>
              <a:r>
                <a:rPr lang="en-US" altLang="zh-CN" sz="2200" b="1" dirty="0">
                  <a:solidFill>
                    <a:schemeClr val="tx1"/>
                  </a:solidFill>
                  <a:latin typeface="Times New Roman" panose="02020603050405020304" pitchFamily="18" charset="0"/>
                  <a:cs typeface="Times New Roman" panose="02020603050405020304" pitchFamily="18" charset="0"/>
                </a:rPr>
                <a:t> </a:t>
              </a:r>
              <a:r>
                <a:rPr lang="en-US" altLang="zh-CN" sz="2200" b="1" i="1" dirty="0" err="1">
                  <a:solidFill>
                    <a:schemeClr val="tx1"/>
                  </a:solidFill>
                  <a:latin typeface="Times New Roman" panose="02020603050405020304" pitchFamily="18" charset="0"/>
                  <a:cs typeface="Times New Roman" panose="02020603050405020304" pitchFamily="18" charset="0"/>
                </a:rPr>
                <a:t>C</a:t>
              </a:r>
              <a:r>
                <a:rPr lang="en-US" altLang="zh-CN" sz="2200" b="1" i="1" baseline="-16000" dirty="0" err="1">
                  <a:solidFill>
                    <a:schemeClr val="tx1"/>
                  </a:solidFill>
                  <a:latin typeface="Times New Roman" panose="02020603050405020304" pitchFamily="18" charset="0"/>
                  <a:cs typeface="Times New Roman" panose="02020603050405020304" pitchFamily="18" charset="0"/>
                </a:rPr>
                <a:t>q</a:t>
              </a:r>
              <a:r>
                <a:rPr lang="en-US" altLang="zh-CN" sz="2200" b="1" dirty="0">
                  <a:solidFill>
                    <a:schemeClr val="tx1"/>
                  </a:solidFill>
                  <a:latin typeface="Times New Roman" panose="02020603050405020304" pitchFamily="18" charset="0"/>
                  <a:cs typeface="Times New Roman" panose="02020603050405020304" pitchFamily="18" charset="0"/>
                </a:rPr>
                <a:t> :</a:t>
              </a:r>
              <a:r>
                <a:rPr lang="zh-CN" altLang="en-US" sz="2200" b="1" dirty="0">
                  <a:solidFill>
                    <a:schemeClr val="tx1"/>
                  </a:solidFill>
                  <a:latin typeface="Times New Roman" panose="02020603050405020304" pitchFamily="18" charset="0"/>
                  <a:cs typeface="Times New Roman" panose="02020603050405020304" pitchFamily="18" charset="0"/>
                </a:rPr>
                <a:t>动态电容</a:t>
              </a:r>
              <a:r>
                <a:rPr lang="en-US" altLang="zh-CN" sz="2200" b="1" dirty="0">
                  <a:solidFill>
                    <a:schemeClr val="tx1"/>
                  </a:solidFill>
                  <a:latin typeface="Times New Roman" panose="02020603050405020304" pitchFamily="18" charset="0"/>
                  <a:cs typeface="Times New Roman" panose="02020603050405020304" pitchFamily="18" charset="0"/>
                </a:rPr>
                <a:t>,</a:t>
              </a:r>
              <a:r>
                <a:rPr lang="zh-CN" altLang="en-US" sz="2200" b="1" dirty="0">
                  <a:solidFill>
                    <a:schemeClr val="tx1"/>
                  </a:solidFill>
                  <a:latin typeface="Times New Roman" panose="02020603050405020304" pitchFamily="18" charset="0"/>
                  <a:cs typeface="Times New Roman" panose="02020603050405020304" pitchFamily="18" charset="0"/>
                </a:rPr>
                <a:t>表征弹性</a:t>
              </a:r>
              <a:endParaRPr lang="zh-CN" altLang="en-US" sz="2200" dirty="0">
                <a:solidFill>
                  <a:schemeClr val="tx1"/>
                </a:solidFill>
                <a:latin typeface="Times New Roman" panose="02020603050405020304" pitchFamily="18" charset="0"/>
                <a:cs typeface="Times New Roman" panose="02020603050405020304" pitchFamily="18" charset="0"/>
              </a:endParaRPr>
            </a:p>
          </p:txBody>
        </p:sp>
        <p:graphicFrame>
          <p:nvGraphicFramePr>
            <p:cNvPr id="21" name="Object 17">
              <a:extLst>
                <a:ext uri="{FF2B5EF4-FFF2-40B4-BE49-F238E27FC236}">
                  <a16:creationId xmlns:a16="http://schemas.microsoft.com/office/drawing/2014/main" xmlns="" id="{75B3D038-CC73-B773-1061-5D4AB5F9FE45}"/>
                </a:ext>
              </a:extLst>
            </p:cNvPr>
            <p:cNvGraphicFramePr>
              <a:graphicFrameLocks noChangeAspect="1"/>
            </p:cNvGraphicFramePr>
            <p:nvPr>
              <p:extLst>
                <p:ext uri="{D42A27DB-BD31-4B8C-83A1-F6EECF244321}">
                  <p14:modId xmlns:p14="http://schemas.microsoft.com/office/powerpoint/2010/main" val="3788505918"/>
                </p:ext>
              </p:extLst>
            </p:nvPr>
          </p:nvGraphicFramePr>
          <p:xfrm>
            <a:off x="3947" y="1392"/>
            <a:ext cx="1122" cy="240"/>
          </p:xfrm>
          <a:graphic>
            <a:graphicData uri="http://schemas.openxmlformats.org/presentationml/2006/ole">
              <mc:AlternateContent xmlns:mc="http://schemas.openxmlformats.org/markup-compatibility/2006">
                <mc:Choice xmlns:v="urn:schemas-microsoft-com:vml" Requires="v">
                  <p:oleObj spid="_x0000_s154681" r:id="rId7" imgW="952087" imgH="203112" progId="Equation.3">
                    <p:embed/>
                  </p:oleObj>
                </mc:Choice>
                <mc:Fallback>
                  <p:oleObj r:id="rId7" imgW="952087" imgH="203112"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47" y="1392"/>
                          <a:ext cx="112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Tree>
    <p:extLst>
      <p:ext uri="{BB962C8B-B14F-4D97-AF65-F5344CB8AC3E}">
        <p14:creationId xmlns:p14="http://schemas.microsoft.com/office/powerpoint/2010/main" val="1843601516"/>
      </p:ext>
    </p:extLst>
  </p:cSld>
  <p:clrMapOvr>
    <a:masterClrMapping/>
  </p:clrMapOvr>
  <p:timing>
    <p:tnLst>
      <p:par>
        <p:cTn id="1" dur="indefinite" restart="never" nodeType="tmRoot"/>
      </p:par>
    </p:tnLst>
  </p:timing>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198</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5.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正弦波</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振荡器</a:t>
            </a:r>
          </a:p>
        </p:txBody>
      </p:sp>
      <p:pic>
        <p:nvPicPr>
          <p:cNvPr id="5" name="Picture 3">
            <a:extLst>
              <a:ext uri="{FF2B5EF4-FFF2-40B4-BE49-F238E27FC236}">
                <a16:creationId xmlns:a16="http://schemas.microsoft.com/office/drawing/2014/main" xmlns="" id="{E3FF3C15-8231-A5D7-2A7A-3A4B677C36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3648" y="1268760"/>
            <a:ext cx="2095500" cy="2771775"/>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pic>
      <p:grpSp>
        <p:nvGrpSpPr>
          <p:cNvPr id="6" name="Group 4">
            <a:extLst>
              <a:ext uri="{FF2B5EF4-FFF2-40B4-BE49-F238E27FC236}">
                <a16:creationId xmlns:a16="http://schemas.microsoft.com/office/drawing/2014/main" xmlns="" id="{34413D5C-768D-DC58-C28A-6752C95148F3}"/>
              </a:ext>
            </a:extLst>
          </p:cNvPr>
          <p:cNvGrpSpPr>
            <a:grpSpLocks/>
          </p:cNvGrpSpPr>
          <p:nvPr/>
        </p:nvGrpSpPr>
        <p:grpSpPr bwMode="auto">
          <a:xfrm>
            <a:off x="559098" y="1714848"/>
            <a:ext cx="1206500" cy="2444750"/>
            <a:chOff x="216" y="840"/>
            <a:chExt cx="760" cy="1540"/>
          </a:xfrm>
        </p:grpSpPr>
        <p:grpSp>
          <p:nvGrpSpPr>
            <p:cNvPr id="7" name="Group 5">
              <a:extLst>
                <a:ext uri="{FF2B5EF4-FFF2-40B4-BE49-F238E27FC236}">
                  <a16:creationId xmlns:a16="http://schemas.microsoft.com/office/drawing/2014/main" xmlns="" id="{122E5B14-5B89-7C11-3EB2-CAB57E70D5E6}"/>
                </a:ext>
              </a:extLst>
            </p:cNvPr>
            <p:cNvGrpSpPr>
              <a:grpSpLocks/>
            </p:cNvGrpSpPr>
            <p:nvPr/>
          </p:nvGrpSpPr>
          <p:grpSpPr bwMode="auto">
            <a:xfrm>
              <a:off x="216" y="840"/>
              <a:ext cx="760" cy="1154"/>
              <a:chOff x="3016" y="640"/>
              <a:chExt cx="760" cy="1154"/>
            </a:xfrm>
          </p:grpSpPr>
          <p:pic>
            <p:nvPicPr>
              <p:cNvPr id="9" name="Picture 6">
                <a:extLst>
                  <a:ext uri="{FF2B5EF4-FFF2-40B4-BE49-F238E27FC236}">
                    <a16:creationId xmlns:a16="http://schemas.microsoft.com/office/drawing/2014/main" xmlns="" id="{C1F067E7-9EF8-24F0-97AE-88EE6187CC0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12857" t="4163" r="67999" b="41240"/>
              <a:stretch>
                <a:fillRect/>
              </a:stretch>
            </p:blipFill>
            <p:spPr bwMode="auto">
              <a:xfrm>
                <a:off x="3016" y="640"/>
                <a:ext cx="536" cy="1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 Box 7">
                <a:extLst>
                  <a:ext uri="{FF2B5EF4-FFF2-40B4-BE49-F238E27FC236}">
                    <a16:creationId xmlns:a16="http://schemas.microsoft.com/office/drawing/2014/main" xmlns="" id="{F5D4947B-D02A-0D4B-3CDA-4E9A5A7ACC12}"/>
                  </a:ext>
                </a:extLst>
              </p:cNvPr>
              <p:cNvSpPr txBox="1">
                <a:spLocks noChangeArrowheads="1"/>
              </p:cNvSpPr>
              <p:nvPr/>
            </p:nvSpPr>
            <p:spPr bwMode="auto">
              <a:xfrm>
                <a:off x="3384" y="1040"/>
                <a:ext cx="39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t">
                  <a:spcBef>
                    <a:spcPct val="50000"/>
                  </a:spcBef>
                </a:pPr>
                <a:r>
                  <a:rPr lang="en-US" altLang="zh-CN" sz="2000" b="1">
                    <a:solidFill>
                      <a:srgbClr val="000000"/>
                    </a:solidFill>
                    <a:latin typeface="+mn-ea"/>
                    <a:ea typeface="+mn-ea"/>
                  </a:rPr>
                  <a:t>JT</a:t>
                </a:r>
              </a:p>
            </p:txBody>
          </p:sp>
        </p:grpSp>
        <p:sp>
          <p:nvSpPr>
            <p:cNvPr id="8" name="Text Box 8">
              <a:extLst>
                <a:ext uri="{FF2B5EF4-FFF2-40B4-BE49-F238E27FC236}">
                  <a16:creationId xmlns:a16="http://schemas.microsoft.com/office/drawing/2014/main" xmlns="" id="{33A7F017-23C9-7F45-9AB1-D8B7031EAB64}"/>
                </a:ext>
              </a:extLst>
            </p:cNvPr>
            <p:cNvSpPr txBox="1">
              <a:spLocks noChangeArrowheads="1"/>
            </p:cNvSpPr>
            <p:nvPr/>
          </p:nvSpPr>
          <p:spPr bwMode="auto">
            <a:xfrm>
              <a:off x="232" y="2128"/>
              <a:ext cx="69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t">
                <a:spcBef>
                  <a:spcPct val="50000"/>
                </a:spcBef>
              </a:pPr>
              <a:r>
                <a:rPr lang="zh-CN" altLang="en-US" sz="2000" b="1">
                  <a:solidFill>
                    <a:srgbClr val="FF3300"/>
                  </a:solidFill>
                  <a:latin typeface="+mn-ea"/>
                  <a:ea typeface="+mn-ea"/>
                </a:rPr>
                <a:t>符号</a:t>
              </a:r>
            </a:p>
          </p:txBody>
        </p:sp>
      </p:grpSp>
      <p:sp>
        <p:nvSpPr>
          <p:cNvPr id="11" name="Rectangle 9">
            <a:extLst>
              <a:ext uri="{FF2B5EF4-FFF2-40B4-BE49-F238E27FC236}">
                <a16:creationId xmlns:a16="http://schemas.microsoft.com/office/drawing/2014/main" xmlns="" id="{74FFDC8A-D13D-428C-42DC-98A44872E349}"/>
              </a:ext>
            </a:extLst>
          </p:cNvPr>
          <p:cNvSpPr>
            <a:spLocks noChangeArrowheads="1"/>
          </p:cNvSpPr>
          <p:nvPr/>
        </p:nvSpPr>
        <p:spPr bwMode="auto">
          <a:xfrm>
            <a:off x="1937048" y="3840510"/>
            <a:ext cx="1217000" cy="3895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10000"/>
              </a:lnSpc>
              <a:spcBef>
                <a:spcPct val="20000"/>
              </a:spcBef>
            </a:pPr>
            <a:r>
              <a:rPr lang="zh-CN" altLang="en-US" sz="2000" b="1">
                <a:solidFill>
                  <a:srgbClr val="FF3300"/>
                </a:solidFill>
                <a:latin typeface="+mn-ea"/>
                <a:ea typeface="+mn-ea"/>
              </a:rPr>
              <a:t>等效电路</a:t>
            </a:r>
          </a:p>
        </p:txBody>
      </p:sp>
      <p:sp>
        <p:nvSpPr>
          <p:cNvPr id="12" name="Rectangle 12">
            <a:extLst>
              <a:ext uri="{FF2B5EF4-FFF2-40B4-BE49-F238E27FC236}">
                <a16:creationId xmlns:a16="http://schemas.microsoft.com/office/drawing/2014/main" xmlns="" id="{1BD53945-F38F-FF2F-637B-E1397A58EBD8}"/>
              </a:ext>
            </a:extLst>
          </p:cNvPr>
          <p:cNvSpPr>
            <a:spLocks noChangeArrowheads="1"/>
          </p:cNvSpPr>
          <p:nvPr/>
        </p:nvSpPr>
        <p:spPr bwMode="auto">
          <a:xfrm>
            <a:off x="2641898" y="1562448"/>
            <a:ext cx="838200" cy="2209800"/>
          </a:xfrm>
          <a:prstGeom prst="rect">
            <a:avLst/>
          </a:prstGeom>
          <a:noFill/>
          <a:ln w="19050">
            <a:solidFill>
              <a:srgbClr val="FF6600"/>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aphicFrame>
        <p:nvGraphicFramePr>
          <p:cNvPr id="13" name="Object 10">
            <a:extLst>
              <a:ext uri="{FF2B5EF4-FFF2-40B4-BE49-F238E27FC236}">
                <a16:creationId xmlns:a16="http://schemas.microsoft.com/office/drawing/2014/main" xmlns="" id="{4BBE676B-FA32-3089-F9E9-7F4E48AE6903}"/>
              </a:ext>
            </a:extLst>
          </p:cNvPr>
          <p:cNvGraphicFramePr>
            <a:graphicFrameLocks noChangeAspect="1"/>
          </p:cNvGraphicFramePr>
          <p:nvPr>
            <p:extLst>
              <p:ext uri="{D42A27DB-BD31-4B8C-83A1-F6EECF244321}">
                <p14:modId xmlns:p14="http://schemas.microsoft.com/office/powerpoint/2010/main" val="2151798350"/>
              </p:ext>
            </p:extLst>
          </p:nvPr>
        </p:nvGraphicFramePr>
        <p:xfrm>
          <a:off x="6004025" y="1099964"/>
          <a:ext cx="2028825" cy="965200"/>
        </p:xfrm>
        <a:graphic>
          <a:graphicData uri="http://schemas.openxmlformats.org/presentationml/2006/ole">
            <mc:AlternateContent xmlns:mc="http://schemas.openxmlformats.org/markup-compatibility/2006">
              <mc:Choice xmlns:v="urn:schemas-microsoft-com:vml" Requires="v">
                <p:oleObj spid="_x0000_s155758" r:id="rId5" imgW="1307520" imgH="622440" progId="Equation.3">
                  <p:embed/>
                </p:oleObj>
              </mc:Choice>
              <mc:Fallback>
                <p:oleObj r:id="rId5" imgW="1307520" imgH="62244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04025" y="1099964"/>
                        <a:ext cx="2028825" cy="96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4" name="Object 14">
            <a:extLst>
              <a:ext uri="{FF2B5EF4-FFF2-40B4-BE49-F238E27FC236}">
                <a16:creationId xmlns:a16="http://schemas.microsoft.com/office/drawing/2014/main" xmlns="" id="{047EB5B2-1696-83D7-A05A-DFCA42228D80}"/>
              </a:ext>
            </a:extLst>
          </p:cNvPr>
          <p:cNvGraphicFramePr>
            <a:graphicFrameLocks noChangeAspect="1"/>
          </p:cNvGraphicFramePr>
          <p:nvPr>
            <p:extLst>
              <p:ext uri="{D42A27DB-BD31-4B8C-83A1-F6EECF244321}">
                <p14:modId xmlns:p14="http://schemas.microsoft.com/office/powerpoint/2010/main" val="636005522"/>
              </p:ext>
            </p:extLst>
          </p:nvPr>
        </p:nvGraphicFramePr>
        <p:xfrm>
          <a:off x="5876826" y="2249835"/>
          <a:ext cx="2540000" cy="1187450"/>
        </p:xfrm>
        <a:graphic>
          <a:graphicData uri="http://schemas.openxmlformats.org/presentationml/2006/ole">
            <mc:AlternateContent xmlns:mc="http://schemas.openxmlformats.org/markup-compatibility/2006">
              <mc:Choice xmlns:v="urn:schemas-microsoft-com:vml" Requires="v">
                <p:oleObj spid="_x0000_s155759" r:id="rId7" imgW="2005560" imgH="927000" progId="Equation.3">
                  <p:embed/>
                </p:oleObj>
              </mc:Choice>
              <mc:Fallback>
                <p:oleObj r:id="rId7" imgW="2005560" imgH="9270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876826" y="2249835"/>
                        <a:ext cx="2540000"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5" name="Object 15">
            <a:extLst>
              <a:ext uri="{FF2B5EF4-FFF2-40B4-BE49-F238E27FC236}">
                <a16:creationId xmlns:a16="http://schemas.microsoft.com/office/drawing/2014/main" xmlns="" id="{F2637EE3-5D4A-D71D-2050-AB3B9F647AA6}"/>
              </a:ext>
            </a:extLst>
          </p:cNvPr>
          <p:cNvGraphicFramePr>
            <a:graphicFrameLocks noChangeAspect="1"/>
          </p:cNvGraphicFramePr>
          <p:nvPr>
            <p:extLst>
              <p:ext uri="{D42A27DB-BD31-4B8C-83A1-F6EECF244321}">
                <p14:modId xmlns:p14="http://schemas.microsoft.com/office/powerpoint/2010/main" val="2973817545"/>
              </p:ext>
            </p:extLst>
          </p:nvPr>
        </p:nvGraphicFramePr>
        <p:xfrm>
          <a:off x="6321426" y="3480148"/>
          <a:ext cx="1695450" cy="1016000"/>
        </p:xfrm>
        <a:graphic>
          <a:graphicData uri="http://schemas.openxmlformats.org/presentationml/2006/ole">
            <mc:AlternateContent xmlns:mc="http://schemas.openxmlformats.org/markup-compatibility/2006">
              <mc:Choice xmlns:v="urn:schemas-microsoft-com:vml" Requires="v">
                <p:oleObj spid="_x0000_s155760" r:id="rId9" imgW="1091520" imgH="647640" progId="Equation.3">
                  <p:embed/>
                </p:oleObj>
              </mc:Choice>
              <mc:Fallback>
                <p:oleObj r:id="rId9" imgW="1091520" imgH="64764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321426" y="3480148"/>
                        <a:ext cx="169545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6" name="Rectangle 11">
            <a:extLst>
              <a:ext uri="{FF2B5EF4-FFF2-40B4-BE49-F238E27FC236}">
                <a16:creationId xmlns:a16="http://schemas.microsoft.com/office/drawing/2014/main" xmlns="" id="{F5EF3F9D-6594-E351-3FBB-1140EA26D18E}"/>
              </a:ext>
            </a:extLst>
          </p:cNvPr>
          <p:cNvSpPr>
            <a:spLocks noChangeArrowheads="1"/>
          </p:cNvSpPr>
          <p:nvPr/>
        </p:nvSpPr>
        <p:spPr bwMode="auto">
          <a:xfrm>
            <a:off x="3803750" y="1168748"/>
            <a:ext cx="2200275"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algn="just" fontAlgn="t">
              <a:lnSpc>
                <a:spcPct val="110000"/>
              </a:lnSpc>
              <a:spcBef>
                <a:spcPct val="20000"/>
              </a:spcBef>
              <a:buClr>
                <a:srgbClr val="FF3300"/>
              </a:buClr>
              <a:buSzPct val="60000"/>
              <a:buFont typeface="Marlett" pitchFamily="2" charset="2"/>
              <a:buNone/>
            </a:pPr>
            <a:r>
              <a:rPr lang="zh-CN" altLang="en-US" sz="2000" b="1" dirty="0">
                <a:solidFill>
                  <a:srgbClr val="000000"/>
                </a:solidFill>
                <a:latin typeface="+mn-ea"/>
                <a:ea typeface="+mn-ea"/>
              </a:rPr>
              <a:t>串联谐振频率</a:t>
            </a:r>
            <a:r>
              <a:rPr lang="en-US" altLang="zh-CN" sz="2000" b="1" dirty="0">
                <a:solidFill>
                  <a:srgbClr val="000000"/>
                </a:solidFill>
                <a:latin typeface="+mn-ea"/>
                <a:ea typeface="+mn-ea"/>
              </a:rPr>
              <a:t>:</a:t>
            </a:r>
          </a:p>
        </p:txBody>
      </p:sp>
      <p:sp>
        <p:nvSpPr>
          <p:cNvPr id="17" name="Rectangle 13">
            <a:extLst>
              <a:ext uri="{FF2B5EF4-FFF2-40B4-BE49-F238E27FC236}">
                <a16:creationId xmlns:a16="http://schemas.microsoft.com/office/drawing/2014/main" xmlns="" id="{0BFCF84D-350E-41AB-B5BB-482FB10D3EF9}"/>
              </a:ext>
            </a:extLst>
          </p:cNvPr>
          <p:cNvSpPr>
            <a:spLocks noChangeArrowheads="1"/>
          </p:cNvSpPr>
          <p:nvPr/>
        </p:nvSpPr>
        <p:spPr bwMode="auto">
          <a:xfrm>
            <a:off x="3796135" y="2349848"/>
            <a:ext cx="2428875"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algn="just" fontAlgn="t">
              <a:lnSpc>
                <a:spcPct val="110000"/>
              </a:lnSpc>
              <a:spcBef>
                <a:spcPct val="20000"/>
              </a:spcBef>
              <a:buClr>
                <a:srgbClr val="FF3300"/>
              </a:buClr>
              <a:buSzPct val="60000"/>
              <a:buFont typeface="Marlett" pitchFamily="2" charset="2"/>
              <a:buNone/>
            </a:pPr>
            <a:r>
              <a:rPr lang="zh-CN" altLang="en-US" sz="2000" b="1" dirty="0">
                <a:solidFill>
                  <a:srgbClr val="000000"/>
                </a:solidFill>
                <a:latin typeface="+mn-ea"/>
                <a:ea typeface="+mn-ea"/>
              </a:rPr>
              <a:t>并联谐振频率：</a:t>
            </a:r>
          </a:p>
        </p:txBody>
      </p:sp>
      <p:graphicFrame>
        <p:nvGraphicFramePr>
          <p:cNvPr id="20" name="Object 21">
            <a:extLst>
              <a:ext uri="{FF2B5EF4-FFF2-40B4-BE49-F238E27FC236}">
                <a16:creationId xmlns:a16="http://schemas.microsoft.com/office/drawing/2014/main" xmlns="" id="{D756F028-DD0A-1E77-C961-E62CD858C5DB}"/>
              </a:ext>
            </a:extLst>
          </p:cNvPr>
          <p:cNvGraphicFramePr>
            <a:graphicFrameLocks noChangeAspect="1"/>
          </p:cNvGraphicFramePr>
          <p:nvPr>
            <p:extLst>
              <p:ext uri="{D42A27DB-BD31-4B8C-83A1-F6EECF244321}">
                <p14:modId xmlns:p14="http://schemas.microsoft.com/office/powerpoint/2010/main" val="3598156897"/>
              </p:ext>
            </p:extLst>
          </p:nvPr>
        </p:nvGraphicFramePr>
        <p:xfrm>
          <a:off x="5950187" y="4434562"/>
          <a:ext cx="2176462" cy="441326"/>
        </p:xfrm>
        <a:graphic>
          <a:graphicData uri="http://schemas.openxmlformats.org/presentationml/2006/ole">
            <mc:AlternateContent xmlns:mc="http://schemas.openxmlformats.org/markup-compatibility/2006">
              <mc:Choice xmlns:v="urn:schemas-microsoft-com:vml" Requires="v">
                <p:oleObj spid="_x0000_s155761" r:id="rId11" imgW="1180588" imgH="241195" progId="Equation.3">
                  <p:embed/>
                </p:oleObj>
              </mc:Choice>
              <mc:Fallback>
                <p:oleObj r:id="rId11" imgW="1180588" imgH="241195"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950187" y="4434562"/>
                        <a:ext cx="2176462" cy="441326"/>
                      </a:xfrm>
                      <a:prstGeom prst="rect">
                        <a:avLst/>
                      </a:prstGeom>
                      <a:noFill/>
                      <a:ln>
                        <a:noFill/>
                      </a:ln>
                      <a:extLst/>
                    </p:spPr>
                  </p:pic>
                </p:oleObj>
              </mc:Fallback>
            </mc:AlternateContent>
          </a:graphicData>
        </a:graphic>
      </p:graphicFrame>
    </p:spTree>
    <p:extLst>
      <p:ext uri="{BB962C8B-B14F-4D97-AF65-F5344CB8AC3E}">
        <p14:creationId xmlns:p14="http://schemas.microsoft.com/office/powerpoint/2010/main" val="1190510967"/>
      </p:ext>
    </p:extLst>
  </p:cSld>
  <p:clrMapOvr>
    <a:masterClrMapping/>
  </p:clrMapOvr>
  <p:timing>
    <p:tnLst>
      <p:par>
        <p:cTn id="1" dur="indefinite" restart="never" nodeType="tmRoot"/>
      </p:par>
    </p:tnLst>
  </p:timing>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199</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5.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正弦波</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振荡器</a:t>
            </a:r>
          </a:p>
        </p:txBody>
      </p:sp>
      <p:sp>
        <p:nvSpPr>
          <p:cNvPr id="5" name="Rectangle 2">
            <a:extLst>
              <a:ext uri="{FF2B5EF4-FFF2-40B4-BE49-F238E27FC236}">
                <a16:creationId xmlns:a16="http://schemas.microsoft.com/office/drawing/2014/main" xmlns="" id="{75A4A59B-F3C2-3D2E-6151-82E9CA5179E7}"/>
              </a:ext>
            </a:extLst>
          </p:cNvPr>
          <p:cNvSpPr>
            <a:spLocks noChangeArrowheads="1"/>
          </p:cNvSpPr>
          <p:nvPr/>
        </p:nvSpPr>
        <p:spPr bwMode="auto">
          <a:xfrm>
            <a:off x="503164" y="1205085"/>
            <a:ext cx="6692900" cy="4489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algn="just">
              <a:lnSpc>
                <a:spcPct val="110000"/>
              </a:lnSpc>
              <a:spcBef>
                <a:spcPct val="20000"/>
              </a:spcBef>
              <a:buClr>
                <a:schemeClr val="folHlink"/>
              </a:buClr>
              <a:buSzPct val="60000"/>
              <a:buFont typeface="Wingdings" panose="05000000000000000000" pitchFamily="2" charset="2"/>
              <a:buNone/>
            </a:pPr>
            <a:r>
              <a:rPr lang="en-US" altLang="zh-CN" sz="2400" b="1" dirty="0">
                <a:solidFill>
                  <a:schemeClr val="tx1"/>
                </a:solidFill>
                <a:latin typeface="+mn-ea"/>
                <a:ea typeface="+mn-ea"/>
              </a:rPr>
              <a:t>3. </a:t>
            </a:r>
            <a:r>
              <a:rPr lang="zh-CN" altLang="en-US" sz="2400" b="1" dirty="0">
                <a:solidFill>
                  <a:schemeClr val="tx1"/>
                </a:solidFill>
                <a:latin typeface="+mn-ea"/>
                <a:ea typeface="+mn-ea"/>
              </a:rPr>
              <a:t>石英晶体的电抗特性</a:t>
            </a:r>
          </a:p>
        </p:txBody>
      </p:sp>
      <p:grpSp>
        <p:nvGrpSpPr>
          <p:cNvPr id="6" name="Group 3">
            <a:extLst>
              <a:ext uri="{FF2B5EF4-FFF2-40B4-BE49-F238E27FC236}">
                <a16:creationId xmlns:a16="http://schemas.microsoft.com/office/drawing/2014/main" xmlns="" id="{05CC12E7-2D83-0A14-0269-0A427062556E}"/>
              </a:ext>
            </a:extLst>
          </p:cNvPr>
          <p:cNvGrpSpPr>
            <a:grpSpLocks/>
          </p:cNvGrpSpPr>
          <p:nvPr/>
        </p:nvGrpSpPr>
        <p:grpSpPr bwMode="auto">
          <a:xfrm>
            <a:off x="6129264" y="2371751"/>
            <a:ext cx="2911475" cy="2133600"/>
            <a:chOff x="1680" y="2688"/>
            <a:chExt cx="1834" cy="1344"/>
          </a:xfrm>
        </p:grpSpPr>
        <p:sp>
          <p:nvSpPr>
            <p:cNvPr id="7" name="Line 4">
              <a:extLst>
                <a:ext uri="{FF2B5EF4-FFF2-40B4-BE49-F238E27FC236}">
                  <a16:creationId xmlns:a16="http://schemas.microsoft.com/office/drawing/2014/main" xmlns="" id="{748AF7EA-F457-B46E-B379-F7ADEBAAA241}"/>
                </a:ext>
              </a:extLst>
            </p:cNvPr>
            <p:cNvSpPr>
              <a:spLocks noChangeShapeType="1"/>
            </p:cNvSpPr>
            <p:nvPr/>
          </p:nvSpPr>
          <p:spPr bwMode="auto">
            <a:xfrm>
              <a:off x="1920" y="3408"/>
              <a:ext cx="1248"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000">
                <a:solidFill>
                  <a:schemeClr val="tx1"/>
                </a:solidFill>
                <a:latin typeface="+mn-ea"/>
                <a:ea typeface="+mn-ea"/>
              </a:endParaRPr>
            </a:p>
          </p:txBody>
        </p:sp>
        <p:sp>
          <p:nvSpPr>
            <p:cNvPr id="8" name="Line 5">
              <a:extLst>
                <a:ext uri="{FF2B5EF4-FFF2-40B4-BE49-F238E27FC236}">
                  <a16:creationId xmlns:a16="http://schemas.microsoft.com/office/drawing/2014/main" xmlns="" id="{019D6DD9-4170-A284-B997-88464710E6C7}"/>
                </a:ext>
              </a:extLst>
            </p:cNvPr>
            <p:cNvSpPr>
              <a:spLocks noChangeShapeType="1"/>
            </p:cNvSpPr>
            <p:nvPr/>
          </p:nvSpPr>
          <p:spPr bwMode="auto">
            <a:xfrm rot="-5400000">
              <a:off x="1248" y="3360"/>
              <a:ext cx="1344"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000">
                <a:solidFill>
                  <a:schemeClr val="tx1"/>
                </a:solidFill>
                <a:latin typeface="+mn-ea"/>
                <a:ea typeface="+mn-ea"/>
              </a:endParaRPr>
            </a:p>
          </p:txBody>
        </p:sp>
        <p:sp>
          <p:nvSpPr>
            <p:cNvPr id="9" name="Freeform 6">
              <a:extLst>
                <a:ext uri="{FF2B5EF4-FFF2-40B4-BE49-F238E27FC236}">
                  <a16:creationId xmlns:a16="http://schemas.microsoft.com/office/drawing/2014/main" xmlns="" id="{24715953-18AD-719A-6D23-C347539E1BF6}"/>
                </a:ext>
              </a:extLst>
            </p:cNvPr>
            <p:cNvSpPr>
              <a:spLocks noChangeArrowheads="1"/>
            </p:cNvSpPr>
            <p:nvPr/>
          </p:nvSpPr>
          <p:spPr bwMode="auto">
            <a:xfrm>
              <a:off x="2064" y="3408"/>
              <a:ext cx="288" cy="624"/>
            </a:xfrm>
            <a:custGeom>
              <a:avLst/>
              <a:gdLst>
                <a:gd name="T0" fmla="*/ 336 w 336"/>
                <a:gd name="T1" fmla="*/ 0 h 624"/>
                <a:gd name="T2" fmla="*/ 144 w 336"/>
                <a:gd name="T3" fmla="*/ 144 h 624"/>
                <a:gd name="T4" fmla="*/ 0 w 336"/>
                <a:gd name="T5" fmla="*/ 624 h 624"/>
              </a:gdLst>
              <a:ahLst/>
              <a:cxnLst>
                <a:cxn ang="0">
                  <a:pos x="T0" y="T1"/>
                </a:cxn>
                <a:cxn ang="0">
                  <a:pos x="T2" y="T3"/>
                </a:cxn>
                <a:cxn ang="0">
                  <a:pos x="T4" y="T5"/>
                </a:cxn>
              </a:cxnLst>
              <a:rect l="0" t="0" r="r" b="b"/>
              <a:pathLst>
                <a:path w="336" h="624">
                  <a:moveTo>
                    <a:pt x="336" y="0"/>
                  </a:moveTo>
                  <a:cubicBezTo>
                    <a:pt x="268" y="20"/>
                    <a:pt x="200" y="40"/>
                    <a:pt x="144" y="144"/>
                  </a:cubicBezTo>
                  <a:cubicBezTo>
                    <a:pt x="88" y="248"/>
                    <a:pt x="44" y="436"/>
                    <a:pt x="0" y="624"/>
                  </a:cubicBezTo>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2000">
                <a:solidFill>
                  <a:schemeClr val="tx1"/>
                </a:solidFill>
                <a:latin typeface="+mn-ea"/>
                <a:ea typeface="+mn-ea"/>
              </a:endParaRPr>
            </a:p>
          </p:txBody>
        </p:sp>
        <p:sp>
          <p:nvSpPr>
            <p:cNvPr id="10" name="Freeform 7">
              <a:extLst>
                <a:ext uri="{FF2B5EF4-FFF2-40B4-BE49-F238E27FC236}">
                  <a16:creationId xmlns:a16="http://schemas.microsoft.com/office/drawing/2014/main" xmlns="" id="{9F9735A4-1E76-4AF0-ED12-140632594C5F}"/>
                </a:ext>
              </a:extLst>
            </p:cNvPr>
            <p:cNvSpPr>
              <a:spLocks noChangeArrowheads="1"/>
            </p:cNvSpPr>
            <p:nvPr/>
          </p:nvSpPr>
          <p:spPr bwMode="auto">
            <a:xfrm flipH="1" flipV="1">
              <a:off x="2352" y="2784"/>
              <a:ext cx="240" cy="624"/>
            </a:xfrm>
            <a:custGeom>
              <a:avLst/>
              <a:gdLst>
                <a:gd name="T0" fmla="*/ 336 w 336"/>
                <a:gd name="T1" fmla="*/ 0 h 624"/>
                <a:gd name="T2" fmla="*/ 144 w 336"/>
                <a:gd name="T3" fmla="*/ 144 h 624"/>
                <a:gd name="T4" fmla="*/ 0 w 336"/>
                <a:gd name="T5" fmla="*/ 624 h 624"/>
              </a:gdLst>
              <a:ahLst/>
              <a:cxnLst>
                <a:cxn ang="0">
                  <a:pos x="T0" y="T1"/>
                </a:cxn>
                <a:cxn ang="0">
                  <a:pos x="T2" y="T3"/>
                </a:cxn>
                <a:cxn ang="0">
                  <a:pos x="T4" y="T5"/>
                </a:cxn>
              </a:cxnLst>
              <a:rect l="0" t="0" r="r" b="b"/>
              <a:pathLst>
                <a:path w="336" h="624">
                  <a:moveTo>
                    <a:pt x="336" y="0"/>
                  </a:moveTo>
                  <a:cubicBezTo>
                    <a:pt x="268" y="20"/>
                    <a:pt x="200" y="40"/>
                    <a:pt x="144" y="144"/>
                  </a:cubicBezTo>
                  <a:cubicBezTo>
                    <a:pt x="88" y="248"/>
                    <a:pt x="44" y="436"/>
                    <a:pt x="0" y="624"/>
                  </a:cubicBezTo>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2000">
                <a:solidFill>
                  <a:schemeClr val="tx1"/>
                </a:solidFill>
                <a:latin typeface="+mn-ea"/>
                <a:ea typeface="+mn-ea"/>
              </a:endParaRPr>
            </a:p>
          </p:txBody>
        </p:sp>
        <p:sp>
          <p:nvSpPr>
            <p:cNvPr id="11" name="Freeform 8">
              <a:extLst>
                <a:ext uri="{FF2B5EF4-FFF2-40B4-BE49-F238E27FC236}">
                  <a16:creationId xmlns:a16="http://schemas.microsoft.com/office/drawing/2014/main" xmlns="" id="{890C5B29-0B59-3995-F578-190766531EC2}"/>
                </a:ext>
              </a:extLst>
            </p:cNvPr>
            <p:cNvSpPr>
              <a:spLocks noChangeArrowheads="1"/>
            </p:cNvSpPr>
            <p:nvPr/>
          </p:nvSpPr>
          <p:spPr bwMode="auto">
            <a:xfrm>
              <a:off x="2688" y="3456"/>
              <a:ext cx="336" cy="576"/>
            </a:xfrm>
            <a:custGeom>
              <a:avLst/>
              <a:gdLst>
                <a:gd name="T0" fmla="*/ 336 w 336"/>
                <a:gd name="T1" fmla="*/ 0 h 624"/>
                <a:gd name="T2" fmla="*/ 144 w 336"/>
                <a:gd name="T3" fmla="*/ 144 h 624"/>
                <a:gd name="T4" fmla="*/ 0 w 336"/>
                <a:gd name="T5" fmla="*/ 624 h 624"/>
              </a:gdLst>
              <a:ahLst/>
              <a:cxnLst>
                <a:cxn ang="0">
                  <a:pos x="T0" y="T1"/>
                </a:cxn>
                <a:cxn ang="0">
                  <a:pos x="T2" y="T3"/>
                </a:cxn>
                <a:cxn ang="0">
                  <a:pos x="T4" y="T5"/>
                </a:cxn>
              </a:cxnLst>
              <a:rect l="0" t="0" r="r" b="b"/>
              <a:pathLst>
                <a:path w="336" h="624">
                  <a:moveTo>
                    <a:pt x="336" y="0"/>
                  </a:moveTo>
                  <a:cubicBezTo>
                    <a:pt x="268" y="20"/>
                    <a:pt x="200" y="40"/>
                    <a:pt x="144" y="144"/>
                  </a:cubicBezTo>
                  <a:cubicBezTo>
                    <a:pt x="88" y="248"/>
                    <a:pt x="44" y="436"/>
                    <a:pt x="0" y="624"/>
                  </a:cubicBezTo>
                </a:path>
              </a:pathLst>
            </a:custGeom>
            <a:noFill/>
            <a:ln w="3810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2000">
                <a:solidFill>
                  <a:schemeClr val="tx1"/>
                </a:solidFill>
                <a:latin typeface="+mn-ea"/>
                <a:ea typeface="+mn-ea"/>
              </a:endParaRPr>
            </a:p>
          </p:txBody>
        </p:sp>
        <p:sp>
          <p:nvSpPr>
            <p:cNvPr id="12" name="Line 9">
              <a:extLst>
                <a:ext uri="{FF2B5EF4-FFF2-40B4-BE49-F238E27FC236}">
                  <a16:creationId xmlns:a16="http://schemas.microsoft.com/office/drawing/2014/main" xmlns="" id="{F2DB9573-69E3-302E-53AC-4972D61AF5BD}"/>
                </a:ext>
              </a:extLst>
            </p:cNvPr>
            <p:cNvSpPr>
              <a:spLocks noChangeShapeType="1"/>
            </p:cNvSpPr>
            <p:nvPr/>
          </p:nvSpPr>
          <p:spPr bwMode="auto">
            <a:xfrm>
              <a:off x="2640" y="2736"/>
              <a:ext cx="0" cy="1248"/>
            </a:xfrm>
            <a:prstGeom prst="line">
              <a:avLst/>
            </a:prstGeom>
            <a:noFill/>
            <a:ln w="28575">
              <a:solidFill>
                <a:srgbClr val="0000FF"/>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2000">
                <a:solidFill>
                  <a:schemeClr val="tx1"/>
                </a:solidFill>
                <a:latin typeface="+mn-ea"/>
                <a:ea typeface="+mn-ea"/>
              </a:endParaRPr>
            </a:p>
          </p:txBody>
        </p:sp>
        <p:sp>
          <p:nvSpPr>
            <p:cNvPr id="13" name="Text Box 10">
              <a:extLst>
                <a:ext uri="{FF2B5EF4-FFF2-40B4-BE49-F238E27FC236}">
                  <a16:creationId xmlns:a16="http://schemas.microsoft.com/office/drawing/2014/main" xmlns="" id="{AFF7DC2D-8D56-0E01-3881-CE7D92F29DF5}"/>
                </a:ext>
              </a:extLst>
            </p:cNvPr>
            <p:cNvSpPr txBox="1">
              <a:spLocks noChangeArrowheads="1"/>
            </p:cNvSpPr>
            <p:nvPr/>
          </p:nvSpPr>
          <p:spPr bwMode="auto">
            <a:xfrm>
              <a:off x="3216" y="3264"/>
              <a:ext cx="29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p>
              <a:r>
                <a:rPr lang="en-US" altLang="zh-CN" sz="2000" b="1" i="1">
                  <a:solidFill>
                    <a:schemeClr val="tx1"/>
                  </a:solidFill>
                  <a:latin typeface="+mn-ea"/>
                  <a:ea typeface="+mn-ea"/>
                </a:rPr>
                <a:t>f</a:t>
              </a:r>
            </a:p>
          </p:txBody>
        </p:sp>
        <p:sp>
          <p:nvSpPr>
            <p:cNvPr id="14" name="Rectangle 11">
              <a:extLst>
                <a:ext uri="{FF2B5EF4-FFF2-40B4-BE49-F238E27FC236}">
                  <a16:creationId xmlns:a16="http://schemas.microsoft.com/office/drawing/2014/main" xmlns="" id="{19A2548B-DED5-558C-B9A0-454D76DB6438}"/>
                </a:ext>
              </a:extLst>
            </p:cNvPr>
            <p:cNvSpPr>
              <a:spLocks noChangeArrowheads="1"/>
            </p:cNvSpPr>
            <p:nvPr/>
          </p:nvSpPr>
          <p:spPr bwMode="auto">
            <a:xfrm>
              <a:off x="1680" y="2688"/>
              <a:ext cx="19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p>
              <a:r>
                <a:rPr lang="en-US" altLang="zh-CN" sz="2000" b="1" i="1">
                  <a:solidFill>
                    <a:schemeClr val="tx1"/>
                  </a:solidFill>
                  <a:latin typeface="+mn-ea"/>
                  <a:ea typeface="+mn-ea"/>
                </a:rPr>
                <a:t>X</a:t>
              </a:r>
              <a:endParaRPr lang="en-US" altLang="zh-CN" sz="2000" b="1" i="1" baseline="-25000">
                <a:solidFill>
                  <a:schemeClr val="tx1"/>
                </a:solidFill>
                <a:latin typeface="+mn-ea"/>
                <a:ea typeface="+mn-ea"/>
              </a:endParaRPr>
            </a:p>
          </p:txBody>
        </p:sp>
        <p:sp>
          <p:nvSpPr>
            <p:cNvPr id="15" name="Line 12">
              <a:extLst>
                <a:ext uri="{FF2B5EF4-FFF2-40B4-BE49-F238E27FC236}">
                  <a16:creationId xmlns:a16="http://schemas.microsoft.com/office/drawing/2014/main" xmlns="" id="{0109C117-DBF2-1BCB-B891-4DE2D8ADA36A}"/>
                </a:ext>
              </a:extLst>
            </p:cNvPr>
            <p:cNvSpPr>
              <a:spLocks noChangeShapeType="1"/>
            </p:cNvSpPr>
            <p:nvPr/>
          </p:nvSpPr>
          <p:spPr bwMode="auto">
            <a:xfrm>
              <a:off x="2352" y="2736"/>
              <a:ext cx="0" cy="1296"/>
            </a:xfrm>
            <a:prstGeom prst="line">
              <a:avLst/>
            </a:prstGeom>
            <a:noFill/>
            <a:ln w="28575">
              <a:solidFill>
                <a:srgbClr val="0000FF"/>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2000">
                <a:solidFill>
                  <a:schemeClr val="tx1"/>
                </a:solidFill>
                <a:latin typeface="+mn-ea"/>
                <a:ea typeface="+mn-ea"/>
              </a:endParaRPr>
            </a:p>
          </p:txBody>
        </p:sp>
        <p:sp>
          <p:nvSpPr>
            <p:cNvPr id="16" name="Text Box 13">
              <a:extLst>
                <a:ext uri="{FF2B5EF4-FFF2-40B4-BE49-F238E27FC236}">
                  <a16:creationId xmlns:a16="http://schemas.microsoft.com/office/drawing/2014/main" xmlns="" id="{BE84BFBC-435F-45CB-0B76-592479F2BB8C}"/>
                </a:ext>
              </a:extLst>
            </p:cNvPr>
            <p:cNvSpPr txBox="1">
              <a:spLocks noChangeArrowheads="1"/>
            </p:cNvSpPr>
            <p:nvPr/>
          </p:nvSpPr>
          <p:spPr bwMode="auto">
            <a:xfrm>
              <a:off x="2688" y="3120"/>
              <a:ext cx="29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p>
              <a:r>
                <a:rPr lang="en-US" altLang="zh-CN" sz="2000" b="1" i="1" dirty="0" err="1">
                  <a:solidFill>
                    <a:schemeClr val="accent2"/>
                  </a:solidFill>
                  <a:latin typeface="+mn-ea"/>
                  <a:ea typeface="+mn-ea"/>
                </a:rPr>
                <a:t>f</a:t>
              </a:r>
              <a:r>
                <a:rPr lang="en-US" altLang="zh-CN" sz="2000" b="1" baseline="-25000" dirty="0" err="1">
                  <a:solidFill>
                    <a:schemeClr val="accent2"/>
                  </a:solidFill>
                  <a:latin typeface="+mn-ea"/>
                  <a:ea typeface="+mn-ea"/>
                </a:rPr>
                <a:t>P</a:t>
              </a:r>
              <a:endParaRPr lang="en-US" altLang="zh-CN" sz="2000" b="1" baseline="-25000" dirty="0">
                <a:solidFill>
                  <a:schemeClr val="accent2"/>
                </a:solidFill>
                <a:latin typeface="+mn-ea"/>
                <a:ea typeface="+mn-ea"/>
              </a:endParaRPr>
            </a:p>
          </p:txBody>
        </p:sp>
        <p:sp>
          <p:nvSpPr>
            <p:cNvPr id="17" name="Text Box 14">
              <a:extLst>
                <a:ext uri="{FF2B5EF4-FFF2-40B4-BE49-F238E27FC236}">
                  <a16:creationId xmlns:a16="http://schemas.microsoft.com/office/drawing/2014/main" xmlns="" id="{5EA8F453-DC01-DA0F-CD0E-D466D72EDD14}"/>
                </a:ext>
              </a:extLst>
            </p:cNvPr>
            <p:cNvSpPr txBox="1">
              <a:spLocks noChangeArrowheads="1"/>
            </p:cNvSpPr>
            <p:nvPr/>
          </p:nvSpPr>
          <p:spPr bwMode="auto">
            <a:xfrm>
              <a:off x="2064" y="3120"/>
              <a:ext cx="29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p>
              <a:r>
                <a:rPr lang="en-US" altLang="zh-CN" sz="2000" b="1" i="1" dirty="0" err="1">
                  <a:solidFill>
                    <a:srgbClr val="FF0000"/>
                  </a:solidFill>
                  <a:latin typeface="+mn-ea"/>
                  <a:ea typeface="+mn-ea"/>
                </a:rPr>
                <a:t>f</a:t>
              </a:r>
              <a:r>
                <a:rPr lang="en-US" altLang="zh-CN" sz="2000" b="1" baseline="-25000" dirty="0" err="1">
                  <a:solidFill>
                    <a:srgbClr val="FF0000"/>
                  </a:solidFill>
                  <a:latin typeface="+mn-ea"/>
                  <a:ea typeface="+mn-ea"/>
                </a:rPr>
                <a:t>q</a:t>
              </a:r>
              <a:endParaRPr lang="en-US" altLang="zh-CN" sz="2000" b="1" baseline="-25000" dirty="0">
                <a:solidFill>
                  <a:srgbClr val="FF0000"/>
                </a:solidFill>
                <a:latin typeface="+mn-ea"/>
                <a:ea typeface="+mn-ea"/>
              </a:endParaRPr>
            </a:p>
          </p:txBody>
        </p:sp>
      </p:grpSp>
      <p:sp>
        <p:nvSpPr>
          <p:cNvPr id="18" name="Text Box 15">
            <a:extLst>
              <a:ext uri="{FF2B5EF4-FFF2-40B4-BE49-F238E27FC236}">
                <a16:creationId xmlns:a16="http://schemas.microsoft.com/office/drawing/2014/main" xmlns="" id="{DD6F9546-5426-3A63-8695-A4FC56154E5C}"/>
              </a:ext>
            </a:extLst>
          </p:cNvPr>
          <p:cNvSpPr txBox="1">
            <a:spLocks noChangeArrowheads="1"/>
          </p:cNvSpPr>
          <p:nvPr/>
        </p:nvSpPr>
        <p:spPr bwMode="auto">
          <a:xfrm>
            <a:off x="6561064" y="3737001"/>
            <a:ext cx="70083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p>
            <a:r>
              <a:rPr lang="zh-CN" altLang="en-US" sz="2000">
                <a:solidFill>
                  <a:schemeClr val="tx1"/>
                </a:solidFill>
                <a:latin typeface="+mn-ea"/>
                <a:ea typeface="+mn-ea"/>
              </a:rPr>
              <a:t>容性</a:t>
            </a:r>
          </a:p>
        </p:txBody>
      </p:sp>
      <p:sp>
        <p:nvSpPr>
          <p:cNvPr id="19" name="Text Box 16">
            <a:extLst>
              <a:ext uri="{FF2B5EF4-FFF2-40B4-BE49-F238E27FC236}">
                <a16:creationId xmlns:a16="http://schemas.microsoft.com/office/drawing/2014/main" xmlns="" id="{B91BA5CA-DB74-D795-58A7-68358CCBA27F}"/>
              </a:ext>
            </a:extLst>
          </p:cNvPr>
          <p:cNvSpPr txBox="1">
            <a:spLocks noChangeArrowheads="1"/>
          </p:cNvSpPr>
          <p:nvPr/>
        </p:nvSpPr>
        <p:spPr bwMode="auto">
          <a:xfrm>
            <a:off x="7850114" y="3768751"/>
            <a:ext cx="7937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p>
            <a:r>
              <a:rPr lang="zh-CN" altLang="en-US" sz="2000">
                <a:solidFill>
                  <a:schemeClr val="tx1"/>
                </a:solidFill>
                <a:latin typeface="+mn-ea"/>
                <a:ea typeface="+mn-ea"/>
              </a:rPr>
              <a:t>容性</a:t>
            </a:r>
          </a:p>
        </p:txBody>
      </p:sp>
      <p:sp>
        <p:nvSpPr>
          <p:cNvPr id="20" name="Text Box 17">
            <a:extLst>
              <a:ext uri="{FF2B5EF4-FFF2-40B4-BE49-F238E27FC236}">
                <a16:creationId xmlns:a16="http://schemas.microsoft.com/office/drawing/2014/main" xmlns="" id="{6962B223-04C4-C1A5-5C8E-F4651615B163}"/>
              </a:ext>
            </a:extLst>
          </p:cNvPr>
          <p:cNvSpPr txBox="1">
            <a:spLocks noChangeArrowheads="1"/>
          </p:cNvSpPr>
          <p:nvPr/>
        </p:nvSpPr>
        <p:spPr bwMode="auto">
          <a:xfrm>
            <a:off x="7069064" y="2136801"/>
            <a:ext cx="70083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p>
            <a:r>
              <a:rPr lang="zh-CN" altLang="en-US" sz="2000">
                <a:solidFill>
                  <a:schemeClr val="tx1"/>
                </a:solidFill>
                <a:latin typeface="+mn-ea"/>
                <a:ea typeface="+mn-ea"/>
              </a:rPr>
              <a:t>感性</a:t>
            </a:r>
          </a:p>
        </p:txBody>
      </p:sp>
      <p:grpSp>
        <p:nvGrpSpPr>
          <p:cNvPr id="21" name="Group 18">
            <a:extLst>
              <a:ext uri="{FF2B5EF4-FFF2-40B4-BE49-F238E27FC236}">
                <a16:creationId xmlns:a16="http://schemas.microsoft.com/office/drawing/2014/main" xmlns="" id="{FFF5F244-A029-E7C1-43E3-0CC7C51055AF}"/>
              </a:ext>
            </a:extLst>
          </p:cNvPr>
          <p:cNvGrpSpPr>
            <a:grpSpLocks/>
          </p:cNvGrpSpPr>
          <p:nvPr/>
        </p:nvGrpSpPr>
        <p:grpSpPr bwMode="auto">
          <a:xfrm>
            <a:off x="755576" y="1727226"/>
            <a:ext cx="2640013" cy="558800"/>
            <a:chOff x="500" y="587"/>
            <a:chExt cx="1663" cy="352"/>
          </a:xfrm>
        </p:grpSpPr>
        <p:sp>
          <p:nvSpPr>
            <p:cNvPr id="22" name="Rectangle 19">
              <a:extLst>
                <a:ext uri="{FF2B5EF4-FFF2-40B4-BE49-F238E27FC236}">
                  <a16:creationId xmlns:a16="http://schemas.microsoft.com/office/drawing/2014/main" xmlns="" id="{3BF489A6-2285-BA2C-5E67-9C992E2D28CF}"/>
                </a:ext>
              </a:extLst>
            </p:cNvPr>
            <p:cNvSpPr>
              <a:spLocks noChangeArrowheads="1"/>
            </p:cNvSpPr>
            <p:nvPr/>
          </p:nvSpPr>
          <p:spPr bwMode="auto">
            <a:xfrm>
              <a:off x="500" y="635"/>
              <a:ext cx="166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2075" tIns="46038" rIns="92075" bIns="46038">
              <a:spAutoFit/>
            </a:bodyPr>
            <a:lstStyle/>
            <a:p>
              <a:pPr eaLnBrk="0" hangingPunct="0">
                <a:spcBef>
                  <a:spcPct val="50000"/>
                </a:spcBef>
                <a:spcAft>
                  <a:spcPct val="50000"/>
                </a:spcAft>
              </a:pPr>
              <a:r>
                <a:rPr lang="zh-CN" altLang="en-US" sz="2000" b="1" dirty="0">
                  <a:solidFill>
                    <a:schemeClr val="tx1"/>
                  </a:solidFill>
                  <a:latin typeface="+mn-ea"/>
                  <a:ea typeface="+mn-ea"/>
                </a:rPr>
                <a:t>忽略   时，总阻抗为</a:t>
              </a:r>
            </a:p>
          </p:txBody>
        </p:sp>
        <p:pic>
          <p:nvPicPr>
            <p:cNvPr id="23" name="Picture 20">
              <a:extLst>
                <a:ext uri="{FF2B5EF4-FFF2-40B4-BE49-F238E27FC236}">
                  <a16:creationId xmlns:a16="http://schemas.microsoft.com/office/drawing/2014/main" xmlns="" id="{A6E06B9E-3337-9927-DF8F-474C1C767F3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08" y="587"/>
              <a:ext cx="211" cy="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4" name="AutoShape 21">
            <a:extLst>
              <a:ext uri="{FF2B5EF4-FFF2-40B4-BE49-F238E27FC236}">
                <a16:creationId xmlns:a16="http://schemas.microsoft.com/office/drawing/2014/main" xmlns="" id="{EDADD934-D49D-BADA-589C-CF912D244D8D}"/>
              </a:ext>
            </a:extLst>
          </p:cNvPr>
          <p:cNvSpPr>
            <a:spLocks noChangeAspect="1" noChangeArrowheads="1" noTextEdit="1"/>
          </p:cNvSpPr>
          <p:nvPr/>
        </p:nvSpPr>
        <p:spPr bwMode="auto">
          <a:xfrm>
            <a:off x="1231898" y="4142668"/>
            <a:ext cx="4343400" cy="161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5" name="Rectangle 22">
            <a:extLst>
              <a:ext uri="{FF2B5EF4-FFF2-40B4-BE49-F238E27FC236}">
                <a16:creationId xmlns:a16="http://schemas.microsoft.com/office/drawing/2014/main" xmlns="" id="{F43E27D2-8AE1-32A6-5CFD-A35A76C1AC9A}"/>
              </a:ext>
            </a:extLst>
          </p:cNvPr>
          <p:cNvSpPr>
            <a:spLocks noChangeArrowheads="1"/>
          </p:cNvSpPr>
          <p:nvPr/>
        </p:nvSpPr>
        <p:spPr bwMode="auto">
          <a:xfrm>
            <a:off x="3669156" y="5079430"/>
            <a:ext cx="104616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fontAlgn="t">
              <a:spcBef>
                <a:spcPct val="50000"/>
              </a:spcBef>
            </a:pPr>
            <a:r>
              <a:rPr lang="zh-CN" altLang="en-US" sz="2000" b="1" dirty="0">
                <a:solidFill>
                  <a:schemeClr val="tx1"/>
                </a:solidFill>
                <a:latin typeface="+mn-ea"/>
                <a:ea typeface="+mn-ea"/>
              </a:rPr>
              <a:t>呈</a:t>
            </a:r>
            <a:r>
              <a:rPr lang="zh-CN" altLang="en-US" sz="2000" b="1" dirty="0">
                <a:solidFill>
                  <a:srgbClr val="FF0000"/>
                </a:solidFill>
                <a:latin typeface="+mn-ea"/>
                <a:ea typeface="+mn-ea"/>
              </a:rPr>
              <a:t>感性</a:t>
            </a:r>
          </a:p>
        </p:txBody>
      </p:sp>
      <p:sp>
        <p:nvSpPr>
          <p:cNvPr id="26" name="Rectangle 23">
            <a:extLst>
              <a:ext uri="{FF2B5EF4-FFF2-40B4-BE49-F238E27FC236}">
                <a16:creationId xmlns:a16="http://schemas.microsoft.com/office/drawing/2014/main" xmlns="" id="{F13B4426-0D03-0ED5-072F-BC510D77A4F5}"/>
              </a:ext>
            </a:extLst>
          </p:cNvPr>
          <p:cNvSpPr>
            <a:spLocks noChangeArrowheads="1"/>
          </p:cNvSpPr>
          <p:nvPr/>
        </p:nvSpPr>
        <p:spPr bwMode="auto">
          <a:xfrm>
            <a:off x="4271463" y="4521106"/>
            <a:ext cx="108426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fontAlgn="t">
              <a:spcBef>
                <a:spcPct val="50000"/>
              </a:spcBef>
            </a:pPr>
            <a:r>
              <a:rPr lang="zh-CN" altLang="en-US" sz="2000" b="1" dirty="0">
                <a:solidFill>
                  <a:schemeClr val="tx1"/>
                </a:solidFill>
                <a:latin typeface="+mn-ea"/>
                <a:ea typeface="+mn-ea"/>
              </a:rPr>
              <a:t>呈容性</a:t>
            </a:r>
          </a:p>
        </p:txBody>
      </p:sp>
      <p:sp>
        <p:nvSpPr>
          <p:cNvPr id="27" name="Rectangle 24">
            <a:extLst>
              <a:ext uri="{FF2B5EF4-FFF2-40B4-BE49-F238E27FC236}">
                <a16:creationId xmlns:a16="http://schemas.microsoft.com/office/drawing/2014/main" xmlns="" id="{B00AF332-1749-7BEB-52FA-891490FD5B06}"/>
              </a:ext>
            </a:extLst>
          </p:cNvPr>
          <p:cNvSpPr>
            <a:spLocks noChangeArrowheads="1"/>
          </p:cNvSpPr>
          <p:nvPr/>
        </p:nvSpPr>
        <p:spPr bwMode="auto">
          <a:xfrm>
            <a:off x="3429792" y="4055580"/>
            <a:ext cx="165893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fontAlgn="t">
              <a:spcBef>
                <a:spcPct val="50000"/>
              </a:spcBef>
            </a:pPr>
            <a:r>
              <a:rPr lang="zh-CN" altLang="en-US" sz="2000" b="1" dirty="0">
                <a:solidFill>
                  <a:srgbClr val="FF0000"/>
                </a:solidFill>
                <a:latin typeface="+mn-ea"/>
                <a:ea typeface="+mn-ea"/>
              </a:rPr>
              <a:t>相当于短路</a:t>
            </a:r>
          </a:p>
        </p:txBody>
      </p:sp>
      <p:sp>
        <p:nvSpPr>
          <p:cNvPr id="28" name="Rectangle 25">
            <a:extLst>
              <a:ext uri="{FF2B5EF4-FFF2-40B4-BE49-F238E27FC236}">
                <a16:creationId xmlns:a16="http://schemas.microsoft.com/office/drawing/2014/main" xmlns="" id="{D3D1FEC0-8055-6996-0A00-E43B5A32476A}"/>
              </a:ext>
            </a:extLst>
          </p:cNvPr>
          <p:cNvSpPr>
            <a:spLocks noChangeArrowheads="1"/>
          </p:cNvSpPr>
          <p:nvPr/>
        </p:nvSpPr>
        <p:spPr bwMode="auto">
          <a:xfrm>
            <a:off x="2794764" y="4055580"/>
            <a:ext cx="38953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fontAlgn="t">
              <a:spcBef>
                <a:spcPct val="50000"/>
              </a:spcBef>
            </a:pPr>
            <a:r>
              <a:rPr lang="en-US" altLang="zh-CN" sz="2000" i="1" dirty="0">
                <a:solidFill>
                  <a:schemeClr val="tx1"/>
                </a:solidFill>
                <a:latin typeface="+mn-ea"/>
                <a:ea typeface="+mn-ea"/>
              </a:rPr>
              <a:t>X=0</a:t>
            </a:r>
            <a:endParaRPr lang="en-US" altLang="zh-CN" sz="2000" b="1" dirty="0">
              <a:solidFill>
                <a:schemeClr val="tx1"/>
              </a:solidFill>
              <a:latin typeface="+mn-ea"/>
              <a:ea typeface="+mn-ea"/>
            </a:endParaRPr>
          </a:p>
        </p:txBody>
      </p:sp>
      <p:graphicFrame>
        <p:nvGraphicFramePr>
          <p:cNvPr id="29" name="Object 26">
            <a:extLst>
              <a:ext uri="{FF2B5EF4-FFF2-40B4-BE49-F238E27FC236}">
                <a16:creationId xmlns:a16="http://schemas.microsoft.com/office/drawing/2014/main" xmlns="" id="{E7066B51-B1E8-A4CC-8161-2412D9617252}"/>
              </a:ext>
            </a:extLst>
          </p:cNvPr>
          <p:cNvGraphicFramePr>
            <a:graphicFrameLocks noChangeAspect="1"/>
          </p:cNvGraphicFramePr>
          <p:nvPr>
            <p:extLst>
              <p:ext uri="{D42A27DB-BD31-4B8C-83A1-F6EECF244321}">
                <p14:modId xmlns:p14="http://schemas.microsoft.com/office/powerpoint/2010/main" val="1823071102"/>
              </p:ext>
            </p:extLst>
          </p:nvPr>
        </p:nvGraphicFramePr>
        <p:xfrm>
          <a:off x="1145944" y="3993257"/>
          <a:ext cx="1435100" cy="439738"/>
        </p:xfrm>
        <a:graphic>
          <a:graphicData uri="http://schemas.openxmlformats.org/presentationml/2006/ole">
            <mc:AlternateContent xmlns:mc="http://schemas.openxmlformats.org/markup-compatibility/2006">
              <mc:Choice xmlns:v="urn:schemas-microsoft-com:vml" Requires="v">
                <p:oleObj spid="_x0000_s156944" r:id="rId4" imgW="787400" imgH="241300" progId="Equation.3">
                  <p:embed/>
                </p:oleObj>
              </mc:Choice>
              <mc:Fallback>
                <p:oleObj r:id="rId4" imgW="787400" imgH="2413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45944" y="3993257"/>
                        <a:ext cx="1435100" cy="439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0" name="Object 27">
            <a:extLst>
              <a:ext uri="{FF2B5EF4-FFF2-40B4-BE49-F238E27FC236}">
                <a16:creationId xmlns:a16="http://schemas.microsoft.com/office/drawing/2014/main" xmlns="" id="{4D99F9CA-2E5F-9BA6-EC69-728A6D183A47}"/>
              </a:ext>
            </a:extLst>
          </p:cNvPr>
          <p:cNvGraphicFramePr>
            <a:graphicFrameLocks noChangeAspect="1"/>
          </p:cNvGraphicFramePr>
          <p:nvPr>
            <p:extLst>
              <p:ext uri="{D42A27DB-BD31-4B8C-83A1-F6EECF244321}">
                <p14:modId xmlns:p14="http://schemas.microsoft.com/office/powerpoint/2010/main" val="82044826"/>
              </p:ext>
            </p:extLst>
          </p:nvPr>
        </p:nvGraphicFramePr>
        <p:xfrm>
          <a:off x="1155698" y="4506206"/>
          <a:ext cx="2430463" cy="439737"/>
        </p:xfrm>
        <a:graphic>
          <a:graphicData uri="http://schemas.openxmlformats.org/presentationml/2006/ole">
            <mc:AlternateContent xmlns:mc="http://schemas.openxmlformats.org/markup-compatibility/2006">
              <mc:Choice xmlns:v="urn:schemas-microsoft-com:vml" Requires="v">
                <p:oleObj spid="_x0000_s156945" r:id="rId6" imgW="1333500" imgH="241300" progId="Equation.3">
                  <p:embed/>
                </p:oleObj>
              </mc:Choice>
              <mc:Fallback>
                <p:oleObj r:id="rId6" imgW="1333500" imgH="2413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55698" y="4506206"/>
                        <a:ext cx="2430463" cy="43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1" name="Object 28">
            <a:extLst>
              <a:ext uri="{FF2B5EF4-FFF2-40B4-BE49-F238E27FC236}">
                <a16:creationId xmlns:a16="http://schemas.microsoft.com/office/drawing/2014/main" xmlns="" id="{03CC0B8A-E276-BC96-CF49-1B4C144E6096}"/>
              </a:ext>
            </a:extLst>
          </p:cNvPr>
          <p:cNvGraphicFramePr>
            <a:graphicFrameLocks noChangeAspect="1"/>
          </p:cNvGraphicFramePr>
          <p:nvPr>
            <p:extLst>
              <p:ext uri="{D42A27DB-BD31-4B8C-83A1-F6EECF244321}">
                <p14:modId xmlns:p14="http://schemas.microsoft.com/office/powerpoint/2010/main" val="1626869709"/>
              </p:ext>
            </p:extLst>
          </p:nvPr>
        </p:nvGraphicFramePr>
        <p:xfrm>
          <a:off x="1155698" y="5066594"/>
          <a:ext cx="1898650" cy="439738"/>
        </p:xfrm>
        <a:graphic>
          <a:graphicData uri="http://schemas.openxmlformats.org/presentationml/2006/ole">
            <mc:AlternateContent xmlns:mc="http://schemas.openxmlformats.org/markup-compatibility/2006">
              <mc:Choice xmlns:v="urn:schemas-microsoft-com:vml" Requires="v">
                <p:oleObj spid="_x0000_s156946" r:id="rId8" imgW="1040948" imgH="241195" progId="Equation.3">
                  <p:embed/>
                </p:oleObj>
              </mc:Choice>
              <mc:Fallback>
                <p:oleObj r:id="rId8" imgW="1040948" imgH="241195"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55698" y="5066594"/>
                        <a:ext cx="1898650" cy="439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2" name="Object 29">
            <a:extLst>
              <a:ext uri="{FF2B5EF4-FFF2-40B4-BE49-F238E27FC236}">
                <a16:creationId xmlns:a16="http://schemas.microsoft.com/office/drawing/2014/main" xmlns="" id="{FEA88499-9981-CF0C-70F0-4D94CFE347E4}"/>
              </a:ext>
            </a:extLst>
          </p:cNvPr>
          <p:cNvGraphicFramePr>
            <a:graphicFrameLocks noChangeAspect="1"/>
          </p:cNvGraphicFramePr>
          <p:nvPr>
            <p:extLst>
              <p:ext uri="{D42A27DB-BD31-4B8C-83A1-F6EECF244321}">
                <p14:modId xmlns:p14="http://schemas.microsoft.com/office/powerpoint/2010/main" val="1744176540"/>
              </p:ext>
            </p:extLst>
          </p:nvPr>
        </p:nvGraphicFramePr>
        <p:xfrm>
          <a:off x="1152754" y="5664287"/>
          <a:ext cx="1458913" cy="439737"/>
        </p:xfrm>
        <a:graphic>
          <a:graphicData uri="http://schemas.openxmlformats.org/presentationml/2006/ole">
            <mc:AlternateContent xmlns:mc="http://schemas.openxmlformats.org/markup-compatibility/2006">
              <mc:Choice xmlns:v="urn:schemas-microsoft-com:vml" Requires="v">
                <p:oleObj spid="_x0000_s156947" r:id="rId10" imgW="799753" imgH="241195" progId="Equation.3">
                  <p:embed/>
                </p:oleObj>
              </mc:Choice>
              <mc:Fallback>
                <p:oleObj r:id="rId10" imgW="799753" imgH="241195"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152754" y="5664287"/>
                        <a:ext cx="1458913" cy="43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3" name="Object 30">
            <a:extLst>
              <a:ext uri="{FF2B5EF4-FFF2-40B4-BE49-F238E27FC236}">
                <a16:creationId xmlns:a16="http://schemas.microsoft.com/office/drawing/2014/main" xmlns="" id="{AAE4F95E-0C8C-8951-E8BD-70CFB276D3C1}"/>
              </a:ext>
            </a:extLst>
          </p:cNvPr>
          <p:cNvGraphicFramePr>
            <a:graphicFrameLocks noChangeAspect="1"/>
          </p:cNvGraphicFramePr>
          <p:nvPr>
            <p:extLst>
              <p:ext uri="{D42A27DB-BD31-4B8C-83A1-F6EECF244321}">
                <p14:modId xmlns:p14="http://schemas.microsoft.com/office/powerpoint/2010/main" val="666222164"/>
              </p:ext>
            </p:extLst>
          </p:nvPr>
        </p:nvGraphicFramePr>
        <p:xfrm>
          <a:off x="2644851" y="5693457"/>
          <a:ext cx="973138" cy="334963"/>
        </p:xfrm>
        <a:graphic>
          <a:graphicData uri="http://schemas.openxmlformats.org/presentationml/2006/ole">
            <mc:AlternateContent xmlns:mc="http://schemas.openxmlformats.org/markup-compatibility/2006">
              <mc:Choice xmlns:v="urn:schemas-microsoft-com:vml" Requires="v">
                <p:oleObj spid="_x0000_s156948" r:id="rId12" imgW="406224" imgH="139639" progId="Equation.3">
                  <p:embed/>
                </p:oleObj>
              </mc:Choice>
              <mc:Fallback>
                <p:oleObj r:id="rId12" imgW="406224" imgH="139639"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644851" y="5693457"/>
                        <a:ext cx="973138"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4" name="Rectangle 31">
            <a:extLst>
              <a:ext uri="{FF2B5EF4-FFF2-40B4-BE49-F238E27FC236}">
                <a16:creationId xmlns:a16="http://schemas.microsoft.com/office/drawing/2014/main" xmlns="" id="{051550B7-2729-9181-E0F3-949670CE11CE}"/>
              </a:ext>
            </a:extLst>
          </p:cNvPr>
          <p:cNvSpPr>
            <a:spLocks noChangeArrowheads="1"/>
          </p:cNvSpPr>
          <p:nvPr/>
        </p:nvSpPr>
        <p:spPr bwMode="auto">
          <a:xfrm>
            <a:off x="3683369" y="5693457"/>
            <a:ext cx="170973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fontAlgn="t">
              <a:spcBef>
                <a:spcPct val="50000"/>
              </a:spcBef>
            </a:pPr>
            <a:r>
              <a:rPr lang="zh-CN" altLang="en-US" sz="2000" b="1" dirty="0">
                <a:solidFill>
                  <a:schemeClr val="tx1"/>
                </a:solidFill>
                <a:latin typeface="+mn-ea"/>
                <a:ea typeface="+mn-ea"/>
              </a:rPr>
              <a:t>相当于开路</a:t>
            </a:r>
          </a:p>
        </p:txBody>
      </p:sp>
      <p:sp>
        <p:nvSpPr>
          <p:cNvPr id="35" name="AutoShape 32">
            <a:extLst>
              <a:ext uri="{FF2B5EF4-FFF2-40B4-BE49-F238E27FC236}">
                <a16:creationId xmlns:a16="http://schemas.microsoft.com/office/drawing/2014/main" xmlns="" id="{1654A11C-5658-5A1C-BAC1-3FEF0418A21A}"/>
              </a:ext>
            </a:extLst>
          </p:cNvPr>
          <p:cNvSpPr>
            <a:spLocks/>
          </p:cNvSpPr>
          <p:nvPr/>
        </p:nvSpPr>
        <p:spPr bwMode="auto">
          <a:xfrm>
            <a:off x="838200" y="3868228"/>
            <a:ext cx="228600" cy="2133601"/>
          </a:xfrm>
          <a:prstGeom prst="leftBrace">
            <a:avLst>
              <a:gd name="adj1" fmla="val 182042"/>
              <a:gd name="adj2" fmla="val 50000"/>
            </a:avLst>
          </a:prstGeom>
          <a:noFill/>
          <a:ln w="254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p>
            <a:endParaRPr lang="zh-CN" altLang="en-US" sz="2000">
              <a:solidFill>
                <a:schemeClr val="tx1"/>
              </a:solidFill>
              <a:latin typeface="+mn-ea"/>
              <a:ea typeface="+mn-ea"/>
            </a:endParaRPr>
          </a:p>
        </p:txBody>
      </p:sp>
      <p:graphicFrame>
        <p:nvGraphicFramePr>
          <p:cNvPr id="36" name="Object 33">
            <a:extLst>
              <a:ext uri="{FF2B5EF4-FFF2-40B4-BE49-F238E27FC236}">
                <a16:creationId xmlns:a16="http://schemas.microsoft.com/office/drawing/2014/main" xmlns="" id="{51026D11-8BB0-5774-08B9-3FADE6687D0B}"/>
              </a:ext>
            </a:extLst>
          </p:cNvPr>
          <p:cNvGraphicFramePr>
            <a:graphicFrameLocks noChangeAspect="1"/>
          </p:cNvGraphicFramePr>
          <p:nvPr>
            <p:extLst>
              <p:ext uri="{D42A27DB-BD31-4B8C-83A1-F6EECF244321}">
                <p14:modId xmlns:p14="http://schemas.microsoft.com/office/powerpoint/2010/main" val="2347876654"/>
              </p:ext>
            </p:extLst>
          </p:nvPr>
        </p:nvGraphicFramePr>
        <p:xfrm>
          <a:off x="5219696" y="4442704"/>
          <a:ext cx="520700" cy="463550"/>
        </p:xfrm>
        <a:graphic>
          <a:graphicData uri="http://schemas.openxmlformats.org/presentationml/2006/ole">
            <mc:AlternateContent xmlns:mc="http://schemas.openxmlformats.org/markup-compatibility/2006">
              <mc:Choice xmlns:v="urn:schemas-microsoft-com:vml" Requires="v">
                <p:oleObj spid="_x0000_s156949" r:id="rId14" imgW="228501" imgH="203112" progId="Equation.3">
                  <p:embed/>
                </p:oleObj>
              </mc:Choice>
              <mc:Fallback>
                <p:oleObj r:id="rId14" imgW="228501" imgH="203112"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219696" y="4442704"/>
                        <a:ext cx="520700"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7" name="Object 34">
            <a:extLst>
              <a:ext uri="{FF2B5EF4-FFF2-40B4-BE49-F238E27FC236}">
                <a16:creationId xmlns:a16="http://schemas.microsoft.com/office/drawing/2014/main" xmlns="" id="{29BC7D1C-DC02-88E2-1448-5B855F5226AA}"/>
              </a:ext>
            </a:extLst>
          </p:cNvPr>
          <p:cNvGraphicFramePr>
            <a:graphicFrameLocks noChangeAspect="1"/>
          </p:cNvGraphicFramePr>
          <p:nvPr>
            <p:extLst>
              <p:ext uri="{D42A27DB-BD31-4B8C-83A1-F6EECF244321}">
                <p14:modId xmlns:p14="http://schemas.microsoft.com/office/powerpoint/2010/main" val="2576722422"/>
              </p:ext>
            </p:extLst>
          </p:nvPr>
        </p:nvGraphicFramePr>
        <p:xfrm>
          <a:off x="5212970" y="5560892"/>
          <a:ext cx="520700" cy="463550"/>
        </p:xfrm>
        <a:graphic>
          <a:graphicData uri="http://schemas.openxmlformats.org/presentationml/2006/ole">
            <mc:AlternateContent xmlns:mc="http://schemas.openxmlformats.org/markup-compatibility/2006">
              <mc:Choice xmlns:v="urn:schemas-microsoft-com:vml" Requires="v">
                <p:oleObj spid="_x0000_s156950" r:id="rId16" imgW="228501" imgH="203112" progId="Equation.3">
                  <p:embed/>
                </p:oleObj>
              </mc:Choice>
              <mc:Fallback>
                <p:oleObj r:id="rId16" imgW="228501" imgH="203112"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212970" y="5560892"/>
                        <a:ext cx="520700"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8" name="Object 35">
            <a:extLst>
              <a:ext uri="{FF2B5EF4-FFF2-40B4-BE49-F238E27FC236}">
                <a16:creationId xmlns:a16="http://schemas.microsoft.com/office/drawing/2014/main" xmlns="" id="{78B19C8C-0909-5C1E-D5FA-712DA9EC3CC5}"/>
              </a:ext>
            </a:extLst>
          </p:cNvPr>
          <p:cNvGraphicFramePr>
            <a:graphicFrameLocks noChangeAspect="1"/>
          </p:cNvGraphicFramePr>
          <p:nvPr>
            <p:extLst>
              <p:ext uri="{D42A27DB-BD31-4B8C-83A1-F6EECF244321}">
                <p14:modId xmlns:p14="http://schemas.microsoft.com/office/powerpoint/2010/main" val="1244734082"/>
              </p:ext>
            </p:extLst>
          </p:nvPr>
        </p:nvGraphicFramePr>
        <p:xfrm>
          <a:off x="4909834" y="3941116"/>
          <a:ext cx="579437" cy="463550"/>
        </p:xfrm>
        <a:graphic>
          <a:graphicData uri="http://schemas.openxmlformats.org/presentationml/2006/ole">
            <mc:AlternateContent xmlns:mc="http://schemas.openxmlformats.org/markup-compatibility/2006">
              <mc:Choice xmlns:v="urn:schemas-microsoft-com:vml" Requires="v">
                <p:oleObj spid="_x0000_s156951" r:id="rId17" imgW="253780" imgH="203024" progId="Equation.3">
                  <p:embed/>
                </p:oleObj>
              </mc:Choice>
              <mc:Fallback>
                <p:oleObj r:id="rId17" imgW="253780" imgH="203024" progId="Equation.3">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909834" y="3941116"/>
                        <a:ext cx="579437"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9" name="Object 36">
            <a:extLst>
              <a:ext uri="{FF2B5EF4-FFF2-40B4-BE49-F238E27FC236}">
                <a16:creationId xmlns:a16="http://schemas.microsoft.com/office/drawing/2014/main" xmlns="" id="{8B938303-870A-6CB3-95BE-77FA430F2FD2}"/>
              </a:ext>
            </a:extLst>
          </p:cNvPr>
          <p:cNvGraphicFramePr>
            <a:graphicFrameLocks noChangeAspect="1"/>
          </p:cNvGraphicFramePr>
          <p:nvPr>
            <p:extLst>
              <p:ext uri="{D42A27DB-BD31-4B8C-83A1-F6EECF244321}">
                <p14:modId xmlns:p14="http://schemas.microsoft.com/office/powerpoint/2010/main" val="2561503012"/>
              </p:ext>
            </p:extLst>
          </p:nvPr>
        </p:nvGraphicFramePr>
        <p:xfrm>
          <a:off x="4538238" y="4993342"/>
          <a:ext cx="579438" cy="463550"/>
        </p:xfrm>
        <a:graphic>
          <a:graphicData uri="http://schemas.openxmlformats.org/presentationml/2006/ole">
            <mc:AlternateContent xmlns:mc="http://schemas.openxmlformats.org/markup-compatibility/2006">
              <mc:Choice xmlns:v="urn:schemas-microsoft-com:vml" Requires="v">
                <p:oleObj spid="_x0000_s156952" r:id="rId19" imgW="253780" imgH="203024" progId="Equation.3">
                  <p:embed/>
                </p:oleObj>
              </mc:Choice>
              <mc:Fallback>
                <p:oleObj r:id="rId19" imgW="253780" imgH="203024" progId="Equation.3">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538238" y="4993342"/>
                        <a:ext cx="579438"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40" name="Group 37">
            <a:extLst>
              <a:ext uri="{FF2B5EF4-FFF2-40B4-BE49-F238E27FC236}">
                <a16:creationId xmlns:a16="http://schemas.microsoft.com/office/drawing/2014/main" xmlns="" id="{B6B133FD-7B83-E272-EA38-867842626769}"/>
              </a:ext>
            </a:extLst>
          </p:cNvPr>
          <p:cNvGrpSpPr>
            <a:grpSpLocks/>
          </p:cNvGrpSpPr>
          <p:nvPr/>
        </p:nvGrpSpPr>
        <p:grpSpPr bwMode="auto">
          <a:xfrm>
            <a:off x="780633" y="2270615"/>
            <a:ext cx="5124707" cy="1446515"/>
            <a:chOff x="466" y="933"/>
            <a:chExt cx="3513" cy="993"/>
          </a:xfrm>
        </p:grpSpPr>
        <p:graphicFrame>
          <p:nvGraphicFramePr>
            <p:cNvPr id="41" name="Object 38">
              <a:extLst>
                <a:ext uri="{FF2B5EF4-FFF2-40B4-BE49-F238E27FC236}">
                  <a16:creationId xmlns:a16="http://schemas.microsoft.com/office/drawing/2014/main" xmlns="" id="{0522DE17-6E0F-4460-193B-63CE7DC21D99}"/>
                </a:ext>
              </a:extLst>
            </p:cNvPr>
            <p:cNvGraphicFramePr>
              <a:graphicFrameLocks noChangeAspect="1"/>
            </p:cNvGraphicFramePr>
            <p:nvPr>
              <p:extLst>
                <p:ext uri="{D42A27DB-BD31-4B8C-83A1-F6EECF244321}">
                  <p14:modId xmlns:p14="http://schemas.microsoft.com/office/powerpoint/2010/main" val="2553912621"/>
                </p:ext>
              </p:extLst>
            </p:nvPr>
          </p:nvGraphicFramePr>
          <p:xfrm>
            <a:off x="466" y="933"/>
            <a:ext cx="3513" cy="993"/>
          </p:xfrm>
          <a:graphic>
            <a:graphicData uri="http://schemas.openxmlformats.org/presentationml/2006/ole">
              <mc:AlternateContent xmlns:mc="http://schemas.openxmlformats.org/markup-compatibility/2006">
                <mc:Choice xmlns:v="urn:schemas-microsoft-com:vml" Requires="v">
                  <p:oleObj spid="_x0000_s156953" r:id="rId20" imgW="3505200" imgH="990600" progId="Equation.DSMT4">
                    <p:embed/>
                  </p:oleObj>
                </mc:Choice>
                <mc:Fallback>
                  <p:oleObj r:id="rId20" imgW="3505200" imgH="990600" progId="Equation.DSMT4">
                    <p:embed/>
                    <p:pic>
                      <p:nvPicPr>
                        <p:cNvPr id="0" name=""/>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66" y="933"/>
                          <a:ext cx="3513" cy="993"/>
                        </a:xfrm>
                        <a:prstGeom prst="rect">
                          <a:avLst/>
                        </a:prstGeom>
                        <a:noFill/>
                        <a:ln>
                          <a:noFill/>
                        </a:ln>
                      </p:spPr>
                    </p:pic>
                  </p:oleObj>
                </mc:Fallback>
              </mc:AlternateContent>
            </a:graphicData>
          </a:graphic>
        </p:graphicFrame>
        <p:sp>
          <p:nvSpPr>
            <p:cNvPr id="42" name="Rectangle 39">
              <a:extLst>
                <a:ext uri="{FF2B5EF4-FFF2-40B4-BE49-F238E27FC236}">
                  <a16:creationId xmlns:a16="http://schemas.microsoft.com/office/drawing/2014/main" xmlns="" id="{998E595E-4E2D-2D17-02A8-0D2A417DC40F}"/>
                </a:ext>
              </a:extLst>
            </p:cNvPr>
            <p:cNvSpPr>
              <a:spLocks noChangeArrowheads="1"/>
            </p:cNvSpPr>
            <p:nvPr/>
          </p:nvSpPr>
          <p:spPr bwMode="auto">
            <a:xfrm>
              <a:off x="3840" y="1358"/>
              <a:ext cx="88" cy="275"/>
            </a:xfrm>
            <a:prstGeom prst="rect">
              <a:avLst/>
            </a:prstGeom>
            <a:solidFill>
              <a:schemeClr val="bg1"/>
            </a:solidFill>
            <a:ln>
              <a:noFill/>
            </a:ln>
            <a:extLst>
              <a:ext uri="{91240B29-F687-4F45-9708-019B960494DF}">
                <a14:hiddenLine xmlns:a14="http://schemas.microsoft.com/office/drawing/2010/main" w="25400">
                  <a:solidFill>
                    <a:srgbClr val="000000"/>
                  </a:solidFill>
                  <a:miter lim="800000"/>
                  <a:headEnd/>
                  <a:tailEnd/>
                </a14:hiddenLine>
              </a:ext>
            </a:extLst>
          </p:spPr>
          <p:txBody>
            <a:bodyPr anchor="ctr">
              <a:spAutoFit/>
            </a:bodyPr>
            <a:lstStyle/>
            <a:p>
              <a:endParaRPr lang="zh-CN" altLang="en-US" sz="2000">
                <a:solidFill>
                  <a:schemeClr val="tx1"/>
                </a:solidFill>
                <a:latin typeface="+mn-ea"/>
                <a:ea typeface="+mn-ea"/>
              </a:endParaRPr>
            </a:p>
          </p:txBody>
        </p:sp>
      </p:grpSp>
      <p:sp>
        <p:nvSpPr>
          <p:cNvPr id="43" name="Rectangle 40">
            <a:extLst>
              <a:ext uri="{FF2B5EF4-FFF2-40B4-BE49-F238E27FC236}">
                <a16:creationId xmlns:a16="http://schemas.microsoft.com/office/drawing/2014/main" xmlns="" id="{67581EDD-BB9D-918E-AD1F-D3FD058127A5}"/>
              </a:ext>
            </a:extLst>
          </p:cNvPr>
          <p:cNvSpPr>
            <a:spLocks noChangeArrowheads="1"/>
          </p:cNvSpPr>
          <p:nvPr/>
        </p:nvSpPr>
        <p:spPr bwMode="auto">
          <a:xfrm>
            <a:off x="3662361" y="4547506"/>
            <a:ext cx="38953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fontAlgn="t">
              <a:spcBef>
                <a:spcPct val="50000"/>
              </a:spcBef>
            </a:pPr>
            <a:r>
              <a:rPr lang="en-US" altLang="zh-CN" sz="2000" i="1" dirty="0">
                <a:solidFill>
                  <a:schemeClr val="tx1"/>
                </a:solidFill>
                <a:latin typeface="+mn-ea"/>
                <a:ea typeface="+mn-ea"/>
              </a:rPr>
              <a:t>X&lt;0</a:t>
            </a:r>
            <a:endParaRPr lang="en-US" altLang="zh-CN" sz="2000" b="1" dirty="0">
              <a:solidFill>
                <a:schemeClr val="tx1"/>
              </a:solidFill>
              <a:latin typeface="+mn-ea"/>
              <a:ea typeface="+mn-ea"/>
            </a:endParaRPr>
          </a:p>
        </p:txBody>
      </p:sp>
      <p:sp>
        <p:nvSpPr>
          <p:cNvPr id="44" name="Rectangle 41">
            <a:extLst>
              <a:ext uri="{FF2B5EF4-FFF2-40B4-BE49-F238E27FC236}">
                <a16:creationId xmlns:a16="http://schemas.microsoft.com/office/drawing/2014/main" xmlns="" id="{70A5CE4E-9445-C88F-DDFD-CFBAFFD40355}"/>
              </a:ext>
            </a:extLst>
          </p:cNvPr>
          <p:cNvSpPr>
            <a:spLocks noChangeArrowheads="1"/>
          </p:cNvSpPr>
          <p:nvPr/>
        </p:nvSpPr>
        <p:spPr bwMode="auto">
          <a:xfrm>
            <a:off x="3166987" y="5099249"/>
            <a:ext cx="38953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fontAlgn="t">
              <a:spcBef>
                <a:spcPct val="50000"/>
              </a:spcBef>
            </a:pPr>
            <a:r>
              <a:rPr lang="en-US" altLang="zh-CN" sz="2000" i="1" dirty="0">
                <a:solidFill>
                  <a:schemeClr val="tx1"/>
                </a:solidFill>
                <a:latin typeface="+mn-ea"/>
                <a:ea typeface="+mn-ea"/>
              </a:rPr>
              <a:t>X&gt;0</a:t>
            </a:r>
            <a:endParaRPr lang="en-US" altLang="zh-CN" sz="2000" b="1" dirty="0">
              <a:solidFill>
                <a:schemeClr val="tx1"/>
              </a:solidFill>
              <a:latin typeface="+mn-ea"/>
              <a:ea typeface="+mn-ea"/>
            </a:endParaRPr>
          </a:p>
        </p:txBody>
      </p:sp>
    </p:spTree>
    <p:extLst>
      <p:ext uri="{BB962C8B-B14F-4D97-AF65-F5344CB8AC3E}">
        <p14:creationId xmlns:p14="http://schemas.microsoft.com/office/powerpoint/2010/main" val="1868325294"/>
      </p:ext>
    </p:extLst>
  </p:cSld>
  <p:clrMapOvr>
    <a:masterClrMapping/>
  </p:clrMapOvr>
  <p:timing>
    <p:tnLst>
      <p:par>
        <p:cTn id="1" dur="indefinite" restart="never" nodeType="tmRoot"/>
      </p:par>
    </p:tnLst>
  </p:timing>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200</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5.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正弦波</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振荡器</a:t>
            </a:r>
          </a:p>
        </p:txBody>
      </p:sp>
      <p:pic>
        <p:nvPicPr>
          <p:cNvPr id="5" name="Picture 3">
            <a:extLst>
              <a:ext uri="{FF2B5EF4-FFF2-40B4-BE49-F238E27FC236}">
                <a16:creationId xmlns:a16="http://schemas.microsoft.com/office/drawing/2014/main" xmlns="" id="{762A2DAF-2E95-27CF-805D-6DE6664F94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26067"/>
          <a:stretch>
            <a:fillRect/>
          </a:stretch>
        </p:blipFill>
        <p:spPr bwMode="auto">
          <a:xfrm>
            <a:off x="1003300" y="2525861"/>
            <a:ext cx="6248400" cy="302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4">
            <a:extLst>
              <a:ext uri="{FF2B5EF4-FFF2-40B4-BE49-F238E27FC236}">
                <a16:creationId xmlns:a16="http://schemas.microsoft.com/office/drawing/2014/main" xmlns="" id="{DA094D22-28E6-BE9B-576C-F45D0F4337E3}"/>
              </a:ext>
            </a:extLst>
          </p:cNvPr>
          <p:cNvSpPr txBox="1">
            <a:spLocks noChangeArrowheads="1"/>
          </p:cNvSpPr>
          <p:nvPr/>
        </p:nvSpPr>
        <p:spPr bwMode="auto">
          <a:xfrm>
            <a:off x="1854200" y="5510361"/>
            <a:ext cx="1358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t">
              <a:spcBef>
                <a:spcPct val="50000"/>
              </a:spcBef>
            </a:pPr>
            <a:r>
              <a:rPr lang="zh-CN" altLang="en-US" sz="2000" b="1">
                <a:solidFill>
                  <a:schemeClr val="tx1"/>
                </a:solidFill>
                <a:latin typeface="+mn-ea"/>
                <a:ea typeface="+mn-ea"/>
              </a:rPr>
              <a:t>皮尔斯</a:t>
            </a:r>
          </a:p>
        </p:txBody>
      </p:sp>
      <p:sp>
        <p:nvSpPr>
          <p:cNvPr id="7" name="Text Box 5">
            <a:extLst>
              <a:ext uri="{FF2B5EF4-FFF2-40B4-BE49-F238E27FC236}">
                <a16:creationId xmlns:a16="http://schemas.microsoft.com/office/drawing/2014/main" xmlns="" id="{874BE56E-FD48-F6A1-0777-EC36D70225AE}"/>
              </a:ext>
            </a:extLst>
          </p:cNvPr>
          <p:cNvSpPr txBox="1">
            <a:spLocks noChangeArrowheads="1"/>
          </p:cNvSpPr>
          <p:nvPr/>
        </p:nvSpPr>
        <p:spPr bwMode="auto">
          <a:xfrm>
            <a:off x="5575300" y="5497661"/>
            <a:ext cx="11557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t">
              <a:spcBef>
                <a:spcPct val="50000"/>
              </a:spcBef>
            </a:pPr>
            <a:r>
              <a:rPr lang="zh-CN" altLang="en-US" sz="2000" b="1">
                <a:solidFill>
                  <a:schemeClr val="tx1"/>
                </a:solidFill>
                <a:latin typeface="+mn-ea"/>
                <a:ea typeface="+mn-ea"/>
              </a:rPr>
              <a:t>密勒</a:t>
            </a:r>
          </a:p>
        </p:txBody>
      </p:sp>
      <p:sp>
        <p:nvSpPr>
          <p:cNvPr id="8" name="Rectangle 2">
            <a:extLst>
              <a:ext uri="{FF2B5EF4-FFF2-40B4-BE49-F238E27FC236}">
                <a16:creationId xmlns:a16="http://schemas.microsoft.com/office/drawing/2014/main" xmlns="" id="{45E094BE-C976-89C9-3355-2233AEDE2751}"/>
              </a:ext>
            </a:extLst>
          </p:cNvPr>
          <p:cNvSpPr txBox="1">
            <a:spLocks noChangeArrowheads="1"/>
          </p:cNvSpPr>
          <p:nvPr/>
        </p:nvSpPr>
        <p:spPr>
          <a:xfrm>
            <a:off x="524049" y="1331110"/>
            <a:ext cx="3498850" cy="585787"/>
          </a:xfrm>
          <a:prstGeom prst="rect">
            <a:avLst/>
          </a:prstGeom>
        </p:spPr>
        <p:txBody>
          <a:bodyPr/>
          <a:lstStyle>
            <a:lvl1pPr algn="l" rtl="0" eaLnBrk="0" fontAlgn="base" hangingPunct="0">
              <a:spcBef>
                <a:spcPct val="0"/>
              </a:spcBef>
              <a:spcAft>
                <a:spcPct val="0"/>
              </a:spcAft>
              <a:defRPr lang="zh-CN" altLang="en-US" sz="3600" b="1" baseline="0" dirty="0" smtClean="0">
                <a:solidFill>
                  <a:schemeClr val="tx2"/>
                </a:solidFill>
                <a:latin typeface="Times New Roman" panose="02020603050405020304" pitchFamily="18" charset="0"/>
                <a:ea typeface="楷体" panose="02010609060101010101" pitchFamily="49" charset="-122"/>
                <a:cs typeface="+mj-cs"/>
              </a:defRPr>
            </a:lvl1pPr>
            <a:lvl2pPr algn="ctr" rtl="0" eaLnBrk="0" fontAlgn="base" hangingPunct="0">
              <a:spcBef>
                <a:spcPct val="0"/>
              </a:spcBef>
              <a:spcAft>
                <a:spcPct val="0"/>
              </a:spcAft>
              <a:defRPr sz="3200">
                <a:solidFill>
                  <a:schemeClr val="tx2"/>
                </a:solidFill>
                <a:latin typeface="Arial" pitchFamily="34" charset="0"/>
                <a:ea typeface="宋体" pitchFamily="2" charset="-122"/>
              </a:defRPr>
            </a:lvl2pPr>
            <a:lvl3pPr algn="ctr" rtl="0" eaLnBrk="0" fontAlgn="base" hangingPunct="0">
              <a:spcBef>
                <a:spcPct val="0"/>
              </a:spcBef>
              <a:spcAft>
                <a:spcPct val="0"/>
              </a:spcAft>
              <a:defRPr sz="3200">
                <a:solidFill>
                  <a:schemeClr val="tx2"/>
                </a:solidFill>
                <a:latin typeface="Arial" pitchFamily="34" charset="0"/>
                <a:ea typeface="宋体" pitchFamily="2" charset="-122"/>
              </a:defRPr>
            </a:lvl3pPr>
            <a:lvl4pPr algn="ctr" rtl="0" eaLnBrk="0" fontAlgn="base" hangingPunct="0">
              <a:spcBef>
                <a:spcPct val="0"/>
              </a:spcBef>
              <a:spcAft>
                <a:spcPct val="0"/>
              </a:spcAft>
              <a:defRPr sz="3200">
                <a:solidFill>
                  <a:schemeClr val="tx2"/>
                </a:solidFill>
                <a:latin typeface="Arial" pitchFamily="34" charset="0"/>
                <a:ea typeface="宋体" pitchFamily="2" charset="-122"/>
              </a:defRPr>
            </a:lvl4pPr>
            <a:lvl5pPr algn="ctr" rtl="0" eaLnBrk="0" fontAlgn="base" hangingPunct="0">
              <a:spcBef>
                <a:spcPct val="0"/>
              </a:spcBef>
              <a:spcAft>
                <a:spcPct val="0"/>
              </a:spcAft>
              <a:defRPr sz="3200">
                <a:solidFill>
                  <a:schemeClr val="tx2"/>
                </a:solidFill>
                <a:latin typeface="Arial" pitchFamily="34" charset="0"/>
                <a:ea typeface="宋体" pitchFamily="2" charset="-122"/>
              </a:defRPr>
            </a:lvl5pPr>
            <a:lvl6pPr marL="457200" algn="ctr" rtl="0" eaLnBrk="0" fontAlgn="base" hangingPunct="0">
              <a:spcBef>
                <a:spcPct val="0"/>
              </a:spcBef>
              <a:spcAft>
                <a:spcPct val="0"/>
              </a:spcAft>
              <a:defRPr sz="3200">
                <a:solidFill>
                  <a:schemeClr val="tx2"/>
                </a:solidFill>
                <a:latin typeface="Arial" pitchFamily="34" charset="0"/>
                <a:ea typeface="宋体" pitchFamily="2" charset="-122"/>
              </a:defRPr>
            </a:lvl6pPr>
            <a:lvl7pPr marL="914400" algn="ctr" rtl="0" eaLnBrk="0" fontAlgn="base" hangingPunct="0">
              <a:spcBef>
                <a:spcPct val="0"/>
              </a:spcBef>
              <a:spcAft>
                <a:spcPct val="0"/>
              </a:spcAft>
              <a:defRPr sz="3200">
                <a:solidFill>
                  <a:schemeClr val="tx2"/>
                </a:solidFill>
                <a:latin typeface="Arial" pitchFamily="34" charset="0"/>
                <a:ea typeface="宋体" pitchFamily="2" charset="-122"/>
              </a:defRPr>
            </a:lvl7pPr>
            <a:lvl8pPr marL="1371600" algn="ctr" rtl="0" eaLnBrk="0" fontAlgn="base" hangingPunct="0">
              <a:spcBef>
                <a:spcPct val="0"/>
              </a:spcBef>
              <a:spcAft>
                <a:spcPct val="0"/>
              </a:spcAft>
              <a:defRPr sz="3200">
                <a:solidFill>
                  <a:schemeClr val="tx2"/>
                </a:solidFill>
                <a:latin typeface="Arial" pitchFamily="34" charset="0"/>
                <a:ea typeface="宋体" pitchFamily="2" charset="-122"/>
              </a:defRPr>
            </a:lvl8pPr>
            <a:lvl9pPr marL="1828800" algn="ctr" rtl="0" eaLnBrk="0" fontAlgn="base" hangingPunct="0">
              <a:spcBef>
                <a:spcPct val="0"/>
              </a:spcBef>
              <a:spcAft>
                <a:spcPct val="0"/>
              </a:spcAft>
              <a:defRPr sz="3200">
                <a:solidFill>
                  <a:schemeClr val="tx2"/>
                </a:solidFill>
                <a:latin typeface="Arial" pitchFamily="34" charset="0"/>
                <a:ea typeface="宋体" pitchFamily="2" charset="-122"/>
              </a:defRPr>
            </a:lvl9pPr>
          </a:lstStyle>
          <a:p>
            <a:pPr eaLnBrk="1" hangingPunct="1"/>
            <a:r>
              <a:rPr lang="en-US" altLang="zh-CN" sz="2400" kern="0" dirty="0">
                <a:solidFill>
                  <a:schemeClr val="tx1"/>
                </a:solidFill>
                <a:latin typeface="+mn-ea"/>
                <a:ea typeface="+mn-ea"/>
              </a:rPr>
              <a:t>1</a:t>
            </a:r>
            <a:r>
              <a:rPr lang="zh-CN" altLang="en-US" sz="2400" kern="0" dirty="0">
                <a:solidFill>
                  <a:schemeClr val="tx1"/>
                </a:solidFill>
                <a:latin typeface="+mn-ea"/>
                <a:ea typeface="+mn-ea"/>
              </a:rPr>
              <a:t>、并联型晶体振荡器</a:t>
            </a:r>
          </a:p>
        </p:txBody>
      </p:sp>
    </p:spTree>
    <p:extLst>
      <p:ext uri="{BB962C8B-B14F-4D97-AF65-F5344CB8AC3E}">
        <p14:creationId xmlns:p14="http://schemas.microsoft.com/office/powerpoint/2010/main" val="788561123"/>
      </p:ext>
    </p:extLst>
  </p:cSld>
  <p:clrMapOvr>
    <a:masterClrMapping/>
  </p:clrMapOvr>
  <p:timing>
    <p:tnLst>
      <p:par>
        <p:cTn id="1" dur="indefinite" restart="never" nodeType="tmRoot"/>
      </p:par>
    </p:tnLst>
  </p:timing>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201</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5.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正弦波</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振荡器</a:t>
            </a:r>
          </a:p>
        </p:txBody>
      </p:sp>
      <p:pic>
        <p:nvPicPr>
          <p:cNvPr id="5" name="Picture 2">
            <a:extLst>
              <a:ext uri="{FF2B5EF4-FFF2-40B4-BE49-F238E27FC236}">
                <a16:creationId xmlns:a16="http://schemas.microsoft.com/office/drawing/2014/main" xmlns="" id="{2EB1631C-D889-DC96-99DE-5203045DDE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4228" y="1615929"/>
            <a:ext cx="3190103" cy="28868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4">
            <a:extLst>
              <a:ext uri="{FF2B5EF4-FFF2-40B4-BE49-F238E27FC236}">
                <a16:creationId xmlns:a16="http://schemas.microsoft.com/office/drawing/2014/main" xmlns="" id="{B889E2B9-B41E-F9F8-DBF4-7B0D74F40A41}"/>
              </a:ext>
            </a:extLst>
          </p:cNvPr>
          <p:cNvSpPr>
            <a:spLocks noChangeArrowheads="1"/>
          </p:cNvSpPr>
          <p:nvPr/>
        </p:nvSpPr>
        <p:spPr bwMode="auto">
          <a:xfrm>
            <a:off x="2167137" y="2460852"/>
            <a:ext cx="1176337" cy="1824856"/>
          </a:xfrm>
          <a:prstGeom prst="rect">
            <a:avLst/>
          </a:prstGeom>
          <a:noFill/>
          <a:ln w="19050">
            <a:solidFill>
              <a:srgbClr val="FF6600"/>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000">
              <a:solidFill>
                <a:schemeClr val="tx1"/>
              </a:solidFill>
            </a:endParaRPr>
          </a:p>
        </p:txBody>
      </p:sp>
      <p:pic>
        <p:nvPicPr>
          <p:cNvPr id="7" name="Picture 5">
            <a:extLst>
              <a:ext uri="{FF2B5EF4-FFF2-40B4-BE49-F238E27FC236}">
                <a16:creationId xmlns:a16="http://schemas.microsoft.com/office/drawing/2014/main" xmlns="" id="{5BFA6A6A-DAA4-0F38-88FF-2CC1982230F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90642" y="1688954"/>
            <a:ext cx="3057396" cy="27208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8">
            <a:extLst>
              <a:ext uri="{FF2B5EF4-FFF2-40B4-BE49-F238E27FC236}">
                <a16:creationId xmlns:a16="http://schemas.microsoft.com/office/drawing/2014/main" xmlns="" id="{F0D41278-A771-8353-1B3A-4C6EA5ADEFFF}"/>
              </a:ext>
            </a:extLst>
          </p:cNvPr>
          <p:cNvSpPr>
            <a:spLocks noChangeArrowheads="1"/>
          </p:cNvSpPr>
          <p:nvPr/>
        </p:nvSpPr>
        <p:spPr bwMode="auto">
          <a:xfrm>
            <a:off x="5540772" y="1928667"/>
            <a:ext cx="1007320" cy="2421028"/>
          </a:xfrm>
          <a:prstGeom prst="rect">
            <a:avLst/>
          </a:prstGeom>
          <a:noFill/>
          <a:ln w="19050">
            <a:solidFill>
              <a:srgbClr val="FF6600"/>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000">
              <a:solidFill>
                <a:schemeClr val="tx1"/>
              </a:solidFill>
            </a:endParaRPr>
          </a:p>
        </p:txBody>
      </p:sp>
      <p:sp>
        <p:nvSpPr>
          <p:cNvPr id="9" name="AutoShape 18">
            <a:extLst>
              <a:ext uri="{FF2B5EF4-FFF2-40B4-BE49-F238E27FC236}">
                <a16:creationId xmlns:a16="http://schemas.microsoft.com/office/drawing/2014/main" xmlns="" id="{33B5E981-9335-8A31-735A-A7BE1EEC2552}"/>
              </a:ext>
            </a:extLst>
          </p:cNvPr>
          <p:cNvSpPr>
            <a:spLocks noChangeArrowheads="1"/>
          </p:cNvSpPr>
          <p:nvPr/>
        </p:nvSpPr>
        <p:spPr bwMode="auto">
          <a:xfrm>
            <a:off x="2653407" y="1254772"/>
            <a:ext cx="4046537" cy="314325"/>
          </a:xfrm>
          <a:prstGeom prst="wedgeRectCallout">
            <a:avLst>
              <a:gd name="adj1" fmla="val -41487"/>
              <a:gd name="adj2" fmla="val 510604"/>
            </a:avLst>
          </a:prstGeom>
          <a:solidFill>
            <a:srgbClr val="CCECFF">
              <a:alpha val="41960"/>
            </a:srgbClr>
          </a:solidFill>
          <a:ln w="9525">
            <a:solidFill>
              <a:schemeClr val="tx1"/>
            </a:solidFill>
            <a:miter lim="800000"/>
            <a:headEnd/>
            <a:tailEnd/>
          </a:ln>
        </p:spPr>
        <p:txBody>
          <a:bodyPr lIns="0" tIns="0" rIns="0" bIns="0">
            <a:spAutoFit/>
          </a:bodyPr>
          <a:lstStyle/>
          <a:p>
            <a:pPr>
              <a:spcBef>
                <a:spcPct val="20000"/>
              </a:spcBef>
            </a:pPr>
            <a:r>
              <a:rPr lang="zh-CN" altLang="en-US" sz="2000" b="1" dirty="0">
                <a:solidFill>
                  <a:schemeClr val="tx1"/>
                </a:solidFill>
                <a:latin typeface="+mn-ea"/>
                <a:ea typeface="+mn-ea"/>
              </a:rPr>
              <a:t>调节</a:t>
            </a:r>
            <a:r>
              <a:rPr lang="en-US" altLang="zh-CN" sz="2000" b="1" dirty="0">
                <a:solidFill>
                  <a:schemeClr val="tx1"/>
                </a:solidFill>
                <a:latin typeface="+mn-ea"/>
                <a:ea typeface="+mn-ea"/>
              </a:rPr>
              <a:t>C</a:t>
            </a:r>
            <a:r>
              <a:rPr lang="en-US" altLang="zh-CN" sz="2000" b="1" baseline="-25000" dirty="0">
                <a:solidFill>
                  <a:schemeClr val="tx1"/>
                </a:solidFill>
                <a:latin typeface="+mn-ea"/>
                <a:ea typeface="+mn-ea"/>
              </a:rPr>
              <a:t>3</a:t>
            </a:r>
            <a:r>
              <a:rPr lang="zh-CN" altLang="en-US" sz="2000" b="1" dirty="0">
                <a:solidFill>
                  <a:schemeClr val="tx1"/>
                </a:solidFill>
                <a:latin typeface="+mn-ea"/>
                <a:ea typeface="+mn-ea"/>
              </a:rPr>
              <a:t>可使其工作在标称频率上</a:t>
            </a:r>
          </a:p>
        </p:txBody>
      </p:sp>
      <p:graphicFrame>
        <p:nvGraphicFramePr>
          <p:cNvPr id="10" name="Object 6">
            <a:extLst>
              <a:ext uri="{FF2B5EF4-FFF2-40B4-BE49-F238E27FC236}">
                <a16:creationId xmlns:a16="http://schemas.microsoft.com/office/drawing/2014/main" xmlns="" id="{B050BDF2-A13E-A9D3-00F7-D588B2B8C557}"/>
              </a:ext>
            </a:extLst>
          </p:cNvPr>
          <p:cNvGraphicFramePr>
            <a:graphicFrameLocks noChangeAspect="1"/>
          </p:cNvGraphicFramePr>
          <p:nvPr>
            <p:extLst>
              <p:ext uri="{D42A27DB-BD31-4B8C-83A1-F6EECF244321}">
                <p14:modId xmlns:p14="http://schemas.microsoft.com/office/powerpoint/2010/main" val="1678474388"/>
              </p:ext>
            </p:extLst>
          </p:nvPr>
        </p:nvGraphicFramePr>
        <p:xfrm>
          <a:off x="1689119" y="4503845"/>
          <a:ext cx="4013732" cy="790717"/>
        </p:xfrm>
        <a:graphic>
          <a:graphicData uri="http://schemas.openxmlformats.org/presentationml/2006/ole">
            <mc:AlternateContent xmlns:mc="http://schemas.openxmlformats.org/markup-compatibility/2006">
              <mc:Choice xmlns:v="urn:schemas-microsoft-com:vml" Requires="v">
                <p:oleObj spid="_x0000_s157914" r:id="rId5" imgW="3470400" imgH="711000" progId="Word.Document.8">
                  <p:embed/>
                </p:oleObj>
              </mc:Choice>
              <mc:Fallback>
                <p:oleObj r:id="rId5" imgW="3470400" imgH="711000" progId="Word.Document.8">
                  <p:embed/>
                  <p:pic>
                    <p:nvPicPr>
                      <p:cNvPr id="0" name=""/>
                      <p:cNvPicPr>
                        <a:picLocks noGrp="1"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89119" y="4503845"/>
                        <a:ext cx="4013732" cy="790717"/>
                      </a:xfrm>
                      <a:prstGeom prst="rect">
                        <a:avLst/>
                      </a:prstGeom>
                      <a:ln>
                        <a:noFill/>
                      </a:ln>
                    </p:spPr>
                  </p:pic>
                </p:oleObj>
              </mc:Fallback>
            </mc:AlternateContent>
          </a:graphicData>
        </a:graphic>
      </p:graphicFrame>
      <p:graphicFrame>
        <p:nvGraphicFramePr>
          <p:cNvPr id="11" name="Object 7">
            <a:extLst>
              <a:ext uri="{FF2B5EF4-FFF2-40B4-BE49-F238E27FC236}">
                <a16:creationId xmlns:a16="http://schemas.microsoft.com/office/drawing/2014/main" xmlns="" id="{A5F83D32-7063-EB3C-DE6C-5814AB068CF1}"/>
              </a:ext>
            </a:extLst>
          </p:cNvPr>
          <p:cNvGraphicFramePr>
            <a:graphicFrameLocks noChangeAspect="1"/>
          </p:cNvGraphicFramePr>
          <p:nvPr>
            <p:extLst>
              <p:ext uri="{D42A27DB-BD31-4B8C-83A1-F6EECF244321}">
                <p14:modId xmlns:p14="http://schemas.microsoft.com/office/powerpoint/2010/main" val="1415108870"/>
              </p:ext>
            </p:extLst>
          </p:nvPr>
        </p:nvGraphicFramePr>
        <p:xfrm>
          <a:off x="1780516" y="5283064"/>
          <a:ext cx="1970087" cy="738188"/>
        </p:xfrm>
        <a:graphic>
          <a:graphicData uri="http://schemas.openxmlformats.org/presentationml/2006/ole">
            <mc:AlternateContent xmlns:mc="http://schemas.openxmlformats.org/markup-compatibility/2006">
              <mc:Choice xmlns:v="urn:schemas-microsoft-com:vml" Requires="v">
                <p:oleObj spid="_x0000_s157915" r:id="rId7" imgW="1206500" imgH="469900" progId="Equation.3">
                  <p:embed/>
                </p:oleObj>
              </mc:Choice>
              <mc:Fallback>
                <p:oleObj r:id="rId7" imgW="1206500" imgH="469900" progId="Equation.3">
                  <p:embed/>
                  <p:pic>
                    <p:nvPicPr>
                      <p:cNvPr id="0" name=""/>
                      <p:cNvPicPr>
                        <a:picLocks noGrp="1"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80516" y="5283064"/>
                        <a:ext cx="1970087" cy="738188"/>
                      </a:xfrm>
                      <a:prstGeom prst="rect">
                        <a:avLst/>
                      </a:prstGeom>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2" name="Text Box 9">
            <a:extLst>
              <a:ext uri="{FF2B5EF4-FFF2-40B4-BE49-F238E27FC236}">
                <a16:creationId xmlns:a16="http://schemas.microsoft.com/office/drawing/2014/main" xmlns="" id="{3094BC50-BA2D-0157-3DC4-2BA49C351729}"/>
              </a:ext>
            </a:extLst>
          </p:cNvPr>
          <p:cNvSpPr txBox="1">
            <a:spLocks noChangeArrowheads="1"/>
          </p:cNvSpPr>
          <p:nvPr/>
        </p:nvSpPr>
        <p:spPr bwMode="auto">
          <a:xfrm>
            <a:off x="279678" y="4626166"/>
            <a:ext cx="14478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t">
              <a:spcBef>
                <a:spcPct val="50000"/>
              </a:spcBef>
            </a:pPr>
            <a:r>
              <a:rPr lang="zh-CN" altLang="en-US" sz="2000" b="1" dirty="0">
                <a:solidFill>
                  <a:srgbClr val="FF3300"/>
                </a:solidFill>
                <a:latin typeface="+mn-ea"/>
                <a:ea typeface="+mn-ea"/>
              </a:rPr>
              <a:t>负载电容</a:t>
            </a:r>
          </a:p>
        </p:txBody>
      </p:sp>
      <p:sp>
        <p:nvSpPr>
          <p:cNvPr id="13" name="Text Box 11">
            <a:extLst>
              <a:ext uri="{FF2B5EF4-FFF2-40B4-BE49-F238E27FC236}">
                <a16:creationId xmlns:a16="http://schemas.microsoft.com/office/drawing/2014/main" xmlns="" id="{33C6116A-4924-95EE-2B5F-3D486AE064BE}"/>
              </a:ext>
            </a:extLst>
          </p:cNvPr>
          <p:cNvSpPr txBox="1">
            <a:spLocks noChangeArrowheads="1"/>
          </p:cNvSpPr>
          <p:nvPr/>
        </p:nvSpPr>
        <p:spPr bwMode="auto">
          <a:xfrm>
            <a:off x="279678" y="5271781"/>
            <a:ext cx="1739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t">
              <a:spcBef>
                <a:spcPct val="50000"/>
              </a:spcBef>
            </a:pPr>
            <a:r>
              <a:rPr lang="zh-CN" altLang="en-US" sz="2000" b="1" dirty="0">
                <a:solidFill>
                  <a:srgbClr val="FF3300"/>
                </a:solidFill>
                <a:latin typeface="+mn-ea"/>
                <a:ea typeface="+mn-ea"/>
              </a:rPr>
              <a:t>回路总电容</a:t>
            </a:r>
          </a:p>
        </p:txBody>
      </p:sp>
      <p:graphicFrame>
        <p:nvGraphicFramePr>
          <p:cNvPr id="14" name="Object 13">
            <a:extLst>
              <a:ext uri="{FF2B5EF4-FFF2-40B4-BE49-F238E27FC236}">
                <a16:creationId xmlns:a16="http://schemas.microsoft.com/office/drawing/2014/main" xmlns="" id="{395C6444-8896-1B7B-264D-8D2CE43FC9C8}"/>
              </a:ext>
            </a:extLst>
          </p:cNvPr>
          <p:cNvGraphicFramePr>
            <a:graphicFrameLocks noChangeAspect="1"/>
          </p:cNvGraphicFramePr>
          <p:nvPr>
            <p:extLst>
              <p:ext uri="{D42A27DB-BD31-4B8C-83A1-F6EECF244321}">
                <p14:modId xmlns:p14="http://schemas.microsoft.com/office/powerpoint/2010/main" val="1601717834"/>
              </p:ext>
            </p:extLst>
          </p:nvPr>
        </p:nvGraphicFramePr>
        <p:xfrm>
          <a:off x="5380741" y="4317825"/>
          <a:ext cx="2075816" cy="934484"/>
        </p:xfrm>
        <a:graphic>
          <a:graphicData uri="http://schemas.openxmlformats.org/presentationml/2006/ole">
            <mc:AlternateContent xmlns:mc="http://schemas.openxmlformats.org/markup-compatibility/2006">
              <mc:Choice xmlns:v="urn:schemas-microsoft-com:vml" Requires="v">
                <p:oleObj spid="_x0000_s157916" r:id="rId9" imgW="1104421" imgH="495085" progId="Equation.3">
                  <p:embed/>
                </p:oleObj>
              </mc:Choice>
              <mc:Fallback>
                <p:oleObj r:id="rId9" imgW="1104421" imgH="495085"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380741" y="4317825"/>
                        <a:ext cx="2075816" cy="934484"/>
                      </a:xfrm>
                      <a:prstGeom prst="rect">
                        <a:avLst/>
                      </a:prstGeom>
                      <a:noFill/>
                      <a:ln>
                        <a:noFill/>
                      </a:ln>
                    </p:spPr>
                  </p:pic>
                </p:oleObj>
              </mc:Fallback>
            </mc:AlternateContent>
          </a:graphicData>
        </a:graphic>
      </p:graphicFrame>
      <p:graphicFrame>
        <p:nvGraphicFramePr>
          <p:cNvPr id="15" name="Object 14">
            <a:extLst>
              <a:ext uri="{FF2B5EF4-FFF2-40B4-BE49-F238E27FC236}">
                <a16:creationId xmlns:a16="http://schemas.microsoft.com/office/drawing/2014/main" xmlns="" id="{E26705AF-34DA-29E9-1F39-94D5E9E00C35}"/>
              </a:ext>
            </a:extLst>
          </p:cNvPr>
          <p:cNvGraphicFramePr>
            <a:graphicFrameLocks noChangeAspect="1"/>
          </p:cNvGraphicFramePr>
          <p:nvPr>
            <p:extLst>
              <p:ext uri="{D42A27DB-BD31-4B8C-83A1-F6EECF244321}">
                <p14:modId xmlns:p14="http://schemas.microsoft.com/office/powerpoint/2010/main" val="3627242968"/>
              </p:ext>
            </p:extLst>
          </p:nvPr>
        </p:nvGraphicFramePr>
        <p:xfrm>
          <a:off x="3767371" y="5621308"/>
          <a:ext cx="1411296" cy="820894"/>
        </p:xfrm>
        <a:graphic>
          <a:graphicData uri="http://schemas.openxmlformats.org/presentationml/2006/ole">
            <mc:AlternateContent xmlns:mc="http://schemas.openxmlformats.org/markup-compatibility/2006">
              <mc:Choice xmlns:v="urn:schemas-microsoft-com:vml" Requires="v">
                <p:oleObj spid="_x0000_s157917" r:id="rId11" imgW="1117115" imgH="495085" progId="Equation.3">
                  <p:embed/>
                </p:oleObj>
              </mc:Choice>
              <mc:Fallback>
                <p:oleObj r:id="rId11" imgW="1117115" imgH="495085"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767371" y="5621308"/>
                        <a:ext cx="1411296" cy="820894"/>
                      </a:xfrm>
                      <a:prstGeom prst="rect">
                        <a:avLst/>
                      </a:prstGeom>
                      <a:noFill/>
                      <a:ln>
                        <a:noFill/>
                      </a:ln>
                    </p:spPr>
                  </p:pic>
                </p:oleObj>
              </mc:Fallback>
            </mc:AlternateContent>
          </a:graphicData>
        </a:graphic>
      </p:graphicFrame>
      <p:graphicFrame>
        <p:nvGraphicFramePr>
          <p:cNvPr id="16" name="Object 15">
            <a:extLst>
              <a:ext uri="{FF2B5EF4-FFF2-40B4-BE49-F238E27FC236}">
                <a16:creationId xmlns:a16="http://schemas.microsoft.com/office/drawing/2014/main" xmlns="" id="{A7121C2C-6C69-AC03-77E9-158A290669C0}"/>
              </a:ext>
            </a:extLst>
          </p:cNvPr>
          <p:cNvGraphicFramePr>
            <a:graphicFrameLocks noChangeAspect="1"/>
          </p:cNvGraphicFramePr>
          <p:nvPr>
            <p:extLst>
              <p:ext uri="{D42A27DB-BD31-4B8C-83A1-F6EECF244321}">
                <p14:modId xmlns:p14="http://schemas.microsoft.com/office/powerpoint/2010/main" val="4261270304"/>
              </p:ext>
            </p:extLst>
          </p:nvPr>
        </p:nvGraphicFramePr>
        <p:xfrm>
          <a:off x="3757709" y="5203943"/>
          <a:ext cx="1366837" cy="511175"/>
        </p:xfrm>
        <a:graphic>
          <a:graphicData uri="http://schemas.openxmlformats.org/presentationml/2006/ole">
            <mc:AlternateContent xmlns:mc="http://schemas.openxmlformats.org/markup-compatibility/2006">
              <mc:Choice xmlns:v="urn:schemas-microsoft-com:vml" Requires="v">
                <p:oleObj spid="_x0000_s157918" r:id="rId13" imgW="647700" imgH="241300" progId="Equation.3">
                  <p:embed/>
                </p:oleObj>
              </mc:Choice>
              <mc:Fallback>
                <p:oleObj r:id="rId13" imgW="647700" imgH="241300"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757709" y="5203943"/>
                        <a:ext cx="1366837"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7" name="Object 16">
            <a:extLst>
              <a:ext uri="{FF2B5EF4-FFF2-40B4-BE49-F238E27FC236}">
                <a16:creationId xmlns:a16="http://schemas.microsoft.com/office/drawing/2014/main" xmlns="" id="{36687883-E0E1-80C9-C3E1-00F80677F574}"/>
              </a:ext>
            </a:extLst>
          </p:cNvPr>
          <p:cNvGraphicFramePr>
            <a:graphicFrameLocks noChangeAspect="1"/>
          </p:cNvGraphicFramePr>
          <p:nvPr>
            <p:extLst>
              <p:ext uri="{D42A27DB-BD31-4B8C-83A1-F6EECF244321}">
                <p14:modId xmlns:p14="http://schemas.microsoft.com/office/powerpoint/2010/main" val="1766112313"/>
              </p:ext>
            </p:extLst>
          </p:nvPr>
        </p:nvGraphicFramePr>
        <p:xfrm>
          <a:off x="5430881" y="5781688"/>
          <a:ext cx="1250046" cy="458445"/>
        </p:xfrm>
        <a:graphic>
          <a:graphicData uri="http://schemas.openxmlformats.org/presentationml/2006/ole">
            <mc:AlternateContent xmlns:mc="http://schemas.openxmlformats.org/markup-compatibility/2006">
              <mc:Choice xmlns:v="urn:schemas-microsoft-com:vml" Requires="v">
                <p:oleObj spid="_x0000_s157919" r:id="rId15" imgW="660113" imgH="241195" progId="Equation.3">
                  <p:embed/>
                </p:oleObj>
              </mc:Choice>
              <mc:Fallback>
                <p:oleObj r:id="rId15" imgW="660113" imgH="241195" progId="Equation.3">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430881" y="5781688"/>
                        <a:ext cx="1250046" cy="458445"/>
                      </a:xfrm>
                      <a:prstGeom prst="rect">
                        <a:avLst/>
                      </a:prstGeom>
                      <a:noFill/>
                      <a:ln>
                        <a:noFill/>
                      </a:ln>
                    </p:spPr>
                  </p:pic>
                </p:oleObj>
              </mc:Fallback>
            </mc:AlternateContent>
          </a:graphicData>
        </a:graphic>
      </p:graphicFrame>
      <p:graphicFrame>
        <p:nvGraphicFramePr>
          <p:cNvPr id="18" name="Object 17">
            <a:extLst>
              <a:ext uri="{FF2B5EF4-FFF2-40B4-BE49-F238E27FC236}">
                <a16:creationId xmlns:a16="http://schemas.microsoft.com/office/drawing/2014/main" xmlns="" id="{59F13F42-ADA2-BF33-2C9F-E60577E30D7C}"/>
              </a:ext>
            </a:extLst>
          </p:cNvPr>
          <p:cNvGraphicFramePr>
            <a:graphicFrameLocks noChangeAspect="1"/>
          </p:cNvGraphicFramePr>
          <p:nvPr>
            <p:extLst>
              <p:ext uri="{D42A27DB-BD31-4B8C-83A1-F6EECF244321}">
                <p14:modId xmlns:p14="http://schemas.microsoft.com/office/powerpoint/2010/main" val="937834806"/>
              </p:ext>
            </p:extLst>
          </p:nvPr>
        </p:nvGraphicFramePr>
        <p:xfrm>
          <a:off x="1713635" y="6343650"/>
          <a:ext cx="6356308" cy="494940"/>
        </p:xfrm>
        <a:graphic>
          <a:graphicData uri="http://schemas.openxmlformats.org/presentationml/2006/ole">
            <mc:AlternateContent xmlns:mc="http://schemas.openxmlformats.org/markup-compatibility/2006">
              <mc:Choice xmlns:v="urn:schemas-microsoft-com:vml" Requires="v">
                <p:oleObj spid="_x0000_s157920" r:id="rId17" imgW="3098800" imgH="241300" progId="Equation.3">
                  <p:embed/>
                </p:oleObj>
              </mc:Choice>
              <mc:Fallback>
                <p:oleObj r:id="rId17" imgW="3098800" imgH="241300" progId="Equation.3">
                  <p:embed/>
                  <p:pic>
                    <p:nvPicPr>
                      <p:cNvPr id="0" name=""/>
                      <p:cNvPicPr>
                        <a:picLocks noGrp="1"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713635" y="6343650"/>
                        <a:ext cx="6356308" cy="494940"/>
                      </a:xfrm>
                      <a:prstGeom prst="rect">
                        <a:avLst/>
                      </a:prstGeom>
                      <a:ln>
                        <a:noFill/>
                      </a:ln>
                    </p:spPr>
                  </p:pic>
                </p:oleObj>
              </mc:Fallback>
            </mc:AlternateContent>
          </a:graphicData>
        </a:graphic>
      </p:graphicFrame>
      <p:graphicFrame>
        <p:nvGraphicFramePr>
          <p:cNvPr id="19" name="对象 18">
            <a:extLst>
              <a:ext uri="{FF2B5EF4-FFF2-40B4-BE49-F238E27FC236}">
                <a16:creationId xmlns:a16="http://schemas.microsoft.com/office/drawing/2014/main" xmlns="" id="{84F0BB9E-6368-D31B-E343-4B2A42A2EF03}"/>
              </a:ext>
            </a:extLst>
          </p:cNvPr>
          <p:cNvGraphicFramePr>
            <a:graphicFrameLocks noChangeAspect="1"/>
          </p:cNvGraphicFramePr>
          <p:nvPr>
            <p:extLst>
              <p:ext uri="{D42A27DB-BD31-4B8C-83A1-F6EECF244321}">
                <p14:modId xmlns:p14="http://schemas.microsoft.com/office/powerpoint/2010/main" val="124332008"/>
              </p:ext>
            </p:extLst>
          </p:nvPr>
        </p:nvGraphicFramePr>
        <p:xfrm>
          <a:off x="3355994" y="4400776"/>
          <a:ext cx="2055277" cy="886073"/>
        </p:xfrm>
        <a:graphic>
          <a:graphicData uri="http://schemas.openxmlformats.org/presentationml/2006/ole">
            <mc:AlternateContent xmlns:mc="http://schemas.openxmlformats.org/markup-compatibility/2006">
              <mc:Choice xmlns:v="urn:schemas-microsoft-com:vml" Requires="v">
                <p:oleObj spid="_x0000_s157921" name="Equation" r:id="rId19" imgW="2223526" imgH="958714" progId="Equation.DSMT4">
                  <p:embed/>
                </p:oleObj>
              </mc:Choice>
              <mc:Fallback>
                <p:oleObj name="Equation" r:id="rId19" imgW="2223526" imgH="958714" progId="Equation.DSMT4">
                  <p:embed/>
                  <p:pic>
                    <p:nvPicPr>
                      <p:cNvPr id="0" name=""/>
                      <p:cNvPicPr/>
                      <p:nvPr/>
                    </p:nvPicPr>
                    <p:blipFill>
                      <a:blip r:embed="rId20"/>
                      <a:stretch>
                        <a:fillRect/>
                      </a:stretch>
                    </p:blipFill>
                    <p:spPr>
                      <a:xfrm>
                        <a:off x="3355994" y="4400776"/>
                        <a:ext cx="2055277" cy="886073"/>
                      </a:xfrm>
                      <a:prstGeom prst="rect">
                        <a:avLst/>
                      </a:prstGeom>
                    </p:spPr>
                  </p:pic>
                </p:oleObj>
              </mc:Fallback>
            </mc:AlternateContent>
          </a:graphicData>
        </a:graphic>
      </p:graphicFrame>
    </p:spTree>
    <p:extLst>
      <p:ext uri="{BB962C8B-B14F-4D97-AF65-F5344CB8AC3E}">
        <p14:creationId xmlns:p14="http://schemas.microsoft.com/office/powerpoint/2010/main" val="2309794207"/>
      </p:ext>
    </p:extLst>
  </p:cSld>
  <p:clrMapOvr>
    <a:masterClrMapping/>
  </p:clrMapOvr>
  <p:timing>
    <p:tnLst>
      <p:par>
        <p:cTn id="1" dur="indefinite" restart="never" nodeType="tmRoot"/>
      </p:par>
    </p:tnLst>
  </p:timing>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202</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5.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正弦波</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振荡器</a:t>
            </a:r>
          </a:p>
        </p:txBody>
      </p:sp>
      <p:sp>
        <p:nvSpPr>
          <p:cNvPr id="5" name="Rectangle 2">
            <a:extLst>
              <a:ext uri="{FF2B5EF4-FFF2-40B4-BE49-F238E27FC236}">
                <a16:creationId xmlns:a16="http://schemas.microsoft.com/office/drawing/2014/main" xmlns="" id="{450241CA-2F2D-D79C-7AFB-A514D4D913BA}"/>
              </a:ext>
            </a:extLst>
          </p:cNvPr>
          <p:cNvSpPr>
            <a:spLocks noChangeArrowheads="1"/>
          </p:cNvSpPr>
          <p:nvPr/>
        </p:nvSpPr>
        <p:spPr bwMode="auto">
          <a:xfrm>
            <a:off x="2030898" y="3220315"/>
            <a:ext cx="660400" cy="6604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p>
        </p:txBody>
      </p:sp>
      <p:sp>
        <p:nvSpPr>
          <p:cNvPr id="6" name="Rectangle 3">
            <a:extLst>
              <a:ext uri="{FF2B5EF4-FFF2-40B4-BE49-F238E27FC236}">
                <a16:creationId xmlns:a16="http://schemas.microsoft.com/office/drawing/2014/main" xmlns="" id="{B304DC04-C7F8-BE0F-FB7B-661C8197AA41}"/>
              </a:ext>
            </a:extLst>
          </p:cNvPr>
          <p:cNvSpPr txBox="1">
            <a:spLocks noChangeArrowheads="1"/>
          </p:cNvSpPr>
          <p:nvPr/>
        </p:nvSpPr>
        <p:spPr>
          <a:xfrm>
            <a:off x="608498" y="1615353"/>
            <a:ext cx="8229600" cy="571500"/>
          </a:xfrm>
          <a:prstGeom prst="rect">
            <a:avLst/>
          </a:prstGeom>
        </p:spPr>
        <p:txBody>
          <a:bodyPr/>
          <a:lstStyle>
            <a:lvl1pPr algn="l" rtl="0" eaLnBrk="0" fontAlgn="base" hangingPunct="0">
              <a:spcBef>
                <a:spcPct val="0"/>
              </a:spcBef>
              <a:spcAft>
                <a:spcPct val="0"/>
              </a:spcAft>
              <a:defRPr lang="zh-CN" altLang="en-US" sz="3600" b="1" baseline="0" dirty="0" smtClean="0">
                <a:solidFill>
                  <a:schemeClr val="tx2"/>
                </a:solidFill>
                <a:latin typeface="Times New Roman" panose="02020603050405020304" pitchFamily="18" charset="0"/>
                <a:ea typeface="楷体" panose="02010609060101010101" pitchFamily="49" charset="-122"/>
                <a:cs typeface="+mj-cs"/>
              </a:defRPr>
            </a:lvl1pPr>
            <a:lvl2pPr algn="ctr" rtl="0" eaLnBrk="0" fontAlgn="base" hangingPunct="0">
              <a:spcBef>
                <a:spcPct val="0"/>
              </a:spcBef>
              <a:spcAft>
                <a:spcPct val="0"/>
              </a:spcAft>
              <a:defRPr sz="3200">
                <a:solidFill>
                  <a:schemeClr val="tx2"/>
                </a:solidFill>
                <a:latin typeface="Arial" pitchFamily="34" charset="0"/>
                <a:ea typeface="宋体" pitchFamily="2" charset="-122"/>
              </a:defRPr>
            </a:lvl2pPr>
            <a:lvl3pPr algn="ctr" rtl="0" eaLnBrk="0" fontAlgn="base" hangingPunct="0">
              <a:spcBef>
                <a:spcPct val="0"/>
              </a:spcBef>
              <a:spcAft>
                <a:spcPct val="0"/>
              </a:spcAft>
              <a:defRPr sz="3200">
                <a:solidFill>
                  <a:schemeClr val="tx2"/>
                </a:solidFill>
                <a:latin typeface="Arial" pitchFamily="34" charset="0"/>
                <a:ea typeface="宋体" pitchFamily="2" charset="-122"/>
              </a:defRPr>
            </a:lvl3pPr>
            <a:lvl4pPr algn="ctr" rtl="0" eaLnBrk="0" fontAlgn="base" hangingPunct="0">
              <a:spcBef>
                <a:spcPct val="0"/>
              </a:spcBef>
              <a:spcAft>
                <a:spcPct val="0"/>
              </a:spcAft>
              <a:defRPr sz="3200">
                <a:solidFill>
                  <a:schemeClr val="tx2"/>
                </a:solidFill>
                <a:latin typeface="Arial" pitchFamily="34" charset="0"/>
                <a:ea typeface="宋体" pitchFamily="2" charset="-122"/>
              </a:defRPr>
            </a:lvl4pPr>
            <a:lvl5pPr algn="ctr" rtl="0" eaLnBrk="0" fontAlgn="base" hangingPunct="0">
              <a:spcBef>
                <a:spcPct val="0"/>
              </a:spcBef>
              <a:spcAft>
                <a:spcPct val="0"/>
              </a:spcAft>
              <a:defRPr sz="3200">
                <a:solidFill>
                  <a:schemeClr val="tx2"/>
                </a:solidFill>
                <a:latin typeface="Arial" pitchFamily="34" charset="0"/>
                <a:ea typeface="宋体" pitchFamily="2" charset="-122"/>
              </a:defRPr>
            </a:lvl5pPr>
            <a:lvl6pPr marL="457200" algn="ctr" rtl="0" eaLnBrk="0" fontAlgn="base" hangingPunct="0">
              <a:spcBef>
                <a:spcPct val="0"/>
              </a:spcBef>
              <a:spcAft>
                <a:spcPct val="0"/>
              </a:spcAft>
              <a:defRPr sz="3200">
                <a:solidFill>
                  <a:schemeClr val="tx2"/>
                </a:solidFill>
                <a:latin typeface="Arial" pitchFamily="34" charset="0"/>
                <a:ea typeface="宋体" pitchFamily="2" charset="-122"/>
              </a:defRPr>
            </a:lvl6pPr>
            <a:lvl7pPr marL="914400" algn="ctr" rtl="0" eaLnBrk="0" fontAlgn="base" hangingPunct="0">
              <a:spcBef>
                <a:spcPct val="0"/>
              </a:spcBef>
              <a:spcAft>
                <a:spcPct val="0"/>
              </a:spcAft>
              <a:defRPr sz="3200">
                <a:solidFill>
                  <a:schemeClr val="tx2"/>
                </a:solidFill>
                <a:latin typeface="Arial" pitchFamily="34" charset="0"/>
                <a:ea typeface="宋体" pitchFamily="2" charset="-122"/>
              </a:defRPr>
            </a:lvl7pPr>
            <a:lvl8pPr marL="1371600" algn="ctr" rtl="0" eaLnBrk="0" fontAlgn="base" hangingPunct="0">
              <a:spcBef>
                <a:spcPct val="0"/>
              </a:spcBef>
              <a:spcAft>
                <a:spcPct val="0"/>
              </a:spcAft>
              <a:defRPr sz="3200">
                <a:solidFill>
                  <a:schemeClr val="tx2"/>
                </a:solidFill>
                <a:latin typeface="Arial" pitchFamily="34" charset="0"/>
                <a:ea typeface="宋体" pitchFamily="2" charset="-122"/>
              </a:defRPr>
            </a:lvl8pPr>
            <a:lvl9pPr marL="1828800" algn="ctr" rtl="0" eaLnBrk="0" fontAlgn="base" hangingPunct="0">
              <a:spcBef>
                <a:spcPct val="0"/>
              </a:spcBef>
              <a:spcAft>
                <a:spcPct val="0"/>
              </a:spcAft>
              <a:defRPr sz="3200">
                <a:solidFill>
                  <a:schemeClr val="tx2"/>
                </a:solidFill>
                <a:latin typeface="Arial" pitchFamily="34" charset="0"/>
                <a:ea typeface="宋体" pitchFamily="2" charset="-122"/>
              </a:defRPr>
            </a:lvl9pPr>
          </a:lstStyle>
          <a:p>
            <a:pPr eaLnBrk="1" hangingPunct="1"/>
            <a:r>
              <a:rPr lang="en-US" altLang="zh-CN" sz="2400" kern="0" dirty="0">
                <a:solidFill>
                  <a:schemeClr val="tx1"/>
                </a:solidFill>
                <a:latin typeface="+mn-ea"/>
                <a:ea typeface="+mn-ea"/>
              </a:rPr>
              <a:t>2</a:t>
            </a:r>
            <a:r>
              <a:rPr lang="zh-CN" altLang="en-US" sz="2400" kern="0" dirty="0">
                <a:solidFill>
                  <a:schemeClr val="tx1"/>
                </a:solidFill>
                <a:latin typeface="+mn-ea"/>
                <a:ea typeface="+mn-ea"/>
              </a:rPr>
              <a:t>、串联型晶体振荡器</a:t>
            </a:r>
          </a:p>
        </p:txBody>
      </p:sp>
      <p:graphicFrame>
        <p:nvGraphicFramePr>
          <p:cNvPr id="7" name="Object 4">
            <a:extLst>
              <a:ext uri="{FF2B5EF4-FFF2-40B4-BE49-F238E27FC236}">
                <a16:creationId xmlns:a16="http://schemas.microsoft.com/office/drawing/2014/main" xmlns="" id="{B114EB53-4DBD-67A3-7822-B15E7D3BAB2B}"/>
              </a:ext>
            </a:extLst>
          </p:cNvPr>
          <p:cNvGraphicFramePr>
            <a:graphicFrameLocks noChangeAspect="1"/>
          </p:cNvGraphicFramePr>
          <p:nvPr>
            <p:extLst>
              <p:ext uri="{D42A27DB-BD31-4B8C-83A1-F6EECF244321}">
                <p14:modId xmlns:p14="http://schemas.microsoft.com/office/powerpoint/2010/main" val="376790584"/>
              </p:ext>
            </p:extLst>
          </p:nvPr>
        </p:nvGraphicFramePr>
        <p:xfrm>
          <a:off x="3916020" y="1657644"/>
          <a:ext cx="3803650" cy="2901950"/>
        </p:xfrm>
        <a:graphic>
          <a:graphicData uri="http://schemas.openxmlformats.org/presentationml/2006/ole">
            <mc:AlternateContent xmlns:mc="http://schemas.openxmlformats.org/markup-compatibility/2006">
              <mc:Choice xmlns:v="urn:schemas-microsoft-com:vml" Requires="v">
                <p:oleObj spid="_x0000_s158803" r:id="rId3" imgW="2346120" imgH="1789920" progId="Word.Document.8">
                  <p:embed/>
                </p:oleObj>
              </mc:Choice>
              <mc:Fallback>
                <p:oleObj r:id="rId3" imgW="2346120" imgH="1789920" progId="Word.Document.8">
                  <p:embed/>
                  <p:pic>
                    <p:nvPicPr>
                      <p:cNvPr id="0" name=""/>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16020" y="1657644"/>
                        <a:ext cx="3803650" cy="2901950"/>
                      </a:xfrm>
                      <a:prstGeom prst="rect">
                        <a:avLst/>
                      </a:prstGeom>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 name="Object 5">
            <a:extLst>
              <a:ext uri="{FF2B5EF4-FFF2-40B4-BE49-F238E27FC236}">
                <a16:creationId xmlns:a16="http://schemas.microsoft.com/office/drawing/2014/main" xmlns="" id="{380FE1AE-7FB6-606C-EA1B-48B0ADAC43AD}"/>
              </a:ext>
            </a:extLst>
          </p:cNvPr>
          <p:cNvGraphicFramePr>
            <a:graphicFrameLocks noChangeAspect="1"/>
          </p:cNvGraphicFramePr>
          <p:nvPr>
            <p:extLst>
              <p:ext uri="{D42A27DB-BD31-4B8C-83A1-F6EECF244321}">
                <p14:modId xmlns:p14="http://schemas.microsoft.com/office/powerpoint/2010/main" val="387342750"/>
              </p:ext>
            </p:extLst>
          </p:nvPr>
        </p:nvGraphicFramePr>
        <p:xfrm>
          <a:off x="3916020" y="4520194"/>
          <a:ext cx="3933825" cy="1903412"/>
        </p:xfrm>
        <a:graphic>
          <a:graphicData uri="http://schemas.openxmlformats.org/presentationml/2006/ole">
            <mc:AlternateContent xmlns:mc="http://schemas.openxmlformats.org/markup-compatibility/2006">
              <mc:Choice xmlns:v="urn:schemas-microsoft-com:vml" Requires="v">
                <p:oleObj spid="_x0000_s158804" r:id="rId5" imgW="2590560" imgH="1255320" progId="Word.Document.8">
                  <p:embed/>
                </p:oleObj>
              </mc:Choice>
              <mc:Fallback>
                <p:oleObj r:id="rId5" imgW="2590560" imgH="1255320" progId="Word.Document.8">
                  <p:embed/>
                  <p:pic>
                    <p:nvPicPr>
                      <p:cNvPr id="0" name=""/>
                      <p:cNvPicPr>
                        <a:picLocks noGrp="1"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16020" y="4520194"/>
                        <a:ext cx="3933825" cy="1903412"/>
                      </a:xfrm>
                      <a:prstGeom prst="rect">
                        <a:avLst/>
                      </a:prstGeom>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9" name="Group 6">
            <a:extLst>
              <a:ext uri="{FF2B5EF4-FFF2-40B4-BE49-F238E27FC236}">
                <a16:creationId xmlns:a16="http://schemas.microsoft.com/office/drawing/2014/main" xmlns="" id="{C3D782CB-AF6B-9B13-5D9B-77150F31340F}"/>
              </a:ext>
            </a:extLst>
          </p:cNvPr>
          <p:cNvGrpSpPr>
            <a:grpSpLocks/>
          </p:cNvGrpSpPr>
          <p:nvPr/>
        </p:nvGrpSpPr>
        <p:grpSpPr bwMode="auto">
          <a:xfrm>
            <a:off x="659112" y="2295286"/>
            <a:ext cx="2847975" cy="2765425"/>
            <a:chOff x="539" y="826"/>
            <a:chExt cx="1794" cy="1742"/>
          </a:xfrm>
        </p:grpSpPr>
        <p:pic>
          <p:nvPicPr>
            <p:cNvPr id="10" name="Picture 7">
              <a:extLst>
                <a:ext uri="{FF2B5EF4-FFF2-40B4-BE49-F238E27FC236}">
                  <a16:creationId xmlns:a16="http://schemas.microsoft.com/office/drawing/2014/main" xmlns="" id="{22162252-07D4-123A-D10F-45037AE437C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9" y="826"/>
              <a:ext cx="1794" cy="17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 Box 8">
              <a:extLst>
                <a:ext uri="{FF2B5EF4-FFF2-40B4-BE49-F238E27FC236}">
                  <a16:creationId xmlns:a16="http://schemas.microsoft.com/office/drawing/2014/main" xmlns="" id="{F3B2908D-1A3D-85F7-592C-AAD56D5B620E}"/>
                </a:ext>
              </a:extLst>
            </p:cNvPr>
            <p:cNvSpPr txBox="1">
              <a:spLocks noChangeArrowheads="1"/>
            </p:cNvSpPr>
            <p:nvPr/>
          </p:nvSpPr>
          <p:spPr bwMode="auto">
            <a:xfrm>
              <a:off x="1256" y="1344"/>
              <a:ext cx="51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t">
                <a:spcBef>
                  <a:spcPct val="50000"/>
                </a:spcBef>
              </a:pPr>
              <a:r>
                <a:rPr lang="en-US" altLang="zh-CN" sz="2000" b="1">
                  <a:solidFill>
                    <a:srgbClr val="000000"/>
                  </a:solidFill>
                  <a:latin typeface="Times New Roman" panose="02020603050405020304" pitchFamily="18" charset="0"/>
                </a:rPr>
                <a:t>JT</a:t>
              </a:r>
            </a:p>
          </p:txBody>
        </p:sp>
      </p:grpSp>
      <p:sp>
        <p:nvSpPr>
          <p:cNvPr id="12" name="Line 9">
            <a:extLst>
              <a:ext uri="{FF2B5EF4-FFF2-40B4-BE49-F238E27FC236}">
                <a16:creationId xmlns:a16="http://schemas.microsoft.com/office/drawing/2014/main" xmlns="" id="{280B7BEC-A65F-336F-38BA-B010D8D27D97}"/>
              </a:ext>
            </a:extLst>
          </p:cNvPr>
          <p:cNvSpPr>
            <a:spLocks noChangeShapeType="1"/>
          </p:cNvSpPr>
          <p:nvPr/>
        </p:nvSpPr>
        <p:spPr bwMode="auto">
          <a:xfrm>
            <a:off x="1726098" y="4236315"/>
            <a:ext cx="1041400"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3" name="Object 10">
            <a:extLst>
              <a:ext uri="{FF2B5EF4-FFF2-40B4-BE49-F238E27FC236}">
                <a16:creationId xmlns:a16="http://schemas.microsoft.com/office/drawing/2014/main" xmlns="" id="{A6AE20BC-2D66-8F12-B7D3-D38FE865F847}"/>
              </a:ext>
            </a:extLst>
          </p:cNvPr>
          <p:cNvGraphicFramePr>
            <a:graphicFrameLocks noChangeAspect="1"/>
          </p:cNvGraphicFramePr>
          <p:nvPr>
            <p:extLst>
              <p:ext uri="{D42A27DB-BD31-4B8C-83A1-F6EECF244321}">
                <p14:modId xmlns:p14="http://schemas.microsoft.com/office/powerpoint/2010/main" val="4027188914"/>
              </p:ext>
            </p:extLst>
          </p:nvPr>
        </p:nvGraphicFramePr>
        <p:xfrm>
          <a:off x="3953288" y="2423142"/>
          <a:ext cx="3641861" cy="2697260"/>
        </p:xfrm>
        <a:graphic>
          <a:graphicData uri="http://schemas.openxmlformats.org/presentationml/2006/ole">
            <mc:AlternateContent xmlns:mc="http://schemas.openxmlformats.org/markup-compatibility/2006">
              <mc:Choice xmlns:v="urn:schemas-microsoft-com:vml" Requires="v">
                <p:oleObj spid="_x0000_s158805" r:id="rId8" imgW="2333160" imgH="1794960" progId="Word.Document.8">
                  <p:embed/>
                </p:oleObj>
              </mc:Choice>
              <mc:Fallback>
                <p:oleObj r:id="rId8" imgW="2333160" imgH="1794960" progId="Word.Document.8">
                  <p:embed/>
                  <p:pic>
                    <p:nvPicPr>
                      <p:cNvPr id="0" name=""/>
                      <p:cNvPicPr>
                        <a:picLocks noGrp="1"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953288" y="2423142"/>
                        <a:ext cx="3641861" cy="2697260"/>
                      </a:xfrm>
                      <a:prstGeom prst="rect">
                        <a:avLst/>
                      </a:prstGeom>
                      <a:ln>
                        <a:noFill/>
                      </a:ln>
                      <a:extLst/>
                    </p:spPr>
                  </p:pic>
                </p:oleObj>
              </mc:Fallback>
            </mc:AlternateContent>
          </a:graphicData>
        </a:graphic>
      </p:graphicFrame>
    </p:spTree>
    <p:extLst>
      <p:ext uri="{BB962C8B-B14F-4D97-AF65-F5344CB8AC3E}">
        <p14:creationId xmlns:p14="http://schemas.microsoft.com/office/powerpoint/2010/main" val="2673568715"/>
      </p:ext>
    </p:extLst>
  </p:cSld>
  <p:clrMapOvr>
    <a:masterClrMapping/>
  </p:clrMapOvr>
  <p:timing>
    <p:tnLst>
      <p:par>
        <p:cTn id="1" dur="indefinite" restart="never" nodeType="tmRoot"/>
      </p:par>
    </p:tnLst>
  </p:timing>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203</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5.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正弦波</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振荡器</a:t>
            </a:r>
          </a:p>
        </p:txBody>
      </p:sp>
      <p:graphicFrame>
        <p:nvGraphicFramePr>
          <p:cNvPr id="5" name="Object 6">
            <a:extLst>
              <a:ext uri="{FF2B5EF4-FFF2-40B4-BE49-F238E27FC236}">
                <a16:creationId xmlns:a16="http://schemas.microsoft.com/office/drawing/2014/main" xmlns="" id="{5B1E92BB-BE83-3E2B-E620-33BE3649EA99}"/>
              </a:ext>
            </a:extLst>
          </p:cNvPr>
          <p:cNvGraphicFramePr>
            <a:graphicFrameLocks noChangeAspect="1"/>
          </p:cNvGraphicFramePr>
          <p:nvPr>
            <p:extLst>
              <p:ext uri="{D42A27DB-BD31-4B8C-83A1-F6EECF244321}">
                <p14:modId xmlns:p14="http://schemas.microsoft.com/office/powerpoint/2010/main" val="892505835"/>
              </p:ext>
            </p:extLst>
          </p:nvPr>
        </p:nvGraphicFramePr>
        <p:xfrm>
          <a:off x="1115616" y="1556792"/>
          <a:ext cx="6502400" cy="1304925"/>
        </p:xfrm>
        <a:graphic>
          <a:graphicData uri="http://schemas.openxmlformats.org/presentationml/2006/ole">
            <mc:AlternateContent xmlns:mc="http://schemas.openxmlformats.org/markup-compatibility/2006">
              <mc:Choice xmlns:v="urn:schemas-microsoft-com:vml" Requires="v">
                <p:oleObj spid="_x0000_s159908" r:id="rId3" imgW="4323240" imgH="902880" progId="Word.Document.8">
                  <p:embed/>
                </p:oleObj>
              </mc:Choice>
              <mc:Fallback>
                <p:oleObj r:id="rId3" imgW="4323240" imgH="902880" progId="Word.Document.8">
                  <p:embed/>
                  <p:pic>
                    <p:nvPicPr>
                      <p:cNvPr id="0" name=""/>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5616" y="1556792"/>
                        <a:ext cx="6502400" cy="1304925"/>
                      </a:xfrm>
                      <a:prstGeom prst="rect">
                        <a:avLst/>
                      </a:prstGeom>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 name="Object 7">
            <a:extLst>
              <a:ext uri="{FF2B5EF4-FFF2-40B4-BE49-F238E27FC236}">
                <a16:creationId xmlns:a16="http://schemas.microsoft.com/office/drawing/2014/main" xmlns="" id="{CC960AE7-0834-A3A7-3B5F-BF496308F5AE}"/>
              </a:ext>
            </a:extLst>
          </p:cNvPr>
          <p:cNvGraphicFramePr>
            <a:graphicFrameLocks noChangeAspect="1"/>
          </p:cNvGraphicFramePr>
          <p:nvPr>
            <p:extLst>
              <p:ext uri="{D42A27DB-BD31-4B8C-83A1-F6EECF244321}">
                <p14:modId xmlns:p14="http://schemas.microsoft.com/office/powerpoint/2010/main" val="2197673337"/>
              </p:ext>
            </p:extLst>
          </p:nvPr>
        </p:nvGraphicFramePr>
        <p:xfrm>
          <a:off x="1117204" y="3434258"/>
          <a:ext cx="5751513" cy="476250"/>
        </p:xfrm>
        <a:graphic>
          <a:graphicData uri="http://schemas.openxmlformats.org/presentationml/2006/ole">
            <mc:AlternateContent xmlns:mc="http://schemas.openxmlformats.org/markup-compatibility/2006">
              <mc:Choice xmlns:v="urn:schemas-microsoft-com:vml" Requires="v">
                <p:oleObj spid="_x0000_s159909" r:id="rId5" imgW="3538220" imgH="304800" progId="Word.Document.8">
                  <p:embed/>
                </p:oleObj>
              </mc:Choice>
              <mc:Fallback>
                <p:oleObj r:id="rId5" imgW="3538220" imgH="304800" progId="Word.Document.8">
                  <p:embed/>
                  <p:pic>
                    <p:nvPicPr>
                      <p:cNvPr id="0" name=""/>
                      <p:cNvPicPr>
                        <a:picLocks noGrp="1"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17204" y="3434258"/>
                        <a:ext cx="5751513" cy="476250"/>
                      </a:xfrm>
                      <a:prstGeom prst="rect">
                        <a:avLst/>
                      </a:prstGeom>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 name="Object 8">
            <a:extLst>
              <a:ext uri="{FF2B5EF4-FFF2-40B4-BE49-F238E27FC236}">
                <a16:creationId xmlns:a16="http://schemas.microsoft.com/office/drawing/2014/main" xmlns="" id="{52B07AEA-0519-FFD4-620A-BE83E52BF8DA}"/>
              </a:ext>
            </a:extLst>
          </p:cNvPr>
          <p:cNvGraphicFramePr>
            <a:graphicFrameLocks noChangeAspect="1"/>
          </p:cNvGraphicFramePr>
          <p:nvPr>
            <p:extLst>
              <p:ext uri="{D42A27DB-BD31-4B8C-83A1-F6EECF244321}">
                <p14:modId xmlns:p14="http://schemas.microsoft.com/office/powerpoint/2010/main" val="507282860"/>
              </p:ext>
            </p:extLst>
          </p:nvPr>
        </p:nvGraphicFramePr>
        <p:xfrm>
          <a:off x="4013473" y="2602954"/>
          <a:ext cx="1663700" cy="752475"/>
        </p:xfrm>
        <a:graphic>
          <a:graphicData uri="http://schemas.openxmlformats.org/presentationml/2006/ole">
            <mc:AlternateContent xmlns:mc="http://schemas.openxmlformats.org/markup-compatibility/2006">
              <mc:Choice xmlns:v="urn:schemas-microsoft-com:vml" Requires="v">
                <p:oleObj spid="_x0000_s159910" r:id="rId7" imgW="1078992" imgH="509016" progId="Word.Document.8">
                  <p:embed/>
                </p:oleObj>
              </mc:Choice>
              <mc:Fallback>
                <p:oleObj r:id="rId7" imgW="1078992" imgH="509016" progId="Word.Document.8">
                  <p:embed/>
                  <p:pic>
                    <p:nvPicPr>
                      <p:cNvPr id="0" name=""/>
                      <p:cNvPicPr>
                        <a:picLocks noGrp="1"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013473" y="2602954"/>
                        <a:ext cx="1663700" cy="752475"/>
                      </a:xfrm>
                      <a:prstGeom prst="rect">
                        <a:avLst/>
                      </a:prstGeom>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 name="Object 9">
            <a:extLst>
              <a:ext uri="{FF2B5EF4-FFF2-40B4-BE49-F238E27FC236}">
                <a16:creationId xmlns:a16="http://schemas.microsoft.com/office/drawing/2014/main" xmlns="" id="{446F47D2-D838-D902-AEB3-10A351A0C485}"/>
              </a:ext>
            </a:extLst>
          </p:cNvPr>
          <p:cNvGraphicFramePr>
            <a:graphicFrameLocks noChangeAspect="1"/>
          </p:cNvGraphicFramePr>
          <p:nvPr>
            <p:extLst>
              <p:ext uri="{D42A27DB-BD31-4B8C-83A1-F6EECF244321}">
                <p14:modId xmlns:p14="http://schemas.microsoft.com/office/powerpoint/2010/main" val="3368661496"/>
              </p:ext>
            </p:extLst>
          </p:nvPr>
        </p:nvGraphicFramePr>
        <p:xfrm>
          <a:off x="1128986" y="2849017"/>
          <a:ext cx="3165475" cy="409575"/>
        </p:xfrm>
        <a:graphic>
          <a:graphicData uri="http://schemas.openxmlformats.org/presentationml/2006/ole">
            <mc:AlternateContent xmlns:mc="http://schemas.openxmlformats.org/markup-compatibility/2006">
              <mc:Choice xmlns:v="urn:schemas-microsoft-com:vml" Requires="v">
                <p:oleObj spid="_x0000_s159911" r:id="rId9" imgW="2184400" imgH="292100" progId="Word.Document.8">
                  <p:embed/>
                </p:oleObj>
              </mc:Choice>
              <mc:Fallback>
                <p:oleObj r:id="rId9" imgW="2184400" imgH="292100" progId="Word.Document.8">
                  <p:embed/>
                  <p:pic>
                    <p:nvPicPr>
                      <p:cNvPr id="0" name=""/>
                      <p:cNvPicPr>
                        <a:picLocks noGrp="1"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28986" y="2849017"/>
                        <a:ext cx="3165475" cy="409575"/>
                      </a:xfrm>
                      <a:prstGeom prst="rect">
                        <a:avLst/>
                      </a:prstGeom>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9" name="Object 10">
            <a:extLst>
              <a:ext uri="{FF2B5EF4-FFF2-40B4-BE49-F238E27FC236}">
                <a16:creationId xmlns:a16="http://schemas.microsoft.com/office/drawing/2014/main" xmlns="" id="{75FB2095-7B99-1919-2E00-BCE646776FDC}"/>
              </a:ext>
            </a:extLst>
          </p:cNvPr>
          <p:cNvGraphicFramePr>
            <a:graphicFrameLocks noChangeAspect="1"/>
          </p:cNvGraphicFramePr>
          <p:nvPr>
            <p:extLst>
              <p:ext uri="{D42A27DB-BD31-4B8C-83A1-F6EECF244321}">
                <p14:modId xmlns:p14="http://schemas.microsoft.com/office/powerpoint/2010/main" val="1814701758"/>
              </p:ext>
            </p:extLst>
          </p:nvPr>
        </p:nvGraphicFramePr>
        <p:xfrm>
          <a:off x="1115616" y="4006824"/>
          <a:ext cx="5473700" cy="709613"/>
        </p:xfrm>
        <a:graphic>
          <a:graphicData uri="http://schemas.openxmlformats.org/presentationml/2006/ole">
            <mc:AlternateContent xmlns:mc="http://schemas.openxmlformats.org/markup-compatibility/2006">
              <mc:Choice xmlns:v="urn:schemas-microsoft-com:vml" Requires="v">
                <p:oleObj spid="_x0000_s159912" r:id="rId11" imgW="3649980" imgH="426720" progId="Word.Document.8">
                  <p:embed/>
                </p:oleObj>
              </mc:Choice>
              <mc:Fallback>
                <p:oleObj r:id="rId11" imgW="3649980" imgH="426720" progId="Word.Document.8">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115616" y="4006824"/>
                        <a:ext cx="5473700" cy="70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0" name="Object 11">
            <a:extLst>
              <a:ext uri="{FF2B5EF4-FFF2-40B4-BE49-F238E27FC236}">
                <a16:creationId xmlns:a16="http://schemas.microsoft.com/office/drawing/2014/main" xmlns="" id="{CBDEF42D-0AE6-5A2B-44E1-70F411D314EE}"/>
              </a:ext>
            </a:extLst>
          </p:cNvPr>
          <p:cNvGraphicFramePr>
            <a:graphicFrameLocks noChangeAspect="1"/>
          </p:cNvGraphicFramePr>
          <p:nvPr>
            <p:extLst>
              <p:ext uri="{D42A27DB-BD31-4B8C-83A1-F6EECF244321}">
                <p14:modId xmlns:p14="http://schemas.microsoft.com/office/powerpoint/2010/main" val="2738519451"/>
              </p:ext>
            </p:extLst>
          </p:nvPr>
        </p:nvGraphicFramePr>
        <p:xfrm>
          <a:off x="2189510" y="4942995"/>
          <a:ext cx="2451174" cy="817058"/>
        </p:xfrm>
        <a:graphic>
          <a:graphicData uri="http://schemas.openxmlformats.org/presentationml/2006/ole">
            <mc:AlternateContent xmlns:mc="http://schemas.openxmlformats.org/markup-compatibility/2006">
              <mc:Choice xmlns:v="urn:schemas-microsoft-com:vml" Requires="v">
                <p:oleObj spid="_x0000_s159913" r:id="rId13" imgW="1315212" imgH="495300" progId="Word.Document.8">
                  <p:embed/>
                </p:oleObj>
              </mc:Choice>
              <mc:Fallback>
                <p:oleObj r:id="rId13" imgW="1315212" imgH="495300" progId="Word.Document.8">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189510" y="4942995"/>
                        <a:ext cx="2451174" cy="817058"/>
                      </a:xfrm>
                      <a:prstGeom prst="rect">
                        <a:avLst/>
                      </a:prstGeom>
                      <a:noFill/>
                      <a:ln>
                        <a:noFill/>
                      </a:ln>
                      <a:extLst/>
                    </p:spPr>
                  </p:pic>
                </p:oleObj>
              </mc:Fallback>
            </mc:AlternateContent>
          </a:graphicData>
        </a:graphic>
      </p:graphicFrame>
      <p:sp>
        <p:nvSpPr>
          <p:cNvPr id="11" name="AutoShape 12">
            <a:extLst>
              <a:ext uri="{FF2B5EF4-FFF2-40B4-BE49-F238E27FC236}">
                <a16:creationId xmlns:a16="http://schemas.microsoft.com/office/drawing/2014/main" xmlns="" id="{B076B16E-DE0A-6DEC-CC1A-8D7C0BDC264E}"/>
              </a:ext>
            </a:extLst>
          </p:cNvPr>
          <p:cNvSpPr>
            <a:spLocks/>
          </p:cNvSpPr>
          <p:nvPr/>
        </p:nvSpPr>
        <p:spPr bwMode="auto">
          <a:xfrm>
            <a:off x="2145060" y="4850853"/>
            <a:ext cx="88900" cy="914400"/>
          </a:xfrm>
          <a:prstGeom prst="leftBrace">
            <a:avLst>
              <a:gd name="adj1" fmla="val 85667"/>
              <a:gd name="adj2" fmla="val 50000"/>
            </a:avLst>
          </a:prstGeom>
          <a:noFill/>
          <a:ln w="254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zh-CN" altLang="en-US"/>
          </a:p>
        </p:txBody>
      </p:sp>
    </p:spTree>
    <p:extLst>
      <p:ext uri="{BB962C8B-B14F-4D97-AF65-F5344CB8AC3E}">
        <p14:creationId xmlns:p14="http://schemas.microsoft.com/office/powerpoint/2010/main" val="3085566351"/>
      </p:ext>
    </p:extLst>
  </p:cSld>
  <p:clrMapOvr>
    <a:masterClrMapping/>
  </p:clrMapOvr>
  <p:timing>
    <p:tnLst>
      <p:par>
        <p:cTn id="1" dur="indefinite" restart="never" nodeType="tmRoot"/>
      </p:par>
    </p:tnLst>
  </p:timing>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204</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5.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正弦波</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振荡器</a:t>
            </a:r>
          </a:p>
        </p:txBody>
      </p:sp>
      <p:graphicFrame>
        <p:nvGraphicFramePr>
          <p:cNvPr id="5" name="Object 13">
            <a:extLst>
              <a:ext uri="{FF2B5EF4-FFF2-40B4-BE49-F238E27FC236}">
                <a16:creationId xmlns:a16="http://schemas.microsoft.com/office/drawing/2014/main" xmlns="" id="{15296BC4-6BF3-6A21-0D93-F862A3FFC255}"/>
              </a:ext>
            </a:extLst>
          </p:cNvPr>
          <p:cNvGraphicFramePr>
            <a:graphicFrameLocks noChangeAspect="1"/>
          </p:cNvGraphicFramePr>
          <p:nvPr>
            <p:extLst>
              <p:ext uri="{D42A27DB-BD31-4B8C-83A1-F6EECF244321}">
                <p14:modId xmlns:p14="http://schemas.microsoft.com/office/powerpoint/2010/main" val="815294134"/>
              </p:ext>
            </p:extLst>
          </p:nvPr>
        </p:nvGraphicFramePr>
        <p:xfrm>
          <a:off x="467544" y="1412776"/>
          <a:ext cx="3022600" cy="558800"/>
        </p:xfrm>
        <a:graphic>
          <a:graphicData uri="http://schemas.openxmlformats.org/presentationml/2006/ole">
            <mc:AlternateContent xmlns:mc="http://schemas.openxmlformats.org/markup-compatibility/2006">
              <mc:Choice xmlns:v="urn:schemas-microsoft-com:vml" Requires="v">
                <p:oleObj spid="_x0000_s160905" r:id="rId3" imgW="1961640" imgH="361440" progId="Word.Document.8">
                  <p:embed/>
                </p:oleObj>
              </mc:Choice>
              <mc:Fallback>
                <p:oleObj r:id="rId3" imgW="1961640" imgH="361440" progId="Word.Document.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7544" y="1412776"/>
                        <a:ext cx="30226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 name="Object 14">
            <a:extLst>
              <a:ext uri="{FF2B5EF4-FFF2-40B4-BE49-F238E27FC236}">
                <a16:creationId xmlns:a16="http://schemas.microsoft.com/office/drawing/2014/main" xmlns="" id="{8907B0B2-76F9-A6DF-D912-FC9F4A77485A}"/>
              </a:ext>
            </a:extLst>
          </p:cNvPr>
          <p:cNvGraphicFramePr>
            <a:graphicFrameLocks noChangeAspect="1"/>
          </p:cNvGraphicFramePr>
          <p:nvPr>
            <p:extLst>
              <p:ext uri="{D42A27DB-BD31-4B8C-83A1-F6EECF244321}">
                <p14:modId xmlns:p14="http://schemas.microsoft.com/office/powerpoint/2010/main" val="2113176233"/>
              </p:ext>
            </p:extLst>
          </p:nvPr>
        </p:nvGraphicFramePr>
        <p:xfrm>
          <a:off x="417514" y="1936751"/>
          <a:ext cx="1871730" cy="391186"/>
        </p:xfrm>
        <a:graphic>
          <a:graphicData uri="http://schemas.openxmlformats.org/presentationml/2006/ole">
            <mc:AlternateContent xmlns:mc="http://schemas.openxmlformats.org/markup-compatibility/2006">
              <mc:Choice xmlns:v="urn:schemas-microsoft-com:vml" Requires="v">
                <p:oleObj spid="_x0000_s160906" r:id="rId5" imgW="1104480" imgH="247320" progId="Word.Document.8">
                  <p:embed/>
                </p:oleObj>
              </mc:Choice>
              <mc:Fallback>
                <p:oleObj r:id="rId5" imgW="1104480" imgH="247320" progId="Word.Document.8">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7514" y="1936751"/>
                        <a:ext cx="1871730" cy="391186"/>
                      </a:xfrm>
                      <a:prstGeom prst="rect">
                        <a:avLst/>
                      </a:prstGeom>
                      <a:noFill/>
                      <a:ln>
                        <a:noFill/>
                      </a:ln>
                      <a:extLst/>
                    </p:spPr>
                  </p:pic>
                </p:oleObj>
              </mc:Fallback>
            </mc:AlternateContent>
          </a:graphicData>
        </a:graphic>
      </p:graphicFrame>
      <p:graphicFrame>
        <p:nvGraphicFramePr>
          <p:cNvPr id="7" name="Object 15">
            <a:extLst>
              <a:ext uri="{FF2B5EF4-FFF2-40B4-BE49-F238E27FC236}">
                <a16:creationId xmlns:a16="http://schemas.microsoft.com/office/drawing/2014/main" xmlns="" id="{00A07403-06C0-6D0B-2CA9-4A283029F31A}"/>
              </a:ext>
            </a:extLst>
          </p:cNvPr>
          <p:cNvGraphicFramePr>
            <a:graphicFrameLocks noChangeAspect="1"/>
          </p:cNvGraphicFramePr>
          <p:nvPr>
            <p:extLst>
              <p:ext uri="{D42A27DB-BD31-4B8C-83A1-F6EECF244321}">
                <p14:modId xmlns:p14="http://schemas.microsoft.com/office/powerpoint/2010/main" val="3571028799"/>
              </p:ext>
            </p:extLst>
          </p:nvPr>
        </p:nvGraphicFramePr>
        <p:xfrm>
          <a:off x="443212" y="2316693"/>
          <a:ext cx="4005571" cy="1659667"/>
        </p:xfrm>
        <a:graphic>
          <a:graphicData uri="http://schemas.openxmlformats.org/presentationml/2006/ole">
            <mc:AlternateContent xmlns:mc="http://schemas.openxmlformats.org/markup-compatibility/2006">
              <mc:Choice xmlns:v="urn:schemas-microsoft-com:vml" Requires="v">
                <p:oleObj spid="_x0000_s160907" r:id="rId7" imgW="2702560" imgH="1109980" progId="Word.Document.8">
                  <p:embed/>
                </p:oleObj>
              </mc:Choice>
              <mc:Fallback>
                <p:oleObj r:id="rId7" imgW="2702560" imgH="1109980" progId="Word.Document.8">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3212" y="2316693"/>
                        <a:ext cx="4005571" cy="1659667"/>
                      </a:xfrm>
                      <a:prstGeom prst="rect">
                        <a:avLst/>
                      </a:prstGeom>
                      <a:noFill/>
                      <a:ln>
                        <a:noFill/>
                      </a:ln>
                      <a:extLst/>
                    </p:spPr>
                  </p:pic>
                </p:oleObj>
              </mc:Fallback>
            </mc:AlternateContent>
          </a:graphicData>
        </a:graphic>
      </p:graphicFrame>
      <p:graphicFrame>
        <p:nvGraphicFramePr>
          <p:cNvPr id="8" name="Object 16">
            <a:extLst>
              <a:ext uri="{FF2B5EF4-FFF2-40B4-BE49-F238E27FC236}">
                <a16:creationId xmlns:a16="http://schemas.microsoft.com/office/drawing/2014/main" xmlns="" id="{6689FC1F-83C0-493E-887C-E83FAD32E90E}"/>
              </a:ext>
            </a:extLst>
          </p:cNvPr>
          <p:cNvGraphicFramePr>
            <a:graphicFrameLocks noChangeAspect="1"/>
          </p:cNvGraphicFramePr>
          <p:nvPr>
            <p:extLst>
              <p:ext uri="{D42A27DB-BD31-4B8C-83A1-F6EECF244321}">
                <p14:modId xmlns:p14="http://schemas.microsoft.com/office/powerpoint/2010/main" val="1147266446"/>
              </p:ext>
            </p:extLst>
          </p:nvPr>
        </p:nvGraphicFramePr>
        <p:xfrm>
          <a:off x="396604" y="4321175"/>
          <a:ext cx="3657600" cy="457200"/>
        </p:xfrm>
        <a:graphic>
          <a:graphicData uri="http://schemas.openxmlformats.org/presentationml/2006/ole">
            <mc:AlternateContent xmlns:mc="http://schemas.openxmlformats.org/markup-compatibility/2006">
              <mc:Choice xmlns:v="urn:schemas-microsoft-com:vml" Requires="v">
                <p:oleObj spid="_x0000_s160908" r:id="rId9" imgW="2252980" imgH="289560" progId="Word.Document.8">
                  <p:embed/>
                </p:oleObj>
              </mc:Choice>
              <mc:Fallback>
                <p:oleObj r:id="rId9" imgW="2252980" imgH="289560" progId="Word.Document.8">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96604" y="4321175"/>
                        <a:ext cx="3657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9" name="Group 17">
            <a:extLst>
              <a:ext uri="{FF2B5EF4-FFF2-40B4-BE49-F238E27FC236}">
                <a16:creationId xmlns:a16="http://schemas.microsoft.com/office/drawing/2014/main" xmlns="" id="{A2CC7FDD-2A2B-3933-AF80-94E464FABEDF}"/>
              </a:ext>
            </a:extLst>
          </p:cNvPr>
          <p:cNvGrpSpPr>
            <a:grpSpLocks/>
          </p:cNvGrpSpPr>
          <p:nvPr/>
        </p:nvGrpSpPr>
        <p:grpSpPr bwMode="auto">
          <a:xfrm>
            <a:off x="422303" y="4851738"/>
            <a:ext cx="3657600" cy="762000"/>
            <a:chOff x="384" y="1968"/>
            <a:chExt cx="2304" cy="432"/>
          </a:xfrm>
        </p:grpSpPr>
        <p:graphicFrame>
          <p:nvGraphicFramePr>
            <p:cNvPr id="10" name="Object 18">
              <a:extLst>
                <a:ext uri="{FF2B5EF4-FFF2-40B4-BE49-F238E27FC236}">
                  <a16:creationId xmlns:a16="http://schemas.microsoft.com/office/drawing/2014/main" xmlns="" id="{52EEC526-CD4E-CBC3-90C0-501DD8B723A7}"/>
                </a:ext>
              </a:extLst>
            </p:cNvPr>
            <p:cNvGraphicFramePr>
              <a:graphicFrameLocks noChangeAspect="1"/>
            </p:cNvGraphicFramePr>
            <p:nvPr/>
          </p:nvGraphicFramePr>
          <p:xfrm>
            <a:off x="480" y="1968"/>
            <a:ext cx="2208" cy="432"/>
          </p:xfrm>
          <a:graphic>
            <a:graphicData uri="http://schemas.openxmlformats.org/presentationml/2006/ole">
              <mc:AlternateContent xmlns:mc="http://schemas.openxmlformats.org/markup-compatibility/2006">
                <mc:Choice xmlns:v="urn:schemas-microsoft-com:vml" Requires="v">
                  <p:oleObj spid="_x0000_s160909" r:id="rId11" imgW="1981200" imgH="495300" progId="Word.Document.8">
                    <p:embed/>
                  </p:oleObj>
                </mc:Choice>
                <mc:Fallback>
                  <p:oleObj r:id="rId11" imgW="1981200" imgH="495300" progId="Word.Document.8">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80" y="1968"/>
                          <a:ext cx="2208"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1" name="AutoShape 19">
              <a:extLst>
                <a:ext uri="{FF2B5EF4-FFF2-40B4-BE49-F238E27FC236}">
                  <a16:creationId xmlns:a16="http://schemas.microsoft.com/office/drawing/2014/main" xmlns="" id="{89680CB6-71E1-7FE5-0498-469B7E7A893C}"/>
                </a:ext>
              </a:extLst>
            </p:cNvPr>
            <p:cNvSpPr>
              <a:spLocks/>
            </p:cNvSpPr>
            <p:nvPr/>
          </p:nvSpPr>
          <p:spPr bwMode="auto">
            <a:xfrm>
              <a:off x="384" y="2016"/>
              <a:ext cx="48" cy="336"/>
            </a:xfrm>
            <a:prstGeom prst="leftBrace">
              <a:avLst>
                <a:gd name="adj1" fmla="val 58301"/>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pic>
        <p:nvPicPr>
          <p:cNvPr id="12" name="图片 11">
            <a:extLst>
              <a:ext uri="{FF2B5EF4-FFF2-40B4-BE49-F238E27FC236}">
                <a16:creationId xmlns:a16="http://schemas.microsoft.com/office/drawing/2014/main" xmlns="" id="{98F90AA4-CF29-8A5C-B6A0-6407B74D0A17}"/>
              </a:ext>
            </a:extLst>
          </p:cNvPr>
          <p:cNvPicPr>
            <a:picLocks noChangeAspect="1"/>
          </p:cNvPicPr>
          <p:nvPr/>
        </p:nvPicPr>
        <p:blipFill>
          <a:blip r:embed="rId13"/>
          <a:stretch>
            <a:fillRect/>
          </a:stretch>
        </p:blipFill>
        <p:spPr>
          <a:xfrm>
            <a:off x="4904770" y="1556792"/>
            <a:ext cx="3787609" cy="2829632"/>
          </a:xfrm>
          <a:prstGeom prst="rect">
            <a:avLst/>
          </a:prstGeom>
        </p:spPr>
      </p:pic>
      <p:pic>
        <p:nvPicPr>
          <p:cNvPr id="13" name="图片 12">
            <a:extLst>
              <a:ext uri="{FF2B5EF4-FFF2-40B4-BE49-F238E27FC236}">
                <a16:creationId xmlns:a16="http://schemas.microsoft.com/office/drawing/2014/main" xmlns="" id="{73E89B62-4BA7-C169-E370-D3E3085724C0}"/>
              </a:ext>
            </a:extLst>
          </p:cNvPr>
          <p:cNvPicPr>
            <a:picLocks noChangeAspect="1"/>
          </p:cNvPicPr>
          <p:nvPr/>
        </p:nvPicPr>
        <p:blipFill>
          <a:blip r:embed="rId14"/>
          <a:stretch>
            <a:fillRect/>
          </a:stretch>
        </p:blipFill>
        <p:spPr>
          <a:xfrm>
            <a:off x="4113760" y="4447099"/>
            <a:ext cx="4739765" cy="1109848"/>
          </a:xfrm>
          <a:prstGeom prst="rect">
            <a:avLst/>
          </a:prstGeom>
        </p:spPr>
      </p:pic>
      <p:pic>
        <p:nvPicPr>
          <p:cNvPr id="14" name="图片 13">
            <a:extLst>
              <a:ext uri="{FF2B5EF4-FFF2-40B4-BE49-F238E27FC236}">
                <a16:creationId xmlns:a16="http://schemas.microsoft.com/office/drawing/2014/main" xmlns="" id="{5496F4FB-3046-496A-EC26-44D5F3FCC9D1}"/>
              </a:ext>
            </a:extLst>
          </p:cNvPr>
          <p:cNvPicPr>
            <a:picLocks noChangeAspect="1"/>
          </p:cNvPicPr>
          <p:nvPr/>
        </p:nvPicPr>
        <p:blipFill>
          <a:blip r:embed="rId15"/>
          <a:stretch>
            <a:fillRect/>
          </a:stretch>
        </p:blipFill>
        <p:spPr>
          <a:xfrm>
            <a:off x="4075113" y="5566819"/>
            <a:ext cx="4285581" cy="1194744"/>
          </a:xfrm>
          <a:prstGeom prst="rect">
            <a:avLst/>
          </a:prstGeom>
        </p:spPr>
      </p:pic>
    </p:spTree>
    <p:extLst>
      <p:ext uri="{BB962C8B-B14F-4D97-AF65-F5344CB8AC3E}">
        <p14:creationId xmlns:p14="http://schemas.microsoft.com/office/powerpoint/2010/main" val="3875054011"/>
      </p:ext>
    </p:extLst>
  </p:cSld>
  <p:clrMapOvr>
    <a:masterClrMapping/>
  </p:clrMapOvr>
  <p:timing>
    <p:tnLst>
      <p:par>
        <p:cTn id="1" dur="indefinite" restart="never" nodeType="tmRoot"/>
      </p:par>
    </p:tnLst>
  </p:timing>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205</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5.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正弦波</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振荡器</a:t>
            </a:r>
          </a:p>
        </p:txBody>
      </p:sp>
      <p:sp>
        <p:nvSpPr>
          <p:cNvPr id="5" name="Rectangle 17">
            <a:extLst>
              <a:ext uri="{FF2B5EF4-FFF2-40B4-BE49-F238E27FC236}">
                <a16:creationId xmlns:a16="http://schemas.microsoft.com/office/drawing/2014/main" xmlns="" id="{17163D1C-BC7E-D510-5AFA-480A21423764}"/>
              </a:ext>
            </a:extLst>
          </p:cNvPr>
          <p:cNvSpPr txBox="1">
            <a:spLocks noChangeArrowheads="1"/>
          </p:cNvSpPr>
          <p:nvPr/>
        </p:nvSpPr>
        <p:spPr>
          <a:xfrm>
            <a:off x="323850" y="1340768"/>
            <a:ext cx="3608387" cy="666750"/>
          </a:xfrm>
          <a:prstGeom prst="rect">
            <a:avLst/>
          </a:prstGeom>
        </p:spPr>
        <p:txBody>
          <a:bodyPr/>
          <a:lstStyle>
            <a:lvl1pPr algn="l" rtl="0" eaLnBrk="0" fontAlgn="base" hangingPunct="0">
              <a:spcBef>
                <a:spcPct val="0"/>
              </a:spcBef>
              <a:spcAft>
                <a:spcPct val="0"/>
              </a:spcAft>
              <a:defRPr lang="zh-CN" altLang="en-US" sz="3600" b="1" baseline="0" dirty="0" smtClean="0">
                <a:solidFill>
                  <a:schemeClr val="tx2"/>
                </a:solidFill>
                <a:latin typeface="Times New Roman" panose="02020603050405020304" pitchFamily="18" charset="0"/>
                <a:ea typeface="楷体" panose="02010609060101010101" pitchFamily="49" charset="-122"/>
                <a:cs typeface="+mj-cs"/>
              </a:defRPr>
            </a:lvl1pPr>
            <a:lvl2pPr algn="ctr" rtl="0" eaLnBrk="0" fontAlgn="base" hangingPunct="0">
              <a:spcBef>
                <a:spcPct val="0"/>
              </a:spcBef>
              <a:spcAft>
                <a:spcPct val="0"/>
              </a:spcAft>
              <a:defRPr sz="3200">
                <a:solidFill>
                  <a:schemeClr val="tx2"/>
                </a:solidFill>
                <a:latin typeface="Arial" pitchFamily="34" charset="0"/>
                <a:ea typeface="宋体" pitchFamily="2" charset="-122"/>
              </a:defRPr>
            </a:lvl2pPr>
            <a:lvl3pPr algn="ctr" rtl="0" eaLnBrk="0" fontAlgn="base" hangingPunct="0">
              <a:spcBef>
                <a:spcPct val="0"/>
              </a:spcBef>
              <a:spcAft>
                <a:spcPct val="0"/>
              </a:spcAft>
              <a:defRPr sz="3200">
                <a:solidFill>
                  <a:schemeClr val="tx2"/>
                </a:solidFill>
                <a:latin typeface="Arial" pitchFamily="34" charset="0"/>
                <a:ea typeface="宋体" pitchFamily="2" charset="-122"/>
              </a:defRPr>
            </a:lvl3pPr>
            <a:lvl4pPr algn="ctr" rtl="0" eaLnBrk="0" fontAlgn="base" hangingPunct="0">
              <a:spcBef>
                <a:spcPct val="0"/>
              </a:spcBef>
              <a:spcAft>
                <a:spcPct val="0"/>
              </a:spcAft>
              <a:defRPr sz="3200">
                <a:solidFill>
                  <a:schemeClr val="tx2"/>
                </a:solidFill>
                <a:latin typeface="Arial" pitchFamily="34" charset="0"/>
                <a:ea typeface="宋体" pitchFamily="2" charset="-122"/>
              </a:defRPr>
            </a:lvl4pPr>
            <a:lvl5pPr algn="ctr" rtl="0" eaLnBrk="0" fontAlgn="base" hangingPunct="0">
              <a:spcBef>
                <a:spcPct val="0"/>
              </a:spcBef>
              <a:spcAft>
                <a:spcPct val="0"/>
              </a:spcAft>
              <a:defRPr sz="3200">
                <a:solidFill>
                  <a:schemeClr val="tx2"/>
                </a:solidFill>
                <a:latin typeface="Arial" pitchFamily="34" charset="0"/>
                <a:ea typeface="宋体" pitchFamily="2" charset="-122"/>
              </a:defRPr>
            </a:lvl5pPr>
            <a:lvl6pPr marL="457200" algn="ctr" rtl="0" eaLnBrk="0" fontAlgn="base" hangingPunct="0">
              <a:spcBef>
                <a:spcPct val="0"/>
              </a:spcBef>
              <a:spcAft>
                <a:spcPct val="0"/>
              </a:spcAft>
              <a:defRPr sz="3200">
                <a:solidFill>
                  <a:schemeClr val="tx2"/>
                </a:solidFill>
                <a:latin typeface="Arial" pitchFamily="34" charset="0"/>
                <a:ea typeface="宋体" pitchFamily="2" charset="-122"/>
              </a:defRPr>
            </a:lvl6pPr>
            <a:lvl7pPr marL="914400" algn="ctr" rtl="0" eaLnBrk="0" fontAlgn="base" hangingPunct="0">
              <a:spcBef>
                <a:spcPct val="0"/>
              </a:spcBef>
              <a:spcAft>
                <a:spcPct val="0"/>
              </a:spcAft>
              <a:defRPr sz="3200">
                <a:solidFill>
                  <a:schemeClr val="tx2"/>
                </a:solidFill>
                <a:latin typeface="Arial" pitchFamily="34" charset="0"/>
                <a:ea typeface="宋体" pitchFamily="2" charset="-122"/>
              </a:defRPr>
            </a:lvl7pPr>
            <a:lvl8pPr marL="1371600" algn="ctr" rtl="0" eaLnBrk="0" fontAlgn="base" hangingPunct="0">
              <a:spcBef>
                <a:spcPct val="0"/>
              </a:spcBef>
              <a:spcAft>
                <a:spcPct val="0"/>
              </a:spcAft>
              <a:defRPr sz="3200">
                <a:solidFill>
                  <a:schemeClr val="tx2"/>
                </a:solidFill>
                <a:latin typeface="Arial" pitchFamily="34" charset="0"/>
                <a:ea typeface="宋体" pitchFamily="2" charset="-122"/>
              </a:defRPr>
            </a:lvl8pPr>
            <a:lvl9pPr marL="1828800" algn="ctr" rtl="0" eaLnBrk="0" fontAlgn="base" hangingPunct="0">
              <a:spcBef>
                <a:spcPct val="0"/>
              </a:spcBef>
              <a:spcAft>
                <a:spcPct val="0"/>
              </a:spcAft>
              <a:defRPr sz="3200">
                <a:solidFill>
                  <a:schemeClr val="tx2"/>
                </a:solidFill>
                <a:latin typeface="Arial" pitchFamily="34" charset="0"/>
                <a:ea typeface="宋体" pitchFamily="2" charset="-122"/>
              </a:defRPr>
            </a:lvl9pPr>
          </a:lstStyle>
          <a:p>
            <a:pPr eaLnBrk="1" hangingPunct="1"/>
            <a:r>
              <a:rPr lang="zh-CN" altLang="en-US" sz="2400" kern="0" dirty="0">
                <a:solidFill>
                  <a:srgbClr val="0033CC"/>
                </a:solidFill>
              </a:rPr>
              <a:t>二、文氏电桥振荡器</a:t>
            </a:r>
          </a:p>
        </p:txBody>
      </p:sp>
      <p:graphicFrame>
        <p:nvGraphicFramePr>
          <p:cNvPr id="6" name="Object 10">
            <a:extLst>
              <a:ext uri="{FF2B5EF4-FFF2-40B4-BE49-F238E27FC236}">
                <a16:creationId xmlns:a16="http://schemas.microsoft.com/office/drawing/2014/main" xmlns="" id="{C9364203-527A-AB12-9627-2F5AB4D0CE60}"/>
              </a:ext>
            </a:extLst>
          </p:cNvPr>
          <p:cNvGraphicFramePr>
            <a:graphicFrameLocks noChangeAspect="1"/>
          </p:cNvGraphicFramePr>
          <p:nvPr>
            <p:extLst>
              <p:ext uri="{D42A27DB-BD31-4B8C-83A1-F6EECF244321}">
                <p14:modId xmlns:p14="http://schemas.microsoft.com/office/powerpoint/2010/main" val="929703794"/>
              </p:ext>
            </p:extLst>
          </p:nvPr>
        </p:nvGraphicFramePr>
        <p:xfrm>
          <a:off x="269779" y="1916832"/>
          <a:ext cx="2343719" cy="379459"/>
        </p:xfrm>
        <a:graphic>
          <a:graphicData uri="http://schemas.openxmlformats.org/presentationml/2006/ole">
            <mc:AlternateContent xmlns:mc="http://schemas.openxmlformats.org/markup-compatibility/2006">
              <mc:Choice xmlns:v="urn:schemas-microsoft-com:vml" Requires="v">
                <p:oleObj spid="_x0000_s161994" r:id="rId3" imgW="1504440" imgH="247320" progId="Word.Document.8">
                  <p:embed/>
                </p:oleObj>
              </mc:Choice>
              <mc:Fallback>
                <p:oleObj r:id="rId3" imgW="1504440" imgH="247320" progId="Word.Document.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9779" y="1916832"/>
                        <a:ext cx="2343719" cy="379459"/>
                      </a:xfrm>
                      <a:prstGeom prst="rect">
                        <a:avLst/>
                      </a:prstGeom>
                      <a:noFill/>
                      <a:ln>
                        <a:noFill/>
                      </a:ln>
                    </p:spPr>
                  </p:pic>
                </p:oleObj>
              </mc:Fallback>
            </mc:AlternateContent>
          </a:graphicData>
        </a:graphic>
      </p:graphicFrame>
      <p:graphicFrame>
        <p:nvGraphicFramePr>
          <p:cNvPr id="7" name="Object 11">
            <a:extLst>
              <a:ext uri="{FF2B5EF4-FFF2-40B4-BE49-F238E27FC236}">
                <a16:creationId xmlns:a16="http://schemas.microsoft.com/office/drawing/2014/main" xmlns="" id="{6717E1C5-5B91-A5B2-F1BE-F6C354424881}"/>
              </a:ext>
            </a:extLst>
          </p:cNvPr>
          <p:cNvGraphicFramePr>
            <a:graphicFrameLocks noChangeAspect="1"/>
          </p:cNvGraphicFramePr>
          <p:nvPr>
            <p:extLst>
              <p:ext uri="{D42A27DB-BD31-4B8C-83A1-F6EECF244321}">
                <p14:modId xmlns:p14="http://schemas.microsoft.com/office/powerpoint/2010/main" val="2310779305"/>
              </p:ext>
            </p:extLst>
          </p:nvPr>
        </p:nvGraphicFramePr>
        <p:xfrm>
          <a:off x="344469" y="3345923"/>
          <a:ext cx="3425862" cy="786965"/>
        </p:xfrm>
        <a:graphic>
          <a:graphicData uri="http://schemas.openxmlformats.org/presentationml/2006/ole">
            <mc:AlternateContent xmlns:mc="http://schemas.openxmlformats.org/markup-compatibility/2006">
              <mc:Choice xmlns:v="urn:schemas-microsoft-com:vml" Requires="v">
                <p:oleObj spid="_x0000_s161995" r:id="rId5" imgW="2184400" imgH="579120" progId="Word.Document.8">
                  <p:embed/>
                </p:oleObj>
              </mc:Choice>
              <mc:Fallback>
                <p:oleObj r:id="rId5" imgW="2184400" imgH="579120" progId="Word.Document.8">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4469" y="3345923"/>
                        <a:ext cx="3425862" cy="786965"/>
                      </a:xfrm>
                      <a:prstGeom prst="rect">
                        <a:avLst/>
                      </a:prstGeom>
                      <a:noFill/>
                      <a:ln>
                        <a:noFill/>
                      </a:ln>
                      <a:extLst/>
                    </p:spPr>
                  </p:pic>
                </p:oleObj>
              </mc:Fallback>
            </mc:AlternateContent>
          </a:graphicData>
        </a:graphic>
      </p:graphicFrame>
      <p:graphicFrame>
        <p:nvGraphicFramePr>
          <p:cNvPr id="8" name="Object 14">
            <a:extLst>
              <a:ext uri="{FF2B5EF4-FFF2-40B4-BE49-F238E27FC236}">
                <a16:creationId xmlns:a16="http://schemas.microsoft.com/office/drawing/2014/main" xmlns="" id="{CD349DE9-D05A-6419-0B84-C31CCCC8BE0E}"/>
              </a:ext>
            </a:extLst>
          </p:cNvPr>
          <p:cNvGraphicFramePr>
            <a:graphicFrameLocks noChangeAspect="1"/>
          </p:cNvGraphicFramePr>
          <p:nvPr>
            <p:extLst>
              <p:ext uri="{D42A27DB-BD31-4B8C-83A1-F6EECF244321}">
                <p14:modId xmlns:p14="http://schemas.microsoft.com/office/powerpoint/2010/main" val="3299544120"/>
              </p:ext>
            </p:extLst>
          </p:nvPr>
        </p:nvGraphicFramePr>
        <p:xfrm>
          <a:off x="362251" y="2610980"/>
          <a:ext cx="3425862" cy="833553"/>
        </p:xfrm>
        <a:graphic>
          <a:graphicData uri="http://schemas.openxmlformats.org/presentationml/2006/ole">
            <mc:AlternateContent xmlns:mc="http://schemas.openxmlformats.org/markup-compatibility/2006">
              <mc:Choice xmlns:v="urn:schemas-microsoft-com:vml" Requires="v">
                <p:oleObj spid="_x0000_s161996" r:id="rId7" imgW="2174240" imgH="601980" progId="Word.Document.8">
                  <p:embed/>
                </p:oleObj>
              </mc:Choice>
              <mc:Fallback>
                <p:oleObj r:id="rId7" imgW="2174240" imgH="601980" progId="Word.Document.8">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2251" y="2610980"/>
                        <a:ext cx="3425862" cy="833553"/>
                      </a:xfrm>
                      <a:prstGeom prst="rect">
                        <a:avLst/>
                      </a:prstGeom>
                      <a:noFill/>
                      <a:ln>
                        <a:noFill/>
                      </a:ln>
                      <a:extLst/>
                    </p:spPr>
                  </p:pic>
                </p:oleObj>
              </mc:Fallback>
            </mc:AlternateContent>
          </a:graphicData>
        </a:graphic>
      </p:graphicFrame>
      <p:sp>
        <p:nvSpPr>
          <p:cNvPr id="9" name="Text Box 53">
            <a:extLst>
              <a:ext uri="{FF2B5EF4-FFF2-40B4-BE49-F238E27FC236}">
                <a16:creationId xmlns:a16="http://schemas.microsoft.com/office/drawing/2014/main" xmlns="" id="{E8919EA7-23AA-7120-F27A-4E7123220E70}"/>
              </a:ext>
            </a:extLst>
          </p:cNvPr>
          <p:cNvSpPr txBox="1">
            <a:spLocks noChangeArrowheads="1"/>
          </p:cNvSpPr>
          <p:nvPr/>
        </p:nvSpPr>
        <p:spPr bwMode="auto">
          <a:xfrm>
            <a:off x="278113" y="2259657"/>
            <a:ext cx="49657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p>
            <a:pPr fontAlgn="t">
              <a:spcBef>
                <a:spcPct val="50000"/>
              </a:spcBef>
            </a:pPr>
            <a:r>
              <a:rPr lang="zh-CN" altLang="en-US" sz="2000" b="1" dirty="0">
                <a:solidFill>
                  <a:srgbClr val="000000"/>
                </a:solidFill>
                <a:latin typeface="+mn-ea"/>
                <a:ea typeface="+mn-ea"/>
              </a:rPr>
              <a:t>同相放大器＋</a:t>
            </a:r>
            <a:r>
              <a:rPr lang="en-US" altLang="zh-CN" sz="2000" b="1" dirty="0">
                <a:solidFill>
                  <a:srgbClr val="000000"/>
                </a:solidFill>
                <a:latin typeface="+mn-ea"/>
                <a:ea typeface="+mn-ea"/>
              </a:rPr>
              <a:t>RC</a:t>
            </a:r>
            <a:r>
              <a:rPr lang="zh-CN" altLang="en-US" sz="2000" b="1" dirty="0">
                <a:solidFill>
                  <a:srgbClr val="000000"/>
                </a:solidFill>
                <a:latin typeface="+mn-ea"/>
                <a:ea typeface="+mn-ea"/>
              </a:rPr>
              <a:t>串并联选频网络</a:t>
            </a:r>
          </a:p>
        </p:txBody>
      </p:sp>
      <p:pic>
        <p:nvPicPr>
          <p:cNvPr id="10" name="图片 9">
            <a:extLst>
              <a:ext uri="{FF2B5EF4-FFF2-40B4-BE49-F238E27FC236}">
                <a16:creationId xmlns:a16="http://schemas.microsoft.com/office/drawing/2014/main" xmlns="" id="{DE9F7758-9796-CC0F-C28D-FAAF12E2FCB0}"/>
              </a:ext>
            </a:extLst>
          </p:cNvPr>
          <p:cNvPicPr>
            <a:picLocks noChangeAspect="1"/>
          </p:cNvPicPr>
          <p:nvPr/>
        </p:nvPicPr>
        <p:blipFill>
          <a:blip r:embed="rId9"/>
          <a:stretch>
            <a:fillRect/>
          </a:stretch>
        </p:blipFill>
        <p:spPr>
          <a:xfrm>
            <a:off x="4125044" y="1674143"/>
            <a:ext cx="2780967" cy="2296101"/>
          </a:xfrm>
          <a:prstGeom prst="rect">
            <a:avLst/>
          </a:prstGeom>
        </p:spPr>
      </p:pic>
      <p:sp>
        <p:nvSpPr>
          <p:cNvPr id="11" name="Text Box 3">
            <a:extLst>
              <a:ext uri="{FF2B5EF4-FFF2-40B4-BE49-F238E27FC236}">
                <a16:creationId xmlns:a16="http://schemas.microsoft.com/office/drawing/2014/main" xmlns="" id="{EF9587F7-4758-1CD2-F50E-B2A313424184}"/>
              </a:ext>
            </a:extLst>
          </p:cNvPr>
          <p:cNvSpPr txBox="1">
            <a:spLocks noChangeArrowheads="1"/>
          </p:cNvSpPr>
          <p:nvPr/>
        </p:nvSpPr>
        <p:spPr bwMode="auto">
          <a:xfrm>
            <a:off x="6481699" y="5063409"/>
            <a:ext cx="374650" cy="67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fontAlgn="base" hangingPunct="0">
              <a:spcBef>
                <a:spcPct val="0"/>
              </a:spcBef>
              <a:spcAft>
                <a:spcPct val="0"/>
              </a:spcAft>
            </a:pPr>
            <a:endParaRPr lang="zh-CN" altLang="zh-CN" sz="1200" b="1">
              <a:solidFill>
                <a:srgbClr val="000000"/>
              </a:solidFill>
              <a:latin typeface="Times New Roman" panose="02020603050405020304" pitchFamily="18" charset="0"/>
              <a:ea typeface="楷体_GB2312" pitchFamily="49" charset="-122"/>
            </a:endParaRPr>
          </a:p>
        </p:txBody>
      </p:sp>
      <p:sp>
        <p:nvSpPr>
          <p:cNvPr id="12" name="Text Box 4">
            <a:extLst>
              <a:ext uri="{FF2B5EF4-FFF2-40B4-BE49-F238E27FC236}">
                <a16:creationId xmlns:a16="http://schemas.microsoft.com/office/drawing/2014/main" xmlns="" id="{2E69C337-7231-3465-EEC4-63395E65F599}"/>
              </a:ext>
            </a:extLst>
          </p:cNvPr>
          <p:cNvSpPr txBox="1">
            <a:spLocks noChangeArrowheads="1"/>
          </p:cNvSpPr>
          <p:nvPr/>
        </p:nvSpPr>
        <p:spPr bwMode="auto">
          <a:xfrm>
            <a:off x="6397561" y="6088934"/>
            <a:ext cx="501650"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fontAlgn="base" hangingPunct="0">
              <a:spcBef>
                <a:spcPct val="0"/>
              </a:spcBef>
              <a:spcAft>
                <a:spcPct val="0"/>
              </a:spcAft>
            </a:pPr>
            <a:endParaRPr lang="zh-CN" altLang="zh-CN" sz="1200" b="1">
              <a:solidFill>
                <a:srgbClr val="000000"/>
              </a:solidFill>
              <a:latin typeface="Times New Roman" panose="02020603050405020304" pitchFamily="18" charset="0"/>
              <a:ea typeface="楷体_GB2312" pitchFamily="49" charset="-122"/>
            </a:endParaRPr>
          </a:p>
        </p:txBody>
      </p:sp>
      <p:grpSp>
        <p:nvGrpSpPr>
          <p:cNvPr id="13" name="Group 31">
            <a:extLst>
              <a:ext uri="{FF2B5EF4-FFF2-40B4-BE49-F238E27FC236}">
                <a16:creationId xmlns:a16="http://schemas.microsoft.com/office/drawing/2014/main" xmlns="" id="{85AA3A81-F556-696C-251D-12CA42743317}"/>
              </a:ext>
            </a:extLst>
          </p:cNvPr>
          <p:cNvGrpSpPr>
            <a:grpSpLocks/>
          </p:cNvGrpSpPr>
          <p:nvPr/>
        </p:nvGrpSpPr>
        <p:grpSpPr bwMode="auto">
          <a:xfrm>
            <a:off x="6732524" y="5242797"/>
            <a:ext cx="1811337" cy="1166812"/>
            <a:chOff x="3619" y="2283"/>
            <a:chExt cx="1141" cy="735"/>
          </a:xfrm>
        </p:grpSpPr>
        <p:grpSp>
          <p:nvGrpSpPr>
            <p:cNvPr id="14" name="Group 32">
              <a:extLst>
                <a:ext uri="{FF2B5EF4-FFF2-40B4-BE49-F238E27FC236}">
                  <a16:creationId xmlns:a16="http://schemas.microsoft.com/office/drawing/2014/main" xmlns="" id="{A3D130AE-E0D7-3DBF-381D-BA8A579C8B9A}"/>
                </a:ext>
              </a:extLst>
            </p:cNvPr>
            <p:cNvGrpSpPr>
              <a:grpSpLocks/>
            </p:cNvGrpSpPr>
            <p:nvPr/>
          </p:nvGrpSpPr>
          <p:grpSpPr bwMode="auto">
            <a:xfrm flipV="1">
              <a:off x="3656" y="2300"/>
              <a:ext cx="1104" cy="661"/>
              <a:chOff x="1921" y="3688"/>
              <a:chExt cx="3238" cy="1860"/>
            </a:xfrm>
          </p:grpSpPr>
          <p:sp>
            <p:nvSpPr>
              <p:cNvPr id="17" name="Freeform 33">
                <a:extLst>
                  <a:ext uri="{FF2B5EF4-FFF2-40B4-BE49-F238E27FC236}">
                    <a16:creationId xmlns:a16="http://schemas.microsoft.com/office/drawing/2014/main" xmlns="" id="{0F333320-B70C-C495-318D-EBAE9F50158E}"/>
                  </a:ext>
                </a:extLst>
              </p:cNvPr>
              <p:cNvSpPr>
                <a:spLocks noChangeArrowheads="1"/>
              </p:cNvSpPr>
              <p:nvPr/>
            </p:nvSpPr>
            <p:spPr bwMode="auto">
              <a:xfrm>
                <a:off x="1921" y="4612"/>
                <a:ext cx="1620" cy="936"/>
              </a:xfrm>
              <a:custGeom>
                <a:avLst/>
                <a:gdLst>
                  <a:gd name="T0" fmla="*/ 0 w 1620"/>
                  <a:gd name="T1" fmla="*/ 936 h 936"/>
                  <a:gd name="T2" fmla="*/ 720 w 1620"/>
                  <a:gd name="T3" fmla="*/ 780 h 936"/>
                  <a:gd name="T4" fmla="*/ 1620 w 1620"/>
                  <a:gd name="T5" fmla="*/ 0 h 936"/>
                </a:gdLst>
                <a:ahLst/>
                <a:cxnLst>
                  <a:cxn ang="0">
                    <a:pos x="T0" y="T1"/>
                  </a:cxn>
                  <a:cxn ang="0">
                    <a:pos x="T2" y="T3"/>
                  </a:cxn>
                  <a:cxn ang="0">
                    <a:pos x="T4" y="T5"/>
                  </a:cxn>
                </a:cxnLst>
                <a:rect l="0" t="0" r="r" b="b"/>
                <a:pathLst>
                  <a:path w="1620" h="936">
                    <a:moveTo>
                      <a:pt x="0" y="936"/>
                    </a:moveTo>
                    <a:cubicBezTo>
                      <a:pt x="225" y="936"/>
                      <a:pt x="450" y="936"/>
                      <a:pt x="720" y="780"/>
                    </a:cubicBezTo>
                    <a:cubicBezTo>
                      <a:pt x="990" y="624"/>
                      <a:pt x="1305" y="312"/>
                      <a:pt x="1620" y="0"/>
                    </a:cubicBezTo>
                  </a:path>
                </a:pathLst>
              </a:custGeom>
              <a:noFill/>
              <a:ln w="254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zh-CN" altLang="en-US" sz="2800" b="1">
                  <a:solidFill>
                    <a:srgbClr val="000000"/>
                  </a:solidFill>
                  <a:latin typeface="Arial" panose="020B0604020202020204" pitchFamily="34" charset="0"/>
                  <a:ea typeface="楷体_GB2312" pitchFamily="49" charset="-122"/>
                </a:endParaRPr>
              </a:p>
            </p:txBody>
          </p:sp>
          <p:sp>
            <p:nvSpPr>
              <p:cNvPr id="18" name="Freeform 34">
                <a:extLst>
                  <a:ext uri="{FF2B5EF4-FFF2-40B4-BE49-F238E27FC236}">
                    <a16:creationId xmlns:a16="http://schemas.microsoft.com/office/drawing/2014/main" xmlns="" id="{824F3A1A-D62C-777B-4316-1352AC3BF8DA}"/>
                  </a:ext>
                </a:extLst>
              </p:cNvPr>
              <p:cNvSpPr>
                <a:spLocks noChangeArrowheads="1"/>
              </p:cNvSpPr>
              <p:nvPr/>
            </p:nvSpPr>
            <p:spPr bwMode="auto">
              <a:xfrm flipH="1" flipV="1">
                <a:off x="3526" y="3688"/>
                <a:ext cx="1633" cy="936"/>
              </a:xfrm>
              <a:custGeom>
                <a:avLst/>
                <a:gdLst>
                  <a:gd name="T0" fmla="*/ 0 w 1620"/>
                  <a:gd name="T1" fmla="*/ 936 h 936"/>
                  <a:gd name="T2" fmla="*/ 720 w 1620"/>
                  <a:gd name="T3" fmla="*/ 780 h 936"/>
                  <a:gd name="T4" fmla="*/ 1620 w 1620"/>
                  <a:gd name="T5" fmla="*/ 0 h 936"/>
                </a:gdLst>
                <a:ahLst/>
                <a:cxnLst>
                  <a:cxn ang="0">
                    <a:pos x="T0" y="T1"/>
                  </a:cxn>
                  <a:cxn ang="0">
                    <a:pos x="T2" y="T3"/>
                  </a:cxn>
                  <a:cxn ang="0">
                    <a:pos x="T4" y="T5"/>
                  </a:cxn>
                </a:cxnLst>
                <a:rect l="0" t="0" r="r" b="b"/>
                <a:pathLst>
                  <a:path w="1620" h="936">
                    <a:moveTo>
                      <a:pt x="0" y="936"/>
                    </a:moveTo>
                    <a:cubicBezTo>
                      <a:pt x="225" y="936"/>
                      <a:pt x="450" y="936"/>
                      <a:pt x="720" y="780"/>
                    </a:cubicBezTo>
                    <a:cubicBezTo>
                      <a:pt x="990" y="624"/>
                      <a:pt x="1305" y="312"/>
                      <a:pt x="1620" y="0"/>
                    </a:cubicBezTo>
                  </a:path>
                </a:pathLst>
              </a:custGeom>
              <a:noFill/>
              <a:ln w="254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zh-CN" altLang="en-US" sz="2800" b="1">
                  <a:solidFill>
                    <a:srgbClr val="000000"/>
                  </a:solidFill>
                  <a:latin typeface="Arial" panose="020B0604020202020204" pitchFamily="34" charset="0"/>
                  <a:ea typeface="楷体_GB2312" pitchFamily="49" charset="-122"/>
                </a:endParaRPr>
              </a:p>
            </p:txBody>
          </p:sp>
        </p:grpSp>
        <p:sp>
          <p:nvSpPr>
            <p:cNvPr id="15" name="Line 35">
              <a:extLst>
                <a:ext uri="{FF2B5EF4-FFF2-40B4-BE49-F238E27FC236}">
                  <a16:creationId xmlns:a16="http://schemas.microsoft.com/office/drawing/2014/main" xmlns="" id="{64BCE866-D556-A3A3-8F34-C1B11990E2A0}"/>
                </a:ext>
              </a:extLst>
            </p:cNvPr>
            <p:cNvSpPr>
              <a:spLocks noChangeShapeType="1"/>
            </p:cNvSpPr>
            <p:nvPr/>
          </p:nvSpPr>
          <p:spPr bwMode="auto">
            <a:xfrm>
              <a:off x="3642" y="3018"/>
              <a:ext cx="1105"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2800" b="1">
                <a:solidFill>
                  <a:srgbClr val="000000"/>
                </a:solidFill>
                <a:latin typeface="Arial" panose="020B0604020202020204" pitchFamily="34" charset="0"/>
                <a:ea typeface="楷体_GB2312" pitchFamily="49" charset="-122"/>
              </a:endParaRPr>
            </a:p>
          </p:txBody>
        </p:sp>
        <p:sp>
          <p:nvSpPr>
            <p:cNvPr id="16" name="Line 36">
              <a:extLst>
                <a:ext uri="{FF2B5EF4-FFF2-40B4-BE49-F238E27FC236}">
                  <a16:creationId xmlns:a16="http://schemas.microsoft.com/office/drawing/2014/main" xmlns="" id="{5324A6A1-341F-8FF7-2B48-ADB3252C3B29}"/>
                </a:ext>
              </a:extLst>
            </p:cNvPr>
            <p:cNvSpPr>
              <a:spLocks noChangeShapeType="1"/>
            </p:cNvSpPr>
            <p:nvPr/>
          </p:nvSpPr>
          <p:spPr bwMode="auto">
            <a:xfrm>
              <a:off x="3619" y="2283"/>
              <a:ext cx="1105"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2800" b="1">
                <a:solidFill>
                  <a:srgbClr val="000000"/>
                </a:solidFill>
                <a:latin typeface="Arial" panose="020B0604020202020204" pitchFamily="34" charset="0"/>
                <a:ea typeface="楷体_GB2312" pitchFamily="49" charset="-122"/>
              </a:endParaRPr>
            </a:p>
          </p:txBody>
        </p:sp>
      </p:grpSp>
      <p:grpSp>
        <p:nvGrpSpPr>
          <p:cNvPr id="19" name="Group 37">
            <a:extLst>
              <a:ext uri="{FF2B5EF4-FFF2-40B4-BE49-F238E27FC236}">
                <a16:creationId xmlns:a16="http://schemas.microsoft.com/office/drawing/2014/main" xmlns="" id="{8F5EA448-5654-BFE9-5F66-5C6D395D9713}"/>
              </a:ext>
            </a:extLst>
          </p:cNvPr>
          <p:cNvGrpSpPr>
            <a:grpSpLocks/>
          </p:cNvGrpSpPr>
          <p:nvPr/>
        </p:nvGrpSpPr>
        <p:grpSpPr bwMode="auto">
          <a:xfrm>
            <a:off x="6410261" y="4533184"/>
            <a:ext cx="2679700" cy="2119313"/>
            <a:chOff x="3416" y="1564"/>
            <a:chExt cx="1688" cy="1335"/>
          </a:xfrm>
        </p:grpSpPr>
        <p:sp>
          <p:nvSpPr>
            <p:cNvPr id="20" name="Text Box 38">
              <a:extLst>
                <a:ext uri="{FF2B5EF4-FFF2-40B4-BE49-F238E27FC236}">
                  <a16:creationId xmlns:a16="http://schemas.microsoft.com/office/drawing/2014/main" xmlns="" id="{0BBB5CE7-423B-E80F-58E8-B92A1964AAF7}"/>
                </a:ext>
              </a:extLst>
            </p:cNvPr>
            <p:cNvSpPr txBox="1">
              <a:spLocks noChangeArrowheads="1"/>
            </p:cNvSpPr>
            <p:nvPr/>
          </p:nvSpPr>
          <p:spPr bwMode="auto">
            <a:xfrm>
              <a:off x="3474" y="2323"/>
              <a:ext cx="473" cy="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just" defTabSz="914400" eaLnBrk="0" fontAlgn="base" latinLnBrk="0" hangingPunct="0">
                <a:lnSpc>
                  <a:spcPct val="100000"/>
                </a:lnSpc>
                <a:spcBef>
                  <a:spcPct val="0"/>
                </a:spcBef>
                <a:spcAft>
                  <a:spcPct val="0"/>
                </a:spcAft>
                <a:buClrTx/>
                <a:buSzTx/>
                <a:buFontTx/>
                <a:buNone/>
                <a:tabLst/>
                <a:defRPr/>
              </a:pPr>
              <a:r>
                <a:rPr kumimoji="0" lang="en-US" altLang="zh-CN" sz="1200" b="1" i="1" u="none" strike="noStrike" kern="0" cap="none" spc="0" normalizeH="0" baseline="0" noProof="0" smtClean="0">
                  <a:ln>
                    <a:noFill/>
                  </a:ln>
                  <a:solidFill>
                    <a:srgbClr val="000000"/>
                  </a:solidFill>
                  <a:effectLst/>
                  <a:uLnTx/>
                  <a:uFillTx/>
                  <a:latin typeface="Times New Roman" panose="02020603050405020304" pitchFamily="18" charset="0"/>
                  <a:ea typeface="楷体_GB2312" pitchFamily="49" charset="-122"/>
                </a:rPr>
                <a:t>O</a:t>
              </a:r>
            </a:p>
          </p:txBody>
        </p:sp>
        <p:grpSp>
          <p:nvGrpSpPr>
            <p:cNvPr id="21" name="Group 39">
              <a:extLst>
                <a:ext uri="{FF2B5EF4-FFF2-40B4-BE49-F238E27FC236}">
                  <a16:creationId xmlns:a16="http://schemas.microsoft.com/office/drawing/2014/main" xmlns="" id="{CF8936A6-F1F0-97D5-A9C8-0CC11B071D39}"/>
                </a:ext>
              </a:extLst>
            </p:cNvPr>
            <p:cNvGrpSpPr>
              <a:grpSpLocks/>
            </p:cNvGrpSpPr>
            <p:nvPr/>
          </p:nvGrpSpPr>
          <p:grpSpPr bwMode="auto">
            <a:xfrm>
              <a:off x="3416" y="1564"/>
              <a:ext cx="1688" cy="1335"/>
              <a:chOff x="3400" y="1588"/>
              <a:chExt cx="1688" cy="1335"/>
            </a:xfrm>
          </p:grpSpPr>
          <p:grpSp>
            <p:nvGrpSpPr>
              <p:cNvPr id="22" name="Group 40">
                <a:extLst>
                  <a:ext uri="{FF2B5EF4-FFF2-40B4-BE49-F238E27FC236}">
                    <a16:creationId xmlns:a16="http://schemas.microsoft.com/office/drawing/2014/main" xmlns="" id="{E9A36AFF-E6DB-02A0-ACBD-83A88D2C4D34}"/>
                  </a:ext>
                </a:extLst>
              </p:cNvPr>
              <p:cNvGrpSpPr>
                <a:grpSpLocks/>
              </p:cNvGrpSpPr>
              <p:nvPr/>
            </p:nvGrpSpPr>
            <p:grpSpPr bwMode="auto">
              <a:xfrm>
                <a:off x="3618" y="1906"/>
                <a:ext cx="1298" cy="1017"/>
                <a:chOff x="1741" y="3829"/>
                <a:chExt cx="3420" cy="1872"/>
              </a:xfrm>
            </p:grpSpPr>
            <p:sp>
              <p:nvSpPr>
                <p:cNvPr id="28" name="Line 41">
                  <a:extLst>
                    <a:ext uri="{FF2B5EF4-FFF2-40B4-BE49-F238E27FC236}">
                      <a16:creationId xmlns:a16="http://schemas.microsoft.com/office/drawing/2014/main" xmlns="" id="{74C2F74E-42E3-4201-5B20-4069521933CA}"/>
                    </a:ext>
                  </a:extLst>
                </p:cNvPr>
                <p:cNvSpPr>
                  <a:spLocks noChangeShapeType="1"/>
                </p:cNvSpPr>
                <p:nvPr/>
              </p:nvSpPr>
              <p:spPr bwMode="auto">
                <a:xfrm>
                  <a:off x="1741" y="4765"/>
                  <a:ext cx="3420" cy="0"/>
                </a:xfrm>
                <a:prstGeom prst="line">
                  <a:avLst/>
                </a:prstGeom>
                <a:noFill/>
                <a:ln w="9525">
                  <a:solidFill>
                    <a:srgbClr val="000000"/>
                  </a:solidFill>
                  <a:round/>
                  <a:headEnd/>
                  <a:tailEnd type="triangle" w="sm" len="sm"/>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800" b="1" i="0" u="none" strike="noStrike" kern="0" cap="none" spc="0" normalizeH="0" baseline="0" noProof="0" smtClean="0">
                    <a:ln>
                      <a:noFill/>
                    </a:ln>
                    <a:solidFill>
                      <a:srgbClr val="000000"/>
                    </a:solidFill>
                    <a:effectLst/>
                    <a:uLnTx/>
                    <a:uFillTx/>
                    <a:latin typeface="Arial" panose="020B0604020202020204" pitchFamily="34" charset="0"/>
                    <a:ea typeface="楷体_GB2312" pitchFamily="49" charset="-122"/>
                  </a:endParaRPr>
                </a:p>
              </p:txBody>
            </p:sp>
            <p:sp>
              <p:nvSpPr>
                <p:cNvPr id="29" name="Line 42">
                  <a:extLst>
                    <a:ext uri="{FF2B5EF4-FFF2-40B4-BE49-F238E27FC236}">
                      <a16:creationId xmlns:a16="http://schemas.microsoft.com/office/drawing/2014/main" xmlns="" id="{7FD5BE54-B6E7-7D1C-32A0-3D64B1489AB2}"/>
                    </a:ext>
                  </a:extLst>
                </p:cNvPr>
                <p:cNvSpPr>
                  <a:spLocks noChangeShapeType="1"/>
                </p:cNvSpPr>
                <p:nvPr/>
              </p:nvSpPr>
              <p:spPr bwMode="auto">
                <a:xfrm flipV="1">
                  <a:off x="1741" y="3829"/>
                  <a:ext cx="0" cy="1872"/>
                </a:xfrm>
                <a:prstGeom prst="line">
                  <a:avLst/>
                </a:prstGeom>
                <a:noFill/>
                <a:ln w="9525">
                  <a:solidFill>
                    <a:srgbClr val="000000"/>
                  </a:solidFill>
                  <a:round/>
                  <a:headEnd/>
                  <a:tailEnd type="triangle" w="sm" len="sm"/>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800" b="1" i="0" u="none" strike="noStrike" kern="0" cap="none" spc="0" normalizeH="0" baseline="0" noProof="0" smtClean="0">
                    <a:ln>
                      <a:noFill/>
                    </a:ln>
                    <a:solidFill>
                      <a:srgbClr val="000000"/>
                    </a:solidFill>
                    <a:effectLst/>
                    <a:uLnTx/>
                    <a:uFillTx/>
                    <a:latin typeface="Arial" panose="020B0604020202020204" pitchFamily="34" charset="0"/>
                    <a:ea typeface="楷体_GB2312" pitchFamily="49" charset="-122"/>
                  </a:endParaRPr>
                </a:p>
              </p:txBody>
            </p:sp>
          </p:grpSp>
          <p:sp>
            <p:nvSpPr>
              <p:cNvPr id="23" name="Text Box 43">
                <a:extLst>
                  <a:ext uri="{FF2B5EF4-FFF2-40B4-BE49-F238E27FC236}">
                    <a16:creationId xmlns:a16="http://schemas.microsoft.com/office/drawing/2014/main" xmlns="" id="{9F6FBBF6-7488-852A-4AB7-B28019409481}"/>
                  </a:ext>
                </a:extLst>
              </p:cNvPr>
              <p:cNvSpPr txBox="1">
                <a:spLocks noChangeArrowheads="1"/>
              </p:cNvSpPr>
              <p:nvPr/>
            </p:nvSpPr>
            <p:spPr bwMode="auto">
              <a:xfrm>
                <a:off x="4848" y="2331"/>
                <a:ext cx="240" cy="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just" defTabSz="914400" eaLnBrk="0" fontAlgn="base" latinLnBrk="0" hangingPunct="0">
                  <a:lnSpc>
                    <a:spcPct val="100000"/>
                  </a:lnSpc>
                  <a:spcBef>
                    <a:spcPct val="0"/>
                  </a:spcBef>
                  <a:spcAft>
                    <a:spcPct val="0"/>
                  </a:spcAft>
                  <a:buClrTx/>
                  <a:buSzTx/>
                  <a:buFontTx/>
                  <a:buNone/>
                  <a:tabLst/>
                  <a:defRPr/>
                </a:pPr>
                <a:r>
                  <a:rPr kumimoji="0" lang="en-US" altLang="zh-CN" sz="2400" b="1" i="1" u="none" strike="noStrike" kern="0" cap="none" spc="0" normalizeH="0" baseline="0" noProof="0" smtClean="0">
                    <a:ln>
                      <a:noFill/>
                    </a:ln>
                    <a:solidFill>
                      <a:srgbClr val="000000"/>
                    </a:solidFill>
                    <a:effectLst/>
                    <a:uLnTx/>
                    <a:uFillTx/>
                    <a:latin typeface="Times New Roman" panose="02020603050405020304" pitchFamily="18" charset="0"/>
                    <a:ea typeface="楷体_GB2312" pitchFamily="49" charset="-122"/>
                  </a:rPr>
                  <a:t>ω</a:t>
                </a:r>
                <a:endParaRPr kumimoji="0" lang="en-US" altLang="zh-CN" sz="2400" b="1" i="0" u="none" strike="noStrike" kern="0" cap="none" spc="0" normalizeH="0" baseline="0" noProof="0" smtClean="0">
                  <a:ln>
                    <a:noFill/>
                  </a:ln>
                  <a:solidFill>
                    <a:srgbClr val="000000"/>
                  </a:solidFill>
                  <a:effectLst/>
                  <a:uLnTx/>
                  <a:uFillTx/>
                  <a:latin typeface="Times New Roman" panose="02020603050405020304" pitchFamily="18" charset="0"/>
                  <a:ea typeface="楷体_GB2312" pitchFamily="49" charset="-122"/>
                </a:endParaRPr>
              </a:p>
            </p:txBody>
          </p:sp>
          <p:sp>
            <p:nvSpPr>
              <p:cNvPr id="24" name="Text Box 44">
                <a:extLst>
                  <a:ext uri="{FF2B5EF4-FFF2-40B4-BE49-F238E27FC236}">
                    <a16:creationId xmlns:a16="http://schemas.microsoft.com/office/drawing/2014/main" xmlns="" id="{7FC7C125-40F1-A6B1-275B-32FEAA99B49D}"/>
                  </a:ext>
                </a:extLst>
              </p:cNvPr>
              <p:cNvSpPr txBox="1">
                <a:spLocks noChangeArrowheads="1"/>
              </p:cNvSpPr>
              <p:nvPr/>
            </p:nvSpPr>
            <p:spPr bwMode="auto">
              <a:xfrm>
                <a:off x="3904" y="2099"/>
                <a:ext cx="633" cy="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just" defTabSz="914400" eaLnBrk="0" fontAlgn="base" latinLnBrk="0" hangingPunct="0">
                  <a:lnSpc>
                    <a:spcPct val="100000"/>
                  </a:lnSpc>
                  <a:spcBef>
                    <a:spcPct val="0"/>
                  </a:spcBef>
                  <a:spcAft>
                    <a:spcPct val="0"/>
                  </a:spcAft>
                  <a:buClrTx/>
                  <a:buSzTx/>
                  <a:buFontTx/>
                  <a:buNone/>
                  <a:tabLst/>
                  <a:defRPr/>
                </a:pPr>
                <a:endParaRPr kumimoji="0" lang="en-US" altLang="zh-CN" sz="2400" b="1" i="1" u="none" strike="noStrike" kern="0" cap="none" spc="0" normalizeH="0" baseline="0" noProof="0" smtClean="0">
                  <a:ln>
                    <a:noFill/>
                  </a:ln>
                  <a:solidFill>
                    <a:srgbClr val="000000"/>
                  </a:solidFill>
                  <a:effectLst/>
                  <a:uLnTx/>
                  <a:uFillTx/>
                  <a:latin typeface="Times New Roman" panose="02020603050405020304" pitchFamily="18" charset="0"/>
                  <a:ea typeface="楷体_GB2312" pitchFamily="49" charset="-122"/>
                </a:endParaRPr>
              </a:p>
              <a:p>
                <a:pPr marL="0" marR="0" lvl="0" indent="0" algn="just" defTabSz="914400" eaLnBrk="0" fontAlgn="base" latinLnBrk="0" hangingPunct="0">
                  <a:lnSpc>
                    <a:spcPct val="100000"/>
                  </a:lnSpc>
                  <a:spcBef>
                    <a:spcPct val="0"/>
                  </a:spcBef>
                  <a:spcAft>
                    <a:spcPct val="0"/>
                  </a:spcAft>
                  <a:buClrTx/>
                  <a:buSzTx/>
                  <a:buFontTx/>
                  <a:buNone/>
                  <a:tabLst/>
                  <a:defRPr/>
                </a:pPr>
                <a:r>
                  <a:rPr kumimoji="0" lang="en-US" altLang="zh-CN" sz="2400" b="1" i="1" u="none" strike="noStrike" kern="0" cap="none" spc="0" normalizeH="0" baseline="0" noProof="0" smtClean="0">
                    <a:ln>
                      <a:noFill/>
                    </a:ln>
                    <a:solidFill>
                      <a:srgbClr val="000000"/>
                    </a:solidFill>
                    <a:effectLst/>
                    <a:uLnTx/>
                    <a:uFillTx/>
                    <a:latin typeface="Times New Roman" panose="02020603050405020304" pitchFamily="18" charset="0"/>
                    <a:ea typeface="楷体_GB2312" pitchFamily="49" charset="-122"/>
                  </a:rPr>
                  <a:t>ω</a:t>
                </a:r>
                <a:r>
                  <a:rPr kumimoji="0" lang="en-US" altLang="zh-CN" sz="2400" b="1" i="0" u="none" strike="noStrike" kern="0" cap="none" spc="0" normalizeH="0" baseline="-25000" noProof="0" smtClean="0">
                    <a:ln>
                      <a:noFill/>
                    </a:ln>
                    <a:solidFill>
                      <a:srgbClr val="000000"/>
                    </a:solidFill>
                    <a:effectLst/>
                    <a:uLnTx/>
                    <a:uFillTx/>
                    <a:latin typeface="Times New Roman" panose="02020603050405020304" pitchFamily="18" charset="0"/>
                    <a:ea typeface="楷体_GB2312" pitchFamily="49" charset="-122"/>
                  </a:rPr>
                  <a:t>o</a:t>
                </a:r>
                <a:endParaRPr kumimoji="0" lang="en-US" altLang="zh-CN" sz="2400" b="1" i="0" u="none" strike="noStrike" kern="0" cap="none" spc="0" normalizeH="0" baseline="0" noProof="0" smtClean="0">
                  <a:ln>
                    <a:noFill/>
                  </a:ln>
                  <a:solidFill>
                    <a:srgbClr val="000000"/>
                  </a:solidFill>
                  <a:effectLst/>
                  <a:uLnTx/>
                  <a:uFillTx/>
                  <a:latin typeface="Times New Roman" panose="02020603050405020304" pitchFamily="18" charset="0"/>
                  <a:ea typeface="楷体_GB2312" pitchFamily="49" charset="-122"/>
                </a:endParaRPr>
              </a:p>
            </p:txBody>
          </p:sp>
          <p:graphicFrame>
            <p:nvGraphicFramePr>
              <p:cNvPr id="25" name="Object 45">
                <a:extLst>
                  <a:ext uri="{FF2B5EF4-FFF2-40B4-BE49-F238E27FC236}">
                    <a16:creationId xmlns:a16="http://schemas.microsoft.com/office/drawing/2014/main" xmlns="" id="{007BADEE-61E4-A633-FEC2-574525D081F0}"/>
                  </a:ext>
                </a:extLst>
              </p:cNvPr>
              <p:cNvGraphicFramePr>
                <a:graphicFrameLocks noChangeAspect="1"/>
              </p:cNvGraphicFramePr>
              <p:nvPr/>
            </p:nvGraphicFramePr>
            <p:xfrm>
              <a:off x="3452" y="1588"/>
              <a:ext cx="317" cy="354"/>
            </p:xfrm>
            <a:graphic>
              <a:graphicData uri="http://schemas.openxmlformats.org/presentationml/2006/ole">
                <mc:AlternateContent xmlns:mc="http://schemas.openxmlformats.org/markup-compatibility/2006">
                  <mc:Choice xmlns:v="urn:schemas-microsoft-com:vml" Requires="v">
                    <p:oleObj spid="_x0000_s161997" r:id="rId10" imgW="215713" imgH="241091" progId="Equation.3">
                      <p:embed/>
                    </p:oleObj>
                  </mc:Choice>
                  <mc:Fallback>
                    <p:oleObj r:id="rId10" imgW="215713" imgH="241091"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452" y="1588"/>
                            <a:ext cx="317" cy="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6" name="Object 46">
                <a:extLst>
                  <a:ext uri="{FF2B5EF4-FFF2-40B4-BE49-F238E27FC236}">
                    <a16:creationId xmlns:a16="http://schemas.microsoft.com/office/drawing/2014/main" xmlns="" id="{60E98968-BB04-0886-CBDF-24E1028587F9}"/>
                  </a:ext>
                </a:extLst>
              </p:cNvPr>
              <p:cNvGraphicFramePr>
                <a:graphicFrameLocks noChangeAspect="1"/>
              </p:cNvGraphicFramePr>
              <p:nvPr/>
            </p:nvGraphicFramePr>
            <p:xfrm>
              <a:off x="3408" y="1888"/>
              <a:ext cx="152" cy="347"/>
            </p:xfrm>
            <a:graphic>
              <a:graphicData uri="http://schemas.openxmlformats.org/presentationml/2006/ole">
                <mc:AlternateContent xmlns:mc="http://schemas.openxmlformats.org/markup-compatibility/2006">
                  <mc:Choice xmlns:v="urn:schemas-microsoft-com:vml" Requires="v">
                    <p:oleObj spid="_x0000_s161998" r:id="rId12" imgW="177569" imgH="405872" progId="Equation.3">
                      <p:embed/>
                    </p:oleObj>
                  </mc:Choice>
                  <mc:Fallback>
                    <p:oleObj r:id="rId12" imgW="177569" imgH="405872"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408" y="1888"/>
                            <a:ext cx="152" cy="3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7" name="Object 47">
                <a:extLst>
                  <a:ext uri="{FF2B5EF4-FFF2-40B4-BE49-F238E27FC236}">
                    <a16:creationId xmlns:a16="http://schemas.microsoft.com/office/drawing/2014/main" xmlns="" id="{FBC8FFEB-D43C-B79E-0BDC-5F7729B9055E}"/>
                  </a:ext>
                </a:extLst>
              </p:cNvPr>
              <p:cNvGraphicFramePr>
                <a:graphicFrameLocks noChangeAspect="1"/>
              </p:cNvGraphicFramePr>
              <p:nvPr/>
            </p:nvGraphicFramePr>
            <p:xfrm>
              <a:off x="3400" y="2553"/>
              <a:ext cx="250" cy="347"/>
            </p:xfrm>
            <a:graphic>
              <a:graphicData uri="http://schemas.openxmlformats.org/presentationml/2006/ole">
                <mc:AlternateContent xmlns:mc="http://schemas.openxmlformats.org/markup-compatibility/2006">
                  <mc:Choice xmlns:v="urn:schemas-microsoft-com:vml" Requires="v">
                    <p:oleObj spid="_x0000_s161999" r:id="rId14" imgW="291847" imgH="406048" progId="Equation.3">
                      <p:embed/>
                    </p:oleObj>
                  </mc:Choice>
                  <mc:Fallback>
                    <p:oleObj r:id="rId14" imgW="291847" imgH="406048"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400" y="2553"/>
                            <a:ext cx="250" cy="3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grpSp>
      <p:grpSp>
        <p:nvGrpSpPr>
          <p:cNvPr id="30" name="Group 5">
            <a:extLst>
              <a:ext uri="{FF2B5EF4-FFF2-40B4-BE49-F238E27FC236}">
                <a16:creationId xmlns:a16="http://schemas.microsoft.com/office/drawing/2014/main" xmlns="" id="{7C9605AC-8FFE-0124-F2E8-38B577B39BAC}"/>
              </a:ext>
            </a:extLst>
          </p:cNvPr>
          <p:cNvGrpSpPr>
            <a:grpSpLocks/>
          </p:cNvGrpSpPr>
          <p:nvPr/>
        </p:nvGrpSpPr>
        <p:grpSpPr bwMode="auto">
          <a:xfrm>
            <a:off x="3471004" y="4589099"/>
            <a:ext cx="3200718" cy="2432224"/>
            <a:chOff x="-679" y="2208"/>
            <a:chExt cx="1417" cy="945"/>
          </a:xfrm>
        </p:grpSpPr>
        <p:grpSp>
          <p:nvGrpSpPr>
            <p:cNvPr id="31" name="Group 6">
              <a:extLst>
                <a:ext uri="{FF2B5EF4-FFF2-40B4-BE49-F238E27FC236}">
                  <a16:creationId xmlns:a16="http://schemas.microsoft.com/office/drawing/2014/main" xmlns="" id="{CA916367-A24F-8DA1-00D6-1620B9093234}"/>
                </a:ext>
              </a:extLst>
            </p:cNvPr>
            <p:cNvGrpSpPr>
              <a:grpSpLocks/>
            </p:cNvGrpSpPr>
            <p:nvPr/>
          </p:nvGrpSpPr>
          <p:grpSpPr bwMode="auto">
            <a:xfrm>
              <a:off x="-571" y="2208"/>
              <a:ext cx="1309" cy="900"/>
              <a:chOff x="1711" y="1756"/>
              <a:chExt cx="3840" cy="2250"/>
            </a:xfrm>
          </p:grpSpPr>
          <p:grpSp>
            <p:nvGrpSpPr>
              <p:cNvPr id="41" name="Group 7">
                <a:extLst>
                  <a:ext uri="{FF2B5EF4-FFF2-40B4-BE49-F238E27FC236}">
                    <a16:creationId xmlns:a16="http://schemas.microsoft.com/office/drawing/2014/main" xmlns="" id="{E6FF9853-6A1D-6FD7-CEAE-B3038B09C3D3}"/>
                  </a:ext>
                </a:extLst>
              </p:cNvPr>
              <p:cNvGrpSpPr>
                <a:grpSpLocks/>
              </p:cNvGrpSpPr>
              <p:nvPr/>
            </p:nvGrpSpPr>
            <p:grpSpPr bwMode="auto">
              <a:xfrm>
                <a:off x="1741" y="1957"/>
                <a:ext cx="3420" cy="1560"/>
                <a:chOff x="1741" y="1957"/>
                <a:chExt cx="3420" cy="1407"/>
              </a:xfrm>
            </p:grpSpPr>
            <p:sp>
              <p:nvSpPr>
                <p:cNvPr id="44" name="Line 8">
                  <a:extLst>
                    <a:ext uri="{FF2B5EF4-FFF2-40B4-BE49-F238E27FC236}">
                      <a16:creationId xmlns:a16="http://schemas.microsoft.com/office/drawing/2014/main" xmlns="" id="{99DC1464-7DE5-3338-526B-92414E221266}"/>
                    </a:ext>
                  </a:extLst>
                </p:cNvPr>
                <p:cNvSpPr>
                  <a:spLocks noChangeShapeType="1"/>
                </p:cNvSpPr>
                <p:nvPr/>
              </p:nvSpPr>
              <p:spPr bwMode="auto">
                <a:xfrm>
                  <a:off x="1741" y="3364"/>
                  <a:ext cx="3420" cy="0"/>
                </a:xfrm>
                <a:prstGeom prst="line">
                  <a:avLst/>
                </a:prstGeom>
                <a:noFill/>
                <a:ln w="9525">
                  <a:solidFill>
                    <a:srgbClr val="000000"/>
                  </a:solidFill>
                  <a:round/>
                  <a:headEnd/>
                  <a:tailEnd type="triangle" w="sm" len="sm"/>
                </a:ln>
                <a:extLst>
                  <a:ext uri="{909E8E84-426E-40DD-AFC4-6F175D3DCCD1}">
                    <a14:hiddenFill xmlns:a14="http://schemas.microsoft.com/office/drawing/2010/main">
                      <a:noFill/>
                    </a14:hiddenFill>
                  </a:ext>
                </a:extLst>
              </p:spPr>
              <p:txBody>
                <a:bodyPr/>
                <a:lstStyle/>
                <a:p>
                  <a:endParaRPr lang="zh-CN" altLang="en-US">
                    <a:solidFill>
                      <a:schemeClr val="tx1"/>
                    </a:solidFill>
                  </a:endParaRPr>
                </a:p>
              </p:txBody>
            </p:sp>
            <p:sp>
              <p:nvSpPr>
                <p:cNvPr id="45" name="Line 9">
                  <a:extLst>
                    <a:ext uri="{FF2B5EF4-FFF2-40B4-BE49-F238E27FC236}">
                      <a16:creationId xmlns:a16="http://schemas.microsoft.com/office/drawing/2014/main" xmlns="" id="{C28CB699-B72E-CCE8-0EC1-1B44D11B3B71}"/>
                    </a:ext>
                  </a:extLst>
                </p:cNvPr>
                <p:cNvSpPr>
                  <a:spLocks noChangeShapeType="1"/>
                </p:cNvSpPr>
                <p:nvPr/>
              </p:nvSpPr>
              <p:spPr bwMode="auto">
                <a:xfrm flipV="1">
                  <a:off x="1741" y="1957"/>
                  <a:ext cx="0" cy="1404"/>
                </a:xfrm>
                <a:prstGeom prst="line">
                  <a:avLst/>
                </a:prstGeom>
                <a:noFill/>
                <a:ln w="9525">
                  <a:solidFill>
                    <a:srgbClr val="000000"/>
                  </a:solidFill>
                  <a:round/>
                  <a:headEnd/>
                  <a:tailEnd type="triangle" w="sm" len="sm"/>
                </a:ln>
                <a:extLst>
                  <a:ext uri="{909E8E84-426E-40DD-AFC4-6F175D3DCCD1}">
                    <a14:hiddenFill xmlns:a14="http://schemas.microsoft.com/office/drawing/2010/main">
                      <a:noFill/>
                    </a14:hiddenFill>
                  </a:ext>
                </a:extLst>
              </p:spPr>
              <p:txBody>
                <a:bodyPr/>
                <a:lstStyle/>
                <a:p>
                  <a:endParaRPr lang="zh-CN" altLang="en-US">
                    <a:solidFill>
                      <a:schemeClr val="tx1"/>
                    </a:solidFill>
                  </a:endParaRPr>
                </a:p>
              </p:txBody>
            </p:sp>
          </p:grpSp>
          <p:sp>
            <p:nvSpPr>
              <p:cNvPr id="42" name="Text Box 10">
                <a:extLst>
                  <a:ext uri="{FF2B5EF4-FFF2-40B4-BE49-F238E27FC236}">
                    <a16:creationId xmlns:a16="http://schemas.microsoft.com/office/drawing/2014/main" xmlns="" id="{C027D1B8-6889-F4FE-FC97-2255FA0309E7}"/>
                  </a:ext>
                </a:extLst>
              </p:cNvPr>
              <p:cNvSpPr txBox="1">
                <a:spLocks noChangeArrowheads="1"/>
              </p:cNvSpPr>
              <p:nvPr/>
            </p:nvSpPr>
            <p:spPr bwMode="auto">
              <a:xfrm>
                <a:off x="1711" y="1756"/>
                <a:ext cx="720" cy="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endParaRPr lang="zh-CN" altLang="zh-CN" sz="1200" b="1">
                  <a:solidFill>
                    <a:schemeClr val="tx1"/>
                  </a:solidFill>
                  <a:latin typeface="Times New Roman" panose="02020603050405020304" pitchFamily="18" charset="0"/>
                </a:endParaRPr>
              </a:p>
            </p:txBody>
          </p:sp>
          <p:sp>
            <p:nvSpPr>
              <p:cNvPr id="43" name="Text Box 11">
                <a:extLst>
                  <a:ext uri="{FF2B5EF4-FFF2-40B4-BE49-F238E27FC236}">
                    <a16:creationId xmlns:a16="http://schemas.microsoft.com/office/drawing/2014/main" xmlns="" id="{D1D852A9-AC16-D7C1-8C7E-D0C3A09A1373}"/>
                  </a:ext>
                </a:extLst>
              </p:cNvPr>
              <p:cNvSpPr txBox="1">
                <a:spLocks noChangeArrowheads="1"/>
              </p:cNvSpPr>
              <p:nvPr/>
            </p:nvSpPr>
            <p:spPr bwMode="auto">
              <a:xfrm>
                <a:off x="5011" y="3385"/>
                <a:ext cx="540" cy="6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2400" b="1" i="1">
                    <a:solidFill>
                      <a:schemeClr val="tx1"/>
                    </a:solidFill>
                    <a:latin typeface="Times New Roman" panose="02020603050405020304" pitchFamily="18" charset="0"/>
                  </a:rPr>
                  <a:t>ω</a:t>
                </a:r>
                <a:endParaRPr lang="en-US" altLang="zh-CN" sz="2400" b="1">
                  <a:solidFill>
                    <a:schemeClr val="tx1"/>
                  </a:solidFill>
                  <a:latin typeface="Times New Roman" panose="02020603050405020304" pitchFamily="18" charset="0"/>
                </a:endParaRPr>
              </a:p>
            </p:txBody>
          </p:sp>
        </p:grpSp>
        <p:grpSp>
          <p:nvGrpSpPr>
            <p:cNvPr id="32" name="Group 12">
              <a:extLst>
                <a:ext uri="{FF2B5EF4-FFF2-40B4-BE49-F238E27FC236}">
                  <a16:creationId xmlns:a16="http://schemas.microsoft.com/office/drawing/2014/main" xmlns="" id="{3A540116-7943-ADDB-B6C8-EBAFBD44AC10}"/>
                </a:ext>
              </a:extLst>
            </p:cNvPr>
            <p:cNvGrpSpPr>
              <a:grpSpLocks/>
            </p:cNvGrpSpPr>
            <p:nvPr/>
          </p:nvGrpSpPr>
          <p:grpSpPr bwMode="auto">
            <a:xfrm>
              <a:off x="-271" y="2413"/>
              <a:ext cx="438" cy="449"/>
              <a:chOff x="2461" y="2269"/>
              <a:chExt cx="1095" cy="1122"/>
            </a:xfrm>
          </p:grpSpPr>
          <p:sp>
            <p:nvSpPr>
              <p:cNvPr id="39" name="Freeform 13">
                <a:extLst>
                  <a:ext uri="{FF2B5EF4-FFF2-40B4-BE49-F238E27FC236}">
                    <a16:creationId xmlns:a16="http://schemas.microsoft.com/office/drawing/2014/main" xmlns="" id="{275D3C38-C71B-B90D-5BC5-D03C76AC67B8}"/>
                  </a:ext>
                </a:extLst>
              </p:cNvPr>
              <p:cNvSpPr>
                <a:spLocks noChangeArrowheads="1"/>
              </p:cNvSpPr>
              <p:nvPr/>
            </p:nvSpPr>
            <p:spPr bwMode="auto">
              <a:xfrm>
                <a:off x="2461" y="2271"/>
                <a:ext cx="578" cy="1120"/>
              </a:xfrm>
              <a:custGeom>
                <a:avLst/>
                <a:gdLst>
                  <a:gd name="T0" fmla="*/ 0 w 4320"/>
                  <a:gd name="T1" fmla="*/ 2834 h 2834"/>
                  <a:gd name="T2" fmla="*/ 1620 w 4320"/>
                  <a:gd name="T3" fmla="*/ 2054 h 2834"/>
                  <a:gd name="T4" fmla="*/ 3240 w 4320"/>
                  <a:gd name="T5" fmla="*/ 338 h 2834"/>
                  <a:gd name="T6" fmla="*/ 4320 w 4320"/>
                  <a:gd name="T7" fmla="*/ 26 h 2834"/>
                </a:gdLst>
                <a:ahLst/>
                <a:cxnLst>
                  <a:cxn ang="0">
                    <a:pos x="T0" y="T1"/>
                  </a:cxn>
                  <a:cxn ang="0">
                    <a:pos x="T2" y="T3"/>
                  </a:cxn>
                  <a:cxn ang="0">
                    <a:pos x="T4" y="T5"/>
                  </a:cxn>
                  <a:cxn ang="0">
                    <a:pos x="T6" y="T7"/>
                  </a:cxn>
                </a:cxnLst>
                <a:rect l="0" t="0" r="r" b="b"/>
                <a:pathLst>
                  <a:path w="4320" h="2834">
                    <a:moveTo>
                      <a:pt x="0" y="2834"/>
                    </a:moveTo>
                    <a:cubicBezTo>
                      <a:pt x="540" y="2652"/>
                      <a:pt x="1080" y="2470"/>
                      <a:pt x="1620" y="2054"/>
                    </a:cubicBezTo>
                    <a:cubicBezTo>
                      <a:pt x="2160" y="1638"/>
                      <a:pt x="2790" y="676"/>
                      <a:pt x="3240" y="338"/>
                    </a:cubicBezTo>
                    <a:cubicBezTo>
                      <a:pt x="3690" y="0"/>
                      <a:pt x="4005" y="13"/>
                      <a:pt x="4320" y="26"/>
                    </a:cubicBezTo>
                  </a:path>
                </a:pathLst>
              </a:custGeom>
              <a:noFill/>
              <a:ln w="254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solidFill>
                    <a:schemeClr val="tx1"/>
                  </a:solidFill>
                </a:endParaRPr>
              </a:p>
            </p:txBody>
          </p:sp>
          <p:sp>
            <p:nvSpPr>
              <p:cNvPr id="40" name="Freeform 14">
                <a:extLst>
                  <a:ext uri="{FF2B5EF4-FFF2-40B4-BE49-F238E27FC236}">
                    <a16:creationId xmlns:a16="http://schemas.microsoft.com/office/drawing/2014/main" xmlns="" id="{359088C1-47A5-2EB0-7FCF-426B604E4E4F}"/>
                  </a:ext>
                </a:extLst>
              </p:cNvPr>
              <p:cNvSpPr>
                <a:spLocks noChangeArrowheads="1"/>
              </p:cNvSpPr>
              <p:nvPr/>
            </p:nvSpPr>
            <p:spPr bwMode="auto">
              <a:xfrm flipH="1">
                <a:off x="2978" y="2269"/>
                <a:ext cx="578" cy="1120"/>
              </a:xfrm>
              <a:custGeom>
                <a:avLst/>
                <a:gdLst>
                  <a:gd name="T0" fmla="*/ 0 w 4320"/>
                  <a:gd name="T1" fmla="*/ 2834 h 2834"/>
                  <a:gd name="T2" fmla="*/ 1620 w 4320"/>
                  <a:gd name="T3" fmla="*/ 2054 h 2834"/>
                  <a:gd name="T4" fmla="*/ 3240 w 4320"/>
                  <a:gd name="T5" fmla="*/ 338 h 2834"/>
                  <a:gd name="T6" fmla="*/ 4320 w 4320"/>
                  <a:gd name="T7" fmla="*/ 26 h 2834"/>
                </a:gdLst>
                <a:ahLst/>
                <a:cxnLst>
                  <a:cxn ang="0">
                    <a:pos x="T0" y="T1"/>
                  </a:cxn>
                  <a:cxn ang="0">
                    <a:pos x="T2" y="T3"/>
                  </a:cxn>
                  <a:cxn ang="0">
                    <a:pos x="T4" y="T5"/>
                  </a:cxn>
                  <a:cxn ang="0">
                    <a:pos x="T6" y="T7"/>
                  </a:cxn>
                </a:cxnLst>
                <a:rect l="0" t="0" r="r" b="b"/>
                <a:pathLst>
                  <a:path w="4320" h="2834">
                    <a:moveTo>
                      <a:pt x="0" y="2834"/>
                    </a:moveTo>
                    <a:cubicBezTo>
                      <a:pt x="540" y="2652"/>
                      <a:pt x="1080" y="2470"/>
                      <a:pt x="1620" y="2054"/>
                    </a:cubicBezTo>
                    <a:cubicBezTo>
                      <a:pt x="2160" y="1638"/>
                      <a:pt x="2790" y="676"/>
                      <a:pt x="3240" y="338"/>
                    </a:cubicBezTo>
                    <a:cubicBezTo>
                      <a:pt x="3690" y="0"/>
                      <a:pt x="4005" y="13"/>
                      <a:pt x="4320" y="26"/>
                    </a:cubicBezTo>
                  </a:path>
                </a:pathLst>
              </a:custGeom>
              <a:noFill/>
              <a:ln w="254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solidFill>
                    <a:schemeClr val="tx1"/>
                  </a:solidFill>
                </a:endParaRPr>
              </a:p>
            </p:txBody>
          </p:sp>
        </p:grpSp>
        <p:sp>
          <p:nvSpPr>
            <p:cNvPr id="33" name="Line 15">
              <a:extLst>
                <a:ext uri="{FF2B5EF4-FFF2-40B4-BE49-F238E27FC236}">
                  <a16:creationId xmlns:a16="http://schemas.microsoft.com/office/drawing/2014/main" xmlns="" id="{076EC12A-2800-E3C6-D746-B59C91B80321}"/>
                </a:ext>
              </a:extLst>
            </p:cNvPr>
            <p:cNvSpPr>
              <a:spLocks noChangeShapeType="1"/>
            </p:cNvSpPr>
            <p:nvPr/>
          </p:nvSpPr>
          <p:spPr bwMode="auto">
            <a:xfrm>
              <a:off x="-559" y="2413"/>
              <a:ext cx="720"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solidFill>
                  <a:schemeClr val="tx1"/>
                </a:solidFill>
              </a:endParaRPr>
            </a:p>
          </p:txBody>
        </p:sp>
        <p:sp>
          <p:nvSpPr>
            <p:cNvPr id="34" name="Line 16">
              <a:extLst>
                <a:ext uri="{FF2B5EF4-FFF2-40B4-BE49-F238E27FC236}">
                  <a16:creationId xmlns:a16="http://schemas.microsoft.com/office/drawing/2014/main" xmlns="" id="{F5D36054-DEC8-48D6-11A8-C477F6E58BD7}"/>
                </a:ext>
              </a:extLst>
            </p:cNvPr>
            <p:cNvSpPr>
              <a:spLocks noChangeShapeType="1"/>
            </p:cNvSpPr>
            <p:nvPr/>
          </p:nvSpPr>
          <p:spPr bwMode="auto">
            <a:xfrm>
              <a:off x="-48" y="2352"/>
              <a:ext cx="0" cy="624"/>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solidFill>
                  <a:schemeClr val="tx1"/>
                </a:solidFill>
              </a:endParaRPr>
            </a:p>
          </p:txBody>
        </p:sp>
        <p:sp>
          <p:nvSpPr>
            <p:cNvPr id="35" name="Text Box 17">
              <a:extLst>
                <a:ext uri="{FF2B5EF4-FFF2-40B4-BE49-F238E27FC236}">
                  <a16:creationId xmlns:a16="http://schemas.microsoft.com/office/drawing/2014/main" xmlns="" id="{A83ADF8C-9891-5211-E175-903EB122CC78}"/>
                </a:ext>
              </a:extLst>
            </p:cNvPr>
            <p:cNvSpPr txBox="1">
              <a:spLocks noChangeArrowheads="1"/>
            </p:cNvSpPr>
            <p:nvPr/>
          </p:nvSpPr>
          <p:spPr bwMode="auto">
            <a:xfrm>
              <a:off x="-103" y="2850"/>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endParaRPr lang="en-US" altLang="zh-CN" sz="1200" b="1" i="1">
                <a:solidFill>
                  <a:schemeClr val="tx1"/>
                </a:solidFill>
                <a:latin typeface="Times New Roman" panose="02020603050405020304" pitchFamily="18" charset="0"/>
              </a:endParaRPr>
            </a:p>
            <a:p>
              <a:pPr algn="just" eaLnBrk="0" hangingPunct="0"/>
              <a:r>
                <a:rPr lang="en-US" altLang="zh-CN" sz="2400" b="1" i="1">
                  <a:solidFill>
                    <a:schemeClr val="tx1"/>
                  </a:solidFill>
                  <a:latin typeface="Times New Roman" panose="02020603050405020304" pitchFamily="18" charset="0"/>
                </a:rPr>
                <a:t>ω</a:t>
              </a:r>
              <a:r>
                <a:rPr lang="en-US" altLang="zh-CN" sz="2400" b="1" baseline="-25000">
                  <a:solidFill>
                    <a:schemeClr val="tx1"/>
                  </a:solidFill>
                  <a:latin typeface="Times New Roman" panose="02020603050405020304" pitchFamily="18" charset="0"/>
                </a:rPr>
                <a:t>o</a:t>
              </a:r>
              <a:endParaRPr lang="en-US" altLang="zh-CN" sz="2400" b="1">
                <a:solidFill>
                  <a:schemeClr val="tx1"/>
                </a:solidFill>
                <a:latin typeface="Times New Roman" panose="02020603050405020304" pitchFamily="18" charset="0"/>
              </a:endParaRPr>
            </a:p>
          </p:txBody>
        </p:sp>
        <p:sp>
          <p:nvSpPr>
            <p:cNvPr id="36" name="Text Box 18">
              <a:extLst>
                <a:ext uri="{FF2B5EF4-FFF2-40B4-BE49-F238E27FC236}">
                  <a16:creationId xmlns:a16="http://schemas.microsoft.com/office/drawing/2014/main" xmlns="" id="{4BF85DA3-4D8A-DFF2-9FDB-4FF5F669719A}"/>
                </a:ext>
              </a:extLst>
            </p:cNvPr>
            <p:cNvSpPr txBox="1">
              <a:spLocks noChangeArrowheads="1"/>
            </p:cNvSpPr>
            <p:nvPr/>
          </p:nvSpPr>
          <p:spPr bwMode="auto">
            <a:xfrm>
              <a:off x="-565" y="2975"/>
              <a:ext cx="227"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endParaRPr lang="zh-CN" altLang="zh-CN" sz="1200" b="1">
                <a:solidFill>
                  <a:schemeClr val="tx1"/>
                </a:solidFill>
                <a:latin typeface="Times New Roman" panose="02020603050405020304" pitchFamily="18" charset="0"/>
              </a:endParaRPr>
            </a:p>
          </p:txBody>
        </p:sp>
        <p:sp>
          <p:nvSpPr>
            <p:cNvPr id="37" name="Text Box 19">
              <a:extLst>
                <a:ext uri="{FF2B5EF4-FFF2-40B4-BE49-F238E27FC236}">
                  <a16:creationId xmlns:a16="http://schemas.microsoft.com/office/drawing/2014/main" xmlns="" id="{A35E39DE-A750-E454-69EA-86FFBC30D2E3}"/>
                </a:ext>
              </a:extLst>
            </p:cNvPr>
            <p:cNvSpPr txBox="1">
              <a:spLocks noChangeArrowheads="1"/>
            </p:cNvSpPr>
            <p:nvPr/>
          </p:nvSpPr>
          <p:spPr bwMode="auto">
            <a:xfrm>
              <a:off x="-576" y="2256"/>
              <a:ext cx="2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2400" b="1" i="1">
                  <a:solidFill>
                    <a:schemeClr val="tx1"/>
                  </a:solidFill>
                  <a:latin typeface="Times New Roman" panose="02020603050405020304" pitchFamily="18" charset="0"/>
                </a:rPr>
                <a:t>F</a:t>
              </a:r>
              <a:endParaRPr lang="en-US" altLang="zh-CN" sz="2400" b="1">
                <a:solidFill>
                  <a:schemeClr val="tx1"/>
                </a:solidFill>
                <a:latin typeface="Times New Roman" panose="02020603050405020304" pitchFamily="18" charset="0"/>
              </a:endParaRPr>
            </a:p>
          </p:txBody>
        </p:sp>
        <p:sp>
          <p:nvSpPr>
            <p:cNvPr id="38" name="Text Box 20">
              <a:extLst>
                <a:ext uri="{FF2B5EF4-FFF2-40B4-BE49-F238E27FC236}">
                  <a16:creationId xmlns:a16="http://schemas.microsoft.com/office/drawing/2014/main" xmlns="" id="{4AE436CB-EBBE-BC56-ACF7-5FC2DDF9DF08}"/>
                </a:ext>
              </a:extLst>
            </p:cNvPr>
            <p:cNvSpPr txBox="1">
              <a:spLocks noChangeArrowheads="1"/>
            </p:cNvSpPr>
            <p:nvPr/>
          </p:nvSpPr>
          <p:spPr bwMode="auto">
            <a:xfrm>
              <a:off x="-679" y="2850"/>
              <a:ext cx="43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200" b="1" i="1">
                  <a:solidFill>
                    <a:schemeClr val="tx1"/>
                  </a:solidFill>
                  <a:latin typeface="Times New Roman" panose="02020603050405020304" pitchFamily="18" charset="0"/>
                </a:rPr>
                <a:t>O</a:t>
              </a:r>
            </a:p>
          </p:txBody>
        </p:sp>
      </p:grpSp>
      <p:sp>
        <p:nvSpPr>
          <p:cNvPr id="62" name="Rectangle 48">
            <a:hlinkClick r:id="rId16" action="ppaction://hlinksldjump"/>
            <a:extLst>
              <a:ext uri="{FF2B5EF4-FFF2-40B4-BE49-F238E27FC236}">
                <a16:creationId xmlns:a16="http://schemas.microsoft.com/office/drawing/2014/main" xmlns="" id="{D997C300-B46F-DF68-66C8-5BEF628FB932}"/>
              </a:ext>
            </a:extLst>
          </p:cNvPr>
          <p:cNvSpPr>
            <a:spLocks noChangeArrowheads="1"/>
          </p:cNvSpPr>
          <p:nvPr/>
        </p:nvSpPr>
        <p:spPr bwMode="auto">
          <a:xfrm>
            <a:off x="362251" y="4186789"/>
            <a:ext cx="4719637" cy="384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anchor="ctr">
            <a:spAutoFit/>
          </a:bodyPr>
          <a:lstStyle/>
          <a:p>
            <a:r>
              <a:rPr lang="en-US" altLang="zh-CN" sz="2200" b="1" dirty="0">
                <a:latin typeface="Times New Roman" panose="02020603050405020304" pitchFamily="18" charset="0"/>
                <a:cs typeface="Times New Roman" panose="02020603050405020304" pitchFamily="18" charset="0"/>
              </a:rPr>
              <a:t>2. </a:t>
            </a:r>
            <a:r>
              <a:rPr lang="en-US" altLang="zh-CN" sz="2200" b="1" i="1" dirty="0">
                <a:latin typeface="Times New Roman" panose="02020603050405020304" pitchFamily="18" charset="0"/>
                <a:cs typeface="Times New Roman" panose="02020603050405020304" pitchFamily="18" charset="0"/>
              </a:rPr>
              <a:t>RC</a:t>
            </a:r>
            <a:r>
              <a:rPr lang="zh-CN" altLang="en-US" sz="2200" b="1" dirty="0">
                <a:latin typeface="Times New Roman" panose="02020603050405020304" pitchFamily="18" charset="0"/>
                <a:cs typeface="Times New Roman" panose="02020603050405020304" pitchFamily="18" charset="0"/>
              </a:rPr>
              <a:t>串并联选频网络的选频特性</a:t>
            </a:r>
          </a:p>
        </p:txBody>
      </p:sp>
      <p:sp>
        <p:nvSpPr>
          <p:cNvPr id="63" name="Rectangle 21">
            <a:extLst>
              <a:ext uri="{FF2B5EF4-FFF2-40B4-BE49-F238E27FC236}">
                <a16:creationId xmlns:a16="http://schemas.microsoft.com/office/drawing/2014/main" xmlns="" id="{65E02262-6F41-5049-1857-E2D4AD849913}"/>
              </a:ext>
            </a:extLst>
          </p:cNvPr>
          <p:cNvSpPr>
            <a:spLocks noChangeArrowheads="1"/>
          </p:cNvSpPr>
          <p:nvPr/>
        </p:nvSpPr>
        <p:spPr bwMode="auto">
          <a:xfrm>
            <a:off x="24004" y="4943009"/>
            <a:ext cx="1825625" cy="41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algn="just">
              <a:lnSpc>
                <a:spcPct val="120000"/>
              </a:lnSpc>
              <a:buClr>
                <a:schemeClr val="folHlink"/>
              </a:buClr>
              <a:buSzPct val="60000"/>
              <a:buFont typeface="Wingdings" panose="05000000000000000000" pitchFamily="2" charset="2"/>
              <a:buNone/>
            </a:pPr>
            <a:r>
              <a:rPr lang="zh-CN" altLang="en-US" sz="2000" b="1" dirty="0">
                <a:solidFill>
                  <a:srgbClr val="000000"/>
                </a:solidFill>
                <a:latin typeface="+mn-ea"/>
                <a:ea typeface="+mn-ea"/>
              </a:rPr>
              <a:t>幅频特性</a:t>
            </a:r>
          </a:p>
        </p:txBody>
      </p:sp>
      <p:graphicFrame>
        <p:nvGraphicFramePr>
          <p:cNvPr id="64" name="Object 22">
            <a:extLst>
              <a:ext uri="{FF2B5EF4-FFF2-40B4-BE49-F238E27FC236}">
                <a16:creationId xmlns:a16="http://schemas.microsoft.com/office/drawing/2014/main" xmlns="" id="{FA011454-4F64-99A2-7E71-D0BF837FAF91}"/>
              </a:ext>
            </a:extLst>
          </p:cNvPr>
          <p:cNvGraphicFramePr>
            <a:graphicFrameLocks noChangeAspect="1"/>
          </p:cNvGraphicFramePr>
          <p:nvPr>
            <p:extLst>
              <p:ext uri="{D42A27DB-BD31-4B8C-83A1-F6EECF244321}">
                <p14:modId xmlns:p14="http://schemas.microsoft.com/office/powerpoint/2010/main" val="2634390559"/>
              </p:ext>
            </p:extLst>
          </p:nvPr>
        </p:nvGraphicFramePr>
        <p:xfrm>
          <a:off x="1202969" y="4552058"/>
          <a:ext cx="2283924" cy="1055553"/>
        </p:xfrm>
        <a:graphic>
          <a:graphicData uri="http://schemas.openxmlformats.org/presentationml/2006/ole">
            <mc:AlternateContent xmlns:mc="http://schemas.openxmlformats.org/markup-compatibility/2006">
              <mc:Choice xmlns:v="urn:schemas-microsoft-com:vml" Requires="v">
                <p:oleObj spid="_x0000_s162000" r:id="rId17" imgW="1447172" imgH="672808" progId="Equation.3">
                  <p:embed/>
                </p:oleObj>
              </mc:Choice>
              <mc:Fallback>
                <p:oleObj r:id="rId17" imgW="1447172" imgH="672808" progId="Equation.3">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202969" y="4552058"/>
                        <a:ext cx="2283924" cy="1055553"/>
                      </a:xfrm>
                      <a:prstGeom prst="rect">
                        <a:avLst/>
                      </a:prstGeom>
                      <a:noFill/>
                      <a:ln>
                        <a:noFill/>
                      </a:ln>
                      <a:extLst/>
                    </p:spPr>
                  </p:pic>
                </p:oleObj>
              </mc:Fallback>
            </mc:AlternateContent>
          </a:graphicData>
        </a:graphic>
      </p:graphicFrame>
      <p:sp>
        <p:nvSpPr>
          <p:cNvPr id="65" name="Rectangle 23">
            <a:extLst>
              <a:ext uri="{FF2B5EF4-FFF2-40B4-BE49-F238E27FC236}">
                <a16:creationId xmlns:a16="http://schemas.microsoft.com/office/drawing/2014/main" xmlns="" id="{EBEA6D32-0953-05DC-1E78-4A0A88FA1D32}"/>
              </a:ext>
            </a:extLst>
          </p:cNvPr>
          <p:cNvSpPr>
            <a:spLocks noChangeArrowheads="1"/>
          </p:cNvSpPr>
          <p:nvPr/>
        </p:nvSpPr>
        <p:spPr bwMode="auto">
          <a:xfrm>
            <a:off x="-15381" y="5759276"/>
            <a:ext cx="1825625" cy="41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algn="just">
              <a:lnSpc>
                <a:spcPct val="120000"/>
              </a:lnSpc>
              <a:buClr>
                <a:schemeClr val="folHlink"/>
              </a:buClr>
              <a:buSzPct val="60000"/>
              <a:buFont typeface="Wingdings" panose="05000000000000000000" pitchFamily="2" charset="2"/>
              <a:buNone/>
            </a:pPr>
            <a:r>
              <a:rPr lang="zh-CN" altLang="en-US" sz="2000" b="1" dirty="0">
                <a:solidFill>
                  <a:srgbClr val="000000"/>
                </a:solidFill>
                <a:latin typeface="+mn-ea"/>
                <a:ea typeface="+mn-ea"/>
              </a:rPr>
              <a:t>相频特性</a:t>
            </a:r>
          </a:p>
        </p:txBody>
      </p:sp>
      <p:graphicFrame>
        <p:nvGraphicFramePr>
          <p:cNvPr id="66" name="Object 24">
            <a:extLst>
              <a:ext uri="{FF2B5EF4-FFF2-40B4-BE49-F238E27FC236}">
                <a16:creationId xmlns:a16="http://schemas.microsoft.com/office/drawing/2014/main" xmlns="" id="{C7A1F9F4-EE08-62C2-E86B-78A490F4934E}"/>
              </a:ext>
            </a:extLst>
          </p:cNvPr>
          <p:cNvGraphicFramePr>
            <a:graphicFrameLocks noChangeAspect="1"/>
          </p:cNvGraphicFramePr>
          <p:nvPr>
            <p:extLst>
              <p:ext uri="{D42A27DB-BD31-4B8C-83A1-F6EECF244321}">
                <p14:modId xmlns:p14="http://schemas.microsoft.com/office/powerpoint/2010/main" val="2985894110"/>
              </p:ext>
            </p:extLst>
          </p:nvPr>
        </p:nvGraphicFramePr>
        <p:xfrm>
          <a:off x="1345472" y="5457202"/>
          <a:ext cx="2269817" cy="958928"/>
        </p:xfrm>
        <a:graphic>
          <a:graphicData uri="http://schemas.openxmlformats.org/presentationml/2006/ole">
            <mc:AlternateContent xmlns:mc="http://schemas.openxmlformats.org/markup-compatibility/2006">
              <mc:Choice xmlns:v="urn:schemas-microsoft-com:vml" Requires="v">
                <p:oleObj spid="_x0000_s162001" r:id="rId19" imgW="1346200" imgH="571500" progId="Equation.3">
                  <p:embed/>
                </p:oleObj>
              </mc:Choice>
              <mc:Fallback>
                <p:oleObj r:id="rId19" imgW="1346200" imgH="571500" progId="Equation.3">
                  <p:embed/>
                  <p:pic>
                    <p:nvPicPr>
                      <p:cNvPr id="0" name=""/>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345472" y="5457202"/>
                        <a:ext cx="2269817" cy="958928"/>
                      </a:xfrm>
                      <a:prstGeom prst="rect">
                        <a:avLst/>
                      </a:prstGeom>
                      <a:noFill/>
                      <a:ln>
                        <a:noFill/>
                      </a:ln>
                      <a:extLst/>
                    </p:spPr>
                  </p:pic>
                </p:oleObj>
              </mc:Fallback>
            </mc:AlternateContent>
          </a:graphicData>
        </a:graphic>
      </p:graphicFrame>
    </p:spTree>
    <p:extLst>
      <p:ext uri="{BB962C8B-B14F-4D97-AF65-F5344CB8AC3E}">
        <p14:creationId xmlns:p14="http://schemas.microsoft.com/office/powerpoint/2010/main" val="234561794"/>
      </p:ext>
    </p:extLst>
  </p:cSld>
  <p:clrMapOvr>
    <a:masterClrMapping/>
  </p:clrMapOvr>
  <p:timing>
    <p:tnLst>
      <p:par>
        <p:cTn id="1" dur="indefinite" restart="never" nodeType="tmRoot"/>
      </p:par>
    </p:tnLst>
  </p:timing>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206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5.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正弦波</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振荡器</a:t>
            </a:r>
          </a:p>
        </p:txBody>
      </p:sp>
      <p:sp>
        <p:nvSpPr>
          <p:cNvPr id="5" name="Rectangle 48">
            <a:hlinkClick r:id="rId3" action="ppaction://hlinksldjump"/>
            <a:extLst>
              <a:ext uri="{FF2B5EF4-FFF2-40B4-BE49-F238E27FC236}">
                <a16:creationId xmlns:a16="http://schemas.microsoft.com/office/drawing/2014/main" xmlns="" id="{D997C300-B46F-DF68-66C8-5BEF628FB932}"/>
              </a:ext>
            </a:extLst>
          </p:cNvPr>
          <p:cNvSpPr>
            <a:spLocks noChangeArrowheads="1"/>
          </p:cNvSpPr>
          <p:nvPr/>
        </p:nvSpPr>
        <p:spPr bwMode="auto">
          <a:xfrm>
            <a:off x="393887" y="1408516"/>
            <a:ext cx="4719637"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anchor="ctr">
            <a:spAutoFit/>
          </a:bodyPr>
          <a:lstStyle/>
          <a:p>
            <a:r>
              <a:rPr lang="en-US" altLang="zh-CN" sz="2400" b="1" dirty="0">
                <a:solidFill>
                  <a:schemeClr val="tx2"/>
                </a:solidFill>
                <a:latin typeface="+mn-ea"/>
                <a:ea typeface="+mn-ea"/>
              </a:rPr>
              <a:t>2. </a:t>
            </a:r>
            <a:r>
              <a:rPr lang="en-US" altLang="zh-CN" sz="2400" b="1" i="1" dirty="0">
                <a:solidFill>
                  <a:schemeClr val="tx2"/>
                </a:solidFill>
                <a:latin typeface="+mn-ea"/>
                <a:ea typeface="+mn-ea"/>
              </a:rPr>
              <a:t>RC</a:t>
            </a:r>
            <a:r>
              <a:rPr lang="zh-CN" altLang="en-US" sz="2400" b="1" dirty="0">
                <a:solidFill>
                  <a:schemeClr val="tx2"/>
                </a:solidFill>
                <a:latin typeface="+mn-ea"/>
                <a:ea typeface="+mn-ea"/>
              </a:rPr>
              <a:t>串并联选频网络的选频特性</a:t>
            </a:r>
          </a:p>
        </p:txBody>
      </p:sp>
      <p:grpSp>
        <p:nvGrpSpPr>
          <p:cNvPr id="6" name="Group 5">
            <a:extLst>
              <a:ext uri="{FF2B5EF4-FFF2-40B4-BE49-F238E27FC236}">
                <a16:creationId xmlns:a16="http://schemas.microsoft.com/office/drawing/2014/main" xmlns="" id="{7C9605AC-8FFE-0124-F2E8-38B577B39BAC}"/>
              </a:ext>
            </a:extLst>
          </p:cNvPr>
          <p:cNvGrpSpPr>
            <a:grpSpLocks/>
          </p:cNvGrpSpPr>
          <p:nvPr/>
        </p:nvGrpSpPr>
        <p:grpSpPr bwMode="auto">
          <a:xfrm>
            <a:off x="5113524" y="1340768"/>
            <a:ext cx="3441700" cy="2667000"/>
            <a:chOff x="-679" y="2208"/>
            <a:chExt cx="1417" cy="945"/>
          </a:xfrm>
        </p:grpSpPr>
        <p:grpSp>
          <p:nvGrpSpPr>
            <p:cNvPr id="7" name="Group 6">
              <a:extLst>
                <a:ext uri="{FF2B5EF4-FFF2-40B4-BE49-F238E27FC236}">
                  <a16:creationId xmlns:a16="http://schemas.microsoft.com/office/drawing/2014/main" xmlns="" id="{CA916367-A24F-8DA1-00D6-1620B9093234}"/>
                </a:ext>
              </a:extLst>
            </p:cNvPr>
            <p:cNvGrpSpPr>
              <a:grpSpLocks/>
            </p:cNvGrpSpPr>
            <p:nvPr/>
          </p:nvGrpSpPr>
          <p:grpSpPr bwMode="auto">
            <a:xfrm>
              <a:off x="-571" y="2208"/>
              <a:ext cx="1309" cy="900"/>
              <a:chOff x="1711" y="1756"/>
              <a:chExt cx="3840" cy="2250"/>
            </a:xfrm>
          </p:grpSpPr>
          <p:grpSp>
            <p:nvGrpSpPr>
              <p:cNvPr id="17" name="Group 7">
                <a:extLst>
                  <a:ext uri="{FF2B5EF4-FFF2-40B4-BE49-F238E27FC236}">
                    <a16:creationId xmlns:a16="http://schemas.microsoft.com/office/drawing/2014/main" xmlns="" id="{E6FF9853-6A1D-6FD7-CEAE-B3038B09C3D3}"/>
                  </a:ext>
                </a:extLst>
              </p:cNvPr>
              <p:cNvGrpSpPr>
                <a:grpSpLocks/>
              </p:cNvGrpSpPr>
              <p:nvPr/>
            </p:nvGrpSpPr>
            <p:grpSpPr bwMode="auto">
              <a:xfrm>
                <a:off x="1741" y="1957"/>
                <a:ext cx="3420" cy="1560"/>
                <a:chOff x="1741" y="1957"/>
                <a:chExt cx="3420" cy="1407"/>
              </a:xfrm>
            </p:grpSpPr>
            <p:sp>
              <p:nvSpPr>
                <p:cNvPr id="20" name="Line 8">
                  <a:extLst>
                    <a:ext uri="{FF2B5EF4-FFF2-40B4-BE49-F238E27FC236}">
                      <a16:creationId xmlns:a16="http://schemas.microsoft.com/office/drawing/2014/main" xmlns="" id="{99DC1464-7DE5-3338-526B-92414E221266}"/>
                    </a:ext>
                  </a:extLst>
                </p:cNvPr>
                <p:cNvSpPr>
                  <a:spLocks noChangeShapeType="1"/>
                </p:cNvSpPr>
                <p:nvPr/>
              </p:nvSpPr>
              <p:spPr bwMode="auto">
                <a:xfrm>
                  <a:off x="1741" y="3364"/>
                  <a:ext cx="3420" cy="0"/>
                </a:xfrm>
                <a:prstGeom prst="line">
                  <a:avLst/>
                </a:prstGeom>
                <a:noFill/>
                <a:ln w="9525">
                  <a:solidFill>
                    <a:srgbClr val="000000"/>
                  </a:solidFill>
                  <a:round/>
                  <a:headEnd/>
                  <a:tailEnd type="triangle" w="sm" len="sm"/>
                </a:ln>
                <a:extLst>
                  <a:ext uri="{909E8E84-426E-40DD-AFC4-6F175D3DCCD1}">
                    <a14:hiddenFill xmlns:a14="http://schemas.microsoft.com/office/drawing/2010/main">
                      <a:noFill/>
                    </a14:hiddenFill>
                  </a:ext>
                </a:extLst>
              </p:spPr>
              <p:txBody>
                <a:bodyPr/>
                <a:lstStyle/>
                <a:p>
                  <a:endParaRPr lang="zh-CN" altLang="en-US">
                    <a:solidFill>
                      <a:schemeClr val="tx1"/>
                    </a:solidFill>
                  </a:endParaRPr>
                </a:p>
              </p:txBody>
            </p:sp>
            <p:sp>
              <p:nvSpPr>
                <p:cNvPr id="21" name="Line 9">
                  <a:extLst>
                    <a:ext uri="{FF2B5EF4-FFF2-40B4-BE49-F238E27FC236}">
                      <a16:creationId xmlns:a16="http://schemas.microsoft.com/office/drawing/2014/main" xmlns="" id="{C28CB699-B72E-CCE8-0EC1-1B44D11B3B71}"/>
                    </a:ext>
                  </a:extLst>
                </p:cNvPr>
                <p:cNvSpPr>
                  <a:spLocks noChangeShapeType="1"/>
                </p:cNvSpPr>
                <p:nvPr/>
              </p:nvSpPr>
              <p:spPr bwMode="auto">
                <a:xfrm flipV="1">
                  <a:off x="1741" y="1957"/>
                  <a:ext cx="0" cy="1404"/>
                </a:xfrm>
                <a:prstGeom prst="line">
                  <a:avLst/>
                </a:prstGeom>
                <a:noFill/>
                <a:ln w="9525">
                  <a:solidFill>
                    <a:srgbClr val="000000"/>
                  </a:solidFill>
                  <a:round/>
                  <a:headEnd/>
                  <a:tailEnd type="triangle" w="sm" len="sm"/>
                </a:ln>
                <a:extLst>
                  <a:ext uri="{909E8E84-426E-40DD-AFC4-6F175D3DCCD1}">
                    <a14:hiddenFill xmlns:a14="http://schemas.microsoft.com/office/drawing/2010/main">
                      <a:noFill/>
                    </a14:hiddenFill>
                  </a:ext>
                </a:extLst>
              </p:spPr>
              <p:txBody>
                <a:bodyPr/>
                <a:lstStyle/>
                <a:p>
                  <a:endParaRPr lang="zh-CN" altLang="en-US">
                    <a:solidFill>
                      <a:schemeClr val="tx1"/>
                    </a:solidFill>
                  </a:endParaRPr>
                </a:p>
              </p:txBody>
            </p:sp>
          </p:grpSp>
          <p:sp>
            <p:nvSpPr>
              <p:cNvPr id="18" name="Text Box 10">
                <a:extLst>
                  <a:ext uri="{FF2B5EF4-FFF2-40B4-BE49-F238E27FC236}">
                    <a16:creationId xmlns:a16="http://schemas.microsoft.com/office/drawing/2014/main" xmlns="" id="{C027D1B8-6889-F4FE-FC97-2255FA0309E7}"/>
                  </a:ext>
                </a:extLst>
              </p:cNvPr>
              <p:cNvSpPr txBox="1">
                <a:spLocks noChangeArrowheads="1"/>
              </p:cNvSpPr>
              <p:nvPr/>
            </p:nvSpPr>
            <p:spPr bwMode="auto">
              <a:xfrm>
                <a:off x="1711" y="1756"/>
                <a:ext cx="720" cy="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endParaRPr lang="zh-CN" altLang="zh-CN" sz="1200" b="1">
                  <a:solidFill>
                    <a:schemeClr val="tx1"/>
                  </a:solidFill>
                  <a:latin typeface="Times New Roman" panose="02020603050405020304" pitchFamily="18" charset="0"/>
                </a:endParaRPr>
              </a:p>
            </p:txBody>
          </p:sp>
          <p:sp>
            <p:nvSpPr>
              <p:cNvPr id="19" name="Text Box 11">
                <a:extLst>
                  <a:ext uri="{FF2B5EF4-FFF2-40B4-BE49-F238E27FC236}">
                    <a16:creationId xmlns:a16="http://schemas.microsoft.com/office/drawing/2014/main" xmlns="" id="{D1D852A9-AC16-D7C1-8C7E-D0C3A09A1373}"/>
                  </a:ext>
                </a:extLst>
              </p:cNvPr>
              <p:cNvSpPr txBox="1">
                <a:spLocks noChangeArrowheads="1"/>
              </p:cNvSpPr>
              <p:nvPr/>
            </p:nvSpPr>
            <p:spPr bwMode="auto">
              <a:xfrm>
                <a:off x="5011" y="3385"/>
                <a:ext cx="540" cy="6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2400" b="1" i="1">
                    <a:solidFill>
                      <a:schemeClr val="tx1"/>
                    </a:solidFill>
                    <a:latin typeface="Times New Roman" panose="02020603050405020304" pitchFamily="18" charset="0"/>
                  </a:rPr>
                  <a:t>ω</a:t>
                </a:r>
                <a:endParaRPr lang="en-US" altLang="zh-CN" sz="2400" b="1">
                  <a:solidFill>
                    <a:schemeClr val="tx1"/>
                  </a:solidFill>
                  <a:latin typeface="Times New Roman" panose="02020603050405020304" pitchFamily="18" charset="0"/>
                </a:endParaRPr>
              </a:p>
            </p:txBody>
          </p:sp>
        </p:grpSp>
        <p:grpSp>
          <p:nvGrpSpPr>
            <p:cNvPr id="8" name="Group 12">
              <a:extLst>
                <a:ext uri="{FF2B5EF4-FFF2-40B4-BE49-F238E27FC236}">
                  <a16:creationId xmlns:a16="http://schemas.microsoft.com/office/drawing/2014/main" xmlns="" id="{3A540116-7943-ADDB-B6C8-EBAFBD44AC10}"/>
                </a:ext>
              </a:extLst>
            </p:cNvPr>
            <p:cNvGrpSpPr>
              <a:grpSpLocks/>
            </p:cNvGrpSpPr>
            <p:nvPr/>
          </p:nvGrpSpPr>
          <p:grpSpPr bwMode="auto">
            <a:xfrm>
              <a:off x="-271" y="2413"/>
              <a:ext cx="438" cy="449"/>
              <a:chOff x="2461" y="2269"/>
              <a:chExt cx="1095" cy="1122"/>
            </a:xfrm>
          </p:grpSpPr>
          <p:sp>
            <p:nvSpPr>
              <p:cNvPr id="15" name="Freeform 13">
                <a:extLst>
                  <a:ext uri="{FF2B5EF4-FFF2-40B4-BE49-F238E27FC236}">
                    <a16:creationId xmlns:a16="http://schemas.microsoft.com/office/drawing/2014/main" xmlns="" id="{275D3C38-C71B-B90D-5BC5-D03C76AC67B8}"/>
                  </a:ext>
                </a:extLst>
              </p:cNvPr>
              <p:cNvSpPr>
                <a:spLocks noChangeArrowheads="1"/>
              </p:cNvSpPr>
              <p:nvPr/>
            </p:nvSpPr>
            <p:spPr bwMode="auto">
              <a:xfrm>
                <a:off x="2461" y="2271"/>
                <a:ext cx="578" cy="1120"/>
              </a:xfrm>
              <a:custGeom>
                <a:avLst/>
                <a:gdLst>
                  <a:gd name="T0" fmla="*/ 0 w 4320"/>
                  <a:gd name="T1" fmla="*/ 2834 h 2834"/>
                  <a:gd name="T2" fmla="*/ 1620 w 4320"/>
                  <a:gd name="T3" fmla="*/ 2054 h 2834"/>
                  <a:gd name="T4" fmla="*/ 3240 w 4320"/>
                  <a:gd name="T5" fmla="*/ 338 h 2834"/>
                  <a:gd name="T6" fmla="*/ 4320 w 4320"/>
                  <a:gd name="T7" fmla="*/ 26 h 2834"/>
                </a:gdLst>
                <a:ahLst/>
                <a:cxnLst>
                  <a:cxn ang="0">
                    <a:pos x="T0" y="T1"/>
                  </a:cxn>
                  <a:cxn ang="0">
                    <a:pos x="T2" y="T3"/>
                  </a:cxn>
                  <a:cxn ang="0">
                    <a:pos x="T4" y="T5"/>
                  </a:cxn>
                  <a:cxn ang="0">
                    <a:pos x="T6" y="T7"/>
                  </a:cxn>
                </a:cxnLst>
                <a:rect l="0" t="0" r="r" b="b"/>
                <a:pathLst>
                  <a:path w="4320" h="2834">
                    <a:moveTo>
                      <a:pt x="0" y="2834"/>
                    </a:moveTo>
                    <a:cubicBezTo>
                      <a:pt x="540" y="2652"/>
                      <a:pt x="1080" y="2470"/>
                      <a:pt x="1620" y="2054"/>
                    </a:cubicBezTo>
                    <a:cubicBezTo>
                      <a:pt x="2160" y="1638"/>
                      <a:pt x="2790" y="676"/>
                      <a:pt x="3240" y="338"/>
                    </a:cubicBezTo>
                    <a:cubicBezTo>
                      <a:pt x="3690" y="0"/>
                      <a:pt x="4005" y="13"/>
                      <a:pt x="4320" y="26"/>
                    </a:cubicBezTo>
                  </a:path>
                </a:pathLst>
              </a:custGeom>
              <a:noFill/>
              <a:ln w="254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solidFill>
                    <a:schemeClr val="tx1"/>
                  </a:solidFill>
                </a:endParaRPr>
              </a:p>
            </p:txBody>
          </p:sp>
          <p:sp>
            <p:nvSpPr>
              <p:cNvPr id="16" name="Freeform 14">
                <a:extLst>
                  <a:ext uri="{FF2B5EF4-FFF2-40B4-BE49-F238E27FC236}">
                    <a16:creationId xmlns:a16="http://schemas.microsoft.com/office/drawing/2014/main" xmlns="" id="{359088C1-47A5-2EB0-7FCF-426B604E4E4F}"/>
                  </a:ext>
                </a:extLst>
              </p:cNvPr>
              <p:cNvSpPr>
                <a:spLocks noChangeArrowheads="1"/>
              </p:cNvSpPr>
              <p:nvPr/>
            </p:nvSpPr>
            <p:spPr bwMode="auto">
              <a:xfrm flipH="1">
                <a:off x="2978" y="2269"/>
                <a:ext cx="578" cy="1120"/>
              </a:xfrm>
              <a:custGeom>
                <a:avLst/>
                <a:gdLst>
                  <a:gd name="T0" fmla="*/ 0 w 4320"/>
                  <a:gd name="T1" fmla="*/ 2834 h 2834"/>
                  <a:gd name="T2" fmla="*/ 1620 w 4320"/>
                  <a:gd name="T3" fmla="*/ 2054 h 2834"/>
                  <a:gd name="T4" fmla="*/ 3240 w 4320"/>
                  <a:gd name="T5" fmla="*/ 338 h 2834"/>
                  <a:gd name="T6" fmla="*/ 4320 w 4320"/>
                  <a:gd name="T7" fmla="*/ 26 h 2834"/>
                </a:gdLst>
                <a:ahLst/>
                <a:cxnLst>
                  <a:cxn ang="0">
                    <a:pos x="T0" y="T1"/>
                  </a:cxn>
                  <a:cxn ang="0">
                    <a:pos x="T2" y="T3"/>
                  </a:cxn>
                  <a:cxn ang="0">
                    <a:pos x="T4" y="T5"/>
                  </a:cxn>
                  <a:cxn ang="0">
                    <a:pos x="T6" y="T7"/>
                  </a:cxn>
                </a:cxnLst>
                <a:rect l="0" t="0" r="r" b="b"/>
                <a:pathLst>
                  <a:path w="4320" h="2834">
                    <a:moveTo>
                      <a:pt x="0" y="2834"/>
                    </a:moveTo>
                    <a:cubicBezTo>
                      <a:pt x="540" y="2652"/>
                      <a:pt x="1080" y="2470"/>
                      <a:pt x="1620" y="2054"/>
                    </a:cubicBezTo>
                    <a:cubicBezTo>
                      <a:pt x="2160" y="1638"/>
                      <a:pt x="2790" y="676"/>
                      <a:pt x="3240" y="338"/>
                    </a:cubicBezTo>
                    <a:cubicBezTo>
                      <a:pt x="3690" y="0"/>
                      <a:pt x="4005" y="13"/>
                      <a:pt x="4320" y="26"/>
                    </a:cubicBezTo>
                  </a:path>
                </a:pathLst>
              </a:custGeom>
              <a:noFill/>
              <a:ln w="254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solidFill>
                    <a:schemeClr val="tx1"/>
                  </a:solidFill>
                </a:endParaRPr>
              </a:p>
            </p:txBody>
          </p:sp>
        </p:grpSp>
        <p:sp>
          <p:nvSpPr>
            <p:cNvPr id="9" name="Line 15">
              <a:extLst>
                <a:ext uri="{FF2B5EF4-FFF2-40B4-BE49-F238E27FC236}">
                  <a16:creationId xmlns:a16="http://schemas.microsoft.com/office/drawing/2014/main" xmlns="" id="{076EC12A-2800-E3C6-D746-B59C91B80321}"/>
                </a:ext>
              </a:extLst>
            </p:cNvPr>
            <p:cNvSpPr>
              <a:spLocks noChangeShapeType="1"/>
            </p:cNvSpPr>
            <p:nvPr/>
          </p:nvSpPr>
          <p:spPr bwMode="auto">
            <a:xfrm>
              <a:off x="-559" y="2413"/>
              <a:ext cx="720"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solidFill>
                  <a:schemeClr val="tx1"/>
                </a:solidFill>
              </a:endParaRPr>
            </a:p>
          </p:txBody>
        </p:sp>
        <p:sp>
          <p:nvSpPr>
            <p:cNvPr id="10" name="Line 16">
              <a:extLst>
                <a:ext uri="{FF2B5EF4-FFF2-40B4-BE49-F238E27FC236}">
                  <a16:creationId xmlns:a16="http://schemas.microsoft.com/office/drawing/2014/main" xmlns="" id="{F5D36054-DEC8-48D6-11A8-C477F6E58BD7}"/>
                </a:ext>
              </a:extLst>
            </p:cNvPr>
            <p:cNvSpPr>
              <a:spLocks noChangeShapeType="1"/>
            </p:cNvSpPr>
            <p:nvPr/>
          </p:nvSpPr>
          <p:spPr bwMode="auto">
            <a:xfrm>
              <a:off x="-48" y="2352"/>
              <a:ext cx="0" cy="624"/>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solidFill>
                  <a:schemeClr val="tx1"/>
                </a:solidFill>
              </a:endParaRPr>
            </a:p>
          </p:txBody>
        </p:sp>
        <p:sp>
          <p:nvSpPr>
            <p:cNvPr id="11" name="Text Box 17">
              <a:extLst>
                <a:ext uri="{FF2B5EF4-FFF2-40B4-BE49-F238E27FC236}">
                  <a16:creationId xmlns:a16="http://schemas.microsoft.com/office/drawing/2014/main" xmlns="" id="{A83ADF8C-9891-5211-E175-903EB122CC78}"/>
                </a:ext>
              </a:extLst>
            </p:cNvPr>
            <p:cNvSpPr txBox="1">
              <a:spLocks noChangeArrowheads="1"/>
            </p:cNvSpPr>
            <p:nvPr/>
          </p:nvSpPr>
          <p:spPr bwMode="auto">
            <a:xfrm>
              <a:off x="-103" y="2850"/>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endParaRPr lang="en-US" altLang="zh-CN" sz="1200" b="1" i="1">
                <a:solidFill>
                  <a:schemeClr val="tx1"/>
                </a:solidFill>
                <a:latin typeface="Times New Roman" panose="02020603050405020304" pitchFamily="18" charset="0"/>
              </a:endParaRPr>
            </a:p>
            <a:p>
              <a:pPr algn="just" eaLnBrk="0" hangingPunct="0"/>
              <a:r>
                <a:rPr lang="en-US" altLang="zh-CN" sz="2400" b="1" i="1">
                  <a:solidFill>
                    <a:schemeClr val="tx1"/>
                  </a:solidFill>
                  <a:latin typeface="Times New Roman" panose="02020603050405020304" pitchFamily="18" charset="0"/>
                </a:rPr>
                <a:t>ω</a:t>
              </a:r>
              <a:r>
                <a:rPr lang="en-US" altLang="zh-CN" sz="2400" b="1" baseline="-25000">
                  <a:solidFill>
                    <a:schemeClr val="tx1"/>
                  </a:solidFill>
                  <a:latin typeface="Times New Roman" panose="02020603050405020304" pitchFamily="18" charset="0"/>
                </a:rPr>
                <a:t>o</a:t>
              </a:r>
              <a:endParaRPr lang="en-US" altLang="zh-CN" sz="2400" b="1">
                <a:solidFill>
                  <a:schemeClr val="tx1"/>
                </a:solidFill>
                <a:latin typeface="Times New Roman" panose="02020603050405020304" pitchFamily="18" charset="0"/>
              </a:endParaRPr>
            </a:p>
          </p:txBody>
        </p:sp>
        <p:sp>
          <p:nvSpPr>
            <p:cNvPr id="12" name="Text Box 18">
              <a:extLst>
                <a:ext uri="{FF2B5EF4-FFF2-40B4-BE49-F238E27FC236}">
                  <a16:creationId xmlns:a16="http://schemas.microsoft.com/office/drawing/2014/main" xmlns="" id="{4BF85DA3-4D8A-DFF2-9FDB-4FF5F669719A}"/>
                </a:ext>
              </a:extLst>
            </p:cNvPr>
            <p:cNvSpPr txBox="1">
              <a:spLocks noChangeArrowheads="1"/>
            </p:cNvSpPr>
            <p:nvPr/>
          </p:nvSpPr>
          <p:spPr bwMode="auto">
            <a:xfrm>
              <a:off x="-565" y="2975"/>
              <a:ext cx="227"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endParaRPr lang="zh-CN" altLang="zh-CN" sz="1200" b="1">
                <a:solidFill>
                  <a:schemeClr val="tx1"/>
                </a:solidFill>
                <a:latin typeface="Times New Roman" panose="02020603050405020304" pitchFamily="18" charset="0"/>
              </a:endParaRPr>
            </a:p>
          </p:txBody>
        </p:sp>
        <p:sp>
          <p:nvSpPr>
            <p:cNvPr id="13" name="Text Box 19">
              <a:extLst>
                <a:ext uri="{FF2B5EF4-FFF2-40B4-BE49-F238E27FC236}">
                  <a16:creationId xmlns:a16="http://schemas.microsoft.com/office/drawing/2014/main" xmlns="" id="{A35E39DE-A750-E454-69EA-86FFBC30D2E3}"/>
                </a:ext>
              </a:extLst>
            </p:cNvPr>
            <p:cNvSpPr txBox="1">
              <a:spLocks noChangeArrowheads="1"/>
            </p:cNvSpPr>
            <p:nvPr/>
          </p:nvSpPr>
          <p:spPr bwMode="auto">
            <a:xfrm>
              <a:off x="-576" y="2256"/>
              <a:ext cx="2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2400" b="1" i="1">
                  <a:solidFill>
                    <a:schemeClr val="tx1"/>
                  </a:solidFill>
                  <a:latin typeface="Times New Roman" panose="02020603050405020304" pitchFamily="18" charset="0"/>
                </a:rPr>
                <a:t>F</a:t>
              </a:r>
              <a:endParaRPr lang="en-US" altLang="zh-CN" sz="2400" b="1">
                <a:solidFill>
                  <a:schemeClr val="tx1"/>
                </a:solidFill>
                <a:latin typeface="Times New Roman" panose="02020603050405020304" pitchFamily="18" charset="0"/>
              </a:endParaRPr>
            </a:p>
          </p:txBody>
        </p:sp>
        <p:sp>
          <p:nvSpPr>
            <p:cNvPr id="14" name="Text Box 20">
              <a:extLst>
                <a:ext uri="{FF2B5EF4-FFF2-40B4-BE49-F238E27FC236}">
                  <a16:creationId xmlns:a16="http://schemas.microsoft.com/office/drawing/2014/main" xmlns="" id="{4AE436CB-EBBE-BC56-ACF7-5FC2DDF9DF08}"/>
                </a:ext>
              </a:extLst>
            </p:cNvPr>
            <p:cNvSpPr txBox="1">
              <a:spLocks noChangeArrowheads="1"/>
            </p:cNvSpPr>
            <p:nvPr/>
          </p:nvSpPr>
          <p:spPr bwMode="auto">
            <a:xfrm>
              <a:off x="-679" y="2850"/>
              <a:ext cx="43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200" b="1" i="1">
                  <a:solidFill>
                    <a:schemeClr val="tx1"/>
                  </a:solidFill>
                  <a:latin typeface="Times New Roman" panose="02020603050405020304" pitchFamily="18" charset="0"/>
                </a:rPr>
                <a:t>O</a:t>
              </a:r>
            </a:p>
          </p:txBody>
        </p:sp>
      </p:grpSp>
      <p:grpSp>
        <p:nvGrpSpPr>
          <p:cNvPr id="22" name="Group 37">
            <a:extLst>
              <a:ext uri="{FF2B5EF4-FFF2-40B4-BE49-F238E27FC236}">
                <a16:creationId xmlns:a16="http://schemas.microsoft.com/office/drawing/2014/main" xmlns="" id="{8F5EA448-5654-BFE9-5F66-5C6D395D9713}"/>
              </a:ext>
            </a:extLst>
          </p:cNvPr>
          <p:cNvGrpSpPr>
            <a:grpSpLocks/>
          </p:cNvGrpSpPr>
          <p:nvPr/>
        </p:nvGrpSpPr>
        <p:grpSpPr bwMode="auto">
          <a:xfrm>
            <a:off x="5418040" y="3535877"/>
            <a:ext cx="2679700" cy="2119313"/>
            <a:chOff x="3416" y="1564"/>
            <a:chExt cx="1688" cy="1335"/>
          </a:xfrm>
        </p:grpSpPr>
        <p:sp>
          <p:nvSpPr>
            <p:cNvPr id="23" name="Text Box 38">
              <a:extLst>
                <a:ext uri="{FF2B5EF4-FFF2-40B4-BE49-F238E27FC236}">
                  <a16:creationId xmlns:a16="http://schemas.microsoft.com/office/drawing/2014/main" xmlns="" id="{0BBB5CE7-423B-E80F-58E8-B92A1964AAF7}"/>
                </a:ext>
              </a:extLst>
            </p:cNvPr>
            <p:cNvSpPr txBox="1">
              <a:spLocks noChangeArrowheads="1"/>
            </p:cNvSpPr>
            <p:nvPr/>
          </p:nvSpPr>
          <p:spPr bwMode="auto">
            <a:xfrm>
              <a:off x="3474" y="2323"/>
              <a:ext cx="473" cy="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200" b="1" i="1">
                  <a:solidFill>
                    <a:schemeClr val="tx1"/>
                  </a:solidFill>
                  <a:latin typeface="Times New Roman" panose="02020603050405020304" pitchFamily="18" charset="0"/>
                </a:rPr>
                <a:t>O</a:t>
              </a:r>
            </a:p>
          </p:txBody>
        </p:sp>
        <p:grpSp>
          <p:nvGrpSpPr>
            <p:cNvPr id="24" name="Group 39">
              <a:extLst>
                <a:ext uri="{FF2B5EF4-FFF2-40B4-BE49-F238E27FC236}">
                  <a16:creationId xmlns:a16="http://schemas.microsoft.com/office/drawing/2014/main" xmlns="" id="{CF8936A6-F1F0-97D5-A9C8-0CC11B071D39}"/>
                </a:ext>
              </a:extLst>
            </p:cNvPr>
            <p:cNvGrpSpPr>
              <a:grpSpLocks/>
            </p:cNvGrpSpPr>
            <p:nvPr/>
          </p:nvGrpSpPr>
          <p:grpSpPr bwMode="auto">
            <a:xfrm>
              <a:off x="3416" y="1564"/>
              <a:ext cx="1688" cy="1335"/>
              <a:chOff x="3400" y="1588"/>
              <a:chExt cx="1688" cy="1335"/>
            </a:xfrm>
          </p:grpSpPr>
          <p:grpSp>
            <p:nvGrpSpPr>
              <p:cNvPr id="25" name="Group 40">
                <a:extLst>
                  <a:ext uri="{FF2B5EF4-FFF2-40B4-BE49-F238E27FC236}">
                    <a16:creationId xmlns:a16="http://schemas.microsoft.com/office/drawing/2014/main" xmlns="" id="{E9A36AFF-E6DB-02A0-ACBD-83A88D2C4D34}"/>
                  </a:ext>
                </a:extLst>
              </p:cNvPr>
              <p:cNvGrpSpPr>
                <a:grpSpLocks/>
              </p:cNvGrpSpPr>
              <p:nvPr/>
            </p:nvGrpSpPr>
            <p:grpSpPr bwMode="auto">
              <a:xfrm>
                <a:off x="3618" y="1906"/>
                <a:ext cx="1298" cy="1017"/>
                <a:chOff x="1741" y="3829"/>
                <a:chExt cx="3420" cy="1872"/>
              </a:xfrm>
            </p:grpSpPr>
            <p:sp>
              <p:nvSpPr>
                <p:cNvPr id="31" name="Line 41">
                  <a:extLst>
                    <a:ext uri="{FF2B5EF4-FFF2-40B4-BE49-F238E27FC236}">
                      <a16:creationId xmlns:a16="http://schemas.microsoft.com/office/drawing/2014/main" xmlns="" id="{74C2F74E-42E3-4201-5B20-4069521933CA}"/>
                    </a:ext>
                  </a:extLst>
                </p:cNvPr>
                <p:cNvSpPr>
                  <a:spLocks noChangeShapeType="1"/>
                </p:cNvSpPr>
                <p:nvPr/>
              </p:nvSpPr>
              <p:spPr bwMode="auto">
                <a:xfrm>
                  <a:off x="1741" y="4765"/>
                  <a:ext cx="3420" cy="0"/>
                </a:xfrm>
                <a:prstGeom prst="line">
                  <a:avLst/>
                </a:prstGeom>
                <a:noFill/>
                <a:ln w="9525">
                  <a:solidFill>
                    <a:srgbClr val="000000"/>
                  </a:solidFill>
                  <a:round/>
                  <a:headEnd/>
                  <a:tailEnd type="triangle" w="sm" len="sm"/>
                </a:ln>
                <a:extLst>
                  <a:ext uri="{909E8E84-426E-40DD-AFC4-6F175D3DCCD1}">
                    <a14:hiddenFill xmlns:a14="http://schemas.microsoft.com/office/drawing/2010/main">
                      <a:noFill/>
                    </a14:hiddenFill>
                  </a:ext>
                </a:extLst>
              </p:spPr>
              <p:txBody>
                <a:bodyPr/>
                <a:lstStyle/>
                <a:p>
                  <a:endParaRPr lang="zh-CN" altLang="en-US">
                    <a:solidFill>
                      <a:schemeClr val="tx1"/>
                    </a:solidFill>
                  </a:endParaRPr>
                </a:p>
              </p:txBody>
            </p:sp>
            <p:sp>
              <p:nvSpPr>
                <p:cNvPr id="32" name="Line 42">
                  <a:extLst>
                    <a:ext uri="{FF2B5EF4-FFF2-40B4-BE49-F238E27FC236}">
                      <a16:creationId xmlns:a16="http://schemas.microsoft.com/office/drawing/2014/main" xmlns="" id="{7FD5BE54-B6E7-7D1C-32A0-3D64B1489AB2}"/>
                    </a:ext>
                  </a:extLst>
                </p:cNvPr>
                <p:cNvSpPr>
                  <a:spLocks noChangeShapeType="1"/>
                </p:cNvSpPr>
                <p:nvPr/>
              </p:nvSpPr>
              <p:spPr bwMode="auto">
                <a:xfrm flipV="1">
                  <a:off x="1741" y="3829"/>
                  <a:ext cx="0" cy="1872"/>
                </a:xfrm>
                <a:prstGeom prst="line">
                  <a:avLst/>
                </a:prstGeom>
                <a:noFill/>
                <a:ln w="9525">
                  <a:solidFill>
                    <a:srgbClr val="000000"/>
                  </a:solidFill>
                  <a:round/>
                  <a:headEnd/>
                  <a:tailEnd type="triangle" w="sm" len="sm"/>
                </a:ln>
                <a:extLst>
                  <a:ext uri="{909E8E84-426E-40DD-AFC4-6F175D3DCCD1}">
                    <a14:hiddenFill xmlns:a14="http://schemas.microsoft.com/office/drawing/2010/main">
                      <a:noFill/>
                    </a14:hiddenFill>
                  </a:ext>
                </a:extLst>
              </p:spPr>
              <p:txBody>
                <a:bodyPr/>
                <a:lstStyle/>
                <a:p>
                  <a:endParaRPr lang="zh-CN" altLang="en-US">
                    <a:solidFill>
                      <a:schemeClr val="tx1"/>
                    </a:solidFill>
                  </a:endParaRPr>
                </a:p>
              </p:txBody>
            </p:sp>
          </p:grpSp>
          <p:sp>
            <p:nvSpPr>
              <p:cNvPr id="26" name="Text Box 43">
                <a:extLst>
                  <a:ext uri="{FF2B5EF4-FFF2-40B4-BE49-F238E27FC236}">
                    <a16:creationId xmlns:a16="http://schemas.microsoft.com/office/drawing/2014/main" xmlns="" id="{9F6FBBF6-7488-852A-4AB7-B28019409481}"/>
                  </a:ext>
                </a:extLst>
              </p:cNvPr>
              <p:cNvSpPr txBox="1">
                <a:spLocks noChangeArrowheads="1"/>
              </p:cNvSpPr>
              <p:nvPr/>
            </p:nvSpPr>
            <p:spPr bwMode="auto">
              <a:xfrm>
                <a:off x="4848" y="2331"/>
                <a:ext cx="240" cy="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2400" b="1" i="1">
                    <a:solidFill>
                      <a:schemeClr val="tx1"/>
                    </a:solidFill>
                    <a:latin typeface="Times New Roman" panose="02020603050405020304" pitchFamily="18" charset="0"/>
                  </a:rPr>
                  <a:t>ω</a:t>
                </a:r>
                <a:endParaRPr lang="en-US" altLang="zh-CN" sz="2400" b="1">
                  <a:solidFill>
                    <a:schemeClr val="tx1"/>
                  </a:solidFill>
                  <a:latin typeface="Times New Roman" panose="02020603050405020304" pitchFamily="18" charset="0"/>
                </a:endParaRPr>
              </a:p>
            </p:txBody>
          </p:sp>
          <p:sp>
            <p:nvSpPr>
              <p:cNvPr id="27" name="Text Box 44">
                <a:extLst>
                  <a:ext uri="{FF2B5EF4-FFF2-40B4-BE49-F238E27FC236}">
                    <a16:creationId xmlns:a16="http://schemas.microsoft.com/office/drawing/2014/main" xmlns="" id="{7FC7C125-40F1-A6B1-275B-32FEAA99B49D}"/>
                  </a:ext>
                </a:extLst>
              </p:cNvPr>
              <p:cNvSpPr txBox="1">
                <a:spLocks noChangeArrowheads="1"/>
              </p:cNvSpPr>
              <p:nvPr/>
            </p:nvSpPr>
            <p:spPr bwMode="auto">
              <a:xfrm>
                <a:off x="3904" y="2099"/>
                <a:ext cx="633" cy="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endParaRPr lang="en-US" altLang="zh-CN" sz="2400" b="1" i="1">
                  <a:solidFill>
                    <a:schemeClr val="tx1"/>
                  </a:solidFill>
                  <a:latin typeface="Times New Roman" panose="02020603050405020304" pitchFamily="18" charset="0"/>
                </a:endParaRPr>
              </a:p>
              <a:p>
                <a:pPr algn="just" eaLnBrk="0" hangingPunct="0"/>
                <a:r>
                  <a:rPr lang="en-US" altLang="zh-CN" sz="2400" b="1" i="1">
                    <a:solidFill>
                      <a:schemeClr val="tx1"/>
                    </a:solidFill>
                    <a:latin typeface="Times New Roman" panose="02020603050405020304" pitchFamily="18" charset="0"/>
                  </a:rPr>
                  <a:t>ω</a:t>
                </a:r>
                <a:r>
                  <a:rPr lang="en-US" altLang="zh-CN" sz="2400" b="1" baseline="-25000">
                    <a:solidFill>
                      <a:schemeClr val="tx1"/>
                    </a:solidFill>
                    <a:latin typeface="Times New Roman" panose="02020603050405020304" pitchFamily="18" charset="0"/>
                  </a:rPr>
                  <a:t>o</a:t>
                </a:r>
                <a:endParaRPr lang="en-US" altLang="zh-CN" sz="2400" b="1">
                  <a:solidFill>
                    <a:schemeClr val="tx1"/>
                  </a:solidFill>
                  <a:latin typeface="Times New Roman" panose="02020603050405020304" pitchFamily="18" charset="0"/>
                </a:endParaRPr>
              </a:p>
            </p:txBody>
          </p:sp>
          <p:graphicFrame>
            <p:nvGraphicFramePr>
              <p:cNvPr id="28" name="Object 45">
                <a:extLst>
                  <a:ext uri="{FF2B5EF4-FFF2-40B4-BE49-F238E27FC236}">
                    <a16:creationId xmlns:a16="http://schemas.microsoft.com/office/drawing/2014/main" xmlns="" id="{007BADEE-61E4-A633-FEC2-574525D081F0}"/>
                  </a:ext>
                </a:extLst>
              </p:cNvPr>
              <p:cNvGraphicFramePr>
                <a:graphicFrameLocks noChangeAspect="1"/>
              </p:cNvGraphicFramePr>
              <p:nvPr/>
            </p:nvGraphicFramePr>
            <p:xfrm>
              <a:off x="3452" y="1588"/>
              <a:ext cx="317" cy="354"/>
            </p:xfrm>
            <a:graphic>
              <a:graphicData uri="http://schemas.openxmlformats.org/presentationml/2006/ole">
                <mc:AlternateContent xmlns:mc="http://schemas.openxmlformats.org/markup-compatibility/2006">
                  <mc:Choice xmlns:v="urn:schemas-microsoft-com:vml" Requires="v">
                    <p:oleObj spid="_x0000_s163018" r:id="rId4" imgW="215713" imgH="241091" progId="Equation.3">
                      <p:embed/>
                    </p:oleObj>
                  </mc:Choice>
                  <mc:Fallback>
                    <p:oleObj r:id="rId4" imgW="215713" imgH="241091"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52" y="1588"/>
                            <a:ext cx="317" cy="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9" name="Object 46">
                <a:extLst>
                  <a:ext uri="{FF2B5EF4-FFF2-40B4-BE49-F238E27FC236}">
                    <a16:creationId xmlns:a16="http://schemas.microsoft.com/office/drawing/2014/main" xmlns="" id="{60E98968-BB04-0886-CBDF-24E1028587F9}"/>
                  </a:ext>
                </a:extLst>
              </p:cNvPr>
              <p:cNvGraphicFramePr>
                <a:graphicFrameLocks noChangeAspect="1"/>
              </p:cNvGraphicFramePr>
              <p:nvPr/>
            </p:nvGraphicFramePr>
            <p:xfrm>
              <a:off x="3408" y="1888"/>
              <a:ext cx="152" cy="347"/>
            </p:xfrm>
            <a:graphic>
              <a:graphicData uri="http://schemas.openxmlformats.org/presentationml/2006/ole">
                <mc:AlternateContent xmlns:mc="http://schemas.openxmlformats.org/markup-compatibility/2006">
                  <mc:Choice xmlns:v="urn:schemas-microsoft-com:vml" Requires="v">
                    <p:oleObj spid="_x0000_s163019" r:id="rId6" imgW="177569" imgH="405872" progId="Equation.3">
                      <p:embed/>
                    </p:oleObj>
                  </mc:Choice>
                  <mc:Fallback>
                    <p:oleObj r:id="rId6" imgW="177569" imgH="405872"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08" y="1888"/>
                            <a:ext cx="152" cy="3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0" name="Object 47">
                <a:extLst>
                  <a:ext uri="{FF2B5EF4-FFF2-40B4-BE49-F238E27FC236}">
                    <a16:creationId xmlns:a16="http://schemas.microsoft.com/office/drawing/2014/main" xmlns="" id="{FBC8FFEB-D43C-B79E-0BDC-5F7729B9055E}"/>
                  </a:ext>
                </a:extLst>
              </p:cNvPr>
              <p:cNvGraphicFramePr>
                <a:graphicFrameLocks noChangeAspect="1"/>
              </p:cNvGraphicFramePr>
              <p:nvPr/>
            </p:nvGraphicFramePr>
            <p:xfrm>
              <a:off x="3400" y="2553"/>
              <a:ext cx="250" cy="347"/>
            </p:xfrm>
            <a:graphic>
              <a:graphicData uri="http://schemas.openxmlformats.org/presentationml/2006/ole">
                <mc:AlternateContent xmlns:mc="http://schemas.openxmlformats.org/markup-compatibility/2006">
                  <mc:Choice xmlns:v="urn:schemas-microsoft-com:vml" Requires="v">
                    <p:oleObj spid="_x0000_s163020" r:id="rId8" imgW="291847" imgH="406048" progId="Equation.3">
                      <p:embed/>
                    </p:oleObj>
                  </mc:Choice>
                  <mc:Fallback>
                    <p:oleObj r:id="rId8" imgW="291847" imgH="406048"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400" y="2553"/>
                            <a:ext cx="250" cy="3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grpSp>
      <p:sp>
        <p:nvSpPr>
          <p:cNvPr id="33" name="Rectangle 21">
            <a:extLst>
              <a:ext uri="{FF2B5EF4-FFF2-40B4-BE49-F238E27FC236}">
                <a16:creationId xmlns:a16="http://schemas.microsoft.com/office/drawing/2014/main" xmlns="" id="{65E02262-6F41-5049-1857-E2D4AD849913}"/>
              </a:ext>
            </a:extLst>
          </p:cNvPr>
          <p:cNvSpPr>
            <a:spLocks noChangeArrowheads="1"/>
          </p:cNvSpPr>
          <p:nvPr/>
        </p:nvSpPr>
        <p:spPr bwMode="auto">
          <a:xfrm>
            <a:off x="372955" y="1941113"/>
            <a:ext cx="1825625" cy="41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algn="just">
              <a:lnSpc>
                <a:spcPct val="120000"/>
              </a:lnSpc>
              <a:buClr>
                <a:schemeClr val="folHlink"/>
              </a:buClr>
              <a:buSzPct val="60000"/>
              <a:buFont typeface="Wingdings" panose="05000000000000000000" pitchFamily="2" charset="2"/>
              <a:buNone/>
            </a:pPr>
            <a:r>
              <a:rPr lang="zh-CN" altLang="en-US" sz="2000" b="1" dirty="0">
                <a:solidFill>
                  <a:srgbClr val="000000"/>
                </a:solidFill>
                <a:latin typeface="+mn-ea"/>
                <a:ea typeface="+mn-ea"/>
              </a:rPr>
              <a:t>幅频特性</a:t>
            </a:r>
          </a:p>
        </p:txBody>
      </p:sp>
      <p:graphicFrame>
        <p:nvGraphicFramePr>
          <p:cNvPr id="34" name="Object 22">
            <a:extLst>
              <a:ext uri="{FF2B5EF4-FFF2-40B4-BE49-F238E27FC236}">
                <a16:creationId xmlns:a16="http://schemas.microsoft.com/office/drawing/2014/main" xmlns="" id="{FA011454-4F64-99A2-7E71-D0BF837FAF91}"/>
              </a:ext>
            </a:extLst>
          </p:cNvPr>
          <p:cNvGraphicFramePr>
            <a:graphicFrameLocks noChangeAspect="1"/>
          </p:cNvGraphicFramePr>
          <p:nvPr>
            <p:extLst>
              <p:ext uri="{D42A27DB-BD31-4B8C-83A1-F6EECF244321}">
                <p14:modId xmlns:p14="http://schemas.microsoft.com/office/powerpoint/2010/main" val="4532205"/>
              </p:ext>
            </p:extLst>
          </p:nvPr>
        </p:nvGraphicFramePr>
        <p:xfrm>
          <a:off x="1748049" y="1717477"/>
          <a:ext cx="2916237" cy="1347787"/>
        </p:xfrm>
        <a:graphic>
          <a:graphicData uri="http://schemas.openxmlformats.org/presentationml/2006/ole">
            <mc:AlternateContent xmlns:mc="http://schemas.openxmlformats.org/markup-compatibility/2006">
              <mc:Choice xmlns:v="urn:schemas-microsoft-com:vml" Requires="v">
                <p:oleObj spid="_x0000_s163021" r:id="rId10" imgW="1447172" imgH="672808" progId="Equation.3">
                  <p:embed/>
                </p:oleObj>
              </mc:Choice>
              <mc:Fallback>
                <p:oleObj r:id="rId10" imgW="1447172" imgH="672808"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748049" y="1717477"/>
                        <a:ext cx="2916237" cy="1347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5" name="Rectangle 23">
            <a:extLst>
              <a:ext uri="{FF2B5EF4-FFF2-40B4-BE49-F238E27FC236}">
                <a16:creationId xmlns:a16="http://schemas.microsoft.com/office/drawing/2014/main" xmlns="" id="{EBEA6D32-0953-05DC-1E78-4A0A88FA1D32}"/>
              </a:ext>
            </a:extLst>
          </p:cNvPr>
          <p:cNvSpPr>
            <a:spLocks noChangeArrowheads="1"/>
          </p:cNvSpPr>
          <p:nvPr/>
        </p:nvSpPr>
        <p:spPr bwMode="auto">
          <a:xfrm>
            <a:off x="393887" y="3309751"/>
            <a:ext cx="1825625" cy="41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algn="just">
              <a:lnSpc>
                <a:spcPct val="120000"/>
              </a:lnSpc>
              <a:buClr>
                <a:schemeClr val="folHlink"/>
              </a:buClr>
              <a:buSzPct val="60000"/>
              <a:buFont typeface="Wingdings" panose="05000000000000000000" pitchFamily="2" charset="2"/>
              <a:buNone/>
            </a:pPr>
            <a:r>
              <a:rPr lang="zh-CN" altLang="en-US" sz="2000" b="1" dirty="0">
                <a:solidFill>
                  <a:srgbClr val="000000"/>
                </a:solidFill>
                <a:latin typeface="+mn-ea"/>
                <a:ea typeface="+mn-ea"/>
              </a:rPr>
              <a:t>相频特性</a:t>
            </a:r>
          </a:p>
        </p:txBody>
      </p:sp>
      <p:graphicFrame>
        <p:nvGraphicFramePr>
          <p:cNvPr id="36" name="Object 24">
            <a:extLst>
              <a:ext uri="{FF2B5EF4-FFF2-40B4-BE49-F238E27FC236}">
                <a16:creationId xmlns:a16="http://schemas.microsoft.com/office/drawing/2014/main" xmlns="" id="{C7A1F9F4-EE08-62C2-E86B-78A490F4934E}"/>
              </a:ext>
            </a:extLst>
          </p:cNvPr>
          <p:cNvGraphicFramePr>
            <a:graphicFrameLocks noChangeAspect="1"/>
          </p:cNvGraphicFramePr>
          <p:nvPr>
            <p:extLst>
              <p:ext uri="{D42A27DB-BD31-4B8C-83A1-F6EECF244321}">
                <p14:modId xmlns:p14="http://schemas.microsoft.com/office/powerpoint/2010/main" val="1014011314"/>
              </p:ext>
            </p:extLst>
          </p:nvPr>
        </p:nvGraphicFramePr>
        <p:xfrm>
          <a:off x="1770653" y="3024074"/>
          <a:ext cx="2713038" cy="1146175"/>
        </p:xfrm>
        <a:graphic>
          <a:graphicData uri="http://schemas.openxmlformats.org/presentationml/2006/ole">
            <mc:AlternateContent xmlns:mc="http://schemas.openxmlformats.org/markup-compatibility/2006">
              <mc:Choice xmlns:v="urn:schemas-microsoft-com:vml" Requires="v">
                <p:oleObj spid="_x0000_s163022" r:id="rId12" imgW="1346200" imgH="571500" progId="Equation.3">
                  <p:embed/>
                </p:oleObj>
              </mc:Choice>
              <mc:Fallback>
                <p:oleObj r:id="rId12" imgW="1346200" imgH="571500"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770653" y="3024074"/>
                        <a:ext cx="2713038" cy="1146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7" name="Rectangle 25">
            <a:extLst>
              <a:ext uri="{FF2B5EF4-FFF2-40B4-BE49-F238E27FC236}">
                <a16:creationId xmlns:a16="http://schemas.microsoft.com/office/drawing/2014/main" xmlns="" id="{42803070-CF7B-7EA2-9538-4965C35F01B2}"/>
              </a:ext>
            </a:extLst>
          </p:cNvPr>
          <p:cNvSpPr>
            <a:spLocks noChangeArrowheads="1"/>
          </p:cNvSpPr>
          <p:nvPr/>
        </p:nvSpPr>
        <p:spPr bwMode="auto">
          <a:xfrm>
            <a:off x="286199" y="4391868"/>
            <a:ext cx="696913" cy="41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algn="just">
              <a:lnSpc>
                <a:spcPct val="120000"/>
              </a:lnSpc>
              <a:buClr>
                <a:schemeClr val="folHlink"/>
              </a:buClr>
              <a:buSzPct val="60000"/>
              <a:buFont typeface="Wingdings" panose="05000000000000000000" pitchFamily="2" charset="2"/>
              <a:buNone/>
            </a:pPr>
            <a:r>
              <a:rPr lang="zh-CN" altLang="en-US" sz="2000" b="1">
                <a:solidFill>
                  <a:srgbClr val="000000"/>
                </a:solidFill>
                <a:latin typeface="+mn-ea"/>
                <a:ea typeface="+mn-ea"/>
              </a:rPr>
              <a:t>当</a:t>
            </a:r>
          </a:p>
        </p:txBody>
      </p:sp>
      <p:graphicFrame>
        <p:nvGraphicFramePr>
          <p:cNvPr id="38" name="Object 28">
            <a:extLst>
              <a:ext uri="{FF2B5EF4-FFF2-40B4-BE49-F238E27FC236}">
                <a16:creationId xmlns:a16="http://schemas.microsoft.com/office/drawing/2014/main" xmlns="" id="{AAEB718A-BED1-4E45-C457-304E2419C6E9}"/>
              </a:ext>
            </a:extLst>
          </p:cNvPr>
          <p:cNvGraphicFramePr>
            <a:graphicFrameLocks noChangeAspect="1"/>
          </p:cNvGraphicFramePr>
          <p:nvPr>
            <p:extLst>
              <p:ext uri="{D42A27DB-BD31-4B8C-83A1-F6EECF244321}">
                <p14:modId xmlns:p14="http://schemas.microsoft.com/office/powerpoint/2010/main" val="2241796622"/>
              </p:ext>
            </p:extLst>
          </p:nvPr>
        </p:nvGraphicFramePr>
        <p:xfrm>
          <a:off x="807688" y="4243753"/>
          <a:ext cx="3967162" cy="738187"/>
        </p:xfrm>
        <a:graphic>
          <a:graphicData uri="http://schemas.openxmlformats.org/presentationml/2006/ole">
            <mc:AlternateContent xmlns:mc="http://schemas.openxmlformats.org/markup-compatibility/2006">
              <mc:Choice xmlns:v="urn:schemas-microsoft-com:vml" Requires="v">
                <p:oleObj spid="_x0000_s163023" r:id="rId14" imgW="1968500" imgH="368300" progId="Equation.3">
                  <p:embed/>
                </p:oleObj>
              </mc:Choice>
              <mc:Fallback>
                <p:oleObj r:id="rId14" imgW="1968500" imgH="368300"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807688" y="4243753"/>
                        <a:ext cx="3967162" cy="738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9" name="Object 29">
            <a:extLst>
              <a:ext uri="{FF2B5EF4-FFF2-40B4-BE49-F238E27FC236}">
                <a16:creationId xmlns:a16="http://schemas.microsoft.com/office/drawing/2014/main" xmlns="" id="{693A4B08-A56F-4DDB-51EF-2BDC0267C875}"/>
              </a:ext>
            </a:extLst>
          </p:cNvPr>
          <p:cNvGraphicFramePr>
            <a:graphicFrameLocks noChangeAspect="1"/>
          </p:cNvGraphicFramePr>
          <p:nvPr>
            <p:extLst>
              <p:ext uri="{D42A27DB-BD31-4B8C-83A1-F6EECF244321}">
                <p14:modId xmlns:p14="http://schemas.microsoft.com/office/powerpoint/2010/main" val="2460777507"/>
              </p:ext>
            </p:extLst>
          </p:nvPr>
        </p:nvGraphicFramePr>
        <p:xfrm>
          <a:off x="873324" y="5137994"/>
          <a:ext cx="1177925" cy="814387"/>
        </p:xfrm>
        <a:graphic>
          <a:graphicData uri="http://schemas.openxmlformats.org/presentationml/2006/ole">
            <mc:AlternateContent xmlns:mc="http://schemas.openxmlformats.org/markup-compatibility/2006">
              <mc:Choice xmlns:v="urn:schemas-microsoft-com:vml" Requires="v">
                <p:oleObj spid="_x0000_s163024" r:id="rId16" imgW="583947" imgH="406224" progId="Equation.3">
                  <p:embed/>
                </p:oleObj>
              </mc:Choice>
              <mc:Fallback>
                <p:oleObj r:id="rId16" imgW="583947" imgH="406224" progId="Equation.3">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873324" y="5137994"/>
                        <a:ext cx="1177925" cy="814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0" name="Object 30">
            <a:extLst>
              <a:ext uri="{FF2B5EF4-FFF2-40B4-BE49-F238E27FC236}">
                <a16:creationId xmlns:a16="http://schemas.microsoft.com/office/drawing/2014/main" xmlns="" id="{A6668D5F-4782-F7C1-7CBF-6DACDE342963}"/>
              </a:ext>
            </a:extLst>
          </p:cNvPr>
          <p:cNvGraphicFramePr>
            <a:graphicFrameLocks noChangeAspect="1"/>
          </p:cNvGraphicFramePr>
          <p:nvPr>
            <p:extLst>
              <p:ext uri="{D42A27DB-BD31-4B8C-83A1-F6EECF244321}">
                <p14:modId xmlns:p14="http://schemas.microsoft.com/office/powerpoint/2010/main" val="1585641289"/>
              </p:ext>
            </p:extLst>
          </p:nvPr>
        </p:nvGraphicFramePr>
        <p:xfrm>
          <a:off x="2852641" y="5381346"/>
          <a:ext cx="928687" cy="474663"/>
        </p:xfrm>
        <a:graphic>
          <a:graphicData uri="http://schemas.openxmlformats.org/presentationml/2006/ole">
            <mc:AlternateContent xmlns:mc="http://schemas.openxmlformats.org/markup-compatibility/2006">
              <mc:Choice xmlns:v="urn:schemas-microsoft-com:vml" Requires="v">
                <p:oleObj spid="_x0000_s163025" r:id="rId18" imgW="393529" imgH="203112" progId="Equation.3">
                  <p:embed/>
                </p:oleObj>
              </mc:Choice>
              <mc:Fallback>
                <p:oleObj r:id="rId18" imgW="393529" imgH="203112" progId="Equation.3">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852641" y="5381346"/>
                        <a:ext cx="928687" cy="474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450220231"/>
      </p:ext>
    </p:extLst>
  </p:cSld>
  <p:clrMapOvr>
    <a:masterClrMapping/>
  </p:clrMapOvr>
  <p:timing>
    <p:tnLst>
      <p:par>
        <p:cTn id="1" dur="indefinite" restart="never" nodeType="tmRoot"/>
      </p:par>
    </p:tnLst>
  </p:timing>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207</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Rectangle 7"/>
          <p:cNvSpPr>
            <a:spLocks noChangeArrowheads="1"/>
          </p:cNvSpPr>
          <p:nvPr/>
        </p:nvSpPr>
        <p:spPr bwMode="auto">
          <a:xfrm>
            <a:off x="635000" y="1557338"/>
            <a:ext cx="7848600" cy="4228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defRPr/>
            </a:pPr>
            <a:r>
              <a:rPr lang="en-US" altLang="zh-CN" sz="3200" dirty="0" smtClean="0">
                <a:ln w="0"/>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1  </a:t>
            </a:r>
            <a:r>
              <a:rPr lang="zh-CN" altLang="en-US" sz="3200" dirty="0" smtClean="0">
                <a:ln w="0"/>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通信电子线路概论</a:t>
            </a:r>
            <a:endParaRPr lang="en-US" altLang="zh-CN" sz="3200" dirty="0" smtClean="0">
              <a:ln w="0"/>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endParaRPr>
          </a:p>
          <a:p>
            <a:pPr fontAlgn="base">
              <a:lnSpc>
                <a:spcPct val="120000"/>
              </a:lnSpc>
              <a:spcBef>
                <a:spcPct val="0"/>
              </a:spcBef>
              <a:spcAft>
                <a:spcPct val="0"/>
              </a:spcAft>
              <a:buFontTx/>
              <a:buNone/>
              <a:defRPr/>
            </a:pPr>
            <a:r>
              <a:rPr lang="en-US" altLang="zh-CN" sz="3200" dirty="0">
                <a:ln w="0"/>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2  </a:t>
            </a:r>
            <a:r>
              <a:rPr lang="zh-CN" altLang="en-US" sz="3200" dirty="0">
                <a:ln w="0"/>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高频基础电路</a:t>
            </a:r>
          </a:p>
          <a:p>
            <a:pPr fontAlgn="base">
              <a:lnSpc>
                <a:spcPct val="120000"/>
              </a:lnSpc>
              <a:spcBef>
                <a:spcPct val="0"/>
              </a:spcBef>
              <a:spcAft>
                <a:spcPct val="0"/>
              </a:spcAft>
              <a:buNone/>
              <a:defRPr/>
            </a:pPr>
            <a:r>
              <a:rPr lang="en-US" altLang="zh-CN" sz="3200" dirty="0" smtClean="0">
                <a:ln w="0"/>
                <a:solidFill>
                  <a:srgbClr val="00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3  </a:t>
            </a:r>
            <a:r>
              <a:rPr lang="zh-CN" altLang="en-US" sz="3200" dirty="0" smtClean="0">
                <a:ln w="0"/>
                <a:solidFill>
                  <a:srgbClr val="00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高频</a:t>
            </a:r>
            <a:r>
              <a:rPr lang="zh-CN" altLang="en-US" sz="3200" dirty="0">
                <a:ln w="0"/>
                <a:solidFill>
                  <a:srgbClr val="00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小信号</a:t>
            </a:r>
            <a:r>
              <a:rPr lang="zh-CN" altLang="en-US" sz="3200" dirty="0" smtClean="0">
                <a:ln w="0"/>
                <a:solidFill>
                  <a:srgbClr val="00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放大器</a:t>
            </a:r>
          </a:p>
          <a:p>
            <a:pPr fontAlgn="base">
              <a:lnSpc>
                <a:spcPct val="120000"/>
              </a:lnSpc>
              <a:spcBef>
                <a:spcPct val="0"/>
              </a:spcBef>
              <a:spcAft>
                <a:spcPct val="0"/>
              </a:spcAft>
              <a:buFontTx/>
              <a:buNone/>
              <a:defRPr/>
            </a:pPr>
            <a:r>
              <a:rPr lang="en-US" altLang="zh-CN" sz="3200" dirty="0" smtClean="0">
                <a:ln w="0"/>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4  </a:t>
            </a:r>
            <a:r>
              <a:rPr lang="zh-CN" altLang="en-US" sz="3200" dirty="0" smtClean="0">
                <a:ln w="0"/>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谐振功率放大器</a:t>
            </a:r>
          </a:p>
          <a:p>
            <a:pPr fontAlgn="base">
              <a:lnSpc>
                <a:spcPct val="120000"/>
              </a:lnSpc>
              <a:spcBef>
                <a:spcPct val="0"/>
              </a:spcBef>
              <a:spcAft>
                <a:spcPct val="0"/>
              </a:spcAft>
              <a:buFontTx/>
              <a:buNone/>
              <a:defRPr/>
            </a:pPr>
            <a:r>
              <a:rPr lang="en-US" altLang="zh-CN" sz="3200" dirty="0" smtClean="0">
                <a:ln w="0"/>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5  </a:t>
            </a:r>
            <a:r>
              <a:rPr lang="zh-CN" altLang="en-US" sz="3200" dirty="0" smtClean="0">
                <a:ln w="0"/>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正弦波振荡器</a:t>
            </a:r>
          </a:p>
          <a:p>
            <a:pPr fontAlgn="base">
              <a:lnSpc>
                <a:spcPct val="120000"/>
              </a:lnSpc>
              <a:spcBef>
                <a:spcPct val="0"/>
              </a:spcBef>
              <a:spcAft>
                <a:spcPct val="0"/>
              </a:spcAft>
              <a:buNone/>
              <a:defRPr/>
            </a:pPr>
            <a:r>
              <a:rPr lang="en-US" altLang="zh-CN" sz="3200" dirty="0" smtClean="0">
                <a:ln w="0"/>
                <a:solidFill>
                  <a:srgbClr val="FF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6  </a:t>
            </a:r>
            <a:r>
              <a:rPr lang="zh-CN" altLang="en-US" sz="3200" dirty="0" smtClean="0">
                <a:ln w="0"/>
                <a:solidFill>
                  <a:srgbClr val="FF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振幅调制</a:t>
            </a:r>
            <a:r>
              <a:rPr lang="zh-CN" altLang="en-US" sz="3200" dirty="0">
                <a:ln w="0"/>
                <a:solidFill>
                  <a:srgbClr val="FF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与</a:t>
            </a:r>
            <a:r>
              <a:rPr lang="zh-CN" altLang="en-US" sz="3200" dirty="0" smtClean="0">
                <a:ln w="0"/>
                <a:solidFill>
                  <a:srgbClr val="FF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解调</a:t>
            </a:r>
            <a:endParaRPr lang="en-US" altLang="zh-CN" sz="3200" dirty="0" smtClean="0">
              <a:ln w="0"/>
              <a:solidFill>
                <a:srgbClr val="FF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endParaRPr>
          </a:p>
          <a:p>
            <a:pPr fontAlgn="base">
              <a:lnSpc>
                <a:spcPct val="120000"/>
              </a:lnSpc>
              <a:spcBef>
                <a:spcPct val="0"/>
              </a:spcBef>
              <a:spcAft>
                <a:spcPct val="0"/>
              </a:spcAft>
              <a:buNone/>
              <a:defRPr/>
            </a:pPr>
            <a:r>
              <a:rPr lang="en-US" altLang="zh-CN" sz="3200" dirty="0" smtClean="0">
                <a:ln w="0"/>
                <a:solidFill>
                  <a:srgbClr val="00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7  </a:t>
            </a:r>
            <a:r>
              <a:rPr lang="zh-CN" altLang="en-US" sz="3200" dirty="0" smtClean="0">
                <a:ln w="0"/>
                <a:solidFill>
                  <a:srgbClr val="00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角度</a:t>
            </a:r>
            <a:r>
              <a:rPr lang="zh-CN" altLang="en-US" sz="3200" dirty="0">
                <a:ln w="0"/>
                <a:solidFill>
                  <a:srgbClr val="00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调制与</a:t>
            </a:r>
            <a:r>
              <a:rPr lang="zh-CN" altLang="en-US" sz="3200" dirty="0" smtClean="0">
                <a:ln w="0"/>
                <a:solidFill>
                  <a:srgbClr val="00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解调</a:t>
            </a:r>
          </a:p>
        </p:txBody>
      </p:sp>
      <p:sp>
        <p:nvSpPr>
          <p:cNvPr id="5"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目录</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909258035"/>
      </p:ext>
    </p:extLst>
  </p:cSld>
  <p:clrMapOvr>
    <a:masterClrMapping/>
  </p:clrMapOvr>
  <p:timing>
    <p:tnLst>
      <p:par>
        <p:cTn id="1" dur="indefinite" restart="never" nodeType="tmRoot"/>
      </p:par>
    </p:tnLst>
  </p:timing>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208</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6.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振幅调制</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与</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解调</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Rectangle 7">
            <a:extLst>
              <a:ext uri="{FF2B5EF4-FFF2-40B4-BE49-F238E27FC236}">
                <a16:creationId xmlns="" xmlns:a16="http://schemas.microsoft.com/office/drawing/2014/main" id="{1296B67F-30E3-B752-635F-FB4EA939EEAB}"/>
              </a:ext>
            </a:extLst>
          </p:cNvPr>
          <p:cNvSpPr>
            <a:spLocks noChangeArrowheads="1"/>
          </p:cNvSpPr>
          <p:nvPr/>
        </p:nvSpPr>
        <p:spPr bwMode="auto">
          <a:xfrm>
            <a:off x="323850" y="1829495"/>
            <a:ext cx="8735905"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en-US" altLang="zh-CN" sz="2200" dirty="0">
                <a:latin typeface="+mn-ea"/>
                <a:ea typeface="+mn-ea"/>
              </a:rPr>
              <a:t>1.</a:t>
            </a:r>
            <a:r>
              <a:rPr lang="zh-CN" altLang="en-US" sz="2200" dirty="0">
                <a:latin typeface="+mn-ea"/>
                <a:ea typeface="+mn-ea"/>
              </a:rPr>
              <a:t>定义</a:t>
            </a:r>
            <a:r>
              <a:rPr lang="en-US" altLang="zh-CN" sz="2200" dirty="0">
                <a:latin typeface="+mn-ea"/>
                <a:ea typeface="+mn-ea"/>
              </a:rPr>
              <a:t>:</a:t>
            </a:r>
            <a:r>
              <a:rPr lang="zh-CN" altLang="en-US" sz="2200" dirty="0">
                <a:latin typeface="+mn-ea"/>
                <a:ea typeface="+mn-ea"/>
              </a:rPr>
              <a:t>将要传送的信息装载到某一高频载频信号上去的过程。</a:t>
            </a:r>
          </a:p>
        </p:txBody>
      </p:sp>
      <p:pic>
        <p:nvPicPr>
          <p:cNvPr id="6" name="图片 5">
            <a:extLst>
              <a:ext uri="{FF2B5EF4-FFF2-40B4-BE49-F238E27FC236}">
                <a16:creationId xmlns="" xmlns:a16="http://schemas.microsoft.com/office/drawing/2014/main" id="{DC3BF1BA-1FD8-E901-B5E7-6CB477081082}"/>
              </a:ext>
            </a:extLst>
          </p:cNvPr>
          <p:cNvPicPr>
            <a:picLocks noChangeAspect="1"/>
          </p:cNvPicPr>
          <p:nvPr/>
        </p:nvPicPr>
        <p:blipFill>
          <a:blip r:embed="rId2"/>
          <a:stretch>
            <a:fillRect/>
          </a:stretch>
        </p:blipFill>
        <p:spPr>
          <a:xfrm>
            <a:off x="694090" y="2342529"/>
            <a:ext cx="7703937" cy="3741461"/>
          </a:xfrm>
          <a:prstGeom prst="rect">
            <a:avLst/>
          </a:prstGeom>
        </p:spPr>
      </p:pic>
      <p:sp>
        <p:nvSpPr>
          <p:cNvPr id="7" name="矩形 6"/>
          <p:cNvSpPr/>
          <p:nvPr/>
        </p:nvSpPr>
        <p:spPr>
          <a:xfrm>
            <a:off x="4248833" y="1285683"/>
            <a:ext cx="800219" cy="461665"/>
          </a:xfrm>
          <a:prstGeom prst="rect">
            <a:avLst/>
          </a:prstGeom>
        </p:spPr>
        <p:txBody>
          <a:bodyPr wrap="none">
            <a:spAutoFit/>
          </a:bodyPr>
          <a:lstStyle/>
          <a:p>
            <a:r>
              <a:rPr lang="zh-CN" altLang="en-US" sz="2400" dirty="0">
                <a:latin typeface="+mn-ea"/>
              </a:rPr>
              <a:t>调制</a:t>
            </a:r>
          </a:p>
        </p:txBody>
      </p:sp>
    </p:spTree>
    <p:extLst>
      <p:ext uri="{BB962C8B-B14F-4D97-AF65-F5344CB8AC3E}">
        <p14:creationId xmlns:p14="http://schemas.microsoft.com/office/powerpoint/2010/main" val="4166245881"/>
      </p:ext>
    </p:extLst>
  </p:cSld>
  <p:clrMapOvr>
    <a:masterClrMapping/>
  </p:clrMapOvr>
  <p:timing>
    <p:tnLst>
      <p:par>
        <p:cTn id="1" dur="indefinite" restart="never" nodeType="tmRoot"/>
      </p:par>
    </p:tnLst>
  </p:timing>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209</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6.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振幅调制</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与</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解调</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Rectangle 169">
            <a:extLst>
              <a:ext uri="{FF2B5EF4-FFF2-40B4-BE49-F238E27FC236}">
                <a16:creationId xmlns="" xmlns:a16="http://schemas.microsoft.com/office/drawing/2014/main" id="{BE14CCA2-FF30-027B-CB6F-6718ABC13645}"/>
              </a:ext>
            </a:extLst>
          </p:cNvPr>
          <p:cNvSpPr>
            <a:spLocks noChangeArrowheads="1"/>
          </p:cNvSpPr>
          <p:nvPr/>
        </p:nvSpPr>
        <p:spPr bwMode="auto">
          <a:xfrm>
            <a:off x="64851" y="1222539"/>
            <a:ext cx="897729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sz="2400" dirty="0" smtClean="0">
                <a:latin typeface="+mn-ea"/>
                <a:ea typeface="+mn-ea"/>
              </a:rPr>
              <a:t>调幅</a:t>
            </a:r>
            <a:r>
              <a:rPr lang="zh-CN" altLang="en-US" sz="2400" dirty="0">
                <a:latin typeface="+mn-ea"/>
                <a:ea typeface="+mn-ea"/>
              </a:rPr>
              <a:t>波的性质</a:t>
            </a:r>
          </a:p>
        </p:txBody>
      </p:sp>
      <p:sp>
        <p:nvSpPr>
          <p:cNvPr id="6" name="Rectangle 1074">
            <a:extLst>
              <a:ext uri="{FF2B5EF4-FFF2-40B4-BE49-F238E27FC236}">
                <a16:creationId xmlns="" xmlns:a16="http://schemas.microsoft.com/office/drawing/2014/main" id="{B03D2204-2E61-421D-3E5E-CE740503BD72}"/>
              </a:ext>
            </a:extLst>
          </p:cNvPr>
          <p:cNvSpPr>
            <a:spLocks noChangeArrowheads="1"/>
          </p:cNvSpPr>
          <p:nvPr/>
        </p:nvSpPr>
        <p:spPr bwMode="auto">
          <a:xfrm>
            <a:off x="457606" y="1742689"/>
            <a:ext cx="483711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p>
            <a:pPr>
              <a:spcBef>
                <a:spcPct val="50000"/>
              </a:spcBef>
            </a:pPr>
            <a:r>
              <a:rPr lang="en-US" altLang="zh-CN" sz="2400" dirty="0">
                <a:latin typeface="+mn-ea"/>
                <a:ea typeface="+mn-ea"/>
              </a:rPr>
              <a:t>1.</a:t>
            </a:r>
            <a:r>
              <a:rPr lang="zh-CN" altLang="en-US" sz="2400" dirty="0">
                <a:latin typeface="+mn-ea"/>
                <a:ea typeface="+mn-ea"/>
              </a:rPr>
              <a:t>普通调幅波的数学表示式</a:t>
            </a:r>
          </a:p>
        </p:txBody>
      </p:sp>
      <p:sp>
        <p:nvSpPr>
          <p:cNvPr id="7" name="Rectangle 1075">
            <a:extLst>
              <a:ext uri="{FF2B5EF4-FFF2-40B4-BE49-F238E27FC236}">
                <a16:creationId xmlns="" xmlns:a16="http://schemas.microsoft.com/office/drawing/2014/main" id="{39BF5197-296E-211E-A60C-AAF0D8B7E568}"/>
              </a:ext>
            </a:extLst>
          </p:cNvPr>
          <p:cNvSpPr>
            <a:spLocks noChangeArrowheads="1"/>
          </p:cNvSpPr>
          <p:nvPr/>
        </p:nvSpPr>
        <p:spPr bwMode="auto">
          <a:xfrm>
            <a:off x="4228412" y="1742689"/>
            <a:ext cx="389722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p>
            <a:pPr>
              <a:spcBef>
                <a:spcPct val="50000"/>
              </a:spcBef>
            </a:pPr>
            <a:r>
              <a:rPr lang="zh-CN" altLang="en-US" sz="2400" dirty="0">
                <a:latin typeface="+mn-ea"/>
                <a:ea typeface="+mn-ea"/>
              </a:rPr>
              <a:t>首先讨论单音调制的调幅波</a:t>
            </a:r>
          </a:p>
        </p:txBody>
      </p:sp>
      <p:sp>
        <p:nvSpPr>
          <p:cNvPr id="8" name="Rectangle 1076">
            <a:extLst>
              <a:ext uri="{FF2B5EF4-FFF2-40B4-BE49-F238E27FC236}">
                <a16:creationId xmlns="" xmlns:a16="http://schemas.microsoft.com/office/drawing/2014/main" id="{10111B65-3D67-83D3-6853-F8B8457BD482}"/>
              </a:ext>
            </a:extLst>
          </p:cNvPr>
          <p:cNvSpPr>
            <a:spLocks noChangeArrowheads="1"/>
          </p:cNvSpPr>
          <p:nvPr/>
        </p:nvSpPr>
        <p:spPr bwMode="auto">
          <a:xfrm>
            <a:off x="620606" y="2337025"/>
            <a:ext cx="15382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tabLst>
                <a:tab pos="996950" algn="l"/>
              </a:tabLst>
              <a:defRPr sz="1600" b="1">
                <a:solidFill>
                  <a:schemeClr val="tx1"/>
                </a:solidFill>
                <a:latin typeface="楷体_GB2312" panose="02010609030101010101" pitchFamily="49" charset="-122"/>
                <a:ea typeface="楷体_GB2312" panose="02010609030101010101" pitchFamily="49" charset="-122"/>
              </a:defRPr>
            </a:lvl1pPr>
            <a:lvl2pPr>
              <a:tabLst>
                <a:tab pos="996950" algn="l"/>
              </a:tabLst>
              <a:defRPr sz="1600" b="1">
                <a:solidFill>
                  <a:schemeClr val="tx1"/>
                </a:solidFill>
                <a:latin typeface="楷体_GB2312" panose="02010609030101010101" pitchFamily="49" charset="-122"/>
                <a:ea typeface="楷体_GB2312" panose="02010609030101010101" pitchFamily="49" charset="-122"/>
              </a:defRPr>
            </a:lvl2pPr>
            <a:lvl3pPr>
              <a:tabLst>
                <a:tab pos="996950" algn="l"/>
              </a:tabLst>
              <a:defRPr sz="1600" b="1">
                <a:solidFill>
                  <a:schemeClr val="tx1"/>
                </a:solidFill>
                <a:latin typeface="楷体_GB2312" panose="02010609030101010101" pitchFamily="49" charset="-122"/>
                <a:ea typeface="楷体_GB2312" panose="02010609030101010101" pitchFamily="49" charset="-122"/>
              </a:defRPr>
            </a:lvl3pPr>
            <a:lvl4pPr>
              <a:tabLst>
                <a:tab pos="996950" algn="l"/>
              </a:tabLst>
              <a:defRPr sz="1600" b="1">
                <a:solidFill>
                  <a:schemeClr val="tx1"/>
                </a:solidFill>
                <a:latin typeface="楷体_GB2312" panose="02010609030101010101" pitchFamily="49" charset="-122"/>
                <a:ea typeface="楷体_GB2312" panose="02010609030101010101" pitchFamily="49" charset="-122"/>
              </a:defRPr>
            </a:lvl4pPr>
            <a:lvl5pPr>
              <a:tabLst>
                <a:tab pos="996950" algn="l"/>
              </a:tabLst>
              <a:defRPr sz="1600" b="1">
                <a:solidFill>
                  <a:schemeClr val="tx1"/>
                </a:solidFill>
                <a:latin typeface="楷体_GB2312" panose="02010609030101010101" pitchFamily="49" charset="-122"/>
                <a:ea typeface="楷体_GB2312" panose="02010609030101010101" pitchFamily="49" charset="-122"/>
              </a:defRPr>
            </a:lvl5pPr>
            <a:lvl6pPr fontAlgn="base">
              <a:spcBef>
                <a:spcPct val="0"/>
              </a:spcBef>
              <a:spcAft>
                <a:spcPct val="0"/>
              </a:spcAft>
              <a:buFont typeface="Arial" panose="020B0604020202020204" pitchFamily="34" charset="0"/>
              <a:tabLst>
                <a:tab pos="996950" algn="l"/>
              </a:tabLst>
              <a:defRPr sz="1600" b="1">
                <a:solidFill>
                  <a:schemeClr val="tx1"/>
                </a:solidFill>
                <a:latin typeface="楷体_GB2312" panose="02010609030101010101" pitchFamily="49" charset="-122"/>
                <a:ea typeface="楷体_GB2312" panose="02010609030101010101" pitchFamily="49" charset="-122"/>
              </a:defRPr>
            </a:lvl6pPr>
            <a:lvl7pPr fontAlgn="base">
              <a:spcBef>
                <a:spcPct val="0"/>
              </a:spcBef>
              <a:spcAft>
                <a:spcPct val="0"/>
              </a:spcAft>
              <a:buFont typeface="Arial" panose="020B0604020202020204" pitchFamily="34" charset="0"/>
              <a:tabLst>
                <a:tab pos="996950" algn="l"/>
              </a:tabLst>
              <a:defRPr sz="1600" b="1">
                <a:solidFill>
                  <a:schemeClr val="tx1"/>
                </a:solidFill>
                <a:latin typeface="楷体_GB2312" panose="02010609030101010101" pitchFamily="49" charset="-122"/>
                <a:ea typeface="楷体_GB2312" panose="02010609030101010101" pitchFamily="49" charset="-122"/>
              </a:defRPr>
            </a:lvl7pPr>
            <a:lvl8pPr fontAlgn="base">
              <a:spcBef>
                <a:spcPct val="0"/>
              </a:spcBef>
              <a:spcAft>
                <a:spcPct val="0"/>
              </a:spcAft>
              <a:buFont typeface="Arial" panose="020B0604020202020204" pitchFamily="34" charset="0"/>
              <a:tabLst>
                <a:tab pos="996950" algn="l"/>
              </a:tabLst>
              <a:defRPr sz="1600" b="1">
                <a:solidFill>
                  <a:schemeClr val="tx1"/>
                </a:solidFill>
                <a:latin typeface="楷体_GB2312" panose="02010609030101010101" pitchFamily="49" charset="-122"/>
                <a:ea typeface="楷体_GB2312" panose="02010609030101010101" pitchFamily="49" charset="-122"/>
              </a:defRPr>
            </a:lvl8pPr>
            <a:lvl9pPr fontAlgn="base">
              <a:spcBef>
                <a:spcPct val="0"/>
              </a:spcBef>
              <a:spcAft>
                <a:spcPct val="0"/>
              </a:spcAft>
              <a:buFont typeface="Arial" panose="020B0604020202020204" pitchFamily="34" charset="0"/>
              <a:tabLst>
                <a:tab pos="996950" algn="l"/>
              </a:tabLst>
              <a:defRPr sz="1600" b="1">
                <a:solidFill>
                  <a:schemeClr val="tx1"/>
                </a:solidFill>
                <a:latin typeface="楷体_GB2312" panose="02010609030101010101" pitchFamily="49" charset="-122"/>
                <a:ea typeface="楷体_GB2312" panose="02010609030101010101" pitchFamily="49" charset="-122"/>
              </a:defRPr>
            </a:lvl9pPr>
          </a:lstStyle>
          <a:p>
            <a:pPr algn="just"/>
            <a:r>
              <a:rPr lang="zh-CN" altLang="en-US" sz="2000" b="0" dirty="0">
                <a:latin typeface="+mn-ea"/>
                <a:ea typeface="+mn-ea"/>
              </a:rPr>
              <a:t>载波信号： </a:t>
            </a:r>
          </a:p>
        </p:txBody>
      </p:sp>
      <p:graphicFrame>
        <p:nvGraphicFramePr>
          <p:cNvPr id="9" name="Object 1077">
            <a:extLst>
              <a:ext uri="{FF2B5EF4-FFF2-40B4-BE49-F238E27FC236}">
                <a16:creationId xmlns="" xmlns:a16="http://schemas.microsoft.com/office/drawing/2014/main" id="{33FC8B59-CF08-DB78-C6C3-F53F1228D05D}"/>
              </a:ext>
            </a:extLst>
          </p:cNvPr>
          <p:cNvGraphicFramePr>
            <a:graphicFrameLocks/>
          </p:cNvGraphicFramePr>
          <p:nvPr>
            <p:extLst>
              <p:ext uri="{D42A27DB-BD31-4B8C-83A1-F6EECF244321}">
                <p14:modId xmlns:p14="http://schemas.microsoft.com/office/powerpoint/2010/main" val="157423693"/>
              </p:ext>
            </p:extLst>
          </p:nvPr>
        </p:nvGraphicFramePr>
        <p:xfrm>
          <a:off x="1950078" y="2348457"/>
          <a:ext cx="1920981" cy="405873"/>
        </p:xfrm>
        <a:graphic>
          <a:graphicData uri="http://schemas.openxmlformats.org/presentationml/2006/ole">
            <mc:AlternateContent xmlns:mc="http://schemas.openxmlformats.org/markup-compatibility/2006">
              <mc:Choice xmlns:v="urn:schemas-microsoft-com:vml" Requires="v">
                <p:oleObj spid="_x0000_s164035" r:id="rId3" imgW="952500" imgH="228600" progId="Equation.3">
                  <p:embed/>
                </p:oleObj>
              </mc:Choice>
              <mc:Fallback>
                <p:oleObj r:id="rId3" imgW="952500" imgH="228600" progId="Equation.3">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50078" y="2348457"/>
                        <a:ext cx="1920981" cy="405873"/>
                      </a:xfrm>
                      <a:prstGeom prst="rect">
                        <a:avLst/>
                      </a:prstGeom>
                      <a:noFill/>
                      <a:ln>
                        <a:noFill/>
                      </a:ln>
                      <a:extLst/>
                    </p:spPr>
                  </p:pic>
                </p:oleObj>
              </mc:Fallback>
            </mc:AlternateContent>
          </a:graphicData>
        </a:graphic>
      </p:graphicFrame>
      <p:sp>
        <p:nvSpPr>
          <p:cNvPr id="10" name="Rectangle 1078">
            <a:extLst>
              <a:ext uri="{FF2B5EF4-FFF2-40B4-BE49-F238E27FC236}">
                <a16:creationId xmlns="" xmlns:a16="http://schemas.microsoft.com/office/drawing/2014/main" id="{986D8EEC-71BF-E4F2-A34F-F22F4F038677}"/>
              </a:ext>
            </a:extLst>
          </p:cNvPr>
          <p:cNvSpPr>
            <a:spLocks noChangeArrowheads="1"/>
          </p:cNvSpPr>
          <p:nvPr/>
        </p:nvSpPr>
        <p:spPr bwMode="auto">
          <a:xfrm>
            <a:off x="4329481" y="2332398"/>
            <a:ext cx="15763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000" dirty="0">
                <a:latin typeface="+mn-ea"/>
                <a:ea typeface="+mn-ea"/>
              </a:rPr>
              <a:t>调制信号：</a:t>
            </a:r>
            <a:r>
              <a:rPr lang="zh-CN" altLang="en-US" sz="2000" b="0" dirty="0">
                <a:latin typeface="+mn-ea"/>
                <a:ea typeface="+mn-ea"/>
              </a:rPr>
              <a:t> </a:t>
            </a:r>
          </a:p>
        </p:txBody>
      </p:sp>
      <p:graphicFrame>
        <p:nvGraphicFramePr>
          <p:cNvPr id="11" name="Object 1079">
            <a:extLst>
              <a:ext uri="{FF2B5EF4-FFF2-40B4-BE49-F238E27FC236}">
                <a16:creationId xmlns="" xmlns:a16="http://schemas.microsoft.com/office/drawing/2014/main" id="{2712DF41-DBA1-7E55-7430-A98E67FFAB3B}"/>
              </a:ext>
            </a:extLst>
          </p:cNvPr>
          <p:cNvGraphicFramePr>
            <a:graphicFrameLocks/>
          </p:cNvGraphicFramePr>
          <p:nvPr>
            <p:extLst>
              <p:ext uri="{D42A27DB-BD31-4B8C-83A1-F6EECF244321}">
                <p14:modId xmlns:p14="http://schemas.microsoft.com/office/powerpoint/2010/main" val="843692437"/>
              </p:ext>
            </p:extLst>
          </p:nvPr>
        </p:nvGraphicFramePr>
        <p:xfrm>
          <a:off x="5591578" y="2338956"/>
          <a:ext cx="1944116" cy="420459"/>
        </p:xfrm>
        <a:graphic>
          <a:graphicData uri="http://schemas.openxmlformats.org/presentationml/2006/ole">
            <mc:AlternateContent xmlns:mc="http://schemas.openxmlformats.org/markup-compatibility/2006">
              <mc:Choice xmlns:v="urn:schemas-microsoft-com:vml" Requires="v">
                <p:oleObj spid="_x0000_s164036" r:id="rId5" imgW="952500" imgH="215900" progId="Equation.3">
                  <p:embed/>
                </p:oleObj>
              </mc:Choice>
              <mc:Fallback>
                <p:oleObj r:id="rId5" imgW="952500" imgH="215900" progId="Equation.3">
                  <p:embed/>
                  <p:pic>
                    <p:nvPicPr>
                      <p:cNvPr id="0" name=""/>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91578" y="2338956"/>
                        <a:ext cx="1944116" cy="420459"/>
                      </a:xfrm>
                      <a:prstGeom prst="rect">
                        <a:avLst/>
                      </a:prstGeom>
                      <a:noFill/>
                      <a:ln>
                        <a:noFill/>
                      </a:ln>
                      <a:extLst/>
                    </p:spPr>
                  </p:pic>
                </p:oleObj>
              </mc:Fallback>
            </mc:AlternateContent>
          </a:graphicData>
        </a:graphic>
      </p:graphicFrame>
      <p:sp>
        <p:nvSpPr>
          <p:cNvPr id="12" name="Rectangle 1080">
            <a:extLst>
              <a:ext uri="{FF2B5EF4-FFF2-40B4-BE49-F238E27FC236}">
                <a16:creationId xmlns="" xmlns:a16="http://schemas.microsoft.com/office/drawing/2014/main" id="{186BE0E3-7C2A-7726-150D-200382FDC4A4}"/>
              </a:ext>
            </a:extLst>
          </p:cNvPr>
          <p:cNvSpPr>
            <a:spLocks noChangeArrowheads="1"/>
          </p:cNvSpPr>
          <p:nvPr/>
        </p:nvSpPr>
        <p:spPr bwMode="auto">
          <a:xfrm>
            <a:off x="616410" y="2885813"/>
            <a:ext cx="615632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000" dirty="0">
                <a:latin typeface="+mn-ea"/>
                <a:ea typeface="+mn-ea"/>
              </a:rPr>
              <a:t>调幅信号（已调波）：</a:t>
            </a:r>
            <a:r>
              <a:rPr lang="zh-CN" altLang="en-US" sz="2000" b="0" dirty="0">
                <a:latin typeface="+mn-ea"/>
                <a:ea typeface="+mn-ea"/>
              </a:rPr>
              <a:t> </a:t>
            </a:r>
          </a:p>
        </p:txBody>
      </p:sp>
      <p:graphicFrame>
        <p:nvGraphicFramePr>
          <p:cNvPr id="13" name="Object 1081">
            <a:extLst>
              <a:ext uri="{FF2B5EF4-FFF2-40B4-BE49-F238E27FC236}">
                <a16:creationId xmlns="" xmlns:a16="http://schemas.microsoft.com/office/drawing/2014/main" id="{933410A1-2917-5851-68E8-DF24A01F0CDF}"/>
              </a:ext>
            </a:extLst>
          </p:cNvPr>
          <p:cNvGraphicFramePr>
            <a:graphicFrameLocks/>
          </p:cNvGraphicFramePr>
          <p:nvPr>
            <p:extLst>
              <p:ext uri="{D42A27DB-BD31-4B8C-83A1-F6EECF244321}">
                <p14:modId xmlns:p14="http://schemas.microsoft.com/office/powerpoint/2010/main" val="939406778"/>
              </p:ext>
            </p:extLst>
          </p:nvPr>
        </p:nvGraphicFramePr>
        <p:xfrm>
          <a:off x="3172107" y="2850316"/>
          <a:ext cx="3241663" cy="477891"/>
        </p:xfrm>
        <a:graphic>
          <a:graphicData uri="http://schemas.openxmlformats.org/presentationml/2006/ole">
            <mc:AlternateContent xmlns:mc="http://schemas.openxmlformats.org/markup-compatibility/2006">
              <mc:Choice xmlns:v="urn:schemas-microsoft-com:vml" Requires="v">
                <p:oleObj spid="_x0000_s164037" r:id="rId7" imgW="1282700" imgH="228600" progId="Equation.3">
                  <p:embed/>
                </p:oleObj>
              </mc:Choice>
              <mc:Fallback>
                <p:oleObj r:id="rId7" imgW="1282700" imgH="228600" progId="Equation.3">
                  <p:embed/>
                  <p:pic>
                    <p:nvPicPr>
                      <p:cNvPr id="0" name=""/>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172107" y="2850316"/>
                        <a:ext cx="3241663" cy="477891"/>
                      </a:xfrm>
                      <a:prstGeom prst="rect">
                        <a:avLst/>
                      </a:prstGeom>
                      <a:noFill/>
                      <a:ln>
                        <a:noFill/>
                      </a:ln>
                      <a:extLst/>
                    </p:spPr>
                  </p:pic>
                </p:oleObj>
              </mc:Fallback>
            </mc:AlternateContent>
          </a:graphicData>
        </a:graphic>
      </p:graphicFrame>
      <p:sp>
        <p:nvSpPr>
          <p:cNvPr id="14" name="Rectangle 1082">
            <a:extLst>
              <a:ext uri="{FF2B5EF4-FFF2-40B4-BE49-F238E27FC236}">
                <a16:creationId xmlns="" xmlns:a16="http://schemas.microsoft.com/office/drawing/2014/main" id="{6754AF31-D5A3-22EA-14D2-AAD1FC6E7874}"/>
              </a:ext>
            </a:extLst>
          </p:cNvPr>
          <p:cNvSpPr>
            <a:spLocks noChangeArrowheads="1"/>
          </p:cNvSpPr>
          <p:nvPr/>
        </p:nvSpPr>
        <p:spPr bwMode="auto">
          <a:xfrm>
            <a:off x="616410" y="3413904"/>
            <a:ext cx="5410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000" dirty="0">
                <a:latin typeface="+mn-ea"/>
                <a:ea typeface="+mn-ea"/>
              </a:rPr>
              <a:t>调幅信号的振幅与调制信号成线性关系即有：</a:t>
            </a:r>
            <a:r>
              <a:rPr lang="zh-CN" altLang="en-US" sz="2000" b="0" dirty="0">
                <a:latin typeface="+mn-ea"/>
                <a:ea typeface="+mn-ea"/>
              </a:rPr>
              <a:t> </a:t>
            </a:r>
          </a:p>
        </p:txBody>
      </p:sp>
      <p:graphicFrame>
        <p:nvGraphicFramePr>
          <p:cNvPr id="15" name="Object 1083">
            <a:extLst>
              <a:ext uri="{FF2B5EF4-FFF2-40B4-BE49-F238E27FC236}">
                <a16:creationId xmlns="" xmlns:a16="http://schemas.microsoft.com/office/drawing/2014/main" id="{E5A7D75F-B953-0CA2-2AB1-8619E4ED4126}"/>
              </a:ext>
            </a:extLst>
          </p:cNvPr>
          <p:cNvGraphicFramePr>
            <a:graphicFrameLocks/>
          </p:cNvGraphicFramePr>
          <p:nvPr>
            <p:extLst>
              <p:ext uri="{D42A27DB-BD31-4B8C-83A1-F6EECF244321}">
                <p14:modId xmlns:p14="http://schemas.microsoft.com/office/powerpoint/2010/main" val="3299113617"/>
              </p:ext>
            </p:extLst>
          </p:nvPr>
        </p:nvGraphicFramePr>
        <p:xfrm>
          <a:off x="5735820" y="3446075"/>
          <a:ext cx="3007026" cy="392962"/>
        </p:xfrm>
        <a:graphic>
          <a:graphicData uri="http://schemas.openxmlformats.org/presentationml/2006/ole">
            <mc:AlternateContent xmlns:mc="http://schemas.openxmlformats.org/markup-compatibility/2006">
              <mc:Choice xmlns:v="urn:schemas-microsoft-com:vml" Requires="v">
                <p:oleObj spid="_x0000_s164038" r:id="rId9" imgW="1524000" imgH="228600" progId="Equation.3">
                  <p:embed/>
                </p:oleObj>
              </mc:Choice>
              <mc:Fallback>
                <p:oleObj r:id="rId9" imgW="1524000" imgH="228600" progId="Equation.3">
                  <p:embed/>
                  <p:pic>
                    <p:nvPicPr>
                      <p:cNvPr id="0" name=""/>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735820" y="3446075"/>
                        <a:ext cx="3007026" cy="392962"/>
                      </a:xfrm>
                      <a:prstGeom prst="rect">
                        <a:avLst/>
                      </a:prstGeom>
                      <a:noFill/>
                      <a:ln>
                        <a:noFill/>
                      </a:ln>
                      <a:extLst/>
                    </p:spPr>
                  </p:pic>
                </p:oleObj>
              </mc:Fallback>
            </mc:AlternateContent>
          </a:graphicData>
        </a:graphic>
      </p:graphicFrame>
      <p:grpSp>
        <p:nvGrpSpPr>
          <p:cNvPr id="16" name="Group 1084">
            <a:extLst>
              <a:ext uri="{FF2B5EF4-FFF2-40B4-BE49-F238E27FC236}">
                <a16:creationId xmlns="" xmlns:a16="http://schemas.microsoft.com/office/drawing/2014/main" id="{06BC175B-59BC-85B3-4ED6-BC92C2CB19E9}"/>
              </a:ext>
            </a:extLst>
          </p:cNvPr>
          <p:cNvGrpSpPr>
            <a:grpSpLocks/>
          </p:cNvGrpSpPr>
          <p:nvPr/>
        </p:nvGrpSpPr>
        <p:grpSpPr bwMode="auto">
          <a:xfrm>
            <a:off x="371260" y="4671108"/>
            <a:ext cx="2986087" cy="409295"/>
            <a:chOff x="2736" y="1868"/>
            <a:chExt cx="1881" cy="169"/>
          </a:xfrm>
        </p:grpSpPr>
        <p:sp>
          <p:nvSpPr>
            <p:cNvPr id="17" name="Rectangle 1085">
              <a:extLst>
                <a:ext uri="{FF2B5EF4-FFF2-40B4-BE49-F238E27FC236}">
                  <a16:creationId xmlns="" xmlns:a16="http://schemas.microsoft.com/office/drawing/2014/main" id="{8129D706-F62C-3174-C599-E2B35D9FB4D2}"/>
                </a:ext>
              </a:extLst>
            </p:cNvPr>
            <p:cNvSpPr>
              <a:spLocks noChangeArrowheads="1"/>
            </p:cNvSpPr>
            <p:nvPr/>
          </p:nvSpPr>
          <p:spPr bwMode="auto">
            <a:xfrm>
              <a:off x="2736" y="1872"/>
              <a:ext cx="460"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r>
                <a:rPr lang="zh-CN" altLang="en-US" sz="2000" dirty="0">
                  <a:latin typeface="+mn-ea"/>
                  <a:ea typeface="+mn-ea"/>
                </a:rPr>
                <a:t>式中</a:t>
              </a:r>
              <a:endParaRPr lang="zh-CN" altLang="en-US" sz="2000" b="0" dirty="0">
                <a:latin typeface="+mn-ea"/>
                <a:ea typeface="+mn-ea"/>
              </a:endParaRPr>
            </a:p>
          </p:txBody>
        </p:sp>
        <p:sp>
          <p:nvSpPr>
            <p:cNvPr id="19" name="Rectangle 1087">
              <a:extLst>
                <a:ext uri="{FF2B5EF4-FFF2-40B4-BE49-F238E27FC236}">
                  <a16:creationId xmlns="" xmlns:a16="http://schemas.microsoft.com/office/drawing/2014/main" id="{CD228751-EA4E-FA29-22FC-DA0D2831D3A3}"/>
                </a:ext>
              </a:extLst>
            </p:cNvPr>
            <p:cNvSpPr>
              <a:spLocks noChangeArrowheads="1"/>
            </p:cNvSpPr>
            <p:nvPr/>
          </p:nvSpPr>
          <p:spPr bwMode="auto">
            <a:xfrm>
              <a:off x="3279" y="1868"/>
              <a:ext cx="1338"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r>
                <a:rPr lang="zh-CN" altLang="en-US" sz="2000" dirty="0">
                  <a:latin typeface="+mn-ea"/>
                  <a:ea typeface="+mn-ea"/>
                </a:rPr>
                <a:t>为比例常数，</a:t>
              </a:r>
              <a:endParaRPr lang="zh-CN" altLang="en-US" sz="2000" b="0" dirty="0">
                <a:latin typeface="+mn-ea"/>
                <a:ea typeface="+mn-ea"/>
              </a:endParaRPr>
            </a:p>
          </p:txBody>
        </p:sp>
      </p:grpSp>
      <p:grpSp>
        <p:nvGrpSpPr>
          <p:cNvPr id="20" name="Group 1088">
            <a:extLst>
              <a:ext uri="{FF2B5EF4-FFF2-40B4-BE49-F238E27FC236}">
                <a16:creationId xmlns="" xmlns:a16="http://schemas.microsoft.com/office/drawing/2014/main" id="{F5D3429A-A2D7-0F73-C60E-DA8724133711}"/>
              </a:ext>
            </a:extLst>
          </p:cNvPr>
          <p:cNvGrpSpPr>
            <a:grpSpLocks/>
          </p:cNvGrpSpPr>
          <p:nvPr/>
        </p:nvGrpSpPr>
        <p:grpSpPr bwMode="auto">
          <a:xfrm>
            <a:off x="666903" y="3901471"/>
            <a:ext cx="7149620" cy="674585"/>
            <a:chOff x="480" y="2100"/>
            <a:chExt cx="4279" cy="388"/>
          </a:xfrm>
        </p:grpSpPr>
        <p:sp>
          <p:nvSpPr>
            <p:cNvPr id="21" name="Rectangle 1089">
              <a:extLst>
                <a:ext uri="{FF2B5EF4-FFF2-40B4-BE49-F238E27FC236}">
                  <a16:creationId xmlns="" xmlns:a16="http://schemas.microsoft.com/office/drawing/2014/main" id="{5BB6B806-EC5F-66F8-A5CA-AE51EED2634E}"/>
                </a:ext>
              </a:extLst>
            </p:cNvPr>
            <p:cNvSpPr>
              <a:spLocks noChangeArrowheads="1"/>
            </p:cNvSpPr>
            <p:nvPr/>
          </p:nvSpPr>
          <p:spPr bwMode="auto">
            <a:xfrm>
              <a:off x="480" y="2161"/>
              <a:ext cx="480"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000" dirty="0">
                  <a:latin typeface="+mn-ea"/>
                  <a:ea typeface="+mn-ea"/>
                </a:rPr>
                <a:t>即：</a:t>
              </a:r>
              <a:r>
                <a:rPr lang="zh-CN" altLang="en-US" sz="2000" b="0" dirty="0">
                  <a:latin typeface="+mn-ea"/>
                  <a:ea typeface="+mn-ea"/>
                </a:rPr>
                <a:t> </a:t>
              </a:r>
            </a:p>
          </p:txBody>
        </p:sp>
        <p:graphicFrame>
          <p:nvGraphicFramePr>
            <p:cNvPr id="22" name="Object 1090">
              <a:extLst>
                <a:ext uri="{FF2B5EF4-FFF2-40B4-BE49-F238E27FC236}">
                  <a16:creationId xmlns="" xmlns:a16="http://schemas.microsoft.com/office/drawing/2014/main" id="{D14CFDBE-25B2-5349-4DC9-CD4B7F292530}"/>
                </a:ext>
              </a:extLst>
            </p:cNvPr>
            <p:cNvGraphicFramePr>
              <a:graphicFrameLocks/>
            </p:cNvGraphicFramePr>
            <p:nvPr>
              <p:extLst>
                <p:ext uri="{D42A27DB-BD31-4B8C-83A1-F6EECF244321}">
                  <p14:modId xmlns:p14="http://schemas.microsoft.com/office/powerpoint/2010/main" val="2881527370"/>
                </p:ext>
              </p:extLst>
            </p:nvPr>
          </p:nvGraphicFramePr>
          <p:xfrm>
            <a:off x="808" y="2100"/>
            <a:ext cx="3951" cy="388"/>
          </p:xfrm>
          <a:graphic>
            <a:graphicData uri="http://schemas.openxmlformats.org/presentationml/2006/ole">
              <mc:AlternateContent xmlns:mc="http://schemas.openxmlformats.org/markup-compatibility/2006">
                <mc:Choice xmlns:v="urn:schemas-microsoft-com:vml" Requires="v">
                  <p:oleObj spid="_x0000_s164039" r:id="rId11" imgW="3187700" imgH="444500" progId="Equation.3">
                    <p:embed/>
                  </p:oleObj>
                </mc:Choice>
                <mc:Fallback>
                  <p:oleObj r:id="rId11" imgW="3187700" imgH="444500" progId="Equation.3">
                    <p:embed/>
                    <p:pic>
                      <p:nvPicPr>
                        <p:cNvPr id="0" name=""/>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08" y="2100"/>
                          <a:ext cx="3951" cy="388"/>
                        </a:xfrm>
                        <a:prstGeom prst="rect">
                          <a:avLst/>
                        </a:prstGeom>
                        <a:noFill/>
                        <a:ln>
                          <a:noFill/>
                        </a:ln>
                        <a:extLst/>
                      </p:spPr>
                    </p:pic>
                  </p:oleObj>
                </mc:Fallback>
              </mc:AlternateContent>
            </a:graphicData>
          </a:graphic>
        </p:graphicFrame>
      </p:grpSp>
      <p:sp>
        <p:nvSpPr>
          <p:cNvPr id="23" name="Rectangle 1091">
            <a:extLst>
              <a:ext uri="{FF2B5EF4-FFF2-40B4-BE49-F238E27FC236}">
                <a16:creationId xmlns="" xmlns:a16="http://schemas.microsoft.com/office/drawing/2014/main" id="{223D6772-02B7-8C30-7212-8566D2349D27}"/>
              </a:ext>
            </a:extLst>
          </p:cNvPr>
          <p:cNvSpPr>
            <a:spLocks noChangeArrowheads="1"/>
          </p:cNvSpPr>
          <p:nvPr/>
        </p:nvSpPr>
        <p:spPr bwMode="auto">
          <a:xfrm>
            <a:off x="2711874" y="4688080"/>
            <a:ext cx="38989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000" i="1" dirty="0" smtClean="0">
                <a:latin typeface="Times New Roman" panose="02020603050405020304" pitchFamily="18" charset="0"/>
                <a:cs typeface="Times New Roman" panose="02020603050405020304" pitchFamily="18" charset="0"/>
              </a:rPr>
              <a:t>m</a:t>
            </a:r>
            <a:r>
              <a:rPr lang="en-US" altLang="zh-CN" sz="2000" i="1" baseline="-30000" dirty="0" smtClean="0">
                <a:latin typeface="Times New Roman" panose="02020603050405020304" pitchFamily="18" charset="0"/>
                <a:cs typeface="Times New Roman" panose="02020603050405020304" pitchFamily="18" charset="0"/>
              </a:rPr>
              <a:t>a</a:t>
            </a:r>
            <a:r>
              <a:rPr lang="zh-CN" altLang="en-US" sz="2000" dirty="0">
                <a:latin typeface="+mn-ea"/>
                <a:ea typeface="+mn-ea"/>
              </a:rPr>
              <a:t>为调制度，</a:t>
            </a:r>
            <a:r>
              <a:rPr lang="zh-CN" altLang="en-US" sz="2000" b="0" dirty="0">
                <a:latin typeface="+mn-ea"/>
                <a:ea typeface="+mn-ea"/>
              </a:rPr>
              <a:t> </a:t>
            </a:r>
          </a:p>
        </p:txBody>
      </p:sp>
      <p:graphicFrame>
        <p:nvGraphicFramePr>
          <p:cNvPr id="24" name="Object 1092">
            <a:extLst>
              <a:ext uri="{FF2B5EF4-FFF2-40B4-BE49-F238E27FC236}">
                <a16:creationId xmlns="" xmlns:a16="http://schemas.microsoft.com/office/drawing/2014/main" id="{94A676D5-8368-24D5-49FE-530B6AE2E916}"/>
              </a:ext>
            </a:extLst>
          </p:cNvPr>
          <p:cNvGraphicFramePr>
            <a:graphicFrameLocks/>
          </p:cNvGraphicFramePr>
          <p:nvPr>
            <p:extLst>
              <p:ext uri="{D42A27DB-BD31-4B8C-83A1-F6EECF244321}">
                <p14:modId xmlns:p14="http://schemas.microsoft.com/office/powerpoint/2010/main" val="1666389479"/>
              </p:ext>
            </p:extLst>
          </p:nvPr>
        </p:nvGraphicFramePr>
        <p:xfrm>
          <a:off x="4275948" y="4592630"/>
          <a:ext cx="1633846" cy="656645"/>
        </p:xfrm>
        <a:graphic>
          <a:graphicData uri="http://schemas.openxmlformats.org/presentationml/2006/ole">
            <mc:AlternateContent xmlns:mc="http://schemas.openxmlformats.org/markup-compatibility/2006">
              <mc:Choice xmlns:v="urn:schemas-microsoft-com:vml" Requires="v">
                <p:oleObj spid="_x0000_s164040" name="Equation" r:id="rId13" imgW="736280" imgH="444307" progId="Equation.DSMT4">
                  <p:embed/>
                </p:oleObj>
              </mc:Choice>
              <mc:Fallback>
                <p:oleObj name="Equation" r:id="rId13" imgW="736280" imgH="444307" progId="Equation.DSMT4">
                  <p:embed/>
                  <p:pic>
                    <p:nvPicPr>
                      <p:cNvPr id="0" name=""/>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275948" y="4592630"/>
                        <a:ext cx="1633846" cy="656645"/>
                      </a:xfrm>
                      <a:prstGeom prst="rect">
                        <a:avLst/>
                      </a:prstGeom>
                      <a:noFill/>
                      <a:ln>
                        <a:noFill/>
                      </a:ln>
                      <a:extLst/>
                    </p:spPr>
                  </p:pic>
                </p:oleObj>
              </mc:Fallback>
            </mc:AlternateContent>
          </a:graphicData>
        </a:graphic>
      </p:graphicFrame>
      <p:sp>
        <p:nvSpPr>
          <p:cNvPr id="25" name="Rectangle 1093">
            <a:extLst>
              <a:ext uri="{FF2B5EF4-FFF2-40B4-BE49-F238E27FC236}">
                <a16:creationId xmlns="" xmlns:a16="http://schemas.microsoft.com/office/drawing/2014/main" id="{F31B465B-3E34-5716-0CAC-103D4D14051C}"/>
              </a:ext>
            </a:extLst>
          </p:cNvPr>
          <p:cNvSpPr>
            <a:spLocks noChangeArrowheads="1"/>
          </p:cNvSpPr>
          <p:nvPr/>
        </p:nvSpPr>
        <p:spPr bwMode="auto">
          <a:xfrm>
            <a:off x="5803512" y="4715222"/>
            <a:ext cx="37909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r>
              <a:rPr lang="zh-CN" altLang="en-US" sz="2000" dirty="0">
                <a:latin typeface="+mn-ea"/>
                <a:ea typeface="+mn-ea"/>
              </a:rPr>
              <a:t>表示调制深度的量</a:t>
            </a:r>
            <a:r>
              <a:rPr lang="en-US" altLang="zh-CN" sz="2000" dirty="0" smtClean="0">
                <a:latin typeface="Times New Roman" panose="02020603050405020304" pitchFamily="18" charset="0"/>
                <a:cs typeface="Times New Roman" panose="02020603050405020304" pitchFamily="18" charset="0"/>
              </a:rPr>
              <a:t>,0&lt;m&lt;1</a:t>
            </a:r>
            <a:endParaRPr lang="en-US" altLang="zh-CN" sz="2000" b="0" dirty="0">
              <a:latin typeface="Times New Roman" panose="02020603050405020304" pitchFamily="18" charset="0"/>
              <a:cs typeface="Times New Roman" panose="02020603050405020304" pitchFamily="18" charset="0"/>
            </a:endParaRPr>
          </a:p>
        </p:txBody>
      </p:sp>
      <p:graphicFrame>
        <p:nvGraphicFramePr>
          <p:cNvPr id="28" name="Object 1096">
            <a:extLst>
              <a:ext uri="{FF2B5EF4-FFF2-40B4-BE49-F238E27FC236}">
                <a16:creationId xmlns="" xmlns:a16="http://schemas.microsoft.com/office/drawing/2014/main" id="{E71A33EC-3A42-6315-D534-BAE11F80240D}"/>
              </a:ext>
            </a:extLst>
          </p:cNvPr>
          <p:cNvGraphicFramePr>
            <a:graphicFrameLocks/>
          </p:cNvGraphicFramePr>
          <p:nvPr>
            <p:extLst>
              <p:ext uri="{D42A27DB-BD31-4B8C-83A1-F6EECF244321}">
                <p14:modId xmlns:p14="http://schemas.microsoft.com/office/powerpoint/2010/main" val="1783300946"/>
              </p:ext>
            </p:extLst>
          </p:nvPr>
        </p:nvGraphicFramePr>
        <p:xfrm>
          <a:off x="1679387" y="5452241"/>
          <a:ext cx="5300188" cy="436236"/>
        </p:xfrm>
        <a:graphic>
          <a:graphicData uri="http://schemas.openxmlformats.org/presentationml/2006/ole">
            <mc:AlternateContent xmlns:mc="http://schemas.openxmlformats.org/markup-compatibility/2006">
              <mc:Choice xmlns:v="urn:schemas-microsoft-com:vml" Requires="v">
                <p:oleObj spid="_x0000_s164041" r:id="rId15" imgW="2019300" imgH="228600" progId="Equation.3">
                  <p:embed/>
                </p:oleObj>
              </mc:Choice>
              <mc:Fallback>
                <p:oleObj r:id="rId15" imgW="2019300" imgH="228600" progId="Equation.3">
                  <p:embed/>
                  <p:pic>
                    <p:nvPicPr>
                      <p:cNvPr id="0" name=""/>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679387" y="5452241"/>
                        <a:ext cx="5300188" cy="436236"/>
                      </a:xfrm>
                      <a:prstGeom prst="rect">
                        <a:avLst/>
                      </a:prstGeom>
                      <a:noFill/>
                      <a:ln>
                        <a:noFill/>
                      </a:ln>
                      <a:extLst/>
                    </p:spPr>
                  </p:pic>
                </p:oleObj>
              </mc:Fallback>
            </mc:AlternateContent>
          </a:graphicData>
        </a:graphic>
      </p:graphicFrame>
      <p:graphicFrame>
        <p:nvGraphicFramePr>
          <p:cNvPr id="29" name="对象 28"/>
          <p:cNvGraphicFramePr>
            <a:graphicFrameLocks noChangeAspect="1"/>
          </p:cNvGraphicFramePr>
          <p:nvPr>
            <p:extLst>
              <p:ext uri="{D42A27DB-BD31-4B8C-83A1-F6EECF244321}">
                <p14:modId xmlns:p14="http://schemas.microsoft.com/office/powerpoint/2010/main" val="2040509034"/>
              </p:ext>
            </p:extLst>
          </p:nvPr>
        </p:nvGraphicFramePr>
        <p:xfrm>
          <a:off x="923642" y="4684861"/>
          <a:ext cx="368618" cy="460773"/>
        </p:xfrm>
        <a:graphic>
          <a:graphicData uri="http://schemas.openxmlformats.org/presentationml/2006/ole">
            <mc:AlternateContent xmlns:mc="http://schemas.openxmlformats.org/markup-compatibility/2006">
              <mc:Choice xmlns:v="urn:schemas-microsoft-com:vml" Requires="v">
                <p:oleObj spid="_x0000_s164042" name="Equation" r:id="rId17" imgW="152280" imgH="190440" progId="Equation.DSMT4">
                  <p:embed/>
                </p:oleObj>
              </mc:Choice>
              <mc:Fallback>
                <p:oleObj name="Equation" r:id="rId17" imgW="152280" imgH="190440" progId="Equation.DSMT4">
                  <p:embed/>
                  <p:pic>
                    <p:nvPicPr>
                      <p:cNvPr id="0" name=""/>
                      <p:cNvPicPr/>
                      <p:nvPr/>
                    </p:nvPicPr>
                    <p:blipFill>
                      <a:blip r:embed="rId18"/>
                      <a:stretch>
                        <a:fillRect/>
                      </a:stretch>
                    </p:blipFill>
                    <p:spPr>
                      <a:xfrm>
                        <a:off x="923642" y="4684861"/>
                        <a:ext cx="368618" cy="460773"/>
                      </a:xfrm>
                      <a:prstGeom prst="rect">
                        <a:avLst/>
                      </a:prstGeom>
                    </p:spPr>
                  </p:pic>
                </p:oleObj>
              </mc:Fallback>
            </mc:AlternateContent>
          </a:graphicData>
        </a:graphic>
      </p:graphicFrame>
    </p:spTree>
    <p:extLst>
      <p:ext uri="{BB962C8B-B14F-4D97-AF65-F5344CB8AC3E}">
        <p14:creationId xmlns:p14="http://schemas.microsoft.com/office/powerpoint/2010/main" val="1757251327"/>
      </p:ext>
    </p:extLst>
  </p:cSld>
  <p:clrMapOvr>
    <a:masterClrMapping/>
  </p:clrMapOvr>
  <p:timing>
    <p:tnLst>
      <p:par>
        <p:cTn id="1" dur="indefinite" restart="never" nodeType="tmRoot"/>
      </p:par>
    </p:tnLst>
  </p:timing>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210</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6.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振幅调制</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与</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解调</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Text Box 88">
            <a:extLst>
              <a:ext uri="{FF2B5EF4-FFF2-40B4-BE49-F238E27FC236}">
                <a16:creationId xmlns="" xmlns:a16="http://schemas.microsoft.com/office/drawing/2014/main" id="{F20F9671-76D0-446D-B7CD-B71C049F841E}"/>
              </a:ext>
            </a:extLst>
          </p:cNvPr>
          <p:cNvSpPr txBox="1">
            <a:spLocks noChangeArrowheads="1"/>
          </p:cNvSpPr>
          <p:nvPr/>
        </p:nvSpPr>
        <p:spPr bwMode="auto">
          <a:xfrm>
            <a:off x="323850" y="1284581"/>
            <a:ext cx="328006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dirty="0">
                <a:solidFill>
                  <a:schemeClr val="tx1"/>
                </a:solidFill>
                <a:latin typeface="+mn-ea"/>
                <a:ea typeface="+mn-ea"/>
              </a:rPr>
              <a:t>2.</a:t>
            </a:r>
            <a:r>
              <a:rPr lang="zh-CN" altLang="en-US" sz="2400" dirty="0">
                <a:solidFill>
                  <a:schemeClr val="tx1"/>
                </a:solidFill>
                <a:latin typeface="+mn-ea"/>
                <a:ea typeface="+mn-ea"/>
              </a:rPr>
              <a:t>普通调幅波的波形图</a:t>
            </a:r>
          </a:p>
        </p:txBody>
      </p:sp>
      <p:graphicFrame>
        <p:nvGraphicFramePr>
          <p:cNvPr id="6" name="Object 48">
            <a:extLst>
              <a:ext uri="{FF2B5EF4-FFF2-40B4-BE49-F238E27FC236}">
                <a16:creationId xmlns="" xmlns:a16="http://schemas.microsoft.com/office/drawing/2014/main" id="{8C760276-8BB7-7415-00C5-C60CC07C92A1}"/>
              </a:ext>
            </a:extLst>
          </p:cNvPr>
          <p:cNvGraphicFramePr>
            <a:graphicFrameLocks/>
          </p:cNvGraphicFramePr>
          <p:nvPr>
            <p:extLst>
              <p:ext uri="{D42A27DB-BD31-4B8C-83A1-F6EECF244321}">
                <p14:modId xmlns:p14="http://schemas.microsoft.com/office/powerpoint/2010/main" val="2793545612"/>
              </p:ext>
            </p:extLst>
          </p:nvPr>
        </p:nvGraphicFramePr>
        <p:xfrm>
          <a:off x="4762555" y="1367979"/>
          <a:ext cx="4088304" cy="342901"/>
        </p:xfrm>
        <a:graphic>
          <a:graphicData uri="http://schemas.openxmlformats.org/presentationml/2006/ole">
            <mc:AlternateContent xmlns:mc="http://schemas.openxmlformats.org/markup-compatibility/2006">
              <mc:Choice xmlns:v="urn:schemas-microsoft-com:vml" Requires="v">
                <p:oleObj spid="_x0000_s164935" r:id="rId3" imgW="2019300" imgH="228600" progId="Equation.3">
                  <p:embed/>
                </p:oleObj>
              </mc:Choice>
              <mc:Fallback>
                <p:oleObj r:id="rId3" imgW="2019300" imgH="228600" progId="Equation.3">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62555" y="1367979"/>
                        <a:ext cx="4088304" cy="342901"/>
                      </a:xfrm>
                      <a:prstGeom prst="rect">
                        <a:avLst/>
                      </a:prstGeom>
                      <a:solidFill>
                        <a:srgbClr val="FFFF00"/>
                      </a:solidFill>
                      <a:ln>
                        <a:noFill/>
                      </a:ln>
                      <a:extLst/>
                    </p:spPr>
                  </p:pic>
                </p:oleObj>
              </mc:Fallback>
            </mc:AlternateContent>
          </a:graphicData>
        </a:graphic>
      </p:graphicFrame>
      <p:graphicFrame>
        <p:nvGraphicFramePr>
          <p:cNvPr id="7" name="Object 49">
            <a:extLst>
              <a:ext uri="{FF2B5EF4-FFF2-40B4-BE49-F238E27FC236}">
                <a16:creationId xmlns="" xmlns:a16="http://schemas.microsoft.com/office/drawing/2014/main" id="{48F350E3-E3ED-BF87-B672-0D87D5749466}"/>
              </a:ext>
            </a:extLst>
          </p:cNvPr>
          <p:cNvGraphicFramePr>
            <a:graphicFrameLocks/>
          </p:cNvGraphicFramePr>
          <p:nvPr>
            <p:extLst>
              <p:ext uri="{D42A27DB-BD31-4B8C-83A1-F6EECF244321}">
                <p14:modId xmlns:p14="http://schemas.microsoft.com/office/powerpoint/2010/main" val="2088069025"/>
              </p:ext>
            </p:extLst>
          </p:nvPr>
        </p:nvGraphicFramePr>
        <p:xfrm>
          <a:off x="562473" y="1835214"/>
          <a:ext cx="3429000" cy="381000"/>
        </p:xfrm>
        <a:graphic>
          <a:graphicData uri="http://schemas.openxmlformats.org/presentationml/2006/ole">
            <mc:AlternateContent xmlns:mc="http://schemas.openxmlformats.org/markup-compatibility/2006">
              <mc:Choice xmlns:v="urn:schemas-microsoft-com:vml" Requires="v">
                <p:oleObj spid="_x0000_s164936" r:id="rId5" imgW="1689100" imgH="228600" progId="Equation.3">
                  <p:embed/>
                </p:oleObj>
              </mc:Choice>
              <mc:Fallback>
                <p:oleObj r:id="rId5" imgW="1689100" imgH="228600" progId="Equation.3">
                  <p:embed/>
                  <p:pic>
                    <p:nvPicPr>
                      <p:cNvPr id="0" name=""/>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2473" y="1835214"/>
                        <a:ext cx="3429000" cy="381000"/>
                      </a:xfrm>
                      <a:prstGeom prst="rect">
                        <a:avLst/>
                      </a:prstGeom>
                      <a:solidFill>
                        <a:srgbClr val="FFFF66"/>
                      </a:solidFill>
                      <a:ln>
                        <a:noFill/>
                      </a:ln>
                      <a:extLst/>
                    </p:spPr>
                  </p:pic>
                </p:oleObj>
              </mc:Fallback>
            </mc:AlternateContent>
          </a:graphicData>
        </a:graphic>
      </p:graphicFrame>
      <p:graphicFrame>
        <p:nvGraphicFramePr>
          <p:cNvPr id="8" name="Object 87">
            <a:extLst>
              <a:ext uri="{FF2B5EF4-FFF2-40B4-BE49-F238E27FC236}">
                <a16:creationId xmlns="" xmlns:a16="http://schemas.microsoft.com/office/drawing/2014/main" id="{3D179C79-E998-FA61-0A6D-A07BFAA1298F}"/>
              </a:ext>
            </a:extLst>
          </p:cNvPr>
          <p:cNvGraphicFramePr>
            <a:graphicFrameLocks/>
          </p:cNvGraphicFramePr>
          <p:nvPr>
            <p:extLst>
              <p:ext uri="{D42A27DB-BD31-4B8C-83A1-F6EECF244321}">
                <p14:modId xmlns:p14="http://schemas.microsoft.com/office/powerpoint/2010/main" val="1542664203"/>
              </p:ext>
            </p:extLst>
          </p:nvPr>
        </p:nvGraphicFramePr>
        <p:xfrm>
          <a:off x="323850" y="4646511"/>
          <a:ext cx="4105477" cy="846373"/>
        </p:xfrm>
        <a:graphic>
          <a:graphicData uri="http://schemas.openxmlformats.org/presentationml/2006/ole">
            <mc:AlternateContent xmlns:mc="http://schemas.openxmlformats.org/markup-compatibility/2006">
              <mc:Choice xmlns:v="urn:schemas-microsoft-com:vml" Requires="v">
                <p:oleObj spid="_x0000_s164937" r:id="rId7" imgW="2781300" imgH="596900" progId="Equation.3">
                  <p:embed/>
                </p:oleObj>
              </mc:Choice>
              <mc:Fallback>
                <p:oleObj r:id="rId7" imgW="2781300" imgH="596900" progId="Equation.3">
                  <p:embed/>
                  <p:pic>
                    <p:nvPicPr>
                      <p:cNvPr id="0" name=""/>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3850" y="4646511"/>
                        <a:ext cx="4105477" cy="846373"/>
                      </a:xfrm>
                      <a:prstGeom prst="rect">
                        <a:avLst/>
                      </a:prstGeom>
                      <a:solidFill>
                        <a:srgbClr val="FFFF00"/>
                      </a:solidFill>
                      <a:ln>
                        <a:noFill/>
                      </a:ln>
                      <a:extLst/>
                    </p:spPr>
                  </p:pic>
                </p:oleObj>
              </mc:Fallback>
            </mc:AlternateContent>
          </a:graphicData>
        </a:graphic>
      </p:graphicFrame>
      <p:pic>
        <p:nvPicPr>
          <p:cNvPr id="9" name="图片 8">
            <a:extLst>
              <a:ext uri="{FF2B5EF4-FFF2-40B4-BE49-F238E27FC236}">
                <a16:creationId xmlns="" xmlns:a16="http://schemas.microsoft.com/office/drawing/2014/main" id="{F6D0F029-4261-7E22-148F-A34F589C7545}"/>
              </a:ext>
            </a:extLst>
          </p:cNvPr>
          <p:cNvPicPr>
            <a:picLocks noChangeAspect="1"/>
          </p:cNvPicPr>
          <p:nvPr/>
        </p:nvPicPr>
        <p:blipFill>
          <a:blip r:embed="rId9"/>
          <a:stretch>
            <a:fillRect/>
          </a:stretch>
        </p:blipFill>
        <p:spPr>
          <a:xfrm>
            <a:off x="562473" y="2230468"/>
            <a:ext cx="3684308" cy="2474266"/>
          </a:xfrm>
          <a:prstGeom prst="rect">
            <a:avLst/>
          </a:prstGeom>
        </p:spPr>
      </p:pic>
      <p:pic>
        <p:nvPicPr>
          <p:cNvPr id="10" name="图片 9">
            <a:extLst>
              <a:ext uri="{FF2B5EF4-FFF2-40B4-BE49-F238E27FC236}">
                <a16:creationId xmlns="" xmlns:a16="http://schemas.microsoft.com/office/drawing/2014/main" id="{A7190A9E-6E95-3AD5-B137-FEC7B7A5C56F}"/>
              </a:ext>
            </a:extLst>
          </p:cNvPr>
          <p:cNvPicPr>
            <a:picLocks noChangeAspect="1"/>
          </p:cNvPicPr>
          <p:nvPr/>
        </p:nvPicPr>
        <p:blipFill>
          <a:blip r:embed="rId10"/>
          <a:stretch>
            <a:fillRect/>
          </a:stretch>
        </p:blipFill>
        <p:spPr>
          <a:xfrm>
            <a:off x="5350263" y="1777415"/>
            <a:ext cx="2912888" cy="4129476"/>
          </a:xfrm>
          <a:prstGeom prst="rect">
            <a:avLst/>
          </a:prstGeom>
        </p:spPr>
      </p:pic>
      <p:pic>
        <p:nvPicPr>
          <p:cNvPr id="11" name="图片 10"/>
          <p:cNvPicPr>
            <a:picLocks noChangeAspect="1"/>
          </p:cNvPicPr>
          <p:nvPr/>
        </p:nvPicPr>
        <p:blipFill>
          <a:blip r:embed="rId11">
            <a:clrChange>
              <a:clrFrom>
                <a:srgbClr val="FFFFFF"/>
              </a:clrFrom>
              <a:clrTo>
                <a:srgbClr val="FFFFFF">
                  <a:alpha val="0"/>
                </a:srgbClr>
              </a:clrTo>
            </a:clrChange>
          </a:blip>
          <a:stretch>
            <a:fillRect/>
          </a:stretch>
        </p:blipFill>
        <p:spPr>
          <a:xfrm>
            <a:off x="1106521" y="5507138"/>
            <a:ext cx="4101019" cy="1280365"/>
          </a:xfrm>
          <a:prstGeom prst="rect">
            <a:avLst/>
          </a:prstGeom>
        </p:spPr>
      </p:pic>
    </p:spTree>
    <p:extLst>
      <p:ext uri="{BB962C8B-B14F-4D97-AF65-F5344CB8AC3E}">
        <p14:creationId xmlns:p14="http://schemas.microsoft.com/office/powerpoint/2010/main" val="84639519"/>
      </p:ext>
    </p:extLst>
  </p:cSld>
  <p:clrMapOvr>
    <a:masterClrMapping/>
  </p:clrMapOvr>
  <p:timing>
    <p:tnLst>
      <p:par>
        <p:cTn id="1" dur="indefinite" restart="never" nodeType="tmRoot"/>
      </p:par>
    </p:tnLst>
  </p:timing>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211</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6.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振幅调制</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与</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解调</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Text Box 3">
            <a:extLst>
              <a:ext uri="{FF2B5EF4-FFF2-40B4-BE49-F238E27FC236}">
                <a16:creationId xmlns="" xmlns:a16="http://schemas.microsoft.com/office/drawing/2014/main" id="{3D79CF5B-5699-6902-F76C-087EA8CA320D}"/>
              </a:ext>
            </a:extLst>
          </p:cNvPr>
          <p:cNvSpPr txBox="1">
            <a:spLocks noChangeArrowheads="1"/>
          </p:cNvSpPr>
          <p:nvPr/>
        </p:nvSpPr>
        <p:spPr bwMode="auto">
          <a:xfrm>
            <a:off x="536161" y="1268760"/>
            <a:ext cx="358944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dirty="0">
                <a:solidFill>
                  <a:schemeClr val="tx1"/>
                </a:solidFill>
                <a:latin typeface="Times New Roman" panose="02020603050405020304" pitchFamily="18" charset="0"/>
                <a:cs typeface="Times New Roman" panose="02020603050405020304" pitchFamily="18" charset="0"/>
              </a:rPr>
              <a:t>3.</a:t>
            </a:r>
            <a:r>
              <a:rPr lang="zh-CN" altLang="en-US" sz="2400" dirty="0">
                <a:solidFill>
                  <a:schemeClr val="tx1"/>
                </a:solidFill>
                <a:latin typeface="Times New Roman" panose="02020603050405020304" pitchFamily="18" charset="0"/>
                <a:cs typeface="Times New Roman" panose="02020603050405020304" pitchFamily="18" charset="0"/>
              </a:rPr>
              <a:t>调幅信号的频谱及带宽</a:t>
            </a:r>
          </a:p>
        </p:txBody>
      </p:sp>
      <p:sp>
        <p:nvSpPr>
          <p:cNvPr id="6" name="Text Box 4">
            <a:extLst>
              <a:ext uri="{FF2B5EF4-FFF2-40B4-BE49-F238E27FC236}">
                <a16:creationId xmlns="" xmlns:a16="http://schemas.microsoft.com/office/drawing/2014/main" id="{DF46B3C3-4FE5-BE39-D43D-E083FB83D7A1}"/>
              </a:ext>
            </a:extLst>
          </p:cNvPr>
          <p:cNvSpPr txBox="1">
            <a:spLocks noChangeArrowheads="1"/>
          </p:cNvSpPr>
          <p:nvPr/>
        </p:nvSpPr>
        <p:spPr bwMode="auto">
          <a:xfrm>
            <a:off x="827584" y="1737148"/>
            <a:ext cx="43148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将调幅波的数学表达式展开，可得到</a:t>
            </a:r>
          </a:p>
        </p:txBody>
      </p:sp>
      <p:grpSp>
        <p:nvGrpSpPr>
          <p:cNvPr id="7" name="Group 5">
            <a:extLst>
              <a:ext uri="{FF2B5EF4-FFF2-40B4-BE49-F238E27FC236}">
                <a16:creationId xmlns="" xmlns:a16="http://schemas.microsoft.com/office/drawing/2014/main" id="{BF0D2A03-CB47-A0BA-1512-8A80A085F87B}"/>
              </a:ext>
            </a:extLst>
          </p:cNvPr>
          <p:cNvGrpSpPr>
            <a:grpSpLocks/>
          </p:cNvGrpSpPr>
          <p:nvPr/>
        </p:nvGrpSpPr>
        <p:grpSpPr bwMode="auto">
          <a:xfrm>
            <a:off x="899592" y="2195120"/>
            <a:ext cx="6705600" cy="914400"/>
            <a:chOff x="816" y="1056"/>
            <a:chExt cx="2400" cy="336"/>
          </a:xfrm>
        </p:grpSpPr>
        <p:graphicFrame>
          <p:nvGraphicFramePr>
            <p:cNvPr id="8" name="Object 6">
              <a:extLst>
                <a:ext uri="{FF2B5EF4-FFF2-40B4-BE49-F238E27FC236}">
                  <a16:creationId xmlns="" xmlns:a16="http://schemas.microsoft.com/office/drawing/2014/main" id="{22947842-50A2-84CE-40C2-FBC5F46D3C68}"/>
                </a:ext>
              </a:extLst>
            </p:cNvPr>
            <p:cNvGraphicFramePr>
              <a:graphicFrameLocks/>
            </p:cNvGraphicFramePr>
            <p:nvPr/>
          </p:nvGraphicFramePr>
          <p:xfrm>
            <a:off x="816" y="1056"/>
            <a:ext cx="1216" cy="144"/>
          </p:xfrm>
          <a:graphic>
            <a:graphicData uri="http://schemas.openxmlformats.org/presentationml/2006/ole">
              <mc:AlternateContent xmlns:mc="http://schemas.openxmlformats.org/markup-compatibility/2006">
                <mc:Choice xmlns:v="urn:schemas-microsoft-com:vml" Requires="v">
                  <p:oleObj spid="_x0000_s165961" r:id="rId3" imgW="1930400" imgH="228600" progId="Equation.3">
                    <p:embed/>
                  </p:oleObj>
                </mc:Choice>
                <mc:Fallback>
                  <p:oleObj r:id="rId3" imgW="1930400" imgH="228600" progId="Equation.3">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6" y="1056"/>
                          <a:ext cx="1216"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9" name="Object 7">
              <a:extLst>
                <a:ext uri="{FF2B5EF4-FFF2-40B4-BE49-F238E27FC236}">
                  <a16:creationId xmlns="" xmlns:a16="http://schemas.microsoft.com/office/drawing/2014/main" id="{BC5C7E54-C09D-9682-9A12-9439193E8F95}"/>
                </a:ext>
              </a:extLst>
            </p:cNvPr>
            <p:cNvGraphicFramePr>
              <a:graphicFrameLocks/>
            </p:cNvGraphicFramePr>
            <p:nvPr>
              <p:extLst>
                <p:ext uri="{D42A27DB-BD31-4B8C-83A1-F6EECF244321}">
                  <p14:modId xmlns:p14="http://schemas.microsoft.com/office/powerpoint/2010/main" val="1451998060"/>
                </p:ext>
              </p:extLst>
            </p:nvPr>
          </p:nvGraphicFramePr>
          <p:xfrm>
            <a:off x="984" y="1145"/>
            <a:ext cx="2232" cy="247"/>
          </p:xfrm>
          <a:graphic>
            <a:graphicData uri="http://schemas.openxmlformats.org/presentationml/2006/ole">
              <mc:AlternateContent xmlns:mc="http://schemas.openxmlformats.org/markup-compatibility/2006">
                <mc:Choice xmlns:v="urn:schemas-microsoft-com:vml" Requires="v">
                  <p:oleObj spid="_x0000_s165962" r:id="rId5" imgW="3541763" imgH="393529" progId="Equation.3">
                    <p:embed/>
                  </p:oleObj>
                </mc:Choice>
                <mc:Fallback>
                  <p:oleObj r:id="rId5" imgW="3541763" imgH="393529" progId="Equation.3">
                    <p:embed/>
                    <p:pic>
                      <p:nvPicPr>
                        <p:cNvPr id="0" name=""/>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84" y="1145"/>
                          <a:ext cx="2232" cy="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pic>
        <p:nvPicPr>
          <p:cNvPr id="10" name="图片 9">
            <a:extLst>
              <a:ext uri="{FF2B5EF4-FFF2-40B4-BE49-F238E27FC236}">
                <a16:creationId xmlns="" xmlns:a16="http://schemas.microsoft.com/office/drawing/2014/main" id="{DEE71983-D78E-B962-3314-91BB8FF875D1}"/>
              </a:ext>
            </a:extLst>
          </p:cNvPr>
          <p:cNvPicPr>
            <a:picLocks noChangeAspect="1"/>
          </p:cNvPicPr>
          <p:nvPr/>
        </p:nvPicPr>
        <p:blipFill>
          <a:blip r:embed="rId7"/>
          <a:stretch>
            <a:fillRect/>
          </a:stretch>
        </p:blipFill>
        <p:spPr>
          <a:xfrm>
            <a:off x="746575" y="3586264"/>
            <a:ext cx="6521723" cy="3353726"/>
          </a:xfrm>
          <a:prstGeom prst="rect">
            <a:avLst/>
          </a:prstGeom>
        </p:spPr>
      </p:pic>
      <p:graphicFrame>
        <p:nvGraphicFramePr>
          <p:cNvPr id="11" name="Object 9">
            <a:extLst>
              <a:ext uri="{FF2B5EF4-FFF2-40B4-BE49-F238E27FC236}">
                <a16:creationId xmlns="" xmlns:a16="http://schemas.microsoft.com/office/drawing/2014/main" id="{C79636F7-4811-8625-B419-86246432188E}"/>
              </a:ext>
            </a:extLst>
          </p:cNvPr>
          <p:cNvGraphicFramePr>
            <a:graphicFrameLocks/>
          </p:cNvGraphicFramePr>
          <p:nvPr>
            <p:extLst>
              <p:ext uri="{D42A27DB-BD31-4B8C-83A1-F6EECF244321}">
                <p14:modId xmlns:p14="http://schemas.microsoft.com/office/powerpoint/2010/main" val="4268717148"/>
              </p:ext>
            </p:extLst>
          </p:nvPr>
        </p:nvGraphicFramePr>
        <p:xfrm>
          <a:off x="4100061" y="3109520"/>
          <a:ext cx="4829498" cy="1157680"/>
        </p:xfrm>
        <a:graphic>
          <a:graphicData uri="http://schemas.openxmlformats.org/presentationml/2006/ole">
            <mc:AlternateContent xmlns:mc="http://schemas.openxmlformats.org/markup-compatibility/2006">
              <mc:Choice xmlns:v="urn:schemas-microsoft-com:vml" Requires="v">
                <p:oleObj spid="_x0000_s165963" r:id="rId8" imgW="2222500" imgH="736600" progId="Equation.3">
                  <p:embed/>
                </p:oleObj>
              </mc:Choice>
              <mc:Fallback>
                <p:oleObj r:id="rId8" imgW="2222500" imgH="736600" progId="Equation.3">
                  <p:embed/>
                  <p:pic>
                    <p:nvPicPr>
                      <p:cNvPr id="0" name=""/>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100061" y="3109520"/>
                        <a:ext cx="4829498" cy="1157680"/>
                      </a:xfrm>
                      <a:prstGeom prst="rect">
                        <a:avLst/>
                      </a:prstGeom>
                      <a:noFill/>
                      <a:ln>
                        <a:noFill/>
                      </a:ln>
                      <a:extLst/>
                    </p:spPr>
                  </p:pic>
                </p:oleObj>
              </mc:Fallback>
            </mc:AlternateContent>
          </a:graphicData>
        </a:graphic>
      </p:graphicFrame>
      <p:sp>
        <p:nvSpPr>
          <p:cNvPr id="12" name="矩形 11"/>
          <p:cNvSpPr/>
          <p:nvPr/>
        </p:nvSpPr>
        <p:spPr>
          <a:xfrm>
            <a:off x="6241710" y="4532716"/>
            <a:ext cx="2865811" cy="1323439"/>
          </a:xfrm>
          <a:prstGeom prst="rect">
            <a:avLst/>
          </a:prstGeom>
        </p:spPr>
        <p:txBody>
          <a:bodyPr wrap="square">
            <a:spAutoFit/>
          </a:bodyPr>
          <a:lstStyle/>
          <a:p>
            <a:r>
              <a:rPr lang="zh-CN" altLang="en-US" sz="2000" dirty="0">
                <a:latin typeface="+mn-ea"/>
              </a:rPr>
              <a:t>对于单音信号调制已调幅波，从频谱图上可知其占据的</a:t>
            </a:r>
            <a:r>
              <a:rPr lang="zh-CN" altLang="en-US" sz="2000" dirty="0" smtClean="0">
                <a:latin typeface="+mn-ea"/>
              </a:rPr>
              <a:t>频带宽度 </a:t>
            </a:r>
            <a:r>
              <a:rPr lang="en-US" altLang="zh-CN" sz="2000" dirty="0">
                <a:latin typeface="Times New Roman" panose="02020603050405020304" pitchFamily="18" charset="0"/>
                <a:cs typeface="Times New Roman" panose="02020603050405020304" pitchFamily="18" charset="0"/>
              </a:rPr>
              <a:t>B=2</a:t>
            </a:r>
            <a:r>
              <a:rPr lang="en-US" altLang="zh-CN" sz="2000" dirty="0">
                <a:latin typeface="Times New Roman" panose="02020603050405020304" pitchFamily="18" charset="0"/>
                <a:cs typeface="Times New Roman" panose="02020603050405020304" pitchFamily="18" charset="0"/>
                <a:sym typeface="Symbol" panose="05050102010706020507" pitchFamily="18" charset="2"/>
              </a:rPr>
              <a:t>  </a:t>
            </a:r>
            <a:r>
              <a:rPr lang="zh-CN" altLang="en-US" sz="2000" dirty="0">
                <a:latin typeface="Times New Roman" panose="02020603050405020304" pitchFamily="18" charset="0"/>
                <a:cs typeface="Times New Roman" panose="02020603050405020304" pitchFamily="18" charset="0"/>
              </a:rPr>
              <a:t>或  </a:t>
            </a:r>
            <a:r>
              <a:rPr lang="en-US" altLang="zh-CN" sz="2000" dirty="0">
                <a:latin typeface="Times New Roman" panose="02020603050405020304" pitchFamily="18" charset="0"/>
                <a:cs typeface="Times New Roman" panose="02020603050405020304" pitchFamily="18" charset="0"/>
              </a:rPr>
              <a:t>B=2F (</a:t>
            </a:r>
            <a:r>
              <a:rPr lang="en-US" altLang="zh-CN" sz="20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000" dirty="0">
                <a:latin typeface="Times New Roman" panose="02020603050405020304" pitchFamily="18" charset="0"/>
                <a:cs typeface="Times New Roman" panose="02020603050405020304" pitchFamily="18" charset="0"/>
              </a:rPr>
              <a:t>=2</a:t>
            </a:r>
            <a:r>
              <a:rPr lang="en-US" altLang="zh-CN" sz="20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000" dirty="0">
                <a:latin typeface="Times New Roman" panose="02020603050405020304" pitchFamily="18" charset="0"/>
                <a:cs typeface="Times New Roman" panose="02020603050405020304" pitchFamily="18" charset="0"/>
              </a:rPr>
              <a:t>F)</a:t>
            </a:r>
            <a:endParaRPr lang="zh-CN" altLang="en-US" sz="2000" dirty="0"/>
          </a:p>
        </p:txBody>
      </p:sp>
    </p:spTree>
    <p:extLst>
      <p:ext uri="{BB962C8B-B14F-4D97-AF65-F5344CB8AC3E}">
        <p14:creationId xmlns:p14="http://schemas.microsoft.com/office/powerpoint/2010/main" val="1857622825"/>
      </p:ext>
    </p:extLst>
  </p:cSld>
  <p:clrMapOvr>
    <a:masterClrMapping/>
  </p:clrMapOvr>
  <p:timing>
    <p:tnLst>
      <p:par>
        <p:cTn id="1" dur="indefinite" restart="never" nodeType="tmRoot"/>
      </p:par>
    </p:tnLst>
  </p:timing>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212</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6.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振幅调制</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与</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解调</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Rectangle 7">
            <a:extLst>
              <a:ext uri="{FF2B5EF4-FFF2-40B4-BE49-F238E27FC236}">
                <a16:creationId xmlns="" xmlns:a16="http://schemas.microsoft.com/office/drawing/2014/main" id="{C4D35796-CC86-AF52-00C2-5622A34A84A9}"/>
              </a:ext>
            </a:extLst>
          </p:cNvPr>
          <p:cNvSpPr>
            <a:spLocks noChangeArrowheads="1"/>
          </p:cNvSpPr>
          <p:nvPr/>
        </p:nvSpPr>
        <p:spPr bwMode="auto">
          <a:xfrm>
            <a:off x="172343" y="2473377"/>
            <a:ext cx="530037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square">
            <a:spAutoFit/>
          </a:bodyPr>
          <a:lstStyle/>
          <a:p>
            <a:pPr algn="just" eaLnBrk="1">
              <a:spcBef>
                <a:spcPct val="50000"/>
              </a:spcBef>
            </a:pPr>
            <a:r>
              <a:rPr lang="zh-CN" altLang="en-US" sz="2000" dirty="0" smtClean="0">
                <a:latin typeface="Times New Roman" panose="02020603050405020304" pitchFamily="18" charset="0"/>
                <a:ea typeface="宋体" panose="02010600030101010101" pitchFamily="2" charset="-122"/>
              </a:rPr>
              <a:t>如果</a:t>
            </a:r>
            <a:r>
              <a:rPr lang="zh-CN" altLang="en-US" sz="2000" dirty="0">
                <a:latin typeface="Times New Roman" panose="02020603050405020304" pitchFamily="18" charset="0"/>
                <a:ea typeface="宋体" panose="02010600030101010101" pitchFamily="2" charset="-122"/>
              </a:rPr>
              <a:t>将普通调幅波输送功率至电阻</a:t>
            </a:r>
            <a:r>
              <a:rPr lang="en-US" altLang="zh-CN" sz="2000" dirty="0">
                <a:latin typeface="Times New Roman" panose="02020603050405020304" pitchFamily="18" charset="0"/>
                <a:ea typeface="宋体" panose="02010600030101010101" pitchFamily="2" charset="-122"/>
              </a:rPr>
              <a:t>R</a:t>
            </a:r>
            <a:r>
              <a:rPr lang="zh-CN" altLang="en-US" sz="2000" dirty="0">
                <a:latin typeface="Times New Roman" panose="02020603050405020304" pitchFamily="18" charset="0"/>
                <a:ea typeface="宋体" panose="02010600030101010101" pitchFamily="2" charset="-122"/>
              </a:rPr>
              <a:t>上，则载波与两个边频将分别得出如下的功率：</a:t>
            </a:r>
          </a:p>
        </p:txBody>
      </p:sp>
      <p:grpSp>
        <p:nvGrpSpPr>
          <p:cNvPr id="6" name="Group 8">
            <a:extLst>
              <a:ext uri="{FF2B5EF4-FFF2-40B4-BE49-F238E27FC236}">
                <a16:creationId xmlns="" xmlns:a16="http://schemas.microsoft.com/office/drawing/2014/main" id="{D5F2F368-A22B-45C7-CB10-C68B565F17C2}"/>
              </a:ext>
            </a:extLst>
          </p:cNvPr>
          <p:cNvGrpSpPr>
            <a:grpSpLocks/>
          </p:cNvGrpSpPr>
          <p:nvPr/>
        </p:nvGrpSpPr>
        <p:grpSpPr bwMode="auto">
          <a:xfrm>
            <a:off x="5618997" y="1661385"/>
            <a:ext cx="3154362" cy="2184400"/>
            <a:chOff x="2858" y="2437"/>
            <a:chExt cx="1337" cy="1084"/>
          </a:xfrm>
        </p:grpSpPr>
        <p:sp>
          <p:nvSpPr>
            <p:cNvPr id="7" name="AutoShape 9" descr="羊皮纸">
              <a:extLst>
                <a:ext uri="{FF2B5EF4-FFF2-40B4-BE49-F238E27FC236}">
                  <a16:creationId xmlns="" xmlns:a16="http://schemas.microsoft.com/office/drawing/2014/main" id="{29AA28E3-21AA-483E-11A7-B996F3522206}"/>
                </a:ext>
              </a:extLst>
            </p:cNvPr>
            <p:cNvSpPr>
              <a:spLocks noChangeArrowheads="1"/>
            </p:cNvSpPr>
            <p:nvPr/>
          </p:nvSpPr>
          <p:spPr bwMode="auto">
            <a:xfrm>
              <a:off x="2858" y="2444"/>
              <a:ext cx="1337" cy="1074"/>
            </a:xfrm>
            <a:prstGeom prst="roundRect">
              <a:avLst>
                <a:gd name="adj" fmla="val 16667"/>
              </a:avLst>
            </a:prstGeom>
            <a:blipFill dpi="0" rotWithShape="0">
              <a:blip r:embed="rId3"/>
              <a:srcRect/>
              <a:tile tx="0" ty="0" sx="100000" sy="100000" flip="none" algn="tl"/>
            </a:blip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a:p>
          </p:txBody>
        </p:sp>
        <p:grpSp>
          <p:nvGrpSpPr>
            <p:cNvPr id="8" name="Group 10">
              <a:extLst>
                <a:ext uri="{FF2B5EF4-FFF2-40B4-BE49-F238E27FC236}">
                  <a16:creationId xmlns="" xmlns:a16="http://schemas.microsoft.com/office/drawing/2014/main" id="{474FD541-17D2-1637-7FB3-6B3900C27B54}"/>
                </a:ext>
              </a:extLst>
            </p:cNvPr>
            <p:cNvGrpSpPr>
              <a:grpSpLocks/>
            </p:cNvGrpSpPr>
            <p:nvPr/>
          </p:nvGrpSpPr>
          <p:grpSpPr bwMode="auto">
            <a:xfrm>
              <a:off x="2864" y="2437"/>
              <a:ext cx="1201" cy="1084"/>
              <a:chOff x="2864" y="2437"/>
              <a:chExt cx="1201" cy="1084"/>
            </a:xfrm>
          </p:grpSpPr>
          <p:sp>
            <p:nvSpPr>
              <p:cNvPr id="9" name="Rectangle 11">
                <a:extLst>
                  <a:ext uri="{FF2B5EF4-FFF2-40B4-BE49-F238E27FC236}">
                    <a16:creationId xmlns="" xmlns:a16="http://schemas.microsoft.com/office/drawing/2014/main" id="{3936E78D-047B-CF95-BF32-4B0B3F3DC31C}"/>
                  </a:ext>
                </a:extLst>
              </p:cNvPr>
              <p:cNvSpPr>
                <a:spLocks noChangeArrowheads="1"/>
              </p:cNvSpPr>
              <p:nvPr/>
            </p:nvSpPr>
            <p:spPr bwMode="auto">
              <a:xfrm>
                <a:off x="2864" y="3209"/>
                <a:ext cx="250"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 name="Rectangle 12">
                <a:extLst>
                  <a:ext uri="{FF2B5EF4-FFF2-40B4-BE49-F238E27FC236}">
                    <a16:creationId xmlns="" xmlns:a16="http://schemas.microsoft.com/office/drawing/2014/main" id="{09C8EDBC-BE9B-5E2B-7480-5CCB9DEAE0A2}"/>
                  </a:ext>
                </a:extLst>
              </p:cNvPr>
              <p:cNvSpPr>
                <a:spLocks noChangeArrowheads="1"/>
              </p:cNvSpPr>
              <p:nvPr/>
            </p:nvSpPr>
            <p:spPr bwMode="auto">
              <a:xfrm>
                <a:off x="3950" y="3237"/>
                <a:ext cx="113" cy="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100" b="0" i="1">
                    <a:solidFill>
                      <a:schemeClr val="accent2"/>
                    </a:solidFill>
                    <a:latin typeface="Times New Roman" panose="02020603050405020304" pitchFamily="18" charset="0"/>
                    <a:ea typeface="宋体" panose="02010600030101010101" pitchFamily="2" charset="-122"/>
                  </a:rPr>
                  <a:t>ω</a:t>
                </a:r>
                <a:endParaRPr lang="en-US" altLang="zh-CN" sz="2000" b="0">
                  <a:solidFill>
                    <a:schemeClr val="accent2"/>
                  </a:solidFill>
                  <a:latin typeface="Times New Roman" panose="02020603050405020304" pitchFamily="18" charset="0"/>
                  <a:ea typeface="宋体" panose="02010600030101010101" pitchFamily="2" charset="-122"/>
                </a:endParaRPr>
              </a:p>
            </p:txBody>
          </p:sp>
          <p:sp>
            <p:nvSpPr>
              <p:cNvPr id="11" name="Line 13">
                <a:extLst>
                  <a:ext uri="{FF2B5EF4-FFF2-40B4-BE49-F238E27FC236}">
                    <a16:creationId xmlns="" xmlns:a16="http://schemas.microsoft.com/office/drawing/2014/main" id="{B427C5FF-203F-E41D-751F-1DA73B377A88}"/>
                  </a:ext>
                </a:extLst>
              </p:cNvPr>
              <p:cNvSpPr>
                <a:spLocks noChangeShapeType="1"/>
              </p:cNvSpPr>
              <p:nvPr/>
            </p:nvSpPr>
            <p:spPr bwMode="auto">
              <a:xfrm flipV="1">
                <a:off x="2997" y="3244"/>
                <a:ext cx="1068" cy="8"/>
              </a:xfrm>
              <a:prstGeom prst="line">
                <a:avLst/>
              </a:prstGeom>
              <a:noFill/>
              <a:ln w="15875">
                <a:solidFill>
                  <a:srgbClr val="000000"/>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12" name="Line 14">
                <a:extLst>
                  <a:ext uri="{FF2B5EF4-FFF2-40B4-BE49-F238E27FC236}">
                    <a16:creationId xmlns="" xmlns:a16="http://schemas.microsoft.com/office/drawing/2014/main" id="{949D6BEB-B73C-7444-A64D-C4E9916DE808}"/>
                  </a:ext>
                </a:extLst>
              </p:cNvPr>
              <p:cNvSpPr>
                <a:spLocks noChangeShapeType="1"/>
              </p:cNvSpPr>
              <p:nvPr/>
            </p:nvSpPr>
            <p:spPr bwMode="auto">
              <a:xfrm flipV="1">
                <a:off x="3000" y="2505"/>
                <a:ext cx="0" cy="755"/>
              </a:xfrm>
              <a:prstGeom prst="line">
                <a:avLst/>
              </a:prstGeom>
              <a:noFill/>
              <a:ln w="12700">
                <a:solidFill>
                  <a:schemeClr val="tx1"/>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13" name="Rectangle 15">
                <a:extLst>
                  <a:ext uri="{FF2B5EF4-FFF2-40B4-BE49-F238E27FC236}">
                    <a16:creationId xmlns="" xmlns:a16="http://schemas.microsoft.com/office/drawing/2014/main" id="{E3B78827-BC00-4D56-0B2F-177079DEECBD}"/>
                  </a:ext>
                </a:extLst>
              </p:cNvPr>
              <p:cNvSpPr>
                <a:spLocks noChangeArrowheads="1"/>
              </p:cNvSpPr>
              <p:nvPr/>
            </p:nvSpPr>
            <p:spPr bwMode="auto">
              <a:xfrm>
                <a:off x="2911" y="3210"/>
                <a:ext cx="135"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p>
                <a:pPr>
                  <a:spcBef>
                    <a:spcPct val="50000"/>
                  </a:spcBef>
                </a:pPr>
                <a:r>
                  <a:rPr lang="en-US" altLang="zh-CN" sz="2100" b="0" i="1">
                    <a:solidFill>
                      <a:schemeClr val="accent2"/>
                    </a:solidFill>
                    <a:latin typeface="Times New Roman" panose="02020603050405020304" pitchFamily="18" charset="0"/>
                    <a:ea typeface="宋体" panose="02010600030101010101" pitchFamily="2" charset="-122"/>
                  </a:rPr>
                  <a:t>0</a:t>
                </a:r>
              </a:p>
            </p:txBody>
          </p:sp>
          <p:sp>
            <p:nvSpPr>
              <p:cNvPr id="14" name="Rectangle 16">
                <a:extLst>
                  <a:ext uri="{FF2B5EF4-FFF2-40B4-BE49-F238E27FC236}">
                    <a16:creationId xmlns="" xmlns:a16="http://schemas.microsoft.com/office/drawing/2014/main" id="{C17C5DE2-4B96-4CEC-50FE-B4AF19EB93F5}"/>
                  </a:ext>
                </a:extLst>
              </p:cNvPr>
              <p:cNvSpPr>
                <a:spLocks noChangeArrowheads="1"/>
              </p:cNvSpPr>
              <p:nvPr/>
            </p:nvSpPr>
            <p:spPr bwMode="auto">
              <a:xfrm>
                <a:off x="3316" y="2995"/>
                <a:ext cx="20" cy="25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5" name="Rectangle 17">
                <a:extLst>
                  <a:ext uri="{FF2B5EF4-FFF2-40B4-BE49-F238E27FC236}">
                    <a16:creationId xmlns="" xmlns:a16="http://schemas.microsoft.com/office/drawing/2014/main" id="{73E120DF-E591-1FB5-5A4C-8439953BD8E1}"/>
                  </a:ext>
                </a:extLst>
              </p:cNvPr>
              <p:cNvSpPr>
                <a:spLocks noChangeArrowheads="1"/>
              </p:cNvSpPr>
              <p:nvPr/>
            </p:nvSpPr>
            <p:spPr bwMode="auto">
              <a:xfrm>
                <a:off x="3703" y="2995"/>
                <a:ext cx="20" cy="25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6" name="Rectangle 18">
                <a:extLst>
                  <a:ext uri="{FF2B5EF4-FFF2-40B4-BE49-F238E27FC236}">
                    <a16:creationId xmlns="" xmlns:a16="http://schemas.microsoft.com/office/drawing/2014/main" id="{854A25B7-3662-2344-7ADA-D40AC4BE2A07}"/>
                  </a:ext>
                </a:extLst>
              </p:cNvPr>
              <p:cNvSpPr>
                <a:spLocks noChangeArrowheads="1"/>
              </p:cNvSpPr>
              <p:nvPr/>
            </p:nvSpPr>
            <p:spPr bwMode="auto">
              <a:xfrm>
                <a:off x="3386" y="3218"/>
                <a:ext cx="250"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17" name="Object 19">
                <a:extLst>
                  <a:ext uri="{FF2B5EF4-FFF2-40B4-BE49-F238E27FC236}">
                    <a16:creationId xmlns="" xmlns:a16="http://schemas.microsoft.com/office/drawing/2014/main" id="{F511186A-9F5C-57FA-48C6-F02EF053BED2}"/>
                  </a:ext>
                </a:extLst>
              </p:cNvPr>
              <p:cNvGraphicFramePr>
                <a:graphicFrameLocks/>
              </p:cNvGraphicFramePr>
              <p:nvPr/>
            </p:nvGraphicFramePr>
            <p:xfrm>
              <a:off x="3151" y="3268"/>
              <a:ext cx="317" cy="147"/>
            </p:xfrm>
            <a:graphic>
              <a:graphicData uri="http://schemas.openxmlformats.org/presentationml/2006/ole">
                <mc:AlternateContent xmlns:mc="http://schemas.openxmlformats.org/markup-compatibility/2006">
                  <mc:Choice xmlns:v="urn:schemas-microsoft-com:vml" Requires="v">
                    <p:oleObj spid="_x0000_s167124" r:id="rId4" imgW="469900" imgH="228600" progId="Equation.3">
                      <p:embed/>
                    </p:oleObj>
                  </mc:Choice>
                  <mc:Fallback>
                    <p:oleObj r:id="rId4" imgW="469900" imgH="228600" progId="Equation.3">
                      <p:embed/>
                      <p:pic>
                        <p:nvPicPr>
                          <p:cNvPr id="0" name=""/>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51" y="3268"/>
                            <a:ext cx="317" cy="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8" name="Object 20">
                <a:extLst>
                  <a:ext uri="{FF2B5EF4-FFF2-40B4-BE49-F238E27FC236}">
                    <a16:creationId xmlns="" xmlns:a16="http://schemas.microsoft.com/office/drawing/2014/main" id="{FD0B3AAF-E474-69EF-5411-6ED8611DAAA9}"/>
                  </a:ext>
                </a:extLst>
              </p:cNvPr>
              <p:cNvGraphicFramePr>
                <a:graphicFrameLocks/>
              </p:cNvGraphicFramePr>
              <p:nvPr/>
            </p:nvGraphicFramePr>
            <p:xfrm>
              <a:off x="3551" y="3258"/>
              <a:ext cx="375" cy="174"/>
            </p:xfrm>
            <a:graphic>
              <a:graphicData uri="http://schemas.openxmlformats.org/presentationml/2006/ole">
                <mc:AlternateContent xmlns:mc="http://schemas.openxmlformats.org/markup-compatibility/2006">
                  <mc:Choice xmlns:v="urn:schemas-microsoft-com:vml" Requires="v">
                    <p:oleObj spid="_x0000_s167125" r:id="rId6" imgW="469900" imgH="228600" progId="Equation.3">
                      <p:embed/>
                    </p:oleObj>
                  </mc:Choice>
                  <mc:Fallback>
                    <p:oleObj r:id="rId6" imgW="469900" imgH="228600" progId="Equation.3">
                      <p:embed/>
                      <p:pic>
                        <p:nvPicPr>
                          <p:cNvPr id="0" name=""/>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551" y="3258"/>
                            <a:ext cx="375"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9" name="Object 21">
                <a:extLst>
                  <a:ext uri="{FF2B5EF4-FFF2-40B4-BE49-F238E27FC236}">
                    <a16:creationId xmlns="" xmlns:a16="http://schemas.microsoft.com/office/drawing/2014/main" id="{60789AB9-2D18-2453-BB7A-ECFBDAB1A0DB}"/>
                  </a:ext>
                </a:extLst>
              </p:cNvPr>
              <p:cNvGraphicFramePr>
                <a:graphicFrameLocks/>
              </p:cNvGraphicFramePr>
              <p:nvPr/>
            </p:nvGraphicFramePr>
            <p:xfrm>
              <a:off x="3065" y="2696"/>
              <a:ext cx="339" cy="337"/>
            </p:xfrm>
            <a:graphic>
              <a:graphicData uri="http://schemas.openxmlformats.org/presentationml/2006/ole">
                <mc:AlternateContent xmlns:mc="http://schemas.openxmlformats.org/markup-compatibility/2006">
                  <mc:Choice xmlns:v="urn:schemas-microsoft-com:vml" Requires="v">
                    <p:oleObj spid="_x0000_s167126" r:id="rId8" imgW="380835" imgH="393529" progId="Equation.3">
                      <p:embed/>
                    </p:oleObj>
                  </mc:Choice>
                  <mc:Fallback>
                    <p:oleObj r:id="rId8" imgW="380835" imgH="393529" progId="Equation.3">
                      <p:embed/>
                      <p:pic>
                        <p:nvPicPr>
                          <p:cNvPr id="0" name=""/>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065" y="2696"/>
                            <a:ext cx="339" cy="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0" name="Object 22">
                <a:extLst>
                  <a:ext uri="{FF2B5EF4-FFF2-40B4-BE49-F238E27FC236}">
                    <a16:creationId xmlns="" xmlns:a16="http://schemas.microsoft.com/office/drawing/2014/main" id="{1D7BAEDC-8F0B-1B1D-5763-42131A6A4D89}"/>
                  </a:ext>
                </a:extLst>
              </p:cNvPr>
              <p:cNvGraphicFramePr>
                <a:graphicFrameLocks/>
              </p:cNvGraphicFramePr>
              <p:nvPr/>
            </p:nvGraphicFramePr>
            <p:xfrm>
              <a:off x="3662" y="2699"/>
              <a:ext cx="339" cy="337"/>
            </p:xfrm>
            <a:graphic>
              <a:graphicData uri="http://schemas.openxmlformats.org/presentationml/2006/ole">
                <mc:AlternateContent xmlns:mc="http://schemas.openxmlformats.org/markup-compatibility/2006">
                  <mc:Choice xmlns:v="urn:schemas-microsoft-com:vml" Requires="v">
                    <p:oleObj spid="_x0000_s167127" r:id="rId10" imgW="380835" imgH="393529" progId="Equation.3">
                      <p:embed/>
                    </p:oleObj>
                  </mc:Choice>
                  <mc:Fallback>
                    <p:oleObj r:id="rId10" imgW="380835" imgH="393529" progId="Equation.3">
                      <p:embed/>
                      <p:pic>
                        <p:nvPicPr>
                          <p:cNvPr id="0" name=""/>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662" y="2699"/>
                            <a:ext cx="339" cy="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1" name="Rectangle 23">
                <a:extLst>
                  <a:ext uri="{FF2B5EF4-FFF2-40B4-BE49-F238E27FC236}">
                    <a16:creationId xmlns="" xmlns:a16="http://schemas.microsoft.com/office/drawing/2014/main" id="{98000F7E-2FA7-0829-D53D-2724E771E3E6}"/>
                  </a:ext>
                </a:extLst>
              </p:cNvPr>
              <p:cNvSpPr>
                <a:spLocks noChangeArrowheads="1"/>
              </p:cNvSpPr>
              <p:nvPr/>
            </p:nvSpPr>
            <p:spPr bwMode="auto">
              <a:xfrm>
                <a:off x="3506" y="2599"/>
                <a:ext cx="27" cy="64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22" name="Object 24">
                <a:extLst>
                  <a:ext uri="{FF2B5EF4-FFF2-40B4-BE49-F238E27FC236}">
                    <a16:creationId xmlns="" xmlns:a16="http://schemas.microsoft.com/office/drawing/2014/main" id="{364D5CCD-92F9-36F5-1EC1-792DB3475C34}"/>
                  </a:ext>
                </a:extLst>
              </p:cNvPr>
              <p:cNvGraphicFramePr>
                <a:graphicFrameLocks/>
              </p:cNvGraphicFramePr>
              <p:nvPr/>
            </p:nvGraphicFramePr>
            <p:xfrm>
              <a:off x="3467" y="3347"/>
              <a:ext cx="150" cy="174"/>
            </p:xfrm>
            <a:graphic>
              <a:graphicData uri="http://schemas.openxmlformats.org/presentationml/2006/ole">
                <mc:AlternateContent xmlns:mc="http://schemas.openxmlformats.org/markup-compatibility/2006">
                  <mc:Choice xmlns:v="urn:schemas-microsoft-com:vml" Requires="v">
                    <p:oleObj spid="_x0000_s167128" r:id="rId11" imgW="190417" imgH="228501" progId="Equation.3">
                      <p:embed/>
                    </p:oleObj>
                  </mc:Choice>
                  <mc:Fallback>
                    <p:oleObj r:id="rId11" imgW="190417" imgH="228501" progId="Equation.3">
                      <p:embed/>
                      <p:pic>
                        <p:nvPicPr>
                          <p:cNvPr id="0" name=""/>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467" y="3347"/>
                            <a:ext cx="15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3" name="Object 25">
                <a:extLst>
                  <a:ext uri="{FF2B5EF4-FFF2-40B4-BE49-F238E27FC236}">
                    <a16:creationId xmlns="" xmlns:a16="http://schemas.microsoft.com/office/drawing/2014/main" id="{C0F32745-0C4B-E0C2-269A-FD3CA1AA5AA3}"/>
                  </a:ext>
                </a:extLst>
              </p:cNvPr>
              <p:cNvGraphicFramePr>
                <a:graphicFrameLocks/>
              </p:cNvGraphicFramePr>
              <p:nvPr/>
            </p:nvGraphicFramePr>
            <p:xfrm>
              <a:off x="3451" y="2437"/>
              <a:ext cx="147" cy="197"/>
            </p:xfrm>
            <a:graphic>
              <a:graphicData uri="http://schemas.openxmlformats.org/presentationml/2006/ole">
                <mc:AlternateContent xmlns:mc="http://schemas.openxmlformats.org/markup-compatibility/2006">
                  <mc:Choice xmlns:v="urn:schemas-microsoft-com:vml" Requires="v">
                    <p:oleObj spid="_x0000_s167129" r:id="rId13" imgW="164885" imgH="228303" progId="Equation.3">
                      <p:embed/>
                    </p:oleObj>
                  </mc:Choice>
                  <mc:Fallback>
                    <p:oleObj r:id="rId13" imgW="164885" imgH="228303" progId="Equation.3">
                      <p:embed/>
                      <p:pic>
                        <p:nvPicPr>
                          <p:cNvPr id="0" name=""/>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451" y="2437"/>
                            <a:ext cx="147"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grpSp>
      <p:graphicFrame>
        <p:nvGraphicFramePr>
          <p:cNvPr id="24" name="Object 26">
            <a:extLst>
              <a:ext uri="{FF2B5EF4-FFF2-40B4-BE49-F238E27FC236}">
                <a16:creationId xmlns="" xmlns:a16="http://schemas.microsoft.com/office/drawing/2014/main" id="{667515F1-30E1-6FF0-AA9E-9819959D6929}"/>
              </a:ext>
            </a:extLst>
          </p:cNvPr>
          <p:cNvGraphicFramePr>
            <a:graphicFrameLocks/>
          </p:cNvGraphicFramePr>
          <p:nvPr>
            <p:extLst>
              <p:ext uri="{D42A27DB-BD31-4B8C-83A1-F6EECF244321}">
                <p14:modId xmlns:p14="http://schemas.microsoft.com/office/powerpoint/2010/main" val="2266921369"/>
              </p:ext>
            </p:extLst>
          </p:nvPr>
        </p:nvGraphicFramePr>
        <p:xfrm>
          <a:off x="646726" y="1893703"/>
          <a:ext cx="3671887" cy="442913"/>
        </p:xfrm>
        <a:graphic>
          <a:graphicData uri="http://schemas.openxmlformats.org/presentationml/2006/ole">
            <mc:AlternateContent xmlns:mc="http://schemas.openxmlformats.org/markup-compatibility/2006">
              <mc:Choice xmlns:v="urn:schemas-microsoft-com:vml" Requires="v">
                <p:oleObj spid="_x0000_s167130" r:id="rId15" imgW="1892300" imgH="228600" progId="Equation.3">
                  <p:embed/>
                </p:oleObj>
              </mc:Choice>
              <mc:Fallback>
                <p:oleObj r:id="rId15" imgW="1892300" imgH="228600" progId="Equation.3">
                  <p:embed/>
                  <p:pic>
                    <p:nvPicPr>
                      <p:cNvPr id="0" name=""/>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46726" y="1893703"/>
                        <a:ext cx="3671887"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5" name="Text Box 27">
            <a:extLst>
              <a:ext uri="{FF2B5EF4-FFF2-40B4-BE49-F238E27FC236}">
                <a16:creationId xmlns="" xmlns:a16="http://schemas.microsoft.com/office/drawing/2014/main" id="{0C0C0563-D957-CE76-D504-2964DFFA7E40}"/>
              </a:ext>
            </a:extLst>
          </p:cNvPr>
          <p:cNvSpPr txBox="1">
            <a:spLocks noChangeArrowheads="1"/>
          </p:cNvSpPr>
          <p:nvPr/>
        </p:nvSpPr>
        <p:spPr bwMode="auto">
          <a:xfrm>
            <a:off x="241724" y="3351559"/>
            <a:ext cx="187166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000" dirty="0">
                <a:latin typeface="+mn-ea"/>
                <a:ea typeface="+mn-ea"/>
              </a:rPr>
              <a:t>载波功率</a:t>
            </a:r>
            <a:r>
              <a:rPr lang="en-US" altLang="zh-CN" sz="2000" dirty="0">
                <a:latin typeface="+mn-ea"/>
                <a:ea typeface="+mn-ea"/>
              </a:rPr>
              <a:t>:</a:t>
            </a:r>
          </a:p>
        </p:txBody>
      </p:sp>
      <p:graphicFrame>
        <p:nvGraphicFramePr>
          <p:cNvPr id="26" name="Object 28">
            <a:extLst>
              <a:ext uri="{FF2B5EF4-FFF2-40B4-BE49-F238E27FC236}">
                <a16:creationId xmlns="" xmlns:a16="http://schemas.microsoft.com/office/drawing/2014/main" id="{F849A61F-E9FD-D56E-0368-7FC08DCDC682}"/>
              </a:ext>
            </a:extLst>
          </p:cNvPr>
          <p:cNvGraphicFramePr>
            <a:graphicFrameLocks/>
          </p:cNvGraphicFramePr>
          <p:nvPr>
            <p:extLst>
              <p:ext uri="{D42A27DB-BD31-4B8C-83A1-F6EECF244321}">
                <p14:modId xmlns:p14="http://schemas.microsoft.com/office/powerpoint/2010/main" val="1437066696"/>
              </p:ext>
            </p:extLst>
          </p:nvPr>
        </p:nvGraphicFramePr>
        <p:xfrm>
          <a:off x="1552185" y="3179345"/>
          <a:ext cx="1296987" cy="744537"/>
        </p:xfrm>
        <a:graphic>
          <a:graphicData uri="http://schemas.openxmlformats.org/presentationml/2006/ole">
            <mc:AlternateContent xmlns:mc="http://schemas.openxmlformats.org/markup-compatibility/2006">
              <mc:Choice xmlns:v="urn:schemas-microsoft-com:vml" Requires="v">
                <p:oleObj spid="_x0000_s167131" r:id="rId17" imgW="748975" imgH="431613" progId="Equation.3">
                  <p:embed/>
                </p:oleObj>
              </mc:Choice>
              <mc:Fallback>
                <p:oleObj r:id="rId17" imgW="748975" imgH="431613" progId="Equation.3">
                  <p:embed/>
                  <p:pic>
                    <p:nvPicPr>
                      <p:cNvPr id="0" name=""/>
                      <p:cNvPicPr>
                        <a:picLocks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552185" y="3179345"/>
                        <a:ext cx="1296987" cy="744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7" name="Text Box 29">
            <a:extLst>
              <a:ext uri="{FF2B5EF4-FFF2-40B4-BE49-F238E27FC236}">
                <a16:creationId xmlns="" xmlns:a16="http://schemas.microsoft.com/office/drawing/2014/main" id="{6AC987BF-C770-AE91-5481-75C82243F2DE}"/>
              </a:ext>
            </a:extLst>
          </p:cNvPr>
          <p:cNvSpPr txBox="1">
            <a:spLocks noChangeArrowheads="1"/>
          </p:cNvSpPr>
          <p:nvPr/>
        </p:nvSpPr>
        <p:spPr bwMode="auto">
          <a:xfrm>
            <a:off x="242851" y="4102682"/>
            <a:ext cx="212109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latin typeface="+mn-ea"/>
                <a:ea typeface="+mn-ea"/>
              </a:rPr>
              <a:t>上边频或下边频</a:t>
            </a:r>
            <a:r>
              <a:rPr lang="en-US" altLang="zh-CN" sz="2000" dirty="0">
                <a:latin typeface="+mn-ea"/>
                <a:ea typeface="+mn-ea"/>
              </a:rPr>
              <a:t>:</a:t>
            </a:r>
          </a:p>
        </p:txBody>
      </p:sp>
      <p:graphicFrame>
        <p:nvGraphicFramePr>
          <p:cNvPr id="28" name="Object 30">
            <a:extLst>
              <a:ext uri="{FF2B5EF4-FFF2-40B4-BE49-F238E27FC236}">
                <a16:creationId xmlns="" xmlns:a16="http://schemas.microsoft.com/office/drawing/2014/main" id="{EFDCFAB4-AB79-E4D4-D528-5456858C0AB7}"/>
              </a:ext>
            </a:extLst>
          </p:cNvPr>
          <p:cNvGraphicFramePr>
            <a:graphicFrameLocks/>
          </p:cNvGraphicFramePr>
          <p:nvPr>
            <p:extLst>
              <p:ext uri="{D42A27DB-BD31-4B8C-83A1-F6EECF244321}">
                <p14:modId xmlns:p14="http://schemas.microsoft.com/office/powerpoint/2010/main" val="1157274204"/>
              </p:ext>
            </p:extLst>
          </p:nvPr>
        </p:nvGraphicFramePr>
        <p:xfrm>
          <a:off x="2363944" y="3458282"/>
          <a:ext cx="3740150" cy="1098550"/>
        </p:xfrm>
        <a:graphic>
          <a:graphicData uri="http://schemas.openxmlformats.org/presentationml/2006/ole">
            <mc:AlternateContent xmlns:mc="http://schemas.openxmlformats.org/markup-compatibility/2006">
              <mc:Choice xmlns:v="urn:schemas-microsoft-com:vml" Requires="v">
                <p:oleObj spid="_x0000_s167132" r:id="rId19" imgW="2108200" imgH="558800" progId="Equation.3">
                  <p:embed/>
                </p:oleObj>
              </mc:Choice>
              <mc:Fallback>
                <p:oleObj r:id="rId19" imgW="2108200" imgH="558800" progId="Equation.3">
                  <p:embed/>
                  <p:pic>
                    <p:nvPicPr>
                      <p:cNvPr id="0" name=""/>
                      <p:cNvPicPr>
                        <a:picLocks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363944" y="3458282"/>
                        <a:ext cx="3740150" cy="1098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9" name="Text Box 31">
            <a:extLst>
              <a:ext uri="{FF2B5EF4-FFF2-40B4-BE49-F238E27FC236}">
                <a16:creationId xmlns="" xmlns:a16="http://schemas.microsoft.com/office/drawing/2014/main" id="{71E28B71-A3AD-35E4-EF4C-7C391BD59C72}"/>
              </a:ext>
            </a:extLst>
          </p:cNvPr>
          <p:cNvSpPr txBox="1">
            <a:spLocks noChangeArrowheads="1"/>
          </p:cNvSpPr>
          <p:nvPr/>
        </p:nvSpPr>
        <p:spPr bwMode="auto">
          <a:xfrm>
            <a:off x="232834" y="4632893"/>
            <a:ext cx="4076889"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000" dirty="0">
                <a:latin typeface="Times New Roman" panose="02020603050405020304" pitchFamily="18" charset="0"/>
                <a:cs typeface="Times New Roman" panose="02020603050405020304" pitchFamily="18" charset="0"/>
              </a:rPr>
              <a:t>在调幅信号一周期内，</a:t>
            </a:r>
            <a:r>
              <a:rPr lang="en-US" altLang="zh-CN" sz="2000" dirty="0">
                <a:latin typeface="Times New Roman" panose="02020603050405020304" pitchFamily="18" charset="0"/>
                <a:cs typeface="Times New Roman" panose="02020603050405020304" pitchFamily="18" charset="0"/>
              </a:rPr>
              <a:t>AM</a:t>
            </a:r>
            <a:r>
              <a:rPr lang="zh-CN" altLang="en-US" sz="2000" dirty="0">
                <a:latin typeface="Times New Roman" panose="02020603050405020304" pitchFamily="18" charset="0"/>
                <a:cs typeface="Times New Roman" panose="02020603050405020304" pitchFamily="18" charset="0"/>
              </a:rPr>
              <a:t>信号的平均输出功率是</a:t>
            </a:r>
          </a:p>
        </p:txBody>
      </p:sp>
      <p:graphicFrame>
        <p:nvGraphicFramePr>
          <p:cNvPr id="30" name="Object 32">
            <a:extLst>
              <a:ext uri="{FF2B5EF4-FFF2-40B4-BE49-F238E27FC236}">
                <a16:creationId xmlns="" xmlns:a16="http://schemas.microsoft.com/office/drawing/2014/main" id="{21600EFF-B6AD-6D3D-8572-1CB545EAFF07}"/>
              </a:ext>
            </a:extLst>
          </p:cNvPr>
          <p:cNvGraphicFramePr>
            <a:graphicFrameLocks/>
          </p:cNvGraphicFramePr>
          <p:nvPr>
            <p:extLst>
              <p:ext uri="{D42A27DB-BD31-4B8C-83A1-F6EECF244321}">
                <p14:modId xmlns:p14="http://schemas.microsoft.com/office/powerpoint/2010/main" val="345299577"/>
              </p:ext>
            </p:extLst>
          </p:nvPr>
        </p:nvGraphicFramePr>
        <p:xfrm>
          <a:off x="4417066" y="4620984"/>
          <a:ext cx="3489803" cy="669277"/>
        </p:xfrm>
        <a:graphic>
          <a:graphicData uri="http://schemas.openxmlformats.org/presentationml/2006/ole">
            <mc:AlternateContent xmlns:mc="http://schemas.openxmlformats.org/markup-compatibility/2006">
              <mc:Choice xmlns:v="urn:schemas-microsoft-com:vml" Requires="v">
                <p:oleObj spid="_x0000_s167133" r:id="rId21" imgW="1967646" imgH="393529" progId="Equation.3">
                  <p:embed/>
                </p:oleObj>
              </mc:Choice>
              <mc:Fallback>
                <p:oleObj r:id="rId21" imgW="1967646" imgH="393529" progId="Equation.3">
                  <p:embed/>
                  <p:pic>
                    <p:nvPicPr>
                      <p:cNvPr id="0" name=""/>
                      <p:cNvPicPr>
                        <a:picLocks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417066" y="4620984"/>
                        <a:ext cx="3489803" cy="669277"/>
                      </a:xfrm>
                      <a:prstGeom prst="rect">
                        <a:avLst/>
                      </a:prstGeom>
                      <a:noFill/>
                      <a:ln>
                        <a:noFill/>
                      </a:ln>
                      <a:extLst/>
                    </p:spPr>
                  </p:pic>
                </p:oleObj>
              </mc:Fallback>
            </mc:AlternateContent>
          </a:graphicData>
        </a:graphic>
      </p:graphicFrame>
      <p:sp>
        <p:nvSpPr>
          <p:cNvPr id="31" name="Text Box 35">
            <a:extLst>
              <a:ext uri="{FF2B5EF4-FFF2-40B4-BE49-F238E27FC236}">
                <a16:creationId xmlns="" xmlns:a16="http://schemas.microsoft.com/office/drawing/2014/main" id="{C46D06DF-BAC9-1CBF-8775-91DDA95A78B4}"/>
              </a:ext>
            </a:extLst>
          </p:cNvPr>
          <p:cNvSpPr txBox="1">
            <a:spLocks noChangeArrowheads="1"/>
          </p:cNvSpPr>
          <p:nvPr/>
        </p:nvSpPr>
        <p:spPr bwMode="auto">
          <a:xfrm>
            <a:off x="246897" y="1335947"/>
            <a:ext cx="358944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dirty="0">
                <a:solidFill>
                  <a:schemeClr val="tx1"/>
                </a:solidFill>
                <a:latin typeface="+mn-ea"/>
                <a:ea typeface="+mn-ea"/>
              </a:rPr>
              <a:t>4.</a:t>
            </a:r>
            <a:r>
              <a:rPr lang="zh-CN" altLang="en-US" sz="2400" dirty="0">
                <a:solidFill>
                  <a:schemeClr val="tx1"/>
                </a:solidFill>
                <a:latin typeface="+mn-ea"/>
                <a:ea typeface="+mn-ea"/>
              </a:rPr>
              <a:t>普通调幅波的功率关系</a:t>
            </a:r>
          </a:p>
        </p:txBody>
      </p:sp>
      <p:sp>
        <p:nvSpPr>
          <p:cNvPr id="32" name="Text Box 25">
            <a:extLst>
              <a:ext uri="{FF2B5EF4-FFF2-40B4-BE49-F238E27FC236}">
                <a16:creationId xmlns="" xmlns:a16="http://schemas.microsoft.com/office/drawing/2014/main" id="{46D5AF03-6F42-1888-9FA9-9B9244A68FBD}"/>
              </a:ext>
            </a:extLst>
          </p:cNvPr>
          <p:cNvSpPr txBox="1">
            <a:spLocks noChangeArrowheads="1"/>
          </p:cNvSpPr>
          <p:nvPr/>
        </p:nvSpPr>
        <p:spPr bwMode="auto">
          <a:xfrm>
            <a:off x="241724" y="5340779"/>
            <a:ext cx="4392613" cy="400110"/>
          </a:xfrm>
          <a:prstGeom prst="rect">
            <a:avLst/>
          </a:prstGeom>
          <a:noFill/>
          <a:ln>
            <a:noFill/>
          </a:ln>
        </p:spPr>
        <p:txBody>
          <a:bodyPr>
            <a:spAutoFit/>
          </a:bodyPr>
          <a:lstStyle>
            <a:lvl1pPr>
              <a:defRPr sz="1600" b="1">
                <a:solidFill>
                  <a:schemeClr val="tx1"/>
                </a:solidFill>
                <a:latin typeface="楷体_GB2312" pitchFamily="49" charset="-122"/>
                <a:ea typeface="楷体_GB2312" pitchFamily="49" charset="-122"/>
              </a:defRPr>
            </a:lvl1pPr>
            <a:lvl2pPr>
              <a:defRPr sz="1600" b="1">
                <a:solidFill>
                  <a:schemeClr val="tx1"/>
                </a:solidFill>
                <a:latin typeface="楷体_GB2312" pitchFamily="49" charset="-122"/>
                <a:ea typeface="楷体_GB2312" pitchFamily="49" charset="-122"/>
              </a:defRPr>
            </a:lvl2pPr>
            <a:lvl3pPr>
              <a:defRPr sz="1600" b="1">
                <a:solidFill>
                  <a:schemeClr val="tx1"/>
                </a:solidFill>
                <a:latin typeface="楷体_GB2312" pitchFamily="49" charset="-122"/>
                <a:ea typeface="楷体_GB2312" pitchFamily="49" charset="-122"/>
              </a:defRPr>
            </a:lvl3pPr>
            <a:lvl4pPr>
              <a:defRPr sz="1600" b="1">
                <a:solidFill>
                  <a:schemeClr val="tx1"/>
                </a:solidFill>
                <a:latin typeface="楷体_GB2312" pitchFamily="49" charset="-122"/>
                <a:ea typeface="楷体_GB2312" pitchFamily="49" charset="-122"/>
              </a:defRPr>
            </a:lvl4pPr>
            <a:lvl5pPr>
              <a:defRPr sz="1600" b="1">
                <a:solidFill>
                  <a:schemeClr val="tx1"/>
                </a:solidFill>
                <a:latin typeface="楷体_GB2312" pitchFamily="49" charset="-122"/>
                <a:ea typeface="楷体_GB2312" pitchFamily="49" charset="-122"/>
              </a:defRPr>
            </a:lvl5pPr>
            <a:lvl6pPr fontAlgn="base">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fontAlgn="base">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fontAlgn="base">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fontAlgn="base">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a:spcBef>
                <a:spcPct val="50000"/>
              </a:spcBef>
              <a:defRPr/>
            </a:pPr>
            <a:r>
              <a:rPr lang="zh-CN" altLang="en-US" sz="2000" b="0" dirty="0">
                <a:latin typeface="Times New Roman" panose="02020603050405020304" pitchFamily="18" charset="0"/>
                <a:ea typeface="宋体" panose="02010600030101010101" pitchFamily="2" charset="-122"/>
                <a:cs typeface="Times New Roman" panose="02020603050405020304" pitchFamily="18" charset="0"/>
              </a:rPr>
              <a:t>当</a:t>
            </a:r>
            <a:r>
              <a:rPr lang="en-US" altLang="zh-CN" sz="2000" b="0" i="1" dirty="0">
                <a:latin typeface="Times New Roman" panose="02020603050405020304" pitchFamily="18" charset="0"/>
                <a:ea typeface="宋体" panose="02010600030101010101" pitchFamily="2" charset="-122"/>
                <a:cs typeface="Times New Roman" panose="02020603050405020304" pitchFamily="18" charset="0"/>
              </a:rPr>
              <a:t>m</a:t>
            </a:r>
            <a:r>
              <a:rPr lang="en-US" altLang="zh-CN" sz="2000" b="0" i="1" baseline="-25000" dirty="0">
                <a:latin typeface="Times New Roman" panose="02020603050405020304" pitchFamily="18" charset="0"/>
                <a:ea typeface="宋体" panose="02010600030101010101" pitchFamily="2" charset="-122"/>
                <a:cs typeface="Times New Roman" panose="02020603050405020304" pitchFamily="18" charset="0"/>
              </a:rPr>
              <a:t>a</a:t>
            </a:r>
            <a:r>
              <a:rPr lang="zh-CN" altLang="en-US" sz="2000" b="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000" b="0"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sz="2000" b="0" dirty="0">
                <a:latin typeface="Times New Roman" panose="02020603050405020304" pitchFamily="18" charset="0"/>
                <a:ea typeface="宋体" panose="02010600030101010101" pitchFamily="2" charset="-122"/>
                <a:cs typeface="Times New Roman" panose="02020603050405020304" pitchFamily="18" charset="0"/>
              </a:rPr>
              <a:t>时，</a:t>
            </a:r>
            <a:r>
              <a:rPr lang="en-US" altLang="zh-CN" sz="2000" b="0" dirty="0" err="1">
                <a:latin typeface="Times New Roman" panose="02020603050405020304" pitchFamily="18" charset="0"/>
                <a:ea typeface="宋体" panose="02010600030101010101" pitchFamily="2" charset="-122"/>
                <a:cs typeface="Times New Roman" panose="02020603050405020304" pitchFamily="18" charset="0"/>
              </a:rPr>
              <a:t>P</a:t>
            </a:r>
            <a:r>
              <a:rPr lang="en-US" altLang="zh-CN" sz="2000" b="0" baseline="-25000" dirty="0" err="1">
                <a:latin typeface="Times New Roman" panose="02020603050405020304" pitchFamily="18" charset="0"/>
                <a:ea typeface="宋体" panose="02010600030101010101" pitchFamily="2" charset="-122"/>
                <a:cs typeface="Times New Roman" panose="02020603050405020304" pitchFamily="18" charset="0"/>
              </a:rPr>
              <a:t>oT</a:t>
            </a:r>
            <a:r>
              <a:rPr lang="zh-CN" altLang="en-US" sz="2000" b="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000" b="0" dirty="0">
                <a:latin typeface="Times New Roman" panose="02020603050405020304" pitchFamily="18" charset="0"/>
                <a:ea typeface="宋体" panose="02010600030101010101" pitchFamily="2" charset="-122"/>
                <a:cs typeface="Times New Roman" panose="02020603050405020304" pitchFamily="18" charset="0"/>
              </a:rPr>
              <a:t>(2/3)P</a:t>
            </a:r>
            <a:r>
              <a:rPr lang="en-US" altLang="zh-CN" sz="1050" b="0" dirty="0">
                <a:latin typeface="Times New Roman" panose="02020603050405020304" pitchFamily="18" charset="0"/>
                <a:ea typeface="宋体" panose="02010600030101010101" pitchFamily="2" charset="-122"/>
                <a:cs typeface="Times New Roman" panose="02020603050405020304" pitchFamily="18" charset="0"/>
              </a:rPr>
              <a:t>AM</a:t>
            </a:r>
            <a:r>
              <a:rPr lang="en-US" altLang="zh-CN" sz="1050" b="0" baseline="-25000"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000" b="0" dirty="0" smtClean="0">
                <a:latin typeface="Times New Roman" panose="02020603050405020304" pitchFamily="18" charset="0"/>
                <a:ea typeface="宋体" panose="02010600030101010101" pitchFamily="2" charset="-122"/>
                <a:cs typeface="Times New Roman" panose="02020603050405020304" pitchFamily="18" charset="0"/>
              </a:rPr>
              <a:t>；</a:t>
            </a:r>
            <a:endParaRPr lang="zh-CN" altLang="en-US" sz="2000" b="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33" name="Text Box 26">
            <a:extLst>
              <a:ext uri="{FF2B5EF4-FFF2-40B4-BE49-F238E27FC236}">
                <a16:creationId xmlns="" xmlns:a16="http://schemas.microsoft.com/office/drawing/2014/main" id="{0F988E19-9C93-BA4E-1DA4-A9CF10932936}"/>
              </a:ext>
            </a:extLst>
          </p:cNvPr>
          <p:cNvSpPr txBox="1">
            <a:spLocks noChangeArrowheads="1"/>
          </p:cNvSpPr>
          <p:nvPr/>
        </p:nvSpPr>
        <p:spPr bwMode="auto">
          <a:xfrm>
            <a:off x="3252458" y="5340872"/>
            <a:ext cx="498316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p>
            <a:pPr>
              <a:spcBef>
                <a:spcPct val="50000"/>
              </a:spcBef>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当</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rPr>
              <a:t>m</a:t>
            </a:r>
            <a:r>
              <a:rPr lang="en-US" altLang="zh-CN" sz="2000" i="1" baseline="-25000" dirty="0">
                <a:latin typeface="Times New Roman" panose="02020603050405020304" pitchFamily="18" charset="0"/>
                <a:ea typeface="宋体" panose="02010600030101010101" pitchFamily="2" charset="-122"/>
                <a:cs typeface="Times New Roman" panose="02020603050405020304" pitchFamily="18" charset="0"/>
              </a:rPr>
              <a:t>a</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0.5</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时，</a:t>
            </a:r>
            <a:r>
              <a:rPr lang="en-US" altLang="zh-CN" sz="2000" dirty="0" err="1">
                <a:latin typeface="Times New Roman" panose="02020603050405020304" pitchFamily="18" charset="0"/>
                <a:ea typeface="宋体" panose="02010600030101010101" pitchFamily="2" charset="-122"/>
                <a:cs typeface="Times New Roman" panose="02020603050405020304" pitchFamily="18" charset="0"/>
              </a:rPr>
              <a:t>P</a:t>
            </a:r>
            <a:r>
              <a:rPr lang="en-US" altLang="zh-CN" sz="2000" baseline="-25000" dirty="0" err="1">
                <a:latin typeface="Times New Roman" panose="02020603050405020304" pitchFamily="18" charset="0"/>
                <a:ea typeface="宋体" panose="02010600030101010101" pitchFamily="2" charset="-122"/>
                <a:cs typeface="Times New Roman" panose="02020603050405020304" pitchFamily="18" charset="0"/>
              </a:rPr>
              <a:t>oT</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(8/9)P</a:t>
            </a:r>
            <a:r>
              <a:rPr lang="en-US" altLang="zh-CN" sz="1050" dirty="0">
                <a:latin typeface="Times New Roman" panose="02020603050405020304" pitchFamily="18" charset="0"/>
                <a:ea typeface="宋体" panose="02010600030101010101" pitchFamily="2" charset="-122"/>
                <a:cs typeface="Times New Roman" panose="02020603050405020304" pitchFamily="18" charset="0"/>
              </a:rPr>
              <a:t>AM</a:t>
            </a:r>
            <a:r>
              <a:rPr lang="en-US" altLang="zh-CN" sz="2000" baseline="-25000"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000" dirty="0" smtClean="0">
                <a:latin typeface="Times New Roman" panose="02020603050405020304" pitchFamily="18" charset="0"/>
                <a:ea typeface="宋体" panose="02010600030101010101" pitchFamily="2" charset="-122"/>
                <a:cs typeface="Times New Roman" panose="02020603050405020304" pitchFamily="18" charset="0"/>
              </a:rPr>
              <a:t>；</a:t>
            </a:r>
            <a:endParaRPr lang="zh-CN" altLang="en-US"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35" name="Rectangle 24">
            <a:extLst>
              <a:ext uri="{FF2B5EF4-FFF2-40B4-BE49-F238E27FC236}">
                <a16:creationId xmlns="" xmlns:a16="http://schemas.microsoft.com/office/drawing/2014/main" id="{072AC4EA-8C66-48BE-CBD4-ACF0F75B2EA1}"/>
              </a:ext>
            </a:extLst>
          </p:cNvPr>
          <p:cNvSpPr>
            <a:spLocks noChangeArrowheads="1"/>
          </p:cNvSpPr>
          <p:nvPr/>
        </p:nvSpPr>
        <p:spPr bwMode="auto">
          <a:xfrm>
            <a:off x="232834" y="5821588"/>
            <a:ext cx="87137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p>
            <a:pPr>
              <a:spcBef>
                <a:spcPct val="50000"/>
              </a:spcBef>
            </a:pPr>
            <a:r>
              <a:rPr lang="zh-CN" altLang="en-US" sz="2000" dirty="0">
                <a:solidFill>
                  <a:schemeClr val="tx1"/>
                </a:solidFill>
                <a:latin typeface="Times New Roman" panose="02020603050405020304" pitchFamily="18" charset="0"/>
                <a:ea typeface="宋体" panose="02010600030101010101" pitchFamily="2" charset="-122"/>
              </a:rPr>
              <a:t>载波本身并不包含信号，但它的功率却占整个调幅波功率的绝大部分。</a:t>
            </a:r>
          </a:p>
        </p:txBody>
      </p:sp>
    </p:spTree>
    <p:extLst>
      <p:ext uri="{BB962C8B-B14F-4D97-AF65-F5344CB8AC3E}">
        <p14:creationId xmlns:p14="http://schemas.microsoft.com/office/powerpoint/2010/main" val="3258419163"/>
      </p:ext>
    </p:extLst>
  </p:cSld>
  <p:clrMapOvr>
    <a:masterClrMapping/>
  </p:clrMapOvr>
  <p:timing>
    <p:tnLst>
      <p:par>
        <p:cTn id="1" dur="indefinite" restart="never" nodeType="tmRoot"/>
      </p:par>
    </p:tnLst>
  </p:timing>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213</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6.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振幅调制</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与</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解调</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 name="Rectangle 5">
            <a:extLst>
              <a:ext uri="{FF2B5EF4-FFF2-40B4-BE49-F238E27FC236}">
                <a16:creationId xmlns="" xmlns:a16="http://schemas.microsoft.com/office/drawing/2014/main" id="{DBF82A53-C18B-A8D7-409A-BEF0DCA0E924}"/>
              </a:ext>
            </a:extLst>
          </p:cNvPr>
          <p:cNvSpPr>
            <a:spLocks noChangeArrowheads="1"/>
          </p:cNvSpPr>
          <p:nvPr/>
        </p:nvSpPr>
        <p:spPr bwMode="auto">
          <a:xfrm>
            <a:off x="125328" y="1440572"/>
            <a:ext cx="544091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indent="269875">
              <a:tabLst>
                <a:tab pos="5249863" algn="r"/>
              </a:tabLst>
              <a:defRPr sz="1600" b="1">
                <a:solidFill>
                  <a:schemeClr val="tx1"/>
                </a:solidFill>
                <a:latin typeface="楷体_GB2312" panose="02010609030101010101" pitchFamily="49" charset="-122"/>
                <a:ea typeface="楷体_GB2312" panose="02010609030101010101" pitchFamily="49" charset="-122"/>
              </a:defRPr>
            </a:lvl1pPr>
            <a:lvl2pPr>
              <a:tabLst>
                <a:tab pos="5249863" algn="r"/>
              </a:tabLst>
              <a:defRPr sz="1600" b="1">
                <a:solidFill>
                  <a:schemeClr val="tx1"/>
                </a:solidFill>
                <a:latin typeface="楷体_GB2312" panose="02010609030101010101" pitchFamily="49" charset="-122"/>
                <a:ea typeface="楷体_GB2312" panose="02010609030101010101" pitchFamily="49" charset="-122"/>
              </a:defRPr>
            </a:lvl2pPr>
            <a:lvl3pPr>
              <a:tabLst>
                <a:tab pos="5249863" algn="r"/>
              </a:tabLst>
              <a:defRPr sz="1600" b="1">
                <a:solidFill>
                  <a:schemeClr val="tx1"/>
                </a:solidFill>
                <a:latin typeface="楷体_GB2312" panose="02010609030101010101" pitchFamily="49" charset="-122"/>
                <a:ea typeface="楷体_GB2312" panose="02010609030101010101" pitchFamily="49" charset="-122"/>
              </a:defRPr>
            </a:lvl3pPr>
            <a:lvl4pPr>
              <a:tabLst>
                <a:tab pos="5249863" algn="r"/>
              </a:tabLst>
              <a:defRPr sz="1600" b="1">
                <a:solidFill>
                  <a:schemeClr val="tx1"/>
                </a:solidFill>
                <a:latin typeface="楷体_GB2312" panose="02010609030101010101" pitchFamily="49" charset="-122"/>
                <a:ea typeface="楷体_GB2312" panose="02010609030101010101" pitchFamily="49" charset="-122"/>
              </a:defRPr>
            </a:lvl4pPr>
            <a:lvl5pPr>
              <a:tabLst>
                <a:tab pos="5249863" algn="r"/>
              </a:tabLst>
              <a:defRPr sz="1600" b="1">
                <a:solidFill>
                  <a:schemeClr val="tx1"/>
                </a:solidFill>
                <a:latin typeface="楷体_GB2312" panose="02010609030101010101" pitchFamily="49" charset="-122"/>
                <a:ea typeface="楷体_GB2312" panose="02010609030101010101" pitchFamily="49" charset="-122"/>
              </a:defRPr>
            </a:lvl5pPr>
            <a:lvl6pPr fontAlgn="base">
              <a:spcBef>
                <a:spcPct val="0"/>
              </a:spcBef>
              <a:spcAft>
                <a:spcPct val="0"/>
              </a:spcAft>
              <a:buFont typeface="Arial" panose="020B0604020202020204" pitchFamily="34" charset="0"/>
              <a:tabLst>
                <a:tab pos="5249863" algn="r"/>
              </a:tabLst>
              <a:defRPr sz="1600" b="1">
                <a:solidFill>
                  <a:schemeClr val="tx1"/>
                </a:solidFill>
                <a:latin typeface="楷体_GB2312" panose="02010609030101010101" pitchFamily="49" charset="-122"/>
                <a:ea typeface="楷体_GB2312" panose="02010609030101010101" pitchFamily="49" charset="-122"/>
              </a:defRPr>
            </a:lvl6pPr>
            <a:lvl7pPr fontAlgn="base">
              <a:spcBef>
                <a:spcPct val="0"/>
              </a:spcBef>
              <a:spcAft>
                <a:spcPct val="0"/>
              </a:spcAft>
              <a:buFont typeface="Arial" panose="020B0604020202020204" pitchFamily="34" charset="0"/>
              <a:tabLst>
                <a:tab pos="5249863" algn="r"/>
              </a:tabLst>
              <a:defRPr sz="1600" b="1">
                <a:solidFill>
                  <a:schemeClr val="tx1"/>
                </a:solidFill>
                <a:latin typeface="楷体_GB2312" panose="02010609030101010101" pitchFamily="49" charset="-122"/>
                <a:ea typeface="楷体_GB2312" panose="02010609030101010101" pitchFamily="49" charset="-122"/>
              </a:defRPr>
            </a:lvl7pPr>
            <a:lvl8pPr fontAlgn="base">
              <a:spcBef>
                <a:spcPct val="0"/>
              </a:spcBef>
              <a:spcAft>
                <a:spcPct val="0"/>
              </a:spcAft>
              <a:buFont typeface="Arial" panose="020B0604020202020204" pitchFamily="34" charset="0"/>
              <a:tabLst>
                <a:tab pos="5249863" algn="r"/>
              </a:tabLst>
              <a:defRPr sz="1600" b="1">
                <a:solidFill>
                  <a:schemeClr val="tx1"/>
                </a:solidFill>
                <a:latin typeface="楷体_GB2312" panose="02010609030101010101" pitchFamily="49" charset="-122"/>
                <a:ea typeface="楷体_GB2312" panose="02010609030101010101" pitchFamily="49" charset="-122"/>
              </a:defRPr>
            </a:lvl8pPr>
            <a:lvl9pPr fontAlgn="base">
              <a:spcBef>
                <a:spcPct val="0"/>
              </a:spcBef>
              <a:spcAft>
                <a:spcPct val="0"/>
              </a:spcAft>
              <a:buFont typeface="Arial" panose="020B0604020202020204" pitchFamily="34" charset="0"/>
              <a:tabLst>
                <a:tab pos="5249863" algn="r"/>
              </a:tabLst>
              <a:defRPr sz="1600" b="1">
                <a:solidFill>
                  <a:schemeClr val="tx1"/>
                </a:solidFill>
                <a:latin typeface="楷体_GB2312" panose="02010609030101010101" pitchFamily="49" charset="-122"/>
                <a:ea typeface="楷体_GB2312" panose="02010609030101010101" pitchFamily="49" charset="-122"/>
              </a:defRPr>
            </a:lvl9pPr>
          </a:lstStyle>
          <a:p>
            <a:pPr eaLnBrk="0" fontAlgn="base" hangingPunct="0">
              <a:spcBef>
                <a:spcPct val="0"/>
              </a:spcBef>
              <a:spcAft>
                <a:spcPct val="0"/>
              </a:spcAft>
            </a:pPr>
            <a:r>
              <a:rPr lang="zh-CN" altLang="en-US" sz="2000" dirty="0">
                <a:latin typeface="Times New Roman" panose="02020603050405020304" pitchFamily="18" charset="0"/>
                <a:ea typeface="宋体"/>
                <a:cs typeface="Times New Roman" panose="02020603050405020304" pitchFamily="18" charset="0"/>
              </a:rPr>
              <a:t>  例</a:t>
            </a:r>
            <a:r>
              <a:rPr lang="en-US" altLang="zh-CN" sz="2000" dirty="0">
                <a:latin typeface="Times New Roman" panose="02020603050405020304" pitchFamily="18" charset="0"/>
                <a:ea typeface="宋体"/>
                <a:cs typeface="Times New Roman" panose="02020603050405020304" pitchFamily="18" charset="0"/>
              </a:rPr>
              <a:t>6-1  </a:t>
            </a:r>
            <a:r>
              <a:rPr lang="zh-CN" altLang="en-US" sz="2000" dirty="0">
                <a:latin typeface="Times New Roman" panose="02020603050405020304" pitchFamily="18" charset="0"/>
                <a:ea typeface="宋体"/>
                <a:cs typeface="Times New Roman" panose="02020603050405020304" pitchFamily="18" charset="0"/>
              </a:rPr>
              <a:t>已知已调幅信号的频谱图如图所示。</a:t>
            </a:r>
          </a:p>
        </p:txBody>
      </p:sp>
      <p:graphicFrame>
        <p:nvGraphicFramePr>
          <p:cNvPr id="7" name="Object 4">
            <a:extLst>
              <a:ext uri="{FF2B5EF4-FFF2-40B4-BE49-F238E27FC236}">
                <a16:creationId xmlns="" xmlns:a16="http://schemas.microsoft.com/office/drawing/2014/main" id="{AFE0201B-2DC6-2234-6BDF-423F00A1DEBD}"/>
              </a:ext>
            </a:extLst>
          </p:cNvPr>
          <p:cNvGraphicFramePr>
            <a:graphicFrameLocks/>
          </p:cNvGraphicFramePr>
          <p:nvPr>
            <p:extLst>
              <p:ext uri="{D42A27DB-BD31-4B8C-83A1-F6EECF244321}">
                <p14:modId xmlns:p14="http://schemas.microsoft.com/office/powerpoint/2010/main" val="2858378506"/>
              </p:ext>
            </p:extLst>
          </p:nvPr>
        </p:nvGraphicFramePr>
        <p:xfrm>
          <a:off x="402693" y="1895025"/>
          <a:ext cx="3240087" cy="1657350"/>
        </p:xfrm>
        <a:graphic>
          <a:graphicData uri="http://schemas.openxmlformats.org/presentationml/2006/ole">
            <mc:AlternateContent xmlns:mc="http://schemas.openxmlformats.org/markup-compatibility/2006">
              <mc:Choice xmlns:v="urn:schemas-microsoft-com:vml" Requires="v">
                <p:oleObj spid="_x0000_s167966" name="Picture" r:id="rId3" imgW="1638360" imgH="838080" progId="Word.Picture.8">
                  <p:embed/>
                </p:oleObj>
              </mc:Choice>
              <mc:Fallback>
                <p:oleObj name="Picture" r:id="rId3" imgW="1638360" imgH="838080" progId="Word.Picture.8">
                  <p:embed/>
                  <p:pic>
                    <p:nvPicPr>
                      <p:cNvPr id="0" name=""/>
                      <p:cNvPicPr>
                        <a:picLocks noChangeArrowheads="1"/>
                      </p:cNvPicPr>
                      <p:nvPr/>
                    </p:nvPicPr>
                    <p:blipFill>
                      <a:blip r:embed="rId4"/>
                      <a:srcRect/>
                      <a:stretch>
                        <a:fillRect/>
                      </a:stretch>
                    </p:blipFill>
                    <p:spPr bwMode="auto">
                      <a:xfrm>
                        <a:off x="402693" y="1895025"/>
                        <a:ext cx="3240087" cy="165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 name="Rectangle 7">
            <a:extLst>
              <a:ext uri="{FF2B5EF4-FFF2-40B4-BE49-F238E27FC236}">
                <a16:creationId xmlns="" xmlns:a16="http://schemas.microsoft.com/office/drawing/2014/main" id="{32A26876-2422-58E2-C8C6-94B1A2D03530}"/>
              </a:ext>
            </a:extLst>
          </p:cNvPr>
          <p:cNvSpPr>
            <a:spLocks noChangeArrowheads="1"/>
          </p:cNvSpPr>
          <p:nvPr/>
        </p:nvSpPr>
        <p:spPr bwMode="auto">
          <a:xfrm>
            <a:off x="3633255" y="1853750"/>
            <a:ext cx="5257800" cy="116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fontAlgn="base" hangingPunct="0">
              <a:spcBef>
                <a:spcPct val="50000"/>
              </a:spcBef>
              <a:spcAft>
                <a:spcPct val="0"/>
              </a:spcAft>
            </a:pPr>
            <a:r>
              <a:rPr lang="en-US" altLang="zh-CN" sz="2000" b="1" dirty="0">
                <a:latin typeface="Times New Roman" panose="02020603050405020304" pitchFamily="18" charset="0"/>
                <a:cs typeface="Times New Roman" panose="02020603050405020304" pitchFamily="18" charset="0"/>
              </a:rPr>
              <a:t>1) </a:t>
            </a:r>
            <a:r>
              <a:rPr lang="zh-CN" altLang="en-US" sz="2000" b="1" dirty="0">
                <a:latin typeface="Times New Roman" panose="02020603050405020304" pitchFamily="18" charset="0"/>
                <a:cs typeface="Times New Roman" panose="02020603050405020304" pitchFamily="18" charset="0"/>
              </a:rPr>
              <a:t>写出已调信号电压的数学表达式：</a:t>
            </a:r>
          </a:p>
          <a:p>
            <a:pPr eaLnBrk="0" fontAlgn="base" hangingPunct="0">
              <a:spcBef>
                <a:spcPct val="50000"/>
              </a:spcBef>
              <a:spcAft>
                <a:spcPct val="0"/>
              </a:spcAft>
            </a:pPr>
            <a:r>
              <a:rPr lang="en-US" altLang="zh-CN" sz="2000" b="1" dirty="0">
                <a:latin typeface="Times New Roman" panose="02020603050405020304" pitchFamily="18" charset="0"/>
                <a:cs typeface="Times New Roman" panose="02020603050405020304" pitchFamily="18" charset="0"/>
              </a:rPr>
              <a:t>2) </a:t>
            </a:r>
            <a:r>
              <a:rPr lang="zh-CN" altLang="en-US" sz="2000" b="1" dirty="0">
                <a:latin typeface="Times New Roman" panose="02020603050405020304" pitchFamily="18" charset="0"/>
                <a:cs typeface="Times New Roman" panose="02020603050405020304" pitchFamily="18" charset="0"/>
              </a:rPr>
              <a:t>计算在单位电阻上消耗的边带功率和总功率以及已调波的频带宽度。</a:t>
            </a:r>
          </a:p>
        </p:txBody>
      </p:sp>
    </p:spTree>
    <p:extLst>
      <p:ext uri="{BB962C8B-B14F-4D97-AF65-F5344CB8AC3E}">
        <p14:creationId xmlns:p14="http://schemas.microsoft.com/office/powerpoint/2010/main" val="196450719"/>
      </p:ext>
    </p:extLst>
  </p:cSld>
  <p:clrMapOvr>
    <a:masterClrMapping/>
  </p:clrMapOvr>
  <p:timing>
    <p:tnLst>
      <p:par>
        <p:cTn id="1" dur="indefinite" restart="never" nodeType="tmRoot"/>
      </p:par>
    </p:tnLst>
  </p:timing>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214</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6.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振幅调制</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与</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解调</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 name="Rectangle 5">
            <a:extLst>
              <a:ext uri="{FF2B5EF4-FFF2-40B4-BE49-F238E27FC236}">
                <a16:creationId xmlns="" xmlns:a16="http://schemas.microsoft.com/office/drawing/2014/main" id="{DBF82A53-C18B-A8D7-409A-BEF0DCA0E924}"/>
              </a:ext>
            </a:extLst>
          </p:cNvPr>
          <p:cNvSpPr>
            <a:spLocks noChangeArrowheads="1"/>
          </p:cNvSpPr>
          <p:nvPr/>
        </p:nvSpPr>
        <p:spPr bwMode="auto">
          <a:xfrm>
            <a:off x="125328" y="1440572"/>
            <a:ext cx="544091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indent="269875">
              <a:tabLst>
                <a:tab pos="5249863" algn="r"/>
              </a:tabLst>
              <a:defRPr sz="1600" b="1">
                <a:solidFill>
                  <a:schemeClr val="tx1"/>
                </a:solidFill>
                <a:latin typeface="楷体_GB2312" panose="02010609030101010101" pitchFamily="49" charset="-122"/>
                <a:ea typeface="楷体_GB2312" panose="02010609030101010101" pitchFamily="49" charset="-122"/>
              </a:defRPr>
            </a:lvl1pPr>
            <a:lvl2pPr>
              <a:tabLst>
                <a:tab pos="5249863" algn="r"/>
              </a:tabLst>
              <a:defRPr sz="1600" b="1">
                <a:solidFill>
                  <a:schemeClr val="tx1"/>
                </a:solidFill>
                <a:latin typeface="楷体_GB2312" panose="02010609030101010101" pitchFamily="49" charset="-122"/>
                <a:ea typeface="楷体_GB2312" panose="02010609030101010101" pitchFamily="49" charset="-122"/>
              </a:defRPr>
            </a:lvl2pPr>
            <a:lvl3pPr>
              <a:tabLst>
                <a:tab pos="5249863" algn="r"/>
              </a:tabLst>
              <a:defRPr sz="1600" b="1">
                <a:solidFill>
                  <a:schemeClr val="tx1"/>
                </a:solidFill>
                <a:latin typeface="楷体_GB2312" panose="02010609030101010101" pitchFamily="49" charset="-122"/>
                <a:ea typeface="楷体_GB2312" panose="02010609030101010101" pitchFamily="49" charset="-122"/>
              </a:defRPr>
            </a:lvl3pPr>
            <a:lvl4pPr>
              <a:tabLst>
                <a:tab pos="5249863" algn="r"/>
              </a:tabLst>
              <a:defRPr sz="1600" b="1">
                <a:solidFill>
                  <a:schemeClr val="tx1"/>
                </a:solidFill>
                <a:latin typeface="楷体_GB2312" panose="02010609030101010101" pitchFamily="49" charset="-122"/>
                <a:ea typeface="楷体_GB2312" panose="02010609030101010101" pitchFamily="49" charset="-122"/>
              </a:defRPr>
            </a:lvl4pPr>
            <a:lvl5pPr>
              <a:tabLst>
                <a:tab pos="5249863" algn="r"/>
              </a:tabLst>
              <a:defRPr sz="1600" b="1">
                <a:solidFill>
                  <a:schemeClr val="tx1"/>
                </a:solidFill>
                <a:latin typeface="楷体_GB2312" panose="02010609030101010101" pitchFamily="49" charset="-122"/>
                <a:ea typeface="楷体_GB2312" panose="02010609030101010101" pitchFamily="49" charset="-122"/>
              </a:defRPr>
            </a:lvl5pPr>
            <a:lvl6pPr fontAlgn="base">
              <a:spcBef>
                <a:spcPct val="0"/>
              </a:spcBef>
              <a:spcAft>
                <a:spcPct val="0"/>
              </a:spcAft>
              <a:buFont typeface="Arial" panose="020B0604020202020204" pitchFamily="34" charset="0"/>
              <a:tabLst>
                <a:tab pos="5249863" algn="r"/>
              </a:tabLst>
              <a:defRPr sz="1600" b="1">
                <a:solidFill>
                  <a:schemeClr val="tx1"/>
                </a:solidFill>
                <a:latin typeface="楷体_GB2312" panose="02010609030101010101" pitchFamily="49" charset="-122"/>
                <a:ea typeface="楷体_GB2312" panose="02010609030101010101" pitchFamily="49" charset="-122"/>
              </a:defRPr>
            </a:lvl6pPr>
            <a:lvl7pPr fontAlgn="base">
              <a:spcBef>
                <a:spcPct val="0"/>
              </a:spcBef>
              <a:spcAft>
                <a:spcPct val="0"/>
              </a:spcAft>
              <a:buFont typeface="Arial" panose="020B0604020202020204" pitchFamily="34" charset="0"/>
              <a:tabLst>
                <a:tab pos="5249863" algn="r"/>
              </a:tabLst>
              <a:defRPr sz="1600" b="1">
                <a:solidFill>
                  <a:schemeClr val="tx1"/>
                </a:solidFill>
                <a:latin typeface="楷体_GB2312" panose="02010609030101010101" pitchFamily="49" charset="-122"/>
                <a:ea typeface="楷体_GB2312" panose="02010609030101010101" pitchFamily="49" charset="-122"/>
              </a:defRPr>
            </a:lvl7pPr>
            <a:lvl8pPr fontAlgn="base">
              <a:spcBef>
                <a:spcPct val="0"/>
              </a:spcBef>
              <a:spcAft>
                <a:spcPct val="0"/>
              </a:spcAft>
              <a:buFont typeface="Arial" panose="020B0604020202020204" pitchFamily="34" charset="0"/>
              <a:tabLst>
                <a:tab pos="5249863" algn="r"/>
              </a:tabLst>
              <a:defRPr sz="1600" b="1">
                <a:solidFill>
                  <a:schemeClr val="tx1"/>
                </a:solidFill>
                <a:latin typeface="楷体_GB2312" panose="02010609030101010101" pitchFamily="49" charset="-122"/>
                <a:ea typeface="楷体_GB2312" panose="02010609030101010101" pitchFamily="49" charset="-122"/>
              </a:defRPr>
            </a:lvl8pPr>
            <a:lvl9pPr fontAlgn="base">
              <a:spcBef>
                <a:spcPct val="0"/>
              </a:spcBef>
              <a:spcAft>
                <a:spcPct val="0"/>
              </a:spcAft>
              <a:buFont typeface="Arial" panose="020B0604020202020204" pitchFamily="34" charset="0"/>
              <a:tabLst>
                <a:tab pos="5249863" algn="r"/>
              </a:tabLst>
              <a:defRPr sz="1600" b="1">
                <a:solidFill>
                  <a:schemeClr val="tx1"/>
                </a:solidFill>
                <a:latin typeface="楷体_GB2312" panose="02010609030101010101" pitchFamily="49" charset="-122"/>
                <a:ea typeface="楷体_GB2312" panose="02010609030101010101" pitchFamily="49" charset="-122"/>
              </a:defRPr>
            </a:lvl9pPr>
          </a:lstStyle>
          <a:p>
            <a:pPr eaLnBrk="0" fontAlgn="base" hangingPunct="0">
              <a:spcBef>
                <a:spcPct val="0"/>
              </a:spcBef>
              <a:spcAft>
                <a:spcPct val="0"/>
              </a:spcAft>
            </a:pPr>
            <a:r>
              <a:rPr lang="zh-CN" altLang="en-US" sz="2000" dirty="0">
                <a:latin typeface="Times New Roman" panose="02020603050405020304" pitchFamily="18" charset="0"/>
                <a:ea typeface="宋体"/>
                <a:cs typeface="Times New Roman" panose="02020603050405020304" pitchFamily="18" charset="0"/>
              </a:rPr>
              <a:t>  例</a:t>
            </a:r>
            <a:r>
              <a:rPr lang="en-US" altLang="zh-CN" sz="2000" dirty="0">
                <a:latin typeface="Times New Roman" panose="02020603050405020304" pitchFamily="18" charset="0"/>
                <a:ea typeface="宋体"/>
                <a:cs typeface="Times New Roman" panose="02020603050405020304" pitchFamily="18" charset="0"/>
              </a:rPr>
              <a:t>6-1  </a:t>
            </a:r>
            <a:r>
              <a:rPr lang="zh-CN" altLang="en-US" sz="2000" dirty="0">
                <a:latin typeface="Times New Roman" panose="02020603050405020304" pitchFamily="18" charset="0"/>
                <a:ea typeface="宋体"/>
                <a:cs typeface="Times New Roman" panose="02020603050405020304" pitchFamily="18" charset="0"/>
              </a:rPr>
              <a:t>已知已调幅信号的频谱图如图所示。</a:t>
            </a:r>
          </a:p>
        </p:txBody>
      </p:sp>
      <p:graphicFrame>
        <p:nvGraphicFramePr>
          <p:cNvPr id="7" name="Object 4">
            <a:extLst>
              <a:ext uri="{FF2B5EF4-FFF2-40B4-BE49-F238E27FC236}">
                <a16:creationId xmlns="" xmlns:a16="http://schemas.microsoft.com/office/drawing/2014/main" id="{AFE0201B-2DC6-2234-6BDF-423F00A1DEBD}"/>
              </a:ext>
            </a:extLst>
          </p:cNvPr>
          <p:cNvGraphicFramePr>
            <a:graphicFrameLocks/>
          </p:cNvGraphicFramePr>
          <p:nvPr>
            <p:extLst/>
          </p:nvPr>
        </p:nvGraphicFramePr>
        <p:xfrm>
          <a:off x="402693" y="1895025"/>
          <a:ext cx="3240087" cy="1657350"/>
        </p:xfrm>
        <a:graphic>
          <a:graphicData uri="http://schemas.openxmlformats.org/presentationml/2006/ole">
            <mc:AlternateContent xmlns:mc="http://schemas.openxmlformats.org/markup-compatibility/2006">
              <mc:Choice xmlns:v="urn:schemas-microsoft-com:vml" Requires="v">
                <p:oleObj spid="_x0000_s169122" name="Picture" r:id="rId3" imgW="1638360" imgH="838080" progId="Word.Picture.8">
                  <p:embed/>
                </p:oleObj>
              </mc:Choice>
              <mc:Fallback>
                <p:oleObj name="Picture" r:id="rId3" imgW="1638360" imgH="838080" progId="Word.Picture.8">
                  <p:embed/>
                  <p:pic>
                    <p:nvPicPr>
                      <p:cNvPr id="0" name=""/>
                      <p:cNvPicPr>
                        <a:picLocks noChangeArrowheads="1"/>
                      </p:cNvPicPr>
                      <p:nvPr/>
                    </p:nvPicPr>
                    <p:blipFill>
                      <a:blip r:embed="rId4"/>
                      <a:srcRect/>
                      <a:stretch>
                        <a:fillRect/>
                      </a:stretch>
                    </p:blipFill>
                    <p:spPr bwMode="auto">
                      <a:xfrm>
                        <a:off x="402693" y="1895025"/>
                        <a:ext cx="3240087" cy="165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 name="Rectangle 7">
            <a:extLst>
              <a:ext uri="{FF2B5EF4-FFF2-40B4-BE49-F238E27FC236}">
                <a16:creationId xmlns="" xmlns:a16="http://schemas.microsoft.com/office/drawing/2014/main" id="{32A26876-2422-58E2-C8C6-94B1A2D03530}"/>
              </a:ext>
            </a:extLst>
          </p:cNvPr>
          <p:cNvSpPr>
            <a:spLocks noChangeArrowheads="1"/>
          </p:cNvSpPr>
          <p:nvPr/>
        </p:nvSpPr>
        <p:spPr bwMode="auto">
          <a:xfrm>
            <a:off x="3633255" y="1853750"/>
            <a:ext cx="5257800" cy="116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fontAlgn="base" hangingPunct="0">
              <a:spcBef>
                <a:spcPct val="50000"/>
              </a:spcBef>
              <a:spcAft>
                <a:spcPct val="0"/>
              </a:spcAft>
            </a:pPr>
            <a:r>
              <a:rPr lang="en-US" altLang="zh-CN" sz="2000" b="1" dirty="0">
                <a:latin typeface="Times New Roman" panose="02020603050405020304" pitchFamily="18" charset="0"/>
                <a:cs typeface="Times New Roman" panose="02020603050405020304" pitchFamily="18" charset="0"/>
              </a:rPr>
              <a:t>1) </a:t>
            </a:r>
            <a:r>
              <a:rPr lang="zh-CN" altLang="en-US" sz="2000" b="1" dirty="0">
                <a:latin typeface="Times New Roman" panose="02020603050405020304" pitchFamily="18" charset="0"/>
                <a:cs typeface="Times New Roman" panose="02020603050405020304" pitchFamily="18" charset="0"/>
              </a:rPr>
              <a:t>写出已调信号电压的数学表达式：</a:t>
            </a:r>
          </a:p>
          <a:p>
            <a:pPr eaLnBrk="0" fontAlgn="base" hangingPunct="0">
              <a:spcBef>
                <a:spcPct val="50000"/>
              </a:spcBef>
              <a:spcAft>
                <a:spcPct val="0"/>
              </a:spcAft>
            </a:pPr>
            <a:r>
              <a:rPr lang="en-US" altLang="zh-CN" sz="2000" b="1" dirty="0">
                <a:latin typeface="Times New Roman" panose="02020603050405020304" pitchFamily="18" charset="0"/>
                <a:cs typeface="Times New Roman" panose="02020603050405020304" pitchFamily="18" charset="0"/>
              </a:rPr>
              <a:t>2) </a:t>
            </a:r>
            <a:r>
              <a:rPr lang="zh-CN" altLang="en-US" sz="2000" b="1" dirty="0">
                <a:latin typeface="Times New Roman" panose="02020603050405020304" pitchFamily="18" charset="0"/>
                <a:cs typeface="Times New Roman" panose="02020603050405020304" pitchFamily="18" charset="0"/>
              </a:rPr>
              <a:t>计算在单位电阻上消耗的边带功率和总功率以及已调波的频带宽度。</a:t>
            </a:r>
          </a:p>
        </p:txBody>
      </p:sp>
      <p:sp>
        <p:nvSpPr>
          <p:cNvPr id="9" name="Rectangle 9">
            <a:extLst>
              <a:ext uri="{FF2B5EF4-FFF2-40B4-BE49-F238E27FC236}">
                <a16:creationId xmlns="" xmlns:a16="http://schemas.microsoft.com/office/drawing/2014/main" id="{E089ED18-F336-309D-EFA7-8E0F3A9473C0}"/>
              </a:ext>
            </a:extLst>
          </p:cNvPr>
          <p:cNvSpPr>
            <a:spLocks noChangeArrowheads="1"/>
          </p:cNvSpPr>
          <p:nvPr/>
        </p:nvSpPr>
        <p:spPr bwMode="auto">
          <a:xfrm>
            <a:off x="128506" y="3875476"/>
            <a:ext cx="27863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indent="269875">
              <a:tabLst>
                <a:tab pos="5249863" algn="r"/>
              </a:tabLst>
              <a:defRPr sz="1600" b="1">
                <a:solidFill>
                  <a:schemeClr val="tx1"/>
                </a:solidFill>
                <a:latin typeface="楷体_GB2312" panose="02010609030101010101" pitchFamily="49" charset="-122"/>
                <a:ea typeface="楷体_GB2312" panose="02010609030101010101" pitchFamily="49" charset="-122"/>
              </a:defRPr>
            </a:lvl1pPr>
            <a:lvl2pPr>
              <a:tabLst>
                <a:tab pos="5249863" algn="r"/>
              </a:tabLst>
              <a:defRPr sz="1600" b="1">
                <a:solidFill>
                  <a:schemeClr val="tx1"/>
                </a:solidFill>
                <a:latin typeface="楷体_GB2312" panose="02010609030101010101" pitchFamily="49" charset="-122"/>
                <a:ea typeface="楷体_GB2312" panose="02010609030101010101" pitchFamily="49" charset="-122"/>
              </a:defRPr>
            </a:lvl2pPr>
            <a:lvl3pPr>
              <a:tabLst>
                <a:tab pos="5249863" algn="r"/>
              </a:tabLst>
              <a:defRPr sz="1600" b="1">
                <a:solidFill>
                  <a:schemeClr val="tx1"/>
                </a:solidFill>
                <a:latin typeface="楷体_GB2312" panose="02010609030101010101" pitchFamily="49" charset="-122"/>
                <a:ea typeface="楷体_GB2312" panose="02010609030101010101" pitchFamily="49" charset="-122"/>
              </a:defRPr>
            </a:lvl3pPr>
            <a:lvl4pPr>
              <a:tabLst>
                <a:tab pos="5249863" algn="r"/>
              </a:tabLst>
              <a:defRPr sz="1600" b="1">
                <a:solidFill>
                  <a:schemeClr val="tx1"/>
                </a:solidFill>
                <a:latin typeface="楷体_GB2312" panose="02010609030101010101" pitchFamily="49" charset="-122"/>
                <a:ea typeface="楷体_GB2312" panose="02010609030101010101" pitchFamily="49" charset="-122"/>
              </a:defRPr>
            </a:lvl4pPr>
            <a:lvl5pPr>
              <a:tabLst>
                <a:tab pos="5249863" algn="r"/>
              </a:tabLst>
              <a:defRPr sz="1600" b="1">
                <a:solidFill>
                  <a:schemeClr val="tx1"/>
                </a:solidFill>
                <a:latin typeface="楷体_GB2312" panose="02010609030101010101" pitchFamily="49" charset="-122"/>
                <a:ea typeface="楷体_GB2312" panose="02010609030101010101" pitchFamily="49" charset="-122"/>
              </a:defRPr>
            </a:lvl5pPr>
            <a:lvl6pPr fontAlgn="base">
              <a:spcBef>
                <a:spcPct val="0"/>
              </a:spcBef>
              <a:spcAft>
                <a:spcPct val="0"/>
              </a:spcAft>
              <a:buFont typeface="Arial" panose="020B0604020202020204" pitchFamily="34" charset="0"/>
              <a:tabLst>
                <a:tab pos="5249863" algn="r"/>
              </a:tabLst>
              <a:defRPr sz="1600" b="1">
                <a:solidFill>
                  <a:schemeClr val="tx1"/>
                </a:solidFill>
                <a:latin typeface="楷体_GB2312" panose="02010609030101010101" pitchFamily="49" charset="-122"/>
                <a:ea typeface="楷体_GB2312" panose="02010609030101010101" pitchFamily="49" charset="-122"/>
              </a:defRPr>
            </a:lvl6pPr>
            <a:lvl7pPr fontAlgn="base">
              <a:spcBef>
                <a:spcPct val="0"/>
              </a:spcBef>
              <a:spcAft>
                <a:spcPct val="0"/>
              </a:spcAft>
              <a:buFont typeface="Arial" panose="020B0604020202020204" pitchFamily="34" charset="0"/>
              <a:tabLst>
                <a:tab pos="5249863" algn="r"/>
              </a:tabLst>
              <a:defRPr sz="1600" b="1">
                <a:solidFill>
                  <a:schemeClr val="tx1"/>
                </a:solidFill>
                <a:latin typeface="楷体_GB2312" panose="02010609030101010101" pitchFamily="49" charset="-122"/>
                <a:ea typeface="楷体_GB2312" panose="02010609030101010101" pitchFamily="49" charset="-122"/>
              </a:defRPr>
            </a:lvl7pPr>
            <a:lvl8pPr fontAlgn="base">
              <a:spcBef>
                <a:spcPct val="0"/>
              </a:spcBef>
              <a:spcAft>
                <a:spcPct val="0"/>
              </a:spcAft>
              <a:buFont typeface="Arial" panose="020B0604020202020204" pitchFamily="34" charset="0"/>
              <a:tabLst>
                <a:tab pos="5249863" algn="r"/>
              </a:tabLst>
              <a:defRPr sz="1600" b="1">
                <a:solidFill>
                  <a:schemeClr val="tx1"/>
                </a:solidFill>
                <a:latin typeface="楷体_GB2312" panose="02010609030101010101" pitchFamily="49" charset="-122"/>
                <a:ea typeface="楷体_GB2312" panose="02010609030101010101" pitchFamily="49" charset="-122"/>
              </a:defRPr>
            </a:lvl8pPr>
            <a:lvl9pPr fontAlgn="base">
              <a:spcBef>
                <a:spcPct val="0"/>
              </a:spcBef>
              <a:spcAft>
                <a:spcPct val="0"/>
              </a:spcAft>
              <a:buFont typeface="Arial" panose="020B0604020202020204" pitchFamily="34" charset="0"/>
              <a:tabLst>
                <a:tab pos="5249863" algn="r"/>
              </a:tabLst>
              <a:defRPr sz="1600" b="1">
                <a:solidFill>
                  <a:schemeClr val="tx1"/>
                </a:solidFill>
                <a:latin typeface="楷体_GB2312" panose="02010609030101010101" pitchFamily="49" charset="-122"/>
                <a:ea typeface="楷体_GB2312" panose="02010609030101010101" pitchFamily="49" charset="-122"/>
              </a:defRPr>
            </a:lvl9pPr>
          </a:lstStyle>
          <a:p>
            <a:r>
              <a:rPr lang="zh-CN" altLang="en-US" sz="2000" b="0" dirty="0">
                <a:solidFill>
                  <a:srgbClr val="FF0000"/>
                </a:solidFill>
                <a:latin typeface="Times New Roman" panose="02020603050405020304" pitchFamily="18" charset="0"/>
                <a:ea typeface="+mn-ea"/>
                <a:cs typeface="Times New Roman" panose="02020603050405020304" pitchFamily="18" charset="0"/>
              </a:rPr>
              <a:t>解：</a:t>
            </a:r>
            <a:r>
              <a:rPr lang="en-US" altLang="zh-CN" sz="2000" b="0" dirty="0">
                <a:latin typeface="Times New Roman" panose="02020603050405020304" pitchFamily="18" charset="0"/>
                <a:ea typeface="+mn-ea"/>
                <a:cs typeface="Times New Roman" panose="02020603050405020304" pitchFamily="18" charset="0"/>
              </a:rPr>
              <a:t>1) </a:t>
            </a:r>
            <a:r>
              <a:rPr lang="zh-CN" altLang="en-US" sz="2000" b="0" dirty="0">
                <a:latin typeface="+mn-ea"/>
                <a:ea typeface="+mn-ea"/>
              </a:rPr>
              <a:t>根据频谱图知</a:t>
            </a:r>
            <a:endParaRPr lang="zh-CN" altLang="en-US" sz="2400" b="0" dirty="0">
              <a:latin typeface="+mn-ea"/>
              <a:ea typeface="+mn-ea"/>
            </a:endParaRPr>
          </a:p>
        </p:txBody>
      </p:sp>
      <p:graphicFrame>
        <p:nvGraphicFramePr>
          <p:cNvPr id="10" name="Object 8">
            <a:extLst>
              <a:ext uri="{FF2B5EF4-FFF2-40B4-BE49-F238E27FC236}">
                <a16:creationId xmlns="" xmlns:a16="http://schemas.microsoft.com/office/drawing/2014/main" id="{EC30767D-6599-BBC1-A3B4-873D56B3C0DD}"/>
              </a:ext>
            </a:extLst>
          </p:cNvPr>
          <p:cNvGraphicFramePr>
            <a:graphicFrameLocks/>
          </p:cNvGraphicFramePr>
          <p:nvPr>
            <p:extLst/>
          </p:nvPr>
        </p:nvGraphicFramePr>
        <p:xfrm>
          <a:off x="416860" y="4457327"/>
          <a:ext cx="3127375" cy="977900"/>
        </p:xfrm>
        <a:graphic>
          <a:graphicData uri="http://schemas.openxmlformats.org/presentationml/2006/ole">
            <mc:AlternateContent xmlns:mc="http://schemas.openxmlformats.org/markup-compatibility/2006">
              <mc:Choice xmlns:v="urn:schemas-microsoft-com:vml" Requires="v">
                <p:oleObj spid="_x0000_s169123" r:id="rId5" imgW="1714500" imgH="609600" progId="Equation.3">
                  <p:embed/>
                </p:oleObj>
              </mc:Choice>
              <mc:Fallback>
                <p:oleObj r:id="rId5" imgW="1714500" imgH="609600" progId="Equation.3">
                  <p:embed/>
                  <p:pic>
                    <p:nvPicPr>
                      <p:cNvPr id="0" name=""/>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6860" y="4457327"/>
                        <a:ext cx="3127375" cy="97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11" name="组合 18">
            <a:extLst>
              <a:ext uri="{FF2B5EF4-FFF2-40B4-BE49-F238E27FC236}">
                <a16:creationId xmlns="" xmlns:a16="http://schemas.microsoft.com/office/drawing/2014/main" id="{10320194-6FB3-4F94-6A23-D16AEA3B4BCD}"/>
              </a:ext>
            </a:extLst>
          </p:cNvPr>
          <p:cNvGrpSpPr>
            <a:grpSpLocks/>
          </p:cNvGrpSpPr>
          <p:nvPr/>
        </p:nvGrpSpPr>
        <p:grpSpPr bwMode="auto">
          <a:xfrm>
            <a:off x="306614" y="5816697"/>
            <a:ext cx="5650906" cy="400110"/>
            <a:chOff x="785813" y="3378170"/>
            <a:chExt cx="5650906" cy="400110"/>
          </a:xfrm>
        </p:grpSpPr>
        <p:sp>
          <p:nvSpPr>
            <p:cNvPr id="12" name="Rectangle 12">
              <a:extLst>
                <a:ext uri="{FF2B5EF4-FFF2-40B4-BE49-F238E27FC236}">
                  <a16:creationId xmlns="" xmlns:a16="http://schemas.microsoft.com/office/drawing/2014/main" id="{0FAC5DB1-7DDA-B963-11FA-FDC64304E966}"/>
                </a:ext>
              </a:extLst>
            </p:cNvPr>
            <p:cNvSpPr>
              <a:spLocks noChangeArrowheads="1"/>
            </p:cNvSpPr>
            <p:nvPr/>
          </p:nvSpPr>
          <p:spPr bwMode="auto">
            <a:xfrm>
              <a:off x="785813" y="3378170"/>
              <a:ext cx="5650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tabLst>
                  <a:tab pos="5249863" algn="r"/>
                </a:tabLst>
                <a:defRPr sz="1600" b="1">
                  <a:solidFill>
                    <a:schemeClr val="tx1"/>
                  </a:solidFill>
                  <a:latin typeface="楷体_GB2312" panose="02010609030101010101" pitchFamily="49" charset="-122"/>
                  <a:ea typeface="楷体_GB2312" panose="02010609030101010101" pitchFamily="49" charset="-122"/>
                </a:defRPr>
              </a:lvl1pPr>
              <a:lvl2pPr>
                <a:tabLst>
                  <a:tab pos="5249863" algn="r"/>
                </a:tabLst>
                <a:defRPr sz="1600" b="1">
                  <a:solidFill>
                    <a:schemeClr val="tx1"/>
                  </a:solidFill>
                  <a:latin typeface="楷体_GB2312" panose="02010609030101010101" pitchFamily="49" charset="-122"/>
                  <a:ea typeface="楷体_GB2312" panose="02010609030101010101" pitchFamily="49" charset="-122"/>
                </a:defRPr>
              </a:lvl2pPr>
              <a:lvl3pPr>
                <a:tabLst>
                  <a:tab pos="5249863" algn="r"/>
                </a:tabLst>
                <a:defRPr sz="1600" b="1">
                  <a:solidFill>
                    <a:schemeClr val="tx1"/>
                  </a:solidFill>
                  <a:latin typeface="楷体_GB2312" panose="02010609030101010101" pitchFamily="49" charset="-122"/>
                  <a:ea typeface="楷体_GB2312" panose="02010609030101010101" pitchFamily="49" charset="-122"/>
                </a:defRPr>
              </a:lvl3pPr>
              <a:lvl4pPr>
                <a:tabLst>
                  <a:tab pos="5249863" algn="r"/>
                </a:tabLst>
                <a:defRPr sz="1600" b="1">
                  <a:solidFill>
                    <a:schemeClr val="tx1"/>
                  </a:solidFill>
                  <a:latin typeface="楷体_GB2312" panose="02010609030101010101" pitchFamily="49" charset="-122"/>
                  <a:ea typeface="楷体_GB2312" panose="02010609030101010101" pitchFamily="49" charset="-122"/>
                </a:defRPr>
              </a:lvl4pPr>
              <a:lvl5pPr>
                <a:tabLst>
                  <a:tab pos="5249863" algn="r"/>
                </a:tabLst>
                <a:defRPr sz="1600" b="1">
                  <a:solidFill>
                    <a:schemeClr val="tx1"/>
                  </a:solidFill>
                  <a:latin typeface="楷体_GB2312" panose="02010609030101010101" pitchFamily="49" charset="-122"/>
                  <a:ea typeface="楷体_GB2312" panose="02010609030101010101" pitchFamily="49" charset="-122"/>
                </a:defRPr>
              </a:lvl5pPr>
              <a:lvl6pPr fontAlgn="base">
                <a:spcBef>
                  <a:spcPct val="0"/>
                </a:spcBef>
                <a:spcAft>
                  <a:spcPct val="0"/>
                </a:spcAft>
                <a:buFont typeface="Arial" panose="020B0604020202020204" pitchFamily="34" charset="0"/>
                <a:tabLst>
                  <a:tab pos="5249863" algn="r"/>
                </a:tabLst>
                <a:defRPr sz="1600" b="1">
                  <a:solidFill>
                    <a:schemeClr val="tx1"/>
                  </a:solidFill>
                  <a:latin typeface="楷体_GB2312" panose="02010609030101010101" pitchFamily="49" charset="-122"/>
                  <a:ea typeface="楷体_GB2312" panose="02010609030101010101" pitchFamily="49" charset="-122"/>
                </a:defRPr>
              </a:lvl6pPr>
              <a:lvl7pPr fontAlgn="base">
                <a:spcBef>
                  <a:spcPct val="0"/>
                </a:spcBef>
                <a:spcAft>
                  <a:spcPct val="0"/>
                </a:spcAft>
                <a:buFont typeface="Arial" panose="020B0604020202020204" pitchFamily="34" charset="0"/>
                <a:tabLst>
                  <a:tab pos="5249863" algn="r"/>
                </a:tabLst>
                <a:defRPr sz="1600" b="1">
                  <a:solidFill>
                    <a:schemeClr val="tx1"/>
                  </a:solidFill>
                  <a:latin typeface="楷体_GB2312" panose="02010609030101010101" pitchFamily="49" charset="-122"/>
                  <a:ea typeface="楷体_GB2312" panose="02010609030101010101" pitchFamily="49" charset="-122"/>
                </a:defRPr>
              </a:lvl7pPr>
              <a:lvl8pPr fontAlgn="base">
                <a:spcBef>
                  <a:spcPct val="0"/>
                </a:spcBef>
                <a:spcAft>
                  <a:spcPct val="0"/>
                </a:spcAft>
                <a:buFont typeface="Arial" panose="020B0604020202020204" pitchFamily="34" charset="0"/>
                <a:tabLst>
                  <a:tab pos="5249863" algn="r"/>
                </a:tabLst>
                <a:defRPr sz="1600" b="1">
                  <a:solidFill>
                    <a:schemeClr val="tx1"/>
                  </a:solidFill>
                  <a:latin typeface="楷体_GB2312" panose="02010609030101010101" pitchFamily="49" charset="-122"/>
                  <a:ea typeface="楷体_GB2312" panose="02010609030101010101" pitchFamily="49" charset="-122"/>
                </a:defRPr>
              </a:lvl8pPr>
              <a:lvl9pPr fontAlgn="base">
                <a:spcBef>
                  <a:spcPct val="0"/>
                </a:spcBef>
                <a:spcAft>
                  <a:spcPct val="0"/>
                </a:spcAft>
                <a:buFont typeface="Arial" panose="020B0604020202020204" pitchFamily="34" charset="0"/>
                <a:tabLst>
                  <a:tab pos="5249863" algn="r"/>
                </a:tabLst>
                <a:defRPr sz="1600" b="1">
                  <a:solidFill>
                    <a:schemeClr val="tx1"/>
                  </a:solidFill>
                  <a:latin typeface="楷体_GB2312" panose="02010609030101010101" pitchFamily="49" charset="-122"/>
                  <a:ea typeface="楷体_GB2312" panose="02010609030101010101" pitchFamily="49" charset="-122"/>
                </a:defRPr>
              </a:lvl9pPr>
            </a:lstStyle>
            <a:p>
              <a:r>
                <a:rPr lang="zh-CN" altLang="en-US" sz="2000" dirty="0" smtClean="0">
                  <a:latin typeface="+mn-ea"/>
                  <a:ea typeface="+mn-ea"/>
                </a:rPr>
                <a:t>因此</a:t>
              </a:r>
              <a:r>
                <a:rPr lang="en-US" altLang="zh-CN" sz="2000" dirty="0" smtClean="0">
                  <a:latin typeface="Times New Roman" panose="02020603050405020304" pitchFamily="18" charset="0"/>
                  <a:ea typeface="+mn-ea"/>
                  <a:cs typeface="Times New Roman" panose="02020603050405020304" pitchFamily="18" charset="0"/>
                </a:rPr>
                <a:t>V</a:t>
              </a:r>
              <a:r>
                <a:rPr lang="en-US" altLang="zh-CN" sz="1000" dirty="0" smtClean="0">
                  <a:latin typeface="Times New Roman" panose="02020603050405020304" pitchFamily="18" charset="0"/>
                  <a:ea typeface="+mn-ea"/>
                  <a:cs typeface="Times New Roman" panose="02020603050405020304" pitchFamily="18" charset="0"/>
                </a:rPr>
                <a:t>AM</a:t>
              </a:r>
              <a:r>
                <a:rPr lang="en-US" altLang="zh-CN" sz="2000" dirty="0" smtClean="0">
                  <a:latin typeface="Times New Roman" panose="02020603050405020304" pitchFamily="18" charset="0"/>
                  <a:ea typeface="+mn-ea"/>
                  <a:cs typeface="Times New Roman" panose="02020603050405020304" pitchFamily="18" charset="0"/>
                </a:rPr>
                <a:t>(t</a:t>
              </a:r>
              <a:r>
                <a:rPr lang="en-US" altLang="zh-CN" sz="2000" dirty="0">
                  <a:latin typeface="Times New Roman" panose="02020603050405020304" pitchFamily="18" charset="0"/>
                  <a:ea typeface="+mn-ea"/>
                  <a:cs typeface="Times New Roman" panose="02020603050405020304" pitchFamily="18" charset="0"/>
                </a:rPr>
                <a:t>)= 2(1+0.3cos2</a:t>
              </a:r>
              <a:r>
                <a:rPr lang="en-US" altLang="zh-CN" sz="2000" dirty="0">
                  <a:latin typeface="Times New Roman" panose="02020603050405020304" pitchFamily="18" charset="0"/>
                  <a:ea typeface="+mn-ea"/>
                  <a:cs typeface="Times New Roman" panose="02020603050405020304" pitchFamily="18" charset="0"/>
                  <a:sym typeface="Symbol" panose="05050102010706020507" pitchFamily="18" charset="2"/>
                </a:rPr>
                <a:t>     t)cos2      t(V)</a:t>
              </a:r>
              <a:r>
                <a:rPr lang="zh-CN" altLang="en-US" sz="2000" dirty="0">
                  <a:latin typeface="Times New Roman" panose="02020603050405020304" pitchFamily="18" charset="0"/>
                  <a:ea typeface="+mn-ea"/>
                  <a:cs typeface="Times New Roman" panose="02020603050405020304" pitchFamily="18" charset="0"/>
                  <a:sym typeface="Symbol" panose="05050102010706020507" pitchFamily="18" charset="2"/>
                </a:rPr>
                <a:t>。</a:t>
              </a:r>
            </a:p>
          </p:txBody>
        </p:sp>
        <p:graphicFrame>
          <p:nvGraphicFramePr>
            <p:cNvPr id="13" name="Object 22">
              <a:extLst>
                <a:ext uri="{FF2B5EF4-FFF2-40B4-BE49-F238E27FC236}">
                  <a16:creationId xmlns="" xmlns:a16="http://schemas.microsoft.com/office/drawing/2014/main" id="{7002B70B-9699-F080-4167-52EBDE1CC0BB}"/>
                </a:ext>
              </a:extLst>
            </p:cNvPr>
            <p:cNvGraphicFramePr>
              <a:graphicFrameLocks/>
            </p:cNvGraphicFramePr>
            <p:nvPr>
              <p:extLst/>
            </p:nvPr>
          </p:nvGraphicFramePr>
          <p:xfrm>
            <a:off x="3762777" y="3418335"/>
            <a:ext cx="366697" cy="344784"/>
          </p:xfrm>
          <a:graphic>
            <a:graphicData uri="http://schemas.openxmlformats.org/presentationml/2006/ole">
              <mc:AlternateContent xmlns:mc="http://schemas.openxmlformats.org/markup-compatibility/2006">
                <mc:Choice xmlns:v="urn:schemas-microsoft-com:vml" Requires="v">
                  <p:oleObj spid="_x0000_s169124" r:id="rId7" imgW="241091" imgH="203024" progId="Equation.3">
                    <p:embed/>
                  </p:oleObj>
                </mc:Choice>
                <mc:Fallback>
                  <p:oleObj r:id="rId7" imgW="241091" imgH="203024" progId="Equation.3">
                    <p:embed/>
                    <p:pic>
                      <p:nvPicPr>
                        <p:cNvPr id="0" name=""/>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62777" y="3418335"/>
                          <a:ext cx="366697" cy="344784"/>
                        </a:xfrm>
                        <a:prstGeom prst="rect">
                          <a:avLst/>
                        </a:prstGeom>
                        <a:noFill/>
                        <a:ln>
                          <a:noFill/>
                        </a:ln>
                      </p:spPr>
                    </p:pic>
                  </p:oleObj>
                </mc:Fallback>
              </mc:AlternateContent>
            </a:graphicData>
          </a:graphic>
        </p:graphicFrame>
        <p:graphicFrame>
          <p:nvGraphicFramePr>
            <p:cNvPr id="14" name="Object 23">
              <a:extLst>
                <a:ext uri="{FF2B5EF4-FFF2-40B4-BE49-F238E27FC236}">
                  <a16:creationId xmlns="" xmlns:a16="http://schemas.microsoft.com/office/drawing/2014/main" id="{188CC07B-86C1-9DCD-FFA3-69EA2E1D1034}"/>
                </a:ext>
              </a:extLst>
            </p:cNvPr>
            <p:cNvGraphicFramePr>
              <a:graphicFrameLocks/>
            </p:cNvGraphicFramePr>
            <p:nvPr>
              <p:extLst/>
            </p:nvPr>
          </p:nvGraphicFramePr>
          <p:xfrm>
            <a:off x="5045398" y="3418335"/>
            <a:ext cx="366697" cy="344784"/>
          </p:xfrm>
          <a:graphic>
            <a:graphicData uri="http://schemas.openxmlformats.org/presentationml/2006/ole">
              <mc:AlternateContent xmlns:mc="http://schemas.openxmlformats.org/markup-compatibility/2006">
                <mc:Choice xmlns:v="urn:schemas-microsoft-com:vml" Requires="v">
                  <p:oleObj spid="_x0000_s169125" r:id="rId9" imgW="228402" imgH="203024" progId="Equation.3">
                    <p:embed/>
                  </p:oleObj>
                </mc:Choice>
                <mc:Fallback>
                  <p:oleObj r:id="rId9" imgW="228402" imgH="203024" progId="Equation.3">
                    <p:embed/>
                    <p:pic>
                      <p:nvPicPr>
                        <p:cNvPr id="0" name=""/>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045398" y="3418335"/>
                          <a:ext cx="366697" cy="344784"/>
                        </a:xfrm>
                        <a:prstGeom prst="rect">
                          <a:avLst/>
                        </a:prstGeom>
                        <a:noFill/>
                        <a:ln>
                          <a:noFill/>
                        </a:ln>
                      </p:spPr>
                    </p:pic>
                  </p:oleObj>
                </mc:Fallback>
              </mc:AlternateContent>
            </a:graphicData>
          </a:graphic>
        </p:graphicFrame>
      </p:grpSp>
      <p:sp>
        <p:nvSpPr>
          <p:cNvPr id="15" name="Rectangle 16">
            <a:extLst>
              <a:ext uri="{FF2B5EF4-FFF2-40B4-BE49-F238E27FC236}">
                <a16:creationId xmlns="" xmlns:a16="http://schemas.microsoft.com/office/drawing/2014/main" id="{A3C4EE33-4927-F90E-4706-CE883B462AD2}"/>
              </a:ext>
            </a:extLst>
          </p:cNvPr>
          <p:cNvSpPr>
            <a:spLocks noChangeArrowheads="1"/>
          </p:cNvSpPr>
          <p:nvPr/>
        </p:nvSpPr>
        <p:spPr bwMode="auto">
          <a:xfrm>
            <a:off x="3270403" y="3646276"/>
            <a:ext cx="232788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2000" b="0" dirty="0">
                <a:solidFill>
                  <a:schemeClr val="tx1"/>
                </a:solidFill>
                <a:latin typeface="Times New Roman" panose="02020603050405020304" pitchFamily="18" charset="0"/>
                <a:ea typeface="+mn-ea"/>
                <a:cs typeface="Times New Roman" panose="02020603050405020304" pitchFamily="18" charset="0"/>
              </a:rPr>
              <a:t>  </a:t>
            </a:r>
            <a:r>
              <a:rPr lang="en-US" altLang="zh-CN" sz="2000" b="0" dirty="0">
                <a:solidFill>
                  <a:schemeClr val="tx1"/>
                </a:solidFill>
                <a:latin typeface="Times New Roman" panose="02020603050405020304" pitchFamily="18" charset="0"/>
                <a:ea typeface="+mn-ea"/>
                <a:cs typeface="Times New Roman" panose="02020603050405020304" pitchFamily="18" charset="0"/>
              </a:rPr>
              <a:t>2) </a:t>
            </a:r>
            <a:r>
              <a:rPr lang="zh-CN" altLang="en-US" sz="2000" b="0" dirty="0">
                <a:solidFill>
                  <a:schemeClr val="tx1"/>
                </a:solidFill>
                <a:latin typeface="Times New Roman" panose="02020603050405020304" pitchFamily="18" charset="0"/>
                <a:ea typeface="+mn-ea"/>
                <a:cs typeface="Times New Roman" panose="02020603050405020304" pitchFamily="18" charset="0"/>
              </a:rPr>
              <a:t>载波功率           </a:t>
            </a:r>
          </a:p>
        </p:txBody>
      </p:sp>
      <p:sp>
        <p:nvSpPr>
          <p:cNvPr id="16" name="Rectangle 17">
            <a:extLst>
              <a:ext uri="{FF2B5EF4-FFF2-40B4-BE49-F238E27FC236}">
                <a16:creationId xmlns="" xmlns:a16="http://schemas.microsoft.com/office/drawing/2014/main" id="{D528B496-5F5F-82AC-6F2D-D4E4065CAAC3}"/>
              </a:ext>
            </a:extLst>
          </p:cNvPr>
          <p:cNvSpPr>
            <a:spLocks noChangeArrowheads="1"/>
          </p:cNvSpPr>
          <p:nvPr/>
        </p:nvSpPr>
        <p:spPr bwMode="auto">
          <a:xfrm>
            <a:off x="3535113" y="4218527"/>
            <a:ext cx="23764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000" b="0" dirty="0">
                <a:solidFill>
                  <a:schemeClr val="tx1"/>
                </a:solidFill>
                <a:latin typeface="+mn-ea"/>
                <a:ea typeface="+mn-ea"/>
              </a:rPr>
              <a:t>双边带功率          </a:t>
            </a:r>
          </a:p>
        </p:txBody>
      </p:sp>
      <p:graphicFrame>
        <p:nvGraphicFramePr>
          <p:cNvPr id="17" name="Object 14">
            <a:extLst>
              <a:ext uri="{FF2B5EF4-FFF2-40B4-BE49-F238E27FC236}">
                <a16:creationId xmlns="" xmlns:a16="http://schemas.microsoft.com/office/drawing/2014/main" id="{03AD9DE4-C566-E9F8-AD9C-F962603645CF}"/>
              </a:ext>
            </a:extLst>
          </p:cNvPr>
          <p:cNvGraphicFramePr>
            <a:graphicFrameLocks/>
          </p:cNvGraphicFramePr>
          <p:nvPr>
            <p:extLst/>
          </p:nvPr>
        </p:nvGraphicFramePr>
        <p:xfrm>
          <a:off x="4881034" y="4106410"/>
          <a:ext cx="4206819" cy="652639"/>
        </p:xfrm>
        <a:graphic>
          <a:graphicData uri="http://schemas.openxmlformats.org/presentationml/2006/ole">
            <mc:AlternateContent xmlns:mc="http://schemas.openxmlformats.org/markup-compatibility/2006">
              <mc:Choice xmlns:v="urn:schemas-microsoft-com:vml" Requires="v">
                <p:oleObj spid="_x0000_s169126" r:id="rId11" imgW="2298700" imgH="355600" progId="Equation.3">
                  <p:embed/>
                </p:oleObj>
              </mc:Choice>
              <mc:Fallback>
                <p:oleObj r:id="rId11" imgW="2298700" imgH="355600" progId="Equation.3">
                  <p:embed/>
                  <p:pic>
                    <p:nvPicPr>
                      <p:cNvPr id="0" name=""/>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881034" y="4106410"/>
                        <a:ext cx="4206819" cy="652639"/>
                      </a:xfrm>
                      <a:prstGeom prst="rect">
                        <a:avLst/>
                      </a:prstGeom>
                      <a:noFill/>
                      <a:ln>
                        <a:noFill/>
                      </a:ln>
                      <a:extLst/>
                    </p:spPr>
                  </p:pic>
                </p:oleObj>
              </mc:Fallback>
            </mc:AlternateContent>
          </a:graphicData>
        </a:graphic>
      </p:graphicFrame>
      <p:sp>
        <p:nvSpPr>
          <p:cNvPr id="18" name="Rectangle 18">
            <a:extLst>
              <a:ext uri="{FF2B5EF4-FFF2-40B4-BE49-F238E27FC236}">
                <a16:creationId xmlns="" xmlns:a16="http://schemas.microsoft.com/office/drawing/2014/main" id="{1EA6AD61-74FB-105D-21C3-8DA7FE40E91F}"/>
              </a:ext>
            </a:extLst>
          </p:cNvPr>
          <p:cNvSpPr>
            <a:spLocks noChangeArrowheads="1"/>
          </p:cNvSpPr>
          <p:nvPr/>
        </p:nvSpPr>
        <p:spPr bwMode="auto">
          <a:xfrm>
            <a:off x="3509134" y="4753903"/>
            <a:ext cx="20891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000" b="0" dirty="0">
                <a:solidFill>
                  <a:schemeClr val="tx1"/>
                </a:solidFill>
                <a:latin typeface="+mn-ea"/>
                <a:ea typeface="+mn-ea"/>
              </a:rPr>
              <a:t>总功率              </a:t>
            </a:r>
          </a:p>
        </p:txBody>
      </p:sp>
      <p:graphicFrame>
        <p:nvGraphicFramePr>
          <p:cNvPr id="19" name="Object 13">
            <a:extLst>
              <a:ext uri="{FF2B5EF4-FFF2-40B4-BE49-F238E27FC236}">
                <a16:creationId xmlns="" xmlns:a16="http://schemas.microsoft.com/office/drawing/2014/main" id="{E208F808-7C16-157F-F501-692A079EEB95}"/>
              </a:ext>
            </a:extLst>
          </p:cNvPr>
          <p:cNvGraphicFramePr>
            <a:graphicFrameLocks/>
          </p:cNvGraphicFramePr>
          <p:nvPr>
            <p:extLst/>
          </p:nvPr>
        </p:nvGraphicFramePr>
        <p:xfrm>
          <a:off x="4381962" y="4781182"/>
          <a:ext cx="4509093" cy="384379"/>
        </p:xfrm>
        <a:graphic>
          <a:graphicData uri="http://schemas.openxmlformats.org/presentationml/2006/ole">
            <mc:AlternateContent xmlns:mc="http://schemas.openxmlformats.org/markup-compatibility/2006">
              <mc:Choice xmlns:v="urn:schemas-microsoft-com:vml" Requires="v">
                <p:oleObj spid="_x0000_s169127" r:id="rId13" imgW="2184400" imgH="203200" progId="Equation.3">
                  <p:embed/>
                </p:oleObj>
              </mc:Choice>
              <mc:Fallback>
                <p:oleObj r:id="rId13" imgW="2184400" imgH="203200" progId="Equation.3">
                  <p:embed/>
                  <p:pic>
                    <p:nvPicPr>
                      <p:cNvPr id="0" name=""/>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381962" y="4781182"/>
                        <a:ext cx="4509093" cy="384379"/>
                      </a:xfrm>
                      <a:prstGeom prst="rect">
                        <a:avLst/>
                      </a:prstGeom>
                      <a:noFill/>
                      <a:ln>
                        <a:noFill/>
                      </a:ln>
                      <a:extLst/>
                    </p:spPr>
                  </p:pic>
                </p:oleObj>
              </mc:Fallback>
            </mc:AlternateContent>
          </a:graphicData>
        </a:graphic>
      </p:graphicFrame>
      <p:sp>
        <p:nvSpPr>
          <p:cNvPr id="20" name="Rectangle 20">
            <a:extLst>
              <a:ext uri="{FF2B5EF4-FFF2-40B4-BE49-F238E27FC236}">
                <a16:creationId xmlns="" xmlns:a16="http://schemas.microsoft.com/office/drawing/2014/main" id="{78E566A1-F8BA-E855-D2DF-88DD5691346D}"/>
              </a:ext>
            </a:extLst>
          </p:cNvPr>
          <p:cNvSpPr>
            <a:spLocks noChangeArrowheads="1"/>
          </p:cNvSpPr>
          <p:nvPr/>
        </p:nvSpPr>
        <p:spPr bwMode="auto">
          <a:xfrm>
            <a:off x="3410519" y="5235172"/>
            <a:ext cx="28985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2000" b="0" dirty="0">
                <a:solidFill>
                  <a:schemeClr val="tx1"/>
                </a:solidFill>
                <a:latin typeface="+mn-ea"/>
                <a:ea typeface="+mn-ea"/>
              </a:rPr>
              <a:t> 已调波的频带宽度    </a:t>
            </a:r>
          </a:p>
        </p:txBody>
      </p:sp>
      <p:graphicFrame>
        <p:nvGraphicFramePr>
          <p:cNvPr id="21" name="Object 19">
            <a:extLst>
              <a:ext uri="{FF2B5EF4-FFF2-40B4-BE49-F238E27FC236}">
                <a16:creationId xmlns="" xmlns:a16="http://schemas.microsoft.com/office/drawing/2014/main" id="{4ADEAD86-EA2E-E8AA-CEFA-9EE39DAB81CA}"/>
              </a:ext>
            </a:extLst>
          </p:cNvPr>
          <p:cNvGraphicFramePr>
            <a:graphicFrameLocks/>
          </p:cNvGraphicFramePr>
          <p:nvPr>
            <p:extLst/>
          </p:nvPr>
        </p:nvGraphicFramePr>
        <p:xfrm>
          <a:off x="5641091" y="5271931"/>
          <a:ext cx="2013906" cy="372236"/>
        </p:xfrm>
        <a:graphic>
          <a:graphicData uri="http://schemas.openxmlformats.org/presentationml/2006/ole">
            <mc:AlternateContent xmlns:mc="http://schemas.openxmlformats.org/markup-compatibility/2006">
              <mc:Choice xmlns:v="urn:schemas-microsoft-com:vml" Requires="v">
                <p:oleObj spid="_x0000_s169128" r:id="rId15" imgW="926698" imgH="203112" progId="Equation.3">
                  <p:embed/>
                </p:oleObj>
              </mc:Choice>
              <mc:Fallback>
                <p:oleObj r:id="rId15" imgW="926698" imgH="203112" progId="Equation.3">
                  <p:embed/>
                  <p:pic>
                    <p:nvPicPr>
                      <p:cNvPr id="0" name=""/>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641091" y="5271931"/>
                        <a:ext cx="2013906" cy="372236"/>
                      </a:xfrm>
                      <a:prstGeom prst="rect">
                        <a:avLst/>
                      </a:prstGeom>
                      <a:noFill/>
                      <a:ln>
                        <a:noFill/>
                      </a:ln>
                      <a:extLst/>
                    </p:spPr>
                  </p:pic>
                </p:oleObj>
              </mc:Fallback>
            </mc:AlternateContent>
          </a:graphicData>
        </a:graphic>
      </p:graphicFrame>
      <p:sp>
        <p:nvSpPr>
          <p:cNvPr id="22" name="Rectangle 21">
            <a:extLst>
              <a:ext uri="{FF2B5EF4-FFF2-40B4-BE49-F238E27FC236}">
                <a16:creationId xmlns="" xmlns:a16="http://schemas.microsoft.com/office/drawing/2014/main" id="{578DE858-AA83-2811-1E3A-F80D30A57C75}"/>
              </a:ext>
            </a:extLst>
          </p:cNvPr>
          <p:cNvSpPr>
            <a:spLocks noChangeArrowheads="1"/>
          </p:cNvSpPr>
          <p:nvPr/>
        </p:nvSpPr>
        <p:spPr bwMode="auto">
          <a:xfrm>
            <a:off x="7523183" y="5227666"/>
            <a:ext cx="91082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en-US" altLang="zh-CN" sz="2000" b="0" dirty="0">
                <a:solidFill>
                  <a:schemeClr val="tx1"/>
                </a:solidFill>
                <a:latin typeface="Times New Roman" panose="02020603050405020304" pitchFamily="18" charset="0"/>
                <a:ea typeface="+mn-ea"/>
                <a:cs typeface="Times New Roman" panose="02020603050405020304" pitchFamily="18" charset="0"/>
              </a:rPr>
              <a:t>(Hz)    </a:t>
            </a:r>
          </a:p>
        </p:txBody>
      </p:sp>
      <p:graphicFrame>
        <p:nvGraphicFramePr>
          <p:cNvPr id="23" name="对象 22">
            <a:extLst>
              <a:ext uri="{FF2B5EF4-FFF2-40B4-BE49-F238E27FC236}">
                <a16:creationId xmlns="" xmlns:a16="http://schemas.microsoft.com/office/drawing/2014/main" id="{2419EA44-616E-8FB0-0800-2DF1E2170E16}"/>
              </a:ext>
            </a:extLst>
          </p:cNvPr>
          <p:cNvGraphicFramePr>
            <a:graphicFrameLocks noChangeAspect="1"/>
          </p:cNvGraphicFramePr>
          <p:nvPr>
            <p:extLst/>
          </p:nvPr>
        </p:nvGraphicFramePr>
        <p:xfrm>
          <a:off x="4881034" y="3444513"/>
          <a:ext cx="3024187" cy="701675"/>
        </p:xfrm>
        <a:graphic>
          <a:graphicData uri="http://schemas.openxmlformats.org/presentationml/2006/ole">
            <mc:AlternateContent xmlns:mc="http://schemas.openxmlformats.org/markup-compatibility/2006">
              <mc:Choice xmlns:v="urn:schemas-microsoft-com:vml" Requires="v">
                <p:oleObj spid="_x0000_s169129" name="Equation" r:id="rId17" imgW="3023866" imgH="701305" progId="Equation.DSMT4">
                  <p:embed/>
                </p:oleObj>
              </mc:Choice>
              <mc:Fallback>
                <p:oleObj name="Equation" r:id="rId17" imgW="3023866" imgH="701305" progId="Equation.DSMT4">
                  <p:embed/>
                  <p:pic>
                    <p:nvPicPr>
                      <p:cNvPr id="0" name=""/>
                      <p:cNvPicPr/>
                      <p:nvPr/>
                    </p:nvPicPr>
                    <p:blipFill>
                      <a:blip r:embed="rId18"/>
                      <a:stretch>
                        <a:fillRect/>
                      </a:stretch>
                    </p:blipFill>
                    <p:spPr>
                      <a:xfrm>
                        <a:off x="4881034" y="3444513"/>
                        <a:ext cx="3024187" cy="701675"/>
                      </a:xfrm>
                      <a:prstGeom prst="rect">
                        <a:avLst/>
                      </a:prstGeom>
                    </p:spPr>
                  </p:pic>
                </p:oleObj>
              </mc:Fallback>
            </mc:AlternateContent>
          </a:graphicData>
        </a:graphic>
      </p:graphicFrame>
    </p:spTree>
    <p:extLst>
      <p:ext uri="{BB962C8B-B14F-4D97-AF65-F5344CB8AC3E}">
        <p14:creationId xmlns:p14="http://schemas.microsoft.com/office/powerpoint/2010/main" val="2560659477"/>
      </p:ext>
    </p:extLst>
  </p:cSld>
  <p:clrMapOvr>
    <a:masterClrMapping/>
  </p:clrMapOvr>
  <p:timing>
    <p:tnLst>
      <p:par>
        <p:cTn id="1" dur="indefinite" restart="never" nodeType="tmRoot"/>
      </p:par>
    </p:tnLst>
  </p:timing>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215</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6.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振幅调制</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与</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解调</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 name="Rectangle 169">
            <a:extLst>
              <a:ext uri="{FF2B5EF4-FFF2-40B4-BE49-F238E27FC236}">
                <a16:creationId xmlns="" xmlns:a16="http://schemas.microsoft.com/office/drawing/2014/main" id="{0E355FF6-346C-8549-22E3-0A1EFD0C6006}"/>
              </a:ext>
            </a:extLst>
          </p:cNvPr>
          <p:cNvSpPr>
            <a:spLocks noChangeArrowheads="1"/>
          </p:cNvSpPr>
          <p:nvPr/>
        </p:nvSpPr>
        <p:spPr bwMode="auto">
          <a:xfrm>
            <a:off x="467544" y="1268760"/>
            <a:ext cx="7484765"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sz="2200" dirty="0" smtClean="0">
                <a:latin typeface="Times New Roman" panose="02020603050405020304" pitchFamily="18" charset="0"/>
                <a:cs typeface="Times New Roman" panose="02020603050405020304" pitchFamily="18" charset="0"/>
              </a:rPr>
              <a:t>抑制</a:t>
            </a:r>
            <a:r>
              <a:rPr lang="zh-CN" altLang="en-US" sz="2200" dirty="0">
                <a:latin typeface="Times New Roman" panose="02020603050405020304" pitchFamily="18" charset="0"/>
                <a:cs typeface="Times New Roman" panose="02020603050405020304" pitchFamily="18" charset="0"/>
              </a:rPr>
              <a:t>载波的双边带调幅波与单边带调幅波</a:t>
            </a:r>
          </a:p>
        </p:txBody>
      </p:sp>
      <p:sp>
        <p:nvSpPr>
          <p:cNvPr id="7" name="Text Box 4">
            <a:extLst>
              <a:ext uri="{FF2B5EF4-FFF2-40B4-BE49-F238E27FC236}">
                <a16:creationId xmlns="" xmlns:a16="http://schemas.microsoft.com/office/drawing/2014/main" id="{1FB838C6-CB00-2119-5C00-071049566C2F}"/>
              </a:ext>
            </a:extLst>
          </p:cNvPr>
          <p:cNvSpPr txBox="1">
            <a:spLocks noChangeArrowheads="1"/>
          </p:cNvSpPr>
          <p:nvPr/>
        </p:nvSpPr>
        <p:spPr bwMode="auto">
          <a:xfrm>
            <a:off x="467544" y="1720899"/>
            <a:ext cx="519588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000" dirty="0">
                <a:latin typeface="Times New Roman" panose="02020603050405020304" pitchFamily="18" charset="0"/>
                <a:cs typeface="Times New Roman" panose="02020603050405020304" pitchFamily="18" charset="0"/>
              </a:rPr>
              <a:t>1.</a:t>
            </a:r>
            <a:r>
              <a:rPr lang="zh-CN" altLang="en-US" sz="2000" dirty="0">
                <a:latin typeface="Times New Roman" panose="02020603050405020304" pitchFamily="18" charset="0"/>
                <a:cs typeface="Times New Roman" panose="02020603050405020304" pitchFamily="18" charset="0"/>
              </a:rPr>
              <a:t>抑制载波的双边带调幅波</a:t>
            </a:r>
            <a:r>
              <a:rPr lang="en-US" altLang="zh-CN" sz="2000" dirty="0">
                <a:latin typeface="Times New Roman" panose="02020603050405020304" pitchFamily="18" charset="0"/>
                <a:cs typeface="Times New Roman" panose="02020603050405020304" pitchFamily="18" charset="0"/>
              </a:rPr>
              <a:t>——DSB</a:t>
            </a:r>
            <a:endParaRPr lang="zh-CN" altLang="en-US" sz="2000" dirty="0">
              <a:latin typeface="Times New Roman" panose="02020603050405020304" pitchFamily="18" charset="0"/>
              <a:cs typeface="Times New Roman" panose="02020603050405020304" pitchFamily="18" charset="0"/>
            </a:endParaRPr>
          </a:p>
        </p:txBody>
      </p:sp>
      <p:sp>
        <p:nvSpPr>
          <p:cNvPr id="8" name="Text Box 5">
            <a:extLst>
              <a:ext uri="{FF2B5EF4-FFF2-40B4-BE49-F238E27FC236}">
                <a16:creationId xmlns="" xmlns:a16="http://schemas.microsoft.com/office/drawing/2014/main" id="{2A15E6A4-AAD0-8EBC-0544-AB53B5E7C022}"/>
              </a:ext>
            </a:extLst>
          </p:cNvPr>
          <p:cNvSpPr txBox="1">
            <a:spLocks noChangeArrowheads="1"/>
          </p:cNvSpPr>
          <p:nvPr/>
        </p:nvSpPr>
        <p:spPr bwMode="auto">
          <a:xfrm>
            <a:off x="131061" y="2138601"/>
            <a:ext cx="8889722"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000" dirty="0">
                <a:latin typeface="Times New Roman" panose="02020603050405020304" pitchFamily="18" charset="0"/>
                <a:cs typeface="Times New Roman" panose="02020603050405020304" pitchFamily="18" charset="0"/>
              </a:rPr>
              <a:t>    为了克服普通调幅波效率低的缺点，提高设备的功率利用率，可以不发送载波，而只发送边带信号</a:t>
            </a:r>
            <a:r>
              <a:rPr lang="zh-CN" altLang="en-US" sz="2000" dirty="0">
                <a:latin typeface="Times New Roman" panose="02020603050405020304" pitchFamily="18" charset="0"/>
                <a:cs typeface="Times New Roman" panose="02020603050405020304" pitchFamily="18" charset="0"/>
              </a:rPr>
              <a:t>。抑制载波的双边带调幅波</a:t>
            </a:r>
            <a:r>
              <a:rPr lang="en-US" altLang="zh-CN" sz="2000" dirty="0">
                <a:latin typeface="Times New Roman" panose="02020603050405020304" pitchFamily="18" charset="0"/>
                <a:cs typeface="Times New Roman" panose="02020603050405020304" pitchFamily="18" charset="0"/>
              </a:rPr>
              <a:t>(DSB AM) </a:t>
            </a:r>
            <a:r>
              <a:rPr lang="zh-CN" altLang="en-US" sz="2000" dirty="0">
                <a:latin typeface="Times New Roman" panose="02020603050405020304" pitchFamily="18" charset="0"/>
                <a:cs typeface="Times New Roman" panose="02020603050405020304" pitchFamily="18" charset="0"/>
              </a:rPr>
              <a:t>其数学表达式为</a:t>
            </a:r>
          </a:p>
          <a:p>
            <a:endParaRPr lang="zh-CN" altLang="en-US" sz="2000" dirty="0">
              <a:latin typeface="Times New Roman" panose="02020603050405020304" pitchFamily="18" charset="0"/>
              <a:cs typeface="Times New Roman" panose="02020603050405020304" pitchFamily="18" charset="0"/>
            </a:endParaRPr>
          </a:p>
        </p:txBody>
      </p:sp>
      <p:graphicFrame>
        <p:nvGraphicFramePr>
          <p:cNvPr id="10" name="Object 7">
            <a:extLst>
              <a:ext uri="{FF2B5EF4-FFF2-40B4-BE49-F238E27FC236}">
                <a16:creationId xmlns="" xmlns:a16="http://schemas.microsoft.com/office/drawing/2014/main" id="{721ABAE6-5D87-71B1-8BBB-58D14EEBD59A}"/>
              </a:ext>
            </a:extLst>
          </p:cNvPr>
          <p:cNvGraphicFramePr>
            <a:graphicFrameLocks/>
          </p:cNvGraphicFramePr>
          <p:nvPr>
            <p:extLst>
              <p:ext uri="{D42A27DB-BD31-4B8C-83A1-F6EECF244321}">
                <p14:modId xmlns:p14="http://schemas.microsoft.com/office/powerpoint/2010/main" val="2112041047"/>
              </p:ext>
            </p:extLst>
          </p:nvPr>
        </p:nvGraphicFramePr>
        <p:xfrm>
          <a:off x="167409" y="2804854"/>
          <a:ext cx="5184775" cy="619125"/>
        </p:xfrm>
        <a:graphic>
          <a:graphicData uri="http://schemas.openxmlformats.org/presentationml/2006/ole">
            <mc:AlternateContent xmlns:mc="http://schemas.openxmlformats.org/markup-compatibility/2006">
              <mc:Choice xmlns:v="urn:schemas-microsoft-com:vml" Requires="v">
                <p:oleObj spid="_x0000_s170081" r:id="rId3" imgW="3287873" imgH="393529" progId="Equation.3">
                  <p:embed/>
                </p:oleObj>
              </mc:Choice>
              <mc:Fallback>
                <p:oleObj r:id="rId3" imgW="3287873" imgH="393529" progId="Equation.3">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7409" y="2804854"/>
                        <a:ext cx="518477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1" name="Object 8">
            <a:extLst>
              <a:ext uri="{FF2B5EF4-FFF2-40B4-BE49-F238E27FC236}">
                <a16:creationId xmlns="" xmlns:a16="http://schemas.microsoft.com/office/drawing/2014/main" id="{E20E7FC2-ED4A-8769-1AFA-24A1C26A575C}"/>
              </a:ext>
            </a:extLst>
          </p:cNvPr>
          <p:cNvGraphicFramePr>
            <a:graphicFrameLocks/>
          </p:cNvGraphicFramePr>
          <p:nvPr>
            <p:extLst>
              <p:ext uri="{D42A27DB-BD31-4B8C-83A1-F6EECF244321}">
                <p14:modId xmlns:p14="http://schemas.microsoft.com/office/powerpoint/2010/main" val="1738139086"/>
              </p:ext>
            </p:extLst>
          </p:nvPr>
        </p:nvGraphicFramePr>
        <p:xfrm>
          <a:off x="5662612" y="2905429"/>
          <a:ext cx="2847975" cy="368300"/>
        </p:xfrm>
        <a:graphic>
          <a:graphicData uri="http://schemas.openxmlformats.org/presentationml/2006/ole">
            <mc:AlternateContent xmlns:mc="http://schemas.openxmlformats.org/markup-compatibility/2006">
              <mc:Choice xmlns:v="urn:schemas-microsoft-com:vml" Requires="v">
                <p:oleObj spid="_x0000_s170082" r:id="rId5" imgW="1765080" imgH="228600" progId="Equation.3">
                  <p:embed/>
                </p:oleObj>
              </mc:Choice>
              <mc:Fallback>
                <p:oleObj r:id="rId5" imgW="1765080" imgH="228600" progId="Equation.3">
                  <p:embed/>
                  <p:pic>
                    <p:nvPicPr>
                      <p:cNvPr id="0" name=""/>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62612" y="2905429"/>
                        <a:ext cx="28479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2" name="Text Box 9">
            <a:extLst>
              <a:ext uri="{FF2B5EF4-FFF2-40B4-BE49-F238E27FC236}">
                <a16:creationId xmlns="" xmlns:a16="http://schemas.microsoft.com/office/drawing/2014/main" id="{700EBE82-4BF1-C9CB-9267-C2CC620E13F2}"/>
              </a:ext>
            </a:extLst>
          </p:cNvPr>
          <p:cNvSpPr txBox="1">
            <a:spLocks noChangeArrowheads="1"/>
          </p:cNvSpPr>
          <p:nvPr/>
        </p:nvSpPr>
        <p:spPr bwMode="auto">
          <a:xfrm>
            <a:off x="-82947" y="3393193"/>
            <a:ext cx="8280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000" dirty="0">
                <a:latin typeface="Times New Roman" panose="02020603050405020304" pitchFamily="18" charset="0"/>
                <a:cs typeface="Times New Roman" panose="02020603050405020304" pitchFamily="18" charset="0"/>
              </a:rPr>
              <a:t>    其所占据的频带宽度仍为调制信号频谱中最高频率的两倍，即</a:t>
            </a:r>
          </a:p>
        </p:txBody>
      </p:sp>
      <p:graphicFrame>
        <p:nvGraphicFramePr>
          <p:cNvPr id="13" name="Object 10">
            <a:extLst>
              <a:ext uri="{FF2B5EF4-FFF2-40B4-BE49-F238E27FC236}">
                <a16:creationId xmlns="" xmlns:a16="http://schemas.microsoft.com/office/drawing/2014/main" id="{0CCE8D59-60B3-2CBA-270E-967E586CF1EB}"/>
              </a:ext>
            </a:extLst>
          </p:cNvPr>
          <p:cNvGraphicFramePr>
            <a:graphicFrameLocks/>
          </p:cNvGraphicFramePr>
          <p:nvPr>
            <p:extLst>
              <p:ext uri="{D42A27DB-BD31-4B8C-83A1-F6EECF244321}">
                <p14:modId xmlns:p14="http://schemas.microsoft.com/office/powerpoint/2010/main" val="3219981749"/>
              </p:ext>
            </p:extLst>
          </p:nvPr>
        </p:nvGraphicFramePr>
        <p:xfrm>
          <a:off x="7221388" y="3421313"/>
          <a:ext cx="1355173" cy="389522"/>
        </p:xfrm>
        <a:graphic>
          <a:graphicData uri="http://schemas.openxmlformats.org/presentationml/2006/ole">
            <mc:AlternateContent xmlns:mc="http://schemas.openxmlformats.org/markup-compatibility/2006">
              <mc:Choice xmlns:v="urn:schemas-microsoft-com:vml" Requires="v">
                <p:oleObj spid="_x0000_s170083" r:id="rId7" imgW="799753" imgH="228501" progId="Equation.3">
                  <p:embed/>
                </p:oleObj>
              </mc:Choice>
              <mc:Fallback>
                <p:oleObj r:id="rId7" imgW="799753" imgH="228501" progId="Equation.3">
                  <p:embed/>
                  <p:pic>
                    <p:nvPicPr>
                      <p:cNvPr id="0" name=""/>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221388" y="3421313"/>
                        <a:ext cx="1355173" cy="389522"/>
                      </a:xfrm>
                      <a:prstGeom prst="rect">
                        <a:avLst/>
                      </a:prstGeom>
                      <a:noFill/>
                      <a:ln>
                        <a:noFill/>
                      </a:ln>
                      <a:extLst/>
                    </p:spPr>
                  </p:pic>
                </p:oleObj>
              </mc:Fallback>
            </mc:AlternateContent>
          </a:graphicData>
        </a:graphic>
      </p:graphicFrame>
      <p:pic>
        <p:nvPicPr>
          <p:cNvPr id="14" name="图片 13">
            <a:extLst>
              <a:ext uri="{FF2B5EF4-FFF2-40B4-BE49-F238E27FC236}">
                <a16:creationId xmlns="" xmlns:a16="http://schemas.microsoft.com/office/drawing/2014/main" id="{A5BA23C0-0270-1E9A-7E8C-DBCCBB2ACA7E}"/>
              </a:ext>
            </a:extLst>
          </p:cNvPr>
          <p:cNvPicPr>
            <a:picLocks noChangeAspect="1"/>
          </p:cNvPicPr>
          <p:nvPr/>
        </p:nvPicPr>
        <p:blipFill>
          <a:blip r:embed="rId9"/>
          <a:stretch>
            <a:fillRect/>
          </a:stretch>
        </p:blipFill>
        <p:spPr>
          <a:xfrm>
            <a:off x="204720" y="3736621"/>
            <a:ext cx="5110151" cy="1534917"/>
          </a:xfrm>
          <a:prstGeom prst="rect">
            <a:avLst/>
          </a:prstGeom>
        </p:spPr>
      </p:pic>
      <p:pic>
        <p:nvPicPr>
          <p:cNvPr id="15" name="图片 14">
            <a:extLst>
              <a:ext uri="{FF2B5EF4-FFF2-40B4-BE49-F238E27FC236}">
                <a16:creationId xmlns="" xmlns:a16="http://schemas.microsoft.com/office/drawing/2014/main" id="{7CF7B01E-5A0B-8AE5-6ED9-7234A3BF35C1}"/>
              </a:ext>
            </a:extLst>
          </p:cNvPr>
          <p:cNvPicPr>
            <a:picLocks noChangeAspect="1"/>
          </p:cNvPicPr>
          <p:nvPr/>
        </p:nvPicPr>
        <p:blipFill>
          <a:blip r:embed="rId10"/>
          <a:stretch>
            <a:fillRect/>
          </a:stretch>
        </p:blipFill>
        <p:spPr>
          <a:xfrm>
            <a:off x="167409" y="5286841"/>
            <a:ext cx="5864968" cy="1134109"/>
          </a:xfrm>
          <a:prstGeom prst="rect">
            <a:avLst/>
          </a:prstGeom>
        </p:spPr>
      </p:pic>
      <p:sp>
        <p:nvSpPr>
          <p:cNvPr id="16" name="Rectangle 6">
            <a:extLst>
              <a:ext uri="{FF2B5EF4-FFF2-40B4-BE49-F238E27FC236}">
                <a16:creationId xmlns="" xmlns:a16="http://schemas.microsoft.com/office/drawing/2014/main" id="{DA94481A-743E-75F3-F72C-54C38A655F12}"/>
              </a:ext>
            </a:extLst>
          </p:cNvPr>
          <p:cNvSpPr>
            <a:spLocks noChangeArrowheads="1"/>
          </p:cNvSpPr>
          <p:nvPr/>
        </p:nvSpPr>
        <p:spPr bwMode="auto">
          <a:xfrm>
            <a:off x="5316537" y="3918632"/>
            <a:ext cx="31940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000" dirty="0">
                <a:latin typeface="Times New Roman" panose="02020603050405020304" pitchFamily="18" charset="0"/>
                <a:cs typeface="Times New Roman" panose="02020603050405020304" pitchFamily="18" charset="0"/>
              </a:rPr>
              <a:t>DSB</a:t>
            </a:r>
            <a:r>
              <a:rPr lang="zh-CN" altLang="en-US" sz="2000" dirty="0">
                <a:latin typeface="Times New Roman" panose="02020603050405020304" pitchFamily="18" charset="0"/>
                <a:cs typeface="Times New Roman" panose="02020603050405020304" pitchFamily="18" charset="0"/>
              </a:rPr>
              <a:t>信号的包络正比于</a:t>
            </a:r>
            <a:endParaRPr lang="zh-CN" altLang="en-US" sz="2000" b="0" dirty="0">
              <a:latin typeface="Times New Roman" panose="02020603050405020304" pitchFamily="18" charset="0"/>
              <a:cs typeface="Times New Roman" panose="02020603050405020304" pitchFamily="18" charset="0"/>
            </a:endParaRPr>
          </a:p>
        </p:txBody>
      </p:sp>
      <p:graphicFrame>
        <p:nvGraphicFramePr>
          <p:cNvPr id="17" name="对象 16">
            <a:extLst>
              <a:ext uri="{FF2B5EF4-FFF2-40B4-BE49-F238E27FC236}">
                <a16:creationId xmlns="" xmlns:a16="http://schemas.microsoft.com/office/drawing/2014/main" id="{346A24C6-25C3-6047-52EF-FD541FEB434C}"/>
              </a:ext>
            </a:extLst>
          </p:cNvPr>
          <p:cNvGraphicFramePr>
            <a:graphicFrameLocks noChangeAspect="1"/>
          </p:cNvGraphicFramePr>
          <p:nvPr>
            <p:extLst>
              <p:ext uri="{D42A27DB-BD31-4B8C-83A1-F6EECF244321}">
                <p14:modId xmlns:p14="http://schemas.microsoft.com/office/powerpoint/2010/main" val="3894893826"/>
              </p:ext>
            </p:extLst>
          </p:nvPr>
        </p:nvGraphicFramePr>
        <p:xfrm>
          <a:off x="6515099" y="4397236"/>
          <a:ext cx="1143000" cy="377825"/>
        </p:xfrm>
        <a:graphic>
          <a:graphicData uri="http://schemas.openxmlformats.org/presentationml/2006/ole">
            <mc:AlternateContent xmlns:mc="http://schemas.openxmlformats.org/markup-compatibility/2006">
              <mc:Choice xmlns:v="urn:schemas-microsoft-com:vml" Requires="v">
                <p:oleObj spid="_x0000_s170084" name="Equation" r:id="rId11" imgW="1143085" imgH="378014" progId="Equation.DSMT4">
                  <p:embed/>
                </p:oleObj>
              </mc:Choice>
              <mc:Fallback>
                <p:oleObj name="Equation" r:id="rId11" imgW="1143085" imgH="378014" progId="Equation.DSMT4">
                  <p:embed/>
                  <p:pic>
                    <p:nvPicPr>
                      <p:cNvPr id="0" name=""/>
                      <p:cNvPicPr/>
                      <p:nvPr/>
                    </p:nvPicPr>
                    <p:blipFill>
                      <a:blip r:embed="rId12"/>
                      <a:stretch>
                        <a:fillRect/>
                      </a:stretch>
                    </p:blipFill>
                    <p:spPr>
                      <a:xfrm>
                        <a:off x="6515099" y="4397236"/>
                        <a:ext cx="1143000" cy="377825"/>
                      </a:xfrm>
                      <a:prstGeom prst="rect">
                        <a:avLst/>
                      </a:prstGeom>
                    </p:spPr>
                  </p:pic>
                </p:oleObj>
              </mc:Fallback>
            </mc:AlternateContent>
          </a:graphicData>
        </a:graphic>
      </p:graphicFrame>
      <p:grpSp>
        <p:nvGrpSpPr>
          <p:cNvPr id="18" name="组合 562">
            <a:extLst>
              <a:ext uri="{FF2B5EF4-FFF2-40B4-BE49-F238E27FC236}">
                <a16:creationId xmlns="" xmlns:a16="http://schemas.microsoft.com/office/drawing/2014/main" id="{01B8E581-09F4-C51A-A6AA-0E94DD106C85}"/>
              </a:ext>
            </a:extLst>
          </p:cNvPr>
          <p:cNvGrpSpPr>
            <a:grpSpLocks/>
          </p:cNvGrpSpPr>
          <p:nvPr/>
        </p:nvGrpSpPr>
        <p:grpSpPr bwMode="auto">
          <a:xfrm>
            <a:off x="6220561" y="5783368"/>
            <a:ext cx="2236831" cy="637582"/>
            <a:chOff x="4929190" y="5481242"/>
            <a:chExt cx="2236829" cy="637296"/>
          </a:xfrm>
        </p:grpSpPr>
        <p:graphicFrame>
          <p:nvGraphicFramePr>
            <p:cNvPr id="19" name="Object 563">
              <a:extLst>
                <a:ext uri="{FF2B5EF4-FFF2-40B4-BE49-F238E27FC236}">
                  <a16:creationId xmlns="" xmlns:a16="http://schemas.microsoft.com/office/drawing/2014/main" id="{89DC9BE9-0DC1-3055-63A7-D8E09BBAA4CA}"/>
                </a:ext>
              </a:extLst>
            </p:cNvPr>
            <p:cNvGraphicFramePr>
              <a:graphicFrameLocks/>
            </p:cNvGraphicFramePr>
            <p:nvPr>
              <p:extLst>
                <p:ext uri="{D42A27DB-BD31-4B8C-83A1-F6EECF244321}">
                  <p14:modId xmlns:p14="http://schemas.microsoft.com/office/powerpoint/2010/main" val="2333170455"/>
                </p:ext>
              </p:extLst>
            </p:nvPr>
          </p:nvGraphicFramePr>
          <p:xfrm>
            <a:off x="5567433" y="5481242"/>
            <a:ext cx="1598586" cy="637296"/>
          </p:xfrm>
          <a:graphic>
            <a:graphicData uri="http://schemas.openxmlformats.org/presentationml/2006/ole">
              <mc:AlternateContent xmlns:mc="http://schemas.openxmlformats.org/markup-compatibility/2006">
                <mc:Choice xmlns:v="urn:schemas-microsoft-com:vml" Requires="v">
                  <p:oleObj spid="_x0000_s170085" r:id="rId13" imgW="939600" imgH="393480" progId="Equation.3">
                    <p:embed/>
                  </p:oleObj>
                </mc:Choice>
                <mc:Fallback>
                  <p:oleObj r:id="rId13" imgW="939600" imgH="393480" progId="Equation.3">
                    <p:embed/>
                    <p:pic>
                      <p:nvPicPr>
                        <p:cNvPr id="0" name=""/>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567433" y="5481242"/>
                          <a:ext cx="1598586" cy="637296"/>
                        </a:xfrm>
                        <a:prstGeom prst="rect">
                          <a:avLst/>
                        </a:prstGeom>
                        <a:noFill/>
                        <a:ln>
                          <a:noFill/>
                        </a:ln>
                        <a:extLst/>
                      </p:spPr>
                    </p:pic>
                  </p:oleObj>
                </mc:Fallback>
              </mc:AlternateContent>
            </a:graphicData>
          </a:graphic>
        </p:graphicFrame>
        <p:sp>
          <p:nvSpPr>
            <p:cNvPr id="20" name="TextBox 561">
              <a:extLst>
                <a:ext uri="{FF2B5EF4-FFF2-40B4-BE49-F238E27FC236}">
                  <a16:creationId xmlns="" xmlns:a16="http://schemas.microsoft.com/office/drawing/2014/main" id="{07B925E4-A553-E44B-D1E1-A191FEF278E0}"/>
                </a:ext>
              </a:extLst>
            </p:cNvPr>
            <p:cNvSpPr txBox="1">
              <a:spLocks noChangeArrowheads="1"/>
            </p:cNvSpPr>
            <p:nvPr/>
          </p:nvSpPr>
          <p:spPr bwMode="auto">
            <a:xfrm>
              <a:off x="4929190" y="5572140"/>
              <a:ext cx="857256" cy="399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000">
                  <a:solidFill>
                    <a:schemeClr val="tx1"/>
                  </a:solidFill>
                  <a:latin typeface="+mn-ea"/>
                  <a:ea typeface="+mn-ea"/>
                </a:rPr>
                <a:t>功率</a:t>
              </a:r>
            </a:p>
          </p:txBody>
        </p:sp>
      </p:grpSp>
    </p:spTree>
    <p:extLst>
      <p:ext uri="{BB962C8B-B14F-4D97-AF65-F5344CB8AC3E}">
        <p14:creationId xmlns:p14="http://schemas.microsoft.com/office/powerpoint/2010/main" val="2096362383"/>
      </p:ext>
    </p:extLst>
  </p:cSld>
  <p:clrMapOvr>
    <a:masterClrMapping/>
  </p:clrMapOvr>
  <p:timing>
    <p:tnLst>
      <p:par>
        <p:cTn id="1" dur="indefinite" restart="never" nodeType="tmRoot"/>
      </p:par>
    </p:tnLst>
  </p:timing>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216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6.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振幅调制</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与</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解调</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Text Box 1028">
            <a:extLst>
              <a:ext uri="{FF2B5EF4-FFF2-40B4-BE49-F238E27FC236}">
                <a16:creationId xmlns="" xmlns:a16="http://schemas.microsoft.com/office/drawing/2014/main" id="{D736A190-EB36-F391-84C6-5E1235F1798C}"/>
              </a:ext>
            </a:extLst>
          </p:cNvPr>
          <p:cNvSpPr txBox="1">
            <a:spLocks noChangeArrowheads="1"/>
          </p:cNvSpPr>
          <p:nvPr/>
        </p:nvSpPr>
        <p:spPr bwMode="auto">
          <a:xfrm>
            <a:off x="323850" y="1308923"/>
            <a:ext cx="381635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200" dirty="0">
                <a:latin typeface="Times New Roman" panose="02020603050405020304" pitchFamily="18" charset="0"/>
                <a:cs typeface="Times New Roman" panose="02020603050405020304" pitchFamily="18" charset="0"/>
              </a:rPr>
              <a:t>2.</a:t>
            </a:r>
            <a:r>
              <a:rPr lang="zh-CN" altLang="en-US" sz="2200" dirty="0">
                <a:latin typeface="Times New Roman" panose="02020603050405020304" pitchFamily="18" charset="0"/>
                <a:cs typeface="Times New Roman" panose="02020603050405020304" pitchFamily="18" charset="0"/>
              </a:rPr>
              <a:t>单边带调幅波</a:t>
            </a:r>
            <a:r>
              <a:rPr lang="en-US" altLang="zh-CN" sz="2200" dirty="0">
                <a:latin typeface="Times New Roman" panose="02020603050405020304" pitchFamily="18" charset="0"/>
                <a:cs typeface="Times New Roman" panose="02020603050405020304" pitchFamily="18" charset="0"/>
              </a:rPr>
              <a:t>——SSD</a:t>
            </a:r>
            <a:endParaRPr lang="zh-CN" altLang="en-US" sz="2200" dirty="0">
              <a:latin typeface="Times New Roman" panose="02020603050405020304" pitchFamily="18" charset="0"/>
              <a:cs typeface="Times New Roman" panose="02020603050405020304" pitchFamily="18" charset="0"/>
            </a:endParaRPr>
          </a:p>
        </p:txBody>
      </p:sp>
      <p:sp>
        <p:nvSpPr>
          <p:cNvPr id="7" name="Text Box 1029">
            <a:extLst>
              <a:ext uri="{FF2B5EF4-FFF2-40B4-BE49-F238E27FC236}">
                <a16:creationId xmlns="" xmlns:a16="http://schemas.microsoft.com/office/drawing/2014/main" id="{1579BDC3-7E66-3C33-E70E-3C1D977085D5}"/>
              </a:ext>
            </a:extLst>
          </p:cNvPr>
          <p:cNvSpPr txBox="1">
            <a:spLocks noChangeArrowheads="1"/>
          </p:cNvSpPr>
          <p:nvPr/>
        </p:nvSpPr>
        <p:spPr bwMode="auto">
          <a:xfrm>
            <a:off x="323850" y="1668683"/>
            <a:ext cx="7848600"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en-US" altLang="zh-CN" sz="2000" dirty="0">
                <a:solidFill>
                  <a:schemeClr val="tx1"/>
                </a:solidFill>
                <a:latin typeface="Times New Roman" panose="02020603050405020304" pitchFamily="18" charset="0"/>
                <a:cs typeface="Times New Roman" panose="02020603050405020304" pitchFamily="18" charset="0"/>
              </a:rPr>
              <a:t>    </a:t>
            </a:r>
            <a:r>
              <a:rPr lang="zh-CN" altLang="en-US" sz="2000" dirty="0">
                <a:solidFill>
                  <a:schemeClr val="tx1"/>
                </a:solidFill>
                <a:latin typeface="Times New Roman" panose="02020603050405020304" pitchFamily="18" charset="0"/>
                <a:cs typeface="Times New Roman" panose="02020603050405020304" pitchFamily="18" charset="0"/>
              </a:rPr>
              <a:t>上边频与下边频的频谱分量对称含有相同的信息。也可以只发送单个边带信号，称之为单边带通信</a:t>
            </a:r>
            <a:r>
              <a:rPr lang="en-US" altLang="zh-CN" sz="2000" dirty="0">
                <a:solidFill>
                  <a:schemeClr val="tx1"/>
                </a:solidFill>
                <a:latin typeface="Times New Roman" panose="02020603050405020304" pitchFamily="18" charset="0"/>
                <a:cs typeface="Times New Roman" panose="02020603050405020304" pitchFamily="18" charset="0"/>
              </a:rPr>
              <a:t>(SSB)</a:t>
            </a:r>
            <a:r>
              <a:rPr lang="zh-CN" altLang="en-US" sz="2000" dirty="0">
                <a:solidFill>
                  <a:schemeClr val="tx1"/>
                </a:solidFill>
                <a:latin typeface="Times New Roman" panose="02020603050405020304" pitchFamily="18" charset="0"/>
                <a:cs typeface="Times New Roman" panose="02020603050405020304" pitchFamily="18" charset="0"/>
              </a:rPr>
              <a:t>。</a:t>
            </a:r>
          </a:p>
        </p:txBody>
      </p:sp>
      <p:sp>
        <p:nvSpPr>
          <p:cNvPr id="8" name="Text Box 1033">
            <a:extLst>
              <a:ext uri="{FF2B5EF4-FFF2-40B4-BE49-F238E27FC236}">
                <a16:creationId xmlns="" xmlns:a16="http://schemas.microsoft.com/office/drawing/2014/main" id="{FB55F49E-9131-CA6F-61D8-4E29BC912459}"/>
              </a:ext>
            </a:extLst>
          </p:cNvPr>
          <p:cNvSpPr txBox="1">
            <a:spLocks noChangeArrowheads="1"/>
          </p:cNvSpPr>
          <p:nvPr/>
        </p:nvSpPr>
        <p:spPr bwMode="auto">
          <a:xfrm>
            <a:off x="3939763" y="2595456"/>
            <a:ext cx="1742785"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chemeClr val="tx1"/>
                </a:solidFill>
                <a:latin typeface="+mn-ea"/>
                <a:ea typeface="+mn-ea"/>
              </a:rPr>
              <a:t>其表达式为</a:t>
            </a:r>
            <a:r>
              <a:rPr lang="zh-CN" altLang="en-US" sz="2000" dirty="0" smtClean="0">
                <a:solidFill>
                  <a:schemeClr val="tx1"/>
                </a:solidFill>
                <a:latin typeface="+mn-ea"/>
                <a:ea typeface="+mn-ea"/>
              </a:rPr>
              <a:t>：</a:t>
            </a:r>
          </a:p>
          <a:p>
            <a:r>
              <a:rPr lang="zh-CN" altLang="en-US" sz="2000" dirty="0" smtClean="0">
                <a:solidFill>
                  <a:schemeClr val="tx1"/>
                </a:solidFill>
                <a:latin typeface="+mn-ea"/>
                <a:ea typeface="+mn-ea"/>
              </a:rPr>
              <a:t>            </a:t>
            </a:r>
          </a:p>
          <a:p>
            <a:r>
              <a:rPr lang="zh-CN" altLang="en-US" sz="2000" dirty="0" smtClean="0">
                <a:solidFill>
                  <a:schemeClr val="tx1"/>
                </a:solidFill>
                <a:latin typeface="+mn-ea"/>
                <a:ea typeface="+mn-ea"/>
              </a:rPr>
              <a:t>        或</a:t>
            </a:r>
            <a:endParaRPr lang="zh-CN" altLang="en-US" sz="2000" dirty="0">
              <a:solidFill>
                <a:schemeClr val="tx1"/>
              </a:solidFill>
              <a:latin typeface="+mn-ea"/>
              <a:ea typeface="+mn-ea"/>
            </a:endParaRPr>
          </a:p>
        </p:txBody>
      </p:sp>
      <p:graphicFrame>
        <p:nvGraphicFramePr>
          <p:cNvPr id="9" name="对象 8">
            <a:extLst>
              <a:ext uri="{FF2B5EF4-FFF2-40B4-BE49-F238E27FC236}">
                <a16:creationId xmlns="" xmlns:a16="http://schemas.microsoft.com/office/drawing/2014/main" id="{A9929F2E-87F8-9CFC-8875-A01CCB7479DC}"/>
              </a:ext>
            </a:extLst>
          </p:cNvPr>
          <p:cNvGraphicFramePr>
            <a:graphicFrameLocks noChangeAspect="1"/>
          </p:cNvGraphicFramePr>
          <p:nvPr>
            <p:extLst>
              <p:ext uri="{D42A27DB-BD31-4B8C-83A1-F6EECF244321}">
                <p14:modId xmlns:p14="http://schemas.microsoft.com/office/powerpoint/2010/main" val="3991681827"/>
              </p:ext>
            </p:extLst>
          </p:nvPr>
        </p:nvGraphicFramePr>
        <p:xfrm>
          <a:off x="5508625" y="2478042"/>
          <a:ext cx="2663825" cy="604837"/>
        </p:xfrm>
        <a:graphic>
          <a:graphicData uri="http://schemas.openxmlformats.org/presentationml/2006/ole">
            <mc:AlternateContent xmlns:mc="http://schemas.openxmlformats.org/markup-compatibility/2006">
              <mc:Choice xmlns:v="urn:schemas-microsoft-com:vml" Requires="v">
                <p:oleObj spid="_x0000_s171130" name="Equation" r:id="rId3" imgW="2664199" imgH="605182" progId="Equation.DSMT4">
                  <p:embed/>
                </p:oleObj>
              </mc:Choice>
              <mc:Fallback>
                <p:oleObj name="Equation" r:id="rId3" imgW="2664199" imgH="605182" progId="Equation.DSMT4">
                  <p:embed/>
                  <p:pic>
                    <p:nvPicPr>
                      <p:cNvPr id="0" name=""/>
                      <p:cNvPicPr/>
                      <p:nvPr/>
                    </p:nvPicPr>
                    <p:blipFill>
                      <a:blip r:embed="rId4"/>
                      <a:stretch>
                        <a:fillRect/>
                      </a:stretch>
                    </p:blipFill>
                    <p:spPr>
                      <a:xfrm>
                        <a:off x="5508625" y="2478042"/>
                        <a:ext cx="2663825" cy="604837"/>
                      </a:xfrm>
                      <a:prstGeom prst="rect">
                        <a:avLst/>
                      </a:prstGeom>
                    </p:spPr>
                  </p:pic>
                </p:oleObj>
              </mc:Fallback>
            </mc:AlternateContent>
          </a:graphicData>
        </a:graphic>
      </p:graphicFrame>
      <p:graphicFrame>
        <p:nvGraphicFramePr>
          <p:cNvPr id="10" name="对象 9">
            <a:extLst>
              <a:ext uri="{FF2B5EF4-FFF2-40B4-BE49-F238E27FC236}">
                <a16:creationId xmlns="" xmlns:a16="http://schemas.microsoft.com/office/drawing/2014/main" id="{CA8980B6-7C37-B80B-2392-163DF2C14092}"/>
              </a:ext>
            </a:extLst>
          </p:cNvPr>
          <p:cNvGraphicFramePr>
            <a:graphicFrameLocks noChangeAspect="1"/>
          </p:cNvGraphicFramePr>
          <p:nvPr>
            <p:extLst>
              <p:ext uri="{D42A27DB-BD31-4B8C-83A1-F6EECF244321}">
                <p14:modId xmlns:p14="http://schemas.microsoft.com/office/powerpoint/2010/main" val="1368808215"/>
              </p:ext>
            </p:extLst>
          </p:nvPr>
        </p:nvGraphicFramePr>
        <p:xfrm>
          <a:off x="5508625" y="3082138"/>
          <a:ext cx="2663825" cy="604837"/>
        </p:xfrm>
        <a:graphic>
          <a:graphicData uri="http://schemas.openxmlformats.org/presentationml/2006/ole">
            <mc:AlternateContent xmlns:mc="http://schemas.openxmlformats.org/markup-compatibility/2006">
              <mc:Choice xmlns:v="urn:schemas-microsoft-com:vml" Requires="v">
                <p:oleObj spid="_x0000_s171131" name="Equation" r:id="rId5" imgW="2664199" imgH="605182" progId="Equation.DSMT4">
                  <p:embed/>
                </p:oleObj>
              </mc:Choice>
              <mc:Fallback>
                <p:oleObj name="Equation" r:id="rId5" imgW="2664199" imgH="605182" progId="Equation.DSMT4">
                  <p:embed/>
                  <p:pic>
                    <p:nvPicPr>
                      <p:cNvPr id="0" name=""/>
                      <p:cNvPicPr/>
                      <p:nvPr/>
                    </p:nvPicPr>
                    <p:blipFill>
                      <a:blip r:embed="rId6"/>
                      <a:stretch>
                        <a:fillRect/>
                      </a:stretch>
                    </p:blipFill>
                    <p:spPr>
                      <a:xfrm>
                        <a:off x="5508625" y="3082138"/>
                        <a:ext cx="2663825" cy="604837"/>
                      </a:xfrm>
                      <a:prstGeom prst="rect">
                        <a:avLst/>
                      </a:prstGeom>
                    </p:spPr>
                  </p:pic>
                </p:oleObj>
              </mc:Fallback>
            </mc:AlternateContent>
          </a:graphicData>
        </a:graphic>
      </p:graphicFrame>
      <p:graphicFrame>
        <p:nvGraphicFramePr>
          <p:cNvPr id="11" name="Object 1035">
            <a:extLst>
              <a:ext uri="{FF2B5EF4-FFF2-40B4-BE49-F238E27FC236}">
                <a16:creationId xmlns="" xmlns:a16="http://schemas.microsoft.com/office/drawing/2014/main" id="{B4DBBF83-446D-2350-3769-BB10E13BD2AA}"/>
              </a:ext>
            </a:extLst>
          </p:cNvPr>
          <p:cNvGraphicFramePr>
            <a:graphicFrameLocks/>
          </p:cNvGraphicFramePr>
          <p:nvPr>
            <p:extLst>
              <p:ext uri="{D42A27DB-BD31-4B8C-83A1-F6EECF244321}">
                <p14:modId xmlns:p14="http://schemas.microsoft.com/office/powerpoint/2010/main" val="501605971"/>
              </p:ext>
            </p:extLst>
          </p:nvPr>
        </p:nvGraphicFramePr>
        <p:xfrm>
          <a:off x="5771744" y="3686975"/>
          <a:ext cx="1238655" cy="390166"/>
        </p:xfrm>
        <a:graphic>
          <a:graphicData uri="http://schemas.openxmlformats.org/presentationml/2006/ole">
            <mc:AlternateContent xmlns:mc="http://schemas.openxmlformats.org/markup-compatibility/2006">
              <mc:Choice xmlns:v="urn:schemas-microsoft-com:vml" Requires="v">
                <p:oleObj spid="_x0000_s171132" r:id="rId7" imgW="698500" imgH="228600" progId="Equation.3">
                  <p:embed/>
                </p:oleObj>
              </mc:Choice>
              <mc:Fallback>
                <p:oleObj r:id="rId7" imgW="698500" imgH="228600" progId="Equation.3">
                  <p:embed/>
                  <p:pic>
                    <p:nvPicPr>
                      <p:cNvPr id="0" name=""/>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771744" y="3686975"/>
                        <a:ext cx="1238655" cy="390166"/>
                      </a:xfrm>
                      <a:prstGeom prst="rect">
                        <a:avLst/>
                      </a:prstGeom>
                      <a:noFill/>
                      <a:ln>
                        <a:noFill/>
                      </a:ln>
                      <a:extLst/>
                    </p:spPr>
                  </p:pic>
                </p:oleObj>
              </mc:Fallback>
            </mc:AlternateContent>
          </a:graphicData>
        </a:graphic>
      </p:graphicFrame>
      <p:sp>
        <p:nvSpPr>
          <p:cNvPr id="12" name="Text Box 1036">
            <a:extLst>
              <a:ext uri="{FF2B5EF4-FFF2-40B4-BE49-F238E27FC236}">
                <a16:creationId xmlns="" xmlns:a16="http://schemas.microsoft.com/office/drawing/2014/main" id="{73485F82-8609-7A15-FE4E-18E974053842}"/>
              </a:ext>
            </a:extLst>
          </p:cNvPr>
          <p:cNvSpPr txBox="1">
            <a:spLocks noChangeArrowheads="1"/>
          </p:cNvSpPr>
          <p:nvPr/>
        </p:nvSpPr>
        <p:spPr bwMode="auto">
          <a:xfrm>
            <a:off x="3992995" y="3644075"/>
            <a:ext cx="198002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latin typeface="+mn-ea"/>
                <a:ea typeface="+mn-ea"/>
              </a:rPr>
              <a:t>其频带宽度为：</a:t>
            </a:r>
          </a:p>
        </p:txBody>
      </p:sp>
      <p:sp>
        <p:nvSpPr>
          <p:cNvPr id="30" name="Rectangle 4">
            <a:extLst>
              <a:ext uri="{FF2B5EF4-FFF2-40B4-BE49-F238E27FC236}">
                <a16:creationId xmlns="" xmlns:a16="http://schemas.microsoft.com/office/drawing/2014/main" id="{307B09E4-B603-5DF1-B16E-EFA9AD3F6ED6}"/>
              </a:ext>
            </a:extLst>
          </p:cNvPr>
          <p:cNvSpPr>
            <a:spLocks noChangeArrowheads="1"/>
          </p:cNvSpPr>
          <p:nvPr/>
        </p:nvSpPr>
        <p:spPr bwMode="auto">
          <a:xfrm>
            <a:off x="674276" y="2643924"/>
            <a:ext cx="250741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latin typeface="Times New Roman" panose="02020603050405020304" pitchFamily="18" charset="0"/>
                <a:ea typeface="宋体" panose="02010600030101010101" pitchFamily="2" charset="-122"/>
              </a:rPr>
              <a:t>单边带调幅波的波形</a:t>
            </a:r>
          </a:p>
        </p:txBody>
      </p:sp>
      <p:sp>
        <p:nvSpPr>
          <p:cNvPr id="31" name="Freeform 20">
            <a:extLst>
              <a:ext uri="{FF2B5EF4-FFF2-40B4-BE49-F238E27FC236}">
                <a16:creationId xmlns="" xmlns:a16="http://schemas.microsoft.com/office/drawing/2014/main" id="{79A19F43-75A3-F920-817F-D0F0CAA3BCC7}"/>
              </a:ext>
            </a:extLst>
          </p:cNvPr>
          <p:cNvSpPr>
            <a:spLocks noChangeArrowheads="1"/>
          </p:cNvSpPr>
          <p:nvPr/>
        </p:nvSpPr>
        <p:spPr bwMode="auto">
          <a:xfrm>
            <a:off x="434563" y="4157724"/>
            <a:ext cx="3265488" cy="912813"/>
          </a:xfrm>
          <a:custGeom>
            <a:avLst/>
            <a:gdLst>
              <a:gd name="T0" fmla="*/ 0 w 3960"/>
              <a:gd name="T1" fmla="*/ 858 h 1326"/>
              <a:gd name="T2" fmla="*/ 180 w 3960"/>
              <a:gd name="T3" fmla="*/ 78 h 1326"/>
              <a:gd name="T4" fmla="*/ 360 w 3960"/>
              <a:gd name="T5" fmla="*/ 1326 h 1326"/>
              <a:gd name="T6" fmla="*/ 540 w 3960"/>
              <a:gd name="T7" fmla="*/ 78 h 1326"/>
              <a:gd name="T8" fmla="*/ 720 w 3960"/>
              <a:gd name="T9" fmla="*/ 1326 h 1326"/>
              <a:gd name="T10" fmla="*/ 900 w 3960"/>
              <a:gd name="T11" fmla="*/ 78 h 1326"/>
              <a:gd name="T12" fmla="*/ 1080 w 3960"/>
              <a:gd name="T13" fmla="*/ 1326 h 1326"/>
              <a:gd name="T14" fmla="*/ 1260 w 3960"/>
              <a:gd name="T15" fmla="*/ 78 h 1326"/>
              <a:gd name="T16" fmla="*/ 1440 w 3960"/>
              <a:gd name="T17" fmla="*/ 1326 h 1326"/>
              <a:gd name="T18" fmla="*/ 1620 w 3960"/>
              <a:gd name="T19" fmla="*/ 78 h 1326"/>
              <a:gd name="T20" fmla="*/ 1800 w 3960"/>
              <a:gd name="T21" fmla="*/ 1326 h 1326"/>
              <a:gd name="T22" fmla="*/ 1980 w 3960"/>
              <a:gd name="T23" fmla="*/ 78 h 1326"/>
              <a:gd name="T24" fmla="*/ 2160 w 3960"/>
              <a:gd name="T25" fmla="*/ 1326 h 1326"/>
              <a:gd name="T26" fmla="*/ 2340 w 3960"/>
              <a:gd name="T27" fmla="*/ 78 h 1326"/>
              <a:gd name="T28" fmla="*/ 2520 w 3960"/>
              <a:gd name="T29" fmla="*/ 1326 h 1326"/>
              <a:gd name="T30" fmla="*/ 2700 w 3960"/>
              <a:gd name="T31" fmla="*/ 78 h 1326"/>
              <a:gd name="T32" fmla="*/ 2880 w 3960"/>
              <a:gd name="T33" fmla="*/ 1326 h 1326"/>
              <a:gd name="T34" fmla="*/ 3060 w 3960"/>
              <a:gd name="T35" fmla="*/ 78 h 1326"/>
              <a:gd name="T36" fmla="*/ 3240 w 3960"/>
              <a:gd name="T37" fmla="*/ 1326 h 1326"/>
              <a:gd name="T38" fmla="*/ 3420 w 3960"/>
              <a:gd name="T39" fmla="*/ 78 h 1326"/>
              <a:gd name="T40" fmla="*/ 3600 w 3960"/>
              <a:gd name="T41" fmla="*/ 1326 h 1326"/>
              <a:gd name="T42" fmla="*/ 3780 w 3960"/>
              <a:gd name="T43" fmla="*/ 78 h 1326"/>
              <a:gd name="T44" fmla="*/ 3960 w 3960"/>
              <a:gd name="T45" fmla="*/ 1014 h 1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960" h="1326">
                <a:moveTo>
                  <a:pt x="0" y="858"/>
                </a:moveTo>
                <a:cubicBezTo>
                  <a:pt x="60" y="429"/>
                  <a:pt x="120" y="0"/>
                  <a:pt x="180" y="78"/>
                </a:cubicBezTo>
                <a:cubicBezTo>
                  <a:pt x="240" y="156"/>
                  <a:pt x="300" y="1326"/>
                  <a:pt x="360" y="1326"/>
                </a:cubicBezTo>
                <a:cubicBezTo>
                  <a:pt x="420" y="1326"/>
                  <a:pt x="480" y="78"/>
                  <a:pt x="540" y="78"/>
                </a:cubicBezTo>
                <a:cubicBezTo>
                  <a:pt x="600" y="78"/>
                  <a:pt x="660" y="1326"/>
                  <a:pt x="720" y="1326"/>
                </a:cubicBezTo>
                <a:cubicBezTo>
                  <a:pt x="780" y="1326"/>
                  <a:pt x="840" y="78"/>
                  <a:pt x="900" y="78"/>
                </a:cubicBezTo>
                <a:cubicBezTo>
                  <a:pt x="960" y="78"/>
                  <a:pt x="1020" y="1326"/>
                  <a:pt x="1080" y="1326"/>
                </a:cubicBezTo>
                <a:cubicBezTo>
                  <a:pt x="1140" y="1326"/>
                  <a:pt x="1200" y="78"/>
                  <a:pt x="1260" y="78"/>
                </a:cubicBezTo>
                <a:cubicBezTo>
                  <a:pt x="1320" y="78"/>
                  <a:pt x="1380" y="1326"/>
                  <a:pt x="1440" y="1326"/>
                </a:cubicBezTo>
                <a:cubicBezTo>
                  <a:pt x="1500" y="1326"/>
                  <a:pt x="1560" y="78"/>
                  <a:pt x="1620" y="78"/>
                </a:cubicBezTo>
                <a:cubicBezTo>
                  <a:pt x="1680" y="78"/>
                  <a:pt x="1740" y="1326"/>
                  <a:pt x="1800" y="1326"/>
                </a:cubicBezTo>
                <a:cubicBezTo>
                  <a:pt x="1860" y="1326"/>
                  <a:pt x="1920" y="78"/>
                  <a:pt x="1980" y="78"/>
                </a:cubicBezTo>
                <a:cubicBezTo>
                  <a:pt x="2040" y="78"/>
                  <a:pt x="2100" y="1326"/>
                  <a:pt x="2160" y="1326"/>
                </a:cubicBezTo>
                <a:cubicBezTo>
                  <a:pt x="2220" y="1326"/>
                  <a:pt x="2280" y="78"/>
                  <a:pt x="2340" y="78"/>
                </a:cubicBezTo>
                <a:cubicBezTo>
                  <a:pt x="2400" y="78"/>
                  <a:pt x="2460" y="1326"/>
                  <a:pt x="2520" y="1326"/>
                </a:cubicBezTo>
                <a:cubicBezTo>
                  <a:pt x="2580" y="1326"/>
                  <a:pt x="2640" y="78"/>
                  <a:pt x="2700" y="78"/>
                </a:cubicBezTo>
                <a:cubicBezTo>
                  <a:pt x="2760" y="78"/>
                  <a:pt x="2820" y="1326"/>
                  <a:pt x="2880" y="1326"/>
                </a:cubicBezTo>
                <a:cubicBezTo>
                  <a:pt x="2940" y="1326"/>
                  <a:pt x="3000" y="78"/>
                  <a:pt x="3060" y="78"/>
                </a:cubicBezTo>
                <a:cubicBezTo>
                  <a:pt x="3120" y="78"/>
                  <a:pt x="3180" y="1326"/>
                  <a:pt x="3240" y="1326"/>
                </a:cubicBezTo>
                <a:cubicBezTo>
                  <a:pt x="3300" y="1326"/>
                  <a:pt x="3360" y="78"/>
                  <a:pt x="3420" y="78"/>
                </a:cubicBezTo>
                <a:cubicBezTo>
                  <a:pt x="3480" y="78"/>
                  <a:pt x="3540" y="1326"/>
                  <a:pt x="3600" y="1326"/>
                </a:cubicBezTo>
                <a:cubicBezTo>
                  <a:pt x="3660" y="1326"/>
                  <a:pt x="3720" y="130"/>
                  <a:pt x="3780" y="78"/>
                </a:cubicBezTo>
                <a:cubicBezTo>
                  <a:pt x="3840" y="26"/>
                  <a:pt x="3930" y="858"/>
                  <a:pt x="3960" y="1014"/>
                </a:cubicBez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solidFill>
                <a:schemeClr val="accent2"/>
              </a:solidFill>
            </a:endParaRPr>
          </a:p>
        </p:txBody>
      </p:sp>
      <p:sp>
        <p:nvSpPr>
          <p:cNvPr id="32" name="Freeform 21">
            <a:extLst>
              <a:ext uri="{FF2B5EF4-FFF2-40B4-BE49-F238E27FC236}">
                <a16:creationId xmlns="" xmlns:a16="http://schemas.microsoft.com/office/drawing/2014/main" id="{9B7354F7-1EE0-5A9D-A2E2-8CA57FB90AC4}"/>
              </a:ext>
            </a:extLst>
          </p:cNvPr>
          <p:cNvSpPr>
            <a:spLocks noChangeArrowheads="1"/>
          </p:cNvSpPr>
          <p:nvPr/>
        </p:nvSpPr>
        <p:spPr bwMode="auto">
          <a:xfrm>
            <a:off x="434563" y="3465574"/>
            <a:ext cx="3265488" cy="430213"/>
          </a:xfrm>
          <a:custGeom>
            <a:avLst/>
            <a:gdLst>
              <a:gd name="T0" fmla="*/ 0 w 3780"/>
              <a:gd name="T1" fmla="*/ 0 h 1248"/>
              <a:gd name="T2" fmla="*/ 180 w 3780"/>
              <a:gd name="T3" fmla="*/ 156 h 1248"/>
              <a:gd name="T4" fmla="*/ 540 w 3780"/>
              <a:gd name="T5" fmla="*/ 624 h 1248"/>
              <a:gd name="T6" fmla="*/ 1080 w 3780"/>
              <a:gd name="T7" fmla="*/ 1248 h 1248"/>
              <a:gd name="T8" fmla="*/ 1620 w 3780"/>
              <a:gd name="T9" fmla="*/ 624 h 1248"/>
              <a:gd name="T10" fmla="*/ 2160 w 3780"/>
              <a:gd name="T11" fmla="*/ 0 h 1248"/>
              <a:gd name="T12" fmla="*/ 2700 w 3780"/>
              <a:gd name="T13" fmla="*/ 624 h 1248"/>
              <a:gd name="T14" fmla="*/ 3240 w 3780"/>
              <a:gd name="T15" fmla="*/ 1248 h 1248"/>
              <a:gd name="T16" fmla="*/ 3780 w 3780"/>
              <a:gd name="T17" fmla="*/ 624 h 1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80" h="1248">
                <a:moveTo>
                  <a:pt x="0" y="0"/>
                </a:moveTo>
                <a:cubicBezTo>
                  <a:pt x="45" y="26"/>
                  <a:pt x="90" y="52"/>
                  <a:pt x="180" y="156"/>
                </a:cubicBezTo>
                <a:cubicBezTo>
                  <a:pt x="270" y="260"/>
                  <a:pt x="390" y="442"/>
                  <a:pt x="540" y="624"/>
                </a:cubicBezTo>
                <a:cubicBezTo>
                  <a:pt x="690" y="806"/>
                  <a:pt x="900" y="1248"/>
                  <a:pt x="1080" y="1248"/>
                </a:cubicBezTo>
                <a:cubicBezTo>
                  <a:pt x="1260" y="1248"/>
                  <a:pt x="1440" y="832"/>
                  <a:pt x="1620" y="624"/>
                </a:cubicBezTo>
                <a:cubicBezTo>
                  <a:pt x="1800" y="416"/>
                  <a:pt x="1980" y="0"/>
                  <a:pt x="2160" y="0"/>
                </a:cubicBezTo>
                <a:cubicBezTo>
                  <a:pt x="2340" y="0"/>
                  <a:pt x="2520" y="416"/>
                  <a:pt x="2700" y="624"/>
                </a:cubicBezTo>
                <a:cubicBezTo>
                  <a:pt x="2880" y="832"/>
                  <a:pt x="3060" y="1248"/>
                  <a:pt x="3240" y="1248"/>
                </a:cubicBezTo>
                <a:cubicBezTo>
                  <a:pt x="3420" y="1248"/>
                  <a:pt x="3600" y="936"/>
                  <a:pt x="3780" y="624"/>
                </a:cubicBezTo>
              </a:path>
            </a:pathLst>
          </a:custGeom>
          <a:noFill/>
          <a:ln w="254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solidFill>
                <a:schemeClr val="accent2"/>
              </a:solidFill>
            </a:endParaRPr>
          </a:p>
        </p:txBody>
      </p:sp>
      <p:sp>
        <p:nvSpPr>
          <p:cNvPr id="33" name="Freeform 25">
            <a:extLst>
              <a:ext uri="{FF2B5EF4-FFF2-40B4-BE49-F238E27FC236}">
                <a16:creationId xmlns="" xmlns:a16="http://schemas.microsoft.com/office/drawing/2014/main" id="{6FAA6236-4471-1B48-42AA-79C5B9E4220B}"/>
              </a:ext>
            </a:extLst>
          </p:cNvPr>
          <p:cNvSpPr>
            <a:spLocks noChangeArrowheads="1"/>
          </p:cNvSpPr>
          <p:nvPr/>
        </p:nvSpPr>
        <p:spPr bwMode="auto">
          <a:xfrm>
            <a:off x="434563" y="4151374"/>
            <a:ext cx="3265488" cy="912813"/>
          </a:xfrm>
          <a:custGeom>
            <a:avLst/>
            <a:gdLst>
              <a:gd name="T0" fmla="*/ 0 w 3960"/>
              <a:gd name="T1" fmla="*/ 858 h 1326"/>
              <a:gd name="T2" fmla="*/ 180 w 3960"/>
              <a:gd name="T3" fmla="*/ 78 h 1326"/>
              <a:gd name="T4" fmla="*/ 360 w 3960"/>
              <a:gd name="T5" fmla="*/ 1326 h 1326"/>
              <a:gd name="T6" fmla="*/ 540 w 3960"/>
              <a:gd name="T7" fmla="*/ 78 h 1326"/>
              <a:gd name="T8" fmla="*/ 720 w 3960"/>
              <a:gd name="T9" fmla="*/ 1326 h 1326"/>
              <a:gd name="T10" fmla="*/ 900 w 3960"/>
              <a:gd name="T11" fmla="*/ 78 h 1326"/>
              <a:gd name="T12" fmla="*/ 1080 w 3960"/>
              <a:gd name="T13" fmla="*/ 1326 h 1326"/>
              <a:gd name="T14" fmla="*/ 1260 w 3960"/>
              <a:gd name="T15" fmla="*/ 78 h 1326"/>
              <a:gd name="T16" fmla="*/ 1440 w 3960"/>
              <a:gd name="T17" fmla="*/ 1326 h 1326"/>
              <a:gd name="T18" fmla="*/ 1620 w 3960"/>
              <a:gd name="T19" fmla="*/ 78 h 1326"/>
              <a:gd name="T20" fmla="*/ 1800 w 3960"/>
              <a:gd name="T21" fmla="*/ 1326 h 1326"/>
              <a:gd name="T22" fmla="*/ 1980 w 3960"/>
              <a:gd name="T23" fmla="*/ 78 h 1326"/>
              <a:gd name="T24" fmla="*/ 2160 w 3960"/>
              <a:gd name="T25" fmla="*/ 1326 h 1326"/>
              <a:gd name="T26" fmla="*/ 2340 w 3960"/>
              <a:gd name="T27" fmla="*/ 78 h 1326"/>
              <a:gd name="T28" fmla="*/ 2520 w 3960"/>
              <a:gd name="T29" fmla="*/ 1326 h 1326"/>
              <a:gd name="T30" fmla="*/ 2700 w 3960"/>
              <a:gd name="T31" fmla="*/ 78 h 1326"/>
              <a:gd name="T32" fmla="*/ 2880 w 3960"/>
              <a:gd name="T33" fmla="*/ 1326 h 1326"/>
              <a:gd name="T34" fmla="*/ 3060 w 3960"/>
              <a:gd name="T35" fmla="*/ 78 h 1326"/>
              <a:gd name="T36" fmla="*/ 3240 w 3960"/>
              <a:gd name="T37" fmla="*/ 1326 h 1326"/>
              <a:gd name="T38" fmla="*/ 3420 w 3960"/>
              <a:gd name="T39" fmla="*/ 78 h 1326"/>
              <a:gd name="T40" fmla="*/ 3600 w 3960"/>
              <a:gd name="T41" fmla="*/ 1326 h 1326"/>
              <a:gd name="T42" fmla="*/ 3780 w 3960"/>
              <a:gd name="T43" fmla="*/ 78 h 1326"/>
              <a:gd name="T44" fmla="*/ 3960 w 3960"/>
              <a:gd name="T45" fmla="*/ 1014 h 1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960" h="1326">
                <a:moveTo>
                  <a:pt x="0" y="858"/>
                </a:moveTo>
                <a:cubicBezTo>
                  <a:pt x="60" y="429"/>
                  <a:pt x="120" y="0"/>
                  <a:pt x="180" y="78"/>
                </a:cubicBezTo>
                <a:cubicBezTo>
                  <a:pt x="240" y="156"/>
                  <a:pt x="300" y="1326"/>
                  <a:pt x="360" y="1326"/>
                </a:cubicBezTo>
                <a:cubicBezTo>
                  <a:pt x="420" y="1326"/>
                  <a:pt x="480" y="78"/>
                  <a:pt x="540" y="78"/>
                </a:cubicBezTo>
                <a:cubicBezTo>
                  <a:pt x="600" y="78"/>
                  <a:pt x="660" y="1326"/>
                  <a:pt x="720" y="1326"/>
                </a:cubicBezTo>
                <a:cubicBezTo>
                  <a:pt x="780" y="1326"/>
                  <a:pt x="840" y="78"/>
                  <a:pt x="900" y="78"/>
                </a:cubicBezTo>
                <a:cubicBezTo>
                  <a:pt x="960" y="78"/>
                  <a:pt x="1020" y="1326"/>
                  <a:pt x="1080" y="1326"/>
                </a:cubicBezTo>
                <a:cubicBezTo>
                  <a:pt x="1140" y="1326"/>
                  <a:pt x="1200" y="78"/>
                  <a:pt x="1260" y="78"/>
                </a:cubicBezTo>
                <a:cubicBezTo>
                  <a:pt x="1320" y="78"/>
                  <a:pt x="1380" y="1326"/>
                  <a:pt x="1440" y="1326"/>
                </a:cubicBezTo>
                <a:cubicBezTo>
                  <a:pt x="1500" y="1326"/>
                  <a:pt x="1560" y="78"/>
                  <a:pt x="1620" y="78"/>
                </a:cubicBezTo>
                <a:cubicBezTo>
                  <a:pt x="1680" y="78"/>
                  <a:pt x="1740" y="1326"/>
                  <a:pt x="1800" y="1326"/>
                </a:cubicBezTo>
                <a:cubicBezTo>
                  <a:pt x="1860" y="1326"/>
                  <a:pt x="1920" y="78"/>
                  <a:pt x="1980" y="78"/>
                </a:cubicBezTo>
                <a:cubicBezTo>
                  <a:pt x="2040" y="78"/>
                  <a:pt x="2100" y="1326"/>
                  <a:pt x="2160" y="1326"/>
                </a:cubicBezTo>
                <a:cubicBezTo>
                  <a:pt x="2220" y="1326"/>
                  <a:pt x="2280" y="78"/>
                  <a:pt x="2340" y="78"/>
                </a:cubicBezTo>
                <a:cubicBezTo>
                  <a:pt x="2400" y="78"/>
                  <a:pt x="2460" y="1326"/>
                  <a:pt x="2520" y="1326"/>
                </a:cubicBezTo>
                <a:cubicBezTo>
                  <a:pt x="2580" y="1326"/>
                  <a:pt x="2640" y="78"/>
                  <a:pt x="2700" y="78"/>
                </a:cubicBezTo>
                <a:cubicBezTo>
                  <a:pt x="2760" y="78"/>
                  <a:pt x="2820" y="1326"/>
                  <a:pt x="2880" y="1326"/>
                </a:cubicBezTo>
                <a:cubicBezTo>
                  <a:pt x="2940" y="1326"/>
                  <a:pt x="3000" y="78"/>
                  <a:pt x="3060" y="78"/>
                </a:cubicBezTo>
                <a:cubicBezTo>
                  <a:pt x="3120" y="78"/>
                  <a:pt x="3180" y="1326"/>
                  <a:pt x="3240" y="1326"/>
                </a:cubicBezTo>
                <a:cubicBezTo>
                  <a:pt x="3300" y="1326"/>
                  <a:pt x="3360" y="78"/>
                  <a:pt x="3420" y="78"/>
                </a:cubicBezTo>
                <a:cubicBezTo>
                  <a:pt x="3480" y="78"/>
                  <a:pt x="3540" y="1326"/>
                  <a:pt x="3600" y="1326"/>
                </a:cubicBezTo>
                <a:cubicBezTo>
                  <a:pt x="3660" y="1326"/>
                  <a:pt x="3720" y="130"/>
                  <a:pt x="3780" y="78"/>
                </a:cubicBezTo>
                <a:cubicBezTo>
                  <a:pt x="3840" y="26"/>
                  <a:pt x="3930" y="858"/>
                  <a:pt x="3960" y="1014"/>
                </a:cubicBez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solidFill>
                <a:schemeClr val="accent2"/>
              </a:solidFill>
            </a:endParaRPr>
          </a:p>
        </p:txBody>
      </p:sp>
      <p:sp>
        <p:nvSpPr>
          <p:cNvPr id="34" name="Freeform 26">
            <a:extLst>
              <a:ext uri="{FF2B5EF4-FFF2-40B4-BE49-F238E27FC236}">
                <a16:creationId xmlns="" xmlns:a16="http://schemas.microsoft.com/office/drawing/2014/main" id="{B826D354-A463-2BB5-DFBB-7D35088BB43D}"/>
              </a:ext>
            </a:extLst>
          </p:cNvPr>
          <p:cNvSpPr>
            <a:spLocks noChangeArrowheads="1"/>
          </p:cNvSpPr>
          <p:nvPr/>
        </p:nvSpPr>
        <p:spPr bwMode="auto">
          <a:xfrm>
            <a:off x="434563" y="4151374"/>
            <a:ext cx="3265488" cy="912813"/>
          </a:xfrm>
          <a:custGeom>
            <a:avLst/>
            <a:gdLst>
              <a:gd name="T0" fmla="*/ 0 w 3960"/>
              <a:gd name="T1" fmla="*/ 858 h 1326"/>
              <a:gd name="T2" fmla="*/ 180 w 3960"/>
              <a:gd name="T3" fmla="*/ 78 h 1326"/>
              <a:gd name="T4" fmla="*/ 360 w 3960"/>
              <a:gd name="T5" fmla="*/ 1326 h 1326"/>
              <a:gd name="T6" fmla="*/ 540 w 3960"/>
              <a:gd name="T7" fmla="*/ 78 h 1326"/>
              <a:gd name="T8" fmla="*/ 720 w 3960"/>
              <a:gd name="T9" fmla="*/ 1326 h 1326"/>
              <a:gd name="T10" fmla="*/ 900 w 3960"/>
              <a:gd name="T11" fmla="*/ 78 h 1326"/>
              <a:gd name="T12" fmla="*/ 1080 w 3960"/>
              <a:gd name="T13" fmla="*/ 1326 h 1326"/>
              <a:gd name="T14" fmla="*/ 1260 w 3960"/>
              <a:gd name="T15" fmla="*/ 78 h 1326"/>
              <a:gd name="T16" fmla="*/ 1440 w 3960"/>
              <a:gd name="T17" fmla="*/ 1326 h 1326"/>
              <a:gd name="T18" fmla="*/ 1620 w 3960"/>
              <a:gd name="T19" fmla="*/ 78 h 1326"/>
              <a:gd name="T20" fmla="*/ 1800 w 3960"/>
              <a:gd name="T21" fmla="*/ 1326 h 1326"/>
              <a:gd name="T22" fmla="*/ 1980 w 3960"/>
              <a:gd name="T23" fmla="*/ 78 h 1326"/>
              <a:gd name="T24" fmla="*/ 2160 w 3960"/>
              <a:gd name="T25" fmla="*/ 1326 h 1326"/>
              <a:gd name="T26" fmla="*/ 2340 w 3960"/>
              <a:gd name="T27" fmla="*/ 78 h 1326"/>
              <a:gd name="T28" fmla="*/ 2520 w 3960"/>
              <a:gd name="T29" fmla="*/ 1326 h 1326"/>
              <a:gd name="T30" fmla="*/ 2700 w 3960"/>
              <a:gd name="T31" fmla="*/ 78 h 1326"/>
              <a:gd name="T32" fmla="*/ 2880 w 3960"/>
              <a:gd name="T33" fmla="*/ 1326 h 1326"/>
              <a:gd name="T34" fmla="*/ 3060 w 3960"/>
              <a:gd name="T35" fmla="*/ 78 h 1326"/>
              <a:gd name="T36" fmla="*/ 3240 w 3960"/>
              <a:gd name="T37" fmla="*/ 1326 h 1326"/>
              <a:gd name="T38" fmla="*/ 3420 w 3960"/>
              <a:gd name="T39" fmla="*/ 78 h 1326"/>
              <a:gd name="T40" fmla="*/ 3600 w 3960"/>
              <a:gd name="T41" fmla="*/ 1326 h 1326"/>
              <a:gd name="T42" fmla="*/ 3780 w 3960"/>
              <a:gd name="T43" fmla="*/ 78 h 1326"/>
              <a:gd name="T44" fmla="*/ 3960 w 3960"/>
              <a:gd name="T45" fmla="*/ 1014 h 1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960" h="1326">
                <a:moveTo>
                  <a:pt x="0" y="858"/>
                </a:moveTo>
                <a:cubicBezTo>
                  <a:pt x="60" y="429"/>
                  <a:pt x="120" y="0"/>
                  <a:pt x="180" y="78"/>
                </a:cubicBezTo>
                <a:cubicBezTo>
                  <a:pt x="240" y="156"/>
                  <a:pt x="300" y="1326"/>
                  <a:pt x="360" y="1326"/>
                </a:cubicBezTo>
                <a:cubicBezTo>
                  <a:pt x="420" y="1326"/>
                  <a:pt x="480" y="78"/>
                  <a:pt x="540" y="78"/>
                </a:cubicBezTo>
                <a:cubicBezTo>
                  <a:pt x="600" y="78"/>
                  <a:pt x="660" y="1326"/>
                  <a:pt x="720" y="1326"/>
                </a:cubicBezTo>
                <a:cubicBezTo>
                  <a:pt x="780" y="1326"/>
                  <a:pt x="840" y="78"/>
                  <a:pt x="900" y="78"/>
                </a:cubicBezTo>
                <a:cubicBezTo>
                  <a:pt x="960" y="78"/>
                  <a:pt x="1020" y="1326"/>
                  <a:pt x="1080" y="1326"/>
                </a:cubicBezTo>
                <a:cubicBezTo>
                  <a:pt x="1140" y="1326"/>
                  <a:pt x="1200" y="78"/>
                  <a:pt x="1260" y="78"/>
                </a:cubicBezTo>
                <a:cubicBezTo>
                  <a:pt x="1320" y="78"/>
                  <a:pt x="1380" y="1326"/>
                  <a:pt x="1440" y="1326"/>
                </a:cubicBezTo>
                <a:cubicBezTo>
                  <a:pt x="1500" y="1326"/>
                  <a:pt x="1560" y="78"/>
                  <a:pt x="1620" y="78"/>
                </a:cubicBezTo>
                <a:cubicBezTo>
                  <a:pt x="1680" y="78"/>
                  <a:pt x="1740" y="1326"/>
                  <a:pt x="1800" y="1326"/>
                </a:cubicBezTo>
                <a:cubicBezTo>
                  <a:pt x="1860" y="1326"/>
                  <a:pt x="1920" y="78"/>
                  <a:pt x="1980" y="78"/>
                </a:cubicBezTo>
                <a:cubicBezTo>
                  <a:pt x="2040" y="78"/>
                  <a:pt x="2100" y="1326"/>
                  <a:pt x="2160" y="1326"/>
                </a:cubicBezTo>
                <a:cubicBezTo>
                  <a:pt x="2220" y="1326"/>
                  <a:pt x="2280" y="78"/>
                  <a:pt x="2340" y="78"/>
                </a:cubicBezTo>
                <a:cubicBezTo>
                  <a:pt x="2400" y="78"/>
                  <a:pt x="2460" y="1326"/>
                  <a:pt x="2520" y="1326"/>
                </a:cubicBezTo>
                <a:cubicBezTo>
                  <a:pt x="2580" y="1326"/>
                  <a:pt x="2640" y="78"/>
                  <a:pt x="2700" y="78"/>
                </a:cubicBezTo>
                <a:cubicBezTo>
                  <a:pt x="2760" y="78"/>
                  <a:pt x="2820" y="1326"/>
                  <a:pt x="2880" y="1326"/>
                </a:cubicBezTo>
                <a:cubicBezTo>
                  <a:pt x="2940" y="1326"/>
                  <a:pt x="3000" y="78"/>
                  <a:pt x="3060" y="78"/>
                </a:cubicBezTo>
                <a:cubicBezTo>
                  <a:pt x="3120" y="78"/>
                  <a:pt x="3180" y="1326"/>
                  <a:pt x="3240" y="1326"/>
                </a:cubicBezTo>
                <a:cubicBezTo>
                  <a:pt x="3300" y="1326"/>
                  <a:pt x="3360" y="78"/>
                  <a:pt x="3420" y="78"/>
                </a:cubicBezTo>
                <a:cubicBezTo>
                  <a:pt x="3480" y="78"/>
                  <a:pt x="3540" y="1326"/>
                  <a:pt x="3600" y="1326"/>
                </a:cubicBezTo>
                <a:cubicBezTo>
                  <a:pt x="3660" y="1326"/>
                  <a:pt x="3720" y="130"/>
                  <a:pt x="3780" y="78"/>
                </a:cubicBezTo>
                <a:cubicBezTo>
                  <a:pt x="3840" y="26"/>
                  <a:pt x="3930" y="858"/>
                  <a:pt x="3960" y="1014"/>
                </a:cubicBez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solidFill>
                <a:schemeClr val="accent2"/>
              </a:solidFill>
            </a:endParaRPr>
          </a:p>
        </p:txBody>
      </p:sp>
      <p:sp>
        <p:nvSpPr>
          <p:cNvPr id="35" name="Freeform 27">
            <a:extLst>
              <a:ext uri="{FF2B5EF4-FFF2-40B4-BE49-F238E27FC236}">
                <a16:creationId xmlns="" xmlns:a16="http://schemas.microsoft.com/office/drawing/2014/main" id="{D928DB86-1978-CA2B-62A0-64429B38EEC9}"/>
              </a:ext>
            </a:extLst>
          </p:cNvPr>
          <p:cNvSpPr>
            <a:spLocks noChangeArrowheads="1"/>
          </p:cNvSpPr>
          <p:nvPr/>
        </p:nvSpPr>
        <p:spPr bwMode="auto">
          <a:xfrm>
            <a:off x="434563" y="4151374"/>
            <a:ext cx="3265488" cy="912813"/>
          </a:xfrm>
          <a:custGeom>
            <a:avLst/>
            <a:gdLst>
              <a:gd name="T0" fmla="*/ 0 w 3960"/>
              <a:gd name="T1" fmla="*/ 858 h 1326"/>
              <a:gd name="T2" fmla="*/ 180 w 3960"/>
              <a:gd name="T3" fmla="*/ 78 h 1326"/>
              <a:gd name="T4" fmla="*/ 360 w 3960"/>
              <a:gd name="T5" fmla="*/ 1326 h 1326"/>
              <a:gd name="T6" fmla="*/ 540 w 3960"/>
              <a:gd name="T7" fmla="*/ 78 h 1326"/>
              <a:gd name="T8" fmla="*/ 720 w 3960"/>
              <a:gd name="T9" fmla="*/ 1326 h 1326"/>
              <a:gd name="T10" fmla="*/ 900 w 3960"/>
              <a:gd name="T11" fmla="*/ 78 h 1326"/>
              <a:gd name="T12" fmla="*/ 1080 w 3960"/>
              <a:gd name="T13" fmla="*/ 1326 h 1326"/>
              <a:gd name="T14" fmla="*/ 1260 w 3960"/>
              <a:gd name="T15" fmla="*/ 78 h 1326"/>
              <a:gd name="T16" fmla="*/ 1440 w 3960"/>
              <a:gd name="T17" fmla="*/ 1326 h 1326"/>
              <a:gd name="T18" fmla="*/ 1620 w 3960"/>
              <a:gd name="T19" fmla="*/ 78 h 1326"/>
              <a:gd name="T20" fmla="*/ 1800 w 3960"/>
              <a:gd name="T21" fmla="*/ 1326 h 1326"/>
              <a:gd name="T22" fmla="*/ 1980 w 3960"/>
              <a:gd name="T23" fmla="*/ 78 h 1326"/>
              <a:gd name="T24" fmla="*/ 2160 w 3960"/>
              <a:gd name="T25" fmla="*/ 1326 h 1326"/>
              <a:gd name="T26" fmla="*/ 2340 w 3960"/>
              <a:gd name="T27" fmla="*/ 78 h 1326"/>
              <a:gd name="T28" fmla="*/ 2520 w 3960"/>
              <a:gd name="T29" fmla="*/ 1326 h 1326"/>
              <a:gd name="T30" fmla="*/ 2700 w 3960"/>
              <a:gd name="T31" fmla="*/ 78 h 1326"/>
              <a:gd name="T32" fmla="*/ 2880 w 3960"/>
              <a:gd name="T33" fmla="*/ 1326 h 1326"/>
              <a:gd name="T34" fmla="*/ 3060 w 3960"/>
              <a:gd name="T35" fmla="*/ 78 h 1326"/>
              <a:gd name="T36" fmla="*/ 3240 w 3960"/>
              <a:gd name="T37" fmla="*/ 1326 h 1326"/>
              <a:gd name="T38" fmla="*/ 3420 w 3960"/>
              <a:gd name="T39" fmla="*/ 78 h 1326"/>
              <a:gd name="T40" fmla="*/ 3600 w 3960"/>
              <a:gd name="T41" fmla="*/ 1326 h 1326"/>
              <a:gd name="T42" fmla="*/ 3780 w 3960"/>
              <a:gd name="T43" fmla="*/ 78 h 1326"/>
              <a:gd name="T44" fmla="*/ 3960 w 3960"/>
              <a:gd name="T45" fmla="*/ 1014 h 1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960" h="1326">
                <a:moveTo>
                  <a:pt x="0" y="858"/>
                </a:moveTo>
                <a:cubicBezTo>
                  <a:pt x="60" y="429"/>
                  <a:pt x="120" y="0"/>
                  <a:pt x="180" y="78"/>
                </a:cubicBezTo>
                <a:cubicBezTo>
                  <a:pt x="240" y="156"/>
                  <a:pt x="300" y="1326"/>
                  <a:pt x="360" y="1326"/>
                </a:cubicBezTo>
                <a:cubicBezTo>
                  <a:pt x="420" y="1326"/>
                  <a:pt x="480" y="78"/>
                  <a:pt x="540" y="78"/>
                </a:cubicBezTo>
                <a:cubicBezTo>
                  <a:pt x="600" y="78"/>
                  <a:pt x="660" y="1326"/>
                  <a:pt x="720" y="1326"/>
                </a:cubicBezTo>
                <a:cubicBezTo>
                  <a:pt x="780" y="1326"/>
                  <a:pt x="840" y="78"/>
                  <a:pt x="900" y="78"/>
                </a:cubicBezTo>
                <a:cubicBezTo>
                  <a:pt x="960" y="78"/>
                  <a:pt x="1020" y="1326"/>
                  <a:pt x="1080" y="1326"/>
                </a:cubicBezTo>
                <a:cubicBezTo>
                  <a:pt x="1140" y="1326"/>
                  <a:pt x="1200" y="78"/>
                  <a:pt x="1260" y="78"/>
                </a:cubicBezTo>
                <a:cubicBezTo>
                  <a:pt x="1320" y="78"/>
                  <a:pt x="1380" y="1326"/>
                  <a:pt x="1440" y="1326"/>
                </a:cubicBezTo>
                <a:cubicBezTo>
                  <a:pt x="1500" y="1326"/>
                  <a:pt x="1560" y="78"/>
                  <a:pt x="1620" y="78"/>
                </a:cubicBezTo>
                <a:cubicBezTo>
                  <a:pt x="1680" y="78"/>
                  <a:pt x="1740" y="1326"/>
                  <a:pt x="1800" y="1326"/>
                </a:cubicBezTo>
                <a:cubicBezTo>
                  <a:pt x="1860" y="1326"/>
                  <a:pt x="1920" y="78"/>
                  <a:pt x="1980" y="78"/>
                </a:cubicBezTo>
                <a:cubicBezTo>
                  <a:pt x="2040" y="78"/>
                  <a:pt x="2100" y="1326"/>
                  <a:pt x="2160" y="1326"/>
                </a:cubicBezTo>
                <a:cubicBezTo>
                  <a:pt x="2220" y="1326"/>
                  <a:pt x="2280" y="78"/>
                  <a:pt x="2340" y="78"/>
                </a:cubicBezTo>
                <a:cubicBezTo>
                  <a:pt x="2400" y="78"/>
                  <a:pt x="2460" y="1326"/>
                  <a:pt x="2520" y="1326"/>
                </a:cubicBezTo>
                <a:cubicBezTo>
                  <a:pt x="2580" y="1326"/>
                  <a:pt x="2640" y="78"/>
                  <a:pt x="2700" y="78"/>
                </a:cubicBezTo>
                <a:cubicBezTo>
                  <a:pt x="2760" y="78"/>
                  <a:pt x="2820" y="1326"/>
                  <a:pt x="2880" y="1326"/>
                </a:cubicBezTo>
                <a:cubicBezTo>
                  <a:pt x="2940" y="1326"/>
                  <a:pt x="3000" y="78"/>
                  <a:pt x="3060" y="78"/>
                </a:cubicBezTo>
                <a:cubicBezTo>
                  <a:pt x="3120" y="78"/>
                  <a:pt x="3180" y="1326"/>
                  <a:pt x="3240" y="1326"/>
                </a:cubicBezTo>
                <a:cubicBezTo>
                  <a:pt x="3300" y="1326"/>
                  <a:pt x="3360" y="78"/>
                  <a:pt x="3420" y="78"/>
                </a:cubicBezTo>
                <a:cubicBezTo>
                  <a:pt x="3480" y="78"/>
                  <a:pt x="3540" y="1326"/>
                  <a:pt x="3600" y="1326"/>
                </a:cubicBezTo>
                <a:cubicBezTo>
                  <a:pt x="3660" y="1326"/>
                  <a:pt x="3720" y="130"/>
                  <a:pt x="3780" y="78"/>
                </a:cubicBezTo>
                <a:cubicBezTo>
                  <a:pt x="3840" y="26"/>
                  <a:pt x="3930" y="858"/>
                  <a:pt x="3960" y="1014"/>
                </a:cubicBez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solidFill>
                <a:schemeClr val="accent2"/>
              </a:solidFill>
            </a:endParaRPr>
          </a:p>
        </p:txBody>
      </p:sp>
      <p:sp>
        <p:nvSpPr>
          <p:cNvPr id="36" name="Freeform 28">
            <a:extLst>
              <a:ext uri="{FF2B5EF4-FFF2-40B4-BE49-F238E27FC236}">
                <a16:creationId xmlns="" xmlns:a16="http://schemas.microsoft.com/office/drawing/2014/main" id="{E6C60FD6-A39B-2BC8-C76C-FF58DFE46BE3}"/>
              </a:ext>
            </a:extLst>
          </p:cNvPr>
          <p:cNvSpPr>
            <a:spLocks noChangeArrowheads="1"/>
          </p:cNvSpPr>
          <p:nvPr/>
        </p:nvSpPr>
        <p:spPr bwMode="auto">
          <a:xfrm>
            <a:off x="434563" y="4151374"/>
            <a:ext cx="3265488" cy="912813"/>
          </a:xfrm>
          <a:custGeom>
            <a:avLst/>
            <a:gdLst>
              <a:gd name="T0" fmla="*/ 0 w 3960"/>
              <a:gd name="T1" fmla="*/ 858 h 1326"/>
              <a:gd name="T2" fmla="*/ 180 w 3960"/>
              <a:gd name="T3" fmla="*/ 78 h 1326"/>
              <a:gd name="T4" fmla="*/ 360 w 3960"/>
              <a:gd name="T5" fmla="*/ 1326 h 1326"/>
              <a:gd name="T6" fmla="*/ 540 w 3960"/>
              <a:gd name="T7" fmla="*/ 78 h 1326"/>
              <a:gd name="T8" fmla="*/ 720 w 3960"/>
              <a:gd name="T9" fmla="*/ 1326 h 1326"/>
              <a:gd name="T10" fmla="*/ 900 w 3960"/>
              <a:gd name="T11" fmla="*/ 78 h 1326"/>
              <a:gd name="T12" fmla="*/ 1080 w 3960"/>
              <a:gd name="T13" fmla="*/ 1326 h 1326"/>
              <a:gd name="T14" fmla="*/ 1260 w 3960"/>
              <a:gd name="T15" fmla="*/ 78 h 1326"/>
              <a:gd name="T16" fmla="*/ 1440 w 3960"/>
              <a:gd name="T17" fmla="*/ 1326 h 1326"/>
              <a:gd name="T18" fmla="*/ 1620 w 3960"/>
              <a:gd name="T19" fmla="*/ 78 h 1326"/>
              <a:gd name="T20" fmla="*/ 1800 w 3960"/>
              <a:gd name="T21" fmla="*/ 1326 h 1326"/>
              <a:gd name="T22" fmla="*/ 1980 w 3960"/>
              <a:gd name="T23" fmla="*/ 78 h 1326"/>
              <a:gd name="T24" fmla="*/ 2160 w 3960"/>
              <a:gd name="T25" fmla="*/ 1326 h 1326"/>
              <a:gd name="T26" fmla="*/ 2340 w 3960"/>
              <a:gd name="T27" fmla="*/ 78 h 1326"/>
              <a:gd name="T28" fmla="*/ 2520 w 3960"/>
              <a:gd name="T29" fmla="*/ 1326 h 1326"/>
              <a:gd name="T30" fmla="*/ 2700 w 3960"/>
              <a:gd name="T31" fmla="*/ 78 h 1326"/>
              <a:gd name="T32" fmla="*/ 2880 w 3960"/>
              <a:gd name="T33" fmla="*/ 1326 h 1326"/>
              <a:gd name="T34" fmla="*/ 3060 w 3960"/>
              <a:gd name="T35" fmla="*/ 78 h 1326"/>
              <a:gd name="T36" fmla="*/ 3240 w 3960"/>
              <a:gd name="T37" fmla="*/ 1326 h 1326"/>
              <a:gd name="T38" fmla="*/ 3420 w 3960"/>
              <a:gd name="T39" fmla="*/ 78 h 1326"/>
              <a:gd name="T40" fmla="*/ 3600 w 3960"/>
              <a:gd name="T41" fmla="*/ 1326 h 1326"/>
              <a:gd name="T42" fmla="*/ 3780 w 3960"/>
              <a:gd name="T43" fmla="*/ 78 h 1326"/>
              <a:gd name="T44" fmla="*/ 3960 w 3960"/>
              <a:gd name="T45" fmla="*/ 1014 h 1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960" h="1326">
                <a:moveTo>
                  <a:pt x="0" y="858"/>
                </a:moveTo>
                <a:cubicBezTo>
                  <a:pt x="60" y="429"/>
                  <a:pt x="120" y="0"/>
                  <a:pt x="180" y="78"/>
                </a:cubicBezTo>
                <a:cubicBezTo>
                  <a:pt x="240" y="156"/>
                  <a:pt x="300" y="1326"/>
                  <a:pt x="360" y="1326"/>
                </a:cubicBezTo>
                <a:cubicBezTo>
                  <a:pt x="420" y="1326"/>
                  <a:pt x="480" y="78"/>
                  <a:pt x="540" y="78"/>
                </a:cubicBezTo>
                <a:cubicBezTo>
                  <a:pt x="600" y="78"/>
                  <a:pt x="660" y="1326"/>
                  <a:pt x="720" y="1326"/>
                </a:cubicBezTo>
                <a:cubicBezTo>
                  <a:pt x="780" y="1326"/>
                  <a:pt x="840" y="78"/>
                  <a:pt x="900" y="78"/>
                </a:cubicBezTo>
                <a:cubicBezTo>
                  <a:pt x="960" y="78"/>
                  <a:pt x="1020" y="1326"/>
                  <a:pt x="1080" y="1326"/>
                </a:cubicBezTo>
                <a:cubicBezTo>
                  <a:pt x="1140" y="1326"/>
                  <a:pt x="1200" y="78"/>
                  <a:pt x="1260" y="78"/>
                </a:cubicBezTo>
                <a:cubicBezTo>
                  <a:pt x="1320" y="78"/>
                  <a:pt x="1380" y="1326"/>
                  <a:pt x="1440" y="1326"/>
                </a:cubicBezTo>
                <a:cubicBezTo>
                  <a:pt x="1500" y="1326"/>
                  <a:pt x="1560" y="78"/>
                  <a:pt x="1620" y="78"/>
                </a:cubicBezTo>
                <a:cubicBezTo>
                  <a:pt x="1680" y="78"/>
                  <a:pt x="1740" y="1326"/>
                  <a:pt x="1800" y="1326"/>
                </a:cubicBezTo>
                <a:cubicBezTo>
                  <a:pt x="1860" y="1326"/>
                  <a:pt x="1920" y="78"/>
                  <a:pt x="1980" y="78"/>
                </a:cubicBezTo>
                <a:cubicBezTo>
                  <a:pt x="2040" y="78"/>
                  <a:pt x="2100" y="1326"/>
                  <a:pt x="2160" y="1326"/>
                </a:cubicBezTo>
                <a:cubicBezTo>
                  <a:pt x="2220" y="1326"/>
                  <a:pt x="2280" y="78"/>
                  <a:pt x="2340" y="78"/>
                </a:cubicBezTo>
                <a:cubicBezTo>
                  <a:pt x="2400" y="78"/>
                  <a:pt x="2460" y="1326"/>
                  <a:pt x="2520" y="1326"/>
                </a:cubicBezTo>
                <a:cubicBezTo>
                  <a:pt x="2580" y="1326"/>
                  <a:pt x="2640" y="78"/>
                  <a:pt x="2700" y="78"/>
                </a:cubicBezTo>
                <a:cubicBezTo>
                  <a:pt x="2760" y="78"/>
                  <a:pt x="2820" y="1326"/>
                  <a:pt x="2880" y="1326"/>
                </a:cubicBezTo>
                <a:cubicBezTo>
                  <a:pt x="2940" y="1326"/>
                  <a:pt x="3000" y="78"/>
                  <a:pt x="3060" y="78"/>
                </a:cubicBezTo>
                <a:cubicBezTo>
                  <a:pt x="3120" y="78"/>
                  <a:pt x="3180" y="1326"/>
                  <a:pt x="3240" y="1326"/>
                </a:cubicBezTo>
                <a:cubicBezTo>
                  <a:pt x="3300" y="1326"/>
                  <a:pt x="3360" y="78"/>
                  <a:pt x="3420" y="78"/>
                </a:cubicBezTo>
                <a:cubicBezTo>
                  <a:pt x="3480" y="78"/>
                  <a:pt x="3540" y="1326"/>
                  <a:pt x="3600" y="1326"/>
                </a:cubicBezTo>
                <a:cubicBezTo>
                  <a:pt x="3660" y="1326"/>
                  <a:pt x="3720" y="130"/>
                  <a:pt x="3780" y="78"/>
                </a:cubicBezTo>
                <a:cubicBezTo>
                  <a:pt x="3840" y="26"/>
                  <a:pt x="3930" y="858"/>
                  <a:pt x="3960" y="1014"/>
                </a:cubicBezTo>
              </a:path>
            </a:pathLst>
          </a:custGeom>
          <a:noFill/>
          <a:ln w="2540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solidFill>
                <a:schemeClr val="accent2"/>
              </a:solidFill>
            </a:endParaRPr>
          </a:p>
        </p:txBody>
      </p:sp>
      <p:graphicFrame>
        <p:nvGraphicFramePr>
          <p:cNvPr id="37" name="Object 29">
            <a:extLst>
              <a:ext uri="{FF2B5EF4-FFF2-40B4-BE49-F238E27FC236}">
                <a16:creationId xmlns="" xmlns:a16="http://schemas.microsoft.com/office/drawing/2014/main" id="{03EF1245-B31A-292F-4816-4642C9641D33}"/>
              </a:ext>
            </a:extLst>
          </p:cNvPr>
          <p:cNvGraphicFramePr>
            <a:graphicFrameLocks/>
          </p:cNvGraphicFramePr>
          <p:nvPr>
            <p:extLst>
              <p:ext uri="{D42A27DB-BD31-4B8C-83A1-F6EECF244321}">
                <p14:modId xmlns:p14="http://schemas.microsoft.com/office/powerpoint/2010/main" val="1780525928"/>
              </p:ext>
            </p:extLst>
          </p:nvPr>
        </p:nvGraphicFramePr>
        <p:xfrm>
          <a:off x="547275" y="3852738"/>
          <a:ext cx="1676400" cy="347663"/>
        </p:xfrm>
        <a:graphic>
          <a:graphicData uri="http://schemas.openxmlformats.org/presentationml/2006/ole">
            <mc:AlternateContent xmlns:mc="http://schemas.openxmlformats.org/markup-compatibility/2006">
              <mc:Choice xmlns:v="urn:schemas-microsoft-com:vml" Requires="v">
                <p:oleObj spid="_x0000_s171133" r:id="rId9" imgW="952500" imgH="228600" progId="Equation.3">
                  <p:embed/>
                </p:oleObj>
              </mc:Choice>
              <mc:Fallback>
                <p:oleObj r:id="rId9" imgW="952500" imgH="228600" progId="Equation.3">
                  <p:embed/>
                  <p:pic>
                    <p:nvPicPr>
                      <p:cNvPr id="0" name=""/>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47275" y="3852738"/>
                        <a:ext cx="1676400"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8" name="Object 30">
            <a:extLst>
              <a:ext uri="{FF2B5EF4-FFF2-40B4-BE49-F238E27FC236}">
                <a16:creationId xmlns="" xmlns:a16="http://schemas.microsoft.com/office/drawing/2014/main" id="{1056EB7B-F92A-E3AC-A7C8-2835EDE62CF7}"/>
              </a:ext>
            </a:extLst>
          </p:cNvPr>
          <p:cNvGraphicFramePr>
            <a:graphicFrameLocks/>
          </p:cNvGraphicFramePr>
          <p:nvPr>
            <p:extLst>
              <p:ext uri="{D42A27DB-BD31-4B8C-83A1-F6EECF244321}">
                <p14:modId xmlns:p14="http://schemas.microsoft.com/office/powerpoint/2010/main" val="1139232644"/>
              </p:ext>
            </p:extLst>
          </p:nvPr>
        </p:nvGraphicFramePr>
        <p:xfrm>
          <a:off x="496472" y="3068454"/>
          <a:ext cx="1673225" cy="315913"/>
        </p:xfrm>
        <a:graphic>
          <a:graphicData uri="http://schemas.openxmlformats.org/presentationml/2006/ole">
            <mc:AlternateContent xmlns:mc="http://schemas.openxmlformats.org/markup-compatibility/2006">
              <mc:Choice xmlns:v="urn:schemas-microsoft-com:vml" Requires="v">
                <p:oleObj spid="_x0000_s171134" name="Equation" r:id="rId11" imgW="774360" imgH="190440" progId="Equation.DSMT4">
                  <p:embed/>
                </p:oleObj>
              </mc:Choice>
              <mc:Fallback>
                <p:oleObj name="Equation" r:id="rId11" imgW="774360" imgH="190440" progId="Equation.DSMT4">
                  <p:embed/>
                  <p:pic>
                    <p:nvPicPr>
                      <p:cNvPr id="0" name=""/>
                      <p:cNvPicPr>
                        <a:picLocks noChangeArrowheads="1"/>
                      </p:cNvPicPr>
                      <p:nvPr/>
                    </p:nvPicPr>
                    <p:blipFill>
                      <a:blip r:embed="rId12"/>
                      <a:srcRect/>
                      <a:stretch>
                        <a:fillRect/>
                      </a:stretch>
                    </p:blipFill>
                    <p:spPr bwMode="auto">
                      <a:xfrm>
                        <a:off x="496472" y="3068454"/>
                        <a:ext cx="1673225" cy="315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9" name="Line 32">
            <a:extLst>
              <a:ext uri="{FF2B5EF4-FFF2-40B4-BE49-F238E27FC236}">
                <a16:creationId xmlns="" xmlns:a16="http://schemas.microsoft.com/office/drawing/2014/main" id="{A13F849F-87BD-2AF4-A69A-67A759AE473C}"/>
              </a:ext>
            </a:extLst>
          </p:cNvPr>
          <p:cNvSpPr>
            <a:spLocks noChangeShapeType="1"/>
          </p:cNvSpPr>
          <p:nvPr/>
        </p:nvSpPr>
        <p:spPr bwMode="auto">
          <a:xfrm>
            <a:off x="434563" y="3681474"/>
            <a:ext cx="342900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solidFill>
                <a:schemeClr val="accent2"/>
              </a:solidFill>
            </a:endParaRPr>
          </a:p>
        </p:txBody>
      </p:sp>
      <p:sp>
        <p:nvSpPr>
          <p:cNvPr id="40" name="Line 33">
            <a:extLst>
              <a:ext uri="{FF2B5EF4-FFF2-40B4-BE49-F238E27FC236}">
                <a16:creationId xmlns="" xmlns:a16="http://schemas.microsoft.com/office/drawing/2014/main" id="{37C4BB5D-5377-7385-5B85-0F815E15C3E2}"/>
              </a:ext>
            </a:extLst>
          </p:cNvPr>
          <p:cNvSpPr>
            <a:spLocks noChangeShapeType="1"/>
          </p:cNvSpPr>
          <p:nvPr/>
        </p:nvSpPr>
        <p:spPr bwMode="auto">
          <a:xfrm flipH="1" flipV="1">
            <a:off x="434563" y="3008374"/>
            <a:ext cx="0" cy="33528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solidFill>
                <a:schemeClr val="accent2"/>
              </a:solidFill>
            </a:endParaRPr>
          </a:p>
        </p:txBody>
      </p:sp>
      <p:sp>
        <p:nvSpPr>
          <p:cNvPr id="41" name="Line 34">
            <a:extLst>
              <a:ext uri="{FF2B5EF4-FFF2-40B4-BE49-F238E27FC236}">
                <a16:creationId xmlns="" xmlns:a16="http://schemas.microsoft.com/office/drawing/2014/main" id="{4887BA55-D559-0BD6-3083-8F60C951E0DC}"/>
              </a:ext>
            </a:extLst>
          </p:cNvPr>
          <p:cNvSpPr>
            <a:spLocks noChangeShapeType="1"/>
          </p:cNvSpPr>
          <p:nvPr/>
        </p:nvSpPr>
        <p:spPr bwMode="auto">
          <a:xfrm>
            <a:off x="434563" y="4648262"/>
            <a:ext cx="342900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solidFill>
                <a:schemeClr val="accent2"/>
              </a:solidFill>
            </a:endParaRPr>
          </a:p>
        </p:txBody>
      </p:sp>
      <p:sp>
        <p:nvSpPr>
          <p:cNvPr id="42" name="Line 35">
            <a:extLst>
              <a:ext uri="{FF2B5EF4-FFF2-40B4-BE49-F238E27FC236}">
                <a16:creationId xmlns="" xmlns:a16="http://schemas.microsoft.com/office/drawing/2014/main" id="{75ECAC82-7073-4665-9B30-F747A2A6D267}"/>
              </a:ext>
            </a:extLst>
          </p:cNvPr>
          <p:cNvSpPr>
            <a:spLocks noChangeShapeType="1"/>
          </p:cNvSpPr>
          <p:nvPr/>
        </p:nvSpPr>
        <p:spPr bwMode="auto">
          <a:xfrm>
            <a:off x="434563" y="5829362"/>
            <a:ext cx="342900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solidFill>
                <a:schemeClr val="accent2"/>
              </a:solidFill>
            </a:endParaRPr>
          </a:p>
        </p:txBody>
      </p:sp>
      <p:sp>
        <p:nvSpPr>
          <p:cNvPr id="43" name="Freeform 37">
            <a:extLst>
              <a:ext uri="{FF2B5EF4-FFF2-40B4-BE49-F238E27FC236}">
                <a16:creationId xmlns="" xmlns:a16="http://schemas.microsoft.com/office/drawing/2014/main" id="{5F0EA926-88D0-896F-60EF-96715A999D95}"/>
              </a:ext>
            </a:extLst>
          </p:cNvPr>
          <p:cNvSpPr>
            <a:spLocks noChangeArrowheads="1"/>
          </p:cNvSpPr>
          <p:nvPr/>
        </p:nvSpPr>
        <p:spPr bwMode="auto">
          <a:xfrm>
            <a:off x="434563" y="5311837"/>
            <a:ext cx="3505200" cy="912812"/>
          </a:xfrm>
          <a:custGeom>
            <a:avLst/>
            <a:gdLst>
              <a:gd name="T0" fmla="*/ 0 w 3960"/>
              <a:gd name="T1" fmla="*/ 858 h 1326"/>
              <a:gd name="T2" fmla="*/ 180 w 3960"/>
              <a:gd name="T3" fmla="*/ 78 h 1326"/>
              <a:gd name="T4" fmla="*/ 360 w 3960"/>
              <a:gd name="T5" fmla="*/ 1326 h 1326"/>
              <a:gd name="T6" fmla="*/ 540 w 3960"/>
              <a:gd name="T7" fmla="*/ 78 h 1326"/>
              <a:gd name="T8" fmla="*/ 720 w 3960"/>
              <a:gd name="T9" fmla="*/ 1326 h 1326"/>
              <a:gd name="T10" fmla="*/ 900 w 3960"/>
              <a:gd name="T11" fmla="*/ 78 h 1326"/>
              <a:gd name="T12" fmla="*/ 1080 w 3960"/>
              <a:gd name="T13" fmla="*/ 1326 h 1326"/>
              <a:gd name="T14" fmla="*/ 1260 w 3960"/>
              <a:gd name="T15" fmla="*/ 78 h 1326"/>
              <a:gd name="T16" fmla="*/ 1440 w 3960"/>
              <a:gd name="T17" fmla="*/ 1326 h 1326"/>
              <a:gd name="T18" fmla="*/ 1620 w 3960"/>
              <a:gd name="T19" fmla="*/ 78 h 1326"/>
              <a:gd name="T20" fmla="*/ 1800 w 3960"/>
              <a:gd name="T21" fmla="*/ 1326 h 1326"/>
              <a:gd name="T22" fmla="*/ 1980 w 3960"/>
              <a:gd name="T23" fmla="*/ 78 h 1326"/>
              <a:gd name="T24" fmla="*/ 2160 w 3960"/>
              <a:gd name="T25" fmla="*/ 1326 h 1326"/>
              <a:gd name="T26" fmla="*/ 2340 w 3960"/>
              <a:gd name="T27" fmla="*/ 78 h 1326"/>
              <a:gd name="T28" fmla="*/ 2520 w 3960"/>
              <a:gd name="T29" fmla="*/ 1326 h 1326"/>
              <a:gd name="T30" fmla="*/ 2700 w 3960"/>
              <a:gd name="T31" fmla="*/ 78 h 1326"/>
              <a:gd name="T32" fmla="*/ 2880 w 3960"/>
              <a:gd name="T33" fmla="*/ 1326 h 1326"/>
              <a:gd name="T34" fmla="*/ 3060 w 3960"/>
              <a:gd name="T35" fmla="*/ 78 h 1326"/>
              <a:gd name="T36" fmla="*/ 3240 w 3960"/>
              <a:gd name="T37" fmla="*/ 1326 h 1326"/>
              <a:gd name="T38" fmla="*/ 3420 w 3960"/>
              <a:gd name="T39" fmla="*/ 78 h 1326"/>
              <a:gd name="T40" fmla="*/ 3600 w 3960"/>
              <a:gd name="T41" fmla="*/ 1326 h 1326"/>
              <a:gd name="T42" fmla="*/ 3780 w 3960"/>
              <a:gd name="T43" fmla="*/ 78 h 1326"/>
              <a:gd name="T44" fmla="*/ 3960 w 3960"/>
              <a:gd name="T45" fmla="*/ 1014 h 1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960" h="1326">
                <a:moveTo>
                  <a:pt x="0" y="858"/>
                </a:moveTo>
                <a:cubicBezTo>
                  <a:pt x="60" y="429"/>
                  <a:pt x="120" y="0"/>
                  <a:pt x="180" y="78"/>
                </a:cubicBezTo>
                <a:cubicBezTo>
                  <a:pt x="240" y="156"/>
                  <a:pt x="300" y="1326"/>
                  <a:pt x="360" y="1326"/>
                </a:cubicBezTo>
                <a:cubicBezTo>
                  <a:pt x="420" y="1326"/>
                  <a:pt x="480" y="78"/>
                  <a:pt x="540" y="78"/>
                </a:cubicBezTo>
                <a:cubicBezTo>
                  <a:pt x="600" y="78"/>
                  <a:pt x="660" y="1326"/>
                  <a:pt x="720" y="1326"/>
                </a:cubicBezTo>
                <a:cubicBezTo>
                  <a:pt x="780" y="1326"/>
                  <a:pt x="840" y="78"/>
                  <a:pt x="900" y="78"/>
                </a:cubicBezTo>
                <a:cubicBezTo>
                  <a:pt x="960" y="78"/>
                  <a:pt x="1020" y="1326"/>
                  <a:pt x="1080" y="1326"/>
                </a:cubicBezTo>
                <a:cubicBezTo>
                  <a:pt x="1140" y="1326"/>
                  <a:pt x="1200" y="78"/>
                  <a:pt x="1260" y="78"/>
                </a:cubicBezTo>
                <a:cubicBezTo>
                  <a:pt x="1320" y="78"/>
                  <a:pt x="1380" y="1326"/>
                  <a:pt x="1440" y="1326"/>
                </a:cubicBezTo>
                <a:cubicBezTo>
                  <a:pt x="1500" y="1326"/>
                  <a:pt x="1560" y="78"/>
                  <a:pt x="1620" y="78"/>
                </a:cubicBezTo>
                <a:cubicBezTo>
                  <a:pt x="1680" y="78"/>
                  <a:pt x="1740" y="1326"/>
                  <a:pt x="1800" y="1326"/>
                </a:cubicBezTo>
                <a:cubicBezTo>
                  <a:pt x="1860" y="1326"/>
                  <a:pt x="1920" y="78"/>
                  <a:pt x="1980" y="78"/>
                </a:cubicBezTo>
                <a:cubicBezTo>
                  <a:pt x="2040" y="78"/>
                  <a:pt x="2100" y="1326"/>
                  <a:pt x="2160" y="1326"/>
                </a:cubicBezTo>
                <a:cubicBezTo>
                  <a:pt x="2220" y="1326"/>
                  <a:pt x="2280" y="78"/>
                  <a:pt x="2340" y="78"/>
                </a:cubicBezTo>
                <a:cubicBezTo>
                  <a:pt x="2400" y="78"/>
                  <a:pt x="2460" y="1326"/>
                  <a:pt x="2520" y="1326"/>
                </a:cubicBezTo>
                <a:cubicBezTo>
                  <a:pt x="2580" y="1326"/>
                  <a:pt x="2640" y="78"/>
                  <a:pt x="2700" y="78"/>
                </a:cubicBezTo>
                <a:cubicBezTo>
                  <a:pt x="2760" y="78"/>
                  <a:pt x="2820" y="1326"/>
                  <a:pt x="2880" y="1326"/>
                </a:cubicBezTo>
                <a:cubicBezTo>
                  <a:pt x="2940" y="1326"/>
                  <a:pt x="3000" y="78"/>
                  <a:pt x="3060" y="78"/>
                </a:cubicBezTo>
                <a:cubicBezTo>
                  <a:pt x="3120" y="78"/>
                  <a:pt x="3180" y="1326"/>
                  <a:pt x="3240" y="1326"/>
                </a:cubicBezTo>
                <a:cubicBezTo>
                  <a:pt x="3300" y="1326"/>
                  <a:pt x="3360" y="78"/>
                  <a:pt x="3420" y="78"/>
                </a:cubicBezTo>
                <a:cubicBezTo>
                  <a:pt x="3480" y="78"/>
                  <a:pt x="3540" y="1326"/>
                  <a:pt x="3600" y="1326"/>
                </a:cubicBezTo>
                <a:cubicBezTo>
                  <a:pt x="3660" y="1326"/>
                  <a:pt x="3720" y="130"/>
                  <a:pt x="3780" y="78"/>
                </a:cubicBezTo>
                <a:cubicBezTo>
                  <a:pt x="3840" y="26"/>
                  <a:pt x="3930" y="858"/>
                  <a:pt x="3960" y="1014"/>
                </a:cubicBezTo>
              </a:path>
            </a:pathLst>
          </a:custGeom>
          <a:noFill/>
          <a:ln w="2540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solidFill>
                <a:schemeClr val="accent2"/>
              </a:solidFill>
            </a:endParaRPr>
          </a:p>
        </p:txBody>
      </p:sp>
      <p:graphicFrame>
        <p:nvGraphicFramePr>
          <p:cNvPr id="44" name="Object 39">
            <a:extLst>
              <a:ext uri="{FF2B5EF4-FFF2-40B4-BE49-F238E27FC236}">
                <a16:creationId xmlns="" xmlns:a16="http://schemas.microsoft.com/office/drawing/2014/main" id="{F28F5618-7EB6-1244-94E1-F058C43E8DDF}"/>
              </a:ext>
            </a:extLst>
          </p:cNvPr>
          <p:cNvGraphicFramePr>
            <a:graphicFrameLocks/>
          </p:cNvGraphicFramePr>
          <p:nvPr>
            <p:extLst>
              <p:ext uri="{D42A27DB-BD31-4B8C-83A1-F6EECF244321}">
                <p14:modId xmlns:p14="http://schemas.microsoft.com/office/powerpoint/2010/main" val="1148625599"/>
              </p:ext>
            </p:extLst>
          </p:nvPr>
        </p:nvGraphicFramePr>
        <p:xfrm>
          <a:off x="891762" y="6184106"/>
          <a:ext cx="2663825" cy="604838"/>
        </p:xfrm>
        <a:graphic>
          <a:graphicData uri="http://schemas.openxmlformats.org/presentationml/2006/ole">
            <mc:AlternateContent xmlns:mc="http://schemas.openxmlformats.org/markup-compatibility/2006">
              <mc:Choice xmlns:v="urn:schemas-microsoft-com:vml" Requires="v">
                <p:oleObj spid="_x0000_s171135" r:id="rId13" imgW="1726451" imgH="393529" progId="Equation.3">
                  <p:embed/>
                </p:oleObj>
              </mc:Choice>
              <mc:Fallback>
                <p:oleObj r:id="rId13" imgW="1726451" imgH="393529" progId="Equation.3">
                  <p:embed/>
                  <p:pic>
                    <p:nvPicPr>
                      <p:cNvPr id="0" name=""/>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91762" y="6184106"/>
                        <a:ext cx="2663825" cy="604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5" name="Line 54">
            <a:extLst>
              <a:ext uri="{FF2B5EF4-FFF2-40B4-BE49-F238E27FC236}">
                <a16:creationId xmlns="" xmlns:a16="http://schemas.microsoft.com/office/drawing/2014/main" id="{1FC16B24-F511-7989-5BE4-6596F0BAE4B0}"/>
              </a:ext>
            </a:extLst>
          </p:cNvPr>
          <p:cNvSpPr>
            <a:spLocks noChangeShapeType="1"/>
          </p:cNvSpPr>
          <p:nvPr/>
        </p:nvSpPr>
        <p:spPr bwMode="auto">
          <a:xfrm>
            <a:off x="434563" y="5370574"/>
            <a:ext cx="3581400"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2"/>
              </a:solidFill>
            </a:endParaRPr>
          </a:p>
        </p:txBody>
      </p:sp>
      <p:sp>
        <p:nvSpPr>
          <p:cNvPr id="46" name="Line 55">
            <a:extLst>
              <a:ext uri="{FF2B5EF4-FFF2-40B4-BE49-F238E27FC236}">
                <a16:creationId xmlns="" xmlns:a16="http://schemas.microsoft.com/office/drawing/2014/main" id="{D63C1A43-AE6F-E7F4-1EB8-922B93BFF9F7}"/>
              </a:ext>
            </a:extLst>
          </p:cNvPr>
          <p:cNvSpPr>
            <a:spLocks noChangeShapeType="1"/>
          </p:cNvSpPr>
          <p:nvPr/>
        </p:nvSpPr>
        <p:spPr bwMode="auto">
          <a:xfrm>
            <a:off x="434563" y="6208774"/>
            <a:ext cx="3657600"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2"/>
              </a:solidFill>
            </a:endParaRPr>
          </a:p>
        </p:txBody>
      </p:sp>
      <p:grpSp>
        <p:nvGrpSpPr>
          <p:cNvPr id="47" name="Group 41">
            <a:extLst>
              <a:ext uri="{FF2B5EF4-FFF2-40B4-BE49-F238E27FC236}">
                <a16:creationId xmlns="" xmlns:a16="http://schemas.microsoft.com/office/drawing/2014/main" id="{86ABBB3D-81ED-1E88-1CF8-03F88204B14C}"/>
              </a:ext>
            </a:extLst>
          </p:cNvPr>
          <p:cNvGrpSpPr>
            <a:grpSpLocks/>
          </p:cNvGrpSpPr>
          <p:nvPr/>
        </p:nvGrpSpPr>
        <p:grpSpPr bwMode="auto">
          <a:xfrm>
            <a:off x="4473161" y="5615049"/>
            <a:ext cx="4191000" cy="609600"/>
            <a:chOff x="384" y="3840"/>
            <a:chExt cx="2833" cy="336"/>
          </a:xfrm>
        </p:grpSpPr>
        <p:sp>
          <p:nvSpPr>
            <p:cNvPr id="48" name="Line 42">
              <a:extLst>
                <a:ext uri="{FF2B5EF4-FFF2-40B4-BE49-F238E27FC236}">
                  <a16:creationId xmlns="" xmlns:a16="http://schemas.microsoft.com/office/drawing/2014/main" id="{63B93E0A-BAB6-B29A-260C-BD06AF134CED}"/>
                </a:ext>
              </a:extLst>
            </p:cNvPr>
            <p:cNvSpPr>
              <a:spLocks noChangeShapeType="1"/>
            </p:cNvSpPr>
            <p:nvPr/>
          </p:nvSpPr>
          <p:spPr bwMode="auto">
            <a:xfrm flipV="1">
              <a:off x="384" y="3840"/>
              <a:ext cx="0" cy="33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 name="Line 43">
              <a:extLst>
                <a:ext uri="{FF2B5EF4-FFF2-40B4-BE49-F238E27FC236}">
                  <a16:creationId xmlns="" xmlns:a16="http://schemas.microsoft.com/office/drawing/2014/main" id="{838D4D68-B21D-6C3F-F3A6-A9EEB7904F4D}"/>
                </a:ext>
              </a:extLst>
            </p:cNvPr>
            <p:cNvSpPr>
              <a:spLocks noChangeShapeType="1"/>
            </p:cNvSpPr>
            <p:nvPr/>
          </p:nvSpPr>
          <p:spPr bwMode="auto">
            <a:xfrm>
              <a:off x="384" y="4176"/>
              <a:ext cx="2833"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50" name="Group 47">
            <a:extLst>
              <a:ext uri="{FF2B5EF4-FFF2-40B4-BE49-F238E27FC236}">
                <a16:creationId xmlns="" xmlns:a16="http://schemas.microsoft.com/office/drawing/2014/main" id="{08B40805-2840-8B16-A03F-9F684E30706A}"/>
              </a:ext>
            </a:extLst>
          </p:cNvPr>
          <p:cNvGrpSpPr>
            <a:grpSpLocks/>
          </p:cNvGrpSpPr>
          <p:nvPr/>
        </p:nvGrpSpPr>
        <p:grpSpPr bwMode="auto">
          <a:xfrm>
            <a:off x="5455824" y="5716649"/>
            <a:ext cx="1338813" cy="498475"/>
            <a:chOff x="1296" y="3896"/>
            <a:chExt cx="1400" cy="275"/>
          </a:xfrm>
        </p:grpSpPr>
        <p:sp>
          <p:nvSpPr>
            <p:cNvPr id="51" name="Line 48">
              <a:extLst>
                <a:ext uri="{FF2B5EF4-FFF2-40B4-BE49-F238E27FC236}">
                  <a16:creationId xmlns="" xmlns:a16="http://schemas.microsoft.com/office/drawing/2014/main" id="{A6104176-8C09-9A98-C1D2-B55B4A31D621}"/>
                </a:ext>
              </a:extLst>
            </p:cNvPr>
            <p:cNvSpPr>
              <a:spLocks noChangeShapeType="1"/>
            </p:cNvSpPr>
            <p:nvPr/>
          </p:nvSpPr>
          <p:spPr bwMode="auto">
            <a:xfrm>
              <a:off x="1776" y="3984"/>
              <a:ext cx="0" cy="187"/>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 name="Rectangle 49">
              <a:extLst>
                <a:ext uri="{FF2B5EF4-FFF2-40B4-BE49-F238E27FC236}">
                  <a16:creationId xmlns="" xmlns:a16="http://schemas.microsoft.com/office/drawing/2014/main" id="{21F77E42-D048-6414-F943-756F129C6285}"/>
                </a:ext>
              </a:extLst>
            </p:cNvPr>
            <p:cNvSpPr>
              <a:spLocks noChangeArrowheads="1"/>
            </p:cNvSpPr>
            <p:nvPr/>
          </p:nvSpPr>
          <p:spPr bwMode="auto">
            <a:xfrm>
              <a:off x="1296" y="3896"/>
              <a:ext cx="1400"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p>
              <a:r>
                <a:rPr lang="zh-CN" altLang="en-US" b="0">
                  <a:latin typeface="Times New Roman" panose="02020603050405020304" pitchFamily="18" charset="0"/>
                  <a:ea typeface="宋体" panose="02010600030101010101" pitchFamily="2" charset="-122"/>
                </a:rPr>
                <a:t>        下边频</a:t>
              </a:r>
            </a:p>
          </p:txBody>
        </p:sp>
      </p:grpSp>
      <p:sp>
        <p:nvSpPr>
          <p:cNvPr id="53" name="Rectangle 50">
            <a:extLst>
              <a:ext uri="{FF2B5EF4-FFF2-40B4-BE49-F238E27FC236}">
                <a16:creationId xmlns="" xmlns:a16="http://schemas.microsoft.com/office/drawing/2014/main" id="{C591DD6E-30B0-AA65-0A12-73666A1C74CD}"/>
              </a:ext>
            </a:extLst>
          </p:cNvPr>
          <p:cNvSpPr>
            <a:spLocks noChangeArrowheads="1"/>
          </p:cNvSpPr>
          <p:nvPr/>
        </p:nvSpPr>
        <p:spPr bwMode="auto">
          <a:xfrm>
            <a:off x="5137362" y="5206538"/>
            <a:ext cx="250741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latin typeface="Times New Roman" panose="02020603050405020304" pitchFamily="18" charset="0"/>
                <a:ea typeface="宋体" panose="02010600030101010101" pitchFamily="2" charset="-122"/>
              </a:rPr>
              <a:t>单边带调幅波的频谱</a:t>
            </a:r>
          </a:p>
        </p:txBody>
      </p:sp>
    </p:spTree>
    <p:extLst>
      <p:ext uri="{BB962C8B-B14F-4D97-AF65-F5344CB8AC3E}">
        <p14:creationId xmlns:p14="http://schemas.microsoft.com/office/powerpoint/2010/main" val="1051839678"/>
      </p:ext>
    </p:extLst>
  </p:cSld>
  <p:clrMapOvr>
    <a:masterClrMapping/>
  </p:clrMapOvr>
  <p:timing>
    <p:tnLst>
      <p:par>
        <p:cTn id="1" dur="indefinite" restart="never" nodeType="tmRoot"/>
      </p:par>
    </p:tnLst>
  </p:timing>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217</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6.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振幅调制</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与</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解调</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5" name="图片 4">
            <a:extLst>
              <a:ext uri="{FF2B5EF4-FFF2-40B4-BE49-F238E27FC236}">
                <a16:creationId xmlns="" xmlns:a16="http://schemas.microsoft.com/office/drawing/2014/main" id="{19DCEAC3-1304-6C1E-D259-F4D059166A8A}"/>
              </a:ext>
            </a:extLst>
          </p:cNvPr>
          <p:cNvPicPr>
            <a:picLocks noChangeAspect="1"/>
          </p:cNvPicPr>
          <p:nvPr/>
        </p:nvPicPr>
        <p:blipFill>
          <a:blip r:embed="rId2"/>
          <a:stretch>
            <a:fillRect/>
          </a:stretch>
        </p:blipFill>
        <p:spPr>
          <a:xfrm>
            <a:off x="444650" y="1844824"/>
            <a:ext cx="8254699" cy="4395597"/>
          </a:xfrm>
          <a:prstGeom prst="rect">
            <a:avLst/>
          </a:prstGeom>
        </p:spPr>
      </p:pic>
      <p:sp>
        <p:nvSpPr>
          <p:cNvPr id="6" name="Text Box 35">
            <a:extLst>
              <a:ext uri="{FF2B5EF4-FFF2-40B4-BE49-F238E27FC236}">
                <a16:creationId xmlns="" xmlns:a16="http://schemas.microsoft.com/office/drawing/2014/main" id="{0BBA1FA5-CA0B-2A88-A2ED-0BBBB0CD6443}"/>
              </a:ext>
            </a:extLst>
          </p:cNvPr>
          <p:cNvSpPr txBox="1">
            <a:spLocks noChangeArrowheads="1"/>
          </p:cNvSpPr>
          <p:nvPr/>
        </p:nvSpPr>
        <p:spPr bwMode="auto">
          <a:xfrm>
            <a:off x="2627784" y="1268760"/>
            <a:ext cx="297709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latin typeface="Times New Roman" panose="02020603050405020304" pitchFamily="18" charset="0"/>
                <a:ea typeface="宋体" panose="02010600030101010101" pitchFamily="2" charset="-122"/>
              </a:rPr>
              <a:t>表</a:t>
            </a:r>
            <a:r>
              <a:rPr lang="en-US" altLang="zh-CN" sz="2000" dirty="0">
                <a:latin typeface="Times New Roman" panose="02020603050405020304" pitchFamily="18" charset="0"/>
                <a:ea typeface="宋体" panose="02010600030101010101" pitchFamily="2" charset="-122"/>
              </a:rPr>
              <a:t>6-1  </a:t>
            </a:r>
            <a:r>
              <a:rPr lang="zh-CN" altLang="en-US" sz="2000" dirty="0">
                <a:latin typeface="Times New Roman" panose="02020603050405020304" pitchFamily="18" charset="0"/>
                <a:ea typeface="宋体" panose="02010600030101010101" pitchFamily="2" charset="-122"/>
              </a:rPr>
              <a:t>三种振幅调制信号</a:t>
            </a:r>
          </a:p>
        </p:txBody>
      </p:sp>
    </p:spTree>
    <p:extLst>
      <p:ext uri="{BB962C8B-B14F-4D97-AF65-F5344CB8AC3E}">
        <p14:creationId xmlns:p14="http://schemas.microsoft.com/office/powerpoint/2010/main" val="1344418310"/>
      </p:ext>
    </p:extLst>
  </p:cSld>
  <p:clrMapOvr>
    <a:masterClrMapping/>
  </p:clrMapOvr>
  <p:timing>
    <p:tnLst>
      <p:par>
        <p:cTn id="1" dur="indefinite" restart="never" nodeType="tmRoot"/>
      </p:par>
    </p:tnLst>
  </p:timing>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218</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6.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振幅调制</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与</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解调</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5" name="图片 4"/>
          <p:cNvPicPr/>
          <p:nvPr/>
        </p:nvPicPr>
        <p:blipFill>
          <a:blip r:embed="rId2">
            <a:extLst>
              <a:ext uri="{28A0092B-C50C-407E-A947-70E740481C1C}">
                <a14:useLocalDpi xmlns:a14="http://schemas.microsoft.com/office/drawing/2010/main" val="0"/>
              </a:ext>
            </a:extLst>
          </a:blip>
          <a:srcRect/>
          <a:stretch>
            <a:fillRect/>
          </a:stretch>
        </p:blipFill>
        <p:spPr bwMode="auto">
          <a:xfrm>
            <a:off x="655617" y="1566970"/>
            <a:ext cx="7055174" cy="1915532"/>
          </a:xfrm>
          <a:prstGeom prst="rect">
            <a:avLst/>
          </a:prstGeom>
          <a:noFill/>
          <a:ln>
            <a:noFill/>
          </a:ln>
        </p:spPr>
      </p:pic>
    </p:spTree>
    <p:extLst>
      <p:ext uri="{BB962C8B-B14F-4D97-AF65-F5344CB8AC3E}">
        <p14:creationId xmlns:p14="http://schemas.microsoft.com/office/powerpoint/2010/main" val="572660318"/>
      </p:ext>
    </p:extLst>
  </p:cSld>
  <p:clrMapOvr>
    <a:masterClrMapping/>
  </p:clrMapOvr>
  <p:timing>
    <p:tnLst>
      <p:par>
        <p:cTn id="1" dur="indefinite" restart="never" nodeType="tmRoot"/>
      </p:par>
    </p:tnLst>
  </p:timing>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219</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6.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振幅调制</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与</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解调</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5" name="图片 4"/>
          <p:cNvPicPr/>
          <p:nvPr/>
        </p:nvPicPr>
        <p:blipFill>
          <a:blip r:embed="rId2">
            <a:extLst>
              <a:ext uri="{28A0092B-C50C-407E-A947-70E740481C1C}">
                <a14:useLocalDpi xmlns:a14="http://schemas.microsoft.com/office/drawing/2010/main" val="0"/>
              </a:ext>
            </a:extLst>
          </a:blip>
          <a:srcRect/>
          <a:stretch>
            <a:fillRect/>
          </a:stretch>
        </p:blipFill>
        <p:spPr bwMode="auto">
          <a:xfrm>
            <a:off x="852792" y="1299283"/>
            <a:ext cx="7438417" cy="5376154"/>
          </a:xfrm>
          <a:prstGeom prst="rect">
            <a:avLst/>
          </a:prstGeom>
          <a:noFill/>
          <a:ln>
            <a:noFill/>
          </a:ln>
        </p:spPr>
      </p:pic>
    </p:spTree>
    <p:extLst>
      <p:ext uri="{BB962C8B-B14F-4D97-AF65-F5344CB8AC3E}">
        <p14:creationId xmlns:p14="http://schemas.microsoft.com/office/powerpoint/2010/main" val="1851719408"/>
      </p:ext>
    </p:extLst>
  </p:cSld>
  <p:clrMapOvr>
    <a:masterClrMapping/>
  </p:clrMapOvr>
  <p:timing>
    <p:tnLst>
      <p:par>
        <p:cTn id="1" dur="indefinite" restart="never" nodeType="tmRoot"/>
      </p:par>
    </p:tnLst>
  </p:timing>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220</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6.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振幅调制</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与</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解调</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Text Box 3">
            <a:extLst>
              <a:ext uri="{FF2B5EF4-FFF2-40B4-BE49-F238E27FC236}">
                <a16:creationId xmlns="" xmlns:a16="http://schemas.microsoft.com/office/drawing/2014/main" id="{B33D4608-3B7A-2FA1-087A-B8E4B59249B6}"/>
              </a:ext>
            </a:extLst>
          </p:cNvPr>
          <p:cNvSpPr txBox="1">
            <a:spLocks noChangeArrowheads="1"/>
          </p:cNvSpPr>
          <p:nvPr/>
        </p:nvSpPr>
        <p:spPr bwMode="auto">
          <a:xfrm>
            <a:off x="365126" y="1691533"/>
            <a:ext cx="8153400" cy="9033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40000"/>
              </a:lnSpc>
            </a:pPr>
            <a:r>
              <a:rPr lang="zh-CN" altLang="en-US" sz="2000" dirty="0">
                <a:latin typeface="Times New Roman" panose="02020603050405020304" pitchFamily="18" charset="0"/>
                <a:ea typeface="宋体" panose="02010600030101010101" pitchFamily="2" charset="-122"/>
              </a:rPr>
              <a:t>　　调幅波的共同之处都是在调幅前后产生了新的频率分量，也就是说都需要用非线性器件来完成频率变换。</a:t>
            </a:r>
          </a:p>
        </p:txBody>
      </p:sp>
      <p:grpSp>
        <p:nvGrpSpPr>
          <p:cNvPr id="6" name="Group 23">
            <a:extLst>
              <a:ext uri="{FF2B5EF4-FFF2-40B4-BE49-F238E27FC236}">
                <a16:creationId xmlns="" xmlns:a16="http://schemas.microsoft.com/office/drawing/2014/main" id="{DC333ED6-DEBB-2BDD-323C-B4BE060A8F6D}"/>
              </a:ext>
            </a:extLst>
          </p:cNvPr>
          <p:cNvGrpSpPr>
            <a:grpSpLocks/>
          </p:cNvGrpSpPr>
          <p:nvPr/>
        </p:nvGrpSpPr>
        <p:grpSpPr bwMode="auto">
          <a:xfrm>
            <a:off x="154781" y="2932442"/>
            <a:ext cx="9045575" cy="1697038"/>
            <a:chOff x="127" y="1559"/>
            <a:chExt cx="5698" cy="1069"/>
          </a:xfrm>
        </p:grpSpPr>
        <p:graphicFrame>
          <p:nvGraphicFramePr>
            <p:cNvPr id="7" name="Object 5">
              <a:extLst>
                <a:ext uri="{FF2B5EF4-FFF2-40B4-BE49-F238E27FC236}">
                  <a16:creationId xmlns="" xmlns:a16="http://schemas.microsoft.com/office/drawing/2014/main" id="{572152BB-C19A-428F-3C75-111196C2636F}"/>
                </a:ext>
              </a:extLst>
            </p:cNvPr>
            <p:cNvGraphicFramePr>
              <a:graphicFrameLocks/>
            </p:cNvGraphicFramePr>
            <p:nvPr/>
          </p:nvGraphicFramePr>
          <p:xfrm>
            <a:off x="385" y="1559"/>
            <a:ext cx="1633" cy="808"/>
          </p:xfrm>
          <a:graphic>
            <a:graphicData uri="http://schemas.openxmlformats.org/presentationml/2006/ole">
              <mc:AlternateContent xmlns:mc="http://schemas.openxmlformats.org/markup-compatibility/2006">
                <mc:Choice xmlns:v="urn:schemas-microsoft-com:vml" Requires="v">
                  <p:oleObj spid="_x0000_s172085" r:id="rId3" imgW="2343240" imgH="873720" progId="Word.Picture.8">
                    <p:embed/>
                  </p:oleObj>
                </mc:Choice>
                <mc:Fallback>
                  <p:oleObj r:id="rId3" imgW="2343240" imgH="873720" progId="Word.Picture.8">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5" y="1559"/>
                          <a:ext cx="1633" cy="8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 name="Text Box 9">
              <a:extLst>
                <a:ext uri="{FF2B5EF4-FFF2-40B4-BE49-F238E27FC236}">
                  <a16:creationId xmlns="" xmlns:a16="http://schemas.microsoft.com/office/drawing/2014/main" id="{00BDCF11-3FC0-7C61-E90B-4D7C4DCCAE94}"/>
                </a:ext>
              </a:extLst>
            </p:cNvPr>
            <p:cNvSpPr txBox="1">
              <a:spLocks noChangeArrowheads="1"/>
            </p:cNvSpPr>
            <p:nvPr/>
          </p:nvSpPr>
          <p:spPr bwMode="auto">
            <a:xfrm>
              <a:off x="127" y="2376"/>
              <a:ext cx="1839"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dirty="0">
                  <a:latin typeface="Times New Roman" panose="02020603050405020304" pitchFamily="18" charset="0"/>
                </a:rPr>
                <a:t>(a) </a:t>
              </a:r>
              <a:r>
                <a:rPr lang="zh-CN" altLang="en-US" sz="2000" dirty="0">
                  <a:latin typeface="Times New Roman" panose="02020603050405020304" pitchFamily="18" charset="0"/>
                </a:rPr>
                <a:t>普通调幅波实现框图 </a:t>
              </a:r>
            </a:p>
          </p:txBody>
        </p:sp>
        <p:graphicFrame>
          <p:nvGraphicFramePr>
            <p:cNvPr id="9" name="Object 6">
              <a:extLst>
                <a:ext uri="{FF2B5EF4-FFF2-40B4-BE49-F238E27FC236}">
                  <a16:creationId xmlns="" xmlns:a16="http://schemas.microsoft.com/office/drawing/2014/main" id="{8923C3F6-1127-C90E-ACA0-8B2482ECEAE3}"/>
                </a:ext>
              </a:extLst>
            </p:cNvPr>
            <p:cNvGraphicFramePr>
              <a:graphicFrameLocks/>
            </p:cNvGraphicFramePr>
            <p:nvPr>
              <p:extLst>
                <p:ext uri="{D42A27DB-BD31-4B8C-83A1-F6EECF244321}">
                  <p14:modId xmlns:p14="http://schemas.microsoft.com/office/powerpoint/2010/main" val="1482723964"/>
                </p:ext>
              </p:extLst>
            </p:nvPr>
          </p:nvGraphicFramePr>
          <p:xfrm>
            <a:off x="2377" y="1658"/>
            <a:ext cx="1094" cy="702"/>
          </p:xfrm>
          <a:graphic>
            <a:graphicData uri="http://schemas.openxmlformats.org/presentationml/2006/ole">
              <mc:AlternateContent xmlns:mc="http://schemas.openxmlformats.org/markup-compatibility/2006">
                <mc:Choice xmlns:v="urn:schemas-microsoft-com:vml" Requires="v">
                  <p:oleObj spid="_x0000_s172086" r:id="rId5" imgW="1457640" imgH="817560" progId="Word.Picture.8">
                    <p:embed/>
                  </p:oleObj>
                </mc:Choice>
                <mc:Fallback>
                  <p:oleObj r:id="rId5" imgW="1457640" imgH="817560" progId="Word.Picture.8">
                    <p:embed/>
                    <p:pic>
                      <p:nvPicPr>
                        <p:cNvPr id="0" name=""/>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77" y="1658"/>
                          <a:ext cx="1094" cy="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0" name="Text Box 14">
              <a:extLst>
                <a:ext uri="{FF2B5EF4-FFF2-40B4-BE49-F238E27FC236}">
                  <a16:creationId xmlns="" xmlns:a16="http://schemas.microsoft.com/office/drawing/2014/main" id="{CFD5E51F-62BC-566A-A2A1-0B734765D56C}"/>
                </a:ext>
              </a:extLst>
            </p:cNvPr>
            <p:cNvSpPr txBox="1">
              <a:spLocks noChangeArrowheads="1"/>
            </p:cNvSpPr>
            <p:nvPr/>
          </p:nvSpPr>
          <p:spPr bwMode="auto">
            <a:xfrm>
              <a:off x="1855" y="2353"/>
              <a:ext cx="213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dirty="0">
                  <a:latin typeface="Times New Roman" panose="02020603050405020304" pitchFamily="18" charset="0"/>
                </a:rPr>
                <a:t>(b) </a:t>
              </a:r>
              <a:r>
                <a:rPr lang="zh-CN" altLang="en-US" sz="2000" dirty="0">
                  <a:latin typeface="Times New Roman" panose="02020603050405020304" pitchFamily="18" charset="0"/>
                </a:rPr>
                <a:t>抑制载波的双边带调幅波</a:t>
              </a:r>
            </a:p>
          </p:txBody>
        </p:sp>
        <p:graphicFrame>
          <p:nvGraphicFramePr>
            <p:cNvPr id="11" name="Object 7">
              <a:extLst>
                <a:ext uri="{FF2B5EF4-FFF2-40B4-BE49-F238E27FC236}">
                  <a16:creationId xmlns="" xmlns:a16="http://schemas.microsoft.com/office/drawing/2014/main" id="{8C40239F-086C-2CF9-7A75-27AA86C973DF}"/>
                </a:ext>
              </a:extLst>
            </p:cNvPr>
            <p:cNvGraphicFramePr>
              <a:graphicFrameLocks/>
            </p:cNvGraphicFramePr>
            <p:nvPr/>
          </p:nvGraphicFramePr>
          <p:xfrm>
            <a:off x="3878" y="1616"/>
            <a:ext cx="1487" cy="737"/>
          </p:xfrm>
          <a:graphic>
            <a:graphicData uri="http://schemas.openxmlformats.org/presentationml/2006/ole">
              <mc:AlternateContent xmlns:mc="http://schemas.openxmlformats.org/markup-compatibility/2006">
                <mc:Choice xmlns:v="urn:schemas-microsoft-com:vml" Requires="v">
                  <p:oleObj spid="_x0000_s172087" r:id="rId7" imgW="2152800" imgH="907200" progId="Word.Picture.8">
                    <p:embed/>
                  </p:oleObj>
                </mc:Choice>
                <mc:Fallback>
                  <p:oleObj r:id="rId7" imgW="2152800" imgH="907200" progId="Word.Picture.8">
                    <p:embed/>
                    <p:pic>
                      <p:nvPicPr>
                        <p:cNvPr id="0" name=""/>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78" y="1616"/>
                          <a:ext cx="1487" cy="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2" name="Text Box 18">
              <a:extLst>
                <a:ext uri="{FF2B5EF4-FFF2-40B4-BE49-F238E27FC236}">
                  <a16:creationId xmlns="" xmlns:a16="http://schemas.microsoft.com/office/drawing/2014/main" id="{CB8CDE23-0525-1F98-6356-A6D2310A3A97}"/>
                </a:ext>
              </a:extLst>
            </p:cNvPr>
            <p:cNvSpPr txBox="1">
              <a:spLocks noChangeArrowheads="1"/>
            </p:cNvSpPr>
            <p:nvPr/>
          </p:nvSpPr>
          <p:spPr bwMode="auto">
            <a:xfrm>
              <a:off x="3874" y="2337"/>
              <a:ext cx="195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dirty="0">
                  <a:latin typeface="Times New Roman" panose="02020603050405020304" pitchFamily="18" charset="0"/>
                </a:rPr>
                <a:t>(c) </a:t>
              </a:r>
              <a:r>
                <a:rPr lang="zh-CN" altLang="en-US" sz="2000" dirty="0">
                  <a:latin typeface="Times New Roman" panose="02020603050405020304" pitchFamily="18" charset="0"/>
                </a:rPr>
                <a:t>单边带调幅波实现框图</a:t>
              </a:r>
            </a:p>
          </p:txBody>
        </p:sp>
      </p:grpSp>
      <p:sp>
        <p:nvSpPr>
          <p:cNvPr id="13" name="Text Box 19">
            <a:extLst>
              <a:ext uri="{FF2B5EF4-FFF2-40B4-BE49-F238E27FC236}">
                <a16:creationId xmlns="" xmlns:a16="http://schemas.microsoft.com/office/drawing/2014/main" id="{6585929B-B2B1-6297-7646-57508A13446A}"/>
              </a:ext>
            </a:extLst>
          </p:cNvPr>
          <p:cNvSpPr txBox="1">
            <a:spLocks noChangeArrowheads="1"/>
          </p:cNvSpPr>
          <p:nvPr/>
        </p:nvSpPr>
        <p:spPr bwMode="auto">
          <a:xfrm>
            <a:off x="390525" y="2585147"/>
            <a:ext cx="19907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latin typeface="+mn-ea"/>
                <a:ea typeface="+mn-ea"/>
              </a:rPr>
              <a:t>原理框图如下：</a:t>
            </a:r>
          </a:p>
        </p:txBody>
      </p:sp>
      <p:sp>
        <p:nvSpPr>
          <p:cNvPr id="14" name="Text Box 4">
            <a:extLst>
              <a:ext uri="{FF2B5EF4-FFF2-40B4-BE49-F238E27FC236}">
                <a16:creationId xmlns="" xmlns:a16="http://schemas.microsoft.com/office/drawing/2014/main" id="{5D48C311-702E-5952-6D58-72975D1C0D7A}"/>
              </a:ext>
            </a:extLst>
          </p:cNvPr>
          <p:cNvSpPr txBox="1">
            <a:spLocks noChangeArrowheads="1"/>
          </p:cNvSpPr>
          <p:nvPr/>
        </p:nvSpPr>
        <p:spPr bwMode="auto">
          <a:xfrm>
            <a:off x="620713" y="5013325"/>
            <a:ext cx="8113712"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000" dirty="0">
                <a:latin typeface="+mn-ea"/>
                <a:ea typeface="+mn-ea"/>
              </a:rPr>
              <a:t>a</a:t>
            </a:r>
            <a:r>
              <a:rPr lang="zh-CN" altLang="en-US" sz="2000" dirty="0">
                <a:latin typeface="+mn-ea"/>
                <a:ea typeface="+mn-ea"/>
              </a:rPr>
              <a:t>、高电平调幅电路：一般置于发射机的最后一级，是在功率电平较高的情况下进行调制。</a:t>
            </a:r>
          </a:p>
          <a:p>
            <a:r>
              <a:rPr lang="en-US" altLang="zh-CN" sz="2000" dirty="0">
                <a:latin typeface="+mn-ea"/>
                <a:ea typeface="+mn-ea"/>
              </a:rPr>
              <a:t>b</a:t>
            </a:r>
            <a:r>
              <a:rPr lang="zh-CN" altLang="en-US" sz="2000" dirty="0">
                <a:latin typeface="+mn-ea"/>
                <a:ea typeface="+mn-ea"/>
              </a:rPr>
              <a:t>、低电平调幅电路：一般置于发射机的前级，再由线性功率放大器放大已调幅信号，得到所要求功率的调幅波。</a:t>
            </a:r>
          </a:p>
        </p:txBody>
      </p:sp>
      <p:sp>
        <p:nvSpPr>
          <p:cNvPr id="15" name="Text Box 5">
            <a:extLst>
              <a:ext uri="{FF2B5EF4-FFF2-40B4-BE49-F238E27FC236}">
                <a16:creationId xmlns="" xmlns:a16="http://schemas.microsoft.com/office/drawing/2014/main" id="{5A58760B-F41D-D1A5-1563-10922AB8B911}"/>
              </a:ext>
            </a:extLst>
          </p:cNvPr>
          <p:cNvSpPr txBox="1">
            <a:spLocks noChangeArrowheads="1"/>
          </p:cNvSpPr>
          <p:nvPr/>
        </p:nvSpPr>
        <p:spPr bwMode="auto">
          <a:xfrm>
            <a:off x="539149" y="4595714"/>
            <a:ext cx="43132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latin typeface="+mn-ea"/>
                <a:ea typeface="+mn-ea"/>
              </a:rPr>
              <a:t>按调制电路输出功率的高低可分为：</a:t>
            </a:r>
          </a:p>
        </p:txBody>
      </p:sp>
    </p:spTree>
    <p:extLst>
      <p:ext uri="{BB962C8B-B14F-4D97-AF65-F5344CB8AC3E}">
        <p14:creationId xmlns:p14="http://schemas.microsoft.com/office/powerpoint/2010/main" val="177186876"/>
      </p:ext>
    </p:extLst>
  </p:cSld>
  <p:clrMapOvr>
    <a:masterClrMapping/>
  </p:clrMapOvr>
  <p:timing>
    <p:tnLst>
      <p:par>
        <p:cTn id="1" dur="indefinite" restart="never" nodeType="tmRoot"/>
      </p:par>
    </p:tnLst>
  </p:timing>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221</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6.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振幅调制</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与</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解调</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Text Box 22">
            <a:extLst>
              <a:ext uri="{FF2B5EF4-FFF2-40B4-BE49-F238E27FC236}">
                <a16:creationId xmlns="" xmlns:a16="http://schemas.microsoft.com/office/drawing/2014/main" id="{DC3B6DD9-78C9-1547-B3D6-D00400759409}"/>
              </a:ext>
            </a:extLst>
          </p:cNvPr>
          <p:cNvSpPr txBox="1">
            <a:spLocks noChangeArrowheads="1"/>
          </p:cNvSpPr>
          <p:nvPr/>
        </p:nvSpPr>
        <p:spPr bwMode="auto">
          <a:xfrm>
            <a:off x="323850" y="1268760"/>
            <a:ext cx="4032126"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200" dirty="0">
                <a:latin typeface="Times New Roman" panose="02020603050405020304" pitchFamily="18" charset="0"/>
                <a:ea typeface="+mn-ea"/>
                <a:cs typeface="Times New Roman" panose="02020603050405020304" pitchFamily="18" charset="0"/>
              </a:rPr>
              <a:t>6.3.2 </a:t>
            </a:r>
            <a:r>
              <a:rPr lang="zh-CN" altLang="en-US" sz="2200" dirty="0">
                <a:latin typeface="Times New Roman" panose="02020603050405020304" pitchFamily="18" charset="0"/>
                <a:ea typeface="+mn-ea"/>
                <a:cs typeface="Times New Roman" panose="02020603050405020304" pitchFamily="18" charset="0"/>
              </a:rPr>
              <a:t>低电平调幅电路</a:t>
            </a:r>
            <a:endParaRPr lang="zh-CN" altLang="en-US" sz="2200" dirty="0">
              <a:latin typeface="+mn-ea"/>
              <a:ea typeface="+mn-ea"/>
            </a:endParaRPr>
          </a:p>
        </p:txBody>
      </p:sp>
      <p:sp>
        <p:nvSpPr>
          <p:cNvPr id="6" name="Text Box 4">
            <a:extLst>
              <a:ext uri="{FF2B5EF4-FFF2-40B4-BE49-F238E27FC236}">
                <a16:creationId xmlns="" xmlns:a16="http://schemas.microsoft.com/office/drawing/2014/main" id="{78A43811-1505-05DF-036B-6DB1D1B305A8}"/>
              </a:ext>
            </a:extLst>
          </p:cNvPr>
          <p:cNvSpPr txBox="1">
            <a:spLocks noChangeArrowheads="1"/>
          </p:cNvSpPr>
          <p:nvPr/>
        </p:nvSpPr>
        <p:spPr bwMode="auto">
          <a:xfrm>
            <a:off x="323850" y="1758622"/>
            <a:ext cx="300595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dirty="0">
                <a:latin typeface="Times New Roman" panose="02020603050405020304" pitchFamily="18" charset="0"/>
                <a:ea typeface="宋体" panose="02010600030101010101" pitchFamily="2" charset="-122"/>
              </a:rPr>
              <a:t>1. </a:t>
            </a:r>
            <a:r>
              <a:rPr lang="zh-CN" altLang="en-US" sz="2000" dirty="0">
                <a:latin typeface="Times New Roman" panose="02020603050405020304" pitchFamily="18" charset="0"/>
                <a:ea typeface="宋体" panose="02010600030101010101" pitchFamily="2" charset="-122"/>
              </a:rPr>
              <a:t>简单的二极管调幅电路</a:t>
            </a:r>
          </a:p>
        </p:txBody>
      </p:sp>
      <p:sp>
        <p:nvSpPr>
          <p:cNvPr id="7" name="Text Box 9">
            <a:extLst>
              <a:ext uri="{FF2B5EF4-FFF2-40B4-BE49-F238E27FC236}">
                <a16:creationId xmlns="" xmlns:a16="http://schemas.microsoft.com/office/drawing/2014/main" id="{9BEC0D46-CB70-51F5-FAD1-30D9B177D4DD}"/>
              </a:ext>
            </a:extLst>
          </p:cNvPr>
          <p:cNvSpPr txBox="1">
            <a:spLocks noChangeArrowheads="1"/>
          </p:cNvSpPr>
          <p:nvPr/>
        </p:nvSpPr>
        <p:spPr bwMode="auto">
          <a:xfrm>
            <a:off x="323850" y="2158732"/>
            <a:ext cx="4808206"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lnSpc>
                <a:spcPct val="120000"/>
              </a:lnSpc>
            </a:pPr>
            <a:r>
              <a:rPr lang="zh-CN" altLang="en-US" sz="2000" dirty="0" smtClean="0">
                <a:latin typeface="Times New Roman" panose="02020603050405020304" pitchFamily="18" charset="0"/>
                <a:ea typeface="宋体" panose="02010600030101010101" pitchFamily="2" charset="-122"/>
              </a:rPr>
              <a:t>调制</a:t>
            </a:r>
            <a:r>
              <a:rPr lang="zh-CN" altLang="en-US" sz="2000" dirty="0">
                <a:latin typeface="Times New Roman" panose="02020603050405020304" pitchFamily="18" charset="0"/>
                <a:ea typeface="宋体" panose="02010600030101010101" pitchFamily="2" charset="-122"/>
              </a:rPr>
              <a:t>信号和载波信号相加后，通过</a:t>
            </a:r>
            <a:r>
              <a:rPr lang="zh-CN" altLang="en-US" sz="2000" dirty="0" smtClean="0">
                <a:latin typeface="Times New Roman" panose="02020603050405020304" pitchFamily="18" charset="0"/>
                <a:ea typeface="宋体" panose="02010600030101010101" pitchFamily="2" charset="-122"/>
              </a:rPr>
              <a:t>二极管</a:t>
            </a:r>
            <a:r>
              <a:rPr lang="zh-CN" altLang="en-US" sz="2000" dirty="0">
                <a:latin typeface="Times New Roman" panose="02020603050405020304" pitchFamily="18" charset="0"/>
                <a:ea typeface="宋体" panose="02010600030101010101" pitchFamily="2" charset="-122"/>
              </a:rPr>
              <a:t>非线性特性的变换，在电流</a:t>
            </a:r>
            <a:r>
              <a:rPr lang="en-US" altLang="zh-CN" sz="2000" i="1" dirty="0" err="1">
                <a:latin typeface="Times New Roman" panose="02020603050405020304" pitchFamily="18" charset="0"/>
                <a:ea typeface="宋体" panose="02010600030101010101" pitchFamily="2" charset="-122"/>
              </a:rPr>
              <a:t>i</a:t>
            </a:r>
            <a:r>
              <a:rPr lang="zh-CN" altLang="en-US" sz="2000" dirty="0">
                <a:latin typeface="Times New Roman" panose="02020603050405020304" pitchFamily="18" charset="0"/>
                <a:ea typeface="宋体" panose="02010600030101010101" pitchFamily="2" charset="-122"/>
              </a:rPr>
              <a:t>中产生了</a:t>
            </a:r>
            <a:r>
              <a:rPr lang="zh-CN" altLang="en-US" sz="2000" dirty="0" smtClean="0">
                <a:latin typeface="Times New Roman" panose="02020603050405020304" pitchFamily="18" charset="0"/>
                <a:ea typeface="宋体" panose="02010600030101010101" pitchFamily="2" charset="-122"/>
              </a:rPr>
              <a:t>各种组合</a:t>
            </a:r>
            <a:r>
              <a:rPr lang="zh-CN" altLang="en-US" sz="2000" dirty="0">
                <a:latin typeface="Times New Roman" panose="02020603050405020304" pitchFamily="18" charset="0"/>
                <a:ea typeface="宋体" panose="02010600030101010101" pitchFamily="2" charset="-122"/>
              </a:rPr>
              <a:t>频率分量，将谐振回路调谐于</a:t>
            </a:r>
            <a:r>
              <a:rPr lang="el-GR" altLang="zh-CN" sz="2000" dirty="0">
                <a:latin typeface="Times New Roman" panose="02020603050405020304" pitchFamily="18" charset="0"/>
                <a:ea typeface="宋体" panose="02010600030101010101" pitchFamily="2" charset="-122"/>
              </a:rPr>
              <a:t>ω</a:t>
            </a:r>
            <a:r>
              <a:rPr lang="en-US" altLang="zh-CN" sz="2000" b="0" dirty="0">
                <a:latin typeface="Times New Roman" panose="02020603050405020304" pitchFamily="18" charset="0"/>
                <a:ea typeface="宋体" panose="02010600030101010101" pitchFamily="2" charset="-122"/>
              </a:rPr>
              <a:t>0</a:t>
            </a:r>
            <a:r>
              <a:rPr lang="en-US" altLang="zh-CN" sz="2000" b="0" dirty="0"/>
              <a:t> </a:t>
            </a:r>
            <a:r>
              <a:rPr lang="zh-CN" altLang="en-US" sz="2000" dirty="0">
                <a:latin typeface="Times New Roman" panose="02020603050405020304" pitchFamily="18" charset="0"/>
                <a:ea typeface="宋体" panose="02010600030101010101" pitchFamily="2" charset="-122"/>
              </a:rPr>
              <a:t>，便</a:t>
            </a:r>
            <a:r>
              <a:rPr lang="zh-CN" altLang="en-US" sz="2000" dirty="0" smtClean="0">
                <a:latin typeface="Times New Roman" panose="02020603050405020304" pitchFamily="18" charset="0"/>
                <a:ea typeface="宋体" panose="02010600030101010101" pitchFamily="2" charset="-122"/>
              </a:rPr>
              <a:t>能取出</a:t>
            </a:r>
            <a:r>
              <a:rPr lang="el-GR" altLang="zh-CN" sz="2000" dirty="0">
                <a:latin typeface="Times New Roman" panose="02020603050405020304" pitchFamily="18" charset="0"/>
                <a:ea typeface="宋体" panose="02010600030101010101" pitchFamily="2" charset="-122"/>
              </a:rPr>
              <a:t>ω</a:t>
            </a:r>
            <a:r>
              <a:rPr lang="en-US" altLang="zh-CN" sz="2000" b="0" dirty="0">
                <a:latin typeface="Times New Roman" panose="02020603050405020304" pitchFamily="18" charset="0"/>
                <a:ea typeface="宋体" panose="02010600030101010101" pitchFamily="2" charset="-122"/>
              </a:rPr>
              <a:t>0</a:t>
            </a:r>
            <a:r>
              <a:rPr lang="zh-CN" altLang="en-US" sz="2000" dirty="0">
                <a:latin typeface="Times New Roman" panose="02020603050405020304" pitchFamily="18" charset="0"/>
                <a:ea typeface="宋体" panose="02010600030101010101" pitchFamily="2" charset="-122"/>
              </a:rPr>
              <a:t>和</a:t>
            </a:r>
            <a:r>
              <a:rPr lang="en-US" altLang="zh-CN" sz="2000" dirty="0">
                <a:latin typeface="Times New Roman" panose="02020603050405020304" pitchFamily="18" charset="0"/>
                <a:ea typeface="宋体" panose="02010600030101010101" pitchFamily="2" charset="-122"/>
              </a:rPr>
              <a:t>(</a:t>
            </a:r>
            <a:r>
              <a:rPr lang="el-GR" altLang="zh-CN" sz="2000" dirty="0">
                <a:latin typeface="Times New Roman" panose="02020603050405020304" pitchFamily="18" charset="0"/>
                <a:ea typeface="宋体" panose="02010600030101010101" pitchFamily="2" charset="-122"/>
              </a:rPr>
              <a:t>ω</a:t>
            </a:r>
            <a:r>
              <a:rPr lang="en-US" altLang="zh-CN" sz="2000" b="0" dirty="0">
                <a:latin typeface="Times New Roman" panose="02020603050405020304" pitchFamily="18" charset="0"/>
                <a:ea typeface="宋体" panose="02010600030101010101" pitchFamily="2" charset="-122"/>
              </a:rPr>
              <a:t>0</a:t>
            </a:r>
            <a:r>
              <a:rPr lang="en-US" altLang="en-US" sz="2000" b="0" dirty="0">
                <a:latin typeface="Times New Roman" panose="02020603050405020304" pitchFamily="18" charset="0"/>
                <a:ea typeface="宋体" panose="02010600030101010101" pitchFamily="2" charset="-122"/>
              </a:rPr>
              <a:t>±</a:t>
            </a:r>
            <a:r>
              <a:rPr lang="en-US" altLang="zh-CN" sz="2000" b="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sym typeface="Symbol" panose="05050102010706020507" pitchFamily="18" charset="2"/>
              </a:rPr>
              <a:t></a:t>
            </a:r>
            <a:r>
              <a:rPr lang="en-US" altLang="zh-CN" sz="2000" dirty="0">
                <a:latin typeface="Times New Roman" panose="02020603050405020304" pitchFamily="18" charset="0"/>
                <a:ea typeface="宋体" panose="02010600030101010101" pitchFamily="2" charset="-122"/>
              </a:rPr>
              <a:t> )</a:t>
            </a:r>
            <a:r>
              <a:rPr lang="zh-CN" altLang="en-US" sz="2000" dirty="0">
                <a:latin typeface="Times New Roman" panose="02020603050405020304" pitchFamily="18" charset="0"/>
                <a:ea typeface="宋体" panose="02010600030101010101" pitchFamily="2" charset="-122"/>
              </a:rPr>
              <a:t>的成分，这便是普通调幅波。</a:t>
            </a:r>
          </a:p>
        </p:txBody>
      </p:sp>
      <p:grpSp>
        <p:nvGrpSpPr>
          <p:cNvPr id="8" name="Group 20">
            <a:extLst>
              <a:ext uri="{FF2B5EF4-FFF2-40B4-BE49-F238E27FC236}">
                <a16:creationId xmlns="" xmlns:a16="http://schemas.microsoft.com/office/drawing/2014/main" id="{0A14E55E-B568-412F-ADF1-EF3BFF206ADC}"/>
              </a:ext>
            </a:extLst>
          </p:cNvPr>
          <p:cNvGrpSpPr>
            <a:grpSpLocks/>
          </p:cNvGrpSpPr>
          <p:nvPr/>
        </p:nvGrpSpPr>
        <p:grpSpPr bwMode="auto">
          <a:xfrm>
            <a:off x="5364163" y="1791049"/>
            <a:ext cx="3455987" cy="2275674"/>
            <a:chOff x="3515" y="1037"/>
            <a:chExt cx="1578" cy="1216"/>
          </a:xfrm>
        </p:grpSpPr>
        <p:graphicFrame>
          <p:nvGraphicFramePr>
            <p:cNvPr id="9" name="Object 28">
              <a:extLst>
                <a:ext uri="{FF2B5EF4-FFF2-40B4-BE49-F238E27FC236}">
                  <a16:creationId xmlns="" xmlns:a16="http://schemas.microsoft.com/office/drawing/2014/main" id="{FB774452-4FD9-0235-2C7B-F26632695BD9}"/>
                </a:ext>
              </a:extLst>
            </p:cNvPr>
            <p:cNvGraphicFramePr>
              <a:graphicFrameLocks/>
            </p:cNvGraphicFramePr>
            <p:nvPr>
              <p:extLst>
                <p:ext uri="{D42A27DB-BD31-4B8C-83A1-F6EECF244321}">
                  <p14:modId xmlns:p14="http://schemas.microsoft.com/office/powerpoint/2010/main" val="2439035918"/>
                </p:ext>
              </p:extLst>
            </p:nvPr>
          </p:nvGraphicFramePr>
          <p:xfrm>
            <a:off x="3515" y="1037"/>
            <a:ext cx="1578" cy="870"/>
          </p:xfrm>
          <a:graphic>
            <a:graphicData uri="http://schemas.openxmlformats.org/presentationml/2006/ole">
              <mc:AlternateContent xmlns:mc="http://schemas.openxmlformats.org/markup-compatibility/2006">
                <mc:Choice xmlns:v="urn:schemas-microsoft-com:vml" Requires="v">
                  <p:oleObj spid="_x0000_s173092" r:id="rId3" imgW="3386160" imgH="1814400" progId="Word.Picture.8">
                    <p:embed/>
                  </p:oleObj>
                </mc:Choice>
                <mc:Fallback>
                  <p:oleObj r:id="rId3" imgW="3386160" imgH="1814400" progId="Word.Picture.8">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15" y="1037"/>
                          <a:ext cx="1578" cy="870"/>
                        </a:xfrm>
                        <a:prstGeom prst="rect">
                          <a:avLst/>
                        </a:prstGeom>
                        <a:solidFill>
                          <a:srgbClr val="CCECFF"/>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0" name="Text Box 8">
              <a:extLst>
                <a:ext uri="{FF2B5EF4-FFF2-40B4-BE49-F238E27FC236}">
                  <a16:creationId xmlns="" xmlns:a16="http://schemas.microsoft.com/office/drawing/2014/main" id="{49D824F2-F57C-97A5-6AED-ED4EFF14AB87}"/>
                </a:ext>
              </a:extLst>
            </p:cNvPr>
            <p:cNvSpPr txBox="1">
              <a:spLocks noChangeArrowheads="1"/>
            </p:cNvSpPr>
            <p:nvPr/>
          </p:nvSpPr>
          <p:spPr bwMode="auto">
            <a:xfrm>
              <a:off x="3942" y="2057"/>
              <a:ext cx="820"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spcBef>
                  <a:spcPts val="300"/>
                </a:spcBef>
                <a:spcAft>
                  <a:spcPts val="600"/>
                </a:spcAft>
              </a:pPr>
              <a:r>
                <a:rPr lang="zh-CN" altLang="en-US" sz="1800" dirty="0"/>
                <a:t>二极管调幅电路</a:t>
              </a:r>
            </a:p>
          </p:txBody>
        </p:sp>
      </p:grpSp>
      <p:sp>
        <p:nvSpPr>
          <p:cNvPr id="17" name="Text Box 16">
            <a:extLst>
              <a:ext uri="{FF2B5EF4-FFF2-40B4-BE49-F238E27FC236}">
                <a16:creationId xmlns="" xmlns:a16="http://schemas.microsoft.com/office/drawing/2014/main" id="{265E2168-30AB-917F-B4CE-848944EEB81C}"/>
              </a:ext>
            </a:extLst>
          </p:cNvPr>
          <p:cNvSpPr txBox="1">
            <a:spLocks noChangeArrowheads="1"/>
          </p:cNvSpPr>
          <p:nvPr/>
        </p:nvSpPr>
        <p:spPr bwMode="auto">
          <a:xfrm>
            <a:off x="323850" y="4258516"/>
            <a:ext cx="31877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000" dirty="0" smtClean="0">
                <a:latin typeface="Times New Roman" panose="02020603050405020304" pitchFamily="18" charset="0"/>
                <a:cs typeface="Times New Roman" panose="02020603050405020304" pitchFamily="18" charset="0"/>
              </a:rPr>
              <a:t>2. </a:t>
            </a:r>
            <a:r>
              <a:rPr lang="zh-CN" altLang="en-US" sz="2000" dirty="0" smtClean="0">
                <a:latin typeface="Times New Roman" panose="02020603050405020304" pitchFamily="18" charset="0"/>
                <a:cs typeface="Times New Roman" panose="02020603050405020304" pitchFamily="18" charset="0"/>
              </a:rPr>
              <a:t>开关</a:t>
            </a:r>
            <a:r>
              <a:rPr lang="zh-CN" altLang="en-US" sz="2000" dirty="0">
                <a:latin typeface="Times New Roman" panose="02020603050405020304" pitchFamily="18" charset="0"/>
                <a:cs typeface="Times New Roman" panose="02020603050405020304" pitchFamily="18" charset="0"/>
              </a:rPr>
              <a:t>式调幅</a:t>
            </a:r>
          </a:p>
        </p:txBody>
      </p:sp>
      <p:sp>
        <p:nvSpPr>
          <p:cNvPr id="18" name="Text Box 4">
            <a:extLst>
              <a:ext uri="{FF2B5EF4-FFF2-40B4-BE49-F238E27FC236}">
                <a16:creationId xmlns="" xmlns:a16="http://schemas.microsoft.com/office/drawing/2014/main" id="{96399FFD-FABD-80FA-3EE9-D8658FCAEAA9}"/>
              </a:ext>
            </a:extLst>
          </p:cNvPr>
          <p:cNvSpPr txBox="1">
            <a:spLocks noChangeArrowheads="1"/>
          </p:cNvSpPr>
          <p:nvPr/>
        </p:nvSpPr>
        <p:spPr bwMode="auto">
          <a:xfrm>
            <a:off x="323850" y="4709179"/>
            <a:ext cx="8479666"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000" dirty="0" smtClean="0">
                <a:solidFill>
                  <a:schemeClr val="tx1"/>
                </a:solidFill>
                <a:latin typeface="+mn-ea"/>
                <a:ea typeface="+mn-ea"/>
              </a:rPr>
              <a:t>在</a:t>
            </a:r>
            <a:r>
              <a:rPr lang="zh-CN" altLang="en-US" sz="2000" dirty="0">
                <a:solidFill>
                  <a:schemeClr val="tx1"/>
                </a:solidFill>
                <a:latin typeface="+mn-ea"/>
                <a:ea typeface="+mn-ea"/>
              </a:rPr>
              <a:t>大信号情况应用时，依靠二极管的导通和截止来实现频率变换，这时二极管就相当于一个开关。</a:t>
            </a:r>
          </a:p>
        </p:txBody>
      </p:sp>
      <p:sp>
        <p:nvSpPr>
          <p:cNvPr id="19" name="Text Box 6">
            <a:extLst>
              <a:ext uri="{FF2B5EF4-FFF2-40B4-BE49-F238E27FC236}">
                <a16:creationId xmlns="" xmlns:a16="http://schemas.microsoft.com/office/drawing/2014/main" id="{0BA61527-DAA7-ADD6-FAAC-49D21EB68BB6}"/>
              </a:ext>
            </a:extLst>
          </p:cNvPr>
          <p:cNvSpPr txBox="1">
            <a:spLocks noChangeArrowheads="1"/>
          </p:cNvSpPr>
          <p:nvPr/>
        </p:nvSpPr>
        <p:spPr bwMode="auto">
          <a:xfrm>
            <a:off x="323850" y="5500400"/>
            <a:ext cx="804516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000" dirty="0" smtClean="0">
                <a:solidFill>
                  <a:schemeClr val="tx1"/>
                </a:solidFill>
                <a:latin typeface="+mn-ea"/>
                <a:ea typeface="+mn-ea"/>
              </a:rPr>
              <a:t>满足       </a:t>
            </a:r>
            <a:r>
              <a:rPr lang="zh-CN" altLang="en-US" sz="2000" dirty="0">
                <a:solidFill>
                  <a:schemeClr val="tx1"/>
                </a:solidFill>
                <a:latin typeface="+mn-ea"/>
                <a:ea typeface="+mn-ea"/>
              </a:rPr>
              <a:t>的条件时，二极管的通、断由载波电压决定。</a:t>
            </a:r>
          </a:p>
        </p:txBody>
      </p:sp>
      <p:graphicFrame>
        <p:nvGraphicFramePr>
          <p:cNvPr id="23" name="对象 22"/>
          <p:cNvGraphicFramePr>
            <a:graphicFrameLocks noChangeAspect="1"/>
          </p:cNvGraphicFramePr>
          <p:nvPr>
            <p:extLst>
              <p:ext uri="{D42A27DB-BD31-4B8C-83A1-F6EECF244321}">
                <p14:modId xmlns:p14="http://schemas.microsoft.com/office/powerpoint/2010/main" val="3830772010"/>
              </p:ext>
            </p:extLst>
          </p:nvPr>
        </p:nvGraphicFramePr>
        <p:xfrm>
          <a:off x="920076" y="5533591"/>
          <a:ext cx="871537" cy="365125"/>
        </p:xfrm>
        <a:graphic>
          <a:graphicData uri="http://schemas.openxmlformats.org/presentationml/2006/ole">
            <mc:AlternateContent xmlns:mc="http://schemas.openxmlformats.org/markup-compatibility/2006">
              <mc:Choice xmlns:v="urn:schemas-microsoft-com:vml" Requires="v">
                <p:oleObj spid="_x0000_s173093" name="Equation" r:id="rId5" imgW="871625" imgH="364333" progId="Equation.DSMT4">
                  <p:embed/>
                </p:oleObj>
              </mc:Choice>
              <mc:Fallback>
                <p:oleObj name="Equation" r:id="rId5" imgW="871625" imgH="364333" progId="Equation.DSMT4">
                  <p:embed/>
                  <p:pic>
                    <p:nvPicPr>
                      <p:cNvPr id="0" name=""/>
                      <p:cNvPicPr/>
                      <p:nvPr/>
                    </p:nvPicPr>
                    <p:blipFill>
                      <a:blip r:embed="rId6"/>
                      <a:stretch>
                        <a:fillRect/>
                      </a:stretch>
                    </p:blipFill>
                    <p:spPr>
                      <a:xfrm>
                        <a:off x="920076" y="5533591"/>
                        <a:ext cx="871537" cy="365125"/>
                      </a:xfrm>
                      <a:prstGeom prst="rect">
                        <a:avLst/>
                      </a:prstGeom>
                    </p:spPr>
                  </p:pic>
                </p:oleObj>
              </mc:Fallback>
            </mc:AlternateContent>
          </a:graphicData>
        </a:graphic>
      </p:graphicFrame>
    </p:spTree>
    <p:extLst>
      <p:ext uri="{BB962C8B-B14F-4D97-AF65-F5344CB8AC3E}">
        <p14:creationId xmlns:p14="http://schemas.microsoft.com/office/powerpoint/2010/main" val="247156286"/>
      </p:ext>
    </p:extLst>
  </p:cSld>
  <p:clrMapOvr>
    <a:masterClrMapping/>
  </p:clrMapOvr>
  <p:timing>
    <p:tnLst>
      <p:par>
        <p:cTn id="1" dur="indefinite" restart="never" nodeType="tmRoot"/>
      </p:par>
    </p:tnLst>
  </p:timing>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222</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6.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振幅调制</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与</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解调</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2" name="Rectangle 5">
            <a:extLst>
              <a:ext uri="{FF2B5EF4-FFF2-40B4-BE49-F238E27FC236}">
                <a16:creationId xmlns="" xmlns:a16="http://schemas.microsoft.com/office/drawing/2014/main" id="{1E18CDCF-0A1D-68C0-3A45-944EBAD997A2}"/>
              </a:ext>
            </a:extLst>
          </p:cNvPr>
          <p:cNvSpPr>
            <a:spLocks noChangeArrowheads="1"/>
          </p:cNvSpPr>
          <p:nvPr/>
        </p:nvSpPr>
        <p:spPr bwMode="auto">
          <a:xfrm>
            <a:off x="131823" y="1358474"/>
            <a:ext cx="8501062" cy="1061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tabLst>
                <a:tab pos="5249863" algn="r"/>
              </a:tabLst>
              <a:defRPr sz="1600" b="1">
                <a:solidFill>
                  <a:schemeClr val="tx1"/>
                </a:solidFill>
                <a:latin typeface="楷体_GB2312" panose="02010609030101010101" pitchFamily="49" charset="-122"/>
                <a:ea typeface="楷体_GB2312" panose="02010609030101010101" pitchFamily="49" charset="-122"/>
              </a:defRPr>
            </a:lvl1pPr>
            <a:lvl2pPr>
              <a:tabLst>
                <a:tab pos="5249863" algn="r"/>
              </a:tabLst>
              <a:defRPr sz="1600" b="1">
                <a:solidFill>
                  <a:schemeClr val="tx1"/>
                </a:solidFill>
                <a:latin typeface="楷体_GB2312" panose="02010609030101010101" pitchFamily="49" charset="-122"/>
                <a:ea typeface="楷体_GB2312" panose="02010609030101010101" pitchFamily="49" charset="-122"/>
              </a:defRPr>
            </a:lvl2pPr>
            <a:lvl3pPr>
              <a:tabLst>
                <a:tab pos="5249863" algn="r"/>
              </a:tabLst>
              <a:defRPr sz="1600" b="1">
                <a:solidFill>
                  <a:schemeClr val="tx1"/>
                </a:solidFill>
                <a:latin typeface="楷体_GB2312" panose="02010609030101010101" pitchFamily="49" charset="-122"/>
                <a:ea typeface="楷体_GB2312" panose="02010609030101010101" pitchFamily="49" charset="-122"/>
              </a:defRPr>
            </a:lvl3pPr>
            <a:lvl4pPr>
              <a:tabLst>
                <a:tab pos="5249863" algn="r"/>
              </a:tabLst>
              <a:defRPr sz="1600" b="1">
                <a:solidFill>
                  <a:schemeClr val="tx1"/>
                </a:solidFill>
                <a:latin typeface="楷体_GB2312" panose="02010609030101010101" pitchFamily="49" charset="-122"/>
                <a:ea typeface="楷体_GB2312" panose="02010609030101010101" pitchFamily="49" charset="-122"/>
              </a:defRPr>
            </a:lvl4pPr>
            <a:lvl5pPr>
              <a:tabLst>
                <a:tab pos="5249863" algn="r"/>
              </a:tabLst>
              <a:defRPr sz="1600" b="1">
                <a:solidFill>
                  <a:schemeClr val="tx1"/>
                </a:solidFill>
                <a:latin typeface="楷体_GB2312" panose="02010609030101010101" pitchFamily="49" charset="-122"/>
                <a:ea typeface="楷体_GB2312" panose="02010609030101010101" pitchFamily="49" charset="-122"/>
              </a:defRPr>
            </a:lvl5pPr>
            <a:lvl6pPr fontAlgn="base">
              <a:spcBef>
                <a:spcPct val="0"/>
              </a:spcBef>
              <a:spcAft>
                <a:spcPct val="0"/>
              </a:spcAft>
              <a:buFont typeface="Arial" panose="020B0604020202020204" pitchFamily="34" charset="0"/>
              <a:tabLst>
                <a:tab pos="5249863" algn="r"/>
              </a:tabLst>
              <a:defRPr sz="1600" b="1">
                <a:solidFill>
                  <a:schemeClr val="tx1"/>
                </a:solidFill>
                <a:latin typeface="楷体_GB2312" panose="02010609030101010101" pitchFamily="49" charset="-122"/>
                <a:ea typeface="楷体_GB2312" panose="02010609030101010101" pitchFamily="49" charset="-122"/>
              </a:defRPr>
            </a:lvl6pPr>
            <a:lvl7pPr fontAlgn="base">
              <a:spcBef>
                <a:spcPct val="0"/>
              </a:spcBef>
              <a:spcAft>
                <a:spcPct val="0"/>
              </a:spcAft>
              <a:buFont typeface="Arial" panose="020B0604020202020204" pitchFamily="34" charset="0"/>
              <a:tabLst>
                <a:tab pos="5249863" algn="r"/>
              </a:tabLst>
              <a:defRPr sz="1600" b="1">
                <a:solidFill>
                  <a:schemeClr val="tx1"/>
                </a:solidFill>
                <a:latin typeface="楷体_GB2312" panose="02010609030101010101" pitchFamily="49" charset="-122"/>
                <a:ea typeface="楷体_GB2312" panose="02010609030101010101" pitchFamily="49" charset="-122"/>
              </a:defRPr>
            </a:lvl7pPr>
            <a:lvl8pPr fontAlgn="base">
              <a:spcBef>
                <a:spcPct val="0"/>
              </a:spcBef>
              <a:spcAft>
                <a:spcPct val="0"/>
              </a:spcAft>
              <a:buFont typeface="Arial" panose="020B0604020202020204" pitchFamily="34" charset="0"/>
              <a:tabLst>
                <a:tab pos="5249863" algn="r"/>
              </a:tabLst>
              <a:defRPr sz="1600" b="1">
                <a:solidFill>
                  <a:schemeClr val="tx1"/>
                </a:solidFill>
                <a:latin typeface="楷体_GB2312" panose="02010609030101010101" pitchFamily="49" charset="-122"/>
                <a:ea typeface="楷体_GB2312" panose="02010609030101010101" pitchFamily="49" charset="-122"/>
              </a:defRPr>
            </a:lvl8pPr>
            <a:lvl9pPr fontAlgn="base">
              <a:spcBef>
                <a:spcPct val="0"/>
              </a:spcBef>
              <a:spcAft>
                <a:spcPct val="0"/>
              </a:spcAft>
              <a:buFont typeface="Arial" panose="020B0604020202020204" pitchFamily="34" charset="0"/>
              <a:tabLst>
                <a:tab pos="5249863" algn="r"/>
              </a:tabLst>
              <a:defRPr sz="1600" b="1">
                <a:solidFill>
                  <a:schemeClr val="tx1"/>
                </a:solidFill>
                <a:latin typeface="楷体_GB2312" panose="02010609030101010101" pitchFamily="49" charset="-122"/>
                <a:ea typeface="楷体_GB2312" panose="02010609030101010101" pitchFamily="49" charset="-122"/>
              </a:defRPr>
            </a:lvl9pPr>
          </a:lstStyle>
          <a:p>
            <a:pPr>
              <a:spcAft>
                <a:spcPts val="600"/>
              </a:spcAft>
            </a:pPr>
            <a:r>
              <a:rPr lang="zh-CN" altLang="en-US" sz="2200" dirty="0">
                <a:latin typeface="Times New Roman" panose="02020603050405020304" pitchFamily="18" charset="0"/>
                <a:ea typeface="+mn-ea"/>
                <a:cs typeface="Times New Roman" panose="02020603050405020304" pitchFamily="18" charset="0"/>
              </a:rPr>
              <a:t>  </a:t>
            </a:r>
            <a:r>
              <a:rPr lang="en-US" altLang="zh-CN" sz="2200" dirty="0">
                <a:latin typeface="Times New Roman" panose="02020603050405020304" pitchFamily="18" charset="0"/>
                <a:ea typeface="+mn-ea"/>
                <a:cs typeface="Times New Roman" panose="02020603050405020304" pitchFamily="18" charset="0"/>
              </a:rPr>
              <a:t>2.</a:t>
            </a:r>
            <a:r>
              <a:rPr lang="zh-CN" altLang="en-US" sz="2200" dirty="0">
                <a:latin typeface="Times New Roman" panose="02020603050405020304" pitchFamily="18" charset="0"/>
                <a:ea typeface="+mn-ea"/>
                <a:cs typeface="Times New Roman" panose="02020603050405020304" pitchFamily="18" charset="0"/>
              </a:rPr>
              <a:t>平衡</a:t>
            </a:r>
            <a:r>
              <a:rPr lang="zh-CN" altLang="en-US" sz="2200" dirty="0" smtClean="0">
                <a:latin typeface="Times New Roman" panose="02020603050405020304" pitchFamily="18" charset="0"/>
                <a:ea typeface="+mn-ea"/>
                <a:cs typeface="Times New Roman" panose="02020603050405020304" pitchFamily="18" charset="0"/>
              </a:rPr>
              <a:t>调幅器</a:t>
            </a:r>
            <a:endParaRPr lang="en-US" altLang="zh-CN" sz="2200" dirty="0">
              <a:latin typeface="Times New Roman" panose="02020603050405020304" pitchFamily="18" charset="0"/>
              <a:ea typeface="+mn-ea"/>
              <a:cs typeface="Times New Roman" panose="02020603050405020304" pitchFamily="18" charset="0"/>
            </a:endParaRPr>
          </a:p>
          <a:p>
            <a:pPr eaLnBrk="0" hangingPunct="0"/>
            <a:r>
              <a:rPr lang="zh-CN" altLang="en-US" sz="1800" dirty="0">
                <a:latin typeface="Times New Roman" panose="02020603050405020304" pitchFamily="18" charset="0"/>
                <a:ea typeface="+mn-ea"/>
                <a:cs typeface="Times New Roman" panose="02020603050405020304" pitchFamily="18" charset="0"/>
              </a:rPr>
              <a:t>    平衡调制是由两个简单的二极管调幅电路对称连接组成。载波成分由于对称而被抵消，在输出中不再出现，因而平衡调制器是产生</a:t>
            </a:r>
            <a:r>
              <a:rPr lang="en-US" altLang="zh-CN" sz="1800" dirty="0">
                <a:latin typeface="Times New Roman" panose="02020603050405020304" pitchFamily="18" charset="0"/>
                <a:ea typeface="+mn-ea"/>
                <a:cs typeface="Times New Roman" panose="02020603050405020304" pitchFamily="18" charset="0"/>
              </a:rPr>
              <a:t>DSB</a:t>
            </a:r>
            <a:r>
              <a:rPr lang="zh-CN" altLang="en-US" sz="1800" dirty="0">
                <a:latin typeface="Times New Roman" panose="02020603050405020304" pitchFamily="18" charset="0"/>
                <a:ea typeface="+mn-ea"/>
                <a:cs typeface="Times New Roman" panose="02020603050405020304" pitchFamily="18" charset="0"/>
              </a:rPr>
              <a:t>和</a:t>
            </a:r>
            <a:r>
              <a:rPr lang="en-US" altLang="zh-CN" sz="1800" dirty="0">
                <a:latin typeface="Times New Roman" panose="02020603050405020304" pitchFamily="18" charset="0"/>
                <a:ea typeface="+mn-ea"/>
                <a:cs typeface="Times New Roman" panose="02020603050405020304" pitchFamily="18" charset="0"/>
              </a:rPr>
              <a:t>SSB</a:t>
            </a:r>
            <a:r>
              <a:rPr lang="zh-CN" altLang="en-US" sz="1800" dirty="0">
                <a:latin typeface="Times New Roman" panose="02020603050405020304" pitchFamily="18" charset="0"/>
                <a:ea typeface="+mn-ea"/>
                <a:cs typeface="Times New Roman" panose="02020603050405020304" pitchFamily="18" charset="0"/>
              </a:rPr>
              <a:t>信号的基本电路。</a:t>
            </a:r>
          </a:p>
        </p:txBody>
      </p:sp>
      <p:graphicFrame>
        <p:nvGraphicFramePr>
          <p:cNvPr id="13" name="Object 1024">
            <a:extLst>
              <a:ext uri="{FF2B5EF4-FFF2-40B4-BE49-F238E27FC236}">
                <a16:creationId xmlns="" xmlns:a16="http://schemas.microsoft.com/office/drawing/2014/main" id="{53673400-6CA5-EFBA-FBDC-56052CFDFC86}"/>
              </a:ext>
            </a:extLst>
          </p:cNvPr>
          <p:cNvGraphicFramePr>
            <a:graphicFrameLocks/>
          </p:cNvGraphicFramePr>
          <p:nvPr>
            <p:extLst>
              <p:ext uri="{D42A27DB-BD31-4B8C-83A1-F6EECF244321}">
                <p14:modId xmlns:p14="http://schemas.microsoft.com/office/powerpoint/2010/main" val="4004421855"/>
              </p:ext>
            </p:extLst>
          </p:nvPr>
        </p:nvGraphicFramePr>
        <p:xfrm>
          <a:off x="1186774" y="2360577"/>
          <a:ext cx="6205724" cy="2265909"/>
        </p:xfrm>
        <a:graphic>
          <a:graphicData uri="http://schemas.openxmlformats.org/presentationml/2006/ole">
            <mc:AlternateContent xmlns:mc="http://schemas.openxmlformats.org/markup-compatibility/2006">
              <mc:Choice xmlns:v="urn:schemas-microsoft-com:vml" Requires="v">
                <p:oleObj spid="_x0000_s174132" r:id="rId3" imgW="6032160" imgH="2094480" progId="Word.Picture.8">
                  <p:embed/>
                </p:oleObj>
              </mc:Choice>
              <mc:Fallback>
                <p:oleObj r:id="rId3" imgW="6032160" imgH="2094480" progId="Word.Picture.8">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6774" y="2360577"/>
                        <a:ext cx="6205724" cy="2265909"/>
                      </a:xfrm>
                      <a:prstGeom prst="rect">
                        <a:avLst/>
                      </a:prstGeom>
                      <a:noFill/>
                      <a:ln>
                        <a:noFill/>
                      </a:ln>
                      <a:extLst/>
                    </p:spPr>
                  </p:pic>
                </p:oleObj>
              </mc:Fallback>
            </mc:AlternateContent>
          </a:graphicData>
        </a:graphic>
      </p:graphicFrame>
      <p:sp>
        <p:nvSpPr>
          <p:cNvPr id="14" name="Rectangle 8">
            <a:extLst>
              <a:ext uri="{FF2B5EF4-FFF2-40B4-BE49-F238E27FC236}">
                <a16:creationId xmlns="" xmlns:a16="http://schemas.microsoft.com/office/drawing/2014/main" id="{11279E33-6232-A108-25C3-BFADCF2F4AF6}"/>
              </a:ext>
            </a:extLst>
          </p:cNvPr>
          <p:cNvSpPr>
            <a:spLocks noChangeArrowheads="1"/>
          </p:cNvSpPr>
          <p:nvPr/>
        </p:nvSpPr>
        <p:spPr bwMode="auto">
          <a:xfrm>
            <a:off x="2662973" y="4548936"/>
            <a:ext cx="343876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tabLst>
                <a:tab pos="5249863" algn="r"/>
              </a:tabLst>
              <a:defRPr sz="1600" b="1">
                <a:solidFill>
                  <a:schemeClr val="tx1"/>
                </a:solidFill>
                <a:latin typeface="楷体_GB2312" panose="02010609030101010101" pitchFamily="49" charset="-122"/>
                <a:ea typeface="楷体_GB2312" panose="02010609030101010101" pitchFamily="49" charset="-122"/>
              </a:defRPr>
            </a:lvl1pPr>
            <a:lvl2pPr>
              <a:tabLst>
                <a:tab pos="5249863" algn="r"/>
              </a:tabLst>
              <a:defRPr sz="1600" b="1">
                <a:solidFill>
                  <a:schemeClr val="tx1"/>
                </a:solidFill>
                <a:latin typeface="楷体_GB2312" panose="02010609030101010101" pitchFamily="49" charset="-122"/>
                <a:ea typeface="楷体_GB2312" panose="02010609030101010101" pitchFamily="49" charset="-122"/>
              </a:defRPr>
            </a:lvl2pPr>
            <a:lvl3pPr>
              <a:tabLst>
                <a:tab pos="5249863" algn="r"/>
              </a:tabLst>
              <a:defRPr sz="1600" b="1">
                <a:solidFill>
                  <a:schemeClr val="tx1"/>
                </a:solidFill>
                <a:latin typeface="楷体_GB2312" panose="02010609030101010101" pitchFamily="49" charset="-122"/>
                <a:ea typeface="楷体_GB2312" panose="02010609030101010101" pitchFamily="49" charset="-122"/>
              </a:defRPr>
            </a:lvl3pPr>
            <a:lvl4pPr>
              <a:tabLst>
                <a:tab pos="5249863" algn="r"/>
              </a:tabLst>
              <a:defRPr sz="1600" b="1">
                <a:solidFill>
                  <a:schemeClr val="tx1"/>
                </a:solidFill>
                <a:latin typeface="楷体_GB2312" panose="02010609030101010101" pitchFamily="49" charset="-122"/>
                <a:ea typeface="楷体_GB2312" panose="02010609030101010101" pitchFamily="49" charset="-122"/>
              </a:defRPr>
            </a:lvl4pPr>
            <a:lvl5pPr>
              <a:tabLst>
                <a:tab pos="5249863" algn="r"/>
              </a:tabLst>
              <a:defRPr sz="1600" b="1">
                <a:solidFill>
                  <a:schemeClr val="tx1"/>
                </a:solidFill>
                <a:latin typeface="楷体_GB2312" panose="02010609030101010101" pitchFamily="49" charset="-122"/>
                <a:ea typeface="楷体_GB2312" panose="02010609030101010101" pitchFamily="49" charset="-122"/>
              </a:defRPr>
            </a:lvl5pPr>
            <a:lvl6pPr fontAlgn="base">
              <a:spcBef>
                <a:spcPct val="0"/>
              </a:spcBef>
              <a:spcAft>
                <a:spcPct val="0"/>
              </a:spcAft>
              <a:buFont typeface="Arial" panose="020B0604020202020204" pitchFamily="34" charset="0"/>
              <a:tabLst>
                <a:tab pos="5249863" algn="r"/>
              </a:tabLst>
              <a:defRPr sz="1600" b="1">
                <a:solidFill>
                  <a:schemeClr val="tx1"/>
                </a:solidFill>
                <a:latin typeface="楷体_GB2312" panose="02010609030101010101" pitchFamily="49" charset="-122"/>
                <a:ea typeface="楷体_GB2312" panose="02010609030101010101" pitchFamily="49" charset="-122"/>
              </a:defRPr>
            </a:lvl6pPr>
            <a:lvl7pPr fontAlgn="base">
              <a:spcBef>
                <a:spcPct val="0"/>
              </a:spcBef>
              <a:spcAft>
                <a:spcPct val="0"/>
              </a:spcAft>
              <a:buFont typeface="Arial" panose="020B0604020202020204" pitchFamily="34" charset="0"/>
              <a:tabLst>
                <a:tab pos="5249863" algn="r"/>
              </a:tabLst>
              <a:defRPr sz="1600" b="1">
                <a:solidFill>
                  <a:schemeClr val="tx1"/>
                </a:solidFill>
                <a:latin typeface="楷体_GB2312" panose="02010609030101010101" pitchFamily="49" charset="-122"/>
                <a:ea typeface="楷体_GB2312" panose="02010609030101010101" pitchFamily="49" charset="-122"/>
              </a:defRPr>
            </a:lvl7pPr>
            <a:lvl8pPr fontAlgn="base">
              <a:spcBef>
                <a:spcPct val="0"/>
              </a:spcBef>
              <a:spcAft>
                <a:spcPct val="0"/>
              </a:spcAft>
              <a:buFont typeface="Arial" panose="020B0604020202020204" pitchFamily="34" charset="0"/>
              <a:tabLst>
                <a:tab pos="5249863" algn="r"/>
              </a:tabLst>
              <a:defRPr sz="1600" b="1">
                <a:solidFill>
                  <a:schemeClr val="tx1"/>
                </a:solidFill>
                <a:latin typeface="楷体_GB2312" panose="02010609030101010101" pitchFamily="49" charset="-122"/>
                <a:ea typeface="楷体_GB2312" panose="02010609030101010101" pitchFamily="49" charset="-122"/>
              </a:defRPr>
            </a:lvl8pPr>
            <a:lvl9pPr fontAlgn="base">
              <a:spcBef>
                <a:spcPct val="0"/>
              </a:spcBef>
              <a:spcAft>
                <a:spcPct val="0"/>
              </a:spcAft>
              <a:buFont typeface="Arial" panose="020B0604020202020204" pitchFamily="34" charset="0"/>
              <a:tabLst>
                <a:tab pos="5249863" algn="r"/>
              </a:tabLst>
              <a:defRPr sz="1600" b="1">
                <a:solidFill>
                  <a:schemeClr val="tx1"/>
                </a:solidFill>
                <a:latin typeface="楷体_GB2312" panose="02010609030101010101" pitchFamily="49" charset="-122"/>
                <a:ea typeface="楷体_GB2312" panose="02010609030101010101" pitchFamily="49" charset="-122"/>
              </a:defRPr>
            </a:lvl9pPr>
          </a:lstStyle>
          <a:p>
            <a:r>
              <a:rPr lang="zh-CN" altLang="en-US" sz="1800" b="0" dirty="0">
                <a:latin typeface="+mn-ea"/>
                <a:ea typeface="+mn-ea"/>
              </a:rPr>
              <a:t>平衡调制器原理图及其等效电路</a:t>
            </a:r>
            <a:endParaRPr lang="zh-CN" altLang="en-US" sz="1800" b="0" dirty="0">
              <a:latin typeface="+mn-ea"/>
              <a:ea typeface="+mn-ea"/>
              <a:cs typeface="Arial" panose="020B0604020202020204" pitchFamily="34" charset="0"/>
            </a:endParaRPr>
          </a:p>
        </p:txBody>
      </p:sp>
      <p:sp>
        <p:nvSpPr>
          <p:cNvPr id="15" name="Rectangle 6">
            <a:extLst>
              <a:ext uri="{FF2B5EF4-FFF2-40B4-BE49-F238E27FC236}">
                <a16:creationId xmlns="" xmlns:a16="http://schemas.microsoft.com/office/drawing/2014/main" id="{3D5A6EE4-7CBD-EAF3-8DEA-4B886A672F36}"/>
              </a:ext>
            </a:extLst>
          </p:cNvPr>
          <p:cNvSpPr>
            <a:spLocks noChangeArrowheads="1"/>
          </p:cNvSpPr>
          <p:nvPr/>
        </p:nvSpPr>
        <p:spPr bwMode="auto">
          <a:xfrm>
            <a:off x="131823" y="4895250"/>
            <a:ext cx="86407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indent="276225">
              <a:tabLst>
                <a:tab pos="5249863" algn="r"/>
              </a:tabLst>
              <a:defRPr sz="1600" b="1">
                <a:solidFill>
                  <a:schemeClr val="tx1"/>
                </a:solidFill>
                <a:latin typeface="楷体_GB2312" panose="02010609030101010101" pitchFamily="49" charset="-122"/>
                <a:ea typeface="楷体_GB2312" panose="02010609030101010101" pitchFamily="49" charset="-122"/>
              </a:defRPr>
            </a:lvl1pPr>
            <a:lvl2pPr>
              <a:tabLst>
                <a:tab pos="5249863" algn="r"/>
              </a:tabLst>
              <a:defRPr sz="1600" b="1">
                <a:solidFill>
                  <a:schemeClr val="tx1"/>
                </a:solidFill>
                <a:latin typeface="楷体_GB2312" panose="02010609030101010101" pitchFamily="49" charset="-122"/>
                <a:ea typeface="楷体_GB2312" panose="02010609030101010101" pitchFamily="49" charset="-122"/>
              </a:defRPr>
            </a:lvl2pPr>
            <a:lvl3pPr>
              <a:tabLst>
                <a:tab pos="5249863" algn="r"/>
              </a:tabLst>
              <a:defRPr sz="1600" b="1">
                <a:solidFill>
                  <a:schemeClr val="tx1"/>
                </a:solidFill>
                <a:latin typeface="楷体_GB2312" panose="02010609030101010101" pitchFamily="49" charset="-122"/>
                <a:ea typeface="楷体_GB2312" panose="02010609030101010101" pitchFamily="49" charset="-122"/>
              </a:defRPr>
            </a:lvl3pPr>
            <a:lvl4pPr>
              <a:tabLst>
                <a:tab pos="5249863" algn="r"/>
              </a:tabLst>
              <a:defRPr sz="1600" b="1">
                <a:solidFill>
                  <a:schemeClr val="tx1"/>
                </a:solidFill>
                <a:latin typeface="楷体_GB2312" panose="02010609030101010101" pitchFamily="49" charset="-122"/>
                <a:ea typeface="楷体_GB2312" panose="02010609030101010101" pitchFamily="49" charset="-122"/>
              </a:defRPr>
            </a:lvl4pPr>
            <a:lvl5pPr>
              <a:tabLst>
                <a:tab pos="5249863" algn="r"/>
              </a:tabLst>
              <a:defRPr sz="1600" b="1">
                <a:solidFill>
                  <a:schemeClr val="tx1"/>
                </a:solidFill>
                <a:latin typeface="楷体_GB2312" panose="02010609030101010101" pitchFamily="49" charset="-122"/>
                <a:ea typeface="楷体_GB2312" panose="02010609030101010101" pitchFamily="49" charset="-122"/>
              </a:defRPr>
            </a:lvl5pPr>
            <a:lvl6pPr fontAlgn="base">
              <a:spcBef>
                <a:spcPct val="0"/>
              </a:spcBef>
              <a:spcAft>
                <a:spcPct val="0"/>
              </a:spcAft>
              <a:buFont typeface="Arial" panose="020B0604020202020204" pitchFamily="34" charset="0"/>
              <a:tabLst>
                <a:tab pos="5249863" algn="r"/>
              </a:tabLst>
              <a:defRPr sz="1600" b="1">
                <a:solidFill>
                  <a:schemeClr val="tx1"/>
                </a:solidFill>
                <a:latin typeface="楷体_GB2312" panose="02010609030101010101" pitchFamily="49" charset="-122"/>
                <a:ea typeface="楷体_GB2312" panose="02010609030101010101" pitchFamily="49" charset="-122"/>
              </a:defRPr>
            </a:lvl6pPr>
            <a:lvl7pPr fontAlgn="base">
              <a:spcBef>
                <a:spcPct val="0"/>
              </a:spcBef>
              <a:spcAft>
                <a:spcPct val="0"/>
              </a:spcAft>
              <a:buFont typeface="Arial" panose="020B0604020202020204" pitchFamily="34" charset="0"/>
              <a:tabLst>
                <a:tab pos="5249863" algn="r"/>
              </a:tabLst>
              <a:defRPr sz="1600" b="1">
                <a:solidFill>
                  <a:schemeClr val="tx1"/>
                </a:solidFill>
                <a:latin typeface="楷体_GB2312" panose="02010609030101010101" pitchFamily="49" charset="-122"/>
                <a:ea typeface="楷体_GB2312" panose="02010609030101010101" pitchFamily="49" charset="-122"/>
              </a:defRPr>
            </a:lvl7pPr>
            <a:lvl8pPr fontAlgn="base">
              <a:spcBef>
                <a:spcPct val="0"/>
              </a:spcBef>
              <a:spcAft>
                <a:spcPct val="0"/>
              </a:spcAft>
              <a:buFont typeface="Arial" panose="020B0604020202020204" pitchFamily="34" charset="0"/>
              <a:tabLst>
                <a:tab pos="5249863" algn="r"/>
              </a:tabLst>
              <a:defRPr sz="1600" b="1">
                <a:solidFill>
                  <a:schemeClr val="tx1"/>
                </a:solidFill>
                <a:latin typeface="楷体_GB2312" panose="02010609030101010101" pitchFamily="49" charset="-122"/>
                <a:ea typeface="楷体_GB2312" panose="02010609030101010101" pitchFamily="49" charset="-122"/>
              </a:defRPr>
            </a:lvl8pPr>
            <a:lvl9pPr fontAlgn="base">
              <a:spcBef>
                <a:spcPct val="0"/>
              </a:spcBef>
              <a:spcAft>
                <a:spcPct val="0"/>
              </a:spcAft>
              <a:buFont typeface="Arial" panose="020B0604020202020204" pitchFamily="34" charset="0"/>
              <a:tabLst>
                <a:tab pos="5249863" algn="r"/>
              </a:tabLst>
              <a:defRPr sz="1600" b="1">
                <a:solidFill>
                  <a:schemeClr val="tx1"/>
                </a:solidFill>
                <a:latin typeface="楷体_GB2312" panose="02010609030101010101" pitchFamily="49" charset="-122"/>
                <a:ea typeface="楷体_GB2312" panose="02010609030101010101" pitchFamily="49" charset="-122"/>
              </a:defRPr>
            </a:lvl9pPr>
          </a:lstStyle>
          <a:p>
            <a:r>
              <a:rPr lang="zh-CN" altLang="en-US" sz="1800" dirty="0">
                <a:latin typeface="+mn-ea"/>
                <a:ea typeface="+mn-ea"/>
              </a:rPr>
              <a:t>由电路可知：</a:t>
            </a:r>
          </a:p>
        </p:txBody>
      </p:sp>
      <p:graphicFrame>
        <p:nvGraphicFramePr>
          <p:cNvPr id="16" name="Object 1024">
            <a:extLst>
              <a:ext uri="{FF2B5EF4-FFF2-40B4-BE49-F238E27FC236}">
                <a16:creationId xmlns="" xmlns:a16="http://schemas.microsoft.com/office/drawing/2014/main" id="{CE23311C-1854-1986-78A2-FF664A0C9EE7}"/>
              </a:ext>
            </a:extLst>
          </p:cNvPr>
          <p:cNvGraphicFramePr>
            <a:graphicFrameLocks/>
          </p:cNvGraphicFramePr>
          <p:nvPr>
            <p:extLst>
              <p:ext uri="{D42A27DB-BD31-4B8C-83A1-F6EECF244321}">
                <p14:modId xmlns:p14="http://schemas.microsoft.com/office/powerpoint/2010/main" val="577257316"/>
              </p:ext>
            </p:extLst>
          </p:nvPr>
        </p:nvGraphicFramePr>
        <p:xfrm>
          <a:off x="1823938" y="4895250"/>
          <a:ext cx="3675432" cy="385876"/>
        </p:xfrm>
        <a:graphic>
          <a:graphicData uri="http://schemas.openxmlformats.org/presentationml/2006/ole">
            <mc:AlternateContent xmlns:mc="http://schemas.openxmlformats.org/markup-compatibility/2006">
              <mc:Choice xmlns:v="urn:schemas-microsoft-com:vml" Requires="v">
                <p:oleObj spid="_x0000_s174133" r:id="rId5" imgW="1841400" imgH="228600" progId="Equation.3">
                  <p:embed/>
                </p:oleObj>
              </mc:Choice>
              <mc:Fallback>
                <p:oleObj r:id="rId5" imgW="1841400" imgH="228600" progId="Equation.3">
                  <p:embed/>
                  <p:pic>
                    <p:nvPicPr>
                      <p:cNvPr id="0" name=""/>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23938" y="4895250"/>
                        <a:ext cx="3675432" cy="385876"/>
                      </a:xfrm>
                      <a:prstGeom prst="rect">
                        <a:avLst/>
                      </a:prstGeom>
                      <a:noFill/>
                      <a:ln>
                        <a:noFill/>
                      </a:ln>
                      <a:extLst/>
                    </p:spPr>
                  </p:pic>
                </p:oleObj>
              </mc:Fallback>
            </mc:AlternateContent>
          </a:graphicData>
        </a:graphic>
      </p:graphicFrame>
      <p:sp>
        <p:nvSpPr>
          <p:cNvPr id="20" name="Rectangle 6">
            <a:extLst>
              <a:ext uri="{FF2B5EF4-FFF2-40B4-BE49-F238E27FC236}">
                <a16:creationId xmlns="" xmlns:a16="http://schemas.microsoft.com/office/drawing/2014/main" id="{C9515918-11EA-1271-317A-97936792FE7A}"/>
              </a:ext>
            </a:extLst>
          </p:cNvPr>
          <p:cNvSpPr>
            <a:spLocks noChangeArrowheads="1"/>
          </p:cNvSpPr>
          <p:nvPr/>
        </p:nvSpPr>
        <p:spPr bwMode="auto">
          <a:xfrm>
            <a:off x="472826" y="5924691"/>
            <a:ext cx="828082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indent="276225">
              <a:tabLst>
                <a:tab pos="5249863" algn="r"/>
              </a:tabLst>
              <a:defRPr sz="1600" b="1">
                <a:solidFill>
                  <a:schemeClr val="tx1"/>
                </a:solidFill>
                <a:latin typeface="楷体_GB2312" panose="02010609030101010101" pitchFamily="49" charset="-122"/>
                <a:ea typeface="楷体_GB2312" panose="02010609030101010101" pitchFamily="49" charset="-122"/>
              </a:defRPr>
            </a:lvl1pPr>
            <a:lvl2pPr>
              <a:tabLst>
                <a:tab pos="5249863" algn="r"/>
              </a:tabLst>
              <a:defRPr sz="1600" b="1">
                <a:solidFill>
                  <a:schemeClr val="tx1"/>
                </a:solidFill>
                <a:latin typeface="楷体_GB2312" panose="02010609030101010101" pitchFamily="49" charset="-122"/>
                <a:ea typeface="楷体_GB2312" panose="02010609030101010101" pitchFamily="49" charset="-122"/>
              </a:defRPr>
            </a:lvl2pPr>
            <a:lvl3pPr>
              <a:tabLst>
                <a:tab pos="5249863" algn="r"/>
              </a:tabLst>
              <a:defRPr sz="1600" b="1">
                <a:solidFill>
                  <a:schemeClr val="tx1"/>
                </a:solidFill>
                <a:latin typeface="楷体_GB2312" panose="02010609030101010101" pitchFamily="49" charset="-122"/>
                <a:ea typeface="楷体_GB2312" panose="02010609030101010101" pitchFamily="49" charset="-122"/>
              </a:defRPr>
            </a:lvl3pPr>
            <a:lvl4pPr>
              <a:tabLst>
                <a:tab pos="5249863" algn="r"/>
              </a:tabLst>
              <a:defRPr sz="1600" b="1">
                <a:solidFill>
                  <a:schemeClr val="tx1"/>
                </a:solidFill>
                <a:latin typeface="楷体_GB2312" panose="02010609030101010101" pitchFamily="49" charset="-122"/>
                <a:ea typeface="楷体_GB2312" panose="02010609030101010101" pitchFamily="49" charset="-122"/>
              </a:defRPr>
            </a:lvl4pPr>
            <a:lvl5pPr>
              <a:tabLst>
                <a:tab pos="5249863" algn="r"/>
              </a:tabLst>
              <a:defRPr sz="1600" b="1">
                <a:solidFill>
                  <a:schemeClr val="tx1"/>
                </a:solidFill>
                <a:latin typeface="楷体_GB2312" panose="02010609030101010101" pitchFamily="49" charset="-122"/>
                <a:ea typeface="楷体_GB2312" panose="02010609030101010101" pitchFamily="49" charset="-122"/>
              </a:defRPr>
            </a:lvl5pPr>
            <a:lvl6pPr fontAlgn="base">
              <a:spcBef>
                <a:spcPct val="0"/>
              </a:spcBef>
              <a:spcAft>
                <a:spcPct val="0"/>
              </a:spcAft>
              <a:buFont typeface="Arial" panose="020B0604020202020204" pitchFamily="34" charset="0"/>
              <a:tabLst>
                <a:tab pos="5249863" algn="r"/>
              </a:tabLst>
              <a:defRPr sz="1600" b="1">
                <a:solidFill>
                  <a:schemeClr val="tx1"/>
                </a:solidFill>
                <a:latin typeface="楷体_GB2312" panose="02010609030101010101" pitchFamily="49" charset="-122"/>
                <a:ea typeface="楷体_GB2312" panose="02010609030101010101" pitchFamily="49" charset="-122"/>
              </a:defRPr>
            </a:lvl6pPr>
            <a:lvl7pPr fontAlgn="base">
              <a:spcBef>
                <a:spcPct val="0"/>
              </a:spcBef>
              <a:spcAft>
                <a:spcPct val="0"/>
              </a:spcAft>
              <a:buFont typeface="Arial" panose="020B0604020202020204" pitchFamily="34" charset="0"/>
              <a:tabLst>
                <a:tab pos="5249863" algn="r"/>
              </a:tabLst>
              <a:defRPr sz="1600" b="1">
                <a:solidFill>
                  <a:schemeClr val="tx1"/>
                </a:solidFill>
                <a:latin typeface="楷体_GB2312" panose="02010609030101010101" pitchFamily="49" charset="-122"/>
                <a:ea typeface="楷体_GB2312" panose="02010609030101010101" pitchFamily="49" charset="-122"/>
              </a:defRPr>
            </a:lvl7pPr>
            <a:lvl8pPr fontAlgn="base">
              <a:spcBef>
                <a:spcPct val="0"/>
              </a:spcBef>
              <a:spcAft>
                <a:spcPct val="0"/>
              </a:spcAft>
              <a:buFont typeface="Arial" panose="020B0604020202020204" pitchFamily="34" charset="0"/>
              <a:tabLst>
                <a:tab pos="5249863" algn="r"/>
              </a:tabLst>
              <a:defRPr sz="1600" b="1">
                <a:solidFill>
                  <a:schemeClr val="tx1"/>
                </a:solidFill>
                <a:latin typeface="楷体_GB2312" panose="02010609030101010101" pitchFamily="49" charset="-122"/>
                <a:ea typeface="楷体_GB2312" panose="02010609030101010101" pitchFamily="49" charset="-122"/>
              </a:defRPr>
            </a:lvl8pPr>
            <a:lvl9pPr fontAlgn="base">
              <a:spcBef>
                <a:spcPct val="0"/>
              </a:spcBef>
              <a:spcAft>
                <a:spcPct val="0"/>
              </a:spcAft>
              <a:buFont typeface="Arial" panose="020B0604020202020204" pitchFamily="34" charset="0"/>
              <a:tabLst>
                <a:tab pos="5249863" algn="r"/>
              </a:tabLst>
              <a:defRPr sz="1600" b="1">
                <a:solidFill>
                  <a:schemeClr val="tx1"/>
                </a:solidFill>
                <a:latin typeface="楷体_GB2312" panose="02010609030101010101" pitchFamily="49" charset="-122"/>
                <a:ea typeface="楷体_GB2312" panose="02010609030101010101" pitchFamily="49" charset="-122"/>
              </a:defRPr>
            </a:lvl9pPr>
          </a:lstStyle>
          <a:p>
            <a:r>
              <a:rPr lang="zh-CN" altLang="en-US" sz="1800" dirty="0" smtClean="0">
                <a:latin typeface="+mn-ea"/>
                <a:ea typeface="+mn-ea"/>
              </a:rPr>
              <a:t>特点</a:t>
            </a:r>
            <a:r>
              <a:rPr lang="zh-CN" altLang="en-US" sz="1800" dirty="0">
                <a:latin typeface="+mn-ea"/>
                <a:ea typeface="+mn-ea"/>
              </a:rPr>
              <a:t>：单管调幅器频谱中所含的直流分量、载波分量以及载波的各次谐波分量，在平衡调制器里都被抑制掉了，并且有用信号分量的幅度增加了一倍。</a:t>
            </a:r>
          </a:p>
        </p:txBody>
      </p:sp>
      <p:sp>
        <p:nvSpPr>
          <p:cNvPr id="21" name="Text Box 12">
            <a:extLst>
              <a:ext uri="{FF2B5EF4-FFF2-40B4-BE49-F238E27FC236}">
                <a16:creationId xmlns="" xmlns:a16="http://schemas.microsoft.com/office/drawing/2014/main" id="{64215C63-F2D5-6980-77A7-3248EE837043}"/>
              </a:ext>
            </a:extLst>
          </p:cNvPr>
          <p:cNvSpPr txBox="1">
            <a:spLocks noChangeArrowheads="1"/>
          </p:cNvSpPr>
          <p:nvPr/>
        </p:nvSpPr>
        <p:spPr bwMode="auto">
          <a:xfrm>
            <a:off x="390353" y="5405006"/>
            <a:ext cx="272382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b="1" dirty="0">
                <a:solidFill>
                  <a:schemeClr val="tx1"/>
                </a:solidFill>
                <a:latin typeface="+mn-ea"/>
                <a:ea typeface="+mn-ea"/>
              </a:rPr>
              <a:t>输出调幅波有用电流分量</a:t>
            </a:r>
          </a:p>
        </p:txBody>
      </p:sp>
      <p:graphicFrame>
        <p:nvGraphicFramePr>
          <p:cNvPr id="22" name="Object 1026">
            <a:extLst>
              <a:ext uri="{FF2B5EF4-FFF2-40B4-BE49-F238E27FC236}">
                <a16:creationId xmlns="" xmlns:a16="http://schemas.microsoft.com/office/drawing/2014/main" id="{00543326-1B97-11F0-1637-CD1CE33F1739}"/>
              </a:ext>
            </a:extLst>
          </p:cNvPr>
          <p:cNvGraphicFramePr>
            <a:graphicFrameLocks/>
          </p:cNvGraphicFramePr>
          <p:nvPr>
            <p:extLst>
              <p:ext uri="{D42A27DB-BD31-4B8C-83A1-F6EECF244321}">
                <p14:modId xmlns:p14="http://schemas.microsoft.com/office/powerpoint/2010/main" val="3169704335"/>
              </p:ext>
            </p:extLst>
          </p:nvPr>
        </p:nvGraphicFramePr>
        <p:xfrm>
          <a:off x="3180030" y="5202979"/>
          <a:ext cx="5363183" cy="721712"/>
        </p:xfrm>
        <a:graphic>
          <a:graphicData uri="http://schemas.openxmlformats.org/presentationml/2006/ole">
            <mc:AlternateContent xmlns:mc="http://schemas.openxmlformats.org/markup-compatibility/2006">
              <mc:Choice xmlns:v="urn:schemas-microsoft-com:vml" Requires="v">
                <p:oleObj spid="_x0000_s174134" r:id="rId7" imgW="2716621" imgH="393529" progId="Equation.3">
                  <p:embed/>
                </p:oleObj>
              </mc:Choice>
              <mc:Fallback>
                <p:oleObj r:id="rId7" imgW="2716621" imgH="393529" progId="Equation.3">
                  <p:embed/>
                  <p:pic>
                    <p:nvPicPr>
                      <p:cNvPr id="0" name=""/>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180030" y="5202979"/>
                        <a:ext cx="5363183" cy="721712"/>
                      </a:xfrm>
                      <a:prstGeom prst="rect">
                        <a:avLst/>
                      </a:prstGeom>
                      <a:noFill/>
                      <a:ln>
                        <a:noFill/>
                      </a:ln>
                      <a:extLst/>
                    </p:spPr>
                  </p:pic>
                </p:oleObj>
              </mc:Fallback>
            </mc:AlternateContent>
          </a:graphicData>
        </a:graphic>
      </p:graphicFrame>
    </p:spTree>
    <p:extLst>
      <p:ext uri="{BB962C8B-B14F-4D97-AF65-F5344CB8AC3E}">
        <p14:creationId xmlns:p14="http://schemas.microsoft.com/office/powerpoint/2010/main" val="4013574634"/>
      </p:ext>
    </p:extLst>
  </p:cSld>
  <p:clrMapOvr>
    <a:masterClrMapping/>
  </p:clrMapOvr>
  <p:timing>
    <p:tnLst>
      <p:par>
        <p:cTn id="1" dur="indefinite" restart="never" nodeType="tmRoot"/>
      </p:par>
    </p:tnLst>
  </p:timing>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223</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6.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振幅调制</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与</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解调</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8" name="Text Box 3">
            <a:extLst>
              <a:ext uri="{FF2B5EF4-FFF2-40B4-BE49-F238E27FC236}">
                <a16:creationId xmlns="" xmlns:a16="http://schemas.microsoft.com/office/drawing/2014/main" id="{CC4A6D43-5E51-1312-7B38-C9FC7FE0D1A2}"/>
              </a:ext>
            </a:extLst>
          </p:cNvPr>
          <p:cNvSpPr txBox="1">
            <a:spLocks noChangeArrowheads="1"/>
          </p:cNvSpPr>
          <p:nvPr/>
        </p:nvSpPr>
        <p:spPr bwMode="auto">
          <a:xfrm>
            <a:off x="323850" y="1259419"/>
            <a:ext cx="1806905"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200" dirty="0">
                <a:solidFill>
                  <a:schemeClr val="tx1"/>
                </a:solidFill>
                <a:latin typeface="Times New Roman" panose="02020603050405020304" pitchFamily="18" charset="0"/>
                <a:cs typeface="Times New Roman" panose="02020603050405020304" pitchFamily="18" charset="0"/>
              </a:rPr>
              <a:t>3.</a:t>
            </a:r>
            <a:r>
              <a:rPr lang="zh-CN" altLang="en-US" sz="2200" dirty="0">
                <a:solidFill>
                  <a:schemeClr val="tx1"/>
                </a:solidFill>
                <a:latin typeface="Times New Roman" panose="02020603050405020304" pitchFamily="18" charset="0"/>
                <a:cs typeface="Times New Roman" panose="02020603050405020304" pitchFamily="18" charset="0"/>
              </a:rPr>
              <a:t>环形调制器</a:t>
            </a:r>
          </a:p>
        </p:txBody>
      </p:sp>
      <p:sp>
        <p:nvSpPr>
          <p:cNvPr id="9" name="Text Box 4">
            <a:extLst>
              <a:ext uri="{FF2B5EF4-FFF2-40B4-BE49-F238E27FC236}">
                <a16:creationId xmlns="" xmlns:a16="http://schemas.microsoft.com/office/drawing/2014/main" id="{CABBA845-B659-8A24-ED91-AAB314DE52D2}"/>
              </a:ext>
            </a:extLst>
          </p:cNvPr>
          <p:cNvSpPr txBox="1">
            <a:spLocks noChangeArrowheads="1"/>
          </p:cNvSpPr>
          <p:nvPr/>
        </p:nvSpPr>
        <p:spPr bwMode="auto">
          <a:xfrm>
            <a:off x="204177" y="1786387"/>
            <a:ext cx="5292725" cy="113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30000"/>
              </a:lnSpc>
            </a:pPr>
            <a:r>
              <a:rPr lang="zh-CN" altLang="en-US" dirty="0">
                <a:solidFill>
                  <a:schemeClr val="tx1"/>
                </a:solidFill>
                <a:latin typeface="Times New Roman" panose="02020603050405020304" pitchFamily="18" charset="0"/>
                <a:cs typeface="Times New Roman" panose="02020603050405020304" pitchFamily="18" charset="0"/>
              </a:rPr>
              <a:t>　在平衡调制器的基础上，再增加两个二极管，使电路中</a:t>
            </a:r>
            <a:r>
              <a:rPr lang="en-US" altLang="zh-CN" dirty="0">
                <a:solidFill>
                  <a:schemeClr val="tx1"/>
                </a:solidFill>
                <a:latin typeface="Times New Roman" panose="02020603050405020304" pitchFamily="18" charset="0"/>
                <a:cs typeface="Times New Roman" panose="02020603050405020304" pitchFamily="18" charset="0"/>
              </a:rPr>
              <a:t>4</a:t>
            </a:r>
            <a:r>
              <a:rPr lang="zh-CN" altLang="en-US" dirty="0">
                <a:solidFill>
                  <a:schemeClr val="tx1"/>
                </a:solidFill>
                <a:latin typeface="Times New Roman" panose="02020603050405020304" pitchFamily="18" charset="0"/>
                <a:cs typeface="Times New Roman" panose="02020603050405020304" pitchFamily="18" charset="0"/>
              </a:rPr>
              <a:t>个二极管首尾相接构成环形，这就是环形调制器。</a:t>
            </a:r>
          </a:p>
        </p:txBody>
      </p:sp>
      <p:grpSp>
        <p:nvGrpSpPr>
          <p:cNvPr id="10" name="Group 20">
            <a:extLst>
              <a:ext uri="{FF2B5EF4-FFF2-40B4-BE49-F238E27FC236}">
                <a16:creationId xmlns="" xmlns:a16="http://schemas.microsoft.com/office/drawing/2014/main" id="{84571A5B-C4EE-23ED-CF21-4381902564C0}"/>
              </a:ext>
            </a:extLst>
          </p:cNvPr>
          <p:cNvGrpSpPr>
            <a:grpSpLocks/>
          </p:cNvGrpSpPr>
          <p:nvPr/>
        </p:nvGrpSpPr>
        <p:grpSpPr bwMode="auto">
          <a:xfrm>
            <a:off x="6111694" y="1250523"/>
            <a:ext cx="2951162" cy="2511690"/>
            <a:chOff x="4007" y="1003"/>
            <a:chExt cx="1678" cy="1538"/>
          </a:xfrm>
        </p:grpSpPr>
        <p:graphicFrame>
          <p:nvGraphicFramePr>
            <p:cNvPr id="11" name="Object 1025">
              <a:extLst>
                <a:ext uri="{FF2B5EF4-FFF2-40B4-BE49-F238E27FC236}">
                  <a16:creationId xmlns="" xmlns:a16="http://schemas.microsoft.com/office/drawing/2014/main" id="{176F2A86-0DDD-FC14-8098-C35D8AB93C75}"/>
                </a:ext>
              </a:extLst>
            </p:cNvPr>
            <p:cNvGraphicFramePr>
              <a:graphicFrameLocks/>
            </p:cNvGraphicFramePr>
            <p:nvPr>
              <p:extLst>
                <p:ext uri="{D42A27DB-BD31-4B8C-83A1-F6EECF244321}">
                  <p14:modId xmlns:p14="http://schemas.microsoft.com/office/powerpoint/2010/main" val="4021460063"/>
                </p:ext>
              </p:extLst>
            </p:nvPr>
          </p:nvGraphicFramePr>
          <p:xfrm>
            <a:off x="4007" y="1003"/>
            <a:ext cx="1678" cy="1383"/>
          </p:xfrm>
          <a:graphic>
            <a:graphicData uri="http://schemas.openxmlformats.org/presentationml/2006/ole">
              <mc:AlternateContent xmlns:mc="http://schemas.openxmlformats.org/markup-compatibility/2006">
                <mc:Choice xmlns:v="urn:schemas-microsoft-com:vml" Requires="v">
                  <p:oleObj spid="_x0000_s176194" r:id="rId3" imgW="2881440" imgH="2329560" progId="Word.Picture.8">
                    <p:embed/>
                  </p:oleObj>
                </mc:Choice>
                <mc:Fallback>
                  <p:oleObj r:id="rId3" imgW="2881440" imgH="2329560" progId="Word.Picture.8">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07" y="1003"/>
                          <a:ext cx="1678" cy="1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2" name="Text Box 8">
              <a:extLst>
                <a:ext uri="{FF2B5EF4-FFF2-40B4-BE49-F238E27FC236}">
                  <a16:creationId xmlns="" xmlns:a16="http://schemas.microsoft.com/office/drawing/2014/main" id="{8BB446DB-E9EC-4BC0-5341-DE3719E33F23}"/>
                </a:ext>
              </a:extLst>
            </p:cNvPr>
            <p:cNvSpPr txBox="1">
              <a:spLocks noChangeArrowheads="1"/>
            </p:cNvSpPr>
            <p:nvPr/>
          </p:nvSpPr>
          <p:spPr bwMode="auto">
            <a:xfrm>
              <a:off x="4353" y="2315"/>
              <a:ext cx="1321"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dirty="0">
                  <a:latin typeface="Times New Roman" panose="02020603050405020304" pitchFamily="18" charset="0"/>
                  <a:cs typeface="Times New Roman" panose="02020603050405020304" pitchFamily="18" charset="0"/>
                </a:rPr>
                <a:t>环形调制器</a:t>
              </a:r>
              <a:r>
                <a:rPr lang="zh-CN" altLang="en-US" dirty="0">
                  <a:solidFill>
                    <a:schemeClr val="tx1"/>
                  </a:solidFill>
                  <a:latin typeface="Times New Roman" panose="02020603050405020304" pitchFamily="18" charset="0"/>
                  <a:cs typeface="Times New Roman" panose="02020603050405020304" pitchFamily="18" charset="0"/>
                </a:rPr>
                <a:t>原理图</a:t>
              </a:r>
            </a:p>
          </p:txBody>
        </p:sp>
      </p:grpSp>
      <p:graphicFrame>
        <p:nvGraphicFramePr>
          <p:cNvPr id="13" name="Object 1024">
            <a:extLst>
              <a:ext uri="{FF2B5EF4-FFF2-40B4-BE49-F238E27FC236}">
                <a16:creationId xmlns="" xmlns:a16="http://schemas.microsoft.com/office/drawing/2014/main" id="{9A901159-04BA-9CF1-67A0-C05FA300E474}"/>
              </a:ext>
            </a:extLst>
          </p:cNvPr>
          <p:cNvGraphicFramePr>
            <a:graphicFrameLocks/>
          </p:cNvGraphicFramePr>
          <p:nvPr>
            <p:extLst>
              <p:ext uri="{D42A27DB-BD31-4B8C-83A1-F6EECF244321}">
                <p14:modId xmlns:p14="http://schemas.microsoft.com/office/powerpoint/2010/main" val="2263507895"/>
              </p:ext>
            </p:extLst>
          </p:nvPr>
        </p:nvGraphicFramePr>
        <p:xfrm>
          <a:off x="204177" y="2788596"/>
          <a:ext cx="6264129" cy="1737009"/>
        </p:xfrm>
        <a:graphic>
          <a:graphicData uri="http://schemas.openxmlformats.org/presentationml/2006/ole">
            <mc:AlternateContent xmlns:mc="http://schemas.openxmlformats.org/markup-compatibility/2006">
              <mc:Choice xmlns:v="urn:schemas-microsoft-com:vml" Requires="v">
                <p:oleObj spid="_x0000_s176195" r:id="rId5" imgW="6615360" imgH="1915200" progId="Word.Picture.8">
                  <p:embed/>
                </p:oleObj>
              </mc:Choice>
              <mc:Fallback>
                <p:oleObj r:id="rId5" imgW="6615360" imgH="1915200" progId="Word.Picture.8">
                  <p:embed/>
                  <p:pic>
                    <p:nvPicPr>
                      <p:cNvPr id="0" name=""/>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4177" y="2788596"/>
                        <a:ext cx="6264129" cy="1737009"/>
                      </a:xfrm>
                      <a:prstGeom prst="rect">
                        <a:avLst/>
                      </a:prstGeom>
                      <a:noFill/>
                      <a:ln>
                        <a:noFill/>
                      </a:ln>
                      <a:extLst/>
                    </p:spPr>
                  </p:pic>
                </p:oleObj>
              </mc:Fallback>
            </mc:AlternateContent>
          </a:graphicData>
        </a:graphic>
      </p:graphicFrame>
      <p:sp>
        <p:nvSpPr>
          <p:cNvPr id="14" name="Text Box 1030">
            <a:extLst>
              <a:ext uri="{FF2B5EF4-FFF2-40B4-BE49-F238E27FC236}">
                <a16:creationId xmlns="" xmlns:a16="http://schemas.microsoft.com/office/drawing/2014/main" id="{CA29C2DF-AE09-8352-B020-5B3FA282FA5F}"/>
              </a:ext>
            </a:extLst>
          </p:cNvPr>
          <p:cNvSpPr txBox="1">
            <a:spLocks noChangeArrowheads="1"/>
          </p:cNvSpPr>
          <p:nvPr/>
        </p:nvSpPr>
        <p:spPr bwMode="auto">
          <a:xfrm>
            <a:off x="1194776" y="4316126"/>
            <a:ext cx="33115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dirty="0" smtClean="0">
                <a:solidFill>
                  <a:schemeClr val="tx1"/>
                </a:solidFill>
                <a:latin typeface="+mn-ea"/>
                <a:ea typeface="+mn-ea"/>
              </a:rPr>
              <a:t>环型</a:t>
            </a:r>
            <a:r>
              <a:rPr lang="zh-CN" altLang="en-US" dirty="0">
                <a:solidFill>
                  <a:schemeClr val="tx1"/>
                </a:solidFill>
                <a:latin typeface="+mn-ea"/>
                <a:ea typeface="+mn-ea"/>
              </a:rPr>
              <a:t>调制器等效电路</a:t>
            </a:r>
          </a:p>
        </p:txBody>
      </p:sp>
      <p:sp>
        <p:nvSpPr>
          <p:cNvPr id="15" name="Text Box 16">
            <a:extLst>
              <a:ext uri="{FF2B5EF4-FFF2-40B4-BE49-F238E27FC236}">
                <a16:creationId xmlns="" xmlns:a16="http://schemas.microsoft.com/office/drawing/2014/main" id="{70B37857-A21E-95A7-2018-BF96B9F75852}"/>
              </a:ext>
            </a:extLst>
          </p:cNvPr>
          <p:cNvSpPr txBox="1">
            <a:spLocks noChangeArrowheads="1"/>
          </p:cNvSpPr>
          <p:nvPr/>
        </p:nvSpPr>
        <p:spPr bwMode="auto">
          <a:xfrm>
            <a:off x="323850" y="4901737"/>
            <a:ext cx="482441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dirty="0">
                <a:solidFill>
                  <a:schemeClr val="tx1"/>
                </a:solidFill>
                <a:latin typeface="+mn-ea"/>
                <a:ea typeface="+mn-ea"/>
              </a:rPr>
              <a:t>环形调制器输出电流的有用分量</a:t>
            </a:r>
            <a:r>
              <a:rPr lang="en-US" altLang="zh-CN" dirty="0">
                <a:solidFill>
                  <a:schemeClr val="tx1"/>
                </a:solidFill>
                <a:latin typeface="+mn-ea"/>
                <a:ea typeface="+mn-ea"/>
              </a:rPr>
              <a:t>:</a:t>
            </a:r>
          </a:p>
        </p:txBody>
      </p:sp>
      <p:grpSp>
        <p:nvGrpSpPr>
          <p:cNvPr id="16" name="组合 36880">
            <a:extLst>
              <a:ext uri="{FF2B5EF4-FFF2-40B4-BE49-F238E27FC236}">
                <a16:creationId xmlns="" xmlns:a16="http://schemas.microsoft.com/office/drawing/2014/main" id="{40BE8B29-7E4D-66FC-1303-FF6021EB7E8E}"/>
              </a:ext>
            </a:extLst>
          </p:cNvPr>
          <p:cNvGrpSpPr>
            <a:grpSpLocks/>
          </p:cNvGrpSpPr>
          <p:nvPr/>
        </p:nvGrpSpPr>
        <p:grpSpPr bwMode="auto">
          <a:xfrm>
            <a:off x="3754375" y="4761759"/>
            <a:ext cx="5021263" cy="649288"/>
            <a:chOff x="978" y="2125"/>
            <a:chExt cx="3163" cy="409"/>
          </a:xfrm>
        </p:grpSpPr>
        <p:sp>
          <p:nvSpPr>
            <p:cNvPr id="17" name="Text Box 18">
              <a:extLst>
                <a:ext uri="{FF2B5EF4-FFF2-40B4-BE49-F238E27FC236}">
                  <a16:creationId xmlns="" xmlns:a16="http://schemas.microsoft.com/office/drawing/2014/main" id="{7C2FD14F-9445-8BDC-5C04-C34CCA220BF5}"/>
                </a:ext>
              </a:extLst>
            </p:cNvPr>
            <p:cNvSpPr txBox="1">
              <a:spLocks noChangeArrowheads="1"/>
            </p:cNvSpPr>
            <p:nvPr/>
          </p:nvSpPr>
          <p:spPr bwMode="auto">
            <a:xfrm>
              <a:off x="1383" y="2205"/>
              <a:ext cx="275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000" b="0" dirty="0">
                  <a:solidFill>
                    <a:schemeClr val="tx1"/>
                  </a:solidFill>
                  <a:latin typeface="Times New Roman" panose="02020603050405020304" pitchFamily="18" charset="0"/>
                  <a:cs typeface="Times New Roman" panose="02020603050405020304" pitchFamily="18" charset="0"/>
                </a:rPr>
                <a:t>=   </a:t>
              </a:r>
              <a:r>
                <a:rPr lang="en-US" altLang="zh-CN" sz="2000" b="0" dirty="0" smtClean="0">
                  <a:solidFill>
                    <a:schemeClr val="tx1"/>
                  </a:solidFill>
                  <a:latin typeface="Times New Roman" panose="02020603050405020304" pitchFamily="18" charset="0"/>
                  <a:cs typeface="Times New Roman" panose="02020603050405020304" pitchFamily="18" charset="0"/>
                </a:rPr>
                <a:t> </a:t>
              </a:r>
              <a:r>
                <a:rPr lang="en-US" altLang="zh-CN" sz="2000" b="0" dirty="0" err="1" smtClean="0">
                  <a:solidFill>
                    <a:schemeClr val="tx1"/>
                  </a:solidFill>
                  <a:latin typeface="Times New Roman" panose="02020603050405020304" pitchFamily="18" charset="0"/>
                  <a:cs typeface="Times New Roman" panose="02020603050405020304" pitchFamily="18" charset="0"/>
                </a:rPr>
                <a:t>g</a:t>
              </a:r>
              <a:r>
                <a:rPr lang="en-US" altLang="zh-CN" sz="2000" b="0" baseline="-25000" dirty="0" err="1" smtClean="0">
                  <a:solidFill>
                    <a:schemeClr val="tx1"/>
                  </a:solidFill>
                  <a:latin typeface="Times New Roman" panose="02020603050405020304" pitchFamily="18" charset="0"/>
                  <a:cs typeface="Times New Roman" panose="02020603050405020304" pitchFamily="18" charset="0"/>
                </a:rPr>
                <a:t>D</a:t>
              </a:r>
              <a:r>
                <a:rPr lang="en-US" altLang="zh-CN" sz="2000" b="0" dirty="0" err="1" smtClean="0">
                  <a:solidFill>
                    <a:schemeClr val="tx1"/>
                  </a:solidFill>
                  <a:latin typeface="Times New Roman" panose="02020603050405020304" pitchFamily="18" charset="0"/>
                  <a:cs typeface="Times New Roman" panose="02020603050405020304" pitchFamily="18" charset="0"/>
                </a:rPr>
                <a:t>V</a:t>
              </a:r>
              <a:r>
                <a:rPr lang="en-US" altLang="zh-CN" sz="2000" b="0" baseline="-2500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000" b="0" dirty="0">
                  <a:solidFill>
                    <a:schemeClr val="tx1"/>
                  </a:solidFill>
                  <a:latin typeface="Times New Roman" panose="02020603050405020304" pitchFamily="18" charset="0"/>
                  <a:cs typeface="Times New Roman" panose="02020603050405020304" pitchFamily="18" charset="0"/>
                </a:rPr>
                <a:t>[cos(</a:t>
              </a:r>
              <a:r>
                <a:rPr lang="en-US" altLang="zh-CN" sz="2000" b="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000" b="0" baseline="-25000" dirty="0">
                  <a:solidFill>
                    <a:schemeClr val="tx1"/>
                  </a:solidFill>
                  <a:latin typeface="Times New Roman" panose="02020603050405020304" pitchFamily="18" charset="0"/>
                  <a:cs typeface="Times New Roman" panose="02020603050405020304" pitchFamily="18" charset="0"/>
                </a:rPr>
                <a:t>0</a:t>
              </a:r>
              <a:r>
                <a:rPr lang="en-US" altLang="zh-CN" sz="2000" b="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000" b="0" dirty="0">
                  <a:solidFill>
                    <a:schemeClr val="tx1"/>
                  </a:solidFill>
                  <a:latin typeface="Times New Roman" panose="02020603050405020304" pitchFamily="18" charset="0"/>
                  <a:cs typeface="Times New Roman" panose="02020603050405020304" pitchFamily="18" charset="0"/>
                </a:rPr>
                <a:t>)</a:t>
              </a:r>
              <a:r>
                <a:rPr lang="en-US" altLang="zh-CN" sz="2000" b="0" dirty="0" err="1">
                  <a:solidFill>
                    <a:schemeClr val="tx1"/>
                  </a:solidFill>
                  <a:latin typeface="Times New Roman" panose="02020603050405020304" pitchFamily="18" charset="0"/>
                  <a:cs typeface="Times New Roman" panose="02020603050405020304" pitchFamily="18" charset="0"/>
                </a:rPr>
                <a:t>t+cos</a:t>
              </a:r>
              <a:r>
                <a:rPr lang="en-US" altLang="zh-CN" sz="2000" b="0" dirty="0">
                  <a:solidFill>
                    <a:schemeClr val="tx1"/>
                  </a:solidFill>
                  <a:latin typeface="Times New Roman" panose="02020603050405020304" pitchFamily="18" charset="0"/>
                  <a:cs typeface="Times New Roman" panose="02020603050405020304" pitchFamily="18" charset="0"/>
                </a:rPr>
                <a:t>(</a:t>
              </a:r>
              <a:r>
                <a:rPr lang="en-US" altLang="zh-CN" sz="2000" b="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000" b="0" baseline="-25000" dirty="0">
                  <a:solidFill>
                    <a:schemeClr val="tx1"/>
                  </a:solidFill>
                  <a:latin typeface="Times New Roman" panose="02020603050405020304" pitchFamily="18" charset="0"/>
                  <a:cs typeface="Times New Roman" panose="02020603050405020304" pitchFamily="18" charset="0"/>
                </a:rPr>
                <a:t>0</a:t>
              </a:r>
              <a:r>
                <a:rPr lang="en-US" altLang="zh-CN" sz="2000" b="0" dirty="0">
                  <a:solidFill>
                    <a:schemeClr val="tx1"/>
                  </a:solidFill>
                  <a:latin typeface="Times New Roman" panose="02020603050405020304" pitchFamily="18" charset="0"/>
                  <a:cs typeface="Times New Roman" panose="02020603050405020304" pitchFamily="18" charset="0"/>
                </a:rPr>
                <a:t>–</a:t>
              </a:r>
              <a:r>
                <a:rPr lang="en-US" altLang="zh-CN" sz="2000" b="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000" b="0" dirty="0">
                  <a:solidFill>
                    <a:schemeClr val="tx1"/>
                  </a:solidFill>
                  <a:latin typeface="Times New Roman" panose="02020603050405020304" pitchFamily="18" charset="0"/>
                  <a:cs typeface="Times New Roman" panose="02020603050405020304" pitchFamily="18" charset="0"/>
                </a:rPr>
                <a:t>)t]</a:t>
              </a:r>
            </a:p>
          </p:txBody>
        </p:sp>
        <p:graphicFrame>
          <p:nvGraphicFramePr>
            <p:cNvPr id="18" name="Object 1027">
              <a:extLst>
                <a:ext uri="{FF2B5EF4-FFF2-40B4-BE49-F238E27FC236}">
                  <a16:creationId xmlns="" xmlns:a16="http://schemas.microsoft.com/office/drawing/2014/main" id="{F0C848F3-2BE4-B23D-6CB3-42668565C904}"/>
                </a:ext>
              </a:extLst>
            </p:cNvPr>
            <p:cNvGraphicFramePr>
              <a:graphicFrameLocks/>
            </p:cNvGraphicFramePr>
            <p:nvPr>
              <p:extLst>
                <p:ext uri="{D42A27DB-BD31-4B8C-83A1-F6EECF244321}">
                  <p14:modId xmlns:p14="http://schemas.microsoft.com/office/powerpoint/2010/main" val="4134516615"/>
                </p:ext>
              </p:extLst>
            </p:nvPr>
          </p:nvGraphicFramePr>
          <p:xfrm>
            <a:off x="978" y="2161"/>
            <a:ext cx="389" cy="338"/>
          </p:xfrm>
          <a:graphic>
            <a:graphicData uri="http://schemas.openxmlformats.org/presentationml/2006/ole">
              <mc:AlternateContent xmlns:mc="http://schemas.openxmlformats.org/markup-compatibility/2006">
                <mc:Choice xmlns:v="urn:schemas-microsoft-com:vml" Requires="v">
                  <p:oleObj spid="_x0000_s176196" r:id="rId7" imgW="317225" imgH="241091" progId="Equation.3">
                    <p:embed/>
                  </p:oleObj>
                </mc:Choice>
                <mc:Fallback>
                  <p:oleObj r:id="rId7" imgW="317225" imgH="241091" progId="Equation.3">
                    <p:embed/>
                    <p:pic>
                      <p:nvPicPr>
                        <p:cNvPr id="0" name=""/>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78" y="2161"/>
                          <a:ext cx="389" cy="338"/>
                        </a:xfrm>
                        <a:prstGeom prst="rect">
                          <a:avLst/>
                        </a:prstGeom>
                        <a:noFill/>
                        <a:ln>
                          <a:noFill/>
                        </a:ln>
                        <a:extLst/>
                      </p:spPr>
                    </p:pic>
                  </p:oleObj>
                </mc:Fallback>
              </mc:AlternateContent>
            </a:graphicData>
          </a:graphic>
        </p:graphicFrame>
        <p:graphicFrame>
          <p:nvGraphicFramePr>
            <p:cNvPr id="19" name="Object 1028">
              <a:extLst>
                <a:ext uri="{FF2B5EF4-FFF2-40B4-BE49-F238E27FC236}">
                  <a16:creationId xmlns="" xmlns:a16="http://schemas.microsoft.com/office/drawing/2014/main" id="{1A41F10F-B5F3-97C0-E363-A610D11B3BC1}"/>
                </a:ext>
              </a:extLst>
            </p:cNvPr>
            <p:cNvGraphicFramePr>
              <a:graphicFrameLocks/>
            </p:cNvGraphicFramePr>
            <p:nvPr>
              <p:extLst>
                <p:ext uri="{D42A27DB-BD31-4B8C-83A1-F6EECF244321}">
                  <p14:modId xmlns:p14="http://schemas.microsoft.com/office/powerpoint/2010/main" val="4130611031"/>
                </p:ext>
              </p:extLst>
            </p:nvPr>
          </p:nvGraphicFramePr>
          <p:xfrm>
            <a:off x="1545" y="2125"/>
            <a:ext cx="132" cy="409"/>
          </p:xfrm>
          <a:graphic>
            <a:graphicData uri="http://schemas.openxmlformats.org/presentationml/2006/ole">
              <mc:AlternateContent xmlns:mc="http://schemas.openxmlformats.org/markup-compatibility/2006">
                <mc:Choice xmlns:v="urn:schemas-microsoft-com:vml" Requires="v">
                  <p:oleObj spid="_x0000_s176197" r:id="rId9" imgW="152268" imgH="393359" progId="Equation.3">
                    <p:embed/>
                  </p:oleObj>
                </mc:Choice>
                <mc:Fallback>
                  <p:oleObj r:id="rId9" imgW="152268" imgH="393359" progId="Equation.3">
                    <p:embed/>
                    <p:pic>
                      <p:nvPicPr>
                        <p:cNvPr id="0" name=""/>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545" y="2125"/>
                          <a:ext cx="132" cy="4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
        <p:nvSpPr>
          <p:cNvPr id="20" name="Text Box 21">
            <a:extLst>
              <a:ext uri="{FF2B5EF4-FFF2-40B4-BE49-F238E27FC236}">
                <a16:creationId xmlns="" xmlns:a16="http://schemas.microsoft.com/office/drawing/2014/main" id="{D3472FE7-3A0B-0508-0AD5-13A53AACD450}"/>
              </a:ext>
            </a:extLst>
          </p:cNvPr>
          <p:cNvSpPr txBox="1">
            <a:spLocks noChangeArrowheads="1"/>
          </p:cNvSpPr>
          <p:nvPr/>
        </p:nvSpPr>
        <p:spPr bwMode="auto">
          <a:xfrm>
            <a:off x="323850" y="5569630"/>
            <a:ext cx="82073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dirty="0" smtClean="0">
                <a:solidFill>
                  <a:schemeClr val="tx1"/>
                </a:solidFill>
                <a:latin typeface="+mn-ea"/>
                <a:ea typeface="+mn-ea"/>
              </a:rPr>
              <a:t>振幅</a:t>
            </a:r>
            <a:r>
              <a:rPr lang="zh-CN" altLang="en-US" dirty="0">
                <a:solidFill>
                  <a:schemeClr val="tx1"/>
                </a:solidFill>
                <a:latin typeface="+mn-ea"/>
                <a:ea typeface="+mn-ea"/>
              </a:rPr>
              <a:t>比平衡调制器提高了一倍，并抑制了低频</a:t>
            </a:r>
            <a:r>
              <a:rPr lang="zh-CN" altLang="en-US" dirty="0">
                <a:solidFill>
                  <a:schemeClr val="tx1"/>
                </a:solidFill>
                <a:latin typeface="+mn-ea"/>
                <a:ea typeface="+mn-ea"/>
                <a:sym typeface="Symbol" panose="05050102010706020507" pitchFamily="18" charset="2"/>
              </a:rPr>
              <a:t></a:t>
            </a:r>
            <a:r>
              <a:rPr lang="zh-CN" altLang="en-US" dirty="0">
                <a:solidFill>
                  <a:schemeClr val="tx1"/>
                </a:solidFill>
                <a:latin typeface="+mn-ea"/>
                <a:ea typeface="+mn-ea"/>
              </a:rPr>
              <a:t>分量</a:t>
            </a:r>
            <a:r>
              <a:rPr lang="zh-CN" altLang="en-US" dirty="0" smtClean="0">
                <a:solidFill>
                  <a:schemeClr val="tx1"/>
                </a:solidFill>
                <a:latin typeface="+mn-ea"/>
                <a:ea typeface="+mn-ea"/>
              </a:rPr>
              <a:t>，因而</a:t>
            </a:r>
            <a:r>
              <a:rPr lang="zh-CN" altLang="en-US" dirty="0">
                <a:solidFill>
                  <a:schemeClr val="tx1"/>
                </a:solidFill>
                <a:latin typeface="+mn-ea"/>
                <a:ea typeface="+mn-ea"/>
              </a:rPr>
              <a:t>获得了广泛应用。</a:t>
            </a:r>
          </a:p>
        </p:txBody>
      </p:sp>
    </p:spTree>
    <p:extLst>
      <p:ext uri="{BB962C8B-B14F-4D97-AF65-F5344CB8AC3E}">
        <p14:creationId xmlns:p14="http://schemas.microsoft.com/office/powerpoint/2010/main" val="2546627796"/>
      </p:ext>
    </p:extLst>
  </p:cSld>
  <p:clrMapOvr>
    <a:masterClrMapping/>
  </p:clrMapOvr>
  <p:timing>
    <p:tnLst>
      <p:par>
        <p:cTn id="1" dur="indefinite" restart="never" nodeType="tmRoot"/>
      </p:par>
    </p:tnLst>
  </p:timing>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224</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6.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振幅调制</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与</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解调</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Rectangle 2053">
            <a:extLst>
              <a:ext uri="{FF2B5EF4-FFF2-40B4-BE49-F238E27FC236}">
                <a16:creationId xmlns="" xmlns:a16="http://schemas.microsoft.com/office/drawing/2014/main" id="{420EE7DD-4C7C-BFEA-B0A8-3F683F9BE803}"/>
              </a:ext>
            </a:extLst>
          </p:cNvPr>
          <p:cNvSpPr>
            <a:spLocks noChangeArrowheads="1"/>
          </p:cNvSpPr>
          <p:nvPr/>
        </p:nvSpPr>
        <p:spPr bwMode="auto">
          <a:xfrm>
            <a:off x="1377718" y="2186546"/>
            <a:ext cx="7423546"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000" dirty="0">
                <a:latin typeface="Times New Roman" panose="02020603050405020304" pitchFamily="18" charset="0"/>
                <a:cs typeface="Times New Roman" panose="02020603050405020304" pitchFamily="18" charset="0"/>
              </a:rPr>
              <a:t>单边带通信设备复杂、价格昂贵</a:t>
            </a:r>
            <a:r>
              <a:rPr lang="zh-CN" altLang="en-US" sz="2000" dirty="0" smtClean="0">
                <a:latin typeface="Times New Roman" panose="02020603050405020304" pitchFamily="18" charset="0"/>
                <a:cs typeface="Times New Roman" panose="02020603050405020304" pitchFamily="18" charset="0"/>
              </a:rPr>
              <a:t>，收</a:t>
            </a:r>
            <a:r>
              <a:rPr lang="zh-CN" altLang="en-US" sz="2000" dirty="0">
                <a:latin typeface="Times New Roman" panose="02020603050405020304" pitchFamily="18" charset="0"/>
                <a:cs typeface="Times New Roman" panose="02020603050405020304" pitchFamily="18" charset="0"/>
              </a:rPr>
              <a:t>发信机需要很高的频率稳定度及其它技术措施。</a:t>
            </a:r>
          </a:p>
        </p:txBody>
      </p:sp>
      <p:sp>
        <p:nvSpPr>
          <p:cNvPr id="6" name="Rectangle 2054">
            <a:extLst>
              <a:ext uri="{FF2B5EF4-FFF2-40B4-BE49-F238E27FC236}">
                <a16:creationId xmlns="" xmlns:a16="http://schemas.microsoft.com/office/drawing/2014/main" id="{886CCB50-4872-9882-4AF2-DB6A7A75E6D6}"/>
              </a:ext>
            </a:extLst>
          </p:cNvPr>
          <p:cNvSpPr>
            <a:spLocks noChangeArrowheads="1"/>
          </p:cNvSpPr>
          <p:nvPr/>
        </p:nvSpPr>
        <p:spPr bwMode="auto">
          <a:xfrm>
            <a:off x="3391510" y="1126105"/>
            <a:ext cx="146706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dirty="0">
                <a:latin typeface="Times New Roman" panose="02020603050405020304" pitchFamily="18" charset="0"/>
                <a:cs typeface="Times New Roman" panose="02020603050405020304" pitchFamily="18" charset="0"/>
              </a:rPr>
              <a:t>单边带通信</a:t>
            </a:r>
          </a:p>
        </p:txBody>
      </p:sp>
      <p:sp>
        <p:nvSpPr>
          <p:cNvPr id="7" name="Rectangle 2055">
            <a:extLst>
              <a:ext uri="{FF2B5EF4-FFF2-40B4-BE49-F238E27FC236}">
                <a16:creationId xmlns="" xmlns:a16="http://schemas.microsoft.com/office/drawing/2014/main" id="{B9B377BF-7126-8582-7BA9-6433AC995979}"/>
              </a:ext>
            </a:extLst>
          </p:cNvPr>
          <p:cNvSpPr>
            <a:spLocks noChangeArrowheads="1"/>
          </p:cNvSpPr>
          <p:nvPr/>
        </p:nvSpPr>
        <p:spPr bwMode="auto">
          <a:xfrm>
            <a:off x="609559" y="1502320"/>
            <a:ext cx="76815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latin typeface="Times New Roman" panose="02020603050405020304" pitchFamily="18" charset="0"/>
                <a:cs typeface="Times New Roman" panose="02020603050405020304" pitchFamily="18" charset="0"/>
              </a:rPr>
              <a:t>优点</a:t>
            </a:r>
            <a:r>
              <a:rPr lang="en-US" altLang="zh-CN" sz="2000" dirty="0">
                <a:latin typeface="Times New Roman" panose="02020603050405020304" pitchFamily="18" charset="0"/>
                <a:cs typeface="Times New Roman" panose="02020603050405020304" pitchFamily="18" charset="0"/>
              </a:rPr>
              <a:t>:</a:t>
            </a:r>
          </a:p>
        </p:txBody>
      </p:sp>
      <p:sp>
        <p:nvSpPr>
          <p:cNvPr id="8" name="Rectangle 2056">
            <a:extLst>
              <a:ext uri="{FF2B5EF4-FFF2-40B4-BE49-F238E27FC236}">
                <a16:creationId xmlns="" xmlns:a16="http://schemas.microsoft.com/office/drawing/2014/main" id="{FA95507E-D5A9-0CCE-41E7-DD5AAEDDBF6F}"/>
              </a:ext>
            </a:extLst>
          </p:cNvPr>
          <p:cNvSpPr>
            <a:spLocks noChangeArrowheads="1"/>
          </p:cNvSpPr>
          <p:nvPr/>
        </p:nvSpPr>
        <p:spPr bwMode="auto">
          <a:xfrm>
            <a:off x="1377718" y="1463758"/>
            <a:ext cx="7237879"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dirty="0">
                <a:latin typeface="Times New Roman" panose="02020603050405020304" pitchFamily="18" charset="0"/>
                <a:cs typeface="Times New Roman" panose="02020603050405020304" pitchFamily="18" charset="0"/>
              </a:rPr>
              <a:t>1.</a:t>
            </a:r>
            <a:r>
              <a:rPr lang="zh-CN" altLang="en-US" sz="2000" dirty="0">
                <a:latin typeface="Times New Roman" panose="02020603050405020304" pitchFamily="18" charset="0"/>
                <a:cs typeface="Times New Roman" panose="02020603050405020304" pitchFamily="18" charset="0"/>
              </a:rPr>
              <a:t>节约</a:t>
            </a:r>
            <a:r>
              <a:rPr lang="zh-CN" altLang="en-US" sz="2000" dirty="0" smtClean="0">
                <a:latin typeface="Times New Roman" panose="02020603050405020304" pitchFamily="18" charset="0"/>
                <a:cs typeface="Times New Roman" panose="02020603050405020304" pitchFamily="18" charset="0"/>
              </a:rPr>
              <a:t>频带</a:t>
            </a:r>
            <a:r>
              <a:rPr lang="zh-CN" altLang="en-US" sz="2000" dirty="0">
                <a:latin typeface="Times New Roman" panose="02020603050405020304" pitchFamily="18" charset="0"/>
                <a:cs typeface="Times New Roman" panose="02020603050405020304" pitchFamily="18" charset="0"/>
              </a:rPr>
              <a:t>；</a:t>
            </a:r>
            <a:r>
              <a:rPr lang="en-US" altLang="zh-CN" sz="2000" dirty="0" smtClean="0">
                <a:latin typeface="Times New Roman" panose="02020603050405020304" pitchFamily="18" charset="0"/>
                <a:cs typeface="Times New Roman" panose="02020603050405020304" pitchFamily="18" charset="0"/>
              </a:rPr>
              <a:t>2</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节省</a:t>
            </a:r>
            <a:r>
              <a:rPr lang="zh-CN" altLang="en-US" sz="2000" dirty="0" smtClean="0">
                <a:latin typeface="Times New Roman" panose="02020603050405020304" pitchFamily="18" charset="0"/>
                <a:cs typeface="Times New Roman" panose="02020603050405020304" pitchFamily="18" charset="0"/>
              </a:rPr>
              <a:t>功率；</a:t>
            </a:r>
            <a:endParaRPr lang="en-US" altLang="zh-CN" sz="2000" dirty="0" smtClean="0">
              <a:latin typeface="Times New Roman" panose="02020603050405020304" pitchFamily="18" charset="0"/>
              <a:cs typeface="Times New Roman" panose="02020603050405020304" pitchFamily="18" charset="0"/>
            </a:endParaRPr>
          </a:p>
          <a:p>
            <a:r>
              <a:rPr lang="en-US" altLang="zh-CN" sz="2000" dirty="0" smtClean="0">
                <a:latin typeface="Times New Roman" panose="02020603050405020304" pitchFamily="18" charset="0"/>
                <a:cs typeface="Times New Roman" panose="02020603050405020304" pitchFamily="18" charset="0"/>
              </a:rPr>
              <a:t>3</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受传播条件影响</a:t>
            </a:r>
            <a:r>
              <a:rPr lang="zh-CN" altLang="en-US" sz="2000" dirty="0" smtClean="0">
                <a:latin typeface="Times New Roman" panose="02020603050405020304" pitchFamily="18" charset="0"/>
                <a:cs typeface="Times New Roman" panose="02020603050405020304" pitchFamily="18" charset="0"/>
              </a:rPr>
              <a:t>小，抗</a:t>
            </a:r>
            <a:r>
              <a:rPr lang="zh-CN" altLang="en-US" sz="2000" dirty="0">
                <a:latin typeface="Times New Roman" panose="02020603050405020304" pitchFamily="18" charset="0"/>
                <a:cs typeface="Times New Roman" panose="02020603050405020304" pitchFamily="18" charset="0"/>
              </a:rPr>
              <a:t>选择性衰落能力</a:t>
            </a:r>
            <a:r>
              <a:rPr lang="zh-CN" altLang="en-US" sz="2000" dirty="0" smtClean="0">
                <a:latin typeface="Times New Roman" panose="02020603050405020304" pitchFamily="18" charset="0"/>
                <a:cs typeface="Times New Roman" panose="02020603050405020304" pitchFamily="18" charset="0"/>
              </a:rPr>
              <a:t>强；</a:t>
            </a:r>
            <a:r>
              <a:rPr lang="en-US" altLang="zh-CN" sz="2000" dirty="0" smtClean="0">
                <a:latin typeface="Times New Roman" panose="02020603050405020304" pitchFamily="18" charset="0"/>
                <a:cs typeface="Times New Roman" panose="02020603050405020304" pitchFamily="18" charset="0"/>
              </a:rPr>
              <a:t>4</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提高了</a:t>
            </a:r>
            <a:r>
              <a:rPr lang="zh-CN" altLang="en-US" sz="2000" dirty="0" smtClean="0">
                <a:latin typeface="Times New Roman" panose="02020603050405020304" pitchFamily="18" charset="0"/>
                <a:cs typeface="Times New Roman" panose="02020603050405020304" pitchFamily="18" charset="0"/>
              </a:rPr>
              <a:t>信噪比。</a:t>
            </a:r>
            <a:endParaRPr lang="en-US" altLang="zh-CN" sz="2000" dirty="0">
              <a:latin typeface="Times New Roman" panose="02020603050405020304" pitchFamily="18" charset="0"/>
              <a:cs typeface="Times New Roman" panose="02020603050405020304" pitchFamily="18" charset="0"/>
            </a:endParaRPr>
          </a:p>
        </p:txBody>
      </p:sp>
      <p:sp>
        <p:nvSpPr>
          <p:cNvPr id="10" name="Rectangle 2059">
            <a:extLst>
              <a:ext uri="{FF2B5EF4-FFF2-40B4-BE49-F238E27FC236}">
                <a16:creationId xmlns="" xmlns:a16="http://schemas.microsoft.com/office/drawing/2014/main" id="{90A667FE-74EA-AC97-836B-A6ED112CBCCD}"/>
              </a:ext>
            </a:extLst>
          </p:cNvPr>
          <p:cNvSpPr>
            <a:spLocks noChangeArrowheads="1"/>
          </p:cNvSpPr>
          <p:nvPr/>
        </p:nvSpPr>
        <p:spPr bwMode="auto">
          <a:xfrm>
            <a:off x="647495" y="2186546"/>
            <a:ext cx="76815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a:latin typeface="Times New Roman" panose="02020603050405020304" pitchFamily="18" charset="0"/>
                <a:cs typeface="Times New Roman" panose="02020603050405020304" pitchFamily="18" charset="0"/>
              </a:rPr>
              <a:t>缺点</a:t>
            </a:r>
            <a:r>
              <a:rPr lang="en-US" altLang="zh-CN" sz="2000">
                <a:latin typeface="Times New Roman" panose="02020603050405020304" pitchFamily="18" charset="0"/>
                <a:cs typeface="Times New Roman" panose="02020603050405020304" pitchFamily="18" charset="0"/>
              </a:rPr>
              <a:t>:</a:t>
            </a:r>
            <a:endParaRPr lang="zh-CN" altLang="en-US" sz="2000">
              <a:latin typeface="Times New Roman" panose="02020603050405020304" pitchFamily="18" charset="0"/>
              <a:cs typeface="Times New Roman" panose="02020603050405020304" pitchFamily="18" charset="0"/>
            </a:endParaRPr>
          </a:p>
        </p:txBody>
      </p:sp>
      <p:sp>
        <p:nvSpPr>
          <p:cNvPr id="11" name="Text Box 4">
            <a:extLst>
              <a:ext uri="{FF2B5EF4-FFF2-40B4-BE49-F238E27FC236}">
                <a16:creationId xmlns="" xmlns:a16="http://schemas.microsoft.com/office/drawing/2014/main" id="{9A9A8B48-1494-9AE9-2DC4-D1B5CED4458B}"/>
              </a:ext>
            </a:extLst>
          </p:cNvPr>
          <p:cNvSpPr txBox="1">
            <a:spLocks noChangeArrowheads="1"/>
          </p:cNvSpPr>
          <p:nvPr/>
        </p:nvSpPr>
        <p:spPr bwMode="auto">
          <a:xfrm>
            <a:off x="181583" y="2864603"/>
            <a:ext cx="328808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200" dirty="0">
                <a:solidFill>
                  <a:schemeClr val="tx1"/>
                </a:solidFill>
                <a:latin typeface="Times New Roman" panose="02020603050405020304" pitchFamily="18" charset="0"/>
                <a:cs typeface="Times New Roman" panose="02020603050405020304" pitchFamily="18" charset="0"/>
              </a:rPr>
              <a:t>5. </a:t>
            </a:r>
            <a:r>
              <a:rPr lang="zh-CN" altLang="en-US" sz="2200" dirty="0">
                <a:solidFill>
                  <a:schemeClr val="tx1"/>
                </a:solidFill>
                <a:latin typeface="Times New Roman" panose="02020603050405020304" pitchFamily="18" charset="0"/>
                <a:cs typeface="Times New Roman" panose="02020603050405020304" pitchFamily="18" charset="0"/>
              </a:rPr>
              <a:t>产生单边带信号的方法</a:t>
            </a:r>
            <a:endParaRPr lang="zh-CN" altLang="en-US" sz="2200" b="0" dirty="0">
              <a:solidFill>
                <a:schemeClr val="tx1"/>
              </a:solidFill>
              <a:latin typeface="Times New Roman" panose="02020603050405020304" pitchFamily="18" charset="0"/>
              <a:cs typeface="Times New Roman" panose="02020603050405020304" pitchFamily="18" charset="0"/>
            </a:endParaRPr>
          </a:p>
        </p:txBody>
      </p:sp>
      <p:sp>
        <p:nvSpPr>
          <p:cNvPr id="12" name="Text Box 5">
            <a:extLst>
              <a:ext uri="{FF2B5EF4-FFF2-40B4-BE49-F238E27FC236}">
                <a16:creationId xmlns="" xmlns:a16="http://schemas.microsoft.com/office/drawing/2014/main" id="{86CCCF49-F267-A974-4DB4-25B9D85D79FB}"/>
              </a:ext>
            </a:extLst>
          </p:cNvPr>
          <p:cNvSpPr txBox="1">
            <a:spLocks noChangeArrowheads="1"/>
          </p:cNvSpPr>
          <p:nvPr/>
        </p:nvSpPr>
        <p:spPr bwMode="auto">
          <a:xfrm>
            <a:off x="239949" y="3305543"/>
            <a:ext cx="131638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dirty="0">
                <a:latin typeface="Times New Roman" panose="02020603050405020304" pitchFamily="18" charset="0"/>
                <a:cs typeface="Times New Roman" panose="02020603050405020304" pitchFamily="18" charset="0"/>
              </a:rPr>
              <a:t>(1) </a:t>
            </a:r>
            <a:r>
              <a:rPr lang="zh-CN" altLang="en-US" sz="2000" dirty="0">
                <a:latin typeface="Times New Roman" panose="02020603050405020304" pitchFamily="18" charset="0"/>
                <a:cs typeface="Times New Roman" panose="02020603050405020304" pitchFamily="18" charset="0"/>
              </a:rPr>
              <a:t>滤波法</a:t>
            </a:r>
          </a:p>
        </p:txBody>
      </p:sp>
      <p:graphicFrame>
        <p:nvGraphicFramePr>
          <p:cNvPr id="13" name="Object 1024">
            <a:extLst>
              <a:ext uri="{FF2B5EF4-FFF2-40B4-BE49-F238E27FC236}">
                <a16:creationId xmlns="" xmlns:a16="http://schemas.microsoft.com/office/drawing/2014/main" id="{0B4B5105-090B-DEDF-92BD-614175E63066}"/>
              </a:ext>
            </a:extLst>
          </p:cNvPr>
          <p:cNvGraphicFramePr>
            <a:graphicFrameLocks/>
          </p:cNvGraphicFramePr>
          <p:nvPr>
            <p:extLst>
              <p:ext uri="{D42A27DB-BD31-4B8C-83A1-F6EECF244321}">
                <p14:modId xmlns:p14="http://schemas.microsoft.com/office/powerpoint/2010/main" val="4168032551"/>
              </p:ext>
            </p:extLst>
          </p:nvPr>
        </p:nvGraphicFramePr>
        <p:xfrm>
          <a:off x="1878934" y="3187141"/>
          <a:ext cx="5202611" cy="2191445"/>
        </p:xfrm>
        <a:graphic>
          <a:graphicData uri="http://schemas.openxmlformats.org/presentationml/2006/ole">
            <mc:AlternateContent xmlns:mc="http://schemas.openxmlformats.org/markup-compatibility/2006">
              <mc:Choice xmlns:v="urn:schemas-microsoft-com:vml" Requires="v">
                <p:oleObj spid="_x0000_s177168" r:id="rId3" imgW="4754160" imgH="1792080" progId="Word.Picture.8">
                  <p:embed/>
                </p:oleObj>
              </mc:Choice>
              <mc:Fallback>
                <p:oleObj r:id="rId3" imgW="4754160" imgH="1792080" progId="Word.Picture.8">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78934" y="3187141"/>
                        <a:ext cx="5202611" cy="2191445"/>
                      </a:xfrm>
                      <a:prstGeom prst="rect">
                        <a:avLst/>
                      </a:prstGeom>
                      <a:noFill/>
                      <a:ln>
                        <a:noFill/>
                      </a:ln>
                      <a:extLst/>
                    </p:spPr>
                  </p:pic>
                </p:oleObj>
              </mc:Fallback>
            </mc:AlternateContent>
          </a:graphicData>
        </a:graphic>
      </p:graphicFrame>
      <p:sp>
        <p:nvSpPr>
          <p:cNvPr id="14" name="Text Box 9">
            <a:extLst>
              <a:ext uri="{FF2B5EF4-FFF2-40B4-BE49-F238E27FC236}">
                <a16:creationId xmlns="" xmlns:a16="http://schemas.microsoft.com/office/drawing/2014/main" id="{1B971CEB-E13D-C62C-46E2-53380C3C3C5D}"/>
              </a:ext>
            </a:extLst>
          </p:cNvPr>
          <p:cNvSpPr txBox="1">
            <a:spLocks noChangeArrowheads="1"/>
          </p:cNvSpPr>
          <p:nvPr/>
        </p:nvSpPr>
        <p:spPr bwMode="auto">
          <a:xfrm>
            <a:off x="3002913" y="5312322"/>
            <a:ext cx="295465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dirty="0">
                <a:solidFill>
                  <a:schemeClr val="tx1"/>
                </a:solidFill>
                <a:latin typeface="Times New Roman" panose="02020603050405020304" pitchFamily="18" charset="0"/>
                <a:cs typeface="Times New Roman" panose="02020603050405020304" pitchFamily="18" charset="0"/>
              </a:rPr>
              <a:t>    滤波器法实现单边带调制</a:t>
            </a:r>
          </a:p>
        </p:txBody>
      </p:sp>
      <p:sp>
        <p:nvSpPr>
          <p:cNvPr id="15" name="Text Box 14">
            <a:extLst>
              <a:ext uri="{FF2B5EF4-FFF2-40B4-BE49-F238E27FC236}">
                <a16:creationId xmlns="" xmlns:a16="http://schemas.microsoft.com/office/drawing/2014/main" id="{0B98D772-D684-34D7-F252-D26E201AFA68}"/>
              </a:ext>
            </a:extLst>
          </p:cNvPr>
          <p:cNvSpPr txBox="1">
            <a:spLocks noChangeArrowheads="1"/>
          </p:cNvSpPr>
          <p:nvPr/>
        </p:nvSpPr>
        <p:spPr bwMode="auto">
          <a:xfrm>
            <a:off x="239949" y="5681654"/>
            <a:ext cx="8664102"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dirty="0" smtClean="0">
                <a:solidFill>
                  <a:schemeClr val="tx1"/>
                </a:solidFill>
                <a:latin typeface="Times New Roman" panose="02020603050405020304" pitchFamily="18" charset="0"/>
                <a:cs typeface="Times New Roman" panose="02020603050405020304" pitchFamily="18" charset="0"/>
              </a:rPr>
              <a:t>DSB</a:t>
            </a:r>
            <a:r>
              <a:rPr lang="zh-CN" altLang="en-US" dirty="0">
                <a:solidFill>
                  <a:schemeClr val="tx1"/>
                </a:solidFill>
                <a:latin typeface="Times New Roman" panose="02020603050405020304" pitchFamily="18" charset="0"/>
                <a:cs typeface="Times New Roman" panose="02020603050405020304" pitchFamily="18" charset="0"/>
              </a:rPr>
              <a:t>信号经过带通滤波器后，滤除了下边带，就得到了</a:t>
            </a:r>
            <a:r>
              <a:rPr lang="en-US" altLang="zh-CN" dirty="0">
                <a:solidFill>
                  <a:schemeClr val="tx1"/>
                </a:solidFill>
                <a:latin typeface="Times New Roman" panose="02020603050405020304" pitchFamily="18" charset="0"/>
                <a:cs typeface="Times New Roman" panose="02020603050405020304" pitchFamily="18" charset="0"/>
              </a:rPr>
              <a:t>SSB</a:t>
            </a:r>
            <a:r>
              <a:rPr lang="zh-CN" altLang="en-US" dirty="0">
                <a:solidFill>
                  <a:schemeClr val="tx1"/>
                </a:solidFill>
                <a:latin typeface="Times New Roman" panose="02020603050405020304" pitchFamily="18" charset="0"/>
                <a:cs typeface="Times New Roman" panose="02020603050405020304" pitchFamily="18" charset="0"/>
              </a:rPr>
              <a:t>信号。由于</a:t>
            </a:r>
            <a:r>
              <a:rPr lang="zh-CN" altLang="en-US"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baseline="-25000" dirty="0">
                <a:solidFill>
                  <a:schemeClr val="tx1"/>
                </a:solidFill>
                <a:latin typeface="Times New Roman" panose="02020603050405020304" pitchFamily="18" charset="0"/>
                <a:cs typeface="Times New Roman" panose="02020603050405020304" pitchFamily="18" charset="0"/>
              </a:rPr>
              <a:t>0</a:t>
            </a:r>
            <a:r>
              <a:rPr lang="en-US" altLang="zh-CN" dirty="0">
                <a:solidFill>
                  <a:schemeClr val="tx1"/>
                </a:solidFill>
                <a:latin typeface="Times New Roman" panose="02020603050405020304" pitchFamily="18" charset="0"/>
                <a:cs typeface="Times New Roman" panose="02020603050405020304" pitchFamily="18" charset="0"/>
              </a:rPr>
              <a:t>&gt;&gt;</a:t>
            </a:r>
            <a:r>
              <a:rPr lang="en-US" altLang="zh-CN"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baseline="-25000" dirty="0">
                <a:solidFill>
                  <a:schemeClr val="tx1"/>
                </a:solidFill>
                <a:latin typeface="Times New Roman" panose="02020603050405020304" pitchFamily="18" charset="0"/>
                <a:cs typeface="Times New Roman" panose="02020603050405020304" pitchFamily="18" charset="0"/>
              </a:rPr>
              <a:t>max</a:t>
            </a:r>
            <a:r>
              <a:rPr lang="zh-CN" altLang="en-US" dirty="0">
                <a:solidFill>
                  <a:schemeClr val="tx1"/>
                </a:solidFill>
                <a:latin typeface="Times New Roman" panose="02020603050405020304" pitchFamily="18" charset="0"/>
                <a:cs typeface="Times New Roman" panose="02020603050405020304" pitchFamily="18" charset="0"/>
              </a:rPr>
              <a:t>，上、下边带之间的距离很近，要想通过一个边带而滤除另一个边带，就对滤波器提出了严格的要求。</a:t>
            </a:r>
          </a:p>
        </p:txBody>
      </p:sp>
    </p:spTree>
    <p:extLst>
      <p:ext uri="{BB962C8B-B14F-4D97-AF65-F5344CB8AC3E}">
        <p14:creationId xmlns:p14="http://schemas.microsoft.com/office/powerpoint/2010/main" val="754109253"/>
      </p:ext>
    </p:extLst>
  </p:cSld>
  <p:clrMapOvr>
    <a:masterClrMapping/>
  </p:clrMapOvr>
  <p:timing>
    <p:tnLst>
      <p:par>
        <p:cTn id="1" dur="indefinite" restart="never" nodeType="tmRoot"/>
      </p:par>
    </p:tnLst>
  </p:timing>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225</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6.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振幅调制</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与</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解调</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0" name="Text Box 3">
            <a:extLst>
              <a:ext uri="{FF2B5EF4-FFF2-40B4-BE49-F238E27FC236}">
                <a16:creationId xmlns="" xmlns:a16="http://schemas.microsoft.com/office/drawing/2014/main" id="{C3AD66DD-34B2-1405-1402-C2193265606B}"/>
              </a:ext>
            </a:extLst>
          </p:cNvPr>
          <p:cNvSpPr txBox="1">
            <a:spLocks noChangeArrowheads="1"/>
          </p:cNvSpPr>
          <p:nvPr/>
        </p:nvSpPr>
        <p:spPr bwMode="auto">
          <a:xfrm>
            <a:off x="393949" y="1262906"/>
            <a:ext cx="131638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dirty="0">
                <a:latin typeface="Times New Roman" panose="02020603050405020304" pitchFamily="18" charset="0"/>
                <a:cs typeface="Times New Roman" panose="02020603050405020304" pitchFamily="18" charset="0"/>
              </a:rPr>
              <a:t>(2) </a:t>
            </a:r>
            <a:r>
              <a:rPr lang="zh-CN" altLang="en-US" sz="2000" dirty="0">
                <a:latin typeface="Times New Roman" panose="02020603050405020304" pitchFamily="18" charset="0"/>
                <a:cs typeface="Times New Roman" panose="02020603050405020304" pitchFamily="18" charset="0"/>
              </a:rPr>
              <a:t>相移法</a:t>
            </a:r>
          </a:p>
        </p:txBody>
      </p:sp>
      <p:sp>
        <p:nvSpPr>
          <p:cNvPr id="11" name="Text Box 4">
            <a:extLst>
              <a:ext uri="{FF2B5EF4-FFF2-40B4-BE49-F238E27FC236}">
                <a16:creationId xmlns="" xmlns:a16="http://schemas.microsoft.com/office/drawing/2014/main" id="{ACABBCFB-66BD-A9E0-146B-841F9F69597C}"/>
              </a:ext>
            </a:extLst>
          </p:cNvPr>
          <p:cNvSpPr txBox="1">
            <a:spLocks noChangeArrowheads="1"/>
          </p:cNvSpPr>
          <p:nvPr/>
        </p:nvSpPr>
        <p:spPr bwMode="auto">
          <a:xfrm>
            <a:off x="247479" y="1703556"/>
            <a:ext cx="663675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latin typeface="Times New Roman" panose="02020603050405020304" pitchFamily="18" charset="0"/>
                <a:cs typeface="Times New Roman" panose="02020603050405020304" pitchFamily="18" charset="0"/>
              </a:rPr>
              <a:t>相移法是利用移相的方法，消去不需要的边带。如图所示</a:t>
            </a:r>
          </a:p>
        </p:txBody>
      </p:sp>
      <p:graphicFrame>
        <p:nvGraphicFramePr>
          <p:cNvPr id="12" name="Object 1024">
            <a:extLst>
              <a:ext uri="{FF2B5EF4-FFF2-40B4-BE49-F238E27FC236}">
                <a16:creationId xmlns="" xmlns:a16="http://schemas.microsoft.com/office/drawing/2014/main" id="{BBA86EF6-362B-F8FD-1594-98910CA8C02A}"/>
              </a:ext>
            </a:extLst>
          </p:cNvPr>
          <p:cNvGraphicFramePr>
            <a:graphicFrameLocks/>
          </p:cNvGraphicFramePr>
          <p:nvPr>
            <p:extLst>
              <p:ext uri="{D42A27DB-BD31-4B8C-83A1-F6EECF244321}">
                <p14:modId xmlns:p14="http://schemas.microsoft.com/office/powerpoint/2010/main" val="2346859349"/>
              </p:ext>
            </p:extLst>
          </p:nvPr>
        </p:nvGraphicFramePr>
        <p:xfrm>
          <a:off x="4630882" y="2103666"/>
          <a:ext cx="4248150" cy="2039938"/>
        </p:xfrm>
        <a:graphic>
          <a:graphicData uri="http://schemas.openxmlformats.org/presentationml/2006/ole">
            <mc:AlternateContent xmlns:mc="http://schemas.openxmlformats.org/markup-compatibility/2006">
              <mc:Choice xmlns:v="urn:schemas-microsoft-com:vml" Requires="v">
                <p:oleObj spid="_x0000_s178230" r:id="rId3" imgW="4664520" imgH="2184120" progId="Word.Picture.8">
                  <p:embed/>
                </p:oleObj>
              </mc:Choice>
              <mc:Fallback>
                <p:oleObj r:id="rId3" imgW="4664520" imgH="2184120" progId="Word.Picture.8">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30882" y="2103666"/>
                        <a:ext cx="4248150" cy="2039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3" name="Text Box 8">
            <a:extLst>
              <a:ext uri="{FF2B5EF4-FFF2-40B4-BE49-F238E27FC236}">
                <a16:creationId xmlns="" xmlns:a16="http://schemas.microsoft.com/office/drawing/2014/main" id="{3B2FA475-B72E-65D2-0BCB-25286CE55EA9}"/>
              </a:ext>
            </a:extLst>
          </p:cNvPr>
          <p:cNvSpPr txBox="1">
            <a:spLocks noChangeArrowheads="1"/>
          </p:cNvSpPr>
          <p:nvPr/>
        </p:nvSpPr>
        <p:spPr bwMode="auto">
          <a:xfrm>
            <a:off x="5406904" y="4167213"/>
            <a:ext cx="295465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dirty="0">
                <a:latin typeface="Times New Roman" panose="02020603050405020304" pitchFamily="18" charset="0"/>
                <a:cs typeface="Times New Roman" panose="02020603050405020304" pitchFamily="18" charset="0"/>
              </a:rPr>
              <a:t>相移法单边带调制器方框图</a:t>
            </a:r>
          </a:p>
        </p:txBody>
      </p:sp>
      <p:sp>
        <p:nvSpPr>
          <p:cNvPr id="14" name="Text Box 9">
            <a:extLst>
              <a:ext uri="{FF2B5EF4-FFF2-40B4-BE49-F238E27FC236}">
                <a16:creationId xmlns="" xmlns:a16="http://schemas.microsoft.com/office/drawing/2014/main" id="{A828825D-C926-0D9F-7568-DC134FE677FD}"/>
              </a:ext>
            </a:extLst>
          </p:cNvPr>
          <p:cNvSpPr txBox="1">
            <a:spLocks noChangeArrowheads="1"/>
          </p:cNvSpPr>
          <p:nvPr/>
        </p:nvSpPr>
        <p:spPr bwMode="auto">
          <a:xfrm>
            <a:off x="269164" y="2045315"/>
            <a:ext cx="4108799"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000" dirty="0" smtClean="0">
                <a:latin typeface="Times New Roman" panose="02020603050405020304" pitchFamily="18" charset="0"/>
                <a:cs typeface="Times New Roman" panose="02020603050405020304" pitchFamily="18" charset="0"/>
              </a:rPr>
              <a:t>图</a:t>
            </a:r>
            <a:r>
              <a:rPr lang="zh-CN" altLang="en-US" sz="2000" dirty="0">
                <a:latin typeface="Times New Roman" panose="02020603050405020304" pitchFamily="18" charset="0"/>
                <a:cs typeface="Times New Roman" panose="02020603050405020304" pitchFamily="18" charset="0"/>
              </a:rPr>
              <a:t>中两个平衡调幅器的调制信号电压和载波电压都是互相移相</a:t>
            </a:r>
            <a:r>
              <a:rPr lang="en-US" altLang="zh-CN" sz="2000" dirty="0">
                <a:latin typeface="Times New Roman" panose="02020603050405020304" pitchFamily="18" charset="0"/>
                <a:cs typeface="Times New Roman" panose="02020603050405020304" pitchFamily="18" charset="0"/>
              </a:rPr>
              <a:t>90°</a:t>
            </a:r>
            <a:r>
              <a:rPr lang="zh-CN" altLang="en-US" sz="2000" dirty="0">
                <a:latin typeface="Times New Roman" panose="02020603050405020304" pitchFamily="18" charset="0"/>
                <a:cs typeface="Times New Roman" panose="02020603050405020304" pitchFamily="18" charset="0"/>
              </a:rPr>
              <a:t>。</a:t>
            </a:r>
          </a:p>
        </p:txBody>
      </p:sp>
      <p:graphicFrame>
        <p:nvGraphicFramePr>
          <p:cNvPr id="15" name="Object 1025">
            <a:extLst>
              <a:ext uri="{FF2B5EF4-FFF2-40B4-BE49-F238E27FC236}">
                <a16:creationId xmlns="" xmlns:a16="http://schemas.microsoft.com/office/drawing/2014/main" id="{CEDECEB7-6F03-0CD1-1BD8-1E6196C8F566}"/>
              </a:ext>
            </a:extLst>
          </p:cNvPr>
          <p:cNvGraphicFramePr>
            <a:graphicFrameLocks/>
          </p:cNvGraphicFramePr>
          <p:nvPr>
            <p:extLst>
              <p:ext uri="{D42A27DB-BD31-4B8C-83A1-F6EECF244321}">
                <p14:modId xmlns:p14="http://schemas.microsoft.com/office/powerpoint/2010/main" val="3183102409"/>
              </p:ext>
            </p:extLst>
          </p:nvPr>
        </p:nvGraphicFramePr>
        <p:xfrm>
          <a:off x="391784" y="2826628"/>
          <a:ext cx="3733260" cy="1028019"/>
        </p:xfrm>
        <a:graphic>
          <a:graphicData uri="http://schemas.openxmlformats.org/presentationml/2006/ole">
            <mc:AlternateContent xmlns:mc="http://schemas.openxmlformats.org/markup-compatibility/2006">
              <mc:Choice xmlns:v="urn:schemas-microsoft-com:vml" Requires="v">
                <p:oleObj spid="_x0000_s178231" name="Equation" r:id="rId5" imgW="2108160" imgH="545760" progId="Equation.DSMT4">
                  <p:embed/>
                </p:oleObj>
              </mc:Choice>
              <mc:Fallback>
                <p:oleObj name="Equation" r:id="rId5" imgW="2108160" imgH="545760" progId="Equation.DSMT4">
                  <p:embed/>
                  <p:pic>
                    <p:nvPicPr>
                      <p:cNvPr id="0" name=""/>
                      <p:cNvPicPr>
                        <a:picLocks noChangeArrowheads="1"/>
                      </p:cNvPicPr>
                      <p:nvPr/>
                    </p:nvPicPr>
                    <p:blipFill>
                      <a:blip r:embed="rId6"/>
                      <a:srcRect/>
                      <a:stretch>
                        <a:fillRect/>
                      </a:stretch>
                    </p:blipFill>
                    <p:spPr bwMode="auto">
                      <a:xfrm>
                        <a:off x="391784" y="2826628"/>
                        <a:ext cx="3733260" cy="1028019"/>
                      </a:xfrm>
                      <a:prstGeom prst="rect">
                        <a:avLst/>
                      </a:prstGeom>
                      <a:noFill/>
                      <a:ln>
                        <a:noFill/>
                      </a:ln>
                      <a:extLst/>
                    </p:spPr>
                  </p:pic>
                </p:oleObj>
              </mc:Fallback>
            </mc:AlternateContent>
          </a:graphicData>
        </a:graphic>
      </p:graphicFrame>
      <p:graphicFrame>
        <p:nvGraphicFramePr>
          <p:cNvPr id="16" name="Object 1026">
            <a:extLst>
              <a:ext uri="{FF2B5EF4-FFF2-40B4-BE49-F238E27FC236}">
                <a16:creationId xmlns="" xmlns:a16="http://schemas.microsoft.com/office/drawing/2014/main" id="{0C85A331-DC31-A14C-30B4-47D104A278D9}"/>
              </a:ext>
            </a:extLst>
          </p:cNvPr>
          <p:cNvGraphicFramePr>
            <a:graphicFrameLocks/>
          </p:cNvGraphicFramePr>
          <p:nvPr>
            <p:extLst>
              <p:ext uri="{D42A27DB-BD31-4B8C-83A1-F6EECF244321}">
                <p14:modId xmlns:p14="http://schemas.microsoft.com/office/powerpoint/2010/main" val="3734113689"/>
              </p:ext>
            </p:extLst>
          </p:nvPr>
        </p:nvGraphicFramePr>
        <p:xfrm>
          <a:off x="391784" y="3922996"/>
          <a:ext cx="3799056" cy="992888"/>
        </p:xfrm>
        <a:graphic>
          <a:graphicData uri="http://schemas.openxmlformats.org/presentationml/2006/ole">
            <mc:AlternateContent xmlns:mc="http://schemas.openxmlformats.org/markup-compatibility/2006">
              <mc:Choice xmlns:v="urn:schemas-microsoft-com:vml" Requires="v">
                <p:oleObj spid="_x0000_s178232" r:id="rId7" imgW="2297703" imgH="634725" progId="Equation.3">
                  <p:embed/>
                </p:oleObj>
              </mc:Choice>
              <mc:Fallback>
                <p:oleObj r:id="rId7" imgW="2297703" imgH="634725" progId="Equation.3">
                  <p:embed/>
                  <p:pic>
                    <p:nvPicPr>
                      <p:cNvPr id="0" name=""/>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1784" y="3922996"/>
                        <a:ext cx="3799056" cy="992888"/>
                      </a:xfrm>
                      <a:prstGeom prst="rect">
                        <a:avLst/>
                      </a:prstGeom>
                      <a:noFill/>
                      <a:ln>
                        <a:noFill/>
                      </a:ln>
                      <a:extLst/>
                    </p:spPr>
                  </p:pic>
                </p:oleObj>
              </mc:Fallback>
            </mc:AlternateContent>
          </a:graphicData>
        </a:graphic>
      </p:graphicFrame>
      <p:sp>
        <p:nvSpPr>
          <p:cNvPr id="17" name="Text Box 12">
            <a:extLst>
              <a:ext uri="{FF2B5EF4-FFF2-40B4-BE49-F238E27FC236}">
                <a16:creationId xmlns="" xmlns:a16="http://schemas.microsoft.com/office/drawing/2014/main" id="{86697B08-71B2-ACF6-7BD5-2D92AE9EC2A1}"/>
              </a:ext>
            </a:extLst>
          </p:cNvPr>
          <p:cNvSpPr txBox="1">
            <a:spLocks noChangeArrowheads="1"/>
          </p:cNvSpPr>
          <p:nvPr/>
        </p:nvSpPr>
        <p:spPr bwMode="auto">
          <a:xfrm>
            <a:off x="247479" y="4924917"/>
            <a:ext cx="224933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latin typeface="Times New Roman" panose="02020603050405020304" pitchFamily="18" charset="0"/>
                <a:cs typeface="Times New Roman" panose="02020603050405020304" pitchFamily="18" charset="0"/>
              </a:rPr>
              <a:t>因此，输出电压为</a:t>
            </a:r>
          </a:p>
        </p:txBody>
      </p:sp>
      <p:graphicFrame>
        <p:nvGraphicFramePr>
          <p:cNvPr id="18" name="Object 1027">
            <a:extLst>
              <a:ext uri="{FF2B5EF4-FFF2-40B4-BE49-F238E27FC236}">
                <a16:creationId xmlns="" xmlns:a16="http://schemas.microsoft.com/office/drawing/2014/main" id="{DD99239C-7B0E-7355-5007-E2AD17BAF12C}"/>
              </a:ext>
            </a:extLst>
          </p:cNvPr>
          <p:cNvGraphicFramePr>
            <a:graphicFrameLocks/>
          </p:cNvGraphicFramePr>
          <p:nvPr>
            <p:extLst>
              <p:ext uri="{D42A27DB-BD31-4B8C-83A1-F6EECF244321}">
                <p14:modId xmlns:p14="http://schemas.microsoft.com/office/powerpoint/2010/main" val="615956225"/>
              </p:ext>
            </p:extLst>
          </p:nvPr>
        </p:nvGraphicFramePr>
        <p:xfrm>
          <a:off x="2496813" y="4942983"/>
          <a:ext cx="4018387" cy="363977"/>
        </p:xfrm>
        <a:graphic>
          <a:graphicData uri="http://schemas.openxmlformats.org/presentationml/2006/ole">
            <mc:AlternateContent xmlns:mc="http://schemas.openxmlformats.org/markup-compatibility/2006">
              <mc:Choice xmlns:v="urn:schemas-microsoft-com:vml" Requires="v">
                <p:oleObj spid="_x0000_s178233" r:id="rId9" imgW="2133600" imgH="228600" progId="Equation.3">
                  <p:embed/>
                </p:oleObj>
              </mc:Choice>
              <mc:Fallback>
                <p:oleObj r:id="rId9" imgW="2133600" imgH="228600" progId="Equation.3">
                  <p:embed/>
                  <p:pic>
                    <p:nvPicPr>
                      <p:cNvPr id="0" name=""/>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496813" y="4942983"/>
                        <a:ext cx="4018387" cy="363977"/>
                      </a:xfrm>
                      <a:prstGeom prst="rect">
                        <a:avLst/>
                      </a:prstGeom>
                      <a:noFill/>
                      <a:ln>
                        <a:noFill/>
                      </a:ln>
                      <a:extLst/>
                    </p:spPr>
                  </p:pic>
                </p:oleObj>
              </mc:Fallback>
            </mc:AlternateContent>
          </a:graphicData>
        </a:graphic>
      </p:graphicFrame>
      <p:sp>
        <p:nvSpPr>
          <p:cNvPr id="19" name="Text Box 4">
            <a:extLst>
              <a:ext uri="{FF2B5EF4-FFF2-40B4-BE49-F238E27FC236}">
                <a16:creationId xmlns="" xmlns:a16="http://schemas.microsoft.com/office/drawing/2014/main" id="{47325F64-995B-5AFC-9A95-971F9B24C530}"/>
              </a:ext>
            </a:extLst>
          </p:cNvPr>
          <p:cNvSpPr txBox="1">
            <a:spLocks noChangeArrowheads="1"/>
          </p:cNvSpPr>
          <p:nvPr/>
        </p:nvSpPr>
        <p:spPr bwMode="auto">
          <a:xfrm>
            <a:off x="221010" y="5307216"/>
            <a:ext cx="881974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dirty="0" smtClean="0">
                <a:solidFill>
                  <a:schemeClr val="tx1"/>
                </a:solidFill>
                <a:latin typeface="+mn-ea"/>
                <a:ea typeface="+mn-ea"/>
              </a:rPr>
              <a:t>这种</a:t>
            </a:r>
            <a:r>
              <a:rPr lang="zh-CN" altLang="en-US" dirty="0">
                <a:solidFill>
                  <a:schemeClr val="tx1"/>
                </a:solidFill>
                <a:latin typeface="+mn-ea"/>
                <a:ea typeface="+mn-ea"/>
              </a:rPr>
              <a:t>方法原则上能把相距很近的两个边频带分开，而不需要多次重复调制和复杂的滤波器。</a:t>
            </a:r>
          </a:p>
        </p:txBody>
      </p:sp>
      <p:sp>
        <p:nvSpPr>
          <p:cNvPr id="20" name="Text Box 5">
            <a:extLst>
              <a:ext uri="{FF2B5EF4-FFF2-40B4-BE49-F238E27FC236}">
                <a16:creationId xmlns="" xmlns:a16="http://schemas.microsoft.com/office/drawing/2014/main" id="{F143AF1D-87A8-C42E-7DE8-649FDF0D62A1}"/>
              </a:ext>
            </a:extLst>
          </p:cNvPr>
          <p:cNvSpPr txBox="1">
            <a:spLocks noChangeArrowheads="1"/>
          </p:cNvSpPr>
          <p:nvPr/>
        </p:nvSpPr>
        <p:spPr bwMode="auto">
          <a:xfrm>
            <a:off x="221009" y="5880752"/>
            <a:ext cx="881974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dirty="0" smtClean="0">
                <a:solidFill>
                  <a:schemeClr val="tx1"/>
                </a:solidFill>
                <a:latin typeface="+mn-ea"/>
                <a:ea typeface="+mn-ea"/>
              </a:rPr>
              <a:t>但</a:t>
            </a:r>
            <a:r>
              <a:rPr lang="zh-CN" altLang="en-US" dirty="0">
                <a:solidFill>
                  <a:schemeClr val="tx1"/>
                </a:solidFill>
                <a:latin typeface="+mn-ea"/>
                <a:ea typeface="+mn-ea"/>
              </a:rPr>
              <a:t>这种方法要求调制信号的移相网络和载波的移相网络在整个频带范围内，都要准确地移相</a:t>
            </a:r>
            <a:r>
              <a:rPr lang="en-US" altLang="zh-CN" dirty="0">
                <a:solidFill>
                  <a:schemeClr val="tx1"/>
                </a:solidFill>
                <a:latin typeface="+mn-ea"/>
                <a:ea typeface="+mn-ea"/>
              </a:rPr>
              <a:t>90°</a:t>
            </a:r>
            <a:r>
              <a:rPr lang="zh-CN" altLang="en-US" dirty="0">
                <a:solidFill>
                  <a:schemeClr val="tx1"/>
                </a:solidFill>
                <a:latin typeface="+mn-ea"/>
                <a:ea typeface="+mn-ea"/>
              </a:rPr>
              <a:t>。这一点在实际上是很难做到的。</a:t>
            </a:r>
          </a:p>
        </p:txBody>
      </p:sp>
    </p:spTree>
    <p:extLst>
      <p:ext uri="{BB962C8B-B14F-4D97-AF65-F5344CB8AC3E}">
        <p14:creationId xmlns:p14="http://schemas.microsoft.com/office/powerpoint/2010/main" val="1779560345"/>
      </p:ext>
    </p:extLst>
  </p:cSld>
  <p:clrMapOvr>
    <a:masterClrMapping/>
  </p:clrMapOvr>
  <p:timing>
    <p:tnLst>
      <p:par>
        <p:cTn id="1" dur="indefinite" restart="never" nodeType="tmRoot"/>
      </p:par>
    </p:tnLst>
  </p:timing>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226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6.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振幅调制</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与</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解调</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7" name="Text Box 3">
            <a:extLst>
              <a:ext uri="{FF2B5EF4-FFF2-40B4-BE49-F238E27FC236}">
                <a16:creationId xmlns="" xmlns:a16="http://schemas.microsoft.com/office/drawing/2014/main" id="{EAFAC1F5-3D69-D679-1C74-AFFA2046E555}"/>
              </a:ext>
            </a:extLst>
          </p:cNvPr>
          <p:cNvSpPr txBox="1">
            <a:spLocks noChangeArrowheads="1"/>
          </p:cNvSpPr>
          <p:nvPr/>
        </p:nvSpPr>
        <p:spPr bwMode="auto">
          <a:xfrm>
            <a:off x="353988" y="1484784"/>
            <a:ext cx="259878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dirty="0">
                <a:latin typeface="Times New Roman" panose="02020603050405020304" pitchFamily="18" charset="0"/>
                <a:cs typeface="Times New Roman" panose="02020603050405020304" pitchFamily="18" charset="0"/>
              </a:rPr>
              <a:t>(3) </a:t>
            </a:r>
            <a:r>
              <a:rPr lang="zh-CN" altLang="en-US" sz="2000" dirty="0">
                <a:latin typeface="Times New Roman" panose="02020603050405020304" pitchFamily="18" charset="0"/>
                <a:cs typeface="Times New Roman" panose="02020603050405020304" pitchFamily="18" charset="0"/>
              </a:rPr>
              <a:t>修正的移相滤波法</a:t>
            </a:r>
            <a:endParaRPr lang="zh-CN" altLang="en-US" sz="2000" b="0" dirty="0">
              <a:latin typeface="Times New Roman" panose="02020603050405020304" pitchFamily="18" charset="0"/>
              <a:cs typeface="Times New Roman" panose="02020603050405020304" pitchFamily="18" charset="0"/>
            </a:endParaRPr>
          </a:p>
        </p:txBody>
      </p:sp>
      <p:graphicFrame>
        <p:nvGraphicFramePr>
          <p:cNvPr id="8" name="Object 0">
            <a:extLst>
              <a:ext uri="{FF2B5EF4-FFF2-40B4-BE49-F238E27FC236}">
                <a16:creationId xmlns="" xmlns:a16="http://schemas.microsoft.com/office/drawing/2014/main" id="{BD93C79F-BDD9-E8DB-FC12-CC006E551F8E}"/>
              </a:ext>
            </a:extLst>
          </p:cNvPr>
          <p:cNvGraphicFramePr>
            <a:graphicFrameLocks/>
          </p:cNvGraphicFramePr>
          <p:nvPr>
            <p:extLst>
              <p:ext uri="{D42A27DB-BD31-4B8C-83A1-F6EECF244321}">
                <p14:modId xmlns:p14="http://schemas.microsoft.com/office/powerpoint/2010/main" val="81941433"/>
              </p:ext>
            </p:extLst>
          </p:nvPr>
        </p:nvGraphicFramePr>
        <p:xfrm>
          <a:off x="460444" y="1884894"/>
          <a:ext cx="5479288" cy="3345561"/>
        </p:xfrm>
        <a:graphic>
          <a:graphicData uri="http://schemas.openxmlformats.org/presentationml/2006/ole">
            <mc:AlternateContent xmlns:mc="http://schemas.openxmlformats.org/markup-compatibility/2006">
              <mc:Choice xmlns:v="urn:schemas-microsoft-com:vml" Requires="v">
                <p:oleObj spid="_x0000_s179226" r:id="rId3" imgW="4238280" imgH="2266560" progId="Word.Picture.8">
                  <p:embed/>
                </p:oleObj>
              </mc:Choice>
              <mc:Fallback>
                <p:oleObj r:id="rId3" imgW="4238280" imgH="2266560" progId="Word.Picture.8">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0444" y="1884894"/>
                        <a:ext cx="5479288" cy="3345561"/>
                      </a:xfrm>
                      <a:prstGeom prst="rect">
                        <a:avLst/>
                      </a:prstGeom>
                      <a:noFill/>
                      <a:ln>
                        <a:noFill/>
                      </a:ln>
                    </p:spPr>
                  </p:pic>
                </p:oleObj>
              </mc:Fallback>
            </mc:AlternateContent>
          </a:graphicData>
        </a:graphic>
      </p:graphicFrame>
      <p:graphicFrame>
        <p:nvGraphicFramePr>
          <p:cNvPr id="9" name="对象 8">
            <a:extLst>
              <a:ext uri="{FF2B5EF4-FFF2-40B4-BE49-F238E27FC236}">
                <a16:creationId xmlns="" xmlns:a16="http://schemas.microsoft.com/office/drawing/2014/main" id="{F242ABC7-770B-17EA-A74B-1CD3F3BA8878}"/>
              </a:ext>
            </a:extLst>
          </p:cNvPr>
          <p:cNvGraphicFramePr>
            <a:graphicFrameLocks noChangeAspect="1"/>
          </p:cNvGraphicFramePr>
          <p:nvPr>
            <p:extLst>
              <p:ext uri="{D42A27DB-BD31-4B8C-83A1-F6EECF244321}">
                <p14:modId xmlns:p14="http://schemas.microsoft.com/office/powerpoint/2010/main" val="1084795855"/>
              </p:ext>
            </p:extLst>
          </p:nvPr>
        </p:nvGraphicFramePr>
        <p:xfrm>
          <a:off x="5861571" y="3140967"/>
          <a:ext cx="2382837" cy="451781"/>
        </p:xfrm>
        <a:graphic>
          <a:graphicData uri="http://schemas.openxmlformats.org/presentationml/2006/ole">
            <mc:AlternateContent xmlns:mc="http://schemas.openxmlformats.org/markup-compatibility/2006">
              <mc:Choice xmlns:v="urn:schemas-microsoft-com:vml" Requires="v">
                <p:oleObj spid="_x0000_s179227" name="Equation" r:id="rId5" imgW="2382298" imgH="381254" progId="Equation.DSMT4">
                  <p:embed/>
                </p:oleObj>
              </mc:Choice>
              <mc:Fallback>
                <p:oleObj name="Equation" r:id="rId5" imgW="2382298" imgH="381254" progId="Equation.DSMT4">
                  <p:embed/>
                  <p:pic>
                    <p:nvPicPr>
                      <p:cNvPr id="0" name=""/>
                      <p:cNvPicPr/>
                      <p:nvPr/>
                    </p:nvPicPr>
                    <p:blipFill>
                      <a:blip r:embed="rId6"/>
                      <a:stretch>
                        <a:fillRect/>
                      </a:stretch>
                    </p:blipFill>
                    <p:spPr>
                      <a:xfrm>
                        <a:off x="5861571" y="3140967"/>
                        <a:ext cx="2382837" cy="451781"/>
                      </a:xfrm>
                      <a:prstGeom prst="rect">
                        <a:avLst/>
                      </a:prstGeom>
                    </p:spPr>
                  </p:pic>
                </p:oleObj>
              </mc:Fallback>
            </mc:AlternateContent>
          </a:graphicData>
        </a:graphic>
      </p:graphicFrame>
      <p:sp>
        <p:nvSpPr>
          <p:cNvPr id="10" name="Text Box 9">
            <a:extLst>
              <a:ext uri="{FF2B5EF4-FFF2-40B4-BE49-F238E27FC236}">
                <a16:creationId xmlns="" xmlns:a16="http://schemas.microsoft.com/office/drawing/2014/main" id="{B9EF963E-B6DE-5657-01BB-D33E7B837F5A}"/>
              </a:ext>
            </a:extLst>
          </p:cNvPr>
          <p:cNvSpPr txBox="1">
            <a:spLocks noChangeArrowheads="1"/>
          </p:cNvSpPr>
          <p:nvPr/>
        </p:nvSpPr>
        <p:spPr bwMode="auto">
          <a:xfrm>
            <a:off x="250825" y="5434628"/>
            <a:ext cx="8785671"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a:r>
              <a:rPr lang="zh-CN" altLang="en-US" sz="2000" dirty="0">
                <a:latin typeface="Times New Roman" panose="02020603050405020304" pitchFamily="18" charset="0"/>
                <a:cs typeface="Times New Roman" panose="02020603050405020304" pitchFamily="18" charset="0"/>
              </a:rPr>
              <a:t>    这种方法所需要的</a:t>
            </a:r>
            <a:r>
              <a:rPr lang="en-US" altLang="zh-CN" sz="2000" dirty="0">
                <a:latin typeface="Times New Roman" panose="02020603050405020304" pitchFamily="18" charset="0"/>
                <a:cs typeface="Times New Roman" panose="02020603050405020304" pitchFamily="18" charset="0"/>
              </a:rPr>
              <a:t>90°</a:t>
            </a:r>
            <a:r>
              <a:rPr lang="zh-CN" altLang="en-US" sz="2000" dirty="0">
                <a:latin typeface="Times New Roman" panose="02020603050405020304" pitchFamily="18" charset="0"/>
                <a:cs typeface="Times New Roman" panose="02020603050405020304" pitchFamily="18" charset="0"/>
              </a:rPr>
              <a:t>移相网络工作于固定频率</a:t>
            </a:r>
            <a:r>
              <a:rPr lang="zh-CN" altLang="en-US" sz="20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000" baseline="-25000" dirty="0">
                <a:latin typeface="Times New Roman" panose="02020603050405020304" pitchFamily="18" charset="0"/>
                <a:cs typeface="Times New Roman" panose="02020603050405020304" pitchFamily="18" charset="0"/>
              </a:rPr>
              <a:t>1</a:t>
            </a:r>
            <a:r>
              <a:rPr lang="zh-CN" altLang="en-US" sz="2000" dirty="0">
                <a:latin typeface="Times New Roman" panose="02020603050405020304" pitchFamily="18" charset="0"/>
                <a:cs typeface="Times New Roman" panose="02020603050405020304" pitchFamily="18" charset="0"/>
              </a:rPr>
              <a:t>与</a:t>
            </a:r>
            <a:r>
              <a:rPr lang="zh-CN" altLang="en-US" sz="20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000" baseline="-25000" dirty="0">
                <a:latin typeface="Times New Roman" panose="02020603050405020304" pitchFamily="18" charset="0"/>
                <a:cs typeface="Times New Roman" panose="02020603050405020304" pitchFamily="18" charset="0"/>
              </a:rPr>
              <a:t>2</a:t>
            </a:r>
            <a:r>
              <a:rPr lang="zh-CN" altLang="en-US" sz="2000" dirty="0">
                <a:latin typeface="Times New Roman" panose="02020603050405020304" pitchFamily="18" charset="0"/>
                <a:cs typeface="Times New Roman" panose="02020603050405020304" pitchFamily="18" charset="0"/>
              </a:rPr>
              <a:t>，因此制造和维护都比较简单。它特别适用于小型轻便设备，是一种有发展前途的方法。</a:t>
            </a:r>
          </a:p>
        </p:txBody>
      </p:sp>
    </p:spTree>
    <p:extLst>
      <p:ext uri="{BB962C8B-B14F-4D97-AF65-F5344CB8AC3E}">
        <p14:creationId xmlns:p14="http://schemas.microsoft.com/office/powerpoint/2010/main" val="3679504028"/>
      </p:ext>
    </p:extLst>
  </p:cSld>
  <p:clrMapOvr>
    <a:masterClrMapping/>
  </p:clrMapOvr>
  <p:timing>
    <p:tnLst>
      <p:par>
        <p:cTn id="1" dur="indefinite" restart="never" nodeType="tmRoot"/>
      </p:par>
    </p:tnLst>
  </p:timing>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227</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5"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6.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振幅调制</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与</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解调</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 name="Text Box 22">
            <a:extLst>
              <a:ext uri="{FF2B5EF4-FFF2-40B4-BE49-F238E27FC236}">
                <a16:creationId xmlns="" xmlns:a16="http://schemas.microsoft.com/office/drawing/2014/main" id="{BD4F2F0F-6DC0-F318-8D71-27EF3611C6E3}"/>
              </a:ext>
            </a:extLst>
          </p:cNvPr>
          <p:cNvSpPr txBox="1">
            <a:spLocks noChangeArrowheads="1"/>
          </p:cNvSpPr>
          <p:nvPr/>
        </p:nvSpPr>
        <p:spPr bwMode="auto">
          <a:xfrm>
            <a:off x="323850" y="1340467"/>
            <a:ext cx="4032126"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200" dirty="0">
                <a:latin typeface="Times New Roman" panose="02020603050405020304" pitchFamily="18" charset="0"/>
                <a:cs typeface="Times New Roman" panose="02020603050405020304" pitchFamily="18" charset="0"/>
              </a:rPr>
              <a:t>6.3.2 </a:t>
            </a:r>
            <a:r>
              <a:rPr lang="zh-CN" altLang="en-US" sz="2200" dirty="0">
                <a:latin typeface="Times New Roman" panose="02020603050405020304" pitchFamily="18" charset="0"/>
                <a:cs typeface="Times New Roman" panose="02020603050405020304" pitchFamily="18" charset="0"/>
              </a:rPr>
              <a:t>高电平调幅电路</a:t>
            </a:r>
          </a:p>
        </p:txBody>
      </p:sp>
      <p:sp>
        <p:nvSpPr>
          <p:cNvPr id="7" name="Rectangle 8">
            <a:extLst>
              <a:ext uri="{FF2B5EF4-FFF2-40B4-BE49-F238E27FC236}">
                <a16:creationId xmlns="" xmlns:a16="http://schemas.microsoft.com/office/drawing/2014/main" id="{ABD0D8E7-0A71-E1E1-F5FE-7078E8B27D3B}"/>
              </a:ext>
            </a:extLst>
          </p:cNvPr>
          <p:cNvSpPr>
            <a:spLocks noChangeArrowheads="1"/>
          </p:cNvSpPr>
          <p:nvPr/>
        </p:nvSpPr>
        <p:spPr bwMode="auto">
          <a:xfrm>
            <a:off x="323850" y="1850410"/>
            <a:ext cx="83581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p>
            <a:pPr>
              <a:spcBef>
                <a:spcPct val="50000"/>
              </a:spcBef>
            </a:pPr>
            <a:r>
              <a:rPr lang="zh-CN" altLang="en-US" sz="2000" dirty="0">
                <a:latin typeface="Times New Roman" panose="02020603050405020304" pitchFamily="18" charset="0"/>
                <a:cs typeface="Times New Roman" panose="02020603050405020304" pitchFamily="18" charset="0"/>
              </a:rPr>
              <a:t>    高电平调幅电路能同时实现调制和功率放大，即用调制信号</a:t>
            </a:r>
            <a:r>
              <a:rPr lang="en-US" altLang="zh-CN" sz="2000" i="1" dirty="0" err="1">
                <a:latin typeface="Times New Roman" panose="02020603050405020304" pitchFamily="18" charset="0"/>
                <a:cs typeface="Times New Roman" panose="02020603050405020304" pitchFamily="18" charset="0"/>
              </a:rPr>
              <a:t>v</a:t>
            </a:r>
            <a:r>
              <a:rPr lang="en-US" altLang="zh-CN" sz="2000" baseline="-30000" dirty="0" err="1">
                <a:latin typeface="Times New Roman" panose="02020603050405020304" pitchFamily="18" charset="0"/>
                <a:cs typeface="Times New Roman" panose="02020603050405020304" pitchFamily="18" charset="0"/>
              </a:rPr>
              <a:t>Ω</a:t>
            </a:r>
            <a:r>
              <a:rPr lang="zh-CN" altLang="en-US" sz="2000" dirty="0">
                <a:latin typeface="Times New Roman" panose="02020603050405020304" pitchFamily="18" charset="0"/>
                <a:cs typeface="Times New Roman" panose="02020603050405020304" pitchFamily="18" charset="0"/>
              </a:rPr>
              <a:t>去控制谐振功率放大器的输出信号的幅度</a:t>
            </a:r>
            <a:r>
              <a:rPr lang="en-US" altLang="zh-CN" sz="2000" i="1" dirty="0" err="1">
                <a:latin typeface="Times New Roman" panose="02020603050405020304" pitchFamily="18" charset="0"/>
                <a:cs typeface="Times New Roman" panose="02020603050405020304" pitchFamily="18" charset="0"/>
              </a:rPr>
              <a:t>V</a:t>
            </a:r>
            <a:r>
              <a:rPr lang="en-US" altLang="zh-CN" sz="2000" baseline="-25000" dirty="0" err="1">
                <a:latin typeface="Times New Roman" panose="02020603050405020304" pitchFamily="18" charset="0"/>
                <a:cs typeface="Times New Roman" panose="02020603050405020304" pitchFamily="18" charset="0"/>
              </a:rPr>
              <a:t>cm</a:t>
            </a:r>
            <a:r>
              <a:rPr lang="zh-CN" altLang="en-US" sz="2000" dirty="0">
                <a:latin typeface="Times New Roman" panose="02020603050405020304" pitchFamily="18" charset="0"/>
                <a:cs typeface="Times New Roman" panose="02020603050405020304" pitchFamily="18" charset="0"/>
              </a:rPr>
              <a:t>来实现调幅的。</a:t>
            </a:r>
          </a:p>
        </p:txBody>
      </p:sp>
      <p:pic>
        <p:nvPicPr>
          <p:cNvPr id="8" name="图片 7">
            <a:extLst>
              <a:ext uri="{FF2B5EF4-FFF2-40B4-BE49-F238E27FC236}">
                <a16:creationId xmlns="" xmlns:a16="http://schemas.microsoft.com/office/drawing/2014/main" id="{338667ED-128C-FD71-115D-BEF9A9156DC9}"/>
              </a:ext>
            </a:extLst>
          </p:cNvPr>
          <p:cNvPicPr>
            <a:picLocks noChangeAspect="1"/>
          </p:cNvPicPr>
          <p:nvPr/>
        </p:nvPicPr>
        <p:blipFill>
          <a:blip r:embed="rId3"/>
          <a:stretch>
            <a:fillRect/>
          </a:stretch>
        </p:blipFill>
        <p:spPr>
          <a:xfrm>
            <a:off x="544801" y="2509808"/>
            <a:ext cx="7358510" cy="2170364"/>
          </a:xfrm>
          <a:prstGeom prst="rect">
            <a:avLst/>
          </a:prstGeom>
        </p:spPr>
      </p:pic>
      <p:sp>
        <p:nvSpPr>
          <p:cNvPr id="9" name="Text Box 10">
            <a:extLst>
              <a:ext uri="{FF2B5EF4-FFF2-40B4-BE49-F238E27FC236}">
                <a16:creationId xmlns="" xmlns:a16="http://schemas.microsoft.com/office/drawing/2014/main" id="{DAD9FC87-2EC0-3C2B-2E9E-C7E319BB951D}"/>
              </a:ext>
            </a:extLst>
          </p:cNvPr>
          <p:cNvSpPr txBox="1">
            <a:spLocks noChangeArrowheads="1"/>
          </p:cNvSpPr>
          <p:nvPr/>
        </p:nvSpPr>
        <p:spPr bwMode="auto">
          <a:xfrm>
            <a:off x="921164" y="4680172"/>
            <a:ext cx="27336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800" dirty="0">
                <a:latin typeface="Times New Roman" panose="02020603050405020304" pitchFamily="18" charset="0"/>
                <a:cs typeface="Times New Roman" panose="02020603050405020304" pitchFamily="18" charset="0"/>
              </a:rPr>
              <a:t>V</a:t>
            </a:r>
            <a:r>
              <a:rPr lang="en-US" altLang="zh-CN" sz="1800" baseline="-25000" dirty="0">
                <a:latin typeface="Times New Roman" panose="02020603050405020304" pitchFamily="18" charset="0"/>
                <a:cs typeface="Times New Roman" panose="02020603050405020304" pitchFamily="18" charset="0"/>
              </a:rPr>
              <a:t>CC</a:t>
            </a:r>
            <a:r>
              <a:rPr lang="zh-CN" altLang="en-US" sz="1800" dirty="0">
                <a:latin typeface="Times New Roman" panose="02020603050405020304" pitchFamily="18" charset="0"/>
                <a:cs typeface="Times New Roman" panose="02020603050405020304" pitchFamily="18" charset="0"/>
              </a:rPr>
              <a:t>对工作状态的影响</a:t>
            </a:r>
          </a:p>
        </p:txBody>
      </p:sp>
      <p:sp>
        <p:nvSpPr>
          <p:cNvPr id="10" name="Rectangle 156">
            <a:extLst>
              <a:ext uri="{FF2B5EF4-FFF2-40B4-BE49-F238E27FC236}">
                <a16:creationId xmlns="" xmlns:a16="http://schemas.microsoft.com/office/drawing/2014/main" id="{DEE00461-BDE8-9361-4518-643DBFD53913}"/>
              </a:ext>
            </a:extLst>
          </p:cNvPr>
          <p:cNvSpPr>
            <a:spLocks noChangeArrowheads="1"/>
          </p:cNvSpPr>
          <p:nvPr/>
        </p:nvSpPr>
        <p:spPr bwMode="auto">
          <a:xfrm>
            <a:off x="5256727" y="4678863"/>
            <a:ext cx="239520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spcBef>
                <a:spcPct val="50000"/>
              </a:spcBef>
            </a:pPr>
            <a:r>
              <a:rPr lang="en-US" altLang="zh-CN" sz="1800" dirty="0" err="1">
                <a:latin typeface="Times New Roman" panose="02020603050405020304" pitchFamily="18" charset="0"/>
                <a:cs typeface="Times New Roman" panose="02020603050405020304" pitchFamily="18" charset="0"/>
              </a:rPr>
              <a:t>V</a:t>
            </a:r>
            <a:r>
              <a:rPr lang="en-US" altLang="zh-CN" sz="1800" baseline="-25000" dirty="0" err="1">
                <a:latin typeface="Times New Roman" panose="02020603050405020304" pitchFamily="18" charset="0"/>
                <a:cs typeface="Times New Roman" panose="02020603050405020304" pitchFamily="18" charset="0"/>
              </a:rPr>
              <a:t>bm</a:t>
            </a:r>
            <a:r>
              <a:rPr lang="zh-CN" altLang="en-US" sz="1800" dirty="0">
                <a:latin typeface="Times New Roman" panose="02020603050405020304" pitchFamily="18" charset="0"/>
                <a:cs typeface="Times New Roman" panose="02020603050405020304" pitchFamily="18" charset="0"/>
              </a:rPr>
              <a:t>对工作状态的影响</a:t>
            </a:r>
          </a:p>
        </p:txBody>
      </p:sp>
      <p:grpSp>
        <p:nvGrpSpPr>
          <p:cNvPr id="11" name="Group 149">
            <a:extLst>
              <a:ext uri="{FF2B5EF4-FFF2-40B4-BE49-F238E27FC236}">
                <a16:creationId xmlns="" xmlns:a16="http://schemas.microsoft.com/office/drawing/2014/main" id="{77DA38C9-10EF-94D0-E032-1947A0C078A4}"/>
              </a:ext>
            </a:extLst>
          </p:cNvPr>
          <p:cNvGrpSpPr>
            <a:grpSpLocks/>
          </p:cNvGrpSpPr>
          <p:nvPr/>
        </p:nvGrpSpPr>
        <p:grpSpPr bwMode="auto">
          <a:xfrm>
            <a:off x="3654839" y="4045062"/>
            <a:ext cx="1639888" cy="781050"/>
            <a:chOff x="2501" y="2803"/>
            <a:chExt cx="1033" cy="492"/>
          </a:xfrm>
        </p:grpSpPr>
        <p:graphicFrame>
          <p:nvGraphicFramePr>
            <p:cNvPr id="12" name="Object 150">
              <a:extLst>
                <a:ext uri="{FF2B5EF4-FFF2-40B4-BE49-F238E27FC236}">
                  <a16:creationId xmlns="" xmlns:a16="http://schemas.microsoft.com/office/drawing/2014/main" id="{AD57CE79-DC0D-2FD6-E2B7-7C3576284584}"/>
                </a:ext>
              </a:extLst>
            </p:cNvPr>
            <p:cNvGraphicFramePr>
              <a:graphicFrameLocks/>
            </p:cNvGraphicFramePr>
            <p:nvPr/>
          </p:nvGraphicFramePr>
          <p:xfrm>
            <a:off x="2501" y="3058"/>
            <a:ext cx="1033" cy="237"/>
          </p:xfrm>
          <a:graphic>
            <a:graphicData uri="http://schemas.openxmlformats.org/presentationml/2006/ole">
              <mc:AlternateContent xmlns:mc="http://schemas.openxmlformats.org/markup-compatibility/2006">
                <mc:Choice xmlns:v="urn:schemas-microsoft-com:vml" Requires="v">
                  <p:oleObj spid="_x0000_s180238" r:id="rId4" imgW="939800" imgH="228600" progId="Equation.3">
                    <p:embed/>
                  </p:oleObj>
                </mc:Choice>
                <mc:Fallback>
                  <p:oleObj r:id="rId4" imgW="939800" imgH="228600" progId="Equation.3">
                    <p:embed/>
                    <p:pic>
                      <p:nvPicPr>
                        <p:cNvPr id="0" name=""/>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01" y="3058"/>
                          <a:ext cx="1033"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3" name="Line 151">
              <a:extLst>
                <a:ext uri="{FF2B5EF4-FFF2-40B4-BE49-F238E27FC236}">
                  <a16:creationId xmlns="" xmlns:a16="http://schemas.microsoft.com/office/drawing/2014/main" id="{02DD4FE5-E7EE-4929-8586-8FCFA6BCE4AF}"/>
                </a:ext>
              </a:extLst>
            </p:cNvPr>
            <p:cNvSpPr>
              <a:spLocks noChangeShapeType="1"/>
            </p:cNvSpPr>
            <p:nvPr/>
          </p:nvSpPr>
          <p:spPr bwMode="auto">
            <a:xfrm flipV="1">
              <a:off x="2921" y="2803"/>
              <a:ext cx="355" cy="308"/>
            </a:xfrm>
            <a:prstGeom prst="line">
              <a:avLst/>
            </a:prstGeom>
            <a:noFill/>
            <a:ln w="28575">
              <a:solidFill>
                <a:schemeClr val="tx1"/>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grpSp>
      <p:sp>
        <p:nvSpPr>
          <p:cNvPr id="14" name="Text Box 159">
            <a:extLst>
              <a:ext uri="{FF2B5EF4-FFF2-40B4-BE49-F238E27FC236}">
                <a16:creationId xmlns="" xmlns:a16="http://schemas.microsoft.com/office/drawing/2014/main" id="{D1A7EC2B-C766-2C4D-5DB0-46EE252C9A09}"/>
              </a:ext>
            </a:extLst>
          </p:cNvPr>
          <p:cNvSpPr txBox="1">
            <a:spLocks noChangeArrowheads="1"/>
          </p:cNvSpPr>
          <p:nvPr/>
        </p:nvSpPr>
        <p:spPr bwMode="auto">
          <a:xfrm>
            <a:off x="611188" y="5229225"/>
            <a:ext cx="7993062"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0000"/>
              </a:lnSpc>
            </a:pPr>
            <a:r>
              <a:rPr lang="zh-CN" altLang="en-US" sz="2000" dirty="0">
                <a:latin typeface="Times New Roman" panose="02020603050405020304" pitchFamily="18" charset="0"/>
                <a:cs typeface="Times New Roman" panose="02020603050405020304" pitchFamily="18" charset="0"/>
              </a:rPr>
              <a:t>　　根据调制信号控制方式的不同，对晶体管而言，高电平调幅又可分为基极调幅和集电极调幅。</a:t>
            </a:r>
          </a:p>
        </p:txBody>
      </p:sp>
    </p:spTree>
    <p:extLst>
      <p:ext uri="{BB962C8B-B14F-4D97-AF65-F5344CB8AC3E}">
        <p14:creationId xmlns:p14="http://schemas.microsoft.com/office/powerpoint/2010/main" val="3533231699"/>
      </p:ext>
    </p:extLst>
  </p:cSld>
  <p:clrMapOvr>
    <a:masterClrMapping/>
  </p:clrMapOvr>
  <p:timing>
    <p:tnLst>
      <p:par>
        <p:cTn id="1" dur="indefinite" restart="never" nodeType="tmRoot"/>
      </p:par>
    </p:tnLst>
  </p:timing>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228</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5"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6.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振幅调制</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与</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解调</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 name="Text Box 4">
            <a:extLst>
              <a:ext uri="{FF2B5EF4-FFF2-40B4-BE49-F238E27FC236}">
                <a16:creationId xmlns="" xmlns:a16="http://schemas.microsoft.com/office/drawing/2014/main" id="{0C6BFD4F-288D-99D1-7CD1-22E851723CB5}"/>
              </a:ext>
            </a:extLst>
          </p:cNvPr>
          <p:cNvSpPr txBox="1">
            <a:spLocks noChangeArrowheads="1"/>
          </p:cNvSpPr>
          <p:nvPr/>
        </p:nvSpPr>
        <p:spPr bwMode="auto">
          <a:xfrm>
            <a:off x="403365" y="1382438"/>
            <a:ext cx="78486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0000"/>
              </a:lnSpc>
            </a:pPr>
            <a:r>
              <a:rPr lang="zh-CN" altLang="en-US" sz="2000" dirty="0" smtClean="0">
                <a:latin typeface="Times New Roman" panose="02020603050405020304" pitchFamily="18" charset="0"/>
                <a:ea typeface="宋体" panose="02010600030101010101" pitchFamily="2" charset="-122"/>
                <a:cs typeface="Times New Roman" panose="02020603050405020304" pitchFamily="18" charset="0"/>
              </a:rPr>
              <a:t>高</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电平调幅电路需要兼顾输出功率、效率和调制线性的要求。最常用的方法是对功放的供电电压进行调制。</a:t>
            </a:r>
          </a:p>
        </p:txBody>
      </p:sp>
      <p:sp>
        <p:nvSpPr>
          <p:cNvPr id="7" name="Text Box 7">
            <a:extLst>
              <a:ext uri="{FF2B5EF4-FFF2-40B4-BE49-F238E27FC236}">
                <a16:creationId xmlns="" xmlns:a16="http://schemas.microsoft.com/office/drawing/2014/main" id="{D706043B-9CCF-3BF3-A134-58770DC1F9C3}"/>
              </a:ext>
            </a:extLst>
          </p:cNvPr>
          <p:cNvSpPr txBox="1">
            <a:spLocks noChangeArrowheads="1"/>
          </p:cNvSpPr>
          <p:nvPr/>
        </p:nvSpPr>
        <p:spPr bwMode="auto">
          <a:xfrm>
            <a:off x="440076" y="2389446"/>
            <a:ext cx="23647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1.   </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集电极调幅电路</a:t>
            </a:r>
            <a:endParaRPr lang="zh-CN" altLang="en-US" sz="2000" b="0" dirty="0">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8" name="Object 1030">
            <a:extLst>
              <a:ext uri="{FF2B5EF4-FFF2-40B4-BE49-F238E27FC236}">
                <a16:creationId xmlns="" xmlns:a16="http://schemas.microsoft.com/office/drawing/2014/main" id="{2BD900BC-A22F-7AC3-9F07-E280E5C1D09B}"/>
              </a:ext>
            </a:extLst>
          </p:cNvPr>
          <p:cNvGraphicFramePr>
            <a:graphicFrameLocks/>
          </p:cNvGraphicFramePr>
          <p:nvPr>
            <p:extLst>
              <p:ext uri="{D42A27DB-BD31-4B8C-83A1-F6EECF244321}">
                <p14:modId xmlns:p14="http://schemas.microsoft.com/office/powerpoint/2010/main" val="1370033948"/>
              </p:ext>
            </p:extLst>
          </p:nvPr>
        </p:nvGraphicFramePr>
        <p:xfrm>
          <a:off x="4708516" y="2331090"/>
          <a:ext cx="3527425" cy="2395538"/>
        </p:xfrm>
        <a:graphic>
          <a:graphicData uri="http://schemas.openxmlformats.org/presentationml/2006/ole">
            <mc:AlternateContent xmlns:mc="http://schemas.openxmlformats.org/markup-compatibility/2006">
              <mc:Choice xmlns:v="urn:schemas-microsoft-com:vml" Requires="v">
                <p:oleObj spid="_x0000_s181286" r:id="rId3" imgW="3072240" imgH="2060640" progId="Word.Picture.8">
                  <p:embed/>
                </p:oleObj>
              </mc:Choice>
              <mc:Fallback>
                <p:oleObj r:id="rId3" imgW="3072240" imgH="2060640" progId="Word.Picture.8">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08516" y="2331090"/>
                        <a:ext cx="3527425" cy="2395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 name="Text Box 11">
            <a:extLst>
              <a:ext uri="{FF2B5EF4-FFF2-40B4-BE49-F238E27FC236}">
                <a16:creationId xmlns="" xmlns:a16="http://schemas.microsoft.com/office/drawing/2014/main" id="{0F792143-F9A6-688A-329A-14FCA601BA28}"/>
              </a:ext>
            </a:extLst>
          </p:cNvPr>
          <p:cNvSpPr txBox="1">
            <a:spLocks noChangeArrowheads="1"/>
          </p:cNvSpPr>
          <p:nvPr/>
        </p:nvSpPr>
        <p:spPr bwMode="auto">
          <a:xfrm>
            <a:off x="5803965" y="4858069"/>
            <a:ext cx="198002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a:latin typeface="Times New Roman" panose="02020603050405020304" pitchFamily="18" charset="0"/>
                <a:cs typeface="Times New Roman" panose="02020603050405020304" pitchFamily="18" charset="0"/>
              </a:rPr>
              <a:t>集电极调幅电路</a:t>
            </a:r>
          </a:p>
        </p:txBody>
      </p:sp>
      <p:sp>
        <p:nvSpPr>
          <p:cNvPr id="10" name="Text Box 12">
            <a:extLst>
              <a:ext uri="{FF2B5EF4-FFF2-40B4-BE49-F238E27FC236}">
                <a16:creationId xmlns="" xmlns:a16="http://schemas.microsoft.com/office/drawing/2014/main" id="{0ABB43A7-C978-E7D2-3554-C877ECFF38A7}"/>
              </a:ext>
            </a:extLst>
          </p:cNvPr>
          <p:cNvSpPr txBox="1">
            <a:spLocks noChangeArrowheads="1"/>
          </p:cNvSpPr>
          <p:nvPr/>
        </p:nvSpPr>
        <p:spPr bwMode="auto">
          <a:xfrm>
            <a:off x="388929" y="2974088"/>
            <a:ext cx="4319588"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000" dirty="0">
                <a:latin typeface="Times New Roman" panose="02020603050405020304" pitchFamily="18" charset="0"/>
                <a:cs typeface="Times New Roman" panose="02020603050405020304" pitchFamily="18" charset="0"/>
              </a:rPr>
              <a:t>调制信号                           经低频变压器加在集电极上，并与直流电源电压</a:t>
            </a:r>
            <a:r>
              <a:rPr lang="en-US" altLang="zh-CN" sz="2000" dirty="0" err="1">
                <a:latin typeface="Times New Roman" panose="02020603050405020304" pitchFamily="18" charset="0"/>
                <a:cs typeface="Times New Roman" panose="02020603050405020304" pitchFamily="18" charset="0"/>
              </a:rPr>
              <a:t>V</a:t>
            </a:r>
            <a:r>
              <a:rPr lang="en-US" altLang="zh-CN" sz="2000" baseline="-25000" dirty="0" err="1">
                <a:latin typeface="Times New Roman" panose="02020603050405020304" pitchFamily="18" charset="0"/>
                <a:cs typeface="Times New Roman" panose="02020603050405020304" pitchFamily="18" charset="0"/>
              </a:rPr>
              <a:t>cT</a:t>
            </a:r>
            <a:r>
              <a:rPr lang="zh-CN" altLang="en-US" sz="2000" dirty="0">
                <a:latin typeface="Times New Roman" panose="02020603050405020304" pitchFamily="18" charset="0"/>
                <a:cs typeface="Times New Roman" panose="02020603050405020304" pitchFamily="18" charset="0"/>
              </a:rPr>
              <a:t>相串馈。</a:t>
            </a:r>
          </a:p>
        </p:txBody>
      </p:sp>
      <p:sp>
        <p:nvSpPr>
          <p:cNvPr id="11" name="Text Box 13">
            <a:extLst>
              <a:ext uri="{FF2B5EF4-FFF2-40B4-BE49-F238E27FC236}">
                <a16:creationId xmlns="" xmlns:a16="http://schemas.microsoft.com/office/drawing/2014/main" id="{89C375F4-F2EE-49D8-E45C-BAC1F77F8BC6}"/>
              </a:ext>
            </a:extLst>
          </p:cNvPr>
          <p:cNvSpPr txBox="1">
            <a:spLocks noChangeArrowheads="1"/>
          </p:cNvSpPr>
          <p:nvPr/>
        </p:nvSpPr>
        <p:spPr bwMode="auto">
          <a:xfrm>
            <a:off x="388929" y="4177413"/>
            <a:ext cx="586105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000" dirty="0">
                <a:latin typeface="Times New Roman" panose="02020603050405020304" pitchFamily="18" charset="0"/>
                <a:cs typeface="Times New Roman" panose="02020603050405020304" pitchFamily="18" charset="0"/>
              </a:rPr>
              <a:t>高频载波</a:t>
            </a:r>
            <a:r>
              <a:rPr lang="en-US" altLang="zh-CN" sz="2000" i="1" dirty="0">
                <a:latin typeface="Times New Roman" panose="02020603050405020304" pitchFamily="18" charset="0"/>
                <a:cs typeface="Times New Roman" panose="02020603050405020304" pitchFamily="18" charset="0"/>
              </a:rPr>
              <a:t>v</a:t>
            </a:r>
            <a:r>
              <a:rPr lang="en-US" altLang="zh-CN" sz="2000" baseline="-25000" dirty="0">
                <a:latin typeface="Times New Roman" panose="02020603050405020304" pitchFamily="18" charset="0"/>
                <a:cs typeface="Times New Roman" panose="02020603050405020304" pitchFamily="18" charset="0"/>
              </a:rPr>
              <a:t>0</a:t>
            </a:r>
            <a:r>
              <a:rPr lang="en-US" altLang="zh-CN" sz="2000" dirty="0">
                <a:latin typeface="Times New Roman" panose="02020603050405020304" pitchFamily="18" charset="0"/>
                <a:cs typeface="Times New Roman" panose="02020603050405020304" pitchFamily="18" charset="0"/>
              </a:rPr>
              <a:t>(</a:t>
            </a:r>
            <a:r>
              <a:rPr lang="en-US" altLang="zh-CN" sz="2000" i="1" dirty="0">
                <a:latin typeface="Times New Roman" panose="02020603050405020304" pitchFamily="18" charset="0"/>
                <a:cs typeface="Times New Roman" panose="02020603050405020304" pitchFamily="18" charset="0"/>
              </a:rPr>
              <a:t>t</a:t>
            </a:r>
            <a:r>
              <a:rPr lang="en-US" altLang="zh-CN" sz="2000" dirty="0">
                <a:latin typeface="Times New Roman" panose="02020603050405020304" pitchFamily="18" charset="0"/>
                <a:cs typeface="Times New Roman" panose="02020603050405020304" pitchFamily="18" charset="0"/>
              </a:rPr>
              <a:t>)=</a:t>
            </a:r>
            <a:r>
              <a:rPr lang="en-US" altLang="zh-CN" sz="2000" i="1" dirty="0">
                <a:latin typeface="Times New Roman" panose="02020603050405020304" pitchFamily="18" charset="0"/>
                <a:cs typeface="Times New Roman" panose="02020603050405020304" pitchFamily="18" charset="0"/>
              </a:rPr>
              <a:t>V</a:t>
            </a:r>
            <a:r>
              <a:rPr lang="en-US" altLang="zh-CN" sz="2000" baseline="-25000" dirty="0">
                <a:latin typeface="Times New Roman" panose="02020603050405020304" pitchFamily="18" charset="0"/>
                <a:cs typeface="Times New Roman" panose="02020603050405020304" pitchFamily="18" charset="0"/>
              </a:rPr>
              <a:t>0</a:t>
            </a:r>
            <a:r>
              <a:rPr lang="en-US" altLang="zh-CN" sz="2000" dirty="0">
                <a:latin typeface="Times New Roman" panose="02020603050405020304" pitchFamily="18" charset="0"/>
                <a:cs typeface="Times New Roman" panose="02020603050405020304" pitchFamily="18" charset="0"/>
              </a:rPr>
              <a:t>        </a:t>
            </a:r>
          </a:p>
          <a:p>
            <a:r>
              <a:rPr lang="zh-CN" altLang="en-US" sz="2000" dirty="0">
                <a:latin typeface="Times New Roman" panose="02020603050405020304" pitchFamily="18" charset="0"/>
                <a:cs typeface="Times New Roman" panose="02020603050405020304" pitchFamily="18" charset="0"/>
              </a:rPr>
              <a:t>经高频变压器加在基极回路中。</a:t>
            </a:r>
          </a:p>
        </p:txBody>
      </p:sp>
      <p:graphicFrame>
        <p:nvGraphicFramePr>
          <p:cNvPr id="12" name="Object 1031">
            <a:extLst>
              <a:ext uri="{FF2B5EF4-FFF2-40B4-BE49-F238E27FC236}">
                <a16:creationId xmlns="" xmlns:a16="http://schemas.microsoft.com/office/drawing/2014/main" id="{3817AC48-4FAE-7396-371E-C4BB4F1507CF}"/>
              </a:ext>
            </a:extLst>
          </p:cNvPr>
          <p:cNvGraphicFramePr>
            <a:graphicFrameLocks/>
          </p:cNvGraphicFramePr>
          <p:nvPr>
            <p:extLst>
              <p:ext uri="{D42A27DB-BD31-4B8C-83A1-F6EECF244321}">
                <p14:modId xmlns:p14="http://schemas.microsoft.com/office/powerpoint/2010/main" val="2481483153"/>
              </p:ext>
            </p:extLst>
          </p:nvPr>
        </p:nvGraphicFramePr>
        <p:xfrm>
          <a:off x="1483349" y="3000897"/>
          <a:ext cx="1836105" cy="325910"/>
        </p:xfrm>
        <a:graphic>
          <a:graphicData uri="http://schemas.openxmlformats.org/presentationml/2006/ole">
            <mc:AlternateContent xmlns:mc="http://schemas.openxmlformats.org/markup-compatibility/2006">
              <mc:Choice xmlns:v="urn:schemas-microsoft-com:vml" Requires="v">
                <p:oleObj spid="_x0000_s181287" r:id="rId5" imgW="1103463" imgH="215619" progId="Equation.3">
                  <p:embed/>
                </p:oleObj>
              </mc:Choice>
              <mc:Fallback>
                <p:oleObj r:id="rId5" imgW="1103463" imgH="215619" progId="Equation.3">
                  <p:embed/>
                  <p:pic>
                    <p:nvPicPr>
                      <p:cNvPr id="0" name=""/>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83349" y="3000897"/>
                        <a:ext cx="1836105" cy="325910"/>
                      </a:xfrm>
                      <a:prstGeom prst="rect">
                        <a:avLst/>
                      </a:prstGeom>
                      <a:noFill/>
                      <a:ln>
                        <a:noFill/>
                      </a:ln>
                      <a:extLst/>
                    </p:spPr>
                  </p:pic>
                </p:oleObj>
              </mc:Fallback>
            </mc:AlternateContent>
          </a:graphicData>
        </a:graphic>
      </p:graphicFrame>
      <p:graphicFrame>
        <p:nvGraphicFramePr>
          <p:cNvPr id="13" name="Object 1029">
            <a:extLst>
              <a:ext uri="{FF2B5EF4-FFF2-40B4-BE49-F238E27FC236}">
                <a16:creationId xmlns="" xmlns:a16="http://schemas.microsoft.com/office/drawing/2014/main" id="{DE5ED549-5968-F320-B2D4-D3A830C12263}"/>
              </a:ext>
            </a:extLst>
          </p:cNvPr>
          <p:cNvGraphicFramePr>
            <a:graphicFrameLocks/>
          </p:cNvGraphicFramePr>
          <p:nvPr>
            <p:extLst>
              <p:ext uri="{D42A27DB-BD31-4B8C-83A1-F6EECF244321}">
                <p14:modId xmlns:p14="http://schemas.microsoft.com/office/powerpoint/2010/main" val="58562489"/>
              </p:ext>
            </p:extLst>
          </p:nvPr>
        </p:nvGraphicFramePr>
        <p:xfrm>
          <a:off x="2336301" y="4174283"/>
          <a:ext cx="838200" cy="398463"/>
        </p:xfrm>
        <a:graphic>
          <a:graphicData uri="http://schemas.openxmlformats.org/presentationml/2006/ole">
            <mc:AlternateContent xmlns:mc="http://schemas.openxmlformats.org/markup-compatibility/2006">
              <mc:Choice xmlns:v="urn:schemas-microsoft-com:vml" Requires="v">
                <p:oleObj spid="_x0000_s181288" r:id="rId7" imgW="482391" imgH="228501" progId="Equation.3">
                  <p:embed/>
                </p:oleObj>
              </mc:Choice>
              <mc:Fallback>
                <p:oleObj r:id="rId7" imgW="482391" imgH="228501" progId="Equation.3">
                  <p:embed/>
                  <p:pic>
                    <p:nvPicPr>
                      <p:cNvPr id="0" name=""/>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36301" y="4174283"/>
                        <a:ext cx="838200"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4160386841"/>
      </p:ext>
    </p:extLst>
  </p:cSld>
  <p:clrMapOvr>
    <a:masterClrMapping/>
  </p:clrMapOvr>
  <p:timing>
    <p:tnLst>
      <p:par>
        <p:cTn id="1" dur="indefinite" restart="never" nodeType="tmRoot"/>
      </p:par>
    </p:tnLst>
  </p:timing>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229</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5"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6.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振幅调制</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与</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解调</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 name="Rectangle 440">
            <a:extLst>
              <a:ext uri="{FF2B5EF4-FFF2-40B4-BE49-F238E27FC236}">
                <a16:creationId xmlns="" xmlns:a16="http://schemas.microsoft.com/office/drawing/2014/main" id="{BAFCDAB3-9832-A389-6D6F-844D042E7D2F}"/>
              </a:ext>
            </a:extLst>
          </p:cNvPr>
          <p:cNvSpPr>
            <a:spLocks noChangeArrowheads="1"/>
          </p:cNvSpPr>
          <p:nvPr/>
        </p:nvSpPr>
        <p:spPr bwMode="auto">
          <a:xfrm>
            <a:off x="395536" y="1484784"/>
            <a:ext cx="328166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chemeClr val="tx2"/>
                </a:solidFill>
                <a:latin typeface="+mn-ea"/>
                <a:ea typeface="+mn-ea"/>
              </a:rPr>
              <a:t>集电极调幅应工作在过压区</a:t>
            </a:r>
          </a:p>
        </p:txBody>
      </p:sp>
      <p:pic>
        <p:nvPicPr>
          <p:cNvPr id="7" name="图片 6">
            <a:extLst>
              <a:ext uri="{FF2B5EF4-FFF2-40B4-BE49-F238E27FC236}">
                <a16:creationId xmlns="" xmlns:a16="http://schemas.microsoft.com/office/drawing/2014/main" id="{1EE52967-F643-6D45-FC24-A14426B7D4CC}"/>
              </a:ext>
            </a:extLst>
          </p:cNvPr>
          <p:cNvPicPr>
            <a:picLocks noChangeAspect="1"/>
          </p:cNvPicPr>
          <p:nvPr/>
        </p:nvPicPr>
        <p:blipFill>
          <a:blip r:embed="rId2"/>
          <a:stretch>
            <a:fillRect/>
          </a:stretch>
        </p:blipFill>
        <p:spPr>
          <a:xfrm>
            <a:off x="526013" y="2209032"/>
            <a:ext cx="7995997" cy="3798376"/>
          </a:xfrm>
          <a:prstGeom prst="rect">
            <a:avLst/>
          </a:prstGeom>
        </p:spPr>
      </p:pic>
    </p:spTree>
    <p:extLst>
      <p:ext uri="{BB962C8B-B14F-4D97-AF65-F5344CB8AC3E}">
        <p14:creationId xmlns:p14="http://schemas.microsoft.com/office/powerpoint/2010/main" val="1324630137"/>
      </p:ext>
    </p:extLst>
  </p:cSld>
  <p:clrMapOvr>
    <a:masterClrMapping/>
  </p:clrMapOvr>
  <p:timing>
    <p:tnLst>
      <p:par>
        <p:cTn id="1" dur="indefinite" restart="never" nodeType="tmRoot"/>
      </p:par>
    </p:tnLst>
  </p:timing>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230</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5"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6.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振幅调制</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与</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解调</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 name="Text Box 1028">
            <a:extLst>
              <a:ext uri="{FF2B5EF4-FFF2-40B4-BE49-F238E27FC236}">
                <a16:creationId xmlns="" xmlns:a16="http://schemas.microsoft.com/office/drawing/2014/main" id="{9F18C5E1-2016-BE82-96F0-B305845B6F42}"/>
              </a:ext>
            </a:extLst>
          </p:cNvPr>
          <p:cNvSpPr txBox="1">
            <a:spLocks noChangeArrowheads="1"/>
          </p:cNvSpPr>
          <p:nvPr/>
        </p:nvSpPr>
        <p:spPr bwMode="auto">
          <a:xfrm>
            <a:off x="422573" y="1777608"/>
            <a:ext cx="586250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latin typeface="Times New Roman" panose="02020603050405020304" pitchFamily="18" charset="0"/>
                <a:cs typeface="Times New Roman" panose="02020603050405020304" pitchFamily="18" charset="0"/>
              </a:rPr>
              <a:t>集电极调幅在调制信号一周期内的各平均功率为：</a:t>
            </a:r>
          </a:p>
        </p:txBody>
      </p:sp>
      <p:sp>
        <p:nvSpPr>
          <p:cNvPr id="7" name="Text Box 1029">
            <a:extLst>
              <a:ext uri="{FF2B5EF4-FFF2-40B4-BE49-F238E27FC236}">
                <a16:creationId xmlns="" xmlns:a16="http://schemas.microsoft.com/office/drawing/2014/main" id="{D06FCAAA-78BF-33CF-B9E6-4C70180CCFA3}"/>
              </a:ext>
            </a:extLst>
          </p:cNvPr>
          <p:cNvSpPr txBox="1">
            <a:spLocks noChangeArrowheads="1"/>
          </p:cNvSpPr>
          <p:nvPr/>
        </p:nvSpPr>
        <p:spPr bwMode="auto">
          <a:xfrm>
            <a:off x="399405" y="2262619"/>
            <a:ext cx="685796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dirty="0">
                <a:latin typeface="Times New Roman" panose="02020603050405020304" pitchFamily="18" charset="0"/>
                <a:cs typeface="Times New Roman" panose="02020603050405020304" pitchFamily="18" charset="0"/>
              </a:rPr>
              <a:t>1) </a:t>
            </a:r>
            <a:r>
              <a:rPr lang="zh-CN" altLang="en-US" sz="2000" dirty="0">
                <a:latin typeface="Times New Roman" panose="02020603050405020304" pitchFamily="18" charset="0"/>
                <a:cs typeface="Times New Roman" panose="02020603050405020304" pitchFamily="18" charset="0"/>
              </a:rPr>
              <a:t>集电极有效电源电压</a:t>
            </a:r>
            <a:r>
              <a:rPr lang="en-US" altLang="zh-CN" sz="2000" dirty="0" err="1">
                <a:latin typeface="Times New Roman" panose="02020603050405020304" pitchFamily="18" charset="0"/>
                <a:cs typeface="Times New Roman" panose="02020603050405020304" pitchFamily="18" charset="0"/>
              </a:rPr>
              <a:t>V</a:t>
            </a:r>
            <a:r>
              <a:rPr lang="en-US" altLang="zh-CN" sz="2000" baseline="-25000" dirty="0" err="1">
                <a:latin typeface="Times New Roman" panose="02020603050405020304" pitchFamily="18" charset="0"/>
                <a:cs typeface="Times New Roman" panose="02020603050405020304" pitchFamily="18" charset="0"/>
              </a:rPr>
              <a:t>c</a:t>
            </a:r>
            <a:r>
              <a:rPr lang="en-US" altLang="zh-CN" sz="2000" dirty="0">
                <a:latin typeface="Times New Roman" panose="02020603050405020304" pitchFamily="18" charset="0"/>
                <a:cs typeface="Times New Roman" panose="02020603050405020304" pitchFamily="18" charset="0"/>
              </a:rPr>
              <a:t>(t)</a:t>
            </a:r>
            <a:r>
              <a:rPr lang="zh-CN" altLang="en-US" sz="2000" dirty="0">
                <a:latin typeface="Times New Roman" panose="02020603050405020304" pitchFamily="18" charset="0"/>
                <a:cs typeface="Times New Roman" panose="02020603050405020304" pitchFamily="18" charset="0"/>
              </a:rPr>
              <a:t>供给被调放大器的总平均功率</a:t>
            </a:r>
          </a:p>
        </p:txBody>
      </p:sp>
      <p:graphicFrame>
        <p:nvGraphicFramePr>
          <p:cNvPr id="8" name="Object 27">
            <a:extLst>
              <a:ext uri="{FF2B5EF4-FFF2-40B4-BE49-F238E27FC236}">
                <a16:creationId xmlns="" xmlns:a16="http://schemas.microsoft.com/office/drawing/2014/main" id="{6AE206AD-D45F-B74A-8920-3B69356C73CE}"/>
              </a:ext>
            </a:extLst>
          </p:cNvPr>
          <p:cNvGraphicFramePr>
            <a:graphicFrameLocks/>
          </p:cNvGraphicFramePr>
          <p:nvPr>
            <p:extLst>
              <p:ext uri="{D42A27DB-BD31-4B8C-83A1-F6EECF244321}">
                <p14:modId xmlns:p14="http://schemas.microsoft.com/office/powerpoint/2010/main" val="3702892449"/>
              </p:ext>
            </p:extLst>
          </p:nvPr>
        </p:nvGraphicFramePr>
        <p:xfrm>
          <a:off x="867421" y="2629883"/>
          <a:ext cx="2932314" cy="659294"/>
        </p:xfrm>
        <a:graphic>
          <a:graphicData uri="http://schemas.openxmlformats.org/presentationml/2006/ole">
            <mc:AlternateContent xmlns:mc="http://schemas.openxmlformats.org/markup-compatibility/2006">
              <mc:Choice xmlns:v="urn:schemas-microsoft-com:vml" Requires="v">
                <p:oleObj spid="_x0000_s182334" name="Equation" r:id="rId3" imgW="1231366" imgH="393529" progId="Equation.DSMT4">
                  <p:embed/>
                </p:oleObj>
              </mc:Choice>
              <mc:Fallback>
                <p:oleObj name="Equation" r:id="rId3" imgW="1231366" imgH="393529" progId="Equation.DSMT4">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7421" y="2629883"/>
                        <a:ext cx="2932314" cy="659294"/>
                      </a:xfrm>
                      <a:prstGeom prst="rect">
                        <a:avLst/>
                      </a:prstGeom>
                      <a:noFill/>
                      <a:ln>
                        <a:noFill/>
                      </a:ln>
                      <a:extLst/>
                    </p:spPr>
                  </p:pic>
                </p:oleObj>
              </mc:Fallback>
            </mc:AlternateContent>
          </a:graphicData>
        </a:graphic>
      </p:graphicFrame>
      <p:sp>
        <p:nvSpPr>
          <p:cNvPr id="9" name="Text Box 1031">
            <a:extLst>
              <a:ext uri="{FF2B5EF4-FFF2-40B4-BE49-F238E27FC236}">
                <a16:creationId xmlns="" xmlns:a16="http://schemas.microsoft.com/office/drawing/2014/main" id="{E19B07D3-9DA3-574B-B168-C1A05C8B1D03}"/>
              </a:ext>
            </a:extLst>
          </p:cNvPr>
          <p:cNvSpPr txBox="1">
            <a:spLocks noChangeArrowheads="1"/>
          </p:cNvSpPr>
          <p:nvPr/>
        </p:nvSpPr>
        <p:spPr bwMode="auto">
          <a:xfrm>
            <a:off x="399405" y="3247723"/>
            <a:ext cx="526458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dirty="0">
                <a:latin typeface="Times New Roman" panose="02020603050405020304" pitchFamily="18" charset="0"/>
                <a:cs typeface="Times New Roman" panose="02020603050405020304" pitchFamily="18" charset="0"/>
              </a:rPr>
              <a:t>2) </a:t>
            </a:r>
            <a:r>
              <a:rPr lang="zh-CN" altLang="en-US" sz="2000" dirty="0">
                <a:latin typeface="Times New Roman" panose="02020603050405020304" pitchFamily="18" charset="0"/>
                <a:cs typeface="Times New Roman" panose="02020603050405020304" pitchFamily="18" charset="0"/>
              </a:rPr>
              <a:t>集电极直流电源</a:t>
            </a:r>
            <a:r>
              <a:rPr lang="en-US" altLang="zh-CN" sz="2000" dirty="0" err="1">
                <a:latin typeface="Times New Roman" panose="02020603050405020304" pitchFamily="18" charset="0"/>
                <a:cs typeface="Times New Roman" panose="02020603050405020304" pitchFamily="18" charset="0"/>
              </a:rPr>
              <a:t>V</a:t>
            </a:r>
            <a:r>
              <a:rPr lang="en-US" altLang="zh-CN" sz="2000" baseline="-25000" dirty="0" err="1">
                <a:latin typeface="Times New Roman" panose="02020603050405020304" pitchFamily="18" charset="0"/>
                <a:cs typeface="Times New Roman" panose="02020603050405020304" pitchFamily="18" charset="0"/>
              </a:rPr>
              <a:t>cT</a:t>
            </a:r>
            <a:r>
              <a:rPr lang="zh-CN" altLang="en-US" sz="2000" dirty="0">
                <a:latin typeface="Times New Roman" panose="02020603050405020304" pitchFamily="18" charset="0"/>
                <a:cs typeface="Times New Roman" panose="02020603050405020304" pitchFamily="18" charset="0"/>
              </a:rPr>
              <a:t>所供给的平均功率则为</a:t>
            </a:r>
          </a:p>
        </p:txBody>
      </p:sp>
      <p:graphicFrame>
        <p:nvGraphicFramePr>
          <p:cNvPr id="10" name="Object 28">
            <a:extLst>
              <a:ext uri="{FF2B5EF4-FFF2-40B4-BE49-F238E27FC236}">
                <a16:creationId xmlns="" xmlns:a16="http://schemas.microsoft.com/office/drawing/2014/main" id="{D1973175-DCAD-1CD0-EEE8-85113C20D743}"/>
              </a:ext>
            </a:extLst>
          </p:cNvPr>
          <p:cNvGraphicFramePr>
            <a:graphicFrameLocks/>
          </p:cNvGraphicFramePr>
          <p:nvPr>
            <p:extLst>
              <p:ext uri="{D42A27DB-BD31-4B8C-83A1-F6EECF244321}">
                <p14:modId xmlns:p14="http://schemas.microsoft.com/office/powerpoint/2010/main" val="1626792618"/>
              </p:ext>
            </p:extLst>
          </p:nvPr>
        </p:nvGraphicFramePr>
        <p:xfrm>
          <a:off x="867420" y="3659739"/>
          <a:ext cx="2155312" cy="331805"/>
        </p:xfrm>
        <a:graphic>
          <a:graphicData uri="http://schemas.openxmlformats.org/presentationml/2006/ole">
            <mc:AlternateContent xmlns:mc="http://schemas.openxmlformats.org/markup-compatibility/2006">
              <mc:Choice xmlns:v="urn:schemas-microsoft-com:vml" Requires="v">
                <p:oleObj spid="_x0000_s182335" r:id="rId5" imgW="1155700" imgH="228600" progId="Equation.3">
                  <p:embed/>
                </p:oleObj>
              </mc:Choice>
              <mc:Fallback>
                <p:oleObj r:id="rId5" imgW="1155700" imgH="228600" progId="Equation.3">
                  <p:embed/>
                  <p:pic>
                    <p:nvPicPr>
                      <p:cNvPr id="0" name=""/>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67420" y="3659739"/>
                        <a:ext cx="2155312" cy="331805"/>
                      </a:xfrm>
                      <a:prstGeom prst="rect">
                        <a:avLst/>
                      </a:prstGeom>
                      <a:noFill/>
                      <a:ln>
                        <a:noFill/>
                      </a:ln>
                      <a:extLst/>
                    </p:spPr>
                  </p:pic>
                </p:oleObj>
              </mc:Fallback>
            </mc:AlternateContent>
          </a:graphicData>
        </a:graphic>
      </p:graphicFrame>
      <p:sp>
        <p:nvSpPr>
          <p:cNvPr id="11" name="Text Box 1033">
            <a:extLst>
              <a:ext uri="{FF2B5EF4-FFF2-40B4-BE49-F238E27FC236}">
                <a16:creationId xmlns="" xmlns:a16="http://schemas.microsoft.com/office/drawing/2014/main" id="{038B16D2-42CB-D6E4-AF31-BA3CD389931F}"/>
              </a:ext>
            </a:extLst>
          </p:cNvPr>
          <p:cNvSpPr txBox="1">
            <a:spLocks noChangeArrowheads="1"/>
          </p:cNvSpPr>
          <p:nvPr/>
        </p:nvSpPr>
        <p:spPr bwMode="auto">
          <a:xfrm>
            <a:off x="422573" y="4166629"/>
            <a:ext cx="401904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dirty="0">
                <a:latin typeface="Times New Roman" panose="02020603050405020304" pitchFamily="18" charset="0"/>
                <a:cs typeface="Times New Roman" panose="02020603050405020304" pitchFamily="18" charset="0"/>
              </a:rPr>
              <a:t>3) </a:t>
            </a:r>
            <a:r>
              <a:rPr lang="zh-CN" altLang="en-US" sz="2000" dirty="0">
                <a:latin typeface="Times New Roman" panose="02020603050405020304" pitchFamily="18" charset="0"/>
                <a:cs typeface="Times New Roman" panose="02020603050405020304" pitchFamily="18" charset="0"/>
              </a:rPr>
              <a:t>调制信号源</a:t>
            </a:r>
            <a:r>
              <a:rPr lang="en-US" altLang="zh-CN" sz="2000" dirty="0" err="1">
                <a:latin typeface="Times New Roman" panose="02020603050405020304" pitchFamily="18" charset="0"/>
                <a:cs typeface="Times New Roman" panose="02020603050405020304" pitchFamily="18" charset="0"/>
              </a:rPr>
              <a:t>V</a:t>
            </a:r>
            <a:r>
              <a:rPr lang="en-US" altLang="zh-CN" sz="2000" baseline="-25000" dirty="0" err="1">
                <a:latin typeface="Times New Roman" panose="02020603050405020304" pitchFamily="18" charset="0"/>
                <a:cs typeface="Times New Roman" panose="02020603050405020304" pitchFamily="18" charset="0"/>
              </a:rPr>
              <a:t>c</a:t>
            </a:r>
            <a:r>
              <a:rPr lang="en-US" altLang="zh-CN" sz="2000" baseline="-25000" dirty="0">
                <a:latin typeface="Times New Roman" panose="02020603050405020304" pitchFamily="18" charset="0"/>
                <a:cs typeface="Times New Roman" panose="02020603050405020304" pitchFamily="18" charset="0"/>
                <a:sym typeface="Symbol" panose="05050102010706020507" pitchFamily="18" charset="2"/>
              </a:rPr>
              <a:t></a:t>
            </a:r>
            <a:r>
              <a:rPr lang="zh-CN" altLang="en-US" sz="2000" dirty="0">
                <a:latin typeface="Times New Roman" panose="02020603050405020304" pitchFamily="18" charset="0"/>
                <a:cs typeface="Times New Roman" panose="02020603050405020304" pitchFamily="18" charset="0"/>
              </a:rPr>
              <a:t>供给的平均功率</a:t>
            </a:r>
          </a:p>
        </p:txBody>
      </p:sp>
      <p:graphicFrame>
        <p:nvGraphicFramePr>
          <p:cNvPr id="12" name="Object 29">
            <a:extLst>
              <a:ext uri="{FF2B5EF4-FFF2-40B4-BE49-F238E27FC236}">
                <a16:creationId xmlns="" xmlns:a16="http://schemas.microsoft.com/office/drawing/2014/main" id="{075408D8-4712-5F69-C049-B2BC0E5F5F00}"/>
              </a:ext>
            </a:extLst>
          </p:cNvPr>
          <p:cNvGraphicFramePr>
            <a:graphicFrameLocks/>
          </p:cNvGraphicFramePr>
          <p:nvPr>
            <p:extLst>
              <p:ext uri="{D42A27DB-BD31-4B8C-83A1-F6EECF244321}">
                <p14:modId xmlns:p14="http://schemas.microsoft.com/office/powerpoint/2010/main" val="535994377"/>
              </p:ext>
            </p:extLst>
          </p:nvPr>
        </p:nvGraphicFramePr>
        <p:xfrm>
          <a:off x="867420" y="4532040"/>
          <a:ext cx="3192895" cy="661147"/>
        </p:xfrm>
        <a:graphic>
          <a:graphicData uri="http://schemas.openxmlformats.org/presentationml/2006/ole">
            <mc:AlternateContent xmlns:mc="http://schemas.openxmlformats.org/markup-compatibility/2006">
              <mc:Choice xmlns:v="urn:schemas-microsoft-com:vml" Requires="v">
                <p:oleObj spid="_x0000_s182336" r:id="rId7" imgW="1803400" imgH="419100" progId="Equation.3">
                  <p:embed/>
                </p:oleObj>
              </mc:Choice>
              <mc:Fallback>
                <p:oleObj r:id="rId7" imgW="1803400" imgH="419100" progId="Equation.3">
                  <p:embed/>
                  <p:pic>
                    <p:nvPicPr>
                      <p:cNvPr id="0" name=""/>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67420" y="4532040"/>
                        <a:ext cx="3192895" cy="661147"/>
                      </a:xfrm>
                      <a:prstGeom prst="rect">
                        <a:avLst/>
                      </a:prstGeom>
                      <a:noFill/>
                      <a:ln>
                        <a:noFill/>
                      </a:ln>
                      <a:extLst/>
                    </p:spPr>
                  </p:pic>
                </p:oleObj>
              </mc:Fallback>
            </mc:AlternateContent>
          </a:graphicData>
        </a:graphic>
      </p:graphicFrame>
      <p:sp>
        <p:nvSpPr>
          <p:cNvPr id="13" name="Text Box 1035">
            <a:extLst>
              <a:ext uri="{FF2B5EF4-FFF2-40B4-BE49-F238E27FC236}">
                <a16:creationId xmlns="" xmlns:a16="http://schemas.microsoft.com/office/drawing/2014/main" id="{1AF8661D-F5C3-D995-4393-FC80731E189A}"/>
              </a:ext>
            </a:extLst>
          </p:cNvPr>
          <p:cNvSpPr txBox="1">
            <a:spLocks noChangeArrowheads="1"/>
          </p:cNvSpPr>
          <p:nvPr/>
        </p:nvSpPr>
        <p:spPr bwMode="auto">
          <a:xfrm>
            <a:off x="448110" y="5219997"/>
            <a:ext cx="200086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dirty="0">
                <a:latin typeface="Times New Roman" panose="02020603050405020304" pitchFamily="18" charset="0"/>
                <a:cs typeface="Times New Roman" panose="02020603050405020304" pitchFamily="18" charset="0"/>
              </a:rPr>
              <a:t>4) </a:t>
            </a:r>
            <a:r>
              <a:rPr lang="zh-CN" altLang="en-US" sz="2000" dirty="0">
                <a:latin typeface="Times New Roman" panose="02020603050405020304" pitchFamily="18" charset="0"/>
                <a:cs typeface="Times New Roman" panose="02020603050405020304" pitchFamily="18" charset="0"/>
              </a:rPr>
              <a:t>平均输出功率</a:t>
            </a:r>
          </a:p>
        </p:txBody>
      </p:sp>
      <p:graphicFrame>
        <p:nvGraphicFramePr>
          <p:cNvPr id="14" name="Object 30">
            <a:extLst>
              <a:ext uri="{FF2B5EF4-FFF2-40B4-BE49-F238E27FC236}">
                <a16:creationId xmlns="" xmlns:a16="http://schemas.microsoft.com/office/drawing/2014/main" id="{9E16C4D0-0275-DB31-CBB7-0A661E8125E9}"/>
              </a:ext>
            </a:extLst>
          </p:cNvPr>
          <p:cNvGraphicFramePr>
            <a:graphicFrameLocks/>
          </p:cNvGraphicFramePr>
          <p:nvPr>
            <p:extLst>
              <p:ext uri="{D42A27DB-BD31-4B8C-83A1-F6EECF244321}">
                <p14:modId xmlns:p14="http://schemas.microsoft.com/office/powerpoint/2010/main" val="3968149073"/>
              </p:ext>
            </p:extLst>
          </p:nvPr>
        </p:nvGraphicFramePr>
        <p:xfrm>
          <a:off x="2631480" y="5193187"/>
          <a:ext cx="1907356" cy="546965"/>
        </p:xfrm>
        <a:graphic>
          <a:graphicData uri="http://schemas.openxmlformats.org/presentationml/2006/ole">
            <mc:AlternateContent xmlns:mc="http://schemas.openxmlformats.org/markup-compatibility/2006">
              <mc:Choice xmlns:v="urn:schemas-microsoft-com:vml" Requires="v">
                <p:oleObj spid="_x0000_s182337" r:id="rId9" imgW="1218671" imgH="393529" progId="Equation.3">
                  <p:embed/>
                </p:oleObj>
              </mc:Choice>
              <mc:Fallback>
                <p:oleObj r:id="rId9" imgW="1218671" imgH="393529" progId="Equation.3">
                  <p:embed/>
                  <p:pic>
                    <p:nvPicPr>
                      <p:cNvPr id="0" name=""/>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631480" y="5193187"/>
                        <a:ext cx="1907356" cy="546965"/>
                      </a:xfrm>
                      <a:prstGeom prst="rect">
                        <a:avLst/>
                      </a:prstGeom>
                      <a:noFill/>
                      <a:ln>
                        <a:noFill/>
                      </a:ln>
                      <a:extLst/>
                    </p:spPr>
                  </p:pic>
                </p:oleObj>
              </mc:Fallback>
            </mc:AlternateContent>
          </a:graphicData>
        </a:graphic>
      </p:graphicFrame>
      <p:sp>
        <p:nvSpPr>
          <p:cNvPr id="15" name="Text Box 1037">
            <a:extLst>
              <a:ext uri="{FF2B5EF4-FFF2-40B4-BE49-F238E27FC236}">
                <a16:creationId xmlns="" xmlns:a16="http://schemas.microsoft.com/office/drawing/2014/main" id="{A66C580D-7021-29A5-00DB-D6D35E53B325}"/>
              </a:ext>
            </a:extLst>
          </p:cNvPr>
          <p:cNvSpPr txBox="1">
            <a:spLocks noChangeArrowheads="1"/>
          </p:cNvSpPr>
          <p:nvPr/>
        </p:nvSpPr>
        <p:spPr bwMode="auto">
          <a:xfrm>
            <a:off x="456877" y="5834777"/>
            <a:ext cx="277031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dirty="0">
                <a:latin typeface="Times New Roman" panose="02020603050405020304" pitchFamily="18" charset="0"/>
                <a:cs typeface="Times New Roman" panose="02020603050405020304" pitchFamily="18" charset="0"/>
              </a:rPr>
              <a:t>5) </a:t>
            </a:r>
            <a:r>
              <a:rPr lang="zh-CN" altLang="en-US" sz="2000" dirty="0">
                <a:latin typeface="Times New Roman" panose="02020603050405020304" pitchFamily="18" charset="0"/>
                <a:cs typeface="Times New Roman" panose="02020603050405020304" pitchFamily="18" charset="0"/>
              </a:rPr>
              <a:t>集电极平均耗散功率</a:t>
            </a:r>
          </a:p>
        </p:txBody>
      </p:sp>
      <p:graphicFrame>
        <p:nvGraphicFramePr>
          <p:cNvPr id="16" name="Object 31">
            <a:extLst>
              <a:ext uri="{FF2B5EF4-FFF2-40B4-BE49-F238E27FC236}">
                <a16:creationId xmlns="" xmlns:a16="http://schemas.microsoft.com/office/drawing/2014/main" id="{3C160217-40DE-8525-1411-B24BD4D7FB24}"/>
              </a:ext>
            </a:extLst>
          </p:cNvPr>
          <p:cNvGraphicFramePr>
            <a:graphicFrameLocks/>
          </p:cNvGraphicFramePr>
          <p:nvPr>
            <p:extLst>
              <p:ext uri="{D42A27DB-BD31-4B8C-83A1-F6EECF244321}">
                <p14:modId xmlns:p14="http://schemas.microsoft.com/office/powerpoint/2010/main" val="924879104"/>
              </p:ext>
            </p:extLst>
          </p:nvPr>
        </p:nvGraphicFramePr>
        <p:xfrm>
          <a:off x="3284177" y="5807994"/>
          <a:ext cx="1889527" cy="558606"/>
        </p:xfrm>
        <a:graphic>
          <a:graphicData uri="http://schemas.openxmlformats.org/presentationml/2006/ole">
            <mc:AlternateContent xmlns:mc="http://schemas.openxmlformats.org/markup-compatibility/2006">
              <mc:Choice xmlns:v="urn:schemas-microsoft-com:vml" Requires="v">
                <p:oleObj spid="_x0000_s182338" r:id="rId11" imgW="1218671" imgH="393529" progId="Equation.3">
                  <p:embed/>
                </p:oleObj>
              </mc:Choice>
              <mc:Fallback>
                <p:oleObj r:id="rId11" imgW="1218671" imgH="393529" progId="Equation.3">
                  <p:embed/>
                  <p:pic>
                    <p:nvPicPr>
                      <p:cNvPr id="0" name=""/>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284177" y="5807994"/>
                        <a:ext cx="1889527" cy="558606"/>
                      </a:xfrm>
                      <a:prstGeom prst="rect">
                        <a:avLst/>
                      </a:prstGeom>
                      <a:noFill/>
                      <a:ln>
                        <a:noFill/>
                      </a:ln>
                      <a:extLst/>
                    </p:spPr>
                  </p:pic>
                </p:oleObj>
              </mc:Fallback>
            </mc:AlternateContent>
          </a:graphicData>
        </a:graphic>
      </p:graphicFrame>
      <p:sp>
        <p:nvSpPr>
          <p:cNvPr id="17" name="Rectangle 23">
            <a:extLst>
              <a:ext uri="{FF2B5EF4-FFF2-40B4-BE49-F238E27FC236}">
                <a16:creationId xmlns="" xmlns:a16="http://schemas.microsoft.com/office/drawing/2014/main" id="{8F47E52D-7912-B32D-06AF-2997DDDC44F0}"/>
              </a:ext>
            </a:extLst>
          </p:cNvPr>
          <p:cNvSpPr>
            <a:spLocks noChangeArrowheads="1"/>
          </p:cNvSpPr>
          <p:nvPr/>
        </p:nvSpPr>
        <p:spPr bwMode="auto">
          <a:xfrm>
            <a:off x="399405" y="1256848"/>
            <a:ext cx="187166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tabLst>
                <a:tab pos="5249863" algn="r"/>
              </a:tabLst>
              <a:defRPr sz="1600" b="1">
                <a:solidFill>
                  <a:schemeClr val="tx1"/>
                </a:solidFill>
                <a:latin typeface="楷体_GB2312" panose="02010609030101010101" pitchFamily="49" charset="-122"/>
                <a:ea typeface="楷体_GB2312" panose="02010609030101010101" pitchFamily="49" charset="-122"/>
              </a:defRPr>
            </a:lvl1pPr>
            <a:lvl2pPr>
              <a:tabLst>
                <a:tab pos="5249863" algn="r"/>
              </a:tabLst>
              <a:defRPr sz="1600" b="1">
                <a:solidFill>
                  <a:schemeClr val="tx1"/>
                </a:solidFill>
                <a:latin typeface="楷体_GB2312" panose="02010609030101010101" pitchFamily="49" charset="-122"/>
                <a:ea typeface="楷体_GB2312" panose="02010609030101010101" pitchFamily="49" charset="-122"/>
              </a:defRPr>
            </a:lvl2pPr>
            <a:lvl3pPr>
              <a:tabLst>
                <a:tab pos="5249863" algn="r"/>
              </a:tabLst>
              <a:defRPr sz="1600" b="1">
                <a:solidFill>
                  <a:schemeClr val="tx1"/>
                </a:solidFill>
                <a:latin typeface="楷体_GB2312" panose="02010609030101010101" pitchFamily="49" charset="-122"/>
                <a:ea typeface="楷体_GB2312" panose="02010609030101010101" pitchFamily="49" charset="-122"/>
              </a:defRPr>
            </a:lvl3pPr>
            <a:lvl4pPr>
              <a:tabLst>
                <a:tab pos="5249863" algn="r"/>
              </a:tabLst>
              <a:defRPr sz="1600" b="1">
                <a:solidFill>
                  <a:schemeClr val="tx1"/>
                </a:solidFill>
                <a:latin typeface="楷体_GB2312" panose="02010609030101010101" pitchFamily="49" charset="-122"/>
                <a:ea typeface="楷体_GB2312" panose="02010609030101010101" pitchFamily="49" charset="-122"/>
              </a:defRPr>
            </a:lvl4pPr>
            <a:lvl5pPr>
              <a:tabLst>
                <a:tab pos="5249863" algn="r"/>
              </a:tabLst>
              <a:defRPr sz="1600" b="1">
                <a:solidFill>
                  <a:schemeClr val="tx1"/>
                </a:solidFill>
                <a:latin typeface="楷体_GB2312" panose="02010609030101010101" pitchFamily="49" charset="-122"/>
                <a:ea typeface="楷体_GB2312" panose="02010609030101010101" pitchFamily="49" charset="-122"/>
              </a:defRPr>
            </a:lvl5pPr>
            <a:lvl6pPr fontAlgn="base">
              <a:spcBef>
                <a:spcPct val="0"/>
              </a:spcBef>
              <a:spcAft>
                <a:spcPct val="0"/>
              </a:spcAft>
              <a:buFont typeface="Arial" panose="020B0604020202020204" pitchFamily="34" charset="0"/>
              <a:tabLst>
                <a:tab pos="5249863" algn="r"/>
              </a:tabLst>
              <a:defRPr sz="1600" b="1">
                <a:solidFill>
                  <a:schemeClr val="tx1"/>
                </a:solidFill>
                <a:latin typeface="楷体_GB2312" panose="02010609030101010101" pitchFamily="49" charset="-122"/>
                <a:ea typeface="楷体_GB2312" panose="02010609030101010101" pitchFamily="49" charset="-122"/>
              </a:defRPr>
            </a:lvl6pPr>
            <a:lvl7pPr fontAlgn="base">
              <a:spcBef>
                <a:spcPct val="0"/>
              </a:spcBef>
              <a:spcAft>
                <a:spcPct val="0"/>
              </a:spcAft>
              <a:buFont typeface="Arial" panose="020B0604020202020204" pitchFamily="34" charset="0"/>
              <a:tabLst>
                <a:tab pos="5249863" algn="r"/>
              </a:tabLst>
              <a:defRPr sz="1600" b="1">
                <a:solidFill>
                  <a:schemeClr val="tx1"/>
                </a:solidFill>
                <a:latin typeface="楷体_GB2312" panose="02010609030101010101" pitchFamily="49" charset="-122"/>
                <a:ea typeface="楷体_GB2312" panose="02010609030101010101" pitchFamily="49" charset="-122"/>
              </a:defRPr>
            </a:lvl7pPr>
            <a:lvl8pPr fontAlgn="base">
              <a:spcBef>
                <a:spcPct val="0"/>
              </a:spcBef>
              <a:spcAft>
                <a:spcPct val="0"/>
              </a:spcAft>
              <a:buFont typeface="Arial" panose="020B0604020202020204" pitchFamily="34" charset="0"/>
              <a:tabLst>
                <a:tab pos="5249863" algn="r"/>
              </a:tabLst>
              <a:defRPr sz="1600" b="1">
                <a:solidFill>
                  <a:schemeClr val="tx1"/>
                </a:solidFill>
                <a:latin typeface="楷体_GB2312" panose="02010609030101010101" pitchFamily="49" charset="-122"/>
                <a:ea typeface="楷体_GB2312" panose="02010609030101010101" pitchFamily="49" charset="-122"/>
              </a:defRPr>
            </a:lvl8pPr>
            <a:lvl9pPr fontAlgn="base">
              <a:spcBef>
                <a:spcPct val="0"/>
              </a:spcBef>
              <a:spcAft>
                <a:spcPct val="0"/>
              </a:spcAft>
              <a:buFont typeface="Arial" panose="020B0604020202020204" pitchFamily="34" charset="0"/>
              <a:tabLst>
                <a:tab pos="5249863" algn="r"/>
              </a:tabLst>
              <a:defRPr sz="1600" b="1">
                <a:solidFill>
                  <a:schemeClr val="tx1"/>
                </a:solidFill>
                <a:latin typeface="楷体_GB2312" panose="02010609030101010101" pitchFamily="49" charset="-122"/>
                <a:ea typeface="楷体_GB2312" panose="02010609030101010101" pitchFamily="49" charset="-122"/>
              </a:defRPr>
            </a:lvl9pPr>
          </a:lstStyle>
          <a:p>
            <a:r>
              <a:rPr lang="zh-CN" altLang="en-US" sz="2000">
                <a:latin typeface="Times New Roman" panose="02020603050405020304" pitchFamily="18" charset="0"/>
                <a:ea typeface="+mn-ea"/>
                <a:cs typeface="Times New Roman" panose="02020603050405020304" pitchFamily="18" charset="0"/>
              </a:rPr>
              <a:t>输出信号为</a:t>
            </a:r>
            <a:r>
              <a:rPr lang="en-US" altLang="zh-CN" sz="2000">
                <a:latin typeface="Times New Roman" panose="02020603050405020304" pitchFamily="18" charset="0"/>
                <a:ea typeface="+mn-ea"/>
                <a:cs typeface="Times New Roman" panose="02020603050405020304" pitchFamily="18" charset="0"/>
              </a:rPr>
              <a:t>:</a:t>
            </a:r>
            <a:endParaRPr lang="zh-CN" altLang="en-US" sz="2000">
              <a:latin typeface="Times New Roman" panose="02020603050405020304" pitchFamily="18" charset="0"/>
              <a:ea typeface="+mn-ea"/>
              <a:cs typeface="Times New Roman" panose="02020603050405020304" pitchFamily="18" charset="0"/>
              <a:sym typeface="Symbol" panose="05050102010706020507" pitchFamily="18" charset="2"/>
            </a:endParaRPr>
          </a:p>
        </p:txBody>
      </p:sp>
      <p:sp>
        <p:nvSpPr>
          <p:cNvPr id="18" name="Rectangle 25">
            <a:extLst>
              <a:ext uri="{FF2B5EF4-FFF2-40B4-BE49-F238E27FC236}">
                <a16:creationId xmlns="" xmlns:a16="http://schemas.microsoft.com/office/drawing/2014/main" id="{3D16FB54-EC38-9B83-6A28-57CC042E2126}"/>
              </a:ext>
            </a:extLst>
          </p:cNvPr>
          <p:cNvSpPr>
            <a:spLocks noChangeArrowheads="1"/>
          </p:cNvSpPr>
          <p:nvPr/>
        </p:nvSpPr>
        <p:spPr bwMode="auto">
          <a:xfrm>
            <a:off x="1869430" y="1277515"/>
            <a:ext cx="64071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tabLst>
                <a:tab pos="5249863" algn="r"/>
              </a:tabLst>
              <a:defRPr sz="1600" b="1">
                <a:solidFill>
                  <a:schemeClr val="tx1"/>
                </a:solidFill>
                <a:latin typeface="楷体_GB2312" panose="02010609030101010101" pitchFamily="49" charset="-122"/>
                <a:ea typeface="楷体_GB2312" panose="02010609030101010101" pitchFamily="49" charset="-122"/>
              </a:defRPr>
            </a:lvl1pPr>
            <a:lvl2pPr>
              <a:tabLst>
                <a:tab pos="5249863" algn="r"/>
              </a:tabLst>
              <a:defRPr sz="1600" b="1">
                <a:solidFill>
                  <a:schemeClr val="tx1"/>
                </a:solidFill>
                <a:latin typeface="楷体_GB2312" panose="02010609030101010101" pitchFamily="49" charset="-122"/>
                <a:ea typeface="楷体_GB2312" panose="02010609030101010101" pitchFamily="49" charset="-122"/>
              </a:defRPr>
            </a:lvl2pPr>
            <a:lvl3pPr>
              <a:tabLst>
                <a:tab pos="5249863" algn="r"/>
              </a:tabLst>
              <a:defRPr sz="1600" b="1">
                <a:solidFill>
                  <a:schemeClr val="tx1"/>
                </a:solidFill>
                <a:latin typeface="楷体_GB2312" panose="02010609030101010101" pitchFamily="49" charset="-122"/>
                <a:ea typeface="楷体_GB2312" panose="02010609030101010101" pitchFamily="49" charset="-122"/>
              </a:defRPr>
            </a:lvl3pPr>
            <a:lvl4pPr>
              <a:tabLst>
                <a:tab pos="5249863" algn="r"/>
              </a:tabLst>
              <a:defRPr sz="1600" b="1">
                <a:solidFill>
                  <a:schemeClr val="tx1"/>
                </a:solidFill>
                <a:latin typeface="楷体_GB2312" panose="02010609030101010101" pitchFamily="49" charset="-122"/>
                <a:ea typeface="楷体_GB2312" panose="02010609030101010101" pitchFamily="49" charset="-122"/>
              </a:defRPr>
            </a:lvl4pPr>
            <a:lvl5pPr>
              <a:tabLst>
                <a:tab pos="5249863" algn="r"/>
              </a:tabLst>
              <a:defRPr sz="1600" b="1">
                <a:solidFill>
                  <a:schemeClr val="tx1"/>
                </a:solidFill>
                <a:latin typeface="楷体_GB2312" panose="02010609030101010101" pitchFamily="49" charset="-122"/>
                <a:ea typeface="楷体_GB2312" panose="02010609030101010101" pitchFamily="49" charset="-122"/>
              </a:defRPr>
            </a:lvl5pPr>
            <a:lvl6pPr fontAlgn="base">
              <a:spcBef>
                <a:spcPct val="0"/>
              </a:spcBef>
              <a:spcAft>
                <a:spcPct val="0"/>
              </a:spcAft>
              <a:buFont typeface="Arial" panose="020B0604020202020204" pitchFamily="34" charset="0"/>
              <a:tabLst>
                <a:tab pos="5249863" algn="r"/>
              </a:tabLst>
              <a:defRPr sz="1600" b="1">
                <a:solidFill>
                  <a:schemeClr val="tx1"/>
                </a:solidFill>
                <a:latin typeface="楷体_GB2312" panose="02010609030101010101" pitchFamily="49" charset="-122"/>
                <a:ea typeface="楷体_GB2312" panose="02010609030101010101" pitchFamily="49" charset="-122"/>
              </a:defRPr>
            </a:lvl6pPr>
            <a:lvl7pPr fontAlgn="base">
              <a:spcBef>
                <a:spcPct val="0"/>
              </a:spcBef>
              <a:spcAft>
                <a:spcPct val="0"/>
              </a:spcAft>
              <a:buFont typeface="Arial" panose="020B0604020202020204" pitchFamily="34" charset="0"/>
              <a:tabLst>
                <a:tab pos="5249863" algn="r"/>
              </a:tabLst>
              <a:defRPr sz="1600" b="1">
                <a:solidFill>
                  <a:schemeClr val="tx1"/>
                </a:solidFill>
                <a:latin typeface="楷体_GB2312" panose="02010609030101010101" pitchFamily="49" charset="-122"/>
                <a:ea typeface="楷体_GB2312" panose="02010609030101010101" pitchFamily="49" charset="-122"/>
              </a:defRPr>
            </a:lvl7pPr>
            <a:lvl8pPr fontAlgn="base">
              <a:spcBef>
                <a:spcPct val="0"/>
              </a:spcBef>
              <a:spcAft>
                <a:spcPct val="0"/>
              </a:spcAft>
              <a:buFont typeface="Arial" panose="020B0604020202020204" pitchFamily="34" charset="0"/>
              <a:tabLst>
                <a:tab pos="5249863" algn="r"/>
              </a:tabLst>
              <a:defRPr sz="1600" b="1">
                <a:solidFill>
                  <a:schemeClr val="tx1"/>
                </a:solidFill>
                <a:latin typeface="楷体_GB2312" panose="02010609030101010101" pitchFamily="49" charset="-122"/>
                <a:ea typeface="楷体_GB2312" panose="02010609030101010101" pitchFamily="49" charset="-122"/>
              </a:defRPr>
            </a:lvl8pPr>
            <a:lvl9pPr fontAlgn="base">
              <a:spcBef>
                <a:spcPct val="0"/>
              </a:spcBef>
              <a:spcAft>
                <a:spcPct val="0"/>
              </a:spcAft>
              <a:buFont typeface="Arial" panose="020B0604020202020204" pitchFamily="34" charset="0"/>
              <a:tabLst>
                <a:tab pos="5249863" algn="r"/>
              </a:tabLst>
              <a:defRPr sz="1600" b="1">
                <a:solidFill>
                  <a:schemeClr val="tx1"/>
                </a:solidFill>
                <a:latin typeface="楷体_GB2312" panose="02010609030101010101" pitchFamily="49" charset="-122"/>
                <a:ea typeface="楷体_GB2312" panose="02010609030101010101" pitchFamily="49" charset="-122"/>
              </a:defRPr>
            </a:lvl9pPr>
          </a:lstStyle>
          <a:p>
            <a:r>
              <a:rPr lang="en-US" altLang="zh-CN" sz="2000" b="0" i="1" dirty="0">
                <a:latin typeface="Times New Roman" panose="02020603050405020304" pitchFamily="18" charset="0"/>
                <a:ea typeface="+mn-ea"/>
                <a:cs typeface="Times New Roman" panose="02020603050405020304" pitchFamily="18" charset="0"/>
                <a:sym typeface="Symbol" panose="05050102010706020507" pitchFamily="18" charset="2"/>
              </a:rPr>
              <a:t>v</a:t>
            </a:r>
            <a:r>
              <a:rPr lang="en-US" altLang="zh-CN" sz="2000" b="0" dirty="0">
                <a:latin typeface="Times New Roman" panose="02020603050405020304" pitchFamily="18" charset="0"/>
                <a:ea typeface="+mn-ea"/>
                <a:cs typeface="Times New Roman" panose="02020603050405020304" pitchFamily="18" charset="0"/>
              </a:rPr>
              <a:t> </a:t>
            </a:r>
            <a:r>
              <a:rPr lang="en-US" altLang="zh-CN" sz="2000" b="0" baseline="-30000" dirty="0">
                <a:latin typeface="Times New Roman" panose="02020603050405020304" pitchFamily="18" charset="0"/>
                <a:ea typeface="+mn-ea"/>
                <a:cs typeface="Times New Roman" panose="02020603050405020304" pitchFamily="18" charset="0"/>
              </a:rPr>
              <a:t>c</a:t>
            </a:r>
            <a:r>
              <a:rPr lang="en-US" altLang="zh-CN" sz="2000" b="0" dirty="0">
                <a:latin typeface="Times New Roman" panose="02020603050405020304" pitchFamily="18" charset="0"/>
                <a:ea typeface="+mn-ea"/>
                <a:cs typeface="Times New Roman" panose="02020603050405020304" pitchFamily="18" charset="0"/>
              </a:rPr>
              <a:t>(t)=</a:t>
            </a:r>
            <a:r>
              <a:rPr lang="en-US" altLang="zh-CN" sz="2000" b="0" dirty="0" err="1">
                <a:latin typeface="Times New Roman" panose="02020603050405020304" pitchFamily="18" charset="0"/>
                <a:ea typeface="+mn-ea"/>
                <a:cs typeface="Times New Roman" panose="02020603050405020304" pitchFamily="18" charset="0"/>
              </a:rPr>
              <a:t>V</a:t>
            </a:r>
            <a:r>
              <a:rPr lang="en-US" altLang="zh-CN" sz="2000" b="0" baseline="-30000" dirty="0" err="1">
                <a:latin typeface="Times New Roman" panose="02020603050405020304" pitchFamily="18" charset="0"/>
                <a:ea typeface="+mn-ea"/>
                <a:cs typeface="Times New Roman" panose="02020603050405020304" pitchFamily="18" charset="0"/>
              </a:rPr>
              <a:t>c</a:t>
            </a:r>
            <a:r>
              <a:rPr lang="en-US" altLang="zh-CN" sz="2000" b="0" dirty="0">
                <a:latin typeface="Times New Roman" panose="02020603050405020304" pitchFamily="18" charset="0"/>
                <a:ea typeface="+mn-ea"/>
                <a:cs typeface="Times New Roman" panose="02020603050405020304" pitchFamily="18" charset="0"/>
              </a:rPr>
              <a:t>(t)cos</a:t>
            </a:r>
            <a:r>
              <a:rPr lang="en-US" altLang="zh-CN" sz="2000" b="0" dirty="0">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sz="2000" b="0" baseline="-30000" dirty="0">
                <a:latin typeface="Times New Roman" panose="02020603050405020304" pitchFamily="18" charset="0"/>
                <a:ea typeface="+mn-ea"/>
                <a:cs typeface="Times New Roman" panose="02020603050405020304" pitchFamily="18" charset="0"/>
              </a:rPr>
              <a:t>0</a:t>
            </a:r>
            <a:r>
              <a:rPr lang="en-US" altLang="zh-CN" sz="2000" b="0" dirty="0">
                <a:latin typeface="Times New Roman" panose="02020603050405020304" pitchFamily="18" charset="0"/>
                <a:ea typeface="+mn-ea"/>
                <a:cs typeface="Times New Roman" panose="02020603050405020304" pitchFamily="18" charset="0"/>
                <a:sym typeface="Symbol" panose="05050102010706020507" pitchFamily="18" charset="2"/>
              </a:rPr>
              <a:t>t=[</a:t>
            </a:r>
            <a:r>
              <a:rPr lang="en-US" altLang="zh-CN" sz="2000" b="0" dirty="0" err="1">
                <a:latin typeface="Times New Roman" panose="02020603050405020304" pitchFamily="18" charset="0"/>
                <a:ea typeface="+mn-ea"/>
                <a:cs typeface="Times New Roman" panose="02020603050405020304" pitchFamily="18" charset="0"/>
                <a:sym typeface="Symbol" panose="05050102010706020507" pitchFamily="18" charset="2"/>
              </a:rPr>
              <a:t>V</a:t>
            </a:r>
            <a:r>
              <a:rPr lang="en-US" altLang="zh-CN" sz="2000" b="0" baseline="-30000" dirty="0" err="1">
                <a:latin typeface="Times New Roman" panose="02020603050405020304" pitchFamily="18" charset="0"/>
                <a:ea typeface="+mn-ea"/>
                <a:cs typeface="Times New Roman" panose="02020603050405020304" pitchFamily="18" charset="0"/>
                <a:sym typeface="Symbol" panose="05050102010706020507" pitchFamily="18" charset="2"/>
              </a:rPr>
              <a:t>cT</a:t>
            </a:r>
            <a:r>
              <a:rPr lang="en-US" altLang="zh-CN" sz="2000" b="0" baseline="-30000" dirty="0">
                <a:latin typeface="Times New Roman" panose="02020603050405020304" pitchFamily="18" charset="0"/>
                <a:ea typeface="+mn-ea"/>
                <a:cs typeface="Times New Roman" panose="02020603050405020304" pitchFamily="18" charset="0"/>
                <a:sym typeface="Symbol" panose="05050102010706020507" pitchFamily="18" charset="2"/>
              </a:rPr>
              <a:t> </a:t>
            </a:r>
            <a:r>
              <a:rPr lang="en-US" altLang="zh-CN" sz="2000" b="0" dirty="0">
                <a:latin typeface="Times New Roman" panose="02020603050405020304" pitchFamily="18" charset="0"/>
                <a:ea typeface="+mn-ea"/>
                <a:cs typeface="Times New Roman" panose="02020603050405020304" pitchFamily="18" charset="0"/>
                <a:sym typeface="Symbol" panose="05050102010706020507" pitchFamily="18" charset="2"/>
              </a:rPr>
              <a:t>+ </a:t>
            </a:r>
            <a:r>
              <a:rPr lang="en-US" altLang="zh-CN" sz="2000" b="0" i="1" dirty="0" err="1">
                <a:latin typeface="Times New Roman" panose="02020603050405020304" pitchFamily="18" charset="0"/>
                <a:ea typeface="+mn-ea"/>
                <a:cs typeface="Times New Roman" panose="02020603050405020304" pitchFamily="18" charset="0"/>
                <a:sym typeface="Symbol" panose="05050102010706020507" pitchFamily="18" charset="2"/>
              </a:rPr>
              <a:t>v</a:t>
            </a:r>
            <a:r>
              <a:rPr lang="en-US" altLang="zh-CN" sz="2000" b="0" baseline="-30000" dirty="0" err="1">
                <a:latin typeface="Times New Roman" panose="02020603050405020304" pitchFamily="18" charset="0"/>
                <a:ea typeface="+mn-ea"/>
                <a:cs typeface="Times New Roman" panose="02020603050405020304" pitchFamily="18" charset="0"/>
                <a:sym typeface="Symbol" panose="05050102010706020507" pitchFamily="18" charset="2"/>
              </a:rPr>
              <a:t>C</a:t>
            </a:r>
            <a:r>
              <a:rPr lang="en-US" altLang="zh-CN" sz="2000" b="0" dirty="0" err="1">
                <a:latin typeface="Times New Roman" panose="02020603050405020304" pitchFamily="18" charset="0"/>
                <a:ea typeface="+mn-ea"/>
                <a:cs typeface="Times New Roman" panose="02020603050405020304" pitchFamily="18" charset="0"/>
                <a:sym typeface="Symbol" panose="05050102010706020507" pitchFamily="18" charset="2"/>
              </a:rPr>
              <a:t>cost</a:t>
            </a:r>
            <a:r>
              <a:rPr lang="en-US" altLang="zh-CN" sz="2000" b="0" dirty="0">
                <a:latin typeface="Times New Roman" panose="02020603050405020304" pitchFamily="18" charset="0"/>
                <a:ea typeface="+mn-ea"/>
                <a:cs typeface="Times New Roman" panose="02020603050405020304" pitchFamily="18" charset="0"/>
                <a:sym typeface="Symbol" panose="05050102010706020507" pitchFamily="18" charset="2"/>
              </a:rPr>
              <a:t> ]cos </a:t>
            </a:r>
            <a:r>
              <a:rPr lang="en-US" altLang="zh-CN" sz="2000" b="0" baseline="-30000" dirty="0">
                <a:latin typeface="Times New Roman" panose="02020603050405020304" pitchFamily="18" charset="0"/>
                <a:ea typeface="+mn-ea"/>
                <a:cs typeface="Times New Roman" panose="02020603050405020304" pitchFamily="18" charset="0"/>
              </a:rPr>
              <a:t>0</a:t>
            </a:r>
            <a:r>
              <a:rPr lang="en-US" altLang="zh-CN" sz="2000" b="0" dirty="0">
                <a:latin typeface="Times New Roman" panose="02020603050405020304" pitchFamily="18" charset="0"/>
                <a:ea typeface="+mn-ea"/>
                <a:cs typeface="Times New Roman" panose="02020603050405020304" pitchFamily="18" charset="0"/>
                <a:sym typeface="Symbol" panose="05050102010706020507" pitchFamily="18" charset="2"/>
              </a:rPr>
              <a:t>t</a:t>
            </a:r>
          </a:p>
        </p:txBody>
      </p:sp>
      <p:graphicFrame>
        <p:nvGraphicFramePr>
          <p:cNvPr id="19" name="Object 26">
            <a:extLst>
              <a:ext uri="{FF2B5EF4-FFF2-40B4-BE49-F238E27FC236}">
                <a16:creationId xmlns="" xmlns:a16="http://schemas.microsoft.com/office/drawing/2014/main" id="{A03B1CBE-DF9E-C373-3FD9-3018D9AD796B}"/>
              </a:ext>
            </a:extLst>
          </p:cNvPr>
          <p:cNvGraphicFramePr>
            <a:graphicFrameLocks/>
          </p:cNvGraphicFramePr>
          <p:nvPr>
            <p:extLst>
              <p:ext uri="{D42A27DB-BD31-4B8C-83A1-F6EECF244321}">
                <p14:modId xmlns:p14="http://schemas.microsoft.com/office/powerpoint/2010/main" val="4159187071"/>
              </p:ext>
            </p:extLst>
          </p:nvPr>
        </p:nvGraphicFramePr>
        <p:xfrm>
          <a:off x="6055225" y="2656729"/>
          <a:ext cx="1202148" cy="791049"/>
        </p:xfrm>
        <a:graphic>
          <a:graphicData uri="http://schemas.openxmlformats.org/presentationml/2006/ole">
            <mc:AlternateContent xmlns:mc="http://schemas.openxmlformats.org/markup-compatibility/2006">
              <mc:Choice xmlns:v="urn:schemas-microsoft-com:vml" Requires="v">
                <p:oleObj spid="_x0000_s182339" r:id="rId13" imgW="634725" imgH="444307" progId="Equation.3">
                  <p:embed/>
                </p:oleObj>
              </mc:Choice>
              <mc:Fallback>
                <p:oleObj r:id="rId13" imgW="634725" imgH="444307" progId="Equation.3">
                  <p:embed/>
                  <p:pic>
                    <p:nvPicPr>
                      <p:cNvPr id="0" name=""/>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055225" y="2656729"/>
                        <a:ext cx="1202148" cy="791049"/>
                      </a:xfrm>
                      <a:prstGeom prst="rect">
                        <a:avLst/>
                      </a:prstGeom>
                      <a:solidFill>
                        <a:srgbClr val="FFFF00"/>
                      </a:solidFill>
                      <a:ln>
                        <a:noFill/>
                      </a:ln>
                      <a:extLst/>
                    </p:spPr>
                  </p:pic>
                </p:oleObj>
              </mc:Fallback>
            </mc:AlternateContent>
          </a:graphicData>
        </a:graphic>
      </p:graphicFrame>
    </p:spTree>
    <p:extLst>
      <p:ext uri="{BB962C8B-B14F-4D97-AF65-F5344CB8AC3E}">
        <p14:creationId xmlns:p14="http://schemas.microsoft.com/office/powerpoint/2010/main" val="2515504783"/>
      </p:ext>
    </p:extLst>
  </p:cSld>
  <p:clrMapOvr>
    <a:masterClrMapping/>
  </p:clrMapOvr>
  <p:timing>
    <p:tnLst>
      <p:par>
        <p:cTn id="1" dur="indefinite" restart="never" nodeType="tmRoot"/>
      </p:par>
    </p:tnLst>
  </p:timing>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231</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5"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6.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振幅调制</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与</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解调</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 name="Text Box 11">
            <a:extLst>
              <a:ext uri="{FF2B5EF4-FFF2-40B4-BE49-F238E27FC236}">
                <a16:creationId xmlns="" xmlns:a16="http://schemas.microsoft.com/office/drawing/2014/main" id="{2B7BFA47-DDDA-9785-A73C-318992AAFD14}"/>
              </a:ext>
            </a:extLst>
          </p:cNvPr>
          <p:cNvSpPr txBox="1">
            <a:spLocks noChangeArrowheads="1"/>
          </p:cNvSpPr>
          <p:nvPr/>
        </p:nvSpPr>
        <p:spPr bwMode="auto">
          <a:xfrm>
            <a:off x="1043608" y="1382824"/>
            <a:ext cx="174438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a:solidFill>
                  <a:schemeClr val="tx1"/>
                </a:solidFill>
                <a:latin typeface="Times New Roman" panose="02020603050405020304" pitchFamily="18" charset="0"/>
                <a:cs typeface="Times New Roman" panose="02020603050405020304" pitchFamily="18" charset="0"/>
              </a:rPr>
              <a:t>6) </a:t>
            </a:r>
            <a:r>
              <a:rPr lang="zh-CN" altLang="en-US" sz="2000">
                <a:solidFill>
                  <a:schemeClr val="tx1"/>
                </a:solidFill>
                <a:latin typeface="Times New Roman" panose="02020603050405020304" pitchFamily="18" charset="0"/>
                <a:cs typeface="Times New Roman" panose="02020603050405020304" pitchFamily="18" charset="0"/>
              </a:rPr>
              <a:t>集电极效率</a:t>
            </a:r>
          </a:p>
        </p:txBody>
      </p:sp>
      <p:graphicFrame>
        <p:nvGraphicFramePr>
          <p:cNvPr id="7" name="Object 13">
            <a:extLst>
              <a:ext uri="{FF2B5EF4-FFF2-40B4-BE49-F238E27FC236}">
                <a16:creationId xmlns="" xmlns:a16="http://schemas.microsoft.com/office/drawing/2014/main" id="{DD326793-EF06-C2E1-E206-EDB87695E7C4}"/>
              </a:ext>
            </a:extLst>
          </p:cNvPr>
          <p:cNvGraphicFramePr>
            <a:graphicFrameLocks/>
          </p:cNvGraphicFramePr>
          <p:nvPr>
            <p:extLst>
              <p:ext uri="{D42A27DB-BD31-4B8C-83A1-F6EECF244321}">
                <p14:modId xmlns:p14="http://schemas.microsoft.com/office/powerpoint/2010/main" val="2245546611"/>
              </p:ext>
            </p:extLst>
          </p:nvPr>
        </p:nvGraphicFramePr>
        <p:xfrm>
          <a:off x="2908221" y="1048917"/>
          <a:ext cx="3414713" cy="1231900"/>
        </p:xfrm>
        <a:graphic>
          <a:graphicData uri="http://schemas.openxmlformats.org/presentationml/2006/ole">
            <mc:AlternateContent xmlns:mc="http://schemas.openxmlformats.org/markup-compatibility/2006">
              <mc:Choice xmlns:v="urn:schemas-microsoft-com:vml" Requires="v">
                <p:oleObj spid="_x0000_s183328" r:id="rId3" imgW="2184400" imgH="787400" progId="Equation.3">
                  <p:embed/>
                </p:oleObj>
              </mc:Choice>
              <mc:Fallback>
                <p:oleObj r:id="rId3" imgW="2184400" imgH="787400" progId="Equation.3">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08221" y="1048917"/>
                        <a:ext cx="3414713" cy="123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 name="Text Box 13">
            <a:extLst>
              <a:ext uri="{FF2B5EF4-FFF2-40B4-BE49-F238E27FC236}">
                <a16:creationId xmlns="" xmlns:a16="http://schemas.microsoft.com/office/drawing/2014/main" id="{8BACFF15-DA2C-0C94-08E3-9C20E267F434}"/>
              </a:ext>
            </a:extLst>
          </p:cNvPr>
          <p:cNvSpPr txBox="1">
            <a:spLocks noChangeArrowheads="1"/>
          </p:cNvSpPr>
          <p:nvPr/>
        </p:nvSpPr>
        <p:spPr bwMode="auto">
          <a:xfrm>
            <a:off x="525388" y="2037145"/>
            <a:ext cx="69762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chemeClr val="tx1"/>
                </a:solidFill>
                <a:latin typeface="Times New Roman" panose="02020603050405020304" pitchFamily="18" charset="0"/>
                <a:cs typeface="Times New Roman" panose="02020603050405020304" pitchFamily="18" charset="0"/>
              </a:rPr>
              <a:t>故：</a:t>
            </a:r>
          </a:p>
        </p:txBody>
      </p:sp>
      <p:sp>
        <p:nvSpPr>
          <p:cNvPr id="9" name="Text Box 14">
            <a:extLst>
              <a:ext uri="{FF2B5EF4-FFF2-40B4-BE49-F238E27FC236}">
                <a16:creationId xmlns="" xmlns:a16="http://schemas.microsoft.com/office/drawing/2014/main" id="{406CA92D-F57D-A886-EAE2-878643D1877D}"/>
              </a:ext>
            </a:extLst>
          </p:cNvPr>
          <p:cNvSpPr txBox="1">
            <a:spLocks noChangeArrowheads="1"/>
          </p:cNvSpPr>
          <p:nvPr/>
        </p:nvSpPr>
        <p:spPr bwMode="auto">
          <a:xfrm>
            <a:off x="525388" y="2938665"/>
            <a:ext cx="8533331"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000" dirty="0">
                <a:solidFill>
                  <a:schemeClr val="tx1"/>
                </a:solidFill>
                <a:latin typeface="Times New Roman" panose="02020603050405020304" pitchFamily="18" charset="0"/>
                <a:cs typeface="Times New Roman" panose="02020603050405020304" pitchFamily="18" charset="0"/>
              </a:rPr>
              <a:t>2)  </a:t>
            </a:r>
            <a:r>
              <a:rPr lang="zh-CN" altLang="en-US" sz="2000" dirty="0">
                <a:solidFill>
                  <a:schemeClr val="tx1"/>
                </a:solidFill>
                <a:latin typeface="Times New Roman" panose="02020603050405020304" pitchFamily="18" charset="0"/>
                <a:cs typeface="Times New Roman" panose="02020603050405020304" pitchFamily="18" charset="0"/>
              </a:rPr>
              <a:t>总输入功率分别由</a:t>
            </a:r>
            <a:r>
              <a:rPr lang="en-US" altLang="zh-CN" sz="2000" dirty="0">
                <a:solidFill>
                  <a:schemeClr val="tx1"/>
                </a:solidFill>
                <a:latin typeface="Times New Roman" panose="02020603050405020304" pitchFamily="18" charset="0"/>
                <a:cs typeface="Times New Roman" panose="02020603050405020304" pitchFamily="18" charset="0"/>
              </a:rPr>
              <a:t>V</a:t>
            </a:r>
            <a:r>
              <a:rPr lang="en-US" altLang="zh-CN" sz="2000" baseline="-25000" dirty="0">
                <a:solidFill>
                  <a:schemeClr val="tx1"/>
                </a:solidFill>
                <a:latin typeface="Times New Roman" panose="02020603050405020304" pitchFamily="18" charset="0"/>
                <a:cs typeface="Times New Roman" panose="02020603050405020304" pitchFamily="18" charset="0"/>
              </a:rPr>
              <a:t>CT</a:t>
            </a:r>
            <a:r>
              <a:rPr lang="zh-CN" altLang="en-US" sz="2000" dirty="0">
                <a:solidFill>
                  <a:schemeClr val="tx1"/>
                </a:solidFill>
                <a:latin typeface="Times New Roman" panose="02020603050405020304" pitchFamily="18" charset="0"/>
                <a:cs typeface="Times New Roman" panose="02020603050405020304" pitchFamily="18" charset="0"/>
              </a:rPr>
              <a:t>与</a:t>
            </a:r>
            <a:r>
              <a:rPr lang="en-US" altLang="zh-CN" sz="2000" dirty="0">
                <a:solidFill>
                  <a:schemeClr val="tx1"/>
                </a:solidFill>
                <a:latin typeface="Times New Roman" panose="02020603050405020304" pitchFamily="18" charset="0"/>
                <a:cs typeface="Times New Roman" panose="02020603050405020304" pitchFamily="18" charset="0"/>
              </a:rPr>
              <a:t>V</a:t>
            </a:r>
            <a:r>
              <a:rPr lang="en-US" altLang="zh-CN" sz="2000" baseline="-25000" dirty="0">
                <a:solidFill>
                  <a:schemeClr val="tx1"/>
                </a:solidFill>
                <a:latin typeface="Times New Roman" panose="02020603050405020304" pitchFamily="18" charset="0"/>
                <a:cs typeface="Times New Roman" panose="02020603050405020304" pitchFamily="18" charset="0"/>
              </a:rPr>
              <a:t>C</a:t>
            </a:r>
            <a:r>
              <a:rPr lang="en-US" altLang="zh-CN" sz="2000" baseline="-2500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zh-CN" altLang="en-US" sz="2000" dirty="0">
                <a:solidFill>
                  <a:schemeClr val="tx1"/>
                </a:solidFill>
                <a:latin typeface="Times New Roman" panose="02020603050405020304" pitchFamily="18" charset="0"/>
                <a:cs typeface="Times New Roman" panose="02020603050405020304" pitchFamily="18" charset="0"/>
              </a:rPr>
              <a:t>所供给，</a:t>
            </a:r>
            <a:r>
              <a:rPr lang="en-US" altLang="zh-CN" sz="2000" dirty="0">
                <a:solidFill>
                  <a:schemeClr val="tx1"/>
                </a:solidFill>
                <a:latin typeface="Times New Roman" panose="02020603050405020304" pitchFamily="18" charset="0"/>
                <a:cs typeface="Times New Roman" panose="02020603050405020304" pitchFamily="18" charset="0"/>
              </a:rPr>
              <a:t>V</a:t>
            </a:r>
            <a:r>
              <a:rPr lang="en-US" altLang="zh-CN" sz="2000" baseline="-25000" dirty="0">
                <a:solidFill>
                  <a:schemeClr val="tx1"/>
                </a:solidFill>
                <a:latin typeface="Times New Roman" panose="02020603050405020304" pitchFamily="18" charset="0"/>
                <a:cs typeface="Times New Roman" panose="02020603050405020304" pitchFamily="18" charset="0"/>
              </a:rPr>
              <a:t>CT</a:t>
            </a:r>
            <a:r>
              <a:rPr lang="zh-CN" altLang="en-US" sz="2000" dirty="0">
                <a:solidFill>
                  <a:schemeClr val="tx1"/>
                </a:solidFill>
                <a:latin typeface="Times New Roman" panose="02020603050405020304" pitchFamily="18" charset="0"/>
                <a:cs typeface="Times New Roman" panose="02020603050405020304" pitchFamily="18" charset="0"/>
              </a:rPr>
              <a:t>供给用以</a:t>
            </a:r>
            <a:r>
              <a:rPr lang="zh-CN" altLang="en-US" sz="2000" dirty="0" smtClean="0">
                <a:solidFill>
                  <a:schemeClr val="tx1"/>
                </a:solidFill>
                <a:latin typeface="Times New Roman" panose="02020603050405020304" pitchFamily="18" charset="0"/>
                <a:cs typeface="Times New Roman" panose="02020603050405020304" pitchFamily="18" charset="0"/>
              </a:rPr>
              <a:t>产生</a:t>
            </a:r>
            <a:r>
              <a:rPr lang="zh-CN" altLang="en-US" sz="2000" dirty="0">
                <a:solidFill>
                  <a:schemeClr val="tx1"/>
                </a:solidFill>
                <a:latin typeface="Times New Roman" panose="02020603050405020304" pitchFamily="18" charset="0"/>
                <a:cs typeface="Times New Roman" panose="02020603050405020304" pitchFamily="18" charset="0"/>
              </a:rPr>
              <a:t>载波功率的直流功率</a:t>
            </a:r>
            <a:r>
              <a:rPr lang="en-US" altLang="zh-CN" sz="2000" dirty="0">
                <a:solidFill>
                  <a:schemeClr val="tx1"/>
                </a:solidFill>
                <a:latin typeface="Times New Roman" panose="02020603050405020304" pitchFamily="18" charset="0"/>
                <a:cs typeface="Times New Roman" panose="02020603050405020304" pitchFamily="18" charset="0"/>
              </a:rPr>
              <a:t>P</a:t>
            </a:r>
            <a:r>
              <a:rPr lang="en-US" altLang="zh-CN" sz="2000" baseline="-25000" dirty="0">
                <a:solidFill>
                  <a:schemeClr val="tx1"/>
                </a:solidFill>
                <a:latin typeface="Times New Roman" panose="02020603050405020304" pitchFamily="18" charset="0"/>
                <a:cs typeface="Times New Roman" panose="02020603050405020304" pitchFamily="18" charset="0"/>
              </a:rPr>
              <a:t>=T</a:t>
            </a:r>
            <a:r>
              <a:rPr lang="zh-CN" altLang="en-US" sz="2000" dirty="0">
                <a:solidFill>
                  <a:schemeClr val="tx1"/>
                </a:solidFill>
                <a:latin typeface="Times New Roman" panose="02020603050405020304" pitchFamily="18" charset="0"/>
                <a:cs typeface="Times New Roman" panose="02020603050405020304" pitchFamily="18" charset="0"/>
              </a:rPr>
              <a:t>，</a:t>
            </a:r>
            <a:r>
              <a:rPr lang="en-US" altLang="zh-CN" sz="2000" dirty="0">
                <a:solidFill>
                  <a:schemeClr val="tx1"/>
                </a:solidFill>
                <a:latin typeface="Times New Roman" panose="02020603050405020304" pitchFamily="18" charset="0"/>
                <a:cs typeface="Times New Roman" panose="02020603050405020304" pitchFamily="18" charset="0"/>
              </a:rPr>
              <a:t>V</a:t>
            </a:r>
            <a:r>
              <a:rPr lang="en-US" altLang="zh-CN" sz="2000" baseline="-25000" dirty="0">
                <a:solidFill>
                  <a:schemeClr val="tx1"/>
                </a:solidFill>
                <a:latin typeface="Times New Roman" panose="02020603050405020304" pitchFamily="18" charset="0"/>
                <a:cs typeface="Times New Roman" panose="02020603050405020304" pitchFamily="18" charset="0"/>
              </a:rPr>
              <a:t>C</a:t>
            </a:r>
            <a:r>
              <a:rPr lang="en-US" altLang="zh-CN" sz="2000" baseline="-2500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zh-CN" altLang="en-US" sz="2000" dirty="0">
                <a:solidFill>
                  <a:schemeClr val="tx1"/>
                </a:solidFill>
                <a:latin typeface="Times New Roman" panose="02020603050405020304" pitchFamily="18" charset="0"/>
                <a:cs typeface="Times New Roman" panose="02020603050405020304" pitchFamily="18" charset="0"/>
              </a:rPr>
              <a:t>则供给用以产生</a:t>
            </a:r>
            <a:r>
              <a:rPr lang="zh-CN" altLang="en-US" sz="2000" dirty="0" smtClean="0">
                <a:solidFill>
                  <a:schemeClr val="tx1"/>
                </a:solidFill>
                <a:latin typeface="Times New Roman" panose="02020603050405020304" pitchFamily="18" charset="0"/>
                <a:cs typeface="Times New Roman" panose="02020603050405020304" pitchFamily="18" charset="0"/>
              </a:rPr>
              <a:t>边带</a:t>
            </a:r>
            <a:r>
              <a:rPr lang="zh-CN" altLang="en-US" sz="2000" dirty="0">
                <a:solidFill>
                  <a:schemeClr val="tx1"/>
                </a:solidFill>
                <a:latin typeface="Times New Roman" panose="02020603050405020304" pitchFamily="18" charset="0"/>
                <a:cs typeface="Times New Roman" panose="02020603050405020304" pitchFamily="18" charset="0"/>
              </a:rPr>
              <a:t>功率的平均功率</a:t>
            </a:r>
            <a:r>
              <a:rPr lang="en-US" altLang="zh-CN" sz="2000" dirty="0">
                <a:solidFill>
                  <a:schemeClr val="tx1"/>
                </a:solidFill>
                <a:latin typeface="Times New Roman" panose="02020603050405020304" pitchFamily="18" charset="0"/>
                <a:cs typeface="Times New Roman" panose="02020603050405020304" pitchFamily="18" charset="0"/>
              </a:rPr>
              <a:t>P</a:t>
            </a:r>
            <a:r>
              <a:rPr lang="en-US" altLang="zh-CN" sz="2000" baseline="-25000" dirty="0">
                <a:solidFill>
                  <a:schemeClr val="tx1"/>
                </a:solidFill>
                <a:latin typeface="Times New Roman" panose="02020603050405020304" pitchFamily="18" charset="0"/>
                <a:cs typeface="Times New Roman" panose="02020603050405020304" pitchFamily="18" charset="0"/>
              </a:rPr>
              <a:t>DSB</a:t>
            </a:r>
            <a:r>
              <a:rPr lang="zh-CN" altLang="en-US" sz="2000" dirty="0">
                <a:solidFill>
                  <a:schemeClr val="tx1"/>
                </a:solidFill>
                <a:latin typeface="Times New Roman" panose="02020603050405020304" pitchFamily="18" charset="0"/>
                <a:cs typeface="Times New Roman" panose="02020603050405020304" pitchFamily="18" charset="0"/>
              </a:rPr>
              <a:t>。</a:t>
            </a:r>
          </a:p>
        </p:txBody>
      </p:sp>
      <p:sp>
        <p:nvSpPr>
          <p:cNvPr id="10" name="Text Box 16">
            <a:extLst>
              <a:ext uri="{FF2B5EF4-FFF2-40B4-BE49-F238E27FC236}">
                <a16:creationId xmlns="" xmlns:a16="http://schemas.microsoft.com/office/drawing/2014/main" id="{BD7B5C4E-12B4-40F1-A9B1-C8FFFEB7EC38}"/>
              </a:ext>
            </a:extLst>
          </p:cNvPr>
          <p:cNvSpPr txBox="1">
            <a:spLocks noChangeArrowheads="1"/>
          </p:cNvSpPr>
          <p:nvPr/>
        </p:nvSpPr>
        <p:spPr bwMode="auto">
          <a:xfrm>
            <a:off x="525388" y="2460596"/>
            <a:ext cx="492795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dirty="0">
                <a:solidFill>
                  <a:schemeClr val="tx1"/>
                </a:solidFill>
                <a:latin typeface="Times New Roman" panose="02020603050405020304" pitchFamily="18" charset="0"/>
                <a:cs typeface="Times New Roman" panose="02020603050405020304" pitchFamily="18" charset="0"/>
              </a:rPr>
              <a:t>1)  </a:t>
            </a:r>
            <a:r>
              <a:rPr lang="zh-CN" altLang="en-US" sz="2000" dirty="0">
                <a:solidFill>
                  <a:schemeClr val="tx1"/>
                </a:solidFill>
                <a:latin typeface="Times New Roman" panose="02020603050405020304" pitchFamily="18" charset="0"/>
                <a:cs typeface="Times New Roman" panose="02020603050405020304" pitchFamily="18" charset="0"/>
              </a:rPr>
              <a:t>平均功率均为载波点各功率的</a:t>
            </a:r>
            <a:r>
              <a:rPr lang="en-US" altLang="zh-CN" sz="2000" dirty="0" smtClean="0">
                <a:solidFill>
                  <a:schemeClr val="tx1"/>
                </a:solidFill>
                <a:latin typeface="Times New Roman" panose="02020603050405020304" pitchFamily="18" charset="0"/>
                <a:cs typeface="Times New Roman" panose="02020603050405020304" pitchFamily="18" charset="0"/>
              </a:rPr>
              <a:t>(          </a:t>
            </a:r>
            <a:r>
              <a:rPr lang="en-US" altLang="zh-CN" sz="2000" dirty="0">
                <a:solidFill>
                  <a:schemeClr val="tx1"/>
                </a:solidFill>
                <a:latin typeface="Times New Roman" panose="02020603050405020304" pitchFamily="18" charset="0"/>
                <a:cs typeface="Times New Roman" panose="02020603050405020304" pitchFamily="18" charset="0"/>
              </a:rPr>
              <a:t>)</a:t>
            </a:r>
            <a:r>
              <a:rPr lang="zh-CN" altLang="en-US" sz="2000" dirty="0">
                <a:solidFill>
                  <a:schemeClr val="tx1"/>
                </a:solidFill>
                <a:latin typeface="Times New Roman" panose="02020603050405020304" pitchFamily="18" charset="0"/>
                <a:cs typeface="Times New Roman" panose="02020603050405020304" pitchFamily="18" charset="0"/>
              </a:rPr>
              <a:t>倍</a:t>
            </a:r>
          </a:p>
        </p:txBody>
      </p:sp>
      <p:graphicFrame>
        <p:nvGraphicFramePr>
          <p:cNvPr id="11" name="Object 14">
            <a:extLst>
              <a:ext uri="{FF2B5EF4-FFF2-40B4-BE49-F238E27FC236}">
                <a16:creationId xmlns="" xmlns:a16="http://schemas.microsoft.com/office/drawing/2014/main" id="{330548F0-876E-B068-DF8F-02C05CA25241}"/>
              </a:ext>
            </a:extLst>
          </p:cNvPr>
          <p:cNvGraphicFramePr>
            <a:graphicFrameLocks/>
          </p:cNvGraphicFramePr>
          <p:nvPr>
            <p:extLst>
              <p:ext uri="{D42A27DB-BD31-4B8C-83A1-F6EECF244321}">
                <p14:modId xmlns:p14="http://schemas.microsoft.com/office/powerpoint/2010/main" val="1202319930"/>
              </p:ext>
            </p:extLst>
          </p:nvPr>
        </p:nvGraphicFramePr>
        <p:xfrm>
          <a:off x="4341738" y="2434984"/>
          <a:ext cx="684213" cy="504825"/>
        </p:xfrm>
        <a:graphic>
          <a:graphicData uri="http://schemas.openxmlformats.org/presentationml/2006/ole">
            <mc:AlternateContent xmlns:mc="http://schemas.openxmlformats.org/markup-compatibility/2006">
              <mc:Choice xmlns:v="urn:schemas-microsoft-com:vml" Requires="v">
                <p:oleObj spid="_x0000_s183329" r:id="rId5" imgW="533169" imgH="393529" progId="Equation.3">
                  <p:embed/>
                </p:oleObj>
              </mc:Choice>
              <mc:Fallback>
                <p:oleObj r:id="rId5" imgW="533169" imgH="393529" progId="Equation.3">
                  <p:embed/>
                  <p:pic>
                    <p:nvPicPr>
                      <p:cNvPr id="0" name=""/>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41738" y="2434984"/>
                        <a:ext cx="684213"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2" name="Text Box 19">
            <a:extLst>
              <a:ext uri="{FF2B5EF4-FFF2-40B4-BE49-F238E27FC236}">
                <a16:creationId xmlns="" xmlns:a16="http://schemas.microsoft.com/office/drawing/2014/main" id="{E2292CA5-2DC7-3174-37BC-66D44EDEA74C}"/>
              </a:ext>
            </a:extLst>
          </p:cNvPr>
          <p:cNvSpPr txBox="1">
            <a:spLocks noChangeArrowheads="1"/>
          </p:cNvSpPr>
          <p:nvPr/>
        </p:nvSpPr>
        <p:spPr bwMode="auto">
          <a:xfrm>
            <a:off x="525388" y="3681527"/>
            <a:ext cx="8533331"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000" dirty="0">
                <a:solidFill>
                  <a:schemeClr val="tx1"/>
                </a:solidFill>
                <a:latin typeface="Times New Roman" panose="02020603050405020304" pitchFamily="18" charset="0"/>
                <a:cs typeface="Times New Roman" panose="02020603050405020304" pitchFamily="18" charset="0"/>
              </a:rPr>
              <a:t>3)  </a:t>
            </a:r>
            <a:r>
              <a:rPr lang="zh-CN" altLang="en-US" sz="2000" dirty="0">
                <a:solidFill>
                  <a:schemeClr val="tx1"/>
                </a:solidFill>
                <a:latin typeface="Times New Roman" panose="02020603050405020304" pitchFamily="18" charset="0"/>
                <a:cs typeface="Times New Roman" panose="02020603050405020304" pitchFamily="18" charset="0"/>
              </a:rPr>
              <a:t>集电极平均耗散功率等于载波点耗散功率的</a:t>
            </a:r>
            <a:r>
              <a:rPr lang="en-US" altLang="zh-CN" sz="2000" dirty="0">
                <a:solidFill>
                  <a:schemeClr val="tx1"/>
                </a:solidFill>
                <a:latin typeface="Times New Roman" panose="02020603050405020304" pitchFamily="18" charset="0"/>
                <a:cs typeface="Times New Roman" panose="02020603050405020304" pitchFamily="18" charset="0"/>
              </a:rPr>
              <a:t>( </a:t>
            </a:r>
            <a:r>
              <a:rPr lang="en-US" altLang="zh-CN" sz="2000" dirty="0" smtClean="0">
                <a:solidFill>
                  <a:schemeClr val="tx1"/>
                </a:solidFill>
                <a:latin typeface="Times New Roman" panose="02020603050405020304" pitchFamily="18" charset="0"/>
                <a:cs typeface="Times New Roman" panose="02020603050405020304" pitchFamily="18" charset="0"/>
              </a:rPr>
              <a:t>           </a:t>
            </a:r>
            <a:r>
              <a:rPr lang="en-US" altLang="zh-CN" sz="2000" dirty="0">
                <a:solidFill>
                  <a:schemeClr val="tx1"/>
                </a:solidFill>
                <a:latin typeface="Times New Roman" panose="02020603050405020304" pitchFamily="18" charset="0"/>
                <a:cs typeface="Times New Roman" panose="02020603050405020304" pitchFamily="18" charset="0"/>
              </a:rPr>
              <a:t>)</a:t>
            </a:r>
            <a:r>
              <a:rPr lang="zh-CN" altLang="en-US" sz="2000" dirty="0">
                <a:solidFill>
                  <a:schemeClr val="tx1"/>
                </a:solidFill>
                <a:latin typeface="Times New Roman" panose="02020603050405020304" pitchFamily="18" charset="0"/>
                <a:cs typeface="Times New Roman" panose="02020603050405020304" pitchFamily="18" charset="0"/>
              </a:rPr>
              <a:t>倍</a:t>
            </a:r>
            <a:r>
              <a:rPr lang="zh-CN" altLang="en-US" sz="2000" dirty="0" smtClean="0">
                <a:solidFill>
                  <a:schemeClr val="tx1"/>
                </a:solidFill>
                <a:latin typeface="Times New Roman" panose="02020603050405020304" pitchFamily="18" charset="0"/>
                <a:cs typeface="Times New Roman" panose="02020603050405020304" pitchFamily="18" charset="0"/>
              </a:rPr>
              <a:t>， </a:t>
            </a:r>
            <a:r>
              <a:rPr lang="zh-CN" altLang="en-US" sz="2000" dirty="0">
                <a:solidFill>
                  <a:schemeClr val="tx1"/>
                </a:solidFill>
                <a:latin typeface="Times New Roman" panose="02020603050405020304" pitchFamily="18" charset="0"/>
                <a:cs typeface="Times New Roman" panose="02020603050405020304" pitchFamily="18" charset="0"/>
              </a:rPr>
              <a:t>应根据这一平均耗散功率来选择晶体管，以使</a:t>
            </a:r>
            <a:r>
              <a:rPr lang="en-US" altLang="zh-CN" sz="2000" dirty="0" err="1">
                <a:solidFill>
                  <a:schemeClr val="tx1"/>
                </a:solidFill>
                <a:latin typeface="Times New Roman" panose="02020603050405020304" pitchFamily="18" charset="0"/>
                <a:cs typeface="Times New Roman" panose="02020603050405020304" pitchFamily="18" charset="0"/>
              </a:rPr>
              <a:t>P</a:t>
            </a:r>
            <a:r>
              <a:rPr lang="en-US" altLang="zh-CN" sz="2000" baseline="-25000" dirty="0" err="1">
                <a:solidFill>
                  <a:schemeClr val="tx1"/>
                </a:solidFill>
                <a:latin typeface="Times New Roman" panose="02020603050405020304" pitchFamily="18" charset="0"/>
                <a:cs typeface="Times New Roman" panose="02020603050405020304" pitchFamily="18" charset="0"/>
              </a:rPr>
              <a:t>CM</a:t>
            </a:r>
            <a:r>
              <a:rPr lang="en-US" altLang="zh-CN" sz="2000" dirty="0" err="1">
                <a:solidFill>
                  <a:schemeClr val="tx1"/>
                </a:solidFill>
                <a:latin typeface="Times New Roman" panose="02020603050405020304" pitchFamily="18" charset="0"/>
                <a:cs typeface="Times New Roman" panose="02020603050405020304" pitchFamily="18" charset="0"/>
              </a:rPr>
              <a:t>≥P</a:t>
            </a:r>
            <a:r>
              <a:rPr lang="en-US" altLang="zh-CN" sz="2000" baseline="-25000" dirty="0" err="1">
                <a:solidFill>
                  <a:schemeClr val="tx1"/>
                </a:solidFill>
                <a:latin typeface="Times New Roman" panose="02020603050405020304" pitchFamily="18" charset="0"/>
                <a:cs typeface="Times New Roman" panose="02020603050405020304" pitchFamily="18" charset="0"/>
              </a:rPr>
              <a:t>cav</a:t>
            </a:r>
            <a:r>
              <a:rPr lang="zh-CN" altLang="en-US" sz="2000" dirty="0">
                <a:solidFill>
                  <a:schemeClr val="tx1"/>
                </a:solidFill>
                <a:latin typeface="Times New Roman" panose="02020603050405020304" pitchFamily="18" charset="0"/>
                <a:cs typeface="Times New Roman" panose="02020603050405020304" pitchFamily="18" charset="0"/>
              </a:rPr>
              <a:t>。</a:t>
            </a:r>
          </a:p>
        </p:txBody>
      </p:sp>
      <p:graphicFrame>
        <p:nvGraphicFramePr>
          <p:cNvPr id="13" name="Object 15">
            <a:extLst>
              <a:ext uri="{FF2B5EF4-FFF2-40B4-BE49-F238E27FC236}">
                <a16:creationId xmlns="" xmlns:a16="http://schemas.microsoft.com/office/drawing/2014/main" id="{2FDB8DC2-7B0D-C071-8522-26D08BDFB5C9}"/>
              </a:ext>
            </a:extLst>
          </p:cNvPr>
          <p:cNvGraphicFramePr>
            <a:graphicFrameLocks/>
          </p:cNvGraphicFramePr>
          <p:nvPr>
            <p:extLst>
              <p:ext uri="{D42A27DB-BD31-4B8C-83A1-F6EECF244321}">
                <p14:modId xmlns:p14="http://schemas.microsoft.com/office/powerpoint/2010/main" val="3686577668"/>
              </p:ext>
            </p:extLst>
          </p:nvPr>
        </p:nvGraphicFramePr>
        <p:xfrm>
          <a:off x="5869304" y="3615589"/>
          <a:ext cx="755650" cy="557213"/>
        </p:xfrm>
        <a:graphic>
          <a:graphicData uri="http://schemas.openxmlformats.org/presentationml/2006/ole">
            <mc:AlternateContent xmlns:mc="http://schemas.openxmlformats.org/markup-compatibility/2006">
              <mc:Choice xmlns:v="urn:schemas-microsoft-com:vml" Requires="v">
                <p:oleObj spid="_x0000_s183330" r:id="rId7" imgW="533169" imgH="393529" progId="Equation.3">
                  <p:embed/>
                </p:oleObj>
              </mc:Choice>
              <mc:Fallback>
                <p:oleObj r:id="rId7" imgW="533169" imgH="393529" progId="Equation.3">
                  <p:embed/>
                  <p:pic>
                    <p:nvPicPr>
                      <p:cNvPr id="0" name=""/>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69304" y="3615589"/>
                        <a:ext cx="755650" cy="557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4" name="Text Box 21">
            <a:extLst>
              <a:ext uri="{FF2B5EF4-FFF2-40B4-BE49-F238E27FC236}">
                <a16:creationId xmlns="" xmlns:a16="http://schemas.microsoft.com/office/drawing/2014/main" id="{58D255F9-792C-73A4-07A7-386764606281}"/>
              </a:ext>
            </a:extLst>
          </p:cNvPr>
          <p:cNvSpPr txBox="1">
            <a:spLocks noChangeArrowheads="1"/>
          </p:cNvSpPr>
          <p:nvPr/>
        </p:nvSpPr>
        <p:spPr bwMode="auto">
          <a:xfrm>
            <a:off x="525388" y="4361827"/>
            <a:ext cx="8533331"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000" dirty="0">
                <a:solidFill>
                  <a:schemeClr val="tx1"/>
                </a:solidFill>
                <a:latin typeface="Times New Roman" panose="02020603050405020304" pitchFamily="18" charset="0"/>
                <a:cs typeface="Times New Roman" panose="02020603050405020304" pitchFamily="18" charset="0"/>
              </a:rPr>
              <a:t>4)  </a:t>
            </a:r>
            <a:r>
              <a:rPr lang="zh-CN" altLang="en-US" sz="2000" dirty="0">
                <a:solidFill>
                  <a:schemeClr val="tx1"/>
                </a:solidFill>
                <a:latin typeface="Times New Roman" panose="02020603050405020304" pitchFamily="18" charset="0"/>
                <a:cs typeface="Times New Roman" panose="02020603050405020304" pitchFamily="18" charset="0"/>
              </a:rPr>
              <a:t>输出的边频功率由调制器供给的功率转换得到，</a:t>
            </a:r>
            <a:r>
              <a:rPr lang="zh-CN" altLang="en-US" sz="2000" dirty="0" smtClean="0">
                <a:solidFill>
                  <a:schemeClr val="tx1"/>
                </a:solidFill>
                <a:latin typeface="Times New Roman" panose="02020603050405020304" pitchFamily="18" charset="0"/>
                <a:cs typeface="Times New Roman" panose="02020603050405020304" pitchFamily="18" charset="0"/>
              </a:rPr>
              <a:t>大功率</a:t>
            </a:r>
            <a:r>
              <a:rPr lang="zh-CN" altLang="en-US" sz="2000" dirty="0">
                <a:solidFill>
                  <a:schemeClr val="tx1"/>
                </a:solidFill>
                <a:latin typeface="Times New Roman" panose="02020603050405020304" pitchFamily="18" charset="0"/>
                <a:cs typeface="Times New Roman" panose="02020603050405020304" pitchFamily="18" charset="0"/>
              </a:rPr>
              <a:t>集电极调幅就需要大功率的调制信号电源。</a:t>
            </a:r>
          </a:p>
        </p:txBody>
      </p:sp>
      <p:sp>
        <p:nvSpPr>
          <p:cNvPr id="15" name="Text Box 12">
            <a:extLst>
              <a:ext uri="{FF2B5EF4-FFF2-40B4-BE49-F238E27FC236}">
                <a16:creationId xmlns="" xmlns:a16="http://schemas.microsoft.com/office/drawing/2014/main" id="{FB42E5E8-0F11-2612-F383-8D36AB3CD735}"/>
              </a:ext>
            </a:extLst>
          </p:cNvPr>
          <p:cNvSpPr txBox="1">
            <a:spLocks noChangeArrowheads="1"/>
          </p:cNvSpPr>
          <p:nvPr/>
        </p:nvSpPr>
        <p:spPr bwMode="auto">
          <a:xfrm>
            <a:off x="521172" y="5014993"/>
            <a:ext cx="360387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a:solidFill>
                  <a:schemeClr val="tx1"/>
                </a:solidFill>
                <a:latin typeface="Times New Roman" panose="02020603050405020304" pitchFamily="18" charset="0"/>
                <a:cs typeface="Times New Roman" panose="02020603050405020304" pitchFamily="18" charset="0"/>
              </a:rPr>
              <a:t>5)  集电极调幅为等效率调幅。</a:t>
            </a:r>
          </a:p>
        </p:txBody>
      </p:sp>
    </p:spTree>
    <p:extLst>
      <p:ext uri="{BB962C8B-B14F-4D97-AF65-F5344CB8AC3E}">
        <p14:creationId xmlns:p14="http://schemas.microsoft.com/office/powerpoint/2010/main" val="374317329"/>
      </p:ext>
    </p:extLst>
  </p:cSld>
  <p:clrMapOvr>
    <a:masterClrMapping/>
  </p:clrMapOvr>
  <p:timing>
    <p:tnLst>
      <p:par>
        <p:cTn id="1" dur="indefinite" restart="never" nodeType="tmRoot"/>
      </p:par>
    </p:tnLst>
  </p:timing>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232</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5"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6.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振幅调制</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与</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解调</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 name="Text Box 3">
            <a:extLst>
              <a:ext uri="{FF2B5EF4-FFF2-40B4-BE49-F238E27FC236}">
                <a16:creationId xmlns="" xmlns:a16="http://schemas.microsoft.com/office/drawing/2014/main" id="{2F782A99-F89B-9E6C-E244-034064081AB2}"/>
              </a:ext>
            </a:extLst>
          </p:cNvPr>
          <p:cNvSpPr txBox="1">
            <a:spLocks noChangeArrowheads="1"/>
          </p:cNvSpPr>
          <p:nvPr/>
        </p:nvSpPr>
        <p:spPr bwMode="auto">
          <a:xfrm>
            <a:off x="611560" y="1340768"/>
            <a:ext cx="233910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a:latin typeface="Times New Roman" panose="02020603050405020304" pitchFamily="18" charset="0"/>
                <a:cs typeface="Times New Roman" panose="02020603050405020304" pitchFamily="18" charset="0"/>
              </a:rPr>
              <a:t>2. </a:t>
            </a:r>
            <a:r>
              <a:rPr lang="zh-CN" altLang="en-US" sz="2400">
                <a:latin typeface="Times New Roman" panose="02020603050405020304" pitchFamily="18" charset="0"/>
                <a:cs typeface="Times New Roman" panose="02020603050405020304" pitchFamily="18" charset="0"/>
              </a:rPr>
              <a:t>基极调幅电路</a:t>
            </a:r>
            <a:endParaRPr lang="zh-CN" altLang="en-US" sz="2400" b="0">
              <a:latin typeface="Times New Roman" panose="02020603050405020304" pitchFamily="18" charset="0"/>
              <a:cs typeface="Times New Roman" panose="02020603050405020304" pitchFamily="18" charset="0"/>
            </a:endParaRPr>
          </a:p>
        </p:txBody>
      </p:sp>
      <p:sp>
        <p:nvSpPr>
          <p:cNvPr id="7" name="Text Box 7">
            <a:extLst>
              <a:ext uri="{FF2B5EF4-FFF2-40B4-BE49-F238E27FC236}">
                <a16:creationId xmlns="" xmlns:a16="http://schemas.microsoft.com/office/drawing/2014/main" id="{3D7E0A07-F02A-3685-8E0C-3B4524504641}"/>
              </a:ext>
            </a:extLst>
          </p:cNvPr>
          <p:cNvSpPr txBox="1">
            <a:spLocks noChangeArrowheads="1"/>
          </p:cNvSpPr>
          <p:nvPr/>
        </p:nvSpPr>
        <p:spPr bwMode="auto">
          <a:xfrm>
            <a:off x="5364088" y="3343919"/>
            <a:ext cx="172354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latin typeface="Times New Roman" panose="02020603050405020304" pitchFamily="18" charset="0"/>
                <a:cs typeface="Times New Roman" panose="02020603050405020304" pitchFamily="18" charset="0"/>
              </a:rPr>
              <a:t>基极调幅电路</a:t>
            </a:r>
          </a:p>
        </p:txBody>
      </p:sp>
      <p:sp>
        <p:nvSpPr>
          <p:cNvPr id="8" name="Text Box 8">
            <a:extLst>
              <a:ext uri="{FF2B5EF4-FFF2-40B4-BE49-F238E27FC236}">
                <a16:creationId xmlns="" xmlns:a16="http://schemas.microsoft.com/office/drawing/2014/main" id="{69C6FDBA-7566-1523-2AFB-9E2D993CF206}"/>
              </a:ext>
            </a:extLst>
          </p:cNvPr>
          <p:cNvSpPr txBox="1">
            <a:spLocks noChangeArrowheads="1"/>
          </p:cNvSpPr>
          <p:nvPr/>
        </p:nvSpPr>
        <p:spPr bwMode="auto">
          <a:xfrm>
            <a:off x="539552" y="2161176"/>
            <a:ext cx="3861792"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latinLnBrk="1" hangingPunct="1">
              <a:lnSpc>
                <a:spcPct val="120000"/>
              </a:lnSpc>
            </a:pPr>
            <a:r>
              <a:rPr lang="zh-CN" altLang="en-US" sz="2000" dirty="0">
                <a:latin typeface="Times New Roman" panose="02020603050405020304" pitchFamily="18" charset="0"/>
                <a:cs typeface="Times New Roman" panose="02020603050405020304" pitchFamily="18" charset="0"/>
              </a:rPr>
              <a:t>　　与集电极调幅电路同样的分析，可以认为</a:t>
            </a:r>
            <a:r>
              <a:rPr lang="en-US" altLang="zh-CN" sz="2000" dirty="0">
                <a:latin typeface="Times New Roman" panose="02020603050405020304" pitchFamily="18" charset="0"/>
                <a:cs typeface="Times New Roman" panose="02020603050405020304" pitchFamily="18" charset="0"/>
              </a:rPr>
              <a:t>V</a:t>
            </a:r>
            <a:r>
              <a:rPr lang="en-US" altLang="zh-CN" sz="2000" baseline="-25000" dirty="0">
                <a:latin typeface="Times New Roman" panose="02020603050405020304" pitchFamily="18" charset="0"/>
                <a:cs typeface="Times New Roman" panose="02020603050405020304" pitchFamily="18" charset="0"/>
              </a:rPr>
              <a:t>B</a:t>
            </a:r>
            <a:r>
              <a:rPr lang="en-US" altLang="zh-CN" sz="2000" dirty="0">
                <a:latin typeface="Times New Roman" panose="02020603050405020304" pitchFamily="18" charset="0"/>
                <a:cs typeface="Times New Roman" panose="02020603050405020304" pitchFamily="18" charset="0"/>
              </a:rPr>
              <a:t>(t)=</a:t>
            </a:r>
            <a:r>
              <a:rPr lang="en-US" altLang="zh-CN" sz="2000" dirty="0" err="1">
                <a:latin typeface="Times New Roman" panose="02020603050405020304" pitchFamily="18" charset="0"/>
                <a:cs typeface="Times New Roman" panose="02020603050405020304" pitchFamily="18" charset="0"/>
              </a:rPr>
              <a:t>V</a:t>
            </a:r>
            <a:r>
              <a:rPr lang="en-US" altLang="zh-CN" sz="2000" baseline="-25000" dirty="0" err="1">
                <a:latin typeface="Times New Roman" panose="02020603050405020304" pitchFamily="18" charset="0"/>
                <a:cs typeface="Times New Roman" panose="02020603050405020304" pitchFamily="18" charset="0"/>
              </a:rPr>
              <a:t>BT</a:t>
            </a:r>
            <a:r>
              <a:rPr lang="en-US" altLang="zh-CN" sz="2000" dirty="0" err="1">
                <a:latin typeface="Times New Roman" panose="02020603050405020304" pitchFamily="18" charset="0"/>
                <a:cs typeface="Times New Roman" panose="02020603050405020304" pitchFamily="18" charset="0"/>
              </a:rPr>
              <a:t>+</a:t>
            </a:r>
            <a:r>
              <a:rPr lang="en-US" altLang="zh-CN" sz="2000" i="1" dirty="0" err="1">
                <a:latin typeface="Times New Roman" panose="02020603050405020304" pitchFamily="18" charset="0"/>
                <a:cs typeface="Times New Roman" panose="02020603050405020304" pitchFamily="18" charset="0"/>
              </a:rPr>
              <a:t>v</a:t>
            </a:r>
            <a:r>
              <a:rPr lang="en-US" altLang="zh-CN" sz="2000" baseline="-250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000" dirty="0">
                <a:latin typeface="Times New Roman" panose="02020603050405020304" pitchFamily="18" charset="0"/>
                <a:cs typeface="Times New Roman" panose="02020603050405020304" pitchFamily="18" charset="0"/>
              </a:rPr>
              <a:t>(t)</a:t>
            </a:r>
            <a:r>
              <a:rPr lang="zh-CN" altLang="en-US" sz="2000" dirty="0">
                <a:latin typeface="Times New Roman" panose="02020603050405020304" pitchFamily="18" charset="0"/>
                <a:cs typeface="Times New Roman" panose="02020603050405020304" pitchFamily="18" charset="0"/>
              </a:rPr>
              <a:t>是放大器的基极等效低频供电电源。</a:t>
            </a:r>
          </a:p>
        </p:txBody>
      </p:sp>
      <p:sp>
        <p:nvSpPr>
          <p:cNvPr id="9" name="Text Box 9">
            <a:extLst>
              <a:ext uri="{FF2B5EF4-FFF2-40B4-BE49-F238E27FC236}">
                <a16:creationId xmlns="" xmlns:a16="http://schemas.microsoft.com/office/drawing/2014/main" id="{2F6379B5-7C0B-1858-51B6-578DDD67971A}"/>
              </a:ext>
            </a:extLst>
          </p:cNvPr>
          <p:cNvSpPr txBox="1">
            <a:spLocks noChangeArrowheads="1"/>
          </p:cNvSpPr>
          <p:nvPr/>
        </p:nvSpPr>
        <p:spPr bwMode="auto">
          <a:xfrm>
            <a:off x="539552" y="3744029"/>
            <a:ext cx="6623929"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20000"/>
              </a:lnSpc>
            </a:pPr>
            <a:r>
              <a:rPr lang="zh-CN" altLang="en-US" sz="2000" dirty="0">
                <a:latin typeface="Times New Roman" panose="02020603050405020304" pitchFamily="18" charset="0"/>
                <a:cs typeface="Times New Roman" panose="02020603050405020304" pitchFamily="18" charset="0"/>
              </a:rPr>
              <a:t>　  因为</a:t>
            </a:r>
            <a:r>
              <a:rPr lang="en-US" altLang="zh-CN" sz="2000" dirty="0">
                <a:latin typeface="Times New Roman" panose="02020603050405020304" pitchFamily="18" charset="0"/>
                <a:cs typeface="Times New Roman" panose="02020603050405020304" pitchFamily="18" charset="0"/>
              </a:rPr>
              <a:t>V</a:t>
            </a:r>
            <a:r>
              <a:rPr lang="en-US" altLang="zh-CN" sz="2000" baseline="-25000" dirty="0">
                <a:latin typeface="Times New Roman" panose="02020603050405020304" pitchFamily="18" charset="0"/>
                <a:cs typeface="Times New Roman" panose="02020603050405020304" pitchFamily="18" charset="0"/>
              </a:rPr>
              <a:t>B</a:t>
            </a:r>
            <a:r>
              <a:rPr lang="en-US" altLang="zh-CN" sz="2000" dirty="0">
                <a:latin typeface="Times New Roman" panose="02020603050405020304" pitchFamily="18" charset="0"/>
                <a:cs typeface="Times New Roman" panose="02020603050405020304" pitchFamily="18" charset="0"/>
              </a:rPr>
              <a:t>(t)</a:t>
            </a:r>
            <a:r>
              <a:rPr lang="zh-CN" altLang="en-US" sz="2000" dirty="0">
                <a:latin typeface="Times New Roman" panose="02020603050405020304" pitchFamily="18" charset="0"/>
                <a:cs typeface="Times New Roman" panose="02020603050405020304" pitchFamily="18" charset="0"/>
              </a:rPr>
              <a:t>随调制信号</a:t>
            </a:r>
            <a:r>
              <a:rPr lang="en-US" altLang="zh-CN" sz="2000" i="1" dirty="0">
                <a:latin typeface="Times New Roman" panose="02020603050405020304" pitchFamily="18" charset="0"/>
                <a:cs typeface="Times New Roman" panose="02020603050405020304" pitchFamily="18" charset="0"/>
              </a:rPr>
              <a:t>v</a:t>
            </a:r>
            <a:r>
              <a:rPr lang="en-US" altLang="zh-CN" sz="2000" baseline="-250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000" dirty="0">
                <a:latin typeface="Times New Roman" panose="02020603050405020304" pitchFamily="18" charset="0"/>
                <a:cs typeface="Times New Roman" panose="02020603050405020304" pitchFamily="18" charset="0"/>
              </a:rPr>
              <a:t>(t)</a:t>
            </a:r>
            <a:r>
              <a:rPr lang="zh-CN" altLang="en-US" sz="2000" dirty="0">
                <a:latin typeface="Times New Roman" panose="02020603050405020304" pitchFamily="18" charset="0"/>
                <a:cs typeface="Times New Roman" panose="02020603050405020304" pitchFamily="18" charset="0"/>
              </a:rPr>
              <a:t>变化，如果要求放大器的输</a:t>
            </a:r>
          </a:p>
          <a:p>
            <a:pPr>
              <a:lnSpc>
                <a:spcPct val="120000"/>
              </a:lnSpc>
            </a:pPr>
            <a:r>
              <a:rPr lang="zh-CN" altLang="en-US" sz="2000" dirty="0">
                <a:latin typeface="Times New Roman" panose="02020603050405020304" pitchFamily="18" charset="0"/>
                <a:cs typeface="Times New Roman" panose="02020603050405020304" pitchFamily="18" charset="0"/>
              </a:rPr>
              <a:t>出电压也随调制信号变化，则应使输出电压随</a:t>
            </a:r>
            <a:r>
              <a:rPr lang="en-US" altLang="zh-CN" sz="2000" dirty="0">
                <a:latin typeface="Times New Roman" panose="02020603050405020304" pitchFamily="18" charset="0"/>
                <a:cs typeface="Times New Roman" panose="02020603050405020304" pitchFamily="18" charset="0"/>
              </a:rPr>
              <a:t>V</a:t>
            </a:r>
            <a:r>
              <a:rPr lang="en-US" altLang="zh-CN" sz="2000" baseline="-25000" dirty="0">
                <a:latin typeface="Times New Roman" panose="02020603050405020304" pitchFamily="18" charset="0"/>
                <a:cs typeface="Times New Roman" panose="02020603050405020304" pitchFamily="18" charset="0"/>
              </a:rPr>
              <a:t>B</a:t>
            </a:r>
            <a:r>
              <a:rPr lang="en-US" altLang="zh-CN" sz="2000" dirty="0">
                <a:latin typeface="Times New Roman" panose="02020603050405020304" pitchFamily="18" charset="0"/>
                <a:cs typeface="Times New Roman" panose="02020603050405020304" pitchFamily="18" charset="0"/>
              </a:rPr>
              <a:t>(t)</a:t>
            </a:r>
            <a:r>
              <a:rPr lang="zh-CN" altLang="en-US" sz="2000" dirty="0">
                <a:latin typeface="Times New Roman" panose="02020603050405020304" pitchFamily="18" charset="0"/>
                <a:cs typeface="Times New Roman" panose="02020603050405020304" pitchFamily="18" charset="0"/>
              </a:rPr>
              <a:t>变化。</a:t>
            </a:r>
          </a:p>
        </p:txBody>
      </p:sp>
      <p:sp>
        <p:nvSpPr>
          <p:cNvPr id="10" name="Text Box 10">
            <a:extLst>
              <a:ext uri="{FF2B5EF4-FFF2-40B4-BE49-F238E27FC236}">
                <a16:creationId xmlns="" xmlns:a16="http://schemas.microsoft.com/office/drawing/2014/main" id="{269EF04C-A4A7-0055-92CA-F21654D2022A}"/>
              </a:ext>
            </a:extLst>
          </p:cNvPr>
          <p:cNvSpPr txBox="1">
            <a:spLocks noChangeArrowheads="1"/>
          </p:cNvSpPr>
          <p:nvPr/>
        </p:nvSpPr>
        <p:spPr bwMode="auto">
          <a:xfrm>
            <a:off x="564357" y="4683260"/>
            <a:ext cx="7728569"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latinLnBrk="1">
              <a:lnSpc>
                <a:spcPct val="120000"/>
              </a:lnSpc>
            </a:pPr>
            <a:r>
              <a:rPr lang="zh-CN" altLang="en-US" sz="2000" dirty="0">
                <a:latin typeface="Times New Roman" panose="02020603050405020304" pitchFamily="18" charset="0"/>
                <a:cs typeface="Times New Roman" panose="02020603050405020304" pitchFamily="18" charset="0"/>
              </a:rPr>
              <a:t>    放大器应工作在欠压区，保证输出回路中的基波电流</a:t>
            </a:r>
            <a:r>
              <a:rPr lang="en-US" altLang="zh-CN" sz="2000" dirty="0">
                <a:latin typeface="Times New Roman" panose="02020603050405020304" pitchFamily="18" charset="0"/>
                <a:cs typeface="Times New Roman" panose="02020603050405020304" pitchFamily="18" charset="0"/>
              </a:rPr>
              <a:t>I</a:t>
            </a:r>
            <a:r>
              <a:rPr lang="en-US" altLang="zh-CN" sz="2000" baseline="-25000" dirty="0">
                <a:latin typeface="Times New Roman" panose="02020603050405020304" pitchFamily="18" charset="0"/>
                <a:cs typeface="Times New Roman" panose="02020603050405020304" pitchFamily="18" charset="0"/>
              </a:rPr>
              <a:t>c1m</a:t>
            </a:r>
            <a:r>
              <a:rPr lang="zh-CN" altLang="en-US" sz="2000" dirty="0">
                <a:latin typeface="Times New Roman" panose="02020603050405020304" pitchFamily="18" charset="0"/>
                <a:cs typeface="Times New Roman" panose="02020603050405020304" pitchFamily="18" charset="0"/>
              </a:rPr>
              <a:t>、输出电压</a:t>
            </a:r>
            <a:r>
              <a:rPr lang="en-US" altLang="zh-CN" sz="2000" dirty="0" err="1" smtClean="0">
                <a:latin typeface="Times New Roman" panose="02020603050405020304" pitchFamily="18" charset="0"/>
                <a:cs typeface="Times New Roman" panose="02020603050405020304" pitchFamily="18" charset="0"/>
              </a:rPr>
              <a:t>V</a:t>
            </a:r>
            <a:r>
              <a:rPr lang="en-US" altLang="zh-CN" sz="2000" baseline="-25000" dirty="0" err="1" smtClean="0">
                <a:latin typeface="Times New Roman" panose="02020603050405020304" pitchFamily="18" charset="0"/>
                <a:cs typeface="Times New Roman" panose="02020603050405020304" pitchFamily="18" charset="0"/>
              </a:rPr>
              <a:t>c</a:t>
            </a:r>
            <a:r>
              <a:rPr lang="en-US" altLang="zh-CN" sz="2000" dirty="0">
                <a:latin typeface="Times New Roman" panose="02020603050405020304" pitchFamily="18" charset="0"/>
                <a:cs typeface="Times New Roman" panose="02020603050405020304" pitchFamily="18" charset="0"/>
              </a:rPr>
              <a:t>(t)</a:t>
            </a:r>
            <a:r>
              <a:rPr lang="zh-CN" altLang="en-US" sz="2000" dirty="0" smtClean="0">
                <a:latin typeface="Times New Roman" panose="02020603050405020304" pitchFamily="18" charset="0"/>
                <a:cs typeface="Times New Roman" panose="02020603050405020304" pitchFamily="18" charset="0"/>
              </a:rPr>
              <a:t>按</a:t>
            </a:r>
            <a:r>
              <a:rPr lang="zh-CN" altLang="en-US" sz="2000" dirty="0">
                <a:latin typeface="Times New Roman" panose="02020603050405020304" pitchFamily="18" charset="0"/>
                <a:cs typeface="Times New Roman" panose="02020603050405020304" pitchFamily="18" charset="0"/>
              </a:rPr>
              <a:t>基极供电电压</a:t>
            </a:r>
            <a:r>
              <a:rPr lang="en-US" altLang="zh-CN" sz="2000" dirty="0">
                <a:latin typeface="Times New Roman" panose="02020603050405020304" pitchFamily="18" charset="0"/>
                <a:cs typeface="Times New Roman" panose="02020603050405020304" pitchFamily="18" charset="0"/>
              </a:rPr>
              <a:t>V</a:t>
            </a:r>
            <a:r>
              <a:rPr lang="en-US" altLang="zh-CN" sz="2000" baseline="-25000" dirty="0">
                <a:latin typeface="Times New Roman" panose="02020603050405020304" pitchFamily="18" charset="0"/>
                <a:cs typeface="Times New Roman" panose="02020603050405020304" pitchFamily="18" charset="0"/>
              </a:rPr>
              <a:t>B</a:t>
            </a:r>
            <a:r>
              <a:rPr lang="en-US" altLang="zh-CN" sz="2000" dirty="0">
                <a:latin typeface="Times New Roman" panose="02020603050405020304" pitchFamily="18" charset="0"/>
                <a:cs typeface="Times New Roman" panose="02020603050405020304" pitchFamily="18" charset="0"/>
              </a:rPr>
              <a:t>(t)</a:t>
            </a:r>
            <a:r>
              <a:rPr lang="zh-CN" altLang="en-US" sz="2000" dirty="0">
                <a:latin typeface="Times New Roman" panose="02020603050405020304" pitchFamily="18" charset="0"/>
                <a:cs typeface="Times New Roman" panose="02020603050405020304" pitchFamily="18" charset="0"/>
              </a:rPr>
              <a:t>变化，从而实现输出电压随调制电压变化的调幅。</a:t>
            </a:r>
          </a:p>
        </p:txBody>
      </p:sp>
      <p:graphicFrame>
        <p:nvGraphicFramePr>
          <p:cNvPr id="11" name="Object 1034">
            <a:extLst>
              <a:ext uri="{FF2B5EF4-FFF2-40B4-BE49-F238E27FC236}">
                <a16:creationId xmlns="" xmlns:a16="http://schemas.microsoft.com/office/drawing/2014/main" id="{EAE0787C-EFD4-DBB1-E992-5EB1AB9F91AE}"/>
              </a:ext>
            </a:extLst>
          </p:cNvPr>
          <p:cNvGraphicFramePr>
            <a:graphicFrameLocks/>
          </p:cNvGraphicFramePr>
          <p:nvPr>
            <p:extLst>
              <p:ext uri="{D42A27DB-BD31-4B8C-83A1-F6EECF244321}">
                <p14:modId xmlns:p14="http://schemas.microsoft.com/office/powerpoint/2010/main" val="1588171240"/>
              </p:ext>
            </p:extLst>
          </p:nvPr>
        </p:nvGraphicFramePr>
        <p:xfrm>
          <a:off x="4483831" y="1235842"/>
          <a:ext cx="3315492" cy="2193158"/>
        </p:xfrm>
        <a:graphic>
          <a:graphicData uri="http://schemas.openxmlformats.org/presentationml/2006/ole">
            <mc:AlternateContent xmlns:mc="http://schemas.openxmlformats.org/markup-compatibility/2006">
              <mc:Choice xmlns:v="urn:schemas-microsoft-com:vml" Requires="v">
                <p:oleObj spid="_x0000_s184332" r:id="rId3" imgW="2960280" imgH="1892880" progId="Word.Picture.8">
                  <p:embed/>
                </p:oleObj>
              </mc:Choice>
              <mc:Fallback>
                <p:oleObj r:id="rId3" imgW="2960280" imgH="1892880" progId="Word.Picture.8">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83831" y="1235842"/>
                        <a:ext cx="3315492" cy="2193158"/>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3454408380"/>
      </p:ext>
    </p:extLst>
  </p:cSld>
  <p:clrMapOvr>
    <a:masterClrMapping/>
  </p:clrMapOvr>
  <p:timing>
    <p:tnLst>
      <p:par>
        <p:cTn id="1" dur="indefinite" restart="never" nodeType="tmRoot"/>
      </p:par>
    </p:tnLst>
  </p:timing>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233</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5"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6.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振幅调制</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与</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解调</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 name="Rectangle 275">
            <a:extLst>
              <a:ext uri="{FF2B5EF4-FFF2-40B4-BE49-F238E27FC236}">
                <a16:creationId xmlns="" xmlns:a16="http://schemas.microsoft.com/office/drawing/2014/main" id="{C7C2D948-3C39-4227-63A3-5411F2C8937F}"/>
              </a:ext>
            </a:extLst>
          </p:cNvPr>
          <p:cNvSpPr>
            <a:spLocks noChangeArrowheads="1"/>
          </p:cNvSpPr>
          <p:nvPr/>
        </p:nvSpPr>
        <p:spPr bwMode="auto">
          <a:xfrm>
            <a:off x="332284" y="1484784"/>
            <a:ext cx="353975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chemeClr val="tx1"/>
                </a:solidFill>
                <a:latin typeface="Times New Roman" panose="02020603050405020304" pitchFamily="18" charset="0"/>
                <a:cs typeface="Times New Roman" panose="02020603050405020304" pitchFamily="18" charset="0"/>
              </a:rPr>
              <a:t>基极调幅电路应工作在欠压区</a:t>
            </a:r>
          </a:p>
        </p:txBody>
      </p:sp>
      <p:pic>
        <p:nvPicPr>
          <p:cNvPr id="7" name="图片 6">
            <a:extLst>
              <a:ext uri="{FF2B5EF4-FFF2-40B4-BE49-F238E27FC236}">
                <a16:creationId xmlns="" xmlns:a16="http://schemas.microsoft.com/office/drawing/2014/main" id="{05A83DF5-71B9-6233-DB4D-A9483885B174}"/>
              </a:ext>
            </a:extLst>
          </p:cNvPr>
          <p:cNvPicPr>
            <a:picLocks noChangeAspect="1"/>
          </p:cNvPicPr>
          <p:nvPr/>
        </p:nvPicPr>
        <p:blipFill>
          <a:blip r:embed="rId2"/>
          <a:stretch>
            <a:fillRect/>
          </a:stretch>
        </p:blipFill>
        <p:spPr>
          <a:xfrm>
            <a:off x="531570" y="2131547"/>
            <a:ext cx="8282131" cy="4008213"/>
          </a:xfrm>
          <a:prstGeom prst="rect">
            <a:avLst/>
          </a:prstGeom>
        </p:spPr>
      </p:pic>
    </p:spTree>
    <p:extLst>
      <p:ext uri="{BB962C8B-B14F-4D97-AF65-F5344CB8AC3E}">
        <p14:creationId xmlns:p14="http://schemas.microsoft.com/office/powerpoint/2010/main" val="2277812559"/>
      </p:ext>
    </p:extLst>
  </p:cSld>
  <p:clrMapOvr>
    <a:masterClrMapping/>
  </p:clrMapOvr>
  <p:timing>
    <p:tnLst>
      <p:par>
        <p:cTn id="1" dur="indefinite" restart="never" nodeType="tmRoot"/>
      </p:par>
    </p:tnLst>
  </p:timing>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234</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5"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6.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振幅调制</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与</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解调</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 name="Text Box 1028">
            <a:extLst>
              <a:ext uri="{FF2B5EF4-FFF2-40B4-BE49-F238E27FC236}">
                <a16:creationId xmlns="" xmlns:a16="http://schemas.microsoft.com/office/drawing/2014/main" id="{45DE27F0-48AD-9A83-110B-D1D36B3B75DA}"/>
              </a:ext>
            </a:extLst>
          </p:cNvPr>
          <p:cNvSpPr txBox="1">
            <a:spLocks noChangeArrowheads="1"/>
          </p:cNvSpPr>
          <p:nvPr/>
        </p:nvSpPr>
        <p:spPr bwMode="auto">
          <a:xfrm>
            <a:off x="341806" y="1242949"/>
            <a:ext cx="82804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dirty="0">
                <a:latin typeface="+mn-ea"/>
                <a:ea typeface="+mn-ea"/>
              </a:rPr>
              <a:t>　　振幅解调</a:t>
            </a:r>
            <a:r>
              <a:rPr lang="en-US" altLang="zh-CN" dirty="0">
                <a:latin typeface="+mn-ea"/>
                <a:ea typeface="+mn-ea"/>
              </a:rPr>
              <a:t>(</a:t>
            </a:r>
            <a:r>
              <a:rPr lang="zh-CN" altLang="en-US" dirty="0">
                <a:latin typeface="+mn-ea"/>
                <a:ea typeface="+mn-ea"/>
              </a:rPr>
              <a:t>又称检波</a:t>
            </a:r>
            <a:r>
              <a:rPr lang="en-US" altLang="zh-CN" dirty="0">
                <a:latin typeface="+mn-ea"/>
                <a:ea typeface="+mn-ea"/>
              </a:rPr>
              <a:t>)</a:t>
            </a:r>
            <a:r>
              <a:rPr lang="zh-CN" altLang="en-US" dirty="0">
                <a:latin typeface="+mn-ea"/>
                <a:ea typeface="+mn-ea"/>
              </a:rPr>
              <a:t>是振幅调制的逆过程。它的作用是从已调制的高频振荡中恢复出原来的调制信号。</a:t>
            </a:r>
          </a:p>
          <a:p>
            <a:r>
              <a:rPr lang="zh-CN" altLang="en-US" dirty="0">
                <a:latin typeface="+mn-ea"/>
                <a:ea typeface="+mn-ea"/>
              </a:rPr>
              <a:t>　　从频谱上看，检波就是将幅度调制波中的边带信号不失真地从载波频率附近搬移到零频率附近</a:t>
            </a:r>
            <a:r>
              <a:rPr lang="en-US" altLang="zh-CN" dirty="0">
                <a:latin typeface="+mn-ea"/>
                <a:ea typeface="+mn-ea"/>
              </a:rPr>
              <a:t>,</a:t>
            </a:r>
            <a:r>
              <a:rPr lang="zh-CN" altLang="en-US" dirty="0">
                <a:latin typeface="+mn-ea"/>
                <a:ea typeface="+mn-ea"/>
              </a:rPr>
              <a:t>因此,检波器也属于频谱搬移电路。　　</a:t>
            </a:r>
          </a:p>
        </p:txBody>
      </p:sp>
      <p:graphicFrame>
        <p:nvGraphicFramePr>
          <p:cNvPr id="7" name="Object 1026">
            <a:extLst>
              <a:ext uri="{FF2B5EF4-FFF2-40B4-BE49-F238E27FC236}">
                <a16:creationId xmlns="" xmlns:a16="http://schemas.microsoft.com/office/drawing/2014/main" id="{2D00D268-37B7-E66A-A6E4-BC529AEB3AE2}"/>
              </a:ext>
            </a:extLst>
          </p:cNvPr>
          <p:cNvGraphicFramePr>
            <a:graphicFrameLocks/>
          </p:cNvGraphicFramePr>
          <p:nvPr>
            <p:extLst>
              <p:ext uri="{D42A27DB-BD31-4B8C-83A1-F6EECF244321}">
                <p14:modId xmlns:p14="http://schemas.microsoft.com/office/powerpoint/2010/main" val="3920557945"/>
              </p:ext>
            </p:extLst>
          </p:nvPr>
        </p:nvGraphicFramePr>
        <p:xfrm>
          <a:off x="1998918" y="2458790"/>
          <a:ext cx="4760983" cy="1442493"/>
        </p:xfrm>
        <a:graphic>
          <a:graphicData uri="http://schemas.openxmlformats.org/presentationml/2006/ole">
            <mc:AlternateContent xmlns:mc="http://schemas.openxmlformats.org/markup-compatibility/2006">
              <mc:Choice xmlns:v="urn:schemas-microsoft-com:vml" Requires="v">
                <p:oleObj spid="_x0000_s185357" r:id="rId3" imgW="4159800" imgH="1119960" progId="Word.Picture.8">
                  <p:embed/>
                </p:oleObj>
              </mc:Choice>
              <mc:Fallback>
                <p:oleObj r:id="rId3" imgW="4159800" imgH="1119960" progId="Word.Picture.8">
                  <p:embed/>
                  <p:pic>
                    <p:nvPicPr>
                      <p:cNvPr id="0" name=""/>
                      <p:cNvPicPr>
                        <a:picLocks noGrp="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98918" y="2458790"/>
                        <a:ext cx="4760983" cy="1442493"/>
                      </a:xfrm>
                      <a:prstGeom prst="rect">
                        <a:avLst/>
                      </a:prstGeom>
                      <a:noFill/>
                      <a:ln>
                        <a:noFill/>
                      </a:ln>
                    </p:spPr>
                  </p:pic>
                </p:oleObj>
              </mc:Fallback>
            </mc:AlternateContent>
          </a:graphicData>
        </a:graphic>
      </p:graphicFrame>
      <p:grpSp>
        <p:nvGrpSpPr>
          <p:cNvPr id="26" name="组合 25">
            <a:extLst>
              <a:ext uri="{FF2B5EF4-FFF2-40B4-BE49-F238E27FC236}">
                <a16:creationId xmlns="" xmlns:a16="http://schemas.microsoft.com/office/drawing/2014/main" id="{4BD6E2F4-3E46-1875-01A6-123E0C3C9F20}"/>
              </a:ext>
            </a:extLst>
          </p:cNvPr>
          <p:cNvGrpSpPr>
            <a:grpSpLocks/>
          </p:cNvGrpSpPr>
          <p:nvPr/>
        </p:nvGrpSpPr>
        <p:grpSpPr bwMode="auto">
          <a:xfrm>
            <a:off x="1072023" y="3803429"/>
            <a:ext cx="5638800" cy="1390651"/>
            <a:chOff x="340" y="1978"/>
            <a:chExt cx="3552" cy="876"/>
          </a:xfrm>
        </p:grpSpPr>
        <p:grpSp>
          <p:nvGrpSpPr>
            <p:cNvPr id="27" name="Group 10">
              <a:extLst>
                <a:ext uri="{FF2B5EF4-FFF2-40B4-BE49-F238E27FC236}">
                  <a16:creationId xmlns="" xmlns:a16="http://schemas.microsoft.com/office/drawing/2014/main" id="{85283241-60DF-3088-3D86-0D85820E8913}"/>
                </a:ext>
              </a:extLst>
            </p:cNvPr>
            <p:cNvGrpSpPr>
              <a:grpSpLocks/>
            </p:cNvGrpSpPr>
            <p:nvPr/>
          </p:nvGrpSpPr>
          <p:grpSpPr bwMode="auto">
            <a:xfrm>
              <a:off x="340" y="2069"/>
              <a:ext cx="3552" cy="785"/>
              <a:chOff x="930" y="2742"/>
              <a:chExt cx="3552" cy="785"/>
            </a:xfrm>
          </p:grpSpPr>
          <p:grpSp>
            <p:nvGrpSpPr>
              <p:cNvPr id="30" name="Group 11">
                <a:extLst>
                  <a:ext uri="{FF2B5EF4-FFF2-40B4-BE49-F238E27FC236}">
                    <a16:creationId xmlns="" xmlns:a16="http://schemas.microsoft.com/office/drawing/2014/main" id="{73EFD08C-1B4C-5B09-1554-8E5CCD745541}"/>
                  </a:ext>
                </a:extLst>
              </p:cNvPr>
              <p:cNvGrpSpPr>
                <a:grpSpLocks/>
              </p:cNvGrpSpPr>
              <p:nvPr/>
            </p:nvGrpSpPr>
            <p:grpSpPr bwMode="auto">
              <a:xfrm>
                <a:off x="2210" y="2742"/>
                <a:ext cx="698" cy="669"/>
                <a:chOff x="1616" y="3024"/>
                <a:chExt cx="698" cy="669"/>
              </a:xfrm>
            </p:grpSpPr>
            <p:sp>
              <p:nvSpPr>
                <p:cNvPr id="38" name="Text Box 12">
                  <a:extLst>
                    <a:ext uri="{FF2B5EF4-FFF2-40B4-BE49-F238E27FC236}">
                      <a16:creationId xmlns="" xmlns:a16="http://schemas.microsoft.com/office/drawing/2014/main" id="{E50BD0B0-73F9-E851-9CDF-AD08BF5103BF}"/>
                    </a:ext>
                  </a:extLst>
                </p:cNvPr>
                <p:cNvSpPr txBox="1">
                  <a:spLocks noChangeArrowheads="1"/>
                </p:cNvSpPr>
                <p:nvPr/>
              </p:nvSpPr>
              <p:spPr bwMode="auto">
                <a:xfrm>
                  <a:off x="1616" y="3460"/>
                  <a:ext cx="69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dirty="0">
                      <a:solidFill>
                        <a:schemeClr val="tx1"/>
                      </a:solidFill>
                      <a:latin typeface="+mn-ea"/>
                      <a:ea typeface="+mn-ea"/>
                    </a:rPr>
                    <a:t>包络检波</a:t>
                  </a:r>
                </a:p>
              </p:txBody>
            </p:sp>
            <p:sp>
              <p:nvSpPr>
                <p:cNvPr id="39" name="Text Box 13">
                  <a:extLst>
                    <a:ext uri="{FF2B5EF4-FFF2-40B4-BE49-F238E27FC236}">
                      <a16:creationId xmlns="" xmlns:a16="http://schemas.microsoft.com/office/drawing/2014/main" id="{24D84F45-DD9D-103D-DFDB-C8BDBD2FFE1A}"/>
                    </a:ext>
                  </a:extLst>
                </p:cNvPr>
                <p:cNvSpPr txBox="1">
                  <a:spLocks noChangeArrowheads="1"/>
                </p:cNvSpPr>
                <p:nvPr/>
              </p:nvSpPr>
              <p:spPr bwMode="auto">
                <a:xfrm>
                  <a:off x="1616" y="3024"/>
                  <a:ext cx="69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a:solidFill>
                        <a:schemeClr val="tx1"/>
                      </a:solidFill>
                      <a:latin typeface="+mn-ea"/>
                      <a:ea typeface="+mn-ea"/>
                    </a:rPr>
                    <a:t>同步检波</a:t>
                  </a:r>
                </a:p>
              </p:txBody>
            </p:sp>
          </p:grpSp>
          <p:grpSp>
            <p:nvGrpSpPr>
              <p:cNvPr id="31" name="Group 14">
                <a:extLst>
                  <a:ext uri="{FF2B5EF4-FFF2-40B4-BE49-F238E27FC236}">
                    <a16:creationId xmlns="" xmlns:a16="http://schemas.microsoft.com/office/drawing/2014/main" id="{C5AD06FF-7BD1-1499-43EA-D8CBFE8B5866}"/>
                  </a:ext>
                </a:extLst>
              </p:cNvPr>
              <p:cNvGrpSpPr>
                <a:grpSpLocks/>
              </p:cNvGrpSpPr>
              <p:nvPr/>
            </p:nvGrpSpPr>
            <p:grpSpPr bwMode="auto">
              <a:xfrm>
                <a:off x="930" y="2852"/>
                <a:ext cx="3552" cy="675"/>
                <a:chOff x="930" y="2852"/>
                <a:chExt cx="3552" cy="675"/>
              </a:xfrm>
            </p:grpSpPr>
            <p:sp>
              <p:nvSpPr>
                <p:cNvPr id="32" name="Text Box 15">
                  <a:extLst>
                    <a:ext uri="{FF2B5EF4-FFF2-40B4-BE49-F238E27FC236}">
                      <a16:creationId xmlns="" xmlns:a16="http://schemas.microsoft.com/office/drawing/2014/main" id="{D4BEA8F6-9B4D-2239-7308-E39C98573CBF}"/>
                    </a:ext>
                  </a:extLst>
                </p:cNvPr>
                <p:cNvSpPr txBox="1">
                  <a:spLocks noChangeArrowheads="1"/>
                </p:cNvSpPr>
                <p:nvPr/>
              </p:nvSpPr>
              <p:spPr bwMode="auto">
                <a:xfrm>
                  <a:off x="930" y="2886"/>
                  <a:ext cx="11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en-US" altLang="zh-CN">
                    <a:solidFill>
                      <a:schemeClr val="tx1"/>
                    </a:solidFill>
                    <a:latin typeface="+mn-ea"/>
                    <a:ea typeface="+mn-ea"/>
                  </a:endParaRPr>
                </a:p>
              </p:txBody>
            </p:sp>
            <p:grpSp>
              <p:nvGrpSpPr>
                <p:cNvPr id="33" name="Group 16">
                  <a:extLst>
                    <a:ext uri="{FF2B5EF4-FFF2-40B4-BE49-F238E27FC236}">
                      <a16:creationId xmlns="" xmlns:a16="http://schemas.microsoft.com/office/drawing/2014/main" id="{2C5FC050-8033-94A1-37EE-2F804BDD3382}"/>
                    </a:ext>
                  </a:extLst>
                </p:cNvPr>
                <p:cNvGrpSpPr>
                  <a:grpSpLocks/>
                </p:cNvGrpSpPr>
                <p:nvPr/>
              </p:nvGrpSpPr>
              <p:grpSpPr bwMode="auto">
                <a:xfrm>
                  <a:off x="2839" y="3075"/>
                  <a:ext cx="1643" cy="452"/>
                  <a:chOff x="2245" y="3357"/>
                  <a:chExt cx="1643" cy="452"/>
                </a:xfrm>
              </p:grpSpPr>
              <p:sp>
                <p:nvSpPr>
                  <p:cNvPr id="36" name="Text Box 18">
                    <a:extLst>
                      <a:ext uri="{FF2B5EF4-FFF2-40B4-BE49-F238E27FC236}">
                        <a16:creationId xmlns="" xmlns:a16="http://schemas.microsoft.com/office/drawing/2014/main" id="{6792081D-E954-6EBF-75B1-4BFC9A17E0AE}"/>
                      </a:ext>
                    </a:extLst>
                  </p:cNvPr>
                  <p:cNvSpPr txBox="1">
                    <a:spLocks noChangeArrowheads="1"/>
                  </p:cNvSpPr>
                  <p:nvPr/>
                </p:nvSpPr>
                <p:spPr bwMode="auto">
                  <a:xfrm>
                    <a:off x="2245" y="3357"/>
                    <a:ext cx="164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dirty="0">
                        <a:solidFill>
                          <a:schemeClr val="tx1"/>
                        </a:solidFill>
                        <a:latin typeface="+mn-ea"/>
                        <a:ea typeface="+mn-ea"/>
                      </a:rPr>
                      <a:t>峰值包络检波</a:t>
                    </a:r>
                    <a:r>
                      <a:rPr lang="en-US" altLang="zh-CN" dirty="0">
                        <a:solidFill>
                          <a:schemeClr val="tx1"/>
                        </a:solidFill>
                        <a:latin typeface="+mn-ea"/>
                        <a:ea typeface="+mn-ea"/>
                      </a:rPr>
                      <a:t>(</a:t>
                    </a:r>
                    <a:r>
                      <a:rPr lang="zh-CN" altLang="en-US" dirty="0">
                        <a:solidFill>
                          <a:schemeClr val="tx1"/>
                        </a:solidFill>
                        <a:latin typeface="+mn-ea"/>
                        <a:ea typeface="+mn-ea"/>
                      </a:rPr>
                      <a:t>大信号）</a:t>
                    </a:r>
                  </a:p>
                </p:txBody>
              </p:sp>
              <p:sp>
                <p:nvSpPr>
                  <p:cNvPr id="37" name="Text Box 19">
                    <a:extLst>
                      <a:ext uri="{FF2B5EF4-FFF2-40B4-BE49-F238E27FC236}">
                        <a16:creationId xmlns="" xmlns:a16="http://schemas.microsoft.com/office/drawing/2014/main" id="{1DAE691C-F8E4-D5B1-4B3B-CC9ADF7690E8}"/>
                      </a:ext>
                    </a:extLst>
                  </p:cNvPr>
                  <p:cNvSpPr txBox="1">
                    <a:spLocks noChangeArrowheads="1"/>
                  </p:cNvSpPr>
                  <p:nvPr/>
                </p:nvSpPr>
                <p:spPr bwMode="auto">
                  <a:xfrm>
                    <a:off x="2259" y="3576"/>
                    <a:ext cx="157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dirty="0">
                        <a:solidFill>
                          <a:schemeClr val="tx1"/>
                        </a:solidFill>
                        <a:latin typeface="+mn-ea"/>
                        <a:ea typeface="+mn-ea"/>
                      </a:rPr>
                      <a:t>平方律检波（小信号）</a:t>
                    </a:r>
                  </a:p>
                </p:txBody>
              </p:sp>
            </p:grpSp>
            <p:sp>
              <p:nvSpPr>
                <p:cNvPr id="34" name="AutoShape 20">
                  <a:extLst>
                    <a:ext uri="{FF2B5EF4-FFF2-40B4-BE49-F238E27FC236}">
                      <a16:creationId xmlns="" xmlns:a16="http://schemas.microsoft.com/office/drawing/2014/main" id="{9FD3DB61-B0AB-F11E-E36D-F28D819073F4}"/>
                    </a:ext>
                  </a:extLst>
                </p:cNvPr>
                <p:cNvSpPr>
                  <a:spLocks/>
                </p:cNvSpPr>
                <p:nvPr/>
              </p:nvSpPr>
              <p:spPr bwMode="auto">
                <a:xfrm>
                  <a:off x="2839" y="3184"/>
                  <a:ext cx="65" cy="277"/>
                </a:xfrm>
                <a:prstGeom prst="leftBrace">
                  <a:avLst>
                    <a:gd name="adj1" fmla="val 82500"/>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tx1"/>
                    </a:solidFill>
                    <a:latin typeface="+mn-ea"/>
                    <a:ea typeface="+mn-ea"/>
                  </a:endParaRPr>
                </a:p>
              </p:txBody>
            </p:sp>
            <p:sp>
              <p:nvSpPr>
                <p:cNvPr id="35" name="AutoShape 21">
                  <a:extLst>
                    <a:ext uri="{FF2B5EF4-FFF2-40B4-BE49-F238E27FC236}">
                      <a16:creationId xmlns="" xmlns:a16="http://schemas.microsoft.com/office/drawing/2014/main" id="{A7409227-5895-CB56-F223-5A780985A781}"/>
                    </a:ext>
                  </a:extLst>
                </p:cNvPr>
                <p:cNvSpPr>
                  <a:spLocks/>
                </p:cNvSpPr>
                <p:nvPr/>
              </p:nvSpPr>
              <p:spPr bwMode="auto">
                <a:xfrm>
                  <a:off x="2185" y="2852"/>
                  <a:ext cx="48" cy="480"/>
                </a:xfrm>
                <a:prstGeom prst="leftBrace">
                  <a:avLst>
                    <a:gd name="adj1" fmla="val 82500"/>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endParaRPr lang="zh-CN" altLang="en-US">
                    <a:solidFill>
                      <a:schemeClr val="tx1"/>
                    </a:solidFill>
                    <a:latin typeface="+mn-ea"/>
                    <a:ea typeface="+mn-ea"/>
                  </a:endParaRPr>
                </a:p>
              </p:txBody>
            </p:sp>
          </p:grpSp>
        </p:grpSp>
        <p:sp>
          <p:nvSpPr>
            <p:cNvPr id="28" name="矩形 58390">
              <a:extLst>
                <a:ext uri="{FF2B5EF4-FFF2-40B4-BE49-F238E27FC236}">
                  <a16:creationId xmlns="" xmlns:a16="http://schemas.microsoft.com/office/drawing/2014/main" id="{0CAC04E9-B5C5-0462-9D09-F521C19F9211}"/>
                </a:ext>
              </a:extLst>
            </p:cNvPr>
            <p:cNvSpPr>
              <a:spLocks noChangeArrowheads="1"/>
            </p:cNvSpPr>
            <p:nvPr/>
          </p:nvSpPr>
          <p:spPr bwMode="auto">
            <a:xfrm>
              <a:off x="2271" y="2211"/>
              <a:ext cx="115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219075">
                <a:tabLst>
                  <a:tab pos="219075" algn="l"/>
                </a:tabLst>
                <a:defRPr sz="1600" b="1">
                  <a:solidFill>
                    <a:schemeClr val="tx1"/>
                  </a:solidFill>
                  <a:latin typeface="楷体_GB2312" panose="02010609030101010101" pitchFamily="49" charset="-122"/>
                  <a:ea typeface="楷体_GB2312" panose="02010609030101010101" pitchFamily="49" charset="-122"/>
                </a:defRPr>
              </a:lvl1pPr>
              <a:lvl2pPr>
                <a:tabLst>
                  <a:tab pos="219075" algn="l"/>
                </a:tabLst>
                <a:defRPr sz="1600" b="1">
                  <a:solidFill>
                    <a:schemeClr val="tx1"/>
                  </a:solidFill>
                  <a:latin typeface="楷体_GB2312" panose="02010609030101010101" pitchFamily="49" charset="-122"/>
                  <a:ea typeface="楷体_GB2312" panose="02010609030101010101" pitchFamily="49" charset="-122"/>
                </a:defRPr>
              </a:lvl2pPr>
              <a:lvl3pPr>
                <a:tabLst>
                  <a:tab pos="219075" algn="l"/>
                </a:tabLst>
                <a:defRPr sz="1600" b="1">
                  <a:solidFill>
                    <a:schemeClr val="tx1"/>
                  </a:solidFill>
                  <a:latin typeface="楷体_GB2312" panose="02010609030101010101" pitchFamily="49" charset="-122"/>
                  <a:ea typeface="楷体_GB2312" panose="02010609030101010101" pitchFamily="49" charset="-122"/>
                </a:defRPr>
              </a:lvl3pPr>
              <a:lvl4pPr>
                <a:tabLst>
                  <a:tab pos="219075" algn="l"/>
                </a:tabLst>
                <a:defRPr sz="1600" b="1">
                  <a:solidFill>
                    <a:schemeClr val="tx1"/>
                  </a:solidFill>
                  <a:latin typeface="楷体_GB2312" panose="02010609030101010101" pitchFamily="49" charset="-122"/>
                  <a:ea typeface="楷体_GB2312" panose="02010609030101010101" pitchFamily="49" charset="-122"/>
                </a:defRPr>
              </a:lvl4pPr>
              <a:lvl5pPr>
                <a:tabLst>
                  <a:tab pos="219075" algn="l"/>
                </a:tabLst>
                <a:defRPr sz="1600" b="1">
                  <a:solidFill>
                    <a:schemeClr val="tx1"/>
                  </a:solidFill>
                  <a:latin typeface="楷体_GB2312" panose="02010609030101010101" pitchFamily="49" charset="-122"/>
                  <a:ea typeface="楷体_GB2312" panose="02010609030101010101" pitchFamily="49" charset="-122"/>
                </a:defRPr>
              </a:lvl5pPr>
              <a:lvl6pPr fontAlgn="base">
                <a:spcBef>
                  <a:spcPct val="0"/>
                </a:spcBef>
                <a:spcAft>
                  <a:spcPct val="0"/>
                </a:spcAft>
                <a:buFont typeface="Arial" panose="020B0604020202020204" pitchFamily="34" charset="0"/>
                <a:tabLst>
                  <a:tab pos="219075" algn="l"/>
                </a:tabLst>
                <a:defRPr sz="1600" b="1">
                  <a:solidFill>
                    <a:schemeClr val="tx1"/>
                  </a:solidFill>
                  <a:latin typeface="楷体_GB2312" panose="02010609030101010101" pitchFamily="49" charset="-122"/>
                  <a:ea typeface="楷体_GB2312" panose="02010609030101010101" pitchFamily="49" charset="-122"/>
                </a:defRPr>
              </a:lvl6pPr>
              <a:lvl7pPr fontAlgn="base">
                <a:spcBef>
                  <a:spcPct val="0"/>
                </a:spcBef>
                <a:spcAft>
                  <a:spcPct val="0"/>
                </a:spcAft>
                <a:buFont typeface="Arial" panose="020B0604020202020204" pitchFamily="34" charset="0"/>
                <a:tabLst>
                  <a:tab pos="219075" algn="l"/>
                </a:tabLst>
                <a:defRPr sz="1600" b="1">
                  <a:solidFill>
                    <a:schemeClr val="tx1"/>
                  </a:solidFill>
                  <a:latin typeface="楷体_GB2312" panose="02010609030101010101" pitchFamily="49" charset="-122"/>
                  <a:ea typeface="楷体_GB2312" panose="02010609030101010101" pitchFamily="49" charset="-122"/>
                </a:defRPr>
              </a:lvl7pPr>
              <a:lvl8pPr fontAlgn="base">
                <a:spcBef>
                  <a:spcPct val="0"/>
                </a:spcBef>
                <a:spcAft>
                  <a:spcPct val="0"/>
                </a:spcAft>
                <a:buFont typeface="Arial" panose="020B0604020202020204" pitchFamily="34" charset="0"/>
                <a:tabLst>
                  <a:tab pos="219075" algn="l"/>
                </a:tabLst>
                <a:defRPr sz="1600" b="1">
                  <a:solidFill>
                    <a:schemeClr val="tx1"/>
                  </a:solidFill>
                  <a:latin typeface="楷体_GB2312" panose="02010609030101010101" pitchFamily="49" charset="-122"/>
                  <a:ea typeface="楷体_GB2312" panose="02010609030101010101" pitchFamily="49" charset="-122"/>
                </a:defRPr>
              </a:lvl8pPr>
              <a:lvl9pPr fontAlgn="base">
                <a:spcBef>
                  <a:spcPct val="0"/>
                </a:spcBef>
                <a:spcAft>
                  <a:spcPct val="0"/>
                </a:spcAft>
                <a:buFont typeface="Arial" panose="020B0604020202020204" pitchFamily="34" charset="0"/>
                <a:tabLst>
                  <a:tab pos="219075" algn="l"/>
                </a:tabLst>
                <a:defRPr sz="1600" b="1">
                  <a:solidFill>
                    <a:schemeClr val="tx1"/>
                  </a:solidFill>
                  <a:latin typeface="楷体_GB2312" panose="02010609030101010101" pitchFamily="49" charset="-122"/>
                  <a:ea typeface="楷体_GB2312" panose="02010609030101010101" pitchFamily="49" charset="-122"/>
                </a:defRPr>
              </a:lvl9pPr>
            </a:lstStyle>
            <a:p>
              <a:pPr algn="just" eaLnBrk="0" hangingPunct="0"/>
              <a:r>
                <a:rPr lang="zh-CN" altLang="en-US" sz="1800" b="0" dirty="0">
                  <a:latin typeface="+mn-ea"/>
                  <a:ea typeface="+mn-ea"/>
                </a:rPr>
                <a:t>叠加型</a:t>
              </a:r>
            </a:p>
          </p:txBody>
        </p:sp>
        <p:sp>
          <p:nvSpPr>
            <p:cNvPr id="29" name="矩形 58391">
              <a:extLst>
                <a:ext uri="{FF2B5EF4-FFF2-40B4-BE49-F238E27FC236}">
                  <a16:creationId xmlns="" xmlns:a16="http://schemas.microsoft.com/office/drawing/2014/main" id="{2E5F0C0A-2EF3-5BB2-763D-74E484DDF642}"/>
                </a:ext>
              </a:extLst>
            </p:cNvPr>
            <p:cNvSpPr>
              <a:spLocks noChangeArrowheads="1"/>
            </p:cNvSpPr>
            <p:nvPr/>
          </p:nvSpPr>
          <p:spPr bwMode="auto">
            <a:xfrm>
              <a:off x="2271" y="1978"/>
              <a:ext cx="86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r>
                <a:rPr lang="zh-CN" altLang="en-US" dirty="0">
                  <a:solidFill>
                    <a:schemeClr val="tx1"/>
                  </a:solidFill>
                  <a:latin typeface="+mn-ea"/>
                  <a:ea typeface="+mn-ea"/>
                </a:rPr>
                <a:t>乘积型</a:t>
              </a:r>
            </a:p>
          </p:txBody>
        </p:sp>
      </p:grpSp>
      <p:sp>
        <p:nvSpPr>
          <p:cNvPr id="40" name="Text Box 3">
            <a:extLst>
              <a:ext uri="{FF2B5EF4-FFF2-40B4-BE49-F238E27FC236}">
                <a16:creationId xmlns="" xmlns:a16="http://schemas.microsoft.com/office/drawing/2014/main" id="{B6F7D669-D4AD-F48A-7970-590A06FD54D1}"/>
              </a:ext>
            </a:extLst>
          </p:cNvPr>
          <p:cNvSpPr txBox="1">
            <a:spLocks noChangeArrowheads="1"/>
          </p:cNvSpPr>
          <p:nvPr/>
        </p:nvSpPr>
        <p:spPr bwMode="auto">
          <a:xfrm>
            <a:off x="374971" y="5127406"/>
            <a:ext cx="859915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dirty="0" err="1">
                <a:latin typeface="+mn-ea"/>
                <a:ea typeface="+mn-ea"/>
              </a:rPr>
              <a:t>包络检波</a:t>
            </a:r>
            <a:r>
              <a:rPr lang="en-US" altLang="zh-CN" dirty="0">
                <a:latin typeface="+mn-ea"/>
                <a:ea typeface="+mn-ea"/>
              </a:rPr>
              <a:t>：</a:t>
            </a:r>
            <a:r>
              <a:rPr lang="zh-CN" altLang="en-US" dirty="0">
                <a:latin typeface="+mn-ea"/>
                <a:ea typeface="+mn-ea"/>
              </a:rPr>
              <a:t>是指解调器输出电压与输入已调波的包络成正比的</a:t>
            </a:r>
            <a:r>
              <a:rPr lang="zh-CN" altLang="en-US" dirty="0" smtClean="0">
                <a:latin typeface="+mn-ea"/>
                <a:ea typeface="+mn-ea"/>
              </a:rPr>
              <a:t>检波</a:t>
            </a:r>
            <a:r>
              <a:rPr lang="zh-CN" altLang="en-US" dirty="0">
                <a:latin typeface="+mn-ea"/>
                <a:ea typeface="+mn-ea"/>
              </a:rPr>
              <a:t>方式。它适于解调普通调幅波。</a:t>
            </a:r>
          </a:p>
        </p:txBody>
      </p:sp>
      <p:sp>
        <p:nvSpPr>
          <p:cNvPr id="41" name="文本框 1">
            <a:extLst>
              <a:ext uri="{FF2B5EF4-FFF2-40B4-BE49-F238E27FC236}">
                <a16:creationId xmlns="" xmlns:a16="http://schemas.microsoft.com/office/drawing/2014/main" id="{3E9FB18F-1F2E-4A1F-31F5-097C05504FC7}"/>
              </a:ext>
            </a:extLst>
          </p:cNvPr>
          <p:cNvSpPr txBox="1">
            <a:spLocks noChangeArrowheads="1"/>
          </p:cNvSpPr>
          <p:nvPr/>
        </p:nvSpPr>
        <p:spPr bwMode="auto">
          <a:xfrm>
            <a:off x="1998918" y="4284718"/>
            <a:ext cx="11079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dirty="0">
                <a:solidFill>
                  <a:schemeClr val="tx1"/>
                </a:solidFill>
                <a:latin typeface="+mn-ea"/>
                <a:ea typeface="+mn-ea"/>
              </a:rPr>
              <a:t>检波</a:t>
            </a:r>
            <a:r>
              <a:rPr lang="zh-CN" altLang="en-US" dirty="0" smtClean="0">
                <a:solidFill>
                  <a:schemeClr val="tx1"/>
                </a:solidFill>
                <a:latin typeface="+mn-ea"/>
                <a:ea typeface="+mn-ea"/>
              </a:rPr>
              <a:t>方式</a:t>
            </a:r>
            <a:endParaRPr lang="en-US" altLang="zh-CN" dirty="0">
              <a:solidFill>
                <a:schemeClr val="tx1"/>
              </a:solidFill>
              <a:latin typeface="+mn-ea"/>
              <a:ea typeface="+mn-ea"/>
            </a:endParaRPr>
          </a:p>
        </p:txBody>
      </p:sp>
      <p:sp>
        <p:nvSpPr>
          <p:cNvPr id="42" name="Text Box 3">
            <a:extLst>
              <a:ext uri="{FF2B5EF4-FFF2-40B4-BE49-F238E27FC236}">
                <a16:creationId xmlns="" xmlns:a16="http://schemas.microsoft.com/office/drawing/2014/main" id="{A8C1579E-F4B9-4478-8D52-D5FDE34787DB}"/>
              </a:ext>
            </a:extLst>
          </p:cNvPr>
          <p:cNvSpPr txBox="1">
            <a:spLocks noChangeArrowheads="1"/>
          </p:cNvSpPr>
          <p:nvPr/>
        </p:nvSpPr>
        <p:spPr bwMode="auto">
          <a:xfrm>
            <a:off x="397555" y="5717663"/>
            <a:ext cx="8576566"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latinLnBrk="1" hangingPunct="1"/>
            <a:r>
              <a:rPr lang="en-US" altLang="en-US" dirty="0">
                <a:latin typeface="Times New Roman" panose="02020603050405020304" pitchFamily="18" charset="0"/>
                <a:cs typeface="Times New Roman" panose="02020603050405020304" pitchFamily="18" charset="0"/>
              </a:rPr>
              <a:t>    DSB</a:t>
            </a:r>
            <a:r>
              <a:rPr lang="zh-CN" altLang="en-US" dirty="0">
                <a:latin typeface="Times New Roman" panose="02020603050405020304" pitchFamily="18" charset="0"/>
                <a:cs typeface="Times New Roman" panose="02020603050405020304" pitchFamily="18" charset="0"/>
              </a:rPr>
              <a:t>和</a:t>
            </a:r>
            <a:r>
              <a:rPr lang="en-US" altLang="zh-CN" dirty="0">
                <a:latin typeface="Times New Roman" panose="02020603050405020304" pitchFamily="18" charset="0"/>
                <a:cs typeface="Times New Roman" panose="02020603050405020304" pitchFamily="18" charset="0"/>
              </a:rPr>
              <a:t>SSB</a:t>
            </a:r>
            <a:r>
              <a:rPr lang="zh-CN" altLang="en-US" dirty="0">
                <a:latin typeface="Times New Roman" panose="02020603050405020304" pitchFamily="18" charset="0"/>
                <a:cs typeface="Times New Roman" panose="02020603050405020304" pitchFamily="18" charset="0"/>
              </a:rPr>
              <a:t>信号</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包络</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不直接反映调制信号的变化规律，不能使用包络检波。而是必须另外提供一个参考电压（称为插入载波电压或恢复载波电压）。恢复的载波必须和调制端载波同步（同频同相），所以称为同步检波。</a:t>
            </a:r>
          </a:p>
        </p:txBody>
      </p:sp>
      <p:sp>
        <p:nvSpPr>
          <p:cNvPr id="43" name="AutoShape 20">
            <a:extLst>
              <a:ext uri="{FF2B5EF4-FFF2-40B4-BE49-F238E27FC236}">
                <a16:creationId xmlns="" xmlns:a16="http://schemas.microsoft.com/office/drawing/2014/main" id="{9FD3DB61-B0AB-F11E-E36D-F28D819073F4}"/>
              </a:ext>
            </a:extLst>
          </p:cNvPr>
          <p:cNvSpPr>
            <a:spLocks/>
          </p:cNvSpPr>
          <p:nvPr/>
        </p:nvSpPr>
        <p:spPr bwMode="auto">
          <a:xfrm>
            <a:off x="4102561" y="3891329"/>
            <a:ext cx="71437" cy="563249"/>
          </a:xfrm>
          <a:prstGeom prst="leftBrace">
            <a:avLst>
              <a:gd name="adj1" fmla="val 82500"/>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tx1"/>
              </a:solidFill>
              <a:latin typeface="+mn-ea"/>
              <a:ea typeface="+mn-ea"/>
            </a:endParaRPr>
          </a:p>
        </p:txBody>
      </p:sp>
    </p:spTree>
    <p:extLst>
      <p:ext uri="{BB962C8B-B14F-4D97-AF65-F5344CB8AC3E}">
        <p14:creationId xmlns:p14="http://schemas.microsoft.com/office/powerpoint/2010/main" val="1919181885"/>
      </p:ext>
    </p:extLst>
  </p:cSld>
  <p:clrMapOvr>
    <a:masterClrMapping/>
  </p:clrMapOvr>
  <p:timing>
    <p:tnLst>
      <p:par>
        <p:cTn id="1" dur="indefinite" restart="never" nodeType="tmRoot"/>
      </p:par>
    </p:tnLst>
  </p:timing>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235</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5"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6.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振幅调制</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与</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解调</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5" name="Rectangle 7">
            <a:extLst>
              <a:ext uri="{FF2B5EF4-FFF2-40B4-BE49-F238E27FC236}">
                <a16:creationId xmlns="" xmlns:a16="http://schemas.microsoft.com/office/drawing/2014/main" id="{B2A2A4FC-7A60-6175-A44C-49FEE93BBFEA}"/>
              </a:ext>
            </a:extLst>
          </p:cNvPr>
          <p:cNvSpPr>
            <a:spLocks noChangeArrowheads="1"/>
          </p:cNvSpPr>
          <p:nvPr/>
        </p:nvSpPr>
        <p:spPr bwMode="auto">
          <a:xfrm>
            <a:off x="374581" y="1401841"/>
            <a:ext cx="48260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tabLst>
                <a:tab pos="5249863" algn="r"/>
              </a:tabLst>
              <a:defRPr sz="1600" b="1">
                <a:solidFill>
                  <a:schemeClr val="tx1"/>
                </a:solidFill>
                <a:latin typeface="楷体_GB2312" panose="02010609030101010101" pitchFamily="49" charset="-122"/>
                <a:ea typeface="楷体_GB2312" panose="02010609030101010101" pitchFamily="49" charset="-122"/>
              </a:defRPr>
            </a:lvl1pPr>
            <a:lvl2pPr>
              <a:tabLst>
                <a:tab pos="5249863" algn="r"/>
              </a:tabLst>
              <a:defRPr sz="1600" b="1">
                <a:solidFill>
                  <a:schemeClr val="tx1"/>
                </a:solidFill>
                <a:latin typeface="楷体_GB2312" panose="02010609030101010101" pitchFamily="49" charset="-122"/>
                <a:ea typeface="楷体_GB2312" panose="02010609030101010101" pitchFamily="49" charset="-122"/>
              </a:defRPr>
            </a:lvl2pPr>
            <a:lvl3pPr>
              <a:tabLst>
                <a:tab pos="5249863" algn="r"/>
              </a:tabLst>
              <a:defRPr sz="1600" b="1">
                <a:solidFill>
                  <a:schemeClr val="tx1"/>
                </a:solidFill>
                <a:latin typeface="楷体_GB2312" panose="02010609030101010101" pitchFamily="49" charset="-122"/>
                <a:ea typeface="楷体_GB2312" panose="02010609030101010101" pitchFamily="49" charset="-122"/>
              </a:defRPr>
            </a:lvl3pPr>
            <a:lvl4pPr>
              <a:tabLst>
                <a:tab pos="5249863" algn="r"/>
              </a:tabLst>
              <a:defRPr sz="1600" b="1">
                <a:solidFill>
                  <a:schemeClr val="tx1"/>
                </a:solidFill>
                <a:latin typeface="楷体_GB2312" panose="02010609030101010101" pitchFamily="49" charset="-122"/>
                <a:ea typeface="楷体_GB2312" panose="02010609030101010101" pitchFamily="49" charset="-122"/>
              </a:defRPr>
            </a:lvl4pPr>
            <a:lvl5pPr>
              <a:tabLst>
                <a:tab pos="5249863" algn="r"/>
              </a:tabLst>
              <a:defRPr sz="1600" b="1">
                <a:solidFill>
                  <a:schemeClr val="tx1"/>
                </a:solidFill>
                <a:latin typeface="楷体_GB2312" panose="02010609030101010101" pitchFamily="49" charset="-122"/>
                <a:ea typeface="楷体_GB2312" panose="02010609030101010101" pitchFamily="49" charset="-122"/>
              </a:defRPr>
            </a:lvl5pPr>
            <a:lvl6pPr fontAlgn="base">
              <a:spcBef>
                <a:spcPct val="0"/>
              </a:spcBef>
              <a:spcAft>
                <a:spcPct val="0"/>
              </a:spcAft>
              <a:buFont typeface="Arial" panose="020B0604020202020204" pitchFamily="34" charset="0"/>
              <a:tabLst>
                <a:tab pos="5249863" algn="r"/>
              </a:tabLst>
              <a:defRPr sz="1600" b="1">
                <a:solidFill>
                  <a:schemeClr val="tx1"/>
                </a:solidFill>
                <a:latin typeface="楷体_GB2312" panose="02010609030101010101" pitchFamily="49" charset="-122"/>
                <a:ea typeface="楷体_GB2312" panose="02010609030101010101" pitchFamily="49" charset="-122"/>
              </a:defRPr>
            </a:lvl6pPr>
            <a:lvl7pPr fontAlgn="base">
              <a:spcBef>
                <a:spcPct val="0"/>
              </a:spcBef>
              <a:spcAft>
                <a:spcPct val="0"/>
              </a:spcAft>
              <a:buFont typeface="Arial" panose="020B0604020202020204" pitchFamily="34" charset="0"/>
              <a:tabLst>
                <a:tab pos="5249863" algn="r"/>
              </a:tabLst>
              <a:defRPr sz="1600" b="1">
                <a:solidFill>
                  <a:schemeClr val="tx1"/>
                </a:solidFill>
                <a:latin typeface="楷体_GB2312" panose="02010609030101010101" pitchFamily="49" charset="-122"/>
                <a:ea typeface="楷体_GB2312" panose="02010609030101010101" pitchFamily="49" charset="-122"/>
              </a:defRPr>
            </a:lvl7pPr>
            <a:lvl8pPr fontAlgn="base">
              <a:spcBef>
                <a:spcPct val="0"/>
              </a:spcBef>
              <a:spcAft>
                <a:spcPct val="0"/>
              </a:spcAft>
              <a:buFont typeface="Arial" panose="020B0604020202020204" pitchFamily="34" charset="0"/>
              <a:tabLst>
                <a:tab pos="5249863" algn="r"/>
              </a:tabLst>
              <a:defRPr sz="1600" b="1">
                <a:solidFill>
                  <a:schemeClr val="tx1"/>
                </a:solidFill>
                <a:latin typeface="楷体_GB2312" panose="02010609030101010101" pitchFamily="49" charset="-122"/>
                <a:ea typeface="楷体_GB2312" panose="02010609030101010101" pitchFamily="49" charset="-122"/>
              </a:defRPr>
            </a:lvl8pPr>
            <a:lvl9pPr fontAlgn="base">
              <a:spcBef>
                <a:spcPct val="0"/>
              </a:spcBef>
              <a:spcAft>
                <a:spcPct val="0"/>
              </a:spcAft>
              <a:buFont typeface="Arial" panose="020B0604020202020204" pitchFamily="34" charset="0"/>
              <a:tabLst>
                <a:tab pos="5249863" algn="r"/>
              </a:tabLst>
              <a:defRPr sz="1600" b="1">
                <a:solidFill>
                  <a:schemeClr val="tx1"/>
                </a:solidFill>
                <a:latin typeface="楷体_GB2312" panose="02010609030101010101" pitchFamily="49" charset="-122"/>
                <a:ea typeface="楷体_GB2312" panose="02010609030101010101" pitchFamily="49" charset="-122"/>
              </a:defRPr>
            </a:lvl9pPr>
          </a:lstStyle>
          <a:p>
            <a:r>
              <a:rPr lang="zh-CN" altLang="en-US" sz="2400" dirty="0">
                <a:solidFill>
                  <a:schemeClr val="accent2"/>
                </a:solidFill>
                <a:latin typeface="Times New Roman" panose="02020603050405020304" pitchFamily="18" charset="0"/>
                <a:ea typeface="宋体" panose="02010600030101010101" pitchFamily="2" charset="-122"/>
              </a:rPr>
              <a:t>二极管（大信号）峰值包络检波器</a:t>
            </a:r>
          </a:p>
        </p:txBody>
      </p:sp>
      <p:sp>
        <p:nvSpPr>
          <p:cNvPr id="26" name="Rectangle 4">
            <a:extLst>
              <a:ext uri="{FF2B5EF4-FFF2-40B4-BE49-F238E27FC236}">
                <a16:creationId xmlns="" xmlns:a16="http://schemas.microsoft.com/office/drawing/2014/main" id="{E60222C1-246C-680B-7C82-C53A9A17C1E5}"/>
              </a:ext>
            </a:extLst>
          </p:cNvPr>
          <p:cNvSpPr>
            <a:spLocks noChangeArrowheads="1"/>
          </p:cNvSpPr>
          <p:nvPr/>
        </p:nvSpPr>
        <p:spPr bwMode="auto">
          <a:xfrm>
            <a:off x="395288" y="4340375"/>
            <a:ext cx="8820150" cy="1795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26960" bIns="126960" anchor="ctr">
            <a:spAutoFit/>
          </a:bodyPr>
          <a:lstStyle/>
          <a:p>
            <a:r>
              <a:rPr lang="zh-CN" altLang="en-US" sz="2000" dirty="0">
                <a:solidFill>
                  <a:schemeClr val="tx1"/>
                </a:solidFill>
                <a:latin typeface="+mn-ea"/>
                <a:ea typeface="+mn-ea"/>
              </a:rPr>
              <a:t>    串联式二极管（大信号）包络检波器如图</a:t>
            </a:r>
            <a:r>
              <a:rPr lang="en-US" altLang="zh-CN" sz="2000" dirty="0">
                <a:solidFill>
                  <a:schemeClr val="tx1"/>
                </a:solidFill>
                <a:latin typeface="+mn-ea"/>
                <a:ea typeface="+mn-ea"/>
              </a:rPr>
              <a:t>(a)</a:t>
            </a:r>
            <a:r>
              <a:rPr lang="zh-CN" altLang="en-US" sz="2000" dirty="0">
                <a:solidFill>
                  <a:schemeClr val="tx1"/>
                </a:solidFill>
                <a:latin typeface="+mn-ea"/>
                <a:ea typeface="+mn-ea"/>
              </a:rPr>
              <a:t>所示。</a:t>
            </a:r>
            <a:endParaRPr lang="en-US" altLang="zh-CN" sz="2000" dirty="0">
              <a:solidFill>
                <a:schemeClr val="tx1"/>
              </a:solidFill>
              <a:latin typeface="+mn-ea"/>
              <a:ea typeface="+mn-ea"/>
            </a:endParaRPr>
          </a:p>
          <a:p>
            <a:endParaRPr lang="zh-CN" altLang="en-US" sz="2000" dirty="0">
              <a:solidFill>
                <a:schemeClr val="tx1"/>
              </a:solidFill>
              <a:latin typeface="+mn-ea"/>
              <a:ea typeface="+mn-ea"/>
            </a:endParaRPr>
          </a:p>
          <a:p>
            <a:r>
              <a:rPr lang="zh-CN" altLang="en-US" sz="2000" dirty="0">
                <a:solidFill>
                  <a:schemeClr val="tx1"/>
                </a:solidFill>
                <a:latin typeface="+mn-ea"/>
                <a:ea typeface="+mn-ea"/>
              </a:rPr>
              <a:t>图中的</a:t>
            </a:r>
            <a:r>
              <a:rPr lang="en-US" altLang="zh-CN" sz="2000" i="1" dirty="0">
                <a:solidFill>
                  <a:schemeClr val="tx1"/>
                </a:solidFill>
                <a:latin typeface="+mn-ea"/>
                <a:ea typeface="+mn-ea"/>
              </a:rPr>
              <a:t>R</a:t>
            </a:r>
            <a:r>
              <a:rPr lang="en-US" altLang="zh-CN" sz="2000" baseline="-30000" dirty="0">
                <a:solidFill>
                  <a:schemeClr val="tx1"/>
                </a:solidFill>
                <a:latin typeface="+mn-ea"/>
                <a:ea typeface="+mn-ea"/>
              </a:rPr>
              <a:t>L</a:t>
            </a:r>
            <a:r>
              <a:rPr lang="zh-CN" altLang="en-US" sz="2000" dirty="0">
                <a:solidFill>
                  <a:schemeClr val="tx1"/>
                </a:solidFill>
                <a:latin typeface="+mn-ea"/>
                <a:ea typeface="+mn-ea"/>
              </a:rPr>
              <a:t>、</a:t>
            </a:r>
            <a:r>
              <a:rPr lang="en-US" altLang="zh-CN" sz="2000" i="1" dirty="0">
                <a:solidFill>
                  <a:schemeClr val="tx1"/>
                </a:solidFill>
                <a:latin typeface="+mn-ea"/>
                <a:ea typeface="+mn-ea"/>
              </a:rPr>
              <a:t>C</a:t>
            </a:r>
            <a:r>
              <a:rPr lang="zh-CN" altLang="en-US" sz="2000" dirty="0">
                <a:solidFill>
                  <a:schemeClr val="tx1"/>
                </a:solidFill>
                <a:latin typeface="+mn-ea"/>
                <a:ea typeface="+mn-ea"/>
              </a:rPr>
              <a:t>为二极管检波器的负载，同时也起低通滤波器作用。</a:t>
            </a:r>
            <a:endParaRPr lang="en-US" altLang="zh-CN" sz="2000" dirty="0">
              <a:solidFill>
                <a:schemeClr val="tx1"/>
              </a:solidFill>
              <a:latin typeface="+mn-ea"/>
              <a:ea typeface="+mn-ea"/>
            </a:endParaRPr>
          </a:p>
          <a:p>
            <a:r>
              <a:rPr lang="zh-CN" altLang="en-US" sz="2000" dirty="0">
                <a:solidFill>
                  <a:schemeClr val="tx1"/>
                </a:solidFill>
                <a:latin typeface="+mn-ea"/>
                <a:ea typeface="+mn-ea"/>
              </a:rPr>
              <a:t>一般要求检波器的输入信号大于</a:t>
            </a:r>
            <a:r>
              <a:rPr lang="en-US" altLang="zh-CN" sz="2000" dirty="0">
                <a:solidFill>
                  <a:schemeClr val="tx1"/>
                </a:solidFill>
                <a:latin typeface="+mn-ea"/>
                <a:ea typeface="+mn-ea"/>
              </a:rPr>
              <a:t>0.5V</a:t>
            </a:r>
            <a:r>
              <a:rPr lang="zh-CN" altLang="en-US" sz="2000" dirty="0">
                <a:solidFill>
                  <a:schemeClr val="tx1"/>
                </a:solidFill>
                <a:latin typeface="+mn-ea"/>
                <a:ea typeface="+mn-ea"/>
              </a:rPr>
              <a:t>，所以称为大信号检波器。</a:t>
            </a:r>
          </a:p>
          <a:p>
            <a:r>
              <a:rPr lang="en-US" altLang="zh-CN" sz="2000" dirty="0">
                <a:solidFill>
                  <a:schemeClr val="tx1"/>
                </a:solidFill>
                <a:latin typeface="+mn-ea"/>
                <a:ea typeface="+mn-ea"/>
              </a:rPr>
              <a:t>   </a:t>
            </a:r>
            <a:endParaRPr lang="zh-CN" altLang="en-US" sz="2000" dirty="0">
              <a:solidFill>
                <a:schemeClr val="tx1"/>
              </a:solidFill>
              <a:latin typeface="+mn-ea"/>
              <a:ea typeface="+mn-ea"/>
            </a:endParaRPr>
          </a:p>
        </p:txBody>
      </p:sp>
      <p:graphicFrame>
        <p:nvGraphicFramePr>
          <p:cNvPr id="27" name="Object 8">
            <a:extLst>
              <a:ext uri="{FF2B5EF4-FFF2-40B4-BE49-F238E27FC236}">
                <a16:creationId xmlns="" xmlns:a16="http://schemas.microsoft.com/office/drawing/2014/main" id="{DC3BBFB7-CF92-A283-97AE-CD3196FD2C4A}"/>
              </a:ext>
            </a:extLst>
          </p:cNvPr>
          <p:cNvGraphicFramePr>
            <a:graphicFrameLocks/>
          </p:cNvGraphicFramePr>
          <p:nvPr>
            <p:extLst>
              <p:ext uri="{D42A27DB-BD31-4B8C-83A1-F6EECF244321}">
                <p14:modId xmlns:p14="http://schemas.microsoft.com/office/powerpoint/2010/main" val="1363628831"/>
              </p:ext>
            </p:extLst>
          </p:nvPr>
        </p:nvGraphicFramePr>
        <p:xfrm>
          <a:off x="827088" y="2068612"/>
          <a:ext cx="3768725" cy="2354262"/>
        </p:xfrm>
        <a:graphic>
          <a:graphicData uri="http://schemas.openxmlformats.org/presentationml/2006/ole">
            <mc:AlternateContent xmlns:mc="http://schemas.openxmlformats.org/markup-compatibility/2006">
              <mc:Choice xmlns:v="urn:schemas-microsoft-com:vml" Requires="v">
                <p:oleObj spid="_x0000_s186400" r:id="rId3" imgW="2220120" imgH="1343880" progId="Word.Picture.8">
                  <p:embed/>
                </p:oleObj>
              </mc:Choice>
              <mc:Fallback>
                <p:oleObj r:id="rId3" imgW="2220120" imgH="1343880" progId="Word.Picture.8">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7088" y="2068612"/>
                        <a:ext cx="3768725" cy="2354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8" name="Rectangle 12">
            <a:extLst>
              <a:ext uri="{FF2B5EF4-FFF2-40B4-BE49-F238E27FC236}">
                <a16:creationId xmlns="" xmlns:a16="http://schemas.microsoft.com/office/drawing/2014/main" id="{D0F97CEA-3C8C-D8BE-C01B-1FC795BCF7C5}"/>
              </a:ext>
            </a:extLst>
          </p:cNvPr>
          <p:cNvSpPr>
            <a:spLocks noChangeArrowheads="1"/>
          </p:cNvSpPr>
          <p:nvPr/>
        </p:nvSpPr>
        <p:spPr bwMode="auto">
          <a:xfrm>
            <a:off x="0" y="3322707"/>
            <a:ext cx="18473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sz="2000">
              <a:solidFill>
                <a:schemeClr val="tx1"/>
              </a:solidFill>
              <a:latin typeface="+mn-ea"/>
              <a:ea typeface="+mn-ea"/>
            </a:endParaRPr>
          </a:p>
        </p:txBody>
      </p:sp>
      <p:sp>
        <p:nvSpPr>
          <p:cNvPr id="29" name="Text Box 4">
            <a:extLst>
              <a:ext uri="{FF2B5EF4-FFF2-40B4-BE49-F238E27FC236}">
                <a16:creationId xmlns="" xmlns:a16="http://schemas.microsoft.com/office/drawing/2014/main" id="{E766D21C-AFD9-0930-5191-F047CE9C14D1}"/>
              </a:ext>
            </a:extLst>
          </p:cNvPr>
          <p:cNvSpPr txBox="1">
            <a:spLocks noChangeArrowheads="1"/>
          </p:cNvSpPr>
          <p:nvPr/>
        </p:nvSpPr>
        <p:spPr bwMode="auto">
          <a:xfrm>
            <a:off x="4040969" y="2063427"/>
            <a:ext cx="130516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a:solidFill>
                  <a:schemeClr val="tx1"/>
                </a:solidFill>
                <a:latin typeface="+mn-ea"/>
                <a:ea typeface="+mn-ea"/>
              </a:rPr>
              <a:t>R</a:t>
            </a:r>
            <a:r>
              <a:rPr lang="en-US" altLang="zh-CN" sz="2000" baseline="-25000">
                <a:solidFill>
                  <a:schemeClr val="tx1"/>
                </a:solidFill>
                <a:latin typeface="+mn-ea"/>
                <a:ea typeface="+mn-ea"/>
              </a:rPr>
              <a:t>L</a:t>
            </a:r>
            <a:r>
              <a:rPr lang="en-US" altLang="zh-CN" sz="2000">
                <a:solidFill>
                  <a:schemeClr val="tx1"/>
                </a:solidFill>
                <a:latin typeface="+mn-ea"/>
                <a:ea typeface="+mn-ea"/>
              </a:rPr>
              <a:t>C</a:t>
            </a:r>
            <a:r>
              <a:rPr lang="zh-CN" altLang="en-US" sz="2000">
                <a:solidFill>
                  <a:schemeClr val="tx1"/>
                </a:solidFill>
                <a:latin typeface="+mn-ea"/>
                <a:ea typeface="+mn-ea"/>
              </a:rPr>
              <a:t>电路：</a:t>
            </a:r>
          </a:p>
        </p:txBody>
      </p:sp>
      <p:sp>
        <p:nvSpPr>
          <p:cNvPr id="30" name="Text Box 5">
            <a:extLst>
              <a:ext uri="{FF2B5EF4-FFF2-40B4-BE49-F238E27FC236}">
                <a16:creationId xmlns="" xmlns:a16="http://schemas.microsoft.com/office/drawing/2014/main" id="{950EAFDC-C16A-53A9-A777-CCCD3430B295}"/>
              </a:ext>
            </a:extLst>
          </p:cNvPr>
          <p:cNvSpPr txBox="1">
            <a:spLocks noChangeArrowheads="1"/>
          </p:cNvSpPr>
          <p:nvPr/>
        </p:nvSpPr>
        <p:spPr bwMode="auto">
          <a:xfrm>
            <a:off x="5238170" y="2623845"/>
            <a:ext cx="25209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000" dirty="0">
                <a:solidFill>
                  <a:schemeClr val="tx1"/>
                </a:solidFill>
                <a:latin typeface="+mn-ea"/>
                <a:ea typeface="+mn-ea"/>
              </a:rPr>
              <a:t>检波器的负载</a:t>
            </a:r>
          </a:p>
        </p:txBody>
      </p:sp>
      <p:sp>
        <p:nvSpPr>
          <p:cNvPr id="31" name="Text Box 6">
            <a:extLst>
              <a:ext uri="{FF2B5EF4-FFF2-40B4-BE49-F238E27FC236}">
                <a16:creationId xmlns="" xmlns:a16="http://schemas.microsoft.com/office/drawing/2014/main" id="{813140E7-C1B6-1845-5519-C671701E2234}"/>
              </a:ext>
            </a:extLst>
          </p:cNvPr>
          <p:cNvSpPr txBox="1">
            <a:spLocks noChangeArrowheads="1"/>
          </p:cNvSpPr>
          <p:nvPr/>
        </p:nvSpPr>
        <p:spPr bwMode="auto">
          <a:xfrm>
            <a:off x="5208915" y="2080428"/>
            <a:ext cx="172354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chemeClr val="tx1"/>
                </a:solidFill>
                <a:latin typeface="+mn-ea"/>
                <a:ea typeface="+mn-ea"/>
              </a:rPr>
              <a:t>高频滤波作用</a:t>
            </a:r>
          </a:p>
        </p:txBody>
      </p:sp>
      <p:sp>
        <p:nvSpPr>
          <p:cNvPr id="32" name="Text Box 8">
            <a:extLst>
              <a:ext uri="{FF2B5EF4-FFF2-40B4-BE49-F238E27FC236}">
                <a16:creationId xmlns="" xmlns:a16="http://schemas.microsoft.com/office/drawing/2014/main" id="{D131D0B8-5226-7436-6150-E0D7FF6D0EBB}"/>
              </a:ext>
            </a:extLst>
          </p:cNvPr>
          <p:cNvSpPr txBox="1">
            <a:spLocks noChangeArrowheads="1"/>
          </p:cNvSpPr>
          <p:nvPr/>
        </p:nvSpPr>
        <p:spPr bwMode="auto">
          <a:xfrm>
            <a:off x="4089183" y="3278679"/>
            <a:ext cx="146706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chemeClr val="tx1"/>
                </a:solidFill>
                <a:latin typeface="+mn-ea"/>
                <a:ea typeface="+mn-ea"/>
              </a:rPr>
              <a:t>故必须满足</a:t>
            </a:r>
          </a:p>
        </p:txBody>
      </p:sp>
      <p:graphicFrame>
        <p:nvGraphicFramePr>
          <p:cNvPr id="33" name="Object 9">
            <a:extLst>
              <a:ext uri="{FF2B5EF4-FFF2-40B4-BE49-F238E27FC236}">
                <a16:creationId xmlns="" xmlns:a16="http://schemas.microsoft.com/office/drawing/2014/main" id="{7252DFF4-0EBA-5490-0920-2140D77BEFF9}"/>
              </a:ext>
            </a:extLst>
          </p:cNvPr>
          <p:cNvGraphicFramePr>
            <a:graphicFrameLocks/>
          </p:cNvGraphicFramePr>
          <p:nvPr>
            <p:extLst>
              <p:ext uri="{D42A27DB-BD31-4B8C-83A1-F6EECF244321}">
                <p14:modId xmlns:p14="http://schemas.microsoft.com/office/powerpoint/2010/main" val="3255521118"/>
              </p:ext>
            </p:extLst>
          </p:nvPr>
        </p:nvGraphicFramePr>
        <p:xfrm>
          <a:off x="5625505" y="3224703"/>
          <a:ext cx="1223962" cy="754063"/>
        </p:xfrm>
        <a:graphic>
          <a:graphicData uri="http://schemas.openxmlformats.org/presentationml/2006/ole">
            <mc:AlternateContent xmlns:mc="http://schemas.openxmlformats.org/markup-compatibility/2006">
              <mc:Choice xmlns:v="urn:schemas-microsoft-com:vml" Requires="v">
                <p:oleObj spid="_x0000_s186401" r:id="rId5" imgW="698197" imgH="431613" progId="Equation.3">
                  <p:embed/>
                </p:oleObj>
              </mc:Choice>
              <mc:Fallback>
                <p:oleObj r:id="rId5" imgW="698197" imgH="431613" progId="Equation.3">
                  <p:embed/>
                  <p:pic>
                    <p:nvPicPr>
                      <p:cNvPr id="0" name=""/>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25505" y="3224703"/>
                        <a:ext cx="1223962" cy="754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4" name="Object 10">
            <a:extLst>
              <a:ext uri="{FF2B5EF4-FFF2-40B4-BE49-F238E27FC236}">
                <a16:creationId xmlns="" xmlns:a16="http://schemas.microsoft.com/office/drawing/2014/main" id="{91BFB7E7-738F-B39A-2D83-43E7A9B50DD9}"/>
              </a:ext>
            </a:extLst>
          </p:cNvPr>
          <p:cNvGraphicFramePr>
            <a:graphicFrameLocks/>
          </p:cNvGraphicFramePr>
          <p:nvPr>
            <p:extLst>
              <p:ext uri="{D42A27DB-BD31-4B8C-83A1-F6EECF244321}">
                <p14:modId xmlns:p14="http://schemas.microsoft.com/office/powerpoint/2010/main" val="513865366"/>
              </p:ext>
            </p:extLst>
          </p:nvPr>
        </p:nvGraphicFramePr>
        <p:xfrm>
          <a:off x="7281435" y="3180216"/>
          <a:ext cx="1584325" cy="790575"/>
        </p:xfrm>
        <a:graphic>
          <a:graphicData uri="http://schemas.openxmlformats.org/presentationml/2006/ole">
            <mc:AlternateContent xmlns:mc="http://schemas.openxmlformats.org/markup-compatibility/2006">
              <mc:Choice xmlns:v="urn:schemas-microsoft-com:vml" Requires="v">
                <p:oleObj spid="_x0000_s186402" r:id="rId7" imgW="863225" imgH="431613" progId="Equation.3">
                  <p:embed/>
                </p:oleObj>
              </mc:Choice>
              <mc:Fallback>
                <p:oleObj r:id="rId7" imgW="863225" imgH="431613" progId="Equation.3">
                  <p:embed/>
                  <p:pic>
                    <p:nvPicPr>
                      <p:cNvPr id="0" name=""/>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281435" y="3180216"/>
                        <a:ext cx="1584325" cy="79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5" name="Text Box 14">
            <a:extLst>
              <a:ext uri="{FF2B5EF4-FFF2-40B4-BE49-F238E27FC236}">
                <a16:creationId xmlns="" xmlns:a16="http://schemas.microsoft.com/office/drawing/2014/main" id="{565F8E18-B6CD-8891-E6D1-3950F5EFDB37}"/>
              </a:ext>
            </a:extLst>
          </p:cNvPr>
          <p:cNvSpPr txBox="1">
            <a:spLocks noChangeArrowheads="1"/>
          </p:cNvSpPr>
          <p:nvPr/>
        </p:nvSpPr>
        <p:spPr bwMode="auto">
          <a:xfrm>
            <a:off x="6840289" y="3278679"/>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chemeClr val="tx1"/>
                </a:solidFill>
                <a:latin typeface="+mn-ea"/>
                <a:ea typeface="+mn-ea"/>
              </a:rPr>
              <a:t>及</a:t>
            </a:r>
          </a:p>
        </p:txBody>
      </p:sp>
    </p:spTree>
    <p:extLst>
      <p:ext uri="{BB962C8B-B14F-4D97-AF65-F5344CB8AC3E}">
        <p14:creationId xmlns:p14="http://schemas.microsoft.com/office/powerpoint/2010/main" val="3381386107"/>
      </p:ext>
    </p:extLst>
  </p:cSld>
  <p:clrMapOvr>
    <a:masterClrMapping/>
  </p:clrMapOvr>
  <p:timing>
    <p:tnLst>
      <p:par>
        <p:cTn id="1" dur="indefinite" restart="never" nodeType="tmRoot"/>
      </p:par>
    </p:tnLst>
  </p:timing>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236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5"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6.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振幅调制</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与</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解调</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9" name="Rectangle 5">
            <a:extLst>
              <a:ext uri="{FF2B5EF4-FFF2-40B4-BE49-F238E27FC236}">
                <a16:creationId xmlns="" xmlns:a16="http://schemas.microsoft.com/office/drawing/2014/main" id="{6A1A002F-3F77-2A0C-490E-E80DD441A414}"/>
              </a:ext>
            </a:extLst>
          </p:cNvPr>
          <p:cNvSpPr>
            <a:spLocks noChangeArrowheads="1"/>
          </p:cNvSpPr>
          <p:nvPr/>
        </p:nvSpPr>
        <p:spPr bwMode="auto">
          <a:xfrm>
            <a:off x="179512" y="1370270"/>
            <a:ext cx="180690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tabLst>
                <a:tab pos="5249863" algn="r"/>
              </a:tabLst>
              <a:defRPr sz="1600" b="1">
                <a:solidFill>
                  <a:schemeClr val="tx1"/>
                </a:solidFill>
                <a:latin typeface="楷体_GB2312" panose="02010609030101010101" pitchFamily="49" charset="-122"/>
                <a:ea typeface="楷体_GB2312" panose="02010609030101010101" pitchFamily="49" charset="-122"/>
              </a:defRPr>
            </a:lvl1pPr>
            <a:lvl2pPr>
              <a:tabLst>
                <a:tab pos="5249863" algn="r"/>
              </a:tabLst>
              <a:defRPr sz="1600" b="1">
                <a:solidFill>
                  <a:schemeClr val="tx1"/>
                </a:solidFill>
                <a:latin typeface="楷体_GB2312" panose="02010609030101010101" pitchFamily="49" charset="-122"/>
                <a:ea typeface="楷体_GB2312" panose="02010609030101010101" pitchFamily="49" charset="-122"/>
              </a:defRPr>
            </a:lvl2pPr>
            <a:lvl3pPr>
              <a:tabLst>
                <a:tab pos="5249863" algn="r"/>
              </a:tabLst>
              <a:defRPr sz="1600" b="1">
                <a:solidFill>
                  <a:schemeClr val="tx1"/>
                </a:solidFill>
                <a:latin typeface="楷体_GB2312" panose="02010609030101010101" pitchFamily="49" charset="-122"/>
                <a:ea typeface="楷体_GB2312" panose="02010609030101010101" pitchFamily="49" charset="-122"/>
              </a:defRPr>
            </a:lvl3pPr>
            <a:lvl4pPr>
              <a:tabLst>
                <a:tab pos="5249863" algn="r"/>
              </a:tabLst>
              <a:defRPr sz="1600" b="1">
                <a:solidFill>
                  <a:schemeClr val="tx1"/>
                </a:solidFill>
                <a:latin typeface="楷体_GB2312" panose="02010609030101010101" pitchFamily="49" charset="-122"/>
                <a:ea typeface="楷体_GB2312" panose="02010609030101010101" pitchFamily="49" charset="-122"/>
              </a:defRPr>
            </a:lvl4pPr>
            <a:lvl5pPr>
              <a:tabLst>
                <a:tab pos="5249863" algn="r"/>
              </a:tabLst>
              <a:defRPr sz="1600" b="1">
                <a:solidFill>
                  <a:schemeClr val="tx1"/>
                </a:solidFill>
                <a:latin typeface="楷体_GB2312" panose="02010609030101010101" pitchFamily="49" charset="-122"/>
                <a:ea typeface="楷体_GB2312" panose="02010609030101010101" pitchFamily="49" charset="-122"/>
              </a:defRPr>
            </a:lvl5pPr>
            <a:lvl6pPr fontAlgn="base">
              <a:spcBef>
                <a:spcPct val="0"/>
              </a:spcBef>
              <a:spcAft>
                <a:spcPct val="0"/>
              </a:spcAft>
              <a:buFont typeface="Arial" panose="020B0604020202020204" pitchFamily="34" charset="0"/>
              <a:tabLst>
                <a:tab pos="5249863" algn="r"/>
              </a:tabLst>
              <a:defRPr sz="1600" b="1">
                <a:solidFill>
                  <a:schemeClr val="tx1"/>
                </a:solidFill>
                <a:latin typeface="楷体_GB2312" panose="02010609030101010101" pitchFamily="49" charset="-122"/>
                <a:ea typeface="楷体_GB2312" panose="02010609030101010101" pitchFamily="49" charset="-122"/>
              </a:defRPr>
            </a:lvl6pPr>
            <a:lvl7pPr fontAlgn="base">
              <a:spcBef>
                <a:spcPct val="0"/>
              </a:spcBef>
              <a:spcAft>
                <a:spcPct val="0"/>
              </a:spcAft>
              <a:buFont typeface="Arial" panose="020B0604020202020204" pitchFamily="34" charset="0"/>
              <a:tabLst>
                <a:tab pos="5249863" algn="r"/>
              </a:tabLst>
              <a:defRPr sz="1600" b="1">
                <a:solidFill>
                  <a:schemeClr val="tx1"/>
                </a:solidFill>
                <a:latin typeface="楷体_GB2312" panose="02010609030101010101" pitchFamily="49" charset="-122"/>
                <a:ea typeface="楷体_GB2312" panose="02010609030101010101" pitchFamily="49" charset="-122"/>
              </a:defRPr>
            </a:lvl7pPr>
            <a:lvl8pPr fontAlgn="base">
              <a:spcBef>
                <a:spcPct val="0"/>
              </a:spcBef>
              <a:spcAft>
                <a:spcPct val="0"/>
              </a:spcAft>
              <a:buFont typeface="Arial" panose="020B0604020202020204" pitchFamily="34" charset="0"/>
              <a:tabLst>
                <a:tab pos="5249863" algn="r"/>
              </a:tabLst>
              <a:defRPr sz="1600" b="1">
                <a:solidFill>
                  <a:schemeClr val="tx1"/>
                </a:solidFill>
                <a:latin typeface="楷体_GB2312" panose="02010609030101010101" pitchFamily="49" charset="-122"/>
                <a:ea typeface="楷体_GB2312" panose="02010609030101010101" pitchFamily="49" charset="-122"/>
              </a:defRPr>
            </a:lvl8pPr>
            <a:lvl9pPr fontAlgn="base">
              <a:spcBef>
                <a:spcPct val="0"/>
              </a:spcBef>
              <a:spcAft>
                <a:spcPct val="0"/>
              </a:spcAft>
              <a:buFont typeface="Arial" panose="020B0604020202020204" pitchFamily="34" charset="0"/>
              <a:tabLst>
                <a:tab pos="5249863" algn="r"/>
              </a:tabLst>
              <a:defRPr sz="1600" b="1">
                <a:solidFill>
                  <a:schemeClr val="tx1"/>
                </a:solidFill>
                <a:latin typeface="楷体_GB2312" panose="02010609030101010101" pitchFamily="49" charset="-122"/>
                <a:ea typeface="楷体_GB2312" panose="02010609030101010101" pitchFamily="49" charset="-122"/>
              </a:defRPr>
            </a:lvl9pPr>
          </a:lstStyle>
          <a:p>
            <a:r>
              <a:rPr lang="en-US" altLang="zh-CN" sz="2400" dirty="0">
                <a:solidFill>
                  <a:srgbClr val="0000CC"/>
                </a:solidFill>
                <a:latin typeface="Times New Roman" panose="02020603050405020304" pitchFamily="18" charset="0"/>
                <a:ea typeface="+mn-ea"/>
                <a:cs typeface="Times New Roman" panose="02020603050405020304" pitchFamily="18" charset="0"/>
              </a:rPr>
              <a:t>1.  </a:t>
            </a:r>
            <a:r>
              <a:rPr lang="zh-CN" altLang="en-US" sz="2400" dirty="0">
                <a:solidFill>
                  <a:srgbClr val="0000CC"/>
                </a:solidFill>
                <a:latin typeface="+mn-ea"/>
                <a:ea typeface="+mn-ea"/>
              </a:rPr>
              <a:t>工作原理</a:t>
            </a:r>
          </a:p>
          <a:p>
            <a:pPr eaLnBrk="0" hangingPunct="0"/>
            <a:r>
              <a:rPr lang="zh-CN" altLang="en-US" sz="2400" dirty="0">
                <a:latin typeface="Times New Roman" panose="02020603050405020304" pitchFamily="18" charset="0"/>
                <a:ea typeface="黑体" panose="02010609060101010101" pitchFamily="49" charset="-122"/>
              </a:rPr>
              <a:t>    </a:t>
            </a:r>
          </a:p>
        </p:txBody>
      </p:sp>
      <p:sp>
        <p:nvSpPr>
          <p:cNvPr id="10" name="文本框 9">
            <a:extLst>
              <a:ext uri="{FF2B5EF4-FFF2-40B4-BE49-F238E27FC236}">
                <a16:creationId xmlns="" xmlns:a16="http://schemas.microsoft.com/office/drawing/2014/main" id="{32E5D27C-A08D-150A-C9F1-1088BFAB54DA}"/>
              </a:ext>
            </a:extLst>
          </p:cNvPr>
          <p:cNvSpPr txBox="1"/>
          <p:nvPr/>
        </p:nvSpPr>
        <p:spPr>
          <a:xfrm>
            <a:off x="564357" y="1951385"/>
            <a:ext cx="7704856" cy="707886"/>
          </a:xfrm>
          <a:prstGeom prst="rect">
            <a:avLst/>
          </a:prstGeom>
          <a:noFill/>
        </p:spPr>
        <p:txBody>
          <a:bodyPr wrap="square" rtlCol="0">
            <a:spAutoFit/>
          </a:bodyPr>
          <a:lstStyle/>
          <a:p>
            <a:r>
              <a:rPr lang="zh-CN" altLang="en-US" sz="2000" dirty="0">
                <a:solidFill>
                  <a:schemeClr val="tx1"/>
                </a:solidFill>
                <a:latin typeface="+mn-ea"/>
                <a:ea typeface="+mn-ea"/>
              </a:rPr>
              <a:t>串联型二极管包络检波器的物理过程如图所示。</a:t>
            </a:r>
          </a:p>
          <a:p>
            <a:endParaRPr lang="zh-CN" altLang="en-US" sz="2000" dirty="0">
              <a:solidFill>
                <a:schemeClr val="tx1"/>
              </a:solidFill>
            </a:endParaRPr>
          </a:p>
        </p:txBody>
      </p:sp>
      <p:pic>
        <p:nvPicPr>
          <p:cNvPr id="11" name="图片 10">
            <a:extLst>
              <a:ext uri="{FF2B5EF4-FFF2-40B4-BE49-F238E27FC236}">
                <a16:creationId xmlns="" xmlns:a16="http://schemas.microsoft.com/office/drawing/2014/main" id="{4B1E0476-47D8-9B09-C5E5-D88FBC8F1999}"/>
              </a:ext>
            </a:extLst>
          </p:cNvPr>
          <p:cNvPicPr>
            <a:picLocks noChangeAspect="1"/>
          </p:cNvPicPr>
          <p:nvPr/>
        </p:nvPicPr>
        <p:blipFill rotWithShape="1">
          <a:blip r:embed="rId2"/>
          <a:srcRect r="24564"/>
          <a:stretch/>
        </p:blipFill>
        <p:spPr>
          <a:xfrm>
            <a:off x="967839" y="2435680"/>
            <a:ext cx="6897891" cy="2225876"/>
          </a:xfrm>
          <a:prstGeom prst="rect">
            <a:avLst/>
          </a:prstGeom>
        </p:spPr>
      </p:pic>
      <p:sp>
        <p:nvSpPr>
          <p:cNvPr id="12" name="Rectangle 6">
            <a:extLst>
              <a:ext uri="{FF2B5EF4-FFF2-40B4-BE49-F238E27FC236}">
                <a16:creationId xmlns="" xmlns:a16="http://schemas.microsoft.com/office/drawing/2014/main" id="{9D087428-DD38-B4FC-0355-5B33E8E3F058}"/>
              </a:ext>
            </a:extLst>
          </p:cNvPr>
          <p:cNvSpPr>
            <a:spLocks noChangeArrowheads="1"/>
          </p:cNvSpPr>
          <p:nvPr/>
        </p:nvSpPr>
        <p:spPr bwMode="auto">
          <a:xfrm>
            <a:off x="351955" y="4869329"/>
            <a:ext cx="87137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tabLst>
                <a:tab pos="5249863" algn="r"/>
              </a:tabLst>
              <a:defRPr sz="1600" b="1">
                <a:solidFill>
                  <a:schemeClr val="tx1"/>
                </a:solidFill>
                <a:latin typeface="楷体_GB2312" panose="02010609030101010101" pitchFamily="49" charset="-122"/>
                <a:ea typeface="楷体_GB2312" panose="02010609030101010101" pitchFamily="49" charset="-122"/>
              </a:defRPr>
            </a:lvl1pPr>
            <a:lvl2pPr>
              <a:tabLst>
                <a:tab pos="5249863" algn="r"/>
              </a:tabLst>
              <a:defRPr sz="1600" b="1">
                <a:solidFill>
                  <a:schemeClr val="tx1"/>
                </a:solidFill>
                <a:latin typeface="楷体_GB2312" panose="02010609030101010101" pitchFamily="49" charset="-122"/>
                <a:ea typeface="楷体_GB2312" panose="02010609030101010101" pitchFamily="49" charset="-122"/>
              </a:defRPr>
            </a:lvl2pPr>
            <a:lvl3pPr>
              <a:tabLst>
                <a:tab pos="5249863" algn="r"/>
              </a:tabLst>
              <a:defRPr sz="1600" b="1">
                <a:solidFill>
                  <a:schemeClr val="tx1"/>
                </a:solidFill>
                <a:latin typeface="楷体_GB2312" panose="02010609030101010101" pitchFamily="49" charset="-122"/>
                <a:ea typeface="楷体_GB2312" panose="02010609030101010101" pitchFamily="49" charset="-122"/>
              </a:defRPr>
            </a:lvl3pPr>
            <a:lvl4pPr>
              <a:tabLst>
                <a:tab pos="5249863" algn="r"/>
              </a:tabLst>
              <a:defRPr sz="1600" b="1">
                <a:solidFill>
                  <a:schemeClr val="tx1"/>
                </a:solidFill>
                <a:latin typeface="楷体_GB2312" panose="02010609030101010101" pitchFamily="49" charset="-122"/>
                <a:ea typeface="楷体_GB2312" panose="02010609030101010101" pitchFamily="49" charset="-122"/>
              </a:defRPr>
            </a:lvl4pPr>
            <a:lvl5pPr>
              <a:tabLst>
                <a:tab pos="5249863" algn="r"/>
              </a:tabLst>
              <a:defRPr sz="1600" b="1">
                <a:solidFill>
                  <a:schemeClr val="tx1"/>
                </a:solidFill>
                <a:latin typeface="楷体_GB2312" panose="02010609030101010101" pitchFamily="49" charset="-122"/>
                <a:ea typeface="楷体_GB2312" panose="02010609030101010101" pitchFamily="49" charset="-122"/>
              </a:defRPr>
            </a:lvl5pPr>
            <a:lvl6pPr fontAlgn="base">
              <a:spcBef>
                <a:spcPct val="0"/>
              </a:spcBef>
              <a:spcAft>
                <a:spcPct val="0"/>
              </a:spcAft>
              <a:buFont typeface="Arial" panose="020B0604020202020204" pitchFamily="34" charset="0"/>
              <a:tabLst>
                <a:tab pos="5249863" algn="r"/>
              </a:tabLst>
              <a:defRPr sz="1600" b="1">
                <a:solidFill>
                  <a:schemeClr val="tx1"/>
                </a:solidFill>
                <a:latin typeface="楷体_GB2312" panose="02010609030101010101" pitchFamily="49" charset="-122"/>
                <a:ea typeface="楷体_GB2312" panose="02010609030101010101" pitchFamily="49" charset="-122"/>
              </a:defRPr>
            </a:lvl6pPr>
            <a:lvl7pPr fontAlgn="base">
              <a:spcBef>
                <a:spcPct val="0"/>
              </a:spcBef>
              <a:spcAft>
                <a:spcPct val="0"/>
              </a:spcAft>
              <a:buFont typeface="Arial" panose="020B0604020202020204" pitchFamily="34" charset="0"/>
              <a:tabLst>
                <a:tab pos="5249863" algn="r"/>
              </a:tabLst>
              <a:defRPr sz="1600" b="1">
                <a:solidFill>
                  <a:schemeClr val="tx1"/>
                </a:solidFill>
                <a:latin typeface="楷体_GB2312" panose="02010609030101010101" pitchFamily="49" charset="-122"/>
                <a:ea typeface="楷体_GB2312" panose="02010609030101010101" pitchFamily="49" charset="-122"/>
              </a:defRPr>
            </a:lvl7pPr>
            <a:lvl8pPr fontAlgn="base">
              <a:spcBef>
                <a:spcPct val="0"/>
              </a:spcBef>
              <a:spcAft>
                <a:spcPct val="0"/>
              </a:spcAft>
              <a:buFont typeface="Arial" panose="020B0604020202020204" pitchFamily="34" charset="0"/>
              <a:tabLst>
                <a:tab pos="5249863" algn="r"/>
              </a:tabLst>
              <a:defRPr sz="1600" b="1">
                <a:solidFill>
                  <a:schemeClr val="tx1"/>
                </a:solidFill>
                <a:latin typeface="楷体_GB2312" panose="02010609030101010101" pitchFamily="49" charset="-122"/>
                <a:ea typeface="楷体_GB2312" panose="02010609030101010101" pitchFamily="49" charset="-122"/>
              </a:defRPr>
            </a:lvl8pPr>
            <a:lvl9pPr fontAlgn="base">
              <a:spcBef>
                <a:spcPct val="0"/>
              </a:spcBef>
              <a:spcAft>
                <a:spcPct val="0"/>
              </a:spcAft>
              <a:buFont typeface="Arial" panose="020B0604020202020204" pitchFamily="34" charset="0"/>
              <a:tabLst>
                <a:tab pos="5249863" algn="r"/>
              </a:tabLst>
              <a:defRPr sz="1600" b="1">
                <a:solidFill>
                  <a:schemeClr val="tx1"/>
                </a:solidFill>
                <a:latin typeface="楷体_GB2312" panose="02010609030101010101" pitchFamily="49" charset="-122"/>
                <a:ea typeface="楷体_GB2312" panose="02010609030101010101" pitchFamily="49" charset="-122"/>
              </a:defRPr>
            </a:lvl9pPr>
          </a:lstStyle>
          <a:p>
            <a:r>
              <a:rPr lang="zh-CN" altLang="en-US" sz="2000" dirty="0">
                <a:latin typeface="+mn-ea"/>
                <a:ea typeface="+mn-ea"/>
              </a:rPr>
              <a:t>   大信号的检波的原理:</a:t>
            </a:r>
            <a:r>
              <a:rPr lang="zh-CN" altLang="en-US" sz="2000" dirty="0">
                <a:solidFill>
                  <a:srgbClr val="FF0000"/>
                </a:solidFill>
                <a:latin typeface="+mn-ea"/>
                <a:ea typeface="+mn-ea"/>
              </a:rPr>
              <a:t>主要是利用二极管的单向导电特性和检波负载</a:t>
            </a:r>
            <a:r>
              <a:rPr lang="en-US" altLang="zh-CN" sz="2000" dirty="0">
                <a:solidFill>
                  <a:srgbClr val="FF0000"/>
                </a:solidFill>
                <a:latin typeface="+mn-ea"/>
                <a:ea typeface="+mn-ea"/>
              </a:rPr>
              <a:t>RC</a:t>
            </a:r>
            <a:r>
              <a:rPr lang="zh-CN" altLang="en-US" sz="2000" dirty="0">
                <a:solidFill>
                  <a:srgbClr val="FF0000"/>
                </a:solidFill>
                <a:latin typeface="+mn-ea"/>
                <a:ea typeface="+mn-ea"/>
              </a:rPr>
              <a:t>的充放电过程来完成调制信号的提取。</a:t>
            </a:r>
          </a:p>
        </p:txBody>
      </p:sp>
    </p:spTree>
    <p:extLst>
      <p:ext uri="{BB962C8B-B14F-4D97-AF65-F5344CB8AC3E}">
        <p14:creationId xmlns:p14="http://schemas.microsoft.com/office/powerpoint/2010/main" val="1102276528"/>
      </p:ext>
    </p:extLst>
  </p:cSld>
  <p:clrMapOvr>
    <a:masterClrMapping/>
  </p:clrMapOvr>
  <p:timing>
    <p:tnLst>
      <p:par>
        <p:cTn id="1" dur="indefinite" restart="never" nodeType="tmRoot"/>
      </p:par>
    </p:tnLst>
  </p:timing>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237</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5"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6.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振幅调制</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与</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解调</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 name="Text Box 3">
            <a:extLst>
              <a:ext uri="{FF2B5EF4-FFF2-40B4-BE49-F238E27FC236}">
                <a16:creationId xmlns="" xmlns:a16="http://schemas.microsoft.com/office/drawing/2014/main" id="{9F69848A-DA6B-BFBA-F7B0-1A208ADFD669}"/>
              </a:ext>
            </a:extLst>
          </p:cNvPr>
          <p:cNvSpPr txBox="1">
            <a:spLocks noChangeArrowheads="1"/>
          </p:cNvSpPr>
          <p:nvPr/>
        </p:nvSpPr>
        <p:spPr bwMode="auto">
          <a:xfrm>
            <a:off x="539552" y="1340768"/>
            <a:ext cx="366318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dirty="0">
                <a:solidFill>
                  <a:srgbClr val="0000CC"/>
                </a:solidFill>
                <a:latin typeface="Times New Roman" panose="02020603050405020304" pitchFamily="18" charset="0"/>
                <a:ea typeface="+mn-ea"/>
                <a:cs typeface="Times New Roman" panose="02020603050405020304" pitchFamily="18" charset="0"/>
              </a:rPr>
              <a:t>2.  </a:t>
            </a:r>
            <a:r>
              <a:rPr lang="zh-CN" altLang="en-US" sz="2400" dirty="0">
                <a:solidFill>
                  <a:srgbClr val="0000CC"/>
                </a:solidFill>
                <a:latin typeface="+mn-ea"/>
                <a:ea typeface="+mn-ea"/>
              </a:rPr>
              <a:t>包络检波器的质量指标</a:t>
            </a:r>
          </a:p>
        </p:txBody>
      </p:sp>
      <p:sp>
        <p:nvSpPr>
          <p:cNvPr id="7" name="Text Box 4">
            <a:extLst>
              <a:ext uri="{FF2B5EF4-FFF2-40B4-BE49-F238E27FC236}">
                <a16:creationId xmlns="" xmlns:a16="http://schemas.microsoft.com/office/drawing/2014/main" id="{1F176E93-48C0-D455-E560-F77C8DCACE96}"/>
              </a:ext>
            </a:extLst>
          </p:cNvPr>
          <p:cNvSpPr txBox="1">
            <a:spLocks noChangeArrowheads="1"/>
          </p:cNvSpPr>
          <p:nvPr/>
        </p:nvSpPr>
        <p:spPr bwMode="auto">
          <a:xfrm>
            <a:off x="599664" y="1815043"/>
            <a:ext cx="328487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dirty="0">
                <a:solidFill>
                  <a:srgbClr val="FF0000"/>
                </a:solidFill>
                <a:latin typeface="+mn-ea"/>
                <a:ea typeface="+mn-ea"/>
              </a:rPr>
              <a:t>1)</a:t>
            </a:r>
            <a:r>
              <a:rPr lang="zh-CN" altLang="en-US" sz="2000" dirty="0">
                <a:solidFill>
                  <a:srgbClr val="FF0000"/>
                </a:solidFill>
                <a:latin typeface="+mn-ea"/>
                <a:ea typeface="+mn-ea"/>
              </a:rPr>
              <a:t>电压传输系数</a:t>
            </a:r>
            <a:r>
              <a:rPr lang="en-US" altLang="zh-CN" sz="2000" dirty="0">
                <a:solidFill>
                  <a:srgbClr val="FF0000"/>
                </a:solidFill>
                <a:latin typeface="+mn-ea"/>
                <a:ea typeface="+mn-ea"/>
              </a:rPr>
              <a:t>(</a:t>
            </a:r>
            <a:r>
              <a:rPr lang="zh-CN" altLang="en-US" sz="2000" dirty="0">
                <a:solidFill>
                  <a:srgbClr val="FF0000"/>
                </a:solidFill>
                <a:latin typeface="+mn-ea"/>
                <a:ea typeface="+mn-ea"/>
              </a:rPr>
              <a:t>检波效率</a:t>
            </a:r>
            <a:r>
              <a:rPr lang="en-US" altLang="zh-CN" sz="2000" dirty="0">
                <a:solidFill>
                  <a:srgbClr val="FF0000"/>
                </a:solidFill>
                <a:latin typeface="+mn-ea"/>
                <a:ea typeface="+mn-ea"/>
              </a:rPr>
              <a:t>)</a:t>
            </a:r>
          </a:p>
        </p:txBody>
      </p:sp>
      <p:graphicFrame>
        <p:nvGraphicFramePr>
          <p:cNvPr id="8" name="Object 5">
            <a:extLst>
              <a:ext uri="{FF2B5EF4-FFF2-40B4-BE49-F238E27FC236}">
                <a16:creationId xmlns="" xmlns:a16="http://schemas.microsoft.com/office/drawing/2014/main" id="{FE6F25E1-1DEE-7EF3-628F-4F4F496C335D}"/>
              </a:ext>
            </a:extLst>
          </p:cNvPr>
          <p:cNvGraphicFramePr>
            <a:graphicFrameLocks/>
          </p:cNvGraphicFramePr>
          <p:nvPr>
            <p:extLst>
              <p:ext uri="{D42A27DB-BD31-4B8C-83A1-F6EECF244321}">
                <p14:modId xmlns:p14="http://schemas.microsoft.com/office/powerpoint/2010/main" val="1084221183"/>
              </p:ext>
            </p:extLst>
          </p:nvPr>
        </p:nvGraphicFramePr>
        <p:xfrm>
          <a:off x="1210468" y="2331040"/>
          <a:ext cx="4010025" cy="814388"/>
        </p:xfrm>
        <a:graphic>
          <a:graphicData uri="http://schemas.openxmlformats.org/presentationml/2006/ole">
            <mc:AlternateContent xmlns:mc="http://schemas.openxmlformats.org/markup-compatibility/2006">
              <mc:Choice xmlns:v="urn:schemas-microsoft-com:vml" Requires="v">
                <p:oleObj spid="_x0000_s187434" r:id="rId3" imgW="2183452" imgH="444307" progId="Equation.3">
                  <p:embed/>
                </p:oleObj>
              </mc:Choice>
              <mc:Fallback>
                <p:oleObj r:id="rId3" imgW="2183452" imgH="444307" progId="Equation.3">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0468" y="2331040"/>
                        <a:ext cx="4010025" cy="814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 name="Text Box 6">
            <a:extLst>
              <a:ext uri="{FF2B5EF4-FFF2-40B4-BE49-F238E27FC236}">
                <a16:creationId xmlns="" xmlns:a16="http://schemas.microsoft.com/office/drawing/2014/main" id="{2A3A0360-B2FD-EBE3-3E32-8ACBDF7E78F4}"/>
              </a:ext>
            </a:extLst>
          </p:cNvPr>
          <p:cNvSpPr txBox="1">
            <a:spLocks noChangeArrowheads="1"/>
          </p:cNvSpPr>
          <p:nvPr/>
        </p:nvSpPr>
        <p:spPr bwMode="auto">
          <a:xfrm>
            <a:off x="1035853" y="3381717"/>
            <a:ext cx="95410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chemeClr val="tx1"/>
                </a:solidFill>
                <a:latin typeface="+mn-ea"/>
                <a:ea typeface="+mn-ea"/>
              </a:rPr>
              <a:t>另外：</a:t>
            </a:r>
          </a:p>
        </p:txBody>
      </p:sp>
      <p:graphicFrame>
        <p:nvGraphicFramePr>
          <p:cNvPr id="10" name="Object 7">
            <a:extLst>
              <a:ext uri="{FF2B5EF4-FFF2-40B4-BE49-F238E27FC236}">
                <a16:creationId xmlns="" xmlns:a16="http://schemas.microsoft.com/office/drawing/2014/main" id="{870D0690-7B02-6026-992F-EBAB72D7C26E}"/>
              </a:ext>
            </a:extLst>
          </p:cNvPr>
          <p:cNvGraphicFramePr>
            <a:graphicFrameLocks/>
          </p:cNvGraphicFramePr>
          <p:nvPr>
            <p:extLst>
              <p:ext uri="{D42A27DB-BD31-4B8C-83A1-F6EECF244321}">
                <p14:modId xmlns:p14="http://schemas.microsoft.com/office/powerpoint/2010/main" val="787233592"/>
              </p:ext>
            </p:extLst>
          </p:nvPr>
        </p:nvGraphicFramePr>
        <p:xfrm>
          <a:off x="1944707" y="3380317"/>
          <a:ext cx="1439863" cy="479425"/>
        </p:xfrm>
        <a:graphic>
          <a:graphicData uri="http://schemas.openxmlformats.org/presentationml/2006/ole">
            <mc:AlternateContent xmlns:mc="http://schemas.openxmlformats.org/markup-compatibility/2006">
              <mc:Choice xmlns:v="urn:schemas-microsoft-com:vml" Requires="v">
                <p:oleObj spid="_x0000_s187435" r:id="rId5" imgW="685800" imgH="228600" progId="Equation.3">
                  <p:embed/>
                </p:oleObj>
              </mc:Choice>
              <mc:Fallback>
                <p:oleObj r:id="rId5" imgW="685800" imgH="228600" progId="Equation.3">
                  <p:embed/>
                  <p:pic>
                    <p:nvPicPr>
                      <p:cNvPr id="0" name=""/>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44707" y="3380317"/>
                        <a:ext cx="1439863"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1" name="Text Box 8">
            <a:extLst>
              <a:ext uri="{FF2B5EF4-FFF2-40B4-BE49-F238E27FC236}">
                <a16:creationId xmlns="" xmlns:a16="http://schemas.microsoft.com/office/drawing/2014/main" id="{CF6409B7-7F1E-051C-1F48-83F14CC16D0C}"/>
              </a:ext>
            </a:extLst>
          </p:cNvPr>
          <p:cNvSpPr txBox="1">
            <a:spLocks noChangeArrowheads="1"/>
          </p:cNvSpPr>
          <p:nvPr/>
        </p:nvSpPr>
        <p:spPr bwMode="auto">
          <a:xfrm>
            <a:off x="3816370" y="3380317"/>
            <a:ext cx="186942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a:solidFill>
                  <a:schemeClr val="tx1"/>
                </a:solidFill>
                <a:latin typeface="+mn-ea"/>
                <a:ea typeface="+mn-ea"/>
                <a:sym typeface="Symbol" panose="05050102010706020507" pitchFamily="18" charset="2"/>
              </a:rPr>
              <a:t> </a:t>
            </a:r>
            <a:r>
              <a:rPr lang="en-US" altLang="zh-CN" sz="2000">
                <a:solidFill>
                  <a:schemeClr val="tx1"/>
                </a:solidFill>
                <a:latin typeface="+mn-ea"/>
                <a:ea typeface="+mn-ea"/>
              </a:rPr>
              <a:t>---</a:t>
            </a:r>
            <a:r>
              <a:rPr lang="zh-CN" altLang="en-US" sz="2000">
                <a:solidFill>
                  <a:schemeClr val="tx1"/>
                </a:solidFill>
                <a:latin typeface="+mn-ea"/>
                <a:ea typeface="+mn-ea"/>
              </a:rPr>
              <a:t>电流通角</a:t>
            </a:r>
          </a:p>
        </p:txBody>
      </p:sp>
      <p:graphicFrame>
        <p:nvGraphicFramePr>
          <p:cNvPr id="12" name="Object 9">
            <a:extLst>
              <a:ext uri="{FF2B5EF4-FFF2-40B4-BE49-F238E27FC236}">
                <a16:creationId xmlns="" xmlns:a16="http://schemas.microsoft.com/office/drawing/2014/main" id="{D69DB0F9-CC63-37DD-62AF-21E8BA5FECF5}"/>
              </a:ext>
            </a:extLst>
          </p:cNvPr>
          <p:cNvGraphicFramePr>
            <a:graphicFrameLocks/>
          </p:cNvGraphicFramePr>
          <p:nvPr>
            <p:extLst>
              <p:ext uri="{D42A27DB-BD31-4B8C-83A1-F6EECF244321}">
                <p14:modId xmlns:p14="http://schemas.microsoft.com/office/powerpoint/2010/main" val="387531915"/>
              </p:ext>
            </p:extLst>
          </p:nvPr>
        </p:nvGraphicFramePr>
        <p:xfrm>
          <a:off x="1871682" y="3956580"/>
          <a:ext cx="1511300" cy="892175"/>
        </p:xfrm>
        <a:graphic>
          <a:graphicData uri="http://schemas.openxmlformats.org/presentationml/2006/ole">
            <mc:AlternateContent xmlns:mc="http://schemas.openxmlformats.org/markup-compatibility/2006">
              <mc:Choice xmlns:v="urn:schemas-microsoft-com:vml" Requires="v">
                <p:oleObj spid="_x0000_s187436" r:id="rId7" imgW="748975" imgH="444307" progId="Equation.3">
                  <p:embed/>
                </p:oleObj>
              </mc:Choice>
              <mc:Fallback>
                <p:oleObj r:id="rId7" imgW="748975" imgH="444307" progId="Equation.3">
                  <p:embed/>
                  <p:pic>
                    <p:nvPicPr>
                      <p:cNvPr id="0" name=""/>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71682" y="3956580"/>
                        <a:ext cx="1511300" cy="89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3" name="Text Box 10">
            <a:extLst>
              <a:ext uri="{FF2B5EF4-FFF2-40B4-BE49-F238E27FC236}">
                <a16:creationId xmlns="" xmlns:a16="http://schemas.microsoft.com/office/drawing/2014/main" id="{2F7C9CD3-9AD1-78CA-3FA6-0F933B4A74BF}"/>
              </a:ext>
            </a:extLst>
          </p:cNvPr>
          <p:cNvSpPr txBox="1">
            <a:spLocks noChangeArrowheads="1"/>
          </p:cNvSpPr>
          <p:nvPr/>
        </p:nvSpPr>
        <p:spPr bwMode="auto">
          <a:xfrm>
            <a:off x="3816370" y="3905780"/>
            <a:ext cx="264046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a:solidFill>
                  <a:schemeClr val="tx1"/>
                </a:solidFill>
                <a:latin typeface="+mn-ea"/>
                <a:ea typeface="+mn-ea"/>
              </a:rPr>
              <a:t>R ---</a:t>
            </a:r>
            <a:r>
              <a:rPr lang="zh-CN" altLang="en-US" sz="2000">
                <a:solidFill>
                  <a:schemeClr val="tx1"/>
                </a:solidFill>
                <a:latin typeface="+mn-ea"/>
                <a:ea typeface="+mn-ea"/>
              </a:rPr>
              <a:t>检波器负载电阻</a:t>
            </a:r>
          </a:p>
        </p:txBody>
      </p:sp>
      <p:sp>
        <p:nvSpPr>
          <p:cNvPr id="14" name="Text Box 11">
            <a:extLst>
              <a:ext uri="{FF2B5EF4-FFF2-40B4-BE49-F238E27FC236}">
                <a16:creationId xmlns="" xmlns:a16="http://schemas.microsoft.com/office/drawing/2014/main" id="{1BAA6AC0-3DB3-3115-3244-D9E44C9872A6}"/>
              </a:ext>
            </a:extLst>
          </p:cNvPr>
          <p:cNvSpPr txBox="1">
            <a:spLocks noChangeArrowheads="1"/>
          </p:cNvSpPr>
          <p:nvPr/>
        </p:nvSpPr>
        <p:spPr bwMode="auto">
          <a:xfrm>
            <a:off x="3816370" y="4409017"/>
            <a:ext cx="294183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a:solidFill>
                  <a:schemeClr val="tx1"/>
                </a:solidFill>
                <a:latin typeface="+mn-ea"/>
                <a:ea typeface="+mn-ea"/>
              </a:rPr>
              <a:t>R</a:t>
            </a:r>
            <a:r>
              <a:rPr lang="en-US" altLang="zh-CN" sz="2000" baseline="-25000">
                <a:solidFill>
                  <a:schemeClr val="tx1"/>
                </a:solidFill>
                <a:latin typeface="+mn-ea"/>
                <a:ea typeface="+mn-ea"/>
              </a:rPr>
              <a:t>d </a:t>
            </a:r>
            <a:r>
              <a:rPr lang="en-US" altLang="zh-CN" sz="2000">
                <a:solidFill>
                  <a:schemeClr val="tx1"/>
                </a:solidFill>
                <a:latin typeface="+mn-ea"/>
                <a:ea typeface="+mn-ea"/>
              </a:rPr>
              <a:t>---</a:t>
            </a:r>
            <a:r>
              <a:rPr lang="zh-CN" altLang="en-US" sz="2000">
                <a:solidFill>
                  <a:schemeClr val="tx1"/>
                </a:solidFill>
                <a:latin typeface="+mn-ea"/>
                <a:ea typeface="+mn-ea"/>
              </a:rPr>
              <a:t>检波器二极管内阻</a:t>
            </a:r>
          </a:p>
        </p:txBody>
      </p:sp>
      <p:sp>
        <p:nvSpPr>
          <p:cNvPr id="15" name="Text Box 16">
            <a:extLst>
              <a:ext uri="{FF2B5EF4-FFF2-40B4-BE49-F238E27FC236}">
                <a16:creationId xmlns="" xmlns:a16="http://schemas.microsoft.com/office/drawing/2014/main" id="{90CE2C71-ABFB-049F-516A-5BA7F9B75DFC}"/>
              </a:ext>
            </a:extLst>
          </p:cNvPr>
          <p:cNvSpPr txBox="1">
            <a:spLocks noChangeArrowheads="1"/>
          </p:cNvSpPr>
          <p:nvPr/>
        </p:nvSpPr>
        <p:spPr bwMode="auto">
          <a:xfrm>
            <a:off x="651942" y="5036202"/>
            <a:ext cx="7627937" cy="9610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zh-CN" altLang="en-US" sz="2000" dirty="0">
                <a:solidFill>
                  <a:schemeClr val="tx1"/>
                </a:solidFill>
                <a:latin typeface="+mn-ea"/>
                <a:ea typeface="+mn-ea"/>
              </a:rPr>
              <a:t>　　当</a:t>
            </a:r>
            <a:r>
              <a:rPr lang="en-US" altLang="zh-CN" sz="2000" dirty="0">
                <a:solidFill>
                  <a:schemeClr val="tx1"/>
                </a:solidFill>
                <a:latin typeface="+mn-ea"/>
                <a:ea typeface="+mn-ea"/>
              </a:rPr>
              <a:t>R&gt;&gt;R</a:t>
            </a:r>
            <a:r>
              <a:rPr lang="en-US" altLang="zh-CN" sz="2000" baseline="-25000" dirty="0">
                <a:solidFill>
                  <a:schemeClr val="tx1"/>
                </a:solidFill>
                <a:latin typeface="+mn-ea"/>
                <a:ea typeface="+mn-ea"/>
              </a:rPr>
              <a:t>d</a:t>
            </a:r>
            <a:r>
              <a:rPr lang="zh-CN" altLang="en-US" sz="2000" dirty="0">
                <a:solidFill>
                  <a:schemeClr val="tx1"/>
                </a:solidFill>
                <a:latin typeface="+mn-ea"/>
                <a:ea typeface="+mn-ea"/>
              </a:rPr>
              <a:t>时，</a:t>
            </a:r>
            <a:r>
              <a:rPr lang="zh-CN" altLang="en-US" sz="2000" dirty="0">
                <a:solidFill>
                  <a:schemeClr val="tx1"/>
                </a:solidFill>
                <a:latin typeface="+mn-ea"/>
                <a:ea typeface="+mn-ea"/>
                <a:sym typeface="Symbol" panose="05050102010706020507" pitchFamily="18" charset="2"/>
              </a:rPr>
              <a:t></a:t>
            </a:r>
            <a:r>
              <a:rPr lang="en-US" altLang="zh-CN" sz="2000" dirty="0">
                <a:solidFill>
                  <a:schemeClr val="tx1"/>
                </a:solidFill>
                <a:latin typeface="+mn-ea"/>
                <a:ea typeface="+mn-ea"/>
              </a:rPr>
              <a:t>0</a:t>
            </a:r>
            <a:r>
              <a:rPr lang="zh-CN" altLang="en-US" sz="2000" dirty="0">
                <a:solidFill>
                  <a:schemeClr val="tx1"/>
                </a:solidFill>
                <a:latin typeface="+mn-ea"/>
                <a:ea typeface="+mn-ea"/>
              </a:rPr>
              <a:t>，</a:t>
            </a:r>
            <a:r>
              <a:rPr lang="en-US" altLang="zh-CN" sz="2000" dirty="0">
                <a:solidFill>
                  <a:schemeClr val="tx1"/>
                </a:solidFill>
                <a:latin typeface="+mn-ea"/>
                <a:ea typeface="+mn-ea"/>
              </a:rPr>
              <a:t>cos</a:t>
            </a:r>
            <a:r>
              <a:rPr lang="en-US" altLang="zh-CN" sz="2000" dirty="0">
                <a:solidFill>
                  <a:schemeClr val="tx1"/>
                </a:solidFill>
                <a:latin typeface="+mn-ea"/>
                <a:ea typeface="+mn-ea"/>
                <a:sym typeface="Symbol" panose="05050102010706020507" pitchFamily="18" charset="2"/>
              </a:rPr>
              <a:t></a:t>
            </a:r>
            <a:r>
              <a:rPr lang="en-US" altLang="zh-CN" sz="2000" dirty="0">
                <a:solidFill>
                  <a:schemeClr val="tx1"/>
                </a:solidFill>
                <a:latin typeface="+mn-ea"/>
                <a:ea typeface="+mn-ea"/>
              </a:rPr>
              <a:t>1</a:t>
            </a:r>
            <a:r>
              <a:rPr lang="zh-CN" altLang="en-US" sz="2000" dirty="0">
                <a:solidFill>
                  <a:schemeClr val="tx1"/>
                </a:solidFill>
                <a:latin typeface="+mn-ea"/>
                <a:ea typeface="+mn-ea"/>
              </a:rPr>
              <a:t>。即检波效率</a:t>
            </a:r>
            <a:r>
              <a:rPr lang="en-US" altLang="zh-CN" sz="2000" dirty="0" err="1">
                <a:solidFill>
                  <a:schemeClr val="tx1"/>
                </a:solidFill>
                <a:latin typeface="+mn-ea"/>
                <a:ea typeface="+mn-ea"/>
              </a:rPr>
              <a:t>K</a:t>
            </a:r>
            <a:r>
              <a:rPr lang="en-US" altLang="zh-CN" sz="2000" baseline="-25000" dirty="0" err="1">
                <a:solidFill>
                  <a:schemeClr val="tx1"/>
                </a:solidFill>
                <a:latin typeface="+mn-ea"/>
                <a:ea typeface="+mn-ea"/>
              </a:rPr>
              <a:t>d</a:t>
            </a:r>
            <a:r>
              <a:rPr lang="zh-CN" altLang="en-US" sz="2000" dirty="0">
                <a:solidFill>
                  <a:schemeClr val="tx1"/>
                </a:solidFill>
                <a:latin typeface="+mn-ea"/>
                <a:ea typeface="+mn-ea"/>
              </a:rPr>
              <a:t>接近于</a:t>
            </a:r>
            <a:r>
              <a:rPr lang="en-US" altLang="zh-CN" sz="2000" dirty="0">
                <a:solidFill>
                  <a:schemeClr val="tx1"/>
                </a:solidFill>
                <a:latin typeface="+mn-ea"/>
                <a:ea typeface="+mn-ea"/>
              </a:rPr>
              <a:t>1</a:t>
            </a:r>
            <a:r>
              <a:rPr lang="zh-CN" altLang="en-US" sz="2000" dirty="0">
                <a:solidFill>
                  <a:schemeClr val="tx1"/>
                </a:solidFill>
                <a:latin typeface="+mn-ea"/>
                <a:ea typeface="+mn-ea"/>
              </a:rPr>
              <a:t>，这是包络检波的主要优点。</a:t>
            </a:r>
          </a:p>
        </p:txBody>
      </p:sp>
      <p:graphicFrame>
        <p:nvGraphicFramePr>
          <p:cNvPr id="16" name="Object 18">
            <a:extLst>
              <a:ext uri="{FF2B5EF4-FFF2-40B4-BE49-F238E27FC236}">
                <a16:creationId xmlns="" xmlns:a16="http://schemas.microsoft.com/office/drawing/2014/main" id="{7601167A-D22B-BB88-A645-0E15F3117D21}"/>
              </a:ext>
            </a:extLst>
          </p:cNvPr>
          <p:cNvGraphicFramePr>
            <a:graphicFrameLocks/>
          </p:cNvGraphicFramePr>
          <p:nvPr>
            <p:extLst>
              <p:ext uri="{D42A27DB-BD31-4B8C-83A1-F6EECF244321}">
                <p14:modId xmlns:p14="http://schemas.microsoft.com/office/powerpoint/2010/main" val="1223702327"/>
              </p:ext>
            </p:extLst>
          </p:nvPr>
        </p:nvGraphicFramePr>
        <p:xfrm>
          <a:off x="6011068" y="2559640"/>
          <a:ext cx="1752600" cy="393700"/>
        </p:xfrm>
        <a:graphic>
          <a:graphicData uri="http://schemas.openxmlformats.org/presentationml/2006/ole">
            <mc:AlternateContent xmlns:mc="http://schemas.openxmlformats.org/markup-compatibility/2006">
              <mc:Choice xmlns:v="urn:schemas-microsoft-com:vml" Requires="v">
                <p:oleObj spid="_x0000_s187437" r:id="rId9" imgW="850531" imgH="190417" progId="Equation.3">
                  <p:embed/>
                </p:oleObj>
              </mc:Choice>
              <mc:Fallback>
                <p:oleObj r:id="rId9" imgW="850531" imgH="190417" progId="Equation.3">
                  <p:embed/>
                  <p:pic>
                    <p:nvPicPr>
                      <p:cNvPr id="0" name=""/>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011068" y="2559640"/>
                        <a:ext cx="175260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7" name="Line 19">
            <a:extLst>
              <a:ext uri="{FF2B5EF4-FFF2-40B4-BE49-F238E27FC236}">
                <a16:creationId xmlns="" xmlns:a16="http://schemas.microsoft.com/office/drawing/2014/main" id="{F65AEE97-AB6A-AECB-1FE7-9FC50ED2CA06}"/>
              </a:ext>
            </a:extLst>
          </p:cNvPr>
          <p:cNvSpPr>
            <a:spLocks noChangeShapeType="1"/>
          </p:cNvSpPr>
          <p:nvPr/>
        </p:nvSpPr>
        <p:spPr bwMode="auto">
          <a:xfrm flipH="1" flipV="1">
            <a:off x="5791200" y="2438400"/>
            <a:ext cx="609600" cy="15240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000">
              <a:solidFill>
                <a:schemeClr val="tx1"/>
              </a:solidFill>
              <a:latin typeface="+mn-ea"/>
              <a:ea typeface="+mn-ea"/>
            </a:endParaRPr>
          </a:p>
        </p:txBody>
      </p:sp>
      <p:sp>
        <p:nvSpPr>
          <p:cNvPr id="18" name="Line 20">
            <a:extLst>
              <a:ext uri="{FF2B5EF4-FFF2-40B4-BE49-F238E27FC236}">
                <a16:creationId xmlns="" xmlns:a16="http://schemas.microsoft.com/office/drawing/2014/main" id="{1785293C-A646-9464-B310-53BCCF56040D}"/>
              </a:ext>
            </a:extLst>
          </p:cNvPr>
          <p:cNvSpPr>
            <a:spLocks noChangeShapeType="1"/>
          </p:cNvSpPr>
          <p:nvPr/>
        </p:nvSpPr>
        <p:spPr bwMode="auto">
          <a:xfrm flipH="1" flipV="1">
            <a:off x="5325268" y="2483440"/>
            <a:ext cx="609600" cy="3048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000">
              <a:solidFill>
                <a:schemeClr val="tx1"/>
              </a:solidFill>
              <a:latin typeface="+mn-ea"/>
              <a:ea typeface="+mn-ea"/>
            </a:endParaRPr>
          </a:p>
        </p:txBody>
      </p:sp>
    </p:spTree>
    <p:extLst>
      <p:ext uri="{BB962C8B-B14F-4D97-AF65-F5344CB8AC3E}">
        <p14:creationId xmlns:p14="http://schemas.microsoft.com/office/powerpoint/2010/main" val="532257379"/>
      </p:ext>
    </p:extLst>
  </p:cSld>
  <p:clrMapOvr>
    <a:masterClrMapping/>
  </p:clrMapOvr>
  <p:timing>
    <p:tnLst>
      <p:par>
        <p:cTn id="1" dur="indefinite" restart="never" nodeType="tmRoot"/>
      </p:par>
    </p:tnLst>
  </p:timing>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238</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5"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6.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振幅调制</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与</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解调</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 name="Text Box 4">
            <a:extLst>
              <a:ext uri="{FF2B5EF4-FFF2-40B4-BE49-F238E27FC236}">
                <a16:creationId xmlns="" xmlns:a16="http://schemas.microsoft.com/office/drawing/2014/main" id="{FBF145E5-6E7B-A178-4056-86CDE3EBB4B2}"/>
              </a:ext>
            </a:extLst>
          </p:cNvPr>
          <p:cNvSpPr txBox="1">
            <a:spLocks noChangeArrowheads="1"/>
          </p:cNvSpPr>
          <p:nvPr/>
        </p:nvSpPr>
        <p:spPr bwMode="auto">
          <a:xfrm>
            <a:off x="457002" y="1307991"/>
            <a:ext cx="229582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dirty="0">
                <a:latin typeface="Times New Roman" panose="02020603050405020304" pitchFamily="18" charset="0"/>
                <a:cs typeface="Times New Roman" panose="02020603050405020304" pitchFamily="18" charset="0"/>
              </a:rPr>
              <a:t>2)</a:t>
            </a:r>
            <a:r>
              <a:rPr lang="zh-CN" altLang="en-US" sz="2000" dirty="0">
                <a:latin typeface="Times New Roman" panose="02020603050405020304" pitchFamily="18" charset="0"/>
                <a:cs typeface="Times New Roman" panose="02020603050405020304" pitchFamily="18" charset="0"/>
              </a:rPr>
              <a:t>等效输入电阻</a:t>
            </a:r>
            <a:r>
              <a:rPr lang="en-US" altLang="zh-CN" sz="2000" dirty="0">
                <a:latin typeface="Times New Roman" panose="02020603050405020304" pitchFamily="18" charset="0"/>
                <a:cs typeface="Times New Roman" panose="02020603050405020304" pitchFamily="18" charset="0"/>
              </a:rPr>
              <a:t>R</a:t>
            </a:r>
            <a:r>
              <a:rPr lang="en-US" altLang="zh-CN" sz="2000" baseline="-25000" dirty="0">
                <a:latin typeface="Times New Roman" panose="02020603050405020304" pitchFamily="18" charset="0"/>
                <a:cs typeface="Times New Roman" panose="02020603050405020304" pitchFamily="18" charset="0"/>
              </a:rPr>
              <a:t>id</a:t>
            </a:r>
            <a:endParaRPr lang="en-US" altLang="zh-CN" sz="2000" b="0" baseline="-25000" dirty="0">
              <a:latin typeface="Times New Roman" panose="02020603050405020304" pitchFamily="18" charset="0"/>
              <a:cs typeface="Times New Roman" panose="02020603050405020304" pitchFamily="18" charset="0"/>
            </a:endParaRPr>
          </a:p>
        </p:txBody>
      </p:sp>
      <p:sp>
        <p:nvSpPr>
          <p:cNvPr id="7" name="Text Box 6">
            <a:extLst>
              <a:ext uri="{FF2B5EF4-FFF2-40B4-BE49-F238E27FC236}">
                <a16:creationId xmlns="" xmlns:a16="http://schemas.microsoft.com/office/drawing/2014/main" id="{3A143912-D7CC-7C0F-5091-1EBFC2FABF58}"/>
              </a:ext>
            </a:extLst>
          </p:cNvPr>
          <p:cNvSpPr txBox="1">
            <a:spLocks noChangeArrowheads="1"/>
          </p:cNvSpPr>
          <p:nvPr/>
        </p:nvSpPr>
        <p:spPr bwMode="auto">
          <a:xfrm>
            <a:off x="4671418" y="2556448"/>
            <a:ext cx="320696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dirty="0">
                <a:latin typeface="Times New Roman" panose="02020603050405020304" pitchFamily="18" charset="0"/>
                <a:cs typeface="Times New Roman" panose="02020603050405020304" pitchFamily="18" charset="0"/>
              </a:rPr>
              <a:t>V</a:t>
            </a:r>
            <a:r>
              <a:rPr lang="en-US" altLang="zh-CN" sz="2000" baseline="-25000" dirty="0">
                <a:latin typeface="Times New Roman" panose="02020603050405020304" pitchFamily="18" charset="0"/>
                <a:cs typeface="Times New Roman" panose="02020603050405020304" pitchFamily="18" charset="0"/>
              </a:rPr>
              <a:t>im </a:t>
            </a:r>
            <a:r>
              <a:rPr lang="en-US" altLang="zh-CN" sz="2000" dirty="0">
                <a:latin typeface="Times New Roman" panose="02020603050405020304" pitchFamily="18" charset="0"/>
                <a:cs typeface="Times New Roman" panose="02020603050405020304" pitchFamily="18" charset="0"/>
              </a:rPr>
              <a:t>--- </a:t>
            </a:r>
            <a:r>
              <a:rPr lang="zh-CN" altLang="en-US" sz="2000" dirty="0">
                <a:latin typeface="Times New Roman" panose="02020603050405020304" pitchFamily="18" charset="0"/>
                <a:cs typeface="Times New Roman" panose="02020603050405020304" pitchFamily="18" charset="0"/>
              </a:rPr>
              <a:t>输入高频电压的振幅</a:t>
            </a:r>
          </a:p>
        </p:txBody>
      </p:sp>
      <p:sp>
        <p:nvSpPr>
          <p:cNvPr id="8" name="Text Box 7">
            <a:extLst>
              <a:ext uri="{FF2B5EF4-FFF2-40B4-BE49-F238E27FC236}">
                <a16:creationId xmlns="" xmlns:a16="http://schemas.microsoft.com/office/drawing/2014/main" id="{0F1D7A17-7785-5F6D-0AF5-E2735B202659}"/>
              </a:ext>
            </a:extLst>
          </p:cNvPr>
          <p:cNvSpPr txBox="1">
            <a:spLocks noChangeArrowheads="1"/>
          </p:cNvSpPr>
          <p:nvPr/>
        </p:nvSpPr>
        <p:spPr bwMode="auto">
          <a:xfrm>
            <a:off x="4667182" y="2958198"/>
            <a:ext cx="389080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dirty="0" err="1">
                <a:latin typeface="Times New Roman" panose="02020603050405020304" pitchFamily="18" charset="0"/>
                <a:cs typeface="Times New Roman" panose="02020603050405020304" pitchFamily="18" charset="0"/>
              </a:rPr>
              <a:t>I</a:t>
            </a:r>
            <a:r>
              <a:rPr lang="en-US" altLang="zh-CN" sz="2000" baseline="-25000" dirty="0" err="1">
                <a:latin typeface="Times New Roman" panose="02020603050405020304" pitchFamily="18" charset="0"/>
                <a:cs typeface="Times New Roman" panose="02020603050405020304" pitchFamily="18" charset="0"/>
              </a:rPr>
              <a:t>im</a:t>
            </a:r>
            <a:r>
              <a:rPr lang="en-US" altLang="zh-CN" sz="2000" baseline="-25000"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 </a:t>
            </a:r>
            <a:r>
              <a:rPr lang="zh-CN" altLang="en-US" sz="2000" dirty="0">
                <a:latin typeface="Times New Roman" panose="02020603050405020304" pitchFamily="18" charset="0"/>
                <a:cs typeface="Times New Roman" panose="02020603050405020304" pitchFamily="18" charset="0"/>
              </a:rPr>
              <a:t>输入高频电流的的基波振幅</a:t>
            </a:r>
          </a:p>
        </p:txBody>
      </p:sp>
      <p:sp>
        <p:nvSpPr>
          <p:cNvPr id="9" name="Text Box 8">
            <a:extLst>
              <a:ext uri="{FF2B5EF4-FFF2-40B4-BE49-F238E27FC236}">
                <a16:creationId xmlns="" xmlns:a16="http://schemas.microsoft.com/office/drawing/2014/main" id="{7BF77D96-2105-49AE-3CAD-1A1FE21AE8A5}"/>
              </a:ext>
            </a:extLst>
          </p:cNvPr>
          <p:cNvSpPr txBox="1">
            <a:spLocks noChangeArrowheads="1"/>
          </p:cNvSpPr>
          <p:nvPr/>
        </p:nvSpPr>
        <p:spPr bwMode="auto">
          <a:xfrm>
            <a:off x="250291" y="5504330"/>
            <a:ext cx="8281988"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40000"/>
              </a:lnSpc>
            </a:pPr>
            <a:r>
              <a:rPr lang="zh-CN" altLang="en-US" sz="2000" dirty="0">
                <a:latin typeface="Times New Roman" panose="02020603050405020304" pitchFamily="18" charset="0"/>
                <a:cs typeface="Times New Roman" panose="02020603050405020304" pitchFamily="18" charset="0"/>
              </a:rPr>
              <a:t>    由于二极管输入电阻的影响，使输入谐振回路的</a:t>
            </a:r>
            <a:r>
              <a:rPr lang="en-US" altLang="zh-CN" sz="2000" dirty="0">
                <a:latin typeface="Times New Roman" panose="02020603050405020304" pitchFamily="18" charset="0"/>
                <a:cs typeface="Times New Roman" panose="02020603050405020304" pitchFamily="18" charset="0"/>
              </a:rPr>
              <a:t>Q</a:t>
            </a:r>
            <a:r>
              <a:rPr lang="zh-CN" altLang="en-US" sz="2000" dirty="0">
                <a:latin typeface="Times New Roman" panose="02020603050405020304" pitchFamily="18" charset="0"/>
                <a:cs typeface="Times New Roman" panose="02020603050405020304" pitchFamily="18" charset="0"/>
              </a:rPr>
              <a:t>值降低，消耗一些高频功率。</a:t>
            </a:r>
          </a:p>
        </p:txBody>
      </p:sp>
      <p:graphicFrame>
        <p:nvGraphicFramePr>
          <p:cNvPr id="10" name="Object 11">
            <a:extLst>
              <a:ext uri="{FF2B5EF4-FFF2-40B4-BE49-F238E27FC236}">
                <a16:creationId xmlns="" xmlns:a16="http://schemas.microsoft.com/office/drawing/2014/main" id="{AF830487-4EE9-7AB6-8815-A3489585A552}"/>
              </a:ext>
            </a:extLst>
          </p:cNvPr>
          <p:cNvGraphicFramePr>
            <a:graphicFrameLocks/>
          </p:cNvGraphicFramePr>
          <p:nvPr>
            <p:extLst>
              <p:ext uri="{D42A27DB-BD31-4B8C-83A1-F6EECF244321}">
                <p14:modId xmlns:p14="http://schemas.microsoft.com/office/powerpoint/2010/main" val="3308232973"/>
              </p:ext>
            </p:extLst>
          </p:nvPr>
        </p:nvGraphicFramePr>
        <p:xfrm>
          <a:off x="468115" y="1934271"/>
          <a:ext cx="3529013" cy="812800"/>
        </p:xfrm>
        <a:graphic>
          <a:graphicData uri="http://schemas.openxmlformats.org/presentationml/2006/ole">
            <mc:AlternateContent xmlns:mc="http://schemas.openxmlformats.org/markup-compatibility/2006">
              <mc:Choice xmlns:v="urn:schemas-microsoft-com:vml" Requires="v">
                <p:oleObj spid="_x0000_s188484" r:id="rId3" imgW="1943100" imgH="444500" progId="Equation.3">
                  <p:embed/>
                </p:oleObj>
              </mc:Choice>
              <mc:Fallback>
                <p:oleObj r:id="rId3" imgW="1943100" imgH="444500" progId="Equation.3">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8115" y="1934271"/>
                        <a:ext cx="3529013" cy="81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1" name="Object 9">
            <a:extLst>
              <a:ext uri="{FF2B5EF4-FFF2-40B4-BE49-F238E27FC236}">
                <a16:creationId xmlns="" xmlns:a16="http://schemas.microsoft.com/office/drawing/2014/main" id="{2324EABC-BD49-35C1-6B5F-D5868468FFA8}"/>
              </a:ext>
            </a:extLst>
          </p:cNvPr>
          <p:cNvGraphicFramePr>
            <a:graphicFrameLocks/>
          </p:cNvGraphicFramePr>
          <p:nvPr>
            <p:extLst>
              <p:ext uri="{D42A27DB-BD31-4B8C-83A1-F6EECF244321}">
                <p14:modId xmlns:p14="http://schemas.microsoft.com/office/powerpoint/2010/main" val="3045039725"/>
              </p:ext>
            </p:extLst>
          </p:nvPr>
        </p:nvGraphicFramePr>
        <p:xfrm>
          <a:off x="3050340" y="4558344"/>
          <a:ext cx="1460069" cy="432899"/>
        </p:xfrm>
        <a:graphic>
          <a:graphicData uri="http://schemas.openxmlformats.org/presentationml/2006/ole">
            <mc:AlternateContent xmlns:mc="http://schemas.openxmlformats.org/markup-compatibility/2006">
              <mc:Choice xmlns:v="urn:schemas-microsoft-com:vml" Requires="v">
                <p:oleObj spid="_x0000_s188485" r:id="rId5" imgW="634725" imgH="203112" progId="Equation.3">
                  <p:embed/>
                </p:oleObj>
              </mc:Choice>
              <mc:Fallback>
                <p:oleObj r:id="rId5" imgW="634725" imgH="203112" progId="Equation.3">
                  <p:embed/>
                  <p:pic>
                    <p:nvPicPr>
                      <p:cNvPr id="0" name=""/>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50340" y="4558344"/>
                        <a:ext cx="1460069" cy="432899"/>
                      </a:xfrm>
                      <a:prstGeom prst="rect">
                        <a:avLst/>
                      </a:prstGeom>
                      <a:noFill/>
                      <a:ln>
                        <a:noFill/>
                      </a:ln>
                      <a:extLst/>
                    </p:spPr>
                  </p:pic>
                </p:oleObj>
              </mc:Fallback>
            </mc:AlternateContent>
          </a:graphicData>
        </a:graphic>
      </p:graphicFrame>
      <p:sp>
        <p:nvSpPr>
          <p:cNvPr id="12" name="Rectangle 12">
            <a:extLst>
              <a:ext uri="{FF2B5EF4-FFF2-40B4-BE49-F238E27FC236}">
                <a16:creationId xmlns="" xmlns:a16="http://schemas.microsoft.com/office/drawing/2014/main" id="{01C78B09-27CC-2A91-DE60-19DBEE1380C1}"/>
              </a:ext>
            </a:extLst>
          </p:cNvPr>
          <p:cNvSpPr>
            <a:spLocks noChangeArrowheads="1"/>
          </p:cNvSpPr>
          <p:nvPr/>
        </p:nvSpPr>
        <p:spPr bwMode="auto">
          <a:xfrm>
            <a:off x="1855590" y="3007411"/>
            <a:ext cx="140294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2000" b="0">
                <a:latin typeface="Times New Roman" panose="02020603050405020304" pitchFamily="18" charset="0"/>
                <a:cs typeface="Times New Roman" panose="02020603050405020304" pitchFamily="18" charset="0"/>
              </a:rPr>
              <a:t>                   </a:t>
            </a:r>
          </a:p>
        </p:txBody>
      </p:sp>
      <p:sp>
        <p:nvSpPr>
          <p:cNvPr id="13" name="Rectangle 15">
            <a:extLst>
              <a:ext uri="{FF2B5EF4-FFF2-40B4-BE49-F238E27FC236}">
                <a16:creationId xmlns="" xmlns:a16="http://schemas.microsoft.com/office/drawing/2014/main" id="{124EA892-7DAC-E0EA-B522-C2D48CC1F429}"/>
              </a:ext>
            </a:extLst>
          </p:cNvPr>
          <p:cNvSpPr>
            <a:spLocks noChangeArrowheads="1"/>
          </p:cNvSpPr>
          <p:nvPr/>
        </p:nvSpPr>
        <p:spPr bwMode="auto">
          <a:xfrm>
            <a:off x="457002" y="5083059"/>
            <a:ext cx="608371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tabLst>
                <a:tab pos="5249863" algn="r"/>
              </a:tabLst>
              <a:defRPr sz="1600" b="1">
                <a:solidFill>
                  <a:schemeClr val="tx1"/>
                </a:solidFill>
                <a:latin typeface="楷体_GB2312" panose="02010609030101010101" pitchFamily="49" charset="-122"/>
                <a:ea typeface="楷体_GB2312" panose="02010609030101010101" pitchFamily="49" charset="-122"/>
              </a:defRPr>
            </a:lvl1pPr>
            <a:lvl2pPr>
              <a:tabLst>
                <a:tab pos="5249863" algn="r"/>
              </a:tabLst>
              <a:defRPr sz="1600" b="1">
                <a:solidFill>
                  <a:schemeClr val="tx1"/>
                </a:solidFill>
                <a:latin typeface="楷体_GB2312" panose="02010609030101010101" pitchFamily="49" charset="-122"/>
                <a:ea typeface="楷体_GB2312" panose="02010609030101010101" pitchFamily="49" charset="-122"/>
              </a:defRPr>
            </a:lvl2pPr>
            <a:lvl3pPr>
              <a:tabLst>
                <a:tab pos="5249863" algn="r"/>
              </a:tabLst>
              <a:defRPr sz="1600" b="1">
                <a:solidFill>
                  <a:schemeClr val="tx1"/>
                </a:solidFill>
                <a:latin typeface="楷体_GB2312" panose="02010609030101010101" pitchFamily="49" charset="-122"/>
                <a:ea typeface="楷体_GB2312" panose="02010609030101010101" pitchFamily="49" charset="-122"/>
              </a:defRPr>
            </a:lvl3pPr>
            <a:lvl4pPr>
              <a:tabLst>
                <a:tab pos="5249863" algn="r"/>
              </a:tabLst>
              <a:defRPr sz="1600" b="1">
                <a:solidFill>
                  <a:schemeClr val="tx1"/>
                </a:solidFill>
                <a:latin typeface="楷体_GB2312" panose="02010609030101010101" pitchFamily="49" charset="-122"/>
                <a:ea typeface="楷体_GB2312" panose="02010609030101010101" pitchFamily="49" charset="-122"/>
              </a:defRPr>
            </a:lvl4pPr>
            <a:lvl5pPr>
              <a:tabLst>
                <a:tab pos="5249863" algn="r"/>
              </a:tabLst>
              <a:defRPr sz="1600" b="1">
                <a:solidFill>
                  <a:schemeClr val="tx1"/>
                </a:solidFill>
                <a:latin typeface="楷体_GB2312" panose="02010609030101010101" pitchFamily="49" charset="-122"/>
                <a:ea typeface="楷体_GB2312" panose="02010609030101010101" pitchFamily="49" charset="-122"/>
              </a:defRPr>
            </a:lvl5pPr>
            <a:lvl6pPr fontAlgn="base">
              <a:spcBef>
                <a:spcPct val="0"/>
              </a:spcBef>
              <a:spcAft>
                <a:spcPct val="0"/>
              </a:spcAft>
              <a:buFont typeface="Arial" panose="020B0604020202020204" pitchFamily="34" charset="0"/>
              <a:tabLst>
                <a:tab pos="5249863" algn="r"/>
              </a:tabLst>
              <a:defRPr sz="1600" b="1">
                <a:solidFill>
                  <a:schemeClr val="tx1"/>
                </a:solidFill>
                <a:latin typeface="楷体_GB2312" panose="02010609030101010101" pitchFamily="49" charset="-122"/>
                <a:ea typeface="楷体_GB2312" panose="02010609030101010101" pitchFamily="49" charset="-122"/>
              </a:defRPr>
            </a:lvl6pPr>
            <a:lvl7pPr fontAlgn="base">
              <a:spcBef>
                <a:spcPct val="0"/>
              </a:spcBef>
              <a:spcAft>
                <a:spcPct val="0"/>
              </a:spcAft>
              <a:buFont typeface="Arial" panose="020B0604020202020204" pitchFamily="34" charset="0"/>
              <a:tabLst>
                <a:tab pos="5249863" algn="r"/>
              </a:tabLst>
              <a:defRPr sz="1600" b="1">
                <a:solidFill>
                  <a:schemeClr val="tx1"/>
                </a:solidFill>
                <a:latin typeface="楷体_GB2312" panose="02010609030101010101" pitchFamily="49" charset="-122"/>
                <a:ea typeface="楷体_GB2312" panose="02010609030101010101" pitchFamily="49" charset="-122"/>
              </a:defRPr>
            </a:lvl7pPr>
            <a:lvl8pPr fontAlgn="base">
              <a:spcBef>
                <a:spcPct val="0"/>
              </a:spcBef>
              <a:spcAft>
                <a:spcPct val="0"/>
              </a:spcAft>
              <a:buFont typeface="Arial" panose="020B0604020202020204" pitchFamily="34" charset="0"/>
              <a:tabLst>
                <a:tab pos="5249863" algn="r"/>
              </a:tabLst>
              <a:defRPr sz="1600" b="1">
                <a:solidFill>
                  <a:schemeClr val="tx1"/>
                </a:solidFill>
                <a:latin typeface="楷体_GB2312" panose="02010609030101010101" pitchFamily="49" charset="-122"/>
                <a:ea typeface="楷体_GB2312" panose="02010609030101010101" pitchFamily="49" charset="-122"/>
              </a:defRPr>
            </a:lvl8pPr>
            <a:lvl9pPr fontAlgn="base">
              <a:spcBef>
                <a:spcPct val="0"/>
              </a:spcBef>
              <a:spcAft>
                <a:spcPct val="0"/>
              </a:spcAft>
              <a:buFont typeface="Arial" panose="020B0604020202020204" pitchFamily="34" charset="0"/>
              <a:tabLst>
                <a:tab pos="5249863" algn="r"/>
              </a:tabLst>
              <a:defRPr sz="1600" b="1">
                <a:solidFill>
                  <a:schemeClr val="tx1"/>
                </a:solidFill>
                <a:latin typeface="楷体_GB2312" panose="02010609030101010101" pitchFamily="49" charset="-122"/>
                <a:ea typeface="楷体_GB2312" panose="02010609030101010101" pitchFamily="49" charset="-122"/>
              </a:defRPr>
            </a:lvl9pPr>
          </a:lstStyle>
          <a:p>
            <a:r>
              <a:rPr lang="zh-CN" altLang="en-US" sz="2000" b="0" dirty="0">
                <a:latin typeface="Times New Roman" panose="02020603050405020304" pitchFamily="18" charset="0"/>
                <a:ea typeface="+mn-ea"/>
                <a:cs typeface="Times New Roman" panose="02020603050405020304" pitchFamily="18" charset="0"/>
              </a:rPr>
              <a:t>即大信号二极管的输入电阻约等于负载电阻的一半。</a:t>
            </a:r>
          </a:p>
        </p:txBody>
      </p:sp>
      <p:sp>
        <p:nvSpPr>
          <p:cNvPr id="14" name="Rectangle 17">
            <a:extLst>
              <a:ext uri="{FF2B5EF4-FFF2-40B4-BE49-F238E27FC236}">
                <a16:creationId xmlns="" xmlns:a16="http://schemas.microsoft.com/office/drawing/2014/main" id="{A53A0B70-1D05-D44D-0708-24F333109A6C}"/>
              </a:ext>
            </a:extLst>
          </p:cNvPr>
          <p:cNvSpPr>
            <a:spLocks noChangeArrowheads="1"/>
          </p:cNvSpPr>
          <p:nvPr/>
        </p:nvSpPr>
        <p:spPr bwMode="auto">
          <a:xfrm>
            <a:off x="454770" y="4558344"/>
            <a:ext cx="69762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tabLst>
                <a:tab pos="5249863" algn="r"/>
              </a:tabLst>
              <a:defRPr sz="1600" b="1">
                <a:solidFill>
                  <a:schemeClr val="tx1"/>
                </a:solidFill>
                <a:latin typeface="楷体_GB2312" panose="02010609030101010101" pitchFamily="49" charset="-122"/>
                <a:ea typeface="楷体_GB2312" panose="02010609030101010101" pitchFamily="49" charset="-122"/>
              </a:defRPr>
            </a:lvl1pPr>
            <a:lvl2pPr>
              <a:tabLst>
                <a:tab pos="5249863" algn="r"/>
              </a:tabLst>
              <a:defRPr sz="1600" b="1">
                <a:solidFill>
                  <a:schemeClr val="tx1"/>
                </a:solidFill>
                <a:latin typeface="楷体_GB2312" panose="02010609030101010101" pitchFamily="49" charset="-122"/>
                <a:ea typeface="楷体_GB2312" panose="02010609030101010101" pitchFamily="49" charset="-122"/>
              </a:defRPr>
            </a:lvl2pPr>
            <a:lvl3pPr>
              <a:tabLst>
                <a:tab pos="5249863" algn="r"/>
              </a:tabLst>
              <a:defRPr sz="1600" b="1">
                <a:solidFill>
                  <a:schemeClr val="tx1"/>
                </a:solidFill>
                <a:latin typeface="楷体_GB2312" panose="02010609030101010101" pitchFamily="49" charset="-122"/>
                <a:ea typeface="楷体_GB2312" panose="02010609030101010101" pitchFamily="49" charset="-122"/>
              </a:defRPr>
            </a:lvl3pPr>
            <a:lvl4pPr>
              <a:tabLst>
                <a:tab pos="5249863" algn="r"/>
              </a:tabLst>
              <a:defRPr sz="1600" b="1">
                <a:solidFill>
                  <a:schemeClr val="tx1"/>
                </a:solidFill>
                <a:latin typeface="楷体_GB2312" panose="02010609030101010101" pitchFamily="49" charset="-122"/>
                <a:ea typeface="楷体_GB2312" panose="02010609030101010101" pitchFamily="49" charset="-122"/>
              </a:defRPr>
            </a:lvl4pPr>
            <a:lvl5pPr>
              <a:tabLst>
                <a:tab pos="5249863" algn="r"/>
              </a:tabLst>
              <a:defRPr sz="1600" b="1">
                <a:solidFill>
                  <a:schemeClr val="tx1"/>
                </a:solidFill>
                <a:latin typeface="楷体_GB2312" panose="02010609030101010101" pitchFamily="49" charset="-122"/>
                <a:ea typeface="楷体_GB2312" panose="02010609030101010101" pitchFamily="49" charset="-122"/>
              </a:defRPr>
            </a:lvl5pPr>
            <a:lvl6pPr fontAlgn="base">
              <a:spcBef>
                <a:spcPct val="0"/>
              </a:spcBef>
              <a:spcAft>
                <a:spcPct val="0"/>
              </a:spcAft>
              <a:buFont typeface="Arial" panose="020B0604020202020204" pitchFamily="34" charset="0"/>
              <a:tabLst>
                <a:tab pos="5249863" algn="r"/>
              </a:tabLst>
              <a:defRPr sz="1600" b="1">
                <a:solidFill>
                  <a:schemeClr val="tx1"/>
                </a:solidFill>
                <a:latin typeface="楷体_GB2312" panose="02010609030101010101" pitchFamily="49" charset="-122"/>
                <a:ea typeface="楷体_GB2312" panose="02010609030101010101" pitchFamily="49" charset="-122"/>
              </a:defRPr>
            </a:lvl6pPr>
            <a:lvl7pPr fontAlgn="base">
              <a:spcBef>
                <a:spcPct val="0"/>
              </a:spcBef>
              <a:spcAft>
                <a:spcPct val="0"/>
              </a:spcAft>
              <a:buFont typeface="Arial" panose="020B0604020202020204" pitchFamily="34" charset="0"/>
              <a:tabLst>
                <a:tab pos="5249863" algn="r"/>
              </a:tabLst>
              <a:defRPr sz="1600" b="1">
                <a:solidFill>
                  <a:schemeClr val="tx1"/>
                </a:solidFill>
                <a:latin typeface="楷体_GB2312" panose="02010609030101010101" pitchFamily="49" charset="-122"/>
                <a:ea typeface="楷体_GB2312" panose="02010609030101010101" pitchFamily="49" charset="-122"/>
              </a:defRPr>
            </a:lvl7pPr>
            <a:lvl8pPr fontAlgn="base">
              <a:spcBef>
                <a:spcPct val="0"/>
              </a:spcBef>
              <a:spcAft>
                <a:spcPct val="0"/>
              </a:spcAft>
              <a:buFont typeface="Arial" panose="020B0604020202020204" pitchFamily="34" charset="0"/>
              <a:tabLst>
                <a:tab pos="5249863" algn="r"/>
              </a:tabLst>
              <a:defRPr sz="1600" b="1">
                <a:solidFill>
                  <a:schemeClr val="tx1"/>
                </a:solidFill>
                <a:latin typeface="楷体_GB2312" panose="02010609030101010101" pitchFamily="49" charset="-122"/>
                <a:ea typeface="楷体_GB2312" panose="02010609030101010101" pitchFamily="49" charset="-122"/>
              </a:defRPr>
            </a:lvl8pPr>
            <a:lvl9pPr fontAlgn="base">
              <a:spcBef>
                <a:spcPct val="0"/>
              </a:spcBef>
              <a:spcAft>
                <a:spcPct val="0"/>
              </a:spcAft>
              <a:buFont typeface="Arial" panose="020B0604020202020204" pitchFamily="34" charset="0"/>
              <a:tabLst>
                <a:tab pos="5249863" algn="r"/>
              </a:tabLst>
              <a:defRPr sz="1600" b="1">
                <a:solidFill>
                  <a:schemeClr val="tx1"/>
                </a:solidFill>
                <a:latin typeface="楷体_GB2312" panose="02010609030101010101" pitchFamily="49" charset="-122"/>
                <a:ea typeface="楷体_GB2312" panose="02010609030101010101" pitchFamily="49" charset="-122"/>
              </a:defRPr>
            </a:lvl9pPr>
          </a:lstStyle>
          <a:p>
            <a:r>
              <a:rPr lang="zh-CN" altLang="en-US" sz="2000" b="0" dirty="0">
                <a:latin typeface="Times New Roman" panose="02020603050405020304" pitchFamily="18" charset="0"/>
                <a:ea typeface="+mn-ea"/>
                <a:cs typeface="Times New Roman" panose="02020603050405020304" pitchFamily="18" charset="0"/>
              </a:rPr>
              <a:t>通常</a:t>
            </a:r>
          </a:p>
        </p:txBody>
      </p:sp>
      <p:graphicFrame>
        <p:nvGraphicFramePr>
          <p:cNvPr id="15" name="Object 18">
            <a:extLst>
              <a:ext uri="{FF2B5EF4-FFF2-40B4-BE49-F238E27FC236}">
                <a16:creationId xmlns="" xmlns:a16="http://schemas.microsoft.com/office/drawing/2014/main" id="{C03A918D-C1BF-66DE-915D-6C29B6D99049}"/>
              </a:ext>
            </a:extLst>
          </p:cNvPr>
          <p:cNvGraphicFramePr>
            <a:graphicFrameLocks/>
          </p:cNvGraphicFramePr>
          <p:nvPr>
            <p:extLst>
              <p:ext uri="{D42A27DB-BD31-4B8C-83A1-F6EECF244321}">
                <p14:modId xmlns:p14="http://schemas.microsoft.com/office/powerpoint/2010/main" val="675122749"/>
              </p:ext>
            </p:extLst>
          </p:nvPr>
        </p:nvGraphicFramePr>
        <p:xfrm>
          <a:off x="1100880" y="4558344"/>
          <a:ext cx="922171" cy="439703"/>
        </p:xfrm>
        <a:graphic>
          <a:graphicData uri="http://schemas.openxmlformats.org/presentationml/2006/ole">
            <mc:AlternateContent xmlns:mc="http://schemas.openxmlformats.org/markup-compatibility/2006">
              <mc:Choice xmlns:v="urn:schemas-microsoft-com:vml" Requires="v">
                <p:oleObj spid="_x0000_s188486" r:id="rId7" imgW="406048" imgH="203024" progId="Equation.3">
                  <p:embed/>
                </p:oleObj>
              </mc:Choice>
              <mc:Fallback>
                <p:oleObj r:id="rId7" imgW="406048" imgH="203024" progId="Equation.3">
                  <p:embed/>
                  <p:pic>
                    <p:nvPicPr>
                      <p:cNvPr id="0" name=""/>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00880" y="4558344"/>
                        <a:ext cx="922171" cy="439703"/>
                      </a:xfrm>
                      <a:prstGeom prst="rect">
                        <a:avLst/>
                      </a:prstGeom>
                      <a:noFill/>
                      <a:ln>
                        <a:noFill/>
                      </a:ln>
                      <a:extLst/>
                    </p:spPr>
                  </p:pic>
                </p:oleObj>
              </mc:Fallback>
            </mc:AlternateContent>
          </a:graphicData>
        </a:graphic>
      </p:graphicFrame>
      <p:sp>
        <p:nvSpPr>
          <p:cNvPr id="16" name="Rectangle 20">
            <a:extLst>
              <a:ext uri="{FF2B5EF4-FFF2-40B4-BE49-F238E27FC236}">
                <a16:creationId xmlns="" xmlns:a16="http://schemas.microsoft.com/office/drawing/2014/main" id="{D1BE30D6-BDB7-B787-CAC6-D89D5BF4AFDC}"/>
              </a:ext>
            </a:extLst>
          </p:cNvPr>
          <p:cNvSpPr>
            <a:spLocks noChangeArrowheads="1"/>
          </p:cNvSpPr>
          <p:nvPr/>
        </p:nvSpPr>
        <p:spPr bwMode="auto">
          <a:xfrm>
            <a:off x="2320347" y="4574738"/>
            <a:ext cx="69762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tabLst>
                <a:tab pos="5249863" algn="r"/>
              </a:tabLst>
              <a:defRPr sz="1600" b="1">
                <a:solidFill>
                  <a:schemeClr val="tx1"/>
                </a:solidFill>
                <a:latin typeface="楷体_GB2312" panose="02010609030101010101" pitchFamily="49" charset="-122"/>
                <a:ea typeface="楷体_GB2312" panose="02010609030101010101" pitchFamily="49" charset="-122"/>
              </a:defRPr>
            </a:lvl1pPr>
            <a:lvl2pPr>
              <a:tabLst>
                <a:tab pos="5249863" algn="r"/>
              </a:tabLst>
              <a:defRPr sz="1600" b="1">
                <a:solidFill>
                  <a:schemeClr val="tx1"/>
                </a:solidFill>
                <a:latin typeface="楷体_GB2312" panose="02010609030101010101" pitchFamily="49" charset="-122"/>
                <a:ea typeface="楷体_GB2312" panose="02010609030101010101" pitchFamily="49" charset="-122"/>
              </a:defRPr>
            </a:lvl2pPr>
            <a:lvl3pPr>
              <a:tabLst>
                <a:tab pos="5249863" algn="r"/>
              </a:tabLst>
              <a:defRPr sz="1600" b="1">
                <a:solidFill>
                  <a:schemeClr val="tx1"/>
                </a:solidFill>
                <a:latin typeface="楷体_GB2312" panose="02010609030101010101" pitchFamily="49" charset="-122"/>
                <a:ea typeface="楷体_GB2312" panose="02010609030101010101" pitchFamily="49" charset="-122"/>
              </a:defRPr>
            </a:lvl3pPr>
            <a:lvl4pPr>
              <a:tabLst>
                <a:tab pos="5249863" algn="r"/>
              </a:tabLst>
              <a:defRPr sz="1600" b="1">
                <a:solidFill>
                  <a:schemeClr val="tx1"/>
                </a:solidFill>
                <a:latin typeface="楷体_GB2312" panose="02010609030101010101" pitchFamily="49" charset="-122"/>
                <a:ea typeface="楷体_GB2312" panose="02010609030101010101" pitchFamily="49" charset="-122"/>
              </a:defRPr>
            </a:lvl4pPr>
            <a:lvl5pPr>
              <a:tabLst>
                <a:tab pos="5249863" algn="r"/>
              </a:tabLst>
              <a:defRPr sz="1600" b="1">
                <a:solidFill>
                  <a:schemeClr val="tx1"/>
                </a:solidFill>
                <a:latin typeface="楷体_GB2312" panose="02010609030101010101" pitchFamily="49" charset="-122"/>
                <a:ea typeface="楷体_GB2312" panose="02010609030101010101" pitchFamily="49" charset="-122"/>
              </a:defRPr>
            </a:lvl5pPr>
            <a:lvl6pPr fontAlgn="base">
              <a:spcBef>
                <a:spcPct val="0"/>
              </a:spcBef>
              <a:spcAft>
                <a:spcPct val="0"/>
              </a:spcAft>
              <a:buFont typeface="Arial" panose="020B0604020202020204" pitchFamily="34" charset="0"/>
              <a:tabLst>
                <a:tab pos="5249863" algn="r"/>
              </a:tabLst>
              <a:defRPr sz="1600" b="1">
                <a:solidFill>
                  <a:schemeClr val="tx1"/>
                </a:solidFill>
                <a:latin typeface="楷体_GB2312" panose="02010609030101010101" pitchFamily="49" charset="-122"/>
                <a:ea typeface="楷体_GB2312" panose="02010609030101010101" pitchFamily="49" charset="-122"/>
              </a:defRPr>
            </a:lvl6pPr>
            <a:lvl7pPr fontAlgn="base">
              <a:spcBef>
                <a:spcPct val="0"/>
              </a:spcBef>
              <a:spcAft>
                <a:spcPct val="0"/>
              </a:spcAft>
              <a:buFont typeface="Arial" panose="020B0604020202020204" pitchFamily="34" charset="0"/>
              <a:tabLst>
                <a:tab pos="5249863" algn="r"/>
              </a:tabLst>
              <a:defRPr sz="1600" b="1">
                <a:solidFill>
                  <a:schemeClr val="tx1"/>
                </a:solidFill>
                <a:latin typeface="楷体_GB2312" panose="02010609030101010101" pitchFamily="49" charset="-122"/>
                <a:ea typeface="楷体_GB2312" panose="02010609030101010101" pitchFamily="49" charset="-122"/>
              </a:defRPr>
            </a:lvl7pPr>
            <a:lvl8pPr fontAlgn="base">
              <a:spcBef>
                <a:spcPct val="0"/>
              </a:spcBef>
              <a:spcAft>
                <a:spcPct val="0"/>
              </a:spcAft>
              <a:buFont typeface="Arial" panose="020B0604020202020204" pitchFamily="34" charset="0"/>
              <a:tabLst>
                <a:tab pos="5249863" algn="r"/>
              </a:tabLst>
              <a:defRPr sz="1600" b="1">
                <a:solidFill>
                  <a:schemeClr val="tx1"/>
                </a:solidFill>
                <a:latin typeface="楷体_GB2312" panose="02010609030101010101" pitchFamily="49" charset="-122"/>
                <a:ea typeface="楷体_GB2312" panose="02010609030101010101" pitchFamily="49" charset="-122"/>
              </a:defRPr>
            </a:lvl8pPr>
            <a:lvl9pPr fontAlgn="base">
              <a:spcBef>
                <a:spcPct val="0"/>
              </a:spcBef>
              <a:spcAft>
                <a:spcPct val="0"/>
              </a:spcAft>
              <a:buFont typeface="Arial" panose="020B0604020202020204" pitchFamily="34" charset="0"/>
              <a:tabLst>
                <a:tab pos="5249863" algn="r"/>
              </a:tabLst>
              <a:defRPr sz="1600" b="1">
                <a:solidFill>
                  <a:schemeClr val="tx1"/>
                </a:solidFill>
                <a:latin typeface="楷体_GB2312" panose="02010609030101010101" pitchFamily="49" charset="-122"/>
                <a:ea typeface="楷体_GB2312" panose="02010609030101010101" pitchFamily="49" charset="-122"/>
              </a:defRPr>
            </a:lvl9pPr>
          </a:lstStyle>
          <a:p>
            <a:r>
              <a:rPr lang="zh-CN" altLang="en-US" sz="2000" b="0" dirty="0">
                <a:latin typeface="Times New Roman" panose="02020603050405020304" pitchFamily="18" charset="0"/>
                <a:ea typeface="+mn-ea"/>
                <a:cs typeface="Times New Roman" panose="02020603050405020304" pitchFamily="18" charset="0"/>
              </a:rPr>
              <a:t>因此</a:t>
            </a:r>
          </a:p>
        </p:txBody>
      </p:sp>
      <p:graphicFrame>
        <p:nvGraphicFramePr>
          <p:cNvPr id="17" name="Object 21">
            <a:extLst>
              <a:ext uri="{FF2B5EF4-FFF2-40B4-BE49-F238E27FC236}">
                <a16:creationId xmlns="" xmlns:a16="http://schemas.microsoft.com/office/drawing/2014/main" id="{DD66372D-440D-BFD5-DF9B-3A885ACA6F14}"/>
              </a:ext>
            </a:extLst>
          </p:cNvPr>
          <p:cNvGraphicFramePr>
            <a:graphicFrameLocks/>
          </p:cNvGraphicFramePr>
          <p:nvPr>
            <p:extLst>
              <p:ext uri="{D42A27DB-BD31-4B8C-83A1-F6EECF244321}">
                <p14:modId xmlns:p14="http://schemas.microsoft.com/office/powerpoint/2010/main" val="1133242453"/>
              </p:ext>
            </p:extLst>
          </p:nvPr>
        </p:nvGraphicFramePr>
        <p:xfrm>
          <a:off x="479972" y="3139996"/>
          <a:ext cx="5410200" cy="760413"/>
        </p:xfrm>
        <a:graphic>
          <a:graphicData uri="http://schemas.openxmlformats.org/presentationml/2006/ole">
            <mc:AlternateContent xmlns:mc="http://schemas.openxmlformats.org/markup-compatibility/2006">
              <mc:Choice xmlns:v="urn:schemas-microsoft-com:vml" Requires="v">
                <p:oleObj spid="_x0000_s188487" r:id="rId9" imgW="2717800" imgH="381000" progId="Equation.3">
                  <p:embed/>
                </p:oleObj>
              </mc:Choice>
              <mc:Fallback>
                <p:oleObj r:id="rId9" imgW="2717800" imgH="381000" progId="Equation.3">
                  <p:embed/>
                  <p:pic>
                    <p:nvPicPr>
                      <p:cNvPr id="0" name=""/>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79972" y="3139996"/>
                        <a:ext cx="5410200" cy="76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8" name="Rectangle 24">
            <a:extLst>
              <a:ext uri="{FF2B5EF4-FFF2-40B4-BE49-F238E27FC236}">
                <a16:creationId xmlns="" xmlns:a16="http://schemas.microsoft.com/office/drawing/2014/main" id="{E018BFF6-5EC0-01A1-F274-3F0F85310DEA}"/>
              </a:ext>
            </a:extLst>
          </p:cNvPr>
          <p:cNvSpPr>
            <a:spLocks noChangeArrowheads="1"/>
          </p:cNvSpPr>
          <p:nvPr/>
        </p:nvSpPr>
        <p:spPr bwMode="auto">
          <a:xfrm>
            <a:off x="385773" y="3978838"/>
            <a:ext cx="62484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000" dirty="0">
                <a:latin typeface="Times New Roman" panose="02020603050405020304" pitchFamily="18" charset="0"/>
                <a:cs typeface="Times New Roman" panose="02020603050405020304" pitchFamily="18" charset="0"/>
              </a:rPr>
              <a:t>负载</a:t>
            </a:r>
            <a:r>
              <a:rPr lang="en-US" altLang="zh-CN" sz="2000" dirty="0">
                <a:latin typeface="Times New Roman" panose="02020603050405020304" pitchFamily="18" charset="0"/>
                <a:cs typeface="Times New Roman" panose="02020603050405020304" pitchFamily="18" charset="0"/>
              </a:rPr>
              <a:t>R</a:t>
            </a:r>
            <a:r>
              <a:rPr lang="zh-CN" altLang="en-US" sz="2000" dirty="0">
                <a:latin typeface="Times New Roman" panose="02020603050405020304" pitchFamily="18" charset="0"/>
                <a:cs typeface="Times New Roman" panose="02020603050405020304" pitchFamily="18" charset="0"/>
              </a:rPr>
              <a:t>两端的平均电压为</a:t>
            </a:r>
            <a:r>
              <a:rPr lang="en-US" altLang="zh-CN" sz="2000" dirty="0" err="1">
                <a:latin typeface="Times New Roman" panose="02020603050405020304" pitchFamily="18" charset="0"/>
                <a:cs typeface="Times New Roman" panose="02020603050405020304" pitchFamily="18" charset="0"/>
              </a:rPr>
              <a:t>K</a:t>
            </a:r>
            <a:r>
              <a:rPr lang="en-US" altLang="zh-CN" sz="2000" baseline="-30000" dirty="0" err="1">
                <a:latin typeface="Times New Roman" panose="02020603050405020304" pitchFamily="18" charset="0"/>
                <a:cs typeface="Times New Roman" panose="02020603050405020304" pitchFamily="18" charset="0"/>
              </a:rPr>
              <a:t>d</a:t>
            </a:r>
            <a:r>
              <a:rPr lang="en-US" altLang="zh-CN" sz="2000" dirty="0" err="1">
                <a:latin typeface="Times New Roman" panose="02020603050405020304" pitchFamily="18" charset="0"/>
                <a:cs typeface="Times New Roman" panose="02020603050405020304" pitchFamily="18" charset="0"/>
              </a:rPr>
              <a:t>V</a:t>
            </a:r>
            <a:r>
              <a:rPr lang="en-US" altLang="zh-CN" sz="2000" baseline="-30000" dirty="0" err="1">
                <a:latin typeface="Times New Roman" panose="02020603050405020304" pitchFamily="18" charset="0"/>
                <a:cs typeface="Times New Roman" panose="02020603050405020304" pitchFamily="18" charset="0"/>
              </a:rPr>
              <a:t>im</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因此平均电流 </a:t>
            </a:r>
          </a:p>
        </p:txBody>
      </p:sp>
      <p:graphicFrame>
        <p:nvGraphicFramePr>
          <p:cNvPr id="19" name="Object 23">
            <a:extLst>
              <a:ext uri="{FF2B5EF4-FFF2-40B4-BE49-F238E27FC236}">
                <a16:creationId xmlns="" xmlns:a16="http://schemas.microsoft.com/office/drawing/2014/main" id="{752E6036-00C0-B1DD-78F3-5F5A00FB9689}"/>
              </a:ext>
            </a:extLst>
          </p:cNvPr>
          <p:cNvGraphicFramePr>
            <a:graphicFrameLocks/>
          </p:cNvGraphicFramePr>
          <p:nvPr>
            <p:extLst>
              <p:ext uri="{D42A27DB-BD31-4B8C-83A1-F6EECF244321}">
                <p14:modId xmlns:p14="http://schemas.microsoft.com/office/powerpoint/2010/main" val="4290811464"/>
              </p:ext>
            </p:extLst>
          </p:nvPr>
        </p:nvGraphicFramePr>
        <p:xfrm>
          <a:off x="5675532" y="3972410"/>
          <a:ext cx="1752600" cy="403225"/>
        </p:xfrm>
        <a:graphic>
          <a:graphicData uri="http://schemas.openxmlformats.org/presentationml/2006/ole">
            <mc:AlternateContent xmlns:mc="http://schemas.openxmlformats.org/markup-compatibility/2006">
              <mc:Choice xmlns:v="urn:schemas-microsoft-com:vml" Requires="v">
                <p:oleObj spid="_x0000_s188488" r:id="rId11" imgW="863225" imgH="203112" progId="Equation.3">
                  <p:embed/>
                </p:oleObj>
              </mc:Choice>
              <mc:Fallback>
                <p:oleObj r:id="rId11" imgW="863225" imgH="203112" progId="Equation.3">
                  <p:embed/>
                  <p:pic>
                    <p:nvPicPr>
                      <p:cNvPr id="0" name=""/>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675532" y="3972410"/>
                        <a:ext cx="1752600"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0" name="Object 8">
            <a:extLst>
              <a:ext uri="{FF2B5EF4-FFF2-40B4-BE49-F238E27FC236}">
                <a16:creationId xmlns="" xmlns:a16="http://schemas.microsoft.com/office/drawing/2014/main" id="{449019B1-181E-7EB9-7038-40AC09D00171}"/>
              </a:ext>
            </a:extLst>
          </p:cNvPr>
          <p:cNvGraphicFramePr>
            <a:graphicFrameLocks/>
          </p:cNvGraphicFramePr>
          <p:nvPr>
            <p:extLst>
              <p:ext uri="{D42A27DB-BD31-4B8C-83A1-F6EECF244321}">
                <p14:modId xmlns:p14="http://schemas.microsoft.com/office/powerpoint/2010/main" val="4001275237"/>
              </p:ext>
            </p:extLst>
          </p:nvPr>
        </p:nvGraphicFramePr>
        <p:xfrm>
          <a:off x="4716265" y="1122299"/>
          <a:ext cx="2519363" cy="1531938"/>
        </p:xfrm>
        <a:graphic>
          <a:graphicData uri="http://schemas.openxmlformats.org/presentationml/2006/ole">
            <mc:AlternateContent xmlns:mc="http://schemas.openxmlformats.org/markup-compatibility/2006">
              <mc:Choice xmlns:v="urn:schemas-microsoft-com:vml" Requires="v">
                <p:oleObj spid="_x0000_s188489" r:id="rId13" imgW="2612520" imgH="1343880" progId="Word.Picture.8">
                  <p:embed/>
                </p:oleObj>
              </mc:Choice>
              <mc:Fallback>
                <p:oleObj r:id="rId13" imgW="2612520" imgH="1343880" progId="Word.Picture.8">
                  <p:embed/>
                  <p:pic>
                    <p:nvPicPr>
                      <p:cNvPr id="0" name=""/>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716265" y="1122299"/>
                        <a:ext cx="2519363" cy="153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93049279"/>
      </p:ext>
    </p:extLst>
  </p:cSld>
  <p:clrMapOvr>
    <a:masterClrMapping/>
  </p:clrMapOvr>
  <p:timing>
    <p:tnLst>
      <p:par>
        <p:cTn id="1" dur="indefinite" restart="never" nodeType="tmRoot"/>
      </p:par>
    </p:tnLst>
  </p:timing>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239</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5"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6.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振幅调制</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与</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解调</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 name="Rectangle 6">
            <a:extLst>
              <a:ext uri="{FF2B5EF4-FFF2-40B4-BE49-F238E27FC236}">
                <a16:creationId xmlns="" xmlns:a16="http://schemas.microsoft.com/office/drawing/2014/main" id="{DD7E39D6-4392-20FF-B92E-24C417D03F11}"/>
              </a:ext>
            </a:extLst>
          </p:cNvPr>
          <p:cNvSpPr>
            <a:spLocks noChangeArrowheads="1"/>
          </p:cNvSpPr>
          <p:nvPr/>
        </p:nvSpPr>
        <p:spPr bwMode="auto">
          <a:xfrm>
            <a:off x="292534" y="1294162"/>
            <a:ext cx="489743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000" dirty="0">
                <a:latin typeface="Times New Roman" panose="02020603050405020304" pitchFamily="18" charset="0"/>
                <a:cs typeface="Times New Roman" panose="02020603050405020304" pitchFamily="18" charset="0"/>
              </a:rPr>
              <a:t>3) </a:t>
            </a:r>
            <a:r>
              <a:rPr lang="zh-CN" altLang="zh-CN" sz="2000" dirty="0">
                <a:latin typeface="Times New Roman" panose="02020603050405020304" pitchFamily="18" charset="0"/>
                <a:cs typeface="Times New Roman" panose="02020603050405020304" pitchFamily="18" charset="0"/>
              </a:rPr>
              <a:t>失真</a:t>
            </a:r>
            <a:endParaRPr lang="zh-CN" altLang="en-US" sz="2000" dirty="0">
              <a:latin typeface="Times New Roman" panose="02020603050405020304" pitchFamily="18" charset="0"/>
              <a:cs typeface="Times New Roman" panose="02020603050405020304" pitchFamily="18" charset="0"/>
            </a:endParaRPr>
          </a:p>
        </p:txBody>
      </p:sp>
      <p:sp>
        <p:nvSpPr>
          <p:cNvPr id="7" name="Rectangle 8">
            <a:extLst>
              <a:ext uri="{FF2B5EF4-FFF2-40B4-BE49-F238E27FC236}">
                <a16:creationId xmlns="" xmlns:a16="http://schemas.microsoft.com/office/drawing/2014/main" id="{1AC7246C-00C1-E891-F002-C12CBC688BD8}"/>
              </a:ext>
            </a:extLst>
          </p:cNvPr>
          <p:cNvSpPr>
            <a:spLocks noChangeArrowheads="1"/>
          </p:cNvSpPr>
          <p:nvPr/>
        </p:nvSpPr>
        <p:spPr bwMode="auto">
          <a:xfrm>
            <a:off x="132659" y="1756927"/>
            <a:ext cx="8857900" cy="384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1900" dirty="0">
                <a:latin typeface="Times New Roman" panose="02020603050405020304" pitchFamily="18" charset="0"/>
                <a:cs typeface="Times New Roman" panose="02020603050405020304" pitchFamily="18" charset="0"/>
              </a:rPr>
              <a:t>产生的失真主要有</a:t>
            </a:r>
            <a:r>
              <a:rPr lang="zh-CN" altLang="en-US" sz="1900" dirty="0" smtClean="0">
                <a:latin typeface="Times New Roman" panose="02020603050405020304" pitchFamily="18" charset="0"/>
                <a:cs typeface="Times New Roman" panose="02020603050405020304" pitchFamily="18" charset="0"/>
              </a:rPr>
              <a:t>：①</a:t>
            </a:r>
            <a:r>
              <a:rPr lang="zh-CN" altLang="en-US" sz="1900" dirty="0">
                <a:latin typeface="Times New Roman" panose="02020603050405020304" pitchFamily="18" charset="0"/>
                <a:cs typeface="Times New Roman" panose="02020603050405020304" pitchFamily="18" charset="0"/>
              </a:rPr>
              <a:t>惰性失真；②负峰切割失真；③非线性失真；④频率失真。</a:t>
            </a:r>
          </a:p>
        </p:txBody>
      </p:sp>
      <p:sp>
        <p:nvSpPr>
          <p:cNvPr id="8" name="Rectangle 22">
            <a:extLst>
              <a:ext uri="{FF2B5EF4-FFF2-40B4-BE49-F238E27FC236}">
                <a16:creationId xmlns="" xmlns:a16="http://schemas.microsoft.com/office/drawing/2014/main" id="{C9F988A8-B4F6-F2F5-1016-96CFEDEA15EE}"/>
              </a:ext>
            </a:extLst>
          </p:cNvPr>
          <p:cNvSpPr>
            <a:spLocks noChangeArrowheads="1"/>
          </p:cNvSpPr>
          <p:nvPr/>
        </p:nvSpPr>
        <p:spPr bwMode="auto">
          <a:xfrm>
            <a:off x="132659" y="2147593"/>
            <a:ext cx="4332288"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a:lnSpc>
                <a:spcPct val="110000"/>
              </a:lnSpc>
              <a:spcBef>
                <a:spcPct val="50000"/>
              </a:spcBef>
            </a:pPr>
            <a:r>
              <a:rPr lang="zh-CN" altLang="en-US" sz="2000" dirty="0">
                <a:latin typeface="Times New Roman" panose="02020603050405020304" pitchFamily="18" charset="0"/>
                <a:cs typeface="Times New Roman" panose="02020603050405020304" pitchFamily="18" charset="0"/>
              </a:rPr>
              <a:t> ①惰性失真(对角线切割失真)</a:t>
            </a:r>
          </a:p>
        </p:txBody>
      </p:sp>
      <p:sp>
        <p:nvSpPr>
          <p:cNvPr id="9" name="Rectangle 21">
            <a:extLst>
              <a:ext uri="{FF2B5EF4-FFF2-40B4-BE49-F238E27FC236}">
                <a16:creationId xmlns="" xmlns:a16="http://schemas.microsoft.com/office/drawing/2014/main" id="{3EA9B233-55D3-D257-7986-5FD23B1B5511}"/>
              </a:ext>
            </a:extLst>
          </p:cNvPr>
          <p:cNvSpPr>
            <a:spLocks noChangeArrowheads="1"/>
          </p:cNvSpPr>
          <p:nvPr/>
        </p:nvSpPr>
        <p:spPr bwMode="auto">
          <a:xfrm>
            <a:off x="166677" y="2574756"/>
            <a:ext cx="4949018" cy="981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p>
            <a:pPr algn="just">
              <a:lnSpc>
                <a:spcPct val="110000"/>
              </a:lnSpc>
              <a:spcBef>
                <a:spcPct val="20000"/>
              </a:spcBef>
            </a:pPr>
            <a:r>
              <a:rPr lang="zh-CN" altLang="en-US" dirty="0">
                <a:latin typeface="Times New Roman" panose="02020603050405020304" pitchFamily="18" charset="0"/>
                <a:cs typeface="Times New Roman" panose="02020603050405020304" pitchFamily="18" charset="0"/>
              </a:rPr>
              <a:t>如果检波电路的时间常数</a:t>
            </a:r>
            <a:r>
              <a:rPr lang="en-US" altLang="zh-CN" i="1" dirty="0">
                <a:latin typeface="Times New Roman" panose="02020603050405020304" pitchFamily="18" charset="0"/>
                <a:cs typeface="Times New Roman" panose="02020603050405020304" pitchFamily="18" charset="0"/>
              </a:rPr>
              <a:t>RC</a:t>
            </a:r>
            <a:r>
              <a:rPr lang="zh-CN" altLang="en-US" dirty="0">
                <a:latin typeface="Times New Roman" panose="02020603050405020304" pitchFamily="18" charset="0"/>
                <a:cs typeface="Times New Roman" panose="02020603050405020304" pitchFamily="18" charset="0"/>
              </a:rPr>
              <a:t>太大，当调幅波包络朝较低值变化时，电容上的电荷来不及释放以跟踪其变化，所造成的失真称作惰性失真。</a:t>
            </a:r>
          </a:p>
        </p:txBody>
      </p:sp>
      <p:sp>
        <p:nvSpPr>
          <p:cNvPr id="11" name="Text Box 9">
            <a:extLst>
              <a:ext uri="{FF2B5EF4-FFF2-40B4-BE49-F238E27FC236}">
                <a16:creationId xmlns="" xmlns:a16="http://schemas.microsoft.com/office/drawing/2014/main" id="{78207CAB-00DF-6832-AAC6-94E467B3FB58}"/>
              </a:ext>
            </a:extLst>
          </p:cNvPr>
          <p:cNvSpPr txBox="1">
            <a:spLocks noChangeArrowheads="1"/>
          </p:cNvSpPr>
          <p:nvPr/>
        </p:nvSpPr>
        <p:spPr bwMode="auto">
          <a:xfrm>
            <a:off x="166677" y="3599686"/>
            <a:ext cx="4848788"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dirty="0">
                <a:solidFill>
                  <a:schemeClr val="accent2"/>
                </a:solidFill>
                <a:latin typeface="Times New Roman" panose="02020603050405020304" pitchFamily="18" charset="0"/>
                <a:cs typeface="Times New Roman" panose="02020603050405020304" pitchFamily="18" charset="0"/>
              </a:rPr>
              <a:t>原因: </a:t>
            </a:r>
            <a:r>
              <a:rPr lang="zh-CN" altLang="en-US" dirty="0">
                <a:solidFill>
                  <a:schemeClr val="tx1"/>
                </a:solidFill>
                <a:latin typeface="Times New Roman" panose="02020603050405020304" pitchFamily="18" charset="0"/>
                <a:cs typeface="Times New Roman" panose="02020603050405020304" pitchFamily="18" charset="0"/>
              </a:rPr>
              <a:t>由于负载电阻</a:t>
            </a:r>
            <a:r>
              <a:rPr lang="en-US" altLang="zh-CN" dirty="0">
                <a:solidFill>
                  <a:schemeClr val="tx1"/>
                </a:solidFill>
                <a:latin typeface="Times New Roman" panose="02020603050405020304" pitchFamily="18" charset="0"/>
                <a:cs typeface="Times New Roman" panose="02020603050405020304" pitchFamily="18" charset="0"/>
              </a:rPr>
              <a:t>R</a:t>
            </a:r>
            <a:r>
              <a:rPr lang="zh-CN" altLang="en-US" dirty="0">
                <a:solidFill>
                  <a:schemeClr val="tx1"/>
                </a:solidFill>
                <a:latin typeface="Times New Roman" panose="02020603050405020304" pitchFamily="18" charset="0"/>
                <a:cs typeface="Times New Roman" panose="02020603050405020304" pitchFamily="18" charset="0"/>
              </a:rPr>
              <a:t>与负载电容</a:t>
            </a:r>
            <a:r>
              <a:rPr lang="en-US" altLang="zh-CN" dirty="0">
                <a:solidFill>
                  <a:schemeClr val="tx1"/>
                </a:solidFill>
                <a:latin typeface="Times New Roman" panose="02020603050405020304" pitchFamily="18" charset="0"/>
                <a:cs typeface="Times New Roman" panose="02020603050405020304" pitchFamily="18" charset="0"/>
              </a:rPr>
              <a:t>C</a:t>
            </a:r>
            <a:r>
              <a:rPr lang="zh-CN" altLang="en-US" dirty="0">
                <a:solidFill>
                  <a:schemeClr val="tx1"/>
                </a:solidFill>
                <a:latin typeface="Times New Roman" panose="02020603050405020304" pitchFamily="18" charset="0"/>
                <a:cs typeface="Times New Roman" panose="02020603050405020304" pitchFamily="18" charset="0"/>
              </a:rPr>
              <a:t>的时间常数</a:t>
            </a:r>
            <a:r>
              <a:rPr lang="en-US" altLang="zh-CN" dirty="0">
                <a:solidFill>
                  <a:schemeClr val="tx1"/>
                </a:solidFill>
                <a:latin typeface="Times New Roman" panose="02020603050405020304" pitchFamily="18" charset="0"/>
                <a:cs typeface="Times New Roman" panose="02020603050405020304" pitchFamily="18" charset="0"/>
              </a:rPr>
              <a:t>RC</a:t>
            </a:r>
            <a:r>
              <a:rPr lang="zh-CN" altLang="en-US" dirty="0">
                <a:solidFill>
                  <a:schemeClr val="tx1"/>
                </a:solidFill>
                <a:latin typeface="Times New Roman" panose="02020603050405020304" pitchFamily="18" charset="0"/>
                <a:cs typeface="Times New Roman" panose="02020603050405020304" pitchFamily="18" charset="0"/>
              </a:rPr>
              <a:t>太大所引起的。这时电容 </a:t>
            </a:r>
            <a:r>
              <a:rPr lang="en-US" altLang="zh-CN" dirty="0">
                <a:solidFill>
                  <a:schemeClr val="tx1"/>
                </a:solidFill>
                <a:latin typeface="Times New Roman" panose="02020603050405020304" pitchFamily="18" charset="0"/>
                <a:cs typeface="Times New Roman" panose="02020603050405020304" pitchFamily="18" charset="0"/>
              </a:rPr>
              <a:t>C</a:t>
            </a:r>
            <a:r>
              <a:rPr lang="zh-CN" altLang="en-US" dirty="0">
                <a:solidFill>
                  <a:schemeClr val="tx1"/>
                </a:solidFill>
                <a:latin typeface="Times New Roman" panose="02020603050405020304" pitchFamily="18" charset="0"/>
                <a:cs typeface="Times New Roman" panose="02020603050405020304" pitchFamily="18" charset="0"/>
              </a:rPr>
              <a:t>上的电荷不能很快地随调幅波包络变化</a:t>
            </a:r>
            <a:r>
              <a:rPr lang="en-US" altLang="zh-CN" dirty="0">
                <a:solidFill>
                  <a:schemeClr val="tx1"/>
                </a:solidFill>
                <a:latin typeface="Times New Roman" panose="02020603050405020304" pitchFamily="18" charset="0"/>
                <a:cs typeface="Times New Roman" panose="02020603050405020304" pitchFamily="18" charset="0"/>
              </a:rPr>
              <a:t>,</a:t>
            </a:r>
            <a:r>
              <a:rPr lang="zh-CN" altLang="en-US" dirty="0">
                <a:solidFill>
                  <a:schemeClr val="tx1"/>
                </a:solidFill>
                <a:latin typeface="Times New Roman" panose="02020603050405020304" pitchFamily="18" charset="0"/>
                <a:cs typeface="Times New Roman" panose="02020603050405020304" pitchFamily="18" charset="0"/>
              </a:rPr>
              <a:t>从而产生失真。</a:t>
            </a:r>
          </a:p>
        </p:txBody>
      </p:sp>
      <p:pic>
        <p:nvPicPr>
          <p:cNvPr id="12" name="图片 11">
            <a:extLst>
              <a:ext uri="{FF2B5EF4-FFF2-40B4-BE49-F238E27FC236}">
                <a16:creationId xmlns="" xmlns:a16="http://schemas.microsoft.com/office/drawing/2014/main" id="{506DF02C-2260-2295-969B-D303BE849916}"/>
              </a:ext>
            </a:extLst>
          </p:cNvPr>
          <p:cNvPicPr>
            <a:picLocks noChangeAspect="1"/>
          </p:cNvPicPr>
          <p:nvPr/>
        </p:nvPicPr>
        <p:blipFill>
          <a:blip r:embed="rId3"/>
          <a:stretch>
            <a:fillRect/>
          </a:stretch>
        </p:blipFill>
        <p:spPr>
          <a:xfrm>
            <a:off x="5115695" y="2402711"/>
            <a:ext cx="3556208" cy="1983746"/>
          </a:xfrm>
          <a:prstGeom prst="rect">
            <a:avLst/>
          </a:prstGeom>
        </p:spPr>
      </p:pic>
      <p:sp>
        <p:nvSpPr>
          <p:cNvPr id="13" name="Text Box 8">
            <a:extLst>
              <a:ext uri="{FF2B5EF4-FFF2-40B4-BE49-F238E27FC236}">
                <a16:creationId xmlns="" xmlns:a16="http://schemas.microsoft.com/office/drawing/2014/main" id="{0AE86C4F-7709-6ED3-EC6E-5007F356DB5E}"/>
              </a:ext>
            </a:extLst>
          </p:cNvPr>
          <p:cNvSpPr txBox="1">
            <a:spLocks noChangeArrowheads="1"/>
          </p:cNvSpPr>
          <p:nvPr/>
        </p:nvSpPr>
        <p:spPr bwMode="auto">
          <a:xfrm>
            <a:off x="7937158" y="3303792"/>
            <a:ext cx="11079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dirty="0">
                <a:latin typeface="+mn-ea"/>
                <a:ea typeface="+mn-ea"/>
              </a:rPr>
              <a:t>惰性失真</a:t>
            </a:r>
          </a:p>
        </p:txBody>
      </p:sp>
      <p:sp>
        <p:nvSpPr>
          <p:cNvPr id="14" name="Rectangle 19">
            <a:extLst>
              <a:ext uri="{FF2B5EF4-FFF2-40B4-BE49-F238E27FC236}">
                <a16:creationId xmlns="" xmlns:a16="http://schemas.microsoft.com/office/drawing/2014/main" id="{09480BAF-86D9-B76C-6F08-888BDBEAD804}"/>
              </a:ext>
            </a:extLst>
          </p:cNvPr>
          <p:cNvSpPr>
            <a:spLocks noChangeArrowheads="1"/>
          </p:cNvSpPr>
          <p:nvPr/>
        </p:nvSpPr>
        <p:spPr bwMode="auto">
          <a:xfrm>
            <a:off x="5432353" y="2402711"/>
            <a:ext cx="12954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dirty="0">
                <a:latin typeface="+mn-ea"/>
                <a:ea typeface="+mn-ea"/>
              </a:rPr>
              <a:t>现象:</a:t>
            </a:r>
          </a:p>
        </p:txBody>
      </p:sp>
      <p:sp>
        <p:nvSpPr>
          <p:cNvPr id="15" name="Text Box 10">
            <a:extLst>
              <a:ext uri="{FF2B5EF4-FFF2-40B4-BE49-F238E27FC236}">
                <a16:creationId xmlns="" xmlns:a16="http://schemas.microsoft.com/office/drawing/2014/main" id="{0EA4ADAE-8800-0A9B-22A8-6778987532BF}"/>
              </a:ext>
            </a:extLst>
          </p:cNvPr>
          <p:cNvSpPr txBox="1">
            <a:spLocks noChangeArrowheads="1"/>
          </p:cNvSpPr>
          <p:nvPr/>
        </p:nvSpPr>
        <p:spPr bwMode="auto">
          <a:xfrm>
            <a:off x="183259" y="4647521"/>
            <a:ext cx="88073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dirty="0">
                <a:solidFill>
                  <a:schemeClr val="accent2"/>
                </a:solidFill>
                <a:latin typeface="+mn-ea"/>
                <a:ea typeface="+mn-ea"/>
              </a:rPr>
              <a:t>不产生失真的条件:  </a:t>
            </a:r>
            <a:r>
              <a:rPr lang="zh-CN" altLang="en-US" dirty="0">
                <a:solidFill>
                  <a:schemeClr val="tx1"/>
                </a:solidFill>
                <a:latin typeface="+mn-ea"/>
                <a:ea typeface="+mn-ea"/>
              </a:rPr>
              <a:t>为了防止惰性失真，只要适当选择</a:t>
            </a:r>
            <a:r>
              <a:rPr lang="en-US" altLang="zh-CN" dirty="0">
                <a:solidFill>
                  <a:schemeClr val="tx1"/>
                </a:solidFill>
                <a:latin typeface="+mn-ea"/>
                <a:ea typeface="+mn-ea"/>
              </a:rPr>
              <a:t>RC</a:t>
            </a:r>
            <a:r>
              <a:rPr lang="zh-CN" altLang="en-US" dirty="0">
                <a:solidFill>
                  <a:schemeClr val="tx1"/>
                </a:solidFill>
                <a:latin typeface="+mn-ea"/>
                <a:ea typeface="+mn-ea"/>
              </a:rPr>
              <a:t>的数值，使检波器能跟上高频信号电压包络的变化就行了。</a:t>
            </a:r>
          </a:p>
        </p:txBody>
      </p:sp>
      <p:graphicFrame>
        <p:nvGraphicFramePr>
          <p:cNvPr id="16" name="Object 17">
            <a:extLst>
              <a:ext uri="{FF2B5EF4-FFF2-40B4-BE49-F238E27FC236}">
                <a16:creationId xmlns="" xmlns:a16="http://schemas.microsoft.com/office/drawing/2014/main" id="{83F341E2-F3FB-111E-1128-54562C4C5576}"/>
              </a:ext>
            </a:extLst>
          </p:cNvPr>
          <p:cNvGraphicFramePr>
            <a:graphicFrameLocks/>
          </p:cNvGraphicFramePr>
          <p:nvPr>
            <p:extLst>
              <p:ext uri="{D42A27DB-BD31-4B8C-83A1-F6EECF244321}">
                <p14:modId xmlns:p14="http://schemas.microsoft.com/office/powerpoint/2010/main" val="1766025804"/>
              </p:ext>
            </p:extLst>
          </p:nvPr>
        </p:nvGraphicFramePr>
        <p:xfrm>
          <a:off x="2724967" y="5364053"/>
          <a:ext cx="2041525" cy="838200"/>
        </p:xfrm>
        <a:graphic>
          <a:graphicData uri="http://schemas.openxmlformats.org/presentationml/2006/ole">
            <mc:AlternateContent xmlns:mc="http://schemas.openxmlformats.org/markup-compatibility/2006">
              <mc:Choice xmlns:v="urn:schemas-microsoft-com:vml" Requires="v">
                <p:oleObj spid="_x0000_s189452" r:id="rId4" imgW="1401480" imgH="526320" progId="Equation.3">
                  <p:embed/>
                </p:oleObj>
              </mc:Choice>
              <mc:Fallback>
                <p:oleObj r:id="rId4" imgW="1401480" imgH="526320" progId="Equation.3">
                  <p:embed/>
                  <p:pic>
                    <p:nvPicPr>
                      <p:cNvPr id="0" name=""/>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24967" y="5364053"/>
                        <a:ext cx="204152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7" name="Text Box 18">
            <a:extLst>
              <a:ext uri="{FF2B5EF4-FFF2-40B4-BE49-F238E27FC236}">
                <a16:creationId xmlns="" xmlns:a16="http://schemas.microsoft.com/office/drawing/2014/main" id="{103F5BEC-6C35-6990-5F82-FE520007D2ED}"/>
              </a:ext>
            </a:extLst>
          </p:cNvPr>
          <p:cNvSpPr txBox="1">
            <a:spLocks noChangeArrowheads="1"/>
          </p:cNvSpPr>
          <p:nvPr/>
        </p:nvSpPr>
        <p:spPr bwMode="auto">
          <a:xfrm>
            <a:off x="4998882" y="5664071"/>
            <a:ext cx="354456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dirty="0">
                <a:solidFill>
                  <a:schemeClr val="tx1"/>
                </a:solidFill>
                <a:latin typeface="Times New Roman" panose="02020603050405020304" pitchFamily="18" charset="0"/>
                <a:cs typeface="Times New Roman" panose="02020603050405020304" pitchFamily="18" charset="0"/>
              </a:rPr>
              <a:t>在工程上可按 </a:t>
            </a:r>
            <a:r>
              <a:rPr lang="zh-CN" altLang="en-US"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baseline="-25000" dirty="0">
                <a:solidFill>
                  <a:schemeClr val="tx1"/>
                </a:solidFill>
                <a:latin typeface="Times New Roman" panose="02020603050405020304" pitchFamily="18" charset="0"/>
                <a:cs typeface="Times New Roman" panose="02020603050405020304" pitchFamily="18" charset="0"/>
              </a:rPr>
              <a:t>max</a:t>
            </a:r>
            <a:r>
              <a:rPr lang="en-US" altLang="zh-CN" dirty="0">
                <a:solidFill>
                  <a:schemeClr val="tx1"/>
                </a:solidFill>
                <a:latin typeface="Times New Roman" panose="02020603050405020304" pitchFamily="18" charset="0"/>
                <a:cs typeface="Times New Roman" panose="02020603050405020304" pitchFamily="18" charset="0"/>
              </a:rPr>
              <a:t>RC≤1.5 </a:t>
            </a:r>
            <a:r>
              <a:rPr lang="zh-CN" altLang="en-US" dirty="0">
                <a:solidFill>
                  <a:schemeClr val="tx1"/>
                </a:solidFill>
                <a:latin typeface="Times New Roman" panose="02020603050405020304" pitchFamily="18" charset="0"/>
                <a:cs typeface="Times New Roman" panose="02020603050405020304" pitchFamily="18" charset="0"/>
              </a:rPr>
              <a:t>计算。</a:t>
            </a:r>
          </a:p>
        </p:txBody>
      </p:sp>
      <p:sp>
        <p:nvSpPr>
          <p:cNvPr id="18" name="矩形 17">
            <a:extLst>
              <a:ext uri="{FF2B5EF4-FFF2-40B4-BE49-F238E27FC236}">
                <a16:creationId xmlns="" xmlns:a16="http://schemas.microsoft.com/office/drawing/2014/main" id="{42052B28-B753-5C53-7021-15ADFF9A883D}"/>
              </a:ext>
            </a:extLst>
          </p:cNvPr>
          <p:cNvSpPr>
            <a:spLocks noChangeArrowheads="1"/>
          </p:cNvSpPr>
          <p:nvPr/>
        </p:nvSpPr>
        <p:spPr bwMode="auto">
          <a:xfrm>
            <a:off x="250458" y="5584192"/>
            <a:ext cx="23647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smtClean="0">
                <a:solidFill>
                  <a:schemeClr val="accent2"/>
                </a:solidFill>
                <a:latin typeface="+mn-ea"/>
                <a:ea typeface="+mn-ea"/>
              </a:rPr>
              <a:t>不</a:t>
            </a:r>
            <a:r>
              <a:rPr lang="zh-CN" altLang="en-US" sz="2000" dirty="0">
                <a:solidFill>
                  <a:schemeClr val="accent2"/>
                </a:solidFill>
                <a:latin typeface="+mn-ea"/>
                <a:ea typeface="+mn-ea"/>
              </a:rPr>
              <a:t>产生失真的条件:</a:t>
            </a:r>
          </a:p>
        </p:txBody>
      </p:sp>
    </p:spTree>
    <p:extLst>
      <p:ext uri="{BB962C8B-B14F-4D97-AF65-F5344CB8AC3E}">
        <p14:creationId xmlns:p14="http://schemas.microsoft.com/office/powerpoint/2010/main" val="4008903565"/>
      </p:ext>
    </p:extLst>
  </p:cSld>
  <p:clrMapOvr>
    <a:masterClrMapping/>
  </p:clrMapOvr>
  <p:timing>
    <p:tnLst>
      <p:par>
        <p:cTn id="1" dur="indefinite" restart="never" nodeType="tmRoot"/>
      </p:par>
    </p:tnLst>
  </p:timing>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240</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5"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6.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振幅调制</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与</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解调</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 name="Text Box 3">
            <a:extLst>
              <a:ext uri="{FF2B5EF4-FFF2-40B4-BE49-F238E27FC236}">
                <a16:creationId xmlns="" xmlns:a16="http://schemas.microsoft.com/office/drawing/2014/main" id="{03871D09-FFF7-B835-B789-DEF8759CAA89}"/>
              </a:ext>
            </a:extLst>
          </p:cNvPr>
          <p:cNvSpPr txBox="1">
            <a:spLocks noChangeArrowheads="1"/>
          </p:cNvSpPr>
          <p:nvPr/>
        </p:nvSpPr>
        <p:spPr bwMode="auto">
          <a:xfrm>
            <a:off x="342900" y="1294210"/>
            <a:ext cx="379943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dirty="0">
                <a:solidFill>
                  <a:srgbClr val="FF0000"/>
                </a:solidFill>
                <a:latin typeface="+mn-ea"/>
                <a:ea typeface="+mn-ea"/>
              </a:rPr>
              <a:t>②</a:t>
            </a:r>
            <a:r>
              <a:rPr lang="zh-CN" altLang="en-US" sz="2000" dirty="0">
                <a:solidFill>
                  <a:srgbClr val="FF0000"/>
                </a:solidFill>
                <a:latin typeface="+mn-ea"/>
                <a:ea typeface="+mn-ea"/>
              </a:rPr>
              <a:t>负峰切割失真</a:t>
            </a:r>
            <a:r>
              <a:rPr lang="en-US" altLang="zh-CN" sz="2000" dirty="0">
                <a:solidFill>
                  <a:srgbClr val="FF0000"/>
                </a:solidFill>
                <a:latin typeface="+mn-ea"/>
                <a:ea typeface="+mn-ea"/>
              </a:rPr>
              <a:t>(</a:t>
            </a:r>
            <a:r>
              <a:rPr lang="zh-CN" altLang="en-US" sz="2000" dirty="0">
                <a:solidFill>
                  <a:srgbClr val="FF0000"/>
                </a:solidFill>
                <a:latin typeface="+mn-ea"/>
                <a:ea typeface="+mn-ea"/>
              </a:rPr>
              <a:t>底部切割失真</a:t>
            </a:r>
            <a:r>
              <a:rPr lang="en-US" altLang="zh-CN" sz="2000" dirty="0">
                <a:solidFill>
                  <a:srgbClr val="FF0000"/>
                </a:solidFill>
                <a:latin typeface="+mn-ea"/>
                <a:ea typeface="+mn-ea"/>
              </a:rPr>
              <a:t>)</a:t>
            </a:r>
          </a:p>
        </p:txBody>
      </p:sp>
      <p:sp>
        <p:nvSpPr>
          <p:cNvPr id="7" name="Text Box 4">
            <a:extLst>
              <a:ext uri="{FF2B5EF4-FFF2-40B4-BE49-F238E27FC236}">
                <a16:creationId xmlns="" xmlns:a16="http://schemas.microsoft.com/office/drawing/2014/main" id="{8D645089-4A15-8867-6DC0-1626F19B8015}"/>
              </a:ext>
            </a:extLst>
          </p:cNvPr>
          <p:cNvSpPr txBox="1">
            <a:spLocks noChangeArrowheads="1"/>
          </p:cNvSpPr>
          <p:nvPr/>
        </p:nvSpPr>
        <p:spPr bwMode="auto">
          <a:xfrm>
            <a:off x="266513" y="1728368"/>
            <a:ext cx="4540901"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1900" dirty="0">
                <a:solidFill>
                  <a:schemeClr val="tx1"/>
                </a:solidFill>
                <a:latin typeface="Times New Roman" panose="02020603050405020304" pitchFamily="18" charset="0"/>
                <a:cs typeface="Times New Roman" panose="02020603050405020304" pitchFamily="18" charset="0"/>
              </a:rPr>
              <a:t>检波器输出常用隔直流电容</a:t>
            </a:r>
            <a:r>
              <a:rPr lang="en-US" altLang="zh-CN" sz="1900" dirty="0">
                <a:solidFill>
                  <a:schemeClr val="tx1"/>
                </a:solidFill>
                <a:latin typeface="Times New Roman" panose="02020603050405020304" pitchFamily="18" charset="0"/>
                <a:cs typeface="Times New Roman" panose="02020603050405020304" pitchFamily="18" charset="0"/>
              </a:rPr>
              <a:t>C</a:t>
            </a:r>
            <a:r>
              <a:rPr lang="en-US" altLang="zh-CN" sz="1900" baseline="-25000" dirty="0">
                <a:solidFill>
                  <a:schemeClr val="tx1"/>
                </a:solidFill>
                <a:latin typeface="Times New Roman" panose="02020603050405020304" pitchFamily="18" charset="0"/>
                <a:cs typeface="Times New Roman" panose="02020603050405020304" pitchFamily="18" charset="0"/>
              </a:rPr>
              <a:t>c</a:t>
            </a:r>
            <a:r>
              <a:rPr lang="zh-CN" altLang="en-US" sz="1900" dirty="0">
                <a:solidFill>
                  <a:schemeClr val="tx1"/>
                </a:solidFill>
                <a:latin typeface="Times New Roman" panose="02020603050405020304" pitchFamily="18" charset="0"/>
                <a:cs typeface="Times New Roman" panose="02020603050405020304" pitchFamily="18" charset="0"/>
              </a:rPr>
              <a:t>与下级耦合，如图所示。</a:t>
            </a:r>
          </a:p>
          <a:p>
            <a:r>
              <a:rPr lang="en-US" altLang="zh-CN" sz="1900" i="1" dirty="0" err="1">
                <a:solidFill>
                  <a:schemeClr val="tx1"/>
                </a:solidFill>
                <a:latin typeface="Times New Roman" panose="02020603050405020304" pitchFamily="18" charset="0"/>
                <a:cs typeface="Times New Roman" panose="02020603050405020304" pitchFamily="18" charset="0"/>
              </a:rPr>
              <a:t>R</a:t>
            </a:r>
            <a:r>
              <a:rPr lang="en-US" altLang="zh-CN" sz="1900" baseline="-25000" dirty="0" err="1">
                <a:solidFill>
                  <a:schemeClr val="tx1"/>
                </a:solidFill>
                <a:latin typeface="Times New Roman" panose="02020603050405020304" pitchFamily="18" charset="0"/>
                <a:cs typeface="Times New Roman" panose="02020603050405020304" pitchFamily="18" charset="0"/>
              </a:rPr>
              <a:t>g</a:t>
            </a:r>
            <a:r>
              <a:rPr lang="zh-CN" altLang="en-US" sz="1900" dirty="0">
                <a:solidFill>
                  <a:schemeClr val="tx1"/>
                </a:solidFill>
                <a:latin typeface="Times New Roman" panose="02020603050405020304" pitchFamily="18" charset="0"/>
                <a:cs typeface="Times New Roman" panose="02020603050405020304" pitchFamily="18" charset="0"/>
              </a:rPr>
              <a:t>代表下级电路的输入电阻。</a:t>
            </a:r>
          </a:p>
        </p:txBody>
      </p:sp>
      <p:graphicFrame>
        <p:nvGraphicFramePr>
          <p:cNvPr id="8" name="Object 10">
            <a:extLst>
              <a:ext uri="{FF2B5EF4-FFF2-40B4-BE49-F238E27FC236}">
                <a16:creationId xmlns="" xmlns:a16="http://schemas.microsoft.com/office/drawing/2014/main" id="{3A81B1A9-6513-D640-84D0-B5EA7386429F}"/>
              </a:ext>
            </a:extLst>
          </p:cNvPr>
          <p:cNvGraphicFramePr>
            <a:graphicFrameLocks/>
          </p:cNvGraphicFramePr>
          <p:nvPr>
            <p:extLst>
              <p:ext uri="{D42A27DB-BD31-4B8C-83A1-F6EECF244321}">
                <p14:modId xmlns:p14="http://schemas.microsoft.com/office/powerpoint/2010/main" val="1649769482"/>
              </p:ext>
            </p:extLst>
          </p:nvPr>
        </p:nvGraphicFramePr>
        <p:xfrm>
          <a:off x="4880850" y="1203323"/>
          <a:ext cx="3344012" cy="1494541"/>
        </p:xfrm>
        <a:graphic>
          <a:graphicData uri="http://schemas.openxmlformats.org/presentationml/2006/ole">
            <mc:AlternateContent xmlns:mc="http://schemas.openxmlformats.org/markup-compatibility/2006">
              <mc:Choice xmlns:v="urn:schemas-microsoft-com:vml" Requires="v">
                <p:oleObj spid="_x0000_s190514" r:id="rId3" imgW="2354760" imgH="1310400" progId="Word.Picture.8">
                  <p:embed/>
                </p:oleObj>
              </mc:Choice>
              <mc:Fallback>
                <p:oleObj r:id="rId3" imgW="2354760" imgH="1310400" progId="Word.Picture.8">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80850" y="1203323"/>
                        <a:ext cx="3344012" cy="1494541"/>
                      </a:xfrm>
                      <a:prstGeom prst="rect">
                        <a:avLst/>
                      </a:prstGeom>
                      <a:noFill/>
                      <a:ln>
                        <a:noFill/>
                      </a:ln>
                      <a:extLst/>
                    </p:spPr>
                  </p:pic>
                </p:oleObj>
              </mc:Fallback>
            </mc:AlternateContent>
          </a:graphicData>
        </a:graphic>
      </p:graphicFrame>
      <p:sp>
        <p:nvSpPr>
          <p:cNvPr id="9" name="Text Box 8">
            <a:extLst>
              <a:ext uri="{FF2B5EF4-FFF2-40B4-BE49-F238E27FC236}">
                <a16:creationId xmlns="" xmlns:a16="http://schemas.microsoft.com/office/drawing/2014/main" id="{196AD85C-2404-3889-C8D9-B3FACA1B1D0C}"/>
              </a:ext>
            </a:extLst>
          </p:cNvPr>
          <p:cNvSpPr txBox="1">
            <a:spLocks noChangeArrowheads="1"/>
          </p:cNvSpPr>
          <p:nvPr/>
        </p:nvSpPr>
        <p:spPr bwMode="auto">
          <a:xfrm>
            <a:off x="4733978" y="2605947"/>
            <a:ext cx="399783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dirty="0">
                <a:solidFill>
                  <a:schemeClr val="accent2"/>
                </a:solidFill>
                <a:latin typeface="Times New Roman" panose="02020603050405020304" pitchFamily="18" charset="0"/>
                <a:cs typeface="Times New Roman" panose="02020603050405020304" pitchFamily="18" charset="0"/>
              </a:rPr>
              <a:t>考虑了耦合电容</a:t>
            </a:r>
            <a:r>
              <a:rPr lang="en-US" altLang="zh-CN" dirty="0">
                <a:solidFill>
                  <a:schemeClr val="accent2"/>
                </a:solidFill>
                <a:latin typeface="Times New Roman" panose="02020603050405020304" pitchFamily="18" charset="0"/>
                <a:cs typeface="Times New Roman" panose="02020603050405020304" pitchFamily="18" charset="0"/>
              </a:rPr>
              <a:t>C</a:t>
            </a:r>
            <a:r>
              <a:rPr lang="en-US" altLang="zh-CN" baseline="-25000" dirty="0">
                <a:solidFill>
                  <a:schemeClr val="accent2"/>
                </a:solidFill>
                <a:latin typeface="Times New Roman" panose="02020603050405020304" pitchFamily="18" charset="0"/>
                <a:cs typeface="Times New Roman" panose="02020603050405020304" pitchFamily="18" charset="0"/>
              </a:rPr>
              <a:t>c</a:t>
            </a:r>
            <a:r>
              <a:rPr lang="zh-CN" altLang="en-US" dirty="0">
                <a:solidFill>
                  <a:schemeClr val="accent2"/>
                </a:solidFill>
                <a:latin typeface="Times New Roman" panose="02020603050405020304" pitchFamily="18" charset="0"/>
                <a:cs typeface="Times New Roman" panose="02020603050405020304" pitchFamily="18" charset="0"/>
              </a:rPr>
              <a:t>和低</a:t>
            </a:r>
            <a:r>
              <a:rPr lang="zh-CN" altLang="en-US" dirty="0" smtClean="0">
                <a:solidFill>
                  <a:schemeClr val="accent2"/>
                </a:solidFill>
                <a:latin typeface="Times New Roman" panose="02020603050405020304" pitchFamily="18" charset="0"/>
                <a:cs typeface="Times New Roman" panose="02020603050405020304" pitchFamily="18" charset="0"/>
              </a:rPr>
              <a:t>放输入电阻</a:t>
            </a:r>
            <a:r>
              <a:rPr lang="en-US" altLang="zh-CN" dirty="0" err="1">
                <a:solidFill>
                  <a:schemeClr val="accent2"/>
                </a:solidFill>
                <a:latin typeface="Times New Roman" panose="02020603050405020304" pitchFamily="18" charset="0"/>
                <a:cs typeface="Times New Roman" panose="02020603050405020304" pitchFamily="18" charset="0"/>
              </a:rPr>
              <a:t>R</a:t>
            </a:r>
            <a:r>
              <a:rPr lang="en-US" altLang="zh-CN" baseline="-25000" dirty="0" err="1">
                <a:solidFill>
                  <a:schemeClr val="accent2"/>
                </a:solidFill>
                <a:latin typeface="Times New Roman" panose="02020603050405020304" pitchFamily="18" charset="0"/>
                <a:cs typeface="Times New Roman" panose="02020603050405020304" pitchFamily="18" charset="0"/>
              </a:rPr>
              <a:t>g</a:t>
            </a:r>
            <a:r>
              <a:rPr lang="zh-CN" altLang="en-US" dirty="0">
                <a:solidFill>
                  <a:schemeClr val="accent2"/>
                </a:solidFill>
                <a:latin typeface="Times New Roman" panose="02020603050405020304" pitchFamily="18" charset="0"/>
                <a:cs typeface="Times New Roman" panose="02020603050405020304" pitchFamily="18" charset="0"/>
              </a:rPr>
              <a:t>后的检波电路</a:t>
            </a:r>
          </a:p>
        </p:txBody>
      </p:sp>
      <p:graphicFrame>
        <p:nvGraphicFramePr>
          <p:cNvPr id="91" name="Object 11">
            <a:extLst>
              <a:ext uri="{FF2B5EF4-FFF2-40B4-BE49-F238E27FC236}">
                <a16:creationId xmlns="" xmlns:a16="http://schemas.microsoft.com/office/drawing/2014/main" id="{627B4B01-C188-7AC2-8E94-4A3DF7E89E06}"/>
              </a:ext>
            </a:extLst>
          </p:cNvPr>
          <p:cNvGraphicFramePr>
            <a:graphicFrameLocks/>
          </p:cNvGraphicFramePr>
          <p:nvPr>
            <p:extLst>
              <p:ext uri="{D42A27DB-BD31-4B8C-83A1-F6EECF244321}">
                <p14:modId xmlns:p14="http://schemas.microsoft.com/office/powerpoint/2010/main" val="205675413"/>
              </p:ext>
            </p:extLst>
          </p:nvPr>
        </p:nvGraphicFramePr>
        <p:xfrm>
          <a:off x="4655241" y="3167110"/>
          <a:ext cx="3816350" cy="2147888"/>
        </p:xfrm>
        <a:graphic>
          <a:graphicData uri="http://schemas.openxmlformats.org/presentationml/2006/ole">
            <mc:AlternateContent xmlns:mc="http://schemas.openxmlformats.org/markup-compatibility/2006">
              <mc:Choice xmlns:v="urn:schemas-microsoft-com:vml" Requires="v">
                <p:oleObj spid="_x0000_s190515" r:id="rId5" imgW="2923032" imgH="1399032" progId="Word.Picture.8">
                  <p:embed/>
                </p:oleObj>
              </mc:Choice>
              <mc:Fallback>
                <p:oleObj r:id="rId5" imgW="2923032" imgH="1399032" progId="Word.Picture.8">
                  <p:embed/>
                  <p:pic>
                    <p:nvPicPr>
                      <p:cNvPr id="0" name=""/>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55241" y="3167110"/>
                        <a:ext cx="3816350" cy="2147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2" name="Text Box 6">
            <a:extLst>
              <a:ext uri="{FF2B5EF4-FFF2-40B4-BE49-F238E27FC236}">
                <a16:creationId xmlns="" xmlns:a16="http://schemas.microsoft.com/office/drawing/2014/main" id="{C83451BC-AE24-4EB2-82CB-F98FC1FE8211}"/>
              </a:ext>
            </a:extLst>
          </p:cNvPr>
          <p:cNvSpPr txBox="1">
            <a:spLocks noChangeArrowheads="1"/>
          </p:cNvSpPr>
          <p:nvPr/>
        </p:nvSpPr>
        <p:spPr bwMode="auto">
          <a:xfrm>
            <a:off x="5661061" y="5426886"/>
            <a:ext cx="20313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dirty="0">
                <a:solidFill>
                  <a:schemeClr val="tx1"/>
                </a:solidFill>
                <a:latin typeface="Times New Roman" panose="02020603050405020304" pitchFamily="18" charset="0"/>
                <a:cs typeface="Times New Roman" panose="02020603050405020304" pitchFamily="18" charset="0"/>
              </a:rPr>
              <a:t>负峰切割失真波形</a:t>
            </a:r>
          </a:p>
        </p:txBody>
      </p:sp>
      <p:sp>
        <p:nvSpPr>
          <p:cNvPr id="93" name="Rectangle 2">
            <a:extLst>
              <a:ext uri="{FF2B5EF4-FFF2-40B4-BE49-F238E27FC236}">
                <a16:creationId xmlns="" xmlns:a16="http://schemas.microsoft.com/office/drawing/2014/main" id="{C153B075-B401-20A9-9FBB-6D9D8752DD37}"/>
              </a:ext>
            </a:extLst>
          </p:cNvPr>
          <p:cNvSpPr>
            <a:spLocks noChangeArrowheads="1"/>
          </p:cNvSpPr>
          <p:nvPr/>
        </p:nvSpPr>
        <p:spPr bwMode="auto">
          <a:xfrm>
            <a:off x="4950610" y="3230007"/>
            <a:ext cx="71045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dirty="0">
                <a:solidFill>
                  <a:schemeClr val="tx1"/>
                </a:solidFill>
                <a:latin typeface="Times New Roman" panose="02020603050405020304" pitchFamily="18" charset="0"/>
                <a:cs typeface="Times New Roman" panose="02020603050405020304" pitchFamily="18" charset="0"/>
              </a:rPr>
              <a:t>现象:</a:t>
            </a:r>
          </a:p>
        </p:txBody>
      </p:sp>
      <p:sp>
        <p:nvSpPr>
          <p:cNvPr id="94" name="Freeform 5">
            <a:extLst>
              <a:ext uri="{FF2B5EF4-FFF2-40B4-BE49-F238E27FC236}">
                <a16:creationId xmlns="" xmlns:a16="http://schemas.microsoft.com/office/drawing/2014/main" id="{4DAE21E1-3AF6-70F4-0E70-1FC26725B260}"/>
              </a:ext>
            </a:extLst>
          </p:cNvPr>
          <p:cNvSpPr>
            <a:spLocks noChangeArrowheads="1"/>
          </p:cNvSpPr>
          <p:nvPr/>
        </p:nvSpPr>
        <p:spPr bwMode="auto">
          <a:xfrm>
            <a:off x="6407841" y="4538710"/>
            <a:ext cx="609600" cy="107950"/>
          </a:xfrm>
          <a:custGeom>
            <a:avLst/>
            <a:gdLst>
              <a:gd name="T0" fmla="*/ 0 w 720"/>
              <a:gd name="T1" fmla="*/ 0 h 156"/>
              <a:gd name="T2" fmla="*/ 360 w 720"/>
              <a:gd name="T3" fmla="*/ 156 h 156"/>
              <a:gd name="T4" fmla="*/ 720 w 720"/>
              <a:gd name="T5" fmla="*/ 0 h 156"/>
            </a:gdLst>
            <a:ahLst/>
            <a:cxnLst>
              <a:cxn ang="0">
                <a:pos x="T0" y="T1"/>
              </a:cxn>
              <a:cxn ang="0">
                <a:pos x="T2" y="T3"/>
              </a:cxn>
              <a:cxn ang="0">
                <a:pos x="T4" y="T5"/>
              </a:cxn>
            </a:cxnLst>
            <a:rect l="0" t="0" r="r" b="b"/>
            <a:pathLst>
              <a:path w="720" h="156">
                <a:moveTo>
                  <a:pt x="0" y="0"/>
                </a:moveTo>
                <a:cubicBezTo>
                  <a:pt x="120" y="78"/>
                  <a:pt x="240" y="156"/>
                  <a:pt x="360" y="156"/>
                </a:cubicBezTo>
                <a:cubicBezTo>
                  <a:pt x="480" y="156"/>
                  <a:pt x="600" y="78"/>
                  <a:pt x="720" y="0"/>
                </a:cubicBezTo>
              </a:path>
            </a:pathLst>
          </a:custGeom>
          <a:noFill/>
          <a:ln w="28575">
            <a:solidFill>
              <a:srgbClr val="FF33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900">
              <a:solidFill>
                <a:schemeClr val="tx1"/>
              </a:solidFill>
              <a:latin typeface="Times New Roman" panose="02020603050405020304" pitchFamily="18" charset="0"/>
              <a:cs typeface="Times New Roman" panose="02020603050405020304" pitchFamily="18" charset="0"/>
            </a:endParaRPr>
          </a:p>
        </p:txBody>
      </p:sp>
      <p:sp>
        <p:nvSpPr>
          <p:cNvPr id="95" name="Line 6">
            <a:extLst>
              <a:ext uri="{FF2B5EF4-FFF2-40B4-BE49-F238E27FC236}">
                <a16:creationId xmlns="" xmlns:a16="http://schemas.microsoft.com/office/drawing/2014/main" id="{EE34C4DF-FB24-1B3C-3F13-0D38FDCF8514}"/>
              </a:ext>
            </a:extLst>
          </p:cNvPr>
          <p:cNvSpPr>
            <a:spLocks noChangeShapeType="1"/>
          </p:cNvSpPr>
          <p:nvPr/>
        </p:nvSpPr>
        <p:spPr bwMode="auto">
          <a:xfrm>
            <a:off x="6712641" y="4691110"/>
            <a:ext cx="0" cy="457200"/>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sz="1900">
              <a:solidFill>
                <a:schemeClr val="tx1"/>
              </a:solidFill>
              <a:latin typeface="Times New Roman" panose="02020603050405020304" pitchFamily="18" charset="0"/>
              <a:cs typeface="Times New Roman" panose="02020603050405020304" pitchFamily="18" charset="0"/>
            </a:endParaRPr>
          </a:p>
        </p:txBody>
      </p:sp>
      <p:sp>
        <p:nvSpPr>
          <p:cNvPr id="96" name="Line 7">
            <a:extLst>
              <a:ext uri="{FF2B5EF4-FFF2-40B4-BE49-F238E27FC236}">
                <a16:creationId xmlns="" xmlns:a16="http://schemas.microsoft.com/office/drawing/2014/main" id="{2E42DD06-2BE6-687B-26FA-247B0A4CA5BF}"/>
              </a:ext>
            </a:extLst>
          </p:cNvPr>
          <p:cNvSpPr>
            <a:spLocks noChangeShapeType="1"/>
          </p:cNvSpPr>
          <p:nvPr/>
        </p:nvSpPr>
        <p:spPr bwMode="auto">
          <a:xfrm>
            <a:off x="6712641" y="4691110"/>
            <a:ext cx="1752600" cy="0"/>
          </a:xfrm>
          <a:prstGeom prst="line">
            <a:avLst/>
          </a:prstGeom>
          <a:noFill/>
          <a:ln w="6350">
            <a:solidFill>
              <a:srgbClr val="000000"/>
            </a:solidFill>
            <a:prstDash val="dashDot"/>
            <a:round/>
            <a:headEnd/>
            <a:tailEnd/>
          </a:ln>
          <a:extLst>
            <a:ext uri="{909E8E84-426E-40DD-AFC4-6F175D3DCCD1}">
              <a14:hiddenFill xmlns:a14="http://schemas.microsoft.com/office/drawing/2010/main">
                <a:noFill/>
              </a14:hiddenFill>
            </a:ext>
          </a:extLst>
        </p:spPr>
        <p:txBody>
          <a:bodyPr/>
          <a:lstStyle/>
          <a:p>
            <a:endParaRPr lang="zh-CN" altLang="en-US" sz="1900">
              <a:solidFill>
                <a:schemeClr val="tx1"/>
              </a:solidFill>
              <a:latin typeface="Times New Roman" panose="02020603050405020304" pitchFamily="18" charset="0"/>
              <a:cs typeface="Times New Roman" panose="02020603050405020304" pitchFamily="18" charset="0"/>
            </a:endParaRPr>
          </a:p>
        </p:txBody>
      </p:sp>
      <p:sp>
        <p:nvSpPr>
          <p:cNvPr id="97" name="Rectangle 9">
            <a:extLst>
              <a:ext uri="{FF2B5EF4-FFF2-40B4-BE49-F238E27FC236}">
                <a16:creationId xmlns="" xmlns:a16="http://schemas.microsoft.com/office/drawing/2014/main" id="{27943EC4-2C34-9F2D-23E4-2CD91DD70236}"/>
              </a:ext>
            </a:extLst>
          </p:cNvPr>
          <p:cNvSpPr>
            <a:spLocks noChangeArrowheads="1"/>
          </p:cNvSpPr>
          <p:nvPr/>
        </p:nvSpPr>
        <p:spPr bwMode="auto">
          <a:xfrm>
            <a:off x="7703241" y="4691110"/>
            <a:ext cx="1160895" cy="384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900" i="1" dirty="0">
                <a:solidFill>
                  <a:schemeClr val="tx1"/>
                </a:solidFill>
                <a:latin typeface="Times New Roman" panose="02020603050405020304" pitchFamily="18" charset="0"/>
                <a:cs typeface="Times New Roman" panose="02020603050405020304" pitchFamily="18" charset="0"/>
              </a:rPr>
              <a:t>V</a:t>
            </a:r>
            <a:r>
              <a:rPr lang="en-US" altLang="zh-CN" sz="1900" baseline="-25000" dirty="0">
                <a:solidFill>
                  <a:schemeClr val="tx1"/>
                </a:solidFill>
                <a:latin typeface="Times New Roman" panose="02020603050405020304" pitchFamily="18" charset="0"/>
                <a:cs typeface="Times New Roman" panose="02020603050405020304" pitchFamily="18" charset="0"/>
              </a:rPr>
              <a:t>im</a:t>
            </a:r>
            <a:r>
              <a:rPr lang="en-US" altLang="zh-CN" sz="1900" dirty="0">
                <a:solidFill>
                  <a:schemeClr val="tx1"/>
                </a:solidFill>
                <a:latin typeface="Times New Roman" panose="02020603050405020304" pitchFamily="18" charset="0"/>
                <a:cs typeface="Times New Roman" panose="02020603050405020304" pitchFamily="18" charset="0"/>
              </a:rPr>
              <a:t>(1–</a:t>
            </a:r>
            <a:r>
              <a:rPr lang="en-US" altLang="zh-CN" sz="1900" i="1" dirty="0">
                <a:solidFill>
                  <a:schemeClr val="tx1"/>
                </a:solidFill>
                <a:latin typeface="Times New Roman" panose="02020603050405020304" pitchFamily="18" charset="0"/>
                <a:cs typeface="Times New Roman" panose="02020603050405020304" pitchFamily="18" charset="0"/>
              </a:rPr>
              <a:t>m</a:t>
            </a:r>
            <a:r>
              <a:rPr lang="en-US" altLang="zh-CN" sz="1900" baseline="-25000" dirty="0">
                <a:solidFill>
                  <a:schemeClr val="tx1"/>
                </a:solidFill>
                <a:latin typeface="Times New Roman" panose="02020603050405020304" pitchFamily="18" charset="0"/>
                <a:cs typeface="Times New Roman" panose="02020603050405020304" pitchFamily="18" charset="0"/>
              </a:rPr>
              <a:t>a</a:t>
            </a:r>
            <a:r>
              <a:rPr lang="en-US" altLang="zh-CN" sz="1900" dirty="0">
                <a:solidFill>
                  <a:schemeClr val="tx1"/>
                </a:solidFill>
                <a:latin typeface="Times New Roman" panose="02020603050405020304" pitchFamily="18" charset="0"/>
                <a:cs typeface="Times New Roman" panose="02020603050405020304" pitchFamily="18" charset="0"/>
              </a:rPr>
              <a:t>)</a:t>
            </a:r>
            <a:endParaRPr lang="zh-CN" altLang="en-US" sz="1900" dirty="0">
              <a:solidFill>
                <a:schemeClr val="tx1"/>
              </a:solidFill>
              <a:latin typeface="Times New Roman" panose="02020603050405020304" pitchFamily="18" charset="0"/>
              <a:cs typeface="Times New Roman" panose="02020603050405020304" pitchFamily="18" charset="0"/>
            </a:endParaRPr>
          </a:p>
        </p:txBody>
      </p:sp>
      <p:sp>
        <p:nvSpPr>
          <p:cNvPr id="99" name="Text Box 4">
            <a:extLst>
              <a:ext uri="{FF2B5EF4-FFF2-40B4-BE49-F238E27FC236}">
                <a16:creationId xmlns="" xmlns:a16="http://schemas.microsoft.com/office/drawing/2014/main" id="{AE09D5C4-064C-564E-8583-5CA756D4908A}"/>
              </a:ext>
            </a:extLst>
          </p:cNvPr>
          <p:cNvSpPr txBox="1">
            <a:spLocks noChangeArrowheads="1"/>
          </p:cNvSpPr>
          <p:nvPr/>
        </p:nvSpPr>
        <p:spPr bwMode="auto">
          <a:xfrm>
            <a:off x="261035" y="2790706"/>
            <a:ext cx="4429356"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1900" dirty="0">
                <a:latin typeface="Times New Roman" panose="02020603050405020304" pitchFamily="18" charset="0"/>
                <a:cs typeface="Times New Roman" panose="02020603050405020304" pitchFamily="18" charset="0"/>
              </a:rPr>
              <a:t>原因</a:t>
            </a:r>
            <a:r>
              <a:rPr lang="zh-CN" altLang="en-US" sz="1900" dirty="0" smtClean="0">
                <a:latin typeface="Times New Roman" panose="02020603050405020304" pitchFamily="18" charset="0"/>
                <a:cs typeface="Times New Roman" panose="02020603050405020304" pitchFamily="18" charset="0"/>
              </a:rPr>
              <a:t>:</a:t>
            </a:r>
            <a:r>
              <a:rPr lang="zh-CN" altLang="en-US" sz="1900" dirty="0" smtClean="0">
                <a:latin typeface="Times New Roman" panose="02020603050405020304" pitchFamily="18" charset="0"/>
                <a:cs typeface="Times New Roman" panose="02020603050405020304" pitchFamily="18" charset="0"/>
              </a:rPr>
              <a:t>由于</a:t>
            </a:r>
            <a:r>
              <a:rPr lang="en-US" altLang="zh-CN" sz="1900" dirty="0">
                <a:latin typeface="Times New Roman" panose="02020603050405020304" pitchFamily="18" charset="0"/>
                <a:cs typeface="Times New Roman" panose="02020603050405020304" pitchFamily="18" charset="0"/>
              </a:rPr>
              <a:t>Cc</a:t>
            </a:r>
            <a:r>
              <a:rPr lang="zh-CN" altLang="en-US" sz="1900" dirty="0">
                <a:latin typeface="Times New Roman" panose="02020603050405020304" pitchFamily="18" charset="0"/>
                <a:cs typeface="Times New Roman" panose="02020603050405020304" pitchFamily="18" charset="0"/>
              </a:rPr>
              <a:t>的存在使得检波器的交直流电阻不一样</a:t>
            </a:r>
            <a:r>
              <a:rPr lang="en-US" altLang="zh-CN" sz="1900" dirty="0">
                <a:latin typeface="Times New Roman" panose="02020603050405020304" pitchFamily="18" charset="0"/>
                <a:cs typeface="Times New Roman" panose="02020603050405020304" pitchFamily="18" charset="0"/>
              </a:rPr>
              <a:t>,</a:t>
            </a:r>
            <a:r>
              <a:rPr lang="zh-CN" altLang="en-US" sz="1900" dirty="0">
                <a:latin typeface="Times New Roman" panose="02020603050405020304" pitchFamily="18" charset="0"/>
                <a:cs typeface="Times New Roman" panose="02020603050405020304" pitchFamily="18" charset="0"/>
              </a:rPr>
              <a:t>产生了</a:t>
            </a:r>
            <a:r>
              <a:rPr lang="en-US" altLang="zh-CN" sz="1900" i="1" dirty="0">
                <a:latin typeface="Times New Roman" panose="02020603050405020304" pitchFamily="18" charset="0"/>
                <a:cs typeface="Times New Roman" panose="02020603050405020304" pitchFamily="18" charset="0"/>
              </a:rPr>
              <a:t>V</a:t>
            </a:r>
            <a:r>
              <a:rPr lang="en-US" altLang="zh-CN" sz="1900" baseline="-25000" dirty="0">
                <a:latin typeface="Times New Roman" panose="02020603050405020304" pitchFamily="18" charset="0"/>
                <a:cs typeface="Times New Roman" panose="02020603050405020304" pitchFamily="18" charset="0"/>
              </a:rPr>
              <a:t>R</a:t>
            </a:r>
            <a:r>
              <a:rPr lang="zh-CN" altLang="en-US" sz="1900" dirty="0">
                <a:latin typeface="Times New Roman" panose="02020603050405020304" pitchFamily="18" charset="0"/>
                <a:cs typeface="Times New Roman" panose="02020603050405020304" pitchFamily="18" charset="0"/>
              </a:rPr>
              <a:t>反偏压，它有可能阻止二极管导通，从而产生失真。</a:t>
            </a:r>
          </a:p>
        </p:txBody>
      </p:sp>
      <p:sp>
        <p:nvSpPr>
          <p:cNvPr id="100" name="Text Box 7">
            <a:extLst>
              <a:ext uri="{FF2B5EF4-FFF2-40B4-BE49-F238E27FC236}">
                <a16:creationId xmlns="" xmlns:a16="http://schemas.microsoft.com/office/drawing/2014/main" id="{6AE84AD4-F095-4B84-4CE1-59E2BE6E9D26}"/>
              </a:ext>
            </a:extLst>
          </p:cNvPr>
          <p:cNvSpPr txBox="1">
            <a:spLocks noChangeArrowheads="1"/>
          </p:cNvSpPr>
          <p:nvPr/>
        </p:nvSpPr>
        <p:spPr bwMode="auto">
          <a:xfrm>
            <a:off x="236589" y="3889092"/>
            <a:ext cx="4497389" cy="11010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15000"/>
              </a:lnSpc>
            </a:pPr>
            <a:r>
              <a:rPr lang="zh-CN" altLang="en-US" sz="1900" dirty="0">
                <a:latin typeface="Times New Roman" panose="02020603050405020304" pitchFamily="18" charset="0"/>
                <a:cs typeface="Times New Roman" panose="02020603050405020304" pitchFamily="18" charset="0"/>
              </a:rPr>
              <a:t>不产生失真的条件</a:t>
            </a:r>
            <a:r>
              <a:rPr lang="zh-CN" altLang="en-US" sz="1900" dirty="0" smtClean="0">
                <a:latin typeface="Times New Roman" panose="02020603050405020304" pitchFamily="18" charset="0"/>
                <a:cs typeface="Times New Roman" panose="02020603050405020304" pitchFamily="18" charset="0"/>
              </a:rPr>
              <a:t>:</a:t>
            </a:r>
            <a:r>
              <a:rPr lang="zh-CN" altLang="en-US" sz="1900" dirty="0" smtClean="0">
                <a:latin typeface="Times New Roman" panose="02020603050405020304" pitchFamily="18" charset="0"/>
                <a:cs typeface="Times New Roman" panose="02020603050405020304" pitchFamily="18" charset="0"/>
              </a:rPr>
              <a:t>为了</a:t>
            </a:r>
            <a:r>
              <a:rPr lang="zh-CN" altLang="en-US" sz="1900" dirty="0">
                <a:latin typeface="Times New Roman" panose="02020603050405020304" pitchFamily="18" charset="0"/>
                <a:cs typeface="Times New Roman" panose="02020603050405020304" pitchFamily="18" charset="0"/>
              </a:rPr>
              <a:t>避免底部切割失真，调幅波的最小幅度</a:t>
            </a:r>
            <a:r>
              <a:rPr lang="en-US" altLang="zh-CN" sz="1900" i="1" dirty="0">
                <a:latin typeface="Times New Roman" panose="02020603050405020304" pitchFamily="18" charset="0"/>
                <a:cs typeface="Times New Roman" panose="02020603050405020304" pitchFamily="18" charset="0"/>
              </a:rPr>
              <a:t>V</a:t>
            </a:r>
            <a:r>
              <a:rPr lang="en-US" altLang="zh-CN" sz="1900" baseline="-25000" dirty="0">
                <a:latin typeface="Times New Roman" panose="02020603050405020304" pitchFamily="18" charset="0"/>
                <a:cs typeface="Times New Roman" panose="02020603050405020304" pitchFamily="18" charset="0"/>
              </a:rPr>
              <a:t>im</a:t>
            </a:r>
            <a:r>
              <a:rPr lang="en-US" altLang="zh-CN" sz="1900" dirty="0">
                <a:latin typeface="Times New Roman" panose="02020603050405020304" pitchFamily="18" charset="0"/>
                <a:cs typeface="Times New Roman" panose="02020603050405020304" pitchFamily="18" charset="0"/>
              </a:rPr>
              <a:t>(1–</a:t>
            </a:r>
            <a:r>
              <a:rPr lang="en-US" altLang="zh-CN" sz="1900" i="1" dirty="0">
                <a:latin typeface="Times New Roman" panose="02020603050405020304" pitchFamily="18" charset="0"/>
                <a:cs typeface="Times New Roman" panose="02020603050405020304" pitchFamily="18" charset="0"/>
              </a:rPr>
              <a:t>m</a:t>
            </a:r>
            <a:r>
              <a:rPr lang="en-US" altLang="zh-CN" sz="1900" baseline="-25000" dirty="0">
                <a:latin typeface="Times New Roman" panose="02020603050405020304" pitchFamily="18" charset="0"/>
                <a:cs typeface="Times New Roman" panose="02020603050405020304" pitchFamily="18" charset="0"/>
              </a:rPr>
              <a:t>a</a:t>
            </a:r>
            <a:r>
              <a:rPr lang="en-US" altLang="zh-CN" sz="1900" dirty="0">
                <a:latin typeface="Times New Roman" panose="02020603050405020304" pitchFamily="18" charset="0"/>
                <a:cs typeface="Times New Roman" panose="02020603050405020304" pitchFamily="18" charset="0"/>
              </a:rPr>
              <a:t>)</a:t>
            </a:r>
            <a:r>
              <a:rPr lang="zh-CN" altLang="en-US" sz="1900" dirty="0">
                <a:latin typeface="Times New Roman" panose="02020603050405020304" pitchFamily="18" charset="0"/>
                <a:cs typeface="Times New Roman" panose="02020603050405020304" pitchFamily="18" charset="0"/>
              </a:rPr>
              <a:t>必须大于</a:t>
            </a:r>
            <a:r>
              <a:rPr lang="en-US" altLang="zh-CN" sz="1900" i="1" dirty="0">
                <a:latin typeface="Times New Roman" panose="02020603050405020304" pitchFamily="18" charset="0"/>
                <a:cs typeface="Times New Roman" panose="02020603050405020304" pitchFamily="18" charset="0"/>
              </a:rPr>
              <a:t>V</a:t>
            </a:r>
            <a:r>
              <a:rPr lang="en-US" altLang="zh-CN" sz="1900" baseline="-25000" dirty="0">
                <a:latin typeface="Times New Roman" panose="02020603050405020304" pitchFamily="18" charset="0"/>
                <a:cs typeface="Times New Roman" panose="02020603050405020304" pitchFamily="18" charset="0"/>
              </a:rPr>
              <a:t>R </a:t>
            </a:r>
            <a:r>
              <a:rPr lang="zh-CN" altLang="en-US" sz="1900" dirty="0">
                <a:latin typeface="Times New Roman" panose="02020603050405020304" pitchFamily="18" charset="0"/>
                <a:cs typeface="Times New Roman" panose="02020603050405020304" pitchFamily="18" charset="0"/>
              </a:rPr>
              <a:t>,</a:t>
            </a:r>
            <a:endParaRPr lang="en-US" altLang="zh-CN" sz="1900" dirty="0">
              <a:latin typeface="Times New Roman" panose="02020603050405020304" pitchFamily="18" charset="0"/>
              <a:cs typeface="Times New Roman" panose="02020603050405020304" pitchFamily="18" charset="0"/>
            </a:endParaRPr>
          </a:p>
        </p:txBody>
      </p:sp>
      <p:graphicFrame>
        <p:nvGraphicFramePr>
          <p:cNvPr id="102" name="Object 12">
            <a:extLst>
              <a:ext uri="{FF2B5EF4-FFF2-40B4-BE49-F238E27FC236}">
                <a16:creationId xmlns="" xmlns:a16="http://schemas.microsoft.com/office/drawing/2014/main" id="{B0A964BA-304A-A0CB-6743-1816969B3CE8}"/>
              </a:ext>
            </a:extLst>
          </p:cNvPr>
          <p:cNvGraphicFramePr>
            <a:graphicFrameLocks/>
          </p:cNvGraphicFramePr>
          <p:nvPr>
            <p:extLst>
              <p:ext uri="{D42A27DB-BD31-4B8C-83A1-F6EECF244321}">
                <p14:modId xmlns:p14="http://schemas.microsoft.com/office/powerpoint/2010/main" val="3809825559"/>
              </p:ext>
            </p:extLst>
          </p:nvPr>
        </p:nvGraphicFramePr>
        <p:xfrm>
          <a:off x="1000729" y="4537715"/>
          <a:ext cx="2068234" cy="564579"/>
        </p:xfrm>
        <a:graphic>
          <a:graphicData uri="http://schemas.openxmlformats.org/presentationml/2006/ole">
            <mc:AlternateContent xmlns:mc="http://schemas.openxmlformats.org/markup-compatibility/2006">
              <mc:Choice xmlns:v="urn:schemas-microsoft-com:vml" Requires="v">
                <p:oleObj spid="_x0000_s190516" r:id="rId7" imgW="1561422" imgH="444307" progId="Equation.3">
                  <p:embed/>
                </p:oleObj>
              </mc:Choice>
              <mc:Fallback>
                <p:oleObj r:id="rId7" imgW="1561422" imgH="444307" progId="Equation.3">
                  <p:embed/>
                  <p:pic>
                    <p:nvPicPr>
                      <p:cNvPr id="0" name=""/>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00729" y="4537715"/>
                        <a:ext cx="2068234" cy="564579"/>
                      </a:xfrm>
                      <a:prstGeom prst="rect">
                        <a:avLst/>
                      </a:prstGeom>
                      <a:noFill/>
                      <a:ln>
                        <a:noFill/>
                      </a:ln>
                      <a:extLst/>
                    </p:spPr>
                  </p:pic>
                </p:oleObj>
              </mc:Fallback>
            </mc:AlternateContent>
          </a:graphicData>
        </a:graphic>
      </p:graphicFrame>
      <p:graphicFrame>
        <p:nvGraphicFramePr>
          <p:cNvPr id="103" name="Object 13">
            <a:extLst>
              <a:ext uri="{FF2B5EF4-FFF2-40B4-BE49-F238E27FC236}">
                <a16:creationId xmlns="" xmlns:a16="http://schemas.microsoft.com/office/drawing/2014/main" id="{7B8DC6E2-967E-5E52-8719-39DE8762E2F6}"/>
              </a:ext>
            </a:extLst>
          </p:cNvPr>
          <p:cNvGraphicFramePr>
            <a:graphicFrameLocks/>
          </p:cNvGraphicFramePr>
          <p:nvPr>
            <p:extLst>
              <p:ext uri="{D42A27DB-BD31-4B8C-83A1-F6EECF244321}">
                <p14:modId xmlns:p14="http://schemas.microsoft.com/office/powerpoint/2010/main" val="1297530275"/>
              </p:ext>
            </p:extLst>
          </p:nvPr>
        </p:nvGraphicFramePr>
        <p:xfrm>
          <a:off x="876669" y="5068910"/>
          <a:ext cx="2731900" cy="647729"/>
        </p:xfrm>
        <a:graphic>
          <a:graphicData uri="http://schemas.openxmlformats.org/presentationml/2006/ole">
            <mc:AlternateContent xmlns:mc="http://schemas.openxmlformats.org/markup-compatibility/2006">
              <mc:Choice xmlns:v="urn:schemas-microsoft-com:vml" Requires="v">
                <p:oleObj spid="_x0000_s190517" r:id="rId9" imgW="2433240" imgH="537480" progId="Equation.3">
                  <p:embed/>
                </p:oleObj>
              </mc:Choice>
              <mc:Fallback>
                <p:oleObj r:id="rId9" imgW="2433240" imgH="537480" progId="Equation.3">
                  <p:embed/>
                  <p:pic>
                    <p:nvPicPr>
                      <p:cNvPr id="0" name=""/>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76669" y="5068910"/>
                        <a:ext cx="2731900" cy="647729"/>
                      </a:xfrm>
                      <a:prstGeom prst="rect">
                        <a:avLst/>
                      </a:prstGeom>
                      <a:noFill/>
                      <a:ln>
                        <a:noFill/>
                      </a:ln>
                      <a:extLst/>
                    </p:spPr>
                  </p:pic>
                </p:oleObj>
              </mc:Fallback>
            </mc:AlternateContent>
          </a:graphicData>
        </a:graphic>
      </p:graphicFrame>
      <p:sp>
        <p:nvSpPr>
          <p:cNvPr id="104" name="Text Box 11">
            <a:extLst>
              <a:ext uri="{FF2B5EF4-FFF2-40B4-BE49-F238E27FC236}">
                <a16:creationId xmlns="" xmlns:a16="http://schemas.microsoft.com/office/drawing/2014/main" id="{AA7C6A52-998A-B541-0E1F-98F1614D88C0}"/>
              </a:ext>
            </a:extLst>
          </p:cNvPr>
          <p:cNvSpPr txBox="1">
            <a:spLocks noChangeArrowheads="1"/>
          </p:cNvSpPr>
          <p:nvPr/>
        </p:nvSpPr>
        <p:spPr bwMode="auto">
          <a:xfrm>
            <a:off x="328750" y="5080804"/>
            <a:ext cx="671979" cy="384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1900" dirty="0">
                <a:solidFill>
                  <a:schemeClr val="tx1"/>
                </a:solidFill>
                <a:latin typeface="Times New Roman" panose="02020603050405020304" pitchFamily="18" charset="0"/>
                <a:cs typeface="Times New Roman" panose="02020603050405020304" pitchFamily="18" charset="0"/>
              </a:rPr>
              <a:t>即：</a:t>
            </a:r>
          </a:p>
        </p:txBody>
      </p:sp>
    </p:spTree>
    <p:extLst>
      <p:ext uri="{BB962C8B-B14F-4D97-AF65-F5344CB8AC3E}">
        <p14:creationId xmlns:p14="http://schemas.microsoft.com/office/powerpoint/2010/main" val="4231047011"/>
      </p:ext>
    </p:extLst>
  </p:cSld>
  <p:clrMapOvr>
    <a:masterClrMapping/>
  </p:clrMapOvr>
  <p:timing>
    <p:tnLst>
      <p:par>
        <p:cTn id="1" dur="indefinite" restart="never" nodeType="tmRoot"/>
      </p:par>
    </p:tnLst>
  </p:timing>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241</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5"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6.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振幅调制</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与</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解调</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 name="Text Box 3">
            <a:extLst>
              <a:ext uri="{FF2B5EF4-FFF2-40B4-BE49-F238E27FC236}">
                <a16:creationId xmlns="" xmlns:a16="http://schemas.microsoft.com/office/drawing/2014/main" id="{ACC0CE0D-8BC7-D798-0B23-774943F90DDD}"/>
              </a:ext>
            </a:extLst>
          </p:cNvPr>
          <p:cNvSpPr txBox="1">
            <a:spLocks noChangeArrowheads="1"/>
          </p:cNvSpPr>
          <p:nvPr/>
        </p:nvSpPr>
        <p:spPr bwMode="auto">
          <a:xfrm>
            <a:off x="417262" y="1189017"/>
            <a:ext cx="163698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r>
              <a:rPr lang="en-US" altLang="zh-CN" sz="1800" b="0" dirty="0">
                <a:latin typeface="Times New Roman" panose="02020603050405020304" pitchFamily="18" charset="0"/>
                <a:ea typeface="+mn-ea"/>
                <a:cs typeface="Times New Roman" panose="02020603050405020304" pitchFamily="18" charset="0"/>
              </a:rPr>
              <a:t>③ </a:t>
            </a:r>
            <a:r>
              <a:rPr lang="zh-CN" altLang="en-US" sz="1800" b="0" dirty="0">
                <a:latin typeface="Times New Roman" panose="02020603050405020304" pitchFamily="18" charset="0"/>
                <a:ea typeface="+mn-ea"/>
                <a:cs typeface="Times New Roman" panose="02020603050405020304" pitchFamily="18" charset="0"/>
              </a:rPr>
              <a:t>非线性失真</a:t>
            </a:r>
          </a:p>
        </p:txBody>
      </p:sp>
      <p:sp>
        <p:nvSpPr>
          <p:cNvPr id="7" name="Text Box 4">
            <a:extLst>
              <a:ext uri="{FF2B5EF4-FFF2-40B4-BE49-F238E27FC236}">
                <a16:creationId xmlns="" xmlns:a16="http://schemas.microsoft.com/office/drawing/2014/main" id="{84D9AC20-8B70-D3FF-5CE5-DE3832E3ABBD}"/>
              </a:ext>
            </a:extLst>
          </p:cNvPr>
          <p:cNvSpPr txBox="1">
            <a:spLocks noChangeArrowheads="1"/>
          </p:cNvSpPr>
          <p:nvPr/>
        </p:nvSpPr>
        <p:spPr bwMode="auto">
          <a:xfrm>
            <a:off x="417262" y="2439888"/>
            <a:ext cx="140455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r>
              <a:rPr lang="en-US" altLang="zh-CN" sz="1800" b="0" dirty="0">
                <a:latin typeface="Times New Roman" panose="02020603050405020304" pitchFamily="18" charset="0"/>
                <a:ea typeface="+mn-ea"/>
                <a:cs typeface="Times New Roman" panose="02020603050405020304" pitchFamily="18" charset="0"/>
              </a:rPr>
              <a:t>④ </a:t>
            </a:r>
            <a:r>
              <a:rPr lang="zh-CN" altLang="en-US" sz="1800" b="0" dirty="0">
                <a:latin typeface="Times New Roman" panose="02020603050405020304" pitchFamily="18" charset="0"/>
                <a:ea typeface="+mn-ea"/>
                <a:cs typeface="Times New Roman" panose="02020603050405020304" pitchFamily="18" charset="0"/>
              </a:rPr>
              <a:t>频率失真</a:t>
            </a:r>
          </a:p>
        </p:txBody>
      </p:sp>
      <p:sp>
        <p:nvSpPr>
          <p:cNvPr id="9" name="Text Box 6">
            <a:extLst>
              <a:ext uri="{FF2B5EF4-FFF2-40B4-BE49-F238E27FC236}">
                <a16:creationId xmlns="" xmlns:a16="http://schemas.microsoft.com/office/drawing/2014/main" id="{0980E080-303C-F5C8-3918-C79651148749}"/>
              </a:ext>
            </a:extLst>
          </p:cNvPr>
          <p:cNvSpPr txBox="1">
            <a:spLocks noChangeArrowheads="1"/>
          </p:cNvSpPr>
          <p:nvPr/>
        </p:nvSpPr>
        <p:spPr bwMode="auto">
          <a:xfrm>
            <a:off x="417262" y="2915860"/>
            <a:ext cx="694848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r>
              <a:rPr lang="zh-CN" altLang="en-US" sz="1800" b="0" dirty="0">
                <a:latin typeface="Times New Roman" panose="02020603050405020304" pitchFamily="18" charset="0"/>
                <a:ea typeface="+mn-ea"/>
                <a:cs typeface="Times New Roman" panose="02020603050405020304" pitchFamily="18" charset="0"/>
              </a:rPr>
              <a:t>这种失真是由于耦合电容</a:t>
            </a:r>
            <a:r>
              <a:rPr lang="en-US" altLang="zh-CN" sz="1800" b="0" dirty="0">
                <a:latin typeface="Times New Roman" panose="02020603050405020304" pitchFamily="18" charset="0"/>
                <a:ea typeface="+mn-ea"/>
                <a:cs typeface="Times New Roman" panose="02020603050405020304" pitchFamily="18" charset="0"/>
              </a:rPr>
              <a:t>C</a:t>
            </a:r>
            <a:r>
              <a:rPr lang="en-US" altLang="zh-CN" sz="1800" b="0" baseline="-25000" dirty="0">
                <a:latin typeface="Times New Roman" panose="02020603050405020304" pitchFamily="18" charset="0"/>
                <a:ea typeface="+mn-ea"/>
                <a:cs typeface="Times New Roman" panose="02020603050405020304" pitchFamily="18" charset="0"/>
              </a:rPr>
              <a:t>c</a:t>
            </a:r>
            <a:r>
              <a:rPr lang="zh-CN" altLang="en-US" sz="1800" b="0" dirty="0">
                <a:latin typeface="Times New Roman" panose="02020603050405020304" pitchFamily="18" charset="0"/>
                <a:ea typeface="+mn-ea"/>
                <a:cs typeface="Times New Roman" panose="02020603050405020304" pitchFamily="18" charset="0"/>
              </a:rPr>
              <a:t>和滤波电容</a:t>
            </a:r>
            <a:r>
              <a:rPr lang="en-US" altLang="zh-CN" sz="1800" b="0" dirty="0">
                <a:latin typeface="Times New Roman" panose="02020603050405020304" pitchFamily="18" charset="0"/>
                <a:ea typeface="+mn-ea"/>
                <a:cs typeface="Times New Roman" panose="02020603050405020304" pitchFamily="18" charset="0"/>
              </a:rPr>
              <a:t>C</a:t>
            </a:r>
            <a:r>
              <a:rPr lang="zh-CN" altLang="en-US" sz="1800" b="0" dirty="0">
                <a:latin typeface="Times New Roman" panose="02020603050405020304" pitchFamily="18" charset="0"/>
                <a:ea typeface="+mn-ea"/>
                <a:cs typeface="Times New Roman" panose="02020603050405020304" pitchFamily="18" charset="0"/>
              </a:rPr>
              <a:t>所引起的。</a:t>
            </a:r>
          </a:p>
        </p:txBody>
      </p:sp>
      <p:sp>
        <p:nvSpPr>
          <p:cNvPr id="10" name="Text Box 7">
            <a:extLst>
              <a:ext uri="{FF2B5EF4-FFF2-40B4-BE49-F238E27FC236}">
                <a16:creationId xmlns="" xmlns:a16="http://schemas.microsoft.com/office/drawing/2014/main" id="{6AC18B3B-1BD4-0D98-A1AE-CADA8D3E2854}"/>
              </a:ext>
            </a:extLst>
          </p:cNvPr>
          <p:cNvSpPr txBox="1">
            <a:spLocks noChangeArrowheads="1"/>
          </p:cNvSpPr>
          <p:nvPr/>
        </p:nvSpPr>
        <p:spPr bwMode="auto">
          <a:xfrm>
            <a:off x="466527" y="3313555"/>
            <a:ext cx="842486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r>
              <a:rPr lang="en-US" altLang="zh-CN" sz="1800" b="0" dirty="0">
                <a:latin typeface="Times New Roman" panose="02020603050405020304" pitchFamily="18" charset="0"/>
                <a:ea typeface="+mn-ea"/>
                <a:cs typeface="Times New Roman" panose="02020603050405020304" pitchFamily="18" charset="0"/>
              </a:rPr>
              <a:t>C</a:t>
            </a:r>
            <a:r>
              <a:rPr lang="en-US" altLang="zh-CN" sz="1800" b="0" baseline="-25000" dirty="0">
                <a:latin typeface="Times New Roman" panose="02020603050405020304" pitchFamily="18" charset="0"/>
                <a:ea typeface="+mn-ea"/>
                <a:cs typeface="Times New Roman" panose="02020603050405020304" pitchFamily="18" charset="0"/>
              </a:rPr>
              <a:t>c</a:t>
            </a:r>
            <a:r>
              <a:rPr lang="zh-CN" altLang="en-US" sz="1800" b="0" dirty="0">
                <a:latin typeface="Times New Roman" panose="02020603050405020304" pitchFamily="18" charset="0"/>
                <a:ea typeface="+mn-ea"/>
                <a:cs typeface="Times New Roman" panose="02020603050405020304" pitchFamily="18" charset="0"/>
              </a:rPr>
              <a:t>的存在主要影响检波的下限频率</a:t>
            </a:r>
            <a:r>
              <a:rPr lang="zh-CN" altLang="en-US" sz="1800" b="0" dirty="0">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sz="1800" b="0" baseline="-25000" dirty="0">
                <a:latin typeface="Times New Roman" panose="02020603050405020304" pitchFamily="18" charset="0"/>
                <a:ea typeface="+mn-ea"/>
                <a:cs typeface="Times New Roman" panose="02020603050405020304" pitchFamily="18" charset="0"/>
              </a:rPr>
              <a:t>min</a:t>
            </a:r>
            <a:r>
              <a:rPr lang="zh-CN" altLang="en-US" sz="1800" b="0" baseline="-25000" dirty="0">
                <a:latin typeface="Times New Roman" panose="02020603050405020304" pitchFamily="18" charset="0"/>
                <a:ea typeface="+mn-ea"/>
                <a:cs typeface="Times New Roman" panose="02020603050405020304" pitchFamily="18" charset="0"/>
              </a:rPr>
              <a:t>， </a:t>
            </a:r>
          </a:p>
          <a:p>
            <a:pPr eaLnBrk="1" hangingPunct="1"/>
            <a:r>
              <a:rPr lang="en-US" altLang="zh-CN" sz="1800" b="0" dirty="0">
                <a:latin typeface="Times New Roman" panose="02020603050405020304" pitchFamily="18" charset="0"/>
                <a:ea typeface="+mn-ea"/>
                <a:cs typeface="Times New Roman" panose="02020603050405020304" pitchFamily="18" charset="0"/>
              </a:rPr>
              <a:t>C</a:t>
            </a:r>
            <a:r>
              <a:rPr lang="zh-CN" altLang="en-US" sz="1800" b="0" dirty="0">
                <a:latin typeface="Times New Roman" panose="02020603050405020304" pitchFamily="18" charset="0"/>
                <a:ea typeface="+mn-ea"/>
                <a:cs typeface="Times New Roman" panose="02020603050405020304" pitchFamily="18" charset="0"/>
              </a:rPr>
              <a:t>的存在主要影响检波的上限频率</a:t>
            </a:r>
            <a:r>
              <a:rPr lang="zh-CN" altLang="en-US" sz="1800" b="0" dirty="0">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sz="1800" b="0" dirty="0">
                <a:latin typeface="Times New Roman" panose="02020603050405020304" pitchFamily="18" charset="0"/>
                <a:ea typeface="+mn-ea"/>
                <a:cs typeface="Times New Roman" panose="02020603050405020304" pitchFamily="18" charset="0"/>
              </a:rPr>
              <a:t>max</a:t>
            </a:r>
            <a:r>
              <a:rPr lang="zh-CN" altLang="en-US" sz="1800" b="0" dirty="0">
                <a:latin typeface="Times New Roman" panose="02020603050405020304" pitchFamily="18" charset="0"/>
                <a:ea typeface="+mn-ea"/>
                <a:cs typeface="Times New Roman" panose="02020603050405020304" pitchFamily="18" charset="0"/>
              </a:rPr>
              <a:t> 。</a:t>
            </a:r>
          </a:p>
        </p:txBody>
      </p:sp>
      <p:sp>
        <p:nvSpPr>
          <p:cNvPr id="11" name="Text Box 8">
            <a:extLst>
              <a:ext uri="{FF2B5EF4-FFF2-40B4-BE49-F238E27FC236}">
                <a16:creationId xmlns="" xmlns:a16="http://schemas.microsoft.com/office/drawing/2014/main" id="{CA463402-83C4-387A-2EF6-4239B0A56ED9}"/>
              </a:ext>
            </a:extLst>
          </p:cNvPr>
          <p:cNvSpPr txBox="1">
            <a:spLocks noChangeArrowheads="1"/>
          </p:cNvSpPr>
          <p:nvPr/>
        </p:nvSpPr>
        <p:spPr bwMode="auto">
          <a:xfrm>
            <a:off x="435598" y="3987865"/>
            <a:ext cx="5000498"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r>
              <a:rPr lang="zh-CN" altLang="en-US" sz="1800" b="0" dirty="0">
                <a:latin typeface="Times New Roman" panose="02020603050405020304" pitchFamily="18" charset="0"/>
                <a:ea typeface="+mn-ea"/>
                <a:cs typeface="Times New Roman" panose="02020603050405020304" pitchFamily="18" charset="0"/>
              </a:rPr>
              <a:t>为使频率为</a:t>
            </a:r>
            <a:r>
              <a:rPr lang="zh-CN" altLang="en-US" sz="1800" b="0" dirty="0">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sz="1800" b="0" baseline="-25000" dirty="0">
                <a:latin typeface="Times New Roman" panose="02020603050405020304" pitchFamily="18" charset="0"/>
                <a:ea typeface="+mn-ea"/>
                <a:cs typeface="Times New Roman" panose="02020603050405020304" pitchFamily="18" charset="0"/>
              </a:rPr>
              <a:t>min</a:t>
            </a:r>
            <a:r>
              <a:rPr lang="zh-CN" altLang="en-US" sz="1800" b="0" dirty="0">
                <a:latin typeface="Times New Roman" panose="02020603050405020304" pitchFamily="18" charset="0"/>
                <a:ea typeface="+mn-ea"/>
                <a:cs typeface="Times New Roman" panose="02020603050405020304" pitchFamily="18" charset="0"/>
              </a:rPr>
              <a:t>时，</a:t>
            </a:r>
            <a:r>
              <a:rPr lang="en-US" altLang="zh-CN" sz="1800" b="0" dirty="0">
                <a:latin typeface="Times New Roman" panose="02020603050405020304" pitchFamily="18" charset="0"/>
                <a:ea typeface="+mn-ea"/>
                <a:cs typeface="Times New Roman" panose="02020603050405020304" pitchFamily="18" charset="0"/>
              </a:rPr>
              <a:t>C</a:t>
            </a:r>
            <a:r>
              <a:rPr lang="en-US" altLang="zh-CN" sz="1800" b="0" baseline="-25000" dirty="0">
                <a:latin typeface="Times New Roman" panose="02020603050405020304" pitchFamily="18" charset="0"/>
                <a:ea typeface="+mn-ea"/>
                <a:cs typeface="Times New Roman" panose="02020603050405020304" pitchFamily="18" charset="0"/>
              </a:rPr>
              <a:t>c</a:t>
            </a:r>
            <a:r>
              <a:rPr lang="zh-CN" altLang="en-US" sz="1800" b="0" dirty="0">
                <a:latin typeface="Times New Roman" panose="02020603050405020304" pitchFamily="18" charset="0"/>
                <a:ea typeface="+mn-ea"/>
                <a:cs typeface="Times New Roman" panose="02020603050405020304" pitchFamily="18" charset="0"/>
              </a:rPr>
              <a:t>上的电压降不大，不产生频率失真，</a:t>
            </a:r>
          </a:p>
          <a:p>
            <a:pPr eaLnBrk="1" hangingPunct="1"/>
            <a:r>
              <a:rPr lang="zh-CN" altLang="en-US" sz="1800" b="0" dirty="0">
                <a:latin typeface="Times New Roman" panose="02020603050405020304" pitchFamily="18" charset="0"/>
                <a:ea typeface="+mn-ea"/>
                <a:cs typeface="Times New Roman" panose="02020603050405020304" pitchFamily="18" charset="0"/>
              </a:rPr>
              <a:t>必须满足下列条件：</a:t>
            </a:r>
          </a:p>
        </p:txBody>
      </p:sp>
      <p:graphicFrame>
        <p:nvGraphicFramePr>
          <p:cNvPr id="12" name="Object 4">
            <a:extLst>
              <a:ext uri="{FF2B5EF4-FFF2-40B4-BE49-F238E27FC236}">
                <a16:creationId xmlns="" xmlns:a16="http://schemas.microsoft.com/office/drawing/2014/main" id="{9A0ED56D-6838-0DB5-82FE-D886C7CD68FD}"/>
              </a:ext>
            </a:extLst>
          </p:cNvPr>
          <p:cNvGraphicFramePr>
            <a:graphicFrameLocks/>
          </p:cNvGraphicFramePr>
          <p:nvPr>
            <p:extLst>
              <p:ext uri="{D42A27DB-BD31-4B8C-83A1-F6EECF244321}">
                <p14:modId xmlns:p14="http://schemas.microsoft.com/office/powerpoint/2010/main" val="81580884"/>
              </p:ext>
            </p:extLst>
          </p:nvPr>
        </p:nvGraphicFramePr>
        <p:xfrm>
          <a:off x="2813878" y="4281215"/>
          <a:ext cx="1512888" cy="722313"/>
        </p:xfrm>
        <a:graphic>
          <a:graphicData uri="http://schemas.openxmlformats.org/presentationml/2006/ole">
            <mc:AlternateContent xmlns:mc="http://schemas.openxmlformats.org/markup-compatibility/2006">
              <mc:Choice xmlns:v="urn:schemas-microsoft-com:vml" Requires="v">
                <p:oleObj spid="_x0000_s191535" r:id="rId3" imgW="901309" imgH="431613" progId="Equation.3">
                  <p:embed/>
                </p:oleObj>
              </mc:Choice>
              <mc:Fallback>
                <p:oleObj r:id="rId3" imgW="901309" imgH="431613" progId="Equation.3">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13878" y="4281215"/>
                        <a:ext cx="1512888" cy="722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3" name="Object 5">
            <a:extLst>
              <a:ext uri="{FF2B5EF4-FFF2-40B4-BE49-F238E27FC236}">
                <a16:creationId xmlns="" xmlns:a16="http://schemas.microsoft.com/office/drawing/2014/main" id="{1164A76E-4166-2882-0FC3-4F236FD8FA45}"/>
              </a:ext>
            </a:extLst>
          </p:cNvPr>
          <p:cNvGraphicFramePr>
            <a:graphicFrameLocks/>
          </p:cNvGraphicFramePr>
          <p:nvPr>
            <p:extLst>
              <p:ext uri="{D42A27DB-BD31-4B8C-83A1-F6EECF244321}">
                <p14:modId xmlns:p14="http://schemas.microsoft.com/office/powerpoint/2010/main" val="2660595830"/>
              </p:ext>
            </p:extLst>
          </p:nvPr>
        </p:nvGraphicFramePr>
        <p:xfrm>
          <a:off x="5123967" y="4284391"/>
          <a:ext cx="1584325" cy="719137"/>
        </p:xfrm>
        <a:graphic>
          <a:graphicData uri="http://schemas.openxmlformats.org/presentationml/2006/ole">
            <mc:AlternateContent xmlns:mc="http://schemas.openxmlformats.org/markup-compatibility/2006">
              <mc:Choice xmlns:v="urn:schemas-microsoft-com:vml" Requires="v">
                <p:oleObj spid="_x0000_s191536" r:id="rId5" imgW="1076400" imgH="436680" progId="Equation.3">
                  <p:embed/>
                </p:oleObj>
              </mc:Choice>
              <mc:Fallback>
                <p:oleObj r:id="rId5" imgW="1076400" imgH="436680" progId="Equation.3">
                  <p:embed/>
                  <p:pic>
                    <p:nvPicPr>
                      <p:cNvPr id="0" name=""/>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23967" y="4284391"/>
                        <a:ext cx="1584325" cy="719137"/>
                      </a:xfrm>
                      <a:prstGeom prst="rect">
                        <a:avLst/>
                      </a:prstGeom>
                      <a:noFill/>
                      <a:ln w="9525">
                        <a:solidFill>
                          <a:srgbClr val="FF33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Text Box 12">
            <a:extLst>
              <a:ext uri="{FF2B5EF4-FFF2-40B4-BE49-F238E27FC236}">
                <a16:creationId xmlns="" xmlns:a16="http://schemas.microsoft.com/office/drawing/2014/main" id="{A98B7E03-B604-B1D5-DA6A-0721B6D7FA12}"/>
              </a:ext>
            </a:extLst>
          </p:cNvPr>
          <p:cNvSpPr txBox="1">
            <a:spLocks noChangeArrowheads="1"/>
          </p:cNvSpPr>
          <p:nvPr/>
        </p:nvSpPr>
        <p:spPr bwMode="auto">
          <a:xfrm>
            <a:off x="4452322" y="4577624"/>
            <a:ext cx="41710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r>
              <a:rPr lang="zh-CN" altLang="en-US" sz="1800" b="0" dirty="0">
                <a:latin typeface="Times New Roman" panose="02020603050405020304" pitchFamily="18" charset="0"/>
                <a:ea typeface="+mn-ea"/>
                <a:cs typeface="Times New Roman" panose="02020603050405020304" pitchFamily="18" charset="0"/>
              </a:rPr>
              <a:t>或</a:t>
            </a:r>
          </a:p>
        </p:txBody>
      </p:sp>
      <p:sp>
        <p:nvSpPr>
          <p:cNvPr id="15" name="Text Box 16">
            <a:extLst>
              <a:ext uri="{FF2B5EF4-FFF2-40B4-BE49-F238E27FC236}">
                <a16:creationId xmlns="" xmlns:a16="http://schemas.microsoft.com/office/drawing/2014/main" id="{6CF2CEBF-4554-581E-165A-CE0973B7E26E}"/>
              </a:ext>
            </a:extLst>
          </p:cNvPr>
          <p:cNvSpPr txBox="1">
            <a:spLocks noChangeArrowheads="1"/>
          </p:cNvSpPr>
          <p:nvPr/>
        </p:nvSpPr>
        <p:spPr bwMode="auto">
          <a:xfrm>
            <a:off x="3996001" y="5735667"/>
            <a:ext cx="41710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r>
              <a:rPr lang="zh-CN" altLang="en-US" sz="1800" b="0" dirty="0">
                <a:latin typeface="Times New Roman" panose="02020603050405020304" pitchFamily="18" charset="0"/>
                <a:ea typeface="+mn-ea"/>
                <a:cs typeface="Times New Roman" panose="02020603050405020304" pitchFamily="18" charset="0"/>
              </a:rPr>
              <a:t>或</a:t>
            </a:r>
          </a:p>
        </p:txBody>
      </p:sp>
      <p:graphicFrame>
        <p:nvGraphicFramePr>
          <p:cNvPr id="16" name="Object 7">
            <a:extLst>
              <a:ext uri="{FF2B5EF4-FFF2-40B4-BE49-F238E27FC236}">
                <a16:creationId xmlns="" xmlns:a16="http://schemas.microsoft.com/office/drawing/2014/main" id="{5BC4D686-8220-7CD2-7D98-0FA4DDE78CC1}"/>
              </a:ext>
            </a:extLst>
          </p:cNvPr>
          <p:cNvGraphicFramePr>
            <a:graphicFrameLocks/>
          </p:cNvGraphicFramePr>
          <p:nvPr>
            <p:extLst>
              <p:ext uri="{D42A27DB-BD31-4B8C-83A1-F6EECF244321}">
                <p14:modId xmlns:p14="http://schemas.microsoft.com/office/powerpoint/2010/main" val="1972092658"/>
              </p:ext>
            </p:extLst>
          </p:nvPr>
        </p:nvGraphicFramePr>
        <p:xfrm>
          <a:off x="4623716" y="5385164"/>
          <a:ext cx="1397367" cy="707887"/>
        </p:xfrm>
        <a:graphic>
          <a:graphicData uri="http://schemas.openxmlformats.org/presentationml/2006/ole">
            <mc:AlternateContent xmlns:mc="http://schemas.openxmlformats.org/markup-compatibility/2006">
              <mc:Choice xmlns:v="urn:schemas-microsoft-com:vml" Requires="v">
                <p:oleObj spid="_x0000_s191537" r:id="rId7" imgW="1020240" imgH="504000" progId="Equation.3">
                  <p:embed/>
                </p:oleObj>
              </mc:Choice>
              <mc:Fallback>
                <p:oleObj r:id="rId7" imgW="1020240" imgH="504000" progId="Equation.3">
                  <p:embed/>
                  <p:pic>
                    <p:nvPicPr>
                      <p:cNvPr id="0" name=""/>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23716" y="5385164"/>
                        <a:ext cx="1397367" cy="707887"/>
                      </a:xfrm>
                      <a:prstGeom prst="rect">
                        <a:avLst/>
                      </a:prstGeom>
                      <a:noFill/>
                      <a:ln w="9525">
                        <a:solidFill>
                          <a:srgbClr val="FF3300"/>
                        </a:solidFill>
                        <a:miter lim="800000"/>
                        <a:headEnd/>
                        <a:tailEnd/>
                      </a:ln>
                    </p:spPr>
                  </p:pic>
                </p:oleObj>
              </mc:Fallback>
            </mc:AlternateContent>
          </a:graphicData>
        </a:graphic>
      </p:graphicFrame>
      <p:sp>
        <p:nvSpPr>
          <p:cNvPr id="17" name="Text Box 18">
            <a:extLst>
              <a:ext uri="{FF2B5EF4-FFF2-40B4-BE49-F238E27FC236}">
                <a16:creationId xmlns="" xmlns:a16="http://schemas.microsoft.com/office/drawing/2014/main" id="{B06C18CA-FEA4-1246-3777-17B62730BE0B}"/>
              </a:ext>
            </a:extLst>
          </p:cNvPr>
          <p:cNvSpPr txBox="1">
            <a:spLocks noChangeArrowheads="1"/>
          </p:cNvSpPr>
          <p:nvPr/>
        </p:nvSpPr>
        <p:spPr bwMode="auto">
          <a:xfrm>
            <a:off x="1578430" y="6302427"/>
            <a:ext cx="361829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r>
              <a:rPr lang="zh-CN" altLang="en-US" sz="1800" b="0">
                <a:latin typeface="Times New Roman" panose="02020603050405020304" pitchFamily="18" charset="0"/>
                <a:ea typeface="+mn-ea"/>
                <a:cs typeface="Times New Roman" panose="02020603050405020304" pitchFamily="18" charset="0"/>
              </a:rPr>
              <a:t>一般</a:t>
            </a:r>
            <a:r>
              <a:rPr lang="en-US" altLang="zh-CN" sz="1800" b="0" i="1">
                <a:latin typeface="Times New Roman" panose="02020603050405020304" pitchFamily="18" charset="0"/>
                <a:ea typeface="+mn-ea"/>
                <a:cs typeface="Times New Roman" panose="02020603050405020304" pitchFamily="18" charset="0"/>
              </a:rPr>
              <a:t>C</a:t>
            </a:r>
            <a:r>
              <a:rPr lang="en-US" altLang="zh-CN" sz="1800" b="0" baseline="-25000">
                <a:latin typeface="Times New Roman" panose="02020603050405020304" pitchFamily="18" charset="0"/>
                <a:ea typeface="+mn-ea"/>
                <a:cs typeface="Times New Roman" panose="02020603050405020304" pitchFamily="18" charset="0"/>
              </a:rPr>
              <a:t>c</a:t>
            </a:r>
            <a:r>
              <a:rPr lang="zh-CN" altLang="en-US" sz="1800" b="0">
                <a:latin typeface="Times New Roman" panose="02020603050405020304" pitchFamily="18" charset="0"/>
                <a:ea typeface="+mn-ea"/>
                <a:cs typeface="Times New Roman" panose="02020603050405020304" pitchFamily="18" charset="0"/>
              </a:rPr>
              <a:t>约为几</a:t>
            </a:r>
            <a:r>
              <a:rPr lang="zh-CN" altLang="en-US" sz="1800" b="0">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sz="1800" b="0">
                <a:latin typeface="Times New Roman" panose="02020603050405020304" pitchFamily="18" charset="0"/>
                <a:ea typeface="+mn-ea"/>
                <a:cs typeface="Times New Roman" panose="02020603050405020304" pitchFamily="18" charset="0"/>
              </a:rPr>
              <a:t>F</a:t>
            </a:r>
            <a:r>
              <a:rPr lang="zh-CN" altLang="en-US" sz="1800" b="0">
                <a:latin typeface="Times New Roman" panose="02020603050405020304" pitchFamily="18" charset="0"/>
                <a:ea typeface="+mn-ea"/>
                <a:cs typeface="Times New Roman" panose="02020603050405020304" pitchFamily="18" charset="0"/>
              </a:rPr>
              <a:t>，</a:t>
            </a:r>
            <a:r>
              <a:rPr lang="en-US" altLang="zh-CN" sz="1800" b="0">
                <a:latin typeface="Times New Roman" panose="02020603050405020304" pitchFamily="18" charset="0"/>
                <a:ea typeface="+mn-ea"/>
                <a:cs typeface="Times New Roman" panose="02020603050405020304" pitchFamily="18" charset="0"/>
              </a:rPr>
              <a:t>C</a:t>
            </a:r>
            <a:r>
              <a:rPr lang="zh-CN" altLang="en-US" sz="1800" b="0">
                <a:latin typeface="Times New Roman" panose="02020603050405020304" pitchFamily="18" charset="0"/>
                <a:ea typeface="+mn-ea"/>
                <a:cs typeface="Times New Roman" panose="02020603050405020304" pitchFamily="18" charset="0"/>
              </a:rPr>
              <a:t>约为</a:t>
            </a:r>
            <a:r>
              <a:rPr lang="en-US" altLang="zh-CN" sz="1800" b="0">
                <a:latin typeface="Times New Roman" panose="02020603050405020304" pitchFamily="18" charset="0"/>
                <a:ea typeface="+mn-ea"/>
                <a:cs typeface="Times New Roman" panose="02020603050405020304" pitchFamily="18" charset="0"/>
              </a:rPr>
              <a:t>0.01</a:t>
            </a:r>
            <a:r>
              <a:rPr lang="en-US" altLang="zh-CN" sz="1800" b="0">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sz="1800" b="0">
                <a:latin typeface="Times New Roman" panose="02020603050405020304" pitchFamily="18" charset="0"/>
                <a:ea typeface="+mn-ea"/>
                <a:cs typeface="Times New Roman" panose="02020603050405020304" pitchFamily="18" charset="0"/>
              </a:rPr>
              <a:t>F</a:t>
            </a:r>
            <a:r>
              <a:rPr lang="zh-CN" altLang="en-US" sz="1800" b="0">
                <a:latin typeface="Times New Roman" panose="02020603050405020304" pitchFamily="18" charset="0"/>
                <a:ea typeface="+mn-ea"/>
                <a:cs typeface="Times New Roman" panose="02020603050405020304" pitchFamily="18" charset="0"/>
              </a:rPr>
              <a:t>。</a:t>
            </a:r>
          </a:p>
        </p:txBody>
      </p:sp>
      <p:sp>
        <p:nvSpPr>
          <p:cNvPr id="18" name="Rectangle 2">
            <a:extLst>
              <a:ext uri="{FF2B5EF4-FFF2-40B4-BE49-F238E27FC236}">
                <a16:creationId xmlns="" xmlns:a16="http://schemas.microsoft.com/office/drawing/2014/main" id="{BFEF3D1D-A668-C906-C569-633F00271BD8}"/>
              </a:ext>
            </a:extLst>
          </p:cNvPr>
          <p:cNvSpPr>
            <a:spLocks noChangeArrowheads="1"/>
          </p:cNvSpPr>
          <p:nvPr/>
        </p:nvSpPr>
        <p:spPr bwMode="auto">
          <a:xfrm>
            <a:off x="466527" y="1638191"/>
            <a:ext cx="46101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r>
              <a:rPr lang="zh-CN" altLang="en-US" sz="1800" b="0" dirty="0">
                <a:latin typeface="Times New Roman" panose="02020603050405020304" pitchFamily="18" charset="0"/>
                <a:ea typeface="+mn-ea"/>
                <a:cs typeface="Times New Roman" panose="02020603050405020304" pitchFamily="18" charset="0"/>
              </a:rPr>
              <a:t>这种失真是由检波二极管伏安特性曲线的非线性所引起的。用失真系数</a:t>
            </a:r>
            <a:r>
              <a:rPr lang="en-US" altLang="zh-CN" sz="1800" b="0" dirty="0" err="1">
                <a:latin typeface="Times New Roman" panose="02020603050405020304" pitchFamily="18" charset="0"/>
                <a:ea typeface="+mn-ea"/>
                <a:cs typeface="Times New Roman" panose="02020603050405020304" pitchFamily="18" charset="0"/>
              </a:rPr>
              <a:t>Kf</a:t>
            </a:r>
            <a:r>
              <a:rPr lang="zh-CN" altLang="en-US" sz="1800" b="0" dirty="0">
                <a:latin typeface="Times New Roman" panose="02020603050405020304" pitchFamily="18" charset="0"/>
                <a:ea typeface="+mn-ea"/>
                <a:cs typeface="Times New Roman" panose="02020603050405020304" pitchFamily="18" charset="0"/>
              </a:rPr>
              <a:t>表示.</a:t>
            </a:r>
            <a:endParaRPr lang="en-US" altLang="zh-CN" sz="1800" b="0" dirty="0">
              <a:latin typeface="Times New Roman" panose="02020603050405020304" pitchFamily="18" charset="0"/>
              <a:ea typeface="+mn-ea"/>
              <a:cs typeface="Times New Roman" panose="02020603050405020304" pitchFamily="18" charset="0"/>
            </a:endParaRPr>
          </a:p>
        </p:txBody>
      </p:sp>
      <p:graphicFrame>
        <p:nvGraphicFramePr>
          <p:cNvPr id="19" name="Object 3">
            <a:extLst>
              <a:ext uri="{FF2B5EF4-FFF2-40B4-BE49-F238E27FC236}">
                <a16:creationId xmlns="" xmlns:a16="http://schemas.microsoft.com/office/drawing/2014/main" id="{E5BFB0ED-D99E-0E32-96B5-4B9F0A509D76}"/>
              </a:ext>
            </a:extLst>
          </p:cNvPr>
          <p:cNvGraphicFramePr>
            <a:graphicFrameLocks/>
          </p:cNvGraphicFramePr>
          <p:nvPr>
            <p:extLst>
              <p:ext uri="{D42A27DB-BD31-4B8C-83A1-F6EECF244321}">
                <p14:modId xmlns:p14="http://schemas.microsoft.com/office/powerpoint/2010/main" val="492065650"/>
              </p:ext>
            </p:extLst>
          </p:nvPr>
        </p:nvGraphicFramePr>
        <p:xfrm>
          <a:off x="5219502" y="1700361"/>
          <a:ext cx="2667000" cy="1206500"/>
        </p:xfrm>
        <a:graphic>
          <a:graphicData uri="http://schemas.openxmlformats.org/presentationml/2006/ole">
            <mc:AlternateContent xmlns:mc="http://schemas.openxmlformats.org/markup-compatibility/2006">
              <mc:Choice xmlns:v="urn:schemas-microsoft-com:vml" Requires="v">
                <p:oleObj spid="_x0000_s191538" r:id="rId9" imgW="2343279" imgH="1305077" progId="Word.Picture.8">
                  <p:embed/>
                </p:oleObj>
              </mc:Choice>
              <mc:Fallback>
                <p:oleObj r:id="rId9" imgW="2343279" imgH="1305077" progId="Word.Picture.8">
                  <p:embed/>
                  <p:pic>
                    <p:nvPicPr>
                      <p:cNvPr id="0" name=""/>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219502" y="1700361"/>
                        <a:ext cx="2667000" cy="120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0" name="Text Box 13">
            <a:extLst>
              <a:ext uri="{FF2B5EF4-FFF2-40B4-BE49-F238E27FC236}">
                <a16:creationId xmlns="" xmlns:a16="http://schemas.microsoft.com/office/drawing/2014/main" id="{8DD087A6-B7AA-F447-615A-FDD68A7526DC}"/>
              </a:ext>
            </a:extLst>
          </p:cNvPr>
          <p:cNvSpPr txBox="1">
            <a:spLocks noChangeArrowheads="1"/>
          </p:cNvSpPr>
          <p:nvPr/>
        </p:nvSpPr>
        <p:spPr bwMode="auto">
          <a:xfrm>
            <a:off x="466527" y="5057265"/>
            <a:ext cx="615745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r>
              <a:rPr lang="zh-CN" altLang="en-US" sz="1800" b="0" dirty="0">
                <a:latin typeface="Times New Roman" panose="02020603050405020304" pitchFamily="18" charset="0"/>
                <a:ea typeface="+mn-ea"/>
                <a:cs typeface="Times New Roman" panose="02020603050405020304" pitchFamily="18" charset="0"/>
              </a:rPr>
              <a:t>电容</a:t>
            </a:r>
            <a:r>
              <a:rPr lang="en-US" altLang="zh-CN" sz="1800" b="0" dirty="0">
                <a:latin typeface="Times New Roman" panose="02020603050405020304" pitchFamily="18" charset="0"/>
                <a:ea typeface="+mn-ea"/>
                <a:cs typeface="Times New Roman" panose="02020603050405020304" pitchFamily="18" charset="0"/>
              </a:rPr>
              <a:t>C</a:t>
            </a:r>
            <a:r>
              <a:rPr lang="zh-CN" altLang="en-US" sz="1800" b="0" dirty="0">
                <a:latin typeface="Times New Roman" panose="02020603050405020304" pitchFamily="18" charset="0"/>
                <a:ea typeface="+mn-ea"/>
                <a:cs typeface="Times New Roman" panose="02020603050405020304" pitchFamily="18" charset="0"/>
              </a:rPr>
              <a:t>的容抗应在上限频率</a:t>
            </a:r>
            <a:r>
              <a:rPr lang="zh-CN" altLang="en-US" sz="1800" b="0" dirty="0">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sz="1800" b="0" baseline="-25000" dirty="0">
                <a:latin typeface="Times New Roman" panose="02020603050405020304" pitchFamily="18" charset="0"/>
                <a:ea typeface="+mn-ea"/>
                <a:cs typeface="Times New Roman" panose="02020603050405020304" pitchFamily="18" charset="0"/>
              </a:rPr>
              <a:t>max</a:t>
            </a:r>
            <a:r>
              <a:rPr lang="zh-CN" altLang="en-US" sz="1800" b="0" dirty="0">
                <a:latin typeface="Times New Roman" panose="02020603050405020304" pitchFamily="18" charset="0"/>
                <a:ea typeface="+mn-ea"/>
                <a:cs typeface="Times New Roman" panose="02020603050405020304" pitchFamily="18" charset="0"/>
              </a:rPr>
              <a:t>时，不产生旁路作用，即它</a:t>
            </a:r>
          </a:p>
          <a:p>
            <a:pPr eaLnBrk="1" hangingPunct="1"/>
            <a:r>
              <a:rPr lang="zh-CN" altLang="en-US" sz="1800" b="0" dirty="0">
                <a:latin typeface="Times New Roman" panose="02020603050405020304" pitchFamily="18" charset="0"/>
                <a:ea typeface="+mn-ea"/>
                <a:cs typeface="Times New Roman" panose="02020603050405020304" pitchFamily="18" charset="0"/>
              </a:rPr>
              <a:t>应满足下列条件：</a:t>
            </a:r>
          </a:p>
        </p:txBody>
      </p:sp>
      <p:graphicFrame>
        <p:nvGraphicFramePr>
          <p:cNvPr id="21" name="Object 6">
            <a:extLst>
              <a:ext uri="{FF2B5EF4-FFF2-40B4-BE49-F238E27FC236}">
                <a16:creationId xmlns="" xmlns:a16="http://schemas.microsoft.com/office/drawing/2014/main" id="{4267A797-6A8B-8D9E-3A03-445503A17C09}"/>
              </a:ext>
            </a:extLst>
          </p:cNvPr>
          <p:cNvGraphicFramePr>
            <a:graphicFrameLocks/>
          </p:cNvGraphicFramePr>
          <p:nvPr>
            <p:extLst>
              <p:ext uri="{D42A27DB-BD31-4B8C-83A1-F6EECF244321}">
                <p14:modId xmlns:p14="http://schemas.microsoft.com/office/powerpoint/2010/main" val="2591585813"/>
              </p:ext>
            </p:extLst>
          </p:nvPr>
        </p:nvGraphicFramePr>
        <p:xfrm>
          <a:off x="2596105" y="5470615"/>
          <a:ext cx="1295400" cy="665162"/>
        </p:xfrm>
        <a:graphic>
          <a:graphicData uri="http://schemas.openxmlformats.org/presentationml/2006/ole">
            <mc:AlternateContent xmlns:mc="http://schemas.openxmlformats.org/markup-compatibility/2006">
              <mc:Choice xmlns:v="urn:schemas-microsoft-com:vml" Requires="v">
                <p:oleObj spid="_x0000_s191539" r:id="rId11" imgW="863225" imgH="444307" progId="Equation.3">
                  <p:embed/>
                </p:oleObj>
              </mc:Choice>
              <mc:Fallback>
                <p:oleObj r:id="rId11" imgW="863225" imgH="444307" progId="Equation.3">
                  <p:embed/>
                  <p:pic>
                    <p:nvPicPr>
                      <p:cNvPr id="0" name=""/>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596105" y="5470615"/>
                        <a:ext cx="1295400" cy="665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604147994"/>
      </p:ext>
    </p:extLst>
  </p:cSld>
  <p:clrMapOvr>
    <a:masterClrMapping/>
  </p:clrMapOvr>
  <p:timing>
    <p:tnLst>
      <p:par>
        <p:cTn id="1" dur="indefinite" restart="never" nodeType="tmRoot"/>
      </p:par>
    </p:tnLst>
  </p:timing>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242</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5"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6.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振幅调制</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与</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解调</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 name="Rectangle 16">
            <a:extLst>
              <a:ext uri="{FF2B5EF4-FFF2-40B4-BE49-F238E27FC236}">
                <a16:creationId xmlns="" xmlns:a16="http://schemas.microsoft.com/office/drawing/2014/main" id="{1B56344D-CC75-5AF8-915E-DE50BBE44F04}"/>
              </a:ext>
            </a:extLst>
          </p:cNvPr>
          <p:cNvSpPr>
            <a:spLocks noChangeArrowheads="1"/>
          </p:cNvSpPr>
          <p:nvPr/>
        </p:nvSpPr>
        <p:spPr bwMode="auto">
          <a:xfrm>
            <a:off x="214312" y="1277406"/>
            <a:ext cx="8709026"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9pPr>
          </a:lstStyle>
          <a:p>
            <a:pPr algn="just" eaLnBrk="1" hangingPunct="1"/>
            <a:r>
              <a:rPr lang="zh-CN" altLang="en-US" sz="2000" b="0" dirty="0">
                <a:latin typeface="+mn-ea"/>
                <a:ea typeface="+mn-ea"/>
              </a:rPr>
              <a:t>   例:二极管包络检波器如图所示。现要求检波器的等效输入电阻</a:t>
            </a:r>
            <a:r>
              <a:rPr lang="en-US" altLang="zh-CN" sz="2000" b="0" dirty="0">
                <a:latin typeface="Times New Roman" panose="02020603050405020304" pitchFamily="18" charset="0"/>
                <a:ea typeface="+mn-ea"/>
                <a:cs typeface="Times New Roman" panose="02020603050405020304" pitchFamily="18" charset="0"/>
              </a:rPr>
              <a:t>R</a:t>
            </a:r>
            <a:r>
              <a:rPr lang="en-US" altLang="zh-CN" sz="2000" b="0" baseline="-30000" dirty="0">
                <a:latin typeface="Times New Roman" panose="02020603050405020304" pitchFamily="18" charset="0"/>
                <a:ea typeface="+mn-ea"/>
                <a:cs typeface="Times New Roman" panose="02020603050405020304" pitchFamily="18" charset="0"/>
              </a:rPr>
              <a:t>id</a:t>
            </a:r>
            <a:r>
              <a:rPr lang="en-US" altLang="zh-CN" sz="2000" b="0" dirty="0">
                <a:latin typeface="Times New Roman" panose="02020603050405020304" pitchFamily="18" charset="0"/>
                <a:ea typeface="+mn-ea"/>
                <a:cs typeface="Times New Roman" panose="02020603050405020304" pitchFamily="18" charset="0"/>
              </a:rPr>
              <a:t>&gt;&gt;5k</a:t>
            </a:r>
            <a:r>
              <a:rPr lang="en-US" altLang="zh-CN" sz="2000" b="0" dirty="0">
                <a:latin typeface="Times New Roman" panose="02020603050405020304" pitchFamily="18" charset="0"/>
                <a:ea typeface="+mn-ea"/>
                <a:cs typeface="Times New Roman" panose="02020603050405020304" pitchFamily="18" charset="0"/>
                <a:sym typeface="Symbol" panose="05050102010706020507" pitchFamily="18" charset="2"/>
              </a:rPr>
              <a:t> </a:t>
            </a:r>
            <a:r>
              <a:rPr lang="zh-CN" altLang="en-US" sz="2000" b="0" dirty="0">
                <a:latin typeface="+mn-ea"/>
                <a:ea typeface="+mn-ea"/>
              </a:rPr>
              <a:t>时，不产生惰性失真和负峰切割失真。选择检波器的各元件参数值。</a:t>
            </a:r>
          </a:p>
          <a:p>
            <a:pPr algn="just" eaLnBrk="1" hangingPunct="1"/>
            <a:r>
              <a:rPr lang="zh-CN" altLang="en-US" sz="2000" b="0" dirty="0">
                <a:latin typeface="+mn-ea"/>
                <a:ea typeface="+mn-ea"/>
              </a:rPr>
              <a:t>（设调制信号频率</a:t>
            </a:r>
            <a:r>
              <a:rPr lang="en-US" altLang="zh-CN" sz="2000" b="0" dirty="0">
                <a:latin typeface="+mn-ea"/>
                <a:ea typeface="+mn-ea"/>
                <a:sym typeface="Symbol" panose="05050102010706020507" pitchFamily="18" charset="2"/>
              </a:rPr>
              <a:t>F</a:t>
            </a:r>
            <a:r>
              <a:rPr lang="zh-CN" altLang="en-US" sz="2000" b="0" dirty="0">
                <a:latin typeface="+mn-ea"/>
                <a:ea typeface="+mn-ea"/>
                <a:sym typeface="Symbol" panose="05050102010706020507" pitchFamily="18" charset="2"/>
              </a:rPr>
              <a:t>为</a:t>
            </a:r>
            <a:r>
              <a:rPr lang="zh-CN" altLang="en-US" sz="2000" b="0" dirty="0">
                <a:latin typeface="Times New Roman" panose="02020603050405020304" pitchFamily="18" charset="0"/>
                <a:ea typeface="+mn-ea"/>
                <a:cs typeface="Times New Roman" panose="02020603050405020304" pitchFamily="18" charset="0"/>
                <a:sym typeface="Symbol" panose="05050102010706020507" pitchFamily="18" charset="2"/>
              </a:rPr>
              <a:t>300~3000</a:t>
            </a:r>
            <a:r>
              <a:rPr lang="en-US" altLang="zh-CN" sz="2000" b="0" dirty="0">
                <a:latin typeface="Times New Roman" panose="02020603050405020304" pitchFamily="18" charset="0"/>
                <a:ea typeface="+mn-ea"/>
                <a:cs typeface="Times New Roman" panose="02020603050405020304" pitchFamily="18" charset="0"/>
                <a:sym typeface="Symbol" panose="05050102010706020507" pitchFamily="18" charset="2"/>
              </a:rPr>
              <a:t>Hz</a:t>
            </a:r>
            <a:r>
              <a:rPr lang="en-US" altLang="zh-CN" sz="2000" b="0" dirty="0">
                <a:latin typeface="+mn-ea"/>
                <a:ea typeface="+mn-ea"/>
                <a:sym typeface="Symbol" panose="05050102010706020507" pitchFamily="18" charset="2"/>
              </a:rPr>
              <a:t>；</a:t>
            </a:r>
            <a:r>
              <a:rPr lang="zh-CN" altLang="en-US" sz="2000" b="0" dirty="0">
                <a:latin typeface="+mn-ea"/>
                <a:ea typeface="+mn-ea"/>
                <a:sym typeface="Symbol" panose="05050102010706020507" pitchFamily="18" charset="2"/>
              </a:rPr>
              <a:t>信号中的载频为465</a:t>
            </a:r>
            <a:r>
              <a:rPr lang="en-US" altLang="zh-CN" sz="2000" b="0" dirty="0">
                <a:latin typeface="+mn-ea"/>
                <a:ea typeface="+mn-ea"/>
                <a:sym typeface="Symbol" panose="05050102010706020507" pitchFamily="18" charset="2"/>
              </a:rPr>
              <a:t>kHz；</a:t>
            </a:r>
            <a:r>
              <a:rPr lang="zh-CN" altLang="en-US" sz="2000" b="0" dirty="0">
                <a:latin typeface="+mn-ea"/>
                <a:ea typeface="+mn-ea"/>
                <a:sym typeface="Symbol" panose="05050102010706020507" pitchFamily="18" charset="2"/>
              </a:rPr>
              <a:t>二极管的正向导通电阻</a:t>
            </a:r>
            <a:r>
              <a:rPr lang="en-US" altLang="zh-CN" sz="2000" b="0" dirty="0">
                <a:latin typeface="Times New Roman" panose="02020603050405020304" pitchFamily="18" charset="0"/>
                <a:ea typeface="+mn-ea"/>
                <a:cs typeface="Times New Roman" panose="02020603050405020304" pitchFamily="18" charset="0"/>
                <a:sym typeface="Symbol" panose="05050102010706020507" pitchFamily="18" charset="2"/>
              </a:rPr>
              <a:t>R</a:t>
            </a:r>
            <a:r>
              <a:rPr lang="en-US" altLang="zh-CN" sz="2000" b="0" baseline="-30000" dirty="0">
                <a:latin typeface="Times New Roman" panose="02020603050405020304" pitchFamily="18" charset="0"/>
                <a:ea typeface="+mn-ea"/>
                <a:cs typeface="Times New Roman" panose="02020603050405020304" pitchFamily="18" charset="0"/>
                <a:sym typeface="Symbol" panose="05050102010706020507" pitchFamily="18" charset="2"/>
              </a:rPr>
              <a:t>d</a:t>
            </a:r>
            <a:r>
              <a:rPr lang="en-US" altLang="zh-CN" sz="2000" b="0" dirty="0">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sz="2000" b="0" dirty="0">
                <a:latin typeface="Times New Roman" panose="02020603050405020304" pitchFamily="18" charset="0"/>
                <a:ea typeface="+mn-ea"/>
                <a:cs typeface="Times New Roman" panose="02020603050405020304" pitchFamily="18" charset="0"/>
              </a:rPr>
              <a:t>100</a:t>
            </a:r>
            <a:r>
              <a:rPr lang="en-US" altLang="zh-CN" sz="2000" b="0" dirty="0">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sz="2000" b="0" dirty="0">
                <a:latin typeface="+mn-ea"/>
                <a:ea typeface="+mn-ea"/>
              </a:rPr>
              <a:t>，</a:t>
            </a:r>
            <a:r>
              <a:rPr lang="zh-CN" altLang="en-US" sz="2000" b="0" dirty="0">
                <a:latin typeface="+mn-ea"/>
                <a:ea typeface="+mn-ea"/>
              </a:rPr>
              <a:t>低放输入阻抗</a:t>
            </a:r>
            <a:r>
              <a:rPr lang="en-US" altLang="zh-CN" sz="2000" b="0" dirty="0">
                <a:latin typeface="Times New Roman" panose="02020603050405020304" pitchFamily="18" charset="0"/>
                <a:ea typeface="+mn-ea"/>
                <a:cs typeface="Times New Roman" panose="02020603050405020304" pitchFamily="18" charset="0"/>
                <a:sym typeface="Symbol" panose="05050102010706020507" pitchFamily="18" charset="2"/>
              </a:rPr>
              <a:t>R</a:t>
            </a:r>
            <a:r>
              <a:rPr lang="en-US" altLang="zh-CN" sz="2000" b="0" baseline="-30000" dirty="0">
                <a:latin typeface="Times New Roman" panose="02020603050405020304" pitchFamily="18" charset="0"/>
                <a:ea typeface="+mn-ea"/>
                <a:cs typeface="Times New Roman" panose="02020603050405020304" pitchFamily="18" charset="0"/>
                <a:sym typeface="Symbol" panose="05050102010706020507" pitchFamily="18" charset="2"/>
              </a:rPr>
              <a:t>g</a:t>
            </a:r>
            <a:r>
              <a:rPr lang="en-US" altLang="zh-CN" sz="2000" b="0" dirty="0">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sz="2000" b="0" dirty="0">
                <a:latin typeface="Times New Roman" panose="02020603050405020304" pitchFamily="18" charset="0"/>
                <a:ea typeface="+mn-ea"/>
                <a:cs typeface="Times New Roman" panose="02020603050405020304" pitchFamily="18" charset="0"/>
              </a:rPr>
              <a:t>2k</a:t>
            </a:r>
            <a:r>
              <a:rPr lang="en-US" altLang="zh-CN" sz="2000" b="0" dirty="0">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sz="2000" b="0" dirty="0">
                <a:latin typeface="+mn-ea"/>
                <a:ea typeface="+mn-ea"/>
              </a:rPr>
              <a:t>，</a:t>
            </a:r>
            <a:r>
              <a:rPr lang="zh-CN" altLang="en-US" sz="2000" b="0" dirty="0">
                <a:latin typeface="+mn-ea"/>
                <a:ea typeface="+mn-ea"/>
              </a:rPr>
              <a:t>调制指数         </a:t>
            </a:r>
            <a:r>
              <a:rPr lang="zh-CN" altLang="en-US" sz="2000" b="0" dirty="0">
                <a:latin typeface="+mn-ea"/>
                <a:ea typeface="+mn-ea"/>
                <a:sym typeface="Symbol" panose="05050102010706020507" pitchFamily="18" charset="2"/>
              </a:rPr>
              <a:t>）</a:t>
            </a:r>
          </a:p>
        </p:txBody>
      </p:sp>
      <p:graphicFrame>
        <p:nvGraphicFramePr>
          <p:cNvPr id="7" name="Object 15">
            <a:extLst>
              <a:ext uri="{FF2B5EF4-FFF2-40B4-BE49-F238E27FC236}">
                <a16:creationId xmlns="" xmlns:a16="http://schemas.microsoft.com/office/drawing/2014/main" id="{32B26629-96D1-184D-2AEF-695B92182082}"/>
              </a:ext>
            </a:extLst>
          </p:cNvPr>
          <p:cNvGraphicFramePr>
            <a:graphicFrameLocks/>
          </p:cNvGraphicFramePr>
          <p:nvPr>
            <p:extLst>
              <p:ext uri="{D42A27DB-BD31-4B8C-83A1-F6EECF244321}">
                <p14:modId xmlns:p14="http://schemas.microsoft.com/office/powerpoint/2010/main" val="1048583255"/>
              </p:ext>
            </p:extLst>
          </p:nvPr>
        </p:nvGraphicFramePr>
        <p:xfrm>
          <a:off x="6284006" y="2200538"/>
          <a:ext cx="990600" cy="377825"/>
        </p:xfrm>
        <a:graphic>
          <a:graphicData uri="http://schemas.openxmlformats.org/presentationml/2006/ole">
            <mc:AlternateContent xmlns:mc="http://schemas.openxmlformats.org/markup-compatibility/2006">
              <mc:Choice xmlns:v="urn:schemas-microsoft-com:vml" Requires="v">
                <p:oleObj spid="_x0000_s192523" r:id="rId3" imgW="520474" imgH="203112" progId="Equation.3">
                  <p:embed/>
                </p:oleObj>
              </mc:Choice>
              <mc:Fallback>
                <p:oleObj r:id="rId3" imgW="520474" imgH="203112" progId="Equation.3">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84006" y="2200538"/>
                        <a:ext cx="990600"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840839546"/>
      </p:ext>
    </p:extLst>
  </p:cSld>
  <p:clrMapOvr>
    <a:masterClrMapping/>
  </p:clrMapOvr>
  <p:timing>
    <p:tnLst>
      <p:par>
        <p:cTn id="1" dur="indefinite" restart="never" nodeType="tmRoot"/>
      </p:par>
    </p:tnLst>
  </p:timing>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243</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5"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6.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振幅调制</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与</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解调</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graphicFrame>
        <p:nvGraphicFramePr>
          <p:cNvPr id="6" name="Object 14">
            <a:extLst>
              <a:ext uri="{FF2B5EF4-FFF2-40B4-BE49-F238E27FC236}">
                <a16:creationId xmlns="" xmlns:a16="http://schemas.microsoft.com/office/drawing/2014/main" id="{2D82231E-6347-A746-949D-F9F0637FE538}"/>
              </a:ext>
            </a:extLst>
          </p:cNvPr>
          <p:cNvGraphicFramePr>
            <a:graphicFrameLocks/>
          </p:cNvGraphicFramePr>
          <p:nvPr>
            <p:extLst>
              <p:ext uri="{D42A27DB-BD31-4B8C-83A1-F6EECF244321}">
                <p14:modId xmlns:p14="http://schemas.microsoft.com/office/powerpoint/2010/main" val="3960375164"/>
              </p:ext>
            </p:extLst>
          </p:nvPr>
        </p:nvGraphicFramePr>
        <p:xfrm>
          <a:off x="5599027" y="1492803"/>
          <a:ext cx="3276600" cy="1230312"/>
        </p:xfrm>
        <a:graphic>
          <a:graphicData uri="http://schemas.openxmlformats.org/presentationml/2006/ole">
            <mc:AlternateContent xmlns:mc="http://schemas.openxmlformats.org/markup-compatibility/2006">
              <mc:Choice xmlns:v="urn:schemas-microsoft-com:vml" Requires="v">
                <p:oleObj spid="_x0000_s193658" r:id="rId3" imgW="3457467" imgH="1238212" progId="Word.Picture.8">
                  <p:embed/>
                </p:oleObj>
              </mc:Choice>
              <mc:Fallback>
                <p:oleObj r:id="rId3" imgW="3457467" imgH="1238212" progId="Word.Picture.8">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99027" y="1492803"/>
                        <a:ext cx="3276600" cy="1230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7" name="Group 28">
            <a:extLst>
              <a:ext uri="{FF2B5EF4-FFF2-40B4-BE49-F238E27FC236}">
                <a16:creationId xmlns="" xmlns:a16="http://schemas.microsoft.com/office/drawing/2014/main" id="{A89FD6BA-585A-70D0-A8EE-0013F233BEF3}"/>
              </a:ext>
            </a:extLst>
          </p:cNvPr>
          <p:cNvGrpSpPr>
            <a:grpSpLocks/>
          </p:cNvGrpSpPr>
          <p:nvPr/>
        </p:nvGrpSpPr>
        <p:grpSpPr bwMode="auto">
          <a:xfrm>
            <a:off x="320525" y="2663673"/>
            <a:ext cx="5026025" cy="396875"/>
            <a:chOff x="290" y="1938"/>
            <a:chExt cx="3166" cy="250"/>
          </a:xfrm>
        </p:grpSpPr>
        <p:graphicFrame>
          <p:nvGraphicFramePr>
            <p:cNvPr id="8" name="Object 12">
              <a:extLst>
                <a:ext uri="{FF2B5EF4-FFF2-40B4-BE49-F238E27FC236}">
                  <a16:creationId xmlns="" xmlns:a16="http://schemas.microsoft.com/office/drawing/2014/main" id="{F4D265C3-1023-24CD-E7E0-C55BCD1D05B7}"/>
                </a:ext>
              </a:extLst>
            </p:cNvPr>
            <p:cNvGraphicFramePr>
              <a:graphicFrameLocks/>
            </p:cNvGraphicFramePr>
            <p:nvPr/>
          </p:nvGraphicFramePr>
          <p:xfrm>
            <a:off x="2592" y="1968"/>
            <a:ext cx="864" cy="216"/>
          </p:xfrm>
          <a:graphic>
            <a:graphicData uri="http://schemas.openxmlformats.org/presentationml/2006/ole">
              <mc:AlternateContent xmlns:mc="http://schemas.openxmlformats.org/markup-compatibility/2006">
                <mc:Choice xmlns:v="urn:schemas-microsoft-com:vml" Requires="v">
                  <p:oleObj spid="_x0000_s193659" r:id="rId5" imgW="799753" imgH="203112" progId="Equation.3">
                    <p:embed/>
                  </p:oleObj>
                </mc:Choice>
                <mc:Fallback>
                  <p:oleObj r:id="rId5" imgW="799753" imgH="203112" progId="Equation.3">
                    <p:embed/>
                    <p:pic>
                      <p:nvPicPr>
                        <p:cNvPr id="0" name=""/>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92" y="1968"/>
                          <a:ext cx="864"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 name="Rectangle 18">
              <a:extLst>
                <a:ext uri="{FF2B5EF4-FFF2-40B4-BE49-F238E27FC236}">
                  <a16:creationId xmlns="" xmlns:a16="http://schemas.microsoft.com/office/drawing/2014/main" id="{0C989E37-74DD-4086-41F8-2E12BD1E6B2A}"/>
                </a:ext>
              </a:extLst>
            </p:cNvPr>
            <p:cNvSpPr>
              <a:spLocks noChangeArrowheads="1"/>
            </p:cNvSpPr>
            <p:nvPr/>
          </p:nvSpPr>
          <p:spPr bwMode="auto">
            <a:xfrm>
              <a:off x="290" y="1938"/>
              <a:ext cx="229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r>
                <a:rPr lang="zh-CN" altLang="en-US" sz="2000" b="0" dirty="0">
                  <a:latin typeface="Times New Roman" panose="02020603050405020304" pitchFamily="18" charset="0"/>
                  <a:ea typeface="+mn-ea"/>
                  <a:cs typeface="Times New Roman" panose="02020603050405020304" pitchFamily="18" charset="0"/>
                </a:rPr>
                <a:t>不产生负峰切割失真的条件是:</a:t>
              </a:r>
            </a:p>
          </p:txBody>
        </p:sp>
      </p:grpSp>
      <p:grpSp>
        <p:nvGrpSpPr>
          <p:cNvPr id="10" name="Group 29">
            <a:extLst>
              <a:ext uri="{FF2B5EF4-FFF2-40B4-BE49-F238E27FC236}">
                <a16:creationId xmlns="" xmlns:a16="http://schemas.microsoft.com/office/drawing/2014/main" id="{E6D37A57-7D9D-71E7-568F-D60525D633BE}"/>
              </a:ext>
            </a:extLst>
          </p:cNvPr>
          <p:cNvGrpSpPr>
            <a:grpSpLocks/>
          </p:cNvGrpSpPr>
          <p:nvPr/>
        </p:nvGrpSpPr>
        <p:grpSpPr bwMode="auto">
          <a:xfrm>
            <a:off x="5292914" y="2671157"/>
            <a:ext cx="2665542" cy="363520"/>
            <a:chOff x="3672" y="1891"/>
            <a:chExt cx="1829" cy="281"/>
          </a:xfrm>
        </p:grpSpPr>
        <p:graphicFrame>
          <p:nvGraphicFramePr>
            <p:cNvPr id="11" name="Object 10">
              <a:extLst>
                <a:ext uri="{FF2B5EF4-FFF2-40B4-BE49-F238E27FC236}">
                  <a16:creationId xmlns="" xmlns:a16="http://schemas.microsoft.com/office/drawing/2014/main" id="{282BA942-83E3-165A-E9B5-C99562263D7B}"/>
                </a:ext>
              </a:extLst>
            </p:cNvPr>
            <p:cNvGraphicFramePr>
              <a:graphicFrameLocks/>
            </p:cNvGraphicFramePr>
            <p:nvPr>
              <p:extLst>
                <p:ext uri="{D42A27DB-BD31-4B8C-83A1-F6EECF244321}">
                  <p14:modId xmlns:p14="http://schemas.microsoft.com/office/powerpoint/2010/main" val="3083409614"/>
                </p:ext>
              </p:extLst>
            </p:nvPr>
          </p:nvGraphicFramePr>
          <p:xfrm>
            <a:off x="4610" y="1898"/>
            <a:ext cx="891" cy="274"/>
          </p:xfrm>
          <a:graphic>
            <a:graphicData uri="http://schemas.openxmlformats.org/presentationml/2006/ole">
              <mc:AlternateContent xmlns:mc="http://schemas.openxmlformats.org/markup-compatibility/2006">
                <mc:Choice xmlns:v="urn:schemas-microsoft-com:vml" Requires="v">
                  <p:oleObj spid="_x0000_s193660" r:id="rId7" imgW="634725" imgH="203112" progId="Equation.3">
                    <p:embed/>
                  </p:oleObj>
                </mc:Choice>
                <mc:Fallback>
                  <p:oleObj r:id="rId7" imgW="634725" imgH="203112" progId="Equation.3">
                    <p:embed/>
                    <p:pic>
                      <p:nvPicPr>
                        <p:cNvPr id="0" name=""/>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10" y="1898"/>
                          <a:ext cx="891" cy="274"/>
                        </a:xfrm>
                        <a:prstGeom prst="rect">
                          <a:avLst/>
                        </a:prstGeom>
                        <a:noFill/>
                        <a:ln>
                          <a:noFill/>
                        </a:ln>
                        <a:extLst/>
                      </p:spPr>
                    </p:pic>
                  </p:oleObj>
                </mc:Fallback>
              </mc:AlternateContent>
            </a:graphicData>
          </a:graphic>
        </p:graphicFrame>
        <p:sp>
          <p:nvSpPr>
            <p:cNvPr id="12" name="Rectangle 20">
              <a:extLst>
                <a:ext uri="{FF2B5EF4-FFF2-40B4-BE49-F238E27FC236}">
                  <a16:creationId xmlns="" xmlns:a16="http://schemas.microsoft.com/office/drawing/2014/main" id="{F80E3CA3-82A1-EB9E-1DDD-E585B92E84DD}"/>
                </a:ext>
              </a:extLst>
            </p:cNvPr>
            <p:cNvSpPr>
              <a:spLocks noChangeArrowheads="1"/>
            </p:cNvSpPr>
            <p:nvPr/>
          </p:nvSpPr>
          <p:spPr bwMode="auto">
            <a:xfrm>
              <a:off x="3672" y="1891"/>
              <a:ext cx="979"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r>
                <a:rPr lang="zh-CN" altLang="en-US" sz="2000" b="0" dirty="0">
                  <a:latin typeface="Times New Roman" panose="02020603050405020304" pitchFamily="18" charset="0"/>
                  <a:ea typeface="+mn-ea"/>
                  <a:cs typeface="Times New Roman" panose="02020603050405020304" pitchFamily="18" charset="0"/>
                  <a:sym typeface="Symbol" panose="05050102010706020507" pitchFamily="18" charset="2"/>
                </a:rPr>
                <a:t>因此可得到</a:t>
              </a:r>
            </a:p>
          </p:txBody>
        </p:sp>
      </p:grpSp>
      <p:grpSp>
        <p:nvGrpSpPr>
          <p:cNvPr id="13" name="Group 30">
            <a:extLst>
              <a:ext uri="{FF2B5EF4-FFF2-40B4-BE49-F238E27FC236}">
                <a16:creationId xmlns="" xmlns:a16="http://schemas.microsoft.com/office/drawing/2014/main" id="{788BF872-B8D5-8FFF-5F98-08928301A072}"/>
              </a:ext>
            </a:extLst>
          </p:cNvPr>
          <p:cNvGrpSpPr>
            <a:grpSpLocks/>
          </p:cNvGrpSpPr>
          <p:nvPr/>
        </p:nvGrpSpPr>
        <p:grpSpPr bwMode="auto">
          <a:xfrm>
            <a:off x="399001" y="3031163"/>
            <a:ext cx="2449513" cy="406400"/>
            <a:chOff x="429" y="2254"/>
            <a:chExt cx="1543" cy="256"/>
          </a:xfrm>
        </p:grpSpPr>
        <p:graphicFrame>
          <p:nvGraphicFramePr>
            <p:cNvPr id="14" name="Object 9">
              <a:extLst>
                <a:ext uri="{FF2B5EF4-FFF2-40B4-BE49-F238E27FC236}">
                  <a16:creationId xmlns="" xmlns:a16="http://schemas.microsoft.com/office/drawing/2014/main" id="{2E5AAB9A-EA54-1A0C-D782-D1B888F7901F}"/>
                </a:ext>
              </a:extLst>
            </p:cNvPr>
            <p:cNvGraphicFramePr>
              <a:graphicFrameLocks/>
            </p:cNvGraphicFramePr>
            <p:nvPr>
              <p:extLst>
                <p:ext uri="{D42A27DB-BD31-4B8C-83A1-F6EECF244321}">
                  <p14:modId xmlns:p14="http://schemas.microsoft.com/office/powerpoint/2010/main" val="1878728121"/>
                </p:ext>
              </p:extLst>
            </p:nvPr>
          </p:nvGraphicFramePr>
          <p:xfrm>
            <a:off x="826" y="2277"/>
            <a:ext cx="1146" cy="233"/>
          </p:xfrm>
          <a:graphic>
            <a:graphicData uri="http://schemas.openxmlformats.org/presentationml/2006/ole">
              <mc:AlternateContent xmlns:mc="http://schemas.openxmlformats.org/markup-compatibility/2006">
                <mc:Choice xmlns:v="urn:schemas-microsoft-com:vml" Requires="v">
                  <p:oleObj spid="_x0000_s193661" r:id="rId9" imgW="1167893" imgH="203112" progId="Equation.3">
                    <p:embed/>
                  </p:oleObj>
                </mc:Choice>
                <mc:Fallback>
                  <p:oleObj r:id="rId9" imgW="1167893" imgH="203112" progId="Equation.3">
                    <p:embed/>
                    <p:pic>
                      <p:nvPicPr>
                        <p:cNvPr id="0" name=""/>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26" y="2277"/>
                          <a:ext cx="1146" cy="233"/>
                        </a:xfrm>
                        <a:prstGeom prst="rect">
                          <a:avLst/>
                        </a:prstGeom>
                        <a:noFill/>
                        <a:ln>
                          <a:noFill/>
                        </a:ln>
                        <a:extLst/>
                      </p:spPr>
                    </p:pic>
                  </p:oleObj>
                </mc:Fallback>
              </mc:AlternateContent>
            </a:graphicData>
          </a:graphic>
        </p:graphicFrame>
        <p:sp>
          <p:nvSpPr>
            <p:cNvPr id="15" name="Rectangle 21">
              <a:extLst>
                <a:ext uri="{FF2B5EF4-FFF2-40B4-BE49-F238E27FC236}">
                  <a16:creationId xmlns="" xmlns:a16="http://schemas.microsoft.com/office/drawing/2014/main" id="{307119CA-8F14-3F13-6CCC-D4DA03AF2A52}"/>
                </a:ext>
              </a:extLst>
            </p:cNvPr>
            <p:cNvSpPr>
              <a:spLocks noChangeArrowheads="1"/>
            </p:cNvSpPr>
            <p:nvPr/>
          </p:nvSpPr>
          <p:spPr bwMode="auto">
            <a:xfrm>
              <a:off x="429" y="2254"/>
              <a:ext cx="43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r>
                <a:rPr lang="zh-CN" altLang="en-US" sz="2000" b="0">
                  <a:latin typeface="Times New Roman" panose="02020603050405020304" pitchFamily="18" charset="0"/>
                  <a:ea typeface="+mn-ea"/>
                  <a:cs typeface="Times New Roman" panose="02020603050405020304" pitchFamily="18" charset="0"/>
                  <a:sym typeface="Symbol" panose="05050102010706020507" pitchFamily="18" charset="2"/>
                </a:rPr>
                <a:t>现取</a:t>
              </a:r>
            </a:p>
          </p:txBody>
        </p:sp>
      </p:grpSp>
      <p:grpSp>
        <p:nvGrpSpPr>
          <p:cNvPr id="16" name="Group 32">
            <a:extLst>
              <a:ext uri="{FF2B5EF4-FFF2-40B4-BE49-F238E27FC236}">
                <a16:creationId xmlns="" xmlns:a16="http://schemas.microsoft.com/office/drawing/2014/main" id="{8F14EE75-257E-DFAD-5C3D-B32ED44B476D}"/>
              </a:ext>
            </a:extLst>
          </p:cNvPr>
          <p:cNvGrpSpPr>
            <a:grpSpLocks/>
          </p:cNvGrpSpPr>
          <p:nvPr/>
        </p:nvGrpSpPr>
        <p:grpSpPr bwMode="auto">
          <a:xfrm>
            <a:off x="2839952" y="3040733"/>
            <a:ext cx="1906588" cy="396875"/>
            <a:chOff x="2071" y="2266"/>
            <a:chExt cx="1201" cy="250"/>
          </a:xfrm>
        </p:grpSpPr>
        <p:graphicFrame>
          <p:nvGraphicFramePr>
            <p:cNvPr id="17" name="Object 8">
              <a:extLst>
                <a:ext uri="{FF2B5EF4-FFF2-40B4-BE49-F238E27FC236}">
                  <a16:creationId xmlns="" xmlns:a16="http://schemas.microsoft.com/office/drawing/2014/main" id="{6CD2C973-479A-7490-0923-3626820F44DF}"/>
                </a:ext>
              </a:extLst>
            </p:cNvPr>
            <p:cNvGraphicFramePr>
              <a:graphicFrameLocks/>
            </p:cNvGraphicFramePr>
            <p:nvPr>
              <p:extLst>
                <p:ext uri="{D42A27DB-BD31-4B8C-83A1-F6EECF244321}">
                  <p14:modId xmlns:p14="http://schemas.microsoft.com/office/powerpoint/2010/main" val="4116780099"/>
                </p:ext>
              </p:extLst>
            </p:nvPr>
          </p:nvGraphicFramePr>
          <p:xfrm>
            <a:off x="2620" y="2283"/>
            <a:ext cx="652" cy="230"/>
          </p:xfrm>
          <a:graphic>
            <a:graphicData uri="http://schemas.openxmlformats.org/presentationml/2006/ole">
              <mc:AlternateContent xmlns:mc="http://schemas.openxmlformats.org/markup-compatibility/2006">
                <mc:Choice xmlns:v="urn:schemas-microsoft-com:vml" Requires="v">
                  <p:oleObj spid="_x0000_s193662" r:id="rId11" imgW="609336" imgH="203112" progId="Equation.3">
                    <p:embed/>
                  </p:oleObj>
                </mc:Choice>
                <mc:Fallback>
                  <p:oleObj r:id="rId11" imgW="609336" imgH="203112" progId="Equation.3">
                    <p:embed/>
                    <p:pic>
                      <p:nvPicPr>
                        <p:cNvPr id="0" name=""/>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620" y="2283"/>
                          <a:ext cx="652" cy="230"/>
                        </a:xfrm>
                        <a:prstGeom prst="rect">
                          <a:avLst/>
                        </a:prstGeom>
                        <a:noFill/>
                        <a:ln>
                          <a:noFill/>
                        </a:ln>
                        <a:extLst/>
                      </p:spPr>
                    </p:pic>
                  </p:oleObj>
                </mc:Fallback>
              </mc:AlternateContent>
            </a:graphicData>
          </a:graphic>
        </p:graphicFrame>
        <p:sp>
          <p:nvSpPr>
            <p:cNvPr id="18" name="Rectangle 22">
              <a:extLst>
                <a:ext uri="{FF2B5EF4-FFF2-40B4-BE49-F238E27FC236}">
                  <a16:creationId xmlns="" xmlns:a16="http://schemas.microsoft.com/office/drawing/2014/main" id="{55FE102A-56C1-5B89-A64B-5319AEEE51ED}"/>
                </a:ext>
              </a:extLst>
            </p:cNvPr>
            <p:cNvSpPr>
              <a:spLocks noChangeArrowheads="1"/>
            </p:cNvSpPr>
            <p:nvPr/>
          </p:nvSpPr>
          <p:spPr bwMode="auto">
            <a:xfrm>
              <a:off x="2071" y="2266"/>
              <a:ext cx="59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r>
                <a:rPr lang="zh-CN" altLang="en-US" sz="2000" b="0" dirty="0">
                  <a:latin typeface="Times New Roman" panose="02020603050405020304" pitchFamily="18" charset="0"/>
                  <a:ea typeface="+mn-ea"/>
                  <a:cs typeface="Times New Roman" panose="02020603050405020304" pitchFamily="18" charset="0"/>
                  <a:sym typeface="Symbol" panose="05050102010706020507" pitchFamily="18" charset="2"/>
                </a:rPr>
                <a:t>如给定</a:t>
              </a:r>
            </a:p>
          </p:txBody>
        </p:sp>
      </p:grpSp>
      <p:grpSp>
        <p:nvGrpSpPr>
          <p:cNvPr id="19" name="Group 33">
            <a:extLst>
              <a:ext uri="{FF2B5EF4-FFF2-40B4-BE49-F238E27FC236}">
                <a16:creationId xmlns="" xmlns:a16="http://schemas.microsoft.com/office/drawing/2014/main" id="{6FB44283-EC6D-FB49-D0BB-9E1AA7A2C5D2}"/>
              </a:ext>
            </a:extLst>
          </p:cNvPr>
          <p:cNvGrpSpPr>
            <a:grpSpLocks/>
          </p:cNvGrpSpPr>
          <p:nvPr/>
        </p:nvGrpSpPr>
        <p:grpSpPr bwMode="auto">
          <a:xfrm>
            <a:off x="4680490" y="3027988"/>
            <a:ext cx="1828800" cy="400050"/>
            <a:chOff x="3456" y="2496"/>
            <a:chExt cx="1152" cy="252"/>
          </a:xfrm>
        </p:grpSpPr>
        <p:graphicFrame>
          <p:nvGraphicFramePr>
            <p:cNvPr id="20" name="Object 7">
              <a:extLst>
                <a:ext uri="{FF2B5EF4-FFF2-40B4-BE49-F238E27FC236}">
                  <a16:creationId xmlns="" xmlns:a16="http://schemas.microsoft.com/office/drawing/2014/main" id="{4C87F44B-F547-9A5E-6452-7F7BE8939B6A}"/>
                </a:ext>
              </a:extLst>
            </p:cNvPr>
            <p:cNvGraphicFramePr>
              <a:graphicFrameLocks/>
            </p:cNvGraphicFramePr>
            <p:nvPr>
              <p:extLst>
                <p:ext uri="{D42A27DB-BD31-4B8C-83A1-F6EECF244321}">
                  <p14:modId xmlns:p14="http://schemas.microsoft.com/office/powerpoint/2010/main" val="1951820178"/>
                </p:ext>
              </p:extLst>
            </p:nvPr>
          </p:nvGraphicFramePr>
          <p:xfrm>
            <a:off x="3907" y="2521"/>
            <a:ext cx="701" cy="222"/>
          </p:xfrm>
          <a:graphic>
            <a:graphicData uri="http://schemas.openxmlformats.org/presentationml/2006/ole">
              <mc:AlternateContent xmlns:mc="http://schemas.openxmlformats.org/markup-compatibility/2006">
                <mc:Choice xmlns:v="urn:schemas-microsoft-com:vml" Requires="v">
                  <p:oleObj spid="_x0000_s193663" r:id="rId13" imgW="672808" imgH="203112" progId="Equation.3">
                    <p:embed/>
                  </p:oleObj>
                </mc:Choice>
                <mc:Fallback>
                  <p:oleObj r:id="rId13" imgW="672808" imgH="203112" progId="Equation.3">
                    <p:embed/>
                    <p:pic>
                      <p:nvPicPr>
                        <p:cNvPr id="0" name=""/>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907" y="2521"/>
                          <a:ext cx="701" cy="222"/>
                        </a:xfrm>
                        <a:prstGeom prst="rect">
                          <a:avLst/>
                        </a:prstGeom>
                        <a:noFill/>
                        <a:ln>
                          <a:noFill/>
                        </a:ln>
                        <a:extLst/>
                      </p:spPr>
                    </p:pic>
                  </p:oleObj>
                </mc:Fallback>
              </mc:AlternateContent>
            </a:graphicData>
          </a:graphic>
        </p:graphicFrame>
        <p:sp>
          <p:nvSpPr>
            <p:cNvPr id="21" name="Rectangle 23">
              <a:extLst>
                <a:ext uri="{FF2B5EF4-FFF2-40B4-BE49-F238E27FC236}">
                  <a16:creationId xmlns="" xmlns:a16="http://schemas.microsoft.com/office/drawing/2014/main" id="{1A94DD91-FEB2-ED30-577E-780B18DF214D}"/>
                </a:ext>
              </a:extLst>
            </p:cNvPr>
            <p:cNvSpPr>
              <a:spLocks noChangeArrowheads="1"/>
            </p:cNvSpPr>
            <p:nvPr/>
          </p:nvSpPr>
          <p:spPr bwMode="auto">
            <a:xfrm>
              <a:off x="3456" y="2496"/>
              <a:ext cx="48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r>
                <a:rPr lang="zh-CN" altLang="en-US" sz="2000" b="0" dirty="0">
                  <a:latin typeface="Times New Roman" panose="02020603050405020304" pitchFamily="18" charset="0"/>
                  <a:ea typeface="+mn-ea"/>
                  <a:cs typeface="Times New Roman" panose="02020603050405020304" pitchFamily="18" charset="0"/>
                  <a:sym typeface="Symbol" panose="05050102010706020507" pitchFamily="18" charset="2"/>
                </a:rPr>
                <a:t>，则 </a:t>
              </a:r>
            </a:p>
          </p:txBody>
        </p:sp>
      </p:grpSp>
      <p:sp>
        <p:nvSpPr>
          <p:cNvPr id="22" name="Rectangle 24">
            <a:extLst>
              <a:ext uri="{FF2B5EF4-FFF2-40B4-BE49-F238E27FC236}">
                <a16:creationId xmlns="" xmlns:a16="http://schemas.microsoft.com/office/drawing/2014/main" id="{966EBD27-52D7-BE6C-476C-3284C589D3FC}"/>
              </a:ext>
            </a:extLst>
          </p:cNvPr>
          <p:cNvSpPr>
            <a:spLocks noChangeArrowheads="1"/>
          </p:cNvSpPr>
          <p:nvPr/>
        </p:nvSpPr>
        <p:spPr bwMode="auto">
          <a:xfrm>
            <a:off x="251651" y="3477252"/>
            <a:ext cx="605646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r>
              <a:rPr lang="zh-CN" altLang="en-US" sz="2000" b="0" dirty="0">
                <a:latin typeface="Times New Roman" panose="02020603050405020304" pitchFamily="18" charset="0"/>
                <a:ea typeface="+mn-ea"/>
                <a:cs typeface="Times New Roman" panose="02020603050405020304" pitchFamily="18" charset="0"/>
                <a:sym typeface="Symbol" panose="05050102010706020507" pitchFamily="18" charset="2"/>
              </a:rPr>
              <a:t>（检验：直流负载</a:t>
            </a:r>
            <a:r>
              <a:rPr lang="en-US" altLang="zh-CN" sz="2000" b="0" dirty="0">
                <a:latin typeface="Times New Roman" panose="02020603050405020304" pitchFamily="18" charset="0"/>
                <a:ea typeface="+mn-ea"/>
                <a:cs typeface="Times New Roman" panose="02020603050405020304" pitchFamily="18" charset="0"/>
                <a:sym typeface="Symbol" panose="05050102010706020507" pitchFamily="18" charset="2"/>
              </a:rPr>
              <a:t>R=R</a:t>
            </a:r>
            <a:r>
              <a:rPr lang="en-US" altLang="zh-CN" sz="2000" b="0" baseline="-30000" dirty="0">
                <a:latin typeface="Times New Roman" panose="02020603050405020304" pitchFamily="18" charset="0"/>
                <a:ea typeface="+mn-ea"/>
                <a:cs typeface="Times New Roman" panose="02020603050405020304" pitchFamily="18" charset="0"/>
                <a:sym typeface="Symbol" panose="05050102010706020507" pitchFamily="18" charset="2"/>
              </a:rPr>
              <a:t>1</a:t>
            </a:r>
            <a:r>
              <a:rPr lang="en-US" altLang="zh-CN" sz="2000" b="0" dirty="0">
                <a:latin typeface="Times New Roman" panose="02020603050405020304" pitchFamily="18" charset="0"/>
                <a:ea typeface="+mn-ea"/>
                <a:cs typeface="Times New Roman" panose="02020603050405020304" pitchFamily="18" charset="0"/>
                <a:sym typeface="Symbol" panose="05050102010706020507" pitchFamily="18" charset="2"/>
              </a:rPr>
              <a:t>+R</a:t>
            </a:r>
            <a:r>
              <a:rPr lang="en-US" altLang="zh-CN" sz="2000" b="0" baseline="-30000" dirty="0">
                <a:latin typeface="Times New Roman" panose="02020603050405020304" pitchFamily="18" charset="0"/>
                <a:ea typeface="+mn-ea"/>
                <a:cs typeface="Times New Roman" panose="02020603050405020304" pitchFamily="18" charset="0"/>
                <a:sym typeface="Symbol" panose="05050102010706020507" pitchFamily="18" charset="2"/>
              </a:rPr>
              <a:t>2</a:t>
            </a:r>
            <a:r>
              <a:rPr lang="en-US" altLang="zh-CN" sz="2000" b="0" dirty="0">
                <a:latin typeface="Times New Roman" panose="02020603050405020304" pitchFamily="18" charset="0"/>
                <a:ea typeface="+mn-ea"/>
                <a:cs typeface="Times New Roman" panose="02020603050405020304" pitchFamily="18" charset="0"/>
                <a:sym typeface="Symbol" panose="05050102010706020507" pitchFamily="18" charset="2"/>
              </a:rPr>
              <a:t>=12k</a:t>
            </a:r>
            <a:r>
              <a:rPr lang="en-US" altLang="zh-CN" sz="2000" b="0" dirty="0">
                <a:latin typeface="Times New Roman" panose="02020603050405020304" pitchFamily="18" charset="0"/>
                <a:ea typeface="+mn-ea"/>
                <a:cs typeface="Times New Roman" panose="02020603050405020304" pitchFamily="18" charset="0"/>
              </a:rPr>
              <a:t>＞</a:t>
            </a:r>
            <a:r>
              <a:rPr lang="en-US" altLang="zh-CN" sz="2000" b="0" dirty="0">
                <a:latin typeface="Times New Roman" panose="02020603050405020304" pitchFamily="18" charset="0"/>
                <a:ea typeface="+mn-ea"/>
                <a:cs typeface="Times New Roman" panose="02020603050405020304" pitchFamily="18" charset="0"/>
                <a:sym typeface="Symbol" panose="05050102010706020507" pitchFamily="18" charset="2"/>
              </a:rPr>
              <a:t>10k</a:t>
            </a:r>
            <a:r>
              <a:rPr lang="zh-CN" altLang="en-US" sz="2000" b="0" dirty="0">
                <a:latin typeface="Times New Roman" panose="02020603050405020304" pitchFamily="18" charset="0"/>
                <a:ea typeface="+mn-ea"/>
                <a:cs typeface="Times New Roman" panose="02020603050405020304" pitchFamily="18" charset="0"/>
              </a:rPr>
              <a:t>满足要求）</a:t>
            </a:r>
          </a:p>
        </p:txBody>
      </p:sp>
      <p:grpSp>
        <p:nvGrpSpPr>
          <p:cNvPr id="23" name="Group 31">
            <a:extLst>
              <a:ext uri="{FF2B5EF4-FFF2-40B4-BE49-F238E27FC236}">
                <a16:creationId xmlns="" xmlns:a16="http://schemas.microsoft.com/office/drawing/2014/main" id="{0701535C-7EC4-9B7C-0388-6340385344BD}"/>
              </a:ext>
            </a:extLst>
          </p:cNvPr>
          <p:cNvGrpSpPr>
            <a:grpSpLocks/>
          </p:cNvGrpSpPr>
          <p:nvPr/>
        </p:nvGrpSpPr>
        <p:grpSpPr bwMode="auto">
          <a:xfrm>
            <a:off x="345925" y="3876309"/>
            <a:ext cx="5638800" cy="706437"/>
            <a:chOff x="432" y="3168"/>
            <a:chExt cx="3552" cy="445"/>
          </a:xfrm>
        </p:grpSpPr>
        <p:graphicFrame>
          <p:nvGraphicFramePr>
            <p:cNvPr id="24" name="Object 6">
              <a:extLst>
                <a:ext uri="{FF2B5EF4-FFF2-40B4-BE49-F238E27FC236}">
                  <a16:creationId xmlns="" xmlns:a16="http://schemas.microsoft.com/office/drawing/2014/main" id="{22F910E3-1E8E-1AE2-1F91-C1236BD1727F}"/>
                </a:ext>
              </a:extLst>
            </p:cNvPr>
            <p:cNvGraphicFramePr>
              <a:graphicFrameLocks/>
            </p:cNvGraphicFramePr>
            <p:nvPr/>
          </p:nvGraphicFramePr>
          <p:xfrm>
            <a:off x="1536" y="3168"/>
            <a:ext cx="2448" cy="445"/>
          </p:xfrm>
          <a:graphic>
            <a:graphicData uri="http://schemas.openxmlformats.org/presentationml/2006/ole">
              <mc:AlternateContent xmlns:mc="http://schemas.openxmlformats.org/markup-compatibility/2006">
                <mc:Choice xmlns:v="urn:schemas-microsoft-com:vml" Requires="v">
                  <p:oleObj spid="_x0000_s193664" r:id="rId15" imgW="2362200" imgH="431800" progId="Equation.3">
                    <p:embed/>
                  </p:oleObj>
                </mc:Choice>
                <mc:Fallback>
                  <p:oleObj r:id="rId15" imgW="2362200" imgH="431800" progId="Equation.3">
                    <p:embed/>
                    <p:pic>
                      <p:nvPicPr>
                        <p:cNvPr id="0" name=""/>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536" y="3168"/>
                          <a:ext cx="2448" cy="4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5" name="Rectangle 25">
              <a:extLst>
                <a:ext uri="{FF2B5EF4-FFF2-40B4-BE49-F238E27FC236}">
                  <a16:creationId xmlns="" xmlns:a16="http://schemas.microsoft.com/office/drawing/2014/main" id="{0787EEBF-BFF0-0B56-9AE1-2C2F01C65EA9}"/>
                </a:ext>
              </a:extLst>
            </p:cNvPr>
            <p:cNvSpPr>
              <a:spLocks noChangeArrowheads="1"/>
            </p:cNvSpPr>
            <p:nvPr/>
          </p:nvSpPr>
          <p:spPr bwMode="auto">
            <a:xfrm>
              <a:off x="432" y="3216"/>
              <a:ext cx="108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r>
                <a:rPr lang="zh-CN" altLang="en-US" sz="2000" b="0">
                  <a:latin typeface="Times New Roman" panose="02020603050405020304" pitchFamily="18" charset="0"/>
                  <a:ea typeface="+mn-ea"/>
                  <a:cs typeface="Times New Roman" panose="02020603050405020304" pitchFamily="18" charset="0"/>
                </a:rPr>
                <a:t>此时交流负载</a:t>
              </a:r>
            </a:p>
          </p:txBody>
        </p:sp>
      </p:grpSp>
      <p:grpSp>
        <p:nvGrpSpPr>
          <p:cNvPr id="26" name="Group 27">
            <a:extLst>
              <a:ext uri="{FF2B5EF4-FFF2-40B4-BE49-F238E27FC236}">
                <a16:creationId xmlns="" xmlns:a16="http://schemas.microsoft.com/office/drawing/2014/main" id="{0A0E2382-836E-ACC2-3F11-B592CAAA24EB}"/>
              </a:ext>
            </a:extLst>
          </p:cNvPr>
          <p:cNvGrpSpPr>
            <a:grpSpLocks/>
          </p:cNvGrpSpPr>
          <p:nvPr/>
        </p:nvGrpSpPr>
        <p:grpSpPr bwMode="auto">
          <a:xfrm>
            <a:off x="345925" y="1379386"/>
            <a:ext cx="5867400" cy="1323975"/>
            <a:chOff x="277" y="915"/>
            <a:chExt cx="3696" cy="834"/>
          </a:xfrm>
        </p:grpSpPr>
        <p:graphicFrame>
          <p:nvGraphicFramePr>
            <p:cNvPr id="27" name="Object 13">
              <a:extLst>
                <a:ext uri="{FF2B5EF4-FFF2-40B4-BE49-F238E27FC236}">
                  <a16:creationId xmlns="" xmlns:a16="http://schemas.microsoft.com/office/drawing/2014/main" id="{F0FB1CA7-981F-E0D5-9EE5-EE0D97B288A9}"/>
                </a:ext>
              </a:extLst>
            </p:cNvPr>
            <p:cNvGraphicFramePr>
              <a:graphicFrameLocks/>
            </p:cNvGraphicFramePr>
            <p:nvPr/>
          </p:nvGraphicFramePr>
          <p:xfrm>
            <a:off x="919" y="1530"/>
            <a:ext cx="699" cy="219"/>
          </p:xfrm>
          <a:graphic>
            <a:graphicData uri="http://schemas.openxmlformats.org/presentationml/2006/ole">
              <mc:AlternateContent xmlns:mc="http://schemas.openxmlformats.org/markup-compatibility/2006">
                <mc:Choice xmlns:v="urn:schemas-microsoft-com:vml" Requires="v">
                  <p:oleObj spid="_x0000_s193665" r:id="rId17" imgW="710891" imgH="228501" progId="Equation.3">
                    <p:embed/>
                  </p:oleObj>
                </mc:Choice>
                <mc:Fallback>
                  <p:oleObj r:id="rId17" imgW="710891" imgH="228501" progId="Equation.3">
                    <p:embed/>
                    <p:pic>
                      <p:nvPicPr>
                        <p:cNvPr id="0" name=""/>
                        <p:cNvPicPr>
                          <a:picLocks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919" y="1530"/>
                          <a:ext cx="699"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8" name="Rectangle 26">
              <a:extLst>
                <a:ext uri="{FF2B5EF4-FFF2-40B4-BE49-F238E27FC236}">
                  <a16:creationId xmlns="" xmlns:a16="http://schemas.microsoft.com/office/drawing/2014/main" id="{5720444F-C291-863D-3CC1-D32DCCD63B93}"/>
                </a:ext>
              </a:extLst>
            </p:cNvPr>
            <p:cNvSpPr>
              <a:spLocks noChangeArrowheads="1"/>
            </p:cNvSpPr>
            <p:nvPr/>
          </p:nvSpPr>
          <p:spPr bwMode="auto">
            <a:xfrm>
              <a:off x="277" y="915"/>
              <a:ext cx="3696" cy="8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a:spcBef>
                  <a:spcPct val="50000"/>
                </a:spcBef>
              </a:pPr>
              <a:r>
                <a:rPr lang="zh-CN" altLang="en-US" sz="2000" b="0" dirty="0">
                  <a:latin typeface="Times New Roman" panose="02020603050405020304" pitchFamily="18" charset="0"/>
                  <a:ea typeface="+mn-ea"/>
                  <a:cs typeface="Times New Roman" panose="02020603050405020304" pitchFamily="18" charset="0"/>
                  <a:sym typeface="Symbol" panose="05050102010706020507" pitchFamily="18" charset="2"/>
                </a:rPr>
                <a:t>解:  先计算电阻</a:t>
              </a:r>
              <a:r>
                <a:rPr lang="en-US" altLang="zh-CN" sz="2000" b="0" i="1" dirty="0">
                  <a:latin typeface="Times New Roman" panose="02020603050405020304" pitchFamily="18" charset="0"/>
                  <a:ea typeface="+mn-ea"/>
                  <a:cs typeface="Times New Roman" panose="02020603050405020304" pitchFamily="18" charset="0"/>
                  <a:sym typeface="Symbol" panose="05050102010706020507" pitchFamily="18" charset="2"/>
                </a:rPr>
                <a:t>R</a:t>
              </a:r>
              <a:r>
                <a:rPr lang="en-US" altLang="zh-CN" sz="2000" b="0" baseline="-30000" dirty="0">
                  <a:latin typeface="Times New Roman" panose="02020603050405020304" pitchFamily="18" charset="0"/>
                  <a:ea typeface="+mn-ea"/>
                  <a:cs typeface="Times New Roman" panose="02020603050405020304" pitchFamily="18" charset="0"/>
                  <a:sym typeface="Symbol" panose="05050102010706020507" pitchFamily="18" charset="2"/>
                </a:rPr>
                <a:t>1</a:t>
              </a:r>
              <a:r>
                <a:rPr lang="en-US" altLang="zh-CN" sz="2000" b="0" dirty="0">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sz="2000" b="0" i="1" dirty="0">
                  <a:latin typeface="Times New Roman" panose="02020603050405020304" pitchFamily="18" charset="0"/>
                  <a:ea typeface="+mn-ea"/>
                  <a:cs typeface="Times New Roman" panose="02020603050405020304" pitchFamily="18" charset="0"/>
                  <a:sym typeface="Symbol" panose="05050102010706020507" pitchFamily="18" charset="2"/>
                </a:rPr>
                <a:t>R</a:t>
              </a:r>
              <a:r>
                <a:rPr lang="en-US" altLang="zh-CN" sz="2000" b="0" baseline="-30000" dirty="0">
                  <a:latin typeface="Times New Roman" panose="02020603050405020304" pitchFamily="18" charset="0"/>
                  <a:ea typeface="+mn-ea"/>
                  <a:cs typeface="Times New Roman" panose="02020603050405020304" pitchFamily="18" charset="0"/>
                  <a:sym typeface="Symbol" panose="05050102010706020507" pitchFamily="18" charset="2"/>
                </a:rPr>
                <a:t>2</a:t>
              </a:r>
              <a:r>
                <a:rPr lang="zh-CN" altLang="en-US" sz="2000" b="0" dirty="0">
                  <a:latin typeface="Times New Roman" panose="02020603050405020304" pitchFamily="18" charset="0"/>
                  <a:ea typeface="+mn-ea"/>
                  <a:cs typeface="Times New Roman" panose="02020603050405020304" pitchFamily="18" charset="0"/>
                  <a:sym typeface="Symbol" panose="05050102010706020507" pitchFamily="18" charset="2"/>
                </a:rPr>
                <a:t>的值。</a:t>
              </a:r>
            </a:p>
            <a:p>
              <a:pPr>
                <a:spcBef>
                  <a:spcPct val="50000"/>
                </a:spcBef>
              </a:pPr>
              <a:r>
                <a:rPr lang="zh-CN" altLang="en-US" sz="2000" b="0" dirty="0" smtClean="0">
                  <a:latin typeface="Times New Roman" panose="02020603050405020304" pitchFamily="18" charset="0"/>
                  <a:ea typeface="+mn-ea"/>
                  <a:cs typeface="Times New Roman" panose="02020603050405020304" pitchFamily="18" charset="0"/>
                  <a:sym typeface="Symbol" panose="05050102010706020507" pitchFamily="18" charset="2"/>
                </a:rPr>
                <a:t>因为</a:t>
              </a:r>
              <a:r>
                <a:rPr lang="zh-CN" altLang="en-US" sz="2000" b="0" dirty="0">
                  <a:latin typeface="Times New Roman" panose="02020603050405020304" pitchFamily="18" charset="0"/>
                  <a:ea typeface="+mn-ea"/>
                  <a:cs typeface="Times New Roman" panose="02020603050405020304" pitchFamily="18" charset="0"/>
                  <a:sym typeface="Symbol" panose="05050102010706020507" pitchFamily="18" charset="2"/>
                </a:rPr>
                <a:t>检波器的输入电阻</a:t>
              </a:r>
              <a:r>
                <a:rPr lang="en-US" altLang="zh-CN" sz="2000" b="0" i="1" dirty="0">
                  <a:latin typeface="Times New Roman" panose="02020603050405020304" pitchFamily="18" charset="0"/>
                  <a:ea typeface="+mn-ea"/>
                  <a:cs typeface="Times New Roman" panose="02020603050405020304" pitchFamily="18" charset="0"/>
                  <a:sym typeface="Symbol" panose="05050102010706020507" pitchFamily="18" charset="2"/>
                </a:rPr>
                <a:t>R</a:t>
              </a:r>
              <a:r>
                <a:rPr lang="en-US" altLang="zh-CN" sz="2000" b="0" baseline="-30000" dirty="0">
                  <a:latin typeface="Times New Roman" panose="02020603050405020304" pitchFamily="18" charset="0"/>
                  <a:ea typeface="+mn-ea"/>
                  <a:cs typeface="Times New Roman" panose="02020603050405020304" pitchFamily="18" charset="0"/>
                  <a:sym typeface="Symbol" panose="05050102010706020507" pitchFamily="18" charset="2"/>
                </a:rPr>
                <a:t>id</a:t>
              </a:r>
              <a:r>
                <a:rPr lang="zh-CN" altLang="en-US" sz="2000" b="0" dirty="0">
                  <a:latin typeface="Times New Roman" panose="02020603050405020304" pitchFamily="18" charset="0"/>
                  <a:ea typeface="+mn-ea"/>
                  <a:cs typeface="Times New Roman" panose="02020603050405020304" pitchFamily="18" charset="0"/>
                  <a:sym typeface="Symbol" panose="05050102010706020507" pitchFamily="18" charset="2"/>
                </a:rPr>
                <a:t>与其直流负载</a:t>
              </a:r>
              <a:r>
                <a:rPr lang="en-US" altLang="zh-CN" sz="2000" b="0" i="1" dirty="0">
                  <a:latin typeface="Times New Roman" panose="02020603050405020304" pitchFamily="18" charset="0"/>
                  <a:ea typeface="+mn-ea"/>
                  <a:cs typeface="Times New Roman" panose="02020603050405020304" pitchFamily="18" charset="0"/>
                  <a:sym typeface="Symbol" panose="05050102010706020507" pitchFamily="18" charset="2"/>
                </a:rPr>
                <a:t>R</a:t>
              </a:r>
              <a:r>
                <a:rPr lang="zh-CN" altLang="en-US" sz="2000" b="0" dirty="0">
                  <a:latin typeface="Times New Roman" panose="02020603050405020304" pitchFamily="18" charset="0"/>
                  <a:ea typeface="+mn-ea"/>
                  <a:cs typeface="Times New Roman" panose="02020603050405020304" pitchFamily="18" charset="0"/>
                  <a:sym typeface="Symbol" panose="05050102010706020507" pitchFamily="18" charset="2"/>
                </a:rPr>
                <a:t>的</a:t>
              </a:r>
            </a:p>
            <a:p>
              <a:pPr>
                <a:spcBef>
                  <a:spcPct val="50000"/>
                </a:spcBef>
              </a:pPr>
              <a:r>
                <a:rPr lang="zh-CN" altLang="en-US" sz="2000" b="0" dirty="0" smtClean="0">
                  <a:latin typeface="Times New Roman" panose="02020603050405020304" pitchFamily="18" charset="0"/>
                  <a:ea typeface="+mn-ea"/>
                  <a:cs typeface="Times New Roman" panose="02020603050405020304" pitchFamily="18" charset="0"/>
                  <a:sym typeface="Symbol" panose="05050102010706020507" pitchFamily="18" charset="2"/>
                </a:rPr>
                <a:t>关系</a:t>
              </a:r>
              <a:r>
                <a:rPr lang="zh-CN" altLang="en-US" sz="2000" b="0" dirty="0">
                  <a:latin typeface="Times New Roman" panose="02020603050405020304" pitchFamily="18" charset="0"/>
                  <a:ea typeface="+mn-ea"/>
                  <a:cs typeface="Times New Roman" panose="02020603050405020304" pitchFamily="18" charset="0"/>
                  <a:sym typeface="Symbol" panose="05050102010706020507" pitchFamily="18" charset="2"/>
                </a:rPr>
                <a:t>为   </a:t>
              </a:r>
              <a:r>
                <a:rPr lang="zh-CN" altLang="en-US" sz="2000" b="0" dirty="0" smtClean="0">
                  <a:latin typeface="Times New Roman" panose="02020603050405020304" pitchFamily="18" charset="0"/>
                  <a:ea typeface="+mn-ea"/>
                  <a:cs typeface="Times New Roman" panose="02020603050405020304" pitchFamily="18" charset="0"/>
                  <a:sym typeface="Symbol" panose="05050102010706020507" pitchFamily="18" charset="2"/>
                </a:rPr>
                <a:t>                 </a:t>
              </a:r>
              <a:r>
                <a:rPr lang="zh-CN" altLang="en-US" sz="2000" b="0" dirty="0">
                  <a:latin typeface="Times New Roman" panose="02020603050405020304" pitchFamily="18" charset="0"/>
                  <a:ea typeface="+mn-ea"/>
                  <a:cs typeface="Times New Roman" panose="02020603050405020304" pitchFamily="18" charset="0"/>
                  <a:sym typeface="Symbol" panose="05050102010706020507" pitchFamily="18" charset="2"/>
                </a:rPr>
                <a:t>，所以有</a:t>
              </a:r>
              <a:r>
                <a:rPr lang="en-US" altLang="zh-CN" sz="2000" b="0" dirty="0">
                  <a:latin typeface="Times New Roman" panose="02020603050405020304" pitchFamily="18" charset="0"/>
                  <a:ea typeface="+mn-ea"/>
                  <a:cs typeface="Times New Roman" panose="02020603050405020304" pitchFamily="18" charset="0"/>
                  <a:sym typeface="Symbol" panose="05050102010706020507" pitchFamily="18" charset="2"/>
                </a:rPr>
                <a:t>RL≥10k</a:t>
              </a:r>
              <a:r>
                <a:rPr lang="en-US" altLang="zh-CN" sz="2000" b="0" dirty="0">
                  <a:latin typeface="Times New Roman" panose="02020603050405020304" pitchFamily="18" charset="0"/>
                  <a:ea typeface="+mn-ea"/>
                  <a:cs typeface="Times New Roman" panose="02020603050405020304" pitchFamily="18" charset="0"/>
                </a:rPr>
                <a:t>。</a:t>
              </a:r>
              <a:endParaRPr lang="zh-CN" altLang="en-US" sz="2000" b="0" dirty="0">
                <a:latin typeface="Times New Roman" panose="02020603050405020304" pitchFamily="18" charset="0"/>
                <a:ea typeface="+mn-ea"/>
                <a:cs typeface="Times New Roman" panose="02020603050405020304" pitchFamily="18" charset="0"/>
              </a:endParaRPr>
            </a:p>
          </p:txBody>
        </p:sp>
      </p:grpSp>
      <p:sp>
        <p:nvSpPr>
          <p:cNvPr id="29" name="Rectangle 2">
            <a:extLst>
              <a:ext uri="{FF2B5EF4-FFF2-40B4-BE49-F238E27FC236}">
                <a16:creationId xmlns="" xmlns:a16="http://schemas.microsoft.com/office/drawing/2014/main" id="{9D976F9D-935F-8ADD-3D18-16E72031E388}"/>
              </a:ext>
            </a:extLst>
          </p:cNvPr>
          <p:cNvSpPr>
            <a:spLocks noChangeArrowheads="1"/>
          </p:cNvSpPr>
          <p:nvPr/>
        </p:nvSpPr>
        <p:spPr bwMode="auto">
          <a:xfrm>
            <a:off x="320525" y="4507158"/>
            <a:ext cx="7924800"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a:spcBef>
                <a:spcPct val="50000"/>
              </a:spcBef>
            </a:pPr>
            <a:r>
              <a:rPr lang="zh-CN" altLang="en-US" sz="2000" b="0" dirty="0">
                <a:latin typeface="Times New Roman" panose="02020603050405020304" pitchFamily="18" charset="0"/>
                <a:ea typeface="+mn-ea"/>
                <a:cs typeface="Times New Roman" panose="02020603050405020304" pitchFamily="18" charset="0"/>
                <a:sym typeface="Symbol" panose="05050102010706020507" pitchFamily="18" charset="2"/>
              </a:rPr>
              <a:t>再由不产生惰性失真的条件计算</a:t>
            </a:r>
            <a:r>
              <a:rPr lang="en-US" altLang="zh-CN" sz="2000" b="0" i="1" dirty="0">
                <a:latin typeface="Times New Roman" panose="02020603050405020304" pitchFamily="18" charset="0"/>
                <a:ea typeface="+mn-ea"/>
                <a:cs typeface="Times New Roman" panose="02020603050405020304" pitchFamily="18" charset="0"/>
                <a:sym typeface="Symbol" panose="05050102010706020507" pitchFamily="18" charset="2"/>
              </a:rPr>
              <a:t>C</a:t>
            </a:r>
            <a:r>
              <a:rPr lang="en-US" altLang="zh-CN" sz="2000" b="0" baseline="-30000" dirty="0">
                <a:latin typeface="Times New Roman" panose="02020603050405020304" pitchFamily="18" charset="0"/>
                <a:ea typeface="+mn-ea"/>
                <a:cs typeface="Times New Roman" panose="02020603050405020304" pitchFamily="18" charset="0"/>
                <a:sym typeface="Symbol" panose="05050102010706020507" pitchFamily="18" charset="2"/>
              </a:rPr>
              <a:t>1</a:t>
            </a:r>
            <a:r>
              <a:rPr lang="en-US" altLang="zh-CN" sz="2000" b="0" dirty="0">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sz="2000" b="0" i="1" dirty="0">
                <a:latin typeface="Times New Roman" panose="02020603050405020304" pitchFamily="18" charset="0"/>
                <a:ea typeface="+mn-ea"/>
                <a:cs typeface="Times New Roman" panose="02020603050405020304" pitchFamily="18" charset="0"/>
                <a:sym typeface="Symbol" panose="05050102010706020507" pitchFamily="18" charset="2"/>
              </a:rPr>
              <a:t>C</a:t>
            </a:r>
            <a:r>
              <a:rPr lang="en-US" altLang="zh-CN" sz="2000" b="0" baseline="-30000" dirty="0">
                <a:latin typeface="Times New Roman" panose="02020603050405020304" pitchFamily="18" charset="0"/>
                <a:ea typeface="+mn-ea"/>
                <a:cs typeface="Times New Roman" panose="02020603050405020304" pitchFamily="18" charset="0"/>
                <a:sym typeface="Symbol" panose="05050102010706020507" pitchFamily="18" charset="2"/>
              </a:rPr>
              <a:t>2</a:t>
            </a:r>
            <a:r>
              <a:rPr lang="en-US" altLang="zh-CN" sz="2000" b="0" dirty="0">
                <a:latin typeface="Times New Roman" panose="02020603050405020304" pitchFamily="18" charset="0"/>
                <a:ea typeface="+mn-ea"/>
                <a:cs typeface="Times New Roman" panose="02020603050405020304" pitchFamily="18" charset="0"/>
                <a:sym typeface="Symbol" panose="05050102010706020507" pitchFamily="18" charset="2"/>
              </a:rPr>
              <a:t>：</a:t>
            </a:r>
          </a:p>
          <a:p>
            <a:pPr>
              <a:spcBef>
                <a:spcPct val="50000"/>
              </a:spcBef>
            </a:pPr>
            <a:r>
              <a:rPr lang="zh-CN" altLang="en-US" sz="2000" b="0" dirty="0" smtClean="0">
                <a:latin typeface="+mn-ea"/>
                <a:ea typeface="+mn-ea"/>
                <a:sym typeface="Symbol" panose="05050102010706020507" pitchFamily="18" charset="2"/>
              </a:rPr>
              <a:t>由    </a:t>
            </a:r>
            <a:r>
              <a:rPr lang="zh-CN" altLang="en-US" sz="2000" b="0" dirty="0">
                <a:latin typeface="+mn-ea"/>
                <a:ea typeface="+mn-ea"/>
                <a:sym typeface="Symbol" panose="05050102010706020507" pitchFamily="18" charset="2"/>
              </a:rPr>
              <a:t>≦       ，可得  ≦</a:t>
            </a:r>
          </a:p>
          <a:p>
            <a:pPr>
              <a:spcBef>
                <a:spcPct val="50000"/>
              </a:spcBef>
            </a:pPr>
            <a:r>
              <a:rPr lang="zh-CN" altLang="en-US" sz="2000" b="0" dirty="0" smtClean="0">
                <a:latin typeface="+mn-ea"/>
                <a:ea typeface="+mn-ea"/>
                <a:sym typeface="Symbol" panose="05050102010706020507" pitchFamily="18" charset="2"/>
              </a:rPr>
              <a:t>所以</a:t>
            </a:r>
            <a:r>
              <a:rPr lang="en-US" altLang="zh-CN" sz="2000" b="0" i="1" dirty="0">
                <a:latin typeface="+mn-ea"/>
                <a:ea typeface="+mn-ea"/>
                <a:sym typeface="Symbol" panose="05050102010706020507" pitchFamily="18" charset="2"/>
              </a:rPr>
              <a:t>C</a:t>
            </a:r>
            <a:r>
              <a:rPr lang="en-US" altLang="zh-CN" sz="2000" b="0" baseline="-30000" dirty="0">
                <a:latin typeface="+mn-ea"/>
                <a:ea typeface="+mn-ea"/>
                <a:sym typeface="Symbol" panose="05050102010706020507" pitchFamily="18" charset="2"/>
              </a:rPr>
              <a:t>1</a:t>
            </a:r>
            <a:r>
              <a:rPr lang="en-US" altLang="zh-CN" sz="2000" b="0" dirty="0">
                <a:latin typeface="+mn-ea"/>
                <a:ea typeface="+mn-ea"/>
                <a:sym typeface="Symbol" panose="05050102010706020507" pitchFamily="18" charset="2"/>
              </a:rPr>
              <a:t>、</a:t>
            </a:r>
            <a:r>
              <a:rPr lang="en-US" altLang="zh-CN" sz="2000" b="0" i="1" dirty="0">
                <a:latin typeface="+mn-ea"/>
                <a:ea typeface="+mn-ea"/>
                <a:sym typeface="Symbol" panose="05050102010706020507" pitchFamily="18" charset="2"/>
              </a:rPr>
              <a:t>C</a:t>
            </a:r>
            <a:r>
              <a:rPr lang="en-US" altLang="zh-CN" sz="2000" b="0" baseline="-30000" dirty="0">
                <a:latin typeface="+mn-ea"/>
                <a:ea typeface="+mn-ea"/>
                <a:sym typeface="Symbol" panose="05050102010706020507" pitchFamily="18" charset="2"/>
              </a:rPr>
              <a:t>2</a:t>
            </a:r>
            <a:r>
              <a:rPr lang="zh-CN" altLang="en-US" sz="2000" b="0" dirty="0">
                <a:latin typeface="+mn-ea"/>
                <a:ea typeface="+mn-ea"/>
                <a:sym typeface="Symbol" panose="05050102010706020507" pitchFamily="18" charset="2"/>
              </a:rPr>
              <a:t>可以选用</a:t>
            </a:r>
            <a:r>
              <a:rPr lang="zh-CN" altLang="en-US" sz="2000" b="0" dirty="0">
                <a:latin typeface="Times New Roman" panose="02020603050405020304" pitchFamily="18" charset="0"/>
                <a:ea typeface="+mn-ea"/>
                <a:cs typeface="Times New Roman" panose="02020603050405020304" pitchFamily="18" charset="0"/>
                <a:sym typeface="Symbol" panose="05050102010706020507" pitchFamily="18" charset="2"/>
              </a:rPr>
              <a:t>0.0047</a:t>
            </a:r>
            <a:r>
              <a:rPr lang="en-US" altLang="zh-CN" sz="2000" b="0" dirty="0">
                <a:latin typeface="Times New Roman" panose="02020603050405020304" pitchFamily="18" charset="0"/>
                <a:ea typeface="+mn-ea"/>
                <a:cs typeface="Times New Roman" panose="02020603050405020304" pitchFamily="18" charset="0"/>
              </a:rPr>
              <a:t>F</a:t>
            </a:r>
            <a:r>
              <a:rPr lang="zh-CN" altLang="en-US" sz="2000" b="0" dirty="0">
                <a:latin typeface="+mn-ea"/>
                <a:ea typeface="+mn-ea"/>
                <a:sym typeface="Symbol" panose="05050102010706020507" pitchFamily="18" charset="2"/>
              </a:rPr>
              <a:t>的电容。 </a:t>
            </a:r>
          </a:p>
        </p:txBody>
      </p:sp>
      <p:graphicFrame>
        <p:nvGraphicFramePr>
          <p:cNvPr id="30" name="Object 3">
            <a:extLst>
              <a:ext uri="{FF2B5EF4-FFF2-40B4-BE49-F238E27FC236}">
                <a16:creationId xmlns="" xmlns:a16="http://schemas.microsoft.com/office/drawing/2014/main" id="{F46FB3C5-BCA2-15A7-3911-CB40F2B9162D}"/>
              </a:ext>
            </a:extLst>
          </p:cNvPr>
          <p:cNvGraphicFramePr>
            <a:graphicFrameLocks/>
          </p:cNvGraphicFramePr>
          <p:nvPr>
            <p:extLst>
              <p:ext uri="{D42A27DB-BD31-4B8C-83A1-F6EECF244321}">
                <p14:modId xmlns:p14="http://schemas.microsoft.com/office/powerpoint/2010/main" val="2001139811"/>
              </p:ext>
            </p:extLst>
          </p:nvPr>
        </p:nvGraphicFramePr>
        <p:xfrm>
          <a:off x="663935" y="5030484"/>
          <a:ext cx="533400" cy="327025"/>
        </p:xfrm>
        <a:graphic>
          <a:graphicData uri="http://schemas.openxmlformats.org/presentationml/2006/ole">
            <mc:AlternateContent xmlns:mc="http://schemas.openxmlformats.org/markup-compatibility/2006">
              <mc:Choice xmlns:v="urn:schemas-microsoft-com:vml" Requires="v">
                <p:oleObj spid="_x0000_s193666" r:id="rId19" imgW="291594" imgH="177492" progId="Equation.3">
                  <p:embed/>
                </p:oleObj>
              </mc:Choice>
              <mc:Fallback>
                <p:oleObj r:id="rId19" imgW="291594" imgH="177492" progId="Equation.3">
                  <p:embed/>
                  <p:pic>
                    <p:nvPicPr>
                      <p:cNvPr id="0" name=""/>
                      <p:cNvPicPr>
                        <a:picLocks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63935" y="5030484"/>
                        <a:ext cx="533400" cy="32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1" name="Object 4">
            <a:extLst>
              <a:ext uri="{FF2B5EF4-FFF2-40B4-BE49-F238E27FC236}">
                <a16:creationId xmlns="" xmlns:a16="http://schemas.microsoft.com/office/drawing/2014/main" id="{7C88A665-35A8-C589-EEB7-40FF1CF12E4B}"/>
              </a:ext>
            </a:extLst>
          </p:cNvPr>
          <p:cNvGraphicFramePr>
            <a:graphicFrameLocks/>
          </p:cNvGraphicFramePr>
          <p:nvPr>
            <p:extLst>
              <p:ext uri="{D42A27DB-BD31-4B8C-83A1-F6EECF244321}">
                <p14:modId xmlns:p14="http://schemas.microsoft.com/office/powerpoint/2010/main" val="1572316054"/>
              </p:ext>
            </p:extLst>
          </p:nvPr>
        </p:nvGraphicFramePr>
        <p:xfrm>
          <a:off x="1413005" y="5003956"/>
          <a:ext cx="960439" cy="386110"/>
        </p:xfrm>
        <a:graphic>
          <a:graphicData uri="http://schemas.openxmlformats.org/presentationml/2006/ole">
            <mc:AlternateContent xmlns:mc="http://schemas.openxmlformats.org/markup-compatibility/2006">
              <mc:Choice xmlns:v="urn:schemas-microsoft-com:vml" Requires="v">
                <p:oleObj spid="_x0000_s193667" r:id="rId21" imgW="545626" imgH="203024" progId="Equation.3">
                  <p:embed/>
                </p:oleObj>
              </mc:Choice>
              <mc:Fallback>
                <p:oleObj r:id="rId21" imgW="545626" imgH="203024" progId="Equation.3">
                  <p:embed/>
                  <p:pic>
                    <p:nvPicPr>
                      <p:cNvPr id="0" name=""/>
                      <p:cNvPicPr>
                        <a:picLocks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413005" y="5003956"/>
                        <a:ext cx="960439" cy="386110"/>
                      </a:xfrm>
                      <a:prstGeom prst="rect">
                        <a:avLst/>
                      </a:prstGeom>
                      <a:noFill/>
                      <a:ln>
                        <a:noFill/>
                      </a:ln>
                      <a:extLst/>
                    </p:spPr>
                  </p:pic>
                </p:oleObj>
              </mc:Fallback>
            </mc:AlternateContent>
          </a:graphicData>
        </a:graphic>
      </p:graphicFrame>
      <p:graphicFrame>
        <p:nvGraphicFramePr>
          <p:cNvPr id="32" name="Object 5">
            <a:extLst>
              <a:ext uri="{FF2B5EF4-FFF2-40B4-BE49-F238E27FC236}">
                <a16:creationId xmlns="" xmlns:a16="http://schemas.microsoft.com/office/drawing/2014/main" id="{6FC68A57-32E7-2271-F25E-9832CCE5D689}"/>
              </a:ext>
            </a:extLst>
          </p:cNvPr>
          <p:cNvGraphicFramePr>
            <a:graphicFrameLocks/>
          </p:cNvGraphicFramePr>
          <p:nvPr>
            <p:extLst>
              <p:ext uri="{D42A27DB-BD31-4B8C-83A1-F6EECF244321}">
                <p14:modId xmlns:p14="http://schemas.microsoft.com/office/powerpoint/2010/main" val="4237177731"/>
              </p:ext>
            </p:extLst>
          </p:nvPr>
        </p:nvGraphicFramePr>
        <p:xfrm>
          <a:off x="3071166" y="5030484"/>
          <a:ext cx="352440" cy="307084"/>
        </p:xfrm>
        <a:graphic>
          <a:graphicData uri="http://schemas.openxmlformats.org/presentationml/2006/ole">
            <mc:AlternateContent xmlns:mc="http://schemas.openxmlformats.org/markup-compatibility/2006">
              <mc:Choice xmlns:v="urn:schemas-microsoft-com:vml" Requires="v">
                <p:oleObj spid="_x0000_s193668" r:id="rId23" imgW="203024" imgH="203024" progId="Equation.3">
                  <p:embed/>
                </p:oleObj>
              </mc:Choice>
              <mc:Fallback>
                <p:oleObj r:id="rId23" imgW="203024" imgH="203024" progId="Equation.3">
                  <p:embed/>
                  <p:pic>
                    <p:nvPicPr>
                      <p:cNvPr id="0" name=""/>
                      <p:cNvPicPr>
                        <a:picLocks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3071166" y="5030484"/>
                        <a:ext cx="352440" cy="307084"/>
                      </a:xfrm>
                      <a:prstGeom prst="rect">
                        <a:avLst/>
                      </a:prstGeom>
                      <a:noFill/>
                      <a:ln>
                        <a:noFill/>
                      </a:ln>
                      <a:extLst/>
                    </p:spPr>
                  </p:pic>
                </p:oleObj>
              </mc:Fallback>
            </mc:AlternateContent>
          </a:graphicData>
        </a:graphic>
      </p:graphicFrame>
      <p:graphicFrame>
        <p:nvGraphicFramePr>
          <p:cNvPr id="33" name="Object 6">
            <a:extLst>
              <a:ext uri="{FF2B5EF4-FFF2-40B4-BE49-F238E27FC236}">
                <a16:creationId xmlns="" xmlns:a16="http://schemas.microsoft.com/office/drawing/2014/main" id="{6D492D58-7439-5ABA-1B04-3222972D6DE9}"/>
              </a:ext>
            </a:extLst>
          </p:cNvPr>
          <p:cNvGraphicFramePr>
            <a:graphicFrameLocks/>
          </p:cNvGraphicFramePr>
          <p:nvPr>
            <p:extLst>
              <p:ext uri="{D42A27DB-BD31-4B8C-83A1-F6EECF244321}">
                <p14:modId xmlns:p14="http://schemas.microsoft.com/office/powerpoint/2010/main" val="4221591372"/>
              </p:ext>
            </p:extLst>
          </p:nvPr>
        </p:nvGraphicFramePr>
        <p:xfrm>
          <a:off x="3587883" y="4851408"/>
          <a:ext cx="3663950" cy="614362"/>
        </p:xfrm>
        <a:graphic>
          <a:graphicData uri="http://schemas.openxmlformats.org/presentationml/2006/ole">
            <mc:AlternateContent xmlns:mc="http://schemas.openxmlformats.org/markup-compatibility/2006">
              <mc:Choice xmlns:v="urn:schemas-microsoft-com:vml" Requires="v">
                <p:oleObj spid="_x0000_s193669" r:id="rId25" imgW="2552400" imgH="431640" progId="Equation.3">
                  <p:embed/>
                </p:oleObj>
              </mc:Choice>
              <mc:Fallback>
                <p:oleObj r:id="rId25" imgW="2552400" imgH="431640" progId="Equation.3">
                  <p:embed/>
                  <p:pic>
                    <p:nvPicPr>
                      <p:cNvPr id="0" name=""/>
                      <p:cNvPicPr>
                        <a:picLocks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3587883" y="4851408"/>
                        <a:ext cx="3663950" cy="614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556883877"/>
      </p:ext>
    </p:extLst>
  </p:cSld>
  <p:clrMapOvr>
    <a:masterClrMapping/>
  </p:clrMapOvr>
  <p:timing>
    <p:tnLst>
      <p:par>
        <p:cTn id="1" dur="indefinite" restart="never" nodeType="tmRoot"/>
      </p:par>
    </p:tnLst>
  </p:timing>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244</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5"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6.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振幅调制</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与</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解调</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 name="Text Box 9">
            <a:extLst>
              <a:ext uri="{FF2B5EF4-FFF2-40B4-BE49-F238E27FC236}">
                <a16:creationId xmlns="" xmlns:a16="http://schemas.microsoft.com/office/drawing/2014/main" id="{DEE632B9-17D2-878A-5FCB-D1475D857930}"/>
              </a:ext>
            </a:extLst>
          </p:cNvPr>
          <p:cNvSpPr txBox="1">
            <a:spLocks noChangeArrowheads="1"/>
          </p:cNvSpPr>
          <p:nvPr/>
        </p:nvSpPr>
        <p:spPr bwMode="auto">
          <a:xfrm>
            <a:off x="395288" y="1224414"/>
            <a:ext cx="280076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r>
              <a:rPr lang="zh-CN" altLang="en-US" sz="2400" b="0" dirty="0">
                <a:latin typeface="Times New Roman" panose="02020603050405020304" pitchFamily="18" charset="0"/>
                <a:ea typeface="+mn-ea"/>
                <a:cs typeface="Times New Roman" panose="02020603050405020304" pitchFamily="18" charset="0"/>
              </a:rPr>
              <a:t>6.4.3  </a:t>
            </a:r>
            <a:r>
              <a:rPr lang="zh-CN" altLang="en-US" sz="2400" b="0" dirty="0">
                <a:latin typeface="+mn-ea"/>
                <a:ea typeface="+mn-ea"/>
              </a:rPr>
              <a:t>同步检波电路</a:t>
            </a:r>
          </a:p>
        </p:txBody>
      </p:sp>
      <p:sp>
        <p:nvSpPr>
          <p:cNvPr id="7" name="Rectangle 6">
            <a:extLst>
              <a:ext uri="{FF2B5EF4-FFF2-40B4-BE49-F238E27FC236}">
                <a16:creationId xmlns="" xmlns:a16="http://schemas.microsoft.com/office/drawing/2014/main" id="{185E7A41-84C5-1EBD-6008-15B47B9A6E08}"/>
              </a:ext>
            </a:extLst>
          </p:cNvPr>
          <p:cNvSpPr>
            <a:spLocks noChangeArrowheads="1"/>
          </p:cNvSpPr>
          <p:nvPr/>
        </p:nvSpPr>
        <p:spPr bwMode="auto">
          <a:xfrm>
            <a:off x="331775" y="1589360"/>
            <a:ext cx="8208963"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r>
              <a:rPr lang="zh-CN" altLang="en-US" sz="1900" b="0" dirty="0" smtClean="0">
                <a:latin typeface="+mn-ea"/>
                <a:ea typeface="+mn-ea"/>
              </a:rPr>
              <a:t>抑制</a:t>
            </a:r>
            <a:r>
              <a:rPr lang="zh-CN" altLang="en-US" sz="1900" b="0" dirty="0">
                <a:latin typeface="+mn-ea"/>
                <a:ea typeface="+mn-ea"/>
              </a:rPr>
              <a:t>载波的双边带信号和单边带信号，因其波形包络不直接反映调制信号的变化规律，不能用包络检波器解调，</a:t>
            </a:r>
          </a:p>
          <a:p>
            <a:pPr eaLnBrk="1" hangingPunct="1"/>
            <a:endParaRPr lang="zh-CN" altLang="en-US" sz="2000" b="0" dirty="0">
              <a:latin typeface="+mn-ea"/>
              <a:ea typeface="+mn-ea"/>
            </a:endParaRPr>
          </a:p>
        </p:txBody>
      </p:sp>
      <p:graphicFrame>
        <p:nvGraphicFramePr>
          <p:cNvPr id="8" name="Object 14">
            <a:extLst>
              <a:ext uri="{FF2B5EF4-FFF2-40B4-BE49-F238E27FC236}">
                <a16:creationId xmlns="" xmlns:a16="http://schemas.microsoft.com/office/drawing/2014/main" id="{81A34641-2581-1B72-A67F-0ADE2F31FCBB}"/>
              </a:ext>
            </a:extLst>
          </p:cNvPr>
          <p:cNvGraphicFramePr>
            <a:graphicFrameLocks/>
          </p:cNvGraphicFramePr>
          <p:nvPr>
            <p:extLst>
              <p:ext uri="{D42A27DB-BD31-4B8C-83A1-F6EECF244321}">
                <p14:modId xmlns:p14="http://schemas.microsoft.com/office/powerpoint/2010/main" val="534823098"/>
              </p:ext>
            </p:extLst>
          </p:nvPr>
        </p:nvGraphicFramePr>
        <p:xfrm>
          <a:off x="525845" y="2164236"/>
          <a:ext cx="3967163" cy="1395413"/>
        </p:xfrm>
        <a:graphic>
          <a:graphicData uri="http://schemas.openxmlformats.org/presentationml/2006/ole">
            <mc:AlternateContent xmlns:mc="http://schemas.openxmlformats.org/markup-compatibility/2006">
              <mc:Choice xmlns:v="urn:schemas-microsoft-com:vml" Requires="v">
                <p:oleObj spid="_x0000_s194589" r:id="rId3" imgW="3475024" imgH="1162399" progId="Word.Picture.8">
                  <p:embed/>
                </p:oleObj>
              </mc:Choice>
              <mc:Fallback>
                <p:oleObj r:id="rId3" imgW="3475024" imgH="1162399" progId="Word.Picture.8">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5845" y="2164236"/>
                        <a:ext cx="3967163" cy="1395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9" name="Object 15">
            <a:extLst>
              <a:ext uri="{FF2B5EF4-FFF2-40B4-BE49-F238E27FC236}">
                <a16:creationId xmlns="" xmlns:a16="http://schemas.microsoft.com/office/drawing/2014/main" id="{339AB9C2-D2E1-CEFD-D37B-3589AF94A0C1}"/>
              </a:ext>
            </a:extLst>
          </p:cNvPr>
          <p:cNvGraphicFramePr>
            <a:graphicFrameLocks/>
          </p:cNvGraphicFramePr>
          <p:nvPr>
            <p:extLst>
              <p:ext uri="{D42A27DB-BD31-4B8C-83A1-F6EECF244321}">
                <p14:modId xmlns:p14="http://schemas.microsoft.com/office/powerpoint/2010/main" val="3417248882"/>
              </p:ext>
            </p:extLst>
          </p:nvPr>
        </p:nvGraphicFramePr>
        <p:xfrm>
          <a:off x="4816858" y="2251549"/>
          <a:ext cx="3924300" cy="1338262"/>
        </p:xfrm>
        <a:graphic>
          <a:graphicData uri="http://schemas.openxmlformats.org/presentationml/2006/ole">
            <mc:AlternateContent xmlns:mc="http://schemas.openxmlformats.org/markup-compatibility/2006">
              <mc:Choice xmlns:v="urn:schemas-microsoft-com:vml" Requires="v">
                <p:oleObj spid="_x0000_s194590" r:id="rId5" imgW="3505200" imgH="1086612" progId="Word.Picture.8">
                  <p:embed/>
                </p:oleObj>
              </mc:Choice>
              <mc:Fallback>
                <p:oleObj r:id="rId5" imgW="3505200" imgH="1086612" progId="Word.Picture.8">
                  <p:embed/>
                  <p:pic>
                    <p:nvPicPr>
                      <p:cNvPr id="0" name=""/>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16858" y="2251549"/>
                        <a:ext cx="3924300" cy="1338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0" name="Rectangle 16">
            <a:extLst>
              <a:ext uri="{FF2B5EF4-FFF2-40B4-BE49-F238E27FC236}">
                <a16:creationId xmlns="" xmlns:a16="http://schemas.microsoft.com/office/drawing/2014/main" id="{E4447EF1-22DC-0D9F-58F8-FD04D8FF3856}"/>
              </a:ext>
            </a:extLst>
          </p:cNvPr>
          <p:cNvSpPr>
            <a:spLocks noChangeArrowheads="1"/>
          </p:cNvSpPr>
          <p:nvPr/>
        </p:nvSpPr>
        <p:spPr bwMode="auto">
          <a:xfrm>
            <a:off x="260708" y="3537972"/>
            <a:ext cx="8458200" cy="14080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spcBef>
                <a:spcPct val="50000"/>
              </a:spcBef>
            </a:pPr>
            <a:r>
              <a:rPr lang="zh-CN" altLang="en-US" sz="1900" b="0" dirty="0">
                <a:latin typeface="+mn-ea"/>
                <a:ea typeface="+mn-ea"/>
              </a:rPr>
              <a:t>又因其频谱中不含有载频分量，解调时必须在检波器输入端另加一个与发射载波同频同相并保持同步变化的参考信号，此参考信号与调幅信号共同作用于非线性器件电路，经过频率变换，恢复出调制信号。这种检波方式称为同步检波。</a:t>
            </a:r>
          </a:p>
          <a:p>
            <a:pPr eaLnBrk="1" hangingPunct="1">
              <a:spcBef>
                <a:spcPct val="50000"/>
              </a:spcBef>
            </a:pPr>
            <a:r>
              <a:rPr lang="zh-CN" altLang="en-US" sz="1900" b="0" dirty="0" smtClean="0">
                <a:latin typeface="+mn-ea"/>
                <a:ea typeface="+mn-ea"/>
              </a:rPr>
              <a:t>在</a:t>
            </a:r>
            <a:r>
              <a:rPr lang="zh-CN" altLang="en-US" sz="1900" b="0" dirty="0">
                <a:latin typeface="+mn-ea"/>
                <a:ea typeface="+mn-ea"/>
              </a:rPr>
              <a:t>某些应用中，为了改善性能，对普通调幅信号的解调也可以采用同步检波。</a:t>
            </a:r>
          </a:p>
        </p:txBody>
      </p:sp>
      <p:graphicFrame>
        <p:nvGraphicFramePr>
          <p:cNvPr id="16" name="Object 2">
            <a:extLst>
              <a:ext uri="{FF2B5EF4-FFF2-40B4-BE49-F238E27FC236}">
                <a16:creationId xmlns="" xmlns:a16="http://schemas.microsoft.com/office/drawing/2014/main" id="{65B93FCF-D7AC-C7F8-EAE2-84648F17F121}"/>
              </a:ext>
            </a:extLst>
          </p:cNvPr>
          <p:cNvGraphicFramePr>
            <a:graphicFrameLocks/>
          </p:cNvGraphicFramePr>
          <p:nvPr>
            <p:extLst>
              <p:ext uri="{D42A27DB-BD31-4B8C-83A1-F6EECF244321}">
                <p14:modId xmlns:p14="http://schemas.microsoft.com/office/powerpoint/2010/main" val="909951438"/>
              </p:ext>
            </p:extLst>
          </p:nvPr>
        </p:nvGraphicFramePr>
        <p:xfrm>
          <a:off x="1795671" y="5132437"/>
          <a:ext cx="5204815" cy="1452477"/>
        </p:xfrm>
        <a:graphic>
          <a:graphicData uri="http://schemas.openxmlformats.org/presentationml/2006/ole">
            <mc:AlternateContent xmlns:mc="http://schemas.openxmlformats.org/markup-compatibility/2006">
              <mc:Choice xmlns:v="urn:schemas-microsoft-com:vml" Requires="v">
                <p:oleObj spid="_x0000_s194591" r:id="rId7" imgW="3838680" imgH="961920" progId="Word.Picture.8">
                  <p:embed/>
                </p:oleObj>
              </mc:Choice>
              <mc:Fallback>
                <p:oleObj r:id="rId7" imgW="3838680" imgH="961920" progId="Word.Picture.8">
                  <p:embed/>
                  <p:pic>
                    <p:nvPicPr>
                      <p:cNvPr id="0" name=""/>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95671" y="5132437"/>
                        <a:ext cx="5204815" cy="1452477"/>
                      </a:xfrm>
                      <a:prstGeom prst="rect">
                        <a:avLst/>
                      </a:prstGeom>
                      <a:noFill/>
                      <a:ln>
                        <a:noFill/>
                      </a:ln>
                      <a:extLst/>
                    </p:spPr>
                  </p:pic>
                </p:oleObj>
              </mc:Fallback>
            </mc:AlternateContent>
          </a:graphicData>
        </a:graphic>
      </p:graphicFrame>
      <p:sp>
        <p:nvSpPr>
          <p:cNvPr id="17" name="Rectangle 3">
            <a:extLst>
              <a:ext uri="{FF2B5EF4-FFF2-40B4-BE49-F238E27FC236}">
                <a16:creationId xmlns="" xmlns:a16="http://schemas.microsoft.com/office/drawing/2014/main" id="{20CB22F7-B19B-D27C-9E12-73FBB283178F}"/>
              </a:ext>
            </a:extLst>
          </p:cNvPr>
          <p:cNvSpPr>
            <a:spLocks noChangeArrowheads="1"/>
          </p:cNvSpPr>
          <p:nvPr/>
        </p:nvSpPr>
        <p:spPr bwMode="auto">
          <a:xfrm>
            <a:off x="260708" y="4876234"/>
            <a:ext cx="72294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9pPr>
          </a:lstStyle>
          <a:p>
            <a:pPr eaLnBrk="1" hangingPunct="1"/>
            <a:r>
              <a:rPr lang="zh-CN" altLang="en-US" sz="1800" b="0" dirty="0">
                <a:latin typeface="+mn-ea"/>
                <a:ea typeface="+mn-ea"/>
              </a:rPr>
              <a:t>同步检波有两种实现电路</a:t>
            </a:r>
            <a:r>
              <a:rPr lang="en-US" altLang="zh-CN" sz="1800" b="0" dirty="0">
                <a:latin typeface="+mn-ea"/>
                <a:ea typeface="+mn-ea"/>
              </a:rPr>
              <a:t>:</a:t>
            </a:r>
          </a:p>
        </p:txBody>
      </p:sp>
      <p:sp>
        <p:nvSpPr>
          <p:cNvPr id="18" name="Rectangle 4">
            <a:extLst>
              <a:ext uri="{FF2B5EF4-FFF2-40B4-BE49-F238E27FC236}">
                <a16:creationId xmlns="" xmlns:a16="http://schemas.microsoft.com/office/drawing/2014/main" id="{C0A61181-B941-BDED-D018-C112EFF2E576}"/>
              </a:ext>
            </a:extLst>
          </p:cNvPr>
          <p:cNvSpPr>
            <a:spLocks noChangeArrowheads="1"/>
          </p:cNvSpPr>
          <p:nvPr/>
        </p:nvSpPr>
        <p:spPr bwMode="auto">
          <a:xfrm>
            <a:off x="1748268" y="6488668"/>
            <a:ext cx="156966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9pPr>
          </a:lstStyle>
          <a:p>
            <a:pPr eaLnBrk="1" hangingPunct="1"/>
            <a:r>
              <a:rPr lang="zh-CN" altLang="en-US" sz="1800" b="0" dirty="0">
                <a:latin typeface="+mn-ea"/>
                <a:ea typeface="+mn-ea"/>
              </a:rPr>
              <a:t>乘积检波电路</a:t>
            </a:r>
          </a:p>
        </p:txBody>
      </p:sp>
      <p:sp>
        <p:nvSpPr>
          <p:cNvPr id="19" name="Rectangle 5">
            <a:extLst>
              <a:ext uri="{FF2B5EF4-FFF2-40B4-BE49-F238E27FC236}">
                <a16:creationId xmlns="" xmlns:a16="http://schemas.microsoft.com/office/drawing/2014/main" id="{5E9C0428-954E-4887-5690-8B449F663C24}"/>
              </a:ext>
            </a:extLst>
          </p:cNvPr>
          <p:cNvSpPr>
            <a:spLocks noChangeArrowheads="1"/>
          </p:cNvSpPr>
          <p:nvPr/>
        </p:nvSpPr>
        <p:spPr bwMode="auto">
          <a:xfrm>
            <a:off x="4552918" y="6469336"/>
            <a:ext cx="180049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9pPr>
          </a:lstStyle>
          <a:p>
            <a:pPr eaLnBrk="1" hangingPunct="1"/>
            <a:r>
              <a:rPr lang="zh-CN" altLang="en-US" sz="1800" b="0" dirty="0">
                <a:latin typeface="+mn-ea"/>
                <a:ea typeface="+mn-ea"/>
              </a:rPr>
              <a:t>二极管同步检波</a:t>
            </a:r>
          </a:p>
        </p:txBody>
      </p:sp>
      <p:sp>
        <p:nvSpPr>
          <p:cNvPr id="20" name="矩形 79880">
            <a:extLst>
              <a:ext uri="{FF2B5EF4-FFF2-40B4-BE49-F238E27FC236}">
                <a16:creationId xmlns="" xmlns:a16="http://schemas.microsoft.com/office/drawing/2014/main" id="{B724104D-7FBB-FAAF-B0C5-B666244DED21}"/>
              </a:ext>
            </a:extLst>
          </p:cNvPr>
          <p:cNvSpPr>
            <a:spLocks noChangeArrowheads="1"/>
          </p:cNvSpPr>
          <p:nvPr/>
        </p:nvSpPr>
        <p:spPr bwMode="auto">
          <a:xfrm>
            <a:off x="7142982" y="6064517"/>
            <a:ext cx="8771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r>
              <a:rPr lang="zh-CN" altLang="en-US" sz="1800" b="0" dirty="0">
                <a:latin typeface="+mn-ea"/>
                <a:ea typeface="+mn-ea"/>
              </a:rPr>
              <a:t>叠加型</a:t>
            </a:r>
          </a:p>
        </p:txBody>
      </p:sp>
    </p:spTree>
    <p:extLst>
      <p:ext uri="{BB962C8B-B14F-4D97-AF65-F5344CB8AC3E}">
        <p14:creationId xmlns:p14="http://schemas.microsoft.com/office/powerpoint/2010/main" val="3864047625"/>
      </p:ext>
    </p:extLst>
  </p:cSld>
  <p:clrMapOvr>
    <a:masterClrMapping/>
  </p:clrMapOvr>
  <p:timing>
    <p:tnLst>
      <p:par>
        <p:cTn id="1" dur="indefinite" restart="never" nodeType="tmRoot"/>
      </p:par>
    </p:tnLst>
  </p:timing>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245</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5"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6.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振幅调制</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与</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解调</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1" name="Rectangle 27">
            <a:extLst>
              <a:ext uri="{FF2B5EF4-FFF2-40B4-BE49-F238E27FC236}">
                <a16:creationId xmlns="" xmlns:a16="http://schemas.microsoft.com/office/drawing/2014/main" id="{AF588F0A-C404-8FAF-C8C9-F87B3D44952D}"/>
              </a:ext>
            </a:extLst>
          </p:cNvPr>
          <p:cNvSpPr>
            <a:spLocks noChangeArrowheads="1"/>
          </p:cNvSpPr>
          <p:nvPr/>
        </p:nvSpPr>
        <p:spPr bwMode="auto">
          <a:xfrm>
            <a:off x="245519" y="1279857"/>
            <a:ext cx="2159566"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9pPr>
          </a:lstStyle>
          <a:p>
            <a:pPr eaLnBrk="1" hangingPunct="1"/>
            <a:r>
              <a:rPr lang="zh-CN" altLang="en-US" sz="2200" b="0" dirty="0">
                <a:solidFill>
                  <a:srgbClr val="FF0000"/>
                </a:solidFill>
                <a:latin typeface="Times New Roman" panose="02020603050405020304" pitchFamily="18" charset="0"/>
                <a:ea typeface="+mn-ea"/>
                <a:cs typeface="Times New Roman" panose="02020603050405020304" pitchFamily="18" charset="0"/>
              </a:rPr>
              <a:t>1. </a:t>
            </a:r>
            <a:r>
              <a:rPr lang="zh-CN" altLang="en-US" sz="2200" b="0" dirty="0">
                <a:solidFill>
                  <a:srgbClr val="FF0000"/>
                </a:solidFill>
                <a:latin typeface="+mn-ea"/>
                <a:ea typeface="+mn-ea"/>
              </a:rPr>
              <a:t>乘积检波电路</a:t>
            </a:r>
          </a:p>
        </p:txBody>
      </p:sp>
      <p:graphicFrame>
        <p:nvGraphicFramePr>
          <p:cNvPr id="12" name="Object 13">
            <a:extLst>
              <a:ext uri="{FF2B5EF4-FFF2-40B4-BE49-F238E27FC236}">
                <a16:creationId xmlns="" xmlns:a16="http://schemas.microsoft.com/office/drawing/2014/main" id="{20DDFFBD-2113-5CA4-28CF-AF87C4677418}"/>
              </a:ext>
            </a:extLst>
          </p:cNvPr>
          <p:cNvGraphicFramePr>
            <a:graphicFrameLocks/>
          </p:cNvGraphicFramePr>
          <p:nvPr>
            <p:extLst>
              <p:ext uri="{D42A27DB-BD31-4B8C-83A1-F6EECF244321}">
                <p14:modId xmlns:p14="http://schemas.microsoft.com/office/powerpoint/2010/main" val="1478134963"/>
              </p:ext>
            </p:extLst>
          </p:nvPr>
        </p:nvGraphicFramePr>
        <p:xfrm>
          <a:off x="4507844" y="1715425"/>
          <a:ext cx="2301026" cy="372028"/>
        </p:xfrm>
        <a:graphic>
          <a:graphicData uri="http://schemas.openxmlformats.org/presentationml/2006/ole">
            <mc:AlternateContent xmlns:mc="http://schemas.openxmlformats.org/markup-compatibility/2006">
              <mc:Choice xmlns:v="urn:schemas-microsoft-com:vml" Requires="v">
                <p:oleObj spid="_x0000_s195704" r:id="rId3" imgW="1206500" imgH="203200" progId="Equation.3">
                  <p:embed/>
                </p:oleObj>
              </mc:Choice>
              <mc:Fallback>
                <p:oleObj r:id="rId3" imgW="1206500" imgH="203200" progId="Equation.3">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07844" y="1715425"/>
                        <a:ext cx="2301026" cy="372028"/>
                      </a:xfrm>
                      <a:prstGeom prst="rect">
                        <a:avLst/>
                      </a:prstGeom>
                      <a:noFill/>
                      <a:ln>
                        <a:noFill/>
                      </a:ln>
                      <a:extLst/>
                    </p:spPr>
                  </p:pic>
                </p:oleObj>
              </mc:Fallback>
            </mc:AlternateContent>
          </a:graphicData>
        </a:graphic>
      </p:graphicFrame>
      <p:graphicFrame>
        <p:nvGraphicFramePr>
          <p:cNvPr id="13" name="Object 12">
            <a:extLst>
              <a:ext uri="{FF2B5EF4-FFF2-40B4-BE49-F238E27FC236}">
                <a16:creationId xmlns="" xmlns:a16="http://schemas.microsoft.com/office/drawing/2014/main" id="{8754C865-3D93-C81D-AE7E-E3554C43183A}"/>
              </a:ext>
            </a:extLst>
          </p:cNvPr>
          <p:cNvGraphicFramePr>
            <a:graphicFrameLocks/>
          </p:cNvGraphicFramePr>
          <p:nvPr>
            <p:extLst>
              <p:ext uri="{D42A27DB-BD31-4B8C-83A1-F6EECF244321}">
                <p14:modId xmlns:p14="http://schemas.microsoft.com/office/powerpoint/2010/main" val="1111525892"/>
              </p:ext>
            </p:extLst>
          </p:nvPr>
        </p:nvGraphicFramePr>
        <p:xfrm>
          <a:off x="1834104" y="2017939"/>
          <a:ext cx="2487128" cy="391281"/>
        </p:xfrm>
        <a:graphic>
          <a:graphicData uri="http://schemas.openxmlformats.org/presentationml/2006/ole">
            <mc:AlternateContent xmlns:mc="http://schemas.openxmlformats.org/markup-compatibility/2006">
              <mc:Choice xmlns:v="urn:schemas-microsoft-com:vml" Requires="v">
                <p:oleObj spid="_x0000_s195705" name="Equation" r:id="rId5" imgW="1193800" imgH="203200" progId="Equation.DSMT4">
                  <p:embed/>
                </p:oleObj>
              </mc:Choice>
              <mc:Fallback>
                <p:oleObj name="Equation" r:id="rId5" imgW="1193800" imgH="203200" progId="Equation.DSMT4">
                  <p:embed/>
                  <p:pic>
                    <p:nvPicPr>
                      <p:cNvPr id="0" name=""/>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34104" y="2017939"/>
                        <a:ext cx="2487128" cy="391281"/>
                      </a:xfrm>
                      <a:prstGeom prst="rect">
                        <a:avLst/>
                      </a:prstGeom>
                      <a:noFill/>
                      <a:ln>
                        <a:noFill/>
                      </a:ln>
                      <a:extLst/>
                    </p:spPr>
                  </p:pic>
                </p:oleObj>
              </mc:Fallback>
            </mc:AlternateContent>
          </a:graphicData>
        </a:graphic>
      </p:graphicFrame>
      <p:graphicFrame>
        <p:nvGraphicFramePr>
          <p:cNvPr id="14" name="Object 11">
            <a:extLst>
              <a:ext uri="{FF2B5EF4-FFF2-40B4-BE49-F238E27FC236}">
                <a16:creationId xmlns="" xmlns:a16="http://schemas.microsoft.com/office/drawing/2014/main" id="{DAB0A87D-154E-004C-4014-6DAE7F3F54D7}"/>
              </a:ext>
            </a:extLst>
          </p:cNvPr>
          <p:cNvGraphicFramePr>
            <a:graphicFrameLocks/>
          </p:cNvGraphicFramePr>
          <p:nvPr>
            <p:extLst>
              <p:ext uri="{D42A27DB-BD31-4B8C-83A1-F6EECF244321}">
                <p14:modId xmlns:p14="http://schemas.microsoft.com/office/powerpoint/2010/main" val="1647115331"/>
              </p:ext>
            </p:extLst>
          </p:nvPr>
        </p:nvGraphicFramePr>
        <p:xfrm>
          <a:off x="2276785" y="2361927"/>
          <a:ext cx="411713" cy="404284"/>
        </p:xfrm>
        <a:graphic>
          <a:graphicData uri="http://schemas.openxmlformats.org/presentationml/2006/ole">
            <mc:AlternateContent xmlns:mc="http://schemas.openxmlformats.org/markup-compatibility/2006">
              <mc:Choice xmlns:v="urn:schemas-microsoft-com:vml" Requires="v">
                <p:oleObj spid="_x0000_s195706" r:id="rId7" imgW="190417" imgH="203112" progId="Equation.3">
                  <p:embed/>
                </p:oleObj>
              </mc:Choice>
              <mc:Fallback>
                <p:oleObj r:id="rId7" imgW="190417" imgH="203112" progId="Equation.3">
                  <p:embed/>
                  <p:pic>
                    <p:nvPicPr>
                      <p:cNvPr id="0" name=""/>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76785" y="2361927"/>
                        <a:ext cx="411713" cy="404284"/>
                      </a:xfrm>
                      <a:prstGeom prst="rect">
                        <a:avLst/>
                      </a:prstGeom>
                      <a:noFill/>
                      <a:ln>
                        <a:noFill/>
                      </a:ln>
                      <a:extLst/>
                    </p:spPr>
                  </p:pic>
                </p:oleObj>
              </mc:Fallback>
            </mc:AlternateContent>
          </a:graphicData>
        </a:graphic>
      </p:graphicFrame>
      <p:graphicFrame>
        <p:nvGraphicFramePr>
          <p:cNvPr id="15" name="Object 10">
            <a:extLst>
              <a:ext uri="{FF2B5EF4-FFF2-40B4-BE49-F238E27FC236}">
                <a16:creationId xmlns="" xmlns:a16="http://schemas.microsoft.com/office/drawing/2014/main" id="{A4C4675E-FAF4-DFFE-17BD-608395DA4C78}"/>
              </a:ext>
            </a:extLst>
          </p:cNvPr>
          <p:cNvGraphicFramePr>
            <a:graphicFrameLocks/>
          </p:cNvGraphicFramePr>
          <p:nvPr>
            <p:extLst>
              <p:ext uri="{D42A27DB-BD31-4B8C-83A1-F6EECF244321}">
                <p14:modId xmlns:p14="http://schemas.microsoft.com/office/powerpoint/2010/main" val="2337622936"/>
              </p:ext>
            </p:extLst>
          </p:nvPr>
        </p:nvGraphicFramePr>
        <p:xfrm>
          <a:off x="6339075" y="2347421"/>
          <a:ext cx="337198" cy="433296"/>
        </p:xfrm>
        <a:graphic>
          <a:graphicData uri="http://schemas.openxmlformats.org/presentationml/2006/ole">
            <mc:AlternateContent xmlns:mc="http://schemas.openxmlformats.org/markup-compatibility/2006">
              <mc:Choice xmlns:v="urn:schemas-microsoft-com:vml" Requires="v">
                <p:oleObj spid="_x0000_s195707" r:id="rId9" imgW="177569" imgH="202936" progId="Equation.3">
                  <p:embed/>
                </p:oleObj>
              </mc:Choice>
              <mc:Fallback>
                <p:oleObj r:id="rId9" imgW="177569" imgH="202936" progId="Equation.3">
                  <p:embed/>
                  <p:pic>
                    <p:nvPicPr>
                      <p:cNvPr id="0" name=""/>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339075" y="2347421"/>
                        <a:ext cx="337198" cy="433296"/>
                      </a:xfrm>
                      <a:prstGeom prst="rect">
                        <a:avLst/>
                      </a:prstGeom>
                      <a:noFill/>
                      <a:ln>
                        <a:noFill/>
                      </a:ln>
                      <a:extLst/>
                    </p:spPr>
                  </p:pic>
                </p:oleObj>
              </mc:Fallback>
            </mc:AlternateContent>
          </a:graphicData>
        </a:graphic>
      </p:graphicFrame>
      <p:graphicFrame>
        <p:nvGraphicFramePr>
          <p:cNvPr id="16" name="Object 9">
            <a:extLst>
              <a:ext uri="{FF2B5EF4-FFF2-40B4-BE49-F238E27FC236}">
                <a16:creationId xmlns="" xmlns:a16="http://schemas.microsoft.com/office/drawing/2014/main" id="{B3CF66E4-EA4D-A29E-4702-356BEE75F513}"/>
              </a:ext>
            </a:extLst>
          </p:cNvPr>
          <p:cNvGraphicFramePr>
            <a:graphicFrameLocks/>
          </p:cNvGraphicFramePr>
          <p:nvPr>
            <p:extLst>
              <p:ext uri="{D42A27DB-BD31-4B8C-83A1-F6EECF244321}">
                <p14:modId xmlns:p14="http://schemas.microsoft.com/office/powerpoint/2010/main" val="3185359207"/>
              </p:ext>
            </p:extLst>
          </p:nvPr>
        </p:nvGraphicFramePr>
        <p:xfrm>
          <a:off x="7023652" y="2377482"/>
          <a:ext cx="1072869" cy="444191"/>
        </p:xfrm>
        <a:graphic>
          <a:graphicData uri="http://schemas.openxmlformats.org/presentationml/2006/ole">
            <mc:AlternateContent xmlns:mc="http://schemas.openxmlformats.org/markup-compatibility/2006">
              <mc:Choice xmlns:v="urn:schemas-microsoft-com:vml" Requires="v">
                <p:oleObj spid="_x0000_s195708" r:id="rId11" imgW="469696" imgH="203112" progId="Equation.3">
                  <p:embed/>
                </p:oleObj>
              </mc:Choice>
              <mc:Fallback>
                <p:oleObj r:id="rId11" imgW="469696" imgH="203112" progId="Equation.3">
                  <p:embed/>
                  <p:pic>
                    <p:nvPicPr>
                      <p:cNvPr id="0" name=""/>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023652" y="2377482"/>
                        <a:ext cx="1072869" cy="444191"/>
                      </a:xfrm>
                      <a:prstGeom prst="rect">
                        <a:avLst/>
                      </a:prstGeom>
                      <a:noFill/>
                      <a:ln>
                        <a:noFill/>
                      </a:ln>
                      <a:extLst/>
                    </p:spPr>
                  </p:pic>
                </p:oleObj>
              </mc:Fallback>
            </mc:AlternateContent>
          </a:graphicData>
        </a:graphic>
      </p:graphicFrame>
      <p:sp>
        <p:nvSpPr>
          <p:cNvPr id="17" name="Rectangle 14">
            <a:extLst>
              <a:ext uri="{FF2B5EF4-FFF2-40B4-BE49-F238E27FC236}">
                <a16:creationId xmlns="" xmlns:a16="http://schemas.microsoft.com/office/drawing/2014/main" id="{795A16A9-5C83-CC10-706B-34F25EA8CDF1}"/>
              </a:ext>
            </a:extLst>
          </p:cNvPr>
          <p:cNvSpPr>
            <a:spLocks noChangeArrowheads="1"/>
          </p:cNvSpPr>
          <p:nvPr/>
        </p:nvSpPr>
        <p:spPr bwMode="auto">
          <a:xfrm>
            <a:off x="245519" y="1729394"/>
            <a:ext cx="5508625" cy="353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9pPr>
          </a:lstStyle>
          <a:p>
            <a:pPr eaLnBrk="1" hangingPunct="1">
              <a:lnSpc>
                <a:spcPct val="85000"/>
              </a:lnSpc>
            </a:pPr>
            <a:r>
              <a:rPr lang="zh-CN" altLang="en-US" sz="1900" b="0" dirty="0">
                <a:latin typeface="+mn-ea"/>
                <a:ea typeface="+mn-ea"/>
              </a:rPr>
              <a:t>已调波为载波分量被抑止的双边带信号                            </a:t>
            </a:r>
          </a:p>
        </p:txBody>
      </p:sp>
      <p:sp>
        <p:nvSpPr>
          <p:cNvPr id="18" name="Rectangle 17">
            <a:extLst>
              <a:ext uri="{FF2B5EF4-FFF2-40B4-BE49-F238E27FC236}">
                <a16:creationId xmlns="" xmlns:a16="http://schemas.microsoft.com/office/drawing/2014/main" id="{0DCA2B4A-7A47-6C91-F647-AD0461DF82AC}"/>
              </a:ext>
            </a:extLst>
          </p:cNvPr>
          <p:cNvSpPr>
            <a:spLocks noChangeArrowheads="1"/>
          </p:cNvSpPr>
          <p:nvPr/>
        </p:nvSpPr>
        <p:spPr bwMode="auto">
          <a:xfrm>
            <a:off x="2588087" y="2434134"/>
            <a:ext cx="3839513" cy="340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lnSpc>
                <a:spcPct val="85000"/>
              </a:lnSpc>
            </a:pPr>
            <a:r>
              <a:rPr lang="zh-CN" altLang="en-US" sz="1900" b="0" dirty="0">
                <a:latin typeface="+mn-ea"/>
                <a:ea typeface="+mn-ea"/>
              </a:rPr>
              <a:t>准确地等于输入信号载波的角频率</a:t>
            </a:r>
          </a:p>
        </p:txBody>
      </p:sp>
      <p:sp>
        <p:nvSpPr>
          <p:cNvPr id="19" name="Rectangle 18">
            <a:extLst>
              <a:ext uri="{FF2B5EF4-FFF2-40B4-BE49-F238E27FC236}">
                <a16:creationId xmlns="" xmlns:a16="http://schemas.microsoft.com/office/drawing/2014/main" id="{90457A14-89E8-41BB-5DEC-23E20EED285A}"/>
              </a:ext>
            </a:extLst>
          </p:cNvPr>
          <p:cNvSpPr>
            <a:spLocks noChangeArrowheads="1"/>
          </p:cNvSpPr>
          <p:nvPr/>
        </p:nvSpPr>
        <p:spPr bwMode="auto">
          <a:xfrm>
            <a:off x="6628780" y="2424159"/>
            <a:ext cx="32385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lnSpc>
                <a:spcPct val="85000"/>
              </a:lnSpc>
            </a:pPr>
            <a:r>
              <a:rPr lang="zh-CN" altLang="en-US" sz="1900" b="0" dirty="0">
                <a:latin typeface="+mn-ea"/>
                <a:ea typeface="+mn-ea"/>
              </a:rPr>
              <a:t>即</a:t>
            </a:r>
          </a:p>
        </p:txBody>
      </p:sp>
      <p:sp>
        <p:nvSpPr>
          <p:cNvPr id="20" name="Rectangle 19">
            <a:extLst>
              <a:ext uri="{FF2B5EF4-FFF2-40B4-BE49-F238E27FC236}">
                <a16:creationId xmlns="" xmlns:a16="http://schemas.microsoft.com/office/drawing/2014/main" id="{EABFCEE9-C39C-2A05-36FA-FC3721223C1A}"/>
              </a:ext>
            </a:extLst>
          </p:cNvPr>
          <p:cNvSpPr>
            <a:spLocks noChangeArrowheads="1"/>
          </p:cNvSpPr>
          <p:nvPr/>
        </p:nvSpPr>
        <p:spPr bwMode="auto">
          <a:xfrm>
            <a:off x="281435" y="2715837"/>
            <a:ext cx="8227697" cy="677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9pPr>
          </a:lstStyle>
          <a:p>
            <a:pPr eaLnBrk="1" hangingPunct="1"/>
            <a:r>
              <a:rPr lang="zh-CN" altLang="en-US" sz="1900" b="0" dirty="0" smtClean="0">
                <a:latin typeface="Times New Roman" panose="02020603050405020304" pitchFamily="18" charset="0"/>
                <a:ea typeface="+mn-ea"/>
                <a:cs typeface="Times New Roman" panose="02020603050405020304" pitchFamily="18" charset="0"/>
              </a:rPr>
              <a:t>但</a:t>
            </a:r>
            <a:r>
              <a:rPr lang="zh-CN" altLang="en-US" sz="1900" b="0" dirty="0">
                <a:latin typeface="Times New Roman" panose="02020603050405020304" pitchFamily="18" charset="0"/>
                <a:ea typeface="+mn-ea"/>
                <a:cs typeface="Times New Roman" panose="02020603050405020304" pitchFamily="18" charset="0"/>
              </a:rPr>
              <a:t>二者的相位可能不同；这里</a:t>
            </a:r>
            <a:r>
              <a:rPr lang="zh-CN" altLang="en-US" sz="1900" b="0" i="1" dirty="0">
                <a:latin typeface="Times New Roman" panose="02020603050405020304" pitchFamily="18" charset="0"/>
                <a:ea typeface="+mn-ea"/>
                <a:cs typeface="Times New Roman" panose="02020603050405020304" pitchFamily="18" charset="0"/>
                <a:sym typeface="Symbol" panose="05050102010706020507" pitchFamily="18" charset="2"/>
              </a:rPr>
              <a:t></a:t>
            </a:r>
            <a:r>
              <a:rPr lang="zh-CN" altLang="en-US" sz="1900" b="0" dirty="0">
                <a:latin typeface="Times New Roman" panose="02020603050405020304" pitchFamily="18" charset="0"/>
                <a:ea typeface="+mn-ea"/>
                <a:cs typeface="Times New Roman" panose="02020603050405020304" pitchFamily="18" charset="0"/>
              </a:rPr>
              <a:t>表示它们的相位差</a:t>
            </a:r>
            <a:r>
              <a:rPr lang="zh-CN" altLang="en-US" sz="1900" b="0" dirty="0" smtClean="0">
                <a:latin typeface="Times New Roman" panose="02020603050405020304" pitchFamily="18" charset="0"/>
                <a:ea typeface="+mn-ea"/>
                <a:cs typeface="Times New Roman" panose="02020603050405020304" pitchFamily="18" charset="0"/>
              </a:rPr>
              <a:t>。</a:t>
            </a:r>
            <a:r>
              <a:rPr lang="zh-CN" altLang="en-US" sz="1900" b="0" dirty="0" smtClean="0">
                <a:latin typeface="Times New Roman" panose="02020603050405020304" pitchFamily="18" charset="0"/>
                <a:ea typeface="+mn-ea"/>
                <a:cs typeface="Times New Roman" panose="02020603050405020304" pitchFamily="18" charset="0"/>
                <a:sym typeface="Symbol" panose="05050102010706020507" pitchFamily="18" charset="2"/>
              </a:rPr>
              <a:t>这时</a:t>
            </a:r>
            <a:r>
              <a:rPr lang="zh-CN" altLang="en-US" sz="1900" b="0" dirty="0">
                <a:latin typeface="Times New Roman" panose="02020603050405020304" pitchFamily="18" charset="0"/>
                <a:ea typeface="+mn-ea"/>
                <a:cs typeface="Times New Roman" panose="02020603050405020304" pitchFamily="18" charset="0"/>
                <a:sym typeface="Symbol" panose="05050102010706020507" pitchFamily="18" charset="2"/>
              </a:rPr>
              <a:t>相乘输出为（假定相乘器传输系数为</a:t>
            </a:r>
            <a:r>
              <a:rPr lang="en-US" altLang="zh-CN" sz="1900" b="0" dirty="0">
                <a:latin typeface="Times New Roman" panose="02020603050405020304" pitchFamily="18" charset="0"/>
                <a:ea typeface="+mn-ea"/>
                <a:cs typeface="Times New Roman" panose="02020603050405020304" pitchFamily="18" charset="0"/>
                <a:sym typeface="Symbol" panose="05050102010706020507" pitchFamily="18" charset="2"/>
              </a:rPr>
              <a:t>1</a:t>
            </a:r>
            <a:r>
              <a:rPr lang="zh-CN" altLang="en-US" sz="1900" b="0" dirty="0">
                <a:latin typeface="Times New Roman" panose="02020603050405020304" pitchFamily="18" charset="0"/>
                <a:ea typeface="+mn-ea"/>
                <a:cs typeface="Times New Roman" panose="02020603050405020304" pitchFamily="18" charset="0"/>
                <a:sym typeface="Symbol" panose="05050102010706020507" pitchFamily="18" charset="2"/>
              </a:rPr>
              <a:t>）                    </a:t>
            </a:r>
          </a:p>
        </p:txBody>
      </p:sp>
      <p:sp>
        <p:nvSpPr>
          <p:cNvPr id="21" name="Rectangle 25">
            <a:extLst>
              <a:ext uri="{FF2B5EF4-FFF2-40B4-BE49-F238E27FC236}">
                <a16:creationId xmlns="" xmlns:a16="http://schemas.microsoft.com/office/drawing/2014/main" id="{32BCECA1-D75B-B315-63A1-2633BF2BFF21}"/>
              </a:ext>
            </a:extLst>
          </p:cNvPr>
          <p:cNvSpPr>
            <a:spLocks noChangeArrowheads="1"/>
          </p:cNvSpPr>
          <p:nvPr/>
        </p:nvSpPr>
        <p:spPr bwMode="auto">
          <a:xfrm>
            <a:off x="144483" y="2063981"/>
            <a:ext cx="1768433" cy="340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9pPr>
          </a:lstStyle>
          <a:p>
            <a:pPr>
              <a:lnSpc>
                <a:spcPct val="85000"/>
              </a:lnSpc>
            </a:pPr>
            <a:r>
              <a:rPr lang="zh-CN" altLang="en-US" sz="1900" b="0" dirty="0">
                <a:latin typeface="+mn-ea"/>
                <a:ea typeface="+mn-ea"/>
              </a:rPr>
              <a:t> 本地载波电压</a:t>
            </a:r>
          </a:p>
        </p:txBody>
      </p:sp>
      <p:sp>
        <p:nvSpPr>
          <p:cNvPr id="22" name="Rectangle 26">
            <a:extLst>
              <a:ext uri="{FF2B5EF4-FFF2-40B4-BE49-F238E27FC236}">
                <a16:creationId xmlns="" xmlns:a16="http://schemas.microsoft.com/office/drawing/2014/main" id="{B9232CBB-604B-6479-F583-0D1DA94495C2}"/>
              </a:ext>
            </a:extLst>
          </p:cNvPr>
          <p:cNvSpPr>
            <a:spLocks noChangeArrowheads="1"/>
          </p:cNvSpPr>
          <p:nvPr/>
        </p:nvSpPr>
        <p:spPr bwMode="auto">
          <a:xfrm>
            <a:off x="144483" y="2424632"/>
            <a:ext cx="2711450" cy="353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9pPr>
          </a:lstStyle>
          <a:p>
            <a:pPr>
              <a:lnSpc>
                <a:spcPct val="85000"/>
              </a:lnSpc>
            </a:pPr>
            <a:r>
              <a:rPr lang="zh-CN" altLang="en-US" sz="1900" b="0" dirty="0">
                <a:latin typeface="+mn-ea"/>
                <a:ea typeface="+mn-ea"/>
              </a:rPr>
              <a:t> 本地载波的角频率</a:t>
            </a:r>
          </a:p>
        </p:txBody>
      </p:sp>
      <p:grpSp>
        <p:nvGrpSpPr>
          <p:cNvPr id="23" name="组合 22">
            <a:extLst>
              <a:ext uri="{FF2B5EF4-FFF2-40B4-BE49-F238E27FC236}">
                <a16:creationId xmlns="" xmlns:a16="http://schemas.microsoft.com/office/drawing/2014/main" id="{23E6D9AF-F4A6-DC50-BA92-B2B60BC7148D}"/>
              </a:ext>
            </a:extLst>
          </p:cNvPr>
          <p:cNvGrpSpPr>
            <a:grpSpLocks/>
          </p:cNvGrpSpPr>
          <p:nvPr/>
        </p:nvGrpSpPr>
        <p:grpSpPr bwMode="auto">
          <a:xfrm>
            <a:off x="679081" y="3640475"/>
            <a:ext cx="8245475" cy="649288"/>
            <a:chOff x="555" y="2518"/>
            <a:chExt cx="5194" cy="409"/>
          </a:xfrm>
        </p:grpSpPr>
        <p:graphicFrame>
          <p:nvGraphicFramePr>
            <p:cNvPr id="25" name="Object 7">
              <a:extLst>
                <a:ext uri="{FF2B5EF4-FFF2-40B4-BE49-F238E27FC236}">
                  <a16:creationId xmlns="" xmlns:a16="http://schemas.microsoft.com/office/drawing/2014/main" id="{69380DE7-E647-724B-ACD2-A401CD24D815}"/>
                </a:ext>
              </a:extLst>
            </p:cNvPr>
            <p:cNvGraphicFramePr>
              <a:graphicFrameLocks/>
            </p:cNvGraphicFramePr>
            <p:nvPr>
              <p:extLst>
                <p:ext uri="{D42A27DB-BD31-4B8C-83A1-F6EECF244321}">
                  <p14:modId xmlns:p14="http://schemas.microsoft.com/office/powerpoint/2010/main" val="1007772579"/>
                </p:ext>
              </p:extLst>
            </p:nvPr>
          </p:nvGraphicFramePr>
          <p:xfrm>
            <a:off x="555" y="2518"/>
            <a:ext cx="3391" cy="409"/>
          </p:xfrm>
          <a:graphic>
            <a:graphicData uri="http://schemas.openxmlformats.org/presentationml/2006/ole">
              <mc:AlternateContent xmlns:mc="http://schemas.openxmlformats.org/markup-compatibility/2006">
                <mc:Choice xmlns:v="urn:schemas-microsoft-com:vml" Requires="v">
                  <p:oleObj spid="_x0000_s195709" r:id="rId13" imgW="2844800" imgH="355600" progId="Equation.3">
                    <p:embed/>
                  </p:oleObj>
                </mc:Choice>
                <mc:Fallback>
                  <p:oleObj r:id="rId13" imgW="2844800" imgH="355600" progId="Equation.3">
                    <p:embed/>
                    <p:pic>
                      <p:nvPicPr>
                        <p:cNvPr id="0" name=""/>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55" y="2518"/>
                          <a:ext cx="3391" cy="409"/>
                        </a:xfrm>
                        <a:prstGeom prst="rect">
                          <a:avLst/>
                        </a:prstGeom>
                        <a:noFill/>
                        <a:ln>
                          <a:noFill/>
                        </a:ln>
                        <a:extLst/>
                      </p:spPr>
                    </p:pic>
                  </p:oleObj>
                </mc:Fallback>
              </mc:AlternateContent>
            </a:graphicData>
          </a:graphic>
        </p:graphicFrame>
        <p:graphicFrame>
          <p:nvGraphicFramePr>
            <p:cNvPr id="26" name="Object 6">
              <a:extLst>
                <a:ext uri="{FF2B5EF4-FFF2-40B4-BE49-F238E27FC236}">
                  <a16:creationId xmlns="" xmlns:a16="http://schemas.microsoft.com/office/drawing/2014/main" id="{2795655E-31D2-101A-767E-FC62038E46B6}"/>
                </a:ext>
              </a:extLst>
            </p:cNvPr>
            <p:cNvGraphicFramePr>
              <a:graphicFrameLocks/>
            </p:cNvGraphicFramePr>
            <p:nvPr>
              <p:extLst>
                <p:ext uri="{D42A27DB-BD31-4B8C-83A1-F6EECF244321}">
                  <p14:modId xmlns:p14="http://schemas.microsoft.com/office/powerpoint/2010/main" val="3849662029"/>
                </p:ext>
              </p:extLst>
            </p:nvPr>
          </p:nvGraphicFramePr>
          <p:xfrm>
            <a:off x="3920" y="2547"/>
            <a:ext cx="1829" cy="352"/>
          </p:xfrm>
          <a:graphic>
            <a:graphicData uri="http://schemas.openxmlformats.org/presentationml/2006/ole">
              <mc:AlternateContent xmlns:mc="http://schemas.openxmlformats.org/markup-compatibility/2006">
                <mc:Choice xmlns:v="urn:schemas-microsoft-com:vml" Requires="v">
                  <p:oleObj spid="_x0000_s195710" r:id="rId15" imgW="1612900" imgH="355600" progId="Equation.3">
                    <p:embed/>
                  </p:oleObj>
                </mc:Choice>
                <mc:Fallback>
                  <p:oleObj r:id="rId15" imgW="1612900" imgH="355600" progId="Equation.3">
                    <p:embed/>
                    <p:pic>
                      <p:nvPicPr>
                        <p:cNvPr id="0" name=""/>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920" y="2547"/>
                          <a:ext cx="1829" cy="352"/>
                        </a:xfrm>
                        <a:prstGeom prst="rect">
                          <a:avLst/>
                        </a:prstGeom>
                        <a:noFill/>
                        <a:ln>
                          <a:noFill/>
                        </a:ln>
                        <a:extLst/>
                      </p:spPr>
                    </p:pic>
                  </p:oleObj>
                </mc:Fallback>
              </mc:AlternateContent>
            </a:graphicData>
          </a:graphic>
        </p:graphicFrame>
      </p:grpSp>
      <p:graphicFrame>
        <p:nvGraphicFramePr>
          <p:cNvPr id="27" name="Object 4">
            <a:extLst>
              <a:ext uri="{FF2B5EF4-FFF2-40B4-BE49-F238E27FC236}">
                <a16:creationId xmlns="" xmlns:a16="http://schemas.microsoft.com/office/drawing/2014/main" id="{CAC7F313-0570-56DD-4343-CA020543E0F5}"/>
              </a:ext>
            </a:extLst>
          </p:cNvPr>
          <p:cNvGraphicFramePr>
            <a:graphicFrameLocks/>
          </p:cNvGraphicFramePr>
          <p:nvPr>
            <p:extLst>
              <p:ext uri="{D42A27DB-BD31-4B8C-83A1-F6EECF244321}">
                <p14:modId xmlns:p14="http://schemas.microsoft.com/office/powerpoint/2010/main" val="758490399"/>
              </p:ext>
            </p:extLst>
          </p:nvPr>
        </p:nvGraphicFramePr>
        <p:xfrm>
          <a:off x="2999831" y="4711356"/>
          <a:ext cx="2456111" cy="538153"/>
        </p:xfrm>
        <a:graphic>
          <a:graphicData uri="http://schemas.openxmlformats.org/presentationml/2006/ole">
            <mc:AlternateContent xmlns:mc="http://schemas.openxmlformats.org/markup-compatibility/2006">
              <mc:Choice xmlns:v="urn:schemas-microsoft-com:vml" Requires="v">
                <p:oleObj spid="_x0000_s195711" r:id="rId17" imgW="1294838" imgH="330057" progId="Equation.3">
                  <p:embed/>
                </p:oleObj>
              </mc:Choice>
              <mc:Fallback>
                <p:oleObj r:id="rId17" imgW="1294838" imgH="330057" progId="Equation.3">
                  <p:embed/>
                  <p:pic>
                    <p:nvPicPr>
                      <p:cNvPr id="0" name=""/>
                      <p:cNvPicPr>
                        <a:picLocks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999831" y="4711356"/>
                        <a:ext cx="2456111" cy="538153"/>
                      </a:xfrm>
                      <a:prstGeom prst="rect">
                        <a:avLst/>
                      </a:prstGeom>
                      <a:solidFill>
                        <a:srgbClr val="FFFF00"/>
                      </a:solidFill>
                      <a:ln w="9525">
                        <a:solidFill>
                          <a:srgbClr val="FF3300"/>
                        </a:solidFill>
                        <a:miter lim="800000"/>
                        <a:headEnd/>
                        <a:tailEnd/>
                      </a:ln>
                    </p:spPr>
                  </p:pic>
                </p:oleObj>
              </mc:Fallback>
            </mc:AlternateContent>
          </a:graphicData>
        </a:graphic>
      </p:graphicFrame>
      <p:grpSp>
        <p:nvGrpSpPr>
          <p:cNvPr id="28" name="组合 27">
            <a:extLst>
              <a:ext uri="{FF2B5EF4-FFF2-40B4-BE49-F238E27FC236}">
                <a16:creationId xmlns="" xmlns:a16="http://schemas.microsoft.com/office/drawing/2014/main" id="{AA664296-DB94-1E5E-2C3B-BBFF65443677}"/>
              </a:ext>
            </a:extLst>
          </p:cNvPr>
          <p:cNvGrpSpPr>
            <a:grpSpLocks/>
          </p:cNvGrpSpPr>
          <p:nvPr/>
        </p:nvGrpSpPr>
        <p:grpSpPr bwMode="auto">
          <a:xfrm>
            <a:off x="196897" y="4312440"/>
            <a:ext cx="5824538" cy="365125"/>
            <a:chOff x="136" y="3026"/>
            <a:chExt cx="3669" cy="230"/>
          </a:xfrm>
        </p:grpSpPr>
        <p:graphicFrame>
          <p:nvGraphicFramePr>
            <p:cNvPr id="29" name="Object 5">
              <a:extLst>
                <a:ext uri="{FF2B5EF4-FFF2-40B4-BE49-F238E27FC236}">
                  <a16:creationId xmlns="" xmlns:a16="http://schemas.microsoft.com/office/drawing/2014/main" id="{97253C49-05D8-8C84-2FD2-33BC8CB4A063}"/>
                </a:ext>
              </a:extLst>
            </p:cNvPr>
            <p:cNvGraphicFramePr>
              <a:graphicFrameLocks/>
            </p:cNvGraphicFramePr>
            <p:nvPr>
              <p:extLst>
                <p:ext uri="{D42A27DB-BD31-4B8C-83A1-F6EECF244321}">
                  <p14:modId xmlns:p14="http://schemas.microsoft.com/office/powerpoint/2010/main" val="3319018699"/>
                </p:ext>
              </p:extLst>
            </p:nvPr>
          </p:nvGraphicFramePr>
          <p:xfrm>
            <a:off x="1308" y="3026"/>
            <a:ext cx="272" cy="228"/>
          </p:xfrm>
          <a:graphic>
            <a:graphicData uri="http://schemas.openxmlformats.org/presentationml/2006/ole">
              <mc:AlternateContent xmlns:mc="http://schemas.openxmlformats.org/markup-compatibility/2006">
                <mc:Choice xmlns:v="urn:schemas-microsoft-com:vml" Requires="v">
                  <p:oleObj spid="_x0000_s195712" r:id="rId19" imgW="241195" imgH="203112" progId="Equation.3">
                    <p:embed/>
                  </p:oleObj>
                </mc:Choice>
                <mc:Fallback>
                  <p:oleObj r:id="rId19" imgW="241195" imgH="203112" progId="Equation.3">
                    <p:embed/>
                    <p:pic>
                      <p:nvPicPr>
                        <p:cNvPr id="0" name=""/>
                        <p:cNvPicPr>
                          <a:picLocks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308" y="3026"/>
                          <a:ext cx="272" cy="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0" name="Rectangle 22">
              <a:extLst>
                <a:ext uri="{FF2B5EF4-FFF2-40B4-BE49-F238E27FC236}">
                  <a16:creationId xmlns="" xmlns:a16="http://schemas.microsoft.com/office/drawing/2014/main" id="{199D5138-9C98-6DB4-F8A1-D4598438876E}"/>
                </a:ext>
              </a:extLst>
            </p:cNvPr>
            <p:cNvSpPr>
              <a:spLocks noChangeArrowheads="1"/>
            </p:cNvSpPr>
            <p:nvPr/>
          </p:nvSpPr>
          <p:spPr bwMode="auto">
            <a:xfrm>
              <a:off x="136" y="3026"/>
              <a:ext cx="1488"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9pPr>
            </a:lstStyle>
            <a:p>
              <a:pPr eaLnBrk="1" hangingPunct="1">
                <a:lnSpc>
                  <a:spcPct val="85000"/>
                </a:lnSpc>
              </a:pPr>
              <a:r>
                <a:rPr lang="zh-CN" altLang="en-US" sz="1900" b="0" dirty="0">
                  <a:latin typeface="+mn-ea"/>
                  <a:ea typeface="+mn-ea"/>
                </a:rPr>
                <a:t>低通滤波器滤除</a:t>
              </a:r>
            </a:p>
          </p:txBody>
        </p:sp>
        <p:sp>
          <p:nvSpPr>
            <p:cNvPr id="31" name="Rectangle 23">
              <a:extLst>
                <a:ext uri="{FF2B5EF4-FFF2-40B4-BE49-F238E27FC236}">
                  <a16:creationId xmlns="" xmlns:a16="http://schemas.microsoft.com/office/drawing/2014/main" id="{DBE28B56-F11D-293C-C376-F1A2EBA1FE48}"/>
                </a:ext>
              </a:extLst>
            </p:cNvPr>
            <p:cNvSpPr>
              <a:spLocks noChangeArrowheads="1"/>
            </p:cNvSpPr>
            <p:nvPr/>
          </p:nvSpPr>
          <p:spPr bwMode="auto">
            <a:xfrm>
              <a:off x="1524" y="3033"/>
              <a:ext cx="2281"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9pPr>
            </a:lstStyle>
            <a:p>
              <a:pPr eaLnBrk="1" hangingPunct="1">
                <a:lnSpc>
                  <a:spcPct val="85000"/>
                </a:lnSpc>
              </a:pPr>
              <a:r>
                <a:rPr lang="zh-CN" altLang="en-US" sz="1900" b="0" dirty="0">
                  <a:latin typeface="+mn-ea"/>
                  <a:ea typeface="+mn-ea"/>
                </a:rPr>
                <a:t>附近的频率分量后，</a:t>
              </a:r>
              <a:r>
                <a:rPr lang="zh-CN" altLang="en-US" sz="1900" b="0" dirty="0">
                  <a:latin typeface="+mn-ea"/>
                  <a:ea typeface="+mn-ea"/>
                  <a:sym typeface="Symbol" panose="05050102010706020507" pitchFamily="18" charset="2"/>
                </a:rPr>
                <a:t>                       </a:t>
              </a:r>
            </a:p>
          </p:txBody>
        </p:sp>
      </p:grpSp>
      <p:sp>
        <p:nvSpPr>
          <p:cNvPr id="32" name="Rectangle 28">
            <a:extLst>
              <a:ext uri="{FF2B5EF4-FFF2-40B4-BE49-F238E27FC236}">
                <a16:creationId xmlns="" xmlns:a16="http://schemas.microsoft.com/office/drawing/2014/main" id="{2D9D1F8C-03E9-5E10-9AC2-1C50687B712D}"/>
              </a:ext>
            </a:extLst>
          </p:cNvPr>
          <p:cNvSpPr>
            <a:spLocks noChangeArrowheads="1"/>
          </p:cNvSpPr>
          <p:nvPr/>
        </p:nvSpPr>
        <p:spPr bwMode="auto">
          <a:xfrm>
            <a:off x="4572247" y="4278003"/>
            <a:ext cx="3174267" cy="384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r>
              <a:rPr lang="zh-CN" altLang="en-US" sz="1900" b="0" dirty="0">
                <a:latin typeface="+mn-ea"/>
                <a:ea typeface="+mn-ea"/>
              </a:rPr>
              <a:t>就得到频率为</a:t>
            </a:r>
            <a:r>
              <a:rPr lang="zh-CN" altLang="en-US" sz="1900" b="0" dirty="0">
                <a:latin typeface="+mn-ea"/>
                <a:ea typeface="+mn-ea"/>
                <a:sym typeface="Symbol" panose="05050102010706020507" pitchFamily="18" charset="2"/>
              </a:rPr>
              <a:t></a:t>
            </a:r>
            <a:r>
              <a:rPr lang="zh-CN" altLang="en-US" sz="1900" b="0" dirty="0">
                <a:latin typeface="+mn-ea"/>
                <a:ea typeface="+mn-ea"/>
              </a:rPr>
              <a:t>的低频信号 </a:t>
            </a:r>
          </a:p>
        </p:txBody>
      </p:sp>
      <p:graphicFrame>
        <p:nvGraphicFramePr>
          <p:cNvPr id="4" name="对象 3"/>
          <p:cNvGraphicFramePr>
            <a:graphicFrameLocks noChangeAspect="1"/>
          </p:cNvGraphicFramePr>
          <p:nvPr>
            <p:extLst>
              <p:ext uri="{D42A27DB-BD31-4B8C-83A1-F6EECF244321}">
                <p14:modId xmlns:p14="http://schemas.microsoft.com/office/powerpoint/2010/main" val="307798992"/>
              </p:ext>
            </p:extLst>
          </p:nvPr>
        </p:nvGraphicFramePr>
        <p:xfrm>
          <a:off x="376262" y="3361081"/>
          <a:ext cx="3795713" cy="381000"/>
        </p:xfrm>
        <a:graphic>
          <a:graphicData uri="http://schemas.openxmlformats.org/presentationml/2006/ole">
            <mc:AlternateContent xmlns:mc="http://schemas.openxmlformats.org/markup-compatibility/2006">
              <mc:Choice xmlns:v="urn:schemas-microsoft-com:vml" Requires="v">
                <p:oleObj spid="_x0000_s195713" name="Equation" r:id="rId21" imgW="1892160" imgH="190440" progId="Equation.DSMT4">
                  <p:embed/>
                </p:oleObj>
              </mc:Choice>
              <mc:Fallback>
                <p:oleObj name="Equation" r:id="rId21" imgW="1892160" imgH="190440" progId="Equation.DSMT4">
                  <p:embed/>
                  <p:pic>
                    <p:nvPicPr>
                      <p:cNvPr id="0" name=""/>
                      <p:cNvPicPr/>
                      <p:nvPr/>
                    </p:nvPicPr>
                    <p:blipFill>
                      <a:blip r:embed="rId22"/>
                      <a:stretch>
                        <a:fillRect/>
                      </a:stretch>
                    </p:blipFill>
                    <p:spPr>
                      <a:xfrm>
                        <a:off x="376262" y="3361081"/>
                        <a:ext cx="3795713" cy="381000"/>
                      </a:xfrm>
                      <a:prstGeom prst="rect">
                        <a:avLst/>
                      </a:prstGeom>
                    </p:spPr>
                  </p:pic>
                </p:oleObj>
              </mc:Fallback>
            </mc:AlternateContent>
          </a:graphicData>
        </a:graphic>
      </p:graphicFrame>
      <p:sp>
        <p:nvSpPr>
          <p:cNvPr id="33" name="Rectangle 8">
            <a:extLst>
              <a:ext uri="{FF2B5EF4-FFF2-40B4-BE49-F238E27FC236}">
                <a16:creationId xmlns="" xmlns:a16="http://schemas.microsoft.com/office/drawing/2014/main" id="{98BDD37B-E75E-5608-B4B2-C815EDFC25AF}"/>
              </a:ext>
            </a:extLst>
          </p:cNvPr>
          <p:cNvSpPr>
            <a:spLocks noChangeArrowheads="1"/>
          </p:cNvSpPr>
          <p:nvPr/>
        </p:nvSpPr>
        <p:spPr bwMode="auto">
          <a:xfrm>
            <a:off x="56658" y="5654918"/>
            <a:ext cx="8902371"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indent="266700">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9pPr>
          </a:lstStyle>
          <a:p>
            <a:pPr eaLnBrk="1" hangingPunct="1"/>
            <a:r>
              <a:rPr lang="zh-CN" altLang="en-US" sz="1900" b="0" dirty="0">
                <a:latin typeface="+mn-ea"/>
                <a:ea typeface="+mn-ea"/>
              </a:rPr>
              <a:t>低频信号电压最大，随着相位差</a:t>
            </a:r>
            <a:r>
              <a:rPr lang="zh-CN" altLang="en-US" sz="1900" b="0" dirty="0">
                <a:latin typeface="+mn-ea"/>
                <a:ea typeface="+mn-ea"/>
                <a:sym typeface="Symbol" panose="05050102010706020507" pitchFamily="18" charset="2"/>
              </a:rPr>
              <a:t></a:t>
            </a:r>
            <a:r>
              <a:rPr lang="zh-CN" altLang="en-US" sz="1900" b="0" dirty="0">
                <a:latin typeface="+mn-ea"/>
                <a:ea typeface="+mn-ea"/>
              </a:rPr>
              <a:t>加大，输出电压减弱。</a:t>
            </a:r>
          </a:p>
          <a:p>
            <a:pPr eaLnBrk="1" hangingPunct="1"/>
            <a:r>
              <a:rPr lang="zh-CN" altLang="en-US" sz="1900" b="0" dirty="0">
                <a:latin typeface="+mn-ea"/>
                <a:ea typeface="+mn-ea"/>
              </a:rPr>
              <a:t>在理想情况下，</a:t>
            </a:r>
            <a:r>
              <a:rPr lang="zh-CN" altLang="en-US" sz="1900" b="0" dirty="0">
                <a:solidFill>
                  <a:schemeClr val="accent2"/>
                </a:solidFill>
                <a:latin typeface="+mn-ea"/>
                <a:ea typeface="+mn-ea"/>
              </a:rPr>
              <a:t>除本地载波与输入信号载波的角频率必须相等外，希望二者的相位也相同。此时，乘积检波称为“同步检波</a:t>
            </a:r>
            <a:r>
              <a:rPr lang="zh-CN" altLang="en-US" sz="1900" b="0" dirty="0" smtClean="0">
                <a:solidFill>
                  <a:schemeClr val="accent2"/>
                </a:solidFill>
                <a:latin typeface="+mn-ea"/>
                <a:ea typeface="+mn-ea"/>
              </a:rPr>
              <a:t>。</a:t>
            </a:r>
            <a:endParaRPr lang="zh-CN" altLang="en-US" sz="1900" b="0" dirty="0">
              <a:solidFill>
                <a:schemeClr val="accent2"/>
              </a:solidFill>
              <a:latin typeface="+mn-ea"/>
              <a:ea typeface="+mn-ea"/>
              <a:sym typeface="Symbol" panose="05050102010706020507" pitchFamily="18" charset="2"/>
            </a:endParaRPr>
          </a:p>
        </p:txBody>
      </p:sp>
      <p:grpSp>
        <p:nvGrpSpPr>
          <p:cNvPr id="34" name="组合 81932">
            <a:extLst>
              <a:ext uri="{FF2B5EF4-FFF2-40B4-BE49-F238E27FC236}">
                <a16:creationId xmlns="" xmlns:a16="http://schemas.microsoft.com/office/drawing/2014/main" id="{8ADDB252-3346-38A1-8054-3F6764D6310C}"/>
              </a:ext>
            </a:extLst>
          </p:cNvPr>
          <p:cNvGrpSpPr>
            <a:grpSpLocks/>
          </p:cNvGrpSpPr>
          <p:nvPr/>
        </p:nvGrpSpPr>
        <p:grpSpPr bwMode="auto">
          <a:xfrm>
            <a:off x="319417" y="5283299"/>
            <a:ext cx="6872650" cy="400050"/>
            <a:chOff x="167" y="1078"/>
            <a:chExt cx="4307" cy="252"/>
          </a:xfrm>
        </p:grpSpPr>
        <p:graphicFrame>
          <p:nvGraphicFramePr>
            <p:cNvPr id="35" name="Object 5">
              <a:extLst>
                <a:ext uri="{FF2B5EF4-FFF2-40B4-BE49-F238E27FC236}">
                  <a16:creationId xmlns="" xmlns:a16="http://schemas.microsoft.com/office/drawing/2014/main" id="{7ACCB8D7-CCC8-DF68-999B-65E0F79D5306}"/>
                </a:ext>
              </a:extLst>
            </p:cNvPr>
            <p:cNvGraphicFramePr>
              <a:graphicFrameLocks/>
            </p:cNvGraphicFramePr>
            <p:nvPr>
              <p:extLst>
                <p:ext uri="{D42A27DB-BD31-4B8C-83A1-F6EECF244321}">
                  <p14:modId xmlns:p14="http://schemas.microsoft.com/office/powerpoint/2010/main" val="2565875"/>
                </p:ext>
              </p:extLst>
            </p:nvPr>
          </p:nvGraphicFramePr>
          <p:xfrm>
            <a:off x="2517" y="1122"/>
            <a:ext cx="424" cy="198"/>
          </p:xfrm>
          <a:graphic>
            <a:graphicData uri="http://schemas.openxmlformats.org/presentationml/2006/ole">
              <mc:AlternateContent xmlns:mc="http://schemas.openxmlformats.org/markup-compatibility/2006">
                <mc:Choice xmlns:v="urn:schemas-microsoft-com:vml" Requires="v">
                  <p:oleObj spid="_x0000_s195714" r:id="rId23" imgW="317225" imgH="152268" progId="Equation.3">
                    <p:embed/>
                  </p:oleObj>
                </mc:Choice>
                <mc:Fallback>
                  <p:oleObj r:id="rId23" imgW="317225" imgH="152268" progId="Equation.3">
                    <p:embed/>
                    <p:pic>
                      <p:nvPicPr>
                        <p:cNvPr id="0" name=""/>
                        <p:cNvPicPr>
                          <a:picLocks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2517" y="1122"/>
                          <a:ext cx="424"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6" name="Object 4">
              <a:extLst>
                <a:ext uri="{FF2B5EF4-FFF2-40B4-BE49-F238E27FC236}">
                  <a16:creationId xmlns="" xmlns:a16="http://schemas.microsoft.com/office/drawing/2014/main" id="{2789EE8E-2715-E79D-BBB1-2BD2CBA2AD52}"/>
                </a:ext>
              </a:extLst>
            </p:cNvPr>
            <p:cNvGraphicFramePr>
              <a:graphicFrameLocks/>
            </p:cNvGraphicFramePr>
            <p:nvPr>
              <p:extLst>
                <p:ext uri="{D42A27DB-BD31-4B8C-83A1-F6EECF244321}">
                  <p14:modId xmlns:p14="http://schemas.microsoft.com/office/powerpoint/2010/main" val="2160353225"/>
                </p:ext>
              </p:extLst>
            </p:nvPr>
          </p:nvGraphicFramePr>
          <p:xfrm>
            <a:off x="3724" y="1113"/>
            <a:ext cx="363" cy="207"/>
          </p:xfrm>
          <a:graphic>
            <a:graphicData uri="http://schemas.openxmlformats.org/presentationml/2006/ole">
              <mc:AlternateContent xmlns:mc="http://schemas.openxmlformats.org/markup-compatibility/2006">
                <mc:Choice xmlns:v="urn:schemas-microsoft-com:vml" Requires="v">
                  <p:oleObj spid="_x0000_s195715" r:id="rId25" imgW="330057" imgH="190417" progId="Equation.3">
                    <p:embed/>
                  </p:oleObj>
                </mc:Choice>
                <mc:Fallback>
                  <p:oleObj r:id="rId25" imgW="330057" imgH="190417" progId="Equation.3">
                    <p:embed/>
                    <p:pic>
                      <p:nvPicPr>
                        <p:cNvPr id="0" name=""/>
                        <p:cNvPicPr>
                          <a:picLocks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3724" y="1113"/>
                          <a:ext cx="363"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7" name="Rectangle 6">
              <a:extLst>
                <a:ext uri="{FF2B5EF4-FFF2-40B4-BE49-F238E27FC236}">
                  <a16:creationId xmlns="" xmlns:a16="http://schemas.microsoft.com/office/drawing/2014/main" id="{C7A970E9-2FA4-C952-16FA-DF7B6ED18E7B}"/>
                </a:ext>
              </a:extLst>
            </p:cNvPr>
            <p:cNvSpPr>
              <a:spLocks noChangeArrowheads="1"/>
            </p:cNvSpPr>
            <p:nvPr/>
          </p:nvSpPr>
          <p:spPr bwMode="auto">
            <a:xfrm>
              <a:off x="167" y="1078"/>
              <a:ext cx="2419"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r>
                <a:rPr lang="zh-CN" altLang="en-US" sz="1900" b="0" dirty="0">
                  <a:latin typeface="+mn-ea"/>
                  <a:ea typeface="+mn-ea"/>
                </a:rPr>
                <a:t>由式可见，低频信号的输出幅度与</a:t>
              </a:r>
            </a:p>
          </p:txBody>
        </p:sp>
        <p:sp>
          <p:nvSpPr>
            <p:cNvPr id="38" name="Rectangle 7">
              <a:extLst>
                <a:ext uri="{FF2B5EF4-FFF2-40B4-BE49-F238E27FC236}">
                  <a16:creationId xmlns="" xmlns:a16="http://schemas.microsoft.com/office/drawing/2014/main" id="{A3E82283-D73A-5E25-EEE3-135CD4BBA199}"/>
                </a:ext>
              </a:extLst>
            </p:cNvPr>
            <p:cNvSpPr>
              <a:spLocks noChangeArrowheads="1"/>
            </p:cNvSpPr>
            <p:nvPr/>
          </p:nvSpPr>
          <p:spPr bwMode="auto">
            <a:xfrm>
              <a:off x="2881" y="1079"/>
              <a:ext cx="884"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r>
                <a:rPr lang="zh-CN" altLang="en-US" sz="1900" b="0" dirty="0">
                  <a:latin typeface="+mn-ea"/>
                  <a:ea typeface="+mn-ea"/>
                </a:rPr>
                <a:t>成正比。当</a:t>
              </a:r>
            </a:p>
          </p:txBody>
        </p:sp>
        <p:sp>
          <p:nvSpPr>
            <p:cNvPr id="39" name="Rectangle 11">
              <a:extLst>
                <a:ext uri="{FF2B5EF4-FFF2-40B4-BE49-F238E27FC236}">
                  <a16:creationId xmlns="" xmlns:a16="http://schemas.microsoft.com/office/drawing/2014/main" id="{32364090-E641-1A78-B40D-7FC0B0906296}"/>
                </a:ext>
              </a:extLst>
            </p:cNvPr>
            <p:cNvSpPr>
              <a:spLocks noChangeArrowheads="1"/>
            </p:cNvSpPr>
            <p:nvPr/>
          </p:nvSpPr>
          <p:spPr bwMode="auto">
            <a:xfrm>
              <a:off x="4035" y="1078"/>
              <a:ext cx="439"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9pPr>
            </a:lstStyle>
            <a:p>
              <a:pPr eaLnBrk="1" hangingPunct="1"/>
              <a:r>
                <a:rPr lang="zh-CN" altLang="en-US" sz="1900" b="0" dirty="0">
                  <a:latin typeface="+mn-ea"/>
                  <a:ea typeface="+mn-ea"/>
                </a:rPr>
                <a:t>时，</a:t>
              </a:r>
            </a:p>
          </p:txBody>
        </p:sp>
      </p:grpSp>
    </p:spTree>
    <p:extLst>
      <p:ext uri="{BB962C8B-B14F-4D97-AF65-F5344CB8AC3E}">
        <p14:creationId xmlns:p14="http://schemas.microsoft.com/office/powerpoint/2010/main" val="464286315"/>
      </p:ext>
    </p:extLst>
  </p:cSld>
  <p:clrMapOvr>
    <a:masterClrMapping/>
  </p:clrMapOvr>
  <p:timing>
    <p:tnLst>
      <p:par>
        <p:cTn id="1" dur="indefinite" restart="never" nodeType="tmRoot"/>
      </p:par>
    </p:tnLst>
  </p:timing>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246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5"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6.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振幅调制</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与</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解调</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graphicFrame>
        <p:nvGraphicFramePr>
          <p:cNvPr id="14" name="Object 3">
            <a:extLst>
              <a:ext uri="{FF2B5EF4-FFF2-40B4-BE49-F238E27FC236}">
                <a16:creationId xmlns="" xmlns:a16="http://schemas.microsoft.com/office/drawing/2014/main" id="{7ADEAD80-8BD6-5B3F-BCCA-12958CBE89A7}"/>
              </a:ext>
            </a:extLst>
          </p:cNvPr>
          <p:cNvGraphicFramePr>
            <a:graphicFrameLocks/>
          </p:cNvGraphicFramePr>
          <p:nvPr>
            <p:extLst>
              <p:ext uri="{D42A27DB-BD31-4B8C-83A1-F6EECF244321}">
                <p14:modId xmlns:p14="http://schemas.microsoft.com/office/powerpoint/2010/main" val="2239227126"/>
              </p:ext>
            </p:extLst>
          </p:nvPr>
        </p:nvGraphicFramePr>
        <p:xfrm>
          <a:off x="574096" y="1427383"/>
          <a:ext cx="4176713" cy="1395412"/>
        </p:xfrm>
        <a:graphic>
          <a:graphicData uri="http://schemas.openxmlformats.org/presentationml/2006/ole">
            <mc:AlternateContent xmlns:mc="http://schemas.openxmlformats.org/markup-compatibility/2006">
              <mc:Choice xmlns:v="urn:schemas-microsoft-com:vml" Requires="v">
                <p:oleObj spid="_x0000_s196644" r:id="rId3" imgW="3475024" imgH="1162399" progId="Word.Picture.8">
                  <p:embed/>
                </p:oleObj>
              </mc:Choice>
              <mc:Fallback>
                <p:oleObj r:id="rId3" imgW="3475024" imgH="1162399" progId="Word.Picture.8">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4096" y="1427383"/>
                        <a:ext cx="4176713" cy="1395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6" name="Object 5">
            <a:extLst>
              <a:ext uri="{FF2B5EF4-FFF2-40B4-BE49-F238E27FC236}">
                <a16:creationId xmlns="" xmlns:a16="http://schemas.microsoft.com/office/drawing/2014/main" id="{22729BE5-892A-028D-5920-173F4BF07DD3}"/>
              </a:ext>
            </a:extLst>
          </p:cNvPr>
          <p:cNvGraphicFramePr>
            <a:graphicFrameLocks/>
          </p:cNvGraphicFramePr>
          <p:nvPr>
            <p:extLst>
              <p:ext uri="{D42A27DB-BD31-4B8C-83A1-F6EECF244321}">
                <p14:modId xmlns:p14="http://schemas.microsoft.com/office/powerpoint/2010/main" val="2835511608"/>
              </p:ext>
            </p:extLst>
          </p:nvPr>
        </p:nvGraphicFramePr>
        <p:xfrm>
          <a:off x="331088" y="3110289"/>
          <a:ext cx="4319587" cy="1338263"/>
        </p:xfrm>
        <a:graphic>
          <a:graphicData uri="http://schemas.openxmlformats.org/presentationml/2006/ole">
            <mc:AlternateContent xmlns:mc="http://schemas.openxmlformats.org/markup-compatibility/2006">
              <mc:Choice xmlns:v="urn:schemas-microsoft-com:vml" Requires="v">
                <p:oleObj spid="_x0000_s196645" r:id="rId5" imgW="3505200" imgH="1086612" progId="Word.Picture.8">
                  <p:embed/>
                </p:oleObj>
              </mc:Choice>
              <mc:Fallback>
                <p:oleObj r:id="rId5" imgW="3505200" imgH="1086612" progId="Word.Picture.8">
                  <p:embed/>
                  <p:pic>
                    <p:nvPicPr>
                      <p:cNvPr id="0" name=""/>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1088" y="3110289"/>
                        <a:ext cx="4319587" cy="1338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8" name="Object 7">
            <a:extLst>
              <a:ext uri="{FF2B5EF4-FFF2-40B4-BE49-F238E27FC236}">
                <a16:creationId xmlns="" xmlns:a16="http://schemas.microsoft.com/office/drawing/2014/main" id="{8ADF0958-FBB9-93E5-B065-BCEE1A9F6EE2}"/>
              </a:ext>
            </a:extLst>
          </p:cNvPr>
          <p:cNvGraphicFramePr>
            <a:graphicFrameLocks/>
          </p:cNvGraphicFramePr>
          <p:nvPr>
            <p:extLst>
              <p:ext uri="{D42A27DB-BD31-4B8C-83A1-F6EECF244321}">
                <p14:modId xmlns:p14="http://schemas.microsoft.com/office/powerpoint/2010/main" val="4031793501"/>
              </p:ext>
            </p:extLst>
          </p:nvPr>
        </p:nvGraphicFramePr>
        <p:xfrm>
          <a:off x="331088" y="4830236"/>
          <a:ext cx="4175125" cy="1301750"/>
        </p:xfrm>
        <a:graphic>
          <a:graphicData uri="http://schemas.openxmlformats.org/presentationml/2006/ole">
            <mc:AlternateContent xmlns:mc="http://schemas.openxmlformats.org/markup-compatibility/2006">
              <mc:Choice xmlns:v="urn:schemas-microsoft-com:vml" Requires="v">
                <p:oleObj spid="_x0000_s196646" r:id="rId7" imgW="3543300" imgH="1104900" progId="Word.Picture.8">
                  <p:embed/>
                </p:oleObj>
              </mc:Choice>
              <mc:Fallback>
                <p:oleObj r:id="rId7" imgW="3543300" imgH="1104900" progId="Word.Picture.8">
                  <p:embed/>
                  <p:pic>
                    <p:nvPicPr>
                      <p:cNvPr id="0" name=""/>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1088" y="4830236"/>
                        <a:ext cx="4175125" cy="130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0" name="Object 9">
            <a:extLst>
              <a:ext uri="{FF2B5EF4-FFF2-40B4-BE49-F238E27FC236}">
                <a16:creationId xmlns="" xmlns:a16="http://schemas.microsoft.com/office/drawing/2014/main" id="{C98D528F-5332-BC30-F924-2D77DF37DA1A}"/>
              </a:ext>
            </a:extLst>
          </p:cNvPr>
          <p:cNvGraphicFramePr>
            <a:graphicFrameLocks/>
          </p:cNvGraphicFramePr>
          <p:nvPr>
            <p:extLst>
              <p:ext uri="{D42A27DB-BD31-4B8C-83A1-F6EECF244321}">
                <p14:modId xmlns:p14="http://schemas.microsoft.com/office/powerpoint/2010/main" val="4149904204"/>
              </p:ext>
            </p:extLst>
          </p:nvPr>
        </p:nvGraphicFramePr>
        <p:xfrm>
          <a:off x="5018500" y="4982894"/>
          <a:ext cx="3887787" cy="1193800"/>
        </p:xfrm>
        <a:graphic>
          <a:graphicData uri="http://schemas.openxmlformats.org/presentationml/2006/ole">
            <mc:AlternateContent xmlns:mc="http://schemas.openxmlformats.org/markup-compatibility/2006">
              <mc:Choice xmlns:v="urn:schemas-microsoft-com:vml" Requires="v">
                <p:oleObj spid="_x0000_s196647" r:id="rId9" imgW="3514344" imgH="1075944" progId="Word.Picture.8">
                  <p:embed/>
                </p:oleObj>
              </mc:Choice>
              <mc:Fallback>
                <p:oleObj r:id="rId9" imgW="3514344" imgH="1075944" progId="Word.Picture.8">
                  <p:embed/>
                  <p:pic>
                    <p:nvPicPr>
                      <p:cNvPr id="0" name=""/>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018500" y="4982894"/>
                        <a:ext cx="3887787" cy="119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1" name="Text Box 10">
            <a:extLst>
              <a:ext uri="{FF2B5EF4-FFF2-40B4-BE49-F238E27FC236}">
                <a16:creationId xmlns="" xmlns:a16="http://schemas.microsoft.com/office/drawing/2014/main" id="{87156F44-4A46-5D2A-2DF2-1FBB2676223C}"/>
              </a:ext>
            </a:extLst>
          </p:cNvPr>
          <p:cNvSpPr txBox="1">
            <a:spLocks noChangeArrowheads="1"/>
          </p:cNvSpPr>
          <p:nvPr/>
        </p:nvSpPr>
        <p:spPr bwMode="auto">
          <a:xfrm>
            <a:off x="1246402" y="2591176"/>
            <a:ext cx="3825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r>
              <a:rPr lang="en-US" altLang="zh-CN" sz="2800" dirty="0">
                <a:latin typeface="Arial" panose="020B0604020202020204" pitchFamily="34" charset="0"/>
                <a:ea typeface="宋体" panose="02010600030101010101" pitchFamily="2" charset="-122"/>
              </a:rPr>
              <a:t>x</a:t>
            </a:r>
          </a:p>
        </p:txBody>
      </p:sp>
      <p:sp>
        <p:nvSpPr>
          <p:cNvPr id="22" name="AutoShape 11">
            <a:extLst>
              <a:ext uri="{FF2B5EF4-FFF2-40B4-BE49-F238E27FC236}">
                <a16:creationId xmlns="" xmlns:a16="http://schemas.microsoft.com/office/drawing/2014/main" id="{15FD08D9-9912-E62B-715E-A93A15605141}"/>
              </a:ext>
            </a:extLst>
          </p:cNvPr>
          <p:cNvSpPr>
            <a:spLocks noChangeArrowheads="1"/>
          </p:cNvSpPr>
          <p:nvPr/>
        </p:nvSpPr>
        <p:spPr bwMode="auto">
          <a:xfrm>
            <a:off x="1150358" y="4440358"/>
            <a:ext cx="287337" cy="503237"/>
          </a:xfrm>
          <a:prstGeom prst="downArrow">
            <a:avLst>
              <a:gd name="adj1" fmla="val 50000"/>
              <a:gd name="adj2" fmla="val 43639"/>
            </a:avLst>
          </a:prstGeom>
          <a:solidFill>
            <a:schemeClr val="accent1"/>
          </a:solidFill>
          <a:ln w="9525">
            <a:solidFill>
              <a:schemeClr val="tx1"/>
            </a:solidFill>
            <a:miter lim="800000"/>
            <a:headEnd/>
            <a:tailEnd/>
          </a:ln>
        </p:spPr>
        <p:txBody>
          <a:bodyPr vert="eaVert" wrap="none" anchor="ct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endParaRPr lang="zh-CN" altLang="en-US"/>
          </a:p>
        </p:txBody>
      </p:sp>
      <p:sp>
        <p:nvSpPr>
          <p:cNvPr id="23" name="AutoShape 12">
            <a:extLst>
              <a:ext uri="{FF2B5EF4-FFF2-40B4-BE49-F238E27FC236}">
                <a16:creationId xmlns="" xmlns:a16="http://schemas.microsoft.com/office/drawing/2014/main" id="{2652EC48-C3AE-91C3-619B-9FD17B253A4A}"/>
              </a:ext>
            </a:extLst>
          </p:cNvPr>
          <p:cNvSpPr>
            <a:spLocks noChangeArrowheads="1"/>
          </p:cNvSpPr>
          <p:nvPr/>
        </p:nvSpPr>
        <p:spPr bwMode="auto">
          <a:xfrm>
            <a:off x="4019170" y="4942983"/>
            <a:ext cx="792162" cy="288925"/>
          </a:xfrm>
          <a:prstGeom prst="rightArrow">
            <a:avLst>
              <a:gd name="adj1" fmla="val 50000"/>
              <a:gd name="adj2" fmla="val 68315"/>
            </a:avLst>
          </a:prstGeom>
          <a:solidFill>
            <a:schemeClr val="accent1"/>
          </a:solidFill>
          <a:ln w="9525">
            <a:solidFill>
              <a:schemeClr val="tx1"/>
            </a:solidFill>
            <a:miter lim="800000"/>
            <a:headEnd/>
            <a:tailEnd/>
          </a:ln>
        </p:spPr>
        <p:txBody>
          <a:bodyPr wrap="none" anchor="ct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endParaRPr lang="zh-CN" altLang="en-US"/>
          </a:p>
        </p:txBody>
      </p:sp>
      <p:sp>
        <p:nvSpPr>
          <p:cNvPr id="24" name="Text Box 13">
            <a:extLst>
              <a:ext uri="{FF2B5EF4-FFF2-40B4-BE49-F238E27FC236}">
                <a16:creationId xmlns="" xmlns:a16="http://schemas.microsoft.com/office/drawing/2014/main" id="{9CC2472D-2F59-A8D5-7B8B-9704FE8831A9}"/>
              </a:ext>
            </a:extLst>
          </p:cNvPr>
          <p:cNvSpPr txBox="1">
            <a:spLocks noChangeArrowheads="1"/>
          </p:cNvSpPr>
          <p:nvPr/>
        </p:nvSpPr>
        <p:spPr bwMode="auto">
          <a:xfrm>
            <a:off x="4015873" y="4553704"/>
            <a:ext cx="6953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r>
              <a:rPr lang="zh-CN" altLang="en-US" sz="2000" dirty="0">
                <a:latin typeface="Arial" panose="020B0604020202020204" pitchFamily="34" charset="0"/>
                <a:ea typeface="宋体" panose="02010600030101010101" pitchFamily="2" charset="-122"/>
              </a:rPr>
              <a:t>低通</a:t>
            </a:r>
          </a:p>
        </p:txBody>
      </p:sp>
      <p:sp>
        <p:nvSpPr>
          <p:cNvPr id="25" name="Rectangle 3">
            <a:extLst>
              <a:ext uri="{FF2B5EF4-FFF2-40B4-BE49-F238E27FC236}">
                <a16:creationId xmlns="" xmlns:a16="http://schemas.microsoft.com/office/drawing/2014/main" id="{B680FDD0-D3ED-FE56-22A8-AD66099E1895}"/>
              </a:ext>
            </a:extLst>
          </p:cNvPr>
          <p:cNvSpPr>
            <a:spLocks noChangeArrowheads="1"/>
          </p:cNvSpPr>
          <p:nvPr/>
        </p:nvSpPr>
        <p:spPr bwMode="auto">
          <a:xfrm>
            <a:off x="0" y="1196752"/>
            <a:ext cx="910136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9pPr>
          </a:lstStyle>
          <a:p>
            <a:pPr algn="ctr" eaLnBrk="1" hangingPunct="1"/>
            <a:r>
              <a:rPr lang="zh-CN" altLang="en-US" sz="2000" b="0" dirty="0" smtClean="0">
                <a:latin typeface="+mn-ea"/>
                <a:ea typeface="+mn-ea"/>
              </a:rPr>
              <a:t>输入</a:t>
            </a:r>
            <a:r>
              <a:rPr lang="zh-CN" altLang="en-US" sz="2000" b="0" dirty="0">
                <a:latin typeface="+mn-ea"/>
                <a:ea typeface="+mn-ea"/>
              </a:rPr>
              <a:t>双边带信号时，乘积检波器的有关波形与频谱。</a:t>
            </a:r>
          </a:p>
          <a:p>
            <a:pPr algn="ctr"/>
            <a:r>
              <a:rPr lang="zh-CN" altLang="en-US" sz="2000" b="0" dirty="0">
                <a:latin typeface="+mn-ea"/>
                <a:ea typeface="+mn-ea"/>
              </a:rPr>
              <a:t> </a:t>
            </a:r>
          </a:p>
        </p:txBody>
      </p:sp>
    </p:spTree>
    <p:extLst>
      <p:ext uri="{BB962C8B-B14F-4D97-AF65-F5344CB8AC3E}">
        <p14:creationId xmlns:p14="http://schemas.microsoft.com/office/powerpoint/2010/main" val="335797621"/>
      </p:ext>
    </p:extLst>
  </p:cSld>
  <p:clrMapOvr>
    <a:masterClrMapping/>
  </p:clrMapOvr>
  <p:timing>
    <p:tnLst>
      <p:par>
        <p:cTn id="1" dur="indefinite" restart="never" nodeType="tmRoot"/>
      </p:par>
    </p:tnLst>
  </p:timing>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247</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5"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6.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振幅调制</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与</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解调</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graphicFrame>
        <p:nvGraphicFramePr>
          <p:cNvPr id="6" name="Object 7">
            <a:extLst>
              <a:ext uri="{FF2B5EF4-FFF2-40B4-BE49-F238E27FC236}">
                <a16:creationId xmlns="" xmlns:a16="http://schemas.microsoft.com/office/drawing/2014/main" id="{F75F863D-2CD6-C045-E4DB-2F76974EF960}"/>
              </a:ext>
            </a:extLst>
          </p:cNvPr>
          <p:cNvGraphicFramePr>
            <a:graphicFrameLocks/>
          </p:cNvGraphicFramePr>
          <p:nvPr>
            <p:extLst>
              <p:ext uri="{D42A27DB-BD31-4B8C-83A1-F6EECF244321}">
                <p14:modId xmlns:p14="http://schemas.microsoft.com/office/powerpoint/2010/main" val="1843780825"/>
              </p:ext>
            </p:extLst>
          </p:nvPr>
        </p:nvGraphicFramePr>
        <p:xfrm>
          <a:off x="5361893" y="1854547"/>
          <a:ext cx="3198813" cy="1574800"/>
        </p:xfrm>
        <a:graphic>
          <a:graphicData uri="http://schemas.openxmlformats.org/presentationml/2006/ole">
            <mc:AlternateContent xmlns:mc="http://schemas.openxmlformats.org/markup-compatibility/2006">
              <mc:Choice xmlns:v="urn:schemas-microsoft-com:vml" Requires="v">
                <p:oleObj spid="_x0000_s197690" r:id="rId3" imgW="2895715" imgH="1352398" progId="Word.Picture.8">
                  <p:embed/>
                </p:oleObj>
              </mc:Choice>
              <mc:Fallback>
                <p:oleObj r:id="rId3" imgW="2895715" imgH="1352398" progId="Word.Picture.8">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61893" y="1854547"/>
                        <a:ext cx="3198813" cy="157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 name="Text Box 8">
            <a:extLst>
              <a:ext uri="{FF2B5EF4-FFF2-40B4-BE49-F238E27FC236}">
                <a16:creationId xmlns="" xmlns:a16="http://schemas.microsoft.com/office/drawing/2014/main" id="{5CD171B3-F76E-8330-D230-7503A0D812F4}"/>
              </a:ext>
            </a:extLst>
          </p:cNvPr>
          <p:cNvSpPr txBox="1">
            <a:spLocks noChangeArrowheads="1"/>
          </p:cNvSpPr>
          <p:nvPr/>
        </p:nvSpPr>
        <p:spPr bwMode="auto">
          <a:xfrm>
            <a:off x="6266834" y="3499399"/>
            <a:ext cx="223651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r>
              <a:rPr lang="zh-CN" altLang="en-US" sz="2000" b="0" dirty="0">
                <a:latin typeface="Times New Roman" panose="02020603050405020304" pitchFamily="18" charset="0"/>
                <a:ea typeface="+mn-ea"/>
                <a:cs typeface="Times New Roman" panose="02020603050405020304" pitchFamily="18" charset="0"/>
              </a:rPr>
              <a:t>同步检波实现模型</a:t>
            </a:r>
          </a:p>
        </p:txBody>
      </p:sp>
      <p:sp>
        <p:nvSpPr>
          <p:cNvPr id="8" name="Text Box 9">
            <a:extLst>
              <a:ext uri="{FF2B5EF4-FFF2-40B4-BE49-F238E27FC236}">
                <a16:creationId xmlns="" xmlns:a16="http://schemas.microsoft.com/office/drawing/2014/main" id="{80048695-049B-F764-66B3-DB94285E45A0}"/>
              </a:ext>
            </a:extLst>
          </p:cNvPr>
          <p:cNvSpPr txBox="1">
            <a:spLocks noChangeArrowheads="1"/>
          </p:cNvSpPr>
          <p:nvPr/>
        </p:nvSpPr>
        <p:spPr bwMode="auto">
          <a:xfrm>
            <a:off x="512138" y="1654492"/>
            <a:ext cx="3175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r>
              <a:rPr lang="zh-CN" altLang="en-US" sz="2000" b="0" dirty="0">
                <a:latin typeface="Times New Roman" panose="02020603050405020304" pitchFamily="18" charset="0"/>
                <a:ea typeface="+mn-ea"/>
                <a:cs typeface="Times New Roman" panose="02020603050405020304" pitchFamily="18" charset="0"/>
              </a:rPr>
              <a:t>其原理电路见右图</a:t>
            </a:r>
          </a:p>
        </p:txBody>
      </p:sp>
      <p:graphicFrame>
        <p:nvGraphicFramePr>
          <p:cNvPr id="9" name="Object 12">
            <a:extLst>
              <a:ext uri="{FF2B5EF4-FFF2-40B4-BE49-F238E27FC236}">
                <a16:creationId xmlns="" xmlns:a16="http://schemas.microsoft.com/office/drawing/2014/main" id="{91528284-3132-A95F-4A23-B191AAEC6BED}"/>
              </a:ext>
            </a:extLst>
          </p:cNvPr>
          <p:cNvGraphicFramePr>
            <a:graphicFrameLocks/>
          </p:cNvGraphicFramePr>
          <p:nvPr>
            <p:extLst>
              <p:ext uri="{D42A27DB-BD31-4B8C-83A1-F6EECF244321}">
                <p14:modId xmlns:p14="http://schemas.microsoft.com/office/powerpoint/2010/main" val="3185991548"/>
              </p:ext>
            </p:extLst>
          </p:nvPr>
        </p:nvGraphicFramePr>
        <p:xfrm>
          <a:off x="5848920" y="3776220"/>
          <a:ext cx="2678113" cy="1828800"/>
        </p:xfrm>
        <a:graphic>
          <a:graphicData uri="http://schemas.openxmlformats.org/presentationml/2006/ole">
            <mc:AlternateContent xmlns:mc="http://schemas.openxmlformats.org/markup-compatibility/2006">
              <mc:Choice xmlns:v="urn:schemas-microsoft-com:vml" Requires="v">
                <p:oleObj spid="_x0000_s197691" r:id="rId5" imgW="2009610" imgH="1476527" progId="Word.Picture.8">
                  <p:embed/>
                </p:oleObj>
              </mc:Choice>
              <mc:Fallback>
                <p:oleObj r:id="rId5" imgW="2009610" imgH="1476527" progId="Word.Picture.8">
                  <p:embed/>
                  <p:pic>
                    <p:nvPicPr>
                      <p:cNvPr id="0" name=""/>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48920" y="3776220"/>
                        <a:ext cx="2678113"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0" name="Text Box 13">
            <a:extLst>
              <a:ext uri="{FF2B5EF4-FFF2-40B4-BE49-F238E27FC236}">
                <a16:creationId xmlns="" xmlns:a16="http://schemas.microsoft.com/office/drawing/2014/main" id="{00988F09-ED46-35A4-FCB9-FB728010C672}"/>
              </a:ext>
            </a:extLst>
          </p:cNvPr>
          <p:cNvSpPr txBox="1">
            <a:spLocks noChangeArrowheads="1"/>
          </p:cNvSpPr>
          <p:nvPr/>
        </p:nvSpPr>
        <p:spPr bwMode="auto">
          <a:xfrm>
            <a:off x="6358014" y="5622603"/>
            <a:ext cx="223651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r>
              <a:rPr lang="zh-CN" altLang="en-US" sz="2000" b="0" dirty="0">
                <a:latin typeface="Times New Roman" panose="02020603050405020304" pitchFamily="18" charset="0"/>
                <a:ea typeface="+mn-ea"/>
                <a:cs typeface="Times New Roman" panose="02020603050405020304" pitchFamily="18" charset="0"/>
              </a:rPr>
              <a:t>同步检波原理电路</a:t>
            </a:r>
          </a:p>
        </p:txBody>
      </p:sp>
      <p:sp>
        <p:nvSpPr>
          <p:cNvPr id="11" name="Text Box 14">
            <a:extLst>
              <a:ext uri="{FF2B5EF4-FFF2-40B4-BE49-F238E27FC236}">
                <a16:creationId xmlns="" xmlns:a16="http://schemas.microsoft.com/office/drawing/2014/main" id="{DE733AC1-BFE6-7E70-8F3E-3946F43CFD23}"/>
              </a:ext>
            </a:extLst>
          </p:cNvPr>
          <p:cNvSpPr txBox="1">
            <a:spLocks noChangeArrowheads="1"/>
          </p:cNvSpPr>
          <p:nvPr/>
        </p:nvSpPr>
        <p:spPr bwMode="auto">
          <a:xfrm>
            <a:off x="520937" y="2004341"/>
            <a:ext cx="377539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r>
              <a:rPr lang="zh-CN" altLang="en-US" sz="2000" b="0">
                <a:latin typeface="Times New Roman" panose="02020603050405020304" pitchFamily="18" charset="0"/>
                <a:ea typeface="+mn-ea"/>
                <a:cs typeface="Times New Roman" panose="02020603050405020304" pitchFamily="18" charset="0"/>
              </a:rPr>
              <a:t>设输入信号为抑制载波的双边带</a:t>
            </a:r>
          </a:p>
        </p:txBody>
      </p:sp>
      <p:graphicFrame>
        <p:nvGraphicFramePr>
          <p:cNvPr id="12" name="Object 15">
            <a:extLst>
              <a:ext uri="{FF2B5EF4-FFF2-40B4-BE49-F238E27FC236}">
                <a16:creationId xmlns="" xmlns:a16="http://schemas.microsoft.com/office/drawing/2014/main" id="{C452AA66-4B51-6B79-2CC0-A79B85941016}"/>
              </a:ext>
            </a:extLst>
          </p:cNvPr>
          <p:cNvGraphicFramePr>
            <a:graphicFrameLocks/>
          </p:cNvGraphicFramePr>
          <p:nvPr>
            <p:extLst>
              <p:ext uri="{D42A27DB-BD31-4B8C-83A1-F6EECF244321}">
                <p14:modId xmlns:p14="http://schemas.microsoft.com/office/powerpoint/2010/main" val="115066862"/>
              </p:ext>
            </p:extLst>
          </p:nvPr>
        </p:nvGraphicFramePr>
        <p:xfrm>
          <a:off x="612029" y="2453604"/>
          <a:ext cx="2462819" cy="365665"/>
        </p:xfrm>
        <a:graphic>
          <a:graphicData uri="http://schemas.openxmlformats.org/presentationml/2006/ole">
            <mc:AlternateContent xmlns:mc="http://schemas.openxmlformats.org/markup-compatibility/2006">
              <mc:Choice xmlns:v="urn:schemas-microsoft-com:vml" Requires="v">
                <p:oleObj spid="_x0000_s197692" r:id="rId7" imgW="1384300" imgH="228600" progId="Equation.3">
                  <p:embed/>
                </p:oleObj>
              </mc:Choice>
              <mc:Fallback>
                <p:oleObj r:id="rId7" imgW="1384300" imgH="228600" progId="Equation.3">
                  <p:embed/>
                  <p:pic>
                    <p:nvPicPr>
                      <p:cNvPr id="0" name=""/>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12029" y="2453604"/>
                        <a:ext cx="2462819" cy="365665"/>
                      </a:xfrm>
                      <a:prstGeom prst="rect">
                        <a:avLst/>
                      </a:prstGeom>
                      <a:noFill/>
                      <a:ln>
                        <a:noFill/>
                      </a:ln>
                      <a:extLst/>
                    </p:spPr>
                  </p:pic>
                </p:oleObj>
              </mc:Fallback>
            </mc:AlternateContent>
          </a:graphicData>
        </a:graphic>
      </p:graphicFrame>
      <p:sp>
        <p:nvSpPr>
          <p:cNvPr id="13" name="Text Box 16">
            <a:extLst>
              <a:ext uri="{FF2B5EF4-FFF2-40B4-BE49-F238E27FC236}">
                <a16:creationId xmlns="" xmlns:a16="http://schemas.microsoft.com/office/drawing/2014/main" id="{2F34540C-2525-8576-F863-4CFAAFD086F6}"/>
              </a:ext>
            </a:extLst>
          </p:cNvPr>
          <p:cNvSpPr txBox="1">
            <a:spLocks noChangeArrowheads="1"/>
          </p:cNvSpPr>
          <p:nvPr/>
        </p:nvSpPr>
        <p:spPr bwMode="auto">
          <a:xfrm>
            <a:off x="520937" y="2994941"/>
            <a:ext cx="172354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r>
              <a:rPr lang="zh-CN" altLang="en-US" sz="2000" b="0" dirty="0">
                <a:latin typeface="Times New Roman" panose="02020603050405020304" pitchFamily="18" charset="0"/>
                <a:ea typeface="+mn-ea"/>
                <a:cs typeface="Times New Roman" panose="02020603050405020304" pitchFamily="18" charset="0"/>
              </a:rPr>
              <a:t>本地振荡信号</a:t>
            </a:r>
          </a:p>
        </p:txBody>
      </p:sp>
      <p:graphicFrame>
        <p:nvGraphicFramePr>
          <p:cNvPr id="14" name="Object 17">
            <a:extLst>
              <a:ext uri="{FF2B5EF4-FFF2-40B4-BE49-F238E27FC236}">
                <a16:creationId xmlns="" xmlns:a16="http://schemas.microsoft.com/office/drawing/2014/main" id="{EC194D55-3941-0D5B-B15E-47A07F80964E}"/>
              </a:ext>
            </a:extLst>
          </p:cNvPr>
          <p:cNvGraphicFramePr>
            <a:graphicFrameLocks/>
          </p:cNvGraphicFramePr>
          <p:nvPr>
            <p:extLst>
              <p:ext uri="{D42A27DB-BD31-4B8C-83A1-F6EECF244321}">
                <p14:modId xmlns:p14="http://schemas.microsoft.com/office/powerpoint/2010/main" val="1294021997"/>
              </p:ext>
            </p:extLst>
          </p:nvPr>
        </p:nvGraphicFramePr>
        <p:xfrm>
          <a:off x="2262064" y="2962144"/>
          <a:ext cx="1818863" cy="400110"/>
        </p:xfrm>
        <a:graphic>
          <a:graphicData uri="http://schemas.openxmlformats.org/presentationml/2006/ole">
            <mc:AlternateContent xmlns:mc="http://schemas.openxmlformats.org/markup-compatibility/2006">
              <mc:Choice xmlns:v="urn:schemas-microsoft-com:vml" Requires="v">
                <p:oleObj spid="_x0000_s197693" r:id="rId9" imgW="977900" imgH="228600" progId="Equation.3">
                  <p:embed/>
                </p:oleObj>
              </mc:Choice>
              <mc:Fallback>
                <p:oleObj r:id="rId9" imgW="977900" imgH="228600" progId="Equation.3">
                  <p:embed/>
                  <p:pic>
                    <p:nvPicPr>
                      <p:cNvPr id="0" name=""/>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262064" y="2962144"/>
                        <a:ext cx="1818863" cy="400110"/>
                      </a:xfrm>
                      <a:prstGeom prst="rect">
                        <a:avLst/>
                      </a:prstGeom>
                      <a:noFill/>
                      <a:ln>
                        <a:noFill/>
                      </a:ln>
                      <a:extLst/>
                    </p:spPr>
                  </p:pic>
                </p:oleObj>
              </mc:Fallback>
            </mc:AlternateContent>
          </a:graphicData>
        </a:graphic>
      </p:graphicFrame>
      <p:sp>
        <p:nvSpPr>
          <p:cNvPr id="15" name="Text Box 18">
            <a:extLst>
              <a:ext uri="{FF2B5EF4-FFF2-40B4-BE49-F238E27FC236}">
                <a16:creationId xmlns="" xmlns:a16="http://schemas.microsoft.com/office/drawing/2014/main" id="{9CF96E48-3784-4DBF-A5C0-5DA19B2D5C8B}"/>
              </a:ext>
            </a:extLst>
          </p:cNvPr>
          <p:cNvSpPr txBox="1">
            <a:spLocks noChangeArrowheads="1"/>
          </p:cNvSpPr>
          <p:nvPr/>
        </p:nvSpPr>
        <p:spPr bwMode="auto">
          <a:xfrm>
            <a:off x="520018" y="3512048"/>
            <a:ext cx="223651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r>
              <a:rPr lang="zh-CN" altLang="en-US" sz="2000" b="0" dirty="0">
                <a:latin typeface="Times New Roman" panose="02020603050405020304" pitchFamily="18" charset="0"/>
                <a:ea typeface="+mn-ea"/>
                <a:cs typeface="Times New Roman" panose="02020603050405020304" pitchFamily="18" charset="0"/>
              </a:rPr>
              <a:t>则它们的合成信号</a:t>
            </a:r>
          </a:p>
        </p:txBody>
      </p:sp>
      <p:graphicFrame>
        <p:nvGraphicFramePr>
          <p:cNvPr id="16" name="Object 19">
            <a:extLst>
              <a:ext uri="{FF2B5EF4-FFF2-40B4-BE49-F238E27FC236}">
                <a16:creationId xmlns="" xmlns:a16="http://schemas.microsoft.com/office/drawing/2014/main" id="{908A14D5-E738-0EAA-0144-04BE12988746}"/>
              </a:ext>
            </a:extLst>
          </p:cNvPr>
          <p:cNvGraphicFramePr>
            <a:graphicFrameLocks/>
          </p:cNvGraphicFramePr>
          <p:nvPr>
            <p:extLst>
              <p:ext uri="{D42A27DB-BD31-4B8C-83A1-F6EECF244321}">
                <p14:modId xmlns:p14="http://schemas.microsoft.com/office/powerpoint/2010/main" val="3621861612"/>
              </p:ext>
            </p:extLst>
          </p:nvPr>
        </p:nvGraphicFramePr>
        <p:xfrm>
          <a:off x="612029" y="3929064"/>
          <a:ext cx="3833987" cy="662843"/>
        </p:xfrm>
        <a:graphic>
          <a:graphicData uri="http://schemas.openxmlformats.org/presentationml/2006/ole">
            <mc:AlternateContent xmlns:mc="http://schemas.openxmlformats.org/markup-compatibility/2006">
              <mc:Choice xmlns:v="urn:schemas-microsoft-com:vml" Requires="v">
                <p:oleObj spid="_x0000_s197694" r:id="rId11" imgW="2462731" imgH="482391" progId="Equation.3">
                  <p:embed/>
                </p:oleObj>
              </mc:Choice>
              <mc:Fallback>
                <p:oleObj r:id="rId11" imgW="2462731" imgH="482391" progId="Equation.3">
                  <p:embed/>
                  <p:pic>
                    <p:nvPicPr>
                      <p:cNvPr id="0" name=""/>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12029" y="3929064"/>
                        <a:ext cx="3833987" cy="662843"/>
                      </a:xfrm>
                      <a:prstGeom prst="rect">
                        <a:avLst/>
                      </a:prstGeom>
                      <a:noFill/>
                      <a:ln>
                        <a:noFill/>
                      </a:ln>
                      <a:extLst/>
                    </p:spPr>
                  </p:pic>
                </p:oleObj>
              </mc:Fallback>
            </mc:AlternateContent>
          </a:graphicData>
        </a:graphic>
      </p:graphicFrame>
      <p:grpSp>
        <p:nvGrpSpPr>
          <p:cNvPr id="17" name="Group 20">
            <a:extLst>
              <a:ext uri="{FF2B5EF4-FFF2-40B4-BE49-F238E27FC236}">
                <a16:creationId xmlns="" xmlns:a16="http://schemas.microsoft.com/office/drawing/2014/main" id="{37B8F1D2-AC81-D2ED-BA7F-0BFE5BB5AEC8}"/>
              </a:ext>
            </a:extLst>
          </p:cNvPr>
          <p:cNvGrpSpPr>
            <a:grpSpLocks/>
          </p:cNvGrpSpPr>
          <p:nvPr/>
        </p:nvGrpSpPr>
        <p:grpSpPr bwMode="auto">
          <a:xfrm>
            <a:off x="490267" y="4537702"/>
            <a:ext cx="3194050" cy="642938"/>
            <a:chOff x="662" y="2685"/>
            <a:chExt cx="2012" cy="405"/>
          </a:xfrm>
        </p:grpSpPr>
        <p:sp>
          <p:nvSpPr>
            <p:cNvPr id="18" name="Text Box 21">
              <a:extLst>
                <a:ext uri="{FF2B5EF4-FFF2-40B4-BE49-F238E27FC236}">
                  <a16:creationId xmlns="" xmlns:a16="http://schemas.microsoft.com/office/drawing/2014/main" id="{41A69FA2-F9E7-EBD4-B2C9-0AC5DC7B5412}"/>
                </a:ext>
              </a:extLst>
            </p:cNvPr>
            <p:cNvSpPr txBox="1">
              <a:spLocks noChangeArrowheads="1"/>
            </p:cNvSpPr>
            <p:nvPr/>
          </p:nvSpPr>
          <p:spPr bwMode="auto">
            <a:xfrm>
              <a:off x="662" y="2736"/>
              <a:ext cx="439"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r>
                <a:rPr lang="zh-CN" altLang="en-US" sz="2000" b="0" dirty="0">
                  <a:latin typeface="Times New Roman" panose="02020603050405020304" pitchFamily="18" charset="0"/>
                  <a:ea typeface="+mn-ea"/>
                  <a:cs typeface="Times New Roman" panose="02020603050405020304" pitchFamily="18" charset="0"/>
                </a:rPr>
                <a:t>故当</a:t>
              </a:r>
            </a:p>
          </p:txBody>
        </p:sp>
        <p:graphicFrame>
          <p:nvGraphicFramePr>
            <p:cNvPr id="19" name="Object 22">
              <a:extLst>
                <a:ext uri="{FF2B5EF4-FFF2-40B4-BE49-F238E27FC236}">
                  <a16:creationId xmlns="" xmlns:a16="http://schemas.microsoft.com/office/drawing/2014/main" id="{8DA06166-5970-EA2C-C76D-5FC8C5C0A6E7}"/>
                </a:ext>
              </a:extLst>
            </p:cNvPr>
            <p:cNvGraphicFramePr>
              <a:graphicFrameLocks/>
            </p:cNvGraphicFramePr>
            <p:nvPr>
              <p:extLst>
                <p:ext uri="{D42A27DB-BD31-4B8C-83A1-F6EECF244321}">
                  <p14:modId xmlns:p14="http://schemas.microsoft.com/office/powerpoint/2010/main" val="919205622"/>
                </p:ext>
              </p:extLst>
            </p:nvPr>
          </p:nvGraphicFramePr>
          <p:xfrm>
            <a:off x="1029" y="2766"/>
            <a:ext cx="649" cy="233"/>
          </p:xfrm>
          <a:graphic>
            <a:graphicData uri="http://schemas.openxmlformats.org/presentationml/2006/ole">
              <mc:AlternateContent xmlns:mc="http://schemas.openxmlformats.org/markup-compatibility/2006">
                <mc:Choice xmlns:v="urn:schemas-microsoft-com:vml" Requires="v">
                  <p:oleObj spid="_x0000_s197695" r:id="rId13" imgW="622030" imgH="228501" progId="Equation.3">
                    <p:embed/>
                  </p:oleObj>
                </mc:Choice>
                <mc:Fallback>
                  <p:oleObj r:id="rId13" imgW="622030" imgH="228501" progId="Equation.3">
                    <p:embed/>
                    <p:pic>
                      <p:nvPicPr>
                        <p:cNvPr id="0" name=""/>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029" y="2766"/>
                          <a:ext cx="649" cy="233"/>
                        </a:xfrm>
                        <a:prstGeom prst="rect">
                          <a:avLst/>
                        </a:prstGeom>
                        <a:noFill/>
                        <a:ln>
                          <a:noFill/>
                        </a:ln>
                        <a:extLst/>
                      </p:spPr>
                    </p:pic>
                  </p:oleObj>
                </mc:Fallback>
              </mc:AlternateContent>
            </a:graphicData>
          </a:graphic>
        </p:graphicFrame>
        <p:graphicFrame>
          <p:nvGraphicFramePr>
            <p:cNvPr id="20" name="Object 23">
              <a:extLst>
                <a:ext uri="{FF2B5EF4-FFF2-40B4-BE49-F238E27FC236}">
                  <a16:creationId xmlns="" xmlns:a16="http://schemas.microsoft.com/office/drawing/2014/main" id="{92E26F5D-F0E0-8F36-DFEF-6DC566F1AD74}"/>
                </a:ext>
              </a:extLst>
            </p:cNvPr>
            <p:cNvGraphicFramePr>
              <a:graphicFrameLocks/>
            </p:cNvGraphicFramePr>
            <p:nvPr>
              <p:extLst>
                <p:ext uri="{D42A27DB-BD31-4B8C-83A1-F6EECF244321}">
                  <p14:modId xmlns:p14="http://schemas.microsoft.com/office/powerpoint/2010/main" val="2252268270"/>
                </p:ext>
              </p:extLst>
            </p:nvPr>
          </p:nvGraphicFramePr>
          <p:xfrm>
            <a:off x="1907" y="2685"/>
            <a:ext cx="767" cy="405"/>
          </p:xfrm>
          <a:graphic>
            <a:graphicData uri="http://schemas.openxmlformats.org/presentationml/2006/ole">
              <mc:AlternateContent xmlns:mc="http://schemas.openxmlformats.org/markup-compatibility/2006">
                <mc:Choice xmlns:v="urn:schemas-microsoft-com:vml" Requires="v">
                  <p:oleObj spid="_x0000_s197696" r:id="rId15" imgW="825142" imgH="431613" progId="Equation.3">
                    <p:embed/>
                  </p:oleObj>
                </mc:Choice>
                <mc:Fallback>
                  <p:oleObj r:id="rId15" imgW="825142" imgH="431613" progId="Equation.3">
                    <p:embed/>
                    <p:pic>
                      <p:nvPicPr>
                        <p:cNvPr id="0" name=""/>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907" y="2685"/>
                          <a:ext cx="767" cy="405"/>
                        </a:xfrm>
                        <a:prstGeom prst="rect">
                          <a:avLst/>
                        </a:prstGeom>
                        <a:noFill/>
                        <a:ln>
                          <a:noFill/>
                        </a:ln>
                        <a:extLst/>
                      </p:spPr>
                    </p:pic>
                  </p:oleObj>
                </mc:Fallback>
              </mc:AlternateContent>
            </a:graphicData>
          </a:graphic>
        </p:graphicFrame>
        <p:sp>
          <p:nvSpPr>
            <p:cNvPr id="21" name="Text Box 24">
              <a:extLst>
                <a:ext uri="{FF2B5EF4-FFF2-40B4-BE49-F238E27FC236}">
                  <a16:creationId xmlns="" xmlns:a16="http://schemas.microsoft.com/office/drawing/2014/main" id="{E33D725E-BABF-02A4-445C-0A6BBE8A2601}"/>
                </a:ext>
              </a:extLst>
            </p:cNvPr>
            <p:cNvSpPr txBox="1">
              <a:spLocks noChangeArrowheads="1"/>
            </p:cNvSpPr>
            <p:nvPr/>
          </p:nvSpPr>
          <p:spPr bwMode="auto">
            <a:xfrm>
              <a:off x="1686" y="2748"/>
              <a:ext cx="27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r>
                <a:rPr lang="zh-CN" altLang="en-US" sz="2000" b="0" dirty="0">
                  <a:latin typeface="Times New Roman" panose="02020603050405020304" pitchFamily="18" charset="0"/>
                  <a:ea typeface="+mn-ea"/>
                  <a:cs typeface="Times New Roman" panose="02020603050405020304" pitchFamily="18" charset="0"/>
                </a:rPr>
                <a:t>时</a:t>
              </a:r>
            </a:p>
          </p:txBody>
        </p:sp>
      </p:grpSp>
      <p:sp>
        <p:nvSpPr>
          <p:cNvPr id="22" name="Text Box 25">
            <a:extLst>
              <a:ext uri="{FF2B5EF4-FFF2-40B4-BE49-F238E27FC236}">
                <a16:creationId xmlns="" xmlns:a16="http://schemas.microsoft.com/office/drawing/2014/main" id="{21B61CC7-FF40-EA43-4F5A-48A5EE636603}"/>
              </a:ext>
            </a:extLst>
          </p:cNvPr>
          <p:cNvSpPr txBox="1">
            <a:spLocks noChangeArrowheads="1"/>
          </p:cNvSpPr>
          <p:nvPr/>
        </p:nvSpPr>
        <p:spPr bwMode="auto">
          <a:xfrm>
            <a:off x="419200" y="5183277"/>
            <a:ext cx="564995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r>
              <a:rPr lang="zh-CN" altLang="en-US" sz="2000" b="0" dirty="0">
                <a:latin typeface="Times New Roman" panose="02020603050405020304" pitchFamily="18" charset="0"/>
                <a:ea typeface="+mn-ea"/>
                <a:cs typeface="Times New Roman" panose="02020603050405020304" pitchFamily="18" charset="0"/>
              </a:rPr>
              <a:t>因此，通过包络检波器便可检出所需的调制信号。</a:t>
            </a:r>
          </a:p>
        </p:txBody>
      </p:sp>
      <p:sp>
        <p:nvSpPr>
          <p:cNvPr id="23" name="Rectangle 152">
            <a:extLst>
              <a:ext uri="{FF2B5EF4-FFF2-40B4-BE49-F238E27FC236}">
                <a16:creationId xmlns="" xmlns:a16="http://schemas.microsoft.com/office/drawing/2014/main" id="{F88A4DB9-4135-03F0-3D23-1543EC292A96}"/>
              </a:ext>
            </a:extLst>
          </p:cNvPr>
          <p:cNvSpPr>
            <a:spLocks noChangeArrowheads="1"/>
          </p:cNvSpPr>
          <p:nvPr/>
        </p:nvSpPr>
        <p:spPr bwMode="auto">
          <a:xfrm>
            <a:off x="520018" y="1268760"/>
            <a:ext cx="664427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spcBef>
                <a:spcPct val="50000"/>
              </a:spcBef>
            </a:pPr>
            <a:r>
              <a:rPr lang="zh-CN" altLang="en-US" sz="2000" b="0" dirty="0">
                <a:solidFill>
                  <a:srgbClr val="FF0000"/>
                </a:solidFill>
                <a:latin typeface="Times New Roman" panose="02020603050405020304" pitchFamily="18" charset="0"/>
                <a:ea typeface="+mn-ea"/>
                <a:cs typeface="Times New Roman" panose="02020603050405020304" pitchFamily="18" charset="0"/>
              </a:rPr>
              <a:t>2.包络检波器构成同步检波电路(二极管同步检波电路)</a:t>
            </a:r>
          </a:p>
        </p:txBody>
      </p:sp>
    </p:spTree>
    <p:extLst>
      <p:ext uri="{BB962C8B-B14F-4D97-AF65-F5344CB8AC3E}">
        <p14:creationId xmlns:p14="http://schemas.microsoft.com/office/powerpoint/2010/main" val="3018197218"/>
      </p:ext>
    </p:extLst>
  </p:cSld>
  <p:clrMapOvr>
    <a:masterClrMapping/>
  </p:clrMapOvr>
  <p:timing>
    <p:tnLst>
      <p:par>
        <p:cTn id="1" dur="indefinite" restart="never" nodeType="tmRoot"/>
      </p:par>
    </p:tnLst>
  </p:timing>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248</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5"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6.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振幅调制</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与</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解调</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4" name="Rectangle 2">
            <a:extLst>
              <a:ext uri="{FF2B5EF4-FFF2-40B4-BE49-F238E27FC236}">
                <a16:creationId xmlns="" xmlns:a16="http://schemas.microsoft.com/office/drawing/2014/main" id="{72E15268-ACBB-96DE-FB2E-F67C6637C5A0}"/>
              </a:ext>
            </a:extLst>
          </p:cNvPr>
          <p:cNvSpPr>
            <a:spLocks noChangeArrowheads="1"/>
          </p:cNvSpPr>
          <p:nvPr/>
        </p:nvSpPr>
        <p:spPr bwMode="auto">
          <a:xfrm>
            <a:off x="228600" y="1484784"/>
            <a:ext cx="8686800" cy="33085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a:spcBef>
                <a:spcPct val="50000"/>
              </a:spcBef>
            </a:pPr>
            <a:r>
              <a:rPr lang="zh-CN" altLang="en-US" sz="1900" b="0" dirty="0">
                <a:solidFill>
                  <a:srgbClr val="FF0000"/>
                </a:solidFill>
                <a:latin typeface="Times New Roman" panose="02020603050405020304" pitchFamily="18" charset="0"/>
                <a:ea typeface="+mn-ea"/>
                <a:cs typeface="Times New Roman" panose="02020603050405020304" pitchFamily="18" charset="0"/>
                <a:sym typeface="Symbol" panose="05050102010706020507" pitchFamily="18" charset="2"/>
              </a:rPr>
              <a:t>3.产生本地振荡信号的方法：</a:t>
            </a:r>
          </a:p>
          <a:p>
            <a:pPr>
              <a:spcBef>
                <a:spcPct val="50000"/>
              </a:spcBef>
            </a:pPr>
            <a:r>
              <a:rPr lang="zh-CN" altLang="en-US" sz="1900" b="0" dirty="0">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sz="1900" b="0" dirty="0">
                <a:latin typeface="Times New Roman" panose="02020603050405020304" pitchFamily="18" charset="0"/>
                <a:ea typeface="+mn-ea"/>
                <a:cs typeface="Times New Roman" panose="02020603050405020304" pitchFamily="18" charset="0"/>
                <a:sym typeface="Symbol" panose="05050102010706020507" pitchFamily="18" charset="2"/>
              </a:rPr>
              <a:t>1</a:t>
            </a:r>
            <a:r>
              <a:rPr lang="zh-CN" altLang="en-US" sz="1900" b="0" dirty="0">
                <a:latin typeface="Times New Roman" panose="02020603050405020304" pitchFamily="18" charset="0"/>
                <a:ea typeface="+mn-ea"/>
                <a:cs typeface="Times New Roman" panose="02020603050405020304" pitchFamily="18" charset="0"/>
                <a:sym typeface="Symbol" panose="05050102010706020507" pitchFamily="18" charset="2"/>
              </a:rPr>
              <a:t>）由发送端发出导频信号，控制本地振荡器，使本地振荡器的频率和相位与发送端一致。</a:t>
            </a:r>
          </a:p>
          <a:p>
            <a:pPr>
              <a:spcBef>
                <a:spcPct val="50000"/>
              </a:spcBef>
            </a:pPr>
            <a:r>
              <a:rPr lang="zh-CN" altLang="en-US" sz="1900" b="0" dirty="0">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sz="1900" b="0" dirty="0">
                <a:latin typeface="Times New Roman" panose="02020603050405020304" pitchFamily="18" charset="0"/>
                <a:ea typeface="+mn-ea"/>
                <a:cs typeface="Times New Roman" panose="02020603050405020304" pitchFamily="18" charset="0"/>
                <a:sym typeface="Symbol" panose="05050102010706020507" pitchFamily="18" charset="2"/>
              </a:rPr>
              <a:t>2</a:t>
            </a:r>
            <a:r>
              <a:rPr lang="zh-CN" altLang="en-US" sz="1900" b="0" dirty="0">
                <a:latin typeface="Times New Roman" panose="02020603050405020304" pitchFamily="18" charset="0"/>
                <a:ea typeface="+mn-ea"/>
                <a:cs typeface="Times New Roman" panose="02020603050405020304" pitchFamily="18" charset="0"/>
                <a:sym typeface="Symbol" panose="05050102010706020507" pitchFamily="18" charset="2"/>
              </a:rPr>
              <a:t>）对于双边带调制来说，可以从双边带调制信号中提取所需的同频同相的载波信号作本地振荡信号。</a:t>
            </a:r>
          </a:p>
          <a:p>
            <a:pPr>
              <a:spcBef>
                <a:spcPct val="50000"/>
              </a:spcBef>
            </a:pPr>
            <a:r>
              <a:rPr lang="zh-CN" altLang="en-US" sz="1900" b="0" dirty="0">
                <a:latin typeface="Times New Roman" panose="02020603050405020304" pitchFamily="18" charset="0"/>
                <a:ea typeface="+mn-ea"/>
                <a:cs typeface="Times New Roman" panose="02020603050405020304" pitchFamily="18" charset="0"/>
                <a:sym typeface="Symbol" panose="05050102010706020507" pitchFamily="18" charset="2"/>
              </a:rPr>
              <a:t>   对于单边带调制信号来说，无法直接从单边带信号中提取载波信号，因此在发射单边带信号的同时，还发射受到一定程度抑制的载波信号（称为导频信号）。在接收端，用导频信号控制本机振荡信号使其同步。</a:t>
            </a:r>
          </a:p>
          <a:p>
            <a:pPr>
              <a:spcBef>
                <a:spcPct val="50000"/>
              </a:spcBef>
            </a:pPr>
            <a:r>
              <a:rPr lang="zh-CN" altLang="en-US" sz="1900" b="0" dirty="0">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sz="1900" b="0" dirty="0">
                <a:latin typeface="Times New Roman" panose="02020603050405020304" pitchFamily="18" charset="0"/>
                <a:ea typeface="+mn-ea"/>
                <a:cs typeface="Times New Roman" panose="02020603050405020304" pitchFamily="18" charset="0"/>
                <a:sym typeface="Symbol" panose="05050102010706020507" pitchFamily="18" charset="2"/>
              </a:rPr>
              <a:t>3</a:t>
            </a:r>
            <a:r>
              <a:rPr lang="zh-CN" altLang="en-US" sz="1900" b="0" dirty="0">
                <a:latin typeface="Times New Roman" panose="02020603050405020304" pitchFamily="18" charset="0"/>
                <a:ea typeface="+mn-ea"/>
                <a:cs typeface="Times New Roman" panose="02020603050405020304" pitchFamily="18" charset="0"/>
                <a:sym typeface="Symbol" panose="05050102010706020507" pitchFamily="18" charset="2"/>
              </a:rPr>
              <a:t>）采用锁相方法从抑制载波的信号中提取载波。</a:t>
            </a:r>
          </a:p>
        </p:txBody>
      </p:sp>
    </p:spTree>
    <p:extLst>
      <p:ext uri="{BB962C8B-B14F-4D97-AF65-F5344CB8AC3E}">
        <p14:creationId xmlns:p14="http://schemas.microsoft.com/office/powerpoint/2010/main" val="3004783951"/>
      </p:ext>
    </p:extLst>
  </p:cSld>
  <p:clrMapOvr>
    <a:masterClrMapping/>
  </p:clrMapOvr>
  <p:timing>
    <p:tnLst>
      <p:par>
        <p:cTn id="1" dur="indefinite" restart="never" nodeType="tmRoot"/>
      </p:par>
    </p:tnLst>
  </p:timing>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249</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5"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6.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振幅调制</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与</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解调</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 name="Text Box 3">
            <a:extLst>
              <a:ext uri="{FF2B5EF4-FFF2-40B4-BE49-F238E27FC236}">
                <a16:creationId xmlns="" xmlns:a16="http://schemas.microsoft.com/office/drawing/2014/main" id="{F1CFE714-0573-BE2E-7EAF-A5C8C63065E9}"/>
              </a:ext>
            </a:extLst>
          </p:cNvPr>
          <p:cNvSpPr txBox="1">
            <a:spLocks noChangeArrowheads="1"/>
          </p:cNvSpPr>
          <p:nvPr/>
        </p:nvSpPr>
        <p:spPr bwMode="auto">
          <a:xfrm>
            <a:off x="696193" y="1231032"/>
            <a:ext cx="315823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r>
              <a:rPr lang="zh-CN" altLang="en-US" sz="2000" b="0">
                <a:latin typeface="Times New Roman" panose="02020603050405020304" pitchFamily="18" charset="0"/>
                <a:ea typeface="+mn-ea"/>
                <a:cs typeface="Times New Roman" panose="02020603050405020304" pitchFamily="18" charset="0"/>
              </a:rPr>
              <a:t>4.单边带信号的接收</a:t>
            </a:r>
            <a:r>
              <a:rPr lang="en-US" altLang="zh-CN" sz="2000" b="0">
                <a:latin typeface="Times New Roman" panose="02020603050405020304" pitchFamily="18" charset="0"/>
                <a:ea typeface="+mn-ea"/>
                <a:cs typeface="Times New Roman" panose="02020603050405020304" pitchFamily="18" charset="0"/>
              </a:rPr>
              <a:t>(SSB)</a:t>
            </a:r>
          </a:p>
        </p:txBody>
      </p:sp>
      <p:sp>
        <p:nvSpPr>
          <p:cNvPr id="7" name="Text Box 4">
            <a:extLst>
              <a:ext uri="{FF2B5EF4-FFF2-40B4-BE49-F238E27FC236}">
                <a16:creationId xmlns="" xmlns:a16="http://schemas.microsoft.com/office/drawing/2014/main" id="{934E588B-E299-B4C3-1A13-26FADD482115}"/>
              </a:ext>
            </a:extLst>
          </p:cNvPr>
          <p:cNvSpPr txBox="1">
            <a:spLocks noChangeArrowheads="1"/>
          </p:cNvSpPr>
          <p:nvPr/>
        </p:nvSpPr>
        <p:spPr bwMode="auto">
          <a:xfrm>
            <a:off x="680447" y="1639049"/>
            <a:ext cx="531427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r>
              <a:rPr lang="zh-CN" altLang="en-US" sz="2000" b="0" dirty="0">
                <a:latin typeface="Times New Roman" panose="02020603050405020304" pitchFamily="18" charset="0"/>
                <a:ea typeface="+mn-ea"/>
                <a:cs typeface="Times New Roman" panose="02020603050405020304" pitchFamily="18" charset="0"/>
              </a:rPr>
              <a:t>单边带信号的接收过程正好和发送过程相反。</a:t>
            </a:r>
          </a:p>
        </p:txBody>
      </p:sp>
      <p:grpSp>
        <p:nvGrpSpPr>
          <p:cNvPr id="8" name="Group 5">
            <a:extLst>
              <a:ext uri="{FF2B5EF4-FFF2-40B4-BE49-F238E27FC236}">
                <a16:creationId xmlns="" xmlns:a16="http://schemas.microsoft.com/office/drawing/2014/main" id="{D54D2F02-E4DE-87D0-45B6-DB78ABE10272}"/>
              </a:ext>
            </a:extLst>
          </p:cNvPr>
          <p:cNvGrpSpPr>
            <a:grpSpLocks/>
          </p:cNvGrpSpPr>
          <p:nvPr/>
        </p:nvGrpSpPr>
        <p:grpSpPr bwMode="auto">
          <a:xfrm>
            <a:off x="478706" y="1985658"/>
            <a:ext cx="7935913" cy="1955800"/>
            <a:chOff x="576" y="1122"/>
            <a:chExt cx="4368" cy="1157"/>
          </a:xfrm>
        </p:grpSpPr>
        <p:graphicFrame>
          <p:nvGraphicFramePr>
            <p:cNvPr id="9" name="Object 6">
              <a:extLst>
                <a:ext uri="{FF2B5EF4-FFF2-40B4-BE49-F238E27FC236}">
                  <a16:creationId xmlns="" xmlns:a16="http://schemas.microsoft.com/office/drawing/2014/main" id="{F9F05FAB-66D1-0981-75A3-ACEF817C0C99}"/>
                </a:ext>
              </a:extLst>
            </p:cNvPr>
            <p:cNvGraphicFramePr>
              <a:graphicFrameLocks/>
            </p:cNvGraphicFramePr>
            <p:nvPr/>
          </p:nvGraphicFramePr>
          <p:xfrm>
            <a:off x="576" y="1152"/>
            <a:ext cx="4368" cy="1127"/>
          </p:xfrm>
          <a:graphic>
            <a:graphicData uri="http://schemas.openxmlformats.org/presentationml/2006/ole">
              <mc:AlternateContent xmlns:mc="http://schemas.openxmlformats.org/markup-compatibility/2006">
                <mc:Choice xmlns:v="urn:schemas-microsoft-com:vml" Requires="v">
                  <p:oleObj spid="_x0000_s198666" r:id="rId3" imgW="7153368" imgH="1771764" progId="Word.Picture.8">
                    <p:embed/>
                  </p:oleObj>
                </mc:Choice>
                <mc:Fallback>
                  <p:oleObj r:id="rId3" imgW="7153368" imgH="1771764" progId="Word.Picture.8">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6" y="1152"/>
                          <a:ext cx="4368" cy="1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0" name="Text Box 7">
              <a:extLst>
                <a:ext uri="{FF2B5EF4-FFF2-40B4-BE49-F238E27FC236}">
                  <a16:creationId xmlns="" xmlns:a16="http://schemas.microsoft.com/office/drawing/2014/main" id="{D7A54EE4-D3E9-CF27-6BE3-DE7529831B50}"/>
                </a:ext>
              </a:extLst>
            </p:cNvPr>
            <p:cNvSpPr txBox="1">
              <a:spLocks noChangeArrowheads="1"/>
            </p:cNvSpPr>
            <p:nvPr/>
          </p:nvSpPr>
          <p:spPr bwMode="auto">
            <a:xfrm>
              <a:off x="2156" y="1122"/>
              <a:ext cx="1372"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r>
                <a:rPr lang="zh-CN" altLang="en-US" sz="2000" b="0" dirty="0">
                  <a:latin typeface="Times New Roman" panose="02020603050405020304" pitchFamily="18" charset="0"/>
                  <a:ea typeface="+mn-ea"/>
                  <a:cs typeface="Times New Roman" panose="02020603050405020304" pitchFamily="18" charset="0"/>
                </a:rPr>
                <a:t>单边带接收机方框图</a:t>
              </a:r>
            </a:p>
          </p:txBody>
        </p:sp>
      </p:grpSp>
      <p:sp>
        <p:nvSpPr>
          <p:cNvPr id="11" name="Text Box 8">
            <a:extLst>
              <a:ext uri="{FF2B5EF4-FFF2-40B4-BE49-F238E27FC236}">
                <a16:creationId xmlns="" xmlns:a16="http://schemas.microsoft.com/office/drawing/2014/main" id="{15CC3CE4-D7A3-1053-F660-DC3015AADEB5}"/>
              </a:ext>
            </a:extLst>
          </p:cNvPr>
          <p:cNvSpPr txBox="1">
            <a:spLocks noChangeArrowheads="1"/>
          </p:cNvSpPr>
          <p:nvPr/>
        </p:nvSpPr>
        <p:spPr bwMode="auto">
          <a:xfrm>
            <a:off x="680447" y="3938669"/>
            <a:ext cx="249299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r>
              <a:rPr lang="zh-CN" altLang="en-US" sz="2000" b="0">
                <a:latin typeface="Times New Roman" panose="02020603050405020304" pitchFamily="18" charset="0"/>
                <a:ea typeface="+mn-ea"/>
                <a:cs typeface="Times New Roman" panose="02020603050405020304" pitchFamily="18" charset="0"/>
              </a:rPr>
              <a:t>它是二次变频电路。</a:t>
            </a:r>
          </a:p>
        </p:txBody>
      </p:sp>
      <p:sp>
        <p:nvSpPr>
          <p:cNvPr id="12" name="Text Box 9">
            <a:extLst>
              <a:ext uri="{FF2B5EF4-FFF2-40B4-BE49-F238E27FC236}">
                <a16:creationId xmlns="" xmlns:a16="http://schemas.microsoft.com/office/drawing/2014/main" id="{DEF60022-D918-7FDC-AA38-C6AE142B58A6}"/>
              </a:ext>
            </a:extLst>
          </p:cNvPr>
          <p:cNvSpPr txBox="1">
            <a:spLocks noChangeArrowheads="1"/>
          </p:cNvSpPr>
          <p:nvPr/>
        </p:nvSpPr>
        <p:spPr bwMode="auto">
          <a:xfrm>
            <a:off x="680447" y="4449959"/>
            <a:ext cx="513313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r>
              <a:rPr lang="en-US" altLang="zh-CN" sz="2000" b="0" i="1" dirty="0">
                <a:latin typeface="Times New Roman" panose="02020603050405020304" pitchFamily="18" charset="0"/>
                <a:ea typeface="+mn-ea"/>
                <a:cs typeface="Times New Roman" panose="02020603050405020304" pitchFamily="18" charset="0"/>
              </a:rPr>
              <a:t>f</a:t>
            </a:r>
            <a:r>
              <a:rPr lang="en-US" altLang="zh-CN" sz="2000" b="0" baseline="-25000" dirty="0">
                <a:latin typeface="Times New Roman" panose="02020603050405020304" pitchFamily="18" charset="0"/>
                <a:ea typeface="+mn-ea"/>
                <a:cs typeface="Times New Roman" panose="02020603050405020304" pitchFamily="18" charset="0"/>
              </a:rPr>
              <a:t>i1</a:t>
            </a:r>
            <a:r>
              <a:rPr lang="zh-CN" altLang="en-US" sz="2000" b="0" dirty="0">
                <a:latin typeface="Times New Roman" panose="02020603050405020304" pitchFamily="18" charset="0"/>
                <a:ea typeface="+mn-ea"/>
                <a:cs typeface="Times New Roman" panose="02020603050405020304" pitchFamily="18" charset="0"/>
              </a:rPr>
              <a:t>较高，用调谐回路即可选出所需的边带。</a:t>
            </a:r>
          </a:p>
        </p:txBody>
      </p:sp>
      <p:sp>
        <p:nvSpPr>
          <p:cNvPr id="13" name="Text Box 10">
            <a:extLst>
              <a:ext uri="{FF2B5EF4-FFF2-40B4-BE49-F238E27FC236}">
                <a16:creationId xmlns="" xmlns:a16="http://schemas.microsoft.com/office/drawing/2014/main" id="{11E7D522-FCC4-9871-B6D7-E1CE54CA012B}"/>
              </a:ext>
            </a:extLst>
          </p:cNvPr>
          <p:cNvSpPr txBox="1">
            <a:spLocks noChangeArrowheads="1"/>
          </p:cNvSpPr>
          <p:nvPr/>
        </p:nvSpPr>
        <p:spPr bwMode="auto">
          <a:xfrm>
            <a:off x="674997" y="4903301"/>
            <a:ext cx="56493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r>
              <a:rPr lang="en-US" altLang="zh-CN" sz="2000" b="0" i="1" dirty="0">
                <a:latin typeface="Times New Roman" panose="02020603050405020304" pitchFamily="18" charset="0"/>
                <a:ea typeface="+mn-ea"/>
                <a:cs typeface="Times New Roman" panose="02020603050405020304" pitchFamily="18" charset="0"/>
              </a:rPr>
              <a:t>f</a:t>
            </a:r>
            <a:r>
              <a:rPr lang="en-US" altLang="zh-CN" sz="2000" b="0" baseline="-25000" dirty="0">
                <a:latin typeface="Times New Roman" panose="02020603050405020304" pitchFamily="18" charset="0"/>
                <a:ea typeface="+mn-ea"/>
                <a:cs typeface="Times New Roman" panose="02020603050405020304" pitchFamily="18" charset="0"/>
              </a:rPr>
              <a:t>i2</a:t>
            </a:r>
            <a:r>
              <a:rPr lang="zh-CN" altLang="en-US" sz="2000" b="0" dirty="0">
                <a:latin typeface="Times New Roman" panose="02020603050405020304" pitchFamily="18" charset="0"/>
                <a:ea typeface="+mn-ea"/>
                <a:cs typeface="Times New Roman" panose="02020603050405020304" pitchFamily="18" charset="0"/>
              </a:rPr>
              <a:t>较低，一般采用带通滤波器取出单边带信号。</a:t>
            </a:r>
          </a:p>
        </p:txBody>
      </p:sp>
      <p:sp>
        <p:nvSpPr>
          <p:cNvPr id="14" name="Text Box 11">
            <a:extLst>
              <a:ext uri="{FF2B5EF4-FFF2-40B4-BE49-F238E27FC236}">
                <a16:creationId xmlns="" xmlns:a16="http://schemas.microsoft.com/office/drawing/2014/main" id="{38C238D5-FFC5-571C-8167-610F5F523699}"/>
              </a:ext>
            </a:extLst>
          </p:cNvPr>
          <p:cNvSpPr txBox="1">
            <a:spLocks noChangeArrowheads="1"/>
          </p:cNvSpPr>
          <p:nvPr/>
        </p:nvSpPr>
        <p:spPr bwMode="auto">
          <a:xfrm>
            <a:off x="674996" y="5437364"/>
            <a:ext cx="7353387"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r>
              <a:rPr lang="zh-CN" altLang="en-US" sz="2000" b="0" dirty="0">
                <a:latin typeface="Times New Roman" panose="02020603050405020304" pitchFamily="18" charset="0"/>
                <a:ea typeface="+mn-ea"/>
                <a:cs typeface="Times New Roman" panose="02020603050405020304" pitchFamily="18" charset="0"/>
              </a:rPr>
              <a:t>单边带信号与第三本振载波信号在乘积检波器中进行解调，经过低通滤波器后，即可获得原调制信号。</a:t>
            </a:r>
          </a:p>
        </p:txBody>
      </p:sp>
    </p:spTree>
    <p:extLst>
      <p:ext uri="{BB962C8B-B14F-4D97-AF65-F5344CB8AC3E}">
        <p14:creationId xmlns:p14="http://schemas.microsoft.com/office/powerpoint/2010/main" val="428967151"/>
      </p:ext>
    </p:extLst>
  </p:cSld>
  <p:clrMapOvr>
    <a:masterClrMapping/>
  </p:clrMapOvr>
  <p:timing>
    <p:tnLst>
      <p:par>
        <p:cTn id="1" dur="indefinite" restart="never" nodeType="tmRoot"/>
      </p:par>
    </p:tnLst>
  </p:timing>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250</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5"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6.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振幅调制</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与</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解调</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 name="Rectangle 3">
            <a:extLst>
              <a:ext uri="{FF2B5EF4-FFF2-40B4-BE49-F238E27FC236}">
                <a16:creationId xmlns="" xmlns:a16="http://schemas.microsoft.com/office/drawing/2014/main" id="{71D2421F-F58E-3D2C-A395-7CA182873730}"/>
              </a:ext>
            </a:extLst>
          </p:cNvPr>
          <p:cNvSpPr>
            <a:spLocks noChangeArrowheads="1"/>
          </p:cNvSpPr>
          <p:nvPr/>
        </p:nvSpPr>
        <p:spPr bwMode="auto">
          <a:xfrm>
            <a:off x="346068" y="3517990"/>
            <a:ext cx="8605837" cy="7100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46800">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buClr>
                <a:srgbClr val="FF33CC"/>
              </a:buClr>
              <a:buFont typeface="Arial" panose="020B0604020202020204" pitchFamily="34" charset="0"/>
              <a:buChar char="•"/>
            </a:pPr>
            <a:r>
              <a:rPr lang="zh-CN" altLang="en-US" sz="2000" b="0">
                <a:latin typeface="+mn-ea"/>
                <a:ea typeface="+mn-ea"/>
              </a:rPr>
              <a:t> 普通调幅波混频前后的波形如下图，混频前后载波的频率改变了</a:t>
            </a:r>
            <a:r>
              <a:rPr lang="en-US" altLang="zh-CN" sz="2000" b="0">
                <a:latin typeface="+mn-ea"/>
                <a:ea typeface="+mn-ea"/>
              </a:rPr>
              <a:t>,</a:t>
            </a:r>
            <a:r>
              <a:rPr lang="zh-CN" altLang="en-US" sz="2000" b="0">
                <a:latin typeface="+mn-ea"/>
                <a:ea typeface="+mn-ea"/>
              </a:rPr>
              <a:t>但包络和频谱结构保持不变，实现了频谱线性搬移。</a:t>
            </a:r>
          </a:p>
        </p:txBody>
      </p:sp>
      <p:graphicFrame>
        <p:nvGraphicFramePr>
          <p:cNvPr id="7" name="对象 3">
            <a:extLst>
              <a:ext uri="{FF2B5EF4-FFF2-40B4-BE49-F238E27FC236}">
                <a16:creationId xmlns="" xmlns:a16="http://schemas.microsoft.com/office/drawing/2014/main" id="{A6F763E4-9E61-27C3-A24E-A88ADA2DFE45}"/>
              </a:ext>
            </a:extLst>
          </p:cNvPr>
          <p:cNvGraphicFramePr>
            <a:graphicFrameLocks noChangeAspect="1"/>
          </p:cNvGraphicFramePr>
          <p:nvPr>
            <p:extLst>
              <p:ext uri="{D42A27DB-BD31-4B8C-83A1-F6EECF244321}">
                <p14:modId xmlns:p14="http://schemas.microsoft.com/office/powerpoint/2010/main" val="1424838654"/>
              </p:ext>
            </p:extLst>
          </p:nvPr>
        </p:nvGraphicFramePr>
        <p:xfrm>
          <a:off x="539403" y="4283554"/>
          <a:ext cx="2663825" cy="2147887"/>
        </p:xfrm>
        <a:graphic>
          <a:graphicData uri="http://schemas.openxmlformats.org/presentationml/2006/ole">
            <mc:AlternateContent xmlns:mc="http://schemas.openxmlformats.org/markup-compatibility/2006">
              <mc:Choice xmlns:v="urn:schemas-microsoft-com:vml" Requires="v">
                <p:oleObj spid="_x0000_s199709" r:id="rId3" imgW="5438160" imgH="3028320" progId="">
                  <p:embed/>
                </p:oleObj>
              </mc:Choice>
              <mc:Fallback>
                <p:oleObj r:id="rId3" imgW="5438160" imgH="3028320" progId="">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r="65556" b="50131"/>
                      <a:stretch>
                        <a:fillRect/>
                      </a:stretch>
                    </p:blipFill>
                    <p:spPr bwMode="auto">
                      <a:xfrm>
                        <a:off x="539403" y="4283554"/>
                        <a:ext cx="2663825" cy="2147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 name="对象 3">
            <a:extLst>
              <a:ext uri="{FF2B5EF4-FFF2-40B4-BE49-F238E27FC236}">
                <a16:creationId xmlns="" xmlns:a16="http://schemas.microsoft.com/office/drawing/2014/main" id="{DA8BD372-4156-E5D1-DB66-21AA7402C625}"/>
              </a:ext>
            </a:extLst>
          </p:cNvPr>
          <p:cNvGraphicFramePr>
            <a:graphicFrameLocks noChangeAspect="1"/>
          </p:cNvGraphicFramePr>
          <p:nvPr>
            <p:extLst>
              <p:ext uri="{D42A27DB-BD31-4B8C-83A1-F6EECF244321}">
                <p14:modId xmlns:p14="http://schemas.microsoft.com/office/powerpoint/2010/main" val="3272503763"/>
              </p:ext>
            </p:extLst>
          </p:nvPr>
        </p:nvGraphicFramePr>
        <p:xfrm>
          <a:off x="5435252" y="4150997"/>
          <a:ext cx="2879725" cy="2160588"/>
        </p:xfrm>
        <a:graphic>
          <a:graphicData uri="http://schemas.openxmlformats.org/presentationml/2006/ole">
            <mc:AlternateContent xmlns:mc="http://schemas.openxmlformats.org/markup-compatibility/2006">
              <mc:Choice xmlns:v="urn:schemas-microsoft-com:vml" Requires="v">
                <p:oleObj spid="_x0000_s199710" r:id="rId5" imgW="5438160" imgH="3028320" progId="">
                  <p:embed/>
                </p:oleObj>
              </mc:Choice>
              <mc:Fallback>
                <p:oleObj r:id="rId5" imgW="5438160" imgH="3028320" progId="">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l="61122" r="3331" b="52110"/>
                      <a:stretch>
                        <a:fillRect/>
                      </a:stretch>
                    </p:blipFill>
                    <p:spPr bwMode="auto">
                      <a:xfrm>
                        <a:off x="5435252" y="4150997"/>
                        <a:ext cx="2879725" cy="2160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9" name="对象 3">
            <a:extLst>
              <a:ext uri="{FF2B5EF4-FFF2-40B4-BE49-F238E27FC236}">
                <a16:creationId xmlns="" xmlns:a16="http://schemas.microsoft.com/office/drawing/2014/main" id="{EDA7D0B9-7672-AE2B-9AA0-494CE3A5A28F}"/>
              </a:ext>
            </a:extLst>
          </p:cNvPr>
          <p:cNvGraphicFramePr>
            <a:graphicFrameLocks noChangeAspect="1"/>
          </p:cNvGraphicFramePr>
          <p:nvPr>
            <p:extLst>
              <p:ext uri="{D42A27DB-BD31-4B8C-83A1-F6EECF244321}">
                <p14:modId xmlns:p14="http://schemas.microsoft.com/office/powerpoint/2010/main" val="54347546"/>
              </p:ext>
            </p:extLst>
          </p:nvPr>
        </p:nvGraphicFramePr>
        <p:xfrm>
          <a:off x="2123728" y="4270854"/>
          <a:ext cx="3167062" cy="1920875"/>
        </p:xfrm>
        <a:graphic>
          <a:graphicData uri="http://schemas.openxmlformats.org/presentationml/2006/ole">
            <mc:AlternateContent xmlns:mc="http://schemas.openxmlformats.org/markup-compatibility/2006">
              <mc:Choice xmlns:v="urn:schemas-microsoft-com:vml" Requires="v">
                <p:oleObj spid="_x0000_s199711" r:id="rId6" imgW="5438160" imgH="3028320" progId="">
                  <p:embed/>
                </p:oleObj>
              </mc:Choice>
              <mc:Fallback>
                <p:oleObj r:id="rId6" imgW="5438160" imgH="3028320" progId="">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l="28908" t="45866" r="39902" b="20184"/>
                      <a:stretch>
                        <a:fillRect/>
                      </a:stretch>
                    </p:blipFill>
                    <p:spPr bwMode="auto">
                      <a:xfrm>
                        <a:off x="2123728" y="4270854"/>
                        <a:ext cx="3167062" cy="192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0" name="Rectangle 10">
            <a:extLst>
              <a:ext uri="{FF2B5EF4-FFF2-40B4-BE49-F238E27FC236}">
                <a16:creationId xmlns="" xmlns:a16="http://schemas.microsoft.com/office/drawing/2014/main" id="{CC716F1F-0278-8C92-1688-BD453D95E30A}"/>
              </a:ext>
            </a:extLst>
          </p:cNvPr>
          <p:cNvSpPr>
            <a:spLocks noChangeArrowheads="1"/>
          </p:cNvSpPr>
          <p:nvPr/>
        </p:nvSpPr>
        <p:spPr bwMode="auto">
          <a:xfrm>
            <a:off x="309556" y="1268760"/>
            <a:ext cx="87137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r>
              <a:rPr lang="zh-CN" altLang="en-US" sz="2000" b="0" dirty="0">
                <a:latin typeface="+mn-ea"/>
                <a:ea typeface="+mn-ea"/>
              </a:rPr>
              <a:t>    </a:t>
            </a:r>
            <a:r>
              <a:rPr lang="zh-CN" altLang="zh-CN" sz="2000" b="0" dirty="0">
                <a:latin typeface="+mn-ea"/>
                <a:ea typeface="+mn-ea"/>
              </a:rPr>
              <a:t>通信电子线路中，常常需要将信号自某一频率变换成另一频率，完成这种频率变换功能的电路称为混频器</a:t>
            </a:r>
            <a:r>
              <a:rPr lang="en-US" altLang="zh-CN" sz="2000" b="0" dirty="0">
                <a:latin typeface="+mn-ea"/>
                <a:ea typeface="+mn-ea"/>
              </a:rPr>
              <a:t>(</a:t>
            </a:r>
            <a:r>
              <a:rPr lang="zh-CN" altLang="zh-CN" sz="2000" b="0" dirty="0">
                <a:latin typeface="+mn-ea"/>
                <a:ea typeface="+mn-ea"/>
              </a:rPr>
              <a:t>或称为变频器</a:t>
            </a:r>
            <a:r>
              <a:rPr lang="en-US" altLang="zh-CN" sz="2000" b="0" dirty="0">
                <a:latin typeface="+mn-ea"/>
                <a:ea typeface="+mn-ea"/>
              </a:rPr>
              <a:t>)</a:t>
            </a:r>
            <a:r>
              <a:rPr lang="zh-CN" altLang="en-US" sz="2000" b="0" dirty="0">
                <a:latin typeface="+mn-ea"/>
                <a:ea typeface="+mn-ea"/>
              </a:rPr>
              <a:t>。</a:t>
            </a:r>
          </a:p>
        </p:txBody>
      </p:sp>
      <p:sp>
        <p:nvSpPr>
          <p:cNvPr id="11" name="Rectangle 12">
            <a:extLst>
              <a:ext uri="{FF2B5EF4-FFF2-40B4-BE49-F238E27FC236}">
                <a16:creationId xmlns="" xmlns:a16="http://schemas.microsoft.com/office/drawing/2014/main" id="{1BF0948F-994B-D6CA-2B6F-7BF74F44A684}"/>
              </a:ext>
            </a:extLst>
          </p:cNvPr>
          <p:cNvSpPr>
            <a:spLocks noChangeArrowheads="1"/>
          </p:cNvSpPr>
          <p:nvPr/>
        </p:nvSpPr>
        <p:spPr bwMode="auto">
          <a:xfrm>
            <a:off x="325930" y="2348536"/>
            <a:ext cx="8574088" cy="402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46800">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buClr>
                <a:srgbClr val="FF33CC"/>
              </a:buClr>
              <a:buFont typeface="Arial" panose="020B0604020202020204" pitchFamily="34" charset="0"/>
              <a:buChar char="•"/>
            </a:pPr>
            <a:r>
              <a:rPr lang="zh-CN" altLang="en-US" sz="2000" b="0" dirty="0">
                <a:latin typeface="+mn-ea"/>
                <a:ea typeface="+mn-ea"/>
              </a:rPr>
              <a:t>  将已调波的载频变换成固定的中频频率，而保持其调制规律不变。</a:t>
            </a:r>
          </a:p>
        </p:txBody>
      </p:sp>
      <p:sp>
        <p:nvSpPr>
          <p:cNvPr id="12" name="Rectangle 13">
            <a:extLst>
              <a:ext uri="{FF2B5EF4-FFF2-40B4-BE49-F238E27FC236}">
                <a16:creationId xmlns="" xmlns:a16="http://schemas.microsoft.com/office/drawing/2014/main" id="{D6C31405-FE38-3D3C-9DEE-AF7645117990}"/>
              </a:ext>
            </a:extLst>
          </p:cNvPr>
          <p:cNvSpPr>
            <a:spLocks noChangeArrowheads="1"/>
          </p:cNvSpPr>
          <p:nvPr/>
        </p:nvSpPr>
        <p:spPr bwMode="auto">
          <a:xfrm>
            <a:off x="346068" y="2750827"/>
            <a:ext cx="8640763" cy="7100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46800">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buClr>
                <a:srgbClr val="FF33CC"/>
              </a:buClr>
              <a:buFont typeface="Arial" panose="020B0604020202020204" pitchFamily="34" charset="0"/>
              <a:buChar char="•"/>
            </a:pPr>
            <a:r>
              <a:rPr lang="zh-CN" altLang="en-US" sz="2000" b="0">
                <a:latin typeface="+mn-ea"/>
                <a:ea typeface="+mn-ea"/>
              </a:rPr>
              <a:t>  对于调幅波、调频波或调相波，通过变频电路后，仍然是调幅波、调频波或调相波。</a:t>
            </a:r>
            <a:endParaRPr lang="en-US" altLang="zh-CN" sz="2000" b="0">
              <a:latin typeface="+mn-ea"/>
              <a:ea typeface="+mn-ea"/>
            </a:endParaRPr>
          </a:p>
        </p:txBody>
      </p:sp>
      <p:sp>
        <p:nvSpPr>
          <p:cNvPr id="13" name="Rectangle 14">
            <a:extLst>
              <a:ext uri="{FF2B5EF4-FFF2-40B4-BE49-F238E27FC236}">
                <a16:creationId xmlns="" xmlns:a16="http://schemas.microsoft.com/office/drawing/2014/main" id="{53A13B79-4038-5AC8-F19A-B32F5425E5E1}"/>
              </a:ext>
            </a:extLst>
          </p:cNvPr>
          <p:cNvSpPr>
            <a:spLocks noChangeArrowheads="1"/>
          </p:cNvSpPr>
          <p:nvPr/>
        </p:nvSpPr>
        <p:spPr bwMode="auto">
          <a:xfrm>
            <a:off x="309556" y="1948426"/>
            <a:ext cx="328166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r>
              <a:rPr lang="zh-CN" altLang="zh-CN" sz="2000" b="0" dirty="0">
                <a:latin typeface="+mn-ea"/>
                <a:ea typeface="+mn-ea"/>
              </a:rPr>
              <a:t>混频</a:t>
            </a:r>
            <a:r>
              <a:rPr lang="zh-CN" altLang="en-US" sz="2000" b="0" dirty="0">
                <a:latin typeface="+mn-ea"/>
                <a:ea typeface="+mn-ea"/>
              </a:rPr>
              <a:t>（变频）电路的功能：</a:t>
            </a:r>
          </a:p>
        </p:txBody>
      </p:sp>
    </p:spTree>
    <p:extLst>
      <p:ext uri="{BB962C8B-B14F-4D97-AF65-F5344CB8AC3E}">
        <p14:creationId xmlns:p14="http://schemas.microsoft.com/office/powerpoint/2010/main" val="699848653"/>
      </p:ext>
    </p:extLst>
  </p:cSld>
  <p:clrMapOvr>
    <a:masterClrMapping/>
  </p:clrMapOvr>
  <p:timing>
    <p:tnLst>
      <p:par>
        <p:cTn id="1" dur="indefinite" restart="never" nodeType="tmRoot"/>
      </p:par>
    </p:tnLst>
  </p:timing>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251</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5"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6.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振幅调制</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与</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解调</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 name="Rectangle 2052">
            <a:extLst>
              <a:ext uri="{FF2B5EF4-FFF2-40B4-BE49-F238E27FC236}">
                <a16:creationId xmlns="" xmlns:a16="http://schemas.microsoft.com/office/drawing/2014/main" id="{83D40AB5-F556-E40B-61F4-84183F99909F}"/>
              </a:ext>
            </a:extLst>
          </p:cNvPr>
          <p:cNvSpPr>
            <a:spLocks noChangeArrowheads="1"/>
          </p:cNvSpPr>
          <p:nvPr/>
        </p:nvSpPr>
        <p:spPr bwMode="auto">
          <a:xfrm>
            <a:off x="323850" y="3167927"/>
            <a:ext cx="7010400"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spcBef>
                <a:spcPct val="50000"/>
              </a:spcBef>
              <a:buClr>
                <a:schemeClr val="hlink"/>
              </a:buClr>
              <a:buSzPct val="120000"/>
            </a:pPr>
            <a:r>
              <a:rPr lang="zh-CN" altLang="en-US" sz="2000" b="0" dirty="0">
                <a:latin typeface="+mn-ea"/>
                <a:ea typeface="+mn-ea"/>
              </a:rPr>
              <a:t>变频的优点：</a:t>
            </a:r>
          </a:p>
          <a:p>
            <a:pPr eaLnBrk="1" hangingPunct="1">
              <a:spcBef>
                <a:spcPct val="50000"/>
              </a:spcBef>
              <a:buClr>
                <a:schemeClr val="hlink"/>
              </a:buClr>
              <a:buSzPct val="120000"/>
            </a:pPr>
            <a:r>
              <a:rPr lang="zh-CN" altLang="en-US" sz="2000" b="0" dirty="0">
                <a:latin typeface="+mn-ea"/>
                <a:ea typeface="+mn-ea"/>
              </a:rPr>
              <a:t>　　1)  变频可提高接收机的灵敏度</a:t>
            </a:r>
          </a:p>
          <a:p>
            <a:pPr eaLnBrk="1" hangingPunct="1">
              <a:spcBef>
                <a:spcPct val="50000"/>
              </a:spcBef>
              <a:buClr>
                <a:schemeClr val="hlink"/>
              </a:buClr>
              <a:buSzPct val="120000"/>
            </a:pPr>
            <a:r>
              <a:rPr lang="zh-CN" altLang="en-US" sz="2000" b="0" dirty="0">
                <a:latin typeface="+mn-ea"/>
                <a:ea typeface="+mn-ea"/>
              </a:rPr>
              <a:t>　　2)  提高接收机的选择性</a:t>
            </a:r>
          </a:p>
          <a:p>
            <a:pPr eaLnBrk="1" hangingPunct="1">
              <a:spcBef>
                <a:spcPct val="50000"/>
              </a:spcBef>
              <a:buClr>
                <a:schemeClr val="hlink"/>
              </a:buClr>
              <a:buSzPct val="120000"/>
            </a:pPr>
            <a:r>
              <a:rPr lang="zh-CN" altLang="en-US" sz="2000" b="0" dirty="0">
                <a:latin typeface="+mn-ea"/>
                <a:ea typeface="+mn-ea"/>
              </a:rPr>
              <a:t>　　3)  工作稳定性好</a:t>
            </a:r>
          </a:p>
          <a:p>
            <a:pPr eaLnBrk="1" hangingPunct="1">
              <a:spcBef>
                <a:spcPct val="50000"/>
              </a:spcBef>
              <a:buClr>
                <a:schemeClr val="hlink"/>
              </a:buClr>
              <a:buSzPct val="120000"/>
            </a:pPr>
            <a:r>
              <a:rPr lang="zh-CN" altLang="en-US" sz="2000" b="0" dirty="0">
                <a:latin typeface="+mn-ea"/>
                <a:ea typeface="+mn-ea"/>
              </a:rPr>
              <a:t>　　4)  波段工作时其质量指标一致性好</a:t>
            </a:r>
          </a:p>
        </p:txBody>
      </p:sp>
      <p:sp>
        <p:nvSpPr>
          <p:cNvPr id="7" name="矩形 144390">
            <a:extLst>
              <a:ext uri="{FF2B5EF4-FFF2-40B4-BE49-F238E27FC236}">
                <a16:creationId xmlns="" xmlns:a16="http://schemas.microsoft.com/office/drawing/2014/main" id="{C92F8ACE-10C4-8D6B-FE19-AFC453CF989E}"/>
              </a:ext>
            </a:extLst>
          </p:cNvPr>
          <p:cNvSpPr>
            <a:spLocks noChangeArrowheads="1"/>
          </p:cNvSpPr>
          <p:nvPr/>
        </p:nvSpPr>
        <p:spPr bwMode="auto">
          <a:xfrm>
            <a:off x="250825" y="1284436"/>
            <a:ext cx="296908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spcBef>
                <a:spcPct val="50000"/>
              </a:spcBef>
              <a:buClr>
                <a:schemeClr val="hlink"/>
              </a:buClr>
              <a:buSzPct val="120000"/>
            </a:pPr>
            <a:r>
              <a:rPr lang="zh-CN" altLang="en-US" sz="2400" b="0" dirty="0">
                <a:latin typeface="+mn-ea"/>
                <a:ea typeface="+mn-ea"/>
              </a:rPr>
              <a:t>一、为什么要变频？</a:t>
            </a:r>
          </a:p>
        </p:txBody>
      </p:sp>
      <p:sp>
        <p:nvSpPr>
          <p:cNvPr id="8" name="矩形 7">
            <a:extLst>
              <a:ext uri="{FF2B5EF4-FFF2-40B4-BE49-F238E27FC236}">
                <a16:creationId xmlns="" xmlns:a16="http://schemas.microsoft.com/office/drawing/2014/main" id="{6393D6A8-396F-704F-988F-09DBB7E7D985}"/>
              </a:ext>
            </a:extLst>
          </p:cNvPr>
          <p:cNvSpPr>
            <a:spLocks noChangeArrowheads="1"/>
          </p:cNvSpPr>
          <p:nvPr/>
        </p:nvSpPr>
        <p:spPr bwMode="auto">
          <a:xfrm>
            <a:off x="323850" y="5576739"/>
            <a:ext cx="770572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r>
              <a:rPr lang="zh-CN" altLang="en-US" sz="2000" b="0" dirty="0">
                <a:latin typeface="+mn-ea"/>
                <a:ea typeface="+mn-ea"/>
              </a:rPr>
              <a:t>变频的缺点：容易产生镜像干扰、中频干扰等干扰</a:t>
            </a:r>
          </a:p>
        </p:txBody>
      </p:sp>
      <p:sp>
        <p:nvSpPr>
          <p:cNvPr id="9" name="Rectangle 8">
            <a:extLst>
              <a:ext uri="{FF2B5EF4-FFF2-40B4-BE49-F238E27FC236}">
                <a16:creationId xmlns="" xmlns:a16="http://schemas.microsoft.com/office/drawing/2014/main" id="{64308C07-CC85-959A-1401-55A876FBED4A}"/>
              </a:ext>
            </a:extLst>
          </p:cNvPr>
          <p:cNvSpPr>
            <a:spLocks noChangeArrowheads="1"/>
          </p:cNvSpPr>
          <p:nvPr/>
        </p:nvSpPr>
        <p:spPr bwMode="auto">
          <a:xfrm>
            <a:off x="283368" y="1784371"/>
            <a:ext cx="8577263" cy="1338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2075" tIns="46038" rIns="92075" bIns="46038">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a:lnSpc>
                <a:spcPct val="140000"/>
              </a:lnSpc>
            </a:pPr>
            <a:r>
              <a:rPr lang="zh-CN" altLang="en-US" sz="2000" b="0" dirty="0">
                <a:latin typeface="+mn-ea"/>
                <a:ea typeface="+mn-ea"/>
              </a:rPr>
              <a:t>    由于设计和制作工作频率较原载频低的固定中频放大器比较容易</a:t>
            </a:r>
            <a:r>
              <a:rPr lang="en-US" altLang="zh-CN" sz="2000" b="0" dirty="0">
                <a:latin typeface="+mn-ea"/>
                <a:ea typeface="+mn-ea"/>
              </a:rPr>
              <a:t>,</a:t>
            </a:r>
            <a:r>
              <a:rPr lang="zh-CN" altLang="en-US" sz="2000" b="0" dirty="0">
                <a:latin typeface="+mn-ea"/>
                <a:ea typeface="+mn-ea"/>
              </a:rPr>
              <a:t>且增益高</a:t>
            </a:r>
            <a:r>
              <a:rPr lang="en-US" altLang="zh-CN" sz="2000" b="0" dirty="0">
                <a:latin typeface="+mn-ea"/>
                <a:ea typeface="+mn-ea"/>
              </a:rPr>
              <a:t>, </a:t>
            </a:r>
            <a:r>
              <a:rPr lang="zh-CN" altLang="en-US" sz="2000" b="0" dirty="0">
                <a:latin typeface="+mn-ea"/>
                <a:ea typeface="+mn-ea"/>
              </a:rPr>
              <a:t>选择性好</a:t>
            </a:r>
            <a:r>
              <a:rPr lang="en-US" altLang="zh-CN" sz="2000" b="0" dirty="0">
                <a:latin typeface="+mn-ea"/>
                <a:ea typeface="+mn-ea"/>
              </a:rPr>
              <a:t>,</a:t>
            </a:r>
            <a:r>
              <a:rPr lang="zh-CN" altLang="en-US" sz="2000" b="0" dirty="0">
                <a:latin typeface="+mn-ea"/>
                <a:ea typeface="+mn-ea"/>
              </a:rPr>
              <a:t>所以采用混频方式可大大提高接收机的性能并使接收机的设备大大简化。 </a:t>
            </a:r>
          </a:p>
        </p:txBody>
      </p:sp>
    </p:spTree>
    <p:extLst>
      <p:ext uri="{BB962C8B-B14F-4D97-AF65-F5344CB8AC3E}">
        <p14:creationId xmlns:p14="http://schemas.microsoft.com/office/powerpoint/2010/main" val="3377231381"/>
      </p:ext>
    </p:extLst>
  </p:cSld>
  <p:clrMapOvr>
    <a:masterClrMapping/>
  </p:clrMapOvr>
  <p:timing>
    <p:tnLst>
      <p:par>
        <p:cTn id="1" dur="indefinite" restart="never" nodeType="tmRoot"/>
      </p:par>
    </p:tnLst>
  </p:timing>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252</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5"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6.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振幅调制</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与</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解调</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 name="Rectangle 3">
            <a:extLst>
              <a:ext uri="{FF2B5EF4-FFF2-40B4-BE49-F238E27FC236}">
                <a16:creationId xmlns="" xmlns:a16="http://schemas.microsoft.com/office/drawing/2014/main" id="{00F72699-A1D7-9F01-FC79-014227362E81}"/>
              </a:ext>
            </a:extLst>
          </p:cNvPr>
          <p:cNvSpPr txBox="1">
            <a:spLocks noChangeArrowheads="1"/>
          </p:cNvSpPr>
          <p:nvPr/>
        </p:nvSpPr>
        <p:spPr>
          <a:xfrm>
            <a:off x="178693" y="2071963"/>
            <a:ext cx="8748712" cy="990600"/>
          </a:xfrm>
          <a:prstGeom prst="rect">
            <a:avLst/>
          </a:prstGeom>
        </p:spPr>
        <p:txBody>
          <a:bodyPr/>
          <a:lstStyle>
            <a:lvl1pPr marL="342900" indent="-342900" algn="l" rtl="0" eaLnBrk="0" fontAlgn="base" hangingPunct="0">
              <a:spcBef>
                <a:spcPct val="20000"/>
              </a:spcBef>
              <a:spcAft>
                <a:spcPct val="0"/>
              </a:spcAft>
              <a:buChar char="•"/>
              <a:defRPr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algn="just" eaLnBrk="1" hangingPunct="1">
              <a:buClr>
                <a:srgbClr val="FF33CC"/>
              </a:buClr>
              <a:buFont typeface="Wingdings" panose="05000000000000000000" pitchFamily="2" charset="2"/>
              <a:buChar char="Ø"/>
            </a:pPr>
            <a:r>
              <a:rPr lang="zh-CN" altLang="en-US" sz="1900" kern="0" dirty="0">
                <a:latin typeface="Times New Roman" panose="02020603050405020304" pitchFamily="18" charset="0"/>
                <a:cs typeface="Times New Roman" panose="02020603050405020304" pitchFamily="18" charset="0"/>
              </a:rPr>
              <a:t>混频器是一种频率变换器件，理想混频器是把两输入信号在时域中相乘：</a:t>
            </a:r>
          </a:p>
        </p:txBody>
      </p:sp>
      <p:graphicFrame>
        <p:nvGraphicFramePr>
          <p:cNvPr id="7" name="Object 6">
            <a:extLst>
              <a:ext uri="{FF2B5EF4-FFF2-40B4-BE49-F238E27FC236}">
                <a16:creationId xmlns="" xmlns:a16="http://schemas.microsoft.com/office/drawing/2014/main" id="{C940746F-FEAA-6512-6C38-5ADE09C8BA34}"/>
              </a:ext>
            </a:extLst>
          </p:cNvPr>
          <p:cNvGraphicFramePr>
            <a:graphicFrameLocks noChangeAspect="1"/>
          </p:cNvGraphicFramePr>
          <p:nvPr>
            <p:extLst>
              <p:ext uri="{D42A27DB-BD31-4B8C-83A1-F6EECF244321}">
                <p14:modId xmlns:p14="http://schemas.microsoft.com/office/powerpoint/2010/main" val="2031115972"/>
              </p:ext>
            </p:extLst>
          </p:nvPr>
        </p:nvGraphicFramePr>
        <p:xfrm>
          <a:off x="1672567" y="2383161"/>
          <a:ext cx="5066782" cy="679265"/>
        </p:xfrm>
        <a:graphic>
          <a:graphicData uri="http://schemas.openxmlformats.org/presentationml/2006/ole">
            <mc:AlternateContent xmlns:mc="http://schemas.openxmlformats.org/markup-compatibility/2006">
              <mc:Choice xmlns:v="urn:schemas-microsoft-com:vml" Requires="v">
                <p:oleObj spid="_x0000_s200731" r:id="rId3" imgW="3009900" imgH="406400" progId="Equation.3">
                  <p:embed/>
                </p:oleObj>
              </mc:Choice>
              <mc:Fallback>
                <p:oleObj r:id="rId3" imgW="3009900" imgH="406400" progId="Equation.3">
                  <p:embed/>
                  <p:pic>
                    <p:nvPicPr>
                      <p:cNvPr id="0" name=""/>
                      <p:cNvPicPr>
                        <a:picLocks noChangeAspect="1" noChangeArrowheads="1"/>
                      </p:cNvPicPr>
                      <p:nvPr/>
                    </p:nvPicPr>
                    <p:blipFill>
                      <a:blip r:embed="rId4">
                        <a:lum bright="88000" contrast="100000"/>
                        <a:extLst>
                          <a:ext uri="{28A0092B-C50C-407E-A947-70E740481C1C}">
                            <a14:useLocalDpi xmlns:a14="http://schemas.microsoft.com/office/drawing/2010/main" val="0"/>
                          </a:ext>
                        </a:extLst>
                      </a:blip>
                      <a:srcRect/>
                      <a:stretch>
                        <a:fillRect/>
                      </a:stretch>
                    </p:blipFill>
                    <p:spPr bwMode="auto">
                      <a:xfrm>
                        <a:off x="1672567" y="2383161"/>
                        <a:ext cx="5066782" cy="679265"/>
                      </a:xfrm>
                      <a:prstGeom prst="rect">
                        <a:avLst/>
                      </a:prstGeom>
                      <a:noFill/>
                      <a:ln>
                        <a:noFill/>
                      </a:ln>
                    </p:spPr>
                  </p:pic>
                </p:oleObj>
              </mc:Fallback>
            </mc:AlternateContent>
          </a:graphicData>
        </a:graphic>
      </p:graphicFrame>
      <p:grpSp>
        <p:nvGrpSpPr>
          <p:cNvPr id="8" name="Group 17">
            <a:extLst>
              <a:ext uri="{FF2B5EF4-FFF2-40B4-BE49-F238E27FC236}">
                <a16:creationId xmlns="" xmlns:a16="http://schemas.microsoft.com/office/drawing/2014/main" id="{D78E43A8-C189-CAC4-CDF9-AC4CAD680C9E}"/>
              </a:ext>
            </a:extLst>
          </p:cNvPr>
          <p:cNvGrpSpPr>
            <a:grpSpLocks/>
          </p:cNvGrpSpPr>
          <p:nvPr/>
        </p:nvGrpSpPr>
        <p:grpSpPr bwMode="auto">
          <a:xfrm>
            <a:off x="3382873" y="2903661"/>
            <a:ext cx="1862138" cy="679450"/>
            <a:chOff x="2810" y="1968"/>
            <a:chExt cx="1173" cy="428"/>
          </a:xfrm>
        </p:grpSpPr>
        <p:sp>
          <p:nvSpPr>
            <p:cNvPr id="9" name="Line 8">
              <a:extLst>
                <a:ext uri="{FF2B5EF4-FFF2-40B4-BE49-F238E27FC236}">
                  <a16:creationId xmlns="" xmlns:a16="http://schemas.microsoft.com/office/drawing/2014/main" id="{BCB6340C-B08F-B2D0-9321-9A6FF12E9568}"/>
                </a:ext>
              </a:extLst>
            </p:cNvPr>
            <p:cNvSpPr>
              <a:spLocks noChangeShapeType="1"/>
            </p:cNvSpPr>
            <p:nvPr/>
          </p:nvSpPr>
          <p:spPr bwMode="auto">
            <a:xfrm flipV="1">
              <a:off x="3299" y="1968"/>
              <a:ext cx="684"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sz="1900">
                <a:latin typeface="Times New Roman" panose="02020603050405020304" pitchFamily="18" charset="0"/>
                <a:cs typeface="Times New Roman" panose="02020603050405020304" pitchFamily="18" charset="0"/>
              </a:endParaRPr>
            </a:p>
          </p:txBody>
        </p:sp>
        <p:sp>
          <p:nvSpPr>
            <p:cNvPr id="10" name="Rectangle 11">
              <a:extLst>
                <a:ext uri="{FF2B5EF4-FFF2-40B4-BE49-F238E27FC236}">
                  <a16:creationId xmlns="" xmlns:a16="http://schemas.microsoft.com/office/drawing/2014/main" id="{2D500C64-CE6D-DFD3-92B4-8C102FC03C17}"/>
                </a:ext>
              </a:extLst>
            </p:cNvPr>
            <p:cNvSpPr>
              <a:spLocks noChangeArrowheads="1"/>
            </p:cNvSpPr>
            <p:nvPr/>
          </p:nvSpPr>
          <p:spPr bwMode="auto">
            <a:xfrm>
              <a:off x="2810" y="2154"/>
              <a:ext cx="1037"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r>
                <a:rPr lang="zh-CN" altLang="en-US" sz="1900" b="0">
                  <a:latin typeface="Times New Roman" panose="02020603050405020304" pitchFamily="18" charset="0"/>
                  <a:ea typeface="+mn-ea"/>
                  <a:cs typeface="Times New Roman" panose="02020603050405020304" pitchFamily="18" charset="0"/>
                </a:rPr>
                <a:t>和频，上变频</a:t>
              </a:r>
            </a:p>
          </p:txBody>
        </p:sp>
        <p:sp>
          <p:nvSpPr>
            <p:cNvPr id="11" name="Line 13">
              <a:extLst>
                <a:ext uri="{FF2B5EF4-FFF2-40B4-BE49-F238E27FC236}">
                  <a16:creationId xmlns="" xmlns:a16="http://schemas.microsoft.com/office/drawing/2014/main" id="{C9C4D1AB-1331-A6CE-7688-F0F5A44700E3}"/>
                </a:ext>
              </a:extLst>
            </p:cNvPr>
            <p:cNvSpPr>
              <a:spLocks noChangeShapeType="1"/>
            </p:cNvSpPr>
            <p:nvPr/>
          </p:nvSpPr>
          <p:spPr bwMode="auto">
            <a:xfrm flipH="1">
              <a:off x="3203" y="2003"/>
              <a:ext cx="192" cy="192"/>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900">
                <a:latin typeface="Times New Roman" panose="02020603050405020304" pitchFamily="18" charset="0"/>
                <a:cs typeface="Times New Roman" panose="02020603050405020304" pitchFamily="18" charset="0"/>
              </a:endParaRPr>
            </a:p>
          </p:txBody>
        </p:sp>
      </p:grpSp>
      <p:grpSp>
        <p:nvGrpSpPr>
          <p:cNvPr id="12" name="Group 18">
            <a:extLst>
              <a:ext uri="{FF2B5EF4-FFF2-40B4-BE49-F238E27FC236}">
                <a16:creationId xmlns="" xmlns:a16="http://schemas.microsoft.com/office/drawing/2014/main" id="{9B0693E3-FFEB-76F2-E7A8-5CD775F95E45}"/>
              </a:ext>
            </a:extLst>
          </p:cNvPr>
          <p:cNvGrpSpPr>
            <a:grpSpLocks/>
          </p:cNvGrpSpPr>
          <p:nvPr/>
        </p:nvGrpSpPr>
        <p:grpSpPr bwMode="auto">
          <a:xfrm>
            <a:off x="5478726" y="2903661"/>
            <a:ext cx="1646238" cy="679450"/>
            <a:chOff x="4233" y="1964"/>
            <a:chExt cx="1037" cy="428"/>
          </a:xfrm>
        </p:grpSpPr>
        <p:sp>
          <p:nvSpPr>
            <p:cNvPr id="13" name="Line 9">
              <a:extLst>
                <a:ext uri="{FF2B5EF4-FFF2-40B4-BE49-F238E27FC236}">
                  <a16:creationId xmlns="" xmlns:a16="http://schemas.microsoft.com/office/drawing/2014/main" id="{221DDECC-F4DD-A036-4819-71826C525F5D}"/>
                </a:ext>
              </a:extLst>
            </p:cNvPr>
            <p:cNvSpPr>
              <a:spLocks noChangeShapeType="1"/>
            </p:cNvSpPr>
            <p:nvPr/>
          </p:nvSpPr>
          <p:spPr bwMode="auto">
            <a:xfrm flipV="1">
              <a:off x="4246" y="1964"/>
              <a:ext cx="675"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sz="1900">
                <a:latin typeface="Times New Roman" panose="02020603050405020304" pitchFamily="18" charset="0"/>
                <a:cs typeface="Times New Roman" panose="02020603050405020304" pitchFamily="18" charset="0"/>
              </a:endParaRPr>
            </a:p>
          </p:txBody>
        </p:sp>
        <p:sp>
          <p:nvSpPr>
            <p:cNvPr id="14" name="Rectangle 12">
              <a:extLst>
                <a:ext uri="{FF2B5EF4-FFF2-40B4-BE49-F238E27FC236}">
                  <a16:creationId xmlns="" xmlns:a16="http://schemas.microsoft.com/office/drawing/2014/main" id="{B7F77DE6-E74A-F2F8-5F07-72BFD7C98BEB}"/>
                </a:ext>
              </a:extLst>
            </p:cNvPr>
            <p:cNvSpPr>
              <a:spLocks noChangeArrowheads="1"/>
            </p:cNvSpPr>
            <p:nvPr/>
          </p:nvSpPr>
          <p:spPr bwMode="auto">
            <a:xfrm>
              <a:off x="4233" y="2150"/>
              <a:ext cx="1037"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r>
                <a:rPr lang="zh-CN" altLang="en-US" sz="1900" b="0" dirty="0">
                  <a:latin typeface="Times New Roman" panose="02020603050405020304" pitchFamily="18" charset="0"/>
                  <a:ea typeface="+mn-ea"/>
                  <a:cs typeface="Times New Roman" panose="02020603050405020304" pitchFamily="18" charset="0"/>
                </a:rPr>
                <a:t>差频，下变频</a:t>
              </a:r>
            </a:p>
          </p:txBody>
        </p:sp>
        <p:sp>
          <p:nvSpPr>
            <p:cNvPr id="15" name="Line 14">
              <a:extLst>
                <a:ext uri="{FF2B5EF4-FFF2-40B4-BE49-F238E27FC236}">
                  <a16:creationId xmlns="" xmlns:a16="http://schemas.microsoft.com/office/drawing/2014/main" id="{75FF56E6-D137-357B-A480-955F71C1B7E9}"/>
                </a:ext>
              </a:extLst>
            </p:cNvPr>
            <p:cNvSpPr>
              <a:spLocks noChangeShapeType="1"/>
            </p:cNvSpPr>
            <p:nvPr/>
          </p:nvSpPr>
          <p:spPr bwMode="auto">
            <a:xfrm>
              <a:off x="4584" y="1989"/>
              <a:ext cx="144" cy="192"/>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900">
                <a:latin typeface="Times New Roman" panose="02020603050405020304" pitchFamily="18" charset="0"/>
                <a:cs typeface="Times New Roman" panose="02020603050405020304" pitchFamily="18" charset="0"/>
              </a:endParaRPr>
            </a:p>
          </p:txBody>
        </p:sp>
      </p:grpSp>
      <p:sp>
        <p:nvSpPr>
          <p:cNvPr id="16" name="Rectangle 16">
            <a:extLst>
              <a:ext uri="{FF2B5EF4-FFF2-40B4-BE49-F238E27FC236}">
                <a16:creationId xmlns="" xmlns:a16="http://schemas.microsoft.com/office/drawing/2014/main" id="{331053F9-681D-833D-9FD6-F6F10E8CAE56}"/>
              </a:ext>
            </a:extLst>
          </p:cNvPr>
          <p:cNvSpPr>
            <a:spLocks noChangeArrowheads="1"/>
          </p:cNvSpPr>
          <p:nvPr/>
        </p:nvSpPr>
        <p:spPr bwMode="auto">
          <a:xfrm>
            <a:off x="244949" y="3586623"/>
            <a:ext cx="8616200" cy="794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lnSpc>
                <a:spcPct val="120000"/>
              </a:lnSpc>
              <a:buFont typeface="Arial" panose="020B0604020202020204" pitchFamily="34" charset="0"/>
              <a:buChar char="•"/>
            </a:pPr>
            <a:r>
              <a:rPr lang="zh-CN" altLang="en-US" sz="1900" b="0" dirty="0">
                <a:latin typeface="Times New Roman" panose="02020603050405020304" pitchFamily="18" charset="0"/>
                <a:ea typeface="+mn-ea"/>
                <a:cs typeface="Times New Roman" panose="02020603050405020304" pitchFamily="18" charset="0"/>
              </a:rPr>
              <a:t> 取出和频为上变频（</a:t>
            </a:r>
            <a:r>
              <a:rPr lang="en-US" altLang="zh-CN" sz="1900" b="0" dirty="0">
                <a:latin typeface="Times New Roman" panose="02020603050405020304" pitchFamily="18" charset="0"/>
                <a:ea typeface="+mn-ea"/>
                <a:cs typeface="Times New Roman" panose="02020603050405020304" pitchFamily="18" charset="0"/>
              </a:rPr>
              <a:t>Up-conversion</a:t>
            </a:r>
            <a:r>
              <a:rPr lang="zh-CN" altLang="en-US" sz="1900" b="0" dirty="0">
                <a:latin typeface="Times New Roman" panose="02020603050405020304" pitchFamily="18" charset="0"/>
                <a:ea typeface="+mn-ea"/>
                <a:cs typeface="Times New Roman" panose="02020603050405020304" pitchFamily="18" charset="0"/>
              </a:rPr>
              <a:t>）</a:t>
            </a:r>
            <a:r>
              <a:rPr lang="zh-CN" altLang="en-US" sz="1900" b="0" dirty="0" smtClean="0">
                <a:latin typeface="Times New Roman" panose="02020603050405020304" pitchFamily="18" charset="0"/>
                <a:ea typeface="+mn-ea"/>
                <a:cs typeface="Times New Roman" panose="02020603050405020304" pitchFamily="18" charset="0"/>
              </a:rPr>
              <a:t>；取</a:t>
            </a:r>
            <a:r>
              <a:rPr lang="zh-CN" altLang="en-US" sz="1900" b="0" dirty="0">
                <a:latin typeface="Times New Roman" panose="02020603050405020304" pitchFamily="18" charset="0"/>
                <a:ea typeface="+mn-ea"/>
                <a:cs typeface="Times New Roman" panose="02020603050405020304" pitchFamily="18" charset="0"/>
              </a:rPr>
              <a:t>出差频为下变频（</a:t>
            </a:r>
            <a:r>
              <a:rPr lang="en-US" altLang="zh-CN" sz="1900" b="0" dirty="0">
                <a:latin typeface="Times New Roman" panose="02020603050405020304" pitchFamily="18" charset="0"/>
                <a:ea typeface="+mn-ea"/>
                <a:cs typeface="Times New Roman" panose="02020603050405020304" pitchFamily="18" charset="0"/>
              </a:rPr>
              <a:t>Down-conversion</a:t>
            </a:r>
            <a:r>
              <a:rPr lang="zh-CN" altLang="en-US" sz="1900" b="0" dirty="0" smtClean="0">
                <a:latin typeface="Times New Roman" panose="02020603050405020304" pitchFamily="18" charset="0"/>
                <a:ea typeface="+mn-ea"/>
                <a:cs typeface="Times New Roman" panose="02020603050405020304" pitchFamily="18" charset="0"/>
              </a:rPr>
              <a:t>）；必须</a:t>
            </a:r>
            <a:r>
              <a:rPr lang="zh-CN" altLang="en-US" sz="1900" b="0" dirty="0">
                <a:latin typeface="Times New Roman" panose="02020603050405020304" pitchFamily="18" charset="0"/>
                <a:ea typeface="+mn-ea"/>
                <a:cs typeface="Times New Roman" panose="02020603050405020304" pitchFamily="18" charset="0"/>
              </a:rPr>
              <a:t>通过滤波器滤除不需要的频率成分。 </a:t>
            </a:r>
          </a:p>
        </p:txBody>
      </p:sp>
      <p:sp>
        <p:nvSpPr>
          <p:cNvPr id="17" name="Rectangle 15">
            <a:extLst>
              <a:ext uri="{FF2B5EF4-FFF2-40B4-BE49-F238E27FC236}">
                <a16:creationId xmlns="" xmlns:a16="http://schemas.microsoft.com/office/drawing/2014/main" id="{92A47DC8-8BFB-64F5-7C84-2DAC7C6329C8}"/>
              </a:ext>
            </a:extLst>
          </p:cNvPr>
          <p:cNvSpPr>
            <a:spLocks noChangeArrowheads="1"/>
          </p:cNvSpPr>
          <p:nvPr/>
        </p:nvSpPr>
        <p:spPr bwMode="auto">
          <a:xfrm>
            <a:off x="-89569" y="1742071"/>
            <a:ext cx="2520562" cy="384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indent="261938">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r>
              <a:rPr lang="en-US" altLang="zh-CN" sz="1900" b="0" dirty="0">
                <a:latin typeface="Times New Roman" panose="02020603050405020304" pitchFamily="18" charset="0"/>
                <a:ea typeface="+mn-ea"/>
                <a:cs typeface="Times New Roman" panose="02020603050405020304" pitchFamily="18" charset="0"/>
              </a:rPr>
              <a:t>1</a:t>
            </a:r>
            <a:r>
              <a:rPr lang="zh-CN" altLang="en-US" sz="1900" b="0" dirty="0">
                <a:latin typeface="Times New Roman" panose="02020603050405020304" pitchFamily="18" charset="0"/>
                <a:ea typeface="+mn-ea"/>
                <a:cs typeface="Times New Roman" panose="02020603050405020304" pitchFamily="18" charset="0"/>
              </a:rPr>
              <a:t>、混频器基本原理</a:t>
            </a:r>
          </a:p>
        </p:txBody>
      </p:sp>
      <p:sp>
        <p:nvSpPr>
          <p:cNvPr id="18" name="Rectangle 21">
            <a:extLst>
              <a:ext uri="{FF2B5EF4-FFF2-40B4-BE49-F238E27FC236}">
                <a16:creationId xmlns="" xmlns:a16="http://schemas.microsoft.com/office/drawing/2014/main" id="{3E4CCEB7-636B-E999-192F-C76FA962DB5A}"/>
              </a:ext>
            </a:extLst>
          </p:cNvPr>
          <p:cNvSpPr txBox="1">
            <a:spLocks noChangeArrowheads="1"/>
          </p:cNvSpPr>
          <p:nvPr/>
        </p:nvSpPr>
        <p:spPr>
          <a:xfrm>
            <a:off x="107504" y="1319202"/>
            <a:ext cx="2031325" cy="384721"/>
          </a:xfrm>
          <a:prstGeom prst="rect">
            <a:avLst/>
          </a:prstGeom>
        </p:spPr>
        <p:txBody>
          <a:bodyPr wrap="none">
            <a:spAutoFit/>
          </a:bodyPr>
          <a:lstStyle>
            <a:lvl1pPr algn="ctr" rtl="0" eaLnBrk="0" fontAlgn="base" hangingPunct="0">
              <a:spcBef>
                <a:spcPct val="0"/>
              </a:spcBef>
              <a:spcAft>
                <a:spcPct val="0"/>
              </a:spcAft>
              <a:defRPr sz="3200">
                <a:solidFill>
                  <a:schemeClr val="tx2"/>
                </a:solidFill>
                <a:latin typeface="+mj-lt"/>
                <a:ea typeface="+mj-ea"/>
                <a:cs typeface="+mj-cs"/>
              </a:defRPr>
            </a:lvl1pPr>
            <a:lvl2pPr algn="ctr" rtl="0" eaLnBrk="0" fontAlgn="base" hangingPunct="0">
              <a:spcBef>
                <a:spcPct val="0"/>
              </a:spcBef>
              <a:spcAft>
                <a:spcPct val="0"/>
              </a:spcAft>
              <a:defRPr sz="3200">
                <a:solidFill>
                  <a:schemeClr val="tx2"/>
                </a:solidFill>
                <a:latin typeface="Arial" pitchFamily="34" charset="0"/>
                <a:ea typeface="宋体" pitchFamily="2" charset="-122"/>
              </a:defRPr>
            </a:lvl2pPr>
            <a:lvl3pPr algn="ctr" rtl="0" eaLnBrk="0" fontAlgn="base" hangingPunct="0">
              <a:spcBef>
                <a:spcPct val="0"/>
              </a:spcBef>
              <a:spcAft>
                <a:spcPct val="0"/>
              </a:spcAft>
              <a:defRPr sz="3200">
                <a:solidFill>
                  <a:schemeClr val="tx2"/>
                </a:solidFill>
                <a:latin typeface="Arial" pitchFamily="34" charset="0"/>
                <a:ea typeface="宋体" pitchFamily="2" charset="-122"/>
              </a:defRPr>
            </a:lvl3pPr>
            <a:lvl4pPr algn="ctr" rtl="0" eaLnBrk="0" fontAlgn="base" hangingPunct="0">
              <a:spcBef>
                <a:spcPct val="0"/>
              </a:spcBef>
              <a:spcAft>
                <a:spcPct val="0"/>
              </a:spcAft>
              <a:defRPr sz="3200">
                <a:solidFill>
                  <a:schemeClr val="tx2"/>
                </a:solidFill>
                <a:latin typeface="Arial" pitchFamily="34" charset="0"/>
                <a:ea typeface="宋体" pitchFamily="2" charset="-122"/>
              </a:defRPr>
            </a:lvl4pPr>
            <a:lvl5pPr algn="ctr" rtl="0" eaLnBrk="0" fontAlgn="base" hangingPunct="0">
              <a:spcBef>
                <a:spcPct val="0"/>
              </a:spcBef>
              <a:spcAft>
                <a:spcPct val="0"/>
              </a:spcAft>
              <a:defRPr sz="3200">
                <a:solidFill>
                  <a:schemeClr val="tx2"/>
                </a:solidFill>
                <a:latin typeface="Arial" pitchFamily="34" charset="0"/>
                <a:ea typeface="宋体" pitchFamily="2" charset="-122"/>
              </a:defRPr>
            </a:lvl5pPr>
            <a:lvl6pPr marL="457200" algn="ctr" rtl="0" eaLnBrk="0" fontAlgn="base" hangingPunct="0">
              <a:spcBef>
                <a:spcPct val="0"/>
              </a:spcBef>
              <a:spcAft>
                <a:spcPct val="0"/>
              </a:spcAft>
              <a:defRPr sz="3200">
                <a:solidFill>
                  <a:schemeClr val="tx2"/>
                </a:solidFill>
                <a:latin typeface="Arial" pitchFamily="34" charset="0"/>
                <a:ea typeface="宋体" pitchFamily="2" charset="-122"/>
              </a:defRPr>
            </a:lvl6pPr>
            <a:lvl7pPr marL="914400" algn="ctr" rtl="0" eaLnBrk="0" fontAlgn="base" hangingPunct="0">
              <a:spcBef>
                <a:spcPct val="0"/>
              </a:spcBef>
              <a:spcAft>
                <a:spcPct val="0"/>
              </a:spcAft>
              <a:defRPr sz="3200">
                <a:solidFill>
                  <a:schemeClr val="tx2"/>
                </a:solidFill>
                <a:latin typeface="Arial" pitchFamily="34" charset="0"/>
                <a:ea typeface="宋体" pitchFamily="2" charset="-122"/>
              </a:defRPr>
            </a:lvl7pPr>
            <a:lvl8pPr marL="1371600" algn="ctr" rtl="0" eaLnBrk="0" fontAlgn="base" hangingPunct="0">
              <a:spcBef>
                <a:spcPct val="0"/>
              </a:spcBef>
              <a:spcAft>
                <a:spcPct val="0"/>
              </a:spcAft>
              <a:defRPr sz="3200">
                <a:solidFill>
                  <a:schemeClr val="tx2"/>
                </a:solidFill>
                <a:latin typeface="Arial" pitchFamily="34" charset="0"/>
                <a:ea typeface="宋体" pitchFamily="2" charset="-122"/>
              </a:defRPr>
            </a:lvl8pPr>
            <a:lvl9pPr marL="1828800" algn="ctr" rtl="0" eaLnBrk="0" fontAlgn="base" hangingPunct="0">
              <a:spcBef>
                <a:spcPct val="0"/>
              </a:spcBef>
              <a:spcAft>
                <a:spcPct val="0"/>
              </a:spcAft>
              <a:defRPr sz="3200">
                <a:solidFill>
                  <a:schemeClr val="tx2"/>
                </a:solidFill>
                <a:latin typeface="Arial" pitchFamily="34" charset="0"/>
                <a:ea typeface="宋体" pitchFamily="2" charset="-122"/>
              </a:defRPr>
            </a:lvl9pPr>
          </a:lstStyle>
          <a:p>
            <a:pPr algn="l">
              <a:spcBef>
                <a:spcPct val="50000"/>
              </a:spcBef>
              <a:buClr>
                <a:schemeClr val="hlink"/>
              </a:buClr>
              <a:buSzPct val="120000"/>
              <a:buFont typeface="Arial" panose="020B0604020202020204" pitchFamily="34" charset="0"/>
              <a:buNone/>
              <a:defRPr/>
            </a:pPr>
            <a:r>
              <a:rPr lang="zh-CN" altLang="en-US" sz="1900" kern="1200" dirty="0">
                <a:solidFill>
                  <a:schemeClr val="tx1"/>
                </a:solidFill>
                <a:latin typeface="Times New Roman" panose="02020603050405020304" pitchFamily="18" charset="0"/>
                <a:cs typeface="Times New Roman" panose="02020603050405020304" pitchFamily="18" charset="0"/>
              </a:rPr>
              <a:t>二、混频原理	</a:t>
            </a:r>
          </a:p>
        </p:txBody>
      </p:sp>
      <p:sp>
        <p:nvSpPr>
          <p:cNvPr id="19" name="Rectangle 3">
            <a:extLst>
              <a:ext uri="{FF2B5EF4-FFF2-40B4-BE49-F238E27FC236}">
                <a16:creationId xmlns="" xmlns:a16="http://schemas.microsoft.com/office/drawing/2014/main" id="{B27D97A6-5160-B863-7763-688956C1E044}"/>
              </a:ext>
            </a:extLst>
          </p:cNvPr>
          <p:cNvSpPr txBox="1">
            <a:spLocks noChangeArrowheads="1"/>
          </p:cNvSpPr>
          <p:nvPr/>
        </p:nvSpPr>
        <p:spPr>
          <a:xfrm>
            <a:off x="193146" y="4299804"/>
            <a:ext cx="8734259" cy="2514600"/>
          </a:xfrm>
          <a:prstGeom prst="rect">
            <a:avLst/>
          </a:prstGeom>
        </p:spPr>
        <p:txBody>
          <a:bodyPr/>
          <a:lstStyle>
            <a:lvl1pPr marL="342900" indent="-342900" algn="l" rtl="0" eaLnBrk="0" fontAlgn="base" hangingPunct="0">
              <a:spcBef>
                <a:spcPct val="20000"/>
              </a:spcBef>
              <a:spcAft>
                <a:spcPct val="0"/>
              </a:spcAft>
              <a:buChar char="•"/>
              <a:defRPr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algn="just" eaLnBrk="1" hangingPunct="1">
              <a:buClr>
                <a:srgbClr val="FF33CC"/>
              </a:buClr>
              <a:buFont typeface="Wingdings" panose="05000000000000000000" pitchFamily="2" charset="2"/>
              <a:buChar char="Ø"/>
            </a:pPr>
            <a:r>
              <a:rPr lang="zh-CN" altLang="en-US" sz="1800" kern="0" dirty="0">
                <a:latin typeface="Times New Roman" panose="02020603050405020304" pitchFamily="18" charset="0"/>
                <a:cs typeface="Times New Roman" panose="02020603050405020304" pitchFamily="18" charset="0"/>
              </a:rPr>
              <a:t>混频器为三端口器件。</a:t>
            </a:r>
          </a:p>
          <a:p>
            <a:pPr algn="just" eaLnBrk="1" hangingPunct="1">
              <a:buClr>
                <a:srgbClr val="FF33CC"/>
              </a:buClr>
              <a:buFont typeface="Wingdings" panose="05000000000000000000" pitchFamily="2" charset="2"/>
              <a:buNone/>
            </a:pPr>
            <a:r>
              <a:rPr lang="zh-CN" altLang="en-US" sz="1800" kern="0" dirty="0">
                <a:latin typeface="Times New Roman" panose="02020603050405020304" pitchFamily="18" charset="0"/>
                <a:cs typeface="Times New Roman" panose="02020603050405020304" pitchFamily="18" charset="0"/>
              </a:rPr>
              <a:t>   混频器有两个输入端：分别为射频（</a:t>
            </a:r>
            <a:r>
              <a:rPr lang="en-US" altLang="zh-CN" sz="1800" kern="0" dirty="0">
                <a:latin typeface="Times New Roman" panose="02020603050405020304" pitchFamily="18" charset="0"/>
                <a:cs typeface="Times New Roman" panose="02020603050405020304" pitchFamily="18" charset="0"/>
              </a:rPr>
              <a:t>RF</a:t>
            </a:r>
            <a:r>
              <a:rPr lang="zh-CN" altLang="en-US" sz="1800" kern="0" dirty="0">
                <a:latin typeface="Times New Roman" panose="02020603050405020304" pitchFamily="18" charset="0"/>
                <a:cs typeface="Times New Roman" panose="02020603050405020304" pitchFamily="18" charset="0"/>
              </a:rPr>
              <a:t>）与本振（</a:t>
            </a:r>
            <a:r>
              <a:rPr lang="en-US" altLang="zh-CN" sz="1800" kern="0" dirty="0">
                <a:latin typeface="Times New Roman" panose="02020603050405020304" pitchFamily="18" charset="0"/>
                <a:cs typeface="Times New Roman" panose="02020603050405020304" pitchFamily="18" charset="0"/>
              </a:rPr>
              <a:t>LO, Local Oscillator</a:t>
            </a:r>
            <a:r>
              <a:rPr lang="zh-CN" altLang="en-US" sz="1800" kern="0" dirty="0">
                <a:latin typeface="Times New Roman" panose="02020603050405020304" pitchFamily="18" charset="0"/>
                <a:cs typeface="Times New Roman" panose="02020603050405020304" pitchFamily="18" charset="0"/>
              </a:rPr>
              <a:t>）信号，一个输出端：中频（</a:t>
            </a:r>
            <a:r>
              <a:rPr lang="en-US" altLang="zh-CN" sz="1800" kern="0" dirty="0">
                <a:latin typeface="Times New Roman" panose="02020603050405020304" pitchFamily="18" charset="0"/>
                <a:cs typeface="Times New Roman" panose="02020603050405020304" pitchFamily="18" charset="0"/>
              </a:rPr>
              <a:t>IF, Intermediate Frequency</a:t>
            </a:r>
            <a:r>
              <a:rPr lang="zh-CN" altLang="en-US" sz="1800" kern="0" dirty="0">
                <a:latin typeface="Times New Roman" panose="02020603050405020304" pitchFamily="18" charset="0"/>
                <a:cs typeface="Times New Roman" panose="02020603050405020304" pitchFamily="18" charset="0"/>
              </a:rPr>
              <a:t>）。</a:t>
            </a:r>
          </a:p>
          <a:p>
            <a:pPr algn="just" eaLnBrk="1" hangingPunct="1">
              <a:buClr>
                <a:srgbClr val="FF33CC"/>
              </a:buClr>
              <a:buFont typeface="Wingdings" panose="05000000000000000000" pitchFamily="2" charset="2"/>
              <a:buChar char="Ø"/>
            </a:pPr>
            <a:r>
              <a:rPr lang="zh-CN" altLang="en-US" sz="1800" kern="0" dirty="0">
                <a:latin typeface="Times New Roman" panose="02020603050405020304" pitchFamily="18" charset="0"/>
                <a:cs typeface="Times New Roman" panose="02020603050405020304" pitchFamily="18" charset="0"/>
              </a:rPr>
              <a:t>中频频率</a:t>
            </a:r>
            <a:r>
              <a:rPr lang="en-US" altLang="zh-CN" sz="1800" i="1" kern="0" dirty="0" err="1">
                <a:latin typeface="Times New Roman" panose="02020603050405020304" pitchFamily="18" charset="0"/>
                <a:cs typeface="Times New Roman" panose="02020603050405020304" pitchFamily="18" charset="0"/>
              </a:rPr>
              <a:t>f</a:t>
            </a:r>
            <a:r>
              <a:rPr lang="en-US" altLang="zh-CN" sz="1800" i="1" kern="0" baseline="-25000" dirty="0" err="1">
                <a:latin typeface="Times New Roman" panose="02020603050405020304" pitchFamily="18" charset="0"/>
                <a:cs typeface="Times New Roman" panose="02020603050405020304" pitchFamily="18" charset="0"/>
              </a:rPr>
              <a:t>I</a:t>
            </a:r>
            <a:r>
              <a:rPr lang="zh-CN" altLang="en-US" sz="1800" kern="0" dirty="0">
                <a:latin typeface="Times New Roman" panose="02020603050405020304" pitchFamily="18" charset="0"/>
                <a:cs typeface="Times New Roman" panose="02020603050405020304" pitchFamily="18" charset="0"/>
              </a:rPr>
              <a:t>可以有两种关系式表达 </a:t>
            </a:r>
          </a:p>
        </p:txBody>
      </p:sp>
      <p:graphicFrame>
        <p:nvGraphicFramePr>
          <p:cNvPr id="4" name="对象 3"/>
          <p:cNvGraphicFramePr>
            <a:graphicFrameLocks noChangeAspect="1"/>
          </p:cNvGraphicFramePr>
          <p:nvPr>
            <p:extLst>
              <p:ext uri="{D42A27DB-BD31-4B8C-83A1-F6EECF244321}">
                <p14:modId xmlns:p14="http://schemas.microsoft.com/office/powerpoint/2010/main" val="4210871693"/>
              </p:ext>
            </p:extLst>
          </p:nvPr>
        </p:nvGraphicFramePr>
        <p:xfrm>
          <a:off x="4125045" y="5216979"/>
          <a:ext cx="1309240" cy="347917"/>
        </p:xfrm>
        <a:graphic>
          <a:graphicData uri="http://schemas.openxmlformats.org/presentationml/2006/ole">
            <mc:AlternateContent xmlns:mc="http://schemas.openxmlformats.org/markup-compatibility/2006">
              <mc:Choice xmlns:v="urn:schemas-microsoft-com:vml" Requires="v">
                <p:oleObj spid="_x0000_s200732" name="Equation" r:id="rId5" imgW="1941625" imgH="516619" progId="Equation.DSMT4">
                  <p:embed/>
                </p:oleObj>
              </mc:Choice>
              <mc:Fallback>
                <p:oleObj name="Equation" r:id="rId5" imgW="1941625" imgH="516619" progId="Equation.DSMT4">
                  <p:embed/>
                  <p:pic>
                    <p:nvPicPr>
                      <p:cNvPr id="0" name=""/>
                      <p:cNvPicPr/>
                      <p:nvPr/>
                    </p:nvPicPr>
                    <p:blipFill>
                      <a:blip r:embed="rId6"/>
                      <a:stretch>
                        <a:fillRect/>
                      </a:stretch>
                    </p:blipFill>
                    <p:spPr>
                      <a:xfrm>
                        <a:off x="4125045" y="5216979"/>
                        <a:ext cx="1309240" cy="347917"/>
                      </a:xfrm>
                      <a:prstGeom prst="rect">
                        <a:avLst/>
                      </a:prstGeom>
                    </p:spPr>
                  </p:pic>
                </p:oleObj>
              </mc:Fallback>
            </mc:AlternateContent>
          </a:graphicData>
        </a:graphic>
      </p:graphicFrame>
      <p:sp>
        <p:nvSpPr>
          <p:cNvPr id="20" name="Rectangle 8">
            <a:extLst>
              <a:ext uri="{FF2B5EF4-FFF2-40B4-BE49-F238E27FC236}">
                <a16:creationId xmlns="" xmlns:a16="http://schemas.microsoft.com/office/drawing/2014/main" id="{835A0295-DA07-2B87-B70B-7F8EF437DF1E}"/>
              </a:ext>
            </a:extLst>
          </p:cNvPr>
          <p:cNvSpPr>
            <a:spLocks noChangeArrowheads="1"/>
          </p:cNvSpPr>
          <p:nvPr/>
        </p:nvSpPr>
        <p:spPr bwMode="auto">
          <a:xfrm>
            <a:off x="5115932" y="5130566"/>
            <a:ext cx="1676400" cy="487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algn="ctr" eaLnBrk="1" hangingPunct="1"/>
            <a:r>
              <a:rPr lang="zh-CN" altLang="en-US" sz="2000" b="0" dirty="0">
                <a:solidFill>
                  <a:srgbClr val="FF0000"/>
                </a:solidFill>
                <a:latin typeface="+mn-ea"/>
                <a:ea typeface="+mn-ea"/>
              </a:rPr>
              <a:t>上混频</a:t>
            </a:r>
          </a:p>
        </p:txBody>
      </p:sp>
      <p:graphicFrame>
        <p:nvGraphicFramePr>
          <p:cNvPr id="21" name="对象 20"/>
          <p:cNvGraphicFramePr>
            <a:graphicFrameLocks noChangeAspect="1"/>
          </p:cNvGraphicFramePr>
          <p:nvPr>
            <p:extLst>
              <p:ext uri="{D42A27DB-BD31-4B8C-83A1-F6EECF244321}">
                <p14:modId xmlns:p14="http://schemas.microsoft.com/office/powerpoint/2010/main" val="1778949222"/>
              </p:ext>
            </p:extLst>
          </p:nvPr>
        </p:nvGraphicFramePr>
        <p:xfrm>
          <a:off x="2133867" y="5557104"/>
          <a:ext cx="3384875" cy="1102515"/>
        </p:xfrm>
        <a:graphic>
          <a:graphicData uri="http://schemas.openxmlformats.org/presentationml/2006/ole">
            <mc:AlternateContent xmlns:mc="http://schemas.openxmlformats.org/markup-compatibility/2006">
              <mc:Choice xmlns:v="urn:schemas-microsoft-com:vml" Requires="v">
                <p:oleObj spid="_x0000_s200733" name="Equation" r:id="rId7" imgW="4585662" imgH="1493694" progId="Equation.DSMT4">
                  <p:embed/>
                </p:oleObj>
              </mc:Choice>
              <mc:Fallback>
                <p:oleObj name="Equation" r:id="rId7" imgW="4585662" imgH="1493694" progId="Equation.DSMT4">
                  <p:embed/>
                  <p:pic>
                    <p:nvPicPr>
                      <p:cNvPr id="0" name=""/>
                      <p:cNvPicPr/>
                      <p:nvPr/>
                    </p:nvPicPr>
                    <p:blipFill>
                      <a:blip r:embed="rId8"/>
                      <a:stretch>
                        <a:fillRect/>
                      </a:stretch>
                    </p:blipFill>
                    <p:spPr>
                      <a:xfrm>
                        <a:off x="2133867" y="5557104"/>
                        <a:ext cx="3384875" cy="1102515"/>
                      </a:xfrm>
                      <a:prstGeom prst="rect">
                        <a:avLst/>
                      </a:prstGeom>
                    </p:spPr>
                  </p:pic>
                </p:oleObj>
              </mc:Fallback>
            </mc:AlternateContent>
          </a:graphicData>
        </a:graphic>
      </p:graphicFrame>
      <p:sp>
        <p:nvSpPr>
          <p:cNvPr id="22" name="Rectangle 9">
            <a:extLst>
              <a:ext uri="{FF2B5EF4-FFF2-40B4-BE49-F238E27FC236}">
                <a16:creationId xmlns="" xmlns:a16="http://schemas.microsoft.com/office/drawing/2014/main" id="{620E4B37-B0AE-C2B8-E152-C82548AEE1EC}"/>
              </a:ext>
            </a:extLst>
          </p:cNvPr>
          <p:cNvSpPr>
            <a:spLocks noChangeArrowheads="1"/>
          </p:cNvSpPr>
          <p:nvPr/>
        </p:nvSpPr>
        <p:spPr bwMode="auto">
          <a:xfrm>
            <a:off x="5245011" y="5872471"/>
            <a:ext cx="1447800"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algn="ctr" eaLnBrk="1" hangingPunct="1"/>
            <a:r>
              <a:rPr lang="zh-CN" altLang="en-US" sz="2000" b="0" dirty="0">
                <a:solidFill>
                  <a:srgbClr val="FF0000"/>
                </a:solidFill>
                <a:latin typeface="+mn-ea"/>
                <a:ea typeface="+mn-ea"/>
              </a:rPr>
              <a:t>下混频</a:t>
            </a:r>
          </a:p>
        </p:txBody>
      </p:sp>
    </p:spTree>
    <p:extLst>
      <p:ext uri="{BB962C8B-B14F-4D97-AF65-F5344CB8AC3E}">
        <p14:creationId xmlns:p14="http://schemas.microsoft.com/office/powerpoint/2010/main" val="1967018942"/>
      </p:ext>
    </p:extLst>
  </p:cSld>
  <p:clrMapOvr>
    <a:masterClrMapping/>
  </p:clrMapOvr>
  <p:timing>
    <p:tnLst>
      <p:par>
        <p:cTn id="1" dur="indefinite" restart="never" nodeType="tmRoot"/>
      </p:par>
    </p:tnLst>
  </p:timing>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253</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5"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6.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振幅调制</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与</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解调</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 name="Rectangle 15">
            <a:extLst>
              <a:ext uri="{FF2B5EF4-FFF2-40B4-BE49-F238E27FC236}">
                <a16:creationId xmlns="" xmlns:a16="http://schemas.microsoft.com/office/drawing/2014/main" id="{5A75E986-09E2-6175-0F07-8544C5FA4B5C}"/>
              </a:ext>
            </a:extLst>
          </p:cNvPr>
          <p:cNvSpPr>
            <a:spLocks noChangeArrowheads="1"/>
          </p:cNvSpPr>
          <p:nvPr/>
        </p:nvSpPr>
        <p:spPr bwMode="auto">
          <a:xfrm>
            <a:off x="115205" y="1283047"/>
            <a:ext cx="341664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indent="261938">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r>
              <a:rPr lang="en-US" altLang="zh-CN" sz="2000" dirty="0">
                <a:latin typeface="+mn-ea"/>
                <a:ea typeface="+mn-ea"/>
              </a:rPr>
              <a:t>2</a:t>
            </a:r>
            <a:r>
              <a:rPr lang="zh-CN" altLang="en-US" sz="2000" dirty="0">
                <a:latin typeface="+mn-ea"/>
                <a:ea typeface="+mn-ea"/>
              </a:rPr>
              <a:t>、非线性电路的混频功能</a:t>
            </a:r>
            <a:endParaRPr lang="zh-CN" altLang="en-US" sz="2000" dirty="0">
              <a:latin typeface="+mn-ea"/>
              <a:ea typeface="+mn-ea"/>
              <a:cs typeface="Times New Roman" panose="02020603050405020304" pitchFamily="18" charset="0"/>
            </a:endParaRPr>
          </a:p>
        </p:txBody>
      </p:sp>
      <p:graphicFrame>
        <p:nvGraphicFramePr>
          <p:cNvPr id="7" name="Object 13">
            <a:extLst>
              <a:ext uri="{FF2B5EF4-FFF2-40B4-BE49-F238E27FC236}">
                <a16:creationId xmlns="" xmlns:a16="http://schemas.microsoft.com/office/drawing/2014/main" id="{15EC15FA-4E39-F113-0134-6636644BE55E}"/>
              </a:ext>
            </a:extLst>
          </p:cNvPr>
          <p:cNvGraphicFramePr>
            <a:graphicFrameLocks noChangeAspect="1"/>
          </p:cNvGraphicFramePr>
          <p:nvPr>
            <p:extLst>
              <p:ext uri="{D42A27DB-BD31-4B8C-83A1-F6EECF244321}">
                <p14:modId xmlns:p14="http://schemas.microsoft.com/office/powerpoint/2010/main" val="2942282124"/>
              </p:ext>
            </p:extLst>
          </p:nvPr>
        </p:nvGraphicFramePr>
        <p:xfrm>
          <a:off x="5363629" y="1683157"/>
          <a:ext cx="3168650" cy="1871663"/>
        </p:xfrm>
        <a:graphic>
          <a:graphicData uri="http://schemas.openxmlformats.org/presentationml/2006/ole">
            <mc:AlternateContent xmlns:mc="http://schemas.openxmlformats.org/markup-compatibility/2006">
              <mc:Choice xmlns:v="urn:schemas-microsoft-com:vml" Requires="v">
                <p:oleObj spid="_x0000_s202769" r:id="rId3" imgW="2558160" imgH="1133280" progId="">
                  <p:embed/>
                </p:oleObj>
              </mc:Choice>
              <mc:Fallback>
                <p:oleObj r:id="rId3" imgW="2558160" imgH="1133280" progId="">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l="5215" t="11806"/>
                      <a:stretch>
                        <a:fillRect/>
                      </a:stretch>
                    </p:blipFill>
                    <p:spPr bwMode="auto">
                      <a:xfrm>
                        <a:off x="5363629" y="1683157"/>
                        <a:ext cx="3168650" cy="187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 name="矩形 16">
            <a:extLst>
              <a:ext uri="{FF2B5EF4-FFF2-40B4-BE49-F238E27FC236}">
                <a16:creationId xmlns="" xmlns:a16="http://schemas.microsoft.com/office/drawing/2014/main" id="{5EBB977C-DA37-6051-8571-2C24C2CA9E85}"/>
              </a:ext>
            </a:extLst>
          </p:cNvPr>
          <p:cNvSpPr>
            <a:spLocks noChangeArrowheads="1"/>
          </p:cNvSpPr>
          <p:nvPr/>
        </p:nvSpPr>
        <p:spPr bwMode="auto">
          <a:xfrm>
            <a:off x="356457" y="1771615"/>
            <a:ext cx="146706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r>
              <a:rPr lang="zh-CN" altLang="en-US" sz="2000" dirty="0">
                <a:latin typeface="+mn-ea"/>
                <a:ea typeface="+mn-ea"/>
              </a:rPr>
              <a:t>输出信号：</a:t>
            </a:r>
          </a:p>
        </p:txBody>
      </p:sp>
      <p:graphicFrame>
        <p:nvGraphicFramePr>
          <p:cNvPr id="9" name="Object 16">
            <a:extLst>
              <a:ext uri="{FF2B5EF4-FFF2-40B4-BE49-F238E27FC236}">
                <a16:creationId xmlns="" xmlns:a16="http://schemas.microsoft.com/office/drawing/2014/main" id="{6D440791-6EDE-4852-952C-911EF484062A}"/>
              </a:ext>
            </a:extLst>
          </p:cNvPr>
          <p:cNvGraphicFramePr>
            <a:graphicFrameLocks noChangeAspect="1"/>
          </p:cNvGraphicFramePr>
          <p:nvPr>
            <p:extLst>
              <p:ext uri="{D42A27DB-BD31-4B8C-83A1-F6EECF244321}">
                <p14:modId xmlns:p14="http://schemas.microsoft.com/office/powerpoint/2010/main" val="2225956302"/>
              </p:ext>
            </p:extLst>
          </p:nvPr>
        </p:nvGraphicFramePr>
        <p:xfrm>
          <a:off x="388830" y="2195080"/>
          <a:ext cx="4369685" cy="1451127"/>
        </p:xfrm>
        <a:graphic>
          <a:graphicData uri="http://schemas.openxmlformats.org/presentationml/2006/ole">
            <mc:AlternateContent xmlns:mc="http://schemas.openxmlformats.org/markup-compatibility/2006">
              <mc:Choice xmlns:v="urn:schemas-microsoft-com:vml" Requires="v">
                <p:oleObj spid="_x0000_s202770" r:id="rId5" imgW="2108200" imgH="685800" progId="Equation.3">
                  <p:embed/>
                </p:oleObj>
              </mc:Choice>
              <mc:Fallback>
                <p:oleObj r:id="rId5" imgW="2108200" imgH="6858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8830" y="2195080"/>
                        <a:ext cx="4369685" cy="1451127"/>
                      </a:xfrm>
                      <a:prstGeom prst="rect">
                        <a:avLst/>
                      </a:prstGeom>
                      <a:noFill/>
                      <a:ln>
                        <a:noFill/>
                      </a:ln>
                    </p:spPr>
                  </p:pic>
                </p:oleObj>
              </mc:Fallback>
            </mc:AlternateContent>
          </a:graphicData>
        </a:graphic>
      </p:graphicFrame>
      <p:sp>
        <p:nvSpPr>
          <p:cNvPr id="10" name="矩形 19">
            <a:extLst>
              <a:ext uri="{FF2B5EF4-FFF2-40B4-BE49-F238E27FC236}">
                <a16:creationId xmlns="" xmlns:a16="http://schemas.microsoft.com/office/drawing/2014/main" id="{BF1EA351-193E-54D6-CE1C-E02D935383E2}"/>
              </a:ext>
            </a:extLst>
          </p:cNvPr>
          <p:cNvSpPr>
            <a:spLocks noChangeArrowheads="1"/>
          </p:cNvSpPr>
          <p:nvPr/>
        </p:nvSpPr>
        <p:spPr bwMode="auto">
          <a:xfrm>
            <a:off x="330489" y="3781091"/>
            <a:ext cx="8640763"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r>
              <a:rPr lang="zh-CN" altLang="en-US" sz="2000" dirty="0">
                <a:latin typeface="+mn-ea"/>
                <a:ea typeface="+mn-ea"/>
              </a:rPr>
              <a:t>若只取平方项，对于两个正弦输入信号</a:t>
            </a:r>
            <a:r>
              <a:rPr lang="zh-CN" altLang="en-US" sz="2000" dirty="0" smtClean="0">
                <a:latin typeface="+mn-ea"/>
                <a:ea typeface="+mn-ea"/>
              </a:rPr>
              <a:t>：</a:t>
            </a:r>
            <a:endParaRPr lang="en-US" altLang="zh-CN" sz="2000" dirty="0">
              <a:latin typeface="+mn-ea"/>
              <a:ea typeface="+mn-ea"/>
            </a:endParaRPr>
          </a:p>
          <a:p>
            <a:pPr eaLnBrk="1" hangingPunct="1"/>
            <a:r>
              <a:rPr lang="en-US" altLang="zh-CN" sz="2400" i="1" dirty="0">
                <a:latin typeface="Times New Roman" panose="02020603050405020304" pitchFamily="18" charset="0"/>
                <a:ea typeface="+mn-ea"/>
                <a:cs typeface="Times New Roman" panose="02020603050405020304" pitchFamily="18" charset="0"/>
              </a:rPr>
              <a:t>u</a:t>
            </a:r>
            <a:r>
              <a:rPr lang="en-US" altLang="zh-CN" sz="2400" dirty="0">
                <a:latin typeface="Times New Roman" panose="02020603050405020304" pitchFamily="18" charset="0"/>
                <a:ea typeface="+mn-ea"/>
                <a:cs typeface="Times New Roman" panose="02020603050405020304" pitchFamily="18" charset="0"/>
              </a:rPr>
              <a:t> = </a:t>
            </a:r>
            <a:r>
              <a:rPr lang="en-US" altLang="zh-CN" sz="2400" i="1" dirty="0">
                <a:latin typeface="Times New Roman" panose="02020603050405020304" pitchFamily="18" charset="0"/>
                <a:ea typeface="+mn-ea"/>
                <a:cs typeface="Times New Roman" panose="02020603050405020304" pitchFamily="18" charset="0"/>
              </a:rPr>
              <a:t>u</a:t>
            </a:r>
            <a:r>
              <a:rPr lang="en-US" altLang="zh-CN" sz="2400" baseline="-25000" dirty="0">
                <a:latin typeface="Times New Roman" panose="02020603050405020304" pitchFamily="18" charset="0"/>
                <a:ea typeface="+mn-ea"/>
                <a:cs typeface="Times New Roman" panose="02020603050405020304" pitchFamily="18" charset="0"/>
              </a:rPr>
              <a:t>1 </a:t>
            </a:r>
            <a:r>
              <a:rPr lang="en-US" altLang="zh-CN" sz="2400" dirty="0">
                <a:latin typeface="Times New Roman" panose="02020603050405020304" pitchFamily="18" charset="0"/>
                <a:ea typeface="+mn-ea"/>
                <a:cs typeface="Times New Roman" panose="02020603050405020304" pitchFamily="18" charset="0"/>
              </a:rPr>
              <a:t>+ </a:t>
            </a:r>
            <a:r>
              <a:rPr lang="en-US" altLang="zh-CN" sz="2400" i="1" dirty="0">
                <a:latin typeface="Times New Roman" panose="02020603050405020304" pitchFamily="18" charset="0"/>
                <a:ea typeface="+mn-ea"/>
                <a:cs typeface="Times New Roman" panose="02020603050405020304" pitchFamily="18" charset="0"/>
              </a:rPr>
              <a:t>u</a:t>
            </a:r>
            <a:r>
              <a:rPr lang="en-US" altLang="zh-CN" sz="2400" baseline="-25000" dirty="0">
                <a:latin typeface="Times New Roman" panose="02020603050405020304" pitchFamily="18" charset="0"/>
                <a:ea typeface="+mn-ea"/>
                <a:cs typeface="Times New Roman" panose="02020603050405020304" pitchFamily="18" charset="0"/>
              </a:rPr>
              <a:t>2</a:t>
            </a:r>
            <a:r>
              <a:rPr lang="en-US" altLang="zh-CN" sz="2400" dirty="0">
                <a:latin typeface="Times New Roman" panose="02020603050405020304" pitchFamily="18" charset="0"/>
                <a:ea typeface="+mn-ea"/>
                <a:cs typeface="Times New Roman" panose="02020603050405020304" pitchFamily="18" charset="0"/>
              </a:rPr>
              <a:t> =</a:t>
            </a:r>
            <a:r>
              <a:rPr lang="en-US" altLang="zh-CN" sz="2400" i="1" dirty="0">
                <a:latin typeface="Times New Roman" panose="02020603050405020304" pitchFamily="18" charset="0"/>
                <a:ea typeface="+mn-ea"/>
                <a:cs typeface="Times New Roman" panose="02020603050405020304" pitchFamily="18" charset="0"/>
              </a:rPr>
              <a:t>U</a:t>
            </a:r>
            <a:r>
              <a:rPr lang="en-US" altLang="zh-CN" sz="2400" baseline="-25000" dirty="0">
                <a:latin typeface="Times New Roman" panose="02020603050405020304" pitchFamily="18" charset="0"/>
                <a:ea typeface="+mn-ea"/>
                <a:cs typeface="Times New Roman" panose="02020603050405020304" pitchFamily="18" charset="0"/>
              </a:rPr>
              <a:t>1m</a:t>
            </a:r>
            <a:r>
              <a:rPr lang="en-US" altLang="zh-CN" sz="2400" dirty="0">
                <a:latin typeface="Times New Roman" panose="02020603050405020304" pitchFamily="18" charset="0"/>
                <a:ea typeface="+mn-ea"/>
                <a:cs typeface="Times New Roman" panose="02020603050405020304" pitchFamily="18" charset="0"/>
              </a:rPr>
              <a:t>sin</a:t>
            </a:r>
            <a:r>
              <a:rPr lang="en-US" altLang="zh-CN" sz="2400" i="1" dirty="0">
                <a:latin typeface="Times New Roman" panose="02020603050405020304" pitchFamily="18" charset="0"/>
                <a:ea typeface="+mn-ea"/>
                <a:cs typeface="Times New Roman" panose="02020603050405020304" pitchFamily="18" charset="0"/>
              </a:rPr>
              <a:t>ω</a:t>
            </a:r>
            <a:r>
              <a:rPr lang="en-US" altLang="zh-CN" sz="2400" i="1" baseline="-25000" dirty="0">
                <a:latin typeface="Times New Roman" panose="02020603050405020304" pitchFamily="18" charset="0"/>
                <a:ea typeface="+mn-ea"/>
                <a:cs typeface="Times New Roman" panose="02020603050405020304" pitchFamily="18" charset="0"/>
              </a:rPr>
              <a:t>1</a:t>
            </a:r>
            <a:r>
              <a:rPr lang="en-US" altLang="zh-CN" sz="2400" i="1" dirty="0">
                <a:latin typeface="Times New Roman" panose="02020603050405020304" pitchFamily="18" charset="0"/>
                <a:ea typeface="+mn-ea"/>
                <a:cs typeface="Times New Roman" panose="02020603050405020304" pitchFamily="18" charset="0"/>
              </a:rPr>
              <a:t>t </a:t>
            </a:r>
            <a:r>
              <a:rPr lang="en-US" altLang="zh-CN" sz="2400" dirty="0">
                <a:latin typeface="Times New Roman" panose="02020603050405020304" pitchFamily="18" charset="0"/>
                <a:ea typeface="+mn-ea"/>
                <a:cs typeface="Times New Roman" panose="02020603050405020304" pitchFamily="18" charset="0"/>
              </a:rPr>
              <a:t>+</a:t>
            </a:r>
            <a:r>
              <a:rPr lang="en-US" altLang="zh-CN" sz="2400" i="1" dirty="0">
                <a:latin typeface="Times New Roman" panose="02020603050405020304" pitchFamily="18" charset="0"/>
                <a:ea typeface="+mn-ea"/>
                <a:cs typeface="Times New Roman" panose="02020603050405020304" pitchFamily="18" charset="0"/>
              </a:rPr>
              <a:t>U</a:t>
            </a:r>
            <a:r>
              <a:rPr lang="en-US" altLang="zh-CN" sz="2400" baseline="-25000" dirty="0">
                <a:latin typeface="Times New Roman" panose="02020603050405020304" pitchFamily="18" charset="0"/>
                <a:ea typeface="+mn-ea"/>
                <a:cs typeface="Times New Roman" panose="02020603050405020304" pitchFamily="18" charset="0"/>
              </a:rPr>
              <a:t>2m</a:t>
            </a:r>
            <a:r>
              <a:rPr lang="en-US" altLang="zh-CN" sz="2400" dirty="0">
                <a:latin typeface="Times New Roman" panose="02020603050405020304" pitchFamily="18" charset="0"/>
                <a:ea typeface="+mn-ea"/>
                <a:cs typeface="Times New Roman" panose="02020603050405020304" pitchFamily="18" charset="0"/>
              </a:rPr>
              <a:t>sin</a:t>
            </a:r>
            <a:r>
              <a:rPr lang="en-US" altLang="zh-CN" sz="2400" i="1" dirty="0">
                <a:latin typeface="Times New Roman" panose="02020603050405020304" pitchFamily="18" charset="0"/>
                <a:ea typeface="+mn-ea"/>
                <a:cs typeface="Times New Roman" panose="02020603050405020304" pitchFamily="18" charset="0"/>
              </a:rPr>
              <a:t>ω</a:t>
            </a:r>
            <a:r>
              <a:rPr lang="en-US" altLang="zh-CN" sz="2400" i="1" baseline="-25000" dirty="0">
                <a:latin typeface="Times New Roman" panose="02020603050405020304" pitchFamily="18" charset="0"/>
                <a:ea typeface="+mn-ea"/>
                <a:cs typeface="Times New Roman" panose="02020603050405020304" pitchFamily="18" charset="0"/>
              </a:rPr>
              <a:t>2</a:t>
            </a:r>
            <a:r>
              <a:rPr lang="en-US" altLang="zh-CN" sz="2400" i="1" dirty="0">
                <a:latin typeface="Times New Roman" panose="02020603050405020304" pitchFamily="18" charset="0"/>
                <a:ea typeface="+mn-ea"/>
                <a:cs typeface="Times New Roman" panose="02020603050405020304" pitchFamily="18" charset="0"/>
              </a:rPr>
              <a:t>t  </a:t>
            </a:r>
            <a:r>
              <a:rPr lang="zh-CN" altLang="en-US" sz="2000" dirty="0">
                <a:latin typeface="+mn-ea"/>
                <a:ea typeface="+mn-ea"/>
              </a:rPr>
              <a:t>时，可得非线性电路的电流为</a:t>
            </a:r>
            <a:r>
              <a:rPr lang="en-US" altLang="zh-CN" sz="2000" dirty="0">
                <a:latin typeface="+mn-ea"/>
                <a:ea typeface="+mn-ea"/>
              </a:rPr>
              <a:t>:</a:t>
            </a:r>
          </a:p>
        </p:txBody>
      </p:sp>
      <p:graphicFrame>
        <p:nvGraphicFramePr>
          <p:cNvPr id="11" name="Object 18">
            <a:extLst>
              <a:ext uri="{FF2B5EF4-FFF2-40B4-BE49-F238E27FC236}">
                <a16:creationId xmlns="" xmlns:a16="http://schemas.microsoft.com/office/drawing/2014/main" id="{D065F18E-838E-C900-AAA1-68B3AB746CEC}"/>
              </a:ext>
            </a:extLst>
          </p:cNvPr>
          <p:cNvGraphicFramePr>
            <a:graphicFrameLocks noChangeAspect="1"/>
          </p:cNvGraphicFramePr>
          <p:nvPr>
            <p:extLst>
              <p:ext uri="{D42A27DB-BD31-4B8C-83A1-F6EECF244321}">
                <p14:modId xmlns:p14="http://schemas.microsoft.com/office/powerpoint/2010/main" val="3502955599"/>
              </p:ext>
            </p:extLst>
          </p:nvPr>
        </p:nvGraphicFramePr>
        <p:xfrm>
          <a:off x="792094" y="4550532"/>
          <a:ext cx="7248525" cy="1584325"/>
        </p:xfrm>
        <a:graphic>
          <a:graphicData uri="http://schemas.openxmlformats.org/presentationml/2006/ole">
            <mc:AlternateContent xmlns:mc="http://schemas.openxmlformats.org/markup-compatibility/2006">
              <mc:Choice xmlns:v="urn:schemas-microsoft-com:vml" Requires="v">
                <p:oleObj spid="_x0000_s202771" r:id="rId7" imgW="3683000" imgH="812800" progId="Equation.3">
                  <p:embed/>
                </p:oleObj>
              </mc:Choice>
              <mc:Fallback>
                <p:oleObj r:id="rId7" imgW="3683000" imgH="8128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92094" y="4550532"/>
                        <a:ext cx="7248525" cy="158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2" name="Oval 14">
            <a:extLst>
              <a:ext uri="{FF2B5EF4-FFF2-40B4-BE49-F238E27FC236}">
                <a16:creationId xmlns="" xmlns:a16="http://schemas.microsoft.com/office/drawing/2014/main" id="{12927B95-50D5-54C6-0DDF-DE1098C4F5DC}"/>
              </a:ext>
            </a:extLst>
          </p:cNvPr>
          <p:cNvSpPr>
            <a:spLocks noChangeArrowheads="1"/>
          </p:cNvSpPr>
          <p:nvPr/>
        </p:nvSpPr>
        <p:spPr bwMode="auto">
          <a:xfrm>
            <a:off x="6576597" y="4706903"/>
            <a:ext cx="935038" cy="576263"/>
          </a:xfrm>
          <a:prstGeom prst="ellipse">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endParaRPr lang="zh-CN" altLang="en-US" sz="2000" b="0">
              <a:latin typeface="+mn-ea"/>
              <a:ea typeface="+mn-ea"/>
            </a:endParaRPr>
          </a:p>
        </p:txBody>
      </p:sp>
      <p:sp>
        <p:nvSpPr>
          <p:cNvPr id="13" name="Oval 15">
            <a:extLst>
              <a:ext uri="{FF2B5EF4-FFF2-40B4-BE49-F238E27FC236}">
                <a16:creationId xmlns="" xmlns:a16="http://schemas.microsoft.com/office/drawing/2014/main" id="{839CAA12-1704-1FCD-5AB6-6060D1B4DE32}"/>
              </a:ext>
            </a:extLst>
          </p:cNvPr>
          <p:cNvSpPr>
            <a:spLocks noChangeArrowheads="1"/>
          </p:cNvSpPr>
          <p:nvPr/>
        </p:nvSpPr>
        <p:spPr bwMode="auto">
          <a:xfrm>
            <a:off x="2688165" y="5485102"/>
            <a:ext cx="935037" cy="576262"/>
          </a:xfrm>
          <a:prstGeom prst="ellipse">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endParaRPr lang="zh-CN" altLang="en-US" sz="2000" b="0">
              <a:latin typeface="+mn-ea"/>
              <a:ea typeface="+mn-ea"/>
            </a:endParaRPr>
          </a:p>
        </p:txBody>
      </p:sp>
    </p:spTree>
    <p:extLst>
      <p:ext uri="{BB962C8B-B14F-4D97-AF65-F5344CB8AC3E}">
        <p14:creationId xmlns:p14="http://schemas.microsoft.com/office/powerpoint/2010/main" val="1295731877"/>
      </p:ext>
    </p:extLst>
  </p:cSld>
  <p:clrMapOvr>
    <a:masterClrMapping/>
  </p:clrMapOvr>
  <p:timing>
    <p:tnLst>
      <p:par>
        <p:cTn id="1" dur="indefinite" restart="never" nodeType="tmRoot"/>
      </p:par>
    </p:tnLst>
  </p:timing>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254</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5"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6.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振幅调制</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与</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解调</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graphicFrame>
        <p:nvGraphicFramePr>
          <p:cNvPr id="6" name="Object 7">
            <a:extLst>
              <a:ext uri="{FF2B5EF4-FFF2-40B4-BE49-F238E27FC236}">
                <a16:creationId xmlns="" xmlns:a16="http://schemas.microsoft.com/office/drawing/2014/main" id="{EE4E7D0C-AF3A-955C-4FE7-EACC16CE8DD3}"/>
              </a:ext>
            </a:extLst>
          </p:cNvPr>
          <p:cNvGraphicFramePr>
            <a:graphicFrameLocks noChangeAspect="1"/>
          </p:cNvGraphicFramePr>
          <p:nvPr>
            <p:extLst>
              <p:ext uri="{D42A27DB-BD31-4B8C-83A1-F6EECF244321}">
                <p14:modId xmlns:p14="http://schemas.microsoft.com/office/powerpoint/2010/main" val="2860113105"/>
              </p:ext>
            </p:extLst>
          </p:nvPr>
        </p:nvGraphicFramePr>
        <p:xfrm>
          <a:off x="310463" y="1722786"/>
          <a:ext cx="6615631" cy="850829"/>
        </p:xfrm>
        <a:graphic>
          <a:graphicData uri="http://schemas.openxmlformats.org/presentationml/2006/ole">
            <mc:AlternateContent xmlns:mc="http://schemas.openxmlformats.org/markup-compatibility/2006">
              <mc:Choice xmlns:v="urn:schemas-microsoft-com:vml" Requires="v">
                <p:oleObj spid="_x0000_s203788" r:id="rId3" imgW="4102100" imgH="533400" progId="Equation.3">
                  <p:embed/>
                </p:oleObj>
              </mc:Choice>
              <mc:Fallback>
                <p:oleObj r:id="rId3" imgW="4102100" imgH="5334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0463" y="1722786"/>
                        <a:ext cx="6615631" cy="850829"/>
                      </a:xfrm>
                      <a:prstGeom prst="rect">
                        <a:avLst/>
                      </a:prstGeom>
                      <a:noFill/>
                      <a:ln>
                        <a:noFill/>
                      </a:ln>
                      <a:extLst/>
                    </p:spPr>
                  </p:pic>
                </p:oleObj>
              </mc:Fallback>
            </mc:AlternateContent>
          </a:graphicData>
        </a:graphic>
      </p:graphicFrame>
      <p:sp>
        <p:nvSpPr>
          <p:cNvPr id="7" name="Rectangle 15">
            <a:extLst>
              <a:ext uri="{FF2B5EF4-FFF2-40B4-BE49-F238E27FC236}">
                <a16:creationId xmlns="" xmlns:a16="http://schemas.microsoft.com/office/drawing/2014/main" id="{B78F6042-70A2-3E13-F456-2F528CCC6204}"/>
              </a:ext>
            </a:extLst>
          </p:cNvPr>
          <p:cNvSpPr>
            <a:spLocks noChangeArrowheads="1"/>
          </p:cNvSpPr>
          <p:nvPr/>
        </p:nvSpPr>
        <p:spPr bwMode="auto">
          <a:xfrm>
            <a:off x="0" y="1357630"/>
            <a:ext cx="419089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indent="261938">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r>
              <a:rPr lang="en-US" altLang="zh-CN" sz="2000" dirty="0">
                <a:solidFill>
                  <a:srgbClr val="FF0000"/>
                </a:solidFill>
                <a:latin typeface="Times New Roman" panose="02020603050405020304" pitchFamily="18" charset="0"/>
                <a:ea typeface="宋体" panose="02010600030101010101" pitchFamily="2" charset="-122"/>
              </a:rPr>
              <a:t>3</a:t>
            </a:r>
            <a:r>
              <a:rPr lang="zh-CN" altLang="en-US" sz="2000" dirty="0">
                <a:solidFill>
                  <a:srgbClr val="FF0000"/>
                </a:solidFill>
                <a:latin typeface="Times New Roman" panose="02020603050405020304" pitchFamily="18" charset="0"/>
                <a:ea typeface="宋体" panose="02010600030101010101" pitchFamily="2" charset="-122"/>
              </a:rPr>
              <a:t>、线性时变工作状态下的混频器</a:t>
            </a:r>
            <a:endParaRPr lang="zh-CN" altLang="en-US" sz="2000" b="0" dirty="0">
              <a:solidFill>
                <a:srgbClr val="FF0000"/>
              </a:solidFill>
              <a:latin typeface="Arial" panose="020B0604020202020204" pitchFamily="34" charset="0"/>
              <a:cs typeface="Times New Roman" panose="02020603050405020304" pitchFamily="18" charset="0"/>
            </a:endParaRPr>
          </a:p>
        </p:txBody>
      </p:sp>
      <p:graphicFrame>
        <p:nvGraphicFramePr>
          <p:cNvPr id="11" name="Object 13">
            <a:extLst>
              <a:ext uri="{FF2B5EF4-FFF2-40B4-BE49-F238E27FC236}">
                <a16:creationId xmlns="" xmlns:a16="http://schemas.microsoft.com/office/drawing/2014/main" id="{28587B99-479E-578D-25BD-FD7731301485}"/>
              </a:ext>
            </a:extLst>
          </p:cNvPr>
          <p:cNvGraphicFramePr>
            <a:graphicFrameLocks noChangeAspect="1"/>
          </p:cNvGraphicFramePr>
          <p:nvPr>
            <p:extLst>
              <p:ext uri="{D42A27DB-BD31-4B8C-83A1-F6EECF244321}">
                <p14:modId xmlns:p14="http://schemas.microsoft.com/office/powerpoint/2010/main" val="2843361786"/>
              </p:ext>
            </p:extLst>
          </p:nvPr>
        </p:nvGraphicFramePr>
        <p:xfrm>
          <a:off x="232642" y="2628502"/>
          <a:ext cx="7264141" cy="1660478"/>
        </p:xfrm>
        <a:graphic>
          <a:graphicData uri="http://schemas.openxmlformats.org/presentationml/2006/ole">
            <mc:AlternateContent xmlns:mc="http://schemas.openxmlformats.org/markup-compatibility/2006">
              <mc:Choice xmlns:v="urn:schemas-microsoft-com:vml" Requires="v">
                <p:oleObj spid="_x0000_s203789" name="Equation" r:id="rId5" imgW="4140000" imgH="939600" progId="Equation.DSMT4">
                  <p:embed/>
                </p:oleObj>
              </mc:Choice>
              <mc:Fallback>
                <p:oleObj name="Equation" r:id="rId5" imgW="4140000" imgH="939600" progId="Equation.DSMT4">
                  <p:embed/>
                  <p:pic>
                    <p:nvPicPr>
                      <p:cNvPr id="0" name=""/>
                      <p:cNvPicPr>
                        <a:picLocks noChangeAspect="1" noChangeArrowheads="1"/>
                      </p:cNvPicPr>
                      <p:nvPr/>
                    </p:nvPicPr>
                    <p:blipFill>
                      <a:blip r:embed="rId6"/>
                      <a:srcRect/>
                      <a:stretch>
                        <a:fillRect/>
                      </a:stretch>
                    </p:blipFill>
                    <p:spPr bwMode="auto">
                      <a:xfrm>
                        <a:off x="232642" y="2628502"/>
                        <a:ext cx="7264141" cy="1660478"/>
                      </a:xfrm>
                      <a:prstGeom prst="rect">
                        <a:avLst/>
                      </a:prstGeom>
                      <a:noFill/>
                      <a:ln>
                        <a:noFill/>
                      </a:ln>
                    </p:spPr>
                  </p:pic>
                </p:oleObj>
              </mc:Fallback>
            </mc:AlternateContent>
          </a:graphicData>
        </a:graphic>
      </p:graphicFrame>
      <p:sp>
        <p:nvSpPr>
          <p:cNvPr id="12" name="Oval 18">
            <a:extLst>
              <a:ext uri="{FF2B5EF4-FFF2-40B4-BE49-F238E27FC236}">
                <a16:creationId xmlns="" xmlns:a16="http://schemas.microsoft.com/office/drawing/2014/main" id="{FB242F4E-8B04-7FAF-66F2-420AEB51A288}"/>
              </a:ext>
            </a:extLst>
          </p:cNvPr>
          <p:cNvSpPr>
            <a:spLocks noChangeArrowheads="1"/>
          </p:cNvSpPr>
          <p:nvPr/>
        </p:nvSpPr>
        <p:spPr bwMode="auto">
          <a:xfrm>
            <a:off x="3265114" y="3839979"/>
            <a:ext cx="1287431" cy="503888"/>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endParaRPr lang="zh-CN" altLang="en-US" sz="2000" b="0">
              <a:solidFill>
                <a:srgbClr val="000000"/>
              </a:solidFill>
              <a:latin typeface="+mn-ea"/>
              <a:ea typeface="+mn-ea"/>
            </a:endParaRPr>
          </a:p>
        </p:txBody>
      </p:sp>
      <p:sp>
        <p:nvSpPr>
          <p:cNvPr id="14" name="Rectangle 3">
            <a:extLst>
              <a:ext uri="{FF2B5EF4-FFF2-40B4-BE49-F238E27FC236}">
                <a16:creationId xmlns="" xmlns:a16="http://schemas.microsoft.com/office/drawing/2014/main" id="{AC7D4728-B8C4-7F26-9D62-9D9B19AC8CE8}"/>
              </a:ext>
            </a:extLst>
          </p:cNvPr>
          <p:cNvSpPr txBox="1">
            <a:spLocks noChangeArrowheads="1"/>
          </p:cNvSpPr>
          <p:nvPr/>
        </p:nvSpPr>
        <p:spPr>
          <a:xfrm>
            <a:off x="310463" y="4470910"/>
            <a:ext cx="8207375" cy="1337761"/>
          </a:xfrm>
          <a:prstGeom prst="rect">
            <a:avLst/>
          </a:prstGeom>
        </p:spPr>
        <p:txBody>
          <a:bodyPr/>
          <a:lstStyle>
            <a:lvl1pPr marL="342900" indent="-342900" algn="l" rtl="0" eaLnBrk="0" fontAlgn="base" hangingPunct="0">
              <a:spcBef>
                <a:spcPct val="20000"/>
              </a:spcBef>
              <a:spcAft>
                <a:spcPct val="0"/>
              </a:spcAft>
              <a:buChar char="•"/>
              <a:defRPr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eaLnBrk="1" hangingPunct="1"/>
            <a:r>
              <a:rPr lang="zh-CN" altLang="en-US" sz="2000" b="1" kern="0" dirty="0">
                <a:latin typeface="Times New Roman" panose="02020603050405020304" pitchFamily="18" charset="0"/>
                <a:cs typeface="Times New Roman" panose="02020603050405020304" pitchFamily="18" charset="0"/>
              </a:rPr>
              <a:t>线性时变工作时产生的组合频率分量的频率通式为</a:t>
            </a:r>
            <a:r>
              <a:rPr lang="en-US" altLang="zh-CN" sz="2000" b="1" kern="0" dirty="0">
                <a:latin typeface="Times New Roman" panose="02020603050405020304" pitchFamily="18" charset="0"/>
                <a:cs typeface="Times New Roman" panose="02020603050405020304" pitchFamily="18" charset="0"/>
              </a:rPr>
              <a:t>|±</a:t>
            </a:r>
            <a:r>
              <a:rPr lang="en-US" altLang="zh-CN" sz="2000" b="1" i="1" kern="0" dirty="0">
                <a:latin typeface="Times New Roman" panose="02020603050405020304" pitchFamily="18" charset="0"/>
                <a:cs typeface="Times New Roman" panose="02020603050405020304" pitchFamily="18" charset="0"/>
              </a:rPr>
              <a:t>p</a:t>
            </a:r>
            <a:r>
              <a:rPr lang="en-US" altLang="zh-CN" sz="2000" b="1" kern="0" dirty="0">
                <a:latin typeface="Times New Roman" panose="02020603050405020304" pitchFamily="18" charset="0"/>
                <a:cs typeface="Times New Roman" panose="02020603050405020304" pitchFamily="18" charset="0"/>
              </a:rPr>
              <a:t>ω</a:t>
            </a:r>
            <a:r>
              <a:rPr lang="en-US" altLang="zh-CN" sz="2000" b="1" kern="0" baseline="-25000" dirty="0">
                <a:latin typeface="Times New Roman" panose="02020603050405020304" pitchFamily="18" charset="0"/>
                <a:cs typeface="Times New Roman" panose="02020603050405020304" pitchFamily="18" charset="0"/>
              </a:rPr>
              <a:t>1</a:t>
            </a:r>
            <a:r>
              <a:rPr lang="en-US" altLang="zh-CN" sz="2000" b="1" kern="0" dirty="0">
                <a:latin typeface="Times New Roman" panose="02020603050405020304" pitchFamily="18" charset="0"/>
                <a:cs typeface="Times New Roman" panose="02020603050405020304" pitchFamily="18" charset="0"/>
              </a:rPr>
              <a:t>±ω</a:t>
            </a:r>
            <a:r>
              <a:rPr lang="en-US" altLang="zh-CN" sz="2000" b="1" kern="0" baseline="-25000" dirty="0">
                <a:latin typeface="Times New Roman" panose="02020603050405020304" pitchFamily="18" charset="0"/>
                <a:cs typeface="Times New Roman" panose="02020603050405020304" pitchFamily="18" charset="0"/>
              </a:rPr>
              <a:t>2</a:t>
            </a:r>
            <a:r>
              <a:rPr lang="en-US" altLang="zh-CN" sz="2000" b="1" kern="0" dirty="0">
                <a:latin typeface="Times New Roman" panose="02020603050405020304" pitchFamily="18" charset="0"/>
                <a:cs typeface="Times New Roman" panose="02020603050405020304" pitchFamily="18" charset="0"/>
              </a:rPr>
              <a:t>| ;</a:t>
            </a:r>
          </a:p>
          <a:p>
            <a:pPr eaLnBrk="1" hangingPunct="1"/>
            <a:r>
              <a:rPr lang="zh-CN" altLang="en-US" sz="2000" b="1" kern="0" dirty="0">
                <a:latin typeface="Times New Roman" panose="02020603050405020304" pitchFamily="18" charset="0"/>
                <a:cs typeface="Times New Roman" panose="02020603050405020304" pitchFamily="18" charset="0"/>
              </a:rPr>
              <a:t>消除了</a:t>
            </a:r>
            <a:r>
              <a:rPr lang="en-US" altLang="zh-CN" sz="2000" b="1" i="1" kern="0" dirty="0">
                <a:latin typeface="Times New Roman" panose="02020603050405020304" pitchFamily="18" charset="0"/>
                <a:cs typeface="Times New Roman" panose="02020603050405020304" pitchFamily="18" charset="0"/>
              </a:rPr>
              <a:t>p</a:t>
            </a:r>
            <a:r>
              <a:rPr lang="zh-CN" altLang="en-US" sz="2000" b="1" kern="0" dirty="0">
                <a:latin typeface="Times New Roman" panose="02020603050405020304" pitchFamily="18" charset="0"/>
                <a:cs typeface="Times New Roman" panose="02020603050405020304" pitchFamily="18" charset="0"/>
              </a:rPr>
              <a:t>为任意值，</a:t>
            </a:r>
            <a:r>
              <a:rPr lang="en-US" altLang="zh-CN" sz="2000" b="1" i="1" kern="0" dirty="0">
                <a:latin typeface="Times New Roman" panose="02020603050405020304" pitchFamily="18" charset="0"/>
                <a:cs typeface="Times New Roman" panose="02020603050405020304" pitchFamily="18" charset="0"/>
              </a:rPr>
              <a:t>q </a:t>
            </a:r>
            <a:r>
              <a:rPr lang="en-US" altLang="zh-CN" sz="2000" b="1" kern="0" dirty="0">
                <a:latin typeface="Times New Roman" panose="02020603050405020304" pitchFamily="18" charset="0"/>
                <a:cs typeface="Times New Roman" panose="02020603050405020304" pitchFamily="18" charset="0"/>
              </a:rPr>
              <a:t>= 0</a:t>
            </a:r>
            <a:r>
              <a:rPr lang="zh-CN" altLang="en-US" sz="2000" b="1" kern="0" dirty="0">
                <a:latin typeface="Times New Roman" panose="02020603050405020304" pitchFamily="18" charset="0"/>
                <a:cs typeface="Times New Roman" panose="02020603050405020304" pitchFamily="18" charset="0"/>
              </a:rPr>
              <a:t>和</a:t>
            </a:r>
            <a:r>
              <a:rPr lang="en-US" altLang="zh-CN" sz="2000" b="1" i="1" kern="0" dirty="0">
                <a:latin typeface="Times New Roman" panose="02020603050405020304" pitchFamily="18" charset="0"/>
                <a:cs typeface="Times New Roman" panose="02020603050405020304" pitchFamily="18" charset="0"/>
              </a:rPr>
              <a:t>q </a:t>
            </a:r>
            <a:r>
              <a:rPr lang="en-US" altLang="zh-CN" sz="2000" b="1" kern="0" dirty="0">
                <a:latin typeface="Times New Roman" panose="02020603050405020304" pitchFamily="18" charset="0"/>
                <a:cs typeface="Times New Roman" panose="02020603050405020304" pitchFamily="18" charset="0"/>
              </a:rPr>
              <a:t>&gt; 1</a:t>
            </a:r>
            <a:r>
              <a:rPr lang="zh-CN" altLang="en-US" sz="2000" b="1" kern="0" dirty="0">
                <a:latin typeface="Times New Roman" panose="02020603050405020304" pitchFamily="18" charset="0"/>
                <a:cs typeface="Times New Roman" panose="02020603050405020304" pitchFamily="18" charset="0"/>
              </a:rPr>
              <a:t>的众多频率分量</a:t>
            </a:r>
            <a:r>
              <a:rPr lang="en-US" altLang="zh-CN" sz="2000" b="1" kern="0" dirty="0">
                <a:latin typeface="Times New Roman" panose="02020603050405020304" pitchFamily="18" charset="0"/>
                <a:cs typeface="Times New Roman" panose="02020603050405020304" pitchFamily="18" charset="0"/>
              </a:rPr>
              <a:t>; </a:t>
            </a:r>
          </a:p>
          <a:p>
            <a:pPr eaLnBrk="1" hangingPunct="1"/>
            <a:r>
              <a:rPr lang="zh-CN" altLang="en-US" sz="2000" b="1" kern="0" dirty="0">
                <a:latin typeface="Times New Roman" panose="02020603050405020304" pitchFamily="18" charset="0"/>
                <a:cs typeface="Times New Roman" panose="02020603050405020304" pitchFamily="18" charset="0"/>
              </a:rPr>
              <a:t>对于</a:t>
            </a:r>
            <a:r>
              <a:rPr lang="en-US" altLang="zh-CN" sz="2000" b="1" kern="0" dirty="0">
                <a:latin typeface="Times New Roman" panose="02020603050405020304" pitchFamily="18" charset="0"/>
                <a:cs typeface="Times New Roman" panose="02020603050405020304" pitchFamily="18" charset="0"/>
              </a:rPr>
              <a:t>|±</a:t>
            </a:r>
            <a:r>
              <a:rPr lang="en-US" altLang="zh-CN" sz="2000" b="1" i="1" kern="0" dirty="0">
                <a:latin typeface="Times New Roman" panose="02020603050405020304" pitchFamily="18" charset="0"/>
                <a:cs typeface="Times New Roman" panose="02020603050405020304" pitchFamily="18" charset="0"/>
              </a:rPr>
              <a:t>p</a:t>
            </a:r>
            <a:r>
              <a:rPr lang="en-US" altLang="zh-CN" sz="2000" b="1" kern="0" dirty="0">
                <a:latin typeface="Times New Roman" panose="02020603050405020304" pitchFamily="18" charset="0"/>
                <a:cs typeface="Times New Roman" panose="02020603050405020304" pitchFamily="18" charset="0"/>
              </a:rPr>
              <a:t>ω</a:t>
            </a:r>
            <a:r>
              <a:rPr lang="en-US" altLang="zh-CN" sz="2000" b="1" kern="0" baseline="-25000" dirty="0">
                <a:latin typeface="Times New Roman" panose="02020603050405020304" pitchFamily="18" charset="0"/>
                <a:cs typeface="Times New Roman" panose="02020603050405020304" pitchFamily="18" charset="0"/>
              </a:rPr>
              <a:t>1</a:t>
            </a:r>
            <a:r>
              <a:rPr lang="en-US" altLang="zh-CN" sz="2000" b="1" kern="0" dirty="0">
                <a:latin typeface="Times New Roman" panose="02020603050405020304" pitchFamily="18" charset="0"/>
                <a:cs typeface="Times New Roman" panose="02020603050405020304" pitchFamily="18" charset="0"/>
              </a:rPr>
              <a:t>±ω</a:t>
            </a:r>
            <a:r>
              <a:rPr lang="en-US" altLang="zh-CN" sz="2000" b="1" kern="0" baseline="-25000" dirty="0">
                <a:latin typeface="Times New Roman" panose="02020603050405020304" pitchFamily="18" charset="0"/>
                <a:cs typeface="Times New Roman" panose="02020603050405020304" pitchFamily="18" charset="0"/>
              </a:rPr>
              <a:t>2</a:t>
            </a:r>
            <a:r>
              <a:rPr lang="en-US" altLang="zh-CN" sz="2000" b="1" kern="0" dirty="0">
                <a:latin typeface="Times New Roman" panose="02020603050405020304" pitchFamily="18" charset="0"/>
                <a:cs typeface="Times New Roman" panose="02020603050405020304" pitchFamily="18" charset="0"/>
              </a:rPr>
              <a:t>|</a:t>
            </a:r>
            <a:r>
              <a:rPr lang="zh-CN" altLang="en-US" sz="2000" b="1" kern="0" dirty="0">
                <a:latin typeface="Times New Roman" panose="02020603050405020304" pitchFamily="18" charset="0"/>
                <a:cs typeface="Times New Roman" panose="02020603050405020304" pitchFamily="18" charset="0"/>
              </a:rPr>
              <a:t>的组合频率分量中，由于无用频率分量与所需的有用频率分量之间的频率间隔很大，可以降低对滤波器的要求</a:t>
            </a:r>
            <a:r>
              <a:rPr lang="en-US" altLang="zh-CN" sz="2000" b="1" kern="0" dirty="0">
                <a:latin typeface="Times New Roman" panose="02020603050405020304" pitchFamily="18" charset="0"/>
                <a:cs typeface="Times New Roman" panose="02020603050405020304" pitchFamily="18" charset="0"/>
              </a:rPr>
              <a:t>; </a:t>
            </a:r>
          </a:p>
          <a:p>
            <a:pPr eaLnBrk="1" hangingPunct="1"/>
            <a:r>
              <a:rPr lang="zh-CN" altLang="en-US" sz="2000" b="1" kern="0" dirty="0">
                <a:latin typeface="Times New Roman" panose="02020603050405020304" pitchFamily="18" charset="0"/>
                <a:cs typeface="Times New Roman" panose="02020603050405020304" pitchFamily="18" charset="0"/>
              </a:rPr>
              <a:t>不存在（</a:t>
            </a:r>
            <a:r>
              <a:rPr lang="en-US" altLang="zh-CN" sz="2000" b="1" i="1" kern="0" dirty="0">
                <a:latin typeface="Times New Roman" panose="02020603050405020304" pitchFamily="18" charset="0"/>
                <a:cs typeface="Times New Roman" panose="02020603050405020304" pitchFamily="18" charset="0"/>
              </a:rPr>
              <a:t>q</a:t>
            </a:r>
            <a:r>
              <a:rPr lang="en-US" altLang="zh-CN" sz="2000" b="1" kern="0" dirty="0">
                <a:latin typeface="Times New Roman" panose="02020603050405020304" pitchFamily="18" charset="0"/>
                <a:cs typeface="Times New Roman" panose="02020603050405020304" pitchFamily="18" charset="0"/>
              </a:rPr>
              <a:t> = 2</a:t>
            </a:r>
            <a:r>
              <a:rPr lang="zh-CN" altLang="en-US" sz="2000" b="1" kern="0" dirty="0">
                <a:latin typeface="Times New Roman" panose="02020603050405020304" pitchFamily="18" charset="0"/>
                <a:cs typeface="Times New Roman" panose="02020603050405020304" pitchFamily="18" charset="0"/>
              </a:rPr>
              <a:t>、</a:t>
            </a:r>
            <a:r>
              <a:rPr lang="en-US" altLang="zh-CN" sz="2000" b="1" kern="0" dirty="0">
                <a:latin typeface="Times New Roman" panose="02020603050405020304" pitchFamily="18" charset="0"/>
                <a:cs typeface="Times New Roman" panose="02020603050405020304" pitchFamily="18" charset="0"/>
              </a:rPr>
              <a:t>3</a:t>
            </a:r>
            <a:r>
              <a:rPr lang="zh-CN" altLang="en-US" sz="2000" b="1" kern="0" dirty="0">
                <a:latin typeface="Times New Roman" panose="02020603050405020304" pitchFamily="18" charset="0"/>
                <a:cs typeface="Times New Roman" panose="02020603050405020304" pitchFamily="18" charset="0"/>
              </a:rPr>
              <a:t>、∙∙∙）的（</a:t>
            </a:r>
            <a:r>
              <a:rPr lang="en-US" altLang="zh-CN" sz="2000" b="1" kern="0" dirty="0">
                <a:latin typeface="Times New Roman" panose="02020603050405020304" pitchFamily="18" charset="0"/>
                <a:cs typeface="Times New Roman" panose="02020603050405020304" pitchFamily="18" charset="0"/>
              </a:rPr>
              <a:t>ω</a:t>
            </a:r>
            <a:r>
              <a:rPr lang="en-US" altLang="zh-CN" sz="2000" b="1" kern="0" baseline="-25000" dirty="0">
                <a:latin typeface="Times New Roman" panose="02020603050405020304" pitchFamily="18" charset="0"/>
                <a:cs typeface="Times New Roman" panose="02020603050405020304" pitchFamily="18" charset="0"/>
              </a:rPr>
              <a:t>c</a:t>
            </a:r>
            <a:r>
              <a:rPr lang="en-US" altLang="zh-CN" sz="2000" b="1" kern="0" dirty="0">
                <a:latin typeface="Times New Roman" panose="02020603050405020304" pitchFamily="18" charset="0"/>
                <a:cs typeface="Times New Roman" panose="02020603050405020304" pitchFamily="18" charset="0"/>
              </a:rPr>
              <a:t>±2Ω</a:t>
            </a:r>
            <a:r>
              <a:rPr lang="zh-CN" altLang="en-US" sz="2000" b="1" kern="0" dirty="0">
                <a:latin typeface="Times New Roman" panose="02020603050405020304" pitchFamily="18" charset="0"/>
                <a:cs typeface="Times New Roman" panose="02020603050405020304" pitchFamily="18" charset="0"/>
              </a:rPr>
              <a:t>，</a:t>
            </a:r>
            <a:r>
              <a:rPr lang="en-US" altLang="zh-CN" sz="2000" b="1" kern="0" dirty="0">
                <a:latin typeface="Times New Roman" panose="02020603050405020304" pitchFamily="18" charset="0"/>
                <a:cs typeface="Times New Roman" panose="02020603050405020304" pitchFamily="18" charset="0"/>
              </a:rPr>
              <a:t>ω</a:t>
            </a:r>
            <a:r>
              <a:rPr lang="en-US" altLang="zh-CN" sz="2000" b="1" kern="0" baseline="-25000" dirty="0">
                <a:latin typeface="Times New Roman" panose="02020603050405020304" pitchFamily="18" charset="0"/>
                <a:cs typeface="Times New Roman" panose="02020603050405020304" pitchFamily="18" charset="0"/>
              </a:rPr>
              <a:t>c</a:t>
            </a:r>
            <a:r>
              <a:rPr lang="en-US" altLang="zh-CN" sz="2000" b="1" kern="0" dirty="0">
                <a:latin typeface="Times New Roman" panose="02020603050405020304" pitchFamily="18" charset="0"/>
                <a:cs typeface="Times New Roman" panose="02020603050405020304" pitchFamily="18" charset="0"/>
              </a:rPr>
              <a:t>±3Ω</a:t>
            </a:r>
            <a:r>
              <a:rPr lang="zh-CN" altLang="en-US" sz="2000" b="1" kern="0" dirty="0">
                <a:latin typeface="Times New Roman" panose="02020603050405020304" pitchFamily="18" charset="0"/>
                <a:cs typeface="Times New Roman" panose="02020603050405020304" pitchFamily="18" charset="0"/>
              </a:rPr>
              <a:t>，∙∙∙）等的靠近上、下边频的失真边带分量。</a:t>
            </a:r>
          </a:p>
        </p:txBody>
      </p:sp>
      <p:sp>
        <p:nvSpPr>
          <p:cNvPr id="15" name="Oval 18">
            <a:extLst>
              <a:ext uri="{FF2B5EF4-FFF2-40B4-BE49-F238E27FC236}">
                <a16:creationId xmlns="" xmlns:a16="http://schemas.microsoft.com/office/drawing/2014/main" id="{FB242F4E-8B04-7FAF-66F2-420AEB51A288}"/>
              </a:ext>
            </a:extLst>
          </p:cNvPr>
          <p:cNvSpPr>
            <a:spLocks noChangeArrowheads="1"/>
          </p:cNvSpPr>
          <p:nvPr/>
        </p:nvSpPr>
        <p:spPr bwMode="auto">
          <a:xfrm>
            <a:off x="5799169" y="3839979"/>
            <a:ext cx="1287431" cy="503888"/>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endParaRPr lang="zh-CN" altLang="en-US" sz="2000" b="0">
              <a:solidFill>
                <a:srgbClr val="000000"/>
              </a:solidFill>
              <a:latin typeface="+mn-ea"/>
              <a:ea typeface="+mn-ea"/>
            </a:endParaRPr>
          </a:p>
        </p:txBody>
      </p:sp>
    </p:spTree>
    <p:extLst>
      <p:ext uri="{BB962C8B-B14F-4D97-AF65-F5344CB8AC3E}">
        <p14:creationId xmlns:p14="http://schemas.microsoft.com/office/powerpoint/2010/main" val="717842436"/>
      </p:ext>
    </p:extLst>
  </p:cSld>
  <p:clrMapOvr>
    <a:masterClrMapping/>
  </p:clrMapOvr>
  <p:timing>
    <p:tnLst>
      <p:par>
        <p:cTn id="1" dur="indefinite" restart="never" nodeType="tmRoot"/>
      </p:par>
    </p:tnLst>
  </p:timing>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255</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5"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6.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振幅调制</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与</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解调</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 name="矩形 119824">
            <a:extLst>
              <a:ext uri="{FF2B5EF4-FFF2-40B4-BE49-F238E27FC236}">
                <a16:creationId xmlns="" xmlns:a16="http://schemas.microsoft.com/office/drawing/2014/main" id="{A808D91D-34F3-DCFB-43FE-C6094B8AD2BB}"/>
              </a:ext>
            </a:extLst>
          </p:cNvPr>
          <p:cNvSpPr>
            <a:spLocks noChangeArrowheads="1"/>
          </p:cNvSpPr>
          <p:nvPr/>
        </p:nvSpPr>
        <p:spPr bwMode="auto">
          <a:xfrm>
            <a:off x="467544" y="1268760"/>
            <a:ext cx="324800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fontAlgn="base">
              <a:spcBef>
                <a:spcPct val="0"/>
              </a:spcBef>
              <a:spcAft>
                <a:spcPct val="0"/>
              </a:spcAft>
            </a:pPr>
            <a:r>
              <a:rPr lang="en-US" altLang="zh-CN" sz="28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6.5.2</a:t>
            </a:r>
            <a:r>
              <a:rPr lang="zh-CN" altLang="en-US" sz="2800" dirty="0">
                <a:solidFill>
                  <a:srgbClr val="FF0000"/>
                </a:solidFill>
                <a:latin typeface="宋体" panose="02010600030101010101" pitchFamily="2" charset="-122"/>
                <a:ea typeface="宋体" panose="02010600030101010101" pitchFamily="2" charset="-122"/>
                <a:cs typeface="Times New Roman" panose="02020603050405020304" pitchFamily="18" charset="0"/>
              </a:rPr>
              <a:t> </a:t>
            </a:r>
            <a:r>
              <a:rPr lang="zh-CN" altLang="en-US" sz="2800" dirty="0">
                <a:solidFill>
                  <a:srgbClr val="FF0000"/>
                </a:solidFill>
                <a:latin typeface="宋体" panose="02010600030101010101" pitchFamily="2" charset="-122"/>
                <a:ea typeface="宋体" panose="02010600030101010101" pitchFamily="2" charset="-122"/>
              </a:rPr>
              <a:t>混频器的干扰</a:t>
            </a:r>
          </a:p>
        </p:txBody>
      </p:sp>
      <p:sp>
        <p:nvSpPr>
          <p:cNvPr id="7" name="Text Box 3">
            <a:extLst>
              <a:ext uri="{FF2B5EF4-FFF2-40B4-BE49-F238E27FC236}">
                <a16:creationId xmlns="" xmlns:a16="http://schemas.microsoft.com/office/drawing/2014/main" id="{F57F443B-380E-BCF6-5569-218D5189DA67}"/>
              </a:ext>
            </a:extLst>
          </p:cNvPr>
          <p:cNvSpPr txBox="1">
            <a:spLocks noChangeArrowheads="1"/>
          </p:cNvSpPr>
          <p:nvPr/>
        </p:nvSpPr>
        <p:spPr bwMode="auto">
          <a:xfrm>
            <a:off x="467544" y="1791980"/>
            <a:ext cx="8229600" cy="426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fontAlgn="base">
              <a:lnSpc>
                <a:spcPct val="120000"/>
              </a:lnSpc>
              <a:spcBef>
                <a:spcPct val="0"/>
              </a:spcBef>
              <a:spcAft>
                <a:spcPct val="0"/>
              </a:spcAft>
              <a:buFont typeface="Arial" panose="020B0604020202020204" pitchFamily="34" charset="0"/>
              <a:buAutoNum type="arabicPeriod"/>
            </a:pPr>
            <a:r>
              <a:rPr lang="zh-CN" altLang="en-US" sz="2000" dirty="0">
                <a:solidFill>
                  <a:srgbClr val="333399"/>
                </a:solidFill>
                <a:latin typeface="Times New Roman" panose="02020603050405020304" pitchFamily="18" charset="0"/>
                <a:ea typeface="宋体" panose="02010600030101010101" pitchFamily="2" charset="-122"/>
              </a:rPr>
              <a:t>有用信号谐波和本振信号谐波产生的干扰--组合频率干扰(干扰哨声)</a:t>
            </a:r>
          </a:p>
        </p:txBody>
      </p:sp>
      <p:sp>
        <p:nvSpPr>
          <p:cNvPr id="8" name="Text Box 4">
            <a:extLst>
              <a:ext uri="{FF2B5EF4-FFF2-40B4-BE49-F238E27FC236}">
                <a16:creationId xmlns="" xmlns:a16="http://schemas.microsoft.com/office/drawing/2014/main" id="{AF65322B-5AAD-89E1-018D-DB613DAAA72D}"/>
              </a:ext>
            </a:extLst>
          </p:cNvPr>
          <p:cNvSpPr txBox="1">
            <a:spLocks noChangeArrowheads="1"/>
          </p:cNvSpPr>
          <p:nvPr/>
        </p:nvSpPr>
        <p:spPr bwMode="auto">
          <a:xfrm>
            <a:off x="827584" y="2260774"/>
            <a:ext cx="56038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fontAlgn="base">
              <a:spcBef>
                <a:spcPct val="0"/>
              </a:spcBef>
              <a:spcAft>
                <a:spcPct val="0"/>
              </a:spcAft>
            </a:pPr>
            <a:r>
              <a:rPr lang="zh-CN" altLang="en-US" sz="2000" dirty="0">
                <a:solidFill>
                  <a:srgbClr val="000000"/>
                </a:solidFill>
                <a:latin typeface="Times New Roman" panose="02020603050405020304" pitchFamily="18" charset="0"/>
                <a:ea typeface="宋体" panose="02010600030101010101" pitchFamily="2" charset="-122"/>
              </a:rPr>
              <a:t>混频器的输出信号中所包含的各种频率分量为：</a:t>
            </a:r>
          </a:p>
        </p:txBody>
      </p:sp>
      <p:grpSp>
        <p:nvGrpSpPr>
          <p:cNvPr id="9" name="Group 5">
            <a:extLst>
              <a:ext uri="{FF2B5EF4-FFF2-40B4-BE49-F238E27FC236}">
                <a16:creationId xmlns="" xmlns:a16="http://schemas.microsoft.com/office/drawing/2014/main" id="{E8EF54AC-99B3-99A9-5A16-55D935E9FF73}"/>
              </a:ext>
            </a:extLst>
          </p:cNvPr>
          <p:cNvGrpSpPr>
            <a:grpSpLocks/>
          </p:cNvGrpSpPr>
          <p:nvPr/>
        </p:nvGrpSpPr>
        <p:grpSpPr bwMode="auto">
          <a:xfrm>
            <a:off x="971600" y="2682918"/>
            <a:ext cx="7129463" cy="701675"/>
            <a:chOff x="839" y="1298"/>
            <a:chExt cx="4491" cy="370"/>
          </a:xfrm>
        </p:grpSpPr>
        <p:graphicFrame>
          <p:nvGraphicFramePr>
            <p:cNvPr id="10" name="Object 6">
              <a:extLst>
                <a:ext uri="{FF2B5EF4-FFF2-40B4-BE49-F238E27FC236}">
                  <a16:creationId xmlns="" xmlns:a16="http://schemas.microsoft.com/office/drawing/2014/main" id="{D58AD75C-2B74-729A-7F75-7F2E6E17457C}"/>
                </a:ext>
              </a:extLst>
            </p:cNvPr>
            <p:cNvGraphicFramePr>
              <a:graphicFrameLocks/>
            </p:cNvGraphicFramePr>
            <p:nvPr/>
          </p:nvGraphicFramePr>
          <p:xfrm>
            <a:off x="839" y="1344"/>
            <a:ext cx="1176" cy="303"/>
          </p:xfrm>
          <a:graphic>
            <a:graphicData uri="http://schemas.openxmlformats.org/presentationml/2006/ole">
              <mc:AlternateContent xmlns:mc="http://schemas.openxmlformats.org/markup-compatibility/2006">
                <mc:Choice xmlns:v="urn:schemas-microsoft-com:vml" Requires="v">
                  <p:oleObj spid="_x0000_s204810" r:id="rId3" imgW="989741" imgH="253780" progId="Equation.3">
                    <p:embed/>
                  </p:oleObj>
                </mc:Choice>
                <mc:Fallback>
                  <p:oleObj r:id="rId3" imgW="989741" imgH="253780" progId="Equation.3">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9" y="1344"/>
                          <a:ext cx="1176"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1" name="Text Box 7">
              <a:extLst>
                <a:ext uri="{FF2B5EF4-FFF2-40B4-BE49-F238E27FC236}">
                  <a16:creationId xmlns="" xmlns:a16="http://schemas.microsoft.com/office/drawing/2014/main" id="{1EDD54B2-791A-F3D9-D505-F8C5AA70682F}"/>
                </a:ext>
              </a:extLst>
            </p:cNvPr>
            <p:cNvSpPr txBox="1">
              <a:spLocks noChangeArrowheads="1"/>
            </p:cNvSpPr>
            <p:nvPr/>
          </p:nvSpPr>
          <p:spPr bwMode="auto">
            <a:xfrm>
              <a:off x="2200" y="1298"/>
              <a:ext cx="3130" cy="3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zh-CN" sz="2000" b="1" i="0" u="none" strike="noStrike" kern="0" cap="none" spc="0" normalizeH="0" baseline="0" noProof="0">
                  <a:ln>
                    <a:noFill/>
                  </a:ln>
                  <a:solidFill>
                    <a:srgbClr val="000000"/>
                  </a:solidFill>
                  <a:effectLst/>
                  <a:uLnTx/>
                  <a:uFillTx/>
                  <a:latin typeface="宋体" panose="02010600030101010101" pitchFamily="2" charset="-122"/>
                  <a:ea typeface="宋体" panose="02010600030101010101" pitchFamily="2" charset="-122"/>
                </a:rPr>
                <a:t>p，q</a:t>
              </a:r>
              <a:r>
                <a:rPr kumimoji="0" lang="zh-CN" altLang="en-US" sz="2000" b="1" i="0" u="none" strike="noStrike" kern="0" cap="none" spc="0" normalizeH="0" baseline="0" noProof="0">
                  <a:ln>
                    <a:noFill/>
                  </a:ln>
                  <a:solidFill>
                    <a:srgbClr val="000000"/>
                  </a:solidFill>
                  <a:effectLst/>
                  <a:uLnTx/>
                  <a:uFillTx/>
                  <a:latin typeface="宋体" panose="02010600030101010101" pitchFamily="2" charset="-122"/>
                  <a:ea typeface="宋体" panose="02010600030101010101" pitchFamily="2" charset="-122"/>
                </a:rPr>
                <a:t>为任意正整数，分别代表本振频率和信号频率的谐波次数。</a:t>
              </a:r>
            </a:p>
          </p:txBody>
        </p:sp>
      </p:grpSp>
      <p:sp>
        <p:nvSpPr>
          <p:cNvPr id="12" name="Text Box 8">
            <a:extLst>
              <a:ext uri="{FF2B5EF4-FFF2-40B4-BE49-F238E27FC236}">
                <a16:creationId xmlns="" xmlns:a16="http://schemas.microsoft.com/office/drawing/2014/main" id="{874F9C5F-76E3-42CD-A37E-57D3EFB0CBBF}"/>
              </a:ext>
            </a:extLst>
          </p:cNvPr>
          <p:cNvSpPr txBox="1">
            <a:spLocks noChangeArrowheads="1"/>
          </p:cNvSpPr>
          <p:nvPr/>
        </p:nvSpPr>
        <p:spPr bwMode="auto">
          <a:xfrm>
            <a:off x="827584" y="3535589"/>
            <a:ext cx="70326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fontAlgn="base">
              <a:spcBef>
                <a:spcPct val="0"/>
              </a:spcBef>
              <a:spcAft>
                <a:spcPct val="0"/>
              </a:spcAft>
            </a:pPr>
            <a:r>
              <a:rPr lang="zh-CN" altLang="en-US" sz="2000" dirty="0">
                <a:solidFill>
                  <a:srgbClr val="000000"/>
                </a:solidFill>
                <a:latin typeface="宋体" panose="02010600030101010101" pitchFamily="2" charset="-122"/>
                <a:ea typeface="宋体" panose="02010600030101010101" pitchFamily="2" charset="-122"/>
              </a:rPr>
              <a:t>只有</a:t>
            </a:r>
            <a:r>
              <a:rPr lang="en-US" altLang="zh-CN" sz="2000" dirty="0">
                <a:solidFill>
                  <a:srgbClr val="000000"/>
                </a:solidFill>
                <a:latin typeface="宋体" panose="02010600030101010101" pitchFamily="2" charset="-122"/>
                <a:ea typeface="宋体" panose="02010600030101010101" pitchFamily="2" charset="-122"/>
              </a:rPr>
              <a:t>p=q=1</a:t>
            </a:r>
            <a:r>
              <a:rPr lang="zh-CN" altLang="en-US" sz="2000" dirty="0">
                <a:solidFill>
                  <a:srgbClr val="000000"/>
                </a:solidFill>
                <a:latin typeface="宋体" panose="02010600030101010101" pitchFamily="2" charset="-122"/>
                <a:ea typeface="宋体" panose="02010600030101010101" pitchFamily="2" charset="-122"/>
              </a:rPr>
              <a:t>对应的频率为 </a:t>
            </a:r>
            <a:r>
              <a:rPr lang="en-US" altLang="zh-CN" sz="2000" i="1" dirty="0">
                <a:solidFill>
                  <a:srgbClr val="000000"/>
                </a:solidFill>
                <a:latin typeface="宋体" panose="02010600030101010101" pitchFamily="2" charset="-122"/>
                <a:ea typeface="宋体" panose="02010600030101010101" pitchFamily="2" charset="-122"/>
              </a:rPr>
              <a:t>f</a:t>
            </a:r>
            <a:r>
              <a:rPr lang="en-US" altLang="zh-CN" sz="2000" baseline="-25000" dirty="0">
                <a:solidFill>
                  <a:srgbClr val="000000"/>
                </a:solidFill>
                <a:latin typeface="宋体" panose="02010600030101010101" pitchFamily="2" charset="-122"/>
                <a:ea typeface="宋体" panose="02010600030101010101" pitchFamily="2" charset="-122"/>
              </a:rPr>
              <a:t>0</a:t>
            </a:r>
            <a:r>
              <a:rPr lang="en-US" altLang="zh-CN" sz="2000" dirty="0">
                <a:solidFill>
                  <a:srgbClr val="000000"/>
                </a:solidFill>
                <a:latin typeface="宋体" panose="02010600030101010101" pitchFamily="2" charset="-122"/>
                <a:ea typeface="宋体" panose="02010600030101010101" pitchFamily="2" charset="-122"/>
              </a:rPr>
              <a:t>-</a:t>
            </a:r>
            <a:r>
              <a:rPr lang="en-US" altLang="zh-CN" sz="2000" i="1" dirty="0">
                <a:solidFill>
                  <a:srgbClr val="000000"/>
                </a:solidFill>
                <a:latin typeface="宋体" panose="02010600030101010101" pitchFamily="2" charset="-122"/>
                <a:ea typeface="宋体" panose="02010600030101010101" pitchFamily="2" charset="-122"/>
              </a:rPr>
              <a:t>f</a:t>
            </a:r>
            <a:r>
              <a:rPr lang="en-US" altLang="zh-CN" sz="2000" baseline="-25000" dirty="0">
                <a:solidFill>
                  <a:srgbClr val="000000"/>
                </a:solidFill>
                <a:latin typeface="宋体" panose="02010600030101010101" pitchFamily="2" charset="-122"/>
                <a:ea typeface="宋体" panose="02010600030101010101" pitchFamily="2" charset="-122"/>
              </a:rPr>
              <a:t>s </a:t>
            </a:r>
            <a:r>
              <a:rPr lang="zh-CN" altLang="en-US" sz="2000" dirty="0">
                <a:solidFill>
                  <a:srgbClr val="000000"/>
                </a:solidFill>
                <a:latin typeface="宋体" panose="02010600030101010101" pitchFamily="2" charset="-122"/>
                <a:ea typeface="宋体" panose="02010600030101010101" pitchFamily="2" charset="-122"/>
              </a:rPr>
              <a:t>的分量是所需要的中频信号。</a:t>
            </a:r>
          </a:p>
        </p:txBody>
      </p:sp>
      <p:sp>
        <p:nvSpPr>
          <p:cNvPr id="13" name="Text Box 9">
            <a:extLst>
              <a:ext uri="{FF2B5EF4-FFF2-40B4-BE49-F238E27FC236}">
                <a16:creationId xmlns="" xmlns:a16="http://schemas.microsoft.com/office/drawing/2014/main" id="{DECD6619-290F-C390-BA5E-B989A9F0E6BD}"/>
              </a:ext>
            </a:extLst>
          </p:cNvPr>
          <p:cNvSpPr txBox="1">
            <a:spLocks noChangeArrowheads="1"/>
          </p:cNvSpPr>
          <p:nvPr/>
        </p:nvSpPr>
        <p:spPr bwMode="auto">
          <a:xfrm>
            <a:off x="324371" y="3935639"/>
            <a:ext cx="7920037"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fontAlgn="base">
              <a:spcBef>
                <a:spcPct val="0"/>
              </a:spcBef>
              <a:spcAft>
                <a:spcPct val="0"/>
              </a:spcAft>
            </a:pPr>
            <a:r>
              <a:rPr lang="zh-CN" altLang="en-US" sz="2000">
                <a:solidFill>
                  <a:srgbClr val="000000"/>
                </a:solidFill>
                <a:latin typeface="宋体" panose="02010600030101010101" pitchFamily="2" charset="-122"/>
                <a:ea typeface="宋体" panose="02010600030101010101" pitchFamily="2" charset="-122"/>
              </a:rPr>
              <a:t>    如果某些组合频率落在谐振回路的通频带内，这些组合频率分量就和有用的中频分量一样，通过中放进入检波器，并在检波电路中与有用信号产生差拍，这时在接收机的输出端将产生哨叫声，形成有害的干扰。这种干扰又称为干扰哨叫。</a:t>
            </a:r>
          </a:p>
        </p:txBody>
      </p:sp>
      <p:grpSp>
        <p:nvGrpSpPr>
          <p:cNvPr id="14" name="Group 10">
            <a:extLst>
              <a:ext uri="{FF2B5EF4-FFF2-40B4-BE49-F238E27FC236}">
                <a16:creationId xmlns="" xmlns:a16="http://schemas.microsoft.com/office/drawing/2014/main" id="{2B83BF5D-9D33-E087-B76C-7CB06B7B3FCA}"/>
              </a:ext>
            </a:extLst>
          </p:cNvPr>
          <p:cNvGrpSpPr>
            <a:grpSpLocks/>
          </p:cNvGrpSpPr>
          <p:nvPr/>
        </p:nvGrpSpPr>
        <p:grpSpPr bwMode="auto">
          <a:xfrm>
            <a:off x="2339752" y="5528252"/>
            <a:ext cx="4878387" cy="708025"/>
            <a:chOff x="656" y="2808"/>
            <a:chExt cx="3073" cy="446"/>
          </a:xfrm>
        </p:grpSpPr>
        <p:graphicFrame>
          <p:nvGraphicFramePr>
            <p:cNvPr id="15" name="Object 11">
              <a:extLst>
                <a:ext uri="{FF2B5EF4-FFF2-40B4-BE49-F238E27FC236}">
                  <a16:creationId xmlns="" xmlns:a16="http://schemas.microsoft.com/office/drawing/2014/main" id="{672D2D73-C209-9575-15F1-62941B28DB65}"/>
                </a:ext>
              </a:extLst>
            </p:cNvPr>
            <p:cNvGraphicFramePr>
              <a:graphicFrameLocks/>
            </p:cNvGraphicFramePr>
            <p:nvPr/>
          </p:nvGraphicFramePr>
          <p:xfrm>
            <a:off x="1248" y="2808"/>
            <a:ext cx="768" cy="446"/>
          </p:xfrm>
          <a:graphic>
            <a:graphicData uri="http://schemas.openxmlformats.org/presentationml/2006/ole">
              <mc:AlternateContent xmlns:mc="http://schemas.openxmlformats.org/markup-compatibility/2006">
                <mc:Choice xmlns:v="urn:schemas-microsoft-com:vml" Requires="v">
                  <p:oleObj spid="_x0000_s204811" r:id="rId5" imgW="895422" imgH="485889" progId="Equation.3">
                    <p:embed/>
                  </p:oleObj>
                </mc:Choice>
                <mc:Fallback>
                  <p:oleObj r:id="rId5" imgW="895422" imgH="485889" progId="Equation.3">
                    <p:embed/>
                    <p:pic>
                      <p:nvPicPr>
                        <p:cNvPr id="0" name=""/>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48" y="2808"/>
                          <a:ext cx="768"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6" name="Text Box 12">
              <a:extLst>
                <a:ext uri="{FF2B5EF4-FFF2-40B4-BE49-F238E27FC236}">
                  <a16:creationId xmlns="" xmlns:a16="http://schemas.microsoft.com/office/drawing/2014/main" id="{E37FA7E6-092D-D871-3EB7-C88E550043BF}"/>
                </a:ext>
              </a:extLst>
            </p:cNvPr>
            <p:cNvSpPr txBox="1">
              <a:spLocks noChangeArrowheads="1"/>
            </p:cNvSpPr>
            <p:nvPr/>
          </p:nvSpPr>
          <p:spPr bwMode="auto">
            <a:xfrm>
              <a:off x="656" y="2832"/>
              <a:ext cx="44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zh-CN" altLang="en-US" sz="2000" b="1" i="0" u="none" strike="noStrike" kern="0" cap="none" spc="0" normalizeH="0" baseline="0" noProof="0">
                  <a:ln>
                    <a:noFill/>
                  </a:ln>
                  <a:solidFill>
                    <a:srgbClr val="000000"/>
                  </a:solidFill>
                  <a:effectLst/>
                  <a:uLnTx/>
                  <a:uFillTx/>
                  <a:latin typeface="宋体" panose="02010600030101010101" pitchFamily="2" charset="-122"/>
                  <a:ea typeface="宋体" panose="02010600030101010101" pitchFamily="2" charset="-122"/>
                </a:rPr>
                <a:t>即当</a:t>
              </a:r>
            </a:p>
          </p:txBody>
        </p:sp>
        <p:sp>
          <p:nvSpPr>
            <p:cNvPr id="17" name="Text Box 13">
              <a:extLst>
                <a:ext uri="{FF2B5EF4-FFF2-40B4-BE49-F238E27FC236}">
                  <a16:creationId xmlns="" xmlns:a16="http://schemas.microsoft.com/office/drawing/2014/main" id="{E1FD1DB6-4EC6-0922-DC43-18D0AF684069}"/>
                </a:ext>
              </a:extLst>
            </p:cNvPr>
            <p:cNvSpPr txBox="1">
              <a:spLocks noChangeArrowheads="1"/>
            </p:cNvSpPr>
            <p:nvPr/>
          </p:nvSpPr>
          <p:spPr bwMode="auto">
            <a:xfrm>
              <a:off x="2150" y="2880"/>
              <a:ext cx="1579"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zh-CN" altLang="en-US" sz="2000" b="1" i="0" u="none" strike="noStrike" kern="0" cap="none" spc="0" normalizeH="0" baseline="0" noProof="0">
                  <a:ln>
                    <a:noFill/>
                  </a:ln>
                  <a:solidFill>
                    <a:srgbClr val="000000"/>
                  </a:solidFill>
                  <a:effectLst/>
                  <a:uLnTx/>
                  <a:uFillTx/>
                  <a:latin typeface="宋体" panose="02010600030101010101" pitchFamily="2" charset="-122"/>
                  <a:ea typeface="宋体" panose="02010600030101010101" pitchFamily="2" charset="-122"/>
                </a:rPr>
                <a:t>时会产生干扰哨叫。</a:t>
              </a:r>
            </a:p>
          </p:txBody>
        </p:sp>
      </p:grpSp>
    </p:spTree>
    <p:extLst>
      <p:ext uri="{BB962C8B-B14F-4D97-AF65-F5344CB8AC3E}">
        <p14:creationId xmlns:p14="http://schemas.microsoft.com/office/powerpoint/2010/main" val="2352054134"/>
      </p:ext>
    </p:extLst>
  </p:cSld>
  <p:clrMapOvr>
    <a:masterClrMapping/>
  </p:clrMapOvr>
  <p:timing>
    <p:tnLst>
      <p:par>
        <p:cTn id="1" dur="indefinite" restart="never" nodeType="tmRoot"/>
      </p:par>
    </p:tnLst>
  </p:timing>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256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5"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6.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振幅调制</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与</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解调</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 name="Rectangle 5">
            <a:extLst>
              <a:ext uri="{FF2B5EF4-FFF2-40B4-BE49-F238E27FC236}">
                <a16:creationId xmlns="" xmlns:a16="http://schemas.microsoft.com/office/drawing/2014/main" id="{9B00E2E0-B8C9-C27F-9EDF-C9DBFD7CAE81}"/>
              </a:ext>
            </a:extLst>
          </p:cNvPr>
          <p:cNvSpPr>
            <a:spLocks noChangeArrowheads="1"/>
          </p:cNvSpPr>
          <p:nvPr/>
        </p:nvSpPr>
        <p:spPr bwMode="auto">
          <a:xfrm>
            <a:off x="250031" y="1390943"/>
            <a:ext cx="8893969"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r>
              <a:rPr lang="zh-CN" altLang="en-US" sz="2000" b="0" dirty="0">
                <a:solidFill>
                  <a:srgbClr val="0000CC"/>
                </a:solidFill>
                <a:latin typeface="宋体" panose="02010600030101010101" pitchFamily="2" charset="-122"/>
                <a:ea typeface="宋体" panose="02010600030101010101" pitchFamily="2" charset="-122"/>
              </a:rPr>
              <a:t>例如：</a:t>
            </a:r>
            <a:r>
              <a:rPr lang="zh-CN" altLang="en-US" sz="2000" b="0" dirty="0">
                <a:solidFill>
                  <a:srgbClr val="000000"/>
                </a:solidFill>
                <a:latin typeface="宋体" panose="02010600030101010101" pitchFamily="2" charset="-122"/>
                <a:ea typeface="宋体" panose="02010600030101010101" pitchFamily="2" charset="-122"/>
              </a:rPr>
              <a:t>设加给混频器输入端的有用信号</a:t>
            </a:r>
            <a:r>
              <a:rPr lang="zh-CN" altLang="en-US" sz="2000" b="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频率</a:t>
            </a:r>
            <a:r>
              <a:rPr lang="en-US" altLang="zh-CN" sz="2000" b="0" i="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f</a:t>
            </a:r>
            <a:r>
              <a:rPr lang="en-US" altLang="zh-CN" sz="2000" b="0" baseline="-30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s</a:t>
            </a:r>
            <a:r>
              <a:rPr lang="en-US" altLang="zh-CN" sz="2000" b="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=931kHz</a:t>
            </a:r>
            <a:r>
              <a:rPr lang="zh-CN" altLang="en-US" sz="2000" b="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，本振频率</a:t>
            </a:r>
            <a:r>
              <a:rPr lang="en-US" altLang="zh-CN" sz="2000" b="0" i="1" dirty="0" err="1">
                <a:solidFill>
                  <a:srgbClr val="000000"/>
                </a:solidFill>
                <a:latin typeface="Times New Roman" panose="02020603050405020304" pitchFamily="18" charset="0"/>
                <a:ea typeface="宋体" panose="02010600030101010101" pitchFamily="2" charset="-122"/>
                <a:cs typeface="Times New Roman" panose="02020603050405020304" pitchFamily="18" charset="0"/>
              </a:rPr>
              <a:t>f</a:t>
            </a:r>
            <a:r>
              <a:rPr lang="en-US" altLang="zh-CN" sz="2000" b="0" baseline="-30000" dirty="0" err="1">
                <a:solidFill>
                  <a:srgbClr val="000000"/>
                </a:solidFill>
                <a:latin typeface="Times New Roman" panose="02020603050405020304" pitchFamily="18" charset="0"/>
                <a:ea typeface="宋体" panose="02010600030101010101" pitchFamily="2" charset="-122"/>
                <a:cs typeface="Times New Roman" panose="02020603050405020304" pitchFamily="18" charset="0"/>
              </a:rPr>
              <a:t>o</a:t>
            </a:r>
            <a:r>
              <a:rPr lang="en-US" altLang="zh-CN" sz="2000" b="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=1396kHz</a:t>
            </a:r>
            <a:r>
              <a:rPr lang="zh-CN" altLang="en-US" sz="2000" b="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。经过混频器的频率变换产生出众多组合频率分量，其中的</a:t>
            </a:r>
            <a:r>
              <a:rPr lang="en-US" altLang="zh-CN" sz="2000" b="0" i="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f</a:t>
            </a:r>
            <a:r>
              <a:rPr lang="en-US" altLang="zh-CN" sz="2000" b="0" baseline="-30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i</a:t>
            </a:r>
            <a:r>
              <a:rPr lang="en-US" altLang="zh-CN" sz="2000" b="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000" b="0" i="1" dirty="0" err="1">
                <a:solidFill>
                  <a:srgbClr val="000000"/>
                </a:solidFill>
                <a:latin typeface="Times New Roman" panose="02020603050405020304" pitchFamily="18" charset="0"/>
                <a:ea typeface="宋体" panose="02010600030101010101" pitchFamily="2" charset="-122"/>
                <a:cs typeface="Times New Roman" panose="02020603050405020304" pitchFamily="18" charset="0"/>
              </a:rPr>
              <a:t>f</a:t>
            </a:r>
            <a:r>
              <a:rPr lang="en-US" altLang="zh-CN" sz="2000" b="0" baseline="-30000" dirty="0" err="1">
                <a:solidFill>
                  <a:srgbClr val="000000"/>
                </a:solidFill>
                <a:latin typeface="Times New Roman" panose="02020603050405020304" pitchFamily="18" charset="0"/>
                <a:ea typeface="宋体" panose="02010600030101010101" pitchFamily="2" charset="-122"/>
                <a:cs typeface="Times New Roman" panose="02020603050405020304" pitchFamily="18" charset="0"/>
              </a:rPr>
              <a:t>o</a:t>
            </a:r>
            <a:r>
              <a:rPr lang="en-US" altLang="zh-CN" sz="2000" b="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000" b="0" i="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f</a:t>
            </a:r>
            <a:r>
              <a:rPr lang="en-US" altLang="zh-CN" sz="2000" b="0" baseline="-30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s</a:t>
            </a:r>
            <a:r>
              <a:rPr lang="en-US" altLang="zh-CN" sz="2000" b="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=465kHz</a:t>
            </a:r>
            <a:r>
              <a:rPr lang="zh-CN" altLang="en-US" sz="2000" b="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是</a:t>
            </a:r>
            <a:r>
              <a:rPr lang="zh-CN" altLang="en-US" sz="2000" b="0" dirty="0">
                <a:solidFill>
                  <a:srgbClr val="000000"/>
                </a:solidFill>
                <a:latin typeface="宋体" panose="02010600030101010101" pitchFamily="2" charset="-122"/>
                <a:ea typeface="宋体" panose="02010600030101010101" pitchFamily="2" charset="-122"/>
              </a:rPr>
              <a:t>有用的中频信号。而其它分量是无用或有害的。</a:t>
            </a:r>
          </a:p>
        </p:txBody>
      </p:sp>
      <p:sp>
        <p:nvSpPr>
          <p:cNvPr id="7" name="Rectangle 6">
            <a:extLst>
              <a:ext uri="{FF2B5EF4-FFF2-40B4-BE49-F238E27FC236}">
                <a16:creationId xmlns="" xmlns:a16="http://schemas.microsoft.com/office/drawing/2014/main" id="{4F254F84-62D0-EC59-2368-9B0E8001533E}"/>
              </a:ext>
            </a:extLst>
          </p:cNvPr>
          <p:cNvSpPr>
            <a:spLocks noChangeArrowheads="1"/>
          </p:cNvSpPr>
          <p:nvPr/>
        </p:nvSpPr>
        <p:spPr bwMode="auto">
          <a:xfrm>
            <a:off x="296110" y="2818435"/>
            <a:ext cx="8424069"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9pPr>
          </a:lstStyle>
          <a:p>
            <a:pPr eaLnBrk="1" hangingPunct="1">
              <a:lnSpc>
                <a:spcPct val="120000"/>
              </a:lnSpc>
              <a:spcAft>
                <a:spcPts val="600"/>
              </a:spcAft>
            </a:pPr>
            <a:r>
              <a:rPr lang="zh-CN" altLang="en-US" sz="2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2000"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如当</a:t>
            </a:r>
            <a:r>
              <a:rPr lang="en-US" altLang="zh-CN" sz="2000"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q=2</a:t>
            </a:r>
            <a:r>
              <a:rPr lang="zh-CN" altLang="en-US" sz="2000"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p=-1</a:t>
            </a:r>
            <a:r>
              <a:rPr lang="zh-CN" altLang="en-US" sz="2000"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时，</a:t>
            </a:r>
            <a:r>
              <a:rPr lang="en-US" altLang="zh-CN" sz="2000" i="1" dirty="0" err="1">
                <a:solidFill>
                  <a:srgbClr val="0000CC"/>
                </a:solidFill>
                <a:latin typeface="Times New Roman" panose="02020603050405020304" pitchFamily="18" charset="0"/>
                <a:ea typeface="宋体" panose="02010600030101010101" pitchFamily="2" charset="-122"/>
                <a:cs typeface="Times New Roman" panose="02020603050405020304" pitchFamily="18" charset="0"/>
              </a:rPr>
              <a:t>f</a:t>
            </a:r>
            <a:r>
              <a:rPr lang="en-US" altLang="zh-CN" sz="2000" i="1" dirty="0" err="1">
                <a:solidFill>
                  <a:srgbClr val="0000CC"/>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2000" baseline="-30000" dirty="0" err="1">
                <a:solidFill>
                  <a:srgbClr val="0000CC"/>
                </a:solidFill>
                <a:latin typeface="Times New Roman" panose="02020603050405020304" pitchFamily="18" charset="0"/>
                <a:ea typeface="宋体" panose="02010600030101010101" pitchFamily="2" charset="-122"/>
                <a:cs typeface="Times New Roman" panose="02020603050405020304" pitchFamily="18" charset="0"/>
              </a:rPr>
              <a:t>i</a:t>
            </a:r>
            <a:r>
              <a:rPr lang="en-US" altLang="zh-CN" sz="2000" baseline="-30000"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i="1" dirty="0">
                <a:solidFill>
                  <a:srgbClr val="0000CC"/>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=2f</a:t>
            </a:r>
            <a:r>
              <a:rPr lang="en-US" altLang="zh-CN" sz="2000" baseline="-30000" dirty="0">
                <a:solidFill>
                  <a:srgbClr val="0000CC"/>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s </a:t>
            </a:r>
            <a:r>
              <a:rPr lang="en-US" altLang="zh-CN" sz="2000" i="1" dirty="0">
                <a:solidFill>
                  <a:srgbClr val="0000CC"/>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sz="2000" i="1" dirty="0" err="1">
                <a:solidFill>
                  <a:srgbClr val="0000CC"/>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f</a:t>
            </a:r>
            <a:r>
              <a:rPr lang="en-US" altLang="zh-CN" sz="2000" baseline="-30000" dirty="0" err="1">
                <a:solidFill>
                  <a:srgbClr val="0000CC"/>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o</a:t>
            </a:r>
            <a:r>
              <a:rPr lang="en-US" altLang="zh-CN" sz="2000" i="1" dirty="0">
                <a:solidFill>
                  <a:srgbClr val="0000CC"/>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2000" dirty="0">
                <a:solidFill>
                  <a:srgbClr val="0000CC"/>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2</a:t>
            </a:r>
            <a:r>
              <a:rPr lang="en-US" altLang="zh-CN" sz="2000"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931-1396</a:t>
            </a:r>
            <a:r>
              <a:rPr lang="en-US" altLang="zh-CN" sz="2000" i="1"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466kHz</a:t>
            </a:r>
            <a:r>
              <a:rPr lang="en-US" altLang="zh-CN" sz="2000" i="1"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000" i="1" dirty="0" err="1">
                <a:solidFill>
                  <a:srgbClr val="0000CC"/>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f</a:t>
            </a:r>
            <a:r>
              <a:rPr lang="en-US" altLang="zh-CN" sz="2000" baseline="-30000" dirty="0" err="1">
                <a:solidFill>
                  <a:srgbClr val="0000CC"/>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i</a:t>
            </a:r>
            <a:r>
              <a:rPr lang="en-US" altLang="zh-CN" sz="2000" i="1" dirty="0" err="1">
                <a:solidFill>
                  <a:srgbClr val="0000CC"/>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+F</a:t>
            </a:r>
            <a:r>
              <a:rPr lang="en-US" altLang="zh-CN" sz="2000" i="1" dirty="0">
                <a:solidFill>
                  <a:srgbClr val="0000CC"/>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zh-CN" altLang="en-US" sz="2000" dirty="0">
                <a:solidFill>
                  <a:srgbClr val="0000CC"/>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此处</a:t>
            </a:r>
            <a:r>
              <a:rPr lang="en-US" altLang="zh-CN" sz="2000" dirty="0">
                <a:solidFill>
                  <a:srgbClr val="0000CC"/>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F=1kHz)</a:t>
            </a:r>
            <a:r>
              <a:rPr lang="zh-CN" altLang="en-US" sz="2000" dirty="0">
                <a:solidFill>
                  <a:srgbClr val="0000CC"/>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。若中频放大器的通频带</a:t>
            </a:r>
            <a:r>
              <a:rPr lang="en-US" altLang="zh-CN" sz="2000" dirty="0">
                <a:solidFill>
                  <a:srgbClr val="0000CC"/>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2</a:t>
            </a:r>
            <a:r>
              <a:rPr lang="en-US" altLang="zh-CN" sz="2000"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f</a:t>
            </a:r>
            <a:r>
              <a:rPr lang="en-US" altLang="zh-CN" sz="2000" baseline="-30000" dirty="0">
                <a:solidFill>
                  <a:srgbClr val="0000CC"/>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0.7</a:t>
            </a:r>
            <a:r>
              <a:rPr lang="en-US" altLang="zh-CN" sz="2000" dirty="0">
                <a:solidFill>
                  <a:srgbClr val="0000CC"/>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=4kHz</a:t>
            </a:r>
            <a:r>
              <a:rPr lang="zh-CN" altLang="en-US" sz="2000" dirty="0">
                <a:solidFill>
                  <a:srgbClr val="0000CC"/>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，则频率</a:t>
            </a:r>
            <a:r>
              <a:rPr lang="en-US" altLang="zh-CN" sz="2000" dirty="0" err="1">
                <a:solidFill>
                  <a:srgbClr val="0000CC"/>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f</a:t>
            </a:r>
            <a:r>
              <a:rPr lang="en-US" altLang="zh-CN" sz="2000" baseline="-30000" dirty="0" err="1">
                <a:solidFill>
                  <a:srgbClr val="0000CC"/>
                </a:solidFill>
                <a:latin typeface="Times New Roman" panose="02020603050405020304" pitchFamily="18" charset="0"/>
                <a:ea typeface="宋体" panose="02010600030101010101" pitchFamily="2" charset="-122"/>
                <a:cs typeface="Times New Roman" panose="02020603050405020304" pitchFamily="18" charset="0"/>
              </a:rPr>
              <a:t>i</a:t>
            </a:r>
            <a:r>
              <a:rPr lang="en-US" altLang="zh-CN" sz="2000" baseline="-30000"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dirty="0">
                <a:solidFill>
                  <a:srgbClr val="0000CC"/>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=466kHz</a:t>
            </a:r>
            <a:r>
              <a:rPr lang="zh-CN" altLang="en-US" sz="2000" dirty="0">
                <a:solidFill>
                  <a:srgbClr val="0000CC"/>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的分量落在中放通带内，与</a:t>
            </a:r>
            <a:r>
              <a:rPr lang="en-US" altLang="zh-CN" sz="2000" dirty="0">
                <a:solidFill>
                  <a:srgbClr val="0000CC"/>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465KHz</a:t>
            </a:r>
            <a:r>
              <a:rPr lang="zh-CN" altLang="en-US" sz="2000" dirty="0">
                <a:solidFill>
                  <a:srgbClr val="0000CC"/>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的中频信号一起被中频放大并加给检波器。因为检波器由非线性元器件组成，也有频率变换作用，则会产生</a:t>
            </a:r>
            <a:r>
              <a:rPr lang="en-US" altLang="zh-CN" sz="2000" dirty="0" err="1">
                <a:solidFill>
                  <a:srgbClr val="0000CC"/>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f</a:t>
            </a:r>
            <a:r>
              <a:rPr lang="en-US" altLang="zh-CN" sz="2000" baseline="-30000" dirty="0" err="1">
                <a:solidFill>
                  <a:srgbClr val="0000CC"/>
                </a:solidFill>
                <a:latin typeface="Times New Roman" panose="02020603050405020304" pitchFamily="18" charset="0"/>
                <a:ea typeface="宋体" panose="02010600030101010101" pitchFamily="2" charset="-122"/>
                <a:cs typeface="Times New Roman" panose="02020603050405020304" pitchFamily="18" charset="0"/>
              </a:rPr>
              <a:t>i</a:t>
            </a:r>
            <a:r>
              <a:rPr lang="en-US" altLang="zh-CN" sz="2000" baseline="-30000"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dirty="0">
                <a:solidFill>
                  <a:srgbClr val="0000CC"/>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f</a:t>
            </a:r>
            <a:r>
              <a:rPr lang="en-US" altLang="zh-CN" sz="2000" baseline="-30000" dirty="0">
                <a:solidFill>
                  <a:srgbClr val="0000CC"/>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i</a:t>
            </a:r>
            <a:r>
              <a:rPr lang="en-US" altLang="zh-CN" sz="2000" dirty="0">
                <a:solidFill>
                  <a:srgbClr val="0000CC"/>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=466-465=1kHz</a:t>
            </a:r>
            <a:r>
              <a:rPr lang="zh-CN" altLang="en-US" sz="2000" dirty="0">
                <a:solidFill>
                  <a:srgbClr val="0000CC"/>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的差拍信号送到接收机终端，形成被人耳听到的哨叫。</a:t>
            </a:r>
            <a:r>
              <a:rPr lang="zh-CN" altLang="en-US" sz="2000" i="1" dirty="0">
                <a:solidFill>
                  <a:srgbClr val="0000CC"/>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p>
        </p:txBody>
      </p:sp>
    </p:spTree>
    <p:extLst>
      <p:ext uri="{BB962C8B-B14F-4D97-AF65-F5344CB8AC3E}">
        <p14:creationId xmlns:p14="http://schemas.microsoft.com/office/powerpoint/2010/main" val="3114022024"/>
      </p:ext>
    </p:extLst>
  </p:cSld>
  <p:clrMapOvr>
    <a:masterClrMapping/>
  </p:clrMapOvr>
  <p:timing>
    <p:tnLst>
      <p:par>
        <p:cTn id="1" dur="indefinite" restart="never" nodeType="tmRoot"/>
      </p:par>
    </p:tnLst>
  </p:timing>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257</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5"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6.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振幅调制</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与</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解调</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 name="Text Box 2">
            <a:extLst>
              <a:ext uri="{FF2B5EF4-FFF2-40B4-BE49-F238E27FC236}">
                <a16:creationId xmlns="" xmlns:a16="http://schemas.microsoft.com/office/drawing/2014/main" id="{631C2BDB-C5E0-0BE4-6A17-92A14FEC3E28}"/>
              </a:ext>
            </a:extLst>
          </p:cNvPr>
          <p:cNvSpPr txBox="1">
            <a:spLocks noChangeArrowheads="1"/>
          </p:cNvSpPr>
          <p:nvPr/>
        </p:nvSpPr>
        <p:spPr bwMode="auto">
          <a:xfrm>
            <a:off x="199760" y="1330091"/>
            <a:ext cx="3961341" cy="384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r>
              <a:rPr lang="zh-CN" altLang="en-US" sz="1900" b="0"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2、外来干扰信号和本振产生的干扰</a:t>
            </a:r>
          </a:p>
        </p:txBody>
      </p:sp>
      <p:sp>
        <p:nvSpPr>
          <p:cNvPr id="7" name="Text Box 3">
            <a:extLst>
              <a:ext uri="{FF2B5EF4-FFF2-40B4-BE49-F238E27FC236}">
                <a16:creationId xmlns="" xmlns:a16="http://schemas.microsoft.com/office/drawing/2014/main" id="{09285B5A-0CC6-4029-CF2C-CE7169971DA7}"/>
              </a:ext>
            </a:extLst>
          </p:cNvPr>
          <p:cNvSpPr txBox="1">
            <a:spLocks noChangeArrowheads="1"/>
          </p:cNvSpPr>
          <p:nvPr/>
        </p:nvSpPr>
        <p:spPr bwMode="auto">
          <a:xfrm>
            <a:off x="195263" y="1664351"/>
            <a:ext cx="2236510" cy="384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r>
              <a:rPr lang="zh-CN" altLang="en-US" sz="1900" b="0" dirty="0">
                <a:solidFill>
                  <a:srgbClr val="0000CC"/>
                </a:solidFill>
                <a:latin typeface="Times New Roman" panose="02020603050405020304" pitchFamily="18" charset="0"/>
                <a:ea typeface="+mn-ea"/>
                <a:cs typeface="Times New Roman" panose="02020603050405020304" pitchFamily="18" charset="0"/>
              </a:rPr>
              <a:t>(1) 组合副波道干扰</a:t>
            </a:r>
          </a:p>
        </p:txBody>
      </p:sp>
      <p:sp>
        <p:nvSpPr>
          <p:cNvPr id="8" name="Text Box 4">
            <a:extLst>
              <a:ext uri="{FF2B5EF4-FFF2-40B4-BE49-F238E27FC236}">
                <a16:creationId xmlns="" xmlns:a16="http://schemas.microsoft.com/office/drawing/2014/main" id="{C4273078-B4F6-DFA7-93E5-CED1BB652CC6}"/>
              </a:ext>
            </a:extLst>
          </p:cNvPr>
          <p:cNvSpPr txBox="1">
            <a:spLocks noChangeArrowheads="1"/>
          </p:cNvSpPr>
          <p:nvPr/>
        </p:nvSpPr>
        <p:spPr bwMode="auto">
          <a:xfrm>
            <a:off x="104232" y="2022590"/>
            <a:ext cx="8968701" cy="677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r>
              <a:rPr lang="zh-CN" altLang="en-US" sz="1900" b="0" dirty="0">
                <a:solidFill>
                  <a:srgbClr val="000000"/>
                </a:solidFill>
                <a:latin typeface="Times New Roman" panose="02020603050405020304" pitchFamily="18" charset="0"/>
                <a:ea typeface="+mn-ea"/>
                <a:cs typeface="Times New Roman" panose="02020603050405020304" pitchFamily="18" charset="0"/>
              </a:rPr>
              <a:t>    如果混频器之前的输入回路和高频放大器的选择性不够好，除了要接收的有用信号外，干扰信号也会进入混频器。</a:t>
            </a:r>
          </a:p>
        </p:txBody>
      </p:sp>
      <p:sp>
        <p:nvSpPr>
          <p:cNvPr id="9" name="Text Box 5">
            <a:extLst>
              <a:ext uri="{FF2B5EF4-FFF2-40B4-BE49-F238E27FC236}">
                <a16:creationId xmlns="" xmlns:a16="http://schemas.microsoft.com/office/drawing/2014/main" id="{409A423F-F831-E704-07A8-2A0BD7321377}"/>
              </a:ext>
            </a:extLst>
          </p:cNvPr>
          <p:cNvSpPr txBox="1">
            <a:spLocks noChangeArrowheads="1"/>
          </p:cNvSpPr>
          <p:nvPr/>
        </p:nvSpPr>
        <p:spPr bwMode="auto">
          <a:xfrm>
            <a:off x="86869" y="2768098"/>
            <a:ext cx="3435556" cy="384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r>
              <a:rPr lang="zh-CN" altLang="en-US" sz="1900" b="0" dirty="0">
                <a:solidFill>
                  <a:srgbClr val="000000"/>
                </a:solidFill>
                <a:latin typeface="Times New Roman" panose="02020603050405020304" pitchFamily="18" charset="0"/>
                <a:ea typeface="+mn-ea"/>
                <a:cs typeface="Times New Roman" panose="02020603050405020304" pitchFamily="18" charset="0"/>
              </a:rPr>
              <a:t>当干扰频率</a:t>
            </a:r>
            <a:r>
              <a:rPr lang="en-US" altLang="zh-CN" sz="1900" b="0" i="1" dirty="0" err="1">
                <a:solidFill>
                  <a:srgbClr val="000000"/>
                </a:solidFill>
                <a:latin typeface="Times New Roman" panose="02020603050405020304" pitchFamily="18" charset="0"/>
                <a:ea typeface="+mn-ea"/>
                <a:cs typeface="Times New Roman" panose="02020603050405020304" pitchFamily="18" charset="0"/>
              </a:rPr>
              <a:t>f</a:t>
            </a:r>
            <a:r>
              <a:rPr lang="en-US" altLang="zh-CN" sz="1900" b="0" i="1" baseline="-25000" dirty="0" err="1">
                <a:solidFill>
                  <a:srgbClr val="000000"/>
                </a:solidFill>
                <a:latin typeface="Times New Roman" panose="02020603050405020304" pitchFamily="18" charset="0"/>
                <a:ea typeface="+mn-ea"/>
                <a:cs typeface="Times New Roman" panose="02020603050405020304" pitchFamily="18" charset="0"/>
              </a:rPr>
              <a:t>n</a:t>
            </a:r>
            <a:r>
              <a:rPr lang="zh-CN" altLang="en-US" sz="1900" b="0" dirty="0">
                <a:solidFill>
                  <a:srgbClr val="000000"/>
                </a:solidFill>
                <a:latin typeface="Times New Roman" panose="02020603050405020304" pitchFamily="18" charset="0"/>
                <a:ea typeface="+mn-ea"/>
                <a:cs typeface="Times New Roman" panose="02020603050405020304" pitchFamily="18" charset="0"/>
              </a:rPr>
              <a:t>与本振频率</a:t>
            </a:r>
            <a:r>
              <a:rPr lang="en-US" altLang="zh-CN" sz="1900" b="0" i="1" dirty="0" err="1">
                <a:solidFill>
                  <a:srgbClr val="000000"/>
                </a:solidFill>
                <a:latin typeface="Times New Roman" panose="02020603050405020304" pitchFamily="18" charset="0"/>
                <a:ea typeface="+mn-ea"/>
                <a:cs typeface="Times New Roman" panose="02020603050405020304" pitchFamily="18" charset="0"/>
              </a:rPr>
              <a:t>f</a:t>
            </a:r>
            <a:r>
              <a:rPr lang="en-US" altLang="zh-CN" sz="1900" b="0" i="1" baseline="-25000" dirty="0" err="1">
                <a:solidFill>
                  <a:srgbClr val="000000"/>
                </a:solidFill>
                <a:latin typeface="Times New Roman" panose="02020603050405020304" pitchFamily="18" charset="0"/>
                <a:ea typeface="+mn-ea"/>
                <a:cs typeface="Times New Roman" panose="02020603050405020304" pitchFamily="18" charset="0"/>
              </a:rPr>
              <a:t>o</a:t>
            </a:r>
            <a:r>
              <a:rPr lang="zh-CN" altLang="en-US" sz="1900" b="0" dirty="0">
                <a:solidFill>
                  <a:srgbClr val="000000"/>
                </a:solidFill>
                <a:latin typeface="Times New Roman" panose="02020603050405020304" pitchFamily="18" charset="0"/>
                <a:ea typeface="+mn-ea"/>
                <a:cs typeface="Times New Roman" panose="02020603050405020304" pitchFamily="18" charset="0"/>
              </a:rPr>
              <a:t>满足</a:t>
            </a:r>
          </a:p>
        </p:txBody>
      </p:sp>
      <p:sp>
        <p:nvSpPr>
          <p:cNvPr id="10" name="Text Box 6">
            <a:extLst>
              <a:ext uri="{FF2B5EF4-FFF2-40B4-BE49-F238E27FC236}">
                <a16:creationId xmlns="" xmlns:a16="http://schemas.microsoft.com/office/drawing/2014/main" id="{B8D871AA-3049-4C65-F7BF-04288264C41D}"/>
              </a:ext>
            </a:extLst>
          </p:cNvPr>
          <p:cNvSpPr txBox="1">
            <a:spLocks noChangeArrowheads="1"/>
          </p:cNvSpPr>
          <p:nvPr/>
        </p:nvSpPr>
        <p:spPr bwMode="auto">
          <a:xfrm>
            <a:off x="5967612" y="2794408"/>
            <a:ext cx="2864887" cy="384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r>
              <a:rPr lang="zh-CN" altLang="en-US" sz="1900" b="0" dirty="0">
                <a:solidFill>
                  <a:srgbClr val="000000"/>
                </a:solidFill>
                <a:latin typeface="Times New Roman" panose="02020603050405020304" pitchFamily="18" charset="0"/>
                <a:ea typeface="+mn-ea"/>
                <a:cs typeface="Times New Roman" panose="02020603050405020304" pitchFamily="18" charset="0"/>
              </a:rPr>
              <a:t>会产生组合副波道干扰。</a:t>
            </a:r>
          </a:p>
        </p:txBody>
      </p:sp>
      <p:grpSp>
        <p:nvGrpSpPr>
          <p:cNvPr id="11" name="Group 7">
            <a:extLst>
              <a:ext uri="{FF2B5EF4-FFF2-40B4-BE49-F238E27FC236}">
                <a16:creationId xmlns="" xmlns:a16="http://schemas.microsoft.com/office/drawing/2014/main" id="{DF7B918B-7547-127B-7598-B0517DA5F3ED}"/>
              </a:ext>
            </a:extLst>
          </p:cNvPr>
          <p:cNvGrpSpPr>
            <a:grpSpLocks/>
          </p:cNvGrpSpPr>
          <p:nvPr/>
        </p:nvGrpSpPr>
        <p:grpSpPr bwMode="auto">
          <a:xfrm>
            <a:off x="3445669" y="2527374"/>
            <a:ext cx="2609850" cy="898525"/>
            <a:chOff x="2165" y="614"/>
            <a:chExt cx="1644" cy="566"/>
          </a:xfrm>
        </p:grpSpPr>
        <p:graphicFrame>
          <p:nvGraphicFramePr>
            <p:cNvPr id="12" name="Object 8">
              <a:extLst>
                <a:ext uri="{FF2B5EF4-FFF2-40B4-BE49-F238E27FC236}">
                  <a16:creationId xmlns="" xmlns:a16="http://schemas.microsoft.com/office/drawing/2014/main" id="{BB76C3F1-F5F9-B90E-CF3E-995526FD1E3A}"/>
                </a:ext>
              </a:extLst>
            </p:cNvPr>
            <p:cNvGraphicFramePr>
              <a:graphicFrameLocks/>
            </p:cNvGraphicFramePr>
            <p:nvPr>
              <p:extLst>
                <p:ext uri="{D42A27DB-BD31-4B8C-83A1-F6EECF244321}">
                  <p14:modId xmlns:p14="http://schemas.microsoft.com/office/powerpoint/2010/main" val="3089642835"/>
                </p:ext>
              </p:extLst>
            </p:nvPr>
          </p:nvGraphicFramePr>
          <p:xfrm>
            <a:off x="2165" y="614"/>
            <a:ext cx="1312" cy="566"/>
          </p:xfrm>
          <a:graphic>
            <a:graphicData uri="http://schemas.openxmlformats.org/presentationml/2006/ole">
              <mc:AlternateContent xmlns:mc="http://schemas.openxmlformats.org/markup-compatibility/2006">
                <mc:Choice xmlns:v="urn:schemas-microsoft-com:vml" Requires="v">
                  <p:oleObj spid="_x0000_s205838" r:id="rId3" imgW="1040948" imgH="482391" progId="Equation.3">
                    <p:embed/>
                  </p:oleObj>
                </mc:Choice>
                <mc:Fallback>
                  <p:oleObj r:id="rId3" imgW="1040948" imgH="482391" progId="Equation.3">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65" y="614"/>
                          <a:ext cx="1312" cy="566"/>
                        </a:xfrm>
                        <a:prstGeom prst="rect">
                          <a:avLst/>
                        </a:prstGeom>
                        <a:noFill/>
                        <a:ln>
                          <a:noFill/>
                        </a:ln>
                        <a:extLst/>
                      </p:spPr>
                    </p:pic>
                  </p:oleObj>
                </mc:Fallback>
              </mc:AlternateContent>
            </a:graphicData>
          </a:graphic>
        </p:graphicFrame>
        <p:sp>
          <p:nvSpPr>
            <p:cNvPr id="13" name="Text Box 9">
              <a:extLst>
                <a:ext uri="{FF2B5EF4-FFF2-40B4-BE49-F238E27FC236}">
                  <a16:creationId xmlns="" xmlns:a16="http://schemas.microsoft.com/office/drawing/2014/main" id="{8A9333D6-291E-30C9-D169-1951D76129D6}"/>
                </a:ext>
              </a:extLst>
            </p:cNvPr>
            <p:cNvSpPr txBox="1">
              <a:spLocks noChangeArrowheads="1"/>
            </p:cNvSpPr>
            <p:nvPr/>
          </p:nvSpPr>
          <p:spPr bwMode="auto">
            <a:xfrm>
              <a:off x="3477" y="780"/>
              <a:ext cx="33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r>
                <a:rPr lang="zh-CN" altLang="en-US" sz="1900" b="0" dirty="0">
                  <a:solidFill>
                    <a:srgbClr val="000000"/>
                  </a:solidFill>
                  <a:latin typeface="Times New Roman" panose="02020603050405020304" pitchFamily="18" charset="0"/>
                  <a:ea typeface="+mn-ea"/>
                  <a:cs typeface="Times New Roman" panose="02020603050405020304" pitchFamily="18" charset="0"/>
                </a:rPr>
                <a:t>时，</a:t>
              </a:r>
            </a:p>
          </p:txBody>
        </p:sp>
      </p:grpSp>
      <p:sp>
        <p:nvSpPr>
          <p:cNvPr id="14" name="Text Box 2">
            <a:extLst>
              <a:ext uri="{FF2B5EF4-FFF2-40B4-BE49-F238E27FC236}">
                <a16:creationId xmlns="" xmlns:a16="http://schemas.microsoft.com/office/drawing/2014/main" id="{F0C4FF87-3830-43EA-8D8C-B76CC6E4EE80}"/>
              </a:ext>
            </a:extLst>
          </p:cNvPr>
          <p:cNvSpPr txBox="1">
            <a:spLocks noChangeArrowheads="1"/>
          </p:cNvSpPr>
          <p:nvPr/>
        </p:nvSpPr>
        <p:spPr bwMode="auto">
          <a:xfrm>
            <a:off x="154101" y="3179129"/>
            <a:ext cx="1749197" cy="384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r>
              <a:rPr lang="zh-CN" altLang="en-US" sz="1900" b="0" dirty="0">
                <a:solidFill>
                  <a:srgbClr val="0000CC"/>
                </a:solidFill>
                <a:latin typeface="Times New Roman" panose="02020603050405020304" pitchFamily="18" charset="0"/>
                <a:ea typeface="+mn-ea"/>
                <a:cs typeface="Times New Roman" panose="02020603050405020304" pitchFamily="18" charset="0"/>
              </a:rPr>
              <a:t>(2) 副波道干扰</a:t>
            </a:r>
          </a:p>
        </p:txBody>
      </p:sp>
      <p:sp>
        <p:nvSpPr>
          <p:cNvPr id="15" name="Text Box 3">
            <a:extLst>
              <a:ext uri="{FF2B5EF4-FFF2-40B4-BE49-F238E27FC236}">
                <a16:creationId xmlns="" xmlns:a16="http://schemas.microsoft.com/office/drawing/2014/main" id="{E69130FE-2DBE-93BF-5B35-442BEA34A6D2}"/>
              </a:ext>
            </a:extLst>
          </p:cNvPr>
          <p:cNvSpPr txBox="1">
            <a:spLocks noChangeArrowheads="1"/>
          </p:cNvSpPr>
          <p:nvPr/>
        </p:nvSpPr>
        <p:spPr bwMode="auto">
          <a:xfrm>
            <a:off x="195263" y="3563850"/>
            <a:ext cx="8424863" cy="677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r>
              <a:rPr lang="zh-CN" altLang="en-US" sz="1900" b="0" dirty="0">
                <a:solidFill>
                  <a:srgbClr val="000000"/>
                </a:solidFill>
                <a:latin typeface="Times New Roman" panose="02020603050405020304" pitchFamily="18" charset="0"/>
                <a:ea typeface="+mn-ea"/>
                <a:cs typeface="Times New Roman" panose="02020603050405020304" pitchFamily="18" charset="0"/>
              </a:rPr>
              <a:t>    在组合副波道干扰中，某些特定频率形成的干扰称为副波道干扰。这种干扰主要有中频干扰和镜像干扰。</a:t>
            </a:r>
          </a:p>
        </p:txBody>
      </p:sp>
      <p:sp>
        <p:nvSpPr>
          <p:cNvPr id="16" name="Text Box 4">
            <a:extLst>
              <a:ext uri="{FF2B5EF4-FFF2-40B4-BE49-F238E27FC236}">
                <a16:creationId xmlns="" xmlns:a16="http://schemas.microsoft.com/office/drawing/2014/main" id="{6DC9251C-C0D7-384E-B057-733A478069AB}"/>
              </a:ext>
            </a:extLst>
          </p:cNvPr>
          <p:cNvSpPr txBox="1">
            <a:spLocks noChangeArrowheads="1"/>
          </p:cNvSpPr>
          <p:nvPr/>
        </p:nvSpPr>
        <p:spPr bwMode="auto">
          <a:xfrm>
            <a:off x="154101" y="4207177"/>
            <a:ext cx="1362874" cy="384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r>
              <a:rPr lang="zh-CN" altLang="en-US" sz="1900" b="0" dirty="0">
                <a:solidFill>
                  <a:srgbClr val="FF0000"/>
                </a:solidFill>
                <a:latin typeface="Times New Roman" panose="02020603050405020304" pitchFamily="18" charset="0"/>
                <a:ea typeface="+mn-ea"/>
                <a:cs typeface="Times New Roman" panose="02020603050405020304" pitchFamily="18" charset="0"/>
              </a:rPr>
              <a:t>1)中频干扰</a:t>
            </a:r>
          </a:p>
        </p:txBody>
      </p:sp>
      <p:sp>
        <p:nvSpPr>
          <p:cNvPr id="17" name="Text Box 5">
            <a:extLst>
              <a:ext uri="{FF2B5EF4-FFF2-40B4-BE49-F238E27FC236}">
                <a16:creationId xmlns="" xmlns:a16="http://schemas.microsoft.com/office/drawing/2014/main" id="{E77F93C0-D177-E798-58C9-2F535AAD33DF}"/>
              </a:ext>
            </a:extLst>
          </p:cNvPr>
          <p:cNvSpPr txBox="1">
            <a:spLocks noChangeArrowheads="1"/>
          </p:cNvSpPr>
          <p:nvPr/>
        </p:nvSpPr>
        <p:spPr bwMode="auto">
          <a:xfrm>
            <a:off x="404977" y="4625679"/>
            <a:ext cx="4855816" cy="384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r>
              <a:rPr lang="zh-CN" altLang="en-US" sz="1900" b="0" dirty="0">
                <a:solidFill>
                  <a:srgbClr val="000000"/>
                </a:solidFill>
                <a:latin typeface="Times New Roman" panose="02020603050405020304" pitchFamily="18" charset="0"/>
                <a:ea typeface="+mn-ea"/>
                <a:cs typeface="Times New Roman" panose="02020603050405020304" pitchFamily="18" charset="0"/>
              </a:rPr>
              <a:t>当干扰信号的频率等于或接近</a:t>
            </a:r>
            <a:r>
              <a:rPr lang="en-US" altLang="zh-CN" sz="1900" b="0" dirty="0">
                <a:solidFill>
                  <a:srgbClr val="000000"/>
                </a:solidFill>
                <a:latin typeface="Times New Roman" panose="02020603050405020304" pitchFamily="18" charset="0"/>
                <a:ea typeface="+mn-ea"/>
                <a:cs typeface="Times New Roman" panose="02020603050405020304" pitchFamily="18" charset="0"/>
              </a:rPr>
              <a:t>f</a:t>
            </a:r>
            <a:r>
              <a:rPr lang="en-US" altLang="zh-CN" sz="1900" b="0" baseline="-25000" dirty="0">
                <a:solidFill>
                  <a:srgbClr val="000000"/>
                </a:solidFill>
                <a:latin typeface="Times New Roman" panose="02020603050405020304" pitchFamily="18" charset="0"/>
                <a:ea typeface="+mn-ea"/>
                <a:cs typeface="Times New Roman" panose="02020603050405020304" pitchFamily="18" charset="0"/>
              </a:rPr>
              <a:t>i </a:t>
            </a:r>
            <a:r>
              <a:rPr lang="zh-CN" altLang="en-US" sz="1900" b="0" dirty="0">
                <a:solidFill>
                  <a:srgbClr val="000000"/>
                </a:solidFill>
                <a:latin typeface="Times New Roman" panose="02020603050405020304" pitchFamily="18" charset="0"/>
                <a:ea typeface="+mn-ea"/>
                <a:cs typeface="Times New Roman" panose="02020603050405020304" pitchFamily="18" charset="0"/>
              </a:rPr>
              <a:t>时的干扰。</a:t>
            </a:r>
          </a:p>
        </p:txBody>
      </p:sp>
      <p:sp>
        <p:nvSpPr>
          <p:cNvPr id="18" name="Text Box 6">
            <a:extLst>
              <a:ext uri="{FF2B5EF4-FFF2-40B4-BE49-F238E27FC236}">
                <a16:creationId xmlns="" xmlns:a16="http://schemas.microsoft.com/office/drawing/2014/main" id="{6F3E2F9D-8D11-B64E-2333-6FBA1F4E4CD0}"/>
              </a:ext>
            </a:extLst>
          </p:cNvPr>
          <p:cNvSpPr txBox="1">
            <a:spLocks noChangeArrowheads="1"/>
          </p:cNvSpPr>
          <p:nvPr/>
        </p:nvSpPr>
        <p:spPr bwMode="auto">
          <a:xfrm>
            <a:off x="176190" y="4945862"/>
            <a:ext cx="1903085" cy="384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r>
              <a:rPr lang="zh-CN" altLang="en-US" sz="1900" b="0" dirty="0">
                <a:solidFill>
                  <a:srgbClr val="FF0000"/>
                </a:solidFill>
                <a:latin typeface="Times New Roman" panose="02020603050405020304" pitchFamily="18" charset="0"/>
                <a:ea typeface="+mn-ea"/>
                <a:cs typeface="Times New Roman" panose="02020603050405020304" pitchFamily="18" charset="0"/>
              </a:rPr>
              <a:t>2)镜像频率干扰</a:t>
            </a:r>
          </a:p>
        </p:txBody>
      </p:sp>
      <p:grpSp>
        <p:nvGrpSpPr>
          <p:cNvPr id="19" name="Group 7">
            <a:extLst>
              <a:ext uri="{FF2B5EF4-FFF2-40B4-BE49-F238E27FC236}">
                <a16:creationId xmlns="" xmlns:a16="http://schemas.microsoft.com/office/drawing/2014/main" id="{B32A9233-6AD3-3FEC-FFA4-9CED8F7E1E54}"/>
              </a:ext>
            </a:extLst>
          </p:cNvPr>
          <p:cNvGrpSpPr>
            <a:grpSpLocks/>
          </p:cNvGrpSpPr>
          <p:nvPr/>
        </p:nvGrpSpPr>
        <p:grpSpPr bwMode="auto">
          <a:xfrm>
            <a:off x="385454" y="5309859"/>
            <a:ext cx="5184910" cy="427038"/>
            <a:chOff x="1066" y="2409"/>
            <a:chExt cx="2931" cy="269"/>
          </a:xfrm>
        </p:grpSpPr>
        <p:sp>
          <p:nvSpPr>
            <p:cNvPr id="20" name="Text Box 8">
              <a:extLst>
                <a:ext uri="{FF2B5EF4-FFF2-40B4-BE49-F238E27FC236}">
                  <a16:creationId xmlns="" xmlns:a16="http://schemas.microsoft.com/office/drawing/2014/main" id="{D0DC3BBD-5BE0-516A-D39F-31AA4A8B56B5}"/>
                </a:ext>
              </a:extLst>
            </p:cNvPr>
            <p:cNvSpPr txBox="1">
              <a:spLocks noChangeArrowheads="1"/>
            </p:cNvSpPr>
            <p:nvPr/>
          </p:nvSpPr>
          <p:spPr bwMode="auto">
            <a:xfrm>
              <a:off x="1066" y="2409"/>
              <a:ext cx="2325"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r>
                <a:rPr lang="zh-CN" altLang="en-US" sz="1900" b="0" dirty="0">
                  <a:solidFill>
                    <a:srgbClr val="000000"/>
                  </a:solidFill>
                  <a:latin typeface="Times New Roman" panose="02020603050405020304" pitchFamily="18" charset="0"/>
                  <a:ea typeface="+mn-ea"/>
                  <a:cs typeface="Times New Roman" panose="02020603050405020304" pitchFamily="18" charset="0"/>
                </a:rPr>
                <a:t>当外来干扰干扰信号的频率</a:t>
              </a:r>
              <a:r>
                <a:rPr lang="en-US" altLang="zh-CN" sz="1900" b="0" dirty="0" err="1">
                  <a:solidFill>
                    <a:srgbClr val="000000"/>
                  </a:solidFill>
                  <a:latin typeface="Times New Roman" panose="02020603050405020304" pitchFamily="18" charset="0"/>
                  <a:ea typeface="+mn-ea"/>
                  <a:cs typeface="Times New Roman" panose="02020603050405020304" pitchFamily="18" charset="0"/>
                </a:rPr>
                <a:t>f</a:t>
              </a:r>
              <a:r>
                <a:rPr lang="en-US" altLang="zh-CN" sz="1900" b="0" baseline="-25000" dirty="0" err="1">
                  <a:solidFill>
                    <a:srgbClr val="000000"/>
                  </a:solidFill>
                  <a:latin typeface="Times New Roman" panose="02020603050405020304" pitchFamily="18" charset="0"/>
                  <a:ea typeface="+mn-ea"/>
                  <a:cs typeface="Times New Roman" panose="02020603050405020304" pitchFamily="18" charset="0"/>
                </a:rPr>
                <a:t>n</a:t>
              </a:r>
              <a:r>
                <a:rPr lang="en-US" altLang="zh-CN" sz="1900" b="0" dirty="0">
                  <a:solidFill>
                    <a:srgbClr val="000000"/>
                  </a:solidFill>
                  <a:latin typeface="Times New Roman" panose="02020603050405020304" pitchFamily="18" charset="0"/>
                  <a:ea typeface="+mn-ea"/>
                  <a:cs typeface="Times New Roman" panose="02020603050405020304" pitchFamily="18" charset="0"/>
                </a:rPr>
                <a:t>=</a:t>
              </a:r>
              <a:r>
                <a:rPr lang="en-US" altLang="zh-CN" sz="1900" b="0" dirty="0" err="1">
                  <a:solidFill>
                    <a:srgbClr val="000000"/>
                  </a:solidFill>
                  <a:latin typeface="Times New Roman" panose="02020603050405020304" pitchFamily="18" charset="0"/>
                  <a:ea typeface="+mn-ea"/>
                  <a:cs typeface="Times New Roman" panose="02020603050405020304" pitchFamily="18" charset="0"/>
                </a:rPr>
                <a:t>f</a:t>
              </a:r>
              <a:r>
                <a:rPr lang="en-US" altLang="zh-CN" sz="1900" b="0" baseline="-25000" dirty="0" err="1">
                  <a:solidFill>
                    <a:srgbClr val="000000"/>
                  </a:solidFill>
                  <a:latin typeface="Times New Roman" panose="02020603050405020304" pitchFamily="18" charset="0"/>
                  <a:ea typeface="+mn-ea"/>
                  <a:cs typeface="Times New Roman" panose="02020603050405020304" pitchFamily="18" charset="0"/>
                </a:rPr>
                <a:t>o</a:t>
              </a:r>
              <a:r>
                <a:rPr lang="en-US" altLang="zh-CN" sz="1900" b="0" dirty="0" err="1">
                  <a:solidFill>
                    <a:srgbClr val="000000"/>
                  </a:solidFill>
                  <a:latin typeface="Times New Roman" panose="02020603050405020304" pitchFamily="18" charset="0"/>
                  <a:ea typeface="+mn-ea"/>
                  <a:cs typeface="Times New Roman" panose="02020603050405020304" pitchFamily="18" charset="0"/>
                </a:rPr>
                <a:t>+f</a:t>
              </a:r>
              <a:r>
                <a:rPr lang="en-US" altLang="zh-CN" sz="1900" b="0" baseline="-25000" dirty="0" err="1">
                  <a:solidFill>
                    <a:srgbClr val="000000"/>
                  </a:solidFill>
                  <a:latin typeface="Times New Roman" panose="02020603050405020304" pitchFamily="18" charset="0"/>
                  <a:ea typeface="+mn-ea"/>
                  <a:cs typeface="Times New Roman" panose="02020603050405020304" pitchFamily="18" charset="0"/>
                </a:rPr>
                <a:t>i</a:t>
              </a:r>
              <a:r>
                <a:rPr lang="en-US" altLang="zh-CN" sz="1900" b="0" dirty="0">
                  <a:solidFill>
                    <a:srgbClr val="000000"/>
                  </a:solidFill>
                  <a:latin typeface="Times New Roman" panose="02020603050405020304" pitchFamily="18" charset="0"/>
                  <a:ea typeface="+mn-ea"/>
                  <a:cs typeface="Times New Roman" panose="02020603050405020304" pitchFamily="18" charset="0"/>
                </a:rPr>
                <a:t>=</a:t>
              </a:r>
            </a:p>
          </p:txBody>
        </p:sp>
        <p:graphicFrame>
          <p:nvGraphicFramePr>
            <p:cNvPr id="21" name="Object 9">
              <a:extLst>
                <a:ext uri="{FF2B5EF4-FFF2-40B4-BE49-F238E27FC236}">
                  <a16:creationId xmlns="" xmlns:a16="http://schemas.microsoft.com/office/drawing/2014/main" id="{AE86AA35-E7FD-3F8D-27CF-0127537C4F4B}"/>
                </a:ext>
              </a:extLst>
            </p:cNvPr>
            <p:cNvGraphicFramePr>
              <a:graphicFrameLocks/>
            </p:cNvGraphicFramePr>
            <p:nvPr>
              <p:extLst>
                <p:ext uri="{D42A27DB-BD31-4B8C-83A1-F6EECF244321}">
                  <p14:modId xmlns:p14="http://schemas.microsoft.com/office/powerpoint/2010/main" val="2543619277"/>
                </p:ext>
              </p:extLst>
            </p:nvPr>
          </p:nvGraphicFramePr>
          <p:xfrm>
            <a:off x="3232" y="2438"/>
            <a:ext cx="172" cy="240"/>
          </p:xfrm>
          <a:graphic>
            <a:graphicData uri="http://schemas.openxmlformats.org/presentationml/2006/ole">
              <mc:AlternateContent xmlns:mc="http://schemas.openxmlformats.org/markup-compatibility/2006">
                <mc:Choice xmlns:v="urn:schemas-microsoft-com:vml" Requires="v">
                  <p:oleObj spid="_x0000_s205839" r:id="rId5" imgW="152268" imgH="228402" progId="Equation.3">
                    <p:embed/>
                  </p:oleObj>
                </mc:Choice>
                <mc:Fallback>
                  <p:oleObj r:id="rId5" imgW="152268" imgH="228402" progId="Equation.3">
                    <p:embed/>
                    <p:pic>
                      <p:nvPicPr>
                        <p:cNvPr id="0" name=""/>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32" y="2438"/>
                          <a:ext cx="172" cy="240"/>
                        </a:xfrm>
                        <a:prstGeom prst="rect">
                          <a:avLst/>
                        </a:prstGeom>
                        <a:noFill/>
                        <a:ln>
                          <a:noFill/>
                        </a:ln>
                        <a:extLst/>
                      </p:spPr>
                    </p:pic>
                  </p:oleObj>
                </mc:Fallback>
              </mc:AlternateContent>
            </a:graphicData>
          </a:graphic>
        </p:graphicFrame>
        <p:sp>
          <p:nvSpPr>
            <p:cNvPr id="22" name="Text Box 10">
              <a:extLst>
                <a:ext uri="{FF2B5EF4-FFF2-40B4-BE49-F238E27FC236}">
                  <a16:creationId xmlns="" xmlns:a16="http://schemas.microsoft.com/office/drawing/2014/main" id="{2370ABDA-68BB-1497-32CA-6241B0F51151}"/>
                </a:ext>
              </a:extLst>
            </p:cNvPr>
            <p:cNvSpPr txBox="1">
              <a:spLocks noChangeArrowheads="1"/>
            </p:cNvSpPr>
            <p:nvPr/>
          </p:nvSpPr>
          <p:spPr bwMode="auto">
            <a:xfrm>
              <a:off x="3342" y="2409"/>
              <a:ext cx="655"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r>
                <a:rPr lang="zh-CN" altLang="en-US" sz="1900" b="0" dirty="0">
                  <a:solidFill>
                    <a:srgbClr val="000000"/>
                  </a:solidFill>
                  <a:latin typeface="Times New Roman" panose="02020603050405020304" pitchFamily="18" charset="0"/>
                  <a:ea typeface="+mn-ea"/>
                  <a:cs typeface="Times New Roman" panose="02020603050405020304" pitchFamily="18" charset="0"/>
                </a:rPr>
                <a:t>时的干扰</a:t>
              </a:r>
            </a:p>
          </p:txBody>
        </p:sp>
      </p:grpSp>
      <p:sp>
        <p:nvSpPr>
          <p:cNvPr id="23" name="Rectangle 11">
            <a:extLst>
              <a:ext uri="{FF2B5EF4-FFF2-40B4-BE49-F238E27FC236}">
                <a16:creationId xmlns="" xmlns:a16="http://schemas.microsoft.com/office/drawing/2014/main" id="{6BDE1F4A-AE87-DBEC-74D6-0BB8BAAC3581}"/>
              </a:ext>
            </a:extLst>
          </p:cNvPr>
          <p:cNvSpPr>
            <a:spLocks noChangeArrowheads="1"/>
          </p:cNvSpPr>
          <p:nvPr/>
        </p:nvSpPr>
        <p:spPr bwMode="auto">
          <a:xfrm>
            <a:off x="5468788" y="5266996"/>
            <a:ext cx="3505200" cy="384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r>
              <a:rPr lang="en-US" altLang="zh-CN" sz="1900" b="0">
                <a:solidFill>
                  <a:srgbClr val="000000"/>
                </a:solidFill>
                <a:latin typeface="Times New Roman" panose="02020603050405020304" pitchFamily="18" charset="0"/>
                <a:ea typeface="+mn-ea"/>
                <a:cs typeface="Times New Roman" panose="02020603050405020304" pitchFamily="18" charset="0"/>
              </a:rPr>
              <a:t>f</a:t>
            </a:r>
            <a:r>
              <a:rPr lang="en-US" altLang="zh-CN" sz="1900" b="0" baseline="-25000">
                <a:solidFill>
                  <a:srgbClr val="000000"/>
                </a:solidFill>
                <a:latin typeface="Times New Roman" panose="02020603050405020304" pitchFamily="18" charset="0"/>
                <a:ea typeface="+mn-ea"/>
                <a:cs typeface="Times New Roman" panose="02020603050405020304" pitchFamily="18" charset="0"/>
              </a:rPr>
              <a:t>n</a:t>
            </a:r>
            <a:r>
              <a:rPr lang="en-US" altLang="zh-CN" sz="1900" b="0">
                <a:solidFill>
                  <a:srgbClr val="000000"/>
                </a:solidFill>
                <a:latin typeface="Times New Roman" panose="02020603050405020304" pitchFamily="18" charset="0"/>
                <a:ea typeface="+mn-ea"/>
                <a:cs typeface="Times New Roman" panose="02020603050405020304" pitchFamily="18" charset="0"/>
              </a:rPr>
              <a:t>=f</a:t>
            </a:r>
            <a:r>
              <a:rPr lang="en-US" altLang="zh-CN" sz="1900" b="0" baseline="-25000">
                <a:solidFill>
                  <a:srgbClr val="000000"/>
                </a:solidFill>
                <a:latin typeface="Times New Roman" panose="02020603050405020304" pitchFamily="18" charset="0"/>
                <a:ea typeface="+mn-ea"/>
                <a:cs typeface="Times New Roman" panose="02020603050405020304" pitchFamily="18" charset="0"/>
              </a:rPr>
              <a:t>o</a:t>
            </a:r>
            <a:r>
              <a:rPr lang="en-US" altLang="zh-CN" sz="1900" b="0">
                <a:solidFill>
                  <a:srgbClr val="000000"/>
                </a:solidFill>
                <a:latin typeface="Times New Roman" panose="02020603050405020304" pitchFamily="18" charset="0"/>
                <a:ea typeface="+mn-ea"/>
                <a:cs typeface="Times New Roman" panose="02020603050405020304" pitchFamily="18" charset="0"/>
              </a:rPr>
              <a:t>+f</a:t>
            </a:r>
            <a:r>
              <a:rPr lang="en-US" altLang="zh-CN" sz="1900" b="0" baseline="-25000">
                <a:solidFill>
                  <a:srgbClr val="000000"/>
                </a:solidFill>
                <a:latin typeface="Times New Roman" panose="02020603050405020304" pitchFamily="18" charset="0"/>
                <a:ea typeface="+mn-ea"/>
                <a:cs typeface="Times New Roman" panose="02020603050405020304" pitchFamily="18" charset="0"/>
              </a:rPr>
              <a:t>i</a:t>
            </a:r>
            <a:r>
              <a:rPr lang="en-US" altLang="zh-CN" sz="1900" b="0">
                <a:solidFill>
                  <a:srgbClr val="000000"/>
                </a:solidFill>
                <a:latin typeface="Times New Roman" panose="02020603050405020304" pitchFamily="18" charset="0"/>
                <a:ea typeface="+mn-ea"/>
                <a:cs typeface="Times New Roman" panose="02020603050405020304" pitchFamily="18" charset="0"/>
              </a:rPr>
              <a:t>=</a:t>
            </a:r>
          </a:p>
        </p:txBody>
      </p:sp>
      <p:graphicFrame>
        <p:nvGraphicFramePr>
          <p:cNvPr id="24" name="Object 12">
            <a:extLst>
              <a:ext uri="{FF2B5EF4-FFF2-40B4-BE49-F238E27FC236}">
                <a16:creationId xmlns="" xmlns:a16="http://schemas.microsoft.com/office/drawing/2014/main" id="{B271F942-4359-9A10-75BE-FFA8237F77B8}"/>
              </a:ext>
            </a:extLst>
          </p:cNvPr>
          <p:cNvGraphicFramePr>
            <a:graphicFrameLocks/>
          </p:cNvGraphicFramePr>
          <p:nvPr>
            <p:extLst>
              <p:ext uri="{D42A27DB-BD31-4B8C-83A1-F6EECF244321}">
                <p14:modId xmlns:p14="http://schemas.microsoft.com/office/powerpoint/2010/main" val="3062928794"/>
              </p:ext>
            </p:extLst>
          </p:nvPr>
        </p:nvGraphicFramePr>
        <p:xfrm>
          <a:off x="6485655" y="5266996"/>
          <a:ext cx="914400" cy="409575"/>
        </p:xfrm>
        <a:graphic>
          <a:graphicData uri="http://schemas.openxmlformats.org/presentationml/2006/ole">
            <mc:AlternateContent xmlns:mc="http://schemas.openxmlformats.org/markup-compatibility/2006">
              <mc:Choice xmlns:v="urn:schemas-microsoft-com:vml" Requires="v">
                <p:oleObj spid="_x0000_s205840" r:id="rId7" imgW="508000" imgH="228600" progId="Equation.3">
                  <p:embed/>
                </p:oleObj>
              </mc:Choice>
              <mc:Fallback>
                <p:oleObj r:id="rId7" imgW="508000" imgH="228600" progId="Equation.3">
                  <p:embed/>
                  <p:pic>
                    <p:nvPicPr>
                      <p:cNvPr id="0" name=""/>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485655" y="5266996"/>
                        <a:ext cx="914400" cy="409575"/>
                      </a:xfrm>
                      <a:prstGeom prst="rect">
                        <a:avLst/>
                      </a:prstGeom>
                      <a:solidFill>
                        <a:srgbClr val="FFFF00"/>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519810957"/>
      </p:ext>
    </p:extLst>
  </p:cSld>
  <p:clrMapOvr>
    <a:masterClrMapping/>
  </p:clrMapOvr>
  <p:timing>
    <p:tnLst>
      <p:par>
        <p:cTn id="1" dur="indefinite" restart="never" nodeType="tmRoot"/>
      </p:par>
    </p:tnLst>
  </p:timing>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258</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5"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6.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振幅调制</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与</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解调</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 name="Rectangle 4">
            <a:extLst>
              <a:ext uri="{FF2B5EF4-FFF2-40B4-BE49-F238E27FC236}">
                <a16:creationId xmlns="" xmlns:a16="http://schemas.microsoft.com/office/drawing/2014/main" id="{55DF9AEF-F3CE-6125-BB24-A3619D5B307E}"/>
              </a:ext>
            </a:extLst>
          </p:cNvPr>
          <p:cNvSpPr>
            <a:spLocks noChangeArrowheads="1"/>
          </p:cNvSpPr>
          <p:nvPr/>
        </p:nvSpPr>
        <p:spPr bwMode="auto">
          <a:xfrm>
            <a:off x="323850" y="1340768"/>
            <a:ext cx="8642350"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9pPr>
          </a:lstStyle>
          <a:p>
            <a:pPr eaLnBrk="1" hangingPunct="1"/>
            <a:r>
              <a:rPr lang="zh-CN" altLang="en-US" sz="2000" b="0">
                <a:solidFill>
                  <a:srgbClr val="000000"/>
                </a:solidFill>
                <a:latin typeface="Times New Roman" panose="02020603050405020304" pitchFamily="18" charset="0"/>
                <a:ea typeface="+mn-ea"/>
                <a:cs typeface="Times New Roman" panose="02020603050405020304" pitchFamily="18" charset="0"/>
              </a:rPr>
              <a:t>例：</a:t>
            </a:r>
            <a:r>
              <a:rPr lang="en-US" altLang="zh-CN" sz="2000" b="0">
                <a:solidFill>
                  <a:srgbClr val="000000"/>
                </a:solidFill>
                <a:latin typeface="Times New Roman" panose="02020603050405020304" pitchFamily="18" charset="0"/>
                <a:ea typeface="+mn-ea"/>
                <a:cs typeface="Times New Roman" panose="02020603050405020304" pitchFamily="18" charset="0"/>
              </a:rPr>
              <a:t> </a:t>
            </a:r>
            <a:r>
              <a:rPr lang="zh-CN" altLang="en-US" sz="2000" b="0">
                <a:solidFill>
                  <a:srgbClr val="000000"/>
                </a:solidFill>
                <a:latin typeface="Times New Roman" panose="02020603050405020304" pitchFamily="18" charset="0"/>
                <a:ea typeface="+mn-ea"/>
                <a:cs typeface="Times New Roman" panose="02020603050405020304" pitchFamily="18" charset="0"/>
              </a:rPr>
              <a:t>某超外差收音机，其中频</a:t>
            </a:r>
            <a:r>
              <a:rPr lang="en-US" altLang="zh-CN" sz="2000" b="0">
                <a:solidFill>
                  <a:srgbClr val="000000"/>
                </a:solidFill>
                <a:latin typeface="Times New Roman" panose="02020603050405020304" pitchFamily="18" charset="0"/>
                <a:ea typeface="+mn-ea"/>
                <a:cs typeface="Times New Roman" panose="02020603050405020304" pitchFamily="18" charset="0"/>
              </a:rPr>
              <a:t>fi=465kHz</a:t>
            </a:r>
            <a:r>
              <a:rPr lang="zh-CN" altLang="en-US" sz="2000" b="0">
                <a:solidFill>
                  <a:srgbClr val="000000"/>
                </a:solidFill>
                <a:latin typeface="Times New Roman" panose="02020603050405020304" pitchFamily="18" charset="0"/>
                <a:ea typeface="+mn-ea"/>
                <a:cs typeface="Times New Roman" panose="02020603050405020304" pitchFamily="18" charset="0"/>
              </a:rPr>
              <a:t>。</a:t>
            </a:r>
          </a:p>
          <a:p>
            <a:pPr eaLnBrk="1" hangingPunct="1"/>
            <a:r>
              <a:rPr lang="zh-CN" altLang="en-US" sz="2000" b="0">
                <a:solidFill>
                  <a:srgbClr val="000000"/>
                </a:solidFill>
                <a:latin typeface="Times New Roman" panose="02020603050405020304" pitchFamily="18" charset="0"/>
                <a:ea typeface="+mn-ea"/>
                <a:cs typeface="Times New Roman" panose="02020603050405020304" pitchFamily="18" charset="0"/>
              </a:rPr>
              <a:t>    </a:t>
            </a:r>
            <a:r>
              <a:rPr lang="en-US" altLang="zh-CN" sz="2000" b="0">
                <a:solidFill>
                  <a:srgbClr val="000000"/>
                </a:solidFill>
                <a:latin typeface="Times New Roman" panose="02020603050405020304" pitchFamily="18" charset="0"/>
                <a:ea typeface="+mn-ea"/>
                <a:cs typeface="Times New Roman" panose="02020603050405020304" pitchFamily="18" charset="0"/>
              </a:rPr>
              <a:t>(1) </a:t>
            </a:r>
            <a:r>
              <a:rPr lang="zh-CN" altLang="en-US" sz="2000" b="0">
                <a:solidFill>
                  <a:srgbClr val="000000"/>
                </a:solidFill>
                <a:latin typeface="Times New Roman" panose="02020603050405020304" pitchFamily="18" charset="0"/>
                <a:ea typeface="+mn-ea"/>
                <a:cs typeface="Times New Roman" panose="02020603050405020304" pitchFamily="18" charset="0"/>
              </a:rPr>
              <a:t>当收听</a:t>
            </a:r>
            <a:r>
              <a:rPr lang="en-US" altLang="zh-CN" sz="2000" b="0">
                <a:solidFill>
                  <a:srgbClr val="000000"/>
                </a:solidFill>
                <a:latin typeface="Times New Roman" panose="02020603050405020304" pitchFamily="18" charset="0"/>
                <a:ea typeface="+mn-ea"/>
                <a:cs typeface="Times New Roman" panose="02020603050405020304" pitchFamily="18" charset="0"/>
              </a:rPr>
              <a:t>fs1=550kHz</a:t>
            </a:r>
            <a:r>
              <a:rPr lang="zh-CN" altLang="en-US" sz="2000" b="0">
                <a:solidFill>
                  <a:srgbClr val="000000"/>
                </a:solidFill>
                <a:latin typeface="Times New Roman" panose="02020603050405020304" pitchFamily="18" charset="0"/>
                <a:ea typeface="+mn-ea"/>
                <a:cs typeface="Times New Roman" panose="02020603050405020304" pitchFamily="18" charset="0"/>
              </a:rPr>
              <a:t>电台节目时，还能听到</a:t>
            </a:r>
            <a:r>
              <a:rPr lang="en-US" altLang="zh-CN" sz="2000" b="0">
                <a:solidFill>
                  <a:srgbClr val="000000"/>
                </a:solidFill>
                <a:latin typeface="Times New Roman" panose="02020603050405020304" pitchFamily="18" charset="0"/>
                <a:ea typeface="+mn-ea"/>
                <a:cs typeface="Times New Roman" panose="02020603050405020304" pitchFamily="18" charset="0"/>
              </a:rPr>
              <a:t>fn1=1480kHz</a:t>
            </a:r>
            <a:r>
              <a:rPr lang="zh-CN" altLang="en-US" sz="2000" b="0">
                <a:solidFill>
                  <a:srgbClr val="000000"/>
                </a:solidFill>
                <a:latin typeface="Times New Roman" panose="02020603050405020304" pitchFamily="18" charset="0"/>
                <a:ea typeface="+mn-ea"/>
                <a:cs typeface="Times New Roman" panose="02020603050405020304" pitchFamily="18" charset="0"/>
              </a:rPr>
              <a:t>强电台的声音，分析产生干扰的原因。</a:t>
            </a:r>
          </a:p>
          <a:p>
            <a:pPr eaLnBrk="1" hangingPunct="1"/>
            <a:r>
              <a:rPr lang="zh-CN" altLang="en-US" sz="2000" b="0">
                <a:solidFill>
                  <a:srgbClr val="000000"/>
                </a:solidFill>
                <a:latin typeface="Times New Roman" panose="02020603050405020304" pitchFamily="18" charset="0"/>
                <a:ea typeface="+mn-ea"/>
                <a:cs typeface="Times New Roman" panose="02020603050405020304" pitchFamily="18" charset="0"/>
              </a:rPr>
              <a:t>    </a:t>
            </a:r>
            <a:r>
              <a:rPr lang="en-US" altLang="zh-CN" sz="2000" b="0">
                <a:solidFill>
                  <a:srgbClr val="000000"/>
                </a:solidFill>
                <a:latin typeface="Times New Roman" panose="02020603050405020304" pitchFamily="18" charset="0"/>
                <a:ea typeface="+mn-ea"/>
                <a:cs typeface="Times New Roman" panose="02020603050405020304" pitchFamily="18" charset="0"/>
              </a:rPr>
              <a:t>(2) </a:t>
            </a:r>
            <a:r>
              <a:rPr lang="zh-CN" altLang="en-US" sz="2000" b="0">
                <a:solidFill>
                  <a:srgbClr val="000000"/>
                </a:solidFill>
                <a:latin typeface="Times New Roman" panose="02020603050405020304" pitchFamily="18" charset="0"/>
                <a:ea typeface="+mn-ea"/>
                <a:cs typeface="Times New Roman" panose="02020603050405020304" pitchFamily="18" charset="0"/>
              </a:rPr>
              <a:t>当收听</a:t>
            </a:r>
            <a:r>
              <a:rPr lang="en-US" altLang="zh-CN" sz="2000" b="0">
                <a:solidFill>
                  <a:srgbClr val="000000"/>
                </a:solidFill>
                <a:latin typeface="Times New Roman" panose="02020603050405020304" pitchFamily="18" charset="0"/>
                <a:ea typeface="+mn-ea"/>
                <a:cs typeface="Times New Roman" panose="02020603050405020304" pitchFamily="18" charset="0"/>
              </a:rPr>
              <a:t>fs2=1480kHz</a:t>
            </a:r>
            <a:r>
              <a:rPr lang="zh-CN" altLang="en-US" sz="2000" b="0">
                <a:solidFill>
                  <a:srgbClr val="000000"/>
                </a:solidFill>
                <a:latin typeface="Times New Roman" panose="02020603050405020304" pitchFamily="18" charset="0"/>
                <a:ea typeface="+mn-ea"/>
                <a:cs typeface="Times New Roman" panose="02020603050405020304" pitchFamily="18" charset="0"/>
              </a:rPr>
              <a:t>电台节目时，还能听到</a:t>
            </a:r>
            <a:r>
              <a:rPr lang="en-US" altLang="zh-CN" sz="2000" b="0">
                <a:solidFill>
                  <a:srgbClr val="000000"/>
                </a:solidFill>
                <a:latin typeface="Times New Roman" panose="02020603050405020304" pitchFamily="18" charset="0"/>
                <a:ea typeface="+mn-ea"/>
                <a:cs typeface="Times New Roman" panose="02020603050405020304" pitchFamily="18" charset="0"/>
              </a:rPr>
              <a:t>fn2=740kHz</a:t>
            </a:r>
            <a:r>
              <a:rPr lang="zh-CN" altLang="en-US" sz="2000" b="0">
                <a:solidFill>
                  <a:srgbClr val="000000"/>
                </a:solidFill>
                <a:latin typeface="Times New Roman" panose="02020603050405020304" pitchFamily="18" charset="0"/>
                <a:ea typeface="+mn-ea"/>
                <a:cs typeface="Times New Roman" panose="02020603050405020304" pitchFamily="18" charset="0"/>
              </a:rPr>
              <a:t>强电台的声音，分析产生干扰原因。</a:t>
            </a:r>
          </a:p>
        </p:txBody>
      </p:sp>
      <p:sp>
        <p:nvSpPr>
          <p:cNvPr id="7" name="矩形 6">
            <a:extLst>
              <a:ext uri="{FF2B5EF4-FFF2-40B4-BE49-F238E27FC236}">
                <a16:creationId xmlns="" xmlns:a16="http://schemas.microsoft.com/office/drawing/2014/main" id="{D2D4BFD2-4E0C-2193-5356-35817B9E222F}"/>
              </a:ext>
            </a:extLst>
          </p:cNvPr>
          <p:cNvSpPr>
            <a:spLocks noChangeArrowheads="1"/>
          </p:cNvSpPr>
          <p:nvPr/>
        </p:nvSpPr>
        <p:spPr bwMode="auto">
          <a:xfrm>
            <a:off x="349204" y="3178131"/>
            <a:ext cx="80645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r>
              <a:rPr lang="zh-CN" altLang="en-US" sz="2000" b="0">
                <a:solidFill>
                  <a:srgbClr val="000000"/>
                </a:solidFill>
                <a:latin typeface="Times New Roman" panose="02020603050405020304" pitchFamily="18" charset="0"/>
                <a:ea typeface="+mn-ea"/>
                <a:cs typeface="Times New Roman" panose="02020603050405020304" pitchFamily="18" charset="0"/>
              </a:rPr>
              <a:t>解  </a:t>
            </a:r>
            <a:r>
              <a:rPr lang="en-US" altLang="zh-CN" sz="2000" b="0">
                <a:solidFill>
                  <a:srgbClr val="000000"/>
                </a:solidFill>
                <a:latin typeface="Times New Roman" panose="02020603050405020304" pitchFamily="18" charset="0"/>
                <a:ea typeface="+mn-ea"/>
                <a:cs typeface="Times New Roman" panose="02020603050405020304" pitchFamily="18" charset="0"/>
              </a:rPr>
              <a:t>(1) </a:t>
            </a:r>
            <a:r>
              <a:rPr lang="zh-CN" altLang="en-US" sz="2000" b="0">
                <a:solidFill>
                  <a:srgbClr val="000000"/>
                </a:solidFill>
                <a:latin typeface="Times New Roman" panose="02020603050405020304" pitchFamily="18" charset="0"/>
                <a:ea typeface="+mn-ea"/>
                <a:cs typeface="Times New Roman" panose="02020603050405020304" pitchFamily="18" charset="0"/>
              </a:rPr>
              <a:t>因为</a:t>
            </a:r>
            <a:r>
              <a:rPr lang="en-US" altLang="zh-CN" sz="2000" b="0">
                <a:solidFill>
                  <a:srgbClr val="000000"/>
                </a:solidFill>
                <a:latin typeface="Times New Roman" panose="02020603050405020304" pitchFamily="18" charset="0"/>
                <a:ea typeface="+mn-ea"/>
                <a:cs typeface="Times New Roman" panose="02020603050405020304" pitchFamily="18" charset="0"/>
              </a:rPr>
              <a:t>fn1=fs1+2fi=550+2</a:t>
            </a:r>
            <a:r>
              <a:rPr lang="en-US" altLang="zh-CN" sz="2000" b="0">
                <a:solidFill>
                  <a:srgbClr val="000000"/>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sz="2000" b="0">
                <a:solidFill>
                  <a:srgbClr val="000000"/>
                </a:solidFill>
                <a:latin typeface="Times New Roman" panose="02020603050405020304" pitchFamily="18" charset="0"/>
                <a:ea typeface="+mn-ea"/>
                <a:cs typeface="Times New Roman" panose="02020603050405020304" pitchFamily="18" charset="0"/>
              </a:rPr>
              <a:t>456=1480kHz</a:t>
            </a:r>
            <a:r>
              <a:rPr lang="zh-CN" altLang="en-US" sz="2000" b="0">
                <a:solidFill>
                  <a:srgbClr val="000000"/>
                </a:solidFill>
                <a:latin typeface="Times New Roman" panose="02020603050405020304" pitchFamily="18" charset="0"/>
                <a:ea typeface="+mn-ea"/>
                <a:cs typeface="Times New Roman" panose="02020603050405020304" pitchFamily="18" charset="0"/>
                <a:sym typeface="Symbol" panose="05050102010706020507" pitchFamily="18" charset="2"/>
              </a:rPr>
              <a:t>；根据上述分析，</a:t>
            </a:r>
            <a:r>
              <a:rPr lang="en-US" altLang="zh-CN" sz="2000" b="0">
                <a:solidFill>
                  <a:srgbClr val="000000"/>
                </a:solidFill>
                <a:latin typeface="Times New Roman" panose="02020603050405020304" pitchFamily="18" charset="0"/>
                <a:ea typeface="+mn-ea"/>
                <a:cs typeface="Times New Roman" panose="02020603050405020304" pitchFamily="18" charset="0"/>
                <a:sym typeface="Symbol" panose="05050102010706020507" pitchFamily="18" charset="2"/>
              </a:rPr>
              <a:t>fn1</a:t>
            </a:r>
            <a:r>
              <a:rPr lang="zh-CN" altLang="en-US" sz="2000" b="0">
                <a:solidFill>
                  <a:srgbClr val="000000"/>
                </a:solidFill>
                <a:latin typeface="Times New Roman" panose="02020603050405020304" pitchFamily="18" charset="0"/>
                <a:ea typeface="+mn-ea"/>
                <a:cs typeface="Times New Roman" panose="02020603050405020304" pitchFamily="18" charset="0"/>
                <a:sym typeface="Symbol" panose="05050102010706020507" pitchFamily="18" charset="2"/>
              </a:rPr>
              <a:t>为镜频干扰。</a:t>
            </a:r>
          </a:p>
        </p:txBody>
      </p:sp>
      <p:sp>
        <p:nvSpPr>
          <p:cNvPr id="8" name="矩形 7">
            <a:extLst>
              <a:ext uri="{FF2B5EF4-FFF2-40B4-BE49-F238E27FC236}">
                <a16:creationId xmlns="" xmlns:a16="http://schemas.microsoft.com/office/drawing/2014/main" id="{C7558746-CCF4-FE65-FAF7-BBA748B12069}"/>
              </a:ext>
            </a:extLst>
          </p:cNvPr>
          <p:cNvSpPr>
            <a:spLocks noChangeArrowheads="1"/>
          </p:cNvSpPr>
          <p:nvPr/>
        </p:nvSpPr>
        <p:spPr bwMode="auto">
          <a:xfrm>
            <a:off x="454831" y="4076447"/>
            <a:ext cx="838121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lnSpc>
                <a:spcPct val="120000"/>
              </a:lnSpc>
            </a:pPr>
            <a:r>
              <a:rPr lang="en-US" altLang="zh-CN" sz="2000" b="0" dirty="0">
                <a:solidFill>
                  <a:srgbClr val="000000"/>
                </a:solidFill>
                <a:latin typeface="Times New Roman" panose="02020603050405020304" pitchFamily="18" charset="0"/>
                <a:ea typeface="+mn-ea"/>
                <a:cs typeface="Times New Roman" panose="02020603050405020304" pitchFamily="18" charset="0"/>
                <a:sym typeface="Symbol" panose="05050102010706020507" pitchFamily="18" charset="2"/>
              </a:rPr>
              <a:t>(2) </a:t>
            </a:r>
            <a:r>
              <a:rPr lang="zh-CN" altLang="en-US" sz="2000" b="0" dirty="0">
                <a:solidFill>
                  <a:srgbClr val="000000"/>
                </a:solidFill>
                <a:latin typeface="Times New Roman" panose="02020603050405020304" pitchFamily="18" charset="0"/>
                <a:ea typeface="+mn-ea"/>
                <a:cs typeface="Times New Roman" panose="02020603050405020304" pitchFamily="18" charset="0"/>
                <a:sym typeface="Symbol" panose="05050102010706020507" pitchFamily="18" charset="2"/>
              </a:rPr>
              <a:t>因为</a:t>
            </a:r>
            <a:r>
              <a:rPr lang="en-US" altLang="zh-CN" sz="2000" b="0" dirty="0">
                <a:solidFill>
                  <a:srgbClr val="000000"/>
                </a:solidFill>
                <a:latin typeface="Times New Roman" panose="02020603050405020304" pitchFamily="18" charset="0"/>
                <a:ea typeface="+mn-ea"/>
                <a:cs typeface="Times New Roman" panose="02020603050405020304" pitchFamily="18" charset="0"/>
                <a:sym typeface="Symbol" panose="05050102010706020507" pitchFamily="18" charset="2"/>
              </a:rPr>
              <a:t>fs2=1480kHz  fi=465kHz</a:t>
            </a:r>
            <a:r>
              <a:rPr lang="zh-CN" altLang="en-US" sz="2000" b="0" dirty="0">
                <a:solidFill>
                  <a:srgbClr val="000000"/>
                </a:solidFill>
                <a:latin typeface="Times New Roman" panose="02020603050405020304" pitchFamily="18" charset="0"/>
                <a:ea typeface="+mn-ea"/>
                <a:cs typeface="Times New Roman" panose="02020603050405020304" pitchFamily="18" charset="0"/>
                <a:sym typeface="Symbol" panose="05050102010706020507" pitchFamily="18" charset="2"/>
              </a:rPr>
              <a:t>所以</a:t>
            </a:r>
            <a:r>
              <a:rPr lang="en-US" altLang="zh-CN" sz="2000" b="0" dirty="0">
                <a:solidFill>
                  <a:srgbClr val="000000"/>
                </a:solidFill>
                <a:latin typeface="Times New Roman" panose="02020603050405020304" pitchFamily="18" charset="0"/>
                <a:ea typeface="+mn-ea"/>
                <a:cs typeface="Times New Roman" panose="02020603050405020304" pitchFamily="18" charset="0"/>
                <a:sym typeface="Symbol" panose="05050102010706020507" pitchFamily="18" charset="2"/>
              </a:rPr>
              <a:t>fo2=fs2+fi=1480+465=1945kHz</a:t>
            </a:r>
            <a:r>
              <a:rPr lang="zh-CN" altLang="en-US" sz="2000" b="0" dirty="0">
                <a:solidFill>
                  <a:srgbClr val="000000"/>
                </a:solidFill>
                <a:latin typeface="Times New Roman" panose="02020603050405020304" pitchFamily="18" charset="0"/>
                <a:ea typeface="+mn-ea"/>
                <a:cs typeface="Times New Roman" panose="02020603050405020304" pitchFamily="18" charset="0"/>
                <a:sym typeface="Symbol" panose="05050102010706020507" pitchFamily="18" charset="2"/>
              </a:rPr>
              <a:t>，而</a:t>
            </a:r>
            <a:r>
              <a:rPr lang="en-US" altLang="zh-CN" sz="2000" b="0" dirty="0" smtClean="0">
                <a:solidFill>
                  <a:srgbClr val="000000"/>
                </a:solidFill>
                <a:latin typeface="Times New Roman" panose="02020603050405020304" pitchFamily="18" charset="0"/>
                <a:ea typeface="+mn-ea"/>
                <a:cs typeface="Times New Roman" panose="02020603050405020304" pitchFamily="18" charset="0"/>
                <a:sym typeface="Symbol" panose="05050102010706020507" pitchFamily="18" charset="2"/>
              </a:rPr>
              <a:t>fn2=740kHz, fo2–2fn2=1945–2</a:t>
            </a:r>
            <a:r>
              <a:rPr lang="en-US" altLang="zh-CN" sz="2000" b="0" dirty="0">
                <a:solidFill>
                  <a:srgbClr val="000000"/>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sz="2000" b="0" dirty="0">
                <a:solidFill>
                  <a:srgbClr val="000000"/>
                </a:solidFill>
                <a:latin typeface="Times New Roman" panose="02020603050405020304" pitchFamily="18" charset="0"/>
                <a:ea typeface="+mn-ea"/>
                <a:cs typeface="Times New Roman" panose="02020603050405020304" pitchFamily="18" charset="0"/>
              </a:rPr>
              <a:t>740=465kHz=f</a:t>
            </a:r>
            <a:r>
              <a:rPr lang="en-US" altLang="zh-CN" sz="2000" b="0" dirty="0">
                <a:solidFill>
                  <a:srgbClr val="000000"/>
                </a:solidFill>
                <a:latin typeface="Times New Roman" panose="02020603050405020304" pitchFamily="18" charset="0"/>
                <a:ea typeface="+mn-ea"/>
                <a:cs typeface="Times New Roman" panose="02020603050405020304" pitchFamily="18" charset="0"/>
                <a:sym typeface="Symbol" panose="05050102010706020507" pitchFamily="18" charset="2"/>
              </a:rPr>
              <a:t>i</a:t>
            </a:r>
            <a:r>
              <a:rPr lang="zh-CN" altLang="en-US" sz="2000" b="0" dirty="0">
                <a:solidFill>
                  <a:srgbClr val="000000"/>
                </a:solidFill>
                <a:latin typeface="Times New Roman" panose="02020603050405020304" pitchFamily="18" charset="0"/>
                <a:ea typeface="+mn-ea"/>
                <a:cs typeface="Times New Roman" panose="02020603050405020304" pitchFamily="18" charset="0"/>
                <a:sym typeface="Symbol" panose="05050102010706020507" pitchFamily="18" charset="2"/>
              </a:rPr>
              <a:t>故这种干扰为组合副波道干扰</a:t>
            </a:r>
          </a:p>
        </p:txBody>
      </p:sp>
    </p:spTree>
    <p:extLst>
      <p:ext uri="{BB962C8B-B14F-4D97-AF65-F5344CB8AC3E}">
        <p14:creationId xmlns:p14="http://schemas.microsoft.com/office/powerpoint/2010/main" val="11411328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linds(horizontal)">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259</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5"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6.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振幅调制</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与</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解调</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 name="Text Box 2">
            <a:extLst>
              <a:ext uri="{FF2B5EF4-FFF2-40B4-BE49-F238E27FC236}">
                <a16:creationId xmlns="" xmlns:a16="http://schemas.microsoft.com/office/drawing/2014/main" id="{6D5F2428-0375-DAFE-021C-A7DEDDDE2B65}"/>
              </a:ext>
            </a:extLst>
          </p:cNvPr>
          <p:cNvSpPr txBox="1">
            <a:spLocks noChangeArrowheads="1"/>
          </p:cNvSpPr>
          <p:nvPr/>
        </p:nvSpPr>
        <p:spPr bwMode="auto">
          <a:xfrm>
            <a:off x="303971" y="1312262"/>
            <a:ext cx="2255746" cy="384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r>
              <a:rPr lang="zh-CN" altLang="en-US" sz="1900" b="0" dirty="0">
                <a:latin typeface="+mn-ea"/>
                <a:ea typeface="+mn-ea"/>
              </a:rPr>
              <a:t>3、其他类型的干扰</a:t>
            </a:r>
          </a:p>
        </p:txBody>
      </p:sp>
      <p:sp>
        <p:nvSpPr>
          <p:cNvPr id="7" name="Text Box 3">
            <a:extLst>
              <a:ext uri="{FF2B5EF4-FFF2-40B4-BE49-F238E27FC236}">
                <a16:creationId xmlns="" xmlns:a16="http://schemas.microsoft.com/office/drawing/2014/main" id="{3081280C-4F4B-4FB6-90D7-D2BF2DB2E61B}"/>
              </a:ext>
            </a:extLst>
          </p:cNvPr>
          <p:cNvSpPr txBox="1">
            <a:spLocks noChangeArrowheads="1"/>
          </p:cNvSpPr>
          <p:nvPr/>
        </p:nvSpPr>
        <p:spPr bwMode="auto">
          <a:xfrm>
            <a:off x="468072" y="1679704"/>
            <a:ext cx="2743059" cy="384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r>
              <a:rPr lang="zh-CN" altLang="en-US" sz="1900" b="0" dirty="0">
                <a:latin typeface="+mn-ea"/>
                <a:ea typeface="+mn-ea"/>
              </a:rPr>
              <a:t>1) 交叉调制(交调)干扰</a:t>
            </a:r>
          </a:p>
        </p:txBody>
      </p:sp>
      <p:sp>
        <p:nvSpPr>
          <p:cNvPr id="8" name="Text Box 5">
            <a:extLst>
              <a:ext uri="{FF2B5EF4-FFF2-40B4-BE49-F238E27FC236}">
                <a16:creationId xmlns="" xmlns:a16="http://schemas.microsoft.com/office/drawing/2014/main" id="{BA51F0AC-45F6-40CD-3544-C68DCB1DB1F6}"/>
              </a:ext>
            </a:extLst>
          </p:cNvPr>
          <p:cNvSpPr txBox="1">
            <a:spLocks noChangeArrowheads="1"/>
          </p:cNvSpPr>
          <p:nvPr/>
        </p:nvSpPr>
        <p:spPr bwMode="auto">
          <a:xfrm>
            <a:off x="573657" y="2018043"/>
            <a:ext cx="7454900" cy="1178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lnSpc>
                <a:spcPct val="130000"/>
              </a:lnSpc>
            </a:pPr>
            <a:r>
              <a:rPr lang="zh-CN" altLang="en-US" sz="1900" b="0" dirty="0">
                <a:latin typeface="+mn-ea"/>
                <a:ea typeface="+mn-ea"/>
              </a:rPr>
              <a:t>    当所接收电台的信号和干扰电台同时进入接收机输入端时，如果接收机调谐于信号频率，可以清楚地收到干扰信号电台的声音，若接收机对接收信号频率失谐，干扰台的声音也消失。</a:t>
            </a:r>
          </a:p>
        </p:txBody>
      </p:sp>
      <p:sp>
        <p:nvSpPr>
          <p:cNvPr id="10" name="Text Box 4">
            <a:extLst>
              <a:ext uri="{FF2B5EF4-FFF2-40B4-BE49-F238E27FC236}">
                <a16:creationId xmlns="" xmlns:a16="http://schemas.microsoft.com/office/drawing/2014/main" id="{5901EB9E-E1C9-BD08-89D4-575939B5A720}"/>
              </a:ext>
            </a:extLst>
          </p:cNvPr>
          <p:cNvSpPr txBox="1">
            <a:spLocks noChangeArrowheads="1"/>
          </p:cNvSpPr>
          <p:nvPr/>
        </p:nvSpPr>
        <p:spPr bwMode="auto">
          <a:xfrm>
            <a:off x="608541" y="3197075"/>
            <a:ext cx="1646605" cy="384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r>
              <a:rPr lang="zh-CN" altLang="en-US" sz="1900" b="0" dirty="0">
                <a:latin typeface="+mn-ea"/>
                <a:ea typeface="+mn-ea"/>
              </a:rPr>
              <a:t>产生的原因：</a:t>
            </a:r>
          </a:p>
        </p:txBody>
      </p:sp>
      <p:sp>
        <p:nvSpPr>
          <p:cNvPr id="11" name="Rectangle 7">
            <a:extLst>
              <a:ext uri="{FF2B5EF4-FFF2-40B4-BE49-F238E27FC236}">
                <a16:creationId xmlns="" xmlns:a16="http://schemas.microsoft.com/office/drawing/2014/main" id="{64E61668-2E3A-E857-15E2-33452EC5A234}"/>
              </a:ext>
            </a:extLst>
          </p:cNvPr>
          <p:cNvSpPr>
            <a:spLocks noChangeArrowheads="1"/>
          </p:cNvSpPr>
          <p:nvPr/>
        </p:nvSpPr>
        <p:spPr bwMode="auto">
          <a:xfrm>
            <a:off x="1994570" y="3188472"/>
            <a:ext cx="7315200" cy="384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r>
              <a:rPr lang="zh-CN" altLang="en-US" sz="1900" b="0" dirty="0">
                <a:latin typeface="+mn-ea"/>
                <a:ea typeface="+mn-ea"/>
              </a:rPr>
              <a:t>由混频器3次方以上的非线性传输特性产生的。</a:t>
            </a:r>
          </a:p>
        </p:txBody>
      </p:sp>
      <p:sp>
        <p:nvSpPr>
          <p:cNvPr id="12" name="Rectangle 5">
            <a:extLst>
              <a:ext uri="{FF2B5EF4-FFF2-40B4-BE49-F238E27FC236}">
                <a16:creationId xmlns="" xmlns:a16="http://schemas.microsoft.com/office/drawing/2014/main" id="{E868DBF6-6EED-5624-4B6E-735D51732F0E}"/>
              </a:ext>
            </a:extLst>
          </p:cNvPr>
          <p:cNvSpPr>
            <a:spLocks noChangeArrowheads="1"/>
          </p:cNvSpPr>
          <p:nvPr/>
        </p:nvSpPr>
        <p:spPr bwMode="auto">
          <a:xfrm>
            <a:off x="573657" y="3644859"/>
            <a:ext cx="7454900" cy="219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9pPr>
          </a:lstStyle>
          <a:p>
            <a:pPr eaLnBrk="1" hangingPunct="1">
              <a:lnSpc>
                <a:spcPct val="120000"/>
              </a:lnSpc>
            </a:pPr>
            <a:r>
              <a:rPr lang="zh-CN" altLang="en-US" sz="1900" b="0" dirty="0">
                <a:solidFill>
                  <a:srgbClr val="000000"/>
                </a:solidFill>
                <a:latin typeface="Times New Roman" panose="02020603050405020304" pitchFamily="18" charset="0"/>
                <a:ea typeface="+mn-ea"/>
                <a:cs typeface="Times New Roman" panose="02020603050405020304" pitchFamily="18" charset="0"/>
              </a:rPr>
              <a:t>以上分析表明，交调是由非线性特性中的三次或更高次非线性项产生的，因此克服交调干扰的主要方法为</a:t>
            </a:r>
            <a:r>
              <a:rPr lang="en-US" altLang="zh-CN" sz="1900" b="0" dirty="0" smtClean="0">
                <a:solidFill>
                  <a:srgbClr val="000000"/>
                </a:solidFill>
                <a:latin typeface="Times New Roman" panose="02020603050405020304" pitchFamily="18" charset="0"/>
                <a:ea typeface="+mn-ea"/>
                <a:cs typeface="Times New Roman" panose="02020603050405020304" pitchFamily="18" charset="0"/>
              </a:rPr>
              <a:t>:</a:t>
            </a:r>
            <a:endParaRPr lang="en-US" altLang="zh-CN" sz="1900" b="0" dirty="0">
              <a:solidFill>
                <a:srgbClr val="000000"/>
              </a:solidFill>
              <a:latin typeface="Times New Roman" panose="02020603050405020304" pitchFamily="18" charset="0"/>
              <a:ea typeface="+mn-ea"/>
              <a:cs typeface="Times New Roman" panose="02020603050405020304" pitchFamily="18" charset="0"/>
            </a:endParaRPr>
          </a:p>
          <a:p>
            <a:pPr eaLnBrk="1" hangingPunct="1">
              <a:lnSpc>
                <a:spcPct val="120000"/>
              </a:lnSpc>
            </a:pPr>
            <a:r>
              <a:rPr lang="en-US" altLang="zh-CN" sz="1900" b="0" dirty="0">
                <a:solidFill>
                  <a:srgbClr val="000000"/>
                </a:solidFill>
                <a:latin typeface="Times New Roman" panose="02020603050405020304" pitchFamily="18" charset="0"/>
                <a:ea typeface="+mn-ea"/>
                <a:cs typeface="Times New Roman" panose="02020603050405020304" pitchFamily="18" charset="0"/>
              </a:rPr>
              <a:t>1.</a:t>
            </a:r>
            <a:r>
              <a:rPr lang="zh-CN" altLang="en-US" sz="1900" b="0" dirty="0">
                <a:solidFill>
                  <a:srgbClr val="000000"/>
                </a:solidFill>
                <a:latin typeface="Times New Roman" panose="02020603050405020304" pitchFamily="18" charset="0"/>
                <a:ea typeface="+mn-ea"/>
                <a:cs typeface="Times New Roman" panose="02020603050405020304" pitchFamily="18" charset="0"/>
              </a:rPr>
              <a:t>提高混频电路前级的选择性抑制干扰</a:t>
            </a:r>
            <a:r>
              <a:rPr lang="zh-CN" altLang="en-US" sz="1900" b="0" dirty="0" smtClean="0">
                <a:solidFill>
                  <a:srgbClr val="000000"/>
                </a:solidFill>
                <a:latin typeface="Times New Roman" panose="02020603050405020304" pitchFamily="18" charset="0"/>
                <a:ea typeface="+mn-ea"/>
                <a:cs typeface="Times New Roman" panose="02020603050405020304" pitchFamily="18" charset="0"/>
              </a:rPr>
              <a:t>；</a:t>
            </a:r>
            <a:endParaRPr lang="zh-CN" altLang="en-US" sz="1900" b="0" dirty="0">
              <a:solidFill>
                <a:srgbClr val="000000"/>
              </a:solidFill>
              <a:latin typeface="Times New Roman" panose="02020603050405020304" pitchFamily="18" charset="0"/>
              <a:ea typeface="+mn-ea"/>
              <a:cs typeface="Times New Roman" panose="02020603050405020304" pitchFamily="18" charset="0"/>
            </a:endParaRPr>
          </a:p>
          <a:p>
            <a:pPr eaLnBrk="1" hangingPunct="1">
              <a:lnSpc>
                <a:spcPct val="120000"/>
              </a:lnSpc>
            </a:pPr>
            <a:r>
              <a:rPr lang="en-US" altLang="zh-CN" sz="1900" b="0" dirty="0">
                <a:solidFill>
                  <a:srgbClr val="000000"/>
                </a:solidFill>
                <a:latin typeface="Times New Roman" panose="02020603050405020304" pitchFamily="18" charset="0"/>
                <a:ea typeface="+mn-ea"/>
                <a:cs typeface="Times New Roman" panose="02020603050405020304" pitchFamily="18" charset="0"/>
              </a:rPr>
              <a:t>2.</a:t>
            </a:r>
            <a:r>
              <a:rPr lang="zh-CN" altLang="en-US" sz="1900" b="0" dirty="0">
                <a:solidFill>
                  <a:srgbClr val="000000"/>
                </a:solidFill>
                <a:latin typeface="Times New Roman" panose="02020603050405020304" pitchFamily="18" charset="0"/>
                <a:ea typeface="+mn-ea"/>
                <a:cs typeface="Times New Roman" panose="02020603050405020304" pitchFamily="18" charset="0"/>
              </a:rPr>
              <a:t>选择合适的器件和合适的工作状态，使混频器的非线性高次方项尽可能小</a:t>
            </a:r>
            <a:r>
              <a:rPr lang="zh-CN" altLang="en-US" sz="1900" b="0" dirty="0" smtClean="0">
                <a:solidFill>
                  <a:srgbClr val="000000"/>
                </a:solidFill>
                <a:latin typeface="Times New Roman" panose="02020603050405020304" pitchFamily="18" charset="0"/>
                <a:ea typeface="+mn-ea"/>
                <a:cs typeface="Times New Roman" panose="02020603050405020304" pitchFamily="18" charset="0"/>
              </a:rPr>
              <a:t>；</a:t>
            </a:r>
            <a:endParaRPr lang="zh-CN" altLang="en-US" sz="1900" b="0" dirty="0">
              <a:solidFill>
                <a:srgbClr val="000000"/>
              </a:solidFill>
              <a:latin typeface="Times New Roman" panose="02020603050405020304" pitchFamily="18" charset="0"/>
              <a:ea typeface="+mn-ea"/>
              <a:cs typeface="Times New Roman" panose="02020603050405020304" pitchFamily="18" charset="0"/>
            </a:endParaRPr>
          </a:p>
          <a:p>
            <a:pPr eaLnBrk="1" hangingPunct="1">
              <a:lnSpc>
                <a:spcPct val="120000"/>
              </a:lnSpc>
            </a:pPr>
            <a:r>
              <a:rPr lang="en-US" altLang="zh-CN" sz="1900" b="0" dirty="0">
                <a:solidFill>
                  <a:srgbClr val="000000"/>
                </a:solidFill>
                <a:latin typeface="Times New Roman" panose="02020603050405020304" pitchFamily="18" charset="0"/>
                <a:ea typeface="+mn-ea"/>
                <a:cs typeface="Times New Roman" panose="02020603050405020304" pitchFamily="18" charset="0"/>
              </a:rPr>
              <a:t>3.</a:t>
            </a:r>
            <a:r>
              <a:rPr lang="zh-CN" altLang="en-US" sz="1900" b="0" dirty="0">
                <a:solidFill>
                  <a:srgbClr val="000000"/>
                </a:solidFill>
                <a:latin typeface="Times New Roman" panose="02020603050405020304" pitchFamily="18" charset="0"/>
                <a:ea typeface="+mn-ea"/>
                <a:cs typeface="Times New Roman" panose="02020603050405020304" pitchFamily="18" charset="0"/>
              </a:rPr>
              <a:t>采用抗干扰能力较强的平衡混频器和模拟乘法器混频电路。</a:t>
            </a:r>
          </a:p>
        </p:txBody>
      </p:sp>
    </p:spTree>
    <p:extLst>
      <p:ext uri="{BB962C8B-B14F-4D97-AF65-F5344CB8AC3E}">
        <p14:creationId xmlns:p14="http://schemas.microsoft.com/office/powerpoint/2010/main" val="465055145"/>
      </p:ext>
    </p:extLst>
  </p:cSld>
  <p:clrMapOvr>
    <a:masterClrMapping/>
  </p:clrMapOvr>
  <p:timing>
    <p:tnLst>
      <p:par>
        <p:cTn id="1" dur="indefinite" restart="never" nodeType="tmRoot"/>
      </p:par>
    </p:tnLst>
  </p:timing>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260</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5"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6.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振幅调制</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与</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解调</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 name="Text Box 2">
            <a:extLst>
              <a:ext uri="{FF2B5EF4-FFF2-40B4-BE49-F238E27FC236}">
                <a16:creationId xmlns="" xmlns:a16="http://schemas.microsoft.com/office/drawing/2014/main" id="{DAED82A6-6253-9D77-3A01-F78BF68B0996}"/>
              </a:ext>
            </a:extLst>
          </p:cNvPr>
          <p:cNvSpPr txBox="1">
            <a:spLocks noChangeArrowheads="1"/>
          </p:cNvSpPr>
          <p:nvPr/>
        </p:nvSpPr>
        <p:spPr bwMode="auto">
          <a:xfrm>
            <a:off x="561306" y="1340818"/>
            <a:ext cx="276069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r>
              <a:rPr lang="zh-CN" altLang="en-US" sz="2000" b="0">
                <a:solidFill>
                  <a:srgbClr val="0000CC"/>
                </a:solidFill>
                <a:latin typeface="Times New Roman" panose="02020603050405020304" pitchFamily="18" charset="0"/>
                <a:ea typeface="+mn-ea"/>
                <a:cs typeface="Times New Roman" panose="02020603050405020304" pitchFamily="18" charset="0"/>
              </a:rPr>
              <a:t>2)  互相调制(互调)干扰</a:t>
            </a:r>
          </a:p>
        </p:txBody>
      </p:sp>
      <p:sp>
        <p:nvSpPr>
          <p:cNvPr id="7" name="Text Box 3">
            <a:extLst>
              <a:ext uri="{FF2B5EF4-FFF2-40B4-BE49-F238E27FC236}">
                <a16:creationId xmlns="" xmlns:a16="http://schemas.microsoft.com/office/drawing/2014/main" id="{B7F5D859-4C77-87D5-8BEE-35892C09BC83}"/>
              </a:ext>
            </a:extLst>
          </p:cNvPr>
          <p:cNvSpPr txBox="1">
            <a:spLocks noChangeArrowheads="1"/>
          </p:cNvSpPr>
          <p:nvPr/>
        </p:nvSpPr>
        <p:spPr bwMode="auto">
          <a:xfrm>
            <a:off x="584293" y="1846453"/>
            <a:ext cx="7704137"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r>
              <a:rPr lang="zh-CN" altLang="en-US" sz="2000" b="0" dirty="0">
                <a:solidFill>
                  <a:srgbClr val="000000"/>
                </a:solidFill>
                <a:latin typeface="Times New Roman" panose="02020603050405020304" pitchFamily="18" charset="0"/>
                <a:ea typeface="+mn-ea"/>
                <a:cs typeface="Times New Roman" panose="02020603050405020304" pitchFamily="18" charset="0"/>
              </a:rPr>
              <a:t>    当两个或两个以上的干扰进入到混频器的输入端时，它们与本振电压</a:t>
            </a:r>
            <a:r>
              <a:rPr lang="en-US" altLang="zh-CN" sz="2000" b="0" i="1" dirty="0">
                <a:solidFill>
                  <a:srgbClr val="000000"/>
                </a:solidFill>
                <a:latin typeface="Times New Roman" panose="02020603050405020304" pitchFamily="18" charset="0"/>
                <a:ea typeface="+mn-ea"/>
                <a:cs typeface="Times New Roman" panose="02020603050405020304" pitchFamily="18" charset="0"/>
              </a:rPr>
              <a:t>v</a:t>
            </a:r>
            <a:r>
              <a:rPr lang="en-US" altLang="zh-CN" sz="2000" b="0" baseline="-25000" dirty="0">
                <a:solidFill>
                  <a:srgbClr val="000000"/>
                </a:solidFill>
                <a:latin typeface="Times New Roman" panose="02020603050405020304" pitchFamily="18" charset="0"/>
                <a:ea typeface="+mn-ea"/>
                <a:cs typeface="Times New Roman" panose="02020603050405020304" pitchFamily="18" charset="0"/>
              </a:rPr>
              <a:t>0</a:t>
            </a:r>
            <a:r>
              <a:rPr lang="zh-CN" altLang="en-US" sz="2000" b="0" dirty="0">
                <a:solidFill>
                  <a:srgbClr val="000000"/>
                </a:solidFill>
                <a:latin typeface="Times New Roman" panose="02020603050405020304" pitchFamily="18" charset="0"/>
                <a:ea typeface="+mn-ea"/>
                <a:cs typeface="Times New Roman" panose="02020603050405020304" pitchFamily="18" charset="0"/>
              </a:rPr>
              <a:t>一起加到混频管的发射结。由于器件的非线性作用，它们将产生一系列组合频率分量。如果某些分量的频率等于或接近于中频时，就会形成干扰，称为互调干扰。</a:t>
            </a:r>
          </a:p>
        </p:txBody>
      </p:sp>
      <p:sp>
        <p:nvSpPr>
          <p:cNvPr id="8" name="Text Box 4">
            <a:extLst>
              <a:ext uri="{FF2B5EF4-FFF2-40B4-BE49-F238E27FC236}">
                <a16:creationId xmlns="" xmlns:a16="http://schemas.microsoft.com/office/drawing/2014/main" id="{C34C7244-02AE-65A5-9017-5272347AA4B2}"/>
              </a:ext>
            </a:extLst>
          </p:cNvPr>
          <p:cNvSpPr txBox="1">
            <a:spLocks noChangeArrowheads="1"/>
          </p:cNvSpPr>
          <p:nvPr/>
        </p:nvSpPr>
        <p:spPr bwMode="auto">
          <a:xfrm>
            <a:off x="543612" y="3807912"/>
            <a:ext cx="76327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r>
              <a:rPr lang="zh-CN" altLang="en-US" sz="2000" b="0" dirty="0">
                <a:solidFill>
                  <a:srgbClr val="000000"/>
                </a:solidFill>
                <a:latin typeface="Times New Roman" panose="02020603050405020304" pitchFamily="18" charset="0"/>
                <a:ea typeface="+mn-ea"/>
                <a:cs typeface="Times New Roman" panose="02020603050405020304" pitchFamily="18" charset="0"/>
              </a:rPr>
              <a:t>    接收机调谐于信号频率，可以清楚地收到干扰信号电台的声音，若接收机对接收信号频率失谐，干扰台的声音仍然存在。</a:t>
            </a:r>
          </a:p>
        </p:txBody>
      </p:sp>
      <p:sp>
        <p:nvSpPr>
          <p:cNvPr id="9" name="Text Box 5">
            <a:extLst>
              <a:ext uri="{FF2B5EF4-FFF2-40B4-BE49-F238E27FC236}">
                <a16:creationId xmlns="" xmlns:a16="http://schemas.microsoft.com/office/drawing/2014/main" id="{63537EF9-D0C4-04CF-CA7B-425F21D9FD3E}"/>
              </a:ext>
            </a:extLst>
          </p:cNvPr>
          <p:cNvSpPr txBox="1">
            <a:spLocks noChangeArrowheads="1"/>
          </p:cNvSpPr>
          <p:nvPr/>
        </p:nvSpPr>
        <p:spPr bwMode="auto">
          <a:xfrm>
            <a:off x="584293" y="5163239"/>
            <a:ext cx="734377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r>
              <a:rPr lang="zh-CN" altLang="en-US" sz="2000" b="0" dirty="0">
                <a:solidFill>
                  <a:srgbClr val="000000"/>
                </a:solidFill>
                <a:latin typeface="Times New Roman" panose="02020603050405020304" pitchFamily="18" charset="0"/>
                <a:ea typeface="+mn-ea"/>
                <a:cs typeface="Times New Roman" panose="02020603050405020304" pitchFamily="18" charset="0"/>
              </a:rPr>
              <a:t>    由非线性器件二次方以上的特性引起，因此存在二阶互调和三阶互调及高阶互调。</a:t>
            </a:r>
          </a:p>
        </p:txBody>
      </p:sp>
      <p:sp>
        <p:nvSpPr>
          <p:cNvPr id="10" name="Text Box 6">
            <a:extLst>
              <a:ext uri="{FF2B5EF4-FFF2-40B4-BE49-F238E27FC236}">
                <a16:creationId xmlns="" xmlns:a16="http://schemas.microsoft.com/office/drawing/2014/main" id="{A00D4657-5001-797F-ED90-27C1FA681680}"/>
              </a:ext>
            </a:extLst>
          </p:cNvPr>
          <p:cNvSpPr txBox="1">
            <a:spLocks noChangeArrowheads="1"/>
          </p:cNvSpPr>
          <p:nvPr/>
        </p:nvSpPr>
        <p:spPr bwMode="auto">
          <a:xfrm>
            <a:off x="584293" y="3318605"/>
            <a:ext cx="95410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r>
              <a:rPr lang="zh-CN" altLang="en-US" sz="2000" b="0" dirty="0">
                <a:solidFill>
                  <a:srgbClr val="009999"/>
                </a:solidFill>
                <a:latin typeface="Times New Roman" panose="02020603050405020304" pitchFamily="18" charset="0"/>
                <a:ea typeface="+mn-ea"/>
                <a:cs typeface="Times New Roman" panose="02020603050405020304" pitchFamily="18" charset="0"/>
              </a:rPr>
              <a:t>现象：</a:t>
            </a:r>
          </a:p>
        </p:txBody>
      </p:sp>
      <p:sp>
        <p:nvSpPr>
          <p:cNvPr id="11" name="Text Box 7">
            <a:extLst>
              <a:ext uri="{FF2B5EF4-FFF2-40B4-BE49-F238E27FC236}">
                <a16:creationId xmlns="" xmlns:a16="http://schemas.microsoft.com/office/drawing/2014/main" id="{E8E168FB-6096-0C4D-2556-081A485D8CC6}"/>
              </a:ext>
            </a:extLst>
          </p:cNvPr>
          <p:cNvSpPr txBox="1">
            <a:spLocks noChangeArrowheads="1"/>
          </p:cNvSpPr>
          <p:nvPr/>
        </p:nvSpPr>
        <p:spPr bwMode="auto">
          <a:xfrm>
            <a:off x="584293" y="4741591"/>
            <a:ext cx="172354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r>
              <a:rPr lang="zh-CN" altLang="en-US" sz="2000" b="0" dirty="0">
                <a:solidFill>
                  <a:srgbClr val="009999"/>
                </a:solidFill>
                <a:latin typeface="Times New Roman" panose="02020603050405020304" pitchFamily="18" charset="0"/>
                <a:ea typeface="+mn-ea"/>
                <a:cs typeface="Times New Roman" panose="02020603050405020304" pitchFamily="18" charset="0"/>
              </a:rPr>
              <a:t>产生的原因：</a:t>
            </a:r>
          </a:p>
        </p:txBody>
      </p:sp>
    </p:spTree>
    <p:extLst>
      <p:ext uri="{BB962C8B-B14F-4D97-AF65-F5344CB8AC3E}">
        <p14:creationId xmlns:p14="http://schemas.microsoft.com/office/powerpoint/2010/main" val="39254847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blinds(horizontal)">
                                      <p:cBhvr>
                                        <p:cTn id="10"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1"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blinds(horizontal)">
                                      <p:cBhvr>
                                        <p:cTn id="15" dur="500"/>
                                        <p:tgtEl>
                                          <p:spTgt spid="8"/>
                                        </p:tgtEl>
                                      </p:cBhvr>
                                    </p:animEffect>
                                  </p:childTnLst>
                                </p:cTn>
                              </p:par>
                              <p:par>
                                <p:cTn id="16" presetID="3" presetClass="entr" presetSubtype="10" fill="hold" grpId="1"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blinds(horizontal)">
                                      <p:cBhvr>
                                        <p:cTn id="18" dur="500"/>
                                        <p:tgtEl>
                                          <p:spTgt spid="10"/>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blinds(horizontal)">
                                      <p:cBhvr>
                                        <p:cTn id="21" dur="500"/>
                                        <p:tgtEl>
                                          <p:spTgt spid="11"/>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blinds(horizontal)">
                                      <p:cBhvr>
                                        <p:cTn id="24"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8" grpId="1"/>
      <p:bldP spid="9" grpId="0"/>
      <p:bldP spid="10" grpId="0"/>
      <p:bldP spid="10" grpId="1"/>
      <p:bldP spid="11" grpId="0"/>
    </p:bldLst>
  </p:timing>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261</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5"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6.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振幅调制</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与</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解调</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 name="矩形 157701">
            <a:extLst>
              <a:ext uri="{FF2B5EF4-FFF2-40B4-BE49-F238E27FC236}">
                <a16:creationId xmlns="" xmlns:a16="http://schemas.microsoft.com/office/drawing/2014/main" id="{E0C01804-114B-8903-C9CB-13C8055B66AF}"/>
              </a:ext>
            </a:extLst>
          </p:cNvPr>
          <p:cNvSpPr>
            <a:spLocks noChangeArrowheads="1"/>
          </p:cNvSpPr>
          <p:nvPr/>
        </p:nvSpPr>
        <p:spPr bwMode="auto">
          <a:xfrm>
            <a:off x="453359" y="1389042"/>
            <a:ext cx="777557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r>
              <a:rPr lang="zh-CN" altLang="en-US" sz="2000" dirty="0">
                <a:solidFill>
                  <a:srgbClr val="000000"/>
                </a:solidFill>
                <a:latin typeface="Times New Roman" panose="02020603050405020304" pitchFamily="18" charset="0"/>
                <a:ea typeface="+mn-ea"/>
                <a:cs typeface="Times New Roman" panose="02020603050405020304" pitchFamily="18" charset="0"/>
              </a:rPr>
              <a:t>例</a:t>
            </a:r>
            <a:r>
              <a:rPr lang="en-US" altLang="zh-CN" sz="2000" dirty="0">
                <a:solidFill>
                  <a:srgbClr val="000000"/>
                </a:solidFill>
                <a:latin typeface="Times New Roman" panose="02020603050405020304" pitchFamily="18" charset="0"/>
                <a:ea typeface="+mn-ea"/>
                <a:cs typeface="Times New Roman" panose="02020603050405020304" pitchFamily="18" charset="0"/>
              </a:rPr>
              <a:t>: </a:t>
            </a:r>
            <a:r>
              <a:rPr lang="zh-CN" altLang="en-US" sz="2000" dirty="0">
                <a:solidFill>
                  <a:srgbClr val="000000"/>
                </a:solidFill>
                <a:latin typeface="Times New Roman" panose="02020603050405020304" pitchFamily="18" charset="0"/>
                <a:ea typeface="+mn-ea"/>
                <a:cs typeface="Times New Roman" panose="02020603050405020304" pitchFamily="18" charset="0"/>
              </a:rPr>
              <a:t>当</a:t>
            </a:r>
            <a:r>
              <a:rPr lang="en-US" altLang="zh-CN" sz="2000" dirty="0">
                <a:solidFill>
                  <a:srgbClr val="000000"/>
                </a:solidFill>
                <a:latin typeface="Times New Roman" panose="02020603050405020304" pitchFamily="18" charset="0"/>
                <a:ea typeface="+mn-ea"/>
                <a:cs typeface="Times New Roman" panose="02020603050405020304" pitchFamily="18" charset="0"/>
              </a:rPr>
              <a:t>fn1=1.5MHz</a:t>
            </a:r>
            <a:r>
              <a:rPr lang="zh-CN" altLang="en-US" sz="2000" dirty="0">
                <a:solidFill>
                  <a:srgbClr val="000000"/>
                </a:solidFill>
                <a:latin typeface="Times New Roman" panose="02020603050405020304" pitchFamily="18" charset="0"/>
                <a:ea typeface="+mn-ea"/>
                <a:cs typeface="Times New Roman" panose="02020603050405020304" pitchFamily="18" charset="0"/>
              </a:rPr>
              <a:t>，</a:t>
            </a:r>
            <a:r>
              <a:rPr lang="en-US" altLang="zh-CN" sz="2000" dirty="0">
                <a:solidFill>
                  <a:srgbClr val="000000"/>
                </a:solidFill>
                <a:latin typeface="Times New Roman" panose="02020603050405020304" pitchFamily="18" charset="0"/>
                <a:ea typeface="+mn-ea"/>
                <a:cs typeface="Times New Roman" panose="02020603050405020304" pitchFamily="18" charset="0"/>
              </a:rPr>
              <a:t>fn2=0.9MHz</a:t>
            </a:r>
            <a:r>
              <a:rPr lang="zh-CN" altLang="en-US" sz="2000" dirty="0">
                <a:solidFill>
                  <a:srgbClr val="000000"/>
                </a:solidFill>
                <a:latin typeface="Times New Roman" panose="02020603050405020304" pitchFamily="18" charset="0"/>
                <a:ea typeface="+mn-ea"/>
                <a:cs typeface="Times New Roman" panose="02020603050405020304" pitchFamily="18" charset="0"/>
              </a:rPr>
              <a:t>，若接收机在</a:t>
            </a:r>
            <a:r>
              <a:rPr lang="en-US" altLang="zh-CN" sz="2000" dirty="0">
                <a:solidFill>
                  <a:srgbClr val="000000"/>
                </a:solidFill>
                <a:latin typeface="Times New Roman" panose="02020603050405020304" pitchFamily="18" charset="0"/>
                <a:ea typeface="+mn-ea"/>
                <a:cs typeface="Times New Roman" panose="02020603050405020304" pitchFamily="18" charset="0"/>
              </a:rPr>
              <a:t>1~3.5MHz</a:t>
            </a:r>
            <a:r>
              <a:rPr lang="zh-CN" altLang="en-US" sz="2000" dirty="0">
                <a:solidFill>
                  <a:srgbClr val="000000"/>
                </a:solidFill>
                <a:latin typeface="Times New Roman" panose="02020603050405020304" pitchFamily="18" charset="0"/>
                <a:ea typeface="+mn-ea"/>
                <a:cs typeface="Times New Roman" panose="02020603050405020304" pitchFamily="18" charset="0"/>
              </a:rPr>
              <a:t>波段工作，问在哪几个频率上会产生互调干扰？</a:t>
            </a:r>
          </a:p>
        </p:txBody>
      </p:sp>
      <p:sp>
        <p:nvSpPr>
          <p:cNvPr id="7" name="Rectangle 4">
            <a:extLst>
              <a:ext uri="{FF2B5EF4-FFF2-40B4-BE49-F238E27FC236}">
                <a16:creationId xmlns="" xmlns:a16="http://schemas.microsoft.com/office/drawing/2014/main" id="{94DDC31C-F0E6-904A-A3A8-5701BC137193}"/>
              </a:ext>
            </a:extLst>
          </p:cNvPr>
          <p:cNvSpPr>
            <a:spLocks noChangeArrowheads="1"/>
          </p:cNvSpPr>
          <p:nvPr/>
        </p:nvSpPr>
        <p:spPr bwMode="auto">
          <a:xfrm>
            <a:off x="465706" y="2141098"/>
            <a:ext cx="8964612" cy="2554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9pPr>
          </a:lstStyle>
          <a:p>
            <a:pPr eaLnBrk="1" hangingPunct="1"/>
            <a:r>
              <a:rPr lang="zh-CN" altLang="en-US" sz="2000" dirty="0">
                <a:solidFill>
                  <a:srgbClr val="000000"/>
                </a:solidFill>
                <a:latin typeface="Times New Roman" panose="02020603050405020304" pitchFamily="18" charset="0"/>
                <a:ea typeface="+mn-ea"/>
                <a:cs typeface="Times New Roman" panose="02020603050405020304" pitchFamily="18" charset="0"/>
              </a:rPr>
              <a:t> 解： 若 </a:t>
            </a:r>
            <a:r>
              <a:rPr lang="en-US" altLang="zh-CN" sz="2000" dirty="0">
                <a:solidFill>
                  <a:srgbClr val="000000"/>
                </a:solidFill>
                <a:latin typeface="Times New Roman" panose="02020603050405020304" pitchFamily="18" charset="0"/>
                <a:ea typeface="+mn-ea"/>
                <a:cs typeface="Times New Roman" panose="02020603050405020304" pitchFamily="18" charset="0"/>
              </a:rPr>
              <a:t>m</a:t>
            </a:r>
            <a:r>
              <a:rPr lang="zh-CN" altLang="en-US" sz="2000" dirty="0">
                <a:solidFill>
                  <a:srgbClr val="000000"/>
                </a:solidFill>
                <a:latin typeface="Times New Roman" panose="02020603050405020304" pitchFamily="18" charset="0"/>
                <a:ea typeface="+mn-ea"/>
                <a:cs typeface="Times New Roman" panose="02020603050405020304" pitchFamily="18" charset="0"/>
              </a:rPr>
              <a:t>，</a:t>
            </a:r>
            <a:r>
              <a:rPr lang="en-US" altLang="zh-CN" sz="2000" dirty="0">
                <a:solidFill>
                  <a:srgbClr val="000000"/>
                </a:solidFill>
                <a:latin typeface="Times New Roman" panose="02020603050405020304" pitchFamily="18" charset="0"/>
                <a:ea typeface="+mn-ea"/>
                <a:cs typeface="Times New Roman" panose="02020603050405020304" pitchFamily="18" charset="0"/>
              </a:rPr>
              <a:t>n=1</a:t>
            </a:r>
            <a:r>
              <a:rPr lang="zh-CN" altLang="en-US" sz="2000" dirty="0">
                <a:solidFill>
                  <a:srgbClr val="000000"/>
                </a:solidFill>
                <a:latin typeface="Times New Roman" panose="02020603050405020304" pitchFamily="18" charset="0"/>
                <a:ea typeface="+mn-ea"/>
                <a:cs typeface="Times New Roman" panose="02020603050405020304" pitchFamily="18" charset="0"/>
              </a:rPr>
              <a:t>则    </a:t>
            </a:r>
            <a:r>
              <a:rPr lang="en-US" altLang="zh-CN" sz="2000" dirty="0">
                <a:solidFill>
                  <a:srgbClr val="000000"/>
                </a:solidFill>
                <a:latin typeface="Times New Roman" panose="02020603050405020304" pitchFamily="18" charset="0"/>
                <a:ea typeface="+mn-ea"/>
                <a:cs typeface="Times New Roman" panose="02020603050405020304" pitchFamily="18" charset="0"/>
              </a:rPr>
              <a:t>fn1+ fn2=1.5+ 0.9=</a:t>
            </a:r>
            <a:r>
              <a:rPr lang="en-US" altLang="zh-CN" sz="2000" dirty="0">
                <a:solidFill>
                  <a:schemeClr val="accent2"/>
                </a:solidFill>
                <a:latin typeface="Times New Roman" panose="02020603050405020304" pitchFamily="18" charset="0"/>
                <a:ea typeface="+mn-ea"/>
                <a:cs typeface="Times New Roman" panose="02020603050405020304" pitchFamily="18" charset="0"/>
              </a:rPr>
              <a:t>2.4MHz</a:t>
            </a:r>
          </a:p>
          <a:p>
            <a:pPr algn="ctr" eaLnBrk="1" hangingPunct="1"/>
            <a:r>
              <a:rPr lang="en-US" altLang="zh-CN" sz="2000" dirty="0">
                <a:solidFill>
                  <a:srgbClr val="000000"/>
                </a:solidFill>
                <a:latin typeface="Times New Roman" panose="02020603050405020304" pitchFamily="18" charset="0"/>
                <a:ea typeface="+mn-ea"/>
                <a:cs typeface="Times New Roman" panose="02020603050405020304" pitchFamily="18" charset="0"/>
              </a:rPr>
              <a:t>                   fn1– fn2=1.5– 0.9=0.6MHz  (</a:t>
            </a:r>
            <a:r>
              <a:rPr lang="zh-CN" altLang="en-US" sz="2000" dirty="0">
                <a:solidFill>
                  <a:srgbClr val="000000"/>
                </a:solidFill>
                <a:latin typeface="Times New Roman" panose="02020603050405020304" pitchFamily="18" charset="0"/>
                <a:ea typeface="+mn-ea"/>
                <a:cs typeface="Times New Roman" panose="02020603050405020304" pitchFamily="18" charset="0"/>
              </a:rPr>
              <a:t>波段外</a:t>
            </a:r>
            <a:r>
              <a:rPr lang="en-US" altLang="zh-CN" sz="2000" dirty="0">
                <a:solidFill>
                  <a:srgbClr val="000000"/>
                </a:solidFill>
                <a:latin typeface="Times New Roman" panose="02020603050405020304" pitchFamily="18" charset="0"/>
                <a:ea typeface="+mn-ea"/>
                <a:cs typeface="Times New Roman" panose="02020603050405020304" pitchFamily="18" charset="0"/>
              </a:rPr>
              <a:t>)</a:t>
            </a:r>
          </a:p>
          <a:p>
            <a:pPr eaLnBrk="1" hangingPunct="1"/>
            <a:r>
              <a:rPr lang="en-US" altLang="zh-CN" sz="2000" dirty="0">
                <a:solidFill>
                  <a:srgbClr val="000000"/>
                </a:solidFill>
                <a:latin typeface="Times New Roman" panose="02020603050405020304" pitchFamily="18" charset="0"/>
                <a:ea typeface="+mn-ea"/>
                <a:cs typeface="Times New Roman" panose="02020603050405020304" pitchFamily="18" charset="0"/>
              </a:rPr>
              <a:t>         m=1</a:t>
            </a:r>
            <a:r>
              <a:rPr lang="zh-CN" altLang="en-US" sz="2000" dirty="0">
                <a:solidFill>
                  <a:srgbClr val="000000"/>
                </a:solidFill>
                <a:latin typeface="Times New Roman" panose="02020603050405020304" pitchFamily="18" charset="0"/>
                <a:ea typeface="+mn-ea"/>
                <a:cs typeface="Times New Roman" panose="02020603050405020304" pitchFamily="18" charset="0"/>
              </a:rPr>
              <a:t>，</a:t>
            </a:r>
            <a:r>
              <a:rPr lang="en-US" altLang="zh-CN" sz="2000" dirty="0">
                <a:solidFill>
                  <a:srgbClr val="000000"/>
                </a:solidFill>
                <a:latin typeface="Times New Roman" panose="02020603050405020304" pitchFamily="18" charset="0"/>
                <a:ea typeface="+mn-ea"/>
                <a:cs typeface="Times New Roman" panose="02020603050405020304" pitchFamily="18" charset="0"/>
              </a:rPr>
              <a:t>n=2    fn1+ </a:t>
            </a:r>
            <a:r>
              <a:rPr lang="en-US" altLang="zh-CN" sz="2000" dirty="0" smtClean="0">
                <a:solidFill>
                  <a:srgbClr val="000000"/>
                </a:solidFill>
                <a:latin typeface="Times New Roman" panose="02020603050405020304" pitchFamily="18" charset="0"/>
                <a:ea typeface="+mn-ea"/>
                <a:cs typeface="Times New Roman" panose="02020603050405020304" pitchFamily="18" charset="0"/>
              </a:rPr>
              <a:t>2fn2=1.5+ 1.8=</a:t>
            </a:r>
            <a:r>
              <a:rPr lang="en-US" altLang="zh-CN" sz="2000" dirty="0" smtClean="0">
                <a:solidFill>
                  <a:schemeClr val="accent2"/>
                </a:solidFill>
                <a:latin typeface="Times New Roman" panose="02020603050405020304" pitchFamily="18" charset="0"/>
                <a:ea typeface="+mn-ea"/>
                <a:cs typeface="Times New Roman" panose="02020603050405020304" pitchFamily="18" charset="0"/>
              </a:rPr>
              <a:t>3.3MHz</a:t>
            </a:r>
          </a:p>
          <a:p>
            <a:pPr eaLnBrk="1" hangingPunct="1"/>
            <a:r>
              <a:rPr lang="en-US" altLang="zh-CN" sz="2000" dirty="0" smtClean="0">
                <a:solidFill>
                  <a:srgbClr val="000000"/>
                </a:solidFill>
                <a:latin typeface="Times New Roman" panose="02020603050405020304" pitchFamily="18" charset="0"/>
                <a:ea typeface="+mn-ea"/>
                <a:cs typeface="Times New Roman" panose="02020603050405020304" pitchFamily="18" charset="0"/>
              </a:rPr>
              <a:t>                               fn1– 2fn2=1.5– 1.8=-0.3MHz  </a:t>
            </a:r>
          </a:p>
          <a:p>
            <a:pPr eaLnBrk="1" hangingPunct="1"/>
            <a:r>
              <a:rPr lang="en-US" altLang="zh-CN" sz="2000" dirty="0" smtClean="0">
                <a:solidFill>
                  <a:srgbClr val="000000"/>
                </a:solidFill>
                <a:latin typeface="Times New Roman" panose="02020603050405020304" pitchFamily="18" charset="0"/>
                <a:ea typeface="+mn-ea"/>
                <a:cs typeface="Times New Roman" panose="02020603050405020304" pitchFamily="18" charset="0"/>
              </a:rPr>
              <a:t>         </a:t>
            </a:r>
            <a:r>
              <a:rPr lang="en-US" altLang="zh-CN" sz="2000" dirty="0">
                <a:solidFill>
                  <a:srgbClr val="000000"/>
                </a:solidFill>
                <a:latin typeface="Times New Roman" panose="02020603050405020304" pitchFamily="18" charset="0"/>
                <a:ea typeface="+mn-ea"/>
                <a:cs typeface="Times New Roman" panose="02020603050405020304" pitchFamily="18" charset="0"/>
              </a:rPr>
              <a:t>m=2</a:t>
            </a:r>
            <a:r>
              <a:rPr lang="zh-CN" altLang="en-US" sz="2000" dirty="0">
                <a:solidFill>
                  <a:srgbClr val="000000"/>
                </a:solidFill>
                <a:latin typeface="Times New Roman" panose="02020603050405020304" pitchFamily="18" charset="0"/>
                <a:ea typeface="+mn-ea"/>
                <a:cs typeface="Times New Roman" panose="02020603050405020304" pitchFamily="18" charset="0"/>
              </a:rPr>
              <a:t>，</a:t>
            </a:r>
            <a:r>
              <a:rPr lang="en-US" altLang="zh-CN" sz="2000" dirty="0">
                <a:solidFill>
                  <a:srgbClr val="000000"/>
                </a:solidFill>
                <a:latin typeface="Times New Roman" panose="02020603050405020304" pitchFamily="18" charset="0"/>
                <a:ea typeface="+mn-ea"/>
                <a:cs typeface="Times New Roman" panose="02020603050405020304" pitchFamily="18" charset="0"/>
              </a:rPr>
              <a:t>n=1    2fn1+ fn2=3.0+ 0.9=3.9MHz (</a:t>
            </a:r>
            <a:r>
              <a:rPr lang="zh-CN" altLang="en-US" sz="2000" dirty="0">
                <a:solidFill>
                  <a:srgbClr val="000000"/>
                </a:solidFill>
                <a:latin typeface="Times New Roman" panose="02020603050405020304" pitchFamily="18" charset="0"/>
                <a:ea typeface="+mn-ea"/>
                <a:cs typeface="Times New Roman" panose="02020603050405020304" pitchFamily="18" charset="0"/>
              </a:rPr>
              <a:t>波段外</a:t>
            </a:r>
            <a:r>
              <a:rPr lang="en-US" altLang="zh-CN" sz="2000" dirty="0">
                <a:solidFill>
                  <a:srgbClr val="000000"/>
                </a:solidFill>
                <a:latin typeface="Times New Roman" panose="02020603050405020304" pitchFamily="18" charset="0"/>
                <a:ea typeface="+mn-ea"/>
                <a:cs typeface="Times New Roman" panose="02020603050405020304" pitchFamily="18" charset="0"/>
              </a:rPr>
              <a:t>)</a:t>
            </a:r>
          </a:p>
          <a:p>
            <a:pPr algn="just" eaLnBrk="1" hangingPunct="1"/>
            <a:r>
              <a:rPr lang="en-US" altLang="zh-CN" sz="2000" dirty="0">
                <a:solidFill>
                  <a:srgbClr val="000000"/>
                </a:solidFill>
                <a:latin typeface="Times New Roman" panose="02020603050405020304" pitchFamily="18" charset="0"/>
                <a:ea typeface="+mn-ea"/>
                <a:cs typeface="Times New Roman" panose="02020603050405020304" pitchFamily="18" charset="0"/>
              </a:rPr>
              <a:t>        </a:t>
            </a:r>
            <a:r>
              <a:rPr lang="en-US" altLang="zh-CN" sz="2000" dirty="0" smtClean="0">
                <a:solidFill>
                  <a:srgbClr val="000000"/>
                </a:solidFill>
                <a:latin typeface="Times New Roman" panose="02020603050405020304" pitchFamily="18" charset="0"/>
                <a:ea typeface="+mn-ea"/>
                <a:cs typeface="Times New Roman" panose="02020603050405020304" pitchFamily="18" charset="0"/>
              </a:rPr>
              <a:t>                       </a:t>
            </a:r>
            <a:r>
              <a:rPr lang="en-US" altLang="zh-CN" sz="2000" dirty="0">
                <a:solidFill>
                  <a:srgbClr val="000000"/>
                </a:solidFill>
                <a:latin typeface="Times New Roman" panose="02020603050405020304" pitchFamily="18" charset="0"/>
                <a:ea typeface="+mn-ea"/>
                <a:cs typeface="Times New Roman" panose="02020603050405020304" pitchFamily="18" charset="0"/>
              </a:rPr>
              <a:t>2fn1– fn2=3.0– 0.9=</a:t>
            </a:r>
            <a:r>
              <a:rPr lang="en-US" altLang="zh-CN" sz="2000" dirty="0">
                <a:solidFill>
                  <a:schemeClr val="accent2"/>
                </a:solidFill>
                <a:latin typeface="Times New Roman" panose="02020603050405020304" pitchFamily="18" charset="0"/>
                <a:ea typeface="+mn-ea"/>
                <a:cs typeface="Times New Roman" panose="02020603050405020304" pitchFamily="18" charset="0"/>
              </a:rPr>
              <a:t>2.1MHz</a:t>
            </a:r>
          </a:p>
          <a:p>
            <a:pPr eaLnBrk="1" hangingPunct="1"/>
            <a:r>
              <a:rPr lang="en-US" altLang="zh-CN" sz="2000" dirty="0">
                <a:solidFill>
                  <a:srgbClr val="000000"/>
                </a:solidFill>
                <a:latin typeface="Times New Roman" panose="02020603050405020304" pitchFamily="18" charset="0"/>
                <a:ea typeface="+mn-ea"/>
                <a:cs typeface="Times New Roman" panose="02020603050405020304" pitchFamily="18" charset="0"/>
              </a:rPr>
              <a:t>         m=3</a:t>
            </a:r>
            <a:r>
              <a:rPr lang="zh-CN" altLang="en-US" sz="2000" dirty="0">
                <a:solidFill>
                  <a:srgbClr val="000000"/>
                </a:solidFill>
                <a:latin typeface="Times New Roman" panose="02020603050405020304" pitchFamily="18" charset="0"/>
                <a:ea typeface="+mn-ea"/>
                <a:cs typeface="Times New Roman" panose="02020603050405020304" pitchFamily="18" charset="0"/>
              </a:rPr>
              <a:t>，</a:t>
            </a:r>
            <a:r>
              <a:rPr lang="en-US" altLang="zh-CN" sz="2000" dirty="0">
                <a:solidFill>
                  <a:srgbClr val="000000"/>
                </a:solidFill>
                <a:latin typeface="Times New Roman" panose="02020603050405020304" pitchFamily="18" charset="0"/>
                <a:ea typeface="+mn-ea"/>
                <a:cs typeface="Times New Roman" panose="02020603050405020304" pitchFamily="18" charset="0"/>
              </a:rPr>
              <a:t>n=0    3fn1 =3</a:t>
            </a:r>
            <a:r>
              <a:rPr lang="en-US" altLang="zh-CN" sz="2000" dirty="0">
                <a:solidFill>
                  <a:srgbClr val="000000"/>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sz="2000" dirty="0">
                <a:solidFill>
                  <a:srgbClr val="000000"/>
                </a:solidFill>
                <a:latin typeface="Times New Roman" panose="02020603050405020304" pitchFamily="18" charset="0"/>
                <a:ea typeface="+mn-ea"/>
                <a:cs typeface="Times New Roman" panose="02020603050405020304" pitchFamily="18" charset="0"/>
              </a:rPr>
              <a:t>1.5=4.5MHz        (</a:t>
            </a:r>
            <a:r>
              <a:rPr lang="zh-CN" altLang="en-US" sz="2000" dirty="0">
                <a:solidFill>
                  <a:srgbClr val="000000"/>
                </a:solidFill>
                <a:latin typeface="Times New Roman" panose="02020603050405020304" pitchFamily="18" charset="0"/>
                <a:ea typeface="+mn-ea"/>
                <a:cs typeface="Times New Roman" panose="02020603050405020304" pitchFamily="18" charset="0"/>
                <a:sym typeface="Symbol" panose="05050102010706020507" pitchFamily="18" charset="2"/>
              </a:rPr>
              <a:t>波段外</a:t>
            </a:r>
            <a:r>
              <a:rPr lang="en-US" altLang="zh-CN" sz="2000" dirty="0">
                <a:solidFill>
                  <a:srgbClr val="000000"/>
                </a:solidFill>
                <a:latin typeface="Times New Roman" panose="02020603050405020304" pitchFamily="18" charset="0"/>
                <a:ea typeface="+mn-ea"/>
                <a:cs typeface="Times New Roman" panose="02020603050405020304" pitchFamily="18" charset="0"/>
                <a:sym typeface="Symbol" panose="05050102010706020507" pitchFamily="18" charset="2"/>
              </a:rPr>
              <a:t>)</a:t>
            </a:r>
          </a:p>
          <a:p>
            <a:pPr eaLnBrk="1" hangingPunct="1"/>
            <a:r>
              <a:rPr lang="en-US" altLang="zh-CN" sz="2000" dirty="0">
                <a:solidFill>
                  <a:srgbClr val="000000"/>
                </a:solidFill>
                <a:latin typeface="Times New Roman" panose="02020603050405020304" pitchFamily="18" charset="0"/>
                <a:ea typeface="+mn-ea"/>
                <a:cs typeface="Times New Roman" panose="02020603050405020304" pitchFamily="18" charset="0"/>
                <a:sym typeface="Symbol" panose="05050102010706020507" pitchFamily="18" charset="2"/>
              </a:rPr>
              <a:t>         m=0</a:t>
            </a:r>
            <a:r>
              <a:rPr lang="zh-CN" altLang="en-US" sz="2000" dirty="0">
                <a:solidFill>
                  <a:srgbClr val="000000"/>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sz="2000" dirty="0">
                <a:solidFill>
                  <a:srgbClr val="000000"/>
                </a:solidFill>
                <a:latin typeface="Times New Roman" panose="02020603050405020304" pitchFamily="18" charset="0"/>
                <a:ea typeface="+mn-ea"/>
                <a:cs typeface="Times New Roman" panose="02020603050405020304" pitchFamily="18" charset="0"/>
                <a:sym typeface="Symbol" panose="05050102010706020507" pitchFamily="18" charset="2"/>
              </a:rPr>
              <a:t>n=3    3fn2 =3</a:t>
            </a:r>
            <a:r>
              <a:rPr lang="en-US" altLang="zh-CN" sz="2000" dirty="0">
                <a:solidFill>
                  <a:srgbClr val="000000"/>
                </a:solidFill>
                <a:latin typeface="Times New Roman" panose="02020603050405020304" pitchFamily="18" charset="0"/>
                <a:ea typeface="+mn-ea"/>
                <a:cs typeface="Times New Roman" panose="02020603050405020304" pitchFamily="18" charset="0"/>
              </a:rPr>
              <a:t>0.9=</a:t>
            </a:r>
            <a:r>
              <a:rPr lang="en-US" altLang="zh-CN" sz="2000" dirty="0">
                <a:solidFill>
                  <a:schemeClr val="accent2"/>
                </a:solidFill>
                <a:latin typeface="Times New Roman" panose="02020603050405020304" pitchFamily="18" charset="0"/>
                <a:ea typeface="+mn-ea"/>
                <a:cs typeface="Times New Roman" panose="02020603050405020304" pitchFamily="18" charset="0"/>
              </a:rPr>
              <a:t>2.7MHz</a:t>
            </a:r>
            <a:endParaRPr lang="zh-CN" altLang="en-US" sz="2000" dirty="0">
              <a:solidFill>
                <a:schemeClr val="accent2"/>
              </a:solidFill>
              <a:latin typeface="Times New Roman" panose="02020603050405020304" pitchFamily="18" charset="0"/>
              <a:ea typeface="+mn-ea"/>
              <a:cs typeface="Times New Roman" panose="02020603050405020304" pitchFamily="18" charset="0"/>
            </a:endParaRPr>
          </a:p>
        </p:txBody>
      </p:sp>
      <p:sp>
        <p:nvSpPr>
          <p:cNvPr id="8" name="矩形 7">
            <a:extLst>
              <a:ext uri="{FF2B5EF4-FFF2-40B4-BE49-F238E27FC236}">
                <a16:creationId xmlns="" xmlns:a16="http://schemas.microsoft.com/office/drawing/2014/main" id="{E106C320-31E0-8940-D49B-2D147D3F3AFF}"/>
              </a:ext>
            </a:extLst>
          </p:cNvPr>
          <p:cNvSpPr>
            <a:spLocks noChangeArrowheads="1"/>
          </p:cNvSpPr>
          <p:nvPr/>
        </p:nvSpPr>
        <p:spPr bwMode="auto">
          <a:xfrm>
            <a:off x="467519" y="4941109"/>
            <a:ext cx="8208962"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r>
              <a:rPr lang="zh-CN" altLang="en-US" sz="2000" dirty="0">
                <a:solidFill>
                  <a:srgbClr val="000000"/>
                </a:solidFill>
                <a:latin typeface="Times New Roman" panose="02020603050405020304" pitchFamily="18" charset="0"/>
                <a:ea typeface="+mn-ea"/>
                <a:cs typeface="Times New Roman" panose="02020603050405020304" pitchFamily="18" charset="0"/>
                <a:sym typeface="Symbol" panose="05050102010706020507" pitchFamily="18" charset="2"/>
              </a:rPr>
              <a:t>因此，考虑三次以下谐波</a:t>
            </a:r>
            <a:r>
              <a:rPr lang="en-US" altLang="zh-CN" sz="2000" dirty="0">
                <a:solidFill>
                  <a:srgbClr val="000000"/>
                </a:solidFill>
                <a:latin typeface="Times New Roman" panose="02020603050405020304" pitchFamily="18" charset="0"/>
                <a:ea typeface="+mn-ea"/>
                <a:cs typeface="Times New Roman" panose="02020603050405020304" pitchFamily="18" charset="0"/>
                <a:sym typeface="Symbol" panose="05050102010706020507" pitchFamily="18" charset="2"/>
              </a:rPr>
              <a:t>fn1</a:t>
            </a:r>
            <a:r>
              <a:rPr lang="zh-CN" altLang="en-US" sz="2000" dirty="0">
                <a:solidFill>
                  <a:srgbClr val="000000"/>
                </a:solidFill>
                <a:latin typeface="Times New Roman" panose="02020603050405020304" pitchFamily="18" charset="0"/>
                <a:ea typeface="+mn-ea"/>
                <a:cs typeface="Times New Roman" panose="02020603050405020304" pitchFamily="18" charset="0"/>
                <a:sym typeface="Symbol" panose="05050102010706020507" pitchFamily="18" charset="2"/>
              </a:rPr>
              <a:t>和</a:t>
            </a:r>
            <a:r>
              <a:rPr lang="en-US" altLang="zh-CN" sz="2000" dirty="0">
                <a:solidFill>
                  <a:srgbClr val="000000"/>
                </a:solidFill>
                <a:latin typeface="Times New Roman" panose="02020603050405020304" pitchFamily="18" charset="0"/>
                <a:ea typeface="+mn-ea"/>
                <a:cs typeface="Times New Roman" panose="02020603050405020304" pitchFamily="18" charset="0"/>
                <a:sym typeface="Symbol" panose="05050102010706020507" pitchFamily="18" charset="2"/>
              </a:rPr>
              <a:t>fn2</a:t>
            </a:r>
            <a:r>
              <a:rPr lang="zh-CN" altLang="en-US" sz="2000" dirty="0">
                <a:solidFill>
                  <a:srgbClr val="000000"/>
                </a:solidFill>
                <a:latin typeface="Times New Roman" panose="02020603050405020304" pitchFamily="18" charset="0"/>
                <a:ea typeface="+mn-ea"/>
                <a:cs typeface="Times New Roman" panose="02020603050405020304" pitchFamily="18" charset="0"/>
                <a:sym typeface="Symbol" panose="05050102010706020507" pitchFamily="18" charset="2"/>
              </a:rPr>
              <a:t>在</a:t>
            </a:r>
            <a:r>
              <a:rPr lang="en-US" altLang="zh-CN" sz="2000" dirty="0">
                <a:solidFill>
                  <a:srgbClr val="000000"/>
                </a:solidFill>
                <a:latin typeface="Times New Roman" panose="02020603050405020304" pitchFamily="18" charset="0"/>
                <a:ea typeface="+mn-ea"/>
                <a:cs typeface="Times New Roman" panose="02020603050405020304" pitchFamily="18" charset="0"/>
                <a:sym typeface="Symbol" panose="05050102010706020507" pitchFamily="18" charset="2"/>
              </a:rPr>
              <a:t>1~3.5MHz</a:t>
            </a:r>
            <a:r>
              <a:rPr lang="zh-CN" altLang="en-US" sz="2000" dirty="0">
                <a:solidFill>
                  <a:srgbClr val="000000"/>
                </a:solidFill>
                <a:latin typeface="Times New Roman" panose="02020603050405020304" pitchFamily="18" charset="0"/>
                <a:ea typeface="+mn-ea"/>
                <a:cs typeface="Times New Roman" panose="02020603050405020304" pitchFamily="18" charset="0"/>
                <a:sym typeface="Symbol" panose="05050102010706020507" pitchFamily="18" charset="2"/>
              </a:rPr>
              <a:t>波段内对</a:t>
            </a:r>
            <a:r>
              <a:rPr lang="en-US" altLang="zh-CN" sz="2000" dirty="0">
                <a:solidFill>
                  <a:schemeClr val="accent2"/>
                </a:solidFill>
                <a:latin typeface="Times New Roman" panose="02020603050405020304" pitchFamily="18" charset="0"/>
                <a:ea typeface="+mn-ea"/>
                <a:cs typeface="Times New Roman" panose="02020603050405020304" pitchFamily="18" charset="0"/>
                <a:sym typeface="Symbol" panose="05050102010706020507" pitchFamily="18" charset="2"/>
              </a:rPr>
              <a:t>2.4MHz</a:t>
            </a:r>
            <a:r>
              <a:rPr lang="zh-CN" altLang="en-US" sz="2000" dirty="0">
                <a:solidFill>
                  <a:schemeClr val="accent2"/>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sz="2000" dirty="0">
                <a:solidFill>
                  <a:schemeClr val="accent2"/>
                </a:solidFill>
                <a:latin typeface="Times New Roman" panose="02020603050405020304" pitchFamily="18" charset="0"/>
                <a:ea typeface="+mn-ea"/>
                <a:cs typeface="Times New Roman" panose="02020603050405020304" pitchFamily="18" charset="0"/>
                <a:sym typeface="Symbol" panose="05050102010706020507" pitchFamily="18" charset="2"/>
              </a:rPr>
              <a:t>3.3MHz</a:t>
            </a:r>
            <a:r>
              <a:rPr lang="zh-CN" altLang="en-US" sz="2000" dirty="0">
                <a:solidFill>
                  <a:schemeClr val="accent2"/>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sz="2000" dirty="0">
                <a:solidFill>
                  <a:schemeClr val="accent2"/>
                </a:solidFill>
                <a:latin typeface="Times New Roman" panose="02020603050405020304" pitchFamily="18" charset="0"/>
                <a:ea typeface="+mn-ea"/>
                <a:cs typeface="Times New Roman" panose="02020603050405020304" pitchFamily="18" charset="0"/>
                <a:sym typeface="Symbol" panose="05050102010706020507" pitchFamily="18" charset="2"/>
              </a:rPr>
              <a:t>2.1MHz</a:t>
            </a:r>
            <a:r>
              <a:rPr lang="zh-CN" altLang="en-US" sz="2000" dirty="0">
                <a:solidFill>
                  <a:schemeClr val="accent2"/>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sz="2000" dirty="0">
                <a:solidFill>
                  <a:schemeClr val="accent2"/>
                </a:solidFill>
                <a:latin typeface="Times New Roman" panose="02020603050405020304" pitchFamily="18" charset="0"/>
                <a:ea typeface="+mn-ea"/>
                <a:cs typeface="Times New Roman" panose="02020603050405020304" pitchFamily="18" charset="0"/>
                <a:sym typeface="Symbol" panose="05050102010706020507" pitchFamily="18" charset="2"/>
              </a:rPr>
              <a:t>2.7MHz</a:t>
            </a:r>
            <a:r>
              <a:rPr lang="zh-CN" altLang="en-US" sz="2000" dirty="0">
                <a:solidFill>
                  <a:srgbClr val="000000"/>
                </a:solidFill>
                <a:latin typeface="Times New Roman" panose="02020603050405020304" pitchFamily="18" charset="0"/>
                <a:ea typeface="+mn-ea"/>
                <a:cs typeface="Times New Roman" panose="02020603050405020304" pitchFamily="18" charset="0"/>
                <a:sym typeface="Symbol" panose="05050102010706020507" pitchFamily="18" charset="2"/>
              </a:rPr>
              <a:t>等</a:t>
            </a:r>
            <a:r>
              <a:rPr lang="en-US" altLang="zh-CN" sz="2000" dirty="0">
                <a:solidFill>
                  <a:srgbClr val="000000"/>
                </a:solidFill>
                <a:latin typeface="Times New Roman" panose="02020603050405020304" pitchFamily="18" charset="0"/>
                <a:ea typeface="+mn-ea"/>
                <a:cs typeface="Times New Roman" panose="02020603050405020304" pitchFamily="18" charset="0"/>
                <a:sym typeface="Symbol" panose="05050102010706020507" pitchFamily="18" charset="2"/>
              </a:rPr>
              <a:t>4</a:t>
            </a:r>
            <a:r>
              <a:rPr lang="zh-CN" altLang="en-US" sz="2000" dirty="0">
                <a:solidFill>
                  <a:srgbClr val="000000"/>
                </a:solidFill>
                <a:latin typeface="Times New Roman" panose="02020603050405020304" pitchFamily="18" charset="0"/>
                <a:ea typeface="+mn-ea"/>
                <a:cs typeface="Times New Roman" panose="02020603050405020304" pitchFamily="18" charset="0"/>
                <a:sym typeface="Symbol" panose="05050102010706020507" pitchFamily="18" charset="2"/>
              </a:rPr>
              <a:t>个频率会产生干扰。</a:t>
            </a:r>
          </a:p>
        </p:txBody>
      </p:sp>
    </p:spTree>
    <p:extLst>
      <p:ext uri="{BB962C8B-B14F-4D97-AF65-F5344CB8AC3E}">
        <p14:creationId xmlns:p14="http://schemas.microsoft.com/office/powerpoint/2010/main" val="1321674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blinds(horizontal)">
                                      <p:cBhvr>
                                        <p:cTn id="7" dur="500"/>
                                        <p:tgtEl>
                                          <p:spTgt spid="7">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7">
                                            <p:txEl>
                                              <p:pRg st="1" end="1"/>
                                            </p:txEl>
                                          </p:spTgt>
                                        </p:tgtEl>
                                        <p:attrNameLst>
                                          <p:attrName>style.visibility</p:attrName>
                                        </p:attrNameLst>
                                      </p:cBhvr>
                                      <p:to>
                                        <p:strVal val="visible"/>
                                      </p:to>
                                    </p:set>
                                    <p:animEffect transition="in" filter="blinds(horizontal)">
                                      <p:cBhvr>
                                        <p:cTn id="10" dur="500"/>
                                        <p:tgtEl>
                                          <p:spTgt spid="7">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animEffect transition="in" filter="blinds(horizontal)">
                                      <p:cBhvr>
                                        <p:cTn id="15" dur="500"/>
                                        <p:tgtEl>
                                          <p:spTgt spid="7">
                                            <p:txEl>
                                              <p:pRg st="2" end="2"/>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7">
                                            <p:txEl>
                                              <p:pRg st="3" end="3"/>
                                            </p:txEl>
                                          </p:spTgt>
                                        </p:tgtEl>
                                        <p:attrNameLst>
                                          <p:attrName>style.visibility</p:attrName>
                                        </p:attrNameLst>
                                      </p:cBhvr>
                                      <p:to>
                                        <p:strVal val="visible"/>
                                      </p:to>
                                    </p:set>
                                    <p:animEffect transition="in" filter="blinds(horizontal)">
                                      <p:cBhvr>
                                        <p:cTn id="18" dur="500"/>
                                        <p:tgtEl>
                                          <p:spTgt spid="7">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animEffect transition="in" filter="blinds(horizontal)">
                                      <p:cBhvr>
                                        <p:cTn id="23" dur="500"/>
                                        <p:tgtEl>
                                          <p:spTgt spid="7">
                                            <p:txEl>
                                              <p:pRg st="4" end="4"/>
                                            </p:txEl>
                                          </p:spTgt>
                                        </p:tgtEl>
                                      </p:cBhvr>
                                    </p:animEffect>
                                  </p:childTnLst>
                                </p:cTn>
                              </p:par>
                              <p:par>
                                <p:cTn id="24" presetID="3" presetClass="entr" presetSubtype="10" fill="hold" nodeType="withEffect">
                                  <p:stCondLst>
                                    <p:cond delay="0"/>
                                  </p:stCondLst>
                                  <p:childTnLst>
                                    <p:set>
                                      <p:cBhvr>
                                        <p:cTn id="25" dur="1" fill="hold">
                                          <p:stCondLst>
                                            <p:cond delay="0"/>
                                          </p:stCondLst>
                                        </p:cTn>
                                        <p:tgtEl>
                                          <p:spTgt spid="7">
                                            <p:txEl>
                                              <p:pRg st="5" end="5"/>
                                            </p:txEl>
                                          </p:spTgt>
                                        </p:tgtEl>
                                        <p:attrNameLst>
                                          <p:attrName>style.visibility</p:attrName>
                                        </p:attrNameLst>
                                      </p:cBhvr>
                                      <p:to>
                                        <p:strVal val="visible"/>
                                      </p:to>
                                    </p:set>
                                    <p:animEffect transition="in" filter="blinds(horizontal)">
                                      <p:cBhvr>
                                        <p:cTn id="26" dur="500"/>
                                        <p:tgtEl>
                                          <p:spTgt spid="7">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7">
                                            <p:txEl>
                                              <p:pRg st="6" end="6"/>
                                            </p:txEl>
                                          </p:spTgt>
                                        </p:tgtEl>
                                        <p:attrNameLst>
                                          <p:attrName>style.visibility</p:attrName>
                                        </p:attrNameLst>
                                      </p:cBhvr>
                                      <p:to>
                                        <p:strVal val="visible"/>
                                      </p:to>
                                    </p:set>
                                    <p:animEffect transition="in" filter="blinds(horizontal)">
                                      <p:cBhvr>
                                        <p:cTn id="31" dur="500"/>
                                        <p:tgtEl>
                                          <p:spTgt spid="7">
                                            <p:txEl>
                                              <p:pRg st="6" end="6"/>
                                            </p:txEl>
                                          </p:spTgt>
                                        </p:tgtEl>
                                      </p:cBhvr>
                                    </p:animEffect>
                                  </p:childTnLst>
                                </p:cTn>
                              </p:par>
                              <p:par>
                                <p:cTn id="32" presetID="3" presetClass="entr" presetSubtype="10" fill="hold" nodeType="withEffect">
                                  <p:stCondLst>
                                    <p:cond delay="0"/>
                                  </p:stCondLst>
                                  <p:childTnLst>
                                    <p:set>
                                      <p:cBhvr>
                                        <p:cTn id="33" dur="1" fill="hold">
                                          <p:stCondLst>
                                            <p:cond delay="0"/>
                                          </p:stCondLst>
                                        </p:cTn>
                                        <p:tgtEl>
                                          <p:spTgt spid="7">
                                            <p:txEl>
                                              <p:pRg st="7" end="7"/>
                                            </p:txEl>
                                          </p:spTgt>
                                        </p:tgtEl>
                                        <p:attrNameLst>
                                          <p:attrName>style.visibility</p:attrName>
                                        </p:attrNameLst>
                                      </p:cBhvr>
                                      <p:to>
                                        <p:strVal val="visible"/>
                                      </p:to>
                                    </p:set>
                                    <p:animEffect transition="in" filter="blinds(horizontal)">
                                      <p:cBhvr>
                                        <p:cTn id="34" dur="500"/>
                                        <p:tgtEl>
                                          <p:spTgt spid="7">
                                            <p:txEl>
                                              <p:pRg st="7" end="7"/>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grpId="0" nodeType="click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blinds(horizontal)">
                                      <p:cBhvr>
                                        <p:cTn id="3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262</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5"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6.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振幅调制</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与</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解调</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 name="矩形 158725">
            <a:extLst>
              <a:ext uri="{FF2B5EF4-FFF2-40B4-BE49-F238E27FC236}">
                <a16:creationId xmlns="" xmlns:a16="http://schemas.microsoft.com/office/drawing/2014/main" id="{49780D83-4E62-5808-D801-CCE0AE5C7768}"/>
              </a:ext>
            </a:extLst>
          </p:cNvPr>
          <p:cNvSpPr>
            <a:spLocks noChangeArrowheads="1"/>
          </p:cNvSpPr>
          <p:nvPr/>
        </p:nvSpPr>
        <p:spPr bwMode="auto">
          <a:xfrm>
            <a:off x="651992" y="1325742"/>
            <a:ext cx="300764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r>
              <a:rPr lang="zh-CN" altLang="en-US" sz="2000" b="0" dirty="0">
                <a:solidFill>
                  <a:schemeClr val="accent2"/>
                </a:solidFill>
                <a:latin typeface="Times New Roman" panose="02020603050405020304" pitchFamily="18" charset="0"/>
                <a:ea typeface="+mn-ea"/>
                <a:cs typeface="Times New Roman" panose="02020603050405020304" pitchFamily="18" charset="0"/>
              </a:rPr>
              <a:t>克服互调干扰的主要方法</a:t>
            </a:r>
          </a:p>
        </p:txBody>
      </p:sp>
      <p:sp>
        <p:nvSpPr>
          <p:cNvPr id="7" name="矩形 158728">
            <a:extLst>
              <a:ext uri="{FF2B5EF4-FFF2-40B4-BE49-F238E27FC236}">
                <a16:creationId xmlns="" xmlns:a16="http://schemas.microsoft.com/office/drawing/2014/main" id="{3E79C1F1-65B0-4F94-926A-E5184C7ECC27}"/>
              </a:ext>
            </a:extLst>
          </p:cNvPr>
          <p:cNvSpPr>
            <a:spLocks noChangeArrowheads="1"/>
          </p:cNvSpPr>
          <p:nvPr/>
        </p:nvSpPr>
        <p:spPr bwMode="auto">
          <a:xfrm>
            <a:off x="421665" y="1725852"/>
            <a:ext cx="454738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r>
              <a:rPr lang="zh-CN" altLang="en-US" sz="2000" b="0" dirty="0">
                <a:solidFill>
                  <a:srgbClr val="000000"/>
                </a:solidFill>
                <a:latin typeface="Times New Roman" panose="02020603050405020304" pitchFamily="18" charset="0"/>
                <a:ea typeface="+mn-ea"/>
                <a:cs typeface="Times New Roman" panose="02020603050405020304" pitchFamily="18" charset="0"/>
              </a:rPr>
              <a:t>抑制互调的方法与抑制交调的方法相同</a:t>
            </a:r>
          </a:p>
        </p:txBody>
      </p:sp>
      <p:sp>
        <p:nvSpPr>
          <p:cNvPr id="8" name="矩形 158729">
            <a:extLst>
              <a:ext uri="{FF2B5EF4-FFF2-40B4-BE49-F238E27FC236}">
                <a16:creationId xmlns="" xmlns:a16="http://schemas.microsoft.com/office/drawing/2014/main" id="{FB71934C-CDC2-921E-FCD5-18976AE0F5FC}"/>
              </a:ext>
            </a:extLst>
          </p:cNvPr>
          <p:cNvSpPr>
            <a:spLocks noChangeArrowheads="1"/>
          </p:cNvSpPr>
          <p:nvPr/>
        </p:nvSpPr>
        <p:spPr bwMode="auto">
          <a:xfrm>
            <a:off x="421665" y="2064897"/>
            <a:ext cx="8589676"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lnSpc>
                <a:spcPct val="125000"/>
              </a:lnSpc>
            </a:pPr>
            <a:r>
              <a:rPr lang="en-US" altLang="zh-CN" sz="2000" b="0" dirty="0">
                <a:solidFill>
                  <a:srgbClr val="000000"/>
                </a:solidFill>
                <a:latin typeface="Times New Roman" panose="02020603050405020304" pitchFamily="18" charset="0"/>
                <a:ea typeface="+mn-ea"/>
                <a:cs typeface="Times New Roman" panose="02020603050405020304" pitchFamily="18" charset="0"/>
              </a:rPr>
              <a:t>1.</a:t>
            </a:r>
            <a:r>
              <a:rPr lang="zh-CN" altLang="en-US" sz="2000" b="0" dirty="0">
                <a:solidFill>
                  <a:srgbClr val="000000"/>
                </a:solidFill>
                <a:latin typeface="Times New Roman" panose="02020603050405020304" pitchFamily="18" charset="0"/>
                <a:ea typeface="+mn-ea"/>
                <a:cs typeface="Times New Roman" panose="02020603050405020304" pitchFamily="18" charset="0"/>
              </a:rPr>
              <a:t>提高混频电路前级的选择性抑制干扰</a:t>
            </a:r>
            <a:r>
              <a:rPr lang="zh-CN" altLang="en-US" sz="2000" b="0" dirty="0" smtClean="0">
                <a:solidFill>
                  <a:srgbClr val="000000"/>
                </a:solidFill>
                <a:latin typeface="Times New Roman" panose="02020603050405020304" pitchFamily="18" charset="0"/>
                <a:ea typeface="+mn-ea"/>
                <a:cs typeface="Times New Roman" panose="02020603050405020304" pitchFamily="18" charset="0"/>
              </a:rPr>
              <a:t>；</a:t>
            </a:r>
            <a:endParaRPr lang="zh-CN" altLang="en-US" sz="2000" b="0" dirty="0">
              <a:solidFill>
                <a:srgbClr val="000000"/>
              </a:solidFill>
              <a:latin typeface="Times New Roman" panose="02020603050405020304" pitchFamily="18" charset="0"/>
              <a:ea typeface="+mn-ea"/>
              <a:cs typeface="Times New Roman" panose="02020603050405020304" pitchFamily="18" charset="0"/>
            </a:endParaRPr>
          </a:p>
          <a:p>
            <a:pPr eaLnBrk="1" hangingPunct="1">
              <a:lnSpc>
                <a:spcPct val="125000"/>
              </a:lnSpc>
            </a:pPr>
            <a:r>
              <a:rPr lang="en-US" altLang="zh-CN" sz="2000" b="0" dirty="0">
                <a:solidFill>
                  <a:srgbClr val="000000"/>
                </a:solidFill>
                <a:latin typeface="Times New Roman" panose="02020603050405020304" pitchFamily="18" charset="0"/>
                <a:ea typeface="+mn-ea"/>
                <a:cs typeface="Times New Roman" panose="02020603050405020304" pitchFamily="18" charset="0"/>
              </a:rPr>
              <a:t>2.</a:t>
            </a:r>
            <a:r>
              <a:rPr lang="zh-CN" altLang="en-US" sz="2000" b="0" dirty="0">
                <a:solidFill>
                  <a:srgbClr val="000000"/>
                </a:solidFill>
                <a:latin typeface="Times New Roman" panose="02020603050405020304" pitchFamily="18" charset="0"/>
                <a:ea typeface="+mn-ea"/>
                <a:cs typeface="Times New Roman" panose="02020603050405020304" pitchFamily="18" charset="0"/>
              </a:rPr>
              <a:t>选择合适的器件和合适的工作状态，使混频器的非线性高次方项尽可能小</a:t>
            </a:r>
            <a:r>
              <a:rPr lang="zh-CN" altLang="en-US" sz="2000" b="0" dirty="0" smtClean="0">
                <a:solidFill>
                  <a:srgbClr val="000000"/>
                </a:solidFill>
                <a:latin typeface="Times New Roman" panose="02020603050405020304" pitchFamily="18" charset="0"/>
                <a:ea typeface="+mn-ea"/>
                <a:cs typeface="Times New Roman" panose="02020603050405020304" pitchFamily="18" charset="0"/>
              </a:rPr>
              <a:t>；</a:t>
            </a:r>
            <a:endParaRPr lang="zh-CN" altLang="en-US" sz="2000" b="0" dirty="0">
              <a:solidFill>
                <a:srgbClr val="000000"/>
              </a:solidFill>
              <a:latin typeface="Times New Roman" panose="02020603050405020304" pitchFamily="18" charset="0"/>
              <a:ea typeface="+mn-ea"/>
              <a:cs typeface="Times New Roman" panose="02020603050405020304" pitchFamily="18" charset="0"/>
            </a:endParaRPr>
          </a:p>
          <a:p>
            <a:pPr eaLnBrk="1" hangingPunct="1">
              <a:lnSpc>
                <a:spcPct val="125000"/>
              </a:lnSpc>
            </a:pPr>
            <a:r>
              <a:rPr lang="en-US" altLang="zh-CN" sz="2000" b="0" dirty="0">
                <a:solidFill>
                  <a:srgbClr val="000000"/>
                </a:solidFill>
                <a:latin typeface="Times New Roman" panose="02020603050405020304" pitchFamily="18" charset="0"/>
                <a:ea typeface="+mn-ea"/>
                <a:cs typeface="Times New Roman" panose="02020603050405020304" pitchFamily="18" charset="0"/>
              </a:rPr>
              <a:t>3.</a:t>
            </a:r>
            <a:r>
              <a:rPr lang="zh-CN" altLang="en-US" sz="2000" b="0" dirty="0">
                <a:solidFill>
                  <a:srgbClr val="000000"/>
                </a:solidFill>
                <a:latin typeface="Times New Roman" panose="02020603050405020304" pitchFamily="18" charset="0"/>
                <a:ea typeface="+mn-ea"/>
                <a:cs typeface="Times New Roman" panose="02020603050405020304" pitchFamily="18" charset="0"/>
              </a:rPr>
              <a:t>采用抗干扰能力较强的平衡混频器和模拟乘法器混频电路</a:t>
            </a:r>
            <a:r>
              <a:rPr lang="zh-CN" altLang="en-US" sz="2000" b="0" dirty="0" smtClean="0">
                <a:solidFill>
                  <a:srgbClr val="000000"/>
                </a:solidFill>
                <a:latin typeface="Times New Roman" panose="02020603050405020304" pitchFamily="18" charset="0"/>
                <a:ea typeface="+mn-ea"/>
                <a:cs typeface="Times New Roman" panose="02020603050405020304" pitchFamily="18" charset="0"/>
              </a:rPr>
              <a:t>。</a:t>
            </a:r>
            <a:endParaRPr lang="en-US" altLang="zh-CN" sz="2000" b="0" dirty="0" smtClean="0">
              <a:solidFill>
                <a:srgbClr val="000000"/>
              </a:solidFill>
              <a:latin typeface="Times New Roman" panose="02020603050405020304" pitchFamily="18" charset="0"/>
              <a:ea typeface="+mn-ea"/>
              <a:cs typeface="Times New Roman" panose="02020603050405020304" pitchFamily="18" charset="0"/>
            </a:endParaRPr>
          </a:p>
          <a:p>
            <a:pPr>
              <a:lnSpc>
                <a:spcPct val="125000"/>
              </a:lnSpc>
            </a:pPr>
            <a:r>
              <a:rPr lang="en-US" altLang="zh-CN" sz="2000" b="0" dirty="0">
                <a:solidFill>
                  <a:srgbClr val="000000"/>
                </a:solidFill>
                <a:latin typeface="Times New Roman" panose="02020603050405020304" pitchFamily="18" charset="0"/>
                <a:ea typeface="+mn-ea"/>
                <a:cs typeface="Times New Roman" panose="02020603050405020304" pitchFamily="18" charset="0"/>
              </a:rPr>
              <a:t>4.</a:t>
            </a:r>
            <a:r>
              <a:rPr lang="zh-CN" altLang="en-US" sz="2000" b="0" dirty="0">
                <a:solidFill>
                  <a:srgbClr val="000000"/>
                </a:solidFill>
                <a:latin typeface="Times New Roman" panose="02020603050405020304" pitchFamily="18" charset="0"/>
                <a:ea typeface="+mn-ea"/>
                <a:cs typeface="Times New Roman" panose="02020603050405020304" pitchFamily="18" charset="0"/>
              </a:rPr>
              <a:t>采用倍频程带通滤波器防止二阶互调干扰的产生。 </a:t>
            </a:r>
          </a:p>
        </p:txBody>
      </p:sp>
      <p:sp>
        <p:nvSpPr>
          <p:cNvPr id="9" name="Text Box 2">
            <a:extLst>
              <a:ext uri="{FF2B5EF4-FFF2-40B4-BE49-F238E27FC236}">
                <a16:creationId xmlns="" xmlns:a16="http://schemas.microsoft.com/office/drawing/2014/main" id="{C3798950-189D-5EB4-EBF4-D3FFC9502FA1}"/>
              </a:ext>
            </a:extLst>
          </p:cNvPr>
          <p:cNvSpPr txBox="1">
            <a:spLocks noChangeArrowheads="1"/>
          </p:cNvSpPr>
          <p:nvPr/>
        </p:nvSpPr>
        <p:spPr bwMode="auto">
          <a:xfrm>
            <a:off x="421665" y="3696113"/>
            <a:ext cx="155202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r>
              <a:rPr lang="zh-CN" altLang="en-US" sz="2000" b="0" dirty="0">
                <a:solidFill>
                  <a:srgbClr val="0000CC"/>
                </a:solidFill>
                <a:latin typeface="Times New Roman" panose="02020603050405020304" pitchFamily="18" charset="0"/>
                <a:ea typeface="+mn-ea"/>
                <a:cs typeface="Times New Roman" panose="02020603050405020304" pitchFamily="18" charset="0"/>
              </a:rPr>
              <a:t>3)  阻塞干扰</a:t>
            </a:r>
          </a:p>
        </p:txBody>
      </p:sp>
      <p:sp>
        <p:nvSpPr>
          <p:cNvPr id="10" name="Text Box 3">
            <a:extLst>
              <a:ext uri="{FF2B5EF4-FFF2-40B4-BE49-F238E27FC236}">
                <a16:creationId xmlns="" xmlns:a16="http://schemas.microsoft.com/office/drawing/2014/main" id="{4087A78E-D032-2335-CEE7-57E22E07DA9E}"/>
              </a:ext>
            </a:extLst>
          </p:cNvPr>
          <p:cNvSpPr txBox="1">
            <a:spLocks noChangeArrowheads="1"/>
          </p:cNvSpPr>
          <p:nvPr/>
        </p:nvSpPr>
        <p:spPr bwMode="auto">
          <a:xfrm>
            <a:off x="421665" y="4130313"/>
            <a:ext cx="7993062"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r>
              <a:rPr lang="zh-CN" altLang="en-US" sz="2000" b="0">
                <a:solidFill>
                  <a:srgbClr val="000000"/>
                </a:solidFill>
                <a:latin typeface="Times New Roman" panose="02020603050405020304" pitchFamily="18" charset="0"/>
                <a:ea typeface="+mn-ea"/>
                <a:cs typeface="Times New Roman" panose="02020603050405020304" pitchFamily="18" charset="0"/>
              </a:rPr>
              <a:t>    当一个强干扰信号进入接收机输入端后，由于输入电路抑制不良，会使前端电路内放大器或混频器的晶体管处于严重的非线性区域，使输出信噪比大大下降。这种现象称为阻塞干扰。</a:t>
            </a:r>
          </a:p>
        </p:txBody>
      </p:sp>
      <p:sp>
        <p:nvSpPr>
          <p:cNvPr id="12" name="Text Box 4">
            <a:extLst>
              <a:ext uri="{FF2B5EF4-FFF2-40B4-BE49-F238E27FC236}">
                <a16:creationId xmlns="" xmlns:a16="http://schemas.microsoft.com/office/drawing/2014/main" id="{11AFDA02-9C1D-A99A-DE5B-7821CF0A84FA}"/>
              </a:ext>
            </a:extLst>
          </p:cNvPr>
          <p:cNvSpPr txBox="1">
            <a:spLocks noChangeArrowheads="1"/>
          </p:cNvSpPr>
          <p:nvPr/>
        </p:nvSpPr>
        <p:spPr bwMode="auto">
          <a:xfrm>
            <a:off x="467559" y="5080762"/>
            <a:ext cx="8497888"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r>
              <a:rPr lang="zh-CN" altLang="en-US" sz="1800" b="0" dirty="0">
                <a:solidFill>
                  <a:srgbClr val="000000"/>
                </a:solidFill>
                <a:latin typeface="+mn-ea"/>
                <a:ea typeface="+mn-ea"/>
              </a:rPr>
              <a:t>    产生阻塞观象的原因有两种</a:t>
            </a:r>
            <a:r>
              <a:rPr lang="en-US" altLang="zh-CN" sz="1800" b="0" dirty="0">
                <a:solidFill>
                  <a:srgbClr val="000000"/>
                </a:solidFill>
                <a:latin typeface="+mn-ea"/>
                <a:ea typeface="+mn-ea"/>
              </a:rPr>
              <a:t>:</a:t>
            </a:r>
          </a:p>
          <a:p>
            <a:pPr eaLnBrk="1" hangingPunct="1"/>
            <a:r>
              <a:rPr lang="zh-CN" altLang="en-US" sz="1800" b="0" dirty="0" smtClean="0">
                <a:solidFill>
                  <a:srgbClr val="000000"/>
                </a:solidFill>
                <a:latin typeface="+mn-ea"/>
                <a:ea typeface="+mn-ea"/>
              </a:rPr>
              <a:t>    一</a:t>
            </a:r>
            <a:r>
              <a:rPr lang="zh-CN" altLang="en-US" sz="1800" b="0" dirty="0">
                <a:solidFill>
                  <a:srgbClr val="000000"/>
                </a:solidFill>
                <a:latin typeface="+mn-ea"/>
                <a:ea typeface="+mn-ea"/>
              </a:rPr>
              <a:t>种是强干扰作用下晶体管特性曲线非线性所引起的</a:t>
            </a:r>
            <a:r>
              <a:rPr lang="zh-CN" altLang="en-US" sz="1800" b="0" dirty="0" smtClean="0">
                <a:solidFill>
                  <a:srgbClr val="000000"/>
                </a:solidFill>
                <a:latin typeface="+mn-ea"/>
                <a:ea typeface="+mn-ea"/>
              </a:rPr>
              <a:t>阻塞；</a:t>
            </a:r>
            <a:endParaRPr lang="en-US" altLang="zh-CN" sz="1800" b="0" dirty="0" smtClean="0">
              <a:solidFill>
                <a:srgbClr val="000000"/>
              </a:solidFill>
              <a:latin typeface="+mn-ea"/>
              <a:ea typeface="+mn-ea"/>
            </a:endParaRPr>
          </a:p>
          <a:p>
            <a:pPr eaLnBrk="1" hangingPunct="1"/>
            <a:r>
              <a:rPr lang="zh-CN" altLang="en-US" sz="1800" b="0" dirty="0" smtClean="0">
                <a:solidFill>
                  <a:srgbClr val="000000"/>
                </a:solidFill>
                <a:latin typeface="+mn-ea"/>
                <a:ea typeface="+mn-ea"/>
              </a:rPr>
              <a:t>    一</a:t>
            </a:r>
            <a:r>
              <a:rPr lang="zh-CN" altLang="en-US" sz="1800" b="0" dirty="0">
                <a:solidFill>
                  <a:srgbClr val="000000"/>
                </a:solidFill>
                <a:latin typeface="+mn-ea"/>
                <a:ea typeface="+mn-ea"/>
              </a:rPr>
              <a:t>种是强干扰破坏了晶体管的工作状态，使管子产生假击穿。</a:t>
            </a:r>
            <a:r>
              <a:rPr lang="en-US" altLang="zh-CN" sz="1800" b="0" dirty="0">
                <a:solidFill>
                  <a:srgbClr val="000000"/>
                </a:solidFill>
                <a:latin typeface="+mn-ea"/>
                <a:ea typeface="+mn-ea"/>
              </a:rPr>
              <a:t>(</a:t>
            </a:r>
            <a:r>
              <a:rPr lang="zh-CN" altLang="en-US" sz="1800" b="0" dirty="0">
                <a:solidFill>
                  <a:srgbClr val="000000"/>
                </a:solidFill>
                <a:latin typeface="+mn-ea"/>
                <a:ea typeface="+mn-ea"/>
              </a:rPr>
              <a:t>干扰电压消失后，晶体管还能够还原</a:t>
            </a:r>
            <a:r>
              <a:rPr lang="en-US" altLang="zh-CN" sz="1800" b="0" dirty="0">
                <a:solidFill>
                  <a:srgbClr val="000000"/>
                </a:solidFill>
                <a:latin typeface="+mn-ea"/>
                <a:ea typeface="+mn-ea"/>
              </a:rPr>
              <a:t>)</a:t>
            </a:r>
            <a:r>
              <a:rPr lang="zh-CN" altLang="en-US" sz="1800" b="0" dirty="0">
                <a:solidFill>
                  <a:srgbClr val="000000"/>
                </a:solidFill>
                <a:latin typeface="+mn-ea"/>
                <a:ea typeface="+mn-ea"/>
              </a:rPr>
              <a:t>，使作为电流分配器的晶体管的正常工作状态被破坏，产生了完全堵死的阻塞现象</a:t>
            </a:r>
            <a:r>
              <a:rPr lang="zh-CN" altLang="en-US" sz="1800" b="0" dirty="0" smtClean="0">
                <a:solidFill>
                  <a:srgbClr val="000000"/>
                </a:solidFill>
                <a:latin typeface="+mn-ea"/>
                <a:ea typeface="+mn-ea"/>
              </a:rPr>
              <a:t>。</a:t>
            </a:r>
            <a:endParaRPr lang="zh-CN" altLang="en-US" sz="1800" b="0" dirty="0">
              <a:solidFill>
                <a:srgbClr val="000000"/>
              </a:solidFill>
              <a:latin typeface="+mn-ea"/>
              <a:ea typeface="+mn-ea"/>
            </a:endParaRPr>
          </a:p>
        </p:txBody>
      </p:sp>
    </p:spTree>
    <p:extLst>
      <p:ext uri="{BB962C8B-B14F-4D97-AF65-F5344CB8AC3E}">
        <p14:creationId xmlns:p14="http://schemas.microsoft.com/office/powerpoint/2010/main" val="41787628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linds(horizontal)">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263</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5"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6.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振幅调制</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与</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解调</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 name="Text Box 5">
            <a:extLst>
              <a:ext uri="{FF2B5EF4-FFF2-40B4-BE49-F238E27FC236}">
                <a16:creationId xmlns="" xmlns:a16="http://schemas.microsoft.com/office/drawing/2014/main" id="{CA7FD614-F1C0-740F-97CF-726CBFDAE97D}"/>
              </a:ext>
            </a:extLst>
          </p:cNvPr>
          <p:cNvSpPr txBox="1">
            <a:spLocks noChangeArrowheads="1"/>
          </p:cNvSpPr>
          <p:nvPr/>
        </p:nvSpPr>
        <p:spPr bwMode="auto">
          <a:xfrm>
            <a:off x="469425" y="3236929"/>
            <a:ext cx="201612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r>
              <a:rPr lang="zh-CN" altLang="en-US" sz="2000" b="0" dirty="0">
                <a:solidFill>
                  <a:srgbClr val="0000CC"/>
                </a:solidFill>
                <a:latin typeface="Times New Roman" panose="02020603050405020304" pitchFamily="18" charset="0"/>
                <a:ea typeface="+mn-ea"/>
                <a:cs typeface="Times New Roman" panose="02020603050405020304" pitchFamily="18" charset="0"/>
              </a:rPr>
              <a:t>4)  相互混频</a:t>
            </a:r>
          </a:p>
        </p:txBody>
      </p:sp>
      <p:sp>
        <p:nvSpPr>
          <p:cNvPr id="7" name="Text Box 6">
            <a:extLst>
              <a:ext uri="{FF2B5EF4-FFF2-40B4-BE49-F238E27FC236}">
                <a16:creationId xmlns="" xmlns:a16="http://schemas.microsoft.com/office/drawing/2014/main" id="{0348A9E7-768E-ED72-8031-0602AF34ED68}"/>
              </a:ext>
            </a:extLst>
          </p:cNvPr>
          <p:cNvSpPr txBox="1">
            <a:spLocks noChangeArrowheads="1"/>
          </p:cNvSpPr>
          <p:nvPr/>
        </p:nvSpPr>
        <p:spPr bwMode="auto">
          <a:xfrm>
            <a:off x="573657" y="3780480"/>
            <a:ext cx="80645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r>
              <a:rPr lang="zh-CN" altLang="en-US" sz="2000" b="0" dirty="0">
                <a:solidFill>
                  <a:srgbClr val="000000"/>
                </a:solidFill>
                <a:latin typeface="Times New Roman" panose="02020603050405020304" pitchFamily="18" charset="0"/>
                <a:ea typeface="+mn-ea"/>
                <a:cs typeface="Times New Roman" panose="02020603050405020304" pitchFamily="18" charset="0"/>
              </a:rPr>
              <a:t>    由于本振源内存在杂散边带功率，强干扰与杂散边带噪声混频产生的频率分量落在中频通带内形成中频噪声。</a:t>
            </a:r>
          </a:p>
        </p:txBody>
      </p:sp>
      <p:sp>
        <p:nvSpPr>
          <p:cNvPr id="8" name="Rectangle 7">
            <a:extLst>
              <a:ext uri="{FF2B5EF4-FFF2-40B4-BE49-F238E27FC236}">
                <a16:creationId xmlns="" xmlns:a16="http://schemas.microsoft.com/office/drawing/2014/main" id="{8190EE3E-753B-EC47-5675-79B127472569}"/>
              </a:ext>
            </a:extLst>
          </p:cNvPr>
          <p:cNvSpPr>
            <a:spLocks noChangeArrowheads="1"/>
          </p:cNvSpPr>
          <p:nvPr/>
        </p:nvSpPr>
        <p:spPr bwMode="auto">
          <a:xfrm>
            <a:off x="573657" y="1441203"/>
            <a:ext cx="263726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9pPr>
          </a:lstStyle>
          <a:p>
            <a:pPr eaLnBrk="1" hangingPunct="1"/>
            <a:r>
              <a:rPr lang="zh-CN" altLang="en-US" sz="2000" b="0" dirty="0">
                <a:solidFill>
                  <a:srgbClr val="0000CC"/>
                </a:solidFill>
                <a:latin typeface="Times New Roman" panose="02020603050405020304" pitchFamily="18" charset="0"/>
                <a:ea typeface="+mn-ea"/>
                <a:cs typeface="Times New Roman" panose="02020603050405020304" pitchFamily="18" charset="0"/>
              </a:rPr>
              <a:t>减小阻塞干扰的措施</a:t>
            </a:r>
            <a:r>
              <a:rPr lang="en-US" altLang="zh-CN" sz="2000" b="0" dirty="0">
                <a:solidFill>
                  <a:srgbClr val="0000CC"/>
                </a:solidFill>
                <a:latin typeface="Times New Roman" panose="02020603050405020304" pitchFamily="18" charset="0"/>
                <a:ea typeface="+mn-ea"/>
                <a:cs typeface="Times New Roman" panose="02020603050405020304" pitchFamily="18" charset="0"/>
              </a:rPr>
              <a:t>:</a:t>
            </a:r>
          </a:p>
        </p:txBody>
      </p:sp>
      <p:sp>
        <p:nvSpPr>
          <p:cNvPr id="9" name="Text Box 8">
            <a:extLst>
              <a:ext uri="{FF2B5EF4-FFF2-40B4-BE49-F238E27FC236}">
                <a16:creationId xmlns="" xmlns:a16="http://schemas.microsoft.com/office/drawing/2014/main" id="{03726675-3491-41C0-68CB-0C2E6CC17168}"/>
              </a:ext>
            </a:extLst>
          </p:cNvPr>
          <p:cNvSpPr txBox="1">
            <a:spLocks noChangeArrowheads="1"/>
          </p:cNvSpPr>
          <p:nvPr/>
        </p:nvSpPr>
        <p:spPr bwMode="auto">
          <a:xfrm>
            <a:off x="913382" y="199682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9pPr>
          </a:lstStyle>
          <a:p>
            <a:pPr eaLnBrk="1" hangingPunct="1"/>
            <a:endParaRPr lang="zh-CN" altLang="en-US" sz="2400" b="0">
              <a:solidFill>
                <a:srgbClr val="000000"/>
              </a:solidFill>
              <a:latin typeface="Times New Roman" panose="02020603050405020304" pitchFamily="18" charset="0"/>
              <a:cs typeface="Times New Roman" panose="02020603050405020304" pitchFamily="18" charset="0"/>
            </a:endParaRPr>
          </a:p>
        </p:txBody>
      </p:sp>
      <p:sp>
        <p:nvSpPr>
          <p:cNvPr id="10" name="Rectangle 9">
            <a:extLst>
              <a:ext uri="{FF2B5EF4-FFF2-40B4-BE49-F238E27FC236}">
                <a16:creationId xmlns="" xmlns:a16="http://schemas.microsoft.com/office/drawing/2014/main" id="{000BBFF2-F842-DB59-3873-2890D12AB4DD}"/>
              </a:ext>
            </a:extLst>
          </p:cNvPr>
          <p:cNvSpPr>
            <a:spLocks noChangeArrowheads="1"/>
          </p:cNvSpPr>
          <p:nvPr/>
        </p:nvSpPr>
        <p:spPr bwMode="auto">
          <a:xfrm>
            <a:off x="1293737" y="1869332"/>
            <a:ext cx="3980577"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9pPr>
          </a:lstStyle>
          <a:p>
            <a:pPr eaLnBrk="1" hangingPunct="1">
              <a:buFont typeface="Arial" panose="020B0604020202020204" pitchFamily="34" charset="0"/>
              <a:buAutoNum type="arabicPeriod"/>
            </a:pPr>
            <a:r>
              <a:rPr lang="zh-CN" altLang="en-US" sz="2000" b="0" dirty="0">
                <a:solidFill>
                  <a:srgbClr val="000000"/>
                </a:solidFill>
                <a:latin typeface="Times New Roman" panose="02020603050405020304" pitchFamily="18" charset="0"/>
                <a:ea typeface="+mn-ea"/>
                <a:cs typeface="Times New Roman" panose="02020603050405020304" pitchFamily="18" charset="0"/>
              </a:rPr>
              <a:t>提高混频级前端电路的选择性</a:t>
            </a:r>
          </a:p>
          <a:p>
            <a:pPr eaLnBrk="1" hangingPunct="1">
              <a:buFont typeface="Arial" panose="020B0604020202020204" pitchFamily="34" charset="0"/>
              <a:buAutoNum type="arabicPeriod"/>
            </a:pPr>
            <a:r>
              <a:rPr lang="zh-CN" altLang="en-US" sz="2000" b="0" dirty="0">
                <a:solidFill>
                  <a:srgbClr val="000000"/>
                </a:solidFill>
                <a:latin typeface="Times New Roman" panose="02020603050405020304" pitchFamily="18" charset="0"/>
                <a:ea typeface="+mn-ea"/>
                <a:cs typeface="Times New Roman" panose="02020603050405020304" pitchFamily="18" charset="0"/>
              </a:rPr>
              <a:t>交流负反馈</a:t>
            </a:r>
          </a:p>
          <a:p>
            <a:pPr eaLnBrk="1" hangingPunct="1"/>
            <a:r>
              <a:rPr lang="en-US" altLang="zh-CN" sz="2000" b="0" dirty="0">
                <a:solidFill>
                  <a:srgbClr val="000000"/>
                </a:solidFill>
                <a:latin typeface="Times New Roman" panose="02020603050405020304" pitchFamily="18" charset="0"/>
                <a:ea typeface="+mn-ea"/>
                <a:cs typeface="Times New Roman" panose="02020603050405020304" pitchFamily="18" charset="0"/>
              </a:rPr>
              <a:t>3.   </a:t>
            </a:r>
            <a:r>
              <a:rPr lang="zh-CN" altLang="en-US" sz="2000" b="0" dirty="0">
                <a:solidFill>
                  <a:srgbClr val="000000"/>
                </a:solidFill>
                <a:latin typeface="Times New Roman" panose="02020603050405020304" pitchFamily="18" charset="0"/>
                <a:ea typeface="+mn-ea"/>
                <a:cs typeface="Times New Roman" panose="02020603050405020304" pitchFamily="18" charset="0"/>
              </a:rPr>
              <a:t>输入端加双向限幅</a:t>
            </a:r>
          </a:p>
          <a:p>
            <a:pPr eaLnBrk="1" hangingPunct="1"/>
            <a:r>
              <a:rPr lang="en-US" altLang="zh-CN" sz="2000" b="0" dirty="0">
                <a:solidFill>
                  <a:srgbClr val="000000"/>
                </a:solidFill>
                <a:latin typeface="Times New Roman" panose="02020603050405020304" pitchFamily="18" charset="0"/>
                <a:ea typeface="+mn-ea"/>
                <a:cs typeface="Times New Roman" panose="02020603050405020304" pitchFamily="18" charset="0"/>
              </a:rPr>
              <a:t>4.   </a:t>
            </a:r>
            <a:r>
              <a:rPr lang="zh-CN" altLang="en-US" sz="2000" b="0" dirty="0">
                <a:solidFill>
                  <a:srgbClr val="000000"/>
                </a:solidFill>
                <a:latin typeface="Times New Roman" panose="02020603050405020304" pitchFamily="18" charset="0"/>
                <a:ea typeface="+mn-ea"/>
                <a:cs typeface="Times New Roman" panose="02020603050405020304" pitchFamily="18" charset="0"/>
              </a:rPr>
              <a:t>小电流工作</a:t>
            </a:r>
          </a:p>
        </p:txBody>
      </p:sp>
    </p:spTree>
    <p:extLst>
      <p:ext uri="{BB962C8B-B14F-4D97-AF65-F5344CB8AC3E}">
        <p14:creationId xmlns:p14="http://schemas.microsoft.com/office/powerpoint/2010/main" val="1949014803"/>
      </p:ext>
    </p:extLst>
  </p:cSld>
  <p:clrMapOvr>
    <a:masterClrMapping/>
  </p:clrMapOvr>
  <p:timing>
    <p:tnLst>
      <p:par>
        <p:cTn id="1" dur="indefinite" restart="never" nodeType="tmRoot"/>
      </p:par>
    </p:tnLst>
  </p:timing>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264</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5"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6.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振幅调制</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与</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解调</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graphicFrame>
        <p:nvGraphicFramePr>
          <p:cNvPr id="6" name="Object 2">
            <a:extLst>
              <a:ext uri="{FF2B5EF4-FFF2-40B4-BE49-F238E27FC236}">
                <a16:creationId xmlns="" xmlns:a16="http://schemas.microsoft.com/office/drawing/2014/main" id="{B9FA3449-7F7A-76F8-A9A6-35B16433C105}"/>
              </a:ext>
            </a:extLst>
          </p:cNvPr>
          <p:cNvGraphicFramePr>
            <a:graphicFrameLocks/>
          </p:cNvGraphicFramePr>
          <p:nvPr>
            <p:extLst>
              <p:ext uri="{D42A27DB-BD31-4B8C-83A1-F6EECF244321}">
                <p14:modId xmlns:p14="http://schemas.microsoft.com/office/powerpoint/2010/main" val="1836085378"/>
              </p:ext>
            </p:extLst>
          </p:nvPr>
        </p:nvGraphicFramePr>
        <p:xfrm>
          <a:off x="4455637" y="1853080"/>
          <a:ext cx="2787650" cy="1341438"/>
        </p:xfrm>
        <a:graphic>
          <a:graphicData uri="http://schemas.openxmlformats.org/presentationml/2006/ole">
            <mc:AlternateContent xmlns:mc="http://schemas.openxmlformats.org/markup-compatibility/2006">
              <mc:Choice xmlns:v="urn:schemas-microsoft-com:vml" Requires="v">
                <p:oleObj spid="_x0000_s206866" r:id="rId3" imgW="1733400" imgH="847800" progId="Word.Picture.8">
                  <p:embed/>
                </p:oleObj>
              </mc:Choice>
              <mc:Fallback>
                <p:oleObj r:id="rId3" imgW="1733400" imgH="847800" progId="Word.Picture.8">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55637" y="1853080"/>
                        <a:ext cx="2787650" cy="1341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 name="Text Box 3">
            <a:extLst>
              <a:ext uri="{FF2B5EF4-FFF2-40B4-BE49-F238E27FC236}">
                <a16:creationId xmlns="" xmlns:a16="http://schemas.microsoft.com/office/drawing/2014/main" id="{33A36996-F578-4A65-8C21-870EB153C29C}"/>
              </a:ext>
            </a:extLst>
          </p:cNvPr>
          <p:cNvSpPr txBox="1">
            <a:spLocks noChangeArrowheads="1"/>
          </p:cNvSpPr>
          <p:nvPr/>
        </p:nvSpPr>
        <p:spPr bwMode="auto">
          <a:xfrm>
            <a:off x="4823937" y="3242173"/>
            <a:ext cx="1962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r>
              <a:rPr lang="zh-CN" altLang="en-US" sz="1400" b="0" dirty="0">
                <a:latin typeface="宋体" panose="02010600030101010101" pitchFamily="2" charset="-122"/>
                <a:ea typeface="宋体" panose="02010600030101010101" pitchFamily="2" charset="-122"/>
              </a:rPr>
              <a:t>乘积型混频器实现模型</a:t>
            </a:r>
            <a:endParaRPr lang="zh-CN" altLang="en-US" sz="2400" b="0" dirty="0">
              <a:latin typeface="宋体" panose="02010600030101010101" pitchFamily="2" charset="-122"/>
              <a:ea typeface="宋体" panose="02010600030101010101" pitchFamily="2" charset="-122"/>
            </a:endParaRPr>
          </a:p>
        </p:txBody>
      </p:sp>
      <p:sp>
        <p:nvSpPr>
          <p:cNvPr id="8" name="Text Box 4">
            <a:extLst>
              <a:ext uri="{FF2B5EF4-FFF2-40B4-BE49-F238E27FC236}">
                <a16:creationId xmlns="" xmlns:a16="http://schemas.microsoft.com/office/drawing/2014/main" id="{BA267426-B385-965E-3A18-955AA3AA7CC0}"/>
              </a:ext>
            </a:extLst>
          </p:cNvPr>
          <p:cNvSpPr txBox="1">
            <a:spLocks noChangeArrowheads="1"/>
          </p:cNvSpPr>
          <p:nvPr/>
        </p:nvSpPr>
        <p:spPr bwMode="auto">
          <a:xfrm>
            <a:off x="574199" y="1754716"/>
            <a:ext cx="328166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r>
              <a:rPr lang="zh-CN" altLang="en-US" sz="2000" b="0" dirty="0">
                <a:latin typeface="宋体" panose="02010600030101010101" pitchFamily="2" charset="-122"/>
                <a:ea typeface="宋体" panose="02010600030101010101" pitchFamily="2" charset="-122"/>
              </a:rPr>
              <a:t>乘积型混频器由模拟乘法器</a:t>
            </a:r>
          </a:p>
          <a:p>
            <a:pPr eaLnBrk="1" hangingPunct="1"/>
            <a:r>
              <a:rPr lang="zh-CN" altLang="en-US" sz="2000" b="0" dirty="0">
                <a:latin typeface="宋体" panose="02010600030101010101" pitchFamily="2" charset="-122"/>
                <a:ea typeface="宋体" panose="02010600030101010101" pitchFamily="2" charset="-122"/>
              </a:rPr>
              <a:t>和带通滤波器组成</a:t>
            </a:r>
          </a:p>
        </p:txBody>
      </p:sp>
      <p:sp>
        <p:nvSpPr>
          <p:cNvPr id="9" name="Text Box 5">
            <a:extLst>
              <a:ext uri="{FF2B5EF4-FFF2-40B4-BE49-F238E27FC236}">
                <a16:creationId xmlns="" xmlns:a16="http://schemas.microsoft.com/office/drawing/2014/main" id="{CDC60A36-DB45-A0F4-14AE-E131E2523821}"/>
              </a:ext>
            </a:extLst>
          </p:cNvPr>
          <p:cNvSpPr txBox="1">
            <a:spLocks noChangeArrowheads="1"/>
          </p:cNvSpPr>
          <p:nvPr/>
        </p:nvSpPr>
        <p:spPr bwMode="auto">
          <a:xfrm>
            <a:off x="594874" y="2554677"/>
            <a:ext cx="250741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r>
              <a:rPr lang="zh-CN" altLang="en-US" sz="2000" b="0" dirty="0">
                <a:latin typeface="宋体" panose="02010600030101010101" pitchFamily="2" charset="-122"/>
                <a:ea typeface="宋体" panose="02010600030101010101" pitchFamily="2" charset="-122"/>
              </a:rPr>
              <a:t>其实现模型如图所示</a:t>
            </a:r>
          </a:p>
        </p:txBody>
      </p:sp>
      <p:sp>
        <p:nvSpPr>
          <p:cNvPr id="10" name="Text Box 6">
            <a:extLst>
              <a:ext uri="{FF2B5EF4-FFF2-40B4-BE49-F238E27FC236}">
                <a16:creationId xmlns="" xmlns:a16="http://schemas.microsoft.com/office/drawing/2014/main" id="{740D59B1-BCB9-08BF-7C27-7DD6B55E91BB}"/>
              </a:ext>
            </a:extLst>
          </p:cNvPr>
          <p:cNvSpPr txBox="1">
            <a:spLocks noChangeArrowheads="1"/>
          </p:cNvSpPr>
          <p:nvPr/>
        </p:nvSpPr>
        <p:spPr bwMode="auto">
          <a:xfrm>
            <a:off x="549876" y="3194518"/>
            <a:ext cx="302358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r>
              <a:rPr lang="zh-CN" altLang="en-US" sz="2000" b="0" dirty="0">
                <a:latin typeface="宋体" panose="02010600030101010101" pitchFamily="2" charset="-122"/>
                <a:ea typeface="宋体" panose="02010600030101010101" pitchFamily="2" charset="-122"/>
              </a:rPr>
              <a:t>设输入信号为普通调幅波</a:t>
            </a:r>
          </a:p>
        </p:txBody>
      </p:sp>
      <p:graphicFrame>
        <p:nvGraphicFramePr>
          <p:cNvPr id="11" name="Object 7">
            <a:extLst>
              <a:ext uri="{FF2B5EF4-FFF2-40B4-BE49-F238E27FC236}">
                <a16:creationId xmlns="" xmlns:a16="http://schemas.microsoft.com/office/drawing/2014/main" id="{2337E26E-9DAF-52DC-A69A-1E5E7C927ED0}"/>
              </a:ext>
            </a:extLst>
          </p:cNvPr>
          <p:cNvGraphicFramePr>
            <a:graphicFrameLocks/>
          </p:cNvGraphicFramePr>
          <p:nvPr>
            <p:extLst>
              <p:ext uri="{D42A27DB-BD31-4B8C-83A1-F6EECF244321}">
                <p14:modId xmlns:p14="http://schemas.microsoft.com/office/powerpoint/2010/main" val="3800543220"/>
              </p:ext>
            </p:extLst>
          </p:nvPr>
        </p:nvGraphicFramePr>
        <p:xfrm>
          <a:off x="815318" y="3899197"/>
          <a:ext cx="3505200" cy="393700"/>
        </p:xfrm>
        <a:graphic>
          <a:graphicData uri="http://schemas.openxmlformats.org/presentationml/2006/ole">
            <mc:AlternateContent xmlns:mc="http://schemas.openxmlformats.org/markup-compatibility/2006">
              <mc:Choice xmlns:v="urn:schemas-microsoft-com:vml" Requires="v">
                <p:oleObj spid="_x0000_s206867" r:id="rId5" imgW="2032000" imgH="228600" progId="Equation.3">
                  <p:embed/>
                </p:oleObj>
              </mc:Choice>
              <mc:Fallback>
                <p:oleObj r:id="rId5" imgW="2032000" imgH="228600" progId="Equation.3">
                  <p:embed/>
                  <p:pic>
                    <p:nvPicPr>
                      <p:cNvPr id="0" name=""/>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15318" y="3899197"/>
                        <a:ext cx="350520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2" name="Object 8">
            <a:extLst>
              <a:ext uri="{FF2B5EF4-FFF2-40B4-BE49-F238E27FC236}">
                <a16:creationId xmlns="" xmlns:a16="http://schemas.microsoft.com/office/drawing/2014/main" id="{8B09B01B-D9C2-0182-1FD1-2A70CA8A0389}"/>
              </a:ext>
            </a:extLst>
          </p:cNvPr>
          <p:cNvGraphicFramePr>
            <a:graphicFrameLocks/>
          </p:cNvGraphicFramePr>
          <p:nvPr>
            <p:extLst>
              <p:ext uri="{D42A27DB-BD31-4B8C-83A1-F6EECF244321}">
                <p14:modId xmlns:p14="http://schemas.microsoft.com/office/powerpoint/2010/main" val="2783822096"/>
              </p:ext>
            </p:extLst>
          </p:nvPr>
        </p:nvGraphicFramePr>
        <p:xfrm>
          <a:off x="4703106" y="3899197"/>
          <a:ext cx="2108200" cy="411162"/>
        </p:xfrm>
        <a:graphic>
          <a:graphicData uri="http://schemas.openxmlformats.org/presentationml/2006/ole">
            <mc:AlternateContent xmlns:mc="http://schemas.openxmlformats.org/markup-compatibility/2006">
              <mc:Choice xmlns:v="urn:schemas-microsoft-com:vml" Requires="v">
                <p:oleObj spid="_x0000_s206868" r:id="rId7" imgW="1168400" imgH="228600" progId="Equation.3">
                  <p:embed/>
                </p:oleObj>
              </mc:Choice>
              <mc:Fallback>
                <p:oleObj r:id="rId7" imgW="1168400" imgH="228600" progId="Equation.3">
                  <p:embed/>
                  <p:pic>
                    <p:nvPicPr>
                      <p:cNvPr id="0" name=""/>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703106" y="3899197"/>
                        <a:ext cx="2108200" cy="41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3" name="Text Box 9">
            <a:extLst>
              <a:ext uri="{FF2B5EF4-FFF2-40B4-BE49-F238E27FC236}">
                <a16:creationId xmlns="" xmlns:a16="http://schemas.microsoft.com/office/drawing/2014/main" id="{4909AB80-9B8D-A8F8-2377-1654825570B3}"/>
              </a:ext>
            </a:extLst>
          </p:cNvPr>
          <p:cNvSpPr txBox="1">
            <a:spLocks noChangeArrowheads="1"/>
          </p:cNvSpPr>
          <p:nvPr/>
        </p:nvSpPr>
        <p:spPr bwMode="auto">
          <a:xfrm>
            <a:off x="1313974" y="4986866"/>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endParaRPr lang="zh-CN" altLang="en-US" sz="2400" b="0">
              <a:latin typeface="宋体" panose="02010600030101010101" pitchFamily="2" charset="-122"/>
              <a:ea typeface="宋体" panose="02010600030101010101" pitchFamily="2" charset="-122"/>
            </a:endParaRPr>
          </a:p>
        </p:txBody>
      </p:sp>
      <p:graphicFrame>
        <p:nvGraphicFramePr>
          <p:cNvPr id="14" name="Object 10">
            <a:extLst>
              <a:ext uri="{FF2B5EF4-FFF2-40B4-BE49-F238E27FC236}">
                <a16:creationId xmlns="" xmlns:a16="http://schemas.microsoft.com/office/drawing/2014/main" id="{4ABF6847-C07C-2150-0A50-9300E590E737}"/>
              </a:ext>
            </a:extLst>
          </p:cNvPr>
          <p:cNvGraphicFramePr>
            <a:graphicFrameLocks/>
          </p:cNvGraphicFramePr>
          <p:nvPr>
            <p:extLst>
              <p:ext uri="{D42A27DB-BD31-4B8C-83A1-F6EECF244321}">
                <p14:modId xmlns:p14="http://schemas.microsoft.com/office/powerpoint/2010/main" val="745657741"/>
              </p:ext>
            </p:extLst>
          </p:nvPr>
        </p:nvGraphicFramePr>
        <p:xfrm>
          <a:off x="807381" y="4416286"/>
          <a:ext cx="7791450" cy="684213"/>
        </p:xfrm>
        <a:graphic>
          <a:graphicData uri="http://schemas.openxmlformats.org/presentationml/2006/ole">
            <mc:AlternateContent xmlns:mc="http://schemas.openxmlformats.org/markup-compatibility/2006">
              <mc:Choice xmlns:v="urn:schemas-microsoft-com:vml" Requires="v">
                <p:oleObj spid="_x0000_s206869" r:id="rId9" imgW="4468461" imgH="393529" progId="Equation.3">
                  <p:embed/>
                </p:oleObj>
              </mc:Choice>
              <mc:Fallback>
                <p:oleObj r:id="rId9" imgW="4468461" imgH="393529" progId="Equation.3">
                  <p:embed/>
                  <p:pic>
                    <p:nvPicPr>
                      <p:cNvPr id="0" name=""/>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07381" y="4416286"/>
                        <a:ext cx="7791450" cy="68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5" name="Text Box 11">
            <a:extLst>
              <a:ext uri="{FF2B5EF4-FFF2-40B4-BE49-F238E27FC236}">
                <a16:creationId xmlns="" xmlns:a16="http://schemas.microsoft.com/office/drawing/2014/main" id="{533C47A2-11F6-F3AD-E05E-554380C88E5E}"/>
              </a:ext>
            </a:extLst>
          </p:cNvPr>
          <p:cNvSpPr txBox="1">
            <a:spLocks noChangeArrowheads="1"/>
          </p:cNvSpPr>
          <p:nvPr/>
        </p:nvSpPr>
        <p:spPr bwMode="auto">
          <a:xfrm>
            <a:off x="594874" y="5140212"/>
            <a:ext cx="7000634"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lnSpc>
                <a:spcPct val="120000"/>
              </a:lnSpc>
            </a:pPr>
            <a:r>
              <a:rPr lang="zh-CN" altLang="en-US" sz="2000" b="0" dirty="0">
                <a:latin typeface="宋体" panose="02010600030101010101" pitchFamily="2" charset="-122"/>
                <a:ea typeface="宋体" panose="02010600030101010101" pitchFamily="2" charset="-122"/>
              </a:rPr>
              <a:t>　　采用中心频率不同的带通滤波器(</a:t>
            </a:r>
            <a:r>
              <a:rPr lang="zh-CN" altLang="en-US" sz="2000" b="0" dirty="0">
                <a:latin typeface="宋体" panose="02010600030101010101" pitchFamily="2" charset="-122"/>
                <a:ea typeface="宋体" panose="02010600030101010101" pitchFamily="2" charset="-122"/>
                <a:sym typeface="Symbol" panose="05050102010706020507" pitchFamily="18" charset="2"/>
              </a:rPr>
              <a:t></a:t>
            </a:r>
            <a:r>
              <a:rPr lang="zh-CN" altLang="en-US" sz="2000" b="0" baseline="-25000" dirty="0">
                <a:latin typeface="宋体" panose="02010600030101010101" pitchFamily="2" charset="-122"/>
                <a:ea typeface="宋体" panose="02010600030101010101" pitchFamily="2" charset="-122"/>
              </a:rPr>
              <a:t>0</a:t>
            </a:r>
            <a:r>
              <a:rPr lang="zh-CN" altLang="en-US" sz="2000" b="0" dirty="0">
                <a:latin typeface="宋体" panose="02010600030101010101" pitchFamily="2" charset="-122"/>
                <a:ea typeface="宋体" panose="02010600030101010101" pitchFamily="2" charset="-122"/>
              </a:rPr>
              <a:t>–</a:t>
            </a:r>
            <a:r>
              <a:rPr lang="zh-CN" altLang="en-US" sz="2000" b="0" dirty="0">
                <a:latin typeface="宋体" panose="02010600030101010101" pitchFamily="2" charset="-122"/>
                <a:ea typeface="宋体" panose="02010600030101010101" pitchFamily="2" charset="-122"/>
                <a:sym typeface="Symbol" panose="05050102010706020507" pitchFamily="18" charset="2"/>
              </a:rPr>
              <a:t></a:t>
            </a:r>
            <a:r>
              <a:rPr lang="en-US" altLang="zh-CN" sz="2000" b="0" baseline="-25000" dirty="0">
                <a:latin typeface="宋体" panose="02010600030101010101" pitchFamily="2" charset="-122"/>
                <a:ea typeface="宋体" panose="02010600030101010101" pitchFamily="2" charset="-122"/>
              </a:rPr>
              <a:t>s</a:t>
            </a:r>
            <a:r>
              <a:rPr lang="en-US" altLang="zh-CN" sz="2000" b="0" dirty="0">
                <a:latin typeface="宋体" panose="02010600030101010101" pitchFamily="2" charset="-122"/>
                <a:ea typeface="宋体" panose="02010600030101010101" pitchFamily="2" charset="-122"/>
              </a:rPr>
              <a:t>)</a:t>
            </a:r>
            <a:r>
              <a:rPr lang="zh-CN" altLang="en-US" sz="2000" b="0" dirty="0">
                <a:latin typeface="宋体" panose="02010600030101010101" pitchFamily="2" charset="-122"/>
                <a:ea typeface="宋体" panose="02010600030101010101" pitchFamily="2" charset="-122"/>
              </a:rPr>
              <a:t>或(</a:t>
            </a:r>
            <a:r>
              <a:rPr lang="zh-CN" altLang="en-US" sz="2000" b="0" dirty="0">
                <a:latin typeface="宋体" panose="02010600030101010101" pitchFamily="2" charset="-122"/>
                <a:ea typeface="宋体" panose="02010600030101010101" pitchFamily="2" charset="-122"/>
                <a:sym typeface="Symbol" panose="05050102010706020507" pitchFamily="18" charset="2"/>
              </a:rPr>
              <a:t></a:t>
            </a:r>
            <a:r>
              <a:rPr lang="zh-CN" altLang="en-US" sz="2000" b="0" baseline="-25000" dirty="0">
                <a:latin typeface="宋体" panose="02010600030101010101" pitchFamily="2" charset="-122"/>
                <a:ea typeface="宋体" panose="02010600030101010101" pitchFamily="2" charset="-122"/>
              </a:rPr>
              <a:t>0</a:t>
            </a:r>
            <a:r>
              <a:rPr lang="zh-CN" altLang="en-US" sz="2000" b="0" dirty="0">
                <a:latin typeface="宋体" panose="02010600030101010101" pitchFamily="2" charset="-122"/>
                <a:ea typeface="宋体" panose="02010600030101010101" pitchFamily="2" charset="-122"/>
              </a:rPr>
              <a:t>+</a:t>
            </a:r>
            <a:r>
              <a:rPr lang="zh-CN" altLang="en-US" sz="2000" b="0" dirty="0">
                <a:latin typeface="宋体" panose="02010600030101010101" pitchFamily="2" charset="-122"/>
                <a:ea typeface="宋体" panose="02010600030101010101" pitchFamily="2" charset="-122"/>
                <a:sym typeface="Symbol" panose="05050102010706020507" pitchFamily="18" charset="2"/>
              </a:rPr>
              <a:t></a:t>
            </a:r>
            <a:r>
              <a:rPr lang="en-US" altLang="zh-CN" sz="2000" b="0" baseline="-25000" dirty="0">
                <a:latin typeface="宋体" panose="02010600030101010101" pitchFamily="2" charset="-122"/>
                <a:ea typeface="宋体" panose="02010600030101010101" pitchFamily="2" charset="-122"/>
              </a:rPr>
              <a:t>s</a:t>
            </a:r>
            <a:r>
              <a:rPr lang="en-US" altLang="zh-CN" sz="2000" b="0" dirty="0">
                <a:latin typeface="宋体" panose="02010600030101010101" pitchFamily="2" charset="-122"/>
                <a:ea typeface="宋体" panose="02010600030101010101" pitchFamily="2" charset="-122"/>
              </a:rPr>
              <a:t>)</a:t>
            </a:r>
            <a:r>
              <a:rPr lang="zh-CN" altLang="en-US" sz="2000" b="0" dirty="0">
                <a:latin typeface="宋体" panose="02010600030101010101" pitchFamily="2" charset="-122"/>
                <a:ea typeface="宋体" panose="02010600030101010101" pitchFamily="2" charset="-122"/>
              </a:rPr>
              <a:t>则可</a:t>
            </a:r>
          </a:p>
          <a:p>
            <a:pPr eaLnBrk="1" hangingPunct="1">
              <a:lnSpc>
                <a:spcPct val="120000"/>
              </a:lnSpc>
            </a:pPr>
            <a:r>
              <a:rPr lang="zh-CN" altLang="en-US" sz="2000" b="0" dirty="0">
                <a:latin typeface="宋体" panose="02010600030101010101" pitchFamily="2" charset="-122"/>
                <a:ea typeface="宋体" panose="02010600030101010101" pitchFamily="2" charset="-122"/>
              </a:rPr>
              <a:t>完成低中频混频或高中频混频。</a:t>
            </a:r>
          </a:p>
        </p:txBody>
      </p:sp>
      <p:sp>
        <p:nvSpPr>
          <p:cNvPr id="16" name="Text Box 17">
            <a:extLst>
              <a:ext uri="{FF2B5EF4-FFF2-40B4-BE49-F238E27FC236}">
                <a16:creationId xmlns="" xmlns:a16="http://schemas.microsoft.com/office/drawing/2014/main" id="{40CF2D5F-7760-B845-AB10-7E6CD0A711E8}"/>
              </a:ext>
            </a:extLst>
          </p:cNvPr>
          <p:cNvSpPr txBox="1">
            <a:spLocks noChangeArrowheads="1"/>
          </p:cNvSpPr>
          <p:nvPr/>
        </p:nvSpPr>
        <p:spPr bwMode="auto">
          <a:xfrm>
            <a:off x="533479" y="1271354"/>
            <a:ext cx="204094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r>
              <a:rPr lang="zh-CN" altLang="en-US" sz="2400" b="0" dirty="0">
                <a:solidFill>
                  <a:srgbClr val="0000CC"/>
                </a:solidFill>
                <a:ea typeface="宋体" panose="02010600030101010101" pitchFamily="2" charset="-122"/>
              </a:rPr>
              <a:t>乘积型混频器</a:t>
            </a:r>
          </a:p>
        </p:txBody>
      </p:sp>
    </p:spTree>
    <p:extLst>
      <p:ext uri="{BB962C8B-B14F-4D97-AF65-F5344CB8AC3E}">
        <p14:creationId xmlns:p14="http://schemas.microsoft.com/office/powerpoint/2010/main" val="2740939279"/>
      </p:ext>
    </p:extLst>
  </p:cSld>
  <p:clrMapOvr>
    <a:masterClrMapping/>
  </p:clrMapOvr>
  <p:timing>
    <p:tnLst>
      <p:par>
        <p:cTn id="1" dur="indefinite" restart="never" nodeType="tmRoot"/>
      </p:par>
    </p:tnLst>
  </p:timing>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265</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5"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6.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振幅调制</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与</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解调</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 name="Text Box 2">
            <a:extLst>
              <a:ext uri="{FF2B5EF4-FFF2-40B4-BE49-F238E27FC236}">
                <a16:creationId xmlns="" xmlns:a16="http://schemas.microsoft.com/office/drawing/2014/main" id="{BB1479B1-7C7E-878C-9A27-970A214C7D47}"/>
              </a:ext>
            </a:extLst>
          </p:cNvPr>
          <p:cNvSpPr txBox="1">
            <a:spLocks noChangeArrowheads="1"/>
          </p:cNvSpPr>
          <p:nvPr/>
        </p:nvSpPr>
        <p:spPr bwMode="auto">
          <a:xfrm>
            <a:off x="387523" y="1299568"/>
            <a:ext cx="37607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r>
              <a:rPr lang="zh-CN" altLang="en-US" sz="2400" b="0" dirty="0">
                <a:solidFill>
                  <a:schemeClr val="accent2"/>
                </a:solidFill>
                <a:latin typeface="Times New Roman" panose="02020603050405020304" pitchFamily="18" charset="0"/>
                <a:ea typeface="宋体" panose="02010600030101010101" pitchFamily="2" charset="-122"/>
                <a:cs typeface="Times New Roman" panose="02020603050405020304" pitchFamily="18" charset="0"/>
              </a:rPr>
              <a:t>晶体管混频器的分析</a:t>
            </a:r>
          </a:p>
        </p:txBody>
      </p:sp>
      <p:sp>
        <p:nvSpPr>
          <p:cNvPr id="7" name="Rectangle 3">
            <a:extLst>
              <a:ext uri="{FF2B5EF4-FFF2-40B4-BE49-F238E27FC236}">
                <a16:creationId xmlns="" xmlns:a16="http://schemas.microsoft.com/office/drawing/2014/main" id="{484BE2F5-BBD3-44B0-3441-5DE1E3DCBE6C}"/>
              </a:ext>
            </a:extLst>
          </p:cNvPr>
          <p:cNvSpPr>
            <a:spLocks noChangeArrowheads="1"/>
          </p:cNvSpPr>
          <p:nvPr/>
        </p:nvSpPr>
        <p:spPr bwMode="auto">
          <a:xfrm>
            <a:off x="387523" y="1810900"/>
            <a:ext cx="383857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algn="just" eaLnBrk="1" hangingPunct="1"/>
            <a:r>
              <a:rPr lang="zh-CN" altLang="en-US" sz="2000" b="0" dirty="0">
                <a:latin typeface="Times New Roman" panose="02020603050405020304" pitchFamily="18" charset="0"/>
                <a:ea typeface="宋体" panose="02010600030101010101" pitchFamily="2" charset="-122"/>
                <a:cs typeface="Times New Roman" panose="02020603050405020304" pitchFamily="18" charset="0"/>
              </a:rPr>
              <a:t>1. 基本电路和工作原理</a:t>
            </a:r>
          </a:p>
        </p:txBody>
      </p:sp>
      <p:graphicFrame>
        <p:nvGraphicFramePr>
          <p:cNvPr id="8" name="Object 2">
            <a:extLst>
              <a:ext uri="{FF2B5EF4-FFF2-40B4-BE49-F238E27FC236}">
                <a16:creationId xmlns="" xmlns:a16="http://schemas.microsoft.com/office/drawing/2014/main" id="{8CA25140-EE4C-E74C-43C9-60CA80F456FD}"/>
              </a:ext>
            </a:extLst>
          </p:cNvPr>
          <p:cNvGraphicFramePr>
            <a:graphicFrameLocks/>
          </p:cNvGraphicFramePr>
          <p:nvPr>
            <p:extLst>
              <p:ext uri="{D42A27DB-BD31-4B8C-83A1-F6EECF244321}">
                <p14:modId xmlns:p14="http://schemas.microsoft.com/office/powerpoint/2010/main" val="50975308"/>
              </p:ext>
            </p:extLst>
          </p:nvPr>
        </p:nvGraphicFramePr>
        <p:xfrm>
          <a:off x="3448223" y="1119625"/>
          <a:ext cx="3744912" cy="2430463"/>
        </p:xfrm>
        <a:graphic>
          <a:graphicData uri="http://schemas.openxmlformats.org/presentationml/2006/ole">
            <mc:AlternateContent xmlns:mc="http://schemas.openxmlformats.org/markup-compatibility/2006">
              <mc:Choice xmlns:v="urn:schemas-microsoft-com:vml" Requires="v">
                <p:oleObj spid="_x0000_s207890" r:id="rId3" imgW="3914667" imgH="2466823" progId="Word.Picture.8">
                  <p:embed/>
                </p:oleObj>
              </mc:Choice>
              <mc:Fallback>
                <p:oleObj r:id="rId3" imgW="3914667" imgH="2466823" progId="Word.Picture.8">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48223" y="1119625"/>
                        <a:ext cx="3744912" cy="2430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 name="Rectangle 5">
            <a:extLst>
              <a:ext uri="{FF2B5EF4-FFF2-40B4-BE49-F238E27FC236}">
                <a16:creationId xmlns="" xmlns:a16="http://schemas.microsoft.com/office/drawing/2014/main" id="{196AF24D-3D39-390E-F512-051633C12DF9}"/>
              </a:ext>
            </a:extLst>
          </p:cNvPr>
          <p:cNvSpPr>
            <a:spLocks noChangeArrowheads="1"/>
          </p:cNvSpPr>
          <p:nvPr/>
        </p:nvSpPr>
        <p:spPr bwMode="auto">
          <a:xfrm>
            <a:off x="323850" y="3923215"/>
            <a:ext cx="8207375"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9pPr>
          </a:lstStyle>
          <a:p>
            <a:pPr algn="just" eaLnBrk="1" hangingPunct="1"/>
            <a:r>
              <a:rPr lang="zh-CN" altLang="en-US" sz="2000" b="0" dirty="0">
                <a:latin typeface="Times New Roman" panose="02020603050405020304" pitchFamily="18" charset="0"/>
                <a:ea typeface="宋体" panose="02010600030101010101" pitchFamily="2" charset="-122"/>
                <a:cs typeface="Times New Roman" panose="02020603050405020304" pitchFamily="18" charset="0"/>
              </a:rPr>
              <a:t>       上图为晶体三极管混频器的原理电路。图中</a:t>
            </a:r>
            <a:r>
              <a:rPr lang="en-US" altLang="zh-CN" sz="2000" b="0" dirty="0">
                <a:latin typeface="Times New Roman" panose="02020603050405020304" pitchFamily="18" charset="0"/>
                <a:ea typeface="宋体" panose="02010600030101010101" pitchFamily="2" charset="-122"/>
                <a:cs typeface="Times New Roman" panose="02020603050405020304" pitchFamily="18" charset="0"/>
              </a:rPr>
              <a:t>,V</a:t>
            </a:r>
            <a:r>
              <a:rPr lang="en-US" altLang="zh-CN" sz="2000" b="0" baseline="-30000" dirty="0">
                <a:latin typeface="Times New Roman" panose="02020603050405020304" pitchFamily="18" charset="0"/>
                <a:ea typeface="宋体" panose="02010600030101010101" pitchFamily="2" charset="-122"/>
                <a:cs typeface="Times New Roman" panose="02020603050405020304" pitchFamily="18" charset="0"/>
              </a:rPr>
              <a:t>BB</a:t>
            </a:r>
            <a:r>
              <a:rPr lang="zh-CN" altLang="en-US" sz="2000" b="0" dirty="0">
                <a:latin typeface="Times New Roman" panose="02020603050405020304" pitchFamily="18" charset="0"/>
                <a:ea typeface="宋体" panose="02010600030101010101" pitchFamily="2" charset="-122"/>
                <a:cs typeface="Times New Roman" panose="02020603050405020304" pitchFamily="18" charset="0"/>
              </a:rPr>
              <a:t>为基极偏置电压，</a:t>
            </a:r>
            <a:r>
              <a:rPr lang="en-US" altLang="zh-CN" sz="2000" b="0" dirty="0">
                <a:latin typeface="Times New Roman" panose="02020603050405020304" pitchFamily="18" charset="0"/>
                <a:ea typeface="宋体" panose="02010600030101010101" pitchFamily="2" charset="-122"/>
                <a:cs typeface="Times New Roman" panose="02020603050405020304" pitchFamily="18" charset="0"/>
              </a:rPr>
              <a:t>V</a:t>
            </a:r>
            <a:r>
              <a:rPr lang="en-US" altLang="zh-CN" sz="2000" b="0" baseline="-30000" dirty="0">
                <a:latin typeface="Times New Roman" panose="02020603050405020304" pitchFamily="18" charset="0"/>
                <a:ea typeface="宋体" panose="02010600030101010101" pitchFamily="2" charset="-122"/>
                <a:cs typeface="Times New Roman" panose="02020603050405020304" pitchFamily="18" charset="0"/>
              </a:rPr>
              <a:t>CC</a:t>
            </a:r>
            <a:r>
              <a:rPr lang="zh-CN" altLang="en-US" sz="2000" b="0" dirty="0">
                <a:latin typeface="Times New Roman" panose="02020603050405020304" pitchFamily="18" charset="0"/>
                <a:ea typeface="宋体" panose="02010600030101010101" pitchFamily="2" charset="-122"/>
                <a:cs typeface="Times New Roman" panose="02020603050405020304" pitchFamily="18" charset="0"/>
              </a:rPr>
              <a:t>为集电极直流电压，</a:t>
            </a:r>
            <a:r>
              <a:rPr lang="en-US" altLang="zh-CN" sz="2000" b="0" dirty="0">
                <a:latin typeface="Times New Roman" panose="02020603050405020304" pitchFamily="18" charset="0"/>
                <a:ea typeface="宋体" panose="02010600030101010101" pitchFamily="2" charset="-122"/>
                <a:cs typeface="Times New Roman" panose="02020603050405020304" pitchFamily="18" charset="0"/>
              </a:rPr>
              <a:t>L</a:t>
            </a:r>
            <a:r>
              <a:rPr lang="en-US" altLang="zh-CN" sz="2000" b="0" baseline="-30000" dirty="0">
                <a:latin typeface="Times New Roman" panose="02020603050405020304" pitchFamily="18" charset="0"/>
                <a:ea typeface="宋体" panose="02010600030101010101" pitchFamily="2" charset="-122"/>
                <a:cs typeface="Times New Roman" panose="02020603050405020304" pitchFamily="18" charset="0"/>
              </a:rPr>
              <a:t>1</a:t>
            </a:r>
            <a:r>
              <a:rPr lang="en-US" altLang="zh-CN" sz="2000" b="0" dirty="0">
                <a:latin typeface="Times New Roman" panose="02020603050405020304" pitchFamily="18" charset="0"/>
                <a:ea typeface="宋体" panose="02010600030101010101" pitchFamily="2" charset="-122"/>
                <a:cs typeface="Times New Roman" panose="02020603050405020304" pitchFamily="18" charset="0"/>
              </a:rPr>
              <a:t>C</a:t>
            </a:r>
            <a:r>
              <a:rPr lang="en-US" altLang="zh-CN" sz="2000" b="0" baseline="-30000"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sz="2000" b="0" dirty="0">
                <a:latin typeface="Times New Roman" panose="02020603050405020304" pitchFamily="18" charset="0"/>
                <a:ea typeface="宋体" panose="02010600030101010101" pitchFamily="2" charset="-122"/>
                <a:cs typeface="Times New Roman" panose="02020603050405020304" pitchFamily="18" charset="0"/>
              </a:rPr>
              <a:t>组成输入回路，它谐振于输入信号频率</a:t>
            </a:r>
            <a:r>
              <a:rPr lang="zh-CN" altLang="en-US" sz="2000" b="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2000" b="0" baseline="-30000" dirty="0">
                <a:latin typeface="Times New Roman" panose="02020603050405020304" pitchFamily="18" charset="0"/>
                <a:ea typeface="宋体" panose="02010600030101010101" pitchFamily="2" charset="-122"/>
                <a:cs typeface="Times New Roman" panose="02020603050405020304" pitchFamily="18" charset="0"/>
              </a:rPr>
              <a:t>s</a:t>
            </a:r>
            <a:r>
              <a:rPr lang="en-US" altLang="zh-CN" sz="2000" b="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。L</a:t>
            </a:r>
            <a:r>
              <a:rPr lang="en-US" altLang="zh-CN" sz="2000" b="0" baseline="-3000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2</a:t>
            </a:r>
            <a:r>
              <a:rPr lang="en-US" altLang="zh-CN" sz="2000" b="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C</a:t>
            </a:r>
            <a:r>
              <a:rPr lang="en-US" altLang="zh-CN" sz="2000" b="0" baseline="-3000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2</a:t>
            </a:r>
            <a:r>
              <a:rPr lang="zh-CN" altLang="en-US" sz="2000" b="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组成输出中频回路，它谐振于中频</a:t>
            </a:r>
            <a:r>
              <a:rPr lang="en-US" altLang="zh-CN" sz="2000" b="0" baseline="-30000" dirty="0" err="1">
                <a:latin typeface="Times New Roman" panose="02020603050405020304" pitchFamily="18" charset="0"/>
                <a:ea typeface="宋体" panose="02010600030101010101" pitchFamily="2" charset="-122"/>
                <a:cs typeface="Times New Roman" panose="02020603050405020304" pitchFamily="18" charset="0"/>
              </a:rPr>
              <a:t>i</a:t>
            </a:r>
            <a:r>
              <a:rPr lang="en-US" altLang="zh-CN" sz="2000" b="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2000" b="0" baseline="-30000" dirty="0">
                <a:latin typeface="Times New Roman" panose="02020603050405020304" pitchFamily="18" charset="0"/>
                <a:ea typeface="宋体" panose="02010600030101010101" pitchFamily="2" charset="-122"/>
                <a:cs typeface="Times New Roman" panose="02020603050405020304" pitchFamily="18" charset="0"/>
              </a:rPr>
              <a:t>o</a:t>
            </a:r>
            <a:r>
              <a:rPr lang="en-US" altLang="zh-CN" sz="2000" b="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2000" b="0" baseline="-30000" dirty="0">
                <a:latin typeface="Times New Roman" panose="02020603050405020304" pitchFamily="18" charset="0"/>
                <a:ea typeface="宋体" panose="02010600030101010101" pitchFamily="2" charset="-122"/>
                <a:cs typeface="Times New Roman" panose="02020603050405020304" pitchFamily="18" charset="0"/>
              </a:rPr>
              <a:t>s</a:t>
            </a:r>
            <a:r>
              <a:rPr lang="en-US" altLang="zh-CN" sz="2000" b="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endParaRPr lang="zh-CN" altLang="en-US" sz="2000" b="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endParaRPr>
          </a:p>
        </p:txBody>
      </p:sp>
      <p:graphicFrame>
        <p:nvGraphicFramePr>
          <p:cNvPr id="10" name="Object 3">
            <a:extLst>
              <a:ext uri="{FF2B5EF4-FFF2-40B4-BE49-F238E27FC236}">
                <a16:creationId xmlns="" xmlns:a16="http://schemas.microsoft.com/office/drawing/2014/main" id="{B9680710-D8FC-1461-B2BE-A8E2D1EE0FDB}"/>
              </a:ext>
            </a:extLst>
          </p:cNvPr>
          <p:cNvGraphicFramePr>
            <a:graphicFrameLocks/>
          </p:cNvGraphicFramePr>
          <p:nvPr>
            <p:extLst>
              <p:ext uri="{D42A27DB-BD31-4B8C-83A1-F6EECF244321}">
                <p14:modId xmlns:p14="http://schemas.microsoft.com/office/powerpoint/2010/main" val="2718663873"/>
              </p:ext>
            </p:extLst>
          </p:nvPr>
        </p:nvGraphicFramePr>
        <p:xfrm>
          <a:off x="2123728" y="5103111"/>
          <a:ext cx="2089150" cy="401637"/>
        </p:xfrm>
        <a:graphic>
          <a:graphicData uri="http://schemas.openxmlformats.org/presentationml/2006/ole">
            <mc:AlternateContent xmlns:mc="http://schemas.openxmlformats.org/markup-compatibility/2006">
              <mc:Choice xmlns:v="urn:schemas-microsoft-com:vml" Requires="v">
                <p:oleObj spid="_x0000_s207891" r:id="rId5" imgW="1040948" imgH="203112" progId="Equation.3">
                  <p:embed/>
                </p:oleObj>
              </mc:Choice>
              <mc:Fallback>
                <p:oleObj r:id="rId5" imgW="1040948" imgH="203112" progId="Equation.3">
                  <p:embed/>
                  <p:pic>
                    <p:nvPicPr>
                      <p:cNvPr id="0" name=""/>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23728" y="5103111"/>
                        <a:ext cx="2089150" cy="40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1" name="Object 4">
            <a:extLst>
              <a:ext uri="{FF2B5EF4-FFF2-40B4-BE49-F238E27FC236}">
                <a16:creationId xmlns="" xmlns:a16="http://schemas.microsoft.com/office/drawing/2014/main" id="{7F264166-9CB8-102A-6FC8-A3C34703C7B1}"/>
              </a:ext>
            </a:extLst>
          </p:cNvPr>
          <p:cNvGraphicFramePr>
            <a:graphicFrameLocks/>
          </p:cNvGraphicFramePr>
          <p:nvPr>
            <p:extLst>
              <p:ext uri="{D42A27DB-BD31-4B8C-83A1-F6EECF244321}">
                <p14:modId xmlns:p14="http://schemas.microsoft.com/office/powerpoint/2010/main" val="3091368873"/>
              </p:ext>
            </p:extLst>
          </p:nvPr>
        </p:nvGraphicFramePr>
        <p:xfrm>
          <a:off x="5645521" y="5054971"/>
          <a:ext cx="1943100" cy="428625"/>
        </p:xfrm>
        <a:graphic>
          <a:graphicData uri="http://schemas.openxmlformats.org/presentationml/2006/ole">
            <mc:AlternateContent xmlns:mc="http://schemas.openxmlformats.org/markup-compatibility/2006">
              <mc:Choice xmlns:v="urn:schemas-microsoft-com:vml" Requires="v">
                <p:oleObj spid="_x0000_s207892" r:id="rId7" imgW="901309" imgH="203112" progId="Equation.3">
                  <p:embed/>
                </p:oleObj>
              </mc:Choice>
              <mc:Fallback>
                <p:oleObj r:id="rId7" imgW="901309" imgH="203112" progId="Equation.3">
                  <p:embed/>
                  <p:pic>
                    <p:nvPicPr>
                      <p:cNvPr id="0" name=""/>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645521" y="5054971"/>
                        <a:ext cx="19431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2" name="Object 5">
            <a:extLst>
              <a:ext uri="{FF2B5EF4-FFF2-40B4-BE49-F238E27FC236}">
                <a16:creationId xmlns="" xmlns:a16="http://schemas.microsoft.com/office/drawing/2014/main" id="{18AC7AA1-3587-A416-9A7E-B2D44C165939}"/>
              </a:ext>
            </a:extLst>
          </p:cNvPr>
          <p:cNvGraphicFramePr>
            <a:graphicFrameLocks/>
          </p:cNvGraphicFramePr>
          <p:nvPr>
            <p:extLst>
              <p:ext uri="{D42A27DB-BD31-4B8C-83A1-F6EECF244321}">
                <p14:modId xmlns:p14="http://schemas.microsoft.com/office/powerpoint/2010/main" val="2962505934"/>
              </p:ext>
            </p:extLst>
          </p:nvPr>
        </p:nvGraphicFramePr>
        <p:xfrm>
          <a:off x="4595955" y="5606685"/>
          <a:ext cx="2057400" cy="415925"/>
        </p:xfrm>
        <a:graphic>
          <a:graphicData uri="http://schemas.openxmlformats.org/presentationml/2006/ole">
            <mc:AlternateContent xmlns:mc="http://schemas.openxmlformats.org/markup-compatibility/2006">
              <mc:Choice xmlns:v="urn:schemas-microsoft-com:vml" Requires="v">
                <p:oleObj spid="_x0000_s207893" r:id="rId9" imgW="1117600" imgH="228600" progId="Equation.3">
                  <p:embed/>
                </p:oleObj>
              </mc:Choice>
              <mc:Fallback>
                <p:oleObj r:id="rId9" imgW="1117600" imgH="228600" progId="Equation.3">
                  <p:embed/>
                  <p:pic>
                    <p:nvPicPr>
                      <p:cNvPr id="0" name=""/>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595955" y="5606685"/>
                        <a:ext cx="2057400"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3" name="Text Box 9">
            <a:extLst>
              <a:ext uri="{FF2B5EF4-FFF2-40B4-BE49-F238E27FC236}">
                <a16:creationId xmlns="" xmlns:a16="http://schemas.microsoft.com/office/drawing/2014/main" id="{D7F73F2A-D23F-A6A8-DDC4-838C108441B7}"/>
              </a:ext>
            </a:extLst>
          </p:cNvPr>
          <p:cNvSpPr txBox="1">
            <a:spLocks noChangeArrowheads="1"/>
          </p:cNvSpPr>
          <p:nvPr/>
        </p:nvSpPr>
        <p:spPr bwMode="auto">
          <a:xfrm>
            <a:off x="387523" y="5634866"/>
            <a:ext cx="405591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r>
              <a:rPr lang="zh-CN" altLang="en-US" sz="2000" b="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实际上，发射结上作用有三个电压</a:t>
            </a:r>
          </a:p>
        </p:txBody>
      </p:sp>
      <p:sp>
        <p:nvSpPr>
          <p:cNvPr id="14" name="矩形 13">
            <a:extLst>
              <a:ext uri="{FF2B5EF4-FFF2-40B4-BE49-F238E27FC236}">
                <a16:creationId xmlns="" xmlns:a16="http://schemas.microsoft.com/office/drawing/2014/main" id="{B0E4739C-7EB9-09DF-D5F8-5F2B38E3100F}"/>
              </a:ext>
            </a:extLst>
          </p:cNvPr>
          <p:cNvSpPr>
            <a:spLocks noChangeArrowheads="1"/>
          </p:cNvSpPr>
          <p:nvPr/>
        </p:nvSpPr>
        <p:spPr bwMode="auto">
          <a:xfrm>
            <a:off x="755576" y="5054971"/>
            <a:ext cx="383951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r>
              <a:rPr lang="zh-CN" altLang="en-US" sz="2000" b="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设输入信号                 ，本振电压</a:t>
            </a:r>
          </a:p>
        </p:txBody>
      </p:sp>
    </p:spTree>
    <p:extLst>
      <p:ext uri="{BB962C8B-B14F-4D97-AF65-F5344CB8AC3E}">
        <p14:creationId xmlns:p14="http://schemas.microsoft.com/office/powerpoint/2010/main" val="352744293"/>
      </p:ext>
    </p:extLst>
  </p:cSld>
  <p:clrMapOvr>
    <a:masterClrMapping/>
  </p:clrMapOvr>
  <p:timing>
    <p:tnLst>
      <p:par>
        <p:cTn id="1" dur="indefinite" restart="never" nodeType="tmRoot"/>
      </p:par>
    </p:tnLst>
  </p:timing>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266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5"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6.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振幅调制</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与</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解调</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 name="Text Box 2">
            <a:extLst>
              <a:ext uri="{FF2B5EF4-FFF2-40B4-BE49-F238E27FC236}">
                <a16:creationId xmlns="" xmlns:a16="http://schemas.microsoft.com/office/drawing/2014/main" id="{6A749CA9-F5F9-BC2B-185E-03CF3F5F578C}"/>
              </a:ext>
            </a:extLst>
          </p:cNvPr>
          <p:cNvSpPr txBox="1">
            <a:spLocks noChangeArrowheads="1"/>
          </p:cNvSpPr>
          <p:nvPr/>
        </p:nvSpPr>
        <p:spPr bwMode="auto">
          <a:xfrm>
            <a:off x="504031" y="1328117"/>
            <a:ext cx="328006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r>
              <a:rPr lang="en-US" altLang="zh-CN" sz="2000" b="0" dirty="0">
                <a:latin typeface="Times New Roman" panose="02020603050405020304" pitchFamily="18" charset="0"/>
                <a:ea typeface="宋体" panose="02010600030101010101" pitchFamily="2" charset="-122"/>
                <a:cs typeface="Times New Roman" panose="02020603050405020304" pitchFamily="18" charset="0"/>
              </a:rPr>
              <a:t>2. </a:t>
            </a:r>
            <a:r>
              <a:rPr lang="zh-CN" altLang="en-US" sz="2000" b="0" dirty="0">
                <a:latin typeface="Times New Roman" panose="02020603050405020304" pitchFamily="18" charset="0"/>
                <a:ea typeface="宋体" panose="02010600030101010101" pitchFamily="2" charset="-122"/>
                <a:cs typeface="Times New Roman" panose="02020603050405020304" pitchFamily="18" charset="0"/>
              </a:rPr>
              <a:t>晶体管混频器的分析方法</a:t>
            </a:r>
          </a:p>
        </p:txBody>
      </p:sp>
      <p:sp>
        <p:nvSpPr>
          <p:cNvPr id="7" name="Text Box 3">
            <a:extLst>
              <a:ext uri="{FF2B5EF4-FFF2-40B4-BE49-F238E27FC236}">
                <a16:creationId xmlns="" xmlns:a16="http://schemas.microsoft.com/office/drawing/2014/main" id="{5243B113-409E-B5EC-76AA-CF96123FC7EC}"/>
              </a:ext>
            </a:extLst>
          </p:cNvPr>
          <p:cNvSpPr txBox="1">
            <a:spLocks noChangeArrowheads="1"/>
          </p:cNvSpPr>
          <p:nvPr/>
        </p:nvSpPr>
        <p:spPr bwMode="auto">
          <a:xfrm>
            <a:off x="504031" y="1728227"/>
            <a:ext cx="29527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spcBef>
                <a:spcPct val="50000"/>
              </a:spcBef>
            </a:pPr>
            <a:r>
              <a:rPr lang="zh-CN" altLang="en-US" sz="2000" b="0" dirty="0">
                <a:latin typeface="Times New Roman" panose="02020603050405020304" pitchFamily="18" charset="0"/>
                <a:ea typeface="宋体" panose="02010600030101010101" pitchFamily="2" charset="-122"/>
                <a:cs typeface="Times New Roman" panose="02020603050405020304" pitchFamily="18" charset="0"/>
              </a:rPr>
              <a:t>1）幂级数分析法</a:t>
            </a:r>
          </a:p>
        </p:txBody>
      </p:sp>
      <p:sp>
        <p:nvSpPr>
          <p:cNvPr id="8" name="Text Box 4">
            <a:extLst>
              <a:ext uri="{FF2B5EF4-FFF2-40B4-BE49-F238E27FC236}">
                <a16:creationId xmlns="" xmlns:a16="http://schemas.microsoft.com/office/drawing/2014/main" id="{B53924E8-8291-531E-55E6-A89A7F0FD874}"/>
              </a:ext>
            </a:extLst>
          </p:cNvPr>
          <p:cNvSpPr txBox="1">
            <a:spLocks noChangeArrowheads="1"/>
          </p:cNvSpPr>
          <p:nvPr/>
        </p:nvSpPr>
        <p:spPr bwMode="auto">
          <a:xfrm>
            <a:off x="504031" y="3592150"/>
            <a:ext cx="212109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r>
              <a:rPr lang="zh-CN" altLang="en-US" sz="2000" b="0" dirty="0">
                <a:latin typeface="Times New Roman" panose="02020603050405020304" pitchFamily="18" charset="0"/>
                <a:ea typeface="宋体" panose="02010600030101010101" pitchFamily="2" charset="-122"/>
                <a:cs typeface="Times New Roman" panose="02020603050405020304" pitchFamily="18" charset="0"/>
              </a:rPr>
              <a:t>2）变跨导分析法</a:t>
            </a:r>
          </a:p>
        </p:txBody>
      </p:sp>
      <p:sp>
        <p:nvSpPr>
          <p:cNvPr id="9" name="Text Box 5">
            <a:extLst>
              <a:ext uri="{FF2B5EF4-FFF2-40B4-BE49-F238E27FC236}">
                <a16:creationId xmlns="" xmlns:a16="http://schemas.microsoft.com/office/drawing/2014/main" id="{1C455F99-08F1-601B-AD4D-526959BCE075}"/>
              </a:ext>
            </a:extLst>
          </p:cNvPr>
          <p:cNvSpPr txBox="1">
            <a:spLocks noChangeArrowheads="1"/>
          </p:cNvSpPr>
          <p:nvPr/>
        </p:nvSpPr>
        <p:spPr bwMode="auto">
          <a:xfrm>
            <a:off x="575469" y="3919679"/>
            <a:ext cx="7993062"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a:lnSpc>
                <a:spcPct val="120000"/>
              </a:lnSpc>
            </a:pPr>
            <a:r>
              <a:rPr lang="zh-CN" altLang="en-US" sz="2000" b="0" dirty="0">
                <a:latin typeface="Times New Roman" panose="02020603050405020304" pitchFamily="18" charset="0"/>
                <a:ea typeface="宋体" panose="02010600030101010101" pitchFamily="2" charset="-122"/>
                <a:cs typeface="Times New Roman" panose="02020603050405020304" pitchFamily="18" charset="0"/>
              </a:rPr>
              <a:t>　　在混频时，混频管可看着一个参数(跨导)在改变的线性元件，即变跨导线件元件</a:t>
            </a:r>
            <a:r>
              <a:rPr lang="zh-CN" altLang="en-US" sz="2000" b="0" dirty="0" smtClean="0">
                <a:latin typeface="Times New Roman" panose="02020603050405020304" pitchFamily="18" charset="0"/>
                <a:ea typeface="宋体" panose="02010600030101010101" pitchFamily="2" charset="-122"/>
                <a:cs typeface="Times New Roman" panose="02020603050405020304" pitchFamily="18" charset="0"/>
              </a:rPr>
              <a:t>。</a:t>
            </a:r>
            <a:r>
              <a:rPr lang="zh-CN" altLang="en-US" sz="2000" b="0" dirty="0">
                <a:latin typeface="宋体" panose="02010600030101010101" pitchFamily="2" charset="-122"/>
                <a:ea typeface="宋体" panose="02010600030101010101" pitchFamily="2" charset="-122"/>
              </a:rPr>
              <a:t>变频跨导</a:t>
            </a:r>
            <a:r>
              <a:rPr lang="en-US" altLang="zh-CN" sz="2000" b="0" i="1" dirty="0" err="1">
                <a:latin typeface="Times New Roman" panose="02020603050405020304" pitchFamily="18" charset="0"/>
                <a:ea typeface="宋体" panose="02010600030101010101" pitchFamily="2" charset="-122"/>
                <a:cs typeface="Times New Roman" panose="02020603050405020304" pitchFamily="18" charset="0"/>
              </a:rPr>
              <a:t>g</a:t>
            </a:r>
            <a:r>
              <a:rPr lang="en-US" altLang="zh-CN" sz="2000" b="0" i="1" baseline="-30000" dirty="0" err="1">
                <a:latin typeface="Times New Roman" panose="02020603050405020304" pitchFamily="18" charset="0"/>
                <a:ea typeface="宋体" panose="02010600030101010101" pitchFamily="2" charset="-122"/>
                <a:cs typeface="Times New Roman" panose="02020603050405020304" pitchFamily="18" charset="0"/>
              </a:rPr>
              <a:t>c</a:t>
            </a:r>
            <a:r>
              <a:rPr lang="zh-CN" altLang="en-US" sz="2000" b="0" dirty="0">
                <a:latin typeface="宋体" panose="02010600030101010101" pitchFamily="2" charset="-122"/>
                <a:ea typeface="宋体" panose="02010600030101010101" pitchFamily="2" charset="-122"/>
              </a:rPr>
              <a:t>的定义为                 </a:t>
            </a:r>
          </a:p>
        </p:txBody>
      </p:sp>
      <p:sp>
        <p:nvSpPr>
          <p:cNvPr id="10" name="Rectangle 6">
            <a:extLst>
              <a:ext uri="{FF2B5EF4-FFF2-40B4-BE49-F238E27FC236}">
                <a16:creationId xmlns="" xmlns:a16="http://schemas.microsoft.com/office/drawing/2014/main" id="{47C1A21E-B356-66E5-0A51-302766F9E424}"/>
              </a:ext>
            </a:extLst>
          </p:cNvPr>
          <p:cNvSpPr>
            <a:spLocks noChangeArrowheads="1"/>
          </p:cNvSpPr>
          <p:nvPr/>
        </p:nvSpPr>
        <p:spPr bwMode="auto">
          <a:xfrm>
            <a:off x="575469" y="2002303"/>
            <a:ext cx="7993062"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lnSpc>
                <a:spcPct val="120000"/>
              </a:lnSpc>
            </a:pPr>
            <a:r>
              <a:rPr lang="zh-CN" altLang="en-US" sz="2000" b="0" dirty="0">
                <a:latin typeface="Times New Roman" panose="02020603050405020304" pitchFamily="18" charset="0"/>
                <a:ea typeface="宋体" panose="02010600030101010101" pitchFamily="2" charset="-122"/>
                <a:cs typeface="Times New Roman" panose="02020603050405020304" pitchFamily="18" charset="0"/>
              </a:rPr>
              <a:t>　　在小信号运用的条件下，也可以将某些非线性元器件函数表达式用幂级数函数近似，使问题简化。用这种方法来分析非线性电路可突出说明频率变换作用，不便于作定量分析。</a:t>
            </a:r>
          </a:p>
        </p:txBody>
      </p:sp>
      <p:sp>
        <p:nvSpPr>
          <p:cNvPr id="11" name="Rectangle 7">
            <a:extLst>
              <a:ext uri="{FF2B5EF4-FFF2-40B4-BE49-F238E27FC236}">
                <a16:creationId xmlns="" xmlns:a16="http://schemas.microsoft.com/office/drawing/2014/main" id="{F6D53BAC-E51F-F3C0-6FA3-057F376D036F}"/>
              </a:ext>
            </a:extLst>
          </p:cNvPr>
          <p:cNvSpPr>
            <a:spLocks noChangeArrowheads="1"/>
          </p:cNvSpPr>
          <p:nvPr/>
        </p:nvSpPr>
        <p:spPr bwMode="auto">
          <a:xfrm>
            <a:off x="2625124" y="3192040"/>
            <a:ext cx="311816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r>
              <a:rPr lang="en-US" altLang="zh-CN" sz="2000" b="0" i="1">
                <a:latin typeface="Times New Roman" panose="02020603050405020304" pitchFamily="18" charset="0"/>
                <a:ea typeface="宋体" panose="02010600030101010101" pitchFamily="2" charset="-122"/>
                <a:cs typeface="Times New Roman" panose="02020603050405020304" pitchFamily="18" charset="0"/>
              </a:rPr>
              <a:t>i</a:t>
            </a:r>
            <a:r>
              <a:rPr lang="en-US" altLang="zh-CN" sz="2000" b="0">
                <a:latin typeface="Times New Roman" panose="02020603050405020304" pitchFamily="18" charset="0"/>
                <a:ea typeface="宋体" panose="02010600030101010101" pitchFamily="2" charset="-122"/>
                <a:cs typeface="Times New Roman" panose="02020603050405020304" pitchFamily="18" charset="0"/>
              </a:rPr>
              <a:t> = </a:t>
            </a:r>
            <a:r>
              <a:rPr lang="en-US" altLang="zh-CN" sz="2000" b="0" i="1">
                <a:latin typeface="Times New Roman" panose="02020603050405020304" pitchFamily="18" charset="0"/>
                <a:ea typeface="宋体" panose="02010600030101010101" pitchFamily="2" charset="-122"/>
                <a:cs typeface="Times New Roman" panose="02020603050405020304" pitchFamily="18" charset="0"/>
              </a:rPr>
              <a:t>a</a:t>
            </a:r>
            <a:r>
              <a:rPr lang="en-US" altLang="zh-CN" sz="2000" b="0" baseline="-30000">
                <a:latin typeface="Times New Roman" panose="02020603050405020304" pitchFamily="18" charset="0"/>
                <a:ea typeface="宋体" panose="02010600030101010101" pitchFamily="2" charset="-122"/>
                <a:cs typeface="Times New Roman" panose="02020603050405020304" pitchFamily="18" charset="0"/>
              </a:rPr>
              <a:t>0</a:t>
            </a:r>
            <a:r>
              <a:rPr lang="en-US" altLang="zh-CN" sz="2000" b="0">
                <a:latin typeface="Times New Roman" panose="02020603050405020304" pitchFamily="18" charset="0"/>
                <a:ea typeface="宋体" panose="02010600030101010101" pitchFamily="2" charset="-122"/>
                <a:cs typeface="Times New Roman" panose="02020603050405020304" pitchFamily="18" charset="0"/>
              </a:rPr>
              <a:t>+</a:t>
            </a:r>
            <a:r>
              <a:rPr lang="en-US" altLang="zh-CN" sz="2000" b="0" i="1">
                <a:latin typeface="Times New Roman" panose="02020603050405020304" pitchFamily="18" charset="0"/>
                <a:ea typeface="宋体" panose="02010600030101010101" pitchFamily="2" charset="-122"/>
                <a:cs typeface="Times New Roman" panose="02020603050405020304" pitchFamily="18" charset="0"/>
              </a:rPr>
              <a:t>a</a:t>
            </a:r>
            <a:r>
              <a:rPr lang="en-US" altLang="zh-CN" sz="2000" b="0" baseline="-30000">
                <a:latin typeface="Times New Roman" panose="02020603050405020304" pitchFamily="18" charset="0"/>
                <a:ea typeface="宋体" panose="02010600030101010101" pitchFamily="2" charset="-122"/>
                <a:cs typeface="Times New Roman" panose="02020603050405020304" pitchFamily="18" charset="0"/>
              </a:rPr>
              <a:t>1</a:t>
            </a:r>
            <a:r>
              <a:rPr lang="en-US" altLang="zh-CN" sz="2000" b="0" i="1">
                <a:latin typeface="Times New Roman" panose="02020603050405020304" pitchFamily="18" charset="0"/>
                <a:ea typeface="宋体" panose="02010600030101010101" pitchFamily="2" charset="-122"/>
                <a:cs typeface="Times New Roman" panose="02020603050405020304" pitchFamily="18" charset="0"/>
              </a:rPr>
              <a:t>v</a:t>
            </a:r>
            <a:r>
              <a:rPr lang="en-US" altLang="zh-CN" sz="2000" b="0">
                <a:latin typeface="Times New Roman" panose="02020603050405020304" pitchFamily="18" charset="0"/>
                <a:ea typeface="宋体" panose="02010600030101010101" pitchFamily="2" charset="-122"/>
                <a:cs typeface="Times New Roman" panose="02020603050405020304" pitchFamily="18" charset="0"/>
              </a:rPr>
              <a:t>+</a:t>
            </a:r>
            <a:r>
              <a:rPr lang="en-US" altLang="zh-CN" sz="2000" b="0" i="1">
                <a:latin typeface="Times New Roman" panose="02020603050405020304" pitchFamily="18" charset="0"/>
                <a:ea typeface="宋体" panose="02010600030101010101" pitchFamily="2" charset="-122"/>
                <a:cs typeface="Times New Roman" panose="02020603050405020304" pitchFamily="18" charset="0"/>
              </a:rPr>
              <a:t>a</a:t>
            </a:r>
            <a:r>
              <a:rPr lang="en-US" altLang="zh-CN" sz="2000" b="0" baseline="-30000">
                <a:latin typeface="Times New Roman" panose="02020603050405020304" pitchFamily="18" charset="0"/>
                <a:ea typeface="宋体" panose="02010600030101010101" pitchFamily="2" charset="-122"/>
                <a:cs typeface="Times New Roman" panose="02020603050405020304" pitchFamily="18" charset="0"/>
              </a:rPr>
              <a:t>2</a:t>
            </a:r>
            <a:r>
              <a:rPr lang="en-US" altLang="zh-CN" sz="2000" b="0" i="1">
                <a:latin typeface="Times New Roman" panose="02020603050405020304" pitchFamily="18" charset="0"/>
                <a:ea typeface="宋体" panose="02010600030101010101" pitchFamily="2" charset="-122"/>
                <a:cs typeface="Times New Roman" panose="02020603050405020304" pitchFamily="18" charset="0"/>
              </a:rPr>
              <a:t>v</a:t>
            </a:r>
            <a:r>
              <a:rPr lang="en-US" altLang="zh-CN" sz="2000" b="0" baseline="30000">
                <a:latin typeface="Times New Roman" panose="02020603050405020304" pitchFamily="18" charset="0"/>
                <a:ea typeface="宋体" panose="02010600030101010101" pitchFamily="2" charset="-122"/>
                <a:cs typeface="Times New Roman" panose="02020603050405020304" pitchFamily="18" charset="0"/>
              </a:rPr>
              <a:t>2</a:t>
            </a:r>
            <a:r>
              <a:rPr lang="en-US" altLang="zh-CN" sz="2000" b="0">
                <a:latin typeface="Times New Roman" panose="02020603050405020304" pitchFamily="18" charset="0"/>
                <a:ea typeface="宋体" panose="02010600030101010101" pitchFamily="2" charset="-122"/>
                <a:cs typeface="Times New Roman" panose="02020603050405020304" pitchFamily="18" charset="0"/>
              </a:rPr>
              <a:t>+</a:t>
            </a:r>
            <a:r>
              <a:rPr lang="en-US" altLang="zh-CN" sz="2000" b="0" i="1">
                <a:latin typeface="Times New Roman" panose="02020603050405020304" pitchFamily="18" charset="0"/>
                <a:ea typeface="宋体" panose="02010600030101010101" pitchFamily="2" charset="-122"/>
                <a:cs typeface="Times New Roman" panose="02020603050405020304" pitchFamily="18" charset="0"/>
              </a:rPr>
              <a:t>a</a:t>
            </a:r>
            <a:r>
              <a:rPr lang="en-US" altLang="zh-CN" sz="2000" b="0" baseline="-30000">
                <a:latin typeface="Times New Roman" panose="02020603050405020304" pitchFamily="18" charset="0"/>
                <a:ea typeface="宋体" panose="02010600030101010101" pitchFamily="2" charset="-122"/>
                <a:cs typeface="Times New Roman" panose="02020603050405020304" pitchFamily="18" charset="0"/>
              </a:rPr>
              <a:t>3</a:t>
            </a:r>
            <a:r>
              <a:rPr lang="en-US" altLang="zh-CN" sz="2000" b="0" i="1">
                <a:latin typeface="Times New Roman" panose="02020603050405020304" pitchFamily="18" charset="0"/>
                <a:ea typeface="宋体" panose="02010600030101010101" pitchFamily="2" charset="-122"/>
                <a:cs typeface="Times New Roman" panose="02020603050405020304" pitchFamily="18" charset="0"/>
              </a:rPr>
              <a:t>v</a:t>
            </a:r>
            <a:r>
              <a:rPr lang="en-US" altLang="zh-CN" sz="2000" b="0" baseline="30000">
                <a:latin typeface="Times New Roman" panose="02020603050405020304" pitchFamily="18" charset="0"/>
                <a:ea typeface="宋体" panose="02010600030101010101" pitchFamily="2" charset="-122"/>
                <a:cs typeface="Times New Roman" panose="02020603050405020304" pitchFamily="18" charset="0"/>
              </a:rPr>
              <a:t>3</a:t>
            </a:r>
            <a:r>
              <a:rPr lang="en-US" altLang="zh-CN" sz="2000" b="0">
                <a:latin typeface="Times New Roman" panose="02020603050405020304" pitchFamily="18" charset="0"/>
                <a:ea typeface="宋体" panose="02010600030101010101" pitchFamily="2" charset="-122"/>
                <a:cs typeface="Times New Roman" panose="02020603050405020304" pitchFamily="18" charset="0"/>
              </a:rPr>
              <a:t>+…… </a:t>
            </a:r>
          </a:p>
        </p:txBody>
      </p:sp>
      <p:graphicFrame>
        <p:nvGraphicFramePr>
          <p:cNvPr id="13" name="Object 3">
            <a:extLst>
              <a:ext uri="{FF2B5EF4-FFF2-40B4-BE49-F238E27FC236}">
                <a16:creationId xmlns="" xmlns:a16="http://schemas.microsoft.com/office/drawing/2014/main" id="{C50FBA6E-BF24-1031-77A8-8475F939F1BB}"/>
              </a:ext>
            </a:extLst>
          </p:cNvPr>
          <p:cNvGraphicFramePr>
            <a:graphicFrameLocks/>
          </p:cNvGraphicFramePr>
          <p:nvPr>
            <p:extLst>
              <p:ext uri="{D42A27DB-BD31-4B8C-83A1-F6EECF244321}">
                <p14:modId xmlns:p14="http://schemas.microsoft.com/office/powerpoint/2010/main" val="496912254"/>
              </p:ext>
            </p:extLst>
          </p:nvPr>
        </p:nvGraphicFramePr>
        <p:xfrm>
          <a:off x="2194404" y="4709307"/>
          <a:ext cx="3979599" cy="865599"/>
        </p:xfrm>
        <a:graphic>
          <a:graphicData uri="http://schemas.openxmlformats.org/presentationml/2006/ole">
            <mc:AlternateContent xmlns:mc="http://schemas.openxmlformats.org/markup-compatibility/2006">
              <mc:Choice xmlns:v="urn:schemas-microsoft-com:vml" Requires="v">
                <p:oleObj spid="_x0000_s208902" r:id="rId3" imgW="2657626" imgH="514350" progId="Equation.3">
                  <p:embed/>
                </p:oleObj>
              </mc:Choice>
              <mc:Fallback>
                <p:oleObj r:id="rId3" imgW="2657626" imgH="514350" progId="Equation.3">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94404" y="4709307"/>
                        <a:ext cx="3979599" cy="865599"/>
                      </a:xfrm>
                      <a:prstGeom prst="rect">
                        <a:avLst/>
                      </a:prstGeom>
                      <a:noFill/>
                      <a:ln>
                        <a:noFill/>
                      </a:ln>
                      <a:extLst/>
                    </p:spPr>
                  </p:pic>
                </p:oleObj>
              </mc:Fallback>
            </mc:AlternateContent>
          </a:graphicData>
        </a:graphic>
      </p:graphicFrame>
    </p:spTree>
    <p:extLst>
      <p:ext uri="{BB962C8B-B14F-4D97-AF65-F5344CB8AC3E}">
        <p14:creationId xmlns:p14="http://schemas.microsoft.com/office/powerpoint/2010/main" val="1718326329"/>
      </p:ext>
    </p:extLst>
  </p:cSld>
  <p:clrMapOvr>
    <a:masterClrMapping/>
  </p:clrMapOvr>
  <p:timing>
    <p:tnLst>
      <p:par>
        <p:cTn id="1" dur="indefinite" restart="never" nodeType="tmRoot"/>
      </p:par>
    </p:tnLst>
  </p:timing>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267</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5"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6.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振幅调制</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与</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解调</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 name="Rectangle 2">
            <a:extLst>
              <a:ext uri="{FF2B5EF4-FFF2-40B4-BE49-F238E27FC236}">
                <a16:creationId xmlns="" xmlns:a16="http://schemas.microsoft.com/office/drawing/2014/main" id="{D7ACE740-81D8-CB1D-6835-92205A6351AE}"/>
              </a:ext>
            </a:extLst>
          </p:cNvPr>
          <p:cNvSpPr>
            <a:spLocks noChangeArrowheads="1"/>
          </p:cNvSpPr>
          <p:nvPr/>
        </p:nvSpPr>
        <p:spPr bwMode="auto">
          <a:xfrm>
            <a:off x="586581" y="1655172"/>
            <a:ext cx="8064500" cy="41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algn="just" eaLnBrk="1" hangingPunct="1">
              <a:lnSpc>
                <a:spcPct val="120000"/>
              </a:lnSpc>
            </a:pPr>
            <a:r>
              <a:rPr lang="zh-CN" altLang="en-US" sz="2000" b="0" dirty="0" smtClean="0">
                <a:latin typeface="+mn-ea"/>
                <a:ea typeface="+mn-ea"/>
              </a:rPr>
              <a:t>混频器</a:t>
            </a:r>
            <a:r>
              <a:rPr lang="zh-CN" altLang="en-US" sz="2000" b="0" dirty="0">
                <a:latin typeface="+mn-ea"/>
                <a:ea typeface="+mn-ea"/>
              </a:rPr>
              <a:t>除混频跨导外，还有</a:t>
            </a:r>
            <a:r>
              <a:rPr lang="zh-CN" altLang="en-US" sz="2000" b="0" dirty="0">
                <a:solidFill>
                  <a:schemeClr val="accent2"/>
                </a:solidFill>
                <a:latin typeface="+mn-ea"/>
                <a:ea typeface="+mn-ea"/>
              </a:rPr>
              <a:t>输入导纳、输出导纳、混频增益</a:t>
            </a:r>
            <a:r>
              <a:rPr lang="zh-CN" altLang="en-US" sz="2000" b="0" dirty="0">
                <a:latin typeface="+mn-ea"/>
                <a:ea typeface="+mn-ea"/>
              </a:rPr>
              <a:t>等参数</a:t>
            </a:r>
            <a:r>
              <a:rPr lang="zh-CN" altLang="en-US" sz="2000" b="0" dirty="0" smtClean="0">
                <a:latin typeface="+mn-ea"/>
                <a:ea typeface="+mn-ea"/>
              </a:rPr>
              <a:t>。</a:t>
            </a:r>
            <a:endParaRPr lang="zh-CN" altLang="en-US" sz="2000" b="0" dirty="0">
              <a:latin typeface="+mn-ea"/>
              <a:ea typeface="+mn-ea"/>
            </a:endParaRPr>
          </a:p>
        </p:txBody>
      </p:sp>
      <p:sp>
        <p:nvSpPr>
          <p:cNvPr id="8" name="Rectangle 5">
            <a:extLst>
              <a:ext uri="{FF2B5EF4-FFF2-40B4-BE49-F238E27FC236}">
                <a16:creationId xmlns="" xmlns:a16="http://schemas.microsoft.com/office/drawing/2014/main" id="{7E0112EB-2F28-6BC3-4CFE-7A58021286FA}"/>
              </a:ext>
            </a:extLst>
          </p:cNvPr>
          <p:cNvSpPr>
            <a:spLocks noChangeArrowheads="1"/>
          </p:cNvSpPr>
          <p:nvPr/>
        </p:nvSpPr>
        <p:spPr bwMode="auto">
          <a:xfrm>
            <a:off x="586581" y="1309742"/>
            <a:ext cx="54102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r>
              <a:rPr lang="en-US" altLang="zh-CN" sz="2000" b="0" dirty="0">
                <a:solidFill>
                  <a:schemeClr val="accent2"/>
                </a:solidFill>
                <a:latin typeface="+mn-ea"/>
                <a:ea typeface="+mn-ea"/>
              </a:rPr>
              <a:t>3.</a:t>
            </a:r>
            <a:r>
              <a:rPr lang="zh-CN" altLang="en-US" sz="2000" b="0" dirty="0">
                <a:solidFill>
                  <a:schemeClr val="accent2"/>
                </a:solidFill>
                <a:latin typeface="+mn-ea"/>
                <a:ea typeface="+mn-ea"/>
              </a:rPr>
              <a:t>晶体管混频器的主要参数</a:t>
            </a:r>
          </a:p>
        </p:txBody>
      </p:sp>
      <p:sp>
        <p:nvSpPr>
          <p:cNvPr id="11" name="Rectangle 2">
            <a:extLst>
              <a:ext uri="{FF2B5EF4-FFF2-40B4-BE49-F238E27FC236}">
                <a16:creationId xmlns="" xmlns:a16="http://schemas.microsoft.com/office/drawing/2014/main" id="{9DB0EAF2-C33F-713C-6850-0C9EBF2B9907}"/>
              </a:ext>
            </a:extLst>
          </p:cNvPr>
          <p:cNvSpPr>
            <a:spLocks noChangeArrowheads="1"/>
          </p:cNvSpPr>
          <p:nvPr/>
        </p:nvSpPr>
        <p:spPr bwMode="auto">
          <a:xfrm>
            <a:off x="37904" y="2291521"/>
            <a:ext cx="8540152" cy="11387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9pPr>
          </a:lstStyle>
          <a:p>
            <a:pPr eaLnBrk="1" hangingPunct="1"/>
            <a:r>
              <a:rPr lang="zh-CN" altLang="en-US" sz="1800" b="0" dirty="0" smtClean="0">
                <a:latin typeface="Times New Roman" panose="02020603050405020304" pitchFamily="18" charset="0"/>
                <a:ea typeface="+mn-ea"/>
                <a:cs typeface="Times New Roman" panose="02020603050405020304" pitchFamily="18" charset="0"/>
                <a:sym typeface="Symbol" panose="05050102010706020507" pitchFamily="18" charset="2"/>
              </a:rPr>
              <a:t>混频</a:t>
            </a:r>
            <a:r>
              <a:rPr lang="zh-CN" altLang="en-US" sz="1800" b="0" dirty="0">
                <a:latin typeface="Times New Roman" panose="02020603050405020304" pitchFamily="18" charset="0"/>
                <a:ea typeface="+mn-ea"/>
                <a:cs typeface="Times New Roman" panose="02020603050405020304" pitchFamily="18" charset="0"/>
                <a:sym typeface="Symbol" panose="05050102010706020507" pitchFamily="18" charset="2"/>
              </a:rPr>
              <a:t>输入导纳为</a:t>
            </a:r>
          </a:p>
          <a:p>
            <a:pPr eaLnBrk="1" hangingPunct="1"/>
            <a:endParaRPr lang="en-US" altLang="zh-CN" dirty="0">
              <a:latin typeface="+mn-ea"/>
              <a:ea typeface="+mn-ea"/>
              <a:sym typeface="Symbol" panose="05050102010706020507" pitchFamily="18" charset="2"/>
            </a:endParaRPr>
          </a:p>
          <a:p>
            <a:pPr eaLnBrk="1" hangingPunct="1"/>
            <a:endParaRPr lang="zh-CN" altLang="en-US" dirty="0">
              <a:latin typeface="+mn-ea"/>
              <a:ea typeface="+mn-ea"/>
              <a:sym typeface="Symbol" panose="05050102010706020507" pitchFamily="18" charset="2"/>
            </a:endParaRPr>
          </a:p>
          <a:p>
            <a:pPr eaLnBrk="1" hangingPunct="1"/>
            <a:r>
              <a:rPr lang="zh-CN" altLang="en-US" sz="1800" b="0" dirty="0">
                <a:latin typeface="+mn-ea"/>
                <a:ea typeface="+mn-ea"/>
                <a:sym typeface="Symbol" panose="05050102010706020507" pitchFamily="18" charset="2"/>
              </a:rPr>
              <a:t>输入导纳的电导部分</a:t>
            </a:r>
            <a:r>
              <a:rPr lang="zh-CN" altLang="en-US" sz="1800" b="0" dirty="0" smtClean="0">
                <a:latin typeface="+mn-ea"/>
                <a:ea typeface="+mn-ea"/>
                <a:sym typeface="Symbol" panose="05050102010706020507" pitchFamily="18" charset="2"/>
              </a:rPr>
              <a:t>为</a:t>
            </a:r>
            <a:endParaRPr lang="zh-CN" altLang="en-US" sz="1800" b="0" dirty="0">
              <a:latin typeface="+mn-ea"/>
              <a:ea typeface="+mn-ea"/>
              <a:sym typeface="Symbol" panose="05050102010706020507" pitchFamily="18" charset="2"/>
            </a:endParaRPr>
          </a:p>
        </p:txBody>
      </p:sp>
      <p:graphicFrame>
        <p:nvGraphicFramePr>
          <p:cNvPr id="12" name="Object 3">
            <a:extLst>
              <a:ext uri="{FF2B5EF4-FFF2-40B4-BE49-F238E27FC236}">
                <a16:creationId xmlns="" xmlns:a16="http://schemas.microsoft.com/office/drawing/2014/main" id="{366A1BC2-4791-A0A3-6A35-31896485AB30}"/>
              </a:ext>
            </a:extLst>
          </p:cNvPr>
          <p:cNvGraphicFramePr>
            <a:graphicFrameLocks/>
          </p:cNvGraphicFramePr>
          <p:nvPr>
            <p:extLst>
              <p:ext uri="{D42A27DB-BD31-4B8C-83A1-F6EECF244321}">
                <p14:modId xmlns:p14="http://schemas.microsoft.com/office/powerpoint/2010/main" val="374220599"/>
              </p:ext>
            </p:extLst>
          </p:nvPr>
        </p:nvGraphicFramePr>
        <p:xfrm>
          <a:off x="1878744" y="2107595"/>
          <a:ext cx="5929190" cy="754602"/>
        </p:xfrm>
        <a:graphic>
          <a:graphicData uri="http://schemas.openxmlformats.org/presentationml/2006/ole">
            <mc:AlternateContent xmlns:mc="http://schemas.openxmlformats.org/markup-compatibility/2006">
              <mc:Choice xmlns:v="urn:schemas-microsoft-com:vml" Requires="v">
                <p:oleObj spid="_x0000_s209946" r:id="rId3" imgW="3378200" imgH="457200" progId="Equation.3">
                  <p:embed/>
                </p:oleObj>
              </mc:Choice>
              <mc:Fallback>
                <p:oleObj r:id="rId3" imgW="3378200" imgH="457200" progId="Equation.3">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78744" y="2107595"/>
                        <a:ext cx="5929190" cy="754602"/>
                      </a:xfrm>
                      <a:prstGeom prst="rect">
                        <a:avLst/>
                      </a:prstGeom>
                      <a:noFill/>
                      <a:ln>
                        <a:noFill/>
                      </a:ln>
                      <a:extLst/>
                    </p:spPr>
                  </p:pic>
                </p:oleObj>
              </mc:Fallback>
            </mc:AlternateContent>
          </a:graphicData>
        </a:graphic>
      </p:graphicFrame>
      <p:graphicFrame>
        <p:nvGraphicFramePr>
          <p:cNvPr id="13" name="Object 4">
            <a:extLst>
              <a:ext uri="{FF2B5EF4-FFF2-40B4-BE49-F238E27FC236}">
                <a16:creationId xmlns="" xmlns:a16="http://schemas.microsoft.com/office/drawing/2014/main" id="{37FC1757-2926-7F8C-3008-E61701AEF70F}"/>
              </a:ext>
            </a:extLst>
          </p:cNvPr>
          <p:cNvGraphicFramePr>
            <a:graphicFrameLocks/>
          </p:cNvGraphicFramePr>
          <p:nvPr>
            <p:extLst>
              <p:ext uri="{D42A27DB-BD31-4B8C-83A1-F6EECF244321}">
                <p14:modId xmlns:p14="http://schemas.microsoft.com/office/powerpoint/2010/main" val="2712622244"/>
              </p:ext>
            </p:extLst>
          </p:nvPr>
        </p:nvGraphicFramePr>
        <p:xfrm>
          <a:off x="2768310" y="2789335"/>
          <a:ext cx="2339063" cy="752682"/>
        </p:xfrm>
        <a:graphic>
          <a:graphicData uri="http://schemas.openxmlformats.org/presentationml/2006/ole">
            <mc:AlternateContent xmlns:mc="http://schemas.openxmlformats.org/markup-compatibility/2006">
              <mc:Choice xmlns:v="urn:schemas-microsoft-com:vml" Requires="v">
                <p:oleObj spid="_x0000_s209947" r:id="rId5" imgW="1695608" imgH="514350" progId="Equation.3">
                  <p:embed/>
                </p:oleObj>
              </mc:Choice>
              <mc:Fallback>
                <p:oleObj r:id="rId5" imgW="1695608" imgH="514350" progId="Equation.3">
                  <p:embed/>
                  <p:pic>
                    <p:nvPicPr>
                      <p:cNvPr id="0" name=""/>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68310" y="2789335"/>
                        <a:ext cx="2339063" cy="752682"/>
                      </a:xfrm>
                      <a:prstGeom prst="rect">
                        <a:avLst/>
                      </a:prstGeom>
                      <a:noFill/>
                      <a:ln>
                        <a:noFill/>
                      </a:ln>
                      <a:extLst/>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846711801"/>
              </p:ext>
            </p:extLst>
          </p:nvPr>
        </p:nvGraphicFramePr>
        <p:xfrm>
          <a:off x="1738782" y="3520583"/>
          <a:ext cx="7452597" cy="715265"/>
        </p:xfrm>
        <a:graphic>
          <a:graphicData uri="http://schemas.openxmlformats.org/presentationml/2006/ole">
            <mc:AlternateContent xmlns:mc="http://schemas.openxmlformats.org/markup-compatibility/2006">
              <mc:Choice xmlns:v="urn:schemas-microsoft-com:vml" Requires="v">
                <p:oleObj spid="_x0000_s209948" name="Equation" r:id="rId7" imgW="4101840" imgH="393480" progId="Equation.DSMT4">
                  <p:embed/>
                </p:oleObj>
              </mc:Choice>
              <mc:Fallback>
                <p:oleObj name="Equation" r:id="rId7" imgW="4101840" imgH="393480" progId="Equation.DSMT4">
                  <p:embed/>
                  <p:pic>
                    <p:nvPicPr>
                      <p:cNvPr id="0" name=""/>
                      <p:cNvPicPr/>
                      <p:nvPr/>
                    </p:nvPicPr>
                    <p:blipFill>
                      <a:blip r:embed="rId8"/>
                      <a:stretch>
                        <a:fillRect/>
                      </a:stretch>
                    </p:blipFill>
                    <p:spPr>
                      <a:xfrm>
                        <a:off x="1738782" y="3520583"/>
                        <a:ext cx="7452597" cy="715265"/>
                      </a:xfrm>
                      <a:prstGeom prst="rect">
                        <a:avLst/>
                      </a:prstGeom>
                    </p:spPr>
                  </p:pic>
                </p:oleObj>
              </mc:Fallback>
            </mc:AlternateContent>
          </a:graphicData>
        </a:graphic>
      </p:graphicFrame>
      <p:sp>
        <p:nvSpPr>
          <p:cNvPr id="14" name="矩形 13"/>
          <p:cNvSpPr/>
          <p:nvPr/>
        </p:nvSpPr>
        <p:spPr>
          <a:xfrm>
            <a:off x="0" y="3754793"/>
            <a:ext cx="1800493" cy="369332"/>
          </a:xfrm>
          <a:prstGeom prst="rect">
            <a:avLst/>
          </a:prstGeom>
        </p:spPr>
        <p:txBody>
          <a:bodyPr wrap="none">
            <a:spAutoFit/>
          </a:bodyPr>
          <a:lstStyle/>
          <a:p>
            <a:r>
              <a:rPr lang="zh-CN" altLang="en-US" dirty="0"/>
              <a:t>混频输出导纳为</a:t>
            </a:r>
          </a:p>
        </p:txBody>
      </p:sp>
      <p:sp>
        <p:nvSpPr>
          <p:cNvPr id="15" name="Rectangle 6">
            <a:extLst>
              <a:ext uri="{FF2B5EF4-FFF2-40B4-BE49-F238E27FC236}">
                <a16:creationId xmlns="" xmlns:a16="http://schemas.microsoft.com/office/drawing/2014/main" id="{1DAD7B75-A9E3-BC3D-BAFA-119F07E1846B}"/>
              </a:ext>
            </a:extLst>
          </p:cNvPr>
          <p:cNvSpPr>
            <a:spLocks noChangeArrowheads="1"/>
          </p:cNvSpPr>
          <p:nvPr/>
        </p:nvSpPr>
        <p:spPr bwMode="auto">
          <a:xfrm>
            <a:off x="0" y="4343519"/>
            <a:ext cx="226215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a:spcBef>
                <a:spcPct val="50000"/>
              </a:spcBef>
            </a:pPr>
            <a:r>
              <a:rPr lang="zh-CN" altLang="en-US" sz="1800" b="0" dirty="0">
                <a:latin typeface="+mn-ea"/>
                <a:ea typeface="+mn-ea"/>
                <a:sym typeface="Symbol" panose="05050102010706020507" pitchFamily="18" charset="2"/>
              </a:rPr>
              <a:t>输出导纳中的电导为</a:t>
            </a:r>
          </a:p>
        </p:txBody>
      </p:sp>
      <p:graphicFrame>
        <p:nvGraphicFramePr>
          <p:cNvPr id="16" name="对象 15"/>
          <p:cNvGraphicFramePr>
            <a:graphicFrameLocks noChangeAspect="1"/>
          </p:cNvGraphicFramePr>
          <p:nvPr>
            <p:extLst>
              <p:ext uri="{D42A27DB-BD31-4B8C-83A1-F6EECF244321}">
                <p14:modId xmlns:p14="http://schemas.microsoft.com/office/powerpoint/2010/main" val="188750135"/>
              </p:ext>
            </p:extLst>
          </p:nvPr>
        </p:nvGraphicFramePr>
        <p:xfrm>
          <a:off x="2262158" y="4124125"/>
          <a:ext cx="3063156" cy="767857"/>
        </p:xfrm>
        <a:graphic>
          <a:graphicData uri="http://schemas.openxmlformats.org/presentationml/2006/ole">
            <mc:AlternateContent xmlns:mc="http://schemas.openxmlformats.org/markup-compatibility/2006">
              <mc:Choice xmlns:v="urn:schemas-microsoft-com:vml" Requires="v">
                <p:oleObj spid="_x0000_s209949" name="Equation" r:id="rId9" imgW="3527903" imgH="883832" progId="Equation.DSMT4">
                  <p:embed/>
                </p:oleObj>
              </mc:Choice>
              <mc:Fallback>
                <p:oleObj name="Equation" r:id="rId9" imgW="3527903" imgH="883832" progId="Equation.DSMT4">
                  <p:embed/>
                  <p:pic>
                    <p:nvPicPr>
                      <p:cNvPr id="0" name=""/>
                      <p:cNvPicPr/>
                      <p:nvPr/>
                    </p:nvPicPr>
                    <p:blipFill>
                      <a:blip r:embed="rId10"/>
                      <a:stretch>
                        <a:fillRect/>
                      </a:stretch>
                    </p:blipFill>
                    <p:spPr>
                      <a:xfrm>
                        <a:off x="2262158" y="4124125"/>
                        <a:ext cx="3063156" cy="767857"/>
                      </a:xfrm>
                      <a:prstGeom prst="rect">
                        <a:avLst/>
                      </a:prstGeom>
                    </p:spPr>
                  </p:pic>
                </p:oleObj>
              </mc:Fallback>
            </mc:AlternateContent>
          </a:graphicData>
        </a:graphic>
      </p:graphicFrame>
      <p:sp>
        <p:nvSpPr>
          <p:cNvPr id="17" name="矩形 16"/>
          <p:cNvSpPr/>
          <p:nvPr/>
        </p:nvSpPr>
        <p:spPr>
          <a:xfrm>
            <a:off x="37904" y="5116910"/>
            <a:ext cx="1569660" cy="369332"/>
          </a:xfrm>
          <a:prstGeom prst="rect">
            <a:avLst/>
          </a:prstGeom>
        </p:spPr>
        <p:txBody>
          <a:bodyPr wrap="none">
            <a:spAutoFit/>
          </a:bodyPr>
          <a:lstStyle/>
          <a:p>
            <a:r>
              <a:rPr lang="zh-CN" altLang="en-US" dirty="0"/>
              <a:t>混频电压增益</a:t>
            </a:r>
          </a:p>
        </p:txBody>
      </p:sp>
      <p:graphicFrame>
        <p:nvGraphicFramePr>
          <p:cNvPr id="18" name="对象 17"/>
          <p:cNvGraphicFramePr>
            <a:graphicFrameLocks noChangeAspect="1"/>
          </p:cNvGraphicFramePr>
          <p:nvPr>
            <p:extLst>
              <p:ext uri="{D42A27DB-BD31-4B8C-83A1-F6EECF244321}">
                <p14:modId xmlns:p14="http://schemas.microsoft.com/office/powerpoint/2010/main" val="3710348482"/>
              </p:ext>
            </p:extLst>
          </p:nvPr>
        </p:nvGraphicFramePr>
        <p:xfrm>
          <a:off x="2083090" y="4971923"/>
          <a:ext cx="2041954" cy="659307"/>
        </p:xfrm>
        <a:graphic>
          <a:graphicData uri="http://schemas.openxmlformats.org/presentationml/2006/ole">
            <mc:AlternateContent xmlns:mc="http://schemas.openxmlformats.org/markup-compatibility/2006">
              <mc:Choice xmlns:v="urn:schemas-microsoft-com:vml" Requires="v">
                <p:oleObj spid="_x0000_s209950" name="Equation" r:id="rId11" imgW="2734044" imgH="882392" progId="Equation.DSMT4">
                  <p:embed/>
                </p:oleObj>
              </mc:Choice>
              <mc:Fallback>
                <p:oleObj name="Equation" r:id="rId11" imgW="2734044" imgH="882392" progId="Equation.DSMT4">
                  <p:embed/>
                  <p:pic>
                    <p:nvPicPr>
                      <p:cNvPr id="0" name=""/>
                      <p:cNvPicPr/>
                      <p:nvPr/>
                    </p:nvPicPr>
                    <p:blipFill>
                      <a:blip r:embed="rId12"/>
                      <a:stretch>
                        <a:fillRect/>
                      </a:stretch>
                    </p:blipFill>
                    <p:spPr>
                      <a:xfrm>
                        <a:off x="2083090" y="4971923"/>
                        <a:ext cx="2041954" cy="659307"/>
                      </a:xfrm>
                      <a:prstGeom prst="rect">
                        <a:avLst/>
                      </a:prstGeom>
                    </p:spPr>
                  </p:pic>
                </p:oleObj>
              </mc:Fallback>
            </mc:AlternateContent>
          </a:graphicData>
        </a:graphic>
      </p:graphicFrame>
      <p:sp>
        <p:nvSpPr>
          <p:cNvPr id="19" name="矩形 18"/>
          <p:cNvSpPr/>
          <p:nvPr/>
        </p:nvSpPr>
        <p:spPr>
          <a:xfrm>
            <a:off x="51765" y="5949880"/>
            <a:ext cx="2031325" cy="369332"/>
          </a:xfrm>
          <a:prstGeom prst="rect">
            <a:avLst/>
          </a:prstGeom>
        </p:spPr>
        <p:txBody>
          <a:bodyPr wrap="none">
            <a:spAutoFit/>
          </a:bodyPr>
          <a:lstStyle/>
          <a:p>
            <a:r>
              <a:rPr lang="zh-CN" altLang="en-US" dirty="0"/>
              <a:t>最大混频功率增益</a:t>
            </a:r>
          </a:p>
        </p:txBody>
      </p:sp>
      <p:graphicFrame>
        <p:nvGraphicFramePr>
          <p:cNvPr id="20" name="对象 19"/>
          <p:cNvGraphicFramePr>
            <a:graphicFrameLocks noChangeAspect="1"/>
          </p:cNvGraphicFramePr>
          <p:nvPr>
            <p:extLst>
              <p:ext uri="{D42A27DB-BD31-4B8C-83A1-F6EECF244321}">
                <p14:modId xmlns:p14="http://schemas.microsoft.com/office/powerpoint/2010/main" val="162489281"/>
              </p:ext>
            </p:extLst>
          </p:nvPr>
        </p:nvGraphicFramePr>
        <p:xfrm>
          <a:off x="2057400" y="5688646"/>
          <a:ext cx="1866849" cy="781704"/>
        </p:xfrm>
        <a:graphic>
          <a:graphicData uri="http://schemas.openxmlformats.org/presentationml/2006/ole">
            <mc:AlternateContent xmlns:mc="http://schemas.openxmlformats.org/markup-compatibility/2006">
              <mc:Choice xmlns:v="urn:schemas-microsoft-com:vml" Requires="v">
                <p:oleObj spid="_x0000_s209951" name="Equation" r:id="rId13" imgW="2372937" imgH="993636" progId="Equation.DSMT4">
                  <p:embed/>
                </p:oleObj>
              </mc:Choice>
              <mc:Fallback>
                <p:oleObj name="Equation" r:id="rId13" imgW="2372937" imgH="993636" progId="Equation.DSMT4">
                  <p:embed/>
                  <p:pic>
                    <p:nvPicPr>
                      <p:cNvPr id="0" name=""/>
                      <p:cNvPicPr/>
                      <p:nvPr/>
                    </p:nvPicPr>
                    <p:blipFill>
                      <a:blip r:embed="rId14"/>
                      <a:stretch>
                        <a:fillRect/>
                      </a:stretch>
                    </p:blipFill>
                    <p:spPr>
                      <a:xfrm>
                        <a:off x="2057400" y="5688646"/>
                        <a:ext cx="1866849" cy="781704"/>
                      </a:xfrm>
                      <a:prstGeom prst="rect">
                        <a:avLst/>
                      </a:prstGeom>
                    </p:spPr>
                  </p:pic>
                </p:oleObj>
              </mc:Fallback>
            </mc:AlternateContent>
          </a:graphicData>
        </a:graphic>
      </p:graphicFrame>
    </p:spTree>
    <p:extLst>
      <p:ext uri="{BB962C8B-B14F-4D97-AF65-F5344CB8AC3E}">
        <p14:creationId xmlns:p14="http://schemas.microsoft.com/office/powerpoint/2010/main" val="67352443"/>
      </p:ext>
    </p:extLst>
  </p:cSld>
  <p:clrMapOvr>
    <a:masterClrMapping/>
  </p:clrMapOvr>
  <p:timing>
    <p:tnLst>
      <p:par>
        <p:cTn id="1" dur="indefinite" restart="never" nodeType="tmRoot"/>
      </p:par>
    </p:tnLst>
  </p:timing>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268</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5"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6.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振幅调制</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与</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解调</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 name="Rectangle 4">
            <a:extLst>
              <a:ext uri="{FF2B5EF4-FFF2-40B4-BE49-F238E27FC236}">
                <a16:creationId xmlns="" xmlns:a16="http://schemas.microsoft.com/office/drawing/2014/main" id="{C8BDE2E6-621C-9DD1-F225-3DA813C5BE6E}"/>
              </a:ext>
            </a:extLst>
          </p:cNvPr>
          <p:cNvSpPr>
            <a:spLocks noChangeArrowheads="1"/>
          </p:cNvSpPr>
          <p:nvPr/>
        </p:nvSpPr>
        <p:spPr bwMode="auto">
          <a:xfrm>
            <a:off x="1644767" y="1141774"/>
            <a:ext cx="451598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r>
              <a:rPr lang="zh-CN" altLang="en-US" sz="2400" b="0" dirty="0">
                <a:solidFill>
                  <a:schemeClr val="accent2"/>
                </a:solidFill>
                <a:latin typeface="Times New Roman" panose="02020603050405020304" pitchFamily="18" charset="0"/>
                <a:ea typeface="宋体" panose="02010600030101010101" pitchFamily="2" charset="-122"/>
                <a:cs typeface="Times New Roman" panose="02020603050405020304" pitchFamily="18" charset="0"/>
              </a:rPr>
              <a:t>二极管平衡混频器和环型混频器</a:t>
            </a:r>
          </a:p>
        </p:txBody>
      </p:sp>
      <p:sp>
        <p:nvSpPr>
          <p:cNvPr id="7" name="Rectangle 2">
            <a:extLst>
              <a:ext uri="{FF2B5EF4-FFF2-40B4-BE49-F238E27FC236}">
                <a16:creationId xmlns="" xmlns:a16="http://schemas.microsoft.com/office/drawing/2014/main" id="{DF034685-D64F-0D03-5251-91AD0D1751E8}"/>
              </a:ext>
            </a:extLst>
          </p:cNvPr>
          <p:cNvSpPr>
            <a:spLocks noChangeArrowheads="1"/>
          </p:cNvSpPr>
          <p:nvPr/>
        </p:nvSpPr>
        <p:spPr bwMode="auto">
          <a:xfrm>
            <a:off x="323850" y="2033098"/>
            <a:ext cx="8496300"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9pPr>
          </a:lstStyle>
          <a:p>
            <a:pPr algn="just" eaLnBrk="1" hangingPunct="1">
              <a:lnSpc>
                <a:spcPct val="110000"/>
              </a:lnSpc>
            </a:pPr>
            <a:r>
              <a:rPr lang="zh-CN" altLang="en-US" sz="2000" b="0" dirty="0">
                <a:latin typeface="Times New Roman" panose="02020603050405020304" pitchFamily="18" charset="0"/>
                <a:ea typeface="+mn-ea"/>
                <a:cs typeface="Times New Roman" panose="02020603050405020304" pitchFamily="18" charset="0"/>
              </a:rPr>
              <a:t>　　二极管可以工作在小信号非线性状态，也可以工作在受大信号</a:t>
            </a:r>
            <a:r>
              <a:rPr lang="en-US" altLang="zh-CN" sz="2000" b="0" i="1" dirty="0">
                <a:latin typeface="Times New Roman" panose="02020603050405020304" pitchFamily="18" charset="0"/>
                <a:ea typeface="+mn-ea"/>
                <a:cs typeface="Times New Roman" panose="02020603050405020304" pitchFamily="18" charset="0"/>
              </a:rPr>
              <a:t>v</a:t>
            </a:r>
            <a:r>
              <a:rPr lang="en-US" altLang="zh-CN" sz="2000" b="0" baseline="-30000" dirty="0">
                <a:latin typeface="Times New Roman" panose="02020603050405020304" pitchFamily="18" charset="0"/>
                <a:ea typeface="+mn-ea"/>
                <a:cs typeface="Times New Roman" panose="02020603050405020304" pitchFamily="18" charset="0"/>
              </a:rPr>
              <a:t>0</a:t>
            </a:r>
            <a:r>
              <a:rPr lang="zh-CN" altLang="en-US" sz="2000" b="0" dirty="0">
                <a:latin typeface="Times New Roman" panose="02020603050405020304" pitchFamily="18" charset="0"/>
                <a:ea typeface="+mn-ea"/>
                <a:cs typeface="Times New Roman" panose="02020603050405020304" pitchFamily="18" charset="0"/>
              </a:rPr>
              <a:t>控制的开关状态。小信号时平衡混频器的分析采用幂级数分析法，</a:t>
            </a:r>
            <a:r>
              <a:rPr lang="zh-CN" altLang="en-US" sz="2000" b="0" dirty="0">
                <a:latin typeface="Times New Roman" panose="02020603050405020304" pitchFamily="18" charset="0"/>
                <a:ea typeface="+mn-ea"/>
                <a:cs typeface="Times New Roman" panose="02020603050405020304" pitchFamily="18" charset="0"/>
                <a:sym typeface="Symbol" panose="05050102010706020507" pitchFamily="18" charset="2"/>
              </a:rPr>
              <a:t>混频时</a:t>
            </a:r>
            <a:r>
              <a:rPr lang="zh-CN" altLang="en-US" sz="2000" b="0" dirty="0" smtClean="0">
                <a:latin typeface="Times New Roman" panose="02020603050405020304" pitchFamily="18" charset="0"/>
                <a:ea typeface="+mn-ea"/>
                <a:cs typeface="Times New Roman" panose="02020603050405020304" pitchFamily="18" charset="0"/>
              </a:rPr>
              <a:t>输入信号            </a:t>
            </a:r>
            <a:r>
              <a:rPr lang="zh-CN" altLang="en-US" sz="2000" b="0" dirty="0">
                <a:latin typeface="Times New Roman" panose="02020603050405020304" pitchFamily="18" charset="0"/>
                <a:ea typeface="+mn-ea"/>
                <a:cs typeface="Times New Roman" panose="02020603050405020304" pitchFamily="18" charset="0"/>
              </a:rPr>
              <a:t>　　</a:t>
            </a:r>
            <a:r>
              <a:rPr lang="zh-CN" altLang="en-US" sz="2000" b="0" dirty="0">
                <a:latin typeface="Times New Roman" panose="02020603050405020304" pitchFamily="18" charset="0"/>
                <a:ea typeface="+mn-ea"/>
                <a:cs typeface="Times New Roman" panose="02020603050405020304" pitchFamily="18" charset="0"/>
                <a:sym typeface="Symbol" panose="05050102010706020507" pitchFamily="18" charset="2"/>
              </a:rPr>
              <a:t>，输出回路则谐振在中频</a:t>
            </a:r>
            <a:r>
              <a:rPr lang="en-US" altLang="zh-CN" sz="2000" b="0" baseline="-30000" dirty="0" err="1">
                <a:latin typeface="Times New Roman" panose="02020603050405020304" pitchFamily="18" charset="0"/>
                <a:ea typeface="+mn-ea"/>
                <a:cs typeface="Times New Roman" panose="02020603050405020304" pitchFamily="18" charset="0"/>
              </a:rPr>
              <a:t>i</a:t>
            </a:r>
            <a:r>
              <a:rPr lang="zh-CN" altLang="en-US" sz="2000" b="0" dirty="0">
                <a:latin typeface="Times New Roman" panose="02020603050405020304" pitchFamily="18" charset="0"/>
                <a:ea typeface="+mn-ea"/>
                <a:cs typeface="Times New Roman" panose="02020603050405020304" pitchFamily="18" charset="0"/>
                <a:sym typeface="Symbol" panose="05050102010706020507" pitchFamily="18" charset="2"/>
              </a:rPr>
              <a:t>上。</a:t>
            </a:r>
          </a:p>
        </p:txBody>
      </p:sp>
      <p:graphicFrame>
        <p:nvGraphicFramePr>
          <p:cNvPr id="8" name="Object 3">
            <a:extLst>
              <a:ext uri="{FF2B5EF4-FFF2-40B4-BE49-F238E27FC236}">
                <a16:creationId xmlns="" xmlns:a16="http://schemas.microsoft.com/office/drawing/2014/main" id="{ACDFCF90-FD20-DF61-B301-AEC8A585A27D}"/>
              </a:ext>
            </a:extLst>
          </p:cNvPr>
          <p:cNvGraphicFramePr>
            <a:graphicFrameLocks/>
          </p:cNvGraphicFramePr>
          <p:nvPr>
            <p:extLst>
              <p:ext uri="{D42A27DB-BD31-4B8C-83A1-F6EECF244321}">
                <p14:modId xmlns:p14="http://schemas.microsoft.com/office/powerpoint/2010/main" val="2446880879"/>
              </p:ext>
            </p:extLst>
          </p:nvPr>
        </p:nvGraphicFramePr>
        <p:xfrm>
          <a:off x="473757" y="3188080"/>
          <a:ext cx="3429000" cy="2206625"/>
        </p:xfrm>
        <a:graphic>
          <a:graphicData uri="http://schemas.openxmlformats.org/presentationml/2006/ole">
            <mc:AlternateContent xmlns:mc="http://schemas.openxmlformats.org/markup-compatibility/2006">
              <mc:Choice xmlns:v="urn:schemas-microsoft-com:vml" Requires="v">
                <p:oleObj spid="_x0000_s210958" r:id="rId3" imgW="3467129" imgH="1952473" progId="Word.Picture.8">
                  <p:embed/>
                </p:oleObj>
              </mc:Choice>
              <mc:Fallback>
                <p:oleObj r:id="rId3" imgW="3467129" imgH="1952473" progId="Word.Picture.8">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3757" y="3188080"/>
                        <a:ext cx="3429000" cy="220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 name="Rectangle 5">
            <a:extLst>
              <a:ext uri="{FF2B5EF4-FFF2-40B4-BE49-F238E27FC236}">
                <a16:creationId xmlns="" xmlns:a16="http://schemas.microsoft.com/office/drawing/2014/main" id="{3E4948F3-18C5-0058-8DE3-C1157899737E}"/>
              </a:ext>
            </a:extLst>
          </p:cNvPr>
          <p:cNvSpPr>
            <a:spLocks noChangeArrowheads="1"/>
          </p:cNvSpPr>
          <p:nvPr/>
        </p:nvSpPr>
        <p:spPr bwMode="auto">
          <a:xfrm>
            <a:off x="920234" y="5524500"/>
            <a:ext cx="2484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r>
              <a:rPr lang="zh-CN" altLang="en-US" sz="2000" b="0">
                <a:latin typeface="Times New Roman" panose="02020603050405020304" pitchFamily="18" charset="0"/>
                <a:ea typeface="+mn-ea"/>
                <a:cs typeface="Times New Roman" panose="02020603050405020304" pitchFamily="18" charset="0"/>
              </a:rPr>
              <a:t>平衡混频器原理电路</a:t>
            </a:r>
          </a:p>
        </p:txBody>
      </p:sp>
      <p:sp>
        <p:nvSpPr>
          <p:cNvPr id="10" name="Rectangle 6">
            <a:extLst>
              <a:ext uri="{FF2B5EF4-FFF2-40B4-BE49-F238E27FC236}">
                <a16:creationId xmlns="" xmlns:a16="http://schemas.microsoft.com/office/drawing/2014/main" id="{D561134A-3281-983F-644B-CAA2CDC18B74}"/>
              </a:ext>
            </a:extLst>
          </p:cNvPr>
          <p:cNvSpPr>
            <a:spLocks noChangeArrowheads="1"/>
          </p:cNvSpPr>
          <p:nvPr/>
        </p:nvSpPr>
        <p:spPr bwMode="auto">
          <a:xfrm>
            <a:off x="4211638" y="3284538"/>
            <a:ext cx="4535487" cy="2554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9pPr>
          </a:lstStyle>
          <a:p>
            <a:pPr algn="just" eaLnBrk="1" hangingPunct="1"/>
            <a:r>
              <a:rPr lang="zh-CN" altLang="en-US" sz="2000" b="0" dirty="0">
                <a:latin typeface="Times New Roman" panose="02020603050405020304" pitchFamily="18" charset="0"/>
                <a:ea typeface="+mn-ea"/>
                <a:cs typeface="Times New Roman" panose="02020603050405020304" pitchFamily="18" charset="0"/>
              </a:rPr>
              <a:t>  二极管的伏安特性可用幂级数表示：</a:t>
            </a:r>
          </a:p>
          <a:p>
            <a:pPr algn="just"/>
            <a:r>
              <a:rPr lang="zh-CN" altLang="en-US" sz="2000" b="0" dirty="0">
                <a:latin typeface="Times New Roman" panose="02020603050405020304" pitchFamily="18" charset="0"/>
                <a:ea typeface="+mn-ea"/>
                <a:cs typeface="Times New Roman" panose="02020603050405020304" pitchFamily="18" charset="0"/>
              </a:rPr>
              <a:t>                     	</a:t>
            </a:r>
          </a:p>
          <a:p>
            <a:pPr algn="just"/>
            <a:endParaRPr lang="zh-CN" altLang="en-US" sz="2000" b="0" dirty="0">
              <a:latin typeface="Times New Roman" panose="02020603050405020304" pitchFamily="18" charset="0"/>
              <a:ea typeface="+mn-ea"/>
              <a:cs typeface="Times New Roman" panose="02020603050405020304" pitchFamily="18" charset="0"/>
            </a:endParaRPr>
          </a:p>
          <a:p>
            <a:pPr algn="just"/>
            <a:r>
              <a:rPr lang="zh-CN" altLang="en-US" sz="2000" b="0" dirty="0">
                <a:latin typeface="Times New Roman" panose="02020603050405020304" pitchFamily="18" charset="0"/>
                <a:ea typeface="+mn-ea"/>
                <a:cs typeface="Times New Roman" panose="02020603050405020304" pitchFamily="18" charset="0"/>
              </a:rPr>
              <a:t>  为简化分析，忽略输出电压对二极管的反作用，则</a:t>
            </a:r>
          </a:p>
          <a:p>
            <a:pPr algn="just"/>
            <a:endParaRPr lang="zh-CN" altLang="en-US" sz="2000" b="0" dirty="0">
              <a:latin typeface="Times New Roman" panose="02020603050405020304" pitchFamily="18" charset="0"/>
              <a:ea typeface="+mn-ea"/>
              <a:cs typeface="Times New Roman" panose="02020603050405020304" pitchFamily="18" charset="0"/>
            </a:endParaRPr>
          </a:p>
          <a:p>
            <a:pPr algn="just"/>
            <a:endParaRPr lang="zh-CN" altLang="en-US" sz="2000" b="0" dirty="0">
              <a:latin typeface="Times New Roman" panose="02020603050405020304" pitchFamily="18" charset="0"/>
              <a:ea typeface="+mn-ea"/>
              <a:cs typeface="Times New Roman" panose="02020603050405020304" pitchFamily="18" charset="0"/>
            </a:endParaRPr>
          </a:p>
          <a:p>
            <a:pPr algn="just"/>
            <a:r>
              <a:rPr lang="zh-CN" altLang="en-US" sz="2000" b="0" dirty="0">
                <a:latin typeface="Times New Roman" panose="02020603050405020304" pitchFamily="18" charset="0"/>
                <a:ea typeface="+mn-ea"/>
                <a:cs typeface="Times New Roman" panose="02020603050405020304" pitchFamily="18" charset="0"/>
              </a:rPr>
              <a:t>    </a:t>
            </a:r>
          </a:p>
        </p:txBody>
      </p:sp>
      <p:graphicFrame>
        <p:nvGraphicFramePr>
          <p:cNvPr id="11" name="Object 7">
            <a:extLst>
              <a:ext uri="{FF2B5EF4-FFF2-40B4-BE49-F238E27FC236}">
                <a16:creationId xmlns="" xmlns:a16="http://schemas.microsoft.com/office/drawing/2014/main" id="{14394DC8-402D-A7F4-30B8-D7A273C1CCAC}"/>
              </a:ext>
            </a:extLst>
          </p:cNvPr>
          <p:cNvGraphicFramePr>
            <a:graphicFrameLocks/>
          </p:cNvGraphicFramePr>
          <p:nvPr>
            <p:extLst>
              <p:ext uri="{D42A27DB-BD31-4B8C-83A1-F6EECF244321}">
                <p14:modId xmlns:p14="http://schemas.microsoft.com/office/powerpoint/2010/main" val="1612713654"/>
              </p:ext>
            </p:extLst>
          </p:nvPr>
        </p:nvGraphicFramePr>
        <p:xfrm>
          <a:off x="4547822" y="3740867"/>
          <a:ext cx="4032250" cy="419100"/>
        </p:xfrm>
        <a:graphic>
          <a:graphicData uri="http://schemas.openxmlformats.org/presentationml/2006/ole">
            <mc:AlternateContent xmlns:mc="http://schemas.openxmlformats.org/markup-compatibility/2006">
              <mc:Choice xmlns:v="urn:schemas-microsoft-com:vml" Requires="v">
                <p:oleObj spid="_x0000_s210959" r:id="rId5" imgW="1930400" imgH="203200" progId="Equation.3">
                  <p:embed/>
                </p:oleObj>
              </mc:Choice>
              <mc:Fallback>
                <p:oleObj r:id="rId5" imgW="1930400" imgH="203200" progId="Equation.3">
                  <p:embed/>
                  <p:pic>
                    <p:nvPicPr>
                      <p:cNvPr id="0" name=""/>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47822" y="3740867"/>
                        <a:ext cx="403225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2" name="Object 8">
            <a:extLst>
              <a:ext uri="{FF2B5EF4-FFF2-40B4-BE49-F238E27FC236}">
                <a16:creationId xmlns="" xmlns:a16="http://schemas.microsoft.com/office/drawing/2014/main" id="{965B5AB5-1486-F8ED-D167-380809D919AB}"/>
              </a:ext>
            </a:extLst>
          </p:cNvPr>
          <p:cNvGraphicFramePr>
            <a:graphicFrameLocks/>
          </p:cNvGraphicFramePr>
          <p:nvPr>
            <p:extLst>
              <p:ext uri="{D42A27DB-BD31-4B8C-83A1-F6EECF244321}">
                <p14:modId xmlns:p14="http://schemas.microsoft.com/office/powerpoint/2010/main" val="4271200460"/>
              </p:ext>
            </p:extLst>
          </p:nvPr>
        </p:nvGraphicFramePr>
        <p:xfrm>
          <a:off x="4550419" y="5019284"/>
          <a:ext cx="4105275" cy="404812"/>
        </p:xfrm>
        <a:graphic>
          <a:graphicData uri="http://schemas.openxmlformats.org/presentationml/2006/ole">
            <mc:AlternateContent xmlns:mc="http://schemas.openxmlformats.org/markup-compatibility/2006">
              <mc:Choice xmlns:v="urn:schemas-microsoft-com:vml" Requires="v">
                <p:oleObj spid="_x0000_s210960" r:id="rId7" imgW="2222500" imgH="228600" progId="Equation.3">
                  <p:embed/>
                </p:oleObj>
              </mc:Choice>
              <mc:Fallback>
                <p:oleObj r:id="rId7" imgW="2222500" imgH="228600" progId="Equation.3">
                  <p:embed/>
                  <p:pic>
                    <p:nvPicPr>
                      <p:cNvPr id="0" name=""/>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50419" y="5019284"/>
                        <a:ext cx="4105275"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3" name="Object 9">
            <a:extLst>
              <a:ext uri="{FF2B5EF4-FFF2-40B4-BE49-F238E27FC236}">
                <a16:creationId xmlns="" xmlns:a16="http://schemas.microsoft.com/office/drawing/2014/main" id="{2B0E58E2-6AAD-F8D4-7707-9CFFAA3EB9F2}"/>
              </a:ext>
            </a:extLst>
          </p:cNvPr>
          <p:cNvGraphicFramePr>
            <a:graphicFrameLocks/>
          </p:cNvGraphicFramePr>
          <p:nvPr>
            <p:extLst>
              <p:ext uri="{D42A27DB-BD31-4B8C-83A1-F6EECF244321}">
                <p14:modId xmlns:p14="http://schemas.microsoft.com/office/powerpoint/2010/main" val="1469289852"/>
              </p:ext>
            </p:extLst>
          </p:nvPr>
        </p:nvGraphicFramePr>
        <p:xfrm>
          <a:off x="920234" y="2732105"/>
          <a:ext cx="1283711" cy="378214"/>
        </p:xfrm>
        <a:graphic>
          <a:graphicData uri="http://schemas.openxmlformats.org/presentationml/2006/ole">
            <mc:AlternateContent xmlns:mc="http://schemas.openxmlformats.org/markup-compatibility/2006">
              <mc:Choice xmlns:v="urn:schemas-microsoft-com:vml" Requires="v">
                <p:oleObj spid="_x0000_s210961" r:id="rId9" imgW="761669" imgH="228501" progId="Equation.3">
                  <p:embed/>
                </p:oleObj>
              </mc:Choice>
              <mc:Fallback>
                <p:oleObj r:id="rId9" imgW="761669" imgH="228501" progId="Equation.3">
                  <p:embed/>
                  <p:pic>
                    <p:nvPicPr>
                      <p:cNvPr id="0" name=""/>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20234" y="2732105"/>
                        <a:ext cx="1283711" cy="378214"/>
                      </a:xfrm>
                      <a:prstGeom prst="rect">
                        <a:avLst/>
                      </a:prstGeom>
                      <a:noFill/>
                      <a:ln>
                        <a:noFill/>
                      </a:ln>
                      <a:extLst/>
                    </p:spPr>
                  </p:pic>
                </p:oleObj>
              </mc:Fallback>
            </mc:AlternateContent>
          </a:graphicData>
        </a:graphic>
      </p:graphicFrame>
      <p:sp>
        <p:nvSpPr>
          <p:cNvPr id="14" name="Text Box 10">
            <a:extLst>
              <a:ext uri="{FF2B5EF4-FFF2-40B4-BE49-F238E27FC236}">
                <a16:creationId xmlns="" xmlns:a16="http://schemas.microsoft.com/office/drawing/2014/main" id="{962F8E37-C57A-D271-CD3F-B117B5A90317}"/>
              </a:ext>
            </a:extLst>
          </p:cNvPr>
          <p:cNvSpPr txBox="1">
            <a:spLocks noChangeArrowheads="1"/>
          </p:cNvSpPr>
          <p:nvPr/>
        </p:nvSpPr>
        <p:spPr bwMode="auto">
          <a:xfrm>
            <a:off x="167996" y="1564505"/>
            <a:ext cx="17956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r>
              <a:rPr lang="zh-CN" altLang="en-US" sz="2000" b="0" dirty="0">
                <a:solidFill>
                  <a:schemeClr val="accent2"/>
                </a:solidFill>
                <a:latin typeface="Times New Roman" panose="02020603050405020304" pitchFamily="18" charset="0"/>
                <a:ea typeface="+mn-ea"/>
                <a:cs typeface="Times New Roman" panose="02020603050405020304" pitchFamily="18" charset="0"/>
              </a:rPr>
              <a:t> 1. 平衡混频器</a:t>
            </a:r>
          </a:p>
        </p:txBody>
      </p:sp>
      <p:sp>
        <p:nvSpPr>
          <p:cNvPr id="15" name="Rectangle 2">
            <a:extLst>
              <a:ext uri="{FF2B5EF4-FFF2-40B4-BE49-F238E27FC236}">
                <a16:creationId xmlns="" xmlns:a16="http://schemas.microsoft.com/office/drawing/2014/main" id="{EE886F02-0391-805D-0E61-62B83984F165}"/>
              </a:ext>
            </a:extLst>
          </p:cNvPr>
          <p:cNvSpPr>
            <a:spLocks noChangeArrowheads="1"/>
          </p:cNvSpPr>
          <p:nvPr/>
        </p:nvSpPr>
        <p:spPr bwMode="auto">
          <a:xfrm>
            <a:off x="1562089" y="5394705"/>
            <a:ext cx="7848600" cy="1418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9pPr>
          </a:lstStyle>
          <a:p>
            <a:pPr algn="just" eaLnBrk="1" hangingPunct="1">
              <a:lnSpc>
                <a:spcPct val="150000"/>
              </a:lnSpc>
            </a:pPr>
            <a:endParaRPr lang="en-US" altLang="zh-CN" sz="2000" b="0" dirty="0">
              <a:latin typeface="Times New Roman" panose="02020603050405020304" pitchFamily="18" charset="0"/>
              <a:ea typeface="+mn-ea"/>
              <a:cs typeface="Times New Roman" panose="02020603050405020304" pitchFamily="18" charset="0"/>
              <a:sym typeface="Symbol" panose="05050102010706020507" pitchFamily="18" charset="2"/>
            </a:endParaRPr>
          </a:p>
          <a:p>
            <a:pPr algn="just" eaLnBrk="1" hangingPunct="1">
              <a:lnSpc>
                <a:spcPct val="150000"/>
              </a:lnSpc>
            </a:pPr>
            <a:r>
              <a:rPr lang="zh-CN" altLang="en-US" sz="2000" b="0" dirty="0">
                <a:latin typeface="Times New Roman" panose="02020603050405020304" pitchFamily="18" charset="0"/>
                <a:ea typeface="+mn-ea"/>
                <a:cs typeface="Times New Roman" panose="02020603050405020304" pitchFamily="18" charset="0"/>
                <a:sym typeface="Symbol" panose="05050102010706020507" pitchFamily="18" charset="2"/>
              </a:rPr>
              <a:t>平衡混频器输出电流的频率成份为： </a:t>
            </a:r>
            <a:endParaRPr lang="zh-CN" altLang="en-US" sz="2000" b="0" dirty="0" smtClean="0">
              <a:latin typeface="Times New Roman" panose="02020603050405020304" pitchFamily="18" charset="0"/>
              <a:ea typeface="+mn-ea"/>
              <a:cs typeface="Times New Roman" panose="02020603050405020304" pitchFamily="18" charset="0"/>
              <a:sym typeface="Symbol" panose="05050102010706020507" pitchFamily="18" charset="2"/>
            </a:endParaRPr>
          </a:p>
          <a:p>
            <a:pPr algn="just" eaLnBrk="1" hangingPunct="1">
              <a:lnSpc>
                <a:spcPct val="150000"/>
              </a:lnSpc>
            </a:pPr>
            <a:r>
              <a:rPr lang="zh-CN" altLang="en-US" sz="2000" b="0" dirty="0" smtClean="0">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sz="2000" b="0" baseline="-30000" dirty="0" smtClean="0">
                <a:latin typeface="Times New Roman" panose="02020603050405020304" pitchFamily="18" charset="0"/>
                <a:ea typeface="+mn-ea"/>
                <a:cs typeface="Times New Roman" panose="02020603050405020304" pitchFamily="18" charset="0"/>
              </a:rPr>
              <a:t>s</a:t>
            </a:r>
            <a:r>
              <a:rPr lang="en-US" altLang="zh-CN" sz="2000" b="0" dirty="0" smtClean="0">
                <a:latin typeface="Times New Roman" panose="02020603050405020304" pitchFamily="18" charset="0"/>
                <a:ea typeface="+mn-ea"/>
                <a:cs typeface="Times New Roman" panose="02020603050405020304" pitchFamily="18" charset="0"/>
                <a:sym typeface="Symbol" panose="05050102010706020507" pitchFamily="18" charset="2"/>
              </a:rPr>
              <a:t>、 </a:t>
            </a:r>
            <a:r>
              <a:rPr lang="en-US" altLang="zh-CN" sz="2000" b="0" baseline="-30000" dirty="0" smtClean="0">
                <a:latin typeface="Times New Roman" panose="02020603050405020304" pitchFamily="18" charset="0"/>
                <a:ea typeface="+mn-ea"/>
                <a:cs typeface="Times New Roman" panose="02020603050405020304" pitchFamily="18" charset="0"/>
              </a:rPr>
              <a:t>0</a:t>
            </a:r>
            <a:r>
              <a:rPr lang="en-US" altLang="zh-CN" sz="2000" b="0" dirty="0" smtClean="0">
                <a:latin typeface="Times New Roman" panose="02020603050405020304" pitchFamily="18" charset="0"/>
                <a:ea typeface="+mn-ea"/>
                <a:cs typeface="Times New Roman" panose="02020603050405020304" pitchFamily="18" charset="0"/>
                <a:sym typeface="Symbol" panose="05050102010706020507" pitchFamily="18" charset="2"/>
              </a:rPr>
              <a:t>+ </a:t>
            </a:r>
            <a:r>
              <a:rPr lang="en-US" altLang="zh-CN" sz="2000" b="0" baseline="-30000" dirty="0" smtClean="0">
                <a:latin typeface="Times New Roman" panose="02020603050405020304" pitchFamily="18" charset="0"/>
                <a:ea typeface="+mn-ea"/>
                <a:cs typeface="Times New Roman" panose="02020603050405020304" pitchFamily="18" charset="0"/>
              </a:rPr>
              <a:t>s</a:t>
            </a:r>
            <a:r>
              <a:rPr lang="en-US" altLang="zh-CN" sz="2000" b="0" dirty="0" smtClean="0">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sz="2000" b="0" baseline="-30000" dirty="0" smtClean="0">
                <a:latin typeface="Times New Roman" panose="02020603050405020304" pitchFamily="18" charset="0"/>
                <a:ea typeface="+mn-ea"/>
                <a:cs typeface="Times New Roman" panose="02020603050405020304" pitchFamily="18" charset="0"/>
              </a:rPr>
              <a:t>0</a:t>
            </a:r>
            <a:r>
              <a:rPr lang="en-US" altLang="zh-CN" sz="2000" b="0" dirty="0" smtClean="0">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sz="2000" b="0" baseline="-30000" dirty="0" smtClean="0">
                <a:latin typeface="Times New Roman" panose="02020603050405020304" pitchFamily="18" charset="0"/>
                <a:ea typeface="+mn-ea"/>
                <a:cs typeface="Times New Roman" panose="02020603050405020304" pitchFamily="18" charset="0"/>
              </a:rPr>
              <a:t>s</a:t>
            </a:r>
            <a:r>
              <a:rPr lang="en-US" altLang="zh-CN" sz="2000" b="0" dirty="0" smtClean="0">
                <a:latin typeface="Times New Roman" panose="02020603050405020304" pitchFamily="18" charset="0"/>
                <a:ea typeface="+mn-ea"/>
                <a:cs typeface="Times New Roman" panose="02020603050405020304" pitchFamily="18" charset="0"/>
                <a:sym typeface="Symbol" panose="05050102010706020507" pitchFamily="18" charset="2"/>
              </a:rPr>
              <a:t>、 2</a:t>
            </a:r>
            <a:r>
              <a:rPr lang="en-US" altLang="zh-CN" sz="2000" b="0" baseline="-30000" dirty="0" smtClean="0">
                <a:latin typeface="Times New Roman" panose="02020603050405020304" pitchFamily="18" charset="0"/>
                <a:ea typeface="+mn-ea"/>
                <a:cs typeface="Times New Roman" panose="02020603050405020304" pitchFamily="18" charset="0"/>
              </a:rPr>
              <a:t>0</a:t>
            </a:r>
            <a:r>
              <a:rPr lang="en-US" altLang="zh-CN" sz="2000" b="0" dirty="0" smtClean="0">
                <a:latin typeface="Times New Roman" panose="02020603050405020304" pitchFamily="18" charset="0"/>
                <a:ea typeface="+mn-ea"/>
                <a:cs typeface="Times New Roman" panose="02020603050405020304" pitchFamily="18" charset="0"/>
                <a:sym typeface="Symbol" panose="05050102010706020507" pitchFamily="18" charset="2"/>
              </a:rPr>
              <a:t>+s、 2</a:t>
            </a:r>
            <a:r>
              <a:rPr lang="en-US" altLang="zh-CN" sz="2000" b="0" baseline="-30000" dirty="0" smtClean="0">
                <a:latin typeface="Times New Roman" panose="02020603050405020304" pitchFamily="18" charset="0"/>
                <a:ea typeface="+mn-ea"/>
                <a:cs typeface="Times New Roman" panose="02020603050405020304" pitchFamily="18" charset="0"/>
              </a:rPr>
              <a:t>0</a:t>
            </a:r>
            <a:r>
              <a:rPr lang="en-US" altLang="zh-CN" sz="2000" b="0" dirty="0" smtClean="0">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sz="2000" b="0" baseline="-30000" dirty="0" smtClean="0">
                <a:latin typeface="Times New Roman" panose="02020603050405020304" pitchFamily="18" charset="0"/>
                <a:ea typeface="+mn-ea"/>
                <a:cs typeface="Times New Roman" panose="02020603050405020304" pitchFamily="18" charset="0"/>
              </a:rPr>
              <a:t>s、 </a:t>
            </a:r>
            <a:r>
              <a:rPr lang="en-US" altLang="zh-CN" sz="2000" b="0" dirty="0" smtClean="0">
                <a:latin typeface="Times New Roman" panose="02020603050405020304" pitchFamily="18" charset="0"/>
                <a:ea typeface="+mn-ea"/>
                <a:cs typeface="Times New Roman" panose="02020603050405020304" pitchFamily="18" charset="0"/>
                <a:sym typeface="Symbol" panose="05050102010706020507" pitchFamily="18" charset="2"/>
              </a:rPr>
              <a:t>3</a:t>
            </a:r>
            <a:r>
              <a:rPr lang="en-US" altLang="zh-CN" sz="2000" b="0" baseline="-30000" dirty="0" smtClean="0">
                <a:latin typeface="Times New Roman" panose="02020603050405020304" pitchFamily="18" charset="0"/>
                <a:ea typeface="+mn-ea"/>
                <a:cs typeface="Times New Roman" panose="02020603050405020304" pitchFamily="18" charset="0"/>
              </a:rPr>
              <a:t>s</a:t>
            </a:r>
            <a:endParaRPr lang="zh-CN" altLang="en-US" sz="2000" b="0" dirty="0">
              <a:latin typeface="Times New Roman" panose="02020603050405020304" pitchFamily="18" charset="0"/>
              <a:ea typeface="+mn-ea"/>
              <a:cs typeface="Times New Roman" panose="02020603050405020304" pitchFamily="18" charset="0"/>
              <a:sym typeface="Symbol" panose="05050102010706020507" pitchFamily="18" charset="2"/>
            </a:endParaRPr>
          </a:p>
        </p:txBody>
      </p:sp>
    </p:spTree>
    <p:extLst>
      <p:ext uri="{BB962C8B-B14F-4D97-AF65-F5344CB8AC3E}">
        <p14:creationId xmlns:p14="http://schemas.microsoft.com/office/powerpoint/2010/main" val="2536140123"/>
      </p:ext>
    </p:extLst>
  </p:cSld>
  <p:clrMapOvr>
    <a:masterClrMapping/>
  </p:clrMapOvr>
  <p:timing>
    <p:tnLst>
      <p:par>
        <p:cTn id="1" dur="indefinite" restart="never" nodeType="tmRoot"/>
      </p:par>
    </p:tnLst>
  </p:timing>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269</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5"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6.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振幅调制</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与</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解调</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 name="Rectangle 2">
            <a:extLst>
              <a:ext uri="{FF2B5EF4-FFF2-40B4-BE49-F238E27FC236}">
                <a16:creationId xmlns="" xmlns:a16="http://schemas.microsoft.com/office/drawing/2014/main" id="{604D9D9C-92D4-8309-BF97-3B6D24B15D00}"/>
              </a:ext>
            </a:extLst>
          </p:cNvPr>
          <p:cNvSpPr>
            <a:spLocks noChangeArrowheads="1"/>
          </p:cNvSpPr>
          <p:nvPr/>
        </p:nvSpPr>
        <p:spPr bwMode="auto">
          <a:xfrm>
            <a:off x="332951" y="1668870"/>
            <a:ext cx="4542270"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tabLst>
                <a:tab pos="5249863" algn="r"/>
              </a:tabLst>
              <a:defRPr sz="1600" b="1">
                <a:solidFill>
                  <a:schemeClr val="tx1"/>
                </a:solidFill>
                <a:latin typeface="楷体_GB2312" pitchFamily="49" charset="-122"/>
                <a:ea typeface="楷体_GB2312" pitchFamily="49" charset="-122"/>
              </a:defRPr>
            </a:lvl9pPr>
          </a:lstStyle>
          <a:p>
            <a:pPr algn="just" eaLnBrk="1" hangingPunct="1"/>
            <a:r>
              <a:rPr lang="zh-CN" altLang="en-US" sz="2000" b="0" dirty="0">
                <a:latin typeface="+mn-ea"/>
                <a:ea typeface="+mn-ea"/>
              </a:rPr>
              <a:t>　　环形混频器由两个平衡混频器构成，其主要优点是输出中频信号是平衡混频器的两倍，而且抵消了输出电流中的某些组合频率分量，从而减小混频器中所特有的组合频率干扰。</a:t>
            </a:r>
            <a:endParaRPr lang="zh-CN" altLang="en-US" sz="2000" b="0" dirty="0">
              <a:latin typeface="+mn-ea"/>
              <a:ea typeface="+mn-ea"/>
              <a:sym typeface="Symbol" panose="05050102010706020507" pitchFamily="18" charset="2"/>
            </a:endParaRPr>
          </a:p>
        </p:txBody>
      </p:sp>
      <p:graphicFrame>
        <p:nvGraphicFramePr>
          <p:cNvPr id="7" name="Object 4">
            <a:extLst>
              <a:ext uri="{FF2B5EF4-FFF2-40B4-BE49-F238E27FC236}">
                <a16:creationId xmlns="" xmlns:a16="http://schemas.microsoft.com/office/drawing/2014/main" id="{37F522F7-0A89-B46A-8394-6DABC8001328}"/>
              </a:ext>
            </a:extLst>
          </p:cNvPr>
          <p:cNvGraphicFramePr>
            <a:graphicFrameLocks/>
          </p:cNvGraphicFramePr>
          <p:nvPr>
            <p:extLst>
              <p:ext uri="{D42A27DB-BD31-4B8C-83A1-F6EECF244321}">
                <p14:modId xmlns:p14="http://schemas.microsoft.com/office/powerpoint/2010/main" val="2092910220"/>
              </p:ext>
            </p:extLst>
          </p:nvPr>
        </p:nvGraphicFramePr>
        <p:xfrm>
          <a:off x="5141445" y="1268760"/>
          <a:ext cx="2927350" cy="2322512"/>
        </p:xfrm>
        <a:graphic>
          <a:graphicData uri="http://schemas.openxmlformats.org/presentationml/2006/ole">
            <mc:AlternateContent xmlns:mc="http://schemas.openxmlformats.org/markup-compatibility/2006">
              <mc:Choice xmlns:v="urn:schemas-microsoft-com:vml" Requires="v">
                <p:oleObj spid="_x0000_s211976" r:id="rId3" imgW="2724222" imgH="2286114" progId="Word.Picture.8">
                  <p:embed/>
                </p:oleObj>
              </mc:Choice>
              <mc:Fallback>
                <p:oleObj r:id="rId3" imgW="2724222" imgH="2286114" progId="Word.Picture.8">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41445" y="1268760"/>
                        <a:ext cx="2927350" cy="2322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 name="Object 6">
            <a:extLst>
              <a:ext uri="{FF2B5EF4-FFF2-40B4-BE49-F238E27FC236}">
                <a16:creationId xmlns="" xmlns:a16="http://schemas.microsoft.com/office/drawing/2014/main" id="{1BB974BF-675F-3988-8C6D-9AEEB63C7F01}"/>
              </a:ext>
            </a:extLst>
          </p:cNvPr>
          <p:cNvGraphicFramePr>
            <a:graphicFrameLocks/>
          </p:cNvGraphicFramePr>
          <p:nvPr>
            <p:extLst>
              <p:ext uri="{D42A27DB-BD31-4B8C-83A1-F6EECF244321}">
                <p14:modId xmlns:p14="http://schemas.microsoft.com/office/powerpoint/2010/main" val="2834282419"/>
              </p:ext>
            </p:extLst>
          </p:nvPr>
        </p:nvGraphicFramePr>
        <p:xfrm>
          <a:off x="1106141" y="3591272"/>
          <a:ext cx="5885703" cy="2376577"/>
        </p:xfrm>
        <a:graphic>
          <a:graphicData uri="http://schemas.openxmlformats.org/presentationml/2006/ole">
            <mc:AlternateContent xmlns:mc="http://schemas.openxmlformats.org/markup-compatibility/2006">
              <mc:Choice xmlns:v="urn:schemas-microsoft-com:vml" Requires="v">
                <p:oleObj spid="_x0000_s211977" r:id="rId5" imgW="5552996" imgH="2457564" progId="Word.Picture.8">
                  <p:embed/>
                </p:oleObj>
              </mc:Choice>
              <mc:Fallback>
                <p:oleObj r:id="rId5" imgW="5552996" imgH="2457564" progId="Word.Picture.8">
                  <p:embed/>
                  <p:pic>
                    <p:nvPicPr>
                      <p:cNvPr id="0" name=""/>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06141" y="3591272"/>
                        <a:ext cx="5885703" cy="2376577"/>
                      </a:xfrm>
                      <a:prstGeom prst="rect">
                        <a:avLst/>
                      </a:prstGeom>
                      <a:noFill/>
                      <a:ln>
                        <a:noFill/>
                      </a:ln>
                      <a:extLst/>
                    </p:spPr>
                  </p:pic>
                </p:oleObj>
              </mc:Fallback>
            </mc:AlternateContent>
          </a:graphicData>
        </a:graphic>
      </p:graphicFrame>
      <p:sp>
        <p:nvSpPr>
          <p:cNvPr id="9" name="Rectangle 7">
            <a:extLst>
              <a:ext uri="{FF2B5EF4-FFF2-40B4-BE49-F238E27FC236}">
                <a16:creationId xmlns="" xmlns:a16="http://schemas.microsoft.com/office/drawing/2014/main" id="{30C028AD-087A-AEF2-4A78-C4DD8426AB22}"/>
              </a:ext>
            </a:extLst>
          </p:cNvPr>
          <p:cNvSpPr>
            <a:spLocks noChangeArrowheads="1"/>
          </p:cNvSpPr>
          <p:nvPr/>
        </p:nvSpPr>
        <p:spPr bwMode="auto">
          <a:xfrm>
            <a:off x="467544" y="1268760"/>
            <a:ext cx="186461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r>
              <a:rPr lang="zh-CN" altLang="en-US" sz="2000" b="0" dirty="0">
                <a:solidFill>
                  <a:schemeClr val="accent2"/>
                </a:solidFill>
                <a:latin typeface="+mn-ea"/>
                <a:ea typeface="+mn-ea"/>
              </a:rPr>
              <a:t>2. 环形混频器</a:t>
            </a:r>
          </a:p>
        </p:txBody>
      </p:sp>
      <p:sp>
        <p:nvSpPr>
          <p:cNvPr id="10" name="Rectangle 1033">
            <a:extLst>
              <a:ext uri="{FF2B5EF4-FFF2-40B4-BE49-F238E27FC236}">
                <a16:creationId xmlns="" xmlns:a16="http://schemas.microsoft.com/office/drawing/2014/main" id="{3F5DADF3-0552-8DB8-3148-D348BFC104B8}"/>
              </a:ext>
            </a:extLst>
          </p:cNvPr>
          <p:cNvSpPr>
            <a:spLocks noChangeArrowheads="1"/>
          </p:cNvSpPr>
          <p:nvPr/>
        </p:nvSpPr>
        <p:spPr bwMode="auto">
          <a:xfrm>
            <a:off x="1306998" y="6034102"/>
            <a:ext cx="639790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1600" b="1">
                <a:solidFill>
                  <a:schemeClr val="tx1"/>
                </a:solidFill>
                <a:latin typeface="楷体_GB2312" pitchFamily="49" charset="-122"/>
                <a:ea typeface="楷体_GB2312" pitchFamily="49" charset="-122"/>
              </a:defRPr>
            </a:lvl1pPr>
            <a:lvl2pPr marL="742950" indent="-285750">
              <a:buFont typeface="Arial" panose="020B0604020202020204" pitchFamily="34" charset="0"/>
              <a:defRPr sz="1600" b="1">
                <a:solidFill>
                  <a:schemeClr val="tx1"/>
                </a:solidFill>
                <a:latin typeface="楷体_GB2312" pitchFamily="49" charset="-122"/>
                <a:ea typeface="楷体_GB2312" pitchFamily="49" charset="-122"/>
              </a:defRPr>
            </a:lvl2pPr>
            <a:lvl3pPr marL="1143000" indent="-228600">
              <a:buFont typeface="Arial" panose="020B0604020202020204" pitchFamily="34" charset="0"/>
              <a:defRPr sz="1600" b="1">
                <a:solidFill>
                  <a:schemeClr val="tx1"/>
                </a:solidFill>
                <a:latin typeface="楷体_GB2312" pitchFamily="49" charset="-122"/>
                <a:ea typeface="楷体_GB2312" pitchFamily="49" charset="-122"/>
              </a:defRPr>
            </a:lvl3pPr>
            <a:lvl4pPr marL="1600200" indent="-228600">
              <a:buFont typeface="Arial" panose="020B0604020202020204" pitchFamily="34" charset="0"/>
              <a:defRPr sz="1600" b="1">
                <a:solidFill>
                  <a:schemeClr val="tx1"/>
                </a:solidFill>
                <a:latin typeface="楷体_GB2312" pitchFamily="49" charset="-122"/>
                <a:ea typeface="楷体_GB2312" pitchFamily="49" charset="-122"/>
              </a:defRPr>
            </a:lvl4pPr>
            <a:lvl5pPr marL="2057400" indent="-228600">
              <a:buFont typeface="Arial" panose="020B0604020202020204" pitchFamily="34" charset="0"/>
              <a:defRPr sz="16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buFont typeface="Arial" panose="020B0604020202020204" pitchFamily="34" charset="0"/>
              <a:defRPr sz="1600" b="1">
                <a:solidFill>
                  <a:schemeClr val="tx1"/>
                </a:solidFill>
                <a:latin typeface="楷体_GB2312" pitchFamily="49" charset="-122"/>
                <a:ea typeface="楷体_GB2312" pitchFamily="49" charset="-122"/>
              </a:defRPr>
            </a:lvl9pPr>
          </a:lstStyle>
          <a:p>
            <a:pPr eaLnBrk="1" hangingPunct="1"/>
            <a:r>
              <a:rPr lang="zh-CN" altLang="en-US" sz="2000" b="0" dirty="0">
                <a:latin typeface="宋体" panose="02010600030101010101" pitchFamily="2" charset="-122"/>
                <a:ea typeface="宋体" panose="02010600030101010101" pitchFamily="2" charset="-122"/>
                <a:sym typeface="Symbol" panose="05050102010706020507" pitchFamily="18" charset="2"/>
              </a:rPr>
              <a:t>环型混频器输出电流的频率成份为：  </a:t>
            </a:r>
            <a:r>
              <a:rPr lang="zh-CN" altLang="en-US" sz="2000" b="0" baseline="-30000" dirty="0">
                <a:latin typeface="宋体" panose="02010600030101010101" pitchFamily="2" charset="-122"/>
                <a:ea typeface="宋体" panose="02010600030101010101" pitchFamily="2" charset="-122"/>
              </a:rPr>
              <a:t>0</a:t>
            </a:r>
            <a:r>
              <a:rPr lang="zh-CN" altLang="en-US" sz="2000" b="0" dirty="0">
                <a:latin typeface="宋体" panose="02010600030101010101" pitchFamily="2" charset="-122"/>
                <a:ea typeface="宋体" panose="02010600030101010101" pitchFamily="2" charset="-122"/>
                <a:sym typeface="Symbol" panose="05050102010706020507" pitchFamily="18" charset="2"/>
              </a:rPr>
              <a:t>+ </a:t>
            </a:r>
            <a:r>
              <a:rPr lang="en-US" altLang="zh-CN" sz="2000" b="0" baseline="-30000" dirty="0">
                <a:latin typeface="宋体" panose="02010600030101010101" pitchFamily="2" charset="-122"/>
                <a:ea typeface="宋体" panose="02010600030101010101" pitchFamily="2" charset="-122"/>
              </a:rPr>
              <a:t>s</a:t>
            </a:r>
            <a:r>
              <a:rPr lang="en-US" altLang="zh-CN" sz="2000" b="0" dirty="0">
                <a:latin typeface="宋体" panose="02010600030101010101" pitchFamily="2" charset="-122"/>
                <a:ea typeface="宋体" panose="02010600030101010101" pitchFamily="2" charset="-122"/>
                <a:sym typeface="Symbol" panose="05050102010706020507" pitchFamily="18" charset="2"/>
              </a:rPr>
              <a:t>、</a:t>
            </a:r>
            <a:r>
              <a:rPr lang="en-US" altLang="zh-CN" sz="2000" b="0" baseline="-30000" dirty="0">
                <a:latin typeface="宋体" panose="02010600030101010101" pitchFamily="2" charset="-122"/>
                <a:ea typeface="宋体" panose="02010600030101010101" pitchFamily="2" charset="-122"/>
              </a:rPr>
              <a:t>0</a:t>
            </a:r>
            <a:r>
              <a:rPr lang="en-US" altLang="zh-CN" sz="2000" b="0" dirty="0">
                <a:latin typeface="宋体" panose="02010600030101010101" pitchFamily="2" charset="-122"/>
                <a:ea typeface="宋体" panose="02010600030101010101" pitchFamily="2" charset="-122"/>
                <a:sym typeface="Symbol" panose="05050102010706020507" pitchFamily="18" charset="2"/>
              </a:rPr>
              <a:t>–</a:t>
            </a:r>
            <a:r>
              <a:rPr lang="en-US" altLang="zh-CN" sz="2000" b="0" baseline="-30000" dirty="0">
                <a:latin typeface="宋体" panose="02010600030101010101" pitchFamily="2" charset="-122"/>
                <a:ea typeface="宋体" panose="02010600030101010101" pitchFamily="2" charset="-122"/>
              </a:rPr>
              <a:t>s</a:t>
            </a:r>
          </a:p>
        </p:txBody>
      </p:sp>
    </p:spTree>
    <p:extLst>
      <p:ext uri="{BB962C8B-B14F-4D97-AF65-F5344CB8AC3E}">
        <p14:creationId xmlns:p14="http://schemas.microsoft.com/office/powerpoint/2010/main" val="3179920995"/>
      </p:ext>
    </p:extLst>
  </p:cSld>
  <p:clrMapOvr>
    <a:masterClrMapping/>
  </p:clrMapOvr>
  <p:timing>
    <p:tnLst>
      <p:par>
        <p:cTn id="1" dur="indefinite" restart="never" nodeType="tmRoot"/>
      </p:par>
    </p:tnLst>
  </p:timing>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dirty="0">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270</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4" name="Rectangle 7"/>
          <p:cNvSpPr>
            <a:spLocks noChangeArrowheads="1"/>
          </p:cNvSpPr>
          <p:nvPr/>
        </p:nvSpPr>
        <p:spPr bwMode="auto">
          <a:xfrm>
            <a:off x="635000" y="1557338"/>
            <a:ext cx="7848600" cy="4228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defRPr/>
            </a:pPr>
            <a:r>
              <a:rPr lang="en-US" altLang="zh-CN" sz="3200" dirty="0" smtClean="0">
                <a:ln w="0"/>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1  </a:t>
            </a:r>
            <a:r>
              <a:rPr lang="zh-CN" altLang="en-US" sz="3200" dirty="0" smtClean="0">
                <a:ln w="0"/>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通信电子线路概论</a:t>
            </a:r>
            <a:endParaRPr lang="en-US" altLang="zh-CN" sz="3200" dirty="0" smtClean="0">
              <a:ln w="0"/>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endParaRPr>
          </a:p>
          <a:p>
            <a:pPr fontAlgn="base">
              <a:lnSpc>
                <a:spcPct val="120000"/>
              </a:lnSpc>
              <a:spcBef>
                <a:spcPct val="0"/>
              </a:spcBef>
              <a:spcAft>
                <a:spcPct val="0"/>
              </a:spcAft>
              <a:buFontTx/>
              <a:buNone/>
              <a:defRPr/>
            </a:pPr>
            <a:r>
              <a:rPr lang="en-US" altLang="zh-CN" sz="3200" dirty="0">
                <a:ln w="0"/>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2  </a:t>
            </a:r>
            <a:r>
              <a:rPr lang="zh-CN" altLang="en-US" sz="3200" dirty="0">
                <a:ln w="0"/>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高频基础电路</a:t>
            </a:r>
          </a:p>
          <a:p>
            <a:pPr fontAlgn="base">
              <a:lnSpc>
                <a:spcPct val="120000"/>
              </a:lnSpc>
              <a:spcBef>
                <a:spcPct val="0"/>
              </a:spcBef>
              <a:spcAft>
                <a:spcPct val="0"/>
              </a:spcAft>
              <a:buNone/>
              <a:defRPr/>
            </a:pPr>
            <a:r>
              <a:rPr lang="en-US" altLang="zh-CN" sz="3200" dirty="0" smtClean="0">
                <a:ln w="0"/>
                <a:solidFill>
                  <a:srgbClr val="00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3  </a:t>
            </a:r>
            <a:r>
              <a:rPr lang="zh-CN" altLang="en-US" sz="3200" dirty="0" smtClean="0">
                <a:ln w="0"/>
                <a:solidFill>
                  <a:srgbClr val="00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高频</a:t>
            </a:r>
            <a:r>
              <a:rPr lang="zh-CN" altLang="en-US" sz="3200" dirty="0">
                <a:ln w="0"/>
                <a:solidFill>
                  <a:srgbClr val="00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小信号</a:t>
            </a:r>
            <a:r>
              <a:rPr lang="zh-CN" altLang="en-US" sz="3200" dirty="0" smtClean="0">
                <a:ln w="0"/>
                <a:solidFill>
                  <a:srgbClr val="00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放大器</a:t>
            </a:r>
          </a:p>
          <a:p>
            <a:pPr fontAlgn="base">
              <a:lnSpc>
                <a:spcPct val="120000"/>
              </a:lnSpc>
              <a:spcBef>
                <a:spcPct val="0"/>
              </a:spcBef>
              <a:spcAft>
                <a:spcPct val="0"/>
              </a:spcAft>
              <a:buFontTx/>
              <a:buNone/>
              <a:defRPr/>
            </a:pPr>
            <a:r>
              <a:rPr lang="en-US" altLang="zh-CN" sz="3200" dirty="0" smtClean="0">
                <a:ln w="0"/>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4  </a:t>
            </a:r>
            <a:r>
              <a:rPr lang="zh-CN" altLang="en-US" sz="3200" dirty="0" smtClean="0">
                <a:ln w="0"/>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谐振功率放大器</a:t>
            </a:r>
          </a:p>
          <a:p>
            <a:pPr fontAlgn="base">
              <a:lnSpc>
                <a:spcPct val="120000"/>
              </a:lnSpc>
              <a:spcBef>
                <a:spcPct val="0"/>
              </a:spcBef>
              <a:spcAft>
                <a:spcPct val="0"/>
              </a:spcAft>
              <a:buFontTx/>
              <a:buNone/>
              <a:defRPr/>
            </a:pPr>
            <a:r>
              <a:rPr lang="en-US" altLang="zh-CN" sz="3200" dirty="0" smtClean="0">
                <a:ln w="0"/>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5  </a:t>
            </a:r>
            <a:r>
              <a:rPr lang="zh-CN" altLang="en-US" sz="3200" dirty="0" smtClean="0">
                <a:ln w="0"/>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正弦波振荡器</a:t>
            </a:r>
          </a:p>
          <a:p>
            <a:pPr fontAlgn="base">
              <a:lnSpc>
                <a:spcPct val="120000"/>
              </a:lnSpc>
              <a:spcBef>
                <a:spcPct val="0"/>
              </a:spcBef>
              <a:spcAft>
                <a:spcPct val="0"/>
              </a:spcAft>
              <a:buNone/>
              <a:defRPr/>
            </a:pPr>
            <a:r>
              <a:rPr lang="en-US" altLang="zh-CN" sz="3200" dirty="0" smtClean="0">
                <a:ln w="0"/>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6  </a:t>
            </a:r>
            <a:r>
              <a:rPr lang="zh-CN" altLang="en-US" sz="3200" dirty="0" smtClean="0">
                <a:ln w="0"/>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振幅调制</a:t>
            </a:r>
            <a:r>
              <a:rPr lang="zh-CN" altLang="en-US" sz="3200" dirty="0">
                <a:ln w="0"/>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与</a:t>
            </a:r>
            <a:r>
              <a:rPr lang="zh-CN" altLang="en-US" sz="3200" dirty="0" smtClean="0">
                <a:ln w="0"/>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解调</a:t>
            </a:r>
            <a:endParaRPr lang="en-US" altLang="zh-CN" sz="3200" dirty="0" smtClean="0">
              <a:ln w="0"/>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endParaRPr>
          </a:p>
          <a:p>
            <a:pPr fontAlgn="base">
              <a:lnSpc>
                <a:spcPct val="120000"/>
              </a:lnSpc>
              <a:spcBef>
                <a:spcPct val="0"/>
              </a:spcBef>
              <a:spcAft>
                <a:spcPct val="0"/>
              </a:spcAft>
              <a:buNone/>
              <a:defRPr/>
            </a:pPr>
            <a:r>
              <a:rPr lang="en-US" altLang="zh-CN" sz="3200" dirty="0" smtClean="0">
                <a:ln w="0"/>
                <a:solidFill>
                  <a:srgbClr val="FF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7  </a:t>
            </a:r>
            <a:r>
              <a:rPr lang="zh-CN" altLang="en-US" sz="3200" dirty="0" smtClean="0">
                <a:ln w="0"/>
                <a:solidFill>
                  <a:srgbClr val="FF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角度</a:t>
            </a:r>
            <a:r>
              <a:rPr lang="zh-CN" altLang="en-US" sz="3200" dirty="0">
                <a:ln w="0"/>
                <a:solidFill>
                  <a:srgbClr val="FF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调制与</a:t>
            </a:r>
            <a:r>
              <a:rPr lang="zh-CN" altLang="en-US" sz="3200" dirty="0" smtClean="0">
                <a:ln w="0"/>
                <a:solidFill>
                  <a:srgbClr val="FF0000"/>
                </a:solidFill>
                <a:effectLst>
                  <a:glow rad="63500">
                    <a:srgbClr val="FFFFFF">
                      <a:satMod val="175000"/>
                      <a:alpha val="40000"/>
                    </a:srgbClr>
                  </a:glow>
                  <a:outerShdw blurRad="38100" dist="19050" dir="2700000" algn="tl" rotWithShape="0">
                    <a:srgbClr val="000000">
                      <a:alpha val="40000"/>
                    </a:srgbClr>
                  </a:outerShdw>
                </a:effectLst>
                <a:latin typeface="Times New Roman" panose="02020603050405020304" pitchFamily="18" charset="0"/>
                <a:ea typeface="楷体" panose="02010609060101010101" pitchFamily="49" charset="-122"/>
                <a:cs typeface="Times New Roman" panose="02020603050405020304" pitchFamily="18" charset="0"/>
              </a:rPr>
              <a:t>解调</a:t>
            </a:r>
          </a:p>
        </p:txBody>
      </p:sp>
      <p:sp>
        <p:nvSpPr>
          <p:cNvPr id="5"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目录</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445073184"/>
      </p:ext>
    </p:extLst>
  </p:cSld>
  <p:clrMapOvr>
    <a:masterClrMapping/>
  </p:clrMapOvr>
  <p:timing>
    <p:tnLst>
      <p:par>
        <p:cTn id="1" dur="indefinite" restart="never" nodeType="tmRoot"/>
      </p:par>
    </p:tnLst>
  </p:timing>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271</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11"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7.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角度调制</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与</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解调</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2" name="文本占位符 8193">
            <a:extLst>
              <a:ext uri="{FF2B5EF4-FFF2-40B4-BE49-F238E27FC236}">
                <a16:creationId xmlns="" xmlns:a16="http://schemas.microsoft.com/office/drawing/2014/main" id="{9D3767AD-3632-C7FF-049E-E5E8B5CC2258}"/>
              </a:ext>
            </a:extLst>
          </p:cNvPr>
          <p:cNvSpPr txBox="1">
            <a:spLocks noChangeArrowheads="1"/>
          </p:cNvSpPr>
          <p:nvPr/>
        </p:nvSpPr>
        <p:spPr>
          <a:xfrm>
            <a:off x="222677" y="4486718"/>
            <a:ext cx="8850255" cy="1679402"/>
          </a:xfrm>
          <a:prstGeom prst="rect">
            <a:avLst/>
          </a:prstGeom>
        </p:spPr>
        <p:txBody>
          <a:bodyPr/>
          <a:lstStyle>
            <a:lvl1pPr marL="342900" indent="-342900" algn="l" rtl="0" eaLnBrk="0" fontAlgn="base" hangingPunct="0">
              <a:spcBef>
                <a:spcPct val="20000"/>
              </a:spcBef>
              <a:spcAft>
                <a:spcPct val="0"/>
              </a:spcAft>
              <a:buChar char="•"/>
              <a:defRPr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a:lnSpc>
                <a:spcPct val="120000"/>
              </a:lnSpc>
              <a:spcBef>
                <a:spcPts val="0"/>
              </a:spcBef>
              <a:buFont typeface="Times New Roman" panose="02020603050405020304" pitchFamily="18" charset="0"/>
              <a:buNone/>
            </a:pPr>
            <a:r>
              <a:rPr lang="zh-CN" altLang="en-US" sz="1800" kern="0" dirty="0" smtClean="0">
                <a:latin typeface="+mn-ea"/>
              </a:rPr>
              <a:t>角度</a:t>
            </a:r>
            <a:r>
              <a:rPr lang="zh-CN" altLang="en-US" sz="1800" kern="0" dirty="0">
                <a:latin typeface="+mn-ea"/>
              </a:rPr>
              <a:t>调制与解调和振幅调制与解调最大的区别在频率变换前后频谱结构的变化</a:t>
            </a:r>
            <a:r>
              <a:rPr lang="zh-CN" altLang="en-US" sz="1800" kern="0" dirty="0" smtClean="0">
                <a:latin typeface="+mn-ea"/>
              </a:rPr>
              <a:t>不同。</a:t>
            </a:r>
            <a:endParaRPr lang="zh-CN" altLang="en-US" sz="1800" kern="0" dirty="0">
              <a:latin typeface="+mn-ea"/>
            </a:endParaRPr>
          </a:p>
          <a:p>
            <a:pPr>
              <a:lnSpc>
                <a:spcPct val="120000"/>
              </a:lnSpc>
              <a:buFont typeface="Times New Roman" panose="02020603050405020304" pitchFamily="18" charset="0"/>
              <a:buNone/>
            </a:pPr>
            <a:r>
              <a:rPr lang="zh-CN" altLang="en-US" sz="1800" kern="0" dirty="0">
                <a:latin typeface="+mn-ea"/>
              </a:rPr>
              <a:t>      角度调制</a:t>
            </a:r>
            <a:r>
              <a:rPr lang="en-US" altLang="zh-CN" sz="1800" kern="0" dirty="0">
                <a:latin typeface="+mn-ea"/>
              </a:rPr>
              <a:t>:  </a:t>
            </a:r>
            <a:r>
              <a:rPr lang="zh-CN" altLang="en-US" sz="1800" kern="0" dirty="0">
                <a:solidFill>
                  <a:schemeClr val="accent2"/>
                </a:solidFill>
                <a:latin typeface="+mn-ea"/>
              </a:rPr>
              <a:t>频率变换前后频谱结构发生了变化，</a:t>
            </a:r>
          </a:p>
          <a:p>
            <a:pPr>
              <a:lnSpc>
                <a:spcPct val="120000"/>
              </a:lnSpc>
              <a:buFont typeface="Times New Roman" panose="02020603050405020304" pitchFamily="18" charset="0"/>
              <a:buNone/>
            </a:pPr>
            <a:r>
              <a:rPr lang="zh-CN" altLang="en-US" sz="1800" kern="0" dirty="0">
                <a:solidFill>
                  <a:schemeClr val="accent2"/>
                </a:solidFill>
                <a:latin typeface="+mn-ea"/>
              </a:rPr>
              <a:t>                 属于非线性频率变换</a:t>
            </a:r>
            <a:r>
              <a:rPr lang="zh-CN" altLang="en-US" sz="1800" kern="0" dirty="0" smtClean="0">
                <a:solidFill>
                  <a:schemeClr val="accent2"/>
                </a:solidFill>
                <a:latin typeface="+mn-ea"/>
              </a:rPr>
              <a:t>。</a:t>
            </a:r>
            <a:endParaRPr lang="zh-CN" altLang="en-US" sz="1800" kern="0" dirty="0">
              <a:latin typeface="+mn-ea"/>
            </a:endParaRPr>
          </a:p>
          <a:p>
            <a:pPr>
              <a:lnSpc>
                <a:spcPct val="120000"/>
              </a:lnSpc>
              <a:buFont typeface="Times New Roman" panose="02020603050405020304" pitchFamily="18" charset="0"/>
              <a:buNone/>
            </a:pPr>
            <a:r>
              <a:rPr lang="zh-CN" altLang="en-US" sz="1800" kern="0" dirty="0">
                <a:latin typeface="+mn-ea"/>
              </a:rPr>
              <a:t>      角度调制的主要优点</a:t>
            </a:r>
            <a:r>
              <a:rPr lang="en-US" altLang="zh-CN" sz="1800" kern="0" dirty="0">
                <a:latin typeface="+mn-ea"/>
              </a:rPr>
              <a:t>: </a:t>
            </a:r>
            <a:r>
              <a:rPr lang="zh-CN" altLang="en-US" sz="1800" kern="0" dirty="0">
                <a:latin typeface="+mn-ea"/>
              </a:rPr>
              <a:t>抗干扰性</a:t>
            </a:r>
            <a:r>
              <a:rPr lang="zh-CN" altLang="en-US" sz="1800" kern="0" dirty="0" smtClean="0">
                <a:latin typeface="+mn-ea"/>
              </a:rPr>
              <a:t>强。</a:t>
            </a:r>
            <a:endParaRPr lang="en-US" altLang="zh-CN" sz="1800" kern="0" dirty="0" smtClean="0">
              <a:latin typeface="+mn-ea"/>
            </a:endParaRPr>
          </a:p>
          <a:p>
            <a:pPr>
              <a:lnSpc>
                <a:spcPct val="120000"/>
              </a:lnSpc>
              <a:buFont typeface="Times New Roman" panose="02020603050405020304" pitchFamily="18" charset="0"/>
              <a:buNone/>
            </a:pPr>
            <a:r>
              <a:rPr lang="en-US" altLang="zh-CN" sz="1800" kern="0" dirty="0">
                <a:latin typeface="+mn-ea"/>
              </a:rPr>
              <a:t> </a:t>
            </a:r>
            <a:r>
              <a:rPr lang="en-US" altLang="zh-CN" sz="1800" kern="0" dirty="0" smtClean="0">
                <a:latin typeface="+mn-ea"/>
              </a:rPr>
              <a:t>     </a:t>
            </a:r>
            <a:r>
              <a:rPr lang="zh-CN" altLang="en-US" sz="1800" kern="0" dirty="0" smtClean="0">
                <a:latin typeface="+mn-ea"/>
              </a:rPr>
              <a:t>角度</a:t>
            </a:r>
            <a:r>
              <a:rPr lang="zh-CN" altLang="en-US" sz="1800" kern="0" dirty="0">
                <a:latin typeface="+mn-ea"/>
              </a:rPr>
              <a:t>调制的主要缺点</a:t>
            </a:r>
            <a:r>
              <a:rPr lang="en-US" altLang="zh-CN" sz="1800" kern="0" dirty="0">
                <a:latin typeface="+mn-ea"/>
              </a:rPr>
              <a:t>: </a:t>
            </a:r>
            <a:r>
              <a:rPr lang="zh-CN" altLang="en-US" sz="1800" kern="0" dirty="0">
                <a:latin typeface="+mn-ea"/>
              </a:rPr>
              <a:t>占据频带宽，频带利用不经济。</a:t>
            </a:r>
          </a:p>
        </p:txBody>
      </p:sp>
      <p:pic>
        <p:nvPicPr>
          <p:cNvPr id="4" name="图片 3"/>
          <p:cNvPicPr>
            <a:picLocks noChangeAspect="1"/>
          </p:cNvPicPr>
          <p:nvPr/>
        </p:nvPicPr>
        <p:blipFill>
          <a:blip r:embed="rId2">
            <a:clrChange>
              <a:clrFrom>
                <a:srgbClr val="FFFFFF"/>
              </a:clrFrom>
              <a:clrTo>
                <a:srgbClr val="FFFFFF">
                  <a:alpha val="0"/>
                </a:srgbClr>
              </a:clrTo>
            </a:clrChange>
          </a:blip>
          <a:stretch>
            <a:fillRect/>
          </a:stretch>
        </p:blipFill>
        <p:spPr>
          <a:xfrm>
            <a:off x="222677" y="1641746"/>
            <a:ext cx="4498573" cy="2537015"/>
          </a:xfrm>
          <a:prstGeom prst="rect">
            <a:avLst/>
          </a:prstGeom>
        </p:spPr>
      </p:pic>
      <p:pic>
        <p:nvPicPr>
          <p:cNvPr id="89" name="图片 88"/>
          <p:cNvPicPr>
            <a:picLocks noChangeAspect="1"/>
          </p:cNvPicPr>
          <p:nvPr/>
        </p:nvPicPr>
        <p:blipFill>
          <a:blip r:embed="rId3">
            <a:clrChange>
              <a:clrFrom>
                <a:srgbClr val="FFFFFF"/>
              </a:clrFrom>
              <a:clrTo>
                <a:srgbClr val="FFFFFF">
                  <a:alpha val="0"/>
                </a:srgbClr>
              </a:clrTo>
            </a:clrChange>
          </a:blip>
          <a:stretch>
            <a:fillRect/>
          </a:stretch>
        </p:blipFill>
        <p:spPr>
          <a:xfrm>
            <a:off x="4749528" y="1810763"/>
            <a:ext cx="4323404" cy="2544849"/>
          </a:xfrm>
          <a:prstGeom prst="rect">
            <a:avLst/>
          </a:prstGeom>
        </p:spPr>
      </p:pic>
    </p:spTree>
    <p:extLst>
      <p:ext uri="{BB962C8B-B14F-4D97-AF65-F5344CB8AC3E}">
        <p14:creationId xmlns:p14="http://schemas.microsoft.com/office/powerpoint/2010/main" val="169147094"/>
      </p:ext>
    </p:extLst>
  </p:cSld>
  <p:clrMapOvr>
    <a:masterClrMapping/>
  </p:clrMapOvr>
  <p:timing>
    <p:tnLst>
      <p:par>
        <p:cTn id="1" dur="indefinite" restart="never" nodeType="tmRoot"/>
      </p:par>
    </p:tnLst>
  </p:timing>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272</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11"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7.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角度调制</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与</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解调</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2" name="文本框 22529">
            <a:extLst>
              <a:ext uri="{FF2B5EF4-FFF2-40B4-BE49-F238E27FC236}">
                <a16:creationId xmlns="" xmlns:a16="http://schemas.microsoft.com/office/drawing/2014/main" id="{02DE0871-27F2-5A3B-4711-CEF004D2AC69}"/>
              </a:ext>
            </a:extLst>
          </p:cNvPr>
          <p:cNvSpPr txBox="1">
            <a:spLocks noChangeArrowheads="1"/>
          </p:cNvSpPr>
          <p:nvPr/>
        </p:nvSpPr>
        <p:spPr bwMode="auto">
          <a:xfrm>
            <a:off x="323850" y="1340768"/>
            <a:ext cx="731963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r>
              <a:rPr lang="zh-CN" altLang="en-US" sz="2000" b="1" dirty="0">
                <a:solidFill>
                  <a:schemeClr val="tx1"/>
                </a:solidFill>
                <a:latin typeface="+mn-ea"/>
                <a:ea typeface="+mn-ea"/>
              </a:rPr>
              <a:t>表</a:t>
            </a:r>
            <a:r>
              <a:rPr lang="en-US" altLang="zh-CN" sz="2000" b="1" dirty="0">
                <a:solidFill>
                  <a:schemeClr val="tx1"/>
                </a:solidFill>
                <a:latin typeface="+mn-ea"/>
                <a:ea typeface="+mn-ea"/>
              </a:rPr>
              <a:t>7-1  FM</a:t>
            </a:r>
            <a:r>
              <a:rPr lang="zh-CN" altLang="en-US" sz="2000" b="1" dirty="0">
                <a:solidFill>
                  <a:schemeClr val="tx1"/>
                </a:solidFill>
                <a:latin typeface="+mn-ea"/>
                <a:ea typeface="+mn-ea"/>
              </a:rPr>
              <a:t>波和</a:t>
            </a:r>
            <a:r>
              <a:rPr lang="en-US" altLang="zh-CN" sz="2000" b="1" dirty="0">
                <a:solidFill>
                  <a:schemeClr val="tx1"/>
                </a:solidFill>
                <a:latin typeface="+mn-ea"/>
                <a:ea typeface="+mn-ea"/>
              </a:rPr>
              <a:t>PM</a:t>
            </a:r>
            <a:r>
              <a:rPr lang="zh-CN" altLang="en-US" sz="2000" b="1" dirty="0">
                <a:solidFill>
                  <a:schemeClr val="tx1"/>
                </a:solidFill>
                <a:latin typeface="+mn-ea"/>
                <a:ea typeface="+mn-ea"/>
              </a:rPr>
              <a:t>波的比较</a:t>
            </a:r>
            <a:r>
              <a:rPr lang="en-US" altLang="zh-CN" sz="2000" b="1" dirty="0">
                <a:solidFill>
                  <a:schemeClr val="tx1"/>
                </a:solidFill>
                <a:latin typeface="+mn-ea"/>
                <a:ea typeface="+mn-ea"/>
              </a:rPr>
              <a:t>[</a:t>
            </a:r>
            <a:r>
              <a:rPr lang="zh-CN" altLang="en-US" sz="2000" b="1" dirty="0">
                <a:solidFill>
                  <a:schemeClr val="tx1"/>
                </a:solidFill>
                <a:latin typeface="+mn-ea"/>
                <a:ea typeface="+mn-ea"/>
              </a:rPr>
              <a:t>调制信号</a:t>
            </a:r>
            <a:r>
              <a:rPr lang="en-US" altLang="zh-CN" sz="2000" b="1" i="1" dirty="0">
                <a:solidFill>
                  <a:schemeClr val="tx1"/>
                </a:solidFill>
                <a:latin typeface="+mn-ea"/>
                <a:ea typeface="+mn-ea"/>
              </a:rPr>
              <a:t>v</a:t>
            </a:r>
            <a:r>
              <a:rPr lang="en-US" altLang="zh-CN" sz="2000" b="1" baseline="-25000" dirty="0">
                <a:solidFill>
                  <a:schemeClr val="tx1"/>
                </a:solidFill>
                <a:latin typeface="+mn-ea"/>
                <a:ea typeface="+mn-ea"/>
                <a:sym typeface="Symbol" panose="05050102010706020507" pitchFamily="18" charset="2"/>
              </a:rPr>
              <a:t></a:t>
            </a:r>
            <a:r>
              <a:rPr lang="en-US" altLang="zh-CN" sz="2000" b="1" dirty="0">
                <a:solidFill>
                  <a:schemeClr val="tx1"/>
                </a:solidFill>
                <a:latin typeface="+mn-ea"/>
                <a:ea typeface="+mn-ea"/>
              </a:rPr>
              <a:t>(t)</a:t>
            </a:r>
            <a:r>
              <a:rPr lang="zh-CN" altLang="en-US" sz="2000" b="1" dirty="0">
                <a:solidFill>
                  <a:schemeClr val="tx1"/>
                </a:solidFill>
                <a:latin typeface="+mn-ea"/>
                <a:ea typeface="+mn-ea"/>
              </a:rPr>
              <a:t>，载波</a:t>
            </a:r>
            <a:r>
              <a:rPr lang="en-US" altLang="zh-CN" sz="2000" b="1" dirty="0">
                <a:solidFill>
                  <a:schemeClr val="tx1"/>
                </a:solidFill>
                <a:latin typeface="+mn-ea"/>
                <a:ea typeface="+mn-ea"/>
              </a:rPr>
              <a:t>Vmcos</a:t>
            </a:r>
            <a:r>
              <a:rPr lang="en-US" altLang="zh-CN" sz="2000" b="1" dirty="0">
                <a:solidFill>
                  <a:schemeClr val="tx1"/>
                </a:solidFill>
                <a:latin typeface="+mn-ea"/>
                <a:ea typeface="+mn-ea"/>
                <a:sym typeface="Symbol" panose="05050102010706020507" pitchFamily="18" charset="2"/>
              </a:rPr>
              <a:t></a:t>
            </a:r>
            <a:r>
              <a:rPr lang="en-US" altLang="zh-CN" sz="2000" b="1" baseline="-25000" dirty="0">
                <a:solidFill>
                  <a:schemeClr val="tx1"/>
                </a:solidFill>
                <a:latin typeface="+mn-ea"/>
                <a:ea typeface="+mn-ea"/>
              </a:rPr>
              <a:t>0</a:t>
            </a:r>
            <a:r>
              <a:rPr lang="en-US" altLang="zh-CN" sz="2000" b="1" dirty="0">
                <a:solidFill>
                  <a:schemeClr val="tx1"/>
                </a:solidFill>
                <a:latin typeface="+mn-ea"/>
                <a:ea typeface="+mn-ea"/>
              </a:rPr>
              <a:t>(t)]</a:t>
            </a:r>
          </a:p>
        </p:txBody>
      </p:sp>
      <p:pic>
        <p:nvPicPr>
          <p:cNvPr id="13" name="图片 12">
            <a:extLst>
              <a:ext uri="{FF2B5EF4-FFF2-40B4-BE49-F238E27FC236}">
                <a16:creationId xmlns="" xmlns:a16="http://schemas.microsoft.com/office/drawing/2014/main" id="{E565E45D-902D-FD25-558A-BADE68C8B7E0}"/>
              </a:ext>
            </a:extLst>
          </p:cNvPr>
          <p:cNvPicPr>
            <a:picLocks noChangeAspect="1"/>
          </p:cNvPicPr>
          <p:nvPr/>
        </p:nvPicPr>
        <p:blipFill>
          <a:blip r:embed="rId2"/>
          <a:stretch>
            <a:fillRect/>
          </a:stretch>
        </p:blipFill>
        <p:spPr>
          <a:xfrm>
            <a:off x="683568" y="1857452"/>
            <a:ext cx="7943776" cy="4371211"/>
          </a:xfrm>
          <a:prstGeom prst="rect">
            <a:avLst/>
          </a:prstGeom>
        </p:spPr>
      </p:pic>
    </p:spTree>
    <p:extLst>
      <p:ext uri="{BB962C8B-B14F-4D97-AF65-F5344CB8AC3E}">
        <p14:creationId xmlns:p14="http://schemas.microsoft.com/office/powerpoint/2010/main" val="864670972"/>
      </p:ext>
    </p:extLst>
  </p:cSld>
  <p:clrMapOvr>
    <a:masterClrMapping/>
  </p:clrMapOvr>
  <p:timing>
    <p:tnLst>
      <p:par>
        <p:cTn id="1" dur="indefinite" restart="never" nodeType="tmRoot"/>
      </p:par>
    </p:tnLst>
  </p:timing>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273</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11"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7.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角度调制</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与</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解调</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文本框 13313">
            <a:extLst>
              <a:ext uri="{FF2B5EF4-FFF2-40B4-BE49-F238E27FC236}">
                <a16:creationId xmlns="" xmlns:a16="http://schemas.microsoft.com/office/drawing/2014/main" id="{C29522EC-9E31-26D3-DD65-4C0112A734F6}"/>
              </a:ext>
            </a:extLst>
          </p:cNvPr>
          <p:cNvSpPr txBox="1">
            <a:spLocks noChangeArrowheads="1"/>
          </p:cNvSpPr>
          <p:nvPr/>
        </p:nvSpPr>
        <p:spPr bwMode="auto">
          <a:xfrm>
            <a:off x="539552" y="1268760"/>
            <a:ext cx="8459787" cy="1167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a:lnSpc>
                <a:spcPct val="120000"/>
              </a:lnSpc>
            </a:pPr>
            <a:r>
              <a:rPr lang="zh-CN" altLang="en-US" sz="2000" dirty="0">
                <a:solidFill>
                  <a:schemeClr val="tx1"/>
                </a:solidFill>
                <a:latin typeface="+mn-ea"/>
                <a:ea typeface="+mn-ea"/>
              </a:rPr>
              <a:t>由图可知</a:t>
            </a:r>
          </a:p>
          <a:p>
            <a:pPr>
              <a:lnSpc>
                <a:spcPct val="120000"/>
              </a:lnSpc>
            </a:pPr>
            <a:r>
              <a:rPr lang="zh-CN" altLang="en-US" sz="2000" dirty="0">
                <a:solidFill>
                  <a:srgbClr val="FF0000"/>
                </a:solidFill>
                <a:latin typeface="+mn-ea"/>
                <a:ea typeface="+mn-ea"/>
              </a:rPr>
              <a:t>调频波的瞬时频率随调制信号成线性变化，而瞬时相位随调制信号的积分线性变化。</a:t>
            </a:r>
          </a:p>
        </p:txBody>
      </p:sp>
      <p:pic>
        <p:nvPicPr>
          <p:cNvPr id="6" name="图片 13314" descr="10.wmf">
            <a:extLst>
              <a:ext uri="{FF2B5EF4-FFF2-40B4-BE49-F238E27FC236}">
                <a16:creationId xmlns="" xmlns:a16="http://schemas.microsoft.com/office/drawing/2014/main" id="{9B16B1A6-4135-C9EA-9EA2-84CC96E77B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43894" y="2577332"/>
            <a:ext cx="5256212" cy="3741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91202308"/>
      </p:ext>
    </p:extLst>
  </p:cSld>
  <p:clrMapOvr>
    <a:masterClrMapping/>
  </p:clrMapOvr>
  <p:timing>
    <p:tnLst>
      <p:par>
        <p:cTn id="1" dur="indefinite" restart="never" nodeType="tmRoot"/>
      </p:par>
    </p:tnLst>
  </p:timing>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274</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11"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7.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角度调制</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与</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解调</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文本占位符 14337">
            <a:extLst>
              <a:ext uri="{FF2B5EF4-FFF2-40B4-BE49-F238E27FC236}">
                <a16:creationId xmlns="" xmlns:a16="http://schemas.microsoft.com/office/drawing/2014/main" id="{3822C892-8BE4-2028-574B-E983379738B0}"/>
              </a:ext>
            </a:extLst>
          </p:cNvPr>
          <p:cNvSpPr txBox="1">
            <a:spLocks noChangeArrowheads="1"/>
          </p:cNvSpPr>
          <p:nvPr/>
        </p:nvSpPr>
        <p:spPr>
          <a:xfrm>
            <a:off x="-1" y="1407660"/>
            <a:ext cx="8892895" cy="1152525"/>
          </a:xfrm>
          <a:prstGeom prst="rect">
            <a:avLst/>
          </a:prstGeom>
        </p:spPr>
        <p:txBody>
          <a:bodyPr/>
          <a:lstStyle>
            <a:lvl1pPr marL="342900" indent="-342900" algn="l" rtl="0" eaLnBrk="0" fontAlgn="base" hangingPunct="0">
              <a:spcBef>
                <a:spcPct val="20000"/>
              </a:spcBef>
              <a:spcAft>
                <a:spcPct val="0"/>
              </a:spcAft>
              <a:buChar char="•"/>
              <a:defRPr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a:lnSpc>
                <a:spcPct val="120000"/>
              </a:lnSpc>
              <a:buFont typeface="Times New Roman" panose="02020603050405020304" pitchFamily="18" charset="0"/>
              <a:buNone/>
            </a:pPr>
            <a:r>
              <a:rPr lang="en-US" altLang="zh-CN" sz="2000" kern="0" dirty="0">
                <a:latin typeface="+mn-ea"/>
              </a:rPr>
              <a:t>      </a:t>
            </a:r>
            <a:r>
              <a:rPr lang="zh-CN" altLang="en-US" sz="2000" kern="0" dirty="0" smtClean="0">
                <a:latin typeface="+mn-ea"/>
              </a:rPr>
              <a:t>图画</a:t>
            </a:r>
            <a:r>
              <a:rPr lang="zh-CN" altLang="en-US" sz="2000" kern="0" dirty="0">
                <a:latin typeface="+mn-ea"/>
              </a:rPr>
              <a:t>出了调相波的瞬时频率、瞬时相位随调制信号</a:t>
            </a:r>
            <a:r>
              <a:rPr lang="en-US" altLang="zh-CN" sz="2000" kern="0" dirty="0">
                <a:latin typeface="+mn-ea"/>
              </a:rPr>
              <a:t>(</a:t>
            </a:r>
            <a:r>
              <a:rPr lang="zh-CN" altLang="en-US" sz="2000" kern="0" dirty="0">
                <a:latin typeface="+mn-ea"/>
              </a:rPr>
              <a:t>单音信号</a:t>
            </a:r>
            <a:r>
              <a:rPr lang="en-US" altLang="zh-CN" sz="2000" kern="0" dirty="0">
                <a:latin typeface="+mn-ea"/>
              </a:rPr>
              <a:t>)</a:t>
            </a:r>
            <a:r>
              <a:rPr lang="zh-CN" altLang="en-US" sz="2000" kern="0" dirty="0">
                <a:latin typeface="+mn-ea"/>
              </a:rPr>
              <a:t>变化的波形图。</a:t>
            </a:r>
          </a:p>
        </p:txBody>
      </p:sp>
      <p:sp>
        <p:nvSpPr>
          <p:cNvPr id="7" name="矩形 14559">
            <a:extLst>
              <a:ext uri="{FF2B5EF4-FFF2-40B4-BE49-F238E27FC236}">
                <a16:creationId xmlns="" xmlns:a16="http://schemas.microsoft.com/office/drawing/2014/main" id="{FDB07B3B-694C-6B0C-FE3F-50A67DE60C2E}"/>
              </a:ext>
            </a:extLst>
          </p:cNvPr>
          <p:cNvSpPr>
            <a:spLocks noChangeArrowheads="1"/>
          </p:cNvSpPr>
          <p:nvPr/>
        </p:nvSpPr>
        <p:spPr bwMode="auto">
          <a:xfrm>
            <a:off x="6850801" y="2545606"/>
            <a:ext cx="158750" cy="163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000">
              <a:solidFill>
                <a:schemeClr val="tx1"/>
              </a:solidFill>
              <a:latin typeface="+mn-ea"/>
              <a:ea typeface="+mn-ea"/>
            </a:endParaRPr>
          </a:p>
        </p:txBody>
      </p:sp>
      <p:sp>
        <p:nvSpPr>
          <p:cNvPr id="8" name="文本框 14339">
            <a:extLst>
              <a:ext uri="{FF2B5EF4-FFF2-40B4-BE49-F238E27FC236}">
                <a16:creationId xmlns="" xmlns:a16="http://schemas.microsoft.com/office/drawing/2014/main" id="{494516A7-E999-0279-FCA6-89BE6222D229}"/>
              </a:ext>
            </a:extLst>
          </p:cNvPr>
          <p:cNvSpPr txBox="1">
            <a:spLocks noChangeArrowheads="1"/>
          </p:cNvSpPr>
          <p:nvPr/>
        </p:nvSpPr>
        <p:spPr bwMode="auto">
          <a:xfrm>
            <a:off x="3709593" y="6070147"/>
            <a:ext cx="212109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r>
              <a:rPr lang="zh-CN" altLang="en-US" sz="2000" dirty="0">
                <a:solidFill>
                  <a:schemeClr val="tx1"/>
                </a:solidFill>
                <a:latin typeface="+mn-ea"/>
                <a:ea typeface="+mn-ea"/>
              </a:rPr>
              <a:t>调相时的波形图 </a:t>
            </a:r>
          </a:p>
        </p:txBody>
      </p:sp>
      <p:grpSp>
        <p:nvGrpSpPr>
          <p:cNvPr id="9" name="组合 14340">
            <a:extLst>
              <a:ext uri="{FF2B5EF4-FFF2-40B4-BE49-F238E27FC236}">
                <a16:creationId xmlns="" xmlns:a16="http://schemas.microsoft.com/office/drawing/2014/main" id="{B46E67F0-D06C-DA5D-A38E-AE2B8D55F445}"/>
              </a:ext>
            </a:extLst>
          </p:cNvPr>
          <p:cNvGrpSpPr>
            <a:grpSpLocks/>
          </p:cNvGrpSpPr>
          <p:nvPr/>
        </p:nvGrpSpPr>
        <p:grpSpPr bwMode="auto">
          <a:xfrm>
            <a:off x="2224871" y="2037897"/>
            <a:ext cx="4391025" cy="3794125"/>
            <a:chOff x="921" y="1296"/>
            <a:chExt cx="2766" cy="2390"/>
          </a:xfrm>
        </p:grpSpPr>
        <p:grpSp>
          <p:nvGrpSpPr>
            <p:cNvPr id="10" name="组合 14341">
              <a:extLst>
                <a:ext uri="{FF2B5EF4-FFF2-40B4-BE49-F238E27FC236}">
                  <a16:creationId xmlns="" xmlns:a16="http://schemas.microsoft.com/office/drawing/2014/main" id="{AEC9DB64-6913-08B5-848D-333584B6DE12}"/>
                </a:ext>
              </a:extLst>
            </p:cNvPr>
            <p:cNvGrpSpPr>
              <a:grpSpLocks/>
            </p:cNvGrpSpPr>
            <p:nvPr/>
          </p:nvGrpSpPr>
          <p:grpSpPr bwMode="auto">
            <a:xfrm>
              <a:off x="1583" y="1595"/>
              <a:ext cx="11" cy="2088"/>
              <a:chOff x="1583" y="1595"/>
              <a:chExt cx="11" cy="2088"/>
            </a:xfrm>
          </p:grpSpPr>
          <p:sp>
            <p:nvSpPr>
              <p:cNvPr id="182" name="任意多边形 14342">
                <a:extLst>
                  <a:ext uri="{FF2B5EF4-FFF2-40B4-BE49-F238E27FC236}">
                    <a16:creationId xmlns="" xmlns:a16="http://schemas.microsoft.com/office/drawing/2014/main" id="{20CB06B7-CB76-F7A3-F764-5D6258DE99E4}"/>
                  </a:ext>
                </a:extLst>
              </p:cNvPr>
              <p:cNvSpPr>
                <a:spLocks noChangeArrowheads="1"/>
              </p:cNvSpPr>
              <p:nvPr/>
            </p:nvSpPr>
            <p:spPr bwMode="auto">
              <a:xfrm>
                <a:off x="1583" y="1595"/>
                <a:ext cx="11" cy="33"/>
              </a:xfrm>
              <a:custGeom>
                <a:avLst/>
                <a:gdLst>
                  <a:gd name="T0" fmla="*/ 27 w 27"/>
                  <a:gd name="T1" fmla="*/ 9 h 82"/>
                  <a:gd name="T2" fmla="*/ 27 w 27"/>
                  <a:gd name="T3" fmla="*/ 7 h 82"/>
                  <a:gd name="T4" fmla="*/ 22 w 27"/>
                  <a:gd name="T5" fmla="*/ 5 h 82"/>
                  <a:gd name="T6" fmla="*/ 17 w 27"/>
                  <a:gd name="T7" fmla="*/ 2 h 82"/>
                  <a:gd name="T8" fmla="*/ 15 w 27"/>
                  <a:gd name="T9" fmla="*/ 0 h 82"/>
                  <a:gd name="T10" fmla="*/ 9 w 27"/>
                  <a:gd name="T11" fmla="*/ 2 h 82"/>
                  <a:gd name="T12" fmla="*/ 5 w 27"/>
                  <a:gd name="T13" fmla="*/ 5 h 82"/>
                  <a:gd name="T14" fmla="*/ 0 w 27"/>
                  <a:gd name="T15" fmla="*/ 7 h 82"/>
                  <a:gd name="T16" fmla="*/ 0 w 27"/>
                  <a:gd name="T17" fmla="*/ 69 h 82"/>
                  <a:gd name="T18" fmla="*/ 0 w 27"/>
                  <a:gd name="T19" fmla="*/ 72 h 82"/>
                  <a:gd name="T20" fmla="*/ 5 w 27"/>
                  <a:gd name="T21" fmla="*/ 77 h 82"/>
                  <a:gd name="T22" fmla="*/ 9 w 27"/>
                  <a:gd name="T23" fmla="*/ 79 h 82"/>
                  <a:gd name="T24" fmla="*/ 15 w 27"/>
                  <a:gd name="T25" fmla="*/ 82 h 82"/>
                  <a:gd name="T26" fmla="*/ 17 w 27"/>
                  <a:gd name="T27" fmla="*/ 82 h 82"/>
                  <a:gd name="T28" fmla="*/ 22 w 27"/>
                  <a:gd name="T29" fmla="*/ 79 h 82"/>
                  <a:gd name="T30" fmla="*/ 27 w 27"/>
                  <a:gd name="T31" fmla="*/ 77 h 82"/>
                  <a:gd name="T32" fmla="*/ 27 w 27"/>
                  <a:gd name="T33" fmla="*/ 72 h 82"/>
                  <a:gd name="T34" fmla="*/ 27 w 27"/>
                  <a:gd name="T35" fmla="*/ 9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 h="82">
                    <a:moveTo>
                      <a:pt x="27" y="9"/>
                    </a:moveTo>
                    <a:lnTo>
                      <a:pt x="27" y="7"/>
                    </a:lnTo>
                    <a:lnTo>
                      <a:pt x="22" y="5"/>
                    </a:lnTo>
                    <a:lnTo>
                      <a:pt x="17" y="2"/>
                    </a:lnTo>
                    <a:lnTo>
                      <a:pt x="15" y="0"/>
                    </a:lnTo>
                    <a:lnTo>
                      <a:pt x="9" y="2"/>
                    </a:lnTo>
                    <a:lnTo>
                      <a:pt x="5" y="5"/>
                    </a:lnTo>
                    <a:lnTo>
                      <a:pt x="0" y="7"/>
                    </a:lnTo>
                    <a:lnTo>
                      <a:pt x="0" y="69"/>
                    </a:lnTo>
                    <a:lnTo>
                      <a:pt x="0" y="72"/>
                    </a:lnTo>
                    <a:lnTo>
                      <a:pt x="5" y="77"/>
                    </a:lnTo>
                    <a:lnTo>
                      <a:pt x="9" y="79"/>
                    </a:lnTo>
                    <a:lnTo>
                      <a:pt x="15" y="82"/>
                    </a:lnTo>
                    <a:lnTo>
                      <a:pt x="17" y="82"/>
                    </a:lnTo>
                    <a:lnTo>
                      <a:pt x="22" y="79"/>
                    </a:lnTo>
                    <a:lnTo>
                      <a:pt x="27" y="77"/>
                    </a:lnTo>
                    <a:lnTo>
                      <a:pt x="27" y="72"/>
                    </a:lnTo>
                    <a:lnTo>
                      <a:pt x="27" y="9"/>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183" name="任意多边形 14343">
                <a:extLst>
                  <a:ext uri="{FF2B5EF4-FFF2-40B4-BE49-F238E27FC236}">
                    <a16:creationId xmlns="" xmlns:a16="http://schemas.microsoft.com/office/drawing/2014/main" id="{F4A7137B-787B-927D-E3D2-E96758A4BC78}"/>
                  </a:ext>
                </a:extLst>
              </p:cNvPr>
              <p:cNvSpPr>
                <a:spLocks noChangeArrowheads="1"/>
              </p:cNvSpPr>
              <p:nvPr/>
            </p:nvSpPr>
            <p:spPr bwMode="auto">
              <a:xfrm>
                <a:off x="1583" y="1641"/>
                <a:ext cx="11" cy="32"/>
              </a:xfrm>
              <a:custGeom>
                <a:avLst/>
                <a:gdLst>
                  <a:gd name="T0" fmla="*/ 27 w 27"/>
                  <a:gd name="T1" fmla="*/ 7 h 80"/>
                  <a:gd name="T2" fmla="*/ 27 w 27"/>
                  <a:gd name="T3" fmla="*/ 5 h 80"/>
                  <a:gd name="T4" fmla="*/ 27 w 27"/>
                  <a:gd name="T5" fmla="*/ 1 h 80"/>
                  <a:gd name="T6" fmla="*/ 22 w 27"/>
                  <a:gd name="T7" fmla="*/ 0 h 80"/>
                  <a:gd name="T8" fmla="*/ 17 w 27"/>
                  <a:gd name="T9" fmla="*/ 0 h 80"/>
                  <a:gd name="T10" fmla="*/ 15 w 27"/>
                  <a:gd name="T11" fmla="*/ 0 h 80"/>
                  <a:gd name="T12" fmla="*/ 9 w 27"/>
                  <a:gd name="T13" fmla="*/ 0 h 80"/>
                  <a:gd name="T14" fmla="*/ 5 w 27"/>
                  <a:gd name="T15" fmla="*/ 1 h 80"/>
                  <a:gd name="T16" fmla="*/ 0 w 27"/>
                  <a:gd name="T17" fmla="*/ 5 h 80"/>
                  <a:gd name="T18" fmla="*/ 0 w 27"/>
                  <a:gd name="T19" fmla="*/ 70 h 80"/>
                  <a:gd name="T20" fmla="*/ 0 w 27"/>
                  <a:gd name="T21" fmla="*/ 72 h 80"/>
                  <a:gd name="T22" fmla="*/ 5 w 27"/>
                  <a:gd name="T23" fmla="*/ 74 h 80"/>
                  <a:gd name="T24" fmla="*/ 9 w 27"/>
                  <a:gd name="T25" fmla="*/ 77 h 80"/>
                  <a:gd name="T26" fmla="*/ 15 w 27"/>
                  <a:gd name="T27" fmla="*/ 80 h 80"/>
                  <a:gd name="T28" fmla="*/ 17 w 27"/>
                  <a:gd name="T29" fmla="*/ 80 h 80"/>
                  <a:gd name="T30" fmla="*/ 22 w 27"/>
                  <a:gd name="T31" fmla="*/ 77 h 80"/>
                  <a:gd name="T32" fmla="*/ 27 w 27"/>
                  <a:gd name="T33" fmla="*/ 74 h 80"/>
                  <a:gd name="T34" fmla="*/ 27 w 27"/>
                  <a:gd name="T35" fmla="*/ 72 h 80"/>
                  <a:gd name="T36" fmla="*/ 27 w 27"/>
                  <a:gd name="T37" fmla="*/ 7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80">
                    <a:moveTo>
                      <a:pt x="27" y="7"/>
                    </a:moveTo>
                    <a:lnTo>
                      <a:pt x="27" y="5"/>
                    </a:lnTo>
                    <a:lnTo>
                      <a:pt x="27" y="1"/>
                    </a:lnTo>
                    <a:lnTo>
                      <a:pt x="22" y="0"/>
                    </a:lnTo>
                    <a:lnTo>
                      <a:pt x="17" y="0"/>
                    </a:lnTo>
                    <a:lnTo>
                      <a:pt x="15" y="0"/>
                    </a:lnTo>
                    <a:lnTo>
                      <a:pt x="9" y="0"/>
                    </a:lnTo>
                    <a:lnTo>
                      <a:pt x="5" y="1"/>
                    </a:lnTo>
                    <a:lnTo>
                      <a:pt x="0" y="5"/>
                    </a:lnTo>
                    <a:lnTo>
                      <a:pt x="0" y="70"/>
                    </a:lnTo>
                    <a:lnTo>
                      <a:pt x="0" y="72"/>
                    </a:lnTo>
                    <a:lnTo>
                      <a:pt x="5" y="74"/>
                    </a:lnTo>
                    <a:lnTo>
                      <a:pt x="9" y="77"/>
                    </a:lnTo>
                    <a:lnTo>
                      <a:pt x="15" y="80"/>
                    </a:lnTo>
                    <a:lnTo>
                      <a:pt x="17" y="80"/>
                    </a:lnTo>
                    <a:lnTo>
                      <a:pt x="22" y="77"/>
                    </a:lnTo>
                    <a:lnTo>
                      <a:pt x="27" y="74"/>
                    </a:lnTo>
                    <a:lnTo>
                      <a:pt x="27" y="72"/>
                    </a:lnTo>
                    <a:lnTo>
                      <a:pt x="27" y="7"/>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184" name="任意多边形 14344">
                <a:extLst>
                  <a:ext uri="{FF2B5EF4-FFF2-40B4-BE49-F238E27FC236}">
                    <a16:creationId xmlns="" xmlns:a16="http://schemas.microsoft.com/office/drawing/2014/main" id="{8EBEC7E7-7A82-C933-C8AA-AC61C1C511EF}"/>
                  </a:ext>
                </a:extLst>
              </p:cNvPr>
              <p:cNvSpPr>
                <a:spLocks noChangeArrowheads="1"/>
              </p:cNvSpPr>
              <p:nvPr/>
            </p:nvSpPr>
            <p:spPr bwMode="auto">
              <a:xfrm>
                <a:off x="1583" y="1686"/>
                <a:ext cx="11" cy="33"/>
              </a:xfrm>
              <a:custGeom>
                <a:avLst/>
                <a:gdLst>
                  <a:gd name="T0" fmla="*/ 27 w 27"/>
                  <a:gd name="T1" fmla="*/ 9 h 82"/>
                  <a:gd name="T2" fmla="*/ 27 w 27"/>
                  <a:gd name="T3" fmla="*/ 7 h 82"/>
                  <a:gd name="T4" fmla="*/ 27 w 27"/>
                  <a:gd name="T5" fmla="*/ 2 h 82"/>
                  <a:gd name="T6" fmla="*/ 22 w 27"/>
                  <a:gd name="T7" fmla="*/ 0 h 82"/>
                  <a:gd name="T8" fmla="*/ 17 w 27"/>
                  <a:gd name="T9" fmla="*/ 0 h 82"/>
                  <a:gd name="T10" fmla="*/ 15 w 27"/>
                  <a:gd name="T11" fmla="*/ 0 h 82"/>
                  <a:gd name="T12" fmla="*/ 9 w 27"/>
                  <a:gd name="T13" fmla="*/ 0 h 82"/>
                  <a:gd name="T14" fmla="*/ 5 w 27"/>
                  <a:gd name="T15" fmla="*/ 2 h 82"/>
                  <a:gd name="T16" fmla="*/ 0 w 27"/>
                  <a:gd name="T17" fmla="*/ 7 h 82"/>
                  <a:gd name="T18" fmla="*/ 0 w 27"/>
                  <a:gd name="T19" fmla="*/ 72 h 82"/>
                  <a:gd name="T20" fmla="*/ 0 w 27"/>
                  <a:gd name="T21" fmla="*/ 74 h 82"/>
                  <a:gd name="T22" fmla="*/ 5 w 27"/>
                  <a:gd name="T23" fmla="*/ 77 h 82"/>
                  <a:gd name="T24" fmla="*/ 9 w 27"/>
                  <a:gd name="T25" fmla="*/ 79 h 82"/>
                  <a:gd name="T26" fmla="*/ 15 w 27"/>
                  <a:gd name="T27" fmla="*/ 82 h 82"/>
                  <a:gd name="T28" fmla="*/ 17 w 27"/>
                  <a:gd name="T29" fmla="*/ 82 h 82"/>
                  <a:gd name="T30" fmla="*/ 22 w 27"/>
                  <a:gd name="T31" fmla="*/ 79 h 82"/>
                  <a:gd name="T32" fmla="*/ 27 w 27"/>
                  <a:gd name="T33" fmla="*/ 77 h 82"/>
                  <a:gd name="T34" fmla="*/ 27 w 27"/>
                  <a:gd name="T35" fmla="*/ 74 h 82"/>
                  <a:gd name="T36" fmla="*/ 27 w 27"/>
                  <a:gd name="T37" fmla="*/ 9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82">
                    <a:moveTo>
                      <a:pt x="27" y="9"/>
                    </a:moveTo>
                    <a:lnTo>
                      <a:pt x="27" y="7"/>
                    </a:lnTo>
                    <a:lnTo>
                      <a:pt x="27" y="2"/>
                    </a:lnTo>
                    <a:lnTo>
                      <a:pt x="22" y="0"/>
                    </a:lnTo>
                    <a:lnTo>
                      <a:pt x="17" y="0"/>
                    </a:lnTo>
                    <a:lnTo>
                      <a:pt x="15" y="0"/>
                    </a:lnTo>
                    <a:lnTo>
                      <a:pt x="9" y="0"/>
                    </a:lnTo>
                    <a:lnTo>
                      <a:pt x="5" y="2"/>
                    </a:lnTo>
                    <a:lnTo>
                      <a:pt x="0" y="7"/>
                    </a:lnTo>
                    <a:lnTo>
                      <a:pt x="0" y="72"/>
                    </a:lnTo>
                    <a:lnTo>
                      <a:pt x="0" y="74"/>
                    </a:lnTo>
                    <a:lnTo>
                      <a:pt x="5" y="77"/>
                    </a:lnTo>
                    <a:lnTo>
                      <a:pt x="9" y="79"/>
                    </a:lnTo>
                    <a:lnTo>
                      <a:pt x="15" y="82"/>
                    </a:lnTo>
                    <a:lnTo>
                      <a:pt x="17" y="82"/>
                    </a:lnTo>
                    <a:lnTo>
                      <a:pt x="22" y="79"/>
                    </a:lnTo>
                    <a:lnTo>
                      <a:pt x="27" y="77"/>
                    </a:lnTo>
                    <a:lnTo>
                      <a:pt x="27" y="74"/>
                    </a:lnTo>
                    <a:lnTo>
                      <a:pt x="27" y="9"/>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185" name="任意多边形 14345">
                <a:extLst>
                  <a:ext uri="{FF2B5EF4-FFF2-40B4-BE49-F238E27FC236}">
                    <a16:creationId xmlns="" xmlns:a16="http://schemas.microsoft.com/office/drawing/2014/main" id="{0E2775EC-AC25-B8BF-DE15-CF67C77AFFB1}"/>
                  </a:ext>
                </a:extLst>
              </p:cNvPr>
              <p:cNvSpPr>
                <a:spLocks noChangeArrowheads="1"/>
              </p:cNvSpPr>
              <p:nvPr/>
            </p:nvSpPr>
            <p:spPr bwMode="auto">
              <a:xfrm>
                <a:off x="1583" y="1732"/>
                <a:ext cx="11" cy="33"/>
              </a:xfrm>
              <a:custGeom>
                <a:avLst/>
                <a:gdLst>
                  <a:gd name="T0" fmla="*/ 27 w 27"/>
                  <a:gd name="T1" fmla="*/ 7 h 82"/>
                  <a:gd name="T2" fmla="*/ 27 w 27"/>
                  <a:gd name="T3" fmla="*/ 5 h 82"/>
                  <a:gd name="T4" fmla="*/ 27 w 27"/>
                  <a:gd name="T5" fmla="*/ 2 h 82"/>
                  <a:gd name="T6" fmla="*/ 22 w 27"/>
                  <a:gd name="T7" fmla="*/ 0 h 82"/>
                  <a:gd name="T8" fmla="*/ 17 w 27"/>
                  <a:gd name="T9" fmla="*/ 0 h 82"/>
                  <a:gd name="T10" fmla="*/ 15 w 27"/>
                  <a:gd name="T11" fmla="*/ 0 h 82"/>
                  <a:gd name="T12" fmla="*/ 9 w 27"/>
                  <a:gd name="T13" fmla="*/ 0 h 82"/>
                  <a:gd name="T14" fmla="*/ 5 w 27"/>
                  <a:gd name="T15" fmla="*/ 2 h 82"/>
                  <a:gd name="T16" fmla="*/ 0 w 27"/>
                  <a:gd name="T17" fmla="*/ 5 h 82"/>
                  <a:gd name="T18" fmla="*/ 0 w 27"/>
                  <a:gd name="T19" fmla="*/ 70 h 82"/>
                  <a:gd name="T20" fmla="*/ 0 w 27"/>
                  <a:gd name="T21" fmla="*/ 72 h 82"/>
                  <a:gd name="T22" fmla="*/ 5 w 27"/>
                  <a:gd name="T23" fmla="*/ 77 h 82"/>
                  <a:gd name="T24" fmla="*/ 9 w 27"/>
                  <a:gd name="T25" fmla="*/ 80 h 82"/>
                  <a:gd name="T26" fmla="*/ 15 w 27"/>
                  <a:gd name="T27" fmla="*/ 82 h 82"/>
                  <a:gd name="T28" fmla="*/ 17 w 27"/>
                  <a:gd name="T29" fmla="*/ 82 h 82"/>
                  <a:gd name="T30" fmla="*/ 22 w 27"/>
                  <a:gd name="T31" fmla="*/ 80 h 82"/>
                  <a:gd name="T32" fmla="*/ 27 w 27"/>
                  <a:gd name="T33" fmla="*/ 77 h 82"/>
                  <a:gd name="T34" fmla="*/ 27 w 27"/>
                  <a:gd name="T35" fmla="*/ 72 h 82"/>
                  <a:gd name="T36" fmla="*/ 27 w 27"/>
                  <a:gd name="T37" fmla="*/ 7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82">
                    <a:moveTo>
                      <a:pt x="27" y="7"/>
                    </a:moveTo>
                    <a:lnTo>
                      <a:pt x="27" y="5"/>
                    </a:lnTo>
                    <a:lnTo>
                      <a:pt x="27" y="2"/>
                    </a:lnTo>
                    <a:lnTo>
                      <a:pt x="22" y="0"/>
                    </a:lnTo>
                    <a:lnTo>
                      <a:pt x="17" y="0"/>
                    </a:lnTo>
                    <a:lnTo>
                      <a:pt x="15" y="0"/>
                    </a:lnTo>
                    <a:lnTo>
                      <a:pt x="9" y="0"/>
                    </a:lnTo>
                    <a:lnTo>
                      <a:pt x="5" y="2"/>
                    </a:lnTo>
                    <a:lnTo>
                      <a:pt x="0" y="5"/>
                    </a:lnTo>
                    <a:lnTo>
                      <a:pt x="0" y="70"/>
                    </a:lnTo>
                    <a:lnTo>
                      <a:pt x="0" y="72"/>
                    </a:lnTo>
                    <a:lnTo>
                      <a:pt x="5" y="77"/>
                    </a:lnTo>
                    <a:lnTo>
                      <a:pt x="9" y="80"/>
                    </a:lnTo>
                    <a:lnTo>
                      <a:pt x="15" y="82"/>
                    </a:lnTo>
                    <a:lnTo>
                      <a:pt x="17" y="82"/>
                    </a:lnTo>
                    <a:lnTo>
                      <a:pt x="22" y="80"/>
                    </a:lnTo>
                    <a:lnTo>
                      <a:pt x="27" y="77"/>
                    </a:lnTo>
                    <a:lnTo>
                      <a:pt x="27" y="72"/>
                    </a:lnTo>
                    <a:lnTo>
                      <a:pt x="27" y="7"/>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186" name="任意多边形 14346">
                <a:extLst>
                  <a:ext uri="{FF2B5EF4-FFF2-40B4-BE49-F238E27FC236}">
                    <a16:creationId xmlns="" xmlns:a16="http://schemas.microsoft.com/office/drawing/2014/main" id="{5AE1A2B4-B4CF-2511-5546-32B6451B5E45}"/>
                  </a:ext>
                </a:extLst>
              </p:cNvPr>
              <p:cNvSpPr>
                <a:spLocks noChangeArrowheads="1"/>
              </p:cNvSpPr>
              <p:nvPr/>
            </p:nvSpPr>
            <p:spPr bwMode="auto">
              <a:xfrm>
                <a:off x="1583" y="1778"/>
                <a:ext cx="11" cy="32"/>
              </a:xfrm>
              <a:custGeom>
                <a:avLst/>
                <a:gdLst>
                  <a:gd name="T0" fmla="*/ 27 w 27"/>
                  <a:gd name="T1" fmla="*/ 7 h 79"/>
                  <a:gd name="T2" fmla="*/ 27 w 27"/>
                  <a:gd name="T3" fmla="*/ 5 h 79"/>
                  <a:gd name="T4" fmla="*/ 27 w 27"/>
                  <a:gd name="T5" fmla="*/ 2 h 79"/>
                  <a:gd name="T6" fmla="*/ 22 w 27"/>
                  <a:gd name="T7" fmla="*/ 0 h 79"/>
                  <a:gd name="T8" fmla="*/ 17 w 27"/>
                  <a:gd name="T9" fmla="*/ 0 h 79"/>
                  <a:gd name="T10" fmla="*/ 15 w 27"/>
                  <a:gd name="T11" fmla="*/ 0 h 79"/>
                  <a:gd name="T12" fmla="*/ 9 w 27"/>
                  <a:gd name="T13" fmla="*/ 0 h 79"/>
                  <a:gd name="T14" fmla="*/ 5 w 27"/>
                  <a:gd name="T15" fmla="*/ 2 h 79"/>
                  <a:gd name="T16" fmla="*/ 0 w 27"/>
                  <a:gd name="T17" fmla="*/ 5 h 79"/>
                  <a:gd name="T18" fmla="*/ 0 w 27"/>
                  <a:gd name="T19" fmla="*/ 69 h 79"/>
                  <a:gd name="T20" fmla="*/ 0 w 27"/>
                  <a:gd name="T21" fmla="*/ 72 h 79"/>
                  <a:gd name="T22" fmla="*/ 5 w 27"/>
                  <a:gd name="T23" fmla="*/ 74 h 79"/>
                  <a:gd name="T24" fmla="*/ 9 w 27"/>
                  <a:gd name="T25" fmla="*/ 77 h 79"/>
                  <a:gd name="T26" fmla="*/ 15 w 27"/>
                  <a:gd name="T27" fmla="*/ 79 h 79"/>
                  <a:gd name="T28" fmla="*/ 17 w 27"/>
                  <a:gd name="T29" fmla="*/ 79 h 79"/>
                  <a:gd name="T30" fmla="*/ 22 w 27"/>
                  <a:gd name="T31" fmla="*/ 77 h 79"/>
                  <a:gd name="T32" fmla="*/ 27 w 27"/>
                  <a:gd name="T33" fmla="*/ 74 h 79"/>
                  <a:gd name="T34" fmla="*/ 27 w 27"/>
                  <a:gd name="T35" fmla="*/ 72 h 79"/>
                  <a:gd name="T36" fmla="*/ 27 w 27"/>
                  <a:gd name="T37" fmla="*/ 7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79">
                    <a:moveTo>
                      <a:pt x="27" y="7"/>
                    </a:moveTo>
                    <a:lnTo>
                      <a:pt x="27" y="5"/>
                    </a:lnTo>
                    <a:lnTo>
                      <a:pt x="27" y="2"/>
                    </a:lnTo>
                    <a:lnTo>
                      <a:pt x="22" y="0"/>
                    </a:lnTo>
                    <a:lnTo>
                      <a:pt x="17" y="0"/>
                    </a:lnTo>
                    <a:lnTo>
                      <a:pt x="15" y="0"/>
                    </a:lnTo>
                    <a:lnTo>
                      <a:pt x="9" y="0"/>
                    </a:lnTo>
                    <a:lnTo>
                      <a:pt x="5" y="2"/>
                    </a:lnTo>
                    <a:lnTo>
                      <a:pt x="0" y="5"/>
                    </a:lnTo>
                    <a:lnTo>
                      <a:pt x="0" y="69"/>
                    </a:lnTo>
                    <a:lnTo>
                      <a:pt x="0" y="72"/>
                    </a:lnTo>
                    <a:lnTo>
                      <a:pt x="5" y="74"/>
                    </a:lnTo>
                    <a:lnTo>
                      <a:pt x="9" y="77"/>
                    </a:lnTo>
                    <a:lnTo>
                      <a:pt x="15" y="79"/>
                    </a:lnTo>
                    <a:lnTo>
                      <a:pt x="17" y="79"/>
                    </a:lnTo>
                    <a:lnTo>
                      <a:pt x="22" y="77"/>
                    </a:lnTo>
                    <a:lnTo>
                      <a:pt x="27" y="74"/>
                    </a:lnTo>
                    <a:lnTo>
                      <a:pt x="27" y="72"/>
                    </a:lnTo>
                    <a:lnTo>
                      <a:pt x="27" y="7"/>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187" name="任意多边形 14347">
                <a:extLst>
                  <a:ext uri="{FF2B5EF4-FFF2-40B4-BE49-F238E27FC236}">
                    <a16:creationId xmlns="" xmlns:a16="http://schemas.microsoft.com/office/drawing/2014/main" id="{42E08815-2CB6-D809-F435-12C7F6332DB0}"/>
                  </a:ext>
                </a:extLst>
              </p:cNvPr>
              <p:cNvSpPr>
                <a:spLocks noChangeArrowheads="1"/>
              </p:cNvSpPr>
              <p:nvPr/>
            </p:nvSpPr>
            <p:spPr bwMode="auto">
              <a:xfrm>
                <a:off x="1583" y="1823"/>
                <a:ext cx="11" cy="33"/>
              </a:xfrm>
              <a:custGeom>
                <a:avLst/>
                <a:gdLst>
                  <a:gd name="T0" fmla="*/ 27 w 27"/>
                  <a:gd name="T1" fmla="*/ 9 h 82"/>
                  <a:gd name="T2" fmla="*/ 27 w 27"/>
                  <a:gd name="T3" fmla="*/ 7 h 82"/>
                  <a:gd name="T4" fmla="*/ 27 w 27"/>
                  <a:gd name="T5" fmla="*/ 2 h 82"/>
                  <a:gd name="T6" fmla="*/ 22 w 27"/>
                  <a:gd name="T7" fmla="*/ 0 h 82"/>
                  <a:gd name="T8" fmla="*/ 17 w 27"/>
                  <a:gd name="T9" fmla="*/ 0 h 82"/>
                  <a:gd name="T10" fmla="*/ 15 w 27"/>
                  <a:gd name="T11" fmla="*/ 0 h 82"/>
                  <a:gd name="T12" fmla="*/ 9 w 27"/>
                  <a:gd name="T13" fmla="*/ 0 h 82"/>
                  <a:gd name="T14" fmla="*/ 5 w 27"/>
                  <a:gd name="T15" fmla="*/ 2 h 82"/>
                  <a:gd name="T16" fmla="*/ 0 w 27"/>
                  <a:gd name="T17" fmla="*/ 7 h 82"/>
                  <a:gd name="T18" fmla="*/ 0 w 27"/>
                  <a:gd name="T19" fmla="*/ 72 h 82"/>
                  <a:gd name="T20" fmla="*/ 0 w 27"/>
                  <a:gd name="T21" fmla="*/ 75 h 82"/>
                  <a:gd name="T22" fmla="*/ 5 w 27"/>
                  <a:gd name="T23" fmla="*/ 77 h 82"/>
                  <a:gd name="T24" fmla="*/ 9 w 27"/>
                  <a:gd name="T25" fmla="*/ 80 h 82"/>
                  <a:gd name="T26" fmla="*/ 15 w 27"/>
                  <a:gd name="T27" fmla="*/ 82 h 82"/>
                  <a:gd name="T28" fmla="*/ 17 w 27"/>
                  <a:gd name="T29" fmla="*/ 82 h 82"/>
                  <a:gd name="T30" fmla="*/ 22 w 27"/>
                  <a:gd name="T31" fmla="*/ 80 h 82"/>
                  <a:gd name="T32" fmla="*/ 27 w 27"/>
                  <a:gd name="T33" fmla="*/ 77 h 82"/>
                  <a:gd name="T34" fmla="*/ 27 w 27"/>
                  <a:gd name="T35" fmla="*/ 75 h 82"/>
                  <a:gd name="T36" fmla="*/ 27 w 27"/>
                  <a:gd name="T37" fmla="*/ 9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82">
                    <a:moveTo>
                      <a:pt x="27" y="9"/>
                    </a:moveTo>
                    <a:lnTo>
                      <a:pt x="27" y="7"/>
                    </a:lnTo>
                    <a:lnTo>
                      <a:pt x="27" y="2"/>
                    </a:lnTo>
                    <a:lnTo>
                      <a:pt x="22" y="0"/>
                    </a:lnTo>
                    <a:lnTo>
                      <a:pt x="17" y="0"/>
                    </a:lnTo>
                    <a:lnTo>
                      <a:pt x="15" y="0"/>
                    </a:lnTo>
                    <a:lnTo>
                      <a:pt x="9" y="0"/>
                    </a:lnTo>
                    <a:lnTo>
                      <a:pt x="5" y="2"/>
                    </a:lnTo>
                    <a:lnTo>
                      <a:pt x="0" y="7"/>
                    </a:lnTo>
                    <a:lnTo>
                      <a:pt x="0" y="72"/>
                    </a:lnTo>
                    <a:lnTo>
                      <a:pt x="0" y="75"/>
                    </a:lnTo>
                    <a:lnTo>
                      <a:pt x="5" y="77"/>
                    </a:lnTo>
                    <a:lnTo>
                      <a:pt x="9" y="80"/>
                    </a:lnTo>
                    <a:lnTo>
                      <a:pt x="15" y="82"/>
                    </a:lnTo>
                    <a:lnTo>
                      <a:pt x="17" y="82"/>
                    </a:lnTo>
                    <a:lnTo>
                      <a:pt x="22" y="80"/>
                    </a:lnTo>
                    <a:lnTo>
                      <a:pt x="27" y="77"/>
                    </a:lnTo>
                    <a:lnTo>
                      <a:pt x="27" y="75"/>
                    </a:lnTo>
                    <a:lnTo>
                      <a:pt x="27" y="9"/>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188" name="任意多边形 14348">
                <a:extLst>
                  <a:ext uri="{FF2B5EF4-FFF2-40B4-BE49-F238E27FC236}">
                    <a16:creationId xmlns="" xmlns:a16="http://schemas.microsoft.com/office/drawing/2014/main" id="{C2EA74A4-A19A-9AAE-369C-AD6B078274F6}"/>
                  </a:ext>
                </a:extLst>
              </p:cNvPr>
              <p:cNvSpPr>
                <a:spLocks noChangeArrowheads="1"/>
              </p:cNvSpPr>
              <p:nvPr/>
            </p:nvSpPr>
            <p:spPr bwMode="auto">
              <a:xfrm>
                <a:off x="1583" y="1869"/>
                <a:ext cx="11" cy="33"/>
              </a:xfrm>
              <a:custGeom>
                <a:avLst/>
                <a:gdLst>
                  <a:gd name="T0" fmla="*/ 27 w 27"/>
                  <a:gd name="T1" fmla="*/ 7 h 82"/>
                  <a:gd name="T2" fmla="*/ 27 w 27"/>
                  <a:gd name="T3" fmla="*/ 5 h 82"/>
                  <a:gd name="T4" fmla="*/ 27 w 27"/>
                  <a:gd name="T5" fmla="*/ 2 h 82"/>
                  <a:gd name="T6" fmla="*/ 22 w 27"/>
                  <a:gd name="T7" fmla="*/ 0 h 82"/>
                  <a:gd name="T8" fmla="*/ 17 w 27"/>
                  <a:gd name="T9" fmla="*/ 0 h 82"/>
                  <a:gd name="T10" fmla="*/ 15 w 27"/>
                  <a:gd name="T11" fmla="*/ 0 h 82"/>
                  <a:gd name="T12" fmla="*/ 9 w 27"/>
                  <a:gd name="T13" fmla="*/ 0 h 82"/>
                  <a:gd name="T14" fmla="*/ 5 w 27"/>
                  <a:gd name="T15" fmla="*/ 2 h 82"/>
                  <a:gd name="T16" fmla="*/ 0 w 27"/>
                  <a:gd name="T17" fmla="*/ 5 h 82"/>
                  <a:gd name="T18" fmla="*/ 0 w 27"/>
                  <a:gd name="T19" fmla="*/ 69 h 82"/>
                  <a:gd name="T20" fmla="*/ 0 w 27"/>
                  <a:gd name="T21" fmla="*/ 72 h 82"/>
                  <a:gd name="T22" fmla="*/ 5 w 27"/>
                  <a:gd name="T23" fmla="*/ 77 h 82"/>
                  <a:gd name="T24" fmla="*/ 9 w 27"/>
                  <a:gd name="T25" fmla="*/ 79 h 82"/>
                  <a:gd name="T26" fmla="*/ 15 w 27"/>
                  <a:gd name="T27" fmla="*/ 82 h 82"/>
                  <a:gd name="T28" fmla="*/ 17 w 27"/>
                  <a:gd name="T29" fmla="*/ 82 h 82"/>
                  <a:gd name="T30" fmla="*/ 22 w 27"/>
                  <a:gd name="T31" fmla="*/ 79 h 82"/>
                  <a:gd name="T32" fmla="*/ 27 w 27"/>
                  <a:gd name="T33" fmla="*/ 77 h 82"/>
                  <a:gd name="T34" fmla="*/ 27 w 27"/>
                  <a:gd name="T35" fmla="*/ 72 h 82"/>
                  <a:gd name="T36" fmla="*/ 27 w 27"/>
                  <a:gd name="T37" fmla="*/ 7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82">
                    <a:moveTo>
                      <a:pt x="27" y="7"/>
                    </a:moveTo>
                    <a:lnTo>
                      <a:pt x="27" y="5"/>
                    </a:lnTo>
                    <a:lnTo>
                      <a:pt x="27" y="2"/>
                    </a:lnTo>
                    <a:lnTo>
                      <a:pt x="22" y="0"/>
                    </a:lnTo>
                    <a:lnTo>
                      <a:pt x="17" y="0"/>
                    </a:lnTo>
                    <a:lnTo>
                      <a:pt x="15" y="0"/>
                    </a:lnTo>
                    <a:lnTo>
                      <a:pt x="9" y="0"/>
                    </a:lnTo>
                    <a:lnTo>
                      <a:pt x="5" y="2"/>
                    </a:lnTo>
                    <a:lnTo>
                      <a:pt x="0" y="5"/>
                    </a:lnTo>
                    <a:lnTo>
                      <a:pt x="0" y="69"/>
                    </a:lnTo>
                    <a:lnTo>
                      <a:pt x="0" y="72"/>
                    </a:lnTo>
                    <a:lnTo>
                      <a:pt x="5" y="77"/>
                    </a:lnTo>
                    <a:lnTo>
                      <a:pt x="9" y="79"/>
                    </a:lnTo>
                    <a:lnTo>
                      <a:pt x="15" y="82"/>
                    </a:lnTo>
                    <a:lnTo>
                      <a:pt x="17" y="82"/>
                    </a:lnTo>
                    <a:lnTo>
                      <a:pt x="22" y="79"/>
                    </a:lnTo>
                    <a:lnTo>
                      <a:pt x="27" y="77"/>
                    </a:lnTo>
                    <a:lnTo>
                      <a:pt x="27" y="72"/>
                    </a:lnTo>
                    <a:lnTo>
                      <a:pt x="27" y="7"/>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189" name="任意多边形 14349">
                <a:extLst>
                  <a:ext uri="{FF2B5EF4-FFF2-40B4-BE49-F238E27FC236}">
                    <a16:creationId xmlns="" xmlns:a16="http://schemas.microsoft.com/office/drawing/2014/main" id="{8F34A446-1E36-F4DF-7D82-CBD6275CC6E1}"/>
                  </a:ext>
                </a:extLst>
              </p:cNvPr>
              <p:cNvSpPr>
                <a:spLocks noChangeArrowheads="1"/>
              </p:cNvSpPr>
              <p:nvPr/>
            </p:nvSpPr>
            <p:spPr bwMode="auto">
              <a:xfrm>
                <a:off x="1583" y="1915"/>
                <a:ext cx="11" cy="32"/>
              </a:xfrm>
              <a:custGeom>
                <a:avLst/>
                <a:gdLst>
                  <a:gd name="T0" fmla="*/ 27 w 27"/>
                  <a:gd name="T1" fmla="*/ 7 h 80"/>
                  <a:gd name="T2" fmla="*/ 27 w 27"/>
                  <a:gd name="T3" fmla="*/ 5 h 80"/>
                  <a:gd name="T4" fmla="*/ 27 w 27"/>
                  <a:gd name="T5" fmla="*/ 1 h 80"/>
                  <a:gd name="T6" fmla="*/ 22 w 27"/>
                  <a:gd name="T7" fmla="*/ 0 h 80"/>
                  <a:gd name="T8" fmla="*/ 17 w 27"/>
                  <a:gd name="T9" fmla="*/ 0 h 80"/>
                  <a:gd name="T10" fmla="*/ 15 w 27"/>
                  <a:gd name="T11" fmla="*/ 0 h 80"/>
                  <a:gd name="T12" fmla="*/ 9 w 27"/>
                  <a:gd name="T13" fmla="*/ 0 h 80"/>
                  <a:gd name="T14" fmla="*/ 5 w 27"/>
                  <a:gd name="T15" fmla="*/ 1 h 80"/>
                  <a:gd name="T16" fmla="*/ 0 w 27"/>
                  <a:gd name="T17" fmla="*/ 5 h 80"/>
                  <a:gd name="T18" fmla="*/ 0 w 27"/>
                  <a:gd name="T19" fmla="*/ 70 h 80"/>
                  <a:gd name="T20" fmla="*/ 0 w 27"/>
                  <a:gd name="T21" fmla="*/ 72 h 80"/>
                  <a:gd name="T22" fmla="*/ 5 w 27"/>
                  <a:gd name="T23" fmla="*/ 74 h 80"/>
                  <a:gd name="T24" fmla="*/ 9 w 27"/>
                  <a:gd name="T25" fmla="*/ 77 h 80"/>
                  <a:gd name="T26" fmla="*/ 15 w 27"/>
                  <a:gd name="T27" fmla="*/ 80 h 80"/>
                  <a:gd name="T28" fmla="*/ 17 w 27"/>
                  <a:gd name="T29" fmla="*/ 80 h 80"/>
                  <a:gd name="T30" fmla="*/ 22 w 27"/>
                  <a:gd name="T31" fmla="*/ 77 h 80"/>
                  <a:gd name="T32" fmla="*/ 27 w 27"/>
                  <a:gd name="T33" fmla="*/ 74 h 80"/>
                  <a:gd name="T34" fmla="*/ 27 w 27"/>
                  <a:gd name="T35" fmla="*/ 72 h 80"/>
                  <a:gd name="T36" fmla="*/ 27 w 27"/>
                  <a:gd name="T37" fmla="*/ 7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80">
                    <a:moveTo>
                      <a:pt x="27" y="7"/>
                    </a:moveTo>
                    <a:lnTo>
                      <a:pt x="27" y="5"/>
                    </a:lnTo>
                    <a:lnTo>
                      <a:pt x="27" y="1"/>
                    </a:lnTo>
                    <a:lnTo>
                      <a:pt x="22" y="0"/>
                    </a:lnTo>
                    <a:lnTo>
                      <a:pt x="17" y="0"/>
                    </a:lnTo>
                    <a:lnTo>
                      <a:pt x="15" y="0"/>
                    </a:lnTo>
                    <a:lnTo>
                      <a:pt x="9" y="0"/>
                    </a:lnTo>
                    <a:lnTo>
                      <a:pt x="5" y="1"/>
                    </a:lnTo>
                    <a:lnTo>
                      <a:pt x="0" y="5"/>
                    </a:lnTo>
                    <a:lnTo>
                      <a:pt x="0" y="70"/>
                    </a:lnTo>
                    <a:lnTo>
                      <a:pt x="0" y="72"/>
                    </a:lnTo>
                    <a:lnTo>
                      <a:pt x="5" y="74"/>
                    </a:lnTo>
                    <a:lnTo>
                      <a:pt x="9" y="77"/>
                    </a:lnTo>
                    <a:lnTo>
                      <a:pt x="15" y="80"/>
                    </a:lnTo>
                    <a:lnTo>
                      <a:pt x="17" y="80"/>
                    </a:lnTo>
                    <a:lnTo>
                      <a:pt x="22" y="77"/>
                    </a:lnTo>
                    <a:lnTo>
                      <a:pt x="27" y="74"/>
                    </a:lnTo>
                    <a:lnTo>
                      <a:pt x="27" y="72"/>
                    </a:lnTo>
                    <a:lnTo>
                      <a:pt x="27" y="7"/>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190" name="任意多边形 14350">
                <a:extLst>
                  <a:ext uri="{FF2B5EF4-FFF2-40B4-BE49-F238E27FC236}">
                    <a16:creationId xmlns="" xmlns:a16="http://schemas.microsoft.com/office/drawing/2014/main" id="{89114758-0D96-08CA-36A7-9E02FB9F1136}"/>
                  </a:ext>
                </a:extLst>
              </p:cNvPr>
              <p:cNvSpPr>
                <a:spLocks noChangeArrowheads="1"/>
              </p:cNvSpPr>
              <p:nvPr/>
            </p:nvSpPr>
            <p:spPr bwMode="auto">
              <a:xfrm>
                <a:off x="1583" y="1960"/>
                <a:ext cx="11" cy="33"/>
              </a:xfrm>
              <a:custGeom>
                <a:avLst/>
                <a:gdLst>
                  <a:gd name="T0" fmla="*/ 27 w 27"/>
                  <a:gd name="T1" fmla="*/ 9 h 82"/>
                  <a:gd name="T2" fmla="*/ 27 w 27"/>
                  <a:gd name="T3" fmla="*/ 7 h 82"/>
                  <a:gd name="T4" fmla="*/ 27 w 27"/>
                  <a:gd name="T5" fmla="*/ 2 h 82"/>
                  <a:gd name="T6" fmla="*/ 22 w 27"/>
                  <a:gd name="T7" fmla="*/ 0 h 82"/>
                  <a:gd name="T8" fmla="*/ 17 w 27"/>
                  <a:gd name="T9" fmla="*/ 0 h 82"/>
                  <a:gd name="T10" fmla="*/ 15 w 27"/>
                  <a:gd name="T11" fmla="*/ 0 h 82"/>
                  <a:gd name="T12" fmla="*/ 9 w 27"/>
                  <a:gd name="T13" fmla="*/ 0 h 82"/>
                  <a:gd name="T14" fmla="*/ 5 w 27"/>
                  <a:gd name="T15" fmla="*/ 2 h 82"/>
                  <a:gd name="T16" fmla="*/ 0 w 27"/>
                  <a:gd name="T17" fmla="*/ 7 h 82"/>
                  <a:gd name="T18" fmla="*/ 0 w 27"/>
                  <a:gd name="T19" fmla="*/ 72 h 82"/>
                  <a:gd name="T20" fmla="*/ 0 w 27"/>
                  <a:gd name="T21" fmla="*/ 74 h 82"/>
                  <a:gd name="T22" fmla="*/ 5 w 27"/>
                  <a:gd name="T23" fmla="*/ 77 h 82"/>
                  <a:gd name="T24" fmla="*/ 9 w 27"/>
                  <a:gd name="T25" fmla="*/ 79 h 82"/>
                  <a:gd name="T26" fmla="*/ 15 w 27"/>
                  <a:gd name="T27" fmla="*/ 82 h 82"/>
                  <a:gd name="T28" fmla="*/ 17 w 27"/>
                  <a:gd name="T29" fmla="*/ 82 h 82"/>
                  <a:gd name="T30" fmla="*/ 22 w 27"/>
                  <a:gd name="T31" fmla="*/ 79 h 82"/>
                  <a:gd name="T32" fmla="*/ 27 w 27"/>
                  <a:gd name="T33" fmla="*/ 77 h 82"/>
                  <a:gd name="T34" fmla="*/ 27 w 27"/>
                  <a:gd name="T35" fmla="*/ 74 h 82"/>
                  <a:gd name="T36" fmla="*/ 27 w 27"/>
                  <a:gd name="T37" fmla="*/ 9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82">
                    <a:moveTo>
                      <a:pt x="27" y="9"/>
                    </a:moveTo>
                    <a:lnTo>
                      <a:pt x="27" y="7"/>
                    </a:lnTo>
                    <a:lnTo>
                      <a:pt x="27" y="2"/>
                    </a:lnTo>
                    <a:lnTo>
                      <a:pt x="22" y="0"/>
                    </a:lnTo>
                    <a:lnTo>
                      <a:pt x="17" y="0"/>
                    </a:lnTo>
                    <a:lnTo>
                      <a:pt x="15" y="0"/>
                    </a:lnTo>
                    <a:lnTo>
                      <a:pt x="9" y="0"/>
                    </a:lnTo>
                    <a:lnTo>
                      <a:pt x="5" y="2"/>
                    </a:lnTo>
                    <a:lnTo>
                      <a:pt x="0" y="7"/>
                    </a:lnTo>
                    <a:lnTo>
                      <a:pt x="0" y="72"/>
                    </a:lnTo>
                    <a:lnTo>
                      <a:pt x="0" y="74"/>
                    </a:lnTo>
                    <a:lnTo>
                      <a:pt x="5" y="77"/>
                    </a:lnTo>
                    <a:lnTo>
                      <a:pt x="9" y="79"/>
                    </a:lnTo>
                    <a:lnTo>
                      <a:pt x="15" y="82"/>
                    </a:lnTo>
                    <a:lnTo>
                      <a:pt x="17" y="82"/>
                    </a:lnTo>
                    <a:lnTo>
                      <a:pt x="22" y="79"/>
                    </a:lnTo>
                    <a:lnTo>
                      <a:pt x="27" y="77"/>
                    </a:lnTo>
                    <a:lnTo>
                      <a:pt x="27" y="74"/>
                    </a:lnTo>
                    <a:lnTo>
                      <a:pt x="27" y="9"/>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191" name="任意多边形 14351">
                <a:extLst>
                  <a:ext uri="{FF2B5EF4-FFF2-40B4-BE49-F238E27FC236}">
                    <a16:creationId xmlns="" xmlns:a16="http://schemas.microsoft.com/office/drawing/2014/main" id="{BD8911F3-78C2-1000-23BC-14B3E1C4530A}"/>
                  </a:ext>
                </a:extLst>
              </p:cNvPr>
              <p:cNvSpPr>
                <a:spLocks noChangeArrowheads="1"/>
              </p:cNvSpPr>
              <p:nvPr/>
            </p:nvSpPr>
            <p:spPr bwMode="auto">
              <a:xfrm>
                <a:off x="1583" y="2006"/>
                <a:ext cx="11" cy="33"/>
              </a:xfrm>
              <a:custGeom>
                <a:avLst/>
                <a:gdLst>
                  <a:gd name="T0" fmla="*/ 27 w 27"/>
                  <a:gd name="T1" fmla="*/ 7 h 82"/>
                  <a:gd name="T2" fmla="*/ 27 w 27"/>
                  <a:gd name="T3" fmla="*/ 5 h 82"/>
                  <a:gd name="T4" fmla="*/ 27 w 27"/>
                  <a:gd name="T5" fmla="*/ 2 h 82"/>
                  <a:gd name="T6" fmla="*/ 22 w 27"/>
                  <a:gd name="T7" fmla="*/ 0 h 82"/>
                  <a:gd name="T8" fmla="*/ 17 w 27"/>
                  <a:gd name="T9" fmla="*/ 0 h 82"/>
                  <a:gd name="T10" fmla="*/ 15 w 27"/>
                  <a:gd name="T11" fmla="*/ 0 h 82"/>
                  <a:gd name="T12" fmla="*/ 9 w 27"/>
                  <a:gd name="T13" fmla="*/ 0 h 82"/>
                  <a:gd name="T14" fmla="*/ 5 w 27"/>
                  <a:gd name="T15" fmla="*/ 2 h 82"/>
                  <a:gd name="T16" fmla="*/ 0 w 27"/>
                  <a:gd name="T17" fmla="*/ 5 h 82"/>
                  <a:gd name="T18" fmla="*/ 0 w 27"/>
                  <a:gd name="T19" fmla="*/ 70 h 82"/>
                  <a:gd name="T20" fmla="*/ 0 w 27"/>
                  <a:gd name="T21" fmla="*/ 72 h 82"/>
                  <a:gd name="T22" fmla="*/ 5 w 27"/>
                  <a:gd name="T23" fmla="*/ 75 h 82"/>
                  <a:gd name="T24" fmla="*/ 9 w 27"/>
                  <a:gd name="T25" fmla="*/ 80 h 82"/>
                  <a:gd name="T26" fmla="*/ 15 w 27"/>
                  <a:gd name="T27" fmla="*/ 82 h 82"/>
                  <a:gd name="T28" fmla="*/ 17 w 27"/>
                  <a:gd name="T29" fmla="*/ 82 h 82"/>
                  <a:gd name="T30" fmla="*/ 22 w 27"/>
                  <a:gd name="T31" fmla="*/ 80 h 82"/>
                  <a:gd name="T32" fmla="*/ 27 w 27"/>
                  <a:gd name="T33" fmla="*/ 75 h 82"/>
                  <a:gd name="T34" fmla="*/ 27 w 27"/>
                  <a:gd name="T35" fmla="*/ 72 h 82"/>
                  <a:gd name="T36" fmla="*/ 27 w 27"/>
                  <a:gd name="T37" fmla="*/ 7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82">
                    <a:moveTo>
                      <a:pt x="27" y="7"/>
                    </a:moveTo>
                    <a:lnTo>
                      <a:pt x="27" y="5"/>
                    </a:lnTo>
                    <a:lnTo>
                      <a:pt x="27" y="2"/>
                    </a:lnTo>
                    <a:lnTo>
                      <a:pt x="22" y="0"/>
                    </a:lnTo>
                    <a:lnTo>
                      <a:pt x="17" y="0"/>
                    </a:lnTo>
                    <a:lnTo>
                      <a:pt x="15" y="0"/>
                    </a:lnTo>
                    <a:lnTo>
                      <a:pt x="9" y="0"/>
                    </a:lnTo>
                    <a:lnTo>
                      <a:pt x="5" y="2"/>
                    </a:lnTo>
                    <a:lnTo>
                      <a:pt x="0" y="5"/>
                    </a:lnTo>
                    <a:lnTo>
                      <a:pt x="0" y="70"/>
                    </a:lnTo>
                    <a:lnTo>
                      <a:pt x="0" y="72"/>
                    </a:lnTo>
                    <a:lnTo>
                      <a:pt x="5" y="75"/>
                    </a:lnTo>
                    <a:lnTo>
                      <a:pt x="9" y="80"/>
                    </a:lnTo>
                    <a:lnTo>
                      <a:pt x="15" y="82"/>
                    </a:lnTo>
                    <a:lnTo>
                      <a:pt x="17" y="82"/>
                    </a:lnTo>
                    <a:lnTo>
                      <a:pt x="22" y="80"/>
                    </a:lnTo>
                    <a:lnTo>
                      <a:pt x="27" y="75"/>
                    </a:lnTo>
                    <a:lnTo>
                      <a:pt x="27" y="72"/>
                    </a:lnTo>
                    <a:lnTo>
                      <a:pt x="27" y="7"/>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192" name="任意多边形 14352">
                <a:extLst>
                  <a:ext uri="{FF2B5EF4-FFF2-40B4-BE49-F238E27FC236}">
                    <a16:creationId xmlns="" xmlns:a16="http://schemas.microsoft.com/office/drawing/2014/main" id="{1ADBAFD4-9660-FFE0-A47E-97FC12FA5B17}"/>
                  </a:ext>
                </a:extLst>
              </p:cNvPr>
              <p:cNvSpPr>
                <a:spLocks noChangeArrowheads="1"/>
              </p:cNvSpPr>
              <p:nvPr/>
            </p:nvSpPr>
            <p:spPr bwMode="auto">
              <a:xfrm>
                <a:off x="1583" y="2052"/>
                <a:ext cx="11" cy="32"/>
              </a:xfrm>
              <a:custGeom>
                <a:avLst/>
                <a:gdLst>
                  <a:gd name="T0" fmla="*/ 27 w 27"/>
                  <a:gd name="T1" fmla="*/ 7 h 79"/>
                  <a:gd name="T2" fmla="*/ 27 w 27"/>
                  <a:gd name="T3" fmla="*/ 4 h 79"/>
                  <a:gd name="T4" fmla="*/ 27 w 27"/>
                  <a:gd name="T5" fmla="*/ 2 h 79"/>
                  <a:gd name="T6" fmla="*/ 22 w 27"/>
                  <a:gd name="T7" fmla="*/ 0 h 79"/>
                  <a:gd name="T8" fmla="*/ 17 w 27"/>
                  <a:gd name="T9" fmla="*/ 0 h 79"/>
                  <a:gd name="T10" fmla="*/ 15 w 27"/>
                  <a:gd name="T11" fmla="*/ 0 h 79"/>
                  <a:gd name="T12" fmla="*/ 9 w 27"/>
                  <a:gd name="T13" fmla="*/ 0 h 79"/>
                  <a:gd name="T14" fmla="*/ 5 w 27"/>
                  <a:gd name="T15" fmla="*/ 2 h 79"/>
                  <a:gd name="T16" fmla="*/ 0 w 27"/>
                  <a:gd name="T17" fmla="*/ 4 h 79"/>
                  <a:gd name="T18" fmla="*/ 0 w 27"/>
                  <a:gd name="T19" fmla="*/ 69 h 79"/>
                  <a:gd name="T20" fmla="*/ 0 w 27"/>
                  <a:gd name="T21" fmla="*/ 72 h 79"/>
                  <a:gd name="T22" fmla="*/ 5 w 27"/>
                  <a:gd name="T23" fmla="*/ 74 h 79"/>
                  <a:gd name="T24" fmla="*/ 9 w 27"/>
                  <a:gd name="T25" fmla="*/ 77 h 79"/>
                  <a:gd name="T26" fmla="*/ 15 w 27"/>
                  <a:gd name="T27" fmla="*/ 79 h 79"/>
                  <a:gd name="T28" fmla="*/ 17 w 27"/>
                  <a:gd name="T29" fmla="*/ 79 h 79"/>
                  <a:gd name="T30" fmla="*/ 22 w 27"/>
                  <a:gd name="T31" fmla="*/ 77 h 79"/>
                  <a:gd name="T32" fmla="*/ 27 w 27"/>
                  <a:gd name="T33" fmla="*/ 74 h 79"/>
                  <a:gd name="T34" fmla="*/ 27 w 27"/>
                  <a:gd name="T35" fmla="*/ 72 h 79"/>
                  <a:gd name="T36" fmla="*/ 27 w 27"/>
                  <a:gd name="T37" fmla="*/ 7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79">
                    <a:moveTo>
                      <a:pt x="27" y="7"/>
                    </a:moveTo>
                    <a:lnTo>
                      <a:pt x="27" y="4"/>
                    </a:lnTo>
                    <a:lnTo>
                      <a:pt x="27" y="2"/>
                    </a:lnTo>
                    <a:lnTo>
                      <a:pt x="22" y="0"/>
                    </a:lnTo>
                    <a:lnTo>
                      <a:pt x="17" y="0"/>
                    </a:lnTo>
                    <a:lnTo>
                      <a:pt x="15" y="0"/>
                    </a:lnTo>
                    <a:lnTo>
                      <a:pt x="9" y="0"/>
                    </a:lnTo>
                    <a:lnTo>
                      <a:pt x="5" y="2"/>
                    </a:lnTo>
                    <a:lnTo>
                      <a:pt x="0" y="4"/>
                    </a:lnTo>
                    <a:lnTo>
                      <a:pt x="0" y="69"/>
                    </a:lnTo>
                    <a:lnTo>
                      <a:pt x="0" y="72"/>
                    </a:lnTo>
                    <a:lnTo>
                      <a:pt x="5" y="74"/>
                    </a:lnTo>
                    <a:lnTo>
                      <a:pt x="9" y="77"/>
                    </a:lnTo>
                    <a:lnTo>
                      <a:pt x="15" y="79"/>
                    </a:lnTo>
                    <a:lnTo>
                      <a:pt x="17" y="79"/>
                    </a:lnTo>
                    <a:lnTo>
                      <a:pt x="22" y="77"/>
                    </a:lnTo>
                    <a:lnTo>
                      <a:pt x="27" y="74"/>
                    </a:lnTo>
                    <a:lnTo>
                      <a:pt x="27" y="72"/>
                    </a:lnTo>
                    <a:lnTo>
                      <a:pt x="27" y="7"/>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193" name="任意多边形 14353">
                <a:extLst>
                  <a:ext uri="{FF2B5EF4-FFF2-40B4-BE49-F238E27FC236}">
                    <a16:creationId xmlns="" xmlns:a16="http://schemas.microsoft.com/office/drawing/2014/main" id="{B9827B66-A23F-BF19-C6EA-D6598437C5FA}"/>
                  </a:ext>
                </a:extLst>
              </p:cNvPr>
              <p:cNvSpPr>
                <a:spLocks noChangeArrowheads="1"/>
              </p:cNvSpPr>
              <p:nvPr/>
            </p:nvSpPr>
            <p:spPr bwMode="auto">
              <a:xfrm>
                <a:off x="1583" y="2097"/>
                <a:ext cx="11" cy="33"/>
              </a:xfrm>
              <a:custGeom>
                <a:avLst/>
                <a:gdLst>
                  <a:gd name="T0" fmla="*/ 27 w 27"/>
                  <a:gd name="T1" fmla="*/ 9 h 82"/>
                  <a:gd name="T2" fmla="*/ 27 w 27"/>
                  <a:gd name="T3" fmla="*/ 7 h 82"/>
                  <a:gd name="T4" fmla="*/ 27 w 27"/>
                  <a:gd name="T5" fmla="*/ 2 h 82"/>
                  <a:gd name="T6" fmla="*/ 22 w 27"/>
                  <a:gd name="T7" fmla="*/ 0 h 82"/>
                  <a:gd name="T8" fmla="*/ 17 w 27"/>
                  <a:gd name="T9" fmla="*/ 0 h 82"/>
                  <a:gd name="T10" fmla="*/ 15 w 27"/>
                  <a:gd name="T11" fmla="*/ 0 h 82"/>
                  <a:gd name="T12" fmla="*/ 9 w 27"/>
                  <a:gd name="T13" fmla="*/ 0 h 82"/>
                  <a:gd name="T14" fmla="*/ 5 w 27"/>
                  <a:gd name="T15" fmla="*/ 2 h 82"/>
                  <a:gd name="T16" fmla="*/ 0 w 27"/>
                  <a:gd name="T17" fmla="*/ 7 h 82"/>
                  <a:gd name="T18" fmla="*/ 0 w 27"/>
                  <a:gd name="T19" fmla="*/ 72 h 82"/>
                  <a:gd name="T20" fmla="*/ 0 w 27"/>
                  <a:gd name="T21" fmla="*/ 75 h 82"/>
                  <a:gd name="T22" fmla="*/ 5 w 27"/>
                  <a:gd name="T23" fmla="*/ 77 h 82"/>
                  <a:gd name="T24" fmla="*/ 9 w 27"/>
                  <a:gd name="T25" fmla="*/ 80 h 82"/>
                  <a:gd name="T26" fmla="*/ 15 w 27"/>
                  <a:gd name="T27" fmla="*/ 82 h 82"/>
                  <a:gd name="T28" fmla="*/ 17 w 27"/>
                  <a:gd name="T29" fmla="*/ 82 h 82"/>
                  <a:gd name="T30" fmla="*/ 22 w 27"/>
                  <a:gd name="T31" fmla="*/ 80 h 82"/>
                  <a:gd name="T32" fmla="*/ 27 w 27"/>
                  <a:gd name="T33" fmla="*/ 77 h 82"/>
                  <a:gd name="T34" fmla="*/ 27 w 27"/>
                  <a:gd name="T35" fmla="*/ 75 h 82"/>
                  <a:gd name="T36" fmla="*/ 27 w 27"/>
                  <a:gd name="T37" fmla="*/ 9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82">
                    <a:moveTo>
                      <a:pt x="27" y="9"/>
                    </a:moveTo>
                    <a:lnTo>
                      <a:pt x="27" y="7"/>
                    </a:lnTo>
                    <a:lnTo>
                      <a:pt x="27" y="2"/>
                    </a:lnTo>
                    <a:lnTo>
                      <a:pt x="22" y="0"/>
                    </a:lnTo>
                    <a:lnTo>
                      <a:pt x="17" y="0"/>
                    </a:lnTo>
                    <a:lnTo>
                      <a:pt x="15" y="0"/>
                    </a:lnTo>
                    <a:lnTo>
                      <a:pt x="9" y="0"/>
                    </a:lnTo>
                    <a:lnTo>
                      <a:pt x="5" y="2"/>
                    </a:lnTo>
                    <a:lnTo>
                      <a:pt x="0" y="7"/>
                    </a:lnTo>
                    <a:lnTo>
                      <a:pt x="0" y="72"/>
                    </a:lnTo>
                    <a:lnTo>
                      <a:pt x="0" y="75"/>
                    </a:lnTo>
                    <a:lnTo>
                      <a:pt x="5" y="77"/>
                    </a:lnTo>
                    <a:lnTo>
                      <a:pt x="9" y="80"/>
                    </a:lnTo>
                    <a:lnTo>
                      <a:pt x="15" y="82"/>
                    </a:lnTo>
                    <a:lnTo>
                      <a:pt x="17" y="82"/>
                    </a:lnTo>
                    <a:lnTo>
                      <a:pt x="22" y="80"/>
                    </a:lnTo>
                    <a:lnTo>
                      <a:pt x="27" y="77"/>
                    </a:lnTo>
                    <a:lnTo>
                      <a:pt x="27" y="75"/>
                    </a:lnTo>
                    <a:lnTo>
                      <a:pt x="27" y="9"/>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194" name="任意多边形 14354">
                <a:extLst>
                  <a:ext uri="{FF2B5EF4-FFF2-40B4-BE49-F238E27FC236}">
                    <a16:creationId xmlns="" xmlns:a16="http://schemas.microsoft.com/office/drawing/2014/main" id="{2BA68B9E-34C2-0CBB-6266-ED2956B9E516}"/>
                  </a:ext>
                </a:extLst>
              </p:cNvPr>
              <p:cNvSpPr>
                <a:spLocks noChangeArrowheads="1"/>
              </p:cNvSpPr>
              <p:nvPr/>
            </p:nvSpPr>
            <p:spPr bwMode="auto">
              <a:xfrm>
                <a:off x="1583" y="2143"/>
                <a:ext cx="11" cy="33"/>
              </a:xfrm>
              <a:custGeom>
                <a:avLst/>
                <a:gdLst>
                  <a:gd name="T0" fmla="*/ 27 w 27"/>
                  <a:gd name="T1" fmla="*/ 7 h 82"/>
                  <a:gd name="T2" fmla="*/ 27 w 27"/>
                  <a:gd name="T3" fmla="*/ 5 h 82"/>
                  <a:gd name="T4" fmla="*/ 27 w 27"/>
                  <a:gd name="T5" fmla="*/ 2 h 82"/>
                  <a:gd name="T6" fmla="*/ 22 w 27"/>
                  <a:gd name="T7" fmla="*/ 0 h 82"/>
                  <a:gd name="T8" fmla="*/ 17 w 27"/>
                  <a:gd name="T9" fmla="*/ 0 h 82"/>
                  <a:gd name="T10" fmla="*/ 15 w 27"/>
                  <a:gd name="T11" fmla="*/ 0 h 82"/>
                  <a:gd name="T12" fmla="*/ 9 w 27"/>
                  <a:gd name="T13" fmla="*/ 0 h 82"/>
                  <a:gd name="T14" fmla="*/ 5 w 27"/>
                  <a:gd name="T15" fmla="*/ 2 h 82"/>
                  <a:gd name="T16" fmla="*/ 0 w 27"/>
                  <a:gd name="T17" fmla="*/ 5 h 82"/>
                  <a:gd name="T18" fmla="*/ 0 w 27"/>
                  <a:gd name="T19" fmla="*/ 69 h 82"/>
                  <a:gd name="T20" fmla="*/ 0 w 27"/>
                  <a:gd name="T21" fmla="*/ 72 h 82"/>
                  <a:gd name="T22" fmla="*/ 5 w 27"/>
                  <a:gd name="T23" fmla="*/ 74 h 82"/>
                  <a:gd name="T24" fmla="*/ 9 w 27"/>
                  <a:gd name="T25" fmla="*/ 79 h 82"/>
                  <a:gd name="T26" fmla="*/ 15 w 27"/>
                  <a:gd name="T27" fmla="*/ 82 h 82"/>
                  <a:gd name="T28" fmla="*/ 17 w 27"/>
                  <a:gd name="T29" fmla="*/ 82 h 82"/>
                  <a:gd name="T30" fmla="*/ 22 w 27"/>
                  <a:gd name="T31" fmla="*/ 79 h 82"/>
                  <a:gd name="T32" fmla="*/ 27 w 27"/>
                  <a:gd name="T33" fmla="*/ 74 h 82"/>
                  <a:gd name="T34" fmla="*/ 27 w 27"/>
                  <a:gd name="T35" fmla="*/ 72 h 82"/>
                  <a:gd name="T36" fmla="*/ 27 w 27"/>
                  <a:gd name="T37" fmla="*/ 7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82">
                    <a:moveTo>
                      <a:pt x="27" y="7"/>
                    </a:moveTo>
                    <a:lnTo>
                      <a:pt x="27" y="5"/>
                    </a:lnTo>
                    <a:lnTo>
                      <a:pt x="27" y="2"/>
                    </a:lnTo>
                    <a:lnTo>
                      <a:pt x="22" y="0"/>
                    </a:lnTo>
                    <a:lnTo>
                      <a:pt x="17" y="0"/>
                    </a:lnTo>
                    <a:lnTo>
                      <a:pt x="15" y="0"/>
                    </a:lnTo>
                    <a:lnTo>
                      <a:pt x="9" y="0"/>
                    </a:lnTo>
                    <a:lnTo>
                      <a:pt x="5" y="2"/>
                    </a:lnTo>
                    <a:lnTo>
                      <a:pt x="0" y="5"/>
                    </a:lnTo>
                    <a:lnTo>
                      <a:pt x="0" y="69"/>
                    </a:lnTo>
                    <a:lnTo>
                      <a:pt x="0" y="72"/>
                    </a:lnTo>
                    <a:lnTo>
                      <a:pt x="5" y="74"/>
                    </a:lnTo>
                    <a:lnTo>
                      <a:pt x="9" y="79"/>
                    </a:lnTo>
                    <a:lnTo>
                      <a:pt x="15" y="82"/>
                    </a:lnTo>
                    <a:lnTo>
                      <a:pt x="17" y="82"/>
                    </a:lnTo>
                    <a:lnTo>
                      <a:pt x="22" y="79"/>
                    </a:lnTo>
                    <a:lnTo>
                      <a:pt x="27" y="74"/>
                    </a:lnTo>
                    <a:lnTo>
                      <a:pt x="27" y="72"/>
                    </a:lnTo>
                    <a:lnTo>
                      <a:pt x="27" y="7"/>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195" name="任意多边形 14355">
                <a:extLst>
                  <a:ext uri="{FF2B5EF4-FFF2-40B4-BE49-F238E27FC236}">
                    <a16:creationId xmlns="" xmlns:a16="http://schemas.microsoft.com/office/drawing/2014/main" id="{302A3D0A-E010-2E84-26F4-F7481BBF3423}"/>
                  </a:ext>
                </a:extLst>
              </p:cNvPr>
              <p:cNvSpPr>
                <a:spLocks noChangeArrowheads="1"/>
              </p:cNvSpPr>
              <p:nvPr/>
            </p:nvSpPr>
            <p:spPr bwMode="auto">
              <a:xfrm>
                <a:off x="1583" y="2189"/>
                <a:ext cx="11" cy="32"/>
              </a:xfrm>
              <a:custGeom>
                <a:avLst/>
                <a:gdLst>
                  <a:gd name="T0" fmla="*/ 27 w 27"/>
                  <a:gd name="T1" fmla="*/ 7 h 80"/>
                  <a:gd name="T2" fmla="*/ 27 w 27"/>
                  <a:gd name="T3" fmla="*/ 5 h 80"/>
                  <a:gd name="T4" fmla="*/ 27 w 27"/>
                  <a:gd name="T5" fmla="*/ 1 h 80"/>
                  <a:gd name="T6" fmla="*/ 22 w 27"/>
                  <a:gd name="T7" fmla="*/ 0 h 80"/>
                  <a:gd name="T8" fmla="*/ 17 w 27"/>
                  <a:gd name="T9" fmla="*/ 0 h 80"/>
                  <a:gd name="T10" fmla="*/ 15 w 27"/>
                  <a:gd name="T11" fmla="*/ 0 h 80"/>
                  <a:gd name="T12" fmla="*/ 9 w 27"/>
                  <a:gd name="T13" fmla="*/ 0 h 80"/>
                  <a:gd name="T14" fmla="*/ 5 w 27"/>
                  <a:gd name="T15" fmla="*/ 1 h 80"/>
                  <a:gd name="T16" fmla="*/ 0 w 27"/>
                  <a:gd name="T17" fmla="*/ 5 h 80"/>
                  <a:gd name="T18" fmla="*/ 0 w 27"/>
                  <a:gd name="T19" fmla="*/ 70 h 80"/>
                  <a:gd name="T20" fmla="*/ 0 w 27"/>
                  <a:gd name="T21" fmla="*/ 72 h 80"/>
                  <a:gd name="T22" fmla="*/ 5 w 27"/>
                  <a:gd name="T23" fmla="*/ 74 h 80"/>
                  <a:gd name="T24" fmla="*/ 9 w 27"/>
                  <a:gd name="T25" fmla="*/ 77 h 80"/>
                  <a:gd name="T26" fmla="*/ 15 w 27"/>
                  <a:gd name="T27" fmla="*/ 80 h 80"/>
                  <a:gd name="T28" fmla="*/ 17 w 27"/>
                  <a:gd name="T29" fmla="*/ 80 h 80"/>
                  <a:gd name="T30" fmla="*/ 22 w 27"/>
                  <a:gd name="T31" fmla="*/ 77 h 80"/>
                  <a:gd name="T32" fmla="*/ 27 w 27"/>
                  <a:gd name="T33" fmla="*/ 74 h 80"/>
                  <a:gd name="T34" fmla="*/ 27 w 27"/>
                  <a:gd name="T35" fmla="*/ 72 h 80"/>
                  <a:gd name="T36" fmla="*/ 27 w 27"/>
                  <a:gd name="T37" fmla="*/ 7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80">
                    <a:moveTo>
                      <a:pt x="27" y="7"/>
                    </a:moveTo>
                    <a:lnTo>
                      <a:pt x="27" y="5"/>
                    </a:lnTo>
                    <a:lnTo>
                      <a:pt x="27" y="1"/>
                    </a:lnTo>
                    <a:lnTo>
                      <a:pt x="22" y="0"/>
                    </a:lnTo>
                    <a:lnTo>
                      <a:pt x="17" y="0"/>
                    </a:lnTo>
                    <a:lnTo>
                      <a:pt x="15" y="0"/>
                    </a:lnTo>
                    <a:lnTo>
                      <a:pt x="9" y="0"/>
                    </a:lnTo>
                    <a:lnTo>
                      <a:pt x="5" y="1"/>
                    </a:lnTo>
                    <a:lnTo>
                      <a:pt x="0" y="5"/>
                    </a:lnTo>
                    <a:lnTo>
                      <a:pt x="0" y="70"/>
                    </a:lnTo>
                    <a:lnTo>
                      <a:pt x="0" y="72"/>
                    </a:lnTo>
                    <a:lnTo>
                      <a:pt x="5" y="74"/>
                    </a:lnTo>
                    <a:lnTo>
                      <a:pt x="9" y="77"/>
                    </a:lnTo>
                    <a:lnTo>
                      <a:pt x="15" y="80"/>
                    </a:lnTo>
                    <a:lnTo>
                      <a:pt x="17" y="80"/>
                    </a:lnTo>
                    <a:lnTo>
                      <a:pt x="22" y="77"/>
                    </a:lnTo>
                    <a:lnTo>
                      <a:pt x="27" y="74"/>
                    </a:lnTo>
                    <a:lnTo>
                      <a:pt x="27" y="72"/>
                    </a:lnTo>
                    <a:lnTo>
                      <a:pt x="27" y="7"/>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196" name="任意多边形 14356">
                <a:extLst>
                  <a:ext uri="{FF2B5EF4-FFF2-40B4-BE49-F238E27FC236}">
                    <a16:creationId xmlns="" xmlns:a16="http://schemas.microsoft.com/office/drawing/2014/main" id="{F4549135-4021-3C5D-B357-5C038698EEEF}"/>
                  </a:ext>
                </a:extLst>
              </p:cNvPr>
              <p:cNvSpPr>
                <a:spLocks noChangeArrowheads="1"/>
              </p:cNvSpPr>
              <p:nvPr/>
            </p:nvSpPr>
            <p:spPr bwMode="auto">
              <a:xfrm>
                <a:off x="1583" y="2234"/>
                <a:ext cx="11" cy="33"/>
              </a:xfrm>
              <a:custGeom>
                <a:avLst/>
                <a:gdLst>
                  <a:gd name="T0" fmla="*/ 27 w 27"/>
                  <a:gd name="T1" fmla="*/ 9 h 82"/>
                  <a:gd name="T2" fmla="*/ 27 w 27"/>
                  <a:gd name="T3" fmla="*/ 7 h 82"/>
                  <a:gd name="T4" fmla="*/ 27 w 27"/>
                  <a:gd name="T5" fmla="*/ 2 h 82"/>
                  <a:gd name="T6" fmla="*/ 22 w 27"/>
                  <a:gd name="T7" fmla="*/ 0 h 82"/>
                  <a:gd name="T8" fmla="*/ 17 w 27"/>
                  <a:gd name="T9" fmla="*/ 0 h 82"/>
                  <a:gd name="T10" fmla="*/ 15 w 27"/>
                  <a:gd name="T11" fmla="*/ 0 h 82"/>
                  <a:gd name="T12" fmla="*/ 9 w 27"/>
                  <a:gd name="T13" fmla="*/ 0 h 82"/>
                  <a:gd name="T14" fmla="*/ 5 w 27"/>
                  <a:gd name="T15" fmla="*/ 2 h 82"/>
                  <a:gd name="T16" fmla="*/ 0 w 27"/>
                  <a:gd name="T17" fmla="*/ 7 h 82"/>
                  <a:gd name="T18" fmla="*/ 0 w 27"/>
                  <a:gd name="T19" fmla="*/ 72 h 82"/>
                  <a:gd name="T20" fmla="*/ 0 w 27"/>
                  <a:gd name="T21" fmla="*/ 75 h 82"/>
                  <a:gd name="T22" fmla="*/ 5 w 27"/>
                  <a:gd name="T23" fmla="*/ 77 h 82"/>
                  <a:gd name="T24" fmla="*/ 9 w 27"/>
                  <a:gd name="T25" fmla="*/ 80 h 82"/>
                  <a:gd name="T26" fmla="*/ 15 w 27"/>
                  <a:gd name="T27" fmla="*/ 82 h 82"/>
                  <a:gd name="T28" fmla="*/ 17 w 27"/>
                  <a:gd name="T29" fmla="*/ 82 h 82"/>
                  <a:gd name="T30" fmla="*/ 22 w 27"/>
                  <a:gd name="T31" fmla="*/ 80 h 82"/>
                  <a:gd name="T32" fmla="*/ 27 w 27"/>
                  <a:gd name="T33" fmla="*/ 77 h 82"/>
                  <a:gd name="T34" fmla="*/ 27 w 27"/>
                  <a:gd name="T35" fmla="*/ 75 h 82"/>
                  <a:gd name="T36" fmla="*/ 27 w 27"/>
                  <a:gd name="T37" fmla="*/ 9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82">
                    <a:moveTo>
                      <a:pt x="27" y="9"/>
                    </a:moveTo>
                    <a:lnTo>
                      <a:pt x="27" y="7"/>
                    </a:lnTo>
                    <a:lnTo>
                      <a:pt x="27" y="2"/>
                    </a:lnTo>
                    <a:lnTo>
                      <a:pt x="22" y="0"/>
                    </a:lnTo>
                    <a:lnTo>
                      <a:pt x="17" y="0"/>
                    </a:lnTo>
                    <a:lnTo>
                      <a:pt x="15" y="0"/>
                    </a:lnTo>
                    <a:lnTo>
                      <a:pt x="9" y="0"/>
                    </a:lnTo>
                    <a:lnTo>
                      <a:pt x="5" y="2"/>
                    </a:lnTo>
                    <a:lnTo>
                      <a:pt x="0" y="7"/>
                    </a:lnTo>
                    <a:lnTo>
                      <a:pt x="0" y="72"/>
                    </a:lnTo>
                    <a:lnTo>
                      <a:pt x="0" y="75"/>
                    </a:lnTo>
                    <a:lnTo>
                      <a:pt x="5" y="77"/>
                    </a:lnTo>
                    <a:lnTo>
                      <a:pt x="9" y="80"/>
                    </a:lnTo>
                    <a:lnTo>
                      <a:pt x="15" y="82"/>
                    </a:lnTo>
                    <a:lnTo>
                      <a:pt x="17" y="82"/>
                    </a:lnTo>
                    <a:lnTo>
                      <a:pt x="22" y="80"/>
                    </a:lnTo>
                    <a:lnTo>
                      <a:pt x="27" y="77"/>
                    </a:lnTo>
                    <a:lnTo>
                      <a:pt x="27" y="75"/>
                    </a:lnTo>
                    <a:lnTo>
                      <a:pt x="27" y="9"/>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197" name="任意多边形 14357">
                <a:extLst>
                  <a:ext uri="{FF2B5EF4-FFF2-40B4-BE49-F238E27FC236}">
                    <a16:creationId xmlns="" xmlns:a16="http://schemas.microsoft.com/office/drawing/2014/main" id="{9B766A70-17EA-F6CA-C8F2-955A60BAFB65}"/>
                  </a:ext>
                </a:extLst>
              </p:cNvPr>
              <p:cNvSpPr>
                <a:spLocks noChangeArrowheads="1"/>
              </p:cNvSpPr>
              <p:nvPr/>
            </p:nvSpPr>
            <p:spPr bwMode="auto">
              <a:xfrm>
                <a:off x="1583" y="2280"/>
                <a:ext cx="11" cy="33"/>
              </a:xfrm>
              <a:custGeom>
                <a:avLst/>
                <a:gdLst>
                  <a:gd name="T0" fmla="*/ 27 w 27"/>
                  <a:gd name="T1" fmla="*/ 7 h 82"/>
                  <a:gd name="T2" fmla="*/ 27 w 27"/>
                  <a:gd name="T3" fmla="*/ 5 h 82"/>
                  <a:gd name="T4" fmla="*/ 27 w 27"/>
                  <a:gd name="T5" fmla="*/ 2 h 82"/>
                  <a:gd name="T6" fmla="*/ 22 w 27"/>
                  <a:gd name="T7" fmla="*/ 0 h 82"/>
                  <a:gd name="T8" fmla="*/ 17 w 27"/>
                  <a:gd name="T9" fmla="*/ 0 h 82"/>
                  <a:gd name="T10" fmla="*/ 15 w 27"/>
                  <a:gd name="T11" fmla="*/ 0 h 82"/>
                  <a:gd name="T12" fmla="*/ 9 w 27"/>
                  <a:gd name="T13" fmla="*/ 0 h 82"/>
                  <a:gd name="T14" fmla="*/ 5 w 27"/>
                  <a:gd name="T15" fmla="*/ 2 h 82"/>
                  <a:gd name="T16" fmla="*/ 0 w 27"/>
                  <a:gd name="T17" fmla="*/ 5 h 82"/>
                  <a:gd name="T18" fmla="*/ 0 w 27"/>
                  <a:gd name="T19" fmla="*/ 69 h 82"/>
                  <a:gd name="T20" fmla="*/ 0 w 27"/>
                  <a:gd name="T21" fmla="*/ 72 h 82"/>
                  <a:gd name="T22" fmla="*/ 5 w 27"/>
                  <a:gd name="T23" fmla="*/ 74 h 82"/>
                  <a:gd name="T24" fmla="*/ 9 w 27"/>
                  <a:gd name="T25" fmla="*/ 79 h 82"/>
                  <a:gd name="T26" fmla="*/ 15 w 27"/>
                  <a:gd name="T27" fmla="*/ 82 h 82"/>
                  <a:gd name="T28" fmla="*/ 17 w 27"/>
                  <a:gd name="T29" fmla="*/ 82 h 82"/>
                  <a:gd name="T30" fmla="*/ 22 w 27"/>
                  <a:gd name="T31" fmla="*/ 79 h 82"/>
                  <a:gd name="T32" fmla="*/ 27 w 27"/>
                  <a:gd name="T33" fmla="*/ 74 h 82"/>
                  <a:gd name="T34" fmla="*/ 27 w 27"/>
                  <a:gd name="T35" fmla="*/ 72 h 82"/>
                  <a:gd name="T36" fmla="*/ 27 w 27"/>
                  <a:gd name="T37" fmla="*/ 7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82">
                    <a:moveTo>
                      <a:pt x="27" y="7"/>
                    </a:moveTo>
                    <a:lnTo>
                      <a:pt x="27" y="5"/>
                    </a:lnTo>
                    <a:lnTo>
                      <a:pt x="27" y="2"/>
                    </a:lnTo>
                    <a:lnTo>
                      <a:pt x="22" y="0"/>
                    </a:lnTo>
                    <a:lnTo>
                      <a:pt x="17" y="0"/>
                    </a:lnTo>
                    <a:lnTo>
                      <a:pt x="15" y="0"/>
                    </a:lnTo>
                    <a:lnTo>
                      <a:pt x="9" y="0"/>
                    </a:lnTo>
                    <a:lnTo>
                      <a:pt x="5" y="2"/>
                    </a:lnTo>
                    <a:lnTo>
                      <a:pt x="0" y="5"/>
                    </a:lnTo>
                    <a:lnTo>
                      <a:pt x="0" y="69"/>
                    </a:lnTo>
                    <a:lnTo>
                      <a:pt x="0" y="72"/>
                    </a:lnTo>
                    <a:lnTo>
                      <a:pt x="5" y="74"/>
                    </a:lnTo>
                    <a:lnTo>
                      <a:pt x="9" y="79"/>
                    </a:lnTo>
                    <a:lnTo>
                      <a:pt x="15" y="82"/>
                    </a:lnTo>
                    <a:lnTo>
                      <a:pt x="17" y="82"/>
                    </a:lnTo>
                    <a:lnTo>
                      <a:pt x="22" y="79"/>
                    </a:lnTo>
                    <a:lnTo>
                      <a:pt x="27" y="74"/>
                    </a:lnTo>
                    <a:lnTo>
                      <a:pt x="27" y="72"/>
                    </a:lnTo>
                    <a:lnTo>
                      <a:pt x="27" y="7"/>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198" name="任意多边形 14358">
                <a:extLst>
                  <a:ext uri="{FF2B5EF4-FFF2-40B4-BE49-F238E27FC236}">
                    <a16:creationId xmlns="" xmlns:a16="http://schemas.microsoft.com/office/drawing/2014/main" id="{8B21765B-5E8E-5FBC-C285-B776155FF8CA}"/>
                  </a:ext>
                </a:extLst>
              </p:cNvPr>
              <p:cNvSpPr>
                <a:spLocks noChangeArrowheads="1"/>
              </p:cNvSpPr>
              <p:nvPr/>
            </p:nvSpPr>
            <p:spPr bwMode="auto">
              <a:xfrm>
                <a:off x="1583" y="2326"/>
                <a:ext cx="11" cy="32"/>
              </a:xfrm>
              <a:custGeom>
                <a:avLst/>
                <a:gdLst>
                  <a:gd name="T0" fmla="*/ 27 w 27"/>
                  <a:gd name="T1" fmla="*/ 7 h 80"/>
                  <a:gd name="T2" fmla="*/ 27 w 27"/>
                  <a:gd name="T3" fmla="*/ 4 h 80"/>
                  <a:gd name="T4" fmla="*/ 27 w 27"/>
                  <a:gd name="T5" fmla="*/ 2 h 80"/>
                  <a:gd name="T6" fmla="*/ 22 w 27"/>
                  <a:gd name="T7" fmla="*/ 0 h 80"/>
                  <a:gd name="T8" fmla="*/ 17 w 27"/>
                  <a:gd name="T9" fmla="*/ 0 h 80"/>
                  <a:gd name="T10" fmla="*/ 15 w 27"/>
                  <a:gd name="T11" fmla="*/ 0 h 80"/>
                  <a:gd name="T12" fmla="*/ 9 w 27"/>
                  <a:gd name="T13" fmla="*/ 0 h 80"/>
                  <a:gd name="T14" fmla="*/ 5 w 27"/>
                  <a:gd name="T15" fmla="*/ 2 h 80"/>
                  <a:gd name="T16" fmla="*/ 0 w 27"/>
                  <a:gd name="T17" fmla="*/ 4 h 80"/>
                  <a:gd name="T18" fmla="*/ 0 w 27"/>
                  <a:gd name="T19" fmla="*/ 69 h 80"/>
                  <a:gd name="T20" fmla="*/ 0 w 27"/>
                  <a:gd name="T21" fmla="*/ 72 h 80"/>
                  <a:gd name="T22" fmla="*/ 5 w 27"/>
                  <a:gd name="T23" fmla="*/ 74 h 80"/>
                  <a:gd name="T24" fmla="*/ 9 w 27"/>
                  <a:gd name="T25" fmla="*/ 77 h 80"/>
                  <a:gd name="T26" fmla="*/ 15 w 27"/>
                  <a:gd name="T27" fmla="*/ 80 h 80"/>
                  <a:gd name="T28" fmla="*/ 17 w 27"/>
                  <a:gd name="T29" fmla="*/ 80 h 80"/>
                  <a:gd name="T30" fmla="*/ 22 w 27"/>
                  <a:gd name="T31" fmla="*/ 77 h 80"/>
                  <a:gd name="T32" fmla="*/ 27 w 27"/>
                  <a:gd name="T33" fmla="*/ 74 h 80"/>
                  <a:gd name="T34" fmla="*/ 27 w 27"/>
                  <a:gd name="T35" fmla="*/ 72 h 80"/>
                  <a:gd name="T36" fmla="*/ 27 w 27"/>
                  <a:gd name="T37" fmla="*/ 7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80">
                    <a:moveTo>
                      <a:pt x="27" y="7"/>
                    </a:moveTo>
                    <a:lnTo>
                      <a:pt x="27" y="4"/>
                    </a:lnTo>
                    <a:lnTo>
                      <a:pt x="27" y="2"/>
                    </a:lnTo>
                    <a:lnTo>
                      <a:pt x="22" y="0"/>
                    </a:lnTo>
                    <a:lnTo>
                      <a:pt x="17" y="0"/>
                    </a:lnTo>
                    <a:lnTo>
                      <a:pt x="15" y="0"/>
                    </a:lnTo>
                    <a:lnTo>
                      <a:pt x="9" y="0"/>
                    </a:lnTo>
                    <a:lnTo>
                      <a:pt x="5" y="2"/>
                    </a:lnTo>
                    <a:lnTo>
                      <a:pt x="0" y="4"/>
                    </a:lnTo>
                    <a:lnTo>
                      <a:pt x="0" y="69"/>
                    </a:lnTo>
                    <a:lnTo>
                      <a:pt x="0" y="72"/>
                    </a:lnTo>
                    <a:lnTo>
                      <a:pt x="5" y="74"/>
                    </a:lnTo>
                    <a:lnTo>
                      <a:pt x="9" y="77"/>
                    </a:lnTo>
                    <a:lnTo>
                      <a:pt x="15" y="80"/>
                    </a:lnTo>
                    <a:lnTo>
                      <a:pt x="17" y="80"/>
                    </a:lnTo>
                    <a:lnTo>
                      <a:pt x="22" y="77"/>
                    </a:lnTo>
                    <a:lnTo>
                      <a:pt x="27" y="74"/>
                    </a:lnTo>
                    <a:lnTo>
                      <a:pt x="27" y="72"/>
                    </a:lnTo>
                    <a:lnTo>
                      <a:pt x="27" y="7"/>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199" name="任意多边形 14359">
                <a:extLst>
                  <a:ext uri="{FF2B5EF4-FFF2-40B4-BE49-F238E27FC236}">
                    <a16:creationId xmlns="" xmlns:a16="http://schemas.microsoft.com/office/drawing/2014/main" id="{F4299843-8098-FAD1-776D-EC0C0897A045}"/>
                  </a:ext>
                </a:extLst>
              </p:cNvPr>
              <p:cNvSpPr>
                <a:spLocks noChangeArrowheads="1"/>
              </p:cNvSpPr>
              <p:nvPr/>
            </p:nvSpPr>
            <p:spPr bwMode="auto">
              <a:xfrm>
                <a:off x="1583" y="2371"/>
                <a:ext cx="11" cy="33"/>
              </a:xfrm>
              <a:custGeom>
                <a:avLst/>
                <a:gdLst>
                  <a:gd name="T0" fmla="*/ 27 w 27"/>
                  <a:gd name="T1" fmla="*/ 10 h 82"/>
                  <a:gd name="T2" fmla="*/ 27 w 27"/>
                  <a:gd name="T3" fmla="*/ 7 h 82"/>
                  <a:gd name="T4" fmla="*/ 27 w 27"/>
                  <a:gd name="T5" fmla="*/ 2 h 82"/>
                  <a:gd name="T6" fmla="*/ 22 w 27"/>
                  <a:gd name="T7" fmla="*/ 0 h 82"/>
                  <a:gd name="T8" fmla="*/ 17 w 27"/>
                  <a:gd name="T9" fmla="*/ 0 h 82"/>
                  <a:gd name="T10" fmla="*/ 15 w 27"/>
                  <a:gd name="T11" fmla="*/ 0 h 82"/>
                  <a:gd name="T12" fmla="*/ 9 w 27"/>
                  <a:gd name="T13" fmla="*/ 0 h 82"/>
                  <a:gd name="T14" fmla="*/ 5 w 27"/>
                  <a:gd name="T15" fmla="*/ 2 h 82"/>
                  <a:gd name="T16" fmla="*/ 0 w 27"/>
                  <a:gd name="T17" fmla="*/ 7 h 82"/>
                  <a:gd name="T18" fmla="*/ 0 w 27"/>
                  <a:gd name="T19" fmla="*/ 72 h 82"/>
                  <a:gd name="T20" fmla="*/ 0 w 27"/>
                  <a:gd name="T21" fmla="*/ 75 h 82"/>
                  <a:gd name="T22" fmla="*/ 5 w 27"/>
                  <a:gd name="T23" fmla="*/ 77 h 82"/>
                  <a:gd name="T24" fmla="*/ 9 w 27"/>
                  <a:gd name="T25" fmla="*/ 79 h 82"/>
                  <a:gd name="T26" fmla="*/ 15 w 27"/>
                  <a:gd name="T27" fmla="*/ 82 h 82"/>
                  <a:gd name="T28" fmla="*/ 17 w 27"/>
                  <a:gd name="T29" fmla="*/ 82 h 82"/>
                  <a:gd name="T30" fmla="*/ 22 w 27"/>
                  <a:gd name="T31" fmla="*/ 79 h 82"/>
                  <a:gd name="T32" fmla="*/ 27 w 27"/>
                  <a:gd name="T33" fmla="*/ 77 h 82"/>
                  <a:gd name="T34" fmla="*/ 27 w 27"/>
                  <a:gd name="T35" fmla="*/ 75 h 82"/>
                  <a:gd name="T36" fmla="*/ 27 w 27"/>
                  <a:gd name="T37" fmla="*/ 10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82">
                    <a:moveTo>
                      <a:pt x="27" y="10"/>
                    </a:moveTo>
                    <a:lnTo>
                      <a:pt x="27" y="7"/>
                    </a:lnTo>
                    <a:lnTo>
                      <a:pt x="27" y="2"/>
                    </a:lnTo>
                    <a:lnTo>
                      <a:pt x="22" y="0"/>
                    </a:lnTo>
                    <a:lnTo>
                      <a:pt x="17" y="0"/>
                    </a:lnTo>
                    <a:lnTo>
                      <a:pt x="15" y="0"/>
                    </a:lnTo>
                    <a:lnTo>
                      <a:pt x="9" y="0"/>
                    </a:lnTo>
                    <a:lnTo>
                      <a:pt x="5" y="2"/>
                    </a:lnTo>
                    <a:lnTo>
                      <a:pt x="0" y="7"/>
                    </a:lnTo>
                    <a:lnTo>
                      <a:pt x="0" y="72"/>
                    </a:lnTo>
                    <a:lnTo>
                      <a:pt x="0" y="75"/>
                    </a:lnTo>
                    <a:lnTo>
                      <a:pt x="5" y="77"/>
                    </a:lnTo>
                    <a:lnTo>
                      <a:pt x="9" y="79"/>
                    </a:lnTo>
                    <a:lnTo>
                      <a:pt x="15" y="82"/>
                    </a:lnTo>
                    <a:lnTo>
                      <a:pt x="17" y="82"/>
                    </a:lnTo>
                    <a:lnTo>
                      <a:pt x="22" y="79"/>
                    </a:lnTo>
                    <a:lnTo>
                      <a:pt x="27" y="77"/>
                    </a:lnTo>
                    <a:lnTo>
                      <a:pt x="27" y="75"/>
                    </a:lnTo>
                    <a:lnTo>
                      <a:pt x="27" y="10"/>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200" name="任意多边形 14360">
                <a:extLst>
                  <a:ext uri="{FF2B5EF4-FFF2-40B4-BE49-F238E27FC236}">
                    <a16:creationId xmlns="" xmlns:a16="http://schemas.microsoft.com/office/drawing/2014/main" id="{98FEE4E7-8DBD-5097-B348-773C9E9A2BD4}"/>
                  </a:ext>
                </a:extLst>
              </p:cNvPr>
              <p:cNvSpPr>
                <a:spLocks noChangeArrowheads="1"/>
              </p:cNvSpPr>
              <p:nvPr/>
            </p:nvSpPr>
            <p:spPr bwMode="auto">
              <a:xfrm>
                <a:off x="1583" y="2417"/>
                <a:ext cx="11" cy="33"/>
              </a:xfrm>
              <a:custGeom>
                <a:avLst/>
                <a:gdLst>
                  <a:gd name="T0" fmla="*/ 27 w 27"/>
                  <a:gd name="T1" fmla="*/ 7 h 82"/>
                  <a:gd name="T2" fmla="*/ 27 w 27"/>
                  <a:gd name="T3" fmla="*/ 4 h 82"/>
                  <a:gd name="T4" fmla="*/ 27 w 27"/>
                  <a:gd name="T5" fmla="*/ 2 h 82"/>
                  <a:gd name="T6" fmla="*/ 22 w 27"/>
                  <a:gd name="T7" fmla="*/ 0 h 82"/>
                  <a:gd name="T8" fmla="*/ 17 w 27"/>
                  <a:gd name="T9" fmla="*/ 0 h 82"/>
                  <a:gd name="T10" fmla="*/ 15 w 27"/>
                  <a:gd name="T11" fmla="*/ 0 h 82"/>
                  <a:gd name="T12" fmla="*/ 9 w 27"/>
                  <a:gd name="T13" fmla="*/ 0 h 82"/>
                  <a:gd name="T14" fmla="*/ 5 w 27"/>
                  <a:gd name="T15" fmla="*/ 2 h 82"/>
                  <a:gd name="T16" fmla="*/ 0 w 27"/>
                  <a:gd name="T17" fmla="*/ 4 h 82"/>
                  <a:gd name="T18" fmla="*/ 0 w 27"/>
                  <a:gd name="T19" fmla="*/ 69 h 82"/>
                  <a:gd name="T20" fmla="*/ 0 w 27"/>
                  <a:gd name="T21" fmla="*/ 72 h 82"/>
                  <a:gd name="T22" fmla="*/ 5 w 27"/>
                  <a:gd name="T23" fmla="*/ 75 h 82"/>
                  <a:gd name="T24" fmla="*/ 9 w 27"/>
                  <a:gd name="T25" fmla="*/ 79 h 82"/>
                  <a:gd name="T26" fmla="*/ 15 w 27"/>
                  <a:gd name="T27" fmla="*/ 82 h 82"/>
                  <a:gd name="T28" fmla="*/ 17 w 27"/>
                  <a:gd name="T29" fmla="*/ 82 h 82"/>
                  <a:gd name="T30" fmla="*/ 22 w 27"/>
                  <a:gd name="T31" fmla="*/ 79 h 82"/>
                  <a:gd name="T32" fmla="*/ 27 w 27"/>
                  <a:gd name="T33" fmla="*/ 75 h 82"/>
                  <a:gd name="T34" fmla="*/ 27 w 27"/>
                  <a:gd name="T35" fmla="*/ 72 h 82"/>
                  <a:gd name="T36" fmla="*/ 27 w 27"/>
                  <a:gd name="T37" fmla="*/ 7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82">
                    <a:moveTo>
                      <a:pt x="27" y="7"/>
                    </a:moveTo>
                    <a:lnTo>
                      <a:pt x="27" y="4"/>
                    </a:lnTo>
                    <a:lnTo>
                      <a:pt x="27" y="2"/>
                    </a:lnTo>
                    <a:lnTo>
                      <a:pt x="22" y="0"/>
                    </a:lnTo>
                    <a:lnTo>
                      <a:pt x="17" y="0"/>
                    </a:lnTo>
                    <a:lnTo>
                      <a:pt x="15" y="0"/>
                    </a:lnTo>
                    <a:lnTo>
                      <a:pt x="9" y="0"/>
                    </a:lnTo>
                    <a:lnTo>
                      <a:pt x="5" y="2"/>
                    </a:lnTo>
                    <a:lnTo>
                      <a:pt x="0" y="4"/>
                    </a:lnTo>
                    <a:lnTo>
                      <a:pt x="0" y="69"/>
                    </a:lnTo>
                    <a:lnTo>
                      <a:pt x="0" y="72"/>
                    </a:lnTo>
                    <a:lnTo>
                      <a:pt x="5" y="75"/>
                    </a:lnTo>
                    <a:lnTo>
                      <a:pt x="9" y="79"/>
                    </a:lnTo>
                    <a:lnTo>
                      <a:pt x="15" y="82"/>
                    </a:lnTo>
                    <a:lnTo>
                      <a:pt x="17" y="82"/>
                    </a:lnTo>
                    <a:lnTo>
                      <a:pt x="22" y="79"/>
                    </a:lnTo>
                    <a:lnTo>
                      <a:pt x="27" y="75"/>
                    </a:lnTo>
                    <a:lnTo>
                      <a:pt x="27" y="72"/>
                    </a:lnTo>
                    <a:lnTo>
                      <a:pt x="27" y="7"/>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201" name="任意多边形 14361">
                <a:extLst>
                  <a:ext uri="{FF2B5EF4-FFF2-40B4-BE49-F238E27FC236}">
                    <a16:creationId xmlns="" xmlns:a16="http://schemas.microsoft.com/office/drawing/2014/main" id="{0DDEDEDD-D37F-CDEC-7AEF-32586A88F458}"/>
                  </a:ext>
                </a:extLst>
              </p:cNvPr>
              <p:cNvSpPr>
                <a:spLocks noChangeArrowheads="1"/>
              </p:cNvSpPr>
              <p:nvPr/>
            </p:nvSpPr>
            <p:spPr bwMode="auto">
              <a:xfrm>
                <a:off x="1583" y="2463"/>
                <a:ext cx="11" cy="32"/>
              </a:xfrm>
              <a:custGeom>
                <a:avLst/>
                <a:gdLst>
                  <a:gd name="T0" fmla="*/ 27 w 27"/>
                  <a:gd name="T1" fmla="*/ 7 h 80"/>
                  <a:gd name="T2" fmla="*/ 27 w 27"/>
                  <a:gd name="T3" fmla="*/ 4 h 80"/>
                  <a:gd name="T4" fmla="*/ 27 w 27"/>
                  <a:gd name="T5" fmla="*/ 2 h 80"/>
                  <a:gd name="T6" fmla="*/ 22 w 27"/>
                  <a:gd name="T7" fmla="*/ 0 h 80"/>
                  <a:gd name="T8" fmla="*/ 17 w 27"/>
                  <a:gd name="T9" fmla="*/ 0 h 80"/>
                  <a:gd name="T10" fmla="*/ 15 w 27"/>
                  <a:gd name="T11" fmla="*/ 0 h 80"/>
                  <a:gd name="T12" fmla="*/ 9 w 27"/>
                  <a:gd name="T13" fmla="*/ 0 h 80"/>
                  <a:gd name="T14" fmla="*/ 5 w 27"/>
                  <a:gd name="T15" fmla="*/ 2 h 80"/>
                  <a:gd name="T16" fmla="*/ 0 w 27"/>
                  <a:gd name="T17" fmla="*/ 4 h 80"/>
                  <a:gd name="T18" fmla="*/ 0 w 27"/>
                  <a:gd name="T19" fmla="*/ 69 h 80"/>
                  <a:gd name="T20" fmla="*/ 0 w 27"/>
                  <a:gd name="T21" fmla="*/ 72 h 80"/>
                  <a:gd name="T22" fmla="*/ 5 w 27"/>
                  <a:gd name="T23" fmla="*/ 74 h 80"/>
                  <a:gd name="T24" fmla="*/ 9 w 27"/>
                  <a:gd name="T25" fmla="*/ 77 h 80"/>
                  <a:gd name="T26" fmla="*/ 15 w 27"/>
                  <a:gd name="T27" fmla="*/ 80 h 80"/>
                  <a:gd name="T28" fmla="*/ 17 w 27"/>
                  <a:gd name="T29" fmla="*/ 80 h 80"/>
                  <a:gd name="T30" fmla="*/ 22 w 27"/>
                  <a:gd name="T31" fmla="*/ 77 h 80"/>
                  <a:gd name="T32" fmla="*/ 27 w 27"/>
                  <a:gd name="T33" fmla="*/ 74 h 80"/>
                  <a:gd name="T34" fmla="*/ 27 w 27"/>
                  <a:gd name="T35" fmla="*/ 72 h 80"/>
                  <a:gd name="T36" fmla="*/ 27 w 27"/>
                  <a:gd name="T37" fmla="*/ 7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80">
                    <a:moveTo>
                      <a:pt x="27" y="7"/>
                    </a:moveTo>
                    <a:lnTo>
                      <a:pt x="27" y="4"/>
                    </a:lnTo>
                    <a:lnTo>
                      <a:pt x="27" y="2"/>
                    </a:lnTo>
                    <a:lnTo>
                      <a:pt x="22" y="0"/>
                    </a:lnTo>
                    <a:lnTo>
                      <a:pt x="17" y="0"/>
                    </a:lnTo>
                    <a:lnTo>
                      <a:pt x="15" y="0"/>
                    </a:lnTo>
                    <a:lnTo>
                      <a:pt x="9" y="0"/>
                    </a:lnTo>
                    <a:lnTo>
                      <a:pt x="5" y="2"/>
                    </a:lnTo>
                    <a:lnTo>
                      <a:pt x="0" y="4"/>
                    </a:lnTo>
                    <a:lnTo>
                      <a:pt x="0" y="69"/>
                    </a:lnTo>
                    <a:lnTo>
                      <a:pt x="0" y="72"/>
                    </a:lnTo>
                    <a:lnTo>
                      <a:pt x="5" y="74"/>
                    </a:lnTo>
                    <a:lnTo>
                      <a:pt x="9" y="77"/>
                    </a:lnTo>
                    <a:lnTo>
                      <a:pt x="15" y="80"/>
                    </a:lnTo>
                    <a:lnTo>
                      <a:pt x="17" y="80"/>
                    </a:lnTo>
                    <a:lnTo>
                      <a:pt x="22" y="77"/>
                    </a:lnTo>
                    <a:lnTo>
                      <a:pt x="27" y="74"/>
                    </a:lnTo>
                    <a:lnTo>
                      <a:pt x="27" y="72"/>
                    </a:lnTo>
                    <a:lnTo>
                      <a:pt x="27" y="7"/>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202" name="任意多边形 14362">
                <a:extLst>
                  <a:ext uri="{FF2B5EF4-FFF2-40B4-BE49-F238E27FC236}">
                    <a16:creationId xmlns="" xmlns:a16="http://schemas.microsoft.com/office/drawing/2014/main" id="{C06FB4AD-ABDC-A5C4-C2C3-72F9417F702A}"/>
                  </a:ext>
                </a:extLst>
              </p:cNvPr>
              <p:cNvSpPr>
                <a:spLocks noChangeArrowheads="1"/>
              </p:cNvSpPr>
              <p:nvPr/>
            </p:nvSpPr>
            <p:spPr bwMode="auto">
              <a:xfrm>
                <a:off x="1583" y="2508"/>
                <a:ext cx="11" cy="33"/>
              </a:xfrm>
              <a:custGeom>
                <a:avLst/>
                <a:gdLst>
                  <a:gd name="T0" fmla="*/ 27 w 27"/>
                  <a:gd name="T1" fmla="*/ 10 h 82"/>
                  <a:gd name="T2" fmla="*/ 27 w 27"/>
                  <a:gd name="T3" fmla="*/ 7 h 82"/>
                  <a:gd name="T4" fmla="*/ 27 w 27"/>
                  <a:gd name="T5" fmla="*/ 2 h 82"/>
                  <a:gd name="T6" fmla="*/ 22 w 27"/>
                  <a:gd name="T7" fmla="*/ 0 h 82"/>
                  <a:gd name="T8" fmla="*/ 17 w 27"/>
                  <a:gd name="T9" fmla="*/ 0 h 82"/>
                  <a:gd name="T10" fmla="*/ 15 w 27"/>
                  <a:gd name="T11" fmla="*/ 0 h 82"/>
                  <a:gd name="T12" fmla="*/ 9 w 27"/>
                  <a:gd name="T13" fmla="*/ 0 h 82"/>
                  <a:gd name="T14" fmla="*/ 5 w 27"/>
                  <a:gd name="T15" fmla="*/ 2 h 82"/>
                  <a:gd name="T16" fmla="*/ 0 w 27"/>
                  <a:gd name="T17" fmla="*/ 7 h 82"/>
                  <a:gd name="T18" fmla="*/ 0 w 27"/>
                  <a:gd name="T19" fmla="*/ 72 h 82"/>
                  <a:gd name="T20" fmla="*/ 0 w 27"/>
                  <a:gd name="T21" fmla="*/ 75 h 82"/>
                  <a:gd name="T22" fmla="*/ 5 w 27"/>
                  <a:gd name="T23" fmla="*/ 77 h 82"/>
                  <a:gd name="T24" fmla="*/ 9 w 27"/>
                  <a:gd name="T25" fmla="*/ 79 h 82"/>
                  <a:gd name="T26" fmla="*/ 15 w 27"/>
                  <a:gd name="T27" fmla="*/ 82 h 82"/>
                  <a:gd name="T28" fmla="*/ 17 w 27"/>
                  <a:gd name="T29" fmla="*/ 82 h 82"/>
                  <a:gd name="T30" fmla="*/ 22 w 27"/>
                  <a:gd name="T31" fmla="*/ 79 h 82"/>
                  <a:gd name="T32" fmla="*/ 27 w 27"/>
                  <a:gd name="T33" fmla="*/ 77 h 82"/>
                  <a:gd name="T34" fmla="*/ 27 w 27"/>
                  <a:gd name="T35" fmla="*/ 75 h 82"/>
                  <a:gd name="T36" fmla="*/ 27 w 27"/>
                  <a:gd name="T37" fmla="*/ 10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82">
                    <a:moveTo>
                      <a:pt x="27" y="10"/>
                    </a:moveTo>
                    <a:lnTo>
                      <a:pt x="27" y="7"/>
                    </a:lnTo>
                    <a:lnTo>
                      <a:pt x="27" y="2"/>
                    </a:lnTo>
                    <a:lnTo>
                      <a:pt x="22" y="0"/>
                    </a:lnTo>
                    <a:lnTo>
                      <a:pt x="17" y="0"/>
                    </a:lnTo>
                    <a:lnTo>
                      <a:pt x="15" y="0"/>
                    </a:lnTo>
                    <a:lnTo>
                      <a:pt x="9" y="0"/>
                    </a:lnTo>
                    <a:lnTo>
                      <a:pt x="5" y="2"/>
                    </a:lnTo>
                    <a:lnTo>
                      <a:pt x="0" y="7"/>
                    </a:lnTo>
                    <a:lnTo>
                      <a:pt x="0" y="72"/>
                    </a:lnTo>
                    <a:lnTo>
                      <a:pt x="0" y="75"/>
                    </a:lnTo>
                    <a:lnTo>
                      <a:pt x="5" y="77"/>
                    </a:lnTo>
                    <a:lnTo>
                      <a:pt x="9" y="79"/>
                    </a:lnTo>
                    <a:lnTo>
                      <a:pt x="15" y="82"/>
                    </a:lnTo>
                    <a:lnTo>
                      <a:pt x="17" y="82"/>
                    </a:lnTo>
                    <a:lnTo>
                      <a:pt x="22" y="79"/>
                    </a:lnTo>
                    <a:lnTo>
                      <a:pt x="27" y="77"/>
                    </a:lnTo>
                    <a:lnTo>
                      <a:pt x="27" y="75"/>
                    </a:lnTo>
                    <a:lnTo>
                      <a:pt x="27" y="10"/>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203" name="任意多边形 14363">
                <a:extLst>
                  <a:ext uri="{FF2B5EF4-FFF2-40B4-BE49-F238E27FC236}">
                    <a16:creationId xmlns="" xmlns:a16="http://schemas.microsoft.com/office/drawing/2014/main" id="{9195FC7D-A802-5162-5074-23CD410E094C}"/>
                  </a:ext>
                </a:extLst>
              </p:cNvPr>
              <p:cNvSpPr>
                <a:spLocks noChangeArrowheads="1"/>
              </p:cNvSpPr>
              <p:nvPr/>
            </p:nvSpPr>
            <p:spPr bwMode="auto">
              <a:xfrm>
                <a:off x="1583" y="2554"/>
                <a:ext cx="11" cy="33"/>
              </a:xfrm>
              <a:custGeom>
                <a:avLst/>
                <a:gdLst>
                  <a:gd name="T0" fmla="*/ 27 w 27"/>
                  <a:gd name="T1" fmla="*/ 7 h 82"/>
                  <a:gd name="T2" fmla="*/ 27 w 27"/>
                  <a:gd name="T3" fmla="*/ 4 h 82"/>
                  <a:gd name="T4" fmla="*/ 27 w 27"/>
                  <a:gd name="T5" fmla="*/ 2 h 82"/>
                  <a:gd name="T6" fmla="*/ 22 w 27"/>
                  <a:gd name="T7" fmla="*/ 0 h 82"/>
                  <a:gd name="T8" fmla="*/ 17 w 27"/>
                  <a:gd name="T9" fmla="*/ 0 h 82"/>
                  <a:gd name="T10" fmla="*/ 15 w 27"/>
                  <a:gd name="T11" fmla="*/ 0 h 82"/>
                  <a:gd name="T12" fmla="*/ 9 w 27"/>
                  <a:gd name="T13" fmla="*/ 0 h 82"/>
                  <a:gd name="T14" fmla="*/ 5 w 27"/>
                  <a:gd name="T15" fmla="*/ 2 h 82"/>
                  <a:gd name="T16" fmla="*/ 0 w 27"/>
                  <a:gd name="T17" fmla="*/ 4 h 82"/>
                  <a:gd name="T18" fmla="*/ 0 w 27"/>
                  <a:gd name="T19" fmla="*/ 69 h 82"/>
                  <a:gd name="T20" fmla="*/ 0 w 27"/>
                  <a:gd name="T21" fmla="*/ 72 h 82"/>
                  <a:gd name="T22" fmla="*/ 5 w 27"/>
                  <a:gd name="T23" fmla="*/ 75 h 82"/>
                  <a:gd name="T24" fmla="*/ 9 w 27"/>
                  <a:gd name="T25" fmla="*/ 79 h 82"/>
                  <a:gd name="T26" fmla="*/ 15 w 27"/>
                  <a:gd name="T27" fmla="*/ 82 h 82"/>
                  <a:gd name="T28" fmla="*/ 17 w 27"/>
                  <a:gd name="T29" fmla="*/ 82 h 82"/>
                  <a:gd name="T30" fmla="*/ 22 w 27"/>
                  <a:gd name="T31" fmla="*/ 79 h 82"/>
                  <a:gd name="T32" fmla="*/ 27 w 27"/>
                  <a:gd name="T33" fmla="*/ 75 h 82"/>
                  <a:gd name="T34" fmla="*/ 27 w 27"/>
                  <a:gd name="T35" fmla="*/ 72 h 82"/>
                  <a:gd name="T36" fmla="*/ 27 w 27"/>
                  <a:gd name="T37" fmla="*/ 7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82">
                    <a:moveTo>
                      <a:pt x="27" y="7"/>
                    </a:moveTo>
                    <a:lnTo>
                      <a:pt x="27" y="4"/>
                    </a:lnTo>
                    <a:lnTo>
                      <a:pt x="27" y="2"/>
                    </a:lnTo>
                    <a:lnTo>
                      <a:pt x="22" y="0"/>
                    </a:lnTo>
                    <a:lnTo>
                      <a:pt x="17" y="0"/>
                    </a:lnTo>
                    <a:lnTo>
                      <a:pt x="15" y="0"/>
                    </a:lnTo>
                    <a:lnTo>
                      <a:pt x="9" y="0"/>
                    </a:lnTo>
                    <a:lnTo>
                      <a:pt x="5" y="2"/>
                    </a:lnTo>
                    <a:lnTo>
                      <a:pt x="0" y="4"/>
                    </a:lnTo>
                    <a:lnTo>
                      <a:pt x="0" y="69"/>
                    </a:lnTo>
                    <a:lnTo>
                      <a:pt x="0" y="72"/>
                    </a:lnTo>
                    <a:lnTo>
                      <a:pt x="5" y="75"/>
                    </a:lnTo>
                    <a:lnTo>
                      <a:pt x="9" y="79"/>
                    </a:lnTo>
                    <a:lnTo>
                      <a:pt x="15" y="82"/>
                    </a:lnTo>
                    <a:lnTo>
                      <a:pt x="17" y="82"/>
                    </a:lnTo>
                    <a:lnTo>
                      <a:pt x="22" y="79"/>
                    </a:lnTo>
                    <a:lnTo>
                      <a:pt x="27" y="75"/>
                    </a:lnTo>
                    <a:lnTo>
                      <a:pt x="27" y="72"/>
                    </a:lnTo>
                    <a:lnTo>
                      <a:pt x="27" y="7"/>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204" name="任意多边形 14364">
                <a:extLst>
                  <a:ext uri="{FF2B5EF4-FFF2-40B4-BE49-F238E27FC236}">
                    <a16:creationId xmlns="" xmlns:a16="http://schemas.microsoft.com/office/drawing/2014/main" id="{0518BA30-F49C-E640-02AB-1CE162030C24}"/>
                  </a:ext>
                </a:extLst>
              </p:cNvPr>
              <p:cNvSpPr>
                <a:spLocks noChangeArrowheads="1"/>
              </p:cNvSpPr>
              <p:nvPr/>
            </p:nvSpPr>
            <p:spPr bwMode="auto">
              <a:xfrm>
                <a:off x="1583" y="2600"/>
                <a:ext cx="11" cy="32"/>
              </a:xfrm>
              <a:custGeom>
                <a:avLst/>
                <a:gdLst>
                  <a:gd name="T0" fmla="*/ 27 w 27"/>
                  <a:gd name="T1" fmla="*/ 7 h 79"/>
                  <a:gd name="T2" fmla="*/ 27 w 27"/>
                  <a:gd name="T3" fmla="*/ 4 h 79"/>
                  <a:gd name="T4" fmla="*/ 27 w 27"/>
                  <a:gd name="T5" fmla="*/ 2 h 79"/>
                  <a:gd name="T6" fmla="*/ 22 w 27"/>
                  <a:gd name="T7" fmla="*/ 0 h 79"/>
                  <a:gd name="T8" fmla="*/ 17 w 27"/>
                  <a:gd name="T9" fmla="*/ 0 h 79"/>
                  <a:gd name="T10" fmla="*/ 15 w 27"/>
                  <a:gd name="T11" fmla="*/ 0 h 79"/>
                  <a:gd name="T12" fmla="*/ 9 w 27"/>
                  <a:gd name="T13" fmla="*/ 0 h 79"/>
                  <a:gd name="T14" fmla="*/ 5 w 27"/>
                  <a:gd name="T15" fmla="*/ 2 h 79"/>
                  <a:gd name="T16" fmla="*/ 0 w 27"/>
                  <a:gd name="T17" fmla="*/ 4 h 79"/>
                  <a:gd name="T18" fmla="*/ 0 w 27"/>
                  <a:gd name="T19" fmla="*/ 69 h 79"/>
                  <a:gd name="T20" fmla="*/ 0 w 27"/>
                  <a:gd name="T21" fmla="*/ 72 h 79"/>
                  <a:gd name="T22" fmla="*/ 5 w 27"/>
                  <a:gd name="T23" fmla="*/ 74 h 79"/>
                  <a:gd name="T24" fmla="*/ 9 w 27"/>
                  <a:gd name="T25" fmla="*/ 77 h 79"/>
                  <a:gd name="T26" fmla="*/ 15 w 27"/>
                  <a:gd name="T27" fmla="*/ 79 h 79"/>
                  <a:gd name="T28" fmla="*/ 17 w 27"/>
                  <a:gd name="T29" fmla="*/ 79 h 79"/>
                  <a:gd name="T30" fmla="*/ 22 w 27"/>
                  <a:gd name="T31" fmla="*/ 77 h 79"/>
                  <a:gd name="T32" fmla="*/ 27 w 27"/>
                  <a:gd name="T33" fmla="*/ 74 h 79"/>
                  <a:gd name="T34" fmla="*/ 27 w 27"/>
                  <a:gd name="T35" fmla="*/ 72 h 79"/>
                  <a:gd name="T36" fmla="*/ 27 w 27"/>
                  <a:gd name="T37" fmla="*/ 7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79">
                    <a:moveTo>
                      <a:pt x="27" y="7"/>
                    </a:moveTo>
                    <a:lnTo>
                      <a:pt x="27" y="4"/>
                    </a:lnTo>
                    <a:lnTo>
                      <a:pt x="27" y="2"/>
                    </a:lnTo>
                    <a:lnTo>
                      <a:pt x="22" y="0"/>
                    </a:lnTo>
                    <a:lnTo>
                      <a:pt x="17" y="0"/>
                    </a:lnTo>
                    <a:lnTo>
                      <a:pt x="15" y="0"/>
                    </a:lnTo>
                    <a:lnTo>
                      <a:pt x="9" y="0"/>
                    </a:lnTo>
                    <a:lnTo>
                      <a:pt x="5" y="2"/>
                    </a:lnTo>
                    <a:lnTo>
                      <a:pt x="0" y="4"/>
                    </a:lnTo>
                    <a:lnTo>
                      <a:pt x="0" y="69"/>
                    </a:lnTo>
                    <a:lnTo>
                      <a:pt x="0" y="72"/>
                    </a:lnTo>
                    <a:lnTo>
                      <a:pt x="5" y="74"/>
                    </a:lnTo>
                    <a:lnTo>
                      <a:pt x="9" y="77"/>
                    </a:lnTo>
                    <a:lnTo>
                      <a:pt x="15" y="79"/>
                    </a:lnTo>
                    <a:lnTo>
                      <a:pt x="17" y="79"/>
                    </a:lnTo>
                    <a:lnTo>
                      <a:pt x="22" y="77"/>
                    </a:lnTo>
                    <a:lnTo>
                      <a:pt x="27" y="74"/>
                    </a:lnTo>
                    <a:lnTo>
                      <a:pt x="27" y="72"/>
                    </a:lnTo>
                    <a:lnTo>
                      <a:pt x="27" y="7"/>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205" name="任意多边形 14365">
                <a:extLst>
                  <a:ext uri="{FF2B5EF4-FFF2-40B4-BE49-F238E27FC236}">
                    <a16:creationId xmlns="" xmlns:a16="http://schemas.microsoft.com/office/drawing/2014/main" id="{D05358E6-0DB3-A65E-2E80-D36DF4578DFE}"/>
                  </a:ext>
                </a:extLst>
              </p:cNvPr>
              <p:cNvSpPr>
                <a:spLocks noChangeArrowheads="1"/>
              </p:cNvSpPr>
              <p:nvPr/>
            </p:nvSpPr>
            <p:spPr bwMode="auto">
              <a:xfrm>
                <a:off x="1583" y="2645"/>
                <a:ext cx="11" cy="33"/>
              </a:xfrm>
              <a:custGeom>
                <a:avLst/>
                <a:gdLst>
                  <a:gd name="T0" fmla="*/ 27 w 27"/>
                  <a:gd name="T1" fmla="*/ 10 h 82"/>
                  <a:gd name="T2" fmla="*/ 27 w 27"/>
                  <a:gd name="T3" fmla="*/ 7 h 82"/>
                  <a:gd name="T4" fmla="*/ 27 w 27"/>
                  <a:gd name="T5" fmla="*/ 2 h 82"/>
                  <a:gd name="T6" fmla="*/ 22 w 27"/>
                  <a:gd name="T7" fmla="*/ 0 h 82"/>
                  <a:gd name="T8" fmla="*/ 17 w 27"/>
                  <a:gd name="T9" fmla="*/ 0 h 82"/>
                  <a:gd name="T10" fmla="*/ 15 w 27"/>
                  <a:gd name="T11" fmla="*/ 0 h 82"/>
                  <a:gd name="T12" fmla="*/ 9 w 27"/>
                  <a:gd name="T13" fmla="*/ 0 h 82"/>
                  <a:gd name="T14" fmla="*/ 5 w 27"/>
                  <a:gd name="T15" fmla="*/ 2 h 82"/>
                  <a:gd name="T16" fmla="*/ 0 w 27"/>
                  <a:gd name="T17" fmla="*/ 7 h 82"/>
                  <a:gd name="T18" fmla="*/ 0 w 27"/>
                  <a:gd name="T19" fmla="*/ 72 h 82"/>
                  <a:gd name="T20" fmla="*/ 0 w 27"/>
                  <a:gd name="T21" fmla="*/ 75 h 82"/>
                  <a:gd name="T22" fmla="*/ 5 w 27"/>
                  <a:gd name="T23" fmla="*/ 77 h 82"/>
                  <a:gd name="T24" fmla="*/ 9 w 27"/>
                  <a:gd name="T25" fmla="*/ 79 h 82"/>
                  <a:gd name="T26" fmla="*/ 15 w 27"/>
                  <a:gd name="T27" fmla="*/ 82 h 82"/>
                  <a:gd name="T28" fmla="*/ 17 w 27"/>
                  <a:gd name="T29" fmla="*/ 82 h 82"/>
                  <a:gd name="T30" fmla="*/ 22 w 27"/>
                  <a:gd name="T31" fmla="*/ 79 h 82"/>
                  <a:gd name="T32" fmla="*/ 27 w 27"/>
                  <a:gd name="T33" fmla="*/ 77 h 82"/>
                  <a:gd name="T34" fmla="*/ 27 w 27"/>
                  <a:gd name="T35" fmla="*/ 75 h 82"/>
                  <a:gd name="T36" fmla="*/ 27 w 27"/>
                  <a:gd name="T37" fmla="*/ 10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82">
                    <a:moveTo>
                      <a:pt x="27" y="10"/>
                    </a:moveTo>
                    <a:lnTo>
                      <a:pt x="27" y="7"/>
                    </a:lnTo>
                    <a:lnTo>
                      <a:pt x="27" y="2"/>
                    </a:lnTo>
                    <a:lnTo>
                      <a:pt x="22" y="0"/>
                    </a:lnTo>
                    <a:lnTo>
                      <a:pt x="17" y="0"/>
                    </a:lnTo>
                    <a:lnTo>
                      <a:pt x="15" y="0"/>
                    </a:lnTo>
                    <a:lnTo>
                      <a:pt x="9" y="0"/>
                    </a:lnTo>
                    <a:lnTo>
                      <a:pt x="5" y="2"/>
                    </a:lnTo>
                    <a:lnTo>
                      <a:pt x="0" y="7"/>
                    </a:lnTo>
                    <a:lnTo>
                      <a:pt x="0" y="72"/>
                    </a:lnTo>
                    <a:lnTo>
                      <a:pt x="0" y="75"/>
                    </a:lnTo>
                    <a:lnTo>
                      <a:pt x="5" y="77"/>
                    </a:lnTo>
                    <a:lnTo>
                      <a:pt x="9" y="79"/>
                    </a:lnTo>
                    <a:lnTo>
                      <a:pt x="15" y="82"/>
                    </a:lnTo>
                    <a:lnTo>
                      <a:pt x="17" y="82"/>
                    </a:lnTo>
                    <a:lnTo>
                      <a:pt x="22" y="79"/>
                    </a:lnTo>
                    <a:lnTo>
                      <a:pt x="27" y="77"/>
                    </a:lnTo>
                    <a:lnTo>
                      <a:pt x="27" y="75"/>
                    </a:lnTo>
                    <a:lnTo>
                      <a:pt x="27" y="10"/>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206" name="任意多边形 14366">
                <a:extLst>
                  <a:ext uri="{FF2B5EF4-FFF2-40B4-BE49-F238E27FC236}">
                    <a16:creationId xmlns="" xmlns:a16="http://schemas.microsoft.com/office/drawing/2014/main" id="{51476013-0351-8CBD-B49A-7290E72F3A50}"/>
                  </a:ext>
                </a:extLst>
              </p:cNvPr>
              <p:cNvSpPr>
                <a:spLocks noChangeArrowheads="1"/>
              </p:cNvSpPr>
              <p:nvPr/>
            </p:nvSpPr>
            <p:spPr bwMode="auto">
              <a:xfrm>
                <a:off x="1583" y="2691"/>
                <a:ext cx="11" cy="33"/>
              </a:xfrm>
              <a:custGeom>
                <a:avLst/>
                <a:gdLst>
                  <a:gd name="T0" fmla="*/ 27 w 27"/>
                  <a:gd name="T1" fmla="*/ 7 h 82"/>
                  <a:gd name="T2" fmla="*/ 27 w 27"/>
                  <a:gd name="T3" fmla="*/ 4 h 82"/>
                  <a:gd name="T4" fmla="*/ 27 w 27"/>
                  <a:gd name="T5" fmla="*/ 2 h 82"/>
                  <a:gd name="T6" fmla="*/ 22 w 27"/>
                  <a:gd name="T7" fmla="*/ 0 h 82"/>
                  <a:gd name="T8" fmla="*/ 17 w 27"/>
                  <a:gd name="T9" fmla="*/ 0 h 82"/>
                  <a:gd name="T10" fmla="*/ 15 w 27"/>
                  <a:gd name="T11" fmla="*/ 0 h 82"/>
                  <a:gd name="T12" fmla="*/ 9 w 27"/>
                  <a:gd name="T13" fmla="*/ 0 h 82"/>
                  <a:gd name="T14" fmla="*/ 5 w 27"/>
                  <a:gd name="T15" fmla="*/ 2 h 82"/>
                  <a:gd name="T16" fmla="*/ 0 w 27"/>
                  <a:gd name="T17" fmla="*/ 4 h 82"/>
                  <a:gd name="T18" fmla="*/ 0 w 27"/>
                  <a:gd name="T19" fmla="*/ 69 h 82"/>
                  <a:gd name="T20" fmla="*/ 0 w 27"/>
                  <a:gd name="T21" fmla="*/ 72 h 82"/>
                  <a:gd name="T22" fmla="*/ 5 w 27"/>
                  <a:gd name="T23" fmla="*/ 74 h 82"/>
                  <a:gd name="T24" fmla="*/ 9 w 27"/>
                  <a:gd name="T25" fmla="*/ 79 h 82"/>
                  <a:gd name="T26" fmla="*/ 15 w 27"/>
                  <a:gd name="T27" fmla="*/ 82 h 82"/>
                  <a:gd name="T28" fmla="*/ 17 w 27"/>
                  <a:gd name="T29" fmla="*/ 82 h 82"/>
                  <a:gd name="T30" fmla="*/ 22 w 27"/>
                  <a:gd name="T31" fmla="*/ 79 h 82"/>
                  <a:gd name="T32" fmla="*/ 27 w 27"/>
                  <a:gd name="T33" fmla="*/ 74 h 82"/>
                  <a:gd name="T34" fmla="*/ 27 w 27"/>
                  <a:gd name="T35" fmla="*/ 72 h 82"/>
                  <a:gd name="T36" fmla="*/ 27 w 27"/>
                  <a:gd name="T37" fmla="*/ 7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82">
                    <a:moveTo>
                      <a:pt x="27" y="7"/>
                    </a:moveTo>
                    <a:lnTo>
                      <a:pt x="27" y="4"/>
                    </a:lnTo>
                    <a:lnTo>
                      <a:pt x="27" y="2"/>
                    </a:lnTo>
                    <a:lnTo>
                      <a:pt x="22" y="0"/>
                    </a:lnTo>
                    <a:lnTo>
                      <a:pt x="17" y="0"/>
                    </a:lnTo>
                    <a:lnTo>
                      <a:pt x="15" y="0"/>
                    </a:lnTo>
                    <a:lnTo>
                      <a:pt x="9" y="0"/>
                    </a:lnTo>
                    <a:lnTo>
                      <a:pt x="5" y="2"/>
                    </a:lnTo>
                    <a:lnTo>
                      <a:pt x="0" y="4"/>
                    </a:lnTo>
                    <a:lnTo>
                      <a:pt x="0" y="69"/>
                    </a:lnTo>
                    <a:lnTo>
                      <a:pt x="0" y="72"/>
                    </a:lnTo>
                    <a:lnTo>
                      <a:pt x="5" y="74"/>
                    </a:lnTo>
                    <a:lnTo>
                      <a:pt x="9" y="79"/>
                    </a:lnTo>
                    <a:lnTo>
                      <a:pt x="15" y="82"/>
                    </a:lnTo>
                    <a:lnTo>
                      <a:pt x="17" y="82"/>
                    </a:lnTo>
                    <a:lnTo>
                      <a:pt x="22" y="79"/>
                    </a:lnTo>
                    <a:lnTo>
                      <a:pt x="27" y="74"/>
                    </a:lnTo>
                    <a:lnTo>
                      <a:pt x="27" y="72"/>
                    </a:lnTo>
                    <a:lnTo>
                      <a:pt x="27" y="7"/>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207" name="任意多边形 14367">
                <a:extLst>
                  <a:ext uri="{FF2B5EF4-FFF2-40B4-BE49-F238E27FC236}">
                    <a16:creationId xmlns="" xmlns:a16="http://schemas.microsoft.com/office/drawing/2014/main" id="{6E854966-E6A4-C0CE-74C6-EDC466A32064}"/>
                  </a:ext>
                </a:extLst>
              </p:cNvPr>
              <p:cNvSpPr>
                <a:spLocks noChangeArrowheads="1"/>
              </p:cNvSpPr>
              <p:nvPr/>
            </p:nvSpPr>
            <p:spPr bwMode="auto">
              <a:xfrm>
                <a:off x="1583" y="2737"/>
                <a:ext cx="11" cy="32"/>
              </a:xfrm>
              <a:custGeom>
                <a:avLst/>
                <a:gdLst>
                  <a:gd name="T0" fmla="*/ 27 w 27"/>
                  <a:gd name="T1" fmla="*/ 6 h 79"/>
                  <a:gd name="T2" fmla="*/ 27 w 27"/>
                  <a:gd name="T3" fmla="*/ 5 h 79"/>
                  <a:gd name="T4" fmla="*/ 27 w 27"/>
                  <a:gd name="T5" fmla="*/ 2 h 79"/>
                  <a:gd name="T6" fmla="*/ 22 w 27"/>
                  <a:gd name="T7" fmla="*/ 0 h 79"/>
                  <a:gd name="T8" fmla="*/ 17 w 27"/>
                  <a:gd name="T9" fmla="*/ 0 h 79"/>
                  <a:gd name="T10" fmla="*/ 15 w 27"/>
                  <a:gd name="T11" fmla="*/ 0 h 79"/>
                  <a:gd name="T12" fmla="*/ 9 w 27"/>
                  <a:gd name="T13" fmla="*/ 0 h 79"/>
                  <a:gd name="T14" fmla="*/ 5 w 27"/>
                  <a:gd name="T15" fmla="*/ 2 h 79"/>
                  <a:gd name="T16" fmla="*/ 0 w 27"/>
                  <a:gd name="T17" fmla="*/ 5 h 79"/>
                  <a:gd name="T18" fmla="*/ 0 w 27"/>
                  <a:gd name="T19" fmla="*/ 69 h 79"/>
                  <a:gd name="T20" fmla="*/ 0 w 27"/>
                  <a:gd name="T21" fmla="*/ 71 h 79"/>
                  <a:gd name="T22" fmla="*/ 5 w 27"/>
                  <a:gd name="T23" fmla="*/ 74 h 79"/>
                  <a:gd name="T24" fmla="*/ 9 w 27"/>
                  <a:gd name="T25" fmla="*/ 76 h 79"/>
                  <a:gd name="T26" fmla="*/ 15 w 27"/>
                  <a:gd name="T27" fmla="*/ 79 h 79"/>
                  <a:gd name="T28" fmla="*/ 17 w 27"/>
                  <a:gd name="T29" fmla="*/ 79 h 79"/>
                  <a:gd name="T30" fmla="*/ 22 w 27"/>
                  <a:gd name="T31" fmla="*/ 76 h 79"/>
                  <a:gd name="T32" fmla="*/ 27 w 27"/>
                  <a:gd name="T33" fmla="*/ 74 h 79"/>
                  <a:gd name="T34" fmla="*/ 27 w 27"/>
                  <a:gd name="T35" fmla="*/ 71 h 79"/>
                  <a:gd name="T36" fmla="*/ 27 w 27"/>
                  <a:gd name="T37" fmla="*/ 6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79">
                    <a:moveTo>
                      <a:pt x="27" y="6"/>
                    </a:moveTo>
                    <a:lnTo>
                      <a:pt x="27" y="5"/>
                    </a:lnTo>
                    <a:lnTo>
                      <a:pt x="27" y="2"/>
                    </a:lnTo>
                    <a:lnTo>
                      <a:pt x="22" y="0"/>
                    </a:lnTo>
                    <a:lnTo>
                      <a:pt x="17" y="0"/>
                    </a:lnTo>
                    <a:lnTo>
                      <a:pt x="15" y="0"/>
                    </a:lnTo>
                    <a:lnTo>
                      <a:pt x="9" y="0"/>
                    </a:lnTo>
                    <a:lnTo>
                      <a:pt x="5" y="2"/>
                    </a:lnTo>
                    <a:lnTo>
                      <a:pt x="0" y="5"/>
                    </a:lnTo>
                    <a:lnTo>
                      <a:pt x="0" y="69"/>
                    </a:lnTo>
                    <a:lnTo>
                      <a:pt x="0" y="71"/>
                    </a:lnTo>
                    <a:lnTo>
                      <a:pt x="5" y="74"/>
                    </a:lnTo>
                    <a:lnTo>
                      <a:pt x="9" y="76"/>
                    </a:lnTo>
                    <a:lnTo>
                      <a:pt x="15" y="79"/>
                    </a:lnTo>
                    <a:lnTo>
                      <a:pt x="17" y="79"/>
                    </a:lnTo>
                    <a:lnTo>
                      <a:pt x="22" y="76"/>
                    </a:lnTo>
                    <a:lnTo>
                      <a:pt x="27" y="74"/>
                    </a:lnTo>
                    <a:lnTo>
                      <a:pt x="27" y="71"/>
                    </a:lnTo>
                    <a:lnTo>
                      <a:pt x="27" y="6"/>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208" name="任意多边形 14368">
                <a:extLst>
                  <a:ext uri="{FF2B5EF4-FFF2-40B4-BE49-F238E27FC236}">
                    <a16:creationId xmlns="" xmlns:a16="http://schemas.microsoft.com/office/drawing/2014/main" id="{89E6C17F-3704-83A0-3F0C-4DF12420973D}"/>
                  </a:ext>
                </a:extLst>
              </p:cNvPr>
              <p:cNvSpPr>
                <a:spLocks noChangeArrowheads="1"/>
              </p:cNvSpPr>
              <p:nvPr/>
            </p:nvSpPr>
            <p:spPr bwMode="auto">
              <a:xfrm>
                <a:off x="1583" y="2782"/>
                <a:ext cx="11" cy="33"/>
              </a:xfrm>
              <a:custGeom>
                <a:avLst/>
                <a:gdLst>
                  <a:gd name="T0" fmla="*/ 27 w 27"/>
                  <a:gd name="T1" fmla="*/ 9 h 82"/>
                  <a:gd name="T2" fmla="*/ 27 w 27"/>
                  <a:gd name="T3" fmla="*/ 7 h 82"/>
                  <a:gd name="T4" fmla="*/ 27 w 27"/>
                  <a:gd name="T5" fmla="*/ 2 h 82"/>
                  <a:gd name="T6" fmla="*/ 22 w 27"/>
                  <a:gd name="T7" fmla="*/ 0 h 82"/>
                  <a:gd name="T8" fmla="*/ 17 w 27"/>
                  <a:gd name="T9" fmla="*/ 0 h 82"/>
                  <a:gd name="T10" fmla="*/ 15 w 27"/>
                  <a:gd name="T11" fmla="*/ 0 h 82"/>
                  <a:gd name="T12" fmla="*/ 9 w 27"/>
                  <a:gd name="T13" fmla="*/ 0 h 82"/>
                  <a:gd name="T14" fmla="*/ 5 w 27"/>
                  <a:gd name="T15" fmla="*/ 2 h 82"/>
                  <a:gd name="T16" fmla="*/ 0 w 27"/>
                  <a:gd name="T17" fmla="*/ 7 h 82"/>
                  <a:gd name="T18" fmla="*/ 0 w 27"/>
                  <a:gd name="T19" fmla="*/ 72 h 82"/>
                  <a:gd name="T20" fmla="*/ 0 w 27"/>
                  <a:gd name="T21" fmla="*/ 74 h 82"/>
                  <a:gd name="T22" fmla="*/ 5 w 27"/>
                  <a:gd name="T23" fmla="*/ 77 h 82"/>
                  <a:gd name="T24" fmla="*/ 9 w 27"/>
                  <a:gd name="T25" fmla="*/ 79 h 82"/>
                  <a:gd name="T26" fmla="*/ 15 w 27"/>
                  <a:gd name="T27" fmla="*/ 82 h 82"/>
                  <a:gd name="T28" fmla="*/ 17 w 27"/>
                  <a:gd name="T29" fmla="*/ 82 h 82"/>
                  <a:gd name="T30" fmla="*/ 22 w 27"/>
                  <a:gd name="T31" fmla="*/ 79 h 82"/>
                  <a:gd name="T32" fmla="*/ 27 w 27"/>
                  <a:gd name="T33" fmla="*/ 77 h 82"/>
                  <a:gd name="T34" fmla="*/ 27 w 27"/>
                  <a:gd name="T35" fmla="*/ 74 h 82"/>
                  <a:gd name="T36" fmla="*/ 27 w 27"/>
                  <a:gd name="T37" fmla="*/ 9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82">
                    <a:moveTo>
                      <a:pt x="27" y="9"/>
                    </a:moveTo>
                    <a:lnTo>
                      <a:pt x="27" y="7"/>
                    </a:lnTo>
                    <a:lnTo>
                      <a:pt x="27" y="2"/>
                    </a:lnTo>
                    <a:lnTo>
                      <a:pt x="22" y="0"/>
                    </a:lnTo>
                    <a:lnTo>
                      <a:pt x="17" y="0"/>
                    </a:lnTo>
                    <a:lnTo>
                      <a:pt x="15" y="0"/>
                    </a:lnTo>
                    <a:lnTo>
                      <a:pt x="9" y="0"/>
                    </a:lnTo>
                    <a:lnTo>
                      <a:pt x="5" y="2"/>
                    </a:lnTo>
                    <a:lnTo>
                      <a:pt x="0" y="7"/>
                    </a:lnTo>
                    <a:lnTo>
                      <a:pt x="0" y="72"/>
                    </a:lnTo>
                    <a:lnTo>
                      <a:pt x="0" y="74"/>
                    </a:lnTo>
                    <a:lnTo>
                      <a:pt x="5" y="77"/>
                    </a:lnTo>
                    <a:lnTo>
                      <a:pt x="9" y="79"/>
                    </a:lnTo>
                    <a:lnTo>
                      <a:pt x="15" y="82"/>
                    </a:lnTo>
                    <a:lnTo>
                      <a:pt x="17" y="82"/>
                    </a:lnTo>
                    <a:lnTo>
                      <a:pt x="22" y="79"/>
                    </a:lnTo>
                    <a:lnTo>
                      <a:pt x="27" y="77"/>
                    </a:lnTo>
                    <a:lnTo>
                      <a:pt x="27" y="74"/>
                    </a:lnTo>
                    <a:lnTo>
                      <a:pt x="27" y="9"/>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209" name="任意多边形 14369">
                <a:extLst>
                  <a:ext uri="{FF2B5EF4-FFF2-40B4-BE49-F238E27FC236}">
                    <a16:creationId xmlns="" xmlns:a16="http://schemas.microsoft.com/office/drawing/2014/main" id="{D0F8F720-A2DD-77FF-2084-C8336A09FC1A}"/>
                  </a:ext>
                </a:extLst>
              </p:cNvPr>
              <p:cNvSpPr>
                <a:spLocks noChangeArrowheads="1"/>
              </p:cNvSpPr>
              <p:nvPr/>
            </p:nvSpPr>
            <p:spPr bwMode="auto">
              <a:xfrm>
                <a:off x="1583" y="2828"/>
                <a:ext cx="11" cy="33"/>
              </a:xfrm>
              <a:custGeom>
                <a:avLst/>
                <a:gdLst>
                  <a:gd name="T0" fmla="*/ 27 w 27"/>
                  <a:gd name="T1" fmla="*/ 7 h 82"/>
                  <a:gd name="T2" fmla="*/ 27 w 27"/>
                  <a:gd name="T3" fmla="*/ 5 h 82"/>
                  <a:gd name="T4" fmla="*/ 27 w 27"/>
                  <a:gd name="T5" fmla="*/ 2 h 82"/>
                  <a:gd name="T6" fmla="*/ 22 w 27"/>
                  <a:gd name="T7" fmla="*/ 0 h 82"/>
                  <a:gd name="T8" fmla="*/ 17 w 27"/>
                  <a:gd name="T9" fmla="*/ 0 h 82"/>
                  <a:gd name="T10" fmla="*/ 15 w 27"/>
                  <a:gd name="T11" fmla="*/ 0 h 82"/>
                  <a:gd name="T12" fmla="*/ 9 w 27"/>
                  <a:gd name="T13" fmla="*/ 0 h 82"/>
                  <a:gd name="T14" fmla="*/ 5 w 27"/>
                  <a:gd name="T15" fmla="*/ 2 h 82"/>
                  <a:gd name="T16" fmla="*/ 0 w 27"/>
                  <a:gd name="T17" fmla="*/ 5 h 82"/>
                  <a:gd name="T18" fmla="*/ 0 w 27"/>
                  <a:gd name="T19" fmla="*/ 70 h 82"/>
                  <a:gd name="T20" fmla="*/ 0 w 27"/>
                  <a:gd name="T21" fmla="*/ 72 h 82"/>
                  <a:gd name="T22" fmla="*/ 5 w 27"/>
                  <a:gd name="T23" fmla="*/ 75 h 82"/>
                  <a:gd name="T24" fmla="*/ 9 w 27"/>
                  <a:gd name="T25" fmla="*/ 80 h 82"/>
                  <a:gd name="T26" fmla="*/ 15 w 27"/>
                  <a:gd name="T27" fmla="*/ 82 h 82"/>
                  <a:gd name="T28" fmla="*/ 17 w 27"/>
                  <a:gd name="T29" fmla="*/ 82 h 82"/>
                  <a:gd name="T30" fmla="*/ 22 w 27"/>
                  <a:gd name="T31" fmla="*/ 80 h 82"/>
                  <a:gd name="T32" fmla="*/ 27 w 27"/>
                  <a:gd name="T33" fmla="*/ 75 h 82"/>
                  <a:gd name="T34" fmla="*/ 27 w 27"/>
                  <a:gd name="T35" fmla="*/ 72 h 82"/>
                  <a:gd name="T36" fmla="*/ 27 w 27"/>
                  <a:gd name="T37" fmla="*/ 7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82">
                    <a:moveTo>
                      <a:pt x="27" y="7"/>
                    </a:moveTo>
                    <a:lnTo>
                      <a:pt x="27" y="5"/>
                    </a:lnTo>
                    <a:lnTo>
                      <a:pt x="27" y="2"/>
                    </a:lnTo>
                    <a:lnTo>
                      <a:pt x="22" y="0"/>
                    </a:lnTo>
                    <a:lnTo>
                      <a:pt x="17" y="0"/>
                    </a:lnTo>
                    <a:lnTo>
                      <a:pt x="15" y="0"/>
                    </a:lnTo>
                    <a:lnTo>
                      <a:pt x="9" y="0"/>
                    </a:lnTo>
                    <a:lnTo>
                      <a:pt x="5" y="2"/>
                    </a:lnTo>
                    <a:lnTo>
                      <a:pt x="0" y="5"/>
                    </a:lnTo>
                    <a:lnTo>
                      <a:pt x="0" y="70"/>
                    </a:lnTo>
                    <a:lnTo>
                      <a:pt x="0" y="72"/>
                    </a:lnTo>
                    <a:lnTo>
                      <a:pt x="5" y="75"/>
                    </a:lnTo>
                    <a:lnTo>
                      <a:pt x="9" y="80"/>
                    </a:lnTo>
                    <a:lnTo>
                      <a:pt x="15" y="82"/>
                    </a:lnTo>
                    <a:lnTo>
                      <a:pt x="17" y="82"/>
                    </a:lnTo>
                    <a:lnTo>
                      <a:pt x="22" y="80"/>
                    </a:lnTo>
                    <a:lnTo>
                      <a:pt x="27" y="75"/>
                    </a:lnTo>
                    <a:lnTo>
                      <a:pt x="27" y="72"/>
                    </a:lnTo>
                    <a:lnTo>
                      <a:pt x="27" y="7"/>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210" name="任意多边形 14370">
                <a:extLst>
                  <a:ext uri="{FF2B5EF4-FFF2-40B4-BE49-F238E27FC236}">
                    <a16:creationId xmlns="" xmlns:a16="http://schemas.microsoft.com/office/drawing/2014/main" id="{063AD12A-CC4F-D4E0-29FC-08AE93B152B7}"/>
                  </a:ext>
                </a:extLst>
              </p:cNvPr>
              <p:cNvSpPr>
                <a:spLocks noChangeArrowheads="1"/>
              </p:cNvSpPr>
              <p:nvPr/>
            </p:nvSpPr>
            <p:spPr bwMode="auto">
              <a:xfrm>
                <a:off x="1583" y="2874"/>
                <a:ext cx="11" cy="32"/>
              </a:xfrm>
              <a:custGeom>
                <a:avLst/>
                <a:gdLst>
                  <a:gd name="T0" fmla="*/ 27 w 27"/>
                  <a:gd name="T1" fmla="*/ 6 h 79"/>
                  <a:gd name="T2" fmla="*/ 27 w 27"/>
                  <a:gd name="T3" fmla="*/ 5 h 79"/>
                  <a:gd name="T4" fmla="*/ 27 w 27"/>
                  <a:gd name="T5" fmla="*/ 2 h 79"/>
                  <a:gd name="T6" fmla="*/ 22 w 27"/>
                  <a:gd name="T7" fmla="*/ 0 h 79"/>
                  <a:gd name="T8" fmla="*/ 17 w 27"/>
                  <a:gd name="T9" fmla="*/ 0 h 79"/>
                  <a:gd name="T10" fmla="*/ 15 w 27"/>
                  <a:gd name="T11" fmla="*/ 0 h 79"/>
                  <a:gd name="T12" fmla="*/ 9 w 27"/>
                  <a:gd name="T13" fmla="*/ 0 h 79"/>
                  <a:gd name="T14" fmla="*/ 5 w 27"/>
                  <a:gd name="T15" fmla="*/ 2 h 79"/>
                  <a:gd name="T16" fmla="*/ 0 w 27"/>
                  <a:gd name="T17" fmla="*/ 5 h 79"/>
                  <a:gd name="T18" fmla="*/ 0 w 27"/>
                  <a:gd name="T19" fmla="*/ 69 h 79"/>
                  <a:gd name="T20" fmla="*/ 0 w 27"/>
                  <a:gd name="T21" fmla="*/ 71 h 79"/>
                  <a:gd name="T22" fmla="*/ 5 w 27"/>
                  <a:gd name="T23" fmla="*/ 74 h 79"/>
                  <a:gd name="T24" fmla="*/ 9 w 27"/>
                  <a:gd name="T25" fmla="*/ 76 h 79"/>
                  <a:gd name="T26" fmla="*/ 15 w 27"/>
                  <a:gd name="T27" fmla="*/ 79 h 79"/>
                  <a:gd name="T28" fmla="*/ 17 w 27"/>
                  <a:gd name="T29" fmla="*/ 79 h 79"/>
                  <a:gd name="T30" fmla="*/ 22 w 27"/>
                  <a:gd name="T31" fmla="*/ 76 h 79"/>
                  <a:gd name="T32" fmla="*/ 27 w 27"/>
                  <a:gd name="T33" fmla="*/ 74 h 79"/>
                  <a:gd name="T34" fmla="*/ 27 w 27"/>
                  <a:gd name="T35" fmla="*/ 71 h 79"/>
                  <a:gd name="T36" fmla="*/ 27 w 27"/>
                  <a:gd name="T37" fmla="*/ 6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79">
                    <a:moveTo>
                      <a:pt x="27" y="6"/>
                    </a:moveTo>
                    <a:lnTo>
                      <a:pt x="27" y="5"/>
                    </a:lnTo>
                    <a:lnTo>
                      <a:pt x="27" y="2"/>
                    </a:lnTo>
                    <a:lnTo>
                      <a:pt x="22" y="0"/>
                    </a:lnTo>
                    <a:lnTo>
                      <a:pt x="17" y="0"/>
                    </a:lnTo>
                    <a:lnTo>
                      <a:pt x="15" y="0"/>
                    </a:lnTo>
                    <a:lnTo>
                      <a:pt x="9" y="0"/>
                    </a:lnTo>
                    <a:lnTo>
                      <a:pt x="5" y="2"/>
                    </a:lnTo>
                    <a:lnTo>
                      <a:pt x="0" y="5"/>
                    </a:lnTo>
                    <a:lnTo>
                      <a:pt x="0" y="69"/>
                    </a:lnTo>
                    <a:lnTo>
                      <a:pt x="0" y="71"/>
                    </a:lnTo>
                    <a:lnTo>
                      <a:pt x="5" y="74"/>
                    </a:lnTo>
                    <a:lnTo>
                      <a:pt x="9" y="76"/>
                    </a:lnTo>
                    <a:lnTo>
                      <a:pt x="15" y="79"/>
                    </a:lnTo>
                    <a:lnTo>
                      <a:pt x="17" y="79"/>
                    </a:lnTo>
                    <a:lnTo>
                      <a:pt x="22" y="76"/>
                    </a:lnTo>
                    <a:lnTo>
                      <a:pt x="27" y="74"/>
                    </a:lnTo>
                    <a:lnTo>
                      <a:pt x="27" y="71"/>
                    </a:lnTo>
                    <a:lnTo>
                      <a:pt x="27" y="6"/>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211" name="任意多边形 14371">
                <a:extLst>
                  <a:ext uri="{FF2B5EF4-FFF2-40B4-BE49-F238E27FC236}">
                    <a16:creationId xmlns="" xmlns:a16="http://schemas.microsoft.com/office/drawing/2014/main" id="{82C87C77-9148-EFDE-8AE4-03C2C0ED4D51}"/>
                  </a:ext>
                </a:extLst>
              </p:cNvPr>
              <p:cNvSpPr>
                <a:spLocks noChangeArrowheads="1"/>
              </p:cNvSpPr>
              <p:nvPr/>
            </p:nvSpPr>
            <p:spPr bwMode="auto">
              <a:xfrm>
                <a:off x="1583" y="2919"/>
                <a:ext cx="11" cy="33"/>
              </a:xfrm>
              <a:custGeom>
                <a:avLst/>
                <a:gdLst>
                  <a:gd name="T0" fmla="*/ 27 w 27"/>
                  <a:gd name="T1" fmla="*/ 9 h 82"/>
                  <a:gd name="T2" fmla="*/ 27 w 27"/>
                  <a:gd name="T3" fmla="*/ 4 h 82"/>
                  <a:gd name="T4" fmla="*/ 27 w 27"/>
                  <a:gd name="T5" fmla="*/ 2 h 82"/>
                  <a:gd name="T6" fmla="*/ 22 w 27"/>
                  <a:gd name="T7" fmla="*/ 0 h 82"/>
                  <a:gd name="T8" fmla="*/ 17 w 27"/>
                  <a:gd name="T9" fmla="*/ 0 h 82"/>
                  <a:gd name="T10" fmla="*/ 15 w 27"/>
                  <a:gd name="T11" fmla="*/ 0 h 82"/>
                  <a:gd name="T12" fmla="*/ 9 w 27"/>
                  <a:gd name="T13" fmla="*/ 0 h 82"/>
                  <a:gd name="T14" fmla="*/ 5 w 27"/>
                  <a:gd name="T15" fmla="*/ 2 h 82"/>
                  <a:gd name="T16" fmla="*/ 0 w 27"/>
                  <a:gd name="T17" fmla="*/ 4 h 82"/>
                  <a:gd name="T18" fmla="*/ 0 w 27"/>
                  <a:gd name="T19" fmla="*/ 72 h 82"/>
                  <a:gd name="T20" fmla="*/ 0 w 27"/>
                  <a:gd name="T21" fmla="*/ 74 h 82"/>
                  <a:gd name="T22" fmla="*/ 5 w 27"/>
                  <a:gd name="T23" fmla="*/ 77 h 82"/>
                  <a:gd name="T24" fmla="*/ 9 w 27"/>
                  <a:gd name="T25" fmla="*/ 79 h 82"/>
                  <a:gd name="T26" fmla="*/ 15 w 27"/>
                  <a:gd name="T27" fmla="*/ 82 h 82"/>
                  <a:gd name="T28" fmla="*/ 17 w 27"/>
                  <a:gd name="T29" fmla="*/ 82 h 82"/>
                  <a:gd name="T30" fmla="*/ 22 w 27"/>
                  <a:gd name="T31" fmla="*/ 79 h 82"/>
                  <a:gd name="T32" fmla="*/ 27 w 27"/>
                  <a:gd name="T33" fmla="*/ 77 h 82"/>
                  <a:gd name="T34" fmla="*/ 27 w 27"/>
                  <a:gd name="T35" fmla="*/ 74 h 82"/>
                  <a:gd name="T36" fmla="*/ 27 w 27"/>
                  <a:gd name="T37" fmla="*/ 9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82">
                    <a:moveTo>
                      <a:pt x="27" y="9"/>
                    </a:moveTo>
                    <a:lnTo>
                      <a:pt x="27" y="4"/>
                    </a:lnTo>
                    <a:lnTo>
                      <a:pt x="27" y="2"/>
                    </a:lnTo>
                    <a:lnTo>
                      <a:pt x="22" y="0"/>
                    </a:lnTo>
                    <a:lnTo>
                      <a:pt x="17" y="0"/>
                    </a:lnTo>
                    <a:lnTo>
                      <a:pt x="15" y="0"/>
                    </a:lnTo>
                    <a:lnTo>
                      <a:pt x="9" y="0"/>
                    </a:lnTo>
                    <a:lnTo>
                      <a:pt x="5" y="2"/>
                    </a:lnTo>
                    <a:lnTo>
                      <a:pt x="0" y="4"/>
                    </a:lnTo>
                    <a:lnTo>
                      <a:pt x="0" y="72"/>
                    </a:lnTo>
                    <a:lnTo>
                      <a:pt x="0" y="74"/>
                    </a:lnTo>
                    <a:lnTo>
                      <a:pt x="5" y="77"/>
                    </a:lnTo>
                    <a:lnTo>
                      <a:pt x="9" y="79"/>
                    </a:lnTo>
                    <a:lnTo>
                      <a:pt x="15" y="82"/>
                    </a:lnTo>
                    <a:lnTo>
                      <a:pt x="17" y="82"/>
                    </a:lnTo>
                    <a:lnTo>
                      <a:pt x="22" y="79"/>
                    </a:lnTo>
                    <a:lnTo>
                      <a:pt x="27" y="77"/>
                    </a:lnTo>
                    <a:lnTo>
                      <a:pt x="27" y="74"/>
                    </a:lnTo>
                    <a:lnTo>
                      <a:pt x="27" y="9"/>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212" name="任意多边形 14372">
                <a:extLst>
                  <a:ext uri="{FF2B5EF4-FFF2-40B4-BE49-F238E27FC236}">
                    <a16:creationId xmlns="" xmlns:a16="http://schemas.microsoft.com/office/drawing/2014/main" id="{CAC24A15-FCBF-C9FE-D42F-A0F19612DD34}"/>
                  </a:ext>
                </a:extLst>
              </p:cNvPr>
              <p:cNvSpPr>
                <a:spLocks noChangeArrowheads="1"/>
              </p:cNvSpPr>
              <p:nvPr/>
            </p:nvSpPr>
            <p:spPr bwMode="auto">
              <a:xfrm>
                <a:off x="1583" y="2965"/>
                <a:ext cx="11" cy="33"/>
              </a:xfrm>
              <a:custGeom>
                <a:avLst/>
                <a:gdLst>
                  <a:gd name="T0" fmla="*/ 27 w 27"/>
                  <a:gd name="T1" fmla="*/ 7 h 82"/>
                  <a:gd name="T2" fmla="*/ 27 w 27"/>
                  <a:gd name="T3" fmla="*/ 5 h 82"/>
                  <a:gd name="T4" fmla="*/ 27 w 27"/>
                  <a:gd name="T5" fmla="*/ 2 h 82"/>
                  <a:gd name="T6" fmla="*/ 22 w 27"/>
                  <a:gd name="T7" fmla="*/ 0 h 82"/>
                  <a:gd name="T8" fmla="*/ 17 w 27"/>
                  <a:gd name="T9" fmla="*/ 0 h 82"/>
                  <a:gd name="T10" fmla="*/ 15 w 27"/>
                  <a:gd name="T11" fmla="*/ 0 h 82"/>
                  <a:gd name="T12" fmla="*/ 9 w 27"/>
                  <a:gd name="T13" fmla="*/ 0 h 82"/>
                  <a:gd name="T14" fmla="*/ 5 w 27"/>
                  <a:gd name="T15" fmla="*/ 2 h 82"/>
                  <a:gd name="T16" fmla="*/ 0 w 27"/>
                  <a:gd name="T17" fmla="*/ 5 h 82"/>
                  <a:gd name="T18" fmla="*/ 0 w 27"/>
                  <a:gd name="T19" fmla="*/ 70 h 82"/>
                  <a:gd name="T20" fmla="*/ 0 w 27"/>
                  <a:gd name="T21" fmla="*/ 72 h 82"/>
                  <a:gd name="T22" fmla="*/ 5 w 27"/>
                  <a:gd name="T23" fmla="*/ 75 h 82"/>
                  <a:gd name="T24" fmla="*/ 9 w 27"/>
                  <a:gd name="T25" fmla="*/ 80 h 82"/>
                  <a:gd name="T26" fmla="*/ 15 w 27"/>
                  <a:gd name="T27" fmla="*/ 82 h 82"/>
                  <a:gd name="T28" fmla="*/ 17 w 27"/>
                  <a:gd name="T29" fmla="*/ 82 h 82"/>
                  <a:gd name="T30" fmla="*/ 22 w 27"/>
                  <a:gd name="T31" fmla="*/ 80 h 82"/>
                  <a:gd name="T32" fmla="*/ 27 w 27"/>
                  <a:gd name="T33" fmla="*/ 75 h 82"/>
                  <a:gd name="T34" fmla="*/ 27 w 27"/>
                  <a:gd name="T35" fmla="*/ 72 h 82"/>
                  <a:gd name="T36" fmla="*/ 27 w 27"/>
                  <a:gd name="T37" fmla="*/ 7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82">
                    <a:moveTo>
                      <a:pt x="27" y="7"/>
                    </a:moveTo>
                    <a:lnTo>
                      <a:pt x="27" y="5"/>
                    </a:lnTo>
                    <a:lnTo>
                      <a:pt x="27" y="2"/>
                    </a:lnTo>
                    <a:lnTo>
                      <a:pt x="22" y="0"/>
                    </a:lnTo>
                    <a:lnTo>
                      <a:pt x="17" y="0"/>
                    </a:lnTo>
                    <a:lnTo>
                      <a:pt x="15" y="0"/>
                    </a:lnTo>
                    <a:lnTo>
                      <a:pt x="9" y="0"/>
                    </a:lnTo>
                    <a:lnTo>
                      <a:pt x="5" y="2"/>
                    </a:lnTo>
                    <a:lnTo>
                      <a:pt x="0" y="5"/>
                    </a:lnTo>
                    <a:lnTo>
                      <a:pt x="0" y="70"/>
                    </a:lnTo>
                    <a:lnTo>
                      <a:pt x="0" y="72"/>
                    </a:lnTo>
                    <a:lnTo>
                      <a:pt x="5" y="75"/>
                    </a:lnTo>
                    <a:lnTo>
                      <a:pt x="9" y="80"/>
                    </a:lnTo>
                    <a:lnTo>
                      <a:pt x="15" y="82"/>
                    </a:lnTo>
                    <a:lnTo>
                      <a:pt x="17" y="82"/>
                    </a:lnTo>
                    <a:lnTo>
                      <a:pt x="22" y="80"/>
                    </a:lnTo>
                    <a:lnTo>
                      <a:pt x="27" y="75"/>
                    </a:lnTo>
                    <a:lnTo>
                      <a:pt x="27" y="72"/>
                    </a:lnTo>
                    <a:lnTo>
                      <a:pt x="27" y="7"/>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213" name="任意多边形 14373">
                <a:extLst>
                  <a:ext uri="{FF2B5EF4-FFF2-40B4-BE49-F238E27FC236}">
                    <a16:creationId xmlns="" xmlns:a16="http://schemas.microsoft.com/office/drawing/2014/main" id="{A48DDC5C-FCB9-8F97-EDF2-12F8181603AF}"/>
                  </a:ext>
                </a:extLst>
              </p:cNvPr>
              <p:cNvSpPr>
                <a:spLocks noChangeArrowheads="1"/>
              </p:cNvSpPr>
              <p:nvPr/>
            </p:nvSpPr>
            <p:spPr bwMode="auto">
              <a:xfrm>
                <a:off x="1583" y="3011"/>
                <a:ext cx="11" cy="32"/>
              </a:xfrm>
              <a:custGeom>
                <a:avLst/>
                <a:gdLst>
                  <a:gd name="T0" fmla="*/ 27 w 27"/>
                  <a:gd name="T1" fmla="*/ 7 h 80"/>
                  <a:gd name="T2" fmla="*/ 27 w 27"/>
                  <a:gd name="T3" fmla="*/ 5 h 80"/>
                  <a:gd name="T4" fmla="*/ 27 w 27"/>
                  <a:gd name="T5" fmla="*/ 2 h 80"/>
                  <a:gd name="T6" fmla="*/ 22 w 27"/>
                  <a:gd name="T7" fmla="*/ 0 h 80"/>
                  <a:gd name="T8" fmla="*/ 17 w 27"/>
                  <a:gd name="T9" fmla="*/ 0 h 80"/>
                  <a:gd name="T10" fmla="*/ 15 w 27"/>
                  <a:gd name="T11" fmla="*/ 0 h 80"/>
                  <a:gd name="T12" fmla="*/ 9 w 27"/>
                  <a:gd name="T13" fmla="*/ 0 h 80"/>
                  <a:gd name="T14" fmla="*/ 5 w 27"/>
                  <a:gd name="T15" fmla="*/ 2 h 80"/>
                  <a:gd name="T16" fmla="*/ 0 w 27"/>
                  <a:gd name="T17" fmla="*/ 5 h 80"/>
                  <a:gd name="T18" fmla="*/ 0 w 27"/>
                  <a:gd name="T19" fmla="*/ 69 h 80"/>
                  <a:gd name="T20" fmla="*/ 0 w 27"/>
                  <a:gd name="T21" fmla="*/ 72 h 80"/>
                  <a:gd name="T22" fmla="*/ 5 w 27"/>
                  <a:gd name="T23" fmla="*/ 75 h 80"/>
                  <a:gd name="T24" fmla="*/ 9 w 27"/>
                  <a:gd name="T25" fmla="*/ 77 h 80"/>
                  <a:gd name="T26" fmla="*/ 15 w 27"/>
                  <a:gd name="T27" fmla="*/ 80 h 80"/>
                  <a:gd name="T28" fmla="*/ 17 w 27"/>
                  <a:gd name="T29" fmla="*/ 80 h 80"/>
                  <a:gd name="T30" fmla="*/ 22 w 27"/>
                  <a:gd name="T31" fmla="*/ 77 h 80"/>
                  <a:gd name="T32" fmla="*/ 27 w 27"/>
                  <a:gd name="T33" fmla="*/ 75 h 80"/>
                  <a:gd name="T34" fmla="*/ 27 w 27"/>
                  <a:gd name="T35" fmla="*/ 72 h 80"/>
                  <a:gd name="T36" fmla="*/ 27 w 27"/>
                  <a:gd name="T37" fmla="*/ 7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80">
                    <a:moveTo>
                      <a:pt x="27" y="7"/>
                    </a:moveTo>
                    <a:lnTo>
                      <a:pt x="27" y="5"/>
                    </a:lnTo>
                    <a:lnTo>
                      <a:pt x="27" y="2"/>
                    </a:lnTo>
                    <a:lnTo>
                      <a:pt x="22" y="0"/>
                    </a:lnTo>
                    <a:lnTo>
                      <a:pt x="17" y="0"/>
                    </a:lnTo>
                    <a:lnTo>
                      <a:pt x="15" y="0"/>
                    </a:lnTo>
                    <a:lnTo>
                      <a:pt x="9" y="0"/>
                    </a:lnTo>
                    <a:lnTo>
                      <a:pt x="5" y="2"/>
                    </a:lnTo>
                    <a:lnTo>
                      <a:pt x="0" y="5"/>
                    </a:lnTo>
                    <a:lnTo>
                      <a:pt x="0" y="69"/>
                    </a:lnTo>
                    <a:lnTo>
                      <a:pt x="0" y="72"/>
                    </a:lnTo>
                    <a:lnTo>
                      <a:pt x="5" y="75"/>
                    </a:lnTo>
                    <a:lnTo>
                      <a:pt x="9" y="77"/>
                    </a:lnTo>
                    <a:lnTo>
                      <a:pt x="15" y="80"/>
                    </a:lnTo>
                    <a:lnTo>
                      <a:pt x="17" y="80"/>
                    </a:lnTo>
                    <a:lnTo>
                      <a:pt x="22" y="77"/>
                    </a:lnTo>
                    <a:lnTo>
                      <a:pt x="27" y="75"/>
                    </a:lnTo>
                    <a:lnTo>
                      <a:pt x="27" y="72"/>
                    </a:lnTo>
                    <a:lnTo>
                      <a:pt x="27" y="7"/>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214" name="任意多边形 14374">
                <a:extLst>
                  <a:ext uri="{FF2B5EF4-FFF2-40B4-BE49-F238E27FC236}">
                    <a16:creationId xmlns="" xmlns:a16="http://schemas.microsoft.com/office/drawing/2014/main" id="{6364444A-65BA-4A56-30DB-CAA663A8BF2E}"/>
                  </a:ext>
                </a:extLst>
              </p:cNvPr>
              <p:cNvSpPr>
                <a:spLocks noChangeArrowheads="1"/>
              </p:cNvSpPr>
              <p:nvPr/>
            </p:nvSpPr>
            <p:spPr bwMode="auto">
              <a:xfrm>
                <a:off x="1583" y="3056"/>
                <a:ext cx="11" cy="33"/>
              </a:xfrm>
              <a:custGeom>
                <a:avLst/>
                <a:gdLst>
                  <a:gd name="T0" fmla="*/ 27 w 27"/>
                  <a:gd name="T1" fmla="*/ 10 h 82"/>
                  <a:gd name="T2" fmla="*/ 27 w 27"/>
                  <a:gd name="T3" fmla="*/ 5 h 82"/>
                  <a:gd name="T4" fmla="*/ 27 w 27"/>
                  <a:gd name="T5" fmla="*/ 2 h 82"/>
                  <a:gd name="T6" fmla="*/ 22 w 27"/>
                  <a:gd name="T7" fmla="*/ 0 h 82"/>
                  <a:gd name="T8" fmla="*/ 17 w 27"/>
                  <a:gd name="T9" fmla="*/ 0 h 82"/>
                  <a:gd name="T10" fmla="*/ 15 w 27"/>
                  <a:gd name="T11" fmla="*/ 0 h 82"/>
                  <a:gd name="T12" fmla="*/ 9 w 27"/>
                  <a:gd name="T13" fmla="*/ 0 h 82"/>
                  <a:gd name="T14" fmla="*/ 5 w 27"/>
                  <a:gd name="T15" fmla="*/ 2 h 82"/>
                  <a:gd name="T16" fmla="*/ 0 w 27"/>
                  <a:gd name="T17" fmla="*/ 5 h 82"/>
                  <a:gd name="T18" fmla="*/ 0 w 27"/>
                  <a:gd name="T19" fmla="*/ 72 h 82"/>
                  <a:gd name="T20" fmla="*/ 0 w 27"/>
                  <a:gd name="T21" fmla="*/ 75 h 82"/>
                  <a:gd name="T22" fmla="*/ 5 w 27"/>
                  <a:gd name="T23" fmla="*/ 77 h 82"/>
                  <a:gd name="T24" fmla="*/ 9 w 27"/>
                  <a:gd name="T25" fmla="*/ 80 h 82"/>
                  <a:gd name="T26" fmla="*/ 15 w 27"/>
                  <a:gd name="T27" fmla="*/ 82 h 82"/>
                  <a:gd name="T28" fmla="*/ 17 w 27"/>
                  <a:gd name="T29" fmla="*/ 82 h 82"/>
                  <a:gd name="T30" fmla="*/ 22 w 27"/>
                  <a:gd name="T31" fmla="*/ 80 h 82"/>
                  <a:gd name="T32" fmla="*/ 27 w 27"/>
                  <a:gd name="T33" fmla="*/ 77 h 82"/>
                  <a:gd name="T34" fmla="*/ 27 w 27"/>
                  <a:gd name="T35" fmla="*/ 75 h 82"/>
                  <a:gd name="T36" fmla="*/ 27 w 27"/>
                  <a:gd name="T37" fmla="*/ 10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82">
                    <a:moveTo>
                      <a:pt x="27" y="10"/>
                    </a:moveTo>
                    <a:lnTo>
                      <a:pt x="27" y="5"/>
                    </a:lnTo>
                    <a:lnTo>
                      <a:pt x="27" y="2"/>
                    </a:lnTo>
                    <a:lnTo>
                      <a:pt x="22" y="0"/>
                    </a:lnTo>
                    <a:lnTo>
                      <a:pt x="17" y="0"/>
                    </a:lnTo>
                    <a:lnTo>
                      <a:pt x="15" y="0"/>
                    </a:lnTo>
                    <a:lnTo>
                      <a:pt x="9" y="0"/>
                    </a:lnTo>
                    <a:lnTo>
                      <a:pt x="5" y="2"/>
                    </a:lnTo>
                    <a:lnTo>
                      <a:pt x="0" y="5"/>
                    </a:lnTo>
                    <a:lnTo>
                      <a:pt x="0" y="72"/>
                    </a:lnTo>
                    <a:lnTo>
                      <a:pt x="0" y="75"/>
                    </a:lnTo>
                    <a:lnTo>
                      <a:pt x="5" y="77"/>
                    </a:lnTo>
                    <a:lnTo>
                      <a:pt x="9" y="80"/>
                    </a:lnTo>
                    <a:lnTo>
                      <a:pt x="15" y="82"/>
                    </a:lnTo>
                    <a:lnTo>
                      <a:pt x="17" y="82"/>
                    </a:lnTo>
                    <a:lnTo>
                      <a:pt x="22" y="80"/>
                    </a:lnTo>
                    <a:lnTo>
                      <a:pt x="27" y="77"/>
                    </a:lnTo>
                    <a:lnTo>
                      <a:pt x="27" y="75"/>
                    </a:lnTo>
                    <a:lnTo>
                      <a:pt x="27" y="10"/>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215" name="任意多边形 14375">
                <a:extLst>
                  <a:ext uri="{FF2B5EF4-FFF2-40B4-BE49-F238E27FC236}">
                    <a16:creationId xmlns="" xmlns:a16="http://schemas.microsoft.com/office/drawing/2014/main" id="{E5B4F28A-D869-B79D-04F2-8F36C817DC5D}"/>
                  </a:ext>
                </a:extLst>
              </p:cNvPr>
              <p:cNvSpPr>
                <a:spLocks noChangeArrowheads="1"/>
              </p:cNvSpPr>
              <p:nvPr/>
            </p:nvSpPr>
            <p:spPr bwMode="auto">
              <a:xfrm>
                <a:off x="1583" y="3102"/>
                <a:ext cx="11" cy="33"/>
              </a:xfrm>
              <a:custGeom>
                <a:avLst/>
                <a:gdLst>
                  <a:gd name="T0" fmla="*/ 27 w 27"/>
                  <a:gd name="T1" fmla="*/ 7 h 82"/>
                  <a:gd name="T2" fmla="*/ 27 w 27"/>
                  <a:gd name="T3" fmla="*/ 5 h 82"/>
                  <a:gd name="T4" fmla="*/ 27 w 27"/>
                  <a:gd name="T5" fmla="*/ 2 h 82"/>
                  <a:gd name="T6" fmla="*/ 22 w 27"/>
                  <a:gd name="T7" fmla="*/ 0 h 82"/>
                  <a:gd name="T8" fmla="*/ 17 w 27"/>
                  <a:gd name="T9" fmla="*/ 0 h 82"/>
                  <a:gd name="T10" fmla="*/ 15 w 27"/>
                  <a:gd name="T11" fmla="*/ 0 h 82"/>
                  <a:gd name="T12" fmla="*/ 9 w 27"/>
                  <a:gd name="T13" fmla="*/ 0 h 82"/>
                  <a:gd name="T14" fmla="*/ 5 w 27"/>
                  <a:gd name="T15" fmla="*/ 2 h 82"/>
                  <a:gd name="T16" fmla="*/ 0 w 27"/>
                  <a:gd name="T17" fmla="*/ 5 h 82"/>
                  <a:gd name="T18" fmla="*/ 0 w 27"/>
                  <a:gd name="T19" fmla="*/ 70 h 82"/>
                  <a:gd name="T20" fmla="*/ 0 w 27"/>
                  <a:gd name="T21" fmla="*/ 72 h 82"/>
                  <a:gd name="T22" fmla="*/ 5 w 27"/>
                  <a:gd name="T23" fmla="*/ 75 h 82"/>
                  <a:gd name="T24" fmla="*/ 9 w 27"/>
                  <a:gd name="T25" fmla="*/ 80 h 82"/>
                  <a:gd name="T26" fmla="*/ 15 w 27"/>
                  <a:gd name="T27" fmla="*/ 82 h 82"/>
                  <a:gd name="T28" fmla="*/ 17 w 27"/>
                  <a:gd name="T29" fmla="*/ 82 h 82"/>
                  <a:gd name="T30" fmla="*/ 22 w 27"/>
                  <a:gd name="T31" fmla="*/ 80 h 82"/>
                  <a:gd name="T32" fmla="*/ 27 w 27"/>
                  <a:gd name="T33" fmla="*/ 75 h 82"/>
                  <a:gd name="T34" fmla="*/ 27 w 27"/>
                  <a:gd name="T35" fmla="*/ 72 h 82"/>
                  <a:gd name="T36" fmla="*/ 27 w 27"/>
                  <a:gd name="T37" fmla="*/ 7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82">
                    <a:moveTo>
                      <a:pt x="27" y="7"/>
                    </a:moveTo>
                    <a:lnTo>
                      <a:pt x="27" y="5"/>
                    </a:lnTo>
                    <a:lnTo>
                      <a:pt x="27" y="2"/>
                    </a:lnTo>
                    <a:lnTo>
                      <a:pt x="22" y="0"/>
                    </a:lnTo>
                    <a:lnTo>
                      <a:pt x="17" y="0"/>
                    </a:lnTo>
                    <a:lnTo>
                      <a:pt x="15" y="0"/>
                    </a:lnTo>
                    <a:lnTo>
                      <a:pt x="9" y="0"/>
                    </a:lnTo>
                    <a:lnTo>
                      <a:pt x="5" y="2"/>
                    </a:lnTo>
                    <a:lnTo>
                      <a:pt x="0" y="5"/>
                    </a:lnTo>
                    <a:lnTo>
                      <a:pt x="0" y="70"/>
                    </a:lnTo>
                    <a:lnTo>
                      <a:pt x="0" y="72"/>
                    </a:lnTo>
                    <a:lnTo>
                      <a:pt x="5" y="75"/>
                    </a:lnTo>
                    <a:lnTo>
                      <a:pt x="9" y="80"/>
                    </a:lnTo>
                    <a:lnTo>
                      <a:pt x="15" y="82"/>
                    </a:lnTo>
                    <a:lnTo>
                      <a:pt x="17" y="82"/>
                    </a:lnTo>
                    <a:lnTo>
                      <a:pt x="22" y="80"/>
                    </a:lnTo>
                    <a:lnTo>
                      <a:pt x="27" y="75"/>
                    </a:lnTo>
                    <a:lnTo>
                      <a:pt x="27" y="72"/>
                    </a:lnTo>
                    <a:lnTo>
                      <a:pt x="27" y="7"/>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216" name="任意多边形 14376">
                <a:extLst>
                  <a:ext uri="{FF2B5EF4-FFF2-40B4-BE49-F238E27FC236}">
                    <a16:creationId xmlns="" xmlns:a16="http://schemas.microsoft.com/office/drawing/2014/main" id="{A922ECB2-B115-E23C-AB99-838915279030}"/>
                  </a:ext>
                </a:extLst>
              </p:cNvPr>
              <p:cNvSpPr>
                <a:spLocks noChangeArrowheads="1"/>
              </p:cNvSpPr>
              <p:nvPr/>
            </p:nvSpPr>
            <p:spPr bwMode="auto">
              <a:xfrm>
                <a:off x="1583" y="3148"/>
                <a:ext cx="11" cy="32"/>
              </a:xfrm>
              <a:custGeom>
                <a:avLst/>
                <a:gdLst>
                  <a:gd name="T0" fmla="*/ 27 w 27"/>
                  <a:gd name="T1" fmla="*/ 7 h 80"/>
                  <a:gd name="T2" fmla="*/ 27 w 27"/>
                  <a:gd name="T3" fmla="*/ 5 h 80"/>
                  <a:gd name="T4" fmla="*/ 27 w 27"/>
                  <a:gd name="T5" fmla="*/ 2 h 80"/>
                  <a:gd name="T6" fmla="*/ 22 w 27"/>
                  <a:gd name="T7" fmla="*/ 0 h 80"/>
                  <a:gd name="T8" fmla="*/ 17 w 27"/>
                  <a:gd name="T9" fmla="*/ 0 h 80"/>
                  <a:gd name="T10" fmla="*/ 15 w 27"/>
                  <a:gd name="T11" fmla="*/ 0 h 80"/>
                  <a:gd name="T12" fmla="*/ 9 w 27"/>
                  <a:gd name="T13" fmla="*/ 0 h 80"/>
                  <a:gd name="T14" fmla="*/ 5 w 27"/>
                  <a:gd name="T15" fmla="*/ 2 h 80"/>
                  <a:gd name="T16" fmla="*/ 0 w 27"/>
                  <a:gd name="T17" fmla="*/ 5 h 80"/>
                  <a:gd name="T18" fmla="*/ 0 w 27"/>
                  <a:gd name="T19" fmla="*/ 69 h 80"/>
                  <a:gd name="T20" fmla="*/ 0 w 27"/>
                  <a:gd name="T21" fmla="*/ 72 h 80"/>
                  <a:gd name="T22" fmla="*/ 5 w 27"/>
                  <a:gd name="T23" fmla="*/ 75 h 80"/>
                  <a:gd name="T24" fmla="*/ 9 w 27"/>
                  <a:gd name="T25" fmla="*/ 77 h 80"/>
                  <a:gd name="T26" fmla="*/ 15 w 27"/>
                  <a:gd name="T27" fmla="*/ 80 h 80"/>
                  <a:gd name="T28" fmla="*/ 17 w 27"/>
                  <a:gd name="T29" fmla="*/ 80 h 80"/>
                  <a:gd name="T30" fmla="*/ 22 w 27"/>
                  <a:gd name="T31" fmla="*/ 77 h 80"/>
                  <a:gd name="T32" fmla="*/ 27 w 27"/>
                  <a:gd name="T33" fmla="*/ 75 h 80"/>
                  <a:gd name="T34" fmla="*/ 27 w 27"/>
                  <a:gd name="T35" fmla="*/ 72 h 80"/>
                  <a:gd name="T36" fmla="*/ 27 w 27"/>
                  <a:gd name="T37" fmla="*/ 7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80">
                    <a:moveTo>
                      <a:pt x="27" y="7"/>
                    </a:moveTo>
                    <a:lnTo>
                      <a:pt x="27" y="5"/>
                    </a:lnTo>
                    <a:lnTo>
                      <a:pt x="27" y="2"/>
                    </a:lnTo>
                    <a:lnTo>
                      <a:pt x="22" y="0"/>
                    </a:lnTo>
                    <a:lnTo>
                      <a:pt x="17" y="0"/>
                    </a:lnTo>
                    <a:lnTo>
                      <a:pt x="15" y="0"/>
                    </a:lnTo>
                    <a:lnTo>
                      <a:pt x="9" y="0"/>
                    </a:lnTo>
                    <a:lnTo>
                      <a:pt x="5" y="2"/>
                    </a:lnTo>
                    <a:lnTo>
                      <a:pt x="0" y="5"/>
                    </a:lnTo>
                    <a:lnTo>
                      <a:pt x="0" y="69"/>
                    </a:lnTo>
                    <a:lnTo>
                      <a:pt x="0" y="72"/>
                    </a:lnTo>
                    <a:lnTo>
                      <a:pt x="5" y="75"/>
                    </a:lnTo>
                    <a:lnTo>
                      <a:pt x="9" y="77"/>
                    </a:lnTo>
                    <a:lnTo>
                      <a:pt x="15" y="80"/>
                    </a:lnTo>
                    <a:lnTo>
                      <a:pt x="17" y="80"/>
                    </a:lnTo>
                    <a:lnTo>
                      <a:pt x="22" y="77"/>
                    </a:lnTo>
                    <a:lnTo>
                      <a:pt x="27" y="75"/>
                    </a:lnTo>
                    <a:lnTo>
                      <a:pt x="27" y="72"/>
                    </a:lnTo>
                    <a:lnTo>
                      <a:pt x="27" y="7"/>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217" name="任意多边形 14377">
                <a:extLst>
                  <a:ext uri="{FF2B5EF4-FFF2-40B4-BE49-F238E27FC236}">
                    <a16:creationId xmlns="" xmlns:a16="http://schemas.microsoft.com/office/drawing/2014/main" id="{E1C4FBC9-07EF-E70E-53A1-FE9C2C997401}"/>
                  </a:ext>
                </a:extLst>
              </p:cNvPr>
              <p:cNvSpPr>
                <a:spLocks noChangeArrowheads="1"/>
              </p:cNvSpPr>
              <p:nvPr/>
            </p:nvSpPr>
            <p:spPr bwMode="auto">
              <a:xfrm>
                <a:off x="1583" y="3193"/>
                <a:ext cx="11" cy="33"/>
              </a:xfrm>
              <a:custGeom>
                <a:avLst/>
                <a:gdLst>
                  <a:gd name="T0" fmla="*/ 27 w 27"/>
                  <a:gd name="T1" fmla="*/ 10 h 82"/>
                  <a:gd name="T2" fmla="*/ 27 w 27"/>
                  <a:gd name="T3" fmla="*/ 5 h 82"/>
                  <a:gd name="T4" fmla="*/ 27 w 27"/>
                  <a:gd name="T5" fmla="*/ 2 h 82"/>
                  <a:gd name="T6" fmla="*/ 22 w 27"/>
                  <a:gd name="T7" fmla="*/ 0 h 82"/>
                  <a:gd name="T8" fmla="*/ 17 w 27"/>
                  <a:gd name="T9" fmla="*/ 0 h 82"/>
                  <a:gd name="T10" fmla="*/ 15 w 27"/>
                  <a:gd name="T11" fmla="*/ 0 h 82"/>
                  <a:gd name="T12" fmla="*/ 9 w 27"/>
                  <a:gd name="T13" fmla="*/ 0 h 82"/>
                  <a:gd name="T14" fmla="*/ 5 w 27"/>
                  <a:gd name="T15" fmla="*/ 2 h 82"/>
                  <a:gd name="T16" fmla="*/ 0 w 27"/>
                  <a:gd name="T17" fmla="*/ 5 h 82"/>
                  <a:gd name="T18" fmla="*/ 0 w 27"/>
                  <a:gd name="T19" fmla="*/ 72 h 82"/>
                  <a:gd name="T20" fmla="*/ 0 w 27"/>
                  <a:gd name="T21" fmla="*/ 75 h 82"/>
                  <a:gd name="T22" fmla="*/ 5 w 27"/>
                  <a:gd name="T23" fmla="*/ 77 h 82"/>
                  <a:gd name="T24" fmla="*/ 9 w 27"/>
                  <a:gd name="T25" fmla="*/ 80 h 82"/>
                  <a:gd name="T26" fmla="*/ 15 w 27"/>
                  <a:gd name="T27" fmla="*/ 82 h 82"/>
                  <a:gd name="T28" fmla="*/ 17 w 27"/>
                  <a:gd name="T29" fmla="*/ 82 h 82"/>
                  <a:gd name="T30" fmla="*/ 22 w 27"/>
                  <a:gd name="T31" fmla="*/ 80 h 82"/>
                  <a:gd name="T32" fmla="*/ 27 w 27"/>
                  <a:gd name="T33" fmla="*/ 77 h 82"/>
                  <a:gd name="T34" fmla="*/ 27 w 27"/>
                  <a:gd name="T35" fmla="*/ 75 h 82"/>
                  <a:gd name="T36" fmla="*/ 27 w 27"/>
                  <a:gd name="T37" fmla="*/ 10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82">
                    <a:moveTo>
                      <a:pt x="27" y="10"/>
                    </a:moveTo>
                    <a:lnTo>
                      <a:pt x="27" y="5"/>
                    </a:lnTo>
                    <a:lnTo>
                      <a:pt x="27" y="2"/>
                    </a:lnTo>
                    <a:lnTo>
                      <a:pt x="22" y="0"/>
                    </a:lnTo>
                    <a:lnTo>
                      <a:pt x="17" y="0"/>
                    </a:lnTo>
                    <a:lnTo>
                      <a:pt x="15" y="0"/>
                    </a:lnTo>
                    <a:lnTo>
                      <a:pt x="9" y="0"/>
                    </a:lnTo>
                    <a:lnTo>
                      <a:pt x="5" y="2"/>
                    </a:lnTo>
                    <a:lnTo>
                      <a:pt x="0" y="5"/>
                    </a:lnTo>
                    <a:lnTo>
                      <a:pt x="0" y="72"/>
                    </a:lnTo>
                    <a:lnTo>
                      <a:pt x="0" y="75"/>
                    </a:lnTo>
                    <a:lnTo>
                      <a:pt x="5" y="77"/>
                    </a:lnTo>
                    <a:lnTo>
                      <a:pt x="9" y="80"/>
                    </a:lnTo>
                    <a:lnTo>
                      <a:pt x="15" y="82"/>
                    </a:lnTo>
                    <a:lnTo>
                      <a:pt x="17" y="82"/>
                    </a:lnTo>
                    <a:lnTo>
                      <a:pt x="22" y="80"/>
                    </a:lnTo>
                    <a:lnTo>
                      <a:pt x="27" y="77"/>
                    </a:lnTo>
                    <a:lnTo>
                      <a:pt x="27" y="75"/>
                    </a:lnTo>
                    <a:lnTo>
                      <a:pt x="27" y="10"/>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218" name="任意多边形 14378">
                <a:extLst>
                  <a:ext uri="{FF2B5EF4-FFF2-40B4-BE49-F238E27FC236}">
                    <a16:creationId xmlns="" xmlns:a16="http://schemas.microsoft.com/office/drawing/2014/main" id="{0B958148-F0E1-70D9-AF59-AE08464F3F7E}"/>
                  </a:ext>
                </a:extLst>
              </p:cNvPr>
              <p:cNvSpPr>
                <a:spLocks noChangeArrowheads="1"/>
              </p:cNvSpPr>
              <p:nvPr/>
            </p:nvSpPr>
            <p:spPr bwMode="auto">
              <a:xfrm>
                <a:off x="1583" y="3239"/>
                <a:ext cx="11" cy="33"/>
              </a:xfrm>
              <a:custGeom>
                <a:avLst/>
                <a:gdLst>
                  <a:gd name="T0" fmla="*/ 27 w 27"/>
                  <a:gd name="T1" fmla="*/ 7 h 82"/>
                  <a:gd name="T2" fmla="*/ 27 w 27"/>
                  <a:gd name="T3" fmla="*/ 5 h 82"/>
                  <a:gd name="T4" fmla="*/ 27 w 27"/>
                  <a:gd name="T5" fmla="*/ 2 h 82"/>
                  <a:gd name="T6" fmla="*/ 22 w 27"/>
                  <a:gd name="T7" fmla="*/ 0 h 82"/>
                  <a:gd name="T8" fmla="*/ 17 w 27"/>
                  <a:gd name="T9" fmla="*/ 0 h 82"/>
                  <a:gd name="T10" fmla="*/ 15 w 27"/>
                  <a:gd name="T11" fmla="*/ 0 h 82"/>
                  <a:gd name="T12" fmla="*/ 9 w 27"/>
                  <a:gd name="T13" fmla="*/ 0 h 82"/>
                  <a:gd name="T14" fmla="*/ 5 w 27"/>
                  <a:gd name="T15" fmla="*/ 2 h 82"/>
                  <a:gd name="T16" fmla="*/ 0 w 27"/>
                  <a:gd name="T17" fmla="*/ 5 h 82"/>
                  <a:gd name="T18" fmla="*/ 0 w 27"/>
                  <a:gd name="T19" fmla="*/ 70 h 82"/>
                  <a:gd name="T20" fmla="*/ 0 w 27"/>
                  <a:gd name="T21" fmla="*/ 72 h 82"/>
                  <a:gd name="T22" fmla="*/ 5 w 27"/>
                  <a:gd name="T23" fmla="*/ 75 h 82"/>
                  <a:gd name="T24" fmla="*/ 9 w 27"/>
                  <a:gd name="T25" fmla="*/ 77 h 82"/>
                  <a:gd name="T26" fmla="*/ 15 w 27"/>
                  <a:gd name="T27" fmla="*/ 82 h 82"/>
                  <a:gd name="T28" fmla="*/ 17 w 27"/>
                  <a:gd name="T29" fmla="*/ 82 h 82"/>
                  <a:gd name="T30" fmla="*/ 22 w 27"/>
                  <a:gd name="T31" fmla="*/ 77 h 82"/>
                  <a:gd name="T32" fmla="*/ 27 w 27"/>
                  <a:gd name="T33" fmla="*/ 75 h 82"/>
                  <a:gd name="T34" fmla="*/ 27 w 27"/>
                  <a:gd name="T35" fmla="*/ 72 h 82"/>
                  <a:gd name="T36" fmla="*/ 27 w 27"/>
                  <a:gd name="T37" fmla="*/ 7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82">
                    <a:moveTo>
                      <a:pt x="27" y="7"/>
                    </a:moveTo>
                    <a:lnTo>
                      <a:pt x="27" y="5"/>
                    </a:lnTo>
                    <a:lnTo>
                      <a:pt x="27" y="2"/>
                    </a:lnTo>
                    <a:lnTo>
                      <a:pt x="22" y="0"/>
                    </a:lnTo>
                    <a:lnTo>
                      <a:pt x="17" y="0"/>
                    </a:lnTo>
                    <a:lnTo>
                      <a:pt x="15" y="0"/>
                    </a:lnTo>
                    <a:lnTo>
                      <a:pt x="9" y="0"/>
                    </a:lnTo>
                    <a:lnTo>
                      <a:pt x="5" y="2"/>
                    </a:lnTo>
                    <a:lnTo>
                      <a:pt x="0" y="5"/>
                    </a:lnTo>
                    <a:lnTo>
                      <a:pt x="0" y="70"/>
                    </a:lnTo>
                    <a:lnTo>
                      <a:pt x="0" y="72"/>
                    </a:lnTo>
                    <a:lnTo>
                      <a:pt x="5" y="75"/>
                    </a:lnTo>
                    <a:lnTo>
                      <a:pt x="9" y="77"/>
                    </a:lnTo>
                    <a:lnTo>
                      <a:pt x="15" y="82"/>
                    </a:lnTo>
                    <a:lnTo>
                      <a:pt x="17" y="82"/>
                    </a:lnTo>
                    <a:lnTo>
                      <a:pt x="22" y="77"/>
                    </a:lnTo>
                    <a:lnTo>
                      <a:pt x="27" y="75"/>
                    </a:lnTo>
                    <a:lnTo>
                      <a:pt x="27" y="72"/>
                    </a:lnTo>
                    <a:lnTo>
                      <a:pt x="27" y="7"/>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219" name="任意多边形 14379">
                <a:extLst>
                  <a:ext uri="{FF2B5EF4-FFF2-40B4-BE49-F238E27FC236}">
                    <a16:creationId xmlns="" xmlns:a16="http://schemas.microsoft.com/office/drawing/2014/main" id="{645B83C4-BAB2-30C2-01D0-382DEFA61F9D}"/>
                  </a:ext>
                </a:extLst>
              </p:cNvPr>
              <p:cNvSpPr>
                <a:spLocks noChangeArrowheads="1"/>
              </p:cNvSpPr>
              <p:nvPr/>
            </p:nvSpPr>
            <p:spPr bwMode="auto">
              <a:xfrm>
                <a:off x="1583" y="3285"/>
                <a:ext cx="11" cy="32"/>
              </a:xfrm>
              <a:custGeom>
                <a:avLst/>
                <a:gdLst>
                  <a:gd name="T0" fmla="*/ 27 w 27"/>
                  <a:gd name="T1" fmla="*/ 7 h 79"/>
                  <a:gd name="T2" fmla="*/ 27 w 27"/>
                  <a:gd name="T3" fmla="*/ 5 h 79"/>
                  <a:gd name="T4" fmla="*/ 27 w 27"/>
                  <a:gd name="T5" fmla="*/ 2 h 79"/>
                  <a:gd name="T6" fmla="*/ 22 w 27"/>
                  <a:gd name="T7" fmla="*/ 0 h 79"/>
                  <a:gd name="T8" fmla="*/ 17 w 27"/>
                  <a:gd name="T9" fmla="*/ 0 h 79"/>
                  <a:gd name="T10" fmla="*/ 15 w 27"/>
                  <a:gd name="T11" fmla="*/ 0 h 79"/>
                  <a:gd name="T12" fmla="*/ 9 w 27"/>
                  <a:gd name="T13" fmla="*/ 0 h 79"/>
                  <a:gd name="T14" fmla="*/ 5 w 27"/>
                  <a:gd name="T15" fmla="*/ 2 h 79"/>
                  <a:gd name="T16" fmla="*/ 0 w 27"/>
                  <a:gd name="T17" fmla="*/ 5 h 79"/>
                  <a:gd name="T18" fmla="*/ 0 w 27"/>
                  <a:gd name="T19" fmla="*/ 69 h 79"/>
                  <a:gd name="T20" fmla="*/ 0 w 27"/>
                  <a:gd name="T21" fmla="*/ 72 h 79"/>
                  <a:gd name="T22" fmla="*/ 5 w 27"/>
                  <a:gd name="T23" fmla="*/ 75 h 79"/>
                  <a:gd name="T24" fmla="*/ 9 w 27"/>
                  <a:gd name="T25" fmla="*/ 77 h 79"/>
                  <a:gd name="T26" fmla="*/ 15 w 27"/>
                  <a:gd name="T27" fmla="*/ 79 h 79"/>
                  <a:gd name="T28" fmla="*/ 17 w 27"/>
                  <a:gd name="T29" fmla="*/ 79 h 79"/>
                  <a:gd name="T30" fmla="*/ 22 w 27"/>
                  <a:gd name="T31" fmla="*/ 77 h 79"/>
                  <a:gd name="T32" fmla="*/ 27 w 27"/>
                  <a:gd name="T33" fmla="*/ 75 h 79"/>
                  <a:gd name="T34" fmla="*/ 27 w 27"/>
                  <a:gd name="T35" fmla="*/ 72 h 79"/>
                  <a:gd name="T36" fmla="*/ 27 w 27"/>
                  <a:gd name="T37" fmla="*/ 7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79">
                    <a:moveTo>
                      <a:pt x="27" y="7"/>
                    </a:moveTo>
                    <a:lnTo>
                      <a:pt x="27" y="5"/>
                    </a:lnTo>
                    <a:lnTo>
                      <a:pt x="27" y="2"/>
                    </a:lnTo>
                    <a:lnTo>
                      <a:pt x="22" y="0"/>
                    </a:lnTo>
                    <a:lnTo>
                      <a:pt x="17" y="0"/>
                    </a:lnTo>
                    <a:lnTo>
                      <a:pt x="15" y="0"/>
                    </a:lnTo>
                    <a:lnTo>
                      <a:pt x="9" y="0"/>
                    </a:lnTo>
                    <a:lnTo>
                      <a:pt x="5" y="2"/>
                    </a:lnTo>
                    <a:lnTo>
                      <a:pt x="0" y="5"/>
                    </a:lnTo>
                    <a:lnTo>
                      <a:pt x="0" y="69"/>
                    </a:lnTo>
                    <a:lnTo>
                      <a:pt x="0" y="72"/>
                    </a:lnTo>
                    <a:lnTo>
                      <a:pt x="5" y="75"/>
                    </a:lnTo>
                    <a:lnTo>
                      <a:pt x="9" y="77"/>
                    </a:lnTo>
                    <a:lnTo>
                      <a:pt x="15" y="79"/>
                    </a:lnTo>
                    <a:lnTo>
                      <a:pt x="17" y="79"/>
                    </a:lnTo>
                    <a:lnTo>
                      <a:pt x="22" y="77"/>
                    </a:lnTo>
                    <a:lnTo>
                      <a:pt x="27" y="75"/>
                    </a:lnTo>
                    <a:lnTo>
                      <a:pt x="27" y="72"/>
                    </a:lnTo>
                    <a:lnTo>
                      <a:pt x="27" y="7"/>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220" name="任意多边形 14380">
                <a:extLst>
                  <a:ext uri="{FF2B5EF4-FFF2-40B4-BE49-F238E27FC236}">
                    <a16:creationId xmlns="" xmlns:a16="http://schemas.microsoft.com/office/drawing/2014/main" id="{1E6CCAFF-DD05-6879-B11C-BB96EEB4339E}"/>
                  </a:ext>
                </a:extLst>
              </p:cNvPr>
              <p:cNvSpPr>
                <a:spLocks noChangeArrowheads="1"/>
              </p:cNvSpPr>
              <p:nvPr/>
            </p:nvSpPr>
            <p:spPr bwMode="auto">
              <a:xfrm>
                <a:off x="1583" y="3330"/>
                <a:ext cx="11" cy="33"/>
              </a:xfrm>
              <a:custGeom>
                <a:avLst/>
                <a:gdLst>
                  <a:gd name="T0" fmla="*/ 27 w 27"/>
                  <a:gd name="T1" fmla="*/ 10 h 82"/>
                  <a:gd name="T2" fmla="*/ 27 w 27"/>
                  <a:gd name="T3" fmla="*/ 5 h 82"/>
                  <a:gd name="T4" fmla="*/ 27 w 27"/>
                  <a:gd name="T5" fmla="*/ 2 h 82"/>
                  <a:gd name="T6" fmla="*/ 22 w 27"/>
                  <a:gd name="T7" fmla="*/ 0 h 82"/>
                  <a:gd name="T8" fmla="*/ 17 w 27"/>
                  <a:gd name="T9" fmla="*/ 0 h 82"/>
                  <a:gd name="T10" fmla="*/ 15 w 27"/>
                  <a:gd name="T11" fmla="*/ 0 h 82"/>
                  <a:gd name="T12" fmla="*/ 9 w 27"/>
                  <a:gd name="T13" fmla="*/ 0 h 82"/>
                  <a:gd name="T14" fmla="*/ 5 w 27"/>
                  <a:gd name="T15" fmla="*/ 2 h 82"/>
                  <a:gd name="T16" fmla="*/ 0 w 27"/>
                  <a:gd name="T17" fmla="*/ 5 h 82"/>
                  <a:gd name="T18" fmla="*/ 0 w 27"/>
                  <a:gd name="T19" fmla="*/ 72 h 82"/>
                  <a:gd name="T20" fmla="*/ 0 w 27"/>
                  <a:gd name="T21" fmla="*/ 75 h 82"/>
                  <a:gd name="T22" fmla="*/ 5 w 27"/>
                  <a:gd name="T23" fmla="*/ 77 h 82"/>
                  <a:gd name="T24" fmla="*/ 9 w 27"/>
                  <a:gd name="T25" fmla="*/ 80 h 82"/>
                  <a:gd name="T26" fmla="*/ 15 w 27"/>
                  <a:gd name="T27" fmla="*/ 82 h 82"/>
                  <a:gd name="T28" fmla="*/ 17 w 27"/>
                  <a:gd name="T29" fmla="*/ 82 h 82"/>
                  <a:gd name="T30" fmla="*/ 22 w 27"/>
                  <a:gd name="T31" fmla="*/ 80 h 82"/>
                  <a:gd name="T32" fmla="*/ 27 w 27"/>
                  <a:gd name="T33" fmla="*/ 77 h 82"/>
                  <a:gd name="T34" fmla="*/ 27 w 27"/>
                  <a:gd name="T35" fmla="*/ 75 h 82"/>
                  <a:gd name="T36" fmla="*/ 27 w 27"/>
                  <a:gd name="T37" fmla="*/ 10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82">
                    <a:moveTo>
                      <a:pt x="27" y="10"/>
                    </a:moveTo>
                    <a:lnTo>
                      <a:pt x="27" y="5"/>
                    </a:lnTo>
                    <a:lnTo>
                      <a:pt x="27" y="2"/>
                    </a:lnTo>
                    <a:lnTo>
                      <a:pt x="22" y="0"/>
                    </a:lnTo>
                    <a:lnTo>
                      <a:pt x="17" y="0"/>
                    </a:lnTo>
                    <a:lnTo>
                      <a:pt x="15" y="0"/>
                    </a:lnTo>
                    <a:lnTo>
                      <a:pt x="9" y="0"/>
                    </a:lnTo>
                    <a:lnTo>
                      <a:pt x="5" y="2"/>
                    </a:lnTo>
                    <a:lnTo>
                      <a:pt x="0" y="5"/>
                    </a:lnTo>
                    <a:lnTo>
                      <a:pt x="0" y="72"/>
                    </a:lnTo>
                    <a:lnTo>
                      <a:pt x="0" y="75"/>
                    </a:lnTo>
                    <a:lnTo>
                      <a:pt x="5" y="77"/>
                    </a:lnTo>
                    <a:lnTo>
                      <a:pt x="9" y="80"/>
                    </a:lnTo>
                    <a:lnTo>
                      <a:pt x="15" y="82"/>
                    </a:lnTo>
                    <a:lnTo>
                      <a:pt x="17" y="82"/>
                    </a:lnTo>
                    <a:lnTo>
                      <a:pt x="22" y="80"/>
                    </a:lnTo>
                    <a:lnTo>
                      <a:pt x="27" y="77"/>
                    </a:lnTo>
                    <a:lnTo>
                      <a:pt x="27" y="75"/>
                    </a:lnTo>
                    <a:lnTo>
                      <a:pt x="27" y="10"/>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221" name="任意多边形 14381">
                <a:extLst>
                  <a:ext uri="{FF2B5EF4-FFF2-40B4-BE49-F238E27FC236}">
                    <a16:creationId xmlns="" xmlns:a16="http://schemas.microsoft.com/office/drawing/2014/main" id="{02BCAA9B-9D60-6D37-3E5F-2F042D407251}"/>
                  </a:ext>
                </a:extLst>
              </p:cNvPr>
              <p:cNvSpPr>
                <a:spLocks noChangeArrowheads="1"/>
              </p:cNvSpPr>
              <p:nvPr/>
            </p:nvSpPr>
            <p:spPr bwMode="auto">
              <a:xfrm>
                <a:off x="1583" y="3376"/>
                <a:ext cx="11" cy="33"/>
              </a:xfrm>
              <a:custGeom>
                <a:avLst/>
                <a:gdLst>
                  <a:gd name="T0" fmla="*/ 27 w 27"/>
                  <a:gd name="T1" fmla="*/ 7 h 82"/>
                  <a:gd name="T2" fmla="*/ 27 w 27"/>
                  <a:gd name="T3" fmla="*/ 5 h 82"/>
                  <a:gd name="T4" fmla="*/ 27 w 27"/>
                  <a:gd name="T5" fmla="*/ 2 h 82"/>
                  <a:gd name="T6" fmla="*/ 22 w 27"/>
                  <a:gd name="T7" fmla="*/ 0 h 82"/>
                  <a:gd name="T8" fmla="*/ 17 w 27"/>
                  <a:gd name="T9" fmla="*/ 0 h 82"/>
                  <a:gd name="T10" fmla="*/ 15 w 27"/>
                  <a:gd name="T11" fmla="*/ 0 h 82"/>
                  <a:gd name="T12" fmla="*/ 9 w 27"/>
                  <a:gd name="T13" fmla="*/ 0 h 82"/>
                  <a:gd name="T14" fmla="*/ 5 w 27"/>
                  <a:gd name="T15" fmla="*/ 2 h 82"/>
                  <a:gd name="T16" fmla="*/ 0 w 27"/>
                  <a:gd name="T17" fmla="*/ 5 h 82"/>
                  <a:gd name="T18" fmla="*/ 0 w 27"/>
                  <a:gd name="T19" fmla="*/ 69 h 82"/>
                  <a:gd name="T20" fmla="*/ 0 w 27"/>
                  <a:gd name="T21" fmla="*/ 72 h 82"/>
                  <a:gd name="T22" fmla="*/ 5 w 27"/>
                  <a:gd name="T23" fmla="*/ 75 h 82"/>
                  <a:gd name="T24" fmla="*/ 9 w 27"/>
                  <a:gd name="T25" fmla="*/ 77 h 82"/>
                  <a:gd name="T26" fmla="*/ 15 w 27"/>
                  <a:gd name="T27" fmla="*/ 82 h 82"/>
                  <a:gd name="T28" fmla="*/ 17 w 27"/>
                  <a:gd name="T29" fmla="*/ 82 h 82"/>
                  <a:gd name="T30" fmla="*/ 22 w 27"/>
                  <a:gd name="T31" fmla="*/ 77 h 82"/>
                  <a:gd name="T32" fmla="*/ 27 w 27"/>
                  <a:gd name="T33" fmla="*/ 75 h 82"/>
                  <a:gd name="T34" fmla="*/ 27 w 27"/>
                  <a:gd name="T35" fmla="*/ 72 h 82"/>
                  <a:gd name="T36" fmla="*/ 27 w 27"/>
                  <a:gd name="T37" fmla="*/ 7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82">
                    <a:moveTo>
                      <a:pt x="27" y="7"/>
                    </a:moveTo>
                    <a:lnTo>
                      <a:pt x="27" y="5"/>
                    </a:lnTo>
                    <a:lnTo>
                      <a:pt x="27" y="2"/>
                    </a:lnTo>
                    <a:lnTo>
                      <a:pt x="22" y="0"/>
                    </a:lnTo>
                    <a:lnTo>
                      <a:pt x="17" y="0"/>
                    </a:lnTo>
                    <a:lnTo>
                      <a:pt x="15" y="0"/>
                    </a:lnTo>
                    <a:lnTo>
                      <a:pt x="9" y="0"/>
                    </a:lnTo>
                    <a:lnTo>
                      <a:pt x="5" y="2"/>
                    </a:lnTo>
                    <a:lnTo>
                      <a:pt x="0" y="5"/>
                    </a:lnTo>
                    <a:lnTo>
                      <a:pt x="0" y="69"/>
                    </a:lnTo>
                    <a:lnTo>
                      <a:pt x="0" y="72"/>
                    </a:lnTo>
                    <a:lnTo>
                      <a:pt x="5" y="75"/>
                    </a:lnTo>
                    <a:lnTo>
                      <a:pt x="9" y="77"/>
                    </a:lnTo>
                    <a:lnTo>
                      <a:pt x="15" y="82"/>
                    </a:lnTo>
                    <a:lnTo>
                      <a:pt x="17" y="82"/>
                    </a:lnTo>
                    <a:lnTo>
                      <a:pt x="22" y="77"/>
                    </a:lnTo>
                    <a:lnTo>
                      <a:pt x="27" y="75"/>
                    </a:lnTo>
                    <a:lnTo>
                      <a:pt x="27" y="72"/>
                    </a:lnTo>
                    <a:lnTo>
                      <a:pt x="27" y="7"/>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222" name="任意多边形 14382">
                <a:extLst>
                  <a:ext uri="{FF2B5EF4-FFF2-40B4-BE49-F238E27FC236}">
                    <a16:creationId xmlns="" xmlns:a16="http://schemas.microsoft.com/office/drawing/2014/main" id="{2E83FD6C-DE2B-D638-402C-D07EB8702D19}"/>
                  </a:ext>
                </a:extLst>
              </p:cNvPr>
              <p:cNvSpPr>
                <a:spLocks noChangeArrowheads="1"/>
              </p:cNvSpPr>
              <p:nvPr/>
            </p:nvSpPr>
            <p:spPr bwMode="auto">
              <a:xfrm>
                <a:off x="1583" y="3422"/>
                <a:ext cx="11" cy="32"/>
              </a:xfrm>
              <a:custGeom>
                <a:avLst/>
                <a:gdLst>
                  <a:gd name="T0" fmla="*/ 27 w 27"/>
                  <a:gd name="T1" fmla="*/ 7 h 79"/>
                  <a:gd name="T2" fmla="*/ 27 w 27"/>
                  <a:gd name="T3" fmla="*/ 4 h 79"/>
                  <a:gd name="T4" fmla="*/ 27 w 27"/>
                  <a:gd name="T5" fmla="*/ 2 h 79"/>
                  <a:gd name="T6" fmla="*/ 22 w 27"/>
                  <a:gd name="T7" fmla="*/ 0 h 79"/>
                  <a:gd name="T8" fmla="*/ 17 w 27"/>
                  <a:gd name="T9" fmla="*/ 0 h 79"/>
                  <a:gd name="T10" fmla="*/ 15 w 27"/>
                  <a:gd name="T11" fmla="*/ 0 h 79"/>
                  <a:gd name="T12" fmla="*/ 9 w 27"/>
                  <a:gd name="T13" fmla="*/ 0 h 79"/>
                  <a:gd name="T14" fmla="*/ 5 w 27"/>
                  <a:gd name="T15" fmla="*/ 2 h 79"/>
                  <a:gd name="T16" fmla="*/ 0 w 27"/>
                  <a:gd name="T17" fmla="*/ 4 h 79"/>
                  <a:gd name="T18" fmla="*/ 0 w 27"/>
                  <a:gd name="T19" fmla="*/ 69 h 79"/>
                  <a:gd name="T20" fmla="*/ 0 w 27"/>
                  <a:gd name="T21" fmla="*/ 72 h 79"/>
                  <a:gd name="T22" fmla="*/ 5 w 27"/>
                  <a:gd name="T23" fmla="*/ 75 h 79"/>
                  <a:gd name="T24" fmla="*/ 9 w 27"/>
                  <a:gd name="T25" fmla="*/ 77 h 79"/>
                  <a:gd name="T26" fmla="*/ 15 w 27"/>
                  <a:gd name="T27" fmla="*/ 79 h 79"/>
                  <a:gd name="T28" fmla="*/ 17 w 27"/>
                  <a:gd name="T29" fmla="*/ 79 h 79"/>
                  <a:gd name="T30" fmla="*/ 22 w 27"/>
                  <a:gd name="T31" fmla="*/ 77 h 79"/>
                  <a:gd name="T32" fmla="*/ 27 w 27"/>
                  <a:gd name="T33" fmla="*/ 75 h 79"/>
                  <a:gd name="T34" fmla="*/ 27 w 27"/>
                  <a:gd name="T35" fmla="*/ 72 h 79"/>
                  <a:gd name="T36" fmla="*/ 27 w 27"/>
                  <a:gd name="T37" fmla="*/ 7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79">
                    <a:moveTo>
                      <a:pt x="27" y="7"/>
                    </a:moveTo>
                    <a:lnTo>
                      <a:pt x="27" y="4"/>
                    </a:lnTo>
                    <a:lnTo>
                      <a:pt x="27" y="2"/>
                    </a:lnTo>
                    <a:lnTo>
                      <a:pt x="22" y="0"/>
                    </a:lnTo>
                    <a:lnTo>
                      <a:pt x="17" y="0"/>
                    </a:lnTo>
                    <a:lnTo>
                      <a:pt x="15" y="0"/>
                    </a:lnTo>
                    <a:lnTo>
                      <a:pt x="9" y="0"/>
                    </a:lnTo>
                    <a:lnTo>
                      <a:pt x="5" y="2"/>
                    </a:lnTo>
                    <a:lnTo>
                      <a:pt x="0" y="4"/>
                    </a:lnTo>
                    <a:lnTo>
                      <a:pt x="0" y="69"/>
                    </a:lnTo>
                    <a:lnTo>
                      <a:pt x="0" y="72"/>
                    </a:lnTo>
                    <a:lnTo>
                      <a:pt x="5" y="75"/>
                    </a:lnTo>
                    <a:lnTo>
                      <a:pt x="9" y="77"/>
                    </a:lnTo>
                    <a:lnTo>
                      <a:pt x="15" y="79"/>
                    </a:lnTo>
                    <a:lnTo>
                      <a:pt x="17" y="79"/>
                    </a:lnTo>
                    <a:lnTo>
                      <a:pt x="22" y="77"/>
                    </a:lnTo>
                    <a:lnTo>
                      <a:pt x="27" y="75"/>
                    </a:lnTo>
                    <a:lnTo>
                      <a:pt x="27" y="72"/>
                    </a:lnTo>
                    <a:lnTo>
                      <a:pt x="27" y="7"/>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223" name="任意多边形 14383">
                <a:extLst>
                  <a:ext uri="{FF2B5EF4-FFF2-40B4-BE49-F238E27FC236}">
                    <a16:creationId xmlns="" xmlns:a16="http://schemas.microsoft.com/office/drawing/2014/main" id="{CC45BD8E-6F56-239F-7F63-E9DB7391033C}"/>
                  </a:ext>
                </a:extLst>
              </p:cNvPr>
              <p:cNvSpPr>
                <a:spLocks noChangeArrowheads="1"/>
              </p:cNvSpPr>
              <p:nvPr/>
            </p:nvSpPr>
            <p:spPr bwMode="auto">
              <a:xfrm>
                <a:off x="1583" y="3467"/>
                <a:ext cx="11" cy="33"/>
              </a:xfrm>
              <a:custGeom>
                <a:avLst/>
                <a:gdLst>
                  <a:gd name="T0" fmla="*/ 27 w 27"/>
                  <a:gd name="T1" fmla="*/ 10 h 82"/>
                  <a:gd name="T2" fmla="*/ 27 w 27"/>
                  <a:gd name="T3" fmla="*/ 5 h 82"/>
                  <a:gd name="T4" fmla="*/ 27 w 27"/>
                  <a:gd name="T5" fmla="*/ 2 h 82"/>
                  <a:gd name="T6" fmla="*/ 22 w 27"/>
                  <a:gd name="T7" fmla="*/ 0 h 82"/>
                  <a:gd name="T8" fmla="*/ 17 w 27"/>
                  <a:gd name="T9" fmla="*/ 0 h 82"/>
                  <a:gd name="T10" fmla="*/ 15 w 27"/>
                  <a:gd name="T11" fmla="*/ 0 h 82"/>
                  <a:gd name="T12" fmla="*/ 9 w 27"/>
                  <a:gd name="T13" fmla="*/ 0 h 82"/>
                  <a:gd name="T14" fmla="*/ 5 w 27"/>
                  <a:gd name="T15" fmla="*/ 2 h 82"/>
                  <a:gd name="T16" fmla="*/ 0 w 27"/>
                  <a:gd name="T17" fmla="*/ 5 h 82"/>
                  <a:gd name="T18" fmla="*/ 0 w 27"/>
                  <a:gd name="T19" fmla="*/ 72 h 82"/>
                  <a:gd name="T20" fmla="*/ 0 w 27"/>
                  <a:gd name="T21" fmla="*/ 75 h 82"/>
                  <a:gd name="T22" fmla="*/ 5 w 27"/>
                  <a:gd name="T23" fmla="*/ 77 h 82"/>
                  <a:gd name="T24" fmla="*/ 9 w 27"/>
                  <a:gd name="T25" fmla="*/ 79 h 82"/>
                  <a:gd name="T26" fmla="*/ 15 w 27"/>
                  <a:gd name="T27" fmla="*/ 82 h 82"/>
                  <a:gd name="T28" fmla="*/ 17 w 27"/>
                  <a:gd name="T29" fmla="*/ 82 h 82"/>
                  <a:gd name="T30" fmla="*/ 22 w 27"/>
                  <a:gd name="T31" fmla="*/ 79 h 82"/>
                  <a:gd name="T32" fmla="*/ 27 w 27"/>
                  <a:gd name="T33" fmla="*/ 77 h 82"/>
                  <a:gd name="T34" fmla="*/ 27 w 27"/>
                  <a:gd name="T35" fmla="*/ 75 h 82"/>
                  <a:gd name="T36" fmla="*/ 27 w 27"/>
                  <a:gd name="T37" fmla="*/ 10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82">
                    <a:moveTo>
                      <a:pt x="27" y="10"/>
                    </a:moveTo>
                    <a:lnTo>
                      <a:pt x="27" y="5"/>
                    </a:lnTo>
                    <a:lnTo>
                      <a:pt x="27" y="2"/>
                    </a:lnTo>
                    <a:lnTo>
                      <a:pt x="22" y="0"/>
                    </a:lnTo>
                    <a:lnTo>
                      <a:pt x="17" y="0"/>
                    </a:lnTo>
                    <a:lnTo>
                      <a:pt x="15" y="0"/>
                    </a:lnTo>
                    <a:lnTo>
                      <a:pt x="9" y="0"/>
                    </a:lnTo>
                    <a:lnTo>
                      <a:pt x="5" y="2"/>
                    </a:lnTo>
                    <a:lnTo>
                      <a:pt x="0" y="5"/>
                    </a:lnTo>
                    <a:lnTo>
                      <a:pt x="0" y="72"/>
                    </a:lnTo>
                    <a:lnTo>
                      <a:pt x="0" y="75"/>
                    </a:lnTo>
                    <a:lnTo>
                      <a:pt x="5" y="77"/>
                    </a:lnTo>
                    <a:lnTo>
                      <a:pt x="9" y="79"/>
                    </a:lnTo>
                    <a:lnTo>
                      <a:pt x="15" y="82"/>
                    </a:lnTo>
                    <a:lnTo>
                      <a:pt x="17" y="82"/>
                    </a:lnTo>
                    <a:lnTo>
                      <a:pt x="22" y="79"/>
                    </a:lnTo>
                    <a:lnTo>
                      <a:pt x="27" y="77"/>
                    </a:lnTo>
                    <a:lnTo>
                      <a:pt x="27" y="75"/>
                    </a:lnTo>
                    <a:lnTo>
                      <a:pt x="27" y="10"/>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224" name="任意多边形 14384">
                <a:extLst>
                  <a:ext uri="{FF2B5EF4-FFF2-40B4-BE49-F238E27FC236}">
                    <a16:creationId xmlns="" xmlns:a16="http://schemas.microsoft.com/office/drawing/2014/main" id="{80B67991-7302-FEBB-8B1C-6945FB39ED10}"/>
                  </a:ext>
                </a:extLst>
              </p:cNvPr>
              <p:cNvSpPr>
                <a:spLocks noChangeArrowheads="1"/>
              </p:cNvSpPr>
              <p:nvPr/>
            </p:nvSpPr>
            <p:spPr bwMode="auto">
              <a:xfrm>
                <a:off x="1583" y="3513"/>
                <a:ext cx="11" cy="33"/>
              </a:xfrm>
              <a:custGeom>
                <a:avLst/>
                <a:gdLst>
                  <a:gd name="T0" fmla="*/ 27 w 27"/>
                  <a:gd name="T1" fmla="*/ 7 h 82"/>
                  <a:gd name="T2" fmla="*/ 27 w 27"/>
                  <a:gd name="T3" fmla="*/ 4 h 82"/>
                  <a:gd name="T4" fmla="*/ 27 w 27"/>
                  <a:gd name="T5" fmla="*/ 2 h 82"/>
                  <a:gd name="T6" fmla="*/ 22 w 27"/>
                  <a:gd name="T7" fmla="*/ 0 h 82"/>
                  <a:gd name="T8" fmla="*/ 17 w 27"/>
                  <a:gd name="T9" fmla="*/ 0 h 82"/>
                  <a:gd name="T10" fmla="*/ 15 w 27"/>
                  <a:gd name="T11" fmla="*/ 0 h 82"/>
                  <a:gd name="T12" fmla="*/ 9 w 27"/>
                  <a:gd name="T13" fmla="*/ 0 h 82"/>
                  <a:gd name="T14" fmla="*/ 5 w 27"/>
                  <a:gd name="T15" fmla="*/ 2 h 82"/>
                  <a:gd name="T16" fmla="*/ 0 w 27"/>
                  <a:gd name="T17" fmla="*/ 4 h 82"/>
                  <a:gd name="T18" fmla="*/ 0 w 27"/>
                  <a:gd name="T19" fmla="*/ 69 h 82"/>
                  <a:gd name="T20" fmla="*/ 0 w 27"/>
                  <a:gd name="T21" fmla="*/ 72 h 82"/>
                  <a:gd name="T22" fmla="*/ 5 w 27"/>
                  <a:gd name="T23" fmla="*/ 75 h 82"/>
                  <a:gd name="T24" fmla="*/ 9 w 27"/>
                  <a:gd name="T25" fmla="*/ 77 h 82"/>
                  <a:gd name="T26" fmla="*/ 15 w 27"/>
                  <a:gd name="T27" fmla="*/ 82 h 82"/>
                  <a:gd name="T28" fmla="*/ 17 w 27"/>
                  <a:gd name="T29" fmla="*/ 82 h 82"/>
                  <a:gd name="T30" fmla="*/ 22 w 27"/>
                  <a:gd name="T31" fmla="*/ 77 h 82"/>
                  <a:gd name="T32" fmla="*/ 27 w 27"/>
                  <a:gd name="T33" fmla="*/ 75 h 82"/>
                  <a:gd name="T34" fmla="*/ 27 w 27"/>
                  <a:gd name="T35" fmla="*/ 72 h 82"/>
                  <a:gd name="T36" fmla="*/ 27 w 27"/>
                  <a:gd name="T37" fmla="*/ 7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82">
                    <a:moveTo>
                      <a:pt x="27" y="7"/>
                    </a:moveTo>
                    <a:lnTo>
                      <a:pt x="27" y="4"/>
                    </a:lnTo>
                    <a:lnTo>
                      <a:pt x="27" y="2"/>
                    </a:lnTo>
                    <a:lnTo>
                      <a:pt x="22" y="0"/>
                    </a:lnTo>
                    <a:lnTo>
                      <a:pt x="17" y="0"/>
                    </a:lnTo>
                    <a:lnTo>
                      <a:pt x="15" y="0"/>
                    </a:lnTo>
                    <a:lnTo>
                      <a:pt x="9" y="0"/>
                    </a:lnTo>
                    <a:lnTo>
                      <a:pt x="5" y="2"/>
                    </a:lnTo>
                    <a:lnTo>
                      <a:pt x="0" y="4"/>
                    </a:lnTo>
                    <a:lnTo>
                      <a:pt x="0" y="69"/>
                    </a:lnTo>
                    <a:lnTo>
                      <a:pt x="0" y="72"/>
                    </a:lnTo>
                    <a:lnTo>
                      <a:pt x="5" y="75"/>
                    </a:lnTo>
                    <a:lnTo>
                      <a:pt x="9" y="77"/>
                    </a:lnTo>
                    <a:lnTo>
                      <a:pt x="15" y="82"/>
                    </a:lnTo>
                    <a:lnTo>
                      <a:pt x="17" y="82"/>
                    </a:lnTo>
                    <a:lnTo>
                      <a:pt x="22" y="77"/>
                    </a:lnTo>
                    <a:lnTo>
                      <a:pt x="27" y="75"/>
                    </a:lnTo>
                    <a:lnTo>
                      <a:pt x="27" y="72"/>
                    </a:lnTo>
                    <a:lnTo>
                      <a:pt x="27" y="7"/>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225" name="任意多边形 14385">
                <a:extLst>
                  <a:ext uri="{FF2B5EF4-FFF2-40B4-BE49-F238E27FC236}">
                    <a16:creationId xmlns="" xmlns:a16="http://schemas.microsoft.com/office/drawing/2014/main" id="{C4956866-7BF9-3C3F-494D-71CDC030B676}"/>
                  </a:ext>
                </a:extLst>
              </p:cNvPr>
              <p:cNvSpPr>
                <a:spLocks noChangeArrowheads="1"/>
              </p:cNvSpPr>
              <p:nvPr/>
            </p:nvSpPr>
            <p:spPr bwMode="auto">
              <a:xfrm>
                <a:off x="1583" y="3559"/>
                <a:ext cx="11" cy="32"/>
              </a:xfrm>
              <a:custGeom>
                <a:avLst/>
                <a:gdLst>
                  <a:gd name="T0" fmla="*/ 27 w 27"/>
                  <a:gd name="T1" fmla="*/ 7 h 79"/>
                  <a:gd name="T2" fmla="*/ 27 w 27"/>
                  <a:gd name="T3" fmla="*/ 4 h 79"/>
                  <a:gd name="T4" fmla="*/ 27 w 27"/>
                  <a:gd name="T5" fmla="*/ 2 h 79"/>
                  <a:gd name="T6" fmla="*/ 22 w 27"/>
                  <a:gd name="T7" fmla="*/ 0 h 79"/>
                  <a:gd name="T8" fmla="*/ 17 w 27"/>
                  <a:gd name="T9" fmla="*/ 0 h 79"/>
                  <a:gd name="T10" fmla="*/ 15 w 27"/>
                  <a:gd name="T11" fmla="*/ 0 h 79"/>
                  <a:gd name="T12" fmla="*/ 9 w 27"/>
                  <a:gd name="T13" fmla="*/ 0 h 79"/>
                  <a:gd name="T14" fmla="*/ 5 w 27"/>
                  <a:gd name="T15" fmla="*/ 2 h 79"/>
                  <a:gd name="T16" fmla="*/ 0 w 27"/>
                  <a:gd name="T17" fmla="*/ 4 h 79"/>
                  <a:gd name="T18" fmla="*/ 0 w 27"/>
                  <a:gd name="T19" fmla="*/ 69 h 79"/>
                  <a:gd name="T20" fmla="*/ 0 w 27"/>
                  <a:gd name="T21" fmla="*/ 72 h 79"/>
                  <a:gd name="T22" fmla="*/ 5 w 27"/>
                  <a:gd name="T23" fmla="*/ 75 h 79"/>
                  <a:gd name="T24" fmla="*/ 9 w 27"/>
                  <a:gd name="T25" fmla="*/ 77 h 79"/>
                  <a:gd name="T26" fmla="*/ 15 w 27"/>
                  <a:gd name="T27" fmla="*/ 79 h 79"/>
                  <a:gd name="T28" fmla="*/ 17 w 27"/>
                  <a:gd name="T29" fmla="*/ 79 h 79"/>
                  <a:gd name="T30" fmla="*/ 22 w 27"/>
                  <a:gd name="T31" fmla="*/ 77 h 79"/>
                  <a:gd name="T32" fmla="*/ 27 w 27"/>
                  <a:gd name="T33" fmla="*/ 75 h 79"/>
                  <a:gd name="T34" fmla="*/ 27 w 27"/>
                  <a:gd name="T35" fmla="*/ 72 h 79"/>
                  <a:gd name="T36" fmla="*/ 27 w 27"/>
                  <a:gd name="T37" fmla="*/ 7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79">
                    <a:moveTo>
                      <a:pt x="27" y="7"/>
                    </a:moveTo>
                    <a:lnTo>
                      <a:pt x="27" y="4"/>
                    </a:lnTo>
                    <a:lnTo>
                      <a:pt x="27" y="2"/>
                    </a:lnTo>
                    <a:lnTo>
                      <a:pt x="22" y="0"/>
                    </a:lnTo>
                    <a:lnTo>
                      <a:pt x="17" y="0"/>
                    </a:lnTo>
                    <a:lnTo>
                      <a:pt x="15" y="0"/>
                    </a:lnTo>
                    <a:lnTo>
                      <a:pt x="9" y="0"/>
                    </a:lnTo>
                    <a:lnTo>
                      <a:pt x="5" y="2"/>
                    </a:lnTo>
                    <a:lnTo>
                      <a:pt x="0" y="4"/>
                    </a:lnTo>
                    <a:lnTo>
                      <a:pt x="0" y="69"/>
                    </a:lnTo>
                    <a:lnTo>
                      <a:pt x="0" y="72"/>
                    </a:lnTo>
                    <a:lnTo>
                      <a:pt x="5" y="75"/>
                    </a:lnTo>
                    <a:lnTo>
                      <a:pt x="9" y="77"/>
                    </a:lnTo>
                    <a:lnTo>
                      <a:pt x="15" y="79"/>
                    </a:lnTo>
                    <a:lnTo>
                      <a:pt x="17" y="79"/>
                    </a:lnTo>
                    <a:lnTo>
                      <a:pt x="22" y="77"/>
                    </a:lnTo>
                    <a:lnTo>
                      <a:pt x="27" y="75"/>
                    </a:lnTo>
                    <a:lnTo>
                      <a:pt x="27" y="72"/>
                    </a:lnTo>
                    <a:lnTo>
                      <a:pt x="27" y="7"/>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226" name="任意多边形 14386">
                <a:extLst>
                  <a:ext uri="{FF2B5EF4-FFF2-40B4-BE49-F238E27FC236}">
                    <a16:creationId xmlns="" xmlns:a16="http://schemas.microsoft.com/office/drawing/2014/main" id="{608E7375-A9B2-DC23-E354-1031EF15A0FD}"/>
                  </a:ext>
                </a:extLst>
              </p:cNvPr>
              <p:cNvSpPr>
                <a:spLocks noChangeArrowheads="1"/>
              </p:cNvSpPr>
              <p:nvPr/>
            </p:nvSpPr>
            <p:spPr bwMode="auto">
              <a:xfrm>
                <a:off x="1583" y="3604"/>
                <a:ext cx="11" cy="33"/>
              </a:xfrm>
              <a:custGeom>
                <a:avLst/>
                <a:gdLst>
                  <a:gd name="T0" fmla="*/ 27 w 27"/>
                  <a:gd name="T1" fmla="*/ 10 h 82"/>
                  <a:gd name="T2" fmla="*/ 27 w 27"/>
                  <a:gd name="T3" fmla="*/ 5 h 82"/>
                  <a:gd name="T4" fmla="*/ 27 w 27"/>
                  <a:gd name="T5" fmla="*/ 2 h 82"/>
                  <a:gd name="T6" fmla="*/ 22 w 27"/>
                  <a:gd name="T7" fmla="*/ 0 h 82"/>
                  <a:gd name="T8" fmla="*/ 17 w 27"/>
                  <a:gd name="T9" fmla="*/ 0 h 82"/>
                  <a:gd name="T10" fmla="*/ 15 w 27"/>
                  <a:gd name="T11" fmla="*/ 0 h 82"/>
                  <a:gd name="T12" fmla="*/ 9 w 27"/>
                  <a:gd name="T13" fmla="*/ 0 h 82"/>
                  <a:gd name="T14" fmla="*/ 5 w 27"/>
                  <a:gd name="T15" fmla="*/ 2 h 82"/>
                  <a:gd name="T16" fmla="*/ 0 w 27"/>
                  <a:gd name="T17" fmla="*/ 5 h 82"/>
                  <a:gd name="T18" fmla="*/ 0 w 27"/>
                  <a:gd name="T19" fmla="*/ 72 h 82"/>
                  <a:gd name="T20" fmla="*/ 0 w 27"/>
                  <a:gd name="T21" fmla="*/ 75 h 82"/>
                  <a:gd name="T22" fmla="*/ 5 w 27"/>
                  <a:gd name="T23" fmla="*/ 77 h 82"/>
                  <a:gd name="T24" fmla="*/ 9 w 27"/>
                  <a:gd name="T25" fmla="*/ 79 h 82"/>
                  <a:gd name="T26" fmla="*/ 15 w 27"/>
                  <a:gd name="T27" fmla="*/ 82 h 82"/>
                  <a:gd name="T28" fmla="*/ 17 w 27"/>
                  <a:gd name="T29" fmla="*/ 82 h 82"/>
                  <a:gd name="T30" fmla="*/ 22 w 27"/>
                  <a:gd name="T31" fmla="*/ 79 h 82"/>
                  <a:gd name="T32" fmla="*/ 27 w 27"/>
                  <a:gd name="T33" fmla="*/ 77 h 82"/>
                  <a:gd name="T34" fmla="*/ 27 w 27"/>
                  <a:gd name="T35" fmla="*/ 75 h 82"/>
                  <a:gd name="T36" fmla="*/ 27 w 27"/>
                  <a:gd name="T37" fmla="*/ 10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82">
                    <a:moveTo>
                      <a:pt x="27" y="10"/>
                    </a:moveTo>
                    <a:lnTo>
                      <a:pt x="27" y="5"/>
                    </a:lnTo>
                    <a:lnTo>
                      <a:pt x="27" y="2"/>
                    </a:lnTo>
                    <a:lnTo>
                      <a:pt x="22" y="0"/>
                    </a:lnTo>
                    <a:lnTo>
                      <a:pt x="17" y="0"/>
                    </a:lnTo>
                    <a:lnTo>
                      <a:pt x="15" y="0"/>
                    </a:lnTo>
                    <a:lnTo>
                      <a:pt x="9" y="0"/>
                    </a:lnTo>
                    <a:lnTo>
                      <a:pt x="5" y="2"/>
                    </a:lnTo>
                    <a:lnTo>
                      <a:pt x="0" y="5"/>
                    </a:lnTo>
                    <a:lnTo>
                      <a:pt x="0" y="72"/>
                    </a:lnTo>
                    <a:lnTo>
                      <a:pt x="0" y="75"/>
                    </a:lnTo>
                    <a:lnTo>
                      <a:pt x="5" y="77"/>
                    </a:lnTo>
                    <a:lnTo>
                      <a:pt x="9" y="79"/>
                    </a:lnTo>
                    <a:lnTo>
                      <a:pt x="15" y="82"/>
                    </a:lnTo>
                    <a:lnTo>
                      <a:pt x="17" y="82"/>
                    </a:lnTo>
                    <a:lnTo>
                      <a:pt x="22" y="79"/>
                    </a:lnTo>
                    <a:lnTo>
                      <a:pt x="27" y="77"/>
                    </a:lnTo>
                    <a:lnTo>
                      <a:pt x="27" y="75"/>
                    </a:lnTo>
                    <a:lnTo>
                      <a:pt x="27" y="10"/>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227" name="任意多边形 14387">
                <a:extLst>
                  <a:ext uri="{FF2B5EF4-FFF2-40B4-BE49-F238E27FC236}">
                    <a16:creationId xmlns="" xmlns:a16="http://schemas.microsoft.com/office/drawing/2014/main" id="{3BD04B3B-1A1F-F32C-CB10-80CE3BB80884}"/>
                  </a:ext>
                </a:extLst>
              </p:cNvPr>
              <p:cNvSpPr>
                <a:spLocks noChangeArrowheads="1"/>
              </p:cNvSpPr>
              <p:nvPr/>
            </p:nvSpPr>
            <p:spPr bwMode="auto">
              <a:xfrm>
                <a:off x="1583" y="3650"/>
                <a:ext cx="11" cy="33"/>
              </a:xfrm>
              <a:custGeom>
                <a:avLst/>
                <a:gdLst>
                  <a:gd name="T0" fmla="*/ 27 w 27"/>
                  <a:gd name="T1" fmla="*/ 7 h 82"/>
                  <a:gd name="T2" fmla="*/ 27 w 27"/>
                  <a:gd name="T3" fmla="*/ 4 h 82"/>
                  <a:gd name="T4" fmla="*/ 27 w 27"/>
                  <a:gd name="T5" fmla="*/ 2 h 82"/>
                  <a:gd name="T6" fmla="*/ 22 w 27"/>
                  <a:gd name="T7" fmla="*/ 0 h 82"/>
                  <a:gd name="T8" fmla="*/ 17 w 27"/>
                  <a:gd name="T9" fmla="*/ 0 h 82"/>
                  <a:gd name="T10" fmla="*/ 15 w 27"/>
                  <a:gd name="T11" fmla="*/ 0 h 82"/>
                  <a:gd name="T12" fmla="*/ 9 w 27"/>
                  <a:gd name="T13" fmla="*/ 0 h 82"/>
                  <a:gd name="T14" fmla="*/ 5 w 27"/>
                  <a:gd name="T15" fmla="*/ 2 h 82"/>
                  <a:gd name="T16" fmla="*/ 0 w 27"/>
                  <a:gd name="T17" fmla="*/ 4 h 82"/>
                  <a:gd name="T18" fmla="*/ 0 w 27"/>
                  <a:gd name="T19" fmla="*/ 69 h 82"/>
                  <a:gd name="T20" fmla="*/ 0 w 27"/>
                  <a:gd name="T21" fmla="*/ 72 h 82"/>
                  <a:gd name="T22" fmla="*/ 5 w 27"/>
                  <a:gd name="T23" fmla="*/ 75 h 82"/>
                  <a:gd name="T24" fmla="*/ 9 w 27"/>
                  <a:gd name="T25" fmla="*/ 77 h 82"/>
                  <a:gd name="T26" fmla="*/ 15 w 27"/>
                  <a:gd name="T27" fmla="*/ 82 h 82"/>
                  <a:gd name="T28" fmla="*/ 17 w 27"/>
                  <a:gd name="T29" fmla="*/ 82 h 82"/>
                  <a:gd name="T30" fmla="*/ 22 w 27"/>
                  <a:gd name="T31" fmla="*/ 77 h 82"/>
                  <a:gd name="T32" fmla="*/ 27 w 27"/>
                  <a:gd name="T33" fmla="*/ 75 h 82"/>
                  <a:gd name="T34" fmla="*/ 27 w 27"/>
                  <a:gd name="T35" fmla="*/ 72 h 82"/>
                  <a:gd name="T36" fmla="*/ 27 w 27"/>
                  <a:gd name="T37" fmla="*/ 7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82">
                    <a:moveTo>
                      <a:pt x="27" y="7"/>
                    </a:moveTo>
                    <a:lnTo>
                      <a:pt x="27" y="4"/>
                    </a:lnTo>
                    <a:lnTo>
                      <a:pt x="27" y="2"/>
                    </a:lnTo>
                    <a:lnTo>
                      <a:pt x="22" y="0"/>
                    </a:lnTo>
                    <a:lnTo>
                      <a:pt x="17" y="0"/>
                    </a:lnTo>
                    <a:lnTo>
                      <a:pt x="15" y="0"/>
                    </a:lnTo>
                    <a:lnTo>
                      <a:pt x="9" y="0"/>
                    </a:lnTo>
                    <a:lnTo>
                      <a:pt x="5" y="2"/>
                    </a:lnTo>
                    <a:lnTo>
                      <a:pt x="0" y="4"/>
                    </a:lnTo>
                    <a:lnTo>
                      <a:pt x="0" y="69"/>
                    </a:lnTo>
                    <a:lnTo>
                      <a:pt x="0" y="72"/>
                    </a:lnTo>
                    <a:lnTo>
                      <a:pt x="5" y="75"/>
                    </a:lnTo>
                    <a:lnTo>
                      <a:pt x="9" y="77"/>
                    </a:lnTo>
                    <a:lnTo>
                      <a:pt x="15" y="82"/>
                    </a:lnTo>
                    <a:lnTo>
                      <a:pt x="17" y="82"/>
                    </a:lnTo>
                    <a:lnTo>
                      <a:pt x="22" y="77"/>
                    </a:lnTo>
                    <a:lnTo>
                      <a:pt x="27" y="75"/>
                    </a:lnTo>
                    <a:lnTo>
                      <a:pt x="27" y="72"/>
                    </a:lnTo>
                    <a:lnTo>
                      <a:pt x="27" y="7"/>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grpSp>
        <p:grpSp>
          <p:nvGrpSpPr>
            <p:cNvPr id="12" name="组合 14388">
              <a:extLst>
                <a:ext uri="{FF2B5EF4-FFF2-40B4-BE49-F238E27FC236}">
                  <a16:creationId xmlns="" xmlns:a16="http://schemas.microsoft.com/office/drawing/2014/main" id="{2274AC02-539C-E399-A740-F711F47829FC}"/>
                </a:ext>
              </a:extLst>
            </p:cNvPr>
            <p:cNvGrpSpPr>
              <a:grpSpLocks/>
            </p:cNvGrpSpPr>
            <p:nvPr/>
          </p:nvGrpSpPr>
          <p:grpSpPr bwMode="auto">
            <a:xfrm>
              <a:off x="2152" y="1595"/>
              <a:ext cx="10" cy="2088"/>
              <a:chOff x="2152" y="1595"/>
              <a:chExt cx="10" cy="2088"/>
            </a:xfrm>
          </p:grpSpPr>
          <p:sp>
            <p:nvSpPr>
              <p:cNvPr id="136" name="任意多边形 14389">
                <a:extLst>
                  <a:ext uri="{FF2B5EF4-FFF2-40B4-BE49-F238E27FC236}">
                    <a16:creationId xmlns="" xmlns:a16="http://schemas.microsoft.com/office/drawing/2014/main" id="{1E7108D1-149E-5716-00F6-A59BF5CD84A4}"/>
                  </a:ext>
                </a:extLst>
              </p:cNvPr>
              <p:cNvSpPr>
                <a:spLocks noChangeArrowheads="1"/>
              </p:cNvSpPr>
              <p:nvPr/>
            </p:nvSpPr>
            <p:spPr bwMode="auto">
              <a:xfrm>
                <a:off x="2152" y="1595"/>
                <a:ext cx="10" cy="33"/>
              </a:xfrm>
              <a:custGeom>
                <a:avLst/>
                <a:gdLst>
                  <a:gd name="T0" fmla="*/ 25 w 25"/>
                  <a:gd name="T1" fmla="*/ 9 h 82"/>
                  <a:gd name="T2" fmla="*/ 25 w 25"/>
                  <a:gd name="T3" fmla="*/ 7 h 82"/>
                  <a:gd name="T4" fmla="*/ 22 w 25"/>
                  <a:gd name="T5" fmla="*/ 5 h 82"/>
                  <a:gd name="T6" fmla="*/ 16 w 25"/>
                  <a:gd name="T7" fmla="*/ 2 h 82"/>
                  <a:gd name="T8" fmla="*/ 12 w 25"/>
                  <a:gd name="T9" fmla="*/ 0 h 82"/>
                  <a:gd name="T10" fmla="*/ 7 w 25"/>
                  <a:gd name="T11" fmla="*/ 2 h 82"/>
                  <a:gd name="T12" fmla="*/ 5 w 25"/>
                  <a:gd name="T13" fmla="*/ 5 h 82"/>
                  <a:gd name="T14" fmla="*/ 0 w 25"/>
                  <a:gd name="T15" fmla="*/ 7 h 82"/>
                  <a:gd name="T16" fmla="*/ 0 w 25"/>
                  <a:gd name="T17" fmla="*/ 69 h 82"/>
                  <a:gd name="T18" fmla="*/ 0 w 25"/>
                  <a:gd name="T19" fmla="*/ 72 h 82"/>
                  <a:gd name="T20" fmla="*/ 5 w 25"/>
                  <a:gd name="T21" fmla="*/ 77 h 82"/>
                  <a:gd name="T22" fmla="*/ 7 w 25"/>
                  <a:gd name="T23" fmla="*/ 79 h 82"/>
                  <a:gd name="T24" fmla="*/ 12 w 25"/>
                  <a:gd name="T25" fmla="*/ 82 h 82"/>
                  <a:gd name="T26" fmla="*/ 16 w 25"/>
                  <a:gd name="T27" fmla="*/ 82 h 82"/>
                  <a:gd name="T28" fmla="*/ 22 w 25"/>
                  <a:gd name="T29" fmla="*/ 79 h 82"/>
                  <a:gd name="T30" fmla="*/ 25 w 25"/>
                  <a:gd name="T31" fmla="*/ 77 h 82"/>
                  <a:gd name="T32" fmla="*/ 25 w 25"/>
                  <a:gd name="T33" fmla="*/ 72 h 82"/>
                  <a:gd name="T34" fmla="*/ 25 w 25"/>
                  <a:gd name="T35" fmla="*/ 9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5" h="82">
                    <a:moveTo>
                      <a:pt x="25" y="9"/>
                    </a:moveTo>
                    <a:lnTo>
                      <a:pt x="25" y="7"/>
                    </a:lnTo>
                    <a:lnTo>
                      <a:pt x="22" y="5"/>
                    </a:lnTo>
                    <a:lnTo>
                      <a:pt x="16" y="2"/>
                    </a:lnTo>
                    <a:lnTo>
                      <a:pt x="12" y="0"/>
                    </a:lnTo>
                    <a:lnTo>
                      <a:pt x="7" y="2"/>
                    </a:lnTo>
                    <a:lnTo>
                      <a:pt x="5" y="5"/>
                    </a:lnTo>
                    <a:lnTo>
                      <a:pt x="0" y="7"/>
                    </a:lnTo>
                    <a:lnTo>
                      <a:pt x="0" y="69"/>
                    </a:lnTo>
                    <a:lnTo>
                      <a:pt x="0" y="72"/>
                    </a:lnTo>
                    <a:lnTo>
                      <a:pt x="5" y="77"/>
                    </a:lnTo>
                    <a:lnTo>
                      <a:pt x="7" y="79"/>
                    </a:lnTo>
                    <a:lnTo>
                      <a:pt x="12" y="82"/>
                    </a:lnTo>
                    <a:lnTo>
                      <a:pt x="16" y="82"/>
                    </a:lnTo>
                    <a:lnTo>
                      <a:pt x="22" y="79"/>
                    </a:lnTo>
                    <a:lnTo>
                      <a:pt x="25" y="77"/>
                    </a:lnTo>
                    <a:lnTo>
                      <a:pt x="25" y="72"/>
                    </a:lnTo>
                    <a:lnTo>
                      <a:pt x="25" y="9"/>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137" name="任意多边形 14390">
                <a:extLst>
                  <a:ext uri="{FF2B5EF4-FFF2-40B4-BE49-F238E27FC236}">
                    <a16:creationId xmlns="" xmlns:a16="http://schemas.microsoft.com/office/drawing/2014/main" id="{E7A60E92-1C17-F9A1-A155-75178E320DA6}"/>
                  </a:ext>
                </a:extLst>
              </p:cNvPr>
              <p:cNvSpPr>
                <a:spLocks noChangeArrowheads="1"/>
              </p:cNvSpPr>
              <p:nvPr/>
            </p:nvSpPr>
            <p:spPr bwMode="auto">
              <a:xfrm>
                <a:off x="2152" y="1641"/>
                <a:ext cx="10" cy="32"/>
              </a:xfrm>
              <a:custGeom>
                <a:avLst/>
                <a:gdLst>
                  <a:gd name="T0" fmla="*/ 25 w 25"/>
                  <a:gd name="T1" fmla="*/ 7 h 80"/>
                  <a:gd name="T2" fmla="*/ 25 w 25"/>
                  <a:gd name="T3" fmla="*/ 5 h 80"/>
                  <a:gd name="T4" fmla="*/ 25 w 25"/>
                  <a:gd name="T5" fmla="*/ 1 h 80"/>
                  <a:gd name="T6" fmla="*/ 22 w 25"/>
                  <a:gd name="T7" fmla="*/ 0 h 80"/>
                  <a:gd name="T8" fmla="*/ 16 w 25"/>
                  <a:gd name="T9" fmla="*/ 0 h 80"/>
                  <a:gd name="T10" fmla="*/ 12 w 25"/>
                  <a:gd name="T11" fmla="*/ 0 h 80"/>
                  <a:gd name="T12" fmla="*/ 7 w 25"/>
                  <a:gd name="T13" fmla="*/ 0 h 80"/>
                  <a:gd name="T14" fmla="*/ 5 w 25"/>
                  <a:gd name="T15" fmla="*/ 1 h 80"/>
                  <a:gd name="T16" fmla="*/ 0 w 25"/>
                  <a:gd name="T17" fmla="*/ 5 h 80"/>
                  <a:gd name="T18" fmla="*/ 0 w 25"/>
                  <a:gd name="T19" fmla="*/ 70 h 80"/>
                  <a:gd name="T20" fmla="*/ 0 w 25"/>
                  <a:gd name="T21" fmla="*/ 72 h 80"/>
                  <a:gd name="T22" fmla="*/ 5 w 25"/>
                  <a:gd name="T23" fmla="*/ 74 h 80"/>
                  <a:gd name="T24" fmla="*/ 7 w 25"/>
                  <a:gd name="T25" fmla="*/ 77 h 80"/>
                  <a:gd name="T26" fmla="*/ 12 w 25"/>
                  <a:gd name="T27" fmla="*/ 80 h 80"/>
                  <a:gd name="T28" fmla="*/ 16 w 25"/>
                  <a:gd name="T29" fmla="*/ 80 h 80"/>
                  <a:gd name="T30" fmla="*/ 22 w 25"/>
                  <a:gd name="T31" fmla="*/ 77 h 80"/>
                  <a:gd name="T32" fmla="*/ 25 w 25"/>
                  <a:gd name="T33" fmla="*/ 74 h 80"/>
                  <a:gd name="T34" fmla="*/ 25 w 25"/>
                  <a:gd name="T35" fmla="*/ 72 h 80"/>
                  <a:gd name="T36" fmla="*/ 25 w 25"/>
                  <a:gd name="T37" fmla="*/ 7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 h="80">
                    <a:moveTo>
                      <a:pt x="25" y="7"/>
                    </a:moveTo>
                    <a:lnTo>
                      <a:pt x="25" y="5"/>
                    </a:lnTo>
                    <a:lnTo>
                      <a:pt x="25" y="1"/>
                    </a:lnTo>
                    <a:lnTo>
                      <a:pt x="22" y="0"/>
                    </a:lnTo>
                    <a:lnTo>
                      <a:pt x="16" y="0"/>
                    </a:lnTo>
                    <a:lnTo>
                      <a:pt x="12" y="0"/>
                    </a:lnTo>
                    <a:lnTo>
                      <a:pt x="7" y="0"/>
                    </a:lnTo>
                    <a:lnTo>
                      <a:pt x="5" y="1"/>
                    </a:lnTo>
                    <a:lnTo>
                      <a:pt x="0" y="5"/>
                    </a:lnTo>
                    <a:lnTo>
                      <a:pt x="0" y="70"/>
                    </a:lnTo>
                    <a:lnTo>
                      <a:pt x="0" y="72"/>
                    </a:lnTo>
                    <a:lnTo>
                      <a:pt x="5" y="74"/>
                    </a:lnTo>
                    <a:lnTo>
                      <a:pt x="7" y="77"/>
                    </a:lnTo>
                    <a:lnTo>
                      <a:pt x="12" y="80"/>
                    </a:lnTo>
                    <a:lnTo>
                      <a:pt x="16" y="80"/>
                    </a:lnTo>
                    <a:lnTo>
                      <a:pt x="22" y="77"/>
                    </a:lnTo>
                    <a:lnTo>
                      <a:pt x="25" y="74"/>
                    </a:lnTo>
                    <a:lnTo>
                      <a:pt x="25" y="72"/>
                    </a:lnTo>
                    <a:lnTo>
                      <a:pt x="25" y="7"/>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138" name="任意多边形 14391">
                <a:extLst>
                  <a:ext uri="{FF2B5EF4-FFF2-40B4-BE49-F238E27FC236}">
                    <a16:creationId xmlns="" xmlns:a16="http://schemas.microsoft.com/office/drawing/2014/main" id="{49B3BCCF-404D-13AB-4127-F919C059062F}"/>
                  </a:ext>
                </a:extLst>
              </p:cNvPr>
              <p:cNvSpPr>
                <a:spLocks noChangeArrowheads="1"/>
              </p:cNvSpPr>
              <p:nvPr/>
            </p:nvSpPr>
            <p:spPr bwMode="auto">
              <a:xfrm>
                <a:off x="2152" y="1686"/>
                <a:ext cx="10" cy="33"/>
              </a:xfrm>
              <a:custGeom>
                <a:avLst/>
                <a:gdLst>
                  <a:gd name="T0" fmla="*/ 25 w 25"/>
                  <a:gd name="T1" fmla="*/ 9 h 82"/>
                  <a:gd name="T2" fmla="*/ 25 w 25"/>
                  <a:gd name="T3" fmla="*/ 7 h 82"/>
                  <a:gd name="T4" fmla="*/ 25 w 25"/>
                  <a:gd name="T5" fmla="*/ 2 h 82"/>
                  <a:gd name="T6" fmla="*/ 22 w 25"/>
                  <a:gd name="T7" fmla="*/ 0 h 82"/>
                  <a:gd name="T8" fmla="*/ 16 w 25"/>
                  <a:gd name="T9" fmla="*/ 0 h 82"/>
                  <a:gd name="T10" fmla="*/ 12 w 25"/>
                  <a:gd name="T11" fmla="*/ 0 h 82"/>
                  <a:gd name="T12" fmla="*/ 7 w 25"/>
                  <a:gd name="T13" fmla="*/ 0 h 82"/>
                  <a:gd name="T14" fmla="*/ 5 w 25"/>
                  <a:gd name="T15" fmla="*/ 2 h 82"/>
                  <a:gd name="T16" fmla="*/ 0 w 25"/>
                  <a:gd name="T17" fmla="*/ 7 h 82"/>
                  <a:gd name="T18" fmla="*/ 0 w 25"/>
                  <a:gd name="T19" fmla="*/ 72 h 82"/>
                  <a:gd name="T20" fmla="*/ 0 w 25"/>
                  <a:gd name="T21" fmla="*/ 74 h 82"/>
                  <a:gd name="T22" fmla="*/ 5 w 25"/>
                  <a:gd name="T23" fmla="*/ 77 h 82"/>
                  <a:gd name="T24" fmla="*/ 7 w 25"/>
                  <a:gd name="T25" fmla="*/ 79 h 82"/>
                  <a:gd name="T26" fmla="*/ 12 w 25"/>
                  <a:gd name="T27" fmla="*/ 82 h 82"/>
                  <a:gd name="T28" fmla="*/ 16 w 25"/>
                  <a:gd name="T29" fmla="*/ 82 h 82"/>
                  <a:gd name="T30" fmla="*/ 22 w 25"/>
                  <a:gd name="T31" fmla="*/ 79 h 82"/>
                  <a:gd name="T32" fmla="*/ 25 w 25"/>
                  <a:gd name="T33" fmla="*/ 77 h 82"/>
                  <a:gd name="T34" fmla="*/ 25 w 25"/>
                  <a:gd name="T35" fmla="*/ 74 h 82"/>
                  <a:gd name="T36" fmla="*/ 25 w 25"/>
                  <a:gd name="T37" fmla="*/ 9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 h="82">
                    <a:moveTo>
                      <a:pt x="25" y="9"/>
                    </a:moveTo>
                    <a:lnTo>
                      <a:pt x="25" y="7"/>
                    </a:lnTo>
                    <a:lnTo>
                      <a:pt x="25" y="2"/>
                    </a:lnTo>
                    <a:lnTo>
                      <a:pt x="22" y="0"/>
                    </a:lnTo>
                    <a:lnTo>
                      <a:pt x="16" y="0"/>
                    </a:lnTo>
                    <a:lnTo>
                      <a:pt x="12" y="0"/>
                    </a:lnTo>
                    <a:lnTo>
                      <a:pt x="7" y="0"/>
                    </a:lnTo>
                    <a:lnTo>
                      <a:pt x="5" y="2"/>
                    </a:lnTo>
                    <a:lnTo>
                      <a:pt x="0" y="7"/>
                    </a:lnTo>
                    <a:lnTo>
                      <a:pt x="0" y="72"/>
                    </a:lnTo>
                    <a:lnTo>
                      <a:pt x="0" y="74"/>
                    </a:lnTo>
                    <a:lnTo>
                      <a:pt x="5" y="77"/>
                    </a:lnTo>
                    <a:lnTo>
                      <a:pt x="7" y="79"/>
                    </a:lnTo>
                    <a:lnTo>
                      <a:pt x="12" y="82"/>
                    </a:lnTo>
                    <a:lnTo>
                      <a:pt x="16" y="82"/>
                    </a:lnTo>
                    <a:lnTo>
                      <a:pt x="22" y="79"/>
                    </a:lnTo>
                    <a:lnTo>
                      <a:pt x="25" y="77"/>
                    </a:lnTo>
                    <a:lnTo>
                      <a:pt x="25" y="74"/>
                    </a:lnTo>
                    <a:lnTo>
                      <a:pt x="25" y="9"/>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139" name="任意多边形 14392">
                <a:extLst>
                  <a:ext uri="{FF2B5EF4-FFF2-40B4-BE49-F238E27FC236}">
                    <a16:creationId xmlns="" xmlns:a16="http://schemas.microsoft.com/office/drawing/2014/main" id="{A888A8E2-BF17-EEC4-B110-81725E7B8DF0}"/>
                  </a:ext>
                </a:extLst>
              </p:cNvPr>
              <p:cNvSpPr>
                <a:spLocks noChangeArrowheads="1"/>
              </p:cNvSpPr>
              <p:nvPr/>
            </p:nvSpPr>
            <p:spPr bwMode="auto">
              <a:xfrm>
                <a:off x="2152" y="1732"/>
                <a:ext cx="10" cy="33"/>
              </a:xfrm>
              <a:custGeom>
                <a:avLst/>
                <a:gdLst>
                  <a:gd name="T0" fmla="*/ 25 w 25"/>
                  <a:gd name="T1" fmla="*/ 7 h 82"/>
                  <a:gd name="T2" fmla="*/ 25 w 25"/>
                  <a:gd name="T3" fmla="*/ 5 h 82"/>
                  <a:gd name="T4" fmla="*/ 25 w 25"/>
                  <a:gd name="T5" fmla="*/ 2 h 82"/>
                  <a:gd name="T6" fmla="*/ 22 w 25"/>
                  <a:gd name="T7" fmla="*/ 0 h 82"/>
                  <a:gd name="T8" fmla="*/ 16 w 25"/>
                  <a:gd name="T9" fmla="*/ 0 h 82"/>
                  <a:gd name="T10" fmla="*/ 12 w 25"/>
                  <a:gd name="T11" fmla="*/ 0 h 82"/>
                  <a:gd name="T12" fmla="*/ 7 w 25"/>
                  <a:gd name="T13" fmla="*/ 0 h 82"/>
                  <a:gd name="T14" fmla="*/ 5 w 25"/>
                  <a:gd name="T15" fmla="*/ 2 h 82"/>
                  <a:gd name="T16" fmla="*/ 0 w 25"/>
                  <a:gd name="T17" fmla="*/ 5 h 82"/>
                  <a:gd name="T18" fmla="*/ 0 w 25"/>
                  <a:gd name="T19" fmla="*/ 70 h 82"/>
                  <a:gd name="T20" fmla="*/ 0 w 25"/>
                  <a:gd name="T21" fmla="*/ 72 h 82"/>
                  <a:gd name="T22" fmla="*/ 5 w 25"/>
                  <a:gd name="T23" fmla="*/ 77 h 82"/>
                  <a:gd name="T24" fmla="*/ 7 w 25"/>
                  <a:gd name="T25" fmla="*/ 80 h 82"/>
                  <a:gd name="T26" fmla="*/ 12 w 25"/>
                  <a:gd name="T27" fmla="*/ 82 h 82"/>
                  <a:gd name="T28" fmla="*/ 16 w 25"/>
                  <a:gd name="T29" fmla="*/ 82 h 82"/>
                  <a:gd name="T30" fmla="*/ 22 w 25"/>
                  <a:gd name="T31" fmla="*/ 80 h 82"/>
                  <a:gd name="T32" fmla="*/ 25 w 25"/>
                  <a:gd name="T33" fmla="*/ 77 h 82"/>
                  <a:gd name="T34" fmla="*/ 25 w 25"/>
                  <a:gd name="T35" fmla="*/ 72 h 82"/>
                  <a:gd name="T36" fmla="*/ 25 w 25"/>
                  <a:gd name="T37" fmla="*/ 7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 h="82">
                    <a:moveTo>
                      <a:pt x="25" y="7"/>
                    </a:moveTo>
                    <a:lnTo>
                      <a:pt x="25" y="5"/>
                    </a:lnTo>
                    <a:lnTo>
                      <a:pt x="25" y="2"/>
                    </a:lnTo>
                    <a:lnTo>
                      <a:pt x="22" y="0"/>
                    </a:lnTo>
                    <a:lnTo>
                      <a:pt x="16" y="0"/>
                    </a:lnTo>
                    <a:lnTo>
                      <a:pt x="12" y="0"/>
                    </a:lnTo>
                    <a:lnTo>
                      <a:pt x="7" y="0"/>
                    </a:lnTo>
                    <a:lnTo>
                      <a:pt x="5" y="2"/>
                    </a:lnTo>
                    <a:lnTo>
                      <a:pt x="0" y="5"/>
                    </a:lnTo>
                    <a:lnTo>
                      <a:pt x="0" y="70"/>
                    </a:lnTo>
                    <a:lnTo>
                      <a:pt x="0" y="72"/>
                    </a:lnTo>
                    <a:lnTo>
                      <a:pt x="5" y="77"/>
                    </a:lnTo>
                    <a:lnTo>
                      <a:pt x="7" y="80"/>
                    </a:lnTo>
                    <a:lnTo>
                      <a:pt x="12" y="82"/>
                    </a:lnTo>
                    <a:lnTo>
                      <a:pt x="16" y="82"/>
                    </a:lnTo>
                    <a:lnTo>
                      <a:pt x="22" y="80"/>
                    </a:lnTo>
                    <a:lnTo>
                      <a:pt x="25" y="77"/>
                    </a:lnTo>
                    <a:lnTo>
                      <a:pt x="25" y="72"/>
                    </a:lnTo>
                    <a:lnTo>
                      <a:pt x="25" y="7"/>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140" name="任意多边形 14393">
                <a:extLst>
                  <a:ext uri="{FF2B5EF4-FFF2-40B4-BE49-F238E27FC236}">
                    <a16:creationId xmlns="" xmlns:a16="http://schemas.microsoft.com/office/drawing/2014/main" id="{2454F269-1A64-1824-C7C5-4D6967DFBF80}"/>
                  </a:ext>
                </a:extLst>
              </p:cNvPr>
              <p:cNvSpPr>
                <a:spLocks noChangeArrowheads="1"/>
              </p:cNvSpPr>
              <p:nvPr/>
            </p:nvSpPr>
            <p:spPr bwMode="auto">
              <a:xfrm>
                <a:off x="2152" y="1778"/>
                <a:ext cx="10" cy="32"/>
              </a:xfrm>
              <a:custGeom>
                <a:avLst/>
                <a:gdLst>
                  <a:gd name="T0" fmla="*/ 25 w 25"/>
                  <a:gd name="T1" fmla="*/ 7 h 79"/>
                  <a:gd name="T2" fmla="*/ 25 w 25"/>
                  <a:gd name="T3" fmla="*/ 5 h 79"/>
                  <a:gd name="T4" fmla="*/ 25 w 25"/>
                  <a:gd name="T5" fmla="*/ 2 h 79"/>
                  <a:gd name="T6" fmla="*/ 22 w 25"/>
                  <a:gd name="T7" fmla="*/ 0 h 79"/>
                  <a:gd name="T8" fmla="*/ 16 w 25"/>
                  <a:gd name="T9" fmla="*/ 0 h 79"/>
                  <a:gd name="T10" fmla="*/ 12 w 25"/>
                  <a:gd name="T11" fmla="*/ 0 h 79"/>
                  <a:gd name="T12" fmla="*/ 7 w 25"/>
                  <a:gd name="T13" fmla="*/ 0 h 79"/>
                  <a:gd name="T14" fmla="*/ 5 w 25"/>
                  <a:gd name="T15" fmla="*/ 2 h 79"/>
                  <a:gd name="T16" fmla="*/ 0 w 25"/>
                  <a:gd name="T17" fmla="*/ 5 h 79"/>
                  <a:gd name="T18" fmla="*/ 0 w 25"/>
                  <a:gd name="T19" fmla="*/ 69 h 79"/>
                  <a:gd name="T20" fmla="*/ 0 w 25"/>
                  <a:gd name="T21" fmla="*/ 72 h 79"/>
                  <a:gd name="T22" fmla="*/ 5 w 25"/>
                  <a:gd name="T23" fmla="*/ 74 h 79"/>
                  <a:gd name="T24" fmla="*/ 7 w 25"/>
                  <a:gd name="T25" fmla="*/ 77 h 79"/>
                  <a:gd name="T26" fmla="*/ 12 w 25"/>
                  <a:gd name="T27" fmla="*/ 79 h 79"/>
                  <a:gd name="T28" fmla="*/ 16 w 25"/>
                  <a:gd name="T29" fmla="*/ 79 h 79"/>
                  <a:gd name="T30" fmla="*/ 22 w 25"/>
                  <a:gd name="T31" fmla="*/ 77 h 79"/>
                  <a:gd name="T32" fmla="*/ 25 w 25"/>
                  <a:gd name="T33" fmla="*/ 74 h 79"/>
                  <a:gd name="T34" fmla="*/ 25 w 25"/>
                  <a:gd name="T35" fmla="*/ 72 h 79"/>
                  <a:gd name="T36" fmla="*/ 25 w 25"/>
                  <a:gd name="T37" fmla="*/ 7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 h="79">
                    <a:moveTo>
                      <a:pt x="25" y="7"/>
                    </a:moveTo>
                    <a:lnTo>
                      <a:pt x="25" y="5"/>
                    </a:lnTo>
                    <a:lnTo>
                      <a:pt x="25" y="2"/>
                    </a:lnTo>
                    <a:lnTo>
                      <a:pt x="22" y="0"/>
                    </a:lnTo>
                    <a:lnTo>
                      <a:pt x="16" y="0"/>
                    </a:lnTo>
                    <a:lnTo>
                      <a:pt x="12" y="0"/>
                    </a:lnTo>
                    <a:lnTo>
                      <a:pt x="7" y="0"/>
                    </a:lnTo>
                    <a:lnTo>
                      <a:pt x="5" y="2"/>
                    </a:lnTo>
                    <a:lnTo>
                      <a:pt x="0" y="5"/>
                    </a:lnTo>
                    <a:lnTo>
                      <a:pt x="0" y="69"/>
                    </a:lnTo>
                    <a:lnTo>
                      <a:pt x="0" y="72"/>
                    </a:lnTo>
                    <a:lnTo>
                      <a:pt x="5" y="74"/>
                    </a:lnTo>
                    <a:lnTo>
                      <a:pt x="7" y="77"/>
                    </a:lnTo>
                    <a:lnTo>
                      <a:pt x="12" y="79"/>
                    </a:lnTo>
                    <a:lnTo>
                      <a:pt x="16" y="79"/>
                    </a:lnTo>
                    <a:lnTo>
                      <a:pt x="22" y="77"/>
                    </a:lnTo>
                    <a:lnTo>
                      <a:pt x="25" y="74"/>
                    </a:lnTo>
                    <a:lnTo>
                      <a:pt x="25" y="72"/>
                    </a:lnTo>
                    <a:lnTo>
                      <a:pt x="25" y="7"/>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141" name="任意多边形 14394">
                <a:extLst>
                  <a:ext uri="{FF2B5EF4-FFF2-40B4-BE49-F238E27FC236}">
                    <a16:creationId xmlns="" xmlns:a16="http://schemas.microsoft.com/office/drawing/2014/main" id="{990BB75F-9FB6-3A93-1336-389E97602F42}"/>
                  </a:ext>
                </a:extLst>
              </p:cNvPr>
              <p:cNvSpPr>
                <a:spLocks noChangeArrowheads="1"/>
              </p:cNvSpPr>
              <p:nvPr/>
            </p:nvSpPr>
            <p:spPr bwMode="auto">
              <a:xfrm>
                <a:off x="2152" y="1823"/>
                <a:ext cx="10" cy="33"/>
              </a:xfrm>
              <a:custGeom>
                <a:avLst/>
                <a:gdLst>
                  <a:gd name="T0" fmla="*/ 25 w 25"/>
                  <a:gd name="T1" fmla="*/ 9 h 82"/>
                  <a:gd name="T2" fmla="*/ 25 w 25"/>
                  <a:gd name="T3" fmla="*/ 7 h 82"/>
                  <a:gd name="T4" fmla="*/ 25 w 25"/>
                  <a:gd name="T5" fmla="*/ 2 h 82"/>
                  <a:gd name="T6" fmla="*/ 22 w 25"/>
                  <a:gd name="T7" fmla="*/ 0 h 82"/>
                  <a:gd name="T8" fmla="*/ 16 w 25"/>
                  <a:gd name="T9" fmla="*/ 0 h 82"/>
                  <a:gd name="T10" fmla="*/ 12 w 25"/>
                  <a:gd name="T11" fmla="*/ 0 h 82"/>
                  <a:gd name="T12" fmla="*/ 7 w 25"/>
                  <a:gd name="T13" fmla="*/ 0 h 82"/>
                  <a:gd name="T14" fmla="*/ 5 w 25"/>
                  <a:gd name="T15" fmla="*/ 2 h 82"/>
                  <a:gd name="T16" fmla="*/ 0 w 25"/>
                  <a:gd name="T17" fmla="*/ 7 h 82"/>
                  <a:gd name="T18" fmla="*/ 0 w 25"/>
                  <a:gd name="T19" fmla="*/ 72 h 82"/>
                  <a:gd name="T20" fmla="*/ 0 w 25"/>
                  <a:gd name="T21" fmla="*/ 75 h 82"/>
                  <a:gd name="T22" fmla="*/ 5 w 25"/>
                  <a:gd name="T23" fmla="*/ 77 h 82"/>
                  <a:gd name="T24" fmla="*/ 7 w 25"/>
                  <a:gd name="T25" fmla="*/ 80 h 82"/>
                  <a:gd name="T26" fmla="*/ 12 w 25"/>
                  <a:gd name="T27" fmla="*/ 82 h 82"/>
                  <a:gd name="T28" fmla="*/ 16 w 25"/>
                  <a:gd name="T29" fmla="*/ 82 h 82"/>
                  <a:gd name="T30" fmla="*/ 22 w 25"/>
                  <a:gd name="T31" fmla="*/ 80 h 82"/>
                  <a:gd name="T32" fmla="*/ 25 w 25"/>
                  <a:gd name="T33" fmla="*/ 77 h 82"/>
                  <a:gd name="T34" fmla="*/ 25 w 25"/>
                  <a:gd name="T35" fmla="*/ 75 h 82"/>
                  <a:gd name="T36" fmla="*/ 25 w 25"/>
                  <a:gd name="T37" fmla="*/ 9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 h="82">
                    <a:moveTo>
                      <a:pt x="25" y="9"/>
                    </a:moveTo>
                    <a:lnTo>
                      <a:pt x="25" y="7"/>
                    </a:lnTo>
                    <a:lnTo>
                      <a:pt x="25" y="2"/>
                    </a:lnTo>
                    <a:lnTo>
                      <a:pt x="22" y="0"/>
                    </a:lnTo>
                    <a:lnTo>
                      <a:pt x="16" y="0"/>
                    </a:lnTo>
                    <a:lnTo>
                      <a:pt x="12" y="0"/>
                    </a:lnTo>
                    <a:lnTo>
                      <a:pt x="7" y="0"/>
                    </a:lnTo>
                    <a:lnTo>
                      <a:pt x="5" y="2"/>
                    </a:lnTo>
                    <a:lnTo>
                      <a:pt x="0" y="7"/>
                    </a:lnTo>
                    <a:lnTo>
                      <a:pt x="0" y="72"/>
                    </a:lnTo>
                    <a:lnTo>
                      <a:pt x="0" y="75"/>
                    </a:lnTo>
                    <a:lnTo>
                      <a:pt x="5" y="77"/>
                    </a:lnTo>
                    <a:lnTo>
                      <a:pt x="7" y="80"/>
                    </a:lnTo>
                    <a:lnTo>
                      <a:pt x="12" y="82"/>
                    </a:lnTo>
                    <a:lnTo>
                      <a:pt x="16" y="82"/>
                    </a:lnTo>
                    <a:lnTo>
                      <a:pt x="22" y="80"/>
                    </a:lnTo>
                    <a:lnTo>
                      <a:pt x="25" y="77"/>
                    </a:lnTo>
                    <a:lnTo>
                      <a:pt x="25" y="75"/>
                    </a:lnTo>
                    <a:lnTo>
                      <a:pt x="25" y="9"/>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142" name="任意多边形 14395">
                <a:extLst>
                  <a:ext uri="{FF2B5EF4-FFF2-40B4-BE49-F238E27FC236}">
                    <a16:creationId xmlns="" xmlns:a16="http://schemas.microsoft.com/office/drawing/2014/main" id="{774CDCB0-59BB-8C71-0ABB-A661BD60CE13}"/>
                  </a:ext>
                </a:extLst>
              </p:cNvPr>
              <p:cNvSpPr>
                <a:spLocks noChangeArrowheads="1"/>
              </p:cNvSpPr>
              <p:nvPr/>
            </p:nvSpPr>
            <p:spPr bwMode="auto">
              <a:xfrm>
                <a:off x="2152" y="1869"/>
                <a:ext cx="10" cy="33"/>
              </a:xfrm>
              <a:custGeom>
                <a:avLst/>
                <a:gdLst>
                  <a:gd name="T0" fmla="*/ 25 w 25"/>
                  <a:gd name="T1" fmla="*/ 7 h 82"/>
                  <a:gd name="T2" fmla="*/ 25 w 25"/>
                  <a:gd name="T3" fmla="*/ 5 h 82"/>
                  <a:gd name="T4" fmla="*/ 25 w 25"/>
                  <a:gd name="T5" fmla="*/ 2 h 82"/>
                  <a:gd name="T6" fmla="*/ 22 w 25"/>
                  <a:gd name="T7" fmla="*/ 0 h 82"/>
                  <a:gd name="T8" fmla="*/ 16 w 25"/>
                  <a:gd name="T9" fmla="*/ 0 h 82"/>
                  <a:gd name="T10" fmla="*/ 12 w 25"/>
                  <a:gd name="T11" fmla="*/ 0 h 82"/>
                  <a:gd name="T12" fmla="*/ 7 w 25"/>
                  <a:gd name="T13" fmla="*/ 0 h 82"/>
                  <a:gd name="T14" fmla="*/ 5 w 25"/>
                  <a:gd name="T15" fmla="*/ 2 h 82"/>
                  <a:gd name="T16" fmla="*/ 0 w 25"/>
                  <a:gd name="T17" fmla="*/ 5 h 82"/>
                  <a:gd name="T18" fmla="*/ 0 w 25"/>
                  <a:gd name="T19" fmla="*/ 69 h 82"/>
                  <a:gd name="T20" fmla="*/ 0 w 25"/>
                  <a:gd name="T21" fmla="*/ 72 h 82"/>
                  <a:gd name="T22" fmla="*/ 5 w 25"/>
                  <a:gd name="T23" fmla="*/ 77 h 82"/>
                  <a:gd name="T24" fmla="*/ 7 w 25"/>
                  <a:gd name="T25" fmla="*/ 79 h 82"/>
                  <a:gd name="T26" fmla="*/ 12 w 25"/>
                  <a:gd name="T27" fmla="*/ 82 h 82"/>
                  <a:gd name="T28" fmla="*/ 16 w 25"/>
                  <a:gd name="T29" fmla="*/ 82 h 82"/>
                  <a:gd name="T30" fmla="*/ 22 w 25"/>
                  <a:gd name="T31" fmla="*/ 79 h 82"/>
                  <a:gd name="T32" fmla="*/ 25 w 25"/>
                  <a:gd name="T33" fmla="*/ 77 h 82"/>
                  <a:gd name="T34" fmla="*/ 25 w 25"/>
                  <a:gd name="T35" fmla="*/ 72 h 82"/>
                  <a:gd name="T36" fmla="*/ 25 w 25"/>
                  <a:gd name="T37" fmla="*/ 7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 h="82">
                    <a:moveTo>
                      <a:pt x="25" y="7"/>
                    </a:moveTo>
                    <a:lnTo>
                      <a:pt x="25" y="5"/>
                    </a:lnTo>
                    <a:lnTo>
                      <a:pt x="25" y="2"/>
                    </a:lnTo>
                    <a:lnTo>
                      <a:pt x="22" y="0"/>
                    </a:lnTo>
                    <a:lnTo>
                      <a:pt x="16" y="0"/>
                    </a:lnTo>
                    <a:lnTo>
                      <a:pt x="12" y="0"/>
                    </a:lnTo>
                    <a:lnTo>
                      <a:pt x="7" y="0"/>
                    </a:lnTo>
                    <a:lnTo>
                      <a:pt x="5" y="2"/>
                    </a:lnTo>
                    <a:lnTo>
                      <a:pt x="0" y="5"/>
                    </a:lnTo>
                    <a:lnTo>
                      <a:pt x="0" y="69"/>
                    </a:lnTo>
                    <a:lnTo>
                      <a:pt x="0" y="72"/>
                    </a:lnTo>
                    <a:lnTo>
                      <a:pt x="5" y="77"/>
                    </a:lnTo>
                    <a:lnTo>
                      <a:pt x="7" y="79"/>
                    </a:lnTo>
                    <a:lnTo>
                      <a:pt x="12" y="82"/>
                    </a:lnTo>
                    <a:lnTo>
                      <a:pt x="16" y="82"/>
                    </a:lnTo>
                    <a:lnTo>
                      <a:pt x="22" y="79"/>
                    </a:lnTo>
                    <a:lnTo>
                      <a:pt x="25" y="77"/>
                    </a:lnTo>
                    <a:lnTo>
                      <a:pt x="25" y="72"/>
                    </a:lnTo>
                    <a:lnTo>
                      <a:pt x="25" y="7"/>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143" name="任意多边形 14396">
                <a:extLst>
                  <a:ext uri="{FF2B5EF4-FFF2-40B4-BE49-F238E27FC236}">
                    <a16:creationId xmlns="" xmlns:a16="http://schemas.microsoft.com/office/drawing/2014/main" id="{6DE52973-9E24-2F3E-9F5C-2764769FC632}"/>
                  </a:ext>
                </a:extLst>
              </p:cNvPr>
              <p:cNvSpPr>
                <a:spLocks noChangeArrowheads="1"/>
              </p:cNvSpPr>
              <p:nvPr/>
            </p:nvSpPr>
            <p:spPr bwMode="auto">
              <a:xfrm>
                <a:off x="2152" y="1915"/>
                <a:ext cx="10" cy="32"/>
              </a:xfrm>
              <a:custGeom>
                <a:avLst/>
                <a:gdLst>
                  <a:gd name="T0" fmla="*/ 25 w 25"/>
                  <a:gd name="T1" fmla="*/ 7 h 80"/>
                  <a:gd name="T2" fmla="*/ 25 w 25"/>
                  <a:gd name="T3" fmla="*/ 5 h 80"/>
                  <a:gd name="T4" fmla="*/ 25 w 25"/>
                  <a:gd name="T5" fmla="*/ 1 h 80"/>
                  <a:gd name="T6" fmla="*/ 22 w 25"/>
                  <a:gd name="T7" fmla="*/ 0 h 80"/>
                  <a:gd name="T8" fmla="*/ 16 w 25"/>
                  <a:gd name="T9" fmla="*/ 0 h 80"/>
                  <a:gd name="T10" fmla="*/ 12 w 25"/>
                  <a:gd name="T11" fmla="*/ 0 h 80"/>
                  <a:gd name="T12" fmla="*/ 7 w 25"/>
                  <a:gd name="T13" fmla="*/ 0 h 80"/>
                  <a:gd name="T14" fmla="*/ 5 w 25"/>
                  <a:gd name="T15" fmla="*/ 1 h 80"/>
                  <a:gd name="T16" fmla="*/ 0 w 25"/>
                  <a:gd name="T17" fmla="*/ 5 h 80"/>
                  <a:gd name="T18" fmla="*/ 0 w 25"/>
                  <a:gd name="T19" fmla="*/ 70 h 80"/>
                  <a:gd name="T20" fmla="*/ 0 w 25"/>
                  <a:gd name="T21" fmla="*/ 72 h 80"/>
                  <a:gd name="T22" fmla="*/ 5 w 25"/>
                  <a:gd name="T23" fmla="*/ 74 h 80"/>
                  <a:gd name="T24" fmla="*/ 7 w 25"/>
                  <a:gd name="T25" fmla="*/ 77 h 80"/>
                  <a:gd name="T26" fmla="*/ 12 w 25"/>
                  <a:gd name="T27" fmla="*/ 80 h 80"/>
                  <a:gd name="T28" fmla="*/ 16 w 25"/>
                  <a:gd name="T29" fmla="*/ 80 h 80"/>
                  <a:gd name="T30" fmla="*/ 22 w 25"/>
                  <a:gd name="T31" fmla="*/ 77 h 80"/>
                  <a:gd name="T32" fmla="*/ 25 w 25"/>
                  <a:gd name="T33" fmla="*/ 74 h 80"/>
                  <a:gd name="T34" fmla="*/ 25 w 25"/>
                  <a:gd name="T35" fmla="*/ 72 h 80"/>
                  <a:gd name="T36" fmla="*/ 25 w 25"/>
                  <a:gd name="T37" fmla="*/ 7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 h="80">
                    <a:moveTo>
                      <a:pt x="25" y="7"/>
                    </a:moveTo>
                    <a:lnTo>
                      <a:pt x="25" y="5"/>
                    </a:lnTo>
                    <a:lnTo>
                      <a:pt x="25" y="1"/>
                    </a:lnTo>
                    <a:lnTo>
                      <a:pt x="22" y="0"/>
                    </a:lnTo>
                    <a:lnTo>
                      <a:pt x="16" y="0"/>
                    </a:lnTo>
                    <a:lnTo>
                      <a:pt x="12" y="0"/>
                    </a:lnTo>
                    <a:lnTo>
                      <a:pt x="7" y="0"/>
                    </a:lnTo>
                    <a:lnTo>
                      <a:pt x="5" y="1"/>
                    </a:lnTo>
                    <a:lnTo>
                      <a:pt x="0" y="5"/>
                    </a:lnTo>
                    <a:lnTo>
                      <a:pt x="0" y="70"/>
                    </a:lnTo>
                    <a:lnTo>
                      <a:pt x="0" y="72"/>
                    </a:lnTo>
                    <a:lnTo>
                      <a:pt x="5" y="74"/>
                    </a:lnTo>
                    <a:lnTo>
                      <a:pt x="7" y="77"/>
                    </a:lnTo>
                    <a:lnTo>
                      <a:pt x="12" y="80"/>
                    </a:lnTo>
                    <a:lnTo>
                      <a:pt x="16" y="80"/>
                    </a:lnTo>
                    <a:lnTo>
                      <a:pt x="22" y="77"/>
                    </a:lnTo>
                    <a:lnTo>
                      <a:pt x="25" y="74"/>
                    </a:lnTo>
                    <a:lnTo>
                      <a:pt x="25" y="72"/>
                    </a:lnTo>
                    <a:lnTo>
                      <a:pt x="25" y="7"/>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144" name="任意多边形 14397">
                <a:extLst>
                  <a:ext uri="{FF2B5EF4-FFF2-40B4-BE49-F238E27FC236}">
                    <a16:creationId xmlns="" xmlns:a16="http://schemas.microsoft.com/office/drawing/2014/main" id="{9C7F056B-EFB3-4FBB-5EBF-9B8E918DFE4B}"/>
                  </a:ext>
                </a:extLst>
              </p:cNvPr>
              <p:cNvSpPr>
                <a:spLocks noChangeArrowheads="1"/>
              </p:cNvSpPr>
              <p:nvPr/>
            </p:nvSpPr>
            <p:spPr bwMode="auto">
              <a:xfrm>
                <a:off x="2152" y="1960"/>
                <a:ext cx="10" cy="33"/>
              </a:xfrm>
              <a:custGeom>
                <a:avLst/>
                <a:gdLst>
                  <a:gd name="T0" fmla="*/ 25 w 25"/>
                  <a:gd name="T1" fmla="*/ 9 h 82"/>
                  <a:gd name="T2" fmla="*/ 25 w 25"/>
                  <a:gd name="T3" fmla="*/ 7 h 82"/>
                  <a:gd name="T4" fmla="*/ 25 w 25"/>
                  <a:gd name="T5" fmla="*/ 2 h 82"/>
                  <a:gd name="T6" fmla="*/ 22 w 25"/>
                  <a:gd name="T7" fmla="*/ 0 h 82"/>
                  <a:gd name="T8" fmla="*/ 16 w 25"/>
                  <a:gd name="T9" fmla="*/ 0 h 82"/>
                  <a:gd name="T10" fmla="*/ 12 w 25"/>
                  <a:gd name="T11" fmla="*/ 0 h 82"/>
                  <a:gd name="T12" fmla="*/ 7 w 25"/>
                  <a:gd name="T13" fmla="*/ 0 h 82"/>
                  <a:gd name="T14" fmla="*/ 5 w 25"/>
                  <a:gd name="T15" fmla="*/ 2 h 82"/>
                  <a:gd name="T16" fmla="*/ 0 w 25"/>
                  <a:gd name="T17" fmla="*/ 7 h 82"/>
                  <a:gd name="T18" fmla="*/ 0 w 25"/>
                  <a:gd name="T19" fmla="*/ 72 h 82"/>
                  <a:gd name="T20" fmla="*/ 0 w 25"/>
                  <a:gd name="T21" fmla="*/ 74 h 82"/>
                  <a:gd name="T22" fmla="*/ 5 w 25"/>
                  <a:gd name="T23" fmla="*/ 77 h 82"/>
                  <a:gd name="T24" fmla="*/ 7 w 25"/>
                  <a:gd name="T25" fmla="*/ 79 h 82"/>
                  <a:gd name="T26" fmla="*/ 12 w 25"/>
                  <a:gd name="T27" fmla="*/ 82 h 82"/>
                  <a:gd name="T28" fmla="*/ 16 w 25"/>
                  <a:gd name="T29" fmla="*/ 82 h 82"/>
                  <a:gd name="T30" fmla="*/ 22 w 25"/>
                  <a:gd name="T31" fmla="*/ 79 h 82"/>
                  <a:gd name="T32" fmla="*/ 25 w 25"/>
                  <a:gd name="T33" fmla="*/ 77 h 82"/>
                  <a:gd name="T34" fmla="*/ 25 w 25"/>
                  <a:gd name="T35" fmla="*/ 74 h 82"/>
                  <a:gd name="T36" fmla="*/ 25 w 25"/>
                  <a:gd name="T37" fmla="*/ 9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 h="82">
                    <a:moveTo>
                      <a:pt x="25" y="9"/>
                    </a:moveTo>
                    <a:lnTo>
                      <a:pt x="25" y="7"/>
                    </a:lnTo>
                    <a:lnTo>
                      <a:pt x="25" y="2"/>
                    </a:lnTo>
                    <a:lnTo>
                      <a:pt x="22" y="0"/>
                    </a:lnTo>
                    <a:lnTo>
                      <a:pt x="16" y="0"/>
                    </a:lnTo>
                    <a:lnTo>
                      <a:pt x="12" y="0"/>
                    </a:lnTo>
                    <a:lnTo>
                      <a:pt x="7" y="0"/>
                    </a:lnTo>
                    <a:lnTo>
                      <a:pt x="5" y="2"/>
                    </a:lnTo>
                    <a:lnTo>
                      <a:pt x="0" y="7"/>
                    </a:lnTo>
                    <a:lnTo>
                      <a:pt x="0" y="72"/>
                    </a:lnTo>
                    <a:lnTo>
                      <a:pt x="0" y="74"/>
                    </a:lnTo>
                    <a:lnTo>
                      <a:pt x="5" y="77"/>
                    </a:lnTo>
                    <a:lnTo>
                      <a:pt x="7" y="79"/>
                    </a:lnTo>
                    <a:lnTo>
                      <a:pt x="12" y="82"/>
                    </a:lnTo>
                    <a:lnTo>
                      <a:pt x="16" y="82"/>
                    </a:lnTo>
                    <a:lnTo>
                      <a:pt x="22" y="79"/>
                    </a:lnTo>
                    <a:lnTo>
                      <a:pt x="25" y="77"/>
                    </a:lnTo>
                    <a:lnTo>
                      <a:pt x="25" y="74"/>
                    </a:lnTo>
                    <a:lnTo>
                      <a:pt x="25" y="9"/>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145" name="任意多边形 14398">
                <a:extLst>
                  <a:ext uri="{FF2B5EF4-FFF2-40B4-BE49-F238E27FC236}">
                    <a16:creationId xmlns="" xmlns:a16="http://schemas.microsoft.com/office/drawing/2014/main" id="{F42EED23-7F83-8712-DE10-CC37D240DCB9}"/>
                  </a:ext>
                </a:extLst>
              </p:cNvPr>
              <p:cNvSpPr>
                <a:spLocks noChangeArrowheads="1"/>
              </p:cNvSpPr>
              <p:nvPr/>
            </p:nvSpPr>
            <p:spPr bwMode="auto">
              <a:xfrm>
                <a:off x="2152" y="2006"/>
                <a:ext cx="10" cy="33"/>
              </a:xfrm>
              <a:custGeom>
                <a:avLst/>
                <a:gdLst>
                  <a:gd name="T0" fmla="*/ 25 w 25"/>
                  <a:gd name="T1" fmla="*/ 7 h 82"/>
                  <a:gd name="T2" fmla="*/ 25 w 25"/>
                  <a:gd name="T3" fmla="*/ 5 h 82"/>
                  <a:gd name="T4" fmla="*/ 25 w 25"/>
                  <a:gd name="T5" fmla="*/ 2 h 82"/>
                  <a:gd name="T6" fmla="*/ 22 w 25"/>
                  <a:gd name="T7" fmla="*/ 0 h 82"/>
                  <a:gd name="T8" fmla="*/ 16 w 25"/>
                  <a:gd name="T9" fmla="*/ 0 h 82"/>
                  <a:gd name="T10" fmla="*/ 12 w 25"/>
                  <a:gd name="T11" fmla="*/ 0 h 82"/>
                  <a:gd name="T12" fmla="*/ 7 w 25"/>
                  <a:gd name="T13" fmla="*/ 0 h 82"/>
                  <a:gd name="T14" fmla="*/ 5 w 25"/>
                  <a:gd name="T15" fmla="*/ 2 h 82"/>
                  <a:gd name="T16" fmla="*/ 0 w 25"/>
                  <a:gd name="T17" fmla="*/ 5 h 82"/>
                  <a:gd name="T18" fmla="*/ 0 w 25"/>
                  <a:gd name="T19" fmla="*/ 70 h 82"/>
                  <a:gd name="T20" fmla="*/ 0 w 25"/>
                  <a:gd name="T21" fmla="*/ 72 h 82"/>
                  <a:gd name="T22" fmla="*/ 5 w 25"/>
                  <a:gd name="T23" fmla="*/ 75 h 82"/>
                  <a:gd name="T24" fmla="*/ 7 w 25"/>
                  <a:gd name="T25" fmla="*/ 80 h 82"/>
                  <a:gd name="T26" fmla="*/ 12 w 25"/>
                  <a:gd name="T27" fmla="*/ 82 h 82"/>
                  <a:gd name="T28" fmla="*/ 16 w 25"/>
                  <a:gd name="T29" fmla="*/ 82 h 82"/>
                  <a:gd name="T30" fmla="*/ 22 w 25"/>
                  <a:gd name="T31" fmla="*/ 80 h 82"/>
                  <a:gd name="T32" fmla="*/ 25 w 25"/>
                  <a:gd name="T33" fmla="*/ 75 h 82"/>
                  <a:gd name="T34" fmla="*/ 25 w 25"/>
                  <a:gd name="T35" fmla="*/ 72 h 82"/>
                  <a:gd name="T36" fmla="*/ 25 w 25"/>
                  <a:gd name="T37" fmla="*/ 7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 h="82">
                    <a:moveTo>
                      <a:pt x="25" y="7"/>
                    </a:moveTo>
                    <a:lnTo>
                      <a:pt x="25" y="5"/>
                    </a:lnTo>
                    <a:lnTo>
                      <a:pt x="25" y="2"/>
                    </a:lnTo>
                    <a:lnTo>
                      <a:pt x="22" y="0"/>
                    </a:lnTo>
                    <a:lnTo>
                      <a:pt x="16" y="0"/>
                    </a:lnTo>
                    <a:lnTo>
                      <a:pt x="12" y="0"/>
                    </a:lnTo>
                    <a:lnTo>
                      <a:pt x="7" y="0"/>
                    </a:lnTo>
                    <a:lnTo>
                      <a:pt x="5" y="2"/>
                    </a:lnTo>
                    <a:lnTo>
                      <a:pt x="0" y="5"/>
                    </a:lnTo>
                    <a:lnTo>
                      <a:pt x="0" y="70"/>
                    </a:lnTo>
                    <a:lnTo>
                      <a:pt x="0" y="72"/>
                    </a:lnTo>
                    <a:lnTo>
                      <a:pt x="5" y="75"/>
                    </a:lnTo>
                    <a:lnTo>
                      <a:pt x="7" y="80"/>
                    </a:lnTo>
                    <a:lnTo>
                      <a:pt x="12" y="82"/>
                    </a:lnTo>
                    <a:lnTo>
                      <a:pt x="16" y="82"/>
                    </a:lnTo>
                    <a:lnTo>
                      <a:pt x="22" y="80"/>
                    </a:lnTo>
                    <a:lnTo>
                      <a:pt x="25" y="75"/>
                    </a:lnTo>
                    <a:lnTo>
                      <a:pt x="25" y="72"/>
                    </a:lnTo>
                    <a:lnTo>
                      <a:pt x="25" y="7"/>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146" name="任意多边形 14399">
                <a:extLst>
                  <a:ext uri="{FF2B5EF4-FFF2-40B4-BE49-F238E27FC236}">
                    <a16:creationId xmlns="" xmlns:a16="http://schemas.microsoft.com/office/drawing/2014/main" id="{836A836C-AD4F-18AF-29AE-66C574640301}"/>
                  </a:ext>
                </a:extLst>
              </p:cNvPr>
              <p:cNvSpPr>
                <a:spLocks noChangeArrowheads="1"/>
              </p:cNvSpPr>
              <p:nvPr/>
            </p:nvSpPr>
            <p:spPr bwMode="auto">
              <a:xfrm>
                <a:off x="2152" y="2052"/>
                <a:ext cx="10" cy="32"/>
              </a:xfrm>
              <a:custGeom>
                <a:avLst/>
                <a:gdLst>
                  <a:gd name="T0" fmla="*/ 25 w 25"/>
                  <a:gd name="T1" fmla="*/ 7 h 79"/>
                  <a:gd name="T2" fmla="*/ 25 w 25"/>
                  <a:gd name="T3" fmla="*/ 4 h 79"/>
                  <a:gd name="T4" fmla="*/ 25 w 25"/>
                  <a:gd name="T5" fmla="*/ 2 h 79"/>
                  <a:gd name="T6" fmla="*/ 22 w 25"/>
                  <a:gd name="T7" fmla="*/ 0 h 79"/>
                  <a:gd name="T8" fmla="*/ 16 w 25"/>
                  <a:gd name="T9" fmla="*/ 0 h 79"/>
                  <a:gd name="T10" fmla="*/ 12 w 25"/>
                  <a:gd name="T11" fmla="*/ 0 h 79"/>
                  <a:gd name="T12" fmla="*/ 7 w 25"/>
                  <a:gd name="T13" fmla="*/ 0 h 79"/>
                  <a:gd name="T14" fmla="*/ 5 w 25"/>
                  <a:gd name="T15" fmla="*/ 2 h 79"/>
                  <a:gd name="T16" fmla="*/ 0 w 25"/>
                  <a:gd name="T17" fmla="*/ 4 h 79"/>
                  <a:gd name="T18" fmla="*/ 0 w 25"/>
                  <a:gd name="T19" fmla="*/ 69 h 79"/>
                  <a:gd name="T20" fmla="*/ 0 w 25"/>
                  <a:gd name="T21" fmla="*/ 72 h 79"/>
                  <a:gd name="T22" fmla="*/ 5 w 25"/>
                  <a:gd name="T23" fmla="*/ 74 h 79"/>
                  <a:gd name="T24" fmla="*/ 7 w 25"/>
                  <a:gd name="T25" fmla="*/ 77 h 79"/>
                  <a:gd name="T26" fmla="*/ 12 w 25"/>
                  <a:gd name="T27" fmla="*/ 79 h 79"/>
                  <a:gd name="T28" fmla="*/ 16 w 25"/>
                  <a:gd name="T29" fmla="*/ 79 h 79"/>
                  <a:gd name="T30" fmla="*/ 22 w 25"/>
                  <a:gd name="T31" fmla="*/ 77 h 79"/>
                  <a:gd name="T32" fmla="*/ 25 w 25"/>
                  <a:gd name="T33" fmla="*/ 74 h 79"/>
                  <a:gd name="T34" fmla="*/ 25 w 25"/>
                  <a:gd name="T35" fmla="*/ 72 h 79"/>
                  <a:gd name="T36" fmla="*/ 25 w 25"/>
                  <a:gd name="T37" fmla="*/ 7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 h="79">
                    <a:moveTo>
                      <a:pt x="25" y="7"/>
                    </a:moveTo>
                    <a:lnTo>
                      <a:pt x="25" y="4"/>
                    </a:lnTo>
                    <a:lnTo>
                      <a:pt x="25" y="2"/>
                    </a:lnTo>
                    <a:lnTo>
                      <a:pt x="22" y="0"/>
                    </a:lnTo>
                    <a:lnTo>
                      <a:pt x="16" y="0"/>
                    </a:lnTo>
                    <a:lnTo>
                      <a:pt x="12" y="0"/>
                    </a:lnTo>
                    <a:lnTo>
                      <a:pt x="7" y="0"/>
                    </a:lnTo>
                    <a:lnTo>
                      <a:pt x="5" y="2"/>
                    </a:lnTo>
                    <a:lnTo>
                      <a:pt x="0" y="4"/>
                    </a:lnTo>
                    <a:lnTo>
                      <a:pt x="0" y="69"/>
                    </a:lnTo>
                    <a:lnTo>
                      <a:pt x="0" y="72"/>
                    </a:lnTo>
                    <a:lnTo>
                      <a:pt x="5" y="74"/>
                    </a:lnTo>
                    <a:lnTo>
                      <a:pt x="7" y="77"/>
                    </a:lnTo>
                    <a:lnTo>
                      <a:pt x="12" y="79"/>
                    </a:lnTo>
                    <a:lnTo>
                      <a:pt x="16" y="79"/>
                    </a:lnTo>
                    <a:lnTo>
                      <a:pt x="22" y="77"/>
                    </a:lnTo>
                    <a:lnTo>
                      <a:pt x="25" y="74"/>
                    </a:lnTo>
                    <a:lnTo>
                      <a:pt x="25" y="72"/>
                    </a:lnTo>
                    <a:lnTo>
                      <a:pt x="25" y="7"/>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147" name="任意多边形 14400">
                <a:extLst>
                  <a:ext uri="{FF2B5EF4-FFF2-40B4-BE49-F238E27FC236}">
                    <a16:creationId xmlns="" xmlns:a16="http://schemas.microsoft.com/office/drawing/2014/main" id="{F320D57D-0588-ADDC-F9AE-38969A491257}"/>
                  </a:ext>
                </a:extLst>
              </p:cNvPr>
              <p:cNvSpPr>
                <a:spLocks noChangeArrowheads="1"/>
              </p:cNvSpPr>
              <p:nvPr/>
            </p:nvSpPr>
            <p:spPr bwMode="auto">
              <a:xfrm>
                <a:off x="2152" y="2097"/>
                <a:ext cx="10" cy="33"/>
              </a:xfrm>
              <a:custGeom>
                <a:avLst/>
                <a:gdLst>
                  <a:gd name="T0" fmla="*/ 25 w 25"/>
                  <a:gd name="T1" fmla="*/ 9 h 82"/>
                  <a:gd name="T2" fmla="*/ 25 w 25"/>
                  <a:gd name="T3" fmla="*/ 7 h 82"/>
                  <a:gd name="T4" fmla="*/ 25 w 25"/>
                  <a:gd name="T5" fmla="*/ 2 h 82"/>
                  <a:gd name="T6" fmla="*/ 22 w 25"/>
                  <a:gd name="T7" fmla="*/ 0 h 82"/>
                  <a:gd name="T8" fmla="*/ 16 w 25"/>
                  <a:gd name="T9" fmla="*/ 0 h 82"/>
                  <a:gd name="T10" fmla="*/ 12 w 25"/>
                  <a:gd name="T11" fmla="*/ 0 h 82"/>
                  <a:gd name="T12" fmla="*/ 7 w 25"/>
                  <a:gd name="T13" fmla="*/ 0 h 82"/>
                  <a:gd name="T14" fmla="*/ 5 w 25"/>
                  <a:gd name="T15" fmla="*/ 2 h 82"/>
                  <a:gd name="T16" fmla="*/ 0 w 25"/>
                  <a:gd name="T17" fmla="*/ 7 h 82"/>
                  <a:gd name="T18" fmla="*/ 0 w 25"/>
                  <a:gd name="T19" fmla="*/ 72 h 82"/>
                  <a:gd name="T20" fmla="*/ 0 w 25"/>
                  <a:gd name="T21" fmla="*/ 75 h 82"/>
                  <a:gd name="T22" fmla="*/ 5 w 25"/>
                  <a:gd name="T23" fmla="*/ 77 h 82"/>
                  <a:gd name="T24" fmla="*/ 7 w 25"/>
                  <a:gd name="T25" fmla="*/ 80 h 82"/>
                  <a:gd name="T26" fmla="*/ 12 w 25"/>
                  <a:gd name="T27" fmla="*/ 82 h 82"/>
                  <a:gd name="T28" fmla="*/ 16 w 25"/>
                  <a:gd name="T29" fmla="*/ 82 h 82"/>
                  <a:gd name="T30" fmla="*/ 22 w 25"/>
                  <a:gd name="T31" fmla="*/ 80 h 82"/>
                  <a:gd name="T32" fmla="*/ 25 w 25"/>
                  <a:gd name="T33" fmla="*/ 77 h 82"/>
                  <a:gd name="T34" fmla="*/ 25 w 25"/>
                  <a:gd name="T35" fmla="*/ 75 h 82"/>
                  <a:gd name="T36" fmla="*/ 25 w 25"/>
                  <a:gd name="T37" fmla="*/ 9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 h="82">
                    <a:moveTo>
                      <a:pt x="25" y="9"/>
                    </a:moveTo>
                    <a:lnTo>
                      <a:pt x="25" y="7"/>
                    </a:lnTo>
                    <a:lnTo>
                      <a:pt x="25" y="2"/>
                    </a:lnTo>
                    <a:lnTo>
                      <a:pt x="22" y="0"/>
                    </a:lnTo>
                    <a:lnTo>
                      <a:pt x="16" y="0"/>
                    </a:lnTo>
                    <a:lnTo>
                      <a:pt x="12" y="0"/>
                    </a:lnTo>
                    <a:lnTo>
                      <a:pt x="7" y="0"/>
                    </a:lnTo>
                    <a:lnTo>
                      <a:pt x="5" y="2"/>
                    </a:lnTo>
                    <a:lnTo>
                      <a:pt x="0" y="7"/>
                    </a:lnTo>
                    <a:lnTo>
                      <a:pt x="0" y="72"/>
                    </a:lnTo>
                    <a:lnTo>
                      <a:pt x="0" y="75"/>
                    </a:lnTo>
                    <a:lnTo>
                      <a:pt x="5" y="77"/>
                    </a:lnTo>
                    <a:lnTo>
                      <a:pt x="7" y="80"/>
                    </a:lnTo>
                    <a:lnTo>
                      <a:pt x="12" y="82"/>
                    </a:lnTo>
                    <a:lnTo>
                      <a:pt x="16" y="82"/>
                    </a:lnTo>
                    <a:lnTo>
                      <a:pt x="22" y="80"/>
                    </a:lnTo>
                    <a:lnTo>
                      <a:pt x="25" y="77"/>
                    </a:lnTo>
                    <a:lnTo>
                      <a:pt x="25" y="75"/>
                    </a:lnTo>
                    <a:lnTo>
                      <a:pt x="25" y="9"/>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148" name="任意多边形 14401">
                <a:extLst>
                  <a:ext uri="{FF2B5EF4-FFF2-40B4-BE49-F238E27FC236}">
                    <a16:creationId xmlns="" xmlns:a16="http://schemas.microsoft.com/office/drawing/2014/main" id="{1F0DDD6D-5E9C-654F-A137-D744B47E8936}"/>
                  </a:ext>
                </a:extLst>
              </p:cNvPr>
              <p:cNvSpPr>
                <a:spLocks noChangeArrowheads="1"/>
              </p:cNvSpPr>
              <p:nvPr/>
            </p:nvSpPr>
            <p:spPr bwMode="auto">
              <a:xfrm>
                <a:off x="2152" y="2143"/>
                <a:ext cx="10" cy="33"/>
              </a:xfrm>
              <a:custGeom>
                <a:avLst/>
                <a:gdLst>
                  <a:gd name="T0" fmla="*/ 25 w 25"/>
                  <a:gd name="T1" fmla="*/ 7 h 82"/>
                  <a:gd name="T2" fmla="*/ 25 w 25"/>
                  <a:gd name="T3" fmla="*/ 5 h 82"/>
                  <a:gd name="T4" fmla="*/ 25 w 25"/>
                  <a:gd name="T5" fmla="*/ 2 h 82"/>
                  <a:gd name="T6" fmla="*/ 22 w 25"/>
                  <a:gd name="T7" fmla="*/ 0 h 82"/>
                  <a:gd name="T8" fmla="*/ 16 w 25"/>
                  <a:gd name="T9" fmla="*/ 0 h 82"/>
                  <a:gd name="T10" fmla="*/ 12 w 25"/>
                  <a:gd name="T11" fmla="*/ 0 h 82"/>
                  <a:gd name="T12" fmla="*/ 7 w 25"/>
                  <a:gd name="T13" fmla="*/ 0 h 82"/>
                  <a:gd name="T14" fmla="*/ 5 w 25"/>
                  <a:gd name="T15" fmla="*/ 2 h 82"/>
                  <a:gd name="T16" fmla="*/ 0 w 25"/>
                  <a:gd name="T17" fmla="*/ 5 h 82"/>
                  <a:gd name="T18" fmla="*/ 0 w 25"/>
                  <a:gd name="T19" fmla="*/ 69 h 82"/>
                  <a:gd name="T20" fmla="*/ 0 w 25"/>
                  <a:gd name="T21" fmla="*/ 72 h 82"/>
                  <a:gd name="T22" fmla="*/ 5 w 25"/>
                  <a:gd name="T23" fmla="*/ 74 h 82"/>
                  <a:gd name="T24" fmla="*/ 7 w 25"/>
                  <a:gd name="T25" fmla="*/ 79 h 82"/>
                  <a:gd name="T26" fmla="*/ 12 w 25"/>
                  <a:gd name="T27" fmla="*/ 82 h 82"/>
                  <a:gd name="T28" fmla="*/ 16 w 25"/>
                  <a:gd name="T29" fmla="*/ 82 h 82"/>
                  <a:gd name="T30" fmla="*/ 22 w 25"/>
                  <a:gd name="T31" fmla="*/ 79 h 82"/>
                  <a:gd name="T32" fmla="*/ 25 w 25"/>
                  <a:gd name="T33" fmla="*/ 74 h 82"/>
                  <a:gd name="T34" fmla="*/ 25 w 25"/>
                  <a:gd name="T35" fmla="*/ 72 h 82"/>
                  <a:gd name="T36" fmla="*/ 25 w 25"/>
                  <a:gd name="T37" fmla="*/ 7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 h="82">
                    <a:moveTo>
                      <a:pt x="25" y="7"/>
                    </a:moveTo>
                    <a:lnTo>
                      <a:pt x="25" y="5"/>
                    </a:lnTo>
                    <a:lnTo>
                      <a:pt x="25" y="2"/>
                    </a:lnTo>
                    <a:lnTo>
                      <a:pt x="22" y="0"/>
                    </a:lnTo>
                    <a:lnTo>
                      <a:pt x="16" y="0"/>
                    </a:lnTo>
                    <a:lnTo>
                      <a:pt x="12" y="0"/>
                    </a:lnTo>
                    <a:lnTo>
                      <a:pt x="7" y="0"/>
                    </a:lnTo>
                    <a:lnTo>
                      <a:pt x="5" y="2"/>
                    </a:lnTo>
                    <a:lnTo>
                      <a:pt x="0" y="5"/>
                    </a:lnTo>
                    <a:lnTo>
                      <a:pt x="0" y="69"/>
                    </a:lnTo>
                    <a:lnTo>
                      <a:pt x="0" y="72"/>
                    </a:lnTo>
                    <a:lnTo>
                      <a:pt x="5" y="74"/>
                    </a:lnTo>
                    <a:lnTo>
                      <a:pt x="7" y="79"/>
                    </a:lnTo>
                    <a:lnTo>
                      <a:pt x="12" y="82"/>
                    </a:lnTo>
                    <a:lnTo>
                      <a:pt x="16" y="82"/>
                    </a:lnTo>
                    <a:lnTo>
                      <a:pt x="22" y="79"/>
                    </a:lnTo>
                    <a:lnTo>
                      <a:pt x="25" y="74"/>
                    </a:lnTo>
                    <a:lnTo>
                      <a:pt x="25" y="72"/>
                    </a:lnTo>
                    <a:lnTo>
                      <a:pt x="25" y="7"/>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149" name="任意多边形 14402">
                <a:extLst>
                  <a:ext uri="{FF2B5EF4-FFF2-40B4-BE49-F238E27FC236}">
                    <a16:creationId xmlns="" xmlns:a16="http://schemas.microsoft.com/office/drawing/2014/main" id="{A9941E6B-17EA-973E-4C27-40190459452F}"/>
                  </a:ext>
                </a:extLst>
              </p:cNvPr>
              <p:cNvSpPr>
                <a:spLocks noChangeArrowheads="1"/>
              </p:cNvSpPr>
              <p:nvPr/>
            </p:nvSpPr>
            <p:spPr bwMode="auto">
              <a:xfrm>
                <a:off x="2152" y="2189"/>
                <a:ext cx="10" cy="32"/>
              </a:xfrm>
              <a:custGeom>
                <a:avLst/>
                <a:gdLst>
                  <a:gd name="T0" fmla="*/ 25 w 25"/>
                  <a:gd name="T1" fmla="*/ 7 h 80"/>
                  <a:gd name="T2" fmla="*/ 25 w 25"/>
                  <a:gd name="T3" fmla="*/ 5 h 80"/>
                  <a:gd name="T4" fmla="*/ 25 w 25"/>
                  <a:gd name="T5" fmla="*/ 1 h 80"/>
                  <a:gd name="T6" fmla="*/ 22 w 25"/>
                  <a:gd name="T7" fmla="*/ 0 h 80"/>
                  <a:gd name="T8" fmla="*/ 16 w 25"/>
                  <a:gd name="T9" fmla="*/ 0 h 80"/>
                  <a:gd name="T10" fmla="*/ 12 w 25"/>
                  <a:gd name="T11" fmla="*/ 0 h 80"/>
                  <a:gd name="T12" fmla="*/ 7 w 25"/>
                  <a:gd name="T13" fmla="*/ 0 h 80"/>
                  <a:gd name="T14" fmla="*/ 5 w 25"/>
                  <a:gd name="T15" fmla="*/ 1 h 80"/>
                  <a:gd name="T16" fmla="*/ 0 w 25"/>
                  <a:gd name="T17" fmla="*/ 5 h 80"/>
                  <a:gd name="T18" fmla="*/ 0 w 25"/>
                  <a:gd name="T19" fmla="*/ 70 h 80"/>
                  <a:gd name="T20" fmla="*/ 0 w 25"/>
                  <a:gd name="T21" fmla="*/ 72 h 80"/>
                  <a:gd name="T22" fmla="*/ 5 w 25"/>
                  <a:gd name="T23" fmla="*/ 74 h 80"/>
                  <a:gd name="T24" fmla="*/ 7 w 25"/>
                  <a:gd name="T25" fmla="*/ 77 h 80"/>
                  <a:gd name="T26" fmla="*/ 12 w 25"/>
                  <a:gd name="T27" fmla="*/ 80 h 80"/>
                  <a:gd name="T28" fmla="*/ 16 w 25"/>
                  <a:gd name="T29" fmla="*/ 80 h 80"/>
                  <a:gd name="T30" fmla="*/ 22 w 25"/>
                  <a:gd name="T31" fmla="*/ 77 h 80"/>
                  <a:gd name="T32" fmla="*/ 25 w 25"/>
                  <a:gd name="T33" fmla="*/ 74 h 80"/>
                  <a:gd name="T34" fmla="*/ 25 w 25"/>
                  <a:gd name="T35" fmla="*/ 72 h 80"/>
                  <a:gd name="T36" fmla="*/ 25 w 25"/>
                  <a:gd name="T37" fmla="*/ 7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 h="80">
                    <a:moveTo>
                      <a:pt x="25" y="7"/>
                    </a:moveTo>
                    <a:lnTo>
                      <a:pt x="25" y="5"/>
                    </a:lnTo>
                    <a:lnTo>
                      <a:pt x="25" y="1"/>
                    </a:lnTo>
                    <a:lnTo>
                      <a:pt x="22" y="0"/>
                    </a:lnTo>
                    <a:lnTo>
                      <a:pt x="16" y="0"/>
                    </a:lnTo>
                    <a:lnTo>
                      <a:pt x="12" y="0"/>
                    </a:lnTo>
                    <a:lnTo>
                      <a:pt x="7" y="0"/>
                    </a:lnTo>
                    <a:lnTo>
                      <a:pt x="5" y="1"/>
                    </a:lnTo>
                    <a:lnTo>
                      <a:pt x="0" y="5"/>
                    </a:lnTo>
                    <a:lnTo>
                      <a:pt x="0" y="70"/>
                    </a:lnTo>
                    <a:lnTo>
                      <a:pt x="0" y="72"/>
                    </a:lnTo>
                    <a:lnTo>
                      <a:pt x="5" y="74"/>
                    </a:lnTo>
                    <a:lnTo>
                      <a:pt x="7" y="77"/>
                    </a:lnTo>
                    <a:lnTo>
                      <a:pt x="12" y="80"/>
                    </a:lnTo>
                    <a:lnTo>
                      <a:pt x="16" y="80"/>
                    </a:lnTo>
                    <a:lnTo>
                      <a:pt x="22" y="77"/>
                    </a:lnTo>
                    <a:lnTo>
                      <a:pt x="25" y="74"/>
                    </a:lnTo>
                    <a:lnTo>
                      <a:pt x="25" y="72"/>
                    </a:lnTo>
                    <a:lnTo>
                      <a:pt x="25" y="7"/>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150" name="任意多边形 14403">
                <a:extLst>
                  <a:ext uri="{FF2B5EF4-FFF2-40B4-BE49-F238E27FC236}">
                    <a16:creationId xmlns="" xmlns:a16="http://schemas.microsoft.com/office/drawing/2014/main" id="{43B3F7D4-16F5-047F-28E1-5C9F9E2ACD39}"/>
                  </a:ext>
                </a:extLst>
              </p:cNvPr>
              <p:cNvSpPr>
                <a:spLocks noChangeArrowheads="1"/>
              </p:cNvSpPr>
              <p:nvPr/>
            </p:nvSpPr>
            <p:spPr bwMode="auto">
              <a:xfrm>
                <a:off x="2152" y="2234"/>
                <a:ext cx="10" cy="33"/>
              </a:xfrm>
              <a:custGeom>
                <a:avLst/>
                <a:gdLst>
                  <a:gd name="T0" fmla="*/ 25 w 25"/>
                  <a:gd name="T1" fmla="*/ 9 h 82"/>
                  <a:gd name="T2" fmla="*/ 25 w 25"/>
                  <a:gd name="T3" fmla="*/ 7 h 82"/>
                  <a:gd name="T4" fmla="*/ 25 w 25"/>
                  <a:gd name="T5" fmla="*/ 2 h 82"/>
                  <a:gd name="T6" fmla="*/ 22 w 25"/>
                  <a:gd name="T7" fmla="*/ 0 h 82"/>
                  <a:gd name="T8" fmla="*/ 16 w 25"/>
                  <a:gd name="T9" fmla="*/ 0 h 82"/>
                  <a:gd name="T10" fmla="*/ 12 w 25"/>
                  <a:gd name="T11" fmla="*/ 0 h 82"/>
                  <a:gd name="T12" fmla="*/ 7 w 25"/>
                  <a:gd name="T13" fmla="*/ 0 h 82"/>
                  <a:gd name="T14" fmla="*/ 5 w 25"/>
                  <a:gd name="T15" fmla="*/ 2 h 82"/>
                  <a:gd name="T16" fmla="*/ 0 w 25"/>
                  <a:gd name="T17" fmla="*/ 7 h 82"/>
                  <a:gd name="T18" fmla="*/ 0 w 25"/>
                  <a:gd name="T19" fmla="*/ 72 h 82"/>
                  <a:gd name="T20" fmla="*/ 0 w 25"/>
                  <a:gd name="T21" fmla="*/ 75 h 82"/>
                  <a:gd name="T22" fmla="*/ 5 w 25"/>
                  <a:gd name="T23" fmla="*/ 77 h 82"/>
                  <a:gd name="T24" fmla="*/ 7 w 25"/>
                  <a:gd name="T25" fmla="*/ 80 h 82"/>
                  <a:gd name="T26" fmla="*/ 12 w 25"/>
                  <a:gd name="T27" fmla="*/ 82 h 82"/>
                  <a:gd name="T28" fmla="*/ 16 w 25"/>
                  <a:gd name="T29" fmla="*/ 82 h 82"/>
                  <a:gd name="T30" fmla="*/ 22 w 25"/>
                  <a:gd name="T31" fmla="*/ 80 h 82"/>
                  <a:gd name="T32" fmla="*/ 25 w 25"/>
                  <a:gd name="T33" fmla="*/ 77 h 82"/>
                  <a:gd name="T34" fmla="*/ 25 w 25"/>
                  <a:gd name="T35" fmla="*/ 75 h 82"/>
                  <a:gd name="T36" fmla="*/ 25 w 25"/>
                  <a:gd name="T37" fmla="*/ 9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 h="82">
                    <a:moveTo>
                      <a:pt x="25" y="9"/>
                    </a:moveTo>
                    <a:lnTo>
                      <a:pt x="25" y="7"/>
                    </a:lnTo>
                    <a:lnTo>
                      <a:pt x="25" y="2"/>
                    </a:lnTo>
                    <a:lnTo>
                      <a:pt x="22" y="0"/>
                    </a:lnTo>
                    <a:lnTo>
                      <a:pt x="16" y="0"/>
                    </a:lnTo>
                    <a:lnTo>
                      <a:pt x="12" y="0"/>
                    </a:lnTo>
                    <a:lnTo>
                      <a:pt x="7" y="0"/>
                    </a:lnTo>
                    <a:lnTo>
                      <a:pt x="5" y="2"/>
                    </a:lnTo>
                    <a:lnTo>
                      <a:pt x="0" y="7"/>
                    </a:lnTo>
                    <a:lnTo>
                      <a:pt x="0" y="72"/>
                    </a:lnTo>
                    <a:lnTo>
                      <a:pt x="0" y="75"/>
                    </a:lnTo>
                    <a:lnTo>
                      <a:pt x="5" y="77"/>
                    </a:lnTo>
                    <a:lnTo>
                      <a:pt x="7" y="80"/>
                    </a:lnTo>
                    <a:lnTo>
                      <a:pt x="12" y="82"/>
                    </a:lnTo>
                    <a:lnTo>
                      <a:pt x="16" y="82"/>
                    </a:lnTo>
                    <a:lnTo>
                      <a:pt x="22" y="80"/>
                    </a:lnTo>
                    <a:lnTo>
                      <a:pt x="25" y="77"/>
                    </a:lnTo>
                    <a:lnTo>
                      <a:pt x="25" y="75"/>
                    </a:lnTo>
                    <a:lnTo>
                      <a:pt x="25" y="9"/>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151" name="任意多边形 14404">
                <a:extLst>
                  <a:ext uri="{FF2B5EF4-FFF2-40B4-BE49-F238E27FC236}">
                    <a16:creationId xmlns="" xmlns:a16="http://schemas.microsoft.com/office/drawing/2014/main" id="{0F94F5BB-F08A-33ED-7E39-624B4EC0C54E}"/>
                  </a:ext>
                </a:extLst>
              </p:cNvPr>
              <p:cNvSpPr>
                <a:spLocks noChangeArrowheads="1"/>
              </p:cNvSpPr>
              <p:nvPr/>
            </p:nvSpPr>
            <p:spPr bwMode="auto">
              <a:xfrm>
                <a:off x="2152" y="2280"/>
                <a:ext cx="10" cy="33"/>
              </a:xfrm>
              <a:custGeom>
                <a:avLst/>
                <a:gdLst>
                  <a:gd name="T0" fmla="*/ 25 w 25"/>
                  <a:gd name="T1" fmla="*/ 7 h 82"/>
                  <a:gd name="T2" fmla="*/ 25 w 25"/>
                  <a:gd name="T3" fmla="*/ 5 h 82"/>
                  <a:gd name="T4" fmla="*/ 25 w 25"/>
                  <a:gd name="T5" fmla="*/ 2 h 82"/>
                  <a:gd name="T6" fmla="*/ 22 w 25"/>
                  <a:gd name="T7" fmla="*/ 0 h 82"/>
                  <a:gd name="T8" fmla="*/ 16 w 25"/>
                  <a:gd name="T9" fmla="*/ 0 h 82"/>
                  <a:gd name="T10" fmla="*/ 12 w 25"/>
                  <a:gd name="T11" fmla="*/ 0 h 82"/>
                  <a:gd name="T12" fmla="*/ 7 w 25"/>
                  <a:gd name="T13" fmla="*/ 0 h 82"/>
                  <a:gd name="T14" fmla="*/ 5 w 25"/>
                  <a:gd name="T15" fmla="*/ 2 h 82"/>
                  <a:gd name="T16" fmla="*/ 0 w 25"/>
                  <a:gd name="T17" fmla="*/ 5 h 82"/>
                  <a:gd name="T18" fmla="*/ 0 w 25"/>
                  <a:gd name="T19" fmla="*/ 69 h 82"/>
                  <a:gd name="T20" fmla="*/ 0 w 25"/>
                  <a:gd name="T21" fmla="*/ 72 h 82"/>
                  <a:gd name="T22" fmla="*/ 5 w 25"/>
                  <a:gd name="T23" fmla="*/ 74 h 82"/>
                  <a:gd name="T24" fmla="*/ 7 w 25"/>
                  <a:gd name="T25" fmla="*/ 79 h 82"/>
                  <a:gd name="T26" fmla="*/ 12 w 25"/>
                  <a:gd name="T27" fmla="*/ 82 h 82"/>
                  <a:gd name="T28" fmla="*/ 16 w 25"/>
                  <a:gd name="T29" fmla="*/ 82 h 82"/>
                  <a:gd name="T30" fmla="*/ 22 w 25"/>
                  <a:gd name="T31" fmla="*/ 79 h 82"/>
                  <a:gd name="T32" fmla="*/ 25 w 25"/>
                  <a:gd name="T33" fmla="*/ 74 h 82"/>
                  <a:gd name="T34" fmla="*/ 25 w 25"/>
                  <a:gd name="T35" fmla="*/ 72 h 82"/>
                  <a:gd name="T36" fmla="*/ 25 w 25"/>
                  <a:gd name="T37" fmla="*/ 7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 h="82">
                    <a:moveTo>
                      <a:pt x="25" y="7"/>
                    </a:moveTo>
                    <a:lnTo>
                      <a:pt x="25" y="5"/>
                    </a:lnTo>
                    <a:lnTo>
                      <a:pt x="25" y="2"/>
                    </a:lnTo>
                    <a:lnTo>
                      <a:pt x="22" y="0"/>
                    </a:lnTo>
                    <a:lnTo>
                      <a:pt x="16" y="0"/>
                    </a:lnTo>
                    <a:lnTo>
                      <a:pt x="12" y="0"/>
                    </a:lnTo>
                    <a:lnTo>
                      <a:pt x="7" y="0"/>
                    </a:lnTo>
                    <a:lnTo>
                      <a:pt x="5" y="2"/>
                    </a:lnTo>
                    <a:lnTo>
                      <a:pt x="0" y="5"/>
                    </a:lnTo>
                    <a:lnTo>
                      <a:pt x="0" y="69"/>
                    </a:lnTo>
                    <a:lnTo>
                      <a:pt x="0" y="72"/>
                    </a:lnTo>
                    <a:lnTo>
                      <a:pt x="5" y="74"/>
                    </a:lnTo>
                    <a:lnTo>
                      <a:pt x="7" y="79"/>
                    </a:lnTo>
                    <a:lnTo>
                      <a:pt x="12" y="82"/>
                    </a:lnTo>
                    <a:lnTo>
                      <a:pt x="16" y="82"/>
                    </a:lnTo>
                    <a:lnTo>
                      <a:pt x="22" y="79"/>
                    </a:lnTo>
                    <a:lnTo>
                      <a:pt x="25" y="74"/>
                    </a:lnTo>
                    <a:lnTo>
                      <a:pt x="25" y="72"/>
                    </a:lnTo>
                    <a:lnTo>
                      <a:pt x="25" y="7"/>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152" name="任意多边形 14405">
                <a:extLst>
                  <a:ext uri="{FF2B5EF4-FFF2-40B4-BE49-F238E27FC236}">
                    <a16:creationId xmlns="" xmlns:a16="http://schemas.microsoft.com/office/drawing/2014/main" id="{C1DE369C-C0C7-56C4-7C2A-18E15D8874B1}"/>
                  </a:ext>
                </a:extLst>
              </p:cNvPr>
              <p:cNvSpPr>
                <a:spLocks noChangeArrowheads="1"/>
              </p:cNvSpPr>
              <p:nvPr/>
            </p:nvSpPr>
            <p:spPr bwMode="auto">
              <a:xfrm>
                <a:off x="2152" y="2326"/>
                <a:ext cx="10" cy="32"/>
              </a:xfrm>
              <a:custGeom>
                <a:avLst/>
                <a:gdLst>
                  <a:gd name="T0" fmla="*/ 25 w 25"/>
                  <a:gd name="T1" fmla="*/ 7 h 80"/>
                  <a:gd name="T2" fmla="*/ 25 w 25"/>
                  <a:gd name="T3" fmla="*/ 4 h 80"/>
                  <a:gd name="T4" fmla="*/ 25 w 25"/>
                  <a:gd name="T5" fmla="*/ 2 h 80"/>
                  <a:gd name="T6" fmla="*/ 22 w 25"/>
                  <a:gd name="T7" fmla="*/ 0 h 80"/>
                  <a:gd name="T8" fmla="*/ 16 w 25"/>
                  <a:gd name="T9" fmla="*/ 0 h 80"/>
                  <a:gd name="T10" fmla="*/ 12 w 25"/>
                  <a:gd name="T11" fmla="*/ 0 h 80"/>
                  <a:gd name="T12" fmla="*/ 7 w 25"/>
                  <a:gd name="T13" fmla="*/ 0 h 80"/>
                  <a:gd name="T14" fmla="*/ 5 w 25"/>
                  <a:gd name="T15" fmla="*/ 2 h 80"/>
                  <a:gd name="T16" fmla="*/ 0 w 25"/>
                  <a:gd name="T17" fmla="*/ 4 h 80"/>
                  <a:gd name="T18" fmla="*/ 0 w 25"/>
                  <a:gd name="T19" fmla="*/ 69 h 80"/>
                  <a:gd name="T20" fmla="*/ 0 w 25"/>
                  <a:gd name="T21" fmla="*/ 72 h 80"/>
                  <a:gd name="T22" fmla="*/ 5 w 25"/>
                  <a:gd name="T23" fmla="*/ 74 h 80"/>
                  <a:gd name="T24" fmla="*/ 7 w 25"/>
                  <a:gd name="T25" fmla="*/ 77 h 80"/>
                  <a:gd name="T26" fmla="*/ 12 w 25"/>
                  <a:gd name="T27" fmla="*/ 80 h 80"/>
                  <a:gd name="T28" fmla="*/ 16 w 25"/>
                  <a:gd name="T29" fmla="*/ 80 h 80"/>
                  <a:gd name="T30" fmla="*/ 22 w 25"/>
                  <a:gd name="T31" fmla="*/ 77 h 80"/>
                  <a:gd name="T32" fmla="*/ 25 w 25"/>
                  <a:gd name="T33" fmla="*/ 74 h 80"/>
                  <a:gd name="T34" fmla="*/ 25 w 25"/>
                  <a:gd name="T35" fmla="*/ 72 h 80"/>
                  <a:gd name="T36" fmla="*/ 25 w 25"/>
                  <a:gd name="T37" fmla="*/ 7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 h="80">
                    <a:moveTo>
                      <a:pt x="25" y="7"/>
                    </a:moveTo>
                    <a:lnTo>
                      <a:pt x="25" y="4"/>
                    </a:lnTo>
                    <a:lnTo>
                      <a:pt x="25" y="2"/>
                    </a:lnTo>
                    <a:lnTo>
                      <a:pt x="22" y="0"/>
                    </a:lnTo>
                    <a:lnTo>
                      <a:pt x="16" y="0"/>
                    </a:lnTo>
                    <a:lnTo>
                      <a:pt x="12" y="0"/>
                    </a:lnTo>
                    <a:lnTo>
                      <a:pt x="7" y="0"/>
                    </a:lnTo>
                    <a:lnTo>
                      <a:pt x="5" y="2"/>
                    </a:lnTo>
                    <a:lnTo>
                      <a:pt x="0" y="4"/>
                    </a:lnTo>
                    <a:lnTo>
                      <a:pt x="0" y="69"/>
                    </a:lnTo>
                    <a:lnTo>
                      <a:pt x="0" y="72"/>
                    </a:lnTo>
                    <a:lnTo>
                      <a:pt x="5" y="74"/>
                    </a:lnTo>
                    <a:lnTo>
                      <a:pt x="7" y="77"/>
                    </a:lnTo>
                    <a:lnTo>
                      <a:pt x="12" y="80"/>
                    </a:lnTo>
                    <a:lnTo>
                      <a:pt x="16" y="80"/>
                    </a:lnTo>
                    <a:lnTo>
                      <a:pt x="22" y="77"/>
                    </a:lnTo>
                    <a:lnTo>
                      <a:pt x="25" y="74"/>
                    </a:lnTo>
                    <a:lnTo>
                      <a:pt x="25" y="72"/>
                    </a:lnTo>
                    <a:lnTo>
                      <a:pt x="25" y="7"/>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153" name="任意多边形 14406">
                <a:extLst>
                  <a:ext uri="{FF2B5EF4-FFF2-40B4-BE49-F238E27FC236}">
                    <a16:creationId xmlns="" xmlns:a16="http://schemas.microsoft.com/office/drawing/2014/main" id="{4357F8FB-B022-BF70-6705-48B16525DA3B}"/>
                  </a:ext>
                </a:extLst>
              </p:cNvPr>
              <p:cNvSpPr>
                <a:spLocks noChangeArrowheads="1"/>
              </p:cNvSpPr>
              <p:nvPr/>
            </p:nvSpPr>
            <p:spPr bwMode="auto">
              <a:xfrm>
                <a:off x="2152" y="2371"/>
                <a:ext cx="10" cy="33"/>
              </a:xfrm>
              <a:custGeom>
                <a:avLst/>
                <a:gdLst>
                  <a:gd name="T0" fmla="*/ 25 w 25"/>
                  <a:gd name="T1" fmla="*/ 10 h 82"/>
                  <a:gd name="T2" fmla="*/ 25 w 25"/>
                  <a:gd name="T3" fmla="*/ 7 h 82"/>
                  <a:gd name="T4" fmla="*/ 25 w 25"/>
                  <a:gd name="T5" fmla="*/ 2 h 82"/>
                  <a:gd name="T6" fmla="*/ 22 w 25"/>
                  <a:gd name="T7" fmla="*/ 0 h 82"/>
                  <a:gd name="T8" fmla="*/ 16 w 25"/>
                  <a:gd name="T9" fmla="*/ 0 h 82"/>
                  <a:gd name="T10" fmla="*/ 12 w 25"/>
                  <a:gd name="T11" fmla="*/ 0 h 82"/>
                  <a:gd name="T12" fmla="*/ 7 w 25"/>
                  <a:gd name="T13" fmla="*/ 0 h 82"/>
                  <a:gd name="T14" fmla="*/ 5 w 25"/>
                  <a:gd name="T15" fmla="*/ 2 h 82"/>
                  <a:gd name="T16" fmla="*/ 0 w 25"/>
                  <a:gd name="T17" fmla="*/ 7 h 82"/>
                  <a:gd name="T18" fmla="*/ 0 w 25"/>
                  <a:gd name="T19" fmla="*/ 72 h 82"/>
                  <a:gd name="T20" fmla="*/ 0 w 25"/>
                  <a:gd name="T21" fmla="*/ 75 h 82"/>
                  <a:gd name="T22" fmla="*/ 5 w 25"/>
                  <a:gd name="T23" fmla="*/ 77 h 82"/>
                  <a:gd name="T24" fmla="*/ 7 w 25"/>
                  <a:gd name="T25" fmla="*/ 79 h 82"/>
                  <a:gd name="T26" fmla="*/ 12 w 25"/>
                  <a:gd name="T27" fmla="*/ 82 h 82"/>
                  <a:gd name="T28" fmla="*/ 16 w 25"/>
                  <a:gd name="T29" fmla="*/ 82 h 82"/>
                  <a:gd name="T30" fmla="*/ 22 w 25"/>
                  <a:gd name="T31" fmla="*/ 79 h 82"/>
                  <a:gd name="T32" fmla="*/ 25 w 25"/>
                  <a:gd name="T33" fmla="*/ 77 h 82"/>
                  <a:gd name="T34" fmla="*/ 25 w 25"/>
                  <a:gd name="T35" fmla="*/ 75 h 82"/>
                  <a:gd name="T36" fmla="*/ 25 w 25"/>
                  <a:gd name="T37" fmla="*/ 10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 h="82">
                    <a:moveTo>
                      <a:pt x="25" y="10"/>
                    </a:moveTo>
                    <a:lnTo>
                      <a:pt x="25" y="7"/>
                    </a:lnTo>
                    <a:lnTo>
                      <a:pt x="25" y="2"/>
                    </a:lnTo>
                    <a:lnTo>
                      <a:pt x="22" y="0"/>
                    </a:lnTo>
                    <a:lnTo>
                      <a:pt x="16" y="0"/>
                    </a:lnTo>
                    <a:lnTo>
                      <a:pt x="12" y="0"/>
                    </a:lnTo>
                    <a:lnTo>
                      <a:pt x="7" y="0"/>
                    </a:lnTo>
                    <a:lnTo>
                      <a:pt x="5" y="2"/>
                    </a:lnTo>
                    <a:lnTo>
                      <a:pt x="0" y="7"/>
                    </a:lnTo>
                    <a:lnTo>
                      <a:pt x="0" y="72"/>
                    </a:lnTo>
                    <a:lnTo>
                      <a:pt x="0" y="75"/>
                    </a:lnTo>
                    <a:lnTo>
                      <a:pt x="5" y="77"/>
                    </a:lnTo>
                    <a:lnTo>
                      <a:pt x="7" y="79"/>
                    </a:lnTo>
                    <a:lnTo>
                      <a:pt x="12" y="82"/>
                    </a:lnTo>
                    <a:lnTo>
                      <a:pt x="16" y="82"/>
                    </a:lnTo>
                    <a:lnTo>
                      <a:pt x="22" y="79"/>
                    </a:lnTo>
                    <a:lnTo>
                      <a:pt x="25" y="77"/>
                    </a:lnTo>
                    <a:lnTo>
                      <a:pt x="25" y="75"/>
                    </a:lnTo>
                    <a:lnTo>
                      <a:pt x="25" y="10"/>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154" name="任意多边形 14407">
                <a:extLst>
                  <a:ext uri="{FF2B5EF4-FFF2-40B4-BE49-F238E27FC236}">
                    <a16:creationId xmlns="" xmlns:a16="http://schemas.microsoft.com/office/drawing/2014/main" id="{AB8B8CE5-7B89-2D29-259E-DC5BD50C9977}"/>
                  </a:ext>
                </a:extLst>
              </p:cNvPr>
              <p:cNvSpPr>
                <a:spLocks noChangeArrowheads="1"/>
              </p:cNvSpPr>
              <p:nvPr/>
            </p:nvSpPr>
            <p:spPr bwMode="auto">
              <a:xfrm>
                <a:off x="2152" y="2417"/>
                <a:ext cx="10" cy="33"/>
              </a:xfrm>
              <a:custGeom>
                <a:avLst/>
                <a:gdLst>
                  <a:gd name="T0" fmla="*/ 25 w 25"/>
                  <a:gd name="T1" fmla="*/ 7 h 82"/>
                  <a:gd name="T2" fmla="*/ 25 w 25"/>
                  <a:gd name="T3" fmla="*/ 4 h 82"/>
                  <a:gd name="T4" fmla="*/ 25 w 25"/>
                  <a:gd name="T5" fmla="*/ 2 h 82"/>
                  <a:gd name="T6" fmla="*/ 22 w 25"/>
                  <a:gd name="T7" fmla="*/ 0 h 82"/>
                  <a:gd name="T8" fmla="*/ 16 w 25"/>
                  <a:gd name="T9" fmla="*/ 0 h 82"/>
                  <a:gd name="T10" fmla="*/ 12 w 25"/>
                  <a:gd name="T11" fmla="*/ 0 h 82"/>
                  <a:gd name="T12" fmla="*/ 7 w 25"/>
                  <a:gd name="T13" fmla="*/ 0 h 82"/>
                  <a:gd name="T14" fmla="*/ 5 w 25"/>
                  <a:gd name="T15" fmla="*/ 2 h 82"/>
                  <a:gd name="T16" fmla="*/ 0 w 25"/>
                  <a:gd name="T17" fmla="*/ 4 h 82"/>
                  <a:gd name="T18" fmla="*/ 0 w 25"/>
                  <a:gd name="T19" fmla="*/ 69 h 82"/>
                  <a:gd name="T20" fmla="*/ 0 w 25"/>
                  <a:gd name="T21" fmla="*/ 72 h 82"/>
                  <a:gd name="T22" fmla="*/ 5 w 25"/>
                  <a:gd name="T23" fmla="*/ 75 h 82"/>
                  <a:gd name="T24" fmla="*/ 7 w 25"/>
                  <a:gd name="T25" fmla="*/ 79 h 82"/>
                  <a:gd name="T26" fmla="*/ 12 w 25"/>
                  <a:gd name="T27" fmla="*/ 82 h 82"/>
                  <a:gd name="T28" fmla="*/ 16 w 25"/>
                  <a:gd name="T29" fmla="*/ 82 h 82"/>
                  <a:gd name="T30" fmla="*/ 22 w 25"/>
                  <a:gd name="T31" fmla="*/ 79 h 82"/>
                  <a:gd name="T32" fmla="*/ 25 w 25"/>
                  <a:gd name="T33" fmla="*/ 75 h 82"/>
                  <a:gd name="T34" fmla="*/ 25 w 25"/>
                  <a:gd name="T35" fmla="*/ 72 h 82"/>
                  <a:gd name="T36" fmla="*/ 25 w 25"/>
                  <a:gd name="T37" fmla="*/ 7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 h="82">
                    <a:moveTo>
                      <a:pt x="25" y="7"/>
                    </a:moveTo>
                    <a:lnTo>
                      <a:pt x="25" y="4"/>
                    </a:lnTo>
                    <a:lnTo>
                      <a:pt x="25" y="2"/>
                    </a:lnTo>
                    <a:lnTo>
                      <a:pt x="22" y="0"/>
                    </a:lnTo>
                    <a:lnTo>
                      <a:pt x="16" y="0"/>
                    </a:lnTo>
                    <a:lnTo>
                      <a:pt x="12" y="0"/>
                    </a:lnTo>
                    <a:lnTo>
                      <a:pt x="7" y="0"/>
                    </a:lnTo>
                    <a:lnTo>
                      <a:pt x="5" y="2"/>
                    </a:lnTo>
                    <a:lnTo>
                      <a:pt x="0" y="4"/>
                    </a:lnTo>
                    <a:lnTo>
                      <a:pt x="0" y="69"/>
                    </a:lnTo>
                    <a:lnTo>
                      <a:pt x="0" y="72"/>
                    </a:lnTo>
                    <a:lnTo>
                      <a:pt x="5" y="75"/>
                    </a:lnTo>
                    <a:lnTo>
                      <a:pt x="7" y="79"/>
                    </a:lnTo>
                    <a:lnTo>
                      <a:pt x="12" y="82"/>
                    </a:lnTo>
                    <a:lnTo>
                      <a:pt x="16" y="82"/>
                    </a:lnTo>
                    <a:lnTo>
                      <a:pt x="22" y="79"/>
                    </a:lnTo>
                    <a:lnTo>
                      <a:pt x="25" y="75"/>
                    </a:lnTo>
                    <a:lnTo>
                      <a:pt x="25" y="72"/>
                    </a:lnTo>
                    <a:lnTo>
                      <a:pt x="25" y="7"/>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155" name="任意多边形 14408">
                <a:extLst>
                  <a:ext uri="{FF2B5EF4-FFF2-40B4-BE49-F238E27FC236}">
                    <a16:creationId xmlns="" xmlns:a16="http://schemas.microsoft.com/office/drawing/2014/main" id="{4EE4F83F-F0FE-3FE7-549F-620D64E6805F}"/>
                  </a:ext>
                </a:extLst>
              </p:cNvPr>
              <p:cNvSpPr>
                <a:spLocks noChangeArrowheads="1"/>
              </p:cNvSpPr>
              <p:nvPr/>
            </p:nvSpPr>
            <p:spPr bwMode="auto">
              <a:xfrm>
                <a:off x="2152" y="2463"/>
                <a:ext cx="10" cy="32"/>
              </a:xfrm>
              <a:custGeom>
                <a:avLst/>
                <a:gdLst>
                  <a:gd name="T0" fmla="*/ 25 w 25"/>
                  <a:gd name="T1" fmla="*/ 7 h 80"/>
                  <a:gd name="T2" fmla="*/ 25 w 25"/>
                  <a:gd name="T3" fmla="*/ 4 h 80"/>
                  <a:gd name="T4" fmla="*/ 25 w 25"/>
                  <a:gd name="T5" fmla="*/ 2 h 80"/>
                  <a:gd name="T6" fmla="*/ 22 w 25"/>
                  <a:gd name="T7" fmla="*/ 0 h 80"/>
                  <a:gd name="T8" fmla="*/ 16 w 25"/>
                  <a:gd name="T9" fmla="*/ 0 h 80"/>
                  <a:gd name="T10" fmla="*/ 12 w 25"/>
                  <a:gd name="T11" fmla="*/ 0 h 80"/>
                  <a:gd name="T12" fmla="*/ 7 w 25"/>
                  <a:gd name="T13" fmla="*/ 0 h 80"/>
                  <a:gd name="T14" fmla="*/ 5 w 25"/>
                  <a:gd name="T15" fmla="*/ 2 h 80"/>
                  <a:gd name="T16" fmla="*/ 0 w 25"/>
                  <a:gd name="T17" fmla="*/ 4 h 80"/>
                  <a:gd name="T18" fmla="*/ 0 w 25"/>
                  <a:gd name="T19" fmla="*/ 69 h 80"/>
                  <a:gd name="T20" fmla="*/ 0 w 25"/>
                  <a:gd name="T21" fmla="*/ 72 h 80"/>
                  <a:gd name="T22" fmla="*/ 5 w 25"/>
                  <a:gd name="T23" fmla="*/ 74 h 80"/>
                  <a:gd name="T24" fmla="*/ 7 w 25"/>
                  <a:gd name="T25" fmla="*/ 77 h 80"/>
                  <a:gd name="T26" fmla="*/ 12 w 25"/>
                  <a:gd name="T27" fmla="*/ 80 h 80"/>
                  <a:gd name="T28" fmla="*/ 16 w 25"/>
                  <a:gd name="T29" fmla="*/ 80 h 80"/>
                  <a:gd name="T30" fmla="*/ 22 w 25"/>
                  <a:gd name="T31" fmla="*/ 77 h 80"/>
                  <a:gd name="T32" fmla="*/ 25 w 25"/>
                  <a:gd name="T33" fmla="*/ 74 h 80"/>
                  <a:gd name="T34" fmla="*/ 25 w 25"/>
                  <a:gd name="T35" fmla="*/ 72 h 80"/>
                  <a:gd name="T36" fmla="*/ 25 w 25"/>
                  <a:gd name="T37" fmla="*/ 7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 h="80">
                    <a:moveTo>
                      <a:pt x="25" y="7"/>
                    </a:moveTo>
                    <a:lnTo>
                      <a:pt x="25" y="4"/>
                    </a:lnTo>
                    <a:lnTo>
                      <a:pt x="25" y="2"/>
                    </a:lnTo>
                    <a:lnTo>
                      <a:pt x="22" y="0"/>
                    </a:lnTo>
                    <a:lnTo>
                      <a:pt x="16" y="0"/>
                    </a:lnTo>
                    <a:lnTo>
                      <a:pt x="12" y="0"/>
                    </a:lnTo>
                    <a:lnTo>
                      <a:pt x="7" y="0"/>
                    </a:lnTo>
                    <a:lnTo>
                      <a:pt x="5" y="2"/>
                    </a:lnTo>
                    <a:lnTo>
                      <a:pt x="0" y="4"/>
                    </a:lnTo>
                    <a:lnTo>
                      <a:pt x="0" y="69"/>
                    </a:lnTo>
                    <a:lnTo>
                      <a:pt x="0" y="72"/>
                    </a:lnTo>
                    <a:lnTo>
                      <a:pt x="5" y="74"/>
                    </a:lnTo>
                    <a:lnTo>
                      <a:pt x="7" y="77"/>
                    </a:lnTo>
                    <a:lnTo>
                      <a:pt x="12" y="80"/>
                    </a:lnTo>
                    <a:lnTo>
                      <a:pt x="16" y="80"/>
                    </a:lnTo>
                    <a:lnTo>
                      <a:pt x="22" y="77"/>
                    </a:lnTo>
                    <a:lnTo>
                      <a:pt x="25" y="74"/>
                    </a:lnTo>
                    <a:lnTo>
                      <a:pt x="25" y="72"/>
                    </a:lnTo>
                    <a:lnTo>
                      <a:pt x="25" y="7"/>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156" name="任意多边形 14409">
                <a:extLst>
                  <a:ext uri="{FF2B5EF4-FFF2-40B4-BE49-F238E27FC236}">
                    <a16:creationId xmlns="" xmlns:a16="http://schemas.microsoft.com/office/drawing/2014/main" id="{D76287FD-3011-2D99-998B-29F7977876C9}"/>
                  </a:ext>
                </a:extLst>
              </p:cNvPr>
              <p:cNvSpPr>
                <a:spLocks noChangeArrowheads="1"/>
              </p:cNvSpPr>
              <p:nvPr/>
            </p:nvSpPr>
            <p:spPr bwMode="auto">
              <a:xfrm>
                <a:off x="2152" y="2508"/>
                <a:ext cx="10" cy="33"/>
              </a:xfrm>
              <a:custGeom>
                <a:avLst/>
                <a:gdLst>
                  <a:gd name="T0" fmla="*/ 25 w 25"/>
                  <a:gd name="T1" fmla="*/ 10 h 82"/>
                  <a:gd name="T2" fmla="*/ 25 w 25"/>
                  <a:gd name="T3" fmla="*/ 7 h 82"/>
                  <a:gd name="T4" fmla="*/ 25 w 25"/>
                  <a:gd name="T5" fmla="*/ 2 h 82"/>
                  <a:gd name="T6" fmla="*/ 22 w 25"/>
                  <a:gd name="T7" fmla="*/ 0 h 82"/>
                  <a:gd name="T8" fmla="*/ 16 w 25"/>
                  <a:gd name="T9" fmla="*/ 0 h 82"/>
                  <a:gd name="T10" fmla="*/ 12 w 25"/>
                  <a:gd name="T11" fmla="*/ 0 h 82"/>
                  <a:gd name="T12" fmla="*/ 7 w 25"/>
                  <a:gd name="T13" fmla="*/ 0 h 82"/>
                  <a:gd name="T14" fmla="*/ 5 w 25"/>
                  <a:gd name="T15" fmla="*/ 2 h 82"/>
                  <a:gd name="T16" fmla="*/ 0 w 25"/>
                  <a:gd name="T17" fmla="*/ 7 h 82"/>
                  <a:gd name="T18" fmla="*/ 0 w 25"/>
                  <a:gd name="T19" fmla="*/ 72 h 82"/>
                  <a:gd name="T20" fmla="*/ 0 w 25"/>
                  <a:gd name="T21" fmla="*/ 75 h 82"/>
                  <a:gd name="T22" fmla="*/ 5 w 25"/>
                  <a:gd name="T23" fmla="*/ 77 h 82"/>
                  <a:gd name="T24" fmla="*/ 7 w 25"/>
                  <a:gd name="T25" fmla="*/ 79 h 82"/>
                  <a:gd name="T26" fmla="*/ 12 w 25"/>
                  <a:gd name="T27" fmla="*/ 82 h 82"/>
                  <a:gd name="T28" fmla="*/ 16 w 25"/>
                  <a:gd name="T29" fmla="*/ 82 h 82"/>
                  <a:gd name="T30" fmla="*/ 22 w 25"/>
                  <a:gd name="T31" fmla="*/ 79 h 82"/>
                  <a:gd name="T32" fmla="*/ 25 w 25"/>
                  <a:gd name="T33" fmla="*/ 77 h 82"/>
                  <a:gd name="T34" fmla="*/ 25 w 25"/>
                  <a:gd name="T35" fmla="*/ 75 h 82"/>
                  <a:gd name="T36" fmla="*/ 25 w 25"/>
                  <a:gd name="T37" fmla="*/ 10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 h="82">
                    <a:moveTo>
                      <a:pt x="25" y="10"/>
                    </a:moveTo>
                    <a:lnTo>
                      <a:pt x="25" y="7"/>
                    </a:lnTo>
                    <a:lnTo>
                      <a:pt x="25" y="2"/>
                    </a:lnTo>
                    <a:lnTo>
                      <a:pt x="22" y="0"/>
                    </a:lnTo>
                    <a:lnTo>
                      <a:pt x="16" y="0"/>
                    </a:lnTo>
                    <a:lnTo>
                      <a:pt x="12" y="0"/>
                    </a:lnTo>
                    <a:lnTo>
                      <a:pt x="7" y="0"/>
                    </a:lnTo>
                    <a:lnTo>
                      <a:pt x="5" y="2"/>
                    </a:lnTo>
                    <a:lnTo>
                      <a:pt x="0" y="7"/>
                    </a:lnTo>
                    <a:lnTo>
                      <a:pt x="0" y="72"/>
                    </a:lnTo>
                    <a:lnTo>
                      <a:pt x="0" y="75"/>
                    </a:lnTo>
                    <a:lnTo>
                      <a:pt x="5" y="77"/>
                    </a:lnTo>
                    <a:lnTo>
                      <a:pt x="7" y="79"/>
                    </a:lnTo>
                    <a:lnTo>
                      <a:pt x="12" y="82"/>
                    </a:lnTo>
                    <a:lnTo>
                      <a:pt x="16" y="82"/>
                    </a:lnTo>
                    <a:lnTo>
                      <a:pt x="22" y="79"/>
                    </a:lnTo>
                    <a:lnTo>
                      <a:pt x="25" y="77"/>
                    </a:lnTo>
                    <a:lnTo>
                      <a:pt x="25" y="75"/>
                    </a:lnTo>
                    <a:lnTo>
                      <a:pt x="25" y="10"/>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157" name="任意多边形 14410">
                <a:extLst>
                  <a:ext uri="{FF2B5EF4-FFF2-40B4-BE49-F238E27FC236}">
                    <a16:creationId xmlns="" xmlns:a16="http://schemas.microsoft.com/office/drawing/2014/main" id="{87361868-3F79-F409-E90A-01A341BB182D}"/>
                  </a:ext>
                </a:extLst>
              </p:cNvPr>
              <p:cNvSpPr>
                <a:spLocks noChangeArrowheads="1"/>
              </p:cNvSpPr>
              <p:nvPr/>
            </p:nvSpPr>
            <p:spPr bwMode="auto">
              <a:xfrm>
                <a:off x="2152" y="2554"/>
                <a:ext cx="10" cy="33"/>
              </a:xfrm>
              <a:custGeom>
                <a:avLst/>
                <a:gdLst>
                  <a:gd name="T0" fmla="*/ 25 w 25"/>
                  <a:gd name="T1" fmla="*/ 7 h 82"/>
                  <a:gd name="T2" fmla="*/ 25 w 25"/>
                  <a:gd name="T3" fmla="*/ 4 h 82"/>
                  <a:gd name="T4" fmla="*/ 25 w 25"/>
                  <a:gd name="T5" fmla="*/ 2 h 82"/>
                  <a:gd name="T6" fmla="*/ 22 w 25"/>
                  <a:gd name="T7" fmla="*/ 0 h 82"/>
                  <a:gd name="T8" fmla="*/ 16 w 25"/>
                  <a:gd name="T9" fmla="*/ 0 h 82"/>
                  <a:gd name="T10" fmla="*/ 12 w 25"/>
                  <a:gd name="T11" fmla="*/ 0 h 82"/>
                  <a:gd name="T12" fmla="*/ 7 w 25"/>
                  <a:gd name="T13" fmla="*/ 0 h 82"/>
                  <a:gd name="T14" fmla="*/ 5 w 25"/>
                  <a:gd name="T15" fmla="*/ 2 h 82"/>
                  <a:gd name="T16" fmla="*/ 0 w 25"/>
                  <a:gd name="T17" fmla="*/ 4 h 82"/>
                  <a:gd name="T18" fmla="*/ 0 w 25"/>
                  <a:gd name="T19" fmla="*/ 69 h 82"/>
                  <a:gd name="T20" fmla="*/ 0 w 25"/>
                  <a:gd name="T21" fmla="*/ 72 h 82"/>
                  <a:gd name="T22" fmla="*/ 5 w 25"/>
                  <a:gd name="T23" fmla="*/ 75 h 82"/>
                  <a:gd name="T24" fmla="*/ 7 w 25"/>
                  <a:gd name="T25" fmla="*/ 79 h 82"/>
                  <a:gd name="T26" fmla="*/ 12 w 25"/>
                  <a:gd name="T27" fmla="*/ 82 h 82"/>
                  <a:gd name="T28" fmla="*/ 16 w 25"/>
                  <a:gd name="T29" fmla="*/ 82 h 82"/>
                  <a:gd name="T30" fmla="*/ 22 w 25"/>
                  <a:gd name="T31" fmla="*/ 79 h 82"/>
                  <a:gd name="T32" fmla="*/ 25 w 25"/>
                  <a:gd name="T33" fmla="*/ 75 h 82"/>
                  <a:gd name="T34" fmla="*/ 25 w 25"/>
                  <a:gd name="T35" fmla="*/ 72 h 82"/>
                  <a:gd name="T36" fmla="*/ 25 w 25"/>
                  <a:gd name="T37" fmla="*/ 7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 h="82">
                    <a:moveTo>
                      <a:pt x="25" y="7"/>
                    </a:moveTo>
                    <a:lnTo>
                      <a:pt x="25" y="4"/>
                    </a:lnTo>
                    <a:lnTo>
                      <a:pt x="25" y="2"/>
                    </a:lnTo>
                    <a:lnTo>
                      <a:pt x="22" y="0"/>
                    </a:lnTo>
                    <a:lnTo>
                      <a:pt x="16" y="0"/>
                    </a:lnTo>
                    <a:lnTo>
                      <a:pt x="12" y="0"/>
                    </a:lnTo>
                    <a:lnTo>
                      <a:pt x="7" y="0"/>
                    </a:lnTo>
                    <a:lnTo>
                      <a:pt x="5" y="2"/>
                    </a:lnTo>
                    <a:lnTo>
                      <a:pt x="0" y="4"/>
                    </a:lnTo>
                    <a:lnTo>
                      <a:pt x="0" y="69"/>
                    </a:lnTo>
                    <a:lnTo>
                      <a:pt x="0" y="72"/>
                    </a:lnTo>
                    <a:lnTo>
                      <a:pt x="5" y="75"/>
                    </a:lnTo>
                    <a:lnTo>
                      <a:pt x="7" y="79"/>
                    </a:lnTo>
                    <a:lnTo>
                      <a:pt x="12" y="82"/>
                    </a:lnTo>
                    <a:lnTo>
                      <a:pt x="16" y="82"/>
                    </a:lnTo>
                    <a:lnTo>
                      <a:pt x="22" y="79"/>
                    </a:lnTo>
                    <a:lnTo>
                      <a:pt x="25" y="75"/>
                    </a:lnTo>
                    <a:lnTo>
                      <a:pt x="25" y="72"/>
                    </a:lnTo>
                    <a:lnTo>
                      <a:pt x="25" y="7"/>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158" name="任意多边形 14411">
                <a:extLst>
                  <a:ext uri="{FF2B5EF4-FFF2-40B4-BE49-F238E27FC236}">
                    <a16:creationId xmlns="" xmlns:a16="http://schemas.microsoft.com/office/drawing/2014/main" id="{BE545658-A410-6937-35F3-D3D061DD9CBE}"/>
                  </a:ext>
                </a:extLst>
              </p:cNvPr>
              <p:cNvSpPr>
                <a:spLocks noChangeArrowheads="1"/>
              </p:cNvSpPr>
              <p:nvPr/>
            </p:nvSpPr>
            <p:spPr bwMode="auto">
              <a:xfrm>
                <a:off x="2152" y="2600"/>
                <a:ext cx="10" cy="32"/>
              </a:xfrm>
              <a:custGeom>
                <a:avLst/>
                <a:gdLst>
                  <a:gd name="T0" fmla="*/ 25 w 25"/>
                  <a:gd name="T1" fmla="*/ 7 h 79"/>
                  <a:gd name="T2" fmla="*/ 25 w 25"/>
                  <a:gd name="T3" fmla="*/ 4 h 79"/>
                  <a:gd name="T4" fmla="*/ 25 w 25"/>
                  <a:gd name="T5" fmla="*/ 2 h 79"/>
                  <a:gd name="T6" fmla="*/ 22 w 25"/>
                  <a:gd name="T7" fmla="*/ 0 h 79"/>
                  <a:gd name="T8" fmla="*/ 16 w 25"/>
                  <a:gd name="T9" fmla="*/ 0 h 79"/>
                  <a:gd name="T10" fmla="*/ 12 w 25"/>
                  <a:gd name="T11" fmla="*/ 0 h 79"/>
                  <a:gd name="T12" fmla="*/ 7 w 25"/>
                  <a:gd name="T13" fmla="*/ 0 h 79"/>
                  <a:gd name="T14" fmla="*/ 5 w 25"/>
                  <a:gd name="T15" fmla="*/ 2 h 79"/>
                  <a:gd name="T16" fmla="*/ 0 w 25"/>
                  <a:gd name="T17" fmla="*/ 4 h 79"/>
                  <a:gd name="T18" fmla="*/ 0 w 25"/>
                  <a:gd name="T19" fmla="*/ 69 h 79"/>
                  <a:gd name="T20" fmla="*/ 0 w 25"/>
                  <a:gd name="T21" fmla="*/ 72 h 79"/>
                  <a:gd name="T22" fmla="*/ 5 w 25"/>
                  <a:gd name="T23" fmla="*/ 74 h 79"/>
                  <a:gd name="T24" fmla="*/ 7 w 25"/>
                  <a:gd name="T25" fmla="*/ 77 h 79"/>
                  <a:gd name="T26" fmla="*/ 12 w 25"/>
                  <a:gd name="T27" fmla="*/ 79 h 79"/>
                  <a:gd name="T28" fmla="*/ 16 w 25"/>
                  <a:gd name="T29" fmla="*/ 79 h 79"/>
                  <a:gd name="T30" fmla="*/ 22 w 25"/>
                  <a:gd name="T31" fmla="*/ 77 h 79"/>
                  <a:gd name="T32" fmla="*/ 25 w 25"/>
                  <a:gd name="T33" fmla="*/ 74 h 79"/>
                  <a:gd name="T34" fmla="*/ 25 w 25"/>
                  <a:gd name="T35" fmla="*/ 72 h 79"/>
                  <a:gd name="T36" fmla="*/ 25 w 25"/>
                  <a:gd name="T37" fmla="*/ 7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 h="79">
                    <a:moveTo>
                      <a:pt x="25" y="7"/>
                    </a:moveTo>
                    <a:lnTo>
                      <a:pt x="25" y="4"/>
                    </a:lnTo>
                    <a:lnTo>
                      <a:pt x="25" y="2"/>
                    </a:lnTo>
                    <a:lnTo>
                      <a:pt x="22" y="0"/>
                    </a:lnTo>
                    <a:lnTo>
                      <a:pt x="16" y="0"/>
                    </a:lnTo>
                    <a:lnTo>
                      <a:pt x="12" y="0"/>
                    </a:lnTo>
                    <a:lnTo>
                      <a:pt x="7" y="0"/>
                    </a:lnTo>
                    <a:lnTo>
                      <a:pt x="5" y="2"/>
                    </a:lnTo>
                    <a:lnTo>
                      <a:pt x="0" y="4"/>
                    </a:lnTo>
                    <a:lnTo>
                      <a:pt x="0" y="69"/>
                    </a:lnTo>
                    <a:lnTo>
                      <a:pt x="0" y="72"/>
                    </a:lnTo>
                    <a:lnTo>
                      <a:pt x="5" y="74"/>
                    </a:lnTo>
                    <a:lnTo>
                      <a:pt x="7" y="77"/>
                    </a:lnTo>
                    <a:lnTo>
                      <a:pt x="12" y="79"/>
                    </a:lnTo>
                    <a:lnTo>
                      <a:pt x="16" y="79"/>
                    </a:lnTo>
                    <a:lnTo>
                      <a:pt x="22" y="77"/>
                    </a:lnTo>
                    <a:lnTo>
                      <a:pt x="25" y="74"/>
                    </a:lnTo>
                    <a:lnTo>
                      <a:pt x="25" y="72"/>
                    </a:lnTo>
                    <a:lnTo>
                      <a:pt x="25" y="7"/>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159" name="任意多边形 14412">
                <a:extLst>
                  <a:ext uri="{FF2B5EF4-FFF2-40B4-BE49-F238E27FC236}">
                    <a16:creationId xmlns="" xmlns:a16="http://schemas.microsoft.com/office/drawing/2014/main" id="{D050949B-6A2F-2C39-17EE-84709658F7A4}"/>
                  </a:ext>
                </a:extLst>
              </p:cNvPr>
              <p:cNvSpPr>
                <a:spLocks noChangeArrowheads="1"/>
              </p:cNvSpPr>
              <p:nvPr/>
            </p:nvSpPr>
            <p:spPr bwMode="auto">
              <a:xfrm>
                <a:off x="2152" y="2645"/>
                <a:ext cx="10" cy="33"/>
              </a:xfrm>
              <a:custGeom>
                <a:avLst/>
                <a:gdLst>
                  <a:gd name="T0" fmla="*/ 25 w 25"/>
                  <a:gd name="T1" fmla="*/ 10 h 82"/>
                  <a:gd name="T2" fmla="*/ 25 w 25"/>
                  <a:gd name="T3" fmla="*/ 7 h 82"/>
                  <a:gd name="T4" fmla="*/ 25 w 25"/>
                  <a:gd name="T5" fmla="*/ 2 h 82"/>
                  <a:gd name="T6" fmla="*/ 22 w 25"/>
                  <a:gd name="T7" fmla="*/ 0 h 82"/>
                  <a:gd name="T8" fmla="*/ 16 w 25"/>
                  <a:gd name="T9" fmla="*/ 0 h 82"/>
                  <a:gd name="T10" fmla="*/ 12 w 25"/>
                  <a:gd name="T11" fmla="*/ 0 h 82"/>
                  <a:gd name="T12" fmla="*/ 7 w 25"/>
                  <a:gd name="T13" fmla="*/ 0 h 82"/>
                  <a:gd name="T14" fmla="*/ 5 w 25"/>
                  <a:gd name="T15" fmla="*/ 2 h 82"/>
                  <a:gd name="T16" fmla="*/ 0 w 25"/>
                  <a:gd name="T17" fmla="*/ 7 h 82"/>
                  <a:gd name="T18" fmla="*/ 0 w 25"/>
                  <a:gd name="T19" fmla="*/ 72 h 82"/>
                  <a:gd name="T20" fmla="*/ 0 w 25"/>
                  <a:gd name="T21" fmla="*/ 75 h 82"/>
                  <a:gd name="T22" fmla="*/ 5 w 25"/>
                  <a:gd name="T23" fmla="*/ 77 h 82"/>
                  <a:gd name="T24" fmla="*/ 7 w 25"/>
                  <a:gd name="T25" fmla="*/ 79 h 82"/>
                  <a:gd name="T26" fmla="*/ 12 w 25"/>
                  <a:gd name="T27" fmla="*/ 82 h 82"/>
                  <a:gd name="T28" fmla="*/ 16 w 25"/>
                  <a:gd name="T29" fmla="*/ 82 h 82"/>
                  <a:gd name="T30" fmla="*/ 22 w 25"/>
                  <a:gd name="T31" fmla="*/ 79 h 82"/>
                  <a:gd name="T32" fmla="*/ 25 w 25"/>
                  <a:gd name="T33" fmla="*/ 77 h 82"/>
                  <a:gd name="T34" fmla="*/ 25 w 25"/>
                  <a:gd name="T35" fmla="*/ 75 h 82"/>
                  <a:gd name="T36" fmla="*/ 25 w 25"/>
                  <a:gd name="T37" fmla="*/ 10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 h="82">
                    <a:moveTo>
                      <a:pt x="25" y="10"/>
                    </a:moveTo>
                    <a:lnTo>
                      <a:pt x="25" y="7"/>
                    </a:lnTo>
                    <a:lnTo>
                      <a:pt x="25" y="2"/>
                    </a:lnTo>
                    <a:lnTo>
                      <a:pt x="22" y="0"/>
                    </a:lnTo>
                    <a:lnTo>
                      <a:pt x="16" y="0"/>
                    </a:lnTo>
                    <a:lnTo>
                      <a:pt x="12" y="0"/>
                    </a:lnTo>
                    <a:lnTo>
                      <a:pt x="7" y="0"/>
                    </a:lnTo>
                    <a:lnTo>
                      <a:pt x="5" y="2"/>
                    </a:lnTo>
                    <a:lnTo>
                      <a:pt x="0" y="7"/>
                    </a:lnTo>
                    <a:lnTo>
                      <a:pt x="0" y="72"/>
                    </a:lnTo>
                    <a:lnTo>
                      <a:pt x="0" y="75"/>
                    </a:lnTo>
                    <a:lnTo>
                      <a:pt x="5" y="77"/>
                    </a:lnTo>
                    <a:lnTo>
                      <a:pt x="7" y="79"/>
                    </a:lnTo>
                    <a:lnTo>
                      <a:pt x="12" y="82"/>
                    </a:lnTo>
                    <a:lnTo>
                      <a:pt x="16" y="82"/>
                    </a:lnTo>
                    <a:lnTo>
                      <a:pt x="22" y="79"/>
                    </a:lnTo>
                    <a:lnTo>
                      <a:pt x="25" y="77"/>
                    </a:lnTo>
                    <a:lnTo>
                      <a:pt x="25" y="75"/>
                    </a:lnTo>
                    <a:lnTo>
                      <a:pt x="25" y="10"/>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160" name="任意多边形 14413">
                <a:extLst>
                  <a:ext uri="{FF2B5EF4-FFF2-40B4-BE49-F238E27FC236}">
                    <a16:creationId xmlns="" xmlns:a16="http://schemas.microsoft.com/office/drawing/2014/main" id="{3A5266BF-8761-E3EF-FE00-3FAFA16FCE93}"/>
                  </a:ext>
                </a:extLst>
              </p:cNvPr>
              <p:cNvSpPr>
                <a:spLocks noChangeArrowheads="1"/>
              </p:cNvSpPr>
              <p:nvPr/>
            </p:nvSpPr>
            <p:spPr bwMode="auto">
              <a:xfrm>
                <a:off x="2152" y="2691"/>
                <a:ext cx="10" cy="33"/>
              </a:xfrm>
              <a:custGeom>
                <a:avLst/>
                <a:gdLst>
                  <a:gd name="T0" fmla="*/ 25 w 25"/>
                  <a:gd name="T1" fmla="*/ 7 h 82"/>
                  <a:gd name="T2" fmla="*/ 25 w 25"/>
                  <a:gd name="T3" fmla="*/ 4 h 82"/>
                  <a:gd name="T4" fmla="*/ 25 w 25"/>
                  <a:gd name="T5" fmla="*/ 2 h 82"/>
                  <a:gd name="T6" fmla="*/ 22 w 25"/>
                  <a:gd name="T7" fmla="*/ 0 h 82"/>
                  <a:gd name="T8" fmla="*/ 16 w 25"/>
                  <a:gd name="T9" fmla="*/ 0 h 82"/>
                  <a:gd name="T10" fmla="*/ 12 w 25"/>
                  <a:gd name="T11" fmla="*/ 0 h 82"/>
                  <a:gd name="T12" fmla="*/ 7 w 25"/>
                  <a:gd name="T13" fmla="*/ 0 h 82"/>
                  <a:gd name="T14" fmla="*/ 5 w 25"/>
                  <a:gd name="T15" fmla="*/ 2 h 82"/>
                  <a:gd name="T16" fmla="*/ 0 w 25"/>
                  <a:gd name="T17" fmla="*/ 4 h 82"/>
                  <a:gd name="T18" fmla="*/ 0 w 25"/>
                  <a:gd name="T19" fmla="*/ 69 h 82"/>
                  <a:gd name="T20" fmla="*/ 0 w 25"/>
                  <a:gd name="T21" fmla="*/ 72 h 82"/>
                  <a:gd name="T22" fmla="*/ 5 w 25"/>
                  <a:gd name="T23" fmla="*/ 74 h 82"/>
                  <a:gd name="T24" fmla="*/ 7 w 25"/>
                  <a:gd name="T25" fmla="*/ 79 h 82"/>
                  <a:gd name="T26" fmla="*/ 12 w 25"/>
                  <a:gd name="T27" fmla="*/ 82 h 82"/>
                  <a:gd name="T28" fmla="*/ 16 w 25"/>
                  <a:gd name="T29" fmla="*/ 82 h 82"/>
                  <a:gd name="T30" fmla="*/ 22 w 25"/>
                  <a:gd name="T31" fmla="*/ 79 h 82"/>
                  <a:gd name="T32" fmla="*/ 25 w 25"/>
                  <a:gd name="T33" fmla="*/ 74 h 82"/>
                  <a:gd name="T34" fmla="*/ 25 w 25"/>
                  <a:gd name="T35" fmla="*/ 72 h 82"/>
                  <a:gd name="T36" fmla="*/ 25 w 25"/>
                  <a:gd name="T37" fmla="*/ 7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 h="82">
                    <a:moveTo>
                      <a:pt x="25" y="7"/>
                    </a:moveTo>
                    <a:lnTo>
                      <a:pt x="25" y="4"/>
                    </a:lnTo>
                    <a:lnTo>
                      <a:pt x="25" y="2"/>
                    </a:lnTo>
                    <a:lnTo>
                      <a:pt x="22" y="0"/>
                    </a:lnTo>
                    <a:lnTo>
                      <a:pt x="16" y="0"/>
                    </a:lnTo>
                    <a:lnTo>
                      <a:pt x="12" y="0"/>
                    </a:lnTo>
                    <a:lnTo>
                      <a:pt x="7" y="0"/>
                    </a:lnTo>
                    <a:lnTo>
                      <a:pt x="5" y="2"/>
                    </a:lnTo>
                    <a:lnTo>
                      <a:pt x="0" y="4"/>
                    </a:lnTo>
                    <a:lnTo>
                      <a:pt x="0" y="69"/>
                    </a:lnTo>
                    <a:lnTo>
                      <a:pt x="0" y="72"/>
                    </a:lnTo>
                    <a:lnTo>
                      <a:pt x="5" y="74"/>
                    </a:lnTo>
                    <a:lnTo>
                      <a:pt x="7" y="79"/>
                    </a:lnTo>
                    <a:lnTo>
                      <a:pt x="12" y="82"/>
                    </a:lnTo>
                    <a:lnTo>
                      <a:pt x="16" y="82"/>
                    </a:lnTo>
                    <a:lnTo>
                      <a:pt x="22" y="79"/>
                    </a:lnTo>
                    <a:lnTo>
                      <a:pt x="25" y="74"/>
                    </a:lnTo>
                    <a:lnTo>
                      <a:pt x="25" y="72"/>
                    </a:lnTo>
                    <a:lnTo>
                      <a:pt x="25" y="7"/>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161" name="任意多边形 14414">
                <a:extLst>
                  <a:ext uri="{FF2B5EF4-FFF2-40B4-BE49-F238E27FC236}">
                    <a16:creationId xmlns="" xmlns:a16="http://schemas.microsoft.com/office/drawing/2014/main" id="{DB5940D2-F9C5-3356-F257-8CC6E301A512}"/>
                  </a:ext>
                </a:extLst>
              </p:cNvPr>
              <p:cNvSpPr>
                <a:spLocks noChangeArrowheads="1"/>
              </p:cNvSpPr>
              <p:nvPr/>
            </p:nvSpPr>
            <p:spPr bwMode="auto">
              <a:xfrm>
                <a:off x="2152" y="2737"/>
                <a:ext cx="10" cy="32"/>
              </a:xfrm>
              <a:custGeom>
                <a:avLst/>
                <a:gdLst>
                  <a:gd name="T0" fmla="*/ 25 w 25"/>
                  <a:gd name="T1" fmla="*/ 6 h 79"/>
                  <a:gd name="T2" fmla="*/ 25 w 25"/>
                  <a:gd name="T3" fmla="*/ 5 h 79"/>
                  <a:gd name="T4" fmla="*/ 25 w 25"/>
                  <a:gd name="T5" fmla="*/ 2 h 79"/>
                  <a:gd name="T6" fmla="*/ 22 w 25"/>
                  <a:gd name="T7" fmla="*/ 0 h 79"/>
                  <a:gd name="T8" fmla="*/ 16 w 25"/>
                  <a:gd name="T9" fmla="*/ 0 h 79"/>
                  <a:gd name="T10" fmla="*/ 12 w 25"/>
                  <a:gd name="T11" fmla="*/ 0 h 79"/>
                  <a:gd name="T12" fmla="*/ 7 w 25"/>
                  <a:gd name="T13" fmla="*/ 0 h 79"/>
                  <a:gd name="T14" fmla="*/ 5 w 25"/>
                  <a:gd name="T15" fmla="*/ 2 h 79"/>
                  <a:gd name="T16" fmla="*/ 0 w 25"/>
                  <a:gd name="T17" fmla="*/ 5 h 79"/>
                  <a:gd name="T18" fmla="*/ 0 w 25"/>
                  <a:gd name="T19" fmla="*/ 69 h 79"/>
                  <a:gd name="T20" fmla="*/ 0 w 25"/>
                  <a:gd name="T21" fmla="*/ 71 h 79"/>
                  <a:gd name="T22" fmla="*/ 5 w 25"/>
                  <a:gd name="T23" fmla="*/ 74 h 79"/>
                  <a:gd name="T24" fmla="*/ 7 w 25"/>
                  <a:gd name="T25" fmla="*/ 76 h 79"/>
                  <a:gd name="T26" fmla="*/ 12 w 25"/>
                  <a:gd name="T27" fmla="*/ 79 h 79"/>
                  <a:gd name="T28" fmla="*/ 16 w 25"/>
                  <a:gd name="T29" fmla="*/ 79 h 79"/>
                  <a:gd name="T30" fmla="*/ 22 w 25"/>
                  <a:gd name="T31" fmla="*/ 76 h 79"/>
                  <a:gd name="T32" fmla="*/ 25 w 25"/>
                  <a:gd name="T33" fmla="*/ 74 h 79"/>
                  <a:gd name="T34" fmla="*/ 25 w 25"/>
                  <a:gd name="T35" fmla="*/ 71 h 79"/>
                  <a:gd name="T36" fmla="*/ 25 w 25"/>
                  <a:gd name="T37" fmla="*/ 6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 h="79">
                    <a:moveTo>
                      <a:pt x="25" y="6"/>
                    </a:moveTo>
                    <a:lnTo>
                      <a:pt x="25" y="5"/>
                    </a:lnTo>
                    <a:lnTo>
                      <a:pt x="25" y="2"/>
                    </a:lnTo>
                    <a:lnTo>
                      <a:pt x="22" y="0"/>
                    </a:lnTo>
                    <a:lnTo>
                      <a:pt x="16" y="0"/>
                    </a:lnTo>
                    <a:lnTo>
                      <a:pt x="12" y="0"/>
                    </a:lnTo>
                    <a:lnTo>
                      <a:pt x="7" y="0"/>
                    </a:lnTo>
                    <a:lnTo>
                      <a:pt x="5" y="2"/>
                    </a:lnTo>
                    <a:lnTo>
                      <a:pt x="0" y="5"/>
                    </a:lnTo>
                    <a:lnTo>
                      <a:pt x="0" y="69"/>
                    </a:lnTo>
                    <a:lnTo>
                      <a:pt x="0" y="71"/>
                    </a:lnTo>
                    <a:lnTo>
                      <a:pt x="5" y="74"/>
                    </a:lnTo>
                    <a:lnTo>
                      <a:pt x="7" y="76"/>
                    </a:lnTo>
                    <a:lnTo>
                      <a:pt x="12" y="79"/>
                    </a:lnTo>
                    <a:lnTo>
                      <a:pt x="16" y="79"/>
                    </a:lnTo>
                    <a:lnTo>
                      <a:pt x="22" y="76"/>
                    </a:lnTo>
                    <a:lnTo>
                      <a:pt x="25" y="74"/>
                    </a:lnTo>
                    <a:lnTo>
                      <a:pt x="25" y="71"/>
                    </a:lnTo>
                    <a:lnTo>
                      <a:pt x="25" y="6"/>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162" name="任意多边形 14415">
                <a:extLst>
                  <a:ext uri="{FF2B5EF4-FFF2-40B4-BE49-F238E27FC236}">
                    <a16:creationId xmlns="" xmlns:a16="http://schemas.microsoft.com/office/drawing/2014/main" id="{209F341A-8FE3-8A51-BA50-309CB7B45C49}"/>
                  </a:ext>
                </a:extLst>
              </p:cNvPr>
              <p:cNvSpPr>
                <a:spLocks noChangeArrowheads="1"/>
              </p:cNvSpPr>
              <p:nvPr/>
            </p:nvSpPr>
            <p:spPr bwMode="auto">
              <a:xfrm>
                <a:off x="2152" y="2782"/>
                <a:ext cx="10" cy="33"/>
              </a:xfrm>
              <a:custGeom>
                <a:avLst/>
                <a:gdLst>
                  <a:gd name="T0" fmla="*/ 25 w 25"/>
                  <a:gd name="T1" fmla="*/ 9 h 82"/>
                  <a:gd name="T2" fmla="*/ 25 w 25"/>
                  <a:gd name="T3" fmla="*/ 7 h 82"/>
                  <a:gd name="T4" fmla="*/ 25 w 25"/>
                  <a:gd name="T5" fmla="*/ 2 h 82"/>
                  <a:gd name="T6" fmla="*/ 22 w 25"/>
                  <a:gd name="T7" fmla="*/ 0 h 82"/>
                  <a:gd name="T8" fmla="*/ 16 w 25"/>
                  <a:gd name="T9" fmla="*/ 0 h 82"/>
                  <a:gd name="T10" fmla="*/ 12 w 25"/>
                  <a:gd name="T11" fmla="*/ 0 h 82"/>
                  <a:gd name="T12" fmla="*/ 7 w 25"/>
                  <a:gd name="T13" fmla="*/ 0 h 82"/>
                  <a:gd name="T14" fmla="*/ 5 w 25"/>
                  <a:gd name="T15" fmla="*/ 2 h 82"/>
                  <a:gd name="T16" fmla="*/ 0 w 25"/>
                  <a:gd name="T17" fmla="*/ 7 h 82"/>
                  <a:gd name="T18" fmla="*/ 0 w 25"/>
                  <a:gd name="T19" fmla="*/ 72 h 82"/>
                  <a:gd name="T20" fmla="*/ 0 w 25"/>
                  <a:gd name="T21" fmla="*/ 74 h 82"/>
                  <a:gd name="T22" fmla="*/ 5 w 25"/>
                  <a:gd name="T23" fmla="*/ 77 h 82"/>
                  <a:gd name="T24" fmla="*/ 7 w 25"/>
                  <a:gd name="T25" fmla="*/ 79 h 82"/>
                  <a:gd name="T26" fmla="*/ 12 w 25"/>
                  <a:gd name="T27" fmla="*/ 82 h 82"/>
                  <a:gd name="T28" fmla="*/ 16 w 25"/>
                  <a:gd name="T29" fmla="*/ 82 h 82"/>
                  <a:gd name="T30" fmla="*/ 22 w 25"/>
                  <a:gd name="T31" fmla="*/ 79 h 82"/>
                  <a:gd name="T32" fmla="*/ 25 w 25"/>
                  <a:gd name="T33" fmla="*/ 77 h 82"/>
                  <a:gd name="T34" fmla="*/ 25 w 25"/>
                  <a:gd name="T35" fmla="*/ 74 h 82"/>
                  <a:gd name="T36" fmla="*/ 25 w 25"/>
                  <a:gd name="T37" fmla="*/ 9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 h="82">
                    <a:moveTo>
                      <a:pt x="25" y="9"/>
                    </a:moveTo>
                    <a:lnTo>
                      <a:pt x="25" y="7"/>
                    </a:lnTo>
                    <a:lnTo>
                      <a:pt x="25" y="2"/>
                    </a:lnTo>
                    <a:lnTo>
                      <a:pt x="22" y="0"/>
                    </a:lnTo>
                    <a:lnTo>
                      <a:pt x="16" y="0"/>
                    </a:lnTo>
                    <a:lnTo>
                      <a:pt x="12" y="0"/>
                    </a:lnTo>
                    <a:lnTo>
                      <a:pt x="7" y="0"/>
                    </a:lnTo>
                    <a:lnTo>
                      <a:pt x="5" y="2"/>
                    </a:lnTo>
                    <a:lnTo>
                      <a:pt x="0" y="7"/>
                    </a:lnTo>
                    <a:lnTo>
                      <a:pt x="0" y="72"/>
                    </a:lnTo>
                    <a:lnTo>
                      <a:pt x="0" y="74"/>
                    </a:lnTo>
                    <a:lnTo>
                      <a:pt x="5" y="77"/>
                    </a:lnTo>
                    <a:lnTo>
                      <a:pt x="7" y="79"/>
                    </a:lnTo>
                    <a:lnTo>
                      <a:pt x="12" y="82"/>
                    </a:lnTo>
                    <a:lnTo>
                      <a:pt x="16" y="82"/>
                    </a:lnTo>
                    <a:lnTo>
                      <a:pt x="22" y="79"/>
                    </a:lnTo>
                    <a:lnTo>
                      <a:pt x="25" y="77"/>
                    </a:lnTo>
                    <a:lnTo>
                      <a:pt x="25" y="74"/>
                    </a:lnTo>
                    <a:lnTo>
                      <a:pt x="25" y="9"/>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163" name="任意多边形 14416">
                <a:extLst>
                  <a:ext uri="{FF2B5EF4-FFF2-40B4-BE49-F238E27FC236}">
                    <a16:creationId xmlns="" xmlns:a16="http://schemas.microsoft.com/office/drawing/2014/main" id="{BB2622E6-66BE-849F-F59A-0FFB85C6D482}"/>
                  </a:ext>
                </a:extLst>
              </p:cNvPr>
              <p:cNvSpPr>
                <a:spLocks noChangeArrowheads="1"/>
              </p:cNvSpPr>
              <p:nvPr/>
            </p:nvSpPr>
            <p:spPr bwMode="auto">
              <a:xfrm>
                <a:off x="2152" y="2828"/>
                <a:ext cx="10" cy="33"/>
              </a:xfrm>
              <a:custGeom>
                <a:avLst/>
                <a:gdLst>
                  <a:gd name="T0" fmla="*/ 25 w 25"/>
                  <a:gd name="T1" fmla="*/ 7 h 82"/>
                  <a:gd name="T2" fmla="*/ 25 w 25"/>
                  <a:gd name="T3" fmla="*/ 5 h 82"/>
                  <a:gd name="T4" fmla="*/ 25 w 25"/>
                  <a:gd name="T5" fmla="*/ 2 h 82"/>
                  <a:gd name="T6" fmla="*/ 22 w 25"/>
                  <a:gd name="T7" fmla="*/ 0 h 82"/>
                  <a:gd name="T8" fmla="*/ 16 w 25"/>
                  <a:gd name="T9" fmla="*/ 0 h 82"/>
                  <a:gd name="T10" fmla="*/ 12 w 25"/>
                  <a:gd name="T11" fmla="*/ 0 h 82"/>
                  <a:gd name="T12" fmla="*/ 7 w 25"/>
                  <a:gd name="T13" fmla="*/ 0 h 82"/>
                  <a:gd name="T14" fmla="*/ 5 w 25"/>
                  <a:gd name="T15" fmla="*/ 2 h 82"/>
                  <a:gd name="T16" fmla="*/ 0 w 25"/>
                  <a:gd name="T17" fmla="*/ 5 h 82"/>
                  <a:gd name="T18" fmla="*/ 0 w 25"/>
                  <a:gd name="T19" fmla="*/ 70 h 82"/>
                  <a:gd name="T20" fmla="*/ 0 w 25"/>
                  <a:gd name="T21" fmla="*/ 72 h 82"/>
                  <a:gd name="T22" fmla="*/ 5 w 25"/>
                  <a:gd name="T23" fmla="*/ 75 h 82"/>
                  <a:gd name="T24" fmla="*/ 7 w 25"/>
                  <a:gd name="T25" fmla="*/ 80 h 82"/>
                  <a:gd name="T26" fmla="*/ 12 w 25"/>
                  <a:gd name="T27" fmla="*/ 82 h 82"/>
                  <a:gd name="T28" fmla="*/ 16 w 25"/>
                  <a:gd name="T29" fmla="*/ 82 h 82"/>
                  <a:gd name="T30" fmla="*/ 22 w 25"/>
                  <a:gd name="T31" fmla="*/ 80 h 82"/>
                  <a:gd name="T32" fmla="*/ 25 w 25"/>
                  <a:gd name="T33" fmla="*/ 75 h 82"/>
                  <a:gd name="T34" fmla="*/ 25 w 25"/>
                  <a:gd name="T35" fmla="*/ 72 h 82"/>
                  <a:gd name="T36" fmla="*/ 25 w 25"/>
                  <a:gd name="T37" fmla="*/ 7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 h="82">
                    <a:moveTo>
                      <a:pt x="25" y="7"/>
                    </a:moveTo>
                    <a:lnTo>
                      <a:pt x="25" y="5"/>
                    </a:lnTo>
                    <a:lnTo>
                      <a:pt x="25" y="2"/>
                    </a:lnTo>
                    <a:lnTo>
                      <a:pt x="22" y="0"/>
                    </a:lnTo>
                    <a:lnTo>
                      <a:pt x="16" y="0"/>
                    </a:lnTo>
                    <a:lnTo>
                      <a:pt x="12" y="0"/>
                    </a:lnTo>
                    <a:lnTo>
                      <a:pt x="7" y="0"/>
                    </a:lnTo>
                    <a:lnTo>
                      <a:pt x="5" y="2"/>
                    </a:lnTo>
                    <a:lnTo>
                      <a:pt x="0" y="5"/>
                    </a:lnTo>
                    <a:lnTo>
                      <a:pt x="0" y="70"/>
                    </a:lnTo>
                    <a:lnTo>
                      <a:pt x="0" y="72"/>
                    </a:lnTo>
                    <a:lnTo>
                      <a:pt x="5" y="75"/>
                    </a:lnTo>
                    <a:lnTo>
                      <a:pt x="7" y="80"/>
                    </a:lnTo>
                    <a:lnTo>
                      <a:pt x="12" y="82"/>
                    </a:lnTo>
                    <a:lnTo>
                      <a:pt x="16" y="82"/>
                    </a:lnTo>
                    <a:lnTo>
                      <a:pt x="22" y="80"/>
                    </a:lnTo>
                    <a:lnTo>
                      <a:pt x="25" y="75"/>
                    </a:lnTo>
                    <a:lnTo>
                      <a:pt x="25" y="72"/>
                    </a:lnTo>
                    <a:lnTo>
                      <a:pt x="25" y="7"/>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164" name="任意多边形 14417">
                <a:extLst>
                  <a:ext uri="{FF2B5EF4-FFF2-40B4-BE49-F238E27FC236}">
                    <a16:creationId xmlns="" xmlns:a16="http://schemas.microsoft.com/office/drawing/2014/main" id="{DBC7BBC7-15B6-9EFF-92F6-9689BD1163C1}"/>
                  </a:ext>
                </a:extLst>
              </p:cNvPr>
              <p:cNvSpPr>
                <a:spLocks noChangeArrowheads="1"/>
              </p:cNvSpPr>
              <p:nvPr/>
            </p:nvSpPr>
            <p:spPr bwMode="auto">
              <a:xfrm>
                <a:off x="2152" y="2874"/>
                <a:ext cx="10" cy="32"/>
              </a:xfrm>
              <a:custGeom>
                <a:avLst/>
                <a:gdLst>
                  <a:gd name="T0" fmla="*/ 25 w 25"/>
                  <a:gd name="T1" fmla="*/ 6 h 79"/>
                  <a:gd name="T2" fmla="*/ 25 w 25"/>
                  <a:gd name="T3" fmla="*/ 5 h 79"/>
                  <a:gd name="T4" fmla="*/ 25 w 25"/>
                  <a:gd name="T5" fmla="*/ 2 h 79"/>
                  <a:gd name="T6" fmla="*/ 22 w 25"/>
                  <a:gd name="T7" fmla="*/ 0 h 79"/>
                  <a:gd name="T8" fmla="*/ 16 w 25"/>
                  <a:gd name="T9" fmla="*/ 0 h 79"/>
                  <a:gd name="T10" fmla="*/ 12 w 25"/>
                  <a:gd name="T11" fmla="*/ 0 h 79"/>
                  <a:gd name="T12" fmla="*/ 7 w 25"/>
                  <a:gd name="T13" fmla="*/ 0 h 79"/>
                  <a:gd name="T14" fmla="*/ 5 w 25"/>
                  <a:gd name="T15" fmla="*/ 2 h 79"/>
                  <a:gd name="T16" fmla="*/ 0 w 25"/>
                  <a:gd name="T17" fmla="*/ 5 h 79"/>
                  <a:gd name="T18" fmla="*/ 0 w 25"/>
                  <a:gd name="T19" fmla="*/ 69 h 79"/>
                  <a:gd name="T20" fmla="*/ 0 w 25"/>
                  <a:gd name="T21" fmla="*/ 71 h 79"/>
                  <a:gd name="T22" fmla="*/ 5 w 25"/>
                  <a:gd name="T23" fmla="*/ 74 h 79"/>
                  <a:gd name="T24" fmla="*/ 7 w 25"/>
                  <a:gd name="T25" fmla="*/ 76 h 79"/>
                  <a:gd name="T26" fmla="*/ 12 w 25"/>
                  <a:gd name="T27" fmla="*/ 79 h 79"/>
                  <a:gd name="T28" fmla="*/ 16 w 25"/>
                  <a:gd name="T29" fmla="*/ 79 h 79"/>
                  <a:gd name="T30" fmla="*/ 22 w 25"/>
                  <a:gd name="T31" fmla="*/ 76 h 79"/>
                  <a:gd name="T32" fmla="*/ 25 w 25"/>
                  <a:gd name="T33" fmla="*/ 74 h 79"/>
                  <a:gd name="T34" fmla="*/ 25 w 25"/>
                  <a:gd name="T35" fmla="*/ 71 h 79"/>
                  <a:gd name="T36" fmla="*/ 25 w 25"/>
                  <a:gd name="T37" fmla="*/ 6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 h="79">
                    <a:moveTo>
                      <a:pt x="25" y="6"/>
                    </a:moveTo>
                    <a:lnTo>
                      <a:pt x="25" y="5"/>
                    </a:lnTo>
                    <a:lnTo>
                      <a:pt x="25" y="2"/>
                    </a:lnTo>
                    <a:lnTo>
                      <a:pt x="22" y="0"/>
                    </a:lnTo>
                    <a:lnTo>
                      <a:pt x="16" y="0"/>
                    </a:lnTo>
                    <a:lnTo>
                      <a:pt x="12" y="0"/>
                    </a:lnTo>
                    <a:lnTo>
                      <a:pt x="7" y="0"/>
                    </a:lnTo>
                    <a:lnTo>
                      <a:pt x="5" y="2"/>
                    </a:lnTo>
                    <a:lnTo>
                      <a:pt x="0" y="5"/>
                    </a:lnTo>
                    <a:lnTo>
                      <a:pt x="0" y="69"/>
                    </a:lnTo>
                    <a:lnTo>
                      <a:pt x="0" y="71"/>
                    </a:lnTo>
                    <a:lnTo>
                      <a:pt x="5" y="74"/>
                    </a:lnTo>
                    <a:lnTo>
                      <a:pt x="7" y="76"/>
                    </a:lnTo>
                    <a:lnTo>
                      <a:pt x="12" y="79"/>
                    </a:lnTo>
                    <a:lnTo>
                      <a:pt x="16" y="79"/>
                    </a:lnTo>
                    <a:lnTo>
                      <a:pt x="22" y="76"/>
                    </a:lnTo>
                    <a:lnTo>
                      <a:pt x="25" y="74"/>
                    </a:lnTo>
                    <a:lnTo>
                      <a:pt x="25" y="71"/>
                    </a:lnTo>
                    <a:lnTo>
                      <a:pt x="25" y="6"/>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165" name="任意多边形 14418">
                <a:extLst>
                  <a:ext uri="{FF2B5EF4-FFF2-40B4-BE49-F238E27FC236}">
                    <a16:creationId xmlns="" xmlns:a16="http://schemas.microsoft.com/office/drawing/2014/main" id="{828F9C4E-E29F-D3E5-D011-51CA567E3011}"/>
                  </a:ext>
                </a:extLst>
              </p:cNvPr>
              <p:cNvSpPr>
                <a:spLocks noChangeArrowheads="1"/>
              </p:cNvSpPr>
              <p:nvPr/>
            </p:nvSpPr>
            <p:spPr bwMode="auto">
              <a:xfrm>
                <a:off x="2152" y="2919"/>
                <a:ext cx="10" cy="33"/>
              </a:xfrm>
              <a:custGeom>
                <a:avLst/>
                <a:gdLst>
                  <a:gd name="T0" fmla="*/ 25 w 25"/>
                  <a:gd name="T1" fmla="*/ 9 h 82"/>
                  <a:gd name="T2" fmla="*/ 25 w 25"/>
                  <a:gd name="T3" fmla="*/ 4 h 82"/>
                  <a:gd name="T4" fmla="*/ 25 w 25"/>
                  <a:gd name="T5" fmla="*/ 2 h 82"/>
                  <a:gd name="T6" fmla="*/ 22 w 25"/>
                  <a:gd name="T7" fmla="*/ 0 h 82"/>
                  <a:gd name="T8" fmla="*/ 16 w 25"/>
                  <a:gd name="T9" fmla="*/ 0 h 82"/>
                  <a:gd name="T10" fmla="*/ 12 w 25"/>
                  <a:gd name="T11" fmla="*/ 0 h 82"/>
                  <a:gd name="T12" fmla="*/ 7 w 25"/>
                  <a:gd name="T13" fmla="*/ 0 h 82"/>
                  <a:gd name="T14" fmla="*/ 5 w 25"/>
                  <a:gd name="T15" fmla="*/ 2 h 82"/>
                  <a:gd name="T16" fmla="*/ 0 w 25"/>
                  <a:gd name="T17" fmla="*/ 4 h 82"/>
                  <a:gd name="T18" fmla="*/ 0 w 25"/>
                  <a:gd name="T19" fmla="*/ 72 h 82"/>
                  <a:gd name="T20" fmla="*/ 0 w 25"/>
                  <a:gd name="T21" fmla="*/ 74 h 82"/>
                  <a:gd name="T22" fmla="*/ 5 w 25"/>
                  <a:gd name="T23" fmla="*/ 77 h 82"/>
                  <a:gd name="T24" fmla="*/ 7 w 25"/>
                  <a:gd name="T25" fmla="*/ 79 h 82"/>
                  <a:gd name="T26" fmla="*/ 12 w 25"/>
                  <a:gd name="T27" fmla="*/ 82 h 82"/>
                  <a:gd name="T28" fmla="*/ 16 w 25"/>
                  <a:gd name="T29" fmla="*/ 82 h 82"/>
                  <a:gd name="T30" fmla="*/ 22 w 25"/>
                  <a:gd name="T31" fmla="*/ 79 h 82"/>
                  <a:gd name="T32" fmla="*/ 25 w 25"/>
                  <a:gd name="T33" fmla="*/ 77 h 82"/>
                  <a:gd name="T34" fmla="*/ 25 w 25"/>
                  <a:gd name="T35" fmla="*/ 74 h 82"/>
                  <a:gd name="T36" fmla="*/ 25 w 25"/>
                  <a:gd name="T37" fmla="*/ 9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 h="82">
                    <a:moveTo>
                      <a:pt x="25" y="9"/>
                    </a:moveTo>
                    <a:lnTo>
                      <a:pt x="25" y="4"/>
                    </a:lnTo>
                    <a:lnTo>
                      <a:pt x="25" y="2"/>
                    </a:lnTo>
                    <a:lnTo>
                      <a:pt x="22" y="0"/>
                    </a:lnTo>
                    <a:lnTo>
                      <a:pt x="16" y="0"/>
                    </a:lnTo>
                    <a:lnTo>
                      <a:pt x="12" y="0"/>
                    </a:lnTo>
                    <a:lnTo>
                      <a:pt x="7" y="0"/>
                    </a:lnTo>
                    <a:lnTo>
                      <a:pt x="5" y="2"/>
                    </a:lnTo>
                    <a:lnTo>
                      <a:pt x="0" y="4"/>
                    </a:lnTo>
                    <a:lnTo>
                      <a:pt x="0" y="72"/>
                    </a:lnTo>
                    <a:lnTo>
                      <a:pt x="0" y="74"/>
                    </a:lnTo>
                    <a:lnTo>
                      <a:pt x="5" y="77"/>
                    </a:lnTo>
                    <a:lnTo>
                      <a:pt x="7" y="79"/>
                    </a:lnTo>
                    <a:lnTo>
                      <a:pt x="12" y="82"/>
                    </a:lnTo>
                    <a:lnTo>
                      <a:pt x="16" y="82"/>
                    </a:lnTo>
                    <a:lnTo>
                      <a:pt x="22" y="79"/>
                    </a:lnTo>
                    <a:lnTo>
                      <a:pt x="25" y="77"/>
                    </a:lnTo>
                    <a:lnTo>
                      <a:pt x="25" y="74"/>
                    </a:lnTo>
                    <a:lnTo>
                      <a:pt x="25" y="9"/>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166" name="任意多边形 14419">
                <a:extLst>
                  <a:ext uri="{FF2B5EF4-FFF2-40B4-BE49-F238E27FC236}">
                    <a16:creationId xmlns="" xmlns:a16="http://schemas.microsoft.com/office/drawing/2014/main" id="{D2D15C3D-8E1B-64D7-A43B-1A008082D8B5}"/>
                  </a:ext>
                </a:extLst>
              </p:cNvPr>
              <p:cNvSpPr>
                <a:spLocks noChangeArrowheads="1"/>
              </p:cNvSpPr>
              <p:nvPr/>
            </p:nvSpPr>
            <p:spPr bwMode="auto">
              <a:xfrm>
                <a:off x="2152" y="2965"/>
                <a:ext cx="10" cy="33"/>
              </a:xfrm>
              <a:custGeom>
                <a:avLst/>
                <a:gdLst>
                  <a:gd name="T0" fmla="*/ 25 w 25"/>
                  <a:gd name="T1" fmla="*/ 7 h 82"/>
                  <a:gd name="T2" fmla="*/ 25 w 25"/>
                  <a:gd name="T3" fmla="*/ 5 h 82"/>
                  <a:gd name="T4" fmla="*/ 25 w 25"/>
                  <a:gd name="T5" fmla="*/ 2 h 82"/>
                  <a:gd name="T6" fmla="*/ 22 w 25"/>
                  <a:gd name="T7" fmla="*/ 0 h 82"/>
                  <a:gd name="T8" fmla="*/ 16 w 25"/>
                  <a:gd name="T9" fmla="*/ 0 h 82"/>
                  <a:gd name="T10" fmla="*/ 12 w 25"/>
                  <a:gd name="T11" fmla="*/ 0 h 82"/>
                  <a:gd name="T12" fmla="*/ 7 w 25"/>
                  <a:gd name="T13" fmla="*/ 0 h 82"/>
                  <a:gd name="T14" fmla="*/ 5 w 25"/>
                  <a:gd name="T15" fmla="*/ 2 h 82"/>
                  <a:gd name="T16" fmla="*/ 0 w 25"/>
                  <a:gd name="T17" fmla="*/ 5 h 82"/>
                  <a:gd name="T18" fmla="*/ 0 w 25"/>
                  <a:gd name="T19" fmla="*/ 70 h 82"/>
                  <a:gd name="T20" fmla="*/ 0 w 25"/>
                  <a:gd name="T21" fmla="*/ 72 h 82"/>
                  <a:gd name="T22" fmla="*/ 5 w 25"/>
                  <a:gd name="T23" fmla="*/ 75 h 82"/>
                  <a:gd name="T24" fmla="*/ 7 w 25"/>
                  <a:gd name="T25" fmla="*/ 80 h 82"/>
                  <a:gd name="T26" fmla="*/ 12 w 25"/>
                  <a:gd name="T27" fmla="*/ 82 h 82"/>
                  <a:gd name="T28" fmla="*/ 16 w 25"/>
                  <a:gd name="T29" fmla="*/ 82 h 82"/>
                  <a:gd name="T30" fmla="*/ 22 w 25"/>
                  <a:gd name="T31" fmla="*/ 80 h 82"/>
                  <a:gd name="T32" fmla="*/ 25 w 25"/>
                  <a:gd name="T33" fmla="*/ 75 h 82"/>
                  <a:gd name="T34" fmla="*/ 25 w 25"/>
                  <a:gd name="T35" fmla="*/ 72 h 82"/>
                  <a:gd name="T36" fmla="*/ 25 w 25"/>
                  <a:gd name="T37" fmla="*/ 7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 h="82">
                    <a:moveTo>
                      <a:pt x="25" y="7"/>
                    </a:moveTo>
                    <a:lnTo>
                      <a:pt x="25" y="5"/>
                    </a:lnTo>
                    <a:lnTo>
                      <a:pt x="25" y="2"/>
                    </a:lnTo>
                    <a:lnTo>
                      <a:pt x="22" y="0"/>
                    </a:lnTo>
                    <a:lnTo>
                      <a:pt x="16" y="0"/>
                    </a:lnTo>
                    <a:lnTo>
                      <a:pt x="12" y="0"/>
                    </a:lnTo>
                    <a:lnTo>
                      <a:pt x="7" y="0"/>
                    </a:lnTo>
                    <a:lnTo>
                      <a:pt x="5" y="2"/>
                    </a:lnTo>
                    <a:lnTo>
                      <a:pt x="0" y="5"/>
                    </a:lnTo>
                    <a:lnTo>
                      <a:pt x="0" y="70"/>
                    </a:lnTo>
                    <a:lnTo>
                      <a:pt x="0" y="72"/>
                    </a:lnTo>
                    <a:lnTo>
                      <a:pt x="5" y="75"/>
                    </a:lnTo>
                    <a:lnTo>
                      <a:pt x="7" y="80"/>
                    </a:lnTo>
                    <a:lnTo>
                      <a:pt x="12" y="82"/>
                    </a:lnTo>
                    <a:lnTo>
                      <a:pt x="16" y="82"/>
                    </a:lnTo>
                    <a:lnTo>
                      <a:pt x="22" y="80"/>
                    </a:lnTo>
                    <a:lnTo>
                      <a:pt x="25" y="75"/>
                    </a:lnTo>
                    <a:lnTo>
                      <a:pt x="25" y="72"/>
                    </a:lnTo>
                    <a:lnTo>
                      <a:pt x="25" y="7"/>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167" name="任意多边形 14420">
                <a:extLst>
                  <a:ext uri="{FF2B5EF4-FFF2-40B4-BE49-F238E27FC236}">
                    <a16:creationId xmlns="" xmlns:a16="http://schemas.microsoft.com/office/drawing/2014/main" id="{A81D4111-CFF2-BCA8-B446-72A7CCB0E4A3}"/>
                  </a:ext>
                </a:extLst>
              </p:cNvPr>
              <p:cNvSpPr>
                <a:spLocks noChangeArrowheads="1"/>
              </p:cNvSpPr>
              <p:nvPr/>
            </p:nvSpPr>
            <p:spPr bwMode="auto">
              <a:xfrm>
                <a:off x="2152" y="3011"/>
                <a:ext cx="10" cy="32"/>
              </a:xfrm>
              <a:custGeom>
                <a:avLst/>
                <a:gdLst>
                  <a:gd name="T0" fmla="*/ 25 w 25"/>
                  <a:gd name="T1" fmla="*/ 7 h 80"/>
                  <a:gd name="T2" fmla="*/ 25 w 25"/>
                  <a:gd name="T3" fmla="*/ 5 h 80"/>
                  <a:gd name="T4" fmla="*/ 25 w 25"/>
                  <a:gd name="T5" fmla="*/ 2 h 80"/>
                  <a:gd name="T6" fmla="*/ 22 w 25"/>
                  <a:gd name="T7" fmla="*/ 0 h 80"/>
                  <a:gd name="T8" fmla="*/ 16 w 25"/>
                  <a:gd name="T9" fmla="*/ 0 h 80"/>
                  <a:gd name="T10" fmla="*/ 12 w 25"/>
                  <a:gd name="T11" fmla="*/ 0 h 80"/>
                  <a:gd name="T12" fmla="*/ 7 w 25"/>
                  <a:gd name="T13" fmla="*/ 0 h 80"/>
                  <a:gd name="T14" fmla="*/ 5 w 25"/>
                  <a:gd name="T15" fmla="*/ 2 h 80"/>
                  <a:gd name="T16" fmla="*/ 0 w 25"/>
                  <a:gd name="T17" fmla="*/ 5 h 80"/>
                  <a:gd name="T18" fmla="*/ 0 w 25"/>
                  <a:gd name="T19" fmla="*/ 69 h 80"/>
                  <a:gd name="T20" fmla="*/ 0 w 25"/>
                  <a:gd name="T21" fmla="*/ 72 h 80"/>
                  <a:gd name="T22" fmla="*/ 5 w 25"/>
                  <a:gd name="T23" fmla="*/ 75 h 80"/>
                  <a:gd name="T24" fmla="*/ 7 w 25"/>
                  <a:gd name="T25" fmla="*/ 77 h 80"/>
                  <a:gd name="T26" fmla="*/ 12 w 25"/>
                  <a:gd name="T27" fmla="*/ 80 h 80"/>
                  <a:gd name="T28" fmla="*/ 16 w 25"/>
                  <a:gd name="T29" fmla="*/ 80 h 80"/>
                  <a:gd name="T30" fmla="*/ 22 w 25"/>
                  <a:gd name="T31" fmla="*/ 77 h 80"/>
                  <a:gd name="T32" fmla="*/ 25 w 25"/>
                  <a:gd name="T33" fmla="*/ 75 h 80"/>
                  <a:gd name="T34" fmla="*/ 25 w 25"/>
                  <a:gd name="T35" fmla="*/ 72 h 80"/>
                  <a:gd name="T36" fmla="*/ 25 w 25"/>
                  <a:gd name="T37" fmla="*/ 7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 h="80">
                    <a:moveTo>
                      <a:pt x="25" y="7"/>
                    </a:moveTo>
                    <a:lnTo>
                      <a:pt x="25" y="5"/>
                    </a:lnTo>
                    <a:lnTo>
                      <a:pt x="25" y="2"/>
                    </a:lnTo>
                    <a:lnTo>
                      <a:pt x="22" y="0"/>
                    </a:lnTo>
                    <a:lnTo>
                      <a:pt x="16" y="0"/>
                    </a:lnTo>
                    <a:lnTo>
                      <a:pt x="12" y="0"/>
                    </a:lnTo>
                    <a:lnTo>
                      <a:pt x="7" y="0"/>
                    </a:lnTo>
                    <a:lnTo>
                      <a:pt x="5" y="2"/>
                    </a:lnTo>
                    <a:lnTo>
                      <a:pt x="0" y="5"/>
                    </a:lnTo>
                    <a:lnTo>
                      <a:pt x="0" y="69"/>
                    </a:lnTo>
                    <a:lnTo>
                      <a:pt x="0" y="72"/>
                    </a:lnTo>
                    <a:lnTo>
                      <a:pt x="5" y="75"/>
                    </a:lnTo>
                    <a:lnTo>
                      <a:pt x="7" y="77"/>
                    </a:lnTo>
                    <a:lnTo>
                      <a:pt x="12" y="80"/>
                    </a:lnTo>
                    <a:lnTo>
                      <a:pt x="16" y="80"/>
                    </a:lnTo>
                    <a:lnTo>
                      <a:pt x="22" y="77"/>
                    </a:lnTo>
                    <a:lnTo>
                      <a:pt x="25" y="75"/>
                    </a:lnTo>
                    <a:lnTo>
                      <a:pt x="25" y="72"/>
                    </a:lnTo>
                    <a:lnTo>
                      <a:pt x="25" y="7"/>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168" name="任意多边形 14421">
                <a:extLst>
                  <a:ext uri="{FF2B5EF4-FFF2-40B4-BE49-F238E27FC236}">
                    <a16:creationId xmlns="" xmlns:a16="http://schemas.microsoft.com/office/drawing/2014/main" id="{8515B91C-1AC7-2BAF-FCD8-6C7974EB9187}"/>
                  </a:ext>
                </a:extLst>
              </p:cNvPr>
              <p:cNvSpPr>
                <a:spLocks noChangeArrowheads="1"/>
              </p:cNvSpPr>
              <p:nvPr/>
            </p:nvSpPr>
            <p:spPr bwMode="auto">
              <a:xfrm>
                <a:off x="2152" y="3056"/>
                <a:ext cx="10" cy="33"/>
              </a:xfrm>
              <a:custGeom>
                <a:avLst/>
                <a:gdLst>
                  <a:gd name="T0" fmla="*/ 25 w 25"/>
                  <a:gd name="T1" fmla="*/ 10 h 82"/>
                  <a:gd name="T2" fmla="*/ 25 w 25"/>
                  <a:gd name="T3" fmla="*/ 5 h 82"/>
                  <a:gd name="T4" fmla="*/ 25 w 25"/>
                  <a:gd name="T5" fmla="*/ 2 h 82"/>
                  <a:gd name="T6" fmla="*/ 22 w 25"/>
                  <a:gd name="T7" fmla="*/ 0 h 82"/>
                  <a:gd name="T8" fmla="*/ 16 w 25"/>
                  <a:gd name="T9" fmla="*/ 0 h 82"/>
                  <a:gd name="T10" fmla="*/ 12 w 25"/>
                  <a:gd name="T11" fmla="*/ 0 h 82"/>
                  <a:gd name="T12" fmla="*/ 7 w 25"/>
                  <a:gd name="T13" fmla="*/ 0 h 82"/>
                  <a:gd name="T14" fmla="*/ 5 w 25"/>
                  <a:gd name="T15" fmla="*/ 2 h 82"/>
                  <a:gd name="T16" fmla="*/ 0 w 25"/>
                  <a:gd name="T17" fmla="*/ 5 h 82"/>
                  <a:gd name="T18" fmla="*/ 0 w 25"/>
                  <a:gd name="T19" fmla="*/ 72 h 82"/>
                  <a:gd name="T20" fmla="*/ 0 w 25"/>
                  <a:gd name="T21" fmla="*/ 75 h 82"/>
                  <a:gd name="T22" fmla="*/ 5 w 25"/>
                  <a:gd name="T23" fmla="*/ 77 h 82"/>
                  <a:gd name="T24" fmla="*/ 7 w 25"/>
                  <a:gd name="T25" fmla="*/ 80 h 82"/>
                  <a:gd name="T26" fmla="*/ 12 w 25"/>
                  <a:gd name="T27" fmla="*/ 82 h 82"/>
                  <a:gd name="T28" fmla="*/ 16 w 25"/>
                  <a:gd name="T29" fmla="*/ 82 h 82"/>
                  <a:gd name="T30" fmla="*/ 22 w 25"/>
                  <a:gd name="T31" fmla="*/ 80 h 82"/>
                  <a:gd name="T32" fmla="*/ 25 w 25"/>
                  <a:gd name="T33" fmla="*/ 77 h 82"/>
                  <a:gd name="T34" fmla="*/ 25 w 25"/>
                  <a:gd name="T35" fmla="*/ 75 h 82"/>
                  <a:gd name="T36" fmla="*/ 25 w 25"/>
                  <a:gd name="T37" fmla="*/ 10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 h="82">
                    <a:moveTo>
                      <a:pt x="25" y="10"/>
                    </a:moveTo>
                    <a:lnTo>
                      <a:pt x="25" y="5"/>
                    </a:lnTo>
                    <a:lnTo>
                      <a:pt x="25" y="2"/>
                    </a:lnTo>
                    <a:lnTo>
                      <a:pt x="22" y="0"/>
                    </a:lnTo>
                    <a:lnTo>
                      <a:pt x="16" y="0"/>
                    </a:lnTo>
                    <a:lnTo>
                      <a:pt x="12" y="0"/>
                    </a:lnTo>
                    <a:lnTo>
                      <a:pt x="7" y="0"/>
                    </a:lnTo>
                    <a:lnTo>
                      <a:pt x="5" y="2"/>
                    </a:lnTo>
                    <a:lnTo>
                      <a:pt x="0" y="5"/>
                    </a:lnTo>
                    <a:lnTo>
                      <a:pt x="0" y="72"/>
                    </a:lnTo>
                    <a:lnTo>
                      <a:pt x="0" y="75"/>
                    </a:lnTo>
                    <a:lnTo>
                      <a:pt x="5" y="77"/>
                    </a:lnTo>
                    <a:lnTo>
                      <a:pt x="7" y="80"/>
                    </a:lnTo>
                    <a:lnTo>
                      <a:pt x="12" y="82"/>
                    </a:lnTo>
                    <a:lnTo>
                      <a:pt x="16" y="82"/>
                    </a:lnTo>
                    <a:lnTo>
                      <a:pt x="22" y="80"/>
                    </a:lnTo>
                    <a:lnTo>
                      <a:pt x="25" y="77"/>
                    </a:lnTo>
                    <a:lnTo>
                      <a:pt x="25" y="75"/>
                    </a:lnTo>
                    <a:lnTo>
                      <a:pt x="25" y="10"/>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169" name="任意多边形 14422">
                <a:extLst>
                  <a:ext uri="{FF2B5EF4-FFF2-40B4-BE49-F238E27FC236}">
                    <a16:creationId xmlns="" xmlns:a16="http://schemas.microsoft.com/office/drawing/2014/main" id="{AA6D1D7A-1434-A1AF-3951-E8540A2F3E09}"/>
                  </a:ext>
                </a:extLst>
              </p:cNvPr>
              <p:cNvSpPr>
                <a:spLocks noChangeArrowheads="1"/>
              </p:cNvSpPr>
              <p:nvPr/>
            </p:nvSpPr>
            <p:spPr bwMode="auto">
              <a:xfrm>
                <a:off x="2152" y="3102"/>
                <a:ext cx="10" cy="33"/>
              </a:xfrm>
              <a:custGeom>
                <a:avLst/>
                <a:gdLst>
                  <a:gd name="T0" fmla="*/ 25 w 25"/>
                  <a:gd name="T1" fmla="*/ 7 h 82"/>
                  <a:gd name="T2" fmla="*/ 25 w 25"/>
                  <a:gd name="T3" fmla="*/ 5 h 82"/>
                  <a:gd name="T4" fmla="*/ 25 w 25"/>
                  <a:gd name="T5" fmla="*/ 2 h 82"/>
                  <a:gd name="T6" fmla="*/ 22 w 25"/>
                  <a:gd name="T7" fmla="*/ 0 h 82"/>
                  <a:gd name="T8" fmla="*/ 16 w 25"/>
                  <a:gd name="T9" fmla="*/ 0 h 82"/>
                  <a:gd name="T10" fmla="*/ 12 w 25"/>
                  <a:gd name="T11" fmla="*/ 0 h 82"/>
                  <a:gd name="T12" fmla="*/ 7 w 25"/>
                  <a:gd name="T13" fmla="*/ 0 h 82"/>
                  <a:gd name="T14" fmla="*/ 5 w 25"/>
                  <a:gd name="T15" fmla="*/ 2 h 82"/>
                  <a:gd name="T16" fmla="*/ 0 w 25"/>
                  <a:gd name="T17" fmla="*/ 5 h 82"/>
                  <a:gd name="T18" fmla="*/ 0 w 25"/>
                  <a:gd name="T19" fmla="*/ 70 h 82"/>
                  <a:gd name="T20" fmla="*/ 0 w 25"/>
                  <a:gd name="T21" fmla="*/ 72 h 82"/>
                  <a:gd name="T22" fmla="*/ 5 w 25"/>
                  <a:gd name="T23" fmla="*/ 75 h 82"/>
                  <a:gd name="T24" fmla="*/ 7 w 25"/>
                  <a:gd name="T25" fmla="*/ 80 h 82"/>
                  <a:gd name="T26" fmla="*/ 12 w 25"/>
                  <a:gd name="T27" fmla="*/ 82 h 82"/>
                  <a:gd name="T28" fmla="*/ 16 w 25"/>
                  <a:gd name="T29" fmla="*/ 82 h 82"/>
                  <a:gd name="T30" fmla="*/ 22 w 25"/>
                  <a:gd name="T31" fmla="*/ 80 h 82"/>
                  <a:gd name="T32" fmla="*/ 25 w 25"/>
                  <a:gd name="T33" fmla="*/ 75 h 82"/>
                  <a:gd name="T34" fmla="*/ 25 w 25"/>
                  <a:gd name="T35" fmla="*/ 72 h 82"/>
                  <a:gd name="T36" fmla="*/ 25 w 25"/>
                  <a:gd name="T37" fmla="*/ 7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 h="82">
                    <a:moveTo>
                      <a:pt x="25" y="7"/>
                    </a:moveTo>
                    <a:lnTo>
                      <a:pt x="25" y="5"/>
                    </a:lnTo>
                    <a:lnTo>
                      <a:pt x="25" y="2"/>
                    </a:lnTo>
                    <a:lnTo>
                      <a:pt x="22" y="0"/>
                    </a:lnTo>
                    <a:lnTo>
                      <a:pt x="16" y="0"/>
                    </a:lnTo>
                    <a:lnTo>
                      <a:pt x="12" y="0"/>
                    </a:lnTo>
                    <a:lnTo>
                      <a:pt x="7" y="0"/>
                    </a:lnTo>
                    <a:lnTo>
                      <a:pt x="5" y="2"/>
                    </a:lnTo>
                    <a:lnTo>
                      <a:pt x="0" y="5"/>
                    </a:lnTo>
                    <a:lnTo>
                      <a:pt x="0" y="70"/>
                    </a:lnTo>
                    <a:lnTo>
                      <a:pt x="0" y="72"/>
                    </a:lnTo>
                    <a:lnTo>
                      <a:pt x="5" y="75"/>
                    </a:lnTo>
                    <a:lnTo>
                      <a:pt x="7" y="80"/>
                    </a:lnTo>
                    <a:lnTo>
                      <a:pt x="12" y="82"/>
                    </a:lnTo>
                    <a:lnTo>
                      <a:pt x="16" y="82"/>
                    </a:lnTo>
                    <a:lnTo>
                      <a:pt x="22" y="80"/>
                    </a:lnTo>
                    <a:lnTo>
                      <a:pt x="25" y="75"/>
                    </a:lnTo>
                    <a:lnTo>
                      <a:pt x="25" y="72"/>
                    </a:lnTo>
                    <a:lnTo>
                      <a:pt x="25" y="7"/>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170" name="任意多边形 14423">
                <a:extLst>
                  <a:ext uri="{FF2B5EF4-FFF2-40B4-BE49-F238E27FC236}">
                    <a16:creationId xmlns="" xmlns:a16="http://schemas.microsoft.com/office/drawing/2014/main" id="{BDC67FEC-4C65-B686-967E-BDD7955FC028}"/>
                  </a:ext>
                </a:extLst>
              </p:cNvPr>
              <p:cNvSpPr>
                <a:spLocks noChangeArrowheads="1"/>
              </p:cNvSpPr>
              <p:nvPr/>
            </p:nvSpPr>
            <p:spPr bwMode="auto">
              <a:xfrm>
                <a:off x="2152" y="3148"/>
                <a:ext cx="10" cy="32"/>
              </a:xfrm>
              <a:custGeom>
                <a:avLst/>
                <a:gdLst>
                  <a:gd name="T0" fmla="*/ 25 w 25"/>
                  <a:gd name="T1" fmla="*/ 7 h 80"/>
                  <a:gd name="T2" fmla="*/ 25 w 25"/>
                  <a:gd name="T3" fmla="*/ 5 h 80"/>
                  <a:gd name="T4" fmla="*/ 25 w 25"/>
                  <a:gd name="T5" fmla="*/ 2 h 80"/>
                  <a:gd name="T6" fmla="*/ 22 w 25"/>
                  <a:gd name="T7" fmla="*/ 0 h 80"/>
                  <a:gd name="T8" fmla="*/ 16 w 25"/>
                  <a:gd name="T9" fmla="*/ 0 h 80"/>
                  <a:gd name="T10" fmla="*/ 12 w 25"/>
                  <a:gd name="T11" fmla="*/ 0 h 80"/>
                  <a:gd name="T12" fmla="*/ 7 w 25"/>
                  <a:gd name="T13" fmla="*/ 0 h 80"/>
                  <a:gd name="T14" fmla="*/ 5 w 25"/>
                  <a:gd name="T15" fmla="*/ 2 h 80"/>
                  <a:gd name="T16" fmla="*/ 0 w 25"/>
                  <a:gd name="T17" fmla="*/ 5 h 80"/>
                  <a:gd name="T18" fmla="*/ 0 w 25"/>
                  <a:gd name="T19" fmla="*/ 69 h 80"/>
                  <a:gd name="T20" fmla="*/ 0 w 25"/>
                  <a:gd name="T21" fmla="*/ 72 h 80"/>
                  <a:gd name="T22" fmla="*/ 5 w 25"/>
                  <a:gd name="T23" fmla="*/ 75 h 80"/>
                  <a:gd name="T24" fmla="*/ 7 w 25"/>
                  <a:gd name="T25" fmla="*/ 77 h 80"/>
                  <a:gd name="T26" fmla="*/ 12 w 25"/>
                  <a:gd name="T27" fmla="*/ 80 h 80"/>
                  <a:gd name="T28" fmla="*/ 16 w 25"/>
                  <a:gd name="T29" fmla="*/ 80 h 80"/>
                  <a:gd name="T30" fmla="*/ 22 w 25"/>
                  <a:gd name="T31" fmla="*/ 77 h 80"/>
                  <a:gd name="T32" fmla="*/ 25 w 25"/>
                  <a:gd name="T33" fmla="*/ 75 h 80"/>
                  <a:gd name="T34" fmla="*/ 25 w 25"/>
                  <a:gd name="T35" fmla="*/ 72 h 80"/>
                  <a:gd name="T36" fmla="*/ 25 w 25"/>
                  <a:gd name="T37" fmla="*/ 7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 h="80">
                    <a:moveTo>
                      <a:pt x="25" y="7"/>
                    </a:moveTo>
                    <a:lnTo>
                      <a:pt x="25" y="5"/>
                    </a:lnTo>
                    <a:lnTo>
                      <a:pt x="25" y="2"/>
                    </a:lnTo>
                    <a:lnTo>
                      <a:pt x="22" y="0"/>
                    </a:lnTo>
                    <a:lnTo>
                      <a:pt x="16" y="0"/>
                    </a:lnTo>
                    <a:lnTo>
                      <a:pt x="12" y="0"/>
                    </a:lnTo>
                    <a:lnTo>
                      <a:pt x="7" y="0"/>
                    </a:lnTo>
                    <a:lnTo>
                      <a:pt x="5" y="2"/>
                    </a:lnTo>
                    <a:lnTo>
                      <a:pt x="0" y="5"/>
                    </a:lnTo>
                    <a:lnTo>
                      <a:pt x="0" y="69"/>
                    </a:lnTo>
                    <a:lnTo>
                      <a:pt x="0" y="72"/>
                    </a:lnTo>
                    <a:lnTo>
                      <a:pt x="5" y="75"/>
                    </a:lnTo>
                    <a:lnTo>
                      <a:pt x="7" y="77"/>
                    </a:lnTo>
                    <a:lnTo>
                      <a:pt x="12" y="80"/>
                    </a:lnTo>
                    <a:lnTo>
                      <a:pt x="16" y="80"/>
                    </a:lnTo>
                    <a:lnTo>
                      <a:pt x="22" y="77"/>
                    </a:lnTo>
                    <a:lnTo>
                      <a:pt x="25" y="75"/>
                    </a:lnTo>
                    <a:lnTo>
                      <a:pt x="25" y="72"/>
                    </a:lnTo>
                    <a:lnTo>
                      <a:pt x="25" y="7"/>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171" name="任意多边形 14424">
                <a:extLst>
                  <a:ext uri="{FF2B5EF4-FFF2-40B4-BE49-F238E27FC236}">
                    <a16:creationId xmlns="" xmlns:a16="http://schemas.microsoft.com/office/drawing/2014/main" id="{9BD5D64D-40D9-3F7A-C047-87274D55A475}"/>
                  </a:ext>
                </a:extLst>
              </p:cNvPr>
              <p:cNvSpPr>
                <a:spLocks noChangeArrowheads="1"/>
              </p:cNvSpPr>
              <p:nvPr/>
            </p:nvSpPr>
            <p:spPr bwMode="auto">
              <a:xfrm>
                <a:off x="2152" y="3193"/>
                <a:ext cx="10" cy="33"/>
              </a:xfrm>
              <a:custGeom>
                <a:avLst/>
                <a:gdLst>
                  <a:gd name="T0" fmla="*/ 25 w 25"/>
                  <a:gd name="T1" fmla="*/ 10 h 82"/>
                  <a:gd name="T2" fmla="*/ 25 w 25"/>
                  <a:gd name="T3" fmla="*/ 5 h 82"/>
                  <a:gd name="T4" fmla="*/ 25 w 25"/>
                  <a:gd name="T5" fmla="*/ 2 h 82"/>
                  <a:gd name="T6" fmla="*/ 22 w 25"/>
                  <a:gd name="T7" fmla="*/ 0 h 82"/>
                  <a:gd name="T8" fmla="*/ 16 w 25"/>
                  <a:gd name="T9" fmla="*/ 0 h 82"/>
                  <a:gd name="T10" fmla="*/ 12 w 25"/>
                  <a:gd name="T11" fmla="*/ 0 h 82"/>
                  <a:gd name="T12" fmla="*/ 7 w 25"/>
                  <a:gd name="T13" fmla="*/ 0 h 82"/>
                  <a:gd name="T14" fmla="*/ 5 w 25"/>
                  <a:gd name="T15" fmla="*/ 2 h 82"/>
                  <a:gd name="T16" fmla="*/ 0 w 25"/>
                  <a:gd name="T17" fmla="*/ 5 h 82"/>
                  <a:gd name="T18" fmla="*/ 0 w 25"/>
                  <a:gd name="T19" fmla="*/ 72 h 82"/>
                  <a:gd name="T20" fmla="*/ 0 w 25"/>
                  <a:gd name="T21" fmla="*/ 75 h 82"/>
                  <a:gd name="T22" fmla="*/ 5 w 25"/>
                  <a:gd name="T23" fmla="*/ 77 h 82"/>
                  <a:gd name="T24" fmla="*/ 7 w 25"/>
                  <a:gd name="T25" fmla="*/ 80 h 82"/>
                  <a:gd name="T26" fmla="*/ 12 w 25"/>
                  <a:gd name="T27" fmla="*/ 82 h 82"/>
                  <a:gd name="T28" fmla="*/ 16 w 25"/>
                  <a:gd name="T29" fmla="*/ 82 h 82"/>
                  <a:gd name="T30" fmla="*/ 22 w 25"/>
                  <a:gd name="T31" fmla="*/ 80 h 82"/>
                  <a:gd name="T32" fmla="*/ 25 w 25"/>
                  <a:gd name="T33" fmla="*/ 77 h 82"/>
                  <a:gd name="T34" fmla="*/ 25 w 25"/>
                  <a:gd name="T35" fmla="*/ 75 h 82"/>
                  <a:gd name="T36" fmla="*/ 25 w 25"/>
                  <a:gd name="T37" fmla="*/ 10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 h="82">
                    <a:moveTo>
                      <a:pt x="25" y="10"/>
                    </a:moveTo>
                    <a:lnTo>
                      <a:pt x="25" y="5"/>
                    </a:lnTo>
                    <a:lnTo>
                      <a:pt x="25" y="2"/>
                    </a:lnTo>
                    <a:lnTo>
                      <a:pt x="22" y="0"/>
                    </a:lnTo>
                    <a:lnTo>
                      <a:pt x="16" y="0"/>
                    </a:lnTo>
                    <a:lnTo>
                      <a:pt x="12" y="0"/>
                    </a:lnTo>
                    <a:lnTo>
                      <a:pt x="7" y="0"/>
                    </a:lnTo>
                    <a:lnTo>
                      <a:pt x="5" y="2"/>
                    </a:lnTo>
                    <a:lnTo>
                      <a:pt x="0" y="5"/>
                    </a:lnTo>
                    <a:lnTo>
                      <a:pt x="0" y="72"/>
                    </a:lnTo>
                    <a:lnTo>
                      <a:pt x="0" y="75"/>
                    </a:lnTo>
                    <a:lnTo>
                      <a:pt x="5" y="77"/>
                    </a:lnTo>
                    <a:lnTo>
                      <a:pt x="7" y="80"/>
                    </a:lnTo>
                    <a:lnTo>
                      <a:pt x="12" y="82"/>
                    </a:lnTo>
                    <a:lnTo>
                      <a:pt x="16" y="82"/>
                    </a:lnTo>
                    <a:lnTo>
                      <a:pt x="22" y="80"/>
                    </a:lnTo>
                    <a:lnTo>
                      <a:pt x="25" y="77"/>
                    </a:lnTo>
                    <a:lnTo>
                      <a:pt x="25" y="75"/>
                    </a:lnTo>
                    <a:lnTo>
                      <a:pt x="25" y="10"/>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172" name="任意多边形 14425">
                <a:extLst>
                  <a:ext uri="{FF2B5EF4-FFF2-40B4-BE49-F238E27FC236}">
                    <a16:creationId xmlns="" xmlns:a16="http://schemas.microsoft.com/office/drawing/2014/main" id="{FA35B287-7718-2AB2-36FF-7B015595BD7C}"/>
                  </a:ext>
                </a:extLst>
              </p:cNvPr>
              <p:cNvSpPr>
                <a:spLocks noChangeArrowheads="1"/>
              </p:cNvSpPr>
              <p:nvPr/>
            </p:nvSpPr>
            <p:spPr bwMode="auto">
              <a:xfrm>
                <a:off x="2152" y="3239"/>
                <a:ext cx="10" cy="33"/>
              </a:xfrm>
              <a:custGeom>
                <a:avLst/>
                <a:gdLst>
                  <a:gd name="T0" fmla="*/ 25 w 25"/>
                  <a:gd name="T1" fmla="*/ 7 h 82"/>
                  <a:gd name="T2" fmla="*/ 25 w 25"/>
                  <a:gd name="T3" fmla="*/ 5 h 82"/>
                  <a:gd name="T4" fmla="*/ 25 w 25"/>
                  <a:gd name="T5" fmla="*/ 2 h 82"/>
                  <a:gd name="T6" fmla="*/ 22 w 25"/>
                  <a:gd name="T7" fmla="*/ 0 h 82"/>
                  <a:gd name="T8" fmla="*/ 16 w 25"/>
                  <a:gd name="T9" fmla="*/ 0 h 82"/>
                  <a:gd name="T10" fmla="*/ 12 w 25"/>
                  <a:gd name="T11" fmla="*/ 0 h 82"/>
                  <a:gd name="T12" fmla="*/ 7 w 25"/>
                  <a:gd name="T13" fmla="*/ 0 h 82"/>
                  <a:gd name="T14" fmla="*/ 5 w 25"/>
                  <a:gd name="T15" fmla="*/ 2 h 82"/>
                  <a:gd name="T16" fmla="*/ 0 w 25"/>
                  <a:gd name="T17" fmla="*/ 5 h 82"/>
                  <a:gd name="T18" fmla="*/ 0 w 25"/>
                  <a:gd name="T19" fmla="*/ 70 h 82"/>
                  <a:gd name="T20" fmla="*/ 0 w 25"/>
                  <a:gd name="T21" fmla="*/ 72 h 82"/>
                  <a:gd name="T22" fmla="*/ 5 w 25"/>
                  <a:gd name="T23" fmla="*/ 75 h 82"/>
                  <a:gd name="T24" fmla="*/ 7 w 25"/>
                  <a:gd name="T25" fmla="*/ 77 h 82"/>
                  <a:gd name="T26" fmla="*/ 12 w 25"/>
                  <a:gd name="T27" fmla="*/ 82 h 82"/>
                  <a:gd name="T28" fmla="*/ 16 w 25"/>
                  <a:gd name="T29" fmla="*/ 82 h 82"/>
                  <a:gd name="T30" fmla="*/ 22 w 25"/>
                  <a:gd name="T31" fmla="*/ 77 h 82"/>
                  <a:gd name="T32" fmla="*/ 25 w 25"/>
                  <a:gd name="T33" fmla="*/ 75 h 82"/>
                  <a:gd name="T34" fmla="*/ 25 w 25"/>
                  <a:gd name="T35" fmla="*/ 72 h 82"/>
                  <a:gd name="T36" fmla="*/ 25 w 25"/>
                  <a:gd name="T37" fmla="*/ 7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 h="82">
                    <a:moveTo>
                      <a:pt x="25" y="7"/>
                    </a:moveTo>
                    <a:lnTo>
                      <a:pt x="25" y="5"/>
                    </a:lnTo>
                    <a:lnTo>
                      <a:pt x="25" y="2"/>
                    </a:lnTo>
                    <a:lnTo>
                      <a:pt x="22" y="0"/>
                    </a:lnTo>
                    <a:lnTo>
                      <a:pt x="16" y="0"/>
                    </a:lnTo>
                    <a:lnTo>
                      <a:pt x="12" y="0"/>
                    </a:lnTo>
                    <a:lnTo>
                      <a:pt x="7" y="0"/>
                    </a:lnTo>
                    <a:lnTo>
                      <a:pt x="5" y="2"/>
                    </a:lnTo>
                    <a:lnTo>
                      <a:pt x="0" y="5"/>
                    </a:lnTo>
                    <a:lnTo>
                      <a:pt x="0" y="70"/>
                    </a:lnTo>
                    <a:lnTo>
                      <a:pt x="0" y="72"/>
                    </a:lnTo>
                    <a:lnTo>
                      <a:pt x="5" y="75"/>
                    </a:lnTo>
                    <a:lnTo>
                      <a:pt x="7" y="77"/>
                    </a:lnTo>
                    <a:lnTo>
                      <a:pt x="12" y="82"/>
                    </a:lnTo>
                    <a:lnTo>
                      <a:pt x="16" y="82"/>
                    </a:lnTo>
                    <a:lnTo>
                      <a:pt x="22" y="77"/>
                    </a:lnTo>
                    <a:lnTo>
                      <a:pt x="25" y="75"/>
                    </a:lnTo>
                    <a:lnTo>
                      <a:pt x="25" y="72"/>
                    </a:lnTo>
                    <a:lnTo>
                      <a:pt x="25" y="7"/>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173" name="任意多边形 14426">
                <a:extLst>
                  <a:ext uri="{FF2B5EF4-FFF2-40B4-BE49-F238E27FC236}">
                    <a16:creationId xmlns="" xmlns:a16="http://schemas.microsoft.com/office/drawing/2014/main" id="{7FF95C9A-2935-4903-DA1C-05D48E6C2F2D}"/>
                  </a:ext>
                </a:extLst>
              </p:cNvPr>
              <p:cNvSpPr>
                <a:spLocks noChangeArrowheads="1"/>
              </p:cNvSpPr>
              <p:nvPr/>
            </p:nvSpPr>
            <p:spPr bwMode="auto">
              <a:xfrm>
                <a:off x="2152" y="3285"/>
                <a:ext cx="10" cy="32"/>
              </a:xfrm>
              <a:custGeom>
                <a:avLst/>
                <a:gdLst>
                  <a:gd name="T0" fmla="*/ 25 w 25"/>
                  <a:gd name="T1" fmla="*/ 7 h 79"/>
                  <a:gd name="T2" fmla="*/ 25 w 25"/>
                  <a:gd name="T3" fmla="*/ 5 h 79"/>
                  <a:gd name="T4" fmla="*/ 25 w 25"/>
                  <a:gd name="T5" fmla="*/ 2 h 79"/>
                  <a:gd name="T6" fmla="*/ 22 w 25"/>
                  <a:gd name="T7" fmla="*/ 0 h 79"/>
                  <a:gd name="T8" fmla="*/ 16 w 25"/>
                  <a:gd name="T9" fmla="*/ 0 h 79"/>
                  <a:gd name="T10" fmla="*/ 12 w 25"/>
                  <a:gd name="T11" fmla="*/ 0 h 79"/>
                  <a:gd name="T12" fmla="*/ 7 w 25"/>
                  <a:gd name="T13" fmla="*/ 0 h 79"/>
                  <a:gd name="T14" fmla="*/ 5 w 25"/>
                  <a:gd name="T15" fmla="*/ 2 h 79"/>
                  <a:gd name="T16" fmla="*/ 0 w 25"/>
                  <a:gd name="T17" fmla="*/ 5 h 79"/>
                  <a:gd name="T18" fmla="*/ 0 w 25"/>
                  <a:gd name="T19" fmla="*/ 69 h 79"/>
                  <a:gd name="T20" fmla="*/ 0 w 25"/>
                  <a:gd name="T21" fmla="*/ 72 h 79"/>
                  <a:gd name="T22" fmla="*/ 5 w 25"/>
                  <a:gd name="T23" fmla="*/ 75 h 79"/>
                  <a:gd name="T24" fmla="*/ 7 w 25"/>
                  <a:gd name="T25" fmla="*/ 77 h 79"/>
                  <a:gd name="T26" fmla="*/ 12 w 25"/>
                  <a:gd name="T27" fmla="*/ 79 h 79"/>
                  <a:gd name="T28" fmla="*/ 16 w 25"/>
                  <a:gd name="T29" fmla="*/ 79 h 79"/>
                  <a:gd name="T30" fmla="*/ 22 w 25"/>
                  <a:gd name="T31" fmla="*/ 77 h 79"/>
                  <a:gd name="T32" fmla="*/ 25 w 25"/>
                  <a:gd name="T33" fmla="*/ 75 h 79"/>
                  <a:gd name="T34" fmla="*/ 25 w 25"/>
                  <a:gd name="T35" fmla="*/ 72 h 79"/>
                  <a:gd name="T36" fmla="*/ 25 w 25"/>
                  <a:gd name="T37" fmla="*/ 7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 h="79">
                    <a:moveTo>
                      <a:pt x="25" y="7"/>
                    </a:moveTo>
                    <a:lnTo>
                      <a:pt x="25" y="5"/>
                    </a:lnTo>
                    <a:lnTo>
                      <a:pt x="25" y="2"/>
                    </a:lnTo>
                    <a:lnTo>
                      <a:pt x="22" y="0"/>
                    </a:lnTo>
                    <a:lnTo>
                      <a:pt x="16" y="0"/>
                    </a:lnTo>
                    <a:lnTo>
                      <a:pt x="12" y="0"/>
                    </a:lnTo>
                    <a:lnTo>
                      <a:pt x="7" y="0"/>
                    </a:lnTo>
                    <a:lnTo>
                      <a:pt x="5" y="2"/>
                    </a:lnTo>
                    <a:lnTo>
                      <a:pt x="0" y="5"/>
                    </a:lnTo>
                    <a:lnTo>
                      <a:pt x="0" y="69"/>
                    </a:lnTo>
                    <a:lnTo>
                      <a:pt x="0" y="72"/>
                    </a:lnTo>
                    <a:lnTo>
                      <a:pt x="5" y="75"/>
                    </a:lnTo>
                    <a:lnTo>
                      <a:pt x="7" y="77"/>
                    </a:lnTo>
                    <a:lnTo>
                      <a:pt x="12" y="79"/>
                    </a:lnTo>
                    <a:lnTo>
                      <a:pt x="16" y="79"/>
                    </a:lnTo>
                    <a:lnTo>
                      <a:pt x="22" y="77"/>
                    </a:lnTo>
                    <a:lnTo>
                      <a:pt x="25" y="75"/>
                    </a:lnTo>
                    <a:lnTo>
                      <a:pt x="25" y="72"/>
                    </a:lnTo>
                    <a:lnTo>
                      <a:pt x="25" y="7"/>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174" name="任意多边形 14427">
                <a:extLst>
                  <a:ext uri="{FF2B5EF4-FFF2-40B4-BE49-F238E27FC236}">
                    <a16:creationId xmlns="" xmlns:a16="http://schemas.microsoft.com/office/drawing/2014/main" id="{B6C8E9F0-BD21-8426-8668-6B0DDF1ADEA7}"/>
                  </a:ext>
                </a:extLst>
              </p:cNvPr>
              <p:cNvSpPr>
                <a:spLocks noChangeArrowheads="1"/>
              </p:cNvSpPr>
              <p:nvPr/>
            </p:nvSpPr>
            <p:spPr bwMode="auto">
              <a:xfrm>
                <a:off x="2152" y="3330"/>
                <a:ext cx="10" cy="33"/>
              </a:xfrm>
              <a:custGeom>
                <a:avLst/>
                <a:gdLst>
                  <a:gd name="T0" fmla="*/ 25 w 25"/>
                  <a:gd name="T1" fmla="*/ 10 h 82"/>
                  <a:gd name="T2" fmla="*/ 25 w 25"/>
                  <a:gd name="T3" fmla="*/ 5 h 82"/>
                  <a:gd name="T4" fmla="*/ 25 w 25"/>
                  <a:gd name="T5" fmla="*/ 2 h 82"/>
                  <a:gd name="T6" fmla="*/ 22 w 25"/>
                  <a:gd name="T7" fmla="*/ 0 h 82"/>
                  <a:gd name="T8" fmla="*/ 16 w 25"/>
                  <a:gd name="T9" fmla="*/ 0 h 82"/>
                  <a:gd name="T10" fmla="*/ 12 w 25"/>
                  <a:gd name="T11" fmla="*/ 0 h 82"/>
                  <a:gd name="T12" fmla="*/ 7 w 25"/>
                  <a:gd name="T13" fmla="*/ 0 h 82"/>
                  <a:gd name="T14" fmla="*/ 5 w 25"/>
                  <a:gd name="T15" fmla="*/ 2 h 82"/>
                  <a:gd name="T16" fmla="*/ 0 w 25"/>
                  <a:gd name="T17" fmla="*/ 5 h 82"/>
                  <a:gd name="T18" fmla="*/ 0 w 25"/>
                  <a:gd name="T19" fmla="*/ 72 h 82"/>
                  <a:gd name="T20" fmla="*/ 0 w 25"/>
                  <a:gd name="T21" fmla="*/ 75 h 82"/>
                  <a:gd name="T22" fmla="*/ 5 w 25"/>
                  <a:gd name="T23" fmla="*/ 77 h 82"/>
                  <a:gd name="T24" fmla="*/ 7 w 25"/>
                  <a:gd name="T25" fmla="*/ 80 h 82"/>
                  <a:gd name="T26" fmla="*/ 12 w 25"/>
                  <a:gd name="T27" fmla="*/ 82 h 82"/>
                  <a:gd name="T28" fmla="*/ 16 w 25"/>
                  <a:gd name="T29" fmla="*/ 82 h 82"/>
                  <a:gd name="T30" fmla="*/ 22 w 25"/>
                  <a:gd name="T31" fmla="*/ 80 h 82"/>
                  <a:gd name="T32" fmla="*/ 25 w 25"/>
                  <a:gd name="T33" fmla="*/ 77 h 82"/>
                  <a:gd name="T34" fmla="*/ 25 w 25"/>
                  <a:gd name="T35" fmla="*/ 75 h 82"/>
                  <a:gd name="T36" fmla="*/ 25 w 25"/>
                  <a:gd name="T37" fmla="*/ 10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 h="82">
                    <a:moveTo>
                      <a:pt x="25" y="10"/>
                    </a:moveTo>
                    <a:lnTo>
                      <a:pt x="25" y="5"/>
                    </a:lnTo>
                    <a:lnTo>
                      <a:pt x="25" y="2"/>
                    </a:lnTo>
                    <a:lnTo>
                      <a:pt x="22" y="0"/>
                    </a:lnTo>
                    <a:lnTo>
                      <a:pt x="16" y="0"/>
                    </a:lnTo>
                    <a:lnTo>
                      <a:pt x="12" y="0"/>
                    </a:lnTo>
                    <a:lnTo>
                      <a:pt x="7" y="0"/>
                    </a:lnTo>
                    <a:lnTo>
                      <a:pt x="5" y="2"/>
                    </a:lnTo>
                    <a:lnTo>
                      <a:pt x="0" y="5"/>
                    </a:lnTo>
                    <a:lnTo>
                      <a:pt x="0" y="72"/>
                    </a:lnTo>
                    <a:lnTo>
                      <a:pt x="0" y="75"/>
                    </a:lnTo>
                    <a:lnTo>
                      <a:pt x="5" y="77"/>
                    </a:lnTo>
                    <a:lnTo>
                      <a:pt x="7" y="80"/>
                    </a:lnTo>
                    <a:lnTo>
                      <a:pt x="12" y="82"/>
                    </a:lnTo>
                    <a:lnTo>
                      <a:pt x="16" y="82"/>
                    </a:lnTo>
                    <a:lnTo>
                      <a:pt x="22" y="80"/>
                    </a:lnTo>
                    <a:lnTo>
                      <a:pt x="25" y="77"/>
                    </a:lnTo>
                    <a:lnTo>
                      <a:pt x="25" y="75"/>
                    </a:lnTo>
                    <a:lnTo>
                      <a:pt x="25" y="10"/>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175" name="任意多边形 14428">
                <a:extLst>
                  <a:ext uri="{FF2B5EF4-FFF2-40B4-BE49-F238E27FC236}">
                    <a16:creationId xmlns="" xmlns:a16="http://schemas.microsoft.com/office/drawing/2014/main" id="{F608E175-32C7-F8B9-F029-30E413E29D0F}"/>
                  </a:ext>
                </a:extLst>
              </p:cNvPr>
              <p:cNvSpPr>
                <a:spLocks noChangeArrowheads="1"/>
              </p:cNvSpPr>
              <p:nvPr/>
            </p:nvSpPr>
            <p:spPr bwMode="auto">
              <a:xfrm>
                <a:off x="2152" y="3376"/>
                <a:ext cx="10" cy="33"/>
              </a:xfrm>
              <a:custGeom>
                <a:avLst/>
                <a:gdLst>
                  <a:gd name="T0" fmla="*/ 25 w 25"/>
                  <a:gd name="T1" fmla="*/ 7 h 82"/>
                  <a:gd name="T2" fmla="*/ 25 w 25"/>
                  <a:gd name="T3" fmla="*/ 5 h 82"/>
                  <a:gd name="T4" fmla="*/ 25 w 25"/>
                  <a:gd name="T5" fmla="*/ 2 h 82"/>
                  <a:gd name="T6" fmla="*/ 22 w 25"/>
                  <a:gd name="T7" fmla="*/ 0 h 82"/>
                  <a:gd name="T8" fmla="*/ 16 w 25"/>
                  <a:gd name="T9" fmla="*/ 0 h 82"/>
                  <a:gd name="T10" fmla="*/ 12 w 25"/>
                  <a:gd name="T11" fmla="*/ 0 h 82"/>
                  <a:gd name="T12" fmla="*/ 7 w 25"/>
                  <a:gd name="T13" fmla="*/ 0 h 82"/>
                  <a:gd name="T14" fmla="*/ 5 w 25"/>
                  <a:gd name="T15" fmla="*/ 2 h 82"/>
                  <a:gd name="T16" fmla="*/ 0 w 25"/>
                  <a:gd name="T17" fmla="*/ 5 h 82"/>
                  <a:gd name="T18" fmla="*/ 0 w 25"/>
                  <a:gd name="T19" fmla="*/ 69 h 82"/>
                  <a:gd name="T20" fmla="*/ 0 w 25"/>
                  <a:gd name="T21" fmla="*/ 72 h 82"/>
                  <a:gd name="T22" fmla="*/ 5 w 25"/>
                  <a:gd name="T23" fmla="*/ 75 h 82"/>
                  <a:gd name="T24" fmla="*/ 7 w 25"/>
                  <a:gd name="T25" fmla="*/ 77 h 82"/>
                  <a:gd name="T26" fmla="*/ 12 w 25"/>
                  <a:gd name="T27" fmla="*/ 82 h 82"/>
                  <a:gd name="T28" fmla="*/ 16 w 25"/>
                  <a:gd name="T29" fmla="*/ 82 h 82"/>
                  <a:gd name="T30" fmla="*/ 22 w 25"/>
                  <a:gd name="T31" fmla="*/ 77 h 82"/>
                  <a:gd name="T32" fmla="*/ 25 w 25"/>
                  <a:gd name="T33" fmla="*/ 75 h 82"/>
                  <a:gd name="T34" fmla="*/ 25 w 25"/>
                  <a:gd name="T35" fmla="*/ 72 h 82"/>
                  <a:gd name="T36" fmla="*/ 25 w 25"/>
                  <a:gd name="T37" fmla="*/ 7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 h="82">
                    <a:moveTo>
                      <a:pt x="25" y="7"/>
                    </a:moveTo>
                    <a:lnTo>
                      <a:pt x="25" y="5"/>
                    </a:lnTo>
                    <a:lnTo>
                      <a:pt x="25" y="2"/>
                    </a:lnTo>
                    <a:lnTo>
                      <a:pt x="22" y="0"/>
                    </a:lnTo>
                    <a:lnTo>
                      <a:pt x="16" y="0"/>
                    </a:lnTo>
                    <a:lnTo>
                      <a:pt x="12" y="0"/>
                    </a:lnTo>
                    <a:lnTo>
                      <a:pt x="7" y="0"/>
                    </a:lnTo>
                    <a:lnTo>
                      <a:pt x="5" y="2"/>
                    </a:lnTo>
                    <a:lnTo>
                      <a:pt x="0" y="5"/>
                    </a:lnTo>
                    <a:lnTo>
                      <a:pt x="0" y="69"/>
                    </a:lnTo>
                    <a:lnTo>
                      <a:pt x="0" y="72"/>
                    </a:lnTo>
                    <a:lnTo>
                      <a:pt x="5" y="75"/>
                    </a:lnTo>
                    <a:lnTo>
                      <a:pt x="7" y="77"/>
                    </a:lnTo>
                    <a:lnTo>
                      <a:pt x="12" y="82"/>
                    </a:lnTo>
                    <a:lnTo>
                      <a:pt x="16" y="82"/>
                    </a:lnTo>
                    <a:lnTo>
                      <a:pt x="22" y="77"/>
                    </a:lnTo>
                    <a:lnTo>
                      <a:pt x="25" y="75"/>
                    </a:lnTo>
                    <a:lnTo>
                      <a:pt x="25" y="72"/>
                    </a:lnTo>
                    <a:lnTo>
                      <a:pt x="25" y="7"/>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176" name="任意多边形 14429">
                <a:extLst>
                  <a:ext uri="{FF2B5EF4-FFF2-40B4-BE49-F238E27FC236}">
                    <a16:creationId xmlns="" xmlns:a16="http://schemas.microsoft.com/office/drawing/2014/main" id="{50CFE8E2-0856-67D5-9942-FF5C02EF98D0}"/>
                  </a:ext>
                </a:extLst>
              </p:cNvPr>
              <p:cNvSpPr>
                <a:spLocks noChangeArrowheads="1"/>
              </p:cNvSpPr>
              <p:nvPr/>
            </p:nvSpPr>
            <p:spPr bwMode="auto">
              <a:xfrm>
                <a:off x="2152" y="3422"/>
                <a:ext cx="10" cy="32"/>
              </a:xfrm>
              <a:custGeom>
                <a:avLst/>
                <a:gdLst>
                  <a:gd name="T0" fmla="*/ 25 w 25"/>
                  <a:gd name="T1" fmla="*/ 7 h 79"/>
                  <a:gd name="T2" fmla="*/ 25 w 25"/>
                  <a:gd name="T3" fmla="*/ 4 h 79"/>
                  <a:gd name="T4" fmla="*/ 25 w 25"/>
                  <a:gd name="T5" fmla="*/ 2 h 79"/>
                  <a:gd name="T6" fmla="*/ 22 w 25"/>
                  <a:gd name="T7" fmla="*/ 0 h 79"/>
                  <a:gd name="T8" fmla="*/ 16 w 25"/>
                  <a:gd name="T9" fmla="*/ 0 h 79"/>
                  <a:gd name="T10" fmla="*/ 12 w 25"/>
                  <a:gd name="T11" fmla="*/ 0 h 79"/>
                  <a:gd name="T12" fmla="*/ 7 w 25"/>
                  <a:gd name="T13" fmla="*/ 0 h 79"/>
                  <a:gd name="T14" fmla="*/ 5 w 25"/>
                  <a:gd name="T15" fmla="*/ 2 h 79"/>
                  <a:gd name="T16" fmla="*/ 0 w 25"/>
                  <a:gd name="T17" fmla="*/ 4 h 79"/>
                  <a:gd name="T18" fmla="*/ 0 w 25"/>
                  <a:gd name="T19" fmla="*/ 69 h 79"/>
                  <a:gd name="T20" fmla="*/ 0 w 25"/>
                  <a:gd name="T21" fmla="*/ 72 h 79"/>
                  <a:gd name="T22" fmla="*/ 5 w 25"/>
                  <a:gd name="T23" fmla="*/ 75 h 79"/>
                  <a:gd name="T24" fmla="*/ 7 w 25"/>
                  <a:gd name="T25" fmla="*/ 77 h 79"/>
                  <a:gd name="T26" fmla="*/ 12 w 25"/>
                  <a:gd name="T27" fmla="*/ 79 h 79"/>
                  <a:gd name="T28" fmla="*/ 16 w 25"/>
                  <a:gd name="T29" fmla="*/ 79 h 79"/>
                  <a:gd name="T30" fmla="*/ 22 w 25"/>
                  <a:gd name="T31" fmla="*/ 77 h 79"/>
                  <a:gd name="T32" fmla="*/ 25 w 25"/>
                  <a:gd name="T33" fmla="*/ 75 h 79"/>
                  <a:gd name="T34" fmla="*/ 25 w 25"/>
                  <a:gd name="T35" fmla="*/ 72 h 79"/>
                  <a:gd name="T36" fmla="*/ 25 w 25"/>
                  <a:gd name="T37" fmla="*/ 7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 h="79">
                    <a:moveTo>
                      <a:pt x="25" y="7"/>
                    </a:moveTo>
                    <a:lnTo>
                      <a:pt x="25" y="4"/>
                    </a:lnTo>
                    <a:lnTo>
                      <a:pt x="25" y="2"/>
                    </a:lnTo>
                    <a:lnTo>
                      <a:pt x="22" y="0"/>
                    </a:lnTo>
                    <a:lnTo>
                      <a:pt x="16" y="0"/>
                    </a:lnTo>
                    <a:lnTo>
                      <a:pt x="12" y="0"/>
                    </a:lnTo>
                    <a:lnTo>
                      <a:pt x="7" y="0"/>
                    </a:lnTo>
                    <a:lnTo>
                      <a:pt x="5" y="2"/>
                    </a:lnTo>
                    <a:lnTo>
                      <a:pt x="0" y="4"/>
                    </a:lnTo>
                    <a:lnTo>
                      <a:pt x="0" y="69"/>
                    </a:lnTo>
                    <a:lnTo>
                      <a:pt x="0" y="72"/>
                    </a:lnTo>
                    <a:lnTo>
                      <a:pt x="5" y="75"/>
                    </a:lnTo>
                    <a:lnTo>
                      <a:pt x="7" y="77"/>
                    </a:lnTo>
                    <a:lnTo>
                      <a:pt x="12" y="79"/>
                    </a:lnTo>
                    <a:lnTo>
                      <a:pt x="16" y="79"/>
                    </a:lnTo>
                    <a:lnTo>
                      <a:pt x="22" y="77"/>
                    </a:lnTo>
                    <a:lnTo>
                      <a:pt x="25" y="75"/>
                    </a:lnTo>
                    <a:lnTo>
                      <a:pt x="25" y="72"/>
                    </a:lnTo>
                    <a:lnTo>
                      <a:pt x="25" y="7"/>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177" name="任意多边形 14430">
                <a:extLst>
                  <a:ext uri="{FF2B5EF4-FFF2-40B4-BE49-F238E27FC236}">
                    <a16:creationId xmlns="" xmlns:a16="http://schemas.microsoft.com/office/drawing/2014/main" id="{2ECFE027-0DD2-0DB6-795E-FC16D97F0CDB}"/>
                  </a:ext>
                </a:extLst>
              </p:cNvPr>
              <p:cNvSpPr>
                <a:spLocks noChangeArrowheads="1"/>
              </p:cNvSpPr>
              <p:nvPr/>
            </p:nvSpPr>
            <p:spPr bwMode="auto">
              <a:xfrm>
                <a:off x="2152" y="3467"/>
                <a:ext cx="10" cy="33"/>
              </a:xfrm>
              <a:custGeom>
                <a:avLst/>
                <a:gdLst>
                  <a:gd name="T0" fmla="*/ 25 w 25"/>
                  <a:gd name="T1" fmla="*/ 10 h 82"/>
                  <a:gd name="T2" fmla="*/ 25 w 25"/>
                  <a:gd name="T3" fmla="*/ 5 h 82"/>
                  <a:gd name="T4" fmla="*/ 25 w 25"/>
                  <a:gd name="T5" fmla="*/ 2 h 82"/>
                  <a:gd name="T6" fmla="*/ 22 w 25"/>
                  <a:gd name="T7" fmla="*/ 0 h 82"/>
                  <a:gd name="T8" fmla="*/ 16 w 25"/>
                  <a:gd name="T9" fmla="*/ 0 h 82"/>
                  <a:gd name="T10" fmla="*/ 12 w 25"/>
                  <a:gd name="T11" fmla="*/ 0 h 82"/>
                  <a:gd name="T12" fmla="*/ 7 w 25"/>
                  <a:gd name="T13" fmla="*/ 0 h 82"/>
                  <a:gd name="T14" fmla="*/ 5 w 25"/>
                  <a:gd name="T15" fmla="*/ 2 h 82"/>
                  <a:gd name="T16" fmla="*/ 0 w 25"/>
                  <a:gd name="T17" fmla="*/ 5 h 82"/>
                  <a:gd name="T18" fmla="*/ 0 w 25"/>
                  <a:gd name="T19" fmla="*/ 72 h 82"/>
                  <a:gd name="T20" fmla="*/ 0 w 25"/>
                  <a:gd name="T21" fmla="*/ 75 h 82"/>
                  <a:gd name="T22" fmla="*/ 5 w 25"/>
                  <a:gd name="T23" fmla="*/ 77 h 82"/>
                  <a:gd name="T24" fmla="*/ 7 w 25"/>
                  <a:gd name="T25" fmla="*/ 79 h 82"/>
                  <a:gd name="T26" fmla="*/ 12 w 25"/>
                  <a:gd name="T27" fmla="*/ 82 h 82"/>
                  <a:gd name="T28" fmla="*/ 16 w 25"/>
                  <a:gd name="T29" fmla="*/ 82 h 82"/>
                  <a:gd name="T30" fmla="*/ 22 w 25"/>
                  <a:gd name="T31" fmla="*/ 79 h 82"/>
                  <a:gd name="T32" fmla="*/ 25 w 25"/>
                  <a:gd name="T33" fmla="*/ 77 h 82"/>
                  <a:gd name="T34" fmla="*/ 25 w 25"/>
                  <a:gd name="T35" fmla="*/ 75 h 82"/>
                  <a:gd name="T36" fmla="*/ 25 w 25"/>
                  <a:gd name="T37" fmla="*/ 10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 h="82">
                    <a:moveTo>
                      <a:pt x="25" y="10"/>
                    </a:moveTo>
                    <a:lnTo>
                      <a:pt x="25" y="5"/>
                    </a:lnTo>
                    <a:lnTo>
                      <a:pt x="25" y="2"/>
                    </a:lnTo>
                    <a:lnTo>
                      <a:pt x="22" y="0"/>
                    </a:lnTo>
                    <a:lnTo>
                      <a:pt x="16" y="0"/>
                    </a:lnTo>
                    <a:lnTo>
                      <a:pt x="12" y="0"/>
                    </a:lnTo>
                    <a:lnTo>
                      <a:pt x="7" y="0"/>
                    </a:lnTo>
                    <a:lnTo>
                      <a:pt x="5" y="2"/>
                    </a:lnTo>
                    <a:lnTo>
                      <a:pt x="0" y="5"/>
                    </a:lnTo>
                    <a:lnTo>
                      <a:pt x="0" y="72"/>
                    </a:lnTo>
                    <a:lnTo>
                      <a:pt x="0" y="75"/>
                    </a:lnTo>
                    <a:lnTo>
                      <a:pt x="5" y="77"/>
                    </a:lnTo>
                    <a:lnTo>
                      <a:pt x="7" y="79"/>
                    </a:lnTo>
                    <a:lnTo>
                      <a:pt x="12" y="82"/>
                    </a:lnTo>
                    <a:lnTo>
                      <a:pt x="16" y="82"/>
                    </a:lnTo>
                    <a:lnTo>
                      <a:pt x="22" y="79"/>
                    </a:lnTo>
                    <a:lnTo>
                      <a:pt x="25" y="77"/>
                    </a:lnTo>
                    <a:lnTo>
                      <a:pt x="25" y="75"/>
                    </a:lnTo>
                    <a:lnTo>
                      <a:pt x="25" y="10"/>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178" name="任意多边形 14431">
                <a:extLst>
                  <a:ext uri="{FF2B5EF4-FFF2-40B4-BE49-F238E27FC236}">
                    <a16:creationId xmlns="" xmlns:a16="http://schemas.microsoft.com/office/drawing/2014/main" id="{E3A88679-21BF-0096-51D6-D937FF409A7F}"/>
                  </a:ext>
                </a:extLst>
              </p:cNvPr>
              <p:cNvSpPr>
                <a:spLocks noChangeArrowheads="1"/>
              </p:cNvSpPr>
              <p:nvPr/>
            </p:nvSpPr>
            <p:spPr bwMode="auto">
              <a:xfrm>
                <a:off x="2152" y="3513"/>
                <a:ext cx="10" cy="33"/>
              </a:xfrm>
              <a:custGeom>
                <a:avLst/>
                <a:gdLst>
                  <a:gd name="T0" fmla="*/ 25 w 25"/>
                  <a:gd name="T1" fmla="*/ 7 h 82"/>
                  <a:gd name="T2" fmla="*/ 25 w 25"/>
                  <a:gd name="T3" fmla="*/ 4 h 82"/>
                  <a:gd name="T4" fmla="*/ 25 w 25"/>
                  <a:gd name="T5" fmla="*/ 2 h 82"/>
                  <a:gd name="T6" fmla="*/ 22 w 25"/>
                  <a:gd name="T7" fmla="*/ 0 h 82"/>
                  <a:gd name="T8" fmla="*/ 16 w 25"/>
                  <a:gd name="T9" fmla="*/ 0 h 82"/>
                  <a:gd name="T10" fmla="*/ 12 w 25"/>
                  <a:gd name="T11" fmla="*/ 0 h 82"/>
                  <a:gd name="T12" fmla="*/ 7 w 25"/>
                  <a:gd name="T13" fmla="*/ 0 h 82"/>
                  <a:gd name="T14" fmla="*/ 5 w 25"/>
                  <a:gd name="T15" fmla="*/ 2 h 82"/>
                  <a:gd name="T16" fmla="*/ 0 w 25"/>
                  <a:gd name="T17" fmla="*/ 4 h 82"/>
                  <a:gd name="T18" fmla="*/ 0 w 25"/>
                  <a:gd name="T19" fmla="*/ 69 h 82"/>
                  <a:gd name="T20" fmla="*/ 0 w 25"/>
                  <a:gd name="T21" fmla="*/ 72 h 82"/>
                  <a:gd name="T22" fmla="*/ 5 w 25"/>
                  <a:gd name="T23" fmla="*/ 75 h 82"/>
                  <a:gd name="T24" fmla="*/ 7 w 25"/>
                  <a:gd name="T25" fmla="*/ 77 h 82"/>
                  <a:gd name="T26" fmla="*/ 12 w 25"/>
                  <a:gd name="T27" fmla="*/ 82 h 82"/>
                  <a:gd name="T28" fmla="*/ 16 w 25"/>
                  <a:gd name="T29" fmla="*/ 82 h 82"/>
                  <a:gd name="T30" fmla="*/ 22 w 25"/>
                  <a:gd name="T31" fmla="*/ 77 h 82"/>
                  <a:gd name="T32" fmla="*/ 25 w 25"/>
                  <a:gd name="T33" fmla="*/ 75 h 82"/>
                  <a:gd name="T34" fmla="*/ 25 w 25"/>
                  <a:gd name="T35" fmla="*/ 72 h 82"/>
                  <a:gd name="T36" fmla="*/ 25 w 25"/>
                  <a:gd name="T37" fmla="*/ 7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 h="82">
                    <a:moveTo>
                      <a:pt x="25" y="7"/>
                    </a:moveTo>
                    <a:lnTo>
                      <a:pt x="25" y="4"/>
                    </a:lnTo>
                    <a:lnTo>
                      <a:pt x="25" y="2"/>
                    </a:lnTo>
                    <a:lnTo>
                      <a:pt x="22" y="0"/>
                    </a:lnTo>
                    <a:lnTo>
                      <a:pt x="16" y="0"/>
                    </a:lnTo>
                    <a:lnTo>
                      <a:pt x="12" y="0"/>
                    </a:lnTo>
                    <a:lnTo>
                      <a:pt x="7" y="0"/>
                    </a:lnTo>
                    <a:lnTo>
                      <a:pt x="5" y="2"/>
                    </a:lnTo>
                    <a:lnTo>
                      <a:pt x="0" y="4"/>
                    </a:lnTo>
                    <a:lnTo>
                      <a:pt x="0" y="69"/>
                    </a:lnTo>
                    <a:lnTo>
                      <a:pt x="0" y="72"/>
                    </a:lnTo>
                    <a:lnTo>
                      <a:pt x="5" y="75"/>
                    </a:lnTo>
                    <a:lnTo>
                      <a:pt x="7" y="77"/>
                    </a:lnTo>
                    <a:lnTo>
                      <a:pt x="12" y="82"/>
                    </a:lnTo>
                    <a:lnTo>
                      <a:pt x="16" y="82"/>
                    </a:lnTo>
                    <a:lnTo>
                      <a:pt x="22" y="77"/>
                    </a:lnTo>
                    <a:lnTo>
                      <a:pt x="25" y="75"/>
                    </a:lnTo>
                    <a:lnTo>
                      <a:pt x="25" y="72"/>
                    </a:lnTo>
                    <a:lnTo>
                      <a:pt x="25" y="7"/>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179" name="任意多边形 14432">
                <a:extLst>
                  <a:ext uri="{FF2B5EF4-FFF2-40B4-BE49-F238E27FC236}">
                    <a16:creationId xmlns="" xmlns:a16="http://schemas.microsoft.com/office/drawing/2014/main" id="{D50A9298-BDBA-D17E-3E18-AA4B8EDA1D46}"/>
                  </a:ext>
                </a:extLst>
              </p:cNvPr>
              <p:cNvSpPr>
                <a:spLocks noChangeArrowheads="1"/>
              </p:cNvSpPr>
              <p:nvPr/>
            </p:nvSpPr>
            <p:spPr bwMode="auto">
              <a:xfrm>
                <a:off x="2152" y="3559"/>
                <a:ext cx="10" cy="32"/>
              </a:xfrm>
              <a:custGeom>
                <a:avLst/>
                <a:gdLst>
                  <a:gd name="T0" fmla="*/ 25 w 25"/>
                  <a:gd name="T1" fmla="*/ 7 h 79"/>
                  <a:gd name="T2" fmla="*/ 25 w 25"/>
                  <a:gd name="T3" fmla="*/ 4 h 79"/>
                  <a:gd name="T4" fmla="*/ 25 w 25"/>
                  <a:gd name="T5" fmla="*/ 2 h 79"/>
                  <a:gd name="T6" fmla="*/ 22 w 25"/>
                  <a:gd name="T7" fmla="*/ 0 h 79"/>
                  <a:gd name="T8" fmla="*/ 16 w 25"/>
                  <a:gd name="T9" fmla="*/ 0 h 79"/>
                  <a:gd name="T10" fmla="*/ 12 w 25"/>
                  <a:gd name="T11" fmla="*/ 0 h 79"/>
                  <a:gd name="T12" fmla="*/ 7 w 25"/>
                  <a:gd name="T13" fmla="*/ 0 h 79"/>
                  <a:gd name="T14" fmla="*/ 5 w 25"/>
                  <a:gd name="T15" fmla="*/ 2 h 79"/>
                  <a:gd name="T16" fmla="*/ 0 w 25"/>
                  <a:gd name="T17" fmla="*/ 4 h 79"/>
                  <a:gd name="T18" fmla="*/ 0 w 25"/>
                  <a:gd name="T19" fmla="*/ 69 h 79"/>
                  <a:gd name="T20" fmla="*/ 0 w 25"/>
                  <a:gd name="T21" fmla="*/ 72 h 79"/>
                  <a:gd name="T22" fmla="*/ 5 w 25"/>
                  <a:gd name="T23" fmla="*/ 75 h 79"/>
                  <a:gd name="T24" fmla="*/ 7 w 25"/>
                  <a:gd name="T25" fmla="*/ 77 h 79"/>
                  <a:gd name="T26" fmla="*/ 12 w 25"/>
                  <a:gd name="T27" fmla="*/ 79 h 79"/>
                  <a:gd name="T28" fmla="*/ 16 w 25"/>
                  <a:gd name="T29" fmla="*/ 79 h 79"/>
                  <a:gd name="T30" fmla="*/ 22 w 25"/>
                  <a:gd name="T31" fmla="*/ 77 h 79"/>
                  <a:gd name="T32" fmla="*/ 25 w 25"/>
                  <a:gd name="T33" fmla="*/ 75 h 79"/>
                  <a:gd name="T34" fmla="*/ 25 w 25"/>
                  <a:gd name="T35" fmla="*/ 72 h 79"/>
                  <a:gd name="T36" fmla="*/ 25 w 25"/>
                  <a:gd name="T37" fmla="*/ 7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 h="79">
                    <a:moveTo>
                      <a:pt x="25" y="7"/>
                    </a:moveTo>
                    <a:lnTo>
                      <a:pt x="25" y="4"/>
                    </a:lnTo>
                    <a:lnTo>
                      <a:pt x="25" y="2"/>
                    </a:lnTo>
                    <a:lnTo>
                      <a:pt x="22" y="0"/>
                    </a:lnTo>
                    <a:lnTo>
                      <a:pt x="16" y="0"/>
                    </a:lnTo>
                    <a:lnTo>
                      <a:pt x="12" y="0"/>
                    </a:lnTo>
                    <a:lnTo>
                      <a:pt x="7" y="0"/>
                    </a:lnTo>
                    <a:lnTo>
                      <a:pt x="5" y="2"/>
                    </a:lnTo>
                    <a:lnTo>
                      <a:pt x="0" y="4"/>
                    </a:lnTo>
                    <a:lnTo>
                      <a:pt x="0" y="69"/>
                    </a:lnTo>
                    <a:lnTo>
                      <a:pt x="0" y="72"/>
                    </a:lnTo>
                    <a:lnTo>
                      <a:pt x="5" y="75"/>
                    </a:lnTo>
                    <a:lnTo>
                      <a:pt x="7" y="77"/>
                    </a:lnTo>
                    <a:lnTo>
                      <a:pt x="12" y="79"/>
                    </a:lnTo>
                    <a:lnTo>
                      <a:pt x="16" y="79"/>
                    </a:lnTo>
                    <a:lnTo>
                      <a:pt x="22" y="77"/>
                    </a:lnTo>
                    <a:lnTo>
                      <a:pt x="25" y="75"/>
                    </a:lnTo>
                    <a:lnTo>
                      <a:pt x="25" y="72"/>
                    </a:lnTo>
                    <a:lnTo>
                      <a:pt x="25" y="7"/>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180" name="任意多边形 14433">
                <a:extLst>
                  <a:ext uri="{FF2B5EF4-FFF2-40B4-BE49-F238E27FC236}">
                    <a16:creationId xmlns="" xmlns:a16="http://schemas.microsoft.com/office/drawing/2014/main" id="{73DFCD64-A6FF-B1E8-3968-27529A71D5D9}"/>
                  </a:ext>
                </a:extLst>
              </p:cNvPr>
              <p:cNvSpPr>
                <a:spLocks noChangeArrowheads="1"/>
              </p:cNvSpPr>
              <p:nvPr/>
            </p:nvSpPr>
            <p:spPr bwMode="auto">
              <a:xfrm>
                <a:off x="2152" y="3604"/>
                <a:ext cx="10" cy="33"/>
              </a:xfrm>
              <a:custGeom>
                <a:avLst/>
                <a:gdLst>
                  <a:gd name="T0" fmla="*/ 25 w 25"/>
                  <a:gd name="T1" fmla="*/ 10 h 82"/>
                  <a:gd name="T2" fmla="*/ 25 w 25"/>
                  <a:gd name="T3" fmla="*/ 5 h 82"/>
                  <a:gd name="T4" fmla="*/ 25 w 25"/>
                  <a:gd name="T5" fmla="*/ 2 h 82"/>
                  <a:gd name="T6" fmla="*/ 22 w 25"/>
                  <a:gd name="T7" fmla="*/ 0 h 82"/>
                  <a:gd name="T8" fmla="*/ 16 w 25"/>
                  <a:gd name="T9" fmla="*/ 0 h 82"/>
                  <a:gd name="T10" fmla="*/ 12 w 25"/>
                  <a:gd name="T11" fmla="*/ 0 h 82"/>
                  <a:gd name="T12" fmla="*/ 7 w 25"/>
                  <a:gd name="T13" fmla="*/ 0 h 82"/>
                  <a:gd name="T14" fmla="*/ 5 w 25"/>
                  <a:gd name="T15" fmla="*/ 2 h 82"/>
                  <a:gd name="T16" fmla="*/ 0 w 25"/>
                  <a:gd name="T17" fmla="*/ 5 h 82"/>
                  <a:gd name="T18" fmla="*/ 0 w 25"/>
                  <a:gd name="T19" fmla="*/ 72 h 82"/>
                  <a:gd name="T20" fmla="*/ 0 w 25"/>
                  <a:gd name="T21" fmla="*/ 75 h 82"/>
                  <a:gd name="T22" fmla="*/ 5 w 25"/>
                  <a:gd name="T23" fmla="*/ 77 h 82"/>
                  <a:gd name="T24" fmla="*/ 7 w 25"/>
                  <a:gd name="T25" fmla="*/ 79 h 82"/>
                  <a:gd name="T26" fmla="*/ 12 w 25"/>
                  <a:gd name="T27" fmla="*/ 82 h 82"/>
                  <a:gd name="T28" fmla="*/ 16 w 25"/>
                  <a:gd name="T29" fmla="*/ 82 h 82"/>
                  <a:gd name="T30" fmla="*/ 22 w 25"/>
                  <a:gd name="T31" fmla="*/ 79 h 82"/>
                  <a:gd name="T32" fmla="*/ 25 w 25"/>
                  <a:gd name="T33" fmla="*/ 77 h 82"/>
                  <a:gd name="T34" fmla="*/ 25 w 25"/>
                  <a:gd name="T35" fmla="*/ 75 h 82"/>
                  <a:gd name="T36" fmla="*/ 25 w 25"/>
                  <a:gd name="T37" fmla="*/ 10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 h="82">
                    <a:moveTo>
                      <a:pt x="25" y="10"/>
                    </a:moveTo>
                    <a:lnTo>
                      <a:pt x="25" y="5"/>
                    </a:lnTo>
                    <a:lnTo>
                      <a:pt x="25" y="2"/>
                    </a:lnTo>
                    <a:lnTo>
                      <a:pt x="22" y="0"/>
                    </a:lnTo>
                    <a:lnTo>
                      <a:pt x="16" y="0"/>
                    </a:lnTo>
                    <a:lnTo>
                      <a:pt x="12" y="0"/>
                    </a:lnTo>
                    <a:lnTo>
                      <a:pt x="7" y="0"/>
                    </a:lnTo>
                    <a:lnTo>
                      <a:pt x="5" y="2"/>
                    </a:lnTo>
                    <a:lnTo>
                      <a:pt x="0" y="5"/>
                    </a:lnTo>
                    <a:lnTo>
                      <a:pt x="0" y="72"/>
                    </a:lnTo>
                    <a:lnTo>
                      <a:pt x="0" y="75"/>
                    </a:lnTo>
                    <a:lnTo>
                      <a:pt x="5" y="77"/>
                    </a:lnTo>
                    <a:lnTo>
                      <a:pt x="7" y="79"/>
                    </a:lnTo>
                    <a:lnTo>
                      <a:pt x="12" y="82"/>
                    </a:lnTo>
                    <a:lnTo>
                      <a:pt x="16" y="82"/>
                    </a:lnTo>
                    <a:lnTo>
                      <a:pt x="22" y="79"/>
                    </a:lnTo>
                    <a:lnTo>
                      <a:pt x="25" y="77"/>
                    </a:lnTo>
                    <a:lnTo>
                      <a:pt x="25" y="75"/>
                    </a:lnTo>
                    <a:lnTo>
                      <a:pt x="25" y="10"/>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181" name="任意多边形 14434">
                <a:extLst>
                  <a:ext uri="{FF2B5EF4-FFF2-40B4-BE49-F238E27FC236}">
                    <a16:creationId xmlns="" xmlns:a16="http://schemas.microsoft.com/office/drawing/2014/main" id="{C07E65EF-A116-F7F0-92F3-5D2968C95FC0}"/>
                  </a:ext>
                </a:extLst>
              </p:cNvPr>
              <p:cNvSpPr>
                <a:spLocks noChangeArrowheads="1"/>
              </p:cNvSpPr>
              <p:nvPr/>
            </p:nvSpPr>
            <p:spPr bwMode="auto">
              <a:xfrm>
                <a:off x="2152" y="3650"/>
                <a:ext cx="10" cy="33"/>
              </a:xfrm>
              <a:custGeom>
                <a:avLst/>
                <a:gdLst>
                  <a:gd name="T0" fmla="*/ 25 w 25"/>
                  <a:gd name="T1" fmla="*/ 7 h 82"/>
                  <a:gd name="T2" fmla="*/ 25 w 25"/>
                  <a:gd name="T3" fmla="*/ 4 h 82"/>
                  <a:gd name="T4" fmla="*/ 25 w 25"/>
                  <a:gd name="T5" fmla="*/ 2 h 82"/>
                  <a:gd name="T6" fmla="*/ 22 w 25"/>
                  <a:gd name="T7" fmla="*/ 0 h 82"/>
                  <a:gd name="T8" fmla="*/ 16 w 25"/>
                  <a:gd name="T9" fmla="*/ 0 h 82"/>
                  <a:gd name="T10" fmla="*/ 12 w 25"/>
                  <a:gd name="T11" fmla="*/ 0 h 82"/>
                  <a:gd name="T12" fmla="*/ 7 w 25"/>
                  <a:gd name="T13" fmla="*/ 0 h 82"/>
                  <a:gd name="T14" fmla="*/ 5 w 25"/>
                  <a:gd name="T15" fmla="*/ 2 h 82"/>
                  <a:gd name="T16" fmla="*/ 0 w 25"/>
                  <a:gd name="T17" fmla="*/ 4 h 82"/>
                  <a:gd name="T18" fmla="*/ 0 w 25"/>
                  <a:gd name="T19" fmla="*/ 69 h 82"/>
                  <a:gd name="T20" fmla="*/ 0 w 25"/>
                  <a:gd name="T21" fmla="*/ 72 h 82"/>
                  <a:gd name="T22" fmla="*/ 5 w 25"/>
                  <a:gd name="T23" fmla="*/ 75 h 82"/>
                  <a:gd name="T24" fmla="*/ 7 w 25"/>
                  <a:gd name="T25" fmla="*/ 77 h 82"/>
                  <a:gd name="T26" fmla="*/ 12 w 25"/>
                  <a:gd name="T27" fmla="*/ 82 h 82"/>
                  <a:gd name="T28" fmla="*/ 16 w 25"/>
                  <a:gd name="T29" fmla="*/ 82 h 82"/>
                  <a:gd name="T30" fmla="*/ 22 w 25"/>
                  <a:gd name="T31" fmla="*/ 77 h 82"/>
                  <a:gd name="T32" fmla="*/ 25 w 25"/>
                  <a:gd name="T33" fmla="*/ 75 h 82"/>
                  <a:gd name="T34" fmla="*/ 25 w 25"/>
                  <a:gd name="T35" fmla="*/ 72 h 82"/>
                  <a:gd name="T36" fmla="*/ 25 w 25"/>
                  <a:gd name="T37" fmla="*/ 7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 h="82">
                    <a:moveTo>
                      <a:pt x="25" y="7"/>
                    </a:moveTo>
                    <a:lnTo>
                      <a:pt x="25" y="4"/>
                    </a:lnTo>
                    <a:lnTo>
                      <a:pt x="25" y="2"/>
                    </a:lnTo>
                    <a:lnTo>
                      <a:pt x="22" y="0"/>
                    </a:lnTo>
                    <a:lnTo>
                      <a:pt x="16" y="0"/>
                    </a:lnTo>
                    <a:lnTo>
                      <a:pt x="12" y="0"/>
                    </a:lnTo>
                    <a:lnTo>
                      <a:pt x="7" y="0"/>
                    </a:lnTo>
                    <a:lnTo>
                      <a:pt x="5" y="2"/>
                    </a:lnTo>
                    <a:lnTo>
                      <a:pt x="0" y="4"/>
                    </a:lnTo>
                    <a:lnTo>
                      <a:pt x="0" y="69"/>
                    </a:lnTo>
                    <a:lnTo>
                      <a:pt x="0" y="72"/>
                    </a:lnTo>
                    <a:lnTo>
                      <a:pt x="5" y="75"/>
                    </a:lnTo>
                    <a:lnTo>
                      <a:pt x="7" y="77"/>
                    </a:lnTo>
                    <a:lnTo>
                      <a:pt x="12" y="82"/>
                    </a:lnTo>
                    <a:lnTo>
                      <a:pt x="16" y="82"/>
                    </a:lnTo>
                    <a:lnTo>
                      <a:pt x="22" y="77"/>
                    </a:lnTo>
                    <a:lnTo>
                      <a:pt x="25" y="75"/>
                    </a:lnTo>
                    <a:lnTo>
                      <a:pt x="25" y="72"/>
                    </a:lnTo>
                    <a:lnTo>
                      <a:pt x="25" y="7"/>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grpSp>
        <p:grpSp>
          <p:nvGrpSpPr>
            <p:cNvPr id="13" name="组合 14435">
              <a:extLst>
                <a:ext uri="{FF2B5EF4-FFF2-40B4-BE49-F238E27FC236}">
                  <a16:creationId xmlns="" xmlns:a16="http://schemas.microsoft.com/office/drawing/2014/main" id="{653CD2FC-4C51-12ED-7C11-C75D50978B2C}"/>
                </a:ext>
              </a:extLst>
            </p:cNvPr>
            <p:cNvGrpSpPr>
              <a:grpSpLocks/>
            </p:cNvGrpSpPr>
            <p:nvPr/>
          </p:nvGrpSpPr>
          <p:grpSpPr bwMode="auto">
            <a:xfrm>
              <a:off x="2729" y="1598"/>
              <a:ext cx="11" cy="2088"/>
              <a:chOff x="2729" y="1598"/>
              <a:chExt cx="11" cy="2088"/>
            </a:xfrm>
          </p:grpSpPr>
          <p:sp>
            <p:nvSpPr>
              <p:cNvPr id="90" name="任意多边形 14436">
                <a:extLst>
                  <a:ext uri="{FF2B5EF4-FFF2-40B4-BE49-F238E27FC236}">
                    <a16:creationId xmlns="" xmlns:a16="http://schemas.microsoft.com/office/drawing/2014/main" id="{AF9583F7-442B-E72F-A4C6-0F82A17C44DB}"/>
                  </a:ext>
                </a:extLst>
              </p:cNvPr>
              <p:cNvSpPr>
                <a:spLocks noChangeArrowheads="1"/>
              </p:cNvSpPr>
              <p:nvPr/>
            </p:nvSpPr>
            <p:spPr bwMode="auto">
              <a:xfrm>
                <a:off x="2729" y="1598"/>
                <a:ext cx="11" cy="33"/>
              </a:xfrm>
              <a:custGeom>
                <a:avLst/>
                <a:gdLst>
                  <a:gd name="T0" fmla="*/ 27 w 27"/>
                  <a:gd name="T1" fmla="*/ 12 h 82"/>
                  <a:gd name="T2" fmla="*/ 27 w 27"/>
                  <a:gd name="T3" fmla="*/ 9 h 82"/>
                  <a:gd name="T4" fmla="*/ 22 w 27"/>
                  <a:gd name="T5" fmla="*/ 7 h 82"/>
                  <a:gd name="T6" fmla="*/ 17 w 27"/>
                  <a:gd name="T7" fmla="*/ 2 h 82"/>
                  <a:gd name="T8" fmla="*/ 14 w 27"/>
                  <a:gd name="T9" fmla="*/ 0 h 82"/>
                  <a:gd name="T10" fmla="*/ 9 w 27"/>
                  <a:gd name="T11" fmla="*/ 2 h 82"/>
                  <a:gd name="T12" fmla="*/ 4 w 27"/>
                  <a:gd name="T13" fmla="*/ 7 h 82"/>
                  <a:gd name="T14" fmla="*/ 0 w 27"/>
                  <a:gd name="T15" fmla="*/ 9 h 82"/>
                  <a:gd name="T16" fmla="*/ 0 w 27"/>
                  <a:gd name="T17" fmla="*/ 72 h 82"/>
                  <a:gd name="T18" fmla="*/ 0 w 27"/>
                  <a:gd name="T19" fmla="*/ 74 h 82"/>
                  <a:gd name="T20" fmla="*/ 4 w 27"/>
                  <a:gd name="T21" fmla="*/ 77 h 82"/>
                  <a:gd name="T22" fmla="*/ 9 w 27"/>
                  <a:gd name="T23" fmla="*/ 79 h 82"/>
                  <a:gd name="T24" fmla="*/ 14 w 27"/>
                  <a:gd name="T25" fmla="*/ 82 h 82"/>
                  <a:gd name="T26" fmla="*/ 17 w 27"/>
                  <a:gd name="T27" fmla="*/ 82 h 82"/>
                  <a:gd name="T28" fmla="*/ 22 w 27"/>
                  <a:gd name="T29" fmla="*/ 79 h 82"/>
                  <a:gd name="T30" fmla="*/ 27 w 27"/>
                  <a:gd name="T31" fmla="*/ 77 h 82"/>
                  <a:gd name="T32" fmla="*/ 27 w 27"/>
                  <a:gd name="T33" fmla="*/ 74 h 82"/>
                  <a:gd name="T34" fmla="*/ 27 w 27"/>
                  <a:gd name="T35" fmla="*/ 12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 h="82">
                    <a:moveTo>
                      <a:pt x="27" y="12"/>
                    </a:moveTo>
                    <a:lnTo>
                      <a:pt x="27" y="9"/>
                    </a:lnTo>
                    <a:lnTo>
                      <a:pt x="22" y="7"/>
                    </a:lnTo>
                    <a:lnTo>
                      <a:pt x="17" y="2"/>
                    </a:lnTo>
                    <a:lnTo>
                      <a:pt x="14" y="0"/>
                    </a:lnTo>
                    <a:lnTo>
                      <a:pt x="9" y="2"/>
                    </a:lnTo>
                    <a:lnTo>
                      <a:pt x="4" y="7"/>
                    </a:lnTo>
                    <a:lnTo>
                      <a:pt x="0" y="9"/>
                    </a:lnTo>
                    <a:lnTo>
                      <a:pt x="0" y="72"/>
                    </a:lnTo>
                    <a:lnTo>
                      <a:pt x="0" y="74"/>
                    </a:lnTo>
                    <a:lnTo>
                      <a:pt x="4" y="77"/>
                    </a:lnTo>
                    <a:lnTo>
                      <a:pt x="9" y="79"/>
                    </a:lnTo>
                    <a:lnTo>
                      <a:pt x="14" y="82"/>
                    </a:lnTo>
                    <a:lnTo>
                      <a:pt x="17" y="82"/>
                    </a:lnTo>
                    <a:lnTo>
                      <a:pt x="22" y="79"/>
                    </a:lnTo>
                    <a:lnTo>
                      <a:pt x="27" y="77"/>
                    </a:lnTo>
                    <a:lnTo>
                      <a:pt x="27" y="74"/>
                    </a:lnTo>
                    <a:lnTo>
                      <a:pt x="27" y="12"/>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91" name="任意多边形 14437">
                <a:extLst>
                  <a:ext uri="{FF2B5EF4-FFF2-40B4-BE49-F238E27FC236}">
                    <a16:creationId xmlns="" xmlns:a16="http://schemas.microsoft.com/office/drawing/2014/main" id="{27E1F0B2-2DD5-6F68-0F9D-59098840D897}"/>
                  </a:ext>
                </a:extLst>
              </p:cNvPr>
              <p:cNvSpPr>
                <a:spLocks noChangeArrowheads="1"/>
              </p:cNvSpPr>
              <p:nvPr/>
            </p:nvSpPr>
            <p:spPr bwMode="auto">
              <a:xfrm>
                <a:off x="2729" y="1644"/>
                <a:ext cx="11" cy="33"/>
              </a:xfrm>
              <a:custGeom>
                <a:avLst/>
                <a:gdLst>
                  <a:gd name="T0" fmla="*/ 27 w 27"/>
                  <a:gd name="T1" fmla="*/ 7 h 82"/>
                  <a:gd name="T2" fmla="*/ 27 w 27"/>
                  <a:gd name="T3" fmla="*/ 5 h 82"/>
                  <a:gd name="T4" fmla="*/ 27 w 27"/>
                  <a:gd name="T5" fmla="*/ 2 h 82"/>
                  <a:gd name="T6" fmla="*/ 22 w 27"/>
                  <a:gd name="T7" fmla="*/ 0 h 82"/>
                  <a:gd name="T8" fmla="*/ 17 w 27"/>
                  <a:gd name="T9" fmla="*/ 0 h 82"/>
                  <a:gd name="T10" fmla="*/ 14 w 27"/>
                  <a:gd name="T11" fmla="*/ 0 h 82"/>
                  <a:gd name="T12" fmla="*/ 9 w 27"/>
                  <a:gd name="T13" fmla="*/ 0 h 82"/>
                  <a:gd name="T14" fmla="*/ 4 w 27"/>
                  <a:gd name="T15" fmla="*/ 2 h 82"/>
                  <a:gd name="T16" fmla="*/ 0 w 27"/>
                  <a:gd name="T17" fmla="*/ 5 h 82"/>
                  <a:gd name="T18" fmla="*/ 0 w 27"/>
                  <a:gd name="T19" fmla="*/ 70 h 82"/>
                  <a:gd name="T20" fmla="*/ 0 w 27"/>
                  <a:gd name="T21" fmla="*/ 72 h 82"/>
                  <a:gd name="T22" fmla="*/ 4 w 27"/>
                  <a:gd name="T23" fmla="*/ 75 h 82"/>
                  <a:gd name="T24" fmla="*/ 9 w 27"/>
                  <a:gd name="T25" fmla="*/ 80 h 82"/>
                  <a:gd name="T26" fmla="*/ 14 w 27"/>
                  <a:gd name="T27" fmla="*/ 82 h 82"/>
                  <a:gd name="T28" fmla="*/ 17 w 27"/>
                  <a:gd name="T29" fmla="*/ 82 h 82"/>
                  <a:gd name="T30" fmla="*/ 22 w 27"/>
                  <a:gd name="T31" fmla="*/ 80 h 82"/>
                  <a:gd name="T32" fmla="*/ 27 w 27"/>
                  <a:gd name="T33" fmla="*/ 75 h 82"/>
                  <a:gd name="T34" fmla="*/ 27 w 27"/>
                  <a:gd name="T35" fmla="*/ 72 h 82"/>
                  <a:gd name="T36" fmla="*/ 27 w 27"/>
                  <a:gd name="T37" fmla="*/ 7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82">
                    <a:moveTo>
                      <a:pt x="27" y="7"/>
                    </a:moveTo>
                    <a:lnTo>
                      <a:pt x="27" y="5"/>
                    </a:lnTo>
                    <a:lnTo>
                      <a:pt x="27" y="2"/>
                    </a:lnTo>
                    <a:lnTo>
                      <a:pt x="22" y="0"/>
                    </a:lnTo>
                    <a:lnTo>
                      <a:pt x="17" y="0"/>
                    </a:lnTo>
                    <a:lnTo>
                      <a:pt x="14" y="0"/>
                    </a:lnTo>
                    <a:lnTo>
                      <a:pt x="9" y="0"/>
                    </a:lnTo>
                    <a:lnTo>
                      <a:pt x="4" y="2"/>
                    </a:lnTo>
                    <a:lnTo>
                      <a:pt x="0" y="5"/>
                    </a:lnTo>
                    <a:lnTo>
                      <a:pt x="0" y="70"/>
                    </a:lnTo>
                    <a:lnTo>
                      <a:pt x="0" y="72"/>
                    </a:lnTo>
                    <a:lnTo>
                      <a:pt x="4" y="75"/>
                    </a:lnTo>
                    <a:lnTo>
                      <a:pt x="9" y="80"/>
                    </a:lnTo>
                    <a:lnTo>
                      <a:pt x="14" y="82"/>
                    </a:lnTo>
                    <a:lnTo>
                      <a:pt x="17" y="82"/>
                    </a:lnTo>
                    <a:lnTo>
                      <a:pt x="22" y="80"/>
                    </a:lnTo>
                    <a:lnTo>
                      <a:pt x="27" y="75"/>
                    </a:lnTo>
                    <a:lnTo>
                      <a:pt x="27" y="72"/>
                    </a:lnTo>
                    <a:lnTo>
                      <a:pt x="27" y="7"/>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92" name="任意多边形 14438">
                <a:extLst>
                  <a:ext uri="{FF2B5EF4-FFF2-40B4-BE49-F238E27FC236}">
                    <a16:creationId xmlns="" xmlns:a16="http://schemas.microsoft.com/office/drawing/2014/main" id="{4F6D4FA4-1C8E-1086-7191-C3D75AD68E82}"/>
                  </a:ext>
                </a:extLst>
              </p:cNvPr>
              <p:cNvSpPr>
                <a:spLocks noChangeArrowheads="1"/>
              </p:cNvSpPr>
              <p:nvPr/>
            </p:nvSpPr>
            <p:spPr bwMode="auto">
              <a:xfrm>
                <a:off x="2729" y="1690"/>
                <a:ext cx="11" cy="32"/>
              </a:xfrm>
              <a:custGeom>
                <a:avLst/>
                <a:gdLst>
                  <a:gd name="T0" fmla="*/ 27 w 27"/>
                  <a:gd name="T1" fmla="*/ 7 h 79"/>
                  <a:gd name="T2" fmla="*/ 27 w 27"/>
                  <a:gd name="T3" fmla="*/ 5 h 79"/>
                  <a:gd name="T4" fmla="*/ 27 w 27"/>
                  <a:gd name="T5" fmla="*/ 2 h 79"/>
                  <a:gd name="T6" fmla="*/ 22 w 27"/>
                  <a:gd name="T7" fmla="*/ 0 h 79"/>
                  <a:gd name="T8" fmla="*/ 17 w 27"/>
                  <a:gd name="T9" fmla="*/ 0 h 79"/>
                  <a:gd name="T10" fmla="*/ 14 w 27"/>
                  <a:gd name="T11" fmla="*/ 0 h 79"/>
                  <a:gd name="T12" fmla="*/ 9 w 27"/>
                  <a:gd name="T13" fmla="*/ 0 h 79"/>
                  <a:gd name="T14" fmla="*/ 4 w 27"/>
                  <a:gd name="T15" fmla="*/ 2 h 79"/>
                  <a:gd name="T16" fmla="*/ 0 w 27"/>
                  <a:gd name="T17" fmla="*/ 5 h 79"/>
                  <a:gd name="T18" fmla="*/ 0 w 27"/>
                  <a:gd name="T19" fmla="*/ 69 h 79"/>
                  <a:gd name="T20" fmla="*/ 0 w 27"/>
                  <a:gd name="T21" fmla="*/ 72 h 79"/>
                  <a:gd name="T22" fmla="*/ 4 w 27"/>
                  <a:gd name="T23" fmla="*/ 74 h 79"/>
                  <a:gd name="T24" fmla="*/ 9 w 27"/>
                  <a:gd name="T25" fmla="*/ 77 h 79"/>
                  <a:gd name="T26" fmla="*/ 14 w 27"/>
                  <a:gd name="T27" fmla="*/ 79 h 79"/>
                  <a:gd name="T28" fmla="*/ 17 w 27"/>
                  <a:gd name="T29" fmla="*/ 79 h 79"/>
                  <a:gd name="T30" fmla="*/ 22 w 27"/>
                  <a:gd name="T31" fmla="*/ 77 h 79"/>
                  <a:gd name="T32" fmla="*/ 27 w 27"/>
                  <a:gd name="T33" fmla="*/ 74 h 79"/>
                  <a:gd name="T34" fmla="*/ 27 w 27"/>
                  <a:gd name="T35" fmla="*/ 72 h 79"/>
                  <a:gd name="T36" fmla="*/ 27 w 27"/>
                  <a:gd name="T37" fmla="*/ 7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79">
                    <a:moveTo>
                      <a:pt x="27" y="7"/>
                    </a:moveTo>
                    <a:lnTo>
                      <a:pt x="27" y="5"/>
                    </a:lnTo>
                    <a:lnTo>
                      <a:pt x="27" y="2"/>
                    </a:lnTo>
                    <a:lnTo>
                      <a:pt x="22" y="0"/>
                    </a:lnTo>
                    <a:lnTo>
                      <a:pt x="17" y="0"/>
                    </a:lnTo>
                    <a:lnTo>
                      <a:pt x="14" y="0"/>
                    </a:lnTo>
                    <a:lnTo>
                      <a:pt x="9" y="0"/>
                    </a:lnTo>
                    <a:lnTo>
                      <a:pt x="4" y="2"/>
                    </a:lnTo>
                    <a:lnTo>
                      <a:pt x="0" y="5"/>
                    </a:lnTo>
                    <a:lnTo>
                      <a:pt x="0" y="69"/>
                    </a:lnTo>
                    <a:lnTo>
                      <a:pt x="0" y="72"/>
                    </a:lnTo>
                    <a:lnTo>
                      <a:pt x="4" y="74"/>
                    </a:lnTo>
                    <a:lnTo>
                      <a:pt x="9" y="77"/>
                    </a:lnTo>
                    <a:lnTo>
                      <a:pt x="14" y="79"/>
                    </a:lnTo>
                    <a:lnTo>
                      <a:pt x="17" y="79"/>
                    </a:lnTo>
                    <a:lnTo>
                      <a:pt x="22" y="77"/>
                    </a:lnTo>
                    <a:lnTo>
                      <a:pt x="27" y="74"/>
                    </a:lnTo>
                    <a:lnTo>
                      <a:pt x="27" y="72"/>
                    </a:lnTo>
                    <a:lnTo>
                      <a:pt x="27" y="7"/>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93" name="任意多边形 14439">
                <a:extLst>
                  <a:ext uri="{FF2B5EF4-FFF2-40B4-BE49-F238E27FC236}">
                    <a16:creationId xmlns="" xmlns:a16="http://schemas.microsoft.com/office/drawing/2014/main" id="{CC19DD1E-44BD-AC93-1DC3-D7F9E4697917}"/>
                  </a:ext>
                </a:extLst>
              </p:cNvPr>
              <p:cNvSpPr>
                <a:spLocks noChangeArrowheads="1"/>
              </p:cNvSpPr>
              <p:nvPr/>
            </p:nvSpPr>
            <p:spPr bwMode="auto">
              <a:xfrm>
                <a:off x="2729" y="1735"/>
                <a:ext cx="11" cy="33"/>
              </a:xfrm>
              <a:custGeom>
                <a:avLst/>
                <a:gdLst>
                  <a:gd name="T0" fmla="*/ 27 w 27"/>
                  <a:gd name="T1" fmla="*/ 9 h 82"/>
                  <a:gd name="T2" fmla="*/ 27 w 27"/>
                  <a:gd name="T3" fmla="*/ 7 h 82"/>
                  <a:gd name="T4" fmla="*/ 27 w 27"/>
                  <a:gd name="T5" fmla="*/ 2 h 82"/>
                  <a:gd name="T6" fmla="*/ 22 w 27"/>
                  <a:gd name="T7" fmla="*/ 0 h 82"/>
                  <a:gd name="T8" fmla="*/ 17 w 27"/>
                  <a:gd name="T9" fmla="*/ 0 h 82"/>
                  <a:gd name="T10" fmla="*/ 14 w 27"/>
                  <a:gd name="T11" fmla="*/ 0 h 82"/>
                  <a:gd name="T12" fmla="*/ 9 w 27"/>
                  <a:gd name="T13" fmla="*/ 0 h 82"/>
                  <a:gd name="T14" fmla="*/ 4 w 27"/>
                  <a:gd name="T15" fmla="*/ 2 h 82"/>
                  <a:gd name="T16" fmla="*/ 0 w 27"/>
                  <a:gd name="T17" fmla="*/ 7 h 82"/>
                  <a:gd name="T18" fmla="*/ 0 w 27"/>
                  <a:gd name="T19" fmla="*/ 72 h 82"/>
                  <a:gd name="T20" fmla="*/ 0 w 27"/>
                  <a:gd name="T21" fmla="*/ 75 h 82"/>
                  <a:gd name="T22" fmla="*/ 4 w 27"/>
                  <a:gd name="T23" fmla="*/ 77 h 82"/>
                  <a:gd name="T24" fmla="*/ 9 w 27"/>
                  <a:gd name="T25" fmla="*/ 80 h 82"/>
                  <a:gd name="T26" fmla="*/ 14 w 27"/>
                  <a:gd name="T27" fmla="*/ 82 h 82"/>
                  <a:gd name="T28" fmla="*/ 17 w 27"/>
                  <a:gd name="T29" fmla="*/ 82 h 82"/>
                  <a:gd name="T30" fmla="*/ 22 w 27"/>
                  <a:gd name="T31" fmla="*/ 80 h 82"/>
                  <a:gd name="T32" fmla="*/ 27 w 27"/>
                  <a:gd name="T33" fmla="*/ 77 h 82"/>
                  <a:gd name="T34" fmla="*/ 27 w 27"/>
                  <a:gd name="T35" fmla="*/ 75 h 82"/>
                  <a:gd name="T36" fmla="*/ 27 w 27"/>
                  <a:gd name="T37" fmla="*/ 9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82">
                    <a:moveTo>
                      <a:pt x="27" y="9"/>
                    </a:moveTo>
                    <a:lnTo>
                      <a:pt x="27" y="7"/>
                    </a:lnTo>
                    <a:lnTo>
                      <a:pt x="27" y="2"/>
                    </a:lnTo>
                    <a:lnTo>
                      <a:pt x="22" y="0"/>
                    </a:lnTo>
                    <a:lnTo>
                      <a:pt x="17" y="0"/>
                    </a:lnTo>
                    <a:lnTo>
                      <a:pt x="14" y="0"/>
                    </a:lnTo>
                    <a:lnTo>
                      <a:pt x="9" y="0"/>
                    </a:lnTo>
                    <a:lnTo>
                      <a:pt x="4" y="2"/>
                    </a:lnTo>
                    <a:lnTo>
                      <a:pt x="0" y="7"/>
                    </a:lnTo>
                    <a:lnTo>
                      <a:pt x="0" y="72"/>
                    </a:lnTo>
                    <a:lnTo>
                      <a:pt x="0" y="75"/>
                    </a:lnTo>
                    <a:lnTo>
                      <a:pt x="4" y="77"/>
                    </a:lnTo>
                    <a:lnTo>
                      <a:pt x="9" y="80"/>
                    </a:lnTo>
                    <a:lnTo>
                      <a:pt x="14" y="82"/>
                    </a:lnTo>
                    <a:lnTo>
                      <a:pt x="17" y="82"/>
                    </a:lnTo>
                    <a:lnTo>
                      <a:pt x="22" y="80"/>
                    </a:lnTo>
                    <a:lnTo>
                      <a:pt x="27" y="77"/>
                    </a:lnTo>
                    <a:lnTo>
                      <a:pt x="27" y="75"/>
                    </a:lnTo>
                    <a:lnTo>
                      <a:pt x="27" y="9"/>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94" name="任意多边形 14440">
                <a:extLst>
                  <a:ext uri="{FF2B5EF4-FFF2-40B4-BE49-F238E27FC236}">
                    <a16:creationId xmlns="" xmlns:a16="http://schemas.microsoft.com/office/drawing/2014/main" id="{12F2D37D-39EA-676F-1A99-BEDB02FEAC4F}"/>
                  </a:ext>
                </a:extLst>
              </p:cNvPr>
              <p:cNvSpPr>
                <a:spLocks noChangeArrowheads="1"/>
              </p:cNvSpPr>
              <p:nvPr/>
            </p:nvSpPr>
            <p:spPr bwMode="auto">
              <a:xfrm>
                <a:off x="2729" y="1781"/>
                <a:ext cx="11" cy="33"/>
              </a:xfrm>
              <a:custGeom>
                <a:avLst/>
                <a:gdLst>
                  <a:gd name="T0" fmla="*/ 27 w 27"/>
                  <a:gd name="T1" fmla="*/ 7 h 82"/>
                  <a:gd name="T2" fmla="*/ 27 w 27"/>
                  <a:gd name="T3" fmla="*/ 5 h 82"/>
                  <a:gd name="T4" fmla="*/ 27 w 27"/>
                  <a:gd name="T5" fmla="*/ 2 h 82"/>
                  <a:gd name="T6" fmla="*/ 22 w 27"/>
                  <a:gd name="T7" fmla="*/ 0 h 82"/>
                  <a:gd name="T8" fmla="*/ 17 w 27"/>
                  <a:gd name="T9" fmla="*/ 0 h 82"/>
                  <a:gd name="T10" fmla="*/ 14 w 27"/>
                  <a:gd name="T11" fmla="*/ 0 h 82"/>
                  <a:gd name="T12" fmla="*/ 9 w 27"/>
                  <a:gd name="T13" fmla="*/ 0 h 82"/>
                  <a:gd name="T14" fmla="*/ 4 w 27"/>
                  <a:gd name="T15" fmla="*/ 2 h 82"/>
                  <a:gd name="T16" fmla="*/ 0 w 27"/>
                  <a:gd name="T17" fmla="*/ 5 h 82"/>
                  <a:gd name="T18" fmla="*/ 0 w 27"/>
                  <a:gd name="T19" fmla="*/ 69 h 82"/>
                  <a:gd name="T20" fmla="*/ 0 w 27"/>
                  <a:gd name="T21" fmla="*/ 72 h 82"/>
                  <a:gd name="T22" fmla="*/ 4 w 27"/>
                  <a:gd name="T23" fmla="*/ 74 h 82"/>
                  <a:gd name="T24" fmla="*/ 9 w 27"/>
                  <a:gd name="T25" fmla="*/ 79 h 82"/>
                  <a:gd name="T26" fmla="*/ 14 w 27"/>
                  <a:gd name="T27" fmla="*/ 82 h 82"/>
                  <a:gd name="T28" fmla="*/ 17 w 27"/>
                  <a:gd name="T29" fmla="*/ 82 h 82"/>
                  <a:gd name="T30" fmla="*/ 22 w 27"/>
                  <a:gd name="T31" fmla="*/ 79 h 82"/>
                  <a:gd name="T32" fmla="*/ 27 w 27"/>
                  <a:gd name="T33" fmla="*/ 74 h 82"/>
                  <a:gd name="T34" fmla="*/ 27 w 27"/>
                  <a:gd name="T35" fmla="*/ 72 h 82"/>
                  <a:gd name="T36" fmla="*/ 27 w 27"/>
                  <a:gd name="T37" fmla="*/ 7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82">
                    <a:moveTo>
                      <a:pt x="27" y="7"/>
                    </a:moveTo>
                    <a:lnTo>
                      <a:pt x="27" y="5"/>
                    </a:lnTo>
                    <a:lnTo>
                      <a:pt x="27" y="2"/>
                    </a:lnTo>
                    <a:lnTo>
                      <a:pt x="22" y="0"/>
                    </a:lnTo>
                    <a:lnTo>
                      <a:pt x="17" y="0"/>
                    </a:lnTo>
                    <a:lnTo>
                      <a:pt x="14" y="0"/>
                    </a:lnTo>
                    <a:lnTo>
                      <a:pt x="9" y="0"/>
                    </a:lnTo>
                    <a:lnTo>
                      <a:pt x="4" y="2"/>
                    </a:lnTo>
                    <a:lnTo>
                      <a:pt x="0" y="5"/>
                    </a:lnTo>
                    <a:lnTo>
                      <a:pt x="0" y="69"/>
                    </a:lnTo>
                    <a:lnTo>
                      <a:pt x="0" y="72"/>
                    </a:lnTo>
                    <a:lnTo>
                      <a:pt x="4" y="74"/>
                    </a:lnTo>
                    <a:lnTo>
                      <a:pt x="9" y="79"/>
                    </a:lnTo>
                    <a:lnTo>
                      <a:pt x="14" y="82"/>
                    </a:lnTo>
                    <a:lnTo>
                      <a:pt x="17" y="82"/>
                    </a:lnTo>
                    <a:lnTo>
                      <a:pt x="22" y="79"/>
                    </a:lnTo>
                    <a:lnTo>
                      <a:pt x="27" y="74"/>
                    </a:lnTo>
                    <a:lnTo>
                      <a:pt x="27" y="72"/>
                    </a:lnTo>
                    <a:lnTo>
                      <a:pt x="27" y="7"/>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95" name="任意多边形 14441">
                <a:extLst>
                  <a:ext uri="{FF2B5EF4-FFF2-40B4-BE49-F238E27FC236}">
                    <a16:creationId xmlns="" xmlns:a16="http://schemas.microsoft.com/office/drawing/2014/main" id="{7BF006CD-0F91-A1A9-9BD0-5F95742E719B}"/>
                  </a:ext>
                </a:extLst>
              </p:cNvPr>
              <p:cNvSpPr>
                <a:spLocks noChangeArrowheads="1"/>
              </p:cNvSpPr>
              <p:nvPr/>
            </p:nvSpPr>
            <p:spPr bwMode="auto">
              <a:xfrm>
                <a:off x="2729" y="1827"/>
                <a:ext cx="11" cy="32"/>
              </a:xfrm>
              <a:custGeom>
                <a:avLst/>
                <a:gdLst>
                  <a:gd name="T0" fmla="*/ 27 w 27"/>
                  <a:gd name="T1" fmla="*/ 7 h 80"/>
                  <a:gd name="T2" fmla="*/ 27 w 27"/>
                  <a:gd name="T3" fmla="*/ 5 h 80"/>
                  <a:gd name="T4" fmla="*/ 27 w 27"/>
                  <a:gd name="T5" fmla="*/ 1 h 80"/>
                  <a:gd name="T6" fmla="*/ 22 w 27"/>
                  <a:gd name="T7" fmla="*/ 0 h 80"/>
                  <a:gd name="T8" fmla="*/ 17 w 27"/>
                  <a:gd name="T9" fmla="*/ 0 h 80"/>
                  <a:gd name="T10" fmla="*/ 14 w 27"/>
                  <a:gd name="T11" fmla="*/ 0 h 80"/>
                  <a:gd name="T12" fmla="*/ 9 w 27"/>
                  <a:gd name="T13" fmla="*/ 0 h 80"/>
                  <a:gd name="T14" fmla="*/ 4 w 27"/>
                  <a:gd name="T15" fmla="*/ 1 h 80"/>
                  <a:gd name="T16" fmla="*/ 0 w 27"/>
                  <a:gd name="T17" fmla="*/ 5 h 80"/>
                  <a:gd name="T18" fmla="*/ 0 w 27"/>
                  <a:gd name="T19" fmla="*/ 70 h 80"/>
                  <a:gd name="T20" fmla="*/ 0 w 27"/>
                  <a:gd name="T21" fmla="*/ 72 h 80"/>
                  <a:gd name="T22" fmla="*/ 4 w 27"/>
                  <a:gd name="T23" fmla="*/ 74 h 80"/>
                  <a:gd name="T24" fmla="*/ 9 w 27"/>
                  <a:gd name="T25" fmla="*/ 77 h 80"/>
                  <a:gd name="T26" fmla="*/ 14 w 27"/>
                  <a:gd name="T27" fmla="*/ 80 h 80"/>
                  <a:gd name="T28" fmla="*/ 17 w 27"/>
                  <a:gd name="T29" fmla="*/ 80 h 80"/>
                  <a:gd name="T30" fmla="*/ 22 w 27"/>
                  <a:gd name="T31" fmla="*/ 77 h 80"/>
                  <a:gd name="T32" fmla="*/ 27 w 27"/>
                  <a:gd name="T33" fmla="*/ 74 h 80"/>
                  <a:gd name="T34" fmla="*/ 27 w 27"/>
                  <a:gd name="T35" fmla="*/ 72 h 80"/>
                  <a:gd name="T36" fmla="*/ 27 w 27"/>
                  <a:gd name="T37" fmla="*/ 7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80">
                    <a:moveTo>
                      <a:pt x="27" y="7"/>
                    </a:moveTo>
                    <a:lnTo>
                      <a:pt x="27" y="5"/>
                    </a:lnTo>
                    <a:lnTo>
                      <a:pt x="27" y="1"/>
                    </a:lnTo>
                    <a:lnTo>
                      <a:pt x="22" y="0"/>
                    </a:lnTo>
                    <a:lnTo>
                      <a:pt x="17" y="0"/>
                    </a:lnTo>
                    <a:lnTo>
                      <a:pt x="14" y="0"/>
                    </a:lnTo>
                    <a:lnTo>
                      <a:pt x="9" y="0"/>
                    </a:lnTo>
                    <a:lnTo>
                      <a:pt x="4" y="1"/>
                    </a:lnTo>
                    <a:lnTo>
                      <a:pt x="0" y="5"/>
                    </a:lnTo>
                    <a:lnTo>
                      <a:pt x="0" y="70"/>
                    </a:lnTo>
                    <a:lnTo>
                      <a:pt x="0" y="72"/>
                    </a:lnTo>
                    <a:lnTo>
                      <a:pt x="4" y="74"/>
                    </a:lnTo>
                    <a:lnTo>
                      <a:pt x="9" y="77"/>
                    </a:lnTo>
                    <a:lnTo>
                      <a:pt x="14" y="80"/>
                    </a:lnTo>
                    <a:lnTo>
                      <a:pt x="17" y="80"/>
                    </a:lnTo>
                    <a:lnTo>
                      <a:pt x="22" y="77"/>
                    </a:lnTo>
                    <a:lnTo>
                      <a:pt x="27" y="74"/>
                    </a:lnTo>
                    <a:lnTo>
                      <a:pt x="27" y="72"/>
                    </a:lnTo>
                    <a:lnTo>
                      <a:pt x="27" y="7"/>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96" name="任意多边形 14442">
                <a:extLst>
                  <a:ext uri="{FF2B5EF4-FFF2-40B4-BE49-F238E27FC236}">
                    <a16:creationId xmlns="" xmlns:a16="http://schemas.microsoft.com/office/drawing/2014/main" id="{27B0F4AD-98C7-A7E8-0053-EF23F57736F5}"/>
                  </a:ext>
                </a:extLst>
              </p:cNvPr>
              <p:cNvSpPr>
                <a:spLocks noChangeArrowheads="1"/>
              </p:cNvSpPr>
              <p:nvPr/>
            </p:nvSpPr>
            <p:spPr bwMode="auto">
              <a:xfrm>
                <a:off x="2729" y="1872"/>
                <a:ext cx="11" cy="33"/>
              </a:xfrm>
              <a:custGeom>
                <a:avLst/>
                <a:gdLst>
                  <a:gd name="T0" fmla="*/ 27 w 27"/>
                  <a:gd name="T1" fmla="*/ 9 h 82"/>
                  <a:gd name="T2" fmla="*/ 27 w 27"/>
                  <a:gd name="T3" fmla="*/ 5 h 82"/>
                  <a:gd name="T4" fmla="*/ 27 w 27"/>
                  <a:gd name="T5" fmla="*/ 2 h 82"/>
                  <a:gd name="T6" fmla="*/ 22 w 27"/>
                  <a:gd name="T7" fmla="*/ 0 h 82"/>
                  <a:gd name="T8" fmla="*/ 17 w 27"/>
                  <a:gd name="T9" fmla="*/ 0 h 82"/>
                  <a:gd name="T10" fmla="*/ 14 w 27"/>
                  <a:gd name="T11" fmla="*/ 0 h 82"/>
                  <a:gd name="T12" fmla="*/ 9 w 27"/>
                  <a:gd name="T13" fmla="*/ 0 h 82"/>
                  <a:gd name="T14" fmla="*/ 4 w 27"/>
                  <a:gd name="T15" fmla="*/ 2 h 82"/>
                  <a:gd name="T16" fmla="*/ 0 w 27"/>
                  <a:gd name="T17" fmla="*/ 5 h 82"/>
                  <a:gd name="T18" fmla="*/ 0 w 27"/>
                  <a:gd name="T19" fmla="*/ 72 h 82"/>
                  <a:gd name="T20" fmla="*/ 0 w 27"/>
                  <a:gd name="T21" fmla="*/ 74 h 82"/>
                  <a:gd name="T22" fmla="*/ 4 w 27"/>
                  <a:gd name="T23" fmla="*/ 77 h 82"/>
                  <a:gd name="T24" fmla="*/ 9 w 27"/>
                  <a:gd name="T25" fmla="*/ 79 h 82"/>
                  <a:gd name="T26" fmla="*/ 14 w 27"/>
                  <a:gd name="T27" fmla="*/ 82 h 82"/>
                  <a:gd name="T28" fmla="*/ 17 w 27"/>
                  <a:gd name="T29" fmla="*/ 82 h 82"/>
                  <a:gd name="T30" fmla="*/ 22 w 27"/>
                  <a:gd name="T31" fmla="*/ 79 h 82"/>
                  <a:gd name="T32" fmla="*/ 27 w 27"/>
                  <a:gd name="T33" fmla="*/ 77 h 82"/>
                  <a:gd name="T34" fmla="*/ 27 w 27"/>
                  <a:gd name="T35" fmla="*/ 74 h 82"/>
                  <a:gd name="T36" fmla="*/ 27 w 27"/>
                  <a:gd name="T37" fmla="*/ 9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82">
                    <a:moveTo>
                      <a:pt x="27" y="9"/>
                    </a:moveTo>
                    <a:lnTo>
                      <a:pt x="27" y="5"/>
                    </a:lnTo>
                    <a:lnTo>
                      <a:pt x="27" y="2"/>
                    </a:lnTo>
                    <a:lnTo>
                      <a:pt x="22" y="0"/>
                    </a:lnTo>
                    <a:lnTo>
                      <a:pt x="17" y="0"/>
                    </a:lnTo>
                    <a:lnTo>
                      <a:pt x="14" y="0"/>
                    </a:lnTo>
                    <a:lnTo>
                      <a:pt x="9" y="0"/>
                    </a:lnTo>
                    <a:lnTo>
                      <a:pt x="4" y="2"/>
                    </a:lnTo>
                    <a:lnTo>
                      <a:pt x="0" y="5"/>
                    </a:lnTo>
                    <a:lnTo>
                      <a:pt x="0" y="72"/>
                    </a:lnTo>
                    <a:lnTo>
                      <a:pt x="0" y="74"/>
                    </a:lnTo>
                    <a:lnTo>
                      <a:pt x="4" y="77"/>
                    </a:lnTo>
                    <a:lnTo>
                      <a:pt x="9" y="79"/>
                    </a:lnTo>
                    <a:lnTo>
                      <a:pt x="14" y="82"/>
                    </a:lnTo>
                    <a:lnTo>
                      <a:pt x="17" y="82"/>
                    </a:lnTo>
                    <a:lnTo>
                      <a:pt x="22" y="79"/>
                    </a:lnTo>
                    <a:lnTo>
                      <a:pt x="27" y="77"/>
                    </a:lnTo>
                    <a:lnTo>
                      <a:pt x="27" y="74"/>
                    </a:lnTo>
                    <a:lnTo>
                      <a:pt x="27" y="9"/>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97" name="任意多边形 14443">
                <a:extLst>
                  <a:ext uri="{FF2B5EF4-FFF2-40B4-BE49-F238E27FC236}">
                    <a16:creationId xmlns="" xmlns:a16="http://schemas.microsoft.com/office/drawing/2014/main" id="{CA41B736-AB5B-1720-1BB5-44CABB760467}"/>
                  </a:ext>
                </a:extLst>
              </p:cNvPr>
              <p:cNvSpPr>
                <a:spLocks noChangeArrowheads="1"/>
              </p:cNvSpPr>
              <p:nvPr/>
            </p:nvSpPr>
            <p:spPr bwMode="auto">
              <a:xfrm>
                <a:off x="2729" y="1918"/>
                <a:ext cx="11" cy="33"/>
              </a:xfrm>
              <a:custGeom>
                <a:avLst/>
                <a:gdLst>
                  <a:gd name="T0" fmla="*/ 27 w 27"/>
                  <a:gd name="T1" fmla="*/ 7 h 82"/>
                  <a:gd name="T2" fmla="*/ 27 w 27"/>
                  <a:gd name="T3" fmla="*/ 5 h 82"/>
                  <a:gd name="T4" fmla="*/ 27 w 27"/>
                  <a:gd name="T5" fmla="*/ 2 h 82"/>
                  <a:gd name="T6" fmla="*/ 22 w 27"/>
                  <a:gd name="T7" fmla="*/ 0 h 82"/>
                  <a:gd name="T8" fmla="*/ 17 w 27"/>
                  <a:gd name="T9" fmla="*/ 0 h 82"/>
                  <a:gd name="T10" fmla="*/ 14 w 27"/>
                  <a:gd name="T11" fmla="*/ 0 h 82"/>
                  <a:gd name="T12" fmla="*/ 9 w 27"/>
                  <a:gd name="T13" fmla="*/ 0 h 82"/>
                  <a:gd name="T14" fmla="*/ 4 w 27"/>
                  <a:gd name="T15" fmla="*/ 2 h 82"/>
                  <a:gd name="T16" fmla="*/ 0 w 27"/>
                  <a:gd name="T17" fmla="*/ 5 h 82"/>
                  <a:gd name="T18" fmla="*/ 0 w 27"/>
                  <a:gd name="T19" fmla="*/ 69 h 82"/>
                  <a:gd name="T20" fmla="*/ 0 w 27"/>
                  <a:gd name="T21" fmla="*/ 72 h 82"/>
                  <a:gd name="T22" fmla="*/ 4 w 27"/>
                  <a:gd name="T23" fmla="*/ 74 h 82"/>
                  <a:gd name="T24" fmla="*/ 9 w 27"/>
                  <a:gd name="T25" fmla="*/ 79 h 82"/>
                  <a:gd name="T26" fmla="*/ 14 w 27"/>
                  <a:gd name="T27" fmla="*/ 82 h 82"/>
                  <a:gd name="T28" fmla="*/ 17 w 27"/>
                  <a:gd name="T29" fmla="*/ 82 h 82"/>
                  <a:gd name="T30" fmla="*/ 22 w 27"/>
                  <a:gd name="T31" fmla="*/ 79 h 82"/>
                  <a:gd name="T32" fmla="*/ 27 w 27"/>
                  <a:gd name="T33" fmla="*/ 74 h 82"/>
                  <a:gd name="T34" fmla="*/ 27 w 27"/>
                  <a:gd name="T35" fmla="*/ 72 h 82"/>
                  <a:gd name="T36" fmla="*/ 27 w 27"/>
                  <a:gd name="T37" fmla="*/ 7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82">
                    <a:moveTo>
                      <a:pt x="27" y="7"/>
                    </a:moveTo>
                    <a:lnTo>
                      <a:pt x="27" y="5"/>
                    </a:lnTo>
                    <a:lnTo>
                      <a:pt x="27" y="2"/>
                    </a:lnTo>
                    <a:lnTo>
                      <a:pt x="22" y="0"/>
                    </a:lnTo>
                    <a:lnTo>
                      <a:pt x="17" y="0"/>
                    </a:lnTo>
                    <a:lnTo>
                      <a:pt x="14" y="0"/>
                    </a:lnTo>
                    <a:lnTo>
                      <a:pt x="9" y="0"/>
                    </a:lnTo>
                    <a:lnTo>
                      <a:pt x="4" y="2"/>
                    </a:lnTo>
                    <a:lnTo>
                      <a:pt x="0" y="5"/>
                    </a:lnTo>
                    <a:lnTo>
                      <a:pt x="0" y="69"/>
                    </a:lnTo>
                    <a:lnTo>
                      <a:pt x="0" y="72"/>
                    </a:lnTo>
                    <a:lnTo>
                      <a:pt x="4" y="74"/>
                    </a:lnTo>
                    <a:lnTo>
                      <a:pt x="9" y="79"/>
                    </a:lnTo>
                    <a:lnTo>
                      <a:pt x="14" y="82"/>
                    </a:lnTo>
                    <a:lnTo>
                      <a:pt x="17" y="82"/>
                    </a:lnTo>
                    <a:lnTo>
                      <a:pt x="22" y="79"/>
                    </a:lnTo>
                    <a:lnTo>
                      <a:pt x="27" y="74"/>
                    </a:lnTo>
                    <a:lnTo>
                      <a:pt x="27" y="72"/>
                    </a:lnTo>
                    <a:lnTo>
                      <a:pt x="27" y="7"/>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98" name="任意多边形 14444">
                <a:extLst>
                  <a:ext uri="{FF2B5EF4-FFF2-40B4-BE49-F238E27FC236}">
                    <a16:creationId xmlns="" xmlns:a16="http://schemas.microsoft.com/office/drawing/2014/main" id="{86C63460-70AA-0F57-D238-CE66CD312A1E}"/>
                  </a:ext>
                </a:extLst>
              </p:cNvPr>
              <p:cNvSpPr>
                <a:spLocks noChangeArrowheads="1"/>
              </p:cNvSpPr>
              <p:nvPr/>
            </p:nvSpPr>
            <p:spPr bwMode="auto">
              <a:xfrm>
                <a:off x="2729" y="1964"/>
                <a:ext cx="11" cy="32"/>
              </a:xfrm>
              <a:custGeom>
                <a:avLst/>
                <a:gdLst>
                  <a:gd name="T0" fmla="*/ 27 w 27"/>
                  <a:gd name="T1" fmla="*/ 7 h 80"/>
                  <a:gd name="T2" fmla="*/ 27 w 27"/>
                  <a:gd name="T3" fmla="*/ 5 h 80"/>
                  <a:gd name="T4" fmla="*/ 27 w 27"/>
                  <a:gd name="T5" fmla="*/ 1 h 80"/>
                  <a:gd name="T6" fmla="*/ 22 w 27"/>
                  <a:gd name="T7" fmla="*/ 0 h 80"/>
                  <a:gd name="T8" fmla="*/ 17 w 27"/>
                  <a:gd name="T9" fmla="*/ 0 h 80"/>
                  <a:gd name="T10" fmla="*/ 14 w 27"/>
                  <a:gd name="T11" fmla="*/ 0 h 80"/>
                  <a:gd name="T12" fmla="*/ 9 w 27"/>
                  <a:gd name="T13" fmla="*/ 0 h 80"/>
                  <a:gd name="T14" fmla="*/ 4 w 27"/>
                  <a:gd name="T15" fmla="*/ 1 h 80"/>
                  <a:gd name="T16" fmla="*/ 0 w 27"/>
                  <a:gd name="T17" fmla="*/ 5 h 80"/>
                  <a:gd name="T18" fmla="*/ 0 w 27"/>
                  <a:gd name="T19" fmla="*/ 70 h 80"/>
                  <a:gd name="T20" fmla="*/ 0 w 27"/>
                  <a:gd name="T21" fmla="*/ 72 h 80"/>
                  <a:gd name="T22" fmla="*/ 4 w 27"/>
                  <a:gd name="T23" fmla="*/ 74 h 80"/>
                  <a:gd name="T24" fmla="*/ 9 w 27"/>
                  <a:gd name="T25" fmla="*/ 77 h 80"/>
                  <a:gd name="T26" fmla="*/ 14 w 27"/>
                  <a:gd name="T27" fmla="*/ 80 h 80"/>
                  <a:gd name="T28" fmla="*/ 17 w 27"/>
                  <a:gd name="T29" fmla="*/ 80 h 80"/>
                  <a:gd name="T30" fmla="*/ 22 w 27"/>
                  <a:gd name="T31" fmla="*/ 77 h 80"/>
                  <a:gd name="T32" fmla="*/ 27 w 27"/>
                  <a:gd name="T33" fmla="*/ 74 h 80"/>
                  <a:gd name="T34" fmla="*/ 27 w 27"/>
                  <a:gd name="T35" fmla="*/ 72 h 80"/>
                  <a:gd name="T36" fmla="*/ 27 w 27"/>
                  <a:gd name="T37" fmla="*/ 7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80">
                    <a:moveTo>
                      <a:pt x="27" y="7"/>
                    </a:moveTo>
                    <a:lnTo>
                      <a:pt x="27" y="5"/>
                    </a:lnTo>
                    <a:lnTo>
                      <a:pt x="27" y="1"/>
                    </a:lnTo>
                    <a:lnTo>
                      <a:pt x="22" y="0"/>
                    </a:lnTo>
                    <a:lnTo>
                      <a:pt x="17" y="0"/>
                    </a:lnTo>
                    <a:lnTo>
                      <a:pt x="14" y="0"/>
                    </a:lnTo>
                    <a:lnTo>
                      <a:pt x="9" y="0"/>
                    </a:lnTo>
                    <a:lnTo>
                      <a:pt x="4" y="1"/>
                    </a:lnTo>
                    <a:lnTo>
                      <a:pt x="0" y="5"/>
                    </a:lnTo>
                    <a:lnTo>
                      <a:pt x="0" y="70"/>
                    </a:lnTo>
                    <a:lnTo>
                      <a:pt x="0" y="72"/>
                    </a:lnTo>
                    <a:lnTo>
                      <a:pt x="4" y="74"/>
                    </a:lnTo>
                    <a:lnTo>
                      <a:pt x="9" y="77"/>
                    </a:lnTo>
                    <a:lnTo>
                      <a:pt x="14" y="80"/>
                    </a:lnTo>
                    <a:lnTo>
                      <a:pt x="17" y="80"/>
                    </a:lnTo>
                    <a:lnTo>
                      <a:pt x="22" y="77"/>
                    </a:lnTo>
                    <a:lnTo>
                      <a:pt x="27" y="74"/>
                    </a:lnTo>
                    <a:lnTo>
                      <a:pt x="27" y="72"/>
                    </a:lnTo>
                    <a:lnTo>
                      <a:pt x="27" y="7"/>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99" name="任意多边形 14445">
                <a:extLst>
                  <a:ext uri="{FF2B5EF4-FFF2-40B4-BE49-F238E27FC236}">
                    <a16:creationId xmlns="" xmlns:a16="http://schemas.microsoft.com/office/drawing/2014/main" id="{8449980F-6771-0201-CFA2-70307F36F647}"/>
                  </a:ext>
                </a:extLst>
              </p:cNvPr>
              <p:cNvSpPr>
                <a:spLocks noChangeArrowheads="1"/>
              </p:cNvSpPr>
              <p:nvPr/>
            </p:nvSpPr>
            <p:spPr bwMode="auto">
              <a:xfrm>
                <a:off x="2729" y="2009"/>
                <a:ext cx="11" cy="33"/>
              </a:xfrm>
              <a:custGeom>
                <a:avLst/>
                <a:gdLst>
                  <a:gd name="T0" fmla="*/ 27 w 27"/>
                  <a:gd name="T1" fmla="*/ 9 h 82"/>
                  <a:gd name="T2" fmla="*/ 27 w 27"/>
                  <a:gd name="T3" fmla="*/ 5 h 82"/>
                  <a:gd name="T4" fmla="*/ 27 w 27"/>
                  <a:gd name="T5" fmla="*/ 2 h 82"/>
                  <a:gd name="T6" fmla="*/ 22 w 27"/>
                  <a:gd name="T7" fmla="*/ 0 h 82"/>
                  <a:gd name="T8" fmla="*/ 17 w 27"/>
                  <a:gd name="T9" fmla="*/ 0 h 82"/>
                  <a:gd name="T10" fmla="*/ 14 w 27"/>
                  <a:gd name="T11" fmla="*/ 0 h 82"/>
                  <a:gd name="T12" fmla="*/ 9 w 27"/>
                  <a:gd name="T13" fmla="*/ 0 h 82"/>
                  <a:gd name="T14" fmla="*/ 4 w 27"/>
                  <a:gd name="T15" fmla="*/ 2 h 82"/>
                  <a:gd name="T16" fmla="*/ 0 w 27"/>
                  <a:gd name="T17" fmla="*/ 5 h 82"/>
                  <a:gd name="T18" fmla="*/ 0 w 27"/>
                  <a:gd name="T19" fmla="*/ 72 h 82"/>
                  <a:gd name="T20" fmla="*/ 0 w 27"/>
                  <a:gd name="T21" fmla="*/ 74 h 82"/>
                  <a:gd name="T22" fmla="*/ 4 w 27"/>
                  <a:gd name="T23" fmla="*/ 77 h 82"/>
                  <a:gd name="T24" fmla="*/ 9 w 27"/>
                  <a:gd name="T25" fmla="*/ 79 h 82"/>
                  <a:gd name="T26" fmla="*/ 14 w 27"/>
                  <a:gd name="T27" fmla="*/ 82 h 82"/>
                  <a:gd name="T28" fmla="*/ 17 w 27"/>
                  <a:gd name="T29" fmla="*/ 82 h 82"/>
                  <a:gd name="T30" fmla="*/ 22 w 27"/>
                  <a:gd name="T31" fmla="*/ 79 h 82"/>
                  <a:gd name="T32" fmla="*/ 27 w 27"/>
                  <a:gd name="T33" fmla="*/ 77 h 82"/>
                  <a:gd name="T34" fmla="*/ 27 w 27"/>
                  <a:gd name="T35" fmla="*/ 74 h 82"/>
                  <a:gd name="T36" fmla="*/ 27 w 27"/>
                  <a:gd name="T37" fmla="*/ 9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82">
                    <a:moveTo>
                      <a:pt x="27" y="9"/>
                    </a:moveTo>
                    <a:lnTo>
                      <a:pt x="27" y="5"/>
                    </a:lnTo>
                    <a:lnTo>
                      <a:pt x="27" y="2"/>
                    </a:lnTo>
                    <a:lnTo>
                      <a:pt x="22" y="0"/>
                    </a:lnTo>
                    <a:lnTo>
                      <a:pt x="17" y="0"/>
                    </a:lnTo>
                    <a:lnTo>
                      <a:pt x="14" y="0"/>
                    </a:lnTo>
                    <a:lnTo>
                      <a:pt x="9" y="0"/>
                    </a:lnTo>
                    <a:lnTo>
                      <a:pt x="4" y="2"/>
                    </a:lnTo>
                    <a:lnTo>
                      <a:pt x="0" y="5"/>
                    </a:lnTo>
                    <a:lnTo>
                      <a:pt x="0" y="72"/>
                    </a:lnTo>
                    <a:lnTo>
                      <a:pt x="0" y="74"/>
                    </a:lnTo>
                    <a:lnTo>
                      <a:pt x="4" y="77"/>
                    </a:lnTo>
                    <a:lnTo>
                      <a:pt x="9" y="79"/>
                    </a:lnTo>
                    <a:lnTo>
                      <a:pt x="14" y="82"/>
                    </a:lnTo>
                    <a:lnTo>
                      <a:pt x="17" y="82"/>
                    </a:lnTo>
                    <a:lnTo>
                      <a:pt x="22" y="79"/>
                    </a:lnTo>
                    <a:lnTo>
                      <a:pt x="27" y="77"/>
                    </a:lnTo>
                    <a:lnTo>
                      <a:pt x="27" y="74"/>
                    </a:lnTo>
                    <a:lnTo>
                      <a:pt x="27" y="9"/>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100" name="任意多边形 14446">
                <a:extLst>
                  <a:ext uri="{FF2B5EF4-FFF2-40B4-BE49-F238E27FC236}">
                    <a16:creationId xmlns="" xmlns:a16="http://schemas.microsoft.com/office/drawing/2014/main" id="{650DEADB-B01C-059F-875E-9FEE44762869}"/>
                  </a:ext>
                </a:extLst>
              </p:cNvPr>
              <p:cNvSpPr>
                <a:spLocks noChangeArrowheads="1"/>
              </p:cNvSpPr>
              <p:nvPr/>
            </p:nvSpPr>
            <p:spPr bwMode="auto">
              <a:xfrm>
                <a:off x="2729" y="2055"/>
                <a:ext cx="11" cy="33"/>
              </a:xfrm>
              <a:custGeom>
                <a:avLst/>
                <a:gdLst>
                  <a:gd name="T0" fmla="*/ 27 w 27"/>
                  <a:gd name="T1" fmla="*/ 7 h 82"/>
                  <a:gd name="T2" fmla="*/ 27 w 27"/>
                  <a:gd name="T3" fmla="*/ 5 h 82"/>
                  <a:gd name="T4" fmla="*/ 27 w 27"/>
                  <a:gd name="T5" fmla="*/ 2 h 82"/>
                  <a:gd name="T6" fmla="*/ 22 w 27"/>
                  <a:gd name="T7" fmla="*/ 0 h 82"/>
                  <a:gd name="T8" fmla="*/ 17 w 27"/>
                  <a:gd name="T9" fmla="*/ 0 h 82"/>
                  <a:gd name="T10" fmla="*/ 14 w 27"/>
                  <a:gd name="T11" fmla="*/ 0 h 82"/>
                  <a:gd name="T12" fmla="*/ 9 w 27"/>
                  <a:gd name="T13" fmla="*/ 0 h 82"/>
                  <a:gd name="T14" fmla="*/ 4 w 27"/>
                  <a:gd name="T15" fmla="*/ 2 h 82"/>
                  <a:gd name="T16" fmla="*/ 0 w 27"/>
                  <a:gd name="T17" fmla="*/ 5 h 82"/>
                  <a:gd name="T18" fmla="*/ 0 w 27"/>
                  <a:gd name="T19" fmla="*/ 70 h 82"/>
                  <a:gd name="T20" fmla="*/ 0 w 27"/>
                  <a:gd name="T21" fmla="*/ 72 h 82"/>
                  <a:gd name="T22" fmla="*/ 4 w 27"/>
                  <a:gd name="T23" fmla="*/ 75 h 82"/>
                  <a:gd name="T24" fmla="*/ 9 w 27"/>
                  <a:gd name="T25" fmla="*/ 80 h 82"/>
                  <a:gd name="T26" fmla="*/ 14 w 27"/>
                  <a:gd name="T27" fmla="*/ 82 h 82"/>
                  <a:gd name="T28" fmla="*/ 17 w 27"/>
                  <a:gd name="T29" fmla="*/ 82 h 82"/>
                  <a:gd name="T30" fmla="*/ 22 w 27"/>
                  <a:gd name="T31" fmla="*/ 80 h 82"/>
                  <a:gd name="T32" fmla="*/ 27 w 27"/>
                  <a:gd name="T33" fmla="*/ 75 h 82"/>
                  <a:gd name="T34" fmla="*/ 27 w 27"/>
                  <a:gd name="T35" fmla="*/ 72 h 82"/>
                  <a:gd name="T36" fmla="*/ 27 w 27"/>
                  <a:gd name="T37" fmla="*/ 7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82">
                    <a:moveTo>
                      <a:pt x="27" y="7"/>
                    </a:moveTo>
                    <a:lnTo>
                      <a:pt x="27" y="5"/>
                    </a:lnTo>
                    <a:lnTo>
                      <a:pt x="27" y="2"/>
                    </a:lnTo>
                    <a:lnTo>
                      <a:pt x="22" y="0"/>
                    </a:lnTo>
                    <a:lnTo>
                      <a:pt x="17" y="0"/>
                    </a:lnTo>
                    <a:lnTo>
                      <a:pt x="14" y="0"/>
                    </a:lnTo>
                    <a:lnTo>
                      <a:pt x="9" y="0"/>
                    </a:lnTo>
                    <a:lnTo>
                      <a:pt x="4" y="2"/>
                    </a:lnTo>
                    <a:lnTo>
                      <a:pt x="0" y="5"/>
                    </a:lnTo>
                    <a:lnTo>
                      <a:pt x="0" y="70"/>
                    </a:lnTo>
                    <a:lnTo>
                      <a:pt x="0" y="72"/>
                    </a:lnTo>
                    <a:lnTo>
                      <a:pt x="4" y="75"/>
                    </a:lnTo>
                    <a:lnTo>
                      <a:pt x="9" y="80"/>
                    </a:lnTo>
                    <a:lnTo>
                      <a:pt x="14" y="82"/>
                    </a:lnTo>
                    <a:lnTo>
                      <a:pt x="17" y="82"/>
                    </a:lnTo>
                    <a:lnTo>
                      <a:pt x="22" y="80"/>
                    </a:lnTo>
                    <a:lnTo>
                      <a:pt x="27" y="75"/>
                    </a:lnTo>
                    <a:lnTo>
                      <a:pt x="27" y="72"/>
                    </a:lnTo>
                    <a:lnTo>
                      <a:pt x="27" y="7"/>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101" name="任意多边形 14447">
                <a:extLst>
                  <a:ext uri="{FF2B5EF4-FFF2-40B4-BE49-F238E27FC236}">
                    <a16:creationId xmlns="" xmlns:a16="http://schemas.microsoft.com/office/drawing/2014/main" id="{C7B4CDC5-5B8A-A36D-2E37-FCD08FE12633}"/>
                  </a:ext>
                </a:extLst>
              </p:cNvPr>
              <p:cNvSpPr>
                <a:spLocks noChangeArrowheads="1"/>
              </p:cNvSpPr>
              <p:nvPr/>
            </p:nvSpPr>
            <p:spPr bwMode="auto">
              <a:xfrm>
                <a:off x="2729" y="2101"/>
                <a:ext cx="11" cy="32"/>
              </a:xfrm>
              <a:custGeom>
                <a:avLst/>
                <a:gdLst>
                  <a:gd name="T0" fmla="*/ 27 w 27"/>
                  <a:gd name="T1" fmla="*/ 7 h 79"/>
                  <a:gd name="T2" fmla="*/ 27 w 27"/>
                  <a:gd name="T3" fmla="*/ 4 h 79"/>
                  <a:gd name="T4" fmla="*/ 27 w 27"/>
                  <a:gd name="T5" fmla="*/ 2 h 79"/>
                  <a:gd name="T6" fmla="*/ 22 w 27"/>
                  <a:gd name="T7" fmla="*/ 0 h 79"/>
                  <a:gd name="T8" fmla="*/ 17 w 27"/>
                  <a:gd name="T9" fmla="*/ 0 h 79"/>
                  <a:gd name="T10" fmla="*/ 14 w 27"/>
                  <a:gd name="T11" fmla="*/ 0 h 79"/>
                  <a:gd name="T12" fmla="*/ 9 w 27"/>
                  <a:gd name="T13" fmla="*/ 0 h 79"/>
                  <a:gd name="T14" fmla="*/ 4 w 27"/>
                  <a:gd name="T15" fmla="*/ 2 h 79"/>
                  <a:gd name="T16" fmla="*/ 0 w 27"/>
                  <a:gd name="T17" fmla="*/ 4 h 79"/>
                  <a:gd name="T18" fmla="*/ 0 w 27"/>
                  <a:gd name="T19" fmla="*/ 69 h 79"/>
                  <a:gd name="T20" fmla="*/ 0 w 27"/>
                  <a:gd name="T21" fmla="*/ 72 h 79"/>
                  <a:gd name="T22" fmla="*/ 4 w 27"/>
                  <a:gd name="T23" fmla="*/ 74 h 79"/>
                  <a:gd name="T24" fmla="*/ 9 w 27"/>
                  <a:gd name="T25" fmla="*/ 77 h 79"/>
                  <a:gd name="T26" fmla="*/ 14 w 27"/>
                  <a:gd name="T27" fmla="*/ 79 h 79"/>
                  <a:gd name="T28" fmla="*/ 17 w 27"/>
                  <a:gd name="T29" fmla="*/ 79 h 79"/>
                  <a:gd name="T30" fmla="*/ 22 w 27"/>
                  <a:gd name="T31" fmla="*/ 77 h 79"/>
                  <a:gd name="T32" fmla="*/ 27 w 27"/>
                  <a:gd name="T33" fmla="*/ 74 h 79"/>
                  <a:gd name="T34" fmla="*/ 27 w 27"/>
                  <a:gd name="T35" fmla="*/ 72 h 79"/>
                  <a:gd name="T36" fmla="*/ 27 w 27"/>
                  <a:gd name="T37" fmla="*/ 7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79">
                    <a:moveTo>
                      <a:pt x="27" y="7"/>
                    </a:moveTo>
                    <a:lnTo>
                      <a:pt x="27" y="4"/>
                    </a:lnTo>
                    <a:lnTo>
                      <a:pt x="27" y="2"/>
                    </a:lnTo>
                    <a:lnTo>
                      <a:pt x="22" y="0"/>
                    </a:lnTo>
                    <a:lnTo>
                      <a:pt x="17" y="0"/>
                    </a:lnTo>
                    <a:lnTo>
                      <a:pt x="14" y="0"/>
                    </a:lnTo>
                    <a:lnTo>
                      <a:pt x="9" y="0"/>
                    </a:lnTo>
                    <a:lnTo>
                      <a:pt x="4" y="2"/>
                    </a:lnTo>
                    <a:lnTo>
                      <a:pt x="0" y="4"/>
                    </a:lnTo>
                    <a:lnTo>
                      <a:pt x="0" y="69"/>
                    </a:lnTo>
                    <a:lnTo>
                      <a:pt x="0" y="72"/>
                    </a:lnTo>
                    <a:lnTo>
                      <a:pt x="4" y="74"/>
                    </a:lnTo>
                    <a:lnTo>
                      <a:pt x="9" y="77"/>
                    </a:lnTo>
                    <a:lnTo>
                      <a:pt x="14" y="79"/>
                    </a:lnTo>
                    <a:lnTo>
                      <a:pt x="17" y="79"/>
                    </a:lnTo>
                    <a:lnTo>
                      <a:pt x="22" y="77"/>
                    </a:lnTo>
                    <a:lnTo>
                      <a:pt x="27" y="74"/>
                    </a:lnTo>
                    <a:lnTo>
                      <a:pt x="27" y="72"/>
                    </a:lnTo>
                    <a:lnTo>
                      <a:pt x="27" y="7"/>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102" name="任意多边形 14448">
                <a:extLst>
                  <a:ext uri="{FF2B5EF4-FFF2-40B4-BE49-F238E27FC236}">
                    <a16:creationId xmlns="" xmlns:a16="http://schemas.microsoft.com/office/drawing/2014/main" id="{67DAE1D9-4026-7447-D600-4E016DBD0895}"/>
                  </a:ext>
                </a:extLst>
              </p:cNvPr>
              <p:cNvSpPr>
                <a:spLocks noChangeArrowheads="1"/>
              </p:cNvSpPr>
              <p:nvPr/>
            </p:nvSpPr>
            <p:spPr bwMode="auto">
              <a:xfrm>
                <a:off x="2729" y="2146"/>
                <a:ext cx="11" cy="33"/>
              </a:xfrm>
              <a:custGeom>
                <a:avLst/>
                <a:gdLst>
                  <a:gd name="T0" fmla="*/ 27 w 27"/>
                  <a:gd name="T1" fmla="*/ 9 h 82"/>
                  <a:gd name="T2" fmla="*/ 27 w 27"/>
                  <a:gd name="T3" fmla="*/ 5 h 82"/>
                  <a:gd name="T4" fmla="*/ 27 w 27"/>
                  <a:gd name="T5" fmla="*/ 2 h 82"/>
                  <a:gd name="T6" fmla="*/ 22 w 27"/>
                  <a:gd name="T7" fmla="*/ 0 h 82"/>
                  <a:gd name="T8" fmla="*/ 17 w 27"/>
                  <a:gd name="T9" fmla="*/ 0 h 82"/>
                  <a:gd name="T10" fmla="*/ 14 w 27"/>
                  <a:gd name="T11" fmla="*/ 0 h 82"/>
                  <a:gd name="T12" fmla="*/ 9 w 27"/>
                  <a:gd name="T13" fmla="*/ 0 h 82"/>
                  <a:gd name="T14" fmla="*/ 4 w 27"/>
                  <a:gd name="T15" fmla="*/ 2 h 82"/>
                  <a:gd name="T16" fmla="*/ 0 w 27"/>
                  <a:gd name="T17" fmla="*/ 5 h 82"/>
                  <a:gd name="T18" fmla="*/ 0 w 27"/>
                  <a:gd name="T19" fmla="*/ 72 h 82"/>
                  <a:gd name="T20" fmla="*/ 0 w 27"/>
                  <a:gd name="T21" fmla="*/ 75 h 82"/>
                  <a:gd name="T22" fmla="*/ 4 w 27"/>
                  <a:gd name="T23" fmla="*/ 77 h 82"/>
                  <a:gd name="T24" fmla="*/ 9 w 27"/>
                  <a:gd name="T25" fmla="*/ 80 h 82"/>
                  <a:gd name="T26" fmla="*/ 14 w 27"/>
                  <a:gd name="T27" fmla="*/ 82 h 82"/>
                  <a:gd name="T28" fmla="*/ 17 w 27"/>
                  <a:gd name="T29" fmla="*/ 82 h 82"/>
                  <a:gd name="T30" fmla="*/ 22 w 27"/>
                  <a:gd name="T31" fmla="*/ 80 h 82"/>
                  <a:gd name="T32" fmla="*/ 27 w 27"/>
                  <a:gd name="T33" fmla="*/ 77 h 82"/>
                  <a:gd name="T34" fmla="*/ 27 w 27"/>
                  <a:gd name="T35" fmla="*/ 75 h 82"/>
                  <a:gd name="T36" fmla="*/ 27 w 27"/>
                  <a:gd name="T37" fmla="*/ 9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82">
                    <a:moveTo>
                      <a:pt x="27" y="9"/>
                    </a:moveTo>
                    <a:lnTo>
                      <a:pt x="27" y="5"/>
                    </a:lnTo>
                    <a:lnTo>
                      <a:pt x="27" y="2"/>
                    </a:lnTo>
                    <a:lnTo>
                      <a:pt x="22" y="0"/>
                    </a:lnTo>
                    <a:lnTo>
                      <a:pt x="17" y="0"/>
                    </a:lnTo>
                    <a:lnTo>
                      <a:pt x="14" y="0"/>
                    </a:lnTo>
                    <a:lnTo>
                      <a:pt x="9" y="0"/>
                    </a:lnTo>
                    <a:lnTo>
                      <a:pt x="4" y="2"/>
                    </a:lnTo>
                    <a:lnTo>
                      <a:pt x="0" y="5"/>
                    </a:lnTo>
                    <a:lnTo>
                      <a:pt x="0" y="72"/>
                    </a:lnTo>
                    <a:lnTo>
                      <a:pt x="0" y="75"/>
                    </a:lnTo>
                    <a:lnTo>
                      <a:pt x="4" y="77"/>
                    </a:lnTo>
                    <a:lnTo>
                      <a:pt x="9" y="80"/>
                    </a:lnTo>
                    <a:lnTo>
                      <a:pt x="14" y="82"/>
                    </a:lnTo>
                    <a:lnTo>
                      <a:pt x="17" y="82"/>
                    </a:lnTo>
                    <a:lnTo>
                      <a:pt x="22" y="80"/>
                    </a:lnTo>
                    <a:lnTo>
                      <a:pt x="27" y="77"/>
                    </a:lnTo>
                    <a:lnTo>
                      <a:pt x="27" y="75"/>
                    </a:lnTo>
                    <a:lnTo>
                      <a:pt x="27" y="9"/>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103" name="任意多边形 14449">
                <a:extLst>
                  <a:ext uri="{FF2B5EF4-FFF2-40B4-BE49-F238E27FC236}">
                    <a16:creationId xmlns="" xmlns:a16="http://schemas.microsoft.com/office/drawing/2014/main" id="{695E6AB8-2F86-2E43-0AE0-A90FD6A3C18B}"/>
                  </a:ext>
                </a:extLst>
              </p:cNvPr>
              <p:cNvSpPr>
                <a:spLocks noChangeArrowheads="1"/>
              </p:cNvSpPr>
              <p:nvPr/>
            </p:nvSpPr>
            <p:spPr bwMode="auto">
              <a:xfrm>
                <a:off x="2729" y="2192"/>
                <a:ext cx="11" cy="33"/>
              </a:xfrm>
              <a:custGeom>
                <a:avLst/>
                <a:gdLst>
                  <a:gd name="T0" fmla="*/ 27 w 27"/>
                  <a:gd name="T1" fmla="*/ 7 h 82"/>
                  <a:gd name="T2" fmla="*/ 27 w 27"/>
                  <a:gd name="T3" fmla="*/ 5 h 82"/>
                  <a:gd name="T4" fmla="*/ 27 w 27"/>
                  <a:gd name="T5" fmla="*/ 2 h 82"/>
                  <a:gd name="T6" fmla="*/ 22 w 27"/>
                  <a:gd name="T7" fmla="*/ 0 h 82"/>
                  <a:gd name="T8" fmla="*/ 17 w 27"/>
                  <a:gd name="T9" fmla="*/ 0 h 82"/>
                  <a:gd name="T10" fmla="*/ 14 w 27"/>
                  <a:gd name="T11" fmla="*/ 0 h 82"/>
                  <a:gd name="T12" fmla="*/ 9 w 27"/>
                  <a:gd name="T13" fmla="*/ 0 h 82"/>
                  <a:gd name="T14" fmla="*/ 4 w 27"/>
                  <a:gd name="T15" fmla="*/ 2 h 82"/>
                  <a:gd name="T16" fmla="*/ 0 w 27"/>
                  <a:gd name="T17" fmla="*/ 5 h 82"/>
                  <a:gd name="T18" fmla="*/ 0 w 27"/>
                  <a:gd name="T19" fmla="*/ 69 h 82"/>
                  <a:gd name="T20" fmla="*/ 0 w 27"/>
                  <a:gd name="T21" fmla="*/ 72 h 82"/>
                  <a:gd name="T22" fmla="*/ 4 w 27"/>
                  <a:gd name="T23" fmla="*/ 74 h 82"/>
                  <a:gd name="T24" fmla="*/ 9 w 27"/>
                  <a:gd name="T25" fmla="*/ 77 h 82"/>
                  <a:gd name="T26" fmla="*/ 14 w 27"/>
                  <a:gd name="T27" fmla="*/ 82 h 82"/>
                  <a:gd name="T28" fmla="*/ 17 w 27"/>
                  <a:gd name="T29" fmla="*/ 82 h 82"/>
                  <a:gd name="T30" fmla="*/ 22 w 27"/>
                  <a:gd name="T31" fmla="*/ 77 h 82"/>
                  <a:gd name="T32" fmla="*/ 27 w 27"/>
                  <a:gd name="T33" fmla="*/ 74 h 82"/>
                  <a:gd name="T34" fmla="*/ 27 w 27"/>
                  <a:gd name="T35" fmla="*/ 72 h 82"/>
                  <a:gd name="T36" fmla="*/ 27 w 27"/>
                  <a:gd name="T37" fmla="*/ 7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82">
                    <a:moveTo>
                      <a:pt x="27" y="7"/>
                    </a:moveTo>
                    <a:lnTo>
                      <a:pt x="27" y="5"/>
                    </a:lnTo>
                    <a:lnTo>
                      <a:pt x="27" y="2"/>
                    </a:lnTo>
                    <a:lnTo>
                      <a:pt x="22" y="0"/>
                    </a:lnTo>
                    <a:lnTo>
                      <a:pt x="17" y="0"/>
                    </a:lnTo>
                    <a:lnTo>
                      <a:pt x="14" y="0"/>
                    </a:lnTo>
                    <a:lnTo>
                      <a:pt x="9" y="0"/>
                    </a:lnTo>
                    <a:lnTo>
                      <a:pt x="4" y="2"/>
                    </a:lnTo>
                    <a:lnTo>
                      <a:pt x="0" y="5"/>
                    </a:lnTo>
                    <a:lnTo>
                      <a:pt x="0" y="69"/>
                    </a:lnTo>
                    <a:lnTo>
                      <a:pt x="0" y="72"/>
                    </a:lnTo>
                    <a:lnTo>
                      <a:pt x="4" y="74"/>
                    </a:lnTo>
                    <a:lnTo>
                      <a:pt x="9" y="77"/>
                    </a:lnTo>
                    <a:lnTo>
                      <a:pt x="14" y="82"/>
                    </a:lnTo>
                    <a:lnTo>
                      <a:pt x="17" y="82"/>
                    </a:lnTo>
                    <a:lnTo>
                      <a:pt x="22" y="77"/>
                    </a:lnTo>
                    <a:lnTo>
                      <a:pt x="27" y="74"/>
                    </a:lnTo>
                    <a:lnTo>
                      <a:pt x="27" y="72"/>
                    </a:lnTo>
                    <a:lnTo>
                      <a:pt x="27" y="7"/>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104" name="任意多边形 14450">
                <a:extLst>
                  <a:ext uri="{FF2B5EF4-FFF2-40B4-BE49-F238E27FC236}">
                    <a16:creationId xmlns="" xmlns:a16="http://schemas.microsoft.com/office/drawing/2014/main" id="{1C553E29-3443-02F1-8E18-331C7B7229BA}"/>
                  </a:ext>
                </a:extLst>
              </p:cNvPr>
              <p:cNvSpPr>
                <a:spLocks noChangeArrowheads="1"/>
              </p:cNvSpPr>
              <p:nvPr/>
            </p:nvSpPr>
            <p:spPr bwMode="auto">
              <a:xfrm>
                <a:off x="2729" y="2238"/>
                <a:ext cx="11" cy="32"/>
              </a:xfrm>
              <a:custGeom>
                <a:avLst/>
                <a:gdLst>
                  <a:gd name="T0" fmla="*/ 27 w 27"/>
                  <a:gd name="T1" fmla="*/ 7 h 80"/>
                  <a:gd name="T2" fmla="*/ 27 w 27"/>
                  <a:gd name="T3" fmla="*/ 5 h 80"/>
                  <a:gd name="T4" fmla="*/ 27 w 27"/>
                  <a:gd name="T5" fmla="*/ 1 h 80"/>
                  <a:gd name="T6" fmla="*/ 22 w 27"/>
                  <a:gd name="T7" fmla="*/ 0 h 80"/>
                  <a:gd name="T8" fmla="*/ 17 w 27"/>
                  <a:gd name="T9" fmla="*/ 0 h 80"/>
                  <a:gd name="T10" fmla="*/ 14 w 27"/>
                  <a:gd name="T11" fmla="*/ 0 h 80"/>
                  <a:gd name="T12" fmla="*/ 9 w 27"/>
                  <a:gd name="T13" fmla="*/ 0 h 80"/>
                  <a:gd name="T14" fmla="*/ 4 w 27"/>
                  <a:gd name="T15" fmla="*/ 1 h 80"/>
                  <a:gd name="T16" fmla="*/ 0 w 27"/>
                  <a:gd name="T17" fmla="*/ 5 h 80"/>
                  <a:gd name="T18" fmla="*/ 0 w 27"/>
                  <a:gd name="T19" fmla="*/ 70 h 80"/>
                  <a:gd name="T20" fmla="*/ 0 w 27"/>
                  <a:gd name="T21" fmla="*/ 72 h 80"/>
                  <a:gd name="T22" fmla="*/ 4 w 27"/>
                  <a:gd name="T23" fmla="*/ 74 h 80"/>
                  <a:gd name="T24" fmla="*/ 9 w 27"/>
                  <a:gd name="T25" fmla="*/ 77 h 80"/>
                  <a:gd name="T26" fmla="*/ 14 w 27"/>
                  <a:gd name="T27" fmla="*/ 80 h 80"/>
                  <a:gd name="T28" fmla="*/ 17 w 27"/>
                  <a:gd name="T29" fmla="*/ 80 h 80"/>
                  <a:gd name="T30" fmla="*/ 22 w 27"/>
                  <a:gd name="T31" fmla="*/ 77 h 80"/>
                  <a:gd name="T32" fmla="*/ 27 w 27"/>
                  <a:gd name="T33" fmla="*/ 74 h 80"/>
                  <a:gd name="T34" fmla="*/ 27 w 27"/>
                  <a:gd name="T35" fmla="*/ 72 h 80"/>
                  <a:gd name="T36" fmla="*/ 27 w 27"/>
                  <a:gd name="T37" fmla="*/ 7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80">
                    <a:moveTo>
                      <a:pt x="27" y="7"/>
                    </a:moveTo>
                    <a:lnTo>
                      <a:pt x="27" y="5"/>
                    </a:lnTo>
                    <a:lnTo>
                      <a:pt x="27" y="1"/>
                    </a:lnTo>
                    <a:lnTo>
                      <a:pt x="22" y="0"/>
                    </a:lnTo>
                    <a:lnTo>
                      <a:pt x="17" y="0"/>
                    </a:lnTo>
                    <a:lnTo>
                      <a:pt x="14" y="0"/>
                    </a:lnTo>
                    <a:lnTo>
                      <a:pt x="9" y="0"/>
                    </a:lnTo>
                    <a:lnTo>
                      <a:pt x="4" y="1"/>
                    </a:lnTo>
                    <a:lnTo>
                      <a:pt x="0" y="5"/>
                    </a:lnTo>
                    <a:lnTo>
                      <a:pt x="0" y="70"/>
                    </a:lnTo>
                    <a:lnTo>
                      <a:pt x="0" y="72"/>
                    </a:lnTo>
                    <a:lnTo>
                      <a:pt x="4" y="74"/>
                    </a:lnTo>
                    <a:lnTo>
                      <a:pt x="9" y="77"/>
                    </a:lnTo>
                    <a:lnTo>
                      <a:pt x="14" y="80"/>
                    </a:lnTo>
                    <a:lnTo>
                      <a:pt x="17" y="80"/>
                    </a:lnTo>
                    <a:lnTo>
                      <a:pt x="22" y="77"/>
                    </a:lnTo>
                    <a:lnTo>
                      <a:pt x="27" y="74"/>
                    </a:lnTo>
                    <a:lnTo>
                      <a:pt x="27" y="72"/>
                    </a:lnTo>
                    <a:lnTo>
                      <a:pt x="27" y="7"/>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105" name="任意多边形 14451">
                <a:extLst>
                  <a:ext uri="{FF2B5EF4-FFF2-40B4-BE49-F238E27FC236}">
                    <a16:creationId xmlns="" xmlns:a16="http://schemas.microsoft.com/office/drawing/2014/main" id="{E087A98D-8DF8-AE3C-E503-FC4CE648278F}"/>
                  </a:ext>
                </a:extLst>
              </p:cNvPr>
              <p:cNvSpPr>
                <a:spLocks noChangeArrowheads="1"/>
              </p:cNvSpPr>
              <p:nvPr/>
            </p:nvSpPr>
            <p:spPr bwMode="auto">
              <a:xfrm>
                <a:off x="2729" y="2283"/>
                <a:ext cx="11" cy="33"/>
              </a:xfrm>
              <a:custGeom>
                <a:avLst/>
                <a:gdLst>
                  <a:gd name="T0" fmla="*/ 27 w 27"/>
                  <a:gd name="T1" fmla="*/ 9 h 82"/>
                  <a:gd name="T2" fmla="*/ 27 w 27"/>
                  <a:gd name="T3" fmla="*/ 5 h 82"/>
                  <a:gd name="T4" fmla="*/ 27 w 27"/>
                  <a:gd name="T5" fmla="*/ 2 h 82"/>
                  <a:gd name="T6" fmla="*/ 22 w 27"/>
                  <a:gd name="T7" fmla="*/ 0 h 82"/>
                  <a:gd name="T8" fmla="*/ 17 w 27"/>
                  <a:gd name="T9" fmla="*/ 0 h 82"/>
                  <a:gd name="T10" fmla="*/ 14 w 27"/>
                  <a:gd name="T11" fmla="*/ 0 h 82"/>
                  <a:gd name="T12" fmla="*/ 9 w 27"/>
                  <a:gd name="T13" fmla="*/ 0 h 82"/>
                  <a:gd name="T14" fmla="*/ 4 w 27"/>
                  <a:gd name="T15" fmla="*/ 2 h 82"/>
                  <a:gd name="T16" fmla="*/ 0 w 27"/>
                  <a:gd name="T17" fmla="*/ 5 h 82"/>
                  <a:gd name="T18" fmla="*/ 0 w 27"/>
                  <a:gd name="T19" fmla="*/ 72 h 82"/>
                  <a:gd name="T20" fmla="*/ 0 w 27"/>
                  <a:gd name="T21" fmla="*/ 74 h 82"/>
                  <a:gd name="T22" fmla="*/ 4 w 27"/>
                  <a:gd name="T23" fmla="*/ 77 h 82"/>
                  <a:gd name="T24" fmla="*/ 9 w 27"/>
                  <a:gd name="T25" fmla="*/ 79 h 82"/>
                  <a:gd name="T26" fmla="*/ 14 w 27"/>
                  <a:gd name="T27" fmla="*/ 82 h 82"/>
                  <a:gd name="T28" fmla="*/ 17 w 27"/>
                  <a:gd name="T29" fmla="*/ 82 h 82"/>
                  <a:gd name="T30" fmla="*/ 22 w 27"/>
                  <a:gd name="T31" fmla="*/ 79 h 82"/>
                  <a:gd name="T32" fmla="*/ 27 w 27"/>
                  <a:gd name="T33" fmla="*/ 77 h 82"/>
                  <a:gd name="T34" fmla="*/ 27 w 27"/>
                  <a:gd name="T35" fmla="*/ 74 h 82"/>
                  <a:gd name="T36" fmla="*/ 27 w 27"/>
                  <a:gd name="T37" fmla="*/ 9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82">
                    <a:moveTo>
                      <a:pt x="27" y="9"/>
                    </a:moveTo>
                    <a:lnTo>
                      <a:pt x="27" y="5"/>
                    </a:lnTo>
                    <a:lnTo>
                      <a:pt x="27" y="2"/>
                    </a:lnTo>
                    <a:lnTo>
                      <a:pt x="22" y="0"/>
                    </a:lnTo>
                    <a:lnTo>
                      <a:pt x="17" y="0"/>
                    </a:lnTo>
                    <a:lnTo>
                      <a:pt x="14" y="0"/>
                    </a:lnTo>
                    <a:lnTo>
                      <a:pt x="9" y="0"/>
                    </a:lnTo>
                    <a:lnTo>
                      <a:pt x="4" y="2"/>
                    </a:lnTo>
                    <a:lnTo>
                      <a:pt x="0" y="5"/>
                    </a:lnTo>
                    <a:lnTo>
                      <a:pt x="0" y="72"/>
                    </a:lnTo>
                    <a:lnTo>
                      <a:pt x="0" y="74"/>
                    </a:lnTo>
                    <a:lnTo>
                      <a:pt x="4" y="77"/>
                    </a:lnTo>
                    <a:lnTo>
                      <a:pt x="9" y="79"/>
                    </a:lnTo>
                    <a:lnTo>
                      <a:pt x="14" y="82"/>
                    </a:lnTo>
                    <a:lnTo>
                      <a:pt x="17" y="82"/>
                    </a:lnTo>
                    <a:lnTo>
                      <a:pt x="22" y="79"/>
                    </a:lnTo>
                    <a:lnTo>
                      <a:pt x="27" y="77"/>
                    </a:lnTo>
                    <a:lnTo>
                      <a:pt x="27" y="74"/>
                    </a:lnTo>
                    <a:lnTo>
                      <a:pt x="27" y="9"/>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106" name="任意多边形 14452">
                <a:extLst>
                  <a:ext uri="{FF2B5EF4-FFF2-40B4-BE49-F238E27FC236}">
                    <a16:creationId xmlns="" xmlns:a16="http://schemas.microsoft.com/office/drawing/2014/main" id="{2A110D27-97C2-57B4-D18B-362F5374B218}"/>
                  </a:ext>
                </a:extLst>
              </p:cNvPr>
              <p:cNvSpPr>
                <a:spLocks noChangeArrowheads="1"/>
              </p:cNvSpPr>
              <p:nvPr/>
            </p:nvSpPr>
            <p:spPr bwMode="auto">
              <a:xfrm>
                <a:off x="2729" y="2329"/>
                <a:ext cx="11" cy="33"/>
              </a:xfrm>
              <a:custGeom>
                <a:avLst/>
                <a:gdLst>
                  <a:gd name="T0" fmla="*/ 27 w 27"/>
                  <a:gd name="T1" fmla="*/ 7 h 82"/>
                  <a:gd name="T2" fmla="*/ 27 w 27"/>
                  <a:gd name="T3" fmla="*/ 4 h 82"/>
                  <a:gd name="T4" fmla="*/ 27 w 27"/>
                  <a:gd name="T5" fmla="*/ 2 h 82"/>
                  <a:gd name="T6" fmla="*/ 22 w 27"/>
                  <a:gd name="T7" fmla="*/ 0 h 82"/>
                  <a:gd name="T8" fmla="*/ 17 w 27"/>
                  <a:gd name="T9" fmla="*/ 0 h 82"/>
                  <a:gd name="T10" fmla="*/ 14 w 27"/>
                  <a:gd name="T11" fmla="*/ 0 h 82"/>
                  <a:gd name="T12" fmla="*/ 9 w 27"/>
                  <a:gd name="T13" fmla="*/ 0 h 82"/>
                  <a:gd name="T14" fmla="*/ 4 w 27"/>
                  <a:gd name="T15" fmla="*/ 2 h 82"/>
                  <a:gd name="T16" fmla="*/ 0 w 27"/>
                  <a:gd name="T17" fmla="*/ 4 h 82"/>
                  <a:gd name="T18" fmla="*/ 0 w 27"/>
                  <a:gd name="T19" fmla="*/ 69 h 82"/>
                  <a:gd name="T20" fmla="*/ 0 w 27"/>
                  <a:gd name="T21" fmla="*/ 72 h 82"/>
                  <a:gd name="T22" fmla="*/ 4 w 27"/>
                  <a:gd name="T23" fmla="*/ 75 h 82"/>
                  <a:gd name="T24" fmla="*/ 9 w 27"/>
                  <a:gd name="T25" fmla="*/ 77 h 82"/>
                  <a:gd name="T26" fmla="*/ 14 w 27"/>
                  <a:gd name="T27" fmla="*/ 82 h 82"/>
                  <a:gd name="T28" fmla="*/ 17 w 27"/>
                  <a:gd name="T29" fmla="*/ 82 h 82"/>
                  <a:gd name="T30" fmla="*/ 22 w 27"/>
                  <a:gd name="T31" fmla="*/ 77 h 82"/>
                  <a:gd name="T32" fmla="*/ 27 w 27"/>
                  <a:gd name="T33" fmla="*/ 75 h 82"/>
                  <a:gd name="T34" fmla="*/ 27 w 27"/>
                  <a:gd name="T35" fmla="*/ 72 h 82"/>
                  <a:gd name="T36" fmla="*/ 27 w 27"/>
                  <a:gd name="T37" fmla="*/ 7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82">
                    <a:moveTo>
                      <a:pt x="27" y="7"/>
                    </a:moveTo>
                    <a:lnTo>
                      <a:pt x="27" y="4"/>
                    </a:lnTo>
                    <a:lnTo>
                      <a:pt x="27" y="2"/>
                    </a:lnTo>
                    <a:lnTo>
                      <a:pt x="22" y="0"/>
                    </a:lnTo>
                    <a:lnTo>
                      <a:pt x="17" y="0"/>
                    </a:lnTo>
                    <a:lnTo>
                      <a:pt x="14" y="0"/>
                    </a:lnTo>
                    <a:lnTo>
                      <a:pt x="9" y="0"/>
                    </a:lnTo>
                    <a:lnTo>
                      <a:pt x="4" y="2"/>
                    </a:lnTo>
                    <a:lnTo>
                      <a:pt x="0" y="4"/>
                    </a:lnTo>
                    <a:lnTo>
                      <a:pt x="0" y="69"/>
                    </a:lnTo>
                    <a:lnTo>
                      <a:pt x="0" y="72"/>
                    </a:lnTo>
                    <a:lnTo>
                      <a:pt x="4" y="75"/>
                    </a:lnTo>
                    <a:lnTo>
                      <a:pt x="9" y="77"/>
                    </a:lnTo>
                    <a:lnTo>
                      <a:pt x="14" y="82"/>
                    </a:lnTo>
                    <a:lnTo>
                      <a:pt x="17" y="82"/>
                    </a:lnTo>
                    <a:lnTo>
                      <a:pt x="22" y="77"/>
                    </a:lnTo>
                    <a:lnTo>
                      <a:pt x="27" y="75"/>
                    </a:lnTo>
                    <a:lnTo>
                      <a:pt x="27" y="72"/>
                    </a:lnTo>
                    <a:lnTo>
                      <a:pt x="27" y="7"/>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107" name="任意多边形 14453">
                <a:extLst>
                  <a:ext uri="{FF2B5EF4-FFF2-40B4-BE49-F238E27FC236}">
                    <a16:creationId xmlns="" xmlns:a16="http://schemas.microsoft.com/office/drawing/2014/main" id="{1BFE5999-A5B3-B3D5-65C8-04F5337B9BD7}"/>
                  </a:ext>
                </a:extLst>
              </p:cNvPr>
              <p:cNvSpPr>
                <a:spLocks noChangeArrowheads="1"/>
              </p:cNvSpPr>
              <p:nvPr/>
            </p:nvSpPr>
            <p:spPr bwMode="auto">
              <a:xfrm>
                <a:off x="2729" y="2375"/>
                <a:ext cx="11" cy="32"/>
              </a:xfrm>
              <a:custGeom>
                <a:avLst/>
                <a:gdLst>
                  <a:gd name="T0" fmla="*/ 27 w 27"/>
                  <a:gd name="T1" fmla="*/ 7 h 79"/>
                  <a:gd name="T2" fmla="*/ 27 w 27"/>
                  <a:gd name="T3" fmla="*/ 4 h 79"/>
                  <a:gd name="T4" fmla="*/ 27 w 27"/>
                  <a:gd name="T5" fmla="*/ 2 h 79"/>
                  <a:gd name="T6" fmla="*/ 22 w 27"/>
                  <a:gd name="T7" fmla="*/ 0 h 79"/>
                  <a:gd name="T8" fmla="*/ 17 w 27"/>
                  <a:gd name="T9" fmla="*/ 0 h 79"/>
                  <a:gd name="T10" fmla="*/ 14 w 27"/>
                  <a:gd name="T11" fmla="*/ 0 h 79"/>
                  <a:gd name="T12" fmla="*/ 9 w 27"/>
                  <a:gd name="T13" fmla="*/ 0 h 79"/>
                  <a:gd name="T14" fmla="*/ 4 w 27"/>
                  <a:gd name="T15" fmla="*/ 2 h 79"/>
                  <a:gd name="T16" fmla="*/ 0 w 27"/>
                  <a:gd name="T17" fmla="*/ 4 h 79"/>
                  <a:gd name="T18" fmla="*/ 0 w 27"/>
                  <a:gd name="T19" fmla="*/ 69 h 79"/>
                  <a:gd name="T20" fmla="*/ 0 w 27"/>
                  <a:gd name="T21" fmla="*/ 72 h 79"/>
                  <a:gd name="T22" fmla="*/ 4 w 27"/>
                  <a:gd name="T23" fmla="*/ 74 h 79"/>
                  <a:gd name="T24" fmla="*/ 9 w 27"/>
                  <a:gd name="T25" fmla="*/ 77 h 79"/>
                  <a:gd name="T26" fmla="*/ 14 w 27"/>
                  <a:gd name="T27" fmla="*/ 79 h 79"/>
                  <a:gd name="T28" fmla="*/ 17 w 27"/>
                  <a:gd name="T29" fmla="*/ 79 h 79"/>
                  <a:gd name="T30" fmla="*/ 22 w 27"/>
                  <a:gd name="T31" fmla="*/ 77 h 79"/>
                  <a:gd name="T32" fmla="*/ 27 w 27"/>
                  <a:gd name="T33" fmla="*/ 74 h 79"/>
                  <a:gd name="T34" fmla="*/ 27 w 27"/>
                  <a:gd name="T35" fmla="*/ 72 h 79"/>
                  <a:gd name="T36" fmla="*/ 27 w 27"/>
                  <a:gd name="T37" fmla="*/ 7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79">
                    <a:moveTo>
                      <a:pt x="27" y="7"/>
                    </a:moveTo>
                    <a:lnTo>
                      <a:pt x="27" y="4"/>
                    </a:lnTo>
                    <a:lnTo>
                      <a:pt x="27" y="2"/>
                    </a:lnTo>
                    <a:lnTo>
                      <a:pt x="22" y="0"/>
                    </a:lnTo>
                    <a:lnTo>
                      <a:pt x="17" y="0"/>
                    </a:lnTo>
                    <a:lnTo>
                      <a:pt x="14" y="0"/>
                    </a:lnTo>
                    <a:lnTo>
                      <a:pt x="9" y="0"/>
                    </a:lnTo>
                    <a:lnTo>
                      <a:pt x="4" y="2"/>
                    </a:lnTo>
                    <a:lnTo>
                      <a:pt x="0" y="4"/>
                    </a:lnTo>
                    <a:lnTo>
                      <a:pt x="0" y="69"/>
                    </a:lnTo>
                    <a:lnTo>
                      <a:pt x="0" y="72"/>
                    </a:lnTo>
                    <a:lnTo>
                      <a:pt x="4" y="74"/>
                    </a:lnTo>
                    <a:lnTo>
                      <a:pt x="9" y="77"/>
                    </a:lnTo>
                    <a:lnTo>
                      <a:pt x="14" y="79"/>
                    </a:lnTo>
                    <a:lnTo>
                      <a:pt x="17" y="79"/>
                    </a:lnTo>
                    <a:lnTo>
                      <a:pt x="22" y="77"/>
                    </a:lnTo>
                    <a:lnTo>
                      <a:pt x="27" y="74"/>
                    </a:lnTo>
                    <a:lnTo>
                      <a:pt x="27" y="72"/>
                    </a:lnTo>
                    <a:lnTo>
                      <a:pt x="27" y="7"/>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108" name="任意多边形 14454">
                <a:extLst>
                  <a:ext uri="{FF2B5EF4-FFF2-40B4-BE49-F238E27FC236}">
                    <a16:creationId xmlns="" xmlns:a16="http://schemas.microsoft.com/office/drawing/2014/main" id="{BBA3D2FB-AEEA-A104-362C-C4F536031265}"/>
                  </a:ext>
                </a:extLst>
              </p:cNvPr>
              <p:cNvSpPr>
                <a:spLocks noChangeArrowheads="1"/>
              </p:cNvSpPr>
              <p:nvPr/>
            </p:nvSpPr>
            <p:spPr bwMode="auto">
              <a:xfrm>
                <a:off x="2729" y="2420"/>
                <a:ext cx="11" cy="33"/>
              </a:xfrm>
              <a:custGeom>
                <a:avLst/>
                <a:gdLst>
                  <a:gd name="T0" fmla="*/ 27 w 27"/>
                  <a:gd name="T1" fmla="*/ 10 h 82"/>
                  <a:gd name="T2" fmla="*/ 27 w 27"/>
                  <a:gd name="T3" fmla="*/ 4 h 82"/>
                  <a:gd name="T4" fmla="*/ 27 w 27"/>
                  <a:gd name="T5" fmla="*/ 2 h 82"/>
                  <a:gd name="T6" fmla="*/ 22 w 27"/>
                  <a:gd name="T7" fmla="*/ 0 h 82"/>
                  <a:gd name="T8" fmla="*/ 17 w 27"/>
                  <a:gd name="T9" fmla="*/ 0 h 82"/>
                  <a:gd name="T10" fmla="*/ 14 w 27"/>
                  <a:gd name="T11" fmla="*/ 0 h 82"/>
                  <a:gd name="T12" fmla="*/ 9 w 27"/>
                  <a:gd name="T13" fmla="*/ 0 h 82"/>
                  <a:gd name="T14" fmla="*/ 4 w 27"/>
                  <a:gd name="T15" fmla="*/ 2 h 82"/>
                  <a:gd name="T16" fmla="*/ 0 w 27"/>
                  <a:gd name="T17" fmla="*/ 4 h 82"/>
                  <a:gd name="T18" fmla="*/ 0 w 27"/>
                  <a:gd name="T19" fmla="*/ 72 h 82"/>
                  <a:gd name="T20" fmla="*/ 0 w 27"/>
                  <a:gd name="T21" fmla="*/ 75 h 82"/>
                  <a:gd name="T22" fmla="*/ 4 w 27"/>
                  <a:gd name="T23" fmla="*/ 77 h 82"/>
                  <a:gd name="T24" fmla="*/ 9 w 27"/>
                  <a:gd name="T25" fmla="*/ 79 h 82"/>
                  <a:gd name="T26" fmla="*/ 14 w 27"/>
                  <a:gd name="T27" fmla="*/ 82 h 82"/>
                  <a:gd name="T28" fmla="*/ 17 w 27"/>
                  <a:gd name="T29" fmla="*/ 82 h 82"/>
                  <a:gd name="T30" fmla="*/ 22 w 27"/>
                  <a:gd name="T31" fmla="*/ 79 h 82"/>
                  <a:gd name="T32" fmla="*/ 27 w 27"/>
                  <a:gd name="T33" fmla="*/ 77 h 82"/>
                  <a:gd name="T34" fmla="*/ 27 w 27"/>
                  <a:gd name="T35" fmla="*/ 75 h 82"/>
                  <a:gd name="T36" fmla="*/ 27 w 27"/>
                  <a:gd name="T37" fmla="*/ 10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82">
                    <a:moveTo>
                      <a:pt x="27" y="10"/>
                    </a:moveTo>
                    <a:lnTo>
                      <a:pt x="27" y="4"/>
                    </a:lnTo>
                    <a:lnTo>
                      <a:pt x="27" y="2"/>
                    </a:lnTo>
                    <a:lnTo>
                      <a:pt x="22" y="0"/>
                    </a:lnTo>
                    <a:lnTo>
                      <a:pt x="17" y="0"/>
                    </a:lnTo>
                    <a:lnTo>
                      <a:pt x="14" y="0"/>
                    </a:lnTo>
                    <a:lnTo>
                      <a:pt x="9" y="0"/>
                    </a:lnTo>
                    <a:lnTo>
                      <a:pt x="4" y="2"/>
                    </a:lnTo>
                    <a:lnTo>
                      <a:pt x="0" y="4"/>
                    </a:lnTo>
                    <a:lnTo>
                      <a:pt x="0" y="72"/>
                    </a:lnTo>
                    <a:lnTo>
                      <a:pt x="0" y="75"/>
                    </a:lnTo>
                    <a:lnTo>
                      <a:pt x="4" y="77"/>
                    </a:lnTo>
                    <a:lnTo>
                      <a:pt x="9" y="79"/>
                    </a:lnTo>
                    <a:lnTo>
                      <a:pt x="14" y="82"/>
                    </a:lnTo>
                    <a:lnTo>
                      <a:pt x="17" y="82"/>
                    </a:lnTo>
                    <a:lnTo>
                      <a:pt x="22" y="79"/>
                    </a:lnTo>
                    <a:lnTo>
                      <a:pt x="27" y="77"/>
                    </a:lnTo>
                    <a:lnTo>
                      <a:pt x="27" y="75"/>
                    </a:lnTo>
                    <a:lnTo>
                      <a:pt x="27" y="10"/>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109" name="任意多边形 14455">
                <a:extLst>
                  <a:ext uri="{FF2B5EF4-FFF2-40B4-BE49-F238E27FC236}">
                    <a16:creationId xmlns="" xmlns:a16="http://schemas.microsoft.com/office/drawing/2014/main" id="{95E5C18B-A282-8020-BFA1-70D3A5643CC0}"/>
                  </a:ext>
                </a:extLst>
              </p:cNvPr>
              <p:cNvSpPr>
                <a:spLocks noChangeArrowheads="1"/>
              </p:cNvSpPr>
              <p:nvPr/>
            </p:nvSpPr>
            <p:spPr bwMode="auto">
              <a:xfrm>
                <a:off x="2729" y="2466"/>
                <a:ext cx="11" cy="33"/>
              </a:xfrm>
              <a:custGeom>
                <a:avLst/>
                <a:gdLst>
                  <a:gd name="T0" fmla="*/ 27 w 27"/>
                  <a:gd name="T1" fmla="*/ 7 h 82"/>
                  <a:gd name="T2" fmla="*/ 27 w 27"/>
                  <a:gd name="T3" fmla="*/ 4 h 82"/>
                  <a:gd name="T4" fmla="*/ 27 w 27"/>
                  <a:gd name="T5" fmla="*/ 2 h 82"/>
                  <a:gd name="T6" fmla="*/ 22 w 27"/>
                  <a:gd name="T7" fmla="*/ 0 h 82"/>
                  <a:gd name="T8" fmla="*/ 17 w 27"/>
                  <a:gd name="T9" fmla="*/ 0 h 82"/>
                  <a:gd name="T10" fmla="*/ 14 w 27"/>
                  <a:gd name="T11" fmla="*/ 0 h 82"/>
                  <a:gd name="T12" fmla="*/ 9 w 27"/>
                  <a:gd name="T13" fmla="*/ 0 h 82"/>
                  <a:gd name="T14" fmla="*/ 4 w 27"/>
                  <a:gd name="T15" fmla="*/ 2 h 82"/>
                  <a:gd name="T16" fmla="*/ 0 w 27"/>
                  <a:gd name="T17" fmla="*/ 4 h 82"/>
                  <a:gd name="T18" fmla="*/ 0 w 27"/>
                  <a:gd name="T19" fmla="*/ 69 h 82"/>
                  <a:gd name="T20" fmla="*/ 0 w 27"/>
                  <a:gd name="T21" fmla="*/ 72 h 82"/>
                  <a:gd name="T22" fmla="*/ 4 w 27"/>
                  <a:gd name="T23" fmla="*/ 75 h 82"/>
                  <a:gd name="T24" fmla="*/ 9 w 27"/>
                  <a:gd name="T25" fmla="*/ 77 h 82"/>
                  <a:gd name="T26" fmla="*/ 14 w 27"/>
                  <a:gd name="T27" fmla="*/ 82 h 82"/>
                  <a:gd name="T28" fmla="*/ 17 w 27"/>
                  <a:gd name="T29" fmla="*/ 82 h 82"/>
                  <a:gd name="T30" fmla="*/ 22 w 27"/>
                  <a:gd name="T31" fmla="*/ 77 h 82"/>
                  <a:gd name="T32" fmla="*/ 27 w 27"/>
                  <a:gd name="T33" fmla="*/ 75 h 82"/>
                  <a:gd name="T34" fmla="*/ 27 w 27"/>
                  <a:gd name="T35" fmla="*/ 72 h 82"/>
                  <a:gd name="T36" fmla="*/ 27 w 27"/>
                  <a:gd name="T37" fmla="*/ 7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82">
                    <a:moveTo>
                      <a:pt x="27" y="7"/>
                    </a:moveTo>
                    <a:lnTo>
                      <a:pt x="27" y="4"/>
                    </a:lnTo>
                    <a:lnTo>
                      <a:pt x="27" y="2"/>
                    </a:lnTo>
                    <a:lnTo>
                      <a:pt x="22" y="0"/>
                    </a:lnTo>
                    <a:lnTo>
                      <a:pt x="17" y="0"/>
                    </a:lnTo>
                    <a:lnTo>
                      <a:pt x="14" y="0"/>
                    </a:lnTo>
                    <a:lnTo>
                      <a:pt x="9" y="0"/>
                    </a:lnTo>
                    <a:lnTo>
                      <a:pt x="4" y="2"/>
                    </a:lnTo>
                    <a:lnTo>
                      <a:pt x="0" y="4"/>
                    </a:lnTo>
                    <a:lnTo>
                      <a:pt x="0" y="69"/>
                    </a:lnTo>
                    <a:lnTo>
                      <a:pt x="0" y="72"/>
                    </a:lnTo>
                    <a:lnTo>
                      <a:pt x="4" y="75"/>
                    </a:lnTo>
                    <a:lnTo>
                      <a:pt x="9" y="77"/>
                    </a:lnTo>
                    <a:lnTo>
                      <a:pt x="14" y="82"/>
                    </a:lnTo>
                    <a:lnTo>
                      <a:pt x="17" y="82"/>
                    </a:lnTo>
                    <a:lnTo>
                      <a:pt x="22" y="77"/>
                    </a:lnTo>
                    <a:lnTo>
                      <a:pt x="27" y="75"/>
                    </a:lnTo>
                    <a:lnTo>
                      <a:pt x="27" y="72"/>
                    </a:lnTo>
                    <a:lnTo>
                      <a:pt x="27" y="7"/>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110" name="任意多边形 14456">
                <a:extLst>
                  <a:ext uri="{FF2B5EF4-FFF2-40B4-BE49-F238E27FC236}">
                    <a16:creationId xmlns="" xmlns:a16="http://schemas.microsoft.com/office/drawing/2014/main" id="{19F2839B-7EA2-7D8C-236B-97087C3BF98F}"/>
                  </a:ext>
                </a:extLst>
              </p:cNvPr>
              <p:cNvSpPr>
                <a:spLocks noChangeArrowheads="1"/>
              </p:cNvSpPr>
              <p:nvPr/>
            </p:nvSpPr>
            <p:spPr bwMode="auto">
              <a:xfrm>
                <a:off x="2729" y="2512"/>
                <a:ext cx="11" cy="32"/>
              </a:xfrm>
              <a:custGeom>
                <a:avLst/>
                <a:gdLst>
                  <a:gd name="T0" fmla="*/ 27 w 27"/>
                  <a:gd name="T1" fmla="*/ 7 h 80"/>
                  <a:gd name="T2" fmla="*/ 27 w 27"/>
                  <a:gd name="T3" fmla="*/ 4 h 80"/>
                  <a:gd name="T4" fmla="*/ 27 w 27"/>
                  <a:gd name="T5" fmla="*/ 2 h 80"/>
                  <a:gd name="T6" fmla="*/ 22 w 27"/>
                  <a:gd name="T7" fmla="*/ 0 h 80"/>
                  <a:gd name="T8" fmla="*/ 17 w 27"/>
                  <a:gd name="T9" fmla="*/ 0 h 80"/>
                  <a:gd name="T10" fmla="*/ 14 w 27"/>
                  <a:gd name="T11" fmla="*/ 0 h 80"/>
                  <a:gd name="T12" fmla="*/ 9 w 27"/>
                  <a:gd name="T13" fmla="*/ 0 h 80"/>
                  <a:gd name="T14" fmla="*/ 4 w 27"/>
                  <a:gd name="T15" fmla="*/ 2 h 80"/>
                  <a:gd name="T16" fmla="*/ 0 w 27"/>
                  <a:gd name="T17" fmla="*/ 4 h 80"/>
                  <a:gd name="T18" fmla="*/ 0 w 27"/>
                  <a:gd name="T19" fmla="*/ 69 h 80"/>
                  <a:gd name="T20" fmla="*/ 0 w 27"/>
                  <a:gd name="T21" fmla="*/ 72 h 80"/>
                  <a:gd name="T22" fmla="*/ 4 w 27"/>
                  <a:gd name="T23" fmla="*/ 74 h 80"/>
                  <a:gd name="T24" fmla="*/ 9 w 27"/>
                  <a:gd name="T25" fmla="*/ 77 h 80"/>
                  <a:gd name="T26" fmla="*/ 14 w 27"/>
                  <a:gd name="T27" fmla="*/ 80 h 80"/>
                  <a:gd name="T28" fmla="*/ 17 w 27"/>
                  <a:gd name="T29" fmla="*/ 80 h 80"/>
                  <a:gd name="T30" fmla="*/ 22 w 27"/>
                  <a:gd name="T31" fmla="*/ 77 h 80"/>
                  <a:gd name="T32" fmla="*/ 27 w 27"/>
                  <a:gd name="T33" fmla="*/ 74 h 80"/>
                  <a:gd name="T34" fmla="*/ 27 w 27"/>
                  <a:gd name="T35" fmla="*/ 72 h 80"/>
                  <a:gd name="T36" fmla="*/ 27 w 27"/>
                  <a:gd name="T37" fmla="*/ 7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80">
                    <a:moveTo>
                      <a:pt x="27" y="7"/>
                    </a:moveTo>
                    <a:lnTo>
                      <a:pt x="27" y="4"/>
                    </a:lnTo>
                    <a:lnTo>
                      <a:pt x="27" y="2"/>
                    </a:lnTo>
                    <a:lnTo>
                      <a:pt x="22" y="0"/>
                    </a:lnTo>
                    <a:lnTo>
                      <a:pt x="17" y="0"/>
                    </a:lnTo>
                    <a:lnTo>
                      <a:pt x="14" y="0"/>
                    </a:lnTo>
                    <a:lnTo>
                      <a:pt x="9" y="0"/>
                    </a:lnTo>
                    <a:lnTo>
                      <a:pt x="4" y="2"/>
                    </a:lnTo>
                    <a:lnTo>
                      <a:pt x="0" y="4"/>
                    </a:lnTo>
                    <a:lnTo>
                      <a:pt x="0" y="69"/>
                    </a:lnTo>
                    <a:lnTo>
                      <a:pt x="0" y="72"/>
                    </a:lnTo>
                    <a:lnTo>
                      <a:pt x="4" y="74"/>
                    </a:lnTo>
                    <a:lnTo>
                      <a:pt x="9" y="77"/>
                    </a:lnTo>
                    <a:lnTo>
                      <a:pt x="14" y="80"/>
                    </a:lnTo>
                    <a:lnTo>
                      <a:pt x="17" y="80"/>
                    </a:lnTo>
                    <a:lnTo>
                      <a:pt x="22" y="77"/>
                    </a:lnTo>
                    <a:lnTo>
                      <a:pt x="27" y="74"/>
                    </a:lnTo>
                    <a:lnTo>
                      <a:pt x="27" y="72"/>
                    </a:lnTo>
                    <a:lnTo>
                      <a:pt x="27" y="7"/>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111" name="任意多边形 14457">
                <a:extLst>
                  <a:ext uri="{FF2B5EF4-FFF2-40B4-BE49-F238E27FC236}">
                    <a16:creationId xmlns="" xmlns:a16="http://schemas.microsoft.com/office/drawing/2014/main" id="{79D1F0F1-D4CD-79B3-23D7-E0769FD5B01F}"/>
                  </a:ext>
                </a:extLst>
              </p:cNvPr>
              <p:cNvSpPr>
                <a:spLocks noChangeArrowheads="1"/>
              </p:cNvSpPr>
              <p:nvPr/>
            </p:nvSpPr>
            <p:spPr bwMode="auto">
              <a:xfrm>
                <a:off x="2729" y="2557"/>
                <a:ext cx="11" cy="33"/>
              </a:xfrm>
              <a:custGeom>
                <a:avLst/>
                <a:gdLst>
                  <a:gd name="T0" fmla="*/ 27 w 27"/>
                  <a:gd name="T1" fmla="*/ 10 h 82"/>
                  <a:gd name="T2" fmla="*/ 27 w 27"/>
                  <a:gd name="T3" fmla="*/ 4 h 82"/>
                  <a:gd name="T4" fmla="*/ 27 w 27"/>
                  <a:gd name="T5" fmla="*/ 2 h 82"/>
                  <a:gd name="T6" fmla="*/ 22 w 27"/>
                  <a:gd name="T7" fmla="*/ 0 h 82"/>
                  <a:gd name="T8" fmla="*/ 17 w 27"/>
                  <a:gd name="T9" fmla="*/ 0 h 82"/>
                  <a:gd name="T10" fmla="*/ 14 w 27"/>
                  <a:gd name="T11" fmla="*/ 0 h 82"/>
                  <a:gd name="T12" fmla="*/ 9 w 27"/>
                  <a:gd name="T13" fmla="*/ 0 h 82"/>
                  <a:gd name="T14" fmla="*/ 4 w 27"/>
                  <a:gd name="T15" fmla="*/ 2 h 82"/>
                  <a:gd name="T16" fmla="*/ 0 w 27"/>
                  <a:gd name="T17" fmla="*/ 4 h 82"/>
                  <a:gd name="T18" fmla="*/ 0 w 27"/>
                  <a:gd name="T19" fmla="*/ 72 h 82"/>
                  <a:gd name="T20" fmla="*/ 0 w 27"/>
                  <a:gd name="T21" fmla="*/ 75 h 82"/>
                  <a:gd name="T22" fmla="*/ 4 w 27"/>
                  <a:gd name="T23" fmla="*/ 77 h 82"/>
                  <a:gd name="T24" fmla="*/ 9 w 27"/>
                  <a:gd name="T25" fmla="*/ 79 h 82"/>
                  <a:gd name="T26" fmla="*/ 14 w 27"/>
                  <a:gd name="T27" fmla="*/ 82 h 82"/>
                  <a:gd name="T28" fmla="*/ 17 w 27"/>
                  <a:gd name="T29" fmla="*/ 82 h 82"/>
                  <a:gd name="T30" fmla="*/ 22 w 27"/>
                  <a:gd name="T31" fmla="*/ 79 h 82"/>
                  <a:gd name="T32" fmla="*/ 27 w 27"/>
                  <a:gd name="T33" fmla="*/ 77 h 82"/>
                  <a:gd name="T34" fmla="*/ 27 w 27"/>
                  <a:gd name="T35" fmla="*/ 75 h 82"/>
                  <a:gd name="T36" fmla="*/ 27 w 27"/>
                  <a:gd name="T37" fmla="*/ 10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82">
                    <a:moveTo>
                      <a:pt x="27" y="10"/>
                    </a:moveTo>
                    <a:lnTo>
                      <a:pt x="27" y="4"/>
                    </a:lnTo>
                    <a:lnTo>
                      <a:pt x="27" y="2"/>
                    </a:lnTo>
                    <a:lnTo>
                      <a:pt x="22" y="0"/>
                    </a:lnTo>
                    <a:lnTo>
                      <a:pt x="17" y="0"/>
                    </a:lnTo>
                    <a:lnTo>
                      <a:pt x="14" y="0"/>
                    </a:lnTo>
                    <a:lnTo>
                      <a:pt x="9" y="0"/>
                    </a:lnTo>
                    <a:lnTo>
                      <a:pt x="4" y="2"/>
                    </a:lnTo>
                    <a:lnTo>
                      <a:pt x="0" y="4"/>
                    </a:lnTo>
                    <a:lnTo>
                      <a:pt x="0" y="72"/>
                    </a:lnTo>
                    <a:lnTo>
                      <a:pt x="0" y="75"/>
                    </a:lnTo>
                    <a:lnTo>
                      <a:pt x="4" y="77"/>
                    </a:lnTo>
                    <a:lnTo>
                      <a:pt x="9" y="79"/>
                    </a:lnTo>
                    <a:lnTo>
                      <a:pt x="14" y="82"/>
                    </a:lnTo>
                    <a:lnTo>
                      <a:pt x="17" y="82"/>
                    </a:lnTo>
                    <a:lnTo>
                      <a:pt x="22" y="79"/>
                    </a:lnTo>
                    <a:lnTo>
                      <a:pt x="27" y="77"/>
                    </a:lnTo>
                    <a:lnTo>
                      <a:pt x="27" y="75"/>
                    </a:lnTo>
                    <a:lnTo>
                      <a:pt x="27" y="10"/>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112" name="任意多边形 14458">
                <a:extLst>
                  <a:ext uri="{FF2B5EF4-FFF2-40B4-BE49-F238E27FC236}">
                    <a16:creationId xmlns="" xmlns:a16="http://schemas.microsoft.com/office/drawing/2014/main" id="{25A1C2AF-2F45-D515-6F6E-7765C275CDBB}"/>
                  </a:ext>
                </a:extLst>
              </p:cNvPr>
              <p:cNvSpPr>
                <a:spLocks noChangeArrowheads="1"/>
              </p:cNvSpPr>
              <p:nvPr/>
            </p:nvSpPr>
            <p:spPr bwMode="auto">
              <a:xfrm>
                <a:off x="2729" y="2603"/>
                <a:ext cx="11" cy="33"/>
              </a:xfrm>
              <a:custGeom>
                <a:avLst/>
                <a:gdLst>
                  <a:gd name="T0" fmla="*/ 27 w 27"/>
                  <a:gd name="T1" fmla="*/ 7 h 82"/>
                  <a:gd name="T2" fmla="*/ 27 w 27"/>
                  <a:gd name="T3" fmla="*/ 4 h 82"/>
                  <a:gd name="T4" fmla="*/ 27 w 27"/>
                  <a:gd name="T5" fmla="*/ 2 h 82"/>
                  <a:gd name="T6" fmla="*/ 22 w 27"/>
                  <a:gd name="T7" fmla="*/ 0 h 82"/>
                  <a:gd name="T8" fmla="*/ 17 w 27"/>
                  <a:gd name="T9" fmla="*/ 0 h 82"/>
                  <a:gd name="T10" fmla="*/ 14 w 27"/>
                  <a:gd name="T11" fmla="*/ 0 h 82"/>
                  <a:gd name="T12" fmla="*/ 9 w 27"/>
                  <a:gd name="T13" fmla="*/ 0 h 82"/>
                  <a:gd name="T14" fmla="*/ 4 w 27"/>
                  <a:gd name="T15" fmla="*/ 2 h 82"/>
                  <a:gd name="T16" fmla="*/ 0 w 27"/>
                  <a:gd name="T17" fmla="*/ 4 h 82"/>
                  <a:gd name="T18" fmla="*/ 0 w 27"/>
                  <a:gd name="T19" fmla="*/ 69 h 82"/>
                  <a:gd name="T20" fmla="*/ 0 w 27"/>
                  <a:gd name="T21" fmla="*/ 72 h 82"/>
                  <a:gd name="T22" fmla="*/ 4 w 27"/>
                  <a:gd name="T23" fmla="*/ 74 h 82"/>
                  <a:gd name="T24" fmla="*/ 9 w 27"/>
                  <a:gd name="T25" fmla="*/ 77 h 82"/>
                  <a:gd name="T26" fmla="*/ 14 w 27"/>
                  <a:gd name="T27" fmla="*/ 82 h 82"/>
                  <a:gd name="T28" fmla="*/ 17 w 27"/>
                  <a:gd name="T29" fmla="*/ 82 h 82"/>
                  <a:gd name="T30" fmla="*/ 22 w 27"/>
                  <a:gd name="T31" fmla="*/ 77 h 82"/>
                  <a:gd name="T32" fmla="*/ 27 w 27"/>
                  <a:gd name="T33" fmla="*/ 74 h 82"/>
                  <a:gd name="T34" fmla="*/ 27 w 27"/>
                  <a:gd name="T35" fmla="*/ 72 h 82"/>
                  <a:gd name="T36" fmla="*/ 27 w 27"/>
                  <a:gd name="T37" fmla="*/ 7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82">
                    <a:moveTo>
                      <a:pt x="27" y="7"/>
                    </a:moveTo>
                    <a:lnTo>
                      <a:pt x="27" y="4"/>
                    </a:lnTo>
                    <a:lnTo>
                      <a:pt x="27" y="2"/>
                    </a:lnTo>
                    <a:lnTo>
                      <a:pt x="22" y="0"/>
                    </a:lnTo>
                    <a:lnTo>
                      <a:pt x="17" y="0"/>
                    </a:lnTo>
                    <a:lnTo>
                      <a:pt x="14" y="0"/>
                    </a:lnTo>
                    <a:lnTo>
                      <a:pt x="9" y="0"/>
                    </a:lnTo>
                    <a:lnTo>
                      <a:pt x="4" y="2"/>
                    </a:lnTo>
                    <a:lnTo>
                      <a:pt x="0" y="4"/>
                    </a:lnTo>
                    <a:lnTo>
                      <a:pt x="0" y="69"/>
                    </a:lnTo>
                    <a:lnTo>
                      <a:pt x="0" y="72"/>
                    </a:lnTo>
                    <a:lnTo>
                      <a:pt x="4" y="74"/>
                    </a:lnTo>
                    <a:lnTo>
                      <a:pt x="9" y="77"/>
                    </a:lnTo>
                    <a:lnTo>
                      <a:pt x="14" y="82"/>
                    </a:lnTo>
                    <a:lnTo>
                      <a:pt x="17" y="82"/>
                    </a:lnTo>
                    <a:lnTo>
                      <a:pt x="22" y="77"/>
                    </a:lnTo>
                    <a:lnTo>
                      <a:pt x="27" y="74"/>
                    </a:lnTo>
                    <a:lnTo>
                      <a:pt x="27" y="72"/>
                    </a:lnTo>
                    <a:lnTo>
                      <a:pt x="27" y="7"/>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113" name="任意多边形 14459">
                <a:extLst>
                  <a:ext uri="{FF2B5EF4-FFF2-40B4-BE49-F238E27FC236}">
                    <a16:creationId xmlns="" xmlns:a16="http://schemas.microsoft.com/office/drawing/2014/main" id="{A5E14965-8E01-81F0-D71B-74583ED03F08}"/>
                  </a:ext>
                </a:extLst>
              </p:cNvPr>
              <p:cNvSpPr>
                <a:spLocks noChangeArrowheads="1"/>
              </p:cNvSpPr>
              <p:nvPr/>
            </p:nvSpPr>
            <p:spPr bwMode="auto">
              <a:xfrm>
                <a:off x="2729" y="2649"/>
                <a:ext cx="11" cy="32"/>
              </a:xfrm>
              <a:custGeom>
                <a:avLst/>
                <a:gdLst>
                  <a:gd name="T0" fmla="*/ 27 w 27"/>
                  <a:gd name="T1" fmla="*/ 6 h 79"/>
                  <a:gd name="T2" fmla="*/ 27 w 27"/>
                  <a:gd name="T3" fmla="*/ 5 h 79"/>
                  <a:gd name="T4" fmla="*/ 27 w 27"/>
                  <a:gd name="T5" fmla="*/ 2 h 79"/>
                  <a:gd name="T6" fmla="*/ 22 w 27"/>
                  <a:gd name="T7" fmla="*/ 0 h 79"/>
                  <a:gd name="T8" fmla="*/ 17 w 27"/>
                  <a:gd name="T9" fmla="*/ 0 h 79"/>
                  <a:gd name="T10" fmla="*/ 14 w 27"/>
                  <a:gd name="T11" fmla="*/ 0 h 79"/>
                  <a:gd name="T12" fmla="*/ 9 w 27"/>
                  <a:gd name="T13" fmla="*/ 0 h 79"/>
                  <a:gd name="T14" fmla="*/ 4 w 27"/>
                  <a:gd name="T15" fmla="*/ 2 h 79"/>
                  <a:gd name="T16" fmla="*/ 0 w 27"/>
                  <a:gd name="T17" fmla="*/ 5 h 79"/>
                  <a:gd name="T18" fmla="*/ 0 w 27"/>
                  <a:gd name="T19" fmla="*/ 69 h 79"/>
                  <a:gd name="T20" fmla="*/ 0 w 27"/>
                  <a:gd name="T21" fmla="*/ 71 h 79"/>
                  <a:gd name="T22" fmla="*/ 4 w 27"/>
                  <a:gd name="T23" fmla="*/ 74 h 79"/>
                  <a:gd name="T24" fmla="*/ 9 w 27"/>
                  <a:gd name="T25" fmla="*/ 76 h 79"/>
                  <a:gd name="T26" fmla="*/ 14 w 27"/>
                  <a:gd name="T27" fmla="*/ 79 h 79"/>
                  <a:gd name="T28" fmla="*/ 17 w 27"/>
                  <a:gd name="T29" fmla="*/ 79 h 79"/>
                  <a:gd name="T30" fmla="*/ 22 w 27"/>
                  <a:gd name="T31" fmla="*/ 76 h 79"/>
                  <a:gd name="T32" fmla="*/ 27 w 27"/>
                  <a:gd name="T33" fmla="*/ 74 h 79"/>
                  <a:gd name="T34" fmla="*/ 27 w 27"/>
                  <a:gd name="T35" fmla="*/ 71 h 79"/>
                  <a:gd name="T36" fmla="*/ 27 w 27"/>
                  <a:gd name="T37" fmla="*/ 6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79">
                    <a:moveTo>
                      <a:pt x="27" y="6"/>
                    </a:moveTo>
                    <a:lnTo>
                      <a:pt x="27" y="5"/>
                    </a:lnTo>
                    <a:lnTo>
                      <a:pt x="27" y="2"/>
                    </a:lnTo>
                    <a:lnTo>
                      <a:pt x="22" y="0"/>
                    </a:lnTo>
                    <a:lnTo>
                      <a:pt x="17" y="0"/>
                    </a:lnTo>
                    <a:lnTo>
                      <a:pt x="14" y="0"/>
                    </a:lnTo>
                    <a:lnTo>
                      <a:pt x="9" y="0"/>
                    </a:lnTo>
                    <a:lnTo>
                      <a:pt x="4" y="2"/>
                    </a:lnTo>
                    <a:lnTo>
                      <a:pt x="0" y="5"/>
                    </a:lnTo>
                    <a:lnTo>
                      <a:pt x="0" y="69"/>
                    </a:lnTo>
                    <a:lnTo>
                      <a:pt x="0" y="71"/>
                    </a:lnTo>
                    <a:lnTo>
                      <a:pt x="4" y="74"/>
                    </a:lnTo>
                    <a:lnTo>
                      <a:pt x="9" y="76"/>
                    </a:lnTo>
                    <a:lnTo>
                      <a:pt x="14" y="79"/>
                    </a:lnTo>
                    <a:lnTo>
                      <a:pt x="17" y="79"/>
                    </a:lnTo>
                    <a:lnTo>
                      <a:pt x="22" y="76"/>
                    </a:lnTo>
                    <a:lnTo>
                      <a:pt x="27" y="74"/>
                    </a:lnTo>
                    <a:lnTo>
                      <a:pt x="27" y="71"/>
                    </a:lnTo>
                    <a:lnTo>
                      <a:pt x="27" y="6"/>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114" name="任意多边形 14460">
                <a:extLst>
                  <a:ext uri="{FF2B5EF4-FFF2-40B4-BE49-F238E27FC236}">
                    <a16:creationId xmlns="" xmlns:a16="http://schemas.microsoft.com/office/drawing/2014/main" id="{B20806A6-4A0C-9531-D8DF-CAD9C513C801}"/>
                  </a:ext>
                </a:extLst>
              </p:cNvPr>
              <p:cNvSpPr>
                <a:spLocks noChangeArrowheads="1"/>
              </p:cNvSpPr>
              <p:nvPr/>
            </p:nvSpPr>
            <p:spPr bwMode="auto">
              <a:xfrm>
                <a:off x="2729" y="2694"/>
                <a:ext cx="11" cy="33"/>
              </a:xfrm>
              <a:custGeom>
                <a:avLst/>
                <a:gdLst>
                  <a:gd name="T0" fmla="*/ 27 w 27"/>
                  <a:gd name="T1" fmla="*/ 10 h 82"/>
                  <a:gd name="T2" fmla="*/ 27 w 27"/>
                  <a:gd name="T3" fmla="*/ 4 h 82"/>
                  <a:gd name="T4" fmla="*/ 27 w 27"/>
                  <a:gd name="T5" fmla="*/ 2 h 82"/>
                  <a:gd name="T6" fmla="*/ 22 w 27"/>
                  <a:gd name="T7" fmla="*/ 0 h 82"/>
                  <a:gd name="T8" fmla="*/ 17 w 27"/>
                  <a:gd name="T9" fmla="*/ 0 h 82"/>
                  <a:gd name="T10" fmla="*/ 14 w 27"/>
                  <a:gd name="T11" fmla="*/ 0 h 82"/>
                  <a:gd name="T12" fmla="*/ 9 w 27"/>
                  <a:gd name="T13" fmla="*/ 0 h 82"/>
                  <a:gd name="T14" fmla="*/ 4 w 27"/>
                  <a:gd name="T15" fmla="*/ 2 h 82"/>
                  <a:gd name="T16" fmla="*/ 0 w 27"/>
                  <a:gd name="T17" fmla="*/ 4 h 82"/>
                  <a:gd name="T18" fmla="*/ 0 w 27"/>
                  <a:gd name="T19" fmla="*/ 72 h 82"/>
                  <a:gd name="T20" fmla="*/ 0 w 27"/>
                  <a:gd name="T21" fmla="*/ 75 h 82"/>
                  <a:gd name="T22" fmla="*/ 4 w 27"/>
                  <a:gd name="T23" fmla="*/ 77 h 82"/>
                  <a:gd name="T24" fmla="*/ 9 w 27"/>
                  <a:gd name="T25" fmla="*/ 79 h 82"/>
                  <a:gd name="T26" fmla="*/ 14 w 27"/>
                  <a:gd name="T27" fmla="*/ 82 h 82"/>
                  <a:gd name="T28" fmla="*/ 17 w 27"/>
                  <a:gd name="T29" fmla="*/ 82 h 82"/>
                  <a:gd name="T30" fmla="*/ 22 w 27"/>
                  <a:gd name="T31" fmla="*/ 79 h 82"/>
                  <a:gd name="T32" fmla="*/ 27 w 27"/>
                  <a:gd name="T33" fmla="*/ 77 h 82"/>
                  <a:gd name="T34" fmla="*/ 27 w 27"/>
                  <a:gd name="T35" fmla="*/ 75 h 82"/>
                  <a:gd name="T36" fmla="*/ 27 w 27"/>
                  <a:gd name="T37" fmla="*/ 10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82">
                    <a:moveTo>
                      <a:pt x="27" y="10"/>
                    </a:moveTo>
                    <a:lnTo>
                      <a:pt x="27" y="4"/>
                    </a:lnTo>
                    <a:lnTo>
                      <a:pt x="27" y="2"/>
                    </a:lnTo>
                    <a:lnTo>
                      <a:pt x="22" y="0"/>
                    </a:lnTo>
                    <a:lnTo>
                      <a:pt x="17" y="0"/>
                    </a:lnTo>
                    <a:lnTo>
                      <a:pt x="14" y="0"/>
                    </a:lnTo>
                    <a:lnTo>
                      <a:pt x="9" y="0"/>
                    </a:lnTo>
                    <a:lnTo>
                      <a:pt x="4" y="2"/>
                    </a:lnTo>
                    <a:lnTo>
                      <a:pt x="0" y="4"/>
                    </a:lnTo>
                    <a:lnTo>
                      <a:pt x="0" y="72"/>
                    </a:lnTo>
                    <a:lnTo>
                      <a:pt x="0" y="75"/>
                    </a:lnTo>
                    <a:lnTo>
                      <a:pt x="4" y="77"/>
                    </a:lnTo>
                    <a:lnTo>
                      <a:pt x="9" y="79"/>
                    </a:lnTo>
                    <a:lnTo>
                      <a:pt x="14" y="82"/>
                    </a:lnTo>
                    <a:lnTo>
                      <a:pt x="17" y="82"/>
                    </a:lnTo>
                    <a:lnTo>
                      <a:pt x="22" y="79"/>
                    </a:lnTo>
                    <a:lnTo>
                      <a:pt x="27" y="77"/>
                    </a:lnTo>
                    <a:lnTo>
                      <a:pt x="27" y="75"/>
                    </a:lnTo>
                    <a:lnTo>
                      <a:pt x="27" y="10"/>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115" name="任意多边形 14461">
                <a:extLst>
                  <a:ext uri="{FF2B5EF4-FFF2-40B4-BE49-F238E27FC236}">
                    <a16:creationId xmlns="" xmlns:a16="http://schemas.microsoft.com/office/drawing/2014/main" id="{14B676FC-9BFD-A08A-B55E-256FC02B6BFD}"/>
                  </a:ext>
                </a:extLst>
              </p:cNvPr>
              <p:cNvSpPr>
                <a:spLocks noChangeArrowheads="1"/>
              </p:cNvSpPr>
              <p:nvPr/>
            </p:nvSpPr>
            <p:spPr bwMode="auto">
              <a:xfrm>
                <a:off x="2729" y="2740"/>
                <a:ext cx="11" cy="33"/>
              </a:xfrm>
              <a:custGeom>
                <a:avLst/>
                <a:gdLst>
                  <a:gd name="T0" fmla="*/ 27 w 27"/>
                  <a:gd name="T1" fmla="*/ 7 h 82"/>
                  <a:gd name="T2" fmla="*/ 27 w 27"/>
                  <a:gd name="T3" fmla="*/ 4 h 82"/>
                  <a:gd name="T4" fmla="*/ 27 w 27"/>
                  <a:gd name="T5" fmla="*/ 2 h 82"/>
                  <a:gd name="T6" fmla="*/ 22 w 27"/>
                  <a:gd name="T7" fmla="*/ 0 h 82"/>
                  <a:gd name="T8" fmla="*/ 17 w 27"/>
                  <a:gd name="T9" fmla="*/ 0 h 82"/>
                  <a:gd name="T10" fmla="*/ 14 w 27"/>
                  <a:gd name="T11" fmla="*/ 0 h 82"/>
                  <a:gd name="T12" fmla="*/ 9 w 27"/>
                  <a:gd name="T13" fmla="*/ 0 h 82"/>
                  <a:gd name="T14" fmla="*/ 4 w 27"/>
                  <a:gd name="T15" fmla="*/ 2 h 82"/>
                  <a:gd name="T16" fmla="*/ 0 w 27"/>
                  <a:gd name="T17" fmla="*/ 4 h 82"/>
                  <a:gd name="T18" fmla="*/ 0 w 27"/>
                  <a:gd name="T19" fmla="*/ 69 h 82"/>
                  <a:gd name="T20" fmla="*/ 0 w 27"/>
                  <a:gd name="T21" fmla="*/ 72 h 82"/>
                  <a:gd name="T22" fmla="*/ 4 w 27"/>
                  <a:gd name="T23" fmla="*/ 74 h 82"/>
                  <a:gd name="T24" fmla="*/ 9 w 27"/>
                  <a:gd name="T25" fmla="*/ 77 h 82"/>
                  <a:gd name="T26" fmla="*/ 14 w 27"/>
                  <a:gd name="T27" fmla="*/ 82 h 82"/>
                  <a:gd name="T28" fmla="*/ 17 w 27"/>
                  <a:gd name="T29" fmla="*/ 82 h 82"/>
                  <a:gd name="T30" fmla="*/ 22 w 27"/>
                  <a:gd name="T31" fmla="*/ 77 h 82"/>
                  <a:gd name="T32" fmla="*/ 27 w 27"/>
                  <a:gd name="T33" fmla="*/ 74 h 82"/>
                  <a:gd name="T34" fmla="*/ 27 w 27"/>
                  <a:gd name="T35" fmla="*/ 72 h 82"/>
                  <a:gd name="T36" fmla="*/ 27 w 27"/>
                  <a:gd name="T37" fmla="*/ 7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82">
                    <a:moveTo>
                      <a:pt x="27" y="7"/>
                    </a:moveTo>
                    <a:lnTo>
                      <a:pt x="27" y="4"/>
                    </a:lnTo>
                    <a:lnTo>
                      <a:pt x="27" y="2"/>
                    </a:lnTo>
                    <a:lnTo>
                      <a:pt x="22" y="0"/>
                    </a:lnTo>
                    <a:lnTo>
                      <a:pt x="17" y="0"/>
                    </a:lnTo>
                    <a:lnTo>
                      <a:pt x="14" y="0"/>
                    </a:lnTo>
                    <a:lnTo>
                      <a:pt x="9" y="0"/>
                    </a:lnTo>
                    <a:lnTo>
                      <a:pt x="4" y="2"/>
                    </a:lnTo>
                    <a:lnTo>
                      <a:pt x="0" y="4"/>
                    </a:lnTo>
                    <a:lnTo>
                      <a:pt x="0" y="69"/>
                    </a:lnTo>
                    <a:lnTo>
                      <a:pt x="0" y="72"/>
                    </a:lnTo>
                    <a:lnTo>
                      <a:pt x="4" y="74"/>
                    </a:lnTo>
                    <a:lnTo>
                      <a:pt x="9" y="77"/>
                    </a:lnTo>
                    <a:lnTo>
                      <a:pt x="14" y="82"/>
                    </a:lnTo>
                    <a:lnTo>
                      <a:pt x="17" y="82"/>
                    </a:lnTo>
                    <a:lnTo>
                      <a:pt x="22" y="77"/>
                    </a:lnTo>
                    <a:lnTo>
                      <a:pt x="27" y="74"/>
                    </a:lnTo>
                    <a:lnTo>
                      <a:pt x="27" y="72"/>
                    </a:lnTo>
                    <a:lnTo>
                      <a:pt x="27" y="7"/>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116" name="任意多边形 14462">
                <a:extLst>
                  <a:ext uri="{FF2B5EF4-FFF2-40B4-BE49-F238E27FC236}">
                    <a16:creationId xmlns="" xmlns:a16="http://schemas.microsoft.com/office/drawing/2014/main" id="{43188ECF-928B-4F43-8348-301C051916F9}"/>
                  </a:ext>
                </a:extLst>
              </p:cNvPr>
              <p:cNvSpPr>
                <a:spLocks noChangeArrowheads="1"/>
              </p:cNvSpPr>
              <p:nvPr/>
            </p:nvSpPr>
            <p:spPr bwMode="auto">
              <a:xfrm>
                <a:off x="2729" y="2786"/>
                <a:ext cx="11" cy="32"/>
              </a:xfrm>
              <a:custGeom>
                <a:avLst/>
                <a:gdLst>
                  <a:gd name="T0" fmla="*/ 27 w 27"/>
                  <a:gd name="T1" fmla="*/ 6 h 79"/>
                  <a:gd name="T2" fmla="*/ 27 w 27"/>
                  <a:gd name="T3" fmla="*/ 5 h 79"/>
                  <a:gd name="T4" fmla="*/ 27 w 27"/>
                  <a:gd name="T5" fmla="*/ 2 h 79"/>
                  <a:gd name="T6" fmla="*/ 22 w 27"/>
                  <a:gd name="T7" fmla="*/ 0 h 79"/>
                  <a:gd name="T8" fmla="*/ 17 w 27"/>
                  <a:gd name="T9" fmla="*/ 0 h 79"/>
                  <a:gd name="T10" fmla="*/ 14 w 27"/>
                  <a:gd name="T11" fmla="*/ 0 h 79"/>
                  <a:gd name="T12" fmla="*/ 9 w 27"/>
                  <a:gd name="T13" fmla="*/ 0 h 79"/>
                  <a:gd name="T14" fmla="*/ 4 w 27"/>
                  <a:gd name="T15" fmla="*/ 2 h 79"/>
                  <a:gd name="T16" fmla="*/ 0 w 27"/>
                  <a:gd name="T17" fmla="*/ 5 h 79"/>
                  <a:gd name="T18" fmla="*/ 0 w 27"/>
                  <a:gd name="T19" fmla="*/ 69 h 79"/>
                  <a:gd name="T20" fmla="*/ 0 w 27"/>
                  <a:gd name="T21" fmla="*/ 71 h 79"/>
                  <a:gd name="T22" fmla="*/ 4 w 27"/>
                  <a:gd name="T23" fmla="*/ 74 h 79"/>
                  <a:gd name="T24" fmla="*/ 9 w 27"/>
                  <a:gd name="T25" fmla="*/ 76 h 79"/>
                  <a:gd name="T26" fmla="*/ 14 w 27"/>
                  <a:gd name="T27" fmla="*/ 79 h 79"/>
                  <a:gd name="T28" fmla="*/ 17 w 27"/>
                  <a:gd name="T29" fmla="*/ 79 h 79"/>
                  <a:gd name="T30" fmla="*/ 22 w 27"/>
                  <a:gd name="T31" fmla="*/ 76 h 79"/>
                  <a:gd name="T32" fmla="*/ 27 w 27"/>
                  <a:gd name="T33" fmla="*/ 74 h 79"/>
                  <a:gd name="T34" fmla="*/ 27 w 27"/>
                  <a:gd name="T35" fmla="*/ 71 h 79"/>
                  <a:gd name="T36" fmla="*/ 27 w 27"/>
                  <a:gd name="T37" fmla="*/ 6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79">
                    <a:moveTo>
                      <a:pt x="27" y="6"/>
                    </a:moveTo>
                    <a:lnTo>
                      <a:pt x="27" y="5"/>
                    </a:lnTo>
                    <a:lnTo>
                      <a:pt x="27" y="2"/>
                    </a:lnTo>
                    <a:lnTo>
                      <a:pt x="22" y="0"/>
                    </a:lnTo>
                    <a:lnTo>
                      <a:pt x="17" y="0"/>
                    </a:lnTo>
                    <a:lnTo>
                      <a:pt x="14" y="0"/>
                    </a:lnTo>
                    <a:lnTo>
                      <a:pt x="9" y="0"/>
                    </a:lnTo>
                    <a:lnTo>
                      <a:pt x="4" y="2"/>
                    </a:lnTo>
                    <a:lnTo>
                      <a:pt x="0" y="5"/>
                    </a:lnTo>
                    <a:lnTo>
                      <a:pt x="0" y="69"/>
                    </a:lnTo>
                    <a:lnTo>
                      <a:pt x="0" y="71"/>
                    </a:lnTo>
                    <a:lnTo>
                      <a:pt x="4" y="74"/>
                    </a:lnTo>
                    <a:lnTo>
                      <a:pt x="9" y="76"/>
                    </a:lnTo>
                    <a:lnTo>
                      <a:pt x="14" y="79"/>
                    </a:lnTo>
                    <a:lnTo>
                      <a:pt x="17" y="79"/>
                    </a:lnTo>
                    <a:lnTo>
                      <a:pt x="22" y="76"/>
                    </a:lnTo>
                    <a:lnTo>
                      <a:pt x="27" y="74"/>
                    </a:lnTo>
                    <a:lnTo>
                      <a:pt x="27" y="71"/>
                    </a:lnTo>
                    <a:lnTo>
                      <a:pt x="27" y="6"/>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117" name="任意多边形 14463">
                <a:extLst>
                  <a:ext uri="{FF2B5EF4-FFF2-40B4-BE49-F238E27FC236}">
                    <a16:creationId xmlns="" xmlns:a16="http://schemas.microsoft.com/office/drawing/2014/main" id="{8FD7B9D9-13D7-DA92-6CD6-8B33ECE1B2C6}"/>
                  </a:ext>
                </a:extLst>
              </p:cNvPr>
              <p:cNvSpPr>
                <a:spLocks noChangeArrowheads="1"/>
              </p:cNvSpPr>
              <p:nvPr/>
            </p:nvSpPr>
            <p:spPr bwMode="auto">
              <a:xfrm>
                <a:off x="2729" y="2831"/>
                <a:ext cx="11" cy="33"/>
              </a:xfrm>
              <a:custGeom>
                <a:avLst/>
                <a:gdLst>
                  <a:gd name="T0" fmla="*/ 27 w 27"/>
                  <a:gd name="T1" fmla="*/ 9 h 82"/>
                  <a:gd name="T2" fmla="*/ 27 w 27"/>
                  <a:gd name="T3" fmla="*/ 4 h 82"/>
                  <a:gd name="T4" fmla="*/ 27 w 27"/>
                  <a:gd name="T5" fmla="*/ 2 h 82"/>
                  <a:gd name="T6" fmla="*/ 22 w 27"/>
                  <a:gd name="T7" fmla="*/ 0 h 82"/>
                  <a:gd name="T8" fmla="*/ 17 w 27"/>
                  <a:gd name="T9" fmla="*/ 0 h 82"/>
                  <a:gd name="T10" fmla="*/ 14 w 27"/>
                  <a:gd name="T11" fmla="*/ 0 h 82"/>
                  <a:gd name="T12" fmla="*/ 9 w 27"/>
                  <a:gd name="T13" fmla="*/ 0 h 82"/>
                  <a:gd name="T14" fmla="*/ 4 w 27"/>
                  <a:gd name="T15" fmla="*/ 2 h 82"/>
                  <a:gd name="T16" fmla="*/ 0 w 27"/>
                  <a:gd name="T17" fmla="*/ 4 h 82"/>
                  <a:gd name="T18" fmla="*/ 0 w 27"/>
                  <a:gd name="T19" fmla="*/ 72 h 82"/>
                  <a:gd name="T20" fmla="*/ 0 w 27"/>
                  <a:gd name="T21" fmla="*/ 74 h 82"/>
                  <a:gd name="T22" fmla="*/ 4 w 27"/>
                  <a:gd name="T23" fmla="*/ 77 h 82"/>
                  <a:gd name="T24" fmla="*/ 9 w 27"/>
                  <a:gd name="T25" fmla="*/ 79 h 82"/>
                  <a:gd name="T26" fmla="*/ 14 w 27"/>
                  <a:gd name="T27" fmla="*/ 82 h 82"/>
                  <a:gd name="T28" fmla="*/ 17 w 27"/>
                  <a:gd name="T29" fmla="*/ 82 h 82"/>
                  <a:gd name="T30" fmla="*/ 22 w 27"/>
                  <a:gd name="T31" fmla="*/ 79 h 82"/>
                  <a:gd name="T32" fmla="*/ 27 w 27"/>
                  <a:gd name="T33" fmla="*/ 77 h 82"/>
                  <a:gd name="T34" fmla="*/ 27 w 27"/>
                  <a:gd name="T35" fmla="*/ 74 h 82"/>
                  <a:gd name="T36" fmla="*/ 27 w 27"/>
                  <a:gd name="T37" fmla="*/ 9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82">
                    <a:moveTo>
                      <a:pt x="27" y="9"/>
                    </a:moveTo>
                    <a:lnTo>
                      <a:pt x="27" y="4"/>
                    </a:lnTo>
                    <a:lnTo>
                      <a:pt x="27" y="2"/>
                    </a:lnTo>
                    <a:lnTo>
                      <a:pt x="22" y="0"/>
                    </a:lnTo>
                    <a:lnTo>
                      <a:pt x="17" y="0"/>
                    </a:lnTo>
                    <a:lnTo>
                      <a:pt x="14" y="0"/>
                    </a:lnTo>
                    <a:lnTo>
                      <a:pt x="9" y="0"/>
                    </a:lnTo>
                    <a:lnTo>
                      <a:pt x="4" y="2"/>
                    </a:lnTo>
                    <a:lnTo>
                      <a:pt x="0" y="4"/>
                    </a:lnTo>
                    <a:lnTo>
                      <a:pt x="0" y="72"/>
                    </a:lnTo>
                    <a:lnTo>
                      <a:pt x="0" y="74"/>
                    </a:lnTo>
                    <a:lnTo>
                      <a:pt x="4" y="77"/>
                    </a:lnTo>
                    <a:lnTo>
                      <a:pt x="9" y="79"/>
                    </a:lnTo>
                    <a:lnTo>
                      <a:pt x="14" y="82"/>
                    </a:lnTo>
                    <a:lnTo>
                      <a:pt x="17" y="82"/>
                    </a:lnTo>
                    <a:lnTo>
                      <a:pt x="22" y="79"/>
                    </a:lnTo>
                    <a:lnTo>
                      <a:pt x="27" y="77"/>
                    </a:lnTo>
                    <a:lnTo>
                      <a:pt x="27" y="74"/>
                    </a:lnTo>
                    <a:lnTo>
                      <a:pt x="27" y="9"/>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118" name="任意多边形 14464">
                <a:extLst>
                  <a:ext uri="{FF2B5EF4-FFF2-40B4-BE49-F238E27FC236}">
                    <a16:creationId xmlns="" xmlns:a16="http://schemas.microsoft.com/office/drawing/2014/main" id="{7A3FC8B9-C6D0-E851-D613-E35AFFF2329E}"/>
                  </a:ext>
                </a:extLst>
              </p:cNvPr>
              <p:cNvSpPr>
                <a:spLocks noChangeArrowheads="1"/>
              </p:cNvSpPr>
              <p:nvPr/>
            </p:nvSpPr>
            <p:spPr bwMode="auto">
              <a:xfrm>
                <a:off x="2729" y="2877"/>
                <a:ext cx="11" cy="33"/>
              </a:xfrm>
              <a:custGeom>
                <a:avLst/>
                <a:gdLst>
                  <a:gd name="T0" fmla="*/ 27 w 27"/>
                  <a:gd name="T1" fmla="*/ 7 h 82"/>
                  <a:gd name="T2" fmla="*/ 27 w 27"/>
                  <a:gd name="T3" fmla="*/ 5 h 82"/>
                  <a:gd name="T4" fmla="*/ 27 w 27"/>
                  <a:gd name="T5" fmla="*/ 2 h 82"/>
                  <a:gd name="T6" fmla="*/ 22 w 27"/>
                  <a:gd name="T7" fmla="*/ 0 h 82"/>
                  <a:gd name="T8" fmla="*/ 17 w 27"/>
                  <a:gd name="T9" fmla="*/ 0 h 82"/>
                  <a:gd name="T10" fmla="*/ 14 w 27"/>
                  <a:gd name="T11" fmla="*/ 0 h 82"/>
                  <a:gd name="T12" fmla="*/ 9 w 27"/>
                  <a:gd name="T13" fmla="*/ 0 h 82"/>
                  <a:gd name="T14" fmla="*/ 4 w 27"/>
                  <a:gd name="T15" fmla="*/ 2 h 82"/>
                  <a:gd name="T16" fmla="*/ 0 w 27"/>
                  <a:gd name="T17" fmla="*/ 5 h 82"/>
                  <a:gd name="T18" fmla="*/ 0 w 27"/>
                  <a:gd name="T19" fmla="*/ 70 h 82"/>
                  <a:gd name="T20" fmla="*/ 0 w 27"/>
                  <a:gd name="T21" fmla="*/ 72 h 82"/>
                  <a:gd name="T22" fmla="*/ 4 w 27"/>
                  <a:gd name="T23" fmla="*/ 75 h 82"/>
                  <a:gd name="T24" fmla="*/ 9 w 27"/>
                  <a:gd name="T25" fmla="*/ 77 h 82"/>
                  <a:gd name="T26" fmla="*/ 14 w 27"/>
                  <a:gd name="T27" fmla="*/ 82 h 82"/>
                  <a:gd name="T28" fmla="*/ 17 w 27"/>
                  <a:gd name="T29" fmla="*/ 82 h 82"/>
                  <a:gd name="T30" fmla="*/ 22 w 27"/>
                  <a:gd name="T31" fmla="*/ 77 h 82"/>
                  <a:gd name="T32" fmla="*/ 27 w 27"/>
                  <a:gd name="T33" fmla="*/ 75 h 82"/>
                  <a:gd name="T34" fmla="*/ 27 w 27"/>
                  <a:gd name="T35" fmla="*/ 72 h 82"/>
                  <a:gd name="T36" fmla="*/ 27 w 27"/>
                  <a:gd name="T37" fmla="*/ 7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82">
                    <a:moveTo>
                      <a:pt x="27" y="7"/>
                    </a:moveTo>
                    <a:lnTo>
                      <a:pt x="27" y="5"/>
                    </a:lnTo>
                    <a:lnTo>
                      <a:pt x="27" y="2"/>
                    </a:lnTo>
                    <a:lnTo>
                      <a:pt x="22" y="0"/>
                    </a:lnTo>
                    <a:lnTo>
                      <a:pt x="17" y="0"/>
                    </a:lnTo>
                    <a:lnTo>
                      <a:pt x="14" y="0"/>
                    </a:lnTo>
                    <a:lnTo>
                      <a:pt x="9" y="0"/>
                    </a:lnTo>
                    <a:lnTo>
                      <a:pt x="4" y="2"/>
                    </a:lnTo>
                    <a:lnTo>
                      <a:pt x="0" y="5"/>
                    </a:lnTo>
                    <a:lnTo>
                      <a:pt x="0" y="70"/>
                    </a:lnTo>
                    <a:lnTo>
                      <a:pt x="0" y="72"/>
                    </a:lnTo>
                    <a:lnTo>
                      <a:pt x="4" y="75"/>
                    </a:lnTo>
                    <a:lnTo>
                      <a:pt x="9" y="77"/>
                    </a:lnTo>
                    <a:lnTo>
                      <a:pt x="14" y="82"/>
                    </a:lnTo>
                    <a:lnTo>
                      <a:pt x="17" y="82"/>
                    </a:lnTo>
                    <a:lnTo>
                      <a:pt x="22" y="77"/>
                    </a:lnTo>
                    <a:lnTo>
                      <a:pt x="27" y="75"/>
                    </a:lnTo>
                    <a:lnTo>
                      <a:pt x="27" y="72"/>
                    </a:lnTo>
                    <a:lnTo>
                      <a:pt x="27" y="7"/>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119" name="任意多边形 14465">
                <a:extLst>
                  <a:ext uri="{FF2B5EF4-FFF2-40B4-BE49-F238E27FC236}">
                    <a16:creationId xmlns="" xmlns:a16="http://schemas.microsoft.com/office/drawing/2014/main" id="{D8800B0B-BEC6-957A-7E05-9E66C82A8117}"/>
                  </a:ext>
                </a:extLst>
              </p:cNvPr>
              <p:cNvSpPr>
                <a:spLocks noChangeArrowheads="1"/>
              </p:cNvSpPr>
              <p:nvPr/>
            </p:nvSpPr>
            <p:spPr bwMode="auto">
              <a:xfrm>
                <a:off x="2729" y="2923"/>
                <a:ext cx="11" cy="32"/>
              </a:xfrm>
              <a:custGeom>
                <a:avLst/>
                <a:gdLst>
                  <a:gd name="T0" fmla="*/ 27 w 27"/>
                  <a:gd name="T1" fmla="*/ 7 h 79"/>
                  <a:gd name="T2" fmla="*/ 27 w 27"/>
                  <a:gd name="T3" fmla="*/ 5 h 79"/>
                  <a:gd name="T4" fmla="*/ 27 w 27"/>
                  <a:gd name="T5" fmla="*/ 2 h 79"/>
                  <a:gd name="T6" fmla="*/ 22 w 27"/>
                  <a:gd name="T7" fmla="*/ 0 h 79"/>
                  <a:gd name="T8" fmla="*/ 17 w 27"/>
                  <a:gd name="T9" fmla="*/ 0 h 79"/>
                  <a:gd name="T10" fmla="*/ 14 w 27"/>
                  <a:gd name="T11" fmla="*/ 0 h 79"/>
                  <a:gd name="T12" fmla="*/ 9 w 27"/>
                  <a:gd name="T13" fmla="*/ 0 h 79"/>
                  <a:gd name="T14" fmla="*/ 4 w 27"/>
                  <a:gd name="T15" fmla="*/ 2 h 79"/>
                  <a:gd name="T16" fmla="*/ 0 w 27"/>
                  <a:gd name="T17" fmla="*/ 5 h 79"/>
                  <a:gd name="T18" fmla="*/ 0 w 27"/>
                  <a:gd name="T19" fmla="*/ 69 h 79"/>
                  <a:gd name="T20" fmla="*/ 0 w 27"/>
                  <a:gd name="T21" fmla="*/ 72 h 79"/>
                  <a:gd name="T22" fmla="*/ 4 w 27"/>
                  <a:gd name="T23" fmla="*/ 75 h 79"/>
                  <a:gd name="T24" fmla="*/ 9 w 27"/>
                  <a:gd name="T25" fmla="*/ 77 h 79"/>
                  <a:gd name="T26" fmla="*/ 14 w 27"/>
                  <a:gd name="T27" fmla="*/ 79 h 79"/>
                  <a:gd name="T28" fmla="*/ 17 w 27"/>
                  <a:gd name="T29" fmla="*/ 79 h 79"/>
                  <a:gd name="T30" fmla="*/ 22 w 27"/>
                  <a:gd name="T31" fmla="*/ 77 h 79"/>
                  <a:gd name="T32" fmla="*/ 27 w 27"/>
                  <a:gd name="T33" fmla="*/ 75 h 79"/>
                  <a:gd name="T34" fmla="*/ 27 w 27"/>
                  <a:gd name="T35" fmla="*/ 72 h 79"/>
                  <a:gd name="T36" fmla="*/ 27 w 27"/>
                  <a:gd name="T37" fmla="*/ 7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79">
                    <a:moveTo>
                      <a:pt x="27" y="7"/>
                    </a:moveTo>
                    <a:lnTo>
                      <a:pt x="27" y="5"/>
                    </a:lnTo>
                    <a:lnTo>
                      <a:pt x="27" y="2"/>
                    </a:lnTo>
                    <a:lnTo>
                      <a:pt x="22" y="0"/>
                    </a:lnTo>
                    <a:lnTo>
                      <a:pt x="17" y="0"/>
                    </a:lnTo>
                    <a:lnTo>
                      <a:pt x="14" y="0"/>
                    </a:lnTo>
                    <a:lnTo>
                      <a:pt x="9" y="0"/>
                    </a:lnTo>
                    <a:lnTo>
                      <a:pt x="4" y="2"/>
                    </a:lnTo>
                    <a:lnTo>
                      <a:pt x="0" y="5"/>
                    </a:lnTo>
                    <a:lnTo>
                      <a:pt x="0" y="69"/>
                    </a:lnTo>
                    <a:lnTo>
                      <a:pt x="0" y="72"/>
                    </a:lnTo>
                    <a:lnTo>
                      <a:pt x="4" y="75"/>
                    </a:lnTo>
                    <a:lnTo>
                      <a:pt x="9" y="77"/>
                    </a:lnTo>
                    <a:lnTo>
                      <a:pt x="14" y="79"/>
                    </a:lnTo>
                    <a:lnTo>
                      <a:pt x="17" y="79"/>
                    </a:lnTo>
                    <a:lnTo>
                      <a:pt x="22" y="77"/>
                    </a:lnTo>
                    <a:lnTo>
                      <a:pt x="27" y="75"/>
                    </a:lnTo>
                    <a:lnTo>
                      <a:pt x="27" y="72"/>
                    </a:lnTo>
                    <a:lnTo>
                      <a:pt x="27" y="7"/>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120" name="任意多边形 14466">
                <a:extLst>
                  <a:ext uri="{FF2B5EF4-FFF2-40B4-BE49-F238E27FC236}">
                    <a16:creationId xmlns="" xmlns:a16="http://schemas.microsoft.com/office/drawing/2014/main" id="{DFEC2BD3-9FE8-FF02-CFB1-17B0BA029595}"/>
                  </a:ext>
                </a:extLst>
              </p:cNvPr>
              <p:cNvSpPr>
                <a:spLocks noChangeArrowheads="1"/>
              </p:cNvSpPr>
              <p:nvPr/>
            </p:nvSpPr>
            <p:spPr bwMode="auto">
              <a:xfrm>
                <a:off x="2729" y="2968"/>
                <a:ext cx="11" cy="33"/>
              </a:xfrm>
              <a:custGeom>
                <a:avLst/>
                <a:gdLst>
                  <a:gd name="T0" fmla="*/ 27 w 27"/>
                  <a:gd name="T1" fmla="*/ 10 h 82"/>
                  <a:gd name="T2" fmla="*/ 27 w 27"/>
                  <a:gd name="T3" fmla="*/ 5 h 82"/>
                  <a:gd name="T4" fmla="*/ 27 w 27"/>
                  <a:gd name="T5" fmla="*/ 2 h 82"/>
                  <a:gd name="T6" fmla="*/ 22 w 27"/>
                  <a:gd name="T7" fmla="*/ 0 h 82"/>
                  <a:gd name="T8" fmla="*/ 17 w 27"/>
                  <a:gd name="T9" fmla="*/ 0 h 82"/>
                  <a:gd name="T10" fmla="*/ 14 w 27"/>
                  <a:gd name="T11" fmla="*/ 0 h 82"/>
                  <a:gd name="T12" fmla="*/ 9 w 27"/>
                  <a:gd name="T13" fmla="*/ 0 h 82"/>
                  <a:gd name="T14" fmla="*/ 4 w 27"/>
                  <a:gd name="T15" fmla="*/ 2 h 82"/>
                  <a:gd name="T16" fmla="*/ 0 w 27"/>
                  <a:gd name="T17" fmla="*/ 5 h 82"/>
                  <a:gd name="T18" fmla="*/ 0 w 27"/>
                  <a:gd name="T19" fmla="*/ 72 h 82"/>
                  <a:gd name="T20" fmla="*/ 0 w 27"/>
                  <a:gd name="T21" fmla="*/ 75 h 82"/>
                  <a:gd name="T22" fmla="*/ 4 w 27"/>
                  <a:gd name="T23" fmla="*/ 77 h 82"/>
                  <a:gd name="T24" fmla="*/ 9 w 27"/>
                  <a:gd name="T25" fmla="*/ 80 h 82"/>
                  <a:gd name="T26" fmla="*/ 14 w 27"/>
                  <a:gd name="T27" fmla="*/ 82 h 82"/>
                  <a:gd name="T28" fmla="*/ 17 w 27"/>
                  <a:gd name="T29" fmla="*/ 82 h 82"/>
                  <a:gd name="T30" fmla="*/ 22 w 27"/>
                  <a:gd name="T31" fmla="*/ 80 h 82"/>
                  <a:gd name="T32" fmla="*/ 27 w 27"/>
                  <a:gd name="T33" fmla="*/ 77 h 82"/>
                  <a:gd name="T34" fmla="*/ 27 w 27"/>
                  <a:gd name="T35" fmla="*/ 75 h 82"/>
                  <a:gd name="T36" fmla="*/ 27 w 27"/>
                  <a:gd name="T37" fmla="*/ 10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82">
                    <a:moveTo>
                      <a:pt x="27" y="10"/>
                    </a:moveTo>
                    <a:lnTo>
                      <a:pt x="27" y="5"/>
                    </a:lnTo>
                    <a:lnTo>
                      <a:pt x="27" y="2"/>
                    </a:lnTo>
                    <a:lnTo>
                      <a:pt x="22" y="0"/>
                    </a:lnTo>
                    <a:lnTo>
                      <a:pt x="17" y="0"/>
                    </a:lnTo>
                    <a:lnTo>
                      <a:pt x="14" y="0"/>
                    </a:lnTo>
                    <a:lnTo>
                      <a:pt x="9" y="0"/>
                    </a:lnTo>
                    <a:lnTo>
                      <a:pt x="4" y="2"/>
                    </a:lnTo>
                    <a:lnTo>
                      <a:pt x="0" y="5"/>
                    </a:lnTo>
                    <a:lnTo>
                      <a:pt x="0" y="72"/>
                    </a:lnTo>
                    <a:lnTo>
                      <a:pt x="0" y="75"/>
                    </a:lnTo>
                    <a:lnTo>
                      <a:pt x="4" y="77"/>
                    </a:lnTo>
                    <a:lnTo>
                      <a:pt x="9" y="80"/>
                    </a:lnTo>
                    <a:lnTo>
                      <a:pt x="14" y="82"/>
                    </a:lnTo>
                    <a:lnTo>
                      <a:pt x="17" y="82"/>
                    </a:lnTo>
                    <a:lnTo>
                      <a:pt x="22" y="80"/>
                    </a:lnTo>
                    <a:lnTo>
                      <a:pt x="27" y="77"/>
                    </a:lnTo>
                    <a:lnTo>
                      <a:pt x="27" y="75"/>
                    </a:lnTo>
                    <a:lnTo>
                      <a:pt x="27" y="10"/>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121" name="任意多边形 14467">
                <a:extLst>
                  <a:ext uri="{FF2B5EF4-FFF2-40B4-BE49-F238E27FC236}">
                    <a16:creationId xmlns="" xmlns:a16="http://schemas.microsoft.com/office/drawing/2014/main" id="{73EA3D12-5629-236D-C498-D3193C49F7A0}"/>
                  </a:ext>
                </a:extLst>
              </p:cNvPr>
              <p:cNvSpPr>
                <a:spLocks noChangeArrowheads="1"/>
              </p:cNvSpPr>
              <p:nvPr/>
            </p:nvSpPr>
            <p:spPr bwMode="auto">
              <a:xfrm>
                <a:off x="2729" y="3014"/>
                <a:ext cx="11" cy="33"/>
              </a:xfrm>
              <a:custGeom>
                <a:avLst/>
                <a:gdLst>
                  <a:gd name="T0" fmla="*/ 27 w 27"/>
                  <a:gd name="T1" fmla="*/ 7 h 82"/>
                  <a:gd name="T2" fmla="*/ 27 w 27"/>
                  <a:gd name="T3" fmla="*/ 5 h 82"/>
                  <a:gd name="T4" fmla="*/ 27 w 27"/>
                  <a:gd name="T5" fmla="*/ 2 h 82"/>
                  <a:gd name="T6" fmla="*/ 22 w 27"/>
                  <a:gd name="T7" fmla="*/ 0 h 82"/>
                  <a:gd name="T8" fmla="*/ 17 w 27"/>
                  <a:gd name="T9" fmla="*/ 0 h 82"/>
                  <a:gd name="T10" fmla="*/ 14 w 27"/>
                  <a:gd name="T11" fmla="*/ 0 h 82"/>
                  <a:gd name="T12" fmla="*/ 9 w 27"/>
                  <a:gd name="T13" fmla="*/ 0 h 82"/>
                  <a:gd name="T14" fmla="*/ 4 w 27"/>
                  <a:gd name="T15" fmla="*/ 2 h 82"/>
                  <a:gd name="T16" fmla="*/ 0 w 27"/>
                  <a:gd name="T17" fmla="*/ 5 h 82"/>
                  <a:gd name="T18" fmla="*/ 0 w 27"/>
                  <a:gd name="T19" fmla="*/ 70 h 82"/>
                  <a:gd name="T20" fmla="*/ 0 w 27"/>
                  <a:gd name="T21" fmla="*/ 72 h 82"/>
                  <a:gd name="T22" fmla="*/ 4 w 27"/>
                  <a:gd name="T23" fmla="*/ 75 h 82"/>
                  <a:gd name="T24" fmla="*/ 9 w 27"/>
                  <a:gd name="T25" fmla="*/ 77 h 82"/>
                  <a:gd name="T26" fmla="*/ 14 w 27"/>
                  <a:gd name="T27" fmla="*/ 82 h 82"/>
                  <a:gd name="T28" fmla="*/ 17 w 27"/>
                  <a:gd name="T29" fmla="*/ 82 h 82"/>
                  <a:gd name="T30" fmla="*/ 22 w 27"/>
                  <a:gd name="T31" fmla="*/ 77 h 82"/>
                  <a:gd name="T32" fmla="*/ 27 w 27"/>
                  <a:gd name="T33" fmla="*/ 75 h 82"/>
                  <a:gd name="T34" fmla="*/ 27 w 27"/>
                  <a:gd name="T35" fmla="*/ 72 h 82"/>
                  <a:gd name="T36" fmla="*/ 27 w 27"/>
                  <a:gd name="T37" fmla="*/ 7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82">
                    <a:moveTo>
                      <a:pt x="27" y="7"/>
                    </a:moveTo>
                    <a:lnTo>
                      <a:pt x="27" y="5"/>
                    </a:lnTo>
                    <a:lnTo>
                      <a:pt x="27" y="2"/>
                    </a:lnTo>
                    <a:lnTo>
                      <a:pt x="22" y="0"/>
                    </a:lnTo>
                    <a:lnTo>
                      <a:pt x="17" y="0"/>
                    </a:lnTo>
                    <a:lnTo>
                      <a:pt x="14" y="0"/>
                    </a:lnTo>
                    <a:lnTo>
                      <a:pt x="9" y="0"/>
                    </a:lnTo>
                    <a:lnTo>
                      <a:pt x="4" y="2"/>
                    </a:lnTo>
                    <a:lnTo>
                      <a:pt x="0" y="5"/>
                    </a:lnTo>
                    <a:lnTo>
                      <a:pt x="0" y="70"/>
                    </a:lnTo>
                    <a:lnTo>
                      <a:pt x="0" y="72"/>
                    </a:lnTo>
                    <a:lnTo>
                      <a:pt x="4" y="75"/>
                    </a:lnTo>
                    <a:lnTo>
                      <a:pt x="9" y="77"/>
                    </a:lnTo>
                    <a:lnTo>
                      <a:pt x="14" y="82"/>
                    </a:lnTo>
                    <a:lnTo>
                      <a:pt x="17" y="82"/>
                    </a:lnTo>
                    <a:lnTo>
                      <a:pt x="22" y="77"/>
                    </a:lnTo>
                    <a:lnTo>
                      <a:pt x="27" y="75"/>
                    </a:lnTo>
                    <a:lnTo>
                      <a:pt x="27" y="72"/>
                    </a:lnTo>
                    <a:lnTo>
                      <a:pt x="27" y="7"/>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122" name="任意多边形 14468">
                <a:extLst>
                  <a:ext uri="{FF2B5EF4-FFF2-40B4-BE49-F238E27FC236}">
                    <a16:creationId xmlns="" xmlns:a16="http://schemas.microsoft.com/office/drawing/2014/main" id="{CB2BE3C2-ABFF-54AB-8E68-4ED544899BB3}"/>
                  </a:ext>
                </a:extLst>
              </p:cNvPr>
              <p:cNvSpPr>
                <a:spLocks noChangeArrowheads="1"/>
              </p:cNvSpPr>
              <p:nvPr/>
            </p:nvSpPr>
            <p:spPr bwMode="auto">
              <a:xfrm>
                <a:off x="2729" y="3060"/>
                <a:ext cx="11" cy="32"/>
              </a:xfrm>
              <a:custGeom>
                <a:avLst/>
                <a:gdLst>
                  <a:gd name="T0" fmla="*/ 27 w 27"/>
                  <a:gd name="T1" fmla="*/ 7 h 80"/>
                  <a:gd name="T2" fmla="*/ 27 w 27"/>
                  <a:gd name="T3" fmla="*/ 5 h 80"/>
                  <a:gd name="T4" fmla="*/ 27 w 27"/>
                  <a:gd name="T5" fmla="*/ 2 h 80"/>
                  <a:gd name="T6" fmla="*/ 22 w 27"/>
                  <a:gd name="T7" fmla="*/ 0 h 80"/>
                  <a:gd name="T8" fmla="*/ 17 w 27"/>
                  <a:gd name="T9" fmla="*/ 0 h 80"/>
                  <a:gd name="T10" fmla="*/ 14 w 27"/>
                  <a:gd name="T11" fmla="*/ 0 h 80"/>
                  <a:gd name="T12" fmla="*/ 9 w 27"/>
                  <a:gd name="T13" fmla="*/ 0 h 80"/>
                  <a:gd name="T14" fmla="*/ 4 w 27"/>
                  <a:gd name="T15" fmla="*/ 2 h 80"/>
                  <a:gd name="T16" fmla="*/ 0 w 27"/>
                  <a:gd name="T17" fmla="*/ 5 h 80"/>
                  <a:gd name="T18" fmla="*/ 0 w 27"/>
                  <a:gd name="T19" fmla="*/ 69 h 80"/>
                  <a:gd name="T20" fmla="*/ 0 w 27"/>
                  <a:gd name="T21" fmla="*/ 72 h 80"/>
                  <a:gd name="T22" fmla="*/ 4 w 27"/>
                  <a:gd name="T23" fmla="*/ 75 h 80"/>
                  <a:gd name="T24" fmla="*/ 9 w 27"/>
                  <a:gd name="T25" fmla="*/ 77 h 80"/>
                  <a:gd name="T26" fmla="*/ 14 w 27"/>
                  <a:gd name="T27" fmla="*/ 80 h 80"/>
                  <a:gd name="T28" fmla="*/ 17 w 27"/>
                  <a:gd name="T29" fmla="*/ 80 h 80"/>
                  <a:gd name="T30" fmla="*/ 22 w 27"/>
                  <a:gd name="T31" fmla="*/ 77 h 80"/>
                  <a:gd name="T32" fmla="*/ 27 w 27"/>
                  <a:gd name="T33" fmla="*/ 75 h 80"/>
                  <a:gd name="T34" fmla="*/ 27 w 27"/>
                  <a:gd name="T35" fmla="*/ 72 h 80"/>
                  <a:gd name="T36" fmla="*/ 27 w 27"/>
                  <a:gd name="T37" fmla="*/ 7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80">
                    <a:moveTo>
                      <a:pt x="27" y="7"/>
                    </a:moveTo>
                    <a:lnTo>
                      <a:pt x="27" y="5"/>
                    </a:lnTo>
                    <a:lnTo>
                      <a:pt x="27" y="2"/>
                    </a:lnTo>
                    <a:lnTo>
                      <a:pt x="22" y="0"/>
                    </a:lnTo>
                    <a:lnTo>
                      <a:pt x="17" y="0"/>
                    </a:lnTo>
                    <a:lnTo>
                      <a:pt x="14" y="0"/>
                    </a:lnTo>
                    <a:lnTo>
                      <a:pt x="9" y="0"/>
                    </a:lnTo>
                    <a:lnTo>
                      <a:pt x="4" y="2"/>
                    </a:lnTo>
                    <a:lnTo>
                      <a:pt x="0" y="5"/>
                    </a:lnTo>
                    <a:lnTo>
                      <a:pt x="0" y="69"/>
                    </a:lnTo>
                    <a:lnTo>
                      <a:pt x="0" y="72"/>
                    </a:lnTo>
                    <a:lnTo>
                      <a:pt x="4" y="75"/>
                    </a:lnTo>
                    <a:lnTo>
                      <a:pt x="9" y="77"/>
                    </a:lnTo>
                    <a:lnTo>
                      <a:pt x="14" y="80"/>
                    </a:lnTo>
                    <a:lnTo>
                      <a:pt x="17" y="80"/>
                    </a:lnTo>
                    <a:lnTo>
                      <a:pt x="22" y="77"/>
                    </a:lnTo>
                    <a:lnTo>
                      <a:pt x="27" y="75"/>
                    </a:lnTo>
                    <a:lnTo>
                      <a:pt x="27" y="72"/>
                    </a:lnTo>
                    <a:lnTo>
                      <a:pt x="27" y="7"/>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123" name="任意多边形 14469">
                <a:extLst>
                  <a:ext uri="{FF2B5EF4-FFF2-40B4-BE49-F238E27FC236}">
                    <a16:creationId xmlns="" xmlns:a16="http://schemas.microsoft.com/office/drawing/2014/main" id="{6E778AD7-B611-2100-01E0-84187E1FF902}"/>
                  </a:ext>
                </a:extLst>
              </p:cNvPr>
              <p:cNvSpPr>
                <a:spLocks noChangeArrowheads="1"/>
              </p:cNvSpPr>
              <p:nvPr/>
            </p:nvSpPr>
            <p:spPr bwMode="auto">
              <a:xfrm>
                <a:off x="2729" y="3105"/>
                <a:ext cx="11" cy="33"/>
              </a:xfrm>
              <a:custGeom>
                <a:avLst/>
                <a:gdLst>
                  <a:gd name="T0" fmla="*/ 27 w 27"/>
                  <a:gd name="T1" fmla="*/ 7 h 82"/>
                  <a:gd name="T2" fmla="*/ 27 w 27"/>
                  <a:gd name="T3" fmla="*/ 5 h 82"/>
                  <a:gd name="T4" fmla="*/ 27 w 27"/>
                  <a:gd name="T5" fmla="*/ 2 h 82"/>
                  <a:gd name="T6" fmla="*/ 22 w 27"/>
                  <a:gd name="T7" fmla="*/ 0 h 82"/>
                  <a:gd name="T8" fmla="*/ 17 w 27"/>
                  <a:gd name="T9" fmla="*/ 0 h 82"/>
                  <a:gd name="T10" fmla="*/ 14 w 27"/>
                  <a:gd name="T11" fmla="*/ 0 h 82"/>
                  <a:gd name="T12" fmla="*/ 9 w 27"/>
                  <a:gd name="T13" fmla="*/ 0 h 82"/>
                  <a:gd name="T14" fmla="*/ 4 w 27"/>
                  <a:gd name="T15" fmla="*/ 2 h 82"/>
                  <a:gd name="T16" fmla="*/ 0 w 27"/>
                  <a:gd name="T17" fmla="*/ 5 h 82"/>
                  <a:gd name="T18" fmla="*/ 0 w 27"/>
                  <a:gd name="T19" fmla="*/ 72 h 82"/>
                  <a:gd name="T20" fmla="*/ 0 w 27"/>
                  <a:gd name="T21" fmla="*/ 75 h 82"/>
                  <a:gd name="T22" fmla="*/ 4 w 27"/>
                  <a:gd name="T23" fmla="*/ 77 h 82"/>
                  <a:gd name="T24" fmla="*/ 9 w 27"/>
                  <a:gd name="T25" fmla="*/ 80 h 82"/>
                  <a:gd name="T26" fmla="*/ 14 w 27"/>
                  <a:gd name="T27" fmla="*/ 82 h 82"/>
                  <a:gd name="T28" fmla="*/ 17 w 27"/>
                  <a:gd name="T29" fmla="*/ 82 h 82"/>
                  <a:gd name="T30" fmla="*/ 22 w 27"/>
                  <a:gd name="T31" fmla="*/ 80 h 82"/>
                  <a:gd name="T32" fmla="*/ 27 w 27"/>
                  <a:gd name="T33" fmla="*/ 77 h 82"/>
                  <a:gd name="T34" fmla="*/ 27 w 27"/>
                  <a:gd name="T35" fmla="*/ 75 h 82"/>
                  <a:gd name="T36" fmla="*/ 27 w 27"/>
                  <a:gd name="T37" fmla="*/ 7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82">
                    <a:moveTo>
                      <a:pt x="27" y="7"/>
                    </a:moveTo>
                    <a:lnTo>
                      <a:pt x="27" y="5"/>
                    </a:lnTo>
                    <a:lnTo>
                      <a:pt x="27" y="2"/>
                    </a:lnTo>
                    <a:lnTo>
                      <a:pt x="22" y="0"/>
                    </a:lnTo>
                    <a:lnTo>
                      <a:pt x="17" y="0"/>
                    </a:lnTo>
                    <a:lnTo>
                      <a:pt x="14" y="0"/>
                    </a:lnTo>
                    <a:lnTo>
                      <a:pt x="9" y="0"/>
                    </a:lnTo>
                    <a:lnTo>
                      <a:pt x="4" y="2"/>
                    </a:lnTo>
                    <a:lnTo>
                      <a:pt x="0" y="5"/>
                    </a:lnTo>
                    <a:lnTo>
                      <a:pt x="0" y="72"/>
                    </a:lnTo>
                    <a:lnTo>
                      <a:pt x="0" y="75"/>
                    </a:lnTo>
                    <a:lnTo>
                      <a:pt x="4" y="77"/>
                    </a:lnTo>
                    <a:lnTo>
                      <a:pt x="9" y="80"/>
                    </a:lnTo>
                    <a:lnTo>
                      <a:pt x="14" y="82"/>
                    </a:lnTo>
                    <a:lnTo>
                      <a:pt x="17" y="82"/>
                    </a:lnTo>
                    <a:lnTo>
                      <a:pt x="22" y="80"/>
                    </a:lnTo>
                    <a:lnTo>
                      <a:pt x="27" y="77"/>
                    </a:lnTo>
                    <a:lnTo>
                      <a:pt x="27" y="75"/>
                    </a:lnTo>
                    <a:lnTo>
                      <a:pt x="27" y="7"/>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124" name="任意多边形 14470">
                <a:extLst>
                  <a:ext uri="{FF2B5EF4-FFF2-40B4-BE49-F238E27FC236}">
                    <a16:creationId xmlns="" xmlns:a16="http://schemas.microsoft.com/office/drawing/2014/main" id="{F56DC517-E953-3773-04E5-092789D015E4}"/>
                  </a:ext>
                </a:extLst>
              </p:cNvPr>
              <p:cNvSpPr>
                <a:spLocks noChangeArrowheads="1"/>
              </p:cNvSpPr>
              <p:nvPr/>
            </p:nvSpPr>
            <p:spPr bwMode="auto">
              <a:xfrm>
                <a:off x="2729" y="3151"/>
                <a:ext cx="11" cy="33"/>
              </a:xfrm>
              <a:custGeom>
                <a:avLst/>
                <a:gdLst>
                  <a:gd name="T0" fmla="*/ 27 w 27"/>
                  <a:gd name="T1" fmla="*/ 7 h 82"/>
                  <a:gd name="T2" fmla="*/ 27 w 27"/>
                  <a:gd name="T3" fmla="*/ 5 h 82"/>
                  <a:gd name="T4" fmla="*/ 27 w 27"/>
                  <a:gd name="T5" fmla="*/ 2 h 82"/>
                  <a:gd name="T6" fmla="*/ 22 w 27"/>
                  <a:gd name="T7" fmla="*/ 0 h 82"/>
                  <a:gd name="T8" fmla="*/ 17 w 27"/>
                  <a:gd name="T9" fmla="*/ 0 h 82"/>
                  <a:gd name="T10" fmla="*/ 14 w 27"/>
                  <a:gd name="T11" fmla="*/ 0 h 82"/>
                  <a:gd name="T12" fmla="*/ 9 w 27"/>
                  <a:gd name="T13" fmla="*/ 0 h 82"/>
                  <a:gd name="T14" fmla="*/ 4 w 27"/>
                  <a:gd name="T15" fmla="*/ 2 h 82"/>
                  <a:gd name="T16" fmla="*/ 0 w 27"/>
                  <a:gd name="T17" fmla="*/ 5 h 82"/>
                  <a:gd name="T18" fmla="*/ 0 w 27"/>
                  <a:gd name="T19" fmla="*/ 70 h 82"/>
                  <a:gd name="T20" fmla="*/ 0 w 27"/>
                  <a:gd name="T21" fmla="*/ 72 h 82"/>
                  <a:gd name="T22" fmla="*/ 4 w 27"/>
                  <a:gd name="T23" fmla="*/ 75 h 82"/>
                  <a:gd name="T24" fmla="*/ 9 w 27"/>
                  <a:gd name="T25" fmla="*/ 77 h 82"/>
                  <a:gd name="T26" fmla="*/ 14 w 27"/>
                  <a:gd name="T27" fmla="*/ 82 h 82"/>
                  <a:gd name="T28" fmla="*/ 17 w 27"/>
                  <a:gd name="T29" fmla="*/ 82 h 82"/>
                  <a:gd name="T30" fmla="*/ 22 w 27"/>
                  <a:gd name="T31" fmla="*/ 77 h 82"/>
                  <a:gd name="T32" fmla="*/ 27 w 27"/>
                  <a:gd name="T33" fmla="*/ 75 h 82"/>
                  <a:gd name="T34" fmla="*/ 27 w 27"/>
                  <a:gd name="T35" fmla="*/ 72 h 82"/>
                  <a:gd name="T36" fmla="*/ 27 w 27"/>
                  <a:gd name="T37" fmla="*/ 7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82">
                    <a:moveTo>
                      <a:pt x="27" y="7"/>
                    </a:moveTo>
                    <a:lnTo>
                      <a:pt x="27" y="5"/>
                    </a:lnTo>
                    <a:lnTo>
                      <a:pt x="27" y="2"/>
                    </a:lnTo>
                    <a:lnTo>
                      <a:pt x="22" y="0"/>
                    </a:lnTo>
                    <a:lnTo>
                      <a:pt x="17" y="0"/>
                    </a:lnTo>
                    <a:lnTo>
                      <a:pt x="14" y="0"/>
                    </a:lnTo>
                    <a:lnTo>
                      <a:pt x="9" y="0"/>
                    </a:lnTo>
                    <a:lnTo>
                      <a:pt x="4" y="2"/>
                    </a:lnTo>
                    <a:lnTo>
                      <a:pt x="0" y="5"/>
                    </a:lnTo>
                    <a:lnTo>
                      <a:pt x="0" y="70"/>
                    </a:lnTo>
                    <a:lnTo>
                      <a:pt x="0" y="72"/>
                    </a:lnTo>
                    <a:lnTo>
                      <a:pt x="4" y="75"/>
                    </a:lnTo>
                    <a:lnTo>
                      <a:pt x="9" y="77"/>
                    </a:lnTo>
                    <a:lnTo>
                      <a:pt x="14" y="82"/>
                    </a:lnTo>
                    <a:lnTo>
                      <a:pt x="17" y="82"/>
                    </a:lnTo>
                    <a:lnTo>
                      <a:pt x="22" y="77"/>
                    </a:lnTo>
                    <a:lnTo>
                      <a:pt x="27" y="75"/>
                    </a:lnTo>
                    <a:lnTo>
                      <a:pt x="27" y="72"/>
                    </a:lnTo>
                    <a:lnTo>
                      <a:pt x="27" y="7"/>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125" name="任意多边形 14471">
                <a:extLst>
                  <a:ext uri="{FF2B5EF4-FFF2-40B4-BE49-F238E27FC236}">
                    <a16:creationId xmlns="" xmlns:a16="http://schemas.microsoft.com/office/drawing/2014/main" id="{64D06A73-4E60-D899-68DE-196D945B3EF1}"/>
                  </a:ext>
                </a:extLst>
              </p:cNvPr>
              <p:cNvSpPr>
                <a:spLocks noChangeArrowheads="1"/>
              </p:cNvSpPr>
              <p:nvPr/>
            </p:nvSpPr>
            <p:spPr bwMode="auto">
              <a:xfrm>
                <a:off x="2729" y="3197"/>
                <a:ext cx="11" cy="32"/>
              </a:xfrm>
              <a:custGeom>
                <a:avLst/>
                <a:gdLst>
                  <a:gd name="T0" fmla="*/ 27 w 27"/>
                  <a:gd name="T1" fmla="*/ 7 h 80"/>
                  <a:gd name="T2" fmla="*/ 27 w 27"/>
                  <a:gd name="T3" fmla="*/ 5 h 80"/>
                  <a:gd name="T4" fmla="*/ 27 w 27"/>
                  <a:gd name="T5" fmla="*/ 2 h 80"/>
                  <a:gd name="T6" fmla="*/ 22 w 27"/>
                  <a:gd name="T7" fmla="*/ 0 h 80"/>
                  <a:gd name="T8" fmla="*/ 17 w 27"/>
                  <a:gd name="T9" fmla="*/ 0 h 80"/>
                  <a:gd name="T10" fmla="*/ 14 w 27"/>
                  <a:gd name="T11" fmla="*/ 0 h 80"/>
                  <a:gd name="T12" fmla="*/ 9 w 27"/>
                  <a:gd name="T13" fmla="*/ 0 h 80"/>
                  <a:gd name="T14" fmla="*/ 4 w 27"/>
                  <a:gd name="T15" fmla="*/ 2 h 80"/>
                  <a:gd name="T16" fmla="*/ 0 w 27"/>
                  <a:gd name="T17" fmla="*/ 5 h 80"/>
                  <a:gd name="T18" fmla="*/ 0 w 27"/>
                  <a:gd name="T19" fmla="*/ 69 h 80"/>
                  <a:gd name="T20" fmla="*/ 0 w 27"/>
                  <a:gd name="T21" fmla="*/ 72 h 80"/>
                  <a:gd name="T22" fmla="*/ 4 w 27"/>
                  <a:gd name="T23" fmla="*/ 75 h 80"/>
                  <a:gd name="T24" fmla="*/ 9 w 27"/>
                  <a:gd name="T25" fmla="*/ 77 h 80"/>
                  <a:gd name="T26" fmla="*/ 14 w 27"/>
                  <a:gd name="T27" fmla="*/ 80 h 80"/>
                  <a:gd name="T28" fmla="*/ 17 w 27"/>
                  <a:gd name="T29" fmla="*/ 80 h 80"/>
                  <a:gd name="T30" fmla="*/ 22 w 27"/>
                  <a:gd name="T31" fmla="*/ 77 h 80"/>
                  <a:gd name="T32" fmla="*/ 27 w 27"/>
                  <a:gd name="T33" fmla="*/ 75 h 80"/>
                  <a:gd name="T34" fmla="*/ 27 w 27"/>
                  <a:gd name="T35" fmla="*/ 72 h 80"/>
                  <a:gd name="T36" fmla="*/ 27 w 27"/>
                  <a:gd name="T37" fmla="*/ 7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80">
                    <a:moveTo>
                      <a:pt x="27" y="7"/>
                    </a:moveTo>
                    <a:lnTo>
                      <a:pt x="27" y="5"/>
                    </a:lnTo>
                    <a:lnTo>
                      <a:pt x="27" y="2"/>
                    </a:lnTo>
                    <a:lnTo>
                      <a:pt x="22" y="0"/>
                    </a:lnTo>
                    <a:lnTo>
                      <a:pt x="17" y="0"/>
                    </a:lnTo>
                    <a:lnTo>
                      <a:pt x="14" y="0"/>
                    </a:lnTo>
                    <a:lnTo>
                      <a:pt x="9" y="0"/>
                    </a:lnTo>
                    <a:lnTo>
                      <a:pt x="4" y="2"/>
                    </a:lnTo>
                    <a:lnTo>
                      <a:pt x="0" y="5"/>
                    </a:lnTo>
                    <a:lnTo>
                      <a:pt x="0" y="69"/>
                    </a:lnTo>
                    <a:lnTo>
                      <a:pt x="0" y="72"/>
                    </a:lnTo>
                    <a:lnTo>
                      <a:pt x="4" y="75"/>
                    </a:lnTo>
                    <a:lnTo>
                      <a:pt x="9" y="77"/>
                    </a:lnTo>
                    <a:lnTo>
                      <a:pt x="14" y="80"/>
                    </a:lnTo>
                    <a:lnTo>
                      <a:pt x="17" y="80"/>
                    </a:lnTo>
                    <a:lnTo>
                      <a:pt x="22" y="77"/>
                    </a:lnTo>
                    <a:lnTo>
                      <a:pt x="27" y="75"/>
                    </a:lnTo>
                    <a:lnTo>
                      <a:pt x="27" y="72"/>
                    </a:lnTo>
                    <a:lnTo>
                      <a:pt x="27" y="7"/>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126" name="任意多边形 14472">
                <a:extLst>
                  <a:ext uri="{FF2B5EF4-FFF2-40B4-BE49-F238E27FC236}">
                    <a16:creationId xmlns="" xmlns:a16="http://schemas.microsoft.com/office/drawing/2014/main" id="{D1C3671C-CBD0-ED0C-BF69-AEF6B3547CFB}"/>
                  </a:ext>
                </a:extLst>
              </p:cNvPr>
              <p:cNvSpPr>
                <a:spLocks noChangeArrowheads="1"/>
              </p:cNvSpPr>
              <p:nvPr/>
            </p:nvSpPr>
            <p:spPr bwMode="auto">
              <a:xfrm>
                <a:off x="2729" y="3242"/>
                <a:ext cx="11" cy="33"/>
              </a:xfrm>
              <a:custGeom>
                <a:avLst/>
                <a:gdLst>
                  <a:gd name="T0" fmla="*/ 27 w 27"/>
                  <a:gd name="T1" fmla="*/ 7 h 82"/>
                  <a:gd name="T2" fmla="*/ 27 w 27"/>
                  <a:gd name="T3" fmla="*/ 5 h 82"/>
                  <a:gd name="T4" fmla="*/ 27 w 27"/>
                  <a:gd name="T5" fmla="*/ 2 h 82"/>
                  <a:gd name="T6" fmla="*/ 22 w 27"/>
                  <a:gd name="T7" fmla="*/ 0 h 82"/>
                  <a:gd name="T8" fmla="*/ 17 w 27"/>
                  <a:gd name="T9" fmla="*/ 0 h 82"/>
                  <a:gd name="T10" fmla="*/ 14 w 27"/>
                  <a:gd name="T11" fmla="*/ 0 h 82"/>
                  <a:gd name="T12" fmla="*/ 9 w 27"/>
                  <a:gd name="T13" fmla="*/ 0 h 82"/>
                  <a:gd name="T14" fmla="*/ 4 w 27"/>
                  <a:gd name="T15" fmla="*/ 2 h 82"/>
                  <a:gd name="T16" fmla="*/ 0 w 27"/>
                  <a:gd name="T17" fmla="*/ 5 h 82"/>
                  <a:gd name="T18" fmla="*/ 0 w 27"/>
                  <a:gd name="T19" fmla="*/ 70 h 82"/>
                  <a:gd name="T20" fmla="*/ 0 w 27"/>
                  <a:gd name="T21" fmla="*/ 75 h 82"/>
                  <a:gd name="T22" fmla="*/ 4 w 27"/>
                  <a:gd name="T23" fmla="*/ 77 h 82"/>
                  <a:gd name="T24" fmla="*/ 9 w 27"/>
                  <a:gd name="T25" fmla="*/ 80 h 82"/>
                  <a:gd name="T26" fmla="*/ 14 w 27"/>
                  <a:gd name="T27" fmla="*/ 82 h 82"/>
                  <a:gd name="T28" fmla="*/ 17 w 27"/>
                  <a:gd name="T29" fmla="*/ 82 h 82"/>
                  <a:gd name="T30" fmla="*/ 22 w 27"/>
                  <a:gd name="T31" fmla="*/ 80 h 82"/>
                  <a:gd name="T32" fmla="*/ 27 w 27"/>
                  <a:gd name="T33" fmla="*/ 77 h 82"/>
                  <a:gd name="T34" fmla="*/ 27 w 27"/>
                  <a:gd name="T35" fmla="*/ 75 h 82"/>
                  <a:gd name="T36" fmla="*/ 27 w 27"/>
                  <a:gd name="T37" fmla="*/ 7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82">
                    <a:moveTo>
                      <a:pt x="27" y="7"/>
                    </a:moveTo>
                    <a:lnTo>
                      <a:pt x="27" y="5"/>
                    </a:lnTo>
                    <a:lnTo>
                      <a:pt x="27" y="2"/>
                    </a:lnTo>
                    <a:lnTo>
                      <a:pt x="22" y="0"/>
                    </a:lnTo>
                    <a:lnTo>
                      <a:pt x="17" y="0"/>
                    </a:lnTo>
                    <a:lnTo>
                      <a:pt x="14" y="0"/>
                    </a:lnTo>
                    <a:lnTo>
                      <a:pt x="9" y="0"/>
                    </a:lnTo>
                    <a:lnTo>
                      <a:pt x="4" y="2"/>
                    </a:lnTo>
                    <a:lnTo>
                      <a:pt x="0" y="5"/>
                    </a:lnTo>
                    <a:lnTo>
                      <a:pt x="0" y="70"/>
                    </a:lnTo>
                    <a:lnTo>
                      <a:pt x="0" y="75"/>
                    </a:lnTo>
                    <a:lnTo>
                      <a:pt x="4" y="77"/>
                    </a:lnTo>
                    <a:lnTo>
                      <a:pt x="9" y="80"/>
                    </a:lnTo>
                    <a:lnTo>
                      <a:pt x="14" y="82"/>
                    </a:lnTo>
                    <a:lnTo>
                      <a:pt x="17" y="82"/>
                    </a:lnTo>
                    <a:lnTo>
                      <a:pt x="22" y="80"/>
                    </a:lnTo>
                    <a:lnTo>
                      <a:pt x="27" y="77"/>
                    </a:lnTo>
                    <a:lnTo>
                      <a:pt x="27" y="75"/>
                    </a:lnTo>
                    <a:lnTo>
                      <a:pt x="27" y="7"/>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127" name="任意多边形 14473">
                <a:extLst>
                  <a:ext uri="{FF2B5EF4-FFF2-40B4-BE49-F238E27FC236}">
                    <a16:creationId xmlns="" xmlns:a16="http://schemas.microsoft.com/office/drawing/2014/main" id="{3C954922-031C-C65E-2D46-BA8E598FE331}"/>
                  </a:ext>
                </a:extLst>
              </p:cNvPr>
              <p:cNvSpPr>
                <a:spLocks noChangeArrowheads="1"/>
              </p:cNvSpPr>
              <p:nvPr/>
            </p:nvSpPr>
            <p:spPr bwMode="auto">
              <a:xfrm>
                <a:off x="2729" y="3288"/>
                <a:ext cx="11" cy="33"/>
              </a:xfrm>
              <a:custGeom>
                <a:avLst/>
                <a:gdLst>
                  <a:gd name="T0" fmla="*/ 27 w 27"/>
                  <a:gd name="T1" fmla="*/ 7 h 82"/>
                  <a:gd name="T2" fmla="*/ 27 w 27"/>
                  <a:gd name="T3" fmla="*/ 5 h 82"/>
                  <a:gd name="T4" fmla="*/ 27 w 27"/>
                  <a:gd name="T5" fmla="*/ 2 h 82"/>
                  <a:gd name="T6" fmla="*/ 22 w 27"/>
                  <a:gd name="T7" fmla="*/ 0 h 82"/>
                  <a:gd name="T8" fmla="*/ 17 w 27"/>
                  <a:gd name="T9" fmla="*/ 0 h 82"/>
                  <a:gd name="T10" fmla="*/ 14 w 27"/>
                  <a:gd name="T11" fmla="*/ 0 h 82"/>
                  <a:gd name="T12" fmla="*/ 9 w 27"/>
                  <a:gd name="T13" fmla="*/ 0 h 82"/>
                  <a:gd name="T14" fmla="*/ 4 w 27"/>
                  <a:gd name="T15" fmla="*/ 2 h 82"/>
                  <a:gd name="T16" fmla="*/ 0 w 27"/>
                  <a:gd name="T17" fmla="*/ 5 h 82"/>
                  <a:gd name="T18" fmla="*/ 0 w 27"/>
                  <a:gd name="T19" fmla="*/ 69 h 82"/>
                  <a:gd name="T20" fmla="*/ 0 w 27"/>
                  <a:gd name="T21" fmla="*/ 72 h 82"/>
                  <a:gd name="T22" fmla="*/ 4 w 27"/>
                  <a:gd name="T23" fmla="*/ 75 h 82"/>
                  <a:gd name="T24" fmla="*/ 9 w 27"/>
                  <a:gd name="T25" fmla="*/ 77 h 82"/>
                  <a:gd name="T26" fmla="*/ 14 w 27"/>
                  <a:gd name="T27" fmla="*/ 82 h 82"/>
                  <a:gd name="T28" fmla="*/ 17 w 27"/>
                  <a:gd name="T29" fmla="*/ 82 h 82"/>
                  <a:gd name="T30" fmla="*/ 22 w 27"/>
                  <a:gd name="T31" fmla="*/ 77 h 82"/>
                  <a:gd name="T32" fmla="*/ 27 w 27"/>
                  <a:gd name="T33" fmla="*/ 75 h 82"/>
                  <a:gd name="T34" fmla="*/ 27 w 27"/>
                  <a:gd name="T35" fmla="*/ 72 h 82"/>
                  <a:gd name="T36" fmla="*/ 27 w 27"/>
                  <a:gd name="T37" fmla="*/ 7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82">
                    <a:moveTo>
                      <a:pt x="27" y="7"/>
                    </a:moveTo>
                    <a:lnTo>
                      <a:pt x="27" y="5"/>
                    </a:lnTo>
                    <a:lnTo>
                      <a:pt x="27" y="2"/>
                    </a:lnTo>
                    <a:lnTo>
                      <a:pt x="22" y="0"/>
                    </a:lnTo>
                    <a:lnTo>
                      <a:pt x="17" y="0"/>
                    </a:lnTo>
                    <a:lnTo>
                      <a:pt x="14" y="0"/>
                    </a:lnTo>
                    <a:lnTo>
                      <a:pt x="9" y="0"/>
                    </a:lnTo>
                    <a:lnTo>
                      <a:pt x="4" y="2"/>
                    </a:lnTo>
                    <a:lnTo>
                      <a:pt x="0" y="5"/>
                    </a:lnTo>
                    <a:lnTo>
                      <a:pt x="0" y="69"/>
                    </a:lnTo>
                    <a:lnTo>
                      <a:pt x="0" y="72"/>
                    </a:lnTo>
                    <a:lnTo>
                      <a:pt x="4" y="75"/>
                    </a:lnTo>
                    <a:lnTo>
                      <a:pt x="9" y="77"/>
                    </a:lnTo>
                    <a:lnTo>
                      <a:pt x="14" y="82"/>
                    </a:lnTo>
                    <a:lnTo>
                      <a:pt x="17" y="82"/>
                    </a:lnTo>
                    <a:lnTo>
                      <a:pt x="22" y="77"/>
                    </a:lnTo>
                    <a:lnTo>
                      <a:pt x="27" y="75"/>
                    </a:lnTo>
                    <a:lnTo>
                      <a:pt x="27" y="72"/>
                    </a:lnTo>
                    <a:lnTo>
                      <a:pt x="27" y="7"/>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128" name="任意多边形 14474">
                <a:extLst>
                  <a:ext uri="{FF2B5EF4-FFF2-40B4-BE49-F238E27FC236}">
                    <a16:creationId xmlns="" xmlns:a16="http://schemas.microsoft.com/office/drawing/2014/main" id="{FEEA165F-6ADB-6E56-FA6A-33993D244434}"/>
                  </a:ext>
                </a:extLst>
              </p:cNvPr>
              <p:cNvSpPr>
                <a:spLocks noChangeArrowheads="1"/>
              </p:cNvSpPr>
              <p:nvPr/>
            </p:nvSpPr>
            <p:spPr bwMode="auto">
              <a:xfrm>
                <a:off x="2729" y="3334"/>
                <a:ext cx="11" cy="32"/>
              </a:xfrm>
              <a:custGeom>
                <a:avLst/>
                <a:gdLst>
                  <a:gd name="T0" fmla="*/ 27 w 27"/>
                  <a:gd name="T1" fmla="*/ 7 h 79"/>
                  <a:gd name="T2" fmla="*/ 27 w 27"/>
                  <a:gd name="T3" fmla="*/ 5 h 79"/>
                  <a:gd name="T4" fmla="*/ 27 w 27"/>
                  <a:gd name="T5" fmla="*/ 2 h 79"/>
                  <a:gd name="T6" fmla="*/ 22 w 27"/>
                  <a:gd name="T7" fmla="*/ 0 h 79"/>
                  <a:gd name="T8" fmla="*/ 17 w 27"/>
                  <a:gd name="T9" fmla="*/ 0 h 79"/>
                  <a:gd name="T10" fmla="*/ 14 w 27"/>
                  <a:gd name="T11" fmla="*/ 0 h 79"/>
                  <a:gd name="T12" fmla="*/ 9 w 27"/>
                  <a:gd name="T13" fmla="*/ 0 h 79"/>
                  <a:gd name="T14" fmla="*/ 4 w 27"/>
                  <a:gd name="T15" fmla="*/ 2 h 79"/>
                  <a:gd name="T16" fmla="*/ 0 w 27"/>
                  <a:gd name="T17" fmla="*/ 5 h 79"/>
                  <a:gd name="T18" fmla="*/ 0 w 27"/>
                  <a:gd name="T19" fmla="*/ 69 h 79"/>
                  <a:gd name="T20" fmla="*/ 0 w 27"/>
                  <a:gd name="T21" fmla="*/ 72 h 79"/>
                  <a:gd name="T22" fmla="*/ 4 w 27"/>
                  <a:gd name="T23" fmla="*/ 75 h 79"/>
                  <a:gd name="T24" fmla="*/ 9 w 27"/>
                  <a:gd name="T25" fmla="*/ 77 h 79"/>
                  <a:gd name="T26" fmla="*/ 14 w 27"/>
                  <a:gd name="T27" fmla="*/ 79 h 79"/>
                  <a:gd name="T28" fmla="*/ 17 w 27"/>
                  <a:gd name="T29" fmla="*/ 79 h 79"/>
                  <a:gd name="T30" fmla="*/ 22 w 27"/>
                  <a:gd name="T31" fmla="*/ 77 h 79"/>
                  <a:gd name="T32" fmla="*/ 27 w 27"/>
                  <a:gd name="T33" fmla="*/ 75 h 79"/>
                  <a:gd name="T34" fmla="*/ 27 w 27"/>
                  <a:gd name="T35" fmla="*/ 72 h 79"/>
                  <a:gd name="T36" fmla="*/ 27 w 27"/>
                  <a:gd name="T37" fmla="*/ 7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79">
                    <a:moveTo>
                      <a:pt x="27" y="7"/>
                    </a:moveTo>
                    <a:lnTo>
                      <a:pt x="27" y="5"/>
                    </a:lnTo>
                    <a:lnTo>
                      <a:pt x="27" y="2"/>
                    </a:lnTo>
                    <a:lnTo>
                      <a:pt x="22" y="0"/>
                    </a:lnTo>
                    <a:lnTo>
                      <a:pt x="17" y="0"/>
                    </a:lnTo>
                    <a:lnTo>
                      <a:pt x="14" y="0"/>
                    </a:lnTo>
                    <a:lnTo>
                      <a:pt x="9" y="0"/>
                    </a:lnTo>
                    <a:lnTo>
                      <a:pt x="4" y="2"/>
                    </a:lnTo>
                    <a:lnTo>
                      <a:pt x="0" y="5"/>
                    </a:lnTo>
                    <a:lnTo>
                      <a:pt x="0" y="69"/>
                    </a:lnTo>
                    <a:lnTo>
                      <a:pt x="0" y="72"/>
                    </a:lnTo>
                    <a:lnTo>
                      <a:pt x="4" y="75"/>
                    </a:lnTo>
                    <a:lnTo>
                      <a:pt x="9" y="77"/>
                    </a:lnTo>
                    <a:lnTo>
                      <a:pt x="14" y="79"/>
                    </a:lnTo>
                    <a:lnTo>
                      <a:pt x="17" y="79"/>
                    </a:lnTo>
                    <a:lnTo>
                      <a:pt x="22" y="77"/>
                    </a:lnTo>
                    <a:lnTo>
                      <a:pt x="27" y="75"/>
                    </a:lnTo>
                    <a:lnTo>
                      <a:pt x="27" y="72"/>
                    </a:lnTo>
                    <a:lnTo>
                      <a:pt x="27" y="7"/>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129" name="任意多边形 14475">
                <a:extLst>
                  <a:ext uri="{FF2B5EF4-FFF2-40B4-BE49-F238E27FC236}">
                    <a16:creationId xmlns="" xmlns:a16="http://schemas.microsoft.com/office/drawing/2014/main" id="{8E9C813D-9DEE-6738-9F3A-8DC6E2290F5D}"/>
                  </a:ext>
                </a:extLst>
              </p:cNvPr>
              <p:cNvSpPr>
                <a:spLocks noChangeArrowheads="1"/>
              </p:cNvSpPr>
              <p:nvPr/>
            </p:nvSpPr>
            <p:spPr bwMode="auto">
              <a:xfrm>
                <a:off x="2729" y="3379"/>
                <a:ext cx="11" cy="33"/>
              </a:xfrm>
              <a:custGeom>
                <a:avLst/>
                <a:gdLst>
                  <a:gd name="T0" fmla="*/ 27 w 27"/>
                  <a:gd name="T1" fmla="*/ 7 h 82"/>
                  <a:gd name="T2" fmla="*/ 27 w 27"/>
                  <a:gd name="T3" fmla="*/ 5 h 82"/>
                  <a:gd name="T4" fmla="*/ 27 w 27"/>
                  <a:gd name="T5" fmla="*/ 2 h 82"/>
                  <a:gd name="T6" fmla="*/ 22 w 27"/>
                  <a:gd name="T7" fmla="*/ 0 h 82"/>
                  <a:gd name="T8" fmla="*/ 17 w 27"/>
                  <a:gd name="T9" fmla="*/ 0 h 82"/>
                  <a:gd name="T10" fmla="*/ 14 w 27"/>
                  <a:gd name="T11" fmla="*/ 0 h 82"/>
                  <a:gd name="T12" fmla="*/ 9 w 27"/>
                  <a:gd name="T13" fmla="*/ 0 h 82"/>
                  <a:gd name="T14" fmla="*/ 4 w 27"/>
                  <a:gd name="T15" fmla="*/ 2 h 82"/>
                  <a:gd name="T16" fmla="*/ 0 w 27"/>
                  <a:gd name="T17" fmla="*/ 5 h 82"/>
                  <a:gd name="T18" fmla="*/ 0 w 27"/>
                  <a:gd name="T19" fmla="*/ 70 h 82"/>
                  <a:gd name="T20" fmla="*/ 0 w 27"/>
                  <a:gd name="T21" fmla="*/ 75 h 82"/>
                  <a:gd name="T22" fmla="*/ 4 w 27"/>
                  <a:gd name="T23" fmla="*/ 77 h 82"/>
                  <a:gd name="T24" fmla="*/ 9 w 27"/>
                  <a:gd name="T25" fmla="*/ 80 h 82"/>
                  <a:gd name="T26" fmla="*/ 14 w 27"/>
                  <a:gd name="T27" fmla="*/ 82 h 82"/>
                  <a:gd name="T28" fmla="*/ 17 w 27"/>
                  <a:gd name="T29" fmla="*/ 82 h 82"/>
                  <a:gd name="T30" fmla="*/ 22 w 27"/>
                  <a:gd name="T31" fmla="*/ 80 h 82"/>
                  <a:gd name="T32" fmla="*/ 27 w 27"/>
                  <a:gd name="T33" fmla="*/ 77 h 82"/>
                  <a:gd name="T34" fmla="*/ 27 w 27"/>
                  <a:gd name="T35" fmla="*/ 75 h 82"/>
                  <a:gd name="T36" fmla="*/ 27 w 27"/>
                  <a:gd name="T37" fmla="*/ 7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82">
                    <a:moveTo>
                      <a:pt x="27" y="7"/>
                    </a:moveTo>
                    <a:lnTo>
                      <a:pt x="27" y="5"/>
                    </a:lnTo>
                    <a:lnTo>
                      <a:pt x="27" y="2"/>
                    </a:lnTo>
                    <a:lnTo>
                      <a:pt x="22" y="0"/>
                    </a:lnTo>
                    <a:lnTo>
                      <a:pt x="17" y="0"/>
                    </a:lnTo>
                    <a:lnTo>
                      <a:pt x="14" y="0"/>
                    </a:lnTo>
                    <a:lnTo>
                      <a:pt x="9" y="0"/>
                    </a:lnTo>
                    <a:lnTo>
                      <a:pt x="4" y="2"/>
                    </a:lnTo>
                    <a:lnTo>
                      <a:pt x="0" y="5"/>
                    </a:lnTo>
                    <a:lnTo>
                      <a:pt x="0" y="70"/>
                    </a:lnTo>
                    <a:lnTo>
                      <a:pt x="0" y="75"/>
                    </a:lnTo>
                    <a:lnTo>
                      <a:pt x="4" y="77"/>
                    </a:lnTo>
                    <a:lnTo>
                      <a:pt x="9" y="80"/>
                    </a:lnTo>
                    <a:lnTo>
                      <a:pt x="14" y="82"/>
                    </a:lnTo>
                    <a:lnTo>
                      <a:pt x="17" y="82"/>
                    </a:lnTo>
                    <a:lnTo>
                      <a:pt x="22" y="80"/>
                    </a:lnTo>
                    <a:lnTo>
                      <a:pt x="27" y="77"/>
                    </a:lnTo>
                    <a:lnTo>
                      <a:pt x="27" y="75"/>
                    </a:lnTo>
                    <a:lnTo>
                      <a:pt x="27" y="7"/>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130" name="任意多边形 14476">
                <a:extLst>
                  <a:ext uri="{FF2B5EF4-FFF2-40B4-BE49-F238E27FC236}">
                    <a16:creationId xmlns="" xmlns:a16="http://schemas.microsoft.com/office/drawing/2014/main" id="{CA54C2B8-1355-A26C-D640-AEBBE1332F79}"/>
                  </a:ext>
                </a:extLst>
              </p:cNvPr>
              <p:cNvSpPr>
                <a:spLocks noChangeArrowheads="1"/>
              </p:cNvSpPr>
              <p:nvPr/>
            </p:nvSpPr>
            <p:spPr bwMode="auto">
              <a:xfrm>
                <a:off x="2729" y="3425"/>
                <a:ext cx="11" cy="32"/>
              </a:xfrm>
              <a:custGeom>
                <a:avLst/>
                <a:gdLst>
                  <a:gd name="T0" fmla="*/ 27 w 27"/>
                  <a:gd name="T1" fmla="*/ 7 h 79"/>
                  <a:gd name="T2" fmla="*/ 27 w 27"/>
                  <a:gd name="T3" fmla="*/ 5 h 79"/>
                  <a:gd name="T4" fmla="*/ 27 w 27"/>
                  <a:gd name="T5" fmla="*/ 2 h 79"/>
                  <a:gd name="T6" fmla="*/ 22 w 27"/>
                  <a:gd name="T7" fmla="*/ 0 h 79"/>
                  <a:gd name="T8" fmla="*/ 17 w 27"/>
                  <a:gd name="T9" fmla="*/ 0 h 79"/>
                  <a:gd name="T10" fmla="*/ 14 w 27"/>
                  <a:gd name="T11" fmla="*/ 0 h 79"/>
                  <a:gd name="T12" fmla="*/ 9 w 27"/>
                  <a:gd name="T13" fmla="*/ 0 h 79"/>
                  <a:gd name="T14" fmla="*/ 4 w 27"/>
                  <a:gd name="T15" fmla="*/ 2 h 79"/>
                  <a:gd name="T16" fmla="*/ 0 w 27"/>
                  <a:gd name="T17" fmla="*/ 5 h 79"/>
                  <a:gd name="T18" fmla="*/ 0 w 27"/>
                  <a:gd name="T19" fmla="*/ 69 h 79"/>
                  <a:gd name="T20" fmla="*/ 0 w 27"/>
                  <a:gd name="T21" fmla="*/ 72 h 79"/>
                  <a:gd name="T22" fmla="*/ 4 w 27"/>
                  <a:gd name="T23" fmla="*/ 75 h 79"/>
                  <a:gd name="T24" fmla="*/ 9 w 27"/>
                  <a:gd name="T25" fmla="*/ 77 h 79"/>
                  <a:gd name="T26" fmla="*/ 14 w 27"/>
                  <a:gd name="T27" fmla="*/ 79 h 79"/>
                  <a:gd name="T28" fmla="*/ 17 w 27"/>
                  <a:gd name="T29" fmla="*/ 79 h 79"/>
                  <a:gd name="T30" fmla="*/ 22 w 27"/>
                  <a:gd name="T31" fmla="*/ 77 h 79"/>
                  <a:gd name="T32" fmla="*/ 27 w 27"/>
                  <a:gd name="T33" fmla="*/ 75 h 79"/>
                  <a:gd name="T34" fmla="*/ 27 w 27"/>
                  <a:gd name="T35" fmla="*/ 72 h 79"/>
                  <a:gd name="T36" fmla="*/ 27 w 27"/>
                  <a:gd name="T37" fmla="*/ 7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79">
                    <a:moveTo>
                      <a:pt x="27" y="7"/>
                    </a:moveTo>
                    <a:lnTo>
                      <a:pt x="27" y="5"/>
                    </a:lnTo>
                    <a:lnTo>
                      <a:pt x="27" y="2"/>
                    </a:lnTo>
                    <a:lnTo>
                      <a:pt x="22" y="0"/>
                    </a:lnTo>
                    <a:lnTo>
                      <a:pt x="17" y="0"/>
                    </a:lnTo>
                    <a:lnTo>
                      <a:pt x="14" y="0"/>
                    </a:lnTo>
                    <a:lnTo>
                      <a:pt x="9" y="0"/>
                    </a:lnTo>
                    <a:lnTo>
                      <a:pt x="4" y="2"/>
                    </a:lnTo>
                    <a:lnTo>
                      <a:pt x="0" y="5"/>
                    </a:lnTo>
                    <a:lnTo>
                      <a:pt x="0" y="69"/>
                    </a:lnTo>
                    <a:lnTo>
                      <a:pt x="0" y="72"/>
                    </a:lnTo>
                    <a:lnTo>
                      <a:pt x="4" y="75"/>
                    </a:lnTo>
                    <a:lnTo>
                      <a:pt x="9" y="77"/>
                    </a:lnTo>
                    <a:lnTo>
                      <a:pt x="14" y="79"/>
                    </a:lnTo>
                    <a:lnTo>
                      <a:pt x="17" y="79"/>
                    </a:lnTo>
                    <a:lnTo>
                      <a:pt x="22" y="77"/>
                    </a:lnTo>
                    <a:lnTo>
                      <a:pt x="27" y="75"/>
                    </a:lnTo>
                    <a:lnTo>
                      <a:pt x="27" y="72"/>
                    </a:lnTo>
                    <a:lnTo>
                      <a:pt x="27" y="7"/>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131" name="任意多边形 14477">
                <a:extLst>
                  <a:ext uri="{FF2B5EF4-FFF2-40B4-BE49-F238E27FC236}">
                    <a16:creationId xmlns="" xmlns:a16="http://schemas.microsoft.com/office/drawing/2014/main" id="{30FEF62F-2ED1-5EF4-6638-7CB48B9A1FCE}"/>
                  </a:ext>
                </a:extLst>
              </p:cNvPr>
              <p:cNvSpPr>
                <a:spLocks noChangeArrowheads="1"/>
              </p:cNvSpPr>
              <p:nvPr/>
            </p:nvSpPr>
            <p:spPr bwMode="auto">
              <a:xfrm>
                <a:off x="2729" y="3471"/>
                <a:ext cx="11" cy="32"/>
              </a:xfrm>
              <a:custGeom>
                <a:avLst/>
                <a:gdLst>
                  <a:gd name="T0" fmla="*/ 27 w 27"/>
                  <a:gd name="T1" fmla="*/ 7 h 79"/>
                  <a:gd name="T2" fmla="*/ 27 w 27"/>
                  <a:gd name="T3" fmla="*/ 4 h 79"/>
                  <a:gd name="T4" fmla="*/ 27 w 27"/>
                  <a:gd name="T5" fmla="*/ 2 h 79"/>
                  <a:gd name="T6" fmla="*/ 22 w 27"/>
                  <a:gd name="T7" fmla="*/ 0 h 79"/>
                  <a:gd name="T8" fmla="*/ 17 w 27"/>
                  <a:gd name="T9" fmla="*/ 0 h 79"/>
                  <a:gd name="T10" fmla="*/ 14 w 27"/>
                  <a:gd name="T11" fmla="*/ 0 h 79"/>
                  <a:gd name="T12" fmla="*/ 9 w 27"/>
                  <a:gd name="T13" fmla="*/ 0 h 79"/>
                  <a:gd name="T14" fmla="*/ 4 w 27"/>
                  <a:gd name="T15" fmla="*/ 2 h 79"/>
                  <a:gd name="T16" fmla="*/ 0 w 27"/>
                  <a:gd name="T17" fmla="*/ 4 h 79"/>
                  <a:gd name="T18" fmla="*/ 0 w 27"/>
                  <a:gd name="T19" fmla="*/ 69 h 79"/>
                  <a:gd name="T20" fmla="*/ 0 w 27"/>
                  <a:gd name="T21" fmla="*/ 72 h 79"/>
                  <a:gd name="T22" fmla="*/ 4 w 27"/>
                  <a:gd name="T23" fmla="*/ 75 h 79"/>
                  <a:gd name="T24" fmla="*/ 9 w 27"/>
                  <a:gd name="T25" fmla="*/ 77 h 79"/>
                  <a:gd name="T26" fmla="*/ 14 w 27"/>
                  <a:gd name="T27" fmla="*/ 79 h 79"/>
                  <a:gd name="T28" fmla="*/ 17 w 27"/>
                  <a:gd name="T29" fmla="*/ 79 h 79"/>
                  <a:gd name="T30" fmla="*/ 22 w 27"/>
                  <a:gd name="T31" fmla="*/ 77 h 79"/>
                  <a:gd name="T32" fmla="*/ 27 w 27"/>
                  <a:gd name="T33" fmla="*/ 75 h 79"/>
                  <a:gd name="T34" fmla="*/ 27 w 27"/>
                  <a:gd name="T35" fmla="*/ 72 h 79"/>
                  <a:gd name="T36" fmla="*/ 27 w 27"/>
                  <a:gd name="T37" fmla="*/ 7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79">
                    <a:moveTo>
                      <a:pt x="27" y="7"/>
                    </a:moveTo>
                    <a:lnTo>
                      <a:pt x="27" y="4"/>
                    </a:lnTo>
                    <a:lnTo>
                      <a:pt x="27" y="2"/>
                    </a:lnTo>
                    <a:lnTo>
                      <a:pt x="22" y="0"/>
                    </a:lnTo>
                    <a:lnTo>
                      <a:pt x="17" y="0"/>
                    </a:lnTo>
                    <a:lnTo>
                      <a:pt x="14" y="0"/>
                    </a:lnTo>
                    <a:lnTo>
                      <a:pt x="9" y="0"/>
                    </a:lnTo>
                    <a:lnTo>
                      <a:pt x="4" y="2"/>
                    </a:lnTo>
                    <a:lnTo>
                      <a:pt x="0" y="4"/>
                    </a:lnTo>
                    <a:lnTo>
                      <a:pt x="0" y="69"/>
                    </a:lnTo>
                    <a:lnTo>
                      <a:pt x="0" y="72"/>
                    </a:lnTo>
                    <a:lnTo>
                      <a:pt x="4" y="75"/>
                    </a:lnTo>
                    <a:lnTo>
                      <a:pt x="9" y="77"/>
                    </a:lnTo>
                    <a:lnTo>
                      <a:pt x="14" y="79"/>
                    </a:lnTo>
                    <a:lnTo>
                      <a:pt x="17" y="79"/>
                    </a:lnTo>
                    <a:lnTo>
                      <a:pt x="22" y="77"/>
                    </a:lnTo>
                    <a:lnTo>
                      <a:pt x="27" y="75"/>
                    </a:lnTo>
                    <a:lnTo>
                      <a:pt x="27" y="72"/>
                    </a:lnTo>
                    <a:lnTo>
                      <a:pt x="27" y="7"/>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132" name="任意多边形 14478">
                <a:extLst>
                  <a:ext uri="{FF2B5EF4-FFF2-40B4-BE49-F238E27FC236}">
                    <a16:creationId xmlns="" xmlns:a16="http://schemas.microsoft.com/office/drawing/2014/main" id="{AD0CBCE9-0042-2944-57B8-3DA1A8C75412}"/>
                  </a:ext>
                </a:extLst>
              </p:cNvPr>
              <p:cNvSpPr>
                <a:spLocks noChangeArrowheads="1"/>
              </p:cNvSpPr>
              <p:nvPr/>
            </p:nvSpPr>
            <p:spPr bwMode="auto">
              <a:xfrm>
                <a:off x="2729" y="3516"/>
                <a:ext cx="11" cy="33"/>
              </a:xfrm>
              <a:custGeom>
                <a:avLst/>
                <a:gdLst>
                  <a:gd name="T0" fmla="*/ 27 w 27"/>
                  <a:gd name="T1" fmla="*/ 7 h 82"/>
                  <a:gd name="T2" fmla="*/ 27 w 27"/>
                  <a:gd name="T3" fmla="*/ 5 h 82"/>
                  <a:gd name="T4" fmla="*/ 27 w 27"/>
                  <a:gd name="T5" fmla="*/ 2 h 82"/>
                  <a:gd name="T6" fmla="*/ 22 w 27"/>
                  <a:gd name="T7" fmla="*/ 0 h 82"/>
                  <a:gd name="T8" fmla="*/ 17 w 27"/>
                  <a:gd name="T9" fmla="*/ 0 h 82"/>
                  <a:gd name="T10" fmla="*/ 14 w 27"/>
                  <a:gd name="T11" fmla="*/ 0 h 82"/>
                  <a:gd name="T12" fmla="*/ 9 w 27"/>
                  <a:gd name="T13" fmla="*/ 0 h 82"/>
                  <a:gd name="T14" fmla="*/ 4 w 27"/>
                  <a:gd name="T15" fmla="*/ 2 h 82"/>
                  <a:gd name="T16" fmla="*/ 0 w 27"/>
                  <a:gd name="T17" fmla="*/ 5 h 82"/>
                  <a:gd name="T18" fmla="*/ 0 w 27"/>
                  <a:gd name="T19" fmla="*/ 69 h 82"/>
                  <a:gd name="T20" fmla="*/ 0 w 27"/>
                  <a:gd name="T21" fmla="*/ 75 h 82"/>
                  <a:gd name="T22" fmla="*/ 4 w 27"/>
                  <a:gd name="T23" fmla="*/ 77 h 82"/>
                  <a:gd name="T24" fmla="*/ 9 w 27"/>
                  <a:gd name="T25" fmla="*/ 79 h 82"/>
                  <a:gd name="T26" fmla="*/ 14 w 27"/>
                  <a:gd name="T27" fmla="*/ 82 h 82"/>
                  <a:gd name="T28" fmla="*/ 17 w 27"/>
                  <a:gd name="T29" fmla="*/ 82 h 82"/>
                  <a:gd name="T30" fmla="*/ 22 w 27"/>
                  <a:gd name="T31" fmla="*/ 79 h 82"/>
                  <a:gd name="T32" fmla="*/ 27 w 27"/>
                  <a:gd name="T33" fmla="*/ 77 h 82"/>
                  <a:gd name="T34" fmla="*/ 27 w 27"/>
                  <a:gd name="T35" fmla="*/ 75 h 82"/>
                  <a:gd name="T36" fmla="*/ 27 w 27"/>
                  <a:gd name="T37" fmla="*/ 7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82">
                    <a:moveTo>
                      <a:pt x="27" y="7"/>
                    </a:moveTo>
                    <a:lnTo>
                      <a:pt x="27" y="5"/>
                    </a:lnTo>
                    <a:lnTo>
                      <a:pt x="27" y="2"/>
                    </a:lnTo>
                    <a:lnTo>
                      <a:pt x="22" y="0"/>
                    </a:lnTo>
                    <a:lnTo>
                      <a:pt x="17" y="0"/>
                    </a:lnTo>
                    <a:lnTo>
                      <a:pt x="14" y="0"/>
                    </a:lnTo>
                    <a:lnTo>
                      <a:pt x="9" y="0"/>
                    </a:lnTo>
                    <a:lnTo>
                      <a:pt x="4" y="2"/>
                    </a:lnTo>
                    <a:lnTo>
                      <a:pt x="0" y="5"/>
                    </a:lnTo>
                    <a:lnTo>
                      <a:pt x="0" y="69"/>
                    </a:lnTo>
                    <a:lnTo>
                      <a:pt x="0" y="75"/>
                    </a:lnTo>
                    <a:lnTo>
                      <a:pt x="4" y="77"/>
                    </a:lnTo>
                    <a:lnTo>
                      <a:pt x="9" y="79"/>
                    </a:lnTo>
                    <a:lnTo>
                      <a:pt x="14" y="82"/>
                    </a:lnTo>
                    <a:lnTo>
                      <a:pt x="17" y="82"/>
                    </a:lnTo>
                    <a:lnTo>
                      <a:pt x="22" y="79"/>
                    </a:lnTo>
                    <a:lnTo>
                      <a:pt x="27" y="77"/>
                    </a:lnTo>
                    <a:lnTo>
                      <a:pt x="27" y="75"/>
                    </a:lnTo>
                    <a:lnTo>
                      <a:pt x="27" y="7"/>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133" name="任意多边形 14479">
                <a:extLst>
                  <a:ext uri="{FF2B5EF4-FFF2-40B4-BE49-F238E27FC236}">
                    <a16:creationId xmlns="" xmlns:a16="http://schemas.microsoft.com/office/drawing/2014/main" id="{77306BDE-7A59-36AE-9D72-71C6BBF2E1AA}"/>
                  </a:ext>
                </a:extLst>
              </p:cNvPr>
              <p:cNvSpPr>
                <a:spLocks noChangeArrowheads="1"/>
              </p:cNvSpPr>
              <p:nvPr/>
            </p:nvSpPr>
            <p:spPr bwMode="auto">
              <a:xfrm>
                <a:off x="2729" y="3562"/>
                <a:ext cx="11" cy="32"/>
              </a:xfrm>
              <a:custGeom>
                <a:avLst/>
                <a:gdLst>
                  <a:gd name="T0" fmla="*/ 27 w 27"/>
                  <a:gd name="T1" fmla="*/ 7 h 79"/>
                  <a:gd name="T2" fmla="*/ 27 w 27"/>
                  <a:gd name="T3" fmla="*/ 4 h 79"/>
                  <a:gd name="T4" fmla="*/ 27 w 27"/>
                  <a:gd name="T5" fmla="*/ 2 h 79"/>
                  <a:gd name="T6" fmla="*/ 22 w 27"/>
                  <a:gd name="T7" fmla="*/ 0 h 79"/>
                  <a:gd name="T8" fmla="*/ 17 w 27"/>
                  <a:gd name="T9" fmla="*/ 0 h 79"/>
                  <a:gd name="T10" fmla="*/ 14 w 27"/>
                  <a:gd name="T11" fmla="*/ 0 h 79"/>
                  <a:gd name="T12" fmla="*/ 9 w 27"/>
                  <a:gd name="T13" fmla="*/ 0 h 79"/>
                  <a:gd name="T14" fmla="*/ 4 w 27"/>
                  <a:gd name="T15" fmla="*/ 2 h 79"/>
                  <a:gd name="T16" fmla="*/ 0 w 27"/>
                  <a:gd name="T17" fmla="*/ 4 h 79"/>
                  <a:gd name="T18" fmla="*/ 0 w 27"/>
                  <a:gd name="T19" fmla="*/ 69 h 79"/>
                  <a:gd name="T20" fmla="*/ 0 w 27"/>
                  <a:gd name="T21" fmla="*/ 72 h 79"/>
                  <a:gd name="T22" fmla="*/ 4 w 27"/>
                  <a:gd name="T23" fmla="*/ 75 h 79"/>
                  <a:gd name="T24" fmla="*/ 9 w 27"/>
                  <a:gd name="T25" fmla="*/ 77 h 79"/>
                  <a:gd name="T26" fmla="*/ 14 w 27"/>
                  <a:gd name="T27" fmla="*/ 79 h 79"/>
                  <a:gd name="T28" fmla="*/ 17 w 27"/>
                  <a:gd name="T29" fmla="*/ 79 h 79"/>
                  <a:gd name="T30" fmla="*/ 22 w 27"/>
                  <a:gd name="T31" fmla="*/ 77 h 79"/>
                  <a:gd name="T32" fmla="*/ 27 w 27"/>
                  <a:gd name="T33" fmla="*/ 75 h 79"/>
                  <a:gd name="T34" fmla="*/ 27 w 27"/>
                  <a:gd name="T35" fmla="*/ 72 h 79"/>
                  <a:gd name="T36" fmla="*/ 27 w 27"/>
                  <a:gd name="T37" fmla="*/ 7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79">
                    <a:moveTo>
                      <a:pt x="27" y="7"/>
                    </a:moveTo>
                    <a:lnTo>
                      <a:pt x="27" y="4"/>
                    </a:lnTo>
                    <a:lnTo>
                      <a:pt x="27" y="2"/>
                    </a:lnTo>
                    <a:lnTo>
                      <a:pt x="22" y="0"/>
                    </a:lnTo>
                    <a:lnTo>
                      <a:pt x="17" y="0"/>
                    </a:lnTo>
                    <a:lnTo>
                      <a:pt x="14" y="0"/>
                    </a:lnTo>
                    <a:lnTo>
                      <a:pt x="9" y="0"/>
                    </a:lnTo>
                    <a:lnTo>
                      <a:pt x="4" y="2"/>
                    </a:lnTo>
                    <a:lnTo>
                      <a:pt x="0" y="4"/>
                    </a:lnTo>
                    <a:lnTo>
                      <a:pt x="0" y="69"/>
                    </a:lnTo>
                    <a:lnTo>
                      <a:pt x="0" y="72"/>
                    </a:lnTo>
                    <a:lnTo>
                      <a:pt x="4" y="75"/>
                    </a:lnTo>
                    <a:lnTo>
                      <a:pt x="9" y="77"/>
                    </a:lnTo>
                    <a:lnTo>
                      <a:pt x="14" y="79"/>
                    </a:lnTo>
                    <a:lnTo>
                      <a:pt x="17" y="79"/>
                    </a:lnTo>
                    <a:lnTo>
                      <a:pt x="22" y="77"/>
                    </a:lnTo>
                    <a:lnTo>
                      <a:pt x="27" y="75"/>
                    </a:lnTo>
                    <a:lnTo>
                      <a:pt x="27" y="72"/>
                    </a:lnTo>
                    <a:lnTo>
                      <a:pt x="27" y="7"/>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134" name="任意多边形 14480">
                <a:extLst>
                  <a:ext uri="{FF2B5EF4-FFF2-40B4-BE49-F238E27FC236}">
                    <a16:creationId xmlns="" xmlns:a16="http://schemas.microsoft.com/office/drawing/2014/main" id="{7FDF66DB-2234-EAA2-E0C0-E9ED179AA7A6}"/>
                  </a:ext>
                </a:extLst>
              </p:cNvPr>
              <p:cNvSpPr>
                <a:spLocks noChangeArrowheads="1"/>
              </p:cNvSpPr>
              <p:nvPr/>
            </p:nvSpPr>
            <p:spPr bwMode="auto">
              <a:xfrm>
                <a:off x="2729" y="3608"/>
                <a:ext cx="11" cy="32"/>
              </a:xfrm>
              <a:custGeom>
                <a:avLst/>
                <a:gdLst>
                  <a:gd name="T0" fmla="*/ 27 w 27"/>
                  <a:gd name="T1" fmla="*/ 7 h 79"/>
                  <a:gd name="T2" fmla="*/ 27 w 27"/>
                  <a:gd name="T3" fmla="*/ 4 h 79"/>
                  <a:gd name="T4" fmla="*/ 27 w 27"/>
                  <a:gd name="T5" fmla="*/ 2 h 79"/>
                  <a:gd name="T6" fmla="*/ 22 w 27"/>
                  <a:gd name="T7" fmla="*/ 0 h 79"/>
                  <a:gd name="T8" fmla="*/ 17 w 27"/>
                  <a:gd name="T9" fmla="*/ 0 h 79"/>
                  <a:gd name="T10" fmla="*/ 14 w 27"/>
                  <a:gd name="T11" fmla="*/ 0 h 79"/>
                  <a:gd name="T12" fmla="*/ 9 w 27"/>
                  <a:gd name="T13" fmla="*/ 0 h 79"/>
                  <a:gd name="T14" fmla="*/ 4 w 27"/>
                  <a:gd name="T15" fmla="*/ 2 h 79"/>
                  <a:gd name="T16" fmla="*/ 0 w 27"/>
                  <a:gd name="T17" fmla="*/ 4 h 79"/>
                  <a:gd name="T18" fmla="*/ 0 w 27"/>
                  <a:gd name="T19" fmla="*/ 69 h 79"/>
                  <a:gd name="T20" fmla="*/ 0 w 27"/>
                  <a:gd name="T21" fmla="*/ 72 h 79"/>
                  <a:gd name="T22" fmla="*/ 4 w 27"/>
                  <a:gd name="T23" fmla="*/ 74 h 79"/>
                  <a:gd name="T24" fmla="*/ 9 w 27"/>
                  <a:gd name="T25" fmla="*/ 77 h 79"/>
                  <a:gd name="T26" fmla="*/ 14 w 27"/>
                  <a:gd name="T27" fmla="*/ 79 h 79"/>
                  <a:gd name="T28" fmla="*/ 17 w 27"/>
                  <a:gd name="T29" fmla="*/ 79 h 79"/>
                  <a:gd name="T30" fmla="*/ 22 w 27"/>
                  <a:gd name="T31" fmla="*/ 77 h 79"/>
                  <a:gd name="T32" fmla="*/ 27 w 27"/>
                  <a:gd name="T33" fmla="*/ 74 h 79"/>
                  <a:gd name="T34" fmla="*/ 27 w 27"/>
                  <a:gd name="T35" fmla="*/ 72 h 79"/>
                  <a:gd name="T36" fmla="*/ 27 w 27"/>
                  <a:gd name="T37" fmla="*/ 7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79">
                    <a:moveTo>
                      <a:pt x="27" y="7"/>
                    </a:moveTo>
                    <a:lnTo>
                      <a:pt x="27" y="4"/>
                    </a:lnTo>
                    <a:lnTo>
                      <a:pt x="27" y="2"/>
                    </a:lnTo>
                    <a:lnTo>
                      <a:pt x="22" y="0"/>
                    </a:lnTo>
                    <a:lnTo>
                      <a:pt x="17" y="0"/>
                    </a:lnTo>
                    <a:lnTo>
                      <a:pt x="14" y="0"/>
                    </a:lnTo>
                    <a:lnTo>
                      <a:pt x="9" y="0"/>
                    </a:lnTo>
                    <a:lnTo>
                      <a:pt x="4" y="2"/>
                    </a:lnTo>
                    <a:lnTo>
                      <a:pt x="0" y="4"/>
                    </a:lnTo>
                    <a:lnTo>
                      <a:pt x="0" y="69"/>
                    </a:lnTo>
                    <a:lnTo>
                      <a:pt x="0" y="72"/>
                    </a:lnTo>
                    <a:lnTo>
                      <a:pt x="4" y="74"/>
                    </a:lnTo>
                    <a:lnTo>
                      <a:pt x="9" y="77"/>
                    </a:lnTo>
                    <a:lnTo>
                      <a:pt x="14" y="79"/>
                    </a:lnTo>
                    <a:lnTo>
                      <a:pt x="17" y="79"/>
                    </a:lnTo>
                    <a:lnTo>
                      <a:pt x="22" y="77"/>
                    </a:lnTo>
                    <a:lnTo>
                      <a:pt x="27" y="74"/>
                    </a:lnTo>
                    <a:lnTo>
                      <a:pt x="27" y="72"/>
                    </a:lnTo>
                    <a:lnTo>
                      <a:pt x="27" y="7"/>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135" name="任意多边形 14481">
                <a:extLst>
                  <a:ext uri="{FF2B5EF4-FFF2-40B4-BE49-F238E27FC236}">
                    <a16:creationId xmlns="" xmlns:a16="http://schemas.microsoft.com/office/drawing/2014/main" id="{1E782671-F2C6-FF01-1018-4B15530B1ECC}"/>
                  </a:ext>
                </a:extLst>
              </p:cNvPr>
              <p:cNvSpPr>
                <a:spLocks noChangeArrowheads="1"/>
              </p:cNvSpPr>
              <p:nvPr/>
            </p:nvSpPr>
            <p:spPr bwMode="auto">
              <a:xfrm>
                <a:off x="2729" y="3653"/>
                <a:ext cx="11" cy="33"/>
              </a:xfrm>
              <a:custGeom>
                <a:avLst/>
                <a:gdLst>
                  <a:gd name="T0" fmla="*/ 27 w 27"/>
                  <a:gd name="T1" fmla="*/ 7 h 82"/>
                  <a:gd name="T2" fmla="*/ 27 w 27"/>
                  <a:gd name="T3" fmla="*/ 4 h 82"/>
                  <a:gd name="T4" fmla="*/ 27 w 27"/>
                  <a:gd name="T5" fmla="*/ 2 h 82"/>
                  <a:gd name="T6" fmla="*/ 22 w 27"/>
                  <a:gd name="T7" fmla="*/ 0 h 82"/>
                  <a:gd name="T8" fmla="*/ 17 w 27"/>
                  <a:gd name="T9" fmla="*/ 0 h 82"/>
                  <a:gd name="T10" fmla="*/ 14 w 27"/>
                  <a:gd name="T11" fmla="*/ 0 h 82"/>
                  <a:gd name="T12" fmla="*/ 9 w 27"/>
                  <a:gd name="T13" fmla="*/ 0 h 82"/>
                  <a:gd name="T14" fmla="*/ 4 w 27"/>
                  <a:gd name="T15" fmla="*/ 2 h 82"/>
                  <a:gd name="T16" fmla="*/ 0 w 27"/>
                  <a:gd name="T17" fmla="*/ 4 h 82"/>
                  <a:gd name="T18" fmla="*/ 0 w 27"/>
                  <a:gd name="T19" fmla="*/ 69 h 82"/>
                  <a:gd name="T20" fmla="*/ 0 w 27"/>
                  <a:gd name="T21" fmla="*/ 75 h 82"/>
                  <a:gd name="T22" fmla="*/ 4 w 27"/>
                  <a:gd name="T23" fmla="*/ 77 h 82"/>
                  <a:gd name="T24" fmla="*/ 9 w 27"/>
                  <a:gd name="T25" fmla="*/ 79 h 82"/>
                  <a:gd name="T26" fmla="*/ 14 w 27"/>
                  <a:gd name="T27" fmla="*/ 82 h 82"/>
                  <a:gd name="T28" fmla="*/ 17 w 27"/>
                  <a:gd name="T29" fmla="*/ 82 h 82"/>
                  <a:gd name="T30" fmla="*/ 22 w 27"/>
                  <a:gd name="T31" fmla="*/ 79 h 82"/>
                  <a:gd name="T32" fmla="*/ 27 w 27"/>
                  <a:gd name="T33" fmla="*/ 77 h 82"/>
                  <a:gd name="T34" fmla="*/ 27 w 27"/>
                  <a:gd name="T35" fmla="*/ 75 h 82"/>
                  <a:gd name="T36" fmla="*/ 27 w 27"/>
                  <a:gd name="T37" fmla="*/ 7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82">
                    <a:moveTo>
                      <a:pt x="27" y="7"/>
                    </a:moveTo>
                    <a:lnTo>
                      <a:pt x="27" y="4"/>
                    </a:lnTo>
                    <a:lnTo>
                      <a:pt x="27" y="2"/>
                    </a:lnTo>
                    <a:lnTo>
                      <a:pt x="22" y="0"/>
                    </a:lnTo>
                    <a:lnTo>
                      <a:pt x="17" y="0"/>
                    </a:lnTo>
                    <a:lnTo>
                      <a:pt x="14" y="0"/>
                    </a:lnTo>
                    <a:lnTo>
                      <a:pt x="9" y="0"/>
                    </a:lnTo>
                    <a:lnTo>
                      <a:pt x="4" y="2"/>
                    </a:lnTo>
                    <a:lnTo>
                      <a:pt x="0" y="4"/>
                    </a:lnTo>
                    <a:lnTo>
                      <a:pt x="0" y="69"/>
                    </a:lnTo>
                    <a:lnTo>
                      <a:pt x="0" y="75"/>
                    </a:lnTo>
                    <a:lnTo>
                      <a:pt x="4" y="77"/>
                    </a:lnTo>
                    <a:lnTo>
                      <a:pt x="9" y="79"/>
                    </a:lnTo>
                    <a:lnTo>
                      <a:pt x="14" y="82"/>
                    </a:lnTo>
                    <a:lnTo>
                      <a:pt x="17" y="82"/>
                    </a:lnTo>
                    <a:lnTo>
                      <a:pt x="22" y="79"/>
                    </a:lnTo>
                    <a:lnTo>
                      <a:pt x="27" y="77"/>
                    </a:lnTo>
                    <a:lnTo>
                      <a:pt x="27" y="75"/>
                    </a:lnTo>
                    <a:lnTo>
                      <a:pt x="27" y="7"/>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grpSp>
        <p:sp>
          <p:nvSpPr>
            <p:cNvPr id="14" name="矩形 14482">
              <a:extLst>
                <a:ext uri="{FF2B5EF4-FFF2-40B4-BE49-F238E27FC236}">
                  <a16:creationId xmlns="" xmlns:a16="http://schemas.microsoft.com/office/drawing/2014/main" id="{6A2B7071-144B-988B-3A63-A3A19606B94D}"/>
                </a:ext>
              </a:extLst>
            </p:cNvPr>
            <p:cNvSpPr>
              <a:spLocks noChangeArrowheads="1"/>
            </p:cNvSpPr>
            <p:nvPr/>
          </p:nvSpPr>
          <p:spPr bwMode="auto">
            <a:xfrm>
              <a:off x="1088" y="1298"/>
              <a:ext cx="182" cy="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schemeClr val="tx1"/>
                </a:solidFill>
              </a:endParaRPr>
            </a:p>
          </p:txBody>
        </p:sp>
        <p:sp>
          <p:nvSpPr>
            <p:cNvPr id="15" name="矩形 14483">
              <a:extLst>
                <a:ext uri="{FF2B5EF4-FFF2-40B4-BE49-F238E27FC236}">
                  <a16:creationId xmlns="" xmlns:a16="http://schemas.microsoft.com/office/drawing/2014/main" id="{107A0374-B420-33DF-A89D-21D887746C8A}"/>
                </a:ext>
              </a:extLst>
            </p:cNvPr>
            <p:cNvSpPr>
              <a:spLocks noChangeArrowheads="1"/>
            </p:cNvSpPr>
            <p:nvPr/>
          </p:nvSpPr>
          <p:spPr bwMode="auto">
            <a:xfrm>
              <a:off x="1110" y="1302"/>
              <a:ext cx="43" cy="9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000" i="1">
                  <a:solidFill>
                    <a:schemeClr val="tx1"/>
                  </a:solidFill>
                  <a:latin typeface="Bookman Old Style" panose="02050604050505020204" pitchFamily="18" charset="0"/>
                </a:rPr>
                <a:t>v</a:t>
              </a:r>
              <a:endParaRPr lang="en-US" altLang="zh-CN" sz="1800" b="1">
                <a:solidFill>
                  <a:schemeClr val="tx1"/>
                </a:solidFill>
                <a:latin typeface="Tahoma" panose="020B0604030504040204" pitchFamily="34" charset="0"/>
              </a:endParaRPr>
            </a:p>
          </p:txBody>
        </p:sp>
        <p:sp>
          <p:nvSpPr>
            <p:cNvPr id="16" name="矩形 14484">
              <a:extLst>
                <a:ext uri="{FF2B5EF4-FFF2-40B4-BE49-F238E27FC236}">
                  <a16:creationId xmlns="" xmlns:a16="http://schemas.microsoft.com/office/drawing/2014/main" id="{CE72CC33-2F33-9DA7-2E1F-FB498E0F4249}"/>
                </a:ext>
              </a:extLst>
            </p:cNvPr>
            <p:cNvSpPr>
              <a:spLocks noChangeArrowheads="1"/>
            </p:cNvSpPr>
            <p:nvPr/>
          </p:nvSpPr>
          <p:spPr bwMode="auto">
            <a:xfrm>
              <a:off x="1182" y="1346"/>
              <a:ext cx="37" cy="5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600">
                  <a:solidFill>
                    <a:schemeClr val="tx1"/>
                  </a:solidFill>
                  <a:latin typeface="Symbol" panose="05050102010706020507" pitchFamily="18" charset="2"/>
                </a:rPr>
                <a:t>W</a:t>
              </a:r>
              <a:endParaRPr lang="en-US" altLang="zh-CN" sz="1800" b="1">
                <a:solidFill>
                  <a:schemeClr val="tx1"/>
                </a:solidFill>
                <a:latin typeface="Tahoma" panose="020B0604030504040204" pitchFamily="34" charset="0"/>
              </a:endParaRPr>
            </a:p>
          </p:txBody>
        </p:sp>
        <p:sp>
          <p:nvSpPr>
            <p:cNvPr id="17" name="直接连接符 14485">
              <a:extLst>
                <a:ext uri="{FF2B5EF4-FFF2-40B4-BE49-F238E27FC236}">
                  <a16:creationId xmlns="" xmlns:a16="http://schemas.microsoft.com/office/drawing/2014/main" id="{36202D34-6A83-7E79-4451-79F447E5F94B}"/>
                </a:ext>
              </a:extLst>
            </p:cNvPr>
            <p:cNvSpPr>
              <a:spLocks noChangeShapeType="1"/>
            </p:cNvSpPr>
            <p:nvPr/>
          </p:nvSpPr>
          <p:spPr bwMode="auto">
            <a:xfrm>
              <a:off x="1295" y="1622"/>
              <a:ext cx="1847" cy="1"/>
            </a:xfrm>
            <a:prstGeom prst="line">
              <a:avLst/>
            </a:prstGeom>
            <a:noFill/>
            <a:ln w="17526">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solidFill>
                  <a:schemeClr val="tx1"/>
                </a:solidFill>
              </a:endParaRPr>
            </a:p>
          </p:txBody>
        </p:sp>
        <p:sp>
          <p:nvSpPr>
            <p:cNvPr id="18" name="任意多边形 14486">
              <a:extLst>
                <a:ext uri="{FF2B5EF4-FFF2-40B4-BE49-F238E27FC236}">
                  <a16:creationId xmlns="" xmlns:a16="http://schemas.microsoft.com/office/drawing/2014/main" id="{B70E3BD3-801B-ECFA-09F0-9351450105FC}"/>
                </a:ext>
              </a:extLst>
            </p:cNvPr>
            <p:cNvSpPr>
              <a:spLocks noChangeArrowheads="1"/>
            </p:cNvSpPr>
            <p:nvPr/>
          </p:nvSpPr>
          <p:spPr bwMode="auto">
            <a:xfrm>
              <a:off x="3111" y="1612"/>
              <a:ext cx="117" cy="19"/>
            </a:xfrm>
            <a:custGeom>
              <a:avLst/>
              <a:gdLst>
                <a:gd name="T0" fmla="*/ 292 w 292"/>
                <a:gd name="T1" fmla="*/ 27 h 47"/>
                <a:gd name="T2" fmla="*/ 0 w 292"/>
                <a:gd name="T3" fmla="*/ 47 h 47"/>
                <a:gd name="T4" fmla="*/ 0 w 292"/>
                <a:gd name="T5" fmla="*/ 0 h 47"/>
                <a:gd name="T6" fmla="*/ 292 w 292"/>
                <a:gd name="T7" fmla="*/ 27 h 47"/>
              </a:gdLst>
              <a:ahLst/>
              <a:cxnLst>
                <a:cxn ang="0">
                  <a:pos x="T0" y="T1"/>
                </a:cxn>
                <a:cxn ang="0">
                  <a:pos x="T2" y="T3"/>
                </a:cxn>
                <a:cxn ang="0">
                  <a:pos x="T4" y="T5"/>
                </a:cxn>
                <a:cxn ang="0">
                  <a:pos x="T6" y="T7"/>
                </a:cxn>
              </a:cxnLst>
              <a:rect l="0" t="0" r="r" b="b"/>
              <a:pathLst>
                <a:path w="292" h="47">
                  <a:moveTo>
                    <a:pt x="292" y="27"/>
                  </a:moveTo>
                  <a:lnTo>
                    <a:pt x="0" y="47"/>
                  </a:lnTo>
                  <a:lnTo>
                    <a:pt x="0" y="0"/>
                  </a:lnTo>
                  <a:lnTo>
                    <a:pt x="292" y="27"/>
                  </a:lnTo>
                  <a:close/>
                </a:path>
              </a:pathLst>
            </a:custGeom>
            <a:solidFill>
              <a:schemeClr val="hlink"/>
            </a:solidFill>
            <a:ln w="6350">
              <a:solidFill>
                <a:srgbClr val="000000"/>
              </a:solidFill>
              <a:round/>
              <a:headEnd/>
              <a:tailEnd/>
            </a:ln>
          </p:spPr>
          <p:txBody>
            <a:bodyPr/>
            <a:lstStyle/>
            <a:p>
              <a:endParaRPr lang="zh-CN" altLang="en-US">
                <a:solidFill>
                  <a:schemeClr val="tx1"/>
                </a:solidFill>
              </a:endParaRPr>
            </a:p>
          </p:txBody>
        </p:sp>
        <p:sp>
          <p:nvSpPr>
            <p:cNvPr id="19" name="直接连接符 14487">
              <a:extLst>
                <a:ext uri="{FF2B5EF4-FFF2-40B4-BE49-F238E27FC236}">
                  <a16:creationId xmlns="" xmlns:a16="http://schemas.microsoft.com/office/drawing/2014/main" id="{99CF5A44-64ED-742F-EAB2-561618E5CDBB}"/>
                </a:ext>
              </a:extLst>
            </p:cNvPr>
            <p:cNvSpPr>
              <a:spLocks noChangeShapeType="1"/>
            </p:cNvSpPr>
            <p:nvPr/>
          </p:nvSpPr>
          <p:spPr bwMode="auto">
            <a:xfrm flipV="1">
              <a:off x="1295" y="1355"/>
              <a:ext cx="1" cy="462"/>
            </a:xfrm>
            <a:prstGeom prst="line">
              <a:avLst/>
            </a:prstGeom>
            <a:noFill/>
            <a:ln w="17526">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solidFill>
                  <a:schemeClr val="tx1"/>
                </a:solidFill>
              </a:endParaRPr>
            </a:p>
          </p:txBody>
        </p:sp>
        <p:sp>
          <p:nvSpPr>
            <p:cNvPr id="20" name="任意多边形 14488">
              <a:extLst>
                <a:ext uri="{FF2B5EF4-FFF2-40B4-BE49-F238E27FC236}">
                  <a16:creationId xmlns="" xmlns:a16="http://schemas.microsoft.com/office/drawing/2014/main" id="{4472F754-F170-3580-456E-4100D7927F72}"/>
                </a:ext>
              </a:extLst>
            </p:cNvPr>
            <p:cNvSpPr>
              <a:spLocks noChangeArrowheads="1"/>
            </p:cNvSpPr>
            <p:nvPr/>
          </p:nvSpPr>
          <p:spPr bwMode="auto">
            <a:xfrm>
              <a:off x="1279" y="1296"/>
              <a:ext cx="31" cy="72"/>
            </a:xfrm>
            <a:custGeom>
              <a:avLst/>
              <a:gdLst>
                <a:gd name="T0" fmla="*/ 35 w 77"/>
                <a:gd name="T1" fmla="*/ 0 h 180"/>
                <a:gd name="T2" fmla="*/ 0 w 77"/>
                <a:gd name="T3" fmla="*/ 180 h 180"/>
                <a:gd name="T4" fmla="*/ 77 w 77"/>
                <a:gd name="T5" fmla="*/ 180 h 180"/>
                <a:gd name="T6" fmla="*/ 35 w 77"/>
                <a:gd name="T7" fmla="*/ 0 h 180"/>
              </a:gdLst>
              <a:ahLst/>
              <a:cxnLst>
                <a:cxn ang="0">
                  <a:pos x="T0" y="T1"/>
                </a:cxn>
                <a:cxn ang="0">
                  <a:pos x="T2" y="T3"/>
                </a:cxn>
                <a:cxn ang="0">
                  <a:pos x="T4" y="T5"/>
                </a:cxn>
                <a:cxn ang="0">
                  <a:pos x="T6" y="T7"/>
                </a:cxn>
              </a:cxnLst>
              <a:rect l="0" t="0" r="r" b="b"/>
              <a:pathLst>
                <a:path w="77" h="180">
                  <a:moveTo>
                    <a:pt x="35" y="0"/>
                  </a:moveTo>
                  <a:lnTo>
                    <a:pt x="0" y="180"/>
                  </a:lnTo>
                  <a:lnTo>
                    <a:pt x="77" y="180"/>
                  </a:lnTo>
                  <a:lnTo>
                    <a:pt x="35" y="0"/>
                  </a:lnTo>
                  <a:close/>
                </a:path>
              </a:pathLst>
            </a:custGeom>
            <a:solidFill>
              <a:schemeClr val="hlink"/>
            </a:solidFill>
            <a:ln w="6350">
              <a:solidFill>
                <a:srgbClr val="000000"/>
              </a:solidFill>
              <a:round/>
              <a:headEnd/>
              <a:tailEnd/>
            </a:ln>
          </p:spPr>
          <p:txBody>
            <a:bodyPr/>
            <a:lstStyle/>
            <a:p>
              <a:endParaRPr lang="zh-CN" altLang="en-US">
                <a:solidFill>
                  <a:schemeClr val="tx1"/>
                </a:solidFill>
              </a:endParaRPr>
            </a:p>
          </p:txBody>
        </p:sp>
        <p:sp>
          <p:nvSpPr>
            <p:cNvPr id="21" name="矩形 14489">
              <a:extLst>
                <a:ext uri="{FF2B5EF4-FFF2-40B4-BE49-F238E27FC236}">
                  <a16:creationId xmlns="" xmlns:a16="http://schemas.microsoft.com/office/drawing/2014/main" id="{EDA4CB45-BF00-11F0-831F-50F6BFEAE6CA}"/>
                </a:ext>
              </a:extLst>
            </p:cNvPr>
            <p:cNvSpPr>
              <a:spLocks noChangeArrowheads="1"/>
            </p:cNvSpPr>
            <p:nvPr/>
          </p:nvSpPr>
          <p:spPr bwMode="auto">
            <a:xfrm>
              <a:off x="3076" y="1640"/>
              <a:ext cx="180" cy="11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schemeClr val="tx1"/>
                </a:solidFill>
              </a:endParaRPr>
            </a:p>
          </p:txBody>
        </p:sp>
        <p:sp>
          <p:nvSpPr>
            <p:cNvPr id="22" name="矩形 14490">
              <a:extLst>
                <a:ext uri="{FF2B5EF4-FFF2-40B4-BE49-F238E27FC236}">
                  <a16:creationId xmlns="" xmlns:a16="http://schemas.microsoft.com/office/drawing/2014/main" id="{F578B6A1-6559-53BF-C7B4-2567011487CF}"/>
                </a:ext>
              </a:extLst>
            </p:cNvPr>
            <p:cNvSpPr>
              <a:spLocks noChangeArrowheads="1"/>
            </p:cNvSpPr>
            <p:nvPr/>
          </p:nvSpPr>
          <p:spPr bwMode="auto">
            <a:xfrm>
              <a:off x="3093" y="1639"/>
              <a:ext cx="61" cy="9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000">
                  <a:solidFill>
                    <a:schemeClr val="tx1"/>
                  </a:solidFill>
                  <a:latin typeface="Symbol" panose="05050102010706020507" pitchFamily="18" charset="2"/>
                </a:rPr>
                <a:t>W</a:t>
              </a:r>
              <a:endParaRPr lang="en-US" altLang="zh-CN" sz="1800" b="1">
                <a:solidFill>
                  <a:schemeClr val="tx1"/>
                </a:solidFill>
                <a:latin typeface="Tahoma" panose="020B0604030504040204" pitchFamily="34" charset="0"/>
              </a:endParaRPr>
            </a:p>
          </p:txBody>
        </p:sp>
        <p:sp>
          <p:nvSpPr>
            <p:cNvPr id="23" name="矩形 14491">
              <a:extLst>
                <a:ext uri="{FF2B5EF4-FFF2-40B4-BE49-F238E27FC236}">
                  <a16:creationId xmlns="" xmlns:a16="http://schemas.microsoft.com/office/drawing/2014/main" id="{25E86309-EC5F-E1EA-373F-29AEFC48C8B5}"/>
                </a:ext>
              </a:extLst>
            </p:cNvPr>
            <p:cNvSpPr>
              <a:spLocks noChangeArrowheads="1"/>
            </p:cNvSpPr>
            <p:nvPr/>
          </p:nvSpPr>
          <p:spPr bwMode="auto">
            <a:xfrm>
              <a:off x="3195" y="1648"/>
              <a:ext cx="27" cy="9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000">
                  <a:solidFill>
                    <a:schemeClr val="tx1"/>
                  </a:solidFill>
                </a:rPr>
                <a:t>t</a:t>
              </a:r>
              <a:endParaRPr lang="en-US" altLang="zh-CN" sz="1800" b="1">
                <a:solidFill>
                  <a:schemeClr val="tx1"/>
                </a:solidFill>
                <a:latin typeface="Tahoma" panose="020B0604030504040204" pitchFamily="34" charset="0"/>
              </a:endParaRPr>
            </a:p>
          </p:txBody>
        </p:sp>
        <p:grpSp>
          <p:nvGrpSpPr>
            <p:cNvPr id="24" name="组合 14492">
              <a:extLst>
                <a:ext uri="{FF2B5EF4-FFF2-40B4-BE49-F238E27FC236}">
                  <a16:creationId xmlns="" xmlns:a16="http://schemas.microsoft.com/office/drawing/2014/main" id="{ECBF8F85-B52C-F344-0355-32B1BC9E38C5}"/>
                </a:ext>
              </a:extLst>
            </p:cNvPr>
            <p:cNvGrpSpPr>
              <a:grpSpLocks/>
            </p:cNvGrpSpPr>
            <p:nvPr/>
          </p:nvGrpSpPr>
          <p:grpSpPr bwMode="auto">
            <a:xfrm>
              <a:off x="1316" y="1466"/>
              <a:ext cx="1697" cy="305"/>
              <a:chOff x="1316" y="1466"/>
              <a:chExt cx="1697" cy="305"/>
            </a:xfrm>
          </p:grpSpPr>
          <p:sp>
            <p:nvSpPr>
              <p:cNvPr id="86" name="任意多边形 14493">
                <a:extLst>
                  <a:ext uri="{FF2B5EF4-FFF2-40B4-BE49-F238E27FC236}">
                    <a16:creationId xmlns="" xmlns:a16="http://schemas.microsoft.com/office/drawing/2014/main" id="{8E64FA54-8185-35EC-2451-45C6225A3E33}"/>
                  </a:ext>
                </a:extLst>
              </p:cNvPr>
              <p:cNvSpPr>
                <a:spLocks noChangeArrowheads="1"/>
              </p:cNvSpPr>
              <p:nvPr/>
            </p:nvSpPr>
            <p:spPr bwMode="auto">
              <a:xfrm>
                <a:off x="1586" y="1614"/>
                <a:ext cx="590" cy="157"/>
              </a:xfrm>
              <a:custGeom>
                <a:avLst/>
                <a:gdLst>
                  <a:gd name="T0" fmla="*/ 35 w 1474"/>
                  <a:gd name="T1" fmla="*/ 0 h 392"/>
                  <a:gd name="T2" fmla="*/ 0 w 1474"/>
                  <a:gd name="T3" fmla="*/ 25 h 392"/>
                  <a:gd name="T4" fmla="*/ 87 w 1474"/>
                  <a:gd name="T5" fmla="*/ 92 h 392"/>
                  <a:gd name="T6" fmla="*/ 179 w 1474"/>
                  <a:gd name="T7" fmla="*/ 157 h 392"/>
                  <a:gd name="T8" fmla="*/ 266 w 1474"/>
                  <a:gd name="T9" fmla="*/ 217 h 392"/>
                  <a:gd name="T10" fmla="*/ 360 w 1474"/>
                  <a:gd name="T11" fmla="*/ 275 h 392"/>
                  <a:gd name="T12" fmla="*/ 446 w 1474"/>
                  <a:gd name="T13" fmla="*/ 320 h 392"/>
                  <a:gd name="T14" fmla="*/ 491 w 1474"/>
                  <a:gd name="T15" fmla="*/ 340 h 392"/>
                  <a:gd name="T16" fmla="*/ 499 w 1474"/>
                  <a:gd name="T17" fmla="*/ 342 h 392"/>
                  <a:gd name="T18" fmla="*/ 544 w 1474"/>
                  <a:gd name="T19" fmla="*/ 360 h 392"/>
                  <a:gd name="T20" fmla="*/ 591 w 1474"/>
                  <a:gd name="T21" fmla="*/ 372 h 392"/>
                  <a:gd name="T22" fmla="*/ 636 w 1474"/>
                  <a:gd name="T23" fmla="*/ 382 h 392"/>
                  <a:gd name="T24" fmla="*/ 679 w 1474"/>
                  <a:gd name="T25" fmla="*/ 389 h 392"/>
                  <a:gd name="T26" fmla="*/ 691 w 1474"/>
                  <a:gd name="T27" fmla="*/ 389 h 392"/>
                  <a:gd name="T28" fmla="*/ 736 w 1474"/>
                  <a:gd name="T29" fmla="*/ 392 h 392"/>
                  <a:gd name="T30" fmla="*/ 781 w 1474"/>
                  <a:gd name="T31" fmla="*/ 389 h 392"/>
                  <a:gd name="T32" fmla="*/ 794 w 1474"/>
                  <a:gd name="T33" fmla="*/ 389 h 392"/>
                  <a:gd name="T34" fmla="*/ 836 w 1474"/>
                  <a:gd name="T35" fmla="*/ 382 h 392"/>
                  <a:gd name="T36" fmla="*/ 881 w 1474"/>
                  <a:gd name="T37" fmla="*/ 372 h 392"/>
                  <a:gd name="T38" fmla="*/ 924 w 1474"/>
                  <a:gd name="T39" fmla="*/ 360 h 392"/>
                  <a:gd name="T40" fmla="*/ 969 w 1474"/>
                  <a:gd name="T41" fmla="*/ 342 h 392"/>
                  <a:gd name="T42" fmla="*/ 976 w 1474"/>
                  <a:gd name="T43" fmla="*/ 340 h 392"/>
                  <a:gd name="T44" fmla="*/ 1026 w 1474"/>
                  <a:gd name="T45" fmla="*/ 320 h 392"/>
                  <a:gd name="T46" fmla="*/ 1114 w 1474"/>
                  <a:gd name="T47" fmla="*/ 275 h 392"/>
                  <a:gd name="T48" fmla="*/ 1206 w 1474"/>
                  <a:gd name="T49" fmla="*/ 220 h 392"/>
                  <a:gd name="T50" fmla="*/ 1294 w 1474"/>
                  <a:gd name="T51" fmla="*/ 159 h 392"/>
                  <a:gd name="T52" fmla="*/ 1386 w 1474"/>
                  <a:gd name="T53" fmla="*/ 92 h 392"/>
                  <a:gd name="T54" fmla="*/ 1474 w 1474"/>
                  <a:gd name="T55" fmla="*/ 27 h 392"/>
                  <a:gd name="T56" fmla="*/ 1439 w 1474"/>
                  <a:gd name="T57" fmla="*/ 2 h 392"/>
                  <a:gd name="T58" fmla="*/ 1346 w 1474"/>
                  <a:gd name="T59" fmla="*/ 67 h 392"/>
                  <a:gd name="T60" fmla="*/ 1254 w 1474"/>
                  <a:gd name="T61" fmla="*/ 135 h 392"/>
                  <a:gd name="T62" fmla="*/ 1166 w 1474"/>
                  <a:gd name="T63" fmla="*/ 194 h 392"/>
                  <a:gd name="T64" fmla="*/ 1074 w 1474"/>
                  <a:gd name="T65" fmla="*/ 249 h 392"/>
                  <a:gd name="T66" fmla="*/ 986 w 1474"/>
                  <a:gd name="T67" fmla="*/ 297 h 392"/>
                  <a:gd name="T68" fmla="*/ 939 w 1474"/>
                  <a:gd name="T69" fmla="*/ 314 h 392"/>
                  <a:gd name="T70" fmla="*/ 959 w 1474"/>
                  <a:gd name="T71" fmla="*/ 330 h 392"/>
                  <a:gd name="T72" fmla="*/ 946 w 1474"/>
                  <a:gd name="T73" fmla="*/ 312 h 392"/>
                  <a:gd name="T74" fmla="*/ 904 w 1474"/>
                  <a:gd name="T75" fmla="*/ 330 h 392"/>
                  <a:gd name="T76" fmla="*/ 859 w 1474"/>
                  <a:gd name="T77" fmla="*/ 342 h 392"/>
                  <a:gd name="T78" fmla="*/ 816 w 1474"/>
                  <a:gd name="T79" fmla="*/ 352 h 392"/>
                  <a:gd name="T80" fmla="*/ 771 w 1474"/>
                  <a:gd name="T81" fmla="*/ 360 h 392"/>
                  <a:gd name="T82" fmla="*/ 781 w 1474"/>
                  <a:gd name="T83" fmla="*/ 372 h 392"/>
                  <a:gd name="T84" fmla="*/ 781 w 1474"/>
                  <a:gd name="T85" fmla="*/ 357 h 392"/>
                  <a:gd name="T86" fmla="*/ 736 w 1474"/>
                  <a:gd name="T87" fmla="*/ 360 h 392"/>
                  <a:gd name="T88" fmla="*/ 691 w 1474"/>
                  <a:gd name="T89" fmla="*/ 357 h 392"/>
                  <a:gd name="T90" fmla="*/ 691 w 1474"/>
                  <a:gd name="T91" fmla="*/ 372 h 392"/>
                  <a:gd name="T92" fmla="*/ 701 w 1474"/>
                  <a:gd name="T93" fmla="*/ 360 h 392"/>
                  <a:gd name="T94" fmla="*/ 656 w 1474"/>
                  <a:gd name="T95" fmla="*/ 352 h 392"/>
                  <a:gd name="T96" fmla="*/ 614 w 1474"/>
                  <a:gd name="T97" fmla="*/ 342 h 392"/>
                  <a:gd name="T98" fmla="*/ 566 w 1474"/>
                  <a:gd name="T99" fmla="*/ 330 h 392"/>
                  <a:gd name="T100" fmla="*/ 521 w 1474"/>
                  <a:gd name="T101" fmla="*/ 312 h 392"/>
                  <a:gd name="T102" fmla="*/ 511 w 1474"/>
                  <a:gd name="T103" fmla="*/ 327 h 392"/>
                  <a:gd name="T104" fmla="*/ 529 w 1474"/>
                  <a:gd name="T105" fmla="*/ 314 h 392"/>
                  <a:gd name="T106" fmla="*/ 486 w 1474"/>
                  <a:gd name="T107" fmla="*/ 297 h 392"/>
                  <a:gd name="T108" fmla="*/ 399 w 1474"/>
                  <a:gd name="T109" fmla="*/ 249 h 392"/>
                  <a:gd name="T110" fmla="*/ 306 w 1474"/>
                  <a:gd name="T111" fmla="*/ 192 h 392"/>
                  <a:gd name="T112" fmla="*/ 220 w 1474"/>
                  <a:gd name="T113" fmla="*/ 132 h 392"/>
                  <a:gd name="T114" fmla="*/ 127 w 1474"/>
                  <a:gd name="T115" fmla="*/ 67 h 392"/>
                  <a:gd name="T116" fmla="*/ 35 w 1474"/>
                  <a:gd name="T117" fmla="*/ 0 h 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474" h="392">
                    <a:moveTo>
                      <a:pt x="35" y="0"/>
                    </a:moveTo>
                    <a:lnTo>
                      <a:pt x="0" y="25"/>
                    </a:lnTo>
                    <a:lnTo>
                      <a:pt x="87" y="92"/>
                    </a:lnTo>
                    <a:lnTo>
                      <a:pt x="179" y="157"/>
                    </a:lnTo>
                    <a:lnTo>
                      <a:pt x="266" y="217"/>
                    </a:lnTo>
                    <a:lnTo>
                      <a:pt x="360" y="275"/>
                    </a:lnTo>
                    <a:lnTo>
                      <a:pt x="446" y="320"/>
                    </a:lnTo>
                    <a:lnTo>
                      <a:pt x="491" y="340"/>
                    </a:lnTo>
                    <a:lnTo>
                      <a:pt x="499" y="342"/>
                    </a:lnTo>
                    <a:lnTo>
                      <a:pt x="544" y="360"/>
                    </a:lnTo>
                    <a:lnTo>
                      <a:pt x="591" y="372"/>
                    </a:lnTo>
                    <a:lnTo>
                      <a:pt x="636" y="382"/>
                    </a:lnTo>
                    <a:lnTo>
                      <a:pt x="679" y="389"/>
                    </a:lnTo>
                    <a:lnTo>
                      <a:pt x="691" y="389"/>
                    </a:lnTo>
                    <a:lnTo>
                      <a:pt x="736" y="392"/>
                    </a:lnTo>
                    <a:lnTo>
                      <a:pt x="781" y="389"/>
                    </a:lnTo>
                    <a:lnTo>
                      <a:pt x="794" y="389"/>
                    </a:lnTo>
                    <a:lnTo>
                      <a:pt x="836" y="382"/>
                    </a:lnTo>
                    <a:lnTo>
                      <a:pt x="881" y="372"/>
                    </a:lnTo>
                    <a:lnTo>
                      <a:pt x="924" y="360"/>
                    </a:lnTo>
                    <a:lnTo>
                      <a:pt x="969" y="342"/>
                    </a:lnTo>
                    <a:lnTo>
                      <a:pt x="976" y="340"/>
                    </a:lnTo>
                    <a:lnTo>
                      <a:pt x="1026" y="320"/>
                    </a:lnTo>
                    <a:lnTo>
                      <a:pt x="1114" y="275"/>
                    </a:lnTo>
                    <a:lnTo>
                      <a:pt x="1206" y="220"/>
                    </a:lnTo>
                    <a:lnTo>
                      <a:pt x="1294" y="159"/>
                    </a:lnTo>
                    <a:lnTo>
                      <a:pt x="1386" y="92"/>
                    </a:lnTo>
                    <a:lnTo>
                      <a:pt x="1474" y="27"/>
                    </a:lnTo>
                    <a:lnTo>
                      <a:pt x="1439" y="2"/>
                    </a:lnTo>
                    <a:lnTo>
                      <a:pt x="1346" y="67"/>
                    </a:lnTo>
                    <a:lnTo>
                      <a:pt x="1254" y="135"/>
                    </a:lnTo>
                    <a:lnTo>
                      <a:pt x="1166" y="194"/>
                    </a:lnTo>
                    <a:lnTo>
                      <a:pt x="1074" y="249"/>
                    </a:lnTo>
                    <a:lnTo>
                      <a:pt x="986" y="297"/>
                    </a:lnTo>
                    <a:lnTo>
                      <a:pt x="939" y="314"/>
                    </a:lnTo>
                    <a:lnTo>
                      <a:pt x="959" y="330"/>
                    </a:lnTo>
                    <a:lnTo>
                      <a:pt x="946" y="312"/>
                    </a:lnTo>
                    <a:lnTo>
                      <a:pt x="904" y="330"/>
                    </a:lnTo>
                    <a:lnTo>
                      <a:pt x="859" y="342"/>
                    </a:lnTo>
                    <a:lnTo>
                      <a:pt x="816" y="352"/>
                    </a:lnTo>
                    <a:lnTo>
                      <a:pt x="771" y="360"/>
                    </a:lnTo>
                    <a:lnTo>
                      <a:pt x="781" y="372"/>
                    </a:lnTo>
                    <a:lnTo>
                      <a:pt x="781" y="357"/>
                    </a:lnTo>
                    <a:lnTo>
                      <a:pt x="736" y="360"/>
                    </a:lnTo>
                    <a:lnTo>
                      <a:pt x="691" y="357"/>
                    </a:lnTo>
                    <a:lnTo>
                      <a:pt x="691" y="372"/>
                    </a:lnTo>
                    <a:lnTo>
                      <a:pt x="701" y="360"/>
                    </a:lnTo>
                    <a:lnTo>
                      <a:pt x="656" y="352"/>
                    </a:lnTo>
                    <a:lnTo>
                      <a:pt x="614" y="342"/>
                    </a:lnTo>
                    <a:lnTo>
                      <a:pt x="566" y="330"/>
                    </a:lnTo>
                    <a:lnTo>
                      <a:pt x="521" y="312"/>
                    </a:lnTo>
                    <a:lnTo>
                      <a:pt x="511" y="327"/>
                    </a:lnTo>
                    <a:lnTo>
                      <a:pt x="529" y="314"/>
                    </a:lnTo>
                    <a:lnTo>
                      <a:pt x="486" y="297"/>
                    </a:lnTo>
                    <a:lnTo>
                      <a:pt x="399" y="249"/>
                    </a:lnTo>
                    <a:lnTo>
                      <a:pt x="306" y="192"/>
                    </a:lnTo>
                    <a:lnTo>
                      <a:pt x="220" y="132"/>
                    </a:lnTo>
                    <a:lnTo>
                      <a:pt x="127" y="67"/>
                    </a:lnTo>
                    <a:lnTo>
                      <a:pt x="35" y="0"/>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87" name="任意多边形 14494">
                <a:extLst>
                  <a:ext uri="{FF2B5EF4-FFF2-40B4-BE49-F238E27FC236}">
                    <a16:creationId xmlns="" xmlns:a16="http://schemas.microsoft.com/office/drawing/2014/main" id="{6A4148CA-61F5-9734-ED75-D7840F46D805}"/>
                  </a:ext>
                </a:extLst>
              </p:cNvPr>
              <p:cNvSpPr>
                <a:spLocks noChangeArrowheads="1"/>
              </p:cNvSpPr>
              <p:nvPr/>
            </p:nvSpPr>
            <p:spPr bwMode="auto">
              <a:xfrm>
                <a:off x="2160" y="1472"/>
                <a:ext cx="590" cy="157"/>
              </a:xfrm>
              <a:custGeom>
                <a:avLst/>
                <a:gdLst>
                  <a:gd name="T0" fmla="*/ 0 w 1475"/>
                  <a:gd name="T1" fmla="*/ 369 h 392"/>
                  <a:gd name="T2" fmla="*/ 34 w 1475"/>
                  <a:gd name="T3" fmla="*/ 392 h 392"/>
                  <a:gd name="T4" fmla="*/ 127 w 1475"/>
                  <a:gd name="T5" fmla="*/ 324 h 392"/>
                  <a:gd name="T6" fmla="*/ 214 w 1475"/>
                  <a:gd name="T7" fmla="*/ 257 h 392"/>
                  <a:gd name="T8" fmla="*/ 307 w 1475"/>
                  <a:gd name="T9" fmla="*/ 197 h 392"/>
                  <a:gd name="T10" fmla="*/ 394 w 1475"/>
                  <a:gd name="T11" fmla="*/ 139 h 392"/>
                  <a:gd name="T12" fmla="*/ 482 w 1475"/>
                  <a:gd name="T13" fmla="*/ 94 h 392"/>
                  <a:gd name="T14" fmla="*/ 529 w 1475"/>
                  <a:gd name="T15" fmla="*/ 74 h 392"/>
                  <a:gd name="T16" fmla="*/ 509 w 1475"/>
                  <a:gd name="T17" fmla="*/ 64 h 392"/>
                  <a:gd name="T18" fmla="*/ 522 w 1475"/>
                  <a:gd name="T19" fmla="*/ 77 h 392"/>
                  <a:gd name="T20" fmla="*/ 564 w 1475"/>
                  <a:gd name="T21" fmla="*/ 62 h 392"/>
                  <a:gd name="T22" fmla="*/ 609 w 1475"/>
                  <a:gd name="T23" fmla="*/ 47 h 392"/>
                  <a:gd name="T24" fmla="*/ 652 w 1475"/>
                  <a:gd name="T25" fmla="*/ 39 h 392"/>
                  <a:gd name="T26" fmla="*/ 697 w 1475"/>
                  <a:gd name="T27" fmla="*/ 32 h 392"/>
                  <a:gd name="T28" fmla="*/ 687 w 1475"/>
                  <a:gd name="T29" fmla="*/ 17 h 392"/>
                  <a:gd name="T30" fmla="*/ 687 w 1475"/>
                  <a:gd name="T31" fmla="*/ 35 h 392"/>
                  <a:gd name="T32" fmla="*/ 732 w 1475"/>
                  <a:gd name="T33" fmla="*/ 32 h 392"/>
                  <a:gd name="T34" fmla="*/ 777 w 1475"/>
                  <a:gd name="T35" fmla="*/ 35 h 392"/>
                  <a:gd name="T36" fmla="*/ 777 w 1475"/>
                  <a:gd name="T37" fmla="*/ 17 h 392"/>
                  <a:gd name="T38" fmla="*/ 767 w 1475"/>
                  <a:gd name="T39" fmla="*/ 32 h 392"/>
                  <a:gd name="T40" fmla="*/ 812 w 1475"/>
                  <a:gd name="T41" fmla="*/ 37 h 392"/>
                  <a:gd name="T42" fmla="*/ 854 w 1475"/>
                  <a:gd name="T43" fmla="*/ 47 h 392"/>
                  <a:gd name="T44" fmla="*/ 902 w 1475"/>
                  <a:gd name="T45" fmla="*/ 62 h 392"/>
                  <a:gd name="T46" fmla="*/ 947 w 1475"/>
                  <a:gd name="T47" fmla="*/ 77 h 392"/>
                  <a:gd name="T48" fmla="*/ 959 w 1475"/>
                  <a:gd name="T49" fmla="*/ 62 h 392"/>
                  <a:gd name="T50" fmla="*/ 937 w 1475"/>
                  <a:gd name="T51" fmla="*/ 74 h 392"/>
                  <a:gd name="T52" fmla="*/ 982 w 1475"/>
                  <a:gd name="T53" fmla="*/ 94 h 392"/>
                  <a:gd name="T54" fmla="*/ 1074 w 1475"/>
                  <a:gd name="T55" fmla="*/ 139 h 392"/>
                  <a:gd name="T56" fmla="*/ 1167 w 1475"/>
                  <a:gd name="T57" fmla="*/ 194 h 392"/>
                  <a:gd name="T58" fmla="*/ 1254 w 1475"/>
                  <a:gd name="T59" fmla="*/ 255 h 392"/>
                  <a:gd name="T60" fmla="*/ 1347 w 1475"/>
                  <a:gd name="T61" fmla="*/ 322 h 392"/>
                  <a:gd name="T62" fmla="*/ 1439 w 1475"/>
                  <a:gd name="T63" fmla="*/ 389 h 392"/>
                  <a:gd name="T64" fmla="*/ 1475 w 1475"/>
                  <a:gd name="T65" fmla="*/ 364 h 392"/>
                  <a:gd name="T66" fmla="*/ 1384 w 1475"/>
                  <a:gd name="T67" fmla="*/ 297 h 392"/>
                  <a:gd name="T68" fmla="*/ 1294 w 1475"/>
                  <a:gd name="T69" fmla="*/ 230 h 392"/>
                  <a:gd name="T70" fmla="*/ 1207 w 1475"/>
                  <a:gd name="T71" fmla="*/ 169 h 392"/>
                  <a:gd name="T72" fmla="*/ 1114 w 1475"/>
                  <a:gd name="T73" fmla="*/ 114 h 392"/>
                  <a:gd name="T74" fmla="*/ 1022 w 1475"/>
                  <a:gd name="T75" fmla="*/ 70 h 392"/>
                  <a:gd name="T76" fmla="*/ 977 w 1475"/>
                  <a:gd name="T77" fmla="*/ 49 h 392"/>
                  <a:gd name="T78" fmla="*/ 969 w 1475"/>
                  <a:gd name="T79" fmla="*/ 47 h 392"/>
                  <a:gd name="T80" fmla="*/ 924 w 1475"/>
                  <a:gd name="T81" fmla="*/ 32 h 392"/>
                  <a:gd name="T82" fmla="*/ 877 w 1475"/>
                  <a:gd name="T83" fmla="*/ 17 h 392"/>
                  <a:gd name="T84" fmla="*/ 832 w 1475"/>
                  <a:gd name="T85" fmla="*/ 7 h 392"/>
                  <a:gd name="T86" fmla="*/ 789 w 1475"/>
                  <a:gd name="T87" fmla="*/ 2 h 392"/>
                  <a:gd name="T88" fmla="*/ 777 w 1475"/>
                  <a:gd name="T89" fmla="*/ 2 h 392"/>
                  <a:gd name="T90" fmla="*/ 732 w 1475"/>
                  <a:gd name="T91" fmla="*/ 0 h 392"/>
                  <a:gd name="T92" fmla="*/ 687 w 1475"/>
                  <a:gd name="T93" fmla="*/ 2 h 392"/>
                  <a:gd name="T94" fmla="*/ 674 w 1475"/>
                  <a:gd name="T95" fmla="*/ 2 h 392"/>
                  <a:gd name="T96" fmla="*/ 632 w 1475"/>
                  <a:gd name="T97" fmla="*/ 9 h 392"/>
                  <a:gd name="T98" fmla="*/ 587 w 1475"/>
                  <a:gd name="T99" fmla="*/ 17 h 392"/>
                  <a:gd name="T100" fmla="*/ 544 w 1475"/>
                  <a:gd name="T101" fmla="*/ 32 h 392"/>
                  <a:gd name="T102" fmla="*/ 499 w 1475"/>
                  <a:gd name="T103" fmla="*/ 47 h 392"/>
                  <a:gd name="T104" fmla="*/ 492 w 1475"/>
                  <a:gd name="T105" fmla="*/ 49 h 392"/>
                  <a:gd name="T106" fmla="*/ 442 w 1475"/>
                  <a:gd name="T107" fmla="*/ 70 h 392"/>
                  <a:gd name="T108" fmla="*/ 354 w 1475"/>
                  <a:gd name="T109" fmla="*/ 114 h 392"/>
                  <a:gd name="T110" fmla="*/ 267 w 1475"/>
                  <a:gd name="T111" fmla="*/ 172 h 392"/>
                  <a:gd name="T112" fmla="*/ 174 w 1475"/>
                  <a:gd name="T113" fmla="*/ 232 h 392"/>
                  <a:gd name="T114" fmla="*/ 87 w 1475"/>
                  <a:gd name="T115" fmla="*/ 299 h 392"/>
                  <a:gd name="T116" fmla="*/ 0 w 1475"/>
                  <a:gd name="T117" fmla="*/ 369 h 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475" h="392">
                    <a:moveTo>
                      <a:pt x="0" y="369"/>
                    </a:moveTo>
                    <a:lnTo>
                      <a:pt x="34" y="392"/>
                    </a:lnTo>
                    <a:lnTo>
                      <a:pt x="127" y="324"/>
                    </a:lnTo>
                    <a:lnTo>
                      <a:pt x="214" y="257"/>
                    </a:lnTo>
                    <a:lnTo>
                      <a:pt x="307" y="197"/>
                    </a:lnTo>
                    <a:lnTo>
                      <a:pt x="394" y="139"/>
                    </a:lnTo>
                    <a:lnTo>
                      <a:pt x="482" y="94"/>
                    </a:lnTo>
                    <a:lnTo>
                      <a:pt x="529" y="74"/>
                    </a:lnTo>
                    <a:lnTo>
                      <a:pt x="509" y="64"/>
                    </a:lnTo>
                    <a:lnTo>
                      <a:pt x="522" y="77"/>
                    </a:lnTo>
                    <a:lnTo>
                      <a:pt x="564" y="62"/>
                    </a:lnTo>
                    <a:lnTo>
                      <a:pt x="609" y="47"/>
                    </a:lnTo>
                    <a:lnTo>
                      <a:pt x="652" y="39"/>
                    </a:lnTo>
                    <a:lnTo>
                      <a:pt x="697" y="32"/>
                    </a:lnTo>
                    <a:lnTo>
                      <a:pt x="687" y="17"/>
                    </a:lnTo>
                    <a:lnTo>
                      <a:pt x="687" y="35"/>
                    </a:lnTo>
                    <a:lnTo>
                      <a:pt x="732" y="32"/>
                    </a:lnTo>
                    <a:lnTo>
                      <a:pt x="777" y="35"/>
                    </a:lnTo>
                    <a:lnTo>
                      <a:pt x="777" y="17"/>
                    </a:lnTo>
                    <a:lnTo>
                      <a:pt x="767" y="32"/>
                    </a:lnTo>
                    <a:lnTo>
                      <a:pt x="812" y="37"/>
                    </a:lnTo>
                    <a:lnTo>
                      <a:pt x="854" y="47"/>
                    </a:lnTo>
                    <a:lnTo>
                      <a:pt x="902" y="62"/>
                    </a:lnTo>
                    <a:lnTo>
                      <a:pt x="947" y="77"/>
                    </a:lnTo>
                    <a:lnTo>
                      <a:pt x="959" y="62"/>
                    </a:lnTo>
                    <a:lnTo>
                      <a:pt x="937" y="74"/>
                    </a:lnTo>
                    <a:lnTo>
                      <a:pt x="982" y="94"/>
                    </a:lnTo>
                    <a:lnTo>
                      <a:pt x="1074" y="139"/>
                    </a:lnTo>
                    <a:lnTo>
                      <a:pt x="1167" y="194"/>
                    </a:lnTo>
                    <a:lnTo>
                      <a:pt x="1254" y="255"/>
                    </a:lnTo>
                    <a:lnTo>
                      <a:pt x="1347" y="322"/>
                    </a:lnTo>
                    <a:lnTo>
                      <a:pt x="1439" y="389"/>
                    </a:lnTo>
                    <a:lnTo>
                      <a:pt x="1475" y="364"/>
                    </a:lnTo>
                    <a:lnTo>
                      <a:pt x="1384" y="297"/>
                    </a:lnTo>
                    <a:lnTo>
                      <a:pt x="1294" y="230"/>
                    </a:lnTo>
                    <a:lnTo>
                      <a:pt x="1207" y="169"/>
                    </a:lnTo>
                    <a:lnTo>
                      <a:pt x="1114" y="114"/>
                    </a:lnTo>
                    <a:lnTo>
                      <a:pt x="1022" y="70"/>
                    </a:lnTo>
                    <a:lnTo>
                      <a:pt x="977" y="49"/>
                    </a:lnTo>
                    <a:lnTo>
                      <a:pt x="969" y="47"/>
                    </a:lnTo>
                    <a:lnTo>
                      <a:pt x="924" y="32"/>
                    </a:lnTo>
                    <a:lnTo>
                      <a:pt x="877" y="17"/>
                    </a:lnTo>
                    <a:lnTo>
                      <a:pt x="832" y="7"/>
                    </a:lnTo>
                    <a:lnTo>
                      <a:pt x="789" y="2"/>
                    </a:lnTo>
                    <a:lnTo>
                      <a:pt x="777" y="2"/>
                    </a:lnTo>
                    <a:lnTo>
                      <a:pt x="732" y="0"/>
                    </a:lnTo>
                    <a:lnTo>
                      <a:pt x="687" y="2"/>
                    </a:lnTo>
                    <a:lnTo>
                      <a:pt x="674" y="2"/>
                    </a:lnTo>
                    <a:lnTo>
                      <a:pt x="632" y="9"/>
                    </a:lnTo>
                    <a:lnTo>
                      <a:pt x="587" y="17"/>
                    </a:lnTo>
                    <a:lnTo>
                      <a:pt x="544" y="32"/>
                    </a:lnTo>
                    <a:lnTo>
                      <a:pt x="499" y="47"/>
                    </a:lnTo>
                    <a:lnTo>
                      <a:pt x="492" y="49"/>
                    </a:lnTo>
                    <a:lnTo>
                      <a:pt x="442" y="70"/>
                    </a:lnTo>
                    <a:lnTo>
                      <a:pt x="354" y="114"/>
                    </a:lnTo>
                    <a:lnTo>
                      <a:pt x="267" y="172"/>
                    </a:lnTo>
                    <a:lnTo>
                      <a:pt x="174" y="232"/>
                    </a:lnTo>
                    <a:lnTo>
                      <a:pt x="87" y="299"/>
                    </a:lnTo>
                    <a:lnTo>
                      <a:pt x="0" y="369"/>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88" name="任意多边形 14495">
                <a:extLst>
                  <a:ext uri="{FF2B5EF4-FFF2-40B4-BE49-F238E27FC236}">
                    <a16:creationId xmlns="" xmlns:a16="http://schemas.microsoft.com/office/drawing/2014/main" id="{37F35043-D2D0-74FE-AD40-2BFF0324AEE2}"/>
                  </a:ext>
                </a:extLst>
              </p:cNvPr>
              <p:cNvSpPr>
                <a:spLocks noChangeArrowheads="1"/>
              </p:cNvSpPr>
              <p:nvPr/>
            </p:nvSpPr>
            <p:spPr bwMode="auto">
              <a:xfrm>
                <a:off x="1316" y="1466"/>
                <a:ext cx="298" cy="169"/>
              </a:xfrm>
              <a:custGeom>
                <a:avLst/>
                <a:gdLst>
                  <a:gd name="T0" fmla="*/ 710 w 745"/>
                  <a:gd name="T1" fmla="*/ 422 h 422"/>
                  <a:gd name="T2" fmla="*/ 745 w 745"/>
                  <a:gd name="T3" fmla="*/ 397 h 422"/>
                  <a:gd name="T4" fmla="*/ 626 w 745"/>
                  <a:gd name="T5" fmla="*/ 307 h 422"/>
                  <a:gd name="T6" fmla="*/ 506 w 745"/>
                  <a:gd name="T7" fmla="*/ 222 h 422"/>
                  <a:gd name="T8" fmla="*/ 451 w 745"/>
                  <a:gd name="T9" fmla="*/ 182 h 422"/>
                  <a:gd name="T10" fmla="*/ 399 w 745"/>
                  <a:gd name="T11" fmla="*/ 147 h 422"/>
                  <a:gd name="T12" fmla="*/ 347 w 745"/>
                  <a:gd name="T13" fmla="*/ 115 h 422"/>
                  <a:gd name="T14" fmla="*/ 296 w 745"/>
                  <a:gd name="T15" fmla="*/ 87 h 422"/>
                  <a:gd name="T16" fmla="*/ 279 w 745"/>
                  <a:gd name="T17" fmla="*/ 100 h 422"/>
                  <a:gd name="T18" fmla="*/ 296 w 745"/>
                  <a:gd name="T19" fmla="*/ 90 h 422"/>
                  <a:gd name="T20" fmla="*/ 256 w 745"/>
                  <a:gd name="T21" fmla="*/ 64 h 422"/>
                  <a:gd name="T22" fmla="*/ 220 w 745"/>
                  <a:gd name="T23" fmla="*/ 50 h 422"/>
                  <a:gd name="T24" fmla="*/ 210 w 745"/>
                  <a:gd name="T25" fmla="*/ 47 h 422"/>
                  <a:gd name="T26" fmla="*/ 169 w 745"/>
                  <a:gd name="T27" fmla="*/ 32 h 422"/>
                  <a:gd name="T28" fmla="*/ 139 w 745"/>
                  <a:gd name="T29" fmla="*/ 25 h 422"/>
                  <a:gd name="T30" fmla="*/ 74 w 745"/>
                  <a:gd name="T31" fmla="*/ 12 h 422"/>
                  <a:gd name="T32" fmla="*/ 7 w 745"/>
                  <a:gd name="T33" fmla="*/ 0 h 422"/>
                  <a:gd name="T34" fmla="*/ 0 w 745"/>
                  <a:gd name="T35" fmla="*/ 32 h 422"/>
                  <a:gd name="T36" fmla="*/ 52 w 745"/>
                  <a:gd name="T37" fmla="*/ 42 h 422"/>
                  <a:gd name="T38" fmla="*/ 117 w 745"/>
                  <a:gd name="T39" fmla="*/ 55 h 422"/>
                  <a:gd name="T40" fmla="*/ 149 w 745"/>
                  <a:gd name="T41" fmla="*/ 62 h 422"/>
                  <a:gd name="T42" fmla="*/ 187 w 745"/>
                  <a:gd name="T43" fmla="*/ 77 h 422"/>
                  <a:gd name="T44" fmla="*/ 197 w 745"/>
                  <a:gd name="T45" fmla="*/ 62 h 422"/>
                  <a:gd name="T46" fmla="*/ 180 w 745"/>
                  <a:gd name="T47" fmla="*/ 74 h 422"/>
                  <a:gd name="T48" fmla="*/ 220 w 745"/>
                  <a:gd name="T49" fmla="*/ 90 h 422"/>
                  <a:gd name="T50" fmla="*/ 266 w 745"/>
                  <a:gd name="T51" fmla="*/ 115 h 422"/>
                  <a:gd name="T52" fmla="*/ 307 w 745"/>
                  <a:gd name="T53" fmla="*/ 139 h 422"/>
                  <a:gd name="T54" fmla="*/ 360 w 745"/>
                  <a:gd name="T55" fmla="*/ 172 h 422"/>
                  <a:gd name="T56" fmla="*/ 412 w 745"/>
                  <a:gd name="T57" fmla="*/ 207 h 422"/>
                  <a:gd name="T58" fmla="*/ 470 w 745"/>
                  <a:gd name="T59" fmla="*/ 247 h 422"/>
                  <a:gd name="T60" fmla="*/ 587 w 745"/>
                  <a:gd name="T61" fmla="*/ 332 h 422"/>
                  <a:gd name="T62" fmla="*/ 710 w 745"/>
                  <a:gd name="T63" fmla="*/ 422 h 4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745" h="422">
                    <a:moveTo>
                      <a:pt x="710" y="422"/>
                    </a:moveTo>
                    <a:lnTo>
                      <a:pt x="745" y="397"/>
                    </a:lnTo>
                    <a:lnTo>
                      <a:pt x="626" y="307"/>
                    </a:lnTo>
                    <a:lnTo>
                      <a:pt x="506" y="222"/>
                    </a:lnTo>
                    <a:lnTo>
                      <a:pt x="451" y="182"/>
                    </a:lnTo>
                    <a:lnTo>
                      <a:pt x="399" y="147"/>
                    </a:lnTo>
                    <a:lnTo>
                      <a:pt x="347" y="115"/>
                    </a:lnTo>
                    <a:lnTo>
                      <a:pt x="296" y="87"/>
                    </a:lnTo>
                    <a:lnTo>
                      <a:pt x="279" y="100"/>
                    </a:lnTo>
                    <a:lnTo>
                      <a:pt x="296" y="90"/>
                    </a:lnTo>
                    <a:lnTo>
                      <a:pt x="256" y="64"/>
                    </a:lnTo>
                    <a:lnTo>
                      <a:pt x="220" y="50"/>
                    </a:lnTo>
                    <a:lnTo>
                      <a:pt x="210" y="47"/>
                    </a:lnTo>
                    <a:lnTo>
                      <a:pt x="169" y="32"/>
                    </a:lnTo>
                    <a:lnTo>
                      <a:pt x="139" y="25"/>
                    </a:lnTo>
                    <a:lnTo>
                      <a:pt x="74" y="12"/>
                    </a:lnTo>
                    <a:lnTo>
                      <a:pt x="7" y="0"/>
                    </a:lnTo>
                    <a:lnTo>
                      <a:pt x="0" y="32"/>
                    </a:lnTo>
                    <a:lnTo>
                      <a:pt x="52" y="42"/>
                    </a:lnTo>
                    <a:lnTo>
                      <a:pt x="117" y="55"/>
                    </a:lnTo>
                    <a:lnTo>
                      <a:pt x="149" y="62"/>
                    </a:lnTo>
                    <a:lnTo>
                      <a:pt x="187" y="77"/>
                    </a:lnTo>
                    <a:lnTo>
                      <a:pt x="197" y="62"/>
                    </a:lnTo>
                    <a:lnTo>
                      <a:pt x="180" y="74"/>
                    </a:lnTo>
                    <a:lnTo>
                      <a:pt x="220" y="90"/>
                    </a:lnTo>
                    <a:lnTo>
                      <a:pt x="266" y="115"/>
                    </a:lnTo>
                    <a:lnTo>
                      <a:pt x="307" y="139"/>
                    </a:lnTo>
                    <a:lnTo>
                      <a:pt x="360" y="172"/>
                    </a:lnTo>
                    <a:lnTo>
                      <a:pt x="412" y="207"/>
                    </a:lnTo>
                    <a:lnTo>
                      <a:pt x="470" y="247"/>
                    </a:lnTo>
                    <a:lnTo>
                      <a:pt x="587" y="332"/>
                    </a:lnTo>
                    <a:lnTo>
                      <a:pt x="710" y="422"/>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89" name="任意多边形 14496">
                <a:extLst>
                  <a:ext uri="{FF2B5EF4-FFF2-40B4-BE49-F238E27FC236}">
                    <a16:creationId xmlns="" xmlns:a16="http://schemas.microsoft.com/office/drawing/2014/main" id="{906F60A9-5EE0-18E6-8860-8A9A3F7D23C2}"/>
                  </a:ext>
                </a:extLst>
              </p:cNvPr>
              <p:cNvSpPr>
                <a:spLocks noChangeArrowheads="1"/>
              </p:cNvSpPr>
              <p:nvPr/>
            </p:nvSpPr>
            <p:spPr bwMode="auto">
              <a:xfrm>
                <a:off x="2714" y="1603"/>
                <a:ext cx="299" cy="168"/>
              </a:xfrm>
              <a:custGeom>
                <a:avLst/>
                <a:gdLst>
                  <a:gd name="T0" fmla="*/ 37 w 747"/>
                  <a:gd name="T1" fmla="*/ 0 h 419"/>
                  <a:gd name="T2" fmla="*/ 0 w 747"/>
                  <a:gd name="T3" fmla="*/ 25 h 419"/>
                  <a:gd name="T4" fmla="*/ 119 w 747"/>
                  <a:gd name="T5" fmla="*/ 114 h 419"/>
                  <a:gd name="T6" fmla="*/ 237 w 747"/>
                  <a:gd name="T7" fmla="*/ 199 h 419"/>
                  <a:gd name="T8" fmla="*/ 290 w 747"/>
                  <a:gd name="T9" fmla="*/ 240 h 419"/>
                  <a:gd name="T10" fmla="*/ 347 w 747"/>
                  <a:gd name="T11" fmla="*/ 274 h 419"/>
                  <a:gd name="T12" fmla="*/ 395 w 747"/>
                  <a:gd name="T13" fmla="*/ 306 h 419"/>
                  <a:gd name="T14" fmla="*/ 447 w 747"/>
                  <a:gd name="T15" fmla="*/ 334 h 419"/>
                  <a:gd name="T16" fmla="*/ 487 w 747"/>
                  <a:gd name="T17" fmla="*/ 356 h 419"/>
                  <a:gd name="T18" fmla="*/ 527 w 747"/>
                  <a:gd name="T19" fmla="*/ 371 h 419"/>
                  <a:gd name="T20" fmla="*/ 537 w 747"/>
                  <a:gd name="T21" fmla="*/ 374 h 419"/>
                  <a:gd name="T22" fmla="*/ 572 w 747"/>
                  <a:gd name="T23" fmla="*/ 389 h 419"/>
                  <a:gd name="T24" fmla="*/ 607 w 747"/>
                  <a:gd name="T25" fmla="*/ 396 h 419"/>
                  <a:gd name="T26" fmla="*/ 672 w 747"/>
                  <a:gd name="T27" fmla="*/ 409 h 419"/>
                  <a:gd name="T28" fmla="*/ 680 w 747"/>
                  <a:gd name="T29" fmla="*/ 409 h 419"/>
                  <a:gd name="T30" fmla="*/ 737 w 747"/>
                  <a:gd name="T31" fmla="*/ 419 h 419"/>
                  <a:gd name="T32" fmla="*/ 747 w 747"/>
                  <a:gd name="T33" fmla="*/ 386 h 419"/>
                  <a:gd name="T34" fmla="*/ 680 w 747"/>
                  <a:gd name="T35" fmla="*/ 376 h 419"/>
                  <a:gd name="T36" fmla="*/ 680 w 747"/>
                  <a:gd name="T37" fmla="*/ 394 h 419"/>
                  <a:gd name="T38" fmla="*/ 695 w 747"/>
                  <a:gd name="T39" fmla="*/ 379 h 419"/>
                  <a:gd name="T40" fmla="*/ 627 w 747"/>
                  <a:gd name="T41" fmla="*/ 366 h 419"/>
                  <a:gd name="T42" fmla="*/ 592 w 747"/>
                  <a:gd name="T43" fmla="*/ 360 h 419"/>
                  <a:gd name="T44" fmla="*/ 557 w 747"/>
                  <a:gd name="T45" fmla="*/ 344 h 419"/>
                  <a:gd name="T46" fmla="*/ 545 w 747"/>
                  <a:gd name="T47" fmla="*/ 360 h 419"/>
                  <a:gd name="T48" fmla="*/ 567 w 747"/>
                  <a:gd name="T49" fmla="*/ 346 h 419"/>
                  <a:gd name="T50" fmla="*/ 527 w 747"/>
                  <a:gd name="T51" fmla="*/ 331 h 419"/>
                  <a:gd name="T52" fmla="*/ 480 w 747"/>
                  <a:gd name="T53" fmla="*/ 306 h 419"/>
                  <a:gd name="T54" fmla="*/ 462 w 747"/>
                  <a:gd name="T55" fmla="*/ 321 h 419"/>
                  <a:gd name="T56" fmla="*/ 480 w 747"/>
                  <a:gd name="T57" fmla="*/ 309 h 419"/>
                  <a:gd name="T58" fmla="*/ 435 w 747"/>
                  <a:gd name="T59" fmla="*/ 281 h 419"/>
                  <a:gd name="T60" fmla="*/ 387 w 747"/>
                  <a:gd name="T61" fmla="*/ 248 h 419"/>
                  <a:gd name="T62" fmla="*/ 330 w 747"/>
                  <a:gd name="T63" fmla="*/ 214 h 419"/>
                  <a:gd name="T64" fmla="*/ 277 w 747"/>
                  <a:gd name="T65" fmla="*/ 175 h 419"/>
                  <a:gd name="T66" fmla="*/ 160 w 747"/>
                  <a:gd name="T67" fmla="*/ 90 h 419"/>
                  <a:gd name="T68" fmla="*/ 37 w 747"/>
                  <a:gd name="T69" fmla="*/ 0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47" h="419">
                    <a:moveTo>
                      <a:pt x="37" y="0"/>
                    </a:moveTo>
                    <a:lnTo>
                      <a:pt x="0" y="25"/>
                    </a:lnTo>
                    <a:lnTo>
                      <a:pt x="119" y="114"/>
                    </a:lnTo>
                    <a:lnTo>
                      <a:pt x="237" y="199"/>
                    </a:lnTo>
                    <a:lnTo>
                      <a:pt x="290" y="240"/>
                    </a:lnTo>
                    <a:lnTo>
                      <a:pt x="347" y="274"/>
                    </a:lnTo>
                    <a:lnTo>
                      <a:pt x="395" y="306"/>
                    </a:lnTo>
                    <a:lnTo>
                      <a:pt x="447" y="334"/>
                    </a:lnTo>
                    <a:lnTo>
                      <a:pt x="487" y="356"/>
                    </a:lnTo>
                    <a:lnTo>
                      <a:pt x="527" y="371"/>
                    </a:lnTo>
                    <a:lnTo>
                      <a:pt x="537" y="374"/>
                    </a:lnTo>
                    <a:lnTo>
                      <a:pt x="572" y="389"/>
                    </a:lnTo>
                    <a:lnTo>
                      <a:pt x="607" y="396"/>
                    </a:lnTo>
                    <a:lnTo>
                      <a:pt x="672" y="409"/>
                    </a:lnTo>
                    <a:lnTo>
                      <a:pt x="680" y="409"/>
                    </a:lnTo>
                    <a:lnTo>
                      <a:pt x="737" y="419"/>
                    </a:lnTo>
                    <a:lnTo>
                      <a:pt x="747" y="386"/>
                    </a:lnTo>
                    <a:lnTo>
                      <a:pt x="680" y="376"/>
                    </a:lnTo>
                    <a:lnTo>
                      <a:pt x="680" y="394"/>
                    </a:lnTo>
                    <a:lnTo>
                      <a:pt x="695" y="379"/>
                    </a:lnTo>
                    <a:lnTo>
                      <a:pt x="627" y="366"/>
                    </a:lnTo>
                    <a:lnTo>
                      <a:pt x="592" y="360"/>
                    </a:lnTo>
                    <a:lnTo>
                      <a:pt x="557" y="344"/>
                    </a:lnTo>
                    <a:lnTo>
                      <a:pt x="545" y="360"/>
                    </a:lnTo>
                    <a:lnTo>
                      <a:pt x="567" y="346"/>
                    </a:lnTo>
                    <a:lnTo>
                      <a:pt x="527" y="331"/>
                    </a:lnTo>
                    <a:lnTo>
                      <a:pt x="480" y="306"/>
                    </a:lnTo>
                    <a:lnTo>
                      <a:pt x="462" y="321"/>
                    </a:lnTo>
                    <a:lnTo>
                      <a:pt x="480" y="309"/>
                    </a:lnTo>
                    <a:lnTo>
                      <a:pt x="435" y="281"/>
                    </a:lnTo>
                    <a:lnTo>
                      <a:pt x="387" y="248"/>
                    </a:lnTo>
                    <a:lnTo>
                      <a:pt x="330" y="214"/>
                    </a:lnTo>
                    <a:lnTo>
                      <a:pt x="277" y="175"/>
                    </a:lnTo>
                    <a:lnTo>
                      <a:pt x="160" y="90"/>
                    </a:lnTo>
                    <a:lnTo>
                      <a:pt x="37" y="0"/>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grpSp>
        <p:sp>
          <p:nvSpPr>
            <p:cNvPr id="25" name="矩形 14497">
              <a:extLst>
                <a:ext uri="{FF2B5EF4-FFF2-40B4-BE49-F238E27FC236}">
                  <a16:creationId xmlns="" xmlns:a16="http://schemas.microsoft.com/office/drawing/2014/main" id="{996D6892-EC33-D81C-EEC7-940EA39D416D}"/>
                </a:ext>
              </a:extLst>
            </p:cNvPr>
            <p:cNvSpPr>
              <a:spLocks noChangeArrowheads="1"/>
            </p:cNvSpPr>
            <p:nvPr/>
          </p:nvSpPr>
          <p:spPr bwMode="auto">
            <a:xfrm>
              <a:off x="1088" y="1588"/>
              <a:ext cx="182"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schemeClr val="tx1"/>
                </a:solidFill>
              </a:endParaRPr>
            </a:p>
          </p:txBody>
        </p:sp>
        <p:sp>
          <p:nvSpPr>
            <p:cNvPr id="26" name="矩形 14498">
              <a:extLst>
                <a:ext uri="{FF2B5EF4-FFF2-40B4-BE49-F238E27FC236}">
                  <a16:creationId xmlns="" xmlns:a16="http://schemas.microsoft.com/office/drawing/2014/main" id="{5E603E5A-04AF-A56C-8E16-229E76A36FBE}"/>
                </a:ext>
              </a:extLst>
            </p:cNvPr>
            <p:cNvSpPr>
              <a:spLocks noChangeArrowheads="1"/>
            </p:cNvSpPr>
            <p:nvPr/>
          </p:nvSpPr>
          <p:spPr bwMode="auto">
            <a:xfrm>
              <a:off x="1144" y="1589"/>
              <a:ext cx="44" cy="9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000">
                  <a:solidFill>
                    <a:schemeClr val="tx1"/>
                  </a:solidFill>
                </a:rPr>
                <a:t>0</a:t>
              </a:r>
              <a:endParaRPr lang="en-US" altLang="zh-CN" sz="1800" b="1">
                <a:solidFill>
                  <a:schemeClr val="tx1"/>
                </a:solidFill>
                <a:latin typeface="Tahoma" panose="020B0604030504040204" pitchFamily="34" charset="0"/>
              </a:endParaRPr>
            </a:p>
          </p:txBody>
        </p:sp>
        <p:sp>
          <p:nvSpPr>
            <p:cNvPr id="27" name="矩形 14499">
              <a:extLst>
                <a:ext uri="{FF2B5EF4-FFF2-40B4-BE49-F238E27FC236}">
                  <a16:creationId xmlns="" xmlns:a16="http://schemas.microsoft.com/office/drawing/2014/main" id="{88A99442-FC47-7EE9-1BF2-0EBDFEEEFA01}"/>
                </a:ext>
              </a:extLst>
            </p:cNvPr>
            <p:cNvSpPr>
              <a:spLocks noChangeArrowheads="1"/>
            </p:cNvSpPr>
            <p:nvPr/>
          </p:nvSpPr>
          <p:spPr bwMode="auto">
            <a:xfrm>
              <a:off x="1349" y="1624"/>
              <a:ext cx="181" cy="11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schemeClr val="tx1"/>
                </a:solidFill>
              </a:endParaRPr>
            </a:p>
          </p:txBody>
        </p:sp>
        <p:sp>
          <p:nvSpPr>
            <p:cNvPr id="28" name="矩形 14500">
              <a:extLst>
                <a:ext uri="{FF2B5EF4-FFF2-40B4-BE49-F238E27FC236}">
                  <a16:creationId xmlns="" xmlns:a16="http://schemas.microsoft.com/office/drawing/2014/main" id="{E3D67DED-4690-2B7D-D0F5-2937375C6479}"/>
                </a:ext>
              </a:extLst>
            </p:cNvPr>
            <p:cNvSpPr>
              <a:spLocks noChangeArrowheads="1"/>
            </p:cNvSpPr>
            <p:nvPr/>
          </p:nvSpPr>
          <p:spPr bwMode="auto">
            <a:xfrm>
              <a:off x="1402" y="1624"/>
              <a:ext cx="44" cy="9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000">
                  <a:solidFill>
                    <a:schemeClr val="tx1"/>
                  </a:solidFill>
                  <a:latin typeface="Symbol" panose="05050102010706020507" pitchFamily="18" charset="2"/>
                </a:rPr>
                <a:t>p</a:t>
              </a:r>
              <a:endParaRPr lang="en-US" altLang="zh-CN" sz="1800" b="1">
                <a:solidFill>
                  <a:schemeClr val="tx1"/>
                </a:solidFill>
                <a:latin typeface="Tahoma" panose="020B0604030504040204" pitchFamily="34" charset="0"/>
              </a:endParaRPr>
            </a:p>
          </p:txBody>
        </p:sp>
        <p:sp>
          <p:nvSpPr>
            <p:cNvPr id="29" name="矩形 14501">
              <a:extLst>
                <a:ext uri="{FF2B5EF4-FFF2-40B4-BE49-F238E27FC236}">
                  <a16:creationId xmlns="" xmlns:a16="http://schemas.microsoft.com/office/drawing/2014/main" id="{5F525302-BB21-4B77-3813-9BF64EBFBA65}"/>
                </a:ext>
              </a:extLst>
            </p:cNvPr>
            <p:cNvSpPr>
              <a:spLocks noChangeArrowheads="1"/>
            </p:cNvSpPr>
            <p:nvPr/>
          </p:nvSpPr>
          <p:spPr bwMode="auto">
            <a:xfrm>
              <a:off x="1349" y="1726"/>
              <a:ext cx="181" cy="11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schemeClr val="tx1"/>
                </a:solidFill>
              </a:endParaRPr>
            </a:p>
          </p:txBody>
        </p:sp>
        <p:sp>
          <p:nvSpPr>
            <p:cNvPr id="30" name="矩形 14502">
              <a:extLst>
                <a:ext uri="{FF2B5EF4-FFF2-40B4-BE49-F238E27FC236}">
                  <a16:creationId xmlns="" xmlns:a16="http://schemas.microsoft.com/office/drawing/2014/main" id="{06EA8813-7638-8B16-EE22-FE75B5083A2C}"/>
                </a:ext>
              </a:extLst>
            </p:cNvPr>
            <p:cNvSpPr>
              <a:spLocks noChangeArrowheads="1"/>
            </p:cNvSpPr>
            <p:nvPr/>
          </p:nvSpPr>
          <p:spPr bwMode="auto">
            <a:xfrm>
              <a:off x="1403" y="1729"/>
              <a:ext cx="44" cy="9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000">
                  <a:solidFill>
                    <a:schemeClr val="tx1"/>
                  </a:solidFill>
                </a:rPr>
                <a:t>2</a:t>
              </a:r>
              <a:endParaRPr lang="en-US" altLang="zh-CN" sz="1800" b="1">
                <a:solidFill>
                  <a:schemeClr val="tx1"/>
                </a:solidFill>
                <a:latin typeface="Tahoma" panose="020B0604030504040204" pitchFamily="34" charset="0"/>
              </a:endParaRPr>
            </a:p>
          </p:txBody>
        </p:sp>
        <p:sp>
          <p:nvSpPr>
            <p:cNvPr id="31" name="直接连接符 14503">
              <a:extLst>
                <a:ext uri="{FF2B5EF4-FFF2-40B4-BE49-F238E27FC236}">
                  <a16:creationId xmlns="" xmlns:a16="http://schemas.microsoft.com/office/drawing/2014/main" id="{5519316E-4C37-6455-A72D-7967C574EF48}"/>
                </a:ext>
              </a:extLst>
            </p:cNvPr>
            <p:cNvSpPr>
              <a:spLocks noChangeShapeType="1"/>
            </p:cNvSpPr>
            <p:nvPr/>
          </p:nvSpPr>
          <p:spPr bwMode="auto">
            <a:xfrm>
              <a:off x="1351" y="1728"/>
              <a:ext cx="152" cy="1"/>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solidFill>
                  <a:schemeClr val="tx1"/>
                </a:solidFill>
              </a:endParaRPr>
            </a:p>
          </p:txBody>
        </p:sp>
        <p:sp>
          <p:nvSpPr>
            <p:cNvPr id="32" name="矩形 14504">
              <a:extLst>
                <a:ext uri="{FF2B5EF4-FFF2-40B4-BE49-F238E27FC236}">
                  <a16:creationId xmlns="" xmlns:a16="http://schemas.microsoft.com/office/drawing/2014/main" id="{A4E1E1A4-B859-6F60-DC25-77FB45F68A0F}"/>
                </a:ext>
              </a:extLst>
            </p:cNvPr>
            <p:cNvSpPr>
              <a:spLocks noChangeArrowheads="1"/>
            </p:cNvSpPr>
            <p:nvPr/>
          </p:nvSpPr>
          <p:spPr bwMode="auto">
            <a:xfrm>
              <a:off x="1781" y="1626"/>
              <a:ext cx="180" cy="11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schemeClr val="tx1"/>
                </a:solidFill>
              </a:endParaRPr>
            </a:p>
          </p:txBody>
        </p:sp>
        <p:sp>
          <p:nvSpPr>
            <p:cNvPr id="33" name="矩形 14505">
              <a:extLst>
                <a:ext uri="{FF2B5EF4-FFF2-40B4-BE49-F238E27FC236}">
                  <a16:creationId xmlns="" xmlns:a16="http://schemas.microsoft.com/office/drawing/2014/main" id="{4AF3CDD3-2DB2-D0E5-B312-F1C9FB071AA4}"/>
                </a:ext>
              </a:extLst>
            </p:cNvPr>
            <p:cNvSpPr>
              <a:spLocks noChangeArrowheads="1"/>
            </p:cNvSpPr>
            <p:nvPr/>
          </p:nvSpPr>
          <p:spPr bwMode="auto">
            <a:xfrm>
              <a:off x="1833" y="1626"/>
              <a:ext cx="44" cy="9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000">
                  <a:solidFill>
                    <a:schemeClr val="tx1"/>
                  </a:solidFill>
                  <a:latin typeface="Symbol" panose="05050102010706020507" pitchFamily="18" charset="2"/>
                </a:rPr>
                <a:t>p</a:t>
              </a:r>
              <a:endParaRPr lang="en-US" altLang="zh-CN" sz="1800" b="1">
                <a:solidFill>
                  <a:schemeClr val="tx1"/>
                </a:solidFill>
                <a:latin typeface="Tahoma" panose="020B0604030504040204" pitchFamily="34" charset="0"/>
              </a:endParaRPr>
            </a:p>
          </p:txBody>
        </p:sp>
        <p:sp>
          <p:nvSpPr>
            <p:cNvPr id="34" name="矩形 14506">
              <a:extLst>
                <a:ext uri="{FF2B5EF4-FFF2-40B4-BE49-F238E27FC236}">
                  <a16:creationId xmlns="" xmlns:a16="http://schemas.microsoft.com/office/drawing/2014/main" id="{CD02597B-43CB-2655-8EA1-FF65CBE115AC}"/>
                </a:ext>
              </a:extLst>
            </p:cNvPr>
            <p:cNvSpPr>
              <a:spLocks noChangeArrowheads="1"/>
            </p:cNvSpPr>
            <p:nvPr/>
          </p:nvSpPr>
          <p:spPr bwMode="auto">
            <a:xfrm>
              <a:off x="2332" y="1626"/>
              <a:ext cx="180" cy="11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schemeClr val="tx1"/>
                </a:solidFill>
              </a:endParaRPr>
            </a:p>
          </p:txBody>
        </p:sp>
        <p:sp>
          <p:nvSpPr>
            <p:cNvPr id="35" name="矩形 14507">
              <a:extLst>
                <a:ext uri="{FF2B5EF4-FFF2-40B4-BE49-F238E27FC236}">
                  <a16:creationId xmlns="" xmlns:a16="http://schemas.microsoft.com/office/drawing/2014/main" id="{9FD69285-4B4C-C65F-EE3A-D82D3955CC06}"/>
                </a:ext>
              </a:extLst>
            </p:cNvPr>
            <p:cNvSpPr>
              <a:spLocks noChangeArrowheads="1"/>
            </p:cNvSpPr>
            <p:nvPr/>
          </p:nvSpPr>
          <p:spPr bwMode="auto">
            <a:xfrm>
              <a:off x="2353" y="1626"/>
              <a:ext cx="84" cy="9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000">
                  <a:solidFill>
                    <a:schemeClr val="tx1"/>
                  </a:solidFill>
                  <a:latin typeface="Symbol" panose="05050102010706020507" pitchFamily="18" charset="2"/>
                </a:rPr>
                <a:t>2p</a:t>
              </a:r>
              <a:endParaRPr lang="en-US" altLang="zh-CN" sz="1800" b="1">
                <a:solidFill>
                  <a:schemeClr val="tx1"/>
                </a:solidFill>
                <a:latin typeface="Tahoma" panose="020B0604030504040204" pitchFamily="34" charset="0"/>
              </a:endParaRPr>
            </a:p>
          </p:txBody>
        </p:sp>
        <p:sp>
          <p:nvSpPr>
            <p:cNvPr id="36" name="直接连接符 14508">
              <a:extLst>
                <a:ext uri="{FF2B5EF4-FFF2-40B4-BE49-F238E27FC236}">
                  <a16:creationId xmlns="" xmlns:a16="http://schemas.microsoft.com/office/drawing/2014/main" id="{82F8366A-4082-05E2-5677-9B6B4C14FF3E}"/>
                </a:ext>
              </a:extLst>
            </p:cNvPr>
            <p:cNvSpPr>
              <a:spLocks noChangeShapeType="1"/>
            </p:cNvSpPr>
            <p:nvPr/>
          </p:nvSpPr>
          <p:spPr bwMode="auto">
            <a:xfrm>
              <a:off x="1300" y="2242"/>
              <a:ext cx="1890" cy="1"/>
            </a:xfrm>
            <a:prstGeom prst="line">
              <a:avLst/>
            </a:prstGeom>
            <a:noFill/>
            <a:ln w="17526">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solidFill>
                  <a:schemeClr val="tx1"/>
                </a:solidFill>
              </a:endParaRPr>
            </a:p>
          </p:txBody>
        </p:sp>
        <p:sp>
          <p:nvSpPr>
            <p:cNvPr id="37" name="任意多边形 14509">
              <a:extLst>
                <a:ext uri="{FF2B5EF4-FFF2-40B4-BE49-F238E27FC236}">
                  <a16:creationId xmlns="" xmlns:a16="http://schemas.microsoft.com/office/drawing/2014/main" id="{15488756-1A72-65FB-7DBC-9D68E2FED530}"/>
                </a:ext>
              </a:extLst>
            </p:cNvPr>
            <p:cNvSpPr>
              <a:spLocks noChangeArrowheads="1"/>
            </p:cNvSpPr>
            <p:nvPr/>
          </p:nvSpPr>
          <p:spPr bwMode="auto">
            <a:xfrm>
              <a:off x="3143" y="2235"/>
              <a:ext cx="116" cy="21"/>
            </a:xfrm>
            <a:custGeom>
              <a:avLst/>
              <a:gdLst>
                <a:gd name="T0" fmla="*/ 290 w 290"/>
                <a:gd name="T1" fmla="*/ 27 h 52"/>
                <a:gd name="T2" fmla="*/ 0 w 290"/>
                <a:gd name="T3" fmla="*/ 52 h 52"/>
                <a:gd name="T4" fmla="*/ 0 w 290"/>
                <a:gd name="T5" fmla="*/ 0 h 52"/>
                <a:gd name="T6" fmla="*/ 290 w 290"/>
                <a:gd name="T7" fmla="*/ 27 h 52"/>
              </a:gdLst>
              <a:ahLst/>
              <a:cxnLst>
                <a:cxn ang="0">
                  <a:pos x="T0" y="T1"/>
                </a:cxn>
                <a:cxn ang="0">
                  <a:pos x="T2" y="T3"/>
                </a:cxn>
                <a:cxn ang="0">
                  <a:pos x="T4" y="T5"/>
                </a:cxn>
                <a:cxn ang="0">
                  <a:pos x="T6" y="T7"/>
                </a:cxn>
              </a:cxnLst>
              <a:rect l="0" t="0" r="r" b="b"/>
              <a:pathLst>
                <a:path w="290" h="52">
                  <a:moveTo>
                    <a:pt x="290" y="27"/>
                  </a:moveTo>
                  <a:lnTo>
                    <a:pt x="0" y="52"/>
                  </a:lnTo>
                  <a:lnTo>
                    <a:pt x="0" y="0"/>
                  </a:lnTo>
                  <a:lnTo>
                    <a:pt x="290" y="27"/>
                  </a:lnTo>
                  <a:close/>
                </a:path>
              </a:pathLst>
            </a:custGeom>
            <a:solidFill>
              <a:schemeClr val="bg1"/>
            </a:solidFill>
            <a:ln w="6350">
              <a:solidFill>
                <a:srgbClr val="000000"/>
              </a:solidFill>
              <a:round/>
              <a:headEnd/>
              <a:tailEnd/>
            </a:ln>
          </p:spPr>
          <p:txBody>
            <a:bodyPr/>
            <a:lstStyle/>
            <a:p>
              <a:endParaRPr lang="zh-CN" altLang="en-US">
                <a:solidFill>
                  <a:schemeClr val="tx1"/>
                </a:solidFill>
              </a:endParaRPr>
            </a:p>
          </p:txBody>
        </p:sp>
        <p:sp>
          <p:nvSpPr>
            <p:cNvPr id="38" name="直接连接符 14510">
              <a:extLst>
                <a:ext uri="{FF2B5EF4-FFF2-40B4-BE49-F238E27FC236}">
                  <a16:creationId xmlns="" xmlns:a16="http://schemas.microsoft.com/office/drawing/2014/main" id="{D1EEB749-96C9-0F13-14D0-50C41F413585}"/>
                </a:ext>
              </a:extLst>
            </p:cNvPr>
            <p:cNvSpPr>
              <a:spLocks noChangeShapeType="1"/>
            </p:cNvSpPr>
            <p:nvPr/>
          </p:nvSpPr>
          <p:spPr bwMode="auto">
            <a:xfrm flipV="1">
              <a:off x="1300" y="2004"/>
              <a:ext cx="1" cy="408"/>
            </a:xfrm>
            <a:prstGeom prst="line">
              <a:avLst/>
            </a:prstGeom>
            <a:noFill/>
            <a:ln w="17526">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solidFill>
                  <a:schemeClr val="tx1"/>
                </a:solidFill>
              </a:endParaRPr>
            </a:p>
          </p:txBody>
        </p:sp>
        <p:sp>
          <p:nvSpPr>
            <p:cNvPr id="39" name="任意多边形 14511">
              <a:extLst>
                <a:ext uri="{FF2B5EF4-FFF2-40B4-BE49-F238E27FC236}">
                  <a16:creationId xmlns="" xmlns:a16="http://schemas.microsoft.com/office/drawing/2014/main" id="{F53AF07E-8A92-AC51-D04B-36F5D05BD1CC}"/>
                </a:ext>
              </a:extLst>
            </p:cNvPr>
            <p:cNvSpPr>
              <a:spLocks noChangeArrowheads="1"/>
            </p:cNvSpPr>
            <p:nvPr/>
          </p:nvSpPr>
          <p:spPr bwMode="auto">
            <a:xfrm>
              <a:off x="1284" y="1944"/>
              <a:ext cx="31" cy="73"/>
            </a:xfrm>
            <a:custGeom>
              <a:avLst/>
              <a:gdLst>
                <a:gd name="T0" fmla="*/ 34 w 77"/>
                <a:gd name="T1" fmla="*/ 0 h 182"/>
                <a:gd name="T2" fmla="*/ 0 w 77"/>
                <a:gd name="T3" fmla="*/ 182 h 182"/>
                <a:gd name="T4" fmla="*/ 77 w 77"/>
                <a:gd name="T5" fmla="*/ 182 h 182"/>
                <a:gd name="T6" fmla="*/ 34 w 77"/>
                <a:gd name="T7" fmla="*/ 0 h 182"/>
              </a:gdLst>
              <a:ahLst/>
              <a:cxnLst>
                <a:cxn ang="0">
                  <a:pos x="T0" y="T1"/>
                </a:cxn>
                <a:cxn ang="0">
                  <a:pos x="T2" y="T3"/>
                </a:cxn>
                <a:cxn ang="0">
                  <a:pos x="T4" y="T5"/>
                </a:cxn>
                <a:cxn ang="0">
                  <a:pos x="T6" y="T7"/>
                </a:cxn>
              </a:cxnLst>
              <a:rect l="0" t="0" r="r" b="b"/>
              <a:pathLst>
                <a:path w="77" h="182">
                  <a:moveTo>
                    <a:pt x="34" y="0"/>
                  </a:moveTo>
                  <a:lnTo>
                    <a:pt x="0" y="182"/>
                  </a:lnTo>
                  <a:lnTo>
                    <a:pt x="77" y="182"/>
                  </a:lnTo>
                  <a:lnTo>
                    <a:pt x="34" y="0"/>
                  </a:lnTo>
                  <a:close/>
                </a:path>
              </a:pathLst>
            </a:custGeom>
            <a:solidFill>
              <a:schemeClr val="hlink"/>
            </a:solidFill>
            <a:ln w="6350">
              <a:solidFill>
                <a:srgbClr val="000000"/>
              </a:solidFill>
              <a:round/>
              <a:headEnd/>
              <a:tailEnd/>
            </a:ln>
          </p:spPr>
          <p:txBody>
            <a:bodyPr/>
            <a:lstStyle/>
            <a:p>
              <a:endParaRPr lang="zh-CN" altLang="en-US">
                <a:solidFill>
                  <a:schemeClr val="tx1"/>
                </a:solidFill>
              </a:endParaRPr>
            </a:p>
          </p:txBody>
        </p:sp>
        <p:sp>
          <p:nvSpPr>
            <p:cNvPr id="40" name="矩形 14512">
              <a:extLst>
                <a:ext uri="{FF2B5EF4-FFF2-40B4-BE49-F238E27FC236}">
                  <a16:creationId xmlns="" xmlns:a16="http://schemas.microsoft.com/office/drawing/2014/main" id="{AB0EFE86-BA2F-D76E-57F0-912DCA4DAE92}"/>
                </a:ext>
              </a:extLst>
            </p:cNvPr>
            <p:cNvSpPr>
              <a:spLocks noChangeArrowheads="1"/>
            </p:cNvSpPr>
            <p:nvPr/>
          </p:nvSpPr>
          <p:spPr bwMode="auto">
            <a:xfrm>
              <a:off x="3191" y="2413"/>
              <a:ext cx="61" cy="9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000">
                  <a:solidFill>
                    <a:schemeClr val="tx1"/>
                  </a:solidFill>
                  <a:latin typeface="Symbol" panose="05050102010706020507" pitchFamily="18" charset="2"/>
                </a:rPr>
                <a:t>W</a:t>
              </a:r>
              <a:endParaRPr lang="en-US" altLang="zh-CN" sz="1800" b="1">
                <a:solidFill>
                  <a:schemeClr val="tx1"/>
                </a:solidFill>
                <a:latin typeface="Tahoma" panose="020B0604030504040204" pitchFamily="34" charset="0"/>
              </a:endParaRPr>
            </a:p>
          </p:txBody>
        </p:sp>
        <p:sp>
          <p:nvSpPr>
            <p:cNvPr id="41" name="矩形 14513">
              <a:extLst>
                <a:ext uri="{FF2B5EF4-FFF2-40B4-BE49-F238E27FC236}">
                  <a16:creationId xmlns="" xmlns:a16="http://schemas.microsoft.com/office/drawing/2014/main" id="{2A5B744C-8658-EB55-BAB4-6192D1F854DC}"/>
                </a:ext>
              </a:extLst>
            </p:cNvPr>
            <p:cNvSpPr>
              <a:spLocks noChangeArrowheads="1"/>
            </p:cNvSpPr>
            <p:nvPr/>
          </p:nvSpPr>
          <p:spPr bwMode="auto">
            <a:xfrm>
              <a:off x="3293" y="2422"/>
              <a:ext cx="27" cy="9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000">
                  <a:solidFill>
                    <a:schemeClr val="tx1"/>
                  </a:solidFill>
                </a:rPr>
                <a:t>t</a:t>
              </a:r>
              <a:endParaRPr lang="en-US" altLang="zh-CN" sz="1800" b="1">
                <a:solidFill>
                  <a:schemeClr val="tx1"/>
                </a:solidFill>
                <a:latin typeface="Tahoma" panose="020B0604030504040204" pitchFamily="34" charset="0"/>
              </a:endParaRPr>
            </a:p>
          </p:txBody>
        </p:sp>
        <p:sp>
          <p:nvSpPr>
            <p:cNvPr id="42" name="矩形 14514">
              <a:extLst>
                <a:ext uri="{FF2B5EF4-FFF2-40B4-BE49-F238E27FC236}">
                  <a16:creationId xmlns="" xmlns:a16="http://schemas.microsoft.com/office/drawing/2014/main" id="{D4422ACE-7009-62C3-99A6-F56BB641C60A}"/>
                </a:ext>
              </a:extLst>
            </p:cNvPr>
            <p:cNvSpPr>
              <a:spLocks noChangeArrowheads="1"/>
            </p:cNvSpPr>
            <p:nvPr/>
          </p:nvSpPr>
          <p:spPr bwMode="auto">
            <a:xfrm>
              <a:off x="1093" y="2178"/>
              <a:ext cx="182" cy="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schemeClr val="tx1"/>
                </a:solidFill>
              </a:endParaRPr>
            </a:p>
          </p:txBody>
        </p:sp>
        <p:sp>
          <p:nvSpPr>
            <p:cNvPr id="43" name="矩形 14515">
              <a:extLst>
                <a:ext uri="{FF2B5EF4-FFF2-40B4-BE49-F238E27FC236}">
                  <a16:creationId xmlns="" xmlns:a16="http://schemas.microsoft.com/office/drawing/2014/main" id="{BC0EF2D1-288C-5F4B-9069-32892BB0C60F}"/>
                </a:ext>
              </a:extLst>
            </p:cNvPr>
            <p:cNvSpPr>
              <a:spLocks noChangeArrowheads="1"/>
            </p:cNvSpPr>
            <p:nvPr/>
          </p:nvSpPr>
          <p:spPr bwMode="auto">
            <a:xfrm>
              <a:off x="1117" y="2176"/>
              <a:ext cx="55" cy="9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000">
                  <a:solidFill>
                    <a:schemeClr val="tx1"/>
                  </a:solidFill>
                  <a:latin typeface="Symbol" panose="05050102010706020507" pitchFamily="18" charset="2"/>
                </a:rPr>
                <a:t>w</a:t>
              </a:r>
              <a:endParaRPr lang="en-US" altLang="zh-CN" sz="1800" b="1">
                <a:solidFill>
                  <a:schemeClr val="tx1"/>
                </a:solidFill>
                <a:latin typeface="Tahoma" panose="020B0604030504040204" pitchFamily="34" charset="0"/>
              </a:endParaRPr>
            </a:p>
          </p:txBody>
        </p:sp>
        <p:sp>
          <p:nvSpPr>
            <p:cNvPr id="44" name="矩形 14516">
              <a:extLst>
                <a:ext uri="{FF2B5EF4-FFF2-40B4-BE49-F238E27FC236}">
                  <a16:creationId xmlns="" xmlns:a16="http://schemas.microsoft.com/office/drawing/2014/main" id="{9B1CEB36-AFAB-F608-A4BE-24E8CB093DA6}"/>
                </a:ext>
              </a:extLst>
            </p:cNvPr>
            <p:cNvSpPr>
              <a:spLocks noChangeArrowheads="1"/>
            </p:cNvSpPr>
            <p:nvPr/>
          </p:nvSpPr>
          <p:spPr bwMode="auto">
            <a:xfrm>
              <a:off x="1207" y="2230"/>
              <a:ext cx="29" cy="5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600">
                  <a:solidFill>
                    <a:schemeClr val="tx1"/>
                  </a:solidFill>
                </a:rPr>
                <a:t>o</a:t>
              </a:r>
              <a:endParaRPr lang="en-US" altLang="zh-CN" sz="1800" b="1">
                <a:solidFill>
                  <a:schemeClr val="tx1"/>
                </a:solidFill>
                <a:latin typeface="Tahoma" panose="020B0604030504040204" pitchFamily="34" charset="0"/>
              </a:endParaRPr>
            </a:p>
          </p:txBody>
        </p:sp>
        <p:sp>
          <p:nvSpPr>
            <p:cNvPr id="45" name="矩形 14517">
              <a:extLst>
                <a:ext uri="{FF2B5EF4-FFF2-40B4-BE49-F238E27FC236}">
                  <a16:creationId xmlns="" xmlns:a16="http://schemas.microsoft.com/office/drawing/2014/main" id="{D644823A-B707-D74C-5DAF-1AC7B929500E}"/>
                </a:ext>
              </a:extLst>
            </p:cNvPr>
            <p:cNvSpPr>
              <a:spLocks noChangeArrowheads="1"/>
            </p:cNvSpPr>
            <p:nvPr/>
          </p:nvSpPr>
          <p:spPr bwMode="auto">
            <a:xfrm>
              <a:off x="1058" y="2479"/>
              <a:ext cx="42" cy="9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000">
                  <a:solidFill>
                    <a:schemeClr val="tx1"/>
                  </a:solidFill>
                  <a:latin typeface="Symbol" panose="05050102010706020507" pitchFamily="18" charset="2"/>
                </a:rPr>
                <a:t>q</a:t>
              </a:r>
              <a:endParaRPr lang="en-US" altLang="zh-CN" sz="1800" b="1">
                <a:solidFill>
                  <a:schemeClr val="tx1"/>
                </a:solidFill>
                <a:latin typeface="Tahoma" panose="020B0604030504040204" pitchFamily="34" charset="0"/>
              </a:endParaRPr>
            </a:p>
          </p:txBody>
        </p:sp>
        <p:sp>
          <p:nvSpPr>
            <p:cNvPr id="46" name="矩形 14518">
              <a:extLst>
                <a:ext uri="{FF2B5EF4-FFF2-40B4-BE49-F238E27FC236}">
                  <a16:creationId xmlns="" xmlns:a16="http://schemas.microsoft.com/office/drawing/2014/main" id="{28E1FCC1-AB11-3553-1332-326EA38ADD4C}"/>
                </a:ext>
              </a:extLst>
            </p:cNvPr>
            <p:cNvSpPr>
              <a:spLocks noChangeArrowheads="1"/>
            </p:cNvSpPr>
            <p:nvPr/>
          </p:nvSpPr>
          <p:spPr bwMode="auto">
            <a:xfrm>
              <a:off x="1126" y="2488"/>
              <a:ext cx="27" cy="9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000">
                  <a:solidFill>
                    <a:schemeClr val="tx1"/>
                  </a:solidFill>
                </a:rPr>
                <a:t>(</a:t>
              </a:r>
              <a:endParaRPr lang="en-US" altLang="zh-CN" sz="1800" b="1">
                <a:solidFill>
                  <a:schemeClr val="tx1"/>
                </a:solidFill>
                <a:latin typeface="Tahoma" panose="020B0604030504040204" pitchFamily="34" charset="0"/>
              </a:endParaRPr>
            </a:p>
          </p:txBody>
        </p:sp>
        <p:sp>
          <p:nvSpPr>
            <p:cNvPr id="47" name="矩形 14519">
              <a:extLst>
                <a:ext uri="{FF2B5EF4-FFF2-40B4-BE49-F238E27FC236}">
                  <a16:creationId xmlns="" xmlns:a16="http://schemas.microsoft.com/office/drawing/2014/main" id="{81A2CF91-CC75-10E7-96A7-EA7C9672A582}"/>
                </a:ext>
              </a:extLst>
            </p:cNvPr>
            <p:cNvSpPr>
              <a:spLocks noChangeArrowheads="1"/>
            </p:cNvSpPr>
            <p:nvPr/>
          </p:nvSpPr>
          <p:spPr bwMode="auto">
            <a:xfrm>
              <a:off x="1170" y="2488"/>
              <a:ext cx="55" cy="9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000">
                  <a:solidFill>
                    <a:schemeClr val="tx1"/>
                  </a:solidFill>
                </a:rPr>
                <a:t>t)</a:t>
              </a:r>
              <a:endParaRPr lang="en-US" altLang="zh-CN" sz="1800" b="1">
                <a:solidFill>
                  <a:schemeClr val="tx1"/>
                </a:solidFill>
                <a:latin typeface="Tahoma" panose="020B0604030504040204" pitchFamily="34" charset="0"/>
              </a:endParaRPr>
            </a:p>
          </p:txBody>
        </p:sp>
        <p:sp>
          <p:nvSpPr>
            <p:cNvPr id="48" name="直接连接符 14520">
              <a:extLst>
                <a:ext uri="{FF2B5EF4-FFF2-40B4-BE49-F238E27FC236}">
                  <a16:creationId xmlns="" xmlns:a16="http://schemas.microsoft.com/office/drawing/2014/main" id="{FA98C405-C89E-AEA5-0237-223B5B7E1F84}"/>
                </a:ext>
              </a:extLst>
            </p:cNvPr>
            <p:cNvSpPr>
              <a:spLocks noChangeShapeType="1"/>
            </p:cNvSpPr>
            <p:nvPr/>
          </p:nvSpPr>
          <p:spPr bwMode="auto">
            <a:xfrm>
              <a:off x="1300" y="2803"/>
              <a:ext cx="1946" cy="1"/>
            </a:xfrm>
            <a:prstGeom prst="line">
              <a:avLst/>
            </a:prstGeom>
            <a:noFill/>
            <a:ln w="17526">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solidFill>
                  <a:schemeClr val="tx1"/>
                </a:solidFill>
              </a:endParaRPr>
            </a:p>
          </p:txBody>
        </p:sp>
        <p:sp>
          <p:nvSpPr>
            <p:cNvPr id="49" name="任意多边形 14521">
              <a:extLst>
                <a:ext uri="{FF2B5EF4-FFF2-40B4-BE49-F238E27FC236}">
                  <a16:creationId xmlns="" xmlns:a16="http://schemas.microsoft.com/office/drawing/2014/main" id="{AC763918-7249-0B82-6544-AA7D0F524FB7}"/>
                </a:ext>
              </a:extLst>
            </p:cNvPr>
            <p:cNvSpPr>
              <a:spLocks noChangeArrowheads="1"/>
            </p:cNvSpPr>
            <p:nvPr/>
          </p:nvSpPr>
          <p:spPr bwMode="auto">
            <a:xfrm>
              <a:off x="3209" y="2795"/>
              <a:ext cx="116" cy="19"/>
            </a:xfrm>
            <a:custGeom>
              <a:avLst/>
              <a:gdLst>
                <a:gd name="T0" fmla="*/ 290 w 290"/>
                <a:gd name="T1" fmla="*/ 27 h 47"/>
                <a:gd name="T2" fmla="*/ 0 w 290"/>
                <a:gd name="T3" fmla="*/ 47 h 47"/>
                <a:gd name="T4" fmla="*/ 0 w 290"/>
                <a:gd name="T5" fmla="*/ 0 h 47"/>
                <a:gd name="T6" fmla="*/ 290 w 290"/>
                <a:gd name="T7" fmla="*/ 27 h 47"/>
              </a:gdLst>
              <a:ahLst/>
              <a:cxnLst>
                <a:cxn ang="0">
                  <a:pos x="T0" y="T1"/>
                </a:cxn>
                <a:cxn ang="0">
                  <a:pos x="T2" y="T3"/>
                </a:cxn>
                <a:cxn ang="0">
                  <a:pos x="T4" y="T5"/>
                </a:cxn>
                <a:cxn ang="0">
                  <a:pos x="T6" y="T7"/>
                </a:cxn>
              </a:cxnLst>
              <a:rect l="0" t="0" r="r" b="b"/>
              <a:pathLst>
                <a:path w="290" h="47">
                  <a:moveTo>
                    <a:pt x="290" y="27"/>
                  </a:moveTo>
                  <a:lnTo>
                    <a:pt x="0" y="47"/>
                  </a:lnTo>
                  <a:lnTo>
                    <a:pt x="0" y="0"/>
                  </a:lnTo>
                  <a:lnTo>
                    <a:pt x="290" y="27"/>
                  </a:lnTo>
                  <a:close/>
                </a:path>
              </a:pathLst>
            </a:custGeom>
            <a:solidFill>
              <a:schemeClr val="hlink"/>
            </a:solidFill>
            <a:ln w="6350">
              <a:solidFill>
                <a:srgbClr val="000000"/>
              </a:solidFill>
              <a:round/>
              <a:headEnd/>
              <a:tailEnd/>
            </a:ln>
          </p:spPr>
          <p:txBody>
            <a:bodyPr/>
            <a:lstStyle/>
            <a:p>
              <a:endParaRPr lang="zh-CN" altLang="en-US">
                <a:solidFill>
                  <a:schemeClr val="tx1"/>
                </a:solidFill>
              </a:endParaRPr>
            </a:p>
          </p:txBody>
        </p:sp>
        <p:sp>
          <p:nvSpPr>
            <p:cNvPr id="50" name="直接连接符 14522">
              <a:extLst>
                <a:ext uri="{FF2B5EF4-FFF2-40B4-BE49-F238E27FC236}">
                  <a16:creationId xmlns="" xmlns:a16="http://schemas.microsoft.com/office/drawing/2014/main" id="{9A4046DE-91F9-5E88-36B6-D52F42A2B5C6}"/>
                </a:ext>
              </a:extLst>
            </p:cNvPr>
            <p:cNvSpPr>
              <a:spLocks noChangeShapeType="1"/>
            </p:cNvSpPr>
            <p:nvPr/>
          </p:nvSpPr>
          <p:spPr bwMode="auto">
            <a:xfrm flipV="1">
              <a:off x="1300" y="2538"/>
              <a:ext cx="1" cy="461"/>
            </a:xfrm>
            <a:prstGeom prst="line">
              <a:avLst/>
            </a:prstGeom>
            <a:noFill/>
            <a:ln w="17526">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solidFill>
                  <a:schemeClr val="tx1"/>
                </a:solidFill>
              </a:endParaRPr>
            </a:p>
          </p:txBody>
        </p:sp>
        <p:sp>
          <p:nvSpPr>
            <p:cNvPr id="51" name="任意多边形 14523">
              <a:extLst>
                <a:ext uri="{FF2B5EF4-FFF2-40B4-BE49-F238E27FC236}">
                  <a16:creationId xmlns="" xmlns:a16="http://schemas.microsoft.com/office/drawing/2014/main" id="{0284F430-F43C-D79D-2FBB-550758DD669E}"/>
                </a:ext>
              </a:extLst>
            </p:cNvPr>
            <p:cNvSpPr>
              <a:spLocks noChangeArrowheads="1"/>
            </p:cNvSpPr>
            <p:nvPr/>
          </p:nvSpPr>
          <p:spPr bwMode="auto">
            <a:xfrm>
              <a:off x="1284" y="2478"/>
              <a:ext cx="31" cy="72"/>
            </a:xfrm>
            <a:custGeom>
              <a:avLst/>
              <a:gdLst>
                <a:gd name="T0" fmla="*/ 34 w 77"/>
                <a:gd name="T1" fmla="*/ 0 h 180"/>
                <a:gd name="T2" fmla="*/ 0 w 77"/>
                <a:gd name="T3" fmla="*/ 180 h 180"/>
                <a:gd name="T4" fmla="*/ 77 w 77"/>
                <a:gd name="T5" fmla="*/ 180 h 180"/>
                <a:gd name="T6" fmla="*/ 34 w 77"/>
                <a:gd name="T7" fmla="*/ 0 h 180"/>
              </a:gdLst>
              <a:ahLst/>
              <a:cxnLst>
                <a:cxn ang="0">
                  <a:pos x="T0" y="T1"/>
                </a:cxn>
                <a:cxn ang="0">
                  <a:pos x="T2" y="T3"/>
                </a:cxn>
                <a:cxn ang="0">
                  <a:pos x="T4" y="T5"/>
                </a:cxn>
                <a:cxn ang="0">
                  <a:pos x="T6" y="T7"/>
                </a:cxn>
              </a:cxnLst>
              <a:rect l="0" t="0" r="r" b="b"/>
              <a:pathLst>
                <a:path w="77" h="180">
                  <a:moveTo>
                    <a:pt x="34" y="0"/>
                  </a:moveTo>
                  <a:lnTo>
                    <a:pt x="0" y="180"/>
                  </a:lnTo>
                  <a:lnTo>
                    <a:pt x="77" y="180"/>
                  </a:lnTo>
                  <a:lnTo>
                    <a:pt x="34" y="0"/>
                  </a:lnTo>
                  <a:close/>
                </a:path>
              </a:pathLst>
            </a:custGeom>
            <a:solidFill>
              <a:schemeClr val="tx1"/>
            </a:solidFill>
            <a:ln w="6350">
              <a:solidFill>
                <a:srgbClr val="000000"/>
              </a:solidFill>
              <a:round/>
              <a:headEnd/>
              <a:tailEnd/>
            </a:ln>
          </p:spPr>
          <p:txBody>
            <a:bodyPr/>
            <a:lstStyle/>
            <a:p>
              <a:endParaRPr lang="zh-CN" altLang="en-US">
                <a:solidFill>
                  <a:schemeClr val="tx1"/>
                </a:solidFill>
              </a:endParaRPr>
            </a:p>
          </p:txBody>
        </p:sp>
        <p:sp>
          <p:nvSpPr>
            <p:cNvPr id="52" name="矩形 14524">
              <a:extLst>
                <a:ext uri="{FF2B5EF4-FFF2-40B4-BE49-F238E27FC236}">
                  <a16:creationId xmlns="" xmlns:a16="http://schemas.microsoft.com/office/drawing/2014/main" id="{6C3A29DF-F233-5564-0F07-D075F5D46EA7}"/>
                </a:ext>
              </a:extLst>
            </p:cNvPr>
            <p:cNvSpPr>
              <a:spLocks noChangeArrowheads="1"/>
            </p:cNvSpPr>
            <p:nvPr/>
          </p:nvSpPr>
          <p:spPr bwMode="auto">
            <a:xfrm>
              <a:off x="3174" y="2822"/>
              <a:ext cx="180" cy="11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schemeClr val="tx1"/>
                </a:solidFill>
              </a:endParaRPr>
            </a:p>
          </p:txBody>
        </p:sp>
        <p:sp>
          <p:nvSpPr>
            <p:cNvPr id="53" name="矩形 14525">
              <a:extLst>
                <a:ext uri="{FF2B5EF4-FFF2-40B4-BE49-F238E27FC236}">
                  <a16:creationId xmlns="" xmlns:a16="http://schemas.microsoft.com/office/drawing/2014/main" id="{2EA74CFC-78C1-B3C6-9543-835FD8484834}"/>
                </a:ext>
              </a:extLst>
            </p:cNvPr>
            <p:cNvSpPr>
              <a:spLocks noChangeArrowheads="1"/>
            </p:cNvSpPr>
            <p:nvPr/>
          </p:nvSpPr>
          <p:spPr bwMode="auto">
            <a:xfrm>
              <a:off x="3191" y="2821"/>
              <a:ext cx="61" cy="9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000">
                  <a:solidFill>
                    <a:schemeClr val="tx1"/>
                  </a:solidFill>
                  <a:latin typeface="Symbol" panose="05050102010706020507" pitchFamily="18" charset="2"/>
                </a:rPr>
                <a:t>W</a:t>
              </a:r>
              <a:endParaRPr lang="en-US" altLang="zh-CN" sz="1800" b="1">
                <a:solidFill>
                  <a:schemeClr val="tx1"/>
                </a:solidFill>
                <a:latin typeface="Tahoma" panose="020B0604030504040204" pitchFamily="34" charset="0"/>
              </a:endParaRPr>
            </a:p>
          </p:txBody>
        </p:sp>
        <p:sp>
          <p:nvSpPr>
            <p:cNvPr id="54" name="矩形 14526">
              <a:extLst>
                <a:ext uri="{FF2B5EF4-FFF2-40B4-BE49-F238E27FC236}">
                  <a16:creationId xmlns="" xmlns:a16="http://schemas.microsoft.com/office/drawing/2014/main" id="{1651A859-F81B-504C-04B7-46B0BF5B455C}"/>
                </a:ext>
              </a:extLst>
            </p:cNvPr>
            <p:cNvSpPr>
              <a:spLocks noChangeArrowheads="1"/>
            </p:cNvSpPr>
            <p:nvPr/>
          </p:nvSpPr>
          <p:spPr bwMode="auto">
            <a:xfrm>
              <a:off x="3293" y="2829"/>
              <a:ext cx="27" cy="9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000">
                  <a:solidFill>
                    <a:schemeClr val="tx1"/>
                  </a:solidFill>
                </a:rPr>
                <a:t>t</a:t>
              </a:r>
              <a:endParaRPr lang="en-US" altLang="zh-CN" sz="1800" b="1">
                <a:solidFill>
                  <a:schemeClr val="tx1"/>
                </a:solidFill>
                <a:latin typeface="Tahoma" panose="020B0604030504040204" pitchFamily="34" charset="0"/>
              </a:endParaRPr>
            </a:p>
          </p:txBody>
        </p:sp>
        <p:sp>
          <p:nvSpPr>
            <p:cNvPr id="55" name="矩形 14527">
              <a:extLst>
                <a:ext uri="{FF2B5EF4-FFF2-40B4-BE49-F238E27FC236}">
                  <a16:creationId xmlns="" xmlns:a16="http://schemas.microsoft.com/office/drawing/2014/main" id="{1FA8CE3C-4E00-E35E-283B-B487C7774E08}"/>
                </a:ext>
              </a:extLst>
            </p:cNvPr>
            <p:cNvSpPr>
              <a:spLocks noChangeArrowheads="1"/>
            </p:cNvSpPr>
            <p:nvPr/>
          </p:nvSpPr>
          <p:spPr bwMode="auto">
            <a:xfrm>
              <a:off x="1093" y="2750"/>
              <a:ext cx="182"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schemeClr val="tx1"/>
                </a:solidFill>
              </a:endParaRPr>
            </a:p>
          </p:txBody>
        </p:sp>
        <p:sp>
          <p:nvSpPr>
            <p:cNvPr id="56" name="矩形 14528">
              <a:extLst>
                <a:ext uri="{FF2B5EF4-FFF2-40B4-BE49-F238E27FC236}">
                  <a16:creationId xmlns="" xmlns:a16="http://schemas.microsoft.com/office/drawing/2014/main" id="{62157A91-DD42-E924-D5F8-B2FF0927BC22}"/>
                </a:ext>
              </a:extLst>
            </p:cNvPr>
            <p:cNvSpPr>
              <a:spLocks noChangeArrowheads="1"/>
            </p:cNvSpPr>
            <p:nvPr/>
          </p:nvSpPr>
          <p:spPr bwMode="auto">
            <a:xfrm>
              <a:off x="1149" y="2751"/>
              <a:ext cx="49" cy="9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000">
                  <a:solidFill>
                    <a:schemeClr val="tx1"/>
                  </a:solidFill>
                </a:rPr>
                <a:t>o</a:t>
              </a:r>
              <a:endParaRPr lang="en-US" altLang="zh-CN" sz="1800" b="1">
                <a:solidFill>
                  <a:schemeClr val="tx1"/>
                </a:solidFill>
                <a:latin typeface="Tahoma" panose="020B0604030504040204" pitchFamily="34" charset="0"/>
              </a:endParaRPr>
            </a:p>
          </p:txBody>
        </p:sp>
        <p:sp>
          <p:nvSpPr>
            <p:cNvPr id="57" name="直接连接符 14529">
              <a:extLst>
                <a:ext uri="{FF2B5EF4-FFF2-40B4-BE49-F238E27FC236}">
                  <a16:creationId xmlns="" xmlns:a16="http://schemas.microsoft.com/office/drawing/2014/main" id="{3FFF8190-653D-A240-5D9F-DEE0D2CE2185}"/>
                </a:ext>
              </a:extLst>
            </p:cNvPr>
            <p:cNvSpPr>
              <a:spLocks noChangeShapeType="1"/>
            </p:cNvSpPr>
            <p:nvPr/>
          </p:nvSpPr>
          <p:spPr bwMode="auto">
            <a:xfrm>
              <a:off x="1300" y="2412"/>
              <a:ext cx="1946" cy="1"/>
            </a:xfrm>
            <a:prstGeom prst="line">
              <a:avLst/>
            </a:prstGeom>
            <a:noFill/>
            <a:ln w="17526">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solidFill>
                  <a:schemeClr val="tx1"/>
                </a:solidFill>
              </a:endParaRPr>
            </a:p>
          </p:txBody>
        </p:sp>
        <p:sp>
          <p:nvSpPr>
            <p:cNvPr id="58" name="矩形 14530">
              <a:extLst>
                <a:ext uri="{FF2B5EF4-FFF2-40B4-BE49-F238E27FC236}">
                  <a16:creationId xmlns="" xmlns:a16="http://schemas.microsoft.com/office/drawing/2014/main" id="{E62376CD-9D8F-B613-F107-F8B30E753106}"/>
                </a:ext>
              </a:extLst>
            </p:cNvPr>
            <p:cNvSpPr>
              <a:spLocks noChangeArrowheads="1"/>
            </p:cNvSpPr>
            <p:nvPr/>
          </p:nvSpPr>
          <p:spPr bwMode="auto">
            <a:xfrm>
              <a:off x="921" y="2872"/>
              <a:ext cx="254"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schemeClr val="tx1"/>
                </a:solidFill>
              </a:endParaRPr>
            </a:p>
          </p:txBody>
        </p:sp>
        <p:sp>
          <p:nvSpPr>
            <p:cNvPr id="59" name="矩形 14531">
              <a:extLst>
                <a:ext uri="{FF2B5EF4-FFF2-40B4-BE49-F238E27FC236}">
                  <a16:creationId xmlns="" xmlns:a16="http://schemas.microsoft.com/office/drawing/2014/main" id="{4250BD45-1C84-77F8-72B8-BC074ED8036B}"/>
                </a:ext>
              </a:extLst>
            </p:cNvPr>
            <p:cNvSpPr>
              <a:spLocks noChangeArrowheads="1"/>
            </p:cNvSpPr>
            <p:nvPr/>
          </p:nvSpPr>
          <p:spPr bwMode="auto">
            <a:xfrm>
              <a:off x="1128" y="1951"/>
              <a:ext cx="27" cy="9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000">
                  <a:solidFill>
                    <a:schemeClr val="tx1"/>
                  </a:solidFill>
                </a:rPr>
                <a:t>(</a:t>
              </a:r>
              <a:endParaRPr lang="en-US" altLang="zh-CN" sz="1800" b="1">
                <a:solidFill>
                  <a:schemeClr val="tx1"/>
                </a:solidFill>
                <a:latin typeface="Tahoma" panose="020B0604030504040204" pitchFamily="34" charset="0"/>
              </a:endParaRPr>
            </a:p>
          </p:txBody>
        </p:sp>
        <p:sp>
          <p:nvSpPr>
            <p:cNvPr id="60" name="矩形 14532">
              <a:extLst>
                <a:ext uri="{FF2B5EF4-FFF2-40B4-BE49-F238E27FC236}">
                  <a16:creationId xmlns="" xmlns:a16="http://schemas.microsoft.com/office/drawing/2014/main" id="{1D37E9C5-BC68-FE15-F578-008A9DDF1571}"/>
                </a:ext>
              </a:extLst>
            </p:cNvPr>
            <p:cNvSpPr>
              <a:spLocks noChangeArrowheads="1"/>
            </p:cNvSpPr>
            <p:nvPr/>
          </p:nvSpPr>
          <p:spPr bwMode="auto">
            <a:xfrm>
              <a:off x="1172" y="1951"/>
              <a:ext cx="27" cy="9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000">
                  <a:solidFill>
                    <a:schemeClr val="tx1"/>
                  </a:solidFill>
                </a:rPr>
                <a:t>t</a:t>
              </a:r>
              <a:endParaRPr lang="en-US" altLang="zh-CN" sz="1800" b="1">
                <a:solidFill>
                  <a:schemeClr val="tx1"/>
                </a:solidFill>
                <a:latin typeface="Tahoma" panose="020B0604030504040204" pitchFamily="34" charset="0"/>
              </a:endParaRPr>
            </a:p>
          </p:txBody>
        </p:sp>
        <p:sp>
          <p:nvSpPr>
            <p:cNvPr id="61" name="矩形 14533">
              <a:extLst>
                <a:ext uri="{FF2B5EF4-FFF2-40B4-BE49-F238E27FC236}">
                  <a16:creationId xmlns="" xmlns:a16="http://schemas.microsoft.com/office/drawing/2014/main" id="{B5E448BA-6C7D-23B4-0A44-6FCD19477D53}"/>
                </a:ext>
              </a:extLst>
            </p:cNvPr>
            <p:cNvSpPr>
              <a:spLocks noChangeArrowheads="1"/>
            </p:cNvSpPr>
            <p:nvPr/>
          </p:nvSpPr>
          <p:spPr bwMode="auto">
            <a:xfrm>
              <a:off x="1208" y="1951"/>
              <a:ext cx="27" cy="9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000">
                  <a:solidFill>
                    <a:schemeClr val="tx1"/>
                  </a:solidFill>
                </a:rPr>
                <a:t>)</a:t>
              </a:r>
              <a:endParaRPr lang="en-US" altLang="zh-CN" sz="1800" b="1">
                <a:solidFill>
                  <a:schemeClr val="tx1"/>
                </a:solidFill>
                <a:latin typeface="Tahoma" panose="020B0604030504040204" pitchFamily="34" charset="0"/>
              </a:endParaRPr>
            </a:p>
          </p:txBody>
        </p:sp>
        <p:sp>
          <p:nvSpPr>
            <p:cNvPr id="62" name="矩形 14534">
              <a:extLst>
                <a:ext uri="{FF2B5EF4-FFF2-40B4-BE49-F238E27FC236}">
                  <a16:creationId xmlns="" xmlns:a16="http://schemas.microsoft.com/office/drawing/2014/main" id="{F33F461D-85CC-8B12-088C-44E90E9B2E8C}"/>
                </a:ext>
              </a:extLst>
            </p:cNvPr>
            <p:cNvSpPr>
              <a:spLocks noChangeArrowheads="1"/>
            </p:cNvSpPr>
            <p:nvPr/>
          </p:nvSpPr>
          <p:spPr bwMode="auto">
            <a:xfrm>
              <a:off x="1098" y="2351"/>
              <a:ext cx="165" cy="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schemeClr val="tx1"/>
                </a:solidFill>
              </a:endParaRPr>
            </a:p>
          </p:txBody>
        </p:sp>
        <p:sp>
          <p:nvSpPr>
            <p:cNvPr id="63" name="矩形 14535">
              <a:extLst>
                <a:ext uri="{FF2B5EF4-FFF2-40B4-BE49-F238E27FC236}">
                  <a16:creationId xmlns="" xmlns:a16="http://schemas.microsoft.com/office/drawing/2014/main" id="{3C44E4FE-B584-96C7-2D2F-49D840AF7377}"/>
                </a:ext>
              </a:extLst>
            </p:cNvPr>
            <p:cNvSpPr>
              <a:spLocks noChangeArrowheads="1"/>
            </p:cNvSpPr>
            <p:nvPr/>
          </p:nvSpPr>
          <p:spPr bwMode="auto">
            <a:xfrm>
              <a:off x="1143" y="2352"/>
              <a:ext cx="49" cy="9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000">
                  <a:solidFill>
                    <a:schemeClr val="tx1"/>
                  </a:solidFill>
                </a:rPr>
                <a:t>o</a:t>
              </a:r>
              <a:endParaRPr lang="en-US" altLang="zh-CN" sz="1800" b="1">
                <a:solidFill>
                  <a:schemeClr val="tx1"/>
                </a:solidFill>
                <a:latin typeface="Tahoma" panose="020B0604030504040204" pitchFamily="34" charset="0"/>
              </a:endParaRPr>
            </a:p>
          </p:txBody>
        </p:sp>
        <p:sp>
          <p:nvSpPr>
            <p:cNvPr id="64" name="矩形 14536">
              <a:extLst>
                <a:ext uri="{FF2B5EF4-FFF2-40B4-BE49-F238E27FC236}">
                  <a16:creationId xmlns="" xmlns:a16="http://schemas.microsoft.com/office/drawing/2014/main" id="{88009523-1759-C3B1-AE50-357B5C9DA660}"/>
                </a:ext>
              </a:extLst>
            </p:cNvPr>
            <p:cNvSpPr>
              <a:spLocks noChangeArrowheads="1"/>
            </p:cNvSpPr>
            <p:nvPr/>
          </p:nvSpPr>
          <p:spPr bwMode="auto">
            <a:xfrm>
              <a:off x="3457" y="1581"/>
              <a:ext cx="182" cy="9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schemeClr val="tx1"/>
                </a:solidFill>
              </a:endParaRPr>
            </a:p>
          </p:txBody>
        </p:sp>
        <p:sp>
          <p:nvSpPr>
            <p:cNvPr id="65" name="矩形 14537">
              <a:extLst>
                <a:ext uri="{FF2B5EF4-FFF2-40B4-BE49-F238E27FC236}">
                  <a16:creationId xmlns="" xmlns:a16="http://schemas.microsoft.com/office/drawing/2014/main" id="{6B693A81-98EC-8389-8556-6DE7DE00C12A}"/>
                </a:ext>
              </a:extLst>
            </p:cNvPr>
            <p:cNvSpPr>
              <a:spLocks noChangeArrowheads="1"/>
            </p:cNvSpPr>
            <p:nvPr/>
          </p:nvSpPr>
          <p:spPr bwMode="auto">
            <a:xfrm>
              <a:off x="3460" y="1600"/>
              <a:ext cx="27" cy="9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000">
                  <a:solidFill>
                    <a:schemeClr val="tx1"/>
                  </a:solidFill>
                </a:rPr>
                <a:t>(</a:t>
              </a:r>
              <a:endParaRPr lang="en-US" altLang="zh-CN" sz="1800" b="1">
                <a:solidFill>
                  <a:schemeClr val="tx1"/>
                </a:solidFill>
                <a:latin typeface="Tahoma" panose="020B0604030504040204" pitchFamily="34" charset="0"/>
              </a:endParaRPr>
            </a:p>
          </p:txBody>
        </p:sp>
        <p:sp>
          <p:nvSpPr>
            <p:cNvPr id="66" name="矩形 14538">
              <a:extLst>
                <a:ext uri="{FF2B5EF4-FFF2-40B4-BE49-F238E27FC236}">
                  <a16:creationId xmlns="" xmlns:a16="http://schemas.microsoft.com/office/drawing/2014/main" id="{DA8F22E9-4F50-C7E8-20ED-BAE9FC2E2AA4}"/>
                </a:ext>
              </a:extLst>
            </p:cNvPr>
            <p:cNvSpPr>
              <a:spLocks noChangeArrowheads="1"/>
            </p:cNvSpPr>
            <p:nvPr/>
          </p:nvSpPr>
          <p:spPr bwMode="auto">
            <a:xfrm>
              <a:off x="3516" y="1583"/>
              <a:ext cx="72" cy="9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000">
                  <a:solidFill>
                    <a:schemeClr val="tx1"/>
                  </a:solidFill>
                </a:rPr>
                <a:t>a)</a:t>
              </a:r>
              <a:endParaRPr lang="en-US" altLang="zh-CN" sz="1800" b="1">
                <a:solidFill>
                  <a:schemeClr val="tx1"/>
                </a:solidFill>
                <a:latin typeface="Tahoma" panose="020B0604030504040204" pitchFamily="34" charset="0"/>
              </a:endParaRPr>
            </a:p>
          </p:txBody>
        </p:sp>
        <p:sp>
          <p:nvSpPr>
            <p:cNvPr id="67" name="矩形 14539">
              <a:extLst>
                <a:ext uri="{FF2B5EF4-FFF2-40B4-BE49-F238E27FC236}">
                  <a16:creationId xmlns="" xmlns:a16="http://schemas.microsoft.com/office/drawing/2014/main" id="{FAC18CE6-AEAF-D953-4660-C25DCF2F8810}"/>
                </a:ext>
              </a:extLst>
            </p:cNvPr>
            <p:cNvSpPr>
              <a:spLocks noChangeArrowheads="1"/>
            </p:cNvSpPr>
            <p:nvPr/>
          </p:nvSpPr>
          <p:spPr bwMode="auto">
            <a:xfrm>
              <a:off x="3462" y="2365"/>
              <a:ext cx="182" cy="9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schemeClr val="tx1"/>
                </a:solidFill>
              </a:endParaRPr>
            </a:p>
          </p:txBody>
        </p:sp>
        <p:sp>
          <p:nvSpPr>
            <p:cNvPr id="68" name="矩形 14540">
              <a:extLst>
                <a:ext uri="{FF2B5EF4-FFF2-40B4-BE49-F238E27FC236}">
                  <a16:creationId xmlns="" xmlns:a16="http://schemas.microsoft.com/office/drawing/2014/main" id="{E1EA40ED-7B6B-E03F-7986-24A5CDD331E8}"/>
                </a:ext>
              </a:extLst>
            </p:cNvPr>
            <p:cNvSpPr>
              <a:spLocks noChangeArrowheads="1"/>
            </p:cNvSpPr>
            <p:nvPr/>
          </p:nvSpPr>
          <p:spPr bwMode="auto">
            <a:xfrm>
              <a:off x="3477" y="2366"/>
              <a:ext cx="27" cy="9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000">
                  <a:solidFill>
                    <a:schemeClr val="tx1"/>
                  </a:solidFill>
                </a:rPr>
                <a:t>(</a:t>
              </a:r>
              <a:endParaRPr lang="en-US" altLang="zh-CN" sz="1800" b="1">
                <a:solidFill>
                  <a:schemeClr val="tx1"/>
                </a:solidFill>
                <a:latin typeface="Tahoma" panose="020B0604030504040204" pitchFamily="34" charset="0"/>
              </a:endParaRPr>
            </a:p>
          </p:txBody>
        </p:sp>
        <p:sp>
          <p:nvSpPr>
            <p:cNvPr id="69" name="矩形 14541">
              <a:extLst>
                <a:ext uri="{FF2B5EF4-FFF2-40B4-BE49-F238E27FC236}">
                  <a16:creationId xmlns="" xmlns:a16="http://schemas.microsoft.com/office/drawing/2014/main" id="{236D93E8-75C1-AA22-F7B3-C822424EBEFF}"/>
                </a:ext>
              </a:extLst>
            </p:cNvPr>
            <p:cNvSpPr>
              <a:spLocks noChangeArrowheads="1"/>
            </p:cNvSpPr>
            <p:nvPr/>
          </p:nvSpPr>
          <p:spPr bwMode="auto">
            <a:xfrm>
              <a:off x="3521" y="2366"/>
              <a:ext cx="44" cy="9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000">
                  <a:solidFill>
                    <a:schemeClr val="tx1"/>
                  </a:solidFill>
                </a:rPr>
                <a:t>c</a:t>
              </a:r>
              <a:endParaRPr lang="en-US" altLang="zh-CN" sz="1800" b="1">
                <a:solidFill>
                  <a:schemeClr val="tx1"/>
                </a:solidFill>
                <a:latin typeface="Tahoma" panose="020B0604030504040204" pitchFamily="34" charset="0"/>
              </a:endParaRPr>
            </a:p>
          </p:txBody>
        </p:sp>
        <p:sp>
          <p:nvSpPr>
            <p:cNvPr id="70" name="矩形 14542">
              <a:extLst>
                <a:ext uri="{FF2B5EF4-FFF2-40B4-BE49-F238E27FC236}">
                  <a16:creationId xmlns="" xmlns:a16="http://schemas.microsoft.com/office/drawing/2014/main" id="{81EAB339-73FD-9DF2-939C-3F20C7364F54}"/>
                </a:ext>
              </a:extLst>
            </p:cNvPr>
            <p:cNvSpPr>
              <a:spLocks noChangeArrowheads="1"/>
            </p:cNvSpPr>
            <p:nvPr/>
          </p:nvSpPr>
          <p:spPr bwMode="auto">
            <a:xfrm>
              <a:off x="3579" y="2366"/>
              <a:ext cx="27" cy="96"/>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000">
                  <a:solidFill>
                    <a:schemeClr val="tx1"/>
                  </a:solidFill>
                </a:rPr>
                <a:t>)</a:t>
              </a:r>
              <a:endParaRPr lang="en-US" altLang="zh-CN" sz="1800" b="1">
                <a:solidFill>
                  <a:schemeClr val="tx1"/>
                </a:solidFill>
                <a:latin typeface="Tahoma" panose="020B0604030504040204" pitchFamily="34" charset="0"/>
              </a:endParaRPr>
            </a:p>
          </p:txBody>
        </p:sp>
        <p:sp>
          <p:nvSpPr>
            <p:cNvPr id="71" name="矩形 14543">
              <a:extLst>
                <a:ext uri="{FF2B5EF4-FFF2-40B4-BE49-F238E27FC236}">
                  <a16:creationId xmlns="" xmlns:a16="http://schemas.microsoft.com/office/drawing/2014/main" id="{E1543EF2-364E-1FD6-BBC7-1B7CFC937A5A}"/>
                </a:ext>
              </a:extLst>
            </p:cNvPr>
            <p:cNvSpPr>
              <a:spLocks noChangeArrowheads="1"/>
            </p:cNvSpPr>
            <p:nvPr/>
          </p:nvSpPr>
          <p:spPr bwMode="auto">
            <a:xfrm>
              <a:off x="3462" y="2749"/>
              <a:ext cx="182" cy="9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schemeClr val="tx1"/>
                </a:solidFill>
              </a:endParaRPr>
            </a:p>
          </p:txBody>
        </p:sp>
        <p:sp>
          <p:nvSpPr>
            <p:cNvPr id="72" name="矩形 14544">
              <a:extLst>
                <a:ext uri="{FF2B5EF4-FFF2-40B4-BE49-F238E27FC236}">
                  <a16:creationId xmlns="" xmlns:a16="http://schemas.microsoft.com/office/drawing/2014/main" id="{ED28309E-3493-A3A8-A964-497B7B3EAB62}"/>
                </a:ext>
              </a:extLst>
            </p:cNvPr>
            <p:cNvSpPr>
              <a:spLocks noChangeArrowheads="1"/>
            </p:cNvSpPr>
            <p:nvPr/>
          </p:nvSpPr>
          <p:spPr bwMode="auto">
            <a:xfrm>
              <a:off x="3474" y="2749"/>
              <a:ext cx="27" cy="9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000">
                  <a:solidFill>
                    <a:schemeClr val="tx1"/>
                  </a:solidFill>
                </a:rPr>
                <a:t>(</a:t>
              </a:r>
              <a:endParaRPr lang="en-US" altLang="zh-CN" sz="1800" b="1">
                <a:solidFill>
                  <a:schemeClr val="tx1"/>
                </a:solidFill>
                <a:latin typeface="Tahoma" panose="020B0604030504040204" pitchFamily="34" charset="0"/>
              </a:endParaRPr>
            </a:p>
          </p:txBody>
        </p:sp>
        <p:sp>
          <p:nvSpPr>
            <p:cNvPr id="73" name="矩形 14545">
              <a:extLst>
                <a:ext uri="{FF2B5EF4-FFF2-40B4-BE49-F238E27FC236}">
                  <a16:creationId xmlns="" xmlns:a16="http://schemas.microsoft.com/office/drawing/2014/main" id="{36B5B893-028B-6DAF-0388-755B61AA9FC1}"/>
                </a:ext>
              </a:extLst>
            </p:cNvPr>
            <p:cNvSpPr>
              <a:spLocks noChangeArrowheads="1"/>
            </p:cNvSpPr>
            <p:nvPr/>
          </p:nvSpPr>
          <p:spPr bwMode="auto">
            <a:xfrm>
              <a:off x="3518" y="2749"/>
              <a:ext cx="169" cy="9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r>
                <a:rPr lang="en-US" altLang="zh-CN" sz="1000">
                  <a:solidFill>
                    <a:schemeClr val="tx1"/>
                  </a:solidFill>
                </a:rPr>
                <a:t>d)</a:t>
              </a:r>
              <a:endParaRPr lang="en-US" altLang="zh-CN" sz="1800" b="1">
                <a:solidFill>
                  <a:schemeClr val="tx1"/>
                </a:solidFill>
                <a:latin typeface="Tahoma" panose="020B0604030504040204" pitchFamily="34" charset="0"/>
              </a:endParaRPr>
            </a:p>
          </p:txBody>
        </p:sp>
        <p:sp>
          <p:nvSpPr>
            <p:cNvPr id="74" name="矩形 14546">
              <a:extLst>
                <a:ext uri="{FF2B5EF4-FFF2-40B4-BE49-F238E27FC236}">
                  <a16:creationId xmlns="" xmlns:a16="http://schemas.microsoft.com/office/drawing/2014/main" id="{F800AE3B-50E1-7412-6033-F706DEE22D51}"/>
                </a:ext>
              </a:extLst>
            </p:cNvPr>
            <p:cNvSpPr>
              <a:spLocks noChangeArrowheads="1"/>
            </p:cNvSpPr>
            <p:nvPr/>
          </p:nvSpPr>
          <p:spPr bwMode="auto">
            <a:xfrm>
              <a:off x="2145" y="2008"/>
              <a:ext cx="318" cy="11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schemeClr val="tx1"/>
                </a:solidFill>
              </a:endParaRPr>
            </a:p>
          </p:txBody>
        </p:sp>
        <p:sp>
          <p:nvSpPr>
            <p:cNvPr id="75" name="矩形 14547">
              <a:extLst>
                <a:ext uri="{FF2B5EF4-FFF2-40B4-BE49-F238E27FC236}">
                  <a16:creationId xmlns="" xmlns:a16="http://schemas.microsoft.com/office/drawing/2014/main" id="{7CF22BE4-D7A4-8044-51FF-F27A646B7889}"/>
                </a:ext>
              </a:extLst>
            </p:cNvPr>
            <p:cNvSpPr>
              <a:spLocks noChangeArrowheads="1"/>
            </p:cNvSpPr>
            <p:nvPr/>
          </p:nvSpPr>
          <p:spPr bwMode="auto">
            <a:xfrm>
              <a:off x="2190" y="2008"/>
              <a:ext cx="104" cy="9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000">
                  <a:solidFill>
                    <a:schemeClr val="tx1"/>
                  </a:solidFill>
                  <a:latin typeface="Symbol" panose="05050102010706020507" pitchFamily="18" charset="2"/>
                </a:rPr>
                <a:t>Dw</a:t>
              </a:r>
              <a:endParaRPr lang="en-US" altLang="zh-CN" sz="1800" b="1">
                <a:solidFill>
                  <a:schemeClr val="tx1"/>
                </a:solidFill>
                <a:latin typeface="Tahoma" panose="020B0604030504040204" pitchFamily="34" charset="0"/>
              </a:endParaRPr>
            </a:p>
          </p:txBody>
        </p:sp>
        <p:sp>
          <p:nvSpPr>
            <p:cNvPr id="76" name="矩形 14548">
              <a:extLst>
                <a:ext uri="{FF2B5EF4-FFF2-40B4-BE49-F238E27FC236}">
                  <a16:creationId xmlns="" xmlns:a16="http://schemas.microsoft.com/office/drawing/2014/main" id="{468C2337-533A-98DA-7DC2-24744F4818C4}"/>
                </a:ext>
              </a:extLst>
            </p:cNvPr>
            <p:cNvSpPr>
              <a:spLocks noChangeArrowheads="1"/>
            </p:cNvSpPr>
            <p:nvPr/>
          </p:nvSpPr>
          <p:spPr bwMode="auto">
            <a:xfrm>
              <a:off x="2381" y="2329"/>
              <a:ext cx="43" cy="58"/>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600">
                  <a:solidFill>
                    <a:schemeClr val="tx1"/>
                  </a:solidFill>
                </a:rPr>
                <a:t>m</a:t>
              </a:r>
              <a:endParaRPr lang="en-US" altLang="zh-CN" sz="1800" b="1">
                <a:solidFill>
                  <a:schemeClr val="tx1"/>
                </a:solidFill>
                <a:latin typeface="Tahoma" panose="020B0604030504040204" pitchFamily="34" charset="0"/>
              </a:endParaRPr>
            </a:p>
          </p:txBody>
        </p:sp>
        <p:sp>
          <p:nvSpPr>
            <p:cNvPr id="77" name="任意多边形 14549">
              <a:extLst>
                <a:ext uri="{FF2B5EF4-FFF2-40B4-BE49-F238E27FC236}">
                  <a16:creationId xmlns="" xmlns:a16="http://schemas.microsoft.com/office/drawing/2014/main" id="{A6377858-591E-934D-19CD-82731B6B2E0C}"/>
                </a:ext>
              </a:extLst>
            </p:cNvPr>
            <p:cNvSpPr>
              <a:spLocks noChangeArrowheads="1"/>
            </p:cNvSpPr>
            <p:nvPr/>
          </p:nvSpPr>
          <p:spPr bwMode="auto">
            <a:xfrm>
              <a:off x="1283" y="2235"/>
              <a:ext cx="586" cy="114"/>
            </a:xfrm>
            <a:custGeom>
              <a:avLst/>
              <a:gdLst>
                <a:gd name="T0" fmla="*/ 29 w 1465"/>
                <a:gd name="T1" fmla="*/ 0 h 285"/>
                <a:gd name="T2" fmla="*/ 0 w 1465"/>
                <a:gd name="T3" fmla="*/ 26 h 285"/>
                <a:gd name="T4" fmla="*/ 81 w 1465"/>
                <a:gd name="T5" fmla="*/ 72 h 285"/>
                <a:gd name="T6" fmla="*/ 172 w 1465"/>
                <a:gd name="T7" fmla="*/ 120 h 285"/>
                <a:gd name="T8" fmla="*/ 259 w 1465"/>
                <a:gd name="T9" fmla="*/ 162 h 285"/>
                <a:gd name="T10" fmla="*/ 352 w 1465"/>
                <a:gd name="T11" fmla="*/ 200 h 285"/>
                <a:gd name="T12" fmla="*/ 360 w 1465"/>
                <a:gd name="T13" fmla="*/ 201 h 285"/>
                <a:gd name="T14" fmla="*/ 447 w 1465"/>
                <a:gd name="T15" fmla="*/ 235 h 285"/>
                <a:gd name="T16" fmla="*/ 535 w 1465"/>
                <a:gd name="T17" fmla="*/ 259 h 285"/>
                <a:gd name="T18" fmla="*/ 627 w 1465"/>
                <a:gd name="T19" fmla="*/ 276 h 285"/>
                <a:gd name="T20" fmla="*/ 637 w 1465"/>
                <a:gd name="T21" fmla="*/ 279 h 285"/>
                <a:gd name="T22" fmla="*/ 684 w 1465"/>
                <a:gd name="T23" fmla="*/ 282 h 285"/>
                <a:gd name="T24" fmla="*/ 727 w 1465"/>
                <a:gd name="T25" fmla="*/ 285 h 285"/>
                <a:gd name="T26" fmla="*/ 772 w 1465"/>
                <a:gd name="T27" fmla="*/ 282 h 285"/>
                <a:gd name="T28" fmla="*/ 817 w 1465"/>
                <a:gd name="T29" fmla="*/ 279 h 285"/>
                <a:gd name="T30" fmla="*/ 830 w 1465"/>
                <a:gd name="T31" fmla="*/ 276 h 285"/>
                <a:gd name="T32" fmla="*/ 917 w 1465"/>
                <a:gd name="T33" fmla="*/ 259 h 285"/>
                <a:gd name="T34" fmla="*/ 1010 w 1465"/>
                <a:gd name="T35" fmla="*/ 235 h 285"/>
                <a:gd name="T36" fmla="*/ 1097 w 1465"/>
                <a:gd name="T37" fmla="*/ 201 h 285"/>
                <a:gd name="T38" fmla="*/ 1105 w 1465"/>
                <a:gd name="T39" fmla="*/ 200 h 285"/>
                <a:gd name="T40" fmla="*/ 1197 w 1465"/>
                <a:gd name="T41" fmla="*/ 162 h 285"/>
                <a:gd name="T42" fmla="*/ 1285 w 1465"/>
                <a:gd name="T43" fmla="*/ 120 h 285"/>
                <a:gd name="T44" fmla="*/ 1377 w 1465"/>
                <a:gd name="T45" fmla="*/ 73 h 285"/>
                <a:gd name="T46" fmla="*/ 1465 w 1465"/>
                <a:gd name="T47" fmla="*/ 29 h 285"/>
                <a:gd name="T48" fmla="*/ 1435 w 1465"/>
                <a:gd name="T49" fmla="*/ 1 h 285"/>
                <a:gd name="T50" fmla="*/ 1337 w 1465"/>
                <a:gd name="T51" fmla="*/ 49 h 285"/>
                <a:gd name="T52" fmla="*/ 1247 w 1465"/>
                <a:gd name="T53" fmla="*/ 94 h 285"/>
                <a:gd name="T54" fmla="*/ 1157 w 1465"/>
                <a:gd name="T55" fmla="*/ 136 h 285"/>
                <a:gd name="T56" fmla="*/ 1067 w 1465"/>
                <a:gd name="T57" fmla="*/ 175 h 285"/>
                <a:gd name="T58" fmla="*/ 1087 w 1465"/>
                <a:gd name="T59" fmla="*/ 190 h 285"/>
                <a:gd name="T60" fmla="*/ 1075 w 1465"/>
                <a:gd name="T61" fmla="*/ 172 h 285"/>
                <a:gd name="T62" fmla="*/ 987 w 1465"/>
                <a:gd name="T63" fmla="*/ 204 h 285"/>
                <a:gd name="T64" fmla="*/ 895 w 1465"/>
                <a:gd name="T65" fmla="*/ 230 h 285"/>
                <a:gd name="T66" fmla="*/ 807 w 1465"/>
                <a:gd name="T67" fmla="*/ 247 h 285"/>
                <a:gd name="T68" fmla="*/ 817 w 1465"/>
                <a:gd name="T69" fmla="*/ 262 h 285"/>
                <a:gd name="T70" fmla="*/ 817 w 1465"/>
                <a:gd name="T71" fmla="*/ 247 h 285"/>
                <a:gd name="T72" fmla="*/ 772 w 1465"/>
                <a:gd name="T73" fmla="*/ 249 h 285"/>
                <a:gd name="T74" fmla="*/ 727 w 1465"/>
                <a:gd name="T75" fmla="*/ 252 h 285"/>
                <a:gd name="T76" fmla="*/ 684 w 1465"/>
                <a:gd name="T77" fmla="*/ 249 h 285"/>
                <a:gd name="T78" fmla="*/ 637 w 1465"/>
                <a:gd name="T79" fmla="*/ 247 h 285"/>
                <a:gd name="T80" fmla="*/ 637 w 1465"/>
                <a:gd name="T81" fmla="*/ 262 h 285"/>
                <a:gd name="T82" fmla="*/ 650 w 1465"/>
                <a:gd name="T83" fmla="*/ 247 h 285"/>
                <a:gd name="T84" fmla="*/ 557 w 1465"/>
                <a:gd name="T85" fmla="*/ 230 h 285"/>
                <a:gd name="T86" fmla="*/ 470 w 1465"/>
                <a:gd name="T87" fmla="*/ 204 h 285"/>
                <a:gd name="T88" fmla="*/ 382 w 1465"/>
                <a:gd name="T89" fmla="*/ 172 h 285"/>
                <a:gd name="T90" fmla="*/ 369 w 1465"/>
                <a:gd name="T91" fmla="*/ 190 h 285"/>
                <a:gd name="T92" fmla="*/ 390 w 1465"/>
                <a:gd name="T93" fmla="*/ 175 h 285"/>
                <a:gd name="T94" fmla="*/ 297 w 1465"/>
                <a:gd name="T95" fmla="*/ 136 h 285"/>
                <a:gd name="T96" fmla="*/ 210 w 1465"/>
                <a:gd name="T97" fmla="*/ 94 h 285"/>
                <a:gd name="T98" fmla="*/ 122 w 1465"/>
                <a:gd name="T99" fmla="*/ 46 h 285"/>
                <a:gd name="T100" fmla="*/ 29 w 1465"/>
                <a:gd name="T101" fmla="*/ 0 h 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465" h="285">
                  <a:moveTo>
                    <a:pt x="29" y="0"/>
                  </a:moveTo>
                  <a:lnTo>
                    <a:pt x="0" y="26"/>
                  </a:lnTo>
                  <a:lnTo>
                    <a:pt x="81" y="72"/>
                  </a:lnTo>
                  <a:lnTo>
                    <a:pt x="172" y="120"/>
                  </a:lnTo>
                  <a:lnTo>
                    <a:pt x="259" y="162"/>
                  </a:lnTo>
                  <a:lnTo>
                    <a:pt x="352" y="200"/>
                  </a:lnTo>
                  <a:lnTo>
                    <a:pt x="360" y="201"/>
                  </a:lnTo>
                  <a:lnTo>
                    <a:pt x="447" y="235"/>
                  </a:lnTo>
                  <a:lnTo>
                    <a:pt x="535" y="259"/>
                  </a:lnTo>
                  <a:lnTo>
                    <a:pt x="627" y="276"/>
                  </a:lnTo>
                  <a:lnTo>
                    <a:pt x="637" y="279"/>
                  </a:lnTo>
                  <a:lnTo>
                    <a:pt x="684" y="282"/>
                  </a:lnTo>
                  <a:lnTo>
                    <a:pt x="727" y="285"/>
                  </a:lnTo>
                  <a:lnTo>
                    <a:pt x="772" y="282"/>
                  </a:lnTo>
                  <a:lnTo>
                    <a:pt x="817" y="279"/>
                  </a:lnTo>
                  <a:lnTo>
                    <a:pt x="830" y="276"/>
                  </a:lnTo>
                  <a:lnTo>
                    <a:pt x="917" y="259"/>
                  </a:lnTo>
                  <a:lnTo>
                    <a:pt x="1010" y="235"/>
                  </a:lnTo>
                  <a:lnTo>
                    <a:pt x="1097" y="201"/>
                  </a:lnTo>
                  <a:lnTo>
                    <a:pt x="1105" y="200"/>
                  </a:lnTo>
                  <a:lnTo>
                    <a:pt x="1197" y="162"/>
                  </a:lnTo>
                  <a:lnTo>
                    <a:pt x="1285" y="120"/>
                  </a:lnTo>
                  <a:lnTo>
                    <a:pt x="1377" y="73"/>
                  </a:lnTo>
                  <a:lnTo>
                    <a:pt x="1465" y="29"/>
                  </a:lnTo>
                  <a:lnTo>
                    <a:pt x="1435" y="1"/>
                  </a:lnTo>
                  <a:lnTo>
                    <a:pt x="1337" y="49"/>
                  </a:lnTo>
                  <a:lnTo>
                    <a:pt x="1247" y="94"/>
                  </a:lnTo>
                  <a:lnTo>
                    <a:pt x="1157" y="136"/>
                  </a:lnTo>
                  <a:lnTo>
                    <a:pt x="1067" y="175"/>
                  </a:lnTo>
                  <a:lnTo>
                    <a:pt x="1087" y="190"/>
                  </a:lnTo>
                  <a:lnTo>
                    <a:pt x="1075" y="172"/>
                  </a:lnTo>
                  <a:lnTo>
                    <a:pt x="987" y="204"/>
                  </a:lnTo>
                  <a:lnTo>
                    <a:pt x="895" y="230"/>
                  </a:lnTo>
                  <a:lnTo>
                    <a:pt x="807" y="247"/>
                  </a:lnTo>
                  <a:lnTo>
                    <a:pt x="817" y="262"/>
                  </a:lnTo>
                  <a:lnTo>
                    <a:pt x="817" y="247"/>
                  </a:lnTo>
                  <a:lnTo>
                    <a:pt x="772" y="249"/>
                  </a:lnTo>
                  <a:lnTo>
                    <a:pt x="727" y="252"/>
                  </a:lnTo>
                  <a:lnTo>
                    <a:pt x="684" y="249"/>
                  </a:lnTo>
                  <a:lnTo>
                    <a:pt x="637" y="247"/>
                  </a:lnTo>
                  <a:lnTo>
                    <a:pt x="637" y="262"/>
                  </a:lnTo>
                  <a:lnTo>
                    <a:pt x="650" y="247"/>
                  </a:lnTo>
                  <a:lnTo>
                    <a:pt x="557" y="230"/>
                  </a:lnTo>
                  <a:lnTo>
                    <a:pt x="470" y="204"/>
                  </a:lnTo>
                  <a:lnTo>
                    <a:pt x="382" y="172"/>
                  </a:lnTo>
                  <a:lnTo>
                    <a:pt x="369" y="190"/>
                  </a:lnTo>
                  <a:lnTo>
                    <a:pt x="390" y="175"/>
                  </a:lnTo>
                  <a:lnTo>
                    <a:pt x="297" y="136"/>
                  </a:lnTo>
                  <a:lnTo>
                    <a:pt x="210" y="94"/>
                  </a:lnTo>
                  <a:lnTo>
                    <a:pt x="122" y="46"/>
                  </a:lnTo>
                  <a:lnTo>
                    <a:pt x="29" y="0"/>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78" name="任意多边形 14550">
              <a:extLst>
                <a:ext uri="{FF2B5EF4-FFF2-40B4-BE49-F238E27FC236}">
                  <a16:creationId xmlns="" xmlns:a16="http://schemas.microsoft.com/office/drawing/2014/main" id="{8C69E1F3-79FA-1362-D057-FFC080825356}"/>
                </a:ext>
              </a:extLst>
            </p:cNvPr>
            <p:cNvSpPr>
              <a:spLocks noChangeArrowheads="1"/>
            </p:cNvSpPr>
            <p:nvPr/>
          </p:nvSpPr>
          <p:spPr bwMode="auto">
            <a:xfrm>
              <a:off x="1864" y="2133"/>
              <a:ext cx="588" cy="114"/>
            </a:xfrm>
            <a:custGeom>
              <a:avLst/>
              <a:gdLst>
                <a:gd name="T0" fmla="*/ 0 w 1469"/>
                <a:gd name="T1" fmla="*/ 257 h 285"/>
                <a:gd name="T2" fmla="*/ 32 w 1469"/>
                <a:gd name="T3" fmla="*/ 285 h 285"/>
                <a:gd name="T4" fmla="*/ 125 w 1469"/>
                <a:gd name="T5" fmla="*/ 234 h 285"/>
                <a:gd name="T6" fmla="*/ 214 w 1469"/>
                <a:gd name="T7" fmla="*/ 189 h 285"/>
                <a:gd name="T8" fmla="*/ 304 w 1469"/>
                <a:gd name="T9" fmla="*/ 147 h 285"/>
                <a:gd name="T10" fmla="*/ 392 w 1469"/>
                <a:gd name="T11" fmla="*/ 107 h 285"/>
                <a:gd name="T12" fmla="*/ 375 w 1469"/>
                <a:gd name="T13" fmla="*/ 94 h 285"/>
                <a:gd name="T14" fmla="*/ 382 w 1469"/>
                <a:gd name="T15" fmla="*/ 110 h 285"/>
                <a:gd name="T16" fmla="*/ 474 w 1469"/>
                <a:gd name="T17" fmla="*/ 77 h 285"/>
                <a:gd name="T18" fmla="*/ 562 w 1469"/>
                <a:gd name="T19" fmla="*/ 55 h 285"/>
                <a:gd name="T20" fmla="*/ 649 w 1469"/>
                <a:gd name="T21" fmla="*/ 37 h 285"/>
                <a:gd name="T22" fmla="*/ 642 w 1469"/>
                <a:gd name="T23" fmla="*/ 22 h 285"/>
                <a:gd name="T24" fmla="*/ 642 w 1469"/>
                <a:gd name="T25" fmla="*/ 37 h 285"/>
                <a:gd name="T26" fmla="*/ 684 w 1469"/>
                <a:gd name="T27" fmla="*/ 35 h 285"/>
                <a:gd name="T28" fmla="*/ 729 w 1469"/>
                <a:gd name="T29" fmla="*/ 32 h 285"/>
                <a:gd name="T30" fmla="*/ 772 w 1469"/>
                <a:gd name="T31" fmla="*/ 35 h 285"/>
                <a:gd name="T32" fmla="*/ 822 w 1469"/>
                <a:gd name="T33" fmla="*/ 37 h 285"/>
                <a:gd name="T34" fmla="*/ 822 w 1469"/>
                <a:gd name="T35" fmla="*/ 22 h 285"/>
                <a:gd name="T36" fmla="*/ 807 w 1469"/>
                <a:gd name="T37" fmla="*/ 37 h 285"/>
                <a:gd name="T38" fmla="*/ 899 w 1469"/>
                <a:gd name="T39" fmla="*/ 52 h 285"/>
                <a:gd name="T40" fmla="*/ 987 w 1469"/>
                <a:gd name="T41" fmla="*/ 77 h 285"/>
                <a:gd name="T42" fmla="*/ 1079 w 1469"/>
                <a:gd name="T43" fmla="*/ 107 h 285"/>
                <a:gd name="T44" fmla="*/ 1089 w 1469"/>
                <a:gd name="T45" fmla="*/ 94 h 285"/>
                <a:gd name="T46" fmla="*/ 1072 w 1469"/>
                <a:gd name="T47" fmla="*/ 104 h 285"/>
                <a:gd name="T48" fmla="*/ 1159 w 1469"/>
                <a:gd name="T49" fmla="*/ 142 h 285"/>
                <a:gd name="T50" fmla="*/ 1252 w 1469"/>
                <a:gd name="T51" fmla="*/ 187 h 285"/>
                <a:gd name="T52" fmla="*/ 1342 w 1469"/>
                <a:gd name="T53" fmla="*/ 232 h 285"/>
                <a:gd name="T54" fmla="*/ 1439 w 1469"/>
                <a:gd name="T55" fmla="*/ 282 h 285"/>
                <a:gd name="T56" fmla="*/ 1469 w 1469"/>
                <a:gd name="T57" fmla="*/ 254 h 285"/>
                <a:gd name="T58" fmla="*/ 1382 w 1469"/>
                <a:gd name="T59" fmla="*/ 209 h 285"/>
                <a:gd name="T60" fmla="*/ 1289 w 1469"/>
                <a:gd name="T61" fmla="*/ 162 h 285"/>
                <a:gd name="T62" fmla="*/ 1199 w 1469"/>
                <a:gd name="T63" fmla="*/ 120 h 285"/>
                <a:gd name="T64" fmla="*/ 1109 w 1469"/>
                <a:gd name="T65" fmla="*/ 79 h 285"/>
                <a:gd name="T66" fmla="*/ 1102 w 1469"/>
                <a:gd name="T67" fmla="*/ 77 h 285"/>
                <a:gd name="T68" fmla="*/ 1009 w 1469"/>
                <a:gd name="T69" fmla="*/ 47 h 285"/>
                <a:gd name="T70" fmla="*/ 922 w 1469"/>
                <a:gd name="T71" fmla="*/ 22 h 285"/>
                <a:gd name="T72" fmla="*/ 829 w 1469"/>
                <a:gd name="T73" fmla="*/ 7 h 285"/>
                <a:gd name="T74" fmla="*/ 822 w 1469"/>
                <a:gd name="T75" fmla="*/ 5 h 285"/>
                <a:gd name="T76" fmla="*/ 772 w 1469"/>
                <a:gd name="T77" fmla="*/ 2 h 285"/>
                <a:gd name="T78" fmla="*/ 729 w 1469"/>
                <a:gd name="T79" fmla="*/ 0 h 285"/>
                <a:gd name="T80" fmla="*/ 684 w 1469"/>
                <a:gd name="T81" fmla="*/ 2 h 285"/>
                <a:gd name="T82" fmla="*/ 642 w 1469"/>
                <a:gd name="T83" fmla="*/ 5 h 285"/>
                <a:gd name="T84" fmla="*/ 627 w 1469"/>
                <a:gd name="T85" fmla="*/ 7 h 285"/>
                <a:gd name="T86" fmla="*/ 539 w 1469"/>
                <a:gd name="T87" fmla="*/ 25 h 285"/>
                <a:gd name="T88" fmla="*/ 452 w 1469"/>
                <a:gd name="T89" fmla="*/ 47 h 285"/>
                <a:gd name="T90" fmla="*/ 360 w 1469"/>
                <a:gd name="T91" fmla="*/ 79 h 285"/>
                <a:gd name="T92" fmla="*/ 352 w 1469"/>
                <a:gd name="T93" fmla="*/ 84 h 285"/>
                <a:gd name="T94" fmla="*/ 265 w 1469"/>
                <a:gd name="T95" fmla="*/ 122 h 285"/>
                <a:gd name="T96" fmla="*/ 177 w 1469"/>
                <a:gd name="T97" fmla="*/ 164 h 285"/>
                <a:gd name="T98" fmla="*/ 84 w 1469"/>
                <a:gd name="T99" fmla="*/ 212 h 285"/>
                <a:gd name="T100" fmla="*/ 0 w 1469"/>
                <a:gd name="T101" fmla="*/ 257 h 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469" h="285">
                  <a:moveTo>
                    <a:pt x="0" y="257"/>
                  </a:moveTo>
                  <a:lnTo>
                    <a:pt x="32" y="285"/>
                  </a:lnTo>
                  <a:lnTo>
                    <a:pt x="125" y="234"/>
                  </a:lnTo>
                  <a:lnTo>
                    <a:pt x="214" y="189"/>
                  </a:lnTo>
                  <a:lnTo>
                    <a:pt x="304" y="147"/>
                  </a:lnTo>
                  <a:lnTo>
                    <a:pt x="392" y="107"/>
                  </a:lnTo>
                  <a:lnTo>
                    <a:pt x="375" y="94"/>
                  </a:lnTo>
                  <a:lnTo>
                    <a:pt x="382" y="110"/>
                  </a:lnTo>
                  <a:lnTo>
                    <a:pt x="474" y="77"/>
                  </a:lnTo>
                  <a:lnTo>
                    <a:pt x="562" y="55"/>
                  </a:lnTo>
                  <a:lnTo>
                    <a:pt x="649" y="37"/>
                  </a:lnTo>
                  <a:lnTo>
                    <a:pt x="642" y="22"/>
                  </a:lnTo>
                  <a:lnTo>
                    <a:pt x="642" y="37"/>
                  </a:lnTo>
                  <a:lnTo>
                    <a:pt x="684" y="35"/>
                  </a:lnTo>
                  <a:lnTo>
                    <a:pt x="729" y="32"/>
                  </a:lnTo>
                  <a:lnTo>
                    <a:pt x="772" y="35"/>
                  </a:lnTo>
                  <a:lnTo>
                    <a:pt x="822" y="37"/>
                  </a:lnTo>
                  <a:lnTo>
                    <a:pt x="822" y="22"/>
                  </a:lnTo>
                  <a:lnTo>
                    <a:pt x="807" y="37"/>
                  </a:lnTo>
                  <a:lnTo>
                    <a:pt x="899" y="52"/>
                  </a:lnTo>
                  <a:lnTo>
                    <a:pt x="987" y="77"/>
                  </a:lnTo>
                  <a:lnTo>
                    <a:pt x="1079" y="107"/>
                  </a:lnTo>
                  <a:lnTo>
                    <a:pt x="1089" y="94"/>
                  </a:lnTo>
                  <a:lnTo>
                    <a:pt x="1072" y="104"/>
                  </a:lnTo>
                  <a:lnTo>
                    <a:pt x="1159" y="142"/>
                  </a:lnTo>
                  <a:lnTo>
                    <a:pt x="1252" y="187"/>
                  </a:lnTo>
                  <a:lnTo>
                    <a:pt x="1342" y="232"/>
                  </a:lnTo>
                  <a:lnTo>
                    <a:pt x="1439" y="282"/>
                  </a:lnTo>
                  <a:lnTo>
                    <a:pt x="1469" y="254"/>
                  </a:lnTo>
                  <a:lnTo>
                    <a:pt x="1382" y="209"/>
                  </a:lnTo>
                  <a:lnTo>
                    <a:pt x="1289" y="162"/>
                  </a:lnTo>
                  <a:lnTo>
                    <a:pt x="1199" y="120"/>
                  </a:lnTo>
                  <a:lnTo>
                    <a:pt x="1109" y="79"/>
                  </a:lnTo>
                  <a:lnTo>
                    <a:pt x="1102" y="77"/>
                  </a:lnTo>
                  <a:lnTo>
                    <a:pt x="1009" y="47"/>
                  </a:lnTo>
                  <a:lnTo>
                    <a:pt x="922" y="22"/>
                  </a:lnTo>
                  <a:lnTo>
                    <a:pt x="829" y="7"/>
                  </a:lnTo>
                  <a:lnTo>
                    <a:pt x="822" y="5"/>
                  </a:lnTo>
                  <a:lnTo>
                    <a:pt x="772" y="2"/>
                  </a:lnTo>
                  <a:lnTo>
                    <a:pt x="729" y="0"/>
                  </a:lnTo>
                  <a:lnTo>
                    <a:pt x="684" y="2"/>
                  </a:lnTo>
                  <a:lnTo>
                    <a:pt x="642" y="5"/>
                  </a:lnTo>
                  <a:lnTo>
                    <a:pt x="627" y="7"/>
                  </a:lnTo>
                  <a:lnTo>
                    <a:pt x="539" y="25"/>
                  </a:lnTo>
                  <a:lnTo>
                    <a:pt x="452" y="47"/>
                  </a:lnTo>
                  <a:lnTo>
                    <a:pt x="360" y="79"/>
                  </a:lnTo>
                  <a:lnTo>
                    <a:pt x="352" y="84"/>
                  </a:lnTo>
                  <a:lnTo>
                    <a:pt x="265" y="122"/>
                  </a:lnTo>
                  <a:lnTo>
                    <a:pt x="177" y="164"/>
                  </a:lnTo>
                  <a:lnTo>
                    <a:pt x="84" y="212"/>
                  </a:lnTo>
                  <a:lnTo>
                    <a:pt x="0" y="257"/>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79" name="任意多边形 14551">
              <a:extLst>
                <a:ext uri="{FF2B5EF4-FFF2-40B4-BE49-F238E27FC236}">
                  <a16:creationId xmlns="" xmlns:a16="http://schemas.microsoft.com/office/drawing/2014/main" id="{C4A14D19-E36A-E6E2-4FD4-42E2FE49CA28}"/>
                </a:ext>
              </a:extLst>
            </p:cNvPr>
            <p:cNvSpPr>
              <a:spLocks noChangeArrowheads="1"/>
            </p:cNvSpPr>
            <p:nvPr/>
          </p:nvSpPr>
          <p:spPr bwMode="auto">
            <a:xfrm>
              <a:off x="2431" y="2236"/>
              <a:ext cx="587" cy="114"/>
            </a:xfrm>
            <a:custGeom>
              <a:avLst/>
              <a:gdLst>
                <a:gd name="T0" fmla="*/ 32 w 1467"/>
                <a:gd name="T1" fmla="*/ 0 h 284"/>
                <a:gd name="T2" fmla="*/ 0 w 1467"/>
                <a:gd name="T3" fmla="*/ 26 h 284"/>
                <a:gd name="T4" fmla="*/ 85 w 1467"/>
                <a:gd name="T5" fmla="*/ 72 h 284"/>
                <a:gd name="T6" fmla="*/ 177 w 1467"/>
                <a:gd name="T7" fmla="*/ 120 h 284"/>
                <a:gd name="T8" fmla="*/ 265 w 1467"/>
                <a:gd name="T9" fmla="*/ 161 h 284"/>
                <a:gd name="T10" fmla="*/ 352 w 1467"/>
                <a:gd name="T11" fmla="*/ 199 h 284"/>
                <a:gd name="T12" fmla="*/ 360 w 1467"/>
                <a:gd name="T13" fmla="*/ 201 h 284"/>
                <a:gd name="T14" fmla="*/ 452 w 1467"/>
                <a:gd name="T15" fmla="*/ 233 h 284"/>
                <a:gd name="T16" fmla="*/ 540 w 1467"/>
                <a:gd name="T17" fmla="*/ 258 h 284"/>
                <a:gd name="T18" fmla="*/ 627 w 1467"/>
                <a:gd name="T19" fmla="*/ 276 h 284"/>
                <a:gd name="T20" fmla="*/ 642 w 1467"/>
                <a:gd name="T21" fmla="*/ 278 h 284"/>
                <a:gd name="T22" fmla="*/ 684 w 1467"/>
                <a:gd name="T23" fmla="*/ 281 h 284"/>
                <a:gd name="T24" fmla="*/ 729 w 1467"/>
                <a:gd name="T25" fmla="*/ 284 h 284"/>
                <a:gd name="T26" fmla="*/ 772 w 1467"/>
                <a:gd name="T27" fmla="*/ 281 h 284"/>
                <a:gd name="T28" fmla="*/ 817 w 1467"/>
                <a:gd name="T29" fmla="*/ 278 h 284"/>
                <a:gd name="T30" fmla="*/ 829 w 1467"/>
                <a:gd name="T31" fmla="*/ 276 h 284"/>
                <a:gd name="T32" fmla="*/ 917 w 1467"/>
                <a:gd name="T33" fmla="*/ 258 h 284"/>
                <a:gd name="T34" fmla="*/ 1009 w 1467"/>
                <a:gd name="T35" fmla="*/ 233 h 284"/>
                <a:gd name="T36" fmla="*/ 1097 w 1467"/>
                <a:gd name="T37" fmla="*/ 201 h 284"/>
                <a:gd name="T38" fmla="*/ 1107 w 1467"/>
                <a:gd name="T39" fmla="*/ 199 h 284"/>
                <a:gd name="T40" fmla="*/ 1200 w 1467"/>
                <a:gd name="T41" fmla="*/ 161 h 284"/>
                <a:gd name="T42" fmla="*/ 1287 w 1467"/>
                <a:gd name="T43" fmla="*/ 120 h 284"/>
                <a:gd name="T44" fmla="*/ 1377 w 1467"/>
                <a:gd name="T45" fmla="*/ 73 h 284"/>
                <a:gd name="T46" fmla="*/ 1467 w 1467"/>
                <a:gd name="T47" fmla="*/ 28 h 284"/>
                <a:gd name="T48" fmla="*/ 1435 w 1467"/>
                <a:gd name="T49" fmla="*/ 1 h 284"/>
                <a:gd name="T50" fmla="*/ 1339 w 1467"/>
                <a:gd name="T51" fmla="*/ 49 h 284"/>
                <a:gd name="T52" fmla="*/ 1247 w 1467"/>
                <a:gd name="T53" fmla="*/ 93 h 284"/>
                <a:gd name="T54" fmla="*/ 1160 w 1467"/>
                <a:gd name="T55" fmla="*/ 136 h 284"/>
                <a:gd name="T56" fmla="*/ 1067 w 1467"/>
                <a:gd name="T57" fmla="*/ 174 h 284"/>
                <a:gd name="T58" fmla="*/ 1089 w 1467"/>
                <a:gd name="T59" fmla="*/ 189 h 284"/>
                <a:gd name="T60" fmla="*/ 1074 w 1467"/>
                <a:gd name="T61" fmla="*/ 171 h 284"/>
                <a:gd name="T62" fmla="*/ 987 w 1467"/>
                <a:gd name="T63" fmla="*/ 203 h 284"/>
                <a:gd name="T64" fmla="*/ 894 w 1467"/>
                <a:gd name="T65" fmla="*/ 229 h 284"/>
                <a:gd name="T66" fmla="*/ 807 w 1467"/>
                <a:gd name="T67" fmla="*/ 246 h 284"/>
                <a:gd name="T68" fmla="*/ 817 w 1467"/>
                <a:gd name="T69" fmla="*/ 261 h 284"/>
                <a:gd name="T70" fmla="*/ 817 w 1467"/>
                <a:gd name="T71" fmla="*/ 246 h 284"/>
                <a:gd name="T72" fmla="*/ 772 w 1467"/>
                <a:gd name="T73" fmla="*/ 249 h 284"/>
                <a:gd name="T74" fmla="*/ 729 w 1467"/>
                <a:gd name="T75" fmla="*/ 251 h 284"/>
                <a:gd name="T76" fmla="*/ 684 w 1467"/>
                <a:gd name="T77" fmla="*/ 249 h 284"/>
                <a:gd name="T78" fmla="*/ 642 w 1467"/>
                <a:gd name="T79" fmla="*/ 246 h 284"/>
                <a:gd name="T80" fmla="*/ 642 w 1467"/>
                <a:gd name="T81" fmla="*/ 261 h 284"/>
                <a:gd name="T82" fmla="*/ 649 w 1467"/>
                <a:gd name="T83" fmla="*/ 246 h 284"/>
                <a:gd name="T84" fmla="*/ 562 w 1467"/>
                <a:gd name="T85" fmla="*/ 229 h 284"/>
                <a:gd name="T86" fmla="*/ 475 w 1467"/>
                <a:gd name="T87" fmla="*/ 203 h 284"/>
                <a:gd name="T88" fmla="*/ 382 w 1467"/>
                <a:gd name="T89" fmla="*/ 171 h 284"/>
                <a:gd name="T90" fmla="*/ 374 w 1467"/>
                <a:gd name="T91" fmla="*/ 189 h 284"/>
                <a:gd name="T92" fmla="*/ 392 w 1467"/>
                <a:gd name="T93" fmla="*/ 174 h 284"/>
                <a:gd name="T94" fmla="*/ 305 w 1467"/>
                <a:gd name="T95" fmla="*/ 136 h 284"/>
                <a:gd name="T96" fmla="*/ 215 w 1467"/>
                <a:gd name="T97" fmla="*/ 93 h 284"/>
                <a:gd name="T98" fmla="*/ 125 w 1467"/>
                <a:gd name="T99" fmla="*/ 46 h 284"/>
                <a:gd name="T100" fmla="*/ 32 w 1467"/>
                <a:gd name="T101" fmla="*/ 0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467" h="284">
                  <a:moveTo>
                    <a:pt x="32" y="0"/>
                  </a:moveTo>
                  <a:lnTo>
                    <a:pt x="0" y="26"/>
                  </a:lnTo>
                  <a:lnTo>
                    <a:pt x="85" y="72"/>
                  </a:lnTo>
                  <a:lnTo>
                    <a:pt x="177" y="120"/>
                  </a:lnTo>
                  <a:lnTo>
                    <a:pt x="265" y="161"/>
                  </a:lnTo>
                  <a:lnTo>
                    <a:pt x="352" y="199"/>
                  </a:lnTo>
                  <a:lnTo>
                    <a:pt x="360" y="201"/>
                  </a:lnTo>
                  <a:lnTo>
                    <a:pt x="452" y="233"/>
                  </a:lnTo>
                  <a:lnTo>
                    <a:pt x="540" y="258"/>
                  </a:lnTo>
                  <a:lnTo>
                    <a:pt x="627" y="276"/>
                  </a:lnTo>
                  <a:lnTo>
                    <a:pt x="642" y="278"/>
                  </a:lnTo>
                  <a:lnTo>
                    <a:pt x="684" y="281"/>
                  </a:lnTo>
                  <a:lnTo>
                    <a:pt x="729" y="284"/>
                  </a:lnTo>
                  <a:lnTo>
                    <a:pt x="772" y="281"/>
                  </a:lnTo>
                  <a:lnTo>
                    <a:pt x="817" y="278"/>
                  </a:lnTo>
                  <a:lnTo>
                    <a:pt x="829" y="276"/>
                  </a:lnTo>
                  <a:lnTo>
                    <a:pt x="917" y="258"/>
                  </a:lnTo>
                  <a:lnTo>
                    <a:pt x="1009" y="233"/>
                  </a:lnTo>
                  <a:lnTo>
                    <a:pt x="1097" y="201"/>
                  </a:lnTo>
                  <a:lnTo>
                    <a:pt x="1107" y="199"/>
                  </a:lnTo>
                  <a:lnTo>
                    <a:pt x="1200" y="161"/>
                  </a:lnTo>
                  <a:lnTo>
                    <a:pt x="1287" y="120"/>
                  </a:lnTo>
                  <a:lnTo>
                    <a:pt x="1377" y="73"/>
                  </a:lnTo>
                  <a:lnTo>
                    <a:pt x="1467" y="28"/>
                  </a:lnTo>
                  <a:lnTo>
                    <a:pt x="1435" y="1"/>
                  </a:lnTo>
                  <a:lnTo>
                    <a:pt x="1339" y="49"/>
                  </a:lnTo>
                  <a:lnTo>
                    <a:pt x="1247" y="93"/>
                  </a:lnTo>
                  <a:lnTo>
                    <a:pt x="1160" y="136"/>
                  </a:lnTo>
                  <a:lnTo>
                    <a:pt x="1067" y="174"/>
                  </a:lnTo>
                  <a:lnTo>
                    <a:pt x="1089" y="189"/>
                  </a:lnTo>
                  <a:lnTo>
                    <a:pt x="1074" y="171"/>
                  </a:lnTo>
                  <a:lnTo>
                    <a:pt x="987" y="203"/>
                  </a:lnTo>
                  <a:lnTo>
                    <a:pt x="894" y="229"/>
                  </a:lnTo>
                  <a:lnTo>
                    <a:pt x="807" y="246"/>
                  </a:lnTo>
                  <a:lnTo>
                    <a:pt x="817" y="261"/>
                  </a:lnTo>
                  <a:lnTo>
                    <a:pt x="817" y="246"/>
                  </a:lnTo>
                  <a:lnTo>
                    <a:pt x="772" y="249"/>
                  </a:lnTo>
                  <a:lnTo>
                    <a:pt x="729" y="251"/>
                  </a:lnTo>
                  <a:lnTo>
                    <a:pt x="684" y="249"/>
                  </a:lnTo>
                  <a:lnTo>
                    <a:pt x="642" y="246"/>
                  </a:lnTo>
                  <a:lnTo>
                    <a:pt x="642" y="261"/>
                  </a:lnTo>
                  <a:lnTo>
                    <a:pt x="649" y="246"/>
                  </a:lnTo>
                  <a:lnTo>
                    <a:pt x="562" y="229"/>
                  </a:lnTo>
                  <a:lnTo>
                    <a:pt x="475" y="203"/>
                  </a:lnTo>
                  <a:lnTo>
                    <a:pt x="382" y="171"/>
                  </a:lnTo>
                  <a:lnTo>
                    <a:pt x="374" y="189"/>
                  </a:lnTo>
                  <a:lnTo>
                    <a:pt x="392" y="174"/>
                  </a:lnTo>
                  <a:lnTo>
                    <a:pt x="305" y="136"/>
                  </a:lnTo>
                  <a:lnTo>
                    <a:pt x="215" y="93"/>
                  </a:lnTo>
                  <a:lnTo>
                    <a:pt x="125" y="46"/>
                  </a:lnTo>
                  <a:lnTo>
                    <a:pt x="32" y="0"/>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grpSp>
          <p:nvGrpSpPr>
            <p:cNvPr id="80" name="组合 14552">
              <a:extLst>
                <a:ext uri="{FF2B5EF4-FFF2-40B4-BE49-F238E27FC236}">
                  <a16:creationId xmlns="" xmlns:a16="http://schemas.microsoft.com/office/drawing/2014/main" id="{3F078465-39EF-8B59-7BF7-7ED77B800EE6}"/>
                </a:ext>
              </a:extLst>
            </p:cNvPr>
            <p:cNvGrpSpPr>
              <a:grpSpLocks/>
            </p:cNvGrpSpPr>
            <p:nvPr/>
          </p:nvGrpSpPr>
          <p:grpSpPr bwMode="auto">
            <a:xfrm>
              <a:off x="1283" y="2643"/>
              <a:ext cx="1697" cy="305"/>
              <a:chOff x="1283" y="2643"/>
              <a:chExt cx="1697" cy="305"/>
            </a:xfrm>
          </p:grpSpPr>
          <p:sp>
            <p:nvSpPr>
              <p:cNvPr id="82" name="任意多边形 14553">
                <a:extLst>
                  <a:ext uri="{FF2B5EF4-FFF2-40B4-BE49-F238E27FC236}">
                    <a16:creationId xmlns="" xmlns:a16="http://schemas.microsoft.com/office/drawing/2014/main" id="{6D353F2C-F21F-BA73-247E-BB86DFD560C0}"/>
                  </a:ext>
                </a:extLst>
              </p:cNvPr>
              <p:cNvSpPr>
                <a:spLocks noChangeArrowheads="1"/>
              </p:cNvSpPr>
              <p:nvPr/>
            </p:nvSpPr>
            <p:spPr bwMode="auto">
              <a:xfrm>
                <a:off x="1553" y="2791"/>
                <a:ext cx="590" cy="157"/>
              </a:xfrm>
              <a:custGeom>
                <a:avLst/>
                <a:gdLst>
                  <a:gd name="T0" fmla="*/ 35 w 1474"/>
                  <a:gd name="T1" fmla="*/ 0 h 392"/>
                  <a:gd name="T2" fmla="*/ 0 w 1474"/>
                  <a:gd name="T3" fmla="*/ 25 h 392"/>
                  <a:gd name="T4" fmla="*/ 87 w 1474"/>
                  <a:gd name="T5" fmla="*/ 92 h 392"/>
                  <a:gd name="T6" fmla="*/ 179 w 1474"/>
                  <a:gd name="T7" fmla="*/ 157 h 392"/>
                  <a:gd name="T8" fmla="*/ 266 w 1474"/>
                  <a:gd name="T9" fmla="*/ 217 h 392"/>
                  <a:gd name="T10" fmla="*/ 360 w 1474"/>
                  <a:gd name="T11" fmla="*/ 275 h 392"/>
                  <a:gd name="T12" fmla="*/ 446 w 1474"/>
                  <a:gd name="T13" fmla="*/ 320 h 392"/>
                  <a:gd name="T14" fmla="*/ 491 w 1474"/>
                  <a:gd name="T15" fmla="*/ 340 h 392"/>
                  <a:gd name="T16" fmla="*/ 499 w 1474"/>
                  <a:gd name="T17" fmla="*/ 342 h 392"/>
                  <a:gd name="T18" fmla="*/ 544 w 1474"/>
                  <a:gd name="T19" fmla="*/ 360 h 392"/>
                  <a:gd name="T20" fmla="*/ 591 w 1474"/>
                  <a:gd name="T21" fmla="*/ 372 h 392"/>
                  <a:gd name="T22" fmla="*/ 636 w 1474"/>
                  <a:gd name="T23" fmla="*/ 382 h 392"/>
                  <a:gd name="T24" fmla="*/ 679 w 1474"/>
                  <a:gd name="T25" fmla="*/ 389 h 392"/>
                  <a:gd name="T26" fmla="*/ 691 w 1474"/>
                  <a:gd name="T27" fmla="*/ 389 h 392"/>
                  <a:gd name="T28" fmla="*/ 736 w 1474"/>
                  <a:gd name="T29" fmla="*/ 392 h 392"/>
                  <a:gd name="T30" fmla="*/ 781 w 1474"/>
                  <a:gd name="T31" fmla="*/ 389 h 392"/>
                  <a:gd name="T32" fmla="*/ 794 w 1474"/>
                  <a:gd name="T33" fmla="*/ 389 h 392"/>
                  <a:gd name="T34" fmla="*/ 836 w 1474"/>
                  <a:gd name="T35" fmla="*/ 382 h 392"/>
                  <a:gd name="T36" fmla="*/ 881 w 1474"/>
                  <a:gd name="T37" fmla="*/ 372 h 392"/>
                  <a:gd name="T38" fmla="*/ 924 w 1474"/>
                  <a:gd name="T39" fmla="*/ 360 h 392"/>
                  <a:gd name="T40" fmla="*/ 969 w 1474"/>
                  <a:gd name="T41" fmla="*/ 342 h 392"/>
                  <a:gd name="T42" fmla="*/ 976 w 1474"/>
                  <a:gd name="T43" fmla="*/ 340 h 392"/>
                  <a:gd name="T44" fmla="*/ 1026 w 1474"/>
                  <a:gd name="T45" fmla="*/ 320 h 392"/>
                  <a:gd name="T46" fmla="*/ 1114 w 1474"/>
                  <a:gd name="T47" fmla="*/ 275 h 392"/>
                  <a:gd name="T48" fmla="*/ 1206 w 1474"/>
                  <a:gd name="T49" fmla="*/ 220 h 392"/>
                  <a:gd name="T50" fmla="*/ 1294 w 1474"/>
                  <a:gd name="T51" fmla="*/ 160 h 392"/>
                  <a:gd name="T52" fmla="*/ 1386 w 1474"/>
                  <a:gd name="T53" fmla="*/ 92 h 392"/>
                  <a:gd name="T54" fmla="*/ 1474 w 1474"/>
                  <a:gd name="T55" fmla="*/ 27 h 392"/>
                  <a:gd name="T56" fmla="*/ 1439 w 1474"/>
                  <a:gd name="T57" fmla="*/ 2 h 392"/>
                  <a:gd name="T58" fmla="*/ 1346 w 1474"/>
                  <a:gd name="T59" fmla="*/ 67 h 392"/>
                  <a:gd name="T60" fmla="*/ 1254 w 1474"/>
                  <a:gd name="T61" fmla="*/ 135 h 392"/>
                  <a:gd name="T62" fmla="*/ 1166 w 1474"/>
                  <a:gd name="T63" fmla="*/ 194 h 392"/>
                  <a:gd name="T64" fmla="*/ 1074 w 1474"/>
                  <a:gd name="T65" fmla="*/ 250 h 392"/>
                  <a:gd name="T66" fmla="*/ 986 w 1474"/>
                  <a:gd name="T67" fmla="*/ 297 h 392"/>
                  <a:gd name="T68" fmla="*/ 939 w 1474"/>
                  <a:gd name="T69" fmla="*/ 315 h 392"/>
                  <a:gd name="T70" fmla="*/ 959 w 1474"/>
                  <a:gd name="T71" fmla="*/ 330 h 392"/>
                  <a:gd name="T72" fmla="*/ 946 w 1474"/>
                  <a:gd name="T73" fmla="*/ 312 h 392"/>
                  <a:gd name="T74" fmla="*/ 904 w 1474"/>
                  <a:gd name="T75" fmla="*/ 330 h 392"/>
                  <a:gd name="T76" fmla="*/ 859 w 1474"/>
                  <a:gd name="T77" fmla="*/ 342 h 392"/>
                  <a:gd name="T78" fmla="*/ 816 w 1474"/>
                  <a:gd name="T79" fmla="*/ 352 h 392"/>
                  <a:gd name="T80" fmla="*/ 771 w 1474"/>
                  <a:gd name="T81" fmla="*/ 360 h 392"/>
                  <a:gd name="T82" fmla="*/ 781 w 1474"/>
                  <a:gd name="T83" fmla="*/ 372 h 392"/>
                  <a:gd name="T84" fmla="*/ 781 w 1474"/>
                  <a:gd name="T85" fmla="*/ 357 h 392"/>
                  <a:gd name="T86" fmla="*/ 736 w 1474"/>
                  <a:gd name="T87" fmla="*/ 360 h 392"/>
                  <a:gd name="T88" fmla="*/ 691 w 1474"/>
                  <a:gd name="T89" fmla="*/ 357 h 392"/>
                  <a:gd name="T90" fmla="*/ 691 w 1474"/>
                  <a:gd name="T91" fmla="*/ 372 h 392"/>
                  <a:gd name="T92" fmla="*/ 701 w 1474"/>
                  <a:gd name="T93" fmla="*/ 360 h 392"/>
                  <a:gd name="T94" fmla="*/ 656 w 1474"/>
                  <a:gd name="T95" fmla="*/ 352 h 392"/>
                  <a:gd name="T96" fmla="*/ 614 w 1474"/>
                  <a:gd name="T97" fmla="*/ 342 h 392"/>
                  <a:gd name="T98" fmla="*/ 566 w 1474"/>
                  <a:gd name="T99" fmla="*/ 330 h 392"/>
                  <a:gd name="T100" fmla="*/ 521 w 1474"/>
                  <a:gd name="T101" fmla="*/ 312 h 392"/>
                  <a:gd name="T102" fmla="*/ 511 w 1474"/>
                  <a:gd name="T103" fmla="*/ 327 h 392"/>
                  <a:gd name="T104" fmla="*/ 529 w 1474"/>
                  <a:gd name="T105" fmla="*/ 315 h 392"/>
                  <a:gd name="T106" fmla="*/ 486 w 1474"/>
                  <a:gd name="T107" fmla="*/ 297 h 392"/>
                  <a:gd name="T108" fmla="*/ 399 w 1474"/>
                  <a:gd name="T109" fmla="*/ 250 h 392"/>
                  <a:gd name="T110" fmla="*/ 306 w 1474"/>
                  <a:gd name="T111" fmla="*/ 192 h 392"/>
                  <a:gd name="T112" fmla="*/ 220 w 1474"/>
                  <a:gd name="T113" fmla="*/ 132 h 392"/>
                  <a:gd name="T114" fmla="*/ 127 w 1474"/>
                  <a:gd name="T115" fmla="*/ 67 h 392"/>
                  <a:gd name="T116" fmla="*/ 35 w 1474"/>
                  <a:gd name="T117" fmla="*/ 0 h 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474" h="392">
                    <a:moveTo>
                      <a:pt x="35" y="0"/>
                    </a:moveTo>
                    <a:lnTo>
                      <a:pt x="0" y="25"/>
                    </a:lnTo>
                    <a:lnTo>
                      <a:pt x="87" y="92"/>
                    </a:lnTo>
                    <a:lnTo>
                      <a:pt x="179" y="157"/>
                    </a:lnTo>
                    <a:lnTo>
                      <a:pt x="266" y="217"/>
                    </a:lnTo>
                    <a:lnTo>
                      <a:pt x="360" y="275"/>
                    </a:lnTo>
                    <a:lnTo>
                      <a:pt x="446" y="320"/>
                    </a:lnTo>
                    <a:lnTo>
                      <a:pt x="491" y="340"/>
                    </a:lnTo>
                    <a:lnTo>
                      <a:pt x="499" y="342"/>
                    </a:lnTo>
                    <a:lnTo>
                      <a:pt x="544" y="360"/>
                    </a:lnTo>
                    <a:lnTo>
                      <a:pt x="591" y="372"/>
                    </a:lnTo>
                    <a:lnTo>
                      <a:pt x="636" y="382"/>
                    </a:lnTo>
                    <a:lnTo>
                      <a:pt x="679" y="389"/>
                    </a:lnTo>
                    <a:lnTo>
                      <a:pt x="691" y="389"/>
                    </a:lnTo>
                    <a:lnTo>
                      <a:pt x="736" y="392"/>
                    </a:lnTo>
                    <a:lnTo>
                      <a:pt x="781" y="389"/>
                    </a:lnTo>
                    <a:lnTo>
                      <a:pt x="794" y="389"/>
                    </a:lnTo>
                    <a:lnTo>
                      <a:pt x="836" y="382"/>
                    </a:lnTo>
                    <a:lnTo>
                      <a:pt x="881" y="372"/>
                    </a:lnTo>
                    <a:lnTo>
                      <a:pt x="924" y="360"/>
                    </a:lnTo>
                    <a:lnTo>
                      <a:pt x="969" y="342"/>
                    </a:lnTo>
                    <a:lnTo>
                      <a:pt x="976" y="340"/>
                    </a:lnTo>
                    <a:lnTo>
                      <a:pt x="1026" y="320"/>
                    </a:lnTo>
                    <a:lnTo>
                      <a:pt x="1114" y="275"/>
                    </a:lnTo>
                    <a:lnTo>
                      <a:pt x="1206" y="220"/>
                    </a:lnTo>
                    <a:lnTo>
                      <a:pt x="1294" y="160"/>
                    </a:lnTo>
                    <a:lnTo>
                      <a:pt x="1386" y="92"/>
                    </a:lnTo>
                    <a:lnTo>
                      <a:pt x="1474" y="27"/>
                    </a:lnTo>
                    <a:lnTo>
                      <a:pt x="1439" y="2"/>
                    </a:lnTo>
                    <a:lnTo>
                      <a:pt x="1346" y="67"/>
                    </a:lnTo>
                    <a:lnTo>
                      <a:pt x="1254" y="135"/>
                    </a:lnTo>
                    <a:lnTo>
                      <a:pt x="1166" y="194"/>
                    </a:lnTo>
                    <a:lnTo>
                      <a:pt x="1074" y="250"/>
                    </a:lnTo>
                    <a:lnTo>
                      <a:pt x="986" y="297"/>
                    </a:lnTo>
                    <a:lnTo>
                      <a:pt x="939" y="315"/>
                    </a:lnTo>
                    <a:lnTo>
                      <a:pt x="959" y="330"/>
                    </a:lnTo>
                    <a:lnTo>
                      <a:pt x="946" y="312"/>
                    </a:lnTo>
                    <a:lnTo>
                      <a:pt x="904" y="330"/>
                    </a:lnTo>
                    <a:lnTo>
                      <a:pt x="859" y="342"/>
                    </a:lnTo>
                    <a:lnTo>
                      <a:pt x="816" y="352"/>
                    </a:lnTo>
                    <a:lnTo>
                      <a:pt x="771" y="360"/>
                    </a:lnTo>
                    <a:lnTo>
                      <a:pt x="781" y="372"/>
                    </a:lnTo>
                    <a:lnTo>
                      <a:pt x="781" y="357"/>
                    </a:lnTo>
                    <a:lnTo>
                      <a:pt x="736" y="360"/>
                    </a:lnTo>
                    <a:lnTo>
                      <a:pt x="691" y="357"/>
                    </a:lnTo>
                    <a:lnTo>
                      <a:pt x="691" y="372"/>
                    </a:lnTo>
                    <a:lnTo>
                      <a:pt x="701" y="360"/>
                    </a:lnTo>
                    <a:lnTo>
                      <a:pt x="656" y="352"/>
                    </a:lnTo>
                    <a:lnTo>
                      <a:pt x="614" y="342"/>
                    </a:lnTo>
                    <a:lnTo>
                      <a:pt x="566" y="330"/>
                    </a:lnTo>
                    <a:lnTo>
                      <a:pt x="521" y="312"/>
                    </a:lnTo>
                    <a:lnTo>
                      <a:pt x="511" y="327"/>
                    </a:lnTo>
                    <a:lnTo>
                      <a:pt x="529" y="315"/>
                    </a:lnTo>
                    <a:lnTo>
                      <a:pt x="486" y="297"/>
                    </a:lnTo>
                    <a:lnTo>
                      <a:pt x="399" y="250"/>
                    </a:lnTo>
                    <a:lnTo>
                      <a:pt x="306" y="192"/>
                    </a:lnTo>
                    <a:lnTo>
                      <a:pt x="220" y="132"/>
                    </a:lnTo>
                    <a:lnTo>
                      <a:pt x="127" y="67"/>
                    </a:lnTo>
                    <a:lnTo>
                      <a:pt x="35" y="0"/>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83" name="任意多边形 14554">
                <a:extLst>
                  <a:ext uri="{FF2B5EF4-FFF2-40B4-BE49-F238E27FC236}">
                    <a16:creationId xmlns="" xmlns:a16="http://schemas.microsoft.com/office/drawing/2014/main" id="{19BAC210-1CB8-ABF3-278A-B3E1F7063A22}"/>
                  </a:ext>
                </a:extLst>
              </p:cNvPr>
              <p:cNvSpPr>
                <a:spLocks noChangeArrowheads="1"/>
              </p:cNvSpPr>
              <p:nvPr/>
            </p:nvSpPr>
            <p:spPr bwMode="auto">
              <a:xfrm>
                <a:off x="2127" y="2649"/>
                <a:ext cx="590" cy="157"/>
              </a:xfrm>
              <a:custGeom>
                <a:avLst/>
                <a:gdLst>
                  <a:gd name="T0" fmla="*/ 0 w 1474"/>
                  <a:gd name="T1" fmla="*/ 369 h 392"/>
                  <a:gd name="T2" fmla="*/ 34 w 1474"/>
                  <a:gd name="T3" fmla="*/ 392 h 392"/>
                  <a:gd name="T4" fmla="*/ 127 w 1474"/>
                  <a:gd name="T5" fmla="*/ 324 h 392"/>
                  <a:gd name="T6" fmla="*/ 214 w 1474"/>
                  <a:gd name="T7" fmla="*/ 257 h 392"/>
                  <a:gd name="T8" fmla="*/ 307 w 1474"/>
                  <a:gd name="T9" fmla="*/ 197 h 392"/>
                  <a:gd name="T10" fmla="*/ 394 w 1474"/>
                  <a:gd name="T11" fmla="*/ 139 h 392"/>
                  <a:gd name="T12" fmla="*/ 482 w 1474"/>
                  <a:gd name="T13" fmla="*/ 94 h 392"/>
                  <a:gd name="T14" fmla="*/ 529 w 1474"/>
                  <a:gd name="T15" fmla="*/ 74 h 392"/>
                  <a:gd name="T16" fmla="*/ 509 w 1474"/>
                  <a:gd name="T17" fmla="*/ 64 h 392"/>
                  <a:gd name="T18" fmla="*/ 522 w 1474"/>
                  <a:gd name="T19" fmla="*/ 77 h 392"/>
                  <a:gd name="T20" fmla="*/ 564 w 1474"/>
                  <a:gd name="T21" fmla="*/ 62 h 392"/>
                  <a:gd name="T22" fmla="*/ 609 w 1474"/>
                  <a:gd name="T23" fmla="*/ 47 h 392"/>
                  <a:gd name="T24" fmla="*/ 652 w 1474"/>
                  <a:gd name="T25" fmla="*/ 39 h 392"/>
                  <a:gd name="T26" fmla="*/ 697 w 1474"/>
                  <a:gd name="T27" fmla="*/ 32 h 392"/>
                  <a:gd name="T28" fmla="*/ 687 w 1474"/>
                  <a:gd name="T29" fmla="*/ 17 h 392"/>
                  <a:gd name="T30" fmla="*/ 687 w 1474"/>
                  <a:gd name="T31" fmla="*/ 34 h 392"/>
                  <a:gd name="T32" fmla="*/ 732 w 1474"/>
                  <a:gd name="T33" fmla="*/ 32 h 392"/>
                  <a:gd name="T34" fmla="*/ 777 w 1474"/>
                  <a:gd name="T35" fmla="*/ 34 h 392"/>
                  <a:gd name="T36" fmla="*/ 777 w 1474"/>
                  <a:gd name="T37" fmla="*/ 17 h 392"/>
                  <a:gd name="T38" fmla="*/ 767 w 1474"/>
                  <a:gd name="T39" fmla="*/ 32 h 392"/>
                  <a:gd name="T40" fmla="*/ 812 w 1474"/>
                  <a:gd name="T41" fmla="*/ 37 h 392"/>
                  <a:gd name="T42" fmla="*/ 854 w 1474"/>
                  <a:gd name="T43" fmla="*/ 47 h 392"/>
                  <a:gd name="T44" fmla="*/ 902 w 1474"/>
                  <a:gd name="T45" fmla="*/ 62 h 392"/>
                  <a:gd name="T46" fmla="*/ 947 w 1474"/>
                  <a:gd name="T47" fmla="*/ 77 h 392"/>
                  <a:gd name="T48" fmla="*/ 959 w 1474"/>
                  <a:gd name="T49" fmla="*/ 62 h 392"/>
                  <a:gd name="T50" fmla="*/ 937 w 1474"/>
                  <a:gd name="T51" fmla="*/ 74 h 392"/>
                  <a:gd name="T52" fmla="*/ 982 w 1474"/>
                  <a:gd name="T53" fmla="*/ 94 h 392"/>
                  <a:gd name="T54" fmla="*/ 1074 w 1474"/>
                  <a:gd name="T55" fmla="*/ 139 h 392"/>
                  <a:gd name="T56" fmla="*/ 1167 w 1474"/>
                  <a:gd name="T57" fmla="*/ 194 h 392"/>
                  <a:gd name="T58" fmla="*/ 1254 w 1474"/>
                  <a:gd name="T59" fmla="*/ 254 h 392"/>
                  <a:gd name="T60" fmla="*/ 1347 w 1474"/>
                  <a:gd name="T61" fmla="*/ 322 h 392"/>
                  <a:gd name="T62" fmla="*/ 1439 w 1474"/>
                  <a:gd name="T63" fmla="*/ 389 h 392"/>
                  <a:gd name="T64" fmla="*/ 1474 w 1474"/>
                  <a:gd name="T65" fmla="*/ 364 h 392"/>
                  <a:gd name="T66" fmla="*/ 1384 w 1474"/>
                  <a:gd name="T67" fmla="*/ 297 h 392"/>
                  <a:gd name="T68" fmla="*/ 1294 w 1474"/>
                  <a:gd name="T69" fmla="*/ 229 h 392"/>
                  <a:gd name="T70" fmla="*/ 1207 w 1474"/>
                  <a:gd name="T71" fmla="*/ 169 h 392"/>
                  <a:gd name="T72" fmla="*/ 1114 w 1474"/>
                  <a:gd name="T73" fmla="*/ 114 h 392"/>
                  <a:gd name="T74" fmla="*/ 1022 w 1474"/>
                  <a:gd name="T75" fmla="*/ 69 h 392"/>
                  <a:gd name="T76" fmla="*/ 977 w 1474"/>
                  <a:gd name="T77" fmla="*/ 49 h 392"/>
                  <a:gd name="T78" fmla="*/ 969 w 1474"/>
                  <a:gd name="T79" fmla="*/ 47 h 392"/>
                  <a:gd name="T80" fmla="*/ 924 w 1474"/>
                  <a:gd name="T81" fmla="*/ 32 h 392"/>
                  <a:gd name="T82" fmla="*/ 877 w 1474"/>
                  <a:gd name="T83" fmla="*/ 17 h 392"/>
                  <a:gd name="T84" fmla="*/ 832 w 1474"/>
                  <a:gd name="T85" fmla="*/ 7 h 392"/>
                  <a:gd name="T86" fmla="*/ 789 w 1474"/>
                  <a:gd name="T87" fmla="*/ 2 h 392"/>
                  <a:gd name="T88" fmla="*/ 777 w 1474"/>
                  <a:gd name="T89" fmla="*/ 2 h 392"/>
                  <a:gd name="T90" fmla="*/ 732 w 1474"/>
                  <a:gd name="T91" fmla="*/ 0 h 392"/>
                  <a:gd name="T92" fmla="*/ 687 w 1474"/>
                  <a:gd name="T93" fmla="*/ 2 h 392"/>
                  <a:gd name="T94" fmla="*/ 674 w 1474"/>
                  <a:gd name="T95" fmla="*/ 2 h 392"/>
                  <a:gd name="T96" fmla="*/ 632 w 1474"/>
                  <a:gd name="T97" fmla="*/ 9 h 392"/>
                  <a:gd name="T98" fmla="*/ 587 w 1474"/>
                  <a:gd name="T99" fmla="*/ 17 h 392"/>
                  <a:gd name="T100" fmla="*/ 544 w 1474"/>
                  <a:gd name="T101" fmla="*/ 32 h 392"/>
                  <a:gd name="T102" fmla="*/ 499 w 1474"/>
                  <a:gd name="T103" fmla="*/ 47 h 392"/>
                  <a:gd name="T104" fmla="*/ 492 w 1474"/>
                  <a:gd name="T105" fmla="*/ 49 h 392"/>
                  <a:gd name="T106" fmla="*/ 442 w 1474"/>
                  <a:gd name="T107" fmla="*/ 69 h 392"/>
                  <a:gd name="T108" fmla="*/ 354 w 1474"/>
                  <a:gd name="T109" fmla="*/ 114 h 392"/>
                  <a:gd name="T110" fmla="*/ 267 w 1474"/>
                  <a:gd name="T111" fmla="*/ 172 h 392"/>
                  <a:gd name="T112" fmla="*/ 174 w 1474"/>
                  <a:gd name="T113" fmla="*/ 232 h 392"/>
                  <a:gd name="T114" fmla="*/ 87 w 1474"/>
                  <a:gd name="T115" fmla="*/ 299 h 392"/>
                  <a:gd name="T116" fmla="*/ 0 w 1474"/>
                  <a:gd name="T117" fmla="*/ 369 h 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474" h="392">
                    <a:moveTo>
                      <a:pt x="0" y="369"/>
                    </a:moveTo>
                    <a:lnTo>
                      <a:pt x="34" y="392"/>
                    </a:lnTo>
                    <a:lnTo>
                      <a:pt x="127" y="324"/>
                    </a:lnTo>
                    <a:lnTo>
                      <a:pt x="214" y="257"/>
                    </a:lnTo>
                    <a:lnTo>
                      <a:pt x="307" y="197"/>
                    </a:lnTo>
                    <a:lnTo>
                      <a:pt x="394" y="139"/>
                    </a:lnTo>
                    <a:lnTo>
                      <a:pt x="482" y="94"/>
                    </a:lnTo>
                    <a:lnTo>
                      <a:pt x="529" y="74"/>
                    </a:lnTo>
                    <a:lnTo>
                      <a:pt x="509" y="64"/>
                    </a:lnTo>
                    <a:lnTo>
                      <a:pt x="522" y="77"/>
                    </a:lnTo>
                    <a:lnTo>
                      <a:pt x="564" y="62"/>
                    </a:lnTo>
                    <a:lnTo>
                      <a:pt x="609" y="47"/>
                    </a:lnTo>
                    <a:lnTo>
                      <a:pt x="652" y="39"/>
                    </a:lnTo>
                    <a:lnTo>
                      <a:pt x="697" y="32"/>
                    </a:lnTo>
                    <a:lnTo>
                      <a:pt x="687" y="17"/>
                    </a:lnTo>
                    <a:lnTo>
                      <a:pt x="687" y="34"/>
                    </a:lnTo>
                    <a:lnTo>
                      <a:pt x="732" y="32"/>
                    </a:lnTo>
                    <a:lnTo>
                      <a:pt x="777" y="34"/>
                    </a:lnTo>
                    <a:lnTo>
                      <a:pt x="777" y="17"/>
                    </a:lnTo>
                    <a:lnTo>
                      <a:pt x="767" y="32"/>
                    </a:lnTo>
                    <a:lnTo>
                      <a:pt x="812" y="37"/>
                    </a:lnTo>
                    <a:lnTo>
                      <a:pt x="854" y="47"/>
                    </a:lnTo>
                    <a:lnTo>
                      <a:pt x="902" y="62"/>
                    </a:lnTo>
                    <a:lnTo>
                      <a:pt x="947" y="77"/>
                    </a:lnTo>
                    <a:lnTo>
                      <a:pt x="959" y="62"/>
                    </a:lnTo>
                    <a:lnTo>
                      <a:pt x="937" y="74"/>
                    </a:lnTo>
                    <a:lnTo>
                      <a:pt x="982" y="94"/>
                    </a:lnTo>
                    <a:lnTo>
                      <a:pt x="1074" y="139"/>
                    </a:lnTo>
                    <a:lnTo>
                      <a:pt x="1167" y="194"/>
                    </a:lnTo>
                    <a:lnTo>
                      <a:pt x="1254" y="254"/>
                    </a:lnTo>
                    <a:lnTo>
                      <a:pt x="1347" y="322"/>
                    </a:lnTo>
                    <a:lnTo>
                      <a:pt x="1439" y="389"/>
                    </a:lnTo>
                    <a:lnTo>
                      <a:pt x="1474" y="364"/>
                    </a:lnTo>
                    <a:lnTo>
                      <a:pt x="1384" y="297"/>
                    </a:lnTo>
                    <a:lnTo>
                      <a:pt x="1294" y="229"/>
                    </a:lnTo>
                    <a:lnTo>
                      <a:pt x="1207" y="169"/>
                    </a:lnTo>
                    <a:lnTo>
                      <a:pt x="1114" y="114"/>
                    </a:lnTo>
                    <a:lnTo>
                      <a:pt x="1022" y="69"/>
                    </a:lnTo>
                    <a:lnTo>
                      <a:pt x="977" y="49"/>
                    </a:lnTo>
                    <a:lnTo>
                      <a:pt x="969" y="47"/>
                    </a:lnTo>
                    <a:lnTo>
                      <a:pt x="924" y="32"/>
                    </a:lnTo>
                    <a:lnTo>
                      <a:pt x="877" y="17"/>
                    </a:lnTo>
                    <a:lnTo>
                      <a:pt x="832" y="7"/>
                    </a:lnTo>
                    <a:lnTo>
                      <a:pt x="789" y="2"/>
                    </a:lnTo>
                    <a:lnTo>
                      <a:pt x="777" y="2"/>
                    </a:lnTo>
                    <a:lnTo>
                      <a:pt x="732" y="0"/>
                    </a:lnTo>
                    <a:lnTo>
                      <a:pt x="687" y="2"/>
                    </a:lnTo>
                    <a:lnTo>
                      <a:pt x="674" y="2"/>
                    </a:lnTo>
                    <a:lnTo>
                      <a:pt x="632" y="9"/>
                    </a:lnTo>
                    <a:lnTo>
                      <a:pt x="587" y="17"/>
                    </a:lnTo>
                    <a:lnTo>
                      <a:pt x="544" y="32"/>
                    </a:lnTo>
                    <a:lnTo>
                      <a:pt x="499" y="47"/>
                    </a:lnTo>
                    <a:lnTo>
                      <a:pt x="492" y="49"/>
                    </a:lnTo>
                    <a:lnTo>
                      <a:pt x="442" y="69"/>
                    </a:lnTo>
                    <a:lnTo>
                      <a:pt x="354" y="114"/>
                    </a:lnTo>
                    <a:lnTo>
                      <a:pt x="267" y="172"/>
                    </a:lnTo>
                    <a:lnTo>
                      <a:pt x="174" y="232"/>
                    </a:lnTo>
                    <a:lnTo>
                      <a:pt x="87" y="299"/>
                    </a:lnTo>
                    <a:lnTo>
                      <a:pt x="0" y="369"/>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84" name="任意多边形 14555">
                <a:extLst>
                  <a:ext uri="{FF2B5EF4-FFF2-40B4-BE49-F238E27FC236}">
                    <a16:creationId xmlns="" xmlns:a16="http://schemas.microsoft.com/office/drawing/2014/main" id="{320E1AC0-FFDE-2048-F48D-2D5569683199}"/>
                  </a:ext>
                </a:extLst>
              </p:cNvPr>
              <p:cNvSpPr>
                <a:spLocks noChangeArrowheads="1"/>
              </p:cNvSpPr>
              <p:nvPr/>
            </p:nvSpPr>
            <p:spPr bwMode="auto">
              <a:xfrm>
                <a:off x="1283" y="2643"/>
                <a:ext cx="298" cy="169"/>
              </a:xfrm>
              <a:custGeom>
                <a:avLst/>
                <a:gdLst>
                  <a:gd name="T0" fmla="*/ 710 w 745"/>
                  <a:gd name="T1" fmla="*/ 422 h 422"/>
                  <a:gd name="T2" fmla="*/ 745 w 745"/>
                  <a:gd name="T3" fmla="*/ 397 h 422"/>
                  <a:gd name="T4" fmla="*/ 626 w 745"/>
                  <a:gd name="T5" fmla="*/ 307 h 422"/>
                  <a:gd name="T6" fmla="*/ 506 w 745"/>
                  <a:gd name="T7" fmla="*/ 222 h 422"/>
                  <a:gd name="T8" fmla="*/ 451 w 745"/>
                  <a:gd name="T9" fmla="*/ 182 h 422"/>
                  <a:gd name="T10" fmla="*/ 399 w 745"/>
                  <a:gd name="T11" fmla="*/ 147 h 422"/>
                  <a:gd name="T12" fmla="*/ 347 w 745"/>
                  <a:gd name="T13" fmla="*/ 115 h 422"/>
                  <a:gd name="T14" fmla="*/ 296 w 745"/>
                  <a:gd name="T15" fmla="*/ 87 h 422"/>
                  <a:gd name="T16" fmla="*/ 279 w 745"/>
                  <a:gd name="T17" fmla="*/ 99 h 422"/>
                  <a:gd name="T18" fmla="*/ 296 w 745"/>
                  <a:gd name="T19" fmla="*/ 90 h 422"/>
                  <a:gd name="T20" fmla="*/ 256 w 745"/>
                  <a:gd name="T21" fmla="*/ 64 h 422"/>
                  <a:gd name="T22" fmla="*/ 220 w 745"/>
                  <a:gd name="T23" fmla="*/ 50 h 422"/>
                  <a:gd name="T24" fmla="*/ 210 w 745"/>
                  <a:gd name="T25" fmla="*/ 47 h 422"/>
                  <a:gd name="T26" fmla="*/ 169 w 745"/>
                  <a:gd name="T27" fmla="*/ 32 h 422"/>
                  <a:gd name="T28" fmla="*/ 139 w 745"/>
                  <a:gd name="T29" fmla="*/ 25 h 422"/>
                  <a:gd name="T30" fmla="*/ 73 w 745"/>
                  <a:gd name="T31" fmla="*/ 12 h 422"/>
                  <a:gd name="T32" fmla="*/ 7 w 745"/>
                  <a:gd name="T33" fmla="*/ 0 h 422"/>
                  <a:gd name="T34" fmla="*/ 0 w 745"/>
                  <a:gd name="T35" fmla="*/ 32 h 422"/>
                  <a:gd name="T36" fmla="*/ 52 w 745"/>
                  <a:gd name="T37" fmla="*/ 42 h 422"/>
                  <a:gd name="T38" fmla="*/ 117 w 745"/>
                  <a:gd name="T39" fmla="*/ 55 h 422"/>
                  <a:gd name="T40" fmla="*/ 149 w 745"/>
                  <a:gd name="T41" fmla="*/ 62 h 422"/>
                  <a:gd name="T42" fmla="*/ 187 w 745"/>
                  <a:gd name="T43" fmla="*/ 77 h 422"/>
                  <a:gd name="T44" fmla="*/ 197 w 745"/>
                  <a:gd name="T45" fmla="*/ 62 h 422"/>
                  <a:gd name="T46" fmla="*/ 180 w 745"/>
                  <a:gd name="T47" fmla="*/ 74 h 422"/>
                  <a:gd name="T48" fmla="*/ 220 w 745"/>
                  <a:gd name="T49" fmla="*/ 90 h 422"/>
                  <a:gd name="T50" fmla="*/ 266 w 745"/>
                  <a:gd name="T51" fmla="*/ 115 h 422"/>
                  <a:gd name="T52" fmla="*/ 307 w 745"/>
                  <a:gd name="T53" fmla="*/ 139 h 422"/>
                  <a:gd name="T54" fmla="*/ 360 w 745"/>
                  <a:gd name="T55" fmla="*/ 172 h 422"/>
                  <a:gd name="T56" fmla="*/ 412 w 745"/>
                  <a:gd name="T57" fmla="*/ 207 h 422"/>
                  <a:gd name="T58" fmla="*/ 470 w 745"/>
                  <a:gd name="T59" fmla="*/ 247 h 422"/>
                  <a:gd name="T60" fmla="*/ 587 w 745"/>
                  <a:gd name="T61" fmla="*/ 332 h 422"/>
                  <a:gd name="T62" fmla="*/ 710 w 745"/>
                  <a:gd name="T63" fmla="*/ 422 h 4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745" h="422">
                    <a:moveTo>
                      <a:pt x="710" y="422"/>
                    </a:moveTo>
                    <a:lnTo>
                      <a:pt x="745" y="397"/>
                    </a:lnTo>
                    <a:lnTo>
                      <a:pt x="626" y="307"/>
                    </a:lnTo>
                    <a:lnTo>
                      <a:pt x="506" y="222"/>
                    </a:lnTo>
                    <a:lnTo>
                      <a:pt x="451" y="182"/>
                    </a:lnTo>
                    <a:lnTo>
                      <a:pt x="399" y="147"/>
                    </a:lnTo>
                    <a:lnTo>
                      <a:pt x="347" y="115"/>
                    </a:lnTo>
                    <a:lnTo>
                      <a:pt x="296" y="87"/>
                    </a:lnTo>
                    <a:lnTo>
                      <a:pt x="279" y="99"/>
                    </a:lnTo>
                    <a:lnTo>
                      <a:pt x="296" y="90"/>
                    </a:lnTo>
                    <a:lnTo>
                      <a:pt x="256" y="64"/>
                    </a:lnTo>
                    <a:lnTo>
                      <a:pt x="220" y="50"/>
                    </a:lnTo>
                    <a:lnTo>
                      <a:pt x="210" y="47"/>
                    </a:lnTo>
                    <a:lnTo>
                      <a:pt x="169" y="32"/>
                    </a:lnTo>
                    <a:lnTo>
                      <a:pt x="139" y="25"/>
                    </a:lnTo>
                    <a:lnTo>
                      <a:pt x="73" y="12"/>
                    </a:lnTo>
                    <a:lnTo>
                      <a:pt x="7" y="0"/>
                    </a:lnTo>
                    <a:lnTo>
                      <a:pt x="0" y="32"/>
                    </a:lnTo>
                    <a:lnTo>
                      <a:pt x="52" y="42"/>
                    </a:lnTo>
                    <a:lnTo>
                      <a:pt x="117" y="55"/>
                    </a:lnTo>
                    <a:lnTo>
                      <a:pt x="149" y="62"/>
                    </a:lnTo>
                    <a:lnTo>
                      <a:pt x="187" y="77"/>
                    </a:lnTo>
                    <a:lnTo>
                      <a:pt x="197" y="62"/>
                    </a:lnTo>
                    <a:lnTo>
                      <a:pt x="180" y="74"/>
                    </a:lnTo>
                    <a:lnTo>
                      <a:pt x="220" y="90"/>
                    </a:lnTo>
                    <a:lnTo>
                      <a:pt x="266" y="115"/>
                    </a:lnTo>
                    <a:lnTo>
                      <a:pt x="307" y="139"/>
                    </a:lnTo>
                    <a:lnTo>
                      <a:pt x="360" y="172"/>
                    </a:lnTo>
                    <a:lnTo>
                      <a:pt x="412" y="207"/>
                    </a:lnTo>
                    <a:lnTo>
                      <a:pt x="470" y="247"/>
                    </a:lnTo>
                    <a:lnTo>
                      <a:pt x="587" y="332"/>
                    </a:lnTo>
                    <a:lnTo>
                      <a:pt x="710" y="422"/>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85" name="任意多边形 14556">
                <a:extLst>
                  <a:ext uri="{FF2B5EF4-FFF2-40B4-BE49-F238E27FC236}">
                    <a16:creationId xmlns="" xmlns:a16="http://schemas.microsoft.com/office/drawing/2014/main" id="{3BF42BF9-04ED-FFB2-9972-D13AA0A59707}"/>
                  </a:ext>
                </a:extLst>
              </p:cNvPr>
              <p:cNvSpPr>
                <a:spLocks noChangeArrowheads="1"/>
              </p:cNvSpPr>
              <p:nvPr/>
            </p:nvSpPr>
            <p:spPr bwMode="auto">
              <a:xfrm>
                <a:off x="2681" y="2780"/>
                <a:ext cx="299" cy="168"/>
              </a:xfrm>
              <a:custGeom>
                <a:avLst/>
                <a:gdLst>
                  <a:gd name="T0" fmla="*/ 37 w 747"/>
                  <a:gd name="T1" fmla="*/ 0 h 420"/>
                  <a:gd name="T2" fmla="*/ 0 w 747"/>
                  <a:gd name="T3" fmla="*/ 25 h 420"/>
                  <a:gd name="T4" fmla="*/ 119 w 747"/>
                  <a:gd name="T5" fmla="*/ 115 h 420"/>
                  <a:gd name="T6" fmla="*/ 237 w 747"/>
                  <a:gd name="T7" fmla="*/ 200 h 420"/>
                  <a:gd name="T8" fmla="*/ 290 w 747"/>
                  <a:gd name="T9" fmla="*/ 240 h 420"/>
                  <a:gd name="T10" fmla="*/ 347 w 747"/>
                  <a:gd name="T11" fmla="*/ 275 h 420"/>
                  <a:gd name="T12" fmla="*/ 395 w 747"/>
                  <a:gd name="T13" fmla="*/ 307 h 420"/>
                  <a:gd name="T14" fmla="*/ 447 w 747"/>
                  <a:gd name="T15" fmla="*/ 335 h 420"/>
                  <a:gd name="T16" fmla="*/ 487 w 747"/>
                  <a:gd name="T17" fmla="*/ 357 h 420"/>
                  <a:gd name="T18" fmla="*/ 527 w 747"/>
                  <a:gd name="T19" fmla="*/ 372 h 420"/>
                  <a:gd name="T20" fmla="*/ 537 w 747"/>
                  <a:gd name="T21" fmla="*/ 375 h 420"/>
                  <a:gd name="T22" fmla="*/ 572 w 747"/>
                  <a:gd name="T23" fmla="*/ 389 h 420"/>
                  <a:gd name="T24" fmla="*/ 607 w 747"/>
                  <a:gd name="T25" fmla="*/ 397 h 420"/>
                  <a:gd name="T26" fmla="*/ 672 w 747"/>
                  <a:gd name="T27" fmla="*/ 409 h 420"/>
                  <a:gd name="T28" fmla="*/ 680 w 747"/>
                  <a:gd name="T29" fmla="*/ 409 h 420"/>
                  <a:gd name="T30" fmla="*/ 737 w 747"/>
                  <a:gd name="T31" fmla="*/ 420 h 420"/>
                  <a:gd name="T32" fmla="*/ 747 w 747"/>
                  <a:gd name="T33" fmla="*/ 386 h 420"/>
                  <a:gd name="T34" fmla="*/ 680 w 747"/>
                  <a:gd name="T35" fmla="*/ 377 h 420"/>
                  <a:gd name="T36" fmla="*/ 680 w 747"/>
                  <a:gd name="T37" fmla="*/ 395 h 420"/>
                  <a:gd name="T38" fmla="*/ 695 w 747"/>
                  <a:gd name="T39" fmla="*/ 380 h 420"/>
                  <a:gd name="T40" fmla="*/ 627 w 747"/>
                  <a:gd name="T41" fmla="*/ 367 h 420"/>
                  <a:gd name="T42" fmla="*/ 592 w 747"/>
                  <a:gd name="T43" fmla="*/ 358 h 420"/>
                  <a:gd name="T44" fmla="*/ 557 w 747"/>
                  <a:gd name="T45" fmla="*/ 344 h 420"/>
                  <a:gd name="T46" fmla="*/ 545 w 747"/>
                  <a:gd name="T47" fmla="*/ 358 h 420"/>
                  <a:gd name="T48" fmla="*/ 567 w 747"/>
                  <a:gd name="T49" fmla="*/ 347 h 420"/>
                  <a:gd name="T50" fmla="*/ 527 w 747"/>
                  <a:gd name="T51" fmla="*/ 332 h 420"/>
                  <a:gd name="T52" fmla="*/ 480 w 747"/>
                  <a:gd name="T53" fmla="*/ 307 h 420"/>
                  <a:gd name="T54" fmla="*/ 462 w 747"/>
                  <a:gd name="T55" fmla="*/ 321 h 420"/>
                  <a:gd name="T56" fmla="*/ 480 w 747"/>
                  <a:gd name="T57" fmla="*/ 310 h 420"/>
                  <a:gd name="T58" fmla="*/ 435 w 747"/>
                  <a:gd name="T59" fmla="*/ 282 h 420"/>
                  <a:gd name="T60" fmla="*/ 387 w 747"/>
                  <a:gd name="T61" fmla="*/ 250 h 420"/>
                  <a:gd name="T62" fmla="*/ 330 w 747"/>
                  <a:gd name="T63" fmla="*/ 214 h 420"/>
                  <a:gd name="T64" fmla="*/ 277 w 747"/>
                  <a:gd name="T65" fmla="*/ 175 h 420"/>
                  <a:gd name="T66" fmla="*/ 160 w 747"/>
                  <a:gd name="T67" fmla="*/ 90 h 420"/>
                  <a:gd name="T68" fmla="*/ 37 w 747"/>
                  <a:gd name="T69" fmla="*/ 0 h 4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47" h="420">
                    <a:moveTo>
                      <a:pt x="37" y="0"/>
                    </a:moveTo>
                    <a:lnTo>
                      <a:pt x="0" y="25"/>
                    </a:lnTo>
                    <a:lnTo>
                      <a:pt x="119" y="115"/>
                    </a:lnTo>
                    <a:lnTo>
                      <a:pt x="237" y="200"/>
                    </a:lnTo>
                    <a:lnTo>
                      <a:pt x="290" y="240"/>
                    </a:lnTo>
                    <a:lnTo>
                      <a:pt x="347" y="275"/>
                    </a:lnTo>
                    <a:lnTo>
                      <a:pt x="395" y="307"/>
                    </a:lnTo>
                    <a:lnTo>
                      <a:pt x="447" y="335"/>
                    </a:lnTo>
                    <a:lnTo>
                      <a:pt x="487" y="357"/>
                    </a:lnTo>
                    <a:lnTo>
                      <a:pt x="527" y="372"/>
                    </a:lnTo>
                    <a:lnTo>
                      <a:pt x="537" y="375"/>
                    </a:lnTo>
                    <a:lnTo>
                      <a:pt x="572" y="389"/>
                    </a:lnTo>
                    <a:lnTo>
                      <a:pt x="607" y="397"/>
                    </a:lnTo>
                    <a:lnTo>
                      <a:pt x="672" y="409"/>
                    </a:lnTo>
                    <a:lnTo>
                      <a:pt x="680" y="409"/>
                    </a:lnTo>
                    <a:lnTo>
                      <a:pt x="737" y="420"/>
                    </a:lnTo>
                    <a:lnTo>
                      <a:pt x="747" y="386"/>
                    </a:lnTo>
                    <a:lnTo>
                      <a:pt x="680" y="377"/>
                    </a:lnTo>
                    <a:lnTo>
                      <a:pt x="680" y="395"/>
                    </a:lnTo>
                    <a:lnTo>
                      <a:pt x="695" y="380"/>
                    </a:lnTo>
                    <a:lnTo>
                      <a:pt x="627" y="367"/>
                    </a:lnTo>
                    <a:lnTo>
                      <a:pt x="592" y="358"/>
                    </a:lnTo>
                    <a:lnTo>
                      <a:pt x="557" y="344"/>
                    </a:lnTo>
                    <a:lnTo>
                      <a:pt x="545" y="358"/>
                    </a:lnTo>
                    <a:lnTo>
                      <a:pt x="567" y="347"/>
                    </a:lnTo>
                    <a:lnTo>
                      <a:pt x="527" y="332"/>
                    </a:lnTo>
                    <a:lnTo>
                      <a:pt x="480" y="307"/>
                    </a:lnTo>
                    <a:lnTo>
                      <a:pt x="462" y="321"/>
                    </a:lnTo>
                    <a:lnTo>
                      <a:pt x="480" y="310"/>
                    </a:lnTo>
                    <a:lnTo>
                      <a:pt x="435" y="282"/>
                    </a:lnTo>
                    <a:lnTo>
                      <a:pt x="387" y="250"/>
                    </a:lnTo>
                    <a:lnTo>
                      <a:pt x="330" y="214"/>
                    </a:lnTo>
                    <a:lnTo>
                      <a:pt x="277" y="175"/>
                    </a:lnTo>
                    <a:lnTo>
                      <a:pt x="160" y="90"/>
                    </a:lnTo>
                    <a:lnTo>
                      <a:pt x="37" y="0"/>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grpSp>
        <p:sp>
          <p:nvSpPr>
            <p:cNvPr id="81" name="矩形 14557">
              <a:extLst>
                <a:ext uri="{FF2B5EF4-FFF2-40B4-BE49-F238E27FC236}">
                  <a16:creationId xmlns="" xmlns:a16="http://schemas.microsoft.com/office/drawing/2014/main" id="{3B3B3362-3B75-19C3-957B-05D7F712FBD4}"/>
                </a:ext>
              </a:extLst>
            </p:cNvPr>
            <p:cNvSpPr>
              <a:spLocks noChangeArrowheads="1"/>
            </p:cNvSpPr>
            <p:nvPr/>
          </p:nvSpPr>
          <p:spPr bwMode="auto">
            <a:xfrm>
              <a:off x="1056" y="1963"/>
              <a:ext cx="55" cy="9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000">
                  <a:solidFill>
                    <a:schemeClr val="tx1"/>
                  </a:solidFill>
                  <a:latin typeface="Symbol" panose="05050102010706020507" pitchFamily="18" charset="2"/>
                </a:rPr>
                <a:t>w</a:t>
              </a:r>
              <a:endParaRPr lang="en-US" altLang="zh-CN" sz="1800" b="1">
                <a:solidFill>
                  <a:schemeClr val="tx1"/>
                </a:solidFill>
                <a:latin typeface="Tahoma" panose="020B0604030504040204" pitchFamily="34" charset="0"/>
              </a:endParaRPr>
            </a:p>
          </p:txBody>
        </p:sp>
      </p:grpSp>
      <p:sp>
        <p:nvSpPr>
          <p:cNvPr id="228" name="矩形 14558">
            <a:extLst>
              <a:ext uri="{FF2B5EF4-FFF2-40B4-BE49-F238E27FC236}">
                <a16:creationId xmlns="" xmlns:a16="http://schemas.microsoft.com/office/drawing/2014/main" id="{CB58A88B-0CBD-6716-81A5-6039D23E508E}"/>
              </a:ext>
            </a:extLst>
          </p:cNvPr>
          <p:cNvSpPr>
            <a:spLocks noChangeArrowheads="1"/>
          </p:cNvSpPr>
          <p:nvPr/>
        </p:nvSpPr>
        <p:spPr bwMode="auto">
          <a:xfrm>
            <a:off x="3126652" y="6070147"/>
            <a:ext cx="4427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zh-CN" altLang="en-US" sz="2000" dirty="0" smtClean="0">
                <a:solidFill>
                  <a:schemeClr val="tx1"/>
                </a:solidFill>
                <a:latin typeface="+mn-ea"/>
                <a:ea typeface="+mn-ea"/>
              </a:rPr>
              <a:t>图</a:t>
            </a:r>
            <a:endParaRPr lang="en-US" altLang="zh-CN" sz="2000" dirty="0">
              <a:solidFill>
                <a:schemeClr val="tx1"/>
              </a:solidFill>
              <a:latin typeface="+mn-ea"/>
              <a:ea typeface="+mn-ea"/>
            </a:endParaRPr>
          </a:p>
        </p:txBody>
      </p:sp>
      <p:sp>
        <p:nvSpPr>
          <p:cNvPr id="229" name="矩形 14559">
            <a:extLst>
              <a:ext uri="{FF2B5EF4-FFF2-40B4-BE49-F238E27FC236}">
                <a16:creationId xmlns="" xmlns:a16="http://schemas.microsoft.com/office/drawing/2014/main" id="{D6FC322A-02A4-96FE-6465-AE599E0EC4A3}"/>
              </a:ext>
            </a:extLst>
          </p:cNvPr>
          <p:cNvSpPr>
            <a:spLocks noChangeArrowheads="1"/>
          </p:cNvSpPr>
          <p:nvPr/>
        </p:nvSpPr>
        <p:spPr bwMode="auto">
          <a:xfrm>
            <a:off x="6761163" y="1998663"/>
            <a:ext cx="158750" cy="163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schemeClr val="tx1"/>
              </a:solidFill>
            </a:endParaRPr>
          </a:p>
        </p:txBody>
      </p:sp>
      <p:sp>
        <p:nvSpPr>
          <p:cNvPr id="230" name="任意多边形 14560">
            <a:extLst>
              <a:ext uri="{FF2B5EF4-FFF2-40B4-BE49-F238E27FC236}">
                <a16:creationId xmlns="" xmlns:a16="http://schemas.microsoft.com/office/drawing/2014/main" id="{67089FBD-F815-0EFA-0B78-128FE85F743C}"/>
              </a:ext>
            </a:extLst>
          </p:cNvPr>
          <p:cNvSpPr>
            <a:spLocks noChangeArrowheads="1"/>
          </p:cNvSpPr>
          <p:nvPr/>
        </p:nvSpPr>
        <p:spPr bwMode="auto">
          <a:xfrm>
            <a:off x="2369333" y="4846185"/>
            <a:ext cx="1079500" cy="792162"/>
          </a:xfrm>
          <a:custGeom>
            <a:avLst/>
            <a:gdLst>
              <a:gd name="T0" fmla="*/ 97 w 1699"/>
              <a:gd name="T1" fmla="*/ 1102 h 1247"/>
              <a:gd name="T2" fmla="*/ 168 w 1699"/>
              <a:gd name="T3" fmla="*/ 1242 h 1247"/>
              <a:gd name="T4" fmla="*/ 213 w 1699"/>
              <a:gd name="T5" fmla="*/ 737 h 1247"/>
              <a:gd name="T6" fmla="*/ 246 w 1699"/>
              <a:gd name="T7" fmla="*/ 19 h 1247"/>
              <a:gd name="T8" fmla="*/ 217 w 1699"/>
              <a:gd name="T9" fmla="*/ 93 h 1247"/>
              <a:gd name="T10" fmla="*/ 297 w 1699"/>
              <a:gd name="T11" fmla="*/ 993 h 1247"/>
              <a:gd name="T12" fmla="*/ 370 w 1699"/>
              <a:gd name="T13" fmla="*/ 1237 h 1247"/>
              <a:gd name="T14" fmla="*/ 421 w 1699"/>
              <a:gd name="T15" fmla="*/ 737 h 1247"/>
              <a:gd name="T16" fmla="*/ 468 w 1699"/>
              <a:gd name="T17" fmla="*/ 23 h 1247"/>
              <a:gd name="T18" fmla="*/ 441 w 1699"/>
              <a:gd name="T19" fmla="*/ 98 h 1247"/>
              <a:gd name="T20" fmla="*/ 528 w 1699"/>
              <a:gd name="T21" fmla="*/ 996 h 1247"/>
              <a:gd name="T22" fmla="*/ 599 w 1699"/>
              <a:gd name="T23" fmla="*/ 1237 h 1247"/>
              <a:gd name="T24" fmla="*/ 643 w 1699"/>
              <a:gd name="T25" fmla="*/ 737 h 1247"/>
              <a:gd name="T26" fmla="*/ 676 w 1699"/>
              <a:gd name="T27" fmla="*/ 23 h 1247"/>
              <a:gd name="T28" fmla="*/ 650 w 1699"/>
              <a:gd name="T29" fmla="*/ 98 h 1247"/>
              <a:gd name="T30" fmla="*/ 732 w 1699"/>
              <a:gd name="T31" fmla="*/ 996 h 1247"/>
              <a:gd name="T32" fmla="*/ 801 w 1699"/>
              <a:gd name="T33" fmla="*/ 1237 h 1247"/>
              <a:gd name="T34" fmla="*/ 858 w 1699"/>
              <a:gd name="T35" fmla="*/ 844 h 1247"/>
              <a:gd name="T36" fmla="*/ 912 w 1699"/>
              <a:gd name="T37" fmla="*/ 27 h 1247"/>
              <a:gd name="T38" fmla="*/ 885 w 1699"/>
              <a:gd name="T39" fmla="*/ 65 h 1247"/>
              <a:gd name="T40" fmla="*/ 963 w 1699"/>
              <a:gd name="T41" fmla="*/ 947 h 1247"/>
              <a:gd name="T42" fmla="*/ 1029 w 1699"/>
              <a:gd name="T43" fmla="*/ 1240 h 1247"/>
              <a:gd name="T44" fmla="*/ 1089 w 1699"/>
              <a:gd name="T45" fmla="*/ 844 h 1247"/>
              <a:gd name="T46" fmla="*/ 1136 w 1699"/>
              <a:gd name="T47" fmla="*/ 27 h 1247"/>
              <a:gd name="T48" fmla="*/ 1103 w 1699"/>
              <a:gd name="T49" fmla="*/ 65 h 1247"/>
              <a:gd name="T50" fmla="*/ 1154 w 1699"/>
              <a:gd name="T51" fmla="*/ 947 h 1247"/>
              <a:gd name="T52" fmla="*/ 1233 w 1699"/>
              <a:gd name="T53" fmla="*/ 1240 h 1247"/>
              <a:gd name="T54" fmla="*/ 1349 w 1699"/>
              <a:gd name="T55" fmla="*/ 846 h 1247"/>
              <a:gd name="T56" fmla="*/ 1520 w 1699"/>
              <a:gd name="T57" fmla="*/ 32 h 1247"/>
              <a:gd name="T58" fmla="*/ 1502 w 1699"/>
              <a:gd name="T59" fmla="*/ 35 h 1247"/>
              <a:gd name="T60" fmla="*/ 1604 w 1699"/>
              <a:gd name="T61" fmla="*/ 683 h 1247"/>
              <a:gd name="T62" fmla="*/ 1604 w 1699"/>
              <a:gd name="T63" fmla="*/ 242 h 1247"/>
              <a:gd name="T64" fmla="*/ 1515 w 1699"/>
              <a:gd name="T65" fmla="*/ 7 h 1247"/>
              <a:gd name="T66" fmla="*/ 1395 w 1699"/>
              <a:gd name="T67" fmla="*/ 298 h 1247"/>
              <a:gd name="T68" fmla="*/ 1231 w 1699"/>
              <a:gd name="T69" fmla="*/ 1178 h 1247"/>
              <a:gd name="T70" fmla="*/ 1231 w 1699"/>
              <a:gd name="T71" fmla="*/ 1212 h 1247"/>
              <a:gd name="T72" fmla="*/ 1187 w 1699"/>
              <a:gd name="T73" fmla="*/ 734 h 1247"/>
              <a:gd name="T74" fmla="*/ 1145 w 1699"/>
              <a:gd name="T75" fmla="*/ 19 h 1247"/>
              <a:gd name="T76" fmla="*/ 1069 w 1699"/>
              <a:gd name="T77" fmla="*/ 163 h 1247"/>
              <a:gd name="T78" fmla="*/ 1020 w 1699"/>
              <a:gd name="T79" fmla="*/ 1079 h 1247"/>
              <a:gd name="T80" fmla="*/ 1038 w 1699"/>
              <a:gd name="T81" fmla="*/ 1214 h 1247"/>
              <a:gd name="T82" fmla="*/ 1005 w 1699"/>
              <a:gd name="T83" fmla="*/ 844 h 1247"/>
              <a:gd name="T84" fmla="*/ 927 w 1699"/>
              <a:gd name="T85" fmla="*/ 27 h 1247"/>
              <a:gd name="T86" fmla="*/ 847 w 1699"/>
              <a:gd name="T87" fmla="*/ 126 h 1247"/>
              <a:gd name="T88" fmla="*/ 796 w 1699"/>
              <a:gd name="T89" fmla="*/ 1037 h 1247"/>
              <a:gd name="T90" fmla="*/ 796 w 1699"/>
              <a:gd name="T91" fmla="*/ 1229 h 1247"/>
              <a:gd name="T92" fmla="*/ 783 w 1699"/>
              <a:gd name="T93" fmla="*/ 996 h 1247"/>
              <a:gd name="T94" fmla="*/ 701 w 1699"/>
              <a:gd name="T95" fmla="*/ 98 h 1247"/>
              <a:gd name="T96" fmla="*/ 621 w 1699"/>
              <a:gd name="T97" fmla="*/ 49 h 1247"/>
              <a:gd name="T98" fmla="*/ 588 w 1699"/>
              <a:gd name="T99" fmla="*/ 897 h 1247"/>
              <a:gd name="T100" fmla="*/ 592 w 1699"/>
              <a:gd name="T101" fmla="*/ 1226 h 1247"/>
              <a:gd name="T102" fmla="*/ 583 w 1699"/>
              <a:gd name="T103" fmla="*/ 1039 h 1247"/>
              <a:gd name="T104" fmla="*/ 497 w 1699"/>
              <a:gd name="T105" fmla="*/ 131 h 1247"/>
              <a:gd name="T106" fmla="*/ 412 w 1699"/>
              <a:gd name="T107" fmla="*/ 32 h 1247"/>
              <a:gd name="T108" fmla="*/ 366 w 1699"/>
              <a:gd name="T109" fmla="*/ 846 h 1247"/>
              <a:gd name="T110" fmla="*/ 335 w 1699"/>
              <a:gd name="T111" fmla="*/ 1226 h 1247"/>
              <a:gd name="T112" fmla="*/ 366 w 1699"/>
              <a:gd name="T113" fmla="*/ 1150 h 1247"/>
              <a:gd name="T114" fmla="*/ 284 w 1699"/>
              <a:gd name="T115" fmla="*/ 247 h 1247"/>
              <a:gd name="T116" fmla="*/ 213 w 1699"/>
              <a:gd name="T117" fmla="*/ 4 h 1247"/>
              <a:gd name="T118" fmla="*/ 168 w 1699"/>
              <a:gd name="T119" fmla="*/ 511 h 1247"/>
              <a:gd name="T120" fmla="*/ 135 w 1699"/>
              <a:gd name="T121" fmla="*/ 1231 h 1247"/>
              <a:gd name="T122" fmla="*/ 168 w 1699"/>
              <a:gd name="T123" fmla="*/ 1206 h 1247"/>
              <a:gd name="T124" fmla="*/ 84 w 1699"/>
              <a:gd name="T125" fmla="*/ 464 h 1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699" h="1247">
                <a:moveTo>
                  <a:pt x="51" y="19"/>
                </a:moveTo>
                <a:lnTo>
                  <a:pt x="0" y="19"/>
                </a:lnTo>
                <a:lnTo>
                  <a:pt x="15" y="245"/>
                </a:lnTo>
                <a:lnTo>
                  <a:pt x="24" y="357"/>
                </a:lnTo>
                <a:lnTo>
                  <a:pt x="33" y="464"/>
                </a:lnTo>
                <a:lnTo>
                  <a:pt x="42" y="569"/>
                </a:lnTo>
                <a:lnTo>
                  <a:pt x="55" y="669"/>
                </a:lnTo>
                <a:lnTo>
                  <a:pt x="62" y="765"/>
                </a:lnTo>
                <a:lnTo>
                  <a:pt x="71" y="853"/>
                </a:lnTo>
                <a:lnTo>
                  <a:pt x="79" y="935"/>
                </a:lnTo>
                <a:lnTo>
                  <a:pt x="88" y="1009"/>
                </a:lnTo>
                <a:lnTo>
                  <a:pt x="93" y="1042"/>
                </a:lnTo>
                <a:lnTo>
                  <a:pt x="97" y="1075"/>
                </a:lnTo>
                <a:lnTo>
                  <a:pt x="97" y="1102"/>
                </a:lnTo>
                <a:lnTo>
                  <a:pt x="102" y="1128"/>
                </a:lnTo>
                <a:lnTo>
                  <a:pt x="106" y="1151"/>
                </a:lnTo>
                <a:lnTo>
                  <a:pt x="110" y="1173"/>
                </a:lnTo>
                <a:lnTo>
                  <a:pt x="113" y="1191"/>
                </a:lnTo>
                <a:lnTo>
                  <a:pt x="117" y="1206"/>
                </a:lnTo>
                <a:lnTo>
                  <a:pt x="122" y="1217"/>
                </a:lnTo>
                <a:lnTo>
                  <a:pt x="122" y="1226"/>
                </a:lnTo>
                <a:lnTo>
                  <a:pt x="126" y="1231"/>
                </a:lnTo>
                <a:lnTo>
                  <a:pt x="135" y="1242"/>
                </a:lnTo>
                <a:lnTo>
                  <a:pt x="144" y="1245"/>
                </a:lnTo>
                <a:lnTo>
                  <a:pt x="153" y="1245"/>
                </a:lnTo>
                <a:lnTo>
                  <a:pt x="157" y="1247"/>
                </a:lnTo>
                <a:lnTo>
                  <a:pt x="162" y="1245"/>
                </a:lnTo>
                <a:lnTo>
                  <a:pt x="168" y="1242"/>
                </a:lnTo>
                <a:lnTo>
                  <a:pt x="177" y="1240"/>
                </a:lnTo>
                <a:lnTo>
                  <a:pt x="186" y="1231"/>
                </a:lnTo>
                <a:lnTo>
                  <a:pt x="186" y="1219"/>
                </a:lnTo>
                <a:lnTo>
                  <a:pt x="190" y="1203"/>
                </a:lnTo>
                <a:lnTo>
                  <a:pt x="195" y="1181"/>
                </a:lnTo>
                <a:lnTo>
                  <a:pt x="195" y="1153"/>
                </a:lnTo>
                <a:lnTo>
                  <a:pt x="199" y="1122"/>
                </a:lnTo>
                <a:lnTo>
                  <a:pt x="199" y="1084"/>
                </a:lnTo>
                <a:lnTo>
                  <a:pt x="204" y="1042"/>
                </a:lnTo>
                <a:lnTo>
                  <a:pt x="204" y="998"/>
                </a:lnTo>
                <a:lnTo>
                  <a:pt x="208" y="951"/>
                </a:lnTo>
                <a:lnTo>
                  <a:pt x="208" y="900"/>
                </a:lnTo>
                <a:lnTo>
                  <a:pt x="213" y="849"/>
                </a:lnTo>
                <a:lnTo>
                  <a:pt x="213" y="737"/>
                </a:lnTo>
                <a:lnTo>
                  <a:pt x="217" y="625"/>
                </a:lnTo>
                <a:lnTo>
                  <a:pt x="219" y="511"/>
                </a:lnTo>
                <a:lnTo>
                  <a:pt x="224" y="400"/>
                </a:lnTo>
                <a:lnTo>
                  <a:pt x="224" y="347"/>
                </a:lnTo>
                <a:lnTo>
                  <a:pt x="224" y="296"/>
                </a:lnTo>
                <a:lnTo>
                  <a:pt x="228" y="250"/>
                </a:lnTo>
                <a:lnTo>
                  <a:pt x="228" y="205"/>
                </a:lnTo>
                <a:lnTo>
                  <a:pt x="233" y="163"/>
                </a:lnTo>
                <a:lnTo>
                  <a:pt x="233" y="126"/>
                </a:lnTo>
                <a:lnTo>
                  <a:pt x="237" y="93"/>
                </a:lnTo>
                <a:lnTo>
                  <a:pt x="237" y="68"/>
                </a:lnTo>
                <a:lnTo>
                  <a:pt x="241" y="44"/>
                </a:lnTo>
                <a:lnTo>
                  <a:pt x="246" y="27"/>
                </a:lnTo>
                <a:lnTo>
                  <a:pt x="246" y="19"/>
                </a:lnTo>
                <a:lnTo>
                  <a:pt x="219" y="19"/>
                </a:lnTo>
                <a:lnTo>
                  <a:pt x="233" y="30"/>
                </a:lnTo>
                <a:lnTo>
                  <a:pt x="241" y="27"/>
                </a:lnTo>
                <a:lnTo>
                  <a:pt x="219" y="32"/>
                </a:lnTo>
                <a:lnTo>
                  <a:pt x="224" y="27"/>
                </a:lnTo>
                <a:lnTo>
                  <a:pt x="228" y="32"/>
                </a:lnTo>
                <a:lnTo>
                  <a:pt x="228" y="19"/>
                </a:lnTo>
                <a:lnTo>
                  <a:pt x="213" y="27"/>
                </a:lnTo>
                <a:lnTo>
                  <a:pt x="217" y="30"/>
                </a:lnTo>
                <a:lnTo>
                  <a:pt x="204" y="19"/>
                </a:lnTo>
                <a:lnTo>
                  <a:pt x="208" y="27"/>
                </a:lnTo>
                <a:lnTo>
                  <a:pt x="208" y="44"/>
                </a:lnTo>
                <a:lnTo>
                  <a:pt x="213" y="65"/>
                </a:lnTo>
                <a:lnTo>
                  <a:pt x="217" y="93"/>
                </a:lnTo>
                <a:lnTo>
                  <a:pt x="219" y="126"/>
                </a:lnTo>
                <a:lnTo>
                  <a:pt x="224" y="163"/>
                </a:lnTo>
                <a:lnTo>
                  <a:pt x="228" y="202"/>
                </a:lnTo>
                <a:lnTo>
                  <a:pt x="233" y="247"/>
                </a:lnTo>
                <a:lnTo>
                  <a:pt x="237" y="296"/>
                </a:lnTo>
                <a:lnTo>
                  <a:pt x="241" y="344"/>
                </a:lnTo>
                <a:lnTo>
                  <a:pt x="246" y="398"/>
                </a:lnTo>
                <a:lnTo>
                  <a:pt x="255" y="508"/>
                </a:lnTo>
                <a:lnTo>
                  <a:pt x="268" y="620"/>
                </a:lnTo>
                <a:lnTo>
                  <a:pt x="275" y="734"/>
                </a:lnTo>
                <a:lnTo>
                  <a:pt x="284" y="844"/>
                </a:lnTo>
                <a:lnTo>
                  <a:pt x="288" y="895"/>
                </a:lnTo>
                <a:lnTo>
                  <a:pt x="292" y="947"/>
                </a:lnTo>
                <a:lnTo>
                  <a:pt x="297" y="993"/>
                </a:lnTo>
                <a:lnTo>
                  <a:pt x="301" y="1037"/>
                </a:lnTo>
                <a:lnTo>
                  <a:pt x="306" y="1079"/>
                </a:lnTo>
                <a:lnTo>
                  <a:pt x="310" y="1117"/>
                </a:lnTo>
                <a:lnTo>
                  <a:pt x="315" y="1150"/>
                </a:lnTo>
                <a:lnTo>
                  <a:pt x="319" y="1175"/>
                </a:lnTo>
                <a:lnTo>
                  <a:pt x="324" y="1198"/>
                </a:lnTo>
                <a:lnTo>
                  <a:pt x="324" y="1214"/>
                </a:lnTo>
                <a:lnTo>
                  <a:pt x="326" y="1224"/>
                </a:lnTo>
                <a:lnTo>
                  <a:pt x="335" y="1236"/>
                </a:lnTo>
                <a:lnTo>
                  <a:pt x="343" y="1237"/>
                </a:lnTo>
                <a:lnTo>
                  <a:pt x="352" y="1237"/>
                </a:lnTo>
                <a:lnTo>
                  <a:pt x="357" y="1242"/>
                </a:lnTo>
                <a:lnTo>
                  <a:pt x="361" y="1240"/>
                </a:lnTo>
                <a:lnTo>
                  <a:pt x="370" y="1237"/>
                </a:lnTo>
                <a:lnTo>
                  <a:pt x="379" y="1236"/>
                </a:lnTo>
                <a:lnTo>
                  <a:pt x="386" y="1226"/>
                </a:lnTo>
                <a:lnTo>
                  <a:pt x="390" y="1214"/>
                </a:lnTo>
                <a:lnTo>
                  <a:pt x="390" y="1198"/>
                </a:lnTo>
                <a:lnTo>
                  <a:pt x="395" y="1178"/>
                </a:lnTo>
                <a:lnTo>
                  <a:pt x="399" y="1150"/>
                </a:lnTo>
                <a:lnTo>
                  <a:pt x="403" y="1117"/>
                </a:lnTo>
                <a:lnTo>
                  <a:pt x="403" y="1079"/>
                </a:lnTo>
                <a:lnTo>
                  <a:pt x="408" y="1039"/>
                </a:lnTo>
                <a:lnTo>
                  <a:pt x="408" y="996"/>
                </a:lnTo>
                <a:lnTo>
                  <a:pt x="412" y="948"/>
                </a:lnTo>
                <a:lnTo>
                  <a:pt x="417" y="897"/>
                </a:lnTo>
                <a:lnTo>
                  <a:pt x="417" y="846"/>
                </a:lnTo>
                <a:lnTo>
                  <a:pt x="421" y="737"/>
                </a:lnTo>
                <a:lnTo>
                  <a:pt x="430" y="625"/>
                </a:lnTo>
                <a:lnTo>
                  <a:pt x="432" y="511"/>
                </a:lnTo>
                <a:lnTo>
                  <a:pt x="437" y="400"/>
                </a:lnTo>
                <a:lnTo>
                  <a:pt x="437" y="349"/>
                </a:lnTo>
                <a:lnTo>
                  <a:pt x="441" y="298"/>
                </a:lnTo>
                <a:lnTo>
                  <a:pt x="446" y="252"/>
                </a:lnTo>
                <a:lnTo>
                  <a:pt x="446" y="207"/>
                </a:lnTo>
                <a:lnTo>
                  <a:pt x="450" y="167"/>
                </a:lnTo>
                <a:lnTo>
                  <a:pt x="454" y="131"/>
                </a:lnTo>
                <a:lnTo>
                  <a:pt x="454" y="98"/>
                </a:lnTo>
                <a:lnTo>
                  <a:pt x="459" y="70"/>
                </a:lnTo>
                <a:lnTo>
                  <a:pt x="463" y="49"/>
                </a:lnTo>
                <a:lnTo>
                  <a:pt x="463" y="32"/>
                </a:lnTo>
                <a:lnTo>
                  <a:pt x="468" y="23"/>
                </a:lnTo>
                <a:lnTo>
                  <a:pt x="441" y="23"/>
                </a:lnTo>
                <a:lnTo>
                  <a:pt x="454" y="35"/>
                </a:lnTo>
                <a:lnTo>
                  <a:pt x="459" y="32"/>
                </a:lnTo>
                <a:lnTo>
                  <a:pt x="441" y="37"/>
                </a:lnTo>
                <a:lnTo>
                  <a:pt x="446" y="32"/>
                </a:lnTo>
                <a:lnTo>
                  <a:pt x="450" y="37"/>
                </a:lnTo>
                <a:lnTo>
                  <a:pt x="450" y="23"/>
                </a:lnTo>
                <a:lnTo>
                  <a:pt x="432" y="32"/>
                </a:lnTo>
                <a:lnTo>
                  <a:pt x="441" y="35"/>
                </a:lnTo>
                <a:lnTo>
                  <a:pt x="426" y="23"/>
                </a:lnTo>
                <a:lnTo>
                  <a:pt x="430" y="32"/>
                </a:lnTo>
                <a:lnTo>
                  <a:pt x="432" y="49"/>
                </a:lnTo>
                <a:lnTo>
                  <a:pt x="437" y="70"/>
                </a:lnTo>
                <a:lnTo>
                  <a:pt x="441" y="98"/>
                </a:lnTo>
                <a:lnTo>
                  <a:pt x="446" y="131"/>
                </a:lnTo>
                <a:lnTo>
                  <a:pt x="450" y="167"/>
                </a:lnTo>
                <a:lnTo>
                  <a:pt x="454" y="207"/>
                </a:lnTo>
                <a:lnTo>
                  <a:pt x="459" y="252"/>
                </a:lnTo>
                <a:lnTo>
                  <a:pt x="463" y="298"/>
                </a:lnTo>
                <a:lnTo>
                  <a:pt x="468" y="349"/>
                </a:lnTo>
                <a:lnTo>
                  <a:pt x="472" y="400"/>
                </a:lnTo>
                <a:lnTo>
                  <a:pt x="486" y="511"/>
                </a:lnTo>
                <a:lnTo>
                  <a:pt x="492" y="625"/>
                </a:lnTo>
                <a:lnTo>
                  <a:pt x="501" y="737"/>
                </a:lnTo>
                <a:lnTo>
                  <a:pt x="510" y="846"/>
                </a:lnTo>
                <a:lnTo>
                  <a:pt x="519" y="897"/>
                </a:lnTo>
                <a:lnTo>
                  <a:pt x="523" y="948"/>
                </a:lnTo>
                <a:lnTo>
                  <a:pt x="528" y="996"/>
                </a:lnTo>
                <a:lnTo>
                  <a:pt x="532" y="1039"/>
                </a:lnTo>
                <a:lnTo>
                  <a:pt x="537" y="1079"/>
                </a:lnTo>
                <a:lnTo>
                  <a:pt x="539" y="1117"/>
                </a:lnTo>
                <a:lnTo>
                  <a:pt x="543" y="1150"/>
                </a:lnTo>
                <a:lnTo>
                  <a:pt x="548" y="1178"/>
                </a:lnTo>
                <a:lnTo>
                  <a:pt x="552" y="1198"/>
                </a:lnTo>
                <a:lnTo>
                  <a:pt x="552" y="1214"/>
                </a:lnTo>
                <a:lnTo>
                  <a:pt x="557" y="1226"/>
                </a:lnTo>
                <a:lnTo>
                  <a:pt x="565" y="1236"/>
                </a:lnTo>
                <a:lnTo>
                  <a:pt x="574" y="1237"/>
                </a:lnTo>
                <a:lnTo>
                  <a:pt x="583" y="1240"/>
                </a:lnTo>
                <a:lnTo>
                  <a:pt x="588" y="1242"/>
                </a:lnTo>
                <a:lnTo>
                  <a:pt x="592" y="1240"/>
                </a:lnTo>
                <a:lnTo>
                  <a:pt x="599" y="1237"/>
                </a:lnTo>
                <a:lnTo>
                  <a:pt x="608" y="1236"/>
                </a:lnTo>
                <a:lnTo>
                  <a:pt x="616" y="1226"/>
                </a:lnTo>
                <a:lnTo>
                  <a:pt x="616" y="1214"/>
                </a:lnTo>
                <a:lnTo>
                  <a:pt x="621" y="1198"/>
                </a:lnTo>
                <a:lnTo>
                  <a:pt x="625" y="1178"/>
                </a:lnTo>
                <a:lnTo>
                  <a:pt x="625" y="1150"/>
                </a:lnTo>
                <a:lnTo>
                  <a:pt x="630" y="1117"/>
                </a:lnTo>
                <a:lnTo>
                  <a:pt x="630" y="1079"/>
                </a:lnTo>
                <a:lnTo>
                  <a:pt x="634" y="1039"/>
                </a:lnTo>
                <a:lnTo>
                  <a:pt x="634" y="996"/>
                </a:lnTo>
                <a:lnTo>
                  <a:pt x="639" y="948"/>
                </a:lnTo>
                <a:lnTo>
                  <a:pt x="639" y="897"/>
                </a:lnTo>
                <a:lnTo>
                  <a:pt x="643" y="846"/>
                </a:lnTo>
                <a:lnTo>
                  <a:pt x="643" y="737"/>
                </a:lnTo>
                <a:lnTo>
                  <a:pt x="645" y="625"/>
                </a:lnTo>
                <a:lnTo>
                  <a:pt x="650" y="511"/>
                </a:lnTo>
                <a:lnTo>
                  <a:pt x="654" y="400"/>
                </a:lnTo>
                <a:lnTo>
                  <a:pt x="654" y="349"/>
                </a:lnTo>
                <a:lnTo>
                  <a:pt x="654" y="298"/>
                </a:lnTo>
                <a:lnTo>
                  <a:pt x="659" y="252"/>
                </a:lnTo>
                <a:lnTo>
                  <a:pt x="659" y="207"/>
                </a:lnTo>
                <a:lnTo>
                  <a:pt x="663" y="167"/>
                </a:lnTo>
                <a:lnTo>
                  <a:pt x="663" y="131"/>
                </a:lnTo>
                <a:lnTo>
                  <a:pt x="668" y="98"/>
                </a:lnTo>
                <a:lnTo>
                  <a:pt x="668" y="70"/>
                </a:lnTo>
                <a:lnTo>
                  <a:pt x="672" y="49"/>
                </a:lnTo>
                <a:lnTo>
                  <a:pt x="676" y="32"/>
                </a:lnTo>
                <a:lnTo>
                  <a:pt x="676" y="23"/>
                </a:lnTo>
                <a:lnTo>
                  <a:pt x="650" y="23"/>
                </a:lnTo>
                <a:lnTo>
                  <a:pt x="663" y="35"/>
                </a:lnTo>
                <a:lnTo>
                  <a:pt x="672" y="32"/>
                </a:lnTo>
                <a:lnTo>
                  <a:pt x="650" y="37"/>
                </a:lnTo>
                <a:lnTo>
                  <a:pt x="654" y="32"/>
                </a:lnTo>
                <a:lnTo>
                  <a:pt x="659" y="37"/>
                </a:lnTo>
                <a:lnTo>
                  <a:pt x="659" y="23"/>
                </a:lnTo>
                <a:lnTo>
                  <a:pt x="643" y="32"/>
                </a:lnTo>
                <a:lnTo>
                  <a:pt x="650" y="35"/>
                </a:lnTo>
                <a:lnTo>
                  <a:pt x="634" y="23"/>
                </a:lnTo>
                <a:lnTo>
                  <a:pt x="639" y="32"/>
                </a:lnTo>
                <a:lnTo>
                  <a:pt x="643" y="49"/>
                </a:lnTo>
                <a:lnTo>
                  <a:pt x="645" y="70"/>
                </a:lnTo>
                <a:lnTo>
                  <a:pt x="650" y="98"/>
                </a:lnTo>
                <a:lnTo>
                  <a:pt x="654" y="131"/>
                </a:lnTo>
                <a:lnTo>
                  <a:pt x="659" y="167"/>
                </a:lnTo>
                <a:lnTo>
                  <a:pt x="663" y="207"/>
                </a:lnTo>
                <a:lnTo>
                  <a:pt x="668" y="252"/>
                </a:lnTo>
                <a:lnTo>
                  <a:pt x="672" y="298"/>
                </a:lnTo>
                <a:lnTo>
                  <a:pt x="676" y="349"/>
                </a:lnTo>
                <a:lnTo>
                  <a:pt x="681" y="400"/>
                </a:lnTo>
                <a:lnTo>
                  <a:pt x="690" y="511"/>
                </a:lnTo>
                <a:lnTo>
                  <a:pt x="701" y="625"/>
                </a:lnTo>
                <a:lnTo>
                  <a:pt x="710" y="737"/>
                </a:lnTo>
                <a:lnTo>
                  <a:pt x="719" y="846"/>
                </a:lnTo>
                <a:lnTo>
                  <a:pt x="723" y="897"/>
                </a:lnTo>
                <a:lnTo>
                  <a:pt x="727" y="948"/>
                </a:lnTo>
                <a:lnTo>
                  <a:pt x="732" y="996"/>
                </a:lnTo>
                <a:lnTo>
                  <a:pt x="736" y="1039"/>
                </a:lnTo>
                <a:lnTo>
                  <a:pt x="741" y="1079"/>
                </a:lnTo>
                <a:lnTo>
                  <a:pt x="745" y="1117"/>
                </a:lnTo>
                <a:lnTo>
                  <a:pt x="750" y="1150"/>
                </a:lnTo>
                <a:lnTo>
                  <a:pt x="752" y="1178"/>
                </a:lnTo>
                <a:lnTo>
                  <a:pt x="756" y="1198"/>
                </a:lnTo>
                <a:lnTo>
                  <a:pt x="761" y="1214"/>
                </a:lnTo>
                <a:lnTo>
                  <a:pt x="765" y="1226"/>
                </a:lnTo>
                <a:lnTo>
                  <a:pt x="774" y="1236"/>
                </a:lnTo>
                <a:lnTo>
                  <a:pt x="783" y="1237"/>
                </a:lnTo>
                <a:lnTo>
                  <a:pt x="792" y="1240"/>
                </a:lnTo>
                <a:lnTo>
                  <a:pt x="796" y="1242"/>
                </a:lnTo>
                <a:lnTo>
                  <a:pt x="801" y="1242"/>
                </a:lnTo>
                <a:lnTo>
                  <a:pt x="801" y="1237"/>
                </a:lnTo>
                <a:lnTo>
                  <a:pt x="807" y="1237"/>
                </a:lnTo>
                <a:lnTo>
                  <a:pt x="816" y="1236"/>
                </a:lnTo>
                <a:lnTo>
                  <a:pt x="825" y="1224"/>
                </a:lnTo>
                <a:lnTo>
                  <a:pt x="830" y="1214"/>
                </a:lnTo>
                <a:lnTo>
                  <a:pt x="830" y="1198"/>
                </a:lnTo>
                <a:lnTo>
                  <a:pt x="834" y="1175"/>
                </a:lnTo>
                <a:lnTo>
                  <a:pt x="838" y="1150"/>
                </a:lnTo>
                <a:lnTo>
                  <a:pt x="843" y="1117"/>
                </a:lnTo>
                <a:lnTo>
                  <a:pt x="843" y="1079"/>
                </a:lnTo>
                <a:lnTo>
                  <a:pt x="847" y="1037"/>
                </a:lnTo>
                <a:lnTo>
                  <a:pt x="852" y="993"/>
                </a:lnTo>
                <a:lnTo>
                  <a:pt x="856" y="947"/>
                </a:lnTo>
                <a:lnTo>
                  <a:pt x="856" y="895"/>
                </a:lnTo>
                <a:lnTo>
                  <a:pt x="858" y="844"/>
                </a:lnTo>
                <a:lnTo>
                  <a:pt x="863" y="734"/>
                </a:lnTo>
                <a:lnTo>
                  <a:pt x="872" y="620"/>
                </a:lnTo>
                <a:lnTo>
                  <a:pt x="876" y="508"/>
                </a:lnTo>
                <a:lnTo>
                  <a:pt x="881" y="398"/>
                </a:lnTo>
                <a:lnTo>
                  <a:pt x="885" y="344"/>
                </a:lnTo>
                <a:lnTo>
                  <a:pt x="889" y="296"/>
                </a:lnTo>
                <a:lnTo>
                  <a:pt x="889" y="247"/>
                </a:lnTo>
                <a:lnTo>
                  <a:pt x="894" y="202"/>
                </a:lnTo>
                <a:lnTo>
                  <a:pt x="898" y="163"/>
                </a:lnTo>
                <a:lnTo>
                  <a:pt x="898" y="126"/>
                </a:lnTo>
                <a:lnTo>
                  <a:pt x="903" y="93"/>
                </a:lnTo>
                <a:lnTo>
                  <a:pt x="907" y="65"/>
                </a:lnTo>
                <a:lnTo>
                  <a:pt x="912" y="44"/>
                </a:lnTo>
                <a:lnTo>
                  <a:pt x="912" y="27"/>
                </a:lnTo>
                <a:lnTo>
                  <a:pt x="914" y="19"/>
                </a:lnTo>
                <a:lnTo>
                  <a:pt x="889" y="19"/>
                </a:lnTo>
                <a:lnTo>
                  <a:pt x="903" y="30"/>
                </a:lnTo>
                <a:lnTo>
                  <a:pt x="907" y="27"/>
                </a:lnTo>
                <a:lnTo>
                  <a:pt x="889" y="32"/>
                </a:lnTo>
                <a:lnTo>
                  <a:pt x="894" y="27"/>
                </a:lnTo>
                <a:lnTo>
                  <a:pt x="898" y="32"/>
                </a:lnTo>
                <a:lnTo>
                  <a:pt x="898" y="19"/>
                </a:lnTo>
                <a:lnTo>
                  <a:pt x="881" y="27"/>
                </a:lnTo>
                <a:lnTo>
                  <a:pt x="889" y="30"/>
                </a:lnTo>
                <a:lnTo>
                  <a:pt x="872" y="19"/>
                </a:lnTo>
                <a:lnTo>
                  <a:pt x="876" y="27"/>
                </a:lnTo>
                <a:lnTo>
                  <a:pt x="881" y="44"/>
                </a:lnTo>
                <a:lnTo>
                  <a:pt x="885" y="65"/>
                </a:lnTo>
                <a:lnTo>
                  <a:pt x="889" y="93"/>
                </a:lnTo>
                <a:lnTo>
                  <a:pt x="889" y="126"/>
                </a:lnTo>
                <a:lnTo>
                  <a:pt x="894" y="163"/>
                </a:lnTo>
                <a:lnTo>
                  <a:pt x="898" y="202"/>
                </a:lnTo>
                <a:lnTo>
                  <a:pt x="903" y="247"/>
                </a:lnTo>
                <a:lnTo>
                  <a:pt x="907" y="296"/>
                </a:lnTo>
                <a:lnTo>
                  <a:pt x="912" y="344"/>
                </a:lnTo>
                <a:lnTo>
                  <a:pt x="914" y="398"/>
                </a:lnTo>
                <a:lnTo>
                  <a:pt x="923" y="508"/>
                </a:lnTo>
                <a:lnTo>
                  <a:pt x="936" y="623"/>
                </a:lnTo>
                <a:lnTo>
                  <a:pt x="945" y="734"/>
                </a:lnTo>
                <a:lnTo>
                  <a:pt x="954" y="844"/>
                </a:lnTo>
                <a:lnTo>
                  <a:pt x="958" y="897"/>
                </a:lnTo>
                <a:lnTo>
                  <a:pt x="963" y="947"/>
                </a:lnTo>
                <a:lnTo>
                  <a:pt x="965" y="996"/>
                </a:lnTo>
                <a:lnTo>
                  <a:pt x="969" y="1039"/>
                </a:lnTo>
                <a:lnTo>
                  <a:pt x="974" y="1079"/>
                </a:lnTo>
                <a:lnTo>
                  <a:pt x="978" y="1117"/>
                </a:lnTo>
                <a:lnTo>
                  <a:pt x="983" y="1150"/>
                </a:lnTo>
                <a:lnTo>
                  <a:pt x="983" y="1178"/>
                </a:lnTo>
                <a:lnTo>
                  <a:pt x="987" y="1198"/>
                </a:lnTo>
                <a:lnTo>
                  <a:pt x="992" y="1214"/>
                </a:lnTo>
                <a:lnTo>
                  <a:pt x="996" y="1226"/>
                </a:lnTo>
                <a:lnTo>
                  <a:pt x="1005" y="1236"/>
                </a:lnTo>
                <a:lnTo>
                  <a:pt x="1014" y="1237"/>
                </a:lnTo>
                <a:lnTo>
                  <a:pt x="1020" y="1240"/>
                </a:lnTo>
                <a:lnTo>
                  <a:pt x="1025" y="1242"/>
                </a:lnTo>
                <a:lnTo>
                  <a:pt x="1029" y="1240"/>
                </a:lnTo>
                <a:lnTo>
                  <a:pt x="1038" y="1237"/>
                </a:lnTo>
                <a:lnTo>
                  <a:pt x="1047" y="1236"/>
                </a:lnTo>
                <a:lnTo>
                  <a:pt x="1056" y="1226"/>
                </a:lnTo>
                <a:lnTo>
                  <a:pt x="1060" y="1214"/>
                </a:lnTo>
                <a:lnTo>
                  <a:pt x="1060" y="1198"/>
                </a:lnTo>
                <a:lnTo>
                  <a:pt x="1065" y="1178"/>
                </a:lnTo>
                <a:lnTo>
                  <a:pt x="1069" y="1150"/>
                </a:lnTo>
                <a:lnTo>
                  <a:pt x="1071" y="1117"/>
                </a:lnTo>
                <a:lnTo>
                  <a:pt x="1071" y="1079"/>
                </a:lnTo>
                <a:lnTo>
                  <a:pt x="1076" y="1039"/>
                </a:lnTo>
                <a:lnTo>
                  <a:pt x="1080" y="996"/>
                </a:lnTo>
                <a:lnTo>
                  <a:pt x="1080" y="947"/>
                </a:lnTo>
                <a:lnTo>
                  <a:pt x="1085" y="897"/>
                </a:lnTo>
                <a:lnTo>
                  <a:pt x="1089" y="844"/>
                </a:lnTo>
                <a:lnTo>
                  <a:pt x="1094" y="734"/>
                </a:lnTo>
                <a:lnTo>
                  <a:pt x="1098" y="623"/>
                </a:lnTo>
                <a:lnTo>
                  <a:pt x="1103" y="508"/>
                </a:lnTo>
                <a:lnTo>
                  <a:pt x="1107" y="398"/>
                </a:lnTo>
                <a:lnTo>
                  <a:pt x="1111" y="344"/>
                </a:lnTo>
                <a:lnTo>
                  <a:pt x="1111" y="296"/>
                </a:lnTo>
                <a:lnTo>
                  <a:pt x="1116" y="247"/>
                </a:lnTo>
                <a:lnTo>
                  <a:pt x="1120" y="202"/>
                </a:lnTo>
                <a:lnTo>
                  <a:pt x="1120" y="163"/>
                </a:lnTo>
                <a:lnTo>
                  <a:pt x="1125" y="126"/>
                </a:lnTo>
                <a:lnTo>
                  <a:pt x="1127" y="93"/>
                </a:lnTo>
                <a:lnTo>
                  <a:pt x="1127" y="65"/>
                </a:lnTo>
                <a:lnTo>
                  <a:pt x="1131" y="44"/>
                </a:lnTo>
                <a:lnTo>
                  <a:pt x="1136" y="27"/>
                </a:lnTo>
                <a:lnTo>
                  <a:pt x="1136" y="19"/>
                </a:lnTo>
                <a:lnTo>
                  <a:pt x="1111" y="19"/>
                </a:lnTo>
                <a:lnTo>
                  <a:pt x="1125" y="30"/>
                </a:lnTo>
                <a:lnTo>
                  <a:pt x="1131" y="27"/>
                </a:lnTo>
                <a:lnTo>
                  <a:pt x="1111" y="32"/>
                </a:lnTo>
                <a:lnTo>
                  <a:pt x="1116" y="27"/>
                </a:lnTo>
                <a:lnTo>
                  <a:pt x="1120" y="32"/>
                </a:lnTo>
                <a:lnTo>
                  <a:pt x="1120" y="19"/>
                </a:lnTo>
                <a:lnTo>
                  <a:pt x="1098" y="27"/>
                </a:lnTo>
                <a:lnTo>
                  <a:pt x="1107" y="30"/>
                </a:lnTo>
                <a:lnTo>
                  <a:pt x="1094" y="19"/>
                </a:lnTo>
                <a:lnTo>
                  <a:pt x="1094" y="27"/>
                </a:lnTo>
                <a:lnTo>
                  <a:pt x="1098" y="44"/>
                </a:lnTo>
                <a:lnTo>
                  <a:pt x="1103" y="65"/>
                </a:lnTo>
                <a:lnTo>
                  <a:pt x="1103" y="93"/>
                </a:lnTo>
                <a:lnTo>
                  <a:pt x="1107" y="126"/>
                </a:lnTo>
                <a:lnTo>
                  <a:pt x="1107" y="163"/>
                </a:lnTo>
                <a:lnTo>
                  <a:pt x="1111" y="202"/>
                </a:lnTo>
                <a:lnTo>
                  <a:pt x="1116" y="247"/>
                </a:lnTo>
                <a:lnTo>
                  <a:pt x="1116" y="296"/>
                </a:lnTo>
                <a:lnTo>
                  <a:pt x="1120" y="344"/>
                </a:lnTo>
                <a:lnTo>
                  <a:pt x="1120" y="398"/>
                </a:lnTo>
                <a:lnTo>
                  <a:pt x="1127" y="508"/>
                </a:lnTo>
                <a:lnTo>
                  <a:pt x="1131" y="620"/>
                </a:lnTo>
                <a:lnTo>
                  <a:pt x="1136" y="734"/>
                </a:lnTo>
                <a:lnTo>
                  <a:pt x="1145" y="844"/>
                </a:lnTo>
                <a:lnTo>
                  <a:pt x="1149" y="895"/>
                </a:lnTo>
                <a:lnTo>
                  <a:pt x="1154" y="947"/>
                </a:lnTo>
                <a:lnTo>
                  <a:pt x="1158" y="993"/>
                </a:lnTo>
                <a:lnTo>
                  <a:pt x="1162" y="1037"/>
                </a:lnTo>
                <a:lnTo>
                  <a:pt x="1167" y="1079"/>
                </a:lnTo>
                <a:lnTo>
                  <a:pt x="1171" y="1117"/>
                </a:lnTo>
                <a:lnTo>
                  <a:pt x="1176" y="1150"/>
                </a:lnTo>
                <a:lnTo>
                  <a:pt x="1178" y="1175"/>
                </a:lnTo>
                <a:lnTo>
                  <a:pt x="1182" y="1198"/>
                </a:lnTo>
                <a:lnTo>
                  <a:pt x="1187" y="1214"/>
                </a:lnTo>
                <a:lnTo>
                  <a:pt x="1196" y="1224"/>
                </a:lnTo>
                <a:lnTo>
                  <a:pt x="1200" y="1236"/>
                </a:lnTo>
                <a:lnTo>
                  <a:pt x="1209" y="1237"/>
                </a:lnTo>
                <a:lnTo>
                  <a:pt x="1222" y="1237"/>
                </a:lnTo>
                <a:lnTo>
                  <a:pt x="1227" y="1242"/>
                </a:lnTo>
                <a:lnTo>
                  <a:pt x="1233" y="1240"/>
                </a:lnTo>
                <a:lnTo>
                  <a:pt x="1242" y="1237"/>
                </a:lnTo>
                <a:lnTo>
                  <a:pt x="1251" y="1236"/>
                </a:lnTo>
                <a:lnTo>
                  <a:pt x="1260" y="1226"/>
                </a:lnTo>
                <a:lnTo>
                  <a:pt x="1265" y="1214"/>
                </a:lnTo>
                <a:lnTo>
                  <a:pt x="1273" y="1198"/>
                </a:lnTo>
                <a:lnTo>
                  <a:pt x="1282" y="1178"/>
                </a:lnTo>
                <a:lnTo>
                  <a:pt x="1289" y="1150"/>
                </a:lnTo>
                <a:lnTo>
                  <a:pt x="1298" y="1117"/>
                </a:lnTo>
                <a:lnTo>
                  <a:pt x="1307" y="1079"/>
                </a:lnTo>
                <a:lnTo>
                  <a:pt x="1316" y="1039"/>
                </a:lnTo>
                <a:lnTo>
                  <a:pt x="1324" y="996"/>
                </a:lnTo>
                <a:lnTo>
                  <a:pt x="1333" y="948"/>
                </a:lnTo>
                <a:lnTo>
                  <a:pt x="1340" y="897"/>
                </a:lnTo>
                <a:lnTo>
                  <a:pt x="1349" y="846"/>
                </a:lnTo>
                <a:lnTo>
                  <a:pt x="1371" y="737"/>
                </a:lnTo>
                <a:lnTo>
                  <a:pt x="1391" y="625"/>
                </a:lnTo>
                <a:lnTo>
                  <a:pt x="1409" y="511"/>
                </a:lnTo>
                <a:lnTo>
                  <a:pt x="1431" y="400"/>
                </a:lnTo>
                <a:lnTo>
                  <a:pt x="1440" y="349"/>
                </a:lnTo>
                <a:lnTo>
                  <a:pt x="1446" y="298"/>
                </a:lnTo>
                <a:lnTo>
                  <a:pt x="1460" y="252"/>
                </a:lnTo>
                <a:lnTo>
                  <a:pt x="1469" y="207"/>
                </a:lnTo>
                <a:lnTo>
                  <a:pt x="1478" y="167"/>
                </a:lnTo>
                <a:lnTo>
                  <a:pt x="1486" y="131"/>
                </a:lnTo>
                <a:lnTo>
                  <a:pt x="1495" y="98"/>
                </a:lnTo>
                <a:lnTo>
                  <a:pt x="1502" y="70"/>
                </a:lnTo>
                <a:lnTo>
                  <a:pt x="1511" y="49"/>
                </a:lnTo>
                <a:lnTo>
                  <a:pt x="1520" y="32"/>
                </a:lnTo>
                <a:lnTo>
                  <a:pt x="1524" y="23"/>
                </a:lnTo>
                <a:lnTo>
                  <a:pt x="1498" y="23"/>
                </a:lnTo>
                <a:lnTo>
                  <a:pt x="1511" y="35"/>
                </a:lnTo>
                <a:lnTo>
                  <a:pt x="1520" y="32"/>
                </a:lnTo>
                <a:lnTo>
                  <a:pt x="1498" y="37"/>
                </a:lnTo>
                <a:lnTo>
                  <a:pt x="1506" y="32"/>
                </a:lnTo>
                <a:lnTo>
                  <a:pt x="1515" y="35"/>
                </a:lnTo>
                <a:lnTo>
                  <a:pt x="1515" y="20"/>
                </a:lnTo>
                <a:lnTo>
                  <a:pt x="1502" y="32"/>
                </a:lnTo>
                <a:lnTo>
                  <a:pt x="1495" y="30"/>
                </a:lnTo>
                <a:lnTo>
                  <a:pt x="1502" y="37"/>
                </a:lnTo>
                <a:lnTo>
                  <a:pt x="1506" y="44"/>
                </a:lnTo>
                <a:lnTo>
                  <a:pt x="1529" y="35"/>
                </a:lnTo>
                <a:lnTo>
                  <a:pt x="1502" y="35"/>
                </a:lnTo>
                <a:lnTo>
                  <a:pt x="1506" y="47"/>
                </a:lnTo>
                <a:lnTo>
                  <a:pt x="1515" y="60"/>
                </a:lnTo>
                <a:lnTo>
                  <a:pt x="1520" y="78"/>
                </a:lnTo>
                <a:lnTo>
                  <a:pt x="1529" y="100"/>
                </a:lnTo>
                <a:lnTo>
                  <a:pt x="1533" y="123"/>
                </a:lnTo>
                <a:lnTo>
                  <a:pt x="1542" y="149"/>
                </a:lnTo>
                <a:lnTo>
                  <a:pt x="1546" y="177"/>
                </a:lnTo>
                <a:lnTo>
                  <a:pt x="1551" y="210"/>
                </a:lnTo>
                <a:lnTo>
                  <a:pt x="1553" y="242"/>
                </a:lnTo>
                <a:lnTo>
                  <a:pt x="1566" y="317"/>
                </a:lnTo>
                <a:lnTo>
                  <a:pt x="1575" y="398"/>
                </a:lnTo>
                <a:lnTo>
                  <a:pt x="1584" y="487"/>
                </a:lnTo>
                <a:lnTo>
                  <a:pt x="1597" y="580"/>
                </a:lnTo>
                <a:lnTo>
                  <a:pt x="1604" y="683"/>
                </a:lnTo>
                <a:lnTo>
                  <a:pt x="1613" y="788"/>
                </a:lnTo>
                <a:lnTo>
                  <a:pt x="1622" y="895"/>
                </a:lnTo>
                <a:lnTo>
                  <a:pt x="1631" y="1006"/>
                </a:lnTo>
                <a:lnTo>
                  <a:pt x="1648" y="1234"/>
                </a:lnTo>
                <a:lnTo>
                  <a:pt x="1699" y="1234"/>
                </a:lnTo>
                <a:lnTo>
                  <a:pt x="1682" y="1006"/>
                </a:lnTo>
                <a:lnTo>
                  <a:pt x="1673" y="895"/>
                </a:lnTo>
                <a:lnTo>
                  <a:pt x="1664" y="788"/>
                </a:lnTo>
                <a:lnTo>
                  <a:pt x="1657" y="683"/>
                </a:lnTo>
                <a:lnTo>
                  <a:pt x="1648" y="580"/>
                </a:lnTo>
                <a:lnTo>
                  <a:pt x="1635" y="487"/>
                </a:lnTo>
                <a:lnTo>
                  <a:pt x="1626" y="398"/>
                </a:lnTo>
                <a:lnTo>
                  <a:pt x="1617" y="317"/>
                </a:lnTo>
                <a:lnTo>
                  <a:pt x="1604" y="242"/>
                </a:lnTo>
                <a:lnTo>
                  <a:pt x="1602" y="210"/>
                </a:lnTo>
                <a:lnTo>
                  <a:pt x="1597" y="177"/>
                </a:lnTo>
                <a:lnTo>
                  <a:pt x="1593" y="149"/>
                </a:lnTo>
                <a:lnTo>
                  <a:pt x="1584" y="123"/>
                </a:lnTo>
                <a:lnTo>
                  <a:pt x="1580" y="100"/>
                </a:lnTo>
                <a:lnTo>
                  <a:pt x="1571" y="78"/>
                </a:lnTo>
                <a:lnTo>
                  <a:pt x="1566" y="60"/>
                </a:lnTo>
                <a:lnTo>
                  <a:pt x="1557" y="47"/>
                </a:lnTo>
                <a:lnTo>
                  <a:pt x="1553" y="35"/>
                </a:lnTo>
                <a:lnTo>
                  <a:pt x="1546" y="23"/>
                </a:lnTo>
                <a:lnTo>
                  <a:pt x="1542" y="17"/>
                </a:lnTo>
                <a:lnTo>
                  <a:pt x="1533" y="9"/>
                </a:lnTo>
                <a:lnTo>
                  <a:pt x="1524" y="7"/>
                </a:lnTo>
                <a:lnTo>
                  <a:pt x="1515" y="7"/>
                </a:lnTo>
                <a:lnTo>
                  <a:pt x="1506" y="4"/>
                </a:lnTo>
                <a:lnTo>
                  <a:pt x="1498" y="9"/>
                </a:lnTo>
                <a:lnTo>
                  <a:pt x="1491" y="9"/>
                </a:lnTo>
                <a:lnTo>
                  <a:pt x="1482" y="12"/>
                </a:lnTo>
                <a:lnTo>
                  <a:pt x="1473" y="23"/>
                </a:lnTo>
                <a:lnTo>
                  <a:pt x="1469" y="32"/>
                </a:lnTo>
                <a:lnTo>
                  <a:pt x="1460" y="49"/>
                </a:lnTo>
                <a:lnTo>
                  <a:pt x="1451" y="70"/>
                </a:lnTo>
                <a:lnTo>
                  <a:pt x="1444" y="98"/>
                </a:lnTo>
                <a:lnTo>
                  <a:pt x="1435" y="131"/>
                </a:lnTo>
                <a:lnTo>
                  <a:pt x="1427" y="167"/>
                </a:lnTo>
                <a:lnTo>
                  <a:pt x="1418" y="207"/>
                </a:lnTo>
                <a:lnTo>
                  <a:pt x="1409" y="252"/>
                </a:lnTo>
                <a:lnTo>
                  <a:pt x="1395" y="298"/>
                </a:lnTo>
                <a:lnTo>
                  <a:pt x="1389" y="349"/>
                </a:lnTo>
                <a:lnTo>
                  <a:pt x="1380" y="400"/>
                </a:lnTo>
                <a:lnTo>
                  <a:pt x="1358" y="511"/>
                </a:lnTo>
                <a:lnTo>
                  <a:pt x="1340" y="625"/>
                </a:lnTo>
                <a:lnTo>
                  <a:pt x="1320" y="737"/>
                </a:lnTo>
                <a:lnTo>
                  <a:pt x="1298" y="846"/>
                </a:lnTo>
                <a:lnTo>
                  <a:pt x="1289" y="897"/>
                </a:lnTo>
                <a:lnTo>
                  <a:pt x="1282" y="948"/>
                </a:lnTo>
                <a:lnTo>
                  <a:pt x="1273" y="996"/>
                </a:lnTo>
                <a:lnTo>
                  <a:pt x="1265" y="1039"/>
                </a:lnTo>
                <a:lnTo>
                  <a:pt x="1256" y="1079"/>
                </a:lnTo>
                <a:lnTo>
                  <a:pt x="1247" y="1117"/>
                </a:lnTo>
                <a:lnTo>
                  <a:pt x="1238" y="1150"/>
                </a:lnTo>
                <a:lnTo>
                  <a:pt x="1231" y="1178"/>
                </a:lnTo>
                <a:lnTo>
                  <a:pt x="1222" y="1198"/>
                </a:lnTo>
                <a:lnTo>
                  <a:pt x="1213" y="1214"/>
                </a:lnTo>
                <a:lnTo>
                  <a:pt x="1209" y="1226"/>
                </a:lnTo>
                <a:lnTo>
                  <a:pt x="1222" y="1212"/>
                </a:lnTo>
                <a:lnTo>
                  <a:pt x="1213" y="1214"/>
                </a:lnTo>
                <a:lnTo>
                  <a:pt x="1209" y="1226"/>
                </a:lnTo>
                <a:lnTo>
                  <a:pt x="1233" y="1226"/>
                </a:lnTo>
                <a:lnTo>
                  <a:pt x="1233" y="1212"/>
                </a:lnTo>
                <a:lnTo>
                  <a:pt x="1227" y="1214"/>
                </a:lnTo>
                <a:lnTo>
                  <a:pt x="1227" y="1229"/>
                </a:lnTo>
                <a:lnTo>
                  <a:pt x="1231" y="1214"/>
                </a:lnTo>
                <a:lnTo>
                  <a:pt x="1222" y="1209"/>
                </a:lnTo>
                <a:lnTo>
                  <a:pt x="1238" y="1214"/>
                </a:lnTo>
                <a:lnTo>
                  <a:pt x="1231" y="1212"/>
                </a:lnTo>
                <a:lnTo>
                  <a:pt x="1222" y="1224"/>
                </a:lnTo>
                <a:lnTo>
                  <a:pt x="1247" y="1224"/>
                </a:lnTo>
                <a:lnTo>
                  <a:pt x="1238" y="1214"/>
                </a:lnTo>
                <a:lnTo>
                  <a:pt x="1233" y="1198"/>
                </a:lnTo>
                <a:lnTo>
                  <a:pt x="1231" y="1175"/>
                </a:lnTo>
                <a:lnTo>
                  <a:pt x="1227" y="1150"/>
                </a:lnTo>
                <a:lnTo>
                  <a:pt x="1222" y="1117"/>
                </a:lnTo>
                <a:lnTo>
                  <a:pt x="1218" y="1079"/>
                </a:lnTo>
                <a:lnTo>
                  <a:pt x="1213" y="1037"/>
                </a:lnTo>
                <a:lnTo>
                  <a:pt x="1209" y="993"/>
                </a:lnTo>
                <a:lnTo>
                  <a:pt x="1205" y="947"/>
                </a:lnTo>
                <a:lnTo>
                  <a:pt x="1200" y="895"/>
                </a:lnTo>
                <a:lnTo>
                  <a:pt x="1196" y="844"/>
                </a:lnTo>
                <a:lnTo>
                  <a:pt x="1187" y="734"/>
                </a:lnTo>
                <a:lnTo>
                  <a:pt x="1182" y="620"/>
                </a:lnTo>
                <a:lnTo>
                  <a:pt x="1178" y="508"/>
                </a:lnTo>
                <a:lnTo>
                  <a:pt x="1171" y="398"/>
                </a:lnTo>
                <a:lnTo>
                  <a:pt x="1171" y="344"/>
                </a:lnTo>
                <a:lnTo>
                  <a:pt x="1167" y="296"/>
                </a:lnTo>
                <a:lnTo>
                  <a:pt x="1167" y="247"/>
                </a:lnTo>
                <a:lnTo>
                  <a:pt x="1162" y="202"/>
                </a:lnTo>
                <a:lnTo>
                  <a:pt x="1158" y="163"/>
                </a:lnTo>
                <a:lnTo>
                  <a:pt x="1158" y="126"/>
                </a:lnTo>
                <a:lnTo>
                  <a:pt x="1154" y="93"/>
                </a:lnTo>
                <a:lnTo>
                  <a:pt x="1154" y="65"/>
                </a:lnTo>
                <a:lnTo>
                  <a:pt x="1149" y="44"/>
                </a:lnTo>
                <a:lnTo>
                  <a:pt x="1145" y="27"/>
                </a:lnTo>
                <a:lnTo>
                  <a:pt x="1145" y="19"/>
                </a:lnTo>
                <a:lnTo>
                  <a:pt x="1136" y="7"/>
                </a:lnTo>
                <a:lnTo>
                  <a:pt x="1127" y="4"/>
                </a:lnTo>
                <a:lnTo>
                  <a:pt x="1120" y="4"/>
                </a:lnTo>
                <a:lnTo>
                  <a:pt x="1116" y="0"/>
                </a:lnTo>
                <a:lnTo>
                  <a:pt x="1111" y="4"/>
                </a:lnTo>
                <a:lnTo>
                  <a:pt x="1103" y="4"/>
                </a:lnTo>
                <a:lnTo>
                  <a:pt x="1094" y="7"/>
                </a:lnTo>
                <a:lnTo>
                  <a:pt x="1085" y="19"/>
                </a:lnTo>
                <a:lnTo>
                  <a:pt x="1085" y="27"/>
                </a:lnTo>
                <a:lnTo>
                  <a:pt x="1080" y="44"/>
                </a:lnTo>
                <a:lnTo>
                  <a:pt x="1076" y="65"/>
                </a:lnTo>
                <a:lnTo>
                  <a:pt x="1076" y="93"/>
                </a:lnTo>
                <a:lnTo>
                  <a:pt x="1071" y="126"/>
                </a:lnTo>
                <a:lnTo>
                  <a:pt x="1069" y="163"/>
                </a:lnTo>
                <a:lnTo>
                  <a:pt x="1069" y="202"/>
                </a:lnTo>
                <a:lnTo>
                  <a:pt x="1065" y="247"/>
                </a:lnTo>
                <a:lnTo>
                  <a:pt x="1060" y="296"/>
                </a:lnTo>
                <a:lnTo>
                  <a:pt x="1060" y="344"/>
                </a:lnTo>
                <a:lnTo>
                  <a:pt x="1056" y="398"/>
                </a:lnTo>
                <a:lnTo>
                  <a:pt x="1051" y="508"/>
                </a:lnTo>
                <a:lnTo>
                  <a:pt x="1047" y="623"/>
                </a:lnTo>
                <a:lnTo>
                  <a:pt x="1043" y="734"/>
                </a:lnTo>
                <a:lnTo>
                  <a:pt x="1038" y="844"/>
                </a:lnTo>
                <a:lnTo>
                  <a:pt x="1034" y="897"/>
                </a:lnTo>
                <a:lnTo>
                  <a:pt x="1029" y="947"/>
                </a:lnTo>
                <a:lnTo>
                  <a:pt x="1029" y="996"/>
                </a:lnTo>
                <a:lnTo>
                  <a:pt x="1025" y="1039"/>
                </a:lnTo>
                <a:lnTo>
                  <a:pt x="1020" y="1079"/>
                </a:lnTo>
                <a:lnTo>
                  <a:pt x="1020" y="1117"/>
                </a:lnTo>
                <a:lnTo>
                  <a:pt x="1018" y="1150"/>
                </a:lnTo>
                <a:lnTo>
                  <a:pt x="1014" y="1178"/>
                </a:lnTo>
                <a:lnTo>
                  <a:pt x="1009" y="1198"/>
                </a:lnTo>
                <a:lnTo>
                  <a:pt x="1009" y="1214"/>
                </a:lnTo>
                <a:lnTo>
                  <a:pt x="1005" y="1226"/>
                </a:lnTo>
                <a:lnTo>
                  <a:pt x="1018" y="1212"/>
                </a:lnTo>
                <a:lnTo>
                  <a:pt x="1014" y="1214"/>
                </a:lnTo>
                <a:lnTo>
                  <a:pt x="1005" y="1226"/>
                </a:lnTo>
                <a:lnTo>
                  <a:pt x="1029" y="1226"/>
                </a:lnTo>
                <a:lnTo>
                  <a:pt x="1029" y="1212"/>
                </a:lnTo>
                <a:lnTo>
                  <a:pt x="1025" y="1214"/>
                </a:lnTo>
                <a:lnTo>
                  <a:pt x="1020" y="1212"/>
                </a:lnTo>
                <a:lnTo>
                  <a:pt x="1038" y="1214"/>
                </a:lnTo>
                <a:lnTo>
                  <a:pt x="1034" y="1212"/>
                </a:lnTo>
                <a:lnTo>
                  <a:pt x="1020" y="1226"/>
                </a:lnTo>
                <a:lnTo>
                  <a:pt x="1047" y="1226"/>
                </a:lnTo>
                <a:lnTo>
                  <a:pt x="1043" y="1214"/>
                </a:lnTo>
                <a:lnTo>
                  <a:pt x="1038" y="1198"/>
                </a:lnTo>
                <a:lnTo>
                  <a:pt x="1034" y="1178"/>
                </a:lnTo>
                <a:lnTo>
                  <a:pt x="1034" y="1150"/>
                </a:lnTo>
                <a:lnTo>
                  <a:pt x="1029" y="1117"/>
                </a:lnTo>
                <a:lnTo>
                  <a:pt x="1025" y="1079"/>
                </a:lnTo>
                <a:lnTo>
                  <a:pt x="1020" y="1039"/>
                </a:lnTo>
                <a:lnTo>
                  <a:pt x="1018" y="996"/>
                </a:lnTo>
                <a:lnTo>
                  <a:pt x="1014" y="947"/>
                </a:lnTo>
                <a:lnTo>
                  <a:pt x="1009" y="897"/>
                </a:lnTo>
                <a:lnTo>
                  <a:pt x="1005" y="844"/>
                </a:lnTo>
                <a:lnTo>
                  <a:pt x="996" y="734"/>
                </a:lnTo>
                <a:lnTo>
                  <a:pt x="987" y="623"/>
                </a:lnTo>
                <a:lnTo>
                  <a:pt x="974" y="508"/>
                </a:lnTo>
                <a:lnTo>
                  <a:pt x="965" y="398"/>
                </a:lnTo>
                <a:lnTo>
                  <a:pt x="963" y="344"/>
                </a:lnTo>
                <a:lnTo>
                  <a:pt x="958" y="296"/>
                </a:lnTo>
                <a:lnTo>
                  <a:pt x="954" y="247"/>
                </a:lnTo>
                <a:lnTo>
                  <a:pt x="949" y="202"/>
                </a:lnTo>
                <a:lnTo>
                  <a:pt x="945" y="163"/>
                </a:lnTo>
                <a:lnTo>
                  <a:pt x="940" y="126"/>
                </a:lnTo>
                <a:lnTo>
                  <a:pt x="940" y="93"/>
                </a:lnTo>
                <a:lnTo>
                  <a:pt x="936" y="65"/>
                </a:lnTo>
                <a:lnTo>
                  <a:pt x="932" y="44"/>
                </a:lnTo>
                <a:lnTo>
                  <a:pt x="927" y="27"/>
                </a:lnTo>
                <a:lnTo>
                  <a:pt x="923" y="19"/>
                </a:lnTo>
                <a:lnTo>
                  <a:pt x="914" y="7"/>
                </a:lnTo>
                <a:lnTo>
                  <a:pt x="907" y="4"/>
                </a:lnTo>
                <a:lnTo>
                  <a:pt x="898" y="4"/>
                </a:lnTo>
                <a:lnTo>
                  <a:pt x="894" y="0"/>
                </a:lnTo>
                <a:lnTo>
                  <a:pt x="889" y="4"/>
                </a:lnTo>
                <a:lnTo>
                  <a:pt x="881" y="4"/>
                </a:lnTo>
                <a:lnTo>
                  <a:pt x="872" y="7"/>
                </a:lnTo>
                <a:lnTo>
                  <a:pt x="863" y="19"/>
                </a:lnTo>
                <a:lnTo>
                  <a:pt x="858" y="27"/>
                </a:lnTo>
                <a:lnTo>
                  <a:pt x="858" y="44"/>
                </a:lnTo>
                <a:lnTo>
                  <a:pt x="856" y="65"/>
                </a:lnTo>
                <a:lnTo>
                  <a:pt x="852" y="93"/>
                </a:lnTo>
                <a:lnTo>
                  <a:pt x="847" y="126"/>
                </a:lnTo>
                <a:lnTo>
                  <a:pt x="847" y="163"/>
                </a:lnTo>
                <a:lnTo>
                  <a:pt x="843" y="202"/>
                </a:lnTo>
                <a:lnTo>
                  <a:pt x="838" y="247"/>
                </a:lnTo>
                <a:lnTo>
                  <a:pt x="838" y="296"/>
                </a:lnTo>
                <a:lnTo>
                  <a:pt x="834" y="344"/>
                </a:lnTo>
                <a:lnTo>
                  <a:pt x="830" y="398"/>
                </a:lnTo>
                <a:lnTo>
                  <a:pt x="825" y="508"/>
                </a:lnTo>
                <a:lnTo>
                  <a:pt x="821" y="620"/>
                </a:lnTo>
                <a:lnTo>
                  <a:pt x="812" y="734"/>
                </a:lnTo>
                <a:lnTo>
                  <a:pt x="807" y="844"/>
                </a:lnTo>
                <a:lnTo>
                  <a:pt x="805" y="895"/>
                </a:lnTo>
                <a:lnTo>
                  <a:pt x="805" y="947"/>
                </a:lnTo>
                <a:lnTo>
                  <a:pt x="801" y="993"/>
                </a:lnTo>
                <a:lnTo>
                  <a:pt x="796" y="1037"/>
                </a:lnTo>
                <a:lnTo>
                  <a:pt x="792" y="1079"/>
                </a:lnTo>
                <a:lnTo>
                  <a:pt x="792" y="1117"/>
                </a:lnTo>
                <a:lnTo>
                  <a:pt x="787" y="1150"/>
                </a:lnTo>
                <a:lnTo>
                  <a:pt x="783" y="1175"/>
                </a:lnTo>
                <a:lnTo>
                  <a:pt x="778" y="1198"/>
                </a:lnTo>
                <a:lnTo>
                  <a:pt x="778" y="1214"/>
                </a:lnTo>
                <a:lnTo>
                  <a:pt x="774" y="1224"/>
                </a:lnTo>
                <a:lnTo>
                  <a:pt x="787" y="1212"/>
                </a:lnTo>
                <a:lnTo>
                  <a:pt x="783" y="1214"/>
                </a:lnTo>
                <a:lnTo>
                  <a:pt x="774" y="1224"/>
                </a:lnTo>
                <a:lnTo>
                  <a:pt x="801" y="1224"/>
                </a:lnTo>
                <a:lnTo>
                  <a:pt x="801" y="1209"/>
                </a:lnTo>
                <a:lnTo>
                  <a:pt x="796" y="1214"/>
                </a:lnTo>
                <a:lnTo>
                  <a:pt x="796" y="1229"/>
                </a:lnTo>
                <a:lnTo>
                  <a:pt x="796" y="1214"/>
                </a:lnTo>
                <a:lnTo>
                  <a:pt x="792" y="1212"/>
                </a:lnTo>
                <a:lnTo>
                  <a:pt x="807" y="1214"/>
                </a:lnTo>
                <a:lnTo>
                  <a:pt x="805" y="1212"/>
                </a:lnTo>
                <a:lnTo>
                  <a:pt x="792" y="1226"/>
                </a:lnTo>
                <a:lnTo>
                  <a:pt x="816" y="1226"/>
                </a:lnTo>
                <a:lnTo>
                  <a:pt x="812" y="1214"/>
                </a:lnTo>
                <a:lnTo>
                  <a:pt x="807" y="1198"/>
                </a:lnTo>
                <a:lnTo>
                  <a:pt x="805" y="1178"/>
                </a:lnTo>
                <a:lnTo>
                  <a:pt x="801" y="1150"/>
                </a:lnTo>
                <a:lnTo>
                  <a:pt x="796" y="1117"/>
                </a:lnTo>
                <a:lnTo>
                  <a:pt x="792" y="1079"/>
                </a:lnTo>
                <a:lnTo>
                  <a:pt x="787" y="1039"/>
                </a:lnTo>
                <a:lnTo>
                  <a:pt x="783" y="996"/>
                </a:lnTo>
                <a:lnTo>
                  <a:pt x="778" y="948"/>
                </a:lnTo>
                <a:lnTo>
                  <a:pt x="774" y="897"/>
                </a:lnTo>
                <a:lnTo>
                  <a:pt x="770" y="846"/>
                </a:lnTo>
                <a:lnTo>
                  <a:pt x="761" y="737"/>
                </a:lnTo>
                <a:lnTo>
                  <a:pt x="752" y="625"/>
                </a:lnTo>
                <a:lnTo>
                  <a:pt x="741" y="511"/>
                </a:lnTo>
                <a:lnTo>
                  <a:pt x="732" y="400"/>
                </a:lnTo>
                <a:lnTo>
                  <a:pt x="727" y="349"/>
                </a:lnTo>
                <a:lnTo>
                  <a:pt x="723" y="298"/>
                </a:lnTo>
                <a:lnTo>
                  <a:pt x="719" y="252"/>
                </a:lnTo>
                <a:lnTo>
                  <a:pt x="714" y="207"/>
                </a:lnTo>
                <a:lnTo>
                  <a:pt x="710" y="167"/>
                </a:lnTo>
                <a:lnTo>
                  <a:pt x="705" y="131"/>
                </a:lnTo>
                <a:lnTo>
                  <a:pt x="701" y="98"/>
                </a:lnTo>
                <a:lnTo>
                  <a:pt x="699" y="70"/>
                </a:lnTo>
                <a:lnTo>
                  <a:pt x="694" y="49"/>
                </a:lnTo>
                <a:lnTo>
                  <a:pt x="690" y="32"/>
                </a:lnTo>
                <a:lnTo>
                  <a:pt x="685" y="23"/>
                </a:lnTo>
                <a:lnTo>
                  <a:pt x="676" y="12"/>
                </a:lnTo>
                <a:lnTo>
                  <a:pt x="668" y="9"/>
                </a:lnTo>
                <a:lnTo>
                  <a:pt x="659" y="9"/>
                </a:lnTo>
                <a:lnTo>
                  <a:pt x="654" y="4"/>
                </a:lnTo>
                <a:lnTo>
                  <a:pt x="650" y="9"/>
                </a:lnTo>
                <a:lnTo>
                  <a:pt x="643" y="9"/>
                </a:lnTo>
                <a:lnTo>
                  <a:pt x="634" y="12"/>
                </a:lnTo>
                <a:lnTo>
                  <a:pt x="625" y="23"/>
                </a:lnTo>
                <a:lnTo>
                  <a:pt x="625" y="32"/>
                </a:lnTo>
                <a:lnTo>
                  <a:pt x="621" y="49"/>
                </a:lnTo>
                <a:lnTo>
                  <a:pt x="616" y="70"/>
                </a:lnTo>
                <a:lnTo>
                  <a:pt x="616" y="98"/>
                </a:lnTo>
                <a:lnTo>
                  <a:pt x="612" y="131"/>
                </a:lnTo>
                <a:lnTo>
                  <a:pt x="612" y="167"/>
                </a:lnTo>
                <a:lnTo>
                  <a:pt x="608" y="207"/>
                </a:lnTo>
                <a:lnTo>
                  <a:pt x="608" y="252"/>
                </a:lnTo>
                <a:lnTo>
                  <a:pt x="603" y="298"/>
                </a:lnTo>
                <a:lnTo>
                  <a:pt x="603" y="349"/>
                </a:lnTo>
                <a:lnTo>
                  <a:pt x="603" y="400"/>
                </a:lnTo>
                <a:lnTo>
                  <a:pt x="599" y="511"/>
                </a:lnTo>
                <a:lnTo>
                  <a:pt x="594" y="625"/>
                </a:lnTo>
                <a:lnTo>
                  <a:pt x="592" y="737"/>
                </a:lnTo>
                <a:lnTo>
                  <a:pt x="592" y="846"/>
                </a:lnTo>
                <a:lnTo>
                  <a:pt x="588" y="897"/>
                </a:lnTo>
                <a:lnTo>
                  <a:pt x="588" y="948"/>
                </a:lnTo>
                <a:lnTo>
                  <a:pt x="583" y="996"/>
                </a:lnTo>
                <a:lnTo>
                  <a:pt x="583" y="1039"/>
                </a:lnTo>
                <a:lnTo>
                  <a:pt x="579" y="1079"/>
                </a:lnTo>
                <a:lnTo>
                  <a:pt x="579" y="1117"/>
                </a:lnTo>
                <a:lnTo>
                  <a:pt x="574" y="1150"/>
                </a:lnTo>
                <a:lnTo>
                  <a:pt x="574" y="1178"/>
                </a:lnTo>
                <a:lnTo>
                  <a:pt x="570" y="1198"/>
                </a:lnTo>
                <a:lnTo>
                  <a:pt x="565" y="1214"/>
                </a:lnTo>
                <a:lnTo>
                  <a:pt x="565" y="1226"/>
                </a:lnTo>
                <a:lnTo>
                  <a:pt x="579" y="1212"/>
                </a:lnTo>
                <a:lnTo>
                  <a:pt x="574" y="1214"/>
                </a:lnTo>
                <a:lnTo>
                  <a:pt x="565" y="1226"/>
                </a:lnTo>
                <a:lnTo>
                  <a:pt x="592" y="1226"/>
                </a:lnTo>
                <a:lnTo>
                  <a:pt x="592" y="1212"/>
                </a:lnTo>
                <a:lnTo>
                  <a:pt x="588" y="1214"/>
                </a:lnTo>
                <a:lnTo>
                  <a:pt x="583" y="1212"/>
                </a:lnTo>
                <a:lnTo>
                  <a:pt x="603" y="1214"/>
                </a:lnTo>
                <a:lnTo>
                  <a:pt x="594" y="1212"/>
                </a:lnTo>
                <a:lnTo>
                  <a:pt x="583" y="1226"/>
                </a:lnTo>
                <a:lnTo>
                  <a:pt x="608" y="1226"/>
                </a:lnTo>
                <a:lnTo>
                  <a:pt x="603" y="1214"/>
                </a:lnTo>
                <a:lnTo>
                  <a:pt x="603" y="1198"/>
                </a:lnTo>
                <a:lnTo>
                  <a:pt x="599" y="1178"/>
                </a:lnTo>
                <a:lnTo>
                  <a:pt x="594" y="1150"/>
                </a:lnTo>
                <a:lnTo>
                  <a:pt x="592" y="1117"/>
                </a:lnTo>
                <a:lnTo>
                  <a:pt x="588" y="1079"/>
                </a:lnTo>
                <a:lnTo>
                  <a:pt x="583" y="1039"/>
                </a:lnTo>
                <a:lnTo>
                  <a:pt x="579" y="996"/>
                </a:lnTo>
                <a:lnTo>
                  <a:pt x="574" y="948"/>
                </a:lnTo>
                <a:lnTo>
                  <a:pt x="570" y="897"/>
                </a:lnTo>
                <a:lnTo>
                  <a:pt x="561" y="846"/>
                </a:lnTo>
                <a:lnTo>
                  <a:pt x="552" y="737"/>
                </a:lnTo>
                <a:lnTo>
                  <a:pt x="543" y="625"/>
                </a:lnTo>
                <a:lnTo>
                  <a:pt x="537" y="511"/>
                </a:lnTo>
                <a:lnTo>
                  <a:pt x="523" y="400"/>
                </a:lnTo>
                <a:lnTo>
                  <a:pt x="519" y="349"/>
                </a:lnTo>
                <a:lnTo>
                  <a:pt x="514" y="298"/>
                </a:lnTo>
                <a:lnTo>
                  <a:pt x="510" y="252"/>
                </a:lnTo>
                <a:lnTo>
                  <a:pt x="506" y="207"/>
                </a:lnTo>
                <a:lnTo>
                  <a:pt x="501" y="167"/>
                </a:lnTo>
                <a:lnTo>
                  <a:pt x="497" y="131"/>
                </a:lnTo>
                <a:lnTo>
                  <a:pt x="492" y="98"/>
                </a:lnTo>
                <a:lnTo>
                  <a:pt x="488" y="70"/>
                </a:lnTo>
                <a:lnTo>
                  <a:pt x="486" y="49"/>
                </a:lnTo>
                <a:lnTo>
                  <a:pt x="481" y="32"/>
                </a:lnTo>
                <a:lnTo>
                  <a:pt x="477" y="23"/>
                </a:lnTo>
                <a:lnTo>
                  <a:pt x="468" y="12"/>
                </a:lnTo>
                <a:lnTo>
                  <a:pt x="459" y="9"/>
                </a:lnTo>
                <a:lnTo>
                  <a:pt x="450" y="9"/>
                </a:lnTo>
                <a:lnTo>
                  <a:pt x="446" y="4"/>
                </a:lnTo>
                <a:lnTo>
                  <a:pt x="441" y="9"/>
                </a:lnTo>
                <a:lnTo>
                  <a:pt x="432" y="9"/>
                </a:lnTo>
                <a:lnTo>
                  <a:pt x="426" y="12"/>
                </a:lnTo>
                <a:lnTo>
                  <a:pt x="417" y="23"/>
                </a:lnTo>
                <a:lnTo>
                  <a:pt x="412" y="32"/>
                </a:lnTo>
                <a:lnTo>
                  <a:pt x="412" y="49"/>
                </a:lnTo>
                <a:lnTo>
                  <a:pt x="408" y="70"/>
                </a:lnTo>
                <a:lnTo>
                  <a:pt x="403" y="98"/>
                </a:lnTo>
                <a:lnTo>
                  <a:pt x="403" y="131"/>
                </a:lnTo>
                <a:lnTo>
                  <a:pt x="399" y="167"/>
                </a:lnTo>
                <a:lnTo>
                  <a:pt x="395" y="207"/>
                </a:lnTo>
                <a:lnTo>
                  <a:pt x="395" y="252"/>
                </a:lnTo>
                <a:lnTo>
                  <a:pt x="390" y="298"/>
                </a:lnTo>
                <a:lnTo>
                  <a:pt x="386" y="349"/>
                </a:lnTo>
                <a:lnTo>
                  <a:pt x="386" y="400"/>
                </a:lnTo>
                <a:lnTo>
                  <a:pt x="381" y="511"/>
                </a:lnTo>
                <a:lnTo>
                  <a:pt x="379" y="625"/>
                </a:lnTo>
                <a:lnTo>
                  <a:pt x="370" y="737"/>
                </a:lnTo>
                <a:lnTo>
                  <a:pt x="366" y="846"/>
                </a:lnTo>
                <a:lnTo>
                  <a:pt x="366" y="897"/>
                </a:lnTo>
                <a:lnTo>
                  <a:pt x="361" y="948"/>
                </a:lnTo>
                <a:lnTo>
                  <a:pt x="357" y="996"/>
                </a:lnTo>
                <a:lnTo>
                  <a:pt x="357" y="1039"/>
                </a:lnTo>
                <a:lnTo>
                  <a:pt x="352" y="1079"/>
                </a:lnTo>
                <a:lnTo>
                  <a:pt x="352" y="1117"/>
                </a:lnTo>
                <a:lnTo>
                  <a:pt x="348" y="1150"/>
                </a:lnTo>
                <a:lnTo>
                  <a:pt x="343" y="1178"/>
                </a:lnTo>
                <a:lnTo>
                  <a:pt x="339" y="1198"/>
                </a:lnTo>
                <a:lnTo>
                  <a:pt x="339" y="1214"/>
                </a:lnTo>
                <a:lnTo>
                  <a:pt x="335" y="1226"/>
                </a:lnTo>
                <a:lnTo>
                  <a:pt x="348" y="1212"/>
                </a:lnTo>
                <a:lnTo>
                  <a:pt x="343" y="1214"/>
                </a:lnTo>
                <a:lnTo>
                  <a:pt x="335" y="1226"/>
                </a:lnTo>
                <a:lnTo>
                  <a:pt x="361" y="1226"/>
                </a:lnTo>
                <a:lnTo>
                  <a:pt x="361" y="1212"/>
                </a:lnTo>
                <a:lnTo>
                  <a:pt x="357" y="1214"/>
                </a:lnTo>
                <a:lnTo>
                  <a:pt x="357" y="1229"/>
                </a:lnTo>
                <a:lnTo>
                  <a:pt x="361" y="1214"/>
                </a:lnTo>
                <a:lnTo>
                  <a:pt x="352" y="1209"/>
                </a:lnTo>
                <a:lnTo>
                  <a:pt x="375" y="1214"/>
                </a:lnTo>
                <a:lnTo>
                  <a:pt x="366" y="1212"/>
                </a:lnTo>
                <a:lnTo>
                  <a:pt x="352" y="1224"/>
                </a:lnTo>
                <a:lnTo>
                  <a:pt x="379" y="1224"/>
                </a:lnTo>
                <a:lnTo>
                  <a:pt x="375" y="1214"/>
                </a:lnTo>
                <a:lnTo>
                  <a:pt x="375" y="1198"/>
                </a:lnTo>
                <a:lnTo>
                  <a:pt x="370" y="1175"/>
                </a:lnTo>
                <a:lnTo>
                  <a:pt x="366" y="1150"/>
                </a:lnTo>
                <a:lnTo>
                  <a:pt x="361" y="1117"/>
                </a:lnTo>
                <a:lnTo>
                  <a:pt x="357" y="1079"/>
                </a:lnTo>
                <a:lnTo>
                  <a:pt x="352" y="1037"/>
                </a:lnTo>
                <a:lnTo>
                  <a:pt x="348" y="993"/>
                </a:lnTo>
                <a:lnTo>
                  <a:pt x="343" y="947"/>
                </a:lnTo>
                <a:lnTo>
                  <a:pt x="339" y="895"/>
                </a:lnTo>
                <a:lnTo>
                  <a:pt x="335" y="844"/>
                </a:lnTo>
                <a:lnTo>
                  <a:pt x="326" y="734"/>
                </a:lnTo>
                <a:lnTo>
                  <a:pt x="319" y="620"/>
                </a:lnTo>
                <a:lnTo>
                  <a:pt x="306" y="508"/>
                </a:lnTo>
                <a:lnTo>
                  <a:pt x="297" y="398"/>
                </a:lnTo>
                <a:lnTo>
                  <a:pt x="292" y="344"/>
                </a:lnTo>
                <a:lnTo>
                  <a:pt x="288" y="296"/>
                </a:lnTo>
                <a:lnTo>
                  <a:pt x="284" y="247"/>
                </a:lnTo>
                <a:lnTo>
                  <a:pt x="279" y="202"/>
                </a:lnTo>
                <a:lnTo>
                  <a:pt x="275" y="163"/>
                </a:lnTo>
                <a:lnTo>
                  <a:pt x="272" y="126"/>
                </a:lnTo>
                <a:lnTo>
                  <a:pt x="268" y="93"/>
                </a:lnTo>
                <a:lnTo>
                  <a:pt x="264" y="65"/>
                </a:lnTo>
                <a:lnTo>
                  <a:pt x="259" y="44"/>
                </a:lnTo>
                <a:lnTo>
                  <a:pt x="259" y="27"/>
                </a:lnTo>
                <a:lnTo>
                  <a:pt x="255" y="19"/>
                </a:lnTo>
                <a:lnTo>
                  <a:pt x="246" y="7"/>
                </a:lnTo>
                <a:lnTo>
                  <a:pt x="237" y="4"/>
                </a:lnTo>
                <a:lnTo>
                  <a:pt x="228" y="4"/>
                </a:lnTo>
                <a:lnTo>
                  <a:pt x="224" y="0"/>
                </a:lnTo>
                <a:lnTo>
                  <a:pt x="219" y="4"/>
                </a:lnTo>
                <a:lnTo>
                  <a:pt x="213" y="4"/>
                </a:lnTo>
                <a:lnTo>
                  <a:pt x="204" y="7"/>
                </a:lnTo>
                <a:lnTo>
                  <a:pt x="195" y="19"/>
                </a:lnTo>
                <a:lnTo>
                  <a:pt x="195" y="27"/>
                </a:lnTo>
                <a:lnTo>
                  <a:pt x="190" y="44"/>
                </a:lnTo>
                <a:lnTo>
                  <a:pt x="186" y="68"/>
                </a:lnTo>
                <a:lnTo>
                  <a:pt x="186" y="93"/>
                </a:lnTo>
                <a:lnTo>
                  <a:pt x="181" y="126"/>
                </a:lnTo>
                <a:lnTo>
                  <a:pt x="181" y="163"/>
                </a:lnTo>
                <a:lnTo>
                  <a:pt x="177" y="205"/>
                </a:lnTo>
                <a:lnTo>
                  <a:pt x="177" y="250"/>
                </a:lnTo>
                <a:lnTo>
                  <a:pt x="173" y="296"/>
                </a:lnTo>
                <a:lnTo>
                  <a:pt x="173" y="347"/>
                </a:lnTo>
                <a:lnTo>
                  <a:pt x="173" y="400"/>
                </a:lnTo>
                <a:lnTo>
                  <a:pt x="168" y="511"/>
                </a:lnTo>
                <a:lnTo>
                  <a:pt x="166" y="625"/>
                </a:lnTo>
                <a:lnTo>
                  <a:pt x="162" y="737"/>
                </a:lnTo>
                <a:lnTo>
                  <a:pt x="162" y="849"/>
                </a:lnTo>
                <a:lnTo>
                  <a:pt x="157" y="900"/>
                </a:lnTo>
                <a:lnTo>
                  <a:pt x="157" y="951"/>
                </a:lnTo>
                <a:lnTo>
                  <a:pt x="153" y="998"/>
                </a:lnTo>
                <a:lnTo>
                  <a:pt x="153" y="1042"/>
                </a:lnTo>
                <a:lnTo>
                  <a:pt x="148" y="1084"/>
                </a:lnTo>
                <a:lnTo>
                  <a:pt x="148" y="1122"/>
                </a:lnTo>
                <a:lnTo>
                  <a:pt x="144" y="1153"/>
                </a:lnTo>
                <a:lnTo>
                  <a:pt x="144" y="1181"/>
                </a:lnTo>
                <a:lnTo>
                  <a:pt x="139" y="1203"/>
                </a:lnTo>
                <a:lnTo>
                  <a:pt x="135" y="1219"/>
                </a:lnTo>
                <a:lnTo>
                  <a:pt x="135" y="1231"/>
                </a:lnTo>
                <a:lnTo>
                  <a:pt x="148" y="1217"/>
                </a:lnTo>
                <a:lnTo>
                  <a:pt x="144" y="1219"/>
                </a:lnTo>
                <a:lnTo>
                  <a:pt x="135" y="1231"/>
                </a:lnTo>
                <a:lnTo>
                  <a:pt x="162" y="1231"/>
                </a:lnTo>
                <a:lnTo>
                  <a:pt x="162" y="1217"/>
                </a:lnTo>
                <a:lnTo>
                  <a:pt x="157" y="1219"/>
                </a:lnTo>
                <a:lnTo>
                  <a:pt x="153" y="1217"/>
                </a:lnTo>
                <a:lnTo>
                  <a:pt x="173" y="1221"/>
                </a:lnTo>
                <a:lnTo>
                  <a:pt x="166" y="1219"/>
                </a:lnTo>
                <a:lnTo>
                  <a:pt x="153" y="1231"/>
                </a:lnTo>
                <a:lnTo>
                  <a:pt x="177" y="1231"/>
                </a:lnTo>
                <a:lnTo>
                  <a:pt x="173" y="1226"/>
                </a:lnTo>
                <a:lnTo>
                  <a:pt x="173" y="1217"/>
                </a:lnTo>
                <a:lnTo>
                  <a:pt x="168" y="1206"/>
                </a:lnTo>
                <a:lnTo>
                  <a:pt x="166" y="1191"/>
                </a:lnTo>
                <a:lnTo>
                  <a:pt x="162" y="1173"/>
                </a:lnTo>
                <a:lnTo>
                  <a:pt x="157" y="1151"/>
                </a:lnTo>
                <a:lnTo>
                  <a:pt x="153" y="1128"/>
                </a:lnTo>
                <a:lnTo>
                  <a:pt x="148" y="1102"/>
                </a:lnTo>
                <a:lnTo>
                  <a:pt x="148" y="1075"/>
                </a:lnTo>
                <a:lnTo>
                  <a:pt x="144" y="1042"/>
                </a:lnTo>
                <a:lnTo>
                  <a:pt x="139" y="1009"/>
                </a:lnTo>
                <a:lnTo>
                  <a:pt x="130" y="935"/>
                </a:lnTo>
                <a:lnTo>
                  <a:pt x="122" y="853"/>
                </a:lnTo>
                <a:lnTo>
                  <a:pt x="113" y="765"/>
                </a:lnTo>
                <a:lnTo>
                  <a:pt x="106" y="669"/>
                </a:lnTo>
                <a:lnTo>
                  <a:pt x="93" y="569"/>
                </a:lnTo>
                <a:lnTo>
                  <a:pt x="84" y="464"/>
                </a:lnTo>
                <a:lnTo>
                  <a:pt x="75" y="357"/>
                </a:lnTo>
                <a:lnTo>
                  <a:pt x="66" y="245"/>
                </a:lnTo>
                <a:lnTo>
                  <a:pt x="51"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231" name="任意多边形 14561">
            <a:extLst>
              <a:ext uri="{FF2B5EF4-FFF2-40B4-BE49-F238E27FC236}">
                <a16:creationId xmlns="" xmlns:a16="http://schemas.microsoft.com/office/drawing/2014/main" id="{D8EF298A-8522-D131-12C7-B6705657EA0C}"/>
              </a:ext>
            </a:extLst>
          </p:cNvPr>
          <p:cNvSpPr>
            <a:spLocks noChangeArrowheads="1"/>
          </p:cNvSpPr>
          <p:nvPr/>
        </p:nvSpPr>
        <p:spPr bwMode="auto">
          <a:xfrm>
            <a:off x="3448833" y="4846185"/>
            <a:ext cx="1871663" cy="809625"/>
          </a:xfrm>
          <a:custGeom>
            <a:avLst/>
            <a:gdLst>
              <a:gd name="T0" fmla="*/ 316 w 2947"/>
              <a:gd name="T1" fmla="*/ 31 h 1275"/>
              <a:gd name="T2" fmla="*/ 294 w 2947"/>
              <a:gd name="T3" fmla="*/ 129 h 1275"/>
              <a:gd name="T4" fmla="*/ 347 w 2947"/>
              <a:gd name="T5" fmla="*/ 1246 h 1275"/>
              <a:gd name="T6" fmla="*/ 473 w 2947"/>
              <a:gd name="T7" fmla="*/ 866 h 1275"/>
              <a:gd name="T8" fmla="*/ 537 w 2947"/>
              <a:gd name="T9" fmla="*/ 28 h 1275"/>
              <a:gd name="T10" fmla="*/ 557 w 2947"/>
              <a:gd name="T11" fmla="*/ 866 h 1275"/>
              <a:gd name="T12" fmla="*/ 661 w 2947"/>
              <a:gd name="T13" fmla="*/ 1246 h 1275"/>
              <a:gd name="T14" fmla="*/ 762 w 2947"/>
              <a:gd name="T15" fmla="*/ 129 h 1275"/>
              <a:gd name="T16" fmla="*/ 736 w 2947"/>
              <a:gd name="T17" fmla="*/ 129 h 1275"/>
              <a:gd name="T18" fmla="*/ 778 w 2947"/>
              <a:gd name="T19" fmla="*/ 1246 h 1275"/>
              <a:gd name="T20" fmla="*/ 907 w 2947"/>
              <a:gd name="T21" fmla="*/ 866 h 1275"/>
              <a:gd name="T22" fmla="*/ 994 w 2947"/>
              <a:gd name="T23" fmla="*/ 28 h 1275"/>
              <a:gd name="T24" fmla="*/ 1005 w 2947"/>
              <a:gd name="T25" fmla="*/ 635 h 1275"/>
              <a:gd name="T26" fmla="*/ 1106 w 2947"/>
              <a:gd name="T27" fmla="*/ 1263 h 1275"/>
              <a:gd name="T28" fmla="*/ 1229 w 2947"/>
              <a:gd name="T29" fmla="*/ 208 h 1275"/>
              <a:gd name="T30" fmla="*/ 1215 w 2947"/>
              <a:gd name="T31" fmla="*/ 67 h 1275"/>
              <a:gd name="T32" fmla="*/ 1274 w 2947"/>
              <a:gd name="T33" fmla="*/ 1203 h 1275"/>
              <a:gd name="T34" fmla="*/ 1392 w 2947"/>
              <a:gd name="T35" fmla="*/ 1018 h 1275"/>
              <a:gd name="T36" fmla="*/ 1484 w 2947"/>
              <a:gd name="T37" fmla="*/ 36 h 1275"/>
              <a:gd name="T38" fmla="*/ 1504 w 2947"/>
              <a:gd name="T39" fmla="*/ 360 h 1275"/>
              <a:gd name="T40" fmla="*/ 1650 w 2947"/>
              <a:gd name="T41" fmla="*/ 1275 h 1275"/>
              <a:gd name="T42" fmla="*/ 1762 w 2947"/>
              <a:gd name="T43" fmla="*/ 355 h 1275"/>
              <a:gd name="T44" fmla="*/ 1753 w 2947"/>
              <a:gd name="T45" fmla="*/ 17 h 1275"/>
              <a:gd name="T46" fmla="*/ 1888 w 2947"/>
              <a:gd name="T47" fmla="*/ 1107 h 1275"/>
              <a:gd name="T48" fmla="*/ 2028 w 2947"/>
              <a:gd name="T49" fmla="*/ 1107 h 1275"/>
              <a:gd name="T50" fmla="*/ 2140 w 2947"/>
              <a:gd name="T51" fmla="*/ 17 h 1275"/>
              <a:gd name="T52" fmla="*/ 2146 w 2947"/>
              <a:gd name="T53" fmla="*/ 355 h 1275"/>
              <a:gd name="T54" fmla="*/ 2322 w 2947"/>
              <a:gd name="T55" fmla="*/ 1275 h 1275"/>
              <a:gd name="T56" fmla="*/ 2527 w 2947"/>
              <a:gd name="T57" fmla="*/ 355 h 1275"/>
              <a:gd name="T58" fmla="*/ 2586 w 2947"/>
              <a:gd name="T59" fmla="*/ 28 h 1275"/>
              <a:gd name="T60" fmla="*/ 2796 w 2947"/>
              <a:gd name="T61" fmla="*/ 799 h 1275"/>
              <a:gd name="T62" fmla="*/ 2672 w 2947"/>
              <a:gd name="T63" fmla="*/ 56 h 1275"/>
              <a:gd name="T64" fmla="*/ 2479 w 2947"/>
              <a:gd name="T65" fmla="*/ 256 h 1275"/>
              <a:gd name="T66" fmla="*/ 2305 w 2947"/>
              <a:gd name="T67" fmla="*/ 1246 h 1275"/>
              <a:gd name="T68" fmla="*/ 2269 w 2947"/>
              <a:gd name="T69" fmla="*/ 866 h 1275"/>
              <a:gd name="T70" fmla="*/ 2106 w 2947"/>
              <a:gd name="T71" fmla="*/ 5 h 1275"/>
              <a:gd name="T72" fmla="*/ 1978 w 2947"/>
              <a:gd name="T73" fmla="*/ 972 h 1275"/>
              <a:gd name="T74" fmla="*/ 1989 w 2947"/>
              <a:gd name="T75" fmla="*/ 1258 h 1275"/>
              <a:gd name="T76" fmla="*/ 1849 w 2947"/>
              <a:gd name="T77" fmla="*/ 166 h 1275"/>
              <a:gd name="T78" fmla="*/ 1714 w 2947"/>
              <a:gd name="T79" fmla="*/ 166 h 1275"/>
              <a:gd name="T80" fmla="*/ 1625 w 2947"/>
              <a:gd name="T81" fmla="*/ 1258 h 1275"/>
              <a:gd name="T82" fmla="*/ 1633 w 2947"/>
              <a:gd name="T83" fmla="*/ 972 h 1275"/>
              <a:gd name="T84" fmla="*/ 1484 w 2947"/>
              <a:gd name="T85" fmla="*/ 10 h 1275"/>
              <a:gd name="T86" fmla="*/ 1350 w 2947"/>
              <a:gd name="T87" fmla="*/ 753 h 1275"/>
              <a:gd name="T88" fmla="*/ 1322 w 2947"/>
              <a:gd name="T89" fmla="*/ 1241 h 1275"/>
              <a:gd name="T90" fmla="*/ 1300 w 2947"/>
              <a:gd name="T91" fmla="*/ 405 h 1275"/>
              <a:gd name="T92" fmla="*/ 1193 w 2947"/>
              <a:gd name="T93" fmla="*/ 28 h 1275"/>
              <a:gd name="T94" fmla="*/ 1075 w 2947"/>
              <a:gd name="T95" fmla="*/ 1140 h 1275"/>
              <a:gd name="T96" fmla="*/ 1095 w 2947"/>
              <a:gd name="T97" fmla="*/ 1174 h 1275"/>
              <a:gd name="T98" fmla="*/ 1031 w 2947"/>
              <a:gd name="T99" fmla="*/ 45 h 1275"/>
              <a:gd name="T100" fmla="*/ 896 w 2947"/>
              <a:gd name="T101" fmla="*/ 355 h 1275"/>
              <a:gd name="T102" fmla="*/ 820 w 2947"/>
              <a:gd name="T103" fmla="*/ 1258 h 1275"/>
              <a:gd name="T104" fmla="*/ 818 w 2947"/>
              <a:gd name="T105" fmla="*/ 638 h 1275"/>
              <a:gd name="T106" fmla="*/ 725 w 2947"/>
              <a:gd name="T107" fmla="*/ 6 h 1275"/>
              <a:gd name="T108" fmla="*/ 622 w 2947"/>
              <a:gd name="T109" fmla="*/ 1066 h 1275"/>
              <a:gd name="T110" fmla="*/ 644 w 2947"/>
              <a:gd name="T111" fmla="*/ 1229 h 1275"/>
              <a:gd name="T112" fmla="*/ 585 w 2947"/>
              <a:gd name="T113" fmla="*/ 96 h 1275"/>
              <a:gd name="T114" fmla="*/ 467 w 2947"/>
              <a:gd name="T115" fmla="*/ 253 h 1275"/>
              <a:gd name="T116" fmla="*/ 364 w 2947"/>
              <a:gd name="T117" fmla="*/ 1246 h 1275"/>
              <a:gd name="T118" fmla="*/ 392 w 2947"/>
              <a:gd name="T119" fmla="*/ 866 h 1275"/>
              <a:gd name="T120" fmla="*/ 294 w 2947"/>
              <a:gd name="T121" fmla="*/ 2 h 1275"/>
              <a:gd name="T122" fmla="*/ 78 w 2947"/>
              <a:gd name="T123" fmla="*/ 807 h 1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947" h="1275">
                <a:moveTo>
                  <a:pt x="0" y="1264"/>
                </a:moveTo>
                <a:lnTo>
                  <a:pt x="64" y="1267"/>
                </a:lnTo>
                <a:lnTo>
                  <a:pt x="100" y="1032"/>
                </a:lnTo>
                <a:lnTo>
                  <a:pt x="123" y="917"/>
                </a:lnTo>
                <a:lnTo>
                  <a:pt x="145" y="807"/>
                </a:lnTo>
                <a:lnTo>
                  <a:pt x="159" y="697"/>
                </a:lnTo>
                <a:lnTo>
                  <a:pt x="182" y="595"/>
                </a:lnTo>
                <a:lnTo>
                  <a:pt x="198" y="496"/>
                </a:lnTo>
                <a:lnTo>
                  <a:pt x="212" y="405"/>
                </a:lnTo>
                <a:lnTo>
                  <a:pt x="235" y="321"/>
                </a:lnTo>
                <a:lnTo>
                  <a:pt x="252" y="247"/>
                </a:lnTo>
                <a:lnTo>
                  <a:pt x="257" y="211"/>
                </a:lnTo>
                <a:lnTo>
                  <a:pt x="268" y="180"/>
                </a:lnTo>
                <a:lnTo>
                  <a:pt x="274" y="151"/>
                </a:lnTo>
                <a:lnTo>
                  <a:pt x="280" y="121"/>
                </a:lnTo>
                <a:lnTo>
                  <a:pt x="288" y="98"/>
                </a:lnTo>
                <a:lnTo>
                  <a:pt x="294" y="76"/>
                </a:lnTo>
                <a:lnTo>
                  <a:pt x="299" y="56"/>
                </a:lnTo>
                <a:lnTo>
                  <a:pt x="311" y="42"/>
                </a:lnTo>
                <a:lnTo>
                  <a:pt x="316" y="31"/>
                </a:lnTo>
                <a:lnTo>
                  <a:pt x="322" y="20"/>
                </a:lnTo>
                <a:lnTo>
                  <a:pt x="288" y="20"/>
                </a:lnTo>
                <a:lnTo>
                  <a:pt x="311" y="33"/>
                </a:lnTo>
                <a:lnTo>
                  <a:pt x="316" y="25"/>
                </a:lnTo>
                <a:lnTo>
                  <a:pt x="294" y="16"/>
                </a:lnTo>
                <a:lnTo>
                  <a:pt x="305" y="28"/>
                </a:lnTo>
                <a:lnTo>
                  <a:pt x="294" y="31"/>
                </a:lnTo>
                <a:lnTo>
                  <a:pt x="305" y="28"/>
                </a:lnTo>
                <a:lnTo>
                  <a:pt x="299" y="13"/>
                </a:lnTo>
                <a:lnTo>
                  <a:pt x="299" y="28"/>
                </a:lnTo>
                <a:lnTo>
                  <a:pt x="305" y="33"/>
                </a:lnTo>
                <a:lnTo>
                  <a:pt x="305" y="17"/>
                </a:lnTo>
                <a:lnTo>
                  <a:pt x="282" y="28"/>
                </a:lnTo>
                <a:lnTo>
                  <a:pt x="294" y="31"/>
                </a:lnTo>
                <a:lnTo>
                  <a:pt x="274" y="17"/>
                </a:lnTo>
                <a:lnTo>
                  <a:pt x="280" y="28"/>
                </a:lnTo>
                <a:lnTo>
                  <a:pt x="282" y="45"/>
                </a:lnTo>
                <a:lnTo>
                  <a:pt x="288" y="67"/>
                </a:lnTo>
                <a:lnTo>
                  <a:pt x="288" y="96"/>
                </a:lnTo>
                <a:lnTo>
                  <a:pt x="294" y="129"/>
                </a:lnTo>
                <a:lnTo>
                  <a:pt x="299" y="166"/>
                </a:lnTo>
                <a:lnTo>
                  <a:pt x="299" y="208"/>
                </a:lnTo>
                <a:lnTo>
                  <a:pt x="305" y="253"/>
                </a:lnTo>
                <a:lnTo>
                  <a:pt x="305" y="302"/>
                </a:lnTo>
                <a:lnTo>
                  <a:pt x="311" y="355"/>
                </a:lnTo>
                <a:lnTo>
                  <a:pt x="311" y="406"/>
                </a:lnTo>
                <a:lnTo>
                  <a:pt x="316" y="519"/>
                </a:lnTo>
                <a:lnTo>
                  <a:pt x="322" y="638"/>
                </a:lnTo>
                <a:lnTo>
                  <a:pt x="322" y="753"/>
                </a:lnTo>
                <a:lnTo>
                  <a:pt x="327" y="866"/>
                </a:lnTo>
                <a:lnTo>
                  <a:pt x="327" y="919"/>
                </a:lnTo>
                <a:lnTo>
                  <a:pt x="327" y="972"/>
                </a:lnTo>
                <a:lnTo>
                  <a:pt x="333" y="1021"/>
                </a:lnTo>
                <a:lnTo>
                  <a:pt x="333" y="1066"/>
                </a:lnTo>
                <a:lnTo>
                  <a:pt x="333" y="1107"/>
                </a:lnTo>
                <a:lnTo>
                  <a:pt x="339" y="1146"/>
                </a:lnTo>
                <a:lnTo>
                  <a:pt x="339" y="1178"/>
                </a:lnTo>
                <a:lnTo>
                  <a:pt x="344" y="1207"/>
                </a:lnTo>
                <a:lnTo>
                  <a:pt x="344" y="1229"/>
                </a:lnTo>
                <a:lnTo>
                  <a:pt x="347" y="1246"/>
                </a:lnTo>
                <a:lnTo>
                  <a:pt x="347" y="1258"/>
                </a:lnTo>
                <a:lnTo>
                  <a:pt x="358" y="1267"/>
                </a:lnTo>
                <a:lnTo>
                  <a:pt x="369" y="1269"/>
                </a:lnTo>
                <a:lnTo>
                  <a:pt x="381" y="1272"/>
                </a:lnTo>
                <a:lnTo>
                  <a:pt x="386" y="1275"/>
                </a:lnTo>
                <a:lnTo>
                  <a:pt x="392" y="1272"/>
                </a:lnTo>
                <a:lnTo>
                  <a:pt x="403" y="1269"/>
                </a:lnTo>
                <a:lnTo>
                  <a:pt x="414" y="1267"/>
                </a:lnTo>
                <a:lnTo>
                  <a:pt x="423" y="1258"/>
                </a:lnTo>
                <a:lnTo>
                  <a:pt x="423" y="1246"/>
                </a:lnTo>
                <a:lnTo>
                  <a:pt x="428" y="1229"/>
                </a:lnTo>
                <a:lnTo>
                  <a:pt x="434" y="1207"/>
                </a:lnTo>
                <a:lnTo>
                  <a:pt x="439" y="1178"/>
                </a:lnTo>
                <a:lnTo>
                  <a:pt x="445" y="1146"/>
                </a:lnTo>
                <a:lnTo>
                  <a:pt x="445" y="1107"/>
                </a:lnTo>
                <a:lnTo>
                  <a:pt x="451" y="1066"/>
                </a:lnTo>
                <a:lnTo>
                  <a:pt x="456" y="1021"/>
                </a:lnTo>
                <a:lnTo>
                  <a:pt x="462" y="972"/>
                </a:lnTo>
                <a:lnTo>
                  <a:pt x="467" y="919"/>
                </a:lnTo>
                <a:lnTo>
                  <a:pt x="473" y="866"/>
                </a:lnTo>
                <a:lnTo>
                  <a:pt x="481" y="753"/>
                </a:lnTo>
                <a:lnTo>
                  <a:pt x="493" y="638"/>
                </a:lnTo>
                <a:lnTo>
                  <a:pt x="504" y="519"/>
                </a:lnTo>
                <a:lnTo>
                  <a:pt x="515" y="406"/>
                </a:lnTo>
                <a:lnTo>
                  <a:pt x="521" y="355"/>
                </a:lnTo>
                <a:lnTo>
                  <a:pt x="526" y="302"/>
                </a:lnTo>
                <a:lnTo>
                  <a:pt x="532" y="253"/>
                </a:lnTo>
                <a:lnTo>
                  <a:pt x="537" y="208"/>
                </a:lnTo>
                <a:lnTo>
                  <a:pt x="543" y="166"/>
                </a:lnTo>
                <a:lnTo>
                  <a:pt x="543" y="129"/>
                </a:lnTo>
                <a:lnTo>
                  <a:pt x="549" y="96"/>
                </a:lnTo>
                <a:lnTo>
                  <a:pt x="551" y="67"/>
                </a:lnTo>
                <a:lnTo>
                  <a:pt x="557" y="45"/>
                </a:lnTo>
                <a:lnTo>
                  <a:pt x="563" y="28"/>
                </a:lnTo>
                <a:lnTo>
                  <a:pt x="563" y="17"/>
                </a:lnTo>
                <a:lnTo>
                  <a:pt x="532" y="17"/>
                </a:lnTo>
                <a:lnTo>
                  <a:pt x="549" y="31"/>
                </a:lnTo>
                <a:lnTo>
                  <a:pt x="557" y="28"/>
                </a:lnTo>
                <a:lnTo>
                  <a:pt x="532" y="33"/>
                </a:lnTo>
                <a:lnTo>
                  <a:pt x="537" y="28"/>
                </a:lnTo>
                <a:lnTo>
                  <a:pt x="543" y="33"/>
                </a:lnTo>
                <a:lnTo>
                  <a:pt x="543" y="17"/>
                </a:lnTo>
                <a:lnTo>
                  <a:pt x="515" y="28"/>
                </a:lnTo>
                <a:lnTo>
                  <a:pt x="526" y="31"/>
                </a:lnTo>
                <a:lnTo>
                  <a:pt x="509" y="17"/>
                </a:lnTo>
                <a:lnTo>
                  <a:pt x="509" y="28"/>
                </a:lnTo>
                <a:lnTo>
                  <a:pt x="515" y="45"/>
                </a:lnTo>
                <a:lnTo>
                  <a:pt x="515" y="67"/>
                </a:lnTo>
                <a:lnTo>
                  <a:pt x="521" y="96"/>
                </a:lnTo>
                <a:lnTo>
                  <a:pt x="526" y="129"/>
                </a:lnTo>
                <a:lnTo>
                  <a:pt x="526" y="166"/>
                </a:lnTo>
                <a:lnTo>
                  <a:pt x="532" y="208"/>
                </a:lnTo>
                <a:lnTo>
                  <a:pt x="532" y="253"/>
                </a:lnTo>
                <a:lnTo>
                  <a:pt x="532" y="302"/>
                </a:lnTo>
                <a:lnTo>
                  <a:pt x="537" y="355"/>
                </a:lnTo>
                <a:lnTo>
                  <a:pt x="537" y="406"/>
                </a:lnTo>
                <a:lnTo>
                  <a:pt x="543" y="519"/>
                </a:lnTo>
                <a:lnTo>
                  <a:pt x="549" y="638"/>
                </a:lnTo>
                <a:lnTo>
                  <a:pt x="551" y="753"/>
                </a:lnTo>
                <a:lnTo>
                  <a:pt x="557" y="866"/>
                </a:lnTo>
                <a:lnTo>
                  <a:pt x="557" y="919"/>
                </a:lnTo>
                <a:lnTo>
                  <a:pt x="563" y="972"/>
                </a:lnTo>
                <a:lnTo>
                  <a:pt x="563" y="1021"/>
                </a:lnTo>
                <a:lnTo>
                  <a:pt x="568" y="1066"/>
                </a:lnTo>
                <a:lnTo>
                  <a:pt x="568" y="1107"/>
                </a:lnTo>
                <a:lnTo>
                  <a:pt x="574" y="1146"/>
                </a:lnTo>
                <a:lnTo>
                  <a:pt x="574" y="1178"/>
                </a:lnTo>
                <a:lnTo>
                  <a:pt x="579" y="1207"/>
                </a:lnTo>
                <a:lnTo>
                  <a:pt x="579" y="1229"/>
                </a:lnTo>
                <a:lnTo>
                  <a:pt x="585" y="1246"/>
                </a:lnTo>
                <a:lnTo>
                  <a:pt x="585" y="1258"/>
                </a:lnTo>
                <a:lnTo>
                  <a:pt x="596" y="1267"/>
                </a:lnTo>
                <a:lnTo>
                  <a:pt x="607" y="1269"/>
                </a:lnTo>
                <a:lnTo>
                  <a:pt x="616" y="1272"/>
                </a:lnTo>
                <a:lnTo>
                  <a:pt x="622" y="1275"/>
                </a:lnTo>
                <a:lnTo>
                  <a:pt x="627" y="1272"/>
                </a:lnTo>
                <a:lnTo>
                  <a:pt x="638" y="1269"/>
                </a:lnTo>
                <a:lnTo>
                  <a:pt x="650" y="1267"/>
                </a:lnTo>
                <a:lnTo>
                  <a:pt x="661" y="1258"/>
                </a:lnTo>
                <a:lnTo>
                  <a:pt x="661" y="1246"/>
                </a:lnTo>
                <a:lnTo>
                  <a:pt x="666" y="1229"/>
                </a:lnTo>
                <a:lnTo>
                  <a:pt x="672" y="1207"/>
                </a:lnTo>
                <a:lnTo>
                  <a:pt x="678" y="1178"/>
                </a:lnTo>
                <a:lnTo>
                  <a:pt x="678" y="1146"/>
                </a:lnTo>
                <a:lnTo>
                  <a:pt x="683" y="1107"/>
                </a:lnTo>
                <a:lnTo>
                  <a:pt x="686" y="1066"/>
                </a:lnTo>
                <a:lnTo>
                  <a:pt x="692" y="1021"/>
                </a:lnTo>
                <a:lnTo>
                  <a:pt x="692" y="972"/>
                </a:lnTo>
                <a:lnTo>
                  <a:pt x="697" y="919"/>
                </a:lnTo>
                <a:lnTo>
                  <a:pt x="703" y="866"/>
                </a:lnTo>
                <a:lnTo>
                  <a:pt x="714" y="753"/>
                </a:lnTo>
                <a:lnTo>
                  <a:pt x="720" y="638"/>
                </a:lnTo>
                <a:lnTo>
                  <a:pt x="731" y="519"/>
                </a:lnTo>
                <a:lnTo>
                  <a:pt x="742" y="406"/>
                </a:lnTo>
                <a:lnTo>
                  <a:pt x="742" y="355"/>
                </a:lnTo>
                <a:lnTo>
                  <a:pt x="748" y="302"/>
                </a:lnTo>
                <a:lnTo>
                  <a:pt x="750" y="253"/>
                </a:lnTo>
                <a:lnTo>
                  <a:pt x="756" y="208"/>
                </a:lnTo>
                <a:lnTo>
                  <a:pt x="756" y="166"/>
                </a:lnTo>
                <a:lnTo>
                  <a:pt x="762" y="129"/>
                </a:lnTo>
                <a:lnTo>
                  <a:pt x="767" y="96"/>
                </a:lnTo>
                <a:lnTo>
                  <a:pt x="773" y="67"/>
                </a:lnTo>
                <a:lnTo>
                  <a:pt x="773" y="45"/>
                </a:lnTo>
                <a:lnTo>
                  <a:pt x="778" y="28"/>
                </a:lnTo>
                <a:lnTo>
                  <a:pt x="778" y="17"/>
                </a:lnTo>
                <a:lnTo>
                  <a:pt x="748" y="17"/>
                </a:lnTo>
                <a:lnTo>
                  <a:pt x="762" y="31"/>
                </a:lnTo>
                <a:lnTo>
                  <a:pt x="773" y="28"/>
                </a:lnTo>
                <a:lnTo>
                  <a:pt x="748" y="33"/>
                </a:lnTo>
                <a:lnTo>
                  <a:pt x="750" y="28"/>
                </a:lnTo>
                <a:lnTo>
                  <a:pt x="756" y="33"/>
                </a:lnTo>
                <a:lnTo>
                  <a:pt x="756" y="17"/>
                </a:lnTo>
                <a:lnTo>
                  <a:pt x="731" y="28"/>
                </a:lnTo>
                <a:lnTo>
                  <a:pt x="742" y="31"/>
                </a:lnTo>
                <a:lnTo>
                  <a:pt x="725" y="17"/>
                </a:lnTo>
                <a:lnTo>
                  <a:pt x="725" y="28"/>
                </a:lnTo>
                <a:lnTo>
                  <a:pt x="731" y="45"/>
                </a:lnTo>
                <a:lnTo>
                  <a:pt x="731" y="67"/>
                </a:lnTo>
                <a:lnTo>
                  <a:pt x="731" y="96"/>
                </a:lnTo>
                <a:lnTo>
                  <a:pt x="736" y="129"/>
                </a:lnTo>
                <a:lnTo>
                  <a:pt x="736" y="166"/>
                </a:lnTo>
                <a:lnTo>
                  <a:pt x="736" y="208"/>
                </a:lnTo>
                <a:lnTo>
                  <a:pt x="742" y="253"/>
                </a:lnTo>
                <a:lnTo>
                  <a:pt x="742" y="302"/>
                </a:lnTo>
                <a:lnTo>
                  <a:pt x="742" y="355"/>
                </a:lnTo>
                <a:lnTo>
                  <a:pt x="748" y="406"/>
                </a:lnTo>
                <a:lnTo>
                  <a:pt x="748" y="519"/>
                </a:lnTo>
                <a:lnTo>
                  <a:pt x="750" y="638"/>
                </a:lnTo>
                <a:lnTo>
                  <a:pt x="750" y="753"/>
                </a:lnTo>
                <a:lnTo>
                  <a:pt x="756" y="866"/>
                </a:lnTo>
                <a:lnTo>
                  <a:pt x="756" y="919"/>
                </a:lnTo>
                <a:lnTo>
                  <a:pt x="756" y="972"/>
                </a:lnTo>
                <a:lnTo>
                  <a:pt x="762" y="1021"/>
                </a:lnTo>
                <a:lnTo>
                  <a:pt x="762" y="1066"/>
                </a:lnTo>
                <a:lnTo>
                  <a:pt x="762" y="1107"/>
                </a:lnTo>
                <a:lnTo>
                  <a:pt x="767" y="1146"/>
                </a:lnTo>
                <a:lnTo>
                  <a:pt x="767" y="1178"/>
                </a:lnTo>
                <a:lnTo>
                  <a:pt x="773" y="1207"/>
                </a:lnTo>
                <a:lnTo>
                  <a:pt x="773" y="1229"/>
                </a:lnTo>
                <a:lnTo>
                  <a:pt x="778" y="1246"/>
                </a:lnTo>
                <a:lnTo>
                  <a:pt x="778" y="1258"/>
                </a:lnTo>
                <a:lnTo>
                  <a:pt x="790" y="1267"/>
                </a:lnTo>
                <a:lnTo>
                  <a:pt x="801" y="1269"/>
                </a:lnTo>
                <a:lnTo>
                  <a:pt x="812" y="1272"/>
                </a:lnTo>
                <a:lnTo>
                  <a:pt x="818" y="1275"/>
                </a:lnTo>
                <a:lnTo>
                  <a:pt x="820" y="1272"/>
                </a:lnTo>
                <a:lnTo>
                  <a:pt x="832" y="1269"/>
                </a:lnTo>
                <a:lnTo>
                  <a:pt x="843" y="1267"/>
                </a:lnTo>
                <a:lnTo>
                  <a:pt x="854" y="1258"/>
                </a:lnTo>
                <a:lnTo>
                  <a:pt x="854" y="1246"/>
                </a:lnTo>
                <a:lnTo>
                  <a:pt x="860" y="1229"/>
                </a:lnTo>
                <a:lnTo>
                  <a:pt x="865" y="1207"/>
                </a:lnTo>
                <a:lnTo>
                  <a:pt x="871" y="1178"/>
                </a:lnTo>
                <a:lnTo>
                  <a:pt x="876" y="1146"/>
                </a:lnTo>
                <a:lnTo>
                  <a:pt x="882" y="1109"/>
                </a:lnTo>
                <a:lnTo>
                  <a:pt x="885" y="1066"/>
                </a:lnTo>
                <a:lnTo>
                  <a:pt x="890" y="1021"/>
                </a:lnTo>
                <a:lnTo>
                  <a:pt x="896" y="972"/>
                </a:lnTo>
                <a:lnTo>
                  <a:pt x="902" y="919"/>
                </a:lnTo>
                <a:lnTo>
                  <a:pt x="907" y="866"/>
                </a:lnTo>
                <a:lnTo>
                  <a:pt x="918" y="753"/>
                </a:lnTo>
                <a:lnTo>
                  <a:pt x="930" y="638"/>
                </a:lnTo>
                <a:lnTo>
                  <a:pt x="947" y="522"/>
                </a:lnTo>
                <a:lnTo>
                  <a:pt x="955" y="409"/>
                </a:lnTo>
                <a:lnTo>
                  <a:pt x="961" y="355"/>
                </a:lnTo>
                <a:lnTo>
                  <a:pt x="966" y="304"/>
                </a:lnTo>
                <a:lnTo>
                  <a:pt x="972" y="256"/>
                </a:lnTo>
                <a:lnTo>
                  <a:pt x="977" y="211"/>
                </a:lnTo>
                <a:lnTo>
                  <a:pt x="983" y="166"/>
                </a:lnTo>
                <a:lnTo>
                  <a:pt x="989" y="129"/>
                </a:lnTo>
                <a:lnTo>
                  <a:pt x="994" y="96"/>
                </a:lnTo>
                <a:lnTo>
                  <a:pt x="1000" y="70"/>
                </a:lnTo>
                <a:lnTo>
                  <a:pt x="1005" y="45"/>
                </a:lnTo>
                <a:lnTo>
                  <a:pt x="1011" y="28"/>
                </a:lnTo>
                <a:lnTo>
                  <a:pt x="1017" y="17"/>
                </a:lnTo>
                <a:lnTo>
                  <a:pt x="983" y="17"/>
                </a:lnTo>
                <a:lnTo>
                  <a:pt x="1000" y="31"/>
                </a:lnTo>
                <a:lnTo>
                  <a:pt x="1005" y="28"/>
                </a:lnTo>
                <a:lnTo>
                  <a:pt x="983" y="33"/>
                </a:lnTo>
                <a:lnTo>
                  <a:pt x="994" y="28"/>
                </a:lnTo>
                <a:lnTo>
                  <a:pt x="989" y="13"/>
                </a:lnTo>
                <a:lnTo>
                  <a:pt x="989" y="28"/>
                </a:lnTo>
                <a:lnTo>
                  <a:pt x="994" y="33"/>
                </a:lnTo>
                <a:lnTo>
                  <a:pt x="994" y="17"/>
                </a:lnTo>
                <a:lnTo>
                  <a:pt x="972" y="28"/>
                </a:lnTo>
                <a:lnTo>
                  <a:pt x="977" y="31"/>
                </a:lnTo>
                <a:lnTo>
                  <a:pt x="961" y="17"/>
                </a:lnTo>
                <a:lnTo>
                  <a:pt x="961" y="28"/>
                </a:lnTo>
                <a:lnTo>
                  <a:pt x="966" y="45"/>
                </a:lnTo>
                <a:lnTo>
                  <a:pt x="972" y="67"/>
                </a:lnTo>
                <a:lnTo>
                  <a:pt x="972" y="96"/>
                </a:lnTo>
                <a:lnTo>
                  <a:pt x="977" y="129"/>
                </a:lnTo>
                <a:lnTo>
                  <a:pt x="983" y="164"/>
                </a:lnTo>
                <a:lnTo>
                  <a:pt x="983" y="208"/>
                </a:lnTo>
                <a:lnTo>
                  <a:pt x="989" y="253"/>
                </a:lnTo>
                <a:lnTo>
                  <a:pt x="989" y="302"/>
                </a:lnTo>
                <a:lnTo>
                  <a:pt x="994" y="352"/>
                </a:lnTo>
                <a:lnTo>
                  <a:pt x="994" y="406"/>
                </a:lnTo>
                <a:lnTo>
                  <a:pt x="1000" y="518"/>
                </a:lnTo>
                <a:lnTo>
                  <a:pt x="1005" y="635"/>
                </a:lnTo>
                <a:lnTo>
                  <a:pt x="1011" y="751"/>
                </a:lnTo>
                <a:lnTo>
                  <a:pt x="1017" y="862"/>
                </a:lnTo>
                <a:lnTo>
                  <a:pt x="1017" y="917"/>
                </a:lnTo>
                <a:lnTo>
                  <a:pt x="1019" y="967"/>
                </a:lnTo>
                <a:lnTo>
                  <a:pt x="1019" y="1015"/>
                </a:lnTo>
                <a:lnTo>
                  <a:pt x="1025" y="1061"/>
                </a:lnTo>
                <a:lnTo>
                  <a:pt x="1025" y="1104"/>
                </a:lnTo>
                <a:lnTo>
                  <a:pt x="1031" y="1140"/>
                </a:lnTo>
                <a:lnTo>
                  <a:pt x="1031" y="1174"/>
                </a:lnTo>
                <a:lnTo>
                  <a:pt x="1036" y="1203"/>
                </a:lnTo>
                <a:lnTo>
                  <a:pt x="1036" y="1224"/>
                </a:lnTo>
                <a:lnTo>
                  <a:pt x="1042" y="1241"/>
                </a:lnTo>
                <a:lnTo>
                  <a:pt x="1042" y="1253"/>
                </a:lnTo>
                <a:lnTo>
                  <a:pt x="1053" y="1263"/>
                </a:lnTo>
                <a:lnTo>
                  <a:pt x="1064" y="1264"/>
                </a:lnTo>
                <a:lnTo>
                  <a:pt x="1075" y="1267"/>
                </a:lnTo>
                <a:lnTo>
                  <a:pt x="1081" y="1269"/>
                </a:lnTo>
                <a:lnTo>
                  <a:pt x="1087" y="1267"/>
                </a:lnTo>
                <a:lnTo>
                  <a:pt x="1095" y="1264"/>
                </a:lnTo>
                <a:lnTo>
                  <a:pt x="1106" y="1263"/>
                </a:lnTo>
                <a:lnTo>
                  <a:pt x="1117" y="1253"/>
                </a:lnTo>
                <a:lnTo>
                  <a:pt x="1123" y="1241"/>
                </a:lnTo>
                <a:lnTo>
                  <a:pt x="1123" y="1224"/>
                </a:lnTo>
                <a:lnTo>
                  <a:pt x="1129" y="1203"/>
                </a:lnTo>
                <a:lnTo>
                  <a:pt x="1134" y="1174"/>
                </a:lnTo>
                <a:lnTo>
                  <a:pt x="1140" y="1140"/>
                </a:lnTo>
                <a:lnTo>
                  <a:pt x="1145" y="1104"/>
                </a:lnTo>
                <a:lnTo>
                  <a:pt x="1151" y="1061"/>
                </a:lnTo>
                <a:lnTo>
                  <a:pt x="1154" y="1015"/>
                </a:lnTo>
                <a:lnTo>
                  <a:pt x="1159" y="967"/>
                </a:lnTo>
                <a:lnTo>
                  <a:pt x="1165" y="917"/>
                </a:lnTo>
                <a:lnTo>
                  <a:pt x="1171" y="862"/>
                </a:lnTo>
                <a:lnTo>
                  <a:pt x="1176" y="751"/>
                </a:lnTo>
                <a:lnTo>
                  <a:pt x="1187" y="635"/>
                </a:lnTo>
                <a:lnTo>
                  <a:pt x="1199" y="518"/>
                </a:lnTo>
                <a:lnTo>
                  <a:pt x="1210" y="406"/>
                </a:lnTo>
                <a:lnTo>
                  <a:pt x="1215" y="352"/>
                </a:lnTo>
                <a:lnTo>
                  <a:pt x="1221" y="302"/>
                </a:lnTo>
                <a:lnTo>
                  <a:pt x="1224" y="253"/>
                </a:lnTo>
                <a:lnTo>
                  <a:pt x="1229" y="208"/>
                </a:lnTo>
                <a:lnTo>
                  <a:pt x="1235" y="164"/>
                </a:lnTo>
                <a:lnTo>
                  <a:pt x="1241" y="129"/>
                </a:lnTo>
                <a:lnTo>
                  <a:pt x="1241" y="96"/>
                </a:lnTo>
                <a:lnTo>
                  <a:pt x="1246" y="67"/>
                </a:lnTo>
                <a:lnTo>
                  <a:pt x="1252" y="45"/>
                </a:lnTo>
                <a:lnTo>
                  <a:pt x="1258" y="28"/>
                </a:lnTo>
                <a:lnTo>
                  <a:pt x="1258" y="17"/>
                </a:lnTo>
                <a:lnTo>
                  <a:pt x="1224" y="17"/>
                </a:lnTo>
                <a:lnTo>
                  <a:pt x="1241" y="31"/>
                </a:lnTo>
                <a:lnTo>
                  <a:pt x="1252" y="28"/>
                </a:lnTo>
                <a:lnTo>
                  <a:pt x="1224" y="33"/>
                </a:lnTo>
                <a:lnTo>
                  <a:pt x="1229" y="28"/>
                </a:lnTo>
                <a:lnTo>
                  <a:pt x="1235" y="33"/>
                </a:lnTo>
                <a:lnTo>
                  <a:pt x="1235" y="17"/>
                </a:lnTo>
                <a:lnTo>
                  <a:pt x="1215" y="28"/>
                </a:lnTo>
                <a:lnTo>
                  <a:pt x="1221" y="31"/>
                </a:lnTo>
                <a:lnTo>
                  <a:pt x="1204" y="17"/>
                </a:lnTo>
                <a:lnTo>
                  <a:pt x="1204" y="28"/>
                </a:lnTo>
                <a:lnTo>
                  <a:pt x="1210" y="45"/>
                </a:lnTo>
                <a:lnTo>
                  <a:pt x="1215" y="67"/>
                </a:lnTo>
                <a:lnTo>
                  <a:pt x="1215" y="96"/>
                </a:lnTo>
                <a:lnTo>
                  <a:pt x="1221" y="129"/>
                </a:lnTo>
                <a:lnTo>
                  <a:pt x="1221" y="164"/>
                </a:lnTo>
                <a:lnTo>
                  <a:pt x="1224" y="208"/>
                </a:lnTo>
                <a:lnTo>
                  <a:pt x="1224" y="253"/>
                </a:lnTo>
                <a:lnTo>
                  <a:pt x="1229" y="302"/>
                </a:lnTo>
                <a:lnTo>
                  <a:pt x="1229" y="352"/>
                </a:lnTo>
                <a:lnTo>
                  <a:pt x="1235" y="405"/>
                </a:lnTo>
                <a:lnTo>
                  <a:pt x="1241" y="518"/>
                </a:lnTo>
                <a:lnTo>
                  <a:pt x="1241" y="634"/>
                </a:lnTo>
                <a:lnTo>
                  <a:pt x="1246" y="749"/>
                </a:lnTo>
                <a:lnTo>
                  <a:pt x="1252" y="862"/>
                </a:lnTo>
                <a:lnTo>
                  <a:pt x="1252" y="914"/>
                </a:lnTo>
                <a:lnTo>
                  <a:pt x="1258" y="967"/>
                </a:lnTo>
                <a:lnTo>
                  <a:pt x="1258" y="1015"/>
                </a:lnTo>
                <a:lnTo>
                  <a:pt x="1263" y="1061"/>
                </a:lnTo>
                <a:lnTo>
                  <a:pt x="1263" y="1102"/>
                </a:lnTo>
                <a:lnTo>
                  <a:pt x="1269" y="1140"/>
                </a:lnTo>
                <a:lnTo>
                  <a:pt x="1269" y="1174"/>
                </a:lnTo>
                <a:lnTo>
                  <a:pt x="1274" y="1203"/>
                </a:lnTo>
                <a:lnTo>
                  <a:pt x="1274" y="1224"/>
                </a:lnTo>
                <a:lnTo>
                  <a:pt x="1280" y="1241"/>
                </a:lnTo>
                <a:lnTo>
                  <a:pt x="1280" y="1251"/>
                </a:lnTo>
                <a:lnTo>
                  <a:pt x="1288" y="1263"/>
                </a:lnTo>
                <a:lnTo>
                  <a:pt x="1300" y="1264"/>
                </a:lnTo>
                <a:lnTo>
                  <a:pt x="1311" y="1264"/>
                </a:lnTo>
                <a:lnTo>
                  <a:pt x="1311" y="1269"/>
                </a:lnTo>
                <a:lnTo>
                  <a:pt x="1316" y="1269"/>
                </a:lnTo>
                <a:lnTo>
                  <a:pt x="1322" y="1267"/>
                </a:lnTo>
                <a:lnTo>
                  <a:pt x="1333" y="1264"/>
                </a:lnTo>
                <a:lnTo>
                  <a:pt x="1344" y="1263"/>
                </a:lnTo>
                <a:lnTo>
                  <a:pt x="1356" y="1253"/>
                </a:lnTo>
                <a:lnTo>
                  <a:pt x="1358" y="1241"/>
                </a:lnTo>
                <a:lnTo>
                  <a:pt x="1358" y="1224"/>
                </a:lnTo>
                <a:lnTo>
                  <a:pt x="1364" y="1203"/>
                </a:lnTo>
                <a:lnTo>
                  <a:pt x="1370" y="1174"/>
                </a:lnTo>
                <a:lnTo>
                  <a:pt x="1375" y="1143"/>
                </a:lnTo>
                <a:lnTo>
                  <a:pt x="1381" y="1104"/>
                </a:lnTo>
                <a:lnTo>
                  <a:pt x="1386" y="1063"/>
                </a:lnTo>
                <a:lnTo>
                  <a:pt x="1392" y="1018"/>
                </a:lnTo>
                <a:lnTo>
                  <a:pt x="1398" y="969"/>
                </a:lnTo>
                <a:lnTo>
                  <a:pt x="1398" y="917"/>
                </a:lnTo>
                <a:lnTo>
                  <a:pt x="1403" y="864"/>
                </a:lnTo>
                <a:lnTo>
                  <a:pt x="1414" y="753"/>
                </a:lnTo>
                <a:lnTo>
                  <a:pt x="1423" y="638"/>
                </a:lnTo>
                <a:lnTo>
                  <a:pt x="1434" y="522"/>
                </a:lnTo>
                <a:lnTo>
                  <a:pt x="1445" y="409"/>
                </a:lnTo>
                <a:lnTo>
                  <a:pt x="1451" y="357"/>
                </a:lnTo>
                <a:lnTo>
                  <a:pt x="1456" y="304"/>
                </a:lnTo>
                <a:lnTo>
                  <a:pt x="1462" y="256"/>
                </a:lnTo>
                <a:lnTo>
                  <a:pt x="1468" y="213"/>
                </a:lnTo>
                <a:lnTo>
                  <a:pt x="1473" y="169"/>
                </a:lnTo>
                <a:lnTo>
                  <a:pt x="1479" y="132"/>
                </a:lnTo>
                <a:lnTo>
                  <a:pt x="1484" y="99"/>
                </a:lnTo>
                <a:lnTo>
                  <a:pt x="1490" y="70"/>
                </a:lnTo>
                <a:lnTo>
                  <a:pt x="1493" y="50"/>
                </a:lnTo>
                <a:lnTo>
                  <a:pt x="1498" y="33"/>
                </a:lnTo>
                <a:lnTo>
                  <a:pt x="1504" y="22"/>
                </a:lnTo>
                <a:lnTo>
                  <a:pt x="1473" y="22"/>
                </a:lnTo>
                <a:lnTo>
                  <a:pt x="1484" y="36"/>
                </a:lnTo>
                <a:lnTo>
                  <a:pt x="1493" y="33"/>
                </a:lnTo>
                <a:lnTo>
                  <a:pt x="1473" y="37"/>
                </a:lnTo>
                <a:lnTo>
                  <a:pt x="1479" y="33"/>
                </a:lnTo>
                <a:lnTo>
                  <a:pt x="1479" y="17"/>
                </a:lnTo>
                <a:lnTo>
                  <a:pt x="1479" y="33"/>
                </a:lnTo>
                <a:lnTo>
                  <a:pt x="1484" y="37"/>
                </a:lnTo>
                <a:lnTo>
                  <a:pt x="1484" y="22"/>
                </a:lnTo>
                <a:lnTo>
                  <a:pt x="1462" y="33"/>
                </a:lnTo>
                <a:lnTo>
                  <a:pt x="1473" y="36"/>
                </a:lnTo>
                <a:lnTo>
                  <a:pt x="1451" y="22"/>
                </a:lnTo>
                <a:lnTo>
                  <a:pt x="1456" y="33"/>
                </a:lnTo>
                <a:lnTo>
                  <a:pt x="1462" y="50"/>
                </a:lnTo>
                <a:lnTo>
                  <a:pt x="1468" y="73"/>
                </a:lnTo>
                <a:lnTo>
                  <a:pt x="1473" y="99"/>
                </a:lnTo>
                <a:lnTo>
                  <a:pt x="1479" y="132"/>
                </a:lnTo>
                <a:lnTo>
                  <a:pt x="1484" y="172"/>
                </a:lnTo>
                <a:lnTo>
                  <a:pt x="1490" y="213"/>
                </a:lnTo>
                <a:lnTo>
                  <a:pt x="1493" y="259"/>
                </a:lnTo>
                <a:lnTo>
                  <a:pt x="1498" y="307"/>
                </a:lnTo>
                <a:lnTo>
                  <a:pt x="1504" y="360"/>
                </a:lnTo>
                <a:lnTo>
                  <a:pt x="1510" y="412"/>
                </a:lnTo>
                <a:lnTo>
                  <a:pt x="1521" y="525"/>
                </a:lnTo>
                <a:lnTo>
                  <a:pt x="1532" y="640"/>
                </a:lnTo>
                <a:lnTo>
                  <a:pt x="1549" y="756"/>
                </a:lnTo>
                <a:lnTo>
                  <a:pt x="1557" y="869"/>
                </a:lnTo>
                <a:lnTo>
                  <a:pt x="1563" y="922"/>
                </a:lnTo>
                <a:lnTo>
                  <a:pt x="1569" y="972"/>
                </a:lnTo>
                <a:lnTo>
                  <a:pt x="1574" y="1023"/>
                </a:lnTo>
                <a:lnTo>
                  <a:pt x="1580" y="1066"/>
                </a:lnTo>
                <a:lnTo>
                  <a:pt x="1585" y="1109"/>
                </a:lnTo>
                <a:lnTo>
                  <a:pt x="1591" y="1146"/>
                </a:lnTo>
                <a:lnTo>
                  <a:pt x="1597" y="1178"/>
                </a:lnTo>
                <a:lnTo>
                  <a:pt x="1597" y="1207"/>
                </a:lnTo>
                <a:lnTo>
                  <a:pt x="1602" y="1229"/>
                </a:lnTo>
                <a:lnTo>
                  <a:pt x="1608" y="1246"/>
                </a:lnTo>
                <a:lnTo>
                  <a:pt x="1613" y="1258"/>
                </a:lnTo>
                <a:lnTo>
                  <a:pt x="1625" y="1267"/>
                </a:lnTo>
                <a:lnTo>
                  <a:pt x="1633" y="1269"/>
                </a:lnTo>
                <a:lnTo>
                  <a:pt x="1644" y="1272"/>
                </a:lnTo>
                <a:lnTo>
                  <a:pt x="1650" y="1275"/>
                </a:lnTo>
                <a:lnTo>
                  <a:pt x="1655" y="1272"/>
                </a:lnTo>
                <a:lnTo>
                  <a:pt x="1667" y="1269"/>
                </a:lnTo>
                <a:lnTo>
                  <a:pt x="1678" y="1267"/>
                </a:lnTo>
                <a:lnTo>
                  <a:pt x="1689" y="1258"/>
                </a:lnTo>
                <a:lnTo>
                  <a:pt x="1692" y="1246"/>
                </a:lnTo>
                <a:lnTo>
                  <a:pt x="1692" y="1229"/>
                </a:lnTo>
                <a:lnTo>
                  <a:pt x="1697" y="1207"/>
                </a:lnTo>
                <a:lnTo>
                  <a:pt x="1703" y="1178"/>
                </a:lnTo>
                <a:lnTo>
                  <a:pt x="1709" y="1146"/>
                </a:lnTo>
                <a:lnTo>
                  <a:pt x="1709" y="1107"/>
                </a:lnTo>
                <a:lnTo>
                  <a:pt x="1714" y="1066"/>
                </a:lnTo>
                <a:lnTo>
                  <a:pt x="1720" y="1021"/>
                </a:lnTo>
                <a:lnTo>
                  <a:pt x="1725" y="972"/>
                </a:lnTo>
                <a:lnTo>
                  <a:pt x="1725" y="919"/>
                </a:lnTo>
                <a:lnTo>
                  <a:pt x="1731" y="866"/>
                </a:lnTo>
                <a:lnTo>
                  <a:pt x="1737" y="753"/>
                </a:lnTo>
                <a:lnTo>
                  <a:pt x="1748" y="638"/>
                </a:lnTo>
                <a:lnTo>
                  <a:pt x="1753" y="519"/>
                </a:lnTo>
                <a:lnTo>
                  <a:pt x="1759" y="406"/>
                </a:lnTo>
                <a:lnTo>
                  <a:pt x="1762" y="355"/>
                </a:lnTo>
                <a:lnTo>
                  <a:pt x="1767" y="302"/>
                </a:lnTo>
                <a:lnTo>
                  <a:pt x="1773" y="253"/>
                </a:lnTo>
                <a:lnTo>
                  <a:pt x="1773" y="208"/>
                </a:lnTo>
                <a:lnTo>
                  <a:pt x="1779" y="166"/>
                </a:lnTo>
                <a:lnTo>
                  <a:pt x="1784" y="129"/>
                </a:lnTo>
                <a:lnTo>
                  <a:pt x="1790" y="96"/>
                </a:lnTo>
                <a:lnTo>
                  <a:pt x="1790" y="67"/>
                </a:lnTo>
                <a:lnTo>
                  <a:pt x="1795" y="45"/>
                </a:lnTo>
                <a:lnTo>
                  <a:pt x="1801" y="28"/>
                </a:lnTo>
                <a:lnTo>
                  <a:pt x="1807" y="17"/>
                </a:lnTo>
                <a:lnTo>
                  <a:pt x="1773" y="17"/>
                </a:lnTo>
                <a:lnTo>
                  <a:pt x="1784" y="31"/>
                </a:lnTo>
                <a:lnTo>
                  <a:pt x="1795" y="28"/>
                </a:lnTo>
                <a:lnTo>
                  <a:pt x="1773" y="33"/>
                </a:lnTo>
                <a:lnTo>
                  <a:pt x="1779" y="28"/>
                </a:lnTo>
                <a:lnTo>
                  <a:pt x="1784" y="33"/>
                </a:lnTo>
                <a:lnTo>
                  <a:pt x="1784" y="17"/>
                </a:lnTo>
                <a:lnTo>
                  <a:pt x="1762" y="28"/>
                </a:lnTo>
                <a:lnTo>
                  <a:pt x="1773" y="31"/>
                </a:lnTo>
                <a:lnTo>
                  <a:pt x="1753" y="17"/>
                </a:lnTo>
                <a:lnTo>
                  <a:pt x="1759" y="28"/>
                </a:lnTo>
                <a:lnTo>
                  <a:pt x="1762" y="45"/>
                </a:lnTo>
                <a:lnTo>
                  <a:pt x="1767" y="67"/>
                </a:lnTo>
                <a:lnTo>
                  <a:pt x="1773" y="96"/>
                </a:lnTo>
                <a:lnTo>
                  <a:pt x="1779" y="129"/>
                </a:lnTo>
                <a:lnTo>
                  <a:pt x="1784" y="166"/>
                </a:lnTo>
                <a:lnTo>
                  <a:pt x="1790" y="208"/>
                </a:lnTo>
                <a:lnTo>
                  <a:pt x="1795" y="253"/>
                </a:lnTo>
                <a:lnTo>
                  <a:pt x="1801" y="302"/>
                </a:lnTo>
                <a:lnTo>
                  <a:pt x="1807" y="355"/>
                </a:lnTo>
                <a:lnTo>
                  <a:pt x="1812" y="406"/>
                </a:lnTo>
                <a:lnTo>
                  <a:pt x="1823" y="519"/>
                </a:lnTo>
                <a:lnTo>
                  <a:pt x="1832" y="638"/>
                </a:lnTo>
                <a:lnTo>
                  <a:pt x="1849" y="753"/>
                </a:lnTo>
                <a:lnTo>
                  <a:pt x="1860" y="866"/>
                </a:lnTo>
                <a:lnTo>
                  <a:pt x="1866" y="919"/>
                </a:lnTo>
                <a:lnTo>
                  <a:pt x="1871" y="972"/>
                </a:lnTo>
                <a:lnTo>
                  <a:pt x="1877" y="1021"/>
                </a:lnTo>
                <a:lnTo>
                  <a:pt x="1882" y="1066"/>
                </a:lnTo>
                <a:lnTo>
                  <a:pt x="1888" y="1107"/>
                </a:lnTo>
                <a:lnTo>
                  <a:pt x="1896" y="1146"/>
                </a:lnTo>
                <a:lnTo>
                  <a:pt x="1902" y="1178"/>
                </a:lnTo>
                <a:lnTo>
                  <a:pt x="1908" y="1207"/>
                </a:lnTo>
                <a:lnTo>
                  <a:pt x="1913" y="1229"/>
                </a:lnTo>
                <a:lnTo>
                  <a:pt x="1919" y="1246"/>
                </a:lnTo>
                <a:lnTo>
                  <a:pt x="1924" y="1258"/>
                </a:lnTo>
                <a:lnTo>
                  <a:pt x="1936" y="1267"/>
                </a:lnTo>
                <a:lnTo>
                  <a:pt x="1947" y="1269"/>
                </a:lnTo>
                <a:lnTo>
                  <a:pt x="1958" y="1272"/>
                </a:lnTo>
                <a:lnTo>
                  <a:pt x="1961" y="1275"/>
                </a:lnTo>
                <a:lnTo>
                  <a:pt x="1966" y="1272"/>
                </a:lnTo>
                <a:lnTo>
                  <a:pt x="1978" y="1269"/>
                </a:lnTo>
                <a:lnTo>
                  <a:pt x="1989" y="1267"/>
                </a:lnTo>
                <a:lnTo>
                  <a:pt x="2000" y="1258"/>
                </a:lnTo>
                <a:lnTo>
                  <a:pt x="2006" y="1246"/>
                </a:lnTo>
                <a:lnTo>
                  <a:pt x="2011" y="1229"/>
                </a:lnTo>
                <a:lnTo>
                  <a:pt x="2017" y="1207"/>
                </a:lnTo>
                <a:lnTo>
                  <a:pt x="2017" y="1178"/>
                </a:lnTo>
                <a:lnTo>
                  <a:pt x="2022" y="1146"/>
                </a:lnTo>
                <a:lnTo>
                  <a:pt x="2028" y="1107"/>
                </a:lnTo>
                <a:lnTo>
                  <a:pt x="2031" y="1066"/>
                </a:lnTo>
                <a:lnTo>
                  <a:pt x="2036" y="1021"/>
                </a:lnTo>
                <a:lnTo>
                  <a:pt x="2042" y="972"/>
                </a:lnTo>
                <a:lnTo>
                  <a:pt x="2042" y="919"/>
                </a:lnTo>
                <a:lnTo>
                  <a:pt x="2048" y="866"/>
                </a:lnTo>
                <a:lnTo>
                  <a:pt x="2059" y="753"/>
                </a:lnTo>
                <a:lnTo>
                  <a:pt x="2064" y="638"/>
                </a:lnTo>
                <a:lnTo>
                  <a:pt x="2076" y="519"/>
                </a:lnTo>
                <a:lnTo>
                  <a:pt x="2087" y="406"/>
                </a:lnTo>
                <a:lnTo>
                  <a:pt x="2087" y="355"/>
                </a:lnTo>
                <a:lnTo>
                  <a:pt x="2092" y="302"/>
                </a:lnTo>
                <a:lnTo>
                  <a:pt x="2095" y="253"/>
                </a:lnTo>
                <a:lnTo>
                  <a:pt x="2101" y="208"/>
                </a:lnTo>
                <a:lnTo>
                  <a:pt x="2106" y="166"/>
                </a:lnTo>
                <a:lnTo>
                  <a:pt x="2112" y="129"/>
                </a:lnTo>
                <a:lnTo>
                  <a:pt x="2118" y="96"/>
                </a:lnTo>
                <a:lnTo>
                  <a:pt x="2123" y="67"/>
                </a:lnTo>
                <a:lnTo>
                  <a:pt x="2129" y="45"/>
                </a:lnTo>
                <a:lnTo>
                  <a:pt x="2134" y="28"/>
                </a:lnTo>
                <a:lnTo>
                  <a:pt x="2140" y="17"/>
                </a:lnTo>
                <a:lnTo>
                  <a:pt x="2106" y="17"/>
                </a:lnTo>
                <a:lnTo>
                  <a:pt x="2118" y="31"/>
                </a:lnTo>
                <a:lnTo>
                  <a:pt x="2129" y="28"/>
                </a:lnTo>
                <a:lnTo>
                  <a:pt x="2106" y="33"/>
                </a:lnTo>
                <a:lnTo>
                  <a:pt x="2112" y="28"/>
                </a:lnTo>
                <a:lnTo>
                  <a:pt x="2118" y="33"/>
                </a:lnTo>
                <a:lnTo>
                  <a:pt x="2118" y="17"/>
                </a:lnTo>
                <a:lnTo>
                  <a:pt x="2095" y="28"/>
                </a:lnTo>
                <a:lnTo>
                  <a:pt x="2106" y="31"/>
                </a:lnTo>
                <a:lnTo>
                  <a:pt x="2087" y="17"/>
                </a:lnTo>
                <a:lnTo>
                  <a:pt x="2092" y="28"/>
                </a:lnTo>
                <a:lnTo>
                  <a:pt x="2095" y="45"/>
                </a:lnTo>
                <a:lnTo>
                  <a:pt x="2101" y="67"/>
                </a:lnTo>
                <a:lnTo>
                  <a:pt x="2106" y="96"/>
                </a:lnTo>
                <a:lnTo>
                  <a:pt x="2118" y="129"/>
                </a:lnTo>
                <a:lnTo>
                  <a:pt x="2123" y="166"/>
                </a:lnTo>
                <a:lnTo>
                  <a:pt x="2129" y="208"/>
                </a:lnTo>
                <a:lnTo>
                  <a:pt x="2134" y="253"/>
                </a:lnTo>
                <a:lnTo>
                  <a:pt x="2140" y="302"/>
                </a:lnTo>
                <a:lnTo>
                  <a:pt x="2146" y="355"/>
                </a:lnTo>
                <a:lnTo>
                  <a:pt x="2157" y="406"/>
                </a:lnTo>
                <a:lnTo>
                  <a:pt x="2165" y="519"/>
                </a:lnTo>
                <a:lnTo>
                  <a:pt x="2177" y="638"/>
                </a:lnTo>
                <a:lnTo>
                  <a:pt x="2193" y="753"/>
                </a:lnTo>
                <a:lnTo>
                  <a:pt x="2205" y="866"/>
                </a:lnTo>
                <a:lnTo>
                  <a:pt x="2216" y="919"/>
                </a:lnTo>
                <a:lnTo>
                  <a:pt x="2221" y="972"/>
                </a:lnTo>
                <a:lnTo>
                  <a:pt x="2227" y="1021"/>
                </a:lnTo>
                <a:lnTo>
                  <a:pt x="2235" y="1066"/>
                </a:lnTo>
                <a:lnTo>
                  <a:pt x="2241" y="1107"/>
                </a:lnTo>
                <a:lnTo>
                  <a:pt x="2247" y="1146"/>
                </a:lnTo>
                <a:lnTo>
                  <a:pt x="2252" y="1178"/>
                </a:lnTo>
                <a:lnTo>
                  <a:pt x="2263" y="1207"/>
                </a:lnTo>
                <a:lnTo>
                  <a:pt x="2269" y="1229"/>
                </a:lnTo>
                <a:lnTo>
                  <a:pt x="2275" y="1246"/>
                </a:lnTo>
                <a:lnTo>
                  <a:pt x="2286" y="1258"/>
                </a:lnTo>
                <a:lnTo>
                  <a:pt x="2291" y="1267"/>
                </a:lnTo>
                <a:lnTo>
                  <a:pt x="2300" y="1269"/>
                </a:lnTo>
                <a:lnTo>
                  <a:pt x="2317" y="1272"/>
                </a:lnTo>
                <a:lnTo>
                  <a:pt x="2322" y="1275"/>
                </a:lnTo>
                <a:lnTo>
                  <a:pt x="2328" y="1272"/>
                </a:lnTo>
                <a:lnTo>
                  <a:pt x="2345" y="1269"/>
                </a:lnTo>
                <a:lnTo>
                  <a:pt x="2356" y="1267"/>
                </a:lnTo>
                <a:lnTo>
                  <a:pt x="2361" y="1258"/>
                </a:lnTo>
                <a:lnTo>
                  <a:pt x="2370" y="1246"/>
                </a:lnTo>
                <a:lnTo>
                  <a:pt x="2375" y="1229"/>
                </a:lnTo>
                <a:lnTo>
                  <a:pt x="2387" y="1207"/>
                </a:lnTo>
                <a:lnTo>
                  <a:pt x="2392" y="1178"/>
                </a:lnTo>
                <a:lnTo>
                  <a:pt x="2403" y="1146"/>
                </a:lnTo>
                <a:lnTo>
                  <a:pt x="2409" y="1109"/>
                </a:lnTo>
                <a:lnTo>
                  <a:pt x="2420" y="1066"/>
                </a:lnTo>
                <a:lnTo>
                  <a:pt x="2426" y="1021"/>
                </a:lnTo>
                <a:lnTo>
                  <a:pt x="2434" y="972"/>
                </a:lnTo>
                <a:lnTo>
                  <a:pt x="2440" y="919"/>
                </a:lnTo>
                <a:lnTo>
                  <a:pt x="2451" y="866"/>
                </a:lnTo>
                <a:lnTo>
                  <a:pt x="2468" y="753"/>
                </a:lnTo>
                <a:lnTo>
                  <a:pt x="2485" y="638"/>
                </a:lnTo>
                <a:lnTo>
                  <a:pt x="2499" y="522"/>
                </a:lnTo>
                <a:lnTo>
                  <a:pt x="2516" y="409"/>
                </a:lnTo>
                <a:lnTo>
                  <a:pt x="2527" y="355"/>
                </a:lnTo>
                <a:lnTo>
                  <a:pt x="2532" y="304"/>
                </a:lnTo>
                <a:lnTo>
                  <a:pt x="2544" y="256"/>
                </a:lnTo>
                <a:lnTo>
                  <a:pt x="2555" y="211"/>
                </a:lnTo>
                <a:lnTo>
                  <a:pt x="2560" y="166"/>
                </a:lnTo>
                <a:lnTo>
                  <a:pt x="2569" y="129"/>
                </a:lnTo>
                <a:lnTo>
                  <a:pt x="2580" y="96"/>
                </a:lnTo>
                <a:lnTo>
                  <a:pt x="2586" y="70"/>
                </a:lnTo>
                <a:lnTo>
                  <a:pt x="2597" y="45"/>
                </a:lnTo>
                <a:lnTo>
                  <a:pt x="2608" y="28"/>
                </a:lnTo>
                <a:lnTo>
                  <a:pt x="2614" y="17"/>
                </a:lnTo>
                <a:lnTo>
                  <a:pt x="2580" y="17"/>
                </a:lnTo>
                <a:lnTo>
                  <a:pt x="2597" y="31"/>
                </a:lnTo>
                <a:lnTo>
                  <a:pt x="2608" y="28"/>
                </a:lnTo>
                <a:lnTo>
                  <a:pt x="2580" y="33"/>
                </a:lnTo>
                <a:lnTo>
                  <a:pt x="2597" y="28"/>
                </a:lnTo>
                <a:lnTo>
                  <a:pt x="2591" y="13"/>
                </a:lnTo>
                <a:lnTo>
                  <a:pt x="2591" y="28"/>
                </a:lnTo>
                <a:lnTo>
                  <a:pt x="2602" y="31"/>
                </a:lnTo>
                <a:lnTo>
                  <a:pt x="2602" y="16"/>
                </a:lnTo>
                <a:lnTo>
                  <a:pt x="2586" y="28"/>
                </a:lnTo>
                <a:lnTo>
                  <a:pt x="2574" y="25"/>
                </a:lnTo>
                <a:lnTo>
                  <a:pt x="2586" y="31"/>
                </a:lnTo>
                <a:lnTo>
                  <a:pt x="2597" y="41"/>
                </a:lnTo>
                <a:lnTo>
                  <a:pt x="2619" y="31"/>
                </a:lnTo>
                <a:lnTo>
                  <a:pt x="2586" y="31"/>
                </a:lnTo>
                <a:lnTo>
                  <a:pt x="2597" y="42"/>
                </a:lnTo>
                <a:lnTo>
                  <a:pt x="2608" y="56"/>
                </a:lnTo>
                <a:lnTo>
                  <a:pt x="2614" y="76"/>
                </a:lnTo>
                <a:lnTo>
                  <a:pt x="2625" y="96"/>
                </a:lnTo>
                <a:lnTo>
                  <a:pt x="2633" y="120"/>
                </a:lnTo>
                <a:lnTo>
                  <a:pt x="2644" y="147"/>
                </a:lnTo>
                <a:lnTo>
                  <a:pt x="2656" y="177"/>
                </a:lnTo>
                <a:lnTo>
                  <a:pt x="2667" y="208"/>
                </a:lnTo>
                <a:lnTo>
                  <a:pt x="2672" y="242"/>
                </a:lnTo>
                <a:lnTo>
                  <a:pt x="2695" y="319"/>
                </a:lnTo>
                <a:lnTo>
                  <a:pt x="2714" y="400"/>
                </a:lnTo>
                <a:lnTo>
                  <a:pt x="2737" y="491"/>
                </a:lnTo>
                <a:lnTo>
                  <a:pt x="2759" y="590"/>
                </a:lnTo>
                <a:lnTo>
                  <a:pt x="2773" y="691"/>
                </a:lnTo>
                <a:lnTo>
                  <a:pt x="2796" y="799"/>
                </a:lnTo>
                <a:lnTo>
                  <a:pt x="2818" y="909"/>
                </a:lnTo>
                <a:lnTo>
                  <a:pt x="2838" y="1023"/>
                </a:lnTo>
                <a:lnTo>
                  <a:pt x="2883" y="1258"/>
                </a:lnTo>
                <a:lnTo>
                  <a:pt x="2947" y="1256"/>
                </a:lnTo>
                <a:lnTo>
                  <a:pt x="2902" y="1023"/>
                </a:lnTo>
                <a:lnTo>
                  <a:pt x="2883" y="909"/>
                </a:lnTo>
                <a:lnTo>
                  <a:pt x="2860" y="799"/>
                </a:lnTo>
                <a:lnTo>
                  <a:pt x="2838" y="691"/>
                </a:lnTo>
                <a:lnTo>
                  <a:pt x="2824" y="590"/>
                </a:lnTo>
                <a:lnTo>
                  <a:pt x="2801" y="491"/>
                </a:lnTo>
                <a:lnTo>
                  <a:pt x="2779" y="400"/>
                </a:lnTo>
                <a:lnTo>
                  <a:pt x="2759" y="319"/>
                </a:lnTo>
                <a:lnTo>
                  <a:pt x="2737" y="242"/>
                </a:lnTo>
                <a:lnTo>
                  <a:pt x="2731" y="208"/>
                </a:lnTo>
                <a:lnTo>
                  <a:pt x="2720" y="177"/>
                </a:lnTo>
                <a:lnTo>
                  <a:pt x="2709" y="147"/>
                </a:lnTo>
                <a:lnTo>
                  <a:pt x="2700" y="120"/>
                </a:lnTo>
                <a:lnTo>
                  <a:pt x="2689" y="96"/>
                </a:lnTo>
                <a:lnTo>
                  <a:pt x="2678" y="76"/>
                </a:lnTo>
                <a:lnTo>
                  <a:pt x="2672" y="56"/>
                </a:lnTo>
                <a:lnTo>
                  <a:pt x="2661" y="42"/>
                </a:lnTo>
                <a:lnTo>
                  <a:pt x="2650" y="31"/>
                </a:lnTo>
                <a:lnTo>
                  <a:pt x="2644" y="17"/>
                </a:lnTo>
                <a:lnTo>
                  <a:pt x="2633" y="10"/>
                </a:lnTo>
                <a:lnTo>
                  <a:pt x="2625" y="5"/>
                </a:lnTo>
                <a:lnTo>
                  <a:pt x="2614" y="2"/>
                </a:lnTo>
                <a:lnTo>
                  <a:pt x="2602" y="2"/>
                </a:lnTo>
                <a:lnTo>
                  <a:pt x="2591" y="0"/>
                </a:lnTo>
                <a:lnTo>
                  <a:pt x="2580" y="5"/>
                </a:lnTo>
                <a:lnTo>
                  <a:pt x="2569" y="5"/>
                </a:lnTo>
                <a:lnTo>
                  <a:pt x="2560" y="6"/>
                </a:lnTo>
                <a:lnTo>
                  <a:pt x="2549" y="17"/>
                </a:lnTo>
                <a:lnTo>
                  <a:pt x="2544" y="28"/>
                </a:lnTo>
                <a:lnTo>
                  <a:pt x="2532" y="45"/>
                </a:lnTo>
                <a:lnTo>
                  <a:pt x="2521" y="70"/>
                </a:lnTo>
                <a:lnTo>
                  <a:pt x="2516" y="96"/>
                </a:lnTo>
                <a:lnTo>
                  <a:pt x="2504" y="129"/>
                </a:lnTo>
                <a:lnTo>
                  <a:pt x="2496" y="166"/>
                </a:lnTo>
                <a:lnTo>
                  <a:pt x="2490" y="211"/>
                </a:lnTo>
                <a:lnTo>
                  <a:pt x="2479" y="256"/>
                </a:lnTo>
                <a:lnTo>
                  <a:pt x="2468" y="304"/>
                </a:lnTo>
                <a:lnTo>
                  <a:pt x="2462" y="355"/>
                </a:lnTo>
                <a:lnTo>
                  <a:pt x="2451" y="409"/>
                </a:lnTo>
                <a:lnTo>
                  <a:pt x="2434" y="522"/>
                </a:lnTo>
                <a:lnTo>
                  <a:pt x="2420" y="638"/>
                </a:lnTo>
                <a:lnTo>
                  <a:pt x="2403" y="753"/>
                </a:lnTo>
                <a:lnTo>
                  <a:pt x="2387" y="866"/>
                </a:lnTo>
                <a:lnTo>
                  <a:pt x="2375" y="919"/>
                </a:lnTo>
                <a:lnTo>
                  <a:pt x="2370" y="972"/>
                </a:lnTo>
                <a:lnTo>
                  <a:pt x="2361" y="1021"/>
                </a:lnTo>
                <a:lnTo>
                  <a:pt x="2356" y="1066"/>
                </a:lnTo>
                <a:lnTo>
                  <a:pt x="2345" y="1109"/>
                </a:lnTo>
                <a:lnTo>
                  <a:pt x="2339" y="1146"/>
                </a:lnTo>
                <a:lnTo>
                  <a:pt x="2328" y="1178"/>
                </a:lnTo>
                <a:lnTo>
                  <a:pt x="2322" y="1207"/>
                </a:lnTo>
                <a:lnTo>
                  <a:pt x="2311" y="1229"/>
                </a:lnTo>
                <a:lnTo>
                  <a:pt x="2305" y="1246"/>
                </a:lnTo>
                <a:lnTo>
                  <a:pt x="2297" y="1258"/>
                </a:lnTo>
                <a:lnTo>
                  <a:pt x="2317" y="1243"/>
                </a:lnTo>
                <a:lnTo>
                  <a:pt x="2305" y="1246"/>
                </a:lnTo>
                <a:lnTo>
                  <a:pt x="2297" y="1258"/>
                </a:lnTo>
                <a:lnTo>
                  <a:pt x="2328" y="1258"/>
                </a:lnTo>
                <a:lnTo>
                  <a:pt x="2328" y="1243"/>
                </a:lnTo>
                <a:lnTo>
                  <a:pt x="2322" y="1246"/>
                </a:lnTo>
                <a:lnTo>
                  <a:pt x="2317" y="1243"/>
                </a:lnTo>
                <a:lnTo>
                  <a:pt x="2339" y="1246"/>
                </a:lnTo>
                <a:lnTo>
                  <a:pt x="2328" y="1243"/>
                </a:lnTo>
                <a:lnTo>
                  <a:pt x="2317" y="1258"/>
                </a:lnTo>
                <a:lnTo>
                  <a:pt x="2350" y="1258"/>
                </a:lnTo>
                <a:lnTo>
                  <a:pt x="2339" y="1246"/>
                </a:lnTo>
                <a:lnTo>
                  <a:pt x="2333" y="1229"/>
                </a:lnTo>
                <a:lnTo>
                  <a:pt x="2328" y="1207"/>
                </a:lnTo>
                <a:lnTo>
                  <a:pt x="2317" y="1178"/>
                </a:lnTo>
                <a:lnTo>
                  <a:pt x="2311" y="1146"/>
                </a:lnTo>
                <a:lnTo>
                  <a:pt x="2305" y="1107"/>
                </a:lnTo>
                <a:lnTo>
                  <a:pt x="2300" y="1066"/>
                </a:lnTo>
                <a:lnTo>
                  <a:pt x="2291" y="1021"/>
                </a:lnTo>
                <a:lnTo>
                  <a:pt x="2286" y="972"/>
                </a:lnTo>
                <a:lnTo>
                  <a:pt x="2280" y="919"/>
                </a:lnTo>
                <a:lnTo>
                  <a:pt x="2269" y="866"/>
                </a:lnTo>
                <a:lnTo>
                  <a:pt x="2258" y="753"/>
                </a:lnTo>
                <a:lnTo>
                  <a:pt x="2241" y="638"/>
                </a:lnTo>
                <a:lnTo>
                  <a:pt x="2230" y="519"/>
                </a:lnTo>
                <a:lnTo>
                  <a:pt x="2221" y="406"/>
                </a:lnTo>
                <a:lnTo>
                  <a:pt x="2210" y="355"/>
                </a:lnTo>
                <a:lnTo>
                  <a:pt x="2205" y="302"/>
                </a:lnTo>
                <a:lnTo>
                  <a:pt x="2199" y="253"/>
                </a:lnTo>
                <a:lnTo>
                  <a:pt x="2193" y="208"/>
                </a:lnTo>
                <a:lnTo>
                  <a:pt x="2188" y="166"/>
                </a:lnTo>
                <a:lnTo>
                  <a:pt x="2182" y="129"/>
                </a:lnTo>
                <a:lnTo>
                  <a:pt x="2171" y="96"/>
                </a:lnTo>
                <a:lnTo>
                  <a:pt x="2165" y="67"/>
                </a:lnTo>
                <a:lnTo>
                  <a:pt x="2162" y="45"/>
                </a:lnTo>
                <a:lnTo>
                  <a:pt x="2157" y="28"/>
                </a:lnTo>
                <a:lnTo>
                  <a:pt x="2151" y="17"/>
                </a:lnTo>
                <a:lnTo>
                  <a:pt x="2140" y="6"/>
                </a:lnTo>
                <a:lnTo>
                  <a:pt x="2129" y="5"/>
                </a:lnTo>
                <a:lnTo>
                  <a:pt x="2118" y="5"/>
                </a:lnTo>
                <a:lnTo>
                  <a:pt x="2112" y="0"/>
                </a:lnTo>
                <a:lnTo>
                  <a:pt x="2106" y="5"/>
                </a:lnTo>
                <a:lnTo>
                  <a:pt x="2095" y="5"/>
                </a:lnTo>
                <a:lnTo>
                  <a:pt x="2087" y="6"/>
                </a:lnTo>
                <a:lnTo>
                  <a:pt x="2076" y="17"/>
                </a:lnTo>
                <a:lnTo>
                  <a:pt x="2070" y="28"/>
                </a:lnTo>
                <a:lnTo>
                  <a:pt x="2064" y="45"/>
                </a:lnTo>
                <a:lnTo>
                  <a:pt x="2059" y="67"/>
                </a:lnTo>
                <a:lnTo>
                  <a:pt x="2053" y="96"/>
                </a:lnTo>
                <a:lnTo>
                  <a:pt x="2048" y="129"/>
                </a:lnTo>
                <a:lnTo>
                  <a:pt x="2042" y="166"/>
                </a:lnTo>
                <a:lnTo>
                  <a:pt x="2036" y="208"/>
                </a:lnTo>
                <a:lnTo>
                  <a:pt x="2031" y="253"/>
                </a:lnTo>
                <a:lnTo>
                  <a:pt x="2028" y="302"/>
                </a:lnTo>
                <a:lnTo>
                  <a:pt x="2022" y="355"/>
                </a:lnTo>
                <a:lnTo>
                  <a:pt x="2022" y="406"/>
                </a:lnTo>
                <a:lnTo>
                  <a:pt x="2011" y="519"/>
                </a:lnTo>
                <a:lnTo>
                  <a:pt x="2000" y="638"/>
                </a:lnTo>
                <a:lnTo>
                  <a:pt x="1994" y="753"/>
                </a:lnTo>
                <a:lnTo>
                  <a:pt x="1983" y="866"/>
                </a:lnTo>
                <a:lnTo>
                  <a:pt x="1978" y="919"/>
                </a:lnTo>
                <a:lnTo>
                  <a:pt x="1978" y="972"/>
                </a:lnTo>
                <a:lnTo>
                  <a:pt x="1972" y="1021"/>
                </a:lnTo>
                <a:lnTo>
                  <a:pt x="1966" y="1066"/>
                </a:lnTo>
                <a:lnTo>
                  <a:pt x="1961" y="1107"/>
                </a:lnTo>
                <a:lnTo>
                  <a:pt x="1958" y="1146"/>
                </a:lnTo>
                <a:lnTo>
                  <a:pt x="1952" y="1178"/>
                </a:lnTo>
                <a:lnTo>
                  <a:pt x="1952" y="1207"/>
                </a:lnTo>
                <a:lnTo>
                  <a:pt x="1947" y="1229"/>
                </a:lnTo>
                <a:lnTo>
                  <a:pt x="1941" y="1246"/>
                </a:lnTo>
                <a:lnTo>
                  <a:pt x="1936" y="1258"/>
                </a:lnTo>
                <a:lnTo>
                  <a:pt x="1958" y="1243"/>
                </a:lnTo>
                <a:lnTo>
                  <a:pt x="1947" y="1246"/>
                </a:lnTo>
                <a:lnTo>
                  <a:pt x="1936" y="1258"/>
                </a:lnTo>
                <a:lnTo>
                  <a:pt x="1966" y="1258"/>
                </a:lnTo>
                <a:lnTo>
                  <a:pt x="1966" y="1243"/>
                </a:lnTo>
                <a:lnTo>
                  <a:pt x="1961" y="1246"/>
                </a:lnTo>
                <a:lnTo>
                  <a:pt x="1958" y="1243"/>
                </a:lnTo>
                <a:lnTo>
                  <a:pt x="1978" y="1246"/>
                </a:lnTo>
                <a:lnTo>
                  <a:pt x="1966" y="1243"/>
                </a:lnTo>
                <a:lnTo>
                  <a:pt x="1958" y="1258"/>
                </a:lnTo>
                <a:lnTo>
                  <a:pt x="1989" y="1258"/>
                </a:lnTo>
                <a:lnTo>
                  <a:pt x="1983" y="1246"/>
                </a:lnTo>
                <a:lnTo>
                  <a:pt x="1978" y="1229"/>
                </a:lnTo>
                <a:lnTo>
                  <a:pt x="1972" y="1207"/>
                </a:lnTo>
                <a:lnTo>
                  <a:pt x="1966" y="1178"/>
                </a:lnTo>
                <a:lnTo>
                  <a:pt x="1961" y="1146"/>
                </a:lnTo>
                <a:lnTo>
                  <a:pt x="1952" y="1107"/>
                </a:lnTo>
                <a:lnTo>
                  <a:pt x="1947" y="1066"/>
                </a:lnTo>
                <a:lnTo>
                  <a:pt x="1941" y="1021"/>
                </a:lnTo>
                <a:lnTo>
                  <a:pt x="1936" y="972"/>
                </a:lnTo>
                <a:lnTo>
                  <a:pt x="1930" y="919"/>
                </a:lnTo>
                <a:lnTo>
                  <a:pt x="1924" y="866"/>
                </a:lnTo>
                <a:lnTo>
                  <a:pt x="1913" y="753"/>
                </a:lnTo>
                <a:lnTo>
                  <a:pt x="1896" y="638"/>
                </a:lnTo>
                <a:lnTo>
                  <a:pt x="1888" y="519"/>
                </a:lnTo>
                <a:lnTo>
                  <a:pt x="1877" y="406"/>
                </a:lnTo>
                <a:lnTo>
                  <a:pt x="1871" y="355"/>
                </a:lnTo>
                <a:lnTo>
                  <a:pt x="1866" y="302"/>
                </a:lnTo>
                <a:lnTo>
                  <a:pt x="1860" y="253"/>
                </a:lnTo>
                <a:lnTo>
                  <a:pt x="1854" y="208"/>
                </a:lnTo>
                <a:lnTo>
                  <a:pt x="1849" y="166"/>
                </a:lnTo>
                <a:lnTo>
                  <a:pt x="1843" y="129"/>
                </a:lnTo>
                <a:lnTo>
                  <a:pt x="1837" y="96"/>
                </a:lnTo>
                <a:lnTo>
                  <a:pt x="1832" y="67"/>
                </a:lnTo>
                <a:lnTo>
                  <a:pt x="1826" y="45"/>
                </a:lnTo>
                <a:lnTo>
                  <a:pt x="1823" y="28"/>
                </a:lnTo>
                <a:lnTo>
                  <a:pt x="1818" y="17"/>
                </a:lnTo>
                <a:lnTo>
                  <a:pt x="1807" y="6"/>
                </a:lnTo>
                <a:lnTo>
                  <a:pt x="1795" y="5"/>
                </a:lnTo>
                <a:lnTo>
                  <a:pt x="1784" y="5"/>
                </a:lnTo>
                <a:lnTo>
                  <a:pt x="1779" y="0"/>
                </a:lnTo>
                <a:lnTo>
                  <a:pt x="1773" y="5"/>
                </a:lnTo>
                <a:lnTo>
                  <a:pt x="1762" y="5"/>
                </a:lnTo>
                <a:lnTo>
                  <a:pt x="1753" y="6"/>
                </a:lnTo>
                <a:lnTo>
                  <a:pt x="1742" y="17"/>
                </a:lnTo>
                <a:lnTo>
                  <a:pt x="1737" y="28"/>
                </a:lnTo>
                <a:lnTo>
                  <a:pt x="1731" y="45"/>
                </a:lnTo>
                <a:lnTo>
                  <a:pt x="1725" y="67"/>
                </a:lnTo>
                <a:lnTo>
                  <a:pt x="1725" y="96"/>
                </a:lnTo>
                <a:lnTo>
                  <a:pt x="1720" y="129"/>
                </a:lnTo>
                <a:lnTo>
                  <a:pt x="1714" y="166"/>
                </a:lnTo>
                <a:lnTo>
                  <a:pt x="1709" y="208"/>
                </a:lnTo>
                <a:lnTo>
                  <a:pt x="1709" y="253"/>
                </a:lnTo>
                <a:lnTo>
                  <a:pt x="1703" y="302"/>
                </a:lnTo>
                <a:lnTo>
                  <a:pt x="1697" y="355"/>
                </a:lnTo>
                <a:lnTo>
                  <a:pt x="1692" y="406"/>
                </a:lnTo>
                <a:lnTo>
                  <a:pt x="1689" y="519"/>
                </a:lnTo>
                <a:lnTo>
                  <a:pt x="1683" y="638"/>
                </a:lnTo>
                <a:lnTo>
                  <a:pt x="1672" y="753"/>
                </a:lnTo>
                <a:lnTo>
                  <a:pt x="1667" y="866"/>
                </a:lnTo>
                <a:lnTo>
                  <a:pt x="1661" y="919"/>
                </a:lnTo>
                <a:lnTo>
                  <a:pt x="1661" y="972"/>
                </a:lnTo>
                <a:lnTo>
                  <a:pt x="1655" y="1021"/>
                </a:lnTo>
                <a:lnTo>
                  <a:pt x="1650" y="1066"/>
                </a:lnTo>
                <a:lnTo>
                  <a:pt x="1644" y="1107"/>
                </a:lnTo>
                <a:lnTo>
                  <a:pt x="1644" y="1146"/>
                </a:lnTo>
                <a:lnTo>
                  <a:pt x="1639" y="1178"/>
                </a:lnTo>
                <a:lnTo>
                  <a:pt x="1633" y="1207"/>
                </a:lnTo>
                <a:lnTo>
                  <a:pt x="1627" y="1229"/>
                </a:lnTo>
                <a:lnTo>
                  <a:pt x="1627" y="1246"/>
                </a:lnTo>
                <a:lnTo>
                  <a:pt x="1625" y="1258"/>
                </a:lnTo>
                <a:lnTo>
                  <a:pt x="1639" y="1243"/>
                </a:lnTo>
                <a:lnTo>
                  <a:pt x="1633" y="1246"/>
                </a:lnTo>
                <a:lnTo>
                  <a:pt x="1625" y="1258"/>
                </a:lnTo>
                <a:lnTo>
                  <a:pt x="1655" y="1258"/>
                </a:lnTo>
                <a:lnTo>
                  <a:pt x="1655" y="1243"/>
                </a:lnTo>
                <a:lnTo>
                  <a:pt x="1650" y="1246"/>
                </a:lnTo>
                <a:lnTo>
                  <a:pt x="1644" y="1243"/>
                </a:lnTo>
                <a:lnTo>
                  <a:pt x="1667" y="1246"/>
                </a:lnTo>
                <a:lnTo>
                  <a:pt x="1661" y="1243"/>
                </a:lnTo>
                <a:lnTo>
                  <a:pt x="1644" y="1258"/>
                </a:lnTo>
                <a:lnTo>
                  <a:pt x="1678" y="1258"/>
                </a:lnTo>
                <a:lnTo>
                  <a:pt x="1672" y="1246"/>
                </a:lnTo>
                <a:lnTo>
                  <a:pt x="1667" y="1229"/>
                </a:lnTo>
                <a:lnTo>
                  <a:pt x="1661" y="1207"/>
                </a:lnTo>
                <a:lnTo>
                  <a:pt x="1661" y="1178"/>
                </a:lnTo>
                <a:lnTo>
                  <a:pt x="1655" y="1146"/>
                </a:lnTo>
                <a:lnTo>
                  <a:pt x="1650" y="1109"/>
                </a:lnTo>
                <a:lnTo>
                  <a:pt x="1644" y="1066"/>
                </a:lnTo>
                <a:lnTo>
                  <a:pt x="1639" y="1023"/>
                </a:lnTo>
                <a:lnTo>
                  <a:pt x="1633" y="972"/>
                </a:lnTo>
                <a:lnTo>
                  <a:pt x="1627" y="922"/>
                </a:lnTo>
                <a:lnTo>
                  <a:pt x="1625" y="869"/>
                </a:lnTo>
                <a:lnTo>
                  <a:pt x="1613" y="756"/>
                </a:lnTo>
                <a:lnTo>
                  <a:pt x="1597" y="640"/>
                </a:lnTo>
                <a:lnTo>
                  <a:pt x="1585" y="525"/>
                </a:lnTo>
                <a:lnTo>
                  <a:pt x="1574" y="412"/>
                </a:lnTo>
                <a:lnTo>
                  <a:pt x="1569" y="360"/>
                </a:lnTo>
                <a:lnTo>
                  <a:pt x="1563" y="307"/>
                </a:lnTo>
                <a:lnTo>
                  <a:pt x="1557" y="259"/>
                </a:lnTo>
                <a:lnTo>
                  <a:pt x="1555" y="213"/>
                </a:lnTo>
                <a:lnTo>
                  <a:pt x="1549" y="172"/>
                </a:lnTo>
                <a:lnTo>
                  <a:pt x="1543" y="132"/>
                </a:lnTo>
                <a:lnTo>
                  <a:pt x="1538" y="99"/>
                </a:lnTo>
                <a:lnTo>
                  <a:pt x="1532" y="73"/>
                </a:lnTo>
                <a:lnTo>
                  <a:pt x="1526" y="50"/>
                </a:lnTo>
                <a:lnTo>
                  <a:pt x="1521" y="33"/>
                </a:lnTo>
                <a:lnTo>
                  <a:pt x="1515" y="22"/>
                </a:lnTo>
                <a:lnTo>
                  <a:pt x="1504" y="11"/>
                </a:lnTo>
                <a:lnTo>
                  <a:pt x="1493" y="10"/>
                </a:lnTo>
                <a:lnTo>
                  <a:pt x="1484" y="10"/>
                </a:lnTo>
                <a:lnTo>
                  <a:pt x="1484" y="5"/>
                </a:lnTo>
                <a:lnTo>
                  <a:pt x="1479" y="5"/>
                </a:lnTo>
                <a:lnTo>
                  <a:pt x="1473" y="10"/>
                </a:lnTo>
                <a:lnTo>
                  <a:pt x="1462" y="10"/>
                </a:lnTo>
                <a:lnTo>
                  <a:pt x="1451" y="11"/>
                </a:lnTo>
                <a:lnTo>
                  <a:pt x="1440" y="22"/>
                </a:lnTo>
                <a:lnTo>
                  <a:pt x="1434" y="33"/>
                </a:lnTo>
                <a:lnTo>
                  <a:pt x="1428" y="50"/>
                </a:lnTo>
                <a:lnTo>
                  <a:pt x="1423" y="70"/>
                </a:lnTo>
                <a:lnTo>
                  <a:pt x="1420" y="99"/>
                </a:lnTo>
                <a:lnTo>
                  <a:pt x="1414" y="132"/>
                </a:lnTo>
                <a:lnTo>
                  <a:pt x="1409" y="169"/>
                </a:lnTo>
                <a:lnTo>
                  <a:pt x="1403" y="213"/>
                </a:lnTo>
                <a:lnTo>
                  <a:pt x="1398" y="256"/>
                </a:lnTo>
                <a:lnTo>
                  <a:pt x="1392" y="304"/>
                </a:lnTo>
                <a:lnTo>
                  <a:pt x="1386" y="357"/>
                </a:lnTo>
                <a:lnTo>
                  <a:pt x="1381" y="409"/>
                </a:lnTo>
                <a:lnTo>
                  <a:pt x="1370" y="522"/>
                </a:lnTo>
                <a:lnTo>
                  <a:pt x="1358" y="638"/>
                </a:lnTo>
                <a:lnTo>
                  <a:pt x="1350" y="753"/>
                </a:lnTo>
                <a:lnTo>
                  <a:pt x="1339" y="864"/>
                </a:lnTo>
                <a:lnTo>
                  <a:pt x="1333" y="917"/>
                </a:lnTo>
                <a:lnTo>
                  <a:pt x="1333" y="969"/>
                </a:lnTo>
                <a:lnTo>
                  <a:pt x="1328" y="1018"/>
                </a:lnTo>
                <a:lnTo>
                  <a:pt x="1322" y="1063"/>
                </a:lnTo>
                <a:lnTo>
                  <a:pt x="1316" y="1104"/>
                </a:lnTo>
                <a:lnTo>
                  <a:pt x="1311" y="1143"/>
                </a:lnTo>
                <a:lnTo>
                  <a:pt x="1305" y="1174"/>
                </a:lnTo>
                <a:lnTo>
                  <a:pt x="1300" y="1203"/>
                </a:lnTo>
                <a:lnTo>
                  <a:pt x="1294" y="1224"/>
                </a:lnTo>
                <a:lnTo>
                  <a:pt x="1294" y="1241"/>
                </a:lnTo>
                <a:lnTo>
                  <a:pt x="1288" y="1253"/>
                </a:lnTo>
                <a:lnTo>
                  <a:pt x="1305" y="1238"/>
                </a:lnTo>
                <a:lnTo>
                  <a:pt x="1300" y="1241"/>
                </a:lnTo>
                <a:lnTo>
                  <a:pt x="1288" y="1253"/>
                </a:lnTo>
                <a:lnTo>
                  <a:pt x="1322" y="1253"/>
                </a:lnTo>
                <a:lnTo>
                  <a:pt x="1322" y="1238"/>
                </a:lnTo>
                <a:lnTo>
                  <a:pt x="1316" y="1241"/>
                </a:lnTo>
                <a:lnTo>
                  <a:pt x="1316" y="1256"/>
                </a:lnTo>
                <a:lnTo>
                  <a:pt x="1322" y="1241"/>
                </a:lnTo>
                <a:lnTo>
                  <a:pt x="1311" y="1236"/>
                </a:lnTo>
                <a:lnTo>
                  <a:pt x="1339" y="1241"/>
                </a:lnTo>
                <a:lnTo>
                  <a:pt x="1328" y="1238"/>
                </a:lnTo>
                <a:lnTo>
                  <a:pt x="1311" y="1251"/>
                </a:lnTo>
                <a:lnTo>
                  <a:pt x="1344" y="1251"/>
                </a:lnTo>
                <a:lnTo>
                  <a:pt x="1344" y="1241"/>
                </a:lnTo>
                <a:lnTo>
                  <a:pt x="1339" y="1224"/>
                </a:lnTo>
                <a:lnTo>
                  <a:pt x="1339" y="1203"/>
                </a:lnTo>
                <a:lnTo>
                  <a:pt x="1333" y="1174"/>
                </a:lnTo>
                <a:lnTo>
                  <a:pt x="1333" y="1140"/>
                </a:lnTo>
                <a:lnTo>
                  <a:pt x="1328" y="1102"/>
                </a:lnTo>
                <a:lnTo>
                  <a:pt x="1328" y="1061"/>
                </a:lnTo>
                <a:lnTo>
                  <a:pt x="1322" y="1015"/>
                </a:lnTo>
                <a:lnTo>
                  <a:pt x="1322" y="967"/>
                </a:lnTo>
                <a:lnTo>
                  <a:pt x="1316" y="914"/>
                </a:lnTo>
                <a:lnTo>
                  <a:pt x="1316" y="862"/>
                </a:lnTo>
                <a:lnTo>
                  <a:pt x="1311" y="749"/>
                </a:lnTo>
                <a:lnTo>
                  <a:pt x="1305" y="634"/>
                </a:lnTo>
                <a:lnTo>
                  <a:pt x="1305" y="518"/>
                </a:lnTo>
                <a:lnTo>
                  <a:pt x="1300" y="405"/>
                </a:lnTo>
                <a:lnTo>
                  <a:pt x="1294" y="352"/>
                </a:lnTo>
                <a:lnTo>
                  <a:pt x="1294" y="302"/>
                </a:lnTo>
                <a:lnTo>
                  <a:pt x="1288" y="253"/>
                </a:lnTo>
                <a:lnTo>
                  <a:pt x="1288" y="208"/>
                </a:lnTo>
                <a:lnTo>
                  <a:pt x="1286" y="164"/>
                </a:lnTo>
                <a:lnTo>
                  <a:pt x="1286" y="129"/>
                </a:lnTo>
                <a:lnTo>
                  <a:pt x="1280" y="96"/>
                </a:lnTo>
                <a:lnTo>
                  <a:pt x="1280" y="67"/>
                </a:lnTo>
                <a:lnTo>
                  <a:pt x="1274" y="45"/>
                </a:lnTo>
                <a:lnTo>
                  <a:pt x="1269" y="28"/>
                </a:lnTo>
                <a:lnTo>
                  <a:pt x="1269" y="17"/>
                </a:lnTo>
                <a:lnTo>
                  <a:pt x="1258" y="6"/>
                </a:lnTo>
                <a:lnTo>
                  <a:pt x="1246" y="5"/>
                </a:lnTo>
                <a:lnTo>
                  <a:pt x="1235" y="5"/>
                </a:lnTo>
                <a:lnTo>
                  <a:pt x="1229" y="0"/>
                </a:lnTo>
                <a:lnTo>
                  <a:pt x="1224" y="5"/>
                </a:lnTo>
                <a:lnTo>
                  <a:pt x="1215" y="5"/>
                </a:lnTo>
                <a:lnTo>
                  <a:pt x="1204" y="6"/>
                </a:lnTo>
                <a:lnTo>
                  <a:pt x="1193" y="17"/>
                </a:lnTo>
                <a:lnTo>
                  <a:pt x="1193" y="28"/>
                </a:lnTo>
                <a:lnTo>
                  <a:pt x="1187" y="45"/>
                </a:lnTo>
                <a:lnTo>
                  <a:pt x="1182" y="67"/>
                </a:lnTo>
                <a:lnTo>
                  <a:pt x="1176" y="96"/>
                </a:lnTo>
                <a:lnTo>
                  <a:pt x="1176" y="129"/>
                </a:lnTo>
                <a:lnTo>
                  <a:pt x="1171" y="164"/>
                </a:lnTo>
                <a:lnTo>
                  <a:pt x="1165" y="208"/>
                </a:lnTo>
                <a:lnTo>
                  <a:pt x="1159" y="253"/>
                </a:lnTo>
                <a:lnTo>
                  <a:pt x="1154" y="302"/>
                </a:lnTo>
                <a:lnTo>
                  <a:pt x="1151" y="352"/>
                </a:lnTo>
                <a:lnTo>
                  <a:pt x="1145" y="406"/>
                </a:lnTo>
                <a:lnTo>
                  <a:pt x="1134" y="518"/>
                </a:lnTo>
                <a:lnTo>
                  <a:pt x="1123" y="635"/>
                </a:lnTo>
                <a:lnTo>
                  <a:pt x="1112" y="751"/>
                </a:lnTo>
                <a:lnTo>
                  <a:pt x="1106" y="862"/>
                </a:lnTo>
                <a:lnTo>
                  <a:pt x="1101" y="917"/>
                </a:lnTo>
                <a:lnTo>
                  <a:pt x="1095" y="967"/>
                </a:lnTo>
                <a:lnTo>
                  <a:pt x="1089" y="1015"/>
                </a:lnTo>
                <a:lnTo>
                  <a:pt x="1087" y="1061"/>
                </a:lnTo>
                <a:lnTo>
                  <a:pt x="1081" y="1104"/>
                </a:lnTo>
                <a:lnTo>
                  <a:pt x="1075" y="1140"/>
                </a:lnTo>
                <a:lnTo>
                  <a:pt x="1070" y="1174"/>
                </a:lnTo>
                <a:lnTo>
                  <a:pt x="1064" y="1203"/>
                </a:lnTo>
                <a:lnTo>
                  <a:pt x="1059" y="1224"/>
                </a:lnTo>
                <a:lnTo>
                  <a:pt x="1059" y="1241"/>
                </a:lnTo>
                <a:lnTo>
                  <a:pt x="1053" y="1253"/>
                </a:lnTo>
                <a:lnTo>
                  <a:pt x="1070" y="1238"/>
                </a:lnTo>
                <a:lnTo>
                  <a:pt x="1064" y="1241"/>
                </a:lnTo>
                <a:lnTo>
                  <a:pt x="1053" y="1253"/>
                </a:lnTo>
                <a:lnTo>
                  <a:pt x="1087" y="1253"/>
                </a:lnTo>
                <a:lnTo>
                  <a:pt x="1087" y="1238"/>
                </a:lnTo>
                <a:lnTo>
                  <a:pt x="1081" y="1241"/>
                </a:lnTo>
                <a:lnTo>
                  <a:pt x="1075" y="1238"/>
                </a:lnTo>
                <a:lnTo>
                  <a:pt x="1101" y="1241"/>
                </a:lnTo>
                <a:lnTo>
                  <a:pt x="1089" y="1238"/>
                </a:lnTo>
                <a:lnTo>
                  <a:pt x="1075" y="1253"/>
                </a:lnTo>
                <a:lnTo>
                  <a:pt x="1106" y="1253"/>
                </a:lnTo>
                <a:lnTo>
                  <a:pt x="1106" y="1241"/>
                </a:lnTo>
                <a:lnTo>
                  <a:pt x="1101" y="1224"/>
                </a:lnTo>
                <a:lnTo>
                  <a:pt x="1101" y="1203"/>
                </a:lnTo>
                <a:lnTo>
                  <a:pt x="1095" y="1174"/>
                </a:lnTo>
                <a:lnTo>
                  <a:pt x="1095" y="1140"/>
                </a:lnTo>
                <a:lnTo>
                  <a:pt x="1089" y="1104"/>
                </a:lnTo>
                <a:lnTo>
                  <a:pt x="1089" y="1061"/>
                </a:lnTo>
                <a:lnTo>
                  <a:pt x="1087" y="1015"/>
                </a:lnTo>
                <a:lnTo>
                  <a:pt x="1087" y="967"/>
                </a:lnTo>
                <a:lnTo>
                  <a:pt x="1081" y="917"/>
                </a:lnTo>
                <a:lnTo>
                  <a:pt x="1081" y="862"/>
                </a:lnTo>
                <a:lnTo>
                  <a:pt x="1075" y="751"/>
                </a:lnTo>
                <a:lnTo>
                  <a:pt x="1070" y="635"/>
                </a:lnTo>
                <a:lnTo>
                  <a:pt x="1064" y="518"/>
                </a:lnTo>
                <a:lnTo>
                  <a:pt x="1059" y="406"/>
                </a:lnTo>
                <a:lnTo>
                  <a:pt x="1059" y="352"/>
                </a:lnTo>
                <a:lnTo>
                  <a:pt x="1053" y="302"/>
                </a:lnTo>
                <a:lnTo>
                  <a:pt x="1053" y="253"/>
                </a:lnTo>
                <a:lnTo>
                  <a:pt x="1047" y="208"/>
                </a:lnTo>
                <a:lnTo>
                  <a:pt x="1047" y="164"/>
                </a:lnTo>
                <a:lnTo>
                  <a:pt x="1042" y="129"/>
                </a:lnTo>
                <a:lnTo>
                  <a:pt x="1036" y="96"/>
                </a:lnTo>
                <a:lnTo>
                  <a:pt x="1036" y="67"/>
                </a:lnTo>
                <a:lnTo>
                  <a:pt x="1031" y="45"/>
                </a:lnTo>
                <a:lnTo>
                  <a:pt x="1025" y="28"/>
                </a:lnTo>
                <a:lnTo>
                  <a:pt x="1025" y="17"/>
                </a:lnTo>
                <a:lnTo>
                  <a:pt x="1017" y="6"/>
                </a:lnTo>
                <a:lnTo>
                  <a:pt x="1005" y="5"/>
                </a:lnTo>
                <a:lnTo>
                  <a:pt x="994" y="5"/>
                </a:lnTo>
                <a:lnTo>
                  <a:pt x="989" y="0"/>
                </a:lnTo>
                <a:lnTo>
                  <a:pt x="983" y="5"/>
                </a:lnTo>
                <a:lnTo>
                  <a:pt x="972" y="5"/>
                </a:lnTo>
                <a:lnTo>
                  <a:pt x="961" y="6"/>
                </a:lnTo>
                <a:lnTo>
                  <a:pt x="952" y="17"/>
                </a:lnTo>
                <a:lnTo>
                  <a:pt x="947" y="28"/>
                </a:lnTo>
                <a:lnTo>
                  <a:pt x="941" y="45"/>
                </a:lnTo>
                <a:lnTo>
                  <a:pt x="935" y="70"/>
                </a:lnTo>
                <a:lnTo>
                  <a:pt x="930" y="96"/>
                </a:lnTo>
                <a:lnTo>
                  <a:pt x="924" y="129"/>
                </a:lnTo>
                <a:lnTo>
                  <a:pt x="918" y="166"/>
                </a:lnTo>
                <a:lnTo>
                  <a:pt x="913" y="211"/>
                </a:lnTo>
                <a:lnTo>
                  <a:pt x="907" y="256"/>
                </a:lnTo>
                <a:lnTo>
                  <a:pt x="902" y="304"/>
                </a:lnTo>
                <a:lnTo>
                  <a:pt x="896" y="355"/>
                </a:lnTo>
                <a:lnTo>
                  <a:pt x="890" y="409"/>
                </a:lnTo>
                <a:lnTo>
                  <a:pt x="882" y="522"/>
                </a:lnTo>
                <a:lnTo>
                  <a:pt x="865" y="638"/>
                </a:lnTo>
                <a:lnTo>
                  <a:pt x="854" y="753"/>
                </a:lnTo>
                <a:lnTo>
                  <a:pt x="843" y="866"/>
                </a:lnTo>
                <a:lnTo>
                  <a:pt x="837" y="919"/>
                </a:lnTo>
                <a:lnTo>
                  <a:pt x="832" y="972"/>
                </a:lnTo>
                <a:lnTo>
                  <a:pt x="826" y="1021"/>
                </a:lnTo>
                <a:lnTo>
                  <a:pt x="820" y="1066"/>
                </a:lnTo>
                <a:lnTo>
                  <a:pt x="818" y="1109"/>
                </a:lnTo>
                <a:lnTo>
                  <a:pt x="812" y="1146"/>
                </a:lnTo>
                <a:lnTo>
                  <a:pt x="806" y="1178"/>
                </a:lnTo>
                <a:lnTo>
                  <a:pt x="801" y="1207"/>
                </a:lnTo>
                <a:lnTo>
                  <a:pt x="795" y="1229"/>
                </a:lnTo>
                <a:lnTo>
                  <a:pt x="790" y="1246"/>
                </a:lnTo>
                <a:lnTo>
                  <a:pt x="790" y="1258"/>
                </a:lnTo>
                <a:lnTo>
                  <a:pt x="806" y="1243"/>
                </a:lnTo>
                <a:lnTo>
                  <a:pt x="795" y="1246"/>
                </a:lnTo>
                <a:lnTo>
                  <a:pt x="790" y="1258"/>
                </a:lnTo>
                <a:lnTo>
                  <a:pt x="820" y="1258"/>
                </a:lnTo>
                <a:lnTo>
                  <a:pt x="820" y="1243"/>
                </a:lnTo>
                <a:lnTo>
                  <a:pt x="818" y="1246"/>
                </a:lnTo>
                <a:lnTo>
                  <a:pt x="812" y="1243"/>
                </a:lnTo>
                <a:lnTo>
                  <a:pt x="837" y="1246"/>
                </a:lnTo>
                <a:lnTo>
                  <a:pt x="826" y="1243"/>
                </a:lnTo>
                <a:lnTo>
                  <a:pt x="812" y="1258"/>
                </a:lnTo>
                <a:lnTo>
                  <a:pt x="843" y="1258"/>
                </a:lnTo>
                <a:lnTo>
                  <a:pt x="843" y="1246"/>
                </a:lnTo>
                <a:lnTo>
                  <a:pt x="837" y="1229"/>
                </a:lnTo>
                <a:lnTo>
                  <a:pt x="837" y="1207"/>
                </a:lnTo>
                <a:lnTo>
                  <a:pt x="832" y="1178"/>
                </a:lnTo>
                <a:lnTo>
                  <a:pt x="832" y="1146"/>
                </a:lnTo>
                <a:lnTo>
                  <a:pt x="826" y="1107"/>
                </a:lnTo>
                <a:lnTo>
                  <a:pt x="826" y="1066"/>
                </a:lnTo>
                <a:lnTo>
                  <a:pt x="826" y="1021"/>
                </a:lnTo>
                <a:lnTo>
                  <a:pt x="820" y="972"/>
                </a:lnTo>
                <a:lnTo>
                  <a:pt x="820" y="919"/>
                </a:lnTo>
                <a:lnTo>
                  <a:pt x="820" y="866"/>
                </a:lnTo>
                <a:lnTo>
                  <a:pt x="818" y="753"/>
                </a:lnTo>
                <a:lnTo>
                  <a:pt x="818" y="638"/>
                </a:lnTo>
                <a:lnTo>
                  <a:pt x="812" y="519"/>
                </a:lnTo>
                <a:lnTo>
                  <a:pt x="812" y="406"/>
                </a:lnTo>
                <a:lnTo>
                  <a:pt x="806" y="355"/>
                </a:lnTo>
                <a:lnTo>
                  <a:pt x="806" y="302"/>
                </a:lnTo>
                <a:lnTo>
                  <a:pt x="806" y="253"/>
                </a:lnTo>
                <a:lnTo>
                  <a:pt x="801" y="208"/>
                </a:lnTo>
                <a:lnTo>
                  <a:pt x="801" y="166"/>
                </a:lnTo>
                <a:lnTo>
                  <a:pt x="801" y="129"/>
                </a:lnTo>
                <a:lnTo>
                  <a:pt x="795" y="96"/>
                </a:lnTo>
                <a:lnTo>
                  <a:pt x="795" y="67"/>
                </a:lnTo>
                <a:lnTo>
                  <a:pt x="795" y="45"/>
                </a:lnTo>
                <a:lnTo>
                  <a:pt x="790" y="28"/>
                </a:lnTo>
                <a:lnTo>
                  <a:pt x="790" y="17"/>
                </a:lnTo>
                <a:lnTo>
                  <a:pt x="778" y="6"/>
                </a:lnTo>
                <a:lnTo>
                  <a:pt x="767" y="5"/>
                </a:lnTo>
                <a:lnTo>
                  <a:pt x="756" y="5"/>
                </a:lnTo>
                <a:lnTo>
                  <a:pt x="750" y="0"/>
                </a:lnTo>
                <a:lnTo>
                  <a:pt x="748" y="5"/>
                </a:lnTo>
                <a:lnTo>
                  <a:pt x="736" y="5"/>
                </a:lnTo>
                <a:lnTo>
                  <a:pt x="725" y="6"/>
                </a:lnTo>
                <a:lnTo>
                  <a:pt x="714" y="17"/>
                </a:lnTo>
                <a:lnTo>
                  <a:pt x="714" y="28"/>
                </a:lnTo>
                <a:lnTo>
                  <a:pt x="708" y="45"/>
                </a:lnTo>
                <a:lnTo>
                  <a:pt x="708" y="67"/>
                </a:lnTo>
                <a:lnTo>
                  <a:pt x="703" y="96"/>
                </a:lnTo>
                <a:lnTo>
                  <a:pt x="697" y="129"/>
                </a:lnTo>
                <a:lnTo>
                  <a:pt x="692" y="166"/>
                </a:lnTo>
                <a:lnTo>
                  <a:pt x="692" y="208"/>
                </a:lnTo>
                <a:lnTo>
                  <a:pt x="686" y="253"/>
                </a:lnTo>
                <a:lnTo>
                  <a:pt x="683" y="302"/>
                </a:lnTo>
                <a:lnTo>
                  <a:pt x="678" y="355"/>
                </a:lnTo>
                <a:lnTo>
                  <a:pt x="678" y="406"/>
                </a:lnTo>
                <a:lnTo>
                  <a:pt x="666" y="519"/>
                </a:lnTo>
                <a:lnTo>
                  <a:pt x="655" y="638"/>
                </a:lnTo>
                <a:lnTo>
                  <a:pt x="650" y="753"/>
                </a:lnTo>
                <a:lnTo>
                  <a:pt x="638" y="866"/>
                </a:lnTo>
                <a:lnTo>
                  <a:pt x="633" y="919"/>
                </a:lnTo>
                <a:lnTo>
                  <a:pt x="627" y="972"/>
                </a:lnTo>
                <a:lnTo>
                  <a:pt x="627" y="1021"/>
                </a:lnTo>
                <a:lnTo>
                  <a:pt x="622" y="1066"/>
                </a:lnTo>
                <a:lnTo>
                  <a:pt x="616" y="1107"/>
                </a:lnTo>
                <a:lnTo>
                  <a:pt x="613" y="1146"/>
                </a:lnTo>
                <a:lnTo>
                  <a:pt x="613" y="1178"/>
                </a:lnTo>
                <a:lnTo>
                  <a:pt x="607" y="1207"/>
                </a:lnTo>
                <a:lnTo>
                  <a:pt x="602" y="1229"/>
                </a:lnTo>
                <a:lnTo>
                  <a:pt x="596" y="1246"/>
                </a:lnTo>
                <a:lnTo>
                  <a:pt x="596" y="1258"/>
                </a:lnTo>
                <a:lnTo>
                  <a:pt x="613" y="1243"/>
                </a:lnTo>
                <a:lnTo>
                  <a:pt x="602" y="1246"/>
                </a:lnTo>
                <a:lnTo>
                  <a:pt x="596" y="1258"/>
                </a:lnTo>
                <a:lnTo>
                  <a:pt x="627" y="1258"/>
                </a:lnTo>
                <a:lnTo>
                  <a:pt x="627" y="1243"/>
                </a:lnTo>
                <a:lnTo>
                  <a:pt x="622" y="1246"/>
                </a:lnTo>
                <a:lnTo>
                  <a:pt x="616" y="1243"/>
                </a:lnTo>
                <a:lnTo>
                  <a:pt x="644" y="1246"/>
                </a:lnTo>
                <a:lnTo>
                  <a:pt x="633" y="1243"/>
                </a:lnTo>
                <a:lnTo>
                  <a:pt x="616" y="1258"/>
                </a:lnTo>
                <a:lnTo>
                  <a:pt x="650" y="1258"/>
                </a:lnTo>
                <a:lnTo>
                  <a:pt x="650" y="1246"/>
                </a:lnTo>
                <a:lnTo>
                  <a:pt x="644" y="1229"/>
                </a:lnTo>
                <a:lnTo>
                  <a:pt x="644" y="1207"/>
                </a:lnTo>
                <a:lnTo>
                  <a:pt x="638" y="1178"/>
                </a:lnTo>
                <a:lnTo>
                  <a:pt x="638" y="1146"/>
                </a:lnTo>
                <a:lnTo>
                  <a:pt x="633" y="1107"/>
                </a:lnTo>
                <a:lnTo>
                  <a:pt x="633" y="1066"/>
                </a:lnTo>
                <a:lnTo>
                  <a:pt x="627" y="1021"/>
                </a:lnTo>
                <a:lnTo>
                  <a:pt x="627" y="972"/>
                </a:lnTo>
                <a:lnTo>
                  <a:pt x="622" y="919"/>
                </a:lnTo>
                <a:lnTo>
                  <a:pt x="622" y="866"/>
                </a:lnTo>
                <a:lnTo>
                  <a:pt x="616" y="753"/>
                </a:lnTo>
                <a:lnTo>
                  <a:pt x="613" y="638"/>
                </a:lnTo>
                <a:lnTo>
                  <a:pt x="607" y="519"/>
                </a:lnTo>
                <a:lnTo>
                  <a:pt x="602" y="406"/>
                </a:lnTo>
                <a:lnTo>
                  <a:pt x="602" y="355"/>
                </a:lnTo>
                <a:lnTo>
                  <a:pt x="596" y="302"/>
                </a:lnTo>
                <a:lnTo>
                  <a:pt x="596" y="253"/>
                </a:lnTo>
                <a:lnTo>
                  <a:pt x="596" y="208"/>
                </a:lnTo>
                <a:lnTo>
                  <a:pt x="591" y="166"/>
                </a:lnTo>
                <a:lnTo>
                  <a:pt x="591" y="129"/>
                </a:lnTo>
                <a:lnTo>
                  <a:pt x="585" y="96"/>
                </a:lnTo>
                <a:lnTo>
                  <a:pt x="579" y="67"/>
                </a:lnTo>
                <a:lnTo>
                  <a:pt x="579" y="45"/>
                </a:lnTo>
                <a:lnTo>
                  <a:pt x="574" y="28"/>
                </a:lnTo>
                <a:lnTo>
                  <a:pt x="574" y="17"/>
                </a:lnTo>
                <a:lnTo>
                  <a:pt x="563" y="6"/>
                </a:lnTo>
                <a:lnTo>
                  <a:pt x="551" y="5"/>
                </a:lnTo>
                <a:lnTo>
                  <a:pt x="543" y="5"/>
                </a:lnTo>
                <a:lnTo>
                  <a:pt x="537" y="0"/>
                </a:lnTo>
                <a:lnTo>
                  <a:pt x="532" y="5"/>
                </a:lnTo>
                <a:lnTo>
                  <a:pt x="521" y="5"/>
                </a:lnTo>
                <a:lnTo>
                  <a:pt x="509" y="6"/>
                </a:lnTo>
                <a:lnTo>
                  <a:pt x="498" y="17"/>
                </a:lnTo>
                <a:lnTo>
                  <a:pt x="498" y="28"/>
                </a:lnTo>
                <a:lnTo>
                  <a:pt x="493" y="45"/>
                </a:lnTo>
                <a:lnTo>
                  <a:pt x="487" y="67"/>
                </a:lnTo>
                <a:lnTo>
                  <a:pt x="481" y="96"/>
                </a:lnTo>
                <a:lnTo>
                  <a:pt x="479" y="129"/>
                </a:lnTo>
                <a:lnTo>
                  <a:pt x="479" y="166"/>
                </a:lnTo>
                <a:lnTo>
                  <a:pt x="473" y="208"/>
                </a:lnTo>
                <a:lnTo>
                  <a:pt x="467" y="253"/>
                </a:lnTo>
                <a:lnTo>
                  <a:pt x="462" y="302"/>
                </a:lnTo>
                <a:lnTo>
                  <a:pt x="456" y="355"/>
                </a:lnTo>
                <a:lnTo>
                  <a:pt x="451" y="406"/>
                </a:lnTo>
                <a:lnTo>
                  <a:pt x="439" y="519"/>
                </a:lnTo>
                <a:lnTo>
                  <a:pt x="428" y="638"/>
                </a:lnTo>
                <a:lnTo>
                  <a:pt x="417" y="753"/>
                </a:lnTo>
                <a:lnTo>
                  <a:pt x="409" y="866"/>
                </a:lnTo>
                <a:lnTo>
                  <a:pt x="403" y="919"/>
                </a:lnTo>
                <a:lnTo>
                  <a:pt x="397" y="972"/>
                </a:lnTo>
                <a:lnTo>
                  <a:pt x="392" y="1021"/>
                </a:lnTo>
                <a:lnTo>
                  <a:pt x="386" y="1066"/>
                </a:lnTo>
                <a:lnTo>
                  <a:pt x="381" y="1107"/>
                </a:lnTo>
                <a:lnTo>
                  <a:pt x="381" y="1146"/>
                </a:lnTo>
                <a:lnTo>
                  <a:pt x="375" y="1178"/>
                </a:lnTo>
                <a:lnTo>
                  <a:pt x="369" y="1207"/>
                </a:lnTo>
                <a:lnTo>
                  <a:pt x="364" y="1229"/>
                </a:lnTo>
                <a:lnTo>
                  <a:pt x="358" y="1246"/>
                </a:lnTo>
                <a:lnTo>
                  <a:pt x="358" y="1258"/>
                </a:lnTo>
                <a:lnTo>
                  <a:pt x="375" y="1243"/>
                </a:lnTo>
                <a:lnTo>
                  <a:pt x="364" y="1246"/>
                </a:lnTo>
                <a:lnTo>
                  <a:pt x="358" y="1258"/>
                </a:lnTo>
                <a:lnTo>
                  <a:pt x="392" y="1258"/>
                </a:lnTo>
                <a:lnTo>
                  <a:pt x="392" y="1243"/>
                </a:lnTo>
                <a:lnTo>
                  <a:pt x="386" y="1246"/>
                </a:lnTo>
                <a:lnTo>
                  <a:pt x="381" y="1243"/>
                </a:lnTo>
                <a:lnTo>
                  <a:pt x="409" y="1246"/>
                </a:lnTo>
                <a:lnTo>
                  <a:pt x="397" y="1243"/>
                </a:lnTo>
                <a:lnTo>
                  <a:pt x="381" y="1258"/>
                </a:lnTo>
                <a:lnTo>
                  <a:pt x="414" y="1258"/>
                </a:lnTo>
                <a:lnTo>
                  <a:pt x="414" y="1246"/>
                </a:lnTo>
                <a:lnTo>
                  <a:pt x="409" y="1229"/>
                </a:lnTo>
                <a:lnTo>
                  <a:pt x="409" y="1207"/>
                </a:lnTo>
                <a:lnTo>
                  <a:pt x="403" y="1178"/>
                </a:lnTo>
                <a:lnTo>
                  <a:pt x="403" y="1146"/>
                </a:lnTo>
                <a:lnTo>
                  <a:pt x="397" y="1107"/>
                </a:lnTo>
                <a:lnTo>
                  <a:pt x="397" y="1066"/>
                </a:lnTo>
                <a:lnTo>
                  <a:pt x="397" y="1021"/>
                </a:lnTo>
                <a:lnTo>
                  <a:pt x="392" y="972"/>
                </a:lnTo>
                <a:lnTo>
                  <a:pt x="392" y="919"/>
                </a:lnTo>
                <a:lnTo>
                  <a:pt x="392" y="866"/>
                </a:lnTo>
                <a:lnTo>
                  <a:pt x="386" y="753"/>
                </a:lnTo>
                <a:lnTo>
                  <a:pt x="386" y="638"/>
                </a:lnTo>
                <a:lnTo>
                  <a:pt x="381" y="519"/>
                </a:lnTo>
                <a:lnTo>
                  <a:pt x="375" y="406"/>
                </a:lnTo>
                <a:lnTo>
                  <a:pt x="375" y="355"/>
                </a:lnTo>
                <a:lnTo>
                  <a:pt x="369" y="302"/>
                </a:lnTo>
                <a:lnTo>
                  <a:pt x="369" y="253"/>
                </a:lnTo>
                <a:lnTo>
                  <a:pt x="364" y="208"/>
                </a:lnTo>
                <a:lnTo>
                  <a:pt x="364" y="166"/>
                </a:lnTo>
                <a:lnTo>
                  <a:pt x="358" y="129"/>
                </a:lnTo>
                <a:lnTo>
                  <a:pt x="353" y="96"/>
                </a:lnTo>
                <a:lnTo>
                  <a:pt x="353" y="67"/>
                </a:lnTo>
                <a:lnTo>
                  <a:pt x="347" y="45"/>
                </a:lnTo>
                <a:lnTo>
                  <a:pt x="344" y="28"/>
                </a:lnTo>
                <a:lnTo>
                  <a:pt x="339" y="17"/>
                </a:lnTo>
                <a:lnTo>
                  <a:pt x="327" y="6"/>
                </a:lnTo>
                <a:lnTo>
                  <a:pt x="316" y="5"/>
                </a:lnTo>
                <a:lnTo>
                  <a:pt x="305" y="5"/>
                </a:lnTo>
                <a:lnTo>
                  <a:pt x="299" y="0"/>
                </a:lnTo>
                <a:lnTo>
                  <a:pt x="294" y="2"/>
                </a:lnTo>
                <a:lnTo>
                  <a:pt x="282" y="2"/>
                </a:lnTo>
                <a:lnTo>
                  <a:pt x="268" y="5"/>
                </a:lnTo>
                <a:lnTo>
                  <a:pt x="263" y="11"/>
                </a:lnTo>
                <a:lnTo>
                  <a:pt x="257" y="20"/>
                </a:lnTo>
                <a:lnTo>
                  <a:pt x="252" y="31"/>
                </a:lnTo>
                <a:lnTo>
                  <a:pt x="246" y="42"/>
                </a:lnTo>
                <a:lnTo>
                  <a:pt x="235" y="56"/>
                </a:lnTo>
                <a:lnTo>
                  <a:pt x="229" y="76"/>
                </a:lnTo>
                <a:lnTo>
                  <a:pt x="224" y="98"/>
                </a:lnTo>
                <a:lnTo>
                  <a:pt x="212" y="121"/>
                </a:lnTo>
                <a:lnTo>
                  <a:pt x="210" y="151"/>
                </a:lnTo>
                <a:lnTo>
                  <a:pt x="204" y="180"/>
                </a:lnTo>
                <a:lnTo>
                  <a:pt x="193" y="211"/>
                </a:lnTo>
                <a:lnTo>
                  <a:pt x="187" y="247"/>
                </a:lnTo>
                <a:lnTo>
                  <a:pt x="170" y="321"/>
                </a:lnTo>
                <a:lnTo>
                  <a:pt x="148" y="405"/>
                </a:lnTo>
                <a:lnTo>
                  <a:pt x="134" y="496"/>
                </a:lnTo>
                <a:lnTo>
                  <a:pt x="117" y="595"/>
                </a:lnTo>
                <a:lnTo>
                  <a:pt x="95" y="697"/>
                </a:lnTo>
                <a:lnTo>
                  <a:pt x="78" y="807"/>
                </a:lnTo>
                <a:lnTo>
                  <a:pt x="58" y="917"/>
                </a:lnTo>
                <a:lnTo>
                  <a:pt x="36" y="1032"/>
                </a:lnTo>
                <a:lnTo>
                  <a:pt x="0" y="126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solidFill>
            </a:endParaRPr>
          </a:p>
        </p:txBody>
      </p:sp>
      <p:sp>
        <p:nvSpPr>
          <p:cNvPr id="232" name="直接连接符 14562">
            <a:extLst>
              <a:ext uri="{FF2B5EF4-FFF2-40B4-BE49-F238E27FC236}">
                <a16:creationId xmlns="" xmlns:a16="http://schemas.microsoft.com/office/drawing/2014/main" id="{066A00BE-98E9-A42B-CA6D-1D29C5321126}"/>
              </a:ext>
            </a:extLst>
          </p:cNvPr>
          <p:cNvSpPr>
            <a:spLocks noChangeShapeType="1"/>
          </p:cNvSpPr>
          <p:nvPr/>
        </p:nvSpPr>
        <p:spPr bwMode="auto">
          <a:xfrm>
            <a:off x="2815421" y="5277985"/>
            <a:ext cx="3240087"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solidFill>
                <a:schemeClr val="tx1"/>
              </a:solidFill>
            </a:endParaRPr>
          </a:p>
        </p:txBody>
      </p:sp>
      <p:sp>
        <p:nvSpPr>
          <p:cNvPr id="233" name="直接连接符 14563">
            <a:extLst>
              <a:ext uri="{FF2B5EF4-FFF2-40B4-BE49-F238E27FC236}">
                <a16:creationId xmlns="" xmlns:a16="http://schemas.microsoft.com/office/drawing/2014/main" id="{F5465816-33BA-808E-FE1C-E894101DB51E}"/>
              </a:ext>
            </a:extLst>
          </p:cNvPr>
          <p:cNvSpPr>
            <a:spLocks noChangeShapeType="1"/>
          </p:cNvSpPr>
          <p:nvPr/>
        </p:nvSpPr>
        <p:spPr bwMode="auto">
          <a:xfrm>
            <a:off x="2801133" y="4701722"/>
            <a:ext cx="0" cy="1223963"/>
          </a:xfrm>
          <a:prstGeom prst="line">
            <a:avLst/>
          </a:prstGeom>
          <a:noFill/>
          <a:ln w="9525">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solidFill>
                <a:schemeClr val="tx1"/>
              </a:solidFill>
            </a:endParaRPr>
          </a:p>
        </p:txBody>
      </p:sp>
    </p:spTree>
    <p:extLst>
      <p:ext uri="{BB962C8B-B14F-4D97-AF65-F5344CB8AC3E}">
        <p14:creationId xmlns:p14="http://schemas.microsoft.com/office/powerpoint/2010/main" val="4046053717"/>
      </p:ext>
    </p:extLst>
  </p:cSld>
  <p:clrMapOvr>
    <a:masterClrMapping/>
  </p:clrMapOvr>
  <p:timing>
    <p:tnLst>
      <p:par>
        <p:cTn id="1" dur="indefinite" restart="never" nodeType="tmRoot"/>
      </p:par>
    </p:tnLst>
  </p:timing>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275</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11"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7.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角度调制</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与</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解调</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文本框 18433">
            <a:extLst>
              <a:ext uri="{FF2B5EF4-FFF2-40B4-BE49-F238E27FC236}">
                <a16:creationId xmlns="" xmlns:a16="http://schemas.microsoft.com/office/drawing/2014/main" id="{6558FC48-1899-0DD6-1699-71D5432657BC}"/>
              </a:ext>
            </a:extLst>
          </p:cNvPr>
          <p:cNvSpPr txBox="1">
            <a:spLocks noChangeArrowheads="1"/>
          </p:cNvSpPr>
          <p:nvPr/>
        </p:nvSpPr>
        <p:spPr bwMode="auto">
          <a:xfrm>
            <a:off x="279400" y="1412131"/>
            <a:ext cx="457849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r>
              <a:rPr lang="en-US" altLang="zh-CN" sz="2000" dirty="0">
                <a:solidFill>
                  <a:srgbClr val="FF0000"/>
                </a:solidFill>
                <a:latin typeface="Times New Roman" panose="02020603050405020304" pitchFamily="18" charset="0"/>
                <a:cs typeface="Times New Roman" panose="02020603050405020304" pitchFamily="18" charset="0"/>
              </a:rPr>
              <a:t>2. FM</a:t>
            </a:r>
            <a:r>
              <a:rPr lang="zh-CN" altLang="en-US" sz="2000" dirty="0">
                <a:solidFill>
                  <a:srgbClr val="FF0000"/>
                </a:solidFill>
                <a:latin typeface="Times New Roman" panose="02020603050405020304" pitchFamily="18" charset="0"/>
                <a:cs typeface="Times New Roman" panose="02020603050405020304" pitchFamily="18" charset="0"/>
              </a:rPr>
              <a:t>、</a:t>
            </a:r>
            <a:r>
              <a:rPr lang="en-US" altLang="zh-CN" sz="2000" dirty="0">
                <a:solidFill>
                  <a:srgbClr val="FF0000"/>
                </a:solidFill>
                <a:latin typeface="Times New Roman" panose="02020603050405020304" pitchFamily="18" charset="0"/>
                <a:cs typeface="Times New Roman" panose="02020603050405020304" pitchFamily="18" charset="0"/>
              </a:rPr>
              <a:t>PM</a:t>
            </a:r>
            <a:r>
              <a:rPr lang="zh-CN" altLang="en-US" sz="2000" dirty="0">
                <a:solidFill>
                  <a:srgbClr val="FF0000"/>
                </a:solidFill>
                <a:latin typeface="Times New Roman" panose="02020603050405020304" pitchFamily="18" charset="0"/>
                <a:cs typeface="Times New Roman" panose="02020603050405020304" pitchFamily="18" charset="0"/>
              </a:rPr>
              <a:t>的数学表达式及频移和相移 </a:t>
            </a:r>
          </a:p>
        </p:txBody>
      </p:sp>
      <p:sp>
        <p:nvSpPr>
          <p:cNvPr id="6" name="矩形 18434">
            <a:extLst>
              <a:ext uri="{FF2B5EF4-FFF2-40B4-BE49-F238E27FC236}">
                <a16:creationId xmlns="" xmlns:a16="http://schemas.microsoft.com/office/drawing/2014/main" id="{BBEF9BD2-6FD6-4A18-AE9B-632825DDAEE4}"/>
              </a:ext>
            </a:extLst>
          </p:cNvPr>
          <p:cNvSpPr>
            <a:spLocks noChangeArrowheads="1"/>
          </p:cNvSpPr>
          <p:nvPr/>
        </p:nvSpPr>
        <p:spPr bwMode="auto">
          <a:xfrm>
            <a:off x="650135" y="2390512"/>
            <a:ext cx="93166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p>
            <a:pPr algn="ctr"/>
            <a:r>
              <a:rPr lang="zh-CN" altLang="en-US" sz="2000" dirty="0">
                <a:solidFill>
                  <a:schemeClr val="tx1"/>
                </a:solidFill>
                <a:latin typeface="Times New Roman" panose="02020603050405020304" pitchFamily="18" charset="0"/>
                <a:cs typeface="Times New Roman" panose="02020603050405020304" pitchFamily="18" charset="0"/>
              </a:rPr>
              <a:t>设</a:t>
            </a:r>
            <a:r>
              <a:rPr lang="en-US" altLang="zh-CN" sz="200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000" baseline="-25000" dirty="0">
                <a:solidFill>
                  <a:schemeClr val="tx1"/>
                </a:solidFill>
                <a:latin typeface="Times New Roman" panose="02020603050405020304" pitchFamily="18" charset="0"/>
                <a:cs typeface="Times New Roman" panose="02020603050405020304" pitchFamily="18" charset="0"/>
              </a:rPr>
              <a:t>0</a:t>
            </a:r>
            <a:r>
              <a:rPr lang="en-US" altLang="zh-CN" sz="2000" dirty="0">
                <a:solidFill>
                  <a:schemeClr val="tx1"/>
                </a:solidFill>
                <a:latin typeface="Times New Roman" panose="02020603050405020304" pitchFamily="18" charset="0"/>
                <a:cs typeface="Times New Roman" panose="02020603050405020304" pitchFamily="18" charset="0"/>
              </a:rPr>
              <a:t>=0</a:t>
            </a:r>
          </a:p>
        </p:txBody>
      </p:sp>
      <p:pic>
        <p:nvPicPr>
          <p:cNvPr id="7" name="图片 18435" descr="22.wmf">
            <a:extLst>
              <a:ext uri="{FF2B5EF4-FFF2-40B4-BE49-F238E27FC236}">
                <a16:creationId xmlns="" xmlns:a16="http://schemas.microsoft.com/office/drawing/2014/main" id="{E1BD5B59-F516-ACE5-FD59-68B3593CF8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95427" y="2194756"/>
            <a:ext cx="4283593" cy="15818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文本框 8">
            <a:extLst>
              <a:ext uri="{FF2B5EF4-FFF2-40B4-BE49-F238E27FC236}">
                <a16:creationId xmlns="" xmlns:a16="http://schemas.microsoft.com/office/drawing/2014/main" id="{599BA294-6BFA-4372-FA3D-CE32AD99414A}"/>
              </a:ext>
            </a:extLst>
          </p:cNvPr>
          <p:cNvSpPr txBox="1">
            <a:spLocks noChangeArrowheads="1"/>
          </p:cNvSpPr>
          <p:nvPr/>
        </p:nvSpPr>
        <p:spPr bwMode="auto">
          <a:xfrm>
            <a:off x="511730" y="3802897"/>
            <a:ext cx="311976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r>
              <a:rPr lang="zh-CN" altLang="en-US" sz="2000" dirty="0">
                <a:solidFill>
                  <a:schemeClr val="tx1"/>
                </a:solidFill>
                <a:latin typeface="Times New Roman" panose="02020603050405020304" pitchFamily="18" charset="0"/>
                <a:cs typeface="Times New Roman" panose="02020603050405020304" pitchFamily="18" charset="0"/>
              </a:rPr>
              <a:t>所以</a:t>
            </a:r>
            <a:r>
              <a:rPr lang="en-US" altLang="zh-CN" sz="2000" dirty="0">
                <a:solidFill>
                  <a:schemeClr val="tx1"/>
                </a:solidFill>
                <a:latin typeface="Times New Roman" panose="02020603050405020304" pitchFamily="18" charset="0"/>
                <a:cs typeface="Times New Roman" panose="02020603050405020304" pitchFamily="18" charset="0"/>
              </a:rPr>
              <a:t>FM</a:t>
            </a:r>
            <a:r>
              <a:rPr lang="zh-CN" altLang="en-US" sz="2000" dirty="0">
                <a:solidFill>
                  <a:schemeClr val="tx1"/>
                </a:solidFill>
                <a:latin typeface="Times New Roman" panose="02020603050405020304" pitchFamily="18" charset="0"/>
                <a:cs typeface="Times New Roman" panose="02020603050405020304" pitchFamily="18" charset="0"/>
              </a:rPr>
              <a:t>波的数学表达式为</a:t>
            </a:r>
          </a:p>
        </p:txBody>
      </p:sp>
      <p:sp>
        <p:nvSpPr>
          <p:cNvPr id="10" name="文本框 9">
            <a:extLst>
              <a:ext uri="{FF2B5EF4-FFF2-40B4-BE49-F238E27FC236}">
                <a16:creationId xmlns="" xmlns:a16="http://schemas.microsoft.com/office/drawing/2014/main" id="{9FCE5066-D6CD-5455-9DDC-BA942D71B96B}"/>
              </a:ext>
            </a:extLst>
          </p:cNvPr>
          <p:cNvSpPr txBox="1">
            <a:spLocks noChangeArrowheads="1"/>
          </p:cNvSpPr>
          <p:nvPr/>
        </p:nvSpPr>
        <p:spPr bwMode="auto">
          <a:xfrm>
            <a:off x="3586013" y="3775393"/>
            <a:ext cx="363537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r>
              <a:rPr lang="en-US" altLang="zh-CN" sz="2000" i="1" dirty="0" err="1">
                <a:solidFill>
                  <a:schemeClr val="tx1"/>
                </a:solidFill>
                <a:latin typeface="Times New Roman" panose="02020603050405020304" pitchFamily="18" charset="0"/>
                <a:cs typeface="Times New Roman" panose="02020603050405020304" pitchFamily="18" charset="0"/>
              </a:rPr>
              <a:t>a</a:t>
            </a:r>
            <a:r>
              <a:rPr lang="en-US" altLang="zh-CN" sz="1100" i="1" dirty="0" err="1">
                <a:solidFill>
                  <a:schemeClr val="tx1"/>
                </a:solidFill>
                <a:latin typeface="Times New Roman" panose="02020603050405020304" pitchFamily="18" charset="0"/>
                <a:cs typeface="Times New Roman" panose="02020603050405020304" pitchFamily="18" charset="0"/>
              </a:rPr>
              <a:t>f</a:t>
            </a:r>
            <a:r>
              <a:rPr lang="en-US" altLang="zh-CN" sz="2000" dirty="0">
                <a:solidFill>
                  <a:schemeClr val="tx1"/>
                </a:solidFill>
                <a:latin typeface="Times New Roman" panose="02020603050405020304" pitchFamily="18" charset="0"/>
                <a:cs typeface="Times New Roman" panose="02020603050405020304" pitchFamily="18" charset="0"/>
              </a:rPr>
              <a:t>(</a:t>
            </a:r>
            <a:r>
              <a:rPr lang="en-US" altLang="zh-CN" sz="2000" i="1" dirty="0">
                <a:solidFill>
                  <a:schemeClr val="tx1"/>
                </a:solidFill>
                <a:latin typeface="Times New Roman" panose="02020603050405020304" pitchFamily="18" charset="0"/>
                <a:cs typeface="Times New Roman" panose="02020603050405020304" pitchFamily="18" charset="0"/>
              </a:rPr>
              <a:t>t</a:t>
            </a:r>
            <a:r>
              <a:rPr lang="en-US" altLang="zh-CN" sz="2000" dirty="0">
                <a:solidFill>
                  <a:schemeClr val="tx1"/>
                </a:solidFill>
                <a:latin typeface="Times New Roman" panose="02020603050405020304" pitchFamily="18" charset="0"/>
                <a:cs typeface="Times New Roman" panose="02020603050405020304" pitchFamily="18" charset="0"/>
              </a:rPr>
              <a:t>)=</a:t>
            </a:r>
            <a:r>
              <a:rPr lang="en-US" altLang="zh-CN" sz="2000" dirty="0" err="1">
                <a:solidFill>
                  <a:schemeClr val="tx1"/>
                </a:solidFill>
                <a:latin typeface="Times New Roman" panose="02020603050405020304" pitchFamily="18" charset="0"/>
                <a:cs typeface="Times New Roman" panose="02020603050405020304" pitchFamily="18" charset="0"/>
              </a:rPr>
              <a:t>Vcos</a:t>
            </a:r>
            <a:r>
              <a:rPr lang="en-US" altLang="zh-CN" sz="200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000" dirty="0">
                <a:solidFill>
                  <a:schemeClr val="tx1"/>
                </a:solidFill>
                <a:latin typeface="Times New Roman" panose="02020603050405020304" pitchFamily="18" charset="0"/>
                <a:cs typeface="Times New Roman" panose="02020603050405020304" pitchFamily="18" charset="0"/>
              </a:rPr>
              <a:t>(t)=</a:t>
            </a:r>
            <a:r>
              <a:rPr lang="en-US" altLang="zh-CN" sz="2000" dirty="0" err="1">
                <a:solidFill>
                  <a:schemeClr val="tx1"/>
                </a:solidFill>
                <a:latin typeface="Times New Roman" panose="02020603050405020304" pitchFamily="18" charset="0"/>
                <a:cs typeface="Times New Roman" panose="02020603050405020304" pitchFamily="18" charset="0"/>
              </a:rPr>
              <a:t>Vcos</a:t>
            </a:r>
            <a:r>
              <a:rPr lang="en-US" altLang="zh-CN" sz="2000" dirty="0">
                <a:solidFill>
                  <a:schemeClr val="tx1"/>
                </a:solidFill>
                <a:latin typeface="Times New Roman" panose="02020603050405020304" pitchFamily="18" charset="0"/>
                <a:cs typeface="Times New Roman" panose="02020603050405020304" pitchFamily="18" charset="0"/>
              </a:rPr>
              <a:t> </a:t>
            </a:r>
          </a:p>
        </p:txBody>
      </p:sp>
      <p:pic>
        <p:nvPicPr>
          <p:cNvPr id="12" name="图片 11" descr="23.wmf">
            <a:extLst>
              <a:ext uri="{FF2B5EF4-FFF2-40B4-BE49-F238E27FC236}">
                <a16:creationId xmlns="" xmlns:a16="http://schemas.microsoft.com/office/drawing/2014/main" id="{5C80A30A-5983-B816-79D5-4F385FB7FA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41919" y="3574201"/>
            <a:ext cx="2507146" cy="754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文本框 18441">
            <a:extLst>
              <a:ext uri="{FF2B5EF4-FFF2-40B4-BE49-F238E27FC236}">
                <a16:creationId xmlns="" xmlns:a16="http://schemas.microsoft.com/office/drawing/2014/main" id="{72BBC748-5B6B-9963-0D55-5B07CB11BBD2}"/>
              </a:ext>
            </a:extLst>
          </p:cNvPr>
          <p:cNvSpPr txBox="1">
            <a:spLocks noChangeArrowheads="1"/>
          </p:cNvSpPr>
          <p:nvPr/>
        </p:nvSpPr>
        <p:spPr bwMode="auto">
          <a:xfrm>
            <a:off x="1831458" y="1828885"/>
            <a:ext cx="303961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r>
              <a:rPr lang="en-US" altLang="zh-CN" sz="200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000" dirty="0">
                <a:solidFill>
                  <a:schemeClr val="tx1"/>
                </a:solidFill>
                <a:latin typeface="Times New Roman" panose="02020603050405020304" pitchFamily="18" charset="0"/>
                <a:cs typeface="Times New Roman" panose="02020603050405020304" pitchFamily="18" charset="0"/>
              </a:rPr>
              <a:t>(t)=</a:t>
            </a:r>
            <a:r>
              <a:rPr lang="en-US" altLang="zh-CN" sz="200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000" baseline="-25000" dirty="0">
                <a:solidFill>
                  <a:schemeClr val="tx1"/>
                </a:solidFill>
                <a:latin typeface="Times New Roman" panose="02020603050405020304" pitchFamily="18" charset="0"/>
                <a:cs typeface="Times New Roman" panose="02020603050405020304" pitchFamily="18" charset="0"/>
              </a:rPr>
              <a:t>0</a:t>
            </a:r>
            <a:r>
              <a:rPr lang="en-US" altLang="zh-CN" sz="2000" dirty="0">
                <a:solidFill>
                  <a:schemeClr val="tx1"/>
                </a:solidFill>
                <a:latin typeface="Times New Roman" panose="02020603050405020304" pitchFamily="18" charset="0"/>
                <a:cs typeface="Times New Roman" panose="02020603050405020304" pitchFamily="18" charset="0"/>
              </a:rPr>
              <a:t>+kf</a:t>
            </a:r>
            <a:r>
              <a:rPr lang="en-US" altLang="zh-CN" sz="2000" i="1" dirty="0">
                <a:solidFill>
                  <a:schemeClr val="tx1"/>
                </a:solidFill>
                <a:latin typeface="Times New Roman" panose="02020603050405020304" pitchFamily="18" charset="0"/>
                <a:cs typeface="Times New Roman" panose="02020603050405020304" pitchFamily="18" charset="0"/>
              </a:rPr>
              <a:t>v</a:t>
            </a:r>
            <a:r>
              <a:rPr lang="en-US" altLang="zh-CN" sz="200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000" dirty="0">
                <a:solidFill>
                  <a:schemeClr val="tx1"/>
                </a:solidFill>
                <a:latin typeface="Times New Roman" panose="02020603050405020304" pitchFamily="18" charset="0"/>
                <a:cs typeface="Times New Roman" panose="02020603050405020304" pitchFamily="18" charset="0"/>
              </a:rPr>
              <a:t>(t)=</a:t>
            </a:r>
            <a:r>
              <a:rPr lang="en-US" altLang="zh-CN" sz="200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000" baseline="-25000" dirty="0">
                <a:solidFill>
                  <a:schemeClr val="tx1"/>
                </a:solidFill>
                <a:latin typeface="Times New Roman" panose="02020603050405020304" pitchFamily="18" charset="0"/>
                <a:cs typeface="Times New Roman" panose="02020603050405020304" pitchFamily="18" charset="0"/>
              </a:rPr>
              <a:t>0</a:t>
            </a:r>
            <a:r>
              <a:rPr lang="en-US" altLang="zh-CN" sz="2000" dirty="0">
                <a:solidFill>
                  <a:schemeClr val="tx1"/>
                </a:solidFill>
                <a:latin typeface="Times New Roman" panose="02020603050405020304" pitchFamily="18" charset="0"/>
                <a:cs typeface="Times New Roman" panose="02020603050405020304" pitchFamily="18" charset="0"/>
              </a:rPr>
              <a:t>+</a:t>
            </a:r>
            <a:r>
              <a:rPr lang="en-US" altLang="zh-CN" sz="200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000" dirty="0">
                <a:solidFill>
                  <a:schemeClr val="tx1"/>
                </a:solidFill>
                <a:latin typeface="Times New Roman" panose="02020603050405020304" pitchFamily="18" charset="0"/>
                <a:cs typeface="Times New Roman" panose="02020603050405020304" pitchFamily="18" charset="0"/>
              </a:rPr>
              <a:t>(t)</a:t>
            </a:r>
          </a:p>
        </p:txBody>
      </p:sp>
      <p:sp>
        <p:nvSpPr>
          <p:cNvPr id="15" name="矩形 18442">
            <a:extLst>
              <a:ext uri="{FF2B5EF4-FFF2-40B4-BE49-F238E27FC236}">
                <a16:creationId xmlns="" xmlns:a16="http://schemas.microsoft.com/office/drawing/2014/main" id="{5C2E297D-EBA8-46B8-E202-BBA70F9AAA87}"/>
              </a:ext>
            </a:extLst>
          </p:cNvPr>
          <p:cNvSpPr>
            <a:spLocks noChangeArrowheads="1"/>
          </p:cNvSpPr>
          <p:nvPr/>
        </p:nvSpPr>
        <p:spPr bwMode="auto">
          <a:xfrm>
            <a:off x="635922" y="1832522"/>
            <a:ext cx="95891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zh-CN" altLang="en-US" sz="2000" dirty="0">
                <a:solidFill>
                  <a:schemeClr val="tx1"/>
                </a:solidFill>
                <a:latin typeface="Times New Roman" panose="02020603050405020304" pitchFamily="18" charset="0"/>
                <a:cs typeface="Times New Roman" panose="02020603050405020304" pitchFamily="18" charset="0"/>
              </a:rPr>
              <a:t>根据式</a:t>
            </a:r>
          </a:p>
        </p:txBody>
      </p:sp>
      <p:pic>
        <p:nvPicPr>
          <p:cNvPr id="16" name="图片 18443" descr="24.wmf">
            <a:extLst>
              <a:ext uri="{FF2B5EF4-FFF2-40B4-BE49-F238E27FC236}">
                <a16:creationId xmlns="" xmlns:a16="http://schemas.microsoft.com/office/drawing/2014/main" id="{7BC6BAC9-D672-3182-217A-375DFCB4207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08141" y="1661103"/>
            <a:ext cx="2663825" cy="747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文本框 19457">
            <a:extLst>
              <a:ext uri="{FF2B5EF4-FFF2-40B4-BE49-F238E27FC236}">
                <a16:creationId xmlns="" xmlns:a16="http://schemas.microsoft.com/office/drawing/2014/main" id="{B76A5B4A-0ADE-1E1E-3643-F3352E499F70}"/>
              </a:ext>
            </a:extLst>
          </p:cNvPr>
          <p:cNvSpPr txBox="1">
            <a:spLocks noChangeArrowheads="1"/>
          </p:cNvSpPr>
          <p:nvPr/>
        </p:nvSpPr>
        <p:spPr bwMode="auto">
          <a:xfrm>
            <a:off x="591952" y="4554998"/>
            <a:ext cx="6932612" cy="426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a:lnSpc>
                <a:spcPct val="120000"/>
              </a:lnSpc>
            </a:pPr>
            <a:r>
              <a:rPr lang="zh-CN" altLang="en-US" sz="2000" dirty="0">
                <a:solidFill>
                  <a:schemeClr val="tx1"/>
                </a:solidFill>
                <a:latin typeface="Times New Roman" panose="02020603050405020304" pitchFamily="18" charset="0"/>
                <a:cs typeface="Times New Roman" panose="02020603050405020304" pitchFamily="18" charset="0"/>
              </a:rPr>
              <a:t>同理，根据</a:t>
            </a:r>
            <a:r>
              <a:rPr lang="zh-CN" altLang="en-US" sz="2000" dirty="0" smtClean="0">
                <a:solidFill>
                  <a:schemeClr val="tx1"/>
                </a:solidFill>
                <a:latin typeface="Times New Roman" panose="02020603050405020304" pitchFamily="18" charset="0"/>
                <a:cs typeface="Times New Roman" panose="02020603050405020304" pitchFamily="18" charset="0"/>
              </a:rPr>
              <a:t>式</a:t>
            </a:r>
            <a:r>
              <a:rPr lang="en-US" altLang="zh-CN" sz="2000" dirty="0"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000" dirty="0">
                <a:solidFill>
                  <a:schemeClr val="tx1"/>
                </a:solidFill>
                <a:latin typeface="Times New Roman" panose="02020603050405020304" pitchFamily="18" charset="0"/>
                <a:cs typeface="Times New Roman" panose="02020603050405020304" pitchFamily="18" charset="0"/>
              </a:rPr>
              <a:t>(t)=</a:t>
            </a:r>
            <a:r>
              <a:rPr lang="en-US" altLang="zh-CN" sz="200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000" baseline="-25000" dirty="0">
                <a:solidFill>
                  <a:schemeClr val="tx1"/>
                </a:solidFill>
                <a:latin typeface="Times New Roman" panose="02020603050405020304" pitchFamily="18" charset="0"/>
                <a:cs typeface="Times New Roman" panose="02020603050405020304" pitchFamily="18" charset="0"/>
              </a:rPr>
              <a:t>0</a:t>
            </a:r>
            <a:r>
              <a:rPr lang="en-US" altLang="zh-CN" sz="2000" dirty="0">
                <a:solidFill>
                  <a:schemeClr val="tx1"/>
                </a:solidFill>
                <a:latin typeface="Times New Roman" panose="02020603050405020304" pitchFamily="18" charset="0"/>
                <a:cs typeface="Times New Roman" panose="02020603050405020304" pitchFamily="18" charset="0"/>
              </a:rPr>
              <a:t>t+</a:t>
            </a:r>
            <a:r>
              <a:rPr lang="en-US" altLang="zh-CN" sz="200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000" baseline="-25000" dirty="0">
                <a:solidFill>
                  <a:schemeClr val="tx1"/>
                </a:solidFill>
                <a:latin typeface="Times New Roman" panose="02020603050405020304" pitchFamily="18" charset="0"/>
                <a:cs typeface="Times New Roman" panose="02020603050405020304" pitchFamily="18" charset="0"/>
              </a:rPr>
              <a:t>0</a:t>
            </a:r>
            <a:r>
              <a:rPr lang="en-US" altLang="zh-CN" sz="2000" dirty="0">
                <a:solidFill>
                  <a:schemeClr val="tx1"/>
                </a:solidFill>
                <a:latin typeface="Times New Roman" panose="02020603050405020304" pitchFamily="18" charset="0"/>
                <a:cs typeface="Times New Roman" panose="02020603050405020304" pitchFamily="18" charset="0"/>
              </a:rPr>
              <a:t>+K</a:t>
            </a:r>
            <a:r>
              <a:rPr lang="en-US" altLang="zh-CN" sz="2000" baseline="-25000" dirty="0">
                <a:solidFill>
                  <a:schemeClr val="tx1"/>
                </a:solidFill>
                <a:latin typeface="Times New Roman" panose="02020603050405020304" pitchFamily="18" charset="0"/>
                <a:cs typeface="Times New Roman" panose="02020603050405020304" pitchFamily="18" charset="0"/>
              </a:rPr>
              <a:t>p</a:t>
            </a:r>
            <a:r>
              <a:rPr lang="en-US" altLang="zh-CN" sz="2000" i="1" dirty="0">
                <a:solidFill>
                  <a:schemeClr val="tx1"/>
                </a:solidFill>
                <a:latin typeface="Times New Roman" panose="02020603050405020304" pitchFamily="18" charset="0"/>
                <a:cs typeface="Times New Roman" panose="02020603050405020304" pitchFamily="18" charset="0"/>
              </a:rPr>
              <a:t>v</a:t>
            </a:r>
            <a:r>
              <a:rPr lang="en-US" altLang="zh-CN" sz="2000" baseline="-2500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000" dirty="0">
                <a:solidFill>
                  <a:schemeClr val="tx1"/>
                </a:solidFill>
                <a:latin typeface="Times New Roman" panose="02020603050405020304" pitchFamily="18" charset="0"/>
                <a:cs typeface="Times New Roman" panose="02020603050405020304" pitchFamily="18" charset="0"/>
              </a:rPr>
              <a:t>(t</a:t>
            </a:r>
            <a:r>
              <a:rPr lang="en-US" altLang="zh-CN" sz="2000" dirty="0" smtClean="0">
                <a:solidFill>
                  <a:schemeClr val="tx1"/>
                </a:solidFill>
                <a:latin typeface="Times New Roman" panose="02020603050405020304" pitchFamily="18" charset="0"/>
                <a:cs typeface="Times New Roman" panose="02020603050405020304" pitchFamily="18" charset="0"/>
              </a:rPr>
              <a:t>)</a:t>
            </a:r>
            <a:r>
              <a:rPr lang="zh-CN" altLang="en-US" sz="2000" dirty="0" smtClean="0">
                <a:solidFill>
                  <a:schemeClr val="tx1"/>
                </a:solidFill>
                <a:latin typeface="Times New Roman" panose="02020603050405020304" pitchFamily="18" charset="0"/>
                <a:cs typeface="Times New Roman" panose="02020603050405020304" pitchFamily="18" charset="0"/>
              </a:rPr>
              <a:t>。</a:t>
            </a:r>
            <a:r>
              <a:rPr lang="zh-CN" altLang="en-US" sz="2000" dirty="0" smtClean="0">
                <a:solidFill>
                  <a:schemeClr val="tx1"/>
                </a:solidFill>
                <a:latin typeface="+mn-ea"/>
                <a:ea typeface="+mn-ea"/>
              </a:rPr>
              <a:t>设</a:t>
            </a:r>
            <a:r>
              <a:rPr lang="en-US" altLang="zh-CN" sz="2000" dirty="0" smtClean="0">
                <a:solidFill>
                  <a:schemeClr val="tx1"/>
                </a:solidFill>
                <a:latin typeface="+mn-ea"/>
                <a:ea typeface="+mn-ea"/>
                <a:sym typeface="Symbol" panose="05050102010706020507" pitchFamily="18" charset="2"/>
              </a:rPr>
              <a:t></a:t>
            </a:r>
            <a:r>
              <a:rPr lang="en-US" altLang="zh-CN" sz="2000" baseline="-25000" dirty="0" smtClean="0">
                <a:solidFill>
                  <a:schemeClr val="tx1"/>
                </a:solidFill>
                <a:latin typeface="+mn-ea"/>
                <a:ea typeface="+mn-ea"/>
              </a:rPr>
              <a:t>0</a:t>
            </a:r>
            <a:r>
              <a:rPr lang="en-US" altLang="zh-CN" sz="2000" dirty="0" smtClean="0">
                <a:solidFill>
                  <a:schemeClr val="tx1"/>
                </a:solidFill>
                <a:latin typeface="+mn-ea"/>
                <a:ea typeface="+mn-ea"/>
              </a:rPr>
              <a:t>=0</a:t>
            </a:r>
            <a:r>
              <a:rPr lang="zh-CN" altLang="en-US" sz="2000" dirty="0" smtClean="0">
                <a:solidFill>
                  <a:schemeClr val="tx1"/>
                </a:solidFill>
                <a:latin typeface="+mn-ea"/>
                <a:ea typeface="+mn-ea"/>
              </a:rPr>
              <a:t>，则 </a:t>
            </a:r>
            <a:endParaRPr lang="zh-CN" altLang="en-US" sz="2000" dirty="0">
              <a:solidFill>
                <a:schemeClr val="tx1"/>
              </a:solidFill>
              <a:latin typeface="+mn-ea"/>
              <a:ea typeface="+mn-ea"/>
            </a:endParaRPr>
          </a:p>
        </p:txBody>
      </p:sp>
      <p:sp>
        <p:nvSpPr>
          <p:cNvPr id="22" name="文本框 19458">
            <a:extLst>
              <a:ext uri="{FF2B5EF4-FFF2-40B4-BE49-F238E27FC236}">
                <a16:creationId xmlns="" xmlns:a16="http://schemas.microsoft.com/office/drawing/2014/main" id="{6EC22C07-4F6D-C39D-9C22-4AB99C52CEF8}"/>
              </a:ext>
            </a:extLst>
          </p:cNvPr>
          <p:cNvSpPr txBox="1">
            <a:spLocks noChangeArrowheads="1"/>
          </p:cNvSpPr>
          <p:nvPr/>
        </p:nvSpPr>
        <p:spPr bwMode="auto">
          <a:xfrm>
            <a:off x="5675603" y="4581223"/>
            <a:ext cx="295465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r>
              <a:rPr lang="en-US" altLang="zh-CN" sz="2000" dirty="0">
                <a:solidFill>
                  <a:schemeClr val="tx1"/>
                </a:solidFill>
                <a:latin typeface="Times New Roman" panose="02020603050405020304" pitchFamily="18" charset="0"/>
                <a:cs typeface="Times New Roman" panose="02020603050405020304" pitchFamily="18" charset="0"/>
              </a:rPr>
              <a:t> </a:t>
            </a:r>
            <a:r>
              <a:rPr lang="en-US" altLang="zh-CN" sz="2000" dirty="0" smtClean="0">
                <a:solidFill>
                  <a:schemeClr val="tx1"/>
                </a:solidFill>
                <a:latin typeface="Times New Roman" panose="02020603050405020304" pitchFamily="18" charset="0"/>
                <a:cs typeface="Times New Roman" panose="02020603050405020304" pitchFamily="18" charset="0"/>
              </a:rPr>
              <a:t> </a:t>
            </a:r>
            <a:r>
              <a:rPr lang="en-US" altLang="zh-CN" sz="2000" dirty="0"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000" dirty="0">
                <a:solidFill>
                  <a:schemeClr val="tx1"/>
                </a:solidFill>
                <a:latin typeface="Times New Roman" panose="02020603050405020304" pitchFamily="18" charset="0"/>
                <a:cs typeface="Times New Roman" panose="02020603050405020304" pitchFamily="18" charset="0"/>
              </a:rPr>
              <a:t>(t)=</a:t>
            </a:r>
            <a:r>
              <a:rPr lang="en-US" altLang="zh-CN" sz="200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000" baseline="-25000" dirty="0">
                <a:solidFill>
                  <a:schemeClr val="tx1"/>
                </a:solidFill>
                <a:latin typeface="Times New Roman" panose="02020603050405020304" pitchFamily="18" charset="0"/>
                <a:cs typeface="Times New Roman" panose="02020603050405020304" pitchFamily="18" charset="0"/>
              </a:rPr>
              <a:t>0</a:t>
            </a:r>
            <a:r>
              <a:rPr lang="en-US" altLang="zh-CN" sz="2000" dirty="0">
                <a:solidFill>
                  <a:schemeClr val="tx1"/>
                </a:solidFill>
                <a:latin typeface="Times New Roman" panose="02020603050405020304" pitchFamily="18" charset="0"/>
                <a:cs typeface="Times New Roman" panose="02020603050405020304" pitchFamily="18" charset="0"/>
              </a:rPr>
              <a:t>t+K</a:t>
            </a:r>
            <a:r>
              <a:rPr lang="en-US" altLang="zh-CN" sz="2000" baseline="-25000" dirty="0">
                <a:solidFill>
                  <a:schemeClr val="tx1"/>
                </a:solidFill>
                <a:latin typeface="Times New Roman" panose="02020603050405020304" pitchFamily="18" charset="0"/>
                <a:cs typeface="Times New Roman" panose="02020603050405020304" pitchFamily="18" charset="0"/>
              </a:rPr>
              <a:t>P</a:t>
            </a:r>
            <a:r>
              <a:rPr lang="en-US" altLang="zh-CN" sz="2000" i="1" dirty="0">
                <a:solidFill>
                  <a:schemeClr val="tx1"/>
                </a:solidFill>
                <a:latin typeface="Times New Roman" panose="02020603050405020304" pitchFamily="18" charset="0"/>
                <a:cs typeface="Times New Roman" panose="02020603050405020304" pitchFamily="18" charset="0"/>
              </a:rPr>
              <a:t>v</a:t>
            </a:r>
            <a:r>
              <a:rPr lang="en-US" altLang="zh-CN" sz="2000" baseline="-2500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000" dirty="0">
                <a:solidFill>
                  <a:schemeClr val="tx1"/>
                </a:solidFill>
                <a:latin typeface="Times New Roman" panose="02020603050405020304" pitchFamily="18" charset="0"/>
                <a:cs typeface="Times New Roman" panose="02020603050405020304" pitchFamily="18" charset="0"/>
              </a:rPr>
              <a:t>(t) 	</a:t>
            </a:r>
          </a:p>
        </p:txBody>
      </p:sp>
      <p:sp>
        <p:nvSpPr>
          <p:cNvPr id="23" name="文本框 19459">
            <a:extLst>
              <a:ext uri="{FF2B5EF4-FFF2-40B4-BE49-F238E27FC236}">
                <a16:creationId xmlns="" xmlns:a16="http://schemas.microsoft.com/office/drawing/2014/main" id="{79180B67-D59D-0B24-1626-E4CD2917705E}"/>
              </a:ext>
            </a:extLst>
          </p:cNvPr>
          <p:cNvSpPr txBox="1">
            <a:spLocks noChangeArrowheads="1"/>
          </p:cNvSpPr>
          <p:nvPr/>
        </p:nvSpPr>
        <p:spPr bwMode="auto">
          <a:xfrm>
            <a:off x="591952" y="5108188"/>
            <a:ext cx="311976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r>
              <a:rPr lang="zh-CN" altLang="en-US" sz="2000" dirty="0">
                <a:solidFill>
                  <a:schemeClr val="tx1"/>
                </a:solidFill>
                <a:latin typeface="Times New Roman" panose="02020603050405020304" pitchFamily="18" charset="0"/>
                <a:cs typeface="Times New Roman" panose="02020603050405020304" pitchFamily="18" charset="0"/>
              </a:rPr>
              <a:t>所以</a:t>
            </a:r>
            <a:r>
              <a:rPr lang="en-US" altLang="zh-CN" sz="2000" dirty="0">
                <a:solidFill>
                  <a:schemeClr val="tx1"/>
                </a:solidFill>
                <a:latin typeface="Times New Roman" panose="02020603050405020304" pitchFamily="18" charset="0"/>
                <a:cs typeface="Times New Roman" panose="02020603050405020304" pitchFamily="18" charset="0"/>
              </a:rPr>
              <a:t>PM</a:t>
            </a:r>
            <a:r>
              <a:rPr lang="zh-CN" altLang="en-US" sz="2000" dirty="0">
                <a:solidFill>
                  <a:schemeClr val="tx1"/>
                </a:solidFill>
                <a:latin typeface="Times New Roman" panose="02020603050405020304" pitchFamily="18" charset="0"/>
                <a:cs typeface="Times New Roman" panose="02020603050405020304" pitchFamily="18" charset="0"/>
              </a:rPr>
              <a:t>波的数学表达式为</a:t>
            </a:r>
          </a:p>
        </p:txBody>
      </p:sp>
      <p:sp>
        <p:nvSpPr>
          <p:cNvPr id="24" name="文本框 19460">
            <a:extLst>
              <a:ext uri="{FF2B5EF4-FFF2-40B4-BE49-F238E27FC236}">
                <a16:creationId xmlns="" xmlns:a16="http://schemas.microsoft.com/office/drawing/2014/main" id="{812127B9-0F46-081C-0376-146D764EF1C1}"/>
              </a:ext>
            </a:extLst>
          </p:cNvPr>
          <p:cNvSpPr txBox="1">
            <a:spLocks noChangeArrowheads="1"/>
          </p:cNvSpPr>
          <p:nvPr/>
        </p:nvSpPr>
        <p:spPr bwMode="auto">
          <a:xfrm>
            <a:off x="3711717" y="5088078"/>
            <a:ext cx="387798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r>
              <a:rPr lang="en-US" altLang="zh-CN" sz="2000" i="1" dirty="0">
                <a:solidFill>
                  <a:srgbClr val="FF0000"/>
                </a:solidFill>
                <a:latin typeface="Times New Roman" panose="02020603050405020304" pitchFamily="18" charset="0"/>
                <a:cs typeface="Times New Roman" panose="02020603050405020304" pitchFamily="18" charset="0"/>
              </a:rPr>
              <a:t>a</a:t>
            </a:r>
            <a:r>
              <a:rPr lang="en-US" altLang="zh-CN" sz="1400" i="1" dirty="0">
                <a:solidFill>
                  <a:srgbClr val="FF0000"/>
                </a:solidFill>
                <a:latin typeface="Times New Roman" panose="02020603050405020304" pitchFamily="18" charset="0"/>
                <a:cs typeface="Times New Roman" panose="02020603050405020304" pitchFamily="18" charset="0"/>
              </a:rPr>
              <a:t>p</a:t>
            </a:r>
            <a:r>
              <a:rPr lang="en-US" altLang="zh-CN" sz="2000" dirty="0">
                <a:solidFill>
                  <a:srgbClr val="FF0000"/>
                </a:solidFill>
                <a:latin typeface="Times New Roman" panose="02020603050405020304" pitchFamily="18" charset="0"/>
                <a:cs typeface="Times New Roman" panose="02020603050405020304" pitchFamily="18" charset="0"/>
              </a:rPr>
              <a:t>(</a:t>
            </a:r>
            <a:r>
              <a:rPr lang="en-US" altLang="zh-CN" sz="2000" i="1" dirty="0">
                <a:solidFill>
                  <a:srgbClr val="FF0000"/>
                </a:solidFill>
                <a:latin typeface="Times New Roman" panose="02020603050405020304" pitchFamily="18" charset="0"/>
                <a:cs typeface="Times New Roman" panose="02020603050405020304" pitchFamily="18" charset="0"/>
              </a:rPr>
              <a:t>t</a:t>
            </a:r>
            <a:r>
              <a:rPr lang="en-US" altLang="zh-CN" sz="2000" dirty="0">
                <a:solidFill>
                  <a:srgbClr val="FF0000"/>
                </a:solidFill>
                <a:latin typeface="Times New Roman" panose="02020603050405020304" pitchFamily="18" charset="0"/>
                <a:cs typeface="Times New Roman" panose="02020603050405020304" pitchFamily="18" charset="0"/>
              </a:rPr>
              <a:t>)=</a:t>
            </a:r>
            <a:r>
              <a:rPr lang="en-US" altLang="zh-CN" sz="2000" dirty="0" err="1">
                <a:solidFill>
                  <a:srgbClr val="FF0000"/>
                </a:solidFill>
                <a:latin typeface="Times New Roman" panose="02020603050405020304" pitchFamily="18" charset="0"/>
                <a:cs typeface="Times New Roman" panose="02020603050405020304" pitchFamily="18" charset="0"/>
              </a:rPr>
              <a:t>Vcos</a:t>
            </a:r>
            <a:r>
              <a:rPr lang="en-US" altLang="zh-CN" sz="20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000" dirty="0">
                <a:solidFill>
                  <a:srgbClr val="FF0000"/>
                </a:solidFill>
                <a:latin typeface="Times New Roman" panose="02020603050405020304" pitchFamily="18" charset="0"/>
                <a:cs typeface="Times New Roman" panose="02020603050405020304" pitchFamily="18" charset="0"/>
              </a:rPr>
              <a:t>(</a:t>
            </a:r>
            <a:r>
              <a:rPr lang="en-US" altLang="zh-CN" sz="2000" i="1" dirty="0">
                <a:solidFill>
                  <a:srgbClr val="FF0000"/>
                </a:solidFill>
                <a:latin typeface="Times New Roman" panose="02020603050405020304" pitchFamily="18" charset="0"/>
                <a:cs typeface="Times New Roman" panose="02020603050405020304" pitchFamily="18" charset="0"/>
              </a:rPr>
              <a:t>t</a:t>
            </a:r>
            <a:r>
              <a:rPr lang="en-US" altLang="zh-CN" sz="2000" dirty="0">
                <a:solidFill>
                  <a:srgbClr val="FF0000"/>
                </a:solidFill>
                <a:latin typeface="Times New Roman" panose="02020603050405020304" pitchFamily="18" charset="0"/>
                <a:cs typeface="Times New Roman" panose="02020603050405020304" pitchFamily="18" charset="0"/>
              </a:rPr>
              <a:t>)=</a:t>
            </a:r>
            <a:r>
              <a:rPr lang="en-US" altLang="zh-CN" sz="2000" dirty="0" err="1">
                <a:solidFill>
                  <a:srgbClr val="FF0000"/>
                </a:solidFill>
                <a:latin typeface="Times New Roman" panose="02020603050405020304" pitchFamily="18" charset="0"/>
                <a:cs typeface="Times New Roman" panose="02020603050405020304" pitchFamily="18" charset="0"/>
              </a:rPr>
              <a:t>Vcos</a:t>
            </a:r>
            <a:r>
              <a:rPr lang="en-US" altLang="zh-CN" sz="2000" dirty="0">
                <a:solidFill>
                  <a:srgbClr val="FF0000"/>
                </a:solidFill>
                <a:latin typeface="Times New Roman" panose="02020603050405020304" pitchFamily="18" charset="0"/>
                <a:cs typeface="Times New Roman" panose="02020603050405020304" pitchFamily="18" charset="0"/>
              </a:rPr>
              <a:t>[</a:t>
            </a:r>
            <a:r>
              <a:rPr lang="en-US" altLang="zh-CN" sz="20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1000" dirty="0">
                <a:solidFill>
                  <a:srgbClr val="FF0000"/>
                </a:solidFill>
                <a:latin typeface="Times New Roman" panose="02020603050405020304" pitchFamily="18" charset="0"/>
                <a:cs typeface="Times New Roman" panose="02020603050405020304" pitchFamily="18" charset="0"/>
              </a:rPr>
              <a:t>0</a:t>
            </a:r>
            <a:r>
              <a:rPr lang="en-US" altLang="zh-CN" sz="2000" dirty="0">
                <a:solidFill>
                  <a:srgbClr val="FF0000"/>
                </a:solidFill>
                <a:latin typeface="Times New Roman" panose="02020603050405020304" pitchFamily="18" charset="0"/>
                <a:cs typeface="Times New Roman" panose="02020603050405020304" pitchFamily="18" charset="0"/>
              </a:rPr>
              <a:t>t+K</a:t>
            </a:r>
            <a:r>
              <a:rPr lang="en-US" altLang="zh-CN" sz="1400" dirty="0">
                <a:solidFill>
                  <a:srgbClr val="FF0000"/>
                </a:solidFill>
                <a:latin typeface="Times New Roman" panose="02020603050405020304" pitchFamily="18" charset="0"/>
                <a:cs typeface="Times New Roman" panose="02020603050405020304" pitchFamily="18" charset="0"/>
              </a:rPr>
              <a:t>p</a:t>
            </a:r>
            <a:r>
              <a:rPr lang="en-US" altLang="zh-CN" sz="2000" i="1" dirty="0">
                <a:solidFill>
                  <a:srgbClr val="FF0000"/>
                </a:solidFill>
                <a:latin typeface="Times New Roman" panose="02020603050405020304" pitchFamily="18" charset="0"/>
                <a:cs typeface="Times New Roman" panose="02020603050405020304" pitchFamily="18" charset="0"/>
              </a:rPr>
              <a:t>v</a:t>
            </a:r>
            <a:r>
              <a:rPr lang="en-US" altLang="zh-CN" sz="10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000" dirty="0">
                <a:solidFill>
                  <a:srgbClr val="FF0000"/>
                </a:solidFill>
                <a:latin typeface="Times New Roman" panose="02020603050405020304" pitchFamily="18" charset="0"/>
                <a:cs typeface="Times New Roman" panose="02020603050405020304" pitchFamily="18" charset="0"/>
              </a:rPr>
              <a:t>(</a:t>
            </a:r>
            <a:r>
              <a:rPr lang="en-US" altLang="zh-CN" sz="2000" i="1" dirty="0">
                <a:solidFill>
                  <a:srgbClr val="FF0000"/>
                </a:solidFill>
                <a:latin typeface="Times New Roman" panose="02020603050405020304" pitchFamily="18" charset="0"/>
                <a:cs typeface="Times New Roman" panose="02020603050405020304" pitchFamily="18" charset="0"/>
              </a:rPr>
              <a:t>t</a:t>
            </a:r>
            <a:r>
              <a:rPr lang="en-US" altLang="zh-CN" sz="2000" dirty="0">
                <a:solidFill>
                  <a:srgbClr val="FF0000"/>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194271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blinds(horizontal)">
                                      <p:cBhvr>
                                        <p:cTn id="10" dur="500"/>
                                        <p:tgtEl>
                                          <p:spTgt spid="10"/>
                                        </p:tgtEl>
                                      </p:cBhvr>
                                    </p:animEffect>
                                  </p:childTnLst>
                                </p:cTn>
                              </p:par>
                              <p:par>
                                <p:cTn id="11" presetID="3" presetClass="entr" presetSubtype="10" fill="hold" nodeType="withEffect">
                                  <p:stCondLst>
                                    <p:cond delay="0"/>
                                  </p:stCondLst>
                                  <p:childTnLst>
                                    <p:set>
                                      <p:cBhvr>
                                        <p:cTn id="12" dur="1" fill="hold">
                                          <p:stCondLst>
                                            <p:cond delay="0"/>
                                          </p:stCondLst>
                                        </p:cTn>
                                        <p:tgtEl>
                                          <p:spTgt spid="12">
                                            <p:bg/>
                                          </p:spTgt>
                                        </p:tgtEl>
                                        <p:attrNameLst>
                                          <p:attrName>style.visibility</p:attrName>
                                        </p:attrNameLst>
                                      </p:cBhvr>
                                      <p:to>
                                        <p:strVal val="visible"/>
                                      </p:to>
                                    </p:set>
                                    <p:animEffect transition="in" filter="blinds(horizontal)">
                                      <p:cBhvr>
                                        <p:cTn id="13" dur="500"/>
                                        <p:tgtEl>
                                          <p:spTgt spid="12">
                                            <p:bg/>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2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276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11"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7.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角度调制</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与</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解调</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9" name="文本框 20481">
            <a:extLst>
              <a:ext uri="{FF2B5EF4-FFF2-40B4-BE49-F238E27FC236}">
                <a16:creationId xmlns="" xmlns:a16="http://schemas.microsoft.com/office/drawing/2014/main" id="{063A9D64-8C3C-AD85-DEE3-BEEA9DD531D1}"/>
              </a:ext>
            </a:extLst>
          </p:cNvPr>
          <p:cNvSpPr txBox="1">
            <a:spLocks noChangeArrowheads="1"/>
          </p:cNvSpPr>
          <p:nvPr/>
        </p:nvSpPr>
        <p:spPr bwMode="auto">
          <a:xfrm>
            <a:off x="669198" y="1220614"/>
            <a:ext cx="6353021"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pPr>
              <a:lnSpc>
                <a:spcPct val="120000"/>
              </a:lnSpc>
            </a:pPr>
            <a:r>
              <a:rPr lang="zh-CN" altLang="en-US" sz="2000" dirty="0" smtClean="0">
                <a:solidFill>
                  <a:srgbClr val="FF0000"/>
                </a:solidFill>
                <a:latin typeface="Times New Roman" panose="02020603050405020304" pitchFamily="18" charset="0"/>
                <a:cs typeface="Times New Roman" panose="02020603050405020304" pitchFamily="18" charset="0"/>
              </a:rPr>
              <a:t>瞬时频率</a:t>
            </a:r>
            <a:r>
              <a:rPr lang="zh-CN" altLang="en-US" sz="2000" dirty="0">
                <a:solidFill>
                  <a:srgbClr val="FF0000"/>
                </a:solidFill>
                <a:latin typeface="Times New Roman" panose="02020603050405020304" pitchFamily="18" charset="0"/>
                <a:cs typeface="Times New Roman" panose="02020603050405020304" pitchFamily="18" charset="0"/>
              </a:rPr>
              <a:t>偏移的最大值称为</a:t>
            </a:r>
            <a:r>
              <a:rPr lang="zh-CN" altLang="en-US" sz="2000" dirty="0">
                <a:solidFill>
                  <a:schemeClr val="accent2"/>
                </a:solidFill>
                <a:latin typeface="Times New Roman" panose="02020603050405020304" pitchFamily="18" charset="0"/>
                <a:cs typeface="Times New Roman" panose="02020603050405020304" pitchFamily="18" charset="0"/>
              </a:rPr>
              <a:t>频偏</a:t>
            </a:r>
            <a:r>
              <a:rPr lang="zh-CN" altLang="en-US" sz="2000" dirty="0">
                <a:solidFill>
                  <a:schemeClr val="tx1"/>
                </a:solidFill>
                <a:latin typeface="Times New Roman" panose="02020603050405020304" pitchFamily="18" charset="0"/>
                <a:cs typeface="Times New Roman" panose="02020603050405020304" pitchFamily="18" charset="0"/>
              </a:rPr>
              <a:t>，记</a:t>
            </a:r>
            <a:r>
              <a:rPr lang="zh-CN" altLang="en-US" sz="2000" i="1" dirty="0">
                <a:solidFill>
                  <a:schemeClr val="tx1"/>
                </a:solidFill>
                <a:latin typeface="Times New Roman" panose="02020603050405020304" pitchFamily="18" charset="0"/>
                <a:cs typeface="Times New Roman" panose="02020603050405020304" pitchFamily="18" charset="0"/>
              </a:rPr>
              <a:t>为</a:t>
            </a:r>
            <a:r>
              <a:rPr lang="en-US" altLang="zh-CN" sz="200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000" i="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1100" i="1" dirty="0">
                <a:solidFill>
                  <a:schemeClr val="tx1"/>
                </a:solidFill>
                <a:latin typeface="Times New Roman" panose="02020603050405020304" pitchFamily="18" charset="0"/>
                <a:cs typeface="Times New Roman" panose="02020603050405020304" pitchFamily="18" charset="0"/>
              </a:rPr>
              <a:t>m</a:t>
            </a:r>
            <a:r>
              <a:rPr lang="en-US" altLang="zh-CN" sz="2000" dirty="0" smtClean="0">
                <a:solidFill>
                  <a:schemeClr val="tx1"/>
                </a:solidFill>
                <a:latin typeface="Times New Roman" panose="02020603050405020304" pitchFamily="18" charset="0"/>
                <a:cs typeface="Times New Roman" panose="02020603050405020304" pitchFamily="18" charset="0"/>
              </a:rPr>
              <a:t>=           </a:t>
            </a:r>
            <a:r>
              <a:rPr lang="en-US" altLang="zh-CN" sz="1200" dirty="0" smtClean="0">
                <a:solidFill>
                  <a:schemeClr val="tx1"/>
                </a:solidFill>
                <a:latin typeface="Times New Roman" panose="02020603050405020304" pitchFamily="18" charset="0"/>
                <a:cs typeface="Times New Roman" panose="02020603050405020304" pitchFamily="18" charset="0"/>
              </a:rPr>
              <a:t>max</a:t>
            </a:r>
            <a:r>
              <a:rPr lang="zh-CN" altLang="en-US" sz="2000" dirty="0">
                <a:solidFill>
                  <a:schemeClr val="tx1"/>
                </a:solidFill>
                <a:latin typeface="Times New Roman" panose="02020603050405020304" pitchFamily="18" charset="0"/>
                <a:cs typeface="Times New Roman" panose="02020603050405020304" pitchFamily="18" charset="0"/>
              </a:rPr>
              <a:t>。</a:t>
            </a:r>
          </a:p>
          <a:p>
            <a:pPr>
              <a:lnSpc>
                <a:spcPct val="120000"/>
              </a:lnSpc>
            </a:pPr>
            <a:r>
              <a:rPr lang="zh-CN" altLang="en-US" sz="2000" dirty="0">
                <a:solidFill>
                  <a:srgbClr val="FF0000"/>
                </a:solidFill>
                <a:latin typeface="Times New Roman" panose="02020603050405020304" pitchFamily="18" charset="0"/>
                <a:cs typeface="Times New Roman" panose="02020603050405020304" pitchFamily="18" charset="0"/>
              </a:rPr>
              <a:t>瞬时相位偏移的最大值称为</a:t>
            </a:r>
            <a:r>
              <a:rPr lang="zh-CN" altLang="en-US" sz="2000" dirty="0">
                <a:solidFill>
                  <a:schemeClr val="accent2"/>
                </a:solidFill>
                <a:latin typeface="Times New Roman" panose="02020603050405020304" pitchFamily="18" charset="0"/>
                <a:cs typeface="Times New Roman" panose="02020603050405020304" pitchFamily="18" charset="0"/>
              </a:rPr>
              <a:t>调制指数</a:t>
            </a:r>
            <a:r>
              <a:rPr lang="zh-CN" altLang="en-US" sz="2000" dirty="0">
                <a:solidFill>
                  <a:schemeClr val="tx1"/>
                </a:solidFill>
                <a:latin typeface="Times New Roman" panose="02020603050405020304" pitchFamily="18" charset="0"/>
                <a:cs typeface="Times New Roman" panose="02020603050405020304" pitchFamily="18" charset="0"/>
              </a:rPr>
              <a:t>，</a:t>
            </a:r>
            <a:r>
              <a:rPr lang="en-US" altLang="zh-CN" sz="2000" i="1" dirty="0">
                <a:solidFill>
                  <a:schemeClr val="tx1"/>
                </a:solidFill>
                <a:latin typeface="Times New Roman" panose="02020603050405020304" pitchFamily="18" charset="0"/>
                <a:cs typeface="Times New Roman" panose="02020603050405020304" pitchFamily="18" charset="0"/>
              </a:rPr>
              <a:t>m</a:t>
            </a:r>
            <a:r>
              <a:rPr lang="en-US" altLang="zh-CN" sz="2000" dirty="0" smtClean="0">
                <a:solidFill>
                  <a:schemeClr val="tx1"/>
                </a:solidFill>
                <a:latin typeface="Times New Roman" panose="02020603050405020304" pitchFamily="18" charset="0"/>
                <a:cs typeface="Times New Roman" panose="02020603050405020304" pitchFamily="18" charset="0"/>
              </a:rPr>
              <a:t>=         </a:t>
            </a:r>
            <a:r>
              <a:rPr lang="en-US" altLang="zh-CN" sz="1200" dirty="0">
                <a:solidFill>
                  <a:schemeClr val="tx1"/>
                </a:solidFill>
                <a:latin typeface="Times New Roman" panose="02020603050405020304" pitchFamily="18" charset="0"/>
                <a:cs typeface="Times New Roman" panose="02020603050405020304" pitchFamily="18" charset="0"/>
              </a:rPr>
              <a:t>max</a:t>
            </a:r>
            <a:r>
              <a:rPr lang="zh-CN" altLang="en-US" sz="2000" dirty="0">
                <a:solidFill>
                  <a:schemeClr val="tx1"/>
                </a:solidFill>
                <a:latin typeface="Times New Roman" panose="02020603050405020304" pitchFamily="18" charset="0"/>
                <a:cs typeface="Times New Roman" panose="02020603050405020304" pitchFamily="18" charset="0"/>
              </a:rPr>
              <a:t>。</a:t>
            </a:r>
          </a:p>
        </p:txBody>
      </p:sp>
      <p:pic>
        <p:nvPicPr>
          <p:cNvPr id="10" name="图片 20482" descr="25.wmf">
            <a:extLst>
              <a:ext uri="{FF2B5EF4-FFF2-40B4-BE49-F238E27FC236}">
                <a16:creationId xmlns="" xmlns:a16="http://schemas.microsoft.com/office/drawing/2014/main" id="{8C424DAD-B55D-F3A8-2DCF-D6EC49CE01D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622389" y="1210125"/>
            <a:ext cx="798396" cy="423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图片 20483" descr="26.wmf">
            <a:extLst>
              <a:ext uri="{FF2B5EF4-FFF2-40B4-BE49-F238E27FC236}">
                <a16:creationId xmlns="" xmlns:a16="http://schemas.microsoft.com/office/drawing/2014/main" id="{ADEBD37F-0C0B-06EC-201F-D9D6AA78A73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90769" y="1575008"/>
            <a:ext cx="653259" cy="4293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图片 12" descr="27.wmf">
            <a:extLst>
              <a:ext uri="{FF2B5EF4-FFF2-40B4-BE49-F238E27FC236}">
                <a16:creationId xmlns="" xmlns:a16="http://schemas.microsoft.com/office/drawing/2014/main" id="{5BEA482A-D968-1A9F-C123-53541F711E00}"/>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297262" y="2510656"/>
            <a:ext cx="1008112" cy="448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文本框 13">
            <a:extLst>
              <a:ext uri="{FF2B5EF4-FFF2-40B4-BE49-F238E27FC236}">
                <a16:creationId xmlns="" xmlns:a16="http://schemas.microsoft.com/office/drawing/2014/main" id="{37BAAE8B-8218-3923-44C7-4A2ABD909E99}"/>
              </a:ext>
            </a:extLst>
          </p:cNvPr>
          <p:cNvSpPr txBox="1">
            <a:spLocks noChangeArrowheads="1"/>
          </p:cNvSpPr>
          <p:nvPr/>
        </p:nvSpPr>
        <p:spPr bwMode="auto">
          <a:xfrm>
            <a:off x="712352" y="2145773"/>
            <a:ext cx="178766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r>
              <a:rPr lang="zh-CN" altLang="en-US" sz="2000" dirty="0">
                <a:solidFill>
                  <a:schemeClr val="tx1"/>
                </a:solidFill>
                <a:latin typeface="Times New Roman" panose="02020603050405020304" pitchFamily="18" charset="0"/>
                <a:cs typeface="Times New Roman" panose="02020603050405020304" pitchFamily="18" charset="0"/>
              </a:rPr>
              <a:t>对调频而言， </a:t>
            </a:r>
          </a:p>
        </p:txBody>
      </p:sp>
      <p:sp>
        <p:nvSpPr>
          <p:cNvPr id="15" name="文本框 14">
            <a:extLst>
              <a:ext uri="{FF2B5EF4-FFF2-40B4-BE49-F238E27FC236}">
                <a16:creationId xmlns="" xmlns:a16="http://schemas.microsoft.com/office/drawing/2014/main" id="{1D396806-0505-8B45-703B-6F8D866DEA5B}"/>
              </a:ext>
            </a:extLst>
          </p:cNvPr>
          <p:cNvSpPr txBox="1">
            <a:spLocks noChangeArrowheads="1"/>
          </p:cNvSpPr>
          <p:nvPr/>
        </p:nvSpPr>
        <p:spPr bwMode="auto">
          <a:xfrm>
            <a:off x="2090653" y="2386595"/>
            <a:ext cx="3531736"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pPr>
              <a:lnSpc>
                <a:spcPct val="180000"/>
              </a:lnSpc>
            </a:pPr>
            <a:r>
              <a:rPr lang="zh-CN" altLang="en-US" sz="2000" dirty="0">
                <a:solidFill>
                  <a:schemeClr val="tx1"/>
                </a:solidFill>
                <a:latin typeface="Times New Roman" panose="02020603050405020304" pitchFamily="18" charset="0"/>
                <a:cs typeface="Times New Roman" panose="02020603050405020304" pitchFamily="18" charset="0"/>
              </a:rPr>
              <a:t>频偏        </a:t>
            </a:r>
            <a:r>
              <a:rPr lang="zh-CN" altLang="en-US" sz="2000" dirty="0" smtClean="0">
                <a:solidFill>
                  <a:schemeClr val="tx1"/>
                </a:solidFill>
                <a:latin typeface="Times New Roman" panose="02020603050405020304" pitchFamily="18" charset="0"/>
                <a:cs typeface="Times New Roman" panose="02020603050405020304" pitchFamily="18" charset="0"/>
              </a:rPr>
              <a:t>    </a:t>
            </a:r>
            <a:r>
              <a:rPr lang="en-US" altLang="zh-CN" sz="200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000" i="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1100" i="1" dirty="0">
                <a:solidFill>
                  <a:schemeClr val="tx1"/>
                </a:solidFill>
                <a:latin typeface="Times New Roman" panose="02020603050405020304" pitchFamily="18" charset="0"/>
                <a:cs typeface="Times New Roman" panose="02020603050405020304" pitchFamily="18" charset="0"/>
              </a:rPr>
              <a:t>m</a:t>
            </a:r>
            <a:r>
              <a:rPr lang="en-US" altLang="zh-CN" sz="2000" dirty="0">
                <a:solidFill>
                  <a:schemeClr val="tx1"/>
                </a:solidFill>
                <a:latin typeface="Times New Roman" panose="02020603050405020304" pitchFamily="18" charset="0"/>
                <a:cs typeface="Times New Roman" panose="02020603050405020304" pitchFamily="18" charset="0"/>
              </a:rPr>
              <a:t>=</a:t>
            </a:r>
            <a:r>
              <a:rPr lang="en-US" altLang="zh-CN" sz="2000" dirty="0" err="1">
                <a:solidFill>
                  <a:schemeClr val="tx1"/>
                </a:solidFill>
                <a:latin typeface="Times New Roman" panose="02020603050405020304" pitchFamily="18" charset="0"/>
                <a:cs typeface="Times New Roman" panose="02020603050405020304" pitchFamily="18" charset="0"/>
              </a:rPr>
              <a:t>K</a:t>
            </a:r>
            <a:r>
              <a:rPr lang="en-US" altLang="zh-CN" sz="2000" baseline="-25000" dirty="0" err="1">
                <a:solidFill>
                  <a:schemeClr val="tx1"/>
                </a:solidFill>
                <a:latin typeface="Times New Roman" panose="02020603050405020304" pitchFamily="18" charset="0"/>
                <a:cs typeface="Times New Roman" panose="02020603050405020304" pitchFamily="18" charset="0"/>
              </a:rPr>
              <a:t>f</a:t>
            </a:r>
            <a:r>
              <a:rPr lang="en-US" altLang="zh-CN" sz="2000" dirty="0">
                <a:solidFill>
                  <a:schemeClr val="tx1"/>
                </a:solidFill>
                <a:latin typeface="Times New Roman" panose="02020603050405020304" pitchFamily="18" charset="0"/>
                <a:cs typeface="Times New Roman" panose="02020603050405020304" pitchFamily="18" charset="0"/>
              </a:rPr>
              <a:t>	</a:t>
            </a:r>
            <a:r>
              <a:rPr lang="en-US" altLang="zh-CN" sz="2000" dirty="0" smtClean="0">
                <a:solidFill>
                  <a:schemeClr val="tx1"/>
                </a:solidFill>
                <a:latin typeface="Times New Roman" panose="02020603050405020304" pitchFamily="18" charset="0"/>
                <a:cs typeface="Times New Roman" panose="02020603050405020304" pitchFamily="18" charset="0"/>
              </a:rPr>
              <a:t>         </a:t>
            </a:r>
            <a:endParaRPr lang="en-US" altLang="zh-CN" sz="2000" dirty="0">
              <a:solidFill>
                <a:schemeClr val="tx1"/>
              </a:solidFill>
              <a:latin typeface="Times New Roman" panose="02020603050405020304" pitchFamily="18" charset="0"/>
              <a:cs typeface="Times New Roman" panose="02020603050405020304" pitchFamily="18" charset="0"/>
            </a:endParaRPr>
          </a:p>
          <a:p>
            <a:pPr>
              <a:lnSpc>
                <a:spcPct val="180000"/>
              </a:lnSpc>
            </a:pPr>
            <a:r>
              <a:rPr lang="zh-CN" altLang="en-US" sz="2000" dirty="0">
                <a:solidFill>
                  <a:schemeClr val="tx1"/>
                </a:solidFill>
                <a:latin typeface="Times New Roman" panose="02020603050405020304" pitchFamily="18" charset="0"/>
                <a:cs typeface="Times New Roman" panose="02020603050405020304" pitchFamily="18" charset="0"/>
              </a:rPr>
              <a:t>调频指数       </a:t>
            </a:r>
            <a:r>
              <a:rPr lang="en-US" altLang="zh-CN" sz="2000" i="1" dirty="0" smtClean="0">
                <a:solidFill>
                  <a:schemeClr val="tx1"/>
                </a:solidFill>
                <a:latin typeface="Times New Roman" panose="02020603050405020304" pitchFamily="18" charset="0"/>
                <a:cs typeface="Times New Roman" panose="02020603050405020304" pitchFamily="18" charset="0"/>
              </a:rPr>
              <a:t>m</a:t>
            </a:r>
            <a:r>
              <a:rPr lang="en-US" altLang="zh-CN" sz="1200" i="1" dirty="0" smtClean="0">
                <a:solidFill>
                  <a:schemeClr val="tx1"/>
                </a:solidFill>
                <a:latin typeface="Times New Roman" panose="02020603050405020304" pitchFamily="18" charset="0"/>
                <a:cs typeface="Times New Roman" panose="02020603050405020304" pitchFamily="18" charset="0"/>
              </a:rPr>
              <a:t>f </a:t>
            </a:r>
            <a:r>
              <a:rPr lang="en-US" altLang="zh-CN" sz="2000" dirty="0" smtClean="0">
                <a:solidFill>
                  <a:schemeClr val="tx1"/>
                </a:solidFill>
                <a:latin typeface="Times New Roman" panose="02020603050405020304" pitchFamily="18" charset="0"/>
                <a:cs typeface="Times New Roman" panose="02020603050405020304" pitchFamily="18" charset="0"/>
              </a:rPr>
              <a:t>=</a:t>
            </a:r>
            <a:r>
              <a:rPr lang="en-US" altLang="zh-CN" sz="2000" dirty="0" err="1" smtClean="0">
                <a:solidFill>
                  <a:schemeClr val="tx1"/>
                </a:solidFill>
                <a:latin typeface="Times New Roman" panose="02020603050405020304" pitchFamily="18" charset="0"/>
                <a:cs typeface="Times New Roman" panose="02020603050405020304" pitchFamily="18" charset="0"/>
              </a:rPr>
              <a:t>K</a:t>
            </a:r>
            <a:r>
              <a:rPr lang="en-US" altLang="zh-CN" sz="2000" baseline="-25000" dirty="0" err="1" smtClean="0">
                <a:solidFill>
                  <a:schemeClr val="tx1"/>
                </a:solidFill>
                <a:latin typeface="Times New Roman" panose="02020603050405020304" pitchFamily="18" charset="0"/>
                <a:cs typeface="Times New Roman" panose="02020603050405020304" pitchFamily="18" charset="0"/>
              </a:rPr>
              <a:t>f</a:t>
            </a:r>
            <a:r>
              <a:rPr lang="en-US" altLang="zh-CN" sz="2000" dirty="0">
                <a:solidFill>
                  <a:schemeClr val="tx1"/>
                </a:solidFill>
                <a:latin typeface="Times New Roman" panose="02020603050405020304" pitchFamily="18" charset="0"/>
                <a:cs typeface="Times New Roman" panose="02020603050405020304" pitchFamily="18" charset="0"/>
              </a:rPr>
              <a:t>	</a:t>
            </a:r>
            <a:r>
              <a:rPr lang="en-US" altLang="zh-CN" sz="2000" dirty="0" smtClean="0">
                <a:solidFill>
                  <a:schemeClr val="tx1"/>
                </a:solidFill>
                <a:latin typeface="Times New Roman" panose="02020603050405020304" pitchFamily="18" charset="0"/>
                <a:cs typeface="Times New Roman" panose="02020603050405020304" pitchFamily="18" charset="0"/>
              </a:rPr>
              <a:t>         </a:t>
            </a:r>
            <a:endParaRPr lang="en-US" altLang="zh-CN" sz="2000" dirty="0">
              <a:solidFill>
                <a:schemeClr val="tx1"/>
              </a:solidFill>
              <a:latin typeface="Times New Roman" panose="02020603050405020304" pitchFamily="18" charset="0"/>
              <a:cs typeface="Times New Roman" panose="02020603050405020304" pitchFamily="18" charset="0"/>
            </a:endParaRPr>
          </a:p>
        </p:txBody>
      </p:sp>
      <p:pic>
        <p:nvPicPr>
          <p:cNvPr id="16" name="图片 15" descr="28.wmf">
            <a:extLst>
              <a:ext uri="{FF2B5EF4-FFF2-40B4-BE49-F238E27FC236}">
                <a16:creationId xmlns="" xmlns:a16="http://schemas.microsoft.com/office/drawing/2014/main" id="{6D92842F-F001-ABC0-4493-64203722F23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301765" y="2978564"/>
            <a:ext cx="1415634" cy="614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文本框 16">
            <a:extLst>
              <a:ext uri="{FF2B5EF4-FFF2-40B4-BE49-F238E27FC236}">
                <a16:creationId xmlns="" xmlns:a16="http://schemas.microsoft.com/office/drawing/2014/main" id="{EC35A0BD-82E9-E928-2BF1-70271FFBB8AF}"/>
              </a:ext>
            </a:extLst>
          </p:cNvPr>
          <p:cNvSpPr txBox="1">
            <a:spLocks noChangeArrowheads="1"/>
          </p:cNvSpPr>
          <p:nvPr/>
        </p:nvSpPr>
        <p:spPr bwMode="auto">
          <a:xfrm>
            <a:off x="729753" y="3384576"/>
            <a:ext cx="3942105"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pPr>
              <a:lnSpc>
                <a:spcPct val="180000"/>
              </a:lnSpc>
            </a:pPr>
            <a:r>
              <a:rPr lang="zh-CN" altLang="en-US" sz="2000" dirty="0">
                <a:solidFill>
                  <a:schemeClr val="tx1"/>
                </a:solidFill>
                <a:latin typeface="Times New Roman" panose="02020603050405020304" pitchFamily="18" charset="0"/>
                <a:cs typeface="Times New Roman" panose="02020603050405020304" pitchFamily="18" charset="0"/>
              </a:rPr>
              <a:t>对调相而言，</a:t>
            </a:r>
          </a:p>
          <a:p>
            <a:pPr>
              <a:lnSpc>
                <a:spcPct val="180000"/>
              </a:lnSpc>
            </a:pPr>
            <a:r>
              <a:rPr lang="zh-CN" altLang="en-US" sz="2000" dirty="0" smtClean="0">
                <a:solidFill>
                  <a:schemeClr val="tx1"/>
                </a:solidFill>
                <a:latin typeface="Times New Roman" panose="02020603050405020304" pitchFamily="18" charset="0"/>
                <a:cs typeface="Times New Roman" panose="02020603050405020304" pitchFamily="18" charset="0"/>
              </a:rPr>
              <a:t>                      频偏                         </a:t>
            </a:r>
            <a:r>
              <a:rPr lang="zh-CN" altLang="en-US" sz="2000" dirty="0">
                <a:solidFill>
                  <a:schemeClr val="tx1"/>
                </a:solidFill>
                <a:latin typeface="Times New Roman" panose="02020603050405020304" pitchFamily="18" charset="0"/>
                <a:cs typeface="Times New Roman" panose="02020603050405020304" pitchFamily="18" charset="0"/>
              </a:rPr>
              <a:t>	 </a:t>
            </a:r>
            <a:endParaRPr lang="en-US" altLang="zh-CN" sz="2000" dirty="0" smtClean="0">
              <a:solidFill>
                <a:schemeClr val="tx1"/>
              </a:solidFill>
              <a:latin typeface="Times New Roman" panose="02020603050405020304" pitchFamily="18" charset="0"/>
              <a:cs typeface="Times New Roman" panose="02020603050405020304" pitchFamily="18" charset="0"/>
            </a:endParaRPr>
          </a:p>
          <a:p>
            <a:pPr>
              <a:lnSpc>
                <a:spcPct val="180000"/>
              </a:lnSpc>
            </a:pPr>
            <a:r>
              <a:rPr lang="zh-CN" altLang="en-US" sz="2000" dirty="0" smtClean="0">
                <a:solidFill>
                  <a:schemeClr val="tx1"/>
                </a:solidFill>
                <a:latin typeface="Times New Roman" panose="02020603050405020304" pitchFamily="18" charset="0"/>
                <a:cs typeface="Times New Roman" panose="02020603050405020304" pitchFamily="18" charset="0"/>
              </a:rPr>
              <a:t>                      调相</a:t>
            </a:r>
            <a:r>
              <a:rPr lang="zh-CN" altLang="en-US" sz="2000" dirty="0">
                <a:solidFill>
                  <a:schemeClr val="tx1"/>
                </a:solidFill>
                <a:latin typeface="Times New Roman" panose="02020603050405020304" pitchFamily="18" charset="0"/>
                <a:cs typeface="Times New Roman" panose="02020603050405020304" pitchFamily="18" charset="0"/>
              </a:rPr>
              <a:t>指数                 	</a:t>
            </a:r>
            <a:endParaRPr lang="en-US" altLang="zh-CN" sz="2000" dirty="0">
              <a:solidFill>
                <a:schemeClr val="tx1"/>
              </a:solidFill>
              <a:latin typeface="Times New Roman" panose="02020603050405020304" pitchFamily="18" charset="0"/>
              <a:cs typeface="Times New Roman" panose="02020603050405020304" pitchFamily="18" charset="0"/>
            </a:endParaRPr>
          </a:p>
        </p:txBody>
      </p:sp>
      <p:pic>
        <p:nvPicPr>
          <p:cNvPr id="19" name="图片 18" descr="29.wmf">
            <a:extLst>
              <a:ext uri="{FF2B5EF4-FFF2-40B4-BE49-F238E27FC236}">
                <a16:creationId xmlns="" xmlns:a16="http://schemas.microsoft.com/office/drawing/2014/main" id="{3B34089F-6F8E-125A-647F-4A9DC27D246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03364" y="3840924"/>
            <a:ext cx="2387795" cy="796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 name="图片 19" descr="30.wmf">
            <a:extLst>
              <a:ext uri="{FF2B5EF4-FFF2-40B4-BE49-F238E27FC236}">
                <a16:creationId xmlns="" xmlns:a16="http://schemas.microsoft.com/office/drawing/2014/main" id="{07C1A842-ACB2-8F38-80A0-5D80626E9D5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98342" y="4637804"/>
            <a:ext cx="2272391" cy="489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矩形 3"/>
          <p:cNvSpPr/>
          <p:nvPr/>
        </p:nvSpPr>
        <p:spPr>
          <a:xfrm>
            <a:off x="573277" y="5046848"/>
            <a:ext cx="8239075" cy="1754326"/>
          </a:xfrm>
          <a:prstGeom prst="rect">
            <a:avLst/>
          </a:prstGeom>
        </p:spPr>
        <p:txBody>
          <a:bodyPr wrap="square">
            <a:spAutoFit/>
          </a:bodyPr>
          <a:lstStyle/>
          <a:p>
            <a:pPr>
              <a:lnSpc>
                <a:spcPct val="120000"/>
              </a:lnSpc>
              <a:buFont typeface="Times New Roman" panose="02020603050405020304" pitchFamily="18" charset="0"/>
              <a:buNone/>
            </a:pPr>
            <a:r>
              <a:rPr lang="en-US" altLang="zh-CN" kern="0" dirty="0"/>
              <a:t> </a:t>
            </a:r>
            <a:r>
              <a:rPr lang="zh-CN" altLang="en-US" kern="0" dirty="0">
                <a:latin typeface="+mn-ea"/>
              </a:rPr>
              <a:t>根据以上分析得出如下结论：</a:t>
            </a:r>
          </a:p>
          <a:p>
            <a:pPr>
              <a:lnSpc>
                <a:spcPct val="120000"/>
              </a:lnSpc>
              <a:buFont typeface="Times New Roman" panose="02020603050405020304" pitchFamily="18" charset="0"/>
              <a:buNone/>
            </a:pPr>
            <a:r>
              <a:rPr lang="zh-CN" altLang="en-US" kern="0" dirty="0">
                <a:latin typeface="+mn-ea"/>
              </a:rPr>
              <a:t>  </a:t>
            </a:r>
            <a:r>
              <a:rPr lang="zh-CN" altLang="en-US" kern="0" dirty="0">
                <a:solidFill>
                  <a:schemeClr val="accent2"/>
                </a:solidFill>
                <a:latin typeface="+mn-ea"/>
              </a:rPr>
              <a:t>调频时，载波的瞬时频率变化量与调制信号成线性关系，</a:t>
            </a:r>
          </a:p>
          <a:p>
            <a:pPr>
              <a:lnSpc>
                <a:spcPct val="120000"/>
              </a:lnSpc>
              <a:buFont typeface="Times New Roman" panose="02020603050405020304" pitchFamily="18" charset="0"/>
              <a:buNone/>
            </a:pPr>
            <a:r>
              <a:rPr lang="zh-CN" altLang="en-US" kern="0" dirty="0">
                <a:solidFill>
                  <a:schemeClr val="accent2"/>
                </a:solidFill>
                <a:latin typeface="+mn-ea"/>
              </a:rPr>
              <a:t>          载波的瞬时相位变化量与调制信号的积分成线性关系；</a:t>
            </a:r>
          </a:p>
          <a:p>
            <a:pPr>
              <a:lnSpc>
                <a:spcPct val="120000"/>
              </a:lnSpc>
              <a:buFont typeface="Times New Roman" panose="02020603050405020304" pitchFamily="18" charset="0"/>
              <a:buNone/>
            </a:pPr>
            <a:r>
              <a:rPr lang="zh-CN" altLang="en-US" kern="0" dirty="0">
                <a:latin typeface="+mn-ea"/>
              </a:rPr>
              <a:t>  </a:t>
            </a:r>
            <a:r>
              <a:rPr lang="zh-CN" altLang="en-US" kern="0" dirty="0">
                <a:solidFill>
                  <a:srgbClr val="FF0000"/>
                </a:solidFill>
                <a:latin typeface="+mn-ea"/>
              </a:rPr>
              <a:t>调相时，载波的瞬时频率变化量与调制信号的微分成线性关系，</a:t>
            </a:r>
          </a:p>
          <a:p>
            <a:pPr>
              <a:lnSpc>
                <a:spcPct val="120000"/>
              </a:lnSpc>
              <a:buFont typeface="Times New Roman" panose="02020603050405020304" pitchFamily="18" charset="0"/>
              <a:buNone/>
            </a:pPr>
            <a:r>
              <a:rPr lang="zh-CN" altLang="en-US" kern="0" dirty="0">
                <a:solidFill>
                  <a:srgbClr val="FF0000"/>
                </a:solidFill>
                <a:latin typeface="+mn-ea"/>
              </a:rPr>
              <a:t>          载波的瞬时相位变化量与调制信号成线性关系。</a:t>
            </a:r>
            <a:endParaRPr lang="zh-CN" altLang="en-US" dirty="0"/>
          </a:p>
        </p:txBody>
      </p:sp>
    </p:spTree>
    <p:extLst>
      <p:ext uri="{BB962C8B-B14F-4D97-AF65-F5344CB8AC3E}">
        <p14:creationId xmlns:p14="http://schemas.microsoft.com/office/powerpoint/2010/main" val="33203252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3">
                                            <p:bg/>
                                          </p:spTgt>
                                        </p:tgtEl>
                                        <p:attrNameLst>
                                          <p:attrName>style.visibility</p:attrName>
                                        </p:attrNameLst>
                                      </p:cBhvr>
                                      <p:to>
                                        <p:strVal val="visible"/>
                                      </p:to>
                                    </p:set>
                                    <p:animEffect transition="in" filter="blinds(horizontal)">
                                      <p:cBhvr>
                                        <p:cTn id="7" dur="500"/>
                                        <p:tgtEl>
                                          <p:spTgt spid="13">
                                            <p:bg/>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blinds(horizontal)">
                                      <p:cBhvr>
                                        <p:cTn id="10" dur="500"/>
                                        <p:tgtEl>
                                          <p:spTgt spid="14"/>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blinds(horizontal)">
                                      <p:cBhvr>
                                        <p:cTn id="13" dur="500"/>
                                        <p:tgtEl>
                                          <p:spTgt spid="15"/>
                                        </p:tgtEl>
                                      </p:cBhvr>
                                    </p:animEffect>
                                  </p:childTnLst>
                                </p:cTn>
                              </p:par>
                              <p:par>
                                <p:cTn id="14" presetID="3" presetClass="entr" presetSubtype="10" fill="hold" nodeType="withEffect">
                                  <p:stCondLst>
                                    <p:cond delay="0"/>
                                  </p:stCondLst>
                                  <p:childTnLst>
                                    <p:set>
                                      <p:cBhvr>
                                        <p:cTn id="15" dur="1" fill="hold">
                                          <p:stCondLst>
                                            <p:cond delay="0"/>
                                          </p:stCondLst>
                                        </p:cTn>
                                        <p:tgtEl>
                                          <p:spTgt spid="16">
                                            <p:bg/>
                                          </p:spTgt>
                                        </p:tgtEl>
                                        <p:attrNameLst>
                                          <p:attrName>style.visibility</p:attrName>
                                        </p:attrNameLst>
                                      </p:cBhvr>
                                      <p:to>
                                        <p:strVal val="visible"/>
                                      </p:to>
                                    </p:set>
                                    <p:animEffect transition="in" filter="blinds(horizontal)">
                                      <p:cBhvr>
                                        <p:cTn id="16" dur="500"/>
                                        <p:tgtEl>
                                          <p:spTgt spid="16">
                                            <p:bg/>
                                          </p:spTgt>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19">
                                            <p:bg/>
                                          </p:spTgt>
                                        </p:tgtEl>
                                        <p:attrNameLst>
                                          <p:attrName>style.visibility</p:attrName>
                                        </p:attrNameLst>
                                      </p:cBhvr>
                                      <p:to>
                                        <p:strVal val="visible"/>
                                      </p:to>
                                    </p:set>
                                    <p:animEffect transition="in" filter="blinds(horizontal)">
                                      <p:cBhvr>
                                        <p:cTn id="21" dur="500"/>
                                        <p:tgtEl>
                                          <p:spTgt spid="19">
                                            <p:bg/>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20">
                                            <p:bg/>
                                          </p:spTgt>
                                        </p:tgtEl>
                                        <p:attrNameLst>
                                          <p:attrName>style.visibility</p:attrName>
                                        </p:attrNameLst>
                                      </p:cBhvr>
                                      <p:to>
                                        <p:strVal val="visible"/>
                                      </p:to>
                                    </p:set>
                                    <p:animEffect transition="in" filter="blinds(horizontal)">
                                      <p:cBhvr>
                                        <p:cTn id="24" dur="500"/>
                                        <p:tgtEl>
                                          <p:spTgt spid="20">
                                            <p:bg/>
                                          </p:spTgt>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blinds(horizontal)">
                                      <p:cBhvr>
                                        <p:cTn id="2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7" grpId="0"/>
    </p:bldLst>
  </p:timing>
</p:sld>
</file>

<file path=ppt/slides/slide2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277</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11"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7.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角度调制</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与</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解调</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文本框 24577">
            <a:extLst>
              <a:ext uri="{FF2B5EF4-FFF2-40B4-BE49-F238E27FC236}">
                <a16:creationId xmlns="" xmlns:a16="http://schemas.microsoft.com/office/drawing/2014/main" id="{747209BB-F1FF-5297-65ED-711B1E493ECE}"/>
              </a:ext>
            </a:extLst>
          </p:cNvPr>
          <p:cNvSpPr txBox="1">
            <a:spLocks noChangeArrowheads="1"/>
          </p:cNvSpPr>
          <p:nvPr/>
        </p:nvSpPr>
        <p:spPr bwMode="auto">
          <a:xfrm>
            <a:off x="850407" y="1111203"/>
            <a:ext cx="3023585"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pPr>
              <a:lnSpc>
                <a:spcPct val="140000"/>
              </a:lnSpc>
            </a:pPr>
            <a:r>
              <a:rPr lang="zh-CN" altLang="en-US" sz="2000" dirty="0">
                <a:solidFill>
                  <a:schemeClr val="tx1"/>
                </a:solidFill>
                <a:latin typeface="Times New Roman" panose="02020603050405020304" pitchFamily="18" charset="0"/>
                <a:cs typeface="Times New Roman" panose="02020603050405020304" pitchFamily="18" charset="0"/>
              </a:rPr>
              <a:t>从以上二式可知，</a:t>
            </a:r>
          </a:p>
          <a:p>
            <a:pPr>
              <a:lnSpc>
                <a:spcPct val="140000"/>
              </a:lnSpc>
            </a:pPr>
            <a:r>
              <a:rPr lang="zh-CN" altLang="en-US" sz="2000" dirty="0">
                <a:solidFill>
                  <a:schemeClr val="tx1"/>
                </a:solidFill>
                <a:latin typeface="Times New Roman" panose="02020603050405020304" pitchFamily="18" charset="0"/>
                <a:cs typeface="Times New Roman" panose="02020603050405020304" pitchFamily="18" charset="0"/>
              </a:rPr>
              <a:t>此时</a:t>
            </a:r>
            <a:r>
              <a:rPr lang="zh-CN" altLang="en-US" sz="2000" dirty="0">
                <a:solidFill>
                  <a:schemeClr val="accent2"/>
                </a:solidFill>
                <a:latin typeface="Times New Roman" panose="02020603050405020304" pitchFamily="18" charset="0"/>
                <a:cs typeface="Times New Roman" panose="02020603050405020304" pitchFamily="18" charset="0"/>
              </a:rPr>
              <a:t>调频波的调制指数为</a:t>
            </a:r>
          </a:p>
        </p:txBody>
      </p:sp>
      <p:pic>
        <p:nvPicPr>
          <p:cNvPr id="6" name="图片 24578" descr="41.wmf">
            <a:extLst>
              <a:ext uri="{FF2B5EF4-FFF2-40B4-BE49-F238E27FC236}">
                <a16:creationId xmlns="" xmlns:a16="http://schemas.microsoft.com/office/drawing/2014/main" id="{AEC4BAA6-A6B8-3C19-E3D7-21CBC897B49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118931" y="1436614"/>
            <a:ext cx="1866250" cy="730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文本框 24580">
            <a:extLst>
              <a:ext uri="{FF2B5EF4-FFF2-40B4-BE49-F238E27FC236}">
                <a16:creationId xmlns="" xmlns:a16="http://schemas.microsoft.com/office/drawing/2014/main" id="{1AC55E29-8501-92AD-1CDA-C64F4EBB60D1}"/>
              </a:ext>
            </a:extLst>
          </p:cNvPr>
          <p:cNvSpPr txBox="1">
            <a:spLocks noChangeArrowheads="1"/>
          </p:cNvSpPr>
          <p:nvPr/>
        </p:nvSpPr>
        <p:spPr bwMode="auto">
          <a:xfrm>
            <a:off x="1332002" y="2055182"/>
            <a:ext cx="263726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r>
              <a:rPr lang="zh-CN" altLang="en-US" sz="2000" dirty="0">
                <a:solidFill>
                  <a:schemeClr val="accent2"/>
                </a:solidFill>
                <a:latin typeface="Times New Roman" panose="02020603050405020304" pitchFamily="18" charset="0"/>
                <a:cs typeface="Times New Roman" panose="02020603050405020304" pitchFamily="18" charset="0"/>
              </a:rPr>
              <a:t>调相波的调制指数为 </a:t>
            </a:r>
          </a:p>
        </p:txBody>
      </p:sp>
      <p:sp>
        <p:nvSpPr>
          <p:cNvPr id="9" name="文本框 24581">
            <a:extLst>
              <a:ext uri="{FF2B5EF4-FFF2-40B4-BE49-F238E27FC236}">
                <a16:creationId xmlns="" xmlns:a16="http://schemas.microsoft.com/office/drawing/2014/main" id="{E25B6D85-C82B-B286-5952-3A2F8BA126BD}"/>
              </a:ext>
            </a:extLst>
          </p:cNvPr>
          <p:cNvSpPr txBox="1">
            <a:spLocks noChangeArrowheads="1"/>
          </p:cNvSpPr>
          <p:nvPr/>
        </p:nvSpPr>
        <p:spPr bwMode="auto">
          <a:xfrm>
            <a:off x="4118931" y="2076168"/>
            <a:ext cx="146706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r>
              <a:rPr lang="en-US" altLang="zh-CN" sz="2000" dirty="0" err="1">
                <a:solidFill>
                  <a:schemeClr val="tx1"/>
                </a:solidFill>
                <a:latin typeface="Times New Roman" panose="02020603050405020304" pitchFamily="18" charset="0"/>
                <a:cs typeface="Times New Roman" panose="02020603050405020304" pitchFamily="18" charset="0"/>
              </a:rPr>
              <a:t>m</a:t>
            </a:r>
            <a:r>
              <a:rPr lang="en-US" altLang="zh-CN" sz="1600" dirty="0" err="1">
                <a:solidFill>
                  <a:schemeClr val="tx1"/>
                </a:solidFill>
                <a:latin typeface="Times New Roman" panose="02020603050405020304" pitchFamily="18" charset="0"/>
                <a:cs typeface="Times New Roman" panose="02020603050405020304" pitchFamily="18" charset="0"/>
              </a:rPr>
              <a:t>p</a:t>
            </a:r>
            <a:r>
              <a:rPr lang="en-US" altLang="zh-CN" sz="2000" dirty="0">
                <a:solidFill>
                  <a:schemeClr val="tx1"/>
                </a:solidFill>
                <a:latin typeface="Times New Roman" panose="02020603050405020304" pitchFamily="18" charset="0"/>
                <a:cs typeface="Times New Roman" panose="02020603050405020304" pitchFamily="18" charset="0"/>
              </a:rPr>
              <a:t> = </a:t>
            </a:r>
            <a:r>
              <a:rPr lang="en-US" altLang="zh-CN" sz="2000" dirty="0" err="1">
                <a:solidFill>
                  <a:schemeClr val="tx1"/>
                </a:solidFill>
                <a:latin typeface="Times New Roman" panose="02020603050405020304" pitchFamily="18" charset="0"/>
                <a:cs typeface="Times New Roman" panose="02020603050405020304" pitchFamily="18" charset="0"/>
              </a:rPr>
              <a:t>K</a:t>
            </a:r>
            <a:r>
              <a:rPr lang="en-US" altLang="zh-CN" dirty="0" err="1">
                <a:solidFill>
                  <a:schemeClr val="tx1"/>
                </a:solidFill>
                <a:latin typeface="Times New Roman" panose="02020603050405020304" pitchFamily="18" charset="0"/>
                <a:cs typeface="Times New Roman" panose="02020603050405020304" pitchFamily="18" charset="0"/>
              </a:rPr>
              <a:t>p</a:t>
            </a:r>
            <a:r>
              <a:rPr lang="en-US" altLang="zh-CN" sz="2000" dirty="0" err="1">
                <a:solidFill>
                  <a:schemeClr val="tx1"/>
                </a:solidFill>
                <a:latin typeface="Times New Roman" panose="02020603050405020304" pitchFamily="18" charset="0"/>
                <a:cs typeface="Times New Roman" panose="02020603050405020304" pitchFamily="18" charset="0"/>
              </a:rPr>
              <a:t>V</a:t>
            </a:r>
            <a:r>
              <a:rPr lang="en-US" altLang="zh-CN" sz="2000" baseline="-2500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000" dirty="0">
                <a:solidFill>
                  <a:schemeClr val="tx1"/>
                </a:solidFill>
                <a:latin typeface="Times New Roman" panose="02020603050405020304" pitchFamily="18" charset="0"/>
                <a:cs typeface="Times New Roman" panose="02020603050405020304" pitchFamily="18" charset="0"/>
              </a:rPr>
              <a:t> </a:t>
            </a:r>
          </a:p>
        </p:txBody>
      </p:sp>
      <p:sp>
        <p:nvSpPr>
          <p:cNvPr id="12" name="文本框 24583">
            <a:extLst>
              <a:ext uri="{FF2B5EF4-FFF2-40B4-BE49-F238E27FC236}">
                <a16:creationId xmlns="" xmlns:a16="http://schemas.microsoft.com/office/drawing/2014/main" id="{EA883A5B-820E-A44D-94FC-FB7A89CA5CC7}"/>
              </a:ext>
            </a:extLst>
          </p:cNvPr>
          <p:cNvSpPr txBox="1">
            <a:spLocks noChangeArrowheads="1"/>
          </p:cNvSpPr>
          <p:nvPr/>
        </p:nvSpPr>
        <p:spPr bwMode="auto">
          <a:xfrm>
            <a:off x="1332002" y="2477133"/>
            <a:ext cx="249299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r>
              <a:rPr lang="zh-CN" altLang="en-US" sz="2000" dirty="0" smtClean="0">
                <a:solidFill>
                  <a:schemeClr val="tx1"/>
                </a:solidFill>
                <a:latin typeface="Times New Roman" panose="02020603050405020304" pitchFamily="18" charset="0"/>
                <a:cs typeface="Times New Roman" panose="02020603050405020304" pitchFamily="18" charset="0"/>
              </a:rPr>
              <a:t>调频</a:t>
            </a:r>
            <a:r>
              <a:rPr lang="zh-CN" altLang="en-US" sz="2000" dirty="0">
                <a:solidFill>
                  <a:schemeClr val="tx1"/>
                </a:solidFill>
                <a:latin typeface="Times New Roman" panose="02020603050405020304" pitchFamily="18" charset="0"/>
                <a:cs typeface="Times New Roman" panose="02020603050405020304" pitchFamily="18" charset="0"/>
              </a:rPr>
              <a:t>波的最大频移为</a:t>
            </a:r>
          </a:p>
        </p:txBody>
      </p:sp>
      <p:sp>
        <p:nvSpPr>
          <p:cNvPr id="13" name="文本框 24584">
            <a:extLst>
              <a:ext uri="{FF2B5EF4-FFF2-40B4-BE49-F238E27FC236}">
                <a16:creationId xmlns="" xmlns:a16="http://schemas.microsoft.com/office/drawing/2014/main" id="{693B368A-868B-53EF-1D2A-E35B24ED91ED}"/>
              </a:ext>
            </a:extLst>
          </p:cNvPr>
          <p:cNvSpPr txBox="1">
            <a:spLocks noChangeArrowheads="1"/>
          </p:cNvSpPr>
          <p:nvPr/>
        </p:nvSpPr>
        <p:spPr bwMode="auto">
          <a:xfrm>
            <a:off x="4118931" y="2455292"/>
            <a:ext cx="151515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r>
              <a:rPr lang="en-US" altLang="zh-CN" sz="2000" dirty="0">
                <a:solidFill>
                  <a:schemeClr val="accent2"/>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1100" dirty="0">
                <a:solidFill>
                  <a:schemeClr val="accent2"/>
                </a:solidFill>
                <a:latin typeface="Times New Roman" panose="02020603050405020304" pitchFamily="18" charset="0"/>
                <a:cs typeface="Times New Roman" panose="02020603050405020304" pitchFamily="18" charset="0"/>
              </a:rPr>
              <a:t>f</a:t>
            </a:r>
            <a:r>
              <a:rPr lang="en-US" altLang="zh-CN" sz="2000" dirty="0">
                <a:solidFill>
                  <a:schemeClr val="accent2"/>
                </a:solidFill>
                <a:latin typeface="Times New Roman" panose="02020603050405020304" pitchFamily="18" charset="0"/>
                <a:cs typeface="Times New Roman" panose="02020603050405020304" pitchFamily="18" charset="0"/>
              </a:rPr>
              <a:t> = </a:t>
            </a:r>
            <a:r>
              <a:rPr lang="en-US" altLang="zh-CN" sz="2000" dirty="0" err="1">
                <a:solidFill>
                  <a:schemeClr val="accent2"/>
                </a:solidFill>
                <a:latin typeface="Times New Roman" panose="02020603050405020304" pitchFamily="18" charset="0"/>
                <a:cs typeface="Times New Roman" panose="02020603050405020304" pitchFamily="18" charset="0"/>
              </a:rPr>
              <a:t>K</a:t>
            </a:r>
            <a:r>
              <a:rPr lang="en-US" altLang="zh-CN" sz="2000" baseline="-25000" dirty="0" err="1">
                <a:solidFill>
                  <a:schemeClr val="accent2"/>
                </a:solidFill>
                <a:latin typeface="Times New Roman" panose="02020603050405020304" pitchFamily="18" charset="0"/>
                <a:cs typeface="Times New Roman" panose="02020603050405020304" pitchFamily="18" charset="0"/>
              </a:rPr>
              <a:t>f</a:t>
            </a:r>
            <a:r>
              <a:rPr lang="en-US" altLang="zh-CN" sz="2000" dirty="0" err="1">
                <a:solidFill>
                  <a:schemeClr val="accent2"/>
                </a:solidFill>
                <a:latin typeface="Times New Roman" panose="02020603050405020304" pitchFamily="18" charset="0"/>
                <a:cs typeface="Times New Roman" panose="02020603050405020304" pitchFamily="18" charset="0"/>
              </a:rPr>
              <a:t>V</a:t>
            </a:r>
            <a:r>
              <a:rPr lang="en-US" altLang="zh-CN" sz="2000" baseline="-25000" dirty="0">
                <a:solidFill>
                  <a:schemeClr val="accent2"/>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000" dirty="0">
                <a:solidFill>
                  <a:schemeClr val="accent2"/>
                </a:solidFill>
                <a:latin typeface="Times New Roman" panose="02020603050405020304" pitchFamily="18" charset="0"/>
                <a:cs typeface="Times New Roman" panose="02020603050405020304" pitchFamily="18" charset="0"/>
              </a:rPr>
              <a:t> </a:t>
            </a:r>
          </a:p>
        </p:txBody>
      </p:sp>
      <p:sp>
        <p:nvSpPr>
          <p:cNvPr id="15" name="文本框 24586">
            <a:extLst>
              <a:ext uri="{FF2B5EF4-FFF2-40B4-BE49-F238E27FC236}">
                <a16:creationId xmlns="" xmlns:a16="http://schemas.microsoft.com/office/drawing/2014/main" id="{16B1FE7F-80F3-1AD6-F9F6-FC617336B10D}"/>
              </a:ext>
            </a:extLst>
          </p:cNvPr>
          <p:cNvSpPr txBox="1">
            <a:spLocks noChangeArrowheads="1"/>
          </p:cNvSpPr>
          <p:nvPr/>
        </p:nvSpPr>
        <p:spPr bwMode="auto">
          <a:xfrm>
            <a:off x="1296133" y="2899084"/>
            <a:ext cx="249299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r>
              <a:rPr lang="zh-CN" altLang="en-US" sz="2000" dirty="0" smtClean="0">
                <a:solidFill>
                  <a:schemeClr val="tx1"/>
                </a:solidFill>
                <a:latin typeface="Times New Roman" panose="02020603050405020304" pitchFamily="18" charset="0"/>
                <a:cs typeface="Times New Roman" panose="02020603050405020304" pitchFamily="18" charset="0"/>
              </a:rPr>
              <a:t>调相</a:t>
            </a:r>
            <a:r>
              <a:rPr lang="zh-CN" altLang="en-US" sz="2000" dirty="0">
                <a:solidFill>
                  <a:schemeClr val="tx1"/>
                </a:solidFill>
                <a:latin typeface="Times New Roman" panose="02020603050405020304" pitchFamily="18" charset="0"/>
                <a:cs typeface="Times New Roman" panose="02020603050405020304" pitchFamily="18" charset="0"/>
              </a:rPr>
              <a:t>波的最大频移为</a:t>
            </a:r>
          </a:p>
        </p:txBody>
      </p:sp>
      <p:sp>
        <p:nvSpPr>
          <p:cNvPr id="16" name="文本框 24587">
            <a:extLst>
              <a:ext uri="{FF2B5EF4-FFF2-40B4-BE49-F238E27FC236}">
                <a16:creationId xmlns="" xmlns:a16="http://schemas.microsoft.com/office/drawing/2014/main" id="{BF4AEAFB-34BD-8C47-AC7C-670D211F6B12}"/>
              </a:ext>
            </a:extLst>
          </p:cNvPr>
          <p:cNvSpPr txBox="1">
            <a:spLocks noChangeArrowheads="1"/>
          </p:cNvSpPr>
          <p:nvPr/>
        </p:nvSpPr>
        <p:spPr bwMode="auto">
          <a:xfrm>
            <a:off x="3949012" y="2855402"/>
            <a:ext cx="177324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r>
              <a:rPr lang="en-US" altLang="zh-CN" sz="2000" dirty="0">
                <a:solidFill>
                  <a:schemeClr val="accent2"/>
                </a:solidFill>
                <a:latin typeface="Times New Roman" panose="02020603050405020304" pitchFamily="18" charset="0"/>
                <a:cs typeface="Times New Roman" panose="02020603050405020304" pitchFamily="18" charset="0"/>
              </a:rPr>
              <a:t> </a:t>
            </a:r>
            <a:r>
              <a:rPr lang="en-US" altLang="zh-CN" sz="2000" dirty="0">
                <a:solidFill>
                  <a:schemeClr val="accent2"/>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1200" dirty="0">
                <a:solidFill>
                  <a:schemeClr val="accent2"/>
                </a:solidFill>
                <a:latin typeface="Times New Roman" panose="02020603050405020304" pitchFamily="18" charset="0"/>
                <a:cs typeface="Times New Roman" panose="02020603050405020304" pitchFamily="18" charset="0"/>
              </a:rPr>
              <a:t>p</a:t>
            </a:r>
            <a:r>
              <a:rPr lang="en-US" altLang="zh-CN" dirty="0">
                <a:solidFill>
                  <a:schemeClr val="accent2"/>
                </a:solidFill>
                <a:latin typeface="Times New Roman" panose="02020603050405020304" pitchFamily="18" charset="0"/>
                <a:cs typeface="Times New Roman" panose="02020603050405020304" pitchFamily="18" charset="0"/>
              </a:rPr>
              <a:t> </a:t>
            </a:r>
            <a:r>
              <a:rPr lang="en-US" altLang="zh-CN" sz="2000" dirty="0">
                <a:solidFill>
                  <a:schemeClr val="accent2"/>
                </a:solidFill>
                <a:latin typeface="Times New Roman" panose="02020603050405020304" pitchFamily="18" charset="0"/>
                <a:cs typeface="Times New Roman" panose="02020603050405020304" pitchFamily="18" charset="0"/>
              </a:rPr>
              <a:t>= </a:t>
            </a:r>
            <a:r>
              <a:rPr lang="en-US" altLang="zh-CN" sz="2000" dirty="0" err="1">
                <a:solidFill>
                  <a:schemeClr val="accent2"/>
                </a:solidFill>
                <a:latin typeface="Times New Roman" panose="02020603050405020304" pitchFamily="18" charset="0"/>
                <a:cs typeface="Times New Roman" panose="02020603050405020304" pitchFamily="18" charset="0"/>
              </a:rPr>
              <a:t>KpV</a:t>
            </a:r>
            <a:r>
              <a:rPr lang="en-US" altLang="zh-CN" sz="2000" baseline="-25000" dirty="0">
                <a:solidFill>
                  <a:schemeClr val="accent2"/>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000" dirty="0">
                <a:solidFill>
                  <a:schemeClr val="accent2"/>
                </a:solidFill>
                <a:latin typeface="Times New Roman" panose="02020603050405020304" pitchFamily="18" charset="0"/>
                <a:cs typeface="Times New Roman" panose="02020603050405020304" pitchFamily="18" charset="0"/>
                <a:sym typeface="Symbol" panose="05050102010706020507" pitchFamily="18" charset="2"/>
              </a:rPr>
              <a:t></a:t>
            </a:r>
          </a:p>
        </p:txBody>
      </p:sp>
      <p:sp>
        <p:nvSpPr>
          <p:cNvPr id="18" name="矩形 25605">
            <a:extLst>
              <a:ext uri="{FF2B5EF4-FFF2-40B4-BE49-F238E27FC236}">
                <a16:creationId xmlns="" xmlns:a16="http://schemas.microsoft.com/office/drawing/2014/main" id="{A9D5BEE8-8D37-233C-F291-7EC379A9C8E1}"/>
              </a:ext>
            </a:extLst>
          </p:cNvPr>
          <p:cNvSpPr>
            <a:spLocks noChangeArrowheads="1"/>
          </p:cNvSpPr>
          <p:nvPr/>
        </p:nvSpPr>
        <p:spPr bwMode="auto">
          <a:xfrm>
            <a:off x="4111284" y="6163436"/>
            <a:ext cx="119135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a:solidFill>
                  <a:schemeClr val="tx1"/>
                </a:solidFill>
                <a:latin typeface="Times New Roman" panose="02020603050405020304" pitchFamily="18" charset="0"/>
                <a:cs typeface="Times New Roman" panose="02020603050405020304" pitchFamily="18" charset="0"/>
              </a:rPr>
              <a:t>(a) </a:t>
            </a:r>
            <a:r>
              <a:rPr lang="zh-CN" altLang="en-US">
                <a:solidFill>
                  <a:schemeClr val="tx1"/>
                </a:solidFill>
                <a:latin typeface="Times New Roman" panose="02020603050405020304" pitchFamily="18" charset="0"/>
                <a:cs typeface="Times New Roman" panose="02020603050405020304" pitchFamily="18" charset="0"/>
              </a:rPr>
              <a:t>调频波</a:t>
            </a:r>
          </a:p>
        </p:txBody>
      </p:sp>
      <p:sp>
        <p:nvSpPr>
          <p:cNvPr id="19" name="矩形 25606">
            <a:extLst>
              <a:ext uri="{FF2B5EF4-FFF2-40B4-BE49-F238E27FC236}">
                <a16:creationId xmlns="" xmlns:a16="http://schemas.microsoft.com/office/drawing/2014/main" id="{05B6FA3D-F111-9E18-8E5E-E365F7B4693E}"/>
              </a:ext>
            </a:extLst>
          </p:cNvPr>
          <p:cNvSpPr>
            <a:spLocks noChangeArrowheads="1"/>
          </p:cNvSpPr>
          <p:nvPr/>
        </p:nvSpPr>
        <p:spPr bwMode="auto">
          <a:xfrm>
            <a:off x="7568859" y="6163436"/>
            <a:ext cx="120417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a:solidFill>
                  <a:schemeClr val="tx1"/>
                </a:solidFill>
                <a:latin typeface="Times New Roman" panose="02020603050405020304" pitchFamily="18" charset="0"/>
                <a:cs typeface="Times New Roman" panose="02020603050405020304" pitchFamily="18" charset="0"/>
              </a:rPr>
              <a:t>(b) </a:t>
            </a:r>
            <a:r>
              <a:rPr lang="zh-CN" altLang="en-US">
                <a:solidFill>
                  <a:schemeClr val="tx1"/>
                </a:solidFill>
                <a:latin typeface="Times New Roman" panose="02020603050405020304" pitchFamily="18" charset="0"/>
                <a:cs typeface="Times New Roman" panose="02020603050405020304" pitchFamily="18" charset="0"/>
              </a:rPr>
              <a:t>调相波</a:t>
            </a:r>
          </a:p>
        </p:txBody>
      </p:sp>
      <p:pic>
        <p:nvPicPr>
          <p:cNvPr id="20" name="图片 25607" descr="42.wmf">
            <a:extLst>
              <a:ext uri="{FF2B5EF4-FFF2-40B4-BE49-F238E27FC236}">
                <a16:creationId xmlns="" xmlns:a16="http://schemas.microsoft.com/office/drawing/2014/main" id="{CCE8752D-540D-BBCC-60FB-4CDFA32A5D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2590" y="3506780"/>
            <a:ext cx="5400675" cy="2700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矩形 3"/>
          <p:cNvSpPr/>
          <p:nvPr/>
        </p:nvSpPr>
        <p:spPr>
          <a:xfrm>
            <a:off x="466404" y="3672341"/>
            <a:ext cx="3186186" cy="2677656"/>
          </a:xfrm>
          <a:prstGeom prst="rect">
            <a:avLst/>
          </a:prstGeom>
        </p:spPr>
        <p:txBody>
          <a:bodyPr wrap="square">
            <a:spAutoFit/>
          </a:bodyPr>
          <a:lstStyle/>
          <a:p>
            <a:pPr>
              <a:lnSpc>
                <a:spcPct val="120000"/>
              </a:lnSpc>
            </a:pPr>
            <a:r>
              <a:rPr lang="en-US" altLang="zh-CN" sz="2000" dirty="0">
                <a:latin typeface="Times New Roman" panose="02020603050405020304" pitchFamily="18" charset="0"/>
                <a:cs typeface="Times New Roman" panose="02020603050405020304" pitchFamily="18" charset="0"/>
              </a:rPr>
              <a:t> </a:t>
            </a:r>
            <a:r>
              <a:rPr lang="zh-CN" altLang="en-US" sz="2000" dirty="0">
                <a:latin typeface="Times New Roman" panose="02020603050405020304" pitchFamily="18" charset="0"/>
                <a:cs typeface="Times New Roman" panose="02020603050405020304" pitchFamily="18" charset="0"/>
              </a:rPr>
              <a:t>由此可知，调频波的频偏与调制频率</a:t>
            </a:r>
            <a:r>
              <a:rPr lang="en-US" altLang="zh-CN" sz="2000" dirty="0">
                <a:latin typeface="Times New Roman" panose="02020603050405020304" pitchFamily="18" charset="0"/>
                <a:cs typeface="Times New Roman" panose="02020603050405020304" pitchFamily="18" charset="0"/>
                <a:sym typeface="Symbol" panose="05050102010706020507" pitchFamily="18" charset="2"/>
              </a:rPr>
              <a:t></a:t>
            </a:r>
            <a:r>
              <a:rPr lang="zh-CN" altLang="en-US" sz="2000" dirty="0">
                <a:latin typeface="Times New Roman" panose="02020603050405020304" pitchFamily="18" charset="0"/>
                <a:cs typeface="Times New Roman" panose="02020603050405020304" pitchFamily="18" charset="0"/>
              </a:rPr>
              <a:t>无关，调频指数</a:t>
            </a:r>
            <a:r>
              <a:rPr lang="en-US" altLang="zh-CN" sz="2000" dirty="0">
                <a:latin typeface="Times New Roman" panose="02020603050405020304" pitchFamily="18" charset="0"/>
                <a:cs typeface="Times New Roman" panose="02020603050405020304" pitchFamily="18" charset="0"/>
              </a:rPr>
              <a:t>mf</a:t>
            </a:r>
            <a:r>
              <a:rPr lang="zh-CN" altLang="en-US" sz="2000" dirty="0">
                <a:latin typeface="Times New Roman" panose="02020603050405020304" pitchFamily="18" charset="0"/>
                <a:cs typeface="Times New Roman" panose="02020603050405020304" pitchFamily="18" charset="0"/>
              </a:rPr>
              <a:t>则与</a:t>
            </a:r>
            <a:r>
              <a:rPr lang="en-US" altLang="zh-CN" sz="2000" dirty="0">
                <a:latin typeface="Times New Roman" panose="02020603050405020304" pitchFamily="18" charset="0"/>
                <a:cs typeface="Times New Roman" panose="02020603050405020304" pitchFamily="18" charset="0"/>
                <a:sym typeface="Symbol" panose="05050102010706020507" pitchFamily="18" charset="2"/>
              </a:rPr>
              <a:t></a:t>
            </a:r>
            <a:r>
              <a:rPr lang="zh-CN" altLang="en-US" sz="2000" dirty="0">
                <a:latin typeface="Times New Roman" panose="02020603050405020304" pitchFamily="18" charset="0"/>
                <a:cs typeface="Times New Roman" panose="02020603050405020304" pitchFamily="18" charset="0"/>
              </a:rPr>
              <a:t>成反比；调相波的频偏</a:t>
            </a:r>
            <a:r>
              <a:rPr lang="en-US" altLang="zh-CN" sz="20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000" dirty="0">
                <a:latin typeface="Times New Roman" panose="02020603050405020304" pitchFamily="18" charset="0"/>
                <a:cs typeface="Times New Roman" panose="02020603050405020304" pitchFamily="18" charset="0"/>
              </a:rPr>
              <a:t>p</a:t>
            </a:r>
            <a:r>
              <a:rPr lang="zh-CN" altLang="en-US" sz="2000" dirty="0">
                <a:latin typeface="Times New Roman" panose="02020603050405020304" pitchFamily="18" charset="0"/>
                <a:cs typeface="Times New Roman" panose="02020603050405020304" pitchFamily="18" charset="0"/>
              </a:rPr>
              <a:t>与</a:t>
            </a:r>
            <a:r>
              <a:rPr lang="en-US" altLang="zh-CN" sz="2000" dirty="0">
                <a:latin typeface="Times New Roman" panose="02020603050405020304" pitchFamily="18" charset="0"/>
                <a:cs typeface="Times New Roman" panose="02020603050405020304" pitchFamily="18" charset="0"/>
                <a:sym typeface="Symbol" panose="05050102010706020507" pitchFamily="18" charset="2"/>
              </a:rPr>
              <a:t></a:t>
            </a:r>
            <a:r>
              <a:rPr lang="zh-CN" altLang="en-US" sz="2000" dirty="0">
                <a:latin typeface="Times New Roman" panose="02020603050405020304" pitchFamily="18" charset="0"/>
                <a:cs typeface="Times New Roman" panose="02020603050405020304" pitchFamily="18" charset="0"/>
              </a:rPr>
              <a:t>成正比，调相指数则与</a:t>
            </a:r>
            <a:r>
              <a:rPr lang="en-US" altLang="zh-CN" sz="2000" dirty="0">
                <a:latin typeface="Times New Roman" panose="02020603050405020304" pitchFamily="18" charset="0"/>
                <a:cs typeface="Times New Roman" panose="02020603050405020304" pitchFamily="18" charset="0"/>
                <a:sym typeface="Symbol" panose="05050102010706020507" pitchFamily="18" charset="2"/>
              </a:rPr>
              <a:t></a:t>
            </a:r>
            <a:r>
              <a:rPr lang="zh-CN" altLang="en-US" sz="2000" dirty="0">
                <a:latin typeface="Times New Roman" panose="02020603050405020304" pitchFamily="18" charset="0"/>
                <a:cs typeface="Times New Roman" panose="02020603050405020304" pitchFamily="18" charset="0"/>
              </a:rPr>
              <a:t>无关。这是调频、调相二种调制方法的根本区别。</a:t>
            </a:r>
          </a:p>
        </p:txBody>
      </p:sp>
    </p:spTree>
    <p:extLst>
      <p:ext uri="{BB962C8B-B14F-4D97-AF65-F5344CB8AC3E}">
        <p14:creationId xmlns:p14="http://schemas.microsoft.com/office/powerpoint/2010/main" val="2215866964"/>
      </p:ext>
    </p:extLst>
  </p:cSld>
  <p:clrMapOvr>
    <a:masterClrMapping/>
  </p:clrMapOvr>
  <p:timing>
    <p:tnLst>
      <p:par>
        <p:cTn id="1" dur="indefinite" restart="never" nodeType="tmRoot"/>
      </p:par>
    </p:tnLst>
  </p:timing>
</p:sld>
</file>

<file path=ppt/slides/slide2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278</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11"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7.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角度调制</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与</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解调</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文本框 26625">
            <a:extLst>
              <a:ext uri="{FF2B5EF4-FFF2-40B4-BE49-F238E27FC236}">
                <a16:creationId xmlns="" xmlns:a16="http://schemas.microsoft.com/office/drawing/2014/main" id="{392645BA-D7D3-6218-83ED-D095AB3BBF07}"/>
              </a:ext>
            </a:extLst>
          </p:cNvPr>
          <p:cNvSpPr txBox="1">
            <a:spLocks noChangeArrowheads="1"/>
          </p:cNvSpPr>
          <p:nvPr/>
        </p:nvSpPr>
        <p:spPr bwMode="auto">
          <a:xfrm>
            <a:off x="395023" y="1722301"/>
            <a:ext cx="8696966" cy="725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p>
            <a:pPr>
              <a:lnSpc>
                <a:spcPct val="120000"/>
              </a:lnSpc>
            </a:pPr>
            <a:r>
              <a:rPr lang="zh-CN" altLang="en-US" dirty="0" smtClean="0">
                <a:latin typeface="Times New Roman" panose="02020603050405020304" pitchFamily="18" charset="0"/>
                <a:cs typeface="Times New Roman" panose="02020603050405020304" pitchFamily="18" charset="0"/>
              </a:rPr>
              <a:t>无论</a:t>
            </a:r>
            <a:r>
              <a:rPr lang="zh-CN" altLang="en-US" dirty="0">
                <a:latin typeface="Times New Roman" panose="02020603050405020304" pitchFamily="18" charset="0"/>
                <a:cs typeface="Times New Roman" panose="02020603050405020304" pitchFamily="18" charset="0"/>
              </a:rPr>
              <a:t>调频还是调相，最大频移</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频偏</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与调制指数之间的关系都是相同的。若频偏都用</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m</a:t>
            </a:r>
            <a:r>
              <a:rPr lang="zh-CN" altLang="en-US" dirty="0">
                <a:latin typeface="Times New Roman" panose="02020603050405020304" pitchFamily="18" charset="0"/>
                <a:cs typeface="Times New Roman" panose="02020603050405020304" pitchFamily="18" charset="0"/>
              </a:rPr>
              <a:t>表示，调制指数都用</a:t>
            </a:r>
            <a:r>
              <a:rPr lang="en-US" altLang="zh-CN" dirty="0">
                <a:latin typeface="Times New Roman" panose="02020603050405020304" pitchFamily="18" charset="0"/>
                <a:cs typeface="Times New Roman" panose="02020603050405020304" pitchFamily="18" charset="0"/>
              </a:rPr>
              <a:t>m</a:t>
            </a:r>
            <a:r>
              <a:rPr lang="zh-CN" altLang="en-US" dirty="0">
                <a:latin typeface="Times New Roman" panose="02020603050405020304" pitchFamily="18" charset="0"/>
                <a:cs typeface="Times New Roman" panose="02020603050405020304" pitchFamily="18" charset="0"/>
              </a:rPr>
              <a:t>表示，则</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m </a:t>
            </a:r>
            <a:r>
              <a:rPr lang="zh-CN" altLang="en-US" dirty="0">
                <a:latin typeface="Times New Roman" panose="02020603050405020304" pitchFamily="18" charset="0"/>
                <a:cs typeface="Times New Roman" panose="02020603050405020304" pitchFamily="18" charset="0"/>
              </a:rPr>
              <a:t>与</a:t>
            </a:r>
            <a:r>
              <a:rPr lang="en-US" altLang="zh-CN" dirty="0">
                <a:latin typeface="Times New Roman" panose="02020603050405020304" pitchFamily="18" charset="0"/>
                <a:cs typeface="Times New Roman" panose="02020603050405020304" pitchFamily="18" charset="0"/>
              </a:rPr>
              <a:t>m</a:t>
            </a:r>
            <a:r>
              <a:rPr lang="zh-CN" altLang="en-US" dirty="0">
                <a:latin typeface="Times New Roman" panose="02020603050405020304" pitchFamily="18" charset="0"/>
                <a:cs typeface="Times New Roman" panose="02020603050405020304" pitchFamily="18" charset="0"/>
              </a:rPr>
              <a:t>之间满足以下关系</a:t>
            </a:r>
          </a:p>
        </p:txBody>
      </p:sp>
      <p:sp>
        <p:nvSpPr>
          <p:cNvPr id="6" name="文本框 26626">
            <a:extLst>
              <a:ext uri="{FF2B5EF4-FFF2-40B4-BE49-F238E27FC236}">
                <a16:creationId xmlns="" xmlns:a16="http://schemas.microsoft.com/office/drawing/2014/main" id="{31FCDAE1-FCC4-33E8-233C-0A5894601D87}"/>
              </a:ext>
            </a:extLst>
          </p:cNvPr>
          <p:cNvSpPr txBox="1">
            <a:spLocks noChangeArrowheads="1"/>
          </p:cNvSpPr>
          <p:nvPr/>
        </p:nvSpPr>
        <p:spPr bwMode="auto">
          <a:xfrm>
            <a:off x="2789322" y="2368513"/>
            <a:ext cx="295465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m = m</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或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fm</a:t>
            </a:r>
            <a:r>
              <a:rPr lang="en-US" altLang="zh-CN" dirty="0">
                <a:latin typeface="Times New Roman" panose="02020603050405020304" pitchFamily="18" charset="0"/>
                <a:cs typeface="Times New Roman" panose="02020603050405020304" pitchFamily="18" charset="0"/>
              </a:rPr>
              <a:t> = mF	</a:t>
            </a:r>
          </a:p>
        </p:txBody>
      </p:sp>
      <p:sp>
        <p:nvSpPr>
          <p:cNvPr id="7" name="文本框 6">
            <a:extLst>
              <a:ext uri="{FF2B5EF4-FFF2-40B4-BE49-F238E27FC236}">
                <a16:creationId xmlns="" xmlns:a16="http://schemas.microsoft.com/office/drawing/2014/main" id="{EA2DBBC1-E42D-2EB0-C761-F0AB0D53882D}"/>
              </a:ext>
            </a:extLst>
          </p:cNvPr>
          <p:cNvSpPr txBox="1">
            <a:spLocks noChangeArrowheads="1"/>
          </p:cNvSpPr>
          <p:nvPr/>
        </p:nvSpPr>
        <p:spPr bwMode="auto">
          <a:xfrm>
            <a:off x="271839" y="2606501"/>
            <a:ext cx="8303622" cy="1865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p>
            <a:pPr>
              <a:lnSpc>
                <a:spcPct val="160000"/>
              </a:lnSpc>
            </a:pP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式中 </a:t>
            </a:r>
          </a:p>
          <a:p>
            <a:pPr>
              <a:lnSpc>
                <a:spcPct val="160000"/>
              </a:lnSpc>
            </a:pPr>
            <a:r>
              <a:rPr lang="zh-CN" altLang="en-US" dirty="0">
                <a:latin typeface="Times New Roman" panose="02020603050405020304" pitchFamily="18" charset="0"/>
                <a:cs typeface="Times New Roman" panose="02020603050405020304" pitchFamily="18" charset="0"/>
              </a:rPr>
              <a:t>需要说明</a:t>
            </a:r>
            <a:r>
              <a:rPr lang="en-US" altLang="zh-CN" dirty="0">
                <a:latin typeface="Times New Roman" panose="02020603050405020304" pitchFamily="18" charset="0"/>
                <a:cs typeface="Times New Roman" panose="02020603050405020304" pitchFamily="18" charset="0"/>
              </a:rPr>
              <a:t>:</a:t>
            </a:r>
          </a:p>
          <a:p>
            <a:pPr>
              <a:lnSpc>
                <a:spcPct val="160000"/>
              </a:lnSpc>
            </a:pPr>
            <a:r>
              <a:rPr lang="zh-CN" altLang="en-US" dirty="0">
                <a:latin typeface="Times New Roman" panose="02020603050405020304" pitchFamily="18" charset="0"/>
                <a:cs typeface="Times New Roman" panose="02020603050405020304" pitchFamily="18" charset="0"/>
              </a:rPr>
              <a:t>在振幅调制中，调幅度</a:t>
            </a:r>
            <a:r>
              <a:rPr lang="en-US" altLang="zh-CN" dirty="0">
                <a:latin typeface="Times New Roman" panose="02020603050405020304" pitchFamily="18" charset="0"/>
                <a:cs typeface="Times New Roman" panose="02020603050405020304" pitchFamily="18" charset="0"/>
              </a:rPr>
              <a:t>ma≤1</a:t>
            </a:r>
            <a:r>
              <a:rPr lang="zh-CN" altLang="en-US" dirty="0">
                <a:latin typeface="Times New Roman" panose="02020603050405020304" pitchFamily="18" charset="0"/>
                <a:cs typeface="Times New Roman" panose="02020603050405020304" pitchFamily="18" charset="0"/>
              </a:rPr>
              <a:t>，否则会产生过调制失真。</a:t>
            </a:r>
          </a:p>
          <a:p>
            <a:pPr>
              <a:lnSpc>
                <a:spcPct val="160000"/>
              </a:lnSpc>
            </a:pPr>
            <a:r>
              <a:rPr lang="zh-CN" altLang="en-US" dirty="0">
                <a:latin typeface="Times New Roman" panose="02020603050405020304" pitchFamily="18" charset="0"/>
                <a:cs typeface="Times New Roman" panose="02020603050405020304" pitchFamily="18" charset="0"/>
              </a:rPr>
              <a:t>而在角度调制中，无论调频还是调相</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调制指数均可大于</a:t>
            </a:r>
            <a:r>
              <a:rPr lang="en-US" altLang="zh-CN" dirty="0">
                <a:latin typeface="Times New Roman" panose="02020603050405020304" pitchFamily="18" charset="0"/>
                <a:cs typeface="Times New Roman" panose="02020603050405020304" pitchFamily="18" charset="0"/>
              </a:rPr>
              <a:t>1</a:t>
            </a:r>
            <a:r>
              <a:rPr lang="zh-CN" altLang="en-US" dirty="0">
                <a:latin typeface="Times New Roman" panose="02020603050405020304" pitchFamily="18" charset="0"/>
                <a:cs typeface="Times New Roman" panose="02020603050405020304" pitchFamily="18" charset="0"/>
              </a:rPr>
              <a:t>。</a:t>
            </a:r>
          </a:p>
        </p:txBody>
      </p:sp>
      <p:pic>
        <p:nvPicPr>
          <p:cNvPr id="8" name="图片 26628" descr="43.wmf">
            <a:extLst>
              <a:ext uri="{FF2B5EF4-FFF2-40B4-BE49-F238E27FC236}">
                <a16:creationId xmlns="" xmlns:a16="http://schemas.microsoft.com/office/drawing/2014/main" id="{194021F3-B5B4-FF3B-90E4-C809AF27FF1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80204" y="2606501"/>
            <a:ext cx="877196" cy="5658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图片 26629" descr="44.wmf">
            <a:extLst>
              <a:ext uri="{FF2B5EF4-FFF2-40B4-BE49-F238E27FC236}">
                <a16:creationId xmlns="" xmlns:a16="http://schemas.microsoft.com/office/drawing/2014/main" id="{625984E7-9A20-CABC-EFC6-3640371A6EC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04239" y="2642154"/>
            <a:ext cx="802073" cy="5656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图片 26630" descr="45.wmf">
            <a:extLst>
              <a:ext uri="{FF2B5EF4-FFF2-40B4-BE49-F238E27FC236}">
                <a16:creationId xmlns="" xmlns:a16="http://schemas.microsoft.com/office/drawing/2014/main" id="{8A421954-2DC6-572E-9D27-DF4739BF731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4496" y="1163542"/>
            <a:ext cx="2028825" cy="735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文本框 26631">
            <a:extLst>
              <a:ext uri="{FF2B5EF4-FFF2-40B4-BE49-F238E27FC236}">
                <a16:creationId xmlns="" xmlns:a16="http://schemas.microsoft.com/office/drawing/2014/main" id="{FA405074-7497-D031-5469-69ED3B9DF659}"/>
              </a:ext>
            </a:extLst>
          </p:cNvPr>
          <p:cNvSpPr txBox="1">
            <a:spLocks noChangeArrowheads="1"/>
          </p:cNvSpPr>
          <p:nvPr/>
        </p:nvSpPr>
        <p:spPr bwMode="auto">
          <a:xfrm>
            <a:off x="2958096" y="1239742"/>
            <a:ext cx="13981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r>
              <a:rPr lang="en-US" altLang="zh-CN" sz="2000" dirty="0" err="1">
                <a:latin typeface="Times New Roman" panose="02020603050405020304" pitchFamily="18" charset="0"/>
                <a:cs typeface="Times New Roman" panose="02020603050405020304" pitchFamily="18" charset="0"/>
              </a:rPr>
              <a:t>m</a:t>
            </a:r>
            <a:r>
              <a:rPr lang="en-US" altLang="zh-CN" sz="2000" baseline="-25000" dirty="0" err="1">
                <a:latin typeface="Times New Roman" panose="02020603050405020304" pitchFamily="18" charset="0"/>
                <a:cs typeface="Times New Roman" panose="02020603050405020304" pitchFamily="18" charset="0"/>
              </a:rPr>
              <a:t>p</a:t>
            </a:r>
            <a:r>
              <a:rPr lang="en-US" altLang="zh-CN" sz="2000" dirty="0">
                <a:latin typeface="Times New Roman" panose="02020603050405020304" pitchFamily="18" charset="0"/>
                <a:cs typeface="Times New Roman" panose="02020603050405020304" pitchFamily="18" charset="0"/>
              </a:rPr>
              <a:t> = </a:t>
            </a:r>
            <a:r>
              <a:rPr lang="en-US" altLang="zh-CN" sz="2000" dirty="0" err="1">
                <a:latin typeface="Times New Roman" panose="02020603050405020304" pitchFamily="18" charset="0"/>
                <a:cs typeface="Times New Roman" panose="02020603050405020304" pitchFamily="18" charset="0"/>
              </a:rPr>
              <a:t>K</a:t>
            </a:r>
            <a:r>
              <a:rPr lang="en-US" altLang="zh-CN" sz="2000" baseline="-25000" dirty="0" err="1">
                <a:latin typeface="Times New Roman" panose="02020603050405020304" pitchFamily="18" charset="0"/>
                <a:cs typeface="Times New Roman" panose="02020603050405020304" pitchFamily="18" charset="0"/>
              </a:rPr>
              <a:t>p</a:t>
            </a:r>
            <a:r>
              <a:rPr lang="en-US" altLang="zh-CN" sz="2000" dirty="0" err="1">
                <a:latin typeface="Times New Roman" panose="02020603050405020304" pitchFamily="18" charset="0"/>
                <a:cs typeface="Times New Roman" panose="02020603050405020304" pitchFamily="18" charset="0"/>
              </a:rPr>
              <a:t>V</a:t>
            </a:r>
            <a:r>
              <a:rPr lang="en-US" altLang="zh-CN" sz="2000" baseline="-250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000" dirty="0">
                <a:latin typeface="Times New Roman" panose="02020603050405020304" pitchFamily="18" charset="0"/>
                <a:cs typeface="Times New Roman" panose="02020603050405020304" pitchFamily="18" charset="0"/>
              </a:rPr>
              <a:t> </a:t>
            </a:r>
          </a:p>
        </p:txBody>
      </p:sp>
      <p:sp>
        <p:nvSpPr>
          <p:cNvPr id="13" name="文本框 26632">
            <a:extLst>
              <a:ext uri="{FF2B5EF4-FFF2-40B4-BE49-F238E27FC236}">
                <a16:creationId xmlns="" xmlns:a16="http://schemas.microsoft.com/office/drawing/2014/main" id="{79ED13E9-96C6-AA12-2599-2927FC57C5A7}"/>
              </a:ext>
            </a:extLst>
          </p:cNvPr>
          <p:cNvSpPr txBox="1">
            <a:spLocks noChangeArrowheads="1"/>
          </p:cNvSpPr>
          <p:nvPr/>
        </p:nvSpPr>
        <p:spPr bwMode="auto">
          <a:xfrm>
            <a:off x="4634496" y="1239742"/>
            <a:ext cx="150073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r>
              <a:rPr lang="en-US" altLang="zh-CN" sz="20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000" dirty="0">
                <a:latin typeface="Times New Roman" panose="02020603050405020304" pitchFamily="18" charset="0"/>
                <a:cs typeface="Times New Roman" panose="02020603050405020304" pitchFamily="18" charset="0"/>
              </a:rPr>
              <a:t>f = </a:t>
            </a:r>
            <a:r>
              <a:rPr lang="en-US" altLang="zh-CN" sz="2000" dirty="0" err="1">
                <a:latin typeface="Times New Roman" panose="02020603050405020304" pitchFamily="18" charset="0"/>
                <a:cs typeface="Times New Roman" panose="02020603050405020304" pitchFamily="18" charset="0"/>
              </a:rPr>
              <a:t>K</a:t>
            </a:r>
            <a:r>
              <a:rPr lang="en-US" altLang="zh-CN" sz="2000" baseline="-25000" dirty="0" err="1">
                <a:latin typeface="Times New Roman" panose="02020603050405020304" pitchFamily="18" charset="0"/>
                <a:cs typeface="Times New Roman" panose="02020603050405020304" pitchFamily="18" charset="0"/>
              </a:rPr>
              <a:t>f</a:t>
            </a:r>
            <a:r>
              <a:rPr lang="en-US" altLang="zh-CN" sz="2000" dirty="0" err="1">
                <a:latin typeface="Times New Roman" panose="02020603050405020304" pitchFamily="18" charset="0"/>
                <a:cs typeface="Times New Roman" panose="02020603050405020304" pitchFamily="18" charset="0"/>
              </a:rPr>
              <a:t>V</a:t>
            </a:r>
            <a:r>
              <a:rPr lang="en-US" altLang="zh-CN" sz="2000" baseline="-250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000" dirty="0">
                <a:latin typeface="Times New Roman" panose="02020603050405020304" pitchFamily="18" charset="0"/>
                <a:cs typeface="Times New Roman" panose="02020603050405020304" pitchFamily="18" charset="0"/>
              </a:rPr>
              <a:t> </a:t>
            </a:r>
          </a:p>
        </p:txBody>
      </p:sp>
      <p:sp>
        <p:nvSpPr>
          <p:cNvPr id="14" name="文本框 26633">
            <a:extLst>
              <a:ext uri="{FF2B5EF4-FFF2-40B4-BE49-F238E27FC236}">
                <a16:creationId xmlns="" xmlns:a16="http://schemas.microsoft.com/office/drawing/2014/main" id="{BDB06EB7-7AA0-32E2-7A38-F1198FA7DF89}"/>
              </a:ext>
            </a:extLst>
          </p:cNvPr>
          <p:cNvSpPr txBox="1">
            <a:spLocks noChangeArrowheads="1"/>
          </p:cNvSpPr>
          <p:nvPr/>
        </p:nvSpPr>
        <p:spPr bwMode="auto">
          <a:xfrm>
            <a:off x="6260905" y="1239742"/>
            <a:ext cx="176843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r>
              <a:rPr lang="en-US" altLang="zh-CN" sz="2000"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000" dirty="0">
                <a:latin typeface="Times New Roman" panose="02020603050405020304" pitchFamily="18" charset="0"/>
                <a:cs typeface="Times New Roman" panose="02020603050405020304" pitchFamily="18" charset="0"/>
              </a:rPr>
              <a:t>p = </a:t>
            </a:r>
            <a:r>
              <a:rPr lang="en-US" altLang="zh-CN" sz="2000" dirty="0" err="1">
                <a:latin typeface="Times New Roman" panose="02020603050405020304" pitchFamily="18" charset="0"/>
                <a:cs typeface="Times New Roman" panose="02020603050405020304" pitchFamily="18" charset="0"/>
              </a:rPr>
              <a:t>K</a:t>
            </a:r>
            <a:r>
              <a:rPr lang="en-US" altLang="zh-CN" sz="2000" baseline="-25000" dirty="0" err="1">
                <a:latin typeface="Times New Roman" panose="02020603050405020304" pitchFamily="18" charset="0"/>
                <a:cs typeface="Times New Roman" panose="02020603050405020304" pitchFamily="18" charset="0"/>
              </a:rPr>
              <a:t>p</a:t>
            </a:r>
            <a:r>
              <a:rPr lang="en-US" altLang="zh-CN" sz="2000" dirty="0" err="1">
                <a:latin typeface="Times New Roman" panose="02020603050405020304" pitchFamily="18" charset="0"/>
                <a:cs typeface="Times New Roman" panose="02020603050405020304" pitchFamily="18" charset="0"/>
              </a:rPr>
              <a:t>V</a:t>
            </a:r>
            <a:r>
              <a:rPr lang="en-US" altLang="zh-CN" sz="2000" baseline="-250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000" dirty="0">
                <a:latin typeface="Times New Roman" panose="02020603050405020304" pitchFamily="18" charset="0"/>
                <a:cs typeface="Times New Roman" panose="02020603050405020304" pitchFamily="18" charset="0"/>
                <a:sym typeface="Symbol" panose="05050102010706020507" pitchFamily="18" charset="2"/>
              </a:rPr>
              <a:t></a:t>
            </a:r>
          </a:p>
        </p:txBody>
      </p:sp>
      <p:sp>
        <p:nvSpPr>
          <p:cNvPr id="24" name="文本框 36865">
            <a:extLst>
              <a:ext uri="{FF2B5EF4-FFF2-40B4-BE49-F238E27FC236}">
                <a16:creationId xmlns="" xmlns:a16="http://schemas.microsoft.com/office/drawing/2014/main" id="{650B1CD3-9CC4-9D81-A74D-03189D92443E}"/>
              </a:ext>
            </a:extLst>
          </p:cNvPr>
          <p:cNvSpPr txBox="1">
            <a:spLocks noChangeArrowheads="1"/>
          </p:cNvSpPr>
          <p:nvPr/>
        </p:nvSpPr>
        <p:spPr bwMode="auto">
          <a:xfrm>
            <a:off x="319218" y="4467209"/>
            <a:ext cx="8496300"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fontAlgn="base" hangingPunct="0">
              <a:spcBef>
                <a:spcPct val="0"/>
              </a:spcBef>
              <a:spcAft>
                <a:spcPct val="0"/>
              </a:spcAft>
            </a:pPr>
            <a:r>
              <a:rPr lang="zh-CN" altLang="en-US" dirty="0">
                <a:solidFill>
                  <a:srgbClr val="000000"/>
                </a:solidFill>
                <a:latin typeface="Times New Roman" panose="02020603050405020304" pitchFamily="18" charset="0"/>
                <a:cs typeface="Times New Roman" panose="02020603050405020304" pitchFamily="18" charset="0"/>
              </a:rPr>
              <a:t>    通常将振幅小于载波振幅</a:t>
            </a:r>
            <a:r>
              <a:rPr lang="en-US" altLang="zh-CN" dirty="0">
                <a:solidFill>
                  <a:srgbClr val="000000"/>
                </a:solidFill>
                <a:latin typeface="Times New Roman" panose="02020603050405020304" pitchFamily="18" charset="0"/>
                <a:cs typeface="Times New Roman" panose="02020603050405020304" pitchFamily="18" charset="0"/>
              </a:rPr>
              <a:t>10%</a:t>
            </a:r>
            <a:r>
              <a:rPr lang="zh-CN" altLang="en-US" dirty="0">
                <a:solidFill>
                  <a:srgbClr val="000000"/>
                </a:solidFill>
                <a:latin typeface="Times New Roman" panose="02020603050405020304" pitchFamily="18" charset="0"/>
                <a:cs typeface="Times New Roman" panose="02020603050405020304" pitchFamily="18" charset="0"/>
              </a:rPr>
              <a:t>的边频分量忽略不计，有效的上下边频分量总数则为</a:t>
            </a:r>
            <a:r>
              <a:rPr lang="en-US" altLang="zh-CN" dirty="0">
                <a:solidFill>
                  <a:srgbClr val="000000"/>
                </a:solidFill>
                <a:latin typeface="Times New Roman" panose="02020603050405020304" pitchFamily="18" charset="0"/>
                <a:cs typeface="Times New Roman" panose="02020603050405020304" pitchFamily="18" charset="0"/>
              </a:rPr>
              <a:t>2(m+1)</a:t>
            </a:r>
            <a:r>
              <a:rPr lang="zh-CN" altLang="en-US" dirty="0">
                <a:solidFill>
                  <a:srgbClr val="000000"/>
                </a:solidFill>
                <a:latin typeface="Times New Roman" panose="02020603050405020304" pitchFamily="18" charset="0"/>
                <a:cs typeface="Times New Roman" panose="02020603050405020304" pitchFamily="18" charset="0"/>
              </a:rPr>
              <a:t>个，即调频波和调相波的有效频带宽度定为</a:t>
            </a:r>
          </a:p>
          <a:p>
            <a:pPr eaLnBrk="0" fontAlgn="base" hangingPunct="0">
              <a:spcBef>
                <a:spcPct val="0"/>
              </a:spcBef>
              <a:spcAft>
                <a:spcPct val="0"/>
              </a:spcAft>
            </a:pPr>
            <a:endParaRPr lang="zh-CN" altLang="en-US" dirty="0">
              <a:solidFill>
                <a:srgbClr val="000000"/>
              </a:solidFill>
              <a:latin typeface="Times New Roman" panose="02020603050405020304" pitchFamily="18" charset="0"/>
              <a:cs typeface="Times New Roman" panose="02020603050405020304" pitchFamily="18" charset="0"/>
            </a:endParaRPr>
          </a:p>
        </p:txBody>
      </p:sp>
      <p:sp>
        <p:nvSpPr>
          <p:cNvPr id="25" name="文本框 36866">
            <a:extLst>
              <a:ext uri="{FF2B5EF4-FFF2-40B4-BE49-F238E27FC236}">
                <a16:creationId xmlns="" xmlns:a16="http://schemas.microsoft.com/office/drawing/2014/main" id="{20C94E18-074C-E7C1-4BAB-47A6F3FA704D}"/>
              </a:ext>
            </a:extLst>
          </p:cNvPr>
          <p:cNvSpPr txBox="1">
            <a:spLocks noChangeArrowheads="1"/>
          </p:cNvSpPr>
          <p:nvPr/>
        </p:nvSpPr>
        <p:spPr bwMode="auto">
          <a:xfrm>
            <a:off x="2565039" y="5082762"/>
            <a:ext cx="244169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pPr eaLnBrk="0" fontAlgn="base" hangingPunct="0">
              <a:spcBef>
                <a:spcPct val="0"/>
              </a:spcBef>
              <a:spcAft>
                <a:spcPct val="0"/>
              </a:spcAft>
            </a:pPr>
            <a:r>
              <a:rPr lang="en-US" altLang="zh-CN" dirty="0">
                <a:solidFill>
                  <a:srgbClr val="333399"/>
                </a:solidFill>
                <a:latin typeface="Times New Roman" panose="02020603050405020304" pitchFamily="18" charset="0"/>
                <a:cs typeface="Times New Roman" panose="02020603050405020304" pitchFamily="18" charset="0"/>
              </a:rPr>
              <a:t> BW=2(m+1)F=2(</a:t>
            </a:r>
            <a:r>
              <a:rPr lang="en-US" altLang="zh-CN" dirty="0">
                <a:solidFill>
                  <a:srgbClr val="333399"/>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solidFill>
                  <a:srgbClr val="333399"/>
                </a:solidFill>
                <a:latin typeface="Times New Roman" panose="02020603050405020304" pitchFamily="18" charset="0"/>
                <a:cs typeface="Times New Roman" panose="02020603050405020304" pitchFamily="18" charset="0"/>
              </a:rPr>
              <a:t>f+F</a:t>
            </a:r>
            <a:r>
              <a:rPr lang="en-US" altLang="zh-CN" dirty="0" smtClean="0">
                <a:solidFill>
                  <a:srgbClr val="333399"/>
                </a:solidFill>
                <a:latin typeface="Times New Roman" panose="02020603050405020304" pitchFamily="18" charset="0"/>
                <a:cs typeface="Times New Roman" panose="02020603050405020304" pitchFamily="18" charset="0"/>
              </a:rPr>
              <a:t>)</a:t>
            </a:r>
            <a:endParaRPr lang="en-US" altLang="zh-CN" dirty="0">
              <a:solidFill>
                <a:srgbClr val="333399"/>
              </a:solidFill>
              <a:latin typeface="Times New Roman" panose="02020603050405020304" pitchFamily="18" charset="0"/>
              <a:cs typeface="Times New Roman" panose="02020603050405020304" pitchFamily="18" charset="0"/>
            </a:endParaRPr>
          </a:p>
        </p:txBody>
      </p:sp>
      <p:sp>
        <p:nvSpPr>
          <p:cNvPr id="26" name="文本框 36867">
            <a:extLst>
              <a:ext uri="{FF2B5EF4-FFF2-40B4-BE49-F238E27FC236}">
                <a16:creationId xmlns="" xmlns:a16="http://schemas.microsoft.com/office/drawing/2014/main" id="{A96FA3B6-B2BF-CB35-93AE-9CF40B9424A3}"/>
              </a:ext>
            </a:extLst>
          </p:cNvPr>
          <p:cNvSpPr txBox="1">
            <a:spLocks noChangeArrowheads="1"/>
          </p:cNvSpPr>
          <p:nvPr/>
        </p:nvSpPr>
        <p:spPr bwMode="auto">
          <a:xfrm>
            <a:off x="271839" y="5439569"/>
            <a:ext cx="8496300" cy="105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p>
            <a:pPr eaLnBrk="0" fontAlgn="base" hangingPunct="0">
              <a:lnSpc>
                <a:spcPct val="120000"/>
              </a:lnSpc>
              <a:spcBef>
                <a:spcPct val="0"/>
              </a:spcBef>
              <a:spcAft>
                <a:spcPct val="0"/>
              </a:spcAft>
            </a:pPr>
            <a:r>
              <a:rPr lang="en-US" altLang="zh-CN" dirty="0">
                <a:solidFill>
                  <a:srgbClr val="000000"/>
                </a:solidFill>
                <a:latin typeface="Times New Roman" panose="02020603050405020304" pitchFamily="18" charset="0"/>
                <a:cs typeface="Times New Roman" panose="02020603050405020304" pitchFamily="18" charset="0"/>
              </a:rPr>
              <a:t>    </a:t>
            </a:r>
            <a:r>
              <a:rPr lang="zh-CN" altLang="en-US" dirty="0">
                <a:solidFill>
                  <a:srgbClr val="000000"/>
                </a:solidFill>
                <a:latin typeface="Times New Roman" panose="02020603050405020304" pitchFamily="18" charset="0"/>
                <a:cs typeface="Times New Roman" panose="02020603050405020304" pitchFamily="18" charset="0"/>
              </a:rPr>
              <a:t>可见，调频波和调相波的有效频带宽度与它们的调制系数</a:t>
            </a:r>
            <a:r>
              <a:rPr lang="en-US" altLang="zh-CN" dirty="0">
                <a:solidFill>
                  <a:srgbClr val="000000"/>
                </a:solidFill>
                <a:latin typeface="Times New Roman" panose="02020603050405020304" pitchFamily="18" charset="0"/>
                <a:cs typeface="Times New Roman" panose="02020603050405020304" pitchFamily="18" charset="0"/>
              </a:rPr>
              <a:t>m</a:t>
            </a:r>
            <a:r>
              <a:rPr lang="zh-CN" altLang="en-US" dirty="0">
                <a:solidFill>
                  <a:srgbClr val="000000"/>
                </a:solidFill>
                <a:latin typeface="Times New Roman" panose="02020603050405020304" pitchFamily="18" charset="0"/>
                <a:cs typeface="Times New Roman" panose="02020603050405020304" pitchFamily="18" charset="0"/>
              </a:rPr>
              <a:t>有关，</a:t>
            </a:r>
            <a:r>
              <a:rPr lang="en-US" altLang="zh-CN" dirty="0">
                <a:solidFill>
                  <a:srgbClr val="000000"/>
                </a:solidFill>
                <a:latin typeface="Times New Roman" panose="02020603050405020304" pitchFamily="18" charset="0"/>
                <a:cs typeface="Times New Roman" panose="02020603050405020304" pitchFamily="18" charset="0"/>
              </a:rPr>
              <a:t>m</a:t>
            </a:r>
            <a:r>
              <a:rPr lang="zh-CN" altLang="en-US" dirty="0">
                <a:solidFill>
                  <a:srgbClr val="000000"/>
                </a:solidFill>
                <a:latin typeface="Times New Roman" panose="02020603050405020304" pitchFamily="18" charset="0"/>
                <a:cs typeface="Times New Roman" panose="02020603050405020304" pitchFamily="18" charset="0"/>
              </a:rPr>
              <a:t>越大，有效频带越宽。</a:t>
            </a:r>
            <a:r>
              <a:rPr lang="zh-CN" altLang="en-US" dirty="0">
                <a:solidFill>
                  <a:srgbClr val="FF0000"/>
                </a:solidFill>
                <a:latin typeface="Times New Roman" panose="02020603050405020304" pitchFamily="18" charset="0"/>
                <a:cs typeface="Times New Roman" panose="02020603050405020304" pitchFamily="18" charset="0"/>
              </a:rPr>
              <a:t>但是，对于用同一个调制信号对载波进行调频和调相时，两者的频带宽度因</a:t>
            </a:r>
            <a:r>
              <a:rPr lang="en-US" altLang="zh-CN" dirty="0">
                <a:solidFill>
                  <a:srgbClr val="FF0000"/>
                </a:solidFill>
                <a:latin typeface="Times New Roman" panose="02020603050405020304" pitchFamily="18" charset="0"/>
                <a:cs typeface="Times New Roman" panose="02020603050405020304" pitchFamily="18" charset="0"/>
              </a:rPr>
              <a:t>mf</a:t>
            </a:r>
            <a:r>
              <a:rPr lang="zh-CN" altLang="en-US" dirty="0">
                <a:solidFill>
                  <a:srgbClr val="FF0000"/>
                </a:solidFill>
                <a:latin typeface="Times New Roman" panose="02020603050405020304" pitchFamily="18" charset="0"/>
                <a:cs typeface="Times New Roman" panose="02020603050405020304" pitchFamily="18" charset="0"/>
              </a:rPr>
              <a:t>和</a:t>
            </a:r>
            <a:r>
              <a:rPr lang="en-US" altLang="zh-CN" dirty="0" err="1">
                <a:solidFill>
                  <a:srgbClr val="FF0000"/>
                </a:solidFill>
                <a:latin typeface="Times New Roman" panose="02020603050405020304" pitchFamily="18" charset="0"/>
                <a:cs typeface="Times New Roman" panose="02020603050405020304" pitchFamily="18" charset="0"/>
              </a:rPr>
              <a:t>mp</a:t>
            </a:r>
            <a:r>
              <a:rPr lang="zh-CN" altLang="en-US" dirty="0">
                <a:solidFill>
                  <a:srgbClr val="FF0000"/>
                </a:solidFill>
                <a:latin typeface="Times New Roman" panose="02020603050405020304" pitchFamily="18" charset="0"/>
                <a:cs typeface="Times New Roman" panose="02020603050405020304" pitchFamily="18" charset="0"/>
              </a:rPr>
              <a:t>的不同而互不相同。 </a:t>
            </a:r>
          </a:p>
        </p:txBody>
      </p:sp>
    </p:spTree>
    <p:extLst>
      <p:ext uri="{BB962C8B-B14F-4D97-AF65-F5344CB8AC3E}">
        <p14:creationId xmlns:p14="http://schemas.microsoft.com/office/powerpoint/2010/main" val="21776402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blinds(horizontal)">
                                      <p:cBhvr>
                                        <p:cTn id="7" dur="500"/>
                                        <p:tgtEl>
                                          <p:spTgt spid="7">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7">
                                            <p:txEl>
                                              <p:pRg st="2" end="2"/>
                                            </p:txEl>
                                          </p:spTgt>
                                        </p:tgtEl>
                                        <p:attrNameLst>
                                          <p:attrName>style.visibility</p:attrName>
                                        </p:attrNameLst>
                                      </p:cBhvr>
                                      <p:to>
                                        <p:strVal val="visible"/>
                                      </p:to>
                                    </p:set>
                                    <p:animEffect transition="in" filter="blinds(horizontal)">
                                      <p:cBhvr>
                                        <p:cTn id="10" dur="500"/>
                                        <p:tgtEl>
                                          <p:spTgt spid="7">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7">
                                            <p:txEl>
                                              <p:pRg st="3" end="3"/>
                                            </p:txEl>
                                          </p:spTgt>
                                        </p:tgtEl>
                                        <p:attrNameLst>
                                          <p:attrName>style.visibility</p:attrName>
                                        </p:attrNameLst>
                                      </p:cBhvr>
                                      <p:to>
                                        <p:strVal val="visible"/>
                                      </p:to>
                                    </p:set>
                                    <p:animEffect transition="in" filter="blinds(horizontal)">
                                      <p:cBhvr>
                                        <p:cTn id="13" dur="500"/>
                                        <p:tgtEl>
                                          <p:spTgt spid="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279</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11"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7.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角度调制</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与</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解调</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 name="矩形 3"/>
          <p:cNvSpPr/>
          <p:nvPr/>
        </p:nvSpPr>
        <p:spPr>
          <a:xfrm>
            <a:off x="296114" y="1347327"/>
            <a:ext cx="8696275" cy="1200329"/>
          </a:xfrm>
          <a:prstGeom prst="rect">
            <a:avLst/>
          </a:prstGeom>
        </p:spPr>
        <p:txBody>
          <a:bodyPr wrap="square">
            <a:spAutoFit/>
          </a:bodyPr>
          <a:lstStyle/>
          <a:p>
            <a:r>
              <a:rPr lang="zh-CN" altLang="en-US" dirty="0" smtClean="0">
                <a:latin typeface="Times New Roman" panose="02020603050405020304" pitchFamily="18" charset="0"/>
                <a:cs typeface="Times New Roman" panose="02020603050405020304" pitchFamily="18" charset="0"/>
              </a:rPr>
              <a:t>例 已知</a:t>
            </a:r>
            <a:r>
              <a:rPr lang="zh-CN" altLang="en-US" dirty="0">
                <a:latin typeface="Times New Roman" panose="02020603050405020304" pitchFamily="18" charset="0"/>
                <a:cs typeface="Times New Roman" panose="02020603050405020304" pitchFamily="18" charset="0"/>
              </a:rPr>
              <a:t>调制信号的频率</a:t>
            </a:r>
            <a:r>
              <a:rPr lang="en-US" altLang="zh-CN" dirty="0">
                <a:latin typeface="Times New Roman" panose="02020603050405020304" pitchFamily="18" charset="0"/>
                <a:cs typeface="Times New Roman" panose="02020603050405020304" pitchFamily="18" charset="0"/>
              </a:rPr>
              <a:t>F=1kHz</a:t>
            </a:r>
            <a:r>
              <a:rPr lang="zh-CN" altLang="en-US" dirty="0">
                <a:latin typeface="Times New Roman" panose="02020603050405020304" pitchFamily="18" charset="0"/>
                <a:cs typeface="Times New Roman" panose="02020603050405020304" pitchFamily="18" charset="0"/>
              </a:rPr>
              <a:t>，调频、调相后的调制指数 </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试求：</a:t>
            </a:r>
          </a:p>
          <a:p>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1</a:t>
            </a:r>
            <a:r>
              <a:rPr lang="zh-CN" altLang="en-US" dirty="0">
                <a:latin typeface="Times New Roman" panose="02020603050405020304" pitchFamily="18" charset="0"/>
                <a:cs typeface="Times New Roman" panose="02020603050405020304" pitchFamily="18" charset="0"/>
              </a:rPr>
              <a:t>）求调频、调相后的最大频偏 和有效频谱宽度</a:t>
            </a:r>
            <a:r>
              <a:rPr lang="en-US" altLang="zh-CN" dirty="0">
                <a:latin typeface="Times New Roman" panose="02020603050405020304" pitchFamily="18" charset="0"/>
                <a:cs typeface="Times New Roman" panose="02020603050405020304" pitchFamily="18" charset="0"/>
              </a:rPr>
              <a:t>B</a:t>
            </a:r>
            <a:r>
              <a:rPr lang="zh-CN" altLang="en-US" dirty="0">
                <a:latin typeface="Times New Roman" panose="02020603050405020304" pitchFamily="18" charset="0"/>
                <a:cs typeface="Times New Roman" panose="02020603050405020304" pitchFamily="18" charset="0"/>
              </a:rPr>
              <a:t>；</a:t>
            </a:r>
          </a:p>
          <a:p>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2</a:t>
            </a:r>
            <a:r>
              <a:rPr lang="zh-CN" altLang="en-US" dirty="0">
                <a:latin typeface="Times New Roman" panose="02020603050405020304" pitchFamily="18" charset="0"/>
                <a:cs typeface="Times New Roman" panose="02020603050405020304" pitchFamily="18" charset="0"/>
              </a:rPr>
              <a:t>）当调制信号幅度不变，而频率</a:t>
            </a:r>
            <a:r>
              <a:rPr lang="en-US" altLang="zh-CN" dirty="0">
                <a:latin typeface="Times New Roman" panose="02020603050405020304" pitchFamily="18" charset="0"/>
                <a:cs typeface="Times New Roman" panose="02020603050405020304" pitchFamily="18" charset="0"/>
              </a:rPr>
              <a:t>F</a:t>
            </a:r>
            <a:r>
              <a:rPr lang="zh-CN" altLang="en-US" dirty="0">
                <a:latin typeface="Times New Roman" panose="02020603050405020304" pitchFamily="18" charset="0"/>
                <a:cs typeface="Times New Roman" panose="02020603050405020304" pitchFamily="18" charset="0"/>
              </a:rPr>
              <a:t>由</a:t>
            </a:r>
            <a:r>
              <a:rPr lang="en-US" altLang="zh-CN" dirty="0">
                <a:latin typeface="Times New Roman" panose="02020603050405020304" pitchFamily="18" charset="0"/>
                <a:cs typeface="Times New Roman" panose="02020603050405020304" pitchFamily="18" charset="0"/>
              </a:rPr>
              <a:t>1kHz</a:t>
            </a:r>
            <a:r>
              <a:rPr lang="zh-CN" altLang="en-US" dirty="0">
                <a:latin typeface="Times New Roman" panose="02020603050405020304" pitchFamily="18" charset="0"/>
                <a:cs typeface="Times New Roman" panose="02020603050405020304" pitchFamily="18" charset="0"/>
              </a:rPr>
              <a:t>增大到</a:t>
            </a:r>
            <a:r>
              <a:rPr lang="en-US" altLang="zh-CN" dirty="0">
                <a:latin typeface="Times New Roman" panose="02020603050405020304" pitchFamily="18" charset="0"/>
                <a:cs typeface="Times New Roman" panose="02020603050405020304" pitchFamily="18" charset="0"/>
              </a:rPr>
              <a:t>2kHz</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4kHz</a:t>
            </a:r>
            <a:r>
              <a:rPr lang="zh-CN" altLang="en-US" dirty="0">
                <a:latin typeface="Times New Roman" panose="02020603050405020304" pitchFamily="18" charset="0"/>
                <a:cs typeface="Times New Roman" panose="02020603050405020304" pitchFamily="18" charset="0"/>
              </a:rPr>
              <a:t>时，求调频、调相后的 和</a:t>
            </a:r>
            <a:r>
              <a:rPr lang="en-US" altLang="zh-CN" dirty="0">
                <a:latin typeface="Times New Roman" panose="02020603050405020304" pitchFamily="18" charset="0"/>
                <a:cs typeface="Times New Roman" panose="02020603050405020304" pitchFamily="18" charset="0"/>
              </a:rPr>
              <a:t>B</a:t>
            </a:r>
            <a:r>
              <a:rPr lang="zh-CN" altLang="en-US"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4031545184"/>
      </p:ext>
    </p:extLst>
  </p:cSld>
  <p:clrMapOvr>
    <a:masterClrMapping/>
  </p:clrMapOvr>
  <p:timing>
    <p:tnLst>
      <p:par>
        <p:cTn id="1" dur="indefinite" restart="never" nodeType="tmRoot"/>
      </p:par>
    </p:tnLst>
  </p:timing>
</p:sld>
</file>

<file path=ppt/slides/slide2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280</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11"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7.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角度调制</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与</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解调</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7" name="矩形 36"/>
          <p:cNvSpPr/>
          <p:nvPr/>
        </p:nvSpPr>
        <p:spPr>
          <a:xfrm>
            <a:off x="398357" y="1244971"/>
            <a:ext cx="994183" cy="369332"/>
          </a:xfrm>
          <a:prstGeom prst="rect">
            <a:avLst/>
          </a:prstGeom>
        </p:spPr>
        <p:txBody>
          <a:bodyPr wrap="none">
            <a:spAutoFit/>
          </a:bodyPr>
          <a:lstStyle/>
          <a:p>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1</a:t>
            </a:r>
            <a:r>
              <a:rPr lang="zh-CN" altLang="en-US" dirty="0">
                <a:latin typeface="Times New Roman" panose="02020603050405020304" pitchFamily="18" charset="0"/>
                <a:cs typeface="Times New Roman" panose="02020603050405020304" pitchFamily="18" charset="0"/>
              </a:rPr>
              <a:t>）若</a:t>
            </a:r>
          </a:p>
        </p:txBody>
      </p:sp>
      <p:graphicFrame>
        <p:nvGraphicFramePr>
          <p:cNvPr id="38" name="对象 37"/>
          <p:cNvGraphicFramePr>
            <a:graphicFrameLocks noChangeAspect="1"/>
          </p:cNvGraphicFramePr>
          <p:nvPr>
            <p:extLst>
              <p:ext uri="{D42A27DB-BD31-4B8C-83A1-F6EECF244321}">
                <p14:modId xmlns:p14="http://schemas.microsoft.com/office/powerpoint/2010/main" val="955149691"/>
              </p:ext>
            </p:extLst>
          </p:nvPr>
        </p:nvGraphicFramePr>
        <p:xfrm>
          <a:off x="1348629" y="1266631"/>
          <a:ext cx="968168" cy="347672"/>
        </p:xfrm>
        <a:graphic>
          <a:graphicData uri="http://schemas.openxmlformats.org/presentationml/2006/ole">
            <mc:AlternateContent xmlns:mc="http://schemas.openxmlformats.org/markup-compatibility/2006">
              <mc:Choice xmlns:v="urn:schemas-microsoft-com:vml" Requires="v">
                <p:oleObj spid="_x0000_s218213" name="Equation" r:id="rId3" imgW="636855" imgH="228239" progId="Equation.DSMT4">
                  <p:embed/>
                </p:oleObj>
              </mc:Choice>
              <mc:Fallback>
                <p:oleObj name="Equation" r:id="rId3" imgW="636855" imgH="228239" progId="Equation.DSMT4">
                  <p:embed/>
                  <p:pic>
                    <p:nvPicPr>
                      <p:cNvPr id="0" name=""/>
                      <p:cNvPicPr/>
                      <p:nvPr/>
                    </p:nvPicPr>
                    <p:blipFill>
                      <a:blip r:embed="rId4"/>
                      <a:stretch>
                        <a:fillRect/>
                      </a:stretch>
                    </p:blipFill>
                    <p:spPr>
                      <a:xfrm>
                        <a:off x="1348629" y="1266631"/>
                        <a:ext cx="968168" cy="347672"/>
                      </a:xfrm>
                      <a:prstGeom prst="rect">
                        <a:avLst/>
                      </a:prstGeom>
                    </p:spPr>
                  </p:pic>
                </p:oleObj>
              </mc:Fallback>
            </mc:AlternateContent>
          </a:graphicData>
        </a:graphic>
      </p:graphicFrame>
      <p:graphicFrame>
        <p:nvGraphicFramePr>
          <p:cNvPr id="39" name="对象 38"/>
          <p:cNvGraphicFramePr>
            <a:graphicFrameLocks noChangeAspect="1"/>
          </p:cNvGraphicFramePr>
          <p:nvPr>
            <p:extLst>
              <p:ext uri="{D42A27DB-BD31-4B8C-83A1-F6EECF244321}">
                <p14:modId xmlns:p14="http://schemas.microsoft.com/office/powerpoint/2010/main" val="2247909959"/>
              </p:ext>
            </p:extLst>
          </p:nvPr>
        </p:nvGraphicFramePr>
        <p:xfrm>
          <a:off x="2414690" y="1264267"/>
          <a:ext cx="1534114" cy="352400"/>
        </p:xfrm>
        <a:graphic>
          <a:graphicData uri="http://schemas.openxmlformats.org/presentationml/2006/ole">
            <mc:AlternateContent xmlns:mc="http://schemas.openxmlformats.org/markup-compatibility/2006">
              <mc:Choice xmlns:v="urn:schemas-microsoft-com:vml" Requires="v">
                <p:oleObj spid="_x0000_s218214" name="Equation" r:id="rId5" imgW="1035922" imgH="237585" progId="Equation.DSMT4">
                  <p:embed/>
                </p:oleObj>
              </mc:Choice>
              <mc:Fallback>
                <p:oleObj name="Equation" r:id="rId5" imgW="1035922" imgH="237585" progId="Equation.DSMT4">
                  <p:embed/>
                  <p:pic>
                    <p:nvPicPr>
                      <p:cNvPr id="0" name=""/>
                      <p:cNvPicPr/>
                      <p:nvPr/>
                    </p:nvPicPr>
                    <p:blipFill>
                      <a:blip r:embed="rId6"/>
                      <a:stretch>
                        <a:fillRect/>
                      </a:stretch>
                    </p:blipFill>
                    <p:spPr>
                      <a:xfrm>
                        <a:off x="2414690" y="1264267"/>
                        <a:ext cx="1534114" cy="352400"/>
                      </a:xfrm>
                      <a:prstGeom prst="rect">
                        <a:avLst/>
                      </a:prstGeom>
                    </p:spPr>
                  </p:pic>
                </p:oleObj>
              </mc:Fallback>
            </mc:AlternateContent>
          </a:graphicData>
        </a:graphic>
      </p:graphicFrame>
      <p:sp>
        <p:nvSpPr>
          <p:cNvPr id="40" name="矩形 39"/>
          <p:cNvSpPr/>
          <p:nvPr/>
        </p:nvSpPr>
        <p:spPr>
          <a:xfrm>
            <a:off x="3862958" y="1264267"/>
            <a:ext cx="1107996" cy="369332"/>
          </a:xfrm>
          <a:prstGeom prst="rect">
            <a:avLst/>
          </a:prstGeom>
        </p:spPr>
        <p:txBody>
          <a:bodyPr wrap="none">
            <a:spAutoFit/>
          </a:bodyPr>
          <a:lstStyle/>
          <a:p>
            <a:r>
              <a:rPr lang="zh-CN" altLang="en-US" dirty="0"/>
              <a:t>，则有：</a:t>
            </a:r>
          </a:p>
        </p:txBody>
      </p:sp>
      <p:graphicFrame>
        <p:nvGraphicFramePr>
          <p:cNvPr id="41" name="对象 40"/>
          <p:cNvGraphicFramePr>
            <a:graphicFrameLocks noChangeAspect="1"/>
          </p:cNvGraphicFramePr>
          <p:nvPr>
            <p:extLst>
              <p:ext uri="{D42A27DB-BD31-4B8C-83A1-F6EECF244321}">
                <p14:modId xmlns:p14="http://schemas.microsoft.com/office/powerpoint/2010/main" val="3217421714"/>
              </p:ext>
            </p:extLst>
          </p:nvPr>
        </p:nvGraphicFramePr>
        <p:xfrm>
          <a:off x="1435133" y="1655259"/>
          <a:ext cx="3213100" cy="317500"/>
        </p:xfrm>
        <a:graphic>
          <a:graphicData uri="http://schemas.openxmlformats.org/presentationml/2006/ole">
            <mc:AlternateContent xmlns:mc="http://schemas.openxmlformats.org/markup-compatibility/2006">
              <mc:Choice xmlns:v="urn:schemas-microsoft-com:vml" Requires="v">
                <p:oleObj spid="_x0000_s218215" name="Equation" r:id="rId7" imgW="3213000" imgH="317160" progId="Equation.DSMT4">
                  <p:embed/>
                </p:oleObj>
              </mc:Choice>
              <mc:Fallback>
                <p:oleObj name="Equation" r:id="rId7" imgW="3213000" imgH="317160" progId="Equation.DSMT4">
                  <p:embed/>
                  <p:pic>
                    <p:nvPicPr>
                      <p:cNvPr id="0" name=""/>
                      <p:cNvPicPr/>
                      <p:nvPr/>
                    </p:nvPicPr>
                    <p:blipFill>
                      <a:blip r:embed="rId8"/>
                      <a:stretch>
                        <a:fillRect/>
                      </a:stretch>
                    </p:blipFill>
                    <p:spPr>
                      <a:xfrm>
                        <a:off x="1435133" y="1655259"/>
                        <a:ext cx="3213100" cy="317500"/>
                      </a:xfrm>
                      <a:prstGeom prst="rect">
                        <a:avLst/>
                      </a:prstGeom>
                    </p:spPr>
                  </p:pic>
                </p:oleObj>
              </mc:Fallback>
            </mc:AlternateContent>
          </a:graphicData>
        </a:graphic>
      </p:graphicFrame>
      <p:graphicFrame>
        <p:nvGraphicFramePr>
          <p:cNvPr id="42" name="对象 41"/>
          <p:cNvGraphicFramePr>
            <a:graphicFrameLocks noChangeAspect="1"/>
          </p:cNvGraphicFramePr>
          <p:nvPr>
            <p:extLst>
              <p:ext uri="{D42A27DB-BD31-4B8C-83A1-F6EECF244321}">
                <p14:modId xmlns:p14="http://schemas.microsoft.com/office/powerpoint/2010/main" val="3061032957"/>
              </p:ext>
            </p:extLst>
          </p:nvPr>
        </p:nvGraphicFramePr>
        <p:xfrm>
          <a:off x="1392540" y="1993951"/>
          <a:ext cx="4610100" cy="368300"/>
        </p:xfrm>
        <a:graphic>
          <a:graphicData uri="http://schemas.openxmlformats.org/presentationml/2006/ole">
            <mc:AlternateContent xmlns:mc="http://schemas.openxmlformats.org/markup-compatibility/2006">
              <mc:Choice xmlns:v="urn:schemas-microsoft-com:vml" Requires="v">
                <p:oleObj spid="_x0000_s218216" name="Equation" r:id="rId9" imgW="4609800" imgH="368280" progId="Equation.DSMT4">
                  <p:embed/>
                </p:oleObj>
              </mc:Choice>
              <mc:Fallback>
                <p:oleObj name="Equation" r:id="rId9" imgW="4609800" imgH="368280" progId="Equation.DSMT4">
                  <p:embed/>
                  <p:pic>
                    <p:nvPicPr>
                      <p:cNvPr id="0" name=""/>
                      <p:cNvPicPr/>
                      <p:nvPr/>
                    </p:nvPicPr>
                    <p:blipFill>
                      <a:blip r:embed="rId10"/>
                      <a:stretch>
                        <a:fillRect/>
                      </a:stretch>
                    </p:blipFill>
                    <p:spPr>
                      <a:xfrm>
                        <a:off x="1392540" y="1993951"/>
                        <a:ext cx="4610100" cy="368300"/>
                      </a:xfrm>
                      <a:prstGeom prst="rect">
                        <a:avLst/>
                      </a:prstGeom>
                    </p:spPr>
                  </p:pic>
                </p:oleObj>
              </mc:Fallback>
            </mc:AlternateContent>
          </a:graphicData>
        </a:graphic>
      </p:graphicFrame>
      <p:graphicFrame>
        <p:nvGraphicFramePr>
          <p:cNvPr id="43" name="对象 42"/>
          <p:cNvGraphicFramePr>
            <a:graphicFrameLocks noChangeAspect="1"/>
          </p:cNvGraphicFramePr>
          <p:nvPr>
            <p:extLst>
              <p:ext uri="{D42A27DB-BD31-4B8C-83A1-F6EECF244321}">
                <p14:modId xmlns:p14="http://schemas.microsoft.com/office/powerpoint/2010/main" val="957569472"/>
              </p:ext>
            </p:extLst>
          </p:nvPr>
        </p:nvGraphicFramePr>
        <p:xfrm>
          <a:off x="1392540" y="2405103"/>
          <a:ext cx="3213100" cy="317500"/>
        </p:xfrm>
        <a:graphic>
          <a:graphicData uri="http://schemas.openxmlformats.org/presentationml/2006/ole">
            <mc:AlternateContent xmlns:mc="http://schemas.openxmlformats.org/markup-compatibility/2006">
              <mc:Choice xmlns:v="urn:schemas-microsoft-com:vml" Requires="v">
                <p:oleObj spid="_x0000_s218217" name="Equation" r:id="rId11" imgW="3213000" imgH="317160" progId="Equation.DSMT4">
                  <p:embed/>
                </p:oleObj>
              </mc:Choice>
              <mc:Fallback>
                <p:oleObj name="Equation" r:id="rId11" imgW="3213000" imgH="317160" progId="Equation.DSMT4">
                  <p:embed/>
                  <p:pic>
                    <p:nvPicPr>
                      <p:cNvPr id="0" name=""/>
                      <p:cNvPicPr/>
                      <p:nvPr/>
                    </p:nvPicPr>
                    <p:blipFill>
                      <a:blip r:embed="rId12"/>
                      <a:stretch>
                        <a:fillRect/>
                      </a:stretch>
                    </p:blipFill>
                    <p:spPr>
                      <a:xfrm>
                        <a:off x="1392540" y="2405103"/>
                        <a:ext cx="3213100" cy="317500"/>
                      </a:xfrm>
                      <a:prstGeom prst="rect">
                        <a:avLst/>
                      </a:prstGeom>
                    </p:spPr>
                  </p:pic>
                </p:oleObj>
              </mc:Fallback>
            </mc:AlternateContent>
          </a:graphicData>
        </a:graphic>
      </p:graphicFrame>
      <p:graphicFrame>
        <p:nvGraphicFramePr>
          <p:cNvPr id="44" name="对象 43"/>
          <p:cNvGraphicFramePr>
            <a:graphicFrameLocks noChangeAspect="1"/>
          </p:cNvGraphicFramePr>
          <p:nvPr>
            <p:extLst>
              <p:ext uri="{D42A27DB-BD31-4B8C-83A1-F6EECF244321}">
                <p14:modId xmlns:p14="http://schemas.microsoft.com/office/powerpoint/2010/main" val="972487197"/>
              </p:ext>
            </p:extLst>
          </p:nvPr>
        </p:nvGraphicFramePr>
        <p:xfrm>
          <a:off x="1398890" y="2765455"/>
          <a:ext cx="4597400" cy="368300"/>
        </p:xfrm>
        <a:graphic>
          <a:graphicData uri="http://schemas.openxmlformats.org/presentationml/2006/ole">
            <mc:AlternateContent xmlns:mc="http://schemas.openxmlformats.org/markup-compatibility/2006">
              <mc:Choice xmlns:v="urn:schemas-microsoft-com:vml" Requires="v">
                <p:oleObj spid="_x0000_s218218" name="Equation" r:id="rId13" imgW="4597200" imgH="368280" progId="Equation.DSMT4">
                  <p:embed/>
                </p:oleObj>
              </mc:Choice>
              <mc:Fallback>
                <p:oleObj name="Equation" r:id="rId13" imgW="4597200" imgH="368280" progId="Equation.DSMT4">
                  <p:embed/>
                  <p:pic>
                    <p:nvPicPr>
                      <p:cNvPr id="0" name=""/>
                      <p:cNvPicPr/>
                      <p:nvPr/>
                    </p:nvPicPr>
                    <p:blipFill>
                      <a:blip r:embed="rId14"/>
                      <a:stretch>
                        <a:fillRect/>
                      </a:stretch>
                    </p:blipFill>
                    <p:spPr>
                      <a:xfrm>
                        <a:off x="1398890" y="2765455"/>
                        <a:ext cx="4597400" cy="368300"/>
                      </a:xfrm>
                      <a:prstGeom prst="rect">
                        <a:avLst/>
                      </a:prstGeom>
                    </p:spPr>
                  </p:pic>
                </p:oleObj>
              </mc:Fallback>
            </mc:AlternateContent>
          </a:graphicData>
        </a:graphic>
      </p:graphicFrame>
      <p:sp>
        <p:nvSpPr>
          <p:cNvPr id="45" name="矩形 44"/>
          <p:cNvSpPr/>
          <p:nvPr/>
        </p:nvSpPr>
        <p:spPr>
          <a:xfrm>
            <a:off x="480889" y="3176607"/>
            <a:ext cx="6161539" cy="369332"/>
          </a:xfrm>
          <a:prstGeom prst="rect">
            <a:avLst/>
          </a:prstGeom>
        </p:spPr>
        <p:txBody>
          <a:bodyPr wrap="square">
            <a:spAutoFit/>
          </a:bodyPr>
          <a:lstStyle/>
          <a:p>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2</a:t>
            </a:r>
            <a:r>
              <a:rPr lang="zh-CN" altLang="en-US" dirty="0">
                <a:latin typeface="Times New Roman" panose="02020603050405020304" pitchFamily="18" charset="0"/>
                <a:cs typeface="Times New Roman" panose="02020603050405020304" pitchFamily="18" charset="0"/>
              </a:rPr>
              <a:t>）当调制信号幅度不变时，调频波的调制指数</a:t>
            </a:r>
          </a:p>
        </p:txBody>
      </p:sp>
      <p:graphicFrame>
        <p:nvGraphicFramePr>
          <p:cNvPr id="46" name="对象 45"/>
          <p:cNvGraphicFramePr>
            <a:graphicFrameLocks noChangeAspect="1"/>
          </p:cNvGraphicFramePr>
          <p:nvPr>
            <p:extLst>
              <p:ext uri="{D42A27DB-BD31-4B8C-83A1-F6EECF244321}">
                <p14:modId xmlns:p14="http://schemas.microsoft.com/office/powerpoint/2010/main" val="1731277969"/>
              </p:ext>
            </p:extLst>
          </p:nvPr>
        </p:nvGraphicFramePr>
        <p:xfrm>
          <a:off x="5497990" y="3075523"/>
          <a:ext cx="876300" cy="571500"/>
        </p:xfrm>
        <a:graphic>
          <a:graphicData uri="http://schemas.openxmlformats.org/presentationml/2006/ole">
            <mc:AlternateContent xmlns:mc="http://schemas.openxmlformats.org/markup-compatibility/2006">
              <mc:Choice xmlns:v="urn:schemas-microsoft-com:vml" Requires="v">
                <p:oleObj spid="_x0000_s218219" name="Equation" r:id="rId15" imgW="876240" imgH="571320" progId="Equation.DSMT4">
                  <p:embed/>
                </p:oleObj>
              </mc:Choice>
              <mc:Fallback>
                <p:oleObj name="Equation" r:id="rId15" imgW="876240" imgH="571320" progId="Equation.DSMT4">
                  <p:embed/>
                  <p:pic>
                    <p:nvPicPr>
                      <p:cNvPr id="0" name=""/>
                      <p:cNvPicPr/>
                      <p:nvPr/>
                    </p:nvPicPr>
                    <p:blipFill>
                      <a:blip r:embed="rId16"/>
                      <a:stretch>
                        <a:fillRect/>
                      </a:stretch>
                    </p:blipFill>
                    <p:spPr>
                      <a:xfrm>
                        <a:off x="5497990" y="3075523"/>
                        <a:ext cx="876300" cy="571500"/>
                      </a:xfrm>
                      <a:prstGeom prst="rect">
                        <a:avLst/>
                      </a:prstGeom>
                    </p:spPr>
                  </p:pic>
                </p:oleObj>
              </mc:Fallback>
            </mc:AlternateContent>
          </a:graphicData>
        </a:graphic>
      </p:graphicFrame>
      <p:sp>
        <p:nvSpPr>
          <p:cNvPr id="47" name="矩形 46"/>
          <p:cNvSpPr/>
          <p:nvPr/>
        </p:nvSpPr>
        <p:spPr>
          <a:xfrm>
            <a:off x="6463518" y="3191760"/>
            <a:ext cx="2206053" cy="369332"/>
          </a:xfrm>
          <a:prstGeom prst="rect">
            <a:avLst/>
          </a:prstGeom>
        </p:spPr>
        <p:txBody>
          <a:bodyPr wrap="none">
            <a:spAutoFit/>
          </a:bodyPr>
          <a:lstStyle/>
          <a:p>
            <a:r>
              <a:rPr lang="zh-CN" altLang="en-US" dirty="0"/>
              <a:t>所以 </a:t>
            </a:r>
            <a:r>
              <a:rPr lang="zh-CN" altLang="en-US" dirty="0" smtClean="0"/>
              <a:t>    跟</a:t>
            </a:r>
            <a:r>
              <a:rPr lang="en-US" altLang="zh-CN" i="1" dirty="0">
                <a:latin typeface="Times New Roman" panose="02020603050405020304" pitchFamily="18" charset="0"/>
                <a:cs typeface="Times New Roman" panose="02020603050405020304" pitchFamily="18" charset="0"/>
              </a:rPr>
              <a:t>F</a:t>
            </a:r>
            <a:r>
              <a:rPr lang="zh-CN" altLang="en-US" dirty="0"/>
              <a:t>成反比</a:t>
            </a:r>
            <a:r>
              <a:rPr lang="zh-CN" altLang="en-US" dirty="0" smtClean="0"/>
              <a:t>，</a:t>
            </a:r>
            <a:endParaRPr lang="zh-CN" altLang="en-US" dirty="0"/>
          </a:p>
        </p:txBody>
      </p:sp>
      <p:graphicFrame>
        <p:nvGraphicFramePr>
          <p:cNvPr id="48" name="对象 47"/>
          <p:cNvGraphicFramePr>
            <a:graphicFrameLocks noChangeAspect="1"/>
          </p:cNvGraphicFramePr>
          <p:nvPr>
            <p:extLst>
              <p:ext uri="{D42A27DB-BD31-4B8C-83A1-F6EECF244321}">
                <p14:modId xmlns:p14="http://schemas.microsoft.com/office/powerpoint/2010/main" val="3070251837"/>
              </p:ext>
            </p:extLst>
          </p:nvPr>
        </p:nvGraphicFramePr>
        <p:xfrm>
          <a:off x="6993851" y="3217676"/>
          <a:ext cx="292100" cy="317500"/>
        </p:xfrm>
        <a:graphic>
          <a:graphicData uri="http://schemas.openxmlformats.org/presentationml/2006/ole">
            <mc:AlternateContent xmlns:mc="http://schemas.openxmlformats.org/markup-compatibility/2006">
              <mc:Choice xmlns:v="urn:schemas-microsoft-com:vml" Requires="v">
                <p:oleObj spid="_x0000_s218220" name="Equation" r:id="rId17" imgW="291960" imgH="317160" progId="Equation.DSMT4">
                  <p:embed/>
                </p:oleObj>
              </mc:Choice>
              <mc:Fallback>
                <p:oleObj name="Equation" r:id="rId17" imgW="291960" imgH="317160" progId="Equation.DSMT4">
                  <p:embed/>
                  <p:pic>
                    <p:nvPicPr>
                      <p:cNvPr id="0" name=""/>
                      <p:cNvPicPr/>
                      <p:nvPr/>
                    </p:nvPicPr>
                    <p:blipFill>
                      <a:blip r:embed="rId18"/>
                      <a:stretch>
                        <a:fillRect/>
                      </a:stretch>
                    </p:blipFill>
                    <p:spPr>
                      <a:xfrm>
                        <a:off x="6993851" y="3217676"/>
                        <a:ext cx="292100" cy="317500"/>
                      </a:xfrm>
                      <a:prstGeom prst="rect">
                        <a:avLst/>
                      </a:prstGeom>
                    </p:spPr>
                  </p:pic>
                </p:oleObj>
              </mc:Fallback>
            </mc:AlternateContent>
          </a:graphicData>
        </a:graphic>
      </p:graphicFrame>
      <p:sp>
        <p:nvSpPr>
          <p:cNvPr id="50" name="矩形 49"/>
          <p:cNvSpPr/>
          <p:nvPr/>
        </p:nvSpPr>
        <p:spPr>
          <a:xfrm>
            <a:off x="1087266" y="3557696"/>
            <a:ext cx="2113079" cy="369332"/>
          </a:xfrm>
          <a:prstGeom prst="rect">
            <a:avLst/>
          </a:prstGeom>
        </p:spPr>
        <p:txBody>
          <a:bodyPr wrap="none">
            <a:spAutoFit/>
          </a:bodyPr>
          <a:lstStyle/>
          <a:p>
            <a:r>
              <a:rPr lang="zh-CN" altLang="en-US" dirty="0"/>
              <a:t>即</a:t>
            </a:r>
            <a:r>
              <a:rPr lang="zh-CN" altLang="en-US" dirty="0" smtClean="0"/>
              <a:t>当                   </a:t>
            </a:r>
            <a:r>
              <a:rPr lang="zh-CN" altLang="en-US" dirty="0"/>
              <a:t>时，</a:t>
            </a:r>
            <a:endParaRPr lang="zh-CN" altLang="en-US" dirty="0"/>
          </a:p>
        </p:txBody>
      </p:sp>
      <p:graphicFrame>
        <p:nvGraphicFramePr>
          <p:cNvPr id="51" name="对象 50"/>
          <p:cNvGraphicFramePr>
            <a:graphicFrameLocks noChangeAspect="1"/>
          </p:cNvGraphicFramePr>
          <p:nvPr>
            <p:extLst>
              <p:ext uri="{D42A27DB-BD31-4B8C-83A1-F6EECF244321}">
                <p14:modId xmlns:p14="http://schemas.microsoft.com/office/powerpoint/2010/main" val="2853584625"/>
              </p:ext>
            </p:extLst>
          </p:nvPr>
        </p:nvGraphicFramePr>
        <p:xfrm>
          <a:off x="1654855" y="3605141"/>
          <a:ext cx="977900" cy="292100"/>
        </p:xfrm>
        <a:graphic>
          <a:graphicData uri="http://schemas.openxmlformats.org/presentationml/2006/ole">
            <mc:AlternateContent xmlns:mc="http://schemas.openxmlformats.org/markup-compatibility/2006">
              <mc:Choice xmlns:v="urn:schemas-microsoft-com:vml" Requires="v">
                <p:oleObj spid="_x0000_s218221" name="Equation" r:id="rId19" imgW="977760" imgH="291960" progId="Equation.DSMT4">
                  <p:embed/>
                </p:oleObj>
              </mc:Choice>
              <mc:Fallback>
                <p:oleObj name="Equation" r:id="rId19" imgW="977760" imgH="291960" progId="Equation.DSMT4">
                  <p:embed/>
                  <p:pic>
                    <p:nvPicPr>
                      <p:cNvPr id="0" name=""/>
                      <p:cNvPicPr/>
                      <p:nvPr/>
                    </p:nvPicPr>
                    <p:blipFill>
                      <a:blip r:embed="rId20"/>
                      <a:stretch>
                        <a:fillRect/>
                      </a:stretch>
                    </p:blipFill>
                    <p:spPr>
                      <a:xfrm>
                        <a:off x="1654855" y="3605141"/>
                        <a:ext cx="977900" cy="292100"/>
                      </a:xfrm>
                      <a:prstGeom prst="rect">
                        <a:avLst/>
                      </a:prstGeom>
                    </p:spPr>
                  </p:pic>
                </p:oleObj>
              </mc:Fallback>
            </mc:AlternateContent>
          </a:graphicData>
        </a:graphic>
      </p:graphicFrame>
      <p:graphicFrame>
        <p:nvGraphicFramePr>
          <p:cNvPr id="52" name="对象 51"/>
          <p:cNvGraphicFramePr>
            <a:graphicFrameLocks noChangeAspect="1"/>
          </p:cNvGraphicFramePr>
          <p:nvPr>
            <p:extLst>
              <p:ext uri="{D42A27DB-BD31-4B8C-83A1-F6EECF244321}">
                <p14:modId xmlns:p14="http://schemas.microsoft.com/office/powerpoint/2010/main" val="2171742919"/>
              </p:ext>
            </p:extLst>
          </p:nvPr>
        </p:nvGraphicFramePr>
        <p:xfrm>
          <a:off x="2986390" y="3587759"/>
          <a:ext cx="711200" cy="317500"/>
        </p:xfrm>
        <a:graphic>
          <a:graphicData uri="http://schemas.openxmlformats.org/presentationml/2006/ole">
            <mc:AlternateContent xmlns:mc="http://schemas.openxmlformats.org/markup-compatibility/2006">
              <mc:Choice xmlns:v="urn:schemas-microsoft-com:vml" Requires="v">
                <p:oleObj spid="_x0000_s218222" name="Equation" r:id="rId21" imgW="711000" imgH="317160" progId="Equation.DSMT4">
                  <p:embed/>
                </p:oleObj>
              </mc:Choice>
              <mc:Fallback>
                <p:oleObj name="Equation" r:id="rId21" imgW="711000" imgH="317160" progId="Equation.DSMT4">
                  <p:embed/>
                  <p:pic>
                    <p:nvPicPr>
                      <p:cNvPr id="0" name=""/>
                      <p:cNvPicPr/>
                      <p:nvPr/>
                    </p:nvPicPr>
                    <p:blipFill>
                      <a:blip r:embed="rId22"/>
                      <a:stretch>
                        <a:fillRect/>
                      </a:stretch>
                    </p:blipFill>
                    <p:spPr>
                      <a:xfrm>
                        <a:off x="2986390" y="3587759"/>
                        <a:ext cx="711200" cy="317500"/>
                      </a:xfrm>
                      <a:prstGeom prst="rect">
                        <a:avLst/>
                      </a:prstGeom>
                    </p:spPr>
                  </p:pic>
                </p:oleObj>
              </mc:Fallback>
            </mc:AlternateContent>
          </a:graphicData>
        </a:graphic>
      </p:graphicFrame>
      <p:sp>
        <p:nvSpPr>
          <p:cNvPr id="53" name="矩形 52"/>
          <p:cNvSpPr/>
          <p:nvPr/>
        </p:nvSpPr>
        <p:spPr>
          <a:xfrm>
            <a:off x="3697590" y="3545939"/>
            <a:ext cx="877163" cy="369332"/>
          </a:xfrm>
          <a:prstGeom prst="rect">
            <a:avLst/>
          </a:prstGeom>
        </p:spPr>
        <p:txBody>
          <a:bodyPr wrap="none">
            <a:spAutoFit/>
          </a:bodyPr>
          <a:lstStyle/>
          <a:p>
            <a:r>
              <a:rPr lang="zh-CN" altLang="en-US" dirty="0"/>
              <a:t>此时：</a:t>
            </a:r>
          </a:p>
        </p:txBody>
      </p:sp>
      <p:graphicFrame>
        <p:nvGraphicFramePr>
          <p:cNvPr id="54" name="对象 53"/>
          <p:cNvGraphicFramePr>
            <a:graphicFrameLocks noChangeAspect="1"/>
          </p:cNvGraphicFramePr>
          <p:nvPr>
            <p:extLst>
              <p:ext uri="{D42A27DB-BD31-4B8C-83A1-F6EECF244321}">
                <p14:modId xmlns:p14="http://schemas.microsoft.com/office/powerpoint/2010/main" val="530875029"/>
              </p:ext>
            </p:extLst>
          </p:nvPr>
        </p:nvGraphicFramePr>
        <p:xfrm>
          <a:off x="812924" y="3983078"/>
          <a:ext cx="3276600" cy="317500"/>
        </p:xfrm>
        <a:graphic>
          <a:graphicData uri="http://schemas.openxmlformats.org/presentationml/2006/ole">
            <mc:AlternateContent xmlns:mc="http://schemas.openxmlformats.org/markup-compatibility/2006">
              <mc:Choice xmlns:v="urn:schemas-microsoft-com:vml" Requires="v">
                <p:oleObj spid="_x0000_s218223" name="Equation" r:id="rId23" imgW="3276360" imgH="317160" progId="Equation.DSMT4">
                  <p:embed/>
                </p:oleObj>
              </mc:Choice>
              <mc:Fallback>
                <p:oleObj name="Equation" r:id="rId23" imgW="3276360" imgH="317160" progId="Equation.DSMT4">
                  <p:embed/>
                  <p:pic>
                    <p:nvPicPr>
                      <p:cNvPr id="0" name=""/>
                      <p:cNvPicPr/>
                      <p:nvPr/>
                    </p:nvPicPr>
                    <p:blipFill>
                      <a:blip r:embed="rId24"/>
                      <a:stretch>
                        <a:fillRect/>
                      </a:stretch>
                    </p:blipFill>
                    <p:spPr>
                      <a:xfrm>
                        <a:off x="812924" y="3983078"/>
                        <a:ext cx="3276600" cy="317500"/>
                      </a:xfrm>
                      <a:prstGeom prst="rect">
                        <a:avLst/>
                      </a:prstGeom>
                    </p:spPr>
                  </p:pic>
                </p:oleObj>
              </mc:Fallback>
            </mc:AlternateContent>
          </a:graphicData>
        </a:graphic>
      </p:graphicFrame>
      <p:graphicFrame>
        <p:nvGraphicFramePr>
          <p:cNvPr id="55" name="对象 54"/>
          <p:cNvGraphicFramePr>
            <a:graphicFrameLocks noChangeAspect="1"/>
          </p:cNvGraphicFramePr>
          <p:nvPr>
            <p:extLst>
              <p:ext uri="{D42A27DB-BD31-4B8C-83A1-F6EECF244321}">
                <p14:modId xmlns:p14="http://schemas.microsoft.com/office/powerpoint/2010/main" val="2463444987"/>
              </p:ext>
            </p:extLst>
          </p:nvPr>
        </p:nvGraphicFramePr>
        <p:xfrm>
          <a:off x="4305628" y="3924555"/>
          <a:ext cx="4673600" cy="368300"/>
        </p:xfrm>
        <a:graphic>
          <a:graphicData uri="http://schemas.openxmlformats.org/presentationml/2006/ole">
            <mc:AlternateContent xmlns:mc="http://schemas.openxmlformats.org/markup-compatibility/2006">
              <mc:Choice xmlns:v="urn:schemas-microsoft-com:vml" Requires="v">
                <p:oleObj spid="_x0000_s218224" name="Equation" r:id="rId25" imgW="4673520" imgH="368280" progId="Equation.DSMT4">
                  <p:embed/>
                </p:oleObj>
              </mc:Choice>
              <mc:Fallback>
                <p:oleObj name="Equation" r:id="rId25" imgW="4673520" imgH="368280" progId="Equation.DSMT4">
                  <p:embed/>
                  <p:pic>
                    <p:nvPicPr>
                      <p:cNvPr id="0" name=""/>
                      <p:cNvPicPr/>
                      <p:nvPr/>
                    </p:nvPicPr>
                    <p:blipFill>
                      <a:blip r:embed="rId26"/>
                      <a:stretch>
                        <a:fillRect/>
                      </a:stretch>
                    </p:blipFill>
                    <p:spPr>
                      <a:xfrm>
                        <a:off x="4305628" y="3924555"/>
                        <a:ext cx="4673600" cy="368300"/>
                      </a:xfrm>
                      <a:prstGeom prst="rect">
                        <a:avLst/>
                      </a:prstGeom>
                    </p:spPr>
                  </p:pic>
                </p:oleObj>
              </mc:Fallback>
            </mc:AlternateContent>
          </a:graphicData>
        </a:graphic>
      </p:graphicFrame>
      <p:sp>
        <p:nvSpPr>
          <p:cNvPr id="56" name="矩形 55"/>
          <p:cNvSpPr/>
          <p:nvPr/>
        </p:nvSpPr>
        <p:spPr>
          <a:xfrm>
            <a:off x="941330" y="4378397"/>
            <a:ext cx="7250368" cy="369332"/>
          </a:xfrm>
          <a:prstGeom prst="rect">
            <a:avLst/>
          </a:prstGeom>
        </p:spPr>
        <p:txBody>
          <a:bodyPr wrap="square">
            <a:spAutoFit/>
          </a:bodyPr>
          <a:lstStyle/>
          <a:p>
            <a:r>
              <a:rPr lang="zh-CN" altLang="en-US" dirty="0"/>
              <a:t>当调制信号幅度不变时，调相波的调制指数 </a:t>
            </a:r>
            <a:r>
              <a:rPr lang="zh-CN" altLang="en-US" dirty="0" smtClean="0"/>
              <a:t>    不变</a:t>
            </a:r>
            <a:r>
              <a:rPr lang="zh-CN" altLang="en-US" dirty="0"/>
              <a:t>，</a:t>
            </a:r>
          </a:p>
        </p:txBody>
      </p:sp>
      <p:graphicFrame>
        <p:nvGraphicFramePr>
          <p:cNvPr id="57" name="对象 56"/>
          <p:cNvGraphicFramePr>
            <a:graphicFrameLocks noChangeAspect="1"/>
          </p:cNvGraphicFramePr>
          <p:nvPr>
            <p:extLst>
              <p:ext uri="{D42A27DB-BD31-4B8C-83A1-F6EECF244321}">
                <p14:modId xmlns:p14="http://schemas.microsoft.com/office/powerpoint/2010/main" val="1444210139"/>
              </p:ext>
            </p:extLst>
          </p:nvPr>
        </p:nvGraphicFramePr>
        <p:xfrm>
          <a:off x="5358290" y="4411637"/>
          <a:ext cx="279400" cy="317500"/>
        </p:xfrm>
        <a:graphic>
          <a:graphicData uri="http://schemas.openxmlformats.org/presentationml/2006/ole">
            <mc:AlternateContent xmlns:mc="http://schemas.openxmlformats.org/markup-compatibility/2006">
              <mc:Choice xmlns:v="urn:schemas-microsoft-com:vml" Requires="v">
                <p:oleObj spid="_x0000_s218225" name="Equation" r:id="rId27" imgW="279360" imgH="317160" progId="Equation.DSMT4">
                  <p:embed/>
                </p:oleObj>
              </mc:Choice>
              <mc:Fallback>
                <p:oleObj name="Equation" r:id="rId27" imgW="279360" imgH="317160" progId="Equation.DSMT4">
                  <p:embed/>
                  <p:pic>
                    <p:nvPicPr>
                      <p:cNvPr id="0" name=""/>
                      <p:cNvPicPr/>
                      <p:nvPr/>
                    </p:nvPicPr>
                    <p:blipFill>
                      <a:blip r:embed="rId28"/>
                      <a:stretch>
                        <a:fillRect/>
                      </a:stretch>
                    </p:blipFill>
                    <p:spPr>
                      <a:xfrm>
                        <a:off x="5358290" y="4411637"/>
                        <a:ext cx="279400" cy="317500"/>
                      </a:xfrm>
                      <a:prstGeom prst="rect">
                        <a:avLst/>
                      </a:prstGeom>
                    </p:spPr>
                  </p:pic>
                </p:oleObj>
              </mc:Fallback>
            </mc:AlternateContent>
          </a:graphicData>
        </a:graphic>
      </p:graphicFrame>
      <p:graphicFrame>
        <p:nvGraphicFramePr>
          <p:cNvPr id="58" name="对象 57"/>
          <p:cNvGraphicFramePr>
            <a:graphicFrameLocks noChangeAspect="1"/>
          </p:cNvGraphicFramePr>
          <p:nvPr>
            <p:extLst>
              <p:ext uri="{D42A27DB-BD31-4B8C-83A1-F6EECF244321}">
                <p14:modId xmlns:p14="http://schemas.microsoft.com/office/powerpoint/2010/main" val="1616606971"/>
              </p:ext>
            </p:extLst>
          </p:nvPr>
        </p:nvGraphicFramePr>
        <p:xfrm>
          <a:off x="746858" y="4825548"/>
          <a:ext cx="3389313" cy="317500"/>
        </p:xfrm>
        <a:graphic>
          <a:graphicData uri="http://schemas.openxmlformats.org/presentationml/2006/ole">
            <mc:AlternateContent xmlns:mc="http://schemas.openxmlformats.org/markup-compatibility/2006">
              <mc:Choice xmlns:v="urn:schemas-microsoft-com:vml" Requires="v">
                <p:oleObj spid="_x0000_s218226" name="Equation" r:id="rId29" imgW="3390840" imgH="317160" progId="Equation.DSMT4">
                  <p:embed/>
                </p:oleObj>
              </mc:Choice>
              <mc:Fallback>
                <p:oleObj name="Equation" r:id="rId29" imgW="3390840" imgH="317160" progId="Equation.DSMT4">
                  <p:embed/>
                  <p:pic>
                    <p:nvPicPr>
                      <p:cNvPr id="0" name=""/>
                      <p:cNvPicPr/>
                      <p:nvPr/>
                    </p:nvPicPr>
                    <p:blipFill>
                      <a:blip r:embed="rId30"/>
                      <a:stretch>
                        <a:fillRect/>
                      </a:stretch>
                    </p:blipFill>
                    <p:spPr>
                      <a:xfrm>
                        <a:off x="746858" y="4825548"/>
                        <a:ext cx="3389313" cy="317500"/>
                      </a:xfrm>
                      <a:prstGeom prst="rect">
                        <a:avLst/>
                      </a:prstGeom>
                    </p:spPr>
                  </p:pic>
                </p:oleObj>
              </mc:Fallback>
            </mc:AlternateContent>
          </a:graphicData>
        </a:graphic>
      </p:graphicFrame>
      <p:graphicFrame>
        <p:nvGraphicFramePr>
          <p:cNvPr id="59" name="对象 58"/>
          <p:cNvGraphicFramePr>
            <a:graphicFrameLocks noChangeAspect="1"/>
          </p:cNvGraphicFramePr>
          <p:nvPr>
            <p:extLst>
              <p:ext uri="{D42A27DB-BD31-4B8C-83A1-F6EECF244321}">
                <p14:modId xmlns:p14="http://schemas.microsoft.com/office/powerpoint/2010/main" val="1051796011"/>
              </p:ext>
            </p:extLst>
          </p:nvPr>
        </p:nvGraphicFramePr>
        <p:xfrm>
          <a:off x="4229428" y="4772105"/>
          <a:ext cx="4749800" cy="368300"/>
        </p:xfrm>
        <a:graphic>
          <a:graphicData uri="http://schemas.openxmlformats.org/presentationml/2006/ole">
            <mc:AlternateContent xmlns:mc="http://schemas.openxmlformats.org/markup-compatibility/2006">
              <mc:Choice xmlns:v="urn:schemas-microsoft-com:vml" Requires="v">
                <p:oleObj spid="_x0000_s218227" name="Equation" r:id="rId31" imgW="4749480" imgH="368280" progId="Equation.DSMT4">
                  <p:embed/>
                </p:oleObj>
              </mc:Choice>
              <mc:Fallback>
                <p:oleObj name="Equation" r:id="rId31" imgW="4749480" imgH="368280" progId="Equation.DSMT4">
                  <p:embed/>
                  <p:pic>
                    <p:nvPicPr>
                      <p:cNvPr id="0" name=""/>
                      <p:cNvPicPr/>
                      <p:nvPr/>
                    </p:nvPicPr>
                    <p:blipFill>
                      <a:blip r:embed="rId32"/>
                      <a:stretch>
                        <a:fillRect/>
                      </a:stretch>
                    </p:blipFill>
                    <p:spPr>
                      <a:xfrm>
                        <a:off x="4229428" y="4772105"/>
                        <a:ext cx="4749800" cy="368300"/>
                      </a:xfrm>
                      <a:prstGeom prst="rect">
                        <a:avLst/>
                      </a:prstGeom>
                    </p:spPr>
                  </p:pic>
                </p:oleObj>
              </mc:Fallback>
            </mc:AlternateContent>
          </a:graphicData>
        </a:graphic>
      </p:graphicFrame>
      <p:sp>
        <p:nvSpPr>
          <p:cNvPr id="60" name="矩形 59"/>
          <p:cNvSpPr/>
          <p:nvPr/>
        </p:nvSpPr>
        <p:spPr>
          <a:xfrm>
            <a:off x="454286" y="5179715"/>
            <a:ext cx="877163" cy="369332"/>
          </a:xfrm>
          <a:prstGeom prst="rect">
            <a:avLst/>
          </a:prstGeom>
        </p:spPr>
        <p:txBody>
          <a:bodyPr wrap="none">
            <a:spAutoFit/>
          </a:bodyPr>
          <a:lstStyle/>
          <a:p>
            <a:r>
              <a:rPr lang="zh-CN" altLang="en-US" dirty="0"/>
              <a:t>同理，</a:t>
            </a:r>
          </a:p>
        </p:txBody>
      </p:sp>
      <p:graphicFrame>
        <p:nvGraphicFramePr>
          <p:cNvPr id="61" name="对象 60"/>
          <p:cNvGraphicFramePr>
            <a:graphicFrameLocks noChangeAspect="1"/>
          </p:cNvGraphicFramePr>
          <p:nvPr>
            <p:extLst>
              <p:ext uri="{D42A27DB-BD31-4B8C-83A1-F6EECF244321}">
                <p14:modId xmlns:p14="http://schemas.microsoft.com/office/powerpoint/2010/main" val="3862915899"/>
              </p:ext>
            </p:extLst>
          </p:nvPr>
        </p:nvGraphicFramePr>
        <p:xfrm>
          <a:off x="1087266" y="5257846"/>
          <a:ext cx="3251200" cy="317500"/>
        </p:xfrm>
        <a:graphic>
          <a:graphicData uri="http://schemas.openxmlformats.org/presentationml/2006/ole">
            <mc:AlternateContent xmlns:mc="http://schemas.openxmlformats.org/markup-compatibility/2006">
              <mc:Choice xmlns:v="urn:schemas-microsoft-com:vml" Requires="v">
                <p:oleObj spid="_x0000_s218228" name="Equation" r:id="rId33" imgW="3251160" imgH="317160" progId="Equation.DSMT4">
                  <p:embed/>
                </p:oleObj>
              </mc:Choice>
              <mc:Fallback>
                <p:oleObj name="Equation" r:id="rId33" imgW="3251160" imgH="317160" progId="Equation.DSMT4">
                  <p:embed/>
                  <p:pic>
                    <p:nvPicPr>
                      <p:cNvPr id="0" name=""/>
                      <p:cNvPicPr/>
                      <p:nvPr/>
                    </p:nvPicPr>
                    <p:blipFill>
                      <a:blip r:embed="rId34"/>
                      <a:stretch>
                        <a:fillRect/>
                      </a:stretch>
                    </p:blipFill>
                    <p:spPr>
                      <a:xfrm>
                        <a:off x="1087266" y="5257846"/>
                        <a:ext cx="3251200" cy="317500"/>
                      </a:xfrm>
                      <a:prstGeom prst="rect">
                        <a:avLst/>
                      </a:prstGeom>
                    </p:spPr>
                  </p:pic>
                </p:oleObj>
              </mc:Fallback>
            </mc:AlternateContent>
          </a:graphicData>
        </a:graphic>
      </p:graphicFrame>
      <p:graphicFrame>
        <p:nvGraphicFramePr>
          <p:cNvPr id="62" name="对象 61"/>
          <p:cNvGraphicFramePr>
            <a:graphicFrameLocks noChangeAspect="1"/>
          </p:cNvGraphicFramePr>
          <p:nvPr>
            <p:extLst>
              <p:ext uri="{D42A27DB-BD31-4B8C-83A1-F6EECF244321}">
                <p14:modId xmlns:p14="http://schemas.microsoft.com/office/powerpoint/2010/main" val="1206429785"/>
              </p:ext>
            </p:extLst>
          </p:nvPr>
        </p:nvGraphicFramePr>
        <p:xfrm>
          <a:off x="4433284" y="5214363"/>
          <a:ext cx="4635500" cy="368300"/>
        </p:xfrm>
        <a:graphic>
          <a:graphicData uri="http://schemas.openxmlformats.org/presentationml/2006/ole">
            <mc:AlternateContent xmlns:mc="http://schemas.openxmlformats.org/markup-compatibility/2006">
              <mc:Choice xmlns:v="urn:schemas-microsoft-com:vml" Requires="v">
                <p:oleObj spid="_x0000_s218229" name="Equation" r:id="rId35" imgW="4635360" imgH="368280" progId="Equation.DSMT4">
                  <p:embed/>
                </p:oleObj>
              </mc:Choice>
              <mc:Fallback>
                <p:oleObj name="Equation" r:id="rId35" imgW="4635360" imgH="368280" progId="Equation.DSMT4">
                  <p:embed/>
                  <p:pic>
                    <p:nvPicPr>
                      <p:cNvPr id="0" name=""/>
                      <p:cNvPicPr/>
                      <p:nvPr/>
                    </p:nvPicPr>
                    <p:blipFill>
                      <a:blip r:embed="rId36"/>
                      <a:stretch>
                        <a:fillRect/>
                      </a:stretch>
                    </p:blipFill>
                    <p:spPr>
                      <a:xfrm>
                        <a:off x="4433284" y="5214363"/>
                        <a:ext cx="4635500" cy="368300"/>
                      </a:xfrm>
                      <a:prstGeom prst="rect">
                        <a:avLst/>
                      </a:prstGeom>
                    </p:spPr>
                  </p:pic>
                </p:oleObj>
              </mc:Fallback>
            </mc:AlternateContent>
          </a:graphicData>
        </a:graphic>
      </p:graphicFrame>
      <p:graphicFrame>
        <p:nvGraphicFramePr>
          <p:cNvPr id="63" name="对象 62"/>
          <p:cNvGraphicFramePr>
            <a:graphicFrameLocks noChangeAspect="1"/>
          </p:cNvGraphicFramePr>
          <p:nvPr>
            <p:extLst>
              <p:ext uri="{D42A27DB-BD31-4B8C-83A1-F6EECF244321}">
                <p14:modId xmlns:p14="http://schemas.microsoft.com/office/powerpoint/2010/main" val="3549697903"/>
              </p:ext>
            </p:extLst>
          </p:nvPr>
        </p:nvGraphicFramePr>
        <p:xfrm>
          <a:off x="770671" y="5663845"/>
          <a:ext cx="3365500" cy="317500"/>
        </p:xfrm>
        <a:graphic>
          <a:graphicData uri="http://schemas.openxmlformats.org/presentationml/2006/ole">
            <mc:AlternateContent xmlns:mc="http://schemas.openxmlformats.org/markup-compatibility/2006">
              <mc:Choice xmlns:v="urn:schemas-microsoft-com:vml" Requires="v">
                <p:oleObj spid="_x0000_s218230" name="Equation" r:id="rId37" imgW="3365280" imgH="317160" progId="Equation.DSMT4">
                  <p:embed/>
                </p:oleObj>
              </mc:Choice>
              <mc:Fallback>
                <p:oleObj name="Equation" r:id="rId37" imgW="3365280" imgH="317160" progId="Equation.DSMT4">
                  <p:embed/>
                  <p:pic>
                    <p:nvPicPr>
                      <p:cNvPr id="0" name=""/>
                      <p:cNvPicPr/>
                      <p:nvPr/>
                    </p:nvPicPr>
                    <p:blipFill>
                      <a:blip r:embed="rId38"/>
                      <a:stretch>
                        <a:fillRect/>
                      </a:stretch>
                    </p:blipFill>
                    <p:spPr>
                      <a:xfrm>
                        <a:off x="770671" y="5663845"/>
                        <a:ext cx="3365500" cy="317500"/>
                      </a:xfrm>
                      <a:prstGeom prst="rect">
                        <a:avLst/>
                      </a:prstGeom>
                    </p:spPr>
                  </p:pic>
                </p:oleObj>
              </mc:Fallback>
            </mc:AlternateContent>
          </a:graphicData>
        </a:graphic>
      </p:graphicFrame>
      <p:graphicFrame>
        <p:nvGraphicFramePr>
          <p:cNvPr id="64" name="对象 63"/>
          <p:cNvGraphicFramePr>
            <a:graphicFrameLocks noChangeAspect="1"/>
          </p:cNvGraphicFramePr>
          <p:nvPr>
            <p:extLst>
              <p:ext uri="{D42A27DB-BD31-4B8C-83A1-F6EECF244321}">
                <p14:modId xmlns:p14="http://schemas.microsoft.com/office/powerpoint/2010/main" val="4043967720"/>
              </p:ext>
            </p:extLst>
          </p:nvPr>
        </p:nvGraphicFramePr>
        <p:xfrm>
          <a:off x="4248478" y="5582663"/>
          <a:ext cx="4826000" cy="368300"/>
        </p:xfrm>
        <a:graphic>
          <a:graphicData uri="http://schemas.openxmlformats.org/presentationml/2006/ole">
            <mc:AlternateContent xmlns:mc="http://schemas.openxmlformats.org/markup-compatibility/2006">
              <mc:Choice xmlns:v="urn:schemas-microsoft-com:vml" Requires="v">
                <p:oleObj spid="_x0000_s218231" name="Equation" r:id="rId39" imgW="4825800" imgH="368280" progId="Equation.DSMT4">
                  <p:embed/>
                </p:oleObj>
              </mc:Choice>
              <mc:Fallback>
                <p:oleObj name="Equation" r:id="rId39" imgW="4825800" imgH="368280" progId="Equation.DSMT4">
                  <p:embed/>
                  <p:pic>
                    <p:nvPicPr>
                      <p:cNvPr id="0" name=""/>
                      <p:cNvPicPr/>
                      <p:nvPr/>
                    </p:nvPicPr>
                    <p:blipFill>
                      <a:blip r:embed="rId40"/>
                      <a:stretch>
                        <a:fillRect/>
                      </a:stretch>
                    </p:blipFill>
                    <p:spPr>
                      <a:xfrm>
                        <a:off x="4248478" y="5582663"/>
                        <a:ext cx="4826000" cy="368300"/>
                      </a:xfrm>
                      <a:prstGeom prst="rect">
                        <a:avLst/>
                      </a:prstGeom>
                    </p:spPr>
                  </p:pic>
                </p:oleObj>
              </mc:Fallback>
            </mc:AlternateContent>
          </a:graphicData>
        </a:graphic>
      </p:graphicFrame>
    </p:spTree>
    <p:extLst>
      <p:ext uri="{BB962C8B-B14F-4D97-AF65-F5344CB8AC3E}">
        <p14:creationId xmlns:p14="http://schemas.microsoft.com/office/powerpoint/2010/main" val="2639450286"/>
      </p:ext>
    </p:extLst>
  </p:cSld>
  <p:clrMapOvr>
    <a:masterClrMapping/>
  </p:clrMapOvr>
  <p:timing>
    <p:tnLst>
      <p:par>
        <p:cTn id="1" dur="indefinite" restart="never" nodeType="tmRoot"/>
      </p:par>
    </p:tnLst>
  </p:timing>
</p:sld>
</file>

<file path=ppt/slides/slide2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281</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11"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7.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角度调制</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与</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解调</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5" name="图片 39937" descr="58.wmf">
            <a:extLst>
              <a:ext uri="{FF2B5EF4-FFF2-40B4-BE49-F238E27FC236}">
                <a16:creationId xmlns="" xmlns:a16="http://schemas.microsoft.com/office/drawing/2014/main" id="{13F4D879-0694-A833-A1F3-592361C886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01278" y="1307698"/>
            <a:ext cx="5803036" cy="4226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5"/>
          <p:cNvSpPr/>
          <p:nvPr/>
        </p:nvSpPr>
        <p:spPr>
          <a:xfrm>
            <a:off x="279532" y="5494067"/>
            <a:ext cx="8646529" cy="923330"/>
          </a:xfrm>
          <a:prstGeom prst="rect">
            <a:avLst/>
          </a:prstGeom>
        </p:spPr>
        <p:txBody>
          <a:bodyPr wrap="square">
            <a:spAutoFit/>
          </a:bodyPr>
          <a:lstStyle/>
          <a:p>
            <a:r>
              <a:rPr lang="zh-CN" altLang="zh-CN" kern="100" dirty="0">
                <a:latin typeface="Times New Roman" panose="02020603050405020304" pitchFamily="18" charset="0"/>
                <a:cs typeface="Times New Roman" panose="02020603050405020304" pitchFamily="18" charset="0"/>
              </a:rPr>
              <a:t>可以看出，当调制信号的频率</a:t>
            </a:r>
            <a:r>
              <a:rPr lang="en-US" altLang="zh-CN" i="1" kern="100" dirty="0">
                <a:latin typeface="Times New Roman" panose="02020603050405020304" pitchFamily="18" charset="0"/>
              </a:rPr>
              <a:t>F</a:t>
            </a:r>
            <a:r>
              <a:rPr lang="zh-CN" altLang="zh-CN" kern="100" dirty="0">
                <a:latin typeface="Times New Roman" panose="02020603050405020304" pitchFamily="18" charset="0"/>
                <a:cs typeface="Times New Roman" panose="02020603050405020304" pitchFamily="18" charset="0"/>
              </a:rPr>
              <a:t>变化时，调频波的频偏不变，带宽基本不变，故调频波又称恒带调制；调相波的频偏和带宽随</a:t>
            </a:r>
            <a:r>
              <a:rPr lang="en-US" altLang="zh-CN" i="1" kern="100" dirty="0">
                <a:latin typeface="Times New Roman" panose="02020603050405020304" pitchFamily="18" charset="0"/>
              </a:rPr>
              <a:t>F</a:t>
            </a:r>
            <a:r>
              <a:rPr lang="zh-CN" altLang="zh-CN" kern="100" dirty="0">
                <a:latin typeface="Times New Roman" panose="02020603050405020304" pitchFamily="18" charset="0"/>
                <a:cs typeface="Times New Roman" panose="02020603050405020304" pitchFamily="18" charset="0"/>
              </a:rPr>
              <a:t>的增加而增加，因而占用的频带很宽，频带利用率低。</a:t>
            </a:r>
            <a:endParaRPr lang="zh-CN" altLang="en-US" dirty="0"/>
          </a:p>
        </p:txBody>
      </p:sp>
    </p:spTree>
    <p:extLst>
      <p:ext uri="{BB962C8B-B14F-4D97-AF65-F5344CB8AC3E}">
        <p14:creationId xmlns:p14="http://schemas.microsoft.com/office/powerpoint/2010/main" val="4017617660"/>
      </p:ext>
    </p:extLst>
  </p:cSld>
  <p:clrMapOvr>
    <a:masterClrMapping/>
  </p:clrMapOvr>
  <p:timing>
    <p:tnLst>
      <p:par>
        <p:cTn id="1" dur="indefinite" restart="never" nodeType="tmRoot"/>
      </p:par>
    </p:tnLst>
  </p:timing>
</p:sld>
</file>

<file path=ppt/slides/slide2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282</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11"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7.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角度调制</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与</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解调</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文本框 41986">
            <a:extLst>
              <a:ext uri="{FF2B5EF4-FFF2-40B4-BE49-F238E27FC236}">
                <a16:creationId xmlns="" xmlns:a16="http://schemas.microsoft.com/office/drawing/2014/main" id="{967C8F5D-9AA4-7400-6ACE-1380856EAD86}"/>
              </a:ext>
            </a:extLst>
          </p:cNvPr>
          <p:cNvSpPr txBox="1">
            <a:spLocks noChangeArrowheads="1"/>
          </p:cNvSpPr>
          <p:nvPr/>
        </p:nvSpPr>
        <p:spPr bwMode="auto">
          <a:xfrm>
            <a:off x="303453" y="1368094"/>
            <a:ext cx="341632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r>
              <a:rPr lang="zh-CN" altLang="en-US" dirty="0">
                <a:latin typeface="+mn-ea"/>
                <a:ea typeface="+mn-ea"/>
              </a:rPr>
              <a:t>一、实现调频的方法和基本原理</a:t>
            </a:r>
          </a:p>
        </p:txBody>
      </p:sp>
      <p:sp>
        <p:nvSpPr>
          <p:cNvPr id="6" name="文本框 41987">
            <a:extLst>
              <a:ext uri="{FF2B5EF4-FFF2-40B4-BE49-F238E27FC236}">
                <a16:creationId xmlns="" xmlns:a16="http://schemas.microsoft.com/office/drawing/2014/main" id="{82E7586E-0521-1680-7988-4554C35C8F79}"/>
              </a:ext>
            </a:extLst>
          </p:cNvPr>
          <p:cNvSpPr txBox="1">
            <a:spLocks noChangeArrowheads="1"/>
          </p:cNvSpPr>
          <p:nvPr/>
        </p:nvSpPr>
        <p:spPr bwMode="auto">
          <a:xfrm>
            <a:off x="744777" y="1807831"/>
            <a:ext cx="6965265" cy="1089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p>
            <a:pPr>
              <a:lnSpc>
                <a:spcPct val="120000"/>
              </a:lnSpc>
            </a:pPr>
            <a:r>
              <a:rPr lang="en-US" altLang="zh-CN" dirty="0">
                <a:latin typeface="+mn-ea"/>
                <a:ea typeface="+mn-ea"/>
              </a:rPr>
              <a:t>    </a:t>
            </a:r>
            <a:r>
              <a:rPr lang="zh-CN" altLang="en-US" dirty="0">
                <a:latin typeface="+mn-ea"/>
                <a:ea typeface="+mn-ea"/>
              </a:rPr>
              <a:t>频率调制是对调制信号频谱进行非线性频率变换，而不是线性搬移，因而不能简单地用乘法器和滤波器来实现。实现调频的方法分为两大类：直接调频法和间接调频法。 </a:t>
            </a:r>
          </a:p>
        </p:txBody>
      </p:sp>
      <p:sp>
        <p:nvSpPr>
          <p:cNvPr id="7" name="文本框 41988">
            <a:extLst>
              <a:ext uri="{FF2B5EF4-FFF2-40B4-BE49-F238E27FC236}">
                <a16:creationId xmlns="" xmlns:a16="http://schemas.microsoft.com/office/drawing/2014/main" id="{5AF406B7-E5A7-DF38-E7F0-C5CA4BCCD77E}"/>
              </a:ext>
            </a:extLst>
          </p:cNvPr>
          <p:cNvSpPr txBox="1">
            <a:spLocks noChangeArrowheads="1"/>
          </p:cNvSpPr>
          <p:nvPr/>
        </p:nvSpPr>
        <p:spPr bwMode="auto">
          <a:xfrm>
            <a:off x="816215" y="2897360"/>
            <a:ext cx="168507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r>
              <a:rPr lang="en-US" altLang="zh-CN" dirty="0">
                <a:latin typeface="+mn-ea"/>
                <a:ea typeface="+mn-ea"/>
              </a:rPr>
              <a:t>1. </a:t>
            </a:r>
            <a:r>
              <a:rPr lang="zh-CN" altLang="en-US" dirty="0">
                <a:latin typeface="+mn-ea"/>
                <a:ea typeface="+mn-ea"/>
              </a:rPr>
              <a:t>直接调频法</a:t>
            </a:r>
          </a:p>
        </p:txBody>
      </p:sp>
      <p:sp>
        <p:nvSpPr>
          <p:cNvPr id="8" name="文本框 41989">
            <a:extLst>
              <a:ext uri="{FF2B5EF4-FFF2-40B4-BE49-F238E27FC236}">
                <a16:creationId xmlns="" xmlns:a16="http://schemas.microsoft.com/office/drawing/2014/main" id="{32739396-259E-0193-9BA5-94F7147F3A9B}"/>
              </a:ext>
            </a:extLst>
          </p:cNvPr>
          <p:cNvSpPr txBox="1">
            <a:spLocks noChangeArrowheads="1"/>
          </p:cNvSpPr>
          <p:nvPr/>
        </p:nvSpPr>
        <p:spPr bwMode="auto">
          <a:xfrm>
            <a:off x="816215" y="3237987"/>
            <a:ext cx="7037844"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p>
            <a:pPr>
              <a:lnSpc>
                <a:spcPct val="120000"/>
              </a:lnSpc>
            </a:pPr>
            <a:r>
              <a:rPr lang="en-US" altLang="zh-CN" dirty="0">
                <a:latin typeface="+mn-ea"/>
                <a:ea typeface="+mn-ea"/>
              </a:rPr>
              <a:t>    </a:t>
            </a:r>
            <a:r>
              <a:rPr lang="zh-CN" altLang="en-US" dirty="0">
                <a:latin typeface="+mn-ea"/>
                <a:ea typeface="+mn-ea"/>
              </a:rPr>
              <a:t>用调制信号直接控制振荡器的瞬时频率变化的方法称为直接调频法。如果受控振荡器是产生正弦波的</a:t>
            </a:r>
            <a:r>
              <a:rPr lang="en-US" altLang="zh-CN" dirty="0">
                <a:latin typeface="+mn-ea"/>
                <a:ea typeface="+mn-ea"/>
              </a:rPr>
              <a:t>LC</a:t>
            </a:r>
            <a:r>
              <a:rPr lang="zh-CN" altLang="en-US" dirty="0">
                <a:latin typeface="+mn-ea"/>
                <a:ea typeface="+mn-ea"/>
              </a:rPr>
              <a:t>振荡器，则振荡频率主要取决于谐振回路的电感和电容。将受到调制信号控制的可变电抗与谐振回路连接，就可以使振荡频率按调制信号的规律变化，实现直接调频。 </a:t>
            </a:r>
          </a:p>
        </p:txBody>
      </p:sp>
    </p:spTree>
    <p:extLst>
      <p:ext uri="{BB962C8B-B14F-4D97-AF65-F5344CB8AC3E}">
        <p14:creationId xmlns:p14="http://schemas.microsoft.com/office/powerpoint/2010/main" val="481915832"/>
      </p:ext>
    </p:extLst>
  </p:cSld>
  <p:clrMapOvr>
    <a:masterClrMapping/>
  </p:clrMapOvr>
  <p:timing>
    <p:tnLst>
      <p:par>
        <p:cTn id="1" dur="indefinite" restart="never" nodeType="tmRoot"/>
      </p:par>
    </p:tnLst>
  </p:timing>
</p:sld>
</file>

<file path=ppt/slides/slide2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283</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11"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7.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角度调制</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与</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解调</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文本框 44034">
            <a:extLst>
              <a:ext uri="{FF2B5EF4-FFF2-40B4-BE49-F238E27FC236}">
                <a16:creationId xmlns="" xmlns:a16="http://schemas.microsoft.com/office/drawing/2014/main" id="{045A765B-1A28-9C82-904B-A420ED8B5C28}"/>
              </a:ext>
            </a:extLst>
          </p:cNvPr>
          <p:cNvSpPr txBox="1">
            <a:spLocks noChangeArrowheads="1"/>
          </p:cNvSpPr>
          <p:nvPr/>
        </p:nvSpPr>
        <p:spPr bwMode="auto">
          <a:xfrm>
            <a:off x="386793" y="1340768"/>
            <a:ext cx="178766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r>
              <a:rPr lang="en-US" altLang="zh-CN" sz="2000">
                <a:solidFill>
                  <a:srgbClr val="FF0000"/>
                </a:solidFill>
                <a:latin typeface="Times New Roman" panose="02020603050405020304" pitchFamily="18" charset="0"/>
                <a:cs typeface="Times New Roman" panose="02020603050405020304" pitchFamily="18" charset="0"/>
              </a:rPr>
              <a:t>2. </a:t>
            </a:r>
            <a:r>
              <a:rPr lang="zh-CN" altLang="en-US" sz="2000">
                <a:solidFill>
                  <a:srgbClr val="FF0000"/>
                </a:solidFill>
                <a:latin typeface="Times New Roman" panose="02020603050405020304" pitchFamily="18" charset="0"/>
                <a:cs typeface="Times New Roman" panose="02020603050405020304" pitchFamily="18" charset="0"/>
              </a:rPr>
              <a:t>间接调频法 </a:t>
            </a:r>
          </a:p>
        </p:txBody>
      </p:sp>
      <p:sp>
        <p:nvSpPr>
          <p:cNvPr id="6" name="矩形 44035">
            <a:extLst>
              <a:ext uri="{FF2B5EF4-FFF2-40B4-BE49-F238E27FC236}">
                <a16:creationId xmlns="" xmlns:a16="http://schemas.microsoft.com/office/drawing/2014/main" id="{89C14236-F2D4-EEAE-54CD-71740BB8DD17}"/>
              </a:ext>
            </a:extLst>
          </p:cNvPr>
          <p:cNvSpPr>
            <a:spLocks noChangeArrowheads="1"/>
          </p:cNvSpPr>
          <p:nvPr/>
        </p:nvSpPr>
        <p:spPr bwMode="auto">
          <a:xfrm>
            <a:off x="95250" y="1916832"/>
            <a:ext cx="4572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lnSpc>
                <a:spcPct val="120000"/>
              </a:lnSpc>
              <a:spcBef>
                <a:spcPct val="50000"/>
              </a:spcBef>
            </a:pPr>
            <a:r>
              <a:rPr lang="zh-CN" altLang="en-US" sz="2000">
                <a:solidFill>
                  <a:schemeClr val="tx1"/>
                </a:solidFill>
                <a:latin typeface="Times New Roman" panose="02020603050405020304" pitchFamily="18" charset="0"/>
                <a:cs typeface="Times New Roman" panose="02020603050405020304" pitchFamily="18" charset="0"/>
              </a:rPr>
              <a:t>调频波可以看成调制信号为 </a:t>
            </a:r>
          </a:p>
        </p:txBody>
      </p:sp>
      <p:pic>
        <p:nvPicPr>
          <p:cNvPr id="7" name="图片 44036" descr="59.wmf">
            <a:extLst>
              <a:ext uri="{FF2B5EF4-FFF2-40B4-BE49-F238E27FC236}">
                <a16:creationId xmlns="" xmlns:a16="http://schemas.microsoft.com/office/drawing/2014/main" id="{99FB4EDD-6C0A-83E6-124B-7713A48F933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211960" y="1753521"/>
            <a:ext cx="1368425" cy="69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文本框 44037">
            <a:extLst>
              <a:ext uri="{FF2B5EF4-FFF2-40B4-BE49-F238E27FC236}">
                <a16:creationId xmlns="" xmlns:a16="http://schemas.microsoft.com/office/drawing/2014/main" id="{27DB6273-0F11-46E0-62EB-F8930CF85728}"/>
              </a:ext>
            </a:extLst>
          </p:cNvPr>
          <p:cNvSpPr txBox="1">
            <a:spLocks noChangeArrowheads="1"/>
          </p:cNvSpPr>
          <p:nvPr/>
        </p:nvSpPr>
        <p:spPr bwMode="auto">
          <a:xfrm>
            <a:off x="5364088" y="1902716"/>
            <a:ext cx="227488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r>
              <a:rPr lang="en-US" altLang="zh-CN" sz="2000" dirty="0">
                <a:solidFill>
                  <a:schemeClr val="tx1"/>
                </a:solidFill>
                <a:latin typeface="Times New Roman" panose="02020603050405020304" pitchFamily="18" charset="0"/>
                <a:cs typeface="Times New Roman" panose="02020603050405020304" pitchFamily="18" charset="0"/>
              </a:rPr>
              <a:t>  </a:t>
            </a:r>
            <a:r>
              <a:rPr lang="zh-CN" altLang="en-US" sz="2000" dirty="0">
                <a:solidFill>
                  <a:schemeClr val="tx1"/>
                </a:solidFill>
                <a:latin typeface="Times New Roman" panose="02020603050405020304" pitchFamily="18" charset="0"/>
                <a:cs typeface="Times New Roman" panose="02020603050405020304" pitchFamily="18" charset="0"/>
              </a:rPr>
              <a:t>的调相波，</a:t>
            </a:r>
          </a:p>
        </p:txBody>
      </p:sp>
      <p:sp>
        <p:nvSpPr>
          <p:cNvPr id="9" name="文本占位符 44033">
            <a:extLst>
              <a:ext uri="{FF2B5EF4-FFF2-40B4-BE49-F238E27FC236}">
                <a16:creationId xmlns="" xmlns:a16="http://schemas.microsoft.com/office/drawing/2014/main" id="{C8AA6D7B-586E-2F3D-ED73-EA362E3EA923}"/>
              </a:ext>
            </a:extLst>
          </p:cNvPr>
          <p:cNvSpPr txBox="1">
            <a:spLocks noChangeArrowheads="1"/>
          </p:cNvSpPr>
          <p:nvPr/>
        </p:nvSpPr>
        <p:spPr>
          <a:xfrm>
            <a:off x="228600" y="2627975"/>
            <a:ext cx="8686800" cy="3962400"/>
          </a:xfrm>
          <a:prstGeom prst="rect">
            <a:avLst/>
          </a:prstGeom>
        </p:spPr>
        <p:txBody>
          <a:bodyPr/>
          <a:lstStyle>
            <a:lvl1pPr marL="342900" indent="-342900" algn="l" rtl="0" eaLnBrk="0" fontAlgn="base" hangingPunct="0">
              <a:spcBef>
                <a:spcPct val="20000"/>
              </a:spcBef>
              <a:spcAft>
                <a:spcPct val="0"/>
              </a:spcAft>
              <a:buChar char="•"/>
              <a:defRPr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indent="0">
              <a:lnSpc>
                <a:spcPct val="120000"/>
              </a:lnSpc>
              <a:buFont typeface="Times New Roman" panose="02020603050405020304" pitchFamily="18" charset="0"/>
              <a:buNone/>
            </a:pPr>
            <a:r>
              <a:rPr lang="zh-CN" altLang="en-US" sz="2000" kern="0" dirty="0">
                <a:solidFill>
                  <a:schemeClr val="accent2"/>
                </a:solidFill>
                <a:latin typeface="Times New Roman" panose="02020603050405020304" pitchFamily="18" charset="0"/>
                <a:cs typeface="Times New Roman" panose="02020603050405020304" pitchFamily="18" charset="0"/>
              </a:rPr>
              <a:t>先将调制信号进行积分处理，然后用它控制载波的瞬时相位变化，从而实现间接控制载波的瞬时频率变化的方法，称为间接调频法。</a:t>
            </a:r>
            <a:endParaRPr lang="en-US" altLang="zh-CN" sz="2000" kern="0" dirty="0">
              <a:solidFill>
                <a:schemeClr val="accent2"/>
              </a:solidFill>
              <a:latin typeface="Times New Roman" panose="02020603050405020304" pitchFamily="18" charset="0"/>
              <a:cs typeface="Times New Roman" panose="02020603050405020304" pitchFamily="18" charset="0"/>
            </a:endParaRPr>
          </a:p>
          <a:p>
            <a:pPr indent="0">
              <a:lnSpc>
                <a:spcPct val="120000"/>
              </a:lnSpc>
              <a:buFont typeface="Times New Roman" panose="02020603050405020304" pitchFamily="18" charset="0"/>
              <a:buNone/>
            </a:pPr>
            <a:endParaRPr lang="zh-CN" altLang="en-US" sz="2000" kern="0" dirty="0">
              <a:solidFill>
                <a:schemeClr val="accent2"/>
              </a:solidFill>
              <a:latin typeface="Times New Roman" panose="02020603050405020304" pitchFamily="18" charset="0"/>
              <a:cs typeface="Times New Roman" panose="02020603050405020304" pitchFamily="18" charset="0"/>
            </a:endParaRPr>
          </a:p>
          <a:p>
            <a:pPr>
              <a:lnSpc>
                <a:spcPct val="120000"/>
              </a:lnSpc>
              <a:buFont typeface="Times New Roman" panose="02020603050405020304" pitchFamily="18" charset="0"/>
              <a:buNone/>
            </a:pPr>
            <a:r>
              <a:rPr lang="zh-CN" altLang="en-US" sz="2000" kern="0" dirty="0">
                <a:latin typeface="Times New Roman" panose="02020603050405020304" pitchFamily="18" charset="0"/>
                <a:cs typeface="Times New Roman" panose="02020603050405020304" pitchFamily="18" charset="0"/>
              </a:rPr>
              <a:t>   </a:t>
            </a:r>
            <a:r>
              <a:rPr lang="zh-CN" altLang="en-US" sz="2000" kern="0" dirty="0">
                <a:solidFill>
                  <a:schemeClr val="accent2"/>
                </a:solidFill>
                <a:latin typeface="Times New Roman" panose="02020603050405020304" pitchFamily="18" charset="0"/>
                <a:cs typeface="Times New Roman" panose="02020603050405020304" pitchFamily="18" charset="0"/>
              </a:rPr>
              <a:t>间接调频法的优点：</a:t>
            </a:r>
          </a:p>
          <a:p>
            <a:pPr>
              <a:lnSpc>
                <a:spcPct val="120000"/>
              </a:lnSpc>
              <a:spcBef>
                <a:spcPct val="0"/>
              </a:spcBef>
              <a:buFont typeface="Times New Roman" panose="02020603050405020304" pitchFamily="18" charset="0"/>
              <a:buNone/>
            </a:pPr>
            <a:r>
              <a:rPr lang="zh-CN" altLang="en-US" sz="2000" kern="0" dirty="0">
                <a:latin typeface="Times New Roman" panose="02020603050405020304" pitchFamily="18" charset="0"/>
                <a:cs typeface="Times New Roman" panose="02020603050405020304" pitchFamily="18" charset="0"/>
              </a:rPr>
              <a:t>   实现调相的电路独立于高频载波振荡器以外，所以这种调频波突出的优点是载波中心频率的稳定性可以做得较高。</a:t>
            </a:r>
            <a:endParaRPr lang="en-US" altLang="zh-CN" sz="2000" kern="0" dirty="0">
              <a:latin typeface="Times New Roman" panose="02020603050405020304" pitchFamily="18" charset="0"/>
              <a:cs typeface="Times New Roman" panose="02020603050405020304" pitchFamily="18" charset="0"/>
            </a:endParaRPr>
          </a:p>
          <a:p>
            <a:pPr>
              <a:lnSpc>
                <a:spcPct val="120000"/>
              </a:lnSpc>
              <a:spcBef>
                <a:spcPct val="0"/>
              </a:spcBef>
              <a:buFont typeface="Times New Roman" panose="02020603050405020304" pitchFamily="18" charset="0"/>
              <a:buNone/>
            </a:pPr>
            <a:endParaRPr lang="zh-CN" altLang="en-US" sz="2000" kern="0" dirty="0">
              <a:latin typeface="Times New Roman" panose="02020603050405020304" pitchFamily="18" charset="0"/>
              <a:cs typeface="Times New Roman" panose="02020603050405020304" pitchFamily="18" charset="0"/>
            </a:endParaRPr>
          </a:p>
          <a:p>
            <a:pPr>
              <a:lnSpc>
                <a:spcPct val="120000"/>
              </a:lnSpc>
              <a:spcBef>
                <a:spcPct val="0"/>
              </a:spcBef>
              <a:buFont typeface="Times New Roman" panose="02020603050405020304" pitchFamily="18" charset="0"/>
              <a:buNone/>
            </a:pPr>
            <a:r>
              <a:rPr lang="zh-CN" altLang="en-US" sz="2000" kern="0" dirty="0">
                <a:latin typeface="Times New Roman" panose="02020603050405020304" pitchFamily="18" charset="0"/>
                <a:cs typeface="Times New Roman" panose="02020603050405020304" pitchFamily="18" charset="0"/>
              </a:rPr>
              <a:t>   </a:t>
            </a:r>
            <a:r>
              <a:rPr lang="zh-CN" altLang="en-US" sz="2000" kern="0" dirty="0">
                <a:solidFill>
                  <a:schemeClr val="accent2"/>
                </a:solidFill>
                <a:latin typeface="Times New Roman" panose="02020603050405020304" pitchFamily="18" charset="0"/>
                <a:cs typeface="Times New Roman" panose="02020603050405020304" pitchFamily="18" charset="0"/>
              </a:rPr>
              <a:t>缺点：</a:t>
            </a:r>
            <a:r>
              <a:rPr lang="zh-CN" altLang="en-US" sz="2000" kern="0" dirty="0">
                <a:latin typeface="Times New Roman" panose="02020603050405020304" pitchFamily="18" charset="0"/>
                <a:cs typeface="Times New Roman" panose="02020603050405020304" pitchFamily="18" charset="0"/>
              </a:rPr>
              <a:t>可能得到的最大频偏较小。</a:t>
            </a:r>
          </a:p>
        </p:txBody>
      </p:sp>
    </p:spTree>
    <p:extLst>
      <p:ext uri="{BB962C8B-B14F-4D97-AF65-F5344CB8AC3E}">
        <p14:creationId xmlns:p14="http://schemas.microsoft.com/office/powerpoint/2010/main" val="4102803779"/>
      </p:ext>
    </p:extLst>
  </p:cSld>
  <p:clrMapOvr>
    <a:masterClrMapping/>
  </p:clrMapOvr>
  <p:timing>
    <p:tnLst>
      <p:par>
        <p:cTn id="1" dur="indefinite" restart="never" nodeType="tmRoot"/>
      </p:par>
    </p:tnLst>
  </p:timing>
</p:sld>
</file>

<file path=ppt/slides/slide2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284</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11"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7.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角度调制</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与</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解调</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文本框 45057">
            <a:extLst>
              <a:ext uri="{FF2B5EF4-FFF2-40B4-BE49-F238E27FC236}">
                <a16:creationId xmlns="" xmlns:a16="http://schemas.microsoft.com/office/drawing/2014/main" id="{D7BAAA75-16D9-2346-3600-FC21B2D36A73}"/>
              </a:ext>
            </a:extLst>
          </p:cNvPr>
          <p:cNvSpPr txBox="1">
            <a:spLocks noChangeArrowheads="1"/>
          </p:cNvSpPr>
          <p:nvPr/>
        </p:nvSpPr>
        <p:spPr bwMode="auto">
          <a:xfrm>
            <a:off x="683568" y="1268760"/>
            <a:ext cx="403187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r>
              <a:rPr lang="zh-CN" altLang="en-US" sz="2000">
                <a:solidFill>
                  <a:schemeClr val="tx1"/>
                </a:solidFill>
                <a:latin typeface="+mn-ea"/>
                <a:ea typeface="+mn-ea"/>
              </a:rPr>
              <a:t>间接调频实现的原理框图如图所示</a:t>
            </a:r>
          </a:p>
        </p:txBody>
      </p:sp>
      <p:pic>
        <p:nvPicPr>
          <p:cNvPr id="6" name="图片 45059" descr="60.wmf">
            <a:extLst>
              <a:ext uri="{FF2B5EF4-FFF2-40B4-BE49-F238E27FC236}">
                <a16:creationId xmlns="" xmlns:a16="http://schemas.microsoft.com/office/drawing/2014/main" id="{3CBB6200-9BA9-007B-3E99-C98D6FEF11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9118" y="2092673"/>
            <a:ext cx="7131050" cy="3500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文本框 45060">
            <a:extLst>
              <a:ext uri="{FF2B5EF4-FFF2-40B4-BE49-F238E27FC236}">
                <a16:creationId xmlns="" xmlns:a16="http://schemas.microsoft.com/office/drawing/2014/main" id="{A763D20F-B924-E2D2-2C3D-6FE103EB9F72}"/>
              </a:ext>
            </a:extLst>
          </p:cNvPr>
          <p:cNvSpPr txBox="1">
            <a:spLocks noChangeArrowheads="1"/>
          </p:cNvSpPr>
          <p:nvPr/>
        </p:nvSpPr>
        <p:spPr bwMode="auto">
          <a:xfrm>
            <a:off x="2411760" y="5648284"/>
            <a:ext cx="391164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r>
              <a:rPr lang="zh-CN" altLang="en-US" sz="2000" dirty="0">
                <a:solidFill>
                  <a:schemeClr val="tx1"/>
                </a:solidFill>
                <a:latin typeface="+mn-ea"/>
                <a:ea typeface="+mn-ea"/>
              </a:rPr>
              <a:t>图</a:t>
            </a:r>
            <a:r>
              <a:rPr lang="en-US" altLang="zh-CN" sz="2000" dirty="0">
                <a:solidFill>
                  <a:schemeClr val="tx1"/>
                </a:solidFill>
                <a:latin typeface="+mn-ea"/>
                <a:ea typeface="+mn-ea"/>
              </a:rPr>
              <a:t>7-7  </a:t>
            </a:r>
            <a:r>
              <a:rPr lang="zh-CN" altLang="en-US" sz="2000" dirty="0">
                <a:solidFill>
                  <a:schemeClr val="tx1"/>
                </a:solidFill>
                <a:latin typeface="+mn-ea"/>
                <a:ea typeface="+mn-ea"/>
              </a:rPr>
              <a:t>借助于调相器得到调频波</a:t>
            </a:r>
          </a:p>
        </p:txBody>
      </p:sp>
    </p:spTree>
    <p:extLst>
      <p:ext uri="{BB962C8B-B14F-4D97-AF65-F5344CB8AC3E}">
        <p14:creationId xmlns:p14="http://schemas.microsoft.com/office/powerpoint/2010/main" val="733306813"/>
      </p:ext>
    </p:extLst>
  </p:cSld>
  <p:clrMapOvr>
    <a:masterClrMapping/>
  </p:clrMapOvr>
  <p:timing>
    <p:tnLst>
      <p:par>
        <p:cTn id="1" dur="indefinite" restart="never" nodeType="tmRoot"/>
      </p:par>
    </p:tnLst>
  </p:timing>
</p:sld>
</file>

<file path=ppt/slides/slide2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285</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11"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7.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角度调制</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与</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解调</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文本框 46081">
            <a:extLst>
              <a:ext uri="{FF2B5EF4-FFF2-40B4-BE49-F238E27FC236}">
                <a16:creationId xmlns="" xmlns:a16="http://schemas.microsoft.com/office/drawing/2014/main" id="{1B4ED6C1-2038-6B11-9A09-6D7148871BEC}"/>
              </a:ext>
            </a:extLst>
          </p:cNvPr>
          <p:cNvSpPr txBox="1">
            <a:spLocks noChangeArrowheads="1"/>
          </p:cNvSpPr>
          <p:nvPr/>
        </p:nvSpPr>
        <p:spPr bwMode="auto">
          <a:xfrm>
            <a:off x="611560" y="1988840"/>
            <a:ext cx="7776864" cy="30156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p>
            <a:pPr>
              <a:lnSpc>
                <a:spcPct val="120000"/>
              </a:lnSpc>
            </a:pPr>
            <a:r>
              <a:rPr lang="en-US" altLang="zh-CN" sz="2000" dirty="0">
                <a:solidFill>
                  <a:schemeClr val="tx1"/>
                </a:solidFill>
                <a:latin typeface="+mn-ea"/>
                <a:ea typeface="+mn-ea"/>
              </a:rPr>
              <a:t>  </a:t>
            </a:r>
            <a:r>
              <a:rPr lang="zh-CN" altLang="en-US" sz="2000" dirty="0">
                <a:solidFill>
                  <a:schemeClr val="tx1"/>
                </a:solidFill>
                <a:latin typeface="+mn-ea"/>
                <a:ea typeface="+mn-ea"/>
              </a:rPr>
              <a:t>无论是直接调频，还是间接调频，</a:t>
            </a:r>
          </a:p>
          <a:p>
            <a:pPr>
              <a:lnSpc>
                <a:spcPct val="120000"/>
              </a:lnSpc>
            </a:pPr>
            <a:r>
              <a:rPr lang="zh-CN" altLang="en-US" sz="2000" dirty="0">
                <a:solidFill>
                  <a:schemeClr val="tx1"/>
                </a:solidFill>
                <a:latin typeface="+mn-ea"/>
                <a:ea typeface="+mn-ea"/>
              </a:rPr>
              <a:t>  </a:t>
            </a:r>
            <a:r>
              <a:rPr lang="zh-CN" altLang="en-US" sz="2000" dirty="0">
                <a:solidFill>
                  <a:schemeClr val="accent2"/>
                </a:solidFill>
                <a:latin typeface="+mn-ea"/>
                <a:ea typeface="+mn-ea"/>
              </a:rPr>
              <a:t>主要技术要求是：</a:t>
            </a:r>
          </a:p>
          <a:p>
            <a:pPr>
              <a:lnSpc>
                <a:spcPct val="120000"/>
              </a:lnSpc>
            </a:pPr>
            <a:r>
              <a:rPr lang="zh-CN" altLang="en-US" sz="2000" dirty="0">
                <a:solidFill>
                  <a:schemeClr val="tx1"/>
                </a:solidFill>
                <a:latin typeface="+mn-ea"/>
                <a:ea typeface="+mn-ea"/>
              </a:rPr>
              <a:t> ● 频偏尽量大，并且与调制信号保持良好的线性关系；</a:t>
            </a:r>
          </a:p>
          <a:p>
            <a:pPr>
              <a:lnSpc>
                <a:spcPct val="120000"/>
              </a:lnSpc>
            </a:pPr>
            <a:r>
              <a:rPr lang="zh-CN" altLang="en-US" sz="2000" dirty="0">
                <a:solidFill>
                  <a:schemeClr val="tx1"/>
                </a:solidFill>
                <a:latin typeface="+mn-ea"/>
                <a:ea typeface="+mn-ea"/>
              </a:rPr>
              <a:t> ● 中心频率的稳定性尽量高；</a:t>
            </a:r>
          </a:p>
          <a:p>
            <a:pPr>
              <a:lnSpc>
                <a:spcPct val="120000"/>
              </a:lnSpc>
            </a:pPr>
            <a:r>
              <a:rPr lang="zh-CN" altLang="en-US" sz="2000" dirty="0">
                <a:solidFill>
                  <a:schemeClr val="tx1"/>
                </a:solidFill>
                <a:latin typeface="+mn-ea"/>
                <a:ea typeface="+mn-ea"/>
              </a:rPr>
              <a:t> ● 寄生调幅尽量小；</a:t>
            </a:r>
          </a:p>
          <a:p>
            <a:pPr>
              <a:lnSpc>
                <a:spcPct val="120000"/>
              </a:lnSpc>
            </a:pPr>
            <a:r>
              <a:rPr lang="zh-CN" altLang="en-US" sz="2000" dirty="0">
                <a:solidFill>
                  <a:schemeClr val="tx1"/>
                </a:solidFill>
                <a:latin typeface="+mn-ea"/>
                <a:ea typeface="+mn-ea"/>
              </a:rPr>
              <a:t> ● 调制灵敏度尽量高。</a:t>
            </a:r>
          </a:p>
          <a:p>
            <a:pPr>
              <a:lnSpc>
                <a:spcPct val="120000"/>
              </a:lnSpc>
            </a:pPr>
            <a:r>
              <a:rPr lang="zh-CN" altLang="en-US" sz="2000" dirty="0">
                <a:solidFill>
                  <a:schemeClr val="tx1"/>
                </a:solidFill>
                <a:latin typeface="+mn-ea"/>
                <a:ea typeface="+mn-ea"/>
              </a:rPr>
              <a:t>  </a:t>
            </a:r>
          </a:p>
          <a:p>
            <a:pPr>
              <a:lnSpc>
                <a:spcPct val="120000"/>
              </a:lnSpc>
            </a:pPr>
            <a:r>
              <a:rPr lang="zh-CN" altLang="en-US" sz="2000" dirty="0">
                <a:solidFill>
                  <a:schemeClr val="tx1"/>
                </a:solidFill>
                <a:latin typeface="+mn-ea"/>
                <a:ea typeface="+mn-ea"/>
              </a:rPr>
              <a:t>  其中频偏增大与调制线性度之间是矛盾的。</a:t>
            </a:r>
          </a:p>
        </p:txBody>
      </p:sp>
    </p:spTree>
    <p:extLst>
      <p:ext uri="{BB962C8B-B14F-4D97-AF65-F5344CB8AC3E}">
        <p14:creationId xmlns:p14="http://schemas.microsoft.com/office/powerpoint/2010/main" val="2182395481"/>
      </p:ext>
    </p:extLst>
  </p:cSld>
  <p:clrMapOvr>
    <a:masterClrMapping/>
  </p:clrMapOvr>
  <p:timing>
    <p:tnLst>
      <p:par>
        <p:cTn id="1" dur="indefinite" restart="never" nodeType="tmRoot"/>
      </p:par>
    </p:tnLst>
  </p:timing>
</p:sld>
</file>

<file path=ppt/slides/slide2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286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11"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7.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角度调制</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与</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解调</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文本占位符 47106">
            <a:extLst>
              <a:ext uri="{FF2B5EF4-FFF2-40B4-BE49-F238E27FC236}">
                <a16:creationId xmlns="" xmlns:a16="http://schemas.microsoft.com/office/drawing/2014/main" id="{4D1178D7-D6AB-23C2-75BE-DDAAEEF0A021}"/>
              </a:ext>
            </a:extLst>
          </p:cNvPr>
          <p:cNvSpPr txBox="1">
            <a:spLocks noChangeArrowheads="1"/>
          </p:cNvSpPr>
          <p:nvPr/>
        </p:nvSpPr>
        <p:spPr>
          <a:xfrm>
            <a:off x="173527" y="1716519"/>
            <a:ext cx="8229600" cy="1150937"/>
          </a:xfrm>
          <a:prstGeom prst="rect">
            <a:avLst/>
          </a:prstGeom>
        </p:spPr>
        <p:txBody>
          <a:bodyPr/>
          <a:lstStyle>
            <a:lvl1pPr marL="342900" indent="-342900" algn="l" rtl="0" eaLnBrk="0" fontAlgn="base" hangingPunct="0">
              <a:spcBef>
                <a:spcPct val="20000"/>
              </a:spcBef>
              <a:spcAft>
                <a:spcPct val="0"/>
              </a:spcAft>
              <a:buChar char="•"/>
              <a:defRPr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a:lnSpc>
                <a:spcPct val="120000"/>
              </a:lnSpc>
              <a:buFont typeface="Times New Roman" panose="02020603050405020304" pitchFamily="18" charset="0"/>
              <a:buNone/>
            </a:pPr>
            <a:r>
              <a:rPr lang="en-US" altLang="zh-CN" sz="2000" kern="0" dirty="0">
                <a:latin typeface="Times New Roman" panose="02020603050405020304" pitchFamily="18" charset="0"/>
                <a:cs typeface="Times New Roman" panose="02020603050405020304" pitchFamily="18" charset="0"/>
              </a:rPr>
              <a:t>       </a:t>
            </a:r>
            <a:r>
              <a:rPr lang="zh-CN" altLang="en-US" sz="2000" kern="0" dirty="0">
                <a:latin typeface="Times New Roman" panose="02020603050405020304" pitchFamily="18" charset="0"/>
                <a:cs typeface="Times New Roman" panose="02020603050405020304" pitchFamily="18" charset="0"/>
              </a:rPr>
              <a:t>变容二极管调频电路是一种常用的直接调频电路，广泛应用于移动通信和自动频率微调系统。</a:t>
            </a:r>
          </a:p>
        </p:txBody>
      </p:sp>
      <p:sp>
        <p:nvSpPr>
          <p:cNvPr id="6" name="文本框 47107">
            <a:extLst>
              <a:ext uri="{FF2B5EF4-FFF2-40B4-BE49-F238E27FC236}">
                <a16:creationId xmlns="" xmlns:a16="http://schemas.microsoft.com/office/drawing/2014/main" id="{F7E4E57B-8C69-20A6-EBB2-E699F47CFBAB}"/>
              </a:ext>
            </a:extLst>
          </p:cNvPr>
          <p:cNvSpPr txBox="1">
            <a:spLocks noChangeArrowheads="1"/>
          </p:cNvSpPr>
          <p:nvPr/>
        </p:nvSpPr>
        <p:spPr bwMode="auto">
          <a:xfrm>
            <a:off x="516607" y="2612134"/>
            <a:ext cx="326243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r>
              <a:rPr lang="en-US" altLang="zh-CN" sz="2000" dirty="0">
                <a:solidFill>
                  <a:srgbClr val="FF0000"/>
                </a:solidFill>
                <a:latin typeface="Times New Roman" panose="02020603050405020304" pitchFamily="18" charset="0"/>
                <a:cs typeface="Times New Roman" panose="02020603050405020304" pitchFamily="18" charset="0"/>
              </a:rPr>
              <a:t>1. </a:t>
            </a:r>
            <a:r>
              <a:rPr lang="zh-CN" altLang="en-US" sz="2000" dirty="0">
                <a:solidFill>
                  <a:srgbClr val="FF0000"/>
                </a:solidFill>
                <a:latin typeface="Times New Roman" panose="02020603050405020304" pitchFamily="18" charset="0"/>
                <a:cs typeface="Times New Roman" panose="02020603050405020304" pitchFamily="18" charset="0"/>
              </a:rPr>
              <a:t>基本工作原理和定量分析</a:t>
            </a:r>
          </a:p>
        </p:txBody>
      </p:sp>
      <p:sp>
        <p:nvSpPr>
          <p:cNvPr id="7" name="文本框 47108">
            <a:extLst>
              <a:ext uri="{FF2B5EF4-FFF2-40B4-BE49-F238E27FC236}">
                <a16:creationId xmlns="" xmlns:a16="http://schemas.microsoft.com/office/drawing/2014/main" id="{8706C025-D883-5400-68B2-F219ADD28653}"/>
              </a:ext>
            </a:extLst>
          </p:cNvPr>
          <p:cNvSpPr txBox="1">
            <a:spLocks noChangeArrowheads="1"/>
          </p:cNvSpPr>
          <p:nvPr/>
        </p:nvSpPr>
        <p:spPr bwMode="auto">
          <a:xfrm>
            <a:off x="458265" y="3099193"/>
            <a:ext cx="7885112"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a:lnSpc>
                <a:spcPct val="120000"/>
              </a:lnSpc>
            </a:pPr>
            <a:r>
              <a:rPr lang="en-US" altLang="zh-CN" sz="2000" dirty="0">
                <a:solidFill>
                  <a:schemeClr val="tx1"/>
                </a:solidFill>
                <a:latin typeface="Times New Roman" panose="02020603050405020304" pitchFamily="18" charset="0"/>
                <a:cs typeface="Times New Roman" panose="02020603050405020304" pitchFamily="18" charset="0"/>
              </a:rPr>
              <a:t>    </a:t>
            </a:r>
            <a:r>
              <a:rPr lang="zh-CN" altLang="en-US" sz="2000" dirty="0">
                <a:solidFill>
                  <a:schemeClr val="tx1"/>
                </a:solidFill>
                <a:latin typeface="Times New Roman" panose="02020603050405020304" pitchFamily="18" charset="0"/>
                <a:cs typeface="Times New Roman" panose="02020603050405020304" pitchFamily="18" charset="0"/>
              </a:rPr>
              <a:t>变容二极管是利用半导体</a:t>
            </a:r>
            <a:r>
              <a:rPr lang="en-US" altLang="zh-CN" sz="2000" dirty="0">
                <a:solidFill>
                  <a:schemeClr val="tx1"/>
                </a:solidFill>
                <a:latin typeface="Times New Roman" panose="02020603050405020304" pitchFamily="18" charset="0"/>
                <a:cs typeface="Times New Roman" panose="02020603050405020304" pitchFamily="18" charset="0"/>
              </a:rPr>
              <a:t>PN</a:t>
            </a:r>
            <a:r>
              <a:rPr lang="zh-CN" altLang="en-US" sz="2000" dirty="0">
                <a:solidFill>
                  <a:schemeClr val="tx1"/>
                </a:solidFill>
                <a:latin typeface="Times New Roman" panose="02020603050405020304" pitchFamily="18" charset="0"/>
                <a:cs typeface="Times New Roman" panose="02020603050405020304" pitchFamily="18" charset="0"/>
              </a:rPr>
              <a:t>结的结电容随反向电压变化这一特性而制成的一种半导体二极管。</a:t>
            </a:r>
          </a:p>
        </p:txBody>
      </p:sp>
      <p:sp>
        <p:nvSpPr>
          <p:cNvPr id="8" name="文本框 47109">
            <a:extLst>
              <a:ext uri="{FF2B5EF4-FFF2-40B4-BE49-F238E27FC236}">
                <a16:creationId xmlns="" xmlns:a16="http://schemas.microsoft.com/office/drawing/2014/main" id="{E6AA4D51-4700-2994-66FC-FAFDC7F0DEB1}"/>
              </a:ext>
            </a:extLst>
          </p:cNvPr>
          <p:cNvSpPr txBox="1">
            <a:spLocks noChangeArrowheads="1"/>
          </p:cNvSpPr>
          <p:nvPr/>
        </p:nvSpPr>
        <p:spPr bwMode="auto">
          <a:xfrm>
            <a:off x="452890" y="4080107"/>
            <a:ext cx="383951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r>
              <a:rPr lang="zh-CN" altLang="en-US" sz="2000" dirty="0">
                <a:solidFill>
                  <a:schemeClr val="tx1"/>
                </a:solidFill>
                <a:latin typeface="Times New Roman" panose="02020603050405020304" pitchFamily="18" charset="0"/>
                <a:cs typeface="Times New Roman" panose="02020603050405020304" pitchFamily="18" charset="0"/>
              </a:rPr>
              <a:t>结电容</a:t>
            </a:r>
            <a:r>
              <a:rPr lang="en-US" altLang="zh-CN" sz="2000" dirty="0" err="1">
                <a:solidFill>
                  <a:schemeClr val="tx1"/>
                </a:solidFill>
                <a:latin typeface="Times New Roman" panose="02020603050405020304" pitchFamily="18" charset="0"/>
                <a:cs typeface="Times New Roman" panose="02020603050405020304" pitchFamily="18" charset="0"/>
              </a:rPr>
              <a:t>Cj</a:t>
            </a:r>
            <a:r>
              <a:rPr lang="zh-CN" altLang="en-US" sz="2000" dirty="0">
                <a:solidFill>
                  <a:schemeClr val="tx1"/>
                </a:solidFill>
                <a:latin typeface="Times New Roman" panose="02020603050405020304" pitchFamily="18" charset="0"/>
                <a:cs typeface="Times New Roman" panose="02020603050405020304" pitchFamily="18" charset="0"/>
              </a:rPr>
              <a:t>与反向电压</a:t>
            </a:r>
            <a:r>
              <a:rPr lang="en-US" altLang="zh-CN" sz="2000" i="1" dirty="0" err="1">
                <a:solidFill>
                  <a:schemeClr val="tx1"/>
                </a:solidFill>
                <a:latin typeface="Times New Roman" panose="02020603050405020304" pitchFamily="18" charset="0"/>
                <a:cs typeface="Times New Roman" panose="02020603050405020304" pitchFamily="18" charset="0"/>
              </a:rPr>
              <a:t>v</a:t>
            </a:r>
            <a:r>
              <a:rPr lang="en-US" altLang="zh-CN" sz="2000" dirty="0" err="1">
                <a:solidFill>
                  <a:schemeClr val="tx1"/>
                </a:solidFill>
                <a:latin typeface="Times New Roman" panose="02020603050405020304" pitchFamily="18" charset="0"/>
                <a:cs typeface="Times New Roman" panose="02020603050405020304" pitchFamily="18" charset="0"/>
              </a:rPr>
              <a:t>R</a:t>
            </a:r>
            <a:r>
              <a:rPr lang="zh-CN" altLang="en-US" sz="2000" dirty="0">
                <a:solidFill>
                  <a:schemeClr val="tx1"/>
                </a:solidFill>
                <a:latin typeface="Times New Roman" panose="02020603050405020304" pitchFamily="18" charset="0"/>
                <a:cs typeface="Times New Roman" panose="02020603050405020304" pitchFamily="18" charset="0"/>
              </a:rPr>
              <a:t>的关系：</a:t>
            </a:r>
          </a:p>
        </p:txBody>
      </p:sp>
      <p:pic>
        <p:nvPicPr>
          <p:cNvPr id="9" name="图片 47111" descr="61.wmf">
            <a:extLst>
              <a:ext uri="{FF2B5EF4-FFF2-40B4-BE49-F238E27FC236}">
                <a16:creationId xmlns="" xmlns:a16="http://schemas.microsoft.com/office/drawing/2014/main" id="{28F95A35-26B4-8070-BDB4-5D6543D733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05371" y="3510513"/>
            <a:ext cx="2087562" cy="124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矩形 9">
            <a:extLst>
              <a:ext uri="{FF2B5EF4-FFF2-40B4-BE49-F238E27FC236}">
                <a16:creationId xmlns="" xmlns:a16="http://schemas.microsoft.com/office/drawing/2014/main" id="{09CF1A59-4352-119B-26F4-56D8016A0356}"/>
              </a:ext>
            </a:extLst>
          </p:cNvPr>
          <p:cNvSpPr>
            <a:spLocks noChangeArrowheads="1"/>
          </p:cNvSpPr>
          <p:nvPr/>
        </p:nvSpPr>
        <p:spPr bwMode="auto">
          <a:xfrm>
            <a:off x="452768" y="4845263"/>
            <a:ext cx="75184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000" i="1">
                <a:solidFill>
                  <a:schemeClr val="tx1"/>
                </a:solidFill>
                <a:latin typeface="Times New Roman" panose="02020603050405020304" pitchFamily="18" charset="0"/>
                <a:cs typeface="Times New Roman" panose="02020603050405020304" pitchFamily="18" charset="0"/>
              </a:rPr>
              <a:t>v</a:t>
            </a:r>
            <a:r>
              <a:rPr lang="en-US" altLang="zh-CN" sz="2000">
                <a:solidFill>
                  <a:schemeClr val="tx1"/>
                </a:solidFill>
                <a:latin typeface="Times New Roman" panose="02020603050405020304" pitchFamily="18" charset="0"/>
                <a:cs typeface="Times New Roman" panose="02020603050405020304" pitchFamily="18" charset="0"/>
              </a:rPr>
              <a:t>R</a:t>
            </a:r>
            <a:r>
              <a:rPr lang="zh-CN" altLang="en-US" sz="2000">
                <a:solidFill>
                  <a:schemeClr val="tx1"/>
                </a:solidFill>
                <a:latin typeface="Times New Roman" panose="02020603050405020304" pitchFamily="18" charset="0"/>
                <a:cs typeface="Times New Roman" panose="02020603050405020304" pitchFamily="18" charset="0"/>
              </a:rPr>
              <a:t>：反向偏置电压，</a:t>
            </a:r>
            <a:r>
              <a:rPr lang="en-US" altLang="zh-CN" sz="2000" i="1">
                <a:solidFill>
                  <a:schemeClr val="tx1"/>
                </a:solidFill>
                <a:latin typeface="Times New Roman" panose="02020603050405020304" pitchFamily="18" charset="0"/>
                <a:cs typeface="Times New Roman" panose="02020603050405020304" pitchFamily="18" charset="0"/>
              </a:rPr>
              <a:t>V</a:t>
            </a:r>
            <a:r>
              <a:rPr lang="en-US" altLang="zh-CN" sz="2000" baseline="-25000">
                <a:solidFill>
                  <a:schemeClr val="tx1"/>
                </a:solidFill>
                <a:latin typeface="Times New Roman" panose="02020603050405020304" pitchFamily="18" charset="0"/>
                <a:cs typeface="Times New Roman" panose="02020603050405020304" pitchFamily="18" charset="0"/>
              </a:rPr>
              <a:t>D</a:t>
            </a:r>
            <a:r>
              <a:rPr lang="zh-CN" altLang="en-US" sz="2000">
                <a:solidFill>
                  <a:schemeClr val="tx1"/>
                </a:solidFill>
                <a:latin typeface="Times New Roman" panose="02020603050405020304" pitchFamily="18" charset="0"/>
                <a:cs typeface="Times New Roman" panose="02020603050405020304" pitchFamily="18" charset="0"/>
              </a:rPr>
              <a:t>：</a:t>
            </a:r>
            <a:r>
              <a:rPr lang="en-US" altLang="zh-CN" sz="2000" i="1">
                <a:solidFill>
                  <a:schemeClr val="tx1"/>
                </a:solidFill>
                <a:latin typeface="Times New Roman" panose="02020603050405020304" pitchFamily="18" charset="0"/>
                <a:cs typeface="Times New Roman" panose="02020603050405020304" pitchFamily="18" charset="0"/>
              </a:rPr>
              <a:t>PN</a:t>
            </a:r>
            <a:r>
              <a:rPr lang="zh-CN" altLang="en-US" sz="2000">
                <a:solidFill>
                  <a:schemeClr val="tx1"/>
                </a:solidFill>
                <a:latin typeface="Times New Roman" panose="02020603050405020304" pitchFamily="18" charset="0"/>
                <a:cs typeface="Times New Roman" panose="02020603050405020304" pitchFamily="18" charset="0"/>
              </a:rPr>
              <a:t>结势垒电位差。 </a:t>
            </a:r>
          </a:p>
        </p:txBody>
      </p:sp>
      <p:sp>
        <p:nvSpPr>
          <p:cNvPr id="12" name="矩形 11">
            <a:extLst>
              <a:ext uri="{FF2B5EF4-FFF2-40B4-BE49-F238E27FC236}">
                <a16:creationId xmlns="" xmlns:a16="http://schemas.microsoft.com/office/drawing/2014/main" id="{DF1AD13C-F50B-C2DE-D8D8-0A03CF189AE1}"/>
              </a:ext>
            </a:extLst>
          </p:cNvPr>
          <p:cNvSpPr>
            <a:spLocks noChangeArrowheads="1"/>
          </p:cNvSpPr>
          <p:nvPr/>
        </p:nvSpPr>
        <p:spPr bwMode="auto">
          <a:xfrm>
            <a:off x="452767" y="5311482"/>
            <a:ext cx="8123589"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000" i="1" dirty="0">
                <a:solidFill>
                  <a:schemeClr val="tx1"/>
                </a:solidFill>
                <a:latin typeface="Times New Roman" panose="02020603050405020304" pitchFamily="18" charset="0"/>
                <a:cs typeface="Times New Roman" panose="02020603050405020304" pitchFamily="18" charset="0"/>
              </a:rPr>
              <a:t>γ</a:t>
            </a:r>
            <a:r>
              <a:rPr lang="zh-CN" altLang="en-US" sz="2000" dirty="0">
                <a:solidFill>
                  <a:schemeClr val="tx1"/>
                </a:solidFill>
                <a:latin typeface="Times New Roman" panose="02020603050405020304" pitchFamily="18" charset="0"/>
                <a:cs typeface="Times New Roman" panose="02020603050405020304" pitchFamily="18" charset="0"/>
              </a:rPr>
              <a:t>：结电容变化指数，通常</a:t>
            </a:r>
            <a:r>
              <a:rPr lang="en-US" altLang="zh-CN" sz="2000" i="1" dirty="0">
                <a:solidFill>
                  <a:schemeClr val="tx1"/>
                </a:solidFill>
                <a:latin typeface="Times New Roman" panose="02020603050405020304" pitchFamily="18" charset="0"/>
                <a:cs typeface="Times New Roman" panose="02020603050405020304" pitchFamily="18" charset="0"/>
              </a:rPr>
              <a:t>γ</a:t>
            </a:r>
            <a:r>
              <a:rPr lang="en-US" altLang="zh-CN" sz="2000" dirty="0">
                <a:solidFill>
                  <a:schemeClr val="tx1"/>
                </a:solidFill>
                <a:latin typeface="Times New Roman" panose="02020603050405020304" pitchFamily="18" charset="0"/>
                <a:cs typeface="Times New Roman" panose="02020603050405020304" pitchFamily="18" charset="0"/>
              </a:rPr>
              <a:t>=1/2</a:t>
            </a:r>
            <a:r>
              <a:rPr lang="zh-CN" altLang="en-US" sz="2000" dirty="0">
                <a:solidFill>
                  <a:schemeClr val="tx1"/>
                </a:solidFill>
                <a:latin typeface="Times New Roman" panose="02020603050405020304" pitchFamily="18" charset="0"/>
                <a:cs typeface="Times New Roman" panose="02020603050405020304" pitchFamily="18" charset="0"/>
              </a:rPr>
              <a:t>～</a:t>
            </a:r>
            <a:r>
              <a:rPr lang="en-US" altLang="zh-CN" sz="2000" dirty="0">
                <a:solidFill>
                  <a:schemeClr val="tx1"/>
                </a:solidFill>
                <a:latin typeface="Times New Roman" panose="02020603050405020304" pitchFamily="18" charset="0"/>
                <a:cs typeface="Times New Roman" panose="02020603050405020304" pitchFamily="18" charset="0"/>
              </a:rPr>
              <a:t>1/3</a:t>
            </a:r>
            <a:r>
              <a:rPr lang="zh-CN" altLang="en-US" sz="2000" dirty="0">
                <a:solidFill>
                  <a:schemeClr val="tx1"/>
                </a:solidFill>
                <a:latin typeface="Times New Roman" panose="02020603050405020304" pitchFamily="18" charset="0"/>
                <a:cs typeface="Times New Roman" panose="02020603050405020304" pitchFamily="18" charset="0"/>
              </a:rPr>
              <a:t>，经特殊工艺制成  的超突变结电容</a:t>
            </a:r>
            <a:r>
              <a:rPr lang="en-US" altLang="zh-CN" sz="2000" i="1" dirty="0">
                <a:solidFill>
                  <a:schemeClr val="tx1"/>
                </a:solidFill>
                <a:latin typeface="Times New Roman" panose="02020603050405020304" pitchFamily="18" charset="0"/>
                <a:cs typeface="Times New Roman" panose="02020603050405020304" pitchFamily="18" charset="0"/>
              </a:rPr>
              <a:t>γ</a:t>
            </a:r>
            <a:r>
              <a:rPr lang="en-US" altLang="zh-CN" sz="2000" dirty="0">
                <a:solidFill>
                  <a:schemeClr val="tx1"/>
                </a:solidFill>
                <a:latin typeface="Times New Roman" panose="02020603050405020304" pitchFamily="18" charset="0"/>
                <a:cs typeface="Times New Roman" panose="02020603050405020304" pitchFamily="18" charset="0"/>
              </a:rPr>
              <a:t>=1</a:t>
            </a:r>
            <a:r>
              <a:rPr lang="zh-CN" altLang="en-US" sz="2000" dirty="0">
                <a:solidFill>
                  <a:schemeClr val="tx1"/>
                </a:solidFill>
                <a:latin typeface="Times New Roman" panose="02020603050405020304" pitchFamily="18" charset="0"/>
                <a:cs typeface="Times New Roman" panose="02020603050405020304" pitchFamily="18" charset="0"/>
              </a:rPr>
              <a:t>～</a:t>
            </a:r>
            <a:r>
              <a:rPr lang="en-US" altLang="zh-CN" sz="2000" dirty="0">
                <a:solidFill>
                  <a:schemeClr val="tx1"/>
                </a:solidFill>
                <a:latin typeface="Times New Roman" panose="02020603050405020304" pitchFamily="18" charset="0"/>
                <a:cs typeface="Times New Roman" panose="02020603050405020304" pitchFamily="18" charset="0"/>
              </a:rPr>
              <a:t>3,</a:t>
            </a:r>
          </a:p>
        </p:txBody>
      </p:sp>
      <p:sp>
        <p:nvSpPr>
          <p:cNvPr id="13" name="矩形 12">
            <a:extLst>
              <a:ext uri="{FF2B5EF4-FFF2-40B4-BE49-F238E27FC236}">
                <a16:creationId xmlns="" xmlns:a16="http://schemas.microsoft.com/office/drawing/2014/main" id="{AD001870-9BA5-2792-6715-DB210C7240BC}"/>
              </a:ext>
            </a:extLst>
          </p:cNvPr>
          <p:cNvSpPr>
            <a:spLocks noChangeArrowheads="1"/>
          </p:cNvSpPr>
          <p:nvPr/>
        </p:nvSpPr>
        <p:spPr bwMode="auto">
          <a:xfrm>
            <a:off x="2270054" y="5619258"/>
            <a:ext cx="295465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dirty="0">
                <a:solidFill>
                  <a:schemeClr val="tx1"/>
                </a:solidFill>
                <a:latin typeface="Times New Roman" panose="02020603050405020304" pitchFamily="18" charset="0"/>
                <a:cs typeface="Times New Roman" panose="02020603050405020304" pitchFamily="18" charset="0"/>
              </a:rPr>
              <a:t>Cj</a:t>
            </a:r>
            <a:r>
              <a:rPr lang="en-US" altLang="zh-CN" sz="2000" baseline="-25000" dirty="0">
                <a:solidFill>
                  <a:schemeClr val="tx1"/>
                </a:solidFill>
                <a:latin typeface="Times New Roman" panose="02020603050405020304" pitchFamily="18" charset="0"/>
                <a:cs typeface="Times New Roman" panose="02020603050405020304" pitchFamily="18" charset="0"/>
              </a:rPr>
              <a:t>0</a:t>
            </a:r>
            <a:r>
              <a:rPr lang="en-US" altLang="zh-CN" sz="2000" dirty="0">
                <a:solidFill>
                  <a:schemeClr val="tx1"/>
                </a:solidFill>
                <a:latin typeface="Times New Roman" panose="02020603050405020304" pitchFamily="18" charset="0"/>
                <a:cs typeface="Times New Roman" panose="02020603050405020304" pitchFamily="18" charset="0"/>
              </a:rPr>
              <a:t>:</a:t>
            </a:r>
            <a:r>
              <a:rPr lang="zh-CN" altLang="en-US" sz="2000" dirty="0">
                <a:solidFill>
                  <a:schemeClr val="tx1"/>
                </a:solidFill>
                <a:latin typeface="Times New Roman" panose="02020603050405020304" pitchFamily="18" charset="0"/>
                <a:cs typeface="Times New Roman" panose="02020603050405020304" pitchFamily="18" charset="0"/>
              </a:rPr>
              <a:t>静态工作点的结电容</a:t>
            </a:r>
            <a:r>
              <a:rPr lang="en-US" altLang="zh-CN" sz="2000" dirty="0">
                <a:solidFill>
                  <a:schemeClr val="tx1"/>
                </a:solidFill>
                <a:latin typeface="Times New Roman" panose="02020603050405020304" pitchFamily="18" charset="0"/>
                <a:cs typeface="Times New Roman" panose="02020603050405020304" pitchFamily="18" charset="0"/>
              </a:rPr>
              <a:t>.</a:t>
            </a:r>
          </a:p>
        </p:txBody>
      </p:sp>
      <p:sp>
        <p:nvSpPr>
          <p:cNvPr id="14" name="标题 47105">
            <a:extLst>
              <a:ext uri="{FF2B5EF4-FFF2-40B4-BE49-F238E27FC236}">
                <a16:creationId xmlns="" xmlns:a16="http://schemas.microsoft.com/office/drawing/2014/main" id="{FD8BC14B-0774-1116-0F25-4397830CC54B}"/>
              </a:ext>
            </a:extLst>
          </p:cNvPr>
          <p:cNvSpPr txBox="1">
            <a:spLocks noChangeArrowheads="1"/>
          </p:cNvSpPr>
          <p:nvPr/>
        </p:nvSpPr>
        <p:spPr>
          <a:xfrm>
            <a:off x="334275" y="1178604"/>
            <a:ext cx="8229600" cy="615793"/>
          </a:xfrm>
          <a:prstGeom prst="rect">
            <a:avLst/>
          </a:prstGeom>
        </p:spPr>
        <p:txBody>
          <a:bodyPr/>
          <a:lstStyle>
            <a:lvl1pPr algn="ctr" rtl="0" eaLnBrk="0" fontAlgn="base" hangingPunct="0">
              <a:spcBef>
                <a:spcPct val="0"/>
              </a:spcBef>
              <a:spcAft>
                <a:spcPct val="0"/>
              </a:spcAft>
              <a:defRPr sz="3200">
                <a:solidFill>
                  <a:schemeClr val="tx2"/>
                </a:solidFill>
                <a:latin typeface="+mj-lt"/>
                <a:ea typeface="+mj-ea"/>
                <a:cs typeface="+mj-cs"/>
              </a:defRPr>
            </a:lvl1pPr>
            <a:lvl2pPr algn="ctr" rtl="0" eaLnBrk="0" fontAlgn="base" hangingPunct="0">
              <a:spcBef>
                <a:spcPct val="0"/>
              </a:spcBef>
              <a:spcAft>
                <a:spcPct val="0"/>
              </a:spcAft>
              <a:defRPr sz="3200">
                <a:solidFill>
                  <a:schemeClr val="tx2"/>
                </a:solidFill>
                <a:latin typeface="Arial" pitchFamily="34" charset="0"/>
                <a:ea typeface="宋体" pitchFamily="2" charset="-122"/>
              </a:defRPr>
            </a:lvl2pPr>
            <a:lvl3pPr algn="ctr" rtl="0" eaLnBrk="0" fontAlgn="base" hangingPunct="0">
              <a:spcBef>
                <a:spcPct val="0"/>
              </a:spcBef>
              <a:spcAft>
                <a:spcPct val="0"/>
              </a:spcAft>
              <a:defRPr sz="3200">
                <a:solidFill>
                  <a:schemeClr val="tx2"/>
                </a:solidFill>
                <a:latin typeface="Arial" pitchFamily="34" charset="0"/>
                <a:ea typeface="宋体" pitchFamily="2" charset="-122"/>
              </a:defRPr>
            </a:lvl3pPr>
            <a:lvl4pPr algn="ctr" rtl="0" eaLnBrk="0" fontAlgn="base" hangingPunct="0">
              <a:spcBef>
                <a:spcPct val="0"/>
              </a:spcBef>
              <a:spcAft>
                <a:spcPct val="0"/>
              </a:spcAft>
              <a:defRPr sz="3200">
                <a:solidFill>
                  <a:schemeClr val="tx2"/>
                </a:solidFill>
                <a:latin typeface="Arial" pitchFamily="34" charset="0"/>
                <a:ea typeface="宋体" pitchFamily="2" charset="-122"/>
              </a:defRPr>
            </a:lvl4pPr>
            <a:lvl5pPr algn="ctr" rtl="0" eaLnBrk="0" fontAlgn="base" hangingPunct="0">
              <a:spcBef>
                <a:spcPct val="0"/>
              </a:spcBef>
              <a:spcAft>
                <a:spcPct val="0"/>
              </a:spcAft>
              <a:defRPr sz="3200">
                <a:solidFill>
                  <a:schemeClr val="tx2"/>
                </a:solidFill>
                <a:latin typeface="Arial" pitchFamily="34" charset="0"/>
                <a:ea typeface="宋体" pitchFamily="2" charset="-122"/>
              </a:defRPr>
            </a:lvl5pPr>
            <a:lvl6pPr marL="457200" algn="ctr" rtl="0" eaLnBrk="0" fontAlgn="base" hangingPunct="0">
              <a:spcBef>
                <a:spcPct val="0"/>
              </a:spcBef>
              <a:spcAft>
                <a:spcPct val="0"/>
              </a:spcAft>
              <a:defRPr sz="3200">
                <a:solidFill>
                  <a:schemeClr val="tx2"/>
                </a:solidFill>
                <a:latin typeface="Arial" pitchFamily="34" charset="0"/>
                <a:ea typeface="宋体" pitchFamily="2" charset="-122"/>
              </a:defRPr>
            </a:lvl6pPr>
            <a:lvl7pPr marL="914400" algn="ctr" rtl="0" eaLnBrk="0" fontAlgn="base" hangingPunct="0">
              <a:spcBef>
                <a:spcPct val="0"/>
              </a:spcBef>
              <a:spcAft>
                <a:spcPct val="0"/>
              </a:spcAft>
              <a:defRPr sz="3200">
                <a:solidFill>
                  <a:schemeClr val="tx2"/>
                </a:solidFill>
                <a:latin typeface="Arial" pitchFamily="34" charset="0"/>
                <a:ea typeface="宋体" pitchFamily="2" charset="-122"/>
              </a:defRPr>
            </a:lvl7pPr>
            <a:lvl8pPr marL="1371600" algn="ctr" rtl="0" eaLnBrk="0" fontAlgn="base" hangingPunct="0">
              <a:spcBef>
                <a:spcPct val="0"/>
              </a:spcBef>
              <a:spcAft>
                <a:spcPct val="0"/>
              </a:spcAft>
              <a:defRPr sz="3200">
                <a:solidFill>
                  <a:schemeClr val="tx2"/>
                </a:solidFill>
                <a:latin typeface="Arial" pitchFamily="34" charset="0"/>
                <a:ea typeface="宋体" pitchFamily="2" charset="-122"/>
              </a:defRPr>
            </a:lvl8pPr>
            <a:lvl9pPr marL="1828800" algn="ctr" rtl="0" eaLnBrk="0" fontAlgn="base" hangingPunct="0">
              <a:spcBef>
                <a:spcPct val="0"/>
              </a:spcBef>
              <a:spcAft>
                <a:spcPct val="0"/>
              </a:spcAft>
              <a:defRPr sz="3200">
                <a:solidFill>
                  <a:schemeClr val="tx2"/>
                </a:solidFill>
                <a:latin typeface="Arial" pitchFamily="34" charset="0"/>
                <a:ea typeface="宋体" pitchFamily="2" charset="-122"/>
              </a:defRPr>
            </a:lvl9pPr>
          </a:lstStyle>
          <a:p>
            <a:r>
              <a:rPr lang="zh-CN" altLang="en-US" sz="2400" kern="0" dirty="0">
                <a:latin typeface="Times New Roman" panose="02020603050405020304" pitchFamily="18" charset="0"/>
                <a:ea typeface="+mn-ea"/>
                <a:cs typeface="Times New Roman" panose="02020603050405020304" pitchFamily="18" charset="0"/>
              </a:rPr>
              <a:t>二、变容二极管直接调频电路 </a:t>
            </a:r>
          </a:p>
        </p:txBody>
      </p:sp>
    </p:spTree>
    <p:extLst>
      <p:ext uri="{BB962C8B-B14F-4D97-AF65-F5344CB8AC3E}">
        <p14:creationId xmlns:p14="http://schemas.microsoft.com/office/powerpoint/2010/main" val="2751968063"/>
      </p:ext>
    </p:extLst>
  </p:cSld>
  <p:clrMapOvr>
    <a:masterClrMapping/>
  </p:clrMapOvr>
  <p:timing>
    <p:tnLst>
      <p:par>
        <p:cTn id="1" dur="indefinite" restart="never" nodeType="tmRoot"/>
      </p:par>
    </p:tnLst>
  </p:timing>
</p:sld>
</file>

<file path=ppt/slides/slide2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287</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11"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7.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角度调制</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与</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解调</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5" name="图片 49153" descr="63.wmf">
            <a:extLst>
              <a:ext uri="{FF2B5EF4-FFF2-40B4-BE49-F238E27FC236}">
                <a16:creationId xmlns="" xmlns:a16="http://schemas.microsoft.com/office/drawing/2014/main" id="{5E998D0E-DF2C-1F07-6FDD-1DCCEBF89F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02412" y="1517229"/>
            <a:ext cx="3059113" cy="247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文本框 49154">
            <a:extLst>
              <a:ext uri="{FF2B5EF4-FFF2-40B4-BE49-F238E27FC236}">
                <a16:creationId xmlns="" xmlns:a16="http://schemas.microsoft.com/office/drawing/2014/main" id="{82DC2A71-7F8D-9ED7-1532-9A9129DBDA3F}"/>
              </a:ext>
            </a:extLst>
          </p:cNvPr>
          <p:cNvSpPr txBox="1">
            <a:spLocks noChangeArrowheads="1"/>
          </p:cNvSpPr>
          <p:nvPr/>
        </p:nvSpPr>
        <p:spPr bwMode="auto">
          <a:xfrm>
            <a:off x="5508104" y="4008232"/>
            <a:ext cx="328327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r>
              <a:rPr lang="zh-CN" altLang="en-US" sz="2000" dirty="0">
                <a:solidFill>
                  <a:schemeClr val="tx1"/>
                </a:solidFill>
                <a:latin typeface="Times New Roman" panose="02020603050405020304" pitchFamily="18" charset="0"/>
                <a:cs typeface="Times New Roman" panose="02020603050405020304" pitchFamily="18" charset="0"/>
              </a:rPr>
              <a:t>图</a:t>
            </a:r>
            <a:r>
              <a:rPr lang="en-US" altLang="zh-CN" sz="2000" dirty="0">
                <a:solidFill>
                  <a:schemeClr val="tx1"/>
                </a:solidFill>
                <a:latin typeface="Times New Roman" panose="02020603050405020304" pitchFamily="18" charset="0"/>
                <a:cs typeface="Times New Roman" panose="02020603050405020304" pitchFamily="18" charset="0"/>
              </a:rPr>
              <a:t>7-9  </a:t>
            </a:r>
            <a:r>
              <a:rPr lang="zh-CN" altLang="en-US" sz="2000" dirty="0">
                <a:solidFill>
                  <a:schemeClr val="tx1"/>
                </a:solidFill>
                <a:latin typeface="Times New Roman" panose="02020603050405020304" pitchFamily="18" charset="0"/>
                <a:cs typeface="Times New Roman" panose="02020603050405020304" pitchFamily="18" charset="0"/>
              </a:rPr>
              <a:t>变容二极管调频电路 </a:t>
            </a:r>
          </a:p>
        </p:txBody>
      </p:sp>
      <p:sp>
        <p:nvSpPr>
          <p:cNvPr id="7" name="文本框 49155">
            <a:extLst>
              <a:ext uri="{FF2B5EF4-FFF2-40B4-BE49-F238E27FC236}">
                <a16:creationId xmlns="" xmlns:a16="http://schemas.microsoft.com/office/drawing/2014/main" id="{0EDC1AC8-854D-A927-B9CA-95BF3C9269C0}"/>
              </a:ext>
            </a:extLst>
          </p:cNvPr>
          <p:cNvSpPr txBox="1">
            <a:spLocks noChangeArrowheads="1"/>
          </p:cNvSpPr>
          <p:nvPr/>
        </p:nvSpPr>
        <p:spPr bwMode="auto">
          <a:xfrm>
            <a:off x="179512" y="1772816"/>
            <a:ext cx="54737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a:lnSpc>
                <a:spcPct val="120000"/>
              </a:lnSpc>
            </a:pPr>
            <a:r>
              <a:rPr lang="en-US" altLang="zh-CN" sz="2000" dirty="0">
                <a:solidFill>
                  <a:schemeClr val="tx1"/>
                </a:solidFill>
                <a:latin typeface="Times New Roman" panose="02020603050405020304" pitchFamily="18" charset="0"/>
                <a:cs typeface="Times New Roman" panose="02020603050405020304" pitchFamily="18" charset="0"/>
              </a:rPr>
              <a:t>    </a:t>
            </a:r>
            <a:r>
              <a:rPr lang="zh-CN" altLang="en-US" sz="2000" dirty="0">
                <a:solidFill>
                  <a:schemeClr val="tx1"/>
                </a:solidFill>
                <a:latin typeface="Times New Roman" panose="02020603050405020304" pitchFamily="18" charset="0"/>
                <a:cs typeface="Times New Roman" panose="02020603050405020304" pitchFamily="18" charset="0"/>
              </a:rPr>
              <a:t>在图</a:t>
            </a:r>
            <a:r>
              <a:rPr lang="en-US" altLang="zh-CN" sz="2000" dirty="0">
                <a:solidFill>
                  <a:schemeClr val="tx1"/>
                </a:solidFill>
                <a:latin typeface="Times New Roman" panose="02020603050405020304" pitchFamily="18" charset="0"/>
                <a:cs typeface="Times New Roman" panose="02020603050405020304" pitchFamily="18" charset="0"/>
              </a:rPr>
              <a:t>7-9</a:t>
            </a:r>
            <a:r>
              <a:rPr lang="zh-CN" altLang="en-US" sz="2000" dirty="0">
                <a:solidFill>
                  <a:schemeClr val="tx1"/>
                </a:solidFill>
                <a:latin typeface="Times New Roman" panose="02020603050405020304" pitchFamily="18" charset="0"/>
                <a:cs typeface="Times New Roman" panose="02020603050405020304" pitchFamily="18" charset="0"/>
              </a:rPr>
              <a:t>中，虚线左边是典型的正弦波振荡器，右边是变容管电路。加到变容管上的反向偏压为</a:t>
            </a:r>
          </a:p>
        </p:txBody>
      </p:sp>
      <p:sp>
        <p:nvSpPr>
          <p:cNvPr id="8" name="文本框 49156">
            <a:extLst>
              <a:ext uri="{FF2B5EF4-FFF2-40B4-BE49-F238E27FC236}">
                <a16:creationId xmlns="" xmlns:a16="http://schemas.microsoft.com/office/drawing/2014/main" id="{A604F565-0CE2-6102-2657-0ED5AA3215FE}"/>
              </a:ext>
            </a:extLst>
          </p:cNvPr>
          <p:cNvSpPr txBox="1">
            <a:spLocks noChangeArrowheads="1"/>
          </p:cNvSpPr>
          <p:nvPr/>
        </p:nvSpPr>
        <p:spPr bwMode="auto">
          <a:xfrm>
            <a:off x="331912" y="3220616"/>
            <a:ext cx="387798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r>
              <a:rPr lang="en-US" altLang="zh-CN" sz="2000" i="1" dirty="0" err="1">
                <a:solidFill>
                  <a:schemeClr val="tx1"/>
                </a:solidFill>
                <a:latin typeface="Times New Roman" panose="02020603050405020304" pitchFamily="18" charset="0"/>
                <a:cs typeface="Times New Roman" panose="02020603050405020304" pitchFamily="18" charset="0"/>
              </a:rPr>
              <a:t>v</a:t>
            </a:r>
            <a:r>
              <a:rPr lang="en-US" altLang="zh-CN" sz="2000" baseline="-25000" dirty="0" err="1">
                <a:solidFill>
                  <a:schemeClr val="tx1"/>
                </a:solidFill>
                <a:latin typeface="Times New Roman" panose="02020603050405020304" pitchFamily="18" charset="0"/>
                <a:cs typeface="Times New Roman" panose="02020603050405020304" pitchFamily="18" charset="0"/>
              </a:rPr>
              <a:t>R</a:t>
            </a:r>
            <a:r>
              <a:rPr lang="en-US" altLang="zh-CN" sz="2000" dirty="0">
                <a:solidFill>
                  <a:schemeClr val="tx1"/>
                </a:solidFill>
                <a:latin typeface="Times New Roman" panose="02020603050405020304" pitchFamily="18" charset="0"/>
                <a:cs typeface="Times New Roman" panose="02020603050405020304" pitchFamily="18" charset="0"/>
              </a:rPr>
              <a:t>=V</a:t>
            </a:r>
            <a:r>
              <a:rPr lang="en-US" altLang="zh-CN" sz="2000" baseline="-25000" dirty="0">
                <a:solidFill>
                  <a:schemeClr val="tx1"/>
                </a:solidFill>
                <a:latin typeface="Times New Roman" panose="02020603050405020304" pitchFamily="18" charset="0"/>
                <a:cs typeface="Times New Roman" panose="02020603050405020304" pitchFamily="18" charset="0"/>
              </a:rPr>
              <a:t>CC</a:t>
            </a:r>
            <a:r>
              <a:rPr lang="en-US" altLang="zh-CN" sz="2000" dirty="0">
                <a:solidFill>
                  <a:schemeClr val="tx1"/>
                </a:solidFill>
                <a:latin typeface="Times New Roman" panose="02020603050405020304" pitchFamily="18" charset="0"/>
                <a:cs typeface="Times New Roman" panose="02020603050405020304" pitchFamily="18" charset="0"/>
              </a:rPr>
              <a:t>–</a:t>
            </a:r>
            <a:r>
              <a:rPr lang="en-US" altLang="zh-CN" sz="2000" dirty="0" err="1">
                <a:solidFill>
                  <a:schemeClr val="tx1"/>
                </a:solidFill>
                <a:latin typeface="Times New Roman" panose="02020603050405020304" pitchFamily="18" charset="0"/>
                <a:cs typeface="Times New Roman" panose="02020603050405020304" pitchFamily="18" charset="0"/>
              </a:rPr>
              <a:t>V+</a:t>
            </a:r>
            <a:r>
              <a:rPr lang="en-US" altLang="zh-CN" sz="2000" i="1" dirty="0" err="1">
                <a:solidFill>
                  <a:schemeClr val="tx1"/>
                </a:solidFill>
                <a:latin typeface="Times New Roman" panose="02020603050405020304" pitchFamily="18" charset="0"/>
                <a:cs typeface="Times New Roman" panose="02020603050405020304" pitchFamily="18" charset="0"/>
              </a:rPr>
              <a:t>v</a:t>
            </a:r>
            <a:r>
              <a:rPr lang="en-US" altLang="zh-CN" sz="2000" baseline="-2500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000" dirty="0">
                <a:solidFill>
                  <a:schemeClr val="tx1"/>
                </a:solidFill>
                <a:latin typeface="Times New Roman" panose="02020603050405020304" pitchFamily="18" charset="0"/>
                <a:cs typeface="Times New Roman" panose="02020603050405020304" pitchFamily="18" charset="0"/>
              </a:rPr>
              <a:t>(t)=V</a:t>
            </a:r>
            <a:r>
              <a:rPr lang="en-US" altLang="zh-CN" sz="2000" baseline="-25000" dirty="0">
                <a:solidFill>
                  <a:schemeClr val="tx1"/>
                </a:solidFill>
                <a:latin typeface="Times New Roman" panose="02020603050405020304" pitchFamily="18" charset="0"/>
                <a:cs typeface="Times New Roman" panose="02020603050405020304" pitchFamily="18" charset="0"/>
              </a:rPr>
              <a:t>0</a:t>
            </a:r>
            <a:r>
              <a:rPr lang="en-US" altLang="zh-CN" sz="2000" dirty="0">
                <a:solidFill>
                  <a:schemeClr val="tx1"/>
                </a:solidFill>
                <a:latin typeface="Times New Roman" panose="02020603050405020304" pitchFamily="18" charset="0"/>
                <a:cs typeface="Times New Roman" panose="02020603050405020304" pitchFamily="18" charset="0"/>
              </a:rPr>
              <a:t>+</a:t>
            </a:r>
            <a:r>
              <a:rPr lang="en-US" altLang="zh-CN" sz="2000" i="1" dirty="0">
                <a:solidFill>
                  <a:schemeClr val="tx1"/>
                </a:solidFill>
                <a:latin typeface="Times New Roman" panose="02020603050405020304" pitchFamily="18" charset="0"/>
                <a:cs typeface="Times New Roman" panose="02020603050405020304" pitchFamily="18" charset="0"/>
              </a:rPr>
              <a:t>v</a:t>
            </a:r>
            <a:r>
              <a:rPr lang="en-US" altLang="zh-CN" sz="2000" baseline="-2500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000" dirty="0">
                <a:solidFill>
                  <a:schemeClr val="tx1"/>
                </a:solidFill>
                <a:latin typeface="Times New Roman" panose="02020603050405020304" pitchFamily="18" charset="0"/>
                <a:cs typeface="Times New Roman" panose="02020603050405020304" pitchFamily="18" charset="0"/>
              </a:rPr>
              <a:t>(t)	</a:t>
            </a:r>
          </a:p>
        </p:txBody>
      </p:sp>
      <p:sp>
        <p:nvSpPr>
          <p:cNvPr id="9" name="文本框 49157">
            <a:extLst>
              <a:ext uri="{FF2B5EF4-FFF2-40B4-BE49-F238E27FC236}">
                <a16:creationId xmlns="" xmlns:a16="http://schemas.microsoft.com/office/drawing/2014/main" id="{BE60A43E-8095-7C23-AF38-5C9657AC7F84}"/>
              </a:ext>
            </a:extLst>
          </p:cNvPr>
          <p:cNvSpPr txBox="1">
            <a:spLocks noChangeArrowheads="1"/>
          </p:cNvSpPr>
          <p:nvPr/>
        </p:nvSpPr>
        <p:spPr bwMode="auto">
          <a:xfrm>
            <a:off x="408112" y="3906416"/>
            <a:ext cx="432041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r>
              <a:rPr lang="zh-CN" altLang="en-US" sz="2000" dirty="0">
                <a:solidFill>
                  <a:schemeClr val="tx1"/>
                </a:solidFill>
                <a:latin typeface="Times New Roman" panose="02020603050405020304" pitchFamily="18" charset="0"/>
                <a:cs typeface="Times New Roman" panose="02020603050405020304" pitchFamily="18" charset="0"/>
              </a:rPr>
              <a:t>式中，</a:t>
            </a:r>
            <a:r>
              <a:rPr lang="en-US" altLang="zh-CN" sz="2000" dirty="0">
                <a:solidFill>
                  <a:schemeClr val="tx1"/>
                </a:solidFill>
                <a:latin typeface="Times New Roman" panose="02020603050405020304" pitchFamily="18" charset="0"/>
                <a:cs typeface="Times New Roman" panose="02020603050405020304" pitchFamily="18" charset="0"/>
              </a:rPr>
              <a:t>V</a:t>
            </a:r>
            <a:r>
              <a:rPr lang="en-US" altLang="zh-CN" sz="2000" baseline="-25000" dirty="0">
                <a:solidFill>
                  <a:schemeClr val="tx1"/>
                </a:solidFill>
                <a:latin typeface="Times New Roman" panose="02020603050405020304" pitchFamily="18" charset="0"/>
                <a:cs typeface="Times New Roman" panose="02020603050405020304" pitchFamily="18" charset="0"/>
              </a:rPr>
              <a:t>0</a:t>
            </a:r>
            <a:r>
              <a:rPr lang="en-US" altLang="zh-CN" sz="2000" dirty="0">
                <a:solidFill>
                  <a:schemeClr val="tx1"/>
                </a:solidFill>
                <a:latin typeface="Times New Roman" panose="02020603050405020304" pitchFamily="18" charset="0"/>
                <a:cs typeface="Times New Roman" panose="02020603050405020304" pitchFamily="18" charset="0"/>
              </a:rPr>
              <a:t> = V</a:t>
            </a:r>
            <a:r>
              <a:rPr lang="en-US" altLang="zh-CN" sz="2000" baseline="-25000" dirty="0">
                <a:solidFill>
                  <a:schemeClr val="tx1"/>
                </a:solidFill>
                <a:latin typeface="Times New Roman" panose="02020603050405020304" pitchFamily="18" charset="0"/>
                <a:cs typeface="Times New Roman" panose="02020603050405020304" pitchFamily="18" charset="0"/>
              </a:rPr>
              <a:t>CC</a:t>
            </a:r>
            <a:r>
              <a:rPr lang="en-US" altLang="zh-CN" sz="2000" dirty="0">
                <a:solidFill>
                  <a:schemeClr val="tx1"/>
                </a:solidFill>
                <a:latin typeface="Times New Roman" panose="02020603050405020304" pitchFamily="18" charset="0"/>
                <a:cs typeface="Times New Roman" panose="02020603050405020304" pitchFamily="18" charset="0"/>
              </a:rPr>
              <a:t>–V</a:t>
            </a:r>
            <a:r>
              <a:rPr lang="zh-CN" altLang="en-US" sz="2000" dirty="0">
                <a:solidFill>
                  <a:schemeClr val="tx1"/>
                </a:solidFill>
                <a:latin typeface="Times New Roman" panose="02020603050405020304" pitchFamily="18" charset="0"/>
                <a:cs typeface="Times New Roman" panose="02020603050405020304" pitchFamily="18" charset="0"/>
              </a:rPr>
              <a:t>是反向直流偏压。</a:t>
            </a:r>
          </a:p>
        </p:txBody>
      </p:sp>
      <p:sp>
        <p:nvSpPr>
          <p:cNvPr id="10" name="文本框 49158">
            <a:extLst>
              <a:ext uri="{FF2B5EF4-FFF2-40B4-BE49-F238E27FC236}">
                <a16:creationId xmlns="" xmlns:a16="http://schemas.microsoft.com/office/drawing/2014/main" id="{774913E8-2BF1-2CA4-26F8-251DCD08E5AA}"/>
              </a:ext>
            </a:extLst>
          </p:cNvPr>
          <p:cNvSpPr txBox="1">
            <a:spLocks noChangeArrowheads="1"/>
          </p:cNvSpPr>
          <p:nvPr/>
        </p:nvSpPr>
        <p:spPr bwMode="auto">
          <a:xfrm>
            <a:off x="251520" y="4656052"/>
            <a:ext cx="7866063"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a:lnSpc>
                <a:spcPct val="120000"/>
              </a:lnSpc>
            </a:pPr>
            <a:r>
              <a:rPr lang="en-US" altLang="zh-CN" sz="2000" dirty="0">
                <a:solidFill>
                  <a:schemeClr val="tx1"/>
                </a:solidFill>
                <a:latin typeface="Times New Roman" panose="02020603050405020304" pitchFamily="18" charset="0"/>
                <a:cs typeface="Times New Roman" panose="02020603050405020304" pitchFamily="18" charset="0"/>
              </a:rPr>
              <a:t>    </a:t>
            </a:r>
            <a:r>
              <a:rPr lang="zh-CN" altLang="en-US" sz="2000" dirty="0">
                <a:solidFill>
                  <a:schemeClr val="tx1"/>
                </a:solidFill>
                <a:latin typeface="Times New Roman" panose="02020603050405020304" pitchFamily="18" charset="0"/>
                <a:cs typeface="Times New Roman" panose="02020603050405020304" pitchFamily="18" charset="0"/>
              </a:rPr>
              <a:t>图中</a:t>
            </a:r>
            <a:r>
              <a:rPr lang="zh-CN" altLang="en-US" sz="2000" dirty="0" smtClean="0">
                <a:solidFill>
                  <a:schemeClr val="tx1"/>
                </a:solidFill>
                <a:latin typeface="Times New Roman" panose="02020603050405020304" pitchFamily="18" charset="0"/>
                <a:cs typeface="Times New Roman" panose="02020603050405020304" pitchFamily="18" charset="0"/>
              </a:rPr>
              <a:t>，    </a:t>
            </a:r>
            <a:r>
              <a:rPr lang="zh-CN" altLang="en-US" sz="2000" dirty="0">
                <a:solidFill>
                  <a:schemeClr val="tx1"/>
                </a:solidFill>
                <a:latin typeface="Times New Roman" panose="02020603050405020304" pitchFamily="18" charset="0"/>
                <a:cs typeface="Times New Roman" panose="02020603050405020304" pitchFamily="18" charset="0"/>
              </a:rPr>
              <a:t>是变容管与</a:t>
            </a:r>
            <a:r>
              <a:rPr lang="en-US" altLang="zh-CN" sz="2000" dirty="0">
                <a:solidFill>
                  <a:schemeClr val="tx1"/>
                </a:solidFill>
                <a:latin typeface="Times New Roman" panose="02020603050405020304" pitchFamily="18" charset="0"/>
                <a:cs typeface="Times New Roman" panose="02020603050405020304" pitchFamily="18" charset="0"/>
              </a:rPr>
              <a:t>L1C1</a:t>
            </a:r>
            <a:r>
              <a:rPr lang="zh-CN" altLang="en-US" sz="2000" dirty="0">
                <a:solidFill>
                  <a:schemeClr val="tx1"/>
                </a:solidFill>
                <a:latin typeface="Times New Roman" panose="02020603050405020304" pitchFamily="18" charset="0"/>
                <a:cs typeface="Times New Roman" panose="02020603050405020304" pitchFamily="18" charset="0"/>
              </a:rPr>
              <a:t>回路之间的耦合电容，同时起到隔直流的作用；</a:t>
            </a:r>
            <a:r>
              <a:rPr lang="en-US" altLang="zh-CN" sz="2000" dirty="0">
                <a:solidFill>
                  <a:schemeClr val="tx1"/>
                </a:solidFill>
                <a:latin typeface="Times New Roman" panose="02020603050405020304" pitchFamily="18" charset="0"/>
                <a:cs typeface="Times New Roman" panose="02020603050405020304" pitchFamily="18" charset="0"/>
              </a:rPr>
              <a:t>C</a:t>
            </a:r>
            <a:r>
              <a:rPr lang="en-US" altLang="zh-CN" sz="200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zh-CN" altLang="en-US" sz="2000" dirty="0">
                <a:solidFill>
                  <a:schemeClr val="tx1"/>
                </a:solidFill>
                <a:latin typeface="Times New Roman" panose="02020603050405020304" pitchFamily="18" charset="0"/>
                <a:cs typeface="Times New Roman" panose="02020603050405020304" pitchFamily="18" charset="0"/>
              </a:rPr>
              <a:t>为对调制信号的旁路电容；</a:t>
            </a:r>
            <a:r>
              <a:rPr lang="en-US" altLang="zh-CN" sz="2000" dirty="0">
                <a:solidFill>
                  <a:schemeClr val="tx1"/>
                </a:solidFill>
                <a:latin typeface="Times New Roman" panose="02020603050405020304" pitchFamily="18" charset="0"/>
                <a:cs typeface="Times New Roman" panose="02020603050405020304" pitchFamily="18" charset="0"/>
              </a:rPr>
              <a:t>L2</a:t>
            </a:r>
            <a:r>
              <a:rPr lang="zh-CN" altLang="en-US" sz="2000" dirty="0">
                <a:solidFill>
                  <a:schemeClr val="tx1"/>
                </a:solidFill>
                <a:latin typeface="Times New Roman" panose="02020603050405020304" pitchFamily="18" charset="0"/>
                <a:cs typeface="Times New Roman" panose="02020603050405020304" pitchFamily="18" charset="0"/>
              </a:rPr>
              <a:t>是高频扼流圈，但让调制信号通过。</a:t>
            </a:r>
          </a:p>
        </p:txBody>
      </p:sp>
      <p:pic>
        <p:nvPicPr>
          <p:cNvPr id="12" name="图片 49159" descr="64.wmf">
            <a:extLst>
              <a:ext uri="{FF2B5EF4-FFF2-40B4-BE49-F238E27FC236}">
                <a16:creationId xmlns="" xmlns:a16="http://schemas.microsoft.com/office/drawing/2014/main" id="{588EFF6D-1943-0267-81E1-1D04A93DAD0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66604" y="4257220"/>
            <a:ext cx="630216" cy="939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07417385"/>
      </p:ext>
    </p:extLst>
  </p:cSld>
  <p:clrMapOvr>
    <a:masterClrMapping/>
  </p:clrMapOvr>
  <p:timing>
    <p:tnLst>
      <p:par>
        <p:cTn id="1" dur="indefinite" restart="never" nodeType="tmRoot"/>
      </p:par>
    </p:tnLst>
  </p:timing>
</p:sld>
</file>

<file path=ppt/slides/slide2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288</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11"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7.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角度调制</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与</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解调</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标题 59393">
            <a:extLst>
              <a:ext uri="{FF2B5EF4-FFF2-40B4-BE49-F238E27FC236}">
                <a16:creationId xmlns="" xmlns:a16="http://schemas.microsoft.com/office/drawing/2014/main" id="{E8D24FA1-643D-DFCB-53AE-B75976EE98C2}"/>
              </a:ext>
            </a:extLst>
          </p:cNvPr>
          <p:cNvSpPr txBox="1">
            <a:spLocks noChangeArrowheads="1"/>
          </p:cNvSpPr>
          <p:nvPr/>
        </p:nvSpPr>
        <p:spPr>
          <a:xfrm>
            <a:off x="107504" y="1196752"/>
            <a:ext cx="8229600" cy="576064"/>
          </a:xfrm>
          <a:prstGeom prst="rect">
            <a:avLst/>
          </a:prstGeom>
        </p:spPr>
        <p:txBody>
          <a:bodyPr/>
          <a:lstStyle>
            <a:lvl1pPr algn="ctr" rtl="0" eaLnBrk="0" fontAlgn="base" hangingPunct="0">
              <a:spcBef>
                <a:spcPct val="0"/>
              </a:spcBef>
              <a:spcAft>
                <a:spcPct val="0"/>
              </a:spcAft>
              <a:defRPr sz="3200">
                <a:solidFill>
                  <a:schemeClr val="tx2"/>
                </a:solidFill>
                <a:latin typeface="+mj-lt"/>
                <a:ea typeface="+mj-ea"/>
                <a:cs typeface="+mj-cs"/>
              </a:defRPr>
            </a:lvl1pPr>
            <a:lvl2pPr algn="ctr" rtl="0" eaLnBrk="0" fontAlgn="base" hangingPunct="0">
              <a:spcBef>
                <a:spcPct val="0"/>
              </a:spcBef>
              <a:spcAft>
                <a:spcPct val="0"/>
              </a:spcAft>
              <a:defRPr sz="3200">
                <a:solidFill>
                  <a:schemeClr val="tx2"/>
                </a:solidFill>
                <a:latin typeface="Arial" pitchFamily="34" charset="0"/>
                <a:ea typeface="宋体" pitchFamily="2" charset="-122"/>
              </a:defRPr>
            </a:lvl2pPr>
            <a:lvl3pPr algn="ctr" rtl="0" eaLnBrk="0" fontAlgn="base" hangingPunct="0">
              <a:spcBef>
                <a:spcPct val="0"/>
              </a:spcBef>
              <a:spcAft>
                <a:spcPct val="0"/>
              </a:spcAft>
              <a:defRPr sz="3200">
                <a:solidFill>
                  <a:schemeClr val="tx2"/>
                </a:solidFill>
                <a:latin typeface="Arial" pitchFamily="34" charset="0"/>
                <a:ea typeface="宋体" pitchFamily="2" charset="-122"/>
              </a:defRPr>
            </a:lvl3pPr>
            <a:lvl4pPr algn="ctr" rtl="0" eaLnBrk="0" fontAlgn="base" hangingPunct="0">
              <a:spcBef>
                <a:spcPct val="0"/>
              </a:spcBef>
              <a:spcAft>
                <a:spcPct val="0"/>
              </a:spcAft>
              <a:defRPr sz="3200">
                <a:solidFill>
                  <a:schemeClr val="tx2"/>
                </a:solidFill>
                <a:latin typeface="Arial" pitchFamily="34" charset="0"/>
                <a:ea typeface="宋体" pitchFamily="2" charset="-122"/>
              </a:defRPr>
            </a:lvl4pPr>
            <a:lvl5pPr algn="ctr" rtl="0" eaLnBrk="0" fontAlgn="base" hangingPunct="0">
              <a:spcBef>
                <a:spcPct val="0"/>
              </a:spcBef>
              <a:spcAft>
                <a:spcPct val="0"/>
              </a:spcAft>
              <a:defRPr sz="3200">
                <a:solidFill>
                  <a:schemeClr val="tx2"/>
                </a:solidFill>
                <a:latin typeface="Arial" pitchFamily="34" charset="0"/>
                <a:ea typeface="宋体" pitchFamily="2" charset="-122"/>
              </a:defRPr>
            </a:lvl5pPr>
            <a:lvl6pPr marL="457200" algn="ctr" rtl="0" eaLnBrk="0" fontAlgn="base" hangingPunct="0">
              <a:spcBef>
                <a:spcPct val="0"/>
              </a:spcBef>
              <a:spcAft>
                <a:spcPct val="0"/>
              </a:spcAft>
              <a:defRPr sz="3200">
                <a:solidFill>
                  <a:schemeClr val="tx2"/>
                </a:solidFill>
                <a:latin typeface="Arial" pitchFamily="34" charset="0"/>
                <a:ea typeface="宋体" pitchFamily="2" charset="-122"/>
              </a:defRPr>
            </a:lvl6pPr>
            <a:lvl7pPr marL="914400" algn="ctr" rtl="0" eaLnBrk="0" fontAlgn="base" hangingPunct="0">
              <a:spcBef>
                <a:spcPct val="0"/>
              </a:spcBef>
              <a:spcAft>
                <a:spcPct val="0"/>
              </a:spcAft>
              <a:defRPr sz="3200">
                <a:solidFill>
                  <a:schemeClr val="tx2"/>
                </a:solidFill>
                <a:latin typeface="Arial" pitchFamily="34" charset="0"/>
                <a:ea typeface="宋体" pitchFamily="2" charset="-122"/>
              </a:defRPr>
            </a:lvl7pPr>
            <a:lvl8pPr marL="1371600" algn="ctr" rtl="0" eaLnBrk="0" fontAlgn="base" hangingPunct="0">
              <a:spcBef>
                <a:spcPct val="0"/>
              </a:spcBef>
              <a:spcAft>
                <a:spcPct val="0"/>
              </a:spcAft>
              <a:defRPr sz="3200">
                <a:solidFill>
                  <a:schemeClr val="tx2"/>
                </a:solidFill>
                <a:latin typeface="Arial" pitchFamily="34" charset="0"/>
                <a:ea typeface="宋体" pitchFamily="2" charset="-122"/>
              </a:defRPr>
            </a:lvl8pPr>
            <a:lvl9pPr marL="1828800" algn="ctr" rtl="0" eaLnBrk="0" fontAlgn="base" hangingPunct="0">
              <a:spcBef>
                <a:spcPct val="0"/>
              </a:spcBef>
              <a:spcAft>
                <a:spcPct val="0"/>
              </a:spcAft>
              <a:defRPr sz="3200">
                <a:solidFill>
                  <a:schemeClr val="tx2"/>
                </a:solidFill>
                <a:latin typeface="Arial" pitchFamily="34" charset="0"/>
                <a:ea typeface="宋体" pitchFamily="2" charset="-122"/>
              </a:defRPr>
            </a:lvl9pPr>
          </a:lstStyle>
          <a:p>
            <a:r>
              <a:rPr lang="zh-CN" altLang="en-US" sz="2400" kern="0" dirty="0">
                <a:latin typeface="+mn-ea"/>
                <a:ea typeface="+mn-ea"/>
              </a:rPr>
              <a:t>三、晶体振荡器直接调频 </a:t>
            </a:r>
          </a:p>
        </p:txBody>
      </p:sp>
      <p:sp>
        <p:nvSpPr>
          <p:cNvPr id="6" name="文本框 61441">
            <a:extLst>
              <a:ext uri="{FF2B5EF4-FFF2-40B4-BE49-F238E27FC236}">
                <a16:creationId xmlns="" xmlns:a16="http://schemas.microsoft.com/office/drawing/2014/main" id="{1AA816E1-C0C6-7BD9-D222-2A8BF5675A06}"/>
              </a:ext>
            </a:extLst>
          </p:cNvPr>
          <p:cNvSpPr txBox="1">
            <a:spLocks noChangeArrowheads="1"/>
          </p:cNvSpPr>
          <p:nvPr/>
        </p:nvSpPr>
        <p:spPr bwMode="auto">
          <a:xfrm>
            <a:off x="1224360" y="3101988"/>
            <a:ext cx="18473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endParaRPr lang="zh-CN" altLang="zh-CN" sz="2000">
              <a:solidFill>
                <a:schemeClr val="tx1"/>
              </a:solidFill>
              <a:latin typeface="Times New Roman" panose="02020603050405020304" pitchFamily="18" charset="0"/>
              <a:cs typeface="Times New Roman" panose="02020603050405020304" pitchFamily="18" charset="0"/>
            </a:endParaRPr>
          </a:p>
        </p:txBody>
      </p:sp>
      <p:pic>
        <p:nvPicPr>
          <p:cNvPr id="7" name="图片 61443" descr="93.wmf">
            <a:extLst>
              <a:ext uri="{FF2B5EF4-FFF2-40B4-BE49-F238E27FC236}">
                <a16:creationId xmlns="" xmlns:a16="http://schemas.microsoft.com/office/drawing/2014/main" id="{F826FEB1-8446-CA3E-D13A-771EFFD32E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3941" y="3196930"/>
            <a:ext cx="5472112" cy="223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文本框 61444">
            <a:extLst>
              <a:ext uri="{FF2B5EF4-FFF2-40B4-BE49-F238E27FC236}">
                <a16:creationId xmlns="" xmlns:a16="http://schemas.microsoft.com/office/drawing/2014/main" id="{0F23EFA6-D3F1-1AE6-2B3A-2FA45EEFAB68}"/>
              </a:ext>
            </a:extLst>
          </p:cNvPr>
          <p:cNvSpPr txBox="1">
            <a:spLocks noChangeArrowheads="1"/>
          </p:cNvSpPr>
          <p:nvPr/>
        </p:nvSpPr>
        <p:spPr bwMode="auto">
          <a:xfrm>
            <a:off x="1117531" y="5726246"/>
            <a:ext cx="334739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r>
              <a:rPr lang="zh-CN" altLang="en-US" sz="2000">
                <a:solidFill>
                  <a:schemeClr val="tx1"/>
                </a:solidFill>
                <a:latin typeface="Times New Roman" panose="02020603050405020304" pitchFamily="18" charset="0"/>
                <a:cs typeface="Times New Roman" panose="02020603050405020304" pitchFamily="18" charset="0"/>
              </a:rPr>
              <a:t>图</a:t>
            </a:r>
            <a:r>
              <a:rPr lang="en-US" altLang="zh-CN" sz="2000">
                <a:solidFill>
                  <a:schemeClr val="tx1"/>
                </a:solidFill>
                <a:latin typeface="Times New Roman" panose="02020603050405020304" pitchFamily="18" charset="0"/>
                <a:cs typeface="Times New Roman" panose="02020603050405020304" pitchFamily="18" charset="0"/>
              </a:rPr>
              <a:t>7-12  </a:t>
            </a:r>
            <a:r>
              <a:rPr lang="zh-CN" altLang="en-US" sz="2000">
                <a:solidFill>
                  <a:schemeClr val="tx1"/>
                </a:solidFill>
                <a:latin typeface="Times New Roman" panose="02020603050405020304" pitchFamily="18" charset="0"/>
                <a:cs typeface="Times New Roman" panose="02020603050405020304" pitchFamily="18" charset="0"/>
              </a:rPr>
              <a:t>晶体直接调频原理图</a:t>
            </a:r>
          </a:p>
        </p:txBody>
      </p:sp>
      <p:sp>
        <p:nvSpPr>
          <p:cNvPr id="9" name="文本框 61445">
            <a:extLst>
              <a:ext uri="{FF2B5EF4-FFF2-40B4-BE49-F238E27FC236}">
                <a16:creationId xmlns="" xmlns:a16="http://schemas.microsoft.com/office/drawing/2014/main" id="{766B389C-D02F-FE13-D705-1B60B547D1D9}"/>
              </a:ext>
            </a:extLst>
          </p:cNvPr>
          <p:cNvSpPr txBox="1">
            <a:spLocks noChangeArrowheads="1"/>
          </p:cNvSpPr>
          <p:nvPr/>
        </p:nvSpPr>
        <p:spPr bwMode="auto">
          <a:xfrm>
            <a:off x="594122" y="1819288"/>
            <a:ext cx="8135938"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a:lnSpc>
                <a:spcPct val="120000"/>
              </a:lnSpc>
            </a:pPr>
            <a:r>
              <a:rPr lang="zh-CN" altLang="en-US" sz="2000" dirty="0">
                <a:solidFill>
                  <a:schemeClr val="tx1"/>
                </a:solidFill>
                <a:latin typeface="Times New Roman" panose="02020603050405020304" pitchFamily="18" charset="0"/>
                <a:cs typeface="Times New Roman" panose="02020603050405020304" pitchFamily="18" charset="0"/>
              </a:rPr>
              <a:t>图</a:t>
            </a:r>
            <a:r>
              <a:rPr lang="en-US" altLang="zh-CN" sz="2000" dirty="0">
                <a:solidFill>
                  <a:schemeClr val="tx1"/>
                </a:solidFill>
                <a:latin typeface="Times New Roman" panose="02020603050405020304" pitchFamily="18" charset="0"/>
                <a:cs typeface="Times New Roman" panose="02020603050405020304" pitchFamily="18" charset="0"/>
              </a:rPr>
              <a:t>7-12(a)</a:t>
            </a:r>
            <a:r>
              <a:rPr lang="zh-CN" altLang="en-US" sz="2000" dirty="0">
                <a:solidFill>
                  <a:schemeClr val="tx1"/>
                </a:solidFill>
                <a:latin typeface="Times New Roman" panose="02020603050405020304" pitchFamily="18" charset="0"/>
                <a:cs typeface="Times New Roman" panose="02020603050405020304" pitchFamily="18" charset="0"/>
              </a:rPr>
              <a:t>是皮尔斯电路，变容管与石英晶体相串联，</a:t>
            </a:r>
            <a:r>
              <a:rPr lang="en-US" altLang="zh-CN" sz="2000" dirty="0" err="1">
                <a:solidFill>
                  <a:schemeClr val="tx1"/>
                </a:solidFill>
                <a:latin typeface="Times New Roman" panose="02020603050405020304" pitchFamily="18" charset="0"/>
                <a:cs typeface="Times New Roman" panose="02020603050405020304" pitchFamily="18" charset="0"/>
              </a:rPr>
              <a:t>Cj</a:t>
            </a:r>
            <a:r>
              <a:rPr lang="zh-CN" altLang="en-US" sz="2000" dirty="0">
                <a:solidFill>
                  <a:schemeClr val="tx1"/>
                </a:solidFill>
                <a:latin typeface="Times New Roman" panose="02020603050405020304" pitchFamily="18" charset="0"/>
                <a:cs typeface="Times New Roman" panose="02020603050405020304" pitchFamily="18" charset="0"/>
              </a:rPr>
              <a:t>受调制电压</a:t>
            </a:r>
            <a:r>
              <a:rPr lang="en-US" altLang="zh-CN" sz="2000" i="1" dirty="0">
                <a:solidFill>
                  <a:schemeClr val="tx1"/>
                </a:solidFill>
                <a:latin typeface="Times New Roman" panose="02020603050405020304" pitchFamily="18" charset="0"/>
                <a:cs typeface="Times New Roman" panose="02020603050405020304" pitchFamily="18" charset="0"/>
              </a:rPr>
              <a:t>v</a:t>
            </a:r>
            <a:r>
              <a:rPr lang="en-US" altLang="zh-CN" sz="2000" baseline="-2500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zh-CN" altLang="en-US" sz="2000" dirty="0">
                <a:solidFill>
                  <a:schemeClr val="tx1"/>
                </a:solidFill>
                <a:latin typeface="Times New Roman" panose="02020603050405020304" pitchFamily="18" charset="0"/>
                <a:cs typeface="Times New Roman" panose="02020603050405020304" pitchFamily="18" charset="0"/>
              </a:rPr>
              <a:t>的控制，因而石英晶体的等效电感也受到控制，也即振荡器的振荡频率受到调制电压</a:t>
            </a:r>
            <a:r>
              <a:rPr lang="en-US" altLang="zh-CN" sz="2000" i="1" dirty="0">
                <a:solidFill>
                  <a:schemeClr val="tx1"/>
                </a:solidFill>
                <a:latin typeface="Times New Roman" panose="02020603050405020304" pitchFamily="18" charset="0"/>
                <a:cs typeface="Times New Roman" panose="02020603050405020304" pitchFamily="18" charset="0"/>
              </a:rPr>
              <a:t>v</a:t>
            </a:r>
            <a:r>
              <a:rPr lang="en-US" altLang="zh-CN" sz="2000" baseline="-2500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zh-CN" altLang="en-US" sz="2000" dirty="0">
                <a:solidFill>
                  <a:schemeClr val="tx1"/>
                </a:solidFill>
                <a:latin typeface="Times New Roman" panose="02020603050405020304" pitchFamily="18" charset="0"/>
                <a:cs typeface="Times New Roman" panose="02020603050405020304" pitchFamily="18" charset="0"/>
              </a:rPr>
              <a:t>的控制，获得了调频波。</a:t>
            </a:r>
          </a:p>
        </p:txBody>
      </p:sp>
      <p:sp>
        <p:nvSpPr>
          <p:cNvPr id="10" name="矩形 9">
            <a:extLst>
              <a:ext uri="{FF2B5EF4-FFF2-40B4-BE49-F238E27FC236}">
                <a16:creationId xmlns="" xmlns:a16="http://schemas.microsoft.com/office/drawing/2014/main" id="{1FE09470-70B1-B8A4-E87F-98BA4364C814}"/>
              </a:ext>
            </a:extLst>
          </p:cNvPr>
          <p:cNvSpPr>
            <a:spLocks noChangeArrowheads="1"/>
          </p:cNvSpPr>
          <p:nvPr/>
        </p:nvSpPr>
        <p:spPr bwMode="auto">
          <a:xfrm>
            <a:off x="6273941" y="2935043"/>
            <a:ext cx="2447925" cy="3785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r>
              <a:rPr lang="zh-CN" altLang="en-US" sz="2000" dirty="0">
                <a:solidFill>
                  <a:schemeClr val="tx1"/>
                </a:solidFill>
                <a:latin typeface="Times New Roman" panose="02020603050405020304" pitchFamily="18" charset="0"/>
                <a:cs typeface="Times New Roman" panose="02020603050405020304" pitchFamily="18" charset="0"/>
              </a:rPr>
              <a:t>为了加大晶体振荡器直接调频电路的频偏，可在</a:t>
            </a:r>
            <a:r>
              <a:rPr lang="en-US" altLang="zh-CN" sz="2000" dirty="0">
                <a:solidFill>
                  <a:schemeClr val="tx1"/>
                </a:solidFill>
                <a:latin typeface="Times New Roman" panose="02020603050405020304" pitchFamily="18" charset="0"/>
                <a:cs typeface="Times New Roman" panose="02020603050405020304" pitchFamily="18" charset="0"/>
              </a:rPr>
              <a:t>AB</a:t>
            </a:r>
            <a:r>
              <a:rPr lang="zh-CN" altLang="en-US" sz="2000" dirty="0">
                <a:solidFill>
                  <a:schemeClr val="tx1"/>
                </a:solidFill>
                <a:latin typeface="Times New Roman" panose="02020603050405020304" pitchFamily="18" charset="0"/>
                <a:cs typeface="Times New Roman" panose="02020603050405020304" pitchFamily="18" charset="0"/>
              </a:rPr>
              <a:t>支路内串联一个电感</a:t>
            </a:r>
            <a:r>
              <a:rPr lang="en-US" altLang="zh-CN" sz="2000" dirty="0">
                <a:solidFill>
                  <a:schemeClr val="tx1"/>
                </a:solidFill>
                <a:latin typeface="Times New Roman" panose="02020603050405020304" pitchFamily="18" charset="0"/>
                <a:cs typeface="Times New Roman" panose="02020603050405020304" pitchFamily="18" charset="0"/>
              </a:rPr>
              <a:t>L</a:t>
            </a:r>
            <a:r>
              <a:rPr lang="zh-CN" altLang="en-US" sz="2000" dirty="0">
                <a:solidFill>
                  <a:schemeClr val="tx1"/>
                </a:solidFill>
                <a:latin typeface="Times New Roman" panose="02020603050405020304" pitchFamily="18" charset="0"/>
                <a:cs typeface="Times New Roman" panose="02020603050405020304" pitchFamily="18" charset="0"/>
              </a:rPr>
              <a:t>，</a:t>
            </a:r>
            <a:r>
              <a:rPr lang="en-US" altLang="zh-CN" sz="2000" dirty="0">
                <a:solidFill>
                  <a:schemeClr val="tx1"/>
                </a:solidFill>
                <a:latin typeface="Times New Roman" panose="02020603050405020304" pitchFamily="18" charset="0"/>
                <a:cs typeface="Times New Roman" panose="02020603050405020304" pitchFamily="18" charset="0"/>
              </a:rPr>
              <a:t>L</a:t>
            </a:r>
            <a:r>
              <a:rPr lang="zh-CN" altLang="en-US" sz="2000" dirty="0">
                <a:solidFill>
                  <a:schemeClr val="tx1"/>
                </a:solidFill>
                <a:latin typeface="Times New Roman" panose="02020603050405020304" pitchFamily="18" charset="0"/>
                <a:cs typeface="Times New Roman" panose="02020603050405020304" pitchFamily="18" charset="0"/>
              </a:rPr>
              <a:t>的串入减小石英晶体静态电容</a:t>
            </a:r>
            <a:r>
              <a:rPr lang="en-US" altLang="zh-CN" sz="2000" dirty="0">
                <a:solidFill>
                  <a:schemeClr val="tx1"/>
                </a:solidFill>
                <a:latin typeface="Times New Roman" panose="02020603050405020304" pitchFamily="18" charset="0"/>
                <a:cs typeface="Times New Roman" panose="02020603050405020304" pitchFamily="18" charset="0"/>
              </a:rPr>
              <a:t>C</a:t>
            </a:r>
            <a:r>
              <a:rPr lang="en-US" altLang="zh-CN" sz="2000" baseline="-25000" dirty="0">
                <a:solidFill>
                  <a:schemeClr val="tx1"/>
                </a:solidFill>
                <a:latin typeface="Times New Roman" panose="02020603050405020304" pitchFamily="18" charset="0"/>
                <a:cs typeface="Times New Roman" panose="02020603050405020304" pitchFamily="18" charset="0"/>
              </a:rPr>
              <a:t>0</a:t>
            </a:r>
            <a:r>
              <a:rPr lang="zh-CN" altLang="en-US" sz="2000" dirty="0">
                <a:solidFill>
                  <a:schemeClr val="tx1"/>
                </a:solidFill>
                <a:latin typeface="Times New Roman" panose="02020603050405020304" pitchFamily="18" charset="0"/>
                <a:cs typeface="Times New Roman" panose="02020603050405020304" pitchFamily="18" charset="0"/>
              </a:rPr>
              <a:t>的影响，扩展石英晶体的感性区域，使</a:t>
            </a:r>
            <a:r>
              <a:rPr lang="en-US" altLang="zh-CN" sz="2000" dirty="0" err="1">
                <a:solidFill>
                  <a:schemeClr val="tx1"/>
                </a:solidFill>
                <a:latin typeface="Times New Roman" panose="02020603050405020304" pitchFamily="18" charset="0"/>
                <a:cs typeface="Times New Roman" panose="02020603050405020304" pitchFamily="18" charset="0"/>
              </a:rPr>
              <a:t>fg</a:t>
            </a:r>
            <a:r>
              <a:rPr lang="zh-CN" altLang="en-US" sz="2000" dirty="0">
                <a:solidFill>
                  <a:schemeClr val="tx1"/>
                </a:solidFill>
                <a:latin typeface="Times New Roman" panose="02020603050405020304" pitchFamily="18" charset="0"/>
                <a:cs typeface="Times New Roman" panose="02020603050405020304" pitchFamily="18" charset="0"/>
              </a:rPr>
              <a:t>与</a:t>
            </a:r>
            <a:r>
              <a:rPr lang="en-US" altLang="zh-CN" sz="2000" dirty="0" err="1">
                <a:solidFill>
                  <a:schemeClr val="tx1"/>
                </a:solidFill>
                <a:latin typeface="Times New Roman" panose="02020603050405020304" pitchFamily="18" charset="0"/>
                <a:cs typeface="Times New Roman" panose="02020603050405020304" pitchFamily="18" charset="0"/>
              </a:rPr>
              <a:t>f</a:t>
            </a:r>
            <a:r>
              <a:rPr lang="en-US" altLang="zh-CN" sz="2000" baseline="-25000" dirty="0" err="1">
                <a:solidFill>
                  <a:schemeClr val="tx1"/>
                </a:solidFill>
                <a:latin typeface="Times New Roman" panose="02020603050405020304" pitchFamily="18" charset="0"/>
                <a:cs typeface="Times New Roman" panose="02020603050405020304" pitchFamily="18" charset="0"/>
              </a:rPr>
              <a:t>P</a:t>
            </a:r>
            <a:r>
              <a:rPr lang="zh-CN" altLang="en-US" sz="2000" dirty="0">
                <a:solidFill>
                  <a:schemeClr val="tx1"/>
                </a:solidFill>
                <a:latin typeface="Times New Roman" panose="02020603050405020304" pitchFamily="18" charset="0"/>
                <a:cs typeface="Times New Roman" panose="02020603050405020304" pitchFamily="18" charset="0"/>
              </a:rPr>
              <a:t>间的差值加大，从而增强了变容管控制频偏的作用，使频偏加大。</a:t>
            </a:r>
          </a:p>
        </p:txBody>
      </p:sp>
    </p:spTree>
    <p:extLst>
      <p:ext uri="{BB962C8B-B14F-4D97-AF65-F5344CB8AC3E}">
        <p14:creationId xmlns:p14="http://schemas.microsoft.com/office/powerpoint/2010/main" val="1953937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linds(horizontal)">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289</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11"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7.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角度调制</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与</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解调</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标题 64513">
            <a:extLst>
              <a:ext uri="{FF2B5EF4-FFF2-40B4-BE49-F238E27FC236}">
                <a16:creationId xmlns="" xmlns:a16="http://schemas.microsoft.com/office/drawing/2014/main" id="{1B794183-325C-8209-F753-B5338B77D30E}"/>
              </a:ext>
            </a:extLst>
          </p:cNvPr>
          <p:cNvSpPr txBox="1">
            <a:spLocks noChangeArrowheads="1"/>
          </p:cNvSpPr>
          <p:nvPr/>
        </p:nvSpPr>
        <p:spPr>
          <a:xfrm>
            <a:off x="346730" y="1196752"/>
            <a:ext cx="8229600" cy="1143000"/>
          </a:xfrm>
          <a:prstGeom prst="rect">
            <a:avLst/>
          </a:prstGeom>
        </p:spPr>
        <p:txBody>
          <a:bodyPr/>
          <a:lstStyle>
            <a:lvl1pPr algn="ctr" rtl="0" eaLnBrk="0" fontAlgn="base" hangingPunct="0">
              <a:spcBef>
                <a:spcPct val="0"/>
              </a:spcBef>
              <a:spcAft>
                <a:spcPct val="0"/>
              </a:spcAft>
              <a:defRPr sz="3200">
                <a:solidFill>
                  <a:schemeClr val="tx2"/>
                </a:solidFill>
                <a:latin typeface="+mj-lt"/>
                <a:ea typeface="+mj-ea"/>
                <a:cs typeface="+mj-cs"/>
              </a:defRPr>
            </a:lvl1pPr>
            <a:lvl2pPr algn="ctr" rtl="0" eaLnBrk="0" fontAlgn="base" hangingPunct="0">
              <a:spcBef>
                <a:spcPct val="0"/>
              </a:spcBef>
              <a:spcAft>
                <a:spcPct val="0"/>
              </a:spcAft>
              <a:defRPr sz="3200">
                <a:solidFill>
                  <a:schemeClr val="tx2"/>
                </a:solidFill>
                <a:latin typeface="Arial" pitchFamily="34" charset="0"/>
                <a:ea typeface="宋体" pitchFamily="2" charset="-122"/>
              </a:defRPr>
            </a:lvl2pPr>
            <a:lvl3pPr algn="ctr" rtl="0" eaLnBrk="0" fontAlgn="base" hangingPunct="0">
              <a:spcBef>
                <a:spcPct val="0"/>
              </a:spcBef>
              <a:spcAft>
                <a:spcPct val="0"/>
              </a:spcAft>
              <a:defRPr sz="3200">
                <a:solidFill>
                  <a:schemeClr val="tx2"/>
                </a:solidFill>
                <a:latin typeface="Arial" pitchFamily="34" charset="0"/>
                <a:ea typeface="宋体" pitchFamily="2" charset="-122"/>
              </a:defRPr>
            </a:lvl3pPr>
            <a:lvl4pPr algn="ctr" rtl="0" eaLnBrk="0" fontAlgn="base" hangingPunct="0">
              <a:spcBef>
                <a:spcPct val="0"/>
              </a:spcBef>
              <a:spcAft>
                <a:spcPct val="0"/>
              </a:spcAft>
              <a:defRPr sz="3200">
                <a:solidFill>
                  <a:schemeClr val="tx2"/>
                </a:solidFill>
                <a:latin typeface="Arial" pitchFamily="34" charset="0"/>
                <a:ea typeface="宋体" pitchFamily="2" charset="-122"/>
              </a:defRPr>
            </a:lvl4pPr>
            <a:lvl5pPr algn="ctr" rtl="0" eaLnBrk="0" fontAlgn="base" hangingPunct="0">
              <a:spcBef>
                <a:spcPct val="0"/>
              </a:spcBef>
              <a:spcAft>
                <a:spcPct val="0"/>
              </a:spcAft>
              <a:defRPr sz="3200">
                <a:solidFill>
                  <a:schemeClr val="tx2"/>
                </a:solidFill>
                <a:latin typeface="Arial" pitchFamily="34" charset="0"/>
                <a:ea typeface="宋体" pitchFamily="2" charset="-122"/>
              </a:defRPr>
            </a:lvl5pPr>
            <a:lvl6pPr marL="457200" algn="ctr" rtl="0" eaLnBrk="0" fontAlgn="base" hangingPunct="0">
              <a:spcBef>
                <a:spcPct val="0"/>
              </a:spcBef>
              <a:spcAft>
                <a:spcPct val="0"/>
              </a:spcAft>
              <a:defRPr sz="3200">
                <a:solidFill>
                  <a:schemeClr val="tx2"/>
                </a:solidFill>
                <a:latin typeface="Arial" pitchFamily="34" charset="0"/>
                <a:ea typeface="宋体" pitchFamily="2" charset="-122"/>
              </a:defRPr>
            </a:lvl6pPr>
            <a:lvl7pPr marL="914400" algn="ctr" rtl="0" eaLnBrk="0" fontAlgn="base" hangingPunct="0">
              <a:spcBef>
                <a:spcPct val="0"/>
              </a:spcBef>
              <a:spcAft>
                <a:spcPct val="0"/>
              </a:spcAft>
              <a:defRPr sz="3200">
                <a:solidFill>
                  <a:schemeClr val="tx2"/>
                </a:solidFill>
                <a:latin typeface="Arial" pitchFamily="34" charset="0"/>
                <a:ea typeface="宋体" pitchFamily="2" charset="-122"/>
              </a:defRPr>
            </a:lvl7pPr>
            <a:lvl8pPr marL="1371600" algn="ctr" rtl="0" eaLnBrk="0" fontAlgn="base" hangingPunct="0">
              <a:spcBef>
                <a:spcPct val="0"/>
              </a:spcBef>
              <a:spcAft>
                <a:spcPct val="0"/>
              </a:spcAft>
              <a:defRPr sz="3200">
                <a:solidFill>
                  <a:schemeClr val="tx2"/>
                </a:solidFill>
                <a:latin typeface="Arial" pitchFamily="34" charset="0"/>
                <a:ea typeface="宋体" pitchFamily="2" charset="-122"/>
              </a:defRPr>
            </a:lvl8pPr>
            <a:lvl9pPr marL="1828800" algn="ctr" rtl="0" eaLnBrk="0" fontAlgn="base" hangingPunct="0">
              <a:spcBef>
                <a:spcPct val="0"/>
              </a:spcBef>
              <a:spcAft>
                <a:spcPct val="0"/>
              </a:spcAft>
              <a:defRPr sz="3200">
                <a:solidFill>
                  <a:schemeClr val="tx2"/>
                </a:solidFill>
                <a:latin typeface="Arial" pitchFamily="34" charset="0"/>
                <a:ea typeface="宋体" pitchFamily="2" charset="-122"/>
              </a:defRPr>
            </a:lvl9pPr>
          </a:lstStyle>
          <a:p>
            <a:r>
              <a:rPr lang="zh-CN" altLang="en-US" sz="2000" kern="0" dirty="0">
                <a:latin typeface="Times New Roman" panose="02020603050405020304" pitchFamily="18" charset="0"/>
                <a:ea typeface="+mn-ea"/>
                <a:cs typeface="Times New Roman" panose="02020603050405020304" pitchFamily="18" charset="0"/>
              </a:rPr>
              <a:t>四、间接调频方法（由</a:t>
            </a:r>
            <a:r>
              <a:rPr lang="en-US" altLang="zh-CN" sz="2000" kern="0" dirty="0">
                <a:latin typeface="Times New Roman" panose="02020603050405020304" pitchFamily="18" charset="0"/>
                <a:ea typeface="+mn-ea"/>
                <a:cs typeface="Times New Roman" panose="02020603050405020304" pitchFamily="18" charset="0"/>
              </a:rPr>
              <a:t>PM</a:t>
            </a:r>
            <a:r>
              <a:rPr lang="en-US" altLang="zh-CN" sz="2000" kern="0" dirty="0">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sz="2000" kern="0" dirty="0">
                <a:latin typeface="Times New Roman" panose="02020603050405020304" pitchFamily="18" charset="0"/>
                <a:ea typeface="+mn-ea"/>
                <a:cs typeface="Times New Roman" panose="02020603050405020304" pitchFamily="18" charset="0"/>
              </a:rPr>
              <a:t>FM</a:t>
            </a:r>
            <a:r>
              <a:rPr lang="zh-CN" altLang="en-US" sz="2000" kern="0" dirty="0">
                <a:latin typeface="Times New Roman" panose="02020603050405020304" pitchFamily="18" charset="0"/>
                <a:ea typeface="+mn-ea"/>
                <a:cs typeface="Times New Roman" panose="02020603050405020304" pitchFamily="18" charset="0"/>
              </a:rPr>
              <a:t>） </a:t>
            </a:r>
          </a:p>
        </p:txBody>
      </p:sp>
      <p:sp>
        <p:nvSpPr>
          <p:cNvPr id="6" name="文本框 64515">
            <a:extLst>
              <a:ext uri="{FF2B5EF4-FFF2-40B4-BE49-F238E27FC236}">
                <a16:creationId xmlns="" xmlns:a16="http://schemas.microsoft.com/office/drawing/2014/main" id="{01240749-3E0A-872D-949A-F80CF11CE2BF}"/>
              </a:ext>
            </a:extLst>
          </p:cNvPr>
          <p:cNvSpPr txBox="1">
            <a:spLocks noChangeArrowheads="1"/>
          </p:cNvSpPr>
          <p:nvPr/>
        </p:nvSpPr>
        <p:spPr bwMode="auto">
          <a:xfrm>
            <a:off x="480236" y="1573982"/>
            <a:ext cx="172354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r>
              <a:rPr lang="en-US" altLang="zh-CN" sz="2000" dirty="0">
                <a:solidFill>
                  <a:schemeClr val="accent2"/>
                </a:solidFill>
                <a:latin typeface="Times New Roman" panose="02020603050405020304" pitchFamily="18" charset="0"/>
                <a:cs typeface="Times New Roman" panose="02020603050405020304" pitchFamily="18" charset="0"/>
              </a:rPr>
              <a:t>1. </a:t>
            </a:r>
            <a:r>
              <a:rPr lang="zh-CN" altLang="en-US" sz="2000" dirty="0">
                <a:solidFill>
                  <a:schemeClr val="accent2"/>
                </a:solidFill>
                <a:latin typeface="Times New Roman" panose="02020603050405020304" pitchFamily="18" charset="0"/>
                <a:cs typeface="Times New Roman" panose="02020603050405020304" pitchFamily="18" charset="0"/>
              </a:rPr>
              <a:t>移相法调相</a:t>
            </a:r>
          </a:p>
        </p:txBody>
      </p:sp>
      <p:sp>
        <p:nvSpPr>
          <p:cNvPr id="7" name="文本框 64516">
            <a:extLst>
              <a:ext uri="{FF2B5EF4-FFF2-40B4-BE49-F238E27FC236}">
                <a16:creationId xmlns="" xmlns:a16="http://schemas.microsoft.com/office/drawing/2014/main" id="{F4D8EE5F-18D7-654E-B592-08D8D6BC2323}"/>
              </a:ext>
            </a:extLst>
          </p:cNvPr>
          <p:cNvSpPr txBox="1">
            <a:spLocks noChangeArrowheads="1"/>
          </p:cNvSpPr>
          <p:nvPr/>
        </p:nvSpPr>
        <p:spPr bwMode="auto">
          <a:xfrm>
            <a:off x="480236" y="1941269"/>
            <a:ext cx="7781207"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p>
            <a:pPr>
              <a:lnSpc>
                <a:spcPct val="120000"/>
              </a:lnSpc>
            </a:pPr>
            <a:r>
              <a:rPr lang="en-US" altLang="zh-CN" sz="2000" dirty="0">
                <a:solidFill>
                  <a:schemeClr val="tx1"/>
                </a:solidFill>
                <a:latin typeface="Times New Roman" panose="02020603050405020304" pitchFamily="18" charset="0"/>
                <a:cs typeface="Times New Roman" panose="02020603050405020304" pitchFamily="18" charset="0"/>
              </a:rPr>
              <a:t>    </a:t>
            </a:r>
            <a:r>
              <a:rPr lang="zh-CN" altLang="en-US" sz="2000" dirty="0">
                <a:solidFill>
                  <a:schemeClr val="tx1"/>
                </a:solidFill>
                <a:latin typeface="Times New Roman" panose="02020603050405020304" pitchFamily="18" charset="0"/>
                <a:cs typeface="Times New Roman" panose="02020603050405020304" pitchFamily="18" charset="0"/>
              </a:rPr>
              <a:t>将载频信号</a:t>
            </a:r>
            <a:r>
              <a:rPr lang="en-US" altLang="zh-CN" sz="2000" dirty="0">
                <a:solidFill>
                  <a:schemeClr val="tx1"/>
                </a:solidFill>
                <a:latin typeface="Times New Roman" panose="02020603050405020304" pitchFamily="18" charset="0"/>
                <a:cs typeface="Times New Roman" panose="02020603050405020304" pitchFamily="18" charset="0"/>
              </a:rPr>
              <a:t>Vcos</a:t>
            </a:r>
            <a:r>
              <a:rPr lang="en-US" altLang="zh-CN" sz="200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000" baseline="-25000" dirty="0">
                <a:solidFill>
                  <a:schemeClr val="tx1"/>
                </a:solidFill>
                <a:latin typeface="Times New Roman" panose="02020603050405020304" pitchFamily="18" charset="0"/>
                <a:cs typeface="Times New Roman" panose="02020603050405020304" pitchFamily="18" charset="0"/>
              </a:rPr>
              <a:t>0</a:t>
            </a:r>
            <a:r>
              <a:rPr lang="en-US" altLang="zh-CN" sz="2000" dirty="0">
                <a:solidFill>
                  <a:schemeClr val="tx1"/>
                </a:solidFill>
                <a:latin typeface="Times New Roman" panose="02020603050405020304" pitchFamily="18" charset="0"/>
                <a:cs typeface="Times New Roman" panose="02020603050405020304" pitchFamily="18" charset="0"/>
              </a:rPr>
              <a:t>t</a:t>
            </a:r>
            <a:r>
              <a:rPr lang="zh-CN" altLang="en-US" sz="2000" dirty="0">
                <a:solidFill>
                  <a:schemeClr val="tx1"/>
                </a:solidFill>
                <a:latin typeface="Times New Roman" panose="02020603050405020304" pitchFamily="18" charset="0"/>
                <a:cs typeface="Times New Roman" panose="02020603050405020304" pitchFamily="18" charset="0"/>
              </a:rPr>
              <a:t>通过一个相移受调制信号</a:t>
            </a:r>
            <a:r>
              <a:rPr lang="en-US" altLang="zh-CN" sz="2000" i="1" dirty="0">
                <a:solidFill>
                  <a:schemeClr val="tx1"/>
                </a:solidFill>
                <a:latin typeface="Times New Roman" panose="02020603050405020304" pitchFamily="18" charset="0"/>
                <a:cs typeface="Times New Roman" panose="02020603050405020304" pitchFamily="18" charset="0"/>
              </a:rPr>
              <a:t>v</a:t>
            </a:r>
            <a:r>
              <a:rPr lang="en-US" altLang="zh-CN" sz="2000" baseline="-2500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zh-CN" altLang="en-US" sz="2000" dirty="0">
                <a:solidFill>
                  <a:schemeClr val="tx1"/>
                </a:solidFill>
                <a:latin typeface="Times New Roman" panose="02020603050405020304" pitchFamily="18" charset="0"/>
                <a:cs typeface="Times New Roman" panose="02020603050405020304" pitchFamily="18" charset="0"/>
              </a:rPr>
              <a:t>线性控制的移相网络，即可实现调相，原理框图如图</a:t>
            </a:r>
            <a:r>
              <a:rPr lang="en-US" altLang="zh-CN" sz="2000" dirty="0">
                <a:solidFill>
                  <a:schemeClr val="tx1"/>
                </a:solidFill>
                <a:latin typeface="Times New Roman" panose="02020603050405020304" pitchFamily="18" charset="0"/>
                <a:cs typeface="Times New Roman" panose="02020603050405020304" pitchFamily="18" charset="0"/>
              </a:rPr>
              <a:t>7-14</a:t>
            </a:r>
            <a:r>
              <a:rPr lang="zh-CN" altLang="en-US" sz="2000" dirty="0">
                <a:solidFill>
                  <a:schemeClr val="tx1"/>
                </a:solidFill>
                <a:latin typeface="Times New Roman" panose="02020603050405020304" pitchFamily="18" charset="0"/>
                <a:cs typeface="Times New Roman" panose="02020603050405020304" pitchFamily="18" charset="0"/>
              </a:rPr>
              <a:t>所示。 </a:t>
            </a:r>
          </a:p>
        </p:txBody>
      </p:sp>
      <p:pic>
        <p:nvPicPr>
          <p:cNvPr id="8" name="图片 65537" descr="96.wmf">
            <a:extLst>
              <a:ext uri="{FF2B5EF4-FFF2-40B4-BE49-F238E27FC236}">
                <a16:creationId xmlns="" xmlns:a16="http://schemas.microsoft.com/office/drawing/2014/main" id="{466C9C92-9362-8E41-4C7F-C0F3889C39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1890" y="3000443"/>
            <a:ext cx="5547700" cy="16679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文本框 65538">
            <a:extLst>
              <a:ext uri="{FF2B5EF4-FFF2-40B4-BE49-F238E27FC236}">
                <a16:creationId xmlns="" xmlns:a16="http://schemas.microsoft.com/office/drawing/2014/main" id="{1645D5FD-1093-2D23-29AF-D0345658F520}"/>
              </a:ext>
            </a:extLst>
          </p:cNvPr>
          <p:cNvSpPr txBox="1">
            <a:spLocks noChangeArrowheads="1"/>
          </p:cNvSpPr>
          <p:nvPr/>
        </p:nvSpPr>
        <p:spPr bwMode="auto">
          <a:xfrm>
            <a:off x="2795675" y="4807413"/>
            <a:ext cx="283443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r>
              <a:rPr lang="zh-CN" altLang="en-US" sz="2000" dirty="0">
                <a:solidFill>
                  <a:schemeClr val="tx1"/>
                </a:solidFill>
                <a:latin typeface="Times New Roman" panose="02020603050405020304" pitchFamily="18" charset="0"/>
                <a:cs typeface="Times New Roman" panose="02020603050405020304" pitchFamily="18" charset="0"/>
              </a:rPr>
              <a:t>图</a:t>
            </a:r>
            <a:r>
              <a:rPr lang="en-US" altLang="zh-CN" sz="2000" dirty="0">
                <a:solidFill>
                  <a:schemeClr val="tx1"/>
                </a:solidFill>
                <a:latin typeface="Times New Roman" panose="02020603050405020304" pitchFamily="18" charset="0"/>
                <a:cs typeface="Times New Roman" panose="02020603050405020304" pitchFamily="18" charset="0"/>
              </a:rPr>
              <a:t>7-14  </a:t>
            </a:r>
            <a:r>
              <a:rPr lang="zh-CN" altLang="en-US" sz="2000" dirty="0">
                <a:solidFill>
                  <a:schemeClr val="tx1"/>
                </a:solidFill>
                <a:latin typeface="Times New Roman" panose="02020603050405020304" pitchFamily="18" charset="0"/>
                <a:cs typeface="Times New Roman" panose="02020603050405020304" pitchFamily="18" charset="0"/>
              </a:rPr>
              <a:t>移相法调相框图</a:t>
            </a:r>
          </a:p>
        </p:txBody>
      </p:sp>
      <p:sp>
        <p:nvSpPr>
          <p:cNvPr id="10" name="文本框 65539">
            <a:extLst>
              <a:ext uri="{FF2B5EF4-FFF2-40B4-BE49-F238E27FC236}">
                <a16:creationId xmlns="" xmlns:a16="http://schemas.microsoft.com/office/drawing/2014/main" id="{FA9F6CA1-57FA-6326-C6E6-A6994D56D2F7}"/>
              </a:ext>
            </a:extLst>
          </p:cNvPr>
          <p:cNvSpPr txBox="1">
            <a:spLocks noChangeArrowheads="1"/>
          </p:cNvSpPr>
          <p:nvPr/>
        </p:nvSpPr>
        <p:spPr bwMode="auto">
          <a:xfrm>
            <a:off x="1427521" y="5349725"/>
            <a:ext cx="3401893"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r>
              <a:rPr lang="en-US" altLang="zh-CN" sz="2000" dirty="0">
                <a:solidFill>
                  <a:schemeClr val="tx1"/>
                </a:solidFill>
                <a:latin typeface="Times New Roman" panose="02020603050405020304" pitchFamily="18" charset="0"/>
                <a:cs typeface="Times New Roman" panose="02020603050405020304" pitchFamily="18" charset="0"/>
              </a:rPr>
              <a:t> </a:t>
            </a:r>
            <a:r>
              <a:rPr lang="zh-CN" altLang="en-US" sz="2000" dirty="0">
                <a:solidFill>
                  <a:schemeClr val="tx1"/>
                </a:solidFill>
                <a:latin typeface="Times New Roman" panose="02020603050405020304" pitchFamily="18" charset="0"/>
                <a:cs typeface="Times New Roman" panose="02020603050405020304" pitchFamily="18" charset="0"/>
              </a:rPr>
              <a:t>图中</a:t>
            </a:r>
            <a:r>
              <a:rPr lang="zh-CN" altLang="en-US" sz="2000" dirty="0" smtClean="0">
                <a:solidFill>
                  <a:schemeClr val="tx1"/>
                </a:solidFill>
                <a:latin typeface="Times New Roman" panose="02020603050405020304" pitchFamily="18" charset="0"/>
                <a:cs typeface="Times New Roman" panose="02020603050405020304" pitchFamily="18" charset="0"/>
              </a:rPr>
              <a:t>，</a:t>
            </a:r>
            <a:r>
              <a:rPr lang="en-US" altLang="zh-CN" sz="2400" dirty="0"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dirty="0">
                <a:solidFill>
                  <a:schemeClr val="tx1"/>
                </a:solidFill>
                <a:latin typeface="Times New Roman" panose="02020603050405020304" pitchFamily="18" charset="0"/>
                <a:cs typeface="Times New Roman" panose="02020603050405020304" pitchFamily="18" charset="0"/>
              </a:rPr>
              <a:t>= </a:t>
            </a:r>
            <a:r>
              <a:rPr lang="en-US" altLang="zh-CN" sz="2400" dirty="0" err="1">
                <a:solidFill>
                  <a:schemeClr val="tx1"/>
                </a:solidFill>
                <a:latin typeface="Times New Roman" panose="02020603050405020304" pitchFamily="18" charset="0"/>
                <a:cs typeface="Times New Roman" panose="02020603050405020304" pitchFamily="18" charset="0"/>
              </a:rPr>
              <a:t>k</a:t>
            </a:r>
            <a:r>
              <a:rPr lang="en-US" altLang="zh-CN" sz="2400" baseline="-25000" dirty="0" err="1">
                <a:solidFill>
                  <a:schemeClr val="tx1"/>
                </a:solidFill>
                <a:latin typeface="Times New Roman" panose="02020603050405020304" pitchFamily="18" charset="0"/>
                <a:cs typeface="Times New Roman" panose="02020603050405020304" pitchFamily="18" charset="0"/>
              </a:rPr>
              <a:t>p</a:t>
            </a:r>
            <a:r>
              <a:rPr lang="en-US" altLang="zh-CN" sz="2400" i="1" dirty="0" err="1">
                <a:solidFill>
                  <a:schemeClr val="tx1"/>
                </a:solidFill>
                <a:latin typeface="Times New Roman" panose="02020603050405020304" pitchFamily="18" charset="0"/>
                <a:cs typeface="Times New Roman" panose="02020603050405020304" pitchFamily="18" charset="0"/>
              </a:rPr>
              <a:t>v</a:t>
            </a:r>
            <a:r>
              <a:rPr lang="en-US" altLang="zh-CN" sz="2400" baseline="-2500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dirty="0">
                <a:solidFill>
                  <a:schemeClr val="tx1"/>
                </a:solidFill>
                <a:latin typeface="Times New Roman" panose="02020603050405020304" pitchFamily="18" charset="0"/>
                <a:cs typeface="Times New Roman" panose="02020603050405020304" pitchFamily="18" charset="0"/>
              </a:rPr>
              <a:t>= </a:t>
            </a:r>
            <a:r>
              <a:rPr lang="en-US" altLang="zh-CN" sz="2400" dirty="0" err="1">
                <a:solidFill>
                  <a:schemeClr val="tx1"/>
                </a:solidFill>
                <a:latin typeface="Times New Roman" panose="02020603050405020304" pitchFamily="18" charset="0"/>
                <a:cs typeface="Times New Roman" panose="02020603050405020304" pitchFamily="18" charset="0"/>
              </a:rPr>
              <a:t>m</a:t>
            </a:r>
            <a:r>
              <a:rPr lang="en-US" altLang="zh-CN" sz="2400" baseline="-25000" dirty="0" err="1">
                <a:solidFill>
                  <a:schemeClr val="tx1"/>
                </a:solidFill>
                <a:latin typeface="Times New Roman" panose="02020603050405020304" pitchFamily="18" charset="0"/>
                <a:cs typeface="Times New Roman" panose="02020603050405020304" pitchFamily="18" charset="0"/>
              </a:rPr>
              <a:t>p</a:t>
            </a:r>
            <a:r>
              <a:rPr lang="en-US" altLang="zh-CN" sz="2400" dirty="0" err="1">
                <a:solidFill>
                  <a:schemeClr val="tx1"/>
                </a:solidFill>
                <a:latin typeface="Times New Roman" panose="02020603050405020304" pitchFamily="18" charset="0"/>
                <a:cs typeface="Times New Roman" panose="02020603050405020304" pitchFamily="18" charset="0"/>
              </a:rPr>
              <a:t>cos</a:t>
            </a:r>
            <a:r>
              <a:rPr lang="en-US" altLang="zh-CN" sz="2400" baseline="-25000" dirty="0" err="1">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dirty="0" err="1">
                <a:solidFill>
                  <a:schemeClr val="tx1"/>
                </a:solidFill>
                <a:latin typeface="Times New Roman" panose="02020603050405020304" pitchFamily="18" charset="0"/>
                <a:cs typeface="Times New Roman" panose="02020603050405020304" pitchFamily="18" charset="0"/>
              </a:rPr>
              <a:t>t</a:t>
            </a:r>
            <a:endParaRPr lang="en-US" altLang="zh-CN" sz="2400" dirty="0">
              <a:solidFill>
                <a:schemeClr val="tx1"/>
              </a:solidFill>
              <a:latin typeface="Times New Roman" panose="02020603050405020304" pitchFamily="18" charset="0"/>
              <a:cs typeface="Times New Roman" panose="02020603050405020304" pitchFamily="18" charset="0"/>
            </a:endParaRPr>
          </a:p>
          <a:p>
            <a:r>
              <a:rPr lang="en-US" altLang="zh-CN" sz="2400" dirty="0">
                <a:solidFill>
                  <a:schemeClr val="tx1"/>
                </a:solidFill>
                <a:latin typeface="Times New Roman" panose="02020603050405020304" pitchFamily="18" charset="0"/>
                <a:cs typeface="Times New Roman" panose="02020603050405020304" pitchFamily="18" charset="0"/>
              </a:rPr>
              <a:t>         </a:t>
            </a:r>
            <a:r>
              <a:rPr lang="en-US" altLang="zh-CN" sz="2400" i="1" dirty="0">
                <a:solidFill>
                  <a:schemeClr val="tx1"/>
                </a:solidFill>
                <a:latin typeface="Times New Roman" panose="02020603050405020304" pitchFamily="18" charset="0"/>
                <a:cs typeface="Times New Roman" panose="02020603050405020304" pitchFamily="18" charset="0"/>
              </a:rPr>
              <a:t>v</a:t>
            </a:r>
            <a:r>
              <a:rPr lang="en-US" altLang="zh-CN" sz="2400" baseline="-25000" dirty="0">
                <a:solidFill>
                  <a:schemeClr val="tx1"/>
                </a:solidFill>
                <a:latin typeface="Times New Roman" panose="02020603050405020304" pitchFamily="18" charset="0"/>
                <a:cs typeface="Times New Roman" panose="02020603050405020304" pitchFamily="18" charset="0"/>
              </a:rPr>
              <a:t>0</a:t>
            </a:r>
            <a:r>
              <a:rPr lang="en-US" altLang="zh-CN" sz="2400" dirty="0">
                <a:solidFill>
                  <a:schemeClr val="tx1"/>
                </a:solidFill>
                <a:latin typeface="Times New Roman" panose="02020603050405020304" pitchFamily="18" charset="0"/>
                <a:cs typeface="Times New Roman" panose="02020603050405020304" pitchFamily="18" charset="0"/>
              </a:rPr>
              <a:t> = Vcos</a:t>
            </a:r>
            <a:r>
              <a:rPr lang="en-US" altLang="zh-CN" sz="240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aseline="-25000" dirty="0">
                <a:solidFill>
                  <a:schemeClr val="tx1"/>
                </a:solidFill>
                <a:latin typeface="Times New Roman" panose="02020603050405020304" pitchFamily="18" charset="0"/>
                <a:cs typeface="Times New Roman" panose="02020603050405020304" pitchFamily="18" charset="0"/>
              </a:rPr>
              <a:t>0</a:t>
            </a:r>
            <a:r>
              <a:rPr lang="en-US" altLang="zh-CN" sz="2400" dirty="0">
                <a:solidFill>
                  <a:schemeClr val="tx1"/>
                </a:solidFill>
                <a:latin typeface="Times New Roman" panose="02020603050405020304" pitchFamily="18" charset="0"/>
                <a:cs typeface="Times New Roman" panose="02020603050405020304" pitchFamily="18" charset="0"/>
              </a:rPr>
              <a:t>t	</a:t>
            </a:r>
            <a:endParaRPr lang="en-US" altLang="zh-CN"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29226794"/>
      </p:ext>
    </p:extLst>
  </p:cSld>
  <p:clrMapOvr>
    <a:masterClrMapping/>
  </p:clrMapOvr>
  <p:timing>
    <p:tnLst>
      <p:par>
        <p:cTn id="1" dur="indefinite" restart="never" nodeType="tmRoot"/>
      </p:par>
    </p:tnLst>
  </p:timing>
</p:sld>
</file>

<file path=ppt/slides/slide2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290</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11"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7.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角度调制</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与</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解调</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文本框 70657">
            <a:extLst>
              <a:ext uri="{FF2B5EF4-FFF2-40B4-BE49-F238E27FC236}">
                <a16:creationId xmlns="" xmlns:a16="http://schemas.microsoft.com/office/drawing/2014/main" id="{FA330F9C-2236-2C3B-1469-4A746CC1F5AB}"/>
              </a:ext>
            </a:extLst>
          </p:cNvPr>
          <p:cNvSpPr txBox="1">
            <a:spLocks noChangeArrowheads="1"/>
          </p:cNvSpPr>
          <p:nvPr/>
        </p:nvSpPr>
        <p:spPr bwMode="auto">
          <a:xfrm>
            <a:off x="827584" y="1228690"/>
            <a:ext cx="238078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r>
              <a:rPr lang="en-US" altLang="zh-CN" sz="2000" dirty="0">
                <a:solidFill>
                  <a:schemeClr val="accent2"/>
                </a:solidFill>
                <a:latin typeface="+mn-ea"/>
                <a:ea typeface="+mn-ea"/>
              </a:rPr>
              <a:t>2. </a:t>
            </a:r>
            <a:r>
              <a:rPr lang="zh-CN" altLang="en-US" sz="2000" dirty="0">
                <a:solidFill>
                  <a:schemeClr val="accent2"/>
                </a:solidFill>
                <a:latin typeface="+mn-ea"/>
                <a:ea typeface="+mn-ea"/>
              </a:rPr>
              <a:t>可变时延法调相</a:t>
            </a:r>
          </a:p>
        </p:txBody>
      </p:sp>
      <p:sp>
        <p:nvSpPr>
          <p:cNvPr id="6" name="文本框 70658">
            <a:extLst>
              <a:ext uri="{FF2B5EF4-FFF2-40B4-BE49-F238E27FC236}">
                <a16:creationId xmlns="" xmlns:a16="http://schemas.microsoft.com/office/drawing/2014/main" id="{AF297259-8977-3C8C-76E3-EB644144A7E1}"/>
              </a:ext>
            </a:extLst>
          </p:cNvPr>
          <p:cNvSpPr txBox="1">
            <a:spLocks noChangeArrowheads="1"/>
          </p:cNvSpPr>
          <p:nvPr/>
        </p:nvSpPr>
        <p:spPr bwMode="auto">
          <a:xfrm>
            <a:off x="251345" y="1587756"/>
            <a:ext cx="7993063" cy="1338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a:lnSpc>
                <a:spcPct val="140000"/>
              </a:lnSpc>
            </a:pPr>
            <a:r>
              <a:rPr lang="en-US" altLang="zh-CN" sz="2000" dirty="0">
                <a:solidFill>
                  <a:schemeClr val="tx1"/>
                </a:solidFill>
                <a:latin typeface="+mn-ea"/>
                <a:ea typeface="+mn-ea"/>
              </a:rPr>
              <a:t>    </a:t>
            </a:r>
            <a:r>
              <a:rPr lang="zh-CN" altLang="en-US" sz="2000" dirty="0">
                <a:solidFill>
                  <a:schemeClr val="tx1"/>
                </a:solidFill>
                <a:latin typeface="+mn-ea"/>
                <a:ea typeface="+mn-ea"/>
              </a:rPr>
              <a:t>周期信号在经过一个网络后，如果在时间轴上有所移动，则此信号的相角必然发生变化，时延法调相就是利用调制信号控制时延大小而实现调相的一种方法，其原理框图如图</a:t>
            </a:r>
            <a:r>
              <a:rPr lang="en-US" altLang="zh-CN" sz="2000" dirty="0">
                <a:solidFill>
                  <a:schemeClr val="tx1"/>
                </a:solidFill>
                <a:latin typeface="+mn-ea"/>
                <a:ea typeface="+mn-ea"/>
              </a:rPr>
              <a:t>7-16</a:t>
            </a:r>
            <a:r>
              <a:rPr lang="zh-CN" altLang="en-US" sz="2000" dirty="0">
                <a:solidFill>
                  <a:schemeClr val="tx1"/>
                </a:solidFill>
                <a:latin typeface="+mn-ea"/>
                <a:ea typeface="+mn-ea"/>
              </a:rPr>
              <a:t>所示。 </a:t>
            </a:r>
          </a:p>
        </p:txBody>
      </p:sp>
      <p:pic>
        <p:nvPicPr>
          <p:cNvPr id="8" name="图片 70660" descr="102.wmf">
            <a:extLst>
              <a:ext uri="{FF2B5EF4-FFF2-40B4-BE49-F238E27FC236}">
                <a16:creationId xmlns="" xmlns:a16="http://schemas.microsoft.com/office/drawing/2014/main" id="{A7A74E14-F008-437F-A016-128858215C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8700" y="2854953"/>
            <a:ext cx="6540993" cy="1854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文本框 70661">
            <a:extLst>
              <a:ext uri="{FF2B5EF4-FFF2-40B4-BE49-F238E27FC236}">
                <a16:creationId xmlns="" xmlns:a16="http://schemas.microsoft.com/office/drawing/2014/main" id="{DC92027D-E682-B202-33A4-66E58F5560DC}"/>
              </a:ext>
            </a:extLst>
          </p:cNvPr>
          <p:cNvSpPr txBox="1">
            <a:spLocks noChangeArrowheads="1"/>
          </p:cNvSpPr>
          <p:nvPr/>
        </p:nvSpPr>
        <p:spPr bwMode="auto">
          <a:xfrm>
            <a:off x="2489019" y="4709473"/>
            <a:ext cx="32720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r>
              <a:rPr lang="zh-CN" altLang="en-US" sz="2000" dirty="0">
                <a:solidFill>
                  <a:schemeClr val="tx1"/>
                </a:solidFill>
                <a:latin typeface="+mn-ea"/>
                <a:ea typeface="+mn-ea"/>
              </a:rPr>
              <a:t>图</a:t>
            </a:r>
            <a:r>
              <a:rPr lang="en-US" altLang="zh-CN" sz="2000" dirty="0">
                <a:solidFill>
                  <a:schemeClr val="tx1"/>
                </a:solidFill>
                <a:latin typeface="+mn-ea"/>
                <a:ea typeface="+mn-ea"/>
              </a:rPr>
              <a:t>7-16  </a:t>
            </a:r>
            <a:r>
              <a:rPr lang="zh-CN" altLang="en-US" sz="2000" dirty="0">
                <a:solidFill>
                  <a:schemeClr val="tx1"/>
                </a:solidFill>
                <a:latin typeface="+mn-ea"/>
                <a:ea typeface="+mn-ea"/>
              </a:rPr>
              <a:t>时延调相原理框图</a:t>
            </a:r>
          </a:p>
        </p:txBody>
      </p:sp>
      <p:sp>
        <p:nvSpPr>
          <p:cNvPr id="10" name="文本框 71681">
            <a:extLst>
              <a:ext uri="{FF2B5EF4-FFF2-40B4-BE49-F238E27FC236}">
                <a16:creationId xmlns="" xmlns:a16="http://schemas.microsoft.com/office/drawing/2014/main" id="{96128215-B762-3D8B-E837-51B478D09479}"/>
              </a:ext>
            </a:extLst>
          </p:cNvPr>
          <p:cNvSpPr txBox="1">
            <a:spLocks noChangeArrowheads="1"/>
          </p:cNvSpPr>
          <p:nvPr/>
        </p:nvSpPr>
        <p:spPr bwMode="auto">
          <a:xfrm>
            <a:off x="407462" y="5109583"/>
            <a:ext cx="8532812"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r>
              <a:rPr lang="zh-CN" altLang="en-US" sz="2000" dirty="0">
                <a:solidFill>
                  <a:schemeClr val="tx1"/>
                </a:solidFill>
                <a:latin typeface="Times New Roman" panose="02020603050405020304" pitchFamily="18" charset="0"/>
                <a:cs typeface="Times New Roman" panose="02020603050405020304" pitchFamily="18" charset="0"/>
              </a:rPr>
              <a:t>上图中</a:t>
            </a:r>
          </a:p>
          <a:p>
            <a:pPr>
              <a:lnSpc>
                <a:spcPct val="150000"/>
              </a:lnSpc>
            </a:pPr>
            <a:r>
              <a:rPr lang="zh-CN" altLang="en-US" sz="2000" dirty="0">
                <a:solidFill>
                  <a:schemeClr val="tx1"/>
                </a:solidFill>
                <a:latin typeface="Times New Roman" panose="02020603050405020304" pitchFamily="18" charset="0"/>
                <a:cs typeface="Times New Roman" panose="02020603050405020304" pitchFamily="18" charset="0"/>
              </a:rPr>
              <a:t>  </a:t>
            </a:r>
            <a:r>
              <a:rPr lang="en-US" altLang="zh-CN" sz="200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000" dirty="0">
                <a:solidFill>
                  <a:schemeClr val="tx1"/>
                </a:solidFill>
                <a:latin typeface="Times New Roman" panose="02020603050405020304" pitchFamily="18" charset="0"/>
                <a:cs typeface="Times New Roman" panose="02020603050405020304" pitchFamily="18" charset="0"/>
              </a:rPr>
              <a:t> =</a:t>
            </a:r>
            <a:r>
              <a:rPr lang="en-US" altLang="zh-CN" sz="2000" dirty="0" err="1">
                <a:solidFill>
                  <a:schemeClr val="tx1"/>
                </a:solidFill>
                <a:latin typeface="Times New Roman" panose="02020603050405020304" pitchFamily="18" charset="0"/>
                <a:cs typeface="Times New Roman" panose="02020603050405020304" pitchFamily="18" charset="0"/>
              </a:rPr>
              <a:t>k</a:t>
            </a:r>
            <a:r>
              <a:rPr lang="en-US" altLang="zh-CN" sz="2000" baseline="-25000" dirty="0" err="1">
                <a:solidFill>
                  <a:schemeClr val="tx1"/>
                </a:solidFill>
                <a:latin typeface="Times New Roman" panose="02020603050405020304" pitchFamily="18" charset="0"/>
                <a:cs typeface="Times New Roman" panose="02020603050405020304" pitchFamily="18" charset="0"/>
              </a:rPr>
              <a:t>P</a:t>
            </a:r>
            <a:r>
              <a:rPr lang="en-US" altLang="zh-CN" sz="2000" i="1" dirty="0" err="1">
                <a:solidFill>
                  <a:schemeClr val="tx1"/>
                </a:solidFill>
                <a:latin typeface="Times New Roman" panose="02020603050405020304" pitchFamily="18" charset="0"/>
                <a:cs typeface="Times New Roman" panose="02020603050405020304" pitchFamily="18" charset="0"/>
              </a:rPr>
              <a:t>v</a:t>
            </a:r>
            <a:r>
              <a:rPr lang="en-US" altLang="zh-CN" sz="2000" baseline="-2500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00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2000" dirty="0">
                <a:solidFill>
                  <a:schemeClr val="tx1"/>
                </a:solidFill>
                <a:latin typeface="Times New Roman" panose="02020603050405020304" pitchFamily="18" charset="0"/>
                <a:cs typeface="Times New Roman" panose="02020603050405020304" pitchFamily="18" charset="0"/>
              </a:rPr>
              <a:t>=</a:t>
            </a:r>
            <a:r>
              <a:rPr lang="en-US" altLang="zh-CN" sz="2000" dirty="0" err="1">
                <a:solidFill>
                  <a:schemeClr val="tx1"/>
                </a:solidFill>
                <a:latin typeface="Times New Roman" panose="02020603050405020304" pitchFamily="18" charset="0"/>
                <a:cs typeface="Times New Roman" panose="02020603050405020304" pitchFamily="18" charset="0"/>
              </a:rPr>
              <a:t>k</a:t>
            </a:r>
            <a:r>
              <a:rPr lang="en-US" altLang="zh-CN" sz="2000" baseline="-25000" dirty="0" err="1">
                <a:solidFill>
                  <a:schemeClr val="tx1"/>
                </a:solidFill>
                <a:latin typeface="Times New Roman" panose="02020603050405020304" pitchFamily="18" charset="0"/>
                <a:cs typeface="Times New Roman" panose="02020603050405020304" pitchFamily="18" charset="0"/>
              </a:rPr>
              <a:t>p</a:t>
            </a:r>
            <a:r>
              <a:rPr lang="en-US" altLang="zh-CN" sz="2000" dirty="0" err="1">
                <a:solidFill>
                  <a:schemeClr val="tx1"/>
                </a:solidFill>
                <a:latin typeface="Times New Roman" panose="02020603050405020304" pitchFamily="18" charset="0"/>
                <a:cs typeface="Times New Roman" panose="02020603050405020304" pitchFamily="18" charset="0"/>
              </a:rPr>
              <a:t>V</a:t>
            </a:r>
            <a:r>
              <a:rPr lang="en-US" altLang="zh-CN" sz="2000" baseline="-25000" dirty="0" err="1">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000" dirty="0" err="1">
                <a:solidFill>
                  <a:schemeClr val="tx1"/>
                </a:solidFill>
                <a:latin typeface="Times New Roman" panose="02020603050405020304" pitchFamily="18" charset="0"/>
                <a:cs typeface="Times New Roman" panose="02020603050405020304" pitchFamily="18" charset="0"/>
              </a:rPr>
              <a:t>cos</a:t>
            </a:r>
            <a:r>
              <a:rPr lang="en-US" altLang="zh-CN" sz="2000" baseline="-25000" dirty="0" err="1">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000" dirty="0" err="1">
                <a:solidFill>
                  <a:schemeClr val="tx1"/>
                </a:solidFill>
                <a:latin typeface="Times New Roman" panose="02020603050405020304" pitchFamily="18" charset="0"/>
                <a:cs typeface="Times New Roman" panose="02020603050405020304" pitchFamily="18" charset="0"/>
              </a:rPr>
              <a:t>t</a:t>
            </a:r>
            <a:r>
              <a:rPr lang="en-US" altLang="zh-CN" sz="2000" dirty="0">
                <a:solidFill>
                  <a:schemeClr val="tx1"/>
                </a:solidFill>
                <a:latin typeface="Times New Roman" panose="02020603050405020304" pitchFamily="18" charset="0"/>
                <a:cs typeface="Times New Roman" panose="02020603050405020304" pitchFamily="18" charset="0"/>
              </a:rPr>
              <a:t>= </a:t>
            </a:r>
            <a:r>
              <a:rPr lang="en-US" altLang="zh-CN" sz="2000" dirty="0" err="1">
                <a:solidFill>
                  <a:schemeClr val="tx1"/>
                </a:solidFill>
                <a:latin typeface="Times New Roman" panose="02020603050405020304" pitchFamily="18" charset="0"/>
                <a:cs typeface="Times New Roman" panose="02020603050405020304" pitchFamily="18" charset="0"/>
              </a:rPr>
              <a:t>mpcos</a:t>
            </a:r>
            <a:r>
              <a:rPr lang="en-US" altLang="zh-CN" sz="2000" baseline="-25000" dirty="0" err="1">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000" dirty="0" err="1">
                <a:solidFill>
                  <a:schemeClr val="tx1"/>
                </a:solidFill>
                <a:latin typeface="Times New Roman" panose="02020603050405020304" pitchFamily="18" charset="0"/>
                <a:cs typeface="Times New Roman" panose="02020603050405020304" pitchFamily="18" charset="0"/>
              </a:rPr>
              <a:t>t</a:t>
            </a:r>
            <a:r>
              <a:rPr lang="en-US" altLang="zh-CN" sz="2000" dirty="0">
                <a:solidFill>
                  <a:schemeClr val="tx1"/>
                </a:solidFill>
                <a:latin typeface="Times New Roman" panose="02020603050405020304" pitchFamily="18" charset="0"/>
                <a:cs typeface="Times New Roman" panose="02020603050405020304" pitchFamily="18" charset="0"/>
              </a:rPr>
              <a:t> 	</a:t>
            </a:r>
            <a:endParaRPr lang="en-US" altLang="zh-CN" sz="2000" dirty="0" smtClean="0">
              <a:solidFill>
                <a:schemeClr val="tx1"/>
              </a:solidFill>
              <a:latin typeface="Times New Roman" panose="02020603050405020304" pitchFamily="18" charset="0"/>
              <a:cs typeface="Times New Roman" panose="02020603050405020304" pitchFamily="18" charset="0"/>
            </a:endParaRPr>
          </a:p>
          <a:p>
            <a:pPr>
              <a:lnSpc>
                <a:spcPct val="200000"/>
              </a:lnSpc>
            </a:pPr>
            <a:r>
              <a:rPr lang="en-US" altLang="zh-CN" sz="2000" dirty="0" smtClean="0">
                <a:solidFill>
                  <a:schemeClr val="tx1"/>
                </a:solidFill>
                <a:latin typeface="Times New Roman" panose="02020603050405020304" pitchFamily="18" charset="0"/>
                <a:cs typeface="Times New Roman" panose="02020603050405020304" pitchFamily="18" charset="0"/>
              </a:rPr>
              <a:t>  </a:t>
            </a:r>
            <a:r>
              <a:rPr lang="en-US" altLang="zh-CN" sz="2000" i="1" dirty="0">
                <a:solidFill>
                  <a:schemeClr val="tx1"/>
                </a:solidFill>
                <a:latin typeface="Times New Roman" panose="02020603050405020304" pitchFamily="18" charset="0"/>
                <a:cs typeface="Times New Roman" panose="02020603050405020304" pitchFamily="18" charset="0"/>
              </a:rPr>
              <a:t>v </a:t>
            </a:r>
            <a:r>
              <a:rPr lang="en-US" altLang="zh-CN" sz="2000" dirty="0">
                <a:solidFill>
                  <a:schemeClr val="tx1"/>
                </a:solidFill>
                <a:latin typeface="Times New Roman" panose="02020603050405020304" pitchFamily="18" charset="0"/>
                <a:cs typeface="Times New Roman" panose="02020603050405020304" pitchFamily="18" charset="0"/>
              </a:rPr>
              <a:t>=</a:t>
            </a:r>
            <a:r>
              <a:rPr lang="en-US" altLang="zh-CN" sz="2000" dirty="0" err="1">
                <a:solidFill>
                  <a:schemeClr val="tx1"/>
                </a:solidFill>
                <a:latin typeface="Times New Roman" panose="02020603050405020304" pitchFamily="18" charset="0"/>
                <a:cs typeface="Times New Roman" panose="02020603050405020304" pitchFamily="18" charset="0"/>
              </a:rPr>
              <a:t>Vcos</a:t>
            </a:r>
            <a:r>
              <a:rPr lang="en-US" altLang="zh-CN" sz="2000" dirty="0">
                <a:solidFill>
                  <a:schemeClr val="tx1"/>
                </a:solidFill>
                <a:latin typeface="Times New Roman" panose="02020603050405020304" pitchFamily="18" charset="0"/>
                <a:cs typeface="Times New Roman" panose="02020603050405020304" pitchFamily="18" charset="0"/>
              </a:rPr>
              <a:t>[</a:t>
            </a:r>
            <a:r>
              <a:rPr lang="en-US" altLang="zh-CN" sz="200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000" baseline="-25000" dirty="0">
                <a:solidFill>
                  <a:schemeClr val="tx1"/>
                </a:solidFill>
                <a:latin typeface="Times New Roman" panose="02020603050405020304" pitchFamily="18" charset="0"/>
                <a:cs typeface="Times New Roman" panose="02020603050405020304" pitchFamily="18" charset="0"/>
              </a:rPr>
              <a:t>0</a:t>
            </a:r>
            <a:r>
              <a:rPr lang="en-US" altLang="zh-CN" sz="2000" dirty="0">
                <a:solidFill>
                  <a:schemeClr val="tx1"/>
                </a:solidFill>
                <a:latin typeface="Times New Roman" panose="02020603050405020304" pitchFamily="18" charset="0"/>
                <a:cs typeface="Times New Roman" panose="02020603050405020304" pitchFamily="18" charset="0"/>
              </a:rPr>
              <a:t>(t–</a:t>
            </a:r>
            <a:r>
              <a:rPr lang="en-US" altLang="zh-CN" sz="200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000" dirty="0">
                <a:solidFill>
                  <a:schemeClr val="tx1"/>
                </a:solidFill>
                <a:latin typeface="Times New Roman" panose="02020603050405020304" pitchFamily="18" charset="0"/>
                <a:cs typeface="Times New Roman" panose="02020603050405020304" pitchFamily="18" charset="0"/>
              </a:rPr>
              <a:t>)] =</a:t>
            </a:r>
            <a:r>
              <a:rPr lang="en-US" altLang="zh-CN" sz="2000" dirty="0" err="1">
                <a:solidFill>
                  <a:schemeClr val="tx1"/>
                </a:solidFill>
                <a:latin typeface="Times New Roman" panose="02020603050405020304" pitchFamily="18" charset="0"/>
                <a:cs typeface="Times New Roman" panose="02020603050405020304" pitchFamily="18" charset="0"/>
              </a:rPr>
              <a:t>Vcos</a:t>
            </a:r>
            <a:r>
              <a:rPr lang="en-US" altLang="zh-CN" sz="2000" dirty="0">
                <a:solidFill>
                  <a:schemeClr val="tx1"/>
                </a:solidFill>
                <a:latin typeface="Times New Roman" panose="02020603050405020304" pitchFamily="18" charset="0"/>
                <a:cs typeface="Times New Roman" panose="02020603050405020304" pitchFamily="18" charset="0"/>
              </a:rPr>
              <a:t>[</a:t>
            </a:r>
            <a:r>
              <a:rPr lang="en-US" altLang="zh-CN" sz="200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000" baseline="-25000" dirty="0">
                <a:solidFill>
                  <a:schemeClr val="tx1"/>
                </a:solidFill>
                <a:latin typeface="Times New Roman" panose="02020603050405020304" pitchFamily="18" charset="0"/>
                <a:cs typeface="Times New Roman" panose="02020603050405020304" pitchFamily="18" charset="0"/>
              </a:rPr>
              <a:t>0</a:t>
            </a:r>
            <a:r>
              <a:rPr lang="en-US" altLang="zh-CN" sz="2000" dirty="0">
                <a:solidFill>
                  <a:schemeClr val="tx1"/>
                </a:solidFill>
                <a:latin typeface="Times New Roman" panose="02020603050405020304" pitchFamily="18" charset="0"/>
                <a:cs typeface="Times New Roman" panose="02020603050405020304" pitchFamily="18" charset="0"/>
              </a:rPr>
              <a:t>t–mp</a:t>
            </a:r>
            <a:r>
              <a:rPr lang="en-US" altLang="zh-CN" sz="200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000" baseline="-25000" dirty="0">
                <a:solidFill>
                  <a:schemeClr val="tx1"/>
                </a:solidFill>
                <a:latin typeface="Times New Roman" panose="02020603050405020304" pitchFamily="18" charset="0"/>
                <a:cs typeface="Times New Roman" panose="02020603050405020304" pitchFamily="18" charset="0"/>
              </a:rPr>
              <a:t>0</a:t>
            </a:r>
            <a:r>
              <a:rPr lang="en-US" altLang="zh-CN" sz="2000" dirty="0">
                <a:solidFill>
                  <a:schemeClr val="tx1"/>
                </a:solidFill>
                <a:latin typeface="Times New Roman" panose="02020603050405020304" pitchFamily="18" charset="0"/>
                <a:cs typeface="Times New Roman" panose="02020603050405020304" pitchFamily="18" charset="0"/>
              </a:rPr>
              <a:t>cos </a:t>
            </a:r>
            <a:r>
              <a:rPr lang="en-US" altLang="zh-CN" sz="2000" baseline="-2500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000" dirty="0">
                <a:solidFill>
                  <a:schemeClr val="tx1"/>
                </a:solidFill>
                <a:latin typeface="Times New Roman" panose="02020603050405020304" pitchFamily="18" charset="0"/>
                <a:cs typeface="Times New Roman" panose="02020603050405020304" pitchFamily="18" charset="0"/>
              </a:rPr>
              <a:t>t]	</a:t>
            </a:r>
          </a:p>
        </p:txBody>
      </p:sp>
    </p:spTree>
    <p:extLst>
      <p:ext uri="{BB962C8B-B14F-4D97-AF65-F5344CB8AC3E}">
        <p14:creationId xmlns:p14="http://schemas.microsoft.com/office/powerpoint/2010/main" val="2319758070"/>
      </p:ext>
    </p:extLst>
  </p:cSld>
  <p:clrMapOvr>
    <a:masterClrMapping/>
  </p:clrMapOvr>
  <p:timing>
    <p:tnLst>
      <p:par>
        <p:cTn id="1" dur="indefinite" restart="never" nodeType="tmRoot"/>
      </p:par>
    </p:tnLst>
  </p:timing>
</p:sld>
</file>

<file path=ppt/slides/slide2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291</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11"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7.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角度调制</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与</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解调</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2" name="矩形 72709">
            <a:extLst>
              <a:ext uri="{FF2B5EF4-FFF2-40B4-BE49-F238E27FC236}">
                <a16:creationId xmlns="" xmlns:a16="http://schemas.microsoft.com/office/drawing/2014/main" id="{9387142B-5A9A-5F81-65CE-C8B9E366E8CC}"/>
              </a:ext>
            </a:extLst>
          </p:cNvPr>
          <p:cNvSpPr>
            <a:spLocks noChangeArrowheads="1"/>
          </p:cNvSpPr>
          <p:nvPr/>
        </p:nvSpPr>
        <p:spPr bwMode="auto">
          <a:xfrm>
            <a:off x="506355" y="1255656"/>
            <a:ext cx="418896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r>
              <a:rPr lang="en-US" altLang="zh-CN" sz="2000" dirty="0">
                <a:latin typeface="+mn-ea"/>
                <a:ea typeface="+mn-ea"/>
              </a:rPr>
              <a:t>3. </a:t>
            </a:r>
            <a:r>
              <a:rPr lang="zh-CN" altLang="en-US" sz="2000" dirty="0">
                <a:latin typeface="+mn-ea"/>
                <a:ea typeface="+mn-ea"/>
              </a:rPr>
              <a:t>矢量合成调相法</a:t>
            </a:r>
            <a:r>
              <a:rPr lang="en-US" altLang="zh-CN" sz="2000" dirty="0">
                <a:latin typeface="+mn-ea"/>
                <a:ea typeface="+mn-ea"/>
              </a:rPr>
              <a:t>(</a:t>
            </a:r>
            <a:r>
              <a:rPr lang="zh-CN" altLang="en-US" sz="2000" dirty="0">
                <a:latin typeface="+mn-ea"/>
                <a:ea typeface="+mn-ea"/>
              </a:rPr>
              <a:t>阿姆斯特朗法</a:t>
            </a:r>
            <a:r>
              <a:rPr lang="en-US" altLang="zh-CN" sz="2000" dirty="0">
                <a:latin typeface="+mn-ea"/>
                <a:ea typeface="+mn-ea"/>
              </a:rPr>
              <a:t>)</a:t>
            </a:r>
          </a:p>
        </p:txBody>
      </p:sp>
      <p:pic>
        <p:nvPicPr>
          <p:cNvPr id="13" name="图片 12">
            <a:extLst>
              <a:ext uri="{FF2B5EF4-FFF2-40B4-BE49-F238E27FC236}">
                <a16:creationId xmlns="" xmlns:a16="http://schemas.microsoft.com/office/drawing/2014/main" id="{34D68B95-CE2F-3141-B4B8-4F6C9099184B}"/>
              </a:ext>
            </a:extLst>
          </p:cNvPr>
          <p:cNvPicPr>
            <a:picLocks noChangeAspect="1"/>
          </p:cNvPicPr>
          <p:nvPr/>
        </p:nvPicPr>
        <p:blipFill>
          <a:blip r:embed="rId2"/>
          <a:stretch>
            <a:fillRect/>
          </a:stretch>
        </p:blipFill>
        <p:spPr>
          <a:xfrm>
            <a:off x="1109066" y="1772816"/>
            <a:ext cx="6925867" cy="4416013"/>
          </a:xfrm>
          <a:prstGeom prst="rect">
            <a:avLst/>
          </a:prstGeom>
        </p:spPr>
      </p:pic>
    </p:spTree>
    <p:extLst>
      <p:ext uri="{BB962C8B-B14F-4D97-AF65-F5344CB8AC3E}">
        <p14:creationId xmlns:p14="http://schemas.microsoft.com/office/powerpoint/2010/main" val="1555238778"/>
      </p:ext>
    </p:extLst>
  </p:cSld>
  <p:clrMapOvr>
    <a:masterClrMapping/>
  </p:clrMapOvr>
  <p:timing>
    <p:tnLst>
      <p:par>
        <p:cTn id="1" dur="indefinite" restart="never" nodeType="tmRoot"/>
      </p:par>
    </p:tnLst>
  </p:timing>
</p:sld>
</file>

<file path=ppt/slides/slide2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292</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11"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7.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角度调制</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与</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解调</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文本框 74754">
            <a:extLst>
              <a:ext uri="{FF2B5EF4-FFF2-40B4-BE49-F238E27FC236}">
                <a16:creationId xmlns="" xmlns:a16="http://schemas.microsoft.com/office/drawing/2014/main" id="{5B83CBA1-BB5C-29BA-0557-D7F5F8D2F7E4}"/>
              </a:ext>
            </a:extLst>
          </p:cNvPr>
          <p:cNvSpPr txBox="1">
            <a:spLocks noChangeArrowheads="1"/>
          </p:cNvSpPr>
          <p:nvPr/>
        </p:nvSpPr>
        <p:spPr bwMode="auto">
          <a:xfrm>
            <a:off x="395536" y="1412776"/>
            <a:ext cx="238078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r>
              <a:rPr lang="en-US" altLang="zh-CN" sz="2000" b="1" dirty="0">
                <a:solidFill>
                  <a:schemeClr val="accent2"/>
                </a:solidFill>
                <a:latin typeface="+mn-ea"/>
                <a:ea typeface="+mn-ea"/>
              </a:rPr>
              <a:t>4. </a:t>
            </a:r>
            <a:r>
              <a:rPr lang="zh-CN" altLang="en-US" sz="2000" b="1" dirty="0">
                <a:solidFill>
                  <a:schemeClr val="accent2"/>
                </a:solidFill>
                <a:latin typeface="+mn-ea"/>
                <a:ea typeface="+mn-ea"/>
              </a:rPr>
              <a:t>间接调频的实现</a:t>
            </a:r>
          </a:p>
        </p:txBody>
      </p:sp>
      <p:sp>
        <p:nvSpPr>
          <p:cNvPr id="4" name="矩形 3"/>
          <p:cNvSpPr/>
          <p:nvPr/>
        </p:nvSpPr>
        <p:spPr>
          <a:xfrm>
            <a:off x="805879" y="1812886"/>
            <a:ext cx="3438762" cy="424732"/>
          </a:xfrm>
          <a:prstGeom prst="rect">
            <a:avLst/>
          </a:prstGeom>
        </p:spPr>
        <p:txBody>
          <a:bodyPr wrap="none">
            <a:spAutoFit/>
          </a:bodyPr>
          <a:lstStyle/>
          <a:p>
            <a:pPr>
              <a:lnSpc>
                <a:spcPct val="120000"/>
              </a:lnSpc>
              <a:buFont typeface="Times New Roman" panose="02020603050405020304" pitchFamily="18" charset="0"/>
              <a:buNone/>
            </a:pPr>
            <a:r>
              <a:rPr lang="zh-CN" altLang="en-US" b="1" kern="0" dirty="0"/>
              <a:t>间接调频：变调相波为调频波。</a:t>
            </a:r>
            <a:endParaRPr lang="zh-CN" altLang="en-US" b="1" kern="0" dirty="0"/>
          </a:p>
        </p:txBody>
      </p:sp>
      <p:pic>
        <p:nvPicPr>
          <p:cNvPr id="9" name="图片 76803" descr="112.wmf">
            <a:extLst>
              <a:ext uri="{FF2B5EF4-FFF2-40B4-BE49-F238E27FC236}">
                <a16:creationId xmlns="" xmlns:a16="http://schemas.microsoft.com/office/drawing/2014/main" id="{BBA1A5B2-EDF8-E6B9-FD68-D7C43EDB46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52550" y="2240974"/>
            <a:ext cx="6677414" cy="3358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文本框 76804">
            <a:extLst>
              <a:ext uri="{FF2B5EF4-FFF2-40B4-BE49-F238E27FC236}">
                <a16:creationId xmlns="" xmlns:a16="http://schemas.microsoft.com/office/drawing/2014/main" id="{C05E53BD-DBC1-7170-AF51-92B042210229}"/>
              </a:ext>
            </a:extLst>
          </p:cNvPr>
          <p:cNvSpPr txBox="1">
            <a:spLocks noChangeArrowheads="1"/>
          </p:cNvSpPr>
          <p:nvPr/>
        </p:nvSpPr>
        <p:spPr bwMode="auto">
          <a:xfrm>
            <a:off x="2987824" y="5798481"/>
            <a:ext cx="380264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r>
              <a:rPr lang="zh-CN" altLang="en-US" sz="2000" b="1">
                <a:solidFill>
                  <a:schemeClr val="tx1"/>
                </a:solidFill>
                <a:latin typeface="+mn-ea"/>
                <a:ea typeface="+mn-ea"/>
              </a:rPr>
              <a:t>图</a:t>
            </a:r>
            <a:r>
              <a:rPr lang="en-US" altLang="zh-CN" sz="2000" b="1">
                <a:solidFill>
                  <a:schemeClr val="tx1"/>
                </a:solidFill>
                <a:latin typeface="+mn-ea"/>
                <a:ea typeface="+mn-ea"/>
              </a:rPr>
              <a:t>7-17  </a:t>
            </a:r>
            <a:r>
              <a:rPr lang="zh-CN" altLang="en-US" sz="2000" b="1">
                <a:solidFill>
                  <a:schemeClr val="tx1"/>
                </a:solidFill>
                <a:latin typeface="+mn-ea"/>
                <a:ea typeface="+mn-ea"/>
              </a:rPr>
              <a:t>间接调频的典型方框图</a:t>
            </a:r>
          </a:p>
        </p:txBody>
      </p:sp>
    </p:spTree>
    <p:extLst>
      <p:ext uri="{BB962C8B-B14F-4D97-AF65-F5344CB8AC3E}">
        <p14:creationId xmlns:p14="http://schemas.microsoft.com/office/powerpoint/2010/main" val="1893984195"/>
      </p:ext>
    </p:extLst>
  </p:cSld>
  <p:clrMapOvr>
    <a:masterClrMapping/>
  </p:clrMapOvr>
  <p:timing>
    <p:tnLst>
      <p:par>
        <p:cTn id="1" dur="indefinite" restart="never" nodeType="tmRoot"/>
      </p:par>
    </p:tnLst>
  </p:timing>
</p:sld>
</file>

<file path=ppt/slides/slide2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293</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11"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7.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角度调制</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与</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解调</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文本框 78849">
            <a:extLst>
              <a:ext uri="{FF2B5EF4-FFF2-40B4-BE49-F238E27FC236}">
                <a16:creationId xmlns="" xmlns:a16="http://schemas.microsoft.com/office/drawing/2014/main" id="{856BCE2C-C095-3F8C-CF56-4D53CD518821}"/>
              </a:ext>
            </a:extLst>
          </p:cNvPr>
          <p:cNvSpPr txBox="1">
            <a:spLocks noChangeArrowheads="1"/>
          </p:cNvSpPr>
          <p:nvPr/>
        </p:nvSpPr>
        <p:spPr bwMode="auto">
          <a:xfrm>
            <a:off x="351921" y="1360190"/>
            <a:ext cx="5686172"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r>
              <a:rPr lang="en-US" altLang="zh-CN" sz="2200" dirty="0">
                <a:solidFill>
                  <a:schemeClr val="tx1"/>
                </a:solidFill>
                <a:latin typeface="+mn-ea"/>
                <a:ea typeface="+mn-ea"/>
              </a:rPr>
              <a:t> </a:t>
            </a:r>
            <a:r>
              <a:rPr lang="zh-CN" altLang="en-US" sz="2200" dirty="0">
                <a:solidFill>
                  <a:schemeClr val="tx1"/>
                </a:solidFill>
                <a:latin typeface="+mn-ea"/>
                <a:ea typeface="+mn-ea"/>
              </a:rPr>
              <a:t>一、鉴频方法概述和鉴频器的主要技术指标</a:t>
            </a:r>
          </a:p>
          <a:p>
            <a:endParaRPr lang="zh-CN" altLang="en-US" sz="2200" dirty="0">
              <a:solidFill>
                <a:schemeClr val="tx1"/>
              </a:solidFill>
              <a:latin typeface="+mn-ea"/>
              <a:ea typeface="+mn-ea"/>
            </a:endParaRPr>
          </a:p>
        </p:txBody>
      </p:sp>
      <p:sp>
        <p:nvSpPr>
          <p:cNvPr id="6" name="文本框 78850">
            <a:extLst>
              <a:ext uri="{FF2B5EF4-FFF2-40B4-BE49-F238E27FC236}">
                <a16:creationId xmlns="" xmlns:a16="http://schemas.microsoft.com/office/drawing/2014/main" id="{A5C163D7-5DE1-686F-244B-32523D8C79DA}"/>
              </a:ext>
            </a:extLst>
          </p:cNvPr>
          <p:cNvSpPr txBox="1">
            <a:spLocks noChangeArrowheads="1"/>
          </p:cNvSpPr>
          <p:nvPr/>
        </p:nvSpPr>
        <p:spPr bwMode="auto">
          <a:xfrm>
            <a:off x="499699" y="1744910"/>
            <a:ext cx="236955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r>
              <a:rPr lang="en-US" altLang="zh-CN" sz="2000" dirty="0">
                <a:solidFill>
                  <a:schemeClr val="accent2"/>
                </a:solidFill>
                <a:latin typeface="+mn-ea"/>
                <a:ea typeface="+mn-ea"/>
              </a:rPr>
              <a:t>1. </a:t>
            </a:r>
            <a:r>
              <a:rPr lang="zh-CN" altLang="en-US" sz="2000" dirty="0">
                <a:solidFill>
                  <a:schemeClr val="accent2"/>
                </a:solidFill>
                <a:latin typeface="+mn-ea"/>
                <a:ea typeface="+mn-ea"/>
              </a:rPr>
              <a:t>实现鉴频的方法</a:t>
            </a:r>
          </a:p>
        </p:txBody>
      </p:sp>
      <p:sp>
        <p:nvSpPr>
          <p:cNvPr id="7" name="文本框 78851">
            <a:extLst>
              <a:ext uri="{FF2B5EF4-FFF2-40B4-BE49-F238E27FC236}">
                <a16:creationId xmlns="" xmlns:a16="http://schemas.microsoft.com/office/drawing/2014/main" id="{D02324F3-531D-D2C8-FF5E-E0FB6352DA9B}"/>
              </a:ext>
            </a:extLst>
          </p:cNvPr>
          <p:cNvSpPr txBox="1">
            <a:spLocks noChangeArrowheads="1"/>
          </p:cNvSpPr>
          <p:nvPr/>
        </p:nvSpPr>
        <p:spPr bwMode="auto">
          <a:xfrm>
            <a:off x="499699" y="2076737"/>
            <a:ext cx="8198815" cy="20425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p>
            <a:pPr>
              <a:lnSpc>
                <a:spcPct val="120000"/>
              </a:lnSpc>
            </a:pPr>
            <a:r>
              <a:rPr lang="en-US" altLang="zh-CN" dirty="0">
                <a:solidFill>
                  <a:schemeClr val="tx1"/>
                </a:solidFill>
                <a:latin typeface="+mn-ea"/>
                <a:ea typeface="+mn-ea"/>
              </a:rPr>
              <a:t>    </a:t>
            </a:r>
            <a:r>
              <a:rPr lang="zh-CN" altLang="en-US" dirty="0">
                <a:solidFill>
                  <a:schemeClr val="tx1"/>
                </a:solidFill>
                <a:latin typeface="+mn-ea"/>
                <a:ea typeface="+mn-ea"/>
              </a:rPr>
              <a:t>实现鉴频的方法很多，但常用的方法有以下几种：</a:t>
            </a:r>
          </a:p>
          <a:p>
            <a:pPr>
              <a:lnSpc>
                <a:spcPct val="120000"/>
              </a:lnSpc>
            </a:pPr>
            <a:r>
              <a:rPr lang="zh-CN" altLang="en-US" dirty="0">
                <a:solidFill>
                  <a:schemeClr val="tx1"/>
                </a:solidFill>
                <a:latin typeface="+mn-ea"/>
                <a:ea typeface="+mn-ea"/>
              </a:rPr>
              <a:t>    </a:t>
            </a:r>
            <a:r>
              <a:rPr lang="en-US" altLang="zh-CN" dirty="0">
                <a:solidFill>
                  <a:srgbClr val="FF0000"/>
                </a:solidFill>
                <a:latin typeface="+mn-ea"/>
                <a:ea typeface="+mn-ea"/>
              </a:rPr>
              <a:t>(1) </a:t>
            </a:r>
            <a:r>
              <a:rPr lang="zh-CN" altLang="en-US" dirty="0">
                <a:solidFill>
                  <a:srgbClr val="FF0000"/>
                </a:solidFill>
                <a:latin typeface="+mn-ea"/>
                <a:ea typeface="+mn-ea"/>
              </a:rPr>
              <a:t>利用波形变换进行鉴频</a:t>
            </a:r>
          </a:p>
          <a:p>
            <a:pPr>
              <a:lnSpc>
                <a:spcPct val="120000"/>
              </a:lnSpc>
            </a:pPr>
            <a:r>
              <a:rPr lang="zh-CN" altLang="en-US" dirty="0">
                <a:solidFill>
                  <a:schemeClr val="tx1"/>
                </a:solidFill>
                <a:latin typeface="+mn-ea"/>
                <a:ea typeface="+mn-ea"/>
              </a:rPr>
              <a:t>    将调频信号先通过一个线性变换网络，使</a:t>
            </a:r>
            <a:r>
              <a:rPr lang="zh-CN" altLang="en-US" dirty="0">
                <a:solidFill>
                  <a:srgbClr val="FF0000"/>
                </a:solidFill>
                <a:latin typeface="+mn-ea"/>
                <a:ea typeface="+mn-ea"/>
              </a:rPr>
              <a:t>调频波变换</a:t>
            </a:r>
            <a:r>
              <a:rPr lang="zh-CN" altLang="en-US" dirty="0" smtClean="0">
                <a:solidFill>
                  <a:srgbClr val="FF0000"/>
                </a:solidFill>
                <a:latin typeface="+mn-ea"/>
                <a:ea typeface="+mn-ea"/>
              </a:rPr>
              <a:t>成调频</a:t>
            </a:r>
            <a:r>
              <a:rPr lang="zh-CN" altLang="en-US" dirty="0">
                <a:solidFill>
                  <a:srgbClr val="FF0000"/>
                </a:solidFill>
                <a:latin typeface="+mn-ea"/>
                <a:ea typeface="+mn-ea"/>
              </a:rPr>
              <a:t>调幅波</a:t>
            </a:r>
            <a:r>
              <a:rPr lang="zh-CN" altLang="en-US" dirty="0">
                <a:solidFill>
                  <a:schemeClr val="tx1"/>
                </a:solidFill>
                <a:latin typeface="+mn-ea"/>
                <a:ea typeface="+mn-ea"/>
              </a:rPr>
              <a:t>，其幅度正比于瞬时频率的变化，经变换网络</a:t>
            </a:r>
            <a:r>
              <a:rPr lang="zh-CN" altLang="en-US" dirty="0" smtClean="0">
                <a:solidFill>
                  <a:schemeClr val="tx1"/>
                </a:solidFill>
                <a:latin typeface="+mn-ea"/>
                <a:ea typeface="+mn-ea"/>
              </a:rPr>
              <a:t>输出</a:t>
            </a:r>
            <a:r>
              <a:rPr lang="zh-CN" altLang="en-US" dirty="0">
                <a:solidFill>
                  <a:schemeClr val="tx1"/>
                </a:solidFill>
                <a:latin typeface="+mn-ea"/>
                <a:ea typeface="+mn-ea"/>
              </a:rPr>
              <a:t>的调频调幅信号再作振幅检波即可恢复出原调制信号，</a:t>
            </a:r>
            <a:r>
              <a:rPr lang="zh-CN" altLang="en-US" dirty="0" smtClean="0">
                <a:solidFill>
                  <a:schemeClr val="tx1"/>
                </a:solidFill>
                <a:latin typeface="+mn-ea"/>
                <a:ea typeface="+mn-ea"/>
              </a:rPr>
              <a:t>斜率</a:t>
            </a:r>
            <a:r>
              <a:rPr lang="zh-CN" altLang="en-US" dirty="0">
                <a:solidFill>
                  <a:schemeClr val="tx1"/>
                </a:solidFill>
                <a:latin typeface="+mn-ea"/>
                <a:ea typeface="+mn-ea"/>
              </a:rPr>
              <a:t>鉴频</a:t>
            </a:r>
            <a:r>
              <a:rPr lang="en-US" altLang="zh-CN" dirty="0">
                <a:solidFill>
                  <a:schemeClr val="tx1"/>
                </a:solidFill>
                <a:latin typeface="+mn-ea"/>
                <a:ea typeface="+mn-ea"/>
              </a:rPr>
              <a:t>(</a:t>
            </a:r>
            <a:r>
              <a:rPr lang="zh-CN" altLang="en-US" dirty="0">
                <a:solidFill>
                  <a:schemeClr val="tx1"/>
                </a:solidFill>
                <a:latin typeface="+mn-ea"/>
                <a:ea typeface="+mn-ea"/>
              </a:rPr>
              <a:t>即失谐回路鉴频</a:t>
            </a:r>
            <a:r>
              <a:rPr lang="en-US" altLang="zh-CN" dirty="0">
                <a:solidFill>
                  <a:schemeClr val="tx1"/>
                </a:solidFill>
                <a:latin typeface="+mn-ea"/>
                <a:ea typeface="+mn-ea"/>
              </a:rPr>
              <a:t>)</a:t>
            </a:r>
            <a:r>
              <a:rPr lang="zh-CN" altLang="en-US" dirty="0">
                <a:solidFill>
                  <a:schemeClr val="tx1"/>
                </a:solidFill>
                <a:latin typeface="+mn-ea"/>
                <a:ea typeface="+mn-ea"/>
              </a:rPr>
              <a:t>、相位鉴频等均属于此类。其</a:t>
            </a:r>
            <a:r>
              <a:rPr lang="zh-CN" altLang="en-US" dirty="0" smtClean="0">
                <a:solidFill>
                  <a:schemeClr val="tx1"/>
                </a:solidFill>
                <a:latin typeface="+mn-ea"/>
                <a:ea typeface="+mn-ea"/>
              </a:rPr>
              <a:t>方框图</a:t>
            </a:r>
            <a:r>
              <a:rPr lang="zh-CN" altLang="en-US" dirty="0">
                <a:solidFill>
                  <a:schemeClr val="tx1"/>
                </a:solidFill>
                <a:latin typeface="+mn-ea"/>
                <a:ea typeface="+mn-ea"/>
              </a:rPr>
              <a:t>和波形图见图</a:t>
            </a:r>
            <a:r>
              <a:rPr lang="en-US" altLang="zh-CN" dirty="0">
                <a:solidFill>
                  <a:schemeClr val="tx1"/>
                </a:solidFill>
                <a:latin typeface="+mn-ea"/>
                <a:ea typeface="+mn-ea"/>
              </a:rPr>
              <a:t>7-18</a:t>
            </a:r>
            <a:r>
              <a:rPr lang="zh-CN" altLang="en-US" dirty="0">
                <a:solidFill>
                  <a:schemeClr val="tx1"/>
                </a:solidFill>
                <a:latin typeface="+mn-ea"/>
                <a:ea typeface="+mn-ea"/>
              </a:rPr>
              <a:t>。</a:t>
            </a:r>
          </a:p>
        </p:txBody>
      </p:sp>
      <p:pic>
        <p:nvPicPr>
          <p:cNvPr id="8" name="图片 79874" descr="113.png">
            <a:extLst>
              <a:ext uri="{FF2B5EF4-FFF2-40B4-BE49-F238E27FC236}">
                <a16:creationId xmlns="" xmlns:a16="http://schemas.microsoft.com/office/drawing/2014/main" id="{1B9AFE79-EA0E-2EB1-5A93-C7A9B558BCE1}"/>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814699" y="3628482"/>
            <a:ext cx="2798675" cy="3127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39913111"/>
      </p:ext>
    </p:extLst>
  </p:cSld>
  <p:clrMapOvr>
    <a:masterClrMapping/>
  </p:clrMapOvr>
  <p:timing>
    <p:tnLst>
      <p:par>
        <p:cTn id="1" dur="indefinite" restart="never" nodeType="tmRoot"/>
      </p:par>
    </p:tnLst>
  </p:timing>
</p:sld>
</file>

<file path=ppt/slides/slide2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294</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11"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7.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角度调制</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与</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解调</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文本框 80897">
            <a:extLst>
              <a:ext uri="{FF2B5EF4-FFF2-40B4-BE49-F238E27FC236}">
                <a16:creationId xmlns="" xmlns:a16="http://schemas.microsoft.com/office/drawing/2014/main" id="{823F3319-1AE4-4356-5EB3-557587CC43EB}"/>
              </a:ext>
            </a:extLst>
          </p:cNvPr>
          <p:cNvSpPr txBox="1">
            <a:spLocks noChangeArrowheads="1"/>
          </p:cNvSpPr>
          <p:nvPr/>
        </p:nvSpPr>
        <p:spPr bwMode="auto">
          <a:xfrm>
            <a:off x="317098" y="1300949"/>
            <a:ext cx="209544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r>
              <a:rPr lang="en-US" altLang="zh-CN" sz="2000" dirty="0">
                <a:solidFill>
                  <a:srgbClr val="FF0000"/>
                </a:solidFill>
                <a:latin typeface="Times New Roman" panose="02020603050405020304" pitchFamily="18" charset="0"/>
                <a:cs typeface="Times New Roman" panose="02020603050405020304" pitchFamily="18" charset="0"/>
              </a:rPr>
              <a:t>(2) </a:t>
            </a:r>
            <a:r>
              <a:rPr lang="zh-CN" altLang="en-US" sz="2000" dirty="0">
                <a:solidFill>
                  <a:srgbClr val="FF0000"/>
                </a:solidFill>
                <a:latin typeface="Times New Roman" panose="02020603050405020304" pitchFamily="18" charset="0"/>
                <a:cs typeface="Times New Roman" panose="02020603050405020304" pitchFamily="18" charset="0"/>
              </a:rPr>
              <a:t>相移乘法鉴频</a:t>
            </a:r>
          </a:p>
        </p:txBody>
      </p:sp>
      <p:sp>
        <p:nvSpPr>
          <p:cNvPr id="6" name="文本框 80898">
            <a:extLst>
              <a:ext uri="{FF2B5EF4-FFF2-40B4-BE49-F238E27FC236}">
                <a16:creationId xmlns="" xmlns:a16="http://schemas.microsoft.com/office/drawing/2014/main" id="{47CA8611-548F-D544-3F35-06BA4DA341B6}"/>
              </a:ext>
            </a:extLst>
          </p:cNvPr>
          <p:cNvSpPr txBox="1">
            <a:spLocks noChangeArrowheads="1"/>
          </p:cNvSpPr>
          <p:nvPr/>
        </p:nvSpPr>
        <p:spPr bwMode="auto">
          <a:xfrm>
            <a:off x="357798" y="1628622"/>
            <a:ext cx="8424862" cy="1390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a:lnSpc>
                <a:spcPct val="120000"/>
              </a:lnSpc>
            </a:pPr>
            <a:r>
              <a:rPr lang="en-US" altLang="zh-CN" dirty="0">
                <a:solidFill>
                  <a:schemeClr val="tx1"/>
                </a:solidFill>
                <a:latin typeface="Times New Roman" panose="02020603050405020304" pitchFamily="18" charset="0"/>
                <a:cs typeface="Times New Roman" panose="02020603050405020304" pitchFamily="18" charset="0"/>
              </a:rPr>
              <a:t>    </a:t>
            </a:r>
            <a:r>
              <a:rPr lang="zh-CN" altLang="en-US" dirty="0">
                <a:solidFill>
                  <a:schemeClr val="tx1"/>
                </a:solidFill>
                <a:latin typeface="Times New Roman" panose="02020603050405020304" pitchFamily="18" charset="0"/>
                <a:cs typeface="Times New Roman" panose="02020603050405020304" pitchFamily="18" charset="0"/>
              </a:rPr>
              <a:t>这种鉴频的原理是：将调频波经过移相电路变成</a:t>
            </a:r>
            <a:r>
              <a:rPr lang="zh-CN" altLang="en-US" dirty="0">
                <a:solidFill>
                  <a:srgbClr val="FF0000"/>
                </a:solidFill>
                <a:latin typeface="Times New Roman" panose="02020603050405020304" pitchFamily="18" charset="0"/>
                <a:cs typeface="Times New Roman" panose="02020603050405020304" pitchFamily="18" charset="0"/>
              </a:rPr>
              <a:t>调频调相波</a:t>
            </a:r>
            <a:r>
              <a:rPr lang="zh-CN" altLang="en-US" dirty="0">
                <a:solidFill>
                  <a:schemeClr val="tx1"/>
                </a:solidFill>
                <a:latin typeface="Times New Roman" panose="02020603050405020304" pitchFamily="18" charset="0"/>
                <a:cs typeface="Times New Roman" panose="02020603050405020304" pitchFamily="18" charset="0"/>
              </a:rPr>
              <a:t>，其相位的变化正好与调频波瞬时频率的变化成线性关系；然后将此调频调相波与未相移的调频波</a:t>
            </a:r>
            <a:r>
              <a:rPr lang="en-US" altLang="zh-CN" dirty="0">
                <a:solidFill>
                  <a:schemeClr val="tx1"/>
                </a:solidFill>
                <a:latin typeface="Times New Roman" panose="02020603050405020304" pitchFamily="18" charset="0"/>
                <a:cs typeface="Times New Roman" panose="02020603050405020304" pitchFamily="18" charset="0"/>
              </a:rPr>
              <a:t>(</a:t>
            </a:r>
            <a:r>
              <a:rPr lang="zh-CN" altLang="en-US" dirty="0">
                <a:solidFill>
                  <a:schemeClr val="tx1"/>
                </a:solidFill>
                <a:latin typeface="Times New Roman" panose="02020603050405020304" pitchFamily="18" charset="0"/>
                <a:cs typeface="Times New Roman" panose="02020603050405020304" pitchFamily="18" charset="0"/>
              </a:rPr>
              <a:t>为参考信号</a:t>
            </a:r>
            <a:r>
              <a:rPr lang="en-US" altLang="zh-CN" dirty="0">
                <a:solidFill>
                  <a:schemeClr val="tx1"/>
                </a:solidFill>
                <a:latin typeface="Times New Roman" panose="02020603050405020304" pitchFamily="18" charset="0"/>
                <a:cs typeface="Times New Roman" panose="02020603050405020304" pitchFamily="18" charset="0"/>
              </a:rPr>
              <a:t>)</a:t>
            </a:r>
            <a:r>
              <a:rPr lang="zh-CN" altLang="en-US" dirty="0">
                <a:solidFill>
                  <a:schemeClr val="tx1"/>
                </a:solidFill>
                <a:latin typeface="Times New Roman" panose="02020603050405020304" pitchFamily="18" charset="0"/>
                <a:cs typeface="Times New Roman" panose="02020603050405020304" pitchFamily="18" charset="0"/>
              </a:rPr>
              <a:t>进行相位比较，即可得到鉴频电路的解调输出。由于相位比较器一般都选用乘法电路，所以此类鉴频电路就称为相移乘法电路。 </a:t>
            </a:r>
          </a:p>
        </p:txBody>
      </p:sp>
      <p:sp>
        <p:nvSpPr>
          <p:cNvPr id="7" name="文本框 80899">
            <a:extLst>
              <a:ext uri="{FF2B5EF4-FFF2-40B4-BE49-F238E27FC236}">
                <a16:creationId xmlns="" xmlns:a16="http://schemas.microsoft.com/office/drawing/2014/main" id="{060F2010-69CE-3D73-5344-D97D843452C3}"/>
              </a:ext>
            </a:extLst>
          </p:cNvPr>
          <p:cNvSpPr txBox="1">
            <a:spLocks noChangeArrowheads="1"/>
          </p:cNvSpPr>
          <p:nvPr/>
        </p:nvSpPr>
        <p:spPr bwMode="auto">
          <a:xfrm>
            <a:off x="6054345" y="2649414"/>
            <a:ext cx="291618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r>
              <a:rPr lang="zh-CN" altLang="en-US" dirty="0">
                <a:solidFill>
                  <a:schemeClr val="tx1"/>
                </a:solidFill>
                <a:latin typeface="Times New Roman" panose="02020603050405020304" pitchFamily="18" charset="0"/>
                <a:cs typeface="Times New Roman" panose="02020603050405020304" pitchFamily="18" charset="0"/>
              </a:rPr>
              <a:t>其组成框图如图</a:t>
            </a:r>
            <a:r>
              <a:rPr lang="en-US" altLang="zh-CN" dirty="0">
                <a:solidFill>
                  <a:schemeClr val="tx1"/>
                </a:solidFill>
                <a:latin typeface="Times New Roman" panose="02020603050405020304" pitchFamily="18" charset="0"/>
                <a:cs typeface="Times New Roman" panose="02020603050405020304" pitchFamily="18" charset="0"/>
              </a:rPr>
              <a:t>7-19</a:t>
            </a:r>
            <a:r>
              <a:rPr lang="zh-CN" altLang="en-US" dirty="0">
                <a:solidFill>
                  <a:schemeClr val="tx1"/>
                </a:solidFill>
                <a:latin typeface="Times New Roman" panose="02020603050405020304" pitchFamily="18" charset="0"/>
                <a:cs typeface="Times New Roman" panose="02020603050405020304" pitchFamily="18" charset="0"/>
              </a:rPr>
              <a:t>所示。</a:t>
            </a:r>
          </a:p>
        </p:txBody>
      </p:sp>
      <p:pic>
        <p:nvPicPr>
          <p:cNvPr id="9" name="图片 81922" descr="114.wmf">
            <a:extLst>
              <a:ext uri="{FF2B5EF4-FFF2-40B4-BE49-F238E27FC236}">
                <a16:creationId xmlns="" xmlns:a16="http://schemas.microsoft.com/office/drawing/2014/main" id="{724FA263-0855-114C-417C-3E02A45D036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31009" y="3151289"/>
            <a:ext cx="6281427" cy="16045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文本框 81923">
            <a:extLst>
              <a:ext uri="{FF2B5EF4-FFF2-40B4-BE49-F238E27FC236}">
                <a16:creationId xmlns="" xmlns:a16="http://schemas.microsoft.com/office/drawing/2014/main" id="{6C65F859-AEB0-F0BE-3A0B-36F64D8E86D4}"/>
              </a:ext>
            </a:extLst>
          </p:cNvPr>
          <p:cNvSpPr txBox="1">
            <a:spLocks noChangeArrowheads="1"/>
          </p:cNvSpPr>
          <p:nvPr/>
        </p:nvSpPr>
        <p:spPr bwMode="auto">
          <a:xfrm>
            <a:off x="2894394" y="4888353"/>
            <a:ext cx="295465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1pPr>
            <a:lvl2pPr marL="742950" indent="-28575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2pPr>
            <a:lvl3pPr marL="11430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3pPr>
            <a:lvl4pPr marL="16002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4pPr>
            <a:lvl5pPr marL="20574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800" dirty="0">
                <a:latin typeface="+mn-ea"/>
                <a:ea typeface="+mn-ea"/>
              </a:rPr>
              <a:t>图</a:t>
            </a:r>
            <a:r>
              <a:rPr lang="en-US" altLang="zh-CN" sz="1800" dirty="0">
                <a:latin typeface="+mn-ea"/>
                <a:ea typeface="+mn-ea"/>
              </a:rPr>
              <a:t>7-19  </a:t>
            </a:r>
            <a:r>
              <a:rPr lang="zh-CN" altLang="en-US" sz="1800" dirty="0">
                <a:latin typeface="+mn-ea"/>
                <a:ea typeface="+mn-ea"/>
              </a:rPr>
              <a:t>相移乘法鉴频框图</a:t>
            </a:r>
          </a:p>
        </p:txBody>
      </p:sp>
      <p:sp>
        <p:nvSpPr>
          <p:cNvPr id="12" name="文本框 81924">
            <a:extLst>
              <a:ext uri="{FF2B5EF4-FFF2-40B4-BE49-F238E27FC236}">
                <a16:creationId xmlns="" xmlns:a16="http://schemas.microsoft.com/office/drawing/2014/main" id="{9A9E79B5-F2D6-2CAB-C606-B9418F1EEE93}"/>
              </a:ext>
            </a:extLst>
          </p:cNvPr>
          <p:cNvSpPr txBox="1">
            <a:spLocks noChangeArrowheads="1"/>
          </p:cNvSpPr>
          <p:nvPr/>
        </p:nvSpPr>
        <p:spPr bwMode="auto">
          <a:xfrm>
            <a:off x="451832" y="5390228"/>
            <a:ext cx="8064500" cy="8679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1pPr>
            <a:lvl2pPr marL="742950" indent="-28575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2pPr>
            <a:lvl3pPr marL="11430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3pPr>
            <a:lvl4pPr marL="16002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4pPr>
            <a:lvl5pPr marL="20574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9pPr>
          </a:lstStyle>
          <a:p>
            <a:pPr eaLnBrk="1" hangingPunct="1">
              <a:lnSpc>
                <a:spcPct val="140000"/>
              </a:lnSpc>
            </a:pPr>
            <a:r>
              <a:rPr lang="en-US" altLang="zh-CN" sz="1800" dirty="0">
                <a:latin typeface="+mn-ea"/>
                <a:ea typeface="+mn-ea"/>
              </a:rPr>
              <a:t>    </a:t>
            </a:r>
            <a:r>
              <a:rPr lang="zh-CN" altLang="en-US" sz="1800" dirty="0">
                <a:latin typeface="+mn-ea"/>
                <a:ea typeface="+mn-ea"/>
              </a:rPr>
              <a:t>这种鉴频电路在集成电路中被广泛应用，其主要特点是性能良好，片外电路十分简单，通常只有一个可调电感，调整非常方便。</a:t>
            </a:r>
          </a:p>
        </p:txBody>
      </p:sp>
    </p:spTree>
    <p:extLst>
      <p:ext uri="{BB962C8B-B14F-4D97-AF65-F5344CB8AC3E}">
        <p14:creationId xmlns:p14="http://schemas.microsoft.com/office/powerpoint/2010/main" val="674540469"/>
      </p:ext>
    </p:extLst>
  </p:cSld>
  <p:clrMapOvr>
    <a:masterClrMapping/>
  </p:clrMapOvr>
  <p:timing>
    <p:tnLst>
      <p:par>
        <p:cTn id="1" dur="indefinite" restart="never" nodeType="tmRoot"/>
      </p:par>
    </p:tnLst>
  </p:timing>
</p:sld>
</file>

<file path=ppt/slides/slide2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295</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11"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7.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角度调制</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与</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解调</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3" name="文本框 83970">
            <a:extLst>
              <a:ext uri="{FF2B5EF4-FFF2-40B4-BE49-F238E27FC236}">
                <a16:creationId xmlns="" xmlns:a16="http://schemas.microsoft.com/office/drawing/2014/main" id="{071E41F5-62C9-8DE4-46F6-CC0597006592}"/>
              </a:ext>
            </a:extLst>
          </p:cNvPr>
          <p:cNvSpPr txBox="1">
            <a:spLocks noChangeArrowheads="1"/>
          </p:cNvSpPr>
          <p:nvPr/>
        </p:nvSpPr>
        <p:spPr bwMode="auto">
          <a:xfrm>
            <a:off x="426329" y="1412776"/>
            <a:ext cx="266290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1pPr>
            <a:lvl2pPr marL="742950" indent="-28575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2pPr>
            <a:lvl3pPr marL="11430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3pPr>
            <a:lvl4pPr marL="16002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4pPr>
            <a:lvl5pPr marL="20574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dirty="0">
                <a:solidFill>
                  <a:srgbClr val="FF0000"/>
                </a:solidFill>
                <a:ea typeface="+mn-ea"/>
                <a:cs typeface="Times New Roman" panose="02020603050405020304" pitchFamily="18" charset="0"/>
              </a:rPr>
              <a:t> (3) </a:t>
            </a:r>
            <a:r>
              <a:rPr lang="zh-CN" altLang="en-US" sz="2000" dirty="0">
                <a:solidFill>
                  <a:srgbClr val="FF0000"/>
                </a:solidFill>
                <a:ea typeface="+mn-ea"/>
                <a:cs typeface="Times New Roman" panose="02020603050405020304" pitchFamily="18" charset="0"/>
              </a:rPr>
              <a:t>脉冲计数式鉴频器</a:t>
            </a:r>
          </a:p>
        </p:txBody>
      </p:sp>
      <p:sp>
        <p:nvSpPr>
          <p:cNvPr id="14" name="文本占位符 83969">
            <a:extLst>
              <a:ext uri="{FF2B5EF4-FFF2-40B4-BE49-F238E27FC236}">
                <a16:creationId xmlns="" xmlns:a16="http://schemas.microsoft.com/office/drawing/2014/main" id="{9E6AF01C-302F-BF25-53EC-0489E3CF406A}"/>
              </a:ext>
            </a:extLst>
          </p:cNvPr>
          <p:cNvSpPr txBox="1">
            <a:spLocks noChangeArrowheads="1"/>
          </p:cNvSpPr>
          <p:nvPr/>
        </p:nvSpPr>
        <p:spPr>
          <a:xfrm>
            <a:off x="0" y="1676392"/>
            <a:ext cx="8973437" cy="2109129"/>
          </a:xfrm>
          <a:prstGeom prst="rect">
            <a:avLst/>
          </a:prstGeom>
        </p:spPr>
        <p:txBody>
          <a:bodyPr/>
          <a:lstStyle>
            <a:lvl1pPr marL="342900" indent="-342900" algn="l" rtl="0" eaLnBrk="0" fontAlgn="base" hangingPunct="0">
              <a:spcBef>
                <a:spcPct val="20000"/>
              </a:spcBef>
              <a:spcAft>
                <a:spcPct val="0"/>
              </a:spcAft>
              <a:buChar char="•"/>
              <a:defRPr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eaLnBrk="1" hangingPunct="1">
              <a:lnSpc>
                <a:spcPct val="140000"/>
              </a:lnSpc>
              <a:buFont typeface="Times New Roman" panose="02020603050405020304" pitchFamily="18" charset="0"/>
              <a:buNone/>
            </a:pPr>
            <a:r>
              <a:rPr lang="en-US" altLang="zh-CN" sz="1800" kern="0" dirty="0">
                <a:latin typeface="+mn-ea"/>
              </a:rPr>
              <a:t>      </a:t>
            </a:r>
            <a:r>
              <a:rPr lang="zh-CN" altLang="en-US" sz="1800" kern="0" dirty="0">
                <a:latin typeface="+mn-ea"/>
              </a:rPr>
              <a:t>这是</a:t>
            </a:r>
            <a:r>
              <a:rPr lang="zh-CN" altLang="en-US" sz="1800" kern="0" dirty="0">
                <a:solidFill>
                  <a:schemeClr val="accent2"/>
                </a:solidFill>
                <a:latin typeface="+mn-ea"/>
              </a:rPr>
              <a:t>利用调频波单位时间内过零信息的不同来实现解调的一种鉴频器。</a:t>
            </a:r>
            <a:r>
              <a:rPr lang="zh-CN" altLang="en-US" sz="1800" kern="0" dirty="0">
                <a:latin typeface="+mn-ea"/>
              </a:rPr>
              <a:t>因为调频波的频率是随调制信号变化的，当瞬时频率高时，过零的数目就多；瞬时频率低时，过零点的数目就少。利用调频波的这个特点，就可以实现解调，其最大优点是线性良好。图</a:t>
            </a:r>
            <a:r>
              <a:rPr lang="en-US" altLang="zh-CN" sz="1800" kern="0" dirty="0">
                <a:latin typeface="+mn-ea"/>
              </a:rPr>
              <a:t>7-20</a:t>
            </a:r>
            <a:r>
              <a:rPr lang="zh-CN" altLang="en-US" sz="1800" kern="0" dirty="0">
                <a:latin typeface="+mn-ea"/>
              </a:rPr>
              <a:t>就是这种鉴频的一种框图，其主要点的波形变化情况也在图中标出。</a:t>
            </a:r>
          </a:p>
        </p:txBody>
      </p:sp>
      <p:pic>
        <p:nvPicPr>
          <p:cNvPr id="15" name="图片 84994" descr="116.wmf">
            <a:extLst>
              <a:ext uri="{FF2B5EF4-FFF2-40B4-BE49-F238E27FC236}">
                <a16:creationId xmlns="" xmlns:a16="http://schemas.microsoft.com/office/drawing/2014/main" id="{4E1A3782-311D-EA13-D021-B84AEBB111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16288" y="3228177"/>
            <a:ext cx="5940860" cy="35184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23859109"/>
      </p:ext>
    </p:extLst>
  </p:cSld>
  <p:clrMapOvr>
    <a:masterClrMapping/>
  </p:clrMapOvr>
  <p:timing>
    <p:tnLst>
      <p:par>
        <p:cTn id="1" dur="indefinite" restart="never" nodeType="tmRoot"/>
      </p:par>
    </p:tnLst>
  </p:timing>
</p:sld>
</file>

<file path=ppt/slides/slide2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296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11"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7.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角度调制</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与</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解调</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文本框 87041">
            <a:extLst>
              <a:ext uri="{FF2B5EF4-FFF2-40B4-BE49-F238E27FC236}">
                <a16:creationId xmlns="" xmlns:a16="http://schemas.microsoft.com/office/drawing/2014/main" id="{6FA9497D-5FCF-A700-C611-73491283F8E8}"/>
              </a:ext>
            </a:extLst>
          </p:cNvPr>
          <p:cNvSpPr txBox="1">
            <a:spLocks noChangeArrowheads="1"/>
          </p:cNvSpPr>
          <p:nvPr/>
        </p:nvSpPr>
        <p:spPr bwMode="auto">
          <a:xfrm>
            <a:off x="186072" y="1335688"/>
            <a:ext cx="308610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1pPr>
            <a:lvl2pPr marL="742950" indent="-28575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2pPr>
            <a:lvl3pPr marL="11430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3pPr>
            <a:lvl4pPr marL="16002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4pPr>
            <a:lvl5pPr marL="20574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dirty="0">
                <a:solidFill>
                  <a:schemeClr val="accent2"/>
                </a:solidFill>
                <a:ea typeface="+mn-ea"/>
                <a:cs typeface="Times New Roman" panose="02020603050405020304" pitchFamily="18" charset="0"/>
              </a:rPr>
              <a:t> 2. </a:t>
            </a:r>
            <a:r>
              <a:rPr lang="zh-CN" altLang="en-US" sz="2000" dirty="0">
                <a:solidFill>
                  <a:schemeClr val="accent2"/>
                </a:solidFill>
                <a:ea typeface="+mn-ea"/>
                <a:cs typeface="Times New Roman" panose="02020603050405020304" pitchFamily="18" charset="0"/>
              </a:rPr>
              <a:t>鉴频器的主要技术指标</a:t>
            </a:r>
          </a:p>
        </p:txBody>
      </p:sp>
      <p:sp>
        <p:nvSpPr>
          <p:cNvPr id="6" name="文本框 87042">
            <a:extLst>
              <a:ext uri="{FF2B5EF4-FFF2-40B4-BE49-F238E27FC236}">
                <a16:creationId xmlns="" xmlns:a16="http://schemas.microsoft.com/office/drawing/2014/main" id="{24F6E279-CF48-9725-F954-B5C6CA078972}"/>
              </a:ext>
            </a:extLst>
          </p:cNvPr>
          <p:cNvSpPr txBox="1">
            <a:spLocks noChangeArrowheads="1"/>
          </p:cNvSpPr>
          <p:nvPr/>
        </p:nvSpPr>
        <p:spPr bwMode="auto">
          <a:xfrm>
            <a:off x="213618" y="1804030"/>
            <a:ext cx="4608513" cy="22770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1pPr>
            <a:lvl2pPr marL="742950" indent="-28575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2pPr>
            <a:lvl3pPr marL="11430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3pPr>
            <a:lvl4pPr marL="16002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4pPr>
            <a:lvl5pPr marL="20574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en-US" altLang="zh-CN" sz="2000" dirty="0">
                <a:ea typeface="+mn-ea"/>
                <a:cs typeface="Times New Roman" panose="02020603050405020304" pitchFamily="18" charset="0"/>
              </a:rPr>
              <a:t>    </a:t>
            </a:r>
            <a:r>
              <a:rPr lang="zh-CN" altLang="en-US" sz="2000" dirty="0">
                <a:ea typeface="+mn-ea"/>
                <a:cs typeface="Times New Roman" panose="02020603050405020304" pitchFamily="18" charset="0"/>
              </a:rPr>
              <a:t>鉴频器的主要特性是鉴频特性，也就是鉴频器输出电压</a:t>
            </a:r>
            <a:r>
              <a:rPr lang="en-US" altLang="zh-CN" sz="2000" i="1" dirty="0" err="1">
                <a:ea typeface="+mn-ea"/>
                <a:cs typeface="Times New Roman" panose="02020603050405020304" pitchFamily="18" charset="0"/>
              </a:rPr>
              <a:t>v</a:t>
            </a:r>
            <a:r>
              <a:rPr lang="en-US" altLang="zh-CN" sz="2000" baseline="-25000" dirty="0" err="1">
                <a:ea typeface="+mn-ea"/>
                <a:cs typeface="Times New Roman" panose="02020603050405020304" pitchFamily="18" charset="0"/>
              </a:rPr>
              <a:t>o</a:t>
            </a:r>
            <a:r>
              <a:rPr lang="zh-CN" altLang="en-US" sz="2000" dirty="0">
                <a:ea typeface="+mn-ea"/>
                <a:cs typeface="Times New Roman" panose="02020603050405020304" pitchFamily="18" charset="0"/>
              </a:rPr>
              <a:t>与输入调频波频率</a:t>
            </a:r>
            <a:r>
              <a:rPr lang="en-US" altLang="zh-CN" sz="2000" dirty="0">
                <a:ea typeface="+mn-ea"/>
                <a:cs typeface="Times New Roman" panose="02020603050405020304" pitchFamily="18" charset="0"/>
              </a:rPr>
              <a:t>f</a:t>
            </a:r>
            <a:r>
              <a:rPr lang="zh-CN" altLang="en-US" sz="2000" dirty="0">
                <a:ea typeface="+mn-ea"/>
                <a:cs typeface="Times New Roman" panose="02020603050405020304" pitchFamily="18" charset="0"/>
              </a:rPr>
              <a:t>之间的关系，典型的鉴频特性曲线如图</a:t>
            </a:r>
            <a:r>
              <a:rPr lang="en-US" altLang="zh-CN" sz="2000" dirty="0">
                <a:ea typeface="+mn-ea"/>
                <a:cs typeface="Times New Roman" panose="02020603050405020304" pitchFamily="18" charset="0"/>
              </a:rPr>
              <a:t>7-21</a:t>
            </a:r>
            <a:r>
              <a:rPr lang="zh-CN" altLang="en-US" sz="2000" dirty="0">
                <a:ea typeface="+mn-ea"/>
                <a:cs typeface="Times New Roman" panose="02020603050405020304" pitchFamily="18" charset="0"/>
              </a:rPr>
              <a:t>所示。</a:t>
            </a:r>
          </a:p>
          <a:p>
            <a:pPr eaLnBrk="1" hangingPunct="1">
              <a:lnSpc>
                <a:spcPct val="120000"/>
              </a:lnSpc>
            </a:pPr>
            <a:r>
              <a:rPr lang="zh-CN" altLang="en-US" sz="2000" dirty="0">
                <a:ea typeface="+mn-ea"/>
                <a:cs typeface="Times New Roman" panose="02020603050405020304" pitchFamily="18" charset="0"/>
              </a:rPr>
              <a:t>    以下列几个参量衡量鉴频器性能的技术指标。 </a:t>
            </a:r>
          </a:p>
        </p:txBody>
      </p:sp>
      <p:pic>
        <p:nvPicPr>
          <p:cNvPr id="8" name="图片 87044" descr="117.wmf">
            <a:extLst>
              <a:ext uri="{FF2B5EF4-FFF2-40B4-BE49-F238E27FC236}">
                <a16:creationId xmlns="" xmlns:a16="http://schemas.microsoft.com/office/drawing/2014/main" id="{8864DB4F-ED4B-65F5-D587-E1CCB9BE30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14218" y="1804030"/>
            <a:ext cx="3529013" cy="25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文本框 88065">
            <a:extLst>
              <a:ext uri="{FF2B5EF4-FFF2-40B4-BE49-F238E27FC236}">
                <a16:creationId xmlns="" xmlns:a16="http://schemas.microsoft.com/office/drawing/2014/main" id="{F85099EF-C047-7EC1-FFF7-BFB8E872B99F}"/>
              </a:ext>
            </a:extLst>
          </p:cNvPr>
          <p:cNvSpPr txBox="1">
            <a:spLocks noChangeArrowheads="1"/>
          </p:cNvSpPr>
          <p:nvPr/>
        </p:nvSpPr>
        <p:spPr bwMode="auto">
          <a:xfrm>
            <a:off x="213618" y="4103617"/>
            <a:ext cx="89281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1pPr>
            <a:lvl2pPr marL="742950" indent="-28575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2pPr>
            <a:lvl3pPr marL="11430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3pPr>
            <a:lvl4pPr marL="16002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4pPr>
            <a:lvl5pPr marL="20574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800" dirty="0" smtClean="0">
                <a:solidFill>
                  <a:srgbClr val="FF0000"/>
                </a:solidFill>
                <a:cs typeface="Times New Roman" panose="02020603050405020304" pitchFamily="18" charset="0"/>
              </a:rPr>
              <a:t>(1) </a:t>
            </a:r>
            <a:r>
              <a:rPr lang="zh-CN" altLang="en-US" sz="1800" dirty="0" smtClean="0">
                <a:solidFill>
                  <a:srgbClr val="FF0000"/>
                </a:solidFill>
                <a:cs typeface="Times New Roman" panose="02020603050405020304" pitchFamily="18" charset="0"/>
              </a:rPr>
              <a:t>鉴频</a:t>
            </a:r>
            <a:r>
              <a:rPr lang="zh-CN" altLang="en-US" sz="1800" dirty="0">
                <a:solidFill>
                  <a:srgbClr val="FF0000"/>
                </a:solidFill>
                <a:cs typeface="Times New Roman" panose="02020603050405020304" pitchFamily="18" charset="0"/>
              </a:rPr>
              <a:t>跨导</a:t>
            </a:r>
            <a:r>
              <a:rPr lang="en-US" altLang="zh-CN" sz="1800" dirty="0" smtClean="0">
                <a:solidFill>
                  <a:srgbClr val="FF0000"/>
                </a:solidFill>
                <a:cs typeface="Times New Roman" panose="02020603050405020304" pitchFamily="18" charset="0"/>
              </a:rPr>
              <a:t>S</a:t>
            </a:r>
            <a:endParaRPr lang="en-US" altLang="zh-CN" sz="1800" dirty="0">
              <a:solidFill>
                <a:srgbClr val="FF0000"/>
              </a:solidFill>
              <a:cs typeface="Times New Roman" panose="02020603050405020304" pitchFamily="18" charset="0"/>
            </a:endParaRPr>
          </a:p>
          <a:p>
            <a:pPr eaLnBrk="1" hangingPunct="1"/>
            <a:r>
              <a:rPr lang="zh-CN" altLang="en-US" sz="1800" dirty="0" smtClean="0">
                <a:ea typeface="+mn-ea"/>
                <a:cs typeface="Times New Roman" panose="02020603050405020304" pitchFamily="18" charset="0"/>
              </a:rPr>
              <a:t>在</a:t>
            </a:r>
            <a:r>
              <a:rPr lang="zh-CN" altLang="en-US" sz="1800" dirty="0">
                <a:ea typeface="+mn-ea"/>
                <a:cs typeface="Times New Roman" panose="02020603050405020304" pitchFamily="18" charset="0"/>
              </a:rPr>
              <a:t>中心频率附近，单位频偏所引起的输出电压的变化量，即</a:t>
            </a:r>
          </a:p>
        </p:txBody>
      </p:sp>
      <p:pic>
        <p:nvPicPr>
          <p:cNvPr id="10" name="图片 88067" descr="118.wmf">
            <a:extLst>
              <a:ext uri="{FF2B5EF4-FFF2-40B4-BE49-F238E27FC236}">
                <a16:creationId xmlns="" xmlns:a16="http://schemas.microsoft.com/office/drawing/2014/main" id="{80EA401C-676C-6999-CDF8-54E35C21C98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78038" y="4724935"/>
            <a:ext cx="2054037" cy="785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文本框 88068">
            <a:extLst>
              <a:ext uri="{FF2B5EF4-FFF2-40B4-BE49-F238E27FC236}">
                <a16:creationId xmlns="" xmlns:a16="http://schemas.microsoft.com/office/drawing/2014/main" id="{CFD5A118-0DC8-5A7E-9E9E-D1E385EB0125}"/>
              </a:ext>
            </a:extLst>
          </p:cNvPr>
          <p:cNvSpPr txBox="1">
            <a:spLocks noChangeArrowheads="1"/>
          </p:cNvSpPr>
          <p:nvPr/>
        </p:nvSpPr>
        <p:spPr bwMode="auto">
          <a:xfrm>
            <a:off x="112019" y="5475352"/>
            <a:ext cx="8431212" cy="392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1pPr>
            <a:lvl2pPr marL="742950" indent="-28575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2pPr>
            <a:lvl3pPr marL="11430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3pPr>
            <a:lvl4pPr marL="16002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4pPr>
            <a:lvl5pPr marL="20574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en-US" altLang="zh-CN" sz="1800" dirty="0">
                <a:ea typeface="+mn-ea"/>
                <a:cs typeface="Times New Roman" panose="02020603050405020304" pitchFamily="18" charset="0"/>
              </a:rPr>
              <a:t>  </a:t>
            </a:r>
            <a:r>
              <a:rPr lang="zh-CN" altLang="en-US" sz="1800" dirty="0">
                <a:ea typeface="+mn-ea"/>
                <a:cs typeface="Times New Roman" panose="02020603050405020304" pitchFamily="18" charset="0"/>
              </a:rPr>
              <a:t>显然，鉴频跨导</a:t>
            </a:r>
            <a:r>
              <a:rPr lang="en-US" altLang="zh-CN" sz="1800" dirty="0">
                <a:ea typeface="+mn-ea"/>
                <a:cs typeface="Times New Roman" panose="02020603050405020304" pitchFamily="18" charset="0"/>
              </a:rPr>
              <a:t>S</a:t>
            </a:r>
            <a:r>
              <a:rPr lang="zh-CN" altLang="en-US" sz="1800" dirty="0">
                <a:ea typeface="+mn-ea"/>
                <a:cs typeface="Times New Roman" panose="02020603050405020304" pitchFamily="18" charset="0"/>
              </a:rPr>
              <a:t>越大，意味着鉴频特性曲线越陡峭</a:t>
            </a:r>
            <a:r>
              <a:rPr lang="zh-CN" altLang="en-US" sz="1800" dirty="0" smtClean="0">
                <a:ea typeface="+mn-ea"/>
                <a:cs typeface="Times New Roman" panose="02020603050405020304" pitchFamily="18" charset="0"/>
              </a:rPr>
              <a:t>，鉴频</a:t>
            </a:r>
            <a:r>
              <a:rPr lang="zh-CN" altLang="en-US" sz="1800" dirty="0">
                <a:ea typeface="+mn-ea"/>
                <a:cs typeface="Times New Roman" panose="02020603050405020304" pitchFamily="18" charset="0"/>
              </a:rPr>
              <a:t>能力越强。</a:t>
            </a:r>
          </a:p>
        </p:txBody>
      </p:sp>
    </p:spTree>
    <p:extLst>
      <p:ext uri="{BB962C8B-B14F-4D97-AF65-F5344CB8AC3E}">
        <p14:creationId xmlns:p14="http://schemas.microsoft.com/office/powerpoint/2010/main" val="2841016997"/>
      </p:ext>
    </p:extLst>
  </p:cSld>
  <p:clrMapOvr>
    <a:masterClrMapping/>
  </p:clrMapOvr>
  <p:timing>
    <p:tnLst>
      <p:par>
        <p:cTn id="1" dur="indefinite" restart="never" nodeType="tmRoot"/>
      </p:par>
    </p:tnLst>
  </p:timing>
</p:sld>
</file>

<file path=ppt/slides/slide2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297</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11"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7.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角度调制</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与</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解调</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文本占位符 89089">
            <a:extLst>
              <a:ext uri="{FF2B5EF4-FFF2-40B4-BE49-F238E27FC236}">
                <a16:creationId xmlns="" xmlns:a16="http://schemas.microsoft.com/office/drawing/2014/main" id="{1455EF08-B344-6F39-3011-9EA0E7E5A2E5}"/>
              </a:ext>
            </a:extLst>
          </p:cNvPr>
          <p:cNvSpPr txBox="1">
            <a:spLocks noChangeArrowheads="1"/>
          </p:cNvSpPr>
          <p:nvPr/>
        </p:nvSpPr>
        <p:spPr>
          <a:xfrm>
            <a:off x="107593" y="1360512"/>
            <a:ext cx="6481763" cy="3886200"/>
          </a:xfrm>
          <a:prstGeom prst="rect">
            <a:avLst/>
          </a:prstGeom>
        </p:spPr>
        <p:txBody>
          <a:bodyPr/>
          <a:lstStyle>
            <a:lvl1pPr marL="342900" indent="-342900" algn="l" rtl="0" eaLnBrk="0" fontAlgn="base" hangingPunct="0">
              <a:spcBef>
                <a:spcPct val="20000"/>
              </a:spcBef>
              <a:spcAft>
                <a:spcPct val="0"/>
              </a:spcAft>
              <a:buChar char="•"/>
              <a:defRPr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eaLnBrk="1" hangingPunct="1">
              <a:lnSpc>
                <a:spcPct val="120000"/>
              </a:lnSpc>
              <a:buFont typeface="Times New Roman" panose="02020603050405020304" pitchFamily="18" charset="0"/>
              <a:buNone/>
            </a:pPr>
            <a:r>
              <a:rPr lang="en-US" altLang="zh-CN" sz="2000" kern="0" dirty="0">
                <a:solidFill>
                  <a:srgbClr val="FF0000"/>
                </a:solidFill>
                <a:latin typeface="Times New Roman" panose="02020603050405020304" pitchFamily="18" charset="0"/>
                <a:cs typeface="Times New Roman" panose="02020603050405020304" pitchFamily="18" charset="0"/>
              </a:rPr>
              <a:t>(2) </a:t>
            </a:r>
            <a:r>
              <a:rPr lang="zh-CN" altLang="en-US" sz="2000" kern="0" dirty="0">
                <a:solidFill>
                  <a:srgbClr val="FF0000"/>
                </a:solidFill>
                <a:latin typeface="Times New Roman" panose="02020603050405020304" pitchFamily="18" charset="0"/>
                <a:cs typeface="Times New Roman" panose="02020603050405020304" pitchFamily="18" charset="0"/>
              </a:rPr>
              <a:t>线性范围</a:t>
            </a:r>
          </a:p>
          <a:p>
            <a:pPr eaLnBrk="1" hangingPunct="1">
              <a:lnSpc>
                <a:spcPct val="120000"/>
              </a:lnSpc>
              <a:buFont typeface="Times New Roman" panose="02020603050405020304" pitchFamily="18" charset="0"/>
              <a:buNone/>
            </a:pPr>
            <a:r>
              <a:rPr lang="zh-CN" altLang="en-US" sz="2000" kern="0" dirty="0">
                <a:latin typeface="Times New Roman" panose="02020603050405020304" pitchFamily="18" charset="0"/>
                <a:cs typeface="Times New Roman" panose="02020603050405020304" pitchFamily="18" charset="0"/>
              </a:rPr>
              <a:t>   </a:t>
            </a:r>
            <a:r>
              <a:rPr lang="en-US" altLang="zh-CN" sz="2000" kern="0" dirty="0">
                <a:latin typeface="Times New Roman" panose="02020603050405020304" pitchFamily="18" charset="0"/>
                <a:cs typeface="Times New Roman" panose="02020603050405020304" pitchFamily="18" charset="0"/>
              </a:rPr>
              <a:t>	</a:t>
            </a:r>
            <a:r>
              <a:rPr lang="zh-CN" altLang="en-US" sz="2000" kern="0" dirty="0">
                <a:latin typeface="Times New Roman" panose="02020603050405020304" pitchFamily="18" charset="0"/>
                <a:cs typeface="Times New Roman" panose="02020603050405020304" pitchFamily="18" charset="0"/>
              </a:rPr>
              <a:t>指鉴频特性曲线近似于直线段的频率范围，用</a:t>
            </a:r>
            <a:r>
              <a:rPr lang="en-US" altLang="zh-CN" sz="2000" kern="0" dirty="0">
                <a:latin typeface="Times New Roman" panose="02020603050405020304" pitchFamily="18" charset="0"/>
                <a:cs typeface="Times New Roman" panose="02020603050405020304" pitchFamily="18" charset="0"/>
              </a:rPr>
              <a:t>2</a:t>
            </a:r>
            <a:r>
              <a:rPr lang="en-US" altLang="zh-CN" sz="2000" kern="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000" kern="0" dirty="0">
                <a:latin typeface="Times New Roman" panose="02020603050405020304" pitchFamily="18" charset="0"/>
                <a:cs typeface="Times New Roman" panose="02020603050405020304" pitchFamily="18" charset="0"/>
              </a:rPr>
              <a:t>fmax</a:t>
            </a:r>
            <a:r>
              <a:rPr lang="zh-CN" altLang="en-US" sz="2000" kern="0" dirty="0">
                <a:latin typeface="Times New Roman" panose="02020603050405020304" pitchFamily="18" charset="0"/>
                <a:cs typeface="Times New Roman" panose="02020603050405020304" pitchFamily="18" charset="0"/>
              </a:rPr>
              <a:t>表示，它表明鉴频器不失真解调时所允许的频率变化范围。因此，要求</a:t>
            </a:r>
            <a:r>
              <a:rPr lang="en-US" altLang="zh-CN" sz="2000" kern="0" dirty="0">
                <a:latin typeface="Times New Roman" panose="02020603050405020304" pitchFamily="18" charset="0"/>
                <a:cs typeface="Times New Roman" panose="02020603050405020304" pitchFamily="18" charset="0"/>
              </a:rPr>
              <a:t>2</a:t>
            </a:r>
            <a:r>
              <a:rPr lang="en-US" altLang="zh-CN" sz="2000" kern="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000" kern="0" dirty="0">
                <a:latin typeface="Times New Roman" panose="02020603050405020304" pitchFamily="18" charset="0"/>
                <a:cs typeface="Times New Roman" panose="02020603050405020304" pitchFamily="18" charset="0"/>
              </a:rPr>
              <a:t>fmax</a:t>
            </a:r>
            <a:r>
              <a:rPr lang="zh-CN" altLang="en-US" sz="2000" kern="0" dirty="0">
                <a:latin typeface="Times New Roman" panose="02020603050405020304" pitchFamily="18" charset="0"/>
                <a:cs typeface="Times New Roman" panose="02020603050405020304" pitchFamily="18" charset="0"/>
              </a:rPr>
              <a:t>应大于调频波最大频偏的两倍。</a:t>
            </a:r>
          </a:p>
          <a:p>
            <a:pPr eaLnBrk="1" hangingPunct="1">
              <a:lnSpc>
                <a:spcPct val="120000"/>
              </a:lnSpc>
              <a:buFont typeface="Times New Roman" panose="02020603050405020304" pitchFamily="18" charset="0"/>
              <a:buNone/>
            </a:pPr>
            <a:r>
              <a:rPr lang="zh-CN" altLang="en-US" sz="2000" kern="0" dirty="0">
                <a:latin typeface="Times New Roman" panose="02020603050405020304" pitchFamily="18" charset="0"/>
                <a:cs typeface="Times New Roman" panose="02020603050405020304" pitchFamily="18" charset="0"/>
              </a:rPr>
              <a:t>   </a:t>
            </a:r>
            <a:r>
              <a:rPr lang="en-US" altLang="zh-CN" sz="2000" kern="0" dirty="0">
                <a:solidFill>
                  <a:schemeClr val="accent2"/>
                </a:solidFill>
                <a:latin typeface="Times New Roman" panose="02020603050405020304" pitchFamily="18" charset="0"/>
                <a:cs typeface="Times New Roman" panose="02020603050405020304" pitchFamily="18" charset="0"/>
              </a:rPr>
              <a:t>2</a:t>
            </a:r>
            <a:r>
              <a:rPr lang="en-US" altLang="zh-CN" sz="2000" kern="0" dirty="0">
                <a:solidFill>
                  <a:schemeClr val="accent2"/>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000" kern="0" dirty="0">
                <a:solidFill>
                  <a:schemeClr val="accent2"/>
                </a:solidFill>
                <a:latin typeface="Times New Roman" panose="02020603050405020304" pitchFamily="18" charset="0"/>
                <a:cs typeface="Times New Roman" panose="02020603050405020304" pitchFamily="18" charset="0"/>
              </a:rPr>
              <a:t>fmax</a:t>
            </a:r>
            <a:r>
              <a:rPr lang="zh-CN" altLang="en-US" sz="2000" kern="0" dirty="0">
                <a:solidFill>
                  <a:schemeClr val="accent2"/>
                </a:solidFill>
                <a:latin typeface="Times New Roman" panose="02020603050405020304" pitchFamily="18" charset="0"/>
                <a:cs typeface="Times New Roman" panose="02020603050405020304" pitchFamily="18" charset="0"/>
              </a:rPr>
              <a:t>又称为鉴频器的带宽。</a:t>
            </a:r>
          </a:p>
          <a:p>
            <a:pPr eaLnBrk="1" hangingPunct="1">
              <a:lnSpc>
                <a:spcPct val="120000"/>
              </a:lnSpc>
              <a:buFont typeface="Times New Roman" panose="02020603050405020304" pitchFamily="18" charset="0"/>
              <a:buNone/>
            </a:pPr>
            <a:r>
              <a:rPr lang="en-US" altLang="zh-CN" sz="2000" kern="0" dirty="0">
                <a:solidFill>
                  <a:srgbClr val="FF0000"/>
                </a:solidFill>
                <a:latin typeface="Times New Roman" panose="02020603050405020304" pitchFamily="18" charset="0"/>
                <a:cs typeface="Times New Roman" panose="02020603050405020304" pitchFamily="18" charset="0"/>
              </a:rPr>
              <a:t>(3) </a:t>
            </a:r>
            <a:r>
              <a:rPr lang="zh-CN" altLang="en-US" sz="2000" kern="0" dirty="0">
                <a:solidFill>
                  <a:srgbClr val="FF0000"/>
                </a:solidFill>
                <a:latin typeface="Times New Roman" panose="02020603050405020304" pitchFamily="18" charset="0"/>
                <a:cs typeface="Times New Roman" panose="02020603050405020304" pitchFamily="18" charset="0"/>
              </a:rPr>
              <a:t>鉴频灵敏度</a:t>
            </a:r>
          </a:p>
          <a:p>
            <a:pPr eaLnBrk="1" hangingPunct="1">
              <a:lnSpc>
                <a:spcPct val="120000"/>
              </a:lnSpc>
              <a:buFont typeface="Times New Roman" panose="02020603050405020304" pitchFamily="18" charset="0"/>
              <a:buNone/>
            </a:pPr>
            <a:r>
              <a:rPr lang="zh-CN" altLang="en-US" sz="2000" kern="0" dirty="0">
                <a:latin typeface="Times New Roman" panose="02020603050405020304" pitchFamily="18" charset="0"/>
                <a:cs typeface="Times New Roman" panose="02020603050405020304" pitchFamily="18" charset="0"/>
              </a:rPr>
              <a:t>      主要是指为使鉴频器正常工作所需的输入调频波的幅度，其值越小，鉴频器灵敏度越高。</a:t>
            </a:r>
          </a:p>
        </p:txBody>
      </p:sp>
      <p:pic>
        <p:nvPicPr>
          <p:cNvPr id="6" name="图片 89090" descr="120.wmf">
            <a:extLst>
              <a:ext uri="{FF2B5EF4-FFF2-40B4-BE49-F238E27FC236}">
                <a16:creationId xmlns="" xmlns:a16="http://schemas.microsoft.com/office/drawing/2014/main" id="{8CA98281-B255-D514-88C3-3AE9A37841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78588" y="1767303"/>
            <a:ext cx="2665412" cy="2389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14413194"/>
      </p:ext>
    </p:extLst>
  </p:cSld>
  <p:clrMapOvr>
    <a:masterClrMapping/>
  </p:clrMapOvr>
  <p:timing>
    <p:tnLst>
      <p:par>
        <p:cTn id="1" dur="indefinite" restart="never" nodeType="tmRoot"/>
      </p:par>
    </p:tnLst>
  </p:timing>
</p:sld>
</file>

<file path=ppt/slides/slide2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298</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11"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7.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角度调制</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与</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解调</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文本占位符 90113">
            <a:extLst>
              <a:ext uri="{FF2B5EF4-FFF2-40B4-BE49-F238E27FC236}">
                <a16:creationId xmlns="" xmlns:a16="http://schemas.microsoft.com/office/drawing/2014/main" id="{2C4F7B6B-C982-99BB-5F49-817551B49711}"/>
              </a:ext>
            </a:extLst>
          </p:cNvPr>
          <p:cNvSpPr txBox="1">
            <a:spLocks noChangeArrowheads="1"/>
          </p:cNvSpPr>
          <p:nvPr/>
        </p:nvSpPr>
        <p:spPr>
          <a:xfrm>
            <a:off x="251520" y="1638146"/>
            <a:ext cx="8229600" cy="4114800"/>
          </a:xfrm>
          <a:prstGeom prst="rect">
            <a:avLst/>
          </a:prstGeom>
        </p:spPr>
        <p:txBody>
          <a:bodyPr/>
          <a:lstStyle>
            <a:lvl1pPr marL="342900" indent="-342900" algn="l" rtl="0" eaLnBrk="0" fontAlgn="base" hangingPunct="0">
              <a:spcBef>
                <a:spcPct val="20000"/>
              </a:spcBef>
              <a:spcAft>
                <a:spcPct val="0"/>
              </a:spcAft>
              <a:buChar char="•"/>
              <a:defRPr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eaLnBrk="1" hangingPunct="1">
              <a:lnSpc>
                <a:spcPct val="120000"/>
              </a:lnSpc>
              <a:buFont typeface="Times New Roman" panose="02020603050405020304" pitchFamily="18" charset="0"/>
              <a:buNone/>
            </a:pPr>
            <a:r>
              <a:rPr lang="en-US" altLang="zh-CN" sz="2000" kern="0" dirty="0">
                <a:latin typeface="+mn-ea"/>
              </a:rPr>
              <a:t>      </a:t>
            </a:r>
            <a:r>
              <a:rPr lang="zh-CN" altLang="en-US" sz="2000" kern="0" dirty="0">
                <a:latin typeface="+mn-ea"/>
              </a:rPr>
              <a:t>相位鉴频器也是利用波形变换鉴频的一种方法。它是</a:t>
            </a:r>
            <a:r>
              <a:rPr lang="zh-CN" altLang="en-US" sz="2000" kern="0" dirty="0">
                <a:solidFill>
                  <a:schemeClr val="accent2"/>
                </a:solidFill>
                <a:latin typeface="+mn-ea"/>
              </a:rPr>
              <a:t>利用回路的相位频率特性将调频波变为调幅</a:t>
            </a:r>
            <a:r>
              <a:rPr lang="en-US" altLang="zh-CN" sz="2000" kern="0" dirty="0">
                <a:solidFill>
                  <a:schemeClr val="accent2"/>
                </a:solidFill>
                <a:latin typeface="+mn-ea"/>
              </a:rPr>
              <a:t>—</a:t>
            </a:r>
            <a:r>
              <a:rPr lang="zh-CN" altLang="en-US" sz="2000" kern="0" dirty="0">
                <a:solidFill>
                  <a:schemeClr val="accent2"/>
                </a:solidFill>
                <a:latin typeface="+mn-ea"/>
              </a:rPr>
              <a:t>调频波，然后用振幅检波恢复调制信号。</a:t>
            </a:r>
          </a:p>
          <a:p>
            <a:pPr eaLnBrk="1" hangingPunct="1">
              <a:lnSpc>
                <a:spcPct val="120000"/>
              </a:lnSpc>
              <a:buFont typeface="Times New Roman" panose="02020603050405020304" pitchFamily="18" charset="0"/>
              <a:buNone/>
            </a:pPr>
            <a:r>
              <a:rPr lang="zh-CN" altLang="en-US" sz="2000" kern="0" dirty="0">
                <a:latin typeface="+mn-ea"/>
              </a:rPr>
              <a:t>      常用的相位鉴频器电路有两种，即电感耦合相位鉴频器和电容耦合相位鉴频器。本节主要讨论电感耦合相位鉴频器。</a:t>
            </a:r>
          </a:p>
        </p:txBody>
      </p:sp>
      <p:sp>
        <p:nvSpPr>
          <p:cNvPr id="6" name="文本框 90114">
            <a:extLst>
              <a:ext uri="{FF2B5EF4-FFF2-40B4-BE49-F238E27FC236}">
                <a16:creationId xmlns="" xmlns:a16="http://schemas.microsoft.com/office/drawing/2014/main" id="{ED2433D6-DAF3-39FA-F89D-CDA958ACCCD0}"/>
              </a:ext>
            </a:extLst>
          </p:cNvPr>
          <p:cNvSpPr txBox="1">
            <a:spLocks noChangeArrowheads="1"/>
          </p:cNvSpPr>
          <p:nvPr/>
        </p:nvSpPr>
        <p:spPr bwMode="auto">
          <a:xfrm>
            <a:off x="408112" y="1222648"/>
            <a:ext cx="239553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1pPr>
            <a:lvl2pPr marL="742950" indent="-28575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2pPr>
            <a:lvl3pPr marL="11430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3pPr>
            <a:lvl4pPr marL="16002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4pPr>
            <a:lvl5pPr marL="20574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dirty="0">
                <a:latin typeface="+mn-ea"/>
                <a:ea typeface="+mn-ea"/>
              </a:rPr>
              <a:t>二、相位鉴频</a:t>
            </a:r>
          </a:p>
          <a:p>
            <a:pPr eaLnBrk="1" hangingPunct="1"/>
            <a:endParaRPr lang="zh-CN" altLang="en-US" dirty="0">
              <a:latin typeface="+mn-ea"/>
              <a:ea typeface="+mn-ea"/>
            </a:endParaRPr>
          </a:p>
        </p:txBody>
      </p:sp>
      <p:sp>
        <p:nvSpPr>
          <p:cNvPr id="7" name="文本框 91137">
            <a:extLst>
              <a:ext uri="{FF2B5EF4-FFF2-40B4-BE49-F238E27FC236}">
                <a16:creationId xmlns="" xmlns:a16="http://schemas.microsoft.com/office/drawing/2014/main" id="{CEFDB9CB-3B98-9DCC-B8C4-2D3202195F41}"/>
              </a:ext>
            </a:extLst>
          </p:cNvPr>
          <p:cNvSpPr txBox="1">
            <a:spLocks noChangeArrowheads="1"/>
          </p:cNvSpPr>
          <p:nvPr/>
        </p:nvSpPr>
        <p:spPr bwMode="auto">
          <a:xfrm>
            <a:off x="555801" y="3589764"/>
            <a:ext cx="173637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1pPr>
            <a:lvl2pPr marL="742950" indent="-28575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2pPr>
            <a:lvl3pPr marL="11430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3pPr>
            <a:lvl4pPr marL="16002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4pPr>
            <a:lvl5pPr marL="20574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dirty="0">
                <a:solidFill>
                  <a:schemeClr val="accent2"/>
                </a:solidFill>
                <a:latin typeface="+mn-ea"/>
                <a:ea typeface="+mn-ea"/>
              </a:rPr>
              <a:t>1.  </a:t>
            </a:r>
            <a:r>
              <a:rPr lang="zh-CN" altLang="en-US" sz="2000" dirty="0">
                <a:solidFill>
                  <a:schemeClr val="accent2"/>
                </a:solidFill>
                <a:latin typeface="+mn-ea"/>
                <a:ea typeface="+mn-ea"/>
              </a:rPr>
              <a:t>电路说明</a:t>
            </a:r>
          </a:p>
        </p:txBody>
      </p:sp>
      <p:sp>
        <p:nvSpPr>
          <p:cNvPr id="8" name="文本框 91138">
            <a:extLst>
              <a:ext uri="{FF2B5EF4-FFF2-40B4-BE49-F238E27FC236}">
                <a16:creationId xmlns="" xmlns:a16="http://schemas.microsoft.com/office/drawing/2014/main" id="{F114E028-A685-F7E2-42C7-4EC926D078C3}"/>
              </a:ext>
            </a:extLst>
          </p:cNvPr>
          <p:cNvSpPr txBox="1">
            <a:spLocks noChangeArrowheads="1"/>
          </p:cNvSpPr>
          <p:nvPr/>
        </p:nvSpPr>
        <p:spPr bwMode="auto">
          <a:xfrm>
            <a:off x="555801" y="4085965"/>
            <a:ext cx="4469288"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1pPr>
            <a:lvl2pPr marL="742950" indent="-28575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2pPr>
            <a:lvl3pPr marL="11430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3pPr>
            <a:lvl4pPr marL="16002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4pPr>
            <a:lvl5pPr marL="20574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en-US" altLang="zh-CN" sz="2000" dirty="0">
                <a:latin typeface="+mn-ea"/>
                <a:ea typeface="+mn-ea"/>
              </a:rPr>
              <a:t>    </a:t>
            </a:r>
            <a:r>
              <a:rPr lang="zh-CN" altLang="en-US" sz="2000" dirty="0">
                <a:latin typeface="+mn-ea"/>
                <a:ea typeface="+mn-ea"/>
              </a:rPr>
              <a:t>图</a:t>
            </a:r>
            <a:r>
              <a:rPr lang="en-US" altLang="zh-CN" sz="2000" dirty="0">
                <a:latin typeface="+mn-ea"/>
                <a:ea typeface="+mn-ea"/>
              </a:rPr>
              <a:t>7-22</a:t>
            </a:r>
            <a:r>
              <a:rPr lang="zh-CN" altLang="en-US" sz="2000" dirty="0">
                <a:latin typeface="+mn-ea"/>
                <a:ea typeface="+mn-ea"/>
              </a:rPr>
              <a:t>是电感耦合相位鉴频器原理电路图。输入电路的初级回路</a:t>
            </a:r>
            <a:r>
              <a:rPr lang="en-US" altLang="zh-CN" sz="2000" dirty="0">
                <a:latin typeface="+mn-ea"/>
                <a:ea typeface="+mn-ea"/>
              </a:rPr>
              <a:t>C</a:t>
            </a:r>
            <a:r>
              <a:rPr lang="en-US" altLang="zh-CN" sz="2000" baseline="-25000" dirty="0">
                <a:latin typeface="+mn-ea"/>
                <a:ea typeface="+mn-ea"/>
              </a:rPr>
              <a:t>1</a:t>
            </a:r>
            <a:r>
              <a:rPr lang="zh-CN" altLang="en-US" sz="2000" dirty="0">
                <a:latin typeface="+mn-ea"/>
                <a:ea typeface="+mn-ea"/>
              </a:rPr>
              <a:t>、</a:t>
            </a:r>
            <a:r>
              <a:rPr lang="en-US" altLang="zh-CN" sz="2000" dirty="0">
                <a:latin typeface="+mn-ea"/>
                <a:ea typeface="+mn-ea"/>
              </a:rPr>
              <a:t>L</a:t>
            </a:r>
            <a:r>
              <a:rPr lang="en-US" altLang="zh-CN" sz="2000" baseline="-25000" dirty="0">
                <a:latin typeface="+mn-ea"/>
                <a:ea typeface="+mn-ea"/>
              </a:rPr>
              <a:t>1</a:t>
            </a:r>
            <a:r>
              <a:rPr lang="zh-CN" altLang="en-US" sz="2000" dirty="0">
                <a:latin typeface="+mn-ea"/>
                <a:ea typeface="+mn-ea"/>
              </a:rPr>
              <a:t>和次级回路</a:t>
            </a:r>
            <a:r>
              <a:rPr lang="en-US" altLang="zh-CN" sz="2000" dirty="0">
                <a:latin typeface="+mn-ea"/>
                <a:ea typeface="+mn-ea"/>
              </a:rPr>
              <a:t>C</a:t>
            </a:r>
            <a:r>
              <a:rPr lang="en-US" altLang="zh-CN" sz="2000" baseline="-25000" dirty="0">
                <a:latin typeface="+mn-ea"/>
                <a:ea typeface="+mn-ea"/>
              </a:rPr>
              <a:t>2</a:t>
            </a:r>
            <a:r>
              <a:rPr lang="zh-CN" altLang="en-US" sz="2000" dirty="0">
                <a:latin typeface="+mn-ea"/>
                <a:ea typeface="+mn-ea"/>
              </a:rPr>
              <a:t>、</a:t>
            </a:r>
            <a:r>
              <a:rPr lang="en-US" altLang="zh-CN" sz="2000" dirty="0">
                <a:latin typeface="+mn-ea"/>
                <a:ea typeface="+mn-ea"/>
              </a:rPr>
              <a:t>L</a:t>
            </a:r>
            <a:r>
              <a:rPr lang="en-US" altLang="zh-CN" sz="2000" baseline="-25000" dirty="0">
                <a:latin typeface="+mn-ea"/>
                <a:ea typeface="+mn-ea"/>
              </a:rPr>
              <a:t>2</a:t>
            </a:r>
            <a:r>
              <a:rPr lang="zh-CN" altLang="en-US" sz="2000" dirty="0">
                <a:latin typeface="+mn-ea"/>
                <a:ea typeface="+mn-ea"/>
              </a:rPr>
              <a:t>均调谐于调频波的中心频率</a:t>
            </a:r>
            <a:r>
              <a:rPr lang="en-US" altLang="zh-CN" sz="2000" dirty="0">
                <a:latin typeface="+mn-ea"/>
                <a:ea typeface="+mn-ea"/>
              </a:rPr>
              <a:t>f</a:t>
            </a:r>
            <a:r>
              <a:rPr lang="en-US" altLang="zh-CN" sz="2000" baseline="-25000" dirty="0">
                <a:latin typeface="+mn-ea"/>
                <a:ea typeface="+mn-ea"/>
              </a:rPr>
              <a:t>0</a:t>
            </a:r>
            <a:r>
              <a:rPr lang="zh-CN" altLang="en-US" sz="2000" dirty="0">
                <a:latin typeface="+mn-ea"/>
                <a:ea typeface="+mn-ea"/>
              </a:rPr>
              <a:t>。它们完成波形变换，将等幅调频波变换成幅度随瞬时频率变化的调频波</a:t>
            </a:r>
            <a:r>
              <a:rPr lang="en-US" altLang="zh-CN" sz="2000" dirty="0">
                <a:latin typeface="+mn-ea"/>
                <a:ea typeface="+mn-ea"/>
              </a:rPr>
              <a:t>(</a:t>
            </a:r>
            <a:r>
              <a:rPr lang="zh-CN" altLang="en-US" sz="2000" dirty="0">
                <a:latin typeface="+mn-ea"/>
                <a:ea typeface="+mn-ea"/>
              </a:rPr>
              <a:t>即调幅</a:t>
            </a:r>
            <a:r>
              <a:rPr lang="en-US" altLang="zh-CN" sz="2000" dirty="0">
                <a:latin typeface="+mn-ea"/>
                <a:ea typeface="+mn-ea"/>
              </a:rPr>
              <a:t>-</a:t>
            </a:r>
            <a:r>
              <a:rPr lang="zh-CN" altLang="en-US" sz="2000" dirty="0">
                <a:latin typeface="+mn-ea"/>
                <a:ea typeface="+mn-ea"/>
              </a:rPr>
              <a:t>调频波</a:t>
            </a:r>
            <a:r>
              <a:rPr lang="en-US" altLang="zh-CN" sz="2000" dirty="0">
                <a:latin typeface="+mn-ea"/>
                <a:ea typeface="+mn-ea"/>
              </a:rPr>
              <a:t>)</a:t>
            </a:r>
            <a:r>
              <a:rPr lang="zh-CN" altLang="en-US" sz="2000" dirty="0">
                <a:latin typeface="+mn-ea"/>
                <a:ea typeface="+mn-ea"/>
              </a:rPr>
              <a:t>。</a:t>
            </a:r>
          </a:p>
        </p:txBody>
      </p:sp>
      <p:pic>
        <p:nvPicPr>
          <p:cNvPr id="9" name="图片 91140" descr="121.wmf">
            <a:extLst>
              <a:ext uri="{FF2B5EF4-FFF2-40B4-BE49-F238E27FC236}">
                <a16:creationId xmlns="" xmlns:a16="http://schemas.microsoft.com/office/drawing/2014/main" id="{2381190B-9979-3DD2-DFE9-088D96A9DA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88024" y="3519458"/>
            <a:ext cx="4248150" cy="280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文本框 91141">
            <a:extLst>
              <a:ext uri="{FF2B5EF4-FFF2-40B4-BE49-F238E27FC236}">
                <a16:creationId xmlns="" xmlns:a16="http://schemas.microsoft.com/office/drawing/2014/main" id="{2E783CFA-31E0-7268-9704-AA8202550404}"/>
              </a:ext>
            </a:extLst>
          </p:cNvPr>
          <p:cNvSpPr txBox="1">
            <a:spLocks noChangeArrowheads="1"/>
          </p:cNvSpPr>
          <p:nvPr/>
        </p:nvSpPr>
        <p:spPr bwMode="auto">
          <a:xfrm>
            <a:off x="4696808" y="6327745"/>
            <a:ext cx="351731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1pPr>
            <a:lvl2pPr marL="742950" indent="-28575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2pPr>
            <a:lvl3pPr marL="11430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3pPr>
            <a:lvl4pPr marL="16002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4pPr>
            <a:lvl5pPr marL="20574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dirty="0">
                <a:latin typeface="+mn-ea"/>
                <a:ea typeface="+mn-ea"/>
              </a:rPr>
              <a:t>图</a:t>
            </a:r>
            <a:r>
              <a:rPr lang="en-US" altLang="zh-CN" sz="2000" dirty="0">
                <a:latin typeface="+mn-ea"/>
                <a:ea typeface="+mn-ea"/>
              </a:rPr>
              <a:t>7-22  </a:t>
            </a:r>
            <a:r>
              <a:rPr lang="zh-CN" altLang="en-US" sz="2000" dirty="0">
                <a:latin typeface="+mn-ea"/>
                <a:ea typeface="+mn-ea"/>
              </a:rPr>
              <a:t>相位鉴频器原理电路</a:t>
            </a:r>
          </a:p>
        </p:txBody>
      </p:sp>
    </p:spTree>
    <p:extLst>
      <p:ext uri="{BB962C8B-B14F-4D97-AF65-F5344CB8AC3E}">
        <p14:creationId xmlns:p14="http://schemas.microsoft.com/office/powerpoint/2010/main" val="976906797"/>
      </p:ext>
    </p:extLst>
  </p:cSld>
  <p:clrMapOvr>
    <a:masterClrMapping/>
  </p:clrMapOvr>
  <p:timing>
    <p:tnLst>
      <p:par>
        <p:cTn id="1" dur="indefinite" restart="never" nodeType="tmRoot"/>
      </p:par>
    </p:tnLst>
  </p:timing>
</p:sld>
</file>

<file path=ppt/slides/slide2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299</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11"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7.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角度调制</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与</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解调</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文本框 93185">
            <a:extLst>
              <a:ext uri="{FF2B5EF4-FFF2-40B4-BE49-F238E27FC236}">
                <a16:creationId xmlns="" xmlns:a16="http://schemas.microsoft.com/office/drawing/2014/main" id="{8EDF8FB7-84E2-666D-FA4D-6DA0599F4285}"/>
              </a:ext>
            </a:extLst>
          </p:cNvPr>
          <p:cNvSpPr txBox="1">
            <a:spLocks noChangeArrowheads="1"/>
          </p:cNvSpPr>
          <p:nvPr/>
        </p:nvSpPr>
        <p:spPr bwMode="auto">
          <a:xfrm>
            <a:off x="472318" y="1670083"/>
            <a:ext cx="173637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1pPr>
            <a:lvl2pPr marL="742950" indent="-28575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2pPr>
            <a:lvl3pPr marL="11430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3pPr>
            <a:lvl4pPr marL="16002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4pPr>
            <a:lvl5pPr marL="20574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dirty="0">
                <a:solidFill>
                  <a:schemeClr val="accent2"/>
                </a:solidFill>
                <a:latin typeface="+mn-ea"/>
                <a:ea typeface="+mn-ea"/>
              </a:rPr>
              <a:t> 2. </a:t>
            </a:r>
            <a:r>
              <a:rPr lang="zh-CN" altLang="en-US" sz="2000" dirty="0">
                <a:solidFill>
                  <a:schemeClr val="accent2"/>
                </a:solidFill>
                <a:latin typeface="+mn-ea"/>
                <a:ea typeface="+mn-ea"/>
              </a:rPr>
              <a:t>工作原理</a:t>
            </a:r>
          </a:p>
        </p:txBody>
      </p:sp>
      <p:sp>
        <p:nvSpPr>
          <p:cNvPr id="6" name="文本框 93186">
            <a:extLst>
              <a:ext uri="{FF2B5EF4-FFF2-40B4-BE49-F238E27FC236}">
                <a16:creationId xmlns="" xmlns:a16="http://schemas.microsoft.com/office/drawing/2014/main" id="{EB4D0253-E9FF-FA6C-06A6-141CA006861D}"/>
              </a:ext>
            </a:extLst>
          </p:cNvPr>
          <p:cNvSpPr txBox="1">
            <a:spLocks noChangeArrowheads="1"/>
          </p:cNvSpPr>
          <p:nvPr/>
        </p:nvSpPr>
        <p:spPr bwMode="auto">
          <a:xfrm>
            <a:off x="385673" y="2946661"/>
            <a:ext cx="8426679" cy="781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1pPr>
            <a:lvl2pPr marL="742950" indent="-28575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2pPr>
            <a:lvl3pPr marL="11430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3pPr>
            <a:lvl4pPr marL="16002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4pPr>
            <a:lvl5pPr marL="20574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en-US" altLang="zh-CN" sz="2000" dirty="0">
                <a:latin typeface="+mn-ea"/>
                <a:ea typeface="+mn-ea"/>
              </a:rPr>
              <a:t>    </a:t>
            </a:r>
            <a:r>
              <a:rPr lang="zh-CN" altLang="en-US" sz="2000" dirty="0">
                <a:latin typeface="+mn-ea"/>
                <a:ea typeface="+mn-ea"/>
              </a:rPr>
              <a:t>由图</a:t>
            </a:r>
            <a:r>
              <a:rPr lang="en-US" altLang="zh-CN" sz="2000" dirty="0">
                <a:latin typeface="+mn-ea"/>
                <a:ea typeface="+mn-ea"/>
              </a:rPr>
              <a:t>7-22</a:t>
            </a:r>
            <a:r>
              <a:rPr lang="zh-CN" altLang="en-US" sz="2000" dirty="0">
                <a:latin typeface="+mn-ea"/>
                <a:ea typeface="+mn-ea"/>
              </a:rPr>
              <a:t>可以看出，初级回路电流经互感耦合，在</a:t>
            </a:r>
            <a:r>
              <a:rPr lang="zh-CN" altLang="en-US" sz="2000" dirty="0" smtClean="0">
                <a:latin typeface="+mn-ea"/>
                <a:ea typeface="+mn-ea"/>
              </a:rPr>
              <a:t>次级回路</a:t>
            </a:r>
            <a:r>
              <a:rPr lang="zh-CN" altLang="en-US" sz="2000" dirty="0">
                <a:latin typeface="+mn-ea"/>
                <a:ea typeface="+mn-ea"/>
              </a:rPr>
              <a:t>两端感应产生次级回路电压。加在两个振幅检波器的</a:t>
            </a:r>
            <a:r>
              <a:rPr lang="zh-CN" altLang="en-US" sz="2000" dirty="0" smtClean="0">
                <a:latin typeface="+mn-ea"/>
                <a:ea typeface="+mn-ea"/>
              </a:rPr>
              <a:t>输入信号</a:t>
            </a:r>
            <a:r>
              <a:rPr lang="zh-CN" altLang="en-US" sz="2000" dirty="0">
                <a:latin typeface="+mn-ea"/>
                <a:ea typeface="+mn-ea"/>
              </a:rPr>
              <a:t>分别为</a:t>
            </a:r>
          </a:p>
        </p:txBody>
      </p:sp>
      <p:pic>
        <p:nvPicPr>
          <p:cNvPr id="7" name="图片 93187" descr="122.wmf">
            <a:extLst>
              <a:ext uri="{FF2B5EF4-FFF2-40B4-BE49-F238E27FC236}">
                <a16:creationId xmlns="" xmlns:a16="http://schemas.microsoft.com/office/drawing/2014/main" id="{2F32586D-BFCA-3B93-9EFA-FC612FC971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9678" y="3753106"/>
            <a:ext cx="2777323" cy="685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93189">
            <a:extLst>
              <a:ext uri="{FF2B5EF4-FFF2-40B4-BE49-F238E27FC236}">
                <a16:creationId xmlns="" xmlns:a16="http://schemas.microsoft.com/office/drawing/2014/main" id="{7AF55F65-CD8F-0485-99F8-EBA2D105BAE8}"/>
              </a:ext>
            </a:extLst>
          </p:cNvPr>
          <p:cNvSpPr>
            <a:spLocks noChangeArrowheads="1"/>
          </p:cNvSpPr>
          <p:nvPr/>
        </p:nvSpPr>
        <p:spPr bwMode="auto">
          <a:xfrm>
            <a:off x="3652837" y="3570287"/>
            <a:ext cx="2159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1pPr>
            <a:lvl2pPr marL="742950" indent="-28575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2pPr>
            <a:lvl3pPr marL="11430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3pPr>
            <a:lvl4pPr marL="16002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4pPr>
            <a:lvl5pPr marL="20574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000">
                <a:ea typeface="华康简宋" charset="-122"/>
              </a:rPr>
              <a:t> </a:t>
            </a:r>
            <a:endParaRPr lang="en-US" altLang="zh-CN">
              <a:ea typeface="华康简宋" charset="-122"/>
            </a:endParaRPr>
          </a:p>
        </p:txBody>
      </p:sp>
      <p:pic>
        <p:nvPicPr>
          <p:cNvPr id="9" name="图片 93190" descr="124.wmf">
            <a:extLst>
              <a:ext uri="{FF2B5EF4-FFF2-40B4-BE49-F238E27FC236}">
                <a16:creationId xmlns="" xmlns:a16="http://schemas.microsoft.com/office/drawing/2014/main" id="{A8093213-1E28-04C3-9DB1-330A260E6E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14573" y="3704784"/>
            <a:ext cx="3715116" cy="692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矩形 93191">
            <a:extLst>
              <a:ext uri="{FF2B5EF4-FFF2-40B4-BE49-F238E27FC236}">
                <a16:creationId xmlns="" xmlns:a16="http://schemas.microsoft.com/office/drawing/2014/main" id="{710147DE-83E7-54D3-E162-5B81816C9E36}"/>
              </a:ext>
            </a:extLst>
          </p:cNvPr>
          <p:cNvSpPr>
            <a:spLocks noChangeArrowheads="1"/>
          </p:cNvSpPr>
          <p:nvPr/>
        </p:nvSpPr>
        <p:spPr bwMode="auto">
          <a:xfrm>
            <a:off x="3652837" y="4167187"/>
            <a:ext cx="228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1pPr>
            <a:lvl2pPr marL="742950" indent="-28575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2pPr>
            <a:lvl3pPr marL="11430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3pPr>
            <a:lvl4pPr marL="16002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4pPr>
            <a:lvl5pPr marL="20574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00"/>
              <a:t> </a:t>
            </a:r>
            <a:endParaRPr lang="en-US" altLang="zh-CN"/>
          </a:p>
        </p:txBody>
      </p:sp>
      <p:sp>
        <p:nvSpPr>
          <p:cNvPr id="14" name="文本框 93194">
            <a:extLst>
              <a:ext uri="{FF2B5EF4-FFF2-40B4-BE49-F238E27FC236}">
                <a16:creationId xmlns="" xmlns:a16="http://schemas.microsoft.com/office/drawing/2014/main" id="{7FE8D43B-5CC2-613B-8E62-2003E8C47F50}"/>
              </a:ext>
            </a:extLst>
          </p:cNvPr>
          <p:cNvSpPr txBox="1">
            <a:spLocks noChangeArrowheads="1"/>
          </p:cNvSpPr>
          <p:nvPr/>
        </p:nvSpPr>
        <p:spPr bwMode="auto">
          <a:xfrm>
            <a:off x="306416" y="4497463"/>
            <a:ext cx="866457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1pPr>
            <a:lvl2pPr marL="742950" indent="-28575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2pPr>
            <a:lvl3pPr marL="11430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3pPr>
            <a:lvl4pPr marL="16002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4pPr>
            <a:lvl5pPr marL="20574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en-US" altLang="zh-CN" sz="2000" dirty="0">
                <a:ea typeface="+mn-ea"/>
                <a:cs typeface="Times New Roman" panose="02020603050405020304" pitchFamily="18" charset="0"/>
              </a:rPr>
              <a:t>   </a:t>
            </a:r>
            <a:r>
              <a:rPr lang="zh-CN" altLang="en-US" sz="2000" dirty="0">
                <a:ea typeface="+mn-ea"/>
                <a:cs typeface="Times New Roman" panose="02020603050405020304" pitchFamily="18" charset="0"/>
              </a:rPr>
              <a:t>只要加在二极管上的电压为</a:t>
            </a:r>
            <a:r>
              <a:rPr lang="en-US" altLang="zh-CN" sz="2000" dirty="0">
                <a:ea typeface="+mn-ea"/>
                <a:cs typeface="Times New Roman" panose="02020603050405020304" pitchFamily="18" charset="0"/>
              </a:rPr>
              <a:t>FM-AM</a:t>
            </a:r>
            <a:r>
              <a:rPr lang="zh-CN" altLang="en-US" sz="2000" dirty="0">
                <a:ea typeface="+mn-ea"/>
                <a:cs typeface="Times New Roman" panose="02020603050405020304" pitchFamily="18" charset="0"/>
              </a:rPr>
              <a:t>波，后面就是振幅检波</a:t>
            </a:r>
            <a:r>
              <a:rPr lang="zh-CN" altLang="en-US" sz="2000" dirty="0" smtClean="0">
                <a:ea typeface="+mn-ea"/>
                <a:cs typeface="Times New Roman" panose="02020603050405020304" pitchFamily="18" charset="0"/>
              </a:rPr>
              <a:t>。这里</a:t>
            </a:r>
            <a:r>
              <a:rPr lang="zh-CN" altLang="en-US" sz="2000" dirty="0">
                <a:ea typeface="+mn-ea"/>
                <a:cs typeface="Times New Roman" panose="02020603050405020304" pitchFamily="18" charset="0"/>
              </a:rPr>
              <a:t>关键是</a:t>
            </a:r>
            <a:r>
              <a:rPr lang="zh-CN" altLang="en-US" sz="2000" dirty="0" smtClean="0">
                <a:ea typeface="+mn-ea"/>
                <a:cs typeface="Times New Roman" panose="02020603050405020304" pitchFamily="18" charset="0"/>
              </a:rPr>
              <a:t>弄清       与       </a:t>
            </a:r>
            <a:r>
              <a:rPr lang="zh-CN" altLang="en-US" sz="2000" dirty="0">
                <a:ea typeface="+mn-ea"/>
                <a:cs typeface="Times New Roman" panose="02020603050405020304" pitchFamily="18" charset="0"/>
              </a:rPr>
              <a:t>间的相位关系。</a:t>
            </a:r>
          </a:p>
        </p:txBody>
      </p:sp>
      <p:pic>
        <p:nvPicPr>
          <p:cNvPr id="15" name="图片 93195" descr="125.wmf">
            <a:extLst>
              <a:ext uri="{FF2B5EF4-FFF2-40B4-BE49-F238E27FC236}">
                <a16:creationId xmlns="" xmlns:a16="http://schemas.microsoft.com/office/drawing/2014/main" id="{B1325D09-D63B-F1AA-CB56-79C453D13C5E}"/>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6724" y="4835859"/>
            <a:ext cx="431800"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图片 93196" descr="126.wmf">
            <a:extLst>
              <a:ext uri="{FF2B5EF4-FFF2-40B4-BE49-F238E27FC236}">
                <a16:creationId xmlns="" xmlns:a16="http://schemas.microsoft.com/office/drawing/2014/main" id="{96A5DB96-7892-7E0B-C5B0-3B96513739FA}"/>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326709" y="4859903"/>
            <a:ext cx="504825" cy="48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图片 16">
            <a:extLst>
              <a:ext uri="{FF2B5EF4-FFF2-40B4-BE49-F238E27FC236}">
                <a16:creationId xmlns="" xmlns:a16="http://schemas.microsoft.com/office/drawing/2014/main" id="{E98C2963-1BC0-752F-AAA5-32F330C7D5A6}"/>
              </a:ext>
            </a:extLst>
          </p:cNvPr>
          <p:cNvPicPr>
            <a:picLocks noChangeAspect="1"/>
          </p:cNvPicPr>
          <p:nvPr/>
        </p:nvPicPr>
        <p:blipFill>
          <a:blip r:embed="rId6"/>
          <a:stretch>
            <a:fillRect/>
          </a:stretch>
        </p:blipFill>
        <p:spPr>
          <a:xfrm>
            <a:off x="5136145" y="1089484"/>
            <a:ext cx="3676207" cy="1932599"/>
          </a:xfrm>
          <a:prstGeom prst="rect">
            <a:avLst/>
          </a:prstGeom>
        </p:spPr>
      </p:pic>
    </p:spTree>
    <p:extLst>
      <p:ext uri="{BB962C8B-B14F-4D97-AF65-F5344CB8AC3E}">
        <p14:creationId xmlns:p14="http://schemas.microsoft.com/office/powerpoint/2010/main" val="1588808278"/>
      </p:ext>
    </p:extLst>
  </p:cSld>
  <p:clrMapOvr>
    <a:masterClrMapping/>
  </p:clrMapOvr>
  <p:timing>
    <p:tnLst>
      <p:par>
        <p:cTn id="1" dur="indefinite" restart="never" nodeType="tmRoot"/>
      </p:par>
    </p:tnLst>
  </p:timing>
</p:sld>
</file>

<file path=ppt/slides/slide3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300</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11"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7.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角度调制</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与</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解调</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文本框 97281">
            <a:extLst>
              <a:ext uri="{FF2B5EF4-FFF2-40B4-BE49-F238E27FC236}">
                <a16:creationId xmlns="" xmlns:a16="http://schemas.microsoft.com/office/drawing/2014/main" id="{9ECF637C-DEAD-E5C4-7985-CC49A453B559}"/>
              </a:ext>
            </a:extLst>
          </p:cNvPr>
          <p:cNvSpPr txBox="1">
            <a:spLocks noChangeArrowheads="1"/>
          </p:cNvSpPr>
          <p:nvPr/>
        </p:nvSpPr>
        <p:spPr bwMode="auto">
          <a:xfrm>
            <a:off x="107521" y="1379900"/>
            <a:ext cx="8820150" cy="426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1pPr>
            <a:lvl2pPr marL="742950" indent="-28575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2pPr>
            <a:lvl3pPr marL="11430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3pPr>
            <a:lvl4pPr marL="16002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4pPr>
            <a:lvl5pPr marL="20574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en-US" altLang="zh-CN" sz="2000" dirty="0">
                <a:ea typeface="+mn-ea"/>
                <a:cs typeface="Times New Roman" panose="02020603050405020304" pitchFamily="18" charset="0"/>
              </a:rPr>
              <a:t>① </a:t>
            </a:r>
            <a:r>
              <a:rPr lang="zh-CN" altLang="en-US" sz="2000" dirty="0">
                <a:ea typeface="+mn-ea"/>
                <a:cs typeface="Times New Roman" panose="02020603050405020304" pitchFamily="18" charset="0"/>
              </a:rPr>
              <a:t>当信号率频</a:t>
            </a:r>
            <a:r>
              <a:rPr lang="en-US" altLang="zh-CN" sz="2000" dirty="0">
                <a:ea typeface="+mn-ea"/>
                <a:cs typeface="Times New Roman" panose="02020603050405020304" pitchFamily="18" charset="0"/>
              </a:rPr>
              <a:t>fin</a:t>
            </a:r>
            <a:r>
              <a:rPr lang="zh-CN" altLang="en-US" sz="2000" dirty="0">
                <a:ea typeface="+mn-ea"/>
                <a:cs typeface="Times New Roman" panose="02020603050405020304" pitchFamily="18" charset="0"/>
              </a:rPr>
              <a:t>等于中心频率</a:t>
            </a:r>
            <a:r>
              <a:rPr lang="en-US" altLang="zh-CN" sz="2000" dirty="0">
                <a:ea typeface="+mn-ea"/>
                <a:cs typeface="Times New Roman" panose="02020603050405020304" pitchFamily="18" charset="0"/>
              </a:rPr>
              <a:t>f</a:t>
            </a:r>
            <a:r>
              <a:rPr lang="en-US" altLang="zh-CN" sz="2000" baseline="-25000" dirty="0">
                <a:ea typeface="+mn-ea"/>
                <a:cs typeface="Times New Roman" panose="02020603050405020304" pitchFamily="18" charset="0"/>
              </a:rPr>
              <a:t>0</a:t>
            </a:r>
            <a:r>
              <a:rPr lang="en-US" altLang="zh-CN" sz="2000" dirty="0">
                <a:ea typeface="+mn-ea"/>
                <a:cs typeface="Times New Roman" panose="02020603050405020304" pitchFamily="18" charset="0"/>
              </a:rPr>
              <a:t>(</a:t>
            </a:r>
            <a:r>
              <a:rPr lang="zh-CN" altLang="en-US" sz="2000" dirty="0">
                <a:ea typeface="+mn-ea"/>
                <a:cs typeface="Times New Roman" panose="02020603050405020304" pitchFamily="18" charset="0"/>
              </a:rPr>
              <a:t>即回路谐振频率</a:t>
            </a:r>
            <a:r>
              <a:rPr lang="en-US" altLang="zh-CN" sz="2000" dirty="0">
                <a:ea typeface="+mn-ea"/>
                <a:cs typeface="Times New Roman" panose="02020603050405020304" pitchFamily="18" charset="0"/>
              </a:rPr>
              <a:t>)</a:t>
            </a:r>
            <a:r>
              <a:rPr lang="zh-CN" altLang="en-US" sz="2000" dirty="0">
                <a:ea typeface="+mn-ea"/>
                <a:cs typeface="Times New Roman" panose="02020603050405020304" pitchFamily="18" charset="0"/>
              </a:rPr>
              <a:t>时，</a:t>
            </a:r>
            <a:r>
              <a:rPr lang="en-US" altLang="zh-CN" sz="2000" dirty="0">
                <a:ea typeface="+mn-ea"/>
                <a:cs typeface="Times New Roman" panose="02020603050405020304" pitchFamily="18" charset="0"/>
              </a:rPr>
              <a:t>X</a:t>
            </a:r>
            <a:r>
              <a:rPr lang="en-US" altLang="zh-CN" sz="2000" baseline="-25000" dirty="0">
                <a:ea typeface="+mn-ea"/>
                <a:cs typeface="Times New Roman" panose="02020603050405020304" pitchFamily="18" charset="0"/>
              </a:rPr>
              <a:t>2</a:t>
            </a:r>
            <a:r>
              <a:rPr lang="en-US" altLang="zh-CN" sz="2000" dirty="0">
                <a:ea typeface="+mn-ea"/>
                <a:cs typeface="Times New Roman" panose="02020603050405020304" pitchFamily="18" charset="0"/>
              </a:rPr>
              <a:t>=0</a:t>
            </a:r>
            <a:r>
              <a:rPr lang="zh-CN" altLang="en-US" sz="2000" dirty="0">
                <a:ea typeface="+mn-ea"/>
                <a:cs typeface="Times New Roman" panose="02020603050405020304" pitchFamily="18" charset="0"/>
              </a:rPr>
              <a:t>，于是</a:t>
            </a:r>
          </a:p>
        </p:txBody>
      </p:sp>
      <p:sp>
        <p:nvSpPr>
          <p:cNvPr id="9" name="文本框 97287">
            <a:extLst>
              <a:ext uri="{FF2B5EF4-FFF2-40B4-BE49-F238E27FC236}">
                <a16:creationId xmlns="" xmlns:a16="http://schemas.microsoft.com/office/drawing/2014/main" id="{E11CE8A0-3098-89BB-F109-083C451B4878}"/>
              </a:ext>
            </a:extLst>
          </p:cNvPr>
          <p:cNvSpPr txBox="1">
            <a:spLocks noChangeArrowheads="1"/>
          </p:cNvSpPr>
          <p:nvPr/>
        </p:nvSpPr>
        <p:spPr bwMode="auto">
          <a:xfrm>
            <a:off x="463145" y="1806235"/>
            <a:ext cx="608371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1pPr>
            <a:lvl2pPr marL="742950" indent="-28575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2pPr>
            <a:lvl3pPr marL="11430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3pPr>
            <a:lvl4pPr marL="16002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4pPr>
            <a:lvl5pPr marL="20574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dirty="0" smtClean="0">
                <a:latin typeface="+mn-ea"/>
                <a:ea typeface="+mn-ea"/>
              </a:rPr>
              <a:t>次级</a:t>
            </a:r>
            <a:r>
              <a:rPr lang="zh-CN" altLang="en-US" sz="2000" dirty="0">
                <a:latin typeface="+mn-ea"/>
                <a:ea typeface="+mn-ea"/>
              </a:rPr>
              <a:t>回路电压     比初级回路电压     超前    。</a:t>
            </a:r>
          </a:p>
        </p:txBody>
      </p:sp>
      <p:pic>
        <p:nvPicPr>
          <p:cNvPr id="10" name="图片 97289" descr="138.wmf">
            <a:extLst>
              <a:ext uri="{FF2B5EF4-FFF2-40B4-BE49-F238E27FC236}">
                <a16:creationId xmlns="" xmlns:a16="http://schemas.microsoft.com/office/drawing/2014/main" id="{F6221170-9A20-6163-38F6-6E58385D13F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52689" y="1753878"/>
            <a:ext cx="531793" cy="413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图片 97290" descr="139.wmf">
            <a:extLst>
              <a:ext uri="{FF2B5EF4-FFF2-40B4-BE49-F238E27FC236}">
                <a16:creationId xmlns="" xmlns:a16="http://schemas.microsoft.com/office/drawing/2014/main" id="{C41C0962-1D7C-BC07-811B-D6B0213750C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51046" y="1748827"/>
            <a:ext cx="344084" cy="457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图片 97291" descr="140.wmf">
            <a:extLst>
              <a:ext uri="{FF2B5EF4-FFF2-40B4-BE49-F238E27FC236}">
                <a16:creationId xmlns="" xmlns:a16="http://schemas.microsoft.com/office/drawing/2014/main" id="{97FBC121-7CA8-4C4D-BFD2-905547783F5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676504" y="1610208"/>
            <a:ext cx="448774" cy="704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文本框 98305">
            <a:extLst>
              <a:ext uri="{FF2B5EF4-FFF2-40B4-BE49-F238E27FC236}">
                <a16:creationId xmlns="" xmlns:a16="http://schemas.microsoft.com/office/drawing/2014/main" id="{63FD4AB4-993A-A502-8D20-93DBC286CB19}"/>
              </a:ext>
            </a:extLst>
          </p:cNvPr>
          <p:cNvSpPr txBox="1">
            <a:spLocks noChangeArrowheads="1"/>
          </p:cNvSpPr>
          <p:nvPr/>
        </p:nvSpPr>
        <p:spPr bwMode="auto">
          <a:xfrm>
            <a:off x="118311" y="2195543"/>
            <a:ext cx="6734536" cy="5186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1pPr>
            <a:lvl2pPr marL="742950" indent="-28575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2pPr>
            <a:lvl3pPr marL="11430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3pPr>
            <a:lvl4pPr marL="16002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4pPr>
            <a:lvl5pPr marL="20574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9pPr>
          </a:lstStyle>
          <a:p>
            <a:pPr eaLnBrk="1" hangingPunct="1">
              <a:lnSpc>
                <a:spcPct val="160000"/>
              </a:lnSpc>
            </a:pPr>
            <a:r>
              <a:rPr lang="en-US" altLang="zh-CN" sz="2000" dirty="0">
                <a:ea typeface="+mn-ea"/>
                <a:cs typeface="Times New Roman" panose="02020603050405020304" pitchFamily="18" charset="0"/>
              </a:rPr>
              <a:t>② </a:t>
            </a:r>
            <a:r>
              <a:rPr lang="zh-CN" altLang="en-US" sz="2000" dirty="0">
                <a:ea typeface="+mn-ea"/>
                <a:cs typeface="Times New Roman" panose="02020603050405020304" pitchFamily="18" charset="0"/>
              </a:rPr>
              <a:t>当信号频率</a:t>
            </a:r>
            <a:r>
              <a:rPr lang="en-US" altLang="zh-CN" sz="2000" dirty="0">
                <a:ea typeface="+mn-ea"/>
                <a:cs typeface="Times New Roman" panose="02020603050405020304" pitchFamily="18" charset="0"/>
              </a:rPr>
              <a:t>fin</a:t>
            </a:r>
            <a:r>
              <a:rPr lang="zh-CN" altLang="en-US" sz="2000" dirty="0">
                <a:ea typeface="+mn-ea"/>
                <a:cs typeface="Times New Roman" panose="02020603050405020304" pitchFamily="18" charset="0"/>
              </a:rPr>
              <a:t>高于中心频率</a:t>
            </a:r>
            <a:r>
              <a:rPr lang="en-US" altLang="zh-CN" sz="2000" dirty="0">
                <a:ea typeface="+mn-ea"/>
                <a:cs typeface="Times New Roman" panose="02020603050405020304" pitchFamily="18" charset="0"/>
              </a:rPr>
              <a:t>f</a:t>
            </a:r>
            <a:r>
              <a:rPr lang="en-US" altLang="zh-CN" sz="2000" baseline="-25000" dirty="0">
                <a:ea typeface="+mn-ea"/>
                <a:cs typeface="Times New Roman" panose="02020603050405020304" pitchFamily="18" charset="0"/>
              </a:rPr>
              <a:t>0</a:t>
            </a:r>
            <a:r>
              <a:rPr lang="zh-CN" altLang="en-US" sz="2000" dirty="0">
                <a:ea typeface="+mn-ea"/>
                <a:cs typeface="Times New Roman" panose="02020603050405020304" pitchFamily="18" charset="0"/>
              </a:rPr>
              <a:t>时，</a:t>
            </a:r>
            <a:r>
              <a:rPr lang="en-US" altLang="zh-CN" sz="2000" dirty="0">
                <a:ea typeface="+mn-ea"/>
                <a:cs typeface="Times New Roman" panose="02020603050405020304" pitchFamily="18" charset="0"/>
              </a:rPr>
              <a:t>X</a:t>
            </a:r>
            <a:r>
              <a:rPr lang="en-US" altLang="zh-CN" sz="2000" baseline="-25000" dirty="0">
                <a:ea typeface="+mn-ea"/>
                <a:cs typeface="Times New Roman" panose="02020603050405020304" pitchFamily="18" charset="0"/>
              </a:rPr>
              <a:t>L2</a:t>
            </a:r>
            <a:r>
              <a:rPr lang="zh-CN" altLang="en-US" sz="2000" dirty="0">
                <a:ea typeface="+mn-ea"/>
                <a:cs typeface="Times New Roman" panose="02020603050405020304" pitchFamily="18" charset="0"/>
              </a:rPr>
              <a:t>＞</a:t>
            </a:r>
            <a:r>
              <a:rPr lang="en-US" altLang="zh-CN" sz="2000" dirty="0">
                <a:ea typeface="+mn-ea"/>
                <a:cs typeface="Times New Roman" panose="02020603050405020304" pitchFamily="18" charset="0"/>
              </a:rPr>
              <a:t>X</a:t>
            </a:r>
            <a:r>
              <a:rPr lang="en-US" altLang="zh-CN" sz="2000" baseline="-25000" dirty="0">
                <a:ea typeface="+mn-ea"/>
                <a:cs typeface="Times New Roman" panose="02020603050405020304" pitchFamily="18" charset="0"/>
              </a:rPr>
              <a:t>C2</a:t>
            </a:r>
            <a:r>
              <a:rPr lang="zh-CN" altLang="en-US" sz="2000" dirty="0">
                <a:ea typeface="+mn-ea"/>
                <a:cs typeface="Times New Roman" panose="02020603050405020304" pitchFamily="18" charset="0"/>
              </a:rPr>
              <a:t>，即</a:t>
            </a:r>
            <a:r>
              <a:rPr lang="en-US" altLang="zh-CN" sz="2000" dirty="0">
                <a:ea typeface="+mn-ea"/>
                <a:cs typeface="Times New Roman" panose="02020603050405020304" pitchFamily="18" charset="0"/>
              </a:rPr>
              <a:t>X</a:t>
            </a:r>
            <a:r>
              <a:rPr lang="en-US" altLang="zh-CN" sz="2000" baseline="-25000" dirty="0">
                <a:ea typeface="+mn-ea"/>
                <a:cs typeface="Times New Roman" panose="02020603050405020304" pitchFamily="18" charset="0"/>
              </a:rPr>
              <a:t>2</a:t>
            </a:r>
            <a:r>
              <a:rPr lang="zh-CN" altLang="en-US" sz="2000" dirty="0">
                <a:ea typeface="+mn-ea"/>
                <a:cs typeface="Times New Roman" panose="02020603050405020304" pitchFamily="18" charset="0"/>
              </a:rPr>
              <a:t>＞</a:t>
            </a:r>
            <a:r>
              <a:rPr lang="en-US" altLang="zh-CN" sz="2000" dirty="0">
                <a:ea typeface="+mn-ea"/>
                <a:cs typeface="Times New Roman" panose="02020603050405020304" pitchFamily="18" charset="0"/>
              </a:rPr>
              <a:t>0</a:t>
            </a:r>
            <a:r>
              <a:rPr lang="zh-CN" altLang="en-US" sz="2000" dirty="0" smtClean="0">
                <a:ea typeface="+mn-ea"/>
                <a:cs typeface="Times New Roman" panose="02020603050405020304" pitchFamily="18" charset="0"/>
              </a:rPr>
              <a:t>。</a:t>
            </a:r>
            <a:endParaRPr lang="zh-CN" altLang="en-US" sz="2000" dirty="0">
              <a:ea typeface="+mn-ea"/>
              <a:cs typeface="Times New Roman" panose="02020603050405020304" pitchFamily="18" charset="0"/>
            </a:endParaRPr>
          </a:p>
        </p:txBody>
      </p:sp>
      <p:sp>
        <p:nvSpPr>
          <p:cNvPr id="15" name="文本框 98319">
            <a:extLst>
              <a:ext uri="{FF2B5EF4-FFF2-40B4-BE49-F238E27FC236}">
                <a16:creationId xmlns="" xmlns:a16="http://schemas.microsoft.com/office/drawing/2014/main" id="{D395EF4F-68F0-64A1-5090-9A3DE4A8EFDD}"/>
              </a:ext>
            </a:extLst>
          </p:cNvPr>
          <p:cNvSpPr txBox="1">
            <a:spLocks noChangeArrowheads="1"/>
          </p:cNvSpPr>
          <p:nvPr/>
        </p:nvSpPr>
        <p:spPr bwMode="auto">
          <a:xfrm>
            <a:off x="73843" y="2651758"/>
            <a:ext cx="873377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1pPr>
            <a:lvl2pPr marL="742950" indent="-28575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2pPr>
            <a:lvl3pPr marL="11430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3pPr>
            <a:lvl4pPr marL="16002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4pPr>
            <a:lvl5pPr marL="20574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9pPr>
          </a:lstStyle>
          <a:p>
            <a:pPr eaLnBrk="1" hangingPunct="1">
              <a:lnSpc>
                <a:spcPct val="140000"/>
              </a:lnSpc>
            </a:pPr>
            <a:r>
              <a:rPr lang="zh-CN" altLang="en-US" sz="2000" dirty="0" smtClean="0">
                <a:latin typeface="+mn-ea"/>
                <a:ea typeface="+mn-ea"/>
              </a:rPr>
              <a:t>次级</a:t>
            </a:r>
            <a:r>
              <a:rPr lang="zh-CN" altLang="en-US" sz="2000" dirty="0">
                <a:latin typeface="+mn-ea"/>
                <a:ea typeface="+mn-ea"/>
              </a:rPr>
              <a:t>回路</a:t>
            </a:r>
            <a:r>
              <a:rPr lang="zh-CN" altLang="en-US" sz="2000" dirty="0" smtClean="0">
                <a:latin typeface="+mn-ea"/>
                <a:ea typeface="+mn-ea"/>
              </a:rPr>
              <a:t>电压    超前</a:t>
            </a:r>
            <a:r>
              <a:rPr lang="zh-CN" altLang="en-US" sz="2000" dirty="0">
                <a:latin typeface="+mn-ea"/>
                <a:ea typeface="+mn-ea"/>
              </a:rPr>
              <a:t>于初级回路电压    </a:t>
            </a:r>
            <a:r>
              <a:rPr lang="zh-CN" altLang="en-US" sz="2000" dirty="0" smtClean="0">
                <a:latin typeface="+mn-ea"/>
                <a:ea typeface="+mn-ea"/>
              </a:rPr>
              <a:t>一</a:t>
            </a:r>
            <a:r>
              <a:rPr lang="zh-CN" altLang="en-US" sz="2000" dirty="0">
                <a:latin typeface="+mn-ea"/>
                <a:ea typeface="+mn-ea"/>
              </a:rPr>
              <a:t>个</a:t>
            </a:r>
            <a:r>
              <a:rPr lang="zh-CN" altLang="en-US" sz="2000" dirty="0" smtClean="0">
                <a:latin typeface="+mn-ea"/>
                <a:ea typeface="+mn-ea"/>
              </a:rPr>
              <a:t>小于   的</a:t>
            </a:r>
            <a:r>
              <a:rPr lang="zh-CN" altLang="en-US" sz="2000" dirty="0">
                <a:latin typeface="+mn-ea"/>
                <a:ea typeface="+mn-ea"/>
              </a:rPr>
              <a:t>角度        。</a:t>
            </a:r>
          </a:p>
        </p:txBody>
      </p:sp>
      <p:pic>
        <p:nvPicPr>
          <p:cNvPr id="16" name="图片 98321" descr="150.wmf">
            <a:extLst>
              <a:ext uri="{FF2B5EF4-FFF2-40B4-BE49-F238E27FC236}">
                <a16:creationId xmlns="" xmlns:a16="http://schemas.microsoft.com/office/drawing/2014/main" id="{C1DB2AAE-51EB-2F7F-55C9-30EFC93AE784}"/>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714599" y="2725073"/>
            <a:ext cx="647700"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图片 98323" descr="151.wmf">
            <a:extLst>
              <a:ext uri="{FF2B5EF4-FFF2-40B4-BE49-F238E27FC236}">
                <a16:creationId xmlns="" xmlns:a16="http://schemas.microsoft.com/office/drawing/2014/main" id="{5D29FA16-87C4-9014-F950-C6552B28B617}"/>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509152" y="2722023"/>
            <a:ext cx="504825"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图片 98325" descr="152.wmf">
            <a:extLst>
              <a:ext uri="{FF2B5EF4-FFF2-40B4-BE49-F238E27FC236}">
                <a16:creationId xmlns="" xmlns:a16="http://schemas.microsoft.com/office/drawing/2014/main" id="{DC2BCC63-3A36-AE0F-9DF9-2AD4A47A293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965778" y="2610614"/>
            <a:ext cx="474339" cy="6330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图片 98327" descr="153.wmf">
            <a:extLst>
              <a:ext uri="{FF2B5EF4-FFF2-40B4-BE49-F238E27FC236}">
                <a16:creationId xmlns="" xmlns:a16="http://schemas.microsoft.com/office/drawing/2014/main" id="{0AFA8743-9487-908E-6D24-A645DE2E4139}"/>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119835" y="2578354"/>
            <a:ext cx="1008062"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文本框 99329">
            <a:extLst>
              <a:ext uri="{FF2B5EF4-FFF2-40B4-BE49-F238E27FC236}">
                <a16:creationId xmlns="" xmlns:a16="http://schemas.microsoft.com/office/drawing/2014/main" id="{203E716E-3EDA-32BC-9BA4-FC1BE79ED3A5}"/>
              </a:ext>
            </a:extLst>
          </p:cNvPr>
          <p:cNvSpPr txBox="1">
            <a:spLocks noChangeArrowheads="1"/>
          </p:cNvSpPr>
          <p:nvPr/>
        </p:nvSpPr>
        <p:spPr bwMode="auto">
          <a:xfrm>
            <a:off x="164025" y="3182790"/>
            <a:ext cx="334097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1pPr>
            <a:lvl2pPr marL="742950" indent="-28575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2pPr>
            <a:lvl3pPr marL="11430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3pPr>
            <a:lvl4pPr marL="16002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4pPr>
            <a:lvl5pPr marL="20574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dirty="0">
                <a:ea typeface="+mn-ea"/>
                <a:cs typeface="Times New Roman" panose="02020603050405020304" pitchFamily="18" charset="0"/>
              </a:rPr>
              <a:t>③ </a:t>
            </a:r>
            <a:r>
              <a:rPr lang="zh-CN" altLang="en-US" sz="2000" dirty="0">
                <a:ea typeface="+mn-ea"/>
                <a:cs typeface="Times New Roman" panose="02020603050405020304" pitchFamily="18" charset="0"/>
              </a:rPr>
              <a:t>当</a:t>
            </a:r>
            <a:r>
              <a:rPr lang="en-US" altLang="zh-CN" sz="2000" dirty="0">
                <a:ea typeface="+mn-ea"/>
                <a:cs typeface="Times New Roman" panose="02020603050405020304" pitchFamily="18" charset="0"/>
              </a:rPr>
              <a:t>fin</a:t>
            </a:r>
            <a:r>
              <a:rPr lang="zh-CN" altLang="en-US" sz="2000" dirty="0">
                <a:ea typeface="+mn-ea"/>
                <a:cs typeface="Times New Roman" panose="02020603050405020304" pitchFamily="18" charset="0"/>
              </a:rPr>
              <a:t>＜</a:t>
            </a:r>
            <a:r>
              <a:rPr lang="en-US" altLang="zh-CN" sz="2000" dirty="0">
                <a:ea typeface="+mn-ea"/>
                <a:cs typeface="Times New Roman" panose="02020603050405020304" pitchFamily="18" charset="0"/>
              </a:rPr>
              <a:t>f0</a:t>
            </a:r>
            <a:r>
              <a:rPr lang="zh-CN" altLang="en-US" sz="2000" dirty="0">
                <a:ea typeface="+mn-ea"/>
                <a:cs typeface="Times New Roman" panose="02020603050405020304" pitchFamily="18" charset="0"/>
              </a:rPr>
              <a:t>时，与上面类似</a:t>
            </a:r>
          </a:p>
        </p:txBody>
      </p:sp>
      <p:sp>
        <p:nvSpPr>
          <p:cNvPr id="21" name="文本框 99332">
            <a:extLst>
              <a:ext uri="{FF2B5EF4-FFF2-40B4-BE49-F238E27FC236}">
                <a16:creationId xmlns="" xmlns:a16="http://schemas.microsoft.com/office/drawing/2014/main" id="{E8080D51-EE33-76A7-C683-3969C7AACC24}"/>
              </a:ext>
            </a:extLst>
          </p:cNvPr>
          <p:cNvSpPr txBox="1">
            <a:spLocks noChangeArrowheads="1"/>
          </p:cNvSpPr>
          <p:nvPr/>
        </p:nvSpPr>
        <p:spPr bwMode="auto">
          <a:xfrm>
            <a:off x="625441" y="3664018"/>
            <a:ext cx="525015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1pPr>
            <a:lvl2pPr marL="742950" indent="-28575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2pPr>
            <a:lvl3pPr marL="11430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3pPr>
            <a:lvl4pPr marL="16002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4pPr>
            <a:lvl5pPr marL="20574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dirty="0" smtClean="0">
                <a:ea typeface="+mn-ea"/>
                <a:cs typeface="Times New Roman" panose="02020603050405020304" pitchFamily="18" charset="0"/>
              </a:rPr>
              <a:t>       </a:t>
            </a:r>
            <a:r>
              <a:rPr lang="zh-CN" altLang="en-US" sz="2000" dirty="0">
                <a:ea typeface="+mn-ea"/>
                <a:cs typeface="Times New Roman" panose="02020603050405020304" pitchFamily="18" charset="0"/>
              </a:rPr>
              <a:t>超前</a:t>
            </a:r>
            <a:r>
              <a:rPr lang="zh-CN" altLang="en-US" sz="2000" dirty="0" smtClean="0">
                <a:ea typeface="+mn-ea"/>
                <a:cs typeface="Times New Roman" panose="02020603050405020304" pitchFamily="18" charset="0"/>
              </a:rPr>
              <a:t>于        </a:t>
            </a:r>
            <a:r>
              <a:rPr lang="zh-CN" altLang="en-US" sz="2000" dirty="0">
                <a:ea typeface="+mn-ea"/>
                <a:cs typeface="Times New Roman" panose="02020603050405020304" pitchFamily="18" charset="0"/>
              </a:rPr>
              <a:t>一个大于     的相角 </a:t>
            </a:r>
            <a:r>
              <a:rPr lang="zh-CN" altLang="en-US" sz="2000" dirty="0" smtClean="0">
                <a:ea typeface="+mn-ea"/>
                <a:cs typeface="Times New Roman" panose="02020603050405020304" pitchFamily="18" charset="0"/>
              </a:rPr>
              <a:t>              </a:t>
            </a:r>
            <a:r>
              <a:rPr lang="zh-CN" altLang="en-US" sz="2000" dirty="0">
                <a:ea typeface="+mn-ea"/>
                <a:cs typeface="Times New Roman" panose="02020603050405020304" pitchFamily="18" charset="0"/>
              </a:rPr>
              <a:t>。</a:t>
            </a:r>
          </a:p>
        </p:txBody>
      </p:sp>
      <p:pic>
        <p:nvPicPr>
          <p:cNvPr id="22" name="图片 99335" descr="155.wmf">
            <a:extLst>
              <a:ext uri="{FF2B5EF4-FFF2-40B4-BE49-F238E27FC236}">
                <a16:creationId xmlns="" xmlns:a16="http://schemas.microsoft.com/office/drawing/2014/main" id="{12CAB721-513A-544B-9FAD-25FB9067B3E8}"/>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06321" y="3644195"/>
            <a:ext cx="49688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 name="图片 99337" descr="156.wmf">
            <a:extLst>
              <a:ext uri="{FF2B5EF4-FFF2-40B4-BE49-F238E27FC236}">
                <a16:creationId xmlns="" xmlns:a16="http://schemas.microsoft.com/office/drawing/2014/main" id="{AD40DC03-F6B9-95F5-24ED-B95478D35798}"/>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1986531" y="3617184"/>
            <a:ext cx="649287" cy="48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 name="图片 99339" descr="157.wmf">
            <a:extLst>
              <a:ext uri="{FF2B5EF4-FFF2-40B4-BE49-F238E27FC236}">
                <a16:creationId xmlns="" xmlns:a16="http://schemas.microsoft.com/office/drawing/2014/main" id="{4173EFA3-2F2E-3058-BB4D-5DCC3479E83D}"/>
              </a:ext>
            </a:extLst>
          </p:cNvPr>
          <p:cNvPicPr>
            <a:picLocks noChangeAspect="1" noChangeArrowheads="1"/>
          </p:cNvPicPr>
          <p:nvPr/>
        </p:nvPicPr>
        <p:blipFill rotWithShape="1">
          <a:blip r:embed="rId10" cstate="print">
            <a:extLst>
              <a:ext uri="{28A0092B-C50C-407E-A947-70E740481C1C}">
                <a14:useLocalDpi xmlns:a14="http://schemas.microsoft.com/office/drawing/2010/main" val="0"/>
              </a:ext>
            </a:extLst>
          </a:blip>
          <a:srcRect r="42161"/>
          <a:stretch/>
        </p:blipFill>
        <p:spPr bwMode="auto">
          <a:xfrm>
            <a:off x="3370828" y="3555481"/>
            <a:ext cx="374624"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 name="图片 99341" descr="158.wmf">
            <a:extLst>
              <a:ext uri="{FF2B5EF4-FFF2-40B4-BE49-F238E27FC236}">
                <a16:creationId xmlns="" xmlns:a16="http://schemas.microsoft.com/office/drawing/2014/main" id="{7738D9E5-08B8-EFEA-5CEB-B0E53E0A884C}"/>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4488780" y="3493304"/>
            <a:ext cx="1008062"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 name="图片 101379" descr="164.wmf">
            <a:extLst>
              <a:ext uri="{FF2B5EF4-FFF2-40B4-BE49-F238E27FC236}">
                <a16:creationId xmlns="" xmlns:a16="http://schemas.microsoft.com/office/drawing/2014/main" id="{95C45E5C-E29F-E084-AEEA-351A4140B653}"/>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33509" y="4095913"/>
            <a:ext cx="1882775" cy="155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 name="图片 101380" descr="165.wmf">
            <a:extLst>
              <a:ext uri="{FF2B5EF4-FFF2-40B4-BE49-F238E27FC236}">
                <a16:creationId xmlns="" xmlns:a16="http://schemas.microsoft.com/office/drawing/2014/main" id="{290D9DE6-90D1-D46F-5320-2063055EAE84}"/>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567109" y="4248313"/>
            <a:ext cx="2884488" cy="141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 name="文本框 101381">
            <a:extLst>
              <a:ext uri="{FF2B5EF4-FFF2-40B4-BE49-F238E27FC236}">
                <a16:creationId xmlns="" xmlns:a16="http://schemas.microsoft.com/office/drawing/2014/main" id="{8880D031-F224-F0E9-7B78-773E86E2C0A7}"/>
              </a:ext>
            </a:extLst>
          </p:cNvPr>
          <p:cNvSpPr txBox="1">
            <a:spLocks noChangeArrowheads="1"/>
          </p:cNvSpPr>
          <p:nvPr/>
        </p:nvSpPr>
        <p:spPr bwMode="auto">
          <a:xfrm>
            <a:off x="1092322" y="5737388"/>
            <a:ext cx="90601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1pPr>
            <a:lvl2pPr marL="742950" indent="-28575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2pPr>
            <a:lvl3pPr marL="11430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3pPr>
            <a:lvl4pPr marL="16002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4pPr>
            <a:lvl5pPr marL="20574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cs typeface="Times New Roman" panose="02020603050405020304" pitchFamily="18" charset="0"/>
              </a:rPr>
              <a:t>fin=f0 </a:t>
            </a:r>
          </a:p>
        </p:txBody>
      </p:sp>
      <p:sp>
        <p:nvSpPr>
          <p:cNvPr id="30" name="文本框 101382">
            <a:extLst>
              <a:ext uri="{FF2B5EF4-FFF2-40B4-BE49-F238E27FC236}">
                <a16:creationId xmlns="" xmlns:a16="http://schemas.microsoft.com/office/drawing/2014/main" id="{F56728E3-E9E5-D0F4-79AE-6D22B0E75BE7}"/>
              </a:ext>
            </a:extLst>
          </p:cNvPr>
          <p:cNvSpPr txBox="1">
            <a:spLocks noChangeArrowheads="1"/>
          </p:cNvSpPr>
          <p:nvPr/>
        </p:nvSpPr>
        <p:spPr bwMode="auto">
          <a:xfrm>
            <a:off x="3468809" y="5737388"/>
            <a:ext cx="90601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1pPr>
            <a:lvl2pPr marL="742950" indent="-28575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2pPr>
            <a:lvl3pPr marL="11430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3pPr>
            <a:lvl4pPr marL="16002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4pPr>
            <a:lvl5pPr marL="20574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cs typeface="Times New Roman" panose="02020603050405020304" pitchFamily="18" charset="0"/>
              </a:rPr>
              <a:t>fin&gt;f0 </a:t>
            </a:r>
          </a:p>
        </p:txBody>
      </p:sp>
      <p:sp>
        <p:nvSpPr>
          <p:cNvPr id="31" name="文本框 101383">
            <a:extLst>
              <a:ext uri="{FF2B5EF4-FFF2-40B4-BE49-F238E27FC236}">
                <a16:creationId xmlns="" xmlns:a16="http://schemas.microsoft.com/office/drawing/2014/main" id="{5F21BB3A-B7C6-FCDA-D9CC-CD5E6E7ED945}"/>
              </a:ext>
            </a:extLst>
          </p:cNvPr>
          <p:cNvSpPr txBox="1">
            <a:spLocks noChangeArrowheads="1"/>
          </p:cNvSpPr>
          <p:nvPr/>
        </p:nvSpPr>
        <p:spPr bwMode="auto">
          <a:xfrm>
            <a:off x="3180159" y="6177534"/>
            <a:ext cx="290015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1pPr>
            <a:lvl2pPr marL="742950" indent="-28575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2pPr>
            <a:lvl3pPr marL="11430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3pPr>
            <a:lvl4pPr marL="16002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4pPr>
            <a:lvl5pPr marL="20574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b="1" dirty="0">
                <a:cs typeface="Times New Roman" panose="02020603050405020304" pitchFamily="18" charset="0"/>
              </a:rPr>
              <a:t>图</a:t>
            </a:r>
            <a:r>
              <a:rPr lang="en-US" altLang="zh-CN" sz="2000" b="1" dirty="0">
                <a:cs typeface="Times New Roman" panose="02020603050405020304" pitchFamily="18" charset="0"/>
              </a:rPr>
              <a:t>7-24  </a:t>
            </a:r>
            <a:r>
              <a:rPr lang="zh-CN" altLang="en-US" sz="1800" b="1" dirty="0">
                <a:latin typeface="Tahoma" panose="020B0604030504040204" pitchFamily="34" charset="0"/>
              </a:rPr>
              <a:t>相位鉴频器矢量图</a:t>
            </a:r>
          </a:p>
        </p:txBody>
      </p:sp>
      <p:grpSp>
        <p:nvGrpSpPr>
          <p:cNvPr id="32" name="组合 101384">
            <a:extLst>
              <a:ext uri="{FF2B5EF4-FFF2-40B4-BE49-F238E27FC236}">
                <a16:creationId xmlns="" xmlns:a16="http://schemas.microsoft.com/office/drawing/2014/main" id="{B8B3AA41-9291-8C70-67EE-0071EDDDC769}"/>
              </a:ext>
            </a:extLst>
          </p:cNvPr>
          <p:cNvGrpSpPr>
            <a:grpSpLocks/>
          </p:cNvGrpSpPr>
          <p:nvPr/>
        </p:nvGrpSpPr>
        <p:grpSpPr bwMode="auto">
          <a:xfrm>
            <a:off x="5386509" y="4045113"/>
            <a:ext cx="3200400" cy="2063751"/>
            <a:chOff x="3408" y="1648"/>
            <a:chExt cx="2016" cy="1300"/>
          </a:xfrm>
        </p:grpSpPr>
        <p:sp>
          <p:nvSpPr>
            <p:cNvPr id="33" name="直接连接符 101385">
              <a:extLst>
                <a:ext uri="{FF2B5EF4-FFF2-40B4-BE49-F238E27FC236}">
                  <a16:creationId xmlns="" xmlns:a16="http://schemas.microsoft.com/office/drawing/2014/main" id="{18FD3FD7-4F33-1D7E-8D32-5766AA2B2CEB}"/>
                </a:ext>
              </a:extLst>
            </p:cNvPr>
            <p:cNvSpPr>
              <a:spLocks noChangeShapeType="1"/>
            </p:cNvSpPr>
            <p:nvPr/>
          </p:nvSpPr>
          <p:spPr bwMode="auto">
            <a:xfrm>
              <a:off x="4045" y="2242"/>
              <a:ext cx="986" cy="1"/>
            </a:xfrm>
            <a:prstGeom prst="line">
              <a:avLst/>
            </a:prstGeom>
            <a:noFill/>
            <a:ln w="222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34" name="直接连接符 101386">
              <a:extLst>
                <a:ext uri="{FF2B5EF4-FFF2-40B4-BE49-F238E27FC236}">
                  <a16:creationId xmlns="" xmlns:a16="http://schemas.microsoft.com/office/drawing/2014/main" id="{95AA3B8F-79D4-B802-8C88-5B2B02D303D3}"/>
                </a:ext>
              </a:extLst>
            </p:cNvPr>
            <p:cNvSpPr>
              <a:spLocks noChangeShapeType="1"/>
            </p:cNvSpPr>
            <p:nvPr/>
          </p:nvSpPr>
          <p:spPr bwMode="auto">
            <a:xfrm>
              <a:off x="3651" y="1864"/>
              <a:ext cx="985" cy="0"/>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 name="直接连接符 101387">
              <a:extLst>
                <a:ext uri="{FF2B5EF4-FFF2-40B4-BE49-F238E27FC236}">
                  <a16:creationId xmlns="" xmlns:a16="http://schemas.microsoft.com/office/drawing/2014/main" id="{9C05118E-AE5A-DAA5-E7B1-C7F21EB1829A}"/>
                </a:ext>
              </a:extLst>
            </p:cNvPr>
            <p:cNvSpPr>
              <a:spLocks noChangeShapeType="1"/>
            </p:cNvSpPr>
            <p:nvPr/>
          </p:nvSpPr>
          <p:spPr bwMode="auto">
            <a:xfrm>
              <a:off x="4636" y="1864"/>
              <a:ext cx="788" cy="757"/>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 name="直接连接符 101388">
              <a:extLst>
                <a:ext uri="{FF2B5EF4-FFF2-40B4-BE49-F238E27FC236}">
                  <a16:creationId xmlns="" xmlns:a16="http://schemas.microsoft.com/office/drawing/2014/main" id="{AD367317-C880-2D6B-AD7C-773A31686C21}"/>
                </a:ext>
              </a:extLst>
            </p:cNvPr>
            <p:cNvSpPr>
              <a:spLocks noChangeShapeType="1"/>
            </p:cNvSpPr>
            <p:nvPr/>
          </p:nvSpPr>
          <p:spPr bwMode="auto">
            <a:xfrm flipH="1">
              <a:off x="4439" y="2621"/>
              <a:ext cx="985" cy="1"/>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 name="直接连接符 101389">
              <a:extLst>
                <a:ext uri="{FF2B5EF4-FFF2-40B4-BE49-F238E27FC236}">
                  <a16:creationId xmlns="" xmlns:a16="http://schemas.microsoft.com/office/drawing/2014/main" id="{4E98331D-E83A-88E1-04CB-99E69C4F6BA4}"/>
                </a:ext>
              </a:extLst>
            </p:cNvPr>
            <p:cNvSpPr>
              <a:spLocks noChangeShapeType="1"/>
            </p:cNvSpPr>
            <p:nvPr/>
          </p:nvSpPr>
          <p:spPr bwMode="auto">
            <a:xfrm>
              <a:off x="3651" y="1864"/>
              <a:ext cx="788" cy="757"/>
            </a:xfrm>
            <a:prstGeom prst="line">
              <a:avLst/>
            </a:prstGeom>
            <a:noFill/>
            <a:ln w="25400">
              <a:solidFill>
                <a:schemeClr val="tx1"/>
              </a:solidFill>
              <a:round/>
              <a:headEnd type="triangle" w="sm" len="lg"/>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38" name="直接连接符 101390">
              <a:extLst>
                <a:ext uri="{FF2B5EF4-FFF2-40B4-BE49-F238E27FC236}">
                  <a16:creationId xmlns="" xmlns:a16="http://schemas.microsoft.com/office/drawing/2014/main" id="{61607C33-D37D-BD90-F420-2BACA17370CF}"/>
                </a:ext>
              </a:extLst>
            </p:cNvPr>
            <p:cNvSpPr>
              <a:spLocks noChangeShapeType="1"/>
            </p:cNvSpPr>
            <p:nvPr/>
          </p:nvSpPr>
          <p:spPr bwMode="auto">
            <a:xfrm flipV="1">
              <a:off x="4045" y="1864"/>
              <a:ext cx="591" cy="378"/>
            </a:xfrm>
            <a:prstGeom prst="line">
              <a:avLst/>
            </a:prstGeom>
            <a:noFill/>
            <a:ln w="22225">
              <a:solidFill>
                <a:schemeClr val="tx1"/>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39" name="直接连接符 101391">
              <a:extLst>
                <a:ext uri="{FF2B5EF4-FFF2-40B4-BE49-F238E27FC236}">
                  <a16:creationId xmlns="" xmlns:a16="http://schemas.microsoft.com/office/drawing/2014/main" id="{8C96780C-5420-92D0-47A0-A1BAB43666AC}"/>
                </a:ext>
              </a:extLst>
            </p:cNvPr>
            <p:cNvSpPr>
              <a:spLocks noChangeShapeType="1"/>
            </p:cNvSpPr>
            <p:nvPr/>
          </p:nvSpPr>
          <p:spPr bwMode="auto">
            <a:xfrm>
              <a:off x="4045" y="2242"/>
              <a:ext cx="1379" cy="379"/>
            </a:xfrm>
            <a:prstGeom prst="line">
              <a:avLst/>
            </a:prstGeom>
            <a:noFill/>
            <a:ln w="222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40" name="任意多边形 101392">
              <a:extLst>
                <a:ext uri="{FF2B5EF4-FFF2-40B4-BE49-F238E27FC236}">
                  <a16:creationId xmlns="" xmlns:a16="http://schemas.microsoft.com/office/drawing/2014/main" id="{69C75453-807B-E2BB-1CD0-5043041AA412}"/>
                </a:ext>
              </a:extLst>
            </p:cNvPr>
            <p:cNvSpPr>
              <a:spLocks noChangeArrowheads="1"/>
            </p:cNvSpPr>
            <p:nvPr/>
          </p:nvSpPr>
          <p:spPr bwMode="auto">
            <a:xfrm rot="2954936" flipH="1">
              <a:off x="4041" y="2146"/>
              <a:ext cx="124" cy="112"/>
            </a:xfrm>
            <a:custGeom>
              <a:avLst/>
              <a:gdLst>
                <a:gd name="T0" fmla="*/ 121 w 310"/>
                <a:gd name="T1" fmla="*/ 112 h 277"/>
                <a:gd name="T2" fmla="*/ 116 w 310"/>
                <a:gd name="T3" fmla="*/ 33 h 277"/>
                <a:gd name="T4" fmla="*/ 84 w 310"/>
                <a:gd name="T5" fmla="*/ 11 h 277"/>
                <a:gd name="T6" fmla="*/ 68 w 310"/>
                <a:gd name="T7" fmla="*/ 0 h 277"/>
                <a:gd name="T8" fmla="*/ 16 w 310"/>
                <a:gd name="T9" fmla="*/ 11 h 277"/>
                <a:gd name="T10" fmla="*/ 0 w 310"/>
                <a:gd name="T11" fmla="*/ 33 h 277"/>
                <a:gd name="T12" fmla="*/ 21 w 310"/>
                <a:gd name="T13" fmla="*/ 22 h 27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10" h="277">
                  <a:moveTo>
                    <a:pt x="303" y="277"/>
                  </a:moveTo>
                  <a:cubicBezTo>
                    <a:pt x="299" y="211"/>
                    <a:pt x="310" y="134"/>
                    <a:pt x="290" y="82"/>
                  </a:cubicBezTo>
                  <a:cubicBezTo>
                    <a:pt x="273" y="36"/>
                    <a:pt x="237" y="45"/>
                    <a:pt x="211" y="27"/>
                  </a:cubicBezTo>
                  <a:cubicBezTo>
                    <a:pt x="197" y="18"/>
                    <a:pt x="171" y="0"/>
                    <a:pt x="171" y="0"/>
                  </a:cubicBezTo>
                  <a:cubicBezTo>
                    <a:pt x="127" y="9"/>
                    <a:pt x="82" y="7"/>
                    <a:pt x="39" y="27"/>
                  </a:cubicBezTo>
                  <a:cubicBezTo>
                    <a:pt x="23" y="34"/>
                    <a:pt x="0" y="49"/>
                    <a:pt x="0" y="82"/>
                  </a:cubicBezTo>
                  <a:cubicBezTo>
                    <a:pt x="0" y="122"/>
                    <a:pt x="34" y="55"/>
                    <a:pt x="52" y="55"/>
                  </a:cubicBezTo>
                </a:path>
              </a:pathLst>
            </a:custGeom>
            <a:noFill/>
            <a:ln w="9525">
              <a:solidFill>
                <a:schemeClr val="tx1"/>
              </a:solidFill>
              <a:round/>
              <a:headEnd type="triangle" w="med" len="me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1" name="文本框 101393">
              <a:extLst>
                <a:ext uri="{FF2B5EF4-FFF2-40B4-BE49-F238E27FC236}">
                  <a16:creationId xmlns="" xmlns:a16="http://schemas.microsoft.com/office/drawing/2014/main" id="{13832332-4E14-B6B9-B448-4A513B0CFFFA}"/>
                </a:ext>
              </a:extLst>
            </p:cNvPr>
            <p:cNvSpPr txBox="1">
              <a:spLocks noChangeArrowheads="1"/>
            </p:cNvSpPr>
            <p:nvPr/>
          </p:nvSpPr>
          <p:spPr bwMode="auto">
            <a:xfrm>
              <a:off x="4171" y="2696"/>
              <a:ext cx="53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1pPr>
              <a:lvl2pPr marL="742950" indent="-28575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2pPr>
              <a:lvl3pPr marL="11430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3pPr>
              <a:lvl4pPr marL="16002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4pPr>
              <a:lvl5pPr marL="20574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cs typeface="Times New Roman" panose="02020603050405020304" pitchFamily="18" charset="0"/>
                </a:rPr>
                <a:t>fin&lt;f0</a:t>
              </a:r>
            </a:p>
          </p:txBody>
        </p:sp>
        <p:grpSp>
          <p:nvGrpSpPr>
            <p:cNvPr id="42" name="组合 101394">
              <a:extLst>
                <a:ext uri="{FF2B5EF4-FFF2-40B4-BE49-F238E27FC236}">
                  <a16:creationId xmlns="" xmlns:a16="http://schemas.microsoft.com/office/drawing/2014/main" id="{9BB80151-206E-FA7D-4759-27E9DFC3A53D}"/>
                </a:ext>
              </a:extLst>
            </p:cNvPr>
            <p:cNvGrpSpPr>
              <a:grpSpLocks/>
            </p:cNvGrpSpPr>
            <p:nvPr/>
          </p:nvGrpSpPr>
          <p:grpSpPr bwMode="auto">
            <a:xfrm>
              <a:off x="3408" y="1776"/>
              <a:ext cx="269" cy="293"/>
              <a:chOff x="3408" y="1776"/>
              <a:chExt cx="269" cy="293"/>
            </a:xfrm>
          </p:grpSpPr>
          <p:sp>
            <p:nvSpPr>
              <p:cNvPr id="53" name="直接连接符 101395">
                <a:extLst>
                  <a:ext uri="{FF2B5EF4-FFF2-40B4-BE49-F238E27FC236}">
                    <a16:creationId xmlns="" xmlns:a16="http://schemas.microsoft.com/office/drawing/2014/main" id="{1CD1383F-3A3C-EB0E-E496-22E2E7AD5E76}"/>
                  </a:ext>
                </a:extLst>
              </p:cNvPr>
              <p:cNvSpPr>
                <a:spLocks noChangeShapeType="1"/>
              </p:cNvSpPr>
              <p:nvPr/>
            </p:nvSpPr>
            <p:spPr bwMode="auto">
              <a:xfrm>
                <a:off x="3457" y="1920"/>
                <a:ext cx="175"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 name="矩形 101396">
                <a:extLst>
                  <a:ext uri="{FF2B5EF4-FFF2-40B4-BE49-F238E27FC236}">
                    <a16:creationId xmlns="" xmlns:a16="http://schemas.microsoft.com/office/drawing/2014/main" id="{BD83B2AE-ABBC-C45A-D86C-B9FD7C824312}"/>
                  </a:ext>
                </a:extLst>
              </p:cNvPr>
              <p:cNvSpPr>
                <a:spLocks noChangeArrowheads="1"/>
              </p:cNvSpPr>
              <p:nvPr/>
            </p:nvSpPr>
            <p:spPr bwMode="auto">
              <a:xfrm>
                <a:off x="3408" y="1776"/>
                <a:ext cx="26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1pPr>
                <a:lvl2pPr marL="742950" indent="-28575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2pPr>
                <a:lvl3pPr marL="11430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3pPr>
                <a:lvl4pPr marL="16002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4pPr>
                <a:lvl5pPr marL="20574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200" i="1">
                    <a:ea typeface="Angsana New" panose="02020603050405020304" pitchFamily="18" charset="-34"/>
                  </a:rPr>
                  <a:t>V</a:t>
                </a:r>
                <a:r>
                  <a:rPr lang="en-US" altLang="zh-CN" sz="1200" baseline="-25000">
                    <a:ea typeface="Angsana New" panose="02020603050405020304" pitchFamily="18" charset="-34"/>
                  </a:rPr>
                  <a:t>ab</a:t>
                </a:r>
              </a:p>
            </p:txBody>
          </p:sp>
          <p:sp>
            <p:nvSpPr>
              <p:cNvPr id="55" name="矩形 101397">
                <a:extLst>
                  <a:ext uri="{FF2B5EF4-FFF2-40B4-BE49-F238E27FC236}">
                    <a16:creationId xmlns="" xmlns:a16="http://schemas.microsoft.com/office/drawing/2014/main" id="{44E30247-C0A3-DBC5-022F-1F84EAE6F03B}"/>
                  </a:ext>
                </a:extLst>
              </p:cNvPr>
              <p:cNvSpPr>
                <a:spLocks noChangeArrowheads="1"/>
              </p:cNvSpPr>
              <p:nvPr/>
            </p:nvSpPr>
            <p:spPr bwMode="auto">
              <a:xfrm>
                <a:off x="3476" y="1896"/>
                <a:ext cx="16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1pPr>
                <a:lvl2pPr marL="742950" indent="-28575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2pPr>
                <a:lvl3pPr marL="11430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3pPr>
                <a:lvl4pPr marL="16002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4pPr>
                <a:lvl5pPr marL="20574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200">
                    <a:ea typeface="Angsana New" panose="02020603050405020304" pitchFamily="18" charset="-34"/>
                  </a:rPr>
                  <a:t>2</a:t>
                </a:r>
              </a:p>
            </p:txBody>
          </p:sp>
        </p:grpSp>
        <p:grpSp>
          <p:nvGrpSpPr>
            <p:cNvPr id="43" name="组合 101398">
              <a:extLst>
                <a:ext uri="{FF2B5EF4-FFF2-40B4-BE49-F238E27FC236}">
                  <a16:creationId xmlns="" xmlns:a16="http://schemas.microsoft.com/office/drawing/2014/main" id="{95B36BE0-3D59-D39A-C7AB-6038734FDAE0}"/>
                </a:ext>
              </a:extLst>
            </p:cNvPr>
            <p:cNvGrpSpPr>
              <a:grpSpLocks/>
            </p:cNvGrpSpPr>
            <p:nvPr/>
          </p:nvGrpSpPr>
          <p:grpSpPr bwMode="auto">
            <a:xfrm>
              <a:off x="3968" y="2544"/>
              <a:ext cx="381" cy="293"/>
              <a:chOff x="3968" y="2544"/>
              <a:chExt cx="381" cy="293"/>
            </a:xfrm>
          </p:grpSpPr>
          <p:grpSp>
            <p:nvGrpSpPr>
              <p:cNvPr id="48" name="组合 101399">
                <a:extLst>
                  <a:ext uri="{FF2B5EF4-FFF2-40B4-BE49-F238E27FC236}">
                    <a16:creationId xmlns="" xmlns:a16="http://schemas.microsoft.com/office/drawing/2014/main" id="{D086CE47-88F5-8869-BBFC-5DF620A7A659}"/>
                  </a:ext>
                </a:extLst>
              </p:cNvPr>
              <p:cNvGrpSpPr>
                <a:grpSpLocks/>
              </p:cNvGrpSpPr>
              <p:nvPr/>
            </p:nvGrpSpPr>
            <p:grpSpPr bwMode="auto">
              <a:xfrm>
                <a:off x="4032" y="2544"/>
                <a:ext cx="317" cy="293"/>
                <a:chOff x="4032" y="2544"/>
                <a:chExt cx="317" cy="293"/>
              </a:xfrm>
            </p:grpSpPr>
            <p:sp>
              <p:nvSpPr>
                <p:cNvPr id="50" name="直接连接符 101400">
                  <a:extLst>
                    <a:ext uri="{FF2B5EF4-FFF2-40B4-BE49-F238E27FC236}">
                      <a16:creationId xmlns="" xmlns:a16="http://schemas.microsoft.com/office/drawing/2014/main" id="{9F792CCA-6F1B-2638-D79A-221A2C5C2F03}"/>
                    </a:ext>
                  </a:extLst>
                </p:cNvPr>
                <p:cNvSpPr>
                  <a:spLocks noChangeShapeType="1"/>
                </p:cNvSpPr>
                <p:nvPr/>
              </p:nvSpPr>
              <p:spPr bwMode="auto">
                <a:xfrm>
                  <a:off x="4089" y="2688"/>
                  <a:ext cx="207"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 name="矩形 101401">
                  <a:extLst>
                    <a:ext uri="{FF2B5EF4-FFF2-40B4-BE49-F238E27FC236}">
                      <a16:creationId xmlns="" xmlns:a16="http://schemas.microsoft.com/office/drawing/2014/main" id="{863EB1BC-CA44-C718-B2B9-4E118046E7E3}"/>
                    </a:ext>
                  </a:extLst>
                </p:cNvPr>
                <p:cNvSpPr>
                  <a:spLocks noChangeArrowheads="1"/>
                </p:cNvSpPr>
                <p:nvPr/>
              </p:nvSpPr>
              <p:spPr bwMode="auto">
                <a:xfrm>
                  <a:off x="4032" y="2544"/>
                  <a:ext cx="317"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1pPr>
                  <a:lvl2pPr marL="742950" indent="-28575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2pPr>
                  <a:lvl3pPr marL="11430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3pPr>
                  <a:lvl4pPr marL="16002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4pPr>
                  <a:lvl5pPr marL="20574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200" i="1">
                      <a:ea typeface="Angsana New" panose="02020603050405020304" pitchFamily="18" charset="-34"/>
                    </a:rPr>
                    <a:t>V</a:t>
                  </a:r>
                  <a:r>
                    <a:rPr lang="en-US" altLang="zh-CN" sz="1200" baseline="-25000">
                      <a:ea typeface="Angsana New" panose="02020603050405020304" pitchFamily="18" charset="-34"/>
                    </a:rPr>
                    <a:t>ab</a:t>
                  </a:r>
                </a:p>
              </p:txBody>
            </p:sp>
            <p:sp>
              <p:nvSpPr>
                <p:cNvPr id="52" name="矩形 101402">
                  <a:extLst>
                    <a:ext uri="{FF2B5EF4-FFF2-40B4-BE49-F238E27FC236}">
                      <a16:creationId xmlns="" xmlns:a16="http://schemas.microsoft.com/office/drawing/2014/main" id="{302E5C2B-F008-7BB7-FBAC-3DAEDA94999E}"/>
                    </a:ext>
                  </a:extLst>
                </p:cNvPr>
                <p:cNvSpPr>
                  <a:spLocks noChangeArrowheads="1"/>
                </p:cNvSpPr>
                <p:nvPr/>
              </p:nvSpPr>
              <p:spPr bwMode="auto">
                <a:xfrm>
                  <a:off x="4127" y="2664"/>
                  <a:ext cx="165"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1pPr>
                  <a:lvl2pPr marL="742950" indent="-28575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2pPr>
                  <a:lvl3pPr marL="11430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3pPr>
                  <a:lvl4pPr marL="16002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4pPr>
                  <a:lvl5pPr marL="20574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200">
                      <a:ea typeface="Angsana New" panose="02020603050405020304" pitchFamily="18" charset="-34"/>
                    </a:rPr>
                    <a:t>2</a:t>
                  </a:r>
                </a:p>
              </p:txBody>
            </p:sp>
          </p:grpSp>
          <p:sp>
            <p:nvSpPr>
              <p:cNvPr id="49" name="矩形 101403">
                <a:extLst>
                  <a:ext uri="{FF2B5EF4-FFF2-40B4-BE49-F238E27FC236}">
                    <a16:creationId xmlns="" xmlns:a16="http://schemas.microsoft.com/office/drawing/2014/main" id="{E0C27DCF-FEEC-DDA4-3A04-0E01FF37A7E3}"/>
                  </a:ext>
                </a:extLst>
              </p:cNvPr>
              <p:cNvSpPr>
                <a:spLocks noChangeArrowheads="1"/>
              </p:cNvSpPr>
              <p:nvPr/>
            </p:nvSpPr>
            <p:spPr bwMode="auto">
              <a:xfrm>
                <a:off x="3968" y="2616"/>
                <a:ext cx="152"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1pPr>
                <a:lvl2pPr marL="742950" indent="-28575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2pPr>
                <a:lvl3pPr marL="11430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3pPr>
                <a:lvl4pPr marL="16002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4pPr>
                <a:lvl5pPr marL="20574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900">
                    <a:ea typeface="Angsana New" panose="02020603050405020304" pitchFamily="18" charset="-34"/>
                  </a:rPr>
                  <a:t>–</a:t>
                </a:r>
              </a:p>
            </p:txBody>
          </p:sp>
        </p:grpSp>
        <p:sp>
          <p:nvSpPr>
            <p:cNvPr id="44" name="矩形 101404">
              <a:extLst>
                <a:ext uri="{FF2B5EF4-FFF2-40B4-BE49-F238E27FC236}">
                  <a16:creationId xmlns="" xmlns:a16="http://schemas.microsoft.com/office/drawing/2014/main" id="{36697129-D651-0CD8-287B-F9468E887246}"/>
                </a:ext>
              </a:extLst>
            </p:cNvPr>
            <p:cNvSpPr>
              <a:spLocks noChangeArrowheads="1"/>
            </p:cNvSpPr>
            <p:nvPr/>
          </p:nvSpPr>
          <p:spPr bwMode="auto">
            <a:xfrm>
              <a:off x="4927" y="2337"/>
              <a:ext cx="25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1pPr>
              <a:lvl2pPr marL="742950" indent="-28575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2pPr>
              <a:lvl3pPr marL="11430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3pPr>
              <a:lvl4pPr marL="16002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4pPr>
              <a:lvl5pPr marL="20574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200" i="1">
                  <a:ea typeface="Angsana New" panose="02020603050405020304" pitchFamily="18" charset="-34"/>
                </a:rPr>
                <a:t>V</a:t>
              </a:r>
              <a:r>
                <a:rPr lang="en-US" altLang="zh-CN" sz="1200" baseline="-25000">
                  <a:ea typeface="Angsana New" panose="02020603050405020304" pitchFamily="18" charset="-34"/>
                </a:rPr>
                <a:t>D2</a:t>
              </a:r>
            </a:p>
          </p:txBody>
        </p:sp>
        <p:sp>
          <p:nvSpPr>
            <p:cNvPr id="45" name="矩形 101405">
              <a:extLst>
                <a:ext uri="{FF2B5EF4-FFF2-40B4-BE49-F238E27FC236}">
                  <a16:creationId xmlns="" xmlns:a16="http://schemas.microsoft.com/office/drawing/2014/main" id="{6C0F1D26-A7B2-259A-77DD-97CEA1FA2072}"/>
                </a:ext>
              </a:extLst>
            </p:cNvPr>
            <p:cNvSpPr>
              <a:spLocks noChangeArrowheads="1"/>
            </p:cNvSpPr>
            <p:nvPr/>
          </p:nvSpPr>
          <p:spPr bwMode="auto">
            <a:xfrm>
              <a:off x="4616" y="1648"/>
              <a:ext cx="25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1pPr>
              <a:lvl2pPr marL="742950" indent="-28575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2pPr>
              <a:lvl3pPr marL="11430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3pPr>
              <a:lvl4pPr marL="16002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4pPr>
              <a:lvl5pPr marL="20574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200" i="1">
                  <a:ea typeface="Angsana New" panose="02020603050405020304" pitchFamily="18" charset="-34"/>
                </a:rPr>
                <a:t>V</a:t>
              </a:r>
              <a:r>
                <a:rPr lang="en-US" altLang="zh-CN" sz="1200" baseline="-25000">
                  <a:ea typeface="Angsana New" panose="02020603050405020304" pitchFamily="18" charset="-34"/>
                </a:rPr>
                <a:t>D1</a:t>
              </a:r>
            </a:p>
          </p:txBody>
        </p:sp>
        <p:sp>
          <p:nvSpPr>
            <p:cNvPr id="46" name="矩形 101406">
              <a:extLst>
                <a:ext uri="{FF2B5EF4-FFF2-40B4-BE49-F238E27FC236}">
                  <a16:creationId xmlns="" xmlns:a16="http://schemas.microsoft.com/office/drawing/2014/main" id="{7B1C8E30-81EE-9C96-1C41-679DADB64985}"/>
                </a:ext>
              </a:extLst>
            </p:cNvPr>
            <p:cNvSpPr>
              <a:spLocks noChangeArrowheads="1"/>
            </p:cNvSpPr>
            <p:nvPr/>
          </p:nvSpPr>
          <p:spPr bwMode="auto">
            <a:xfrm>
              <a:off x="4608" y="2064"/>
              <a:ext cx="23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1pPr>
              <a:lvl2pPr marL="742950" indent="-28575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2pPr>
              <a:lvl3pPr marL="11430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3pPr>
              <a:lvl4pPr marL="16002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4pPr>
              <a:lvl5pPr marL="20574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200" i="1">
                  <a:ea typeface="Angsana New" panose="02020603050405020304" pitchFamily="18" charset="-34"/>
                </a:rPr>
                <a:t>V</a:t>
              </a:r>
              <a:r>
                <a:rPr lang="en-US" altLang="zh-CN" sz="1200" baseline="-25000">
                  <a:ea typeface="Angsana New" panose="02020603050405020304" pitchFamily="18" charset="-34"/>
                </a:rPr>
                <a:t>12</a:t>
              </a:r>
            </a:p>
          </p:txBody>
        </p:sp>
        <p:sp>
          <p:nvSpPr>
            <p:cNvPr id="47" name="矩形 101407">
              <a:extLst>
                <a:ext uri="{FF2B5EF4-FFF2-40B4-BE49-F238E27FC236}">
                  <a16:creationId xmlns="" xmlns:a16="http://schemas.microsoft.com/office/drawing/2014/main" id="{6829DADA-210C-FB5C-F227-AA5685E9C8D9}"/>
                </a:ext>
              </a:extLst>
            </p:cNvPr>
            <p:cNvSpPr>
              <a:spLocks noChangeArrowheads="1"/>
            </p:cNvSpPr>
            <p:nvPr/>
          </p:nvSpPr>
          <p:spPr bwMode="auto">
            <a:xfrm>
              <a:off x="3936" y="1968"/>
              <a:ext cx="35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1pPr>
              <a:lvl2pPr marL="742950" indent="-28575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2pPr>
              <a:lvl3pPr marL="11430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3pPr>
              <a:lvl4pPr marL="16002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4pPr>
              <a:lvl5pPr marL="20574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200">
                  <a:ea typeface="Angsana New" panose="02020603050405020304" pitchFamily="18" charset="-34"/>
                </a:rPr>
                <a:t>90</a:t>
              </a:r>
              <a:r>
                <a:rPr lang="en-US" altLang="zh-CN" sz="1200">
                  <a:latin typeface="Angsana New" panose="02020603050405020304" pitchFamily="18" charset="-34"/>
                  <a:ea typeface="Angsana New" panose="02020603050405020304" pitchFamily="18" charset="-34"/>
                  <a:sym typeface="Symbol" panose="05050102010706020507" pitchFamily="18" charset="2"/>
                </a:rPr>
                <a:t></a:t>
              </a:r>
              <a:r>
                <a:rPr lang="en-US" altLang="zh-CN" sz="1200">
                  <a:ea typeface="Angsana New" panose="02020603050405020304" pitchFamily="18" charset="-34"/>
                </a:rPr>
                <a:t>+</a:t>
              </a:r>
              <a:r>
                <a:rPr lang="en-US" altLang="zh-CN" sz="1200">
                  <a:latin typeface="Symbol" panose="05050102010706020507" pitchFamily="18" charset="2"/>
                  <a:ea typeface="Angsana New" panose="02020603050405020304" pitchFamily="18" charset="-34"/>
                </a:rPr>
                <a:t>q</a:t>
              </a:r>
            </a:p>
          </p:txBody>
        </p:sp>
      </p:grpSp>
    </p:spTree>
    <p:extLst>
      <p:ext uri="{BB962C8B-B14F-4D97-AF65-F5344CB8AC3E}">
        <p14:creationId xmlns:p14="http://schemas.microsoft.com/office/powerpoint/2010/main" val="1815401290"/>
      </p:ext>
    </p:extLst>
  </p:cSld>
  <p:clrMapOvr>
    <a:masterClrMapping/>
  </p:clrMapOvr>
  <p:timing>
    <p:tnLst>
      <p:par>
        <p:cTn id="1" dur="indefinite" restart="never" nodeType="tmRoot"/>
      </p:par>
    </p:tnLst>
  </p:timing>
</p:sld>
</file>

<file path=ppt/slides/slide3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301</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11"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7.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角度调制</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与</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解调</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6" name="文本占位符 103425">
            <a:extLst>
              <a:ext uri="{FF2B5EF4-FFF2-40B4-BE49-F238E27FC236}">
                <a16:creationId xmlns="" xmlns:a16="http://schemas.microsoft.com/office/drawing/2014/main" id="{8FC5F8B6-B577-9674-F899-03AC6B94294B}"/>
              </a:ext>
            </a:extLst>
          </p:cNvPr>
          <p:cNvSpPr txBox="1">
            <a:spLocks noChangeArrowheads="1"/>
          </p:cNvSpPr>
          <p:nvPr/>
        </p:nvSpPr>
        <p:spPr>
          <a:xfrm>
            <a:off x="755576" y="2996952"/>
            <a:ext cx="8229600" cy="4114800"/>
          </a:xfrm>
          <a:prstGeom prst="rect">
            <a:avLst/>
          </a:prstGeom>
        </p:spPr>
        <p:txBody>
          <a:bodyPr/>
          <a:lstStyle>
            <a:lvl1pPr marL="342900" indent="-342900" algn="l" rtl="0" eaLnBrk="0" fontAlgn="base" hangingPunct="0">
              <a:spcBef>
                <a:spcPct val="20000"/>
              </a:spcBef>
              <a:spcAft>
                <a:spcPct val="0"/>
              </a:spcAft>
              <a:buChar char="•"/>
              <a:defRPr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40000"/>
              </a:lnSpc>
              <a:buFont typeface="Times New Roman" panose="02020603050405020304" pitchFamily="18" charset="0"/>
              <a:buNone/>
            </a:pPr>
            <a:r>
              <a:rPr lang="zh-CN" altLang="en-US" sz="2000" kern="0" dirty="0">
                <a:latin typeface="Times New Roman" panose="02020603050405020304" pitchFamily="18" charset="0"/>
                <a:cs typeface="Times New Roman" panose="02020603050405020304" pitchFamily="18" charset="0"/>
              </a:rPr>
              <a:t>可以看出：</a:t>
            </a:r>
          </a:p>
          <a:p>
            <a:pPr marL="0" indent="0" eaLnBrk="1" hangingPunct="1">
              <a:lnSpc>
                <a:spcPct val="140000"/>
              </a:lnSpc>
              <a:buFont typeface="Times New Roman" panose="02020603050405020304" pitchFamily="18" charset="0"/>
              <a:buNone/>
            </a:pPr>
            <a:r>
              <a:rPr lang="zh-CN" altLang="en-US" sz="2000" kern="0" dirty="0">
                <a:latin typeface="Times New Roman" panose="02020603050405020304" pitchFamily="18" charset="0"/>
                <a:cs typeface="Times New Roman" panose="02020603050405020304" pitchFamily="18" charset="0"/>
              </a:rPr>
              <a:t>    当</a:t>
            </a:r>
            <a:r>
              <a:rPr lang="en-US" altLang="zh-CN" sz="2000" kern="0" dirty="0">
                <a:latin typeface="Times New Roman" panose="02020603050405020304" pitchFamily="18" charset="0"/>
                <a:cs typeface="Times New Roman" panose="02020603050405020304" pitchFamily="18" charset="0"/>
              </a:rPr>
              <a:t>fin= f0</a:t>
            </a:r>
            <a:r>
              <a:rPr lang="zh-CN" altLang="en-US" sz="2000" kern="0" dirty="0">
                <a:latin typeface="Times New Roman" panose="02020603050405020304" pitchFamily="18" charset="0"/>
                <a:cs typeface="Times New Roman" panose="02020603050405020304" pitchFamily="18" charset="0"/>
              </a:rPr>
              <a:t>时，因为</a:t>
            </a:r>
            <a:r>
              <a:rPr lang="en-US" altLang="zh-CN" sz="2000" kern="0" dirty="0">
                <a:latin typeface="Times New Roman" panose="02020603050405020304" pitchFamily="18" charset="0"/>
                <a:cs typeface="Times New Roman" panose="02020603050405020304" pitchFamily="18" charset="0"/>
              </a:rPr>
              <a:t>V</a:t>
            </a:r>
            <a:r>
              <a:rPr lang="en-US" altLang="zh-CN" sz="2000" kern="0" baseline="-25000" dirty="0">
                <a:latin typeface="Times New Roman" panose="02020603050405020304" pitchFamily="18" charset="0"/>
                <a:cs typeface="Times New Roman" panose="02020603050405020304" pitchFamily="18" charset="0"/>
              </a:rPr>
              <a:t>D1</a:t>
            </a:r>
            <a:r>
              <a:rPr lang="en-US" altLang="zh-CN" sz="2000" kern="0" dirty="0">
                <a:latin typeface="Times New Roman" panose="02020603050405020304" pitchFamily="18" charset="0"/>
                <a:cs typeface="Times New Roman" panose="02020603050405020304" pitchFamily="18" charset="0"/>
              </a:rPr>
              <a:t>=V</a:t>
            </a:r>
            <a:r>
              <a:rPr lang="en-US" altLang="zh-CN" sz="2000" kern="0" baseline="-25000" dirty="0">
                <a:latin typeface="Times New Roman" panose="02020603050405020304" pitchFamily="18" charset="0"/>
                <a:cs typeface="Times New Roman" panose="02020603050405020304" pitchFamily="18" charset="0"/>
              </a:rPr>
              <a:t>D2</a:t>
            </a:r>
            <a:r>
              <a:rPr lang="zh-CN" altLang="en-US" sz="2000" kern="0" dirty="0">
                <a:latin typeface="Times New Roman" panose="02020603050405020304" pitchFamily="18" charset="0"/>
                <a:cs typeface="Times New Roman" panose="02020603050405020304" pitchFamily="18" charset="0"/>
              </a:rPr>
              <a:t>，所以</a:t>
            </a:r>
            <a:r>
              <a:rPr lang="en-US" altLang="zh-CN" sz="2000" kern="0" dirty="0" err="1">
                <a:latin typeface="Times New Roman" panose="02020603050405020304" pitchFamily="18" charset="0"/>
                <a:cs typeface="Times New Roman" panose="02020603050405020304" pitchFamily="18" charset="0"/>
              </a:rPr>
              <a:t>Va</a:t>
            </a:r>
            <a:r>
              <a:rPr lang="en-US" altLang="zh-CN" sz="2000" kern="0"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sz="2000" kern="0" dirty="0" err="1">
                <a:latin typeface="Times New Roman" panose="02020603050405020304" pitchFamily="18" charset="0"/>
                <a:cs typeface="Times New Roman" panose="02020603050405020304" pitchFamily="18" charset="0"/>
              </a:rPr>
              <a:t>b</a:t>
            </a:r>
            <a:r>
              <a:rPr lang="en-US" altLang="zh-CN" sz="2000" kern="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000" kern="0" dirty="0">
                <a:latin typeface="Times New Roman" panose="02020603050405020304" pitchFamily="18" charset="0"/>
                <a:cs typeface="Times New Roman" panose="02020603050405020304" pitchFamily="18" charset="0"/>
              </a:rPr>
              <a:t>=0</a:t>
            </a:r>
            <a:r>
              <a:rPr lang="zh-CN" altLang="en-US" sz="2000" kern="0" dirty="0">
                <a:latin typeface="Times New Roman" panose="02020603050405020304" pitchFamily="18" charset="0"/>
                <a:cs typeface="Times New Roman" panose="02020603050405020304" pitchFamily="18" charset="0"/>
              </a:rPr>
              <a:t>；</a:t>
            </a:r>
          </a:p>
          <a:p>
            <a:pPr marL="0" indent="0" eaLnBrk="1" hangingPunct="1">
              <a:lnSpc>
                <a:spcPct val="140000"/>
              </a:lnSpc>
              <a:buFont typeface="Times New Roman" panose="02020603050405020304" pitchFamily="18" charset="0"/>
              <a:buNone/>
            </a:pPr>
            <a:r>
              <a:rPr lang="zh-CN" altLang="en-US" sz="2000" kern="0" dirty="0">
                <a:latin typeface="Times New Roman" panose="02020603050405020304" pitchFamily="18" charset="0"/>
                <a:cs typeface="Times New Roman" panose="02020603050405020304" pitchFamily="18" charset="0"/>
              </a:rPr>
              <a:t>    当</a:t>
            </a:r>
            <a:r>
              <a:rPr lang="en-US" altLang="zh-CN" sz="2000" kern="0" dirty="0">
                <a:latin typeface="Times New Roman" panose="02020603050405020304" pitchFamily="18" charset="0"/>
                <a:cs typeface="Times New Roman" panose="02020603050405020304" pitchFamily="18" charset="0"/>
              </a:rPr>
              <a:t>fin</a:t>
            </a:r>
            <a:r>
              <a:rPr lang="zh-CN" altLang="en-US" sz="2000" kern="0" dirty="0">
                <a:latin typeface="Times New Roman" panose="02020603050405020304" pitchFamily="18" charset="0"/>
                <a:cs typeface="Times New Roman" panose="02020603050405020304" pitchFamily="18" charset="0"/>
              </a:rPr>
              <a:t>＞</a:t>
            </a:r>
            <a:r>
              <a:rPr lang="en-US" altLang="zh-CN" sz="2000" kern="0" dirty="0">
                <a:latin typeface="Times New Roman" panose="02020603050405020304" pitchFamily="18" charset="0"/>
                <a:cs typeface="Times New Roman" panose="02020603050405020304" pitchFamily="18" charset="0"/>
              </a:rPr>
              <a:t>f0</a:t>
            </a:r>
            <a:r>
              <a:rPr lang="zh-CN" altLang="en-US" sz="2000" kern="0" dirty="0">
                <a:latin typeface="Times New Roman" panose="02020603050405020304" pitchFamily="18" charset="0"/>
                <a:cs typeface="Times New Roman" panose="02020603050405020304" pitchFamily="18" charset="0"/>
              </a:rPr>
              <a:t>时，因为</a:t>
            </a:r>
            <a:r>
              <a:rPr lang="en-US" altLang="zh-CN" sz="2000" kern="0" dirty="0">
                <a:latin typeface="Times New Roman" panose="02020603050405020304" pitchFamily="18" charset="0"/>
                <a:cs typeface="Times New Roman" panose="02020603050405020304" pitchFamily="18" charset="0"/>
              </a:rPr>
              <a:t>V</a:t>
            </a:r>
            <a:r>
              <a:rPr lang="en-US" altLang="zh-CN" sz="2000" kern="0" baseline="-25000" dirty="0">
                <a:latin typeface="Times New Roman" panose="02020603050405020304" pitchFamily="18" charset="0"/>
                <a:cs typeface="Times New Roman" panose="02020603050405020304" pitchFamily="18" charset="0"/>
              </a:rPr>
              <a:t>D1</a:t>
            </a:r>
            <a:r>
              <a:rPr lang="zh-CN" altLang="en-US" sz="2000" kern="0" dirty="0">
                <a:latin typeface="Times New Roman" panose="02020603050405020304" pitchFamily="18" charset="0"/>
                <a:cs typeface="Times New Roman" panose="02020603050405020304" pitchFamily="18" charset="0"/>
              </a:rPr>
              <a:t>＞</a:t>
            </a:r>
            <a:r>
              <a:rPr lang="en-US" altLang="zh-CN" sz="2000" kern="0" dirty="0">
                <a:latin typeface="Times New Roman" panose="02020603050405020304" pitchFamily="18" charset="0"/>
                <a:cs typeface="Times New Roman" panose="02020603050405020304" pitchFamily="18" charset="0"/>
              </a:rPr>
              <a:t>V</a:t>
            </a:r>
            <a:r>
              <a:rPr lang="en-US" altLang="zh-CN" sz="2000" kern="0" baseline="-25000" dirty="0">
                <a:latin typeface="Times New Roman" panose="02020603050405020304" pitchFamily="18" charset="0"/>
                <a:cs typeface="Times New Roman" panose="02020603050405020304" pitchFamily="18" charset="0"/>
              </a:rPr>
              <a:t>D2</a:t>
            </a:r>
            <a:r>
              <a:rPr lang="zh-CN" altLang="en-US" sz="2000" kern="0" dirty="0">
                <a:latin typeface="Times New Roman" panose="02020603050405020304" pitchFamily="18" charset="0"/>
                <a:cs typeface="Times New Roman" panose="02020603050405020304" pitchFamily="18" charset="0"/>
              </a:rPr>
              <a:t>，所以</a:t>
            </a:r>
            <a:r>
              <a:rPr lang="en-US" altLang="zh-CN" sz="2000" kern="0" dirty="0" err="1">
                <a:latin typeface="Times New Roman" panose="02020603050405020304" pitchFamily="18" charset="0"/>
                <a:cs typeface="Times New Roman" panose="02020603050405020304" pitchFamily="18" charset="0"/>
              </a:rPr>
              <a:t>Va</a:t>
            </a:r>
            <a:r>
              <a:rPr lang="en-US" altLang="zh-CN" sz="2000" kern="0"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sz="2000" kern="0" dirty="0" err="1">
                <a:latin typeface="Times New Roman" panose="02020603050405020304" pitchFamily="18" charset="0"/>
                <a:cs typeface="Times New Roman" panose="02020603050405020304" pitchFamily="18" charset="0"/>
              </a:rPr>
              <a:t>b</a:t>
            </a:r>
            <a:r>
              <a:rPr lang="en-US" altLang="zh-CN" sz="2000" kern="0" dirty="0">
                <a:latin typeface="Times New Roman" panose="02020603050405020304" pitchFamily="18" charset="0"/>
                <a:cs typeface="Times New Roman" panose="02020603050405020304" pitchFamily="18" charset="0"/>
                <a:sym typeface="Symbol" panose="05050102010706020507" pitchFamily="18" charset="2"/>
              </a:rPr>
              <a:t></a:t>
            </a:r>
            <a:r>
              <a:rPr lang="zh-CN" altLang="en-US" sz="2000" kern="0" dirty="0">
                <a:latin typeface="Times New Roman" panose="02020603050405020304" pitchFamily="18" charset="0"/>
                <a:cs typeface="Times New Roman" panose="02020603050405020304" pitchFamily="18" charset="0"/>
              </a:rPr>
              <a:t>＞</a:t>
            </a:r>
            <a:r>
              <a:rPr lang="en-US" altLang="zh-CN" sz="2000" kern="0" dirty="0">
                <a:latin typeface="Times New Roman" panose="02020603050405020304" pitchFamily="18" charset="0"/>
                <a:cs typeface="Times New Roman" panose="02020603050405020304" pitchFamily="18" charset="0"/>
              </a:rPr>
              <a:t>0</a:t>
            </a:r>
            <a:r>
              <a:rPr lang="zh-CN" altLang="en-US" sz="2000" kern="0" dirty="0">
                <a:latin typeface="Times New Roman" panose="02020603050405020304" pitchFamily="18" charset="0"/>
                <a:cs typeface="Times New Roman" panose="02020603050405020304" pitchFamily="18" charset="0"/>
              </a:rPr>
              <a:t>；</a:t>
            </a:r>
          </a:p>
          <a:p>
            <a:pPr marL="0" indent="0" eaLnBrk="1" hangingPunct="1">
              <a:lnSpc>
                <a:spcPct val="140000"/>
              </a:lnSpc>
              <a:buFont typeface="Times New Roman" panose="02020603050405020304" pitchFamily="18" charset="0"/>
              <a:buNone/>
            </a:pPr>
            <a:r>
              <a:rPr lang="zh-CN" altLang="en-US" sz="2000" kern="0" dirty="0">
                <a:latin typeface="Times New Roman" panose="02020603050405020304" pitchFamily="18" charset="0"/>
                <a:cs typeface="Times New Roman" panose="02020603050405020304" pitchFamily="18" charset="0"/>
              </a:rPr>
              <a:t>    当</a:t>
            </a:r>
            <a:r>
              <a:rPr lang="en-US" altLang="zh-CN" sz="2000" kern="0" dirty="0">
                <a:latin typeface="Times New Roman" panose="02020603050405020304" pitchFamily="18" charset="0"/>
                <a:cs typeface="Times New Roman" panose="02020603050405020304" pitchFamily="18" charset="0"/>
              </a:rPr>
              <a:t>fin</a:t>
            </a:r>
            <a:r>
              <a:rPr lang="zh-CN" altLang="en-US" sz="2000" kern="0" dirty="0">
                <a:latin typeface="Times New Roman" panose="02020603050405020304" pitchFamily="18" charset="0"/>
                <a:cs typeface="Times New Roman" panose="02020603050405020304" pitchFamily="18" charset="0"/>
              </a:rPr>
              <a:t>＜</a:t>
            </a:r>
            <a:r>
              <a:rPr lang="en-US" altLang="zh-CN" sz="2000" kern="0" dirty="0">
                <a:latin typeface="Times New Roman" panose="02020603050405020304" pitchFamily="18" charset="0"/>
                <a:cs typeface="Times New Roman" panose="02020603050405020304" pitchFamily="18" charset="0"/>
              </a:rPr>
              <a:t>f0</a:t>
            </a:r>
            <a:r>
              <a:rPr lang="zh-CN" altLang="en-US" sz="2000" kern="0" dirty="0">
                <a:latin typeface="Times New Roman" panose="02020603050405020304" pitchFamily="18" charset="0"/>
                <a:cs typeface="Times New Roman" panose="02020603050405020304" pitchFamily="18" charset="0"/>
              </a:rPr>
              <a:t>时，因为</a:t>
            </a:r>
            <a:r>
              <a:rPr lang="en-US" altLang="zh-CN" sz="2000" kern="0" dirty="0">
                <a:latin typeface="Times New Roman" panose="02020603050405020304" pitchFamily="18" charset="0"/>
                <a:cs typeface="Times New Roman" panose="02020603050405020304" pitchFamily="18" charset="0"/>
              </a:rPr>
              <a:t>V</a:t>
            </a:r>
            <a:r>
              <a:rPr lang="en-US" altLang="zh-CN" sz="2000" kern="0" baseline="-25000" dirty="0">
                <a:latin typeface="Times New Roman" panose="02020603050405020304" pitchFamily="18" charset="0"/>
                <a:cs typeface="Times New Roman" panose="02020603050405020304" pitchFamily="18" charset="0"/>
              </a:rPr>
              <a:t>D1</a:t>
            </a:r>
            <a:r>
              <a:rPr lang="zh-CN" altLang="en-US" sz="2000" kern="0" dirty="0">
                <a:latin typeface="Times New Roman" panose="02020603050405020304" pitchFamily="18" charset="0"/>
                <a:cs typeface="Times New Roman" panose="02020603050405020304" pitchFamily="18" charset="0"/>
              </a:rPr>
              <a:t>＜</a:t>
            </a:r>
            <a:r>
              <a:rPr lang="en-US" altLang="zh-CN" sz="2000" kern="0" dirty="0">
                <a:latin typeface="Times New Roman" panose="02020603050405020304" pitchFamily="18" charset="0"/>
                <a:cs typeface="Times New Roman" panose="02020603050405020304" pitchFamily="18" charset="0"/>
              </a:rPr>
              <a:t>V</a:t>
            </a:r>
            <a:r>
              <a:rPr lang="en-US" altLang="zh-CN" sz="2000" kern="0" baseline="-25000" dirty="0">
                <a:latin typeface="Times New Roman" panose="02020603050405020304" pitchFamily="18" charset="0"/>
                <a:cs typeface="Times New Roman" panose="02020603050405020304" pitchFamily="18" charset="0"/>
              </a:rPr>
              <a:t>D2</a:t>
            </a:r>
            <a:r>
              <a:rPr lang="zh-CN" altLang="en-US" sz="2000" kern="0" dirty="0">
                <a:latin typeface="Times New Roman" panose="02020603050405020304" pitchFamily="18" charset="0"/>
                <a:cs typeface="Times New Roman" panose="02020603050405020304" pitchFamily="18" charset="0"/>
              </a:rPr>
              <a:t>，所以</a:t>
            </a:r>
            <a:r>
              <a:rPr lang="en-US" altLang="zh-CN" sz="2000" kern="0" dirty="0" err="1">
                <a:latin typeface="Times New Roman" panose="02020603050405020304" pitchFamily="18" charset="0"/>
                <a:cs typeface="Times New Roman" panose="02020603050405020304" pitchFamily="18" charset="0"/>
              </a:rPr>
              <a:t>Va</a:t>
            </a:r>
            <a:r>
              <a:rPr lang="en-US" altLang="zh-CN" sz="2000" kern="0"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sz="2000" kern="0" dirty="0" err="1">
                <a:latin typeface="Times New Roman" panose="02020603050405020304" pitchFamily="18" charset="0"/>
                <a:cs typeface="Times New Roman" panose="02020603050405020304" pitchFamily="18" charset="0"/>
              </a:rPr>
              <a:t>b</a:t>
            </a:r>
            <a:r>
              <a:rPr lang="en-US" altLang="zh-CN" sz="2000" kern="0" dirty="0">
                <a:latin typeface="Times New Roman" panose="02020603050405020304" pitchFamily="18" charset="0"/>
                <a:cs typeface="Times New Roman" panose="02020603050405020304" pitchFamily="18" charset="0"/>
                <a:sym typeface="Symbol" panose="05050102010706020507" pitchFamily="18" charset="2"/>
              </a:rPr>
              <a:t></a:t>
            </a:r>
            <a:r>
              <a:rPr lang="zh-CN" altLang="en-US" sz="2000" kern="0" dirty="0">
                <a:latin typeface="Times New Roman" panose="02020603050405020304" pitchFamily="18" charset="0"/>
                <a:cs typeface="Times New Roman" panose="02020603050405020304" pitchFamily="18" charset="0"/>
              </a:rPr>
              <a:t>＜</a:t>
            </a:r>
            <a:r>
              <a:rPr lang="en-US" altLang="zh-CN" sz="2000" kern="0" dirty="0">
                <a:latin typeface="Times New Roman" panose="02020603050405020304" pitchFamily="18" charset="0"/>
                <a:cs typeface="Times New Roman" panose="02020603050405020304" pitchFamily="18" charset="0"/>
              </a:rPr>
              <a:t>0</a:t>
            </a:r>
            <a:r>
              <a:rPr lang="zh-CN" altLang="en-US" sz="2000" kern="0" dirty="0">
                <a:latin typeface="Times New Roman" panose="02020603050405020304" pitchFamily="18" charset="0"/>
                <a:cs typeface="Times New Roman" panose="02020603050405020304" pitchFamily="18" charset="0"/>
              </a:rPr>
              <a:t>，</a:t>
            </a:r>
          </a:p>
          <a:p>
            <a:pPr marL="0" indent="0" algn="just" eaLnBrk="1" hangingPunct="1">
              <a:lnSpc>
                <a:spcPct val="140000"/>
              </a:lnSpc>
              <a:buFont typeface="Times New Roman" panose="02020603050405020304" pitchFamily="18" charset="0"/>
              <a:buNone/>
            </a:pPr>
            <a:r>
              <a:rPr lang="zh-CN" altLang="en-US" sz="2000" kern="0" dirty="0">
                <a:latin typeface="Times New Roman" panose="02020603050405020304" pitchFamily="18" charset="0"/>
                <a:cs typeface="Times New Roman" panose="02020603050405020304" pitchFamily="18" charset="0"/>
              </a:rPr>
              <a:t>    因此，输出电压</a:t>
            </a:r>
            <a:r>
              <a:rPr lang="en-US" altLang="zh-CN" sz="2000" kern="0" dirty="0" err="1">
                <a:latin typeface="Times New Roman" panose="02020603050405020304" pitchFamily="18" charset="0"/>
                <a:cs typeface="Times New Roman" panose="02020603050405020304" pitchFamily="18" charset="0"/>
              </a:rPr>
              <a:t>Va</a:t>
            </a:r>
            <a:r>
              <a:rPr lang="en-US" altLang="zh-CN" sz="2000" kern="0"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sz="2000" kern="0" dirty="0" err="1">
                <a:latin typeface="Times New Roman" panose="02020603050405020304" pitchFamily="18" charset="0"/>
                <a:cs typeface="Times New Roman" panose="02020603050405020304" pitchFamily="18" charset="0"/>
              </a:rPr>
              <a:t>b</a:t>
            </a:r>
            <a:r>
              <a:rPr lang="en-US" altLang="zh-CN" sz="2000" kern="0" dirty="0">
                <a:latin typeface="Times New Roman" panose="02020603050405020304" pitchFamily="18" charset="0"/>
                <a:cs typeface="Times New Roman" panose="02020603050405020304" pitchFamily="18" charset="0"/>
                <a:sym typeface="Symbol" panose="05050102010706020507" pitchFamily="18" charset="2"/>
              </a:rPr>
              <a:t></a:t>
            </a:r>
            <a:r>
              <a:rPr lang="zh-CN" altLang="en-US" sz="2000" kern="0" dirty="0">
                <a:latin typeface="Times New Roman" panose="02020603050405020304" pitchFamily="18" charset="0"/>
                <a:cs typeface="Times New Roman" panose="02020603050405020304" pitchFamily="18" charset="0"/>
              </a:rPr>
              <a:t>反映了输入信号瞬时频率的偏移</a:t>
            </a:r>
            <a:r>
              <a:rPr lang="en-US" altLang="zh-CN" sz="2000" kern="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000" kern="0" dirty="0">
                <a:latin typeface="Times New Roman" panose="02020603050405020304" pitchFamily="18" charset="0"/>
                <a:cs typeface="Times New Roman" panose="02020603050405020304" pitchFamily="18" charset="0"/>
              </a:rPr>
              <a:t>f</a:t>
            </a:r>
            <a:r>
              <a:rPr lang="zh-CN" altLang="en-US" sz="2000" kern="0" dirty="0">
                <a:latin typeface="Times New Roman" panose="02020603050405020304" pitchFamily="18" charset="0"/>
                <a:cs typeface="Times New Roman" panose="02020603050405020304" pitchFamily="18" charset="0"/>
              </a:rPr>
              <a:t>。而</a:t>
            </a:r>
            <a:r>
              <a:rPr lang="en-US" altLang="zh-CN" sz="2000" kern="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000" kern="0" dirty="0">
                <a:latin typeface="Times New Roman" panose="02020603050405020304" pitchFamily="18" charset="0"/>
                <a:cs typeface="Times New Roman" panose="02020603050405020304" pitchFamily="18" charset="0"/>
              </a:rPr>
              <a:t>f</a:t>
            </a:r>
            <a:r>
              <a:rPr lang="zh-CN" altLang="en-US" sz="2000" kern="0" dirty="0">
                <a:latin typeface="Times New Roman" panose="02020603050405020304" pitchFamily="18" charset="0"/>
                <a:cs typeface="Times New Roman" panose="02020603050405020304" pitchFamily="18" charset="0"/>
              </a:rPr>
              <a:t>与原调制信号</a:t>
            </a:r>
            <a:r>
              <a:rPr lang="en-US" altLang="zh-CN" sz="2000" i="1" kern="0" dirty="0">
                <a:latin typeface="Times New Roman" panose="02020603050405020304" pitchFamily="18" charset="0"/>
                <a:cs typeface="Times New Roman" panose="02020603050405020304" pitchFamily="18" charset="0"/>
              </a:rPr>
              <a:t>v</a:t>
            </a:r>
            <a:r>
              <a:rPr lang="en-US" altLang="zh-CN" sz="2000" kern="0" baseline="-250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000" kern="0" dirty="0">
                <a:latin typeface="Times New Roman" panose="02020603050405020304" pitchFamily="18" charset="0"/>
                <a:cs typeface="Times New Roman" panose="02020603050405020304" pitchFamily="18" charset="0"/>
              </a:rPr>
              <a:t>(t)</a:t>
            </a:r>
            <a:r>
              <a:rPr lang="zh-CN" altLang="en-US" sz="2000" kern="0" dirty="0">
                <a:latin typeface="Times New Roman" panose="02020603050405020304" pitchFamily="18" charset="0"/>
                <a:cs typeface="Times New Roman" panose="02020603050405020304" pitchFamily="18" charset="0"/>
              </a:rPr>
              <a:t>成正比，即</a:t>
            </a:r>
            <a:r>
              <a:rPr lang="en-US" altLang="zh-CN" sz="2000" kern="0" dirty="0" err="1">
                <a:latin typeface="Times New Roman" panose="02020603050405020304" pitchFamily="18" charset="0"/>
                <a:cs typeface="Times New Roman" panose="02020603050405020304" pitchFamily="18" charset="0"/>
              </a:rPr>
              <a:t>Va</a:t>
            </a:r>
            <a:r>
              <a:rPr lang="en-US" altLang="zh-CN" sz="2000" kern="0"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sz="2000" kern="0" dirty="0" err="1">
                <a:latin typeface="Times New Roman" panose="02020603050405020304" pitchFamily="18" charset="0"/>
                <a:cs typeface="Times New Roman" panose="02020603050405020304" pitchFamily="18" charset="0"/>
              </a:rPr>
              <a:t>b</a:t>
            </a:r>
            <a:r>
              <a:rPr lang="en-US" altLang="zh-CN" sz="2000" kern="0" dirty="0">
                <a:latin typeface="Times New Roman" panose="02020603050405020304" pitchFamily="18" charset="0"/>
                <a:cs typeface="Times New Roman" panose="02020603050405020304" pitchFamily="18" charset="0"/>
                <a:sym typeface="Symbol" panose="05050102010706020507" pitchFamily="18" charset="2"/>
              </a:rPr>
              <a:t></a:t>
            </a:r>
            <a:r>
              <a:rPr lang="zh-CN" altLang="en-US" sz="2000" kern="0" dirty="0">
                <a:latin typeface="Times New Roman" panose="02020603050405020304" pitchFamily="18" charset="0"/>
                <a:cs typeface="Times New Roman" panose="02020603050405020304" pitchFamily="18" charset="0"/>
              </a:rPr>
              <a:t>与</a:t>
            </a:r>
            <a:r>
              <a:rPr lang="en-US" altLang="zh-CN" sz="2000" i="1" kern="0" dirty="0">
                <a:latin typeface="Times New Roman" panose="02020603050405020304" pitchFamily="18" charset="0"/>
                <a:cs typeface="Times New Roman" panose="02020603050405020304" pitchFamily="18" charset="0"/>
              </a:rPr>
              <a:t>v</a:t>
            </a:r>
            <a:r>
              <a:rPr lang="en-US" altLang="zh-CN" sz="2000" kern="0" baseline="-250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000" kern="0" dirty="0">
                <a:latin typeface="Times New Roman" panose="02020603050405020304" pitchFamily="18" charset="0"/>
                <a:cs typeface="Times New Roman" panose="02020603050405020304" pitchFamily="18" charset="0"/>
              </a:rPr>
              <a:t> (t)</a:t>
            </a:r>
            <a:r>
              <a:rPr lang="zh-CN" altLang="en-US" sz="2000" kern="0" dirty="0">
                <a:latin typeface="Times New Roman" panose="02020603050405020304" pitchFamily="18" charset="0"/>
                <a:cs typeface="Times New Roman" panose="02020603050405020304" pitchFamily="18" charset="0"/>
              </a:rPr>
              <a:t>成正比。亦即实现了调频波的解调。 </a:t>
            </a:r>
          </a:p>
        </p:txBody>
      </p:sp>
      <p:pic>
        <p:nvPicPr>
          <p:cNvPr id="57" name="图片 103426" descr="167.wmf">
            <a:extLst>
              <a:ext uri="{FF2B5EF4-FFF2-40B4-BE49-F238E27FC236}">
                <a16:creationId xmlns="" xmlns:a16="http://schemas.microsoft.com/office/drawing/2014/main" id="{3E21C6D5-CF1A-CE34-E7E2-AFEA8AFABD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2612" y="1192582"/>
            <a:ext cx="1552575" cy="1285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 name="图片 103427" descr="168.wmf">
            <a:extLst>
              <a:ext uri="{FF2B5EF4-FFF2-40B4-BE49-F238E27FC236}">
                <a16:creationId xmlns="" xmlns:a16="http://schemas.microsoft.com/office/drawing/2014/main" id="{4549594A-3AA3-C0DE-5685-456750FF89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10175" y="1264020"/>
            <a:ext cx="2376487" cy="1169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 name="文本框 103428">
            <a:extLst>
              <a:ext uri="{FF2B5EF4-FFF2-40B4-BE49-F238E27FC236}">
                <a16:creationId xmlns="" xmlns:a16="http://schemas.microsoft.com/office/drawing/2014/main" id="{236905D4-E433-A731-B5D8-99AA39095DAF}"/>
              </a:ext>
            </a:extLst>
          </p:cNvPr>
          <p:cNvSpPr txBox="1">
            <a:spLocks noChangeArrowheads="1"/>
          </p:cNvSpPr>
          <p:nvPr/>
        </p:nvSpPr>
        <p:spPr bwMode="auto">
          <a:xfrm>
            <a:off x="1697287" y="2487982"/>
            <a:ext cx="90601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1pPr>
            <a:lvl2pPr marL="742950" indent="-28575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2pPr>
            <a:lvl3pPr marL="11430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3pPr>
            <a:lvl4pPr marL="16002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4pPr>
            <a:lvl5pPr marL="20574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dirty="0">
                <a:cs typeface="Times New Roman" panose="02020603050405020304" pitchFamily="18" charset="0"/>
              </a:rPr>
              <a:t>fin=f0 </a:t>
            </a:r>
          </a:p>
        </p:txBody>
      </p:sp>
      <p:sp>
        <p:nvSpPr>
          <p:cNvPr id="60" name="文本框 103429">
            <a:extLst>
              <a:ext uri="{FF2B5EF4-FFF2-40B4-BE49-F238E27FC236}">
                <a16:creationId xmlns="" xmlns:a16="http://schemas.microsoft.com/office/drawing/2014/main" id="{E95D1EE7-0719-34D5-6D41-B53C200F11E5}"/>
              </a:ext>
            </a:extLst>
          </p:cNvPr>
          <p:cNvSpPr txBox="1">
            <a:spLocks noChangeArrowheads="1"/>
          </p:cNvSpPr>
          <p:nvPr/>
        </p:nvSpPr>
        <p:spPr bwMode="auto">
          <a:xfrm>
            <a:off x="3857875" y="2561007"/>
            <a:ext cx="90601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1pPr>
            <a:lvl2pPr marL="742950" indent="-28575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2pPr>
            <a:lvl3pPr marL="11430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3pPr>
            <a:lvl4pPr marL="16002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4pPr>
            <a:lvl5pPr marL="20574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dirty="0">
                <a:cs typeface="Times New Roman" panose="02020603050405020304" pitchFamily="18" charset="0"/>
              </a:rPr>
              <a:t>fin&gt;f0 </a:t>
            </a:r>
          </a:p>
        </p:txBody>
      </p:sp>
      <p:grpSp>
        <p:nvGrpSpPr>
          <p:cNvPr id="61" name="组合 103430">
            <a:extLst>
              <a:ext uri="{FF2B5EF4-FFF2-40B4-BE49-F238E27FC236}">
                <a16:creationId xmlns="" xmlns:a16="http://schemas.microsoft.com/office/drawing/2014/main" id="{6CF96658-A4D6-909D-BB6B-39C1442142DF}"/>
              </a:ext>
            </a:extLst>
          </p:cNvPr>
          <p:cNvGrpSpPr>
            <a:grpSpLocks/>
          </p:cNvGrpSpPr>
          <p:nvPr/>
        </p:nvGrpSpPr>
        <p:grpSpPr bwMode="auto">
          <a:xfrm>
            <a:off x="5731125" y="1192582"/>
            <a:ext cx="2520950" cy="1655764"/>
            <a:chOff x="3833" y="618"/>
            <a:chExt cx="1588" cy="1043"/>
          </a:xfrm>
        </p:grpSpPr>
        <p:sp>
          <p:nvSpPr>
            <p:cNvPr id="62" name="直接连接符 103431">
              <a:extLst>
                <a:ext uri="{FF2B5EF4-FFF2-40B4-BE49-F238E27FC236}">
                  <a16:creationId xmlns="" xmlns:a16="http://schemas.microsoft.com/office/drawing/2014/main" id="{29E4A410-B662-956B-1F75-119D15B28963}"/>
                </a:ext>
              </a:extLst>
            </p:cNvPr>
            <p:cNvSpPr>
              <a:spLocks noChangeShapeType="1"/>
            </p:cNvSpPr>
            <p:nvPr/>
          </p:nvSpPr>
          <p:spPr bwMode="auto">
            <a:xfrm>
              <a:off x="4335" y="1058"/>
              <a:ext cx="776" cy="1"/>
            </a:xfrm>
            <a:prstGeom prst="line">
              <a:avLst/>
            </a:prstGeom>
            <a:noFill/>
            <a:ln w="222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63" name="直接连接符 103432">
              <a:extLst>
                <a:ext uri="{FF2B5EF4-FFF2-40B4-BE49-F238E27FC236}">
                  <a16:creationId xmlns="" xmlns:a16="http://schemas.microsoft.com/office/drawing/2014/main" id="{E4DF0E97-1B1A-975C-93BE-1EAD4F5FBF2B}"/>
                </a:ext>
              </a:extLst>
            </p:cNvPr>
            <p:cNvSpPr>
              <a:spLocks noChangeShapeType="1"/>
            </p:cNvSpPr>
            <p:nvPr/>
          </p:nvSpPr>
          <p:spPr bwMode="auto">
            <a:xfrm>
              <a:off x="4024" y="778"/>
              <a:ext cx="776" cy="0"/>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64" name="直接连接符 103433">
              <a:extLst>
                <a:ext uri="{FF2B5EF4-FFF2-40B4-BE49-F238E27FC236}">
                  <a16:creationId xmlns="" xmlns:a16="http://schemas.microsoft.com/office/drawing/2014/main" id="{EA0961A9-D9A2-B06E-7253-52AF2EA3749E}"/>
                </a:ext>
              </a:extLst>
            </p:cNvPr>
            <p:cNvSpPr>
              <a:spLocks noChangeShapeType="1"/>
            </p:cNvSpPr>
            <p:nvPr/>
          </p:nvSpPr>
          <p:spPr bwMode="auto">
            <a:xfrm>
              <a:off x="4800" y="778"/>
              <a:ext cx="621" cy="561"/>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65" name="直接连接符 103434">
              <a:extLst>
                <a:ext uri="{FF2B5EF4-FFF2-40B4-BE49-F238E27FC236}">
                  <a16:creationId xmlns="" xmlns:a16="http://schemas.microsoft.com/office/drawing/2014/main" id="{A9980A68-0F3C-63AC-F847-BE5AF92B98B9}"/>
                </a:ext>
              </a:extLst>
            </p:cNvPr>
            <p:cNvSpPr>
              <a:spLocks noChangeShapeType="1"/>
            </p:cNvSpPr>
            <p:nvPr/>
          </p:nvSpPr>
          <p:spPr bwMode="auto">
            <a:xfrm flipH="1">
              <a:off x="4645" y="1339"/>
              <a:ext cx="776" cy="0"/>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66" name="直接连接符 103435">
              <a:extLst>
                <a:ext uri="{FF2B5EF4-FFF2-40B4-BE49-F238E27FC236}">
                  <a16:creationId xmlns="" xmlns:a16="http://schemas.microsoft.com/office/drawing/2014/main" id="{654E865A-7F2C-1D14-DB0F-B0C197EC02DB}"/>
                </a:ext>
              </a:extLst>
            </p:cNvPr>
            <p:cNvSpPr>
              <a:spLocks noChangeShapeType="1"/>
            </p:cNvSpPr>
            <p:nvPr/>
          </p:nvSpPr>
          <p:spPr bwMode="auto">
            <a:xfrm>
              <a:off x="4024" y="778"/>
              <a:ext cx="621" cy="561"/>
            </a:xfrm>
            <a:prstGeom prst="line">
              <a:avLst/>
            </a:prstGeom>
            <a:noFill/>
            <a:ln w="25400">
              <a:solidFill>
                <a:schemeClr val="tx1"/>
              </a:solidFill>
              <a:round/>
              <a:headEnd type="triangle" w="sm" len="lg"/>
              <a:tailEnd type="triangle" w="sm"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67" name="直接连接符 103436">
              <a:extLst>
                <a:ext uri="{FF2B5EF4-FFF2-40B4-BE49-F238E27FC236}">
                  <a16:creationId xmlns="" xmlns:a16="http://schemas.microsoft.com/office/drawing/2014/main" id="{D87F6AA5-9C66-28A1-D808-8B73DC193506}"/>
                </a:ext>
              </a:extLst>
            </p:cNvPr>
            <p:cNvSpPr>
              <a:spLocks noChangeShapeType="1"/>
            </p:cNvSpPr>
            <p:nvPr/>
          </p:nvSpPr>
          <p:spPr bwMode="auto">
            <a:xfrm flipV="1">
              <a:off x="4335" y="778"/>
              <a:ext cx="465" cy="280"/>
            </a:xfrm>
            <a:prstGeom prst="line">
              <a:avLst/>
            </a:prstGeom>
            <a:noFill/>
            <a:ln w="22225">
              <a:solidFill>
                <a:schemeClr val="tx1"/>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68" name="直接连接符 103437">
              <a:extLst>
                <a:ext uri="{FF2B5EF4-FFF2-40B4-BE49-F238E27FC236}">
                  <a16:creationId xmlns="" xmlns:a16="http://schemas.microsoft.com/office/drawing/2014/main" id="{4C6F2B75-E878-6470-F649-9E54DD27A028}"/>
                </a:ext>
              </a:extLst>
            </p:cNvPr>
            <p:cNvSpPr>
              <a:spLocks noChangeShapeType="1"/>
            </p:cNvSpPr>
            <p:nvPr/>
          </p:nvSpPr>
          <p:spPr bwMode="auto">
            <a:xfrm>
              <a:off x="4335" y="1058"/>
              <a:ext cx="1086" cy="281"/>
            </a:xfrm>
            <a:prstGeom prst="line">
              <a:avLst/>
            </a:prstGeom>
            <a:noFill/>
            <a:ln w="222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69" name="任意多边形 103438">
              <a:extLst>
                <a:ext uri="{FF2B5EF4-FFF2-40B4-BE49-F238E27FC236}">
                  <a16:creationId xmlns="" xmlns:a16="http://schemas.microsoft.com/office/drawing/2014/main" id="{6C506713-D52F-4CE8-C277-A3ACC31452D0}"/>
                </a:ext>
              </a:extLst>
            </p:cNvPr>
            <p:cNvSpPr>
              <a:spLocks noChangeArrowheads="1"/>
            </p:cNvSpPr>
            <p:nvPr/>
          </p:nvSpPr>
          <p:spPr bwMode="auto">
            <a:xfrm rot="2954936" flipH="1">
              <a:off x="4332" y="983"/>
              <a:ext cx="91" cy="86"/>
            </a:xfrm>
            <a:custGeom>
              <a:avLst/>
              <a:gdLst>
                <a:gd name="T0" fmla="*/ 89 w 227"/>
                <a:gd name="T1" fmla="*/ 86 h 214"/>
                <a:gd name="T2" fmla="*/ 85 w 227"/>
                <a:gd name="T3" fmla="*/ 25 h 214"/>
                <a:gd name="T4" fmla="*/ 62 w 227"/>
                <a:gd name="T5" fmla="*/ 8 h 214"/>
                <a:gd name="T6" fmla="*/ 51 w 227"/>
                <a:gd name="T7" fmla="*/ 0 h 214"/>
                <a:gd name="T8" fmla="*/ 12 w 227"/>
                <a:gd name="T9" fmla="*/ 8 h 214"/>
                <a:gd name="T10" fmla="*/ 0 w 227"/>
                <a:gd name="T11" fmla="*/ 25 h 214"/>
                <a:gd name="T12" fmla="*/ 15 w 227"/>
                <a:gd name="T13" fmla="*/ 17 h 21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27" h="214">
                  <a:moveTo>
                    <a:pt x="223" y="214"/>
                  </a:moveTo>
                  <a:cubicBezTo>
                    <a:pt x="219" y="165"/>
                    <a:pt x="227" y="104"/>
                    <a:pt x="213" y="63"/>
                  </a:cubicBezTo>
                  <a:cubicBezTo>
                    <a:pt x="201" y="27"/>
                    <a:pt x="174" y="35"/>
                    <a:pt x="155" y="20"/>
                  </a:cubicBezTo>
                  <a:cubicBezTo>
                    <a:pt x="145" y="13"/>
                    <a:pt x="126" y="0"/>
                    <a:pt x="126" y="0"/>
                  </a:cubicBezTo>
                  <a:cubicBezTo>
                    <a:pt x="93" y="6"/>
                    <a:pt x="60" y="4"/>
                    <a:pt x="29" y="20"/>
                  </a:cubicBezTo>
                  <a:cubicBezTo>
                    <a:pt x="17" y="26"/>
                    <a:pt x="0" y="37"/>
                    <a:pt x="0" y="63"/>
                  </a:cubicBezTo>
                  <a:cubicBezTo>
                    <a:pt x="0" y="94"/>
                    <a:pt x="25" y="42"/>
                    <a:pt x="38" y="42"/>
                  </a:cubicBezTo>
                </a:path>
              </a:pathLst>
            </a:custGeom>
            <a:noFill/>
            <a:ln w="9525">
              <a:solidFill>
                <a:schemeClr val="tx1"/>
              </a:solidFill>
              <a:round/>
              <a:headEnd type="triangle" w="med" len="med"/>
              <a:tailEnd/>
            </a:ln>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70" name="文本框 103439">
              <a:extLst>
                <a:ext uri="{FF2B5EF4-FFF2-40B4-BE49-F238E27FC236}">
                  <a16:creationId xmlns="" xmlns:a16="http://schemas.microsoft.com/office/drawing/2014/main" id="{B5A8F31D-1170-D248-3C74-7E7118363210}"/>
                </a:ext>
              </a:extLst>
            </p:cNvPr>
            <p:cNvSpPr txBox="1">
              <a:spLocks noChangeArrowheads="1"/>
            </p:cNvSpPr>
            <p:nvPr/>
          </p:nvSpPr>
          <p:spPr bwMode="auto">
            <a:xfrm>
              <a:off x="4600" y="1409"/>
              <a:ext cx="53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1pPr>
              <a:lvl2pPr marL="742950" indent="-28575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2pPr>
              <a:lvl3pPr marL="11430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3pPr>
              <a:lvl4pPr marL="16002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4pPr>
              <a:lvl5pPr marL="20574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dirty="0">
                  <a:cs typeface="Times New Roman" panose="02020603050405020304" pitchFamily="18" charset="0"/>
                </a:rPr>
                <a:t>fin&lt;f0</a:t>
              </a:r>
            </a:p>
          </p:txBody>
        </p:sp>
        <p:grpSp>
          <p:nvGrpSpPr>
            <p:cNvPr id="71" name="组合 103440">
              <a:extLst>
                <a:ext uri="{FF2B5EF4-FFF2-40B4-BE49-F238E27FC236}">
                  <a16:creationId xmlns="" xmlns:a16="http://schemas.microsoft.com/office/drawing/2014/main" id="{0FF53123-8F49-EEB4-677B-ED1932B3B159}"/>
                </a:ext>
              </a:extLst>
            </p:cNvPr>
            <p:cNvGrpSpPr>
              <a:grpSpLocks/>
            </p:cNvGrpSpPr>
            <p:nvPr/>
          </p:nvGrpSpPr>
          <p:grpSpPr bwMode="auto">
            <a:xfrm>
              <a:off x="3833" y="713"/>
              <a:ext cx="212" cy="264"/>
              <a:chOff x="3833" y="713"/>
              <a:chExt cx="212" cy="264"/>
            </a:xfrm>
          </p:grpSpPr>
          <p:sp>
            <p:nvSpPr>
              <p:cNvPr id="82" name="直接连接符 103441">
                <a:extLst>
                  <a:ext uri="{FF2B5EF4-FFF2-40B4-BE49-F238E27FC236}">
                    <a16:creationId xmlns="" xmlns:a16="http://schemas.microsoft.com/office/drawing/2014/main" id="{C8915B2B-C9B3-85EF-7EEA-90F570C462C7}"/>
                  </a:ext>
                </a:extLst>
              </p:cNvPr>
              <p:cNvSpPr>
                <a:spLocks noChangeShapeType="1"/>
              </p:cNvSpPr>
              <p:nvPr/>
            </p:nvSpPr>
            <p:spPr bwMode="auto">
              <a:xfrm>
                <a:off x="3871" y="819"/>
                <a:ext cx="138"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83" name="矩形 103442">
                <a:extLst>
                  <a:ext uri="{FF2B5EF4-FFF2-40B4-BE49-F238E27FC236}">
                    <a16:creationId xmlns="" xmlns:a16="http://schemas.microsoft.com/office/drawing/2014/main" id="{F8DC3BEC-7CF3-2D36-C6BE-601A4EAE6EE4}"/>
                  </a:ext>
                </a:extLst>
              </p:cNvPr>
              <p:cNvSpPr>
                <a:spLocks noChangeArrowheads="1"/>
              </p:cNvSpPr>
              <p:nvPr/>
            </p:nvSpPr>
            <p:spPr bwMode="auto">
              <a:xfrm>
                <a:off x="3833" y="713"/>
                <a:ext cx="21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1pPr>
                <a:lvl2pPr marL="742950" indent="-28575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2pPr>
                <a:lvl3pPr marL="11430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3pPr>
                <a:lvl4pPr marL="16002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4pPr>
                <a:lvl5pPr marL="20574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200" i="1">
                    <a:ea typeface="Angsana New" panose="02020603050405020304" pitchFamily="18" charset="-34"/>
                    <a:cs typeface="Times New Roman" panose="02020603050405020304" pitchFamily="18" charset="0"/>
                  </a:rPr>
                  <a:t>V</a:t>
                </a:r>
                <a:r>
                  <a:rPr lang="en-US" altLang="zh-CN" sz="1200" baseline="-25000">
                    <a:ea typeface="Angsana New" panose="02020603050405020304" pitchFamily="18" charset="-34"/>
                    <a:cs typeface="Times New Roman" panose="02020603050405020304" pitchFamily="18" charset="0"/>
                  </a:rPr>
                  <a:t>ab</a:t>
                </a:r>
              </a:p>
            </p:txBody>
          </p:sp>
          <p:sp>
            <p:nvSpPr>
              <p:cNvPr id="84" name="矩形 103443">
                <a:extLst>
                  <a:ext uri="{FF2B5EF4-FFF2-40B4-BE49-F238E27FC236}">
                    <a16:creationId xmlns="" xmlns:a16="http://schemas.microsoft.com/office/drawing/2014/main" id="{0711E6BA-7C75-7691-DC27-72D0E384FBA9}"/>
                  </a:ext>
                </a:extLst>
              </p:cNvPr>
              <p:cNvSpPr>
                <a:spLocks noChangeArrowheads="1"/>
              </p:cNvSpPr>
              <p:nvPr/>
            </p:nvSpPr>
            <p:spPr bwMode="auto">
              <a:xfrm>
                <a:off x="3868" y="803"/>
                <a:ext cx="165"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1pPr>
                <a:lvl2pPr marL="742950" indent="-28575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2pPr>
                <a:lvl3pPr marL="11430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3pPr>
                <a:lvl4pPr marL="16002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4pPr>
                <a:lvl5pPr marL="20574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200">
                    <a:ea typeface="Angsana New" panose="02020603050405020304" pitchFamily="18" charset="-34"/>
                    <a:cs typeface="Times New Roman" panose="02020603050405020304" pitchFamily="18" charset="0"/>
                  </a:rPr>
                  <a:t>2</a:t>
                </a:r>
              </a:p>
            </p:txBody>
          </p:sp>
        </p:grpSp>
        <p:grpSp>
          <p:nvGrpSpPr>
            <p:cNvPr id="72" name="组合 103444">
              <a:extLst>
                <a:ext uri="{FF2B5EF4-FFF2-40B4-BE49-F238E27FC236}">
                  <a16:creationId xmlns="" xmlns:a16="http://schemas.microsoft.com/office/drawing/2014/main" id="{A0EA36C6-DABF-3DB1-EFF5-96777DDE610B}"/>
                </a:ext>
              </a:extLst>
            </p:cNvPr>
            <p:cNvGrpSpPr>
              <a:grpSpLocks/>
            </p:cNvGrpSpPr>
            <p:nvPr/>
          </p:nvGrpSpPr>
          <p:grpSpPr bwMode="auto">
            <a:xfrm>
              <a:off x="4258" y="1282"/>
              <a:ext cx="316" cy="264"/>
              <a:chOff x="4258" y="1282"/>
              <a:chExt cx="316" cy="264"/>
            </a:xfrm>
          </p:grpSpPr>
          <p:grpSp>
            <p:nvGrpSpPr>
              <p:cNvPr id="77" name="组合 103445">
                <a:extLst>
                  <a:ext uri="{FF2B5EF4-FFF2-40B4-BE49-F238E27FC236}">
                    <a16:creationId xmlns="" xmlns:a16="http://schemas.microsoft.com/office/drawing/2014/main" id="{772824EB-2749-0F42-6D0D-7D247034A0C9}"/>
                  </a:ext>
                </a:extLst>
              </p:cNvPr>
              <p:cNvGrpSpPr>
                <a:grpSpLocks/>
              </p:cNvGrpSpPr>
              <p:nvPr/>
            </p:nvGrpSpPr>
            <p:grpSpPr bwMode="auto">
              <a:xfrm>
                <a:off x="4325" y="1282"/>
                <a:ext cx="249" cy="264"/>
                <a:chOff x="4325" y="1282"/>
                <a:chExt cx="249" cy="264"/>
              </a:xfrm>
            </p:grpSpPr>
            <p:sp>
              <p:nvSpPr>
                <p:cNvPr id="79" name="直接连接符 103446">
                  <a:extLst>
                    <a:ext uri="{FF2B5EF4-FFF2-40B4-BE49-F238E27FC236}">
                      <a16:creationId xmlns="" xmlns:a16="http://schemas.microsoft.com/office/drawing/2014/main" id="{01882BA4-9D74-ED49-5B00-D967BC1757FC}"/>
                    </a:ext>
                  </a:extLst>
                </p:cNvPr>
                <p:cNvSpPr>
                  <a:spLocks noChangeShapeType="1"/>
                </p:cNvSpPr>
                <p:nvPr/>
              </p:nvSpPr>
              <p:spPr bwMode="auto">
                <a:xfrm>
                  <a:off x="4370" y="1388"/>
                  <a:ext cx="162"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80" name="矩形 103447">
                  <a:extLst>
                    <a:ext uri="{FF2B5EF4-FFF2-40B4-BE49-F238E27FC236}">
                      <a16:creationId xmlns="" xmlns:a16="http://schemas.microsoft.com/office/drawing/2014/main" id="{2C9FBD21-1F54-D75A-3CEE-CB121481A6BF}"/>
                    </a:ext>
                  </a:extLst>
                </p:cNvPr>
                <p:cNvSpPr>
                  <a:spLocks noChangeArrowheads="1"/>
                </p:cNvSpPr>
                <p:nvPr/>
              </p:nvSpPr>
              <p:spPr bwMode="auto">
                <a:xfrm>
                  <a:off x="4325" y="1282"/>
                  <a:ext cx="24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1pPr>
                  <a:lvl2pPr marL="742950" indent="-28575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2pPr>
                  <a:lvl3pPr marL="11430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3pPr>
                  <a:lvl4pPr marL="16002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4pPr>
                  <a:lvl5pPr marL="20574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200" i="1">
                      <a:ea typeface="Angsana New" panose="02020603050405020304" pitchFamily="18" charset="-34"/>
                      <a:cs typeface="Times New Roman" panose="02020603050405020304" pitchFamily="18" charset="0"/>
                    </a:rPr>
                    <a:t>V</a:t>
                  </a:r>
                  <a:r>
                    <a:rPr lang="en-US" altLang="zh-CN" sz="1200" baseline="-25000">
                      <a:ea typeface="Angsana New" panose="02020603050405020304" pitchFamily="18" charset="-34"/>
                      <a:cs typeface="Times New Roman" panose="02020603050405020304" pitchFamily="18" charset="0"/>
                    </a:rPr>
                    <a:t>ab</a:t>
                  </a:r>
                </a:p>
              </p:txBody>
            </p:sp>
            <p:sp>
              <p:nvSpPr>
                <p:cNvPr id="81" name="矩形 103448">
                  <a:extLst>
                    <a:ext uri="{FF2B5EF4-FFF2-40B4-BE49-F238E27FC236}">
                      <a16:creationId xmlns="" xmlns:a16="http://schemas.microsoft.com/office/drawing/2014/main" id="{96267EF0-CAF6-725C-BC91-7E63CE1784E7}"/>
                    </a:ext>
                  </a:extLst>
                </p:cNvPr>
                <p:cNvSpPr>
                  <a:spLocks noChangeArrowheads="1"/>
                </p:cNvSpPr>
                <p:nvPr/>
              </p:nvSpPr>
              <p:spPr bwMode="auto">
                <a:xfrm>
                  <a:off x="4383" y="1372"/>
                  <a:ext cx="165"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1pPr>
                  <a:lvl2pPr marL="742950" indent="-28575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2pPr>
                  <a:lvl3pPr marL="11430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3pPr>
                  <a:lvl4pPr marL="16002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4pPr>
                  <a:lvl5pPr marL="20574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200">
                      <a:ea typeface="Angsana New" panose="02020603050405020304" pitchFamily="18" charset="-34"/>
                      <a:cs typeface="Times New Roman" panose="02020603050405020304" pitchFamily="18" charset="0"/>
                    </a:rPr>
                    <a:t>2</a:t>
                  </a:r>
                </a:p>
              </p:txBody>
            </p:sp>
          </p:grpSp>
          <p:sp>
            <p:nvSpPr>
              <p:cNvPr id="78" name="矩形 103449">
                <a:extLst>
                  <a:ext uri="{FF2B5EF4-FFF2-40B4-BE49-F238E27FC236}">
                    <a16:creationId xmlns="" xmlns:a16="http://schemas.microsoft.com/office/drawing/2014/main" id="{94C90752-0980-B41B-DA02-BF8A4ED3C331}"/>
                  </a:ext>
                </a:extLst>
              </p:cNvPr>
              <p:cNvSpPr>
                <a:spLocks noChangeArrowheads="1"/>
              </p:cNvSpPr>
              <p:nvPr/>
            </p:nvSpPr>
            <p:spPr bwMode="auto">
              <a:xfrm>
                <a:off x="4258" y="1335"/>
                <a:ext cx="152"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1pPr>
                <a:lvl2pPr marL="742950" indent="-28575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2pPr>
                <a:lvl3pPr marL="11430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3pPr>
                <a:lvl4pPr marL="16002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4pPr>
                <a:lvl5pPr marL="20574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900">
                    <a:ea typeface="Angsana New" panose="02020603050405020304" pitchFamily="18" charset="-34"/>
                    <a:cs typeface="Times New Roman" panose="02020603050405020304" pitchFamily="18" charset="0"/>
                  </a:rPr>
                  <a:t>–</a:t>
                </a:r>
              </a:p>
            </p:txBody>
          </p:sp>
        </p:grpSp>
        <p:sp>
          <p:nvSpPr>
            <p:cNvPr id="73" name="矩形 103450">
              <a:extLst>
                <a:ext uri="{FF2B5EF4-FFF2-40B4-BE49-F238E27FC236}">
                  <a16:creationId xmlns="" xmlns:a16="http://schemas.microsoft.com/office/drawing/2014/main" id="{5B03E5BA-2B26-92DA-8C96-D9573C16A4BC}"/>
                </a:ext>
              </a:extLst>
            </p:cNvPr>
            <p:cNvSpPr>
              <a:spLocks noChangeArrowheads="1"/>
            </p:cNvSpPr>
            <p:nvPr/>
          </p:nvSpPr>
          <p:spPr bwMode="auto">
            <a:xfrm>
              <a:off x="5018" y="1128"/>
              <a:ext cx="222"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1pPr>
              <a:lvl2pPr marL="742950" indent="-28575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2pPr>
              <a:lvl3pPr marL="11430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3pPr>
              <a:lvl4pPr marL="16002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4pPr>
              <a:lvl5pPr marL="20574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200" i="1">
                  <a:ea typeface="Angsana New" panose="02020603050405020304" pitchFamily="18" charset="-34"/>
                  <a:cs typeface="Times New Roman" panose="02020603050405020304" pitchFamily="18" charset="0"/>
                </a:rPr>
                <a:t>V</a:t>
              </a:r>
              <a:r>
                <a:rPr lang="en-US" altLang="zh-CN" sz="1200" baseline="-25000">
                  <a:ea typeface="Angsana New" panose="02020603050405020304" pitchFamily="18" charset="-34"/>
                  <a:cs typeface="Times New Roman" panose="02020603050405020304" pitchFamily="18" charset="0"/>
                </a:rPr>
                <a:t>D2</a:t>
              </a:r>
            </a:p>
          </p:txBody>
        </p:sp>
        <p:sp>
          <p:nvSpPr>
            <p:cNvPr id="74" name="矩形 103451">
              <a:extLst>
                <a:ext uri="{FF2B5EF4-FFF2-40B4-BE49-F238E27FC236}">
                  <a16:creationId xmlns="" xmlns:a16="http://schemas.microsoft.com/office/drawing/2014/main" id="{F86B0F2C-BAC6-0599-CCBB-51AE67CA0088}"/>
                </a:ext>
              </a:extLst>
            </p:cNvPr>
            <p:cNvSpPr>
              <a:spLocks noChangeArrowheads="1"/>
            </p:cNvSpPr>
            <p:nvPr/>
          </p:nvSpPr>
          <p:spPr bwMode="auto">
            <a:xfrm>
              <a:off x="4756" y="618"/>
              <a:ext cx="26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1pPr>
              <a:lvl2pPr marL="742950" indent="-28575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2pPr>
              <a:lvl3pPr marL="11430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3pPr>
              <a:lvl4pPr marL="16002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4pPr>
              <a:lvl5pPr marL="20574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200" i="1">
                  <a:ea typeface="Angsana New" panose="02020603050405020304" pitchFamily="18" charset="-34"/>
                  <a:cs typeface="Times New Roman" panose="02020603050405020304" pitchFamily="18" charset="0"/>
                </a:rPr>
                <a:t>V</a:t>
              </a:r>
              <a:r>
                <a:rPr lang="en-US" altLang="zh-CN" sz="1200" baseline="-25000">
                  <a:ea typeface="Angsana New" panose="02020603050405020304" pitchFamily="18" charset="-34"/>
                  <a:cs typeface="Times New Roman" panose="02020603050405020304" pitchFamily="18" charset="0"/>
                </a:rPr>
                <a:t>D1</a:t>
              </a:r>
            </a:p>
          </p:txBody>
        </p:sp>
        <p:sp>
          <p:nvSpPr>
            <p:cNvPr id="75" name="矩形 103452">
              <a:extLst>
                <a:ext uri="{FF2B5EF4-FFF2-40B4-BE49-F238E27FC236}">
                  <a16:creationId xmlns="" xmlns:a16="http://schemas.microsoft.com/office/drawing/2014/main" id="{1939BE34-FCBA-8456-370A-18919D086266}"/>
                </a:ext>
              </a:extLst>
            </p:cNvPr>
            <p:cNvSpPr>
              <a:spLocks noChangeArrowheads="1"/>
            </p:cNvSpPr>
            <p:nvPr/>
          </p:nvSpPr>
          <p:spPr bwMode="auto">
            <a:xfrm>
              <a:off x="4750" y="926"/>
              <a:ext cx="246"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1pPr>
              <a:lvl2pPr marL="742950" indent="-28575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2pPr>
              <a:lvl3pPr marL="11430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3pPr>
              <a:lvl4pPr marL="16002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4pPr>
              <a:lvl5pPr marL="20574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200" i="1">
                  <a:ea typeface="Angsana New" panose="02020603050405020304" pitchFamily="18" charset="-34"/>
                  <a:cs typeface="Times New Roman" panose="02020603050405020304" pitchFamily="18" charset="0"/>
                </a:rPr>
                <a:t>V</a:t>
              </a:r>
              <a:r>
                <a:rPr lang="en-US" altLang="zh-CN" sz="1200" baseline="-25000">
                  <a:ea typeface="Angsana New" panose="02020603050405020304" pitchFamily="18" charset="-34"/>
                  <a:cs typeface="Times New Roman" panose="02020603050405020304" pitchFamily="18" charset="0"/>
                </a:rPr>
                <a:t>12</a:t>
              </a:r>
            </a:p>
          </p:txBody>
        </p:sp>
        <p:sp>
          <p:nvSpPr>
            <p:cNvPr id="76" name="矩形 103453">
              <a:extLst>
                <a:ext uri="{FF2B5EF4-FFF2-40B4-BE49-F238E27FC236}">
                  <a16:creationId xmlns="" xmlns:a16="http://schemas.microsoft.com/office/drawing/2014/main" id="{9E6BED6C-95E5-A4EA-9223-5FFD4F10AEC5}"/>
                </a:ext>
              </a:extLst>
            </p:cNvPr>
            <p:cNvSpPr>
              <a:spLocks noChangeArrowheads="1"/>
            </p:cNvSpPr>
            <p:nvPr/>
          </p:nvSpPr>
          <p:spPr bwMode="auto">
            <a:xfrm>
              <a:off x="4210" y="855"/>
              <a:ext cx="358"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1pPr>
              <a:lvl2pPr marL="742950" indent="-28575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2pPr>
              <a:lvl3pPr marL="11430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3pPr>
              <a:lvl4pPr marL="16002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4pPr>
              <a:lvl5pPr marL="20574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200">
                  <a:ea typeface="Angsana New" panose="02020603050405020304" pitchFamily="18" charset="-34"/>
                  <a:cs typeface="Times New Roman" panose="02020603050405020304" pitchFamily="18" charset="0"/>
                </a:rPr>
                <a:t>90</a:t>
              </a:r>
              <a:r>
                <a:rPr lang="en-US" altLang="zh-CN" sz="1200">
                  <a:ea typeface="Angsana New" panose="02020603050405020304" pitchFamily="18" charset="-34"/>
                  <a:cs typeface="Times New Roman" panose="02020603050405020304" pitchFamily="18" charset="0"/>
                  <a:sym typeface="Symbol" panose="05050102010706020507" pitchFamily="18" charset="2"/>
                </a:rPr>
                <a:t></a:t>
              </a:r>
              <a:r>
                <a:rPr lang="en-US" altLang="zh-CN" sz="1200">
                  <a:ea typeface="Angsana New" panose="02020603050405020304" pitchFamily="18" charset="-34"/>
                  <a:cs typeface="Times New Roman" panose="02020603050405020304" pitchFamily="18" charset="0"/>
                </a:rPr>
                <a:t>+q</a:t>
              </a:r>
            </a:p>
          </p:txBody>
        </p:sp>
      </p:grpSp>
    </p:spTree>
    <p:extLst>
      <p:ext uri="{BB962C8B-B14F-4D97-AF65-F5344CB8AC3E}">
        <p14:creationId xmlns:p14="http://schemas.microsoft.com/office/powerpoint/2010/main" val="4157898199"/>
      </p:ext>
    </p:extLst>
  </p:cSld>
  <p:clrMapOvr>
    <a:masterClrMapping/>
  </p:clrMapOvr>
  <p:timing>
    <p:tnLst>
      <p:par>
        <p:cTn id="1" dur="indefinite" restart="never" nodeType="tmRoot"/>
      </p:par>
    </p:tnLst>
  </p:timing>
</p:sld>
</file>

<file path=ppt/slides/slide3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302</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11"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7.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角度调制</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与</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解调</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文本框 104449">
            <a:extLst>
              <a:ext uri="{FF2B5EF4-FFF2-40B4-BE49-F238E27FC236}">
                <a16:creationId xmlns="" xmlns:a16="http://schemas.microsoft.com/office/drawing/2014/main" id="{32D66630-6F3E-C69E-4EF8-2F010FDC1657}"/>
              </a:ext>
            </a:extLst>
          </p:cNvPr>
          <p:cNvSpPr txBox="1">
            <a:spLocks noChangeArrowheads="1"/>
          </p:cNvSpPr>
          <p:nvPr/>
        </p:nvSpPr>
        <p:spPr bwMode="auto">
          <a:xfrm>
            <a:off x="396875" y="1268413"/>
            <a:ext cx="7066806" cy="795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1pPr>
            <a:lvl2pPr marL="742950" indent="-28575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2pPr>
            <a:lvl3pPr marL="11430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3pPr>
            <a:lvl4pPr marL="16002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4pPr>
            <a:lvl5pPr marL="20574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sz="2000" dirty="0">
                <a:ea typeface="+mn-ea"/>
                <a:cs typeface="Times New Roman" panose="02020603050405020304" pitchFamily="18" charset="0"/>
              </a:rPr>
              <a:t>若将</a:t>
            </a:r>
            <a:r>
              <a:rPr lang="en-US" altLang="zh-CN" sz="2000" dirty="0" err="1">
                <a:ea typeface="+mn-ea"/>
                <a:cs typeface="Times New Roman" panose="02020603050405020304" pitchFamily="18" charset="0"/>
              </a:rPr>
              <a:t>Va</a:t>
            </a:r>
            <a:r>
              <a:rPr lang="en-US" altLang="zh-CN" sz="2000" dirty="0" err="1">
                <a:ea typeface="+mn-ea"/>
                <a:cs typeface="Times New Roman" panose="02020603050405020304" pitchFamily="18" charset="0"/>
                <a:sym typeface="Symbol" panose="05050102010706020507" pitchFamily="18" charset="2"/>
              </a:rPr>
              <a:t></a:t>
            </a:r>
            <a:r>
              <a:rPr lang="en-US" altLang="zh-CN" sz="2000" dirty="0" err="1">
                <a:ea typeface="+mn-ea"/>
                <a:cs typeface="Times New Roman" panose="02020603050405020304" pitchFamily="18" charset="0"/>
              </a:rPr>
              <a:t>b</a:t>
            </a:r>
            <a:r>
              <a:rPr lang="en-US" altLang="zh-CN" sz="2000" dirty="0">
                <a:ea typeface="+mn-ea"/>
                <a:cs typeface="Times New Roman" panose="02020603050405020304" pitchFamily="18" charset="0"/>
                <a:sym typeface="Symbol" panose="05050102010706020507" pitchFamily="18" charset="2"/>
              </a:rPr>
              <a:t></a:t>
            </a:r>
            <a:r>
              <a:rPr lang="zh-CN" altLang="en-US" sz="2000" dirty="0">
                <a:ea typeface="+mn-ea"/>
                <a:cs typeface="Times New Roman" panose="02020603050405020304" pitchFamily="18" charset="0"/>
              </a:rPr>
              <a:t>与频移</a:t>
            </a:r>
            <a:r>
              <a:rPr lang="en-US" altLang="zh-CN" sz="2000" dirty="0">
                <a:ea typeface="+mn-ea"/>
                <a:cs typeface="Times New Roman" panose="02020603050405020304" pitchFamily="18" charset="0"/>
                <a:sym typeface="Symbol" panose="05050102010706020507" pitchFamily="18" charset="2"/>
              </a:rPr>
              <a:t></a:t>
            </a:r>
            <a:r>
              <a:rPr lang="en-US" altLang="zh-CN" sz="2000" dirty="0">
                <a:ea typeface="+mn-ea"/>
                <a:cs typeface="Times New Roman" panose="02020603050405020304" pitchFamily="18" charset="0"/>
              </a:rPr>
              <a:t>f</a:t>
            </a:r>
            <a:r>
              <a:rPr lang="zh-CN" altLang="en-US" sz="2000" dirty="0">
                <a:ea typeface="+mn-ea"/>
                <a:cs typeface="Times New Roman" panose="02020603050405020304" pitchFamily="18" charset="0"/>
              </a:rPr>
              <a:t>之间的关系画成曲线，便得到如图</a:t>
            </a:r>
            <a:r>
              <a:rPr lang="en-US" altLang="zh-CN" sz="2000" dirty="0">
                <a:ea typeface="+mn-ea"/>
                <a:cs typeface="Times New Roman" panose="02020603050405020304" pitchFamily="18" charset="0"/>
              </a:rPr>
              <a:t>7-25</a:t>
            </a:r>
            <a:r>
              <a:rPr lang="zh-CN" altLang="en-US" sz="2000" dirty="0">
                <a:ea typeface="+mn-ea"/>
                <a:cs typeface="Times New Roman" panose="02020603050405020304" pitchFamily="18" charset="0"/>
              </a:rPr>
              <a:t>所示</a:t>
            </a:r>
          </a:p>
          <a:p>
            <a:pPr eaLnBrk="1" hangingPunct="1">
              <a:lnSpc>
                <a:spcPct val="120000"/>
              </a:lnSpc>
            </a:pPr>
            <a:r>
              <a:rPr lang="zh-CN" altLang="en-US" sz="2000" dirty="0">
                <a:ea typeface="+mn-ea"/>
                <a:cs typeface="Times New Roman" panose="02020603050405020304" pitchFamily="18" charset="0"/>
              </a:rPr>
              <a:t>的</a:t>
            </a:r>
            <a:r>
              <a:rPr lang="en-US" altLang="zh-CN" sz="2000" dirty="0">
                <a:ea typeface="+mn-ea"/>
                <a:cs typeface="Times New Roman" panose="02020603050405020304" pitchFamily="18" charset="0"/>
              </a:rPr>
              <a:t>S</a:t>
            </a:r>
            <a:r>
              <a:rPr lang="zh-CN" altLang="en-US" sz="2000" dirty="0">
                <a:ea typeface="+mn-ea"/>
                <a:cs typeface="Times New Roman" panose="02020603050405020304" pitchFamily="18" charset="0"/>
              </a:rPr>
              <a:t>形鉴频特性曲线。 </a:t>
            </a:r>
          </a:p>
        </p:txBody>
      </p:sp>
      <p:pic>
        <p:nvPicPr>
          <p:cNvPr id="7" name="图片 104451" descr="169.wmf">
            <a:extLst>
              <a:ext uri="{FF2B5EF4-FFF2-40B4-BE49-F238E27FC236}">
                <a16:creationId xmlns="" xmlns:a16="http://schemas.microsoft.com/office/drawing/2014/main" id="{4B918A42-3241-2413-7647-337091B085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6013" y="2420938"/>
            <a:ext cx="2663825" cy="1573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图片 104453" descr="170.wmf">
            <a:extLst>
              <a:ext uri="{FF2B5EF4-FFF2-40B4-BE49-F238E27FC236}">
                <a16:creationId xmlns="" xmlns:a16="http://schemas.microsoft.com/office/drawing/2014/main" id="{33C72595-38E4-65E8-B676-C8005C18EC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92725" y="2276475"/>
            <a:ext cx="2808288" cy="1646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文本框 104454">
            <a:extLst>
              <a:ext uri="{FF2B5EF4-FFF2-40B4-BE49-F238E27FC236}">
                <a16:creationId xmlns="" xmlns:a16="http://schemas.microsoft.com/office/drawing/2014/main" id="{422C4669-6A3B-F884-EF8D-7203C0E51860}"/>
              </a:ext>
            </a:extLst>
          </p:cNvPr>
          <p:cNvSpPr txBox="1">
            <a:spLocks noChangeArrowheads="1"/>
          </p:cNvSpPr>
          <p:nvPr/>
        </p:nvSpPr>
        <p:spPr bwMode="auto">
          <a:xfrm>
            <a:off x="1384300" y="4076700"/>
            <a:ext cx="219643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1pPr>
            <a:lvl2pPr marL="742950" indent="-28575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2pPr>
            <a:lvl3pPr marL="11430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3pPr>
            <a:lvl4pPr marL="16002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4pPr>
            <a:lvl5pPr marL="20574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800" dirty="0">
                <a:ea typeface="+mn-ea"/>
                <a:cs typeface="Times New Roman" panose="02020603050405020304" pitchFamily="18" charset="0"/>
              </a:rPr>
              <a:t>(a) </a:t>
            </a:r>
            <a:r>
              <a:rPr lang="zh-CN" altLang="en-US" sz="1800" dirty="0">
                <a:ea typeface="+mn-ea"/>
                <a:cs typeface="Times New Roman" panose="02020603050405020304" pitchFamily="18" charset="0"/>
              </a:rPr>
              <a:t>正极性鉴频曲线 </a:t>
            </a:r>
          </a:p>
        </p:txBody>
      </p:sp>
      <p:sp>
        <p:nvSpPr>
          <p:cNvPr id="12" name="文本框 104455">
            <a:extLst>
              <a:ext uri="{FF2B5EF4-FFF2-40B4-BE49-F238E27FC236}">
                <a16:creationId xmlns="" xmlns:a16="http://schemas.microsoft.com/office/drawing/2014/main" id="{9D611C49-696E-907D-9B7F-5AF24AFE0529}"/>
              </a:ext>
            </a:extLst>
          </p:cNvPr>
          <p:cNvSpPr txBox="1">
            <a:spLocks noChangeArrowheads="1"/>
          </p:cNvSpPr>
          <p:nvPr/>
        </p:nvSpPr>
        <p:spPr bwMode="auto">
          <a:xfrm>
            <a:off x="5461000" y="4076700"/>
            <a:ext cx="239681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1pPr>
            <a:lvl2pPr marL="742950" indent="-28575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2pPr>
            <a:lvl3pPr marL="11430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3pPr>
            <a:lvl4pPr marL="16002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4pPr>
            <a:lvl5pPr marL="20574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800" dirty="0">
                <a:ea typeface="+mn-ea"/>
                <a:cs typeface="Times New Roman" panose="02020603050405020304" pitchFamily="18" charset="0"/>
              </a:rPr>
              <a:t> (b) </a:t>
            </a:r>
            <a:r>
              <a:rPr lang="zh-CN" altLang="en-US" sz="1800" dirty="0">
                <a:ea typeface="+mn-ea"/>
                <a:cs typeface="Times New Roman" panose="02020603050405020304" pitchFamily="18" charset="0"/>
              </a:rPr>
              <a:t>负极性鉴频曲线</a:t>
            </a:r>
          </a:p>
        </p:txBody>
      </p:sp>
      <p:sp>
        <p:nvSpPr>
          <p:cNvPr id="13" name="文本框 104456">
            <a:extLst>
              <a:ext uri="{FF2B5EF4-FFF2-40B4-BE49-F238E27FC236}">
                <a16:creationId xmlns="" xmlns:a16="http://schemas.microsoft.com/office/drawing/2014/main" id="{8CCD3C9B-2A6F-08CF-FBA0-9EF52B30A1F7}"/>
              </a:ext>
            </a:extLst>
          </p:cNvPr>
          <p:cNvSpPr txBox="1">
            <a:spLocks noChangeArrowheads="1"/>
          </p:cNvSpPr>
          <p:nvPr/>
        </p:nvSpPr>
        <p:spPr bwMode="auto">
          <a:xfrm>
            <a:off x="3841750" y="4364038"/>
            <a:ext cx="89800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1pPr>
            <a:lvl2pPr marL="742950" indent="-28575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2pPr>
            <a:lvl3pPr marL="11430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3pPr>
            <a:lvl4pPr marL="16002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4pPr>
            <a:lvl5pPr marL="20574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800" dirty="0">
                <a:ea typeface="+mn-ea"/>
                <a:cs typeface="Times New Roman" panose="02020603050405020304" pitchFamily="18" charset="0"/>
              </a:rPr>
              <a:t>图</a:t>
            </a:r>
            <a:r>
              <a:rPr lang="en-US" altLang="zh-CN" sz="1800" dirty="0">
                <a:ea typeface="+mn-ea"/>
                <a:cs typeface="Times New Roman" panose="02020603050405020304" pitchFamily="18" charset="0"/>
              </a:rPr>
              <a:t>7-25 </a:t>
            </a:r>
          </a:p>
        </p:txBody>
      </p:sp>
      <p:sp>
        <p:nvSpPr>
          <p:cNvPr id="14" name="文本框 104457">
            <a:extLst>
              <a:ext uri="{FF2B5EF4-FFF2-40B4-BE49-F238E27FC236}">
                <a16:creationId xmlns="" xmlns:a16="http://schemas.microsoft.com/office/drawing/2014/main" id="{3BB492C4-D472-3C18-79BF-FB60C4BE6E17}"/>
              </a:ext>
            </a:extLst>
          </p:cNvPr>
          <p:cNvSpPr txBox="1">
            <a:spLocks noChangeArrowheads="1"/>
          </p:cNvSpPr>
          <p:nvPr/>
        </p:nvSpPr>
        <p:spPr bwMode="auto">
          <a:xfrm>
            <a:off x="564551" y="4987605"/>
            <a:ext cx="7679857"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1pPr>
            <a:lvl2pPr marL="742950" indent="-28575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2pPr>
            <a:lvl3pPr marL="11430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3pPr>
            <a:lvl4pPr marL="16002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4pPr>
            <a:lvl5pPr marL="20574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sz="2000" dirty="0">
                <a:ea typeface="+mn-ea"/>
                <a:cs typeface="Times New Roman" panose="02020603050405020304" pitchFamily="18" charset="0"/>
              </a:rPr>
              <a:t>图</a:t>
            </a:r>
            <a:r>
              <a:rPr lang="en-US" altLang="zh-CN" sz="2000" dirty="0">
                <a:ea typeface="+mn-ea"/>
                <a:cs typeface="Times New Roman" panose="02020603050405020304" pitchFamily="18" charset="0"/>
              </a:rPr>
              <a:t>(a)</a:t>
            </a:r>
            <a:r>
              <a:rPr lang="zh-CN" altLang="en-US" sz="2000" dirty="0">
                <a:ea typeface="+mn-ea"/>
                <a:cs typeface="Times New Roman" panose="02020603050405020304" pitchFamily="18" charset="0"/>
              </a:rPr>
              <a:t>为正极性鉴频曲线，鉴频跨导</a:t>
            </a:r>
            <a:r>
              <a:rPr lang="en-US" altLang="zh-CN" sz="2000" dirty="0">
                <a:ea typeface="+mn-ea"/>
                <a:cs typeface="Times New Roman" panose="02020603050405020304" pitchFamily="18" charset="0"/>
              </a:rPr>
              <a:t>S</a:t>
            </a:r>
            <a:r>
              <a:rPr lang="zh-CN" altLang="en-US" sz="2000" dirty="0">
                <a:ea typeface="+mn-ea"/>
                <a:cs typeface="Times New Roman" panose="02020603050405020304" pitchFamily="18" charset="0"/>
              </a:rPr>
              <a:t>＞</a:t>
            </a:r>
            <a:r>
              <a:rPr lang="en-US" altLang="zh-CN" sz="2000" dirty="0">
                <a:ea typeface="+mn-ea"/>
                <a:cs typeface="Times New Roman" panose="02020603050405020304" pitchFamily="18" charset="0"/>
              </a:rPr>
              <a:t>0</a:t>
            </a:r>
            <a:r>
              <a:rPr lang="zh-CN" altLang="en-US" sz="2000" dirty="0">
                <a:ea typeface="+mn-ea"/>
                <a:cs typeface="Times New Roman" panose="02020603050405020304" pitchFamily="18" charset="0"/>
              </a:rPr>
              <a:t>。若次级线圈的同名端相反，则为负极性鉴频，鉴频跨导</a:t>
            </a:r>
            <a:r>
              <a:rPr lang="en-US" altLang="zh-CN" sz="2000" dirty="0">
                <a:ea typeface="+mn-ea"/>
                <a:cs typeface="Times New Roman" panose="02020603050405020304" pitchFamily="18" charset="0"/>
              </a:rPr>
              <a:t>S</a:t>
            </a:r>
            <a:r>
              <a:rPr lang="zh-CN" altLang="en-US" sz="2000" dirty="0">
                <a:ea typeface="+mn-ea"/>
                <a:cs typeface="Times New Roman" panose="02020603050405020304" pitchFamily="18" charset="0"/>
              </a:rPr>
              <a:t>＜</a:t>
            </a:r>
            <a:r>
              <a:rPr lang="en-US" altLang="zh-CN" sz="2000" dirty="0">
                <a:ea typeface="+mn-ea"/>
                <a:cs typeface="Times New Roman" panose="02020603050405020304" pitchFamily="18" charset="0"/>
              </a:rPr>
              <a:t>0</a:t>
            </a:r>
            <a:r>
              <a:rPr lang="zh-CN" altLang="en-US" sz="2000" dirty="0">
                <a:ea typeface="+mn-ea"/>
                <a:cs typeface="Times New Roman" panose="02020603050405020304" pitchFamily="18" charset="0"/>
              </a:rPr>
              <a:t>，如图</a:t>
            </a:r>
            <a:r>
              <a:rPr lang="en-US" altLang="zh-CN" sz="2000" dirty="0">
                <a:ea typeface="+mn-ea"/>
                <a:cs typeface="Times New Roman" panose="02020603050405020304" pitchFamily="18" charset="0"/>
              </a:rPr>
              <a:t>(b)</a:t>
            </a:r>
            <a:r>
              <a:rPr lang="zh-CN" altLang="en-US" sz="2000" dirty="0">
                <a:ea typeface="+mn-ea"/>
                <a:cs typeface="Times New Roman" panose="02020603050405020304" pitchFamily="18" charset="0"/>
              </a:rPr>
              <a:t>所示。其矢量图可自行画出。</a:t>
            </a:r>
          </a:p>
        </p:txBody>
      </p:sp>
    </p:spTree>
    <p:extLst>
      <p:ext uri="{BB962C8B-B14F-4D97-AF65-F5344CB8AC3E}">
        <p14:creationId xmlns:p14="http://schemas.microsoft.com/office/powerpoint/2010/main" val="2478414726"/>
      </p:ext>
    </p:extLst>
  </p:cSld>
  <p:clrMapOvr>
    <a:masterClrMapping/>
  </p:clrMapOvr>
  <p:timing>
    <p:tnLst>
      <p:par>
        <p:cTn id="1" dur="indefinite" restart="never" nodeType="tmRoot"/>
      </p:par>
    </p:tnLst>
  </p:timing>
</p:sld>
</file>

<file path=ppt/slides/slide3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303</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11"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7.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角度调制</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与</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解调</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文本框 111617">
            <a:extLst>
              <a:ext uri="{FF2B5EF4-FFF2-40B4-BE49-F238E27FC236}">
                <a16:creationId xmlns="" xmlns:a16="http://schemas.microsoft.com/office/drawing/2014/main" id="{7E17A723-5E28-5872-CDD3-87D6F800D83E}"/>
              </a:ext>
            </a:extLst>
          </p:cNvPr>
          <p:cNvSpPr txBox="1">
            <a:spLocks noChangeArrowheads="1"/>
          </p:cNvSpPr>
          <p:nvPr/>
        </p:nvSpPr>
        <p:spPr bwMode="auto">
          <a:xfrm>
            <a:off x="516185" y="1278879"/>
            <a:ext cx="7704534"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1pPr>
            <a:lvl2pPr marL="742950" indent="-28575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2pPr>
            <a:lvl3pPr marL="11430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3pPr>
            <a:lvl4pPr marL="16002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4pPr>
            <a:lvl5pPr marL="20574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en-US" altLang="zh-CN" sz="2000" dirty="0">
                <a:ea typeface="+mn-ea"/>
                <a:cs typeface="Times New Roman" panose="02020603050405020304" pitchFamily="18" charset="0"/>
              </a:rPr>
              <a:t>    </a:t>
            </a:r>
            <a:r>
              <a:rPr lang="zh-CN" altLang="en-US" sz="2000" dirty="0">
                <a:ea typeface="+mn-ea"/>
                <a:cs typeface="Times New Roman" panose="02020603050405020304" pitchFamily="18" charset="0"/>
              </a:rPr>
              <a:t>分析表明，对于单音调频波</a:t>
            </a:r>
            <a:r>
              <a:rPr lang="en-US" altLang="zh-CN" sz="2000" dirty="0">
                <a:ea typeface="+mn-ea"/>
                <a:cs typeface="Times New Roman" panose="02020603050405020304" pitchFamily="18" charset="0"/>
              </a:rPr>
              <a:t>(</a:t>
            </a:r>
            <a:r>
              <a:rPr lang="zh-CN" altLang="en-US" sz="2000" dirty="0">
                <a:ea typeface="+mn-ea"/>
                <a:cs typeface="Times New Roman" panose="02020603050405020304" pitchFamily="18" charset="0"/>
              </a:rPr>
              <a:t>假定干扰也是单频信号</a:t>
            </a:r>
            <a:r>
              <a:rPr lang="en-US" altLang="zh-CN" sz="2000" dirty="0">
                <a:ea typeface="+mn-ea"/>
                <a:cs typeface="Times New Roman" panose="02020603050405020304" pitchFamily="18" charset="0"/>
              </a:rPr>
              <a:t>)</a:t>
            </a:r>
            <a:r>
              <a:rPr lang="zh-CN" altLang="en-US" sz="2000" dirty="0">
                <a:ea typeface="+mn-ea"/>
                <a:cs typeface="Times New Roman" panose="02020603050405020304" pitchFamily="18" charset="0"/>
              </a:rPr>
              <a:t>而言，解调的输出电压信噪比为</a:t>
            </a:r>
          </a:p>
        </p:txBody>
      </p:sp>
      <p:sp>
        <p:nvSpPr>
          <p:cNvPr id="6" name="文本框 111618">
            <a:extLst>
              <a:ext uri="{FF2B5EF4-FFF2-40B4-BE49-F238E27FC236}">
                <a16:creationId xmlns="" xmlns:a16="http://schemas.microsoft.com/office/drawing/2014/main" id="{32ADD10D-CAA7-5230-DF38-32D85E83D81B}"/>
              </a:ext>
            </a:extLst>
          </p:cNvPr>
          <p:cNvSpPr txBox="1">
            <a:spLocks noChangeArrowheads="1"/>
          </p:cNvSpPr>
          <p:nvPr/>
        </p:nvSpPr>
        <p:spPr bwMode="auto">
          <a:xfrm>
            <a:off x="1719386" y="2310002"/>
            <a:ext cx="15584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1pPr>
            <a:lvl2pPr marL="742950" indent="-28575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2pPr>
            <a:lvl3pPr marL="11430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3pPr>
            <a:lvl4pPr marL="16002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4pPr>
            <a:lvl5pPr marL="20574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a:ea typeface="+mn-ea"/>
                <a:cs typeface="Times New Roman" panose="02020603050405020304" pitchFamily="18" charset="0"/>
              </a:rPr>
              <a:t>(SNR)FM  </a:t>
            </a:r>
            <a:r>
              <a:rPr lang="en-US" altLang="zh-CN" sz="2000">
                <a:ea typeface="+mn-ea"/>
                <a:cs typeface="Times New Roman" panose="02020603050405020304" pitchFamily="18" charset="0"/>
                <a:sym typeface="Symbol" panose="05050102010706020507" pitchFamily="18" charset="2"/>
              </a:rPr>
              <a:t></a:t>
            </a:r>
            <a:r>
              <a:rPr lang="en-US" altLang="zh-CN" sz="2000">
                <a:ea typeface="+mn-ea"/>
                <a:cs typeface="Times New Roman" panose="02020603050405020304" pitchFamily="18" charset="0"/>
              </a:rPr>
              <a:t> </a:t>
            </a:r>
          </a:p>
        </p:txBody>
      </p:sp>
      <p:pic>
        <p:nvPicPr>
          <p:cNvPr id="7" name="图片 111619" descr="174.wmf">
            <a:extLst>
              <a:ext uri="{FF2B5EF4-FFF2-40B4-BE49-F238E27FC236}">
                <a16:creationId xmlns="" xmlns:a16="http://schemas.microsoft.com/office/drawing/2014/main" id="{5F7BB924-7BA6-988D-B144-15FA75B5CC2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24349" y="2294127"/>
            <a:ext cx="1873250" cy="649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文本框 111621">
            <a:extLst>
              <a:ext uri="{FF2B5EF4-FFF2-40B4-BE49-F238E27FC236}">
                <a16:creationId xmlns="" xmlns:a16="http://schemas.microsoft.com/office/drawing/2014/main" id="{F1A7302C-4820-3318-BD42-EC679D2E27BE}"/>
              </a:ext>
            </a:extLst>
          </p:cNvPr>
          <p:cNvSpPr txBox="1">
            <a:spLocks noChangeArrowheads="1"/>
          </p:cNvSpPr>
          <p:nvPr/>
        </p:nvSpPr>
        <p:spPr bwMode="auto">
          <a:xfrm>
            <a:off x="587747" y="3127666"/>
            <a:ext cx="7632972"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1pPr>
            <a:lvl2pPr marL="742950" indent="-28575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2pPr>
            <a:lvl3pPr marL="11430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3pPr>
            <a:lvl4pPr marL="16002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4pPr>
            <a:lvl5pPr marL="20574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120000"/>
              </a:lnSpc>
            </a:pPr>
            <a:r>
              <a:rPr lang="zh-CN" altLang="en-US" sz="2000" dirty="0">
                <a:ea typeface="+mn-ea"/>
                <a:cs typeface="Times New Roman" panose="02020603050405020304" pitchFamily="18" charset="0"/>
              </a:rPr>
              <a:t>式中，   为接收机输入端信噪比，</a:t>
            </a:r>
            <a:r>
              <a:rPr lang="en-US" altLang="zh-CN" sz="2000" dirty="0">
                <a:ea typeface="+mn-ea"/>
                <a:cs typeface="Times New Roman" panose="02020603050405020304" pitchFamily="18" charset="0"/>
              </a:rPr>
              <a:t>Vs</a:t>
            </a:r>
            <a:r>
              <a:rPr lang="zh-CN" altLang="en-US" sz="2000" dirty="0">
                <a:ea typeface="+mn-ea"/>
                <a:cs typeface="Times New Roman" panose="02020603050405020304" pitchFamily="18" charset="0"/>
              </a:rPr>
              <a:t>和</a:t>
            </a:r>
            <a:r>
              <a:rPr lang="en-US" altLang="zh-CN" sz="2000" dirty="0" err="1">
                <a:ea typeface="+mn-ea"/>
                <a:cs typeface="Times New Roman" panose="02020603050405020304" pitchFamily="18" charset="0"/>
              </a:rPr>
              <a:t>Vn</a:t>
            </a:r>
            <a:r>
              <a:rPr lang="zh-CN" altLang="en-US" sz="2000" dirty="0">
                <a:ea typeface="+mn-ea"/>
                <a:cs typeface="Times New Roman" panose="02020603050405020304" pitchFamily="18" charset="0"/>
              </a:rPr>
              <a:t>分别表示信号与干扰电压的幅值； </a:t>
            </a:r>
            <a:r>
              <a:rPr lang="en-US" altLang="zh-CN" sz="2000" dirty="0">
                <a:ea typeface="+mn-ea"/>
                <a:cs typeface="Times New Roman" panose="02020603050405020304" pitchFamily="18" charset="0"/>
                <a:sym typeface="Symbol" panose="05050102010706020507" pitchFamily="18" charset="2"/>
              </a:rPr>
              <a:t></a:t>
            </a:r>
            <a:r>
              <a:rPr lang="en-US" altLang="zh-CN" sz="2000" dirty="0">
                <a:ea typeface="+mn-ea"/>
                <a:cs typeface="Times New Roman" panose="02020603050405020304" pitchFamily="18" charset="0"/>
              </a:rPr>
              <a:t>f</a:t>
            </a:r>
            <a:r>
              <a:rPr lang="zh-CN" altLang="en-US" sz="2000" dirty="0">
                <a:ea typeface="+mn-ea"/>
                <a:cs typeface="Times New Roman" panose="02020603050405020304" pitchFamily="18" charset="0"/>
              </a:rPr>
              <a:t>为频偏；</a:t>
            </a:r>
            <a:r>
              <a:rPr lang="en-US" altLang="zh-CN" sz="2000" dirty="0">
                <a:ea typeface="+mn-ea"/>
                <a:cs typeface="Times New Roman" panose="02020603050405020304" pitchFamily="18" charset="0"/>
              </a:rPr>
              <a:t>F</a:t>
            </a:r>
            <a:r>
              <a:rPr lang="zh-CN" altLang="en-US" sz="2000" dirty="0">
                <a:ea typeface="+mn-ea"/>
                <a:cs typeface="Times New Roman" panose="02020603050405020304" pitchFamily="18" charset="0"/>
              </a:rPr>
              <a:t>为调制信号频率；</a:t>
            </a:r>
            <a:r>
              <a:rPr lang="en-US" altLang="zh-CN" sz="2000" dirty="0">
                <a:ea typeface="+mn-ea"/>
                <a:cs typeface="Times New Roman" panose="02020603050405020304" pitchFamily="18" charset="0"/>
              </a:rPr>
              <a:t>mf</a:t>
            </a:r>
            <a:r>
              <a:rPr lang="zh-CN" altLang="en-US" sz="2000" dirty="0">
                <a:ea typeface="+mn-ea"/>
                <a:cs typeface="Times New Roman" panose="02020603050405020304" pitchFamily="18" charset="0"/>
              </a:rPr>
              <a:t>为调频指数。一般宽带调频系数</a:t>
            </a:r>
            <a:r>
              <a:rPr lang="en-US" altLang="zh-CN" sz="2000" dirty="0">
                <a:ea typeface="+mn-ea"/>
                <a:cs typeface="Times New Roman" panose="02020603050405020304" pitchFamily="18" charset="0"/>
              </a:rPr>
              <a:t>mf</a:t>
            </a:r>
            <a:r>
              <a:rPr lang="zh-CN" altLang="en-US" sz="2000" dirty="0">
                <a:ea typeface="+mn-ea"/>
                <a:cs typeface="Times New Roman" panose="02020603050405020304" pitchFamily="18" charset="0"/>
              </a:rPr>
              <a:t>总是大于</a:t>
            </a:r>
            <a:r>
              <a:rPr lang="en-US" altLang="zh-CN" sz="2000" dirty="0">
                <a:ea typeface="+mn-ea"/>
                <a:cs typeface="Times New Roman" panose="02020603050405020304" pitchFamily="18" charset="0"/>
              </a:rPr>
              <a:t>1</a:t>
            </a:r>
            <a:r>
              <a:rPr lang="zh-CN" altLang="en-US" sz="2000" dirty="0">
                <a:ea typeface="+mn-ea"/>
                <a:cs typeface="Times New Roman" panose="02020603050405020304" pitchFamily="18" charset="0"/>
              </a:rPr>
              <a:t>的，因而调频接收机信噪比与输入端相比是有所提高的。</a:t>
            </a:r>
          </a:p>
        </p:txBody>
      </p:sp>
      <p:pic>
        <p:nvPicPr>
          <p:cNvPr id="10" name="图片 111622" descr="175.wmf">
            <a:extLst>
              <a:ext uri="{FF2B5EF4-FFF2-40B4-BE49-F238E27FC236}">
                <a16:creationId xmlns="" xmlns:a16="http://schemas.microsoft.com/office/drawing/2014/main" id="{283F92CF-0065-6F7F-7C89-5CC58A12FC6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79959" y="2821860"/>
            <a:ext cx="425450" cy="71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文本框 112641">
            <a:extLst>
              <a:ext uri="{FF2B5EF4-FFF2-40B4-BE49-F238E27FC236}">
                <a16:creationId xmlns="" xmlns:a16="http://schemas.microsoft.com/office/drawing/2014/main" id="{908373D6-EC1A-C278-37CB-87028AE3F53C}"/>
              </a:ext>
            </a:extLst>
          </p:cNvPr>
          <p:cNvSpPr txBox="1">
            <a:spLocks noChangeArrowheads="1"/>
          </p:cNvSpPr>
          <p:nvPr/>
        </p:nvSpPr>
        <p:spPr bwMode="auto">
          <a:xfrm>
            <a:off x="516185" y="4635603"/>
            <a:ext cx="547617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1pPr>
            <a:lvl2pPr marL="742950" indent="-28575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2pPr>
            <a:lvl3pPr marL="11430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3pPr>
            <a:lvl4pPr marL="16002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4pPr>
            <a:lvl5pPr marL="20574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dirty="0">
                <a:ea typeface="+mn-ea"/>
                <a:cs typeface="Times New Roman" panose="02020603050405020304" pitchFamily="18" charset="0"/>
              </a:rPr>
              <a:t> </a:t>
            </a:r>
            <a:r>
              <a:rPr lang="zh-CN" altLang="en-US" sz="2000" dirty="0">
                <a:ea typeface="+mn-ea"/>
                <a:cs typeface="Times New Roman" panose="02020603050405020304" pitchFamily="18" charset="0"/>
              </a:rPr>
              <a:t>对于调幅接收机而言，检波输出电压信噪比为</a:t>
            </a:r>
          </a:p>
        </p:txBody>
      </p:sp>
      <p:sp>
        <p:nvSpPr>
          <p:cNvPr id="13" name="文本框 112642">
            <a:extLst>
              <a:ext uri="{FF2B5EF4-FFF2-40B4-BE49-F238E27FC236}">
                <a16:creationId xmlns="" xmlns:a16="http://schemas.microsoft.com/office/drawing/2014/main" id="{423F5D10-6053-735E-720A-630C62782231}"/>
              </a:ext>
            </a:extLst>
          </p:cNvPr>
          <p:cNvSpPr txBox="1">
            <a:spLocks noChangeArrowheads="1"/>
          </p:cNvSpPr>
          <p:nvPr/>
        </p:nvSpPr>
        <p:spPr bwMode="auto">
          <a:xfrm>
            <a:off x="1860487" y="5261515"/>
            <a:ext cx="146386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1pPr>
            <a:lvl2pPr marL="742950" indent="-28575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2pPr>
            <a:lvl3pPr marL="11430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3pPr>
            <a:lvl4pPr marL="16002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4pPr>
            <a:lvl5pPr marL="20574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dirty="0">
                <a:ea typeface="+mn-ea"/>
                <a:cs typeface="Times New Roman" panose="02020603050405020304" pitchFamily="18" charset="0"/>
              </a:rPr>
              <a:t> (SNR)</a:t>
            </a:r>
            <a:r>
              <a:rPr lang="en-US" altLang="zh-CN" sz="2000" baseline="-25000" dirty="0">
                <a:ea typeface="+mn-ea"/>
                <a:cs typeface="Times New Roman" panose="02020603050405020304" pitchFamily="18" charset="0"/>
              </a:rPr>
              <a:t>AM</a:t>
            </a:r>
            <a:r>
              <a:rPr lang="en-US" altLang="zh-CN" sz="2000" dirty="0">
                <a:ea typeface="+mn-ea"/>
                <a:cs typeface="Times New Roman" panose="02020603050405020304" pitchFamily="18" charset="0"/>
              </a:rPr>
              <a:t> </a:t>
            </a:r>
            <a:r>
              <a:rPr lang="en-US" altLang="zh-CN" sz="2000" dirty="0">
                <a:ea typeface="+mn-ea"/>
                <a:cs typeface="Times New Roman" panose="02020603050405020304" pitchFamily="18" charset="0"/>
                <a:sym typeface="Symbol" panose="05050102010706020507" pitchFamily="18" charset="2"/>
              </a:rPr>
              <a:t></a:t>
            </a:r>
            <a:r>
              <a:rPr lang="en-US" altLang="zh-CN" sz="2000" dirty="0">
                <a:ea typeface="+mn-ea"/>
                <a:cs typeface="Times New Roman" panose="02020603050405020304" pitchFamily="18" charset="0"/>
              </a:rPr>
              <a:t> </a:t>
            </a:r>
          </a:p>
        </p:txBody>
      </p:sp>
      <p:pic>
        <p:nvPicPr>
          <p:cNvPr id="15" name="图片 112644" descr="176.wmf">
            <a:extLst>
              <a:ext uri="{FF2B5EF4-FFF2-40B4-BE49-F238E27FC236}">
                <a16:creationId xmlns="" xmlns:a16="http://schemas.microsoft.com/office/drawing/2014/main" id="{C08DCA6C-420E-06D8-E701-ADFBEC346F71}"/>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201640" y="5028193"/>
            <a:ext cx="1079500" cy="754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文本框 112646">
            <a:extLst>
              <a:ext uri="{FF2B5EF4-FFF2-40B4-BE49-F238E27FC236}">
                <a16:creationId xmlns="" xmlns:a16="http://schemas.microsoft.com/office/drawing/2014/main" id="{FCEAE8AC-F0A8-99FA-E824-2C3AE6782641}"/>
              </a:ext>
            </a:extLst>
          </p:cNvPr>
          <p:cNvSpPr txBox="1">
            <a:spLocks noChangeArrowheads="1"/>
          </p:cNvSpPr>
          <p:nvPr/>
        </p:nvSpPr>
        <p:spPr bwMode="auto">
          <a:xfrm>
            <a:off x="660573" y="5805338"/>
            <a:ext cx="80137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1pPr>
            <a:lvl2pPr marL="742950" indent="-28575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2pPr>
            <a:lvl3pPr marL="11430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3pPr>
            <a:lvl4pPr marL="16002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4pPr>
            <a:lvl5pPr marL="20574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sz="2000" dirty="0">
                <a:ea typeface="+mn-ea"/>
                <a:cs typeface="Times New Roman" panose="02020603050405020304" pitchFamily="18" charset="0"/>
              </a:rPr>
              <a:t>当</a:t>
            </a:r>
            <a:r>
              <a:rPr lang="en-US" altLang="zh-CN" sz="2000" dirty="0">
                <a:ea typeface="+mn-ea"/>
                <a:cs typeface="Times New Roman" panose="02020603050405020304" pitchFamily="18" charset="0"/>
              </a:rPr>
              <a:t>m</a:t>
            </a:r>
            <a:r>
              <a:rPr lang="en-US" altLang="zh-CN" sz="2000" baseline="-25000" dirty="0">
                <a:ea typeface="+mn-ea"/>
                <a:cs typeface="Times New Roman" panose="02020603050405020304" pitchFamily="18" charset="0"/>
              </a:rPr>
              <a:t>a</a:t>
            </a:r>
            <a:r>
              <a:rPr lang="en-US" altLang="zh-CN" sz="2000" dirty="0">
                <a:ea typeface="+mn-ea"/>
                <a:cs typeface="Times New Roman" panose="02020603050405020304" pitchFamily="18" charset="0"/>
              </a:rPr>
              <a:t>=1</a:t>
            </a:r>
            <a:r>
              <a:rPr lang="zh-CN" altLang="en-US" sz="2000" dirty="0">
                <a:ea typeface="+mn-ea"/>
                <a:cs typeface="Times New Roman" panose="02020603050405020304" pitchFamily="18" charset="0"/>
              </a:rPr>
              <a:t>时，输出端信噪比与输入信噪比相等，这是调幅接收最好的情况。而通过</a:t>
            </a:r>
            <a:r>
              <a:rPr lang="en-US" altLang="zh-CN" sz="2000" dirty="0">
                <a:ea typeface="+mn-ea"/>
                <a:cs typeface="Times New Roman" panose="02020603050405020304" pitchFamily="18" charset="0"/>
              </a:rPr>
              <a:t>m</a:t>
            </a:r>
            <a:r>
              <a:rPr lang="en-US" altLang="zh-CN" sz="2000" baseline="-25000" dirty="0">
                <a:ea typeface="+mn-ea"/>
                <a:cs typeface="Times New Roman" panose="02020603050405020304" pitchFamily="18" charset="0"/>
              </a:rPr>
              <a:t>a</a:t>
            </a:r>
            <a:r>
              <a:rPr lang="en-US" altLang="zh-CN" sz="2000" dirty="0">
                <a:ea typeface="+mn-ea"/>
                <a:cs typeface="Times New Roman" panose="02020603050405020304" pitchFamily="18" charset="0"/>
              </a:rPr>
              <a:t>&lt;1</a:t>
            </a:r>
            <a:r>
              <a:rPr lang="zh-CN" altLang="en-US" sz="2000" dirty="0">
                <a:ea typeface="+mn-ea"/>
                <a:cs typeface="Times New Roman" panose="02020603050405020304" pitchFamily="18" charset="0"/>
              </a:rPr>
              <a:t>，则结果要差些。</a:t>
            </a:r>
          </a:p>
        </p:txBody>
      </p:sp>
    </p:spTree>
    <p:extLst>
      <p:ext uri="{BB962C8B-B14F-4D97-AF65-F5344CB8AC3E}">
        <p14:creationId xmlns:p14="http://schemas.microsoft.com/office/powerpoint/2010/main" val="2034841556"/>
      </p:ext>
    </p:extLst>
  </p:cSld>
  <p:clrMapOvr>
    <a:masterClrMapping/>
  </p:clrMapOvr>
  <p:timing>
    <p:tnLst>
      <p:par>
        <p:cTn id="1" dur="indefinite" restart="never" nodeType="tmRoot"/>
      </p:par>
    </p:tnLst>
  </p:timing>
</p:sld>
</file>

<file path=ppt/slides/slide3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304</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11"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7.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角度调制</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与</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解调</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0" name="文本占位符 116737">
            <a:extLst>
              <a:ext uri="{FF2B5EF4-FFF2-40B4-BE49-F238E27FC236}">
                <a16:creationId xmlns="" xmlns:a16="http://schemas.microsoft.com/office/drawing/2014/main" id="{53C2453F-D68A-FAC1-E158-A353FA96A499}"/>
              </a:ext>
            </a:extLst>
          </p:cNvPr>
          <p:cNvSpPr txBox="1">
            <a:spLocks noChangeArrowheads="1"/>
          </p:cNvSpPr>
          <p:nvPr/>
        </p:nvSpPr>
        <p:spPr>
          <a:xfrm>
            <a:off x="149983" y="2420888"/>
            <a:ext cx="4826000" cy="5113338"/>
          </a:xfrm>
          <a:prstGeom prst="rect">
            <a:avLst/>
          </a:prstGeom>
        </p:spPr>
        <p:txBody>
          <a:bodyPr/>
          <a:lstStyle>
            <a:lvl1pPr marL="342900" indent="-342900" algn="l" rtl="0" eaLnBrk="0" fontAlgn="base" hangingPunct="0">
              <a:spcBef>
                <a:spcPct val="20000"/>
              </a:spcBef>
              <a:spcAft>
                <a:spcPct val="0"/>
              </a:spcAft>
              <a:buChar char="•"/>
              <a:defRPr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algn="just" eaLnBrk="1" hangingPunct="1">
              <a:lnSpc>
                <a:spcPct val="120000"/>
              </a:lnSpc>
              <a:buFont typeface="Times New Roman" panose="02020603050405020304" pitchFamily="18" charset="0"/>
              <a:buNone/>
            </a:pPr>
            <a:r>
              <a:rPr lang="en-US" altLang="zh-CN" sz="2000" kern="0" dirty="0">
                <a:latin typeface="Times New Roman" panose="02020603050405020304" pitchFamily="18" charset="0"/>
                <a:cs typeface="Times New Roman" panose="02020603050405020304" pitchFamily="18" charset="0"/>
              </a:rPr>
              <a:t>      </a:t>
            </a:r>
            <a:r>
              <a:rPr lang="zh-CN" altLang="en-US" sz="2000" kern="0" dirty="0">
                <a:latin typeface="Times New Roman" panose="02020603050405020304" pitchFamily="18" charset="0"/>
                <a:cs typeface="Times New Roman" panose="02020603050405020304" pitchFamily="18" charset="0"/>
              </a:rPr>
              <a:t>从上式还可以看出，调频接收机中鉴频器输出端的噪声随调制信号频率的增加而增大，即鉴频器输出端噪声电压频谱呈三角形</a:t>
            </a:r>
            <a:r>
              <a:rPr lang="en-US" altLang="zh-CN" sz="2000" kern="0" dirty="0">
                <a:latin typeface="Times New Roman" panose="02020603050405020304" pitchFamily="18" charset="0"/>
                <a:cs typeface="Times New Roman" panose="02020603050405020304" pitchFamily="18" charset="0"/>
              </a:rPr>
              <a:t>(</a:t>
            </a:r>
            <a:r>
              <a:rPr lang="zh-CN" altLang="en-US" sz="2000" kern="0" dirty="0">
                <a:latin typeface="Times New Roman" panose="02020603050405020304" pitchFamily="18" charset="0"/>
                <a:cs typeface="Times New Roman" panose="02020603050405020304" pitchFamily="18" charset="0"/>
              </a:rPr>
              <a:t>其噪声功率谱呈抛物线形</a:t>
            </a:r>
            <a:r>
              <a:rPr lang="en-US" altLang="zh-CN" sz="2000" kern="0" dirty="0">
                <a:latin typeface="Times New Roman" panose="02020603050405020304" pitchFamily="18" charset="0"/>
                <a:cs typeface="Times New Roman" panose="02020603050405020304" pitchFamily="18" charset="0"/>
              </a:rPr>
              <a:t>)</a:t>
            </a:r>
            <a:r>
              <a:rPr lang="zh-CN" altLang="en-US" sz="2000" kern="0" dirty="0">
                <a:latin typeface="Times New Roman" panose="02020603050405020304" pitchFamily="18" charset="0"/>
                <a:cs typeface="Times New Roman" panose="02020603050405020304" pitchFamily="18" charset="0"/>
              </a:rPr>
              <a:t>，如图</a:t>
            </a:r>
            <a:r>
              <a:rPr lang="en-US" altLang="zh-CN" sz="2000" kern="0" dirty="0">
                <a:latin typeface="Times New Roman" panose="02020603050405020304" pitchFamily="18" charset="0"/>
                <a:cs typeface="Times New Roman" panose="02020603050405020304" pitchFamily="18" charset="0"/>
              </a:rPr>
              <a:t>7-27</a:t>
            </a:r>
            <a:r>
              <a:rPr lang="zh-CN" altLang="en-US" sz="2000" kern="0" dirty="0">
                <a:latin typeface="Times New Roman" panose="02020603050405020304" pitchFamily="18" charset="0"/>
                <a:cs typeface="Times New Roman" panose="02020603050405020304" pitchFamily="18" charset="0"/>
              </a:rPr>
              <a:t>所示。而各种消息信号</a:t>
            </a:r>
            <a:r>
              <a:rPr lang="en-US" altLang="zh-CN" sz="2000" kern="0" dirty="0">
                <a:latin typeface="Times New Roman" panose="02020603050405020304" pitchFamily="18" charset="0"/>
                <a:cs typeface="Times New Roman" panose="02020603050405020304" pitchFamily="18" charset="0"/>
              </a:rPr>
              <a:t>(</a:t>
            </a:r>
            <a:r>
              <a:rPr lang="zh-CN" altLang="en-US" sz="2000" kern="0" dirty="0">
                <a:latin typeface="Times New Roman" panose="02020603050405020304" pitchFamily="18" charset="0"/>
                <a:cs typeface="Times New Roman" panose="02020603050405020304" pitchFamily="18" charset="0"/>
              </a:rPr>
              <a:t>如话音、音乐等</a:t>
            </a:r>
            <a:r>
              <a:rPr lang="en-US" altLang="zh-CN" sz="2000" kern="0" dirty="0">
                <a:latin typeface="Times New Roman" panose="02020603050405020304" pitchFamily="18" charset="0"/>
                <a:cs typeface="Times New Roman" panose="02020603050405020304" pitchFamily="18" charset="0"/>
              </a:rPr>
              <a:t>)</a:t>
            </a:r>
            <a:r>
              <a:rPr lang="zh-CN" altLang="en-US" sz="2000" kern="0" dirty="0">
                <a:latin typeface="Times New Roman" panose="02020603050405020304" pitchFamily="18" charset="0"/>
                <a:cs typeface="Times New Roman" panose="02020603050405020304" pitchFamily="18" charset="0"/>
              </a:rPr>
              <a:t>，它们的能量都集中在低频端，因此在调制信号的高频端输出信噪比将明显下降，这对调频信号的接收是很不利的。 </a:t>
            </a:r>
          </a:p>
        </p:txBody>
      </p:sp>
      <p:pic>
        <p:nvPicPr>
          <p:cNvPr id="13" name="图片 116739" descr="177.wmf">
            <a:extLst>
              <a:ext uri="{FF2B5EF4-FFF2-40B4-BE49-F238E27FC236}">
                <a16:creationId xmlns="" xmlns:a16="http://schemas.microsoft.com/office/drawing/2014/main" id="{DA4E7608-8ECC-08B3-083A-31D1AB858B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54401" y="1681362"/>
            <a:ext cx="3743325" cy="3313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文本框 116740">
            <a:extLst>
              <a:ext uri="{FF2B5EF4-FFF2-40B4-BE49-F238E27FC236}">
                <a16:creationId xmlns="" xmlns:a16="http://schemas.microsoft.com/office/drawing/2014/main" id="{D6DF5B57-2189-AD78-7D90-1D8A459667C6}"/>
              </a:ext>
            </a:extLst>
          </p:cNvPr>
          <p:cNvSpPr txBox="1">
            <a:spLocks noChangeArrowheads="1"/>
          </p:cNvSpPr>
          <p:nvPr/>
        </p:nvSpPr>
        <p:spPr bwMode="auto">
          <a:xfrm>
            <a:off x="5486591" y="5364967"/>
            <a:ext cx="303159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1pPr>
            <a:lvl2pPr marL="742950" indent="-28575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2pPr>
            <a:lvl3pPr marL="11430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3pPr>
            <a:lvl4pPr marL="16002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4pPr>
            <a:lvl5pPr marL="20574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800">
                <a:ea typeface="+mn-ea"/>
                <a:cs typeface="Times New Roman" panose="02020603050405020304" pitchFamily="18" charset="0"/>
              </a:rPr>
              <a:t>图</a:t>
            </a:r>
            <a:r>
              <a:rPr lang="en-US" altLang="zh-CN" sz="1800">
                <a:ea typeface="+mn-ea"/>
                <a:cs typeface="Times New Roman" panose="02020603050405020304" pitchFamily="18" charset="0"/>
              </a:rPr>
              <a:t>7-27  </a:t>
            </a:r>
            <a:r>
              <a:rPr lang="zh-CN" altLang="en-US" sz="1800">
                <a:ea typeface="+mn-ea"/>
                <a:cs typeface="Times New Roman" panose="02020603050405020304" pitchFamily="18" charset="0"/>
              </a:rPr>
              <a:t>鉴频器输出噪声频谱</a:t>
            </a:r>
          </a:p>
        </p:txBody>
      </p:sp>
      <p:sp>
        <p:nvSpPr>
          <p:cNvPr id="15" name="文本框 116741">
            <a:extLst>
              <a:ext uri="{FF2B5EF4-FFF2-40B4-BE49-F238E27FC236}">
                <a16:creationId xmlns="" xmlns:a16="http://schemas.microsoft.com/office/drawing/2014/main" id="{6B2906C7-99CD-2D13-1755-403EE1D34089}"/>
              </a:ext>
            </a:extLst>
          </p:cNvPr>
          <p:cNvSpPr txBox="1">
            <a:spLocks noChangeArrowheads="1"/>
          </p:cNvSpPr>
          <p:nvPr/>
        </p:nvSpPr>
        <p:spPr bwMode="auto">
          <a:xfrm>
            <a:off x="952500" y="1595437"/>
            <a:ext cx="16224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1pPr>
            <a:lvl2pPr marL="742950" indent="-28575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2pPr>
            <a:lvl3pPr marL="11430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3pPr>
            <a:lvl4pPr marL="16002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4pPr>
            <a:lvl5pPr marL="20574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dirty="0">
                <a:cs typeface="Times New Roman" panose="02020603050405020304" pitchFamily="18" charset="0"/>
              </a:rPr>
              <a:t>(SNR)</a:t>
            </a:r>
            <a:r>
              <a:rPr lang="en-US" altLang="zh-CN" sz="1600" dirty="0">
                <a:cs typeface="Times New Roman" panose="02020603050405020304" pitchFamily="18" charset="0"/>
              </a:rPr>
              <a:t>FM  </a:t>
            </a:r>
            <a:r>
              <a:rPr lang="en-US" altLang="zh-CN" dirty="0">
                <a:cs typeface="Times New Roman" panose="02020603050405020304" pitchFamily="18" charset="0"/>
                <a:sym typeface="Symbol" panose="05050102010706020507" pitchFamily="18" charset="2"/>
              </a:rPr>
              <a:t></a:t>
            </a:r>
            <a:r>
              <a:rPr lang="en-US" altLang="zh-CN" dirty="0">
                <a:cs typeface="Times New Roman" panose="02020603050405020304" pitchFamily="18" charset="0"/>
              </a:rPr>
              <a:t> </a:t>
            </a:r>
          </a:p>
        </p:txBody>
      </p:sp>
      <p:pic>
        <p:nvPicPr>
          <p:cNvPr id="16" name="图片 116742" descr="178.wmf">
            <a:extLst>
              <a:ext uri="{FF2B5EF4-FFF2-40B4-BE49-F238E27FC236}">
                <a16:creationId xmlns="" xmlns:a16="http://schemas.microsoft.com/office/drawing/2014/main" id="{5D320985-532E-9204-4693-6925ABABA06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57463" y="1579562"/>
            <a:ext cx="1873250" cy="649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15510488"/>
      </p:ext>
    </p:extLst>
  </p:cSld>
  <p:clrMapOvr>
    <a:masterClrMapping/>
  </p:clrMapOvr>
  <p:timing>
    <p:tnLst>
      <p:par>
        <p:cTn id="1" dur="indefinite" restart="never" nodeType="tmRoot"/>
      </p:par>
    </p:tnLst>
  </p:timing>
</p:sld>
</file>

<file path=ppt/slides/slide3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305</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11"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7.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角度调制</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与</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解调</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文本框 118785">
            <a:extLst>
              <a:ext uri="{FF2B5EF4-FFF2-40B4-BE49-F238E27FC236}">
                <a16:creationId xmlns="" xmlns:a16="http://schemas.microsoft.com/office/drawing/2014/main" id="{1AD5F516-9E5A-444E-BEDE-3AA3B744BD85}"/>
              </a:ext>
            </a:extLst>
          </p:cNvPr>
          <p:cNvSpPr txBox="1">
            <a:spLocks noChangeArrowheads="1"/>
          </p:cNvSpPr>
          <p:nvPr/>
        </p:nvSpPr>
        <p:spPr bwMode="auto">
          <a:xfrm>
            <a:off x="380305" y="1378457"/>
            <a:ext cx="173156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1pPr>
            <a:lvl2pPr marL="742950" indent="-28575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2pPr>
            <a:lvl3pPr marL="11430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3pPr>
            <a:lvl4pPr marL="16002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4pPr>
            <a:lvl5pPr marL="20574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dirty="0">
                <a:ea typeface="+mn-ea"/>
                <a:cs typeface="Times New Roman" panose="02020603050405020304" pitchFamily="18" charset="0"/>
              </a:rPr>
              <a:t>1. </a:t>
            </a:r>
            <a:r>
              <a:rPr lang="zh-CN" altLang="en-US" sz="2000" dirty="0">
                <a:ea typeface="+mn-ea"/>
                <a:cs typeface="Times New Roman" panose="02020603050405020304" pitchFamily="18" charset="0"/>
              </a:rPr>
              <a:t>预加重网络</a:t>
            </a:r>
          </a:p>
        </p:txBody>
      </p:sp>
      <p:sp>
        <p:nvSpPr>
          <p:cNvPr id="6" name="文本框 118786">
            <a:extLst>
              <a:ext uri="{FF2B5EF4-FFF2-40B4-BE49-F238E27FC236}">
                <a16:creationId xmlns="" xmlns:a16="http://schemas.microsoft.com/office/drawing/2014/main" id="{8F62F131-1F87-5CEC-BF87-1A9B72E4F6F7}"/>
              </a:ext>
            </a:extLst>
          </p:cNvPr>
          <p:cNvSpPr txBox="1">
            <a:spLocks noChangeArrowheads="1"/>
          </p:cNvSpPr>
          <p:nvPr/>
        </p:nvSpPr>
        <p:spPr bwMode="auto">
          <a:xfrm>
            <a:off x="261463" y="1720353"/>
            <a:ext cx="8748712" cy="15383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1pPr>
            <a:lvl2pPr marL="742950" indent="-28575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2pPr>
            <a:lvl3pPr marL="11430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3pPr>
            <a:lvl4pPr marL="16002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4pPr>
            <a:lvl5pPr marL="20574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en-US" altLang="zh-CN" sz="2000" dirty="0">
                <a:ea typeface="+mn-ea"/>
                <a:cs typeface="Times New Roman" panose="02020603050405020304" pitchFamily="18" charset="0"/>
              </a:rPr>
              <a:t>    </a:t>
            </a:r>
            <a:r>
              <a:rPr lang="zh-CN" altLang="en-US" sz="2000" dirty="0">
                <a:ea typeface="+mn-ea"/>
                <a:cs typeface="Times New Roman" panose="02020603050405020304" pitchFamily="18" charset="0"/>
              </a:rPr>
              <a:t>调频噪声频谱呈三角形，即与调制信号频率</a:t>
            </a:r>
            <a:r>
              <a:rPr lang="en-US" altLang="zh-CN" sz="2000" dirty="0">
                <a:ea typeface="+mn-ea"/>
                <a:cs typeface="Times New Roman" panose="02020603050405020304" pitchFamily="18" charset="0"/>
              </a:rPr>
              <a:t>F</a:t>
            </a:r>
            <a:r>
              <a:rPr lang="zh-CN" altLang="en-US" sz="2000" dirty="0">
                <a:ea typeface="+mn-ea"/>
                <a:cs typeface="Times New Roman" panose="02020603050405020304" pitchFamily="18" charset="0"/>
              </a:rPr>
              <a:t>成正比。与此相对应，可将信号电压做类似处理，</a:t>
            </a:r>
            <a:r>
              <a:rPr lang="zh-CN" altLang="en-US" sz="2000" dirty="0">
                <a:solidFill>
                  <a:srgbClr val="FF0000"/>
                </a:solidFill>
                <a:ea typeface="+mn-ea"/>
                <a:cs typeface="Times New Roman" panose="02020603050405020304" pitchFamily="18" charset="0"/>
              </a:rPr>
              <a:t>要求预加重网络的传输函数应</a:t>
            </a:r>
            <a:r>
              <a:rPr lang="zh-CN" altLang="en-US" sz="2000" dirty="0" smtClean="0">
                <a:solidFill>
                  <a:srgbClr val="FF0000"/>
                </a:solidFill>
                <a:ea typeface="+mn-ea"/>
                <a:cs typeface="Times New Roman" panose="02020603050405020304" pitchFamily="18" charset="0"/>
              </a:rPr>
              <a:t>满足                </a:t>
            </a:r>
            <a:r>
              <a:rPr lang="en-US" altLang="zh-CN" sz="2000" dirty="0">
                <a:solidFill>
                  <a:srgbClr val="FF0000"/>
                </a:solidFill>
                <a:ea typeface="+mn-ea"/>
                <a:cs typeface="Times New Roman" panose="02020603050405020304" pitchFamily="18" charset="0"/>
              </a:rPr>
              <a:t>∝2</a:t>
            </a:r>
            <a:r>
              <a:rPr lang="en-US" altLang="zh-CN" sz="2000" dirty="0">
                <a:solidFill>
                  <a:srgbClr val="FF0000"/>
                </a:solidFill>
                <a:ea typeface="+mn-ea"/>
                <a:cs typeface="Times New Roman" panose="02020603050405020304" pitchFamily="18" charset="0"/>
                <a:sym typeface="Symbol" panose="05050102010706020507" pitchFamily="18" charset="2"/>
              </a:rPr>
              <a:t></a:t>
            </a:r>
            <a:r>
              <a:rPr lang="en-US" altLang="zh-CN" sz="2000" dirty="0">
                <a:solidFill>
                  <a:srgbClr val="FF0000"/>
                </a:solidFill>
                <a:ea typeface="+mn-ea"/>
                <a:cs typeface="Times New Roman" panose="02020603050405020304" pitchFamily="18" charset="0"/>
              </a:rPr>
              <a:t>F</a:t>
            </a:r>
            <a:r>
              <a:rPr lang="zh-CN" altLang="en-US" sz="2000" dirty="0">
                <a:ea typeface="+mn-ea"/>
                <a:cs typeface="Times New Roman" panose="02020603050405020304" pitchFamily="18" charset="0"/>
              </a:rPr>
              <a:t>，这对应于一个微分电路。但考虑到对信号的低端不应加重，一般采用的预加重网络及其传输特性分别如图</a:t>
            </a:r>
            <a:r>
              <a:rPr lang="en-US" altLang="zh-CN" sz="2000" dirty="0">
                <a:ea typeface="+mn-ea"/>
                <a:cs typeface="Times New Roman" panose="02020603050405020304" pitchFamily="18" charset="0"/>
              </a:rPr>
              <a:t>7-28(a)</a:t>
            </a:r>
            <a:r>
              <a:rPr lang="zh-CN" altLang="en-US" sz="2000" dirty="0">
                <a:ea typeface="+mn-ea"/>
                <a:cs typeface="Times New Roman" panose="02020603050405020304" pitchFamily="18" charset="0"/>
              </a:rPr>
              <a:t>、</a:t>
            </a:r>
            <a:r>
              <a:rPr lang="en-US" altLang="zh-CN" sz="2000" dirty="0">
                <a:ea typeface="+mn-ea"/>
                <a:cs typeface="Times New Roman" panose="02020603050405020304" pitchFamily="18" charset="0"/>
              </a:rPr>
              <a:t>(b)</a:t>
            </a:r>
            <a:r>
              <a:rPr lang="zh-CN" altLang="en-US" sz="2000" dirty="0">
                <a:ea typeface="+mn-ea"/>
                <a:cs typeface="Times New Roman" panose="02020603050405020304" pitchFamily="18" charset="0"/>
              </a:rPr>
              <a:t>所示</a:t>
            </a:r>
            <a:r>
              <a:rPr lang="en-US" altLang="zh-CN" sz="2000" dirty="0">
                <a:ea typeface="+mn-ea"/>
                <a:cs typeface="Times New Roman" panose="02020603050405020304" pitchFamily="18" charset="0"/>
              </a:rPr>
              <a:t>.</a:t>
            </a:r>
          </a:p>
        </p:txBody>
      </p:sp>
      <p:pic>
        <p:nvPicPr>
          <p:cNvPr id="8" name="图片 118788" descr="179.wmf">
            <a:extLst>
              <a:ext uri="{FF2B5EF4-FFF2-40B4-BE49-F238E27FC236}">
                <a16:creationId xmlns="" xmlns:a16="http://schemas.microsoft.com/office/drawing/2014/main" id="{81461282-BA19-648E-8988-22BB5235AA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92150" y="3258723"/>
            <a:ext cx="4878200" cy="21085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图片 118790" descr="180.wmf">
            <a:extLst>
              <a:ext uri="{FF2B5EF4-FFF2-40B4-BE49-F238E27FC236}">
                <a16:creationId xmlns="" xmlns:a16="http://schemas.microsoft.com/office/drawing/2014/main" id="{A199B273-8D03-9BE2-DD81-EDB8C575AE5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69666" y="2078996"/>
            <a:ext cx="1009650"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文本框 118791">
            <a:extLst>
              <a:ext uri="{FF2B5EF4-FFF2-40B4-BE49-F238E27FC236}">
                <a16:creationId xmlns="" xmlns:a16="http://schemas.microsoft.com/office/drawing/2014/main" id="{AF894BDD-8AEB-7E9A-C061-CAC06E98FA9F}"/>
              </a:ext>
            </a:extLst>
          </p:cNvPr>
          <p:cNvSpPr txBox="1">
            <a:spLocks noChangeArrowheads="1"/>
          </p:cNvSpPr>
          <p:nvPr/>
        </p:nvSpPr>
        <p:spPr bwMode="auto">
          <a:xfrm>
            <a:off x="3238079" y="5367232"/>
            <a:ext cx="211788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1pPr>
            <a:lvl2pPr marL="742950" indent="-28575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2pPr>
            <a:lvl3pPr marL="11430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3pPr>
            <a:lvl4pPr marL="16002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4pPr>
            <a:lvl5pPr marL="20574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800" dirty="0">
                <a:ea typeface="+mn-ea"/>
                <a:cs typeface="Times New Roman" panose="02020603050405020304" pitchFamily="18" charset="0"/>
              </a:rPr>
              <a:t>图</a:t>
            </a:r>
            <a:r>
              <a:rPr lang="en-US" altLang="zh-CN" sz="1800" dirty="0">
                <a:ea typeface="+mn-ea"/>
                <a:cs typeface="Times New Roman" panose="02020603050405020304" pitchFamily="18" charset="0"/>
              </a:rPr>
              <a:t>7-28  </a:t>
            </a:r>
            <a:r>
              <a:rPr lang="zh-CN" altLang="en-US" sz="1800" dirty="0">
                <a:ea typeface="+mn-ea"/>
                <a:cs typeface="Times New Roman" panose="02020603050405020304" pitchFamily="18" charset="0"/>
              </a:rPr>
              <a:t>预加重网络</a:t>
            </a:r>
          </a:p>
        </p:txBody>
      </p:sp>
      <p:pic>
        <p:nvPicPr>
          <p:cNvPr id="13" name="图片 119811" descr="181.wmf">
            <a:extLst>
              <a:ext uri="{FF2B5EF4-FFF2-40B4-BE49-F238E27FC236}">
                <a16:creationId xmlns="" xmlns:a16="http://schemas.microsoft.com/office/drawing/2014/main" id="{39890A6A-B5AE-2D61-FEBA-B3E90EC2FDCB}"/>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74491" y="3506194"/>
            <a:ext cx="1360631" cy="575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图片 119812" descr="182.wmf">
            <a:extLst>
              <a:ext uri="{FF2B5EF4-FFF2-40B4-BE49-F238E27FC236}">
                <a16:creationId xmlns="" xmlns:a16="http://schemas.microsoft.com/office/drawing/2014/main" id="{D33106B7-BA99-DDF0-0F01-17FBE970803D}"/>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974491" y="4173757"/>
            <a:ext cx="1482525" cy="6039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矩形 3"/>
          <p:cNvSpPr/>
          <p:nvPr/>
        </p:nvSpPr>
        <p:spPr>
          <a:xfrm>
            <a:off x="7017452" y="4869871"/>
            <a:ext cx="1213794" cy="369332"/>
          </a:xfrm>
          <a:prstGeom prst="rect">
            <a:avLst/>
          </a:prstGeom>
        </p:spPr>
        <p:txBody>
          <a:bodyPr wrap="none">
            <a:spAutoFit/>
          </a:bodyPr>
          <a:lstStyle/>
          <a:p>
            <a:r>
              <a:rPr lang="en-US" altLang="zh-CN" dirty="0" smtClean="0">
                <a:latin typeface="Times New Roman" panose="02020603050405020304" pitchFamily="18" charset="0"/>
                <a:cs typeface="Times New Roman" panose="02020603050405020304" pitchFamily="18" charset="0"/>
              </a:rPr>
              <a:t>R = R</a:t>
            </a:r>
            <a:r>
              <a:rPr lang="en-US" altLang="zh-CN" baseline="-25000" dirty="0" smtClean="0">
                <a:latin typeface="Times New Roman" panose="02020603050405020304" pitchFamily="18" charset="0"/>
                <a:cs typeface="Times New Roman" panose="02020603050405020304" pitchFamily="18" charset="0"/>
              </a:rPr>
              <a:t>1</a:t>
            </a:r>
            <a:r>
              <a:rPr lang="en-US" altLang="zh-CN" dirty="0">
                <a:latin typeface="Times New Roman" panose="02020603050405020304" pitchFamily="18" charset="0"/>
                <a:cs typeface="Times New Roman" panose="02020603050405020304" pitchFamily="18" charset="0"/>
              </a:rPr>
              <a:t>//R</a:t>
            </a:r>
            <a:r>
              <a:rPr lang="en-US" altLang="zh-CN" baseline="-25000" dirty="0">
                <a:latin typeface="Times New Roman" panose="02020603050405020304" pitchFamily="18" charset="0"/>
                <a:cs typeface="Times New Roman" panose="02020603050405020304" pitchFamily="18" charset="0"/>
              </a:rPr>
              <a:t>2</a:t>
            </a:r>
            <a:endParaRPr lang="zh-CN" altLang="en-US" dirty="0">
              <a:latin typeface="Times New Roman" panose="02020603050405020304" pitchFamily="18" charset="0"/>
              <a:cs typeface="Times New Roman" panose="02020603050405020304" pitchFamily="18" charset="0"/>
            </a:endParaRPr>
          </a:p>
        </p:txBody>
      </p:sp>
      <p:sp>
        <p:nvSpPr>
          <p:cNvPr id="15" name="文本框 119814">
            <a:extLst>
              <a:ext uri="{FF2B5EF4-FFF2-40B4-BE49-F238E27FC236}">
                <a16:creationId xmlns="" xmlns:a16="http://schemas.microsoft.com/office/drawing/2014/main" id="{FBC10F45-F5CF-BC60-EC15-C785F0AC6DD8}"/>
              </a:ext>
            </a:extLst>
          </p:cNvPr>
          <p:cNvSpPr txBox="1">
            <a:spLocks noChangeArrowheads="1"/>
          </p:cNvSpPr>
          <p:nvPr/>
        </p:nvSpPr>
        <p:spPr bwMode="auto">
          <a:xfrm>
            <a:off x="925197" y="5663801"/>
            <a:ext cx="7056784"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1pPr>
            <a:lvl2pPr marL="742950" indent="-28575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2pPr>
            <a:lvl3pPr marL="11430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3pPr>
            <a:lvl4pPr marL="16002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4pPr>
            <a:lvl5pPr marL="20574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9pPr>
          </a:lstStyle>
          <a:p>
            <a:pPr eaLnBrk="1" hangingPunct="1">
              <a:lnSpc>
                <a:spcPct val="140000"/>
              </a:lnSpc>
            </a:pPr>
            <a:r>
              <a:rPr lang="en-US" altLang="zh-CN" sz="2000" dirty="0">
                <a:ea typeface="+mn-ea"/>
                <a:cs typeface="Times New Roman" panose="02020603050405020304" pitchFamily="18" charset="0"/>
              </a:rPr>
              <a:t>    </a:t>
            </a:r>
            <a:r>
              <a:rPr lang="zh-CN" altLang="en-US" sz="2000" dirty="0">
                <a:ea typeface="+mn-ea"/>
                <a:cs typeface="Times New Roman" panose="02020603050405020304" pitchFamily="18" charset="0"/>
              </a:rPr>
              <a:t>对于调频广播发射机中的预加重网络参数</a:t>
            </a:r>
            <a:r>
              <a:rPr lang="en-US" altLang="zh-CN" sz="2000" dirty="0">
                <a:ea typeface="+mn-ea"/>
                <a:cs typeface="Times New Roman" panose="02020603050405020304" pitchFamily="18" charset="0"/>
              </a:rPr>
              <a:t>C</a:t>
            </a:r>
            <a:r>
              <a:rPr lang="zh-CN" altLang="en-US" sz="2000" dirty="0">
                <a:ea typeface="+mn-ea"/>
                <a:cs typeface="Times New Roman" panose="02020603050405020304" pitchFamily="18" charset="0"/>
              </a:rPr>
              <a:t>、</a:t>
            </a:r>
            <a:r>
              <a:rPr lang="en-US" altLang="zh-CN" sz="2000" dirty="0">
                <a:ea typeface="+mn-ea"/>
                <a:cs typeface="Times New Roman" panose="02020603050405020304" pitchFamily="18" charset="0"/>
              </a:rPr>
              <a:t>R</a:t>
            </a:r>
            <a:r>
              <a:rPr lang="en-US" altLang="zh-CN" sz="2000" baseline="-25000" dirty="0">
                <a:ea typeface="+mn-ea"/>
                <a:cs typeface="Times New Roman" panose="02020603050405020304" pitchFamily="18" charset="0"/>
              </a:rPr>
              <a:t>1</a:t>
            </a:r>
            <a:r>
              <a:rPr lang="zh-CN" altLang="en-US" sz="2000" dirty="0">
                <a:ea typeface="+mn-ea"/>
                <a:cs typeface="Times New Roman" panose="02020603050405020304" pitchFamily="18" charset="0"/>
              </a:rPr>
              <a:t>、</a:t>
            </a:r>
            <a:r>
              <a:rPr lang="en-US" altLang="zh-CN" sz="2000" dirty="0">
                <a:ea typeface="+mn-ea"/>
                <a:cs typeface="Times New Roman" panose="02020603050405020304" pitchFamily="18" charset="0"/>
              </a:rPr>
              <a:t>R</a:t>
            </a:r>
            <a:r>
              <a:rPr lang="en-US" altLang="zh-CN" sz="2000" baseline="-25000" dirty="0">
                <a:ea typeface="+mn-ea"/>
                <a:cs typeface="Times New Roman" panose="02020603050405020304" pitchFamily="18" charset="0"/>
              </a:rPr>
              <a:t>2</a:t>
            </a:r>
            <a:r>
              <a:rPr lang="zh-CN" altLang="en-US" sz="2000" dirty="0">
                <a:ea typeface="+mn-ea"/>
                <a:cs typeface="Times New Roman" panose="02020603050405020304" pitchFamily="18" charset="0"/>
              </a:rPr>
              <a:t>的选择，常使</a:t>
            </a:r>
            <a:r>
              <a:rPr lang="en-US" altLang="zh-CN" sz="2000" dirty="0">
                <a:ea typeface="+mn-ea"/>
                <a:cs typeface="Times New Roman" panose="02020603050405020304" pitchFamily="18" charset="0"/>
              </a:rPr>
              <a:t>F</a:t>
            </a:r>
            <a:r>
              <a:rPr lang="en-US" altLang="zh-CN" sz="2000" baseline="-25000" dirty="0">
                <a:ea typeface="+mn-ea"/>
                <a:cs typeface="Times New Roman" panose="02020603050405020304" pitchFamily="18" charset="0"/>
              </a:rPr>
              <a:t>1</a:t>
            </a:r>
            <a:r>
              <a:rPr lang="en-US" altLang="zh-CN" sz="2000" dirty="0">
                <a:ea typeface="+mn-ea"/>
                <a:cs typeface="Times New Roman" panose="02020603050405020304" pitchFamily="18" charset="0"/>
              </a:rPr>
              <a:t>=2.1kHz</a:t>
            </a:r>
            <a:r>
              <a:rPr lang="zh-CN" altLang="en-US" sz="2000" dirty="0">
                <a:ea typeface="+mn-ea"/>
                <a:cs typeface="Times New Roman" panose="02020603050405020304" pitchFamily="18" charset="0"/>
              </a:rPr>
              <a:t>，</a:t>
            </a:r>
            <a:r>
              <a:rPr lang="en-US" altLang="zh-CN" sz="2000" dirty="0">
                <a:ea typeface="+mn-ea"/>
                <a:cs typeface="Times New Roman" panose="02020603050405020304" pitchFamily="18" charset="0"/>
              </a:rPr>
              <a:t>F</a:t>
            </a:r>
            <a:r>
              <a:rPr lang="en-US" altLang="zh-CN" sz="2000" baseline="-25000" dirty="0">
                <a:ea typeface="+mn-ea"/>
                <a:cs typeface="Times New Roman" panose="02020603050405020304" pitchFamily="18" charset="0"/>
              </a:rPr>
              <a:t>2</a:t>
            </a:r>
            <a:r>
              <a:rPr lang="en-US" altLang="zh-CN" sz="2000" dirty="0">
                <a:ea typeface="+mn-ea"/>
                <a:cs typeface="Times New Roman" panose="02020603050405020304" pitchFamily="18" charset="0"/>
              </a:rPr>
              <a:t>=15kHz</a:t>
            </a:r>
            <a:r>
              <a:rPr lang="zh-CN" altLang="en-US" sz="2000" dirty="0">
                <a:ea typeface="+mn-ea"/>
                <a:cs typeface="Times New Roman" panose="02020603050405020304" pitchFamily="18" charset="0"/>
              </a:rPr>
              <a:t>，此时</a:t>
            </a:r>
            <a:r>
              <a:rPr lang="en-US" altLang="zh-CN" sz="2000" dirty="0">
                <a:ea typeface="+mn-ea"/>
                <a:cs typeface="Times New Roman" panose="02020603050405020304" pitchFamily="18" charset="0"/>
              </a:rPr>
              <a:t>R</a:t>
            </a:r>
            <a:r>
              <a:rPr lang="en-US" altLang="zh-CN" sz="2000" baseline="-25000" dirty="0">
                <a:ea typeface="+mn-ea"/>
                <a:cs typeface="Times New Roman" panose="02020603050405020304" pitchFamily="18" charset="0"/>
              </a:rPr>
              <a:t>1</a:t>
            </a:r>
            <a:r>
              <a:rPr lang="en-US" altLang="zh-CN" sz="2000" dirty="0">
                <a:ea typeface="+mn-ea"/>
                <a:cs typeface="Times New Roman" panose="02020603050405020304" pitchFamily="18" charset="0"/>
              </a:rPr>
              <a:t>C=75</a:t>
            </a:r>
            <a:r>
              <a:rPr lang="en-US" altLang="zh-CN" sz="2000" dirty="0">
                <a:ea typeface="+mn-ea"/>
                <a:cs typeface="Times New Roman" panose="02020603050405020304" pitchFamily="18" charset="0"/>
                <a:sym typeface="Symbol" panose="05050102010706020507" pitchFamily="18" charset="2"/>
              </a:rPr>
              <a:t></a:t>
            </a:r>
            <a:r>
              <a:rPr lang="en-US" altLang="zh-CN" sz="2000" dirty="0">
                <a:ea typeface="+mn-ea"/>
                <a:cs typeface="Times New Roman" panose="02020603050405020304" pitchFamily="18" charset="0"/>
              </a:rPr>
              <a:t>s</a:t>
            </a:r>
            <a:r>
              <a:rPr lang="zh-CN" altLang="en-US" sz="2000" dirty="0">
                <a:ea typeface="+mn-ea"/>
                <a:cs typeface="Times New Roman" panose="02020603050405020304" pitchFamily="18" charset="0"/>
              </a:rPr>
              <a:t>。</a:t>
            </a:r>
          </a:p>
        </p:txBody>
      </p:sp>
    </p:spTree>
    <p:extLst>
      <p:ext uri="{BB962C8B-B14F-4D97-AF65-F5344CB8AC3E}">
        <p14:creationId xmlns:p14="http://schemas.microsoft.com/office/powerpoint/2010/main" val="3714096094"/>
      </p:ext>
    </p:extLst>
  </p:cSld>
  <p:clrMapOvr>
    <a:masterClrMapping/>
  </p:clrMapOvr>
  <p:timing>
    <p:tnLst>
      <p:par>
        <p:cTn id="1" dur="indefinite" restart="never" nodeType="tmRoot"/>
      </p:par>
    </p:tnLst>
  </p:timing>
</p:sld>
</file>

<file path=ppt/slides/slide3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306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11"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1028700" y="403317"/>
            <a:ext cx="6192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7. </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角度调制</a:t>
            </a:r>
            <a:r>
              <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与</a:t>
            </a: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解调</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文本框 120833">
            <a:extLst>
              <a:ext uri="{FF2B5EF4-FFF2-40B4-BE49-F238E27FC236}">
                <a16:creationId xmlns="" xmlns:a16="http://schemas.microsoft.com/office/drawing/2014/main" id="{18B79FD3-FF37-BD8E-5031-B2B5B9351B81}"/>
              </a:ext>
            </a:extLst>
          </p:cNvPr>
          <p:cNvSpPr txBox="1">
            <a:spLocks noChangeArrowheads="1"/>
          </p:cNvSpPr>
          <p:nvPr/>
        </p:nvSpPr>
        <p:spPr bwMode="auto">
          <a:xfrm>
            <a:off x="679798" y="1378820"/>
            <a:ext cx="165942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1pPr>
            <a:lvl2pPr marL="742950" indent="-28575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2pPr>
            <a:lvl3pPr marL="11430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3pPr>
            <a:lvl4pPr marL="16002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4pPr>
            <a:lvl5pPr marL="20574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dirty="0">
                <a:ea typeface="+mn-ea"/>
                <a:cs typeface="Times New Roman" panose="02020603050405020304" pitchFamily="18" charset="0"/>
              </a:rPr>
              <a:t>2.</a:t>
            </a:r>
            <a:r>
              <a:rPr lang="zh-CN" altLang="en-US" sz="2000" dirty="0">
                <a:ea typeface="+mn-ea"/>
                <a:cs typeface="Times New Roman" panose="02020603050405020304" pitchFamily="18" charset="0"/>
              </a:rPr>
              <a:t>去加重网络</a:t>
            </a:r>
          </a:p>
        </p:txBody>
      </p:sp>
      <p:sp>
        <p:nvSpPr>
          <p:cNvPr id="6" name="文本框 120834">
            <a:extLst>
              <a:ext uri="{FF2B5EF4-FFF2-40B4-BE49-F238E27FC236}">
                <a16:creationId xmlns="" xmlns:a16="http://schemas.microsoft.com/office/drawing/2014/main" id="{7A7D616B-105E-6853-210E-EE46B8961B9F}"/>
              </a:ext>
            </a:extLst>
          </p:cNvPr>
          <p:cNvSpPr txBox="1">
            <a:spLocks noChangeArrowheads="1"/>
          </p:cNvSpPr>
          <p:nvPr/>
        </p:nvSpPr>
        <p:spPr bwMode="auto">
          <a:xfrm>
            <a:off x="671144" y="2072855"/>
            <a:ext cx="7801711"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1pPr>
            <a:lvl2pPr marL="742950" indent="-28575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2pPr>
            <a:lvl3pPr marL="11430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3pPr>
            <a:lvl4pPr marL="16002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4pPr>
            <a:lvl5pPr marL="20574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120000"/>
              </a:lnSpc>
            </a:pPr>
            <a:r>
              <a:rPr lang="en-US" altLang="zh-CN" sz="2000" dirty="0">
                <a:ea typeface="+mn-ea"/>
                <a:cs typeface="Times New Roman" panose="02020603050405020304" pitchFamily="18" charset="0"/>
              </a:rPr>
              <a:t>    </a:t>
            </a:r>
            <a:r>
              <a:rPr lang="zh-CN" altLang="en-US" sz="2000" dirty="0">
                <a:ea typeface="+mn-ea"/>
                <a:cs typeface="Times New Roman" panose="02020603050405020304" pitchFamily="18" charset="0"/>
              </a:rPr>
              <a:t>去加重网络及其频响特性见图</a:t>
            </a:r>
            <a:r>
              <a:rPr lang="en-US" altLang="zh-CN" sz="2000" dirty="0">
                <a:ea typeface="+mn-ea"/>
                <a:cs typeface="Times New Roman" panose="02020603050405020304" pitchFamily="18" charset="0"/>
              </a:rPr>
              <a:t>7-29(a)</a:t>
            </a:r>
            <a:r>
              <a:rPr lang="zh-CN" altLang="en-US" sz="2000" dirty="0">
                <a:ea typeface="+mn-ea"/>
                <a:cs typeface="Times New Roman" panose="02020603050405020304" pitchFamily="18" charset="0"/>
              </a:rPr>
              <a:t>、</a:t>
            </a:r>
            <a:r>
              <a:rPr lang="en-US" altLang="zh-CN" sz="2000" dirty="0">
                <a:ea typeface="+mn-ea"/>
                <a:cs typeface="Times New Roman" panose="02020603050405020304" pitchFamily="18" charset="0"/>
              </a:rPr>
              <a:t>(b)</a:t>
            </a:r>
            <a:r>
              <a:rPr lang="zh-CN" altLang="en-US" sz="2000" dirty="0">
                <a:ea typeface="+mn-ea"/>
                <a:cs typeface="Times New Roman" panose="02020603050405020304" pitchFamily="18" charset="0"/>
              </a:rPr>
              <a:t>，去加重网络应具有与预加重网络相反的网络特征。因而应</a:t>
            </a:r>
            <a:r>
              <a:rPr lang="zh-CN" altLang="en-US" sz="2000" dirty="0" smtClean="0">
                <a:ea typeface="+mn-ea"/>
                <a:cs typeface="Times New Roman" panose="02020603050405020304" pitchFamily="18" charset="0"/>
              </a:rPr>
              <a:t>使            </a:t>
            </a:r>
            <a:r>
              <a:rPr lang="en-US" altLang="zh-CN" sz="2000" dirty="0">
                <a:ea typeface="+mn-ea"/>
                <a:cs typeface="Times New Roman" panose="02020603050405020304" pitchFamily="18" charset="0"/>
              </a:rPr>
              <a:t>∝1/2</a:t>
            </a:r>
            <a:r>
              <a:rPr lang="en-US" altLang="zh-CN" sz="2000" dirty="0">
                <a:ea typeface="+mn-ea"/>
                <a:cs typeface="Times New Roman" panose="02020603050405020304" pitchFamily="18" charset="0"/>
                <a:sym typeface="Symbol" panose="05050102010706020507" pitchFamily="18" charset="2"/>
              </a:rPr>
              <a:t></a:t>
            </a:r>
            <a:r>
              <a:rPr lang="en-US" altLang="zh-CN" sz="2000" dirty="0">
                <a:ea typeface="+mn-ea"/>
                <a:cs typeface="Times New Roman" panose="02020603050405020304" pitchFamily="18" charset="0"/>
              </a:rPr>
              <a:t>F</a:t>
            </a:r>
            <a:r>
              <a:rPr lang="zh-CN" altLang="en-US" sz="2000" dirty="0">
                <a:ea typeface="+mn-ea"/>
                <a:cs typeface="Times New Roman" panose="02020603050405020304" pitchFamily="18" charset="0"/>
              </a:rPr>
              <a:t>，可见，去加重网络相当于一个积分电路。在广播调频接收机中，去加重网络参数</a:t>
            </a:r>
            <a:r>
              <a:rPr lang="en-US" altLang="zh-CN" sz="2000" dirty="0">
                <a:ea typeface="+mn-ea"/>
                <a:cs typeface="Times New Roman" panose="02020603050405020304" pitchFamily="18" charset="0"/>
              </a:rPr>
              <a:t>R</a:t>
            </a:r>
            <a:r>
              <a:rPr lang="zh-CN" altLang="en-US" sz="2000" dirty="0">
                <a:ea typeface="+mn-ea"/>
                <a:cs typeface="Times New Roman" panose="02020603050405020304" pitchFamily="18" charset="0"/>
              </a:rPr>
              <a:t>、</a:t>
            </a:r>
            <a:r>
              <a:rPr lang="en-US" altLang="zh-CN" sz="2000" dirty="0">
                <a:ea typeface="+mn-ea"/>
                <a:cs typeface="Times New Roman" panose="02020603050405020304" pitchFamily="18" charset="0"/>
              </a:rPr>
              <a:t>C</a:t>
            </a:r>
            <a:r>
              <a:rPr lang="zh-CN" altLang="en-US" sz="2000" dirty="0">
                <a:ea typeface="+mn-ea"/>
                <a:cs typeface="Times New Roman" panose="02020603050405020304" pitchFamily="18" charset="0"/>
              </a:rPr>
              <a:t>的选择应使</a:t>
            </a:r>
            <a:r>
              <a:rPr lang="en-US" altLang="zh-CN" sz="2000" dirty="0">
                <a:ea typeface="+mn-ea"/>
                <a:cs typeface="Times New Roman" panose="02020603050405020304" pitchFamily="18" charset="0"/>
              </a:rPr>
              <a:t>F</a:t>
            </a:r>
            <a:r>
              <a:rPr lang="en-US" altLang="zh-CN" sz="2000" baseline="-25000" dirty="0">
                <a:ea typeface="+mn-ea"/>
                <a:cs typeface="Times New Roman" panose="02020603050405020304" pitchFamily="18" charset="0"/>
              </a:rPr>
              <a:t>1</a:t>
            </a:r>
            <a:r>
              <a:rPr lang="en-US" altLang="zh-CN" sz="2000" dirty="0">
                <a:ea typeface="+mn-ea"/>
                <a:cs typeface="Times New Roman" panose="02020603050405020304" pitchFamily="18" charset="0"/>
              </a:rPr>
              <a:t>=2.1kHz</a:t>
            </a:r>
            <a:r>
              <a:rPr lang="zh-CN" altLang="en-US" sz="2000" dirty="0">
                <a:ea typeface="+mn-ea"/>
                <a:cs typeface="Times New Roman" panose="02020603050405020304" pitchFamily="18" charset="0"/>
              </a:rPr>
              <a:t>，</a:t>
            </a:r>
            <a:r>
              <a:rPr lang="en-US" altLang="zh-CN" sz="2000" dirty="0">
                <a:ea typeface="+mn-ea"/>
                <a:cs typeface="Times New Roman" panose="02020603050405020304" pitchFamily="18" charset="0"/>
              </a:rPr>
              <a:t>F</a:t>
            </a:r>
            <a:r>
              <a:rPr lang="en-US" altLang="zh-CN" sz="2000" baseline="-25000" dirty="0">
                <a:ea typeface="+mn-ea"/>
                <a:cs typeface="Times New Roman" panose="02020603050405020304" pitchFamily="18" charset="0"/>
              </a:rPr>
              <a:t>2</a:t>
            </a:r>
            <a:r>
              <a:rPr lang="en-US" altLang="zh-CN" sz="2000" dirty="0">
                <a:ea typeface="+mn-ea"/>
                <a:cs typeface="Times New Roman" panose="02020603050405020304" pitchFamily="18" charset="0"/>
              </a:rPr>
              <a:t>=15kHz</a:t>
            </a:r>
            <a:r>
              <a:rPr lang="zh-CN" altLang="en-US" sz="2000" dirty="0">
                <a:ea typeface="+mn-ea"/>
                <a:cs typeface="Times New Roman" panose="02020603050405020304" pitchFamily="18" charset="0"/>
              </a:rPr>
              <a:t>，此时</a:t>
            </a:r>
            <a:r>
              <a:rPr lang="en-US" altLang="zh-CN" sz="2000" dirty="0">
                <a:ea typeface="+mn-ea"/>
                <a:cs typeface="Times New Roman" panose="02020603050405020304" pitchFamily="18" charset="0"/>
              </a:rPr>
              <a:t>R</a:t>
            </a:r>
            <a:r>
              <a:rPr lang="en-US" altLang="zh-CN" sz="2000" baseline="-25000" dirty="0">
                <a:ea typeface="+mn-ea"/>
                <a:cs typeface="Times New Roman" panose="02020603050405020304" pitchFamily="18" charset="0"/>
              </a:rPr>
              <a:t>1</a:t>
            </a:r>
            <a:r>
              <a:rPr lang="en-US" altLang="zh-CN" sz="2000" dirty="0">
                <a:ea typeface="+mn-ea"/>
                <a:cs typeface="Times New Roman" panose="02020603050405020304" pitchFamily="18" charset="0"/>
              </a:rPr>
              <a:t>C=75</a:t>
            </a:r>
            <a:r>
              <a:rPr lang="en-US" altLang="zh-CN" sz="2000" dirty="0">
                <a:ea typeface="+mn-ea"/>
                <a:cs typeface="Times New Roman" panose="02020603050405020304" pitchFamily="18" charset="0"/>
                <a:sym typeface="Symbol" panose="05050102010706020507" pitchFamily="18" charset="2"/>
              </a:rPr>
              <a:t></a:t>
            </a:r>
            <a:r>
              <a:rPr lang="en-US" altLang="zh-CN" sz="2000" dirty="0">
                <a:ea typeface="+mn-ea"/>
                <a:cs typeface="Times New Roman" panose="02020603050405020304" pitchFamily="18" charset="0"/>
              </a:rPr>
              <a:t>s</a:t>
            </a:r>
            <a:r>
              <a:rPr lang="zh-CN" altLang="en-US" sz="2000" dirty="0">
                <a:ea typeface="+mn-ea"/>
                <a:cs typeface="Times New Roman" panose="02020603050405020304" pitchFamily="18" charset="0"/>
              </a:rPr>
              <a:t>。</a:t>
            </a:r>
          </a:p>
        </p:txBody>
      </p:sp>
      <p:pic>
        <p:nvPicPr>
          <p:cNvPr id="8" name="图片 120836" descr="183.wmf">
            <a:extLst>
              <a:ext uri="{FF2B5EF4-FFF2-40B4-BE49-F238E27FC236}">
                <a16:creationId xmlns="" xmlns:a16="http://schemas.microsoft.com/office/drawing/2014/main" id="{879B99AF-593A-EB98-731A-35929F9144F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121909" y="2433683"/>
            <a:ext cx="936625" cy="487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图片 120838" descr="184.wmf">
            <a:extLst>
              <a:ext uri="{FF2B5EF4-FFF2-40B4-BE49-F238E27FC236}">
                <a16:creationId xmlns="" xmlns:a16="http://schemas.microsoft.com/office/drawing/2014/main" id="{FEF0948C-8E44-A7B6-742C-D63570C3E3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3648" y="3662363"/>
            <a:ext cx="6985000" cy="2160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文本框 120839">
            <a:extLst>
              <a:ext uri="{FF2B5EF4-FFF2-40B4-BE49-F238E27FC236}">
                <a16:creationId xmlns="" xmlns:a16="http://schemas.microsoft.com/office/drawing/2014/main" id="{D33D061E-5230-3C57-AA84-59BB99B0D97E}"/>
              </a:ext>
            </a:extLst>
          </p:cNvPr>
          <p:cNvSpPr txBox="1">
            <a:spLocks noChangeArrowheads="1"/>
          </p:cNvSpPr>
          <p:nvPr/>
        </p:nvSpPr>
        <p:spPr bwMode="auto">
          <a:xfrm>
            <a:off x="3538807" y="5974318"/>
            <a:ext cx="210826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1pPr>
            <a:lvl2pPr marL="742950" indent="-28575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2pPr>
            <a:lvl3pPr marL="11430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3pPr>
            <a:lvl4pPr marL="16002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4pPr>
            <a:lvl5pPr marL="2057400" indent="-228600">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Clr>
                <a:schemeClr val="bg1"/>
              </a:buClr>
              <a:buSzPct val="100000"/>
              <a:buFont typeface="Times New Roman" panose="02020603050405020304" pitchFamily="18" charset="0"/>
              <a:defRPr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800" dirty="0">
                <a:ea typeface="+mn-ea"/>
                <a:cs typeface="Times New Roman" panose="02020603050405020304" pitchFamily="18" charset="0"/>
              </a:rPr>
              <a:t>图</a:t>
            </a:r>
            <a:r>
              <a:rPr lang="en-US" altLang="zh-CN" sz="1800" dirty="0">
                <a:ea typeface="+mn-ea"/>
                <a:cs typeface="Times New Roman" panose="02020603050405020304" pitchFamily="18" charset="0"/>
              </a:rPr>
              <a:t>7-29  </a:t>
            </a:r>
            <a:r>
              <a:rPr lang="zh-CN" altLang="en-US" sz="1800" dirty="0">
                <a:ea typeface="+mn-ea"/>
                <a:cs typeface="Times New Roman" panose="02020603050405020304" pitchFamily="18" charset="0"/>
              </a:rPr>
              <a:t>去加重网络</a:t>
            </a:r>
          </a:p>
        </p:txBody>
      </p:sp>
    </p:spTree>
    <p:extLst>
      <p:ext uri="{BB962C8B-B14F-4D97-AF65-F5344CB8AC3E}">
        <p14:creationId xmlns:p14="http://schemas.microsoft.com/office/powerpoint/2010/main" val="4058731141"/>
      </p:ext>
    </p:extLst>
  </p:cSld>
  <p:clrMapOvr>
    <a:masterClrMapping/>
  </p:clrMapOvr>
  <p:timing>
    <p:tnLst>
      <p:par>
        <p:cTn id="1" dur="indefinite" restart="never" nodeType="tmRoot"/>
      </p:par>
    </p:tnLst>
  </p:timing>
</p:sld>
</file>

<file path=ppt/slides/slide3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0" y="6492875"/>
            <a:ext cx="2057400" cy="365125"/>
          </a:xfrm>
        </p:spPr>
        <p:txBody>
          <a:bodyPr vert="horz" lIns="91440" tIns="45720" rIns="91440" bIns="45720" rtlCol="0" anchor="ctr"/>
          <a:lstStyle/>
          <a:p>
            <a:fld id="{EA6C5F4C-DD2E-4E06-8ECD-A360E762D5E0}" type="datetime1">
              <a:rPr lang="zh-CN" altLang="en-US" sz="1800" b="1">
                <a:solidFill>
                  <a:schemeClr val="tx1"/>
                </a:solidFill>
                <a:latin typeface="Times New Roman" panose="02020603050405020304" pitchFamily="18" charset="0"/>
                <a:cs typeface="Times New Roman" panose="02020603050405020304" pitchFamily="18" charset="0"/>
              </a:rPr>
              <a:pPr/>
              <a:t>2025/6/26</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7086600" y="6492875"/>
            <a:ext cx="2057400" cy="365125"/>
          </a:xfrm>
        </p:spPr>
        <p:txBody>
          <a:bodyPr vert="horz" lIns="91440" tIns="45720" rIns="91440" bIns="45720" rtlCol="0" anchor="ctr"/>
          <a:lstStyle/>
          <a:p>
            <a:fld id="{0FD50A08-568C-4405-95A9-55134B8D7E96}" type="slidenum">
              <a:rPr lang="zh-CN" altLang="en-US" sz="1800" b="1">
                <a:solidFill>
                  <a:schemeClr val="tx1"/>
                </a:solidFill>
                <a:latin typeface="Times New Roman" panose="02020603050405020304" pitchFamily="18" charset="0"/>
                <a:cs typeface="Times New Roman" panose="02020603050405020304" pitchFamily="18" charset="0"/>
              </a:rPr>
              <a:pPr/>
              <a:t>307</a:t>
            </a:fld>
            <a:endParaRPr lang="zh-CN" altLang="en-US" sz="1800" b="1">
              <a:solidFill>
                <a:schemeClr val="tx1"/>
              </a:solidFill>
              <a:latin typeface="Times New Roman" panose="02020603050405020304" pitchFamily="18" charset="0"/>
              <a:cs typeface="Times New Roman" panose="02020603050405020304" pitchFamily="18" charset="0"/>
            </a:endParaRPr>
          </a:p>
        </p:txBody>
      </p:sp>
      <p:sp>
        <p:nvSpPr>
          <p:cNvPr id="11" name="Text Box 10">
            <a:extLst>
              <a:ext uri="{FF2B5EF4-FFF2-40B4-BE49-F238E27FC236}">
                <a16:creationId xmlns:a16="http://schemas.microsoft.com/office/drawing/2014/main" xmlns="" id="{2CB310E3-AF64-F24B-F898-B066E5AF1B81}"/>
              </a:ext>
            </a:extLst>
          </p:cNvPr>
          <p:cNvSpPr txBox="1">
            <a:spLocks noChangeArrowheads="1"/>
          </p:cNvSpPr>
          <p:nvPr/>
        </p:nvSpPr>
        <p:spPr bwMode="auto">
          <a:xfrm>
            <a:off x="0" y="3572922"/>
            <a:ext cx="91440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50000"/>
              </a:spcBef>
              <a:buNone/>
            </a:pPr>
            <a:r>
              <a:rPr lang="zh-CN" altLang="en-US" sz="4000" b="1" dirty="0" smtClean="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祝大家考试顺利</a:t>
            </a:r>
            <a:endParaRPr lang="zh-CN" altLang="en-US" sz="4000" b="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85365818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1728</TotalTime>
  <Words>21674</Words>
  <Application>Microsoft Office PowerPoint</Application>
  <PresentationFormat>全屏显示(4:3)</PresentationFormat>
  <Paragraphs>3077</Paragraphs>
  <Slides>307</Slides>
  <Notes>2</Notes>
  <HiddenSlides>0</HiddenSlides>
  <MMClips>0</MMClips>
  <ScaleCrop>false</ScaleCrop>
  <HeadingPairs>
    <vt:vector size="8" baseType="variant">
      <vt:variant>
        <vt:lpstr>已用的字体</vt:lpstr>
      </vt:variant>
      <vt:variant>
        <vt:i4>20</vt:i4>
      </vt:variant>
      <vt:variant>
        <vt:lpstr>主题</vt:lpstr>
      </vt:variant>
      <vt:variant>
        <vt:i4>1</vt:i4>
      </vt:variant>
      <vt:variant>
        <vt:lpstr>嵌入 OLE 服务器</vt:lpstr>
      </vt:variant>
      <vt:variant>
        <vt:i4>11</vt:i4>
      </vt:variant>
      <vt:variant>
        <vt:lpstr>幻灯片标题</vt:lpstr>
      </vt:variant>
      <vt:variant>
        <vt:i4>307</vt:i4>
      </vt:variant>
    </vt:vector>
  </HeadingPairs>
  <TitlesOfParts>
    <vt:vector size="339" baseType="lpstr">
      <vt:lpstr>Arial Unicode MS</vt:lpstr>
      <vt:lpstr>仿宋_GB2312</vt:lpstr>
      <vt:lpstr>黑体</vt:lpstr>
      <vt:lpstr>华康简宋</vt:lpstr>
      <vt:lpstr>华文仿宋</vt:lpstr>
      <vt:lpstr>华文楷体</vt:lpstr>
      <vt:lpstr>楷体</vt:lpstr>
      <vt:lpstr>楷体_GB2312</vt:lpstr>
      <vt:lpstr>隶书</vt:lpstr>
      <vt:lpstr>宋体</vt:lpstr>
      <vt:lpstr>Angsana New</vt:lpstr>
      <vt:lpstr>Arial</vt:lpstr>
      <vt:lpstr>Bookman Old Style</vt:lpstr>
      <vt:lpstr>Calibri</vt:lpstr>
      <vt:lpstr>Calibri Light</vt:lpstr>
      <vt:lpstr>Marlett</vt:lpstr>
      <vt:lpstr>Symbol</vt:lpstr>
      <vt:lpstr>Tahoma</vt:lpstr>
      <vt:lpstr>Times New Roman</vt:lpstr>
      <vt:lpstr>Wingdings</vt:lpstr>
      <vt:lpstr>Office 主题</vt:lpstr>
      <vt:lpstr>Microsoft Word Picture</vt:lpstr>
      <vt:lpstr>Equation</vt:lpstr>
      <vt:lpstr>公式</vt:lpstr>
      <vt:lpstr>Visio</vt:lpstr>
      <vt:lpstr>MathType 7.0 Equation</vt:lpstr>
      <vt:lpstr>Microsoft Visio 2003-2010 绘图</vt:lpstr>
      <vt:lpstr>Equation.3</vt:lpstr>
      <vt:lpstr>Microsoft Word 97 - 2003 文档</vt:lpstr>
      <vt:lpstr>Paintbrush Picture</vt:lpstr>
      <vt:lpstr>Document</vt:lpstr>
      <vt:lpstr>Picture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帐户</dc:creator>
  <cp:lastModifiedBy>Microsoft 帐户</cp:lastModifiedBy>
  <cp:revision>114</cp:revision>
  <cp:lastPrinted>2025-06-25T07:40:05Z</cp:lastPrinted>
  <dcterms:created xsi:type="dcterms:W3CDTF">2025-06-24T07:32:35Z</dcterms:created>
  <dcterms:modified xsi:type="dcterms:W3CDTF">2025-06-26T14:31:41Z</dcterms:modified>
</cp:coreProperties>
</file>